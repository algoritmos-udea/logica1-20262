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71"/>
  </p:notesMasterIdLst>
  <p:sldIdLst>
    <p:sldId id="281" r:id="rId2"/>
    <p:sldId id="309" r:id="rId3"/>
    <p:sldId id="368" r:id="rId4"/>
    <p:sldId id="405" r:id="rId5"/>
    <p:sldId id="427" r:id="rId6"/>
    <p:sldId id="349" r:id="rId7"/>
    <p:sldId id="350" r:id="rId8"/>
    <p:sldId id="428" r:id="rId9"/>
    <p:sldId id="412" r:id="rId10"/>
    <p:sldId id="433" r:id="rId11"/>
    <p:sldId id="432" r:id="rId12"/>
    <p:sldId id="429" r:id="rId13"/>
    <p:sldId id="357" r:id="rId14"/>
    <p:sldId id="434" r:id="rId15"/>
    <p:sldId id="358" r:id="rId16"/>
    <p:sldId id="435" r:id="rId17"/>
    <p:sldId id="410" r:id="rId18"/>
    <p:sldId id="351" r:id="rId19"/>
    <p:sldId id="430" r:id="rId20"/>
    <p:sldId id="431" r:id="rId21"/>
    <p:sldId id="416" r:id="rId22"/>
    <p:sldId id="417" r:id="rId23"/>
    <p:sldId id="437" r:id="rId24"/>
    <p:sldId id="436" r:id="rId25"/>
    <p:sldId id="438" r:id="rId26"/>
    <p:sldId id="439" r:id="rId27"/>
    <p:sldId id="443" r:id="rId28"/>
    <p:sldId id="359" r:id="rId29"/>
    <p:sldId id="440" r:id="rId30"/>
    <p:sldId id="418" r:id="rId31"/>
    <p:sldId id="361" r:id="rId32"/>
    <p:sldId id="421" r:id="rId33"/>
    <p:sldId id="367" r:id="rId34"/>
    <p:sldId id="456" r:id="rId35"/>
    <p:sldId id="444" r:id="rId36"/>
    <p:sldId id="396" r:id="rId37"/>
    <p:sldId id="458" r:id="rId38"/>
    <p:sldId id="424" r:id="rId39"/>
    <p:sldId id="459" r:id="rId40"/>
    <p:sldId id="457" r:id="rId41"/>
    <p:sldId id="446" r:id="rId42"/>
    <p:sldId id="447" r:id="rId43"/>
    <p:sldId id="460" r:id="rId44"/>
    <p:sldId id="448" r:id="rId45"/>
    <p:sldId id="461" r:id="rId46"/>
    <p:sldId id="370" r:id="rId47"/>
    <p:sldId id="450" r:id="rId48"/>
    <p:sldId id="462" r:id="rId49"/>
    <p:sldId id="451" r:id="rId50"/>
    <p:sldId id="425" r:id="rId51"/>
    <p:sldId id="463" r:id="rId52"/>
    <p:sldId id="372" r:id="rId53"/>
    <p:sldId id="464" r:id="rId54"/>
    <p:sldId id="455" r:id="rId55"/>
    <p:sldId id="375" r:id="rId56"/>
    <p:sldId id="377" r:id="rId57"/>
    <p:sldId id="465" r:id="rId58"/>
    <p:sldId id="399" r:id="rId59"/>
    <p:sldId id="466" r:id="rId60"/>
    <p:sldId id="467" r:id="rId61"/>
    <p:sldId id="374" r:id="rId62"/>
    <p:sldId id="398" r:id="rId63"/>
    <p:sldId id="452" r:id="rId64"/>
    <p:sldId id="453" r:id="rId65"/>
    <p:sldId id="454" r:id="rId66"/>
    <p:sldId id="401" r:id="rId67"/>
    <p:sldId id="402" r:id="rId68"/>
    <p:sldId id="310" r:id="rId69"/>
    <p:sldId id="277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9" autoAdjust="0"/>
    <p:restoredTop sz="94291" autoAdjust="0"/>
  </p:normalViewPr>
  <p:slideViewPr>
    <p:cSldViewPr>
      <p:cViewPr>
        <p:scale>
          <a:sx n="66" d="100"/>
          <a:sy n="66" d="100"/>
        </p:scale>
        <p:origin x="1422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4617D2-EBA5-43D3-A846-ABD7019008A4}" type="doc">
      <dgm:prSet loTypeId="urn:microsoft.com/office/officeart/2005/8/layout/chevron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0F6E169A-367E-48F6-8A0F-9538EF72E803}">
      <dgm:prSet phldrT="[Texto]" custT="1"/>
      <dgm:spPr/>
      <dgm:t>
        <a:bodyPr/>
        <a:lstStyle/>
        <a:p>
          <a:r>
            <a:rPr lang="es-CO" sz="1600" dirty="0">
              <a:latin typeface="Century Gothic" panose="020B0502020202020204" pitchFamily="34" charset="0"/>
            </a:rPr>
            <a:t>1</a:t>
          </a:r>
          <a:endParaRPr lang="es-CO" sz="1200" dirty="0">
            <a:latin typeface="Century Gothic" panose="020B0502020202020204" pitchFamily="34" charset="0"/>
          </a:endParaRPr>
        </a:p>
      </dgm:t>
    </dgm:pt>
    <dgm:pt modelId="{214810CF-0E9F-420E-9F44-94CA29248781}" type="parTrans" cxnId="{1D7BCF56-E33F-4A42-8129-E524DE8CA73C}">
      <dgm:prSet/>
      <dgm:spPr/>
      <dgm:t>
        <a:bodyPr/>
        <a:lstStyle/>
        <a:p>
          <a:endParaRPr lang="es-CO" sz="1600"/>
        </a:p>
      </dgm:t>
    </dgm:pt>
    <dgm:pt modelId="{9E3845BF-94AB-444E-AB21-A0DA1B4B1270}" type="sibTrans" cxnId="{1D7BCF56-E33F-4A42-8129-E524DE8CA73C}">
      <dgm:prSet/>
      <dgm:spPr/>
      <dgm:t>
        <a:bodyPr/>
        <a:lstStyle/>
        <a:p>
          <a:endParaRPr lang="es-CO" sz="1600"/>
        </a:p>
      </dgm:t>
    </dgm:pt>
    <dgm:pt modelId="{676AA4D5-22F4-47B3-B0E8-95C3D9C99480}">
      <dgm:prSet phldrT="[Texto]" custT="1"/>
      <dgm:spPr/>
      <dgm:t>
        <a:bodyPr/>
        <a:lstStyle/>
        <a:p>
          <a:pPr>
            <a:buNone/>
          </a:pPr>
          <a:r>
            <a:rPr lang="es-CO" sz="2000" dirty="0">
              <a:latin typeface="Century Gothic" panose="020B0502020202020204" pitchFamily="34" charset="0"/>
            </a:rPr>
            <a:t>Entender el problema</a:t>
          </a:r>
        </a:p>
      </dgm:t>
    </dgm:pt>
    <dgm:pt modelId="{65AE6963-95E3-417E-9DBC-C327427667A9}" type="parTrans" cxnId="{E402CAF0-5AAA-416F-BAF4-3854EF253EE5}">
      <dgm:prSet/>
      <dgm:spPr/>
      <dgm:t>
        <a:bodyPr/>
        <a:lstStyle/>
        <a:p>
          <a:endParaRPr lang="es-CO" sz="1600"/>
        </a:p>
      </dgm:t>
    </dgm:pt>
    <dgm:pt modelId="{BBDCCB86-71C3-422E-959C-8FA92A9124DF}" type="sibTrans" cxnId="{E402CAF0-5AAA-416F-BAF4-3854EF253EE5}">
      <dgm:prSet/>
      <dgm:spPr/>
      <dgm:t>
        <a:bodyPr/>
        <a:lstStyle/>
        <a:p>
          <a:endParaRPr lang="es-CO" sz="1600"/>
        </a:p>
      </dgm:t>
    </dgm:pt>
    <dgm:pt modelId="{9C3C57BE-AD01-47F6-9592-98EF2608A6EF}">
      <dgm:prSet phldrT="[Texto]" custT="1"/>
      <dgm:spPr/>
      <dgm:t>
        <a:bodyPr/>
        <a:lstStyle/>
        <a:p>
          <a:r>
            <a:rPr lang="es-CO" sz="1800" dirty="0">
              <a:latin typeface="Century Gothic" panose="020B0502020202020204" pitchFamily="34" charset="0"/>
            </a:rPr>
            <a:t>2</a:t>
          </a:r>
          <a:endParaRPr lang="es-CO" sz="2400" dirty="0">
            <a:latin typeface="Century Gothic" panose="020B0502020202020204" pitchFamily="34" charset="0"/>
          </a:endParaRPr>
        </a:p>
      </dgm:t>
    </dgm:pt>
    <dgm:pt modelId="{33D25418-EA10-4491-90C6-5683712BE055}" type="parTrans" cxnId="{FBB864E0-2027-4A45-B5D7-110F765EFD96}">
      <dgm:prSet/>
      <dgm:spPr/>
      <dgm:t>
        <a:bodyPr/>
        <a:lstStyle/>
        <a:p>
          <a:endParaRPr lang="es-CO" sz="1600"/>
        </a:p>
      </dgm:t>
    </dgm:pt>
    <dgm:pt modelId="{0019765E-5748-4647-85C8-6E8054C68086}" type="sibTrans" cxnId="{FBB864E0-2027-4A45-B5D7-110F765EFD96}">
      <dgm:prSet/>
      <dgm:spPr/>
      <dgm:t>
        <a:bodyPr/>
        <a:lstStyle/>
        <a:p>
          <a:endParaRPr lang="es-CO" sz="1600"/>
        </a:p>
      </dgm:t>
    </dgm:pt>
    <dgm:pt modelId="{C59A2A35-6BBC-4F81-BD74-40520AACD6AB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gm:t>
    </dgm:pt>
    <dgm:pt modelId="{EDE363E4-7EA3-41D2-8DB9-A0871D9DA325}" type="parTrans" cxnId="{3B1F784D-95DD-4194-A52D-9A5B55BC5BD7}">
      <dgm:prSet/>
      <dgm:spPr/>
      <dgm:t>
        <a:bodyPr/>
        <a:lstStyle/>
        <a:p>
          <a:endParaRPr lang="es-CO" sz="1600"/>
        </a:p>
      </dgm:t>
    </dgm:pt>
    <dgm:pt modelId="{C31DDF04-103F-4600-9F78-0BDCC0BF907B}" type="sibTrans" cxnId="{3B1F784D-95DD-4194-A52D-9A5B55BC5BD7}">
      <dgm:prSet/>
      <dgm:spPr/>
      <dgm:t>
        <a:bodyPr/>
        <a:lstStyle/>
        <a:p>
          <a:endParaRPr lang="es-CO" sz="1600"/>
        </a:p>
      </dgm:t>
    </dgm:pt>
    <dgm:pt modelId="{9AB424BA-7E8B-4D0B-8A3C-3748A54646B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3</a:t>
          </a:r>
        </a:p>
      </dgm:t>
    </dgm:pt>
    <dgm:pt modelId="{E543BFA9-86DB-499C-8E83-B32D00A97FD8}" type="parTrans" cxnId="{9DB9632F-E2AC-48EE-840F-D6A88C411EEA}">
      <dgm:prSet/>
      <dgm:spPr/>
      <dgm:t>
        <a:bodyPr/>
        <a:lstStyle/>
        <a:p>
          <a:endParaRPr lang="es-CO" sz="1600"/>
        </a:p>
      </dgm:t>
    </dgm:pt>
    <dgm:pt modelId="{DDCD6E76-3560-4CAA-96A8-94ACFF130E9B}" type="sibTrans" cxnId="{9DB9632F-E2AC-48EE-840F-D6A88C411EEA}">
      <dgm:prSet/>
      <dgm:spPr/>
      <dgm:t>
        <a:bodyPr/>
        <a:lstStyle/>
        <a:p>
          <a:endParaRPr lang="es-CO" sz="1600"/>
        </a:p>
      </dgm:t>
    </dgm:pt>
    <dgm:pt modelId="{BEC04423-D6B7-4792-AEB9-C3D7F81A98AC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gm:t>
    </dgm:pt>
    <dgm:pt modelId="{F135D138-85FF-4087-B751-5F159F842289}" type="parTrans" cxnId="{5B0A26F8-5ACB-43D3-A171-6C62CAD4E7BE}">
      <dgm:prSet/>
      <dgm:spPr/>
      <dgm:t>
        <a:bodyPr/>
        <a:lstStyle/>
        <a:p>
          <a:endParaRPr lang="es-CO" sz="1600"/>
        </a:p>
      </dgm:t>
    </dgm:pt>
    <dgm:pt modelId="{AB02689B-5109-4C4C-A9DD-EF332B395FC7}" type="sibTrans" cxnId="{5B0A26F8-5ACB-43D3-A171-6C62CAD4E7BE}">
      <dgm:prSet/>
      <dgm:spPr/>
      <dgm:t>
        <a:bodyPr/>
        <a:lstStyle/>
        <a:p>
          <a:endParaRPr lang="es-CO" sz="1600"/>
        </a:p>
      </dgm:t>
    </dgm:pt>
    <dgm:pt modelId="{6F3FB39C-3E1D-4D2D-849B-EA0299C466C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4</a:t>
          </a:r>
        </a:p>
      </dgm:t>
    </dgm:pt>
    <dgm:pt modelId="{F344B892-AD67-4863-B1DB-FFEAC6AE3C6A}" type="parTrans" cxnId="{F85ACEEE-F8C0-443C-BAAF-021763D37073}">
      <dgm:prSet/>
      <dgm:spPr/>
      <dgm:t>
        <a:bodyPr/>
        <a:lstStyle/>
        <a:p>
          <a:endParaRPr lang="es-CO" sz="1600"/>
        </a:p>
      </dgm:t>
    </dgm:pt>
    <dgm:pt modelId="{2E86F725-3FD8-4480-8AF6-6A89E142D77A}" type="sibTrans" cxnId="{F85ACEEE-F8C0-443C-BAAF-021763D37073}">
      <dgm:prSet/>
      <dgm:spPr/>
      <dgm:t>
        <a:bodyPr/>
        <a:lstStyle/>
        <a:p>
          <a:endParaRPr lang="es-CO" sz="1600"/>
        </a:p>
      </dgm:t>
    </dgm:pt>
    <dgm:pt modelId="{DCCFDBD5-3BD5-4368-8E74-2BE430318114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gm:t>
    </dgm:pt>
    <dgm:pt modelId="{E9C3A1B1-6767-4D4A-B32D-4EDACFE1C0F4}" type="parTrans" cxnId="{95C514DE-3460-4712-B0CD-D954FE76DB64}">
      <dgm:prSet/>
      <dgm:spPr/>
      <dgm:t>
        <a:bodyPr/>
        <a:lstStyle/>
        <a:p>
          <a:endParaRPr lang="es-CO" sz="1600"/>
        </a:p>
      </dgm:t>
    </dgm:pt>
    <dgm:pt modelId="{159A55EA-C5B7-4F9E-8222-A763BEB4D99B}" type="sibTrans" cxnId="{95C514DE-3460-4712-B0CD-D954FE76DB64}">
      <dgm:prSet/>
      <dgm:spPr/>
      <dgm:t>
        <a:bodyPr/>
        <a:lstStyle/>
        <a:p>
          <a:endParaRPr lang="es-CO" sz="1600"/>
        </a:p>
      </dgm:t>
    </dgm:pt>
    <dgm:pt modelId="{C30EB98C-BF8E-47B5-A59F-A3E708D5551C}" type="pres">
      <dgm:prSet presAssocID="{234617D2-EBA5-43D3-A846-ABD7019008A4}" presName="linearFlow" presStyleCnt="0">
        <dgm:presLayoutVars>
          <dgm:dir/>
          <dgm:animLvl val="lvl"/>
          <dgm:resizeHandles val="exact"/>
        </dgm:presLayoutVars>
      </dgm:prSet>
      <dgm:spPr/>
    </dgm:pt>
    <dgm:pt modelId="{B5976899-2FC4-4A3E-891A-B74C8C23C8B5}" type="pres">
      <dgm:prSet presAssocID="{0F6E169A-367E-48F6-8A0F-9538EF72E803}" presName="composite" presStyleCnt="0"/>
      <dgm:spPr/>
    </dgm:pt>
    <dgm:pt modelId="{416A876F-5FA3-42F9-A923-4E2C334EF9BC}" type="pres">
      <dgm:prSet presAssocID="{0F6E169A-367E-48F6-8A0F-9538EF72E803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344A86B1-48E8-448F-9C6D-71580BFB5F83}" type="pres">
      <dgm:prSet presAssocID="{0F6E169A-367E-48F6-8A0F-9538EF72E803}" presName="descendantText" presStyleLbl="alignAcc1" presStyleIdx="0" presStyleCnt="4">
        <dgm:presLayoutVars>
          <dgm:bulletEnabled val="1"/>
        </dgm:presLayoutVars>
      </dgm:prSet>
      <dgm:spPr/>
    </dgm:pt>
    <dgm:pt modelId="{19B3EDEB-1CF9-4423-9037-F0221A01EBBA}" type="pres">
      <dgm:prSet presAssocID="{9E3845BF-94AB-444E-AB21-A0DA1B4B1270}" presName="sp" presStyleCnt="0"/>
      <dgm:spPr/>
    </dgm:pt>
    <dgm:pt modelId="{5D167E8C-136F-440C-8D10-651E4D964A72}" type="pres">
      <dgm:prSet presAssocID="{9C3C57BE-AD01-47F6-9592-98EF2608A6EF}" presName="composite" presStyleCnt="0"/>
      <dgm:spPr/>
    </dgm:pt>
    <dgm:pt modelId="{A651636C-CE47-4575-AA1E-AB00D80E941D}" type="pres">
      <dgm:prSet presAssocID="{9C3C57BE-AD01-47F6-9592-98EF2608A6EF}" presName="parentText" presStyleLbl="alignNode1" presStyleIdx="1" presStyleCnt="4" custLinFactNeighborY="0">
        <dgm:presLayoutVars>
          <dgm:chMax val="1"/>
          <dgm:bulletEnabled val="1"/>
        </dgm:presLayoutVars>
      </dgm:prSet>
      <dgm:spPr/>
    </dgm:pt>
    <dgm:pt modelId="{79B0DE70-0A03-4A6F-B31F-EC81EB5DF7EA}" type="pres">
      <dgm:prSet presAssocID="{9C3C57BE-AD01-47F6-9592-98EF2608A6EF}" presName="descendantText" presStyleLbl="alignAcc1" presStyleIdx="1" presStyleCnt="4">
        <dgm:presLayoutVars>
          <dgm:bulletEnabled val="1"/>
        </dgm:presLayoutVars>
      </dgm:prSet>
      <dgm:spPr/>
    </dgm:pt>
    <dgm:pt modelId="{5C2D5B77-4FD3-4BFC-B7C7-B69CFA47B819}" type="pres">
      <dgm:prSet presAssocID="{0019765E-5748-4647-85C8-6E8054C68086}" presName="sp" presStyleCnt="0"/>
      <dgm:spPr/>
    </dgm:pt>
    <dgm:pt modelId="{FD9C2F86-B450-49A0-8639-065AE676C080}" type="pres">
      <dgm:prSet presAssocID="{9AB424BA-7E8B-4D0B-8A3C-3748A54646B8}" presName="composite" presStyleCnt="0"/>
      <dgm:spPr/>
    </dgm:pt>
    <dgm:pt modelId="{2AA7B02C-023E-4537-897E-B54A048C8983}" type="pres">
      <dgm:prSet presAssocID="{9AB424BA-7E8B-4D0B-8A3C-3748A54646B8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15D3D31F-A831-4E62-ADE9-6ACE81331CDC}" type="pres">
      <dgm:prSet presAssocID="{9AB424BA-7E8B-4D0B-8A3C-3748A54646B8}" presName="descendantText" presStyleLbl="alignAcc1" presStyleIdx="2" presStyleCnt="4">
        <dgm:presLayoutVars>
          <dgm:bulletEnabled val="1"/>
        </dgm:presLayoutVars>
      </dgm:prSet>
      <dgm:spPr/>
    </dgm:pt>
    <dgm:pt modelId="{365F76A6-EF4F-41D1-B81D-BC3D7851A081}" type="pres">
      <dgm:prSet presAssocID="{DDCD6E76-3560-4CAA-96A8-94ACFF130E9B}" presName="sp" presStyleCnt="0"/>
      <dgm:spPr/>
    </dgm:pt>
    <dgm:pt modelId="{4DB00594-09F9-4225-B772-B1D52DAEEAB6}" type="pres">
      <dgm:prSet presAssocID="{6F3FB39C-3E1D-4D2D-849B-EA0299C466C8}" presName="composite" presStyleCnt="0"/>
      <dgm:spPr/>
    </dgm:pt>
    <dgm:pt modelId="{58E45CBE-DE64-4E4E-8AAA-D376465B2BEE}" type="pres">
      <dgm:prSet presAssocID="{6F3FB39C-3E1D-4D2D-849B-EA0299C466C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37D6712-7A35-4663-80F7-1B8FC410AF19}" type="pres">
      <dgm:prSet presAssocID="{6F3FB39C-3E1D-4D2D-849B-EA0299C466C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D25A530A-E341-4BA7-8999-21A374D537D3}" type="presOf" srcId="{BEC04423-D6B7-4792-AEB9-C3D7F81A98AC}" destId="{15D3D31F-A831-4E62-ADE9-6ACE81331CDC}" srcOrd="0" destOrd="0" presId="urn:microsoft.com/office/officeart/2005/8/layout/chevron2"/>
    <dgm:cxn modelId="{0F63B510-A033-48E8-A5FD-87C76FF5A9D6}" type="presOf" srcId="{0F6E169A-367E-48F6-8A0F-9538EF72E803}" destId="{416A876F-5FA3-42F9-A923-4E2C334EF9BC}" srcOrd="0" destOrd="0" presId="urn:microsoft.com/office/officeart/2005/8/layout/chevron2"/>
    <dgm:cxn modelId="{09EB6217-24CA-4B61-90D2-9CF7E646FA43}" type="presOf" srcId="{234617D2-EBA5-43D3-A846-ABD7019008A4}" destId="{C30EB98C-BF8E-47B5-A59F-A3E708D5551C}" srcOrd="0" destOrd="0" presId="urn:microsoft.com/office/officeart/2005/8/layout/chevron2"/>
    <dgm:cxn modelId="{9DB9632F-E2AC-48EE-840F-D6A88C411EEA}" srcId="{234617D2-EBA5-43D3-A846-ABD7019008A4}" destId="{9AB424BA-7E8B-4D0B-8A3C-3748A54646B8}" srcOrd="2" destOrd="0" parTransId="{E543BFA9-86DB-499C-8E83-B32D00A97FD8}" sibTransId="{DDCD6E76-3560-4CAA-96A8-94ACFF130E9B}"/>
    <dgm:cxn modelId="{5C56243F-7D54-4FD5-BD45-EEAB6E9334A6}" type="presOf" srcId="{676AA4D5-22F4-47B3-B0E8-95C3D9C99480}" destId="{344A86B1-48E8-448F-9C6D-71580BFB5F83}" srcOrd="0" destOrd="0" presId="urn:microsoft.com/office/officeart/2005/8/layout/chevron2"/>
    <dgm:cxn modelId="{3EF6886C-4FCF-4899-8F48-98F458A380A4}" type="presOf" srcId="{DCCFDBD5-3BD5-4368-8E74-2BE430318114}" destId="{C37D6712-7A35-4663-80F7-1B8FC410AF19}" srcOrd="0" destOrd="0" presId="urn:microsoft.com/office/officeart/2005/8/layout/chevron2"/>
    <dgm:cxn modelId="{3B1F784D-95DD-4194-A52D-9A5B55BC5BD7}" srcId="{9C3C57BE-AD01-47F6-9592-98EF2608A6EF}" destId="{C59A2A35-6BBC-4F81-BD74-40520AACD6AB}" srcOrd="0" destOrd="0" parTransId="{EDE363E4-7EA3-41D2-8DB9-A0871D9DA325}" sibTransId="{C31DDF04-103F-4600-9F78-0BDCC0BF907B}"/>
    <dgm:cxn modelId="{1D7BCF56-E33F-4A42-8129-E524DE8CA73C}" srcId="{234617D2-EBA5-43D3-A846-ABD7019008A4}" destId="{0F6E169A-367E-48F6-8A0F-9538EF72E803}" srcOrd="0" destOrd="0" parTransId="{214810CF-0E9F-420E-9F44-94CA29248781}" sibTransId="{9E3845BF-94AB-444E-AB21-A0DA1B4B1270}"/>
    <dgm:cxn modelId="{E8354084-D26E-4270-954C-74C7F6A06793}" type="presOf" srcId="{C59A2A35-6BBC-4F81-BD74-40520AACD6AB}" destId="{79B0DE70-0A03-4A6F-B31F-EC81EB5DF7EA}" srcOrd="0" destOrd="0" presId="urn:microsoft.com/office/officeart/2005/8/layout/chevron2"/>
    <dgm:cxn modelId="{BF2B6EA9-3F5A-49C1-AF7E-EC921192B9DE}" type="presOf" srcId="{9C3C57BE-AD01-47F6-9592-98EF2608A6EF}" destId="{A651636C-CE47-4575-AA1E-AB00D80E941D}" srcOrd="0" destOrd="0" presId="urn:microsoft.com/office/officeart/2005/8/layout/chevron2"/>
    <dgm:cxn modelId="{95C514DE-3460-4712-B0CD-D954FE76DB64}" srcId="{6F3FB39C-3E1D-4D2D-849B-EA0299C466C8}" destId="{DCCFDBD5-3BD5-4368-8E74-2BE430318114}" srcOrd="0" destOrd="0" parTransId="{E9C3A1B1-6767-4D4A-B32D-4EDACFE1C0F4}" sibTransId="{159A55EA-C5B7-4F9E-8222-A763BEB4D99B}"/>
    <dgm:cxn modelId="{FBB864E0-2027-4A45-B5D7-110F765EFD96}" srcId="{234617D2-EBA5-43D3-A846-ABD7019008A4}" destId="{9C3C57BE-AD01-47F6-9592-98EF2608A6EF}" srcOrd="1" destOrd="0" parTransId="{33D25418-EA10-4491-90C6-5683712BE055}" sibTransId="{0019765E-5748-4647-85C8-6E8054C68086}"/>
    <dgm:cxn modelId="{448B48EB-E488-4909-82B4-2E61877F00AE}" type="presOf" srcId="{6F3FB39C-3E1D-4D2D-849B-EA0299C466C8}" destId="{58E45CBE-DE64-4E4E-8AAA-D376465B2BEE}" srcOrd="0" destOrd="0" presId="urn:microsoft.com/office/officeart/2005/8/layout/chevron2"/>
    <dgm:cxn modelId="{E644B3EB-418D-4B1A-83D6-8DCC10BE06E8}" type="presOf" srcId="{9AB424BA-7E8B-4D0B-8A3C-3748A54646B8}" destId="{2AA7B02C-023E-4537-897E-B54A048C8983}" srcOrd="0" destOrd="0" presId="urn:microsoft.com/office/officeart/2005/8/layout/chevron2"/>
    <dgm:cxn modelId="{F85ACEEE-F8C0-443C-BAAF-021763D37073}" srcId="{234617D2-EBA5-43D3-A846-ABD7019008A4}" destId="{6F3FB39C-3E1D-4D2D-849B-EA0299C466C8}" srcOrd="3" destOrd="0" parTransId="{F344B892-AD67-4863-B1DB-FFEAC6AE3C6A}" sibTransId="{2E86F725-3FD8-4480-8AF6-6A89E142D77A}"/>
    <dgm:cxn modelId="{E402CAF0-5AAA-416F-BAF4-3854EF253EE5}" srcId="{0F6E169A-367E-48F6-8A0F-9538EF72E803}" destId="{676AA4D5-22F4-47B3-B0E8-95C3D9C99480}" srcOrd="0" destOrd="0" parTransId="{65AE6963-95E3-417E-9DBC-C327427667A9}" sibTransId="{BBDCCB86-71C3-422E-959C-8FA92A9124DF}"/>
    <dgm:cxn modelId="{5B0A26F8-5ACB-43D3-A171-6C62CAD4E7BE}" srcId="{9AB424BA-7E8B-4D0B-8A3C-3748A54646B8}" destId="{BEC04423-D6B7-4792-AEB9-C3D7F81A98AC}" srcOrd="0" destOrd="0" parTransId="{F135D138-85FF-4087-B751-5F159F842289}" sibTransId="{AB02689B-5109-4C4C-A9DD-EF332B395FC7}"/>
    <dgm:cxn modelId="{AC4A8FF1-0B42-4570-ACB4-F62AD10AC7E7}" type="presParOf" srcId="{C30EB98C-BF8E-47B5-A59F-A3E708D5551C}" destId="{B5976899-2FC4-4A3E-891A-B74C8C23C8B5}" srcOrd="0" destOrd="0" presId="urn:microsoft.com/office/officeart/2005/8/layout/chevron2"/>
    <dgm:cxn modelId="{78437963-1AD6-4AA2-99FF-D3C136E6C1B9}" type="presParOf" srcId="{B5976899-2FC4-4A3E-891A-B74C8C23C8B5}" destId="{416A876F-5FA3-42F9-A923-4E2C334EF9BC}" srcOrd="0" destOrd="0" presId="urn:microsoft.com/office/officeart/2005/8/layout/chevron2"/>
    <dgm:cxn modelId="{E5BB8A76-3CEA-42DE-8EE6-7959F74B0BB9}" type="presParOf" srcId="{B5976899-2FC4-4A3E-891A-B74C8C23C8B5}" destId="{344A86B1-48E8-448F-9C6D-71580BFB5F83}" srcOrd="1" destOrd="0" presId="urn:microsoft.com/office/officeart/2005/8/layout/chevron2"/>
    <dgm:cxn modelId="{1409A561-56BE-41EC-823E-CEEC12A8CF50}" type="presParOf" srcId="{C30EB98C-BF8E-47B5-A59F-A3E708D5551C}" destId="{19B3EDEB-1CF9-4423-9037-F0221A01EBBA}" srcOrd="1" destOrd="0" presId="urn:microsoft.com/office/officeart/2005/8/layout/chevron2"/>
    <dgm:cxn modelId="{69FAE29B-8826-413D-A90D-E3D1914BB7C5}" type="presParOf" srcId="{C30EB98C-BF8E-47B5-A59F-A3E708D5551C}" destId="{5D167E8C-136F-440C-8D10-651E4D964A72}" srcOrd="2" destOrd="0" presId="urn:microsoft.com/office/officeart/2005/8/layout/chevron2"/>
    <dgm:cxn modelId="{26C5ECD3-BE74-4234-955C-82B823BF9F9B}" type="presParOf" srcId="{5D167E8C-136F-440C-8D10-651E4D964A72}" destId="{A651636C-CE47-4575-AA1E-AB00D80E941D}" srcOrd="0" destOrd="0" presId="urn:microsoft.com/office/officeart/2005/8/layout/chevron2"/>
    <dgm:cxn modelId="{BFF53C8A-F466-46C1-9066-7E1EB74CF072}" type="presParOf" srcId="{5D167E8C-136F-440C-8D10-651E4D964A72}" destId="{79B0DE70-0A03-4A6F-B31F-EC81EB5DF7EA}" srcOrd="1" destOrd="0" presId="urn:microsoft.com/office/officeart/2005/8/layout/chevron2"/>
    <dgm:cxn modelId="{530A7BC0-79AB-4546-A568-2187FF19F65D}" type="presParOf" srcId="{C30EB98C-BF8E-47B5-A59F-A3E708D5551C}" destId="{5C2D5B77-4FD3-4BFC-B7C7-B69CFA47B819}" srcOrd="3" destOrd="0" presId="urn:microsoft.com/office/officeart/2005/8/layout/chevron2"/>
    <dgm:cxn modelId="{BE3F6BE8-AEFA-4235-B54E-61907BC9372B}" type="presParOf" srcId="{C30EB98C-BF8E-47B5-A59F-A3E708D5551C}" destId="{FD9C2F86-B450-49A0-8639-065AE676C080}" srcOrd="4" destOrd="0" presId="urn:microsoft.com/office/officeart/2005/8/layout/chevron2"/>
    <dgm:cxn modelId="{2E20AF7C-4B60-47FB-B029-F81F1CE8FCB7}" type="presParOf" srcId="{FD9C2F86-B450-49A0-8639-065AE676C080}" destId="{2AA7B02C-023E-4537-897E-B54A048C8983}" srcOrd="0" destOrd="0" presId="urn:microsoft.com/office/officeart/2005/8/layout/chevron2"/>
    <dgm:cxn modelId="{0573D7AB-2C25-487B-B0E2-947295CA4BF1}" type="presParOf" srcId="{FD9C2F86-B450-49A0-8639-065AE676C080}" destId="{15D3D31F-A831-4E62-ADE9-6ACE81331CDC}" srcOrd="1" destOrd="0" presId="urn:microsoft.com/office/officeart/2005/8/layout/chevron2"/>
    <dgm:cxn modelId="{49FE4450-ED31-4DD4-95F8-F34D880718F4}" type="presParOf" srcId="{C30EB98C-BF8E-47B5-A59F-A3E708D5551C}" destId="{365F76A6-EF4F-41D1-B81D-BC3D7851A081}" srcOrd="5" destOrd="0" presId="urn:microsoft.com/office/officeart/2005/8/layout/chevron2"/>
    <dgm:cxn modelId="{D297B7B3-984B-4BEF-88CF-E8496B62D532}" type="presParOf" srcId="{C30EB98C-BF8E-47B5-A59F-A3E708D5551C}" destId="{4DB00594-09F9-4225-B772-B1D52DAEEAB6}" srcOrd="6" destOrd="0" presId="urn:microsoft.com/office/officeart/2005/8/layout/chevron2"/>
    <dgm:cxn modelId="{58E3F0DF-7BFD-4BEB-873F-CA02319F1E26}" type="presParOf" srcId="{4DB00594-09F9-4225-B772-B1D52DAEEAB6}" destId="{58E45CBE-DE64-4E4E-8AAA-D376465B2BEE}" srcOrd="0" destOrd="0" presId="urn:microsoft.com/office/officeart/2005/8/layout/chevron2"/>
    <dgm:cxn modelId="{C405AC97-4C54-4757-8651-AB11924A4B6F}" type="presParOf" srcId="{4DB00594-09F9-4225-B772-B1D52DAEEAB6}" destId="{C37D6712-7A35-4663-80F7-1B8FC410AF1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0597F3-5A77-42C5-A3BE-2278E7F238BC}" type="doc">
      <dgm:prSet loTypeId="urn:microsoft.com/office/officeart/2005/8/layout/hierarchy2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9A3506E-67E5-4F7A-9B7E-1576BEDC34A3}">
      <dgm:prSet phldrT="[Texto]" custT="1"/>
      <dgm:spPr>
        <a:solidFill>
          <a:schemeClr val="tx1"/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Alternativas en los problemas de decisión lógica</a:t>
          </a:r>
        </a:p>
      </dgm:t>
    </dgm:pt>
    <dgm:pt modelId="{E20479EF-AE87-47E7-95B8-7079AFFBD0FD}" type="parTrans" cxnId="{539F31B7-EA4B-4A96-9594-A01E02E53A02}">
      <dgm:prSet/>
      <dgm:spPr/>
      <dgm:t>
        <a:bodyPr/>
        <a:lstStyle/>
        <a:p>
          <a:endParaRPr lang="es-CO"/>
        </a:p>
      </dgm:t>
    </dgm:pt>
    <dgm:pt modelId="{00FBE2A5-9907-4191-9EDB-ED7525BF77C3}" type="sibTrans" cxnId="{539F31B7-EA4B-4A96-9594-A01E02E53A02}">
      <dgm:prSet/>
      <dgm:spPr/>
      <dgm:t>
        <a:bodyPr/>
        <a:lstStyle/>
        <a:p>
          <a:endParaRPr lang="es-CO"/>
        </a:p>
      </dgm:t>
    </dgm:pt>
    <dgm:pt modelId="{09B6955E-10DC-4968-92CF-E1C9819E5605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 simple</a:t>
          </a:r>
        </a:p>
      </dgm:t>
    </dgm:pt>
    <dgm:pt modelId="{A22B95DF-9FE8-420F-A458-0ABF9054DDA8}" type="parTrans" cxnId="{7C418AD0-8738-47DB-8D3B-051DD65C20D7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C73EB503-5E35-420A-9A21-59932CE19BD4}" type="sibTrans" cxnId="{7C418AD0-8738-47DB-8D3B-051DD65C20D7}">
      <dgm:prSet/>
      <dgm:spPr/>
      <dgm:t>
        <a:bodyPr/>
        <a:lstStyle/>
        <a:p>
          <a:endParaRPr lang="es-CO"/>
        </a:p>
      </dgm:t>
    </dgm:pt>
    <dgm:pt modelId="{26B2BE31-97EF-4625-B738-F0B479E24968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 doble </a:t>
          </a:r>
        </a:p>
      </dgm:t>
    </dgm:pt>
    <dgm:pt modelId="{74C07CD9-03A2-472F-9D10-89398F18C5FF}" type="parTrans" cxnId="{775B1B90-AC05-4952-874D-D84AEBE82C7A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C86DC288-399D-4E73-8A61-65A8F1A51B41}" type="sibTrans" cxnId="{775B1B90-AC05-4952-874D-D84AEBE82C7A}">
      <dgm:prSet/>
      <dgm:spPr/>
      <dgm:t>
        <a:bodyPr/>
        <a:lstStyle/>
        <a:p>
          <a:endParaRPr lang="es-CO"/>
        </a:p>
      </dgm:t>
    </dgm:pt>
    <dgm:pt modelId="{AC0BF95D-CF9E-4F08-8A00-9697D100E9A3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 múltiple</a:t>
          </a:r>
        </a:p>
      </dgm:t>
    </dgm:pt>
    <dgm:pt modelId="{26D5F77F-06A6-4CDE-AA21-49C84A02C9CD}" type="parTrans" cxnId="{12FDE830-DBE7-4150-B7E3-1300079CB587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F696B3B3-1931-4F06-B1CC-B83A675495DA}" type="sibTrans" cxnId="{12FDE830-DBE7-4150-B7E3-1300079CB587}">
      <dgm:prSet/>
      <dgm:spPr/>
      <dgm:t>
        <a:bodyPr/>
        <a:lstStyle/>
        <a:p>
          <a:endParaRPr lang="es-CO"/>
        </a:p>
      </dgm:t>
    </dgm:pt>
    <dgm:pt modelId="{9D9A0CA1-8164-4592-AEA4-35677C424757}" type="pres">
      <dgm:prSet presAssocID="{890597F3-5A77-42C5-A3BE-2278E7F238B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CCC041F-5372-4AC6-B4C5-74789650EAD3}" type="pres">
      <dgm:prSet presAssocID="{59A3506E-67E5-4F7A-9B7E-1576BEDC34A3}" presName="root1" presStyleCnt="0"/>
      <dgm:spPr/>
    </dgm:pt>
    <dgm:pt modelId="{1B46BF3C-CDFA-4359-A082-13BD84A6C0BB}" type="pres">
      <dgm:prSet presAssocID="{59A3506E-67E5-4F7A-9B7E-1576BEDC34A3}" presName="LevelOneTextNode" presStyleLbl="node0" presStyleIdx="0" presStyleCnt="1" custLinFactNeighborX="10461" custLinFactNeighborY="35">
        <dgm:presLayoutVars>
          <dgm:chPref val="3"/>
        </dgm:presLayoutVars>
      </dgm:prSet>
      <dgm:spPr/>
    </dgm:pt>
    <dgm:pt modelId="{B9A1D65E-4165-4AE7-8D64-4D3B729688D5}" type="pres">
      <dgm:prSet presAssocID="{59A3506E-67E5-4F7A-9B7E-1576BEDC34A3}" presName="level2hierChild" presStyleCnt="0"/>
      <dgm:spPr/>
    </dgm:pt>
    <dgm:pt modelId="{BB45BE9A-FF36-43D6-83C3-336A2E12976B}" type="pres">
      <dgm:prSet presAssocID="{A22B95DF-9FE8-420F-A458-0ABF9054DDA8}" presName="conn2-1" presStyleLbl="parChTrans1D2" presStyleIdx="0" presStyleCnt="3"/>
      <dgm:spPr/>
    </dgm:pt>
    <dgm:pt modelId="{FF1FABA0-D36A-4D54-B247-14BE9D94AEF0}" type="pres">
      <dgm:prSet presAssocID="{A22B95DF-9FE8-420F-A458-0ABF9054DDA8}" presName="connTx" presStyleLbl="parChTrans1D2" presStyleIdx="0" presStyleCnt="3"/>
      <dgm:spPr/>
    </dgm:pt>
    <dgm:pt modelId="{34C60CED-D817-49FB-B9BB-9118A6A363A3}" type="pres">
      <dgm:prSet presAssocID="{09B6955E-10DC-4968-92CF-E1C9819E5605}" presName="root2" presStyleCnt="0"/>
      <dgm:spPr/>
    </dgm:pt>
    <dgm:pt modelId="{DA0E9240-41B7-41B5-8F65-67C41791B0D9}" type="pres">
      <dgm:prSet presAssocID="{09B6955E-10DC-4968-92CF-E1C9819E5605}" presName="LevelTwoTextNode" presStyleLbl="node2" presStyleIdx="0" presStyleCnt="3" custScaleY="39270" custLinFactNeighborX="448" custLinFactNeighborY="-71206">
        <dgm:presLayoutVars>
          <dgm:chPref val="3"/>
        </dgm:presLayoutVars>
      </dgm:prSet>
      <dgm:spPr/>
    </dgm:pt>
    <dgm:pt modelId="{6693B9B5-72C6-4946-A026-DFCE5CC564BD}" type="pres">
      <dgm:prSet presAssocID="{09B6955E-10DC-4968-92CF-E1C9819E5605}" presName="level3hierChild" presStyleCnt="0"/>
      <dgm:spPr/>
    </dgm:pt>
    <dgm:pt modelId="{94DAD3F8-2DD3-4D49-BCA3-0AA4CEA5327E}" type="pres">
      <dgm:prSet presAssocID="{74C07CD9-03A2-472F-9D10-89398F18C5FF}" presName="conn2-1" presStyleLbl="parChTrans1D2" presStyleIdx="1" presStyleCnt="3"/>
      <dgm:spPr/>
    </dgm:pt>
    <dgm:pt modelId="{1992A5A9-39A4-43EF-B349-F3C4C172BA3E}" type="pres">
      <dgm:prSet presAssocID="{74C07CD9-03A2-472F-9D10-89398F18C5FF}" presName="connTx" presStyleLbl="parChTrans1D2" presStyleIdx="1" presStyleCnt="3"/>
      <dgm:spPr/>
    </dgm:pt>
    <dgm:pt modelId="{96C74287-B61F-407D-BFD4-4FCEB537C037}" type="pres">
      <dgm:prSet presAssocID="{26B2BE31-97EF-4625-B738-F0B479E24968}" presName="root2" presStyleCnt="0"/>
      <dgm:spPr/>
    </dgm:pt>
    <dgm:pt modelId="{FC825A99-0AF5-4BBD-A87F-DB1EBAD335DC}" type="pres">
      <dgm:prSet presAssocID="{26B2BE31-97EF-4625-B738-F0B479E24968}" presName="LevelTwoTextNode" presStyleLbl="node2" presStyleIdx="1" presStyleCnt="3" custScaleY="36559" custLinFactNeighborX="448" custLinFactNeighborY="-3217">
        <dgm:presLayoutVars>
          <dgm:chPref val="3"/>
        </dgm:presLayoutVars>
      </dgm:prSet>
      <dgm:spPr/>
    </dgm:pt>
    <dgm:pt modelId="{DA4EEE03-96FC-4895-961B-17A48177CF31}" type="pres">
      <dgm:prSet presAssocID="{26B2BE31-97EF-4625-B738-F0B479E24968}" presName="level3hierChild" presStyleCnt="0"/>
      <dgm:spPr/>
    </dgm:pt>
    <dgm:pt modelId="{CDABA905-00CC-4685-8E9D-590A386A3B8E}" type="pres">
      <dgm:prSet presAssocID="{26D5F77F-06A6-4CDE-AA21-49C84A02C9CD}" presName="conn2-1" presStyleLbl="parChTrans1D2" presStyleIdx="2" presStyleCnt="3"/>
      <dgm:spPr/>
    </dgm:pt>
    <dgm:pt modelId="{58636808-5F2B-4961-A006-BFF4D8EA13A6}" type="pres">
      <dgm:prSet presAssocID="{26D5F77F-06A6-4CDE-AA21-49C84A02C9CD}" presName="connTx" presStyleLbl="parChTrans1D2" presStyleIdx="2" presStyleCnt="3"/>
      <dgm:spPr/>
    </dgm:pt>
    <dgm:pt modelId="{EC0EA8B8-0BDD-4B34-AC1D-81C811C46B05}" type="pres">
      <dgm:prSet presAssocID="{AC0BF95D-CF9E-4F08-8A00-9697D100E9A3}" presName="root2" presStyleCnt="0"/>
      <dgm:spPr/>
    </dgm:pt>
    <dgm:pt modelId="{37AA57FA-6512-49C5-850D-0B5DBF1B5B11}" type="pres">
      <dgm:prSet presAssocID="{AC0BF95D-CF9E-4F08-8A00-9697D100E9A3}" presName="LevelTwoTextNode" presStyleLbl="node2" presStyleIdx="2" presStyleCnt="3" custScaleY="35024" custLinFactNeighborX="448" custLinFactNeighborY="62167">
        <dgm:presLayoutVars>
          <dgm:chPref val="3"/>
        </dgm:presLayoutVars>
      </dgm:prSet>
      <dgm:spPr/>
    </dgm:pt>
    <dgm:pt modelId="{E28AE99C-4D94-44FF-BB67-9F9102553C0D}" type="pres">
      <dgm:prSet presAssocID="{AC0BF95D-CF9E-4F08-8A00-9697D100E9A3}" presName="level3hierChild" presStyleCnt="0"/>
      <dgm:spPr/>
    </dgm:pt>
  </dgm:ptLst>
  <dgm:cxnLst>
    <dgm:cxn modelId="{FFB07015-A2EB-425F-8208-601748B08209}" type="presOf" srcId="{AC0BF95D-CF9E-4F08-8A00-9697D100E9A3}" destId="{37AA57FA-6512-49C5-850D-0B5DBF1B5B11}" srcOrd="0" destOrd="0" presId="urn:microsoft.com/office/officeart/2005/8/layout/hierarchy2"/>
    <dgm:cxn modelId="{85353B1F-E4BE-4B32-B2F6-BF8F608460EA}" type="presOf" srcId="{26D5F77F-06A6-4CDE-AA21-49C84A02C9CD}" destId="{CDABA905-00CC-4685-8E9D-590A386A3B8E}" srcOrd="0" destOrd="0" presId="urn:microsoft.com/office/officeart/2005/8/layout/hierarchy2"/>
    <dgm:cxn modelId="{790B8620-088D-42EB-9309-1BB7A5268110}" type="presOf" srcId="{890597F3-5A77-42C5-A3BE-2278E7F238BC}" destId="{9D9A0CA1-8164-4592-AEA4-35677C424757}" srcOrd="0" destOrd="0" presId="urn:microsoft.com/office/officeart/2005/8/layout/hierarchy2"/>
    <dgm:cxn modelId="{12FDE830-DBE7-4150-B7E3-1300079CB587}" srcId="{59A3506E-67E5-4F7A-9B7E-1576BEDC34A3}" destId="{AC0BF95D-CF9E-4F08-8A00-9697D100E9A3}" srcOrd="2" destOrd="0" parTransId="{26D5F77F-06A6-4CDE-AA21-49C84A02C9CD}" sibTransId="{F696B3B3-1931-4F06-B1CC-B83A675495DA}"/>
    <dgm:cxn modelId="{94C6B650-204B-43E1-B5A3-9BBFAC74926E}" type="presOf" srcId="{74C07CD9-03A2-472F-9D10-89398F18C5FF}" destId="{94DAD3F8-2DD3-4D49-BCA3-0AA4CEA5327E}" srcOrd="0" destOrd="0" presId="urn:microsoft.com/office/officeart/2005/8/layout/hierarchy2"/>
    <dgm:cxn modelId="{50966B51-4A03-41DC-8E24-DD10B43EF03C}" type="presOf" srcId="{26B2BE31-97EF-4625-B738-F0B479E24968}" destId="{FC825A99-0AF5-4BBD-A87F-DB1EBAD335DC}" srcOrd="0" destOrd="0" presId="urn:microsoft.com/office/officeart/2005/8/layout/hierarchy2"/>
    <dgm:cxn modelId="{D4899E52-E199-4ACD-8987-1B9E61AA99B8}" type="presOf" srcId="{A22B95DF-9FE8-420F-A458-0ABF9054DDA8}" destId="{BB45BE9A-FF36-43D6-83C3-336A2E12976B}" srcOrd="0" destOrd="0" presId="urn:microsoft.com/office/officeart/2005/8/layout/hierarchy2"/>
    <dgm:cxn modelId="{775B1B90-AC05-4952-874D-D84AEBE82C7A}" srcId="{59A3506E-67E5-4F7A-9B7E-1576BEDC34A3}" destId="{26B2BE31-97EF-4625-B738-F0B479E24968}" srcOrd="1" destOrd="0" parTransId="{74C07CD9-03A2-472F-9D10-89398F18C5FF}" sibTransId="{C86DC288-399D-4E73-8A61-65A8F1A51B41}"/>
    <dgm:cxn modelId="{01EC7294-CEEF-40F6-B633-67C82FEF8FA3}" type="presOf" srcId="{09B6955E-10DC-4968-92CF-E1C9819E5605}" destId="{DA0E9240-41B7-41B5-8F65-67C41791B0D9}" srcOrd="0" destOrd="0" presId="urn:microsoft.com/office/officeart/2005/8/layout/hierarchy2"/>
    <dgm:cxn modelId="{13FDBCAC-7318-474F-B507-7E4CAD879951}" type="presOf" srcId="{26D5F77F-06A6-4CDE-AA21-49C84A02C9CD}" destId="{58636808-5F2B-4961-A006-BFF4D8EA13A6}" srcOrd="1" destOrd="0" presId="urn:microsoft.com/office/officeart/2005/8/layout/hierarchy2"/>
    <dgm:cxn modelId="{539F31B7-EA4B-4A96-9594-A01E02E53A02}" srcId="{890597F3-5A77-42C5-A3BE-2278E7F238BC}" destId="{59A3506E-67E5-4F7A-9B7E-1576BEDC34A3}" srcOrd="0" destOrd="0" parTransId="{E20479EF-AE87-47E7-95B8-7079AFFBD0FD}" sibTransId="{00FBE2A5-9907-4191-9EDB-ED7525BF77C3}"/>
    <dgm:cxn modelId="{E160E5C4-0096-4C7F-BE97-005ED6DD2F13}" type="presOf" srcId="{59A3506E-67E5-4F7A-9B7E-1576BEDC34A3}" destId="{1B46BF3C-CDFA-4359-A082-13BD84A6C0BB}" srcOrd="0" destOrd="0" presId="urn:microsoft.com/office/officeart/2005/8/layout/hierarchy2"/>
    <dgm:cxn modelId="{7C418AD0-8738-47DB-8D3B-051DD65C20D7}" srcId="{59A3506E-67E5-4F7A-9B7E-1576BEDC34A3}" destId="{09B6955E-10DC-4968-92CF-E1C9819E5605}" srcOrd="0" destOrd="0" parTransId="{A22B95DF-9FE8-420F-A458-0ABF9054DDA8}" sibTransId="{C73EB503-5E35-420A-9A21-59932CE19BD4}"/>
    <dgm:cxn modelId="{E4AD93DF-6236-47C2-B398-9A40B78239C5}" type="presOf" srcId="{74C07CD9-03A2-472F-9D10-89398F18C5FF}" destId="{1992A5A9-39A4-43EF-B349-F3C4C172BA3E}" srcOrd="1" destOrd="0" presId="urn:microsoft.com/office/officeart/2005/8/layout/hierarchy2"/>
    <dgm:cxn modelId="{B3E5EDF1-37B8-40A2-AE86-7B7F70CDE7F5}" type="presOf" srcId="{A22B95DF-9FE8-420F-A458-0ABF9054DDA8}" destId="{FF1FABA0-D36A-4D54-B247-14BE9D94AEF0}" srcOrd="1" destOrd="0" presId="urn:microsoft.com/office/officeart/2005/8/layout/hierarchy2"/>
    <dgm:cxn modelId="{EA0EABD9-F3E7-4927-B22F-9E20CABC1353}" type="presParOf" srcId="{9D9A0CA1-8164-4592-AEA4-35677C424757}" destId="{2CCC041F-5372-4AC6-B4C5-74789650EAD3}" srcOrd="0" destOrd="0" presId="urn:microsoft.com/office/officeart/2005/8/layout/hierarchy2"/>
    <dgm:cxn modelId="{B7092B44-C017-4DB1-A5EC-3B2995489154}" type="presParOf" srcId="{2CCC041F-5372-4AC6-B4C5-74789650EAD3}" destId="{1B46BF3C-CDFA-4359-A082-13BD84A6C0BB}" srcOrd="0" destOrd="0" presId="urn:microsoft.com/office/officeart/2005/8/layout/hierarchy2"/>
    <dgm:cxn modelId="{5F3B3F5E-9133-4DE6-824A-A1610140E086}" type="presParOf" srcId="{2CCC041F-5372-4AC6-B4C5-74789650EAD3}" destId="{B9A1D65E-4165-4AE7-8D64-4D3B729688D5}" srcOrd="1" destOrd="0" presId="urn:microsoft.com/office/officeart/2005/8/layout/hierarchy2"/>
    <dgm:cxn modelId="{DF64F500-6617-464C-ADBF-2438D3BF07CF}" type="presParOf" srcId="{B9A1D65E-4165-4AE7-8D64-4D3B729688D5}" destId="{BB45BE9A-FF36-43D6-83C3-336A2E12976B}" srcOrd="0" destOrd="0" presId="urn:microsoft.com/office/officeart/2005/8/layout/hierarchy2"/>
    <dgm:cxn modelId="{C7A68622-CC87-445A-B084-57FDAC9C4668}" type="presParOf" srcId="{BB45BE9A-FF36-43D6-83C3-336A2E12976B}" destId="{FF1FABA0-D36A-4D54-B247-14BE9D94AEF0}" srcOrd="0" destOrd="0" presId="urn:microsoft.com/office/officeart/2005/8/layout/hierarchy2"/>
    <dgm:cxn modelId="{96DA79F2-FBFB-4FDF-88C2-7F7FCB8DBC72}" type="presParOf" srcId="{B9A1D65E-4165-4AE7-8D64-4D3B729688D5}" destId="{34C60CED-D817-49FB-B9BB-9118A6A363A3}" srcOrd="1" destOrd="0" presId="urn:microsoft.com/office/officeart/2005/8/layout/hierarchy2"/>
    <dgm:cxn modelId="{C7153360-373F-479F-9733-C14F874D6753}" type="presParOf" srcId="{34C60CED-D817-49FB-B9BB-9118A6A363A3}" destId="{DA0E9240-41B7-41B5-8F65-67C41791B0D9}" srcOrd="0" destOrd="0" presId="urn:microsoft.com/office/officeart/2005/8/layout/hierarchy2"/>
    <dgm:cxn modelId="{1AC1E39B-E666-46C5-BBDB-1BFA6AA98FCA}" type="presParOf" srcId="{34C60CED-D817-49FB-B9BB-9118A6A363A3}" destId="{6693B9B5-72C6-4946-A026-DFCE5CC564BD}" srcOrd="1" destOrd="0" presId="urn:microsoft.com/office/officeart/2005/8/layout/hierarchy2"/>
    <dgm:cxn modelId="{BD9A2782-44A7-4D10-89E2-6C85E5C06753}" type="presParOf" srcId="{B9A1D65E-4165-4AE7-8D64-4D3B729688D5}" destId="{94DAD3F8-2DD3-4D49-BCA3-0AA4CEA5327E}" srcOrd="2" destOrd="0" presId="urn:microsoft.com/office/officeart/2005/8/layout/hierarchy2"/>
    <dgm:cxn modelId="{19307C81-BE97-438B-9CBC-629DE5FEA912}" type="presParOf" srcId="{94DAD3F8-2DD3-4D49-BCA3-0AA4CEA5327E}" destId="{1992A5A9-39A4-43EF-B349-F3C4C172BA3E}" srcOrd="0" destOrd="0" presId="urn:microsoft.com/office/officeart/2005/8/layout/hierarchy2"/>
    <dgm:cxn modelId="{FA6A260E-BACB-4037-BEC7-FC28C486B655}" type="presParOf" srcId="{B9A1D65E-4165-4AE7-8D64-4D3B729688D5}" destId="{96C74287-B61F-407D-BFD4-4FCEB537C037}" srcOrd="3" destOrd="0" presId="urn:microsoft.com/office/officeart/2005/8/layout/hierarchy2"/>
    <dgm:cxn modelId="{F549FC22-1462-4B16-A05C-40A58B0F5542}" type="presParOf" srcId="{96C74287-B61F-407D-BFD4-4FCEB537C037}" destId="{FC825A99-0AF5-4BBD-A87F-DB1EBAD335DC}" srcOrd="0" destOrd="0" presId="urn:microsoft.com/office/officeart/2005/8/layout/hierarchy2"/>
    <dgm:cxn modelId="{D176BA43-AE67-4679-9654-5A7DA6CF6ABF}" type="presParOf" srcId="{96C74287-B61F-407D-BFD4-4FCEB537C037}" destId="{DA4EEE03-96FC-4895-961B-17A48177CF31}" srcOrd="1" destOrd="0" presId="urn:microsoft.com/office/officeart/2005/8/layout/hierarchy2"/>
    <dgm:cxn modelId="{9C570201-3161-47EB-8833-9912B39D4217}" type="presParOf" srcId="{B9A1D65E-4165-4AE7-8D64-4D3B729688D5}" destId="{CDABA905-00CC-4685-8E9D-590A386A3B8E}" srcOrd="4" destOrd="0" presId="urn:microsoft.com/office/officeart/2005/8/layout/hierarchy2"/>
    <dgm:cxn modelId="{2F8A09A8-7110-45C5-AB57-1A25DB2FCAA3}" type="presParOf" srcId="{CDABA905-00CC-4685-8E9D-590A386A3B8E}" destId="{58636808-5F2B-4961-A006-BFF4D8EA13A6}" srcOrd="0" destOrd="0" presId="urn:microsoft.com/office/officeart/2005/8/layout/hierarchy2"/>
    <dgm:cxn modelId="{78B88CD1-26BB-4F80-9760-9610949EA321}" type="presParOf" srcId="{B9A1D65E-4165-4AE7-8D64-4D3B729688D5}" destId="{EC0EA8B8-0BDD-4B34-AC1D-81C811C46B05}" srcOrd="5" destOrd="0" presId="urn:microsoft.com/office/officeart/2005/8/layout/hierarchy2"/>
    <dgm:cxn modelId="{ECF7E878-DBEE-4EF1-A933-0F8C0281BF82}" type="presParOf" srcId="{EC0EA8B8-0BDD-4B34-AC1D-81C811C46B05}" destId="{37AA57FA-6512-49C5-850D-0B5DBF1B5B11}" srcOrd="0" destOrd="0" presId="urn:microsoft.com/office/officeart/2005/8/layout/hierarchy2"/>
    <dgm:cxn modelId="{5D91536F-8CDB-4908-8028-139199733CEF}" type="presParOf" srcId="{EC0EA8B8-0BDD-4B34-AC1D-81C811C46B05}" destId="{E28AE99C-4D94-44FF-BB67-9F9102553C0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A876F-5FA3-42F9-A923-4E2C334EF9BC}">
      <dsp:nvSpPr>
        <dsp:cNvPr id="0" name=""/>
        <dsp:cNvSpPr/>
      </dsp:nvSpPr>
      <dsp:spPr>
        <a:xfrm rot="5400000">
          <a:off x="-106543" y="109307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Century Gothic" panose="020B0502020202020204" pitchFamily="34" charset="0"/>
            </a:rPr>
            <a:t>1</a:t>
          </a:r>
          <a:endParaRPr lang="es-CO" sz="1200" kern="1200" dirty="0">
            <a:latin typeface="Century Gothic" panose="020B0502020202020204" pitchFamily="34" charset="0"/>
          </a:endParaRPr>
        </a:p>
      </dsp:txBody>
      <dsp:txXfrm rot="-5400000">
        <a:off x="0" y="251365"/>
        <a:ext cx="497202" cy="213086"/>
      </dsp:txXfrm>
    </dsp:sp>
    <dsp:sp modelId="{344A86B1-48E8-448F-9C6D-71580BFB5F83}">
      <dsp:nvSpPr>
        <dsp:cNvPr id="0" name=""/>
        <dsp:cNvSpPr/>
      </dsp:nvSpPr>
      <dsp:spPr>
        <a:xfrm rot="5400000">
          <a:off x="2825947" y="-2325981"/>
          <a:ext cx="461930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Entender el problema</a:t>
          </a:r>
        </a:p>
      </dsp:txBody>
      <dsp:txXfrm rot="-5400000">
        <a:off x="497202" y="25314"/>
        <a:ext cx="5096871" cy="416830"/>
      </dsp:txXfrm>
    </dsp:sp>
    <dsp:sp modelId="{A651636C-CE47-4575-AA1E-AB00D80E941D}">
      <dsp:nvSpPr>
        <dsp:cNvPr id="0" name=""/>
        <dsp:cNvSpPr/>
      </dsp:nvSpPr>
      <dsp:spPr>
        <a:xfrm rot="5400000">
          <a:off x="-106543" y="658631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252426"/>
                <a:satOff val="3301"/>
                <a:lumOff val="-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52426"/>
                <a:satOff val="3301"/>
                <a:lumOff val="-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52426"/>
                <a:satOff val="3301"/>
                <a:lumOff val="-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latin typeface="Century Gothic" panose="020B0502020202020204" pitchFamily="34" charset="0"/>
            </a:rPr>
            <a:t>2</a:t>
          </a:r>
          <a:endParaRPr lang="es-CO" sz="2400" kern="1200" dirty="0">
            <a:latin typeface="Century Gothic" panose="020B0502020202020204" pitchFamily="34" charset="0"/>
          </a:endParaRPr>
        </a:p>
      </dsp:txBody>
      <dsp:txXfrm rot="-5400000">
        <a:off x="0" y="800689"/>
        <a:ext cx="497202" cy="213086"/>
      </dsp:txXfrm>
    </dsp:sp>
    <dsp:sp modelId="{79B0DE70-0A03-4A6F-B31F-EC81EB5DF7EA}">
      <dsp:nvSpPr>
        <dsp:cNvPr id="0" name=""/>
        <dsp:cNvSpPr/>
      </dsp:nvSpPr>
      <dsp:spPr>
        <a:xfrm rot="5400000">
          <a:off x="2826069" y="-1776779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sp:txBody>
      <dsp:txXfrm rot="-5400000">
        <a:off x="497202" y="574626"/>
        <a:ext cx="5096883" cy="416611"/>
      </dsp:txXfrm>
    </dsp:sp>
    <dsp:sp modelId="{2AA7B02C-023E-4537-897E-B54A048C8983}">
      <dsp:nvSpPr>
        <dsp:cNvPr id="0" name=""/>
        <dsp:cNvSpPr/>
      </dsp:nvSpPr>
      <dsp:spPr>
        <a:xfrm rot="5400000">
          <a:off x="-106543" y="1207954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504853"/>
                <a:satOff val="6602"/>
                <a:lumOff val="-81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04853"/>
                <a:satOff val="6602"/>
                <a:lumOff val="-81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04853"/>
                <a:satOff val="6602"/>
                <a:lumOff val="-81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3</a:t>
          </a:r>
        </a:p>
      </dsp:txBody>
      <dsp:txXfrm rot="-5400000">
        <a:off x="0" y="1350012"/>
        <a:ext cx="497202" cy="213086"/>
      </dsp:txXfrm>
    </dsp:sp>
    <dsp:sp modelId="{15D3D31F-A831-4E62-ADE9-6ACE81331CDC}">
      <dsp:nvSpPr>
        <dsp:cNvPr id="0" name=""/>
        <dsp:cNvSpPr/>
      </dsp:nvSpPr>
      <dsp:spPr>
        <a:xfrm rot="5400000">
          <a:off x="2826069" y="-1227455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sp:txBody>
      <dsp:txXfrm rot="-5400000">
        <a:off x="497202" y="1123950"/>
        <a:ext cx="5096883" cy="416611"/>
      </dsp:txXfrm>
    </dsp:sp>
    <dsp:sp modelId="{58E45CBE-DE64-4E4E-8AAA-D376465B2BEE}">
      <dsp:nvSpPr>
        <dsp:cNvPr id="0" name=""/>
        <dsp:cNvSpPr/>
      </dsp:nvSpPr>
      <dsp:spPr>
        <a:xfrm rot="5400000">
          <a:off x="-106543" y="1757278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757279"/>
                <a:satOff val="9903"/>
                <a:lumOff val="-121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757279"/>
                <a:satOff val="9903"/>
                <a:lumOff val="-121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757279"/>
                <a:satOff val="9903"/>
                <a:lumOff val="-121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4</a:t>
          </a:r>
        </a:p>
      </dsp:txBody>
      <dsp:txXfrm rot="-5400000">
        <a:off x="0" y="1899336"/>
        <a:ext cx="497202" cy="213086"/>
      </dsp:txXfrm>
    </dsp:sp>
    <dsp:sp modelId="{C37D6712-7A35-4663-80F7-1B8FC410AF19}">
      <dsp:nvSpPr>
        <dsp:cNvPr id="0" name=""/>
        <dsp:cNvSpPr/>
      </dsp:nvSpPr>
      <dsp:spPr>
        <a:xfrm rot="5400000">
          <a:off x="2826069" y="-678132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sp:txBody>
      <dsp:txXfrm rot="-5400000">
        <a:off x="497202" y="1673273"/>
        <a:ext cx="5096883" cy="4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6BF3C-CDFA-4359-A082-13BD84A6C0BB}">
      <dsp:nvSpPr>
        <dsp:cNvPr id="0" name=""/>
        <dsp:cNvSpPr/>
      </dsp:nvSpPr>
      <dsp:spPr>
        <a:xfrm>
          <a:off x="265709" y="1397444"/>
          <a:ext cx="2539999" cy="1269999"/>
        </a:xfrm>
        <a:prstGeom prst="roundRect">
          <a:avLst>
            <a:gd name="adj" fmla="val 1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Alternativas en los problemas de decisión lógica</a:t>
          </a:r>
        </a:p>
      </dsp:txBody>
      <dsp:txXfrm>
        <a:off x="302906" y="1434641"/>
        <a:ext cx="2465605" cy="1195605"/>
      </dsp:txXfrm>
    </dsp:sp>
    <dsp:sp modelId="{BB45BE9A-FF36-43D6-83C3-336A2E12976B}">
      <dsp:nvSpPr>
        <dsp:cNvPr id="0" name=""/>
        <dsp:cNvSpPr/>
      </dsp:nvSpPr>
      <dsp:spPr>
        <a:xfrm rot="17749945">
          <a:off x="2319916" y="1229413"/>
          <a:ext cx="1721875" cy="56250"/>
        </a:xfrm>
        <a:custGeom>
          <a:avLst/>
          <a:gdLst/>
          <a:ahLst/>
          <a:cxnLst/>
          <a:rect l="0" t="0" r="0" b="0"/>
          <a:pathLst>
            <a:path>
              <a:moveTo>
                <a:pt x="0" y="28125"/>
              </a:moveTo>
              <a:lnTo>
                <a:pt x="1721875" y="28125"/>
              </a:lnTo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600" kern="1200"/>
        </a:p>
      </dsp:txBody>
      <dsp:txXfrm>
        <a:off x="3137807" y="1214491"/>
        <a:ext cx="86093" cy="86093"/>
      </dsp:txXfrm>
    </dsp:sp>
    <dsp:sp modelId="{DA0E9240-41B7-41B5-8F65-67C41791B0D9}">
      <dsp:nvSpPr>
        <dsp:cNvPr id="0" name=""/>
        <dsp:cNvSpPr/>
      </dsp:nvSpPr>
      <dsp:spPr>
        <a:xfrm>
          <a:off x="3556000" y="233267"/>
          <a:ext cx="2539999" cy="498729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 simple</a:t>
          </a:r>
        </a:p>
      </dsp:txBody>
      <dsp:txXfrm>
        <a:off x="3570607" y="247874"/>
        <a:ext cx="2510785" cy="469515"/>
      </dsp:txXfrm>
    </dsp:sp>
    <dsp:sp modelId="{94DAD3F8-2DD3-4D49-BCA3-0AA4CEA5327E}">
      <dsp:nvSpPr>
        <dsp:cNvPr id="0" name=""/>
        <dsp:cNvSpPr/>
      </dsp:nvSpPr>
      <dsp:spPr>
        <a:xfrm rot="21534312">
          <a:off x="2805640" y="1997150"/>
          <a:ext cx="750427" cy="56250"/>
        </a:xfrm>
        <a:custGeom>
          <a:avLst/>
          <a:gdLst/>
          <a:ahLst/>
          <a:cxnLst/>
          <a:rect l="0" t="0" r="0" b="0"/>
          <a:pathLst>
            <a:path>
              <a:moveTo>
                <a:pt x="0" y="28125"/>
              </a:moveTo>
              <a:lnTo>
                <a:pt x="750427" y="28125"/>
              </a:lnTo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3162094" y="2006514"/>
        <a:ext cx="37521" cy="37521"/>
      </dsp:txXfrm>
    </dsp:sp>
    <dsp:sp modelId="{FC825A99-0AF5-4BBD-A87F-DB1EBAD335DC}">
      <dsp:nvSpPr>
        <dsp:cNvPr id="0" name=""/>
        <dsp:cNvSpPr/>
      </dsp:nvSpPr>
      <dsp:spPr>
        <a:xfrm>
          <a:off x="3556000" y="1785956"/>
          <a:ext cx="2539999" cy="464299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 doble </a:t>
          </a:r>
        </a:p>
      </dsp:txBody>
      <dsp:txXfrm>
        <a:off x="3569599" y="1799555"/>
        <a:ext cx="2512801" cy="437101"/>
      </dsp:txXfrm>
    </dsp:sp>
    <dsp:sp modelId="{CDABA905-00CC-4685-8E9D-590A386A3B8E}">
      <dsp:nvSpPr>
        <dsp:cNvPr id="0" name=""/>
        <dsp:cNvSpPr/>
      </dsp:nvSpPr>
      <dsp:spPr>
        <a:xfrm rot="3769132">
          <a:off x="2359617" y="2734864"/>
          <a:ext cx="1642474" cy="56250"/>
        </a:xfrm>
        <a:custGeom>
          <a:avLst/>
          <a:gdLst/>
          <a:ahLst/>
          <a:cxnLst/>
          <a:rect l="0" t="0" r="0" b="0"/>
          <a:pathLst>
            <a:path>
              <a:moveTo>
                <a:pt x="0" y="28125"/>
              </a:moveTo>
              <a:lnTo>
                <a:pt x="1642474" y="28125"/>
              </a:lnTo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3139792" y="2721927"/>
        <a:ext cx="82123" cy="82123"/>
      </dsp:txXfrm>
    </dsp:sp>
    <dsp:sp modelId="{37AA57FA-6512-49C5-850D-0B5DBF1B5B11}">
      <dsp:nvSpPr>
        <dsp:cNvPr id="0" name=""/>
        <dsp:cNvSpPr/>
      </dsp:nvSpPr>
      <dsp:spPr>
        <a:xfrm>
          <a:off x="3556000" y="3271132"/>
          <a:ext cx="2539999" cy="444804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 múltiple</a:t>
          </a:r>
        </a:p>
      </dsp:txBody>
      <dsp:txXfrm>
        <a:off x="3569028" y="3284160"/>
        <a:ext cx="2513943" cy="4187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43A3E-55B9-4706-BA6E-9364B5247742}" type="datetimeFigureOut">
              <a:rPr lang="es-CO" smtClean="0"/>
              <a:t>23/08/2026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B099-0CC4-41E8-A6BF-D10E445BFF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68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23/08/2026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62088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23/08/2026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991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16AA-8F92-4F8D-9FF5-AE4F5F025475}" type="datetime1">
              <a:rPr lang="es-CO" smtClean="0"/>
              <a:t>23/08/2026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14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889A-C4A3-4C6C-A514-E9566A95FF0B}" type="datetime1">
              <a:rPr lang="es-CO" smtClean="0"/>
              <a:t>23/08/2026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31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49B8-F78E-4015-8DD3-99AC842EEF5C}" type="datetime1">
              <a:rPr lang="es-CO" smtClean="0"/>
              <a:t>23/08/2026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385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23/08/2026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51051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5FDE-4F9B-4FF4-9D4F-6D3ED15F62CE}" type="datetime1">
              <a:rPr lang="es-CO" smtClean="0"/>
              <a:t>23/08/2026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8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392FA-6414-43D4-857F-1D16849F2AFB}" type="datetime1">
              <a:rPr lang="es-CO" smtClean="0"/>
              <a:t>23/08/2026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45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ADB1-43E6-4CC5-8BA6-A3F5A7E6EF55}" type="datetime1">
              <a:rPr lang="es-CO" smtClean="0"/>
              <a:t>23/08/2026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6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21E5-6957-4C84-BD80-156D13F58C59}" type="datetime1">
              <a:rPr lang="es-CO" smtClean="0"/>
              <a:t>23/08/2026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12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B61D7-E979-4A0B-B106-A9203ABD6AA5}" type="datetime1">
              <a:rPr lang="es-CO" smtClean="0"/>
              <a:t>23/08/2026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53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23/08/2026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10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E389-1891-4C1C-AE7B-96446A92669F}" type="datetime1">
              <a:rPr lang="es-CO" smtClean="0"/>
              <a:t>23/08/2026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47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65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kecode.microbit.org/courses/csintro/conditionals/overview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pythontutor.com/visualize.html#code=PRECIO_HOMBRE%20%3D%2010000%0APRECIO_MUJER%20%3D%20PRECIO_HOMBRE%20/%202%0A%0Asex%20%3D%20input%28'Digite%20el%20sexo%20%28F/M%29%3A%20'%29%0A%0Aif%20sex%20%3D%3D%20'F'%3A%0A%20%20valor_entrada%20%3D%20PRECIO_MUJER%0Aelse%3A%0A%20%20valor_entrada%20%3D%20PRECIO_HOMBRE%0A%0Aprint%28f'Valor%20de%20la%20entrada%3A%20%24%7Bvalor_entrada%7D'%29%0A&amp;curInstr=0&amp;mode=display&amp;origin=opt-frontend.js&amp;py=3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pythontutor.com/visualize.html#code=SALARIO_MIN%20%3D%202000000%0AID%20%3D%20input%28%22Digite%20la%20cedula%3A%20%22%29%0Asal_base%20%3D%20int%28input%28%22Digite%20el%20salario%20base%3A%20%22%29%29%0Aif%28sal_base%20%3C%20SALARIO_MIN%29%3A%0A%20%20%20%20subsidio%20%3D%200.3*sal_base%0Aelse%3A%0A%20%20%20%20subsidio%20%3D%200%0Asal_neto%20%3D%20sal_base%20%2B%20subsidio%0Aprint%28ID%20%2B%20'%20le%20corresponde%20como%20pago%20%24',%20%5C%0A%20%20%20%20%20%20sal_neto,%20end%20%3D%20%22%22%29&amp;curInstr=0&amp;mode=display&amp;origin=opt-frontend.js&amp;py=3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pythontutor.com/visualize.html#code=PRECIO_HOMBRE%20%3D%2010000%0APRECIO_MUJER%20%3D%20PRECIO_HOMBRE%20/%202%0Asex%20%3D%20input%28'Digite%20el%20sexo%20%28F/M%29%3A%20'%29%0Aif%20%28%28sex%20%3D%3D%20'F'%29%20or%20%28sex%20%3D%3D%20'f'%29%29%3A%0A%20%20valor_entrada%20%3D%20PRECIO_MUJER%0Aelse%3A%0A%20%20valor_entrada%20%3D%20PRECIO_HOMBRE%0Aprint%28f'Valor%20de%20la%20entrada%3A%20%24%7Bvalor_entrada%7D'%29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pythontutor.com/visualize.html#code=PRECIO_HOMBRE%20%3D%2010000%0APRECIO_MUJER%20%3D%20PRECIO_HOMBRE%20/%202%0Asex%20%3D%20input%28'Digite%20el%20sexo%20%28F/M%29%3A%20'%29%0Aif%20%28%28sex%20%3D%3D%20'F'%29%20or%20%28sex%20%3D%3D%20'f'%29%29%3A%0A%20%20valor_entrada%20%3D%20PRECIO_MUJER%0Aelse%3A%0A%20%20if%20%28%28sex%20%3D%3D%20'M'%29%20or%20%28sex%20%3D%3D%20'm'%29%29%3A%0A%20%20%20%20valor_entrada%20%3D%20PRECIO_HOMBRE%0Aprint%28f'Valor%20de%20la%20entrada%3A%20%24%7Bvalor_entrada%7D'%29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PRECIO_HOMBRE%20%3D%2010000%0APRECIO_MUJER%20%3D%20PRECIO_HOMBRE%20/%202%0Asex%20%3D%20input%28'Digite%20el%20sexo%20%28F/M%29%3A%20'%29%0Aif%20%28%28sex%20%3D%3D%20'F'%29%20or%20%28sex%20%3D%3D%20'f'%29%29%3A%0A%20%20valor_entrada%20%3D%20PRECIO_MUJER%0Aelse%3A%0A%20%20if%20%28%28sex%20%3D%3D%20'M'%29%20or%20%28sex%20%3D%3D%20'm'%29%29%3A%0A%20%20%20%20valor_entrada%20%3D%20PRECIO_HOMBRE%0A%20%20else%3A%0A%20%20%20%20print%28'Importe%3A%20Cobro%20normal'%29%0Aprint%28f'Valor%20de%20la%20entrada%3A%20%24%7Bvalor_entrada%7D'%29&amp;curInstr=0&amp;mode=display&amp;origin=opt-frontend.js&amp;py=311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SALARIO_MIN%20%3D%202000000%0AID%20%3D%20input%28%22Digite%20la%20cedula%3A%20%22%29%0Asal_base%20%3D%20int%28input%28%22Digite%20el%20salario%20base%3A%20%22%29%29%0A%0Aif%28sal_base%20%3C%200%29%3A%0A%20%20print%28'ERROR%3A%20Salario%20no%20valido'%29%0Aelse%3A%0A%20%20if%28sal_base%20%3C%20SALARIO_MIN%29%3A%0A%20%20%20%20sal_neto%20%3D%20sal_base%20%2B%200.3*sal_base%20%0A%20%20else%3A%0A%20%20%20%20sal_neto%20%3D%20sal_base%0A%20%20print%28ID%20%2B%20'%20le%20corresponde%20como%20pago%20%24',%20%5C%0A%20%20%20%20%20%20%20%20sal_neto,%20end%20%3D%20%22%22%29%20%0A&amp;curInstr=0&amp;mode=display&amp;origin=opt-frontend.js&amp;py=311" TargetMode="External"/><Relationship Id="rId2" Type="http://schemas.openxmlformats.org/officeDocument/2006/relationships/hyperlink" Target="https://pythontutor.com/visualize.html#code=SALARIO_MIN%20%3D%202000000%0AID%20%3D%20input%28%22Digite%20la%20cedula%3A%20%22%29%0Asal_base%20%3D%20int%28input%28%22Digite%20el%20salario%20base%3A%20%22%29%29%0Aif%28sal_base%20%3C%20SALARIO_MIN%29%3A%0A%20%20sal_neto%20%3D%20sal_base%20%2B%200.3*sal_base%0A%20%20print%28ID%20%2B%20'%20le%20corresponde%20como%20pago%20%24',%20%5C%0A%20%20%20%20%20%20%20%20sal_neto,%20end%20%3D%20%22%22%29%20%0Aelse%3A%0A%20%20if%28sal_base%20%3E%3D%20SALARIO_MIN%29%3A%0A%20%20%20%20sal_neto%20%3D%20sal_base%0A%20%20%20%20print%28ID%20%2B%20'%20le%20corresponde%20como%20pago%20%24',%20%5C%0A%20%20%20%20%20%20%20%20%20%20sal_neto,%20end%20%3D%20%22%22%29%20%0A%20%20else%3A%0A%20%20%20%20print%28'ERROR%3A%20Salario%20no%20valido'%29&amp;curInstr=0&amp;mode=display&amp;origin=opt-frontend.js&amp;py=31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pythontutor.com/visualize.html#code=nota_num%20%3D%20int%28input%28%22Digite%20la%20nota%20%5B0,100%5D%3A%20%22%29%29%0Aif%20%28%28nota_num%20%3E%20100%29%20or%20%28nota_num%20%3C%200%29%29%3A%20%20%0A%20%20print%28'ERROR%3A%20Nota%20invalida'%29%0Aelse%3A%0A%20%20%20%20if%20%28nota_num%20%3E%3D%2090%29%3A%0A%20%20%20%20%20%20%20nota_letra%20%3D%20'A'%0A%20%20%20%20else%3A%0A%20%20%20%20%20%20%20if%20%28nota_num%20%3E%3D%2080%29%3A%0A%20%20%20%20%20%20%20%20%20%20nota_letra%20%3D%20'B'%0A%20%20%20%20%20%20%20else%3A%0A%20%20%20%20%20%20%20%20%20%20if%20%28nota_num%20%3E%3D%2070%29%3A%0A%20%20%20%20%20%20%20%20%20%20%20%20%20nota_letra%20%3D%20'C'%0A%20%20%20%20%20%20%20%20%20%20else%3A%0A%20%20%20%20%20%20%20%20%20%20%20%20%20if%20%28nota_num%20%3E%3D%2060%29%3A%0A%20%20%20%20%20%20%20%20%20%20%20%20%20%20%20%20nota_letra%20%3D%20'D'%0A%20%20%20%20%20%20%20%20%20%20%20%20%20else%3A%0A%20%20%20%20%20%20%20%20%20%20%20%20%20%20%20%20nota_letra%20%3D%20'E'%20%20%20%20%20%0A%20%20%20%20print%28f'%7Bnota_num%7D%3A%20%7Bnota_letra%7D'%29%0A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pythontutor.com/visualize.html#code=nota_num%20%3D%20int%28input%28%22Digite%20la%20nota%20%5B0,100%5D%3A%20%22%29%29%0Aif%20%28%28nota_num%20%3E%20100%29%20or%20%28nota_num%20%3C%200%29%29%3A%20%20%0A%20%20print%28'ERROR%3A%20Nota%20invalida'%29%0Aelse%3A%0A%20%20if%20%28nota_num%20%3E%3D%2090%29%3A%0A%20%20%20%20nota_letra%20%3D%20'A'%0A%20%20elif%20%28nota_num%20%3E%3D%2080%29%3A%0A%20%20%20%20nota_letra%20%3D%20'B'%0A%20%20elif%20%28nota_num%20%3E%3D%2070%29%3A%0A%20%20%20%20nota_letra%20%3D%20'C'%0A%20%20elif%20%28nota_num%20%3E%3D%2060%29%3A%0A%20%20%20%20nota_letra%20%3D%20'D'%0A%20%20else%3A%0A%20%20%20%20nota_letra%20%3D%20'E'%20%20%20%20%20%0A%20%20print%28f'%7Bnota_num%7D%3A%20%7Bnota_letra%7D'%29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pythontutor.com/visualize.html#code=nota_num%20%3D%20int%28input%28%22Digite%20la%20nota%20%5B0,100%5D%3A%20%22%29%29%0Aif%20%28%28nota_num%20%3E%20100%29%20or%20%28nota_num%20%3C%200%29%29%3A%20%20%20%20%0A%20%20print%28'ERROR%3A%20Nota%20invalida'%29%0Aelse%3A%0A%20%20if%20%28nota_num%20%3E%3D%2090%29%3A%0A%20%20%20%20%20nota_letra%20%3D%20'A'%0A%20%20if%20%28%28nota_num%20%3C%2090%29%20and%20%28nota_num%20%3E%3D%2080%29%29%3A%0A%20%20%20%20%20nota_letra%20%3D%20'B'%0A%20%20if%20%28%28nota_num%20%3C%2080%29%20and%20%28nota_num%20%3E%3D%2070%29%29%3A%0A%20%20%20%20%20nota_letra%20%3D%20'C'%0A%20%20if%20%28%28nota_num%20%3C%2070%29%20and%20%28nota_num%20%3E%3D%2060%29%29%3A%0A%20%20%20%20%20nota_letra%20%3D%20'D'%0A%20%20if%20%28nota_num%20%3C%2060%29%3A%0A%20%20%20%20%20nota_letra%20%3D%20'E'%20%20%20%20%20%0A%20%20print%28f'%7Bnota_num%7D%3A%20%7Bnota_letra%7D'%29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pythontutor.com/visualize.html#code=nota_num%20%3D%20int%28input%28%22Digite%20la%20nota%20%5B0,100%5D%3A%20%22%29%29%0Aif%20%28%28nota_num%20%3E%20100%29%20or%20%28nota_num%20%3C%200%29%29%3A%20%20%20%20%0A%20%20print%28'ERROR%3A%20Nota%20invalida'%29%0Aelse%3A%0A%20%20if%20%28nota_num%20%3E%3D%2090%29%3A%0A%20%20%20%20%20nota_letra%20%3D%20'A'%0A%20%20if%20%2880%20%3C%3D%20nota_num%20%3C%2090%29%3A%0A%20%20%20%20%20nota_letra%20%3D%20'B'%0A%20%20if%20%2870%20%3C%3D%20nota_num%20%3C%2080%29%3A%0A%20%20%20%20%20nota_letra%20%3D%20'C'%0A%20%20if%20%2860%20%3C%3D%20nota_num%20%3C%2070%29%3A%0A%20%20%20%20%20nota_letra%20%3D%20'D'%0A%20%20if%20%28nota_num%20%3C%2060%29%3A%0A%20%20%20%20%20nota_letra%20%3D%20'E'%20%20%20%20%20%0A%20%20print%28f'%7Bnota_num%7D%3A%20%7Bnota_letra%7D'%29%0A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HORAS_NORMALES%20%3D%2035%0ATARIFA_EXTRA%20%3D%201.5%0Aimpuesto%20%3D%200%0A%0Anom%20%3D%20input%28%22Digite%20el%20nombre%20del%20trabajador%3A%20%22%29%0Ahr_trabajadas%20%3D%20float%28input%28%22Digite%20las%20horas%20trabajadas%3A%20%22%29%29%0Ahr_precio%20%3D%20float%28input%28%22Digite%20la%20tarifa%20por%20hora%3A%20%22%29%29%0A%0Aif%20%28hr_trabajadas%20%3C%3D%20HORAS_NORMALES%29%3A%0A%20%20%20%20sal_base%20%3D%20hr_trabajadas*hr_precio%0Aelse%3A%0A%20%20%20%20hr_extra%20%3D%20hr_trabajadas%20-%20HORAS_NORMALES%0A%20%20%20%20sal_base%20%3D%20HORAS_NORMALES*hr_precio%20%2B%20%5C%0A%20%20%20%20%20%20%20%20%20%20%20%20%20%20%20TARIFA_EXTRA*hr_precio*hr_extra%0A%0Aif%20%28sal_base%20%3E%3D%20300000%29%3A%0A%20%20%20%20if%20%28sal_base%20%3C%3D%20450000%29%3A%0A%20%20%20%20%20%20%20%20impuesto%20%3D%200.2%20*%20%28sal_base%20-%20300000%29%0A%20%20%20%20else%3A%0A%20%20%20%20%20%20%20%20impuesto%20%3D%200.2*150000%20%2B%200.3*%28sal_base%20-%20450000%29%0A%0Asal_neto%20%3D%20sal_base%20-%20impuesto%0A%0Aprint%28f'%7Bnom%7D,%20salario%20base%3A%20%7Bsal_base%7D,%20%5C%0A%20%20%20%20%20%20impuesto%3A%20%7Bimpuesto%7D,%20salario%20neto%3A%20%7Bsal_neto%7D'%29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python-conditional-statements/" TargetMode="External"/><Relationship Id="rId3" Type="http://schemas.openxmlformats.org/officeDocument/2006/relationships/hyperlink" Target="https://www.w3resource.com/index.php" TargetMode="External"/><Relationship Id="rId7" Type="http://schemas.openxmlformats.org/officeDocument/2006/relationships/hyperlink" Target="https://realpython.com/cheatsheets/python/" TargetMode="External"/><Relationship Id="rId2" Type="http://schemas.openxmlformats.org/officeDocument/2006/relationships/hyperlink" Target="https://ellibrodepytho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-course.eu/" TargetMode="External"/><Relationship Id="rId11" Type="http://schemas.openxmlformats.org/officeDocument/2006/relationships/hyperlink" Target="https://makecode.microbit.org/courses" TargetMode="External"/><Relationship Id="rId5" Type="http://schemas.openxmlformats.org/officeDocument/2006/relationships/hyperlink" Target="https://curriculumresources.edu.gh/wp-content/uploads/2025/01/" TargetMode="External"/><Relationship Id="rId10" Type="http://schemas.openxmlformats.org/officeDocument/2006/relationships/hyperlink" Target="https://makecode.microbit.org/courses/csintro" TargetMode="External"/><Relationship Id="rId4" Type="http://schemas.openxmlformats.org/officeDocument/2006/relationships/hyperlink" Target="https://realpython.com/" TargetMode="External"/><Relationship Id="rId9" Type="http://schemas.openxmlformats.org/officeDocument/2006/relationships/hyperlink" Target="https://realpython.com/ref/best-practices/conditionals/" TargetMode="Externa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09BB-6F92-48BA-A875-99E15D225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1122363"/>
            <a:ext cx="8568952" cy="2387600"/>
          </a:xfrm>
        </p:spPr>
        <p:txBody>
          <a:bodyPr/>
          <a:lstStyle/>
          <a:p>
            <a:r>
              <a:rPr lang="es-CO" dirty="0"/>
              <a:t>Lógica y Representación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9999BC-7CCA-4677-B2C4-E913A7AA1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sz="3200" b="1" dirty="0"/>
              <a:t>Condicionales múltiples</a:t>
            </a:r>
          </a:p>
          <a:p>
            <a:r>
              <a:rPr lang="es-CO" dirty="0"/>
              <a:t>Ingeniería de Sistemas</a:t>
            </a:r>
          </a:p>
          <a:p>
            <a:r>
              <a:rPr lang="es-CO" dirty="0"/>
              <a:t>Universidad de Antioquia</a:t>
            </a:r>
          </a:p>
        </p:txBody>
      </p:sp>
    </p:spTree>
    <p:extLst>
      <p:ext uri="{BB962C8B-B14F-4D97-AF65-F5344CB8AC3E}">
        <p14:creationId xmlns:p14="http://schemas.microsoft.com/office/powerpoint/2010/main" val="7740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63830" cy="845334"/>
          </a:xfrm>
        </p:spPr>
        <p:txBody>
          <a:bodyPr>
            <a:normAutofit/>
          </a:bodyPr>
          <a:lstStyle/>
          <a:p>
            <a:r>
              <a:rPr lang="es-CO" sz="4000" dirty="0"/>
              <a:t>Método de Polya - Resumen</a:t>
            </a:r>
            <a:endParaRPr lang="en-US" sz="4000" dirty="0"/>
          </a:p>
        </p:txBody>
      </p:sp>
      <p:graphicFrame>
        <p:nvGraphicFramePr>
          <p:cNvPr id="6" name="13 Diagrama">
            <a:extLst>
              <a:ext uri="{FF2B5EF4-FFF2-40B4-BE49-F238E27FC236}">
                <a16:creationId xmlns:a16="http://schemas.microsoft.com/office/drawing/2014/main" id="{D0B70736-976D-4675-A33E-9F94643ADC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553215"/>
              </p:ext>
            </p:extLst>
          </p:nvPr>
        </p:nvGraphicFramePr>
        <p:xfrm>
          <a:off x="3059832" y="4221088"/>
          <a:ext cx="5616624" cy="2363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3">
            <a:extLst>
              <a:ext uri="{FF2B5EF4-FFF2-40B4-BE49-F238E27FC236}">
                <a16:creationId xmlns:a16="http://schemas.microsoft.com/office/drawing/2014/main" id="{9C9BD4AC-3A6A-4FE1-A719-F0D83295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04101"/>
            <a:ext cx="2200014" cy="197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6732E42-F6E4-4E10-A20E-82A4BE9E8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16" y="1223168"/>
            <a:ext cx="3214687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5899AD60-028E-47EE-844F-916EBA585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11" y="1248925"/>
            <a:ext cx="2857500" cy="236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17 Flecha abajo">
            <a:extLst>
              <a:ext uri="{FF2B5EF4-FFF2-40B4-BE49-F238E27FC236}">
                <a16:creationId xmlns:a16="http://schemas.microsoft.com/office/drawing/2014/main" id="{656E38FA-A37E-460A-AF17-E0C304C611BF}"/>
              </a:ext>
            </a:extLst>
          </p:cNvPr>
          <p:cNvSpPr/>
          <p:nvPr/>
        </p:nvSpPr>
        <p:spPr>
          <a:xfrm rot="16200000">
            <a:off x="4400922" y="1973262"/>
            <a:ext cx="322262" cy="965200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11" name="18 CuadroTexto">
            <a:extLst>
              <a:ext uri="{FF2B5EF4-FFF2-40B4-BE49-F238E27FC236}">
                <a16:creationId xmlns:a16="http://schemas.microsoft.com/office/drawing/2014/main" id="{B82BDCE9-7A82-42E8-98CF-353D30A777C0}"/>
              </a:ext>
            </a:extLst>
          </p:cNvPr>
          <p:cNvSpPr txBox="1"/>
          <p:nvPr/>
        </p:nvSpPr>
        <p:spPr>
          <a:xfrm>
            <a:off x="611560" y="3789040"/>
            <a:ext cx="3214688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PROBLEMA</a:t>
            </a:r>
            <a:endParaRPr lang="es-ES" sz="2000" dirty="0"/>
          </a:p>
        </p:txBody>
      </p:sp>
      <p:sp>
        <p:nvSpPr>
          <p:cNvPr id="12" name="19 CuadroTexto">
            <a:extLst>
              <a:ext uri="{FF2B5EF4-FFF2-40B4-BE49-F238E27FC236}">
                <a16:creationId xmlns:a16="http://schemas.microsoft.com/office/drawing/2014/main" id="{BFFC459E-C4D6-4371-ADA9-FB0FF4281118}"/>
              </a:ext>
            </a:extLst>
          </p:cNvPr>
          <p:cNvSpPr txBox="1"/>
          <p:nvPr/>
        </p:nvSpPr>
        <p:spPr>
          <a:xfrm>
            <a:off x="5148064" y="3752849"/>
            <a:ext cx="3214687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ALGORITMO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840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/>
          <a:lstStyle/>
          <a:p>
            <a:r>
              <a:rPr lang="es-CO" sz="3200" dirty="0"/>
              <a:t>Entrada, procesamiento y salida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35471" y="1238602"/>
            <a:ext cx="7886700" cy="1729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Los programas de computadora realizan estos tres pasos: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recibe la </a:t>
            </a:r>
            <a:r>
              <a:rPr lang="es-MX" sz="2000" b="1" dirty="0"/>
              <a:t>entrada</a:t>
            </a:r>
            <a:r>
              <a:rPr lang="es-MX" sz="2000" dirty="0"/>
              <a:t>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realiza un </a:t>
            </a:r>
            <a:r>
              <a:rPr lang="es-MX" sz="2000" b="1" dirty="0"/>
              <a:t>proceso</a:t>
            </a:r>
            <a:r>
              <a:rPr lang="es-MX" sz="2000" dirty="0"/>
              <a:t> sobre la entrada.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genera la </a:t>
            </a:r>
            <a:r>
              <a:rPr lang="es-MX" sz="2000" b="1" dirty="0"/>
              <a:t>salida</a:t>
            </a:r>
            <a:endParaRPr lang="es-CO" sz="2000" b="1" dirty="0"/>
          </a:p>
        </p:txBody>
      </p:sp>
      <p:grpSp>
        <p:nvGrpSpPr>
          <p:cNvPr id="15" name="14 Grupo"/>
          <p:cNvGrpSpPr/>
          <p:nvPr/>
        </p:nvGrpSpPr>
        <p:grpSpPr>
          <a:xfrm>
            <a:off x="1589010" y="4102449"/>
            <a:ext cx="5715000" cy="838200"/>
            <a:chOff x="1676400" y="4495800"/>
            <a:chExt cx="5715000" cy="838200"/>
          </a:xfrm>
        </p:grpSpPr>
        <p:sp>
          <p:nvSpPr>
            <p:cNvPr id="10" name="9 Rectángulo"/>
            <p:cNvSpPr/>
            <p:nvPr/>
          </p:nvSpPr>
          <p:spPr>
            <a:xfrm>
              <a:off x="16764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Inputs</a:t>
              </a:r>
              <a:endParaRPr lang="es-CO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10 Rectángulo"/>
            <p:cNvSpPr/>
            <p:nvPr/>
          </p:nvSpPr>
          <p:spPr>
            <a:xfrm>
              <a:off x="3810000" y="4495800"/>
              <a:ext cx="1447800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latin typeface="Consolas" panose="020B0609020204030204" pitchFamily="49" charset="0"/>
                </a:rPr>
                <a:t>Process</a:t>
              </a:r>
              <a:endParaRPr lang="es-CO" b="1" dirty="0">
                <a:latin typeface="Consolas" panose="020B0609020204030204" pitchFamily="49" charset="0"/>
              </a:endParaRP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59436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Outputs</a:t>
              </a:r>
              <a:endParaRPr lang="es-CO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12 Flecha derecha"/>
            <p:cNvSpPr/>
            <p:nvPr/>
          </p:nvSpPr>
          <p:spPr>
            <a:xfrm>
              <a:off x="31242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13 Flecha derecha"/>
            <p:cNvSpPr/>
            <p:nvPr/>
          </p:nvSpPr>
          <p:spPr>
            <a:xfrm>
              <a:off x="52578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6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CA5F3EB8-A827-4D08-B3D4-BC8885661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116" y="3256265"/>
            <a:ext cx="1365108" cy="43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BB2AD59A-355A-4EC4-BD61-76D458710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82" y="3198200"/>
            <a:ext cx="841456" cy="69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AC519BCB-3AA9-4258-9707-83D241823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43" y="5159353"/>
            <a:ext cx="1007836" cy="100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5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5536" y="116632"/>
            <a:ext cx="8119814" cy="831626"/>
          </a:xfrm>
        </p:spPr>
        <p:txBody>
          <a:bodyPr>
            <a:normAutofit/>
          </a:bodyPr>
          <a:lstStyle/>
          <a:p>
            <a:r>
              <a:rPr lang="es-CO" sz="4000" dirty="0"/>
              <a:t>Tabla resumen</a:t>
            </a:r>
            <a:endParaRPr lang="en-US" sz="40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1C890BBD-1444-4CB9-97D4-FDDC5F53D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16" y="980728"/>
            <a:ext cx="7993607" cy="663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/>
              <a:t>La siguiente tabla muestra la representación equivalente de las piezas esenciales para construir código secuencial</a:t>
            </a:r>
            <a:endParaRPr lang="es-CO" sz="2000" dirty="0"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1D2B5E36-52C4-42F4-8540-7CBD071455A5}"/>
              </a:ext>
            </a:extLst>
          </p:cNvPr>
          <p:cNvGraphicFramePr>
            <a:graphicFrameLocks noGrp="1"/>
          </p:cNvGraphicFramePr>
          <p:nvPr/>
        </p:nvGraphicFramePr>
        <p:xfrm>
          <a:off x="466826" y="1700808"/>
          <a:ext cx="7993606" cy="4211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7343">
                  <a:extLst>
                    <a:ext uri="{9D8B030D-6E8A-4147-A177-3AD203B41FA5}">
                      <a16:colId xmlns:a16="http://schemas.microsoft.com/office/drawing/2014/main" val="4002968547"/>
                    </a:ext>
                  </a:extLst>
                </a:gridCol>
                <a:gridCol w="2352911">
                  <a:extLst>
                    <a:ext uri="{9D8B030D-6E8A-4147-A177-3AD203B41FA5}">
                      <a16:colId xmlns:a16="http://schemas.microsoft.com/office/drawing/2014/main" val="2376140116"/>
                    </a:ext>
                  </a:extLst>
                </a:gridCol>
                <a:gridCol w="2061676">
                  <a:extLst>
                    <a:ext uri="{9D8B030D-6E8A-4147-A177-3AD203B41FA5}">
                      <a16:colId xmlns:a16="http://schemas.microsoft.com/office/drawing/2014/main" val="1317388859"/>
                    </a:ext>
                  </a:extLst>
                </a:gridCol>
                <a:gridCol w="2061676">
                  <a:extLst>
                    <a:ext uri="{9D8B030D-6E8A-4147-A177-3AD203B41FA5}">
                      <a16:colId xmlns:a16="http://schemas.microsoft.com/office/drawing/2014/main" val="1620986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Diagrama de bloques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Pseudocordigo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="1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66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Entrada</a:t>
                      </a:r>
                    </a:p>
                    <a:p>
                      <a:pPr algn="ctr"/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Leer(v1,v2,…)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v1 = input(...)</a:t>
                      </a:r>
                    </a:p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v2 = input(...)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27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Escribir(v1,v2,…)</a:t>
                      </a:r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print(v1,v2,…)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6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Proceso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c = a + b</a:t>
                      </a:r>
                      <a:endParaRPr lang="es-CO" sz="1400" dirty="0"/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c = a +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907500"/>
                  </a:ext>
                </a:extLst>
              </a:tr>
            </a:tbl>
          </a:graphicData>
        </a:graphic>
      </p:graphicFrame>
      <p:sp>
        <p:nvSpPr>
          <p:cNvPr id="10" name="Flowchart: Data 6">
            <a:extLst>
              <a:ext uri="{FF2B5EF4-FFF2-40B4-BE49-F238E27FC236}">
                <a16:creationId xmlns:a16="http://schemas.microsoft.com/office/drawing/2014/main" id="{0844C778-9DE1-449B-B09C-237271C11B8A}"/>
              </a:ext>
            </a:extLst>
          </p:cNvPr>
          <p:cNvSpPr/>
          <p:nvPr/>
        </p:nvSpPr>
        <p:spPr>
          <a:xfrm>
            <a:off x="2051722" y="2285936"/>
            <a:ext cx="2231500" cy="715198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Read v1,v2,…</a:t>
            </a:r>
          </a:p>
        </p:txBody>
      </p:sp>
      <p:sp>
        <p:nvSpPr>
          <p:cNvPr id="11" name="Flowchart: Data 6">
            <a:extLst>
              <a:ext uri="{FF2B5EF4-FFF2-40B4-BE49-F238E27FC236}">
                <a16:creationId xmlns:a16="http://schemas.microsoft.com/office/drawing/2014/main" id="{9C39F37A-2A39-47E1-86A7-FAE0C0329172}"/>
              </a:ext>
            </a:extLst>
          </p:cNvPr>
          <p:cNvSpPr/>
          <p:nvPr/>
        </p:nvSpPr>
        <p:spPr>
          <a:xfrm>
            <a:off x="2051722" y="3654088"/>
            <a:ext cx="2214917" cy="715198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Print v1,v2,…</a:t>
            </a:r>
          </a:p>
        </p:txBody>
      </p:sp>
      <p:sp>
        <p:nvSpPr>
          <p:cNvPr id="12" name="Flowchart: Process 7">
            <a:extLst>
              <a:ext uri="{FF2B5EF4-FFF2-40B4-BE49-F238E27FC236}">
                <a16:creationId xmlns:a16="http://schemas.microsoft.com/office/drawing/2014/main" id="{6B08FC8C-52EF-4BF1-96B3-3C24D434D6C2}"/>
              </a:ext>
            </a:extLst>
          </p:cNvPr>
          <p:cNvSpPr/>
          <p:nvPr/>
        </p:nvSpPr>
        <p:spPr>
          <a:xfrm>
            <a:off x="2461374" y="5019720"/>
            <a:ext cx="1395611" cy="609600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c </a:t>
            </a:r>
            <a:r>
              <a:rPr lang="en-US" sz="1200" dirty="0">
                <a:latin typeface="Consolas" panose="020B0609020204030204" pitchFamily="49" charset="0"/>
                <a:sym typeface="Wingdings" panose="05000000000000000000" pitchFamily="2" charset="2"/>
              </a:rPr>
              <a:t> a + b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8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D62F66DF-1E4D-4961-A500-E613E8978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10" y="2565896"/>
            <a:ext cx="1108159" cy="35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1D582CE4-942A-4E2B-8410-CB4053B31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65" y="3741286"/>
            <a:ext cx="716248" cy="58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53F8DCC6-0D98-4EEC-91B9-C840D7489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65" y="5038329"/>
            <a:ext cx="728448" cy="72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Marcador de contenido 8">
            <a:extLst>
              <a:ext uri="{FF2B5EF4-FFF2-40B4-BE49-F238E27FC236}">
                <a16:creationId xmlns:a16="http://schemas.microsoft.com/office/drawing/2014/main" id="{A781356A-A35A-48D6-BC89-058C09E8F029}"/>
              </a:ext>
            </a:extLst>
          </p:cNvPr>
          <p:cNvSpPr txBox="1">
            <a:spLocks/>
          </p:cNvSpPr>
          <p:nvPr/>
        </p:nvSpPr>
        <p:spPr>
          <a:xfrm>
            <a:off x="394817" y="6072698"/>
            <a:ext cx="8281640" cy="59666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600" dirty="0"/>
              <a:t>En Python, 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input()</a:t>
            </a:r>
            <a:r>
              <a:rPr lang="es-MX" sz="1600" dirty="0"/>
              <a:t> siempre devuelve texto (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str</a:t>
            </a:r>
            <a:r>
              <a:rPr lang="es-MX" sz="1600" dirty="0"/>
              <a:t>); si el valor se va a usar en una operación numérica, debe convertirse con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s-MX" sz="1600" dirty="0"/>
              <a:t> o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s-MX" sz="1600" dirty="0"/>
              <a:t> (por ejemplo: 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v1 =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(input(...))</a:t>
            </a:r>
            <a:r>
              <a:rPr lang="es-MX" sz="1600" dirty="0"/>
              <a:t>).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444131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5536" y="116632"/>
            <a:ext cx="8119814" cy="831626"/>
          </a:xfrm>
        </p:spPr>
        <p:txBody>
          <a:bodyPr>
            <a:normAutofit/>
          </a:bodyPr>
          <a:lstStyle/>
          <a:p>
            <a:r>
              <a:rPr lang="es-CO" sz="4000" dirty="0"/>
              <a:t>Tabla resumen</a:t>
            </a:r>
            <a:endParaRPr lang="en-US" sz="40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1C890BBD-1444-4CB9-97D4-FDDC5F53D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17" y="908719"/>
            <a:ext cx="8569672" cy="6443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/>
              <a:t>La siguiente tabla, agrega la nueva el nuevo bloque que permite implementar toma de decisiones en los programas.</a:t>
            </a:r>
            <a:endParaRPr lang="es-CO" sz="2000" dirty="0"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1D2B5E36-52C4-42F4-8540-7CBD07145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735739"/>
              </p:ext>
            </p:extLst>
          </p:nvPr>
        </p:nvGraphicFramePr>
        <p:xfrm>
          <a:off x="394816" y="1653416"/>
          <a:ext cx="8065615" cy="155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2305">
                  <a:extLst>
                    <a:ext uri="{9D8B030D-6E8A-4147-A177-3AD203B41FA5}">
                      <a16:colId xmlns:a16="http://schemas.microsoft.com/office/drawing/2014/main" val="2376140116"/>
                    </a:ext>
                  </a:extLst>
                </a:gridCol>
                <a:gridCol w="2615640">
                  <a:extLst>
                    <a:ext uri="{9D8B030D-6E8A-4147-A177-3AD203B41FA5}">
                      <a16:colId xmlns:a16="http://schemas.microsoft.com/office/drawing/2014/main" val="1317388859"/>
                    </a:ext>
                  </a:extLst>
                </a:gridCol>
                <a:gridCol w="2397670">
                  <a:extLst>
                    <a:ext uri="{9D8B030D-6E8A-4147-A177-3AD203B41FA5}">
                      <a16:colId xmlns:a16="http://schemas.microsoft.com/office/drawing/2014/main" val="1620986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Diagrama de bloques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Pseudocordigo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="1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66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Si (</a:t>
                      </a:r>
                      <a:r>
                        <a:rPr lang="es-ES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condicion</a:t>
                      </a:r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 Entonces</a:t>
                      </a:r>
                    </a:p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instrucciones verdad</a:t>
                      </a:r>
                    </a:p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Sino</a:t>
                      </a:r>
                    </a:p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instrucciones falsa</a:t>
                      </a:r>
                    </a:p>
                    <a:p>
                      <a:pPr indent="-57150"/>
                      <a:r>
                        <a:rPr lang="es-ES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Fin_Si</a:t>
                      </a:r>
                      <a:endParaRPr lang="es-CO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-57150"/>
                      <a:r>
                        <a:rPr lang="es-ES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s-ES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condicion</a:t>
                      </a:r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):</a:t>
                      </a:r>
                    </a:p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instrucciones verdad</a:t>
                      </a:r>
                    </a:p>
                    <a:p>
                      <a:pPr indent="-57150"/>
                      <a:r>
                        <a:rPr lang="es-ES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:</a:t>
                      </a:r>
                    </a:p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instrucciones 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27413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D9378DB-47BD-4E38-B9E2-60CC14868C14}"/>
              </a:ext>
            </a:extLst>
          </p:cNvPr>
          <p:cNvGrpSpPr/>
          <p:nvPr/>
        </p:nvGrpSpPr>
        <p:grpSpPr>
          <a:xfrm>
            <a:off x="467544" y="2111326"/>
            <a:ext cx="2876849" cy="957634"/>
            <a:chOff x="802903" y="2612529"/>
            <a:chExt cx="2876849" cy="957634"/>
          </a:xfrm>
        </p:grpSpPr>
        <p:sp>
          <p:nvSpPr>
            <p:cNvPr id="17" name="TextBox 75">
              <a:extLst>
                <a:ext uri="{FF2B5EF4-FFF2-40B4-BE49-F238E27FC236}">
                  <a16:creationId xmlns:a16="http://schemas.microsoft.com/office/drawing/2014/main" id="{3E386359-4887-48E6-A90C-AB0498055EA7}"/>
                </a:ext>
              </a:extLst>
            </p:cNvPr>
            <p:cNvSpPr txBox="1"/>
            <p:nvPr/>
          </p:nvSpPr>
          <p:spPr>
            <a:xfrm>
              <a:off x="3237955" y="2924944"/>
              <a:ext cx="4275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onsolas" panose="020B0609020204030204" pitchFamily="49" charset="0"/>
                </a:rPr>
                <a:t>yes</a:t>
              </a:r>
            </a:p>
          </p:txBody>
        </p:sp>
        <p:sp>
          <p:nvSpPr>
            <p:cNvPr id="18" name="TextBox 76">
              <a:extLst>
                <a:ext uri="{FF2B5EF4-FFF2-40B4-BE49-F238E27FC236}">
                  <a16:creationId xmlns:a16="http://schemas.microsoft.com/office/drawing/2014/main" id="{6CB5130F-2760-4686-95D3-9F6E662E0BDD}"/>
                </a:ext>
              </a:extLst>
            </p:cNvPr>
            <p:cNvSpPr txBox="1"/>
            <p:nvPr/>
          </p:nvSpPr>
          <p:spPr>
            <a:xfrm>
              <a:off x="918640" y="2924944"/>
              <a:ext cx="3745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onsolas" panose="020B0609020204030204" pitchFamily="49" charset="0"/>
                </a:rPr>
                <a:t>no</a:t>
              </a:r>
            </a:p>
          </p:txBody>
        </p:sp>
        <p:sp>
          <p:nvSpPr>
            <p:cNvPr id="19" name="Flowchart: Decision 5">
              <a:extLst>
                <a:ext uri="{FF2B5EF4-FFF2-40B4-BE49-F238E27FC236}">
                  <a16:creationId xmlns:a16="http://schemas.microsoft.com/office/drawing/2014/main" id="{8130C2A4-8430-4415-AAF6-7D501E4C8CDD}"/>
                </a:ext>
              </a:extLst>
            </p:cNvPr>
            <p:cNvSpPr/>
            <p:nvPr/>
          </p:nvSpPr>
          <p:spPr>
            <a:xfrm>
              <a:off x="1315133" y="2977639"/>
              <a:ext cx="1852352" cy="457200"/>
            </a:xfrm>
            <a:prstGeom prst="flowChartDecis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Decision</a:t>
              </a:r>
            </a:p>
          </p:txBody>
        </p:sp>
        <p:grpSp>
          <p:nvGrpSpPr>
            <p:cNvPr id="20" name="40 Grupo">
              <a:extLst>
                <a:ext uri="{FF2B5EF4-FFF2-40B4-BE49-F238E27FC236}">
                  <a16:creationId xmlns:a16="http://schemas.microsoft.com/office/drawing/2014/main" id="{0AE61B74-EF32-4C9E-89B5-46136054B4E0}"/>
                </a:ext>
              </a:extLst>
            </p:cNvPr>
            <p:cNvGrpSpPr/>
            <p:nvPr/>
          </p:nvGrpSpPr>
          <p:grpSpPr>
            <a:xfrm>
              <a:off x="802903" y="3202855"/>
              <a:ext cx="528637" cy="367308"/>
              <a:chOff x="4631531" y="4280892"/>
              <a:chExt cx="528637" cy="367308"/>
            </a:xfrm>
          </p:grpSpPr>
          <p:cxnSp>
            <p:nvCxnSpPr>
              <p:cNvPr id="25" name="Straight Arrow Connector 18">
                <a:extLst>
                  <a:ext uri="{FF2B5EF4-FFF2-40B4-BE49-F238E27FC236}">
                    <a16:creationId xmlns:a16="http://schemas.microsoft.com/office/drawing/2014/main" id="{1595D196-89B8-4FA2-AA80-D2026FBBACD8}"/>
                  </a:ext>
                </a:extLst>
              </p:cNvPr>
              <p:cNvCxnSpPr/>
              <p:nvPr/>
            </p:nvCxnSpPr>
            <p:spPr>
              <a:xfrm>
                <a:off x="4633913" y="4281488"/>
                <a:ext cx="4763" cy="366712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18">
                <a:extLst>
                  <a:ext uri="{FF2B5EF4-FFF2-40B4-BE49-F238E27FC236}">
                    <a16:creationId xmlns:a16="http://schemas.microsoft.com/office/drawing/2014/main" id="{AE31C54A-1503-407A-A3C8-0DF172701F4F}"/>
                  </a:ext>
                </a:extLst>
              </p:cNvPr>
              <p:cNvCxnSpPr/>
              <p:nvPr/>
            </p:nvCxnSpPr>
            <p:spPr>
              <a:xfrm flipH="1">
                <a:off x="4631531" y="4280892"/>
                <a:ext cx="528637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65 Grupo">
              <a:extLst>
                <a:ext uri="{FF2B5EF4-FFF2-40B4-BE49-F238E27FC236}">
                  <a16:creationId xmlns:a16="http://schemas.microsoft.com/office/drawing/2014/main" id="{C6B718B9-220F-439A-AC3D-01EC85F6E93B}"/>
                </a:ext>
              </a:extLst>
            </p:cNvPr>
            <p:cNvGrpSpPr/>
            <p:nvPr/>
          </p:nvGrpSpPr>
          <p:grpSpPr>
            <a:xfrm flipH="1">
              <a:off x="3146352" y="3203451"/>
              <a:ext cx="533400" cy="366712"/>
              <a:chOff x="4959846" y="4281488"/>
              <a:chExt cx="533400" cy="366712"/>
            </a:xfrm>
          </p:grpSpPr>
          <p:cxnSp>
            <p:nvCxnSpPr>
              <p:cNvPr id="23" name="Straight Arrow Connector 18">
                <a:extLst>
                  <a:ext uri="{FF2B5EF4-FFF2-40B4-BE49-F238E27FC236}">
                    <a16:creationId xmlns:a16="http://schemas.microsoft.com/office/drawing/2014/main" id="{484928C3-EB88-44C2-8AA5-9E1A9218AF85}"/>
                  </a:ext>
                </a:extLst>
              </p:cNvPr>
              <p:cNvCxnSpPr/>
              <p:nvPr/>
            </p:nvCxnSpPr>
            <p:spPr>
              <a:xfrm>
                <a:off x="4959846" y="4281488"/>
                <a:ext cx="4763" cy="366712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18">
                <a:extLst>
                  <a:ext uri="{FF2B5EF4-FFF2-40B4-BE49-F238E27FC236}">
                    <a16:creationId xmlns:a16="http://schemas.microsoft.com/office/drawing/2014/main" id="{1C4ED988-ED91-4723-9518-4FD7B1995577}"/>
                  </a:ext>
                </a:extLst>
              </p:cNvPr>
              <p:cNvCxnSpPr/>
              <p:nvPr/>
            </p:nvCxnSpPr>
            <p:spPr>
              <a:xfrm flipH="1">
                <a:off x="4964609" y="4281488"/>
                <a:ext cx="528637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18">
              <a:extLst>
                <a:ext uri="{FF2B5EF4-FFF2-40B4-BE49-F238E27FC236}">
                  <a16:creationId xmlns:a16="http://schemas.microsoft.com/office/drawing/2014/main" id="{E38D67C6-99FA-4E32-B5E5-CC717213D7C0}"/>
                </a:ext>
              </a:extLst>
            </p:cNvPr>
            <p:cNvCxnSpPr/>
            <p:nvPr/>
          </p:nvCxnSpPr>
          <p:spPr>
            <a:xfrm flipH="1">
              <a:off x="2241773" y="2612529"/>
              <a:ext cx="4763" cy="36671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n 26">
            <a:extLst>
              <a:ext uri="{FF2B5EF4-FFF2-40B4-BE49-F238E27FC236}">
                <a16:creationId xmlns:a16="http://schemas.microsoft.com/office/drawing/2014/main" id="{3C0BA5DF-4993-4B02-A595-095E15B1A2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16" y="4281506"/>
            <a:ext cx="1562788" cy="1448637"/>
          </a:xfrm>
          <a:prstGeom prst="rect">
            <a:avLst/>
          </a:prstGeom>
        </p:spPr>
      </p:pic>
      <p:pic>
        <p:nvPicPr>
          <p:cNvPr id="1026" name="Picture 2" descr="If-Then workflow">
            <a:extLst>
              <a:ext uri="{FF2B5EF4-FFF2-40B4-BE49-F238E27FC236}">
                <a16:creationId xmlns:a16="http://schemas.microsoft.com/office/drawing/2014/main" id="{2C25287B-29BF-47A8-8786-9EAF620BA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406282"/>
            <a:ext cx="3286795" cy="2834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74D470D-37F8-4F20-A4E4-829A08FE1FD5}"/>
              </a:ext>
            </a:extLst>
          </p:cNvPr>
          <p:cNvSpPr txBox="1"/>
          <p:nvPr/>
        </p:nvSpPr>
        <p:spPr>
          <a:xfrm>
            <a:off x="4211960" y="6309320"/>
            <a:ext cx="2927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Imagen tomada de </a:t>
            </a:r>
            <a:r>
              <a:rPr lang="es-CO" sz="1600" b="1" dirty="0"/>
              <a:t>CS Intro</a:t>
            </a:r>
            <a:r>
              <a:rPr lang="es-CO" sz="1600" dirty="0"/>
              <a:t> (</a:t>
            </a:r>
            <a:r>
              <a:rPr lang="es-CO" sz="1600" dirty="0">
                <a:hlinkClick r:id="rId4"/>
              </a:rPr>
              <a:t>link</a:t>
            </a:r>
            <a:r>
              <a:rPr lang="es-CO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396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81484" y="252929"/>
            <a:ext cx="8576766" cy="1267245"/>
          </a:xfrm>
        </p:spPr>
        <p:txBody>
          <a:bodyPr>
            <a:normAutofit/>
          </a:bodyPr>
          <a:lstStyle/>
          <a:p>
            <a:r>
              <a:rPr lang="es-CO" sz="3600" dirty="0"/>
              <a:t>Casos en los problemas de decisión lógica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3190068776"/>
              </p:ext>
            </p:extLst>
          </p:nvPr>
        </p:nvGraphicFramePr>
        <p:xfrm>
          <a:off x="273844" y="223555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3632994"/>
            <a:ext cx="2143125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81" y="1949619"/>
            <a:ext cx="2003811" cy="1362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4839802"/>
            <a:ext cx="2321183" cy="1765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56CB6FA-B43E-40A5-ADB1-20CD5CDF8D2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46" y="2066027"/>
            <a:ext cx="1470374" cy="136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7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89427" y="292891"/>
            <a:ext cx="8229600" cy="688648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simple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89427" y="977073"/>
            <a:ext cx="851706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altLang="es-CO" sz="2200" dirty="0"/>
              <a:t>En los problemas de este tipo la condición </a:t>
            </a:r>
            <a:r>
              <a:rPr lang="es-CO" altLang="es-CO" sz="2200" b="1" dirty="0">
                <a:solidFill>
                  <a:srgbClr val="C00000"/>
                </a:solidFill>
              </a:rPr>
              <a:t>falsa</a:t>
            </a:r>
            <a:r>
              <a:rPr lang="es-CO" altLang="es-CO" sz="2200" dirty="0"/>
              <a:t> no posee instrucciones.</a:t>
            </a:r>
            <a:endParaRPr lang="es-CO" sz="2200" dirty="0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7" y="2243380"/>
            <a:ext cx="4814125" cy="327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8" descr="http://t0.gstatic.com/images?q=tbn:ANd9GcQBQUfA-17F7VG9bKeqzV6MF0-Z-9iE_3GOSyV1UJYC9LTt32B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014271"/>
            <a:ext cx="862480" cy="110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C32FD90-4058-401D-982D-5EBFA6936A2A}"/>
              </a:ext>
            </a:extLst>
          </p:cNvPr>
          <p:cNvSpPr txBox="1"/>
          <p:nvPr/>
        </p:nvSpPr>
        <p:spPr>
          <a:xfrm>
            <a:off x="4861248" y="2341048"/>
            <a:ext cx="4102701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87FB65-D4A5-4A74-BDD3-51E4F16B1B28}"/>
              </a:ext>
            </a:extLst>
          </p:cNvPr>
          <p:cNvSpPr txBox="1"/>
          <p:nvPr/>
        </p:nvSpPr>
        <p:spPr>
          <a:xfrm>
            <a:off x="5626858" y="1843270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0E4D25-B8E6-4A9C-9AB4-C0347C3716F8}"/>
              </a:ext>
            </a:extLst>
          </p:cNvPr>
          <p:cNvSpPr txBox="1"/>
          <p:nvPr/>
        </p:nvSpPr>
        <p:spPr>
          <a:xfrm>
            <a:off x="5661758" y="371703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73E636D-5469-4C08-BBB0-8DB2503F2CAF}"/>
              </a:ext>
            </a:extLst>
          </p:cNvPr>
          <p:cNvSpPr txBox="1"/>
          <p:nvPr/>
        </p:nvSpPr>
        <p:spPr>
          <a:xfrm>
            <a:off x="4907682" y="4207545"/>
            <a:ext cx="410270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if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FFE230E-C2E4-45A1-8069-85EE5BA8E8BE}"/>
              </a:ext>
            </a:extLst>
          </p:cNvPr>
          <p:cNvSpPr txBox="1"/>
          <p:nvPr/>
        </p:nvSpPr>
        <p:spPr>
          <a:xfrm>
            <a:off x="1609462" y="1892087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</p:spTree>
    <p:extLst>
      <p:ext uri="{BB962C8B-B14F-4D97-AF65-F5344CB8AC3E}">
        <p14:creationId xmlns:p14="http://schemas.microsoft.com/office/powerpoint/2010/main" val="94636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1" y="223755"/>
            <a:ext cx="8045354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79513" y="921879"/>
            <a:ext cx="87968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altLang="es-CO" sz="2000" dirty="0"/>
              <a:t>En los problemas de este tipo, ambos casos (</a:t>
            </a:r>
            <a:r>
              <a:rPr lang="es-CO" altLang="es-CO" sz="2000" b="1" dirty="0">
                <a:solidFill>
                  <a:srgbClr val="C00000"/>
                </a:solidFill>
              </a:rPr>
              <a:t>Falso</a:t>
            </a:r>
            <a:r>
              <a:rPr lang="es-CO" altLang="es-CO" sz="2000" dirty="0"/>
              <a:t> y </a:t>
            </a:r>
            <a:r>
              <a:rPr lang="es-CO" altLang="es-CO" sz="2000" b="1" dirty="0">
                <a:solidFill>
                  <a:schemeClr val="accent2">
                    <a:lumMod val="75000"/>
                  </a:schemeClr>
                </a:solidFill>
              </a:rPr>
              <a:t>Verdadero</a:t>
            </a:r>
            <a:r>
              <a:rPr lang="es-CO" altLang="es-CO" sz="2000" dirty="0"/>
              <a:t>) poseen instrucciones asociadas.</a:t>
            </a:r>
            <a:endParaRPr lang="es-CO" sz="2000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95" y="1988840"/>
            <a:ext cx="4743505" cy="2934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DCD1815-B299-412B-B0C7-515E157D83D8}"/>
              </a:ext>
            </a:extLst>
          </p:cNvPr>
          <p:cNvSpPr txBox="1"/>
          <p:nvPr/>
        </p:nvSpPr>
        <p:spPr>
          <a:xfrm>
            <a:off x="5220072" y="2268160"/>
            <a:ext cx="3742661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Sino</a:t>
            </a:r>
          </a:p>
          <a:p>
            <a:pPr indent="-57150"/>
            <a:r>
              <a:rPr lang="es-ES" sz="14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>
                <a:latin typeface="Consolas" panose="020B0609020204030204" pitchFamily="49" charset="0"/>
              </a:rPr>
              <a:t>instrucciones condición falsa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1EA861C-CD1C-4583-91F4-3A788EADC024}"/>
              </a:ext>
            </a:extLst>
          </p:cNvPr>
          <p:cNvSpPr txBox="1"/>
          <p:nvPr/>
        </p:nvSpPr>
        <p:spPr>
          <a:xfrm>
            <a:off x="5233717" y="4036875"/>
            <a:ext cx="374266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if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pPr indent="-57150"/>
            <a:r>
              <a:rPr lang="es-ES" sz="14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>
                <a:latin typeface="Consolas" panose="020B0609020204030204" pitchFamily="49" charset="0"/>
              </a:rPr>
              <a:t>instrucciones condición falsa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AD278B-B3C9-4233-A314-4192331BDF8A}"/>
              </a:ext>
            </a:extLst>
          </p:cNvPr>
          <p:cNvSpPr txBox="1"/>
          <p:nvPr/>
        </p:nvSpPr>
        <p:spPr>
          <a:xfrm>
            <a:off x="5625642" y="177038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C8790F-1E43-4459-99ED-5878BD3C40D4}"/>
              </a:ext>
            </a:extLst>
          </p:cNvPr>
          <p:cNvSpPr txBox="1"/>
          <p:nvPr/>
        </p:nvSpPr>
        <p:spPr>
          <a:xfrm>
            <a:off x="5660542" y="361264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  <p:pic>
        <p:nvPicPr>
          <p:cNvPr id="11" name="Picture 4" descr="http://fc08.deviantart.net/fs46/f/2009/234/c/4/c49c0ed56535d564df12843469ecf56f.jpg">
            <a:extLst>
              <a:ext uri="{FF2B5EF4-FFF2-40B4-BE49-F238E27FC236}">
                <a16:creationId xmlns:a16="http://schemas.microsoft.com/office/drawing/2014/main" id="{F2646DE8-05CC-4E3C-AEA0-15FB07226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27" y="4437112"/>
            <a:ext cx="460643" cy="109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://images4.wikia.nocookie.net/__cb20111104190436/looneytunes/es/images/4/49/Gallo_Claudio.jpg">
            <a:extLst>
              <a:ext uri="{FF2B5EF4-FFF2-40B4-BE49-F238E27FC236}">
                <a16:creationId xmlns:a16="http://schemas.microsoft.com/office/drawing/2014/main" id="{B395B6A8-46AD-457F-BA38-D27F104C1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76" y="4437112"/>
            <a:ext cx="1081248" cy="106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633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7056" y="367890"/>
            <a:ext cx="8258294" cy="782960"/>
          </a:xfrm>
        </p:spPr>
        <p:txBody>
          <a:bodyPr>
            <a:normAutofit/>
          </a:bodyPr>
          <a:lstStyle/>
          <a:p>
            <a:r>
              <a:rPr lang="es-CO" sz="4000" dirty="0"/>
              <a:t>Alternativa simple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46564" y="1150850"/>
            <a:ext cx="850190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Ejemplo 1:</a:t>
            </a:r>
            <a:r>
              <a:rPr lang="es-CO" sz="2400" b="1" dirty="0"/>
              <a:t> </a:t>
            </a:r>
          </a:p>
          <a:p>
            <a:r>
              <a:rPr lang="es-CO" sz="2000" dirty="0"/>
              <a:t>Moe con el fin de incentivar su negocio organizo una noche de solos y solas. Los precios que fijo fueron de $10000 para los hombres y de la mitad de este valor para las mujeres. Hacer un programa que de acuerdo al sexo de la persona que asista muestre el precio de la entrada al bar de Moe.</a:t>
            </a:r>
          </a:p>
        </p:txBody>
      </p:sp>
      <p:pic>
        <p:nvPicPr>
          <p:cNvPr id="2050" name="Picture 2" descr="Moe&amp;#39;s Bar | Pub, Funny pictures, The simpsons">
            <a:extLst>
              <a:ext uri="{FF2B5EF4-FFF2-40B4-BE49-F238E27FC236}">
                <a16:creationId xmlns:a16="http://schemas.microsoft.com/office/drawing/2014/main" id="{8089C2F7-1CC9-419C-8E50-9FFB41C9C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451" y="3429000"/>
            <a:ext cx="3470125" cy="260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2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2904" y="260648"/>
            <a:ext cx="4958298" cy="710952"/>
          </a:xfrm>
        </p:spPr>
        <p:txBody>
          <a:bodyPr>
            <a:normAutofit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8238F3D-857F-4AB8-A25A-119ABDBDB707}"/>
              </a:ext>
            </a:extLst>
          </p:cNvPr>
          <p:cNvSpPr txBox="1"/>
          <p:nvPr/>
        </p:nvSpPr>
        <p:spPr>
          <a:xfrm>
            <a:off x="1598644" y="5812532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2"/>
              </a:rPr>
              <a:t>Link de ejecución</a:t>
            </a:r>
            <a:endParaRPr lang="es-CO" sz="1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3E57EB-643A-4646-8FC2-BFE14A34F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776" y="1485900"/>
            <a:ext cx="4255712" cy="446513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4ADE36F-3836-40FC-AAE5-6014F5E19BE2}"/>
              </a:ext>
            </a:extLst>
          </p:cNvPr>
          <p:cNvSpPr txBox="1"/>
          <p:nvPr/>
        </p:nvSpPr>
        <p:spPr>
          <a:xfrm>
            <a:off x="245481" y="1127339"/>
            <a:ext cx="335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DAF5A1-1727-4804-B029-3B2CBBEFF9B9}"/>
              </a:ext>
            </a:extLst>
          </p:cNvPr>
          <p:cNvSpPr txBox="1"/>
          <p:nvPr/>
        </p:nvSpPr>
        <p:spPr>
          <a:xfrm>
            <a:off x="179512" y="382936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D512794-C487-4E82-8BA4-1C5277571771}"/>
              </a:ext>
            </a:extLst>
          </p:cNvPr>
          <p:cNvSpPr txBox="1"/>
          <p:nvPr/>
        </p:nvSpPr>
        <p:spPr>
          <a:xfrm>
            <a:off x="279058" y="4229472"/>
            <a:ext cx="418495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PRECIO_MUJER = PRECIO_HOMBRE / 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sex = input('Digite el sexo (F/M): ')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if sex == 'F':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valor_entrada = PRECIO_MUJER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valor_entrada = PRECIO_HOMBRE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print</a:t>
            </a:r>
            <a:r>
              <a:rPr lang="es-MX" sz="1200" dirty="0">
                <a:latin typeface="Consolas" panose="020B0609020204030204" pitchFamily="49" charset="0"/>
              </a:rPr>
              <a:t>(f'Valor de la entrada: ${valor_entrada}')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914CF4-F8A8-42CA-85A0-78CC515CC447}"/>
              </a:ext>
            </a:extLst>
          </p:cNvPr>
          <p:cNvSpPr txBox="1"/>
          <p:nvPr/>
        </p:nvSpPr>
        <p:spPr>
          <a:xfrm>
            <a:off x="279058" y="1550075"/>
            <a:ext cx="4184959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PRECIO_MUJER = PRECIO_HOMBRE/2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Leer(sex)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 (sex == 'F') Entonces   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valor_entrada = PRECIO_MUJER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valor_entrada = PRECIO_HOMBRE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Escribir(valor_entrada)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061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14015" y="439063"/>
            <a:ext cx="4511597" cy="568529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doble</a:t>
            </a:r>
          </a:p>
        </p:txBody>
      </p:sp>
      <p:graphicFrame>
        <p:nvGraphicFramePr>
          <p:cNvPr id="16" name="1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901824"/>
              </p:ext>
            </p:extLst>
          </p:nvPr>
        </p:nvGraphicFramePr>
        <p:xfrm>
          <a:off x="1026579" y="1268760"/>
          <a:ext cx="3086468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7195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sex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valor_entrata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2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"M"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"F"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"f"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"x"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5000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10000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8 Tabla">
            <a:extLst>
              <a:ext uri="{FF2B5EF4-FFF2-40B4-BE49-F238E27FC236}">
                <a16:creationId xmlns:a16="http://schemas.microsoft.com/office/drawing/2014/main" id="{6794348E-8A84-4820-8B3D-14A434AEA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778174"/>
              </p:ext>
            </p:extLst>
          </p:nvPr>
        </p:nvGraphicFramePr>
        <p:xfrm>
          <a:off x="1475656" y="3528577"/>
          <a:ext cx="2514598" cy="21463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7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val_entrada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2E2D080B-81AC-4808-AA4B-84C421408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784" y="1412776"/>
            <a:ext cx="4255712" cy="44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55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14015" y="439063"/>
            <a:ext cx="4511597" cy="568529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doble</a:t>
            </a:r>
          </a:p>
        </p:txBody>
      </p:sp>
      <p:graphicFrame>
        <p:nvGraphicFramePr>
          <p:cNvPr id="16" name="1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23249"/>
              </p:ext>
            </p:extLst>
          </p:nvPr>
        </p:nvGraphicFramePr>
        <p:xfrm>
          <a:off x="1026579" y="1268760"/>
          <a:ext cx="3086468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7195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valor_entrata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2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"M"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"F"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"f"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"x"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5000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10000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198795" y="3002617"/>
            <a:ext cx="437320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Resultados esperados:  </a:t>
            </a:r>
            <a:r>
              <a:rPr lang="es-CO" dirty="0"/>
              <a:t>Si hacemos la prueba de escritorio, el algoritmo tal y como esta planteado tiene problemas en la implementación lógica (solo funciona como se espera para las letras mayúsculas </a:t>
            </a:r>
            <a:r>
              <a:rPr lang="es-CO" sz="1800" b="0" dirty="0">
                <a:latin typeface="+mn-lt"/>
                <a:cs typeface="Consolas" panose="020B0609020204030204" pitchFamily="49" charset="0"/>
              </a:rPr>
              <a:t>"M" o "F") pero en otros casos no arrojan los resultados correctos.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/>
              <a:t>Letras minúsculas para el genero.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/>
              <a:t>Letras diferentes para el genero.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/>
              <a:t>Adaptación a la inclusividad: En la actualidad el genero no es solo masculino ni femenino, hay diversidad.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66FC6470-3AE4-4531-A886-D4C5923FA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493" y="1556792"/>
            <a:ext cx="4255712" cy="4465132"/>
          </a:xfrm>
          <a:prstGeom prst="rect">
            <a:avLst/>
          </a:prstGeom>
        </p:spPr>
      </p:pic>
      <p:pic>
        <p:nvPicPr>
          <p:cNvPr id="27" name="Picture 2" descr="Search Bug Icon 2332891 Vector Art at Vecteezy">
            <a:extLst>
              <a:ext uri="{FF2B5EF4-FFF2-40B4-BE49-F238E27FC236}">
                <a16:creationId xmlns:a16="http://schemas.microsoft.com/office/drawing/2014/main" id="{042104B8-99B3-4034-AA26-74B9C244E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60690" y="2674908"/>
            <a:ext cx="974184" cy="97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458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23878" y="110169"/>
            <a:ext cx="8452578" cy="782960"/>
          </a:xfrm>
        </p:spPr>
        <p:txBody>
          <a:bodyPr>
            <a:normAutofit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23878" y="893129"/>
            <a:ext cx="8696244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Ejemplo 2:</a:t>
            </a:r>
          </a:p>
          <a:p>
            <a:r>
              <a:rPr lang="es-CO" sz="2000" dirty="0"/>
              <a:t>En una empresa le dan a los empleados un subsidio de transporte si el sueldo base de estos es menor que el salario mínimo ($2000000), este subsidio es el 30% del sueldo base. Hacer un algoritmo que calcule el salario neto de un empleado (sueldo base mas prestaciones si el empleado tiene derecho a estas). Los datos de entrada son la cedula y el sueldo base.</a:t>
            </a:r>
            <a:endParaRPr lang="es-CO" sz="2400" dirty="0"/>
          </a:p>
        </p:txBody>
      </p:sp>
      <p:pic>
        <p:nvPicPr>
          <p:cNvPr id="15362" name="Picture 2" descr="http://www.hungerculture.com/wp-content/uploads/2014/02/simpsons-visa-copa-mundo-futbo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308865"/>
            <a:ext cx="4039840" cy="269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713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19068" y="188640"/>
            <a:ext cx="4376968" cy="53328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668372-4694-4B60-B0BC-28D4202766C0}"/>
              </a:ext>
            </a:extLst>
          </p:cNvPr>
          <p:cNvSpPr txBox="1"/>
          <p:nvPr/>
        </p:nvSpPr>
        <p:spPr>
          <a:xfrm>
            <a:off x="1764459" y="6320353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2"/>
              </a:rPr>
              <a:t>Link de ejecución</a:t>
            </a:r>
            <a:endParaRPr lang="es-CO" sz="1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B9C2D51-ED11-49FC-A332-62B06361F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789855"/>
            <a:ext cx="3797323" cy="551946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EB46DA0-4F51-4B8C-933C-B01FC5FF0D7D}"/>
              </a:ext>
            </a:extLst>
          </p:cNvPr>
          <p:cNvSpPr txBox="1"/>
          <p:nvPr/>
        </p:nvSpPr>
        <p:spPr>
          <a:xfrm>
            <a:off x="254608" y="4356839"/>
            <a:ext cx="460542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SALARIO_MIN = 2000000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ID = input("Digite la cedula: 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sal_base = int(input("Digite el salario base: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if(sal_base &lt; SALARIO_MIN):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subsidio = 0.3*sal_base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else: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subsidio = 0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sal_neto = sal_base + subsidio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print(ID + ' le corresponde como pago $', \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sal_neto, </a:t>
            </a:r>
            <a:r>
              <a:rPr lang="es-CO" sz="1200" dirty="0" err="1">
                <a:latin typeface="Consolas" panose="020B0609020204030204" pitchFamily="49" charset="0"/>
              </a:rPr>
              <a:t>end</a:t>
            </a:r>
            <a:r>
              <a:rPr lang="es-CO" sz="1200" dirty="0">
                <a:latin typeface="Consolas" panose="020B0609020204030204" pitchFamily="49" charset="0"/>
              </a:rPr>
              <a:t> = "")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730F102-247A-4813-B6F0-6F9379C78991}"/>
              </a:ext>
            </a:extLst>
          </p:cNvPr>
          <p:cNvSpPr txBox="1"/>
          <p:nvPr/>
        </p:nvSpPr>
        <p:spPr>
          <a:xfrm>
            <a:off x="234640" y="1408708"/>
            <a:ext cx="460542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SALARIO_MIN = 2000000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Leer(ID)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Leer(sal_base)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 (sal_base &lt; 2000000) Entonces   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subsidio = 0.3*sal_base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subsidio = 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sal_neto = sal_base + subsidio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Escribir(ID, sal_neto)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EC71DC3-2147-4F3E-8D06-CC40DAA61A13}"/>
              </a:ext>
            </a:extLst>
          </p:cNvPr>
          <p:cNvSpPr txBox="1"/>
          <p:nvPr/>
        </p:nvSpPr>
        <p:spPr>
          <a:xfrm>
            <a:off x="231416" y="3898218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6A0177D-132B-4E54-B277-B58115171191}"/>
              </a:ext>
            </a:extLst>
          </p:cNvPr>
          <p:cNvSpPr txBox="1"/>
          <p:nvPr/>
        </p:nvSpPr>
        <p:spPr>
          <a:xfrm>
            <a:off x="219068" y="1025634"/>
            <a:ext cx="335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</p:spTree>
    <p:extLst>
      <p:ext uri="{BB962C8B-B14F-4D97-AF65-F5344CB8AC3E}">
        <p14:creationId xmlns:p14="http://schemas.microsoft.com/office/powerpoint/2010/main" val="4288657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9845" y="552481"/>
            <a:ext cx="4262155" cy="549746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doble</a:t>
            </a:r>
          </a:p>
        </p:txBody>
      </p:sp>
      <p:graphicFrame>
        <p:nvGraphicFramePr>
          <p:cNvPr id="6" name="8 Tabla">
            <a:extLst>
              <a:ext uri="{FF2B5EF4-FFF2-40B4-BE49-F238E27FC236}">
                <a16:creationId xmlns:a16="http://schemas.microsoft.com/office/drawing/2014/main" id="{B39B7AD8-AE9C-441C-B094-98EFEB7B3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486186"/>
              </p:ext>
            </p:extLst>
          </p:nvPr>
        </p:nvGraphicFramePr>
        <p:xfrm>
          <a:off x="374393" y="3976245"/>
          <a:ext cx="4514605" cy="19025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sal_base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subsidio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sal_neto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15 Tabla">
            <a:extLst>
              <a:ext uri="{FF2B5EF4-FFF2-40B4-BE49-F238E27FC236}">
                <a16:creationId xmlns:a16="http://schemas.microsoft.com/office/drawing/2014/main" id="{B42F7A3E-5D1B-4938-B6F4-9C27C815F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208306"/>
              </p:ext>
            </p:extLst>
          </p:nvPr>
        </p:nvGraphicFramePr>
        <p:xfrm>
          <a:off x="862660" y="1960116"/>
          <a:ext cx="3376923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5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862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sal_base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salNeto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61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"0000"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"0001"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"0002"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1000000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-3000000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1300000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-3900000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5 Rectángulo">
            <a:extLst>
              <a:ext uri="{FF2B5EF4-FFF2-40B4-BE49-F238E27FC236}">
                <a16:creationId xmlns:a16="http://schemas.microsoft.com/office/drawing/2014/main" id="{7C7FAF62-909D-4A12-B524-43FF1A0D03BB}"/>
              </a:ext>
            </a:extLst>
          </p:cNvPr>
          <p:cNvSpPr/>
          <p:nvPr/>
        </p:nvSpPr>
        <p:spPr>
          <a:xfrm>
            <a:off x="309845" y="3349532"/>
            <a:ext cx="24648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Prueba de escritorio: </a:t>
            </a:r>
            <a:endParaRPr lang="es-CO" sz="2000" dirty="0"/>
          </a:p>
        </p:txBody>
      </p:sp>
      <p:sp>
        <p:nvSpPr>
          <p:cNvPr id="9" name="5 Rectángulo">
            <a:extLst>
              <a:ext uri="{FF2B5EF4-FFF2-40B4-BE49-F238E27FC236}">
                <a16:creationId xmlns:a16="http://schemas.microsoft.com/office/drawing/2014/main" id="{A58A6956-9453-428B-A369-CF584B0BF308}"/>
              </a:ext>
            </a:extLst>
          </p:cNvPr>
          <p:cNvSpPr/>
          <p:nvPr/>
        </p:nvSpPr>
        <p:spPr>
          <a:xfrm>
            <a:off x="309845" y="1412159"/>
            <a:ext cx="2497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 esperados</a:t>
            </a:r>
            <a:endParaRPr lang="es-CO" sz="20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9372B7B-CB10-4C64-B2A2-08911FBF3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789855"/>
            <a:ext cx="3797323" cy="551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86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9845" y="552481"/>
            <a:ext cx="4262155" cy="549746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doble</a:t>
            </a:r>
          </a:p>
        </p:txBody>
      </p:sp>
      <p:graphicFrame>
        <p:nvGraphicFramePr>
          <p:cNvPr id="7" name="15 Tabla">
            <a:extLst>
              <a:ext uri="{FF2B5EF4-FFF2-40B4-BE49-F238E27FC236}">
                <a16:creationId xmlns:a16="http://schemas.microsoft.com/office/drawing/2014/main" id="{B42F7A3E-5D1B-4938-B6F4-9C27C815F75F}"/>
              </a:ext>
            </a:extLst>
          </p:cNvPr>
          <p:cNvGraphicFramePr>
            <a:graphicFrameLocks noGrp="1"/>
          </p:cNvGraphicFramePr>
          <p:nvPr/>
        </p:nvGraphicFramePr>
        <p:xfrm>
          <a:off x="862660" y="1960116"/>
          <a:ext cx="3376923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5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862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sal_base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salNeto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61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"0000"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"0001"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"0002"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1000000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-3000000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1300000</a:t>
                      </a:r>
                    </a:p>
                    <a:p>
                      <a:pPr algn="ctr"/>
                      <a:r>
                        <a:rPr lang="es-CO" sz="1600" b="0" dirty="0"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-3900000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5 Rectángulo">
            <a:extLst>
              <a:ext uri="{FF2B5EF4-FFF2-40B4-BE49-F238E27FC236}">
                <a16:creationId xmlns:a16="http://schemas.microsoft.com/office/drawing/2014/main" id="{A58A6956-9453-428B-A369-CF584B0BF308}"/>
              </a:ext>
            </a:extLst>
          </p:cNvPr>
          <p:cNvSpPr/>
          <p:nvPr/>
        </p:nvSpPr>
        <p:spPr>
          <a:xfrm>
            <a:off x="309845" y="1412159"/>
            <a:ext cx="2497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 esperados</a:t>
            </a:r>
            <a:endParaRPr lang="es-CO" sz="20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9372B7B-CB10-4C64-B2A2-08911FBF3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789855"/>
            <a:ext cx="3797323" cy="5519465"/>
          </a:xfrm>
          <a:prstGeom prst="rect">
            <a:avLst/>
          </a:prstGeom>
        </p:spPr>
      </p:pic>
      <p:sp>
        <p:nvSpPr>
          <p:cNvPr id="11" name="6 Rectángulo">
            <a:extLst>
              <a:ext uri="{FF2B5EF4-FFF2-40B4-BE49-F238E27FC236}">
                <a16:creationId xmlns:a16="http://schemas.microsoft.com/office/drawing/2014/main" id="{50A43E07-3F2B-4BD9-8967-02FC0F888099}"/>
              </a:ext>
            </a:extLst>
          </p:cNvPr>
          <p:cNvSpPr/>
          <p:nvPr/>
        </p:nvSpPr>
        <p:spPr>
          <a:xfrm>
            <a:off x="360884" y="3536887"/>
            <a:ext cx="437320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Resultados esperados:  </a:t>
            </a:r>
            <a:r>
              <a:rPr lang="es-CO" dirty="0"/>
              <a:t>Aunque a este nivel asumimos que el usuario usa de manera correcta el programa, en realidad, el usuario puede ingresar (por que se equivoca o por que le da la gana) valores incorrectos. Por ejemplo, este programa tiene un </a:t>
            </a:r>
            <a:r>
              <a:rPr lang="es-CO" b="1" dirty="0"/>
              <a:t>error lógico grave </a:t>
            </a:r>
            <a:r>
              <a:rPr lang="es-CO" dirty="0"/>
              <a:t>si el usuario ingresa un valor negativo para el salario base.</a:t>
            </a:r>
            <a:endParaRPr lang="es-CO" sz="1800" b="0" dirty="0">
              <a:latin typeface="+mn-lt"/>
              <a:cs typeface="Consolas" panose="020B0609020204030204" pitchFamily="49" charset="0"/>
            </a:endParaRPr>
          </a:p>
        </p:txBody>
      </p:sp>
      <p:pic>
        <p:nvPicPr>
          <p:cNvPr id="12" name="Picture 2" descr="Search Bug Icon 2332891 Vector Art at Vecteezy">
            <a:extLst>
              <a:ext uri="{FF2B5EF4-FFF2-40B4-BE49-F238E27FC236}">
                <a16:creationId xmlns:a16="http://schemas.microsoft.com/office/drawing/2014/main" id="{A35A8DC6-8983-45A9-A6D3-987ADE02F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69411" y="1960116"/>
            <a:ext cx="974184" cy="97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503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7908" y="296227"/>
            <a:ext cx="8463272" cy="64678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CC7C19E-2260-4410-BA36-4F7BB546F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78" y="1785257"/>
            <a:ext cx="4926851" cy="346732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A26239F-F49B-41DD-B9FD-C660211E1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747" y="993565"/>
            <a:ext cx="3570394" cy="2003387"/>
          </a:xfrm>
          <a:prstGeom prst="rect">
            <a:avLst/>
          </a:prstGeom>
        </p:spPr>
      </p:pic>
      <p:pic>
        <p:nvPicPr>
          <p:cNvPr id="2052" name="Picture 4" descr="Rock Paper Scissors Game Stock Illustrations – 322 Rock Paper Scissors Game  Stock Illustrations, Vectors &amp; Clipart - Dreamstime">
            <a:extLst>
              <a:ext uri="{FF2B5EF4-FFF2-40B4-BE49-F238E27FC236}">
                <a16:creationId xmlns:a16="http://schemas.microsoft.com/office/drawing/2014/main" id="{FFFDFFBE-BEE1-4328-AF91-23B0AB6A9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865" y="3305593"/>
            <a:ext cx="2664567" cy="2664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2424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1" y="223755"/>
            <a:ext cx="8045354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79513" y="874455"/>
            <a:ext cx="879686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altLang="es-CO" sz="2000" dirty="0"/>
              <a:t>Cuando se desea evaluar más de dos alternativas, es necesario implementar una </a:t>
            </a:r>
            <a:r>
              <a:rPr lang="es-MX" altLang="es-CO" sz="2000" b="1" dirty="0"/>
              <a:t>estructura condicional múltiple</a:t>
            </a:r>
            <a:r>
              <a:rPr lang="es-MX" altLang="es-CO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altLang="es-CO" sz="2000" dirty="0"/>
              <a:t>Esto se logra mediante el anidamiento de bloques básicos de estructuras condicionales (</a:t>
            </a:r>
            <a:r>
              <a:rPr lang="es-MX" altLang="es-CO" b="1" dirty="0">
                <a:solidFill>
                  <a:srgbClr val="C00000"/>
                </a:solidFill>
                <a:latin typeface="Consolas" panose="020B0609020204030204" pitchFamily="49" charset="0"/>
              </a:rPr>
              <a:t>Si...Entonces...Sino</a:t>
            </a:r>
            <a:r>
              <a:rPr lang="es-MX" altLang="es-CO" sz="20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altLang="es-CO" sz="2000" dirty="0"/>
              <a:t>La forma de anidar depende del problema: si se evalúan varios casos de </a:t>
            </a:r>
            <a:r>
              <a:rPr lang="es-MX" altLang="es-CO" sz="2000" b="1" dirty="0"/>
              <a:t>un mismo criterio</a:t>
            </a:r>
            <a:r>
              <a:rPr lang="es-MX" altLang="es-CO" sz="2000" dirty="0"/>
              <a:t> (por ejemplo, rangos de una variable), se encadenan las condiciones una tras otra; si se evalúan </a:t>
            </a:r>
            <a:r>
              <a:rPr lang="es-MX" altLang="es-CO" sz="2000" b="1" dirty="0"/>
              <a:t>criterios distintos</a:t>
            </a:r>
            <a:r>
              <a:rPr lang="es-MX" altLang="es-CO" sz="2000" dirty="0"/>
              <a:t> según la rama que se tome, se anidan condiciones completas unas dentro de otras.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8DDC9AEA-D9ED-4732-A413-0CCB4A422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881143"/>
            <a:ext cx="4313633" cy="2644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2661223-A77C-4546-A1DB-3499A28DC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82" y="3645024"/>
            <a:ext cx="4359334" cy="306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33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1" y="223755"/>
            <a:ext cx="8045354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 – Mismo criterio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2661223-A77C-4546-A1DB-3499A28DC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61" y="2348879"/>
            <a:ext cx="4808820" cy="3384263"/>
          </a:xfrm>
          <a:prstGeom prst="rect">
            <a:avLst/>
          </a:prstGeom>
        </p:spPr>
      </p:pic>
      <p:sp>
        <p:nvSpPr>
          <p:cNvPr id="6" name="12 Rectángulo">
            <a:extLst>
              <a:ext uri="{FF2B5EF4-FFF2-40B4-BE49-F238E27FC236}">
                <a16:creationId xmlns:a16="http://schemas.microsoft.com/office/drawing/2014/main" id="{8508C4C5-CBF9-4C17-AEB9-2B6B8EA367F8}"/>
              </a:ext>
            </a:extLst>
          </p:cNvPr>
          <p:cNvSpPr/>
          <p:nvPr/>
        </p:nvSpPr>
        <p:spPr>
          <a:xfrm>
            <a:off x="263061" y="836712"/>
            <a:ext cx="84434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Veamos el caso en el que todas las condiciones evalúan el </a:t>
            </a:r>
            <a:r>
              <a:rPr lang="es-MX" sz="2000" b="1" dirty="0"/>
              <a:t>mismo criterio</a:t>
            </a:r>
            <a:r>
              <a:rPr lang="es-MX" sz="2000" dirty="0"/>
              <a:t>, por ejemplo, distintos rangos de una misma variable (como una escala de notas)</a:t>
            </a:r>
            <a:endParaRPr lang="es-CO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F0C72B-D8A1-4E3E-9FCD-98E4B022325B}"/>
              </a:ext>
            </a:extLst>
          </p:cNvPr>
          <p:cNvSpPr txBox="1"/>
          <p:nvPr/>
        </p:nvSpPr>
        <p:spPr>
          <a:xfrm>
            <a:off x="5220072" y="1988840"/>
            <a:ext cx="3699295" cy="4185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condicion_1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condicion_1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condicion_2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condicion_2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condicion_3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condicion_3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...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  condicion_n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Sino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  condicion_n falso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Fin_Si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...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Fin_Si 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E8C173-7707-48F4-A17E-7B72328AD3B5}"/>
              </a:ext>
            </a:extLst>
          </p:cNvPr>
          <p:cNvSpPr txBox="1"/>
          <p:nvPr/>
        </p:nvSpPr>
        <p:spPr>
          <a:xfrm>
            <a:off x="5524870" y="1573301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118BBB-98AA-4C68-B5A2-15748A12FB6E}"/>
              </a:ext>
            </a:extLst>
          </p:cNvPr>
          <p:cNvSpPr txBox="1"/>
          <p:nvPr/>
        </p:nvSpPr>
        <p:spPr>
          <a:xfrm>
            <a:off x="1455390" y="1604636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</p:spTree>
    <p:extLst>
      <p:ext uri="{BB962C8B-B14F-4D97-AF65-F5344CB8AC3E}">
        <p14:creationId xmlns:p14="http://schemas.microsoft.com/office/powerpoint/2010/main" val="1871566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0" y="223755"/>
            <a:ext cx="8269379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 – Diferente criterio</a:t>
            </a:r>
          </a:p>
        </p:txBody>
      </p:sp>
      <p:sp>
        <p:nvSpPr>
          <p:cNvPr id="6" name="12 Rectángulo">
            <a:extLst>
              <a:ext uri="{FF2B5EF4-FFF2-40B4-BE49-F238E27FC236}">
                <a16:creationId xmlns:a16="http://schemas.microsoft.com/office/drawing/2014/main" id="{8508C4C5-CBF9-4C17-AEB9-2B6B8EA367F8}"/>
              </a:ext>
            </a:extLst>
          </p:cNvPr>
          <p:cNvSpPr/>
          <p:nvPr/>
        </p:nvSpPr>
        <p:spPr>
          <a:xfrm>
            <a:off x="263061" y="977073"/>
            <a:ext cx="844343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Veamos el caso en el que cada rama evalúa un </a:t>
            </a:r>
            <a:r>
              <a:rPr lang="es-MX" sz="2000" b="1" dirty="0"/>
              <a:t>criterio distinto</a:t>
            </a:r>
            <a:r>
              <a:rPr lang="es-MX" sz="2000" dirty="0"/>
              <a:t>, por ejemplo, un umbral que cambia según la decisión anterior (como el sexo y luego un límite de edad diferente para cada uno).</a:t>
            </a:r>
            <a:endParaRPr lang="es-CO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F0C72B-D8A1-4E3E-9FCD-98E4B022325B}"/>
              </a:ext>
            </a:extLst>
          </p:cNvPr>
          <p:cNvSpPr txBox="1"/>
          <p:nvPr/>
        </p:nvSpPr>
        <p:spPr>
          <a:xfrm>
            <a:off x="5220072" y="2575677"/>
            <a:ext cx="3699295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condicion_1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condicion_3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condicion_3a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ES" sz="1400" dirty="0">
                <a:latin typeface="Consolas" panose="020B0609020204030204" pitchFamily="49" charset="0"/>
              </a:rPr>
              <a:t>condicion_3b 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condicion_2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condicion_2a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ES" sz="1400" dirty="0">
                <a:latin typeface="Consolas" panose="020B0609020204030204" pitchFamily="49" charset="0"/>
              </a:rPr>
              <a:t>condicion_2b</a:t>
            </a:r>
            <a:endParaRPr lang="es-ES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E8C173-7707-48F4-A17E-7B72328AD3B5}"/>
              </a:ext>
            </a:extLst>
          </p:cNvPr>
          <p:cNvSpPr txBox="1"/>
          <p:nvPr/>
        </p:nvSpPr>
        <p:spPr>
          <a:xfrm>
            <a:off x="5524870" y="2160138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118BBB-98AA-4C68-B5A2-15748A12FB6E}"/>
              </a:ext>
            </a:extLst>
          </p:cNvPr>
          <p:cNvSpPr txBox="1"/>
          <p:nvPr/>
        </p:nvSpPr>
        <p:spPr>
          <a:xfrm>
            <a:off x="1455390" y="2191473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C047F0E5-EEF4-45FC-B86C-DAD924B13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84" y="2754971"/>
            <a:ext cx="4741172" cy="290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073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7056" y="276634"/>
            <a:ext cx="8131368" cy="782960"/>
          </a:xfrm>
        </p:spPr>
        <p:txBody>
          <a:bodyPr>
            <a:normAutofit/>
          </a:bodyPr>
          <a:lstStyle/>
          <a:p>
            <a:r>
              <a:rPr lang="es-CO" dirty="0"/>
              <a:t>Alternativa múltiple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65542" y="969739"/>
            <a:ext cx="8223168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Ejemplo 1 (Mejorando el problema): </a:t>
            </a:r>
          </a:p>
          <a:p>
            <a:r>
              <a:rPr lang="es-CO" sz="2000" dirty="0"/>
              <a:t>Moe con el fin de incentivar su negocio organizo una noche de solos y solas. Los precios que fijo fueron de $10000 para los hombres y de la mitad de este valor para las mujeres. Hacer un programa que de acuerdo al sexo de la persona que asista muestre el precio de la entrada al bar de Moe.</a:t>
            </a:r>
          </a:p>
          <a:p>
            <a:endParaRPr lang="es-CO" sz="2400" dirty="0"/>
          </a:p>
          <a:p>
            <a:r>
              <a:rPr lang="es-CO" sz="2000" b="1" dirty="0"/>
              <a:t>Nota</a:t>
            </a:r>
            <a:r>
              <a:rPr lang="es-CO" sz="2000" dirty="0"/>
              <a:t>: Resuelva el bug del programa</a:t>
            </a:r>
          </a:p>
        </p:txBody>
      </p:sp>
      <p:pic>
        <p:nvPicPr>
          <p:cNvPr id="2050" name="Picture 2" descr="Moe&amp;#39;s Bar | Pub, Funny pictures, The simpsons">
            <a:extLst>
              <a:ext uri="{FF2B5EF4-FFF2-40B4-BE49-F238E27FC236}">
                <a16:creationId xmlns:a16="http://schemas.microsoft.com/office/drawing/2014/main" id="{8089C2F7-1CC9-419C-8E50-9FFB41C9C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90385"/>
            <a:ext cx="3278956" cy="245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l bar de Moe y Los Simpsons: el impresionante mural en Córdoba que es  viral | Vía Córdoba">
            <a:extLst>
              <a:ext uri="{FF2B5EF4-FFF2-40B4-BE49-F238E27FC236}">
                <a16:creationId xmlns:a16="http://schemas.microsoft.com/office/drawing/2014/main" id="{6C8324B4-3680-493F-A2E7-CF07516E7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386" y="3751728"/>
            <a:ext cx="3807684" cy="21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832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2904" y="260648"/>
            <a:ext cx="4958298" cy="710952"/>
          </a:xfrm>
        </p:spPr>
        <p:txBody>
          <a:bodyPr>
            <a:normAutofit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8238F3D-857F-4AB8-A25A-119ABDBDB707}"/>
              </a:ext>
            </a:extLst>
          </p:cNvPr>
          <p:cNvSpPr txBox="1"/>
          <p:nvPr/>
        </p:nvSpPr>
        <p:spPr>
          <a:xfrm>
            <a:off x="1598644" y="5812532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2"/>
              </a:rPr>
              <a:t>Link de ejecución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ADE36F-3836-40FC-AAE5-6014F5E19BE2}"/>
              </a:ext>
            </a:extLst>
          </p:cNvPr>
          <p:cNvSpPr txBox="1"/>
          <p:nvPr/>
        </p:nvSpPr>
        <p:spPr>
          <a:xfrm>
            <a:off x="245481" y="1127339"/>
            <a:ext cx="335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DAF5A1-1727-4804-B029-3B2CBBEFF9B9}"/>
              </a:ext>
            </a:extLst>
          </p:cNvPr>
          <p:cNvSpPr txBox="1"/>
          <p:nvPr/>
        </p:nvSpPr>
        <p:spPr>
          <a:xfrm>
            <a:off x="179512" y="382936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D512794-C487-4E82-8BA4-1C5277571771}"/>
              </a:ext>
            </a:extLst>
          </p:cNvPr>
          <p:cNvSpPr txBox="1"/>
          <p:nvPr/>
        </p:nvSpPr>
        <p:spPr>
          <a:xfrm>
            <a:off x="279058" y="4229472"/>
            <a:ext cx="418495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PRECIO_MUJER = PRECIO_HOMBRE / 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sex = input('Digite el sexo (F/M): ')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if ((sex == 'F') or (sex == 'f')):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valor_entrada = PRECIO_MUJER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valor_entrada = PRECIO_HOMBRE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print</a:t>
            </a:r>
            <a:r>
              <a:rPr lang="es-MX" sz="1200" dirty="0">
                <a:latin typeface="Consolas" panose="020B0609020204030204" pitchFamily="49" charset="0"/>
              </a:rPr>
              <a:t>(f'Valor de la entrada: ${valor_entrada}')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914CF4-F8A8-42CA-85A0-78CC515CC447}"/>
              </a:ext>
            </a:extLst>
          </p:cNvPr>
          <p:cNvSpPr txBox="1"/>
          <p:nvPr/>
        </p:nvSpPr>
        <p:spPr>
          <a:xfrm>
            <a:off x="279058" y="1550075"/>
            <a:ext cx="4184959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PRECIO_MUJER = PRECIO_HOMBRE/2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Leer(sex)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 ((sex == 'F') or (sex == 'f')) Entonces   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valor_entrada = PRECIO_MUJER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valor_entrada = PRECIO_HOMBRE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Escribir(valor_entrada)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305C02-C9CC-4052-817D-888236002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834" y="1508711"/>
            <a:ext cx="4151108" cy="43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20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2904" y="260648"/>
            <a:ext cx="4958298" cy="710952"/>
          </a:xfrm>
        </p:spPr>
        <p:txBody>
          <a:bodyPr>
            <a:normAutofit/>
          </a:bodyPr>
          <a:lstStyle/>
          <a:p>
            <a:r>
              <a:rPr lang="es-CO" dirty="0"/>
              <a:t>Alternativa múltiple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ADE36F-3836-40FC-AAE5-6014F5E19BE2}"/>
              </a:ext>
            </a:extLst>
          </p:cNvPr>
          <p:cNvSpPr txBox="1"/>
          <p:nvPr/>
        </p:nvSpPr>
        <p:spPr>
          <a:xfrm>
            <a:off x="245481" y="2420888"/>
            <a:ext cx="335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914CF4-F8A8-42CA-85A0-78CC515CC447}"/>
              </a:ext>
            </a:extLst>
          </p:cNvPr>
          <p:cNvSpPr txBox="1"/>
          <p:nvPr/>
        </p:nvSpPr>
        <p:spPr>
          <a:xfrm>
            <a:off x="279058" y="2843624"/>
            <a:ext cx="4184959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PRECIO_MUJER = PRECIO_HOMBRE/2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Leer(sex)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 ((sex == 'F') or (sex == 'f')) Entonces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valor_entrada = PRECIO_MUJER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Si ((sex == 'M') or (sex == 'm')) Entonces    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valor_entrada = PRECIO_HOMBRE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Escribir(valor_entrada)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F4A45C-0DCE-4349-A510-468D59E51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27339"/>
            <a:ext cx="4394200" cy="451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89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2904" y="260648"/>
            <a:ext cx="4958298" cy="710952"/>
          </a:xfrm>
        </p:spPr>
        <p:txBody>
          <a:bodyPr>
            <a:normAutofit/>
          </a:bodyPr>
          <a:lstStyle/>
          <a:p>
            <a:r>
              <a:rPr lang="es-CO" dirty="0"/>
              <a:t>Alternativa múltiple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8238F3D-857F-4AB8-A25A-119ABDBDB707}"/>
              </a:ext>
            </a:extLst>
          </p:cNvPr>
          <p:cNvSpPr txBox="1"/>
          <p:nvPr/>
        </p:nvSpPr>
        <p:spPr>
          <a:xfrm>
            <a:off x="1706627" y="5007992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2"/>
              </a:rPr>
              <a:t>Link de ejecución</a:t>
            </a:r>
            <a:endParaRPr lang="es-CO" sz="12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DAF5A1-1727-4804-B029-3B2CBBEFF9B9}"/>
              </a:ext>
            </a:extLst>
          </p:cNvPr>
          <p:cNvSpPr txBox="1"/>
          <p:nvPr/>
        </p:nvSpPr>
        <p:spPr>
          <a:xfrm>
            <a:off x="279058" y="2801883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D512794-C487-4E82-8BA4-1C5277571771}"/>
              </a:ext>
            </a:extLst>
          </p:cNvPr>
          <p:cNvSpPr txBox="1"/>
          <p:nvPr/>
        </p:nvSpPr>
        <p:spPr>
          <a:xfrm>
            <a:off x="387041" y="3211339"/>
            <a:ext cx="418495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PRECIO_MUJER = PRECIO_HOMBRE / 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sex = input('Digite el sexo (F/M): ')</a:t>
            </a:r>
          </a:p>
          <a:p>
            <a:r>
              <a:rPr lang="es-MX" sz="1200" dirty="0">
                <a:solidFill>
                  <a:srgbClr val="0070C0"/>
                </a:solidFill>
                <a:latin typeface="Consolas" panose="020B0609020204030204" pitchFamily="49" charset="0"/>
              </a:rPr>
              <a:t>if ((sex == 'F') or (sex == 'f')):</a:t>
            </a:r>
          </a:p>
          <a:p>
            <a:r>
              <a:rPr lang="es-MX" sz="1200" dirty="0">
                <a:solidFill>
                  <a:srgbClr val="0070C0"/>
                </a:solidFill>
                <a:latin typeface="Consolas" panose="020B0609020204030204" pitchFamily="49" charset="0"/>
              </a:rPr>
              <a:t>  valor_entrada = PRECIO_MUJER</a:t>
            </a:r>
          </a:p>
          <a:p>
            <a:r>
              <a:rPr lang="es-MX" sz="1200" dirty="0">
                <a:solidFill>
                  <a:srgbClr val="0070C0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if ((sex == 'M') or (sex == 'm')):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valor_entrada = PRECIO_HOMBRE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print</a:t>
            </a:r>
            <a:r>
              <a:rPr lang="es-MX" sz="1200" dirty="0">
                <a:latin typeface="Consolas" panose="020B0609020204030204" pitchFamily="49" charset="0"/>
              </a:rPr>
              <a:t>(f'Valor de la entrada: ${valor_entrada}')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F4A45C-0DCE-4349-A510-468D59E51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760" y="1207056"/>
            <a:ext cx="3937728" cy="404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84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2904" y="260648"/>
            <a:ext cx="4958298" cy="710952"/>
          </a:xfrm>
        </p:spPr>
        <p:txBody>
          <a:bodyPr>
            <a:normAutofit/>
          </a:bodyPr>
          <a:lstStyle/>
          <a:p>
            <a:r>
              <a:rPr lang="es-CO" dirty="0"/>
              <a:t>Alternativa múltiple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ADE36F-3836-40FC-AAE5-6014F5E19BE2}"/>
              </a:ext>
            </a:extLst>
          </p:cNvPr>
          <p:cNvSpPr txBox="1"/>
          <p:nvPr/>
        </p:nvSpPr>
        <p:spPr>
          <a:xfrm>
            <a:off x="245481" y="2420888"/>
            <a:ext cx="335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914CF4-F8A8-42CA-85A0-78CC515CC447}"/>
              </a:ext>
            </a:extLst>
          </p:cNvPr>
          <p:cNvSpPr txBox="1"/>
          <p:nvPr/>
        </p:nvSpPr>
        <p:spPr>
          <a:xfrm>
            <a:off x="279058" y="2843624"/>
            <a:ext cx="418495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PRECIO_MUJER = PRECIO_HOMBRE/2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Leer(sex)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 ((sex == 'F') or (sex == 'f')) Entonces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valor_entrada = PRECIO_MUJER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Si ((sex == 'M') or (sex == 'm')) Entonces    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valor_entrada = PRECIO_HOMBRE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Sino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Escribir('Importe: Cobro normal')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Escribir(valor_entrada)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713ACA-6D2A-47C6-AEEC-47D1FCD72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00" y="1663700"/>
            <a:ext cx="4509470" cy="421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33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2904" y="260648"/>
            <a:ext cx="4958298" cy="710952"/>
          </a:xfrm>
        </p:spPr>
        <p:txBody>
          <a:bodyPr>
            <a:normAutofit/>
          </a:bodyPr>
          <a:lstStyle/>
          <a:p>
            <a:r>
              <a:rPr lang="es-CO" dirty="0"/>
              <a:t>Alternativa múltiple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ADE36F-3836-40FC-AAE5-6014F5E19BE2}"/>
              </a:ext>
            </a:extLst>
          </p:cNvPr>
          <p:cNvSpPr txBox="1"/>
          <p:nvPr/>
        </p:nvSpPr>
        <p:spPr>
          <a:xfrm>
            <a:off x="245481" y="2420888"/>
            <a:ext cx="335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914CF4-F8A8-42CA-85A0-78CC515CC447}"/>
              </a:ext>
            </a:extLst>
          </p:cNvPr>
          <p:cNvSpPr txBox="1"/>
          <p:nvPr/>
        </p:nvSpPr>
        <p:spPr>
          <a:xfrm>
            <a:off x="279058" y="2843624"/>
            <a:ext cx="4184959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PRECIO_MUJER = PRECIO_HOMBRE / 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sex = input('Digite el sexo (F/M): ')</a:t>
            </a:r>
          </a:p>
          <a:p>
            <a:r>
              <a:rPr lang="es-MX" sz="1200" dirty="0">
                <a:solidFill>
                  <a:srgbClr val="0070C0"/>
                </a:solidFill>
                <a:latin typeface="Consolas" panose="020B0609020204030204" pitchFamily="49" charset="0"/>
              </a:rPr>
              <a:t>if ((sex == 'F') or (sex == 'f')):</a:t>
            </a:r>
          </a:p>
          <a:p>
            <a:r>
              <a:rPr lang="es-MX" sz="1200" dirty="0">
                <a:solidFill>
                  <a:srgbClr val="0070C0"/>
                </a:solidFill>
                <a:latin typeface="Consolas" panose="020B0609020204030204" pitchFamily="49" charset="0"/>
              </a:rPr>
              <a:t>  valor_entrada = PRECIO_MUJER</a:t>
            </a:r>
          </a:p>
          <a:p>
            <a:r>
              <a:rPr lang="es-MX" sz="1200" dirty="0">
                <a:solidFill>
                  <a:srgbClr val="0070C0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if ((sex == 'M') or (sex == 'm')):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valor_entrada = PRECIO_HOMBRE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else: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('Importe: Cobro normal')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print</a:t>
            </a:r>
            <a:r>
              <a:rPr lang="es-MX" sz="1200" dirty="0">
                <a:latin typeface="Consolas" panose="020B0609020204030204" pitchFamily="49" charset="0"/>
              </a:rPr>
              <a:t>(</a:t>
            </a:r>
            <a:r>
              <a:rPr lang="es-MX" sz="1200" dirty="0" err="1">
                <a:latin typeface="Consolas" panose="020B0609020204030204" pitchFamily="49" charset="0"/>
              </a:rPr>
              <a:t>f'Valor</a:t>
            </a:r>
            <a:r>
              <a:rPr lang="es-MX" sz="1200" dirty="0">
                <a:latin typeface="Consolas" panose="020B0609020204030204" pitchFamily="49" charset="0"/>
              </a:rPr>
              <a:t> de la entrada: ${valor_entrada}')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713ACA-6D2A-47C6-AEEC-47D1FCD72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00" y="1663700"/>
            <a:ext cx="4509470" cy="421357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6C3E0F6-B010-472A-8730-E951A87D8D6F}"/>
              </a:ext>
            </a:extLst>
          </p:cNvPr>
          <p:cNvSpPr txBox="1"/>
          <p:nvPr/>
        </p:nvSpPr>
        <p:spPr>
          <a:xfrm>
            <a:off x="1706627" y="5007992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3"/>
              </a:rPr>
              <a:t>Link de ejecución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045714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14015" y="439063"/>
            <a:ext cx="4511597" cy="568529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</a:t>
            </a:r>
          </a:p>
        </p:txBody>
      </p:sp>
      <p:graphicFrame>
        <p:nvGraphicFramePr>
          <p:cNvPr id="16" name="1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770268"/>
              </p:ext>
            </p:extLst>
          </p:nvPr>
        </p:nvGraphicFramePr>
        <p:xfrm>
          <a:off x="827584" y="1268760"/>
          <a:ext cx="3086468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7195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valor_entrata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29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"M"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"F"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"f"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"x"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10000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5000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10000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0B72405-942D-47B0-8244-231B7F81A0B0}"/>
              </a:ext>
            </a:extLst>
          </p:cNvPr>
          <p:cNvSpPr txBox="1"/>
          <p:nvPr/>
        </p:nvSpPr>
        <p:spPr>
          <a:xfrm>
            <a:off x="4558680" y="1969800"/>
            <a:ext cx="418495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PRECIO_HOMBRE = 10000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PRECIO_MUJER = PRECIO_HOMBRE/2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Leer(sex)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 ((sex == 'F') or (sex == 'f')) Entonces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valor_entrada = PRECIO_MUJER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Si ((sex == 'M') or (sex == 'm')) Entonces    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valor_entrada = PRECIO_HOMBRE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Sino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Escribir('Importe: Cobro normal')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Escribir(valor_entrada)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graphicFrame>
        <p:nvGraphicFramePr>
          <p:cNvPr id="9" name="8 Tabla">
            <a:extLst>
              <a:ext uri="{FF2B5EF4-FFF2-40B4-BE49-F238E27FC236}">
                <a16:creationId xmlns:a16="http://schemas.microsoft.com/office/drawing/2014/main" id="{BB699968-F231-4FAD-AB24-22202612A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699935"/>
              </p:ext>
            </p:extLst>
          </p:nvPr>
        </p:nvGraphicFramePr>
        <p:xfrm>
          <a:off x="1113519" y="3212976"/>
          <a:ext cx="2514598" cy="21463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7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val_entrada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413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4450226" cy="710952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853506"/>
            <a:ext cx="839357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Ejemplo 2: </a:t>
            </a:r>
            <a:endParaRPr lang="es-CO" sz="2200" dirty="0"/>
          </a:p>
          <a:p>
            <a:r>
              <a:rPr lang="es-CO" sz="2000" dirty="0"/>
              <a:t>En una empresa le dan a los empleados un subsidio de transporte si el sueldo base de estos es menor que el salario mínimo, este subsidio es el 30% del sueldo base. Hacer un algoritmo que calcule el salario neto de un empleado (sueldo base mas prestaciones si el empleado tiene derecho a estas). Los datos de entrada son la cedula y el sueldo base.</a:t>
            </a:r>
          </a:p>
          <a:p>
            <a:endParaRPr lang="es-CO" sz="2000" b="1" dirty="0"/>
          </a:p>
          <a:p>
            <a:r>
              <a:rPr lang="es-CO" sz="2000" b="1" dirty="0"/>
              <a:t>Nota</a:t>
            </a:r>
            <a:r>
              <a:rPr lang="es-CO" sz="2000" dirty="0"/>
              <a:t>: Resuelva el bug del programa.</a:t>
            </a:r>
            <a:endParaRPr lang="es-CO" sz="2000" b="1" dirty="0"/>
          </a:p>
        </p:txBody>
      </p:sp>
      <p:pic>
        <p:nvPicPr>
          <p:cNvPr id="15362" name="Picture 2" descr="http://www.hungerculture.com/wp-content/uploads/2014/02/simpsons-visa-copa-mundo-futbo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5" y="4168346"/>
            <a:ext cx="3301825" cy="2199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103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19068" y="188640"/>
            <a:ext cx="4376968" cy="53328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730F102-247A-4813-B6F0-6F9379C78991}"/>
              </a:ext>
            </a:extLst>
          </p:cNvPr>
          <p:cNvSpPr txBox="1"/>
          <p:nvPr/>
        </p:nvSpPr>
        <p:spPr>
          <a:xfrm>
            <a:off x="235216" y="2571810"/>
            <a:ext cx="404932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SALARIO_MIN = 2000000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Leer(ID)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Leer(sal_base)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Si (sal_base &lt; 0) Entonces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Escribir('ERROR: Salario no valido')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&lt; SALARIO_MIN) Entonces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sal_neto =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+ 0.3*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endParaRPr lang="es-MX" sz="1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Sino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sal_neto =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endParaRPr lang="es-MX" sz="1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Escribir(ID, sal_neto)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6A0177D-132B-4E54-B277-B58115171191}"/>
              </a:ext>
            </a:extLst>
          </p:cNvPr>
          <p:cNvSpPr txBox="1"/>
          <p:nvPr/>
        </p:nvSpPr>
        <p:spPr>
          <a:xfrm>
            <a:off x="200440" y="2092786"/>
            <a:ext cx="335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Pseudocódigo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3F25F3-C2B8-400A-A896-E39EFB80A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628800"/>
            <a:ext cx="4733244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022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19068" y="188640"/>
            <a:ext cx="4376968" cy="53328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EB46DA0-4F51-4B8C-933C-B01FC5FF0D7D}"/>
              </a:ext>
            </a:extLst>
          </p:cNvPr>
          <p:cNvSpPr txBox="1"/>
          <p:nvPr/>
        </p:nvSpPr>
        <p:spPr>
          <a:xfrm>
            <a:off x="262860" y="1844824"/>
            <a:ext cx="4376968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SALARIO_MIN = 2000000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ID = input("Digite la cedula: 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sal_base = int(input("Digite el salario base: "))</a:t>
            </a:r>
          </a:p>
          <a:p>
            <a:r>
              <a:rPr lang="es-CO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CO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(sal_base &lt; 0):</a:t>
            </a:r>
          </a:p>
          <a:p>
            <a:r>
              <a:rPr lang="es-CO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CO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CO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('ERROR: Salario no valido')</a:t>
            </a:r>
          </a:p>
          <a:p>
            <a:r>
              <a:rPr lang="es-CO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CO" sz="12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CO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if</a:t>
            </a:r>
            <a:r>
              <a:rPr lang="es-CO" sz="1200" dirty="0">
                <a:solidFill>
                  <a:srgbClr val="C00000"/>
                </a:solidFill>
                <a:latin typeface="Consolas" panose="020B0609020204030204" pitchFamily="49" charset="0"/>
              </a:rPr>
              <a:t>(sal_base &lt; SALARIO_MIN):</a:t>
            </a:r>
          </a:p>
          <a:p>
            <a:r>
              <a:rPr lang="es-CO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sal_neto = sal_base + 0.3*sal_base </a:t>
            </a:r>
          </a:p>
          <a:p>
            <a:r>
              <a:rPr lang="es-CO" sz="1200" dirty="0">
                <a:solidFill>
                  <a:srgbClr val="C00000"/>
                </a:solidFill>
                <a:latin typeface="Consolas" panose="020B0609020204030204" pitchFamily="49" charset="0"/>
              </a:rPr>
              <a:t>  </a:t>
            </a:r>
            <a:r>
              <a:rPr lang="es-CO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else</a:t>
            </a:r>
            <a:r>
              <a:rPr lang="es-CO" sz="1200" dirty="0">
                <a:solidFill>
                  <a:srgbClr val="C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sal_neto = sal_base</a:t>
            </a:r>
          </a:p>
          <a:p>
            <a:r>
              <a:rPr lang="es-CO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CO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CO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(ID + ' le corresponde como pago $', \</a:t>
            </a:r>
          </a:p>
          <a:p>
            <a:r>
              <a:rPr lang="es-CO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    sal_neto, </a:t>
            </a:r>
            <a:r>
              <a:rPr lang="es-CO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end</a:t>
            </a:r>
            <a:r>
              <a:rPr lang="es-CO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= "") </a:t>
            </a:r>
          </a:p>
          <a:p>
            <a:endParaRPr lang="es-CO" sz="12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EC71DC3-2147-4F3E-8D06-CC40DAA61A13}"/>
              </a:ext>
            </a:extLst>
          </p:cNvPr>
          <p:cNvSpPr txBox="1"/>
          <p:nvPr/>
        </p:nvSpPr>
        <p:spPr>
          <a:xfrm>
            <a:off x="186564" y="1419066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Python</a:t>
            </a:r>
          </a:p>
        </p:txBody>
      </p:sp>
      <p:sp>
        <p:nvSpPr>
          <p:cNvPr id="13" name="CuadroTexto 12">
            <a:hlinkClick r:id="rId2"/>
            <a:extLst>
              <a:ext uri="{FF2B5EF4-FFF2-40B4-BE49-F238E27FC236}">
                <a16:creationId xmlns:a16="http://schemas.microsoft.com/office/drawing/2014/main" id="{B3821E43-3332-4048-AF3C-2BBBFEC36CB3}"/>
              </a:ext>
            </a:extLst>
          </p:cNvPr>
          <p:cNvSpPr txBox="1"/>
          <p:nvPr/>
        </p:nvSpPr>
        <p:spPr>
          <a:xfrm>
            <a:off x="1634659" y="4365104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hlinkClick r:id="rId3"/>
              </a:rPr>
              <a:t>Link de ejecución</a:t>
            </a:r>
            <a:endParaRPr lang="es-CO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45383FB-C056-428F-85C4-1963063FD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760" y="1340768"/>
            <a:ext cx="4363459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60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34950" y="379145"/>
            <a:ext cx="5370693" cy="53328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</a:t>
            </a:r>
          </a:p>
        </p:txBody>
      </p:sp>
      <p:graphicFrame>
        <p:nvGraphicFramePr>
          <p:cNvPr id="13" name="8 Tabla">
            <a:extLst>
              <a:ext uri="{FF2B5EF4-FFF2-40B4-BE49-F238E27FC236}">
                <a16:creationId xmlns:a16="http://schemas.microsoft.com/office/drawing/2014/main" id="{2FB72256-919E-4D04-9A12-A3F523377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1182"/>
              </p:ext>
            </p:extLst>
          </p:nvPr>
        </p:nvGraphicFramePr>
        <p:xfrm>
          <a:off x="304657" y="3396614"/>
          <a:ext cx="4217988" cy="19025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8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sal_base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subsidio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sal_neto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5 Rectángulo">
            <a:extLst>
              <a:ext uri="{FF2B5EF4-FFF2-40B4-BE49-F238E27FC236}">
                <a16:creationId xmlns:a16="http://schemas.microsoft.com/office/drawing/2014/main" id="{A531B423-1658-4F79-9F17-C30A61B661C4}"/>
              </a:ext>
            </a:extLst>
          </p:cNvPr>
          <p:cNvSpPr/>
          <p:nvPr/>
        </p:nvSpPr>
        <p:spPr>
          <a:xfrm>
            <a:off x="334209" y="2690978"/>
            <a:ext cx="24648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Prueba de escritorio: </a:t>
            </a:r>
            <a:endParaRPr lang="es-CO" sz="2000" dirty="0"/>
          </a:p>
        </p:txBody>
      </p:sp>
      <p:sp>
        <p:nvSpPr>
          <p:cNvPr id="16" name="5 Rectángulo">
            <a:extLst>
              <a:ext uri="{FF2B5EF4-FFF2-40B4-BE49-F238E27FC236}">
                <a16:creationId xmlns:a16="http://schemas.microsoft.com/office/drawing/2014/main" id="{C3FBFC8C-F1EF-4C4B-8038-32E2C48EFDDB}"/>
              </a:ext>
            </a:extLst>
          </p:cNvPr>
          <p:cNvSpPr/>
          <p:nvPr/>
        </p:nvSpPr>
        <p:spPr>
          <a:xfrm>
            <a:off x="363178" y="903140"/>
            <a:ext cx="2497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 esperados</a:t>
            </a:r>
            <a:endParaRPr lang="es-CO" sz="2000" dirty="0"/>
          </a:p>
        </p:txBody>
      </p:sp>
      <p:graphicFrame>
        <p:nvGraphicFramePr>
          <p:cNvPr id="10" name="15 Tabla">
            <a:extLst>
              <a:ext uri="{FF2B5EF4-FFF2-40B4-BE49-F238E27FC236}">
                <a16:creationId xmlns:a16="http://schemas.microsoft.com/office/drawing/2014/main" id="{C8B68A85-E8E2-45DC-B320-94CF6467A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057702"/>
              </p:ext>
            </p:extLst>
          </p:nvPr>
        </p:nvGraphicFramePr>
        <p:xfrm>
          <a:off x="827584" y="1402343"/>
          <a:ext cx="3376923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5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862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sal_base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 err="1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sal_neto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61"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"0000"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"0001"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"0002"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1000000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-3000000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1300000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3000000</a:t>
                      </a:r>
                    </a:p>
                    <a:p>
                      <a:pPr algn="ctr"/>
                      <a:r>
                        <a:rPr lang="es-CO" sz="16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----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76159C2B-1FBC-4B13-816A-90218440BAD4}"/>
              </a:ext>
            </a:extLst>
          </p:cNvPr>
          <p:cNvSpPr txBox="1"/>
          <p:nvPr/>
        </p:nvSpPr>
        <p:spPr>
          <a:xfrm>
            <a:off x="4771144" y="2204864"/>
            <a:ext cx="404932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SALARIO_MIN = 2000000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Leer(ID)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Leer(sal_base)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Si (sal_base &lt; 0) Entonces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Escribir('ERROR: Salario no valido')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&lt; SALARIO_MIN) Entonces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sal_neto =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+ 0.3*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endParaRPr lang="es-MX" sz="1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Sino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sal_neto =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endParaRPr lang="es-MX" sz="1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Escribir(ID, sal_neto)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546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2" y="134971"/>
            <a:ext cx="7617582" cy="773749"/>
          </a:xfrm>
        </p:spPr>
        <p:txBody>
          <a:bodyPr/>
          <a:lstStyle/>
          <a:p>
            <a:r>
              <a:rPr lang="en-US" dirty="0"/>
              <a:t>Ejemplos de repaso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980728"/>
            <a:ext cx="8424936" cy="5092607"/>
          </a:xfrm>
        </p:spPr>
        <p:txBody>
          <a:bodyPr>
            <a:normAutofit/>
          </a:bodyPr>
          <a:lstStyle/>
          <a:p>
            <a:pPr marL="514350" indent="-457200">
              <a:buFont typeface="+mj-lt"/>
              <a:buAutoNum type="arabicPeriod" startAt="3"/>
            </a:pPr>
            <a:r>
              <a:rPr lang="es-MX" sz="2000" dirty="0"/>
              <a:t>En el bachillerato de Springfield las calificaciones se suelen calcular de acuerdo al siguiente cuadro:</a:t>
            </a:r>
          </a:p>
          <a:p>
            <a:pPr marL="514350" indent="-457200">
              <a:buFont typeface="+mj-lt"/>
              <a:buAutoNum type="arabicPeriod" startAt="3"/>
            </a:pPr>
            <a:endParaRPr lang="es-MX" sz="2000" dirty="0"/>
          </a:p>
          <a:p>
            <a:pPr marL="514350" indent="-457200">
              <a:buFont typeface="+mj-lt"/>
              <a:buAutoNum type="arabicPeriod" startAt="3"/>
            </a:pPr>
            <a:endParaRPr lang="es-MX" sz="2000" dirty="0"/>
          </a:p>
          <a:p>
            <a:pPr marL="514350" indent="-457200">
              <a:buFont typeface="+mj-lt"/>
              <a:buAutoNum type="arabicPeriod" startAt="3"/>
            </a:pPr>
            <a:endParaRPr lang="es-MX" sz="2000" dirty="0"/>
          </a:p>
          <a:p>
            <a:pPr marL="514350" indent="-457200">
              <a:buFont typeface="+mj-lt"/>
              <a:buAutoNum type="arabicPeriod" startAt="3"/>
            </a:pPr>
            <a:endParaRPr lang="es-MX" sz="2000" dirty="0"/>
          </a:p>
          <a:p>
            <a:pPr marL="514350" indent="-457200">
              <a:buFont typeface="+mj-lt"/>
              <a:buAutoNum type="arabicPeriod" startAt="3"/>
            </a:pPr>
            <a:endParaRPr lang="es-MX" sz="2000" dirty="0"/>
          </a:p>
          <a:p>
            <a:pPr marL="57150" indent="0">
              <a:buNone/>
            </a:pPr>
            <a:endParaRPr lang="es-CO" sz="2000" dirty="0"/>
          </a:p>
          <a:p>
            <a:pPr marL="57150" indent="0">
              <a:buNone/>
            </a:pPr>
            <a:endParaRPr lang="es-CO" sz="2000" dirty="0"/>
          </a:p>
          <a:p>
            <a:pPr marL="514350" lvl="1" indent="0">
              <a:buNone/>
            </a:pPr>
            <a:endParaRPr lang="es-CO" sz="2000" dirty="0"/>
          </a:p>
          <a:p>
            <a:pPr marL="514350" lvl="1" indent="0">
              <a:buNone/>
            </a:pPr>
            <a:endParaRPr lang="es-CO" sz="2000" dirty="0"/>
          </a:p>
          <a:p>
            <a:pPr marL="514350" lvl="1" indent="0">
              <a:buNone/>
            </a:pPr>
            <a:r>
              <a:rPr lang="es-CO" sz="2000" dirty="0"/>
              <a:t>Utilizando esta información, escribir un algoritmo que acepte una calificación numérica del estudiante [0,100], convierta esta calificación a su equivalente letra y visualice la calificación correspondiente en letra. </a:t>
            </a:r>
            <a:endParaRPr lang="es-MX" sz="2000" dirty="0"/>
          </a:p>
          <a:p>
            <a:pPr marL="514350" indent="-457200">
              <a:buFont typeface="+mj-lt"/>
              <a:buAutoNum type="arabicPeriod"/>
            </a:pPr>
            <a:endParaRPr lang="es-CO" sz="2000" dirty="0"/>
          </a:p>
          <a:p>
            <a:pPr marL="514350" indent="-457200">
              <a:buFont typeface="+mj-lt"/>
              <a:buAutoNum type="arabicPeriod"/>
            </a:pPr>
            <a:endParaRPr lang="es-MX" sz="2200" i="1" dirty="0"/>
          </a:p>
        </p:txBody>
      </p:sp>
      <p:graphicFrame>
        <p:nvGraphicFramePr>
          <p:cNvPr id="4" name="5 Tabla">
            <a:extLst>
              <a:ext uri="{FF2B5EF4-FFF2-40B4-BE49-F238E27FC236}">
                <a16:creationId xmlns:a16="http://schemas.microsoft.com/office/drawing/2014/main" id="{0DBAF84F-B231-4B99-A6FF-6F1F39D0A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264066"/>
              </p:ext>
            </p:extLst>
          </p:nvPr>
        </p:nvGraphicFramePr>
        <p:xfrm>
          <a:off x="827584" y="1852072"/>
          <a:ext cx="4392488" cy="30170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947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+mn-lt"/>
                        </a:rPr>
                        <a:t>Grado numérico</a:t>
                      </a:r>
                      <a:endParaRPr lang="es-ES" sz="1800" b="1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latin typeface="+mn-lt"/>
                        </a:rPr>
                        <a:t>Grado en letra</a:t>
                      </a:r>
                      <a:endParaRPr lang="es-ES" sz="1800" b="1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947"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Grado mayor o igual a 90</a:t>
                      </a:r>
                      <a:endParaRPr lang="es-ES" sz="1800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+mn-lt"/>
                        </a:rPr>
                        <a:t>A</a:t>
                      </a:r>
                      <a:endParaRPr lang="es-ES" sz="1800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>
                          <a:latin typeface="+mn-lt"/>
                        </a:rPr>
                        <a:t>Grado menor que 90 pero mayor o igual a 80</a:t>
                      </a:r>
                      <a:endParaRPr lang="es-ES" sz="1800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+mn-lt"/>
                        </a:rPr>
                        <a:t>B</a:t>
                      </a:r>
                      <a:endParaRPr lang="es-ES" sz="1800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9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>
                          <a:latin typeface="+mn-lt"/>
                        </a:rPr>
                        <a:t>Grado menor que 80 pero mayor o igual a 70</a:t>
                      </a:r>
                      <a:endParaRPr lang="es-ES" sz="1800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+mn-lt"/>
                        </a:rPr>
                        <a:t>C</a:t>
                      </a:r>
                      <a:endParaRPr lang="es-ES" sz="1800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9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>
                          <a:latin typeface="+mn-lt"/>
                        </a:rPr>
                        <a:t>Grado menor que 70 pero mayor o igual a 60</a:t>
                      </a:r>
                      <a:endParaRPr lang="es-ES" sz="1800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+mn-lt"/>
                        </a:rPr>
                        <a:t>D</a:t>
                      </a:r>
                      <a:endParaRPr lang="es-ES" sz="1800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>
                          <a:latin typeface="+mn-lt"/>
                        </a:rPr>
                        <a:t>Grado</a:t>
                      </a:r>
                      <a:r>
                        <a:rPr lang="es-CO" sz="1800" baseline="0" dirty="0">
                          <a:latin typeface="+mn-lt"/>
                        </a:rPr>
                        <a:t> menor que 60</a:t>
                      </a:r>
                      <a:endParaRPr lang="es-ES" sz="1800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+mn-lt"/>
                        </a:rPr>
                        <a:t>E</a:t>
                      </a:r>
                      <a:endParaRPr lang="es-ES" sz="1800" dirty="0">
                        <a:latin typeface="+mn-lt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31">
            <a:extLst>
              <a:ext uri="{FF2B5EF4-FFF2-40B4-BE49-F238E27FC236}">
                <a16:creationId xmlns:a16="http://schemas.microsoft.com/office/drawing/2014/main" id="{247B0B5F-59B3-4F33-A5EE-01D4E6DC7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132856"/>
            <a:ext cx="3289226" cy="2466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3958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 CuadroTexto"/>
          <p:cNvSpPr txBox="1"/>
          <p:nvPr/>
        </p:nvSpPr>
        <p:spPr>
          <a:xfrm>
            <a:off x="275677" y="2878526"/>
            <a:ext cx="393628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Datos de entrada: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Nota numérica</a:t>
            </a:r>
            <a:r>
              <a:rPr lang="es-CO" sz="1600" dirty="0"/>
              <a:t> [0,100]</a:t>
            </a:r>
          </a:p>
          <a:p>
            <a:r>
              <a:rPr lang="es-CO" b="1" dirty="0"/>
              <a:t>Datos de salida: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Nota letra</a:t>
            </a:r>
            <a:r>
              <a:rPr lang="es-CO" sz="1600" dirty="0"/>
              <a:t>: A, B, C, D, E</a:t>
            </a:r>
          </a:p>
          <a:p>
            <a:r>
              <a:rPr lang="es-CO" b="1" dirty="0"/>
              <a:t>Definición de 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Entrada/salida</a:t>
            </a:r>
            <a:r>
              <a:rPr lang="es-CO" sz="1600" dirty="0"/>
              <a:t>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 err="1">
                <a:latin typeface="Consolas" panose="020B0609020204030204" pitchFamily="49" charset="0"/>
              </a:rPr>
              <a:t>nota_num</a:t>
            </a:r>
            <a:r>
              <a:rPr lang="es-CO" sz="1600" b="1" dirty="0"/>
              <a:t>:</a:t>
            </a:r>
            <a:r>
              <a:rPr lang="es-CO" sz="1600" dirty="0"/>
              <a:t> Nota numérica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 err="1">
                <a:latin typeface="Consolas" panose="020B0609020204030204" pitchFamily="49" charset="0"/>
              </a:rPr>
              <a:t>nota_letra</a:t>
            </a:r>
            <a:r>
              <a:rPr lang="es-CO" sz="1600" b="1" dirty="0"/>
              <a:t>:</a:t>
            </a:r>
            <a:r>
              <a:rPr lang="es-CO" sz="1600" dirty="0"/>
              <a:t> Nota en letra</a:t>
            </a:r>
          </a:p>
        </p:txBody>
      </p:sp>
      <p:sp>
        <p:nvSpPr>
          <p:cNvPr id="2" name="1 Rectángulo"/>
          <p:cNvSpPr/>
          <p:nvPr/>
        </p:nvSpPr>
        <p:spPr>
          <a:xfrm>
            <a:off x="4427984" y="2852936"/>
            <a:ext cx="432029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Proceso: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Verificar el rango al cual pertenece la nota numérica ingresada y de acuerdo a este obtener la correspondiente nota en letras: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O" sz="1600" dirty="0">
                <a:latin typeface="Consolas" panose="020B0609020204030204" pitchFamily="49" charset="0"/>
              </a:rPr>
              <a:t>90 &lt;= nota_num </a:t>
            </a:r>
            <a:r>
              <a:rPr lang="es-CO" sz="1600" dirty="0">
                <a:latin typeface="Consolas" panose="020B0609020204030204" pitchFamily="49" charset="0"/>
                <a:sym typeface="Wingdings" panose="05000000000000000000" pitchFamily="2" charset="2"/>
              </a:rPr>
              <a:t> 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O" sz="1600" dirty="0">
                <a:latin typeface="Consolas" panose="020B0609020204030204" pitchFamily="49" charset="0"/>
              </a:rPr>
              <a:t>80 &lt;= nota_num &lt; 90 </a:t>
            </a:r>
            <a:r>
              <a:rPr lang="es-CO" sz="1600" dirty="0">
                <a:latin typeface="Consolas" panose="020B0609020204030204" pitchFamily="49" charset="0"/>
                <a:sym typeface="Wingdings" panose="05000000000000000000" pitchFamily="2" charset="2"/>
              </a:rPr>
              <a:t> B</a:t>
            </a:r>
            <a:endParaRPr lang="es-CO" sz="1600" dirty="0">
              <a:latin typeface="Consolas" panose="020B06090202040302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O" sz="1600" dirty="0">
                <a:latin typeface="Consolas" panose="020B0609020204030204" pitchFamily="49" charset="0"/>
              </a:rPr>
              <a:t>70 &lt;= nota_num &lt; 80 </a:t>
            </a:r>
            <a:r>
              <a:rPr lang="es-CO" sz="1600" dirty="0">
                <a:latin typeface="Consolas" panose="020B0609020204030204" pitchFamily="49" charset="0"/>
                <a:sym typeface="Wingdings" panose="05000000000000000000" pitchFamily="2" charset="2"/>
              </a:rPr>
              <a:t> C</a:t>
            </a:r>
            <a:endParaRPr lang="es-CO" sz="1600" dirty="0">
              <a:latin typeface="Consolas" panose="020B06090202040302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O" sz="1600" dirty="0">
                <a:latin typeface="Consolas" panose="020B0609020204030204" pitchFamily="49" charset="0"/>
              </a:rPr>
              <a:t>60 &lt;= nota_num &lt; 70 </a:t>
            </a:r>
            <a:r>
              <a:rPr lang="es-CO" sz="1600" dirty="0">
                <a:latin typeface="Consolas" panose="020B0609020204030204" pitchFamily="49" charset="0"/>
                <a:sym typeface="Wingdings" panose="05000000000000000000" pitchFamily="2" charset="2"/>
              </a:rPr>
              <a:t> 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O" sz="1600" dirty="0">
                <a:latin typeface="Consolas" panose="020B0609020204030204" pitchFamily="49" charset="0"/>
                <a:sym typeface="Wingdings" panose="05000000000000000000" pitchFamily="2" charset="2"/>
              </a:rPr>
              <a:t>nota_num &lt; 60  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>
                <a:sym typeface="Wingdings" panose="05000000000000000000" pitchFamily="2" charset="2"/>
              </a:rPr>
              <a:t>En caso de que el rango sea invalido (menor que 0 o mayor que 100), colocar un mensaje de error.</a:t>
            </a:r>
            <a:endParaRPr lang="es-CO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D65A709C-5F40-4466-88F7-F4A1954F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3 – Solución forma 1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C70A577E-9853-4B84-AD37-BE567CE3DA33}"/>
              </a:ext>
            </a:extLst>
          </p:cNvPr>
          <p:cNvGrpSpPr/>
          <p:nvPr/>
        </p:nvGrpSpPr>
        <p:grpSpPr>
          <a:xfrm>
            <a:off x="313320" y="1319488"/>
            <a:ext cx="8202163" cy="1057667"/>
            <a:chOff x="275676" y="1029668"/>
            <a:chExt cx="8202163" cy="1057667"/>
          </a:xfrm>
        </p:grpSpPr>
        <p:sp>
          <p:nvSpPr>
            <p:cNvPr id="11" name="1 Rectángulo">
              <a:extLst>
                <a:ext uri="{FF2B5EF4-FFF2-40B4-BE49-F238E27FC236}">
                  <a16:creationId xmlns:a16="http://schemas.microsoft.com/office/drawing/2014/main" id="{D7BBE0CB-8262-4958-AAB2-37DCACC5802A}"/>
                </a:ext>
              </a:extLst>
            </p:cNvPr>
            <p:cNvSpPr/>
            <p:nvPr/>
          </p:nvSpPr>
          <p:spPr>
            <a:xfrm>
              <a:off x="573787" y="1810336"/>
              <a:ext cx="86433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nota_num</a:t>
              </a:r>
            </a:p>
          </p:txBody>
        </p:sp>
        <p:grpSp>
          <p:nvGrpSpPr>
            <p:cNvPr id="12" name="5 Grupo">
              <a:extLst>
                <a:ext uri="{FF2B5EF4-FFF2-40B4-BE49-F238E27FC236}">
                  <a16:creationId xmlns:a16="http://schemas.microsoft.com/office/drawing/2014/main" id="{9728A2ED-6E73-45FB-815D-CA7BF6F660B7}"/>
                </a:ext>
              </a:extLst>
            </p:cNvPr>
            <p:cNvGrpSpPr/>
            <p:nvPr/>
          </p:nvGrpSpPr>
          <p:grpSpPr>
            <a:xfrm>
              <a:off x="275676" y="1029668"/>
              <a:ext cx="8202163" cy="783771"/>
              <a:chOff x="518399" y="1739458"/>
              <a:chExt cx="8202163" cy="783771"/>
            </a:xfrm>
          </p:grpSpPr>
          <p:sp>
            <p:nvSpPr>
              <p:cNvPr id="16" name="10 Rectángulo">
                <a:extLst>
                  <a:ext uri="{FF2B5EF4-FFF2-40B4-BE49-F238E27FC236}">
                    <a16:creationId xmlns:a16="http://schemas.microsoft.com/office/drawing/2014/main" id="{D21F1B68-C252-431D-AD8D-EE6C5A490190}"/>
                  </a:ext>
                </a:extLst>
              </p:cNvPr>
              <p:cNvSpPr/>
              <p:nvPr/>
            </p:nvSpPr>
            <p:spPr>
              <a:xfrm>
                <a:off x="518399" y="1879706"/>
                <a:ext cx="1345763" cy="498763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</a:rPr>
                  <a:t>Inputs</a:t>
                </a:r>
              </a:p>
            </p:txBody>
          </p:sp>
          <p:sp>
            <p:nvSpPr>
              <p:cNvPr id="17" name="11 Rectángulo">
                <a:extLst>
                  <a:ext uri="{FF2B5EF4-FFF2-40B4-BE49-F238E27FC236}">
                    <a16:creationId xmlns:a16="http://schemas.microsoft.com/office/drawing/2014/main" id="{F2E7D238-40AE-4C69-BC39-5A6FA5D7AC01}"/>
                  </a:ext>
                </a:extLst>
              </p:cNvPr>
              <p:cNvSpPr/>
              <p:nvPr/>
            </p:nvSpPr>
            <p:spPr>
              <a:xfrm>
                <a:off x="3563888" y="1739458"/>
                <a:ext cx="2104858" cy="78377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/>
                  <a:t>Process</a:t>
                </a:r>
              </a:p>
            </p:txBody>
          </p:sp>
          <p:sp>
            <p:nvSpPr>
              <p:cNvPr id="18" name="13 Rectángulo">
                <a:extLst>
                  <a:ext uri="{FF2B5EF4-FFF2-40B4-BE49-F238E27FC236}">
                    <a16:creationId xmlns:a16="http://schemas.microsoft.com/office/drawing/2014/main" id="{781C19BC-C6A5-4120-ABBF-6D0788F30491}"/>
                  </a:ext>
                </a:extLst>
              </p:cNvPr>
              <p:cNvSpPr/>
              <p:nvPr/>
            </p:nvSpPr>
            <p:spPr>
              <a:xfrm>
                <a:off x="7374799" y="1884602"/>
                <a:ext cx="1345763" cy="498763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</a:rPr>
                  <a:t>Outputs</a:t>
                </a:r>
              </a:p>
            </p:txBody>
          </p:sp>
          <p:sp>
            <p:nvSpPr>
              <p:cNvPr id="19" name="14 Flecha derecha">
                <a:extLst>
                  <a:ext uri="{FF2B5EF4-FFF2-40B4-BE49-F238E27FC236}">
                    <a16:creationId xmlns:a16="http://schemas.microsoft.com/office/drawing/2014/main" id="{356DF765-0B48-46A2-A01C-691909D9AF7C}"/>
                  </a:ext>
                </a:extLst>
              </p:cNvPr>
              <p:cNvSpPr/>
              <p:nvPr/>
            </p:nvSpPr>
            <p:spPr>
              <a:xfrm>
                <a:off x="1851561" y="2038875"/>
                <a:ext cx="1717589" cy="213756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0" name="21 Flecha derecha">
                <a:extLst>
                  <a:ext uri="{FF2B5EF4-FFF2-40B4-BE49-F238E27FC236}">
                    <a16:creationId xmlns:a16="http://schemas.microsoft.com/office/drawing/2014/main" id="{890BD3FF-214B-4D6B-8FD4-9BF891F9C4DC}"/>
                  </a:ext>
                </a:extLst>
              </p:cNvPr>
              <p:cNvSpPr/>
              <p:nvPr/>
            </p:nvSpPr>
            <p:spPr>
              <a:xfrm>
                <a:off x="5676075" y="2031618"/>
                <a:ext cx="1717589" cy="213756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21" name="1 Rectángulo">
              <a:extLst>
                <a:ext uri="{FF2B5EF4-FFF2-40B4-BE49-F238E27FC236}">
                  <a16:creationId xmlns:a16="http://schemas.microsoft.com/office/drawing/2014/main" id="{AC39B20D-9141-4700-8C95-589CAD6E30FA}"/>
                </a:ext>
              </a:extLst>
            </p:cNvPr>
            <p:cNvSpPr/>
            <p:nvPr/>
          </p:nvSpPr>
          <p:spPr>
            <a:xfrm>
              <a:off x="7375588" y="1799614"/>
              <a:ext cx="10342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nota_letra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67109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1C54E873-63BB-406D-ACB7-DC0E5614B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3 – Solución forma 1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370B3A2-890E-4349-90E9-8FF014AEE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742" y="2019424"/>
            <a:ext cx="4366794" cy="436190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2B4780E-3DFE-415B-82E5-B96EA9B33576}"/>
              </a:ext>
            </a:extLst>
          </p:cNvPr>
          <p:cNvSpPr txBox="1"/>
          <p:nvPr/>
        </p:nvSpPr>
        <p:spPr>
          <a:xfrm>
            <a:off x="246584" y="1960379"/>
            <a:ext cx="4439096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</a:t>
            </a:r>
            <a:r>
              <a:rPr lang="es-MX" sz="1200" dirty="0" err="1">
                <a:latin typeface="Consolas" panose="020B0609020204030204" pitchFamily="49" charset="0"/>
              </a:rPr>
              <a:t>nota_num</a:t>
            </a:r>
            <a:r>
              <a:rPr lang="es-MX" sz="12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Si ((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&gt; 100) or 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&lt; 0)) Entonces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Escribir('ERROR: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&gt;= 90) Entonces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Sino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&gt;= 80) Entonces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Sino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&gt;= 70) Entonces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Sino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&gt;= 60) Entonces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'D'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Sino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'E'     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Fin_Si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Fin_Si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Fin_Si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Escribir(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421E634-45EE-4FFC-A64B-E83683472324}"/>
              </a:ext>
            </a:extLst>
          </p:cNvPr>
          <p:cNvSpPr txBox="1"/>
          <p:nvPr/>
        </p:nvSpPr>
        <p:spPr>
          <a:xfrm>
            <a:off x="246584" y="930117"/>
            <a:ext cx="87179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/>
              <a:t>Como se puede apreciar en la implementación de pseudocódigo, la indentación es sumamente importante por que permite visualizar los anidamientos de la estructura condicional.</a:t>
            </a:r>
          </a:p>
        </p:txBody>
      </p:sp>
    </p:spTree>
    <p:extLst>
      <p:ext uri="{BB962C8B-B14F-4D97-AF65-F5344CB8AC3E}">
        <p14:creationId xmlns:p14="http://schemas.microsoft.com/office/powerpoint/2010/main" val="3107162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699896"/>
              </p:ext>
            </p:extLst>
          </p:nvPr>
        </p:nvGraphicFramePr>
        <p:xfrm>
          <a:off x="179512" y="3616536"/>
          <a:ext cx="3532530" cy="2620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8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65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Grado numérico</a:t>
                      </a:r>
                      <a:endParaRPr lang="es-ES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9" marR="91439" marT="45684" marB="4568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Grado en letra</a:t>
                      </a:r>
                      <a:endParaRPr lang="es-ES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9" marR="91439" marT="45684" marB="45684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(nota_num &gt; 100) or (nota_num &lt; 0)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Consolas" panose="020B0609020204030204" pitchFamily="49" charset="0"/>
                        </a:rPr>
                        <a:t>Nota invalida</a:t>
                      </a: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3312839258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90 &lt;=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nota_num &lt;= 100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A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80 &lt;=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nota_num &lt; 90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B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70 &lt;=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nota_num &lt; 80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C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60 &lt;=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nota_num &lt; 70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D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nota_num &lt; 60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E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itle 4">
            <a:extLst>
              <a:ext uri="{FF2B5EF4-FFF2-40B4-BE49-F238E27FC236}">
                <a16:creationId xmlns:a16="http://schemas.microsoft.com/office/drawing/2014/main" id="{1C54E873-63BB-406D-ACB7-DC0E5614B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3 – Solución forma 1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370B3A2-890E-4349-90E9-8FF014AEE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539" y="1196752"/>
            <a:ext cx="5152957" cy="514718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89EE433-CEEE-4F74-8EE1-42BC81670777}"/>
              </a:ext>
            </a:extLst>
          </p:cNvPr>
          <p:cNvSpPr txBox="1"/>
          <p:nvPr/>
        </p:nvSpPr>
        <p:spPr>
          <a:xfrm>
            <a:off x="251520" y="1201976"/>
            <a:ext cx="35325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/>
              <a:t>Como se puede notar, mediante el uso de la estructura condicional se implementa cada una de las posibilidades para la nota numérica ingresada. La siguiente tabla resume estas:</a:t>
            </a:r>
          </a:p>
        </p:txBody>
      </p:sp>
    </p:spTree>
    <p:extLst>
      <p:ext uri="{BB962C8B-B14F-4D97-AF65-F5344CB8AC3E}">
        <p14:creationId xmlns:p14="http://schemas.microsoft.com/office/powerpoint/2010/main" val="22443920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463269" y="3960212"/>
            <a:ext cx="28655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Prueba de escritorio: </a:t>
            </a:r>
            <a:endParaRPr lang="es-CO" sz="2000" dirty="0"/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35903"/>
              </p:ext>
            </p:extLst>
          </p:nvPr>
        </p:nvGraphicFramePr>
        <p:xfrm>
          <a:off x="729507" y="4470611"/>
          <a:ext cx="2599276" cy="17401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1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notaNum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Salida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2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440783"/>
              </p:ext>
            </p:extLst>
          </p:nvPr>
        </p:nvGraphicFramePr>
        <p:xfrm>
          <a:off x="596388" y="1478528"/>
          <a:ext cx="2865514" cy="238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4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notaNum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notaLetra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101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80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53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96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67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79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Invalida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B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A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D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C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Invalida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2 Rectángulo">
            <a:extLst>
              <a:ext uri="{FF2B5EF4-FFF2-40B4-BE49-F238E27FC236}">
                <a16:creationId xmlns:a16="http://schemas.microsoft.com/office/drawing/2014/main" id="{0C118D95-896F-4468-8FA5-F8C44FEA1AD3}"/>
              </a:ext>
            </a:extLst>
          </p:cNvPr>
          <p:cNvSpPr/>
          <p:nvPr/>
        </p:nvSpPr>
        <p:spPr>
          <a:xfrm>
            <a:off x="313320" y="1006973"/>
            <a:ext cx="82020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Casos de test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DEB815D-AE22-46CB-BC8C-EAF1191C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3 – Solución forma 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43765BB-D211-46DC-86B2-802441E303F6}"/>
              </a:ext>
            </a:extLst>
          </p:cNvPr>
          <p:cNvSpPr txBox="1"/>
          <p:nvPr/>
        </p:nvSpPr>
        <p:spPr>
          <a:xfrm>
            <a:off x="3975397" y="1501825"/>
            <a:ext cx="4439096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</a:t>
            </a:r>
            <a:r>
              <a:rPr lang="es-MX" sz="1200" dirty="0" err="1">
                <a:latin typeface="Consolas" panose="020B0609020204030204" pitchFamily="49" charset="0"/>
              </a:rPr>
              <a:t>nota_num</a:t>
            </a:r>
            <a:r>
              <a:rPr lang="es-MX" sz="12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Si ((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&gt; 100) or 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&lt; 0)) Entonces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Escribir('ERROR: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&gt;= 90) Entonces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Sino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&gt;= 80) Entonces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Sino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&gt;= 70) Entonces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Sino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&gt;= 60) Entonces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'D'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Sino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'E'     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Fin_Si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Fin_Si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Fin_Si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Escribir(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397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0" y="223755"/>
            <a:ext cx="8617877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 – </a:t>
            </a:r>
            <a:r>
              <a:rPr lang="es-CO" sz="4000" b="1" dirty="0">
                <a:solidFill>
                  <a:schemeClr val="accent5"/>
                </a:solidFill>
                <a:latin typeface="Consolas" panose="020B0609020204030204" pitchFamily="49" charset="0"/>
              </a:rPr>
              <a:t>if-else</a:t>
            </a:r>
            <a:r>
              <a:rPr lang="es-CO" dirty="0"/>
              <a:t> anidados</a:t>
            </a:r>
          </a:p>
        </p:txBody>
      </p:sp>
      <p:sp>
        <p:nvSpPr>
          <p:cNvPr id="6" name="12 Rectángulo">
            <a:extLst>
              <a:ext uri="{FF2B5EF4-FFF2-40B4-BE49-F238E27FC236}">
                <a16:creationId xmlns:a16="http://schemas.microsoft.com/office/drawing/2014/main" id="{8508C4C5-CBF9-4C17-AEB9-2B6B8EA367F8}"/>
              </a:ext>
            </a:extLst>
          </p:cNvPr>
          <p:cNvSpPr/>
          <p:nvPr/>
        </p:nvSpPr>
        <p:spPr>
          <a:xfrm>
            <a:off x="263061" y="836712"/>
            <a:ext cx="861787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A diferencia del pseudocódigo, Python no tiene un </a:t>
            </a:r>
            <a:r>
              <a:rPr lang="es-MX" b="1" dirty="0">
                <a:solidFill>
                  <a:schemeClr val="accent5"/>
                </a:solidFill>
                <a:latin typeface="Consolas" panose="020B0609020204030204" pitchFamily="49" charset="0"/>
              </a:rPr>
              <a:t>Fin_Si</a:t>
            </a:r>
            <a:r>
              <a:rPr lang="es-MX" sz="2000" dirty="0"/>
              <a:t> que cierre el bloque explícitamente: la </a:t>
            </a:r>
            <a:r>
              <a:rPr lang="es-MX" sz="2000" b="1" dirty="0"/>
              <a:t>indentación</a:t>
            </a:r>
            <a:r>
              <a:rPr lang="es-MX" sz="2000" dirty="0"/>
              <a:t> es la que delimita dónde empieza y termina cada </a:t>
            </a:r>
            <a:r>
              <a:rPr lang="es-MX" b="1" dirty="0">
                <a:solidFill>
                  <a:schemeClr val="accent5"/>
                </a:solidFill>
                <a:latin typeface="Consolas" panose="020B0609020204030204" pitchFamily="49" charset="0"/>
              </a:rPr>
              <a:t>if/else</a:t>
            </a:r>
            <a:r>
              <a:rPr lang="es-MX" sz="2000" dirty="0"/>
              <a:t>. Si la indentación está mal, el programa deja de hacer lo que se espera que haga.</a:t>
            </a:r>
            <a:endParaRPr lang="es-CO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F0C72B-D8A1-4E3E-9FCD-98E4B022325B}"/>
              </a:ext>
            </a:extLst>
          </p:cNvPr>
          <p:cNvSpPr txBox="1"/>
          <p:nvPr/>
        </p:nvSpPr>
        <p:spPr>
          <a:xfrm>
            <a:off x="573123" y="2524264"/>
            <a:ext cx="3699295" cy="4185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condicion_1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condicion_1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condicion_2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condicion_2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condicion_3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condicion_3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...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  condicion_n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Sino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  condicion_n falso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Fin_Si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...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Fin_Si 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E8C173-7707-48F4-A17E-7B72328AD3B5}"/>
              </a:ext>
            </a:extLst>
          </p:cNvPr>
          <p:cNvSpPr txBox="1"/>
          <p:nvPr/>
        </p:nvSpPr>
        <p:spPr>
          <a:xfrm>
            <a:off x="5509148" y="255504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118BBB-98AA-4C68-B5A2-15748A12FB6E}"/>
              </a:ext>
            </a:extLst>
          </p:cNvPr>
          <p:cNvSpPr txBox="1"/>
          <p:nvPr/>
        </p:nvSpPr>
        <p:spPr>
          <a:xfrm>
            <a:off x="1190033" y="2132856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4C2A990-820A-4E65-82A6-362539F0E60A}"/>
              </a:ext>
            </a:extLst>
          </p:cNvPr>
          <p:cNvSpPr txBox="1"/>
          <p:nvPr/>
        </p:nvSpPr>
        <p:spPr>
          <a:xfrm>
            <a:off x="4871582" y="2955152"/>
            <a:ext cx="369929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condicion_1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condicion_1 verdad</a:t>
            </a:r>
          </a:p>
          <a:p>
            <a:pPr indent="-57150"/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condicion_2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condicion_2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</a:t>
            </a:r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condicion_3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  condicion_3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</a:t>
            </a:r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  ...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  </a:t>
            </a:r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     condicion_n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  </a:t>
            </a:r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     condicion_n falso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  ...</a:t>
            </a:r>
            <a:endParaRPr lang="es-E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464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EC17C4B8-6D62-4D17-BB32-FAFAE8352844}"/>
              </a:ext>
            </a:extLst>
          </p:cNvPr>
          <p:cNvSpPr txBox="1"/>
          <p:nvPr/>
        </p:nvSpPr>
        <p:spPr>
          <a:xfrm>
            <a:off x="1301632" y="6527621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Century Gothic" panose="020B0502020202020204" pitchFamily="34" charset="0"/>
              </a:rPr>
              <a:t>Link de ejecución</a:t>
            </a:r>
            <a:endParaRPr lang="es-CO" sz="1200" dirty="0">
              <a:latin typeface="Century Gothic" panose="020B050202020202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610FEEC-1D60-42D2-91E0-F0525AE7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16" y="136524"/>
            <a:ext cx="8603124" cy="77374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Ejemplo 3 – Solución en python ( forma 1)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0DF9C72-A15E-46C7-B8C9-B9D3F04D4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807" y="1893323"/>
            <a:ext cx="4853480" cy="484804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0E42AC8-C5E2-49B2-A071-F8E904E15E2B}"/>
              </a:ext>
            </a:extLst>
          </p:cNvPr>
          <p:cNvSpPr txBox="1"/>
          <p:nvPr/>
        </p:nvSpPr>
        <p:spPr>
          <a:xfrm>
            <a:off x="251616" y="3076443"/>
            <a:ext cx="3719016" cy="3231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if ((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&gt; 100) or 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&lt; 0)):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if 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&gt;= 90):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else: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if 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&gt;= 80):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else: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if (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&gt;= 70):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else: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if (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&gt;= 60):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'D'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else: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'E'     </a:t>
            </a:r>
            <a:endParaRPr lang="es-MX" sz="12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(f'{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}: 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}')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FA944D-5634-4413-B8CD-6C2D1BAA4A5D}"/>
              </a:ext>
            </a:extLst>
          </p:cNvPr>
          <p:cNvSpPr/>
          <p:nvPr/>
        </p:nvSpPr>
        <p:spPr>
          <a:xfrm>
            <a:off x="4095748" y="2779865"/>
            <a:ext cx="5005389" cy="3497560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78E5F6C-4191-449C-83DC-317ED27D7C86}"/>
              </a:ext>
            </a:extLst>
          </p:cNvPr>
          <p:cNvSpPr/>
          <p:nvPr/>
        </p:nvSpPr>
        <p:spPr>
          <a:xfrm>
            <a:off x="5238750" y="3324675"/>
            <a:ext cx="3843337" cy="2390775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F05CC34-A6A1-4ADE-A2E0-B03432B6B060}"/>
              </a:ext>
            </a:extLst>
          </p:cNvPr>
          <p:cNvSpPr/>
          <p:nvPr/>
        </p:nvSpPr>
        <p:spPr>
          <a:xfrm>
            <a:off x="5962650" y="3715199"/>
            <a:ext cx="3109913" cy="1781175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CA7957E-E9AA-4B0B-905F-F25DE086592F}"/>
              </a:ext>
            </a:extLst>
          </p:cNvPr>
          <p:cNvSpPr/>
          <p:nvPr/>
        </p:nvSpPr>
        <p:spPr>
          <a:xfrm>
            <a:off x="6667500" y="4077150"/>
            <a:ext cx="2386013" cy="1285875"/>
          </a:xfrm>
          <a:prstGeom prst="rect">
            <a:avLst/>
          </a:prstGeom>
          <a:noFill/>
          <a:ln w="1905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573BB9-A35C-44D0-866B-E99CBF42B8CE}"/>
              </a:ext>
            </a:extLst>
          </p:cNvPr>
          <p:cNvSpPr/>
          <p:nvPr/>
        </p:nvSpPr>
        <p:spPr>
          <a:xfrm>
            <a:off x="7219950" y="4434337"/>
            <a:ext cx="1819275" cy="828675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890F65E-2AB7-4560-B35F-F13C775A324A}"/>
              </a:ext>
            </a:extLst>
          </p:cNvPr>
          <p:cNvSpPr txBox="1"/>
          <p:nvPr/>
        </p:nvSpPr>
        <p:spPr>
          <a:xfrm>
            <a:off x="135036" y="836712"/>
            <a:ext cx="85414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/>
              <a:t>En Python, la indentación es sumamente importante porque indica al interprete el alcance de un bloque (inicio y fin). Indentar mal genera errores se compilación.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C0D3903-5FB6-41C8-A376-8402CF03218F}"/>
              </a:ext>
            </a:extLst>
          </p:cNvPr>
          <p:cNvSpPr txBox="1"/>
          <p:nvPr/>
        </p:nvSpPr>
        <p:spPr>
          <a:xfrm>
            <a:off x="179512" y="1772816"/>
            <a:ext cx="38365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/>
              <a:t>A medida que los anidamientos crecen la indentación tiene a ser mas complicada.</a:t>
            </a:r>
          </a:p>
        </p:txBody>
      </p:sp>
    </p:spTree>
    <p:extLst>
      <p:ext uri="{BB962C8B-B14F-4D97-AF65-F5344CB8AC3E}">
        <p14:creationId xmlns:p14="http://schemas.microsoft.com/office/powerpoint/2010/main" val="38875956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0" y="223755"/>
            <a:ext cx="8617877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 – </a:t>
            </a:r>
            <a:r>
              <a:rPr lang="es-CO" sz="4000" b="1" dirty="0">
                <a:solidFill>
                  <a:schemeClr val="accent5"/>
                </a:solidFill>
                <a:latin typeface="Consolas" panose="020B0609020204030204" pitchFamily="49" charset="0"/>
              </a:rPr>
              <a:t>if-elif-else</a:t>
            </a:r>
            <a:r>
              <a:rPr lang="es-CO" dirty="0"/>
              <a:t> </a:t>
            </a:r>
          </a:p>
        </p:txBody>
      </p:sp>
      <p:sp>
        <p:nvSpPr>
          <p:cNvPr id="6" name="12 Rectángulo">
            <a:extLst>
              <a:ext uri="{FF2B5EF4-FFF2-40B4-BE49-F238E27FC236}">
                <a16:creationId xmlns:a16="http://schemas.microsoft.com/office/drawing/2014/main" id="{8508C4C5-CBF9-4C17-AEB9-2B6B8EA367F8}"/>
              </a:ext>
            </a:extLst>
          </p:cNvPr>
          <p:cNvSpPr/>
          <p:nvPr/>
        </p:nvSpPr>
        <p:spPr>
          <a:xfrm>
            <a:off x="263060" y="892344"/>
            <a:ext cx="861787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Python ofrece la palabra clave </a:t>
            </a:r>
            <a:r>
              <a:rPr lang="es-MX" b="1" dirty="0">
                <a:solidFill>
                  <a:schemeClr val="accent5"/>
                </a:solidFill>
                <a:latin typeface="Consolas" panose="020B0609020204030204" pitchFamily="49" charset="0"/>
              </a:rPr>
              <a:t>elif</a:t>
            </a:r>
            <a:r>
              <a:rPr lang="es-MX" sz="2000" dirty="0"/>
              <a:t> (contracción de "</a:t>
            </a:r>
            <a:r>
              <a:rPr lang="es-MX" sz="2000" b="1" dirty="0"/>
              <a:t>else if</a:t>
            </a:r>
            <a:r>
              <a:rPr lang="es-MX" sz="2000" dirty="0"/>
              <a:t>") para evitar que la indentación crezca con cada nueva condición: en vez de anidar un if dentro del else anterior, cada alternativa queda al mismo nivel de indentación.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F0C72B-D8A1-4E3E-9FCD-98E4B022325B}"/>
              </a:ext>
            </a:extLst>
          </p:cNvPr>
          <p:cNvSpPr txBox="1"/>
          <p:nvPr/>
        </p:nvSpPr>
        <p:spPr>
          <a:xfrm>
            <a:off x="573123" y="2380248"/>
            <a:ext cx="3699295" cy="4185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condicion_1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condicion_1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condicion_2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condicion_2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condicion_3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condicion_3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...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  condicion_n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Sino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  condicion_n falso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Fin_Si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...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Fin_Si 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E8C173-7707-48F4-A17E-7B72328AD3B5}"/>
              </a:ext>
            </a:extLst>
          </p:cNvPr>
          <p:cNvSpPr txBox="1"/>
          <p:nvPr/>
        </p:nvSpPr>
        <p:spPr>
          <a:xfrm>
            <a:off x="5509148" y="2411026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118BBB-98AA-4C68-B5A2-15748A12FB6E}"/>
              </a:ext>
            </a:extLst>
          </p:cNvPr>
          <p:cNvSpPr txBox="1"/>
          <p:nvPr/>
        </p:nvSpPr>
        <p:spPr>
          <a:xfrm>
            <a:off x="1190033" y="1988840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4C2A990-820A-4E65-82A6-362539F0E60A}"/>
              </a:ext>
            </a:extLst>
          </p:cNvPr>
          <p:cNvSpPr txBox="1"/>
          <p:nvPr/>
        </p:nvSpPr>
        <p:spPr>
          <a:xfrm>
            <a:off x="4871582" y="2811136"/>
            <a:ext cx="3699295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condicion_1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condicion_1 verdad</a:t>
            </a:r>
          </a:p>
          <a:p>
            <a:pPr indent="-57150"/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elif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condicion_2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condicion_2 verdad</a:t>
            </a:r>
          </a:p>
          <a:p>
            <a:pPr indent="-57150"/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elif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condicion_3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condicion_3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...</a:t>
            </a:r>
          </a:p>
          <a:p>
            <a:pPr indent="-57150"/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elif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condicion_n verdad</a:t>
            </a:r>
          </a:p>
          <a:p>
            <a:pPr indent="-57150"/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condicion_n falso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endParaRPr lang="es-E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366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2610FEEC-1D60-42D2-91E0-F0525AE7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8291128" cy="77374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Ejemplo 3 – Solución en python  (forma 2)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0DF9C72-A15E-46C7-B8C9-B9D3F04D4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1916832"/>
            <a:ext cx="4853480" cy="484804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0E42AC8-C5E2-49B2-A071-F8E904E15E2B}"/>
              </a:ext>
            </a:extLst>
          </p:cNvPr>
          <p:cNvSpPr txBox="1"/>
          <p:nvPr/>
        </p:nvSpPr>
        <p:spPr>
          <a:xfrm>
            <a:off x="308260" y="2879214"/>
            <a:ext cx="3687676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if ((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&gt; 100) or 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&lt; 0)):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if (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&gt;= 90):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elif (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&gt;= 80):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elif (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&gt;= 70):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elif (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&gt;= 60):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'D'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else: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'E'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endParaRPr lang="es-MX" sz="12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(f'{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}: 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}')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6C5C78D-E5F5-4E59-82E1-0BCF812D33FA}"/>
              </a:ext>
            </a:extLst>
          </p:cNvPr>
          <p:cNvSpPr/>
          <p:nvPr/>
        </p:nvSpPr>
        <p:spPr>
          <a:xfrm>
            <a:off x="4095749" y="2832020"/>
            <a:ext cx="4984752" cy="3439885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179D673-4CAF-4D75-A3C6-F059A87E0D35}"/>
              </a:ext>
            </a:extLst>
          </p:cNvPr>
          <p:cNvSpPr/>
          <p:nvPr/>
        </p:nvSpPr>
        <p:spPr>
          <a:xfrm>
            <a:off x="5288280" y="3321515"/>
            <a:ext cx="3759066" cy="233172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03EE10A-8189-4A26-88F9-C963C6052B3A}"/>
              </a:ext>
            </a:extLst>
          </p:cNvPr>
          <p:cNvSpPr txBox="1"/>
          <p:nvPr/>
        </p:nvSpPr>
        <p:spPr>
          <a:xfrm>
            <a:off x="308260" y="910273"/>
            <a:ext cx="87390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Dentro del recuadro rojo, todas las condiciones evalúan el mismo criterio (rangos de </a:t>
            </a:r>
            <a:r>
              <a:rPr lang="es-MX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nota_num</a:t>
            </a:r>
            <a:r>
              <a:rPr lang="es-MX" sz="2000" dirty="0"/>
              <a:t>), por eso se pueden encadenar con </a:t>
            </a:r>
            <a:r>
              <a:rPr lang="es-MX" b="1" dirty="0">
                <a:solidFill>
                  <a:schemeClr val="accent5"/>
                </a:solidFill>
                <a:latin typeface="Consolas" panose="020B0609020204030204" pitchFamily="49" charset="0"/>
              </a:rPr>
              <a:t>elif</a:t>
            </a:r>
            <a:r>
              <a:rPr lang="es-MX" sz="2000" dirty="0"/>
              <a:t>. El recuadro azul es una alternativa doble aparte — separa el caso de nota inválida del resto — y no forma parte de esa cadena.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6495209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echa: a la izquierda y derecha 1">
            <a:extLst>
              <a:ext uri="{FF2B5EF4-FFF2-40B4-BE49-F238E27FC236}">
                <a16:creationId xmlns:a16="http://schemas.microsoft.com/office/drawing/2014/main" id="{9C0DB7BC-70AB-4F2A-8CD4-BDFCCC3C5896}"/>
              </a:ext>
            </a:extLst>
          </p:cNvPr>
          <p:cNvSpPr/>
          <p:nvPr/>
        </p:nvSpPr>
        <p:spPr>
          <a:xfrm>
            <a:off x="4170852" y="4680500"/>
            <a:ext cx="936104" cy="360040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1 Rectángulo">
            <a:extLst>
              <a:ext uri="{FF2B5EF4-FFF2-40B4-BE49-F238E27FC236}">
                <a16:creationId xmlns:a16="http://schemas.microsoft.com/office/drawing/2014/main" id="{64F7C39F-8F78-4CD4-BD3B-E8138D7E94AA}"/>
              </a:ext>
            </a:extLst>
          </p:cNvPr>
          <p:cNvSpPr/>
          <p:nvPr/>
        </p:nvSpPr>
        <p:spPr>
          <a:xfrm>
            <a:off x="3821547" y="4258810"/>
            <a:ext cx="15896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Comparación</a:t>
            </a:r>
            <a:endParaRPr lang="es-CO" sz="2000" dirty="0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D549AE01-7EF7-4F40-8A8C-6D0546CB7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8651168" cy="77374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Ejemplo 3 – Comparación implementaciones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B640269-1EA3-4710-8EA5-9EEC25D48297}"/>
              </a:ext>
            </a:extLst>
          </p:cNvPr>
          <p:cNvSpPr txBox="1"/>
          <p:nvPr/>
        </p:nvSpPr>
        <p:spPr>
          <a:xfrm>
            <a:off x="232131" y="2656649"/>
            <a:ext cx="3581040" cy="3231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if ((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&gt; 100) or 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&lt; 0)):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if 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&gt;= 90):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else: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if 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&gt;= 80):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else: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if (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&gt;= 70):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else: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if (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&gt;= 60):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'D'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else: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'E'     </a:t>
            </a:r>
            <a:endParaRPr lang="es-MX" sz="12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(f'{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}: 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}')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6CBF942-BD21-4671-83A2-87303772F36B}"/>
              </a:ext>
            </a:extLst>
          </p:cNvPr>
          <p:cNvSpPr txBox="1"/>
          <p:nvPr/>
        </p:nvSpPr>
        <p:spPr>
          <a:xfrm>
            <a:off x="5393940" y="2933648"/>
            <a:ext cx="358104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if ((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&gt; 100) or 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&lt; 0)):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('ERROR: Nota invalida</a:t>
            </a:r>
            <a:r>
              <a:rPr lang="es-CO" sz="1200" dirty="0">
                <a:solidFill>
                  <a:schemeClr val="accent4"/>
                </a:solidFill>
                <a:latin typeface="Consolas" panose="020B0609020204030204" pitchFamily="49" charset="0"/>
              </a:rPr>
              <a:t>'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if (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&gt;= 90):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elif (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&gt;= 80):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elif (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&gt;= 70):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elif (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&gt;= 60):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'D'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else: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'E'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endParaRPr lang="es-MX" sz="12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(f'{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}: 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}')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3AE629-093C-40F9-A459-9A26561A1F5D}"/>
              </a:ext>
            </a:extLst>
          </p:cNvPr>
          <p:cNvSpPr txBox="1"/>
          <p:nvPr/>
        </p:nvSpPr>
        <p:spPr>
          <a:xfrm>
            <a:off x="232131" y="836712"/>
            <a:ext cx="87428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Cuando todas las condiciones evalúan el mismo criterio, usar </a:t>
            </a:r>
            <a:r>
              <a:rPr lang="es-MX" sz="1600" b="1" dirty="0">
                <a:solidFill>
                  <a:schemeClr val="accent5"/>
                </a:solidFill>
                <a:latin typeface="Consolas" panose="020B0609020204030204" pitchFamily="49" charset="0"/>
              </a:rPr>
              <a:t>elif</a:t>
            </a:r>
            <a:r>
              <a:rPr lang="es-MX" dirty="0"/>
              <a:t> reduce el anidamiento y facilita la lectura del código.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Ambas versiones son funcionalmente equivalentes: mismo resultado, distinta 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Aplique solo si el criterio es el mismo; con criterios distintos sigue siendo necesario anidar </a:t>
            </a:r>
            <a:r>
              <a:rPr lang="es-MX" sz="1600" b="1" dirty="0">
                <a:solidFill>
                  <a:schemeClr val="accent5"/>
                </a:solidFill>
                <a:latin typeface="Consolas" panose="020B0609020204030204" pitchFamily="49" charset="0"/>
              </a:rPr>
              <a:t>if</a:t>
            </a:r>
            <a:r>
              <a:rPr lang="es-MX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872828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86047C29-350F-49B8-9CC7-01E54878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8202030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3 – Resumen solución forma 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5DF4502-F3FD-4842-BF00-4CE1ABE82096}"/>
              </a:ext>
            </a:extLst>
          </p:cNvPr>
          <p:cNvSpPr txBox="1"/>
          <p:nvPr/>
        </p:nvSpPr>
        <p:spPr>
          <a:xfrm>
            <a:off x="4572000" y="1315681"/>
            <a:ext cx="4439096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</a:t>
            </a:r>
            <a:r>
              <a:rPr lang="es-MX" sz="1200" dirty="0" err="1">
                <a:latin typeface="Consolas" panose="020B0609020204030204" pitchFamily="49" charset="0"/>
              </a:rPr>
              <a:t>nota_num</a:t>
            </a:r>
            <a:r>
              <a:rPr lang="es-MX" sz="12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Si ((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&gt; 100) or 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&lt; 0)) Entonces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Escribir('ERROR: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&gt;= 90) Entonces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Sino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&gt;= 80) Entonces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Sino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&gt;= 70) Entonces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Sino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&gt;= 60) Entonces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'D'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Sino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'E'     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Fin_Si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Fin_Si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Fin_Si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Escribir(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BBF5133-DC8B-4F8A-8D47-3864BA5D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4" y="1491292"/>
            <a:ext cx="4362643" cy="435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199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86047C29-350F-49B8-9CC7-01E54878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8202030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3 – Resumen solución forma 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5DF4502-F3FD-4842-BF00-4CE1ABE82096}"/>
              </a:ext>
            </a:extLst>
          </p:cNvPr>
          <p:cNvSpPr txBox="1"/>
          <p:nvPr/>
        </p:nvSpPr>
        <p:spPr>
          <a:xfrm>
            <a:off x="4572000" y="1315681"/>
            <a:ext cx="4439096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</a:t>
            </a:r>
            <a:r>
              <a:rPr lang="es-MX" sz="1200" dirty="0" err="1">
                <a:latin typeface="Consolas" panose="020B0609020204030204" pitchFamily="49" charset="0"/>
              </a:rPr>
              <a:t>nota_num</a:t>
            </a:r>
            <a:r>
              <a:rPr lang="es-MX" sz="12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Si ((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&gt; 100) or 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&lt; 0)) Entonces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Escribir('ERROR: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&gt;= 90) Entonces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Sino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&gt;= 80) Entonces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Sino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&gt;= 70) Entonces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Sino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&gt;= 60) Entonces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'D'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Sino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'E'     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Fin_Si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Fin_Si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Fin_Si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Escribir(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BBF5133-DC8B-4F8A-8D47-3864BA5D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4" y="1491292"/>
            <a:ext cx="4362643" cy="435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994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3067E21-BF43-46E7-89A9-B66247CE6D43}"/>
              </a:ext>
            </a:extLst>
          </p:cNvPr>
          <p:cNvSpPr txBox="1"/>
          <p:nvPr/>
        </p:nvSpPr>
        <p:spPr>
          <a:xfrm>
            <a:off x="4572000" y="1720840"/>
            <a:ext cx="436264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200" dirty="0" err="1">
                <a:latin typeface="Consolas" panose="020B0609020204030204" pitchFamily="49" charset="0"/>
              </a:rPr>
              <a:t>nota_num</a:t>
            </a:r>
            <a:r>
              <a:rPr lang="es-CO" sz="1200" dirty="0">
                <a:latin typeface="Consolas" panose="020B0609020204030204" pitchFamily="49" charset="0"/>
              </a:rPr>
              <a:t> = </a:t>
            </a:r>
            <a:r>
              <a:rPr lang="es-CO" sz="1200" dirty="0" err="1">
                <a:latin typeface="Consolas" panose="020B0609020204030204" pitchFamily="49" charset="0"/>
              </a:rPr>
              <a:t>int</a:t>
            </a:r>
            <a:r>
              <a:rPr lang="es-CO" sz="1200" dirty="0">
                <a:latin typeface="Consolas" panose="020B0609020204030204" pitchFamily="49" charset="0"/>
              </a:rPr>
              <a:t>(input("Digite la nota [0,100]: "))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if ((nota_num &gt; 100) or (nota_num &lt; 0)):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if (nota_num &gt;= 90):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else: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if (nota_num &gt;= 80):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else: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if (nota_num &gt;= 70):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else: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if (nota_num &gt;= 60):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'D'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else: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    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'E'     </a:t>
            </a:r>
            <a:endParaRPr lang="es-MX" sz="12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(f'{nota_num}: 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}')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6F62DD7-6CF3-4537-99A6-B33FC6565070}"/>
              </a:ext>
            </a:extLst>
          </p:cNvPr>
          <p:cNvSpPr txBox="1"/>
          <p:nvPr/>
        </p:nvSpPr>
        <p:spPr>
          <a:xfrm>
            <a:off x="6084168" y="5202901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+mj-lt"/>
                <a:hlinkClick r:id="rId2"/>
              </a:rPr>
              <a:t>Link de ejecución</a:t>
            </a:r>
            <a:endParaRPr lang="es-CO" sz="1200" dirty="0">
              <a:latin typeface="+mj-lt"/>
            </a:endParaRPr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E4900539-EDE2-4743-A33A-7A7D28586EC0}"/>
              </a:ext>
            </a:extLst>
          </p:cNvPr>
          <p:cNvSpPr/>
          <p:nvPr/>
        </p:nvSpPr>
        <p:spPr>
          <a:xfrm>
            <a:off x="214014" y="807095"/>
            <a:ext cx="86784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/>
              <a:t>Implementación usando estructuras if-else anidados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1D63BF2-079B-456A-BB0E-78D34EA09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Ejemplo 3 – Resumen solución forma 1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969DF67-61E8-4DD9-BB66-9620440CB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4" y="1491292"/>
            <a:ext cx="4362643" cy="435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419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3067E21-BF43-46E7-89A9-B66247CE6D43}"/>
              </a:ext>
            </a:extLst>
          </p:cNvPr>
          <p:cNvSpPr txBox="1"/>
          <p:nvPr/>
        </p:nvSpPr>
        <p:spPr>
          <a:xfrm>
            <a:off x="4572000" y="1720840"/>
            <a:ext cx="436264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nota_num = </a:t>
            </a:r>
            <a:r>
              <a:rPr lang="es-CO" sz="1200" dirty="0" err="1">
                <a:latin typeface="Consolas" panose="020B0609020204030204" pitchFamily="49" charset="0"/>
              </a:rPr>
              <a:t>int</a:t>
            </a:r>
            <a:r>
              <a:rPr lang="es-CO" sz="1200" dirty="0">
                <a:latin typeface="Consolas" panose="020B0609020204030204" pitchFamily="49" charset="0"/>
              </a:rPr>
              <a:t>(input("Digite la nota [0,100]: "))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if ((nota_num &gt; 100) or (nota_num &lt; 0)):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if (nota_num &gt;= 90):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elif (nota_num &gt;= 80):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elif (nota_num &gt;= 70):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elif (nota_num &gt;= 60):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'D'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else:</a:t>
            </a:r>
          </a:p>
          <a:p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5"/>
                </a:solidFill>
                <a:latin typeface="Consolas" panose="020B0609020204030204" pitchFamily="49" charset="0"/>
              </a:rPr>
              <a:t> = 'E'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endParaRPr lang="es-MX" sz="12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(f'{nota_num}: 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}')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6F62DD7-6CF3-4537-99A6-B33FC6565070}"/>
              </a:ext>
            </a:extLst>
          </p:cNvPr>
          <p:cNvSpPr txBox="1"/>
          <p:nvPr/>
        </p:nvSpPr>
        <p:spPr>
          <a:xfrm>
            <a:off x="5980428" y="4583162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+mj-lt"/>
                <a:hlinkClick r:id="rId2"/>
              </a:rPr>
              <a:t>Link de ejecución</a:t>
            </a:r>
            <a:endParaRPr lang="es-CO" sz="1200" dirty="0">
              <a:latin typeface="+mj-lt"/>
            </a:endParaRPr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E4900539-EDE2-4743-A33A-7A7D28586EC0}"/>
              </a:ext>
            </a:extLst>
          </p:cNvPr>
          <p:cNvSpPr/>
          <p:nvPr/>
        </p:nvSpPr>
        <p:spPr>
          <a:xfrm>
            <a:off x="214014" y="807095"/>
            <a:ext cx="86784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/>
              <a:t>Implementación usando estructuras if-elif-else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1D63BF2-079B-456A-BB0E-78D34EA09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Ejemplo 3 – Resumen solución forma 1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969DF67-61E8-4DD9-BB66-9620440CB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4" y="1491292"/>
            <a:ext cx="4362643" cy="435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739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323528" y="838143"/>
            <a:ext cx="84969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/>
              <a:t>Esta manera también cumple los requisitos del problema. Simplemente cambia la forma como se usan los condicionales.</a:t>
            </a:r>
            <a:endParaRPr lang="es-CO" sz="2400" b="1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16C4A667-6926-4F84-B1CF-4F3E44AD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3 – Solución forma 2</a:t>
            </a:r>
          </a:p>
        </p:txBody>
      </p:sp>
      <p:sp>
        <p:nvSpPr>
          <p:cNvPr id="7" name="5 CuadroTexto">
            <a:extLst>
              <a:ext uri="{FF2B5EF4-FFF2-40B4-BE49-F238E27FC236}">
                <a16:creationId xmlns:a16="http://schemas.microsoft.com/office/drawing/2014/main" id="{80E79E9A-5600-472E-A025-19DF4398E553}"/>
              </a:ext>
            </a:extLst>
          </p:cNvPr>
          <p:cNvSpPr txBox="1"/>
          <p:nvPr/>
        </p:nvSpPr>
        <p:spPr>
          <a:xfrm>
            <a:off x="275677" y="3140968"/>
            <a:ext cx="393628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Datos de entrada: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Nota numérica</a:t>
            </a:r>
            <a:r>
              <a:rPr lang="es-CO" sz="1600" dirty="0"/>
              <a:t> [0,100]</a:t>
            </a:r>
          </a:p>
          <a:p>
            <a:r>
              <a:rPr lang="es-CO" b="1" dirty="0"/>
              <a:t>Datos de salida: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Nota letra</a:t>
            </a:r>
            <a:r>
              <a:rPr lang="es-CO" sz="1600" dirty="0"/>
              <a:t>: A, B, C, D, E</a:t>
            </a:r>
          </a:p>
          <a:p>
            <a:r>
              <a:rPr lang="es-CO" b="1" dirty="0"/>
              <a:t>Definición de 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/>
              <a:t>Entrada/salida</a:t>
            </a:r>
            <a:r>
              <a:rPr lang="es-CO" sz="1600" dirty="0"/>
              <a:t>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 err="1">
                <a:latin typeface="Consolas" panose="020B0609020204030204" pitchFamily="49" charset="0"/>
              </a:rPr>
              <a:t>nota_num</a:t>
            </a:r>
            <a:r>
              <a:rPr lang="es-CO" sz="1600" b="1" dirty="0"/>
              <a:t>:</a:t>
            </a:r>
            <a:r>
              <a:rPr lang="es-CO" sz="1600" dirty="0"/>
              <a:t> Nota numérica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s-CO" sz="1600" b="1" dirty="0" err="1">
                <a:latin typeface="Consolas" panose="020B0609020204030204" pitchFamily="49" charset="0"/>
              </a:rPr>
              <a:t>nota_letra</a:t>
            </a:r>
            <a:r>
              <a:rPr lang="es-CO" sz="1600" b="1" dirty="0"/>
              <a:t>:</a:t>
            </a:r>
            <a:r>
              <a:rPr lang="es-CO" sz="1600" dirty="0"/>
              <a:t> Nota en letra</a:t>
            </a:r>
          </a:p>
        </p:txBody>
      </p:sp>
      <p:sp>
        <p:nvSpPr>
          <p:cNvPr id="8" name="1 Rectángulo">
            <a:extLst>
              <a:ext uri="{FF2B5EF4-FFF2-40B4-BE49-F238E27FC236}">
                <a16:creationId xmlns:a16="http://schemas.microsoft.com/office/drawing/2014/main" id="{B228EEFF-9221-4F28-8772-DFA4A4AF914A}"/>
              </a:ext>
            </a:extLst>
          </p:cNvPr>
          <p:cNvSpPr/>
          <p:nvPr/>
        </p:nvSpPr>
        <p:spPr>
          <a:xfrm>
            <a:off x="4427984" y="3140968"/>
            <a:ext cx="432029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Proceso: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Verificar el rango al cual pertenece la nota numérica ingresada y de acuerdo a este obtener la correspondiente nota en letras: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O" sz="1600" dirty="0">
                <a:latin typeface="Consolas" panose="020B0609020204030204" pitchFamily="49" charset="0"/>
              </a:rPr>
              <a:t>90 &lt;= nota_num </a:t>
            </a:r>
            <a:r>
              <a:rPr lang="es-CO" sz="1600" dirty="0">
                <a:latin typeface="Consolas" panose="020B0609020204030204" pitchFamily="49" charset="0"/>
                <a:sym typeface="Wingdings" panose="05000000000000000000" pitchFamily="2" charset="2"/>
              </a:rPr>
              <a:t> 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O" sz="1600" dirty="0">
                <a:latin typeface="Consolas" panose="020B0609020204030204" pitchFamily="49" charset="0"/>
              </a:rPr>
              <a:t>80 &lt;= nota_num &lt; 90 </a:t>
            </a:r>
            <a:r>
              <a:rPr lang="es-CO" sz="1600" dirty="0">
                <a:latin typeface="Consolas" panose="020B0609020204030204" pitchFamily="49" charset="0"/>
                <a:sym typeface="Wingdings" panose="05000000000000000000" pitchFamily="2" charset="2"/>
              </a:rPr>
              <a:t> B</a:t>
            </a:r>
            <a:endParaRPr lang="es-CO" sz="1600" dirty="0">
              <a:latin typeface="Consolas" panose="020B06090202040302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O" sz="1600" dirty="0">
                <a:latin typeface="Consolas" panose="020B0609020204030204" pitchFamily="49" charset="0"/>
              </a:rPr>
              <a:t>70 &lt;= nota_num &lt; 80 </a:t>
            </a:r>
            <a:r>
              <a:rPr lang="es-CO" sz="1600" dirty="0">
                <a:latin typeface="Consolas" panose="020B0609020204030204" pitchFamily="49" charset="0"/>
                <a:sym typeface="Wingdings" panose="05000000000000000000" pitchFamily="2" charset="2"/>
              </a:rPr>
              <a:t> C</a:t>
            </a:r>
            <a:endParaRPr lang="es-CO" sz="1600" dirty="0">
              <a:latin typeface="Consolas" panose="020B06090202040302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O" sz="1600" dirty="0">
                <a:latin typeface="Consolas" panose="020B0609020204030204" pitchFamily="49" charset="0"/>
              </a:rPr>
              <a:t>60 &lt;= nota_num &lt; 70 </a:t>
            </a:r>
            <a:r>
              <a:rPr lang="es-CO" sz="1600" dirty="0">
                <a:latin typeface="Consolas" panose="020B0609020204030204" pitchFamily="49" charset="0"/>
                <a:sym typeface="Wingdings" panose="05000000000000000000" pitchFamily="2" charset="2"/>
              </a:rPr>
              <a:t> 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O" sz="1600" dirty="0">
                <a:latin typeface="Consolas" panose="020B0609020204030204" pitchFamily="49" charset="0"/>
                <a:sym typeface="Wingdings" panose="05000000000000000000" pitchFamily="2" charset="2"/>
              </a:rPr>
              <a:t>nota_num &lt; 60  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>
                <a:sym typeface="Wingdings" panose="05000000000000000000" pitchFamily="2" charset="2"/>
              </a:rPr>
              <a:t>En caso de que el rango sea invalido (menor que 0 o mayor que 100), colocar un mensaje de error.</a:t>
            </a:r>
            <a:endParaRPr lang="es-CO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CE6AC47-D60A-42B0-9DE4-5BCF8D10A93E}"/>
              </a:ext>
            </a:extLst>
          </p:cNvPr>
          <p:cNvGrpSpPr/>
          <p:nvPr/>
        </p:nvGrpSpPr>
        <p:grpSpPr>
          <a:xfrm>
            <a:off x="313320" y="1740498"/>
            <a:ext cx="8202163" cy="1057667"/>
            <a:chOff x="275676" y="1029668"/>
            <a:chExt cx="8202163" cy="1057667"/>
          </a:xfrm>
        </p:grpSpPr>
        <p:sp>
          <p:nvSpPr>
            <p:cNvPr id="11" name="1 Rectángulo">
              <a:extLst>
                <a:ext uri="{FF2B5EF4-FFF2-40B4-BE49-F238E27FC236}">
                  <a16:creationId xmlns:a16="http://schemas.microsoft.com/office/drawing/2014/main" id="{8E7323C8-BB76-44FF-8949-367B7C8ABE60}"/>
                </a:ext>
              </a:extLst>
            </p:cNvPr>
            <p:cNvSpPr/>
            <p:nvPr/>
          </p:nvSpPr>
          <p:spPr>
            <a:xfrm>
              <a:off x="573787" y="1810336"/>
              <a:ext cx="86433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nota_num</a:t>
              </a:r>
            </a:p>
          </p:txBody>
        </p:sp>
        <p:grpSp>
          <p:nvGrpSpPr>
            <p:cNvPr id="12" name="5 Grupo">
              <a:extLst>
                <a:ext uri="{FF2B5EF4-FFF2-40B4-BE49-F238E27FC236}">
                  <a16:creationId xmlns:a16="http://schemas.microsoft.com/office/drawing/2014/main" id="{C69A7178-2FC5-4D4D-B827-6F3D0E27AEA2}"/>
                </a:ext>
              </a:extLst>
            </p:cNvPr>
            <p:cNvGrpSpPr/>
            <p:nvPr/>
          </p:nvGrpSpPr>
          <p:grpSpPr>
            <a:xfrm>
              <a:off x="275676" y="1029668"/>
              <a:ext cx="8202163" cy="783771"/>
              <a:chOff x="518399" y="1739458"/>
              <a:chExt cx="8202163" cy="783771"/>
            </a:xfrm>
          </p:grpSpPr>
          <p:sp>
            <p:nvSpPr>
              <p:cNvPr id="14" name="10 Rectángulo">
                <a:extLst>
                  <a:ext uri="{FF2B5EF4-FFF2-40B4-BE49-F238E27FC236}">
                    <a16:creationId xmlns:a16="http://schemas.microsoft.com/office/drawing/2014/main" id="{C4090BFD-5B6F-44B4-B071-7305CCAA6DBE}"/>
                  </a:ext>
                </a:extLst>
              </p:cNvPr>
              <p:cNvSpPr/>
              <p:nvPr/>
            </p:nvSpPr>
            <p:spPr>
              <a:xfrm>
                <a:off x="518399" y="1879706"/>
                <a:ext cx="1345763" cy="498763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</a:rPr>
                  <a:t>Inputs</a:t>
                </a:r>
              </a:p>
            </p:txBody>
          </p:sp>
          <p:sp>
            <p:nvSpPr>
              <p:cNvPr id="15" name="11 Rectángulo">
                <a:extLst>
                  <a:ext uri="{FF2B5EF4-FFF2-40B4-BE49-F238E27FC236}">
                    <a16:creationId xmlns:a16="http://schemas.microsoft.com/office/drawing/2014/main" id="{34E40583-8395-43F5-AE6B-E5DD97FDAE1D}"/>
                  </a:ext>
                </a:extLst>
              </p:cNvPr>
              <p:cNvSpPr/>
              <p:nvPr/>
            </p:nvSpPr>
            <p:spPr>
              <a:xfrm>
                <a:off x="3563888" y="1739458"/>
                <a:ext cx="2104858" cy="78377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/>
                  <a:t>Process</a:t>
                </a:r>
              </a:p>
            </p:txBody>
          </p:sp>
          <p:sp>
            <p:nvSpPr>
              <p:cNvPr id="16" name="13 Rectángulo">
                <a:extLst>
                  <a:ext uri="{FF2B5EF4-FFF2-40B4-BE49-F238E27FC236}">
                    <a16:creationId xmlns:a16="http://schemas.microsoft.com/office/drawing/2014/main" id="{952A129B-4249-433B-8359-6D2E153DF99A}"/>
                  </a:ext>
                </a:extLst>
              </p:cNvPr>
              <p:cNvSpPr/>
              <p:nvPr/>
            </p:nvSpPr>
            <p:spPr>
              <a:xfrm>
                <a:off x="7374799" y="1884602"/>
                <a:ext cx="1345763" cy="498763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</a:rPr>
                  <a:t>Outputs</a:t>
                </a:r>
              </a:p>
            </p:txBody>
          </p:sp>
          <p:sp>
            <p:nvSpPr>
              <p:cNvPr id="17" name="14 Flecha derecha">
                <a:extLst>
                  <a:ext uri="{FF2B5EF4-FFF2-40B4-BE49-F238E27FC236}">
                    <a16:creationId xmlns:a16="http://schemas.microsoft.com/office/drawing/2014/main" id="{E36C81BD-46FA-4D64-B8BD-1944A62751E6}"/>
                  </a:ext>
                </a:extLst>
              </p:cNvPr>
              <p:cNvSpPr/>
              <p:nvPr/>
            </p:nvSpPr>
            <p:spPr>
              <a:xfrm>
                <a:off x="1851561" y="2038875"/>
                <a:ext cx="1717589" cy="213756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8" name="21 Flecha derecha">
                <a:extLst>
                  <a:ext uri="{FF2B5EF4-FFF2-40B4-BE49-F238E27FC236}">
                    <a16:creationId xmlns:a16="http://schemas.microsoft.com/office/drawing/2014/main" id="{2D568D24-75B2-4495-945A-15FF073C79A4}"/>
                  </a:ext>
                </a:extLst>
              </p:cNvPr>
              <p:cNvSpPr/>
              <p:nvPr/>
            </p:nvSpPr>
            <p:spPr>
              <a:xfrm>
                <a:off x="5676075" y="2031618"/>
                <a:ext cx="1717589" cy="213756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13" name="1 Rectángulo">
              <a:extLst>
                <a:ext uri="{FF2B5EF4-FFF2-40B4-BE49-F238E27FC236}">
                  <a16:creationId xmlns:a16="http://schemas.microsoft.com/office/drawing/2014/main" id="{20573311-639C-4BE8-9A73-40D9CA72921A}"/>
                </a:ext>
              </a:extLst>
            </p:cNvPr>
            <p:cNvSpPr/>
            <p:nvPr/>
          </p:nvSpPr>
          <p:spPr>
            <a:xfrm>
              <a:off x="7375588" y="1799614"/>
              <a:ext cx="10342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nota_letra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4224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61E5FE54-058F-4B50-B590-0C9950830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3 – Solución forma 2</a:t>
            </a:r>
          </a:p>
        </p:txBody>
      </p:sp>
      <p:graphicFrame>
        <p:nvGraphicFramePr>
          <p:cNvPr id="8" name="5 Tabla">
            <a:extLst>
              <a:ext uri="{FF2B5EF4-FFF2-40B4-BE49-F238E27FC236}">
                <a16:creationId xmlns:a16="http://schemas.microsoft.com/office/drawing/2014/main" id="{FA31174F-F623-4A23-B6FD-8F55EE054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715028"/>
              </p:ext>
            </p:extLst>
          </p:nvPr>
        </p:nvGraphicFramePr>
        <p:xfrm>
          <a:off x="497108" y="2780928"/>
          <a:ext cx="3532530" cy="2620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8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061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Grado numérico</a:t>
                      </a:r>
                      <a:endParaRPr lang="es-ES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9" marR="91439" marT="45684" marB="4568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Grado en letra</a:t>
                      </a:r>
                      <a:endParaRPr lang="es-ES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91439" marR="91439" marT="45684" marB="45684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(nota_num &gt; 100) or (nota_num &lt; 0)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Consolas" panose="020B0609020204030204" pitchFamily="49" charset="0"/>
                        </a:rPr>
                        <a:t>Nota invalida</a:t>
                      </a: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3312839258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90 &lt;=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nota_num &lt;= 100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A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80 &lt;=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nota_num &lt; 90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B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70 &lt;=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nota_num &lt; 80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C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60 &lt;=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nota_num &lt; 70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D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2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nota_num &lt; 60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E</a:t>
                      </a:r>
                      <a:endParaRPr lang="es-ES" sz="1400" dirty="0">
                        <a:latin typeface="Consolas" panose="020B0609020204030204" pitchFamily="49" charset="0"/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78812F97-D5FC-414D-AD34-30E883C8EC39}"/>
              </a:ext>
            </a:extLst>
          </p:cNvPr>
          <p:cNvSpPr txBox="1"/>
          <p:nvPr/>
        </p:nvSpPr>
        <p:spPr>
          <a:xfrm>
            <a:off x="313320" y="926522"/>
            <a:ext cx="390010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/>
              <a:t>La siguiente estructura del algoritmo sigue siendo fiel a la tabla, sin embargo la implementación lógica es diferente a la anteriormente planteada: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326DE0F-EDCD-428C-90A9-651065A2D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575" y="926522"/>
            <a:ext cx="3406756" cy="581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323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61E5FE54-058F-4B50-B590-0C9950830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3 – Solución forma 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F184E3C-ECD2-4DB9-9754-C2F014D8430C}"/>
              </a:ext>
            </a:extLst>
          </p:cNvPr>
          <p:cNvSpPr txBox="1"/>
          <p:nvPr/>
        </p:nvSpPr>
        <p:spPr>
          <a:xfrm>
            <a:off x="4122111" y="1484784"/>
            <a:ext cx="4807396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</a:t>
            </a:r>
            <a:r>
              <a:rPr lang="es-MX" sz="1200" dirty="0" err="1">
                <a:latin typeface="Consolas" panose="020B0609020204030204" pitchFamily="49" charset="0"/>
              </a:rPr>
              <a:t>nota_num</a:t>
            </a:r>
            <a:r>
              <a:rPr lang="es-MX" sz="12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Si ((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&gt; 100) or 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&lt; 0)) Entonces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Escribir('ERROR: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nota_num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&gt;= 90) Entonces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Si ((nota_num &lt; 90) and (nota_num &gt;= 80)) Entonces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Si ((nota_num &lt; 80) and (nota_num &gt;= 70)) Entonces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Si ((nota_num &lt; 70) and (nota_num &gt;= 60)) Entonces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  nota_letra = 'D'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Fin_Si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Si (nota_num &lt; 60) Entonces</a:t>
            </a:r>
          </a:p>
          <a:p>
            <a:r>
              <a:rPr lang="es-MX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s-MX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'E'     </a:t>
            </a:r>
          </a:p>
          <a:p>
            <a:r>
              <a:rPr lang="es-MX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Fin_Si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Escribir(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73B0FA5-8D49-4ACF-9D97-838930877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97" y="865375"/>
            <a:ext cx="2792668" cy="583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365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>
            <a:extLst>
              <a:ext uri="{FF2B5EF4-FFF2-40B4-BE49-F238E27FC236}">
                <a16:creationId xmlns:a16="http://schemas.microsoft.com/office/drawing/2014/main" id="{199F12CF-7FC8-4A4F-89A7-F5C14E6A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3 – Solución forma 2</a:t>
            </a:r>
          </a:p>
        </p:txBody>
      </p:sp>
      <p:sp>
        <p:nvSpPr>
          <p:cNvPr id="10" name="5 Rectángulo">
            <a:extLst>
              <a:ext uri="{FF2B5EF4-FFF2-40B4-BE49-F238E27FC236}">
                <a16:creationId xmlns:a16="http://schemas.microsoft.com/office/drawing/2014/main" id="{E053AEFB-CF6C-41E4-B1D6-F85D67ADE64C}"/>
              </a:ext>
            </a:extLst>
          </p:cNvPr>
          <p:cNvSpPr/>
          <p:nvPr/>
        </p:nvSpPr>
        <p:spPr>
          <a:xfrm>
            <a:off x="463269" y="3960212"/>
            <a:ext cx="28655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Prueba de escritorio: </a:t>
            </a:r>
            <a:endParaRPr lang="es-CO" sz="2000" dirty="0"/>
          </a:p>
        </p:txBody>
      </p:sp>
      <p:graphicFrame>
        <p:nvGraphicFramePr>
          <p:cNvPr id="11" name="7 Tabla">
            <a:extLst>
              <a:ext uri="{FF2B5EF4-FFF2-40B4-BE49-F238E27FC236}">
                <a16:creationId xmlns:a16="http://schemas.microsoft.com/office/drawing/2014/main" id="{731C9F53-059D-477C-AA9C-490602E52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569930"/>
              </p:ext>
            </p:extLst>
          </p:nvPr>
        </p:nvGraphicFramePr>
        <p:xfrm>
          <a:off x="729507" y="4470611"/>
          <a:ext cx="2599276" cy="17401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1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039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notaNum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Salida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0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21 Tabla">
            <a:extLst>
              <a:ext uri="{FF2B5EF4-FFF2-40B4-BE49-F238E27FC236}">
                <a16:creationId xmlns:a16="http://schemas.microsoft.com/office/drawing/2014/main" id="{D6C59910-E40A-4000-B6B9-740E458E3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12514"/>
              </p:ext>
            </p:extLst>
          </p:nvPr>
        </p:nvGraphicFramePr>
        <p:xfrm>
          <a:off x="596388" y="1478528"/>
          <a:ext cx="2865514" cy="238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4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notaNum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notaLetra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101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80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53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96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67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79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Invalida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B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A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D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C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Invalida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2 Rectángulo">
            <a:extLst>
              <a:ext uri="{FF2B5EF4-FFF2-40B4-BE49-F238E27FC236}">
                <a16:creationId xmlns:a16="http://schemas.microsoft.com/office/drawing/2014/main" id="{CC8FCC7F-C31D-40B5-A3C3-7343054B30EC}"/>
              </a:ext>
            </a:extLst>
          </p:cNvPr>
          <p:cNvSpPr/>
          <p:nvPr/>
        </p:nvSpPr>
        <p:spPr>
          <a:xfrm>
            <a:off x="313320" y="1006973"/>
            <a:ext cx="44026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Casos de test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74ED615-88AD-4D3E-9A19-BD04EF25C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486" y="942733"/>
            <a:ext cx="2792668" cy="583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540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1C3799DD-C99F-4890-AD50-136E7F6F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55996"/>
            <a:ext cx="8784976" cy="773749"/>
          </a:xfrm>
        </p:spPr>
        <p:txBody>
          <a:bodyPr>
            <a:noAutofit/>
          </a:bodyPr>
          <a:lstStyle/>
          <a:p>
            <a:r>
              <a:rPr lang="en-US" sz="3600" dirty="0"/>
              <a:t>Ejemplo 3 – Codificación en python (forma 1)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238E20-58CE-4E7E-A199-663C6861107D}"/>
              </a:ext>
            </a:extLst>
          </p:cNvPr>
          <p:cNvSpPr txBox="1"/>
          <p:nvPr/>
        </p:nvSpPr>
        <p:spPr>
          <a:xfrm>
            <a:off x="4252423" y="3068960"/>
            <a:ext cx="4329881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nota_num = </a:t>
            </a:r>
            <a:r>
              <a:rPr lang="es-CO" sz="1200" dirty="0" err="1">
                <a:latin typeface="Consolas" panose="020B0609020204030204" pitchFamily="49" charset="0"/>
              </a:rPr>
              <a:t>int</a:t>
            </a:r>
            <a:r>
              <a:rPr lang="es-CO" sz="1200" dirty="0">
                <a:latin typeface="Consolas" panose="020B0609020204030204" pitchFamily="49" charset="0"/>
              </a:rPr>
              <a:t>(input("Digite la nota [0,100]: "))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if ((nota_num &gt; 100) or (nota_num &lt; 0)):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if (nota_num &gt;= 90):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if ((nota_num &lt; 90) and (nota_num &gt;= 80)):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if ((nota_num &lt; 80) and (nota_num &gt;= 70)):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if ((nota_num &lt; 70) and (nota_num &gt;= 60)):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nota_letra = 'D'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if (nota_num &lt; 60):</a:t>
            </a:r>
          </a:p>
          <a:p>
            <a:r>
              <a:rPr lang="es-MX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nota_letra = 'E' 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(f'{nota_num}: 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}')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B4DBE65-CA8E-4420-9443-1D53D2206120}"/>
              </a:ext>
            </a:extLst>
          </p:cNvPr>
          <p:cNvSpPr txBox="1"/>
          <p:nvPr/>
        </p:nvSpPr>
        <p:spPr>
          <a:xfrm>
            <a:off x="4252423" y="1052736"/>
            <a:ext cx="39001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/>
              <a:t>En este caso, se implementa cada condición empleando operadores lógicos de manera explicita para expresar los rangos.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043AF93-3B34-41F2-ACA1-681C23F1B718}"/>
              </a:ext>
            </a:extLst>
          </p:cNvPr>
          <p:cNvSpPr txBox="1"/>
          <p:nvPr/>
        </p:nvSpPr>
        <p:spPr>
          <a:xfrm>
            <a:off x="5796136" y="5934049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+mj-lt"/>
                <a:hlinkClick r:id="rId2"/>
              </a:rPr>
              <a:t>Link de ejecución</a:t>
            </a:r>
            <a:endParaRPr lang="es-CO" sz="1200" dirty="0">
              <a:latin typeface="+mj-lt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CE57EE8-C97C-427A-A3E0-90276733C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97" y="865375"/>
            <a:ext cx="2792668" cy="583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954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1C3799DD-C99F-4890-AD50-136E7F6F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8651168" cy="77374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Ejemplo 3 – Codificación en python (forma 2)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B8855A7-3D45-460B-9028-451D9BD90D9F}"/>
              </a:ext>
            </a:extLst>
          </p:cNvPr>
          <p:cNvSpPr txBox="1"/>
          <p:nvPr/>
        </p:nvSpPr>
        <p:spPr>
          <a:xfrm>
            <a:off x="4211253" y="3212976"/>
            <a:ext cx="4329881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nota_num = </a:t>
            </a:r>
            <a:r>
              <a:rPr lang="es-CO" sz="1200" dirty="0" err="1">
                <a:latin typeface="Consolas" panose="020B0609020204030204" pitchFamily="49" charset="0"/>
              </a:rPr>
              <a:t>int</a:t>
            </a:r>
            <a:r>
              <a:rPr lang="es-CO" sz="1200" dirty="0">
                <a:latin typeface="Consolas" panose="020B0609020204030204" pitchFamily="49" charset="0"/>
              </a:rPr>
              <a:t>(input("Digite la nota [0,100]: "))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if ((nota_num &gt; 100) or (nota_num &lt; 0)):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('ERROR: Nota invalida')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if (nota_num &gt;= 90):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= 'A'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if (80 &lt;= nota_num &lt; 90):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= 'B'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if (70 &lt;= nota_num &lt; 80):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</a:t>
            </a:r>
            <a:r>
              <a:rPr lang="es-MX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= 'C'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if (60 &lt;= nota_num &lt; 70):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   </a:t>
            </a:r>
            <a:r>
              <a:rPr lang="es-MX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= 'D'</a:t>
            </a:r>
          </a:p>
          <a:p>
            <a:r>
              <a:rPr lang="es-MX" sz="12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if (nota_num &lt; 60):</a:t>
            </a:r>
          </a:p>
          <a:p>
            <a:r>
              <a:rPr lang="es-MX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</a:t>
            </a:r>
            <a:r>
              <a:rPr lang="es-MX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'E' 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(f'{nota_num}: {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nota_letra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}')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D8766C-B77E-4306-BE14-59A015CB4A18}"/>
              </a:ext>
            </a:extLst>
          </p:cNvPr>
          <p:cNvSpPr txBox="1"/>
          <p:nvPr/>
        </p:nvSpPr>
        <p:spPr>
          <a:xfrm>
            <a:off x="4252423" y="1052736"/>
            <a:ext cx="42887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/>
              <a:t>Teniendo en cuenta que Python soporta encadenamiento de operadores, los rangos empleados para las condiciones se expresan de manera similar a como se haría matemáticamente.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E4F3134-8ABD-4825-BF4D-85D534BE496E}"/>
              </a:ext>
            </a:extLst>
          </p:cNvPr>
          <p:cNvSpPr txBox="1"/>
          <p:nvPr/>
        </p:nvSpPr>
        <p:spPr>
          <a:xfrm>
            <a:off x="5603300" y="6075298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+mj-lt"/>
                <a:hlinkClick r:id="rId2"/>
              </a:rPr>
              <a:t>Link de ejecución</a:t>
            </a:r>
            <a:endParaRPr lang="es-CO" sz="1200" dirty="0">
              <a:latin typeface="+mj-lt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62FAA51-DE60-4C4F-80C4-5692D02F1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81" y="868451"/>
            <a:ext cx="2792668" cy="583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283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>
            <a:extLst>
              <a:ext uri="{FF2B5EF4-FFF2-40B4-BE49-F238E27FC236}">
                <a16:creationId xmlns:a16="http://schemas.microsoft.com/office/drawing/2014/main" id="{44C1B6B9-E718-4E3D-AA2C-3B3C841E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85119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3 – Comparación de soluciones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6C549B1-2832-434D-A34F-DE85FC085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3" y="1331836"/>
            <a:ext cx="4902033" cy="4896544"/>
          </a:xfrm>
          <a:prstGeom prst="rect">
            <a:avLst/>
          </a:prstGeom>
        </p:spPr>
      </p:pic>
      <p:sp>
        <p:nvSpPr>
          <p:cNvPr id="17" name="2 Flecha izquierda y derecha">
            <a:extLst>
              <a:ext uri="{FF2B5EF4-FFF2-40B4-BE49-F238E27FC236}">
                <a16:creationId xmlns:a16="http://schemas.microsoft.com/office/drawing/2014/main" id="{1FBFE17E-04BF-4AB2-890D-B54F9A4ED4C4}"/>
              </a:ext>
            </a:extLst>
          </p:cNvPr>
          <p:cNvSpPr/>
          <p:nvPr/>
        </p:nvSpPr>
        <p:spPr>
          <a:xfrm>
            <a:off x="4202528" y="2371486"/>
            <a:ext cx="1578548" cy="360040"/>
          </a:xfrm>
          <a:prstGeom prst="left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1 Rectángulo">
            <a:extLst>
              <a:ext uri="{FF2B5EF4-FFF2-40B4-BE49-F238E27FC236}">
                <a16:creationId xmlns:a16="http://schemas.microsoft.com/office/drawing/2014/main" id="{834EEC60-3579-4365-80C8-ED09335FF046}"/>
              </a:ext>
            </a:extLst>
          </p:cNvPr>
          <p:cNvSpPr/>
          <p:nvPr/>
        </p:nvSpPr>
        <p:spPr>
          <a:xfrm>
            <a:off x="4222113" y="1909853"/>
            <a:ext cx="15896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Comparación</a:t>
            </a:r>
            <a:endParaRPr lang="es-CO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F64EA1C-4EE2-4817-9C34-181F8E7C9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994" y="904739"/>
            <a:ext cx="2792668" cy="583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983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>
            <a:extLst>
              <a:ext uri="{FF2B5EF4-FFF2-40B4-BE49-F238E27FC236}">
                <a16:creationId xmlns:a16="http://schemas.microsoft.com/office/drawing/2014/main" id="{44C1B6B9-E718-4E3D-AA2C-3B3C841E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365127"/>
            <a:ext cx="8640960" cy="61560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Ejemplo 3 – Comparación de soluciones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DE751DC-E640-4B6F-8A34-EDA24E4F6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90" y="1052736"/>
            <a:ext cx="8416374" cy="5344021"/>
          </a:xfrm>
        </p:spPr>
        <p:txBody>
          <a:bodyPr>
            <a:normAutofit/>
          </a:bodyPr>
          <a:lstStyle/>
          <a:p>
            <a:r>
              <a:rPr lang="es-MX" sz="2400" dirty="0"/>
              <a:t>Existen múltiples formas válidas de implementar la misma lógica; lo esencial es que el control de flujo produzca el mismo comportamiento.</a:t>
            </a:r>
          </a:p>
          <a:p>
            <a:r>
              <a:rPr lang="es-MX" sz="2400" dirty="0"/>
              <a:t>Determinar cuál implementación es "mejor" (más eficiente, más compacta) corresponde al </a:t>
            </a:r>
            <a:r>
              <a:rPr lang="es-MX" sz="2400" b="1" dirty="0"/>
              <a:t>análisis de algoritmos</a:t>
            </a:r>
            <a:r>
              <a:rPr lang="es-MX" sz="2400" dirty="0"/>
              <a:t>, un tema fuera del alcance de este curso.</a:t>
            </a:r>
          </a:p>
          <a:p>
            <a:r>
              <a:rPr lang="es-MX" sz="2400" dirty="0"/>
              <a:t>Lo más importante es la creatividad para traducir una idea en instrucciones ejecutables por una máquina: la lógica define el algoritmo (independiente del lenguaje), y el lenguaje de programación es el medio para expresarlo de forma que la máquina lo entienda.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8854507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2" y="260648"/>
            <a:ext cx="7617582" cy="773749"/>
          </a:xfrm>
        </p:spPr>
        <p:txBody>
          <a:bodyPr/>
          <a:lstStyle/>
          <a:p>
            <a:r>
              <a:rPr lang="en-US" dirty="0"/>
              <a:t>Ejemplos de repaso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24744"/>
            <a:ext cx="8424936" cy="5092607"/>
          </a:xfrm>
        </p:spPr>
        <p:txBody>
          <a:bodyPr>
            <a:normAutofit/>
          </a:bodyPr>
          <a:lstStyle/>
          <a:p>
            <a:pPr marL="514350" indent="-457200">
              <a:buFont typeface="+mj-lt"/>
              <a:buAutoNum type="arabicPeriod" startAt="4"/>
            </a:pPr>
            <a:r>
              <a:rPr lang="es-MX" sz="2200" dirty="0"/>
              <a:t>Se desea obtener la nomina semanal (salario neto) – de los empleados de una empresa cuyo trabajo se paga por horas y del siguiente modo:</a:t>
            </a:r>
          </a:p>
          <a:p>
            <a:pPr marL="857250" lvl="1" indent="-342900"/>
            <a:r>
              <a:rPr lang="es-MX" sz="2200" dirty="0"/>
              <a:t>Las horas inferiores o iguales a 35 horas (normales) se pagan a una tarifa que se debe introducir por teclado igual que el numero de horas y el nombre del trabajador.</a:t>
            </a:r>
          </a:p>
          <a:p>
            <a:pPr marL="857250" lvl="1" indent="-342900"/>
            <a:r>
              <a:rPr lang="es-MX" sz="2200" dirty="0"/>
              <a:t>Las horas superiores a 35 se pagaran como extra a un precio de 1.5 horas normales. </a:t>
            </a:r>
          </a:p>
          <a:p>
            <a:pPr marL="857250" lvl="1" indent="-342900"/>
            <a:r>
              <a:rPr lang="es-MX" sz="2200" dirty="0"/>
              <a:t>Los impuestos a deducir a los trabajadores varían en función de su sueldo mensual:</a:t>
            </a:r>
          </a:p>
          <a:p>
            <a:pPr marL="1314450" lvl="2" indent="-342900">
              <a:buFontTx/>
              <a:buChar char="-"/>
            </a:pPr>
            <a:r>
              <a:rPr lang="es-MX" sz="2200" dirty="0"/>
              <a:t>Si sueldo &lt;= 300000, libre de impuestos.</a:t>
            </a:r>
          </a:p>
          <a:p>
            <a:pPr marL="1314450" lvl="2" indent="-342900">
              <a:buFontTx/>
              <a:buChar char="-"/>
            </a:pPr>
            <a:r>
              <a:rPr lang="es-MX" sz="2200" dirty="0"/>
              <a:t>Los siguientes 150000 al 20%.</a:t>
            </a:r>
          </a:p>
          <a:p>
            <a:pPr marL="1314450" lvl="2" indent="-342900">
              <a:buFontTx/>
              <a:buChar char="-"/>
            </a:pPr>
            <a:r>
              <a:rPr lang="es-MX" sz="2200" dirty="0"/>
              <a:t>El resto al 30%.</a:t>
            </a:r>
          </a:p>
          <a:p>
            <a:pPr marL="514350" indent="-457200">
              <a:buFont typeface="+mj-lt"/>
              <a:buAutoNum type="arabicPeriod" startAt="4"/>
            </a:pPr>
            <a:endParaRPr lang="es-CO" sz="2000" dirty="0"/>
          </a:p>
          <a:p>
            <a:pPr marL="514350" indent="-457200">
              <a:buFont typeface="+mj-lt"/>
              <a:buAutoNum type="arabicPeriod" startAt="4"/>
            </a:pPr>
            <a:endParaRPr lang="es-MX" sz="2200" i="1" dirty="0"/>
          </a:p>
        </p:txBody>
      </p:sp>
    </p:spTree>
    <p:extLst>
      <p:ext uri="{BB962C8B-B14F-4D97-AF65-F5344CB8AC3E}">
        <p14:creationId xmlns:p14="http://schemas.microsoft.com/office/powerpoint/2010/main" val="29868096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313320" y="910273"/>
            <a:ext cx="85173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dirty="0"/>
              <a:t>Se desea obtener la </a:t>
            </a:r>
            <a:r>
              <a:rPr lang="es-CO" sz="2200" b="1" dirty="0">
                <a:solidFill>
                  <a:schemeClr val="accent2"/>
                </a:solidFill>
              </a:rPr>
              <a:t>nomina semanal (salario neto)</a:t>
            </a:r>
            <a:r>
              <a:rPr lang="es-CO" sz="2200" dirty="0"/>
              <a:t> – de los empleados de una empresa cuyo trabajo se paga por </a:t>
            </a:r>
            <a:r>
              <a:rPr lang="es-CO" sz="2200" b="1" dirty="0">
                <a:solidFill>
                  <a:srgbClr val="C00000"/>
                </a:solidFill>
              </a:rPr>
              <a:t>horas</a:t>
            </a:r>
            <a:r>
              <a:rPr lang="es-CO" sz="2200" dirty="0"/>
              <a:t> y del siguiente modo: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200" dirty="0"/>
              <a:t>Las horas inferiores o iguales a 35 horas (normales) se pagan a una </a:t>
            </a:r>
            <a:r>
              <a:rPr lang="es-CO" sz="2200" b="1" dirty="0">
                <a:solidFill>
                  <a:schemeClr val="accent5"/>
                </a:solidFill>
              </a:rPr>
              <a:t>tarifa</a:t>
            </a:r>
            <a:r>
              <a:rPr lang="es-CO" sz="2200" b="1" dirty="0">
                <a:solidFill>
                  <a:srgbClr val="FF0000"/>
                </a:solidFill>
              </a:rPr>
              <a:t> </a:t>
            </a:r>
            <a:r>
              <a:rPr lang="es-CO" sz="2200" u="sng" dirty="0"/>
              <a:t>que se debe introducir por teclado igual que el numero de horas</a:t>
            </a:r>
            <a:r>
              <a:rPr lang="es-CO" sz="2200" dirty="0"/>
              <a:t> y el </a:t>
            </a:r>
            <a:r>
              <a:rPr lang="es-CO" sz="2200" b="1" dirty="0">
                <a:solidFill>
                  <a:schemeClr val="accent5"/>
                </a:solidFill>
              </a:rPr>
              <a:t>nombre del trabajador</a:t>
            </a:r>
            <a:r>
              <a:rPr lang="es-CO" sz="2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200" dirty="0"/>
              <a:t>Las horas superiores a 35 se pagaran como extra a un precio de 1.5 horas normales.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200" dirty="0"/>
              <a:t>Los </a:t>
            </a:r>
            <a:r>
              <a:rPr lang="es-CO" sz="2200" b="1" dirty="0">
                <a:solidFill>
                  <a:schemeClr val="accent2"/>
                </a:solidFill>
              </a:rPr>
              <a:t>impuestos</a:t>
            </a:r>
            <a:r>
              <a:rPr lang="es-CO" sz="2200" dirty="0"/>
              <a:t> a deducir a los trabajadores varían en función de su sueldo neto:</a:t>
            </a:r>
          </a:p>
          <a:p>
            <a:pPr marL="742950" lvl="1" indent="-285750">
              <a:buFontTx/>
              <a:buChar char="-"/>
            </a:pPr>
            <a:r>
              <a:rPr lang="es-CO" sz="2200" dirty="0"/>
              <a:t>Si sueldo &lt;= 300000, libre de impuestos.</a:t>
            </a:r>
          </a:p>
          <a:p>
            <a:pPr marL="742950" lvl="1" indent="-285750">
              <a:buFontTx/>
              <a:buChar char="-"/>
            </a:pPr>
            <a:r>
              <a:rPr lang="es-CO" sz="2200" dirty="0"/>
              <a:t>Los siguientes 150000 al 20%.</a:t>
            </a:r>
          </a:p>
          <a:p>
            <a:pPr marL="742950" lvl="1" indent="-285750">
              <a:buFontTx/>
              <a:buChar char="-"/>
            </a:pPr>
            <a:r>
              <a:rPr lang="es-CO" sz="2200" dirty="0"/>
              <a:t>El resto al 30%.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135B1E-3007-4625-BBD4-3DDF07A08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4 - Solución</a:t>
            </a:r>
          </a:p>
        </p:txBody>
      </p:sp>
    </p:spTree>
    <p:extLst>
      <p:ext uri="{BB962C8B-B14F-4D97-AF65-F5344CB8AC3E}">
        <p14:creationId xmlns:p14="http://schemas.microsoft.com/office/powerpoint/2010/main" val="32064419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 CuadroTexto"/>
          <p:cNvSpPr txBox="1"/>
          <p:nvPr/>
        </p:nvSpPr>
        <p:spPr>
          <a:xfrm>
            <a:off x="313320" y="910273"/>
            <a:ext cx="4004951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Datos de entrada: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Nombre.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Horas trabajadas.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Tarifa hora.</a:t>
            </a:r>
          </a:p>
          <a:p>
            <a:r>
              <a:rPr lang="es-CO" sz="2400" b="1" dirty="0"/>
              <a:t>Datos de salida: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Salario neto.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Nombre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Impuestos.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Salario bruto.</a:t>
            </a:r>
          </a:p>
        </p:txBody>
      </p:sp>
      <p:sp>
        <p:nvSpPr>
          <p:cNvPr id="2" name="1 Rectángulo"/>
          <p:cNvSpPr/>
          <p:nvPr/>
        </p:nvSpPr>
        <p:spPr>
          <a:xfrm>
            <a:off x="4570016" y="910273"/>
            <a:ext cx="4260664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/>
              <a:t>Proceso: 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000" dirty="0"/>
              <a:t>Solicitar datos de entrada (nombre, valor hora, tarifa por hora).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000" dirty="0"/>
              <a:t>Verificar horas trabajadas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000" dirty="0"/>
              <a:t>Calcular impuestos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000" dirty="0"/>
              <a:t>Calculo del salario neto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000" dirty="0"/>
              <a:t>Mostrar datos de salida (nombre, salario base, impuestos, salario neto)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F9FD2A7-5EEF-4E75-9D42-12F22E40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4 - Solución</a:t>
            </a:r>
          </a:p>
        </p:txBody>
      </p:sp>
    </p:spTree>
    <p:extLst>
      <p:ext uri="{BB962C8B-B14F-4D97-AF65-F5344CB8AC3E}">
        <p14:creationId xmlns:p14="http://schemas.microsoft.com/office/powerpoint/2010/main" val="17868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2F9FD2A7-5EEF-4E75-9D42-12F22E40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20" y="136524"/>
            <a:ext cx="7617582" cy="773749"/>
          </a:xfrm>
        </p:spPr>
        <p:txBody>
          <a:bodyPr>
            <a:normAutofit/>
          </a:bodyPr>
          <a:lstStyle/>
          <a:p>
            <a:r>
              <a:rPr lang="en-US" sz="4000" dirty="0"/>
              <a:t>Ejemplo 4 - Solución</a:t>
            </a:r>
          </a:p>
        </p:txBody>
      </p:sp>
      <p:sp>
        <p:nvSpPr>
          <p:cNvPr id="27" name="1 Rectángulo">
            <a:extLst>
              <a:ext uri="{FF2B5EF4-FFF2-40B4-BE49-F238E27FC236}">
                <a16:creationId xmlns:a16="http://schemas.microsoft.com/office/drawing/2014/main" id="{D58B1961-9D96-4A10-B8F2-03920E9AD718}"/>
              </a:ext>
            </a:extLst>
          </p:cNvPr>
          <p:cNvSpPr/>
          <p:nvPr/>
        </p:nvSpPr>
        <p:spPr>
          <a:xfrm>
            <a:off x="643924" y="1687269"/>
            <a:ext cx="4395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nom</a:t>
            </a:r>
          </a:p>
        </p:txBody>
      </p:sp>
      <p:grpSp>
        <p:nvGrpSpPr>
          <p:cNvPr id="28" name="5 Grupo">
            <a:extLst>
              <a:ext uri="{FF2B5EF4-FFF2-40B4-BE49-F238E27FC236}">
                <a16:creationId xmlns:a16="http://schemas.microsoft.com/office/drawing/2014/main" id="{27D7AA0A-2437-4606-BDA4-8625A1400786}"/>
              </a:ext>
            </a:extLst>
          </p:cNvPr>
          <p:cNvGrpSpPr/>
          <p:nvPr/>
        </p:nvGrpSpPr>
        <p:grpSpPr>
          <a:xfrm>
            <a:off x="199059" y="1066748"/>
            <a:ext cx="8202163" cy="783771"/>
            <a:chOff x="518399" y="1739458"/>
            <a:chExt cx="8202163" cy="783771"/>
          </a:xfrm>
        </p:grpSpPr>
        <p:sp>
          <p:nvSpPr>
            <p:cNvPr id="29" name="10 Rectángulo">
              <a:extLst>
                <a:ext uri="{FF2B5EF4-FFF2-40B4-BE49-F238E27FC236}">
                  <a16:creationId xmlns:a16="http://schemas.microsoft.com/office/drawing/2014/main" id="{924234C1-6007-4D1A-BAFC-F7A9712B0517}"/>
                </a:ext>
              </a:extLst>
            </p:cNvPr>
            <p:cNvSpPr/>
            <p:nvPr/>
          </p:nvSpPr>
          <p:spPr>
            <a:xfrm>
              <a:off x="518399" y="1879706"/>
              <a:ext cx="1345763" cy="498763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</a:rPr>
                <a:t>Inputs</a:t>
              </a:r>
            </a:p>
          </p:txBody>
        </p:sp>
        <p:sp>
          <p:nvSpPr>
            <p:cNvPr id="30" name="11 Rectángulo">
              <a:extLst>
                <a:ext uri="{FF2B5EF4-FFF2-40B4-BE49-F238E27FC236}">
                  <a16:creationId xmlns:a16="http://schemas.microsoft.com/office/drawing/2014/main" id="{DD2BA249-5886-4DDB-8FA2-97C7A7FE3120}"/>
                </a:ext>
              </a:extLst>
            </p:cNvPr>
            <p:cNvSpPr/>
            <p:nvPr/>
          </p:nvSpPr>
          <p:spPr>
            <a:xfrm>
              <a:off x="3563888" y="1739458"/>
              <a:ext cx="2104858" cy="78377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/>
                <a:t>Process</a:t>
              </a:r>
            </a:p>
          </p:txBody>
        </p:sp>
        <p:sp>
          <p:nvSpPr>
            <p:cNvPr id="31" name="13 Rectángulo">
              <a:extLst>
                <a:ext uri="{FF2B5EF4-FFF2-40B4-BE49-F238E27FC236}">
                  <a16:creationId xmlns:a16="http://schemas.microsoft.com/office/drawing/2014/main" id="{05397D0A-41B2-4864-83BC-9C2492F29D8E}"/>
                </a:ext>
              </a:extLst>
            </p:cNvPr>
            <p:cNvSpPr/>
            <p:nvPr/>
          </p:nvSpPr>
          <p:spPr>
            <a:xfrm>
              <a:off x="7374799" y="1884602"/>
              <a:ext cx="1345763" cy="498763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</a:rPr>
                <a:t>Outputs</a:t>
              </a:r>
            </a:p>
          </p:txBody>
        </p:sp>
        <p:sp>
          <p:nvSpPr>
            <p:cNvPr id="32" name="14 Flecha derecha">
              <a:extLst>
                <a:ext uri="{FF2B5EF4-FFF2-40B4-BE49-F238E27FC236}">
                  <a16:creationId xmlns:a16="http://schemas.microsoft.com/office/drawing/2014/main" id="{5820D118-560E-46A2-A053-8E09192579AB}"/>
                </a:ext>
              </a:extLst>
            </p:cNvPr>
            <p:cNvSpPr/>
            <p:nvPr/>
          </p:nvSpPr>
          <p:spPr>
            <a:xfrm>
              <a:off x="1851561" y="2038875"/>
              <a:ext cx="1717589" cy="213756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21 Flecha derecha">
              <a:extLst>
                <a:ext uri="{FF2B5EF4-FFF2-40B4-BE49-F238E27FC236}">
                  <a16:creationId xmlns:a16="http://schemas.microsoft.com/office/drawing/2014/main" id="{76512A0D-3088-4677-B5A5-F37AB8FB5184}"/>
                </a:ext>
              </a:extLst>
            </p:cNvPr>
            <p:cNvSpPr/>
            <p:nvPr/>
          </p:nvSpPr>
          <p:spPr>
            <a:xfrm>
              <a:off x="5676075" y="2031618"/>
              <a:ext cx="1717589" cy="213756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34" name="1 Rectángulo">
            <a:extLst>
              <a:ext uri="{FF2B5EF4-FFF2-40B4-BE49-F238E27FC236}">
                <a16:creationId xmlns:a16="http://schemas.microsoft.com/office/drawing/2014/main" id="{F99E2C7C-9D91-46A2-8627-0C720FB1239A}"/>
              </a:ext>
            </a:extLst>
          </p:cNvPr>
          <p:cNvSpPr/>
          <p:nvPr/>
        </p:nvSpPr>
        <p:spPr>
          <a:xfrm>
            <a:off x="643924" y="1910591"/>
            <a:ext cx="1289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hr_trabajadas</a:t>
            </a:r>
          </a:p>
        </p:txBody>
      </p:sp>
      <p:sp>
        <p:nvSpPr>
          <p:cNvPr id="35" name="1 Rectángulo">
            <a:extLst>
              <a:ext uri="{FF2B5EF4-FFF2-40B4-BE49-F238E27FC236}">
                <a16:creationId xmlns:a16="http://schemas.microsoft.com/office/drawing/2014/main" id="{DA5A5428-947F-4FFB-B38F-9DBA097CA106}"/>
              </a:ext>
            </a:extLst>
          </p:cNvPr>
          <p:cNvSpPr/>
          <p:nvPr/>
        </p:nvSpPr>
        <p:spPr>
          <a:xfrm>
            <a:off x="643924" y="2178715"/>
            <a:ext cx="9492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hr_precio</a:t>
            </a:r>
          </a:p>
        </p:txBody>
      </p:sp>
      <p:sp>
        <p:nvSpPr>
          <p:cNvPr id="36" name="1 Rectángulo">
            <a:extLst>
              <a:ext uri="{FF2B5EF4-FFF2-40B4-BE49-F238E27FC236}">
                <a16:creationId xmlns:a16="http://schemas.microsoft.com/office/drawing/2014/main" id="{96584B1F-0844-42BA-8E76-92EB3A283718}"/>
              </a:ext>
            </a:extLst>
          </p:cNvPr>
          <p:cNvSpPr/>
          <p:nvPr/>
        </p:nvSpPr>
        <p:spPr>
          <a:xfrm>
            <a:off x="7170247" y="2241509"/>
            <a:ext cx="8643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sal_base</a:t>
            </a:r>
          </a:p>
        </p:txBody>
      </p:sp>
      <p:sp>
        <p:nvSpPr>
          <p:cNvPr id="37" name="1 Rectángulo">
            <a:extLst>
              <a:ext uri="{FF2B5EF4-FFF2-40B4-BE49-F238E27FC236}">
                <a16:creationId xmlns:a16="http://schemas.microsoft.com/office/drawing/2014/main" id="{763FAB2F-388F-4C9D-B4FF-644CE7E58775}"/>
              </a:ext>
            </a:extLst>
          </p:cNvPr>
          <p:cNvSpPr/>
          <p:nvPr/>
        </p:nvSpPr>
        <p:spPr>
          <a:xfrm>
            <a:off x="2247372" y="3024678"/>
            <a:ext cx="30732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sal_base = hr_trabajadas*hr_precio</a:t>
            </a:r>
          </a:p>
        </p:txBody>
      </p:sp>
      <p:sp>
        <p:nvSpPr>
          <p:cNvPr id="38" name="1 Rectángulo">
            <a:extLst>
              <a:ext uri="{FF2B5EF4-FFF2-40B4-BE49-F238E27FC236}">
                <a16:creationId xmlns:a16="http://schemas.microsoft.com/office/drawing/2014/main" id="{D769F611-6250-46F7-9F46-0FAA7EBA1B3D}"/>
              </a:ext>
            </a:extLst>
          </p:cNvPr>
          <p:cNvSpPr/>
          <p:nvPr/>
        </p:nvSpPr>
        <p:spPr>
          <a:xfrm>
            <a:off x="2247372" y="3521850"/>
            <a:ext cx="28184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hr_extras = hr_trabajadas - 35</a:t>
            </a:r>
          </a:p>
        </p:txBody>
      </p:sp>
      <p:sp>
        <p:nvSpPr>
          <p:cNvPr id="39" name="13 Rectángulo">
            <a:extLst>
              <a:ext uri="{FF2B5EF4-FFF2-40B4-BE49-F238E27FC236}">
                <a16:creationId xmlns:a16="http://schemas.microsoft.com/office/drawing/2014/main" id="{4987C385-3732-434F-8795-837653B50C6C}"/>
              </a:ext>
            </a:extLst>
          </p:cNvPr>
          <p:cNvSpPr/>
          <p:nvPr/>
        </p:nvSpPr>
        <p:spPr>
          <a:xfrm>
            <a:off x="1931254" y="1932693"/>
            <a:ext cx="2818400" cy="498763"/>
          </a:xfrm>
          <a:prstGeom prst="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>
                <a:solidFill>
                  <a:schemeClr val="tx1"/>
                </a:solidFill>
              </a:rPr>
              <a:t>Variables auxiliares</a:t>
            </a:r>
          </a:p>
        </p:txBody>
      </p:sp>
      <p:sp>
        <p:nvSpPr>
          <p:cNvPr id="40" name="1 Rectángulo">
            <a:extLst>
              <a:ext uri="{FF2B5EF4-FFF2-40B4-BE49-F238E27FC236}">
                <a16:creationId xmlns:a16="http://schemas.microsoft.com/office/drawing/2014/main" id="{FE0B4680-AD1C-43FB-9B79-BD72B1A83344}"/>
              </a:ext>
            </a:extLst>
          </p:cNvPr>
          <p:cNvSpPr/>
          <p:nvPr/>
        </p:nvSpPr>
        <p:spPr>
          <a:xfrm>
            <a:off x="2247372" y="3773414"/>
            <a:ext cx="45175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sal_base = 35*hr_precio + 1.5*hr_precio*hr_extras </a:t>
            </a:r>
          </a:p>
        </p:txBody>
      </p:sp>
      <p:sp>
        <p:nvSpPr>
          <p:cNvPr id="41" name="1 Rectángulo">
            <a:extLst>
              <a:ext uri="{FF2B5EF4-FFF2-40B4-BE49-F238E27FC236}">
                <a16:creationId xmlns:a16="http://schemas.microsoft.com/office/drawing/2014/main" id="{CD711FEA-98CC-4720-A3CD-9C5894AF33A0}"/>
              </a:ext>
            </a:extLst>
          </p:cNvPr>
          <p:cNvSpPr/>
          <p:nvPr/>
        </p:nvSpPr>
        <p:spPr>
          <a:xfrm>
            <a:off x="1953061" y="2733117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hr_work &lt;= 35:</a:t>
            </a:r>
          </a:p>
        </p:txBody>
      </p:sp>
      <p:sp>
        <p:nvSpPr>
          <p:cNvPr id="42" name="1 Rectángulo">
            <a:extLst>
              <a:ext uri="{FF2B5EF4-FFF2-40B4-BE49-F238E27FC236}">
                <a16:creationId xmlns:a16="http://schemas.microsoft.com/office/drawing/2014/main" id="{A113AA68-33B2-4B8D-97E0-E6C907D6DF8D}"/>
              </a:ext>
            </a:extLst>
          </p:cNvPr>
          <p:cNvSpPr/>
          <p:nvPr/>
        </p:nvSpPr>
        <p:spPr>
          <a:xfrm>
            <a:off x="1953061" y="3240715"/>
            <a:ext cx="1476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hr_work &gt; 35:</a:t>
            </a:r>
          </a:p>
        </p:txBody>
      </p:sp>
      <p:sp>
        <p:nvSpPr>
          <p:cNvPr id="43" name="1 Rectángulo">
            <a:extLst>
              <a:ext uri="{FF2B5EF4-FFF2-40B4-BE49-F238E27FC236}">
                <a16:creationId xmlns:a16="http://schemas.microsoft.com/office/drawing/2014/main" id="{466EC255-7F57-4498-A69A-42EA8C14CCAA}"/>
              </a:ext>
            </a:extLst>
          </p:cNvPr>
          <p:cNvSpPr/>
          <p:nvPr/>
        </p:nvSpPr>
        <p:spPr>
          <a:xfrm>
            <a:off x="1953061" y="4120031"/>
            <a:ext cx="20730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sal_base &lt;= 300000:</a:t>
            </a:r>
          </a:p>
        </p:txBody>
      </p:sp>
      <p:sp>
        <p:nvSpPr>
          <p:cNvPr id="44" name="1 Rectángulo">
            <a:extLst>
              <a:ext uri="{FF2B5EF4-FFF2-40B4-BE49-F238E27FC236}">
                <a16:creationId xmlns:a16="http://schemas.microsoft.com/office/drawing/2014/main" id="{8E5D5A1C-4D36-4B65-95A9-972C326039DD}"/>
              </a:ext>
            </a:extLst>
          </p:cNvPr>
          <p:cNvSpPr/>
          <p:nvPr/>
        </p:nvSpPr>
        <p:spPr>
          <a:xfrm>
            <a:off x="1923807" y="4765428"/>
            <a:ext cx="29674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300000 &lt; sal_base &lt;= 450000:</a:t>
            </a:r>
          </a:p>
        </p:txBody>
      </p:sp>
      <p:sp>
        <p:nvSpPr>
          <p:cNvPr id="45" name="1 Rectángulo">
            <a:extLst>
              <a:ext uri="{FF2B5EF4-FFF2-40B4-BE49-F238E27FC236}">
                <a16:creationId xmlns:a16="http://schemas.microsoft.com/office/drawing/2014/main" id="{E3BB302D-06FE-4A79-A01B-0BA370235E53}"/>
              </a:ext>
            </a:extLst>
          </p:cNvPr>
          <p:cNvSpPr/>
          <p:nvPr/>
        </p:nvSpPr>
        <p:spPr>
          <a:xfrm>
            <a:off x="1953061" y="5627350"/>
            <a:ext cx="19736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sal_base &gt; 450000:</a:t>
            </a:r>
          </a:p>
        </p:txBody>
      </p:sp>
      <p:sp>
        <p:nvSpPr>
          <p:cNvPr id="46" name="1 Rectángulo">
            <a:extLst>
              <a:ext uri="{FF2B5EF4-FFF2-40B4-BE49-F238E27FC236}">
                <a16:creationId xmlns:a16="http://schemas.microsoft.com/office/drawing/2014/main" id="{982D8249-F71C-4C43-9DA2-12B159413731}"/>
              </a:ext>
            </a:extLst>
          </p:cNvPr>
          <p:cNvSpPr/>
          <p:nvPr/>
        </p:nvSpPr>
        <p:spPr>
          <a:xfrm>
            <a:off x="2323221" y="4398016"/>
            <a:ext cx="1798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sal_neto = sal_base</a:t>
            </a:r>
          </a:p>
        </p:txBody>
      </p:sp>
      <p:sp>
        <p:nvSpPr>
          <p:cNvPr id="47" name="1 Rectángulo">
            <a:extLst>
              <a:ext uri="{FF2B5EF4-FFF2-40B4-BE49-F238E27FC236}">
                <a16:creationId xmlns:a16="http://schemas.microsoft.com/office/drawing/2014/main" id="{3E7BDC22-3D21-46D2-9040-4780F6A650B7}"/>
              </a:ext>
            </a:extLst>
          </p:cNvPr>
          <p:cNvSpPr/>
          <p:nvPr/>
        </p:nvSpPr>
        <p:spPr>
          <a:xfrm>
            <a:off x="2359288" y="5302896"/>
            <a:ext cx="29033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sal_neto = sal_base – impuestos </a:t>
            </a:r>
          </a:p>
        </p:txBody>
      </p:sp>
      <p:sp>
        <p:nvSpPr>
          <p:cNvPr id="48" name="1 Rectángulo">
            <a:extLst>
              <a:ext uri="{FF2B5EF4-FFF2-40B4-BE49-F238E27FC236}">
                <a16:creationId xmlns:a16="http://schemas.microsoft.com/office/drawing/2014/main" id="{78C0EA91-C19F-4BB9-8A22-6FAFAE266C44}"/>
              </a:ext>
            </a:extLst>
          </p:cNvPr>
          <p:cNvSpPr/>
          <p:nvPr/>
        </p:nvSpPr>
        <p:spPr>
          <a:xfrm>
            <a:off x="2406187" y="6032321"/>
            <a:ext cx="42627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impuestos = 0.2*150000 + 0.3*(sal_base - 450000)</a:t>
            </a:r>
          </a:p>
        </p:txBody>
      </p:sp>
      <p:sp>
        <p:nvSpPr>
          <p:cNvPr id="49" name="1 Rectángulo">
            <a:extLst>
              <a:ext uri="{FF2B5EF4-FFF2-40B4-BE49-F238E27FC236}">
                <a16:creationId xmlns:a16="http://schemas.microsoft.com/office/drawing/2014/main" id="{907AAEED-559F-4CD4-A0FD-3F4202E77B38}"/>
              </a:ext>
            </a:extLst>
          </p:cNvPr>
          <p:cNvSpPr/>
          <p:nvPr/>
        </p:nvSpPr>
        <p:spPr>
          <a:xfrm>
            <a:off x="7183291" y="2011959"/>
            <a:ext cx="4395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nom</a:t>
            </a:r>
          </a:p>
        </p:txBody>
      </p:sp>
      <p:sp>
        <p:nvSpPr>
          <p:cNvPr id="50" name="1 Rectángulo">
            <a:extLst>
              <a:ext uri="{FF2B5EF4-FFF2-40B4-BE49-F238E27FC236}">
                <a16:creationId xmlns:a16="http://schemas.microsoft.com/office/drawing/2014/main" id="{ACA12BB6-FDF4-436E-A78A-CD17FFDB2292}"/>
              </a:ext>
            </a:extLst>
          </p:cNvPr>
          <p:cNvSpPr/>
          <p:nvPr/>
        </p:nvSpPr>
        <p:spPr>
          <a:xfrm>
            <a:off x="2043511" y="2407805"/>
            <a:ext cx="1289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impuestos = 0</a:t>
            </a:r>
          </a:p>
        </p:txBody>
      </p:sp>
      <p:sp>
        <p:nvSpPr>
          <p:cNvPr id="51" name="1 Rectángulo">
            <a:extLst>
              <a:ext uri="{FF2B5EF4-FFF2-40B4-BE49-F238E27FC236}">
                <a16:creationId xmlns:a16="http://schemas.microsoft.com/office/drawing/2014/main" id="{FB8813B9-58BE-48EC-A542-FC963D44FFDB}"/>
              </a:ext>
            </a:extLst>
          </p:cNvPr>
          <p:cNvSpPr/>
          <p:nvPr/>
        </p:nvSpPr>
        <p:spPr>
          <a:xfrm>
            <a:off x="2347559" y="5068810"/>
            <a:ext cx="31582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impuestos = 0.2*(sal_base - 300000)</a:t>
            </a:r>
          </a:p>
        </p:txBody>
      </p:sp>
      <p:sp>
        <p:nvSpPr>
          <p:cNvPr id="52" name="1 Rectángulo">
            <a:extLst>
              <a:ext uri="{FF2B5EF4-FFF2-40B4-BE49-F238E27FC236}">
                <a16:creationId xmlns:a16="http://schemas.microsoft.com/office/drawing/2014/main" id="{E5B5EE76-4DF5-482A-831A-F38E8B3E0EF3}"/>
              </a:ext>
            </a:extLst>
          </p:cNvPr>
          <p:cNvSpPr/>
          <p:nvPr/>
        </p:nvSpPr>
        <p:spPr>
          <a:xfrm>
            <a:off x="2391015" y="6303317"/>
            <a:ext cx="29033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sal_neto = sal_base – impuestos </a:t>
            </a:r>
          </a:p>
        </p:txBody>
      </p:sp>
      <p:sp>
        <p:nvSpPr>
          <p:cNvPr id="53" name="1 Rectángulo">
            <a:extLst>
              <a:ext uri="{FF2B5EF4-FFF2-40B4-BE49-F238E27FC236}">
                <a16:creationId xmlns:a16="http://schemas.microsoft.com/office/drawing/2014/main" id="{02F8455E-DCD0-4BDC-98FE-D996BE4334F8}"/>
              </a:ext>
            </a:extLst>
          </p:cNvPr>
          <p:cNvSpPr/>
          <p:nvPr/>
        </p:nvSpPr>
        <p:spPr>
          <a:xfrm>
            <a:off x="7158568" y="2477202"/>
            <a:ext cx="9492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impuestos</a:t>
            </a:r>
          </a:p>
        </p:txBody>
      </p:sp>
      <p:sp>
        <p:nvSpPr>
          <p:cNvPr id="54" name="1 Rectángulo">
            <a:extLst>
              <a:ext uri="{FF2B5EF4-FFF2-40B4-BE49-F238E27FC236}">
                <a16:creationId xmlns:a16="http://schemas.microsoft.com/office/drawing/2014/main" id="{4B0367B0-DD5A-48C5-82A8-D69E43EA4905}"/>
              </a:ext>
            </a:extLst>
          </p:cNvPr>
          <p:cNvSpPr/>
          <p:nvPr/>
        </p:nvSpPr>
        <p:spPr>
          <a:xfrm>
            <a:off x="7170247" y="2706752"/>
            <a:ext cx="8643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  <a:cs typeface="Consolas" panose="020B0609020204030204" pitchFamily="49" charset="0"/>
              </a:rPr>
              <a:t>sal_neto</a:t>
            </a:r>
          </a:p>
        </p:txBody>
      </p:sp>
    </p:spTree>
    <p:extLst>
      <p:ext uri="{BB962C8B-B14F-4D97-AF65-F5344CB8AC3E}">
        <p14:creationId xmlns:p14="http://schemas.microsoft.com/office/powerpoint/2010/main" val="3554097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13730B8F-9A0F-4CD0-BBD7-A45FE3DAB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857" y="332656"/>
            <a:ext cx="4626639" cy="6392236"/>
          </a:xfrm>
          <a:prstGeom prst="rect">
            <a:avLst/>
          </a:prstGeom>
        </p:spPr>
      </p:pic>
      <p:sp>
        <p:nvSpPr>
          <p:cNvPr id="7" name="1 Rectángulo">
            <a:extLst>
              <a:ext uri="{FF2B5EF4-FFF2-40B4-BE49-F238E27FC236}">
                <a16:creationId xmlns:a16="http://schemas.microsoft.com/office/drawing/2014/main" id="{7E468EA6-790D-42A2-AD88-9CEE927A9E53}"/>
              </a:ext>
            </a:extLst>
          </p:cNvPr>
          <p:cNvSpPr/>
          <p:nvPr/>
        </p:nvSpPr>
        <p:spPr>
          <a:xfrm>
            <a:off x="467544" y="1556792"/>
            <a:ext cx="3951491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/>
              <a:t>Proceso: 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000" dirty="0"/>
              <a:t>Solicitar datos de entrada (nombre, valor hora, tarifa por hora).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000" dirty="0"/>
              <a:t>Verificar horas trabajadas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000" dirty="0"/>
              <a:t>Calcular impuestos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000" dirty="0"/>
              <a:t>Calculo del salario neto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000" dirty="0"/>
              <a:t>Mostrar datos de salida (nombre, salario base, impuestos, salario neto)</a:t>
            </a:r>
          </a:p>
        </p:txBody>
      </p:sp>
      <p:sp>
        <p:nvSpPr>
          <p:cNvPr id="12" name="4 Título">
            <a:extLst>
              <a:ext uri="{FF2B5EF4-FFF2-40B4-BE49-F238E27FC236}">
                <a16:creationId xmlns:a16="http://schemas.microsoft.com/office/drawing/2014/main" id="{4F700035-C200-406F-8F48-0251DD4F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39861"/>
            <a:ext cx="4663430" cy="900908"/>
          </a:xfrm>
        </p:spPr>
        <p:txBody>
          <a:bodyPr>
            <a:normAutofit/>
          </a:bodyPr>
          <a:lstStyle/>
          <a:p>
            <a:r>
              <a:rPr lang="en-US" sz="4000" dirty="0"/>
              <a:t>Ejemplo 4 - Solución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24661708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4 Título">
            <a:extLst>
              <a:ext uri="{FF2B5EF4-FFF2-40B4-BE49-F238E27FC236}">
                <a16:creationId xmlns:a16="http://schemas.microsoft.com/office/drawing/2014/main" id="{4F700035-C200-406F-8F48-0251DD4F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404664"/>
            <a:ext cx="4663430" cy="900908"/>
          </a:xfrm>
        </p:spPr>
        <p:txBody>
          <a:bodyPr>
            <a:normAutofit/>
          </a:bodyPr>
          <a:lstStyle/>
          <a:p>
            <a:r>
              <a:rPr lang="en-US" sz="4000" dirty="0"/>
              <a:t>Ejemplo 4 - Solución</a:t>
            </a:r>
            <a:endParaRPr lang="es-CO" sz="4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16D0A7-450D-41CD-8453-DFB274299E48}"/>
              </a:ext>
            </a:extLst>
          </p:cNvPr>
          <p:cNvSpPr txBox="1"/>
          <p:nvPr/>
        </p:nvSpPr>
        <p:spPr>
          <a:xfrm>
            <a:off x="323528" y="1340769"/>
            <a:ext cx="4248472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impuesto = 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</a:t>
            </a:r>
            <a:r>
              <a:rPr lang="es-MX" sz="1200" dirty="0" err="1">
                <a:latin typeface="Consolas" panose="020B0609020204030204" pitchFamily="49" charset="0"/>
              </a:rPr>
              <a:t>nom</a:t>
            </a:r>
            <a:r>
              <a:rPr lang="es-MX" sz="12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</a:t>
            </a:r>
            <a:r>
              <a:rPr lang="es-MX" sz="1200" dirty="0" err="1">
                <a:latin typeface="Consolas" panose="020B0609020204030204" pitchFamily="49" charset="0"/>
              </a:rPr>
              <a:t>hr_trabajadas</a:t>
            </a:r>
            <a:r>
              <a:rPr lang="es-MX" sz="12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</a:t>
            </a:r>
            <a:r>
              <a:rPr lang="es-MX" sz="1200" dirty="0" err="1">
                <a:latin typeface="Consolas" panose="020B0609020204030204" pitchFamily="49" charset="0"/>
              </a:rPr>
              <a:t>hr_precio</a:t>
            </a:r>
            <a:r>
              <a:rPr lang="es-MX" sz="12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hr_trabajadas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&lt;= 35) Entonces    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sal_base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=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hr_trabajadas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*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hr_precio</a:t>
            </a:r>
            <a:endParaRPr lang="es-MX" sz="1200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hr_extra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=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hr_trabajadas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- 35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sal_base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= 35*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hr_precio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+ \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           1.5*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hr_precio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*</a:t>
            </a:r>
            <a:r>
              <a:rPr lang="es-MX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hr_extra</a:t>
            </a:r>
            <a:endParaRPr lang="es-MX" sz="1200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&gt;= 300000) Entonces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Si 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sal_base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&lt;= 450000) Entonces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impuesto = 0.2*(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sal_base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- 300000)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Sino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impuesto = 0.2*150000 + \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           0.3*(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sal_base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- 450000)</a:t>
            </a:r>
          </a:p>
          <a:p>
            <a:r>
              <a:rPr lang="es-MX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Fin_Si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sal_neto = 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- impuesto</a:t>
            </a:r>
          </a:p>
          <a:p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 Escribir(</a:t>
            </a:r>
            <a:r>
              <a:rPr lang="es-MX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nom,sal_base,impuesto,sal_neto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endParaRPr lang="es-MX" sz="1200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r>
              <a:rPr lang="es-MX" sz="1200" dirty="0">
                <a:latin typeface="Consolas" panose="020B0609020204030204" pitchFamily="49" charset="0"/>
              </a:rPr>
              <a:t>Fin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81E8D3-D1D3-4853-ABB6-9329CE8ED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940" y="574764"/>
            <a:ext cx="4286764" cy="59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4560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4 Título">
            <a:extLst>
              <a:ext uri="{FF2B5EF4-FFF2-40B4-BE49-F238E27FC236}">
                <a16:creationId xmlns:a16="http://schemas.microsoft.com/office/drawing/2014/main" id="{4F700035-C200-406F-8F48-0251DD4F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39861"/>
            <a:ext cx="4663430" cy="900908"/>
          </a:xfrm>
        </p:spPr>
        <p:txBody>
          <a:bodyPr>
            <a:normAutofit/>
          </a:bodyPr>
          <a:lstStyle/>
          <a:p>
            <a:r>
              <a:rPr lang="en-US" sz="4000" dirty="0"/>
              <a:t>Ejemplo 4 - Solución</a:t>
            </a:r>
            <a:endParaRPr lang="es-CO" sz="4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16D0A7-450D-41CD-8453-DFB274299E48}"/>
              </a:ext>
            </a:extLst>
          </p:cNvPr>
          <p:cNvSpPr txBox="1"/>
          <p:nvPr/>
        </p:nvSpPr>
        <p:spPr>
          <a:xfrm>
            <a:off x="4367808" y="1987751"/>
            <a:ext cx="4661892" cy="4131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0" dirty="0">
                <a:effectLst/>
                <a:latin typeface="Consolas" panose="020B0609020204030204" pitchFamily="49" charset="0"/>
              </a:rPr>
              <a:t>HORAS_NORMALES = 35</a:t>
            </a:r>
          </a:p>
          <a:p>
            <a:r>
              <a:rPr lang="es-CO" sz="1050" b="0" dirty="0">
                <a:effectLst/>
                <a:latin typeface="Consolas" panose="020B0609020204030204" pitchFamily="49" charset="0"/>
              </a:rPr>
              <a:t>TARIFA_EXTRA = 1.5</a:t>
            </a:r>
          </a:p>
          <a:p>
            <a:r>
              <a:rPr lang="es-CO" sz="1050" b="0" dirty="0">
                <a:effectLst/>
                <a:latin typeface="Consolas" panose="020B0609020204030204" pitchFamily="49" charset="0"/>
              </a:rPr>
              <a:t>impuesto = 0</a:t>
            </a:r>
          </a:p>
          <a:p>
            <a:endParaRPr lang="es-CO" sz="1050" b="0" dirty="0">
              <a:effectLst/>
              <a:latin typeface="Consolas" panose="020B0609020204030204" pitchFamily="49" charset="0"/>
            </a:endParaRPr>
          </a:p>
          <a:p>
            <a:r>
              <a:rPr lang="es-CO" sz="1050" b="0" dirty="0">
                <a:effectLst/>
                <a:latin typeface="Consolas" panose="020B0609020204030204" pitchFamily="49" charset="0"/>
              </a:rPr>
              <a:t>nom = input("Digite el nombre del trabajador: ")</a:t>
            </a:r>
          </a:p>
          <a:p>
            <a:r>
              <a:rPr lang="es-CO" sz="1050" b="0" dirty="0">
                <a:effectLst/>
                <a:latin typeface="Consolas" panose="020B0609020204030204" pitchFamily="49" charset="0"/>
              </a:rPr>
              <a:t>hr_trabajadas = </a:t>
            </a:r>
            <a:r>
              <a:rPr lang="es-CO" sz="1050" b="0" dirty="0" err="1">
                <a:effectLst/>
                <a:latin typeface="Consolas" panose="020B0609020204030204" pitchFamily="49" charset="0"/>
              </a:rPr>
              <a:t>float</a:t>
            </a:r>
            <a:r>
              <a:rPr lang="es-CO" sz="1050" b="0" dirty="0">
                <a:effectLst/>
                <a:latin typeface="Consolas" panose="020B0609020204030204" pitchFamily="49" charset="0"/>
              </a:rPr>
              <a:t>(input("Digite las horas trabajadas: "))</a:t>
            </a:r>
          </a:p>
          <a:p>
            <a:r>
              <a:rPr lang="es-CO" sz="1050" b="0" dirty="0">
                <a:effectLst/>
                <a:latin typeface="Consolas" panose="020B0609020204030204" pitchFamily="49" charset="0"/>
              </a:rPr>
              <a:t>hr_precio = </a:t>
            </a:r>
            <a:r>
              <a:rPr lang="es-CO" sz="1050" b="0" dirty="0" err="1">
                <a:effectLst/>
                <a:latin typeface="Consolas" panose="020B0609020204030204" pitchFamily="49" charset="0"/>
              </a:rPr>
              <a:t>float</a:t>
            </a:r>
            <a:r>
              <a:rPr lang="es-CO" sz="1050" b="0" dirty="0">
                <a:effectLst/>
                <a:latin typeface="Consolas" panose="020B0609020204030204" pitchFamily="49" charset="0"/>
              </a:rPr>
              <a:t>(input("Digite la tarifa por hora: "))</a:t>
            </a:r>
          </a:p>
          <a:p>
            <a:endParaRPr lang="es-CO" sz="1050" b="0" dirty="0">
              <a:effectLst/>
              <a:latin typeface="Consolas" panose="020B0609020204030204" pitchFamily="49" charset="0"/>
            </a:endParaRPr>
          </a:p>
          <a:p>
            <a:r>
              <a:rPr lang="es-CO" sz="1050" b="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CO" sz="1050" b="0" dirty="0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 (hr_trabajadas &lt;= HORAS_NORMALES):</a:t>
            </a:r>
          </a:p>
          <a:p>
            <a:r>
              <a:rPr lang="es-CO" sz="1050" b="0" dirty="0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    sal_base = hr_trabajadas*hr_precio</a:t>
            </a:r>
          </a:p>
          <a:p>
            <a:r>
              <a:rPr lang="es-CO" sz="1050" b="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CO" sz="1050" b="0" dirty="0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CO" sz="1050" b="0" dirty="0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CO" sz="1050" b="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hr_extra</a:t>
            </a:r>
            <a:r>
              <a:rPr lang="es-CO" sz="1050" b="0" dirty="0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 = hr_trabajadas - HORAS_NORMALES</a:t>
            </a:r>
          </a:p>
          <a:p>
            <a:r>
              <a:rPr lang="es-CO" sz="1050" b="0" dirty="0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    sal_base = HORAS_NORMALES*hr_precio + \</a:t>
            </a:r>
          </a:p>
          <a:p>
            <a:r>
              <a:rPr lang="es-CO" sz="1050" b="0" dirty="0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               TARIFA_EXTRA*hr_precio*</a:t>
            </a:r>
            <a:r>
              <a:rPr lang="es-CO" sz="1050" b="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hr_extra</a:t>
            </a:r>
            <a:endParaRPr lang="es-CO" sz="1050" b="0" dirty="0">
              <a:solidFill>
                <a:schemeClr val="accent4"/>
              </a:solidFill>
              <a:effectLst/>
              <a:latin typeface="Consolas" panose="020B0609020204030204" pitchFamily="49" charset="0"/>
            </a:endParaRPr>
          </a:p>
          <a:p>
            <a:endParaRPr lang="es-CO" sz="1050" b="0" dirty="0">
              <a:effectLst/>
              <a:latin typeface="Consolas" panose="020B0609020204030204" pitchFamily="49" charset="0"/>
            </a:endParaRPr>
          </a:p>
          <a:p>
            <a:r>
              <a:rPr lang="es-CO" sz="105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CO" sz="105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(sal_base &gt;= 300000):</a:t>
            </a:r>
          </a:p>
          <a:p>
            <a:r>
              <a:rPr lang="es-CO" sz="105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CO" sz="105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CO" sz="105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(sal_base &lt;= 450000):</a:t>
            </a:r>
          </a:p>
          <a:p>
            <a:r>
              <a:rPr lang="es-CO" sz="105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    impuesto = 0.2 * (sal_base - 300000)</a:t>
            </a:r>
          </a:p>
          <a:p>
            <a:r>
              <a:rPr lang="es-CO" sz="105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CO" sz="105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CO" sz="105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CO" sz="105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    impuesto = 0.2*150000 + 0.3*(sal_base - 450000)</a:t>
            </a:r>
          </a:p>
          <a:p>
            <a:endParaRPr lang="es-CO" sz="1050" b="0" dirty="0">
              <a:effectLst/>
              <a:latin typeface="Consolas" panose="020B0609020204030204" pitchFamily="49" charset="0"/>
            </a:endParaRPr>
          </a:p>
          <a:p>
            <a:r>
              <a:rPr lang="es-CO" sz="1050" b="0" dirty="0">
                <a:effectLst/>
                <a:latin typeface="Consolas" panose="020B0609020204030204" pitchFamily="49" charset="0"/>
              </a:rPr>
              <a:t>sal_neto = sal_base - impuesto</a:t>
            </a:r>
          </a:p>
          <a:p>
            <a:endParaRPr lang="es-CO" sz="1050" b="0" dirty="0">
              <a:effectLst/>
              <a:latin typeface="Consolas" panose="020B0609020204030204" pitchFamily="49" charset="0"/>
            </a:endParaRPr>
          </a:p>
          <a:p>
            <a:r>
              <a:rPr lang="es-CO" sz="1050" b="0" dirty="0" err="1">
                <a:effectLst/>
                <a:latin typeface="Consolas" panose="020B0609020204030204" pitchFamily="49" charset="0"/>
              </a:rPr>
              <a:t>print</a:t>
            </a:r>
            <a:r>
              <a:rPr lang="es-CO" sz="1050" b="0" dirty="0">
                <a:effectLst/>
                <a:latin typeface="Consolas" panose="020B0609020204030204" pitchFamily="49" charset="0"/>
              </a:rPr>
              <a:t>(f'{nom}, salario base: {sal_base}, \</a:t>
            </a:r>
          </a:p>
          <a:p>
            <a:r>
              <a:rPr lang="es-CO" sz="1050" b="0" dirty="0">
                <a:effectLst/>
                <a:latin typeface="Consolas" panose="020B0609020204030204" pitchFamily="49" charset="0"/>
              </a:rPr>
              <a:t>      impuesto: {impuesto}, salario neto: {sal_neto}')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3AAF42F-90F2-4114-A733-0301AB7AB390}"/>
              </a:ext>
            </a:extLst>
          </p:cNvPr>
          <p:cNvSpPr txBox="1"/>
          <p:nvPr/>
        </p:nvSpPr>
        <p:spPr>
          <a:xfrm>
            <a:off x="196602" y="2060848"/>
            <a:ext cx="3960440" cy="3985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100" dirty="0">
                <a:latin typeface="Consolas" panose="020B0609020204030204" pitchFamily="49" charset="0"/>
              </a:rPr>
              <a:t>Inicio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  impuesto = 0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  Leer(</a:t>
            </a:r>
            <a:r>
              <a:rPr lang="es-MX" sz="1100" dirty="0" err="1">
                <a:latin typeface="Consolas" panose="020B0609020204030204" pitchFamily="49" charset="0"/>
              </a:rPr>
              <a:t>nom</a:t>
            </a:r>
            <a:r>
              <a:rPr lang="es-MX" sz="11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  Leer(</a:t>
            </a:r>
            <a:r>
              <a:rPr lang="es-MX" sz="1100" dirty="0" err="1">
                <a:latin typeface="Consolas" panose="020B0609020204030204" pitchFamily="49" charset="0"/>
              </a:rPr>
              <a:t>hr_trabajadas</a:t>
            </a:r>
            <a:r>
              <a:rPr lang="es-MX" sz="11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  Leer(</a:t>
            </a:r>
            <a:r>
              <a:rPr lang="es-MX" sz="1100" dirty="0" err="1">
                <a:latin typeface="Consolas" panose="020B0609020204030204" pitchFamily="49" charset="0"/>
              </a:rPr>
              <a:t>hr_precio</a:t>
            </a:r>
            <a:r>
              <a:rPr lang="es-MX" sz="1100" dirty="0">
                <a:latin typeface="Consolas" panose="020B0609020204030204" pitchFamily="49" charset="0"/>
              </a:rPr>
              <a:t>)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  </a:t>
            </a:r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MX" sz="11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hr_trabajadas</a:t>
            </a:r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&lt;= 35) Entonces    </a:t>
            </a:r>
          </a:p>
          <a:p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4"/>
                </a:solidFill>
                <a:latin typeface="Consolas" panose="020B0609020204030204" pitchFamily="49" charset="0"/>
              </a:rPr>
              <a:t>sal_base</a:t>
            </a:r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hr_trabajadas</a:t>
            </a:r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*</a:t>
            </a:r>
            <a:r>
              <a:rPr lang="es-MX" sz="11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hr_precio</a:t>
            </a:r>
            <a:endParaRPr lang="es-MX" sz="1100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hr_extra</a:t>
            </a:r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hr_trabajadas</a:t>
            </a:r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- 35</a:t>
            </a:r>
          </a:p>
          <a:p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4"/>
                </a:solidFill>
                <a:latin typeface="Consolas" panose="020B0609020204030204" pitchFamily="49" charset="0"/>
              </a:rPr>
              <a:t>sal_base</a:t>
            </a:r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= 35*</a:t>
            </a:r>
            <a:r>
              <a:rPr lang="es-MX" sz="11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hr_precio</a:t>
            </a:r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+ \</a:t>
            </a:r>
          </a:p>
          <a:p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              1.5*</a:t>
            </a:r>
            <a:r>
              <a:rPr lang="es-MX" sz="11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hr_precio</a:t>
            </a:r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*</a:t>
            </a:r>
            <a:r>
              <a:rPr lang="es-MX" sz="1100" dirty="0" err="1">
                <a:solidFill>
                  <a:schemeClr val="accent4"/>
                </a:solidFill>
                <a:latin typeface="Consolas" panose="020B0609020204030204" pitchFamily="49" charset="0"/>
              </a:rPr>
              <a:t>hr_extra</a:t>
            </a:r>
            <a:endParaRPr lang="es-MX" sz="1100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1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Si (</a:t>
            </a:r>
            <a:r>
              <a:rPr lang="es-MX" sz="11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 &gt;= 300000) Entonces</a:t>
            </a:r>
          </a:p>
          <a:p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     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Si (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sal_base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&lt;= 450000) Entonces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    impuesto = 0.2*(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sal_base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- 300000)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 Sino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    impuesto = 0.2*150000 + \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               0.3*(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sal_base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- 450000)</a:t>
            </a:r>
          </a:p>
          <a:p>
            <a:r>
              <a:rPr lang="es-MX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Fin_Si</a:t>
            </a:r>
          </a:p>
          <a:p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  Fin_Si</a:t>
            </a:r>
          </a:p>
          <a:p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  sal_neto = </a:t>
            </a:r>
            <a:r>
              <a:rPr lang="es-MX" sz="1100" dirty="0" err="1">
                <a:solidFill>
                  <a:srgbClr val="C00000"/>
                </a:solidFill>
                <a:latin typeface="Consolas" panose="020B0609020204030204" pitchFamily="49" charset="0"/>
              </a:rPr>
              <a:t>sal_base</a:t>
            </a:r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 - impuesto</a:t>
            </a:r>
          </a:p>
          <a:p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  Escribir(</a:t>
            </a:r>
            <a:r>
              <a:rPr lang="es-MX" sz="1100" dirty="0" err="1">
                <a:solidFill>
                  <a:srgbClr val="C00000"/>
                </a:solidFill>
                <a:latin typeface="Consolas" panose="020B0609020204030204" pitchFamily="49" charset="0"/>
              </a:rPr>
              <a:t>nom,sal_base,impuesto,sal_neto</a:t>
            </a:r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endParaRPr lang="es-MX" sz="1100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latin typeface="Consolas" panose="020B0609020204030204" pitchFamily="49" charset="0"/>
              </a:rPr>
              <a:t>Fin</a:t>
            </a:r>
            <a:endParaRPr lang="es-CO" sz="1100" dirty="0">
              <a:latin typeface="Consolas" panose="020B06090202040302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AA1E951-F18B-40FC-AEB2-7BC9D358288B}"/>
              </a:ext>
            </a:extLst>
          </p:cNvPr>
          <p:cNvSpPr txBox="1"/>
          <p:nvPr/>
        </p:nvSpPr>
        <p:spPr>
          <a:xfrm>
            <a:off x="5796136" y="6129771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+mj-lt"/>
                <a:hlinkClick r:id="rId2"/>
              </a:rPr>
              <a:t>Link de ejecución</a:t>
            </a:r>
            <a:endParaRPr lang="es-CO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438096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61</a:t>
            </a:fld>
            <a:endParaRPr lang="en-US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639885"/>
              </p:ext>
            </p:extLst>
          </p:nvPr>
        </p:nvGraphicFramePr>
        <p:xfrm>
          <a:off x="378446" y="2132856"/>
          <a:ext cx="8136904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1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7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9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6353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horas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Valor hora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Salario base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impuestos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Salario neto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30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40</a:t>
                      </a:r>
                    </a:p>
                    <a:p>
                      <a:pPr algn="ctr"/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10000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10000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300000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425000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750000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25000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120000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300000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400000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dirty="0">
                          <a:latin typeface="+mn-lt"/>
                          <a:cs typeface="Consolas" panose="020B0609020204030204" pitchFamily="49" charset="0"/>
                        </a:rPr>
                        <a:t>630000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316" name="Picture 4" descr="https://honchemistry.wikispaces.com/file/view/homer.jpg/141626819/hom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490" y="3782296"/>
            <a:ext cx="4144460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Título">
            <a:extLst>
              <a:ext uri="{FF2B5EF4-FFF2-40B4-BE49-F238E27FC236}">
                <a16:creationId xmlns:a16="http://schemas.microsoft.com/office/drawing/2014/main" id="{1BBC317D-FA38-400A-9CF1-9A3DA1C55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39861"/>
            <a:ext cx="4663430" cy="900908"/>
          </a:xfrm>
        </p:spPr>
        <p:txBody>
          <a:bodyPr>
            <a:normAutofit/>
          </a:bodyPr>
          <a:lstStyle/>
          <a:p>
            <a:r>
              <a:rPr lang="en-US" sz="4000" dirty="0"/>
              <a:t>Ejemplo 4 - Solución</a:t>
            </a:r>
            <a:endParaRPr lang="es-CO" sz="4000" dirty="0"/>
          </a:p>
        </p:txBody>
      </p:sp>
      <p:sp>
        <p:nvSpPr>
          <p:cNvPr id="8" name="2 Rectángulo">
            <a:extLst>
              <a:ext uri="{FF2B5EF4-FFF2-40B4-BE49-F238E27FC236}">
                <a16:creationId xmlns:a16="http://schemas.microsoft.com/office/drawing/2014/main" id="{CA7722B0-FEB3-412A-98EB-CD37F8C3CB91}"/>
              </a:ext>
            </a:extLst>
          </p:cNvPr>
          <p:cNvSpPr/>
          <p:nvPr/>
        </p:nvSpPr>
        <p:spPr>
          <a:xfrm>
            <a:off x="468079" y="1340769"/>
            <a:ext cx="44026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Casos de test</a:t>
            </a:r>
          </a:p>
        </p:txBody>
      </p:sp>
    </p:spTree>
    <p:extLst>
      <p:ext uri="{BB962C8B-B14F-4D97-AF65-F5344CB8AC3E}">
        <p14:creationId xmlns:p14="http://schemas.microsoft.com/office/powerpoint/2010/main" val="16097918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62</a:t>
            </a:fld>
            <a:endParaRPr lang="en-US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818438"/>
              </p:ext>
            </p:extLst>
          </p:nvPr>
        </p:nvGraphicFramePr>
        <p:xfrm>
          <a:off x="202259" y="4055221"/>
          <a:ext cx="4627376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2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7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horas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Valor hora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Salario 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Impuestos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Salario neto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a 9">
            <a:extLst>
              <a:ext uri="{FF2B5EF4-FFF2-40B4-BE49-F238E27FC236}">
                <a16:creationId xmlns:a16="http://schemas.microsoft.com/office/drawing/2014/main" id="{B80A65B9-A47B-4DD2-A7CD-C11763EF1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142212"/>
              </p:ext>
            </p:extLst>
          </p:nvPr>
        </p:nvGraphicFramePr>
        <p:xfrm>
          <a:off x="1187624" y="1348689"/>
          <a:ext cx="257396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2324">
                  <a:extLst>
                    <a:ext uri="{9D8B030D-6E8A-4147-A177-3AD203B41FA5}">
                      <a16:colId xmlns:a16="http://schemas.microsoft.com/office/drawing/2014/main" val="1520359308"/>
                    </a:ext>
                  </a:extLst>
                </a:gridCol>
                <a:gridCol w="1251645">
                  <a:extLst>
                    <a:ext uri="{9D8B030D-6E8A-4147-A177-3AD203B41FA5}">
                      <a16:colId xmlns:a16="http://schemas.microsoft.com/office/drawing/2014/main" val="4218542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Horas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30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96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Valor hora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10000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5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Salario bruto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300000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2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Impuestos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67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Salario neto 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300000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38023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804DAE96-81FA-4853-B45A-646573F30EB8}"/>
              </a:ext>
            </a:extLst>
          </p:cNvPr>
          <p:cNvSpPr txBox="1"/>
          <p:nvPr/>
        </p:nvSpPr>
        <p:spPr>
          <a:xfrm>
            <a:off x="5685057" y="6495493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Century Gothic" panose="020B0502020202020204" pitchFamily="34" charset="0"/>
              </a:rPr>
              <a:t>Link de ejecución</a:t>
            </a:r>
            <a:endParaRPr lang="es-CO" sz="1200" dirty="0"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D3D3236-A9C7-41C3-AA33-66AA09B4B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635" y="588324"/>
            <a:ext cx="4112107" cy="5681351"/>
          </a:xfrm>
          <a:prstGeom prst="rect">
            <a:avLst/>
          </a:prstGeom>
        </p:spPr>
      </p:pic>
      <p:sp>
        <p:nvSpPr>
          <p:cNvPr id="10" name="5 Rectángulo">
            <a:extLst>
              <a:ext uri="{FF2B5EF4-FFF2-40B4-BE49-F238E27FC236}">
                <a16:creationId xmlns:a16="http://schemas.microsoft.com/office/drawing/2014/main" id="{2DDC841A-B0E3-4706-8D64-76542FFAE778}"/>
              </a:ext>
            </a:extLst>
          </p:cNvPr>
          <p:cNvSpPr/>
          <p:nvPr/>
        </p:nvSpPr>
        <p:spPr>
          <a:xfrm>
            <a:off x="202258" y="3455057"/>
            <a:ext cx="28655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Prueba de escritorio: 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4600070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73DC8BC0-1698-4156-ABF2-2C8091F21978}"/>
              </a:ext>
            </a:extLst>
          </p:cNvPr>
          <p:cNvSpPr txBox="1"/>
          <p:nvPr/>
        </p:nvSpPr>
        <p:spPr>
          <a:xfrm>
            <a:off x="5685057" y="6495493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Century Gothic" panose="020B0502020202020204" pitchFamily="34" charset="0"/>
              </a:rPr>
              <a:t>Link de ejecución</a:t>
            </a:r>
            <a:endParaRPr lang="es-CO" sz="1200" dirty="0">
              <a:latin typeface="Century Gothic" panose="020B0502020202020204" pitchFamily="34" charset="0"/>
            </a:endParaRPr>
          </a:p>
        </p:txBody>
      </p:sp>
      <p:graphicFrame>
        <p:nvGraphicFramePr>
          <p:cNvPr id="9" name="6 Tabla">
            <a:extLst>
              <a:ext uri="{FF2B5EF4-FFF2-40B4-BE49-F238E27FC236}">
                <a16:creationId xmlns:a16="http://schemas.microsoft.com/office/drawing/2014/main" id="{597F8D1C-68B4-4EDD-AF2F-8D015E9E6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052031"/>
              </p:ext>
            </p:extLst>
          </p:nvPr>
        </p:nvGraphicFramePr>
        <p:xfrm>
          <a:off x="202259" y="4055221"/>
          <a:ext cx="4627376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2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7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horas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Valor hora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Salario 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Impuestos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Salario neto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5 Rectángulo">
            <a:extLst>
              <a:ext uri="{FF2B5EF4-FFF2-40B4-BE49-F238E27FC236}">
                <a16:creationId xmlns:a16="http://schemas.microsoft.com/office/drawing/2014/main" id="{ED875B5A-6FF4-4DD1-90F3-8B73D8566840}"/>
              </a:ext>
            </a:extLst>
          </p:cNvPr>
          <p:cNvSpPr/>
          <p:nvPr/>
        </p:nvSpPr>
        <p:spPr>
          <a:xfrm>
            <a:off x="202258" y="3455057"/>
            <a:ext cx="28655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Prueba de escritorio: </a:t>
            </a:r>
            <a:endParaRPr lang="es-CO" sz="2000" dirty="0"/>
          </a:p>
        </p:txBody>
      </p:sp>
      <p:graphicFrame>
        <p:nvGraphicFramePr>
          <p:cNvPr id="12" name="Tabla 9">
            <a:extLst>
              <a:ext uri="{FF2B5EF4-FFF2-40B4-BE49-F238E27FC236}">
                <a16:creationId xmlns:a16="http://schemas.microsoft.com/office/drawing/2014/main" id="{CCA6643B-FFC9-41E3-A88E-A94291C01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749458"/>
              </p:ext>
            </p:extLst>
          </p:nvPr>
        </p:nvGraphicFramePr>
        <p:xfrm>
          <a:off x="1187624" y="1348689"/>
          <a:ext cx="257396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2324">
                  <a:extLst>
                    <a:ext uri="{9D8B030D-6E8A-4147-A177-3AD203B41FA5}">
                      <a16:colId xmlns:a16="http://schemas.microsoft.com/office/drawing/2014/main" val="1520359308"/>
                    </a:ext>
                  </a:extLst>
                </a:gridCol>
                <a:gridCol w="1251645">
                  <a:extLst>
                    <a:ext uri="{9D8B030D-6E8A-4147-A177-3AD203B41FA5}">
                      <a16:colId xmlns:a16="http://schemas.microsoft.com/office/drawing/2014/main" val="4218542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Horas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40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96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Valor hora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10000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5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Salario bruto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425000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2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Impuestos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25000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67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Salario neto 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400000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38023"/>
                  </a:ext>
                </a:extLst>
              </a:tr>
            </a:tbl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ECA91F48-FF7F-43EF-80A0-E3D6971D2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635" y="588324"/>
            <a:ext cx="4112107" cy="568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839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64B3B6-22E3-43B3-8697-74A552883A71}"/>
              </a:ext>
            </a:extLst>
          </p:cNvPr>
          <p:cNvSpPr txBox="1"/>
          <p:nvPr/>
        </p:nvSpPr>
        <p:spPr>
          <a:xfrm>
            <a:off x="5685057" y="6495493"/>
            <a:ext cx="1545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Century Gothic" panose="020B0502020202020204" pitchFamily="34" charset="0"/>
              </a:rPr>
              <a:t>Link de ejecución</a:t>
            </a:r>
            <a:endParaRPr lang="es-CO" sz="1200" dirty="0">
              <a:latin typeface="Century Gothic" panose="020B0502020202020204" pitchFamily="34" charset="0"/>
            </a:endParaRPr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456296A4-078A-4E9A-A1CE-26E9BF178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921118"/>
              </p:ext>
            </p:extLst>
          </p:nvPr>
        </p:nvGraphicFramePr>
        <p:xfrm>
          <a:off x="1187624" y="1348689"/>
          <a:ext cx="257396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2324">
                  <a:extLst>
                    <a:ext uri="{9D8B030D-6E8A-4147-A177-3AD203B41FA5}">
                      <a16:colId xmlns:a16="http://schemas.microsoft.com/office/drawing/2014/main" val="1520359308"/>
                    </a:ext>
                  </a:extLst>
                </a:gridCol>
                <a:gridCol w="1251645">
                  <a:extLst>
                    <a:ext uri="{9D8B030D-6E8A-4147-A177-3AD203B41FA5}">
                      <a16:colId xmlns:a16="http://schemas.microsoft.com/office/drawing/2014/main" val="4218542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Horas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45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96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Valor hora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15000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5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Salario bruto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750000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2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Impuestos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120000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67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Salario neto </a:t>
                      </a:r>
                      <a:endParaRPr lang="es-CO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+mn-lt"/>
                        </a:rPr>
                        <a:t>630000</a:t>
                      </a:r>
                      <a:endParaRPr lang="es-CO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38023"/>
                  </a:ext>
                </a:extLst>
              </a:tr>
            </a:tbl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1182CA92-E380-4A72-862E-D14E36A4E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635" y="588324"/>
            <a:ext cx="4112107" cy="5681351"/>
          </a:xfrm>
          <a:prstGeom prst="rect">
            <a:avLst/>
          </a:prstGeom>
        </p:spPr>
      </p:pic>
      <p:graphicFrame>
        <p:nvGraphicFramePr>
          <p:cNvPr id="12" name="6 Tabla">
            <a:extLst>
              <a:ext uri="{FF2B5EF4-FFF2-40B4-BE49-F238E27FC236}">
                <a16:creationId xmlns:a16="http://schemas.microsoft.com/office/drawing/2014/main" id="{EA18CAFB-05F5-428F-95E3-6BC5E9161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046480"/>
              </p:ext>
            </p:extLst>
          </p:nvPr>
        </p:nvGraphicFramePr>
        <p:xfrm>
          <a:off x="202259" y="4055221"/>
          <a:ext cx="4627376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2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7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horas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Valor hora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Salario 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Impuestos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Salario neto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5 Rectángulo">
            <a:extLst>
              <a:ext uri="{FF2B5EF4-FFF2-40B4-BE49-F238E27FC236}">
                <a16:creationId xmlns:a16="http://schemas.microsoft.com/office/drawing/2014/main" id="{C0EA0583-B4D8-4D4C-BD3E-7BEBC23DA95F}"/>
              </a:ext>
            </a:extLst>
          </p:cNvPr>
          <p:cNvSpPr/>
          <p:nvPr/>
        </p:nvSpPr>
        <p:spPr>
          <a:xfrm>
            <a:off x="202258" y="3455057"/>
            <a:ext cx="28655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Prueba de escritorio: 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0405041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49511" y="317345"/>
            <a:ext cx="7886700" cy="1116540"/>
          </a:xfrm>
        </p:spPr>
        <p:txBody>
          <a:bodyPr/>
          <a:lstStyle/>
          <a:p>
            <a:r>
              <a:rPr lang="en-US" dirty="0"/>
              <a:t>Ejercicios de repaso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9553" y="1412776"/>
            <a:ext cx="8424936" cy="4635896"/>
          </a:xfrm>
        </p:spPr>
        <p:txBody>
          <a:bodyPr>
            <a:normAutofit lnSpcReduction="10000"/>
          </a:bodyPr>
          <a:lstStyle/>
          <a:p>
            <a:pPr marL="514350" indent="-457200">
              <a:buFont typeface="+mj-lt"/>
              <a:buAutoNum type="arabicPeriod"/>
            </a:pPr>
            <a:r>
              <a:rPr lang="es-ES" sz="2000" dirty="0"/>
              <a:t>Una frutería ofrece las manzanas con descuento según la siguiente tabla:</a:t>
            </a:r>
          </a:p>
          <a:p>
            <a:pPr marL="514350" indent="-457200">
              <a:buFont typeface="+mj-lt"/>
              <a:buAutoNum type="arabicPeriod"/>
            </a:pPr>
            <a:endParaRPr lang="es-ES" sz="2000" dirty="0"/>
          </a:p>
          <a:p>
            <a:pPr marL="514350" indent="-457200">
              <a:buFont typeface="+mj-lt"/>
              <a:buAutoNum type="arabicPeriod"/>
            </a:pPr>
            <a:endParaRPr lang="es-ES" sz="2000" dirty="0"/>
          </a:p>
          <a:p>
            <a:pPr marL="514350" indent="-457200">
              <a:buFont typeface="+mj-lt"/>
              <a:buAutoNum type="arabicPeriod"/>
            </a:pPr>
            <a:endParaRPr lang="es-ES" sz="2000" dirty="0"/>
          </a:p>
          <a:p>
            <a:pPr marL="514350" indent="-457200">
              <a:buFont typeface="+mj-lt"/>
              <a:buAutoNum type="arabicPeriod"/>
            </a:pPr>
            <a:endParaRPr lang="es-ES" sz="2000" dirty="0"/>
          </a:p>
          <a:p>
            <a:pPr marL="514350" indent="-457200">
              <a:buFont typeface="+mj-lt"/>
              <a:buAutoNum type="arabicPeriod"/>
            </a:pPr>
            <a:endParaRPr lang="es-ES" sz="2000" dirty="0"/>
          </a:p>
          <a:p>
            <a:pPr marL="514350" indent="-457200">
              <a:buFont typeface="+mj-lt"/>
              <a:buAutoNum type="arabicPeriod"/>
            </a:pPr>
            <a:endParaRPr lang="es-ES" sz="2000" dirty="0"/>
          </a:p>
          <a:p>
            <a:pPr marL="514350" indent="-457200">
              <a:buFont typeface="+mj-lt"/>
              <a:buAutoNum type="arabicPeriod"/>
            </a:pPr>
            <a:endParaRPr lang="es-ES" sz="2000" dirty="0"/>
          </a:p>
          <a:p>
            <a:pPr marL="457200" lvl="1" indent="0">
              <a:buNone/>
            </a:pPr>
            <a:r>
              <a:rPr lang="es-ES" sz="2000" dirty="0"/>
              <a:t>Determinar cuanto pagara una persona que compre manzanas en esa frutería, dado el precio por unidad.</a:t>
            </a:r>
          </a:p>
          <a:p>
            <a:pPr marL="514350" indent="-457200">
              <a:buFont typeface="+mj-lt"/>
              <a:buAutoNum type="arabicPeriod"/>
            </a:pPr>
            <a:r>
              <a:rPr lang="es-CO" sz="2000" dirty="0"/>
              <a:t>Se tienen cuatro esferas (A, B, C, D) de las cuales se sabe que tres son de igual peso y una diferente. Elaborar un algoritmo que determine cuál es la esfera diferente.</a:t>
            </a:r>
            <a:endParaRPr lang="es-ES" sz="2000" dirty="0"/>
          </a:p>
          <a:p>
            <a:pPr marL="57150" indent="0">
              <a:buNone/>
            </a:pPr>
            <a:endParaRPr lang="es-MX" sz="2200" i="1" dirty="0">
              <a:latin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65</a:t>
            </a:fld>
            <a:endParaRPr lang="en-US" dirty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844165"/>
              </p:ext>
            </p:extLst>
          </p:nvPr>
        </p:nvGraphicFramePr>
        <p:xfrm>
          <a:off x="1547664" y="2132856"/>
          <a:ext cx="638403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3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#</a:t>
                      </a:r>
                      <a:r>
                        <a:rPr lang="es-CO" sz="18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 de manzanas compradas</a:t>
                      </a:r>
                      <a:endParaRPr lang="es-CO"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+mn-lt"/>
                        </a:rPr>
                        <a:t>% de descuento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0 –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3 –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6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11 en adelante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0223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35896" y="188640"/>
            <a:ext cx="8424936" cy="1116540"/>
          </a:xfrm>
        </p:spPr>
        <p:txBody>
          <a:bodyPr/>
          <a:lstStyle/>
          <a:p>
            <a:r>
              <a:rPr lang="en-US" dirty="0"/>
              <a:t>Ejercicios de repaso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9532" y="1337972"/>
            <a:ext cx="8424936" cy="4275856"/>
          </a:xfrm>
        </p:spPr>
        <p:txBody>
          <a:bodyPr>
            <a:normAutofit/>
          </a:bodyPr>
          <a:lstStyle/>
          <a:p>
            <a:pPr marL="400050" indent="-342900">
              <a:buAutoNum type="arabicPeriod" startAt="3"/>
            </a:pPr>
            <a:r>
              <a:rPr lang="es-CO" sz="2000" dirty="0"/>
              <a:t>Diseñar un algoritmo que lea tres números A, B y C y visualice en pantalla el valor mas grande. Se supone que los 3 valores son diferentes.</a:t>
            </a:r>
          </a:p>
          <a:p>
            <a:pPr marL="400050" indent="-342900">
              <a:buAutoNum type="arabicPeriod" startAt="3"/>
            </a:pPr>
            <a:r>
              <a:rPr lang="es-CO" sz="2000" dirty="0"/>
              <a:t>Escribir un procedimiento para leer los valores de dos de los tres ángulos internos de un triángulo y mostrar en pantalla “Es un Triángulo Rectángulo” si efectivamente es un triángulo de este tipo o, en caso contrario, mostrar “No es un Triángulo Rectángulo”.</a:t>
            </a:r>
          </a:p>
          <a:p>
            <a:pPr marL="400050" indent="-342900">
              <a:buAutoNum type="arabicPeriod" startAt="3"/>
            </a:pPr>
            <a:r>
              <a:rPr lang="es-ES" sz="2000" dirty="0"/>
              <a:t>Una empresa tiene cuatro escalas de salario numeradas consecutivamente del 1 al 4, además, tiene un programa de incentivos de acuerdo a la categoría y si el número de unidades producidas es mayor de 50. Si está en la categoría 1 se le da un incremento de sueldo equivalente al 5% de su salario, si está en la 2 del 7%, en la 3 del 10% y en la 4 del 15%; esto es por cada empleado.</a:t>
            </a:r>
            <a:r>
              <a:rPr lang="es-CO" sz="2000" dirty="0"/>
              <a:t> </a:t>
            </a:r>
            <a:r>
              <a:rPr lang="es-ES" sz="2000" dirty="0"/>
              <a:t>Se tiene la siguiente información: nombres, salario mensual, categoría y número de unidades producidas. </a:t>
            </a:r>
          </a:p>
          <a:p>
            <a:pPr marL="400050" indent="-342900">
              <a:buAutoNum type="arabicPeriod" startAt="3"/>
            </a:pPr>
            <a:endParaRPr lang="es-CO" sz="2000" dirty="0"/>
          </a:p>
          <a:p>
            <a:pPr marL="400050" indent="-342900">
              <a:buAutoNum type="arabicPeriod" startAt="3"/>
            </a:pPr>
            <a:endParaRPr lang="es-ES" sz="2000" dirty="0"/>
          </a:p>
          <a:p>
            <a:pPr marL="514350" indent="-457200">
              <a:buFont typeface="+mj-lt"/>
              <a:buAutoNum type="arabicPeriod"/>
            </a:pPr>
            <a:endParaRPr lang="es-ES" sz="2000" dirty="0"/>
          </a:p>
          <a:p>
            <a:pPr marL="514350" indent="-457200">
              <a:buFont typeface="+mj-lt"/>
              <a:buAutoNum type="arabicPeriod"/>
            </a:pPr>
            <a:endParaRPr lang="es-ES" sz="2000" dirty="0"/>
          </a:p>
          <a:p>
            <a:pPr marL="57150" indent="0">
              <a:buNone/>
            </a:pPr>
            <a:endParaRPr lang="es-MX" sz="2000" i="1" dirty="0">
              <a:latin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7576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3168" y="1201445"/>
            <a:ext cx="8424936" cy="1440160"/>
          </a:xfrm>
        </p:spPr>
        <p:txBody>
          <a:bodyPr>
            <a:normAutofit/>
          </a:bodyPr>
          <a:lstStyle/>
          <a:p>
            <a:pPr marL="400050" indent="-342900">
              <a:buAutoNum type="arabicPeriod" startAt="6"/>
            </a:pPr>
            <a:r>
              <a:rPr lang="es-CO" sz="2000" dirty="0"/>
              <a:t>En el minimercado de Apu hay una máquina dispensadora que tiene 4 productos etiquetados con los números 1, 2, 3 y 4, cada uno con un valor de $500, $800, $300 y $900, respectivamente. Defina un algoritmo que lea el número de producto que ingresa el usuario y que le muestre su precio.</a:t>
            </a:r>
          </a:p>
          <a:p>
            <a:pPr marL="400050" indent="-342900">
              <a:buAutoNum type="arabicPeriod" startAt="6"/>
            </a:pPr>
            <a:endParaRPr lang="es-CO" sz="1800" dirty="0"/>
          </a:p>
          <a:p>
            <a:pPr marL="57150" indent="0">
              <a:buNone/>
            </a:pPr>
            <a:endParaRPr lang="es-CO" sz="1800" dirty="0"/>
          </a:p>
          <a:p>
            <a:pPr marL="514350" indent="-457200">
              <a:buFont typeface="+mj-lt"/>
              <a:buAutoNum type="arabicPeriod" startAt="4"/>
            </a:pPr>
            <a:endParaRPr lang="es-CO" sz="2000" dirty="0"/>
          </a:p>
          <a:p>
            <a:pPr marL="514350" indent="-457200">
              <a:buFont typeface="+mj-lt"/>
              <a:buAutoNum type="arabicPeriod" startAt="4"/>
            </a:pPr>
            <a:endParaRPr lang="es-ES" sz="2000" dirty="0"/>
          </a:p>
          <a:p>
            <a:pPr marL="514350" indent="-457200">
              <a:buFont typeface="+mj-lt"/>
              <a:buAutoNum type="arabicPeriod" startAt="4"/>
            </a:pPr>
            <a:endParaRPr lang="es-ES" sz="2000" dirty="0"/>
          </a:p>
          <a:p>
            <a:pPr marL="57150" indent="0">
              <a:buNone/>
            </a:pPr>
            <a:endParaRPr lang="es-MX" sz="2200" i="1" dirty="0">
              <a:latin typeface="Cambria Math"/>
            </a:endParaRPr>
          </a:p>
        </p:txBody>
      </p:sp>
      <p:pic>
        <p:nvPicPr>
          <p:cNvPr id="1026" name="Picture 2" descr="El supermercado de &amp;amp;quot;Los Simpson&amp;amp;quot; ya existe en la vida real - LA GACETA Salta">
            <a:extLst>
              <a:ext uri="{FF2B5EF4-FFF2-40B4-BE49-F238E27FC236}">
                <a16:creationId xmlns:a16="http://schemas.microsoft.com/office/drawing/2014/main" id="{C04BBB68-843D-47A6-BEBB-30EBA741B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498" y="2842794"/>
            <a:ext cx="6101732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19E26022-11ED-419A-AEA3-930B8803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96" y="188640"/>
            <a:ext cx="8424936" cy="1116540"/>
          </a:xfrm>
        </p:spPr>
        <p:txBody>
          <a:bodyPr/>
          <a:lstStyle/>
          <a:p>
            <a:r>
              <a:rPr lang="en-US" dirty="0"/>
              <a:t>Ejercicios de repaso</a:t>
            </a:r>
          </a:p>
        </p:txBody>
      </p:sp>
    </p:spTree>
    <p:extLst>
      <p:ext uri="{BB962C8B-B14F-4D97-AF65-F5344CB8AC3E}">
        <p14:creationId xmlns:p14="http://schemas.microsoft.com/office/powerpoint/2010/main" val="3781501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504" y="23817"/>
            <a:ext cx="7886700" cy="740887"/>
          </a:xfrm>
        </p:spPr>
        <p:txBody>
          <a:bodyPr/>
          <a:lstStyle/>
          <a:p>
            <a:r>
              <a:rPr lang="en-US" sz="2800" dirty="0"/>
              <a:t>Referencias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764704"/>
            <a:ext cx="8424936" cy="3384376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2"/>
              </a:rPr>
              <a:t>https://ellibrodepython.com/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3"/>
              </a:rPr>
              <a:t>https://www.w3resource.com/index.php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4"/>
              </a:rPr>
              <a:t>https://realpython.com/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5"/>
              </a:rPr>
              <a:t>https://curriculumresources.edu.gh/wp-content/uploads/2025/01/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6"/>
              </a:rPr>
              <a:t>https://python-course.eu/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7"/>
              </a:rPr>
              <a:t>https://realpython.com/cheatsheets/python/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8"/>
              </a:rPr>
              <a:t>https://realpython.com/python-conditional-statements/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9"/>
              </a:rPr>
              <a:t>https://realpython.com/ref/best-practices/conditionals/</a:t>
            </a:r>
            <a:r>
              <a:rPr lang="es-CO" sz="2000" dirty="0"/>
              <a:t>  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10"/>
              </a:rPr>
              <a:t>https://makecode.microbit.org/courses/csintro</a:t>
            </a:r>
            <a:r>
              <a:rPr lang="es-CO" sz="2000" dirty="0"/>
              <a:t>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1"/>
              </a:rPr>
              <a:t>https://makecode.microbit.org/courses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31648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0617"/>
            <a:ext cx="8191822" cy="728103"/>
          </a:xfrm>
        </p:spPr>
        <p:txBody>
          <a:bodyPr/>
          <a:lstStyle/>
          <a:p>
            <a:r>
              <a:rPr lang="es-CO" dirty="0"/>
              <a:t>Eso es todo amigos</a:t>
            </a:r>
            <a:endParaRPr lang="en-US" dirty="0"/>
          </a:p>
        </p:txBody>
      </p:sp>
      <p:pic>
        <p:nvPicPr>
          <p:cNvPr id="3074" name="Picture 2" descr="Coding Explained in 25 Profound Comics">
            <a:extLst>
              <a:ext uri="{FF2B5EF4-FFF2-40B4-BE49-F238E27FC236}">
                <a16:creationId xmlns:a16="http://schemas.microsoft.com/office/drawing/2014/main" id="{3ACDA9BC-F012-4EC7-B0FD-C053E56E1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980728"/>
            <a:ext cx="4896544" cy="548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96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5672</TotalTime>
  <Words>7415</Words>
  <Application>Microsoft Office PowerPoint</Application>
  <PresentationFormat>Presentación en pantalla (4:3)</PresentationFormat>
  <Paragraphs>1240</Paragraphs>
  <Slides>69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69</vt:i4>
      </vt:variant>
    </vt:vector>
  </HeadingPairs>
  <TitlesOfParts>
    <vt:vector size="76" baseType="lpstr">
      <vt:lpstr>Arial</vt:lpstr>
      <vt:lpstr>Calibri</vt:lpstr>
      <vt:lpstr>Calibri Light</vt:lpstr>
      <vt:lpstr>Cambria Math</vt:lpstr>
      <vt:lpstr>Century Gothic</vt:lpstr>
      <vt:lpstr>Consolas</vt:lpstr>
      <vt:lpstr>Office Theme</vt:lpstr>
      <vt:lpstr>Lógica y Representación 1</vt:lpstr>
      <vt:lpstr>Método de Polya - Resumen</vt:lpstr>
      <vt:lpstr>Entrada, procesamiento y salida</vt:lpstr>
      <vt:lpstr>Tabla resumen</vt:lpstr>
      <vt:lpstr>Tabla resumen</vt:lpstr>
      <vt:lpstr>Casos en los problemas de decisión lógica</vt:lpstr>
      <vt:lpstr>Alternativa simple</vt:lpstr>
      <vt:lpstr>Alternativa doble</vt:lpstr>
      <vt:lpstr>Alternativa simple</vt:lpstr>
      <vt:lpstr>Alternativa doble</vt:lpstr>
      <vt:lpstr>Alternativa doble</vt:lpstr>
      <vt:lpstr>Alternativa doble</vt:lpstr>
      <vt:lpstr>Alternativa doble</vt:lpstr>
      <vt:lpstr>Alternativa doble</vt:lpstr>
      <vt:lpstr>Alternativa doble</vt:lpstr>
      <vt:lpstr>Alternativa doble</vt:lpstr>
      <vt:lpstr>Alternativa múltiple</vt:lpstr>
      <vt:lpstr>Alternativa múltiple</vt:lpstr>
      <vt:lpstr>Alternativa múltiple – Mismo criterio</vt:lpstr>
      <vt:lpstr>Alternativa múltiple – Diferente criterio</vt:lpstr>
      <vt:lpstr>Alternativa múltiple</vt:lpstr>
      <vt:lpstr>Alternativa doble</vt:lpstr>
      <vt:lpstr>Alternativa múltiple</vt:lpstr>
      <vt:lpstr>Alternativa múltiple</vt:lpstr>
      <vt:lpstr>Alternativa múltiple</vt:lpstr>
      <vt:lpstr>Alternativa múltiple</vt:lpstr>
      <vt:lpstr>Alternativa múltiple</vt:lpstr>
      <vt:lpstr>Alternativa múltiple</vt:lpstr>
      <vt:lpstr>Alternativa múltiple</vt:lpstr>
      <vt:lpstr>Alternativa múltiple</vt:lpstr>
      <vt:lpstr>Alternativa múltiple</vt:lpstr>
      <vt:lpstr>Ejemplos de repaso</vt:lpstr>
      <vt:lpstr>Ejemplo 3 – Solución forma 1</vt:lpstr>
      <vt:lpstr>Ejemplo 3 – Solución forma 1</vt:lpstr>
      <vt:lpstr>Ejemplo 3 – Solución forma 1</vt:lpstr>
      <vt:lpstr>Ejemplo 3 – Solución forma 1</vt:lpstr>
      <vt:lpstr>Alternativa múltiple – if-else anidados</vt:lpstr>
      <vt:lpstr>Ejemplo 3 – Solución en python ( forma 1)</vt:lpstr>
      <vt:lpstr>Alternativa múltiple – if-elif-else </vt:lpstr>
      <vt:lpstr>Ejemplo 3 – Solución en python  (forma 2)</vt:lpstr>
      <vt:lpstr>Ejemplo 3 – Comparación implementaciones</vt:lpstr>
      <vt:lpstr>Ejemplo 3 – Resumen solución forma 1</vt:lpstr>
      <vt:lpstr>Ejemplo 3 – Resumen solución forma 1</vt:lpstr>
      <vt:lpstr>Ejemplo 3 – Resumen solución forma 1</vt:lpstr>
      <vt:lpstr>Ejemplo 3 – Resumen solución forma 1</vt:lpstr>
      <vt:lpstr>Ejemplo 3 – Solución forma 2</vt:lpstr>
      <vt:lpstr>Ejemplo 3 – Solución forma 2</vt:lpstr>
      <vt:lpstr>Ejemplo 3 – Solución forma 2</vt:lpstr>
      <vt:lpstr>Ejemplo 3 – Solución forma 2</vt:lpstr>
      <vt:lpstr>Ejemplo 3 – Codificación en python (forma 1)</vt:lpstr>
      <vt:lpstr>Ejemplo 3 – Codificación en python (forma 2)</vt:lpstr>
      <vt:lpstr>Ejemplo 3 – Comparación de soluciones</vt:lpstr>
      <vt:lpstr>Ejemplo 3 – Comparación de soluciones</vt:lpstr>
      <vt:lpstr>Ejemplos de repaso</vt:lpstr>
      <vt:lpstr>Ejemplo 4 - Solución</vt:lpstr>
      <vt:lpstr>Ejemplo 4 - Solución</vt:lpstr>
      <vt:lpstr>Ejemplo 4 - Solución</vt:lpstr>
      <vt:lpstr>Ejemplo 4 - Solución</vt:lpstr>
      <vt:lpstr>Ejemplo 4 - Solución</vt:lpstr>
      <vt:lpstr>Ejemplo 4 - Solución</vt:lpstr>
      <vt:lpstr>Ejemplo 4 - Solución</vt:lpstr>
      <vt:lpstr>Presentación de PowerPoint</vt:lpstr>
      <vt:lpstr>Presentación de PowerPoint</vt:lpstr>
      <vt:lpstr>Presentación de PowerPoint</vt:lpstr>
      <vt:lpstr>Ejercicios de repaso</vt:lpstr>
      <vt:lpstr>Ejercicios de repaso</vt:lpstr>
      <vt:lpstr>Ejercicios de repaso</vt:lpstr>
      <vt:lpstr>Referencias</vt:lpstr>
      <vt:lpstr>Eso es todo amigos</vt:lpstr>
    </vt:vector>
  </TitlesOfParts>
  <Company>Universidad de Antioquia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curso</dc:title>
  <dc:creator>Apoyo Administrativo Ingeniería</dc:creator>
  <cp:lastModifiedBy>HENRY ALBERTO ARCILA RAMIREZ</cp:lastModifiedBy>
  <cp:revision>157</cp:revision>
  <dcterms:created xsi:type="dcterms:W3CDTF">2015-03-12T20:27:20Z</dcterms:created>
  <dcterms:modified xsi:type="dcterms:W3CDTF">2026-08-24T03:36:58Z</dcterms:modified>
</cp:coreProperties>
</file>