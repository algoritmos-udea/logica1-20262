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32"/>
  </p:notesMasterIdLst>
  <p:sldIdLst>
    <p:sldId id="281" r:id="rId2"/>
    <p:sldId id="273" r:id="rId3"/>
    <p:sldId id="275" r:id="rId4"/>
    <p:sldId id="276" r:id="rId5"/>
    <p:sldId id="285" r:id="rId6"/>
    <p:sldId id="286" r:id="rId7"/>
    <p:sldId id="279" r:id="rId8"/>
    <p:sldId id="287" r:id="rId9"/>
    <p:sldId id="288" r:id="rId10"/>
    <p:sldId id="289" r:id="rId11"/>
    <p:sldId id="290" r:id="rId12"/>
    <p:sldId id="291" r:id="rId13"/>
    <p:sldId id="293" r:id="rId14"/>
    <p:sldId id="294" r:id="rId15"/>
    <p:sldId id="274" r:id="rId16"/>
    <p:sldId id="295" r:id="rId17"/>
    <p:sldId id="297" r:id="rId18"/>
    <p:sldId id="296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292" r:id="rId27"/>
    <p:sldId id="305" r:id="rId28"/>
    <p:sldId id="278" r:id="rId29"/>
    <p:sldId id="307" r:id="rId30"/>
    <p:sldId id="277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9" autoAdjust="0"/>
    <p:restoredTop sz="94684" autoAdjust="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5906FF-95EB-48B5-9DA3-3CD6E6398F1D}" type="doc">
      <dgm:prSet loTypeId="urn:microsoft.com/office/officeart/2005/8/layout/orgChart1" loCatId="hierarchy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CO"/>
        </a:p>
      </dgm:t>
    </dgm:pt>
    <dgm:pt modelId="{0F082948-55DF-4D59-AF4A-FD8AAB578C2A}">
      <dgm:prSet phldrT="[Texto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CO" b="1" dirty="0">
              <a:latin typeface="+mn-lt"/>
            </a:rPr>
            <a:t>COMPUTER</a:t>
          </a:r>
        </a:p>
      </dgm:t>
    </dgm:pt>
    <dgm:pt modelId="{24E49BF3-5C6F-4439-A77B-6DE68A8F16C7}" type="parTrans" cxnId="{4CC30044-19C0-4166-A786-64FDCC6C004C}">
      <dgm:prSet/>
      <dgm:spPr/>
      <dgm:t>
        <a:bodyPr/>
        <a:lstStyle/>
        <a:p>
          <a:endParaRPr lang="es-CO"/>
        </a:p>
      </dgm:t>
    </dgm:pt>
    <dgm:pt modelId="{1614EE47-EB17-4DE6-884E-67231F5D391B}" type="sibTrans" cxnId="{4CC30044-19C0-4166-A786-64FDCC6C004C}">
      <dgm:prSet/>
      <dgm:spPr/>
      <dgm:t>
        <a:bodyPr/>
        <a:lstStyle/>
        <a:p>
          <a:endParaRPr lang="es-CO"/>
        </a:p>
      </dgm:t>
    </dgm:pt>
    <dgm:pt modelId="{3AF6341D-D4C8-43C6-93CF-C2865A37843B}">
      <dgm:prSet phldrT="[Texto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CO" dirty="0">
              <a:latin typeface="Century Gothic" panose="020B0502020202020204" pitchFamily="34" charset="0"/>
            </a:rPr>
            <a:t>Hardware</a:t>
          </a:r>
        </a:p>
      </dgm:t>
    </dgm:pt>
    <dgm:pt modelId="{C6C55807-7A6E-4F76-827B-0B4B0C10908D}" type="parTrans" cxnId="{6AC6442C-F28E-484E-909C-8F43E18A5947}">
      <dgm:prSet/>
      <dgm:spPr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s-CO"/>
        </a:p>
      </dgm:t>
    </dgm:pt>
    <dgm:pt modelId="{4B31793E-9B2D-4D34-8149-E6F66C094665}" type="sibTrans" cxnId="{6AC6442C-F28E-484E-909C-8F43E18A5947}">
      <dgm:prSet/>
      <dgm:spPr/>
      <dgm:t>
        <a:bodyPr/>
        <a:lstStyle/>
        <a:p>
          <a:endParaRPr lang="es-CO"/>
        </a:p>
      </dgm:t>
    </dgm:pt>
    <dgm:pt modelId="{8274DD0C-5C3B-46CE-ABBB-DDAE8592F304}">
      <dgm:prSet phldrT="[Texto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CO" dirty="0">
              <a:latin typeface="Century Gothic" panose="020B0502020202020204" pitchFamily="34" charset="0"/>
            </a:rPr>
            <a:t>Software</a:t>
          </a:r>
        </a:p>
      </dgm:t>
    </dgm:pt>
    <dgm:pt modelId="{2BF8FF67-884E-4214-8835-B6F3E7B0C8FC}" type="parTrans" cxnId="{7812DAEC-4F76-43EB-B749-FB7CCE821641}">
      <dgm:prSet/>
      <dgm:spPr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s-CO"/>
        </a:p>
      </dgm:t>
    </dgm:pt>
    <dgm:pt modelId="{42160D74-881C-405E-A591-BDAEA1E6790C}" type="sibTrans" cxnId="{7812DAEC-4F76-43EB-B749-FB7CCE821641}">
      <dgm:prSet/>
      <dgm:spPr/>
      <dgm:t>
        <a:bodyPr/>
        <a:lstStyle/>
        <a:p>
          <a:endParaRPr lang="es-CO"/>
        </a:p>
      </dgm:t>
    </dgm:pt>
    <dgm:pt modelId="{3384338F-F211-466E-A7D9-940486926F6B}" type="pres">
      <dgm:prSet presAssocID="{E45906FF-95EB-48B5-9DA3-3CD6E6398F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3A3EE49-F7A6-47E7-8BA5-095CB3A9FC3F}" type="pres">
      <dgm:prSet presAssocID="{0F082948-55DF-4D59-AF4A-FD8AAB578C2A}" presName="hierRoot1" presStyleCnt="0">
        <dgm:presLayoutVars>
          <dgm:hierBranch val="init"/>
        </dgm:presLayoutVars>
      </dgm:prSet>
      <dgm:spPr/>
    </dgm:pt>
    <dgm:pt modelId="{73A08C02-FC3F-496C-84B7-5D18C57143FB}" type="pres">
      <dgm:prSet presAssocID="{0F082948-55DF-4D59-AF4A-FD8AAB578C2A}" presName="rootComposite1" presStyleCnt="0"/>
      <dgm:spPr/>
    </dgm:pt>
    <dgm:pt modelId="{490F3542-8E5B-4760-9A4F-6F3014DFCA90}" type="pres">
      <dgm:prSet presAssocID="{0F082948-55DF-4D59-AF4A-FD8AAB578C2A}" presName="rootText1" presStyleLbl="node0" presStyleIdx="0" presStyleCnt="1" custScaleX="143192">
        <dgm:presLayoutVars>
          <dgm:chPref val="3"/>
        </dgm:presLayoutVars>
      </dgm:prSet>
      <dgm:spPr/>
    </dgm:pt>
    <dgm:pt modelId="{BB75E78E-DC87-48E4-A149-DCA5E3F70CD3}" type="pres">
      <dgm:prSet presAssocID="{0F082948-55DF-4D59-AF4A-FD8AAB578C2A}" presName="rootConnector1" presStyleLbl="node1" presStyleIdx="0" presStyleCnt="0"/>
      <dgm:spPr/>
    </dgm:pt>
    <dgm:pt modelId="{2C06E157-60DC-4429-B7A9-E339E603459A}" type="pres">
      <dgm:prSet presAssocID="{0F082948-55DF-4D59-AF4A-FD8AAB578C2A}" presName="hierChild2" presStyleCnt="0"/>
      <dgm:spPr/>
    </dgm:pt>
    <dgm:pt modelId="{E5CA60D3-056C-4FD4-9DD8-BE5DC6CECD07}" type="pres">
      <dgm:prSet presAssocID="{C6C55807-7A6E-4F76-827B-0B4B0C10908D}" presName="Name37" presStyleLbl="parChTrans1D2" presStyleIdx="0" presStyleCnt="2"/>
      <dgm:spPr/>
    </dgm:pt>
    <dgm:pt modelId="{90C0B5BA-3E7E-4A51-8D58-578242B2DBC8}" type="pres">
      <dgm:prSet presAssocID="{3AF6341D-D4C8-43C6-93CF-C2865A37843B}" presName="hierRoot2" presStyleCnt="0">
        <dgm:presLayoutVars>
          <dgm:hierBranch val="init"/>
        </dgm:presLayoutVars>
      </dgm:prSet>
      <dgm:spPr/>
    </dgm:pt>
    <dgm:pt modelId="{FCDF75B3-ED19-4759-9F4A-1C68920E5773}" type="pres">
      <dgm:prSet presAssocID="{3AF6341D-D4C8-43C6-93CF-C2865A37843B}" presName="rootComposite" presStyleCnt="0"/>
      <dgm:spPr/>
    </dgm:pt>
    <dgm:pt modelId="{3F0086EB-F717-48F2-BA82-50D6ACE668CB}" type="pres">
      <dgm:prSet presAssocID="{3AF6341D-D4C8-43C6-93CF-C2865A37843B}" presName="rootText" presStyleLbl="node2" presStyleIdx="0" presStyleCnt="2" custScaleX="118840" custLinFactNeighborX="-88415" custLinFactNeighborY="628">
        <dgm:presLayoutVars>
          <dgm:chPref val="3"/>
        </dgm:presLayoutVars>
      </dgm:prSet>
      <dgm:spPr/>
    </dgm:pt>
    <dgm:pt modelId="{FB196024-2A8D-40B6-B873-228F8F81B1D0}" type="pres">
      <dgm:prSet presAssocID="{3AF6341D-D4C8-43C6-93CF-C2865A37843B}" presName="rootConnector" presStyleLbl="node2" presStyleIdx="0" presStyleCnt="2"/>
      <dgm:spPr/>
    </dgm:pt>
    <dgm:pt modelId="{38A3A418-6019-4B63-9792-B2B56C1265EC}" type="pres">
      <dgm:prSet presAssocID="{3AF6341D-D4C8-43C6-93CF-C2865A37843B}" presName="hierChild4" presStyleCnt="0"/>
      <dgm:spPr/>
    </dgm:pt>
    <dgm:pt modelId="{3628B0A2-B339-4A31-BA3C-A6AADB03775F}" type="pres">
      <dgm:prSet presAssocID="{3AF6341D-D4C8-43C6-93CF-C2865A37843B}" presName="hierChild5" presStyleCnt="0"/>
      <dgm:spPr/>
    </dgm:pt>
    <dgm:pt modelId="{2F4F9784-C736-4B99-9586-D395CEC7AE21}" type="pres">
      <dgm:prSet presAssocID="{2BF8FF67-884E-4214-8835-B6F3E7B0C8FC}" presName="Name37" presStyleLbl="parChTrans1D2" presStyleIdx="1" presStyleCnt="2"/>
      <dgm:spPr/>
    </dgm:pt>
    <dgm:pt modelId="{420B6030-0DE1-461E-9300-61A6AFB406AF}" type="pres">
      <dgm:prSet presAssocID="{8274DD0C-5C3B-46CE-ABBB-DDAE8592F304}" presName="hierRoot2" presStyleCnt="0">
        <dgm:presLayoutVars>
          <dgm:hierBranch val="init"/>
        </dgm:presLayoutVars>
      </dgm:prSet>
      <dgm:spPr/>
    </dgm:pt>
    <dgm:pt modelId="{ED2CA4E2-810D-4B3D-AD25-992F1A79AD14}" type="pres">
      <dgm:prSet presAssocID="{8274DD0C-5C3B-46CE-ABBB-DDAE8592F304}" presName="rootComposite" presStyleCnt="0"/>
      <dgm:spPr/>
    </dgm:pt>
    <dgm:pt modelId="{4EBEC8AF-B9C1-4309-8768-B67665C980D3}" type="pres">
      <dgm:prSet presAssocID="{8274DD0C-5C3B-46CE-ABBB-DDAE8592F304}" presName="rootText" presStyleLbl="node2" presStyleIdx="1" presStyleCnt="2" custScaleX="118689" custLinFactNeighborX="80670" custLinFactNeighborY="8917">
        <dgm:presLayoutVars>
          <dgm:chPref val="3"/>
        </dgm:presLayoutVars>
      </dgm:prSet>
      <dgm:spPr/>
    </dgm:pt>
    <dgm:pt modelId="{3D9CD8AE-F4D8-4CDC-8079-D69FAAA7486D}" type="pres">
      <dgm:prSet presAssocID="{8274DD0C-5C3B-46CE-ABBB-DDAE8592F304}" presName="rootConnector" presStyleLbl="node2" presStyleIdx="1" presStyleCnt="2"/>
      <dgm:spPr/>
    </dgm:pt>
    <dgm:pt modelId="{6CB3D627-BFA4-4BF1-87F6-2E289510AD0C}" type="pres">
      <dgm:prSet presAssocID="{8274DD0C-5C3B-46CE-ABBB-DDAE8592F304}" presName="hierChild4" presStyleCnt="0"/>
      <dgm:spPr/>
    </dgm:pt>
    <dgm:pt modelId="{DD0C1E38-44D3-4EC9-8EFF-520A3437926C}" type="pres">
      <dgm:prSet presAssocID="{8274DD0C-5C3B-46CE-ABBB-DDAE8592F304}" presName="hierChild5" presStyleCnt="0"/>
      <dgm:spPr/>
    </dgm:pt>
    <dgm:pt modelId="{AF701184-779C-4A61-8B57-486118274439}" type="pres">
      <dgm:prSet presAssocID="{0F082948-55DF-4D59-AF4A-FD8AAB578C2A}" presName="hierChild3" presStyleCnt="0"/>
      <dgm:spPr/>
    </dgm:pt>
  </dgm:ptLst>
  <dgm:cxnLst>
    <dgm:cxn modelId="{F28FCE08-9E7A-45BE-AE20-060B165088F9}" type="presOf" srcId="{8274DD0C-5C3B-46CE-ABBB-DDAE8592F304}" destId="{4EBEC8AF-B9C1-4309-8768-B67665C980D3}" srcOrd="0" destOrd="0" presId="urn:microsoft.com/office/officeart/2005/8/layout/orgChart1"/>
    <dgm:cxn modelId="{6AC6442C-F28E-484E-909C-8F43E18A5947}" srcId="{0F082948-55DF-4D59-AF4A-FD8AAB578C2A}" destId="{3AF6341D-D4C8-43C6-93CF-C2865A37843B}" srcOrd="0" destOrd="0" parTransId="{C6C55807-7A6E-4F76-827B-0B4B0C10908D}" sibTransId="{4B31793E-9B2D-4D34-8149-E6F66C094665}"/>
    <dgm:cxn modelId="{4CC30044-19C0-4166-A786-64FDCC6C004C}" srcId="{E45906FF-95EB-48B5-9DA3-3CD6E6398F1D}" destId="{0F082948-55DF-4D59-AF4A-FD8AAB578C2A}" srcOrd="0" destOrd="0" parTransId="{24E49BF3-5C6F-4439-A77B-6DE68A8F16C7}" sibTransId="{1614EE47-EB17-4DE6-884E-67231F5D391B}"/>
    <dgm:cxn modelId="{9A835D4C-4354-4628-85FD-F4BDC1E8FC91}" type="presOf" srcId="{3AF6341D-D4C8-43C6-93CF-C2865A37843B}" destId="{FB196024-2A8D-40B6-B873-228F8F81B1D0}" srcOrd="1" destOrd="0" presId="urn:microsoft.com/office/officeart/2005/8/layout/orgChart1"/>
    <dgm:cxn modelId="{D2B47E80-066C-4653-9BC7-6D53048D2E13}" type="presOf" srcId="{8274DD0C-5C3B-46CE-ABBB-DDAE8592F304}" destId="{3D9CD8AE-F4D8-4CDC-8079-D69FAAA7486D}" srcOrd="1" destOrd="0" presId="urn:microsoft.com/office/officeart/2005/8/layout/orgChart1"/>
    <dgm:cxn modelId="{7ADDB083-C774-41F5-B4DA-63D364C29FA5}" type="presOf" srcId="{0F082948-55DF-4D59-AF4A-FD8AAB578C2A}" destId="{BB75E78E-DC87-48E4-A149-DCA5E3F70CD3}" srcOrd="1" destOrd="0" presId="urn:microsoft.com/office/officeart/2005/8/layout/orgChart1"/>
    <dgm:cxn modelId="{E7E89685-53A4-4023-9941-5718C5540920}" type="presOf" srcId="{E45906FF-95EB-48B5-9DA3-3CD6E6398F1D}" destId="{3384338F-F211-466E-A7D9-940486926F6B}" srcOrd="0" destOrd="0" presId="urn:microsoft.com/office/officeart/2005/8/layout/orgChart1"/>
    <dgm:cxn modelId="{82A47B92-ECBC-413A-82AA-ACFB0DDA2F43}" type="presOf" srcId="{0F082948-55DF-4D59-AF4A-FD8AAB578C2A}" destId="{490F3542-8E5B-4760-9A4F-6F3014DFCA90}" srcOrd="0" destOrd="0" presId="urn:microsoft.com/office/officeart/2005/8/layout/orgChart1"/>
    <dgm:cxn modelId="{7EEDE0AC-F8BA-4A16-AA8C-1F836C73BBD8}" type="presOf" srcId="{3AF6341D-D4C8-43C6-93CF-C2865A37843B}" destId="{3F0086EB-F717-48F2-BA82-50D6ACE668CB}" srcOrd="0" destOrd="0" presId="urn:microsoft.com/office/officeart/2005/8/layout/orgChart1"/>
    <dgm:cxn modelId="{D03568B1-E352-4951-8DF5-615BB0D88A41}" type="presOf" srcId="{C6C55807-7A6E-4F76-827B-0B4B0C10908D}" destId="{E5CA60D3-056C-4FD4-9DD8-BE5DC6CECD07}" srcOrd="0" destOrd="0" presId="urn:microsoft.com/office/officeart/2005/8/layout/orgChart1"/>
    <dgm:cxn modelId="{C10BE0CC-D85A-4EC0-9E04-1CD45BE0B43F}" type="presOf" srcId="{2BF8FF67-884E-4214-8835-B6F3E7B0C8FC}" destId="{2F4F9784-C736-4B99-9586-D395CEC7AE21}" srcOrd="0" destOrd="0" presId="urn:microsoft.com/office/officeart/2005/8/layout/orgChart1"/>
    <dgm:cxn modelId="{7812DAEC-4F76-43EB-B749-FB7CCE821641}" srcId="{0F082948-55DF-4D59-AF4A-FD8AAB578C2A}" destId="{8274DD0C-5C3B-46CE-ABBB-DDAE8592F304}" srcOrd="1" destOrd="0" parTransId="{2BF8FF67-884E-4214-8835-B6F3E7B0C8FC}" sibTransId="{42160D74-881C-405E-A591-BDAEA1E6790C}"/>
    <dgm:cxn modelId="{C7B1350F-9397-4387-839D-41D7BA291D85}" type="presParOf" srcId="{3384338F-F211-466E-A7D9-940486926F6B}" destId="{03A3EE49-F7A6-47E7-8BA5-095CB3A9FC3F}" srcOrd="0" destOrd="0" presId="urn:microsoft.com/office/officeart/2005/8/layout/orgChart1"/>
    <dgm:cxn modelId="{11B0D2BF-C72A-4338-AF65-545132D85540}" type="presParOf" srcId="{03A3EE49-F7A6-47E7-8BA5-095CB3A9FC3F}" destId="{73A08C02-FC3F-496C-84B7-5D18C57143FB}" srcOrd="0" destOrd="0" presId="urn:microsoft.com/office/officeart/2005/8/layout/orgChart1"/>
    <dgm:cxn modelId="{E058720B-1D65-4E15-BCA8-50FC5BCE41A6}" type="presParOf" srcId="{73A08C02-FC3F-496C-84B7-5D18C57143FB}" destId="{490F3542-8E5B-4760-9A4F-6F3014DFCA90}" srcOrd="0" destOrd="0" presId="urn:microsoft.com/office/officeart/2005/8/layout/orgChart1"/>
    <dgm:cxn modelId="{EC1EC76E-A796-4DDE-B78F-300C6A8E6AE8}" type="presParOf" srcId="{73A08C02-FC3F-496C-84B7-5D18C57143FB}" destId="{BB75E78E-DC87-48E4-A149-DCA5E3F70CD3}" srcOrd="1" destOrd="0" presId="urn:microsoft.com/office/officeart/2005/8/layout/orgChart1"/>
    <dgm:cxn modelId="{E168A11C-92E4-4310-B783-4CBE9E266EEA}" type="presParOf" srcId="{03A3EE49-F7A6-47E7-8BA5-095CB3A9FC3F}" destId="{2C06E157-60DC-4429-B7A9-E339E603459A}" srcOrd="1" destOrd="0" presId="urn:microsoft.com/office/officeart/2005/8/layout/orgChart1"/>
    <dgm:cxn modelId="{A0B39AD4-3BAD-4616-8D63-789A541E6DD9}" type="presParOf" srcId="{2C06E157-60DC-4429-B7A9-E339E603459A}" destId="{E5CA60D3-056C-4FD4-9DD8-BE5DC6CECD07}" srcOrd="0" destOrd="0" presId="urn:microsoft.com/office/officeart/2005/8/layout/orgChart1"/>
    <dgm:cxn modelId="{211051BE-EB18-47B1-A758-BD18D54BF0BB}" type="presParOf" srcId="{2C06E157-60DC-4429-B7A9-E339E603459A}" destId="{90C0B5BA-3E7E-4A51-8D58-578242B2DBC8}" srcOrd="1" destOrd="0" presId="urn:microsoft.com/office/officeart/2005/8/layout/orgChart1"/>
    <dgm:cxn modelId="{BE819AF3-52BC-4075-8755-EB6ADF658891}" type="presParOf" srcId="{90C0B5BA-3E7E-4A51-8D58-578242B2DBC8}" destId="{FCDF75B3-ED19-4759-9F4A-1C68920E5773}" srcOrd="0" destOrd="0" presId="urn:microsoft.com/office/officeart/2005/8/layout/orgChart1"/>
    <dgm:cxn modelId="{E58620D9-CA50-4D9E-AD45-63520BD749F1}" type="presParOf" srcId="{FCDF75B3-ED19-4759-9F4A-1C68920E5773}" destId="{3F0086EB-F717-48F2-BA82-50D6ACE668CB}" srcOrd="0" destOrd="0" presId="urn:microsoft.com/office/officeart/2005/8/layout/orgChart1"/>
    <dgm:cxn modelId="{1E8DC30B-79DB-4BEA-9B34-BD2CB211F091}" type="presParOf" srcId="{FCDF75B3-ED19-4759-9F4A-1C68920E5773}" destId="{FB196024-2A8D-40B6-B873-228F8F81B1D0}" srcOrd="1" destOrd="0" presId="urn:microsoft.com/office/officeart/2005/8/layout/orgChart1"/>
    <dgm:cxn modelId="{9FE108EA-0A22-44B5-B572-B36FD629FDF8}" type="presParOf" srcId="{90C0B5BA-3E7E-4A51-8D58-578242B2DBC8}" destId="{38A3A418-6019-4B63-9792-B2B56C1265EC}" srcOrd="1" destOrd="0" presId="urn:microsoft.com/office/officeart/2005/8/layout/orgChart1"/>
    <dgm:cxn modelId="{969CF9AA-2BCC-47D8-868D-06AD33D016B6}" type="presParOf" srcId="{90C0B5BA-3E7E-4A51-8D58-578242B2DBC8}" destId="{3628B0A2-B339-4A31-BA3C-A6AADB03775F}" srcOrd="2" destOrd="0" presId="urn:microsoft.com/office/officeart/2005/8/layout/orgChart1"/>
    <dgm:cxn modelId="{73769507-2ED6-4ED6-BF65-AF4956C904E1}" type="presParOf" srcId="{2C06E157-60DC-4429-B7A9-E339E603459A}" destId="{2F4F9784-C736-4B99-9586-D395CEC7AE21}" srcOrd="2" destOrd="0" presId="urn:microsoft.com/office/officeart/2005/8/layout/orgChart1"/>
    <dgm:cxn modelId="{8344EEEE-7219-4860-812C-8D2BB5DAF572}" type="presParOf" srcId="{2C06E157-60DC-4429-B7A9-E339E603459A}" destId="{420B6030-0DE1-461E-9300-61A6AFB406AF}" srcOrd="3" destOrd="0" presId="urn:microsoft.com/office/officeart/2005/8/layout/orgChart1"/>
    <dgm:cxn modelId="{B68320B2-A0DE-4A6F-9E59-C2A74BE14B77}" type="presParOf" srcId="{420B6030-0DE1-461E-9300-61A6AFB406AF}" destId="{ED2CA4E2-810D-4B3D-AD25-992F1A79AD14}" srcOrd="0" destOrd="0" presId="urn:microsoft.com/office/officeart/2005/8/layout/orgChart1"/>
    <dgm:cxn modelId="{C84F1B58-7EC6-4B63-A663-6516C179C7CD}" type="presParOf" srcId="{ED2CA4E2-810D-4B3D-AD25-992F1A79AD14}" destId="{4EBEC8AF-B9C1-4309-8768-B67665C980D3}" srcOrd="0" destOrd="0" presId="urn:microsoft.com/office/officeart/2005/8/layout/orgChart1"/>
    <dgm:cxn modelId="{435D3AE6-E102-4BBC-9A2C-629AE1E00584}" type="presParOf" srcId="{ED2CA4E2-810D-4B3D-AD25-992F1A79AD14}" destId="{3D9CD8AE-F4D8-4CDC-8079-D69FAAA7486D}" srcOrd="1" destOrd="0" presId="urn:microsoft.com/office/officeart/2005/8/layout/orgChart1"/>
    <dgm:cxn modelId="{45ED1993-6F48-4F32-95C7-3DC3033303B3}" type="presParOf" srcId="{420B6030-0DE1-461E-9300-61A6AFB406AF}" destId="{6CB3D627-BFA4-4BF1-87F6-2E289510AD0C}" srcOrd="1" destOrd="0" presId="urn:microsoft.com/office/officeart/2005/8/layout/orgChart1"/>
    <dgm:cxn modelId="{E18CEA88-7F28-4A34-9485-0FB5896505AE}" type="presParOf" srcId="{420B6030-0DE1-461E-9300-61A6AFB406AF}" destId="{DD0C1E38-44D3-4EC9-8EFF-520A3437926C}" srcOrd="2" destOrd="0" presId="urn:microsoft.com/office/officeart/2005/8/layout/orgChart1"/>
    <dgm:cxn modelId="{A8867990-AB2F-4A36-BBE3-53C6B8611111}" type="presParOf" srcId="{03A3EE49-F7A6-47E7-8BA5-095CB3A9FC3F}" destId="{AF701184-779C-4A61-8B57-48611827443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F9784-C736-4B99-9586-D395CEC7AE21}">
      <dsp:nvSpPr>
        <dsp:cNvPr id="0" name=""/>
        <dsp:cNvSpPr/>
      </dsp:nvSpPr>
      <dsp:spPr>
        <a:xfrm>
          <a:off x="4294614" y="732846"/>
          <a:ext cx="2206541" cy="3079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066"/>
              </a:lnTo>
              <a:lnTo>
                <a:pt x="2206541" y="154066"/>
              </a:lnTo>
              <a:lnTo>
                <a:pt x="2206541" y="307919"/>
              </a:lnTo>
            </a:path>
          </a:pathLst>
        </a:custGeom>
        <a:noFill/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CA60D3-056C-4FD4-9DD8-BE5DC6CECD07}">
      <dsp:nvSpPr>
        <dsp:cNvPr id="0" name=""/>
        <dsp:cNvSpPr/>
      </dsp:nvSpPr>
      <dsp:spPr>
        <a:xfrm>
          <a:off x="1975694" y="732846"/>
          <a:ext cx="2318920" cy="307919"/>
        </a:xfrm>
        <a:custGeom>
          <a:avLst/>
          <a:gdLst/>
          <a:ahLst/>
          <a:cxnLst/>
          <a:rect l="0" t="0" r="0" b="0"/>
          <a:pathLst>
            <a:path>
              <a:moveTo>
                <a:pt x="2318920" y="0"/>
              </a:moveTo>
              <a:lnTo>
                <a:pt x="2318920" y="154066"/>
              </a:lnTo>
              <a:lnTo>
                <a:pt x="0" y="154066"/>
              </a:lnTo>
              <a:lnTo>
                <a:pt x="0" y="307919"/>
              </a:lnTo>
            </a:path>
          </a:pathLst>
        </a:custGeom>
        <a:noFill/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F3542-8E5B-4760-9A4F-6F3014DFCA90}">
      <dsp:nvSpPr>
        <dsp:cNvPr id="0" name=""/>
        <dsp:cNvSpPr/>
      </dsp:nvSpPr>
      <dsp:spPr>
        <a:xfrm>
          <a:off x="3245543" y="213"/>
          <a:ext cx="2098141" cy="732632"/>
        </a:xfrm>
        <a:prstGeom prst="rect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b="1" kern="1200" dirty="0">
              <a:latin typeface="+mn-lt"/>
            </a:rPr>
            <a:t>COMPUTER</a:t>
          </a:r>
        </a:p>
      </dsp:txBody>
      <dsp:txXfrm>
        <a:off x="3245543" y="213"/>
        <a:ext cx="2098141" cy="732632"/>
      </dsp:txXfrm>
    </dsp:sp>
    <dsp:sp modelId="{3F0086EB-F717-48F2-BA82-50D6ACE668CB}">
      <dsp:nvSpPr>
        <dsp:cNvPr id="0" name=""/>
        <dsp:cNvSpPr/>
      </dsp:nvSpPr>
      <dsp:spPr>
        <a:xfrm>
          <a:off x="1105033" y="1040765"/>
          <a:ext cx="1741320" cy="732632"/>
        </a:xfrm>
        <a:prstGeom prst="rect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>
              <a:latin typeface="Century Gothic" panose="020B0502020202020204" pitchFamily="34" charset="0"/>
            </a:rPr>
            <a:t>Hardware</a:t>
          </a:r>
        </a:p>
      </dsp:txBody>
      <dsp:txXfrm>
        <a:off x="1105033" y="1040765"/>
        <a:ext cx="1741320" cy="732632"/>
      </dsp:txXfrm>
    </dsp:sp>
    <dsp:sp modelId="{4EBEC8AF-B9C1-4309-8768-B67665C980D3}">
      <dsp:nvSpPr>
        <dsp:cNvPr id="0" name=""/>
        <dsp:cNvSpPr/>
      </dsp:nvSpPr>
      <dsp:spPr>
        <a:xfrm>
          <a:off x="5631602" y="1040765"/>
          <a:ext cx="1739107" cy="732632"/>
        </a:xfrm>
        <a:prstGeom prst="rect">
          <a:avLst/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>
              <a:latin typeface="Century Gothic" panose="020B0502020202020204" pitchFamily="34" charset="0"/>
            </a:rPr>
            <a:t>Software</a:t>
          </a:r>
        </a:p>
      </dsp:txBody>
      <dsp:txXfrm>
        <a:off x="5631602" y="1040765"/>
        <a:ext cx="1739107" cy="7326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52AB-8BA4-4BE2-8F55-9B4A02488661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0976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52AB-8BA4-4BE2-8F55-9B4A02488661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9935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52AB-8BA4-4BE2-8F55-9B4A02488661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311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52AB-8BA4-4BE2-8F55-9B4A02488661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5050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52AB-8BA4-4BE2-8F55-9B4A02488661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4180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52AB-8BA4-4BE2-8F55-9B4A02488661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0931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52AB-8BA4-4BE2-8F55-9B4A02488661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9117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3/08/2026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3/08/2026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3/08/2026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3/08/2026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YIkafDFa1I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Cu3R5it4cQs&amp;list=PLpQQipWcxwt-xhJVJs7MCcU-XzWYVsTQt&amp;index=3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eg"/><Relationship Id="rId3" Type="http://schemas.openxmlformats.org/officeDocument/2006/relationships/diagramData" Target="../diagrams/data1.xml"/><Relationship Id="rId21" Type="http://schemas.openxmlformats.org/officeDocument/2006/relationships/image" Target="../media/image19.png"/><Relationship Id="rId7" Type="http://schemas.microsoft.com/office/2007/relationships/diagramDrawing" Target="../diagrams/drawing1.xm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jpeg"/><Relationship Id="rId24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3.jpeg"/><Relationship Id="rId23" Type="http://schemas.openxmlformats.org/officeDocument/2006/relationships/hyperlink" Target="https://www.youtube.com/watch?v=xnyFYiK2rSY" TargetMode="External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jpe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youtube.com/watch?v=HB4I2CgkcCo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jpeg"/><Relationship Id="rId21" Type="http://schemas.openxmlformats.org/officeDocument/2006/relationships/image" Target="../media/image39.jpe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5.png"/><Relationship Id="rId20" Type="http://schemas.openxmlformats.org/officeDocument/2006/relationships/hyperlink" Target="https://www.youtube.com/watch?v=i1IqqlW1U4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jpe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ted.com/talks/bettina_bair_inside_your_computer/transcript?language=e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.png"/><Relationship Id="rId4" Type="http://schemas.openxmlformats.org/officeDocument/2006/relationships/hyperlink" Target="https://www.youtube.com/watch?v=6hfOvs8pY1k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udea.edu.co/wps/wcm/connect/udea/1e33d6b9-883f-46ca-8341-1cea90761505/Proceso+de+matr%C3%ADcula+-+versi%C3%B3n+2017.pdf?MOD=AJPERE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studio.code.org/hoc/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studio.code.org/hoc/5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java.html#code=public%20class%20Hola%20%7B%0A%20%20%20%20public%20static%20void%20main%28String%5B%5D%20args%29%20%7B%0A%20%20%20%20%20%20System.out.println%28%22Hola%20mundo%22%29%3B%0A%20%20%20%20%7D%0A%7D&amp;cumulative=false&amp;curInstr=0&amp;heapPrimitives=nevernest&amp;mode=display&amp;origin=opt-frontend.js&amp;py=java&amp;rawInputLstJSON=%5B%5D&amp;textReferences=false" TargetMode="External"/><Relationship Id="rId2" Type="http://schemas.openxmlformats.org/officeDocument/2006/relationships/hyperlink" Target="https://pythontutor.com/visualize.html#code=print%28%22Hola%20mundo%22%29&amp;cumulative=false&amp;curInstr=0&amp;heapPrimitives=nevernest&amp;mode=display&amp;origin=opt-frontend.js&amp;py=3&amp;rawInputLstJSON=%5B%5D&amp;textReferences=fals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hyperlink" Target="https://pythontutor.com/c.html#code=int%20main%28%29%20%7B%0A%20%20printf%28%22Hola%20mundo%5Cn%22%29%3B%0A%20%20return%200%3B%0A%7D&amp;curInstr=0&amp;mode=display&amp;origin=opt-frontend.js&amp;py=c_gcc9.3.0&amp;rawInputLstJSON=%5B%5D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v3vgjM8Pv4&amp;list=RDIv3vgjM8Pv4&amp;start_radio=1" TargetMode="Externa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caster.ac.uk/staff/drummonn/PHYS281/demo-anaconda/" TargetMode="External"/><Relationship Id="rId2" Type="http://schemas.openxmlformats.org/officeDocument/2006/relationships/hyperlink" Target="https://www.anaconda.com/docs/getting-started/anaconda/install/windows-gui-instal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hyperlink" Target="https://www.datacamp.com/tutorial/installing-anaconda-window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o.code.org/us/es/hoc/1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tutor.com/" TargetMode="External"/><Relationship Id="rId3" Type="http://schemas.openxmlformats.org/officeDocument/2006/relationships/hyperlink" Target="https://cs50.harvard.edu/x/" TargetMode="External"/><Relationship Id="rId7" Type="http://schemas.openxmlformats.org/officeDocument/2006/relationships/hyperlink" Target="https://openstax.org/details/books/introduction-python-programming" TargetMode="External"/><Relationship Id="rId2" Type="http://schemas.openxmlformats.org/officeDocument/2006/relationships/hyperlink" Target="https://cod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stax.org/books/introduction-computer-science/pages/1-introduction" TargetMode="External"/><Relationship Id="rId5" Type="http://schemas.openxmlformats.org/officeDocument/2006/relationships/hyperlink" Target="https://scratch.mit.edu/" TargetMode="External"/><Relationship Id="rId4" Type="http://schemas.openxmlformats.org/officeDocument/2006/relationships/hyperlink" Target="https://cs50.harvard.edu/python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3200" b="1" dirty="0"/>
              <a:t>Conceptos básicos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28649" y="365126"/>
            <a:ext cx="7886700" cy="1325563"/>
          </a:xfrm>
        </p:spPr>
        <p:txBody>
          <a:bodyPr/>
          <a:lstStyle/>
          <a:p>
            <a:r>
              <a:rPr lang="es-MX" dirty="0"/>
              <a:t>Que aprenderemos en este curso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s-MX" b="1" dirty="0"/>
              <a:t>En pocas palabras</a:t>
            </a:r>
            <a:r>
              <a:rPr lang="es-MX" dirty="0"/>
              <a:t>, aprenderemos a decirle a un computador </a:t>
            </a:r>
            <a:r>
              <a:rPr lang="es-MX" b="1" dirty="0"/>
              <a:t>como hacer</a:t>
            </a:r>
            <a:r>
              <a:rPr lang="es-MX" dirty="0"/>
              <a:t> una determinada tarea.</a:t>
            </a:r>
          </a:p>
          <a:p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5AF4CD-E9CF-462D-9563-4A28CD57B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77" y="3080621"/>
            <a:ext cx="3947445" cy="251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4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46471" y="404664"/>
            <a:ext cx="7886700" cy="837405"/>
          </a:xfrm>
        </p:spPr>
        <p:txBody>
          <a:bodyPr/>
          <a:lstStyle/>
          <a:p>
            <a:r>
              <a:rPr lang="es-MX" dirty="0"/>
              <a:t>El computador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246471" y="1267665"/>
            <a:ext cx="8395574" cy="1468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Es una máquina electrónica </a:t>
            </a:r>
            <a:r>
              <a:rPr lang="es-MX" sz="2400" b="1" dirty="0"/>
              <a:t>programable</a:t>
            </a:r>
            <a:r>
              <a:rPr lang="es-MX" sz="2400" dirty="0"/>
              <a:t> capaz de recibir datos, </a:t>
            </a:r>
            <a:r>
              <a:rPr lang="es-MX" sz="2400" b="1" dirty="0"/>
              <a:t>memorizarlos</a:t>
            </a:r>
            <a:r>
              <a:rPr lang="es-MX" sz="2400" dirty="0"/>
              <a:t>, hacer </a:t>
            </a:r>
            <a:r>
              <a:rPr lang="es-MX" sz="2400" b="1" dirty="0"/>
              <a:t>cálculos</a:t>
            </a:r>
            <a:r>
              <a:rPr lang="es-MX" sz="2400" dirty="0"/>
              <a:t> con ellos y entregar nuevos datos (resultados).</a:t>
            </a:r>
          </a:p>
        </p:txBody>
      </p:sp>
      <p:pic>
        <p:nvPicPr>
          <p:cNvPr id="14" name="Picture 5" descr="http://www.maniacworld.com/the-computer-man-episode-2.jpg">
            <a:hlinkClick r:id="rId3"/>
            <a:extLst>
              <a:ext uri="{FF2B5EF4-FFF2-40B4-BE49-F238E27FC236}">
                <a16:creationId xmlns:a16="http://schemas.microsoft.com/office/drawing/2014/main" id="{9A720492-7F34-42ED-B95A-B75391072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987" y="3239667"/>
            <a:ext cx="2783432" cy="237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leco, la computadora de Rafa Górgori">
            <a:extLst>
              <a:ext uri="{FF2B5EF4-FFF2-40B4-BE49-F238E27FC236}">
                <a16:creationId xmlns:a16="http://schemas.microsoft.com/office/drawing/2014/main" id="{49B558B4-9B60-4867-85C2-D733FFAB2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010" y="3239667"/>
            <a:ext cx="3118511" cy="237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F75BC91-CF4A-4D87-9BC0-F49BF4101DFB}"/>
              </a:ext>
            </a:extLst>
          </p:cNvPr>
          <p:cNvSpPr txBox="1"/>
          <p:nvPr/>
        </p:nvSpPr>
        <p:spPr>
          <a:xfrm>
            <a:off x="828891" y="6351974"/>
            <a:ext cx="3097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cs typeface="Courier New" panose="02070309020205020404" pitchFamily="49" charset="0"/>
              </a:rPr>
              <a:t>Computer Basics: What Is a Computer? (</a:t>
            </a:r>
            <a:r>
              <a:rPr lang="en-US" sz="1200" dirty="0">
                <a:cs typeface="Courier New" panose="02070309020205020404" pitchFamily="49" charset="0"/>
                <a:hlinkClick r:id="rId6"/>
              </a:rPr>
              <a:t>link</a:t>
            </a:r>
            <a:r>
              <a:rPr lang="en-US" sz="1200" dirty="0"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9B8256D-BD78-4E2A-909F-129734655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71" y="6326378"/>
            <a:ext cx="582420" cy="4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96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56057" y="330922"/>
            <a:ext cx="7886700" cy="837405"/>
          </a:xfrm>
        </p:spPr>
        <p:txBody>
          <a:bodyPr/>
          <a:lstStyle/>
          <a:p>
            <a:r>
              <a:rPr lang="es-MX" dirty="0"/>
              <a:t>El computador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374213" y="1190431"/>
            <a:ext cx="8395574" cy="1230457"/>
          </a:xfrm>
        </p:spPr>
        <p:txBody>
          <a:bodyPr/>
          <a:lstStyle/>
          <a:p>
            <a:pPr marL="0" indent="0">
              <a:buNone/>
            </a:pPr>
            <a:r>
              <a:rPr lang="es-CO" sz="2400" dirty="0"/>
              <a:t>El procesamiento de datos se da cuando el sistema recibe un </a:t>
            </a:r>
            <a:r>
              <a:rPr lang="es-CO" sz="2400" b="1" dirty="0"/>
              <a:t>conjunto de instrucciones</a:t>
            </a:r>
            <a:r>
              <a:rPr lang="es-CO" sz="2400" b="1" dirty="0">
                <a:solidFill>
                  <a:schemeClr val="accent5"/>
                </a:solidFill>
              </a:rPr>
              <a:t> </a:t>
            </a:r>
            <a:r>
              <a:rPr lang="es-CO" sz="2400" dirty="0"/>
              <a:t>y las </a:t>
            </a:r>
            <a:r>
              <a:rPr lang="es-CO" sz="2400" b="1" dirty="0"/>
              <a:t>ejecuta a alta velocidad</a:t>
            </a:r>
            <a:r>
              <a:rPr lang="es-CO" sz="2400" dirty="0"/>
              <a:t>, llevando a cabo una tarea especifica.</a:t>
            </a:r>
          </a:p>
          <a:p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E0A2B8-7B4B-4348-B7C3-118B2458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3" y="3344594"/>
            <a:ext cx="2843872" cy="2121248"/>
          </a:xfrm>
          <a:prstGeom prst="rect">
            <a:avLst/>
          </a:prstGeom>
        </p:spPr>
      </p:pic>
      <p:sp>
        <p:nvSpPr>
          <p:cNvPr id="7" name="Bocadillo: rectángulo 6">
            <a:extLst>
              <a:ext uri="{FF2B5EF4-FFF2-40B4-BE49-F238E27FC236}">
                <a16:creationId xmlns:a16="http://schemas.microsoft.com/office/drawing/2014/main" id="{A88E89EC-83A9-4F37-8F0C-729614B2A02E}"/>
              </a:ext>
            </a:extLst>
          </p:cNvPr>
          <p:cNvSpPr/>
          <p:nvPr/>
        </p:nvSpPr>
        <p:spPr>
          <a:xfrm>
            <a:off x="5391444" y="3344594"/>
            <a:ext cx="2036297" cy="646235"/>
          </a:xfrm>
          <a:prstGeom prst="wedgeRectCallout">
            <a:avLst>
              <a:gd name="adj1" fmla="val -62965"/>
              <a:gd name="adj2" fmla="val 9626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5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Computadora, mata a Flanders</a:t>
            </a:r>
            <a:endParaRPr lang="es-CO" sz="1500" b="1" dirty="0">
              <a:solidFill>
                <a:sysClr val="windowText" lastClr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70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48333" y="485331"/>
            <a:ext cx="7886700" cy="837405"/>
          </a:xfrm>
        </p:spPr>
        <p:txBody>
          <a:bodyPr/>
          <a:lstStyle/>
          <a:p>
            <a:r>
              <a:rPr lang="es-MX" dirty="0"/>
              <a:t>Hardware/software</a:t>
            </a:r>
          </a:p>
        </p:txBody>
      </p:sp>
      <p:graphicFrame>
        <p:nvGraphicFramePr>
          <p:cNvPr id="8" name="14 Diagrama">
            <a:extLst>
              <a:ext uri="{FF2B5EF4-FFF2-40B4-BE49-F238E27FC236}">
                <a16:creationId xmlns:a16="http://schemas.microsoft.com/office/drawing/2014/main" id="{6F5D9060-EC53-4CB7-89BD-7B9979D6C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695893"/>
              </p:ext>
            </p:extLst>
          </p:nvPr>
        </p:nvGraphicFramePr>
        <p:xfrm>
          <a:off x="159234" y="1437116"/>
          <a:ext cx="8589229" cy="1773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8F39B0F-C23B-437A-B79C-E267E7DCD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02818" y="3356992"/>
            <a:ext cx="2605108" cy="2675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 descr="https://encrypted-tbn2.gstatic.com/images?q=tbn:ANd9GcSJ59xRyLRWiZNb9oemysaS8pPcLrXkGyxdKE9LT3_EUwzVVbDLMg">
            <a:extLst>
              <a:ext uri="{FF2B5EF4-FFF2-40B4-BE49-F238E27FC236}">
                <a16:creationId xmlns:a16="http://schemas.microsoft.com/office/drawing/2014/main" id="{A77F975B-CA8D-4EE4-944F-7CDAEE519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66" y="6015551"/>
            <a:ext cx="535055" cy="62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.factfiend.com/wp-content/uploads/2014/10/windows-logo.png">
            <a:extLst>
              <a:ext uri="{FF2B5EF4-FFF2-40B4-BE49-F238E27FC236}">
                <a16:creationId xmlns:a16="http://schemas.microsoft.com/office/drawing/2014/main" id="{8717F0FC-B2E4-4816-86E9-49ED25685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844" y="6049704"/>
            <a:ext cx="566185" cy="50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t3.gstatic.com/images?q=tbn:ANd9GcSkiXkms77SZfq4_oDDosekcIEn8kUPcxFTOQ6PA8Hoc846eqYN">
            <a:extLst>
              <a:ext uri="{FF2B5EF4-FFF2-40B4-BE49-F238E27FC236}">
                <a16:creationId xmlns:a16="http://schemas.microsoft.com/office/drawing/2014/main" id="{5E6E33AB-1686-4C86-93D5-4178BE19D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429" y="6015551"/>
            <a:ext cx="764807" cy="54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https://mozorg.cdn.mozilla.net/media/img/styleguide/identity/firefox/guidelines-logo.7ea045a4e288.png">
            <a:extLst>
              <a:ext uri="{FF2B5EF4-FFF2-40B4-BE49-F238E27FC236}">
                <a16:creationId xmlns:a16="http://schemas.microsoft.com/office/drawing/2014/main" id="{910214CE-F483-4266-A3FB-058952EDA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66" y="3535048"/>
            <a:ext cx="458873" cy="46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https://upload.wikimedia.org/wikipedia/ru/archive/3/34/20121118120311!Eclipse-logo.png">
            <a:extLst>
              <a:ext uri="{FF2B5EF4-FFF2-40B4-BE49-F238E27FC236}">
                <a16:creationId xmlns:a16="http://schemas.microsoft.com/office/drawing/2014/main" id="{28EF1080-BF55-4D28-8736-799AD291A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860" y="4277966"/>
            <a:ext cx="1143179" cy="62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Java SVG and transparent PNG icons | TechIcons">
            <a:extLst>
              <a:ext uri="{FF2B5EF4-FFF2-40B4-BE49-F238E27FC236}">
                <a16:creationId xmlns:a16="http://schemas.microsoft.com/office/drawing/2014/main" id="{C6E77E4F-7B52-4E3C-8079-522821647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934" y="5090084"/>
            <a:ext cx="578992" cy="57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B5EC0EE-0768-48A8-849F-86F36F1F1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003" y="5152937"/>
            <a:ext cx="535055" cy="53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4E66233-EDE0-49E1-ABF4-0AF072059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982" y="5152937"/>
            <a:ext cx="475604" cy="53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78A354F-887B-44EA-8416-030803DEB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202" y="5163450"/>
            <a:ext cx="471828" cy="53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isual Studio Code - Download and install on Windows | Microsoft Store">
            <a:extLst>
              <a:ext uri="{FF2B5EF4-FFF2-40B4-BE49-F238E27FC236}">
                <a16:creationId xmlns:a16="http://schemas.microsoft.com/office/drawing/2014/main" id="{B04BDB0E-BF07-433C-B112-8AFBFCB92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806" y="4336071"/>
            <a:ext cx="442351" cy="529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naconda python logo Icons, Logos, Symbols – Free Download PNG, SVG">
            <a:extLst>
              <a:ext uri="{FF2B5EF4-FFF2-40B4-BE49-F238E27FC236}">
                <a16:creationId xmlns:a16="http://schemas.microsoft.com/office/drawing/2014/main" id="{65EEF7C0-0EAD-495C-99DA-118790E3E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327" y="4336071"/>
            <a:ext cx="578992" cy="57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1C00B0EF-69D8-4A2C-A786-5E1BEB046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30" y="3514854"/>
            <a:ext cx="453051" cy="46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884F7C7E-DF15-4C3B-ACEE-5D6B65130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045" y="3498210"/>
            <a:ext cx="511799" cy="51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A1C7EC6-029B-41B4-A306-A7A7970A82B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38164" y="3366535"/>
            <a:ext cx="471828" cy="732039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2DD27A12-D475-4828-A7FA-A9757C73CC5A}"/>
              </a:ext>
            </a:extLst>
          </p:cNvPr>
          <p:cNvSpPr txBox="1"/>
          <p:nvPr/>
        </p:nvSpPr>
        <p:spPr>
          <a:xfrm>
            <a:off x="886235" y="6279703"/>
            <a:ext cx="3210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How Computers Work: Hardware and Software</a:t>
            </a:r>
            <a:r>
              <a:rPr lang="es-CO" sz="1200" dirty="0"/>
              <a:t> (</a:t>
            </a:r>
            <a:r>
              <a:rPr lang="es-CO" sz="1200" dirty="0">
                <a:hlinkClick r:id="rId23"/>
              </a:rPr>
              <a:t>link</a:t>
            </a:r>
            <a:r>
              <a:rPr lang="es-CO" sz="1200" dirty="0"/>
              <a:t>)</a:t>
            </a:r>
          </a:p>
        </p:txBody>
      </p:sp>
      <p:pic>
        <p:nvPicPr>
          <p:cNvPr id="26" name="Picture 8">
            <a:extLst>
              <a:ext uri="{FF2B5EF4-FFF2-40B4-BE49-F238E27FC236}">
                <a16:creationId xmlns:a16="http://schemas.microsoft.com/office/drawing/2014/main" id="{33F38806-E812-4333-B0E3-916956584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309320"/>
            <a:ext cx="582420" cy="4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770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1270" y="260648"/>
            <a:ext cx="7886700" cy="837405"/>
          </a:xfrm>
        </p:spPr>
        <p:txBody>
          <a:bodyPr/>
          <a:lstStyle/>
          <a:p>
            <a:r>
              <a:rPr lang="es-MX" dirty="0"/>
              <a:t>Hardware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230826" y="1098053"/>
            <a:ext cx="8620598" cy="436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dirty="0"/>
              <a:t>Se refiere a los componentes físicos de su computador:</a:t>
            </a:r>
          </a:p>
          <a:p>
            <a:endParaRPr lang="es-CO" sz="24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2DC9FAA-E678-40CB-B600-8FD95009C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908" y="1840199"/>
            <a:ext cx="5173025" cy="3575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B455322-1E84-4227-8272-925F537899F3}"/>
              </a:ext>
            </a:extLst>
          </p:cNvPr>
          <p:cNvSpPr txBox="1"/>
          <p:nvPr/>
        </p:nvSpPr>
        <p:spPr>
          <a:xfrm>
            <a:off x="884548" y="6398352"/>
            <a:ext cx="3210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 err="1"/>
              <a:t>Computer</a:t>
            </a:r>
            <a:r>
              <a:rPr lang="es-CO" sz="1200" dirty="0"/>
              <a:t> </a:t>
            </a:r>
            <a:r>
              <a:rPr lang="es-CO" sz="1200" dirty="0" err="1"/>
              <a:t>Basics</a:t>
            </a:r>
            <a:r>
              <a:rPr lang="es-CO" sz="1200" dirty="0"/>
              <a:t>: </a:t>
            </a:r>
            <a:r>
              <a:rPr lang="es-CO" sz="1200" dirty="0" err="1"/>
              <a:t>Inside</a:t>
            </a:r>
            <a:r>
              <a:rPr lang="es-CO" sz="1200" dirty="0"/>
              <a:t> a </a:t>
            </a:r>
            <a:r>
              <a:rPr lang="es-CO" sz="1200" dirty="0" err="1"/>
              <a:t>Computer</a:t>
            </a:r>
            <a:r>
              <a:rPr lang="es-CO" sz="1200" dirty="0"/>
              <a:t> (</a:t>
            </a:r>
            <a:r>
              <a:rPr lang="es-CO" sz="1200" dirty="0">
                <a:hlinkClick r:id="rId4"/>
              </a:rPr>
              <a:t>link</a:t>
            </a:r>
            <a:r>
              <a:rPr lang="es-CO" sz="1200" dirty="0"/>
              <a:t>)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70006FB6-B493-4C5C-BEE1-7C196DC06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71" y="6326378"/>
            <a:ext cx="582420" cy="4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Marcador de contenido 4">
            <a:extLst>
              <a:ext uri="{FF2B5EF4-FFF2-40B4-BE49-F238E27FC236}">
                <a16:creationId xmlns:a16="http://schemas.microsoft.com/office/drawing/2014/main" id="{A9ACCAA7-46E7-4D83-827F-45CFE6046782}"/>
              </a:ext>
            </a:extLst>
          </p:cNvPr>
          <p:cNvSpPr txBox="1">
            <a:spLocks/>
          </p:cNvSpPr>
          <p:nvPr/>
        </p:nvSpPr>
        <p:spPr>
          <a:xfrm>
            <a:off x="210836" y="1559659"/>
            <a:ext cx="3210072" cy="2898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3" indent="-342900">
              <a:buFont typeface="+mj-lt"/>
              <a:buAutoNum type="arabicPeriod"/>
            </a:pPr>
            <a:r>
              <a:rPr lang="es-CO" sz="2000" dirty="0"/>
              <a:t>Dispositivos de entrada.</a:t>
            </a:r>
          </a:p>
          <a:p>
            <a:pPr marL="385763" indent="-342900">
              <a:buFont typeface="+mj-lt"/>
              <a:buAutoNum type="arabicPeriod"/>
            </a:pPr>
            <a:r>
              <a:rPr lang="es-CO" sz="2000" dirty="0"/>
              <a:t>Dispositivos de salida.</a:t>
            </a:r>
          </a:p>
          <a:p>
            <a:pPr marL="385763" indent="-342900">
              <a:buFont typeface="+mj-lt"/>
              <a:buAutoNum type="arabicPeriod"/>
            </a:pPr>
            <a:r>
              <a:rPr lang="es-CO" sz="2000" dirty="0"/>
              <a:t>Memoria secundaria</a:t>
            </a:r>
          </a:p>
          <a:p>
            <a:pPr marL="385763" indent="-342900">
              <a:buFont typeface="+mj-lt"/>
              <a:buAutoNum type="arabicPeriod"/>
            </a:pPr>
            <a:r>
              <a:rPr lang="es-CO" sz="2000" dirty="0"/>
              <a:t>Memoria principal</a:t>
            </a:r>
          </a:p>
          <a:p>
            <a:pPr marL="385763" indent="-342900">
              <a:buFont typeface="+mj-lt"/>
              <a:buAutoNum type="arabicPeriod"/>
            </a:pPr>
            <a:r>
              <a:rPr lang="es-CO" sz="2000" dirty="0"/>
              <a:t>Unidad Central de procesamiento.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446801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61878" y="300545"/>
            <a:ext cx="7886700" cy="837405"/>
          </a:xfrm>
        </p:spPr>
        <p:txBody>
          <a:bodyPr/>
          <a:lstStyle/>
          <a:p>
            <a:r>
              <a:rPr lang="es-MX" dirty="0"/>
              <a:t>Software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232058" y="1200662"/>
            <a:ext cx="8516405" cy="104593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2400" dirty="0"/>
              <a:t>Conjunto de programas (instrucciones organizadas) y procedimientos necesarios para hacer posible la realización de una tarea específica.</a:t>
            </a:r>
          </a:p>
          <a:p>
            <a:endParaRPr lang="es-CO" dirty="0"/>
          </a:p>
        </p:txBody>
      </p:sp>
      <p:pic>
        <p:nvPicPr>
          <p:cNvPr id="6" name="Picture 8" descr="http://i11b.3djuegos.com/juegos/11885/god_of_war_3_remastered/fotos/ficha/god_of_war_3_remastered-2736497.jpg">
            <a:extLst>
              <a:ext uri="{FF2B5EF4-FFF2-40B4-BE49-F238E27FC236}">
                <a16:creationId xmlns:a16="http://schemas.microsoft.com/office/drawing/2014/main" id="{AD89956F-7B79-4839-A7B4-952982378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65" y="2644652"/>
            <a:ext cx="565697" cy="70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4.bp.blogspot.com/-6p5Xgjlsmhk/UVZlEo_QOKI/AAAAAAAAY9k/BBXhjrfp42U/s1600/Angry-Birds-Logo.png">
            <a:extLst>
              <a:ext uri="{FF2B5EF4-FFF2-40B4-BE49-F238E27FC236}">
                <a16:creationId xmlns:a16="http://schemas.microsoft.com/office/drawing/2014/main" id="{9D0F6048-6DB8-4CFC-A0EB-8F97DD724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621" y="2699470"/>
            <a:ext cx="984548" cy="65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38 Conector recto">
            <a:extLst>
              <a:ext uri="{FF2B5EF4-FFF2-40B4-BE49-F238E27FC236}">
                <a16:creationId xmlns:a16="http://schemas.microsoft.com/office/drawing/2014/main" id="{55B30740-C3CA-4F74-A68D-9C60FD0631BB}"/>
              </a:ext>
            </a:extLst>
          </p:cNvPr>
          <p:cNvCxnSpPr>
            <a:cxnSpLocks/>
          </p:cNvCxnSpPr>
          <p:nvPr/>
        </p:nvCxnSpPr>
        <p:spPr>
          <a:xfrm>
            <a:off x="381798" y="3645024"/>
            <a:ext cx="7656172" cy="0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7" descr="http://upload.wikimedia.org/wikipedia/commons/thumb/a/a4/Java_logo_and_wordmark.svg/100px-Java_logo_and_wordmark.svg.png">
            <a:extLst>
              <a:ext uri="{FF2B5EF4-FFF2-40B4-BE49-F238E27FC236}">
                <a16:creationId xmlns:a16="http://schemas.microsoft.com/office/drawing/2014/main" id="{5A4DE141-0CCC-4022-88D9-D81FD0CA2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112" y="4364134"/>
            <a:ext cx="307205" cy="56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9" descr="http://upload.wikimedia.org/wikipedia/commons/thumb/c/c3/Python-logo-notext.svg/2000px-Python-logo-notext.svg.png">
            <a:extLst>
              <a:ext uri="{FF2B5EF4-FFF2-40B4-BE49-F238E27FC236}">
                <a16:creationId xmlns:a16="http://schemas.microsoft.com/office/drawing/2014/main" id="{FB285A62-E94E-4DCD-9849-CC1AEFA1B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120" y="4511301"/>
            <a:ext cx="313831" cy="31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0">
            <a:extLst>
              <a:ext uri="{FF2B5EF4-FFF2-40B4-BE49-F238E27FC236}">
                <a16:creationId xmlns:a16="http://schemas.microsoft.com/office/drawing/2014/main" id="{21FB46B4-3821-4BA1-96FF-0B7013E5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90" y="4452854"/>
            <a:ext cx="452438" cy="41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2" descr="https://upload.wikimedia.org/wikipedia/ru/archive/3/34/20121118120311!Eclipse-logo.png">
            <a:extLst>
              <a:ext uri="{FF2B5EF4-FFF2-40B4-BE49-F238E27FC236}">
                <a16:creationId xmlns:a16="http://schemas.microsoft.com/office/drawing/2014/main" id="{9E419615-BF65-49A0-86CC-1D39C55B4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23" y="3945284"/>
            <a:ext cx="76102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4" descr="http://peterfeatherstone.com/wp-content/uploads/netbeans-logo.png">
            <a:extLst>
              <a:ext uri="{FF2B5EF4-FFF2-40B4-BE49-F238E27FC236}">
                <a16:creationId xmlns:a16="http://schemas.microsoft.com/office/drawing/2014/main" id="{72FF371E-D367-404C-8427-A63AB1A9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360" y="3981019"/>
            <a:ext cx="786422" cy="34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38 Conector recto">
            <a:extLst>
              <a:ext uri="{FF2B5EF4-FFF2-40B4-BE49-F238E27FC236}">
                <a16:creationId xmlns:a16="http://schemas.microsoft.com/office/drawing/2014/main" id="{3EC0051F-29B4-417B-9528-2E8976FD8B9F}"/>
              </a:ext>
            </a:extLst>
          </p:cNvPr>
          <p:cNvCxnSpPr>
            <a:cxnSpLocks/>
          </p:cNvCxnSpPr>
          <p:nvPr/>
        </p:nvCxnSpPr>
        <p:spPr>
          <a:xfrm>
            <a:off x="381798" y="5445224"/>
            <a:ext cx="7656172" cy="0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5" descr="http://upload.wikimedia.org/wikipedia/commons/thumb/3/35/Tux.svg/2000px-Tux.svg.png">
            <a:extLst>
              <a:ext uri="{FF2B5EF4-FFF2-40B4-BE49-F238E27FC236}">
                <a16:creationId xmlns:a16="http://schemas.microsoft.com/office/drawing/2014/main" id="{17FB0A0F-C724-42B5-B705-E7B094151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5" y="6037008"/>
            <a:ext cx="363438" cy="42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7" descr="http://upload.wikimedia.org/wikipedia/en/5/55/Bsd_daemon.jpg">
            <a:extLst>
              <a:ext uri="{FF2B5EF4-FFF2-40B4-BE49-F238E27FC236}">
                <a16:creationId xmlns:a16="http://schemas.microsoft.com/office/drawing/2014/main" id="{9E0CC4E0-E7EF-4C12-80B0-D4FA52AE2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675" y="5637247"/>
            <a:ext cx="399761" cy="39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http://www.factfiend.com/wp-content/uploads/2014/10/windows-logo.png">
            <a:extLst>
              <a:ext uri="{FF2B5EF4-FFF2-40B4-BE49-F238E27FC236}">
                <a16:creationId xmlns:a16="http://schemas.microsoft.com/office/drawing/2014/main" id="{CF762454-D428-4857-8E17-316DDBB56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99" y="5772667"/>
            <a:ext cx="329223" cy="29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1" descr="http://upload.wikimedia.org/wikipedia/en/thumb/3/3b/Solaris_OS_logo.svg/1280px-Solaris_OS_logo.svg.png">
            <a:extLst>
              <a:ext uri="{FF2B5EF4-FFF2-40B4-BE49-F238E27FC236}">
                <a16:creationId xmlns:a16="http://schemas.microsoft.com/office/drawing/2014/main" id="{67BD7920-A1A9-4FCA-B5F5-BD997C489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504" y="6118401"/>
            <a:ext cx="675262" cy="331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4">
            <a:extLst>
              <a:ext uri="{FF2B5EF4-FFF2-40B4-BE49-F238E27FC236}">
                <a16:creationId xmlns:a16="http://schemas.microsoft.com/office/drawing/2014/main" id="{FF4229B1-EFDC-4C17-AAE2-86CEFF8F0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72" y="6147737"/>
            <a:ext cx="300038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5">
            <a:extLst>
              <a:ext uri="{FF2B5EF4-FFF2-40B4-BE49-F238E27FC236}">
                <a16:creationId xmlns:a16="http://schemas.microsoft.com/office/drawing/2014/main" id="{3CA0C599-3B79-41E5-BB3C-5D9984E12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79" y="5678706"/>
            <a:ext cx="349002" cy="414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60B6633-ABF4-46AC-9A0D-08047DC3B132}"/>
              </a:ext>
            </a:extLst>
          </p:cNvPr>
          <p:cNvSpPr txBox="1"/>
          <p:nvPr/>
        </p:nvSpPr>
        <p:spPr>
          <a:xfrm>
            <a:off x="3270695" y="2813767"/>
            <a:ext cx="2714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FF0000"/>
                </a:solidFill>
              </a:rPr>
              <a:t>Software de aplicación</a:t>
            </a:r>
            <a:endParaRPr lang="es-CO" sz="2000" b="1" dirty="0">
              <a:solidFill>
                <a:srgbClr val="FF000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530689-CF92-4619-88D0-0986DB1AEF63}"/>
              </a:ext>
            </a:extLst>
          </p:cNvPr>
          <p:cNvSpPr txBox="1"/>
          <p:nvPr/>
        </p:nvSpPr>
        <p:spPr>
          <a:xfrm>
            <a:off x="3122217" y="4250307"/>
            <a:ext cx="27141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FF0000"/>
                </a:solidFill>
              </a:rPr>
              <a:t>Software de desarrollo</a:t>
            </a:r>
            <a:endParaRPr lang="es-CO" sz="2000" b="1" dirty="0">
              <a:solidFill>
                <a:srgbClr val="FF00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2B97D7-0F14-4225-B020-3DAFA32D27EB}"/>
              </a:ext>
            </a:extLst>
          </p:cNvPr>
          <p:cNvSpPr txBox="1"/>
          <p:nvPr/>
        </p:nvSpPr>
        <p:spPr>
          <a:xfrm>
            <a:off x="3070309" y="5807630"/>
            <a:ext cx="2871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FF0000"/>
                </a:solidFill>
              </a:rPr>
              <a:t>Software de sistema</a:t>
            </a:r>
            <a:endParaRPr lang="es-CO" sz="2000" b="1" dirty="0">
              <a:solidFill>
                <a:srgbClr val="FF0000"/>
              </a:solidFill>
            </a:endParaRPr>
          </a:p>
        </p:txBody>
      </p:sp>
      <p:pic>
        <p:nvPicPr>
          <p:cNvPr id="26" name="Picture 3">
            <a:extLst>
              <a:ext uri="{FF2B5EF4-FFF2-40B4-BE49-F238E27FC236}">
                <a16:creationId xmlns:a16="http://schemas.microsoft.com/office/drawing/2014/main" id="{6096A8BE-85A8-417B-8A51-75CF5BD9E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660" y="2622405"/>
            <a:ext cx="703407" cy="63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2B54208F-A90B-44B0-8A68-B1EC267B2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26" y="4025896"/>
            <a:ext cx="572165" cy="576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5">
            <a:extLst>
              <a:ext uri="{FF2B5EF4-FFF2-40B4-BE49-F238E27FC236}">
                <a16:creationId xmlns:a16="http://schemas.microsoft.com/office/drawing/2014/main" id="{3EF6D2FD-C0E8-4158-B697-FEA26777B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33" y="4541404"/>
            <a:ext cx="628217" cy="49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D6EFA0F1-F1FF-4B1B-901E-3466390D9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672" y="3936671"/>
            <a:ext cx="635837" cy="564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7" descr="http://t2.gstatic.com/images?q=tbn:ANd9GcTtKcOEqRoZY5h8eMCxMHbQk5vuqFfJO1iC4_BFMs7Tla3-Bnpr">
            <a:hlinkClick r:id="rId20"/>
            <a:extLst>
              <a:ext uri="{FF2B5EF4-FFF2-40B4-BE49-F238E27FC236}">
                <a16:creationId xmlns:a16="http://schemas.microsoft.com/office/drawing/2014/main" id="{0D620C3B-2864-4323-ABB0-0F3C336D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688" y="5729592"/>
            <a:ext cx="1043349" cy="67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45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3E870-F278-48CF-81A5-6C9F0D68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27" y="454629"/>
            <a:ext cx="7886700" cy="837405"/>
          </a:xfrm>
        </p:spPr>
        <p:txBody>
          <a:bodyPr/>
          <a:lstStyle/>
          <a:p>
            <a:r>
              <a:rPr lang="es-MX" dirty="0"/>
              <a:t>¿Cómo se ejecuta un programa?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A3BA6C-1A69-42CE-B1B1-D77C0674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22" y="1372287"/>
            <a:ext cx="8599756" cy="2003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400" dirty="0"/>
              <a:t>El proceso de ejecución puede resumirse en los siguientes dos pasos:</a:t>
            </a:r>
          </a:p>
          <a:p>
            <a:pPr marL="385763" indent="-385763">
              <a:buFont typeface="+mj-lt"/>
              <a:buAutoNum type="arabicPeriod"/>
            </a:pPr>
            <a:r>
              <a:rPr lang="es-MX" sz="2000" dirty="0"/>
              <a:t>El es copiado a la memoria principal (RAM) desde la memoria secundaria (disco duro, CD, memoria flash,…)</a:t>
            </a:r>
          </a:p>
          <a:p>
            <a:pPr marL="385763" indent="-385763">
              <a:buFont typeface="+mj-lt"/>
              <a:buAutoNum type="arabicPeriod"/>
            </a:pPr>
            <a:r>
              <a:rPr lang="es-CO" sz="2000" dirty="0"/>
              <a:t>La CPU ejecuta, instrucción por instrucción, el programa que se encuentra en memoria principal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FDB7B0B-9F86-4248-8A53-CAFE81BFFEDD}"/>
              </a:ext>
            </a:extLst>
          </p:cNvPr>
          <p:cNvGrpSpPr/>
          <p:nvPr/>
        </p:nvGrpSpPr>
        <p:grpSpPr>
          <a:xfrm>
            <a:off x="232117" y="3551420"/>
            <a:ext cx="8469302" cy="2256753"/>
            <a:chOff x="309490" y="3592226"/>
            <a:chExt cx="11292402" cy="3009004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7ADA780B-C1A9-4450-B068-6E530D793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90" y="4204397"/>
              <a:ext cx="4305450" cy="1654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F39D49AC-B0FA-439A-8086-C21B65331C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6453" y="3713629"/>
              <a:ext cx="4956083" cy="2702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10 Rectángulo redondeado">
              <a:extLst>
                <a:ext uri="{FF2B5EF4-FFF2-40B4-BE49-F238E27FC236}">
                  <a16:creationId xmlns:a16="http://schemas.microsoft.com/office/drawing/2014/main" id="{9256B0A2-5481-42C4-99BA-F25382E2F227}"/>
                </a:ext>
              </a:extLst>
            </p:cNvPr>
            <p:cNvSpPr/>
            <p:nvPr/>
          </p:nvSpPr>
          <p:spPr>
            <a:xfrm>
              <a:off x="1766384" y="4154934"/>
              <a:ext cx="2848556" cy="1848524"/>
            </a:xfrm>
            <a:prstGeom prst="roundRect">
              <a:avLst>
                <a:gd name="adj" fmla="val 10102"/>
              </a:avLst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sp>
          <p:nvSpPr>
            <p:cNvPr id="7" name="10 Rectángulo redondeado">
              <a:extLst>
                <a:ext uri="{FF2B5EF4-FFF2-40B4-BE49-F238E27FC236}">
                  <a16:creationId xmlns:a16="http://schemas.microsoft.com/office/drawing/2014/main" id="{50526F0C-94C9-4B71-A578-039AE1CBE69A}"/>
                </a:ext>
              </a:extLst>
            </p:cNvPr>
            <p:cNvSpPr/>
            <p:nvPr/>
          </p:nvSpPr>
          <p:spPr>
            <a:xfrm>
              <a:off x="6171765" y="3592226"/>
              <a:ext cx="5430127" cy="3009004"/>
            </a:xfrm>
            <a:prstGeom prst="roundRect">
              <a:avLst>
                <a:gd name="adj" fmla="val 10102"/>
              </a:avLst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564FBE1F-3627-4F2B-9E4C-B1BA2F12F9BA}"/>
                </a:ext>
              </a:extLst>
            </p:cNvPr>
            <p:cNvSpPr/>
            <p:nvPr/>
          </p:nvSpPr>
          <p:spPr>
            <a:xfrm>
              <a:off x="2068320" y="5439331"/>
              <a:ext cx="393895" cy="4073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350" b="1" dirty="0">
                  <a:latin typeface="Century Gothic" panose="020B0502020202020204" pitchFamily="34" charset="0"/>
                </a:rPr>
                <a:t>1</a:t>
              </a:r>
              <a:endParaRPr lang="es-CO" sz="135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C047EA35-27F1-4F7D-8298-BF4122F06060}"/>
                </a:ext>
              </a:extLst>
            </p:cNvPr>
            <p:cNvSpPr/>
            <p:nvPr/>
          </p:nvSpPr>
          <p:spPr>
            <a:xfrm>
              <a:off x="10919980" y="6014434"/>
              <a:ext cx="393895" cy="4073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350" b="1" dirty="0">
                  <a:latin typeface="Century Gothic" panose="020B0502020202020204" pitchFamily="34" charset="0"/>
                </a:rPr>
                <a:t>2</a:t>
              </a:r>
              <a:endParaRPr lang="es-CO" sz="1350" b="1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0" name="15 Conector recto">
              <a:extLst>
                <a:ext uri="{FF2B5EF4-FFF2-40B4-BE49-F238E27FC236}">
                  <a16:creationId xmlns:a16="http://schemas.microsoft.com/office/drawing/2014/main" id="{1945B936-1291-4089-BEC1-3753AA78A6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011" y="3606625"/>
              <a:ext cx="4424440" cy="548309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5 Conector recto">
              <a:extLst>
                <a:ext uri="{FF2B5EF4-FFF2-40B4-BE49-F238E27FC236}">
                  <a16:creationId xmlns:a16="http://schemas.microsoft.com/office/drawing/2014/main" id="{6FE0DA1F-BF08-4141-B91E-2DBBC5FB0498}"/>
                </a:ext>
              </a:extLst>
            </p:cNvPr>
            <p:cNvCxnSpPr>
              <a:cxnSpLocks/>
            </p:cNvCxnSpPr>
            <p:nvPr/>
          </p:nvCxnSpPr>
          <p:spPr>
            <a:xfrm>
              <a:off x="1928011" y="6014434"/>
              <a:ext cx="4424440" cy="586796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7B8DB96-3627-45D5-BC3D-C66D89335363}"/>
              </a:ext>
            </a:extLst>
          </p:cNvPr>
          <p:cNvSpPr txBox="1"/>
          <p:nvPr/>
        </p:nvSpPr>
        <p:spPr>
          <a:xfrm>
            <a:off x="890770" y="6387943"/>
            <a:ext cx="21364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 err="1"/>
              <a:t>Inside</a:t>
            </a:r>
            <a:r>
              <a:rPr lang="es-CO" sz="1200" dirty="0"/>
              <a:t> </a:t>
            </a:r>
            <a:r>
              <a:rPr lang="es-CO" sz="1200" dirty="0" err="1"/>
              <a:t>your</a:t>
            </a:r>
            <a:r>
              <a:rPr lang="es-CO" sz="1200" dirty="0"/>
              <a:t> </a:t>
            </a:r>
            <a:r>
              <a:rPr lang="es-CO" sz="1200" dirty="0" err="1"/>
              <a:t>computer</a:t>
            </a:r>
            <a:r>
              <a:rPr lang="es-CO" sz="1200" dirty="0"/>
              <a:t> (</a:t>
            </a:r>
            <a:r>
              <a:rPr lang="es-CO" sz="1200" dirty="0">
                <a:hlinkClick r:id="rId4"/>
              </a:rPr>
              <a:t>link</a:t>
            </a:r>
            <a:r>
              <a:rPr lang="es-CO" sz="1200" dirty="0"/>
              <a:t>)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D1ACA56-6E22-4380-A776-FE438B683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71" y="6326378"/>
            <a:ext cx="582420" cy="4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47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90500" y="418467"/>
            <a:ext cx="7886700" cy="837405"/>
          </a:xfrm>
        </p:spPr>
        <p:txBody>
          <a:bodyPr/>
          <a:lstStyle/>
          <a:p>
            <a:r>
              <a:rPr lang="es-MX" dirty="0"/>
              <a:t>Componentes del computador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64B2A5A-1A6E-4211-8FF5-ECF53067CFA2}"/>
              </a:ext>
            </a:extLst>
          </p:cNvPr>
          <p:cNvGrpSpPr/>
          <p:nvPr/>
        </p:nvGrpSpPr>
        <p:grpSpPr>
          <a:xfrm>
            <a:off x="4133850" y="2276872"/>
            <a:ext cx="4572000" cy="3271883"/>
            <a:chOff x="5380893" y="1828800"/>
            <a:chExt cx="6096000" cy="4362509"/>
          </a:xfrm>
        </p:grpSpPr>
        <p:sp>
          <p:nvSpPr>
            <p:cNvPr id="30" name="Rounded Rectangle 5">
              <a:extLst>
                <a:ext uri="{FF2B5EF4-FFF2-40B4-BE49-F238E27FC236}">
                  <a16:creationId xmlns:a16="http://schemas.microsoft.com/office/drawing/2014/main" id="{060DEDF1-7236-495F-9967-0B9ACE484A61}"/>
                </a:ext>
              </a:extLst>
            </p:cNvPr>
            <p:cNvSpPr/>
            <p:nvPr/>
          </p:nvSpPr>
          <p:spPr>
            <a:xfrm>
              <a:off x="7666893" y="3429000"/>
              <a:ext cx="1524000" cy="12192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350" dirty="0"/>
                <a:t>CPU</a:t>
              </a:r>
              <a:endParaRPr lang="en-US" sz="1350" dirty="0"/>
            </a:p>
          </p:txBody>
        </p:sp>
        <p:sp>
          <p:nvSpPr>
            <p:cNvPr id="32" name="Rounded Rectangle 6">
              <a:extLst>
                <a:ext uri="{FF2B5EF4-FFF2-40B4-BE49-F238E27FC236}">
                  <a16:creationId xmlns:a16="http://schemas.microsoft.com/office/drawing/2014/main" id="{D11D0793-AF41-4028-8771-A44F203E2E72}"/>
                </a:ext>
              </a:extLst>
            </p:cNvPr>
            <p:cNvSpPr/>
            <p:nvPr/>
          </p:nvSpPr>
          <p:spPr>
            <a:xfrm>
              <a:off x="5838093" y="3657600"/>
              <a:ext cx="1219200" cy="7620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200" dirty="0"/>
                <a:t>Memoria</a:t>
              </a:r>
              <a:endParaRPr lang="en-US" sz="1200" dirty="0"/>
            </a:p>
          </p:txBody>
        </p:sp>
        <p:sp>
          <p:nvSpPr>
            <p:cNvPr id="33" name="Rounded Rectangle 7">
              <a:extLst>
                <a:ext uri="{FF2B5EF4-FFF2-40B4-BE49-F238E27FC236}">
                  <a16:creationId xmlns:a16="http://schemas.microsoft.com/office/drawing/2014/main" id="{B97C3141-385F-4B33-982B-D372861356BF}"/>
                </a:ext>
              </a:extLst>
            </p:cNvPr>
            <p:cNvSpPr/>
            <p:nvPr/>
          </p:nvSpPr>
          <p:spPr>
            <a:xfrm>
              <a:off x="9800493" y="3657600"/>
              <a:ext cx="1219200" cy="762000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200" dirty="0"/>
                <a:t>I/O</a:t>
              </a:r>
              <a:endParaRPr lang="en-US" sz="1200" dirty="0"/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C745A0F7-36EC-48B0-931A-26AE46DF9D69}"/>
                </a:ext>
              </a:extLst>
            </p:cNvPr>
            <p:cNvSpPr txBox="1"/>
            <p:nvPr/>
          </p:nvSpPr>
          <p:spPr>
            <a:xfrm>
              <a:off x="9876693" y="1828800"/>
              <a:ext cx="1066800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Teclado</a:t>
              </a:r>
              <a:b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</a:br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Mouse</a:t>
              </a:r>
              <a:b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</a:br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Pantalla</a:t>
              </a:r>
            </a:p>
            <a:p>
              <a:pPr algn="ctr"/>
              <a:r>
                <a:rPr lang="es-CO" sz="1200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Wi</a:t>
              </a:r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-Fi</a:t>
              </a:r>
            </a:p>
            <a:p>
              <a:pPr algn="ctr"/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Audio</a:t>
              </a:r>
              <a:endPara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5" name="TextBox 12">
              <a:extLst>
                <a:ext uri="{FF2B5EF4-FFF2-40B4-BE49-F238E27FC236}">
                  <a16:creationId xmlns:a16="http://schemas.microsoft.com/office/drawing/2014/main" id="{E006871A-E36A-4E15-9962-B596359ADE4C}"/>
                </a:ext>
              </a:extLst>
            </p:cNvPr>
            <p:cNvSpPr txBox="1"/>
            <p:nvPr/>
          </p:nvSpPr>
          <p:spPr>
            <a:xfrm>
              <a:off x="7819293" y="2289121"/>
              <a:ext cx="1194048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Core</a:t>
              </a:r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i5, i7</a:t>
              </a:r>
            </a:p>
            <a:p>
              <a:pPr algn="ctr"/>
              <a:r>
                <a:rPr lang="es-CO" sz="1200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Cortex</a:t>
              </a:r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M15</a:t>
              </a:r>
              <a:endPara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6" name="TextBox 13">
              <a:extLst>
                <a:ext uri="{FF2B5EF4-FFF2-40B4-BE49-F238E27FC236}">
                  <a16:creationId xmlns:a16="http://schemas.microsoft.com/office/drawing/2014/main" id="{B819F977-9F90-4BBC-A86E-284EEC427BD1}"/>
                </a:ext>
              </a:extLst>
            </p:cNvPr>
            <p:cNvSpPr txBox="1"/>
            <p:nvPr/>
          </p:nvSpPr>
          <p:spPr>
            <a:xfrm>
              <a:off x="5838093" y="2286000"/>
              <a:ext cx="1219200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RAM</a:t>
              </a:r>
              <a:b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</a:br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Flash</a:t>
              </a:r>
            </a:p>
            <a:p>
              <a:pPr algn="ctr"/>
              <a:r>
                <a:rPr lang="es-CO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Cache</a:t>
              </a:r>
              <a:endPara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14">
              <a:extLst>
                <a:ext uri="{FF2B5EF4-FFF2-40B4-BE49-F238E27FC236}">
                  <a16:creationId xmlns:a16="http://schemas.microsoft.com/office/drawing/2014/main" id="{4C656698-1EA0-4AA8-ABFE-8FBAE0CADD63}"/>
                </a:ext>
              </a:extLst>
            </p:cNvPr>
            <p:cNvSpPr txBox="1"/>
            <p:nvPr/>
          </p:nvSpPr>
          <p:spPr>
            <a:xfrm>
              <a:off x="5838093" y="5791199"/>
              <a:ext cx="1828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350" b="1" dirty="0">
                  <a:solidFill>
                    <a:srgbClr val="FF0000"/>
                  </a:solidFill>
                </a:rPr>
                <a:t>SOFTWARE</a:t>
              </a:r>
              <a:endParaRPr lang="en-US" sz="1350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TextBox 15">
              <a:extLst>
                <a:ext uri="{FF2B5EF4-FFF2-40B4-BE49-F238E27FC236}">
                  <a16:creationId xmlns:a16="http://schemas.microsoft.com/office/drawing/2014/main" id="{36BF1260-66A4-4481-9699-D650805453A4}"/>
                </a:ext>
              </a:extLst>
            </p:cNvPr>
            <p:cNvSpPr txBox="1"/>
            <p:nvPr/>
          </p:nvSpPr>
          <p:spPr>
            <a:xfrm>
              <a:off x="9343293" y="5791200"/>
              <a:ext cx="1828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350" b="1" dirty="0">
                  <a:solidFill>
                    <a:srgbClr val="0070C0"/>
                  </a:solidFill>
                </a:rPr>
                <a:t>HARDWARE</a:t>
              </a:r>
              <a:endParaRPr lang="en-US" sz="1350" b="1" dirty="0">
                <a:solidFill>
                  <a:srgbClr val="0070C0"/>
                </a:solidFill>
              </a:endParaRPr>
            </a:p>
          </p:txBody>
        </p:sp>
        <p:sp>
          <p:nvSpPr>
            <p:cNvPr id="39" name="Oval 16">
              <a:extLst>
                <a:ext uri="{FF2B5EF4-FFF2-40B4-BE49-F238E27FC236}">
                  <a16:creationId xmlns:a16="http://schemas.microsoft.com/office/drawing/2014/main" id="{ACD3FD4E-3E23-42F4-80EB-2FEA67D5AE05}"/>
                </a:ext>
              </a:extLst>
            </p:cNvPr>
            <p:cNvSpPr/>
            <p:nvPr/>
          </p:nvSpPr>
          <p:spPr>
            <a:xfrm>
              <a:off x="5380893" y="3124200"/>
              <a:ext cx="6096000" cy="1828800"/>
            </a:xfrm>
            <a:prstGeom prst="ellipse">
              <a:avLst/>
            </a:prstGeom>
            <a:noFill/>
            <a:ln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0" name="Straight Arrow Connector 18">
              <a:extLst>
                <a:ext uri="{FF2B5EF4-FFF2-40B4-BE49-F238E27FC236}">
                  <a16:creationId xmlns:a16="http://schemas.microsoft.com/office/drawing/2014/main" id="{95867A15-1220-4552-9F6C-2F4C8C15B96C}"/>
                </a:ext>
              </a:extLst>
            </p:cNvPr>
            <p:cNvCxnSpPr/>
            <p:nvPr/>
          </p:nvCxnSpPr>
          <p:spPr>
            <a:xfrm>
              <a:off x="9800493" y="4876800"/>
              <a:ext cx="304800" cy="91440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20">
              <a:extLst>
                <a:ext uri="{FF2B5EF4-FFF2-40B4-BE49-F238E27FC236}">
                  <a16:creationId xmlns:a16="http://schemas.microsoft.com/office/drawing/2014/main" id="{C59561B4-87D4-4E8B-83CF-F9155AD850E0}"/>
                </a:ext>
              </a:extLst>
            </p:cNvPr>
            <p:cNvCxnSpPr>
              <a:endCxn id="32" idx="2"/>
            </p:cNvCxnSpPr>
            <p:nvPr/>
          </p:nvCxnSpPr>
          <p:spPr>
            <a:xfrm flipH="1" flipV="1">
              <a:off x="6447693" y="4419600"/>
              <a:ext cx="152400" cy="12954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23">
              <a:extLst>
                <a:ext uri="{FF2B5EF4-FFF2-40B4-BE49-F238E27FC236}">
                  <a16:creationId xmlns:a16="http://schemas.microsoft.com/office/drawing/2014/main" id="{679AAA84-06EC-4C9A-A444-D4A4CB27F7B8}"/>
                </a:ext>
              </a:extLst>
            </p:cNvPr>
            <p:cNvCxnSpPr/>
            <p:nvPr/>
          </p:nvCxnSpPr>
          <p:spPr>
            <a:xfrm flipV="1">
              <a:off x="6904893" y="4648200"/>
              <a:ext cx="1295400" cy="10668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25">
              <a:extLst>
                <a:ext uri="{FF2B5EF4-FFF2-40B4-BE49-F238E27FC236}">
                  <a16:creationId xmlns:a16="http://schemas.microsoft.com/office/drawing/2014/main" id="{E9E29EA7-5428-4326-A8F6-86F6A995BF3C}"/>
                </a:ext>
              </a:extLst>
            </p:cNvPr>
            <p:cNvCxnSpPr/>
            <p:nvPr/>
          </p:nvCxnSpPr>
          <p:spPr>
            <a:xfrm flipV="1">
              <a:off x="7209693" y="4495800"/>
              <a:ext cx="3048000" cy="12192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28">
              <a:extLst>
                <a:ext uri="{FF2B5EF4-FFF2-40B4-BE49-F238E27FC236}">
                  <a16:creationId xmlns:a16="http://schemas.microsoft.com/office/drawing/2014/main" id="{3F043B44-3578-495B-9396-2554E5A5248F}"/>
                </a:ext>
              </a:extLst>
            </p:cNvPr>
            <p:cNvSpPr txBox="1"/>
            <p:nvPr/>
          </p:nvSpPr>
          <p:spPr>
            <a:xfrm rot="15766441">
              <a:off x="5682915" y="4983279"/>
              <a:ext cx="1307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 guarda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5" name="TextBox 29">
              <a:extLst>
                <a:ext uri="{FF2B5EF4-FFF2-40B4-BE49-F238E27FC236}">
                  <a16:creationId xmlns:a16="http://schemas.microsoft.com/office/drawing/2014/main" id="{8088247D-999A-4D25-8290-9AF5E14C4224}"/>
                </a:ext>
              </a:extLst>
            </p:cNvPr>
            <p:cNvSpPr txBox="1"/>
            <p:nvPr/>
          </p:nvSpPr>
          <p:spPr>
            <a:xfrm rot="19218927">
              <a:off x="6557564" y="5058856"/>
              <a:ext cx="1307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 ejecuta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6" name="TextBox 30">
              <a:extLst>
                <a:ext uri="{FF2B5EF4-FFF2-40B4-BE49-F238E27FC236}">
                  <a16:creationId xmlns:a16="http://schemas.microsoft.com/office/drawing/2014/main" id="{8A34CEDD-F483-47C1-B106-044E16E46D4D}"/>
                </a:ext>
              </a:extLst>
            </p:cNvPr>
            <p:cNvSpPr txBox="1"/>
            <p:nvPr/>
          </p:nvSpPr>
          <p:spPr>
            <a:xfrm rot="20274442">
              <a:off x="7258288" y="5094829"/>
              <a:ext cx="1307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 comunica</a:t>
              </a:r>
              <a:endPara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7" name="Left-Right Arrow 22">
              <a:extLst>
                <a:ext uri="{FF2B5EF4-FFF2-40B4-BE49-F238E27FC236}">
                  <a16:creationId xmlns:a16="http://schemas.microsoft.com/office/drawing/2014/main" id="{C72C944B-A7BE-4939-9FC3-37304CC650FD}"/>
                </a:ext>
              </a:extLst>
            </p:cNvPr>
            <p:cNvSpPr/>
            <p:nvPr/>
          </p:nvSpPr>
          <p:spPr>
            <a:xfrm>
              <a:off x="7057293" y="3962400"/>
              <a:ext cx="609600" cy="152400"/>
            </a:xfrm>
            <a:prstGeom prst="left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Left-Right Arrow 24">
              <a:extLst>
                <a:ext uri="{FF2B5EF4-FFF2-40B4-BE49-F238E27FC236}">
                  <a16:creationId xmlns:a16="http://schemas.microsoft.com/office/drawing/2014/main" id="{0BC78BB9-27A1-48EE-ACCD-22E7A6EC4385}"/>
                </a:ext>
              </a:extLst>
            </p:cNvPr>
            <p:cNvSpPr/>
            <p:nvPr/>
          </p:nvSpPr>
          <p:spPr>
            <a:xfrm>
              <a:off x="9190893" y="3962400"/>
              <a:ext cx="609600" cy="152400"/>
            </a:xfrm>
            <a:prstGeom prst="left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AD070E23-FCEA-4DE5-AC30-11BB31B7E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33" y="1957670"/>
            <a:ext cx="3512264" cy="40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3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65326-9CE8-4599-92AA-0418A32A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390669"/>
            <a:ext cx="7886700" cy="837405"/>
          </a:xfrm>
        </p:spPr>
        <p:txBody>
          <a:bodyPr/>
          <a:lstStyle/>
          <a:p>
            <a:r>
              <a:rPr lang="es-MX" dirty="0"/>
              <a:t>Problema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92C8D5-6E09-45FE-B7A2-D328B0DB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808" y="1121042"/>
            <a:ext cx="8309639" cy="1731894"/>
          </a:xfrm>
        </p:spPr>
        <p:txBody>
          <a:bodyPr>
            <a:normAutofit/>
          </a:bodyPr>
          <a:lstStyle/>
          <a:p>
            <a:r>
              <a:rPr lang="es-CO" sz="2400" dirty="0"/>
              <a:t>Ideas, dificultades, oportunidades.</a:t>
            </a:r>
          </a:p>
          <a:p>
            <a:r>
              <a:rPr lang="es-CO" sz="2400" dirty="0"/>
              <a:t>Planteamos problemas en </a:t>
            </a:r>
            <a:r>
              <a:rPr lang="es-CO" sz="2400" b="1" dirty="0"/>
              <a:t>“lenguaje natural</a:t>
            </a:r>
            <a:r>
              <a:rPr lang="en-US" sz="2400" b="1" dirty="0"/>
              <a:t>”</a:t>
            </a:r>
            <a:r>
              <a:rPr lang="en-US" sz="2400" dirty="0"/>
              <a:t>, por ejemplo, espa</a:t>
            </a:r>
            <a:r>
              <a:rPr lang="es-CO" sz="2400" dirty="0"/>
              <a:t>ñol.</a:t>
            </a:r>
          </a:p>
          <a:p>
            <a:pPr lvl="1"/>
            <a:r>
              <a:rPr lang="es-CO" sz="1800" dirty="0"/>
              <a:t>lenguajes </a:t>
            </a:r>
            <a:r>
              <a:rPr lang="es-CO" sz="1800" b="1" dirty="0">
                <a:solidFill>
                  <a:schemeClr val="accent5"/>
                </a:solidFill>
              </a:rPr>
              <a:t>AMBIGUOS</a:t>
            </a:r>
            <a:r>
              <a:rPr lang="es-CO" sz="1800" dirty="0"/>
              <a:t>!</a:t>
            </a:r>
          </a:p>
          <a:p>
            <a:pPr lvl="1"/>
            <a:endParaRPr lang="es-CO" sz="3200" dirty="0"/>
          </a:p>
        </p:txBody>
      </p:sp>
      <p:pic>
        <p:nvPicPr>
          <p:cNvPr id="4098" name="Picture 2" descr="Cuánto se gana Reinaldo Rueda como técnico para terminar haciendo el  ridículo? - Las2orillas">
            <a:extLst>
              <a:ext uri="{FF2B5EF4-FFF2-40B4-BE49-F238E27FC236}">
                <a16:creationId xmlns:a16="http://schemas.microsoft.com/office/drawing/2014/main" id="{5AB9785B-FC9D-4BB9-8CC4-2DBA45687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168" y="2456497"/>
            <a:ext cx="1726510" cy="123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F76D1E8-FB92-4433-A593-77D418EE8FC0}"/>
              </a:ext>
            </a:extLst>
          </p:cNvPr>
          <p:cNvSpPr txBox="1"/>
          <p:nvPr/>
        </p:nvSpPr>
        <p:spPr>
          <a:xfrm>
            <a:off x="5667994" y="3689718"/>
            <a:ext cx="32964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Clasifique a Colombia al mundial de Qatar</a:t>
            </a:r>
          </a:p>
        </p:txBody>
      </p:sp>
      <p:pic>
        <p:nvPicPr>
          <p:cNvPr id="4100" name="Picture 4" descr="Homer vs. Dignity | Simpson Wiki en Español | Fandom">
            <a:extLst>
              <a:ext uri="{FF2B5EF4-FFF2-40B4-BE49-F238E27FC236}">
                <a16:creationId xmlns:a16="http://schemas.microsoft.com/office/drawing/2014/main" id="{395D0E6C-2CC2-4FCC-B946-1F4102AF8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110" y="4716059"/>
            <a:ext cx="1660274" cy="123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6532E2C-E182-4173-BF5F-C54B0061A151}"/>
              </a:ext>
            </a:extLst>
          </p:cNvPr>
          <p:cNvSpPr txBox="1"/>
          <p:nvPr/>
        </p:nvSpPr>
        <p:spPr>
          <a:xfrm>
            <a:off x="5656694" y="6093296"/>
            <a:ext cx="30197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Vaya y compre unas polas para la gente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7895E9-20D6-4907-A812-D04AEDCB8F77}"/>
              </a:ext>
            </a:extLst>
          </p:cNvPr>
          <p:cNvSpPr txBox="1"/>
          <p:nvPr/>
        </p:nvSpPr>
        <p:spPr>
          <a:xfrm>
            <a:off x="890770" y="6309320"/>
            <a:ext cx="3969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Tu cerebro puede hacer algoritmos – David J. Malan (</a:t>
            </a:r>
            <a:r>
              <a:rPr lang="es-CO" sz="1200" dirty="0">
                <a:hlinkClick r:id="rId4"/>
              </a:rPr>
              <a:t>link</a:t>
            </a:r>
            <a:r>
              <a:rPr lang="es-CO" sz="1200" dirty="0"/>
              <a:t>)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565A64D-9969-4896-AE4C-47DF7E31A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71" y="6266216"/>
            <a:ext cx="582420" cy="4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5618BAF-FC8D-4D4A-9CA6-591C7073B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996" y="2938797"/>
            <a:ext cx="2722758" cy="31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51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2" y="188640"/>
            <a:ext cx="7886700" cy="837405"/>
          </a:xfrm>
        </p:spPr>
        <p:txBody>
          <a:bodyPr/>
          <a:lstStyle/>
          <a:p>
            <a:r>
              <a:rPr lang="es-MX" dirty="0"/>
              <a:t>Algoritmo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72" y="908720"/>
            <a:ext cx="8489092" cy="2520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Procedimiento paso a paso (para resolver un problema) que debe ser:</a:t>
            </a:r>
          </a:p>
          <a:p>
            <a:r>
              <a:rPr lang="es-MX" sz="2000" b="1" dirty="0"/>
              <a:t>Finito</a:t>
            </a:r>
            <a:r>
              <a:rPr lang="es-MX" sz="2000" dirty="0"/>
              <a:t>: el procedimiento debe terminar</a:t>
            </a:r>
          </a:p>
          <a:p>
            <a:r>
              <a:rPr lang="es-MX" sz="2000" b="1" dirty="0"/>
              <a:t>Preciso</a:t>
            </a:r>
            <a:r>
              <a:rPr lang="es-MX" sz="2000" dirty="0"/>
              <a:t>: pasos definidos de manera precisa</a:t>
            </a:r>
          </a:p>
          <a:p>
            <a:r>
              <a:rPr lang="es-MX" sz="2000" b="1" dirty="0"/>
              <a:t>Computable</a:t>
            </a:r>
            <a:r>
              <a:rPr lang="es-MX" sz="2000" dirty="0"/>
              <a:t>: pasos que pueden ser calculados por un computador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1B3F44-91D9-40BE-9C77-82876C942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" y="3140968"/>
            <a:ext cx="3953828" cy="28567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BBA0EF3-E1EC-4AA2-812F-321CDC7E2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644" y="3284984"/>
            <a:ext cx="3593788" cy="233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64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431355"/>
            <a:ext cx="7886700" cy="837405"/>
          </a:xfrm>
        </p:spPr>
        <p:txBody>
          <a:bodyPr/>
          <a:lstStyle/>
          <a:p>
            <a:r>
              <a:rPr lang="es-MX" dirty="0"/>
              <a:t>Algoritmo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73" y="1375910"/>
            <a:ext cx="8107388" cy="468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100" dirty="0"/>
              <a:t>Describa el proceso para matricular el curso de Lógica y programación.</a:t>
            </a:r>
          </a:p>
        </p:txBody>
      </p:sp>
      <p:sp>
        <p:nvSpPr>
          <p:cNvPr id="5" name="5 CuadroTexto">
            <a:extLst>
              <a:ext uri="{FF2B5EF4-FFF2-40B4-BE49-F238E27FC236}">
                <a16:creationId xmlns:a16="http://schemas.microsoft.com/office/drawing/2014/main" id="{44D77123-16B5-465C-B472-EFE196B1F40F}"/>
              </a:ext>
            </a:extLst>
          </p:cNvPr>
          <p:cNvSpPr txBox="1"/>
          <p:nvPr/>
        </p:nvSpPr>
        <p:spPr>
          <a:xfrm>
            <a:off x="395536" y="2482752"/>
            <a:ext cx="3384377" cy="267765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b="1" dirty="0">
                <a:latin typeface="Century Gothic" panose="020B0502020202020204" pitchFamily="34" charset="0"/>
              </a:rPr>
              <a:t>INICIO</a:t>
            </a:r>
          </a:p>
          <a:p>
            <a:pPr lvl="1"/>
            <a:r>
              <a:rPr lang="es-CO" sz="1400" b="1" dirty="0">
                <a:latin typeface="Century Gothic" panose="020B0502020202020204" pitchFamily="34" charset="0"/>
              </a:rPr>
              <a:t>1.</a:t>
            </a:r>
            <a:r>
              <a:rPr lang="es-CO" sz="1400" dirty="0">
                <a:latin typeface="Century Gothic" panose="020B0502020202020204" pitchFamily="34" charset="0"/>
              </a:rPr>
              <a:t>  Ingresar al sistema para ver la oferta de cursos.</a:t>
            </a:r>
          </a:p>
          <a:p>
            <a:pPr lvl="1"/>
            <a:r>
              <a:rPr lang="es-CO" sz="1400" b="1" dirty="0">
                <a:latin typeface="Century Gothic" panose="020B0502020202020204" pitchFamily="34" charset="0"/>
              </a:rPr>
              <a:t>2.</a:t>
            </a:r>
            <a:r>
              <a:rPr lang="es-CO" sz="1400" dirty="0">
                <a:latin typeface="Century Gothic" panose="020B0502020202020204" pitchFamily="34" charset="0"/>
              </a:rPr>
              <a:t>  Buscar el curso de lógica y representación.</a:t>
            </a:r>
          </a:p>
          <a:p>
            <a:pPr lvl="1"/>
            <a:r>
              <a:rPr lang="es-CO" sz="1400" b="1" dirty="0">
                <a:latin typeface="Century Gothic" panose="020B0502020202020204" pitchFamily="34" charset="0"/>
              </a:rPr>
              <a:t>3.</a:t>
            </a:r>
            <a:r>
              <a:rPr lang="es-CO" sz="1400" dirty="0">
                <a:latin typeface="Century Gothic" panose="020B0502020202020204" pitchFamily="34" charset="0"/>
              </a:rPr>
              <a:t>  Mirar los horarios.</a:t>
            </a:r>
          </a:p>
          <a:p>
            <a:pPr lvl="1"/>
            <a:r>
              <a:rPr lang="es-CO" sz="1400" b="1" dirty="0">
                <a:latin typeface="Century Gothic" panose="020B0502020202020204" pitchFamily="34" charset="0"/>
              </a:rPr>
              <a:t>4.</a:t>
            </a:r>
            <a:r>
              <a:rPr lang="es-CO" sz="1400" dirty="0">
                <a:latin typeface="Century Gothic" panose="020B0502020202020204" pitchFamily="34" charset="0"/>
              </a:rPr>
              <a:t>  Elegir el horario que se acomode a sus necesidades.</a:t>
            </a:r>
          </a:p>
          <a:p>
            <a:pPr lvl="1"/>
            <a:r>
              <a:rPr lang="es-CO" sz="1400" b="1" dirty="0">
                <a:latin typeface="Century Gothic" panose="020B0502020202020204" pitchFamily="34" charset="0"/>
              </a:rPr>
              <a:t>5.</a:t>
            </a:r>
            <a:r>
              <a:rPr lang="es-CO" sz="1400" dirty="0">
                <a:latin typeface="Century Gothic" panose="020B0502020202020204" pitchFamily="34" charset="0"/>
              </a:rPr>
              <a:t>  Matricularse en el curso.</a:t>
            </a:r>
          </a:p>
          <a:p>
            <a:pPr lvl="1"/>
            <a:r>
              <a:rPr lang="es-CO" sz="1400" b="1" dirty="0">
                <a:latin typeface="Century Gothic" panose="020B0502020202020204" pitchFamily="34" charset="0"/>
              </a:rPr>
              <a:t>6.</a:t>
            </a:r>
            <a:r>
              <a:rPr lang="es-CO" sz="1400" dirty="0">
                <a:latin typeface="Century Gothic" panose="020B0502020202020204" pitchFamily="34" charset="0"/>
              </a:rPr>
              <a:t>  Anotar ubicación.</a:t>
            </a:r>
          </a:p>
          <a:p>
            <a:pPr lvl="1"/>
            <a:r>
              <a:rPr lang="es-CO" sz="1400" b="1" dirty="0">
                <a:latin typeface="Century Gothic" panose="020B0502020202020204" pitchFamily="34" charset="0"/>
              </a:rPr>
              <a:t>7.</a:t>
            </a:r>
            <a:r>
              <a:rPr lang="es-CO" sz="1400" dirty="0">
                <a:latin typeface="Century Gothic" panose="020B0502020202020204" pitchFamily="34" charset="0"/>
              </a:rPr>
              <a:t>  Asistir a las clases.</a:t>
            </a:r>
          </a:p>
          <a:p>
            <a:r>
              <a:rPr lang="es-CO" sz="1400" b="1" dirty="0">
                <a:latin typeface="Century Gothic" panose="020B0502020202020204" pitchFamily="34" charset="0"/>
              </a:rPr>
              <a:t>FIN</a:t>
            </a:r>
          </a:p>
        </p:txBody>
      </p:sp>
      <p:pic>
        <p:nvPicPr>
          <p:cNvPr id="6146" name="Picture 2" descr="INSTRUCTIVO PARA HACER EL PROCESO DE MATRÍCULA 1. OBTENER USUARIO Y CLAVE DEL PORTAL UNIVERSITARIO">
            <a:extLst>
              <a:ext uri="{FF2B5EF4-FFF2-40B4-BE49-F238E27FC236}">
                <a16:creationId xmlns:a16="http://schemas.microsoft.com/office/drawing/2014/main" id="{D556388A-3594-4B26-9040-122A4EB98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23" y="2161071"/>
            <a:ext cx="4428025" cy="332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yperlink - Free multimedia icons">
            <a:extLst>
              <a:ext uri="{FF2B5EF4-FFF2-40B4-BE49-F238E27FC236}">
                <a16:creationId xmlns:a16="http://schemas.microsoft.com/office/drawing/2014/main" id="{BA92CF33-6873-4C4A-AFEF-571CC6967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73" y="6021288"/>
            <a:ext cx="641367" cy="64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905EF74-1457-4A86-830E-5AA327430F72}"/>
              </a:ext>
            </a:extLst>
          </p:cNvPr>
          <p:cNvSpPr txBox="1"/>
          <p:nvPr/>
        </p:nvSpPr>
        <p:spPr>
          <a:xfrm>
            <a:off x="900740" y="6248345"/>
            <a:ext cx="21364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Proceso de matricula (</a:t>
            </a:r>
            <a:r>
              <a:rPr lang="es-CO" sz="1200" dirty="0">
                <a:hlinkClick r:id="rId4"/>
              </a:rPr>
              <a:t>link</a:t>
            </a:r>
            <a:r>
              <a:rPr lang="es-CO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9391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328468"/>
            <a:ext cx="7886700" cy="837405"/>
          </a:xfrm>
        </p:spPr>
        <p:txBody>
          <a:bodyPr/>
          <a:lstStyle/>
          <a:p>
            <a:r>
              <a:rPr lang="es-MX" dirty="0"/>
              <a:t>Algoritmo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73" y="1235867"/>
            <a:ext cx="8625254" cy="837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100" dirty="0"/>
              <a:t>Teniendo en cuenta los bloques que se muestran a la derecha, describa el algoritmo que permita que el pájaro pise al marrano</a:t>
            </a:r>
            <a:r>
              <a:rPr lang="es-CO" sz="2100" dirty="0"/>
              <a:t> (</a:t>
            </a:r>
            <a:r>
              <a:rPr lang="es-CO" sz="2100" dirty="0">
                <a:hlinkClick r:id="rId2"/>
              </a:rPr>
              <a:t>link</a:t>
            </a:r>
            <a:r>
              <a:rPr lang="es-CO" sz="2100" dirty="0"/>
              <a:t>).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BC7A31-84A4-4FC6-9279-3A7234C18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743" y="3191863"/>
            <a:ext cx="2453980" cy="2430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10309157-31A0-4D17-B34C-62EC334A8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231645"/>
            <a:ext cx="1912391" cy="23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3709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07" y="294637"/>
            <a:ext cx="7886700" cy="837405"/>
          </a:xfrm>
        </p:spPr>
        <p:txBody>
          <a:bodyPr/>
          <a:lstStyle/>
          <a:p>
            <a:r>
              <a:rPr lang="es-MX" dirty="0"/>
              <a:t>Algoritmo - Solución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807" y="1130239"/>
            <a:ext cx="8625254" cy="796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/>
              <a:t>Teniendo en cuenta los bloques que se muestran a la derecha, describa el algoritmo que permita que el pájaro pise al marrano</a:t>
            </a:r>
            <a:r>
              <a:rPr lang="es-CO" sz="1800" dirty="0"/>
              <a:t> (</a:t>
            </a:r>
            <a:r>
              <a:rPr lang="es-CO" sz="1800" dirty="0">
                <a:hlinkClick r:id="rId2"/>
              </a:rPr>
              <a:t>link</a:t>
            </a:r>
            <a:r>
              <a:rPr lang="es-CO" sz="1800" dirty="0"/>
              <a:t>)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9C175E8-75AC-4C87-A0B2-AB6B9428E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2194814"/>
            <a:ext cx="2053459" cy="2033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B65DA1C1-B748-4BDF-88F2-B8D29788F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379" y="5318524"/>
            <a:ext cx="914640" cy="11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6146172-59F9-402A-8611-45680D61A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5" y="2125229"/>
            <a:ext cx="2184005" cy="2194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29817819-35AE-4E51-ACB8-1FB113A5C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744" y="4511414"/>
            <a:ext cx="1956226" cy="1797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Flecha derecha">
            <a:extLst>
              <a:ext uri="{FF2B5EF4-FFF2-40B4-BE49-F238E27FC236}">
                <a16:creationId xmlns:a16="http://schemas.microsoft.com/office/drawing/2014/main" id="{83C0E60A-3B79-4C85-BBD1-B4DA86E66578}"/>
              </a:ext>
            </a:extLst>
          </p:cNvPr>
          <p:cNvSpPr/>
          <p:nvPr/>
        </p:nvSpPr>
        <p:spPr>
          <a:xfrm>
            <a:off x="3260854" y="3047822"/>
            <a:ext cx="2184006" cy="5014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cxnSp>
        <p:nvCxnSpPr>
          <p:cNvPr id="13" name="5 Conector recto de flecha">
            <a:extLst>
              <a:ext uri="{FF2B5EF4-FFF2-40B4-BE49-F238E27FC236}">
                <a16:creationId xmlns:a16="http://schemas.microsoft.com/office/drawing/2014/main" id="{7956F167-BFCB-4C08-A6E2-76B1CFFFAC58}"/>
              </a:ext>
            </a:extLst>
          </p:cNvPr>
          <p:cNvCxnSpPr>
            <a:cxnSpLocks/>
          </p:cNvCxnSpPr>
          <p:nvPr/>
        </p:nvCxnSpPr>
        <p:spPr>
          <a:xfrm flipV="1">
            <a:off x="1190985" y="5473042"/>
            <a:ext cx="488132" cy="24906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0 Rectángulo">
            <a:extLst>
              <a:ext uri="{FF2B5EF4-FFF2-40B4-BE49-F238E27FC236}">
                <a16:creationId xmlns:a16="http://schemas.microsoft.com/office/drawing/2014/main" id="{1EDC5ED6-15F5-4C1A-AEC1-97A68819864A}"/>
              </a:ext>
            </a:extLst>
          </p:cNvPr>
          <p:cNvSpPr/>
          <p:nvPr/>
        </p:nvSpPr>
        <p:spPr>
          <a:xfrm>
            <a:off x="481260" y="5672885"/>
            <a:ext cx="6976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b="1" dirty="0">
                <a:solidFill>
                  <a:srgbClr val="FF0000"/>
                </a:solidFill>
              </a:rPr>
              <a:t>Bloques</a:t>
            </a:r>
            <a:endParaRPr lang="es-CO" sz="1350" b="1" dirty="0">
              <a:solidFill>
                <a:srgbClr val="FF0000"/>
              </a:solidFill>
            </a:endParaRPr>
          </a:p>
        </p:txBody>
      </p:sp>
      <p:cxnSp>
        <p:nvCxnSpPr>
          <p:cNvPr id="15" name="11 Conector recto de flecha">
            <a:extLst>
              <a:ext uri="{FF2B5EF4-FFF2-40B4-BE49-F238E27FC236}">
                <a16:creationId xmlns:a16="http://schemas.microsoft.com/office/drawing/2014/main" id="{FC3EA0FB-C9AC-448D-95D6-1E615755A510}"/>
              </a:ext>
            </a:extLst>
          </p:cNvPr>
          <p:cNvCxnSpPr/>
          <p:nvPr/>
        </p:nvCxnSpPr>
        <p:spPr>
          <a:xfrm flipH="1" flipV="1">
            <a:off x="5080458" y="6000944"/>
            <a:ext cx="501024" cy="30838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2 Rectángulo">
            <a:extLst>
              <a:ext uri="{FF2B5EF4-FFF2-40B4-BE49-F238E27FC236}">
                <a16:creationId xmlns:a16="http://schemas.microsoft.com/office/drawing/2014/main" id="{B16CC67C-790E-4C2D-A13A-E89A67F4BBBC}"/>
              </a:ext>
            </a:extLst>
          </p:cNvPr>
          <p:cNvSpPr/>
          <p:nvPr/>
        </p:nvSpPr>
        <p:spPr>
          <a:xfrm>
            <a:off x="5662088" y="6178762"/>
            <a:ext cx="1458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b="1" dirty="0">
                <a:solidFill>
                  <a:srgbClr val="FF0000"/>
                </a:solidFill>
              </a:rPr>
              <a:t>Implementación del Algoritmo</a:t>
            </a:r>
            <a:endParaRPr lang="es-CO" sz="13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056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56057" y="259196"/>
            <a:ext cx="7886700" cy="837405"/>
          </a:xfrm>
        </p:spPr>
        <p:txBody>
          <a:bodyPr/>
          <a:lstStyle/>
          <a:p>
            <a:r>
              <a:rPr lang="es-MX" dirty="0"/>
              <a:t>Programar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256057" y="1124745"/>
            <a:ext cx="8395574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Es el proceso mediante el cual </a:t>
            </a:r>
            <a:r>
              <a:rPr lang="es-MX" sz="2400" b="1" dirty="0"/>
              <a:t>transmitimos</a:t>
            </a:r>
            <a:r>
              <a:rPr lang="es-MX" sz="2400" dirty="0"/>
              <a:t> a un computador las operaciones que queremos que haga.</a:t>
            </a:r>
          </a:p>
          <a:p>
            <a:r>
              <a:rPr lang="es-MX" sz="2400" b="1" dirty="0"/>
              <a:t>Ejemplo: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5451E62-395A-45A0-9955-781FAD4D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31" y="2789280"/>
            <a:ext cx="2600312" cy="262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2 Rectángulo">
            <a:extLst>
              <a:ext uri="{FF2B5EF4-FFF2-40B4-BE49-F238E27FC236}">
                <a16:creationId xmlns:a16="http://schemas.microsoft.com/office/drawing/2014/main" id="{076C614A-065E-4CB8-B357-A9B4C9EA192C}"/>
              </a:ext>
            </a:extLst>
          </p:cNvPr>
          <p:cNvSpPr/>
          <p:nvPr/>
        </p:nvSpPr>
        <p:spPr>
          <a:xfrm>
            <a:off x="1589082" y="5503736"/>
            <a:ext cx="99097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350" b="1" dirty="0">
                <a:latin typeface="Century Gothic" panose="020B0502020202020204" pitchFamily="34" charset="0"/>
              </a:rPr>
              <a:t>Problema</a:t>
            </a:r>
          </a:p>
        </p:txBody>
      </p:sp>
      <p:sp>
        <p:nvSpPr>
          <p:cNvPr id="8" name="7 Rectángulo">
            <a:extLst>
              <a:ext uri="{FF2B5EF4-FFF2-40B4-BE49-F238E27FC236}">
                <a16:creationId xmlns:a16="http://schemas.microsoft.com/office/drawing/2014/main" id="{C64C5E00-E694-4E3D-8669-734FB1F8E0FA}"/>
              </a:ext>
            </a:extLst>
          </p:cNvPr>
          <p:cNvSpPr/>
          <p:nvPr/>
        </p:nvSpPr>
        <p:spPr>
          <a:xfrm>
            <a:off x="3929334" y="5497025"/>
            <a:ext cx="12907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350" b="1" dirty="0">
                <a:latin typeface="Century Gothic" panose="020B0502020202020204" pitchFamily="34" charset="0"/>
              </a:rPr>
              <a:t>Instrucciones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647270BC-922C-4A34-AD9E-3CFE58A07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821624"/>
            <a:ext cx="1665936" cy="25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DEAFB52-3C03-443F-877B-9E9605D5E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921" y="2953125"/>
            <a:ext cx="3119277" cy="215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0 Rectángulo">
            <a:extLst>
              <a:ext uri="{FF2B5EF4-FFF2-40B4-BE49-F238E27FC236}">
                <a16:creationId xmlns:a16="http://schemas.microsoft.com/office/drawing/2014/main" id="{17FB660F-535C-4705-9346-5EEDCF523066}"/>
              </a:ext>
            </a:extLst>
          </p:cNvPr>
          <p:cNvSpPr/>
          <p:nvPr/>
        </p:nvSpPr>
        <p:spPr>
          <a:xfrm>
            <a:off x="6731743" y="5497025"/>
            <a:ext cx="100860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350" b="1" dirty="0">
                <a:latin typeface="Century Gothic" panose="020B0502020202020204" pitchFamily="34" charset="0"/>
              </a:rPr>
              <a:t>Programa</a:t>
            </a:r>
          </a:p>
        </p:txBody>
      </p:sp>
    </p:spTree>
    <p:extLst>
      <p:ext uri="{BB962C8B-B14F-4D97-AF65-F5344CB8AC3E}">
        <p14:creationId xmlns:p14="http://schemas.microsoft.com/office/powerpoint/2010/main" val="3724662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215331"/>
            <a:ext cx="7886700" cy="837405"/>
          </a:xfrm>
        </p:spPr>
        <p:txBody>
          <a:bodyPr/>
          <a:lstStyle/>
          <a:p>
            <a:r>
              <a:rPr lang="es-MX" dirty="0"/>
              <a:t>Programar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160" y="1114717"/>
            <a:ext cx="8625254" cy="1351043"/>
          </a:xfrm>
        </p:spPr>
        <p:txBody>
          <a:bodyPr>
            <a:normAutofit/>
          </a:bodyPr>
          <a:lstStyle/>
          <a:p>
            <a:r>
              <a:rPr lang="es-CO" sz="2400" dirty="0"/>
              <a:t>¡Los computadores </a:t>
            </a:r>
            <a:r>
              <a:rPr lang="es-CO" sz="2400" b="1" dirty="0">
                <a:solidFill>
                  <a:schemeClr val="accent5"/>
                </a:solidFill>
              </a:rPr>
              <a:t>no entienden español </a:t>
            </a:r>
            <a:r>
              <a:rPr lang="es-CO" sz="2400" dirty="0"/>
              <a:t>(ni tampoco inglés)!</a:t>
            </a:r>
          </a:p>
          <a:p>
            <a:r>
              <a:rPr lang="es-CO" sz="2400" dirty="0"/>
              <a:t>Debemos traducir del español al lenguaje del computador, que se basa en la electricidad.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9CDFC8E-6CE9-4CCF-B372-DFCF8A28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42" y="4095793"/>
            <a:ext cx="1811288" cy="1351043"/>
          </a:xfrm>
          <a:prstGeom prst="rect">
            <a:avLst/>
          </a:prstGeom>
        </p:spPr>
      </p:pic>
      <p:sp>
        <p:nvSpPr>
          <p:cNvPr id="18" name="Bocadillo: rectángulo 17">
            <a:extLst>
              <a:ext uri="{FF2B5EF4-FFF2-40B4-BE49-F238E27FC236}">
                <a16:creationId xmlns:a16="http://schemas.microsoft.com/office/drawing/2014/main" id="{BDB49C73-5DA4-4020-80CB-E97F9FB2386F}"/>
              </a:ext>
            </a:extLst>
          </p:cNvPr>
          <p:cNvSpPr/>
          <p:nvPr/>
        </p:nvSpPr>
        <p:spPr>
          <a:xfrm>
            <a:off x="2264832" y="3420212"/>
            <a:ext cx="1264841" cy="471554"/>
          </a:xfrm>
          <a:prstGeom prst="wedgeRectCallout">
            <a:avLst>
              <a:gd name="adj1" fmla="val -45448"/>
              <a:gd name="adj2" fmla="val 11863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Computadora, mata a Flanders</a:t>
            </a:r>
            <a:endParaRPr lang="es-CO" sz="1050" b="1" dirty="0">
              <a:solidFill>
                <a:sysClr val="windowText" lastClr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0" name="Picture 8" descr="https://isnotmyblog.files.wordpress.com/2012/08/nelson-simpsons-ah-ah-420x261.jpg">
            <a:extLst>
              <a:ext uri="{FF2B5EF4-FFF2-40B4-BE49-F238E27FC236}">
                <a16:creationId xmlns:a16="http://schemas.microsoft.com/office/drawing/2014/main" id="{8960EDBB-E933-4220-9F84-3B9CC42B1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800" y="4046654"/>
            <a:ext cx="2114639" cy="131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Windows no cambia: la pantalla azul de la muerte se queda">
            <a:extLst>
              <a:ext uri="{FF2B5EF4-FFF2-40B4-BE49-F238E27FC236}">
                <a16:creationId xmlns:a16="http://schemas.microsoft.com/office/drawing/2014/main" id="{7CAFC7D4-583F-4122-9FAC-35657E491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918" y="4095793"/>
            <a:ext cx="2190164" cy="131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1 Flecha derecha">
            <a:extLst>
              <a:ext uri="{FF2B5EF4-FFF2-40B4-BE49-F238E27FC236}">
                <a16:creationId xmlns:a16="http://schemas.microsoft.com/office/drawing/2014/main" id="{C83A8295-C296-4A1D-BB20-A4822994CE81}"/>
              </a:ext>
            </a:extLst>
          </p:cNvPr>
          <p:cNvSpPr/>
          <p:nvPr/>
        </p:nvSpPr>
        <p:spPr>
          <a:xfrm>
            <a:off x="2341618" y="4492475"/>
            <a:ext cx="1022111" cy="5014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22" name="1 Flecha derecha">
            <a:extLst>
              <a:ext uri="{FF2B5EF4-FFF2-40B4-BE49-F238E27FC236}">
                <a16:creationId xmlns:a16="http://schemas.microsoft.com/office/drawing/2014/main" id="{C85C4B4C-E339-4CC0-87A4-DE07235DC2E5}"/>
              </a:ext>
            </a:extLst>
          </p:cNvPr>
          <p:cNvSpPr/>
          <p:nvPr/>
        </p:nvSpPr>
        <p:spPr>
          <a:xfrm>
            <a:off x="5780271" y="4502141"/>
            <a:ext cx="1022111" cy="5014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</p:spTree>
    <p:extLst>
      <p:ext uri="{BB962C8B-B14F-4D97-AF65-F5344CB8AC3E}">
        <p14:creationId xmlns:p14="http://schemas.microsoft.com/office/powerpoint/2010/main" val="4288958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332098"/>
            <a:ext cx="7886700" cy="837405"/>
          </a:xfrm>
        </p:spPr>
        <p:txBody>
          <a:bodyPr/>
          <a:lstStyle/>
          <a:p>
            <a:r>
              <a:rPr lang="es-MX" dirty="0"/>
              <a:t>Lenguaje de programación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48" y="1303969"/>
            <a:ext cx="8625254" cy="16974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CO" sz="2400" dirty="0"/>
              <a:t>Es un lenguaje mediante el cual podemos comunicarnos con un computador para darle instrucciones.</a:t>
            </a:r>
          </a:p>
          <a:p>
            <a:r>
              <a:rPr lang="es-CO" sz="2200" b="1" dirty="0"/>
              <a:t>Lenguajes de alto nivel</a:t>
            </a:r>
            <a:r>
              <a:rPr lang="es-CO" sz="2200" dirty="0"/>
              <a:t>: Independientes del procesador (Python, java,…).</a:t>
            </a:r>
          </a:p>
          <a:p>
            <a:r>
              <a:rPr lang="es-CO" sz="2200" b="1" dirty="0"/>
              <a:t>Lenguajes de bajo nivel</a:t>
            </a:r>
            <a:r>
              <a:rPr lang="es-CO" sz="2200" dirty="0"/>
              <a:t>: Dependientes del procesador </a:t>
            </a:r>
            <a:r>
              <a:rPr lang="es-CO" sz="2200" dirty="0">
                <a:sym typeface="Wingdings" panose="05000000000000000000" pitchFamily="2" charset="2"/>
              </a:rPr>
              <a:t></a:t>
            </a:r>
            <a:r>
              <a:rPr lang="es-CO" sz="2200" dirty="0"/>
              <a:t> Ensamblador.</a:t>
            </a:r>
          </a:p>
        </p:txBody>
      </p:sp>
      <p:cxnSp>
        <p:nvCxnSpPr>
          <p:cNvPr id="18" name="Straight Arrow Connector 20">
            <a:extLst>
              <a:ext uri="{FF2B5EF4-FFF2-40B4-BE49-F238E27FC236}">
                <a16:creationId xmlns:a16="http://schemas.microsoft.com/office/drawing/2014/main" id="{384ED5ED-EE8F-4076-B353-F2416CFA9EF4}"/>
              </a:ext>
            </a:extLst>
          </p:cNvPr>
          <p:cNvCxnSpPr/>
          <p:nvPr/>
        </p:nvCxnSpPr>
        <p:spPr>
          <a:xfrm>
            <a:off x="4543425" y="4201552"/>
            <a:ext cx="0" cy="51435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7">
            <a:extLst>
              <a:ext uri="{FF2B5EF4-FFF2-40B4-BE49-F238E27FC236}">
                <a16:creationId xmlns:a16="http://schemas.microsoft.com/office/drawing/2014/main" id="{7A82F742-128A-4176-80B7-8A9BD9BFDA59}"/>
              </a:ext>
            </a:extLst>
          </p:cNvPr>
          <p:cNvCxnSpPr/>
          <p:nvPr/>
        </p:nvCxnSpPr>
        <p:spPr>
          <a:xfrm>
            <a:off x="5000625" y="4201552"/>
            <a:ext cx="1143000" cy="51435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AB472D6E-4997-4669-980E-6B741B145D68}"/>
              </a:ext>
            </a:extLst>
          </p:cNvPr>
          <p:cNvSpPr/>
          <p:nvPr/>
        </p:nvSpPr>
        <p:spPr>
          <a:xfrm>
            <a:off x="1914525" y="4773052"/>
            <a:ext cx="1657350" cy="4572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Programa en lenguaje C</a:t>
            </a:r>
            <a:endParaRPr lang="en-US" sz="1350" dirty="0"/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022974D0-3DC8-490A-B206-372AF650194D}"/>
              </a:ext>
            </a:extLst>
          </p:cNvPr>
          <p:cNvSpPr/>
          <p:nvPr/>
        </p:nvSpPr>
        <p:spPr>
          <a:xfrm>
            <a:off x="3743325" y="4773052"/>
            <a:ext cx="1657350" cy="4572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Programa en lenguaje Java</a:t>
            </a:r>
            <a:endParaRPr lang="en-US" sz="1350" dirty="0"/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1AAA9856-144A-4B57-88D9-5CFC4FE06D53}"/>
              </a:ext>
            </a:extLst>
          </p:cNvPr>
          <p:cNvSpPr/>
          <p:nvPr/>
        </p:nvSpPr>
        <p:spPr>
          <a:xfrm>
            <a:off x="5572125" y="4773052"/>
            <a:ext cx="1657350" cy="4572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Programa en lenguaje </a:t>
            </a:r>
            <a:r>
              <a:rPr lang="en-GB" sz="1350" dirty="0"/>
              <a:t>Python</a:t>
            </a:r>
            <a:endParaRPr lang="en-US" sz="1350" dirty="0"/>
          </a:p>
        </p:txBody>
      </p: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E4243826-1CF1-4560-8CF0-910F58C56409}"/>
              </a:ext>
            </a:extLst>
          </p:cNvPr>
          <p:cNvCxnSpPr/>
          <p:nvPr/>
        </p:nvCxnSpPr>
        <p:spPr>
          <a:xfrm flipH="1">
            <a:off x="2886075" y="4201552"/>
            <a:ext cx="1314450" cy="51435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BD4AEFA7-E7E0-4134-B241-AE19A807010C}"/>
              </a:ext>
            </a:extLst>
          </p:cNvPr>
          <p:cNvSpPr/>
          <p:nvPr/>
        </p:nvSpPr>
        <p:spPr>
          <a:xfrm>
            <a:off x="3743325" y="3801502"/>
            <a:ext cx="1657350" cy="457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Algoritmo</a:t>
            </a:r>
            <a:endParaRPr lang="en-US" sz="13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D2437F-89E4-4EB8-AA80-D9AFCE613B9D}"/>
              </a:ext>
            </a:extLst>
          </p:cNvPr>
          <p:cNvSpPr txBox="1"/>
          <p:nvPr/>
        </p:nvSpPr>
        <p:spPr>
          <a:xfrm>
            <a:off x="1914525" y="5516002"/>
            <a:ext cx="17145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 ejecuta más rápido</a:t>
            </a:r>
            <a:endParaRPr lang="en-US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2F986A-B6CA-47E3-BA98-D6924A45B89D}"/>
              </a:ext>
            </a:extLst>
          </p:cNvPr>
          <p:cNvSpPr txBox="1"/>
          <p:nvPr/>
        </p:nvSpPr>
        <p:spPr>
          <a:xfrm>
            <a:off x="3914775" y="5516002"/>
            <a:ext cx="13716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 más portable</a:t>
            </a:r>
            <a:endParaRPr lang="en-US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D9E138-F043-4108-BE46-FBB095B36990}"/>
              </a:ext>
            </a:extLst>
          </p:cNvPr>
          <p:cNvSpPr txBox="1"/>
          <p:nvPr/>
        </p:nvSpPr>
        <p:spPr>
          <a:xfrm>
            <a:off x="5629275" y="5516002"/>
            <a:ext cx="17145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 escribe más rápido</a:t>
            </a:r>
            <a:endParaRPr lang="en-US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813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260648"/>
            <a:ext cx="7886700" cy="837405"/>
          </a:xfrm>
        </p:spPr>
        <p:txBody>
          <a:bodyPr/>
          <a:lstStyle/>
          <a:p>
            <a:r>
              <a:rPr lang="es-MX" dirty="0"/>
              <a:t>Programas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73" y="1124744"/>
            <a:ext cx="8625254" cy="2448272"/>
          </a:xfrm>
        </p:spPr>
        <p:txBody>
          <a:bodyPr>
            <a:normAutofit fontScale="92500" lnSpcReduction="10000"/>
          </a:bodyPr>
          <a:lstStyle/>
          <a:p>
            <a:r>
              <a:rPr lang="es-CO" sz="2400" dirty="0"/>
              <a:t>No permite ambigüedades</a:t>
            </a:r>
          </a:p>
          <a:p>
            <a:r>
              <a:rPr lang="es-CO" sz="2400" dirty="0"/>
              <a:t>Implementamos programas usando </a:t>
            </a:r>
            <a:r>
              <a:rPr lang="es-CO" sz="2400" b="1" dirty="0">
                <a:solidFill>
                  <a:schemeClr val="accent5"/>
                </a:solidFill>
              </a:rPr>
              <a:t>lenguajes de programación</a:t>
            </a:r>
            <a:endParaRPr lang="es-CO" sz="2400" dirty="0">
              <a:solidFill>
                <a:schemeClr val="accent5"/>
              </a:solidFill>
            </a:endParaRPr>
          </a:p>
          <a:p>
            <a:r>
              <a:rPr lang="es-CO" sz="2400" dirty="0"/>
              <a:t>Lenguajes para diferentes propósitos:</a:t>
            </a:r>
          </a:p>
          <a:p>
            <a:pPr lvl="1"/>
            <a:r>
              <a:rPr lang="es-CO" sz="2200" b="1" dirty="0"/>
              <a:t>Fortran</a:t>
            </a:r>
            <a:r>
              <a:rPr lang="es-CO" sz="2200" dirty="0"/>
              <a:t>: cálculos científicos</a:t>
            </a:r>
          </a:p>
          <a:p>
            <a:pPr lvl="1"/>
            <a:r>
              <a:rPr lang="es-CO" sz="2200" b="1" dirty="0"/>
              <a:t>Java</a:t>
            </a:r>
            <a:r>
              <a:rPr lang="es-CO" sz="2200" dirty="0"/>
              <a:t>: internet, móviles</a:t>
            </a:r>
          </a:p>
          <a:p>
            <a:pPr lvl="1"/>
            <a:r>
              <a:rPr lang="es-CO" sz="2200" b="1" dirty="0"/>
              <a:t>Python</a:t>
            </a:r>
            <a:r>
              <a:rPr lang="es-CO" sz="2200" dirty="0"/>
              <a:t>: propósito general, scripts, internet</a:t>
            </a:r>
          </a:p>
          <a:p>
            <a:pPr lvl="1"/>
            <a:r>
              <a:rPr lang="es-CO" sz="2200" b="1" dirty="0"/>
              <a:t>C</a:t>
            </a:r>
            <a:r>
              <a:rPr lang="es-CO" sz="2200" dirty="0"/>
              <a:t>: control de bajo nivel, velocidad</a:t>
            </a:r>
          </a:p>
        </p:txBody>
      </p:sp>
      <p:pic>
        <p:nvPicPr>
          <p:cNvPr id="11266" name="Picture 2" descr="Java (lenguaje de programación) - Wikipedia, la enciclopedia libre">
            <a:extLst>
              <a:ext uri="{FF2B5EF4-FFF2-40B4-BE49-F238E27FC236}">
                <a16:creationId xmlns:a16="http://schemas.microsoft.com/office/drawing/2014/main" id="{3F021788-632F-4428-A2F1-D9B0994F8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050" y="1976543"/>
            <a:ext cx="972758" cy="54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F4657610-EF40-43E3-B62E-22C612EE8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240" y="2068867"/>
            <a:ext cx="427085" cy="42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ython Logo, history, meaning, symbol, PNG">
            <a:extLst>
              <a:ext uri="{FF2B5EF4-FFF2-40B4-BE49-F238E27FC236}">
                <a16:creationId xmlns:a16="http://schemas.microsoft.com/office/drawing/2014/main" id="{5C78FFF4-03B1-4087-B47A-FFD86FAF7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710" y="2674683"/>
            <a:ext cx="1250765" cy="703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C (lenguaje de programación) - Wikipedia, la enciclopedia libre">
            <a:extLst>
              <a:ext uri="{FF2B5EF4-FFF2-40B4-BE49-F238E27FC236}">
                <a16:creationId xmlns:a16="http://schemas.microsoft.com/office/drawing/2014/main" id="{775AAD9F-28A0-44BC-865D-562010E46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8" y="2495952"/>
            <a:ext cx="695758" cy="73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819F2EE-5A50-4CF7-89F7-D93C9B83D3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0453" y="3751747"/>
            <a:ext cx="3600400" cy="287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74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03" y="198116"/>
            <a:ext cx="7886700" cy="1565040"/>
          </a:xfrm>
        </p:spPr>
        <p:txBody>
          <a:bodyPr>
            <a:normAutofit/>
          </a:bodyPr>
          <a:lstStyle/>
          <a:p>
            <a:r>
              <a:rPr lang="es-MX" dirty="0"/>
              <a:t>Lenguaje de programación de alto nivel</a:t>
            </a:r>
            <a:endParaRPr lang="es-CO" dirty="0"/>
          </a:p>
        </p:txBody>
      </p:sp>
      <p:cxnSp>
        <p:nvCxnSpPr>
          <p:cNvPr id="18" name="Straight Arrow Connector 20">
            <a:extLst>
              <a:ext uri="{FF2B5EF4-FFF2-40B4-BE49-F238E27FC236}">
                <a16:creationId xmlns:a16="http://schemas.microsoft.com/office/drawing/2014/main" id="{384ED5ED-EE8F-4076-B353-F2416CFA9EF4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900018" y="3786000"/>
            <a:ext cx="1465678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7">
            <a:extLst>
              <a:ext uri="{FF2B5EF4-FFF2-40B4-BE49-F238E27FC236}">
                <a16:creationId xmlns:a16="http://schemas.microsoft.com/office/drawing/2014/main" id="{7A82F742-128A-4176-80B7-8A9BD9BFDA59}"/>
              </a:ext>
            </a:extLst>
          </p:cNvPr>
          <p:cNvCxnSpPr>
            <a:cxnSpLocks/>
          </p:cNvCxnSpPr>
          <p:nvPr/>
        </p:nvCxnSpPr>
        <p:spPr>
          <a:xfrm flipV="1">
            <a:off x="1677573" y="2686627"/>
            <a:ext cx="1688123" cy="107732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AB472D6E-4997-4669-980E-6B741B145D68}"/>
              </a:ext>
            </a:extLst>
          </p:cNvPr>
          <p:cNvSpPr/>
          <p:nvPr/>
        </p:nvSpPr>
        <p:spPr>
          <a:xfrm>
            <a:off x="3364376" y="4655022"/>
            <a:ext cx="1657350" cy="4572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Programa en lenguaje C</a:t>
            </a:r>
            <a:endParaRPr lang="en-US" sz="1350" dirty="0"/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022974D0-3DC8-490A-B206-372AF650194D}"/>
              </a:ext>
            </a:extLst>
          </p:cNvPr>
          <p:cNvSpPr/>
          <p:nvPr/>
        </p:nvSpPr>
        <p:spPr>
          <a:xfrm>
            <a:off x="3365696" y="3557400"/>
            <a:ext cx="1657350" cy="4572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Programa en lenguaje Java</a:t>
            </a:r>
            <a:endParaRPr lang="en-US" sz="1350" dirty="0"/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1AAA9856-144A-4B57-88D9-5CFC4FE06D53}"/>
              </a:ext>
            </a:extLst>
          </p:cNvPr>
          <p:cNvSpPr/>
          <p:nvPr/>
        </p:nvSpPr>
        <p:spPr>
          <a:xfrm>
            <a:off x="3365696" y="2481785"/>
            <a:ext cx="1657350" cy="4572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Programa en lenguaje </a:t>
            </a:r>
            <a:r>
              <a:rPr lang="en-GB" sz="1350" dirty="0"/>
              <a:t>Python</a:t>
            </a:r>
            <a:endParaRPr lang="en-US" sz="1350" dirty="0"/>
          </a:p>
        </p:txBody>
      </p: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E4243826-1CF1-4560-8CF0-910F58C5640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677572" y="3808006"/>
            <a:ext cx="1686804" cy="107561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BD4AEFA7-E7E0-4134-B241-AE19A807010C}"/>
              </a:ext>
            </a:extLst>
          </p:cNvPr>
          <p:cNvSpPr/>
          <p:nvPr/>
        </p:nvSpPr>
        <p:spPr>
          <a:xfrm>
            <a:off x="291905" y="3535352"/>
            <a:ext cx="1657350" cy="457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Algoritmo</a:t>
            </a:r>
            <a:endParaRPr lang="en-US" sz="135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9B28ED6-5C4B-402B-817F-9A0069EC2305}"/>
              </a:ext>
            </a:extLst>
          </p:cNvPr>
          <p:cNvSpPr txBox="1"/>
          <p:nvPr/>
        </p:nvSpPr>
        <p:spPr>
          <a:xfrm>
            <a:off x="5159326" y="2477541"/>
            <a:ext cx="352923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("Hola mundo")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FCBBB9B-9B77-46F7-8AAF-68CDFB1D4099}"/>
              </a:ext>
            </a:extLst>
          </p:cNvPr>
          <p:cNvSpPr txBox="1"/>
          <p:nvPr/>
        </p:nvSpPr>
        <p:spPr>
          <a:xfrm>
            <a:off x="6600386" y="2730334"/>
            <a:ext cx="521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</a:t>
            </a:r>
            <a:endParaRPr lang="es-CO" sz="9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254FD12-2AEA-43CA-9B94-1F0B4582E24D}"/>
              </a:ext>
            </a:extLst>
          </p:cNvPr>
          <p:cNvSpPr txBox="1"/>
          <p:nvPr/>
        </p:nvSpPr>
        <p:spPr>
          <a:xfrm>
            <a:off x="6657975" y="4258093"/>
            <a:ext cx="521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</a:t>
            </a:r>
            <a:r>
              <a:rPr lang="es-CO" sz="1200" dirty="0">
                <a:hlinkClick r:id="rId3"/>
              </a:rPr>
              <a:t>ink</a:t>
            </a:r>
            <a:endParaRPr lang="es-CO" sz="9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4F790B0-CC6A-4EC1-AF94-FD2D8C0C48A5}"/>
              </a:ext>
            </a:extLst>
          </p:cNvPr>
          <p:cNvSpPr txBox="1"/>
          <p:nvPr/>
        </p:nvSpPr>
        <p:spPr>
          <a:xfrm>
            <a:off x="5148775" y="3380929"/>
            <a:ext cx="3539783" cy="90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Hola {    </a:t>
            </a:r>
          </a:p>
          <a:p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("Hola mundo");     </a:t>
            </a:r>
          </a:p>
          <a:p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s-CO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6964F6F-AE6E-4940-BF6D-C249E1D07522}"/>
              </a:ext>
            </a:extLst>
          </p:cNvPr>
          <p:cNvSpPr txBox="1"/>
          <p:nvPr/>
        </p:nvSpPr>
        <p:spPr>
          <a:xfrm>
            <a:off x="5164602" y="4586674"/>
            <a:ext cx="353978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  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("Hola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mundo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\n");  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CO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728BED2-6C56-4E11-9D64-6EECCCB4C2F6}"/>
              </a:ext>
            </a:extLst>
          </p:cNvPr>
          <p:cNvSpPr txBox="1"/>
          <p:nvPr/>
        </p:nvSpPr>
        <p:spPr>
          <a:xfrm>
            <a:off x="6657975" y="5317755"/>
            <a:ext cx="521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</a:t>
            </a:r>
            <a:r>
              <a:rPr lang="es-CO" sz="1200" dirty="0">
                <a:hlinkClick r:id="rId4"/>
              </a:rPr>
              <a:t>ink</a:t>
            </a:r>
            <a:endParaRPr lang="es-CO" sz="900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8303C27C-81E0-459E-963D-8879D048E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73" y="2727800"/>
            <a:ext cx="1739442" cy="64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97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380646"/>
            <a:ext cx="7886700" cy="837405"/>
          </a:xfrm>
        </p:spPr>
        <p:txBody>
          <a:bodyPr>
            <a:normAutofit fontScale="90000"/>
          </a:bodyPr>
          <a:lstStyle/>
          <a:p>
            <a:r>
              <a:rPr lang="es-MX" dirty="0"/>
              <a:t>Lenguaje de programación de bajo nivel</a:t>
            </a:r>
            <a:endParaRPr lang="es-CO" dirty="0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7F974BB9-DFC6-46DF-A63B-1A853BB2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116" y="1620473"/>
            <a:ext cx="8605364" cy="944432"/>
          </a:xfrm>
        </p:spPr>
        <p:txBody>
          <a:bodyPr>
            <a:normAutofit/>
          </a:bodyPr>
          <a:lstStyle/>
          <a:p>
            <a:r>
              <a:rPr lang="es-CO" sz="2400" dirty="0"/>
              <a:t>Conjunto de instrucciones para controlar el procesador</a:t>
            </a:r>
          </a:p>
          <a:p>
            <a:r>
              <a:rPr lang="es-CO" sz="2400" dirty="0"/>
              <a:t>Interface entre el software y el hardware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75B1B11-1879-4493-BD49-A72303705726}"/>
              </a:ext>
            </a:extLst>
          </p:cNvPr>
          <p:cNvGrpSpPr/>
          <p:nvPr/>
        </p:nvGrpSpPr>
        <p:grpSpPr>
          <a:xfrm>
            <a:off x="5382653" y="3453611"/>
            <a:ext cx="2157633" cy="1202762"/>
            <a:chOff x="6684500" y="4217303"/>
            <a:chExt cx="2876844" cy="1603683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33A048D7-7B2D-4A4E-B698-5E874F192CC7}"/>
                </a:ext>
              </a:extLst>
            </p:cNvPr>
            <p:cNvSpPr txBox="1"/>
            <p:nvPr/>
          </p:nvSpPr>
          <p:spPr>
            <a:xfrm>
              <a:off x="6684500" y="5082322"/>
              <a:ext cx="2876844" cy="7386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0100101011101011</a:t>
              </a:r>
            </a:p>
            <a:p>
              <a:r>
                <a:rPr lang="pt-BR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0110111000101010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ED12E175-10E6-4357-B3DF-80EAB2CA1CAE}"/>
                </a:ext>
              </a:extLst>
            </p:cNvPr>
            <p:cNvSpPr txBox="1"/>
            <p:nvPr/>
          </p:nvSpPr>
          <p:spPr>
            <a:xfrm>
              <a:off x="7180679" y="4217303"/>
              <a:ext cx="188448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500" b="1" dirty="0">
                  <a:latin typeface="Century Gothic" panose="020B0502020202020204" pitchFamily="34" charset="0"/>
                </a:rPr>
                <a:t>Lenguaje de maquina 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50E4146C-36B2-4749-A5F3-58FB6C80A9E9}"/>
              </a:ext>
            </a:extLst>
          </p:cNvPr>
          <p:cNvGrpSpPr/>
          <p:nvPr/>
        </p:nvGrpSpPr>
        <p:grpSpPr>
          <a:xfrm>
            <a:off x="747565" y="3453613"/>
            <a:ext cx="3607926" cy="1824995"/>
            <a:chOff x="504383" y="3631140"/>
            <a:chExt cx="4810568" cy="2433326"/>
          </a:xfrm>
        </p:grpSpPr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6964F6F-AE6E-4940-BF6D-C249E1D07522}"/>
                </a:ext>
              </a:extLst>
            </p:cNvPr>
            <p:cNvSpPr txBox="1"/>
            <p:nvPr/>
          </p:nvSpPr>
          <p:spPr>
            <a:xfrm>
              <a:off x="1793630" y="4463343"/>
              <a:ext cx="2876844" cy="7386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LW  R1, 0x8000</a:t>
              </a:r>
            </a:p>
            <a:p>
              <a:r>
                <a:rPr lang="pt-BR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ADD R1, R4, R6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0728BED2-6C56-4E11-9D64-6EECCCB4C2F6}"/>
                </a:ext>
              </a:extLst>
            </p:cNvPr>
            <p:cNvSpPr txBox="1"/>
            <p:nvPr/>
          </p:nvSpPr>
          <p:spPr>
            <a:xfrm>
              <a:off x="2289810" y="3631140"/>
              <a:ext cx="188448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500" b="1" dirty="0">
                  <a:latin typeface="Century Gothic" panose="020B0502020202020204" pitchFamily="34" charset="0"/>
                </a:rPr>
                <a:t>Lenguaje ensamblador </a:t>
              </a:r>
              <a:endParaRPr lang="es-CO"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7" name="Oval 9">
              <a:extLst>
                <a:ext uri="{FF2B5EF4-FFF2-40B4-BE49-F238E27FC236}">
                  <a16:creationId xmlns:a16="http://schemas.microsoft.com/office/drawing/2014/main" id="{1EA406C3-CB66-416C-AC9B-A80FEFBFD250}"/>
                </a:ext>
              </a:extLst>
            </p:cNvPr>
            <p:cNvSpPr/>
            <p:nvPr/>
          </p:nvSpPr>
          <p:spPr>
            <a:xfrm>
              <a:off x="1772529" y="4259174"/>
              <a:ext cx="601686" cy="11430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2" name="Straight Connector 12">
              <a:extLst>
                <a:ext uri="{FF2B5EF4-FFF2-40B4-BE49-F238E27FC236}">
                  <a16:creationId xmlns:a16="http://schemas.microsoft.com/office/drawing/2014/main" id="{9F66AB19-D56B-470B-8A20-2A82E3F5A4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3540" y="5325974"/>
              <a:ext cx="2667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17">
              <a:extLst>
                <a:ext uri="{FF2B5EF4-FFF2-40B4-BE49-F238E27FC236}">
                  <a16:creationId xmlns:a16="http://schemas.microsoft.com/office/drawing/2014/main" id="{967B1B03-C688-41BC-91DB-AAFC657B148D}"/>
                </a:ext>
              </a:extLst>
            </p:cNvPr>
            <p:cNvCxnSpPr>
              <a:cxnSpLocks/>
            </p:cNvCxnSpPr>
            <p:nvPr/>
          </p:nvCxnSpPr>
          <p:spPr>
            <a:xfrm>
              <a:off x="3454203" y="5344913"/>
              <a:ext cx="231532" cy="3620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10">
              <a:extLst>
                <a:ext uri="{FF2B5EF4-FFF2-40B4-BE49-F238E27FC236}">
                  <a16:creationId xmlns:a16="http://schemas.microsoft.com/office/drawing/2014/main" id="{B08026A7-9113-4E36-9E0C-34AF07A9E71D}"/>
                </a:ext>
              </a:extLst>
            </p:cNvPr>
            <p:cNvSpPr/>
            <p:nvPr/>
          </p:nvSpPr>
          <p:spPr>
            <a:xfrm>
              <a:off x="2405574" y="4259173"/>
              <a:ext cx="1884485" cy="1066802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43F5E0AC-F1B1-422B-A2F6-4DAACE3ACC40}"/>
                </a:ext>
              </a:extLst>
            </p:cNvPr>
            <p:cNvSpPr txBox="1"/>
            <p:nvPr/>
          </p:nvSpPr>
          <p:spPr>
            <a:xfrm>
              <a:off x="504383" y="5677055"/>
              <a:ext cx="1752600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dirty="0">
                  <a:solidFill>
                    <a:srgbClr val="FF0000"/>
                  </a:solidFill>
                  <a:latin typeface="Century Gothic" panose="020B0502020202020204" pitchFamily="34" charset="0"/>
                </a:rPr>
                <a:t>instrucción</a:t>
              </a:r>
              <a:endParaRPr lang="en-US" sz="1350" dirty="0">
                <a:solidFill>
                  <a:srgbClr val="FF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4D487797-0472-44C1-88A7-5F2971A44471}"/>
                </a:ext>
              </a:extLst>
            </p:cNvPr>
            <p:cNvSpPr txBox="1"/>
            <p:nvPr/>
          </p:nvSpPr>
          <p:spPr>
            <a:xfrm>
              <a:off x="2405574" y="5725911"/>
              <a:ext cx="2909377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050" dirty="0">
                  <a:solidFill>
                    <a:srgbClr val="FF0000"/>
                  </a:solidFill>
                  <a:latin typeface="Century Gothic" panose="020B0502020202020204" pitchFamily="34" charset="0"/>
                </a:rPr>
                <a:t>operandos =&gt; tipos de datos</a:t>
              </a:r>
              <a:endParaRPr lang="en-US" sz="1050" dirty="0">
                <a:solidFill>
                  <a:srgbClr val="FF0000"/>
                </a:soli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2936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40822"/>
            <a:ext cx="8280920" cy="1043962"/>
          </a:xfrm>
        </p:spPr>
        <p:txBody>
          <a:bodyPr>
            <a:normAutofit fontScale="90000"/>
          </a:bodyPr>
          <a:lstStyle/>
          <a:p>
            <a:r>
              <a:rPr lang="es-MX" dirty="0"/>
              <a:t>Lenguaje de programación de bajo nivel</a:t>
            </a:r>
            <a:endParaRPr lang="es-CO" dirty="0"/>
          </a:p>
        </p:txBody>
      </p:sp>
      <p:cxnSp>
        <p:nvCxnSpPr>
          <p:cNvPr id="16" name="Straight Arrow Connector 20">
            <a:extLst>
              <a:ext uri="{FF2B5EF4-FFF2-40B4-BE49-F238E27FC236}">
                <a16:creationId xmlns:a16="http://schemas.microsoft.com/office/drawing/2014/main" id="{0562D8E7-226F-430C-B6A0-C62D57125CBD}"/>
              </a:ext>
            </a:extLst>
          </p:cNvPr>
          <p:cNvCxnSpPr/>
          <p:nvPr/>
        </p:nvCxnSpPr>
        <p:spPr>
          <a:xfrm>
            <a:off x="4420772" y="2864800"/>
            <a:ext cx="0" cy="51435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35C090-2FF3-432A-BFCB-C4A35CC0AB4C}"/>
              </a:ext>
            </a:extLst>
          </p:cNvPr>
          <p:cNvCxnSpPr/>
          <p:nvPr/>
        </p:nvCxnSpPr>
        <p:spPr>
          <a:xfrm>
            <a:off x="4877972" y="2864800"/>
            <a:ext cx="1143000" cy="51435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51C10D3F-5818-441D-BEB0-F2B71D0885AA}"/>
              </a:ext>
            </a:extLst>
          </p:cNvPr>
          <p:cNvSpPr/>
          <p:nvPr/>
        </p:nvSpPr>
        <p:spPr>
          <a:xfrm>
            <a:off x="1791872" y="3436300"/>
            <a:ext cx="1657350" cy="4572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ARM ISA</a:t>
            </a:r>
            <a:endParaRPr lang="en-US" sz="1350" dirty="0"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36144B54-D19E-40D3-AFFF-060FC8D4A5F1}"/>
              </a:ext>
            </a:extLst>
          </p:cNvPr>
          <p:cNvSpPr/>
          <p:nvPr/>
        </p:nvSpPr>
        <p:spPr>
          <a:xfrm>
            <a:off x="3620672" y="3436300"/>
            <a:ext cx="1657350" cy="4572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X86 ISA</a:t>
            </a:r>
            <a:endParaRPr lang="en-US" sz="1350" dirty="0"/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BBAD676F-3E51-428C-8A52-5C1161AEF9A7}"/>
              </a:ext>
            </a:extLst>
          </p:cNvPr>
          <p:cNvSpPr/>
          <p:nvPr/>
        </p:nvSpPr>
        <p:spPr>
          <a:xfrm>
            <a:off x="5449472" y="3436300"/>
            <a:ext cx="1657350" cy="4572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 err="1"/>
              <a:t>PowerPC</a:t>
            </a:r>
            <a:r>
              <a:rPr lang="es-CO" sz="1350" dirty="0"/>
              <a:t> ISA</a:t>
            </a:r>
            <a:endParaRPr lang="en-US" sz="1350" dirty="0"/>
          </a:p>
        </p:txBody>
      </p: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21F15798-0054-4F68-B019-0587AAB6DAC8}"/>
              </a:ext>
            </a:extLst>
          </p:cNvPr>
          <p:cNvCxnSpPr/>
          <p:nvPr/>
        </p:nvCxnSpPr>
        <p:spPr>
          <a:xfrm flipH="1">
            <a:off x="2763422" y="2864800"/>
            <a:ext cx="1314450" cy="51435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F5FCAE92-7ED9-4136-A773-CE992CD48AE9}"/>
              </a:ext>
            </a:extLst>
          </p:cNvPr>
          <p:cNvSpPr/>
          <p:nvPr/>
        </p:nvSpPr>
        <p:spPr>
          <a:xfrm>
            <a:off x="3620672" y="2464750"/>
            <a:ext cx="1657350" cy="457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0" dirty="0"/>
              <a:t>Programa</a:t>
            </a:r>
            <a:endParaRPr lang="en-US" sz="1350" dirty="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520D993-05D4-4979-AE85-A13E956DE3F3}"/>
              </a:ext>
            </a:extLst>
          </p:cNvPr>
          <p:cNvSpPr txBox="1"/>
          <p:nvPr/>
        </p:nvSpPr>
        <p:spPr>
          <a:xfrm>
            <a:off x="1677572" y="4179250"/>
            <a:ext cx="188595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Consume menos energía</a:t>
            </a:r>
            <a:endParaRPr lang="en-US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5F34EBFC-1121-4876-92D4-EBDB0438273B}"/>
              </a:ext>
            </a:extLst>
          </p:cNvPr>
          <p:cNvSpPr txBox="1"/>
          <p:nvPr/>
        </p:nvSpPr>
        <p:spPr>
          <a:xfrm>
            <a:off x="3792122" y="4179250"/>
            <a:ext cx="13716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 más común</a:t>
            </a:r>
            <a:endParaRPr lang="en-US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14D732BA-0881-4086-B5B0-83A86CEBF101}"/>
              </a:ext>
            </a:extLst>
          </p:cNvPr>
          <p:cNvSpPr txBox="1"/>
          <p:nvPr/>
        </p:nvSpPr>
        <p:spPr>
          <a:xfrm>
            <a:off x="5506622" y="4179250"/>
            <a:ext cx="16002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 más estable</a:t>
            </a:r>
            <a:endParaRPr lang="en-US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E42E79A-E20F-44A8-AD5E-1527F7759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747" y="4678393"/>
            <a:ext cx="1371600" cy="42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18A862ED-599E-46A6-B94A-27B1249B2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456" y="4553979"/>
            <a:ext cx="946932" cy="67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>
            <a:extLst>
              <a:ext uri="{FF2B5EF4-FFF2-40B4-BE49-F238E27FC236}">
                <a16:creationId xmlns:a16="http://schemas.microsoft.com/office/drawing/2014/main" id="{B177061A-191D-49C1-A8A8-BABE10327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4708553"/>
            <a:ext cx="1694278" cy="30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296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04664"/>
            <a:ext cx="7886700" cy="837405"/>
          </a:xfrm>
        </p:spPr>
        <p:txBody>
          <a:bodyPr/>
          <a:lstStyle/>
          <a:p>
            <a:r>
              <a:rPr lang="es-MX" dirty="0"/>
              <a:t>Haciendo programas</a:t>
            </a:r>
            <a:endParaRPr lang="es-CO" dirty="0"/>
          </a:p>
        </p:txBody>
      </p:sp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79D44C32-6F83-4920-BE6B-2A1A3DB5B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915461"/>
              </p:ext>
            </p:extLst>
          </p:nvPr>
        </p:nvGraphicFramePr>
        <p:xfrm>
          <a:off x="4188188" y="2082028"/>
          <a:ext cx="2628900" cy="2302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722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accent5"/>
                          </a:solidFill>
                        </a:rPr>
                        <a:t>Problema</a:t>
                      </a:r>
                      <a:endParaRPr lang="en-US" sz="1400" b="1" dirty="0">
                        <a:solidFill>
                          <a:schemeClr val="accent5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22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5"/>
                        </a:solidFill>
                      </a:endParaRPr>
                    </a:p>
                  </a:txBody>
                  <a:tcPr marL="68580" marR="68580" marT="34290" marB="3429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22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accent5"/>
                          </a:solidFill>
                        </a:rPr>
                        <a:t>Algoritmo</a:t>
                      </a:r>
                      <a:endParaRPr lang="en-US" sz="1400" b="1" dirty="0">
                        <a:solidFill>
                          <a:schemeClr val="accent5"/>
                        </a:solidFill>
                      </a:endParaRPr>
                    </a:p>
                  </a:txBody>
                  <a:tcPr marL="68580" marR="68580" marT="34290" marB="3429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22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5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22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chemeClr val="accent5"/>
                          </a:solidFill>
                        </a:rPr>
                        <a:t>Programa</a:t>
                      </a:r>
                      <a:endParaRPr lang="en-US" sz="1400" b="1" dirty="0">
                        <a:solidFill>
                          <a:schemeClr val="accent5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22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rgbClr val="465ABE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Down Arrow 6">
            <a:extLst>
              <a:ext uri="{FF2B5EF4-FFF2-40B4-BE49-F238E27FC236}">
                <a16:creationId xmlns:a16="http://schemas.microsoft.com/office/drawing/2014/main" id="{65B695B8-A8BE-4269-9BD5-E09BCCC3050A}"/>
              </a:ext>
            </a:extLst>
          </p:cNvPr>
          <p:cNvSpPr/>
          <p:nvPr/>
        </p:nvSpPr>
        <p:spPr>
          <a:xfrm>
            <a:off x="5095742" y="2502489"/>
            <a:ext cx="857250" cy="28575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0" name="Down Arrow 7">
            <a:extLst>
              <a:ext uri="{FF2B5EF4-FFF2-40B4-BE49-F238E27FC236}">
                <a16:creationId xmlns:a16="http://schemas.microsoft.com/office/drawing/2014/main" id="{9048E3C4-8F93-463D-9715-5705DC1673DE}"/>
              </a:ext>
            </a:extLst>
          </p:cNvPr>
          <p:cNvSpPr/>
          <p:nvPr/>
        </p:nvSpPr>
        <p:spPr>
          <a:xfrm>
            <a:off x="5095742" y="3245439"/>
            <a:ext cx="857250" cy="28575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1" name="Down Arrow 8">
            <a:extLst>
              <a:ext uri="{FF2B5EF4-FFF2-40B4-BE49-F238E27FC236}">
                <a16:creationId xmlns:a16="http://schemas.microsoft.com/office/drawing/2014/main" id="{2C0121F2-FCE2-4A11-94AB-8AA55EDBF20C}"/>
              </a:ext>
            </a:extLst>
          </p:cNvPr>
          <p:cNvSpPr/>
          <p:nvPr/>
        </p:nvSpPr>
        <p:spPr>
          <a:xfrm>
            <a:off x="5095742" y="3988389"/>
            <a:ext cx="857250" cy="28575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36069EE8-AA49-469C-A3E9-1792320E82A7}"/>
              </a:ext>
            </a:extLst>
          </p:cNvPr>
          <p:cNvSpPr txBox="1"/>
          <p:nvPr/>
        </p:nvSpPr>
        <p:spPr>
          <a:xfrm>
            <a:off x="3360704" y="3997140"/>
            <a:ext cx="15887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b="1" dirty="0">
                <a:solidFill>
                  <a:srgbClr val="FF0000"/>
                </a:solidFill>
                <a:latin typeface="Century Gothic" panose="020B0502020202020204" pitchFamily="34" charset="0"/>
              </a:rPr>
              <a:t>TRADUCTOR</a:t>
            </a:r>
            <a:endParaRPr lang="en-US" sz="135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370775C8-856E-464E-AFE6-BCDF6BEA2D66}"/>
              </a:ext>
            </a:extLst>
          </p:cNvPr>
          <p:cNvSpPr txBox="1"/>
          <p:nvPr/>
        </p:nvSpPr>
        <p:spPr>
          <a:xfrm>
            <a:off x="3360704" y="3245439"/>
            <a:ext cx="16458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PROGRAMADOR</a:t>
            </a:r>
            <a:endParaRPr lang="en-US" sz="135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A1C29ACD-E9E6-4DBC-BAFB-9C68FFAF3906}"/>
              </a:ext>
            </a:extLst>
          </p:cNvPr>
          <p:cNvSpPr txBox="1"/>
          <p:nvPr/>
        </p:nvSpPr>
        <p:spPr>
          <a:xfrm>
            <a:off x="3360704" y="2502489"/>
            <a:ext cx="16458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PROGRAMADOR</a:t>
            </a:r>
            <a:endParaRPr lang="en-US" sz="135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CEEBD53-2FDF-48A8-A3BE-63F9D6B43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437112"/>
            <a:ext cx="1061738" cy="109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3">
            <a:extLst>
              <a:ext uri="{FF2B5EF4-FFF2-40B4-BE49-F238E27FC236}">
                <a16:creationId xmlns:a16="http://schemas.microsoft.com/office/drawing/2014/main" id="{D38366FD-C6FA-419A-A51E-EB97FC5F8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678" y="2247018"/>
            <a:ext cx="703407" cy="63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6">
            <a:extLst>
              <a:ext uri="{FF2B5EF4-FFF2-40B4-BE49-F238E27FC236}">
                <a16:creationId xmlns:a16="http://schemas.microsoft.com/office/drawing/2014/main" id="{C96EB21A-930B-4454-9025-161AD8064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67" y="3070989"/>
            <a:ext cx="635837" cy="564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2AB6CF19-9375-4112-91F0-9F7040586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817" y="3784305"/>
            <a:ext cx="554887" cy="65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380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69" y="358493"/>
            <a:ext cx="7886700" cy="837405"/>
          </a:xfrm>
        </p:spPr>
        <p:txBody>
          <a:bodyPr/>
          <a:lstStyle/>
          <a:p>
            <a:r>
              <a:rPr lang="es-MX" dirty="0"/>
              <a:t>Traductor</a:t>
            </a:r>
            <a:endParaRPr lang="es-CO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4CCB837C-C1A8-4BC7-920F-6F33C677A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73" y="1412776"/>
            <a:ext cx="8286750" cy="3816424"/>
          </a:xfrm>
        </p:spPr>
        <p:txBody>
          <a:bodyPr>
            <a:normAutofit fontScale="92500" lnSpcReduction="10000"/>
          </a:bodyPr>
          <a:lstStyle/>
          <a:p>
            <a:r>
              <a:rPr lang="es-MX" sz="2400" dirty="0"/>
              <a:t>Programa que traduce un programa escrito en un lenguaje de alto nivel al lenguaje de máquina, para poder ser ejecutado por el computador.</a:t>
            </a:r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r>
              <a:rPr lang="es-CO" sz="2400" dirty="0"/>
              <a:t>Dos tipos de traductores: </a:t>
            </a:r>
            <a:r>
              <a:rPr lang="es-CO" sz="2400" b="1" dirty="0">
                <a:solidFill>
                  <a:schemeClr val="accent5"/>
                </a:solidFill>
              </a:rPr>
              <a:t>compilador</a:t>
            </a:r>
            <a:r>
              <a:rPr lang="es-CO" sz="2400" dirty="0">
                <a:solidFill>
                  <a:schemeClr val="accent5"/>
                </a:solidFill>
              </a:rPr>
              <a:t> </a:t>
            </a:r>
            <a:r>
              <a:rPr lang="es-CO" sz="2400" dirty="0"/>
              <a:t>e </a:t>
            </a:r>
            <a:r>
              <a:rPr lang="es-CO" sz="2400" b="1" dirty="0">
                <a:solidFill>
                  <a:schemeClr val="accent5"/>
                </a:solidFill>
              </a:rPr>
              <a:t>intérprete</a:t>
            </a:r>
            <a:endParaRPr lang="en-US" sz="2400" b="1" dirty="0">
              <a:solidFill>
                <a:schemeClr val="accent5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45814DF-F3E2-4453-90A0-20DFE02B00A7}"/>
              </a:ext>
            </a:extLst>
          </p:cNvPr>
          <p:cNvGrpSpPr/>
          <p:nvPr/>
        </p:nvGrpSpPr>
        <p:grpSpPr>
          <a:xfrm>
            <a:off x="1650317" y="2864346"/>
            <a:ext cx="5314950" cy="1428750"/>
            <a:chOff x="2228557" y="2880454"/>
            <a:chExt cx="7086600" cy="1905000"/>
          </a:xfrm>
        </p:grpSpPr>
        <p:cxnSp>
          <p:nvCxnSpPr>
            <p:cNvPr id="15" name="Straight Arrow Connector 6">
              <a:extLst>
                <a:ext uri="{FF2B5EF4-FFF2-40B4-BE49-F238E27FC236}">
                  <a16:creationId xmlns:a16="http://schemas.microsoft.com/office/drawing/2014/main" id="{5B4841F5-3701-4544-BC60-2F4EE890C40A}"/>
                </a:ext>
              </a:extLst>
            </p:cNvPr>
            <p:cNvCxnSpPr/>
            <p:nvPr/>
          </p:nvCxnSpPr>
          <p:spPr>
            <a:xfrm>
              <a:off x="3295357" y="3261454"/>
              <a:ext cx="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9">
              <a:extLst>
                <a:ext uri="{FF2B5EF4-FFF2-40B4-BE49-F238E27FC236}">
                  <a16:creationId xmlns:a16="http://schemas.microsoft.com/office/drawing/2014/main" id="{89E92763-02FE-460B-BB9C-26CCDEFE9186}"/>
                </a:ext>
              </a:extLst>
            </p:cNvPr>
            <p:cNvCxnSpPr/>
            <p:nvPr/>
          </p:nvCxnSpPr>
          <p:spPr>
            <a:xfrm>
              <a:off x="3600157" y="3261454"/>
              <a:ext cx="152400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21">
              <a:extLst>
                <a:ext uri="{FF2B5EF4-FFF2-40B4-BE49-F238E27FC236}">
                  <a16:creationId xmlns:a16="http://schemas.microsoft.com/office/drawing/2014/main" id="{85D4B849-8573-46E6-9023-23A94C3D4692}"/>
                </a:ext>
              </a:extLst>
            </p:cNvPr>
            <p:cNvCxnSpPr/>
            <p:nvPr/>
          </p:nvCxnSpPr>
          <p:spPr>
            <a:xfrm>
              <a:off x="3981157" y="3261454"/>
              <a:ext cx="342900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24">
              <a:extLst>
                <a:ext uri="{FF2B5EF4-FFF2-40B4-BE49-F238E27FC236}">
                  <a16:creationId xmlns:a16="http://schemas.microsoft.com/office/drawing/2014/main" id="{820B89E1-0F9F-4B58-B9D6-C926141FD510}"/>
                </a:ext>
              </a:extLst>
            </p:cNvPr>
            <p:cNvCxnSpPr/>
            <p:nvPr/>
          </p:nvCxnSpPr>
          <p:spPr>
            <a:xfrm>
              <a:off x="6114757" y="3261454"/>
              <a:ext cx="175260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28">
              <a:extLst>
                <a:ext uri="{FF2B5EF4-FFF2-40B4-BE49-F238E27FC236}">
                  <a16:creationId xmlns:a16="http://schemas.microsoft.com/office/drawing/2014/main" id="{371CC942-DDF2-4022-A00C-99BFF50F6C95}"/>
                </a:ext>
              </a:extLst>
            </p:cNvPr>
            <p:cNvCxnSpPr/>
            <p:nvPr/>
          </p:nvCxnSpPr>
          <p:spPr>
            <a:xfrm>
              <a:off x="5733757" y="3261454"/>
              <a:ext cx="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29">
              <a:extLst>
                <a:ext uri="{FF2B5EF4-FFF2-40B4-BE49-F238E27FC236}">
                  <a16:creationId xmlns:a16="http://schemas.microsoft.com/office/drawing/2014/main" id="{713F2192-FAD3-40B4-8868-7F345C7D2186}"/>
                </a:ext>
              </a:extLst>
            </p:cNvPr>
            <p:cNvCxnSpPr/>
            <p:nvPr/>
          </p:nvCxnSpPr>
          <p:spPr>
            <a:xfrm>
              <a:off x="8172157" y="3261454"/>
              <a:ext cx="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30">
              <a:extLst>
                <a:ext uri="{FF2B5EF4-FFF2-40B4-BE49-F238E27FC236}">
                  <a16:creationId xmlns:a16="http://schemas.microsoft.com/office/drawing/2014/main" id="{C72376D6-BA0D-4F7F-9F15-8DCA09829A5F}"/>
                </a:ext>
              </a:extLst>
            </p:cNvPr>
            <p:cNvCxnSpPr/>
            <p:nvPr/>
          </p:nvCxnSpPr>
          <p:spPr>
            <a:xfrm flipH="1">
              <a:off x="3828757" y="3261454"/>
              <a:ext cx="152400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35">
              <a:extLst>
                <a:ext uri="{FF2B5EF4-FFF2-40B4-BE49-F238E27FC236}">
                  <a16:creationId xmlns:a16="http://schemas.microsoft.com/office/drawing/2014/main" id="{98858D11-5AD3-4ECA-BCCD-D7E7F7ACB197}"/>
                </a:ext>
              </a:extLst>
            </p:cNvPr>
            <p:cNvCxnSpPr/>
            <p:nvPr/>
          </p:nvCxnSpPr>
          <p:spPr>
            <a:xfrm flipH="1">
              <a:off x="6419557" y="3261454"/>
              <a:ext cx="144780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38">
              <a:extLst>
                <a:ext uri="{FF2B5EF4-FFF2-40B4-BE49-F238E27FC236}">
                  <a16:creationId xmlns:a16="http://schemas.microsoft.com/office/drawing/2014/main" id="{5F13D1C6-EA02-4373-A1A0-8D746C910007}"/>
                </a:ext>
              </a:extLst>
            </p:cNvPr>
            <p:cNvCxnSpPr/>
            <p:nvPr/>
          </p:nvCxnSpPr>
          <p:spPr>
            <a:xfrm flipH="1">
              <a:off x="4133557" y="3261454"/>
              <a:ext cx="3352800" cy="114300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7">
              <a:extLst>
                <a:ext uri="{FF2B5EF4-FFF2-40B4-BE49-F238E27FC236}">
                  <a16:creationId xmlns:a16="http://schemas.microsoft.com/office/drawing/2014/main" id="{B83BC804-3D38-4393-A2FF-499A1BED420C}"/>
                </a:ext>
              </a:extLst>
            </p:cNvPr>
            <p:cNvSpPr/>
            <p:nvPr/>
          </p:nvSpPr>
          <p:spPr>
            <a:xfrm>
              <a:off x="2228557" y="2880454"/>
              <a:ext cx="2209800" cy="381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200" dirty="0"/>
                <a:t>C</a:t>
              </a:r>
              <a:r>
                <a:rPr lang="en-US" sz="1200" dirty="0"/>
                <a:t>++</a:t>
              </a:r>
            </a:p>
          </p:txBody>
        </p:sp>
        <p:sp>
          <p:nvSpPr>
            <p:cNvPr id="25" name="Rounded Rectangle 8">
              <a:extLst>
                <a:ext uri="{FF2B5EF4-FFF2-40B4-BE49-F238E27FC236}">
                  <a16:creationId xmlns:a16="http://schemas.microsoft.com/office/drawing/2014/main" id="{F8C596B1-73F4-4BC0-8736-121015DE5177}"/>
                </a:ext>
              </a:extLst>
            </p:cNvPr>
            <p:cNvSpPr/>
            <p:nvPr/>
          </p:nvSpPr>
          <p:spPr>
            <a:xfrm>
              <a:off x="4666957" y="2880454"/>
              <a:ext cx="2209800" cy="381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Python</a:t>
              </a:r>
            </a:p>
          </p:txBody>
        </p:sp>
        <p:sp>
          <p:nvSpPr>
            <p:cNvPr id="26" name="Rounded Rectangle 9">
              <a:extLst>
                <a:ext uri="{FF2B5EF4-FFF2-40B4-BE49-F238E27FC236}">
                  <a16:creationId xmlns:a16="http://schemas.microsoft.com/office/drawing/2014/main" id="{00586342-23E9-45DB-9629-44FB7B07879B}"/>
                </a:ext>
              </a:extLst>
            </p:cNvPr>
            <p:cNvSpPr/>
            <p:nvPr/>
          </p:nvSpPr>
          <p:spPr>
            <a:xfrm>
              <a:off x="7105357" y="2880454"/>
              <a:ext cx="2209800" cy="381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200" dirty="0"/>
                <a:t>FORTRAN</a:t>
              </a:r>
              <a:endParaRPr lang="en-US" sz="1200" dirty="0"/>
            </a:p>
          </p:txBody>
        </p:sp>
        <p:sp>
          <p:nvSpPr>
            <p:cNvPr id="27" name="Rounded Rectangle 12">
              <a:extLst>
                <a:ext uri="{FF2B5EF4-FFF2-40B4-BE49-F238E27FC236}">
                  <a16:creationId xmlns:a16="http://schemas.microsoft.com/office/drawing/2014/main" id="{CF271080-0ABC-418C-B64B-405B6C535657}"/>
                </a:ext>
              </a:extLst>
            </p:cNvPr>
            <p:cNvSpPr/>
            <p:nvPr/>
          </p:nvSpPr>
          <p:spPr>
            <a:xfrm>
              <a:off x="2228557" y="4404454"/>
              <a:ext cx="2209800" cy="38100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200" dirty="0"/>
                <a:t>Automóvil</a:t>
              </a:r>
              <a:endParaRPr lang="en-US" sz="1050" dirty="0"/>
            </a:p>
          </p:txBody>
        </p:sp>
        <p:sp>
          <p:nvSpPr>
            <p:cNvPr id="28" name="Rounded Rectangle 13">
              <a:extLst>
                <a:ext uri="{FF2B5EF4-FFF2-40B4-BE49-F238E27FC236}">
                  <a16:creationId xmlns:a16="http://schemas.microsoft.com/office/drawing/2014/main" id="{597705CD-2243-4CB9-9784-1423929BA098}"/>
                </a:ext>
              </a:extLst>
            </p:cNvPr>
            <p:cNvSpPr/>
            <p:nvPr/>
          </p:nvSpPr>
          <p:spPr>
            <a:xfrm>
              <a:off x="4666957" y="4404454"/>
              <a:ext cx="2209800" cy="381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200" dirty="0"/>
                <a:t>Computador</a:t>
              </a:r>
              <a:endParaRPr lang="en-US" sz="1200" dirty="0"/>
            </a:p>
          </p:txBody>
        </p:sp>
        <p:sp>
          <p:nvSpPr>
            <p:cNvPr id="29" name="Rounded Rectangle 14">
              <a:extLst>
                <a:ext uri="{FF2B5EF4-FFF2-40B4-BE49-F238E27FC236}">
                  <a16:creationId xmlns:a16="http://schemas.microsoft.com/office/drawing/2014/main" id="{65D3C606-7692-4649-8BF4-989A1FF16EE5}"/>
                </a:ext>
              </a:extLst>
            </p:cNvPr>
            <p:cNvSpPr/>
            <p:nvPr/>
          </p:nvSpPr>
          <p:spPr>
            <a:xfrm>
              <a:off x="7105357" y="4404454"/>
              <a:ext cx="2209800" cy="381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200" dirty="0"/>
                <a:t>Celular</a:t>
              </a:r>
              <a:endParaRPr lang="en-US" sz="1200" dirty="0"/>
            </a:p>
          </p:txBody>
        </p:sp>
        <p:cxnSp>
          <p:nvCxnSpPr>
            <p:cNvPr id="30" name="Straight Arrow Connector 41">
              <a:extLst>
                <a:ext uri="{FF2B5EF4-FFF2-40B4-BE49-F238E27FC236}">
                  <a16:creationId xmlns:a16="http://schemas.microsoft.com/office/drawing/2014/main" id="{D3391E82-5F75-4F1C-A779-DECC94A36A5A}"/>
                </a:ext>
              </a:extLst>
            </p:cNvPr>
            <p:cNvCxnSpPr/>
            <p:nvPr/>
          </p:nvCxnSpPr>
          <p:spPr>
            <a:xfrm>
              <a:off x="2761957" y="3261454"/>
              <a:ext cx="0" cy="114300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D4BA89AF-B0C6-4980-8BB4-36E0E188A782}"/>
                </a:ext>
              </a:extLst>
            </p:cNvPr>
            <p:cNvSpPr txBox="1"/>
            <p:nvPr/>
          </p:nvSpPr>
          <p:spPr>
            <a:xfrm>
              <a:off x="2228557" y="3330103"/>
              <a:ext cx="708660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500" b="1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TRADUCTOR</a:t>
              </a:r>
              <a:endParaRPr lang="es-CO" sz="4500" b="1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836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332656"/>
            <a:ext cx="7886700" cy="837405"/>
          </a:xfrm>
        </p:spPr>
        <p:txBody>
          <a:bodyPr/>
          <a:lstStyle/>
          <a:p>
            <a:r>
              <a:rPr lang="es-MX" dirty="0"/>
              <a:t>Interprete .vs. Compilador</a:t>
            </a:r>
            <a:endParaRPr lang="es-CO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4CCB837C-C1A8-4BC7-920F-6F33C677A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469" y="1163868"/>
            <a:ext cx="8413359" cy="1105427"/>
          </a:xfrm>
        </p:spPr>
        <p:txBody>
          <a:bodyPr>
            <a:normAutofit/>
          </a:bodyPr>
          <a:lstStyle/>
          <a:p>
            <a:r>
              <a:rPr lang="es-CO" sz="2400" b="1" dirty="0"/>
              <a:t>Intérprete</a:t>
            </a:r>
            <a:r>
              <a:rPr lang="es-CO" sz="2400" dirty="0"/>
              <a:t>: actúa en tiempo de ejecución (</a:t>
            </a:r>
            <a:r>
              <a:rPr lang="es-CO" sz="2400" b="1" dirty="0" err="1">
                <a:solidFill>
                  <a:schemeClr val="accent2"/>
                </a:solidFill>
              </a:rPr>
              <a:t>runtime</a:t>
            </a:r>
            <a:r>
              <a:rPr lang="es-CO" sz="2400" dirty="0"/>
              <a:t>)</a:t>
            </a:r>
          </a:p>
          <a:p>
            <a:r>
              <a:rPr lang="en-US" sz="2400" b="1" dirty="0"/>
              <a:t>Compilador</a:t>
            </a:r>
            <a:r>
              <a:rPr lang="en-US" sz="2400" dirty="0"/>
              <a:t>: traducci</a:t>
            </a:r>
            <a:r>
              <a:rPr lang="es-CO" sz="2400" dirty="0" err="1"/>
              <a:t>ón</a:t>
            </a:r>
            <a:r>
              <a:rPr lang="es-CO" sz="2400" dirty="0"/>
              <a:t> completa </a:t>
            </a:r>
            <a:r>
              <a:rPr lang="es-CO" sz="2400" b="1" dirty="0">
                <a:solidFill>
                  <a:schemeClr val="accent3"/>
                </a:solidFill>
              </a:rPr>
              <a:t>antes</a:t>
            </a:r>
            <a:r>
              <a:rPr lang="es-CO" sz="2400" dirty="0">
                <a:solidFill>
                  <a:schemeClr val="accent3"/>
                </a:solidFill>
              </a:rPr>
              <a:t> </a:t>
            </a:r>
            <a:r>
              <a:rPr lang="es-CO" sz="2400" dirty="0"/>
              <a:t>de ejecución</a:t>
            </a:r>
            <a:endParaRPr lang="en-US" sz="2400" dirty="0"/>
          </a:p>
          <a:p>
            <a:endParaRPr lang="es-MX" sz="1800" dirty="0"/>
          </a:p>
          <a:p>
            <a:endParaRPr lang="es-MX" sz="1800" dirty="0"/>
          </a:p>
          <a:p>
            <a:endParaRPr lang="es-MX" sz="1800" dirty="0"/>
          </a:p>
          <a:p>
            <a:endParaRPr lang="es-MX" sz="1800" dirty="0"/>
          </a:p>
          <a:p>
            <a:endParaRPr lang="es-MX" sz="1800" dirty="0"/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4CD04FB6-0477-4AE9-B6CF-86A8889BE9C8}"/>
              </a:ext>
            </a:extLst>
          </p:cNvPr>
          <p:cNvGrpSpPr/>
          <p:nvPr/>
        </p:nvGrpSpPr>
        <p:grpSpPr>
          <a:xfrm>
            <a:off x="3419873" y="2348880"/>
            <a:ext cx="1683314" cy="4043758"/>
            <a:chOff x="1187624" y="2590800"/>
            <a:chExt cx="1524000" cy="3911261"/>
          </a:xfrm>
        </p:grpSpPr>
        <p:sp>
          <p:nvSpPr>
            <p:cNvPr id="67" name="Flowchart: Process 22">
              <a:extLst>
                <a:ext uri="{FF2B5EF4-FFF2-40B4-BE49-F238E27FC236}">
                  <a16:creationId xmlns:a16="http://schemas.microsoft.com/office/drawing/2014/main" id="{9EE66BF5-1B63-4B0A-9A00-A1BF12760422}"/>
                </a:ext>
              </a:extLst>
            </p:cNvPr>
            <p:cNvSpPr/>
            <p:nvPr/>
          </p:nvSpPr>
          <p:spPr>
            <a:xfrm>
              <a:off x="1409056" y="2590800"/>
              <a:ext cx="1038944" cy="22860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accent5"/>
                  </a:solidFill>
                </a:rPr>
                <a:t>myprog.c</a:t>
              </a:r>
              <a:endParaRPr lang="en-US" sz="1000" dirty="0">
                <a:solidFill>
                  <a:schemeClr val="accent5"/>
                </a:solidFill>
              </a:endParaRPr>
            </a:p>
          </p:txBody>
        </p:sp>
        <p:sp>
          <p:nvSpPr>
            <p:cNvPr id="68" name="Rounded Rectangle 23">
              <a:extLst>
                <a:ext uri="{FF2B5EF4-FFF2-40B4-BE49-F238E27FC236}">
                  <a16:creationId xmlns:a16="http://schemas.microsoft.com/office/drawing/2014/main" id="{A3F2A635-CB70-4B72-B044-5C6890F1B542}"/>
                </a:ext>
              </a:extLst>
            </p:cNvPr>
            <p:cNvSpPr/>
            <p:nvPr/>
          </p:nvSpPr>
          <p:spPr>
            <a:xfrm>
              <a:off x="1409056" y="2819400"/>
              <a:ext cx="1110952" cy="9144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s-CO" sz="700" dirty="0" err="1">
                  <a:solidFill>
                    <a:prstClr val="white"/>
                  </a:solidFill>
                </a:rPr>
                <a:t>int</a:t>
              </a:r>
              <a:r>
                <a:rPr lang="es-CO" sz="700" dirty="0">
                  <a:solidFill>
                    <a:prstClr val="white"/>
                  </a:solidFill>
                </a:rPr>
                <a:t> </a:t>
              </a:r>
              <a:r>
                <a:rPr lang="es-CO" sz="700" dirty="0" err="1">
                  <a:solidFill>
                    <a:prstClr val="white"/>
                  </a:solidFill>
                </a:rPr>
                <a:t>main</a:t>
              </a:r>
              <a:r>
                <a:rPr lang="es-CO" sz="700" dirty="0">
                  <a:solidFill>
                    <a:prstClr val="white"/>
                  </a:solidFill>
                </a:rPr>
                <a:t>(</a:t>
              </a:r>
              <a:r>
                <a:rPr lang="es-CO" sz="700" dirty="0" err="1">
                  <a:solidFill>
                    <a:prstClr val="white"/>
                  </a:solidFill>
                </a:rPr>
                <a:t>void</a:t>
              </a:r>
              <a:r>
                <a:rPr lang="en-US" sz="700" dirty="0">
                  <a:solidFill>
                    <a:prstClr val="white"/>
                  </a:solidFill>
                </a:rPr>
                <a:t>){</a:t>
              </a:r>
            </a:p>
            <a:p>
              <a:pPr lvl="0"/>
              <a:r>
                <a:rPr lang="en-US" sz="700" dirty="0" err="1">
                  <a:solidFill>
                    <a:prstClr val="white"/>
                  </a:solidFill>
                </a:rPr>
                <a:t>int</a:t>
              </a:r>
              <a:r>
                <a:rPr lang="en-US" sz="700" dirty="0">
                  <a:solidFill>
                    <a:prstClr val="white"/>
                  </a:solidFill>
                </a:rPr>
                <a:t> a, b;</a:t>
              </a:r>
            </a:p>
            <a:p>
              <a:pPr lvl="0"/>
              <a:r>
                <a:rPr lang="en-US" sz="700" dirty="0">
                  <a:solidFill>
                    <a:prstClr val="white"/>
                  </a:solidFill>
                </a:rPr>
                <a:t>a = 3;</a:t>
              </a:r>
            </a:p>
            <a:p>
              <a:pPr lvl="0"/>
              <a:r>
                <a:rPr lang="en-US" sz="700" dirty="0" err="1">
                  <a:solidFill>
                    <a:prstClr val="white"/>
                  </a:solidFill>
                </a:rPr>
                <a:t>printf</a:t>
              </a:r>
              <a:r>
                <a:rPr lang="en-US" sz="700" dirty="0">
                  <a:solidFill>
                    <a:prstClr val="white"/>
                  </a:solidFill>
                </a:rPr>
                <a:t>(“a=%d”, a);</a:t>
              </a:r>
            </a:p>
            <a:p>
              <a:pPr lvl="0"/>
              <a:r>
                <a:rPr lang="en-US" sz="700" dirty="0">
                  <a:solidFill>
                    <a:prstClr val="white"/>
                  </a:solidFill>
                </a:rPr>
                <a:t>exit(0);</a:t>
              </a:r>
            </a:p>
            <a:p>
              <a:pPr lvl="0"/>
              <a:r>
                <a:rPr lang="en-US" sz="700" dirty="0">
                  <a:solidFill>
                    <a:prstClr val="white"/>
                  </a:solidFill>
                </a:rPr>
                <a:t>}</a:t>
              </a:r>
            </a:p>
          </p:txBody>
        </p:sp>
        <p:sp>
          <p:nvSpPr>
            <p:cNvPr id="69" name="Down Arrow 25">
              <a:extLst>
                <a:ext uri="{FF2B5EF4-FFF2-40B4-BE49-F238E27FC236}">
                  <a16:creationId xmlns:a16="http://schemas.microsoft.com/office/drawing/2014/main" id="{D0AD90CD-4506-4A61-856A-BFAEEA3426CB}"/>
                </a:ext>
              </a:extLst>
            </p:cNvPr>
            <p:cNvSpPr/>
            <p:nvPr/>
          </p:nvSpPr>
          <p:spPr>
            <a:xfrm>
              <a:off x="1187624" y="3810000"/>
              <a:ext cx="1524000" cy="533400"/>
            </a:xfrm>
            <a:prstGeom prst="downArrow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latin typeface="Arial Narrow" pitchFamily="34" charset="0"/>
                </a:rPr>
                <a:t>COMPILADOR</a:t>
              </a:r>
            </a:p>
          </p:txBody>
        </p:sp>
        <p:sp>
          <p:nvSpPr>
            <p:cNvPr id="70" name="Flowchart: Process 26">
              <a:extLst>
                <a:ext uri="{FF2B5EF4-FFF2-40B4-BE49-F238E27FC236}">
                  <a16:creationId xmlns:a16="http://schemas.microsoft.com/office/drawing/2014/main" id="{0F5F5FE6-B0D5-48BD-9FDE-2DA031F2C595}"/>
                </a:ext>
              </a:extLst>
            </p:cNvPr>
            <p:cNvSpPr/>
            <p:nvPr/>
          </p:nvSpPr>
          <p:spPr>
            <a:xfrm>
              <a:off x="1367880" y="4343400"/>
              <a:ext cx="1152128" cy="22860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</a:rPr>
                <a:t>myprog.exe</a:t>
              </a:r>
              <a:endParaRPr lang="en-US" sz="1000" dirty="0">
                <a:solidFill>
                  <a:schemeClr val="accent5"/>
                </a:solidFill>
              </a:endParaRPr>
            </a:p>
          </p:txBody>
        </p:sp>
        <p:sp>
          <p:nvSpPr>
            <p:cNvPr id="71" name="Rounded Rectangle 27">
              <a:extLst>
                <a:ext uri="{FF2B5EF4-FFF2-40B4-BE49-F238E27FC236}">
                  <a16:creationId xmlns:a16="http://schemas.microsoft.com/office/drawing/2014/main" id="{41251B57-685E-47D4-9D16-2AA28ECC4447}"/>
                </a:ext>
              </a:extLst>
            </p:cNvPr>
            <p:cNvSpPr/>
            <p:nvPr/>
          </p:nvSpPr>
          <p:spPr>
            <a:xfrm>
              <a:off x="1492424" y="4572000"/>
              <a:ext cx="914400" cy="6096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sz="700" dirty="0">
                  <a:solidFill>
                    <a:prstClr val="white"/>
                  </a:solidFill>
                </a:rPr>
                <a:t>010100100101010100101010001111010100101010001010100101101001</a:t>
              </a:r>
            </a:p>
          </p:txBody>
        </p:sp>
        <p:sp>
          <p:nvSpPr>
            <p:cNvPr id="72" name="Down Arrow 31">
              <a:extLst>
                <a:ext uri="{FF2B5EF4-FFF2-40B4-BE49-F238E27FC236}">
                  <a16:creationId xmlns:a16="http://schemas.microsoft.com/office/drawing/2014/main" id="{4FBDCDAC-0264-44E4-A9D9-E0FC9716C9CA}"/>
                </a:ext>
              </a:extLst>
            </p:cNvPr>
            <p:cNvSpPr/>
            <p:nvPr/>
          </p:nvSpPr>
          <p:spPr>
            <a:xfrm>
              <a:off x="1187624" y="5257800"/>
              <a:ext cx="1524000" cy="5334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latin typeface="Arial Narrow" pitchFamily="34" charset="0"/>
                </a:rPr>
                <a:t>COMPUTADOR</a:t>
              </a:r>
              <a:br>
                <a:rPr lang="en-US" sz="900" b="1" dirty="0">
                  <a:latin typeface="Arial Narrow" pitchFamily="34" charset="0"/>
                </a:rPr>
              </a:br>
              <a:r>
                <a:rPr lang="en-US" sz="900" b="1" dirty="0">
                  <a:latin typeface="Arial Narrow" pitchFamily="34" charset="0"/>
                </a:rPr>
                <a:t>(Hardware)</a:t>
              </a:r>
            </a:p>
          </p:txBody>
        </p:sp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E5FA86CD-DC1E-49F6-9FBE-9C711174DAA0}"/>
                </a:ext>
              </a:extLst>
            </p:cNvPr>
            <p:cNvGrpSpPr/>
            <p:nvPr/>
          </p:nvGrpSpPr>
          <p:grpSpPr>
            <a:xfrm>
              <a:off x="1562944" y="5879014"/>
              <a:ext cx="762000" cy="623047"/>
              <a:chOff x="1567408" y="5868835"/>
              <a:chExt cx="762000" cy="623047"/>
            </a:xfrm>
          </p:grpSpPr>
          <p:sp>
            <p:nvSpPr>
              <p:cNvPr id="74" name="Rectangle 32">
                <a:extLst>
                  <a:ext uri="{FF2B5EF4-FFF2-40B4-BE49-F238E27FC236}">
                    <a16:creationId xmlns:a16="http://schemas.microsoft.com/office/drawing/2014/main" id="{A73571B5-EE73-47D0-8D48-A7E16B3DCF0A}"/>
                  </a:ext>
                </a:extLst>
              </p:cNvPr>
              <p:cNvSpPr/>
              <p:nvPr/>
            </p:nvSpPr>
            <p:spPr>
              <a:xfrm>
                <a:off x="1567408" y="5868835"/>
                <a:ext cx="762000" cy="53340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5" name="Rectangle 33">
                <a:extLst>
                  <a:ext uri="{FF2B5EF4-FFF2-40B4-BE49-F238E27FC236}">
                    <a16:creationId xmlns:a16="http://schemas.microsoft.com/office/drawing/2014/main" id="{4DB924BB-23ED-48B4-9FDF-D06135C6500E}"/>
                  </a:ext>
                </a:extLst>
              </p:cNvPr>
              <p:cNvSpPr/>
              <p:nvPr/>
            </p:nvSpPr>
            <p:spPr>
              <a:xfrm>
                <a:off x="1643608" y="5925985"/>
                <a:ext cx="623455" cy="40005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hola</a:t>
                </a:r>
                <a:endParaRPr lang="en-US" sz="1600" dirty="0"/>
              </a:p>
            </p:txBody>
          </p:sp>
          <p:sp>
            <p:nvSpPr>
              <p:cNvPr id="76" name="Triángulo isósceles 75">
                <a:extLst>
                  <a:ext uri="{FF2B5EF4-FFF2-40B4-BE49-F238E27FC236}">
                    <a16:creationId xmlns:a16="http://schemas.microsoft.com/office/drawing/2014/main" id="{754AAE86-C4D7-45D9-AD01-A7FF428BCDE5}"/>
                  </a:ext>
                </a:extLst>
              </p:cNvPr>
              <p:cNvSpPr/>
              <p:nvPr/>
            </p:nvSpPr>
            <p:spPr>
              <a:xfrm>
                <a:off x="1763688" y="6419874"/>
                <a:ext cx="370384" cy="72008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600"/>
              </a:p>
            </p:txBody>
          </p:sp>
        </p:grp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1C8642C4-C816-409B-8F4F-F4C109B0D4B0}"/>
              </a:ext>
            </a:extLst>
          </p:cNvPr>
          <p:cNvGrpSpPr/>
          <p:nvPr/>
        </p:nvGrpSpPr>
        <p:grpSpPr>
          <a:xfrm>
            <a:off x="1637675" y="2348880"/>
            <a:ext cx="1683314" cy="4041956"/>
            <a:chOff x="3778424" y="2590800"/>
            <a:chExt cx="1524000" cy="3909519"/>
          </a:xfrm>
        </p:grpSpPr>
        <p:grpSp>
          <p:nvGrpSpPr>
            <p:cNvPr id="78" name="6 Grupo">
              <a:extLst>
                <a:ext uri="{FF2B5EF4-FFF2-40B4-BE49-F238E27FC236}">
                  <a16:creationId xmlns:a16="http://schemas.microsoft.com/office/drawing/2014/main" id="{CF2ADA66-E79D-49AA-BDE4-9736FE73BEAF}"/>
                </a:ext>
              </a:extLst>
            </p:cNvPr>
            <p:cNvGrpSpPr/>
            <p:nvPr/>
          </p:nvGrpSpPr>
          <p:grpSpPr>
            <a:xfrm>
              <a:off x="3778424" y="2590800"/>
              <a:ext cx="1524000" cy="3200400"/>
              <a:chOff x="3886200" y="2590800"/>
              <a:chExt cx="1524000" cy="3200400"/>
            </a:xfrm>
          </p:grpSpPr>
          <p:sp>
            <p:nvSpPr>
              <p:cNvPr id="83" name="Flowchart: Process 34">
                <a:extLst>
                  <a:ext uri="{FF2B5EF4-FFF2-40B4-BE49-F238E27FC236}">
                    <a16:creationId xmlns:a16="http://schemas.microsoft.com/office/drawing/2014/main" id="{18033088-1CFF-4315-A3A2-7A68648E4CA0}"/>
                  </a:ext>
                </a:extLst>
              </p:cNvPr>
              <p:cNvSpPr/>
              <p:nvPr/>
            </p:nvSpPr>
            <p:spPr>
              <a:xfrm>
                <a:off x="4067944" y="2590800"/>
                <a:ext cx="1224136" cy="228600"/>
              </a:xfrm>
              <a:prstGeom prst="flowChartProces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50" dirty="0">
                    <a:solidFill>
                      <a:schemeClr val="accent5"/>
                    </a:solidFill>
                  </a:rPr>
                  <a:t>myprog.py</a:t>
                </a:r>
                <a:endParaRPr lang="en-US" sz="1000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84" name="Rounded Rectangle 36">
                <a:extLst>
                  <a:ext uri="{FF2B5EF4-FFF2-40B4-BE49-F238E27FC236}">
                    <a16:creationId xmlns:a16="http://schemas.microsoft.com/office/drawing/2014/main" id="{E8560739-4DBD-4457-9326-6BF2920DB92F}"/>
                  </a:ext>
                </a:extLst>
              </p:cNvPr>
              <p:cNvSpPr/>
              <p:nvPr/>
            </p:nvSpPr>
            <p:spPr>
              <a:xfrm>
                <a:off x="4067944" y="2819400"/>
                <a:ext cx="1201959" cy="91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lvl="0"/>
                <a:r>
                  <a:rPr lang="es-CO" sz="700" dirty="0">
                    <a:solidFill>
                      <a:prstClr val="white"/>
                    </a:solidFill>
                  </a:rPr>
                  <a:t>b </a:t>
                </a:r>
                <a:r>
                  <a:rPr lang="en-US" sz="700" dirty="0">
                    <a:solidFill>
                      <a:prstClr val="white"/>
                    </a:solidFill>
                  </a:rPr>
                  <a:t>= 1</a:t>
                </a:r>
                <a:endParaRPr lang="es-CO" sz="700" dirty="0">
                  <a:solidFill>
                    <a:prstClr val="white"/>
                  </a:solidFill>
                </a:endParaRPr>
              </a:p>
              <a:p>
                <a:pPr lvl="0"/>
                <a:r>
                  <a:rPr lang="es-CO" sz="700" dirty="0" err="1">
                    <a:solidFill>
                      <a:prstClr val="white"/>
                    </a:solidFill>
                  </a:rPr>
                  <a:t>vec</a:t>
                </a:r>
                <a:r>
                  <a:rPr lang="es-CO" sz="700" dirty="0">
                    <a:solidFill>
                      <a:prstClr val="white"/>
                    </a:solidFill>
                  </a:rPr>
                  <a:t>[a] =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func</a:t>
                </a:r>
                <a:r>
                  <a:rPr lang="es-CO" sz="700" dirty="0">
                    <a:solidFill>
                      <a:prstClr val="white"/>
                    </a:solidFill>
                  </a:rPr>
                  <a:t>(b)</a:t>
                </a:r>
                <a:endParaRPr lang="en-US" sz="700" dirty="0">
                  <a:solidFill>
                    <a:prstClr val="white"/>
                  </a:solidFill>
                </a:endParaRPr>
              </a:p>
              <a:p>
                <a:pPr lvl="0"/>
                <a:r>
                  <a:rPr lang="en-US" sz="700" dirty="0">
                    <a:solidFill>
                      <a:prstClr val="white"/>
                    </a:solidFill>
                  </a:rPr>
                  <a:t>a = b+ 1</a:t>
                </a:r>
              </a:p>
              <a:p>
                <a:pPr lvl="0"/>
                <a:r>
                  <a:rPr lang="en-US" sz="700" dirty="0">
                    <a:solidFill>
                      <a:prstClr val="white"/>
                    </a:solidFill>
                  </a:rPr>
                  <a:t>if a==10:</a:t>
                </a:r>
              </a:p>
              <a:p>
                <a:pPr lvl="0"/>
                <a:r>
                  <a:rPr lang="en-US" sz="700" dirty="0">
                    <a:solidFill>
                      <a:prstClr val="white"/>
                    </a:solidFill>
                  </a:rPr>
                  <a:t>   b = 0</a:t>
                </a:r>
              </a:p>
              <a:p>
                <a:pPr lvl="0"/>
                <a:r>
                  <a:rPr lang="en-US" sz="700" dirty="0">
                    <a:solidFill>
                      <a:prstClr val="white"/>
                    </a:solidFill>
                  </a:rPr>
                  <a:t>}</a:t>
                </a:r>
              </a:p>
              <a:p>
                <a:pPr lvl="0"/>
                <a:r>
                  <a:rPr lang="en-US" sz="700" dirty="0">
                    <a:solidFill>
                      <a:prstClr val="white"/>
                    </a:solidFill>
                  </a:rPr>
                  <a:t>print a</a:t>
                </a:r>
              </a:p>
            </p:txBody>
          </p:sp>
          <p:sp>
            <p:nvSpPr>
              <p:cNvPr id="85" name="Down Arrow 37">
                <a:extLst>
                  <a:ext uri="{FF2B5EF4-FFF2-40B4-BE49-F238E27FC236}">
                    <a16:creationId xmlns:a16="http://schemas.microsoft.com/office/drawing/2014/main" id="{400EAF6D-72C2-4AA5-8E36-AEAFB022610D}"/>
                  </a:ext>
                </a:extLst>
              </p:cNvPr>
              <p:cNvSpPr/>
              <p:nvPr/>
            </p:nvSpPr>
            <p:spPr>
              <a:xfrm>
                <a:off x="3886200" y="3810000"/>
                <a:ext cx="1524000" cy="1295400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900" b="1" dirty="0">
                    <a:latin typeface="Arial Narrow" pitchFamily="34" charset="0"/>
                  </a:rPr>
                  <a:t>INTÉRPRETE</a:t>
                </a:r>
              </a:p>
              <a:p>
                <a:pPr algn="ctr"/>
                <a:r>
                  <a:rPr lang="es-CO" sz="900" b="1" dirty="0">
                    <a:latin typeface="Arial Narrow" pitchFamily="34" charset="0"/>
                  </a:rPr>
                  <a:t>(</a:t>
                </a:r>
                <a:r>
                  <a:rPr lang="es-CO" sz="900" b="1" dirty="0" err="1">
                    <a:latin typeface="Arial Narrow" pitchFamily="34" charset="0"/>
                  </a:rPr>
                  <a:t>Python</a:t>
                </a:r>
                <a:r>
                  <a:rPr lang="es-CO" sz="900" b="1" dirty="0">
                    <a:latin typeface="Arial Narrow" pitchFamily="34" charset="0"/>
                  </a:rPr>
                  <a:t> </a:t>
                </a:r>
                <a:r>
                  <a:rPr lang="es-CO" sz="900" b="1" dirty="0" err="1">
                    <a:latin typeface="Arial Narrow" pitchFamily="34" charset="0"/>
                  </a:rPr>
                  <a:t>engine</a:t>
                </a:r>
                <a:r>
                  <a:rPr lang="es-CO" sz="900" b="1" dirty="0">
                    <a:latin typeface="Arial Narrow" pitchFamily="34" charset="0"/>
                  </a:rPr>
                  <a:t>)</a:t>
                </a:r>
                <a:endParaRPr lang="en-US" sz="900" b="1" dirty="0">
                  <a:latin typeface="Arial Narrow" pitchFamily="34" charset="0"/>
                </a:endParaRPr>
              </a:p>
            </p:txBody>
          </p:sp>
          <p:sp>
            <p:nvSpPr>
              <p:cNvPr id="86" name="Down Arrow 42">
                <a:extLst>
                  <a:ext uri="{FF2B5EF4-FFF2-40B4-BE49-F238E27FC236}">
                    <a16:creationId xmlns:a16="http://schemas.microsoft.com/office/drawing/2014/main" id="{588CCD26-8E09-4DDD-84B2-73C9D0C85B20}"/>
                  </a:ext>
                </a:extLst>
              </p:cNvPr>
              <p:cNvSpPr/>
              <p:nvPr/>
            </p:nvSpPr>
            <p:spPr>
              <a:xfrm>
                <a:off x="3886200" y="5257800"/>
                <a:ext cx="1524000" cy="533400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900" b="1" dirty="0">
                    <a:latin typeface="Arial Narrow" pitchFamily="34" charset="0"/>
                  </a:rPr>
                  <a:t>COMPUTADOR</a:t>
                </a:r>
                <a:br>
                  <a:rPr lang="en-US" sz="900" b="1" dirty="0">
                    <a:latin typeface="Arial Narrow" pitchFamily="34" charset="0"/>
                  </a:rPr>
                </a:br>
                <a:r>
                  <a:rPr lang="en-US" sz="900" b="1" dirty="0">
                    <a:latin typeface="Arial Narrow" pitchFamily="34" charset="0"/>
                  </a:rPr>
                  <a:t>(Hardware)</a:t>
                </a:r>
              </a:p>
            </p:txBody>
          </p:sp>
        </p:grp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E0B12A73-B810-4953-969C-F01A10E8A83A}"/>
                </a:ext>
              </a:extLst>
            </p:cNvPr>
            <p:cNvGrpSpPr/>
            <p:nvPr/>
          </p:nvGrpSpPr>
          <p:grpSpPr>
            <a:xfrm>
              <a:off x="4170040" y="5877272"/>
              <a:ext cx="762000" cy="623047"/>
              <a:chOff x="1567408" y="5868835"/>
              <a:chExt cx="762000" cy="623047"/>
            </a:xfrm>
          </p:grpSpPr>
          <p:sp>
            <p:nvSpPr>
              <p:cNvPr id="80" name="Rectangle 32">
                <a:extLst>
                  <a:ext uri="{FF2B5EF4-FFF2-40B4-BE49-F238E27FC236}">
                    <a16:creationId xmlns:a16="http://schemas.microsoft.com/office/drawing/2014/main" id="{ACB87FDB-8634-48C6-9160-9D1C444800BB}"/>
                  </a:ext>
                </a:extLst>
              </p:cNvPr>
              <p:cNvSpPr/>
              <p:nvPr/>
            </p:nvSpPr>
            <p:spPr>
              <a:xfrm>
                <a:off x="1567408" y="5868835"/>
                <a:ext cx="762000" cy="53340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81" name="Rectangle 33">
                <a:extLst>
                  <a:ext uri="{FF2B5EF4-FFF2-40B4-BE49-F238E27FC236}">
                    <a16:creationId xmlns:a16="http://schemas.microsoft.com/office/drawing/2014/main" id="{DE5C0B12-21EC-4D7F-83D4-471BC3D1CD63}"/>
                  </a:ext>
                </a:extLst>
              </p:cNvPr>
              <p:cNvSpPr/>
              <p:nvPr/>
            </p:nvSpPr>
            <p:spPr>
              <a:xfrm>
                <a:off x="1643608" y="5925985"/>
                <a:ext cx="623455" cy="40005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hola</a:t>
                </a:r>
                <a:endParaRPr lang="en-US" sz="1600" dirty="0"/>
              </a:p>
            </p:txBody>
          </p:sp>
          <p:sp>
            <p:nvSpPr>
              <p:cNvPr id="82" name="Triángulo isósceles 81">
                <a:extLst>
                  <a:ext uri="{FF2B5EF4-FFF2-40B4-BE49-F238E27FC236}">
                    <a16:creationId xmlns:a16="http://schemas.microsoft.com/office/drawing/2014/main" id="{4408A0BA-18F7-4108-8A4C-5773901766B5}"/>
                  </a:ext>
                </a:extLst>
              </p:cNvPr>
              <p:cNvSpPr/>
              <p:nvPr/>
            </p:nvSpPr>
            <p:spPr>
              <a:xfrm>
                <a:off x="1763688" y="6419874"/>
                <a:ext cx="370384" cy="72008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600"/>
              </a:p>
            </p:txBody>
          </p:sp>
        </p:grpSp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4C2A454A-E7BF-497E-B7C2-C4499F54A268}"/>
              </a:ext>
            </a:extLst>
          </p:cNvPr>
          <p:cNvGrpSpPr/>
          <p:nvPr/>
        </p:nvGrpSpPr>
        <p:grpSpPr>
          <a:xfrm>
            <a:off x="5264951" y="2348880"/>
            <a:ext cx="1683314" cy="4041956"/>
            <a:chOff x="6445424" y="2590800"/>
            <a:chExt cx="1524000" cy="3909519"/>
          </a:xfrm>
        </p:grpSpPr>
        <p:grpSp>
          <p:nvGrpSpPr>
            <p:cNvPr id="88" name="5 Grupo">
              <a:extLst>
                <a:ext uri="{FF2B5EF4-FFF2-40B4-BE49-F238E27FC236}">
                  <a16:creationId xmlns:a16="http://schemas.microsoft.com/office/drawing/2014/main" id="{39F2660F-A8C1-4565-834A-54B9D6071C1E}"/>
                </a:ext>
              </a:extLst>
            </p:cNvPr>
            <p:cNvGrpSpPr/>
            <p:nvPr/>
          </p:nvGrpSpPr>
          <p:grpSpPr>
            <a:xfrm>
              <a:off x="6445424" y="2590800"/>
              <a:ext cx="1524000" cy="3200400"/>
              <a:chOff x="6553200" y="2590800"/>
              <a:chExt cx="1524000" cy="3200400"/>
            </a:xfrm>
          </p:grpSpPr>
          <p:sp>
            <p:nvSpPr>
              <p:cNvPr id="93" name="Flowchart: Process 51">
                <a:extLst>
                  <a:ext uri="{FF2B5EF4-FFF2-40B4-BE49-F238E27FC236}">
                    <a16:creationId xmlns:a16="http://schemas.microsoft.com/office/drawing/2014/main" id="{3668C99D-CA70-4675-8DE1-65F1C9C4ED0B}"/>
                  </a:ext>
                </a:extLst>
              </p:cNvPr>
              <p:cNvSpPr/>
              <p:nvPr/>
            </p:nvSpPr>
            <p:spPr>
              <a:xfrm>
                <a:off x="6732240" y="2590800"/>
                <a:ext cx="1224136" cy="228600"/>
              </a:xfrm>
              <a:prstGeom prst="flowChartProces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50" dirty="0">
                    <a:solidFill>
                      <a:schemeClr val="accent5"/>
                    </a:solidFill>
                  </a:rPr>
                  <a:t>myprog.java</a:t>
                </a:r>
                <a:endParaRPr lang="en-US" sz="1000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94" name="Rounded Rectangle 52">
                <a:extLst>
                  <a:ext uri="{FF2B5EF4-FFF2-40B4-BE49-F238E27FC236}">
                    <a16:creationId xmlns:a16="http://schemas.microsoft.com/office/drawing/2014/main" id="{17E99555-8E1A-44C7-8D9C-8AAC3098A3C5}"/>
                  </a:ext>
                </a:extLst>
              </p:cNvPr>
              <p:cNvSpPr/>
              <p:nvPr/>
            </p:nvSpPr>
            <p:spPr>
              <a:xfrm>
                <a:off x="6732240" y="2819400"/>
                <a:ext cx="1224136" cy="6858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/>
                <a:r>
                  <a:rPr lang="es-CO" sz="700" dirty="0" err="1">
                    <a:solidFill>
                      <a:prstClr val="white"/>
                    </a:solidFill>
                  </a:rPr>
                  <a:t>public</a:t>
                </a:r>
                <a:r>
                  <a:rPr lang="es-CO" sz="700" dirty="0">
                    <a:solidFill>
                      <a:prstClr val="white"/>
                    </a:solidFill>
                  </a:rPr>
                  <a:t>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class</a:t>
                </a:r>
                <a:r>
                  <a:rPr lang="es-CO" sz="700" dirty="0">
                    <a:solidFill>
                      <a:prstClr val="white"/>
                    </a:solidFill>
                  </a:rPr>
                  <a:t>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HelloWorld</a:t>
                </a:r>
                <a:r>
                  <a:rPr lang="es-CO" sz="700" dirty="0">
                    <a:solidFill>
                      <a:prstClr val="white"/>
                    </a:solidFill>
                  </a:rPr>
                  <a:t> {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public</a:t>
                </a:r>
                <a:r>
                  <a:rPr lang="es-CO" sz="700" dirty="0">
                    <a:solidFill>
                      <a:prstClr val="white"/>
                    </a:solidFill>
                  </a:rPr>
                  <a:t>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static</a:t>
                </a:r>
                <a:r>
                  <a:rPr lang="es-CO" sz="700" dirty="0">
                    <a:solidFill>
                      <a:prstClr val="white"/>
                    </a:solidFill>
                  </a:rPr>
                  <a:t>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void</a:t>
                </a:r>
                <a:r>
                  <a:rPr lang="es-CO" sz="700" dirty="0">
                    <a:solidFill>
                      <a:prstClr val="white"/>
                    </a:solidFill>
                  </a:rPr>
                  <a:t>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main</a:t>
                </a:r>
                <a:r>
                  <a:rPr lang="es-CO" sz="700" dirty="0">
                    <a:solidFill>
                      <a:prstClr val="white"/>
                    </a:solidFill>
                  </a:rPr>
                  <a:t>(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String</a:t>
                </a:r>
                <a:r>
                  <a:rPr lang="es-CO" sz="700" dirty="0">
                    <a:solidFill>
                      <a:prstClr val="white"/>
                    </a:solidFill>
                  </a:rPr>
                  <a:t>[]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args</a:t>
                </a:r>
                <a:r>
                  <a:rPr lang="es-CO" sz="700" dirty="0">
                    <a:solidFill>
                      <a:prstClr val="white"/>
                    </a:solidFill>
                  </a:rPr>
                  <a:t>) { </a:t>
                </a:r>
                <a:r>
                  <a:rPr lang="es-CO" sz="700" dirty="0" err="1">
                    <a:solidFill>
                      <a:prstClr val="white"/>
                    </a:solidFill>
                  </a:rPr>
                  <a:t>System.out.println</a:t>
                </a:r>
                <a:r>
                  <a:rPr lang="es-CO" sz="700" dirty="0">
                    <a:solidFill>
                      <a:prstClr val="white"/>
                    </a:solidFill>
                  </a:rPr>
                  <a:t>(“a=3"); } }</a:t>
                </a:r>
                <a:endParaRPr lang="en-US" sz="7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Down Arrow 53">
                <a:extLst>
                  <a:ext uri="{FF2B5EF4-FFF2-40B4-BE49-F238E27FC236}">
                    <a16:creationId xmlns:a16="http://schemas.microsoft.com/office/drawing/2014/main" id="{E120F1AD-4634-46A2-B7C6-35C3BBFAAC1F}"/>
                  </a:ext>
                </a:extLst>
              </p:cNvPr>
              <p:cNvSpPr/>
              <p:nvPr/>
            </p:nvSpPr>
            <p:spPr>
              <a:xfrm>
                <a:off x="6553200" y="3581400"/>
                <a:ext cx="1524000" cy="381000"/>
              </a:xfrm>
              <a:prstGeom prst="downArrow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900" b="1" dirty="0">
                    <a:latin typeface="Arial Narrow" pitchFamily="34" charset="0"/>
                  </a:rPr>
                  <a:t>COMPILADOR</a:t>
                </a:r>
              </a:p>
              <a:p>
                <a:pPr algn="ctr"/>
                <a:r>
                  <a:rPr lang="en-US" sz="900" b="1" dirty="0">
                    <a:latin typeface="Arial Narrow" pitchFamily="34" charset="0"/>
                  </a:rPr>
                  <a:t>(a </a:t>
                </a:r>
                <a:r>
                  <a:rPr lang="en-US" sz="900" b="1" dirty="0" err="1">
                    <a:latin typeface="Arial Narrow" pitchFamily="34" charset="0"/>
                  </a:rPr>
                  <a:t>bytecode</a:t>
                </a:r>
                <a:r>
                  <a:rPr lang="en-US" sz="900" b="1" dirty="0">
                    <a:latin typeface="Arial Narrow" pitchFamily="34" charset="0"/>
                  </a:rPr>
                  <a:t>)</a:t>
                </a:r>
              </a:p>
            </p:txBody>
          </p:sp>
          <p:sp>
            <p:nvSpPr>
              <p:cNvPr id="96" name="Flowchart: Process 54">
                <a:extLst>
                  <a:ext uri="{FF2B5EF4-FFF2-40B4-BE49-F238E27FC236}">
                    <a16:creationId xmlns:a16="http://schemas.microsoft.com/office/drawing/2014/main" id="{1BA6485C-CD6D-4EA8-8109-5AA2AD60C2F7}"/>
                  </a:ext>
                </a:extLst>
              </p:cNvPr>
              <p:cNvSpPr/>
              <p:nvPr/>
            </p:nvSpPr>
            <p:spPr>
              <a:xfrm>
                <a:off x="6732240" y="3962400"/>
                <a:ext cx="1224136" cy="228600"/>
              </a:xfrm>
              <a:prstGeom prst="flowChartProces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50" dirty="0" err="1">
                    <a:solidFill>
                      <a:schemeClr val="accent5"/>
                    </a:solidFill>
                  </a:rPr>
                  <a:t>myprog.class</a:t>
                </a:r>
                <a:endParaRPr lang="en-US" sz="1000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97" name="Rounded Rectangle 55">
                <a:extLst>
                  <a:ext uri="{FF2B5EF4-FFF2-40B4-BE49-F238E27FC236}">
                    <a16:creationId xmlns:a16="http://schemas.microsoft.com/office/drawing/2014/main" id="{3FF870F8-5E9F-4CB9-8942-EAAFBEE745DB}"/>
                  </a:ext>
                </a:extLst>
              </p:cNvPr>
              <p:cNvSpPr/>
              <p:nvPr/>
            </p:nvSpPr>
            <p:spPr>
              <a:xfrm>
                <a:off x="6858000" y="4191000"/>
                <a:ext cx="914400" cy="533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n-US" sz="700" dirty="0">
                    <a:solidFill>
                      <a:prstClr val="white"/>
                    </a:solidFill>
                  </a:rPr>
                  <a:t>010100100101010100101010001111010100101010001010100101101001</a:t>
                </a:r>
              </a:p>
            </p:txBody>
          </p:sp>
          <p:sp>
            <p:nvSpPr>
              <p:cNvPr id="98" name="Down Arrow 56">
                <a:extLst>
                  <a:ext uri="{FF2B5EF4-FFF2-40B4-BE49-F238E27FC236}">
                    <a16:creationId xmlns:a16="http://schemas.microsoft.com/office/drawing/2014/main" id="{EE4751D4-4334-496F-ADDF-B3F7502FD689}"/>
                  </a:ext>
                </a:extLst>
              </p:cNvPr>
              <p:cNvSpPr/>
              <p:nvPr/>
            </p:nvSpPr>
            <p:spPr>
              <a:xfrm>
                <a:off x="6553200" y="5334000"/>
                <a:ext cx="1524000" cy="457200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900" b="1" dirty="0">
                    <a:latin typeface="Arial Narrow" pitchFamily="34" charset="0"/>
                  </a:rPr>
                  <a:t>COMPUTADOR</a:t>
                </a:r>
                <a:br>
                  <a:rPr lang="en-US" sz="900" b="1" dirty="0">
                    <a:latin typeface="Arial Narrow" pitchFamily="34" charset="0"/>
                  </a:rPr>
                </a:br>
                <a:r>
                  <a:rPr lang="en-US" sz="900" b="1" dirty="0">
                    <a:latin typeface="Arial Narrow" pitchFamily="34" charset="0"/>
                  </a:rPr>
                  <a:t>(Hardware)</a:t>
                </a:r>
              </a:p>
            </p:txBody>
          </p:sp>
          <p:sp>
            <p:nvSpPr>
              <p:cNvPr id="99" name="Down Arrow 59">
                <a:extLst>
                  <a:ext uri="{FF2B5EF4-FFF2-40B4-BE49-F238E27FC236}">
                    <a16:creationId xmlns:a16="http://schemas.microsoft.com/office/drawing/2014/main" id="{A233F2E4-AEB6-4D18-8F36-A36D0B5411F4}"/>
                  </a:ext>
                </a:extLst>
              </p:cNvPr>
              <p:cNvSpPr/>
              <p:nvPr/>
            </p:nvSpPr>
            <p:spPr>
              <a:xfrm>
                <a:off x="6553200" y="4800600"/>
                <a:ext cx="1524000" cy="457200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900" b="1" dirty="0">
                    <a:latin typeface="Arial Narrow" pitchFamily="34" charset="0"/>
                  </a:rPr>
                  <a:t>Java  Virtual Machine</a:t>
                </a:r>
              </a:p>
            </p:txBody>
          </p:sp>
        </p:grpSp>
        <p:grpSp>
          <p:nvGrpSpPr>
            <p:cNvPr id="89" name="Grupo 88">
              <a:extLst>
                <a:ext uri="{FF2B5EF4-FFF2-40B4-BE49-F238E27FC236}">
                  <a16:creationId xmlns:a16="http://schemas.microsoft.com/office/drawing/2014/main" id="{F72B540A-58F0-498B-BE90-BF2D1D7B0C9D}"/>
                </a:ext>
              </a:extLst>
            </p:cNvPr>
            <p:cNvGrpSpPr/>
            <p:nvPr/>
          </p:nvGrpSpPr>
          <p:grpSpPr>
            <a:xfrm>
              <a:off x="6834336" y="5877272"/>
              <a:ext cx="762000" cy="623047"/>
              <a:chOff x="1567408" y="5868835"/>
              <a:chExt cx="762000" cy="623047"/>
            </a:xfrm>
          </p:grpSpPr>
          <p:sp>
            <p:nvSpPr>
              <p:cNvPr id="90" name="Rectangle 32">
                <a:extLst>
                  <a:ext uri="{FF2B5EF4-FFF2-40B4-BE49-F238E27FC236}">
                    <a16:creationId xmlns:a16="http://schemas.microsoft.com/office/drawing/2014/main" id="{719CAF8C-E6A5-4D60-8E36-AEBEEB0F842E}"/>
                  </a:ext>
                </a:extLst>
              </p:cNvPr>
              <p:cNvSpPr/>
              <p:nvPr/>
            </p:nvSpPr>
            <p:spPr>
              <a:xfrm>
                <a:off x="1567408" y="5868835"/>
                <a:ext cx="762000" cy="53340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91" name="Rectangle 33">
                <a:extLst>
                  <a:ext uri="{FF2B5EF4-FFF2-40B4-BE49-F238E27FC236}">
                    <a16:creationId xmlns:a16="http://schemas.microsoft.com/office/drawing/2014/main" id="{2B25EED0-C0D1-4C29-9BA6-347C24F08461}"/>
                  </a:ext>
                </a:extLst>
              </p:cNvPr>
              <p:cNvSpPr/>
              <p:nvPr/>
            </p:nvSpPr>
            <p:spPr>
              <a:xfrm>
                <a:off x="1643608" y="5925985"/>
                <a:ext cx="623455" cy="40005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hola</a:t>
                </a:r>
                <a:endParaRPr lang="en-US" sz="1600" dirty="0"/>
              </a:p>
            </p:txBody>
          </p:sp>
          <p:sp>
            <p:nvSpPr>
              <p:cNvPr id="92" name="Triángulo isósceles 91">
                <a:extLst>
                  <a:ext uri="{FF2B5EF4-FFF2-40B4-BE49-F238E27FC236}">
                    <a16:creationId xmlns:a16="http://schemas.microsoft.com/office/drawing/2014/main" id="{E414E3B8-93A3-41C9-B07C-9E38606EA9B5}"/>
                  </a:ext>
                </a:extLst>
              </p:cNvPr>
              <p:cNvSpPr/>
              <p:nvPr/>
            </p:nvSpPr>
            <p:spPr>
              <a:xfrm>
                <a:off x="1763688" y="6419874"/>
                <a:ext cx="370384" cy="72008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4510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" y="379075"/>
            <a:ext cx="7886700" cy="837405"/>
          </a:xfrm>
        </p:spPr>
        <p:txBody>
          <a:bodyPr/>
          <a:lstStyle/>
          <a:p>
            <a:r>
              <a:rPr lang="es-MX" dirty="0"/>
              <a:t>Ensamblador</a:t>
            </a:r>
            <a:endParaRPr lang="es-CO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4CCB837C-C1A8-4BC7-920F-6F33C677A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22" y="1147957"/>
            <a:ext cx="8608605" cy="792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Programa que traduce de un lenguaje de bajo nivel al lenguaje de máquina.</a:t>
            </a:r>
          </a:p>
          <a:p>
            <a:pPr marL="0" indent="0">
              <a:buNone/>
            </a:pPr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0D98D0EC-9AA9-468B-AECB-62F4EA56225B}"/>
              </a:ext>
            </a:extLst>
          </p:cNvPr>
          <p:cNvGrpSpPr/>
          <p:nvPr/>
        </p:nvGrpSpPr>
        <p:grpSpPr>
          <a:xfrm>
            <a:off x="5508104" y="3105090"/>
            <a:ext cx="1143000" cy="2912786"/>
            <a:chOff x="4267200" y="2514600"/>
            <a:chExt cx="1524000" cy="3883715"/>
          </a:xfrm>
        </p:grpSpPr>
        <p:grpSp>
          <p:nvGrpSpPr>
            <p:cNvPr id="39" name="15 Grupo">
              <a:extLst>
                <a:ext uri="{FF2B5EF4-FFF2-40B4-BE49-F238E27FC236}">
                  <a16:creationId xmlns:a16="http://schemas.microsoft.com/office/drawing/2014/main" id="{B2C41DA0-53F2-4169-A735-C12CEE1D6CA9}"/>
                </a:ext>
              </a:extLst>
            </p:cNvPr>
            <p:cNvGrpSpPr/>
            <p:nvPr/>
          </p:nvGrpSpPr>
          <p:grpSpPr>
            <a:xfrm>
              <a:off x="4267200" y="2514600"/>
              <a:ext cx="1524000" cy="3200400"/>
              <a:chOff x="4953000" y="2590800"/>
              <a:chExt cx="1524000" cy="3200400"/>
            </a:xfrm>
          </p:grpSpPr>
          <p:sp>
            <p:nvSpPr>
              <p:cNvPr id="44" name="Flowchart: Process 13">
                <a:extLst>
                  <a:ext uri="{FF2B5EF4-FFF2-40B4-BE49-F238E27FC236}">
                    <a16:creationId xmlns:a16="http://schemas.microsoft.com/office/drawing/2014/main" id="{4B36E760-1913-4A13-A585-38ADE52862A2}"/>
                  </a:ext>
                </a:extLst>
              </p:cNvPr>
              <p:cNvSpPr/>
              <p:nvPr/>
            </p:nvSpPr>
            <p:spPr>
              <a:xfrm>
                <a:off x="5185792" y="2590800"/>
                <a:ext cx="1080120" cy="228600"/>
              </a:xfrm>
              <a:prstGeom prst="flowChartProces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accent5"/>
                    </a:solidFill>
                  </a:rPr>
                  <a:t>myprog.s</a:t>
                </a:r>
                <a:endParaRPr lang="en-US" sz="825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45" name="Rounded Rectangle 14">
                <a:extLst>
                  <a:ext uri="{FF2B5EF4-FFF2-40B4-BE49-F238E27FC236}">
                    <a16:creationId xmlns:a16="http://schemas.microsoft.com/office/drawing/2014/main" id="{CBB4B372-1E31-424F-81F1-40A742DBE45C}"/>
                  </a:ext>
                </a:extLst>
              </p:cNvPr>
              <p:cNvSpPr/>
              <p:nvPr/>
            </p:nvSpPr>
            <p:spPr>
              <a:xfrm>
                <a:off x="5257800" y="2819400"/>
                <a:ext cx="914400" cy="91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lvl="0"/>
                <a:r>
                  <a:rPr lang="es-CO" sz="525" dirty="0">
                    <a:solidFill>
                      <a:prstClr val="white"/>
                    </a:solidFill>
                  </a:rPr>
                  <a:t>MOV R1, 2</a:t>
                </a:r>
              </a:p>
              <a:p>
                <a:pPr lvl="0"/>
                <a:r>
                  <a:rPr lang="es-CO" sz="525" dirty="0">
                    <a:solidFill>
                      <a:prstClr val="white"/>
                    </a:solidFill>
                  </a:rPr>
                  <a:t>MOV R4, 1</a:t>
                </a:r>
              </a:p>
              <a:p>
                <a:pPr lvl="0"/>
                <a:r>
                  <a:rPr lang="es-CO" sz="525" dirty="0">
                    <a:solidFill>
                      <a:prstClr val="white"/>
                    </a:solidFill>
                  </a:rPr>
                  <a:t>ADD R3, R1, R4</a:t>
                </a:r>
              </a:p>
              <a:p>
                <a:pPr lvl="0"/>
                <a:r>
                  <a:rPr lang="es-CO" sz="525" dirty="0">
                    <a:solidFill>
                      <a:prstClr val="white"/>
                    </a:solidFill>
                  </a:rPr>
                  <a:t>SW R3, 0x8000</a:t>
                </a:r>
                <a:endParaRPr lang="en-US" sz="525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Down Arrow 16">
                <a:extLst>
                  <a:ext uri="{FF2B5EF4-FFF2-40B4-BE49-F238E27FC236}">
                    <a16:creationId xmlns:a16="http://schemas.microsoft.com/office/drawing/2014/main" id="{AC69A68B-11BD-4C2F-A36C-A840DBFD9063}"/>
                  </a:ext>
                </a:extLst>
              </p:cNvPr>
              <p:cNvSpPr/>
              <p:nvPr/>
            </p:nvSpPr>
            <p:spPr>
              <a:xfrm>
                <a:off x="4953000" y="5257800"/>
                <a:ext cx="1524000" cy="533400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50" b="1" dirty="0">
                    <a:latin typeface="Arial Narrow" pitchFamily="34" charset="0"/>
                  </a:rPr>
                  <a:t>COMPUTADOR</a:t>
                </a:r>
                <a:br>
                  <a:rPr lang="en-US" sz="750" b="1" dirty="0">
                    <a:latin typeface="Arial Narrow" pitchFamily="34" charset="0"/>
                  </a:rPr>
                </a:br>
                <a:r>
                  <a:rPr lang="en-US" sz="750" b="1" dirty="0">
                    <a:latin typeface="Arial Narrow" pitchFamily="34" charset="0"/>
                  </a:rPr>
                  <a:t>(Hardware)</a:t>
                </a:r>
              </a:p>
            </p:txBody>
          </p:sp>
          <p:sp>
            <p:nvSpPr>
              <p:cNvPr id="47" name="Down Arrow 19">
                <a:extLst>
                  <a:ext uri="{FF2B5EF4-FFF2-40B4-BE49-F238E27FC236}">
                    <a16:creationId xmlns:a16="http://schemas.microsoft.com/office/drawing/2014/main" id="{258B6CEA-6468-4060-8448-4BFCED4125B1}"/>
                  </a:ext>
                </a:extLst>
              </p:cNvPr>
              <p:cNvSpPr/>
              <p:nvPr/>
            </p:nvSpPr>
            <p:spPr>
              <a:xfrm>
                <a:off x="4953000" y="3810000"/>
                <a:ext cx="1524000" cy="533400"/>
              </a:xfrm>
              <a:prstGeom prst="downArrow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675" b="1" dirty="0">
                    <a:latin typeface="Arial Narrow" pitchFamily="34" charset="0"/>
                  </a:rPr>
                  <a:t>ENSAMBLADOR</a:t>
                </a:r>
              </a:p>
            </p:txBody>
          </p:sp>
          <p:sp>
            <p:nvSpPr>
              <p:cNvPr id="48" name="Flowchart: Process 20">
                <a:extLst>
                  <a:ext uri="{FF2B5EF4-FFF2-40B4-BE49-F238E27FC236}">
                    <a16:creationId xmlns:a16="http://schemas.microsoft.com/office/drawing/2014/main" id="{049E326F-E35A-44B8-901B-5A7F7B375DD2}"/>
                  </a:ext>
                </a:extLst>
              </p:cNvPr>
              <p:cNvSpPr/>
              <p:nvPr/>
            </p:nvSpPr>
            <p:spPr>
              <a:xfrm>
                <a:off x="5185792" y="4343400"/>
                <a:ext cx="1080120" cy="228600"/>
              </a:xfrm>
              <a:prstGeom prst="flowChartProces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</a:rPr>
                  <a:t>myprog.exe</a:t>
                </a:r>
                <a:endParaRPr lang="en-US" sz="825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49" name="Rounded Rectangle 21">
                <a:extLst>
                  <a:ext uri="{FF2B5EF4-FFF2-40B4-BE49-F238E27FC236}">
                    <a16:creationId xmlns:a16="http://schemas.microsoft.com/office/drawing/2014/main" id="{F2D96801-5269-4D9F-960A-7A0DFF149D88}"/>
                  </a:ext>
                </a:extLst>
              </p:cNvPr>
              <p:cNvSpPr/>
              <p:nvPr/>
            </p:nvSpPr>
            <p:spPr>
              <a:xfrm>
                <a:off x="5257800" y="4572000"/>
                <a:ext cx="914400" cy="6096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n-US" sz="525" dirty="0">
                    <a:solidFill>
                      <a:prstClr val="white"/>
                    </a:solidFill>
                  </a:rPr>
                  <a:t>010100100101010100101010001111010100101010001010100101101001</a:t>
                </a:r>
              </a:p>
            </p:txBody>
          </p:sp>
        </p:grp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9EFF798B-6A07-4F1F-A903-445B19D471A4}"/>
                </a:ext>
              </a:extLst>
            </p:cNvPr>
            <p:cNvGrpSpPr/>
            <p:nvPr/>
          </p:nvGrpSpPr>
          <p:grpSpPr>
            <a:xfrm>
              <a:off x="4648200" y="5775268"/>
              <a:ext cx="762000" cy="623047"/>
              <a:chOff x="1567408" y="5868835"/>
              <a:chExt cx="762000" cy="623047"/>
            </a:xfrm>
          </p:grpSpPr>
          <p:sp>
            <p:nvSpPr>
              <p:cNvPr id="41" name="Rectangle 32">
                <a:extLst>
                  <a:ext uri="{FF2B5EF4-FFF2-40B4-BE49-F238E27FC236}">
                    <a16:creationId xmlns:a16="http://schemas.microsoft.com/office/drawing/2014/main" id="{93B9E8D8-0A67-4913-846C-9D2AA38AE683}"/>
                  </a:ext>
                </a:extLst>
              </p:cNvPr>
              <p:cNvSpPr/>
              <p:nvPr/>
            </p:nvSpPr>
            <p:spPr>
              <a:xfrm>
                <a:off x="1567408" y="5868835"/>
                <a:ext cx="762000" cy="53340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2" name="Rectangle 33">
                <a:extLst>
                  <a:ext uri="{FF2B5EF4-FFF2-40B4-BE49-F238E27FC236}">
                    <a16:creationId xmlns:a16="http://schemas.microsoft.com/office/drawing/2014/main" id="{E10A8658-43AB-49ED-B834-188D4F54F2D8}"/>
                  </a:ext>
                </a:extLst>
              </p:cNvPr>
              <p:cNvSpPr/>
              <p:nvPr/>
            </p:nvSpPr>
            <p:spPr>
              <a:xfrm>
                <a:off x="1643608" y="5925985"/>
                <a:ext cx="623455" cy="40005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hola</a:t>
                </a:r>
                <a:endParaRPr lang="en-US" sz="1350" dirty="0"/>
              </a:p>
            </p:txBody>
          </p:sp>
          <p:sp>
            <p:nvSpPr>
              <p:cNvPr id="43" name="Triángulo isósceles 42">
                <a:extLst>
                  <a:ext uri="{FF2B5EF4-FFF2-40B4-BE49-F238E27FC236}">
                    <a16:creationId xmlns:a16="http://schemas.microsoft.com/office/drawing/2014/main" id="{9EC38173-FD56-4B93-AE39-8164D7AF9182}"/>
                  </a:ext>
                </a:extLst>
              </p:cNvPr>
              <p:cNvSpPr/>
              <p:nvPr/>
            </p:nvSpPr>
            <p:spPr>
              <a:xfrm>
                <a:off x="1763688" y="6419874"/>
                <a:ext cx="370384" cy="72008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350"/>
              </a:p>
            </p:txBody>
          </p:sp>
        </p:grp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2C5EDBC-7B34-4D73-8633-129761297910}"/>
              </a:ext>
            </a:extLst>
          </p:cNvPr>
          <p:cNvGrpSpPr/>
          <p:nvPr/>
        </p:nvGrpSpPr>
        <p:grpSpPr>
          <a:xfrm>
            <a:off x="7164288" y="2319848"/>
            <a:ext cx="1143000" cy="3773448"/>
            <a:chOff x="6858000" y="1371600"/>
            <a:chExt cx="1524000" cy="5031264"/>
          </a:xfrm>
        </p:grpSpPr>
        <p:grpSp>
          <p:nvGrpSpPr>
            <p:cNvPr id="51" name="22 Grupo">
              <a:extLst>
                <a:ext uri="{FF2B5EF4-FFF2-40B4-BE49-F238E27FC236}">
                  <a16:creationId xmlns:a16="http://schemas.microsoft.com/office/drawing/2014/main" id="{4BC8B61B-21A0-45C3-A8C7-612C31E1D7CA}"/>
                </a:ext>
              </a:extLst>
            </p:cNvPr>
            <p:cNvGrpSpPr/>
            <p:nvPr/>
          </p:nvGrpSpPr>
          <p:grpSpPr>
            <a:xfrm>
              <a:off x="6858000" y="1371600"/>
              <a:ext cx="1524000" cy="4343400"/>
              <a:chOff x="2362200" y="1447800"/>
              <a:chExt cx="1524000" cy="4343400"/>
            </a:xfrm>
          </p:grpSpPr>
          <p:sp>
            <p:nvSpPr>
              <p:cNvPr id="56" name="Flowchart: Process 5">
                <a:extLst>
                  <a:ext uri="{FF2B5EF4-FFF2-40B4-BE49-F238E27FC236}">
                    <a16:creationId xmlns:a16="http://schemas.microsoft.com/office/drawing/2014/main" id="{0999626B-5F5B-46A0-98BA-8898B87E111D}"/>
                  </a:ext>
                </a:extLst>
              </p:cNvPr>
              <p:cNvSpPr/>
              <p:nvPr/>
            </p:nvSpPr>
            <p:spPr>
              <a:xfrm>
                <a:off x="2667000" y="1447800"/>
                <a:ext cx="914400" cy="228600"/>
              </a:xfrm>
              <a:prstGeom prst="flowChartProces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accent5"/>
                    </a:solidFill>
                  </a:rPr>
                  <a:t>myprog.c</a:t>
                </a:r>
                <a:endParaRPr lang="en-US" sz="825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57" name="Rounded Rectangle 6">
                <a:extLst>
                  <a:ext uri="{FF2B5EF4-FFF2-40B4-BE49-F238E27FC236}">
                    <a16:creationId xmlns:a16="http://schemas.microsoft.com/office/drawing/2014/main" id="{BBF76B94-5998-42B2-BFF3-4F1A4140DF71}"/>
                  </a:ext>
                </a:extLst>
              </p:cNvPr>
              <p:cNvSpPr/>
              <p:nvPr/>
            </p:nvSpPr>
            <p:spPr>
              <a:xfrm>
                <a:off x="2667000" y="1676400"/>
                <a:ext cx="1080120" cy="91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s-CO" sz="525" dirty="0" err="1">
                    <a:solidFill>
                      <a:prstClr val="white"/>
                    </a:solidFill>
                  </a:rPr>
                  <a:t>int</a:t>
                </a:r>
                <a:r>
                  <a:rPr lang="es-CO" sz="525" dirty="0">
                    <a:solidFill>
                      <a:prstClr val="white"/>
                    </a:solidFill>
                  </a:rPr>
                  <a:t> </a:t>
                </a:r>
                <a:r>
                  <a:rPr lang="es-CO" sz="525" dirty="0" err="1">
                    <a:solidFill>
                      <a:prstClr val="white"/>
                    </a:solidFill>
                  </a:rPr>
                  <a:t>main</a:t>
                </a:r>
                <a:r>
                  <a:rPr lang="es-CO" sz="525" dirty="0">
                    <a:solidFill>
                      <a:prstClr val="white"/>
                    </a:solidFill>
                  </a:rPr>
                  <a:t>(</a:t>
                </a:r>
                <a:r>
                  <a:rPr lang="es-CO" sz="525" dirty="0" err="1">
                    <a:solidFill>
                      <a:prstClr val="white"/>
                    </a:solidFill>
                  </a:rPr>
                  <a:t>void</a:t>
                </a:r>
                <a:r>
                  <a:rPr lang="en-US" sz="525" dirty="0">
                    <a:solidFill>
                      <a:prstClr val="white"/>
                    </a:solidFill>
                  </a:rPr>
                  <a:t>){</a:t>
                </a:r>
              </a:p>
              <a:p>
                <a:pPr lvl="0"/>
                <a:r>
                  <a:rPr lang="en-US" sz="525" dirty="0" err="1">
                    <a:solidFill>
                      <a:prstClr val="white"/>
                    </a:solidFill>
                  </a:rPr>
                  <a:t>int</a:t>
                </a:r>
                <a:r>
                  <a:rPr lang="en-US" sz="525" dirty="0">
                    <a:solidFill>
                      <a:prstClr val="white"/>
                    </a:solidFill>
                  </a:rPr>
                  <a:t> a, b;</a:t>
                </a:r>
              </a:p>
              <a:p>
                <a:pPr lvl="0"/>
                <a:r>
                  <a:rPr lang="en-US" sz="525" dirty="0">
                    <a:solidFill>
                      <a:prstClr val="white"/>
                    </a:solidFill>
                  </a:rPr>
                  <a:t>a = 3;</a:t>
                </a:r>
              </a:p>
              <a:p>
                <a:pPr lvl="0"/>
                <a:r>
                  <a:rPr lang="en-US" sz="525" dirty="0" err="1">
                    <a:solidFill>
                      <a:prstClr val="white"/>
                    </a:solidFill>
                  </a:rPr>
                  <a:t>printf</a:t>
                </a:r>
                <a:r>
                  <a:rPr lang="en-US" sz="525" dirty="0">
                    <a:solidFill>
                      <a:prstClr val="white"/>
                    </a:solidFill>
                  </a:rPr>
                  <a:t>(“a=%d”, a);</a:t>
                </a:r>
              </a:p>
              <a:p>
                <a:pPr lvl="0"/>
                <a:r>
                  <a:rPr lang="en-US" sz="525" dirty="0">
                    <a:solidFill>
                      <a:prstClr val="white"/>
                    </a:solidFill>
                  </a:rPr>
                  <a:t>exit(0);</a:t>
                </a:r>
              </a:p>
              <a:p>
                <a:pPr lvl="0"/>
                <a:r>
                  <a:rPr lang="en-US" sz="525" dirty="0">
                    <a:solidFill>
                      <a:prstClr val="white"/>
                    </a:solidFill>
                  </a:rPr>
                  <a:t>}</a:t>
                </a:r>
              </a:p>
            </p:txBody>
          </p:sp>
          <p:sp>
            <p:nvSpPr>
              <p:cNvPr id="58" name="Down Arrow 7">
                <a:extLst>
                  <a:ext uri="{FF2B5EF4-FFF2-40B4-BE49-F238E27FC236}">
                    <a16:creationId xmlns:a16="http://schemas.microsoft.com/office/drawing/2014/main" id="{C9871BCE-AF9E-42A2-ADDE-A0B9AF76298C}"/>
                  </a:ext>
                </a:extLst>
              </p:cNvPr>
              <p:cNvSpPr/>
              <p:nvPr/>
            </p:nvSpPr>
            <p:spPr>
              <a:xfrm>
                <a:off x="2362200" y="2705100"/>
                <a:ext cx="1524000" cy="1638300"/>
              </a:xfrm>
              <a:prstGeom prst="downArrow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50" b="1" dirty="0">
                    <a:latin typeface="Arial Narrow" pitchFamily="34" charset="0"/>
                  </a:rPr>
                  <a:t>COMPILADOR</a:t>
                </a:r>
              </a:p>
            </p:txBody>
          </p:sp>
          <p:sp>
            <p:nvSpPr>
              <p:cNvPr id="59" name="Flowchart: Process 8">
                <a:extLst>
                  <a:ext uri="{FF2B5EF4-FFF2-40B4-BE49-F238E27FC236}">
                    <a16:creationId xmlns:a16="http://schemas.microsoft.com/office/drawing/2014/main" id="{234918BC-E6F0-4AD6-B160-F5AB0C153952}"/>
                  </a:ext>
                </a:extLst>
              </p:cNvPr>
              <p:cNvSpPr/>
              <p:nvPr/>
            </p:nvSpPr>
            <p:spPr>
              <a:xfrm>
                <a:off x="2596480" y="4343400"/>
                <a:ext cx="1080120" cy="228600"/>
              </a:xfrm>
              <a:prstGeom prst="flowChartProces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</a:rPr>
                  <a:t>myprog.exe</a:t>
                </a:r>
                <a:endParaRPr lang="en-US" sz="825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60" name="Rounded Rectangle 9">
                <a:extLst>
                  <a:ext uri="{FF2B5EF4-FFF2-40B4-BE49-F238E27FC236}">
                    <a16:creationId xmlns:a16="http://schemas.microsoft.com/office/drawing/2014/main" id="{312819FE-85B3-478B-BED3-A5809C9121D8}"/>
                  </a:ext>
                </a:extLst>
              </p:cNvPr>
              <p:cNvSpPr/>
              <p:nvPr/>
            </p:nvSpPr>
            <p:spPr>
              <a:xfrm>
                <a:off x="2667000" y="4572000"/>
                <a:ext cx="914400" cy="6096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n-US" sz="525" dirty="0">
                    <a:solidFill>
                      <a:prstClr val="white"/>
                    </a:solidFill>
                  </a:rPr>
                  <a:t>010100100101010100101010001111010100101010001010100101101001</a:t>
                </a:r>
              </a:p>
            </p:txBody>
          </p:sp>
          <p:sp>
            <p:nvSpPr>
              <p:cNvPr id="61" name="Down Arrow 10">
                <a:extLst>
                  <a:ext uri="{FF2B5EF4-FFF2-40B4-BE49-F238E27FC236}">
                    <a16:creationId xmlns:a16="http://schemas.microsoft.com/office/drawing/2014/main" id="{18723683-1412-449B-AE5D-43391D2E5209}"/>
                  </a:ext>
                </a:extLst>
              </p:cNvPr>
              <p:cNvSpPr/>
              <p:nvPr/>
            </p:nvSpPr>
            <p:spPr>
              <a:xfrm>
                <a:off x="2362200" y="5257800"/>
                <a:ext cx="1524000" cy="533400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50" b="1" dirty="0">
                    <a:latin typeface="Arial Narrow" pitchFamily="34" charset="0"/>
                  </a:rPr>
                  <a:t>COMPUTADOR</a:t>
                </a:r>
                <a:br>
                  <a:rPr lang="en-US" sz="750" b="1" dirty="0">
                    <a:latin typeface="Arial Narrow" pitchFamily="34" charset="0"/>
                  </a:rPr>
                </a:br>
                <a:r>
                  <a:rPr lang="en-US" sz="750" b="1" dirty="0">
                    <a:latin typeface="Arial Narrow" pitchFamily="34" charset="0"/>
                  </a:rPr>
                  <a:t>(Hardware)</a:t>
                </a:r>
              </a:p>
            </p:txBody>
          </p:sp>
        </p:grp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32EC6BB9-8BF7-47E7-830B-8C5AB0F03815}"/>
                </a:ext>
              </a:extLst>
            </p:cNvPr>
            <p:cNvGrpSpPr/>
            <p:nvPr/>
          </p:nvGrpSpPr>
          <p:grpSpPr>
            <a:xfrm>
              <a:off x="7251340" y="5779817"/>
              <a:ext cx="762000" cy="623047"/>
              <a:chOff x="1567408" y="5868835"/>
              <a:chExt cx="762000" cy="623047"/>
            </a:xfrm>
          </p:grpSpPr>
          <p:sp>
            <p:nvSpPr>
              <p:cNvPr id="53" name="Rectangle 32">
                <a:extLst>
                  <a:ext uri="{FF2B5EF4-FFF2-40B4-BE49-F238E27FC236}">
                    <a16:creationId xmlns:a16="http://schemas.microsoft.com/office/drawing/2014/main" id="{323DE297-EBC4-4892-B2E8-3BE65D7FD8B5}"/>
                  </a:ext>
                </a:extLst>
              </p:cNvPr>
              <p:cNvSpPr/>
              <p:nvPr/>
            </p:nvSpPr>
            <p:spPr>
              <a:xfrm>
                <a:off x="1567408" y="5868835"/>
                <a:ext cx="762000" cy="53340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4" name="Rectangle 33">
                <a:extLst>
                  <a:ext uri="{FF2B5EF4-FFF2-40B4-BE49-F238E27FC236}">
                    <a16:creationId xmlns:a16="http://schemas.microsoft.com/office/drawing/2014/main" id="{53379820-2D76-4A33-A085-D3EE80A0B3FB}"/>
                  </a:ext>
                </a:extLst>
              </p:cNvPr>
              <p:cNvSpPr/>
              <p:nvPr/>
            </p:nvSpPr>
            <p:spPr>
              <a:xfrm>
                <a:off x="1643608" y="5925985"/>
                <a:ext cx="623455" cy="40005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hola</a:t>
                </a:r>
                <a:endParaRPr lang="en-US" sz="1350" dirty="0"/>
              </a:p>
            </p:txBody>
          </p:sp>
          <p:sp>
            <p:nvSpPr>
              <p:cNvPr id="55" name="Triángulo isósceles 54">
                <a:extLst>
                  <a:ext uri="{FF2B5EF4-FFF2-40B4-BE49-F238E27FC236}">
                    <a16:creationId xmlns:a16="http://schemas.microsoft.com/office/drawing/2014/main" id="{6B6D5AA7-DFC2-40B8-A9C6-0632393F99FD}"/>
                  </a:ext>
                </a:extLst>
              </p:cNvPr>
              <p:cNvSpPr/>
              <p:nvPr/>
            </p:nvSpPr>
            <p:spPr>
              <a:xfrm>
                <a:off x="1763688" y="6419874"/>
                <a:ext cx="370384" cy="72008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350"/>
              </a:p>
            </p:txBody>
          </p:sp>
        </p:grp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0BC5917-0582-4551-8F0A-BDA9AD827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28" y="3546189"/>
            <a:ext cx="4084256" cy="134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61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2" y="332656"/>
            <a:ext cx="7886700" cy="837405"/>
          </a:xfrm>
        </p:spPr>
        <p:txBody>
          <a:bodyPr/>
          <a:lstStyle/>
          <a:p>
            <a:r>
              <a:rPr lang="es-MX" dirty="0"/>
              <a:t>Actividad grupal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72" y="1052736"/>
            <a:ext cx="8129052" cy="2542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100" dirty="0"/>
              <a:t>Describa de manera algorítmica cualquier cosa que se le ocurra:</a:t>
            </a:r>
          </a:p>
          <a:p>
            <a:r>
              <a:rPr lang="es-CO" sz="2100" dirty="0"/>
              <a:t>Comprar un tinto en la burbuja.</a:t>
            </a:r>
          </a:p>
          <a:p>
            <a:r>
              <a:rPr lang="es-CO" sz="2100" dirty="0"/>
              <a:t>Hecharle los perros a la persona que le gusta.</a:t>
            </a:r>
          </a:p>
          <a:p>
            <a:r>
              <a:rPr lang="es-CO" sz="2100" dirty="0"/>
              <a:t>Venir a la universidad.</a:t>
            </a:r>
          </a:p>
          <a:p>
            <a:r>
              <a:rPr lang="es-CO" sz="2100" dirty="0"/>
              <a:t>Hacer una lista de compras.</a:t>
            </a:r>
          </a:p>
          <a:p>
            <a:r>
              <a:rPr lang="es-CO" sz="2100" dirty="0"/>
              <a:t>Cualquier tarea que se le ocurra.</a:t>
            </a:r>
          </a:p>
          <a:p>
            <a:endParaRPr lang="es-CO" sz="21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1474F9-59FB-40AD-AC76-DC0B9EA6A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788" y="3789040"/>
            <a:ext cx="3748424" cy="228828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711A1E9-7630-41A4-AB28-BD74B747BC89}"/>
              </a:ext>
            </a:extLst>
          </p:cNvPr>
          <p:cNvSpPr txBox="1"/>
          <p:nvPr/>
        </p:nvSpPr>
        <p:spPr>
          <a:xfrm>
            <a:off x="890770" y="6309320"/>
            <a:ext cx="3969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0F0F0F"/>
                </a:solidFill>
                <a:effectLst/>
              </a:rPr>
              <a:t>Bubble sort with Hungarian, folk dance</a:t>
            </a:r>
            <a:r>
              <a:rPr lang="es-CO" sz="1200" dirty="0"/>
              <a:t> (</a:t>
            </a:r>
            <a:r>
              <a:rPr lang="es-CO" sz="1200" dirty="0">
                <a:hlinkClick r:id="rId3"/>
              </a:rPr>
              <a:t>link</a:t>
            </a:r>
            <a:r>
              <a:rPr lang="es-CO" sz="1200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2BB8B7-C623-4E21-BF2D-A01A2B5D8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71" y="6266216"/>
            <a:ext cx="582420" cy="4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549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4168-8B30-4157-B760-0F12DF5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2" y="332656"/>
            <a:ext cx="7886700" cy="837405"/>
          </a:xfrm>
        </p:spPr>
        <p:txBody>
          <a:bodyPr/>
          <a:lstStyle/>
          <a:p>
            <a:r>
              <a:rPr lang="es-MX" dirty="0"/>
              <a:t>Actividad individual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F787-1D8E-47B3-8A6E-3596B5CD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72" y="1052736"/>
            <a:ext cx="8129052" cy="254283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CO" sz="2100" dirty="0"/>
              <a:t>Realizar la instalación de Anaconda en la maquina de trabajo y verificar que funciona correctamente. </a:t>
            </a:r>
          </a:p>
          <a:p>
            <a:pPr marL="0" indent="0">
              <a:buNone/>
            </a:pPr>
            <a:r>
              <a:rPr lang="es-CO" sz="2100" b="1" dirty="0"/>
              <a:t>Links recomendados</a:t>
            </a:r>
            <a:r>
              <a:rPr lang="es-CO" sz="21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100" dirty="0">
                <a:hlinkClick r:id="rId2"/>
              </a:rPr>
              <a:t>https://www.anaconda.com/docs/getting-started/anaconda/install/windows-gui-install</a:t>
            </a:r>
            <a:endParaRPr lang="es-CO" sz="2100" dirty="0"/>
          </a:p>
          <a:p>
            <a:pPr marL="457200" indent="-457200">
              <a:buFont typeface="+mj-lt"/>
              <a:buAutoNum type="arabicPeriod"/>
            </a:pPr>
            <a:r>
              <a:rPr lang="es-CO" sz="2100" dirty="0">
                <a:hlinkClick r:id="rId3"/>
              </a:rPr>
              <a:t>https://www.lancaster.ac.uk/staff/drummonn/PHYS281/demo-anaconda/</a:t>
            </a:r>
            <a:r>
              <a:rPr lang="es-CO" sz="21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100" dirty="0">
                <a:hlinkClick r:id="rId4"/>
              </a:rPr>
              <a:t>https://www.datacamp.com/tutorial/installing-anaconda-windows</a:t>
            </a:r>
            <a:endParaRPr lang="es-CO" sz="2100" dirty="0"/>
          </a:p>
          <a:p>
            <a:pPr marL="457200" indent="-457200">
              <a:buFont typeface="+mj-lt"/>
              <a:buAutoNum type="arabicPeriod"/>
            </a:pPr>
            <a:endParaRPr lang="es-CO" sz="2100" dirty="0"/>
          </a:p>
          <a:p>
            <a:endParaRPr lang="es-CO" sz="2100" dirty="0"/>
          </a:p>
        </p:txBody>
      </p:sp>
      <p:pic>
        <p:nvPicPr>
          <p:cNvPr id="13316" name="Picture 4" descr="Anaconda Navigator">
            <a:extLst>
              <a:ext uri="{FF2B5EF4-FFF2-40B4-BE49-F238E27FC236}">
                <a16:creationId xmlns:a16="http://schemas.microsoft.com/office/drawing/2014/main" id="{B0CC66C1-B8D3-4CC1-933B-25792EADE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62" y="3595567"/>
            <a:ext cx="5220072" cy="293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928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67842"/>
            <a:ext cx="8229600" cy="1143000"/>
          </a:xfrm>
        </p:spPr>
        <p:txBody>
          <a:bodyPr>
            <a:normAutofit/>
          </a:bodyPr>
          <a:lstStyle/>
          <a:p>
            <a:r>
              <a:rPr lang="es-CO" dirty="0"/>
              <a:t>Actividad individual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C0857A-6AEE-42FE-9C2F-79F9C895A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321" y="1315175"/>
            <a:ext cx="2500310" cy="181424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F3216DA-25CE-4124-A133-0C2F708D6F0D}"/>
              </a:ext>
            </a:extLst>
          </p:cNvPr>
          <p:cNvSpPr txBox="1"/>
          <p:nvPr/>
        </p:nvSpPr>
        <p:spPr>
          <a:xfrm>
            <a:off x="6852232" y="312942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hlinkClick r:id="rId3"/>
              </a:rPr>
              <a:t>link</a:t>
            </a:r>
            <a:endParaRPr lang="es-CO" dirty="0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CC97F86-9997-48DD-9419-2BE10A84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78" y="1491104"/>
            <a:ext cx="5227849" cy="20076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O" dirty="0"/>
              <a:t>Realizar la actividad del laberinto clásico de code.org</a:t>
            </a:r>
          </a:p>
          <a:p>
            <a:pPr marL="0" indent="0">
              <a:buNone/>
            </a:pPr>
            <a:endParaRPr lang="es-CO" dirty="0"/>
          </a:p>
          <a:p>
            <a:r>
              <a:rPr lang="es-CO" sz="2400" b="1" dirty="0"/>
              <a:t>Nota</a:t>
            </a:r>
            <a:r>
              <a:rPr lang="es-CO" sz="2400" dirty="0"/>
              <a:t>: Acceda a través del link dispuesto para ello en </a:t>
            </a:r>
            <a:r>
              <a:rPr lang="es-CO" sz="2400" dirty="0" err="1"/>
              <a:t>classroom</a:t>
            </a:r>
            <a:r>
              <a:rPr lang="es-CO" sz="24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D40FF6-E757-4B82-B664-E11A09397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339"/>
            <a:ext cx="7486650" cy="284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62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67842"/>
            <a:ext cx="8229600" cy="1143000"/>
          </a:xfrm>
        </p:spPr>
        <p:txBody>
          <a:bodyPr>
            <a:normAutofit/>
          </a:bodyPr>
          <a:lstStyle/>
          <a:p>
            <a:r>
              <a:rPr lang="es-CO" dirty="0"/>
              <a:t>Referencias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CC97F86-9997-48DD-9419-2BE10A84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302" y="1405974"/>
            <a:ext cx="8380497" cy="4327282"/>
          </a:xfrm>
        </p:spPr>
        <p:txBody>
          <a:bodyPr>
            <a:normAutofit fontScale="92500" lnSpcReduction="20000"/>
          </a:bodyPr>
          <a:lstStyle/>
          <a:p>
            <a:r>
              <a:rPr lang="es-CO" dirty="0">
                <a:hlinkClick r:id="rId2"/>
              </a:rPr>
              <a:t>https://github.com/carlosmera20/Logica_y_Representacion_I/tree/main</a:t>
            </a:r>
          </a:p>
          <a:p>
            <a:r>
              <a:rPr lang="es-CO" dirty="0">
                <a:hlinkClick r:id="rId2"/>
              </a:rPr>
              <a:t>https://code.org/</a:t>
            </a:r>
            <a:endParaRPr lang="es-CO" dirty="0"/>
          </a:p>
          <a:p>
            <a:r>
              <a:rPr lang="es-CO" dirty="0">
                <a:hlinkClick r:id="rId3"/>
              </a:rPr>
              <a:t>https://cs50.harvard.edu/x/</a:t>
            </a:r>
            <a:endParaRPr lang="es-CO" dirty="0"/>
          </a:p>
          <a:p>
            <a:r>
              <a:rPr lang="es-CO" dirty="0">
                <a:hlinkClick r:id="rId4"/>
              </a:rPr>
              <a:t>https://cs50.harvard.edu/python/</a:t>
            </a:r>
            <a:endParaRPr lang="es-CO" dirty="0"/>
          </a:p>
          <a:p>
            <a:r>
              <a:rPr lang="es-CO" dirty="0">
                <a:hlinkClick r:id="rId5"/>
              </a:rPr>
              <a:t>https://scratch.mit.edu/</a:t>
            </a:r>
            <a:endParaRPr lang="es-CO" dirty="0"/>
          </a:p>
          <a:p>
            <a:r>
              <a:rPr lang="es-CO" dirty="0">
                <a:hlinkClick r:id="rId6"/>
              </a:rPr>
              <a:t>https://openstax.org/books/introduction-computer-science/pages/1-introduction</a:t>
            </a:r>
            <a:endParaRPr lang="es-CO" dirty="0"/>
          </a:p>
          <a:p>
            <a:r>
              <a:rPr lang="es-CO" dirty="0">
                <a:hlinkClick r:id="rId7"/>
              </a:rPr>
              <a:t>https://openstax.org/details/books/introduction-python-programming</a:t>
            </a:r>
            <a:endParaRPr lang="es-CO" dirty="0"/>
          </a:p>
          <a:p>
            <a:r>
              <a:rPr lang="es-CO" dirty="0">
                <a:hlinkClick r:id="rId8"/>
              </a:rPr>
              <a:t>https://pythontutor.com/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1862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0616"/>
            <a:ext cx="7886700" cy="132556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3ECA8F-0420-4D74-9281-A2434A50C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476439"/>
            <a:ext cx="70485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</TotalTime>
  <Words>1355</Words>
  <Application>Microsoft Office PowerPoint</Application>
  <PresentationFormat>Presentación en pantalla (4:3)</PresentationFormat>
  <Paragraphs>277</Paragraphs>
  <Slides>30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8" baseType="lpstr">
      <vt:lpstr>Arial</vt:lpstr>
      <vt:lpstr>Arial Narrow</vt:lpstr>
      <vt:lpstr>Calibri</vt:lpstr>
      <vt:lpstr>Calibri Light</vt:lpstr>
      <vt:lpstr>Century Gothic</vt:lpstr>
      <vt:lpstr>Courier New</vt:lpstr>
      <vt:lpstr>Roboto</vt:lpstr>
      <vt:lpstr>Office Theme</vt:lpstr>
      <vt:lpstr>Lógica y Representación 1</vt:lpstr>
      <vt:lpstr>Que aprenderemos en este curso</vt:lpstr>
      <vt:lpstr>El computador</vt:lpstr>
      <vt:lpstr>El computador</vt:lpstr>
      <vt:lpstr>Hardware/software</vt:lpstr>
      <vt:lpstr>Hardware</vt:lpstr>
      <vt:lpstr>Software</vt:lpstr>
      <vt:lpstr>¿Cómo se ejecuta un programa?</vt:lpstr>
      <vt:lpstr>Componentes del computador</vt:lpstr>
      <vt:lpstr>Problema</vt:lpstr>
      <vt:lpstr>Algoritmo</vt:lpstr>
      <vt:lpstr>Algoritmo</vt:lpstr>
      <vt:lpstr>Algoritmo</vt:lpstr>
      <vt:lpstr>Algoritmo - Solución</vt:lpstr>
      <vt:lpstr>Programar</vt:lpstr>
      <vt:lpstr>Programar</vt:lpstr>
      <vt:lpstr>Lenguaje de programación</vt:lpstr>
      <vt:lpstr>Programas</vt:lpstr>
      <vt:lpstr>Lenguaje de programación de alto nivel</vt:lpstr>
      <vt:lpstr>Lenguaje de programación de bajo nivel</vt:lpstr>
      <vt:lpstr>Lenguaje de programación de bajo nivel</vt:lpstr>
      <vt:lpstr>Haciendo programas</vt:lpstr>
      <vt:lpstr>Traductor</vt:lpstr>
      <vt:lpstr>Interprete .vs. Compilador</vt:lpstr>
      <vt:lpstr>Ensamblador</vt:lpstr>
      <vt:lpstr>Actividad grupal</vt:lpstr>
      <vt:lpstr>Actividad individual</vt:lpstr>
      <vt:lpstr>Actividad individual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14</cp:revision>
  <dcterms:created xsi:type="dcterms:W3CDTF">2015-03-12T20:27:20Z</dcterms:created>
  <dcterms:modified xsi:type="dcterms:W3CDTF">2026-08-03T16:08:10Z</dcterms:modified>
</cp:coreProperties>
</file>