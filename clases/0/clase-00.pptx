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16"/>
  </p:notesMasterIdLst>
  <p:sldIdLst>
    <p:sldId id="281" r:id="rId2"/>
    <p:sldId id="284" r:id="rId3"/>
    <p:sldId id="283" r:id="rId4"/>
    <p:sldId id="262" r:id="rId5"/>
    <p:sldId id="263" r:id="rId6"/>
    <p:sldId id="266" r:id="rId7"/>
    <p:sldId id="282" r:id="rId8"/>
    <p:sldId id="265" r:id="rId9"/>
    <p:sldId id="268" r:id="rId10"/>
    <p:sldId id="271" r:id="rId11"/>
    <p:sldId id="272" r:id="rId12"/>
    <p:sldId id="278" r:id="rId13"/>
    <p:sldId id="280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9" autoAdjust="0"/>
    <p:restoredTop sz="94684" autoAdjust="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3A3E-55B9-4706-BA6E-9364B5247742}" type="datetimeFigureOut">
              <a:rPr lang="es-CO" smtClean="0"/>
              <a:t>2/08/2026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B099-0CC4-41E8-A6BF-D10E445BFF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68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2/08/2026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620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2/08/2026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991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16AA-8F92-4F8D-9FF5-AE4F5F025475}" type="datetime1">
              <a:rPr lang="es-CO" smtClean="0"/>
              <a:t>2/08/2026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14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889A-C4A3-4C6C-A514-E9566A95FF0B}" type="datetime1">
              <a:rPr lang="es-CO" smtClean="0"/>
              <a:t>2/08/2026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1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49B8-F78E-4015-8DD3-99AC842EEF5C}" type="datetime1">
              <a:rPr lang="es-CO" smtClean="0"/>
              <a:t>2/08/2026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38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2/08/2026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51051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5FDE-4F9B-4FF4-9D4F-6D3ED15F62CE}" type="datetime1">
              <a:rPr lang="es-CO" smtClean="0"/>
              <a:t>2/08/2026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8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92FA-6414-43D4-857F-1D16849F2AFB}" type="datetime1">
              <a:rPr lang="es-CO" smtClean="0"/>
              <a:t>2/08/2026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ADB1-43E6-4CC5-8BA6-A3F5A7E6EF55}" type="datetime1">
              <a:rPr lang="es-CO" smtClean="0"/>
              <a:t>2/08/2026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21E5-6957-4C84-BD80-156D13F58C59}" type="datetime1">
              <a:rPr lang="es-CO" smtClean="0"/>
              <a:t>2/08/2026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61D7-E979-4A0B-B106-A9203ABD6AA5}" type="datetime1">
              <a:rPr lang="es-CO" smtClean="0"/>
              <a:t>2/08/2026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53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2/08/2026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1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E389-1891-4C1C-AE7B-96446A92669F}" type="datetime1">
              <a:rPr lang="es-CO" smtClean="0"/>
              <a:t>2/08/2026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Henry.arcila@udea.edu.c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lgoritmos-UdeA/logica1-20262" TargetMode="External"/><Relationship Id="rId5" Type="http://schemas.openxmlformats.org/officeDocument/2006/relationships/hyperlink" Target="https://github.com/carlosmera20/Logica_y_Representacion_I" TargetMode="External"/><Relationship Id="rId4" Type="http://schemas.openxmlformats.org/officeDocument/2006/relationships/hyperlink" Target="https://classroom.google.com/c/ODcxMjMyMjQ3MDAw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gif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jpe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code.org/e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studio.code.org/us/es/courses/hero/units/1/lessons/1/levels/1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udio.code.org/us/es/flappy/1" TargetMode="External"/><Relationship Id="rId5" Type="http://schemas.openxmlformats.org/officeDocument/2006/relationships/hyperlink" Target="https://studio.code.org/us/es/hoc/1" TargetMode="Externa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cs50.harvard.edu/x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9BB-6F92-48BA-A875-99E15D22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2363"/>
            <a:ext cx="8568952" cy="2387600"/>
          </a:xfrm>
        </p:spPr>
        <p:txBody>
          <a:bodyPr/>
          <a:lstStyle/>
          <a:p>
            <a:r>
              <a:rPr lang="es-CO" dirty="0"/>
              <a:t>Lógica y Representación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999BC-7CCA-4677-B2C4-E913A7AA1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3200" b="1" dirty="0"/>
              <a:t>Presentación del curso</a:t>
            </a:r>
          </a:p>
          <a:p>
            <a:r>
              <a:rPr lang="es-CO" dirty="0"/>
              <a:t>Ingeniería de Sistemas</a:t>
            </a:r>
          </a:p>
          <a:p>
            <a:r>
              <a:rPr lang="es-CO" dirty="0"/>
              <a:t>Universidad de Antioquia</a:t>
            </a:r>
          </a:p>
        </p:txBody>
      </p:sp>
    </p:spTree>
    <p:extLst>
      <p:ext uri="{BB962C8B-B14F-4D97-AF65-F5344CB8AC3E}">
        <p14:creationId xmlns:p14="http://schemas.microsoft.com/office/powerpoint/2010/main" val="7740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2</a:t>
            </a:fld>
            <a:endParaRPr lang="es-CO" dirty="0"/>
          </a:p>
        </p:txBody>
      </p:sp>
      <p:pic>
        <p:nvPicPr>
          <p:cNvPr id="10" name="Picture 2" descr="Día del Maestro: el día que Don Ramón reemplazó al profesor Jirafales y dio  gran lección (VIDEO) | MISCELANEA | CORREO">
            <a:extLst>
              <a:ext uri="{FF2B5EF4-FFF2-40B4-BE49-F238E27FC236}">
                <a16:creationId xmlns:a16="http://schemas.microsoft.com/office/drawing/2014/main" id="{DA44938E-D00C-4254-83B4-53DE7990D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47" y="1628800"/>
            <a:ext cx="6683306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71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Agenda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3</a:t>
            </a:fld>
            <a:endParaRPr lang="es-CO" dirty="0"/>
          </a:p>
        </p:txBody>
      </p:sp>
      <p:sp>
        <p:nvSpPr>
          <p:cNvPr id="7" name="5 CuadroTexto">
            <a:extLst>
              <a:ext uri="{FF2B5EF4-FFF2-40B4-BE49-F238E27FC236}">
                <a16:creationId xmlns:a16="http://schemas.microsoft.com/office/drawing/2014/main" id="{9E58F37F-E2A5-4DDD-82C2-2914B3A91386}"/>
              </a:ext>
            </a:extLst>
          </p:cNvPr>
          <p:cNvSpPr txBox="1"/>
          <p:nvPr/>
        </p:nvSpPr>
        <p:spPr>
          <a:xfrm>
            <a:off x="279151" y="2246275"/>
            <a:ext cx="4752528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b="1" dirty="0">
                <a:latin typeface="Century Gothic" panose="020B0502020202020204" pitchFamily="34" charset="0"/>
              </a:rPr>
              <a:t>ALGORITMO</a:t>
            </a:r>
            <a:r>
              <a:rPr lang="es-MX" sz="1400" dirty="0">
                <a:latin typeface="Century Gothic" panose="020B0502020202020204" pitchFamily="34" charset="0"/>
              </a:rPr>
              <a:t>: Presentación del curso</a:t>
            </a:r>
          </a:p>
          <a:p>
            <a:endParaRPr lang="es-MX" sz="1400" dirty="0">
              <a:latin typeface="Century Gothic" panose="020B0502020202020204" pitchFamily="34" charset="0"/>
            </a:endParaRPr>
          </a:p>
          <a:p>
            <a:r>
              <a:rPr lang="es-MX" sz="1400" b="1" dirty="0">
                <a:latin typeface="Century Gothic" panose="020B0502020202020204" pitchFamily="34" charset="0"/>
              </a:rPr>
              <a:t>INICIO</a:t>
            </a:r>
          </a:p>
          <a:p>
            <a:r>
              <a:rPr lang="es-MX" sz="1400" dirty="0">
                <a:latin typeface="Century Gothic" panose="020B0502020202020204" pitchFamily="34" charset="0"/>
              </a:rPr>
              <a:t>    </a:t>
            </a:r>
            <a:r>
              <a:rPr lang="es-MX" sz="1400" b="1" dirty="0">
                <a:latin typeface="Century Gothic" panose="020B0502020202020204" pitchFamily="34" charset="0"/>
              </a:rPr>
              <a:t>1</a:t>
            </a:r>
            <a:r>
              <a:rPr lang="es-MX" sz="1400" dirty="0">
                <a:latin typeface="Century Gothic" panose="020B0502020202020204" pitchFamily="34" charset="0"/>
              </a:rPr>
              <a:t>. Presentar el curso.</a:t>
            </a:r>
          </a:p>
          <a:p>
            <a:r>
              <a:rPr lang="es-MX" sz="1400" dirty="0">
                <a:latin typeface="Century Gothic" panose="020B0502020202020204" pitchFamily="34" charset="0"/>
              </a:rPr>
              <a:t>    </a:t>
            </a:r>
            <a:r>
              <a:rPr lang="es-MX" sz="1400" b="1" dirty="0">
                <a:latin typeface="Century Gothic" panose="020B0502020202020204" pitchFamily="34" charset="0"/>
              </a:rPr>
              <a:t>2</a:t>
            </a:r>
            <a:r>
              <a:rPr lang="es-MX" sz="1400" dirty="0">
                <a:latin typeface="Century Gothic" panose="020B0502020202020204" pitchFamily="34" charset="0"/>
              </a:rPr>
              <a:t>. Preguntar si hay dudas</a:t>
            </a:r>
          </a:p>
          <a:p>
            <a:r>
              <a:rPr lang="es-MX" sz="1400" dirty="0">
                <a:latin typeface="Century Gothic" panose="020B0502020202020204" pitchFamily="34" charset="0"/>
              </a:rPr>
              <a:t>    </a:t>
            </a:r>
            <a:r>
              <a:rPr lang="es-MX" sz="1400" b="1" dirty="0">
                <a:latin typeface="Century Gothic" panose="020B0502020202020204" pitchFamily="34" charset="0"/>
              </a:rPr>
              <a:t>3</a:t>
            </a:r>
            <a:r>
              <a:rPr lang="es-MX" sz="1400" dirty="0">
                <a:latin typeface="Century Gothic" panose="020B0502020202020204" pitchFamily="34" charset="0"/>
              </a:rPr>
              <a:t>. Mientras </a:t>
            </a:r>
            <a:r>
              <a:rPr lang="es-MX" sz="1400" dirty="0">
                <a:solidFill>
                  <a:srgbClr val="00B050"/>
                </a:solidFill>
                <a:latin typeface="Century Gothic" panose="020B0502020202020204" pitchFamily="34" charset="0"/>
              </a:rPr>
              <a:t>existan dudas </a:t>
            </a:r>
            <a:r>
              <a:rPr lang="es-MX" sz="1400" dirty="0">
                <a:latin typeface="Century Gothic" panose="020B0502020202020204" pitchFamily="34" charset="0"/>
              </a:rPr>
              <a:t>de los estudiantes hacer:</a:t>
            </a:r>
          </a:p>
          <a:p>
            <a:r>
              <a:rPr lang="es-MX" sz="1400" dirty="0">
                <a:latin typeface="Century Gothic" panose="020B0502020202020204" pitchFamily="34" charset="0"/>
              </a:rPr>
              <a:t>        i. Escuchar duda.</a:t>
            </a:r>
          </a:p>
          <a:p>
            <a:r>
              <a:rPr lang="es-MX" sz="1400" dirty="0">
                <a:latin typeface="Century Gothic" panose="020B0502020202020204" pitchFamily="34" charset="0"/>
              </a:rPr>
              <a:t>        </a:t>
            </a:r>
            <a:r>
              <a:rPr lang="es-MX" sz="1400" dirty="0" err="1">
                <a:latin typeface="Century Gothic" panose="020B0502020202020204" pitchFamily="34" charset="0"/>
              </a:rPr>
              <a:t>ii</a:t>
            </a:r>
            <a:r>
              <a:rPr lang="es-MX" sz="1400" dirty="0">
                <a:latin typeface="Century Gothic" panose="020B0502020202020204" pitchFamily="34" charset="0"/>
              </a:rPr>
              <a:t>. Responder duda.</a:t>
            </a:r>
          </a:p>
          <a:p>
            <a:r>
              <a:rPr lang="es-MX" sz="1400" dirty="0">
                <a:latin typeface="Century Gothic" panose="020B0502020202020204" pitchFamily="34" charset="0"/>
              </a:rPr>
              <a:t>        </a:t>
            </a:r>
            <a:r>
              <a:rPr lang="es-MX" sz="1400" dirty="0" err="1">
                <a:latin typeface="Century Gothic" panose="020B0502020202020204" pitchFamily="34" charset="0"/>
              </a:rPr>
              <a:t>iii</a:t>
            </a:r>
            <a:r>
              <a:rPr lang="es-MX" sz="1400" dirty="0">
                <a:latin typeface="Century Gothic" panose="020B0502020202020204" pitchFamily="34" charset="0"/>
              </a:rPr>
              <a:t>. Preguntar si hay dudas</a:t>
            </a:r>
          </a:p>
          <a:p>
            <a:r>
              <a:rPr lang="es-MX" sz="1400" dirty="0">
                <a:latin typeface="Century Gothic" panose="020B0502020202020204" pitchFamily="34" charset="0"/>
              </a:rPr>
              <a:t>    </a:t>
            </a:r>
            <a:r>
              <a:rPr lang="es-MX" sz="1400" b="1" dirty="0">
                <a:latin typeface="Century Gothic" panose="020B0502020202020204" pitchFamily="34" charset="0"/>
              </a:rPr>
              <a:t>4</a:t>
            </a:r>
            <a:r>
              <a:rPr lang="es-MX" sz="1400" dirty="0">
                <a:latin typeface="Century Gothic" panose="020B0502020202020204" pitchFamily="34" charset="0"/>
              </a:rPr>
              <a:t>. Asignar tarea.</a:t>
            </a:r>
          </a:p>
          <a:p>
            <a:r>
              <a:rPr lang="es-MX" sz="1400" dirty="0">
                <a:latin typeface="Century Gothic" panose="020B0502020202020204" pitchFamily="34" charset="0"/>
              </a:rPr>
              <a:t>    </a:t>
            </a:r>
            <a:r>
              <a:rPr lang="es-MX" sz="1400" b="1" dirty="0">
                <a:latin typeface="Century Gothic" panose="020B0502020202020204" pitchFamily="34" charset="0"/>
              </a:rPr>
              <a:t>5</a:t>
            </a:r>
            <a:r>
              <a:rPr lang="es-MX" sz="1400" dirty="0">
                <a:latin typeface="Century Gothic" panose="020B0502020202020204" pitchFamily="34" charset="0"/>
              </a:rPr>
              <a:t>. Finalizar clase.</a:t>
            </a:r>
          </a:p>
          <a:p>
            <a:r>
              <a:rPr lang="es-MX" sz="1400" b="1" dirty="0">
                <a:latin typeface="Century Gothic" panose="020B0502020202020204" pitchFamily="34" charset="0"/>
              </a:rPr>
              <a:t>FIN ALGORITMO</a:t>
            </a:r>
            <a:endParaRPr lang="es-CO" sz="1400" b="1" dirty="0"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E0741B-AFB2-4985-8A3F-1BFF678AD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111" y="1378483"/>
            <a:ext cx="3484738" cy="410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3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Objetivos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8187" y="1664202"/>
            <a:ext cx="7886700" cy="4351338"/>
          </a:xfrm>
        </p:spPr>
        <p:txBody>
          <a:bodyPr>
            <a:noAutofit/>
          </a:bodyPr>
          <a:lstStyle/>
          <a:p>
            <a:r>
              <a:rPr lang="es-MX" sz="2400" b="1" dirty="0"/>
              <a:t>Reconocer</a:t>
            </a:r>
            <a:r>
              <a:rPr lang="es-MX" sz="2400" dirty="0"/>
              <a:t> los componentes del computador y el proceso general de desarrollo de software</a:t>
            </a:r>
          </a:p>
          <a:p>
            <a:pPr>
              <a:lnSpc>
                <a:spcPct val="100000"/>
              </a:lnSpc>
            </a:pPr>
            <a:r>
              <a:rPr lang="es-MX" sz="2400" b="1" dirty="0"/>
              <a:t>Formular</a:t>
            </a:r>
            <a:r>
              <a:rPr lang="es-MX" sz="2400" dirty="0"/>
              <a:t> soluciones algorítmicas haciendo uso de estructuras de control secuenciales, selectivas y repetitivas</a:t>
            </a:r>
          </a:p>
          <a:p>
            <a:r>
              <a:rPr lang="es-MX" sz="2400" b="1" dirty="0"/>
              <a:t>Representar</a:t>
            </a:r>
            <a:r>
              <a:rPr lang="es-MX" sz="2400" dirty="0"/>
              <a:t> problemas reales aplicando conceptos introductorios de la Programación Orientada a Objetos (abstracción y encapsulamiento)</a:t>
            </a:r>
          </a:p>
          <a:p>
            <a:r>
              <a:rPr lang="es-MX" sz="2400" b="1" dirty="0"/>
              <a:t>Codificar</a:t>
            </a:r>
            <a:r>
              <a:rPr lang="es-MX" sz="2400" dirty="0"/>
              <a:t> algoritmos e integrar estructuras de datos estáticas y persistencia mediante el lenguaje Python.</a:t>
            </a:r>
          </a:p>
          <a:p>
            <a:endParaRPr lang="es-ES" sz="2400" dirty="0"/>
          </a:p>
          <a:p>
            <a:endParaRPr lang="es-CO" sz="24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4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15317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Contenido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587737"/>
            <a:ext cx="7886700" cy="400150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2400" b="1" dirty="0"/>
              <a:t>Unidad 1</a:t>
            </a:r>
            <a:r>
              <a:rPr lang="es-ES" sz="2400" dirty="0"/>
              <a:t>: </a:t>
            </a:r>
            <a:r>
              <a:rPr lang="es-MX" sz="2400" dirty="0"/>
              <a:t>Algoritmos Secuenciales	</a:t>
            </a:r>
          </a:p>
          <a:p>
            <a:pPr>
              <a:lnSpc>
                <a:spcPct val="100000"/>
              </a:lnSpc>
            </a:pPr>
            <a:r>
              <a:rPr lang="es-MX" sz="2400" b="1" dirty="0"/>
              <a:t>Unidad 2</a:t>
            </a:r>
            <a:r>
              <a:rPr lang="es-MX" sz="2400" dirty="0"/>
              <a:t>: Estructuras de Control Selectivas</a:t>
            </a:r>
          </a:p>
          <a:p>
            <a:pPr>
              <a:lnSpc>
                <a:spcPct val="100000"/>
              </a:lnSpc>
            </a:pPr>
            <a:r>
              <a:rPr lang="es-MX" sz="2400" b="1" dirty="0"/>
              <a:t>Unidad 3</a:t>
            </a:r>
            <a:r>
              <a:rPr lang="es-MX" sz="2400" dirty="0"/>
              <a:t>: Estructuras de Control Repetitivas</a:t>
            </a:r>
          </a:p>
          <a:p>
            <a:pPr>
              <a:lnSpc>
                <a:spcPct val="100000"/>
              </a:lnSpc>
            </a:pPr>
            <a:r>
              <a:rPr lang="es-MX" sz="2400" b="1" dirty="0"/>
              <a:t>Unidad 4</a:t>
            </a:r>
            <a:r>
              <a:rPr lang="es-MX" sz="2400" dirty="0"/>
              <a:t>: Introducción a la Programación Orientada a Objetos</a:t>
            </a:r>
          </a:p>
          <a:p>
            <a:pPr>
              <a:lnSpc>
                <a:spcPct val="100000"/>
              </a:lnSpc>
            </a:pPr>
            <a:r>
              <a:rPr lang="es-MX" sz="2400" b="1" dirty="0"/>
              <a:t>Unidad 5</a:t>
            </a:r>
            <a:r>
              <a:rPr lang="es-MX" sz="2400" dirty="0"/>
              <a:t>: Arreglos Unidimensionales	</a:t>
            </a:r>
          </a:p>
          <a:p>
            <a:pPr>
              <a:lnSpc>
                <a:spcPct val="100000"/>
              </a:lnSpc>
            </a:pPr>
            <a:r>
              <a:rPr lang="es-MX" sz="2400" b="1" dirty="0"/>
              <a:t>Unidad 6</a:t>
            </a:r>
            <a:r>
              <a:rPr lang="es-MX" sz="2400" dirty="0"/>
              <a:t>: Arreglos Bidimensionales	</a:t>
            </a:r>
          </a:p>
          <a:p>
            <a:pPr>
              <a:lnSpc>
                <a:spcPct val="100000"/>
              </a:lnSpc>
            </a:pPr>
            <a:r>
              <a:rPr lang="es-MX" sz="2400" b="1" dirty="0"/>
              <a:t>Unidad 7</a:t>
            </a:r>
            <a:r>
              <a:rPr lang="es-MX" sz="2400" dirty="0"/>
              <a:t>: Persistencia de Datos con Archivos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85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40541"/>
          </a:xfrm>
        </p:spPr>
        <p:txBody>
          <a:bodyPr/>
          <a:lstStyle/>
          <a:p>
            <a:r>
              <a:rPr lang="es-CO" dirty="0"/>
              <a:t>Equipo de trabajo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9552" y="1690689"/>
            <a:ext cx="7975798" cy="3761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O" sz="2400" b="1" dirty="0"/>
              <a:t>Monitores</a:t>
            </a:r>
            <a:r>
              <a:rPr lang="es-CO" sz="2400" dirty="0"/>
              <a:t>: </a:t>
            </a:r>
          </a:p>
          <a:p>
            <a:r>
              <a:rPr lang="es-CO" sz="2400" b="1" dirty="0"/>
              <a:t>Nombre</a:t>
            </a:r>
            <a:r>
              <a:rPr lang="es-CO" sz="2400" dirty="0"/>
              <a:t>: Por definir</a:t>
            </a:r>
          </a:p>
          <a:p>
            <a:r>
              <a:rPr lang="es-CO" sz="2400" b="1" dirty="0"/>
              <a:t>Horario de atención</a:t>
            </a:r>
            <a:r>
              <a:rPr lang="es-CO" sz="2400" dirty="0"/>
              <a:t>: Por definir</a:t>
            </a:r>
          </a:p>
          <a:p>
            <a:r>
              <a:rPr lang="es-CO" sz="2400" b="1" dirty="0"/>
              <a:t>Lugar</a:t>
            </a:r>
            <a:r>
              <a:rPr lang="es-CO" sz="2400" dirty="0"/>
              <a:t>: Por definir</a:t>
            </a:r>
          </a:p>
          <a:p>
            <a:endParaRPr lang="es-CO" sz="2400" dirty="0"/>
          </a:p>
          <a:p>
            <a:pPr>
              <a:buNone/>
            </a:pPr>
            <a:r>
              <a:rPr lang="es-CO" sz="2400" b="1" dirty="0"/>
              <a:t>Profesor teoría</a:t>
            </a:r>
            <a:r>
              <a:rPr lang="es-CO" sz="2400" dirty="0"/>
              <a:t>: </a:t>
            </a:r>
          </a:p>
          <a:p>
            <a:r>
              <a:rPr lang="es-CO" sz="2400" b="1" dirty="0"/>
              <a:t>Nombre</a:t>
            </a:r>
            <a:r>
              <a:rPr lang="es-CO" sz="2400" dirty="0"/>
              <a:t>: Henry Arcila</a:t>
            </a:r>
          </a:p>
          <a:p>
            <a:r>
              <a:rPr lang="es-CO" sz="2400" b="1" dirty="0"/>
              <a:t>Email</a:t>
            </a:r>
            <a:r>
              <a:rPr lang="es-CO" sz="2400" dirty="0"/>
              <a:t>: </a:t>
            </a:r>
            <a:r>
              <a:rPr lang="en-US" sz="2000" dirty="0" err="1">
                <a:hlinkClick r:id="rId2"/>
              </a:rPr>
              <a:t>henry.arcila</a:t>
            </a:r>
            <a:r>
              <a:rPr lang="en-US" sz="2000" dirty="0">
                <a:hlinkClick r:id="rId2"/>
              </a:rPr>
              <a:t>@</a:t>
            </a:r>
            <a:r>
              <a:rPr lang="es-CO" sz="2000" dirty="0">
                <a:hlinkClick r:id="rId2"/>
              </a:rPr>
              <a:t>udea.edu.co</a:t>
            </a:r>
            <a:r>
              <a:rPr lang="es-CO" sz="2000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37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Recursos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D32DC70-48B9-4E0C-8D41-B6D5C723F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938141"/>
            <a:ext cx="1305216" cy="1124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4A7AD4F-206E-4464-AE8D-5854E88B3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60" y="4017628"/>
            <a:ext cx="1632796" cy="132556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8BDCB1D-DD57-4148-943C-772C8B78BF07}"/>
              </a:ext>
            </a:extLst>
          </p:cNvPr>
          <p:cNvSpPr txBox="1"/>
          <p:nvPr/>
        </p:nvSpPr>
        <p:spPr>
          <a:xfrm>
            <a:off x="2339752" y="1938141"/>
            <a:ext cx="547399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Google classroom</a:t>
            </a:r>
          </a:p>
          <a:p>
            <a:r>
              <a:rPr lang="es-CO" sz="1800" dirty="0">
                <a:hlinkClick r:id="rId4"/>
              </a:rPr>
              <a:t>https://classroom.google.com/c/ODcxMjMyMjQ3MDAw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82087A1-4B34-4FAD-A122-B2B25BC782CB}"/>
              </a:ext>
            </a:extLst>
          </p:cNvPr>
          <p:cNvSpPr txBox="1"/>
          <p:nvPr/>
        </p:nvSpPr>
        <p:spPr>
          <a:xfrm>
            <a:off x="2195736" y="3895580"/>
            <a:ext cx="65094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Repositorios</a:t>
            </a:r>
            <a:endParaRPr lang="es-CO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Texto guía</a:t>
            </a:r>
            <a:r>
              <a:rPr lang="es-CO" dirty="0"/>
              <a:t>: </a:t>
            </a:r>
            <a:r>
              <a:rPr lang="es-CO" dirty="0">
                <a:hlinkClick r:id="rId5"/>
              </a:rPr>
              <a:t>https://github.com/carlosmera20/Logica_y_Representacion_I</a:t>
            </a:r>
            <a:r>
              <a:rPr lang="es-CO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Material de clase</a:t>
            </a:r>
            <a:r>
              <a:rPr lang="es-CO" dirty="0"/>
              <a:t>: </a:t>
            </a:r>
            <a:r>
              <a:rPr lang="es-CO" dirty="0">
                <a:hlinkClick r:id="rId6"/>
              </a:rPr>
              <a:t>https://github.com/algoritmos-UdeA/logica1-20262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8857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Evaluación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484784"/>
            <a:ext cx="7886700" cy="4680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O" sz="2400" b="1" dirty="0"/>
              <a:t>Laboratorios y actividades de seguimiento</a:t>
            </a:r>
            <a:r>
              <a:rPr lang="es-CO" sz="2400" dirty="0"/>
              <a:t>: 20%</a:t>
            </a:r>
          </a:p>
          <a:p>
            <a:pPr>
              <a:buNone/>
            </a:pPr>
            <a:r>
              <a:rPr lang="es-CO" sz="2400" b="1" dirty="0"/>
              <a:t>Teoría</a:t>
            </a:r>
            <a:r>
              <a:rPr lang="es-CO" sz="2400" dirty="0"/>
              <a:t>: 65%</a:t>
            </a:r>
          </a:p>
          <a:p>
            <a:pPr lvl="1"/>
            <a:r>
              <a:rPr lang="es-CO" sz="2000" dirty="0"/>
              <a:t>Examen 1 (10%): Algoritmos secuenciales</a:t>
            </a:r>
          </a:p>
          <a:p>
            <a:pPr lvl="1"/>
            <a:r>
              <a:rPr lang="es-CO" sz="2000" dirty="0"/>
              <a:t>Examen 2 (20%): Estructuras de control selectivas y repetitivas</a:t>
            </a:r>
          </a:p>
          <a:p>
            <a:pPr lvl="1"/>
            <a:r>
              <a:rPr lang="es-CO" sz="2000" dirty="0"/>
              <a:t>Examen 3 (15%): Programación Orientada a Objetos</a:t>
            </a:r>
          </a:p>
          <a:p>
            <a:pPr lvl="1"/>
            <a:r>
              <a:rPr lang="es-CO" sz="2000" dirty="0"/>
              <a:t>Examen 4 (20%): Arreglos y matrices</a:t>
            </a:r>
          </a:p>
          <a:p>
            <a:pPr marL="57150" indent="0">
              <a:buNone/>
            </a:pPr>
            <a:r>
              <a:rPr lang="es-CO" sz="2400" b="1" dirty="0"/>
              <a:t>Proyecto de aula</a:t>
            </a:r>
            <a:r>
              <a:rPr lang="es-CO" sz="2400" dirty="0"/>
              <a:t>: 15%</a:t>
            </a:r>
          </a:p>
          <a:p>
            <a:pPr marL="57150" indent="0">
              <a:buNone/>
            </a:pPr>
            <a:r>
              <a:rPr lang="es-CO" sz="2400" dirty="0"/>
              <a:t>Supletorios sólo bajo las normas de la universidad</a:t>
            </a:r>
          </a:p>
          <a:p>
            <a:pPr marL="57150" indent="0">
              <a:buNone/>
            </a:pPr>
            <a:endParaRPr lang="es-CO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5" name="14 Grupo"/>
          <p:cNvGrpSpPr/>
          <p:nvPr/>
        </p:nvGrpSpPr>
        <p:grpSpPr>
          <a:xfrm>
            <a:off x="1112148" y="3038167"/>
            <a:ext cx="7403202" cy="1057889"/>
            <a:chOff x="1259632" y="3141406"/>
            <a:chExt cx="7403202" cy="1057889"/>
          </a:xfrm>
        </p:grpSpPr>
        <p:sp>
          <p:nvSpPr>
            <p:cNvPr id="9" name="8 Rectángulo redondeado"/>
            <p:cNvSpPr/>
            <p:nvPr/>
          </p:nvSpPr>
          <p:spPr>
            <a:xfrm>
              <a:off x="1259632" y="3141406"/>
              <a:ext cx="6144058" cy="308553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1" name="10 Conector recto de flecha"/>
            <p:cNvCxnSpPr>
              <a:cxnSpLocks/>
            </p:cNvCxnSpPr>
            <p:nvPr/>
          </p:nvCxnSpPr>
          <p:spPr>
            <a:xfrm>
              <a:off x="6015628" y="3449960"/>
              <a:ext cx="432048" cy="396609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11 CuadroTexto"/>
            <p:cNvSpPr txBox="1"/>
            <p:nvPr/>
          </p:nvSpPr>
          <p:spPr>
            <a:xfrm>
              <a:off x="6449943" y="3614520"/>
              <a:ext cx="22128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dirty="0">
                  <a:solidFill>
                    <a:srgbClr val="FF0000"/>
                  </a:solidFill>
                </a:rPr>
                <a:t>¡Cancelación ANTES de este examen!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35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Recomendaciones generales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 lnSpcReduction="10000"/>
          </a:bodyPr>
          <a:lstStyle/>
          <a:p>
            <a:r>
              <a:rPr lang="es-CO" sz="2400" dirty="0"/>
              <a:t>Ponga atención a que los </a:t>
            </a:r>
            <a:r>
              <a:rPr lang="es-CO" sz="2400" b="1" dirty="0">
                <a:solidFill>
                  <a:schemeClr val="accent5"/>
                </a:solidFill>
              </a:rPr>
              <a:t>métodos de estudio </a:t>
            </a:r>
            <a:r>
              <a:rPr lang="es-CO" sz="2400" dirty="0"/>
              <a:t>que usa sí sean adecuados. Una buena preparación para los exámenes debe incluir:</a:t>
            </a:r>
          </a:p>
          <a:p>
            <a:pPr lvl="1"/>
            <a:r>
              <a:rPr lang="es-CO" sz="2000" dirty="0"/>
              <a:t>Asegurarse de </a:t>
            </a:r>
            <a:r>
              <a:rPr lang="es-CO" sz="2000" b="1" dirty="0">
                <a:solidFill>
                  <a:schemeClr val="accent5"/>
                </a:solidFill>
              </a:rPr>
              <a:t>entender los conceptos </a:t>
            </a:r>
            <a:r>
              <a:rPr lang="es-CO" sz="2000" dirty="0"/>
              <a:t>vistos (usar diapositivas sólo como guía de temas)</a:t>
            </a:r>
          </a:p>
          <a:p>
            <a:pPr lvl="1"/>
            <a:r>
              <a:rPr lang="es-CO" sz="2000" dirty="0"/>
              <a:t>Hacer como mínimo los </a:t>
            </a:r>
            <a:r>
              <a:rPr lang="es-CO" sz="2000" b="1" dirty="0">
                <a:solidFill>
                  <a:schemeClr val="accent5"/>
                </a:solidFill>
              </a:rPr>
              <a:t>ejercicios sugeridos </a:t>
            </a:r>
            <a:r>
              <a:rPr lang="es-CO" sz="2000" dirty="0"/>
              <a:t>por el profesor</a:t>
            </a:r>
          </a:p>
          <a:p>
            <a:r>
              <a:rPr lang="es-CO" sz="2400" dirty="0"/>
              <a:t>Aproveche los espacios de </a:t>
            </a:r>
            <a:r>
              <a:rPr lang="es-CO" sz="2400" b="1" dirty="0">
                <a:solidFill>
                  <a:schemeClr val="accent5"/>
                </a:solidFill>
              </a:rPr>
              <a:t>monitoría</a:t>
            </a:r>
            <a:r>
              <a:rPr lang="es-CO" sz="2400" dirty="0">
                <a:solidFill>
                  <a:schemeClr val="accent5"/>
                </a:solidFill>
              </a:rPr>
              <a:t> </a:t>
            </a:r>
            <a:r>
              <a:rPr lang="es-CO" sz="2400" dirty="0"/>
              <a:t>y asesoría.</a:t>
            </a:r>
          </a:p>
          <a:p>
            <a:r>
              <a:rPr lang="es-CO" sz="2400" dirty="0"/>
              <a:t>Tómese el curso en serio desde el principio y solo cancele en caso de fuerza mayor.</a:t>
            </a:r>
          </a:p>
          <a:p>
            <a:r>
              <a:rPr lang="es-CO" sz="2400" dirty="0"/>
              <a:t>Si tiene problemas académicos o personales que afecten su vida académica acuda a la asesoría de los profesores y a Bienestar Universitario.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008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365126"/>
            <a:ext cx="8352928" cy="1325563"/>
          </a:xfrm>
        </p:spPr>
        <p:txBody>
          <a:bodyPr>
            <a:normAutofit/>
          </a:bodyPr>
          <a:lstStyle/>
          <a:p>
            <a:r>
              <a:rPr lang="es-CO" dirty="0"/>
              <a:t>Herramientas de trabajo necesarias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074" name="Picture 2" descr="http://pngimg.com/upload/computer_pc_PNG772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784" y="5509567"/>
            <a:ext cx="903990" cy="903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www.jcopro.net/wp-content/uploads/2011/12/ubuntu-logo1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441" y="4298245"/>
            <a:ext cx="770711" cy="78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6 Conector recto"/>
          <p:cNvCxnSpPr/>
          <p:nvPr/>
        </p:nvCxnSpPr>
        <p:spPr>
          <a:xfrm>
            <a:off x="874069" y="5334001"/>
            <a:ext cx="7200900" cy="9524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928898" y="4041222"/>
            <a:ext cx="7192466" cy="1116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921655" y="2924055"/>
            <a:ext cx="7199709" cy="20167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875260" y="1744191"/>
            <a:ext cx="7180659" cy="840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845494" y="6457950"/>
            <a:ext cx="7248525" cy="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"/>
          <p:cNvSpPr/>
          <p:nvPr/>
        </p:nvSpPr>
        <p:spPr>
          <a:xfrm>
            <a:off x="4958444" y="5732782"/>
            <a:ext cx="3089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b="1" dirty="0">
                <a:solidFill>
                  <a:schemeClr val="accent1"/>
                </a:solidFill>
              </a:rPr>
              <a:t>Computador de escritorio</a:t>
            </a:r>
          </a:p>
        </p:txBody>
      </p:sp>
      <p:sp>
        <p:nvSpPr>
          <p:cNvPr id="21" name="20 Rectángulo"/>
          <p:cNvSpPr/>
          <p:nvPr/>
        </p:nvSpPr>
        <p:spPr>
          <a:xfrm>
            <a:off x="6144921" y="4505356"/>
            <a:ext cx="1902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b="1" dirty="0">
                <a:solidFill>
                  <a:schemeClr val="accent1"/>
                </a:solidFill>
              </a:rPr>
              <a:t>Sistema operativo</a:t>
            </a:r>
          </a:p>
        </p:txBody>
      </p:sp>
      <p:pic>
        <p:nvPicPr>
          <p:cNvPr id="3090" name="Picture 18" descr="http://area-community.net/index.php/Attachment/112-Debian-OpenLogo-png/?s=f77ce0b2f5e78677e59347e2d5d164e0192a585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783" y="4241513"/>
            <a:ext cx="770711" cy="82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http://electronicdesign.com/site-files/electronicdesign.com/files/uploads/2013/09/89671_fig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35" y="3214464"/>
            <a:ext cx="1142662" cy="64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File:Java logo and wordmark.sv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82" y="2975730"/>
            <a:ext cx="528653" cy="96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0" name="Picture 28" descr="http://img3.wikia.nocookie.net/__cb20111021123118/autodeskmaya/images/3/31/Python-logo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663" y="3183251"/>
            <a:ext cx="677047" cy="677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57 Rectángulo"/>
          <p:cNvSpPr/>
          <p:nvPr/>
        </p:nvSpPr>
        <p:spPr>
          <a:xfrm>
            <a:off x="5627383" y="3268664"/>
            <a:ext cx="2466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b="1" dirty="0">
                <a:solidFill>
                  <a:schemeClr val="accent1"/>
                </a:solidFill>
              </a:rPr>
              <a:t>Interprete / Compilador</a:t>
            </a:r>
          </a:p>
        </p:txBody>
      </p:sp>
      <p:sp>
        <p:nvSpPr>
          <p:cNvPr id="59" name="58 Rectángulo"/>
          <p:cNvSpPr/>
          <p:nvPr/>
        </p:nvSpPr>
        <p:spPr>
          <a:xfrm>
            <a:off x="7415847" y="2092982"/>
            <a:ext cx="631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 err="1">
                <a:solidFill>
                  <a:schemeClr val="accent1"/>
                </a:solidFill>
              </a:rPr>
              <a:t>IDEs</a:t>
            </a:r>
            <a:endParaRPr lang="es-CO" b="1" dirty="0">
              <a:solidFill>
                <a:schemeClr val="accent1"/>
              </a:solidFill>
            </a:endParaRPr>
          </a:p>
        </p:txBody>
      </p:sp>
      <p:sp>
        <p:nvSpPr>
          <p:cNvPr id="3094" name="3093 Rectángulo redondeado"/>
          <p:cNvSpPr/>
          <p:nvPr/>
        </p:nvSpPr>
        <p:spPr>
          <a:xfrm>
            <a:off x="959793" y="5448299"/>
            <a:ext cx="1038225" cy="952501"/>
          </a:xfrm>
          <a:prstGeom prst="roundRect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" name="62 Rectángulo redondeado"/>
          <p:cNvSpPr/>
          <p:nvPr/>
        </p:nvSpPr>
        <p:spPr>
          <a:xfrm>
            <a:off x="3099482" y="3149873"/>
            <a:ext cx="838200" cy="742950"/>
          </a:xfrm>
          <a:prstGeom prst="roundRect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655B038D-CEDD-4396-953E-9C0B0E0B7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488" y="4324947"/>
            <a:ext cx="1096249" cy="6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8E8987A5-A14C-4C78-B231-8737B8F09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788" y="1868456"/>
            <a:ext cx="739110" cy="73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B5CE108D-0811-4AE7-8297-BC46B6F7D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519" y="1898625"/>
            <a:ext cx="880940" cy="880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Visual Studio Code - Wikipedia">
            <a:extLst>
              <a:ext uri="{FF2B5EF4-FFF2-40B4-BE49-F238E27FC236}">
                <a16:creationId xmlns:a16="http://schemas.microsoft.com/office/drawing/2014/main" id="{91F254AF-4DB1-4F46-9515-0AF470653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64" y="2028260"/>
            <a:ext cx="687780" cy="68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63 Rectángulo redondeado">
            <a:extLst>
              <a:ext uri="{FF2B5EF4-FFF2-40B4-BE49-F238E27FC236}">
                <a16:creationId xmlns:a16="http://schemas.microsoft.com/office/drawing/2014/main" id="{F56E73AC-BFC4-4C08-BB5E-70B297609A9A}"/>
              </a:ext>
            </a:extLst>
          </p:cNvPr>
          <p:cNvSpPr/>
          <p:nvPr/>
        </p:nvSpPr>
        <p:spPr>
          <a:xfrm>
            <a:off x="1998018" y="1845682"/>
            <a:ext cx="1076326" cy="1012182"/>
          </a:xfrm>
          <a:prstGeom prst="roundRect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BB443301-C5A1-48BD-A9BE-DAAF75900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793" y="1940210"/>
            <a:ext cx="687781" cy="79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63 Rectángulo redondeado">
            <a:extLst>
              <a:ext uri="{FF2B5EF4-FFF2-40B4-BE49-F238E27FC236}">
                <a16:creationId xmlns:a16="http://schemas.microsoft.com/office/drawing/2014/main" id="{4547AA16-C170-480C-9777-245A9CB5A6E4}"/>
              </a:ext>
            </a:extLst>
          </p:cNvPr>
          <p:cNvSpPr/>
          <p:nvPr/>
        </p:nvSpPr>
        <p:spPr>
          <a:xfrm>
            <a:off x="4144991" y="1836034"/>
            <a:ext cx="1076326" cy="1012182"/>
          </a:xfrm>
          <a:prstGeom prst="roundRect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3093 Rectángulo redondeado">
            <a:extLst>
              <a:ext uri="{FF2B5EF4-FFF2-40B4-BE49-F238E27FC236}">
                <a16:creationId xmlns:a16="http://schemas.microsoft.com/office/drawing/2014/main" id="{078A2BDD-DB42-4276-AC86-99EA874A3F27}"/>
              </a:ext>
            </a:extLst>
          </p:cNvPr>
          <p:cNvSpPr/>
          <p:nvPr/>
        </p:nvSpPr>
        <p:spPr>
          <a:xfrm>
            <a:off x="3004099" y="4199460"/>
            <a:ext cx="1287682" cy="952501"/>
          </a:xfrm>
          <a:prstGeom prst="roundRect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3018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Para aprender a programar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4 Rectángulo"/>
          <p:cNvSpPr/>
          <p:nvPr/>
        </p:nvSpPr>
        <p:spPr>
          <a:xfrm>
            <a:off x="3534152" y="5539226"/>
            <a:ext cx="2075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dirty="0">
                <a:hlinkClick r:id="rId2"/>
              </a:rPr>
              <a:t>https://code.org/es</a:t>
            </a:r>
            <a:r>
              <a:rPr lang="es-CO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29BE9A-1B4C-49EC-8BBC-574A95FC7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761000"/>
            <a:ext cx="7488832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3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67842"/>
            <a:ext cx="8229600" cy="1143000"/>
          </a:xfrm>
        </p:spPr>
        <p:txBody>
          <a:bodyPr>
            <a:normAutofit/>
          </a:bodyPr>
          <a:lstStyle/>
          <a:p>
            <a:r>
              <a:rPr lang="es-CO" dirty="0"/>
              <a:t>Para aprender a programar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8C0857A-6AEE-42FE-9C2F-79F9C895A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03" y="2708920"/>
            <a:ext cx="2500310" cy="181424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80796F2-B4D8-4F0F-9069-485D79CF9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690" y="2708920"/>
            <a:ext cx="2500310" cy="179588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77A4A71-33B8-4424-8964-9E8759C22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441" y="2713683"/>
            <a:ext cx="2486204" cy="18003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F3216DA-25CE-4124-A133-0C2F708D6F0D}"/>
              </a:ext>
            </a:extLst>
          </p:cNvPr>
          <p:cNvSpPr txBox="1"/>
          <p:nvPr/>
        </p:nvSpPr>
        <p:spPr>
          <a:xfrm>
            <a:off x="1298214" y="4797152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hlinkClick r:id="rId5"/>
              </a:rPr>
              <a:t>link</a:t>
            </a:r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E0B788A-8DE8-4C4A-A36D-D9286A09644D}"/>
              </a:ext>
            </a:extLst>
          </p:cNvPr>
          <p:cNvSpPr txBox="1"/>
          <p:nvPr/>
        </p:nvSpPr>
        <p:spPr>
          <a:xfrm>
            <a:off x="4166601" y="4797152"/>
            <a:ext cx="51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hlinkClick r:id="rId6"/>
              </a:rPr>
              <a:t>link</a:t>
            </a:r>
            <a:endParaRPr lang="es-CO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89D2DCD-593A-4CDE-9589-46922CA94812}"/>
              </a:ext>
            </a:extLst>
          </p:cNvPr>
          <p:cNvSpPr txBox="1"/>
          <p:nvPr/>
        </p:nvSpPr>
        <p:spPr>
          <a:xfrm>
            <a:off x="6970162" y="4788941"/>
            <a:ext cx="51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hlinkClick r:id="rId7"/>
              </a:rPr>
              <a:t>link</a:t>
            </a:r>
            <a:endParaRPr lang="es-CO" dirty="0"/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CCC97F86-9997-48DD-9419-2BE10A84D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302" y="1405974"/>
            <a:ext cx="8380497" cy="798890"/>
          </a:xfrm>
        </p:spPr>
        <p:txBody>
          <a:bodyPr>
            <a:normAutofit fontScale="92500" lnSpcReduction="10000"/>
          </a:bodyPr>
          <a:lstStyle/>
          <a:p>
            <a:r>
              <a:rPr lang="es-CO" dirty="0"/>
              <a:t>Para aprender a programar de manera intuitiva revisar antes de empezar los siguientes recursos</a:t>
            </a:r>
          </a:p>
        </p:txBody>
      </p:sp>
    </p:spTree>
    <p:extLst>
      <p:ext uri="{BB962C8B-B14F-4D97-AF65-F5344CB8AC3E}">
        <p14:creationId xmlns:p14="http://schemas.microsoft.com/office/powerpoint/2010/main" val="3499762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41785"/>
            <a:ext cx="8229600" cy="836098"/>
          </a:xfrm>
        </p:spPr>
        <p:txBody>
          <a:bodyPr>
            <a:normAutofit fontScale="90000"/>
          </a:bodyPr>
          <a:lstStyle/>
          <a:p>
            <a:r>
              <a:rPr lang="es-CO" dirty="0"/>
              <a:t>Curso recomendado para ir mas lejos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1 Rectángulo"/>
          <p:cNvSpPr/>
          <p:nvPr/>
        </p:nvSpPr>
        <p:spPr>
          <a:xfrm>
            <a:off x="706259" y="5310785"/>
            <a:ext cx="7809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>
                <a:hlinkClick r:id="rId2"/>
              </a:rPr>
              <a:t>https://cs50.harvard.edu/x/</a:t>
            </a:r>
            <a:r>
              <a:rPr lang="es-CO" dirty="0"/>
              <a:t> </a:t>
            </a:r>
          </a:p>
        </p:txBody>
      </p:sp>
      <p:pic>
        <p:nvPicPr>
          <p:cNvPr id="5122" name="Picture 2" descr="Harvard CS50 Review. This is the quintessential intro to a… | by Timon Wong  | JavaScript in Plain English">
            <a:extLst>
              <a:ext uri="{FF2B5EF4-FFF2-40B4-BE49-F238E27FC236}">
                <a16:creationId xmlns:a16="http://schemas.microsoft.com/office/drawing/2014/main" id="{B3DDFF52-A52A-44B1-AEC0-6670FB043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1762124"/>
            <a:ext cx="7222182" cy="361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705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0616"/>
            <a:ext cx="7886700" cy="1325563"/>
          </a:xfrm>
        </p:spPr>
        <p:txBody>
          <a:bodyPr/>
          <a:lstStyle/>
          <a:p>
            <a:r>
              <a:rPr lang="es-CO" dirty="0"/>
              <a:t>Eso es todo amigos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3ECA8F-0420-4D74-9281-A2434A50C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476439"/>
            <a:ext cx="70485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</TotalTime>
  <Words>516</Words>
  <Application>Microsoft Office PowerPoint</Application>
  <PresentationFormat>Presentación en pantalla (4:3)</PresentationFormat>
  <Paragraphs>90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Office Theme</vt:lpstr>
      <vt:lpstr>Lógica y Representación 1</vt:lpstr>
      <vt:lpstr>Presentación de PowerPoint</vt:lpstr>
      <vt:lpstr>Agenda</vt:lpstr>
      <vt:lpstr>Objetivos</vt:lpstr>
      <vt:lpstr>Contenido</vt:lpstr>
      <vt:lpstr>Equipo de trabajo</vt:lpstr>
      <vt:lpstr>Recursos</vt:lpstr>
      <vt:lpstr>Evaluación</vt:lpstr>
      <vt:lpstr>Recomendaciones generales</vt:lpstr>
      <vt:lpstr>Herramientas de trabajo necesarias</vt:lpstr>
      <vt:lpstr>Para aprender a programar</vt:lpstr>
      <vt:lpstr>Para aprender a programar</vt:lpstr>
      <vt:lpstr>Curso recomendado para ir mas lejos</vt:lpstr>
      <vt:lpstr>Eso es todo amigos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</dc:title>
  <dc:creator>Apoyo Administrativo Ingeniería</dc:creator>
  <cp:lastModifiedBy>HENRY ALBERTO ARCILA RAMIREZ</cp:lastModifiedBy>
  <cp:revision>12</cp:revision>
  <dcterms:created xsi:type="dcterms:W3CDTF">2015-03-12T20:27:20Z</dcterms:created>
  <dcterms:modified xsi:type="dcterms:W3CDTF">2026-08-03T04:04:05Z</dcterms:modified>
</cp:coreProperties>
</file>