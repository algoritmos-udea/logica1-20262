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9" r:id="rId1"/>
  </p:sldMasterIdLst>
  <p:notesMasterIdLst>
    <p:notesMasterId r:id="rId41"/>
  </p:notesMasterIdLst>
  <p:sldIdLst>
    <p:sldId id="281" r:id="rId2"/>
    <p:sldId id="309" r:id="rId3"/>
    <p:sldId id="364" r:id="rId4"/>
    <p:sldId id="365" r:id="rId5"/>
    <p:sldId id="366" r:id="rId6"/>
    <p:sldId id="367" r:id="rId7"/>
    <p:sldId id="306" r:id="rId8"/>
    <p:sldId id="368" r:id="rId9"/>
    <p:sldId id="264" r:id="rId10"/>
    <p:sldId id="372" r:id="rId11"/>
    <p:sldId id="373" r:id="rId12"/>
    <p:sldId id="374" r:id="rId13"/>
    <p:sldId id="375" r:id="rId14"/>
    <p:sldId id="376" r:id="rId15"/>
    <p:sldId id="377" r:id="rId16"/>
    <p:sldId id="378" r:id="rId17"/>
    <p:sldId id="379" r:id="rId18"/>
    <p:sldId id="380" r:id="rId19"/>
    <p:sldId id="381" r:id="rId20"/>
    <p:sldId id="389" r:id="rId21"/>
    <p:sldId id="371" r:id="rId22"/>
    <p:sldId id="370" r:id="rId23"/>
    <p:sldId id="382" r:id="rId24"/>
    <p:sldId id="383" r:id="rId25"/>
    <p:sldId id="289" r:id="rId26"/>
    <p:sldId id="385" r:id="rId27"/>
    <p:sldId id="386" r:id="rId28"/>
    <p:sldId id="387" r:id="rId29"/>
    <p:sldId id="341" r:id="rId30"/>
    <p:sldId id="344" r:id="rId31"/>
    <p:sldId id="356" r:id="rId32"/>
    <p:sldId id="390" r:id="rId33"/>
    <p:sldId id="361" r:id="rId34"/>
    <p:sldId id="391" r:id="rId35"/>
    <p:sldId id="392" r:id="rId36"/>
    <p:sldId id="393" r:id="rId37"/>
    <p:sldId id="302" r:id="rId38"/>
    <p:sldId id="310" r:id="rId39"/>
    <p:sldId id="277"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9" autoAdjust="0"/>
    <p:restoredTop sz="94684" autoAdjust="0"/>
  </p:normalViewPr>
  <p:slideViewPr>
    <p:cSldViewPr>
      <p:cViewPr>
        <p:scale>
          <a:sx n="66" d="100"/>
          <a:sy n="66" d="100"/>
        </p:scale>
        <p:origin x="1422" y="2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Century Gothic" panose="020B0502020202020204" pitchFamily="34" charset="0"/>
            </a:rPr>
            <a:t>1</a:t>
          </a:r>
          <a:endParaRPr lang="es-CO" sz="1200" dirty="0">
            <a:latin typeface="Century Gothic" panose="020B0502020202020204" pitchFamily="34" charset="0"/>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Century Gothic" panose="020B0502020202020204" pitchFamily="34" charset="0"/>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9C3C57BE-AD01-47F6-9592-98EF2608A6EF}">
      <dgm:prSet phldrT="[Texto]" custT="1"/>
      <dgm:spPr/>
      <dgm:t>
        <a:bodyPr/>
        <a:lstStyle/>
        <a:p>
          <a:r>
            <a:rPr lang="es-CO" sz="1800" dirty="0">
              <a:latin typeface="Century Gothic" panose="020B0502020202020204" pitchFamily="34" charset="0"/>
            </a:rPr>
            <a:t>2</a:t>
          </a:r>
          <a:endParaRPr lang="es-CO" sz="2400" dirty="0">
            <a:latin typeface="Century Gothic" panose="020B0502020202020204" pitchFamily="34" charset="0"/>
          </a:endParaRPr>
        </a:p>
      </dgm:t>
    </dgm:pt>
    <dgm:pt modelId="{33D25418-EA10-4491-90C6-5683712BE055}" type="parTrans" cxnId="{FBB864E0-2027-4A45-B5D7-110F765EFD96}">
      <dgm:prSet/>
      <dgm:spPr/>
      <dgm:t>
        <a:bodyPr/>
        <a:lstStyle/>
        <a:p>
          <a:endParaRPr lang="es-CO" sz="1600"/>
        </a:p>
      </dgm:t>
    </dgm:pt>
    <dgm:pt modelId="{0019765E-5748-4647-85C8-6E8054C68086}" type="sibTrans" cxnId="{FBB864E0-2027-4A45-B5D7-110F765EFD96}">
      <dgm:prSet/>
      <dgm:spPr/>
      <dgm:t>
        <a:bodyPr/>
        <a:lstStyle/>
        <a:p>
          <a:endParaRPr lang="es-CO" sz="1600"/>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gm:t>
    </dgm:pt>
    <dgm:pt modelId="{EDE363E4-7EA3-41D2-8DB9-A0871D9DA325}" type="parTrans" cxnId="{3B1F784D-95DD-4194-A52D-9A5B55BC5BD7}">
      <dgm:prSet/>
      <dgm:spPr/>
      <dgm:t>
        <a:bodyPr/>
        <a:lstStyle/>
        <a:p>
          <a:endParaRPr lang="es-CO" sz="1600"/>
        </a:p>
      </dgm:t>
    </dgm:pt>
    <dgm:pt modelId="{C31DDF04-103F-4600-9F78-0BDCC0BF907B}" type="sibTrans" cxnId="{3B1F784D-95DD-4194-A52D-9A5B55BC5BD7}">
      <dgm:prSet/>
      <dgm:spPr/>
      <dgm:t>
        <a:bodyPr/>
        <a:lstStyle/>
        <a:p>
          <a:endParaRPr lang="es-CO" sz="1600"/>
        </a:p>
      </dgm:t>
    </dgm:pt>
    <dgm:pt modelId="{9AB424BA-7E8B-4D0B-8A3C-3748A54646B8}">
      <dgm:prSet phldrT="[Texto]" custT="1"/>
      <dgm:spPr/>
      <dgm:t>
        <a:bodyPr/>
        <a:lstStyle/>
        <a:p>
          <a:r>
            <a:rPr lang="es-CO" sz="2000" dirty="0">
              <a:latin typeface="Century Gothic" panose="020B0502020202020204" pitchFamily="34" charset="0"/>
            </a:rPr>
            <a:t>3</a:t>
          </a:r>
        </a:p>
      </dgm:t>
    </dgm:pt>
    <dgm:pt modelId="{E543BFA9-86DB-499C-8E83-B32D00A97FD8}" type="parTrans" cxnId="{9DB9632F-E2AC-48EE-840F-D6A88C411EEA}">
      <dgm:prSet/>
      <dgm:spPr/>
      <dgm:t>
        <a:bodyPr/>
        <a:lstStyle/>
        <a:p>
          <a:endParaRPr lang="es-CO" sz="1600"/>
        </a:p>
      </dgm:t>
    </dgm:pt>
    <dgm:pt modelId="{DDCD6E76-3560-4CAA-96A8-94ACFF130E9B}" type="sibTrans" cxnId="{9DB9632F-E2AC-48EE-840F-D6A88C411EEA}">
      <dgm:prSet/>
      <dgm:spPr/>
      <dgm:t>
        <a:bodyPr/>
        <a:lstStyle/>
        <a:p>
          <a:endParaRPr lang="es-CO" sz="1600"/>
        </a:p>
      </dgm:t>
    </dgm:pt>
    <dgm:pt modelId="{BEC04423-D6B7-4792-AEB9-C3D7F81A98AC}">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gm:t>
    </dgm:pt>
    <dgm:pt modelId="{F135D138-85FF-4087-B751-5F159F842289}" type="parTrans" cxnId="{5B0A26F8-5ACB-43D3-A171-6C62CAD4E7BE}">
      <dgm:prSet/>
      <dgm:spPr/>
      <dgm:t>
        <a:bodyPr/>
        <a:lstStyle/>
        <a:p>
          <a:endParaRPr lang="es-CO" sz="1600"/>
        </a:p>
      </dgm:t>
    </dgm:pt>
    <dgm:pt modelId="{AB02689B-5109-4C4C-A9DD-EF332B395FC7}" type="sibTrans" cxnId="{5B0A26F8-5ACB-43D3-A171-6C62CAD4E7BE}">
      <dgm:prSet/>
      <dgm:spPr/>
      <dgm:t>
        <a:bodyPr/>
        <a:lstStyle/>
        <a:p>
          <a:endParaRPr lang="es-CO" sz="1600"/>
        </a:p>
      </dgm:t>
    </dgm:pt>
    <dgm:pt modelId="{6F3FB39C-3E1D-4D2D-849B-EA0299C466C8}">
      <dgm:prSet phldrT="[Texto]" custT="1"/>
      <dgm:spPr/>
      <dgm:t>
        <a:bodyPr/>
        <a:lstStyle/>
        <a:p>
          <a:r>
            <a:rPr lang="es-CO" sz="2000" dirty="0">
              <a:latin typeface="Century Gothic" panose="020B0502020202020204" pitchFamily="34" charset="0"/>
            </a:rPr>
            <a:t>4</a:t>
          </a:r>
        </a:p>
      </dgm:t>
    </dgm:pt>
    <dgm:pt modelId="{F344B892-AD67-4863-B1DB-FFEAC6AE3C6A}" type="parTrans" cxnId="{F85ACEEE-F8C0-443C-BAAF-021763D37073}">
      <dgm:prSet/>
      <dgm:spPr/>
      <dgm:t>
        <a:bodyPr/>
        <a:lstStyle/>
        <a:p>
          <a:endParaRPr lang="es-CO" sz="1600"/>
        </a:p>
      </dgm:t>
    </dgm:pt>
    <dgm:pt modelId="{2E86F725-3FD8-4480-8AF6-6A89E142D77A}" type="sibTrans" cxnId="{F85ACEEE-F8C0-443C-BAAF-021763D37073}">
      <dgm:prSet/>
      <dgm:spPr/>
      <dgm:t>
        <a:bodyPr/>
        <a:lstStyle/>
        <a:p>
          <a:endParaRPr lang="es-CO" sz="1600"/>
        </a:p>
      </dgm:t>
    </dgm:pt>
    <dgm:pt modelId="{DCCFDBD5-3BD5-4368-8E74-2BE430318114}">
      <dgm:prSet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gm:t>
    </dgm:pt>
    <dgm:pt modelId="{E9C3A1B1-6767-4D4A-B32D-4EDACFE1C0F4}" type="parTrans" cxnId="{95C514DE-3460-4712-B0CD-D954FE76DB64}">
      <dgm:prSet/>
      <dgm:spPr/>
      <dgm:t>
        <a:bodyPr/>
        <a:lstStyle/>
        <a:p>
          <a:endParaRPr lang="es-CO" sz="1600"/>
        </a:p>
      </dgm:t>
    </dgm:pt>
    <dgm:pt modelId="{159A55EA-C5B7-4F9E-8222-A763BEB4D99B}" type="sibTrans" cxnId="{95C514DE-3460-4712-B0CD-D954FE76DB64}">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4">
        <dgm:presLayoutVars>
          <dgm:chMax val="1"/>
          <dgm:bulletEnabled val="1"/>
        </dgm:presLayoutVars>
      </dgm:prSet>
      <dgm:spPr/>
    </dgm:pt>
    <dgm:pt modelId="{344A86B1-48E8-448F-9C6D-71580BFB5F83}" type="pres">
      <dgm:prSet presAssocID="{0F6E169A-367E-48F6-8A0F-9538EF72E803}" presName="descendantText" presStyleLbl="alignAcc1" presStyleIdx="0" presStyleCnt="4">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4"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4">
        <dgm:presLayoutVars>
          <dgm:bulletEnabled val="1"/>
        </dgm:presLayoutVars>
      </dgm:prSet>
      <dgm:spPr/>
    </dgm:pt>
    <dgm:pt modelId="{5C2D5B77-4FD3-4BFC-B7C7-B69CFA47B819}" type="pres">
      <dgm:prSet presAssocID="{0019765E-5748-4647-85C8-6E8054C68086}" presName="sp" presStyleCnt="0"/>
      <dgm:spPr/>
    </dgm:pt>
    <dgm:pt modelId="{FD9C2F86-B450-49A0-8639-065AE676C080}" type="pres">
      <dgm:prSet presAssocID="{9AB424BA-7E8B-4D0B-8A3C-3748A54646B8}" presName="composite" presStyleCnt="0"/>
      <dgm:spPr/>
    </dgm:pt>
    <dgm:pt modelId="{2AA7B02C-023E-4537-897E-B54A048C8983}" type="pres">
      <dgm:prSet presAssocID="{9AB424BA-7E8B-4D0B-8A3C-3748A54646B8}" presName="parentText" presStyleLbl="alignNode1" presStyleIdx="2" presStyleCnt="4">
        <dgm:presLayoutVars>
          <dgm:chMax val="1"/>
          <dgm:bulletEnabled val="1"/>
        </dgm:presLayoutVars>
      </dgm:prSet>
      <dgm:spPr/>
    </dgm:pt>
    <dgm:pt modelId="{15D3D31F-A831-4E62-ADE9-6ACE81331CDC}" type="pres">
      <dgm:prSet presAssocID="{9AB424BA-7E8B-4D0B-8A3C-3748A54646B8}" presName="descendantText" presStyleLbl="alignAcc1" presStyleIdx="2" presStyleCnt="4">
        <dgm:presLayoutVars>
          <dgm:bulletEnabled val="1"/>
        </dgm:presLayoutVars>
      </dgm:prSet>
      <dgm:spPr/>
    </dgm:pt>
    <dgm:pt modelId="{365F76A6-EF4F-41D1-B81D-BC3D7851A081}" type="pres">
      <dgm:prSet presAssocID="{DDCD6E76-3560-4CAA-96A8-94ACFF130E9B}" presName="sp" presStyleCnt="0"/>
      <dgm:spPr/>
    </dgm:pt>
    <dgm:pt modelId="{4DB00594-09F9-4225-B772-B1D52DAEEAB6}" type="pres">
      <dgm:prSet presAssocID="{6F3FB39C-3E1D-4D2D-849B-EA0299C466C8}" presName="composite" presStyleCnt="0"/>
      <dgm:spPr/>
    </dgm:pt>
    <dgm:pt modelId="{58E45CBE-DE64-4E4E-8AAA-D376465B2BEE}" type="pres">
      <dgm:prSet presAssocID="{6F3FB39C-3E1D-4D2D-849B-EA0299C466C8}" presName="parentText" presStyleLbl="alignNode1" presStyleIdx="3" presStyleCnt="4">
        <dgm:presLayoutVars>
          <dgm:chMax val="1"/>
          <dgm:bulletEnabled val="1"/>
        </dgm:presLayoutVars>
      </dgm:prSet>
      <dgm:spPr/>
    </dgm:pt>
    <dgm:pt modelId="{C37D6712-7A35-4663-80F7-1B8FC410AF19}" type="pres">
      <dgm:prSet presAssocID="{6F3FB39C-3E1D-4D2D-849B-EA0299C466C8}" presName="descendantText" presStyleLbl="alignAcc1" presStyleIdx="3" presStyleCnt="4">
        <dgm:presLayoutVars>
          <dgm:bulletEnabled val="1"/>
        </dgm:presLayoutVars>
      </dgm:prSet>
      <dgm:spPr/>
    </dgm:pt>
  </dgm:ptLst>
  <dgm:cxnLst>
    <dgm:cxn modelId="{D25A530A-E341-4BA7-8999-21A374D537D3}" type="presOf" srcId="{BEC04423-D6B7-4792-AEB9-C3D7F81A98AC}" destId="{15D3D31F-A831-4E62-ADE9-6ACE81331CDC}" srcOrd="0" destOrd="0" presId="urn:microsoft.com/office/officeart/2005/8/layout/chevron2"/>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9DB9632F-E2AC-48EE-840F-D6A88C411EEA}" srcId="{234617D2-EBA5-43D3-A846-ABD7019008A4}" destId="{9AB424BA-7E8B-4D0B-8A3C-3748A54646B8}" srcOrd="2" destOrd="0" parTransId="{E543BFA9-86DB-499C-8E83-B32D00A97FD8}" sibTransId="{DDCD6E76-3560-4CAA-96A8-94ACFF130E9B}"/>
    <dgm:cxn modelId="{5C56243F-7D54-4FD5-BD45-EEAB6E9334A6}" type="presOf" srcId="{676AA4D5-22F4-47B3-B0E8-95C3D9C99480}" destId="{344A86B1-48E8-448F-9C6D-71580BFB5F83}" srcOrd="0" destOrd="0" presId="urn:microsoft.com/office/officeart/2005/8/layout/chevron2"/>
    <dgm:cxn modelId="{3EF6886C-4FCF-4899-8F48-98F458A380A4}" type="presOf" srcId="{DCCFDBD5-3BD5-4368-8E74-2BE430318114}" destId="{C37D6712-7A35-4663-80F7-1B8FC410AF19}"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95C514DE-3460-4712-B0CD-D954FE76DB64}" srcId="{6F3FB39C-3E1D-4D2D-849B-EA0299C466C8}" destId="{DCCFDBD5-3BD5-4368-8E74-2BE430318114}" srcOrd="0" destOrd="0" parTransId="{E9C3A1B1-6767-4D4A-B32D-4EDACFE1C0F4}" sibTransId="{159A55EA-C5B7-4F9E-8222-A763BEB4D99B}"/>
    <dgm:cxn modelId="{FBB864E0-2027-4A45-B5D7-110F765EFD96}" srcId="{234617D2-EBA5-43D3-A846-ABD7019008A4}" destId="{9C3C57BE-AD01-47F6-9592-98EF2608A6EF}" srcOrd="1" destOrd="0" parTransId="{33D25418-EA10-4491-90C6-5683712BE055}" sibTransId="{0019765E-5748-4647-85C8-6E8054C68086}"/>
    <dgm:cxn modelId="{448B48EB-E488-4909-82B4-2E61877F00AE}" type="presOf" srcId="{6F3FB39C-3E1D-4D2D-849B-EA0299C466C8}" destId="{58E45CBE-DE64-4E4E-8AAA-D376465B2BEE}" srcOrd="0" destOrd="0" presId="urn:microsoft.com/office/officeart/2005/8/layout/chevron2"/>
    <dgm:cxn modelId="{E644B3EB-418D-4B1A-83D6-8DCC10BE06E8}" type="presOf" srcId="{9AB424BA-7E8B-4D0B-8A3C-3748A54646B8}" destId="{2AA7B02C-023E-4537-897E-B54A048C8983}" srcOrd="0" destOrd="0" presId="urn:microsoft.com/office/officeart/2005/8/layout/chevron2"/>
    <dgm:cxn modelId="{F85ACEEE-F8C0-443C-BAAF-021763D37073}" srcId="{234617D2-EBA5-43D3-A846-ABD7019008A4}" destId="{6F3FB39C-3E1D-4D2D-849B-EA0299C466C8}" srcOrd="3" destOrd="0" parTransId="{F344B892-AD67-4863-B1DB-FFEAC6AE3C6A}" sibTransId="{2E86F725-3FD8-4480-8AF6-6A89E142D77A}"/>
    <dgm:cxn modelId="{E402CAF0-5AAA-416F-BAF4-3854EF253EE5}" srcId="{0F6E169A-367E-48F6-8A0F-9538EF72E803}" destId="{676AA4D5-22F4-47B3-B0E8-95C3D9C99480}" srcOrd="0" destOrd="0" parTransId="{65AE6963-95E3-417E-9DBC-C327427667A9}" sibTransId="{BBDCCB86-71C3-422E-959C-8FA92A9124DF}"/>
    <dgm:cxn modelId="{5B0A26F8-5ACB-43D3-A171-6C62CAD4E7BE}" srcId="{9AB424BA-7E8B-4D0B-8A3C-3748A54646B8}" destId="{BEC04423-D6B7-4792-AEB9-C3D7F81A98AC}" srcOrd="0" destOrd="0" parTransId="{F135D138-85FF-4087-B751-5F159F842289}" sibTransId="{AB02689B-5109-4C4C-A9DD-EF332B395FC7}"/>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 modelId="{530A7BC0-79AB-4546-A568-2187FF19F65D}" type="presParOf" srcId="{C30EB98C-BF8E-47B5-A59F-A3E708D5551C}" destId="{5C2D5B77-4FD3-4BFC-B7C7-B69CFA47B819}" srcOrd="3" destOrd="0" presId="urn:microsoft.com/office/officeart/2005/8/layout/chevron2"/>
    <dgm:cxn modelId="{BE3F6BE8-AEFA-4235-B54E-61907BC9372B}" type="presParOf" srcId="{C30EB98C-BF8E-47B5-A59F-A3E708D5551C}" destId="{FD9C2F86-B450-49A0-8639-065AE676C080}" srcOrd="4" destOrd="0" presId="urn:microsoft.com/office/officeart/2005/8/layout/chevron2"/>
    <dgm:cxn modelId="{2E20AF7C-4B60-47FB-B029-F81F1CE8FCB7}" type="presParOf" srcId="{FD9C2F86-B450-49A0-8639-065AE676C080}" destId="{2AA7B02C-023E-4537-897E-B54A048C8983}" srcOrd="0" destOrd="0" presId="urn:microsoft.com/office/officeart/2005/8/layout/chevron2"/>
    <dgm:cxn modelId="{0573D7AB-2C25-487B-B0E2-947295CA4BF1}" type="presParOf" srcId="{FD9C2F86-B450-49A0-8639-065AE676C080}" destId="{15D3D31F-A831-4E62-ADE9-6ACE81331CDC}" srcOrd="1" destOrd="0" presId="urn:microsoft.com/office/officeart/2005/8/layout/chevron2"/>
    <dgm:cxn modelId="{49FE4450-ED31-4DD4-95F8-F34D880718F4}" type="presParOf" srcId="{C30EB98C-BF8E-47B5-A59F-A3E708D5551C}" destId="{365F76A6-EF4F-41D1-B81D-BC3D7851A081}" srcOrd="5" destOrd="0" presId="urn:microsoft.com/office/officeart/2005/8/layout/chevron2"/>
    <dgm:cxn modelId="{D297B7B3-984B-4BEF-88CF-E8496B62D532}" type="presParOf" srcId="{C30EB98C-BF8E-47B5-A59F-A3E708D5551C}" destId="{4DB00594-09F9-4225-B772-B1D52DAEEAB6}" srcOrd="6" destOrd="0" presId="urn:microsoft.com/office/officeart/2005/8/layout/chevron2"/>
    <dgm:cxn modelId="{58E3F0DF-7BFD-4BEB-873F-CA02319F1E26}" type="presParOf" srcId="{4DB00594-09F9-4225-B772-B1D52DAEEAB6}" destId="{58E45CBE-DE64-4E4E-8AAA-D376465B2BEE}" srcOrd="0" destOrd="0" presId="urn:microsoft.com/office/officeart/2005/8/layout/chevron2"/>
    <dgm:cxn modelId="{C405AC97-4C54-4757-8651-AB11924A4B6F}" type="presParOf" srcId="{4DB00594-09F9-4225-B772-B1D52DAEEAB6}" destId="{C37D6712-7A35-4663-80F7-1B8FC410AF1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25531" y="128709"/>
          <a:ext cx="836875" cy="585812"/>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Century Gothic" panose="020B0502020202020204" pitchFamily="34" charset="0"/>
            </a:rPr>
            <a:t>1</a:t>
          </a:r>
          <a:endParaRPr lang="es-CO" sz="1200" kern="1200" dirty="0">
            <a:latin typeface="Century Gothic" panose="020B0502020202020204" pitchFamily="34" charset="0"/>
          </a:endParaRPr>
        </a:p>
      </dsp:txBody>
      <dsp:txXfrm rot="-5400000">
        <a:off x="1" y="296083"/>
        <a:ext cx="585812" cy="251063"/>
      </dsp:txXfrm>
    </dsp:sp>
    <dsp:sp modelId="{344A86B1-48E8-448F-9C6D-71580BFB5F83}">
      <dsp:nvSpPr>
        <dsp:cNvPr id="0" name=""/>
        <dsp:cNvSpPr/>
      </dsp:nvSpPr>
      <dsp:spPr>
        <a:xfrm rot="5400000">
          <a:off x="2829233" y="-2240242"/>
          <a:ext cx="543968" cy="503081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Century Gothic" panose="020B0502020202020204" pitchFamily="34" charset="0"/>
            </a:rPr>
            <a:t>Entender el problema</a:t>
          </a:r>
        </a:p>
      </dsp:txBody>
      <dsp:txXfrm rot="-5400000">
        <a:off x="585812" y="29733"/>
        <a:ext cx="5004257" cy="490860"/>
      </dsp:txXfrm>
    </dsp:sp>
    <dsp:sp modelId="{A651636C-CE47-4575-AA1E-AB00D80E941D}">
      <dsp:nvSpPr>
        <dsp:cNvPr id="0" name=""/>
        <dsp:cNvSpPr/>
      </dsp:nvSpPr>
      <dsp:spPr>
        <a:xfrm rot="5400000">
          <a:off x="-125531" y="810368"/>
          <a:ext cx="836875" cy="585812"/>
        </a:xfrm>
        <a:prstGeom prst="chevron">
          <a:avLst/>
        </a:prstGeom>
        <a:gradFill rotWithShape="0">
          <a:gsLst>
            <a:gs pos="0">
              <a:schemeClr val="accent3">
                <a:hueOff val="252426"/>
                <a:satOff val="3301"/>
                <a:lumOff val="-4052"/>
                <a:alphaOff val="0"/>
                <a:satMod val="103000"/>
                <a:lumMod val="102000"/>
                <a:tint val="94000"/>
              </a:schemeClr>
            </a:gs>
            <a:gs pos="50000">
              <a:schemeClr val="accent3">
                <a:hueOff val="252426"/>
                <a:satOff val="3301"/>
                <a:lumOff val="-4052"/>
                <a:alphaOff val="0"/>
                <a:satMod val="110000"/>
                <a:lumMod val="100000"/>
                <a:shade val="100000"/>
              </a:schemeClr>
            </a:gs>
            <a:gs pos="100000">
              <a:schemeClr val="accent3">
                <a:hueOff val="252426"/>
                <a:satOff val="3301"/>
                <a:lumOff val="-4052"/>
                <a:alphaOff val="0"/>
                <a:lumMod val="99000"/>
                <a:satMod val="120000"/>
                <a:shade val="78000"/>
              </a:schemeClr>
            </a:gs>
          </a:gsLst>
          <a:lin ang="5400000" scaled="0"/>
        </a:gradFill>
        <a:ln w="6350" cap="flat" cmpd="sng" algn="ctr">
          <a:solidFill>
            <a:schemeClr val="accent3">
              <a:hueOff val="252426"/>
              <a:satOff val="3301"/>
              <a:lumOff val="-405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Century Gothic" panose="020B0502020202020204" pitchFamily="34" charset="0"/>
            </a:rPr>
            <a:t>2</a:t>
          </a:r>
          <a:endParaRPr lang="es-CO" sz="2400" kern="1200" dirty="0">
            <a:latin typeface="Century Gothic" panose="020B0502020202020204" pitchFamily="34" charset="0"/>
          </a:endParaRPr>
        </a:p>
      </dsp:txBody>
      <dsp:txXfrm rot="-5400000">
        <a:off x="1" y="977742"/>
        <a:ext cx="585812" cy="251063"/>
      </dsp:txXfrm>
    </dsp:sp>
    <dsp:sp modelId="{79B0DE70-0A03-4A6F-B31F-EC81EB5DF7EA}">
      <dsp:nvSpPr>
        <dsp:cNvPr id="0" name=""/>
        <dsp:cNvSpPr/>
      </dsp:nvSpPr>
      <dsp:spPr>
        <a:xfrm rot="5400000">
          <a:off x="2829090" y="-1558441"/>
          <a:ext cx="544254" cy="5030811"/>
        </a:xfrm>
        <a:prstGeom prst="round2SameRect">
          <a:avLst/>
        </a:prstGeom>
        <a:solidFill>
          <a:schemeClr val="lt1">
            <a:alpha val="90000"/>
            <a:hueOff val="0"/>
            <a:satOff val="0"/>
            <a:lumOff val="0"/>
            <a:alphaOff val="0"/>
          </a:schemeClr>
        </a:solidFill>
        <a:ln w="6350" cap="flat" cmpd="sng" algn="ctr">
          <a:solidFill>
            <a:schemeClr val="accent3">
              <a:hueOff val="252426"/>
              <a:satOff val="3301"/>
              <a:lumOff val="-40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sp:txBody>
      <dsp:txXfrm rot="-5400000">
        <a:off x="585812" y="711405"/>
        <a:ext cx="5004243" cy="491118"/>
      </dsp:txXfrm>
    </dsp:sp>
    <dsp:sp modelId="{2AA7B02C-023E-4537-897E-B54A048C8983}">
      <dsp:nvSpPr>
        <dsp:cNvPr id="0" name=""/>
        <dsp:cNvSpPr/>
      </dsp:nvSpPr>
      <dsp:spPr>
        <a:xfrm rot="5400000">
          <a:off x="-125531" y="1492027"/>
          <a:ext cx="836875" cy="585812"/>
        </a:xfrm>
        <a:prstGeom prst="chevron">
          <a:avLst/>
        </a:prstGeom>
        <a:gradFill rotWithShape="0">
          <a:gsLst>
            <a:gs pos="0">
              <a:schemeClr val="accent3">
                <a:hueOff val="504853"/>
                <a:satOff val="6602"/>
                <a:lumOff val="-8104"/>
                <a:alphaOff val="0"/>
                <a:satMod val="103000"/>
                <a:lumMod val="102000"/>
                <a:tint val="94000"/>
              </a:schemeClr>
            </a:gs>
            <a:gs pos="50000">
              <a:schemeClr val="accent3">
                <a:hueOff val="504853"/>
                <a:satOff val="6602"/>
                <a:lumOff val="-8104"/>
                <a:alphaOff val="0"/>
                <a:satMod val="110000"/>
                <a:lumMod val="100000"/>
                <a:shade val="100000"/>
              </a:schemeClr>
            </a:gs>
            <a:gs pos="100000">
              <a:schemeClr val="accent3">
                <a:hueOff val="504853"/>
                <a:satOff val="6602"/>
                <a:lumOff val="-8104"/>
                <a:alphaOff val="0"/>
                <a:lumMod val="99000"/>
                <a:satMod val="120000"/>
                <a:shade val="78000"/>
              </a:schemeClr>
            </a:gs>
          </a:gsLst>
          <a:lin ang="5400000" scaled="0"/>
        </a:gradFill>
        <a:ln w="6350" cap="flat" cmpd="sng" algn="ctr">
          <a:solidFill>
            <a:schemeClr val="accent3">
              <a:hueOff val="504853"/>
              <a:satOff val="6602"/>
              <a:lumOff val="-810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3</a:t>
          </a:r>
        </a:p>
      </dsp:txBody>
      <dsp:txXfrm rot="-5400000">
        <a:off x="1" y="1659401"/>
        <a:ext cx="585812" cy="251063"/>
      </dsp:txXfrm>
    </dsp:sp>
    <dsp:sp modelId="{15D3D31F-A831-4E62-ADE9-6ACE81331CDC}">
      <dsp:nvSpPr>
        <dsp:cNvPr id="0" name=""/>
        <dsp:cNvSpPr/>
      </dsp:nvSpPr>
      <dsp:spPr>
        <a:xfrm rot="5400000">
          <a:off x="2829233" y="-876925"/>
          <a:ext cx="543968" cy="5030811"/>
        </a:xfrm>
        <a:prstGeom prst="round2SameRect">
          <a:avLst/>
        </a:prstGeom>
        <a:solidFill>
          <a:schemeClr val="lt1">
            <a:alpha val="90000"/>
            <a:hueOff val="0"/>
            <a:satOff val="0"/>
            <a:lumOff val="0"/>
            <a:alphaOff val="0"/>
          </a:schemeClr>
        </a:solidFill>
        <a:ln w="6350" cap="flat" cmpd="sng" algn="ctr">
          <a:solidFill>
            <a:schemeClr val="accent3">
              <a:hueOff val="504853"/>
              <a:satOff val="6602"/>
              <a:lumOff val="-81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sp:txBody>
      <dsp:txXfrm rot="-5400000">
        <a:off x="585812" y="1393050"/>
        <a:ext cx="5004257" cy="490860"/>
      </dsp:txXfrm>
    </dsp:sp>
    <dsp:sp modelId="{58E45CBE-DE64-4E4E-8AAA-D376465B2BEE}">
      <dsp:nvSpPr>
        <dsp:cNvPr id="0" name=""/>
        <dsp:cNvSpPr/>
      </dsp:nvSpPr>
      <dsp:spPr>
        <a:xfrm rot="5400000">
          <a:off x="-125531" y="2173685"/>
          <a:ext cx="836875" cy="585812"/>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4</a:t>
          </a:r>
        </a:p>
      </dsp:txBody>
      <dsp:txXfrm rot="-5400000">
        <a:off x="1" y="2341059"/>
        <a:ext cx="585812" cy="251063"/>
      </dsp:txXfrm>
    </dsp:sp>
    <dsp:sp modelId="{C37D6712-7A35-4663-80F7-1B8FC410AF19}">
      <dsp:nvSpPr>
        <dsp:cNvPr id="0" name=""/>
        <dsp:cNvSpPr/>
      </dsp:nvSpPr>
      <dsp:spPr>
        <a:xfrm rot="5400000">
          <a:off x="2829233" y="-195266"/>
          <a:ext cx="543968" cy="5030811"/>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sp:txBody>
      <dsp:txXfrm rot="-5400000">
        <a:off x="585812" y="2074709"/>
        <a:ext cx="5004257" cy="4908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943A3E-55B9-4706-BA6E-9364B5247742}" type="datetimeFigureOut">
              <a:rPr lang="es-CO" smtClean="0"/>
              <a:t>10/08/2026</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08B099-0CC4-41E8-A6BF-D10E445BFF74}" type="slidenum">
              <a:rPr lang="es-CO" smtClean="0"/>
              <a:t>‹Nº›</a:t>
            </a:fld>
            <a:endParaRPr lang="es-CO"/>
          </a:p>
        </p:txBody>
      </p:sp>
    </p:spTree>
    <p:extLst>
      <p:ext uri="{BB962C8B-B14F-4D97-AF65-F5344CB8AC3E}">
        <p14:creationId xmlns:p14="http://schemas.microsoft.com/office/powerpoint/2010/main" val="1715684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4C08B099-0CC4-41E8-A6BF-D10E445BFF74}" type="slidenum">
              <a:rPr lang="es-CO" smtClean="0"/>
              <a:t>7</a:t>
            </a:fld>
            <a:endParaRPr lang="es-CO"/>
          </a:p>
        </p:txBody>
      </p:sp>
    </p:spTree>
    <p:extLst>
      <p:ext uri="{BB962C8B-B14F-4D97-AF65-F5344CB8AC3E}">
        <p14:creationId xmlns:p14="http://schemas.microsoft.com/office/powerpoint/2010/main" val="3904517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4C08B099-0CC4-41E8-A6BF-D10E445BFF74}" type="slidenum">
              <a:rPr lang="es-CO" smtClean="0"/>
              <a:t>31</a:t>
            </a:fld>
            <a:endParaRPr lang="es-CO"/>
          </a:p>
        </p:txBody>
      </p:sp>
    </p:spTree>
    <p:extLst>
      <p:ext uri="{BB962C8B-B14F-4D97-AF65-F5344CB8AC3E}">
        <p14:creationId xmlns:p14="http://schemas.microsoft.com/office/powerpoint/2010/main" val="4061694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4C08B099-0CC4-41E8-A6BF-D10E445BFF74}" type="slidenum">
              <a:rPr lang="es-CO" smtClean="0"/>
              <a:t>32</a:t>
            </a:fld>
            <a:endParaRPr lang="es-CO"/>
          </a:p>
        </p:txBody>
      </p:sp>
    </p:spTree>
    <p:extLst>
      <p:ext uri="{BB962C8B-B14F-4D97-AF65-F5344CB8AC3E}">
        <p14:creationId xmlns:p14="http://schemas.microsoft.com/office/powerpoint/2010/main" val="2993079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FAE389-1891-4C1C-AE7B-96446A92669F}" type="datetime1">
              <a:rPr lang="es-CO" smtClean="0"/>
              <a:t>10/08/2026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136620888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C197211-2E02-4E34-9D1C-742DBBA2E713}" type="datetime1">
              <a:rPr lang="es-CO" smtClean="0"/>
              <a:t>10/08/2026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519918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84A16AA-8F92-4F8D-9FF5-AE4F5F025475}" type="datetime1">
              <a:rPr lang="es-CO" smtClean="0"/>
              <a:t>10/08/2026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32149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8A2889A-C4A3-4C6C-A514-E9566A95FF0B}" type="datetime1">
              <a:rPr lang="es-CO" smtClean="0"/>
              <a:t>10/08/2026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03131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FC549B8-F78E-4015-8DD3-99AC842EEF5C}" type="datetime1">
              <a:rPr lang="es-CO" smtClean="0"/>
              <a:t>10/08/2026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73852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8FAE389-1891-4C1C-AE7B-96446A92669F}" type="datetime1">
              <a:rPr lang="es-CO" smtClean="0"/>
              <a:t>10/08/2026</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208510513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75FDE-4F9B-4FF4-9D4F-6D3ED15F62CE}" type="datetime1">
              <a:rPr lang="es-CO" smtClean="0"/>
              <a:t>10/08/2026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726837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AF392FA-6414-43D4-857F-1D16849F2AFB}" type="datetime1">
              <a:rPr lang="es-CO" smtClean="0"/>
              <a:t>10/08/2026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3088452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2F1ADB1-43E6-4CC5-8BA6-A3F5A7E6EF55}" type="datetime1">
              <a:rPr lang="es-CO" smtClean="0"/>
              <a:t>10/08/2026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1530639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9921E5-6957-4C84-BD80-156D13F58C59}" type="datetime1">
              <a:rPr lang="es-CO" smtClean="0"/>
              <a:t>10/08/2026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77121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7BB61D7-E979-4A0B-B106-A9203ABD6AA5}" type="datetime1">
              <a:rPr lang="es-CO" smtClean="0"/>
              <a:t>10/08/2026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222539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dirty="0"/>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BC197211-2E02-4E34-9D1C-742DBBA2E713}" type="datetime1">
              <a:rPr lang="es-CO" smtClean="0"/>
              <a:t>10/08/2026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864103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AE389-1891-4C1C-AE7B-96446A92669F}" type="datetime1">
              <a:rPr lang="es-CO" smtClean="0"/>
              <a:t>10/08/2026</a:t>
            </a:fld>
            <a:endParaRPr lang="es-CO"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414347453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65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6.gif"/><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hyperlink" Target="https://pythontutor.com/visualize.html#code=PI%20%3D%203.14%0Aradio%20%3D%20float%28input%28%22Digite%20el%20radio%3A%20%22%29%29%0Aarea%20%3D%20PI%20*%20%28radio**2%29%0Aprint%28%22El%20area%20del%20circulo%20es%3A%22,%20r%29&amp;cumulative=false&amp;curInstr=0&amp;heapPrimitives=nevernest&amp;mode=display&amp;origin=opt-frontend.js&amp;py=3&amp;rawInputLstJSON=%5B%5D&amp;textReferences=false" TargetMode="External"/><Relationship Id="rId2" Type="http://schemas.openxmlformats.org/officeDocument/2006/relationships/hyperlink" Target="https://pythontutor.com/visualize.html#code=%23%20Inicializacion%0API%20%3D%203.14%0A%23%20Entrada%20de%20datos%0Aradio%20%3D%20float%28input%28%22Digite%20el%20radio%3A%20%22%29%29%0A%23%20Calculo%20del%20area%0Aarea%20%3D%20PI%20*%20%28radio**2%29%0A%23%20Despliegue%20del%20area%0Aprint%28%22El%20%C3%A1rea%20del%20circulo%20es%3A%22,%20area%29%0A&amp;curInstr=0&amp;mode=display&amp;origin=opt-frontend.js&amp;py=3"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pythontutor.com/visualize.html#code=edad%20%3D%2025%20%20%20%20%20%20%20%20%20%20%20%20%20%20%20%20%20%20%20%23%20int%0Aaltura%20%3D%201.75%20%20%20%20%20%20%20%20%20%20%20%20%20%20%20%23%20float%0A%0A%23%20L%C3%B3gica%0Aes_estudiante%20%3D%20True%20%20%20%20%20%20%20%20%23%20bool%0A%0A%23%20Alfanum%C3%A9ricas%0Ainicial%20%3D%20%22A%22%20%20%20%20%20%20%20%20%20%20%20%20%20%20%20%23%20str%20%28car%C3%A1cter%29%0Anombre%20%3D%20%22Albert%20Einstein%22%20%20%23%20str%20%28cadena%29%0A&amp;curInstr=0&amp;mode=display&amp;origin=opt-frontend.js&amp;py=311"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pythontutor.com/visualize.html#code=edad%20%3D%2025%20%20%20%20%20%20%20%20%20%20%20%20%20%20%20%20%20%20%20%23%20int%0Aaltura%20%3D%201.75%20%20%20%20%20%20%20%20%20%20%20%20%20%20%20%23%20float%0A%0A%23%20L%C3%B3gica%0Aes_estudiante%20%3D%20True%20%20%20%20%20%20%20%20%23%20bool%0A%0A%23%20Alfanum%C3%A9ricas%0Ainicial%20%3D%20%22A%22%20%20%20%20%20%20%20%20%20%20%20%20%20%20%20%23%20str%20%28car%C3%A1cter%29%0Anombre%20%3D%20%22Albert%20Einstein%22%20%20%23%20str%20%28cadena%29%0A%0A%23%20Mostrando%20los%20valores%20y%20su%20tipo%0Aprint%28nombre,%20type%28nombre%29%29%0Aprint%28edad,%20type%28edad%29%29%0Aprint%28altura,%20type%28altura%29%29%0Aprint%28es_estudiante,%20type%28es_estudiante%29%29%0A&amp;curInstr=0&amp;mode=display&amp;origin=opt-frontend.js&amp;py=311" TargetMode="Externa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pythontutor.com/visualize.html#code=cantidad%20%3D%2010%0Aprecio%20%3D%202.5%0Atotal%20%3D%20cantidad%20*%20precio%0Adescuento%20%3D%205.0%0Atotal%20%3D%20total%20-%20descuento%0Acantidad%20%3D%20cantidad%20%2B%203%0Atotal%20%3D%20total%20%2B%20cantidad%0Apromedio%20%3D%20total%20/%20cantidad%0A&amp;curInstr=0&amp;mode=display&amp;origin=opt-frontend.js&amp;py=311"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pythontutor.com/visualize.html#code=%23%20Comillas%20simples%20y%20dobles%20%28equivalentes%29%0Anombre%20%3D%20'Ana'%0Aciudad%20%3D%20%22Medell%C3%ADn%22%0A%0A%23%20Evitando%20conflicto%20de%20comillas%0Afrase%20%3D%20%22Ella%20dijo%3A%20'Hola'%22%0A%0A%23%20Cadena%20multil%C3%ADnea%0Amensaje%20%3D%20%22%22%22Bienvenido%20al%20curso.%0AHoy%20hablaremos%20de%20cadenas.%22%22%22%0A%0Aprint%28frase%29%0Aprint%28mensaje%29&amp;curInstr=0&amp;mode=display&amp;origin=opt-frontend.js&amp;py=311" TargetMode="Externa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pythontutor.com/visualize.html#code=%23%20Concatenaci%C3%B3n%0Anombre%20%3D%20%22Ruben%22%0Aapellido%20%3D%20%22Aguirre%22%0Anombre_completo%20%3D%20nombre%20%2B%20%22%20%22%20%2B%20apellido%0Aprint%28nombre_completo%29%20%20%20%20%20%20%20%20%20%20%23%20Ruben%20Aguirre%0A%0A%23%20Repetici%C3%B3n%0Alinea%20%3D%20%22-%22%20*%2020%0Aprint%28linea%29%20%20%20%20%20%20%20%20%20%20%20%20%20%20%20%20%20%20%20%20%20%23%20--------------------%0A%0Aseparador%20%3D%20%22%3D%22%20*%2010%0Aprint%28separador%20%2B%20%22%20Fin%20%22%20%2B%20separador%29%20%20%20%23%20%3D%3D%3D%3D%3D%3D%3D%3D%3D%3D%20Fin%20%3D%3D%3D%3D%3D%3D%3D%3D%3D%3D&amp;curInstr=0&amp;mode=display&amp;origin=opt-frontend.js&amp;py=311" TargetMode="Externa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pythontutor.com/visualize.html#code=print%28%22Cient%C3%ADfico%3A%5CtJohn%20von%20Neumann%22%29%0Aprint%28%22%C3%81rea%3A%5Ct%5CtMatem%C3%A1ticas%20y%20Ciencias%20de%20la%20Computaci%C3%B3n%22%29%0Aprint%28%22Frase%20c%C3%A9lebre%3A%5Cn%5C%22En%20matem%C3%A1ticas%20no%20se%20entienden%20las%20cosas,%20uno%20%5C%0A%20%20%20%20%20%20%20simplemente%20se%20acostumbra%20a%20ellas.%5C%22%22%29%0Aprint%28%22Nota%3A%5CtPionero%20de%20la%20arquitectura%20%5C%22von%20Neumann%5C%22,%20%5C%0A%20%20%20%20%20%20base%20de%20las%20computadoras%20modernas.%22%29%0A&amp;curInstr=0&amp;mode=display&amp;origin=opt-frontend.js&amp;py=311" TargetMode="Externa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pythontutor.com/visualize.html#code=universidad%20%3D%20%22Universidad%20de%20Antioquia%22%0A%0Aprint%28universidad%5B0%5D%29%20%20%20%20%20%20%20%23%20U%20%20%20%28primer%20car%C3%A1cter%29%0Aprint%28universidad%5B11%5D%29%20%20%20%20%20%20%23%20espacio%20%28entre%20%22Universidad%22%20y%20%22de%22%29%0Aprint%28universidad%5B15%5D%29%20%20%20%20%20%20%23%20A%20%20%20%28inicio%20de%20%22Antioquia%22%29%0Aprint%28universidad%5B-1%5D%29%20%20%20%20%20%20%23%20a%20%20%20%28%C3%BAltimo%20car%C3%A1cter%29%0Aprint%28universidad%5B-9%5D%29%20%20%20%20%20%20%23%20A%20%20%20%28mismo%20car%C3%A1cter,%20contado%20desde%20el%20final%29%0Aprint%28len%28universidad%29%29%20%20%20%20%20%23%2024%20%20%28cantidad%20total%20de%20caracteres,%20incluye%20espacios%29&amp;curInstr=0&amp;mode=display&amp;origin=opt-frontend.js&amp;py=311" TargetMode="Externa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pythontutor.com/visualize.html#code=universidad%20%3D%20%22Universidad%20de%20Antioquia%22%0A%0Aprint%28universidad%5B0%3A11%5D%29%20%20%20%20%20%23%20Universidad%0Aprint%28universidad%5B12%3A14%5D%29%20%20%20%20%23%20de%0Aprint%28universidad%5B15%3A%5D%29%20%20%20%20%20%20%23%20Antioquia%0Aprint%28universidad%5B%3A11%5D%29%20%20%20%20%20%20%23%20Universidad%0Aprint%28universidad%5B-9%3A%5D%29%20%20%20%20%20%20%23%20Antioquia%20%28usando%20%C3%ADndice%20negativo%29%0Aprint%28universidad%5B%3A%3A2%5D%29%20%20%20%20%20%20%23%20Uiestddatoqi%20%28un%20car%C3%A1cter%20s%C3%AD,%20uno%20no%29&amp;curInstr=0&amp;mode=display&amp;origin=opt-frontend.js&amp;py=311" TargetMode="Externa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3" Type="http://schemas.openxmlformats.org/officeDocument/2006/relationships/hyperlink" Target="https://pythontutor.com/visualize.html#code=print%28%22Universidad%20de%20Antioquia%22%29%0Aprint%28'Fernando%20Perez%20es%20el%20creador%20de%20iPython'%29%0Aprint%282%2B5%29%0Aprint%28'2%2B5'%29%0Aprint%282,3.0,%20%22hola%22%29%0Aprint%28%22Amarillo%22,%20%22azul%22,%20%22rojo%22%29%0A&amp;curInstr=0&amp;mode=display&amp;origin=opt-frontend.js&amp;py=311"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realpython.com/python-print/"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pythontutor.com/visualize.html#code=universidad%20%3D%20%22Universidad%20de%20Antioquia%22%0Aanio_fundacion%20%3D%201803%0Apromedio%20%3D%204.35%0Aactiva%20%3D%20True%0A%0A%23%20Varios%20tipos%20separados%20por%20comas%0Aprint%28universidad,%20anio_fundacion,%20promedio,%20activa%29%0A%0A%23%20El%20mismo%20mensaje,%20usando%20comas%20%28sin%20necesidad%20de%20convertir%20tipos%29%0Aprint%28%22La%22,%20universidad,%20%22fue%20fundada%20en%22,%20anio_fundacion%29%0A%0A%23%20El%20mismo%20mensaje,%20usando%20concatenaci%C3%B3n%20%28requiere%20convertir%20a%20str%29%0Aprint%28%22La%20%22%20%2B%20universidad%20%2B%20%22%20fue%20fundada%20en%20%22%20%2B%20str%28anio_fundacion%29%29&amp;curInstr=0&amp;mode=display&amp;origin=opt-frontend.js&amp;py=311"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pythontutor.com/visualize.html#code=universidad%20%3D%20%22Universidad%20de%20Antioquia%22%0Aanio_fundacion%20%3D%201803%0Apromedio%20%3D%204.35%0Aantiguedad%20%3D%202026%20-%20anio_fundacion%0A%0Aprint%28f%22La%20%7Buniversidad%7D%20fue%20fundada%20en%20%7Banio_fundacion%7D.%22%29%0Aprint%28f%22Tiene%20aproximadamente%20%7Bantiguedad%7D%20a%C3%B1os%20de%20historia.%22%29%0Aprint%28f%22El%20promedio%20del%20estudiante%20es%20%7Bpromedio%3A.2f%7D%22%29&amp;curInstr=0&amp;mode=display&amp;origin=opt-frontend.js&amp;py=311"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pythontutor.com/visualize.html#code=nombre%20%3D%20input%28%22%C2%BFC%C3%B3mo%20te%20llamas%3F%20%22%29%0Aprint%28%22Hola,%22,%20nombre%29&amp;curInstr=0&amp;mode=display&amp;origin=opt-frontend.js&amp;py=311" TargetMode="Externa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hyperlink" Target="https://realpython.com/python-keyboard-input/"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hyperlink" Target="https://pythontutor.com/visualize.html#code=anio_nacimiento%20%3D%20input%28%22%C2%BFEn%20qu%C3%A9%20a%C3%B1o%20naciste%3F%20%22%29%0Aprint%28type%28anio_nacimiento%29%29%20%20%20%20%20%20%20%20%20%20%23%20%3Cclass%20'str'%3E%0A%0Aanio_nacimiento%20%3D%20int%28anio_nacimiento%29%0Aprint%28type%28anio_nacimiento%29%29%20%20%20%20%20%20%20%20%20%20%23%20%3Cclass%20'int'%3E%0A%0Aedad%20%3D%202026%20-%20anio_nacimiento%0Aprint%28%22Tienes%22,%20edad,%20%22a%C3%B1os%22%29%0A&amp;curInstr=0&amp;mode=display&amp;origin=opt-frontend.js&amp;py=311" TargetMode="External"/><Relationship Id="rId7" Type="http://schemas.openxmlformats.org/officeDocument/2006/relationships/image" Target="../media/image21.png"/><Relationship Id="rId2" Type="http://schemas.openxmlformats.org/officeDocument/2006/relationships/hyperlink" Target="https://pythontutor.com/visualize.html#mode=display"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pythontutor.com/visualize.html#code=anio_nacimiento%20%3D%20input%28%22%C2%BFEn%20qu%C3%A9%20a%C3%B1o%20naciste%3F%20%22%29%0Aedad%20%3D%202026%20-%20anio_nacimiento%20%20%20%23%20TypeError%0A&amp;curInstr=0&amp;mode=display&amp;origin=opt-frontend.js&amp;py=311" TargetMode="External"/><Relationship Id="rId4" Type="http://schemas.openxmlformats.org/officeDocument/2006/relationships/image" Target="../media/image20.jpeg"/></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pythontutor.com/visualize.html#code=nombre%20%3D%20input%28%22%C2%BFC%C3%B3mo%20te%20llamas%3F%20%22%29%0Aanio_nacimiento%20%3D%20int%28input%28%22%C2%BFEn%20qu%C3%A9%20a%C3%B1o%20naciste%3F%20%22%29%29%0A%0Aedad%20%3D%202026%20-%20anio_nacimiento%0A%0Aprint%28f%22Hola,%20%7Bnombre%7D.%20Tienes%20%7Bedad%7D%20a%C3%B1os.%22%29&amp;curInstr=0&amp;mode=display&amp;origin=opt-frontend.js&amp;py=311" TargetMode="Externa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pythontutor.com/visualize.html#code=%23%20Entrada%20de%20datos%0Abase%20%3D%20float%28input%28%22Ingrese%20la%20base%20del%20triangulo%3A%20%22%29%29%0Aheight%20%3D%20float%28input%28%22Ingrese%20la%20altura%20del%20triangulo%3A%20%22%29%29%0A%0A%23%20Calculo%20del%20area%0Aarea%20%3D%20%28base%20*%20height%29/2%0A%0A%23%20Despligue%20del%20area%0Aprint%28%22El%20area%20del%20triangulo%20es%3A%22,%20area%29%0A&amp;curInstr=0&amp;mode=display&amp;origin=opt-frontend.js&amp;py=311"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pythontutor.com/visualize.html#code=%23%20Entrada%20de%20datos%0Abase%20%3D%20float%28input%28%22Ingrese%20la%20base%20del%20triangulo%3A%20%22%29%29%0Aheight%20%3D%20float%28input%28%22Ingrese%20la%20altura%20del%20triangulo%3A%20%22%29%29%0A%0A%23%20Calculo%20del%20area%0Aarea%20%3D%20%28base%20*%20height%29/2%0A%0A%23%20Despligue%20del%20area%0Aprint%28%22El%20area%20del%20triangulo%20es%3A%22,%20area%29%0A&amp;curInstr=0&amp;mode=display&amp;origin=opt-frontend.js&amp;py=311" TargetMode="Externa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hyperlink" Target="https://pythontutor.com/visualize.html#code=%23%20Entrada%20de%20datos%0Ainit_year%20%3D%20int%28input%28%22Ingrese%20el%20a%C3%B1o%20inicial%3A%20%22%29%29%0Afinal_year%20%3D%20int%28input%28%22Ingrese%20el%20a%C3%B1o%20final%3A%20%22%29%29%0A%0A%23%20Calculo%20del%20area%0Ayears%20%3D%20final_year%20-%20init_year%0Amonths%20%3D%20years%20*%2012%0A%0A%23%20Despligue%20de%20los%20meses%0Aprint%28f%22El%20n%C3%BAmero%20de%20meses%20entre%20los%20a%C3%B1os%20%7Binit_year%7D%20y%20%5C%0A%20%20%20%20%20%20%7Bfinal_year%7D%20es%3A%20%7Bmonths%7D%22%29%0A&amp;curInstr=0&amp;mode=display&amp;origin=opt-frontend.js&amp;py=311"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hyperlink" Target="https://pythontutor.com/visualize.html#code=%23%20Entrada%20de%20datos%0Ainit_year%20%3D%20int%28input%28%22Ingrese%20el%20a%C3%B1o%20inicial%3A%20%22%29%29%0Afinal_year%20%3D%20int%28input%28%22Ingrese%20el%20a%C3%B1o%20final%3A%20%22%29%29%0A%0A%23%20Calculo%20del%20area%0Ayears%20%3D%20final_year%20-%20init_year%0Amonths%20%3D%20years%20*%2012%0A%0A%23%20Despligue%20de%20los%20meses%0Aprint%28f%22El%20n%C3%BAmero%20de%20meses%20entre%20los%20a%C3%B1os%20%7Binit_year%7D%20y%20%5C%0A%20%20%20%20%20%20%7Bfinal_year%7D%20es%3A%20%7Bmonths%7D%22%29%0A&amp;curInstr=0&amp;mode=display&amp;origin=opt-frontend.js&amp;py=311"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pythontutor.com/visualize.html#code=%23%20Inicializaci%C3%B3n%20de%20variables%0API%20%3D%203.14%0A%0A%23%20Entrada%20de%20datos%0Aradio%20%3D%20float%28input%28%22Ingrese%20el%20radio%20del%20c%C3%ADrculo%3A%20%22%29%29%0A%0A%23%20Calculo%20del%20area%0Aarea%20%3D%20PI%20*%20radio%20**%202%0A%0A%23%20Despligue%20del%20area%0Aprint%28f%22El%20area%20del%20c%C3%ADrculo%20de%20radio%20%7Bradio%7D%20es%3A%20%7Barea%7D%22%29%0A&amp;curInstr=0&amp;mode=display&amp;origin=opt-frontend.js&amp;py=311"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hyperlink" Target="https://pythontutor.com/visualize.html#code=%23%20Inicializaci%C3%B3n%20de%20variables%0API%20%3D%203.14%0A%0A%23%20Entrada%20de%20datos%0Aradio%20%3D%20float%28input%28%22Ingrese%20el%20radio%20del%20c%C3%ADrculo%3A%20%22%29%29%0A%0A%23%20Calculo%20del%20area%0Aarea%20%3D%20PI%20*%20radio%20**%202%0A%0A%23%20Despligue%20del%20area%0Aprint%28f%22El%20area%20del%20c%C3%ADrculo%20de%20radio%20%7Bradio%7D%20es%3A%20%7Barea%7D%22%29%0A&amp;curInstr=0&amp;mode=display&amp;origin=opt-frontend.js&amp;py=311"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w3resource.com/index.php" TargetMode="External"/><Relationship Id="rId7" Type="http://schemas.openxmlformats.org/officeDocument/2006/relationships/hyperlink" Target="https://realpython.com/cheatsheets/python/" TargetMode="External"/><Relationship Id="rId2" Type="http://schemas.openxmlformats.org/officeDocument/2006/relationships/hyperlink" Target="https://ellibrodepython.com/" TargetMode="External"/><Relationship Id="rId1" Type="http://schemas.openxmlformats.org/officeDocument/2006/relationships/slideLayout" Target="../slideLayouts/slideLayout2.xml"/><Relationship Id="rId6" Type="http://schemas.openxmlformats.org/officeDocument/2006/relationships/hyperlink" Target="https://python-course.eu/" TargetMode="External"/><Relationship Id="rId5" Type="http://schemas.openxmlformats.org/officeDocument/2006/relationships/hyperlink" Target="https://curriculumresources.edu.gh/wp-content/uploads/2025/01/" TargetMode="External"/><Relationship Id="rId4" Type="http://schemas.openxmlformats.org/officeDocument/2006/relationships/hyperlink" Target="https://realpython.com/"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5909BB-6F92-48BA-A875-99E15D2253EC}"/>
              </a:ext>
            </a:extLst>
          </p:cNvPr>
          <p:cNvSpPr>
            <a:spLocks noGrp="1"/>
          </p:cNvSpPr>
          <p:nvPr>
            <p:ph type="ctrTitle"/>
          </p:nvPr>
        </p:nvSpPr>
        <p:spPr>
          <a:xfrm>
            <a:off x="323528" y="1122363"/>
            <a:ext cx="8568952" cy="2387600"/>
          </a:xfrm>
        </p:spPr>
        <p:txBody>
          <a:bodyPr/>
          <a:lstStyle/>
          <a:p>
            <a:r>
              <a:rPr lang="es-CO" dirty="0"/>
              <a:t>Lógica y Representación 1</a:t>
            </a:r>
          </a:p>
        </p:txBody>
      </p:sp>
      <p:sp>
        <p:nvSpPr>
          <p:cNvPr id="3" name="Subtítulo 2">
            <a:extLst>
              <a:ext uri="{FF2B5EF4-FFF2-40B4-BE49-F238E27FC236}">
                <a16:creationId xmlns:a16="http://schemas.microsoft.com/office/drawing/2014/main" id="{8A9999BC-7CCA-4677-B2C4-E913A7AA1FC0}"/>
              </a:ext>
            </a:extLst>
          </p:cNvPr>
          <p:cNvSpPr>
            <a:spLocks noGrp="1"/>
          </p:cNvSpPr>
          <p:nvPr>
            <p:ph type="subTitle" idx="1"/>
          </p:nvPr>
        </p:nvSpPr>
        <p:spPr/>
        <p:txBody>
          <a:bodyPr>
            <a:normAutofit/>
          </a:bodyPr>
          <a:lstStyle/>
          <a:p>
            <a:r>
              <a:rPr lang="es-CO" sz="3200" b="1" dirty="0"/>
              <a:t>Conceptos básicos de Python</a:t>
            </a:r>
          </a:p>
          <a:p>
            <a:r>
              <a:rPr lang="es-CO" dirty="0"/>
              <a:t>Ingeniería de Sistemas</a:t>
            </a:r>
          </a:p>
          <a:p>
            <a:r>
              <a:rPr lang="es-CO" dirty="0"/>
              <a:t>Universidad de Antioquia</a:t>
            </a:r>
          </a:p>
        </p:txBody>
      </p:sp>
    </p:spTree>
    <p:extLst>
      <p:ext uri="{BB962C8B-B14F-4D97-AF65-F5344CB8AC3E}">
        <p14:creationId xmlns:p14="http://schemas.microsoft.com/office/powerpoint/2010/main" val="774097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520" y="332656"/>
            <a:ext cx="8263830" cy="1116540"/>
          </a:xfrm>
        </p:spPr>
        <p:txBody>
          <a:bodyPr/>
          <a:lstStyle/>
          <a:p>
            <a:r>
              <a:rPr lang="es-CO" sz="3200" dirty="0"/>
              <a:t>Método de Polya - Resumen</a:t>
            </a:r>
            <a:endParaRPr lang="en-US" sz="32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2</a:t>
            </a:fld>
            <a:endParaRPr lang="en-US" dirty="0"/>
          </a:p>
        </p:txBody>
      </p:sp>
      <p:graphicFrame>
        <p:nvGraphicFramePr>
          <p:cNvPr id="6" name="13 Diagrama">
            <a:extLst>
              <a:ext uri="{FF2B5EF4-FFF2-40B4-BE49-F238E27FC236}">
                <a16:creationId xmlns:a16="http://schemas.microsoft.com/office/drawing/2014/main" id="{D0B70736-976D-4675-A33E-9F94643ADC43}"/>
              </a:ext>
            </a:extLst>
          </p:cNvPr>
          <p:cNvGraphicFramePr/>
          <p:nvPr>
            <p:extLst>
              <p:ext uri="{D42A27DB-BD31-4B8C-83A1-F6EECF244321}">
                <p14:modId xmlns:p14="http://schemas.microsoft.com/office/powerpoint/2010/main" val="3324537454"/>
              </p:ext>
            </p:extLst>
          </p:nvPr>
        </p:nvGraphicFramePr>
        <p:xfrm>
          <a:off x="3059832" y="1700808"/>
          <a:ext cx="5616624" cy="2888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3">
            <a:extLst>
              <a:ext uri="{FF2B5EF4-FFF2-40B4-BE49-F238E27FC236}">
                <a16:creationId xmlns:a16="http://schemas.microsoft.com/office/drawing/2014/main" id="{9C9BD4AC-3A6A-4FE1-A719-F0D8329520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544" y="2089947"/>
            <a:ext cx="2200014" cy="19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8404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Resumiendo del proceso de diseño del algoritmos</a:t>
            </a:r>
          </a:p>
        </p:txBody>
      </p:sp>
      <p:sp>
        <p:nvSpPr>
          <p:cNvPr id="33" name="27 Rectángulo">
            <a:extLst>
              <a:ext uri="{FF2B5EF4-FFF2-40B4-BE49-F238E27FC236}">
                <a16:creationId xmlns:a16="http://schemas.microsoft.com/office/drawing/2014/main" id="{CA292D76-5C05-4C70-9ED9-723B1F8E304C}"/>
              </a:ext>
            </a:extLst>
          </p:cNvPr>
          <p:cNvSpPr/>
          <p:nvPr/>
        </p:nvSpPr>
        <p:spPr>
          <a:xfrm>
            <a:off x="163813" y="1340768"/>
            <a:ext cx="3010207" cy="954107"/>
          </a:xfrm>
          <a:prstGeom prst="rect">
            <a:avLst/>
          </a:prstGeom>
        </p:spPr>
        <p:txBody>
          <a:bodyPr wrap="square">
            <a:spAutoFit/>
          </a:bodyPr>
          <a:lstStyle/>
          <a:p>
            <a:r>
              <a:rPr lang="es-CO" sz="2000" b="1" dirty="0">
                <a:solidFill>
                  <a:srgbClr val="FF0000"/>
                </a:solidFill>
              </a:rPr>
              <a:t>Ejemplo:</a:t>
            </a:r>
          </a:p>
          <a:p>
            <a:r>
              <a:rPr lang="es-CO" dirty="0"/>
              <a:t>Hacer un algoritmo que calcule el área de un circulo</a:t>
            </a:r>
          </a:p>
        </p:txBody>
      </p:sp>
      <p:graphicFrame>
        <p:nvGraphicFramePr>
          <p:cNvPr id="36" name="Tabla 5">
            <a:extLst>
              <a:ext uri="{FF2B5EF4-FFF2-40B4-BE49-F238E27FC236}">
                <a16:creationId xmlns:a16="http://schemas.microsoft.com/office/drawing/2014/main" id="{5A51CE99-D7AD-4A9F-9C76-C9D95BBB235F}"/>
              </a:ext>
            </a:extLst>
          </p:cNvPr>
          <p:cNvGraphicFramePr>
            <a:graphicFrameLocks noGrp="1"/>
          </p:cNvGraphicFramePr>
          <p:nvPr/>
        </p:nvGraphicFramePr>
        <p:xfrm>
          <a:off x="6544809" y="3718680"/>
          <a:ext cx="2274590" cy="792480"/>
        </p:xfrm>
        <a:graphic>
          <a:graphicData uri="http://schemas.openxmlformats.org/drawingml/2006/table">
            <a:tbl>
              <a:tblPr firstRow="1" bandRow="1">
                <a:tableStyleId>{5940675A-B579-460E-94D1-54222C63F5DA}</a:tableStyleId>
              </a:tblPr>
              <a:tblGrid>
                <a:gridCol w="1137295">
                  <a:extLst>
                    <a:ext uri="{9D8B030D-6E8A-4147-A177-3AD203B41FA5}">
                      <a16:colId xmlns:a16="http://schemas.microsoft.com/office/drawing/2014/main" val="101718729"/>
                    </a:ext>
                  </a:extLst>
                </a:gridCol>
                <a:gridCol w="1137295">
                  <a:extLst>
                    <a:ext uri="{9D8B030D-6E8A-4147-A177-3AD203B41FA5}">
                      <a16:colId xmlns:a16="http://schemas.microsoft.com/office/drawing/2014/main" val="3468495707"/>
                    </a:ext>
                  </a:extLst>
                </a:gridCol>
              </a:tblGrid>
              <a:tr h="0">
                <a:tc>
                  <a:txBody>
                    <a:bodyPr/>
                    <a:lstStyle/>
                    <a:p>
                      <a:pPr algn="ctr"/>
                      <a:r>
                        <a:rPr lang="es-CO" sz="1200" dirty="0"/>
                        <a:t>↘</a:t>
                      </a:r>
                      <a:r>
                        <a:rPr lang="es-CO" sz="1200" b="1" dirty="0">
                          <a:latin typeface="Consolas" panose="020B0609020204030204" pitchFamily="49" charset="0"/>
                        </a:rPr>
                        <a:t>radio</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dirty="0"/>
                        <a:t>↗</a:t>
                      </a:r>
                      <a:r>
                        <a:rPr lang="es-CO" sz="1200" b="1" dirty="0">
                          <a:latin typeface="Consolas" panose="020B0609020204030204" pitchFamily="49" charset="0"/>
                        </a:rPr>
                        <a:t>area</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4789806"/>
                  </a:ext>
                </a:extLst>
              </a:tr>
              <a:tr h="130963">
                <a:tc>
                  <a:txBody>
                    <a:bodyPr/>
                    <a:lstStyle/>
                    <a:p>
                      <a:pPr algn="ctr"/>
                      <a:r>
                        <a:rPr lang="es-CO" sz="1400" strike="sngStrike" dirty="0"/>
                        <a:t>?</a:t>
                      </a:r>
                    </a:p>
                    <a:p>
                      <a:pPr algn="ctr"/>
                      <a:r>
                        <a:rPr lang="es-CO" sz="1400" dirty="0"/>
                        <a:t>↘</a:t>
                      </a:r>
                      <a:r>
                        <a:rPr lang="es-CO" sz="1400" strike="noStrike" dirty="0"/>
                        <a:t>10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400" strike="sngStrike" dirty="0"/>
                        <a:t>?</a:t>
                      </a:r>
                    </a:p>
                    <a:p>
                      <a:pPr algn="ctr"/>
                      <a:r>
                        <a:rPr lang="es-CO" sz="1400" dirty="0"/>
                        <a:t>↗314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4237131"/>
                  </a:ext>
                </a:extLst>
              </a:tr>
            </a:tbl>
          </a:graphicData>
        </a:graphic>
      </p:graphicFrame>
      <p:graphicFrame>
        <p:nvGraphicFramePr>
          <p:cNvPr id="37" name="Tabla 5">
            <a:extLst>
              <a:ext uri="{FF2B5EF4-FFF2-40B4-BE49-F238E27FC236}">
                <a16:creationId xmlns:a16="http://schemas.microsoft.com/office/drawing/2014/main" id="{0E4350C5-922B-48AC-B2DB-4C89A523E08F}"/>
              </a:ext>
            </a:extLst>
          </p:cNvPr>
          <p:cNvGraphicFramePr>
            <a:graphicFrameLocks noGrp="1"/>
          </p:cNvGraphicFramePr>
          <p:nvPr/>
        </p:nvGraphicFramePr>
        <p:xfrm>
          <a:off x="6478273" y="2161410"/>
          <a:ext cx="2448858" cy="1097280"/>
        </p:xfrm>
        <a:graphic>
          <a:graphicData uri="http://schemas.openxmlformats.org/drawingml/2006/table">
            <a:tbl>
              <a:tblPr firstRow="1" bandRow="1">
                <a:tableStyleId>{7E9639D4-E3E2-4D34-9284-5A2195B3D0D7}</a:tableStyleId>
              </a:tblPr>
              <a:tblGrid>
                <a:gridCol w="1008698">
                  <a:extLst>
                    <a:ext uri="{9D8B030D-6E8A-4147-A177-3AD203B41FA5}">
                      <a16:colId xmlns:a16="http://schemas.microsoft.com/office/drawing/2014/main" val="101718729"/>
                    </a:ext>
                  </a:extLst>
                </a:gridCol>
                <a:gridCol w="1440160">
                  <a:extLst>
                    <a:ext uri="{9D8B030D-6E8A-4147-A177-3AD203B41FA5}">
                      <a16:colId xmlns:a16="http://schemas.microsoft.com/office/drawing/2014/main" val="3468495707"/>
                    </a:ext>
                  </a:extLst>
                </a:gridCol>
              </a:tblGrid>
              <a:tr h="224079">
                <a:tc>
                  <a:txBody>
                    <a:bodyPr/>
                    <a:lstStyle/>
                    <a:p>
                      <a:pPr algn="ctr"/>
                      <a:r>
                        <a:rPr lang="es-CO" sz="1200" b="1" dirty="0">
                          <a:latin typeface="+mn-lt"/>
                        </a:rPr>
                        <a:t>Entradas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200" b="1" dirty="0"/>
                        <a:t>Salidas</a:t>
                      </a:r>
                      <a:endParaRPr lang="es-CO" sz="12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868271"/>
                  </a:ext>
                </a:extLst>
              </a:tr>
              <a:tr h="224079">
                <a:tc>
                  <a:txBody>
                    <a:bodyPr/>
                    <a:lstStyle/>
                    <a:p>
                      <a:pPr algn="ctr"/>
                      <a:r>
                        <a:rPr lang="es-CO" sz="1200" b="1" dirty="0"/>
                        <a:t>radio</a:t>
                      </a:r>
                      <a:endParaRPr lang="es-CO" sz="12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200" b="1" dirty="0"/>
                        <a:t>area</a:t>
                      </a:r>
                      <a:endParaRPr lang="es-CO" sz="12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789806"/>
                  </a:ext>
                </a:extLst>
              </a:tr>
              <a:tr h="224079">
                <a:tc>
                  <a:txBody>
                    <a:bodyPr/>
                    <a:lstStyle/>
                    <a:p>
                      <a:pPr algn="ctr"/>
                      <a:r>
                        <a:rPr lang="es-CO" sz="1200" strike="noStrike"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200" dirty="0"/>
                        <a:t>314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237131"/>
                  </a:ext>
                </a:extLst>
              </a:tr>
              <a:tr h="224079">
                <a:tc>
                  <a:txBody>
                    <a:bodyPr/>
                    <a:lstStyle/>
                    <a:p>
                      <a:pPr algn="ctr"/>
                      <a:r>
                        <a:rPr lang="es-CO" sz="1200" strike="noStrike" dirty="0"/>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200" dirty="0"/>
                        <a:t>21.237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889482"/>
                  </a:ext>
                </a:extLst>
              </a:tr>
            </a:tbl>
          </a:graphicData>
        </a:graphic>
      </p:graphicFrame>
      <p:graphicFrame>
        <p:nvGraphicFramePr>
          <p:cNvPr id="38" name="Tabla 5">
            <a:extLst>
              <a:ext uri="{FF2B5EF4-FFF2-40B4-BE49-F238E27FC236}">
                <a16:creationId xmlns:a16="http://schemas.microsoft.com/office/drawing/2014/main" id="{583D2238-1D79-4D9D-9DE7-EADBCC804709}"/>
              </a:ext>
            </a:extLst>
          </p:cNvPr>
          <p:cNvGraphicFramePr>
            <a:graphicFrameLocks noGrp="1"/>
          </p:cNvGraphicFramePr>
          <p:nvPr/>
        </p:nvGraphicFramePr>
        <p:xfrm>
          <a:off x="6567059" y="4990944"/>
          <a:ext cx="2274590" cy="792480"/>
        </p:xfrm>
        <a:graphic>
          <a:graphicData uri="http://schemas.openxmlformats.org/drawingml/2006/table">
            <a:tbl>
              <a:tblPr firstRow="1" bandRow="1">
                <a:tableStyleId>{5940675A-B579-460E-94D1-54222C63F5DA}</a:tableStyleId>
              </a:tblPr>
              <a:tblGrid>
                <a:gridCol w="1137295">
                  <a:extLst>
                    <a:ext uri="{9D8B030D-6E8A-4147-A177-3AD203B41FA5}">
                      <a16:colId xmlns:a16="http://schemas.microsoft.com/office/drawing/2014/main" val="101718729"/>
                    </a:ext>
                  </a:extLst>
                </a:gridCol>
                <a:gridCol w="1137295">
                  <a:extLst>
                    <a:ext uri="{9D8B030D-6E8A-4147-A177-3AD203B41FA5}">
                      <a16:colId xmlns:a16="http://schemas.microsoft.com/office/drawing/2014/main" val="3468495707"/>
                    </a:ext>
                  </a:extLst>
                </a:gridCol>
              </a:tblGrid>
              <a:tr h="194789">
                <a:tc>
                  <a:txBody>
                    <a:bodyPr/>
                    <a:lstStyle/>
                    <a:p>
                      <a:pPr algn="ctr"/>
                      <a:r>
                        <a:rPr lang="es-CO" sz="1200" dirty="0"/>
                        <a:t>↘</a:t>
                      </a:r>
                      <a:r>
                        <a:rPr lang="es-CO" sz="1200" b="1" dirty="0">
                          <a:latin typeface="Consolas" panose="020B0609020204030204" pitchFamily="49" charset="0"/>
                        </a:rPr>
                        <a:t>radio</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dirty="0"/>
                        <a:t>↗</a:t>
                      </a:r>
                      <a:r>
                        <a:rPr lang="es-CO" sz="1200" b="1" dirty="0">
                          <a:latin typeface="Consolas" panose="020B0609020204030204" pitchFamily="49" charset="0"/>
                        </a:rPr>
                        <a:t>area</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4789806"/>
                  </a:ext>
                </a:extLst>
              </a:tr>
              <a:tr h="272171">
                <a:tc>
                  <a:txBody>
                    <a:bodyPr/>
                    <a:lstStyle/>
                    <a:p>
                      <a:pPr algn="ctr"/>
                      <a:r>
                        <a:rPr lang="es-CO" sz="1400" strike="sngStrike" dirty="0"/>
                        <a:t>?</a:t>
                      </a:r>
                    </a:p>
                    <a:p>
                      <a:pPr algn="ctr"/>
                      <a:r>
                        <a:rPr lang="es-CO" sz="1400" dirty="0"/>
                        <a:t>↘</a:t>
                      </a:r>
                      <a:r>
                        <a:rPr lang="es-CO" sz="1400" strike="noStrike" dirty="0"/>
                        <a:t>2.6</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400" strike="sngStrike" dirty="0"/>
                        <a:t>?</a:t>
                      </a:r>
                    </a:p>
                    <a:p>
                      <a:pPr algn="ctr"/>
                      <a:r>
                        <a:rPr lang="es-CO" sz="1400" dirty="0"/>
                        <a:t>↗21.226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4237131"/>
                  </a:ext>
                </a:extLst>
              </a:tr>
            </a:tbl>
          </a:graphicData>
        </a:graphic>
      </p:graphicFrame>
      <p:grpSp>
        <p:nvGrpSpPr>
          <p:cNvPr id="51" name="Grupo 50">
            <a:extLst>
              <a:ext uri="{FF2B5EF4-FFF2-40B4-BE49-F238E27FC236}">
                <a16:creationId xmlns:a16="http://schemas.microsoft.com/office/drawing/2014/main" id="{7C3CCC18-3B1C-4B19-9896-C880EF3151D2}"/>
              </a:ext>
            </a:extLst>
          </p:cNvPr>
          <p:cNvGrpSpPr/>
          <p:nvPr/>
        </p:nvGrpSpPr>
        <p:grpSpPr>
          <a:xfrm>
            <a:off x="162614" y="2348880"/>
            <a:ext cx="3038913" cy="1640907"/>
            <a:chOff x="162614" y="2348880"/>
            <a:chExt cx="3038913" cy="1640907"/>
          </a:xfrm>
        </p:grpSpPr>
        <p:pic>
          <p:nvPicPr>
            <p:cNvPr id="35" name="Picture 2" descr="Area of Circle - Definition, Formula &amp; Examples | ChiliMath">
              <a:extLst>
                <a:ext uri="{FF2B5EF4-FFF2-40B4-BE49-F238E27FC236}">
                  <a16:creationId xmlns:a16="http://schemas.microsoft.com/office/drawing/2014/main" id="{F1A11E4C-EB2D-4355-BDEA-C638F4B05B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0904" y="2636912"/>
              <a:ext cx="1011966" cy="1309735"/>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Grupo 44">
              <a:extLst>
                <a:ext uri="{FF2B5EF4-FFF2-40B4-BE49-F238E27FC236}">
                  <a16:creationId xmlns:a16="http://schemas.microsoft.com/office/drawing/2014/main" id="{20F29D9E-8150-42E3-835D-6A0CD079CCBF}"/>
                </a:ext>
              </a:extLst>
            </p:cNvPr>
            <p:cNvGrpSpPr/>
            <p:nvPr/>
          </p:nvGrpSpPr>
          <p:grpSpPr>
            <a:xfrm>
              <a:off x="162614" y="2348880"/>
              <a:ext cx="3038913" cy="1640907"/>
              <a:chOff x="161645" y="2292149"/>
              <a:chExt cx="3038913" cy="1640907"/>
            </a:xfrm>
          </p:grpSpPr>
          <p:sp>
            <p:nvSpPr>
              <p:cNvPr id="41" name="Rectángulo: esquinas redondeadas 40">
                <a:extLst>
                  <a:ext uri="{FF2B5EF4-FFF2-40B4-BE49-F238E27FC236}">
                    <a16:creationId xmlns:a16="http://schemas.microsoft.com/office/drawing/2014/main" id="{A8D99359-AA9F-4477-A5EE-5A61D51A8401}"/>
                  </a:ext>
                </a:extLst>
              </p:cNvPr>
              <p:cNvSpPr/>
              <p:nvPr/>
            </p:nvSpPr>
            <p:spPr>
              <a:xfrm>
                <a:off x="411278" y="2522753"/>
                <a:ext cx="2789280" cy="1410303"/>
              </a:xfrm>
              <a:prstGeom prst="round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9" name="Flecha: cheurón 38">
                <a:extLst>
                  <a:ext uri="{FF2B5EF4-FFF2-40B4-BE49-F238E27FC236}">
                    <a16:creationId xmlns:a16="http://schemas.microsoft.com/office/drawing/2014/main" id="{E5FE2B1D-ADF6-4D1D-8E0A-1DCEDC083F0B}"/>
                  </a:ext>
                </a:extLst>
              </p:cNvPr>
              <p:cNvSpPr/>
              <p:nvPr/>
            </p:nvSpPr>
            <p:spPr>
              <a:xfrm rot="5400000">
                <a:off x="55314" y="2398480"/>
                <a:ext cx="676195" cy="463533"/>
              </a:xfrm>
              <a:prstGeom prst="chevr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CO" b="1" dirty="0">
                    <a:solidFill>
                      <a:schemeClr val="bg1"/>
                    </a:solidFill>
                  </a:rPr>
                  <a:t>1</a:t>
                </a:r>
              </a:p>
            </p:txBody>
          </p:sp>
        </p:grpSp>
      </p:grpSp>
      <p:grpSp>
        <p:nvGrpSpPr>
          <p:cNvPr id="44" name="Grupo 43">
            <a:extLst>
              <a:ext uri="{FF2B5EF4-FFF2-40B4-BE49-F238E27FC236}">
                <a16:creationId xmlns:a16="http://schemas.microsoft.com/office/drawing/2014/main" id="{5BC9562F-F26F-4E4F-916C-2075CAF2969B}"/>
              </a:ext>
            </a:extLst>
          </p:cNvPr>
          <p:cNvGrpSpPr/>
          <p:nvPr/>
        </p:nvGrpSpPr>
        <p:grpSpPr>
          <a:xfrm>
            <a:off x="163103" y="4124833"/>
            <a:ext cx="3011625" cy="2562034"/>
            <a:chOff x="171066" y="4101396"/>
            <a:chExt cx="3011625" cy="2562034"/>
          </a:xfrm>
        </p:grpSpPr>
        <mc:AlternateContent xmlns:mc="http://schemas.openxmlformats.org/markup-compatibility/2006" xmlns:a14="http://schemas.microsoft.com/office/drawing/2010/main">
          <mc:Choice Requires="a14">
            <p:sp>
              <p:nvSpPr>
                <p:cNvPr id="34" name="5 CuadroTexto">
                  <a:extLst>
                    <a:ext uri="{FF2B5EF4-FFF2-40B4-BE49-F238E27FC236}">
                      <a16:creationId xmlns:a16="http://schemas.microsoft.com/office/drawing/2014/main" id="{010AB634-E99C-4F05-B6E7-C0656858F595}"/>
                    </a:ext>
                  </a:extLst>
                </p:cNvPr>
                <p:cNvSpPr txBox="1"/>
                <p:nvPr/>
              </p:nvSpPr>
              <p:spPr>
                <a:xfrm>
                  <a:off x="572725" y="4368376"/>
                  <a:ext cx="2586696" cy="2277547"/>
                </a:xfrm>
                <a:prstGeom prst="rect">
                  <a:avLst/>
                </a:prstGeom>
                <a:noFill/>
              </p:spPr>
              <p:txBody>
                <a:bodyPr wrap="square" rtlCol="0">
                  <a:spAutoFit/>
                </a:bodyPr>
                <a:lstStyle/>
                <a:p>
                  <a:r>
                    <a:rPr lang="es-CO" b="1" dirty="0"/>
                    <a:t>Análisis</a:t>
                  </a:r>
                  <a:r>
                    <a:rPr lang="es-CO" dirty="0"/>
                    <a:t>:</a:t>
                  </a:r>
                </a:p>
                <a:p>
                  <a:r>
                    <a:rPr lang="es-CO" sz="1400" dirty="0">
                      <a:solidFill>
                        <a:srgbClr val="FF0000"/>
                      </a:solidFill>
                    </a:rPr>
                    <a:t>Datos de entrada: </a:t>
                  </a:r>
                  <a:r>
                    <a:rPr lang="es-CO" sz="1400" dirty="0"/>
                    <a:t>radio</a:t>
                  </a:r>
                </a:p>
                <a:p>
                  <a:r>
                    <a:rPr lang="es-CO" sz="1400" dirty="0">
                      <a:solidFill>
                        <a:srgbClr val="FF0000"/>
                      </a:solidFill>
                    </a:rPr>
                    <a:t>Datos de salida: </a:t>
                  </a:r>
                  <a:r>
                    <a:rPr lang="es-CO" sz="1400" dirty="0"/>
                    <a:t>área del circulo</a:t>
                  </a:r>
                </a:p>
                <a:p>
                  <a:r>
                    <a:rPr lang="es-CO" sz="1400" dirty="0">
                      <a:solidFill>
                        <a:srgbClr val="FF0000"/>
                      </a:solidFill>
                    </a:rPr>
                    <a:t>Constantes:</a:t>
                  </a:r>
                  <a:endParaRPr lang="es-CO" sz="1200" i="1" dirty="0"/>
                </a:p>
                <a:p>
                  <a:pPr marL="342900" indent="-342900">
                    <a:buFont typeface="Arial" pitchFamily="34" charset="0"/>
                    <a:buChar char="•"/>
                  </a:pPr>
                  <a:r>
                    <a:rPr lang="es-CO" sz="1400" b="1" dirty="0"/>
                    <a:t>Numero PI</a:t>
                  </a:r>
                  <a:r>
                    <a:rPr lang="es-CO" sz="1400" dirty="0"/>
                    <a:t>: PI = 3.14 (Real)</a:t>
                  </a:r>
                  <a:endParaRPr lang="es-CO" sz="1400" dirty="0">
                    <a:solidFill>
                      <a:srgbClr val="FF0000"/>
                    </a:solidFill>
                  </a:endParaRPr>
                </a:p>
                <a:p>
                  <a:r>
                    <a:rPr lang="es-CO" sz="1400" dirty="0">
                      <a:solidFill>
                        <a:srgbClr val="FF0000"/>
                      </a:solidFill>
                    </a:rPr>
                    <a:t>Definición de variables:</a:t>
                  </a:r>
                  <a:endParaRPr lang="es-CO" sz="1200" i="1" dirty="0"/>
                </a:p>
                <a:p>
                  <a:pPr marL="342900" indent="-342900">
                    <a:buFont typeface="Arial" pitchFamily="34" charset="0"/>
                    <a:buChar char="•"/>
                  </a:pPr>
                  <a:r>
                    <a:rPr lang="es-CO" sz="1200" b="1" i="1" dirty="0"/>
                    <a:t>radio</a:t>
                  </a:r>
                  <a:r>
                    <a:rPr lang="es-CO" sz="1200" dirty="0"/>
                    <a:t>: radio (Real)</a:t>
                  </a:r>
                </a:p>
                <a:p>
                  <a:pPr marL="342900" indent="-342900">
                    <a:buFont typeface="Arial" pitchFamily="34" charset="0"/>
                    <a:buChar char="•"/>
                  </a:pPr>
                  <a:r>
                    <a:rPr lang="es-CO" sz="1200" b="1" i="1" dirty="0"/>
                    <a:t>area</a:t>
                  </a:r>
                  <a:r>
                    <a:rPr lang="es-CO" sz="1200" dirty="0"/>
                    <a:t>: radio (Real)</a:t>
                  </a:r>
                </a:p>
                <a:p>
                  <a:r>
                    <a:rPr lang="es-CO" sz="1400" dirty="0">
                      <a:solidFill>
                        <a:srgbClr val="FF0000"/>
                      </a:solidFill>
                    </a:rPr>
                    <a:t>¿Proceso?: </a:t>
                  </a:r>
                  <a:r>
                    <a:rPr lang="es-CO" sz="1400" dirty="0"/>
                    <a:t>Elevar el radio al cuadrado y multiplicarlo por </a:t>
                  </a:r>
                  <a14:m>
                    <m:oMath xmlns:m="http://schemas.openxmlformats.org/officeDocument/2006/math">
                      <m:r>
                        <a:rPr lang="es-CO" sz="1600" i="1" smtClean="0">
                          <a:latin typeface="Cambria Math" panose="02040503050406030204" pitchFamily="18" charset="0"/>
                          <a:ea typeface="Cambria Math" panose="02040503050406030204" pitchFamily="18" charset="0"/>
                        </a:rPr>
                        <m:t>𝜋</m:t>
                      </m:r>
                    </m:oMath>
                  </a14:m>
                  <a:endParaRPr lang="es-CO" sz="1400" dirty="0"/>
                </a:p>
              </p:txBody>
            </p:sp>
          </mc:Choice>
          <mc:Fallback xmlns="">
            <p:sp>
              <p:nvSpPr>
                <p:cNvPr id="34" name="5 CuadroTexto">
                  <a:extLst>
                    <a:ext uri="{FF2B5EF4-FFF2-40B4-BE49-F238E27FC236}">
                      <a16:creationId xmlns:a16="http://schemas.microsoft.com/office/drawing/2014/main" id="{010AB634-E99C-4F05-B6E7-C0656858F595}"/>
                    </a:ext>
                  </a:extLst>
                </p:cNvPr>
                <p:cNvSpPr txBox="1">
                  <a:spLocks noRot="1" noChangeAspect="1" noMove="1" noResize="1" noEditPoints="1" noAdjustHandles="1" noChangeArrowheads="1" noChangeShapeType="1" noTextEdit="1"/>
                </p:cNvSpPr>
                <p:nvPr/>
              </p:nvSpPr>
              <p:spPr>
                <a:xfrm>
                  <a:off x="572725" y="4368376"/>
                  <a:ext cx="2586696" cy="2277547"/>
                </a:xfrm>
                <a:prstGeom prst="rect">
                  <a:avLst/>
                </a:prstGeom>
                <a:blipFill>
                  <a:blip r:embed="rId3"/>
                  <a:stretch>
                    <a:fillRect l="-2123" t="-1337" b="-1604"/>
                  </a:stretch>
                </a:blipFill>
              </p:spPr>
              <p:txBody>
                <a:bodyPr/>
                <a:lstStyle/>
                <a:p>
                  <a:r>
                    <a:rPr lang="es-CO">
                      <a:noFill/>
                    </a:rPr>
                    <a:t> </a:t>
                  </a:r>
                </a:p>
              </p:txBody>
            </p:sp>
          </mc:Fallback>
        </mc:AlternateContent>
        <p:sp>
          <p:nvSpPr>
            <p:cNvPr id="42" name="Rectángulo: esquinas redondeadas 41">
              <a:extLst>
                <a:ext uri="{FF2B5EF4-FFF2-40B4-BE49-F238E27FC236}">
                  <a16:creationId xmlns:a16="http://schemas.microsoft.com/office/drawing/2014/main" id="{EBB98256-9990-4C80-BF0D-A1BB7B891A90}"/>
                </a:ext>
              </a:extLst>
            </p:cNvPr>
            <p:cNvSpPr/>
            <p:nvPr/>
          </p:nvSpPr>
          <p:spPr>
            <a:xfrm>
              <a:off x="393411" y="4385883"/>
              <a:ext cx="2789280" cy="2277547"/>
            </a:xfrm>
            <a:prstGeom prst="roundRect">
              <a:avLst>
                <a:gd name="adj" fmla="val 8860"/>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3" name="Flecha: cheurón 42">
              <a:extLst>
                <a:ext uri="{FF2B5EF4-FFF2-40B4-BE49-F238E27FC236}">
                  <a16:creationId xmlns:a16="http://schemas.microsoft.com/office/drawing/2014/main" id="{DFFBA09E-B96B-4027-9BB8-1A878FE9DA04}"/>
                </a:ext>
              </a:extLst>
            </p:cNvPr>
            <p:cNvSpPr/>
            <p:nvPr/>
          </p:nvSpPr>
          <p:spPr>
            <a:xfrm rot="5400000">
              <a:off x="64735" y="4207727"/>
              <a:ext cx="676195" cy="463533"/>
            </a:xfrm>
            <a:prstGeom prst="chevr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CO" b="1" dirty="0">
                  <a:solidFill>
                    <a:schemeClr val="bg1"/>
                  </a:solidFill>
                </a:rPr>
                <a:t>2</a:t>
              </a:r>
            </a:p>
          </p:txBody>
        </p:sp>
      </p:grpSp>
      <p:grpSp>
        <p:nvGrpSpPr>
          <p:cNvPr id="48" name="Grupo 47">
            <a:extLst>
              <a:ext uri="{FF2B5EF4-FFF2-40B4-BE49-F238E27FC236}">
                <a16:creationId xmlns:a16="http://schemas.microsoft.com/office/drawing/2014/main" id="{FDABE766-2CA4-4D9F-AC1A-0A26245F6B65}"/>
              </a:ext>
            </a:extLst>
          </p:cNvPr>
          <p:cNvGrpSpPr/>
          <p:nvPr/>
        </p:nvGrpSpPr>
        <p:grpSpPr>
          <a:xfrm>
            <a:off x="3131840" y="1134860"/>
            <a:ext cx="2931131" cy="5534500"/>
            <a:chOff x="3172363" y="1134860"/>
            <a:chExt cx="2931131" cy="5534500"/>
          </a:xfrm>
        </p:grpSpPr>
        <p:grpSp>
          <p:nvGrpSpPr>
            <p:cNvPr id="6" name="Grupo 5">
              <a:extLst>
                <a:ext uri="{FF2B5EF4-FFF2-40B4-BE49-F238E27FC236}">
                  <a16:creationId xmlns:a16="http://schemas.microsoft.com/office/drawing/2014/main" id="{CFF087EB-E783-4AC7-A060-74DDA2CA815C}"/>
                </a:ext>
              </a:extLst>
            </p:cNvPr>
            <p:cNvGrpSpPr/>
            <p:nvPr/>
          </p:nvGrpSpPr>
          <p:grpSpPr>
            <a:xfrm>
              <a:off x="3758212" y="1503803"/>
              <a:ext cx="1998336" cy="3578352"/>
              <a:chOff x="3803911" y="2084774"/>
              <a:chExt cx="2766928" cy="4006530"/>
            </a:xfrm>
          </p:grpSpPr>
          <p:sp>
            <p:nvSpPr>
              <p:cNvPr id="7" name="Flowchart: Terminator 43">
                <a:extLst>
                  <a:ext uri="{FF2B5EF4-FFF2-40B4-BE49-F238E27FC236}">
                    <a16:creationId xmlns:a16="http://schemas.microsoft.com/office/drawing/2014/main" id="{4BEA731C-8A2D-4120-8EA7-32EAAB9052D1}"/>
                  </a:ext>
                </a:extLst>
              </p:cNvPr>
              <p:cNvSpPr/>
              <p:nvPr/>
            </p:nvSpPr>
            <p:spPr>
              <a:xfrm>
                <a:off x="4533557" y="5761790"/>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Finish</a:t>
                </a:r>
                <a:endParaRPr lang="en-US" sz="1100" dirty="0">
                  <a:latin typeface="Consolas" panose="020B0609020204030204" pitchFamily="49" charset="0"/>
                </a:endParaRPr>
              </a:p>
            </p:txBody>
          </p:sp>
          <p:sp>
            <p:nvSpPr>
              <p:cNvPr id="8" name="Flowchart: Terminator 44">
                <a:extLst>
                  <a:ext uri="{FF2B5EF4-FFF2-40B4-BE49-F238E27FC236}">
                    <a16:creationId xmlns:a16="http://schemas.microsoft.com/office/drawing/2014/main" id="{DC5D4A15-AC0B-41C9-8418-F8E792476EF9}"/>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Start</a:t>
                </a:r>
                <a:endParaRPr lang="en-US" sz="1100" dirty="0">
                  <a:latin typeface="Consolas" panose="020B0609020204030204" pitchFamily="49" charset="0"/>
                </a:endParaRPr>
              </a:p>
            </p:txBody>
          </p:sp>
          <p:cxnSp>
            <p:nvCxnSpPr>
              <p:cNvPr id="9" name="Straight Arrow Connector 45">
                <a:extLst>
                  <a:ext uri="{FF2B5EF4-FFF2-40B4-BE49-F238E27FC236}">
                    <a16:creationId xmlns:a16="http://schemas.microsoft.com/office/drawing/2014/main" id="{87C5F869-26CA-4ECF-8117-EB2ACEEFB9D8}"/>
                  </a:ext>
                </a:extLst>
              </p:cNvPr>
              <p:cNvCxnSpPr>
                <a:cxnSpLocks/>
                <a:stCxn id="8" idx="2"/>
                <a:endCxn id="17"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48">
                <a:extLst>
                  <a:ext uri="{FF2B5EF4-FFF2-40B4-BE49-F238E27FC236}">
                    <a16:creationId xmlns:a16="http://schemas.microsoft.com/office/drawing/2014/main" id="{03964D52-DBA5-4FAE-913A-8348C2091772}"/>
                  </a:ext>
                </a:extLst>
              </p:cNvPr>
              <p:cNvCxnSpPr>
                <a:cxnSpLocks/>
                <a:stCxn id="16" idx="2"/>
                <a:endCxn id="11" idx="1"/>
              </p:cNvCxnSpPr>
              <p:nvPr/>
            </p:nvCxnSpPr>
            <p:spPr>
              <a:xfrm>
                <a:off x="5187375" y="4699868"/>
                <a:ext cx="809" cy="32901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Flowchart: Data 52">
                <a:extLst>
                  <a:ext uri="{FF2B5EF4-FFF2-40B4-BE49-F238E27FC236}">
                    <a16:creationId xmlns:a16="http://schemas.microsoft.com/office/drawing/2014/main" id="{B9DF0CEE-D3EB-4499-93D1-614B554B387C}"/>
                  </a:ext>
                </a:extLst>
              </p:cNvPr>
              <p:cNvSpPr/>
              <p:nvPr/>
            </p:nvSpPr>
            <p:spPr>
              <a:xfrm>
                <a:off x="4039827" y="5028888"/>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Print </a:t>
                </a:r>
                <a:r>
                  <a:rPr lang="en-US" sz="1100" b="1" dirty="0">
                    <a:latin typeface="Consolas" panose="020B0609020204030204" pitchFamily="49" charset="0"/>
                  </a:rPr>
                  <a:t>area</a:t>
                </a:r>
              </a:p>
            </p:txBody>
          </p:sp>
          <p:cxnSp>
            <p:nvCxnSpPr>
              <p:cNvPr id="12" name="Straight Arrow Connector 53">
                <a:extLst>
                  <a:ext uri="{FF2B5EF4-FFF2-40B4-BE49-F238E27FC236}">
                    <a16:creationId xmlns:a16="http://schemas.microsoft.com/office/drawing/2014/main" id="{074C9DCF-6979-42B7-AF96-A0E41E156806}"/>
                  </a:ext>
                </a:extLst>
              </p:cNvPr>
              <p:cNvCxnSpPr>
                <a:cxnSpLocks/>
                <a:stCxn id="11" idx="4"/>
                <a:endCxn id="7" idx="0"/>
              </p:cNvCxnSpPr>
              <p:nvPr/>
            </p:nvCxnSpPr>
            <p:spPr>
              <a:xfrm>
                <a:off x="5188184" y="5440779"/>
                <a:ext cx="0" cy="3210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Flowchart: Data 68">
                <a:extLst>
                  <a:ext uri="{FF2B5EF4-FFF2-40B4-BE49-F238E27FC236}">
                    <a16:creationId xmlns:a16="http://schemas.microsoft.com/office/drawing/2014/main" id="{0B4F97B3-5B04-4A76-8BB8-E5F8DEC41937}"/>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Read radio</a:t>
                </a:r>
                <a:endParaRPr lang="en-US" sz="1100" b="1" dirty="0">
                  <a:latin typeface="Consolas" panose="020B0609020204030204" pitchFamily="49" charset="0"/>
                </a:endParaRPr>
              </a:p>
            </p:txBody>
          </p:sp>
          <p:cxnSp>
            <p:nvCxnSpPr>
              <p:cNvPr id="14" name="Straight Arrow Connector 47">
                <a:extLst>
                  <a:ext uri="{FF2B5EF4-FFF2-40B4-BE49-F238E27FC236}">
                    <a16:creationId xmlns:a16="http://schemas.microsoft.com/office/drawing/2014/main" id="{65AEBC24-7F97-450B-ABB9-BFF75D9BCB31}"/>
                  </a:ext>
                </a:extLst>
              </p:cNvPr>
              <p:cNvCxnSpPr>
                <a:cxnSpLocks/>
                <a:stCxn id="13" idx="4"/>
                <a:endCxn id="16" idx="0"/>
              </p:cNvCxnSpPr>
              <p:nvPr/>
            </p:nvCxnSpPr>
            <p:spPr>
              <a:xfrm>
                <a:off x="5185097" y="3938138"/>
                <a:ext cx="2278" cy="34983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Process 42">
                <a:extLst>
                  <a:ext uri="{FF2B5EF4-FFF2-40B4-BE49-F238E27FC236}">
                    <a16:creationId xmlns:a16="http://schemas.microsoft.com/office/drawing/2014/main" id="{66754C25-5131-48A6-953A-32CBEF110B64}"/>
                  </a:ext>
                </a:extLst>
              </p:cNvPr>
              <p:cNvSpPr/>
              <p:nvPr/>
            </p:nvSpPr>
            <p:spPr>
              <a:xfrm>
                <a:off x="3803911" y="4287976"/>
                <a:ext cx="2766928"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area </a:t>
                </a:r>
                <a:r>
                  <a:rPr lang="en-US" sz="1100" dirty="0">
                    <a:latin typeface="Consolas" panose="020B0609020204030204" pitchFamily="49" charset="0"/>
                  </a:rPr>
                  <a:t> PI * (radio**2)</a:t>
                </a:r>
              </a:p>
            </p:txBody>
          </p:sp>
          <p:sp>
            <p:nvSpPr>
              <p:cNvPr id="17" name="Flowchart: Process 42">
                <a:extLst>
                  <a:ext uri="{FF2B5EF4-FFF2-40B4-BE49-F238E27FC236}">
                    <a16:creationId xmlns:a16="http://schemas.microsoft.com/office/drawing/2014/main" id="{E768179D-85EC-4BF5-9F9A-4A45A0D35E39}"/>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PI </a:t>
                </a:r>
                <a:r>
                  <a:rPr lang="en-US" sz="1100" dirty="0">
                    <a:latin typeface="Consolas" panose="020B0609020204030204" pitchFamily="49" charset="0"/>
                  </a:rPr>
                  <a:t> 3.14</a:t>
                </a:r>
              </a:p>
            </p:txBody>
          </p:sp>
          <p:cxnSp>
            <p:nvCxnSpPr>
              <p:cNvPr id="18" name="Straight Arrow Connector 45">
                <a:extLst>
                  <a:ext uri="{FF2B5EF4-FFF2-40B4-BE49-F238E27FC236}">
                    <a16:creationId xmlns:a16="http://schemas.microsoft.com/office/drawing/2014/main" id="{E9160B86-0320-4FF5-8E65-4A3CCF3EFFEC}"/>
                  </a:ext>
                </a:extLst>
              </p:cNvPr>
              <p:cNvCxnSpPr>
                <a:cxnSpLocks/>
                <a:endCxn id="13"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0" name="CuadroTexto 19">
              <a:extLst>
                <a:ext uri="{FF2B5EF4-FFF2-40B4-BE49-F238E27FC236}">
                  <a16:creationId xmlns:a16="http://schemas.microsoft.com/office/drawing/2014/main" id="{A3CB30DA-E4AF-4A28-994A-0EE6B49FD220}"/>
                </a:ext>
              </a:extLst>
            </p:cNvPr>
            <p:cNvSpPr txBox="1"/>
            <p:nvPr/>
          </p:nvSpPr>
          <p:spPr>
            <a:xfrm>
              <a:off x="3593432" y="5275593"/>
              <a:ext cx="2348853" cy="1200329"/>
            </a:xfrm>
            <a:prstGeom prst="rect">
              <a:avLst/>
            </a:prstGeom>
            <a:noFill/>
            <a:ln>
              <a:solidFill>
                <a:schemeClr val="tx1"/>
              </a:solidFill>
            </a:ln>
          </p:spPr>
          <p:txBody>
            <a:bodyPr wrap="square">
              <a:spAutoFit/>
            </a:bodyPr>
            <a:lstStyle/>
            <a:p>
              <a:r>
                <a:rPr lang="es-CO" sz="1200" b="1" dirty="0">
                  <a:latin typeface="Consolas" panose="020B0609020204030204" pitchFamily="49" charset="0"/>
                </a:rPr>
                <a:t>Inicio</a:t>
              </a:r>
              <a:endParaRPr lang="es-CO" sz="1200" dirty="0">
                <a:latin typeface="Consolas" panose="020B0609020204030204" pitchFamily="49" charset="0"/>
              </a:endParaRPr>
            </a:p>
            <a:p>
              <a:r>
                <a:rPr lang="es-CO" sz="1200" dirty="0">
                  <a:latin typeface="Consolas" panose="020B0609020204030204" pitchFamily="49" charset="0"/>
                </a:rPr>
                <a:t>  PI = 3.14</a:t>
              </a:r>
            </a:p>
            <a:p>
              <a:r>
                <a:rPr lang="es-CO" sz="1200" dirty="0">
                  <a:latin typeface="Consolas" panose="020B0609020204030204" pitchFamily="49" charset="0"/>
                </a:rPr>
                <a:t>  Leer(radio)</a:t>
              </a:r>
            </a:p>
            <a:p>
              <a:r>
                <a:rPr lang="es-CO" sz="1200" dirty="0">
                  <a:latin typeface="Consolas" panose="020B0609020204030204" pitchFamily="49" charset="0"/>
                </a:rPr>
                <a:t>  area = PI*(radio**2)</a:t>
              </a:r>
            </a:p>
            <a:p>
              <a:r>
                <a:rPr lang="es-CO" sz="1200" dirty="0">
                  <a:latin typeface="Consolas" panose="020B0609020204030204" pitchFamily="49" charset="0"/>
                </a:rPr>
                <a:t>  Escribir(area)</a:t>
              </a:r>
            </a:p>
            <a:p>
              <a:r>
                <a:rPr lang="es-CO" sz="1200" b="1" dirty="0">
                  <a:latin typeface="Consolas" panose="020B0609020204030204" pitchFamily="49" charset="0"/>
                </a:rPr>
                <a:t>Fin</a:t>
              </a:r>
            </a:p>
          </p:txBody>
        </p:sp>
        <p:sp>
          <p:nvSpPr>
            <p:cNvPr id="47" name="Rectángulo: esquinas redondeadas 46">
              <a:extLst>
                <a:ext uri="{FF2B5EF4-FFF2-40B4-BE49-F238E27FC236}">
                  <a16:creationId xmlns:a16="http://schemas.microsoft.com/office/drawing/2014/main" id="{1C80DC11-2035-4811-95E3-B8390EFD5CD2}"/>
                </a:ext>
              </a:extLst>
            </p:cNvPr>
            <p:cNvSpPr/>
            <p:nvPr/>
          </p:nvSpPr>
          <p:spPr>
            <a:xfrm>
              <a:off x="3405036" y="1365464"/>
              <a:ext cx="2698458" cy="5303896"/>
            </a:xfrm>
            <a:prstGeom prst="roundRect">
              <a:avLst>
                <a:gd name="adj" fmla="val 9382"/>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6" name="Flecha: cheurón 45">
              <a:extLst>
                <a:ext uri="{FF2B5EF4-FFF2-40B4-BE49-F238E27FC236}">
                  <a16:creationId xmlns:a16="http://schemas.microsoft.com/office/drawing/2014/main" id="{DE133DD3-CB02-443A-B416-BAB11423F73F}"/>
                </a:ext>
              </a:extLst>
            </p:cNvPr>
            <p:cNvSpPr/>
            <p:nvPr/>
          </p:nvSpPr>
          <p:spPr>
            <a:xfrm rot="5400000">
              <a:off x="3066032" y="1241191"/>
              <a:ext cx="676195" cy="463533"/>
            </a:xfrm>
            <a:prstGeom prst="chevr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CO" b="1" dirty="0">
                  <a:solidFill>
                    <a:schemeClr val="bg1"/>
                  </a:solidFill>
                </a:rPr>
                <a:t>3</a:t>
              </a:r>
            </a:p>
          </p:txBody>
        </p:sp>
      </p:grpSp>
      <p:sp>
        <p:nvSpPr>
          <p:cNvPr id="49" name="Rectángulo: esquinas redondeadas 48">
            <a:extLst>
              <a:ext uri="{FF2B5EF4-FFF2-40B4-BE49-F238E27FC236}">
                <a16:creationId xmlns:a16="http://schemas.microsoft.com/office/drawing/2014/main" id="{CC600477-E127-464F-BF1E-8D7A99CB60FC}"/>
              </a:ext>
            </a:extLst>
          </p:cNvPr>
          <p:cNvSpPr/>
          <p:nvPr/>
        </p:nvSpPr>
        <p:spPr>
          <a:xfrm>
            <a:off x="6375773" y="1305180"/>
            <a:ext cx="2653859" cy="5303896"/>
          </a:xfrm>
          <a:prstGeom prst="roundRect">
            <a:avLst>
              <a:gd name="adj" fmla="val 9382"/>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0" name="Flecha: cheurón 49">
            <a:extLst>
              <a:ext uri="{FF2B5EF4-FFF2-40B4-BE49-F238E27FC236}">
                <a16:creationId xmlns:a16="http://schemas.microsoft.com/office/drawing/2014/main" id="{DD6DC9D0-1982-4164-BB2C-43BF3652891B}"/>
              </a:ext>
            </a:extLst>
          </p:cNvPr>
          <p:cNvSpPr/>
          <p:nvPr/>
        </p:nvSpPr>
        <p:spPr>
          <a:xfrm rot="5400000">
            <a:off x="6036769" y="1180907"/>
            <a:ext cx="676195" cy="463533"/>
          </a:xfrm>
          <a:prstGeom prst="chevr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CO" b="1" dirty="0">
                <a:solidFill>
                  <a:schemeClr val="bg1"/>
                </a:solidFill>
              </a:rPr>
              <a:t>4</a:t>
            </a:r>
          </a:p>
        </p:txBody>
      </p:sp>
    </p:spTree>
    <p:extLst>
      <p:ext uri="{BB962C8B-B14F-4D97-AF65-F5344CB8AC3E}">
        <p14:creationId xmlns:p14="http://schemas.microsoft.com/office/powerpoint/2010/main" val="676691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284840"/>
            <a:ext cx="8119814" cy="831626"/>
          </a:xfrm>
        </p:spPr>
        <p:txBody>
          <a:bodyPr/>
          <a:lstStyle/>
          <a:p>
            <a:r>
              <a:rPr lang="es-CO" sz="2800" dirty="0"/>
              <a:t>Pseudocodigo</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88912" y="991823"/>
            <a:ext cx="7993607" cy="1003737"/>
          </a:xfrm>
        </p:spPr>
        <p:txBody>
          <a:bodyPr>
            <a:normAutofit/>
          </a:bodyPr>
          <a:lstStyle/>
          <a:p>
            <a:pPr marL="0" indent="0">
              <a:buNone/>
            </a:pPr>
            <a:r>
              <a:rPr lang="es-MX" sz="2000" dirty="0"/>
              <a:t>La siguiente tabla muestra el resultado equivalente para operaciones secuenciales básicas entre el diagrama de bloques y el pseudocódigo (con las estructuras vistas hasta el momento).</a:t>
            </a:r>
            <a:endParaRPr lang="es-CO" sz="2000" dirty="0"/>
          </a:p>
        </p:txBody>
      </p:sp>
      <p:graphicFrame>
        <p:nvGraphicFramePr>
          <p:cNvPr id="2" name="Tabla 2">
            <a:extLst>
              <a:ext uri="{FF2B5EF4-FFF2-40B4-BE49-F238E27FC236}">
                <a16:creationId xmlns:a16="http://schemas.microsoft.com/office/drawing/2014/main" id="{1D2B5E36-52C4-42F4-8540-7CBD071455A5}"/>
              </a:ext>
            </a:extLst>
          </p:cNvPr>
          <p:cNvGraphicFramePr>
            <a:graphicFrameLocks noGrp="1"/>
          </p:cNvGraphicFramePr>
          <p:nvPr/>
        </p:nvGraphicFramePr>
        <p:xfrm>
          <a:off x="899592" y="2204864"/>
          <a:ext cx="6972249" cy="4211320"/>
        </p:xfrm>
        <a:graphic>
          <a:graphicData uri="http://schemas.openxmlformats.org/drawingml/2006/table">
            <a:tbl>
              <a:tblPr firstRow="1" bandRow="1">
                <a:tableStyleId>{5940675A-B579-460E-94D1-54222C63F5DA}</a:tableStyleId>
              </a:tblPr>
              <a:tblGrid>
                <a:gridCol w="1783449">
                  <a:extLst>
                    <a:ext uri="{9D8B030D-6E8A-4147-A177-3AD203B41FA5}">
                      <a16:colId xmlns:a16="http://schemas.microsoft.com/office/drawing/2014/main" val="4002968547"/>
                    </a:ext>
                  </a:extLst>
                </a:gridCol>
                <a:gridCol w="2864717">
                  <a:extLst>
                    <a:ext uri="{9D8B030D-6E8A-4147-A177-3AD203B41FA5}">
                      <a16:colId xmlns:a16="http://schemas.microsoft.com/office/drawing/2014/main" val="2376140116"/>
                    </a:ext>
                  </a:extLst>
                </a:gridCol>
                <a:gridCol w="2324083">
                  <a:extLst>
                    <a:ext uri="{9D8B030D-6E8A-4147-A177-3AD203B41FA5}">
                      <a16:colId xmlns:a16="http://schemas.microsoft.com/office/drawing/2014/main" val="1317388859"/>
                    </a:ext>
                  </a:extLst>
                </a:gridCol>
              </a:tblGrid>
              <a:tr h="370840">
                <a:tc>
                  <a:txBody>
                    <a:bodyPr/>
                    <a:lstStyle/>
                    <a:p>
                      <a:r>
                        <a:rPr lang="es-CO" b="1" dirty="0"/>
                        <a:t>Tipo</a:t>
                      </a:r>
                    </a:p>
                  </a:txBody>
                  <a:tcPr/>
                </a:tc>
                <a:tc>
                  <a:txBody>
                    <a:bodyPr/>
                    <a:lstStyle/>
                    <a:p>
                      <a:r>
                        <a:rPr lang="es-CO" b="1" dirty="0"/>
                        <a:t>Diagrama de bloques</a:t>
                      </a:r>
                    </a:p>
                  </a:txBody>
                  <a:tcPr/>
                </a:tc>
                <a:tc>
                  <a:txBody>
                    <a:bodyPr/>
                    <a:lstStyle/>
                    <a:p>
                      <a:r>
                        <a:rPr lang="es-CO" b="1" dirty="0"/>
                        <a:t>Pseudocordigo</a:t>
                      </a:r>
                    </a:p>
                  </a:txBody>
                  <a:tcPr/>
                </a:tc>
                <a:extLst>
                  <a:ext uri="{0D108BD9-81ED-4DB2-BD59-A6C34878D82A}">
                    <a16:rowId xmlns:a16="http://schemas.microsoft.com/office/drawing/2014/main" val="3153662098"/>
                  </a:ext>
                </a:extLst>
              </a:tr>
              <a:tr h="370840">
                <a:tc>
                  <a:txBody>
                    <a:bodyPr/>
                    <a:lstStyle/>
                    <a:p>
                      <a:pPr algn="ctr"/>
                      <a:r>
                        <a:rPr lang="es-CO" dirty="0"/>
                        <a:t>Entrada</a:t>
                      </a:r>
                    </a:p>
                    <a:p>
                      <a:pPr algn="ctr"/>
                      <a:endParaRPr lang="es-CO" dirty="0"/>
                    </a:p>
                    <a:p>
                      <a:pPr algn="ctr"/>
                      <a:endParaRPr lang="es-CO" dirty="0"/>
                    </a:p>
                  </a:txBody>
                  <a:tcPr/>
                </a:tc>
                <a:tc>
                  <a:txBody>
                    <a:bodyPr/>
                    <a:lstStyle/>
                    <a:p>
                      <a:endParaRPr lang="es-CO" dirty="0"/>
                    </a:p>
                    <a:p>
                      <a:endParaRPr lang="es-CO" dirty="0"/>
                    </a:p>
                    <a:p>
                      <a:endParaRPr lang="es-CO" dirty="0"/>
                    </a:p>
                    <a:p>
                      <a:endParaRPr lang="es-CO" dirty="0"/>
                    </a:p>
                  </a:txBody>
                  <a:tcPr/>
                </a:tc>
                <a:tc>
                  <a:txBody>
                    <a:bodyPr/>
                    <a:lstStyle/>
                    <a:p>
                      <a:r>
                        <a:rPr lang="es-CO" dirty="0">
                          <a:latin typeface="Consolas" panose="020B0609020204030204" pitchFamily="49" charset="0"/>
                        </a:rPr>
                        <a:t>Leer(v1,v2,…)</a:t>
                      </a:r>
                    </a:p>
                  </a:txBody>
                  <a:tcPr anchor="ctr"/>
                </a:tc>
                <a:extLst>
                  <a:ext uri="{0D108BD9-81ED-4DB2-BD59-A6C34878D82A}">
                    <a16:rowId xmlns:a16="http://schemas.microsoft.com/office/drawing/2014/main" val="2502274137"/>
                  </a:ext>
                </a:extLst>
              </a:tr>
              <a:tr h="370840">
                <a:tc>
                  <a:txBody>
                    <a:bodyPr/>
                    <a:lstStyle/>
                    <a:p>
                      <a:pPr algn="ctr"/>
                      <a:r>
                        <a:rPr lang="es-CO" dirty="0"/>
                        <a:t>Salida</a:t>
                      </a:r>
                    </a:p>
                  </a:txBody>
                  <a:tcPr/>
                </a:tc>
                <a:tc>
                  <a:txBody>
                    <a:bodyPr/>
                    <a:lstStyle/>
                    <a:p>
                      <a:endParaRPr lang="es-CO" dirty="0"/>
                    </a:p>
                    <a:p>
                      <a:endParaRPr lang="es-CO" dirty="0"/>
                    </a:p>
                    <a:p>
                      <a:endParaRPr lang="es-CO" dirty="0"/>
                    </a:p>
                    <a:p>
                      <a:endParaRPr lang="es-CO" dirty="0"/>
                    </a:p>
                    <a:p>
                      <a:endParaRPr lang="es-CO"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Consolas" panose="020B0609020204030204" pitchFamily="49" charset="0"/>
                        </a:rPr>
                        <a:t>Escribir(v1,v2,…)</a:t>
                      </a:r>
                    </a:p>
                    <a:p>
                      <a:endParaRPr lang="es-CO" dirty="0"/>
                    </a:p>
                  </a:txBody>
                  <a:tcPr anchor="ctr"/>
                </a:tc>
                <a:extLst>
                  <a:ext uri="{0D108BD9-81ED-4DB2-BD59-A6C34878D82A}">
                    <a16:rowId xmlns:a16="http://schemas.microsoft.com/office/drawing/2014/main" val="325961845"/>
                  </a:ext>
                </a:extLst>
              </a:tr>
              <a:tr h="370840">
                <a:tc>
                  <a:txBody>
                    <a:bodyPr/>
                    <a:lstStyle/>
                    <a:p>
                      <a:pPr algn="ctr"/>
                      <a:r>
                        <a:rPr lang="es-CO" dirty="0"/>
                        <a:t>Proceso</a:t>
                      </a:r>
                    </a:p>
                  </a:txBody>
                  <a:tcPr/>
                </a:tc>
                <a:tc>
                  <a:txBody>
                    <a:bodyPr/>
                    <a:lstStyle/>
                    <a:p>
                      <a:endParaRPr lang="es-CO" dirty="0"/>
                    </a:p>
                    <a:p>
                      <a:endParaRPr lang="es-CO" dirty="0"/>
                    </a:p>
                    <a:p>
                      <a:endParaRPr lang="es-CO" dirty="0"/>
                    </a:p>
                    <a:p>
                      <a:endParaRPr lang="es-CO" dirty="0"/>
                    </a:p>
                  </a:txBody>
                  <a:tcPr/>
                </a:tc>
                <a:tc>
                  <a:txBody>
                    <a:bodyPr/>
                    <a:lstStyle/>
                    <a:p>
                      <a:endParaRPr lang="es-CO" dirty="0"/>
                    </a:p>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Consolas" panose="020B0609020204030204" pitchFamily="49" charset="0"/>
                        </a:rPr>
                        <a:t>c = a + b</a:t>
                      </a:r>
                      <a:endParaRPr lang="es-CO" dirty="0"/>
                    </a:p>
                    <a:p>
                      <a:endParaRPr lang="es-CO" dirty="0"/>
                    </a:p>
                  </a:txBody>
                  <a:tcPr anchor="ctr"/>
                </a:tc>
                <a:extLst>
                  <a:ext uri="{0D108BD9-81ED-4DB2-BD59-A6C34878D82A}">
                    <a16:rowId xmlns:a16="http://schemas.microsoft.com/office/drawing/2014/main" val="2481907500"/>
                  </a:ext>
                </a:extLst>
              </a:tr>
            </a:tbl>
          </a:graphicData>
        </a:graphic>
      </p:graphicFrame>
      <p:sp>
        <p:nvSpPr>
          <p:cNvPr id="10" name="Flowchart: Data 6">
            <a:extLst>
              <a:ext uri="{FF2B5EF4-FFF2-40B4-BE49-F238E27FC236}">
                <a16:creationId xmlns:a16="http://schemas.microsoft.com/office/drawing/2014/main" id="{0844C778-9DE1-449B-B09C-237271C11B8A}"/>
              </a:ext>
            </a:extLst>
          </p:cNvPr>
          <p:cNvSpPr/>
          <p:nvPr/>
        </p:nvSpPr>
        <p:spPr>
          <a:xfrm>
            <a:off x="2843808" y="2789992"/>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v1,v2,…</a:t>
            </a:r>
          </a:p>
        </p:txBody>
      </p:sp>
      <p:sp>
        <p:nvSpPr>
          <p:cNvPr id="11" name="Flowchart: Data 6">
            <a:extLst>
              <a:ext uri="{FF2B5EF4-FFF2-40B4-BE49-F238E27FC236}">
                <a16:creationId xmlns:a16="http://schemas.microsoft.com/office/drawing/2014/main" id="{9C39F37A-2A39-47E1-86A7-FAE0C0329172}"/>
              </a:ext>
            </a:extLst>
          </p:cNvPr>
          <p:cNvSpPr/>
          <p:nvPr/>
        </p:nvSpPr>
        <p:spPr>
          <a:xfrm>
            <a:off x="2833199" y="4158144"/>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v1,v2,…</a:t>
            </a:r>
          </a:p>
        </p:txBody>
      </p:sp>
      <p:sp>
        <p:nvSpPr>
          <p:cNvPr id="12" name="Flowchart: Process 7">
            <a:extLst>
              <a:ext uri="{FF2B5EF4-FFF2-40B4-BE49-F238E27FC236}">
                <a16:creationId xmlns:a16="http://schemas.microsoft.com/office/drawing/2014/main" id="{6B08FC8C-52EF-4BF1-96B3-3C24D434D6C2}"/>
              </a:ext>
            </a:extLst>
          </p:cNvPr>
          <p:cNvSpPr/>
          <p:nvPr/>
        </p:nvSpPr>
        <p:spPr>
          <a:xfrm>
            <a:off x="3203848" y="5526296"/>
            <a:ext cx="1395611"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c </a:t>
            </a:r>
            <a:r>
              <a:rPr lang="en-US" sz="1400" dirty="0">
                <a:latin typeface="Consolas" panose="020B0609020204030204" pitchFamily="49" charset="0"/>
                <a:sym typeface="Wingdings" panose="05000000000000000000" pitchFamily="2" charset="2"/>
              </a:rPr>
              <a:t> a + b</a:t>
            </a:r>
            <a:r>
              <a:rPr lang="en-US" sz="1400" dirty="0">
                <a:latin typeface="Consolas" panose="020B0609020204030204" pitchFamily="49" charset="0"/>
              </a:rPr>
              <a:t> </a:t>
            </a:r>
          </a:p>
        </p:txBody>
      </p:sp>
      <p:pic>
        <p:nvPicPr>
          <p:cNvPr id="8" name="Picture 2" descr="http://www.jegsworks.com/lessons/computerbasics/lesson3/keyboard-white.png">
            <a:extLst>
              <a:ext uri="{FF2B5EF4-FFF2-40B4-BE49-F238E27FC236}">
                <a16:creationId xmlns:a16="http://schemas.microsoft.com/office/drawing/2014/main" id="{E71ECA5B-E283-484E-BAA4-FA33B41111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4743" y="3072905"/>
            <a:ext cx="1365108" cy="43228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t2.gstatic.com/images?q=tbn:ANd9GcS51PGLkp34nPs-LewfkgAfjdZsyder21fNGFoRiZ_A6x7txo3e">
            <a:extLst>
              <a:ext uri="{FF2B5EF4-FFF2-40B4-BE49-F238E27FC236}">
                <a16:creationId xmlns:a16="http://schemas.microsoft.com/office/drawing/2014/main" id="{EDFE1FD8-9BA8-4946-85A9-2C0C79F458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6569" y="4201790"/>
            <a:ext cx="841456" cy="69006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5ECC673D-BFEF-4D3C-AD06-02BF9118C5C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1509" y="5560142"/>
            <a:ext cx="751577" cy="751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1466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40382" y="210351"/>
            <a:ext cx="7886700" cy="743229"/>
          </a:xfrm>
        </p:spPr>
        <p:txBody>
          <a:bodyPr/>
          <a:lstStyle/>
          <a:p>
            <a:r>
              <a:rPr lang="es-CO" sz="2800" dirty="0"/>
              <a:t>Sobre los programas</a:t>
            </a:r>
            <a:endParaRPr lang="en-US" sz="2800" dirty="0"/>
          </a:p>
        </p:txBody>
      </p:sp>
      <p:sp>
        <p:nvSpPr>
          <p:cNvPr id="11" name="27 Rectángulo">
            <a:extLst>
              <a:ext uri="{FF2B5EF4-FFF2-40B4-BE49-F238E27FC236}">
                <a16:creationId xmlns:a16="http://schemas.microsoft.com/office/drawing/2014/main" id="{D44C9DCC-06E7-48ED-B8D8-CE7DB277AE3D}"/>
              </a:ext>
            </a:extLst>
          </p:cNvPr>
          <p:cNvSpPr/>
          <p:nvPr/>
        </p:nvSpPr>
        <p:spPr>
          <a:xfrm>
            <a:off x="281361" y="775745"/>
            <a:ext cx="8622257" cy="1631216"/>
          </a:xfrm>
          <a:prstGeom prst="rect">
            <a:avLst/>
          </a:prstGeom>
        </p:spPr>
        <p:txBody>
          <a:bodyPr wrap="square">
            <a:spAutoFit/>
          </a:bodyPr>
          <a:lstStyle/>
          <a:p>
            <a:pPr marL="342900" indent="-342900">
              <a:buFont typeface="Arial" panose="020B0604020202020204" pitchFamily="34" charset="0"/>
              <a:buChar char="•"/>
            </a:pPr>
            <a:r>
              <a:rPr lang="es-CO" sz="2000" dirty="0"/>
              <a:t>Ya hemos logrado describir los pasos para plantear un algoritmo (algo natural para nosotros) de manera mas formal (diagrama de flujo y pseudocódigo), pero todavía no tenemos forma de ejecutarlo en una maquina. </a:t>
            </a:r>
          </a:p>
          <a:p>
            <a:pPr marL="342900" indent="-342900">
              <a:buFont typeface="Arial" panose="020B0604020202020204" pitchFamily="34" charset="0"/>
              <a:buChar char="•"/>
            </a:pPr>
            <a:r>
              <a:rPr lang="es-MX" sz="2000" dirty="0"/>
              <a:t>Necesitamos codificar el algoritmo en un lenguaje de programación para convertirlo en un programa ejecutable.</a:t>
            </a:r>
            <a:endParaRPr lang="es-CO" sz="2000" dirty="0"/>
          </a:p>
        </p:txBody>
      </p:sp>
      <p:pic>
        <p:nvPicPr>
          <p:cNvPr id="2050" name="Picture 2" descr="Una vida de película - Que la pases lindo!">
            <a:extLst>
              <a:ext uri="{FF2B5EF4-FFF2-40B4-BE49-F238E27FC236}">
                <a16:creationId xmlns:a16="http://schemas.microsoft.com/office/drawing/2014/main" id="{CA49FBAF-61D1-44FE-A8CC-F7BC075F93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0577" y="2568140"/>
            <a:ext cx="1409428" cy="163121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0736D866-8B9C-4A47-B923-1BE1D65D3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3223" y="4617196"/>
            <a:ext cx="3080490" cy="1950977"/>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Grupo 39">
            <a:extLst>
              <a:ext uri="{FF2B5EF4-FFF2-40B4-BE49-F238E27FC236}">
                <a16:creationId xmlns:a16="http://schemas.microsoft.com/office/drawing/2014/main" id="{2E9C1172-A740-4CEB-92EB-016423715EF3}"/>
              </a:ext>
            </a:extLst>
          </p:cNvPr>
          <p:cNvGrpSpPr/>
          <p:nvPr/>
        </p:nvGrpSpPr>
        <p:grpSpPr>
          <a:xfrm>
            <a:off x="784687" y="2593127"/>
            <a:ext cx="2458616" cy="4054522"/>
            <a:chOff x="3865663" y="2084774"/>
            <a:chExt cx="2592287" cy="4054522"/>
          </a:xfrm>
        </p:grpSpPr>
        <p:sp>
          <p:nvSpPr>
            <p:cNvPr id="41" name="Flowchart: Terminator 43">
              <a:extLst>
                <a:ext uri="{FF2B5EF4-FFF2-40B4-BE49-F238E27FC236}">
                  <a16:creationId xmlns:a16="http://schemas.microsoft.com/office/drawing/2014/main" id="{99EEC9CD-D4FC-4889-9812-F20D76017693}"/>
                </a:ext>
              </a:extLst>
            </p:cNvPr>
            <p:cNvSpPr/>
            <p:nvPr/>
          </p:nvSpPr>
          <p:spPr>
            <a:xfrm>
              <a:off x="4507179" y="5809782"/>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Finish</a:t>
              </a:r>
              <a:endParaRPr lang="en-US" sz="1400" dirty="0">
                <a:latin typeface="Consolas" panose="020B0609020204030204" pitchFamily="49" charset="0"/>
              </a:endParaRPr>
            </a:p>
          </p:txBody>
        </p:sp>
        <p:sp>
          <p:nvSpPr>
            <p:cNvPr id="42" name="Flowchart: Terminator 44">
              <a:extLst>
                <a:ext uri="{FF2B5EF4-FFF2-40B4-BE49-F238E27FC236}">
                  <a16:creationId xmlns:a16="http://schemas.microsoft.com/office/drawing/2014/main" id="{F21AC91A-54C6-4917-A98B-C5B1453A0868}"/>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cxnSp>
          <p:nvCxnSpPr>
            <p:cNvPr id="43" name="Straight Arrow Connector 45">
              <a:extLst>
                <a:ext uri="{FF2B5EF4-FFF2-40B4-BE49-F238E27FC236}">
                  <a16:creationId xmlns:a16="http://schemas.microsoft.com/office/drawing/2014/main" id="{0D3248C0-CB12-4571-823B-D73F96E4B5F5}"/>
                </a:ext>
              </a:extLst>
            </p:cNvPr>
            <p:cNvCxnSpPr>
              <a:cxnSpLocks/>
              <a:stCxn id="42" idx="2"/>
              <a:endCxn id="50"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8">
              <a:extLst>
                <a:ext uri="{FF2B5EF4-FFF2-40B4-BE49-F238E27FC236}">
                  <a16:creationId xmlns:a16="http://schemas.microsoft.com/office/drawing/2014/main" id="{4F28F599-7125-4B00-B96E-C7D6B80E02F2}"/>
                </a:ext>
              </a:extLst>
            </p:cNvPr>
            <p:cNvCxnSpPr>
              <a:cxnSpLocks/>
              <a:stCxn id="49" idx="2"/>
              <a:endCxn id="45" idx="1"/>
            </p:cNvCxnSpPr>
            <p:nvPr/>
          </p:nvCxnSpPr>
          <p:spPr>
            <a:xfrm>
              <a:off x="5161807" y="4710533"/>
              <a:ext cx="0" cy="32368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Flowchart: Data 52">
              <a:extLst>
                <a:ext uri="{FF2B5EF4-FFF2-40B4-BE49-F238E27FC236}">
                  <a16:creationId xmlns:a16="http://schemas.microsoft.com/office/drawing/2014/main" id="{38334211-66D5-4C00-A531-8FBC15DB8A80}"/>
                </a:ext>
              </a:extLst>
            </p:cNvPr>
            <p:cNvSpPr/>
            <p:nvPr/>
          </p:nvSpPr>
          <p:spPr>
            <a:xfrm>
              <a:off x="4013451" y="5034221"/>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a:t>
              </a:r>
              <a:r>
                <a:rPr lang="en-US" sz="1400" b="1" dirty="0">
                  <a:latin typeface="Consolas" panose="020B0609020204030204" pitchFamily="49" charset="0"/>
                </a:rPr>
                <a:t>area</a:t>
              </a:r>
            </a:p>
          </p:txBody>
        </p:sp>
        <p:cxnSp>
          <p:nvCxnSpPr>
            <p:cNvPr id="46" name="Straight Arrow Connector 53">
              <a:extLst>
                <a:ext uri="{FF2B5EF4-FFF2-40B4-BE49-F238E27FC236}">
                  <a16:creationId xmlns:a16="http://schemas.microsoft.com/office/drawing/2014/main" id="{1B7EC149-F277-4D64-A04B-5E6BA0AD2972}"/>
                </a:ext>
              </a:extLst>
            </p:cNvPr>
            <p:cNvCxnSpPr>
              <a:cxnSpLocks/>
              <a:stCxn id="45" idx="4"/>
              <a:endCxn id="41" idx="0"/>
            </p:cNvCxnSpPr>
            <p:nvPr/>
          </p:nvCxnSpPr>
          <p:spPr>
            <a:xfrm flipH="1">
              <a:off x="5161806" y="5446113"/>
              <a:ext cx="1" cy="36366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Flowchart: Data 68">
              <a:extLst>
                <a:ext uri="{FF2B5EF4-FFF2-40B4-BE49-F238E27FC236}">
                  <a16:creationId xmlns:a16="http://schemas.microsoft.com/office/drawing/2014/main" id="{BE8910EE-83BA-4A92-9D21-F9982E181321}"/>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radio</a:t>
              </a:r>
              <a:endParaRPr lang="en-US" sz="1400" b="1" dirty="0">
                <a:latin typeface="Consolas" panose="020B0609020204030204" pitchFamily="49" charset="0"/>
              </a:endParaRPr>
            </a:p>
          </p:txBody>
        </p:sp>
        <p:cxnSp>
          <p:nvCxnSpPr>
            <p:cNvPr id="48" name="Straight Arrow Connector 47">
              <a:extLst>
                <a:ext uri="{FF2B5EF4-FFF2-40B4-BE49-F238E27FC236}">
                  <a16:creationId xmlns:a16="http://schemas.microsoft.com/office/drawing/2014/main" id="{6CBA5F54-BFFC-4A28-8204-F538752C7DCF}"/>
                </a:ext>
              </a:extLst>
            </p:cNvPr>
            <p:cNvCxnSpPr>
              <a:cxnSpLocks/>
              <a:stCxn id="47" idx="4"/>
            </p:cNvCxnSpPr>
            <p:nvPr/>
          </p:nvCxnSpPr>
          <p:spPr>
            <a:xfrm>
              <a:off x="5185096" y="3938138"/>
              <a:ext cx="1" cy="3414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Flowchart: Process 42">
              <a:extLst>
                <a:ext uri="{FF2B5EF4-FFF2-40B4-BE49-F238E27FC236}">
                  <a16:creationId xmlns:a16="http://schemas.microsoft.com/office/drawing/2014/main" id="{236322CE-3077-425A-B3AC-47DC6CA11BCA}"/>
                </a:ext>
              </a:extLst>
            </p:cNvPr>
            <p:cNvSpPr/>
            <p:nvPr/>
          </p:nvSpPr>
          <p:spPr>
            <a:xfrm>
              <a:off x="3865663" y="4298641"/>
              <a:ext cx="2592287"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area </a:t>
              </a:r>
              <a:r>
                <a:rPr lang="en-US" sz="1400" dirty="0">
                  <a:latin typeface="Consolas" panose="020B0609020204030204" pitchFamily="49" charset="0"/>
                </a:rPr>
                <a:t> PI * (radio**2)</a:t>
              </a:r>
            </a:p>
          </p:txBody>
        </p:sp>
        <p:sp>
          <p:nvSpPr>
            <p:cNvPr id="50" name="Flowchart: Process 42">
              <a:extLst>
                <a:ext uri="{FF2B5EF4-FFF2-40B4-BE49-F238E27FC236}">
                  <a16:creationId xmlns:a16="http://schemas.microsoft.com/office/drawing/2014/main" id="{831BF4F7-BC0C-460C-82B3-ECE38D8D4174}"/>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PI </a:t>
              </a:r>
              <a:r>
                <a:rPr lang="en-US" sz="1400" dirty="0">
                  <a:latin typeface="Consolas" panose="020B0609020204030204" pitchFamily="49" charset="0"/>
                </a:rPr>
                <a:t> 3.14</a:t>
              </a:r>
            </a:p>
          </p:txBody>
        </p:sp>
        <p:cxnSp>
          <p:nvCxnSpPr>
            <p:cNvPr id="51" name="Straight Arrow Connector 45">
              <a:extLst>
                <a:ext uri="{FF2B5EF4-FFF2-40B4-BE49-F238E27FC236}">
                  <a16:creationId xmlns:a16="http://schemas.microsoft.com/office/drawing/2014/main" id="{C1922514-4D13-4F9F-ACA4-B22FFB9AA058}"/>
                </a:ext>
              </a:extLst>
            </p:cNvPr>
            <p:cNvCxnSpPr>
              <a:cxnSpLocks/>
              <a:endCxn id="47"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13" name="Imagen 12">
            <a:extLst>
              <a:ext uri="{FF2B5EF4-FFF2-40B4-BE49-F238E27FC236}">
                <a16:creationId xmlns:a16="http://schemas.microsoft.com/office/drawing/2014/main" id="{7DFA7093-BBB7-440E-9E9B-C38C000EB7C4}"/>
              </a:ext>
            </a:extLst>
          </p:cNvPr>
          <p:cNvPicPr>
            <a:picLocks noChangeAspect="1"/>
          </p:cNvPicPr>
          <p:nvPr/>
        </p:nvPicPr>
        <p:blipFill>
          <a:blip r:embed="rId4"/>
          <a:stretch>
            <a:fillRect/>
          </a:stretch>
        </p:blipFill>
        <p:spPr>
          <a:xfrm>
            <a:off x="3637140" y="5275615"/>
            <a:ext cx="934860" cy="965278"/>
          </a:xfrm>
          <a:prstGeom prst="rect">
            <a:avLst/>
          </a:prstGeom>
        </p:spPr>
      </p:pic>
      <p:pic>
        <p:nvPicPr>
          <p:cNvPr id="37" name="Imagen 36">
            <a:extLst>
              <a:ext uri="{FF2B5EF4-FFF2-40B4-BE49-F238E27FC236}">
                <a16:creationId xmlns:a16="http://schemas.microsoft.com/office/drawing/2014/main" id="{4B8BEFEF-E5B3-4306-A9B3-DC12D075939C}"/>
              </a:ext>
            </a:extLst>
          </p:cNvPr>
          <p:cNvPicPr>
            <a:picLocks noChangeAspect="1"/>
          </p:cNvPicPr>
          <p:nvPr/>
        </p:nvPicPr>
        <p:blipFill>
          <a:blip r:embed="rId5"/>
          <a:stretch>
            <a:fillRect/>
          </a:stretch>
        </p:blipFill>
        <p:spPr>
          <a:xfrm>
            <a:off x="3759527" y="2856955"/>
            <a:ext cx="1024620" cy="965279"/>
          </a:xfrm>
          <a:prstGeom prst="rect">
            <a:avLst/>
          </a:prstGeom>
        </p:spPr>
      </p:pic>
      <p:pic>
        <p:nvPicPr>
          <p:cNvPr id="39" name="Imagen 38">
            <a:extLst>
              <a:ext uri="{FF2B5EF4-FFF2-40B4-BE49-F238E27FC236}">
                <a16:creationId xmlns:a16="http://schemas.microsoft.com/office/drawing/2014/main" id="{1F1FD035-8B01-45B3-8B0A-6CFE072B54D8}"/>
              </a:ext>
            </a:extLst>
          </p:cNvPr>
          <p:cNvPicPr>
            <a:picLocks noChangeAspect="1"/>
          </p:cNvPicPr>
          <p:nvPr/>
        </p:nvPicPr>
        <p:blipFill>
          <a:blip r:embed="rId6"/>
          <a:stretch>
            <a:fillRect/>
          </a:stretch>
        </p:blipFill>
        <p:spPr>
          <a:xfrm>
            <a:off x="8104213" y="5657131"/>
            <a:ext cx="645793" cy="661004"/>
          </a:xfrm>
          <a:prstGeom prst="rect">
            <a:avLst/>
          </a:prstGeom>
        </p:spPr>
      </p:pic>
      <p:pic>
        <p:nvPicPr>
          <p:cNvPr id="53" name="Imagen 52">
            <a:extLst>
              <a:ext uri="{FF2B5EF4-FFF2-40B4-BE49-F238E27FC236}">
                <a16:creationId xmlns:a16="http://schemas.microsoft.com/office/drawing/2014/main" id="{00DEE880-254A-4A26-BD12-7A2BD3A2D87F}"/>
              </a:ext>
            </a:extLst>
          </p:cNvPr>
          <p:cNvPicPr>
            <a:picLocks noChangeAspect="1"/>
          </p:cNvPicPr>
          <p:nvPr/>
        </p:nvPicPr>
        <p:blipFill>
          <a:blip r:embed="rId7"/>
          <a:stretch>
            <a:fillRect/>
          </a:stretch>
        </p:blipFill>
        <p:spPr>
          <a:xfrm>
            <a:off x="8127082" y="4617196"/>
            <a:ext cx="643424" cy="783890"/>
          </a:xfrm>
          <a:prstGeom prst="rect">
            <a:avLst/>
          </a:prstGeom>
        </p:spPr>
      </p:pic>
    </p:spTree>
    <p:extLst>
      <p:ext uri="{BB962C8B-B14F-4D97-AF65-F5344CB8AC3E}">
        <p14:creationId xmlns:p14="http://schemas.microsoft.com/office/powerpoint/2010/main" val="3276010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0341" y="167717"/>
            <a:ext cx="7886700" cy="743229"/>
          </a:xfrm>
        </p:spPr>
        <p:txBody>
          <a:bodyPr/>
          <a:lstStyle/>
          <a:p>
            <a:r>
              <a:rPr lang="es-CO" sz="2800" dirty="0"/>
              <a:t>Programa en lenguaje Python</a:t>
            </a:r>
            <a:endParaRPr lang="en-US" sz="2800" dirty="0"/>
          </a:p>
        </p:txBody>
      </p:sp>
      <p:sp>
        <p:nvSpPr>
          <p:cNvPr id="11" name="27 Rectángulo">
            <a:extLst>
              <a:ext uri="{FF2B5EF4-FFF2-40B4-BE49-F238E27FC236}">
                <a16:creationId xmlns:a16="http://schemas.microsoft.com/office/drawing/2014/main" id="{D44C9DCC-06E7-48ED-B8D8-CE7DB277AE3D}"/>
              </a:ext>
            </a:extLst>
          </p:cNvPr>
          <p:cNvSpPr/>
          <p:nvPr/>
        </p:nvSpPr>
        <p:spPr>
          <a:xfrm>
            <a:off x="194432" y="871667"/>
            <a:ext cx="8755136" cy="615553"/>
          </a:xfrm>
          <a:prstGeom prst="rect">
            <a:avLst/>
          </a:prstGeom>
        </p:spPr>
        <p:txBody>
          <a:bodyPr wrap="square">
            <a:spAutoFit/>
          </a:bodyPr>
          <a:lstStyle/>
          <a:p>
            <a:r>
              <a:rPr lang="es-CO" b="1" dirty="0">
                <a:latin typeface="Century Gothic" panose="020B0502020202020204" pitchFamily="34" charset="0"/>
              </a:rPr>
              <a:t>Problema:</a:t>
            </a:r>
          </a:p>
          <a:p>
            <a:r>
              <a:rPr lang="es-CO" sz="1600" dirty="0">
                <a:latin typeface="Century Gothic" panose="020B0502020202020204" pitchFamily="34" charset="0"/>
              </a:rPr>
              <a:t>Hacer un algoritmo que calcule el área de un circulo (Pseudocodigo forma 1)</a:t>
            </a:r>
          </a:p>
        </p:txBody>
      </p:sp>
      <p:sp>
        <p:nvSpPr>
          <p:cNvPr id="24" name="CuadroTexto 23">
            <a:extLst>
              <a:ext uri="{FF2B5EF4-FFF2-40B4-BE49-F238E27FC236}">
                <a16:creationId xmlns:a16="http://schemas.microsoft.com/office/drawing/2014/main" id="{58DBAB80-7B45-4C61-B5B2-9BE2ACB11B54}"/>
              </a:ext>
            </a:extLst>
          </p:cNvPr>
          <p:cNvSpPr txBox="1"/>
          <p:nvPr/>
        </p:nvSpPr>
        <p:spPr>
          <a:xfrm>
            <a:off x="4161864" y="2049870"/>
            <a:ext cx="4350421" cy="1292662"/>
          </a:xfrm>
          <a:prstGeom prst="rect">
            <a:avLst/>
          </a:prstGeom>
          <a:noFill/>
          <a:ln w="12700">
            <a:solidFill>
              <a:schemeClr val="tx1"/>
            </a:solidFill>
          </a:ln>
        </p:spPr>
        <p:txBody>
          <a:bodyPr wrap="square">
            <a:spAutoFit/>
          </a:bodyPr>
          <a:lstStyle/>
          <a:p>
            <a:r>
              <a:rPr lang="es-CO" sz="1300" b="1" dirty="0">
                <a:latin typeface="Consolas" panose="020B0609020204030204" pitchFamily="49" charset="0"/>
              </a:rPr>
              <a:t>Inicio</a:t>
            </a:r>
            <a:r>
              <a:rPr lang="es-CO" sz="1300" dirty="0">
                <a:latin typeface="Consolas" panose="020B0609020204030204" pitchFamily="49" charset="0"/>
              </a:rPr>
              <a:t> </a:t>
            </a:r>
          </a:p>
          <a:p>
            <a:r>
              <a:rPr lang="es-CO" sz="1300" dirty="0">
                <a:latin typeface="Consolas" panose="020B0609020204030204" pitchFamily="49" charset="0"/>
              </a:rPr>
              <a:t>  PI = 3.14</a:t>
            </a:r>
          </a:p>
          <a:p>
            <a:r>
              <a:rPr lang="es-CO" sz="1300" dirty="0">
                <a:latin typeface="Consolas" panose="020B0609020204030204" pitchFamily="49" charset="0"/>
              </a:rPr>
              <a:t>  Leer(radio)</a:t>
            </a:r>
          </a:p>
          <a:p>
            <a:r>
              <a:rPr lang="es-CO" sz="1300" dirty="0">
                <a:latin typeface="Consolas" panose="020B0609020204030204" pitchFamily="49" charset="0"/>
              </a:rPr>
              <a:t>  area = PI*(radio**2)</a:t>
            </a:r>
          </a:p>
          <a:p>
            <a:r>
              <a:rPr lang="es-CO" sz="1300" dirty="0">
                <a:latin typeface="Consolas" panose="020B0609020204030204" pitchFamily="49" charset="0"/>
              </a:rPr>
              <a:t>  Escribir(area)</a:t>
            </a:r>
          </a:p>
          <a:p>
            <a:r>
              <a:rPr lang="es-CO" sz="1300" b="1" dirty="0">
                <a:latin typeface="Consolas" panose="020B0609020204030204" pitchFamily="49" charset="0"/>
              </a:rPr>
              <a:t>Fin</a:t>
            </a:r>
          </a:p>
        </p:txBody>
      </p:sp>
      <p:sp>
        <p:nvSpPr>
          <p:cNvPr id="25" name="1 Rectángulo">
            <a:extLst>
              <a:ext uri="{FF2B5EF4-FFF2-40B4-BE49-F238E27FC236}">
                <a16:creationId xmlns:a16="http://schemas.microsoft.com/office/drawing/2014/main" id="{529D5F01-1C96-4ED9-A5DD-67EFC842684B}"/>
              </a:ext>
            </a:extLst>
          </p:cNvPr>
          <p:cNvSpPr/>
          <p:nvPr/>
        </p:nvSpPr>
        <p:spPr>
          <a:xfrm>
            <a:off x="4144032" y="3915560"/>
            <a:ext cx="4368253" cy="1692771"/>
          </a:xfrm>
          <a:prstGeom prst="rect">
            <a:avLst/>
          </a:prstGeom>
          <a:ln w="12700">
            <a:solidFill>
              <a:schemeClr val="tx2"/>
            </a:solidFill>
          </a:ln>
        </p:spPr>
        <p:txBody>
          <a:bodyPr wrap="square">
            <a:spAutoFit/>
          </a:bodyPr>
          <a:lstStyle/>
          <a:p>
            <a:r>
              <a:rPr lang="en-US" sz="1300" dirty="0">
                <a:solidFill>
                  <a:srgbClr val="00B050"/>
                </a:solidFill>
                <a:latin typeface="Consolas" panose="020B0609020204030204" pitchFamily="49" charset="0"/>
                <a:cs typeface="Consolas" panose="020B0609020204030204" pitchFamily="49" charset="0"/>
              </a:rPr>
              <a:t># </a:t>
            </a:r>
            <a:r>
              <a:rPr lang="en-US" sz="1300" dirty="0" err="1">
                <a:solidFill>
                  <a:srgbClr val="00B050"/>
                </a:solidFill>
                <a:latin typeface="Consolas" panose="020B0609020204030204" pitchFamily="49" charset="0"/>
                <a:cs typeface="Consolas" panose="020B0609020204030204" pitchFamily="49" charset="0"/>
              </a:rPr>
              <a:t>Inicializacion</a:t>
            </a:r>
            <a:endParaRPr lang="en-US" sz="1300" dirty="0">
              <a:solidFill>
                <a:srgbClr val="00B050"/>
              </a:solidFill>
              <a:latin typeface="Consolas" panose="020B0609020204030204" pitchFamily="49" charset="0"/>
              <a:cs typeface="Consolas" panose="020B0609020204030204" pitchFamily="49" charset="0"/>
            </a:endParaRPr>
          </a:p>
          <a:p>
            <a:r>
              <a:rPr lang="en-US" sz="1300" dirty="0">
                <a:latin typeface="Consolas" panose="020B0609020204030204" pitchFamily="49" charset="0"/>
                <a:cs typeface="Consolas" panose="020B0609020204030204" pitchFamily="49" charset="0"/>
              </a:rPr>
              <a:t>PI = 3.14</a:t>
            </a:r>
          </a:p>
          <a:p>
            <a:r>
              <a:rPr lang="en-US" sz="1300" dirty="0">
                <a:solidFill>
                  <a:srgbClr val="00B050"/>
                </a:solidFill>
                <a:latin typeface="Consolas" panose="020B0609020204030204" pitchFamily="49" charset="0"/>
                <a:cs typeface="Consolas" panose="020B0609020204030204" pitchFamily="49" charset="0"/>
              </a:rPr>
              <a:t># Entrada de datos</a:t>
            </a:r>
          </a:p>
          <a:p>
            <a:r>
              <a:rPr lang="en-US" sz="1300" dirty="0">
                <a:latin typeface="Consolas" panose="020B0609020204030204" pitchFamily="49" charset="0"/>
                <a:cs typeface="Consolas" panose="020B0609020204030204" pitchFamily="49" charset="0"/>
              </a:rPr>
              <a:t>radio = float(input("</a:t>
            </a:r>
            <a:r>
              <a:rPr lang="en-US" sz="1300" dirty="0" err="1">
                <a:latin typeface="Consolas" panose="020B0609020204030204" pitchFamily="49" charset="0"/>
                <a:cs typeface="Consolas" panose="020B0609020204030204" pitchFamily="49" charset="0"/>
              </a:rPr>
              <a:t>Digite</a:t>
            </a:r>
            <a:r>
              <a:rPr lang="en-US" sz="1300" dirty="0">
                <a:latin typeface="Consolas" panose="020B0609020204030204" pitchFamily="49" charset="0"/>
                <a:cs typeface="Consolas" panose="020B0609020204030204" pitchFamily="49" charset="0"/>
              </a:rPr>
              <a:t> </a:t>
            </a:r>
            <a:r>
              <a:rPr lang="en-US" sz="1300" dirty="0" err="1">
                <a:latin typeface="Consolas" panose="020B0609020204030204" pitchFamily="49" charset="0"/>
                <a:cs typeface="Consolas" panose="020B0609020204030204" pitchFamily="49" charset="0"/>
              </a:rPr>
              <a:t>el</a:t>
            </a:r>
            <a:r>
              <a:rPr lang="en-US" sz="1300" dirty="0">
                <a:latin typeface="Consolas" panose="020B0609020204030204" pitchFamily="49" charset="0"/>
                <a:cs typeface="Consolas" panose="020B0609020204030204" pitchFamily="49" charset="0"/>
              </a:rPr>
              <a:t> radio: "))</a:t>
            </a:r>
          </a:p>
          <a:p>
            <a:r>
              <a:rPr lang="en-US" sz="1300" dirty="0">
                <a:solidFill>
                  <a:srgbClr val="00B050"/>
                </a:solidFill>
                <a:latin typeface="Consolas" panose="020B0609020204030204" pitchFamily="49" charset="0"/>
                <a:cs typeface="Consolas" panose="020B0609020204030204" pitchFamily="49" charset="0"/>
              </a:rPr>
              <a:t># </a:t>
            </a:r>
            <a:r>
              <a:rPr lang="en-US" sz="1300" dirty="0" err="1">
                <a:solidFill>
                  <a:srgbClr val="00B050"/>
                </a:solidFill>
                <a:latin typeface="Consolas" panose="020B0609020204030204" pitchFamily="49" charset="0"/>
                <a:cs typeface="Consolas" panose="020B0609020204030204" pitchFamily="49" charset="0"/>
              </a:rPr>
              <a:t>Calculo</a:t>
            </a:r>
            <a:r>
              <a:rPr lang="en-US" sz="1300" dirty="0">
                <a:solidFill>
                  <a:srgbClr val="00B050"/>
                </a:solidFill>
                <a:latin typeface="Consolas" panose="020B0609020204030204" pitchFamily="49" charset="0"/>
                <a:cs typeface="Consolas" panose="020B0609020204030204" pitchFamily="49" charset="0"/>
              </a:rPr>
              <a:t> del area</a:t>
            </a:r>
          </a:p>
          <a:p>
            <a:r>
              <a:rPr lang="en-US" sz="1300" dirty="0">
                <a:latin typeface="Consolas" panose="020B0609020204030204" pitchFamily="49" charset="0"/>
                <a:cs typeface="Consolas" panose="020B0609020204030204" pitchFamily="49" charset="0"/>
              </a:rPr>
              <a:t>area = PI * (radio**2)</a:t>
            </a:r>
          </a:p>
          <a:p>
            <a:r>
              <a:rPr lang="en-US" sz="1300" dirty="0">
                <a:solidFill>
                  <a:srgbClr val="00B050"/>
                </a:solidFill>
                <a:latin typeface="Consolas" panose="020B0609020204030204" pitchFamily="49" charset="0"/>
                <a:cs typeface="Consolas" panose="020B0609020204030204" pitchFamily="49" charset="0"/>
              </a:rPr>
              <a:t># </a:t>
            </a:r>
            <a:r>
              <a:rPr lang="en-US" sz="1300" dirty="0" err="1">
                <a:solidFill>
                  <a:srgbClr val="00B050"/>
                </a:solidFill>
                <a:latin typeface="Consolas" panose="020B0609020204030204" pitchFamily="49" charset="0"/>
                <a:cs typeface="Consolas" panose="020B0609020204030204" pitchFamily="49" charset="0"/>
              </a:rPr>
              <a:t>Despliegue</a:t>
            </a:r>
            <a:r>
              <a:rPr lang="en-US" sz="1300" dirty="0">
                <a:solidFill>
                  <a:srgbClr val="00B050"/>
                </a:solidFill>
                <a:latin typeface="Consolas" panose="020B0609020204030204" pitchFamily="49" charset="0"/>
                <a:cs typeface="Consolas" panose="020B0609020204030204" pitchFamily="49" charset="0"/>
              </a:rPr>
              <a:t> del area</a:t>
            </a:r>
          </a:p>
          <a:p>
            <a:r>
              <a:rPr lang="en-US" sz="1300" dirty="0">
                <a:latin typeface="Consolas" panose="020B0609020204030204" pitchFamily="49" charset="0"/>
                <a:cs typeface="Consolas" panose="020B0609020204030204" pitchFamily="49" charset="0"/>
              </a:rPr>
              <a:t>print("El </a:t>
            </a:r>
            <a:r>
              <a:rPr lang="en-US" sz="1300" dirty="0" err="1">
                <a:latin typeface="Consolas" panose="020B0609020204030204" pitchFamily="49" charset="0"/>
                <a:cs typeface="Consolas" panose="020B0609020204030204" pitchFamily="49" charset="0"/>
              </a:rPr>
              <a:t>área</a:t>
            </a:r>
            <a:r>
              <a:rPr lang="en-US" sz="1300" dirty="0">
                <a:latin typeface="Consolas" panose="020B0609020204030204" pitchFamily="49" charset="0"/>
                <a:cs typeface="Consolas" panose="020B0609020204030204" pitchFamily="49" charset="0"/>
              </a:rPr>
              <a:t> del </a:t>
            </a:r>
            <a:r>
              <a:rPr lang="en-US" sz="1300" dirty="0" err="1">
                <a:latin typeface="Consolas" panose="020B0609020204030204" pitchFamily="49" charset="0"/>
                <a:cs typeface="Consolas" panose="020B0609020204030204" pitchFamily="49" charset="0"/>
              </a:rPr>
              <a:t>circulo</a:t>
            </a:r>
            <a:r>
              <a:rPr lang="en-US" sz="1300" dirty="0">
                <a:latin typeface="Consolas" panose="020B0609020204030204" pitchFamily="49" charset="0"/>
                <a:cs typeface="Consolas" panose="020B0609020204030204" pitchFamily="49" charset="0"/>
              </a:rPr>
              <a:t> es:", area)</a:t>
            </a:r>
            <a:endParaRPr lang="es-CO" sz="1300" dirty="0">
              <a:latin typeface="Consolas" panose="020B0609020204030204" pitchFamily="49" charset="0"/>
              <a:cs typeface="Consolas" panose="020B0609020204030204" pitchFamily="49" charset="0"/>
            </a:endParaRPr>
          </a:p>
        </p:txBody>
      </p:sp>
      <p:sp>
        <p:nvSpPr>
          <p:cNvPr id="27" name="Rectángulo 26">
            <a:hlinkClick r:id="rId2"/>
            <a:extLst>
              <a:ext uri="{FF2B5EF4-FFF2-40B4-BE49-F238E27FC236}">
                <a16:creationId xmlns:a16="http://schemas.microsoft.com/office/drawing/2014/main" id="{D528608D-F126-45F8-992A-E49C55D22AC7}"/>
              </a:ext>
            </a:extLst>
          </p:cNvPr>
          <p:cNvSpPr/>
          <p:nvPr/>
        </p:nvSpPr>
        <p:spPr>
          <a:xfrm>
            <a:off x="5820816" y="5684057"/>
            <a:ext cx="1032516" cy="306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Century Gothic" panose="020B0502020202020204" pitchFamily="34" charset="0"/>
                <a:hlinkClick r:id="rId3"/>
              </a:rPr>
              <a:t>link</a:t>
            </a:r>
            <a:endParaRPr lang="es-MX" sz="1200" dirty="0">
              <a:solidFill>
                <a:schemeClr val="tx1"/>
              </a:solidFill>
              <a:latin typeface="Century Gothic" panose="020B0502020202020204" pitchFamily="34" charset="0"/>
            </a:endParaRPr>
          </a:p>
        </p:txBody>
      </p:sp>
      <p:grpSp>
        <p:nvGrpSpPr>
          <p:cNvPr id="2" name="Grupo 1">
            <a:extLst>
              <a:ext uri="{FF2B5EF4-FFF2-40B4-BE49-F238E27FC236}">
                <a16:creationId xmlns:a16="http://schemas.microsoft.com/office/drawing/2014/main" id="{AAB97AB7-550E-4F10-9140-53F2BC02CCE9}"/>
              </a:ext>
            </a:extLst>
          </p:cNvPr>
          <p:cNvGrpSpPr/>
          <p:nvPr/>
        </p:nvGrpSpPr>
        <p:grpSpPr>
          <a:xfrm>
            <a:off x="631715" y="2010563"/>
            <a:ext cx="1998336" cy="3578352"/>
            <a:chOff x="3717689" y="1503803"/>
            <a:chExt cx="1998336" cy="3578352"/>
          </a:xfrm>
        </p:grpSpPr>
        <p:sp>
          <p:nvSpPr>
            <p:cNvPr id="29" name="Flowchart: Terminator 43">
              <a:extLst>
                <a:ext uri="{FF2B5EF4-FFF2-40B4-BE49-F238E27FC236}">
                  <a16:creationId xmlns:a16="http://schemas.microsoft.com/office/drawing/2014/main" id="{49A0F72D-00EA-4DFC-9582-81D2438CBC3F}"/>
                </a:ext>
              </a:extLst>
            </p:cNvPr>
            <p:cNvSpPr/>
            <p:nvPr/>
          </p:nvSpPr>
          <p:spPr>
            <a:xfrm>
              <a:off x="4244655" y="4787856"/>
              <a:ext cx="945572" cy="294299"/>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Finish</a:t>
              </a:r>
              <a:endParaRPr lang="en-US" sz="1100" dirty="0">
                <a:latin typeface="Consolas" panose="020B0609020204030204" pitchFamily="49" charset="0"/>
              </a:endParaRPr>
            </a:p>
          </p:txBody>
        </p:sp>
        <p:sp>
          <p:nvSpPr>
            <p:cNvPr id="30" name="Flowchart: Terminator 44">
              <a:extLst>
                <a:ext uri="{FF2B5EF4-FFF2-40B4-BE49-F238E27FC236}">
                  <a16:creationId xmlns:a16="http://schemas.microsoft.com/office/drawing/2014/main" id="{60B555E7-4474-495D-9134-F2036627D845}"/>
                </a:ext>
              </a:extLst>
            </p:cNvPr>
            <p:cNvSpPr/>
            <p:nvPr/>
          </p:nvSpPr>
          <p:spPr>
            <a:xfrm>
              <a:off x="4228668" y="1503803"/>
              <a:ext cx="945572" cy="294299"/>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Start</a:t>
              </a:r>
              <a:endParaRPr lang="en-US" sz="1100" dirty="0">
                <a:latin typeface="Consolas" panose="020B0609020204030204" pitchFamily="49" charset="0"/>
              </a:endParaRPr>
            </a:p>
          </p:txBody>
        </p:sp>
        <p:cxnSp>
          <p:nvCxnSpPr>
            <p:cNvPr id="31" name="Straight Arrow Connector 45">
              <a:extLst>
                <a:ext uri="{FF2B5EF4-FFF2-40B4-BE49-F238E27FC236}">
                  <a16:creationId xmlns:a16="http://schemas.microsoft.com/office/drawing/2014/main" id="{D9FF2FB4-A516-4DB6-AA91-52E1B4B5BB90}"/>
                </a:ext>
              </a:extLst>
            </p:cNvPr>
            <p:cNvCxnSpPr>
              <a:cxnSpLocks/>
              <a:stCxn id="30" idx="2"/>
              <a:endCxn id="38" idx="0"/>
            </p:cNvCxnSpPr>
            <p:nvPr/>
          </p:nvCxnSpPr>
          <p:spPr>
            <a:xfrm flipH="1">
              <a:off x="4698391" y="1798102"/>
              <a:ext cx="3063" cy="263145"/>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48">
              <a:extLst>
                <a:ext uri="{FF2B5EF4-FFF2-40B4-BE49-F238E27FC236}">
                  <a16:creationId xmlns:a16="http://schemas.microsoft.com/office/drawing/2014/main" id="{EE5898D2-64FB-490D-A0A0-C6ECEBF64CED}"/>
                </a:ext>
              </a:extLst>
            </p:cNvPr>
            <p:cNvCxnSpPr>
              <a:cxnSpLocks/>
              <a:stCxn id="37" idx="2"/>
              <a:endCxn id="33" idx="1"/>
            </p:cNvCxnSpPr>
            <p:nvPr/>
          </p:nvCxnSpPr>
          <p:spPr>
            <a:xfrm>
              <a:off x="4716857" y="3839422"/>
              <a:ext cx="584" cy="293857"/>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Flowchart: Data 52">
              <a:extLst>
                <a:ext uri="{FF2B5EF4-FFF2-40B4-BE49-F238E27FC236}">
                  <a16:creationId xmlns:a16="http://schemas.microsoft.com/office/drawing/2014/main" id="{536A2FB2-D35C-441C-87ED-19C35E959D37}"/>
                </a:ext>
              </a:extLst>
            </p:cNvPr>
            <p:cNvSpPr/>
            <p:nvPr/>
          </p:nvSpPr>
          <p:spPr>
            <a:xfrm>
              <a:off x="3888073" y="4133279"/>
              <a:ext cx="1658736" cy="367873"/>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Print </a:t>
              </a:r>
              <a:r>
                <a:rPr lang="en-US" sz="1100" b="1" dirty="0">
                  <a:latin typeface="Consolas" panose="020B0609020204030204" pitchFamily="49" charset="0"/>
                </a:rPr>
                <a:t>area</a:t>
              </a:r>
            </a:p>
          </p:txBody>
        </p:sp>
        <p:cxnSp>
          <p:nvCxnSpPr>
            <p:cNvPr id="34" name="Straight Arrow Connector 53">
              <a:extLst>
                <a:ext uri="{FF2B5EF4-FFF2-40B4-BE49-F238E27FC236}">
                  <a16:creationId xmlns:a16="http://schemas.microsoft.com/office/drawing/2014/main" id="{8F8F4F61-C9E2-426A-83C7-3DB61235963E}"/>
                </a:ext>
              </a:extLst>
            </p:cNvPr>
            <p:cNvCxnSpPr>
              <a:cxnSpLocks/>
              <a:stCxn id="33" idx="4"/>
              <a:endCxn id="29" idx="0"/>
            </p:cNvCxnSpPr>
            <p:nvPr/>
          </p:nvCxnSpPr>
          <p:spPr>
            <a:xfrm>
              <a:off x="4717441" y="4501152"/>
              <a:ext cx="0" cy="286704"/>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Flowchart: Data 68">
              <a:extLst>
                <a:ext uri="{FF2B5EF4-FFF2-40B4-BE49-F238E27FC236}">
                  <a16:creationId xmlns:a16="http://schemas.microsoft.com/office/drawing/2014/main" id="{66FA69CA-EB42-471A-8F76-5889FDADE3F2}"/>
                </a:ext>
              </a:extLst>
            </p:cNvPr>
            <p:cNvSpPr/>
            <p:nvPr/>
          </p:nvSpPr>
          <p:spPr>
            <a:xfrm>
              <a:off x="3883120" y="2717651"/>
              <a:ext cx="1664183" cy="441447"/>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Read radio</a:t>
              </a:r>
              <a:endParaRPr lang="en-US" sz="1100" b="1" dirty="0">
                <a:latin typeface="Consolas" panose="020B0609020204030204" pitchFamily="49" charset="0"/>
              </a:endParaRPr>
            </a:p>
          </p:txBody>
        </p:sp>
        <p:cxnSp>
          <p:nvCxnSpPr>
            <p:cNvPr id="36" name="Straight Arrow Connector 47">
              <a:extLst>
                <a:ext uri="{FF2B5EF4-FFF2-40B4-BE49-F238E27FC236}">
                  <a16:creationId xmlns:a16="http://schemas.microsoft.com/office/drawing/2014/main" id="{2FBE4D42-3AB2-441E-A7EA-ABC2767B5FC3}"/>
                </a:ext>
              </a:extLst>
            </p:cNvPr>
            <p:cNvCxnSpPr>
              <a:cxnSpLocks/>
              <a:stCxn id="35" idx="4"/>
              <a:endCxn id="37" idx="0"/>
            </p:cNvCxnSpPr>
            <p:nvPr/>
          </p:nvCxnSpPr>
          <p:spPr>
            <a:xfrm>
              <a:off x="4715212" y="3159098"/>
              <a:ext cx="1645" cy="31245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Flowchart: Process 42">
              <a:extLst>
                <a:ext uri="{FF2B5EF4-FFF2-40B4-BE49-F238E27FC236}">
                  <a16:creationId xmlns:a16="http://schemas.microsoft.com/office/drawing/2014/main" id="{A049D78B-5DEC-40BC-B3DD-AD3B2C227D3B}"/>
                </a:ext>
              </a:extLst>
            </p:cNvPr>
            <p:cNvSpPr/>
            <p:nvPr/>
          </p:nvSpPr>
          <p:spPr>
            <a:xfrm>
              <a:off x="3717689" y="3471549"/>
              <a:ext cx="1998336" cy="367873"/>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area </a:t>
              </a:r>
              <a:r>
                <a:rPr lang="en-US" sz="1100" dirty="0">
                  <a:latin typeface="Consolas" panose="020B0609020204030204" pitchFamily="49" charset="0"/>
                </a:rPr>
                <a:t> PI * (radio**2)</a:t>
              </a:r>
            </a:p>
          </p:txBody>
        </p:sp>
        <p:sp>
          <p:nvSpPr>
            <p:cNvPr id="38" name="Flowchart: Process 42">
              <a:extLst>
                <a:ext uri="{FF2B5EF4-FFF2-40B4-BE49-F238E27FC236}">
                  <a16:creationId xmlns:a16="http://schemas.microsoft.com/office/drawing/2014/main" id="{02EEDE9F-7579-42D3-97B0-37EA726A691A}"/>
                </a:ext>
              </a:extLst>
            </p:cNvPr>
            <p:cNvSpPr/>
            <p:nvPr/>
          </p:nvSpPr>
          <p:spPr>
            <a:xfrm>
              <a:off x="3762288" y="2061246"/>
              <a:ext cx="1872206" cy="367873"/>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PI </a:t>
              </a:r>
              <a:r>
                <a:rPr lang="en-US" sz="1100" dirty="0">
                  <a:latin typeface="Consolas" panose="020B0609020204030204" pitchFamily="49" charset="0"/>
                </a:rPr>
                <a:t> 3.14</a:t>
              </a:r>
            </a:p>
          </p:txBody>
        </p:sp>
        <p:cxnSp>
          <p:nvCxnSpPr>
            <p:cNvPr id="39" name="Straight Arrow Connector 45">
              <a:extLst>
                <a:ext uri="{FF2B5EF4-FFF2-40B4-BE49-F238E27FC236}">
                  <a16:creationId xmlns:a16="http://schemas.microsoft.com/office/drawing/2014/main" id="{3530AB93-DC9C-48F4-9BEB-FF98F81D65D9}"/>
                </a:ext>
              </a:extLst>
            </p:cNvPr>
            <p:cNvCxnSpPr>
              <a:cxnSpLocks/>
              <a:endCxn id="35" idx="1"/>
            </p:cNvCxnSpPr>
            <p:nvPr/>
          </p:nvCxnSpPr>
          <p:spPr>
            <a:xfrm flipH="1">
              <a:off x="4715211" y="2408609"/>
              <a:ext cx="1" cy="30904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40" name="Imagen 39">
            <a:extLst>
              <a:ext uri="{FF2B5EF4-FFF2-40B4-BE49-F238E27FC236}">
                <a16:creationId xmlns:a16="http://schemas.microsoft.com/office/drawing/2014/main" id="{8D1A3263-0E10-4E8F-B4D2-8DBD46CEBE01}"/>
              </a:ext>
            </a:extLst>
          </p:cNvPr>
          <p:cNvPicPr>
            <a:picLocks noChangeAspect="1"/>
          </p:cNvPicPr>
          <p:nvPr/>
        </p:nvPicPr>
        <p:blipFill>
          <a:blip r:embed="rId4"/>
          <a:stretch>
            <a:fillRect/>
          </a:stretch>
        </p:blipFill>
        <p:spPr>
          <a:xfrm>
            <a:off x="3267808" y="4835052"/>
            <a:ext cx="736515" cy="753863"/>
          </a:xfrm>
          <a:prstGeom prst="rect">
            <a:avLst/>
          </a:prstGeom>
        </p:spPr>
      </p:pic>
    </p:spTree>
    <p:extLst>
      <p:ext uri="{BB962C8B-B14F-4D97-AF65-F5344CB8AC3E}">
        <p14:creationId xmlns:p14="http://schemas.microsoft.com/office/powerpoint/2010/main" val="1241018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467543" y="207926"/>
            <a:ext cx="7939037" cy="986803"/>
          </a:xfrm>
        </p:spPr>
        <p:txBody>
          <a:bodyPr/>
          <a:lstStyle/>
          <a:p>
            <a:r>
              <a:rPr lang="es-CO" sz="3200" dirty="0"/>
              <a:t>Diseño de programas</a:t>
            </a:r>
          </a:p>
        </p:txBody>
      </p:sp>
      <p:sp>
        <p:nvSpPr>
          <p:cNvPr id="2" name="1 Marcador de contenido"/>
          <p:cNvSpPr>
            <a:spLocks noGrp="1"/>
          </p:cNvSpPr>
          <p:nvPr>
            <p:ph idx="1"/>
          </p:nvPr>
        </p:nvSpPr>
        <p:spPr>
          <a:xfrm>
            <a:off x="467543" y="1194729"/>
            <a:ext cx="7886700" cy="3530415"/>
          </a:xfrm>
        </p:spPr>
        <p:txBody>
          <a:bodyPr>
            <a:normAutofit/>
          </a:bodyPr>
          <a:lstStyle/>
          <a:p>
            <a:r>
              <a:rPr lang="es-MX" sz="2200" dirty="0"/>
              <a:t>Los programas deben diseñarse cuidadosamente antes de ser escritos. Durante el proceso de diseño, los programadores utilizan herramientas como pseudocódigo y diagramas de flujo para crear modelos de los programas.</a:t>
            </a:r>
          </a:p>
          <a:p>
            <a:r>
              <a:rPr lang="es-MX" sz="2200" b="1" dirty="0"/>
              <a:t>El ciclo de desarrollo de un programa</a:t>
            </a:r>
            <a:r>
              <a:rPr lang="es-MX" sz="2200" dirty="0"/>
              <a:t>:</a:t>
            </a:r>
          </a:p>
          <a:p>
            <a:pPr marL="800100" lvl="1" indent="-342900">
              <a:buFont typeface="+mj-lt"/>
              <a:buAutoNum type="arabicPeriod"/>
            </a:pPr>
            <a:r>
              <a:rPr lang="es-MX" sz="2000" dirty="0"/>
              <a:t>Diseñar el programa  </a:t>
            </a:r>
          </a:p>
          <a:p>
            <a:pPr marL="800100" lvl="1" indent="-342900">
              <a:buFont typeface="+mj-lt"/>
              <a:buAutoNum type="arabicPeriod"/>
            </a:pPr>
            <a:r>
              <a:rPr lang="es-MX" sz="2000" dirty="0"/>
              <a:t>Escribir el código  </a:t>
            </a:r>
          </a:p>
          <a:p>
            <a:pPr marL="800100" lvl="1" indent="-342900">
              <a:buFont typeface="+mj-lt"/>
              <a:buAutoNum type="arabicPeriod"/>
            </a:pPr>
            <a:r>
              <a:rPr lang="es-MX" sz="2000" dirty="0"/>
              <a:t>Corregir errores de sintaxis  </a:t>
            </a:r>
          </a:p>
          <a:p>
            <a:pPr marL="800100" lvl="1" indent="-342900">
              <a:buFont typeface="+mj-lt"/>
              <a:buAutoNum type="arabicPeriod"/>
            </a:pPr>
            <a:r>
              <a:rPr lang="es-MX" sz="2000" dirty="0"/>
              <a:t>Probar el programa  </a:t>
            </a:r>
          </a:p>
          <a:p>
            <a:pPr marL="800100" lvl="1" indent="-342900">
              <a:buFont typeface="+mj-lt"/>
              <a:buAutoNum type="arabicPeriod"/>
            </a:pPr>
            <a:r>
              <a:rPr lang="es-MX" sz="2000" dirty="0"/>
              <a:t>Corregir errores de lógica </a:t>
            </a:r>
            <a:endParaRPr lang="es-CO" sz="2000" dirty="0"/>
          </a:p>
        </p:txBody>
      </p:sp>
      <p:grpSp>
        <p:nvGrpSpPr>
          <p:cNvPr id="36" name="Grupo 35">
            <a:extLst>
              <a:ext uri="{FF2B5EF4-FFF2-40B4-BE49-F238E27FC236}">
                <a16:creationId xmlns:a16="http://schemas.microsoft.com/office/drawing/2014/main" id="{EF728DB1-F1C4-4655-B50D-CB75E7B5B005}"/>
              </a:ext>
            </a:extLst>
          </p:cNvPr>
          <p:cNvGrpSpPr/>
          <p:nvPr/>
        </p:nvGrpSpPr>
        <p:grpSpPr>
          <a:xfrm>
            <a:off x="784837" y="5243566"/>
            <a:ext cx="7304447" cy="839410"/>
            <a:chOff x="858501" y="5239359"/>
            <a:chExt cx="7304447" cy="839410"/>
          </a:xfrm>
        </p:grpSpPr>
        <p:sp>
          <p:nvSpPr>
            <p:cNvPr id="6" name="CuadroTexto 5">
              <a:extLst>
                <a:ext uri="{FF2B5EF4-FFF2-40B4-BE49-F238E27FC236}">
                  <a16:creationId xmlns:a16="http://schemas.microsoft.com/office/drawing/2014/main" id="{38E10274-8389-4071-9E34-CDB0D36DF010}"/>
                </a:ext>
              </a:extLst>
            </p:cNvPr>
            <p:cNvSpPr txBox="1"/>
            <p:nvPr/>
          </p:nvSpPr>
          <p:spPr>
            <a:xfrm>
              <a:off x="858501" y="5359755"/>
              <a:ext cx="1111041" cy="584775"/>
            </a:xfrm>
            <a:prstGeom prst="rect">
              <a:avLst/>
            </a:prstGeom>
            <a:noFill/>
            <a:ln w="28575">
              <a:solidFill>
                <a:schemeClr val="tx1"/>
              </a:solidFill>
            </a:ln>
          </p:spPr>
          <p:txBody>
            <a:bodyPr wrap="square" rtlCol="0">
              <a:spAutoFit/>
            </a:bodyPr>
            <a:lstStyle/>
            <a:p>
              <a:pPr algn="ctr"/>
              <a:r>
                <a:rPr lang="es-CO" sz="1600" dirty="0"/>
                <a:t>Diseñar el programa</a:t>
              </a:r>
            </a:p>
          </p:txBody>
        </p:sp>
        <p:sp>
          <p:nvSpPr>
            <p:cNvPr id="20" name="CuadroTexto 19">
              <a:extLst>
                <a:ext uri="{FF2B5EF4-FFF2-40B4-BE49-F238E27FC236}">
                  <a16:creationId xmlns:a16="http://schemas.microsoft.com/office/drawing/2014/main" id="{74B91F96-F769-4FF0-96C3-5DADA0BDDC45}"/>
                </a:ext>
              </a:extLst>
            </p:cNvPr>
            <p:cNvSpPr txBox="1"/>
            <p:nvPr/>
          </p:nvSpPr>
          <p:spPr>
            <a:xfrm>
              <a:off x="2360082" y="5359755"/>
              <a:ext cx="1069952" cy="584775"/>
            </a:xfrm>
            <a:prstGeom prst="rect">
              <a:avLst/>
            </a:prstGeom>
            <a:solidFill>
              <a:schemeClr val="accent2">
                <a:lumMod val="40000"/>
                <a:lumOff val="60000"/>
              </a:schemeClr>
            </a:solidFill>
            <a:ln w="28575">
              <a:solidFill>
                <a:schemeClr val="tx1"/>
              </a:solidFill>
            </a:ln>
          </p:spPr>
          <p:txBody>
            <a:bodyPr wrap="square" rtlCol="0">
              <a:spAutoFit/>
            </a:bodyPr>
            <a:lstStyle/>
            <a:p>
              <a:pPr algn="ctr"/>
              <a:r>
                <a:rPr lang="es-CO" sz="1600" dirty="0"/>
                <a:t>Escribir el código</a:t>
              </a:r>
            </a:p>
          </p:txBody>
        </p:sp>
        <p:sp>
          <p:nvSpPr>
            <p:cNvPr id="21" name="CuadroTexto 20">
              <a:extLst>
                <a:ext uri="{FF2B5EF4-FFF2-40B4-BE49-F238E27FC236}">
                  <a16:creationId xmlns:a16="http://schemas.microsoft.com/office/drawing/2014/main" id="{BBC821E7-9E9B-482D-9F20-4158803603D8}"/>
                </a:ext>
              </a:extLst>
            </p:cNvPr>
            <p:cNvSpPr txBox="1"/>
            <p:nvPr/>
          </p:nvSpPr>
          <p:spPr>
            <a:xfrm>
              <a:off x="3820574" y="5239359"/>
              <a:ext cx="1148136" cy="830997"/>
            </a:xfrm>
            <a:prstGeom prst="rect">
              <a:avLst/>
            </a:prstGeom>
            <a:noFill/>
            <a:ln w="28575">
              <a:solidFill>
                <a:schemeClr val="tx1"/>
              </a:solidFill>
            </a:ln>
          </p:spPr>
          <p:txBody>
            <a:bodyPr wrap="square" rtlCol="0">
              <a:spAutoFit/>
            </a:bodyPr>
            <a:lstStyle/>
            <a:p>
              <a:pPr algn="ctr"/>
              <a:r>
                <a:rPr lang="es-CO" sz="1600" dirty="0"/>
                <a:t>Corregir errores de sintaxis</a:t>
              </a:r>
            </a:p>
          </p:txBody>
        </p:sp>
        <p:sp>
          <p:nvSpPr>
            <p:cNvPr id="22" name="CuadroTexto 21">
              <a:extLst>
                <a:ext uri="{FF2B5EF4-FFF2-40B4-BE49-F238E27FC236}">
                  <a16:creationId xmlns:a16="http://schemas.microsoft.com/office/drawing/2014/main" id="{18460779-4C3F-44D2-8DE8-DAA6D622E60D}"/>
                </a:ext>
              </a:extLst>
            </p:cNvPr>
            <p:cNvSpPr txBox="1"/>
            <p:nvPr/>
          </p:nvSpPr>
          <p:spPr>
            <a:xfrm>
              <a:off x="5359250" y="5359755"/>
              <a:ext cx="1142676" cy="584775"/>
            </a:xfrm>
            <a:prstGeom prst="rect">
              <a:avLst/>
            </a:prstGeom>
            <a:noFill/>
            <a:ln w="28575">
              <a:solidFill>
                <a:schemeClr val="tx1"/>
              </a:solidFill>
            </a:ln>
          </p:spPr>
          <p:txBody>
            <a:bodyPr wrap="square" rtlCol="0">
              <a:spAutoFit/>
            </a:bodyPr>
            <a:lstStyle/>
            <a:p>
              <a:pPr algn="ctr"/>
              <a:r>
                <a:rPr lang="es-CO" sz="1600" dirty="0"/>
                <a:t>Probar el programa</a:t>
              </a:r>
            </a:p>
          </p:txBody>
        </p:sp>
        <p:sp>
          <p:nvSpPr>
            <p:cNvPr id="23" name="CuadroTexto 22">
              <a:extLst>
                <a:ext uri="{FF2B5EF4-FFF2-40B4-BE49-F238E27FC236}">
                  <a16:creationId xmlns:a16="http://schemas.microsoft.com/office/drawing/2014/main" id="{ED2F98BD-FCD6-40E1-BED3-FA4935908392}"/>
                </a:ext>
              </a:extLst>
            </p:cNvPr>
            <p:cNvSpPr txBox="1"/>
            <p:nvPr/>
          </p:nvSpPr>
          <p:spPr>
            <a:xfrm>
              <a:off x="7020272" y="5247772"/>
              <a:ext cx="1142676" cy="830997"/>
            </a:xfrm>
            <a:prstGeom prst="rect">
              <a:avLst/>
            </a:prstGeom>
            <a:noFill/>
            <a:ln w="28575">
              <a:solidFill>
                <a:schemeClr val="tx1"/>
              </a:solidFill>
            </a:ln>
          </p:spPr>
          <p:txBody>
            <a:bodyPr wrap="square" rtlCol="0">
              <a:spAutoFit/>
            </a:bodyPr>
            <a:lstStyle/>
            <a:p>
              <a:pPr algn="ctr"/>
              <a:r>
                <a:rPr lang="es-CO" sz="1600" dirty="0"/>
                <a:t>Corregir errores de lógica</a:t>
              </a:r>
            </a:p>
          </p:txBody>
        </p:sp>
        <p:cxnSp>
          <p:nvCxnSpPr>
            <p:cNvPr id="8" name="Conector recto de flecha 7">
              <a:extLst>
                <a:ext uri="{FF2B5EF4-FFF2-40B4-BE49-F238E27FC236}">
                  <a16:creationId xmlns:a16="http://schemas.microsoft.com/office/drawing/2014/main" id="{CB607D4B-5242-43C6-8ED1-E5996D49A2A4}"/>
                </a:ext>
              </a:extLst>
            </p:cNvPr>
            <p:cNvCxnSpPr>
              <a:stCxn id="6" idx="3"/>
              <a:endCxn id="20" idx="1"/>
            </p:cNvCxnSpPr>
            <p:nvPr/>
          </p:nvCxnSpPr>
          <p:spPr>
            <a:xfrm>
              <a:off x="1969542" y="5652143"/>
              <a:ext cx="39054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194CB7FD-B91E-44F5-9A89-49A42C907AFE}"/>
                </a:ext>
              </a:extLst>
            </p:cNvPr>
            <p:cNvCxnSpPr>
              <a:cxnSpLocks/>
              <a:stCxn id="20" idx="3"/>
              <a:endCxn id="21" idx="1"/>
            </p:cNvCxnSpPr>
            <p:nvPr/>
          </p:nvCxnSpPr>
          <p:spPr>
            <a:xfrm>
              <a:off x="3430034" y="5652143"/>
              <a:ext cx="390540" cy="27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AF274584-7C30-45DB-8441-1EF230FF75D8}"/>
                </a:ext>
              </a:extLst>
            </p:cNvPr>
            <p:cNvCxnSpPr>
              <a:cxnSpLocks/>
              <a:stCxn id="21" idx="3"/>
              <a:endCxn id="22" idx="1"/>
            </p:cNvCxnSpPr>
            <p:nvPr/>
          </p:nvCxnSpPr>
          <p:spPr>
            <a:xfrm flipV="1">
              <a:off x="4968710" y="5652143"/>
              <a:ext cx="390540" cy="27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54BE1790-9A0F-4F22-8353-FB82A27D6234}"/>
                </a:ext>
              </a:extLst>
            </p:cNvPr>
            <p:cNvCxnSpPr>
              <a:cxnSpLocks/>
              <a:stCxn id="22" idx="3"/>
              <a:endCxn id="23" idx="1"/>
            </p:cNvCxnSpPr>
            <p:nvPr/>
          </p:nvCxnSpPr>
          <p:spPr>
            <a:xfrm>
              <a:off x="6501926" y="5652143"/>
              <a:ext cx="518346" cy="1112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r 32">
              <a:extLst>
                <a:ext uri="{FF2B5EF4-FFF2-40B4-BE49-F238E27FC236}">
                  <a16:creationId xmlns:a16="http://schemas.microsoft.com/office/drawing/2014/main" id="{02A0B1D9-D210-4CBC-9036-EABDB36FDDE8}"/>
                </a:ext>
              </a:extLst>
            </p:cNvPr>
            <p:cNvCxnSpPr>
              <a:cxnSpLocks/>
              <a:stCxn id="23" idx="3"/>
              <a:endCxn id="6" idx="1"/>
            </p:cNvCxnSpPr>
            <p:nvPr/>
          </p:nvCxnSpPr>
          <p:spPr>
            <a:xfrm flipH="1" flipV="1">
              <a:off x="858501" y="5652143"/>
              <a:ext cx="7304447" cy="11128"/>
            </a:xfrm>
            <a:prstGeom prst="bentConnector5">
              <a:avLst>
                <a:gd name="adj1" fmla="val -3130"/>
                <a:gd name="adj2" fmla="val -7222331"/>
                <a:gd name="adj3" fmla="val 10313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37" name="Imagen 36">
            <a:extLst>
              <a:ext uri="{FF2B5EF4-FFF2-40B4-BE49-F238E27FC236}">
                <a16:creationId xmlns:a16="http://schemas.microsoft.com/office/drawing/2014/main" id="{27947F90-AFF8-4348-BF05-96797BBCCCFC}"/>
              </a:ext>
            </a:extLst>
          </p:cNvPr>
          <p:cNvPicPr>
            <a:picLocks noChangeAspect="1"/>
          </p:cNvPicPr>
          <p:nvPr/>
        </p:nvPicPr>
        <p:blipFill>
          <a:blip r:embed="rId3"/>
          <a:stretch>
            <a:fillRect/>
          </a:stretch>
        </p:blipFill>
        <p:spPr>
          <a:xfrm>
            <a:off x="2620391" y="4865641"/>
            <a:ext cx="424133" cy="434123"/>
          </a:xfrm>
          <a:prstGeom prst="rect">
            <a:avLst/>
          </a:prstGeom>
        </p:spPr>
      </p:pic>
    </p:spTree>
    <p:extLst>
      <p:ext uri="{BB962C8B-B14F-4D97-AF65-F5344CB8AC3E}">
        <p14:creationId xmlns:p14="http://schemas.microsoft.com/office/powerpoint/2010/main" val="777014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467543" y="207926"/>
            <a:ext cx="7939037" cy="986803"/>
          </a:xfrm>
        </p:spPr>
        <p:txBody>
          <a:bodyPr/>
          <a:lstStyle/>
          <a:p>
            <a:r>
              <a:rPr lang="es-CO" sz="3200" dirty="0"/>
              <a:t>Entrada, procesamiento y salida</a:t>
            </a:r>
          </a:p>
        </p:txBody>
      </p:sp>
      <p:sp>
        <p:nvSpPr>
          <p:cNvPr id="2" name="1 Marcador de contenido"/>
          <p:cNvSpPr>
            <a:spLocks noGrp="1"/>
          </p:cNvSpPr>
          <p:nvPr>
            <p:ph idx="1"/>
          </p:nvPr>
        </p:nvSpPr>
        <p:spPr>
          <a:xfrm>
            <a:off x="467543" y="1194729"/>
            <a:ext cx="7886700" cy="1729296"/>
          </a:xfrm>
        </p:spPr>
        <p:txBody>
          <a:bodyPr>
            <a:normAutofit/>
          </a:bodyPr>
          <a:lstStyle/>
          <a:p>
            <a:pPr marL="0" indent="0">
              <a:buNone/>
            </a:pPr>
            <a:r>
              <a:rPr lang="es-MX" sz="2200" dirty="0"/>
              <a:t>Los programas de computadora realizan estos tres pasos:  </a:t>
            </a:r>
          </a:p>
          <a:p>
            <a:pPr marL="457200" indent="-457200">
              <a:buFont typeface="+mj-lt"/>
              <a:buAutoNum type="arabicPeriod"/>
            </a:pPr>
            <a:r>
              <a:rPr lang="es-MX" sz="2000" dirty="0"/>
              <a:t>Se recibe la </a:t>
            </a:r>
            <a:r>
              <a:rPr lang="es-MX" sz="2000" b="1" dirty="0"/>
              <a:t>entrada</a:t>
            </a:r>
            <a:r>
              <a:rPr lang="es-MX" sz="2000" dirty="0"/>
              <a:t>.  </a:t>
            </a:r>
          </a:p>
          <a:p>
            <a:pPr marL="457200" indent="-457200">
              <a:buFont typeface="+mj-lt"/>
              <a:buAutoNum type="arabicPeriod"/>
            </a:pPr>
            <a:r>
              <a:rPr lang="es-MX" sz="2000" dirty="0"/>
              <a:t>Se realiza un </a:t>
            </a:r>
            <a:r>
              <a:rPr lang="es-MX" sz="2000" b="1" dirty="0"/>
              <a:t>proceso</a:t>
            </a:r>
            <a:r>
              <a:rPr lang="es-MX" sz="2000" dirty="0"/>
              <a:t> sobre la entrada.  </a:t>
            </a:r>
          </a:p>
          <a:p>
            <a:pPr marL="457200" indent="-457200">
              <a:buFont typeface="+mj-lt"/>
              <a:buAutoNum type="arabicPeriod"/>
            </a:pPr>
            <a:r>
              <a:rPr lang="es-MX" sz="2000" dirty="0"/>
              <a:t>Se genera la </a:t>
            </a:r>
            <a:r>
              <a:rPr lang="es-MX" sz="2000" b="1" dirty="0"/>
              <a:t>salida</a:t>
            </a:r>
            <a:endParaRPr lang="es-CO" sz="2000" b="1" dirty="0"/>
          </a:p>
        </p:txBody>
      </p:sp>
      <p:grpSp>
        <p:nvGrpSpPr>
          <p:cNvPr id="15" name="14 Grupo"/>
          <p:cNvGrpSpPr/>
          <p:nvPr/>
        </p:nvGrpSpPr>
        <p:grpSpPr>
          <a:xfrm>
            <a:off x="1589010" y="4102449"/>
            <a:ext cx="5715000" cy="838200"/>
            <a:chOff x="1676400" y="4495800"/>
            <a:chExt cx="5715000" cy="838200"/>
          </a:xfrm>
        </p:grpSpPr>
        <p:sp>
          <p:nvSpPr>
            <p:cNvPr id="10" name="9 Rectángulo"/>
            <p:cNvSpPr/>
            <p:nvPr/>
          </p:nvSpPr>
          <p:spPr>
            <a:xfrm>
              <a:off x="1676400" y="4648200"/>
              <a:ext cx="1447800" cy="533400"/>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Inputs</a:t>
              </a:r>
              <a:endParaRPr lang="es-CO" b="1" dirty="0">
                <a:solidFill>
                  <a:schemeClr val="tx1">
                    <a:lumMod val="50000"/>
                    <a:lumOff val="50000"/>
                  </a:schemeClr>
                </a:solidFill>
                <a:latin typeface="Consolas" panose="020B0609020204030204" pitchFamily="49" charset="0"/>
              </a:endParaRPr>
            </a:p>
          </p:txBody>
        </p:sp>
        <p:sp>
          <p:nvSpPr>
            <p:cNvPr id="11" name="10 Rectángulo"/>
            <p:cNvSpPr/>
            <p:nvPr/>
          </p:nvSpPr>
          <p:spPr>
            <a:xfrm>
              <a:off x="3810000" y="4495800"/>
              <a:ext cx="1447800"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400" b="1" dirty="0">
                  <a:latin typeface="Consolas" panose="020B0609020204030204" pitchFamily="49" charset="0"/>
                </a:rPr>
                <a:t>Process</a:t>
              </a:r>
              <a:endParaRPr lang="es-CO" b="1" dirty="0">
                <a:latin typeface="Consolas" panose="020B0609020204030204" pitchFamily="49" charset="0"/>
              </a:endParaRPr>
            </a:p>
          </p:txBody>
        </p:sp>
        <p:sp>
          <p:nvSpPr>
            <p:cNvPr id="12" name="11 Rectángulo"/>
            <p:cNvSpPr/>
            <p:nvPr/>
          </p:nvSpPr>
          <p:spPr>
            <a:xfrm>
              <a:off x="5943600" y="4648200"/>
              <a:ext cx="1447800" cy="533400"/>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Outputs</a:t>
              </a:r>
              <a:endParaRPr lang="es-CO" sz="1600" b="1" dirty="0">
                <a:solidFill>
                  <a:schemeClr val="tx1">
                    <a:lumMod val="50000"/>
                    <a:lumOff val="50000"/>
                  </a:schemeClr>
                </a:solidFill>
                <a:latin typeface="Consolas" panose="020B0609020204030204" pitchFamily="49" charset="0"/>
              </a:endParaRPr>
            </a:p>
          </p:txBody>
        </p:sp>
        <p:sp>
          <p:nvSpPr>
            <p:cNvPr id="13" name="12 Flecha derecha"/>
            <p:cNvSpPr/>
            <p:nvPr/>
          </p:nvSpPr>
          <p:spPr>
            <a:xfrm>
              <a:off x="31242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13 Flecha derecha"/>
            <p:cNvSpPr/>
            <p:nvPr/>
          </p:nvSpPr>
          <p:spPr>
            <a:xfrm>
              <a:off x="52578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16" name="Picture 2" descr="http://www.jegsworks.com/lessons/computerbasics/lesson3/keyboard-white.png">
            <a:extLst>
              <a:ext uri="{FF2B5EF4-FFF2-40B4-BE49-F238E27FC236}">
                <a16:creationId xmlns:a16="http://schemas.microsoft.com/office/drawing/2014/main" id="{CA5F3EB8-A827-4D08-B3D4-BC88856617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0116" y="3256265"/>
            <a:ext cx="1365108" cy="43228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http://t2.gstatic.com/images?q=tbn:ANd9GcS51PGLkp34nPs-LewfkgAfjdZsyder21fNGFoRiZ_A6x7txo3e">
            <a:extLst>
              <a:ext uri="{FF2B5EF4-FFF2-40B4-BE49-F238E27FC236}">
                <a16:creationId xmlns:a16="http://schemas.microsoft.com/office/drawing/2014/main" id="{BB2AD59A-355A-4EC4-BD61-76D458710B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9382" y="3198200"/>
            <a:ext cx="841456" cy="69006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AC519BCB-3AA9-4258-9707-83D241823FB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33143" y="5159353"/>
            <a:ext cx="1007836" cy="1007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52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1116540"/>
          </a:xfrm>
        </p:spPr>
        <p:txBody>
          <a:bodyPr/>
          <a:lstStyle/>
          <a:p>
            <a:r>
              <a:rPr lang="en-US" sz="3200" dirty="0"/>
              <a:t>Variables</a:t>
            </a:r>
          </a:p>
        </p:txBody>
      </p:sp>
      <p:sp>
        <p:nvSpPr>
          <p:cNvPr id="2" name="Content Placeholder 1"/>
          <p:cNvSpPr>
            <a:spLocks noGrp="1"/>
          </p:cNvSpPr>
          <p:nvPr>
            <p:ph idx="1"/>
          </p:nvPr>
        </p:nvSpPr>
        <p:spPr>
          <a:xfrm>
            <a:off x="202195" y="1082418"/>
            <a:ext cx="8568952" cy="762406"/>
          </a:xfrm>
        </p:spPr>
        <p:txBody>
          <a:bodyPr>
            <a:normAutofit/>
          </a:bodyPr>
          <a:lstStyle/>
          <a:p>
            <a:r>
              <a:rPr lang="es-CO" sz="2200" dirty="0"/>
              <a:t>Las </a:t>
            </a:r>
            <a:r>
              <a:rPr lang="es-CO" sz="2200" b="1" dirty="0"/>
              <a:t>variables</a:t>
            </a:r>
            <a:r>
              <a:rPr lang="es-CO" sz="2200" dirty="0"/>
              <a:t> permiten el almacenamiento de datos en memoria.</a:t>
            </a:r>
            <a:endParaRPr lang="en-US" sz="2200" dirty="0"/>
          </a:p>
        </p:txBody>
      </p:sp>
      <p:sp>
        <p:nvSpPr>
          <p:cNvPr id="6" name="Content Placeholder 1">
            <a:extLst>
              <a:ext uri="{FF2B5EF4-FFF2-40B4-BE49-F238E27FC236}">
                <a16:creationId xmlns:a16="http://schemas.microsoft.com/office/drawing/2014/main" id="{512B04AB-F6BB-42D0-A78F-D83381B4A384}"/>
              </a:ext>
            </a:extLst>
          </p:cNvPr>
          <p:cNvSpPr txBox="1">
            <a:spLocks/>
          </p:cNvSpPr>
          <p:nvPr/>
        </p:nvSpPr>
        <p:spPr>
          <a:xfrm>
            <a:off x="287524" y="4839140"/>
            <a:ext cx="8568952" cy="18645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800" dirty="0"/>
              <a:t>En Python, carácter y cadena son el mismo tipo (</a:t>
            </a:r>
            <a:r>
              <a:rPr lang="es-MX" sz="1600" dirty="0">
                <a:latin typeface="Consolas" panose="020B0609020204030204" pitchFamily="49" charset="0"/>
              </a:rPr>
              <a:t>str</a:t>
            </a:r>
            <a:r>
              <a:rPr lang="es-MX" sz="1800" dirty="0"/>
              <a:t>); no existe un tipo separado para un solo carácter. </a:t>
            </a:r>
          </a:p>
          <a:p>
            <a:r>
              <a:rPr lang="es-MX" sz="1800" dirty="0"/>
              <a:t>El tipo se asigna automáticamente al declarar la variable (no se declara explícitamente como en otros lenguajes).</a:t>
            </a:r>
          </a:p>
          <a:p>
            <a:r>
              <a:rPr lang="es-MX" sz="1800" dirty="0"/>
              <a:t>Las variables tipo cadena merecen un poco mas de atención. Por lo que serán analizadas en breve con un poco mas de detenimiento.</a:t>
            </a:r>
          </a:p>
        </p:txBody>
      </p:sp>
      <p:graphicFrame>
        <p:nvGraphicFramePr>
          <p:cNvPr id="3" name="Tabla 2">
            <a:extLst>
              <a:ext uri="{FF2B5EF4-FFF2-40B4-BE49-F238E27FC236}">
                <a16:creationId xmlns:a16="http://schemas.microsoft.com/office/drawing/2014/main" id="{2E4E901B-6601-4124-B749-C5BCBAFC1BA5}"/>
              </a:ext>
            </a:extLst>
          </p:cNvPr>
          <p:cNvGraphicFramePr>
            <a:graphicFrameLocks noGrp="1"/>
          </p:cNvGraphicFramePr>
          <p:nvPr>
            <p:extLst>
              <p:ext uri="{D42A27DB-BD31-4B8C-83A1-F6EECF244321}">
                <p14:modId xmlns:p14="http://schemas.microsoft.com/office/powerpoint/2010/main" val="3286512201"/>
              </p:ext>
            </p:extLst>
          </p:nvPr>
        </p:nvGraphicFramePr>
        <p:xfrm>
          <a:off x="584836" y="1536044"/>
          <a:ext cx="7930514" cy="3198237"/>
        </p:xfrm>
        <a:graphic>
          <a:graphicData uri="http://schemas.openxmlformats.org/drawingml/2006/table">
            <a:tbl>
              <a:tblPr/>
              <a:tblGrid>
                <a:gridCol w="1350106">
                  <a:extLst>
                    <a:ext uri="{9D8B030D-6E8A-4147-A177-3AD203B41FA5}">
                      <a16:colId xmlns:a16="http://schemas.microsoft.com/office/drawing/2014/main" val="1264514293"/>
                    </a:ext>
                  </a:extLst>
                </a:gridCol>
                <a:gridCol w="1672863">
                  <a:extLst>
                    <a:ext uri="{9D8B030D-6E8A-4147-A177-3AD203B41FA5}">
                      <a16:colId xmlns:a16="http://schemas.microsoft.com/office/drawing/2014/main" val="1818347102"/>
                    </a:ext>
                  </a:extLst>
                </a:gridCol>
                <a:gridCol w="802230">
                  <a:extLst>
                    <a:ext uri="{9D8B030D-6E8A-4147-A177-3AD203B41FA5}">
                      <a16:colId xmlns:a16="http://schemas.microsoft.com/office/drawing/2014/main" val="292157397"/>
                    </a:ext>
                  </a:extLst>
                </a:gridCol>
                <a:gridCol w="2671048">
                  <a:extLst>
                    <a:ext uri="{9D8B030D-6E8A-4147-A177-3AD203B41FA5}">
                      <a16:colId xmlns:a16="http://schemas.microsoft.com/office/drawing/2014/main" val="407643376"/>
                    </a:ext>
                  </a:extLst>
                </a:gridCol>
                <a:gridCol w="1434267">
                  <a:extLst>
                    <a:ext uri="{9D8B030D-6E8A-4147-A177-3AD203B41FA5}">
                      <a16:colId xmlns:a16="http://schemas.microsoft.com/office/drawing/2014/main" val="3374804007"/>
                    </a:ext>
                  </a:extLst>
                </a:gridCol>
              </a:tblGrid>
              <a:tr h="258437">
                <a:tc>
                  <a:txBody>
                    <a:bodyPr/>
                    <a:lstStyle/>
                    <a:p>
                      <a:r>
                        <a:rPr lang="es-CO" sz="1600" b="1">
                          <a:solidFill>
                            <a:schemeClr val="bg1"/>
                          </a:solidFill>
                        </a:rPr>
                        <a:t>Grupo</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s-CO" sz="1600" b="1">
                          <a:solidFill>
                            <a:schemeClr val="bg1"/>
                          </a:solidFill>
                        </a:rPr>
                        <a:t>Pseudocódigo</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s-CO" sz="1600" b="1" dirty="0">
                          <a:solidFill>
                            <a:schemeClr val="bg1"/>
                          </a:solidFill>
                        </a:rPr>
                        <a:t>Python</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s-CO" sz="1600" b="1">
                          <a:solidFill>
                            <a:schemeClr val="bg1"/>
                          </a:solidFill>
                        </a:rPr>
                        <a:t>Explicación</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s-CO" sz="1600" b="1" dirty="0">
                          <a:solidFill>
                            <a:schemeClr val="bg1"/>
                          </a:solidFill>
                        </a:rPr>
                        <a:t>Ejemplo</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41326127"/>
                  </a:ext>
                </a:extLst>
              </a:tr>
              <a:tr h="573193">
                <a:tc>
                  <a:txBody>
                    <a:bodyPr/>
                    <a:lstStyle/>
                    <a:p>
                      <a:r>
                        <a:rPr lang="es-CO" sz="1600"/>
                        <a:t>Numéricas</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Entero</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int</a:t>
                      </a:r>
                      <a:endParaRPr lang="es-CO" sz="1400" dirty="0">
                        <a:latin typeface="Consolas" panose="020B0609020204030204" pitchFamily="49" charset="0"/>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600"/>
                        <a:t>Números sin parte decimal, positivos o negativos</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edad = 25</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620212"/>
                  </a:ext>
                </a:extLst>
              </a:tr>
              <a:tr h="308642">
                <a:tc>
                  <a:txBody>
                    <a:bodyPr/>
                    <a:lstStyle/>
                    <a:p>
                      <a:r>
                        <a:rPr lang="es-CO" sz="1600"/>
                        <a:t>Numéricas</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Real</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float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600"/>
                        <a:t>Números con parte decimal</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altura = 1.75</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3955237"/>
                  </a:ext>
                </a:extLst>
              </a:tr>
              <a:tr h="607467">
                <a:tc>
                  <a:txBody>
                    <a:bodyPr/>
                    <a:lstStyle/>
                    <a:p>
                      <a:r>
                        <a:rPr lang="es-CO" sz="1600"/>
                        <a:t>Lógicas</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a:latin typeface="Consolas" panose="020B0609020204030204" pitchFamily="49" charset="0"/>
                        </a:rPr>
                        <a:t>Lógico / Booleano</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bool</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600" dirty="0"/>
                        <a:t>Solo dos valores posibles: </a:t>
                      </a:r>
                      <a:r>
                        <a:rPr lang="es-CO" sz="1400" dirty="0">
                          <a:latin typeface="Consolas" panose="020B0609020204030204" pitchFamily="49" charset="0"/>
                        </a:rPr>
                        <a:t>True</a:t>
                      </a:r>
                      <a:r>
                        <a:rPr lang="es-CO" sz="1600" dirty="0"/>
                        <a:t> o </a:t>
                      </a:r>
                      <a:r>
                        <a:rPr lang="es-CO" sz="1400" dirty="0">
                          <a:latin typeface="Consolas" panose="020B0609020204030204" pitchFamily="49" charset="0"/>
                        </a:rPr>
                        <a:t>False</a:t>
                      </a:r>
                      <a:endParaRPr lang="es-CO" sz="1600" dirty="0">
                        <a:latin typeface="Consolas" panose="020B0609020204030204" pitchFamily="49" charset="0"/>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a:latin typeface="Consolas" panose="020B0609020204030204" pitchFamily="49" charset="0"/>
                        </a:rPr>
                        <a:t>activo = True</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8440951"/>
                  </a:ext>
                </a:extLst>
              </a:tr>
              <a:tr h="844427">
                <a:tc>
                  <a:txBody>
                    <a:bodyPr/>
                    <a:lstStyle/>
                    <a:p>
                      <a:r>
                        <a:rPr lang="es-CO" sz="1600"/>
                        <a:t>Alfanuméricas</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a:latin typeface="Consolas" panose="020B0609020204030204" pitchFamily="49" charset="0"/>
                        </a:rPr>
                        <a:t>Carácter</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str</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600" dirty="0"/>
                        <a:t>Python no distingue carácter de cadena; se representa igual</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inicial = "A"</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3148167"/>
                  </a:ext>
                </a:extLst>
              </a:tr>
              <a:tr h="452345">
                <a:tc>
                  <a:txBody>
                    <a:bodyPr/>
                    <a:lstStyle/>
                    <a:p>
                      <a:r>
                        <a:rPr lang="es-CO" sz="1600"/>
                        <a:t>Alfanuméricas</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Cadena (Texto)</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str</a:t>
                      </a:r>
                      <a:endParaRPr lang="es-CO" sz="1400" dirty="0">
                        <a:latin typeface="Consolas" panose="020B0609020204030204" pitchFamily="49" charset="0"/>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600" dirty="0"/>
                        <a:t>Secuencia de caracteres entre comillas (dobles o simples)</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a:latin typeface="Consolas" panose="020B0609020204030204" pitchFamily="49" charset="0"/>
                        </a:rPr>
                        <a:t>nombre = "Ana"</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8386432"/>
                  </a:ext>
                </a:extLst>
              </a:tr>
            </a:tbl>
          </a:graphicData>
        </a:graphic>
      </p:graphicFrame>
      <p:pic>
        <p:nvPicPr>
          <p:cNvPr id="7"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02F168F8-CDBB-42D1-B059-0F1AAD7571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3071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1116540"/>
          </a:xfrm>
        </p:spPr>
        <p:txBody>
          <a:bodyPr/>
          <a:lstStyle/>
          <a:p>
            <a:r>
              <a:rPr lang="en-US" sz="3200" dirty="0"/>
              <a:t>Variables</a:t>
            </a:r>
          </a:p>
        </p:txBody>
      </p:sp>
      <p:sp>
        <p:nvSpPr>
          <p:cNvPr id="2" name="Content Placeholder 1"/>
          <p:cNvSpPr>
            <a:spLocks noGrp="1"/>
          </p:cNvSpPr>
          <p:nvPr>
            <p:ph idx="1"/>
          </p:nvPr>
        </p:nvSpPr>
        <p:spPr>
          <a:xfrm>
            <a:off x="202195" y="1070540"/>
            <a:ext cx="8568952" cy="486252"/>
          </a:xfrm>
        </p:spPr>
        <p:txBody>
          <a:bodyPr>
            <a:normAutofit/>
          </a:bodyPr>
          <a:lstStyle/>
          <a:p>
            <a:r>
              <a:rPr lang="es-CO" sz="2200" dirty="0"/>
              <a:t>Las </a:t>
            </a:r>
            <a:r>
              <a:rPr lang="es-CO" sz="2200" b="1" dirty="0"/>
              <a:t>variables</a:t>
            </a:r>
            <a:r>
              <a:rPr lang="es-CO" sz="2200" dirty="0"/>
              <a:t> permiten el almacenamiento de datos en memoria.</a:t>
            </a:r>
            <a:endParaRPr lang="en-US" sz="2200" dirty="0"/>
          </a:p>
        </p:txBody>
      </p:sp>
      <p:sp>
        <p:nvSpPr>
          <p:cNvPr id="7" name="CuadroTexto 6">
            <a:extLst>
              <a:ext uri="{FF2B5EF4-FFF2-40B4-BE49-F238E27FC236}">
                <a16:creationId xmlns:a16="http://schemas.microsoft.com/office/drawing/2014/main" id="{D093022B-6B91-4ABF-98C1-05910FE9C409}"/>
              </a:ext>
            </a:extLst>
          </p:cNvPr>
          <p:cNvSpPr txBox="1"/>
          <p:nvPr/>
        </p:nvSpPr>
        <p:spPr>
          <a:xfrm>
            <a:off x="4485409" y="1772816"/>
            <a:ext cx="4479079" cy="3539430"/>
          </a:xfrm>
          <a:prstGeom prst="rect">
            <a:avLst/>
          </a:prstGeom>
          <a:noFill/>
          <a:ln w="12700">
            <a:solidFill>
              <a:schemeClr val="tx1"/>
            </a:solidFill>
          </a:ln>
        </p:spPr>
        <p:txBody>
          <a:bodyPr wrap="square">
            <a:spAutoFit/>
          </a:bodyPr>
          <a:lstStyle/>
          <a:p>
            <a:r>
              <a:rPr lang="es-CO" sz="1400" dirty="0">
                <a:latin typeface="Consolas" panose="020B0609020204030204" pitchFamily="49" charset="0"/>
              </a:rPr>
              <a:t># Numéricas</a:t>
            </a:r>
          </a:p>
          <a:p>
            <a:r>
              <a:rPr lang="es-CO" sz="1400" dirty="0">
                <a:latin typeface="Consolas" panose="020B0609020204030204" pitchFamily="49" charset="0"/>
              </a:rPr>
              <a:t>edad = 25                # </a:t>
            </a:r>
            <a:r>
              <a:rPr lang="es-CO" sz="1400" dirty="0" err="1">
                <a:latin typeface="Consolas" panose="020B0609020204030204" pitchFamily="49" charset="0"/>
              </a:rPr>
              <a:t>int</a:t>
            </a:r>
            <a:endParaRPr lang="es-CO" sz="1400" dirty="0">
              <a:latin typeface="Consolas" panose="020B0609020204030204" pitchFamily="49" charset="0"/>
            </a:endParaRPr>
          </a:p>
          <a:p>
            <a:r>
              <a:rPr lang="es-CO" sz="1400" dirty="0">
                <a:latin typeface="Consolas" panose="020B0609020204030204" pitchFamily="49" charset="0"/>
              </a:rPr>
              <a:t>altura = 1.75            # </a:t>
            </a:r>
            <a:r>
              <a:rPr lang="es-CO" sz="1400" dirty="0" err="1">
                <a:latin typeface="Consolas" panose="020B0609020204030204" pitchFamily="49" charset="0"/>
              </a:rPr>
              <a:t>float</a:t>
            </a:r>
            <a:endParaRPr lang="es-CO" sz="1400" dirty="0">
              <a:latin typeface="Consolas" panose="020B0609020204030204" pitchFamily="49" charset="0"/>
            </a:endParaRPr>
          </a:p>
          <a:p>
            <a:endParaRPr lang="es-CO" sz="1400" dirty="0">
              <a:latin typeface="Consolas" panose="020B0609020204030204" pitchFamily="49" charset="0"/>
            </a:endParaRPr>
          </a:p>
          <a:p>
            <a:r>
              <a:rPr lang="es-CO" sz="1400" dirty="0">
                <a:latin typeface="Consolas" panose="020B0609020204030204" pitchFamily="49" charset="0"/>
              </a:rPr>
              <a:t># Lógica</a:t>
            </a:r>
          </a:p>
          <a:p>
            <a:r>
              <a:rPr lang="es-CO" sz="1400" dirty="0" err="1">
                <a:latin typeface="Consolas" panose="020B0609020204030204" pitchFamily="49" charset="0"/>
              </a:rPr>
              <a:t>es_estudiante</a:t>
            </a:r>
            <a:r>
              <a:rPr lang="es-CO" sz="1400" dirty="0">
                <a:latin typeface="Consolas" panose="020B0609020204030204" pitchFamily="49" charset="0"/>
              </a:rPr>
              <a:t> = True     # </a:t>
            </a:r>
            <a:r>
              <a:rPr lang="es-CO" sz="1400" dirty="0" err="1">
                <a:latin typeface="Consolas" panose="020B0609020204030204" pitchFamily="49" charset="0"/>
              </a:rPr>
              <a:t>bool</a:t>
            </a:r>
            <a:endParaRPr lang="es-CO" sz="1400" dirty="0">
              <a:latin typeface="Consolas" panose="020B0609020204030204" pitchFamily="49" charset="0"/>
            </a:endParaRPr>
          </a:p>
          <a:p>
            <a:endParaRPr lang="es-CO" sz="1400" dirty="0">
              <a:latin typeface="Consolas" panose="020B0609020204030204" pitchFamily="49" charset="0"/>
            </a:endParaRPr>
          </a:p>
          <a:p>
            <a:r>
              <a:rPr lang="es-CO" sz="1400" dirty="0">
                <a:latin typeface="Consolas" panose="020B0609020204030204" pitchFamily="49" charset="0"/>
              </a:rPr>
              <a:t># Alfanuméricas</a:t>
            </a:r>
          </a:p>
          <a:p>
            <a:r>
              <a:rPr lang="es-CO" sz="1400" dirty="0">
                <a:latin typeface="Consolas" panose="020B0609020204030204" pitchFamily="49" charset="0"/>
              </a:rPr>
              <a:t>inicial = "A"             # </a:t>
            </a:r>
            <a:r>
              <a:rPr lang="es-CO" sz="1400" dirty="0" err="1">
                <a:latin typeface="Consolas" panose="020B0609020204030204" pitchFamily="49" charset="0"/>
              </a:rPr>
              <a:t>str</a:t>
            </a:r>
            <a:r>
              <a:rPr lang="es-CO" sz="1400" dirty="0">
                <a:latin typeface="Consolas" panose="020B0609020204030204" pitchFamily="49" charset="0"/>
              </a:rPr>
              <a:t> (carácter)</a:t>
            </a:r>
          </a:p>
          <a:p>
            <a:r>
              <a:rPr lang="es-CO" sz="1400" dirty="0">
                <a:latin typeface="Consolas" panose="020B0609020204030204" pitchFamily="49" charset="0"/>
              </a:rPr>
              <a:t>nombre = "Ana María"      # </a:t>
            </a:r>
            <a:r>
              <a:rPr lang="es-CO" sz="1400" dirty="0" err="1">
                <a:latin typeface="Consolas" panose="020B0609020204030204" pitchFamily="49" charset="0"/>
              </a:rPr>
              <a:t>str</a:t>
            </a:r>
            <a:r>
              <a:rPr lang="es-CO" sz="1400" dirty="0">
                <a:latin typeface="Consolas" panose="020B0609020204030204" pitchFamily="49" charset="0"/>
              </a:rPr>
              <a:t> (cadena)</a:t>
            </a:r>
          </a:p>
          <a:p>
            <a:endParaRPr lang="es-CO" sz="1400" dirty="0">
              <a:latin typeface="Consolas" panose="020B0609020204030204" pitchFamily="49" charset="0"/>
            </a:endParaRPr>
          </a:p>
          <a:p>
            <a:r>
              <a:rPr lang="es-CO" sz="1400" dirty="0">
                <a:latin typeface="Consolas" panose="020B0609020204030204" pitchFamily="49" charset="0"/>
              </a:rPr>
              <a:t># Mostrando los valores y su tipo</a:t>
            </a:r>
          </a:p>
          <a:p>
            <a:r>
              <a:rPr lang="es-CO" sz="1400" dirty="0">
                <a:latin typeface="Consolas" panose="020B0609020204030204" pitchFamily="49" charset="0"/>
              </a:rPr>
              <a:t>print(nombre, </a:t>
            </a:r>
            <a:r>
              <a:rPr lang="es-CO" sz="1400" dirty="0" err="1">
                <a:latin typeface="Consolas" panose="020B0609020204030204" pitchFamily="49" charset="0"/>
              </a:rPr>
              <a:t>type</a:t>
            </a:r>
            <a:r>
              <a:rPr lang="es-CO" sz="1400" dirty="0">
                <a:latin typeface="Consolas" panose="020B0609020204030204" pitchFamily="49" charset="0"/>
              </a:rPr>
              <a:t>(nombre))</a:t>
            </a:r>
          </a:p>
          <a:p>
            <a:r>
              <a:rPr lang="es-CO" sz="1400" dirty="0">
                <a:latin typeface="Consolas" panose="020B0609020204030204" pitchFamily="49" charset="0"/>
              </a:rPr>
              <a:t>print(edad, </a:t>
            </a:r>
            <a:r>
              <a:rPr lang="es-CO" sz="1400" dirty="0" err="1">
                <a:latin typeface="Consolas" panose="020B0609020204030204" pitchFamily="49" charset="0"/>
              </a:rPr>
              <a:t>type</a:t>
            </a:r>
            <a:r>
              <a:rPr lang="es-CO" sz="1400" dirty="0">
                <a:latin typeface="Consolas" panose="020B0609020204030204" pitchFamily="49" charset="0"/>
              </a:rPr>
              <a:t>(edad))</a:t>
            </a:r>
          </a:p>
          <a:p>
            <a:r>
              <a:rPr lang="es-CO" sz="1400" dirty="0">
                <a:latin typeface="Consolas" panose="020B0609020204030204" pitchFamily="49" charset="0"/>
              </a:rPr>
              <a:t>print(altura, </a:t>
            </a:r>
            <a:r>
              <a:rPr lang="es-CO" sz="1400" dirty="0" err="1">
                <a:latin typeface="Consolas" panose="020B0609020204030204" pitchFamily="49" charset="0"/>
              </a:rPr>
              <a:t>type</a:t>
            </a:r>
            <a:r>
              <a:rPr lang="es-CO" sz="1400" dirty="0">
                <a:latin typeface="Consolas" panose="020B0609020204030204" pitchFamily="49" charset="0"/>
              </a:rPr>
              <a:t>(altura))</a:t>
            </a:r>
          </a:p>
          <a:p>
            <a:r>
              <a:rPr lang="es-CO" sz="1400" dirty="0">
                <a:latin typeface="Consolas" panose="020B0609020204030204" pitchFamily="49" charset="0"/>
              </a:rPr>
              <a:t>print(es_estudiante, </a:t>
            </a:r>
            <a:r>
              <a:rPr lang="es-CO" sz="1400" dirty="0" err="1">
                <a:latin typeface="Consolas" panose="020B0609020204030204" pitchFamily="49" charset="0"/>
              </a:rPr>
              <a:t>type</a:t>
            </a:r>
            <a:r>
              <a:rPr lang="es-CO" sz="1400" dirty="0">
                <a:latin typeface="Consolas" panose="020B0609020204030204" pitchFamily="49" charset="0"/>
              </a:rPr>
              <a:t>(es_estudiante))</a:t>
            </a:r>
          </a:p>
        </p:txBody>
      </p:sp>
      <p:sp>
        <p:nvSpPr>
          <p:cNvPr id="9" name="CuadroTexto 8">
            <a:extLst>
              <a:ext uri="{FF2B5EF4-FFF2-40B4-BE49-F238E27FC236}">
                <a16:creationId xmlns:a16="http://schemas.microsoft.com/office/drawing/2014/main" id="{0A4AA7CB-B6A6-4723-A5C4-70DB8363EAB9}"/>
              </a:ext>
            </a:extLst>
          </p:cNvPr>
          <p:cNvSpPr txBox="1"/>
          <p:nvPr/>
        </p:nvSpPr>
        <p:spPr>
          <a:xfrm>
            <a:off x="539552" y="1791094"/>
            <a:ext cx="3816424" cy="2246769"/>
          </a:xfrm>
          <a:prstGeom prst="rect">
            <a:avLst/>
          </a:prstGeom>
          <a:noFill/>
          <a:ln w="12700">
            <a:solidFill>
              <a:schemeClr val="tx1"/>
            </a:solidFill>
          </a:ln>
        </p:spPr>
        <p:txBody>
          <a:bodyPr wrap="square">
            <a:spAutoFit/>
          </a:bodyPr>
          <a:lstStyle/>
          <a:p>
            <a:r>
              <a:rPr lang="es-CO" sz="1400" dirty="0">
                <a:latin typeface="Consolas" panose="020B0609020204030204" pitchFamily="49" charset="0"/>
              </a:rPr>
              <a:t># Numéricas</a:t>
            </a:r>
          </a:p>
          <a:p>
            <a:r>
              <a:rPr lang="es-CO" sz="1400" dirty="0">
                <a:solidFill>
                  <a:schemeClr val="accent4"/>
                </a:solidFill>
                <a:latin typeface="Consolas" panose="020B0609020204030204" pitchFamily="49" charset="0"/>
              </a:rPr>
              <a:t>Entero</a:t>
            </a:r>
            <a:r>
              <a:rPr lang="es-CO" sz="1400" dirty="0">
                <a:latin typeface="Consolas" panose="020B0609020204030204" pitchFamily="49" charset="0"/>
              </a:rPr>
              <a:t> edad = 25               </a:t>
            </a:r>
          </a:p>
          <a:p>
            <a:r>
              <a:rPr lang="es-CO" sz="1400" dirty="0">
                <a:solidFill>
                  <a:schemeClr val="accent4"/>
                </a:solidFill>
                <a:latin typeface="Consolas" panose="020B0609020204030204" pitchFamily="49" charset="0"/>
              </a:rPr>
              <a:t>Real</a:t>
            </a:r>
            <a:r>
              <a:rPr lang="es-CO" sz="1400" dirty="0">
                <a:latin typeface="Consolas" panose="020B0609020204030204" pitchFamily="49" charset="0"/>
              </a:rPr>
              <a:t> altura = 1.75            </a:t>
            </a:r>
          </a:p>
          <a:p>
            <a:endParaRPr lang="es-CO" sz="1400" dirty="0">
              <a:latin typeface="Consolas" panose="020B0609020204030204" pitchFamily="49" charset="0"/>
            </a:endParaRPr>
          </a:p>
          <a:p>
            <a:r>
              <a:rPr lang="es-CO" sz="1400" dirty="0">
                <a:latin typeface="Consolas" panose="020B0609020204030204" pitchFamily="49" charset="0"/>
              </a:rPr>
              <a:t># Lógica</a:t>
            </a:r>
          </a:p>
          <a:p>
            <a:r>
              <a:rPr lang="es-CO" sz="1400" dirty="0">
                <a:solidFill>
                  <a:schemeClr val="accent4"/>
                </a:solidFill>
                <a:latin typeface="Consolas" panose="020B0609020204030204" pitchFamily="49" charset="0"/>
              </a:rPr>
              <a:t>Logica</a:t>
            </a:r>
            <a:r>
              <a:rPr lang="es-CO" sz="1400" dirty="0">
                <a:latin typeface="Consolas" panose="020B0609020204030204" pitchFamily="49" charset="0"/>
              </a:rPr>
              <a:t> </a:t>
            </a:r>
            <a:r>
              <a:rPr lang="es-CO" sz="1400" dirty="0" err="1">
                <a:latin typeface="Consolas" panose="020B0609020204030204" pitchFamily="49" charset="0"/>
              </a:rPr>
              <a:t>es_estudiante</a:t>
            </a:r>
            <a:r>
              <a:rPr lang="es-CO" sz="1400" dirty="0">
                <a:latin typeface="Consolas" panose="020B0609020204030204" pitchFamily="49" charset="0"/>
              </a:rPr>
              <a:t> = True</a:t>
            </a:r>
          </a:p>
          <a:p>
            <a:endParaRPr lang="es-CO" sz="1400" dirty="0">
              <a:latin typeface="Consolas" panose="020B0609020204030204" pitchFamily="49" charset="0"/>
            </a:endParaRPr>
          </a:p>
          <a:p>
            <a:r>
              <a:rPr lang="es-CO" sz="1400" dirty="0">
                <a:latin typeface="Consolas" panose="020B0609020204030204" pitchFamily="49" charset="0"/>
              </a:rPr>
              <a:t># Alfanuméricas</a:t>
            </a:r>
          </a:p>
          <a:p>
            <a:r>
              <a:rPr lang="es-CO" sz="1400" dirty="0">
                <a:solidFill>
                  <a:schemeClr val="accent4"/>
                </a:solidFill>
                <a:latin typeface="Consolas" panose="020B0609020204030204" pitchFamily="49" charset="0"/>
              </a:rPr>
              <a:t>Texto</a:t>
            </a:r>
            <a:r>
              <a:rPr lang="es-CO" sz="1400" dirty="0">
                <a:latin typeface="Consolas" panose="020B0609020204030204" pitchFamily="49" charset="0"/>
              </a:rPr>
              <a:t> inicial = "A"             </a:t>
            </a:r>
          </a:p>
          <a:p>
            <a:r>
              <a:rPr lang="es-CO" sz="1400" dirty="0">
                <a:solidFill>
                  <a:schemeClr val="accent4"/>
                </a:solidFill>
                <a:latin typeface="Consolas" panose="020B0609020204030204" pitchFamily="49" charset="0"/>
              </a:rPr>
              <a:t>Texto</a:t>
            </a:r>
            <a:r>
              <a:rPr lang="es-CO" sz="1400" dirty="0">
                <a:latin typeface="Consolas" panose="020B0609020204030204" pitchFamily="49" charset="0"/>
              </a:rPr>
              <a:t> nombre = "Albert Einstein"</a:t>
            </a:r>
          </a:p>
        </p:txBody>
      </p:sp>
      <p:pic>
        <p:nvPicPr>
          <p:cNvPr id="6"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698870D0-BB45-4B2D-80F2-27A9BD3FC3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182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728357"/>
          </a:xfrm>
        </p:spPr>
        <p:txBody>
          <a:bodyPr/>
          <a:lstStyle/>
          <a:p>
            <a:r>
              <a:rPr lang="en-US" sz="3200" dirty="0"/>
              <a:t>Variables</a:t>
            </a:r>
          </a:p>
        </p:txBody>
      </p:sp>
      <p:sp>
        <p:nvSpPr>
          <p:cNvPr id="2" name="Content Placeholder 1"/>
          <p:cNvSpPr>
            <a:spLocks noGrp="1"/>
          </p:cNvSpPr>
          <p:nvPr>
            <p:ph idx="1"/>
          </p:nvPr>
        </p:nvSpPr>
        <p:spPr>
          <a:xfrm>
            <a:off x="193830" y="818993"/>
            <a:ext cx="8568952" cy="486252"/>
          </a:xfrm>
        </p:spPr>
        <p:txBody>
          <a:bodyPr>
            <a:normAutofit/>
          </a:bodyPr>
          <a:lstStyle/>
          <a:p>
            <a:r>
              <a:rPr lang="es-CO" sz="2200" dirty="0"/>
              <a:t>Las </a:t>
            </a:r>
            <a:r>
              <a:rPr lang="es-CO" sz="2200" b="1" dirty="0"/>
              <a:t>variables</a:t>
            </a:r>
            <a:r>
              <a:rPr lang="es-CO" sz="2200" dirty="0"/>
              <a:t> permiten el almacenamiento de datos en memoria.</a:t>
            </a:r>
            <a:endParaRPr lang="en-US" sz="2200" dirty="0"/>
          </a:p>
        </p:txBody>
      </p:sp>
      <p:grpSp>
        <p:nvGrpSpPr>
          <p:cNvPr id="43" name="Grupo 42">
            <a:extLst>
              <a:ext uri="{FF2B5EF4-FFF2-40B4-BE49-F238E27FC236}">
                <a16:creationId xmlns:a16="http://schemas.microsoft.com/office/drawing/2014/main" id="{9C5A6A0F-1BAC-44BC-812E-3E0539A4E600}"/>
              </a:ext>
            </a:extLst>
          </p:cNvPr>
          <p:cNvGrpSpPr/>
          <p:nvPr/>
        </p:nvGrpSpPr>
        <p:grpSpPr>
          <a:xfrm>
            <a:off x="5076056" y="1377796"/>
            <a:ext cx="3754168" cy="2843292"/>
            <a:chOff x="5004048" y="1881852"/>
            <a:chExt cx="3754168" cy="2843292"/>
          </a:xfrm>
        </p:grpSpPr>
        <p:cxnSp>
          <p:nvCxnSpPr>
            <p:cNvPr id="14" name="131 Conector recto">
              <a:extLst>
                <a:ext uri="{FF2B5EF4-FFF2-40B4-BE49-F238E27FC236}">
                  <a16:creationId xmlns:a16="http://schemas.microsoft.com/office/drawing/2014/main" id="{D691DB9A-11F3-4750-8ACC-D2B578C9B08A}"/>
                </a:ext>
              </a:extLst>
            </p:cNvPr>
            <p:cNvCxnSpPr>
              <a:cxnSpLocks/>
            </p:cNvCxnSpPr>
            <p:nvPr/>
          </p:nvCxnSpPr>
          <p:spPr>
            <a:xfrm>
              <a:off x="5004048" y="1943477"/>
              <a:ext cx="0" cy="27816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132 Conector recto">
              <a:extLst>
                <a:ext uri="{FF2B5EF4-FFF2-40B4-BE49-F238E27FC236}">
                  <a16:creationId xmlns:a16="http://schemas.microsoft.com/office/drawing/2014/main" id="{AB13C9FC-6DB1-4FEF-86B6-29A1BAF480C4}"/>
                </a:ext>
              </a:extLst>
            </p:cNvPr>
            <p:cNvCxnSpPr>
              <a:cxnSpLocks/>
            </p:cNvCxnSpPr>
            <p:nvPr/>
          </p:nvCxnSpPr>
          <p:spPr>
            <a:xfrm flipH="1">
              <a:off x="8749851" y="1916832"/>
              <a:ext cx="8365" cy="28083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128 Conector recto">
              <a:extLst>
                <a:ext uri="{FF2B5EF4-FFF2-40B4-BE49-F238E27FC236}">
                  <a16:creationId xmlns:a16="http://schemas.microsoft.com/office/drawing/2014/main" id="{20C8A895-F020-4DEE-BE77-90C3F9BC0364}"/>
                </a:ext>
              </a:extLst>
            </p:cNvPr>
            <p:cNvCxnSpPr>
              <a:cxnSpLocks/>
            </p:cNvCxnSpPr>
            <p:nvPr/>
          </p:nvCxnSpPr>
          <p:spPr>
            <a:xfrm>
              <a:off x="5076056" y="2276872"/>
              <a:ext cx="36101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129 CuadroTexto">
              <a:extLst>
                <a:ext uri="{FF2B5EF4-FFF2-40B4-BE49-F238E27FC236}">
                  <a16:creationId xmlns:a16="http://schemas.microsoft.com/office/drawing/2014/main" id="{4BB967C6-4F98-433A-AA18-08FFC3CE6B1A}"/>
                </a:ext>
              </a:extLst>
            </p:cNvPr>
            <p:cNvSpPr txBox="1"/>
            <p:nvPr/>
          </p:nvSpPr>
          <p:spPr>
            <a:xfrm>
              <a:off x="6220740" y="188185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13" name="130 CuadroTexto">
              <a:extLst>
                <a:ext uri="{FF2B5EF4-FFF2-40B4-BE49-F238E27FC236}">
                  <a16:creationId xmlns:a16="http://schemas.microsoft.com/office/drawing/2014/main" id="{43FCFFC8-904A-49AE-B9D5-B77873219EB0}"/>
                </a:ext>
              </a:extLst>
            </p:cNvPr>
            <p:cNvSpPr txBox="1"/>
            <p:nvPr/>
          </p:nvSpPr>
          <p:spPr>
            <a:xfrm>
              <a:off x="6571612" y="4367202"/>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sp>
          <p:nvSpPr>
            <p:cNvPr id="16" name="133 Rectángulo">
              <a:extLst>
                <a:ext uri="{FF2B5EF4-FFF2-40B4-BE49-F238E27FC236}">
                  <a16:creationId xmlns:a16="http://schemas.microsoft.com/office/drawing/2014/main" id="{FC44D1B4-54E6-4A8B-B1B9-B64857BAB030}"/>
                </a:ext>
              </a:extLst>
            </p:cNvPr>
            <p:cNvSpPr/>
            <p:nvPr/>
          </p:nvSpPr>
          <p:spPr>
            <a:xfrm>
              <a:off x="5584924" y="2382534"/>
              <a:ext cx="1003300" cy="307777"/>
            </a:xfrm>
            <a:prstGeom prst="rect">
              <a:avLst/>
            </a:prstGeom>
          </p:spPr>
          <p:txBody>
            <a:bodyPr wrap="square">
              <a:spAutoFit/>
            </a:bodyPr>
            <a:lstStyle/>
            <a:p>
              <a:pPr algn="r"/>
              <a:r>
                <a:rPr lang="es-CO" sz="1400" dirty="0">
                  <a:latin typeface="Consolas" panose="020B0609020204030204" pitchFamily="49" charset="0"/>
                  <a:cs typeface="Consolas" panose="020B0609020204030204" pitchFamily="49" charset="0"/>
                </a:rPr>
                <a:t>edad</a:t>
              </a:r>
              <a:endParaRPr lang="es-CO" sz="1600" dirty="0"/>
            </a:p>
          </p:txBody>
        </p:sp>
        <p:sp>
          <p:nvSpPr>
            <p:cNvPr id="18" name="135 Rectángulo">
              <a:extLst>
                <a:ext uri="{FF2B5EF4-FFF2-40B4-BE49-F238E27FC236}">
                  <a16:creationId xmlns:a16="http://schemas.microsoft.com/office/drawing/2014/main" id="{3A376A07-8690-4F00-AA25-520DD19DD68E}"/>
                </a:ext>
              </a:extLst>
            </p:cNvPr>
            <p:cNvSpPr/>
            <p:nvPr/>
          </p:nvSpPr>
          <p:spPr>
            <a:xfrm>
              <a:off x="5678066" y="2795972"/>
              <a:ext cx="913234" cy="307777"/>
            </a:xfrm>
            <a:prstGeom prst="rect">
              <a:avLst/>
            </a:prstGeom>
          </p:spPr>
          <p:txBody>
            <a:bodyPr wrap="square">
              <a:spAutoFit/>
            </a:bodyPr>
            <a:lstStyle/>
            <a:p>
              <a:pPr algn="r"/>
              <a:r>
                <a:rPr lang="es-CO" sz="1400" dirty="0">
                  <a:latin typeface="Consolas" panose="020B0609020204030204" pitchFamily="49" charset="0"/>
                </a:rPr>
                <a:t>altura</a:t>
              </a:r>
              <a:endParaRPr lang="es-CO" sz="1600" dirty="0"/>
            </a:p>
          </p:txBody>
        </p:sp>
        <p:sp>
          <p:nvSpPr>
            <p:cNvPr id="20" name="139 Rectángulo">
              <a:extLst>
                <a:ext uri="{FF2B5EF4-FFF2-40B4-BE49-F238E27FC236}">
                  <a16:creationId xmlns:a16="http://schemas.microsoft.com/office/drawing/2014/main" id="{F4947266-9673-4AA8-BC28-2A316372E33F}"/>
                </a:ext>
              </a:extLst>
            </p:cNvPr>
            <p:cNvSpPr/>
            <p:nvPr/>
          </p:nvSpPr>
          <p:spPr>
            <a:xfrm>
              <a:off x="5075132" y="3246943"/>
              <a:ext cx="1513092" cy="307777"/>
            </a:xfrm>
            <a:prstGeom prst="rect">
              <a:avLst/>
            </a:prstGeom>
          </p:spPr>
          <p:txBody>
            <a:bodyPr wrap="square">
              <a:spAutoFit/>
            </a:bodyPr>
            <a:lstStyle/>
            <a:p>
              <a:pPr algn="r"/>
              <a:r>
                <a:rPr lang="es-CO" sz="1400" dirty="0">
                  <a:latin typeface="Consolas" panose="020B0609020204030204" pitchFamily="49" charset="0"/>
                  <a:cs typeface="Consolas" panose="020B0609020204030204" pitchFamily="49" charset="0"/>
                </a:rPr>
                <a:t>es_estudiante</a:t>
              </a:r>
              <a:endParaRPr lang="es-CO" sz="1600" dirty="0"/>
            </a:p>
          </p:txBody>
        </p:sp>
        <p:sp>
          <p:nvSpPr>
            <p:cNvPr id="4" name="CuadroTexto 3">
              <a:extLst>
                <a:ext uri="{FF2B5EF4-FFF2-40B4-BE49-F238E27FC236}">
                  <a16:creationId xmlns:a16="http://schemas.microsoft.com/office/drawing/2014/main" id="{8145B924-E6A2-407D-954F-F57B2350722F}"/>
                </a:ext>
              </a:extLst>
            </p:cNvPr>
            <p:cNvSpPr txBox="1"/>
            <p:nvPr/>
          </p:nvSpPr>
          <p:spPr>
            <a:xfrm>
              <a:off x="6674679" y="2369274"/>
              <a:ext cx="611449" cy="307777"/>
            </a:xfrm>
            <a:prstGeom prst="rect">
              <a:avLst/>
            </a:prstGeom>
            <a:noFill/>
            <a:ln>
              <a:solidFill>
                <a:schemeClr val="tx1"/>
              </a:solidFill>
            </a:ln>
          </p:spPr>
          <p:txBody>
            <a:bodyPr wrap="square" rtlCol="0">
              <a:spAutoFit/>
            </a:bodyPr>
            <a:lstStyle/>
            <a:p>
              <a:pPr algn="ctr"/>
              <a:r>
                <a:rPr lang="es-CO" sz="1400" dirty="0">
                  <a:latin typeface="Consolas" panose="020B0609020204030204" pitchFamily="49" charset="0"/>
                </a:rPr>
                <a:t>25</a:t>
              </a:r>
            </a:p>
          </p:txBody>
        </p:sp>
        <p:sp>
          <p:nvSpPr>
            <p:cNvPr id="26" name="CuadroTexto 25">
              <a:extLst>
                <a:ext uri="{FF2B5EF4-FFF2-40B4-BE49-F238E27FC236}">
                  <a16:creationId xmlns:a16="http://schemas.microsoft.com/office/drawing/2014/main" id="{46070960-2E23-4CD3-B8C5-C1ABBE8CF438}"/>
                </a:ext>
              </a:extLst>
            </p:cNvPr>
            <p:cNvSpPr txBox="1"/>
            <p:nvPr/>
          </p:nvSpPr>
          <p:spPr>
            <a:xfrm>
              <a:off x="6689298" y="2795972"/>
              <a:ext cx="611447" cy="307777"/>
            </a:xfrm>
            <a:prstGeom prst="rect">
              <a:avLst/>
            </a:prstGeom>
            <a:noFill/>
            <a:ln>
              <a:solidFill>
                <a:schemeClr val="tx1"/>
              </a:solidFill>
            </a:ln>
          </p:spPr>
          <p:txBody>
            <a:bodyPr wrap="square" rtlCol="0">
              <a:spAutoFit/>
            </a:bodyPr>
            <a:lstStyle/>
            <a:p>
              <a:pPr algn="ctr"/>
              <a:r>
                <a:rPr lang="es-CO" sz="1400" dirty="0">
                  <a:latin typeface="Consolas" panose="020B0609020204030204" pitchFamily="49" charset="0"/>
                </a:rPr>
                <a:t>1.75</a:t>
              </a:r>
            </a:p>
          </p:txBody>
        </p:sp>
        <p:sp>
          <p:nvSpPr>
            <p:cNvPr id="27" name="CuadroTexto 26">
              <a:extLst>
                <a:ext uri="{FF2B5EF4-FFF2-40B4-BE49-F238E27FC236}">
                  <a16:creationId xmlns:a16="http://schemas.microsoft.com/office/drawing/2014/main" id="{3174F285-921E-43CA-BC4E-0E48B2574781}"/>
                </a:ext>
              </a:extLst>
            </p:cNvPr>
            <p:cNvSpPr txBox="1"/>
            <p:nvPr/>
          </p:nvSpPr>
          <p:spPr>
            <a:xfrm>
              <a:off x="6689297" y="3222670"/>
              <a:ext cx="582211" cy="307777"/>
            </a:xfrm>
            <a:prstGeom prst="rect">
              <a:avLst/>
            </a:prstGeom>
            <a:noFill/>
            <a:ln>
              <a:solidFill>
                <a:schemeClr val="tx1"/>
              </a:solidFill>
            </a:ln>
          </p:spPr>
          <p:txBody>
            <a:bodyPr wrap="none" rtlCol="0">
              <a:spAutoFit/>
            </a:bodyPr>
            <a:lstStyle/>
            <a:p>
              <a:pPr algn="ctr"/>
              <a:r>
                <a:rPr lang="es-CO" sz="1400" dirty="0">
                  <a:latin typeface="Consolas" panose="020B0609020204030204" pitchFamily="49" charset="0"/>
                </a:rPr>
                <a:t>True</a:t>
              </a:r>
            </a:p>
          </p:txBody>
        </p:sp>
        <p:sp>
          <p:nvSpPr>
            <p:cNvPr id="28" name="CuadroTexto 27">
              <a:extLst>
                <a:ext uri="{FF2B5EF4-FFF2-40B4-BE49-F238E27FC236}">
                  <a16:creationId xmlns:a16="http://schemas.microsoft.com/office/drawing/2014/main" id="{F3CC4236-9698-4022-A8B5-7E61B7781604}"/>
                </a:ext>
              </a:extLst>
            </p:cNvPr>
            <p:cNvSpPr txBox="1"/>
            <p:nvPr/>
          </p:nvSpPr>
          <p:spPr>
            <a:xfrm>
              <a:off x="6684700" y="3641413"/>
              <a:ext cx="601427" cy="307777"/>
            </a:xfrm>
            <a:prstGeom prst="rect">
              <a:avLst/>
            </a:prstGeom>
            <a:noFill/>
            <a:ln>
              <a:solidFill>
                <a:schemeClr val="tx1"/>
              </a:solidFill>
            </a:ln>
          </p:spPr>
          <p:txBody>
            <a:bodyPr wrap="square" rtlCol="0">
              <a:spAutoFit/>
            </a:bodyPr>
            <a:lstStyle/>
            <a:p>
              <a:pPr algn="ctr"/>
              <a:r>
                <a:rPr lang="es-CO" sz="1400" dirty="0">
                  <a:latin typeface="Consolas" panose="020B0609020204030204" pitchFamily="49" charset="0"/>
                </a:rPr>
                <a:t>"A"</a:t>
              </a:r>
            </a:p>
          </p:txBody>
        </p:sp>
        <p:sp>
          <p:nvSpPr>
            <p:cNvPr id="29" name="CuadroTexto 28">
              <a:extLst>
                <a:ext uri="{FF2B5EF4-FFF2-40B4-BE49-F238E27FC236}">
                  <a16:creationId xmlns:a16="http://schemas.microsoft.com/office/drawing/2014/main" id="{9A49E966-8C8C-4D47-AEFA-7C5D315B9F7A}"/>
                </a:ext>
              </a:extLst>
            </p:cNvPr>
            <p:cNvSpPr txBox="1"/>
            <p:nvPr/>
          </p:nvSpPr>
          <p:spPr>
            <a:xfrm>
              <a:off x="6674679" y="4068111"/>
              <a:ext cx="1874231" cy="307777"/>
            </a:xfrm>
            <a:prstGeom prst="rect">
              <a:avLst/>
            </a:prstGeom>
            <a:noFill/>
            <a:ln>
              <a:solidFill>
                <a:schemeClr val="tx1"/>
              </a:solidFill>
            </a:ln>
          </p:spPr>
          <p:txBody>
            <a:bodyPr wrap="none" rtlCol="0">
              <a:spAutoFit/>
            </a:bodyPr>
            <a:lstStyle/>
            <a:p>
              <a:pPr algn="ctr"/>
              <a:r>
                <a:rPr lang="es-CO" sz="1400" dirty="0">
                  <a:latin typeface="Consolas" panose="020B0609020204030204" pitchFamily="49" charset="0"/>
                </a:rPr>
                <a:t>"Albert Einstein"</a:t>
              </a:r>
            </a:p>
          </p:txBody>
        </p:sp>
        <p:sp>
          <p:nvSpPr>
            <p:cNvPr id="37" name="139 Rectángulo">
              <a:extLst>
                <a:ext uri="{FF2B5EF4-FFF2-40B4-BE49-F238E27FC236}">
                  <a16:creationId xmlns:a16="http://schemas.microsoft.com/office/drawing/2014/main" id="{1B1FE0A1-FC44-4DEE-B877-982A42B0E8D2}"/>
                </a:ext>
              </a:extLst>
            </p:cNvPr>
            <p:cNvSpPr/>
            <p:nvPr/>
          </p:nvSpPr>
          <p:spPr>
            <a:xfrm>
              <a:off x="5099601" y="3659247"/>
              <a:ext cx="1513092" cy="307777"/>
            </a:xfrm>
            <a:prstGeom prst="rect">
              <a:avLst/>
            </a:prstGeom>
          </p:spPr>
          <p:txBody>
            <a:bodyPr wrap="square">
              <a:spAutoFit/>
            </a:bodyPr>
            <a:lstStyle/>
            <a:p>
              <a:pPr algn="r"/>
              <a:r>
                <a:rPr lang="es-CO" sz="1400" dirty="0">
                  <a:latin typeface="Consolas" panose="020B0609020204030204" pitchFamily="49" charset="0"/>
                  <a:cs typeface="Consolas" panose="020B0609020204030204" pitchFamily="49" charset="0"/>
                </a:rPr>
                <a:t>inicial</a:t>
              </a:r>
              <a:endParaRPr lang="es-CO" sz="1600" dirty="0"/>
            </a:p>
          </p:txBody>
        </p:sp>
        <p:sp>
          <p:nvSpPr>
            <p:cNvPr id="38" name="139 Rectángulo">
              <a:extLst>
                <a:ext uri="{FF2B5EF4-FFF2-40B4-BE49-F238E27FC236}">
                  <a16:creationId xmlns:a16="http://schemas.microsoft.com/office/drawing/2014/main" id="{620DD144-0ED0-4CA5-A74F-9A714B4373B2}"/>
                </a:ext>
              </a:extLst>
            </p:cNvPr>
            <p:cNvSpPr/>
            <p:nvPr/>
          </p:nvSpPr>
          <p:spPr>
            <a:xfrm>
              <a:off x="5125583" y="4079819"/>
              <a:ext cx="1513092" cy="307777"/>
            </a:xfrm>
            <a:prstGeom prst="rect">
              <a:avLst/>
            </a:prstGeom>
          </p:spPr>
          <p:txBody>
            <a:bodyPr wrap="square">
              <a:spAutoFit/>
            </a:bodyPr>
            <a:lstStyle/>
            <a:p>
              <a:pPr algn="r"/>
              <a:r>
                <a:rPr lang="es-CO" sz="1400" dirty="0">
                  <a:latin typeface="Consolas" panose="020B0609020204030204" pitchFamily="49" charset="0"/>
                  <a:cs typeface="Consolas" panose="020B0609020204030204" pitchFamily="49" charset="0"/>
                </a:rPr>
                <a:t>nombre</a:t>
              </a:r>
              <a:endParaRPr lang="es-CO" sz="1600" dirty="0"/>
            </a:p>
          </p:txBody>
        </p:sp>
      </p:grpSp>
      <p:grpSp>
        <p:nvGrpSpPr>
          <p:cNvPr id="45" name="Grupo 44">
            <a:extLst>
              <a:ext uri="{FF2B5EF4-FFF2-40B4-BE49-F238E27FC236}">
                <a16:creationId xmlns:a16="http://schemas.microsoft.com/office/drawing/2014/main" id="{9B930A97-4181-4748-A944-3A19D5FB298E}"/>
              </a:ext>
            </a:extLst>
          </p:cNvPr>
          <p:cNvGrpSpPr/>
          <p:nvPr/>
        </p:nvGrpSpPr>
        <p:grpSpPr>
          <a:xfrm>
            <a:off x="212638" y="1124744"/>
            <a:ext cx="4562562" cy="2586934"/>
            <a:chOff x="212638" y="1207185"/>
            <a:chExt cx="4562562" cy="2586934"/>
          </a:xfrm>
        </p:grpSpPr>
        <p:sp>
          <p:nvSpPr>
            <p:cNvPr id="9" name="CuadroTexto 8">
              <a:extLst>
                <a:ext uri="{FF2B5EF4-FFF2-40B4-BE49-F238E27FC236}">
                  <a16:creationId xmlns:a16="http://schemas.microsoft.com/office/drawing/2014/main" id="{0A4AA7CB-B6A6-4723-A5C4-70DB8363EAB9}"/>
                </a:ext>
              </a:extLst>
            </p:cNvPr>
            <p:cNvSpPr txBox="1"/>
            <p:nvPr/>
          </p:nvSpPr>
          <p:spPr>
            <a:xfrm>
              <a:off x="212638" y="1547350"/>
              <a:ext cx="4562562" cy="2246769"/>
            </a:xfrm>
            <a:prstGeom prst="rect">
              <a:avLst/>
            </a:prstGeom>
            <a:noFill/>
            <a:ln w="12700">
              <a:solidFill>
                <a:schemeClr val="tx1"/>
              </a:solidFill>
            </a:ln>
          </p:spPr>
          <p:txBody>
            <a:bodyPr wrap="square">
              <a:spAutoFit/>
            </a:bodyPr>
            <a:lstStyle/>
            <a:p>
              <a:r>
                <a:rPr lang="es-CO" sz="1400" dirty="0">
                  <a:latin typeface="Consolas" panose="020B0609020204030204" pitchFamily="49" charset="0"/>
                </a:rPr>
                <a:t># Numéricas</a:t>
              </a:r>
            </a:p>
            <a:p>
              <a:r>
                <a:rPr lang="es-CO" sz="1400" dirty="0">
                  <a:solidFill>
                    <a:schemeClr val="accent4"/>
                  </a:solidFill>
                  <a:latin typeface="Consolas" panose="020B0609020204030204" pitchFamily="49" charset="0"/>
                </a:rPr>
                <a:t>Entero</a:t>
              </a:r>
              <a:r>
                <a:rPr lang="es-CO" sz="1400" dirty="0">
                  <a:latin typeface="Consolas" panose="020B0609020204030204" pitchFamily="49" charset="0"/>
                </a:rPr>
                <a:t> edad = 25               </a:t>
              </a:r>
            </a:p>
            <a:p>
              <a:r>
                <a:rPr lang="es-CO" sz="1400" dirty="0">
                  <a:solidFill>
                    <a:schemeClr val="accent4"/>
                  </a:solidFill>
                  <a:latin typeface="Consolas" panose="020B0609020204030204" pitchFamily="49" charset="0"/>
                </a:rPr>
                <a:t>Real</a:t>
              </a:r>
              <a:r>
                <a:rPr lang="es-CO" sz="1400" dirty="0">
                  <a:latin typeface="Consolas" panose="020B0609020204030204" pitchFamily="49" charset="0"/>
                </a:rPr>
                <a:t> altura = 1.75            </a:t>
              </a:r>
            </a:p>
            <a:p>
              <a:endParaRPr lang="es-CO" sz="1400" dirty="0">
                <a:latin typeface="Consolas" panose="020B0609020204030204" pitchFamily="49" charset="0"/>
              </a:endParaRPr>
            </a:p>
            <a:p>
              <a:r>
                <a:rPr lang="es-CO" sz="1400" dirty="0">
                  <a:latin typeface="Consolas" panose="020B0609020204030204" pitchFamily="49" charset="0"/>
                </a:rPr>
                <a:t># Lógica</a:t>
              </a:r>
            </a:p>
            <a:p>
              <a:r>
                <a:rPr lang="es-CO" sz="1400" dirty="0">
                  <a:solidFill>
                    <a:schemeClr val="accent4"/>
                  </a:solidFill>
                  <a:latin typeface="Consolas" panose="020B0609020204030204" pitchFamily="49" charset="0"/>
                </a:rPr>
                <a:t>Logica</a:t>
              </a:r>
              <a:r>
                <a:rPr lang="es-CO" sz="1400" dirty="0">
                  <a:latin typeface="Consolas" panose="020B0609020204030204" pitchFamily="49" charset="0"/>
                </a:rPr>
                <a:t> es_estudiante = True</a:t>
              </a:r>
            </a:p>
            <a:p>
              <a:endParaRPr lang="es-CO" sz="1400" dirty="0">
                <a:latin typeface="Consolas" panose="020B0609020204030204" pitchFamily="49" charset="0"/>
              </a:endParaRPr>
            </a:p>
            <a:p>
              <a:r>
                <a:rPr lang="es-CO" sz="1400" dirty="0">
                  <a:latin typeface="Consolas" panose="020B0609020204030204" pitchFamily="49" charset="0"/>
                </a:rPr>
                <a:t># Alfanuméricas</a:t>
              </a:r>
            </a:p>
            <a:p>
              <a:r>
                <a:rPr lang="es-CO" sz="1400" dirty="0">
                  <a:solidFill>
                    <a:schemeClr val="accent4"/>
                  </a:solidFill>
                  <a:latin typeface="Consolas" panose="020B0609020204030204" pitchFamily="49" charset="0"/>
                </a:rPr>
                <a:t>Texto</a:t>
              </a:r>
              <a:r>
                <a:rPr lang="es-CO" sz="1400" dirty="0">
                  <a:latin typeface="Consolas" panose="020B0609020204030204" pitchFamily="49" charset="0"/>
                </a:rPr>
                <a:t> inicial = "A"             </a:t>
              </a:r>
            </a:p>
            <a:p>
              <a:r>
                <a:rPr lang="es-CO" sz="1400" dirty="0">
                  <a:solidFill>
                    <a:schemeClr val="accent4"/>
                  </a:solidFill>
                  <a:latin typeface="Consolas" panose="020B0609020204030204" pitchFamily="49" charset="0"/>
                </a:rPr>
                <a:t>Texto</a:t>
              </a:r>
              <a:r>
                <a:rPr lang="es-CO" sz="1400" dirty="0">
                  <a:latin typeface="Consolas" panose="020B0609020204030204" pitchFamily="49" charset="0"/>
                </a:rPr>
                <a:t> nombre = "Albert Einstein"</a:t>
              </a:r>
            </a:p>
          </p:txBody>
        </p:sp>
        <p:sp>
          <p:nvSpPr>
            <p:cNvPr id="44" name="CuadroTexto 43">
              <a:extLst>
                <a:ext uri="{FF2B5EF4-FFF2-40B4-BE49-F238E27FC236}">
                  <a16:creationId xmlns:a16="http://schemas.microsoft.com/office/drawing/2014/main" id="{CDC3B778-B390-4339-8772-0A1329172474}"/>
                </a:ext>
              </a:extLst>
            </p:cNvPr>
            <p:cNvSpPr txBox="1"/>
            <p:nvPr/>
          </p:nvSpPr>
          <p:spPr>
            <a:xfrm>
              <a:off x="1679800" y="1207185"/>
              <a:ext cx="1530997" cy="369332"/>
            </a:xfrm>
            <a:prstGeom prst="rect">
              <a:avLst/>
            </a:prstGeom>
            <a:noFill/>
          </p:spPr>
          <p:txBody>
            <a:bodyPr wrap="none" rtlCol="0">
              <a:spAutoFit/>
            </a:bodyPr>
            <a:lstStyle/>
            <a:p>
              <a:r>
                <a:rPr lang="es-CO" b="1" dirty="0"/>
                <a:t>Pseudocódigo</a:t>
              </a:r>
            </a:p>
          </p:txBody>
        </p:sp>
      </p:grpSp>
      <p:grpSp>
        <p:nvGrpSpPr>
          <p:cNvPr id="47" name="Grupo 46">
            <a:extLst>
              <a:ext uri="{FF2B5EF4-FFF2-40B4-BE49-F238E27FC236}">
                <a16:creationId xmlns:a16="http://schemas.microsoft.com/office/drawing/2014/main" id="{85AFD59C-19AD-4F36-A171-E238B76EDE70}"/>
              </a:ext>
            </a:extLst>
          </p:cNvPr>
          <p:cNvGrpSpPr/>
          <p:nvPr/>
        </p:nvGrpSpPr>
        <p:grpSpPr>
          <a:xfrm>
            <a:off x="212637" y="3863146"/>
            <a:ext cx="4562563" cy="2570888"/>
            <a:chOff x="212637" y="3863146"/>
            <a:chExt cx="4562563" cy="2570888"/>
          </a:xfrm>
        </p:grpSpPr>
        <p:sp>
          <p:nvSpPr>
            <p:cNvPr id="7" name="CuadroTexto 6">
              <a:extLst>
                <a:ext uri="{FF2B5EF4-FFF2-40B4-BE49-F238E27FC236}">
                  <a16:creationId xmlns:a16="http://schemas.microsoft.com/office/drawing/2014/main" id="{D093022B-6B91-4ABF-98C1-05910FE9C409}"/>
                </a:ext>
              </a:extLst>
            </p:cNvPr>
            <p:cNvSpPr txBox="1"/>
            <p:nvPr/>
          </p:nvSpPr>
          <p:spPr>
            <a:xfrm>
              <a:off x="212637" y="4187265"/>
              <a:ext cx="4562563" cy="2246769"/>
            </a:xfrm>
            <a:prstGeom prst="rect">
              <a:avLst/>
            </a:prstGeom>
            <a:noFill/>
            <a:ln w="12700">
              <a:solidFill>
                <a:schemeClr val="tx1"/>
              </a:solidFill>
            </a:ln>
          </p:spPr>
          <p:txBody>
            <a:bodyPr wrap="square">
              <a:spAutoFit/>
            </a:bodyPr>
            <a:lstStyle/>
            <a:p>
              <a:r>
                <a:rPr lang="es-CO" sz="1400" dirty="0">
                  <a:latin typeface="Consolas" panose="020B0609020204030204" pitchFamily="49" charset="0"/>
                </a:rPr>
                <a:t># Numéricas</a:t>
              </a:r>
            </a:p>
            <a:p>
              <a:r>
                <a:rPr lang="es-CO" sz="1400" dirty="0">
                  <a:latin typeface="Consolas" panose="020B0609020204030204" pitchFamily="49" charset="0"/>
                </a:rPr>
                <a:t>edad = 25                   # </a:t>
              </a:r>
              <a:r>
                <a:rPr lang="es-CO" sz="1400" dirty="0" err="1">
                  <a:latin typeface="Consolas" panose="020B0609020204030204" pitchFamily="49" charset="0"/>
                </a:rPr>
                <a:t>int</a:t>
              </a:r>
              <a:endParaRPr lang="es-CO" sz="1400" dirty="0">
                <a:latin typeface="Consolas" panose="020B0609020204030204" pitchFamily="49" charset="0"/>
              </a:endParaRPr>
            </a:p>
            <a:p>
              <a:r>
                <a:rPr lang="es-CO" sz="1400" dirty="0">
                  <a:latin typeface="Consolas" panose="020B0609020204030204" pitchFamily="49" charset="0"/>
                </a:rPr>
                <a:t>altura = 1.75               # </a:t>
              </a:r>
              <a:r>
                <a:rPr lang="es-CO" sz="1400" dirty="0" err="1">
                  <a:latin typeface="Consolas" panose="020B0609020204030204" pitchFamily="49" charset="0"/>
                </a:rPr>
                <a:t>float</a:t>
              </a:r>
              <a:endParaRPr lang="es-CO" sz="1400" dirty="0">
                <a:latin typeface="Consolas" panose="020B0609020204030204" pitchFamily="49" charset="0"/>
              </a:endParaRPr>
            </a:p>
            <a:p>
              <a:endParaRPr lang="es-CO" sz="1400" dirty="0">
                <a:latin typeface="Consolas" panose="020B0609020204030204" pitchFamily="49" charset="0"/>
              </a:endParaRPr>
            </a:p>
            <a:p>
              <a:r>
                <a:rPr lang="es-CO" sz="1400" dirty="0">
                  <a:latin typeface="Consolas" panose="020B0609020204030204" pitchFamily="49" charset="0"/>
                </a:rPr>
                <a:t># Lógica</a:t>
              </a:r>
            </a:p>
            <a:p>
              <a:r>
                <a:rPr lang="es-CO" sz="1400" dirty="0">
                  <a:latin typeface="Consolas" panose="020B0609020204030204" pitchFamily="49" charset="0"/>
                </a:rPr>
                <a:t>es_estudiante = True        # </a:t>
              </a:r>
              <a:r>
                <a:rPr lang="es-CO" sz="1400" dirty="0" err="1">
                  <a:latin typeface="Consolas" panose="020B0609020204030204" pitchFamily="49" charset="0"/>
                </a:rPr>
                <a:t>bool</a:t>
              </a:r>
              <a:endParaRPr lang="es-CO" sz="1400" dirty="0">
                <a:latin typeface="Consolas" panose="020B0609020204030204" pitchFamily="49" charset="0"/>
              </a:endParaRPr>
            </a:p>
            <a:p>
              <a:endParaRPr lang="es-CO" sz="1400" dirty="0">
                <a:latin typeface="Consolas" panose="020B0609020204030204" pitchFamily="49" charset="0"/>
              </a:endParaRPr>
            </a:p>
            <a:p>
              <a:r>
                <a:rPr lang="es-CO" sz="1400" dirty="0">
                  <a:latin typeface="Consolas" panose="020B0609020204030204" pitchFamily="49" charset="0"/>
                </a:rPr>
                <a:t># Alfanuméricas</a:t>
              </a:r>
            </a:p>
            <a:p>
              <a:r>
                <a:rPr lang="es-CO" sz="1400" dirty="0">
                  <a:latin typeface="Consolas" panose="020B0609020204030204" pitchFamily="49" charset="0"/>
                </a:rPr>
                <a:t>inicial = "A"               # </a:t>
              </a:r>
              <a:r>
                <a:rPr lang="es-CO" sz="1400" dirty="0" err="1">
                  <a:latin typeface="Consolas" panose="020B0609020204030204" pitchFamily="49" charset="0"/>
                </a:rPr>
                <a:t>str</a:t>
              </a:r>
              <a:r>
                <a:rPr lang="es-CO" sz="1400" dirty="0">
                  <a:latin typeface="Consolas" panose="020B0609020204030204" pitchFamily="49" charset="0"/>
                </a:rPr>
                <a:t> (carácter)</a:t>
              </a:r>
            </a:p>
            <a:p>
              <a:r>
                <a:rPr lang="es-CO" sz="1400" dirty="0">
                  <a:latin typeface="Consolas" panose="020B0609020204030204" pitchFamily="49" charset="0"/>
                </a:rPr>
                <a:t>nombre = "Albert Einstein"  # </a:t>
              </a:r>
              <a:r>
                <a:rPr lang="es-CO" sz="1400" dirty="0" err="1">
                  <a:latin typeface="Consolas" panose="020B0609020204030204" pitchFamily="49" charset="0"/>
                </a:rPr>
                <a:t>str</a:t>
              </a:r>
              <a:r>
                <a:rPr lang="es-CO" sz="1400" dirty="0">
                  <a:latin typeface="Consolas" panose="020B0609020204030204" pitchFamily="49" charset="0"/>
                </a:rPr>
                <a:t> (cadena) </a:t>
              </a:r>
            </a:p>
          </p:txBody>
        </p:sp>
        <p:sp>
          <p:nvSpPr>
            <p:cNvPr id="46" name="CuadroTexto 45">
              <a:extLst>
                <a:ext uri="{FF2B5EF4-FFF2-40B4-BE49-F238E27FC236}">
                  <a16:creationId xmlns:a16="http://schemas.microsoft.com/office/drawing/2014/main" id="{D06584AA-4E08-4A03-919E-171A2E3A00A7}"/>
                </a:ext>
              </a:extLst>
            </p:cNvPr>
            <p:cNvSpPr txBox="1"/>
            <p:nvPr/>
          </p:nvSpPr>
          <p:spPr>
            <a:xfrm>
              <a:off x="1620348" y="3863146"/>
              <a:ext cx="1575368" cy="369332"/>
            </a:xfrm>
            <a:prstGeom prst="rect">
              <a:avLst/>
            </a:prstGeom>
            <a:noFill/>
          </p:spPr>
          <p:txBody>
            <a:bodyPr wrap="none" rtlCol="0">
              <a:spAutoFit/>
            </a:bodyPr>
            <a:lstStyle/>
            <a:p>
              <a:r>
                <a:rPr lang="es-CO" b="1" dirty="0"/>
                <a:t>Código python</a:t>
              </a:r>
            </a:p>
          </p:txBody>
        </p:sp>
      </p:grpSp>
      <p:pic>
        <p:nvPicPr>
          <p:cNvPr id="49" name="Picture 2" descr="http://t2.gstatic.com/images?q=tbn:ANd9GcS51PGLkp34nPs-LewfkgAfjdZsyder21fNGFoRiZ_A6x7txo3e">
            <a:extLst>
              <a:ext uri="{FF2B5EF4-FFF2-40B4-BE49-F238E27FC236}">
                <a16:creationId xmlns:a16="http://schemas.microsoft.com/office/drawing/2014/main" id="{98186059-8289-4EB7-8D67-06BB355590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35937" y="4564602"/>
            <a:ext cx="2232945" cy="1831204"/>
          </a:xfrm>
          <a:prstGeom prst="rect">
            <a:avLst/>
          </a:prstGeom>
          <a:noFill/>
          <a:extLst>
            <a:ext uri="{909E8E84-426E-40DD-AFC4-6F175D3DCCD1}">
              <a14:hiddenFill xmlns:a14="http://schemas.microsoft.com/office/drawing/2010/main">
                <a:solidFill>
                  <a:srgbClr val="FFFFFF"/>
                </a:solidFill>
              </a14:hiddenFill>
            </a:ext>
          </a:extLst>
        </p:spPr>
      </p:pic>
      <p:sp>
        <p:nvSpPr>
          <p:cNvPr id="51" name="CuadroTexto 50">
            <a:extLst>
              <a:ext uri="{FF2B5EF4-FFF2-40B4-BE49-F238E27FC236}">
                <a16:creationId xmlns:a16="http://schemas.microsoft.com/office/drawing/2014/main" id="{FF21F5A5-F53A-4B9A-A8F3-17870FB9C6BC}"/>
              </a:ext>
            </a:extLst>
          </p:cNvPr>
          <p:cNvSpPr txBox="1"/>
          <p:nvPr/>
        </p:nvSpPr>
        <p:spPr>
          <a:xfrm>
            <a:off x="2143511" y="6422570"/>
            <a:ext cx="792088" cy="276999"/>
          </a:xfrm>
          <a:prstGeom prst="rect">
            <a:avLst/>
          </a:prstGeom>
          <a:noFill/>
        </p:spPr>
        <p:txBody>
          <a:bodyPr wrap="square">
            <a:spAutoFit/>
          </a:bodyPr>
          <a:lstStyle/>
          <a:p>
            <a:pPr algn="ctr"/>
            <a:r>
              <a:rPr lang="es-ES" sz="1200" dirty="0">
                <a:hlinkClick r:id="rId3"/>
              </a:rPr>
              <a:t>link</a:t>
            </a:r>
            <a:endParaRPr lang="es-CO" sz="1200" dirty="0"/>
          </a:p>
        </p:txBody>
      </p:sp>
      <p:pic>
        <p:nvPicPr>
          <p:cNvPr id="30"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22E7FE19-633B-4438-852C-5630A6F9FC4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970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728357"/>
          </a:xfrm>
        </p:spPr>
        <p:txBody>
          <a:bodyPr/>
          <a:lstStyle/>
          <a:p>
            <a:r>
              <a:rPr lang="en-US" sz="3200" dirty="0"/>
              <a:t>Variables</a:t>
            </a:r>
          </a:p>
        </p:txBody>
      </p:sp>
      <p:sp>
        <p:nvSpPr>
          <p:cNvPr id="2" name="Content Placeholder 1"/>
          <p:cNvSpPr>
            <a:spLocks noGrp="1"/>
          </p:cNvSpPr>
          <p:nvPr>
            <p:ph idx="1"/>
          </p:nvPr>
        </p:nvSpPr>
        <p:spPr>
          <a:xfrm>
            <a:off x="193830" y="818993"/>
            <a:ext cx="8568952" cy="486252"/>
          </a:xfrm>
        </p:spPr>
        <p:txBody>
          <a:bodyPr>
            <a:normAutofit/>
          </a:bodyPr>
          <a:lstStyle/>
          <a:p>
            <a:r>
              <a:rPr lang="es-CO" sz="2200" dirty="0"/>
              <a:t>Las </a:t>
            </a:r>
            <a:r>
              <a:rPr lang="es-CO" sz="2200" b="1" dirty="0"/>
              <a:t>variables</a:t>
            </a:r>
            <a:r>
              <a:rPr lang="es-CO" sz="2200" dirty="0"/>
              <a:t> permiten el almacenamiento de datos en memoria.</a:t>
            </a:r>
            <a:endParaRPr lang="en-US" sz="2200" dirty="0"/>
          </a:p>
        </p:txBody>
      </p:sp>
      <p:grpSp>
        <p:nvGrpSpPr>
          <p:cNvPr id="21" name="Grupo 20">
            <a:extLst>
              <a:ext uri="{FF2B5EF4-FFF2-40B4-BE49-F238E27FC236}">
                <a16:creationId xmlns:a16="http://schemas.microsoft.com/office/drawing/2014/main" id="{1F822C26-6046-4AA8-BAFE-7FD2F7CEB95A}"/>
              </a:ext>
            </a:extLst>
          </p:cNvPr>
          <p:cNvGrpSpPr/>
          <p:nvPr/>
        </p:nvGrpSpPr>
        <p:grpSpPr>
          <a:xfrm>
            <a:off x="197523" y="1344206"/>
            <a:ext cx="4716181" cy="3863549"/>
            <a:chOff x="197523" y="1344206"/>
            <a:chExt cx="4716181" cy="3863549"/>
          </a:xfrm>
        </p:grpSpPr>
        <p:sp>
          <p:nvSpPr>
            <p:cNvPr id="7" name="CuadroTexto 6">
              <a:extLst>
                <a:ext uri="{FF2B5EF4-FFF2-40B4-BE49-F238E27FC236}">
                  <a16:creationId xmlns:a16="http://schemas.microsoft.com/office/drawing/2014/main" id="{D093022B-6B91-4ABF-98C1-05910FE9C409}"/>
                </a:ext>
              </a:extLst>
            </p:cNvPr>
            <p:cNvSpPr txBox="1"/>
            <p:nvPr/>
          </p:nvSpPr>
          <p:spPr>
            <a:xfrm>
              <a:off x="197523" y="1668325"/>
              <a:ext cx="4716181" cy="3539430"/>
            </a:xfrm>
            <a:prstGeom prst="rect">
              <a:avLst/>
            </a:prstGeom>
            <a:noFill/>
            <a:ln w="12700">
              <a:solidFill>
                <a:schemeClr val="tx1"/>
              </a:solidFill>
            </a:ln>
          </p:spPr>
          <p:txBody>
            <a:bodyPr wrap="square">
              <a:spAutoFit/>
            </a:bodyPr>
            <a:lstStyle/>
            <a:p>
              <a:r>
                <a:rPr lang="es-CO" sz="1400" dirty="0">
                  <a:latin typeface="Consolas" panose="020B0609020204030204" pitchFamily="49" charset="0"/>
                </a:rPr>
                <a:t># Numéricas</a:t>
              </a:r>
            </a:p>
            <a:p>
              <a:r>
                <a:rPr lang="es-CO" sz="1400" dirty="0">
                  <a:latin typeface="Consolas" panose="020B0609020204030204" pitchFamily="49" charset="0"/>
                </a:rPr>
                <a:t>edad = 25                    # </a:t>
              </a:r>
              <a:r>
                <a:rPr lang="es-CO" sz="1400" dirty="0" err="1">
                  <a:latin typeface="Consolas" panose="020B0609020204030204" pitchFamily="49" charset="0"/>
                </a:rPr>
                <a:t>int</a:t>
              </a:r>
              <a:endParaRPr lang="es-CO" sz="1400" dirty="0">
                <a:latin typeface="Consolas" panose="020B0609020204030204" pitchFamily="49" charset="0"/>
              </a:endParaRPr>
            </a:p>
            <a:p>
              <a:r>
                <a:rPr lang="es-CO" sz="1400" dirty="0">
                  <a:latin typeface="Consolas" panose="020B0609020204030204" pitchFamily="49" charset="0"/>
                </a:rPr>
                <a:t>altura = 1.75                # </a:t>
              </a:r>
              <a:r>
                <a:rPr lang="es-CO" sz="1400" dirty="0" err="1">
                  <a:latin typeface="Consolas" panose="020B0609020204030204" pitchFamily="49" charset="0"/>
                </a:rPr>
                <a:t>float</a:t>
              </a:r>
              <a:endParaRPr lang="es-CO" sz="1400" dirty="0">
                <a:latin typeface="Consolas" panose="020B0609020204030204" pitchFamily="49" charset="0"/>
              </a:endParaRPr>
            </a:p>
            <a:p>
              <a:endParaRPr lang="es-CO" sz="1400" dirty="0">
                <a:latin typeface="Consolas" panose="020B0609020204030204" pitchFamily="49" charset="0"/>
              </a:endParaRPr>
            </a:p>
            <a:p>
              <a:r>
                <a:rPr lang="es-CO" sz="1400" dirty="0">
                  <a:latin typeface="Consolas" panose="020B0609020204030204" pitchFamily="49" charset="0"/>
                </a:rPr>
                <a:t># Lógica</a:t>
              </a:r>
            </a:p>
            <a:p>
              <a:r>
                <a:rPr lang="es-CO" sz="1400" dirty="0">
                  <a:latin typeface="Consolas" panose="020B0609020204030204" pitchFamily="49" charset="0"/>
                </a:rPr>
                <a:t>es_estudiante = True         # </a:t>
              </a:r>
              <a:r>
                <a:rPr lang="es-CO" sz="1400" dirty="0" err="1">
                  <a:latin typeface="Consolas" panose="020B0609020204030204" pitchFamily="49" charset="0"/>
                </a:rPr>
                <a:t>bool</a:t>
              </a:r>
              <a:endParaRPr lang="es-CO" sz="1400" dirty="0">
                <a:latin typeface="Consolas" panose="020B0609020204030204" pitchFamily="49" charset="0"/>
              </a:endParaRPr>
            </a:p>
            <a:p>
              <a:endParaRPr lang="es-CO" sz="1400" dirty="0">
                <a:latin typeface="Consolas" panose="020B0609020204030204" pitchFamily="49" charset="0"/>
              </a:endParaRPr>
            </a:p>
            <a:p>
              <a:r>
                <a:rPr lang="es-CO" sz="1400" dirty="0">
                  <a:latin typeface="Consolas" panose="020B0609020204030204" pitchFamily="49" charset="0"/>
                </a:rPr>
                <a:t># Alfanuméricas</a:t>
              </a:r>
            </a:p>
            <a:p>
              <a:r>
                <a:rPr lang="es-CO" sz="1400" dirty="0">
                  <a:latin typeface="Consolas" panose="020B0609020204030204" pitchFamily="49" charset="0"/>
                </a:rPr>
                <a:t>inicial = "A"                # </a:t>
              </a:r>
              <a:r>
                <a:rPr lang="es-CO" sz="1400" dirty="0" err="1">
                  <a:latin typeface="Consolas" panose="020B0609020204030204" pitchFamily="49" charset="0"/>
                </a:rPr>
                <a:t>str</a:t>
              </a:r>
              <a:r>
                <a:rPr lang="es-CO" sz="1400" dirty="0">
                  <a:latin typeface="Consolas" panose="020B0609020204030204" pitchFamily="49" charset="0"/>
                </a:rPr>
                <a:t> (carácter)</a:t>
              </a:r>
            </a:p>
            <a:p>
              <a:r>
                <a:rPr lang="es-CO" sz="1400" dirty="0">
                  <a:latin typeface="Consolas" panose="020B0609020204030204" pitchFamily="49" charset="0"/>
                </a:rPr>
                <a:t>nombre =  "Albert Einstein"  # </a:t>
              </a:r>
              <a:r>
                <a:rPr lang="es-CO" sz="1400" dirty="0" err="1">
                  <a:latin typeface="Consolas" panose="020B0609020204030204" pitchFamily="49" charset="0"/>
                </a:rPr>
                <a:t>str</a:t>
              </a:r>
              <a:r>
                <a:rPr lang="es-CO" sz="1400" dirty="0">
                  <a:latin typeface="Consolas" panose="020B0609020204030204" pitchFamily="49" charset="0"/>
                </a:rPr>
                <a:t> (cadena)</a:t>
              </a:r>
            </a:p>
            <a:p>
              <a:endParaRPr lang="es-CO" sz="1400" dirty="0">
                <a:latin typeface="Consolas" panose="020B0609020204030204" pitchFamily="49" charset="0"/>
              </a:endParaRPr>
            </a:p>
            <a:p>
              <a:r>
                <a:rPr lang="es-MX" sz="1400" dirty="0">
                  <a:latin typeface="Consolas" panose="020B0609020204030204" pitchFamily="49" charset="0"/>
                </a:rPr>
                <a:t># Mostrando los valores y su tipo</a:t>
              </a:r>
            </a:p>
            <a:p>
              <a:r>
                <a:rPr lang="es-MX" sz="1400" dirty="0">
                  <a:latin typeface="Consolas" panose="020B0609020204030204" pitchFamily="49" charset="0"/>
                </a:rPr>
                <a:t>print(nombre, </a:t>
              </a:r>
              <a:r>
                <a:rPr lang="es-MX" sz="1400" dirty="0" err="1">
                  <a:latin typeface="Consolas" panose="020B0609020204030204" pitchFamily="49" charset="0"/>
                </a:rPr>
                <a:t>type</a:t>
              </a:r>
              <a:r>
                <a:rPr lang="es-MX" sz="1400" dirty="0">
                  <a:latin typeface="Consolas" panose="020B0609020204030204" pitchFamily="49" charset="0"/>
                </a:rPr>
                <a:t>(nombre))</a:t>
              </a:r>
            </a:p>
            <a:p>
              <a:r>
                <a:rPr lang="es-MX" sz="1400" dirty="0">
                  <a:latin typeface="Consolas" panose="020B0609020204030204" pitchFamily="49" charset="0"/>
                </a:rPr>
                <a:t>print(edad, </a:t>
              </a:r>
              <a:r>
                <a:rPr lang="es-MX" sz="1400" dirty="0" err="1">
                  <a:latin typeface="Consolas" panose="020B0609020204030204" pitchFamily="49" charset="0"/>
                </a:rPr>
                <a:t>type</a:t>
              </a:r>
              <a:r>
                <a:rPr lang="es-MX" sz="1400" dirty="0">
                  <a:latin typeface="Consolas" panose="020B0609020204030204" pitchFamily="49" charset="0"/>
                </a:rPr>
                <a:t>(edad))</a:t>
              </a:r>
            </a:p>
            <a:p>
              <a:r>
                <a:rPr lang="es-MX" sz="1400" dirty="0">
                  <a:latin typeface="Consolas" panose="020B0609020204030204" pitchFamily="49" charset="0"/>
                </a:rPr>
                <a:t>print(altura, </a:t>
              </a:r>
              <a:r>
                <a:rPr lang="es-MX" sz="1400" dirty="0" err="1">
                  <a:latin typeface="Consolas" panose="020B0609020204030204" pitchFamily="49" charset="0"/>
                </a:rPr>
                <a:t>type</a:t>
              </a:r>
              <a:r>
                <a:rPr lang="es-MX" sz="1400" dirty="0">
                  <a:latin typeface="Consolas" panose="020B0609020204030204" pitchFamily="49" charset="0"/>
                </a:rPr>
                <a:t>(altura))</a:t>
              </a:r>
            </a:p>
            <a:p>
              <a:r>
                <a:rPr lang="es-MX" sz="1400" dirty="0">
                  <a:latin typeface="Consolas" panose="020B0609020204030204" pitchFamily="49" charset="0"/>
                </a:rPr>
                <a:t>print(</a:t>
              </a:r>
              <a:r>
                <a:rPr lang="es-MX" sz="1400" dirty="0" err="1">
                  <a:latin typeface="Consolas" panose="020B0609020204030204" pitchFamily="49" charset="0"/>
                </a:rPr>
                <a:t>es_estudiante</a:t>
              </a:r>
              <a:r>
                <a:rPr lang="es-MX" sz="1400" dirty="0">
                  <a:latin typeface="Consolas" panose="020B0609020204030204" pitchFamily="49" charset="0"/>
                </a:rPr>
                <a:t>, </a:t>
              </a:r>
              <a:r>
                <a:rPr lang="es-MX" sz="1400" dirty="0" err="1">
                  <a:latin typeface="Consolas" panose="020B0609020204030204" pitchFamily="49" charset="0"/>
                </a:rPr>
                <a:t>type</a:t>
              </a:r>
              <a:r>
                <a:rPr lang="es-MX" sz="1400" dirty="0">
                  <a:latin typeface="Consolas" panose="020B0609020204030204" pitchFamily="49" charset="0"/>
                </a:rPr>
                <a:t>(</a:t>
              </a:r>
              <a:r>
                <a:rPr lang="es-MX" sz="1400" dirty="0" err="1">
                  <a:latin typeface="Consolas" panose="020B0609020204030204" pitchFamily="49" charset="0"/>
                </a:rPr>
                <a:t>es_estudiante</a:t>
              </a:r>
              <a:r>
                <a:rPr lang="es-MX" sz="1400" dirty="0">
                  <a:latin typeface="Consolas" panose="020B0609020204030204" pitchFamily="49" charset="0"/>
                </a:rPr>
                <a:t>))</a:t>
              </a:r>
              <a:endParaRPr lang="es-CO" sz="1400" dirty="0">
                <a:latin typeface="Consolas" panose="020B0609020204030204" pitchFamily="49" charset="0"/>
              </a:endParaRPr>
            </a:p>
          </p:txBody>
        </p:sp>
        <p:sp>
          <p:nvSpPr>
            <p:cNvPr id="46" name="CuadroTexto 45">
              <a:extLst>
                <a:ext uri="{FF2B5EF4-FFF2-40B4-BE49-F238E27FC236}">
                  <a16:creationId xmlns:a16="http://schemas.microsoft.com/office/drawing/2014/main" id="{D06584AA-4E08-4A03-919E-171A2E3A00A7}"/>
                </a:ext>
              </a:extLst>
            </p:cNvPr>
            <p:cNvSpPr txBox="1"/>
            <p:nvPr/>
          </p:nvSpPr>
          <p:spPr>
            <a:xfrm>
              <a:off x="1605233" y="1344206"/>
              <a:ext cx="1575368" cy="369332"/>
            </a:xfrm>
            <a:prstGeom prst="rect">
              <a:avLst/>
            </a:prstGeom>
            <a:noFill/>
          </p:spPr>
          <p:txBody>
            <a:bodyPr wrap="none" rtlCol="0">
              <a:spAutoFit/>
            </a:bodyPr>
            <a:lstStyle/>
            <a:p>
              <a:r>
                <a:rPr lang="es-CO" b="1" dirty="0"/>
                <a:t>Código python</a:t>
              </a:r>
            </a:p>
          </p:txBody>
        </p:sp>
      </p:grpSp>
      <p:sp>
        <p:nvSpPr>
          <p:cNvPr id="51" name="CuadroTexto 50">
            <a:extLst>
              <a:ext uri="{FF2B5EF4-FFF2-40B4-BE49-F238E27FC236}">
                <a16:creationId xmlns:a16="http://schemas.microsoft.com/office/drawing/2014/main" id="{FF21F5A5-F53A-4B9A-A8F3-17870FB9C6BC}"/>
              </a:ext>
            </a:extLst>
          </p:cNvPr>
          <p:cNvSpPr txBox="1"/>
          <p:nvPr/>
        </p:nvSpPr>
        <p:spPr>
          <a:xfrm>
            <a:off x="2159569" y="5213391"/>
            <a:ext cx="792088" cy="307777"/>
          </a:xfrm>
          <a:prstGeom prst="rect">
            <a:avLst/>
          </a:prstGeom>
          <a:noFill/>
        </p:spPr>
        <p:txBody>
          <a:bodyPr wrap="square">
            <a:spAutoFit/>
          </a:bodyPr>
          <a:lstStyle/>
          <a:p>
            <a:pPr algn="ctr"/>
            <a:r>
              <a:rPr lang="es-ES" sz="1400" dirty="0">
                <a:hlinkClick r:id="rId2"/>
              </a:rPr>
              <a:t>link</a:t>
            </a:r>
            <a:endParaRPr lang="es-CO" sz="1400" dirty="0"/>
          </a:p>
        </p:txBody>
      </p:sp>
      <p:grpSp>
        <p:nvGrpSpPr>
          <p:cNvPr id="33" name="Grupo 32">
            <a:extLst>
              <a:ext uri="{FF2B5EF4-FFF2-40B4-BE49-F238E27FC236}">
                <a16:creationId xmlns:a16="http://schemas.microsoft.com/office/drawing/2014/main" id="{891908A3-ADE7-4621-8B50-CC3EEAA52023}"/>
              </a:ext>
            </a:extLst>
          </p:cNvPr>
          <p:cNvGrpSpPr/>
          <p:nvPr/>
        </p:nvGrpSpPr>
        <p:grpSpPr>
          <a:xfrm>
            <a:off x="5105781" y="1268760"/>
            <a:ext cx="3754168" cy="2843292"/>
            <a:chOff x="5004048" y="1881852"/>
            <a:chExt cx="3754168" cy="2843292"/>
          </a:xfrm>
        </p:grpSpPr>
        <p:cxnSp>
          <p:nvCxnSpPr>
            <p:cNvPr id="34" name="131 Conector recto">
              <a:extLst>
                <a:ext uri="{FF2B5EF4-FFF2-40B4-BE49-F238E27FC236}">
                  <a16:creationId xmlns:a16="http://schemas.microsoft.com/office/drawing/2014/main" id="{02FE54E3-E7C6-4F87-99DC-F51E759962B4}"/>
                </a:ext>
              </a:extLst>
            </p:cNvPr>
            <p:cNvCxnSpPr>
              <a:cxnSpLocks/>
            </p:cNvCxnSpPr>
            <p:nvPr/>
          </p:nvCxnSpPr>
          <p:spPr>
            <a:xfrm>
              <a:off x="5004048" y="1943477"/>
              <a:ext cx="0" cy="27816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132 Conector recto">
              <a:extLst>
                <a:ext uri="{FF2B5EF4-FFF2-40B4-BE49-F238E27FC236}">
                  <a16:creationId xmlns:a16="http://schemas.microsoft.com/office/drawing/2014/main" id="{8C3BB9EB-0583-4B97-AC7F-3571A10DE0F2}"/>
                </a:ext>
              </a:extLst>
            </p:cNvPr>
            <p:cNvCxnSpPr>
              <a:cxnSpLocks/>
            </p:cNvCxnSpPr>
            <p:nvPr/>
          </p:nvCxnSpPr>
          <p:spPr>
            <a:xfrm flipH="1">
              <a:off x="8749851" y="1916832"/>
              <a:ext cx="8365" cy="28083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128 Conector recto">
              <a:extLst>
                <a:ext uri="{FF2B5EF4-FFF2-40B4-BE49-F238E27FC236}">
                  <a16:creationId xmlns:a16="http://schemas.microsoft.com/office/drawing/2014/main" id="{190CA876-9E17-4270-8FE4-B23FB983624C}"/>
                </a:ext>
              </a:extLst>
            </p:cNvPr>
            <p:cNvCxnSpPr>
              <a:cxnSpLocks/>
            </p:cNvCxnSpPr>
            <p:nvPr/>
          </p:nvCxnSpPr>
          <p:spPr>
            <a:xfrm>
              <a:off x="5076056" y="2276872"/>
              <a:ext cx="36101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129 CuadroTexto">
              <a:extLst>
                <a:ext uri="{FF2B5EF4-FFF2-40B4-BE49-F238E27FC236}">
                  <a16:creationId xmlns:a16="http://schemas.microsoft.com/office/drawing/2014/main" id="{8240B704-7051-4D22-8472-28E2CD4085DF}"/>
                </a:ext>
              </a:extLst>
            </p:cNvPr>
            <p:cNvSpPr txBox="1"/>
            <p:nvPr/>
          </p:nvSpPr>
          <p:spPr>
            <a:xfrm>
              <a:off x="6220740" y="188185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40" name="130 CuadroTexto">
              <a:extLst>
                <a:ext uri="{FF2B5EF4-FFF2-40B4-BE49-F238E27FC236}">
                  <a16:creationId xmlns:a16="http://schemas.microsoft.com/office/drawing/2014/main" id="{70BE8FD8-97FB-4943-99C1-E94E465B38FE}"/>
                </a:ext>
              </a:extLst>
            </p:cNvPr>
            <p:cNvSpPr txBox="1"/>
            <p:nvPr/>
          </p:nvSpPr>
          <p:spPr>
            <a:xfrm>
              <a:off x="6571612" y="4367202"/>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sp>
          <p:nvSpPr>
            <p:cNvPr id="41" name="133 Rectángulo">
              <a:extLst>
                <a:ext uri="{FF2B5EF4-FFF2-40B4-BE49-F238E27FC236}">
                  <a16:creationId xmlns:a16="http://schemas.microsoft.com/office/drawing/2014/main" id="{B1A22519-523B-4769-8397-6201409D5360}"/>
                </a:ext>
              </a:extLst>
            </p:cNvPr>
            <p:cNvSpPr/>
            <p:nvPr/>
          </p:nvSpPr>
          <p:spPr>
            <a:xfrm>
              <a:off x="5584924" y="2382534"/>
              <a:ext cx="1003300" cy="307777"/>
            </a:xfrm>
            <a:prstGeom prst="rect">
              <a:avLst/>
            </a:prstGeom>
          </p:spPr>
          <p:txBody>
            <a:bodyPr wrap="square">
              <a:spAutoFit/>
            </a:bodyPr>
            <a:lstStyle/>
            <a:p>
              <a:pPr algn="r"/>
              <a:r>
                <a:rPr lang="es-CO" sz="1400" dirty="0">
                  <a:latin typeface="Consolas" panose="020B0609020204030204" pitchFamily="49" charset="0"/>
                  <a:cs typeface="Consolas" panose="020B0609020204030204" pitchFamily="49" charset="0"/>
                </a:rPr>
                <a:t>edad</a:t>
              </a:r>
              <a:endParaRPr lang="es-CO" sz="1600" dirty="0"/>
            </a:p>
          </p:txBody>
        </p:sp>
        <p:sp>
          <p:nvSpPr>
            <p:cNvPr id="42" name="135 Rectángulo">
              <a:extLst>
                <a:ext uri="{FF2B5EF4-FFF2-40B4-BE49-F238E27FC236}">
                  <a16:creationId xmlns:a16="http://schemas.microsoft.com/office/drawing/2014/main" id="{796D4C54-86D6-4D1F-AD94-B0E98C2E25FA}"/>
                </a:ext>
              </a:extLst>
            </p:cNvPr>
            <p:cNvSpPr/>
            <p:nvPr/>
          </p:nvSpPr>
          <p:spPr>
            <a:xfrm>
              <a:off x="5678066" y="2795972"/>
              <a:ext cx="913234" cy="307777"/>
            </a:xfrm>
            <a:prstGeom prst="rect">
              <a:avLst/>
            </a:prstGeom>
          </p:spPr>
          <p:txBody>
            <a:bodyPr wrap="square">
              <a:spAutoFit/>
            </a:bodyPr>
            <a:lstStyle/>
            <a:p>
              <a:pPr algn="r"/>
              <a:r>
                <a:rPr lang="es-CO" sz="1400" dirty="0">
                  <a:latin typeface="Consolas" panose="020B0609020204030204" pitchFamily="49" charset="0"/>
                </a:rPr>
                <a:t>altura</a:t>
              </a:r>
              <a:endParaRPr lang="es-CO" sz="1600" dirty="0"/>
            </a:p>
          </p:txBody>
        </p:sp>
        <p:sp>
          <p:nvSpPr>
            <p:cNvPr id="48" name="139 Rectángulo">
              <a:extLst>
                <a:ext uri="{FF2B5EF4-FFF2-40B4-BE49-F238E27FC236}">
                  <a16:creationId xmlns:a16="http://schemas.microsoft.com/office/drawing/2014/main" id="{BB7DE03B-CA9F-472E-BF1D-0CA54B384F9C}"/>
                </a:ext>
              </a:extLst>
            </p:cNvPr>
            <p:cNvSpPr/>
            <p:nvPr/>
          </p:nvSpPr>
          <p:spPr>
            <a:xfrm>
              <a:off x="5075132" y="3246943"/>
              <a:ext cx="1513092" cy="307777"/>
            </a:xfrm>
            <a:prstGeom prst="rect">
              <a:avLst/>
            </a:prstGeom>
          </p:spPr>
          <p:txBody>
            <a:bodyPr wrap="square">
              <a:spAutoFit/>
            </a:bodyPr>
            <a:lstStyle/>
            <a:p>
              <a:pPr algn="r"/>
              <a:r>
                <a:rPr lang="es-CO" sz="1400" dirty="0">
                  <a:latin typeface="Consolas" panose="020B0609020204030204" pitchFamily="49" charset="0"/>
                  <a:cs typeface="Consolas" panose="020B0609020204030204" pitchFamily="49" charset="0"/>
                </a:rPr>
                <a:t>es_estudiante</a:t>
              </a:r>
              <a:endParaRPr lang="es-CO" sz="1600" dirty="0"/>
            </a:p>
          </p:txBody>
        </p:sp>
        <p:sp>
          <p:nvSpPr>
            <p:cNvPr id="50" name="CuadroTexto 49">
              <a:extLst>
                <a:ext uri="{FF2B5EF4-FFF2-40B4-BE49-F238E27FC236}">
                  <a16:creationId xmlns:a16="http://schemas.microsoft.com/office/drawing/2014/main" id="{48754184-FBF4-49F3-BC18-923B8C690135}"/>
                </a:ext>
              </a:extLst>
            </p:cNvPr>
            <p:cNvSpPr txBox="1"/>
            <p:nvPr/>
          </p:nvSpPr>
          <p:spPr>
            <a:xfrm>
              <a:off x="6674679" y="2369274"/>
              <a:ext cx="611449" cy="307777"/>
            </a:xfrm>
            <a:prstGeom prst="rect">
              <a:avLst/>
            </a:prstGeom>
            <a:noFill/>
            <a:ln>
              <a:solidFill>
                <a:schemeClr val="tx1"/>
              </a:solidFill>
            </a:ln>
          </p:spPr>
          <p:txBody>
            <a:bodyPr wrap="square" rtlCol="0">
              <a:spAutoFit/>
            </a:bodyPr>
            <a:lstStyle/>
            <a:p>
              <a:pPr algn="ctr"/>
              <a:r>
                <a:rPr lang="es-CO" sz="1400" dirty="0">
                  <a:latin typeface="Consolas" panose="020B0609020204030204" pitchFamily="49" charset="0"/>
                </a:rPr>
                <a:t>25</a:t>
              </a:r>
            </a:p>
          </p:txBody>
        </p:sp>
        <p:sp>
          <p:nvSpPr>
            <p:cNvPr id="52" name="CuadroTexto 51">
              <a:extLst>
                <a:ext uri="{FF2B5EF4-FFF2-40B4-BE49-F238E27FC236}">
                  <a16:creationId xmlns:a16="http://schemas.microsoft.com/office/drawing/2014/main" id="{FD8F2F9F-BD46-43F4-A8BB-9D44B15C0D22}"/>
                </a:ext>
              </a:extLst>
            </p:cNvPr>
            <p:cNvSpPr txBox="1"/>
            <p:nvPr/>
          </p:nvSpPr>
          <p:spPr>
            <a:xfrm>
              <a:off x="6689298" y="2795972"/>
              <a:ext cx="611447" cy="307777"/>
            </a:xfrm>
            <a:prstGeom prst="rect">
              <a:avLst/>
            </a:prstGeom>
            <a:noFill/>
            <a:ln>
              <a:solidFill>
                <a:schemeClr val="tx1"/>
              </a:solidFill>
            </a:ln>
          </p:spPr>
          <p:txBody>
            <a:bodyPr wrap="square" rtlCol="0">
              <a:spAutoFit/>
            </a:bodyPr>
            <a:lstStyle/>
            <a:p>
              <a:pPr algn="ctr"/>
              <a:r>
                <a:rPr lang="es-CO" sz="1400" dirty="0">
                  <a:latin typeface="Consolas" panose="020B0609020204030204" pitchFamily="49" charset="0"/>
                </a:rPr>
                <a:t>1.75</a:t>
              </a:r>
            </a:p>
          </p:txBody>
        </p:sp>
        <p:sp>
          <p:nvSpPr>
            <p:cNvPr id="53" name="CuadroTexto 52">
              <a:extLst>
                <a:ext uri="{FF2B5EF4-FFF2-40B4-BE49-F238E27FC236}">
                  <a16:creationId xmlns:a16="http://schemas.microsoft.com/office/drawing/2014/main" id="{044164F9-DE78-49A7-8EFE-3475D62BEC75}"/>
                </a:ext>
              </a:extLst>
            </p:cNvPr>
            <p:cNvSpPr txBox="1"/>
            <p:nvPr/>
          </p:nvSpPr>
          <p:spPr>
            <a:xfrm>
              <a:off x="6689297" y="3222670"/>
              <a:ext cx="582211" cy="307777"/>
            </a:xfrm>
            <a:prstGeom prst="rect">
              <a:avLst/>
            </a:prstGeom>
            <a:noFill/>
            <a:ln>
              <a:solidFill>
                <a:schemeClr val="tx1"/>
              </a:solidFill>
            </a:ln>
          </p:spPr>
          <p:txBody>
            <a:bodyPr wrap="none" rtlCol="0">
              <a:spAutoFit/>
            </a:bodyPr>
            <a:lstStyle/>
            <a:p>
              <a:pPr algn="ctr"/>
              <a:r>
                <a:rPr lang="es-CO" sz="1400" dirty="0">
                  <a:latin typeface="Consolas" panose="020B0609020204030204" pitchFamily="49" charset="0"/>
                </a:rPr>
                <a:t>True</a:t>
              </a:r>
            </a:p>
          </p:txBody>
        </p:sp>
        <p:sp>
          <p:nvSpPr>
            <p:cNvPr id="54" name="CuadroTexto 53">
              <a:extLst>
                <a:ext uri="{FF2B5EF4-FFF2-40B4-BE49-F238E27FC236}">
                  <a16:creationId xmlns:a16="http://schemas.microsoft.com/office/drawing/2014/main" id="{0D94D4F6-BC22-45E6-A16E-053B4607D9FE}"/>
                </a:ext>
              </a:extLst>
            </p:cNvPr>
            <p:cNvSpPr txBox="1"/>
            <p:nvPr/>
          </p:nvSpPr>
          <p:spPr>
            <a:xfrm>
              <a:off x="6684700" y="3641413"/>
              <a:ext cx="601427" cy="307777"/>
            </a:xfrm>
            <a:prstGeom prst="rect">
              <a:avLst/>
            </a:prstGeom>
            <a:noFill/>
            <a:ln>
              <a:solidFill>
                <a:schemeClr val="tx1"/>
              </a:solidFill>
            </a:ln>
          </p:spPr>
          <p:txBody>
            <a:bodyPr wrap="square" rtlCol="0">
              <a:spAutoFit/>
            </a:bodyPr>
            <a:lstStyle/>
            <a:p>
              <a:pPr algn="ctr"/>
              <a:r>
                <a:rPr lang="es-CO" sz="1400" dirty="0">
                  <a:latin typeface="Consolas" panose="020B0609020204030204" pitchFamily="49" charset="0"/>
                </a:rPr>
                <a:t>"A"</a:t>
              </a:r>
            </a:p>
          </p:txBody>
        </p:sp>
        <p:sp>
          <p:nvSpPr>
            <p:cNvPr id="55" name="CuadroTexto 54">
              <a:extLst>
                <a:ext uri="{FF2B5EF4-FFF2-40B4-BE49-F238E27FC236}">
                  <a16:creationId xmlns:a16="http://schemas.microsoft.com/office/drawing/2014/main" id="{80D77CF4-7D94-4192-8D6A-89417DFF93BF}"/>
                </a:ext>
              </a:extLst>
            </p:cNvPr>
            <p:cNvSpPr txBox="1"/>
            <p:nvPr/>
          </p:nvSpPr>
          <p:spPr>
            <a:xfrm>
              <a:off x="6674679" y="4068111"/>
              <a:ext cx="1874231" cy="307777"/>
            </a:xfrm>
            <a:prstGeom prst="rect">
              <a:avLst/>
            </a:prstGeom>
            <a:noFill/>
            <a:ln>
              <a:solidFill>
                <a:schemeClr val="tx1"/>
              </a:solidFill>
            </a:ln>
          </p:spPr>
          <p:txBody>
            <a:bodyPr wrap="none" rtlCol="0">
              <a:spAutoFit/>
            </a:bodyPr>
            <a:lstStyle/>
            <a:p>
              <a:pPr algn="ctr"/>
              <a:r>
                <a:rPr lang="es-CO" sz="1400" dirty="0">
                  <a:latin typeface="Consolas" panose="020B0609020204030204" pitchFamily="49" charset="0"/>
                </a:rPr>
                <a:t>"Albert Einstein"</a:t>
              </a:r>
            </a:p>
          </p:txBody>
        </p:sp>
        <p:sp>
          <p:nvSpPr>
            <p:cNvPr id="56" name="139 Rectángulo">
              <a:extLst>
                <a:ext uri="{FF2B5EF4-FFF2-40B4-BE49-F238E27FC236}">
                  <a16:creationId xmlns:a16="http://schemas.microsoft.com/office/drawing/2014/main" id="{541E336A-B66F-4E30-B932-C084A43B4103}"/>
                </a:ext>
              </a:extLst>
            </p:cNvPr>
            <p:cNvSpPr/>
            <p:nvPr/>
          </p:nvSpPr>
          <p:spPr>
            <a:xfrm>
              <a:off x="5099601" y="3659247"/>
              <a:ext cx="1513092" cy="307777"/>
            </a:xfrm>
            <a:prstGeom prst="rect">
              <a:avLst/>
            </a:prstGeom>
          </p:spPr>
          <p:txBody>
            <a:bodyPr wrap="square">
              <a:spAutoFit/>
            </a:bodyPr>
            <a:lstStyle/>
            <a:p>
              <a:pPr algn="r"/>
              <a:r>
                <a:rPr lang="es-CO" sz="1400" dirty="0">
                  <a:latin typeface="Consolas" panose="020B0609020204030204" pitchFamily="49" charset="0"/>
                  <a:cs typeface="Consolas" panose="020B0609020204030204" pitchFamily="49" charset="0"/>
                </a:rPr>
                <a:t>inicial</a:t>
              </a:r>
              <a:endParaRPr lang="es-CO" sz="1600" dirty="0"/>
            </a:p>
          </p:txBody>
        </p:sp>
        <p:sp>
          <p:nvSpPr>
            <p:cNvPr id="57" name="139 Rectángulo">
              <a:extLst>
                <a:ext uri="{FF2B5EF4-FFF2-40B4-BE49-F238E27FC236}">
                  <a16:creationId xmlns:a16="http://schemas.microsoft.com/office/drawing/2014/main" id="{829066BB-FB34-4AB1-BD60-DD49F83F6979}"/>
                </a:ext>
              </a:extLst>
            </p:cNvPr>
            <p:cNvSpPr/>
            <p:nvPr/>
          </p:nvSpPr>
          <p:spPr>
            <a:xfrm>
              <a:off x="5125583" y="4079819"/>
              <a:ext cx="1513092" cy="307777"/>
            </a:xfrm>
            <a:prstGeom prst="rect">
              <a:avLst/>
            </a:prstGeom>
          </p:spPr>
          <p:txBody>
            <a:bodyPr wrap="square">
              <a:spAutoFit/>
            </a:bodyPr>
            <a:lstStyle/>
            <a:p>
              <a:pPr algn="r"/>
              <a:r>
                <a:rPr lang="es-CO" sz="1400" dirty="0">
                  <a:latin typeface="Consolas" panose="020B0609020204030204" pitchFamily="49" charset="0"/>
                  <a:cs typeface="Consolas" panose="020B0609020204030204" pitchFamily="49" charset="0"/>
                </a:rPr>
                <a:t>nombre</a:t>
              </a:r>
              <a:endParaRPr lang="es-CO" sz="1600" dirty="0"/>
            </a:p>
          </p:txBody>
        </p:sp>
      </p:grpSp>
      <p:grpSp>
        <p:nvGrpSpPr>
          <p:cNvPr id="19" name="Grupo 18">
            <a:extLst>
              <a:ext uri="{FF2B5EF4-FFF2-40B4-BE49-F238E27FC236}">
                <a16:creationId xmlns:a16="http://schemas.microsoft.com/office/drawing/2014/main" id="{0AF5FFBB-509C-4945-9DC0-A964065226AE}"/>
              </a:ext>
            </a:extLst>
          </p:cNvPr>
          <p:cNvGrpSpPr/>
          <p:nvPr/>
        </p:nvGrpSpPr>
        <p:grpSpPr>
          <a:xfrm>
            <a:off x="5686657" y="4425251"/>
            <a:ext cx="2506315" cy="2055391"/>
            <a:chOff x="5686657" y="4644944"/>
            <a:chExt cx="2506315" cy="2055391"/>
          </a:xfrm>
        </p:grpSpPr>
        <p:pic>
          <p:nvPicPr>
            <p:cNvPr id="59" name="Picture 2" descr="http://t2.gstatic.com/images?q=tbn:ANd9GcS51PGLkp34nPs-LewfkgAfjdZsyder21fNGFoRiZ_A6x7txo3e">
              <a:extLst>
                <a:ext uri="{FF2B5EF4-FFF2-40B4-BE49-F238E27FC236}">
                  <a16:creationId xmlns:a16="http://schemas.microsoft.com/office/drawing/2014/main" id="{D3A03787-AB33-489A-9C5B-494CD6FAFC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86657" y="4644944"/>
              <a:ext cx="2506315" cy="2055391"/>
            </a:xfrm>
            <a:prstGeom prst="rect">
              <a:avLst/>
            </a:prstGeom>
            <a:noFill/>
            <a:extLst>
              <a:ext uri="{909E8E84-426E-40DD-AFC4-6F175D3DCCD1}">
                <a14:hiddenFill xmlns:a14="http://schemas.microsoft.com/office/drawing/2010/main">
                  <a:solidFill>
                    <a:srgbClr val="FFFFFF"/>
                  </a:solidFill>
                </a14:hiddenFill>
              </a:ext>
            </a:extLst>
          </p:spPr>
        </p:pic>
        <p:sp>
          <p:nvSpPr>
            <p:cNvPr id="60" name="CuadroTexto 59">
              <a:extLst>
                <a:ext uri="{FF2B5EF4-FFF2-40B4-BE49-F238E27FC236}">
                  <a16:creationId xmlns:a16="http://schemas.microsoft.com/office/drawing/2014/main" id="{64CB44C0-6598-44EE-87D9-3CB1B9816563}"/>
                </a:ext>
              </a:extLst>
            </p:cNvPr>
            <p:cNvSpPr txBox="1"/>
            <p:nvPr/>
          </p:nvSpPr>
          <p:spPr>
            <a:xfrm>
              <a:off x="5763411" y="4751721"/>
              <a:ext cx="2327197" cy="738664"/>
            </a:xfrm>
            <a:prstGeom prst="rect">
              <a:avLst/>
            </a:prstGeom>
            <a:noFill/>
          </p:spPr>
          <p:txBody>
            <a:bodyPr wrap="square">
              <a:spAutoFit/>
            </a:bodyPr>
            <a:lstStyle/>
            <a:p>
              <a:r>
                <a:rPr lang="en-US" sz="1050" dirty="0">
                  <a:latin typeface="Consolas" panose="020B0609020204030204" pitchFamily="49" charset="0"/>
                </a:rPr>
                <a:t>Albert Einstein &lt;class 'str'&gt;</a:t>
              </a:r>
            </a:p>
            <a:p>
              <a:r>
                <a:rPr lang="en-US" sz="1050" dirty="0">
                  <a:latin typeface="Consolas" panose="020B0609020204030204" pitchFamily="49" charset="0"/>
                </a:rPr>
                <a:t>25 &lt;class 'int'&gt;</a:t>
              </a:r>
            </a:p>
            <a:p>
              <a:r>
                <a:rPr lang="en-US" sz="1050" dirty="0">
                  <a:latin typeface="Consolas" panose="020B0609020204030204" pitchFamily="49" charset="0"/>
                </a:rPr>
                <a:t>1.75 &lt;class 'float'&gt;</a:t>
              </a:r>
            </a:p>
            <a:p>
              <a:r>
                <a:rPr lang="en-US" sz="1050" dirty="0">
                  <a:latin typeface="Consolas" panose="020B0609020204030204" pitchFamily="49" charset="0"/>
                </a:rPr>
                <a:t>True &lt;class 'bool'&gt;</a:t>
              </a:r>
              <a:endParaRPr lang="es-CO" sz="1050" dirty="0">
                <a:latin typeface="Consolas" panose="020B0609020204030204" pitchFamily="49" charset="0"/>
              </a:endParaRPr>
            </a:p>
          </p:txBody>
        </p:sp>
      </p:grpSp>
      <p:pic>
        <p:nvPicPr>
          <p:cNvPr id="27"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29AD158D-7CED-43F4-AE19-DE58FAC1CB0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546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728357"/>
          </a:xfrm>
        </p:spPr>
        <p:txBody>
          <a:bodyPr/>
          <a:lstStyle/>
          <a:p>
            <a:r>
              <a:rPr lang="en-US" sz="3200" dirty="0"/>
              <a:t>Prueba de escritorio</a:t>
            </a:r>
          </a:p>
        </p:txBody>
      </p:sp>
      <p:sp>
        <p:nvSpPr>
          <p:cNvPr id="2" name="Content Placeholder 1"/>
          <p:cNvSpPr>
            <a:spLocks noGrp="1"/>
          </p:cNvSpPr>
          <p:nvPr>
            <p:ph idx="1"/>
          </p:nvPr>
        </p:nvSpPr>
        <p:spPr>
          <a:xfrm>
            <a:off x="212638" y="980728"/>
            <a:ext cx="8568952" cy="728357"/>
          </a:xfrm>
        </p:spPr>
        <p:txBody>
          <a:bodyPr>
            <a:normAutofit/>
          </a:bodyPr>
          <a:lstStyle/>
          <a:p>
            <a:pPr marL="0" indent="0">
              <a:buNone/>
            </a:pPr>
            <a:r>
              <a:rPr lang="es-CO" sz="2200" dirty="0"/>
              <a:t>Dado las siguientes operaciones aritméticas, obtenga los valores finales asociados a las variables.</a:t>
            </a:r>
            <a:endParaRPr lang="en-US" sz="2200" dirty="0"/>
          </a:p>
        </p:txBody>
      </p:sp>
      <p:sp>
        <p:nvSpPr>
          <p:cNvPr id="7" name="CuadroTexto 6">
            <a:extLst>
              <a:ext uri="{FF2B5EF4-FFF2-40B4-BE49-F238E27FC236}">
                <a16:creationId xmlns:a16="http://schemas.microsoft.com/office/drawing/2014/main" id="{D093022B-6B91-4ABF-98C1-05910FE9C409}"/>
              </a:ext>
            </a:extLst>
          </p:cNvPr>
          <p:cNvSpPr txBox="1"/>
          <p:nvPr/>
        </p:nvSpPr>
        <p:spPr>
          <a:xfrm>
            <a:off x="608815" y="2024598"/>
            <a:ext cx="2991210" cy="1815882"/>
          </a:xfrm>
          <a:prstGeom prst="rect">
            <a:avLst/>
          </a:prstGeom>
          <a:noFill/>
          <a:ln w="12700">
            <a:solidFill>
              <a:schemeClr val="tx1"/>
            </a:solidFill>
          </a:ln>
        </p:spPr>
        <p:txBody>
          <a:bodyPr wrap="square">
            <a:spAutoFit/>
          </a:bodyPr>
          <a:lstStyle/>
          <a:p>
            <a:r>
              <a:rPr lang="es-MX" sz="1400" dirty="0">
                <a:latin typeface="Consolas" panose="020B0609020204030204" pitchFamily="49" charset="0"/>
              </a:rPr>
              <a:t>cantidad = 10</a:t>
            </a:r>
          </a:p>
          <a:p>
            <a:r>
              <a:rPr lang="es-MX" sz="1400" dirty="0">
                <a:latin typeface="Consolas" panose="020B0609020204030204" pitchFamily="49" charset="0"/>
              </a:rPr>
              <a:t>precio = 2.5</a:t>
            </a:r>
          </a:p>
          <a:p>
            <a:r>
              <a:rPr lang="es-MX" sz="1400" dirty="0">
                <a:latin typeface="Consolas" panose="020B0609020204030204" pitchFamily="49" charset="0"/>
              </a:rPr>
              <a:t>total = cantidad * precio</a:t>
            </a:r>
          </a:p>
          <a:p>
            <a:r>
              <a:rPr lang="es-MX" sz="1400" dirty="0">
                <a:latin typeface="Consolas" panose="020B0609020204030204" pitchFamily="49" charset="0"/>
              </a:rPr>
              <a:t>descuento = 5.0</a:t>
            </a:r>
          </a:p>
          <a:p>
            <a:r>
              <a:rPr lang="es-MX" sz="1400" dirty="0">
                <a:latin typeface="Consolas" panose="020B0609020204030204" pitchFamily="49" charset="0"/>
              </a:rPr>
              <a:t>total = total – descuento</a:t>
            </a:r>
          </a:p>
          <a:p>
            <a:r>
              <a:rPr lang="es-MX" sz="1400" dirty="0">
                <a:latin typeface="Consolas" panose="020B0609020204030204" pitchFamily="49" charset="0"/>
              </a:rPr>
              <a:t>cantidad = cantidad + 3</a:t>
            </a:r>
          </a:p>
          <a:p>
            <a:r>
              <a:rPr lang="es-MX" sz="1400" dirty="0">
                <a:latin typeface="Consolas" panose="020B0609020204030204" pitchFamily="49" charset="0"/>
              </a:rPr>
              <a:t>total = total + cantidad</a:t>
            </a:r>
          </a:p>
          <a:p>
            <a:r>
              <a:rPr lang="es-MX" sz="1400" dirty="0">
                <a:latin typeface="Consolas" panose="020B0609020204030204" pitchFamily="49" charset="0"/>
              </a:rPr>
              <a:t>promedio = total / cantidad</a:t>
            </a:r>
            <a:endParaRPr lang="es-CO" sz="1400" dirty="0">
              <a:latin typeface="Consolas" panose="020B0609020204030204" pitchFamily="49" charset="0"/>
            </a:endParaRPr>
          </a:p>
        </p:txBody>
      </p:sp>
      <p:graphicFrame>
        <p:nvGraphicFramePr>
          <p:cNvPr id="27" name="Tabla 5">
            <a:extLst>
              <a:ext uri="{FF2B5EF4-FFF2-40B4-BE49-F238E27FC236}">
                <a16:creationId xmlns:a16="http://schemas.microsoft.com/office/drawing/2014/main" id="{2A9A05BF-60D4-4A33-82A1-DA20A879608A}"/>
              </a:ext>
            </a:extLst>
          </p:cNvPr>
          <p:cNvGraphicFramePr>
            <a:graphicFrameLocks noGrp="1"/>
          </p:cNvGraphicFramePr>
          <p:nvPr>
            <p:extLst>
              <p:ext uri="{D42A27DB-BD31-4B8C-83A1-F6EECF244321}">
                <p14:modId xmlns:p14="http://schemas.microsoft.com/office/powerpoint/2010/main" val="309371068"/>
              </p:ext>
            </p:extLst>
          </p:nvPr>
        </p:nvGraphicFramePr>
        <p:xfrm>
          <a:off x="4231333" y="2015599"/>
          <a:ext cx="4303852" cy="1804065"/>
        </p:xfrm>
        <a:graphic>
          <a:graphicData uri="http://schemas.openxmlformats.org/drawingml/2006/table">
            <a:tbl>
              <a:tblPr firstRow="1" bandRow="1">
                <a:tableStyleId>{5940675A-B579-460E-94D1-54222C63F5DA}</a:tableStyleId>
              </a:tblPr>
              <a:tblGrid>
                <a:gridCol w="1183005">
                  <a:extLst>
                    <a:ext uri="{9D8B030D-6E8A-4147-A177-3AD203B41FA5}">
                      <a16:colId xmlns:a16="http://schemas.microsoft.com/office/drawing/2014/main" val="1270268523"/>
                    </a:ext>
                  </a:extLst>
                </a:gridCol>
                <a:gridCol w="960755">
                  <a:extLst>
                    <a:ext uri="{9D8B030D-6E8A-4147-A177-3AD203B41FA5}">
                      <a16:colId xmlns:a16="http://schemas.microsoft.com/office/drawing/2014/main" val="101718729"/>
                    </a:ext>
                  </a:extLst>
                </a:gridCol>
                <a:gridCol w="849630">
                  <a:extLst>
                    <a:ext uri="{9D8B030D-6E8A-4147-A177-3AD203B41FA5}">
                      <a16:colId xmlns:a16="http://schemas.microsoft.com/office/drawing/2014/main" val="3468495707"/>
                    </a:ext>
                  </a:extLst>
                </a:gridCol>
                <a:gridCol w="1310462">
                  <a:extLst>
                    <a:ext uri="{9D8B030D-6E8A-4147-A177-3AD203B41FA5}">
                      <a16:colId xmlns:a16="http://schemas.microsoft.com/office/drawing/2014/main" val="3779945000"/>
                    </a:ext>
                  </a:extLst>
                </a:gridCol>
              </a:tblGrid>
              <a:tr h="341025">
                <a:tc>
                  <a:txBody>
                    <a:bodyPr/>
                    <a:lstStyle/>
                    <a:p>
                      <a:pPr algn="ctr"/>
                      <a:r>
                        <a:rPr lang="es-CO" sz="1600" b="1" dirty="0">
                          <a:latin typeface="Consolas" panose="020B0609020204030204" pitchFamily="49" charset="0"/>
                        </a:rPr>
                        <a:t>cantidad</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es-CO" sz="1600" b="1" dirty="0">
                          <a:latin typeface="Consolas" panose="020B0609020204030204" pitchFamily="49" charset="0"/>
                        </a:rPr>
                        <a:t>precio</a:t>
                      </a:r>
                    </a:p>
                  </a:txBody>
                  <a:tcPr>
                    <a:lnT w="12700" cap="flat" cmpd="sng" algn="ctr">
                      <a:noFill/>
                      <a:prstDash val="solid"/>
                      <a:round/>
                      <a:headEnd type="none" w="med" len="med"/>
                      <a:tailEnd type="none" w="med" len="med"/>
                    </a:lnT>
                  </a:tcPr>
                </a:tc>
                <a:tc>
                  <a:txBody>
                    <a:bodyPr/>
                    <a:lstStyle/>
                    <a:p>
                      <a:pPr algn="ctr"/>
                      <a:r>
                        <a:rPr lang="es-CO" sz="1600" b="1" dirty="0">
                          <a:latin typeface="Consolas" panose="020B0609020204030204" pitchFamily="49" charset="0"/>
                        </a:rPr>
                        <a:t>total</a:t>
                      </a:r>
                    </a:p>
                  </a:txBody>
                  <a:tcPr>
                    <a:lnT w="12700" cap="flat" cmpd="sng" algn="ctr">
                      <a:noFill/>
                      <a:prstDash val="solid"/>
                      <a:round/>
                      <a:headEnd type="none" w="med" len="med"/>
                      <a:tailEnd type="none" w="med" len="med"/>
                    </a:lnT>
                  </a:tcPr>
                </a:tc>
                <a:tc>
                  <a:txBody>
                    <a:bodyPr/>
                    <a:lstStyle/>
                    <a:p>
                      <a:pPr algn="ctr"/>
                      <a:r>
                        <a:rPr lang="es-CO" sz="1600" b="1" dirty="0">
                          <a:latin typeface="Consolas" panose="020B0609020204030204" pitchFamily="49" charset="0"/>
                        </a:rPr>
                        <a:t>Descuento</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784789806"/>
                  </a:ext>
                </a:extLst>
              </a:tr>
              <a:tr h="370840">
                <a:tc>
                  <a:txBody>
                    <a:bodyPr/>
                    <a:lstStyle/>
                    <a:p>
                      <a:pPr algn="ctr"/>
                      <a:r>
                        <a:rPr lang="es-CO" dirty="0"/>
                        <a:t>?</a:t>
                      </a:r>
                    </a:p>
                    <a:p>
                      <a:pPr algn="ctr"/>
                      <a:endParaRPr lang="es-CO" strike="sngStrike" dirty="0"/>
                    </a:p>
                    <a:p>
                      <a:pPr algn="ctr"/>
                      <a:endParaRPr lang="es-CO" strike="sngStrike" dirty="0"/>
                    </a:p>
                    <a:p>
                      <a:pPr algn="ctr"/>
                      <a:endParaRPr lang="es-CO" strike="sngStrike" dirty="0"/>
                    </a:p>
                    <a:p>
                      <a:pPr algn="ctr"/>
                      <a:endParaRPr lang="es-CO" strike="sngStrike" dirty="0"/>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s-CO" dirty="0"/>
                        <a:t>?</a:t>
                      </a:r>
                    </a:p>
                  </a:txBody>
                  <a:tcPr>
                    <a:lnB w="12700" cap="flat" cmpd="sng" algn="ctr">
                      <a:noFill/>
                      <a:prstDash val="solid"/>
                      <a:round/>
                      <a:headEnd type="none" w="med" len="med"/>
                      <a:tailEnd type="none" w="med" len="med"/>
                    </a:lnB>
                  </a:tcPr>
                </a:tc>
                <a:tc>
                  <a:txBody>
                    <a:bodyPr/>
                    <a:lstStyle/>
                    <a:p>
                      <a:pPr algn="ctr"/>
                      <a:r>
                        <a:rPr lang="es-CO" dirty="0"/>
                        <a:t>?</a:t>
                      </a:r>
                    </a:p>
                  </a:txBody>
                  <a:tcPr>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dirty="0"/>
                        <a:t>?</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984237131"/>
                  </a:ext>
                </a:extLst>
              </a:tr>
            </a:tbl>
          </a:graphicData>
        </a:graphic>
      </p:graphicFrame>
      <p:sp>
        <p:nvSpPr>
          <p:cNvPr id="28" name="CuadroTexto 27">
            <a:extLst>
              <a:ext uri="{FF2B5EF4-FFF2-40B4-BE49-F238E27FC236}">
                <a16:creationId xmlns:a16="http://schemas.microsoft.com/office/drawing/2014/main" id="{099BCA03-A91F-467B-B120-B52DB82589E8}"/>
              </a:ext>
            </a:extLst>
          </p:cNvPr>
          <p:cNvSpPr txBox="1"/>
          <p:nvPr/>
        </p:nvSpPr>
        <p:spPr>
          <a:xfrm>
            <a:off x="1708376" y="3796533"/>
            <a:ext cx="792088" cy="369332"/>
          </a:xfrm>
          <a:prstGeom prst="rect">
            <a:avLst/>
          </a:prstGeom>
          <a:noFill/>
        </p:spPr>
        <p:txBody>
          <a:bodyPr wrap="square">
            <a:spAutoFit/>
          </a:bodyPr>
          <a:lstStyle/>
          <a:p>
            <a:pPr algn="ctr"/>
            <a:r>
              <a:rPr lang="es-ES" sz="1800" dirty="0">
                <a:hlinkClick r:id="rId2"/>
              </a:rPr>
              <a:t>link</a:t>
            </a:r>
            <a:endParaRPr lang="es-CO" dirty="0"/>
          </a:p>
        </p:txBody>
      </p:sp>
      <p:pic>
        <p:nvPicPr>
          <p:cNvPr id="8"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C6F36566-2C13-424E-8FCB-2BC36D10EC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565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728357"/>
          </a:xfrm>
        </p:spPr>
        <p:txBody>
          <a:bodyPr/>
          <a:lstStyle/>
          <a:p>
            <a:r>
              <a:rPr lang="en-US" sz="3200" dirty="0" err="1"/>
              <a:t>Sobre</a:t>
            </a:r>
            <a:r>
              <a:rPr lang="en-US" sz="3200" dirty="0"/>
              <a:t> las </a:t>
            </a:r>
            <a:r>
              <a:rPr lang="en-US" sz="3200" dirty="0" err="1"/>
              <a:t>cadenas</a:t>
            </a:r>
            <a:r>
              <a:rPr lang="en-US" sz="3200" dirty="0"/>
              <a:t> en python</a:t>
            </a:r>
          </a:p>
        </p:txBody>
      </p:sp>
      <p:sp>
        <p:nvSpPr>
          <p:cNvPr id="2" name="Content Placeholder 1"/>
          <p:cNvSpPr>
            <a:spLocks noGrp="1"/>
          </p:cNvSpPr>
          <p:nvPr>
            <p:ph idx="1"/>
          </p:nvPr>
        </p:nvSpPr>
        <p:spPr>
          <a:xfrm>
            <a:off x="212638" y="882649"/>
            <a:ext cx="8568952" cy="2232248"/>
          </a:xfrm>
        </p:spPr>
        <p:txBody>
          <a:bodyPr>
            <a:normAutofit fontScale="92500" lnSpcReduction="20000"/>
          </a:bodyPr>
          <a:lstStyle/>
          <a:p>
            <a:pPr marL="0" indent="0">
              <a:buNone/>
            </a:pPr>
            <a:r>
              <a:rPr lang="es-MX" sz="2600" b="1" dirty="0"/>
              <a:t>Creación de cadenas</a:t>
            </a:r>
            <a:endParaRPr lang="es-CO" sz="2600" b="1" dirty="0"/>
          </a:p>
          <a:p>
            <a:r>
              <a:rPr lang="es-MX" sz="2200" dirty="0"/>
              <a:t>En Python, las cadenas se pueden escribir con comillas simples </a:t>
            </a:r>
            <a:r>
              <a:rPr lang="es-MX" sz="2200" b="1" dirty="0">
                <a:solidFill>
                  <a:srgbClr val="C00000"/>
                </a:solidFill>
                <a:latin typeface="Consolas" panose="020B0609020204030204" pitchFamily="49" charset="0"/>
              </a:rPr>
              <a:t>' '</a:t>
            </a:r>
            <a:r>
              <a:rPr lang="es-MX" sz="2200" dirty="0"/>
              <a:t> o dobles </a:t>
            </a:r>
            <a:r>
              <a:rPr lang="es-MX" sz="2200" b="1" dirty="0">
                <a:solidFill>
                  <a:srgbClr val="C00000"/>
                </a:solidFill>
                <a:latin typeface="Consolas" panose="020B0609020204030204" pitchFamily="49" charset="0"/>
              </a:rPr>
              <a:t>" "</a:t>
            </a:r>
            <a:r>
              <a:rPr lang="es-MX" sz="2200" dirty="0"/>
              <a:t> — no hay diferencia funcional entre ellas.</a:t>
            </a:r>
          </a:p>
          <a:p>
            <a:r>
              <a:rPr lang="es-MX" sz="2200" dirty="0"/>
              <a:t>Se usan comillas triples </a:t>
            </a:r>
            <a:r>
              <a:rPr lang="es-MX" sz="2200" b="1" dirty="0">
                <a:solidFill>
                  <a:srgbClr val="C00000"/>
                </a:solidFill>
                <a:latin typeface="Consolas" panose="020B0609020204030204" pitchFamily="49" charset="0"/>
              </a:rPr>
              <a:t>''' '''</a:t>
            </a:r>
            <a:r>
              <a:rPr lang="es-MX" sz="2200" dirty="0"/>
              <a:t> o </a:t>
            </a:r>
            <a:r>
              <a:rPr lang="es-MX" sz="2200" b="1" dirty="0">
                <a:solidFill>
                  <a:srgbClr val="C00000"/>
                </a:solidFill>
                <a:latin typeface="Consolas" panose="020B0609020204030204" pitchFamily="49" charset="0"/>
              </a:rPr>
              <a:t>""" """</a:t>
            </a:r>
            <a:r>
              <a:rPr lang="es-MX" sz="2200" dirty="0"/>
              <a:t> cuando el texto ocupa varias líneas.</a:t>
            </a:r>
          </a:p>
          <a:p>
            <a:r>
              <a:rPr lang="es-MX" sz="2200" dirty="0"/>
              <a:t>Si el texto contiene una comilla, se usa el otro tipo de comilla para evitar conflicto.</a:t>
            </a:r>
            <a:endParaRPr lang="en-US" sz="2200" dirty="0"/>
          </a:p>
        </p:txBody>
      </p:sp>
      <p:sp>
        <p:nvSpPr>
          <p:cNvPr id="8" name="CuadroTexto 7">
            <a:extLst>
              <a:ext uri="{FF2B5EF4-FFF2-40B4-BE49-F238E27FC236}">
                <a16:creationId xmlns:a16="http://schemas.microsoft.com/office/drawing/2014/main" id="{DAD6A86A-1857-46DC-85E2-2742538814E6}"/>
              </a:ext>
            </a:extLst>
          </p:cNvPr>
          <p:cNvSpPr txBox="1"/>
          <p:nvPr/>
        </p:nvSpPr>
        <p:spPr>
          <a:xfrm>
            <a:off x="539656" y="3212976"/>
            <a:ext cx="3672304" cy="3108543"/>
          </a:xfrm>
          <a:prstGeom prst="rect">
            <a:avLst/>
          </a:prstGeom>
          <a:noFill/>
          <a:ln w="12700">
            <a:solidFill>
              <a:schemeClr val="tx1"/>
            </a:solidFill>
          </a:ln>
        </p:spPr>
        <p:txBody>
          <a:bodyPr wrap="square">
            <a:spAutoFit/>
          </a:bodyPr>
          <a:lstStyle/>
          <a:p>
            <a:r>
              <a:rPr lang="es-MX" sz="1400" dirty="0">
                <a:latin typeface="Consolas" panose="020B0609020204030204" pitchFamily="49" charset="0"/>
              </a:rPr>
              <a:t># Comillas simples y dobles (equivalentes)</a:t>
            </a:r>
          </a:p>
          <a:p>
            <a:r>
              <a:rPr lang="es-MX" sz="1400" dirty="0">
                <a:latin typeface="Consolas" panose="020B0609020204030204" pitchFamily="49" charset="0"/>
              </a:rPr>
              <a:t>nombre = 'Ana'</a:t>
            </a:r>
          </a:p>
          <a:p>
            <a:r>
              <a:rPr lang="es-MX" sz="1400" dirty="0">
                <a:latin typeface="Consolas" panose="020B0609020204030204" pitchFamily="49" charset="0"/>
              </a:rPr>
              <a:t>ciudad = "Medellín"</a:t>
            </a:r>
          </a:p>
          <a:p>
            <a:endParaRPr lang="es-MX" sz="1400" dirty="0">
              <a:latin typeface="Consolas" panose="020B0609020204030204" pitchFamily="49" charset="0"/>
            </a:endParaRPr>
          </a:p>
          <a:p>
            <a:r>
              <a:rPr lang="es-MX" sz="1400" dirty="0">
                <a:latin typeface="Consolas" panose="020B0609020204030204" pitchFamily="49" charset="0"/>
              </a:rPr>
              <a:t># Evitando conflicto de comillas</a:t>
            </a:r>
          </a:p>
          <a:p>
            <a:r>
              <a:rPr lang="es-MX" sz="1400" dirty="0">
                <a:latin typeface="Consolas" panose="020B0609020204030204" pitchFamily="49" charset="0"/>
              </a:rPr>
              <a:t>frase = "Ella dijo: 'Hola'"</a:t>
            </a:r>
          </a:p>
          <a:p>
            <a:endParaRPr lang="es-MX" sz="1400" dirty="0">
              <a:latin typeface="Consolas" panose="020B0609020204030204" pitchFamily="49" charset="0"/>
            </a:endParaRPr>
          </a:p>
          <a:p>
            <a:r>
              <a:rPr lang="es-MX" sz="1400" dirty="0">
                <a:latin typeface="Consolas" panose="020B0609020204030204" pitchFamily="49" charset="0"/>
              </a:rPr>
              <a:t># Cadena multilínea</a:t>
            </a:r>
          </a:p>
          <a:p>
            <a:r>
              <a:rPr lang="es-MX" sz="1400" dirty="0">
                <a:latin typeface="Consolas" panose="020B0609020204030204" pitchFamily="49" charset="0"/>
              </a:rPr>
              <a:t>mensaje = """Bienvenido al curso.</a:t>
            </a:r>
          </a:p>
          <a:p>
            <a:r>
              <a:rPr lang="es-MX" sz="1400" dirty="0">
                <a:latin typeface="Consolas" panose="020B0609020204030204" pitchFamily="49" charset="0"/>
              </a:rPr>
              <a:t>Hoy hablaremos de cadenas."""</a:t>
            </a:r>
          </a:p>
          <a:p>
            <a:endParaRPr lang="es-MX" sz="1400" dirty="0">
              <a:latin typeface="Consolas" panose="020B0609020204030204" pitchFamily="49" charset="0"/>
            </a:endParaRPr>
          </a:p>
          <a:p>
            <a:r>
              <a:rPr lang="es-MX" sz="1400" dirty="0">
                <a:latin typeface="Consolas" panose="020B0609020204030204" pitchFamily="49" charset="0"/>
              </a:rPr>
              <a:t>print(frase)</a:t>
            </a:r>
          </a:p>
          <a:p>
            <a:r>
              <a:rPr lang="es-MX" sz="1400" dirty="0">
                <a:latin typeface="Consolas" panose="020B0609020204030204" pitchFamily="49" charset="0"/>
              </a:rPr>
              <a:t>print(mensaje)</a:t>
            </a:r>
            <a:endParaRPr lang="es-CO" sz="1400" dirty="0">
              <a:latin typeface="Consolas" panose="020B0609020204030204" pitchFamily="49" charset="0"/>
            </a:endParaRPr>
          </a:p>
        </p:txBody>
      </p:sp>
      <p:sp>
        <p:nvSpPr>
          <p:cNvPr id="9" name="CuadroTexto 8">
            <a:extLst>
              <a:ext uri="{FF2B5EF4-FFF2-40B4-BE49-F238E27FC236}">
                <a16:creationId xmlns:a16="http://schemas.microsoft.com/office/drawing/2014/main" id="{A550C5C0-72F2-43FF-8194-1DBE9EC57F0E}"/>
              </a:ext>
            </a:extLst>
          </p:cNvPr>
          <p:cNvSpPr txBox="1"/>
          <p:nvPr/>
        </p:nvSpPr>
        <p:spPr>
          <a:xfrm>
            <a:off x="1871752" y="6321519"/>
            <a:ext cx="792088" cy="307777"/>
          </a:xfrm>
          <a:prstGeom prst="rect">
            <a:avLst/>
          </a:prstGeom>
          <a:noFill/>
        </p:spPr>
        <p:txBody>
          <a:bodyPr wrap="square">
            <a:spAutoFit/>
          </a:bodyPr>
          <a:lstStyle/>
          <a:p>
            <a:pPr algn="ctr"/>
            <a:r>
              <a:rPr lang="es-ES" sz="1400" dirty="0">
                <a:hlinkClick r:id="rId2"/>
              </a:rPr>
              <a:t>link</a:t>
            </a:r>
            <a:endParaRPr lang="es-CO" sz="1400" dirty="0"/>
          </a:p>
        </p:txBody>
      </p:sp>
      <p:pic>
        <p:nvPicPr>
          <p:cNvPr id="6" name="Imagen 5">
            <a:extLst>
              <a:ext uri="{FF2B5EF4-FFF2-40B4-BE49-F238E27FC236}">
                <a16:creationId xmlns:a16="http://schemas.microsoft.com/office/drawing/2014/main" id="{D599B3B1-5369-449B-BDAD-112928B7A9E1}"/>
              </a:ext>
            </a:extLst>
          </p:cNvPr>
          <p:cNvPicPr>
            <a:picLocks noChangeAspect="1"/>
          </p:cNvPicPr>
          <p:nvPr/>
        </p:nvPicPr>
        <p:blipFill>
          <a:blip r:embed="rId3"/>
          <a:stretch>
            <a:fillRect/>
          </a:stretch>
        </p:blipFill>
        <p:spPr>
          <a:xfrm>
            <a:off x="4465026" y="3212976"/>
            <a:ext cx="4094179" cy="3108543"/>
          </a:xfrm>
          <a:prstGeom prst="rect">
            <a:avLst/>
          </a:prstGeom>
        </p:spPr>
      </p:pic>
      <p:pic>
        <p:nvPicPr>
          <p:cNvPr id="12"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211E3243-EC1A-4569-B76C-A37D582BAA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2223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728357"/>
          </a:xfrm>
        </p:spPr>
        <p:txBody>
          <a:bodyPr/>
          <a:lstStyle/>
          <a:p>
            <a:r>
              <a:rPr lang="en-US" sz="3200" dirty="0" err="1"/>
              <a:t>Sobre</a:t>
            </a:r>
            <a:r>
              <a:rPr lang="en-US" sz="3200" dirty="0"/>
              <a:t> las </a:t>
            </a:r>
            <a:r>
              <a:rPr lang="en-US" sz="3200" dirty="0" err="1"/>
              <a:t>cadenas</a:t>
            </a:r>
            <a:r>
              <a:rPr lang="en-US" sz="3200" dirty="0"/>
              <a:t> en python</a:t>
            </a:r>
          </a:p>
        </p:txBody>
      </p:sp>
      <p:sp>
        <p:nvSpPr>
          <p:cNvPr id="2" name="Content Placeholder 1"/>
          <p:cNvSpPr>
            <a:spLocks noGrp="1"/>
          </p:cNvSpPr>
          <p:nvPr>
            <p:ph idx="1"/>
          </p:nvPr>
        </p:nvSpPr>
        <p:spPr>
          <a:xfrm>
            <a:off x="212638" y="764704"/>
            <a:ext cx="8718724" cy="2140495"/>
          </a:xfrm>
        </p:spPr>
        <p:txBody>
          <a:bodyPr>
            <a:normAutofit/>
          </a:bodyPr>
          <a:lstStyle/>
          <a:p>
            <a:pPr marL="0" indent="0">
              <a:buNone/>
            </a:pPr>
            <a:r>
              <a:rPr lang="es-MX" sz="2400" b="1" dirty="0"/>
              <a:t>Concatenación y repetición</a:t>
            </a:r>
            <a:endParaRPr lang="es-CO" sz="2400" b="1" dirty="0"/>
          </a:p>
          <a:p>
            <a:r>
              <a:rPr lang="es-MX" sz="2000" dirty="0"/>
              <a:t>El operador </a:t>
            </a:r>
            <a:r>
              <a:rPr lang="es-MX" sz="2000" b="1" dirty="0">
                <a:solidFill>
                  <a:srgbClr val="C00000"/>
                </a:solidFill>
                <a:latin typeface="Consolas" panose="020B0609020204030204" pitchFamily="49" charset="0"/>
              </a:rPr>
              <a:t>+</a:t>
            </a:r>
            <a:r>
              <a:rPr lang="es-MX" sz="2000" dirty="0"/>
              <a:t> une (concatena) dos o más cadenas en una sola. (todas las variables concatenadas deben ser </a:t>
            </a:r>
            <a:r>
              <a:rPr lang="es-MX" sz="1800" b="1" dirty="0">
                <a:solidFill>
                  <a:srgbClr val="C00000"/>
                </a:solidFill>
                <a:latin typeface="Consolas" panose="020B0609020204030204" pitchFamily="49" charset="0"/>
              </a:rPr>
              <a:t>str</a:t>
            </a:r>
            <a:r>
              <a:rPr lang="es-MX" sz="2000" dirty="0"/>
              <a:t>) </a:t>
            </a:r>
          </a:p>
          <a:p>
            <a:r>
              <a:rPr lang="es-MX" sz="2000" dirty="0"/>
              <a:t>El operador </a:t>
            </a:r>
            <a:r>
              <a:rPr lang="es-MX" sz="2000" b="1" dirty="0">
                <a:solidFill>
                  <a:srgbClr val="C00000"/>
                </a:solidFill>
                <a:latin typeface="Consolas" panose="020B0609020204030204" pitchFamily="49" charset="0"/>
              </a:rPr>
              <a:t>*</a:t>
            </a:r>
            <a:r>
              <a:rPr lang="es-MX" sz="2000" dirty="0"/>
              <a:t> repite una cadena un número determinado de veces. (requiere una cadena y un entero).</a:t>
            </a:r>
          </a:p>
        </p:txBody>
      </p:sp>
      <p:sp>
        <p:nvSpPr>
          <p:cNvPr id="8" name="CuadroTexto 7">
            <a:extLst>
              <a:ext uri="{FF2B5EF4-FFF2-40B4-BE49-F238E27FC236}">
                <a16:creationId xmlns:a16="http://schemas.microsoft.com/office/drawing/2014/main" id="{DAD6A86A-1857-46DC-85E2-2742538814E6}"/>
              </a:ext>
            </a:extLst>
          </p:cNvPr>
          <p:cNvSpPr txBox="1"/>
          <p:nvPr/>
        </p:nvSpPr>
        <p:spPr>
          <a:xfrm>
            <a:off x="462642" y="2769309"/>
            <a:ext cx="4312529" cy="3108543"/>
          </a:xfrm>
          <a:prstGeom prst="rect">
            <a:avLst/>
          </a:prstGeom>
          <a:noFill/>
          <a:ln w="12700">
            <a:solidFill>
              <a:schemeClr val="tx1"/>
            </a:solidFill>
          </a:ln>
        </p:spPr>
        <p:txBody>
          <a:bodyPr wrap="square">
            <a:spAutoFit/>
          </a:bodyPr>
          <a:lstStyle/>
          <a:p>
            <a:r>
              <a:rPr lang="es-MX" sz="1400" dirty="0">
                <a:latin typeface="Consolas" panose="020B0609020204030204" pitchFamily="49" charset="0"/>
              </a:rPr>
              <a:t># Concatenación</a:t>
            </a:r>
          </a:p>
          <a:p>
            <a:r>
              <a:rPr lang="es-MX" sz="1400" dirty="0">
                <a:latin typeface="Consolas" panose="020B0609020204030204" pitchFamily="49" charset="0"/>
              </a:rPr>
              <a:t>nombre = "</a:t>
            </a:r>
            <a:r>
              <a:rPr lang="es-MX" sz="1400" dirty="0" err="1">
                <a:latin typeface="Consolas" panose="020B0609020204030204" pitchFamily="49" charset="0"/>
              </a:rPr>
              <a:t>Ruben</a:t>
            </a:r>
            <a:r>
              <a:rPr lang="es-MX" sz="1400" dirty="0">
                <a:latin typeface="Consolas" panose="020B0609020204030204" pitchFamily="49" charset="0"/>
              </a:rPr>
              <a:t>"</a:t>
            </a:r>
          </a:p>
          <a:p>
            <a:r>
              <a:rPr lang="es-MX" sz="1400" dirty="0">
                <a:latin typeface="Consolas" panose="020B0609020204030204" pitchFamily="49" charset="0"/>
              </a:rPr>
              <a:t>apellido = "Aguirre"</a:t>
            </a:r>
          </a:p>
          <a:p>
            <a:r>
              <a:rPr lang="es-MX" sz="1400" dirty="0" err="1">
                <a:latin typeface="Consolas" panose="020B0609020204030204" pitchFamily="49" charset="0"/>
              </a:rPr>
              <a:t>nombre_completo</a:t>
            </a:r>
            <a:r>
              <a:rPr lang="es-MX" sz="1400" dirty="0">
                <a:latin typeface="Consolas" panose="020B0609020204030204" pitchFamily="49" charset="0"/>
              </a:rPr>
              <a:t> = nombre + " " + apellido</a:t>
            </a:r>
          </a:p>
          <a:p>
            <a:r>
              <a:rPr lang="es-MX" sz="1400" dirty="0">
                <a:latin typeface="Consolas" panose="020B0609020204030204" pitchFamily="49" charset="0"/>
              </a:rPr>
              <a:t>print(</a:t>
            </a:r>
            <a:r>
              <a:rPr lang="es-MX" sz="1400" dirty="0" err="1">
                <a:latin typeface="Consolas" panose="020B0609020204030204" pitchFamily="49" charset="0"/>
              </a:rPr>
              <a:t>nombre_completo</a:t>
            </a:r>
            <a:r>
              <a:rPr lang="es-MX" sz="1400" dirty="0">
                <a:latin typeface="Consolas" panose="020B0609020204030204" pitchFamily="49" charset="0"/>
              </a:rPr>
              <a:t>)   # </a:t>
            </a:r>
            <a:r>
              <a:rPr lang="es-MX" sz="1400" dirty="0" err="1">
                <a:latin typeface="Consolas" panose="020B0609020204030204" pitchFamily="49" charset="0"/>
              </a:rPr>
              <a:t>Ruben</a:t>
            </a:r>
            <a:r>
              <a:rPr lang="es-MX" sz="1400" dirty="0">
                <a:latin typeface="Consolas" panose="020B0609020204030204" pitchFamily="49" charset="0"/>
              </a:rPr>
              <a:t> Aguirre</a:t>
            </a:r>
          </a:p>
          <a:p>
            <a:endParaRPr lang="es-MX" sz="1400" dirty="0">
              <a:latin typeface="Consolas" panose="020B0609020204030204" pitchFamily="49" charset="0"/>
            </a:endParaRPr>
          </a:p>
          <a:p>
            <a:r>
              <a:rPr lang="es-MX" sz="1400" dirty="0">
                <a:latin typeface="Consolas" panose="020B0609020204030204" pitchFamily="49" charset="0"/>
              </a:rPr>
              <a:t># Repetición</a:t>
            </a:r>
          </a:p>
          <a:p>
            <a:r>
              <a:rPr lang="es-MX" sz="1400" dirty="0" err="1">
                <a:latin typeface="Consolas" panose="020B0609020204030204" pitchFamily="49" charset="0"/>
              </a:rPr>
              <a:t>linea</a:t>
            </a:r>
            <a:r>
              <a:rPr lang="es-MX" sz="1400" dirty="0">
                <a:latin typeface="Consolas" panose="020B0609020204030204" pitchFamily="49" charset="0"/>
              </a:rPr>
              <a:t> = "-" * 20</a:t>
            </a:r>
          </a:p>
          <a:p>
            <a:r>
              <a:rPr lang="es-MX" sz="1400" dirty="0">
                <a:latin typeface="Consolas" panose="020B0609020204030204" pitchFamily="49" charset="0"/>
              </a:rPr>
              <a:t>print(</a:t>
            </a:r>
            <a:r>
              <a:rPr lang="es-MX" sz="1400" dirty="0" err="1">
                <a:latin typeface="Consolas" panose="020B0609020204030204" pitchFamily="49" charset="0"/>
              </a:rPr>
              <a:t>linea</a:t>
            </a:r>
            <a:r>
              <a:rPr lang="es-MX" sz="1400" dirty="0">
                <a:latin typeface="Consolas" panose="020B0609020204030204" pitchFamily="49" charset="0"/>
              </a:rPr>
              <a:t>)      </a:t>
            </a:r>
          </a:p>
          <a:p>
            <a:r>
              <a:rPr lang="es-MX" sz="1400" dirty="0">
                <a:latin typeface="Consolas" panose="020B0609020204030204" pitchFamily="49" charset="0"/>
              </a:rPr>
              <a:t># --------------------</a:t>
            </a:r>
          </a:p>
          <a:p>
            <a:endParaRPr lang="es-MX" sz="1400" dirty="0">
              <a:latin typeface="Consolas" panose="020B0609020204030204" pitchFamily="49" charset="0"/>
            </a:endParaRPr>
          </a:p>
          <a:p>
            <a:r>
              <a:rPr lang="es-MX" sz="1400" dirty="0">
                <a:latin typeface="Consolas" panose="020B0609020204030204" pitchFamily="49" charset="0"/>
              </a:rPr>
              <a:t>separador = "=" * 10</a:t>
            </a:r>
          </a:p>
          <a:p>
            <a:r>
              <a:rPr lang="es-MX" sz="1400" dirty="0">
                <a:latin typeface="Consolas" panose="020B0609020204030204" pitchFamily="49" charset="0"/>
              </a:rPr>
              <a:t>print(separador + " Fin " + separador)   # ========== Fin ==========</a:t>
            </a:r>
            <a:endParaRPr lang="es-CO" sz="1400" dirty="0">
              <a:latin typeface="Consolas" panose="020B0609020204030204" pitchFamily="49" charset="0"/>
            </a:endParaRPr>
          </a:p>
        </p:txBody>
      </p:sp>
      <p:sp>
        <p:nvSpPr>
          <p:cNvPr id="9" name="CuadroTexto 8">
            <a:extLst>
              <a:ext uri="{FF2B5EF4-FFF2-40B4-BE49-F238E27FC236}">
                <a16:creationId xmlns:a16="http://schemas.microsoft.com/office/drawing/2014/main" id="{A550C5C0-72F2-43FF-8194-1DBE9EC57F0E}"/>
              </a:ext>
            </a:extLst>
          </p:cNvPr>
          <p:cNvSpPr txBox="1"/>
          <p:nvPr/>
        </p:nvSpPr>
        <p:spPr>
          <a:xfrm>
            <a:off x="2222862" y="5939407"/>
            <a:ext cx="792088" cy="307777"/>
          </a:xfrm>
          <a:prstGeom prst="rect">
            <a:avLst/>
          </a:prstGeom>
          <a:noFill/>
        </p:spPr>
        <p:txBody>
          <a:bodyPr wrap="square">
            <a:spAutoFit/>
          </a:bodyPr>
          <a:lstStyle/>
          <a:p>
            <a:pPr algn="ctr"/>
            <a:r>
              <a:rPr lang="es-ES" sz="1400" dirty="0">
                <a:hlinkClick r:id="rId2"/>
              </a:rPr>
              <a:t>link</a:t>
            </a:r>
            <a:endParaRPr lang="es-CO" sz="1400" dirty="0"/>
          </a:p>
        </p:txBody>
      </p:sp>
      <p:pic>
        <p:nvPicPr>
          <p:cNvPr id="10" name="Imagen 9">
            <a:extLst>
              <a:ext uri="{FF2B5EF4-FFF2-40B4-BE49-F238E27FC236}">
                <a16:creationId xmlns:a16="http://schemas.microsoft.com/office/drawing/2014/main" id="{B4BBB154-CF3B-4DDB-A43F-CE8EF1646881}"/>
              </a:ext>
            </a:extLst>
          </p:cNvPr>
          <p:cNvPicPr>
            <a:picLocks noChangeAspect="1"/>
          </p:cNvPicPr>
          <p:nvPr/>
        </p:nvPicPr>
        <p:blipFill>
          <a:blip r:embed="rId3"/>
          <a:stretch>
            <a:fillRect/>
          </a:stretch>
        </p:blipFill>
        <p:spPr>
          <a:xfrm>
            <a:off x="5058367" y="2735946"/>
            <a:ext cx="3725541" cy="3323986"/>
          </a:xfrm>
          <a:prstGeom prst="rect">
            <a:avLst/>
          </a:prstGeom>
        </p:spPr>
      </p:pic>
      <p:pic>
        <p:nvPicPr>
          <p:cNvPr id="11"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222D16D6-C37B-42C8-8F58-5808EFC1456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6641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728357"/>
          </a:xfrm>
        </p:spPr>
        <p:txBody>
          <a:bodyPr/>
          <a:lstStyle/>
          <a:p>
            <a:r>
              <a:rPr lang="en-US" sz="3200" dirty="0" err="1"/>
              <a:t>Sobre</a:t>
            </a:r>
            <a:r>
              <a:rPr lang="en-US" sz="3200" dirty="0"/>
              <a:t> las </a:t>
            </a:r>
            <a:r>
              <a:rPr lang="en-US" sz="3200" dirty="0" err="1"/>
              <a:t>cadenas</a:t>
            </a:r>
            <a:r>
              <a:rPr lang="en-US" sz="3200" dirty="0"/>
              <a:t> en python</a:t>
            </a:r>
          </a:p>
        </p:txBody>
      </p:sp>
      <p:sp>
        <p:nvSpPr>
          <p:cNvPr id="2" name="Content Placeholder 1"/>
          <p:cNvSpPr>
            <a:spLocks noGrp="1"/>
          </p:cNvSpPr>
          <p:nvPr>
            <p:ph idx="1"/>
          </p:nvPr>
        </p:nvSpPr>
        <p:spPr>
          <a:xfrm>
            <a:off x="212638" y="764705"/>
            <a:ext cx="8718724" cy="1800200"/>
          </a:xfrm>
        </p:spPr>
        <p:txBody>
          <a:bodyPr>
            <a:normAutofit/>
          </a:bodyPr>
          <a:lstStyle/>
          <a:p>
            <a:pPr marL="0" indent="0">
              <a:buNone/>
            </a:pPr>
            <a:r>
              <a:rPr lang="es-MX" sz="2400" b="1" dirty="0"/>
              <a:t>Caracteres de escape</a:t>
            </a:r>
            <a:endParaRPr lang="es-CO" sz="2400" b="1" dirty="0"/>
          </a:p>
          <a:p>
            <a:r>
              <a:rPr lang="es-MX" sz="2000" dirty="0"/>
              <a:t>Los caracteres de escape permiten incluir símbolos especiales dentro de una cadena, usando una barra invertida </a:t>
            </a:r>
            <a:r>
              <a:rPr lang="es-MX" sz="2000" b="1" dirty="0">
                <a:solidFill>
                  <a:srgbClr val="C00000"/>
                </a:solidFill>
              </a:rPr>
              <a:t>\</a:t>
            </a:r>
            <a:r>
              <a:rPr lang="es-MX" sz="2000" dirty="0"/>
              <a:t>.</a:t>
            </a:r>
          </a:p>
          <a:p>
            <a:r>
              <a:rPr lang="es-MX" sz="2000" dirty="0"/>
              <a:t>Se usan cuando el símbolo no se puede escribir directamente (como un salto de línea) o genera conflicto (como una comilla).</a:t>
            </a:r>
          </a:p>
        </p:txBody>
      </p:sp>
      <p:graphicFrame>
        <p:nvGraphicFramePr>
          <p:cNvPr id="3" name="Tabla 2">
            <a:extLst>
              <a:ext uri="{FF2B5EF4-FFF2-40B4-BE49-F238E27FC236}">
                <a16:creationId xmlns:a16="http://schemas.microsoft.com/office/drawing/2014/main" id="{DC07EAFF-6A3E-4FC1-950D-544DF89EF065}"/>
              </a:ext>
            </a:extLst>
          </p:cNvPr>
          <p:cNvGraphicFramePr>
            <a:graphicFrameLocks noGrp="1"/>
          </p:cNvGraphicFramePr>
          <p:nvPr>
            <p:extLst>
              <p:ext uri="{D42A27DB-BD31-4B8C-83A1-F6EECF244321}">
                <p14:modId xmlns:p14="http://schemas.microsoft.com/office/powerpoint/2010/main" val="1064060988"/>
              </p:ext>
            </p:extLst>
          </p:nvPr>
        </p:nvGraphicFramePr>
        <p:xfrm>
          <a:off x="299794" y="2870844"/>
          <a:ext cx="8544412" cy="3222451"/>
        </p:xfrm>
        <a:graphic>
          <a:graphicData uri="http://schemas.openxmlformats.org/drawingml/2006/table">
            <a:tbl>
              <a:tblPr/>
              <a:tblGrid>
                <a:gridCol w="1133563">
                  <a:extLst>
                    <a:ext uri="{9D8B030D-6E8A-4147-A177-3AD203B41FA5}">
                      <a16:colId xmlns:a16="http://schemas.microsoft.com/office/drawing/2014/main" val="1831239153"/>
                    </a:ext>
                  </a:extLst>
                </a:gridCol>
                <a:gridCol w="3234386">
                  <a:extLst>
                    <a:ext uri="{9D8B030D-6E8A-4147-A177-3AD203B41FA5}">
                      <a16:colId xmlns:a16="http://schemas.microsoft.com/office/drawing/2014/main" val="1855371919"/>
                    </a:ext>
                  </a:extLst>
                </a:gridCol>
                <a:gridCol w="1434122">
                  <a:extLst>
                    <a:ext uri="{9D8B030D-6E8A-4147-A177-3AD203B41FA5}">
                      <a16:colId xmlns:a16="http://schemas.microsoft.com/office/drawing/2014/main" val="4292607351"/>
                    </a:ext>
                  </a:extLst>
                </a:gridCol>
                <a:gridCol w="2742341">
                  <a:extLst>
                    <a:ext uri="{9D8B030D-6E8A-4147-A177-3AD203B41FA5}">
                      <a16:colId xmlns:a16="http://schemas.microsoft.com/office/drawing/2014/main" val="2863814042"/>
                    </a:ext>
                  </a:extLst>
                </a:gridCol>
              </a:tblGrid>
              <a:tr h="250420">
                <a:tc>
                  <a:txBody>
                    <a:bodyPr/>
                    <a:lstStyle/>
                    <a:p>
                      <a:r>
                        <a:rPr lang="es-CO" sz="1600" b="1" dirty="0">
                          <a:solidFill>
                            <a:schemeClr val="bg1"/>
                          </a:solidFill>
                        </a:rPr>
                        <a:t>Código</a:t>
                      </a:r>
                    </a:p>
                  </a:txBody>
                  <a:tcPr marL="90653" marR="90653" marT="45326" marB="4532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tx1"/>
                    </a:solidFill>
                  </a:tcPr>
                </a:tc>
                <a:tc>
                  <a:txBody>
                    <a:bodyPr/>
                    <a:lstStyle/>
                    <a:p>
                      <a:r>
                        <a:rPr lang="es-CO" sz="1600" b="1" dirty="0">
                          <a:solidFill>
                            <a:schemeClr val="bg1"/>
                          </a:solidFill>
                        </a:rPr>
                        <a:t>Efecto</a:t>
                      </a:r>
                    </a:p>
                  </a:txBody>
                  <a:tcPr marL="90653" marR="90653" marT="45326" marB="45326" anchor="ctr">
                    <a:lnL>
                      <a:noFill/>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tx1"/>
                    </a:solidFill>
                  </a:tcPr>
                </a:tc>
                <a:tc>
                  <a:txBody>
                    <a:bodyPr/>
                    <a:lstStyle/>
                    <a:p>
                      <a:r>
                        <a:rPr lang="es-CO" sz="1600" b="1">
                          <a:solidFill>
                            <a:schemeClr val="bg1"/>
                          </a:solidFill>
                        </a:rPr>
                        <a:t>Código</a:t>
                      </a:r>
                    </a:p>
                  </a:txBody>
                  <a:tcPr marL="90653" marR="90653" marT="45326" marB="45326" anchor="ctr">
                    <a:lnL w="1905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tx1"/>
                    </a:solidFill>
                  </a:tcPr>
                </a:tc>
                <a:tc>
                  <a:txBody>
                    <a:bodyPr/>
                    <a:lstStyle/>
                    <a:p>
                      <a:r>
                        <a:rPr lang="es-CO" sz="1600" b="1" dirty="0">
                          <a:solidFill>
                            <a:schemeClr val="bg1"/>
                          </a:solidFill>
                        </a:rPr>
                        <a:t>Efecto</a:t>
                      </a:r>
                    </a:p>
                  </a:txBody>
                  <a:tcPr marL="90653" marR="90653" marT="45326" marB="4532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tx1"/>
                    </a:solidFill>
                  </a:tcPr>
                </a:tc>
                <a:extLst>
                  <a:ext uri="{0D108BD9-81ED-4DB2-BD59-A6C34878D82A}">
                    <a16:rowId xmlns:a16="http://schemas.microsoft.com/office/drawing/2014/main" val="478516900"/>
                  </a:ext>
                </a:extLst>
              </a:tr>
              <a:tr h="205462">
                <a:tc>
                  <a:txBody>
                    <a:bodyPr/>
                    <a:lstStyle/>
                    <a:p>
                      <a:r>
                        <a:rPr lang="es-CO" sz="1400" dirty="0">
                          <a:solidFill>
                            <a:srgbClr val="C00000"/>
                          </a:solidFill>
                          <a:latin typeface="Consolas" panose="020B0609020204030204" pitchFamily="49" charset="0"/>
                        </a:rPr>
                        <a:t>\n</a:t>
                      </a:r>
                    </a:p>
                  </a:txBody>
                  <a:tcPr marL="90653" marR="90653" marT="45326" marB="45326" anchor="ctr">
                    <a:lnL w="12700" cap="flat" cmpd="sng" algn="ctr">
                      <a:solidFill>
                        <a:schemeClr val="tx1"/>
                      </a:solidFill>
                      <a:prstDash val="solid"/>
                      <a:round/>
                      <a:headEnd type="none" w="med" len="med"/>
                      <a:tailEnd type="none" w="med" len="med"/>
                    </a:lnL>
                    <a:lnR>
                      <a:noFill/>
                    </a:lnR>
                    <a:lnT>
                      <a:noFill/>
                    </a:lnT>
                    <a:lnB>
                      <a:noFill/>
                    </a:lnB>
                  </a:tcPr>
                </a:tc>
                <a:tc>
                  <a:txBody>
                    <a:bodyPr/>
                    <a:lstStyle/>
                    <a:p>
                      <a:r>
                        <a:rPr lang="es-CO" sz="1600" dirty="0"/>
                        <a:t>Salto de línea</a:t>
                      </a:r>
                    </a:p>
                  </a:txBody>
                  <a:tcPr marL="90653" marR="90653" marT="45326" marB="45326"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algn="l" defTabSz="914400" rtl="0" eaLnBrk="1" latinLnBrk="0" hangingPunct="1"/>
                      <a:r>
                        <a:rPr lang="es-CO" sz="1400" kern="1200">
                          <a:solidFill>
                            <a:srgbClr val="C00000"/>
                          </a:solidFill>
                          <a:latin typeface="Consolas" panose="020B0609020204030204" pitchFamily="49" charset="0"/>
                          <a:ea typeface="+mn-ea"/>
                          <a:cs typeface="+mn-cs"/>
                        </a:rPr>
                        <a:t>\\</a:t>
                      </a:r>
                    </a:p>
                  </a:txBody>
                  <a:tcPr marL="90653" marR="90653" marT="45326" marB="45326" anchor="ctr">
                    <a:lnL w="19050" cap="flat" cmpd="sng" algn="ctr">
                      <a:solidFill>
                        <a:schemeClr val="tx1"/>
                      </a:solidFill>
                      <a:prstDash val="solid"/>
                      <a:round/>
                      <a:headEnd type="none" w="med" len="med"/>
                      <a:tailEnd type="none" w="med" len="med"/>
                    </a:lnL>
                    <a:lnR>
                      <a:noFill/>
                    </a:lnR>
                    <a:lnT>
                      <a:noFill/>
                    </a:lnT>
                    <a:lnB>
                      <a:noFill/>
                    </a:lnB>
                  </a:tcPr>
                </a:tc>
                <a:tc>
                  <a:txBody>
                    <a:bodyPr/>
                    <a:lstStyle/>
                    <a:p>
                      <a:r>
                        <a:rPr lang="es-CO" sz="1600"/>
                        <a:t>Barra invertida</a:t>
                      </a:r>
                    </a:p>
                  </a:txBody>
                  <a:tcPr marL="90653" marR="90653" marT="45326" marB="45326"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962605474"/>
                  </a:ext>
                </a:extLst>
              </a:tr>
              <a:tr h="205462">
                <a:tc>
                  <a:txBody>
                    <a:bodyPr/>
                    <a:lstStyle/>
                    <a:p>
                      <a:r>
                        <a:rPr lang="es-CO" sz="1400" dirty="0">
                          <a:solidFill>
                            <a:srgbClr val="C00000"/>
                          </a:solidFill>
                          <a:latin typeface="Consolas" panose="020B0609020204030204" pitchFamily="49" charset="0"/>
                        </a:rPr>
                        <a:t>\t</a:t>
                      </a:r>
                    </a:p>
                  </a:txBody>
                  <a:tcPr marL="90653" marR="90653" marT="45326" marB="45326" anchor="ctr">
                    <a:lnL w="12700" cap="flat" cmpd="sng" algn="ctr">
                      <a:solidFill>
                        <a:schemeClr val="tx1"/>
                      </a:solidFill>
                      <a:prstDash val="solid"/>
                      <a:round/>
                      <a:headEnd type="none" w="med" len="med"/>
                      <a:tailEnd type="none" w="med" len="med"/>
                    </a:lnL>
                    <a:lnR>
                      <a:noFill/>
                    </a:lnR>
                    <a:lnT>
                      <a:noFill/>
                    </a:lnT>
                    <a:lnB>
                      <a:noFill/>
                    </a:lnB>
                  </a:tcPr>
                </a:tc>
                <a:tc>
                  <a:txBody>
                    <a:bodyPr/>
                    <a:lstStyle/>
                    <a:p>
                      <a:r>
                        <a:rPr lang="es-CO" sz="1600" dirty="0"/>
                        <a:t>Tabulación</a:t>
                      </a:r>
                    </a:p>
                  </a:txBody>
                  <a:tcPr marL="90653" marR="90653" marT="45326" marB="45326"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algn="l" defTabSz="914400" rtl="0" eaLnBrk="1" latinLnBrk="0" hangingPunct="1"/>
                      <a:r>
                        <a:rPr lang="es-CO" sz="1400" kern="1200">
                          <a:solidFill>
                            <a:srgbClr val="C00000"/>
                          </a:solidFill>
                          <a:latin typeface="Consolas" panose="020B0609020204030204" pitchFamily="49" charset="0"/>
                          <a:ea typeface="+mn-ea"/>
                          <a:cs typeface="+mn-cs"/>
                        </a:rPr>
                        <a:t>\r</a:t>
                      </a:r>
                    </a:p>
                  </a:txBody>
                  <a:tcPr marL="90653" marR="90653" marT="45326" marB="45326" anchor="ctr">
                    <a:lnL w="19050" cap="flat" cmpd="sng" algn="ctr">
                      <a:solidFill>
                        <a:schemeClr val="tx1"/>
                      </a:solidFill>
                      <a:prstDash val="solid"/>
                      <a:round/>
                      <a:headEnd type="none" w="med" len="med"/>
                      <a:tailEnd type="none" w="med" len="med"/>
                    </a:lnL>
                    <a:lnR>
                      <a:noFill/>
                    </a:lnR>
                    <a:lnT>
                      <a:noFill/>
                    </a:lnT>
                    <a:lnB>
                      <a:noFill/>
                    </a:lnB>
                  </a:tcPr>
                </a:tc>
                <a:tc>
                  <a:txBody>
                    <a:bodyPr/>
                    <a:lstStyle/>
                    <a:p>
                      <a:r>
                        <a:rPr lang="es-CO" sz="1600"/>
                        <a:t>Retorno de carro</a:t>
                      </a:r>
                    </a:p>
                  </a:txBody>
                  <a:tcPr marL="90653" marR="90653" marT="45326" marB="45326"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861169245"/>
                  </a:ext>
                </a:extLst>
              </a:tr>
              <a:tr h="355240">
                <a:tc>
                  <a:txBody>
                    <a:bodyPr/>
                    <a:lstStyle/>
                    <a:p>
                      <a:r>
                        <a:rPr lang="es-CO" sz="1400" dirty="0">
                          <a:solidFill>
                            <a:srgbClr val="C00000"/>
                          </a:solidFill>
                          <a:latin typeface="Consolas" panose="020B0609020204030204" pitchFamily="49" charset="0"/>
                        </a:rPr>
                        <a:t>\"</a:t>
                      </a:r>
                    </a:p>
                  </a:txBody>
                  <a:tcPr marL="90653" marR="90653" marT="45326" marB="45326" anchor="ctr">
                    <a:lnL w="12700" cap="flat" cmpd="sng" algn="ctr">
                      <a:solidFill>
                        <a:schemeClr val="tx1"/>
                      </a:solidFill>
                      <a:prstDash val="solid"/>
                      <a:round/>
                      <a:headEnd type="none" w="med" len="med"/>
                      <a:tailEnd type="none" w="med" len="med"/>
                    </a:lnL>
                    <a:lnR>
                      <a:noFill/>
                    </a:lnR>
                    <a:lnT>
                      <a:noFill/>
                    </a:lnT>
                    <a:lnB>
                      <a:noFill/>
                    </a:lnB>
                  </a:tcPr>
                </a:tc>
                <a:tc>
                  <a:txBody>
                    <a:bodyPr/>
                    <a:lstStyle/>
                    <a:p>
                      <a:r>
                        <a:rPr lang="es-CO" sz="1600" dirty="0"/>
                        <a:t>Comilla doble</a:t>
                      </a:r>
                    </a:p>
                  </a:txBody>
                  <a:tcPr marL="90653" marR="90653" marT="45326" marB="45326"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algn="l" defTabSz="914400" rtl="0" eaLnBrk="1" latinLnBrk="0" hangingPunct="1"/>
                      <a:r>
                        <a:rPr lang="es-CO" sz="1400" kern="1200">
                          <a:solidFill>
                            <a:srgbClr val="C00000"/>
                          </a:solidFill>
                          <a:latin typeface="Consolas" panose="020B0609020204030204" pitchFamily="49" charset="0"/>
                          <a:ea typeface="+mn-ea"/>
                          <a:cs typeface="+mn-cs"/>
                        </a:rPr>
                        <a:t>\b</a:t>
                      </a:r>
                    </a:p>
                  </a:txBody>
                  <a:tcPr marL="90653" marR="90653" marT="45326" marB="45326" anchor="ctr">
                    <a:lnL w="19050" cap="flat" cmpd="sng" algn="ctr">
                      <a:solidFill>
                        <a:schemeClr val="tx1"/>
                      </a:solidFill>
                      <a:prstDash val="solid"/>
                      <a:round/>
                      <a:headEnd type="none" w="med" len="med"/>
                      <a:tailEnd type="none" w="med" len="med"/>
                    </a:lnL>
                    <a:lnR>
                      <a:noFill/>
                    </a:lnR>
                    <a:lnT>
                      <a:noFill/>
                    </a:lnT>
                    <a:lnB>
                      <a:noFill/>
                    </a:lnB>
                  </a:tcPr>
                </a:tc>
                <a:tc>
                  <a:txBody>
                    <a:bodyPr/>
                    <a:lstStyle/>
                    <a:p>
                      <a:r>
                        <a:rPr lang="es-CO" sz="1600"/>
                        <a:t>Retroceso (backspace)</a:t>
                      </a:r>
                    </a:p>
                  </a:txBody>
                  <a:tcPr marL="90653" marR="90653" marT="45326" marB="45326"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305343050"/>
                  </a:ext>
                </a:extLst>
              </a:tr>
              <a:tr h="205462">
                <a:tc>
                  <a:txBody>
                    <a:bodyPr/>
                    <a:lstStyle/>
                    <a:p>
                      <a:r>
                        <a:rPr lang="es-CO" sz="1400" dirty="0">
                          <a:solidFill>
                            <a:srgbClr val="C00000"/>
                          </a:solidFill>
                          <a:latin typeface="Consolas" panose="020B0609020204030204" pitchFamily="49" charset="0"/>
                        </a:rPr>
                        <a:t>\'</a:t>
                      </a:r>
                    </a:p>
                  </a:txBody>
                  <a:tcPr marL="90653" marR="90653" marT="45326" marB="45326" anchor="ctr">
                    <a:lnL w="12700" cap="flat" cmpd="sng" algn="ctr">
                      <a:solidFill>
                        <a:schemeClr val="tx1"/>
                      </a:solidFill>
                      <a:prstDash val="solid"/>
                      <a:round/>
                      <a:headEnd type="none" w="med" len="med"/>
                      <a:tailEnd type="none" w="med" len="med"/>
                    </a:lnL>
                    <a:lnR>
                      <a:noFill/>
                    </a:lnR>
                    <a:lnT>
                      <a:noFill/>
                    </a:lnT>
                    <a:lnB>
                      <a:noFill/>
                    </a:lnB>
                  </a:tcPr>
                </a:tc>
                <a:tc>
                  <a:txBody>
                    <a:bodyPr/>
                    <a:lstStyle/>
                    <a:p>
                      <a:r>
                        <a:rPr lang="es-CO" sz="1600" dirty="0"/>
                        <a:t>Comilla simple</a:t>
                      </a:r>
                    </a:p>
                  </a:txBody>
                  <a:tcPr marL="90653" marR="90653" marT="45326" marB="45326"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algn="l" defTabSz="914400" rtl="0" eaLnBrk="1" latinLnBrk="0" hangingPunct="1"/>
                      <a:r>
                        <a:rPr lang="es-CO" sz="1400" kern="1200">
                          <a:solidFill>
                            <a:srgbClr val="C00000"/>
                          </a:solidFill>
                          <a:latin typeface="Consolas" panose="020B0609020204030204" pitchFamily="49" charset="0"/>
                          <a:ea typeface="+mn-ea"/>
                          <a:cs typeface="+mn-cs"/>
                        </a:rPr>
                        <a:t>\a</a:t>
                      </a:r>
                    </a:p>
                  </a:txBody>
                  <a:tcPr marL="90653" marR="90653" marT="45326" marB="45326" anchor="ctr">
                    <a:lnL w="19050" cap="flat" cmpd="sng" algn="ctr">
                      <a:solidFill>
                        <a:schemeClr val="tx1"/>
                      </a:solidFill>
                      <a:prstDash val="solid"/>
                      <a:round/>
                      <a:headEnd type="none" w="med" len="med"/>
                      <a:tailEnd type="none" w="med" len="med"/>
                    </a:lnL>
                    <a:lnR>
                      <a:noFill/>
                    </a:lnR>
                    <a:lnT>
                      <a:noFill/>
                    </a:lnT>
                    <a:lnB>
                      <a:noFill/>
                    </a:lnB>
                  </a:tcPr>
                </a:tc>
                <a:tc>
                  <a:txBody>
                    <a:bodyPr/>
                    <a:lstStyle/>
                    <a:p>
                      <a:r>
                        <a:rPr lang="es-CO" sz="1600"/>
                        <a:t>Alerta (sonido)</a:t>
                      </a:r>
                    </a:p>
                  </a:txBody>
                  <a:tcPr marL="90653" marR="90653" marT="45326" marB="45326"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779914173"/>
                  </a:ext>
                </a:extLst>
              </a:tr>
              <a:tr h="205462">
                <a:tc>
                  <a:txBody>
                    <a:bodyPr/>
                    <a:lstStyle/>
                    <a:p>
                      <a:r>
                        <a:rPr lang="es-CO" sz="1400" dirty="0">
                          <a:solidFill>
                            <a:srgbClr val="C00000"/>
                          </a:solidFill>
                          <a:latin typeface="Consolas" panose="020B0609020204030204" pitchFamily="49" charset="0"/>
                        </a:rPr>
                        <a:t>\f</a:t>
                      </a:r>
                    </a:p>
                  </a:txBody>
                  <a:tcPr marL="90653" marR="90653" marT="45326" marB="45326" anchor="ctr">
                    <a:lnL w="12700" cap="flat" cmpd="sng" algn="ctr">
                      <a:solidFill>
                        <a:schemeClr val="tx1"/>
                      </a:solidFill>
                      <a:prstDash val="solid"/>
                      <a:round/>
                      <a:headEnd type="none" w="med" len="med"/>
                      <a:tailEnd type="none" w="med" len="med"/>
                    </a:lnL>
                    <a:lnR>
                      <a:noFill/>
                    </a:lnR>
                    <a:lnT>
                      <a:noFill/>
                    </a:lnT>
                    <a:lnB>
                      <a:noFill/>
                    </a:lnB>
                  </a:tcPr>
                </a:tc>
                <a:tc>
                  <a:txBody>
                    <a:bodyPr/>
                    <a:lstStyle/>
                    <a:p>
                      <a:r>
                        <a:rPr lang="es-CO" sz="1600" dirty="0"/>
                        <a:t>Salto de página</a:t>
                      </a:r>
                    </a:p>
                  </a:txBody>
                  <a:tcPr marL="90653" marR="90653" marT="45326" marB="45326"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algn="l" defTabSz="914400" rtl="0" eaLnBrk="1" latinLnBrk="0" hangingPunct="1"/>
                      <a:r>
                        <a:rPr lang="es-CO" sz="1400" kern="1200" dirty="0">
                          <a:solidFill>
                            <a:srgbClr val="C00000"/>
                          </a:solidFill>
                          <a:latin typeface="Consolas" panose="020B0609020204030204" pitchFamily="49" charset="0"/>
                          <a:ea typeface="+mn-ea"/>
                          <a:cs typeface="+mn-cs"/>
                        </a:rPr>
                        <a:t>\v</a:t>
                      </a:r>
                    </a:p>
                  </a:txBody>
                  <a:tcPr marL="90653" marR="90653" marT="45326" marB="45326" anchor="ctr">
                    <a:lnL w="19050" cap="flat" cmpd="sng" algn="ctr">
                      <a:solidFill>
                        <a:schemeClr val="tx1"/>
                      </a:solidFill>
                      <a:prstDash val="solid"/>
                      <a:round/>
                      <a:headEnd type="none" w="med" len="med"/>
                      <a:tailEnd type="none" w="med" len="med"/>
                    </a:lnL>
                    <a:lnR>
                      <a:noFill/>
                    </a:lnR>
                    <a:lnT>
                      <a:noFill/>
                    </a:lnT>
                    <a:lnB>
                      <a:noFill/>
                    </a:lnB>
                  </a:tcPr>
                </a:tc>
                <a:tc>
                  <a:txBody>
                    <a:bodyPr/>
                    <a:lstStyle/>
                    <a:p>
                      <a:r>
                        <a:rPr lang="es-CO" sz="1600"/>
                        <a:t>Tabulación vertical</a:t>
                      </a:r>
                    </a:p>
                  </a:txBody>
                  <a:tcPr marL="90653" marR="90653" marT="45326" marB="45326"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1429987874"/>
                  </a:ext>
                </a:extLst>
              </a:tr>
              <a:tr h="355240">
                <a:tc>
                  <a:txBody>
                    <a:bodyPr/>
                    <a:lstStyle/>
                    <a:p>
                      <a:r>
                        <a:rPr lang="es-CO" sz="1400" dirty="0">
                          <a:solidFill>
                            <a:srgbClr val="C00000"/>
                          </a:solidFill>
                          <a:latin typeface="Consolas" panose="020B0609020204030204" pitchFamily="49" charset="0"/>
                        </a:rPr>
                        <a:t>\0</a:t>
                      </a:r>
                    </a:p>
                  </a:txBody>
                  <a:tcPr marL="90653" marR="90653" marT="45326" marB="45326" anchor="ctr">
                    <a:lnL w="12700" cap="flat" cmpd="sng" algn="ctr">
                      <a:solidFill>
                        <a:schemeClr val="tx1"/>
                      </a:solidFill>
                      <a:prstDash val="solid"/>
                      <a:round/>
                      <a:headEnd type="none" w="med" len="med"/>
                      <a:tailEnd type="none" w="med" len="med"/>
                    </a:lnL>
                    <a:lnR>
                      <a:noFill/>
                    </a:lnR>
                    <a:lnT>
                      <a:noFill/>
                    </a:lnT>
                    <a:lnB>
                      <a:noFill/>
                    </a:lnB>
                  </a:tcPr>
                </a:tc>
                <a:tc>
                  <a:txBody>
                    <a:bodyPr/>
                    <a:lstStyle/>
                    <a:p>
                      <a:r>
                        <a:rPr lang="es-CO" sz="1600" dirty="0"/>
                        <a:t>Carácter nulo</a:t>
                      </a:r>
                    </a:p>
                  </a:txBody>
                  <a:tcPr marL="90653" marR="90653" marT="45326" marB="45326"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algn="l" defTabSz="914400" rtl="0" eaLnBrk="1" latinLnBrk="0" hangingPunct="1"/>
                      <a:r>
                        <a:rPr lang="es-CO" sz="1400" kern="1200">
                          <a:solidFill>
                            <a:srgbClr val="C00000"/>
                          </a:solidFill>
                          <a:latin typeface="Consolas" panose="020B0609020204030204" pitchFamily="49" charset="0"/>
                          <a:ea typeface="+mn-ea"/>
                          <a:cs typeface="+mn-cs"/>
                        </a:rPr>
                        <a:t>\ooo</a:t>
                      </a:r>
                    </a:p>
                  </a:txBody>
                  <a:tcPr marL="90653" marR="90653" marT="45326" marB="45326" anchor="ctr">
                    <a:lnL w="19050" cap="flat" cmpd="sng" algn="ctr">
                      <a:solidFill>
                        <a:schemeClr val="tx1"/>
                      </a:solidFill>
                      <a:prstDash val="solid"/>
                      <a:round/>
                      <a:headEnd type="none" w="med" len="med"/>
                      <a:tailEnd type="none" w="med" len="med"/>
                    </a:lnL>
                    <a:lnR>
                      <a:noFill/>
                    </a:lnR>
                    <a:lnT>
                      <a:noFill/>
                    </a:lnT>
                    <a:lnB>
                      <a:noFill/>
                    </a:lnB>
                  </a:tcPr>
                </a:tc>
                <a:tc>
                  <a:txBody>
                    <a:bodyPr/>
                    <a:lstStyle/>
                    <a:p>
                      <a:r>
                        <a:rPr lang="es-MX" sz="1600"/>
                        <a:t>Notación octal (ej. \101 → A)</a:t>
                      </a:r>
                    </a:p>
                  </a:txBody>
                  <a:tcPr marL="90653" marR="90653" marT="45326" marB="45326"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518089172"/>
                  </a:ext>
                </a:extLst>
              </a:tr>
              <a:tr h="505019">
                <a:tc>
                  <a:txBody>
                    <a:bodyPr/>
                    <a:lstStyle/>
                    <a:p>
                      <a:r>
                        <a:rPr lang="es-CO" sz="1400" dirty="0">
                          <a:solidFill>
                            <a:srgbClr val="C00000"/>
                          </a:solidFill>
                          <a:latin typeface="Consolas" panose="020B0609020204030204" pitchFamily="49" charset="0"/>
                        </a:rPr>
                        <a:t>\</a:t>
                      </a:r>
                      <a:r>
                        <a:rPr lang="es-CO" sz="1400" dirty="0" err="1">
                          <a:solidFill>
                            <a:srgbClr val="C00000"/>
                          </a:solidFill>
                          <a:latin typeface="Consolas" panose="020B0609020204030204" pitchFamily="49" charset="0"/>
                        </a:rPr>
                        <a:t>xhh</a:t>
                      </a:r>
                      <a:endParaRPr lang="es-CO" sz="1400" dirty="0">
                        <a:solidFill>
                          <a:srgbClr val="C00000"/>
                        </a:solidFill>
                        <a:latin typeface="Consolas" panose="020B0609020204030204" pitchFamily="49" charset="0"/>
                      </a:endParaRPr>
                    </a:p>
                  </a:txBody>
                  <a:tcPr marL="90653" marR="90653" marT="45326" marB="45326" anchor="ctr">
                    <a:lnL w="12700" cap="flat" cmpd="sng" algn="ctr">
                      <a:solidFill>
                        <a:schemeClr val="tx1"/>
                      </a:solidFill>
                      <a:prstDash val="solid"/>
                      <a:round/>
                      <a:headEnd type="none" w="med" len="med"/>
                      <a:tailEnd type="none" w="med" len="med"/>
                    </a:lnL>
                    <a:lnR>
                      <a:noFill/>
                    </a:lnR>
                    <a:lnT>
                      <a:noFill/>
                    </a:lnT>
                    <a:lnB>
                      <a:noFill/>
                    </a:lnB>
                  </a:tcPr>
                </a:tc>
                <a:tc>
                  <a:txBody>
                    <a:bodyPr/>
                    <a:lstStyle/>
                    <a:p>
                      <a:r>
                        <a:rPr lang="es-MX" sz="1600" dirty="0"/>
                        <a:t>Notación hexadecimal (ej. </a:t>
                      </a:r>
                      <a:r>
                        <a:rPr lang="es-MX" sz="1400" dirty="0">
                          <a:solidFill>
                            <a:srgbClr val="C00000"/>
                          </a:solidFill>
                          <a:latin typeface="Consolas" panose="020B0609020204030204" pitchFamily="49" charset="0"/>
                        </a:rPr>
                        <a:t>\x41 → A</a:t>
                      </a:r>
                      <a:r>
                        <a:rPr lang="es-MX" sz="1600" dirty="0"/>
                        <a:t>)</a:t>
                      </a:r>
                    </a:p>
                  </a:txBody>
                  <a:tcPr marL="90653" marR="90653" marT="45326" marB="45326" anchor="ctr">
                    <a:lnL>
                      <a:noFill/>
                    </a:lnL>
                    <a:lnR w="19050" cap="flat" cmpd="sng" algn="ctr">
                      <a:solidFill>
                        <a:schemeClr val="tx1"/>
                      </a:solidFill>
                      <a:prstDash val="solid"/>
                      <a:round/>
                      <a:headEnd type="none" w="med" len="med"/>
                      <a:tailEnd type="none" w="med" len="med"/>
                    </a:lnR>
                    <a:lnT>
                      <a:noFill/>
                    </a:lnT>
                    <a:lnB>
                      <a:noFill/>
                    </a:lnB>
                  </a:tcPr>
                </a:tc>
                <a:tc>
                  <a:txBody>
                    <a:bodyPr/>
                    <a:lstStyle/>
                    <a:p>
                      <a:pPr marL="0" algn="l" defTabSz="914400" rtl="0" eaLnBrk="1" latinLnBrk="0" hangingPunct="1"/>
                      <a:r>
                        <a:rPr lang="es-CO" sz="1400" kern="1200">
                          <a:solidFill>
                            <a:srgbClr val="C00000"/>
                          </a:solidFill>
                          <a:latin typeface="Consolas" panose="020B0609020204030204" pitchFamily="49" charset="0"/>
                          <a:ea typeface="+mn-ea"/>
                          <a:cs typeface="+mn-cs"/>
                        </a:rPr>
                        <a:t>\N{name}</a:t>
                      </a:r>
                    </a:p>
                  </a:txBody>
                  <a:tcPr marL="90653" marR="90653" marT="45326" marB="45326" anchor="ctr">
                    <a:lnL w="19050" cap="flat" cmpd="sng" algn="ctr">
                      <a:solidFill>
                        <a:schemeClr val="tx1"/>
                      </a:solidFill>
                      <a:prstDash val="solid"/>
                      <a:round/>
                      <a:headEnd type="none" w="med" len="med"/>
                      <a:tailEnd type="none" w="med" len="med"/>
                    </a:lnL>
                    <a:lnR>
                      <a:noFill/>
                    </a:lnR>
                    <a:lnT>
                      <a:noFill/>
                    </a:lnT>
                    <a:lnB>
                      <a:noFill/>
                    </a:lnB>
                  </a:tcPr>
                </a:tc>
                <a:tc>
                  <a:txBody>
                    <a:bodyPr/>
                    <a:lstStyle/>
                    <a:p>
                      <a:r>
                        <a:rPr lang="es-CO" sz="1600"/>
                        <a:t>Carácter Unicode por nombre</a:t>
                      </a:r>
                    </a:p>
                  </a:txBody>
                  <a:tcPr marL="90653" marR="90653" marT="45326" marB="45326" anchor="ctr">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419189587"/>
                  </a:ext>
                </a:extLst>
              </a:tr>
              <a:tr h="205462">
                <a:tc>
                  <a:txBody>
                    <a:bodyPr/>
                    <a:lstStyle/>
                    <a:p>
                      <a:r>
                        <a:rPr lang="es-CO" sz="1400" dirty="0">
                          <a:solidFill>
                            <a:srgbClr val="C00000"/>
                          </a:solidFill>
                          <a:latin typeface="Consolas" panose="020B0609020204030204" pitchFamily="49" charset="0"/>
                        </a:rPr>
                        <a:t>\</a:t>
                      </a:r>
                      <a:r>
                        <a:rPr lang="es-CO" sz="1400" dirty="0" err="1">
                          <a:solidFill>
                            <a:srgbClr val="C00000"/>
                          </a:solidFill>
                          <a:latin typeface="Consolas" panose="020B0609020204030204" pitchFamily="49" charset="0"/>
                        </a:rPr>
                        <a:t>uxxxx</a:t>
                      </a:r>
                      <a:endParaRPr lang="es-CO" sz="1400" dirty="0">
                        <a:solidFill>
                          <a:srgbClr val="C00000"/>
                        </a:solidFill>
                        <a:latin typeface="Consolas" panose="020B0609020204030204" pitchFamily="49" charset="0"/>
                      </a:endParaRPr>
                    </a:p>
                  </a:txBody>
                  <a:tcPr marL="90653" marR="90653" marT="45326" marB="45326"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tc>
                  <a:txBody>
                    <a:bodyPr/>
                    <a:lstStyle/>
                    <a:p>
                      <a:r>
                        <a:rPr lang="es-CO" sz="1600" dirty="0"/>
                        <a:t>Unicode 16 bits</a:t>
                      </a:r>
                    </a:p>
                  </a:txBody>
                  <a:tcPr marL="90653" marR="90653" marT="45326" marB="45326" anchor="ctr">
                    <a:lnL>
                      <a:noFill/>
                    </a:lnL>
                    <a:lnR w="1905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s-CO" sz="1400" kern="1200" dirty="0">
                          <a:solidFill>
                            <a:srgbClr val="C00000"/>
                          </a:solidFill>
                          <a:latin typeface="Consolas" panose="020B0609020204030204" pitchFamily="49" charset="0"/>
                          <a:ea typeface="+mn-ea"/>
                          <a:cs typeface="+mn-cs"/>
                        </a:rPr>
                        <a:t>\</a:t>
                      </a:r>
                      <a:r>
                        <a:rPr lang="es-CO" sz="1400" kern="1200" dirty="0" err="1">
                          <a:solidFill>
                            <a:srgbClr val="C00000"/>
                          </a:solidFill>
                          <a:latin typeface="Consolas" panose="020B0609020204030204" pitchFamily="49" charset="0"/>
                          <a:ea typeface="+mn-ea"/>
                          <a:cs typeface="+mn-cs"/>
                        </a:rPr>
                        <a:t>Uxxxxxxxx</a:t>
                      </a:r>
                      <a:endParaRPr lang="es-CO" sz="1400" kern="1200" dirty="0">
                        <a:solidFill>
                          <a:srgbClr val="C00000"/>
                        </a:solidFill>
                        <a:latin typeface="Consolas" panose="020B0609020204030204" pitchFamily="49" charset="0"/>
                        <a:ea typeface="+mn-ea"/>
                        <a:cs typeface="+mn-cs"/>
                      </a:endParaRPr>
                    </a:p>
                  </a:txBody>
                  <a:tcPr marL="90653" marR="90653" marT="45326" marB="45326" anchor="ctr">
                    <a:lnL w="1905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tc>
                  <a:txBody>
                    <a:bodyPr/>
                    <a:lstStyle/>
                    <a:p>
                      <a:r>
                        <a:rPr lang="es-CO" sz="1600" dirty="0"/>
                        <a:t>Unicode 32 bits</a:t>
                      </a:r>
                    </a:p>
                  </a:txBody>
                  <a:tcPr marL="90653" marR="90653" marT="45326" marB="45326"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769019"/>
                  </a:ext>
                </a:extLst>
              </a:tr>
            </a:tbl>
          </a:graphicData>
        </a:graphic>
      </p:graphicFrame>
      <p:pic>
        <p:nvPicPr>
          <p:cNvPr id="11"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C91A4228-85B9-48AF-83FE-099FD1EAD3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117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728357"/>
          </a:xfrm>
        </p:spPr>
        <p:txBody>
          <a:bodyPr/>
          <a:lstStyle/>
          <a:p>
            <a:r>
              <a:rPr lang="en-US" sz="3200" dirty="0" err="1"/>
              <a:t>Sobre</a:t>
            </a:r>
            <a:r>
              <a:rPr lang="en-US" sz="3200" dirty="0"/>
              <a:t> las </a:t>
            </a:r>
            <a:r>
              <a:rPr lang="en-US" sz="3200" dirty="0" err="1"/>
              <a:t>cadenas</a:t>
            </a:r>
            <a:r>
              <a:rPr lang="en-US" sz="3200" dirty="0"/>
              <a:t> en python</a:t>
            </a:r>
          </a:p>
        </p:txBody>
      </p:sp>
      <p:sp>
        <p:nvSpPr>
          <p:cNvPr id="2" name="Content Placeholder 1"/>
          <p:cNvSpPr>
            <a:spLocks noGrp="1"/>
          </p:cNvSpPr>
          <p:nvPr>
            <p:ph idx="1"/>
          </p:nvPr>
        </p:nvSpPr>
        <p:spPr>
          <a:xfrm>
            <a:off x="212638" y="764704"/>
            <a:ext cx="8718724" cy="2376264"/>
          </a:xfrm>
        </p:spPr>
        <p:txBody>
          <a:bodyPr>
            <a:normAutofit lnSpcReduction="10000"/>
          </a:bodyPr>
          <a:lstStyle/>
          <a:p>
            <a:pPr marL="0" indent="0">
              <a:buNone/>
            </a:pPr>
            <a:r>
              <a:rPr lang="es-MX" sz="2400" b="1" dirty="0"/>
              <a:t>Concatenación y repetición</a:t>
            </a:r>
            <a:endParaRPr lang="es-CO" sz="2400" b="1" dirty="0"/>
          </a:p>
          <a:p>
            <a:r>
              <a:rPr lang="es-MX" sz="2000" dirty="0"/>
              <a:t>La barra invertida </a:t>
            </a:r>
            <a:r>
              <a:rPr lang="es-MX" sz="2000" b="1" dirty="0">
                <a:solidFill>
                  <a:srgbClr val="C00000"/>
                </a:solidFill>
                <a:highlight>
                  <a:srgbClr val="FFFF00"/>
                </a:highlight>
                <a:latin typeface="Consolas" panose="020B0609020204030204" pitchFamily="49" charset="0"/>
              </a:rPr>
              <a:t>\</a:t>
            </a:r>
            <a:r>
              <a:rPr lang="es-MX" sz="2000" dirty="0"/>
              <a:t> al final de una línea (fuera de una cadena, o justo antes del salto de línea física del archivo) indica que la instrucción continúa en la siguiente línea.</a:t>
            </a:r>
          </a:p>
          <a:p>
            <a:r>
              <a:rPr lang="es-MX" sz="2000" dirty="0"/>
              <a:t>Es distinto al uso dentro de cadenas de texto (donde </a:t>
            </a:r>
            <a:r>
              <a:rPr lang="es-MX" sz="2100" b="1" dirty="0">
                <a:solidFill>
                  <a:srgbClr val="C00000"/>
                </a:solidFill>
                <a:highlight>
                  <a:srgbClr val="FFFF00"/>
                </a:highlight>
                <a:latin typeface="Consolas" panose="020B0609020204030204" pitchFamily="49" charset="0"/>
              </a:rPr>
              <a:t>\</a:t>
            </a:r>
            <a:r>
              <a:rPr lang="es-MX" sz="2000" dirty="0"/>
              <a:t> inicia un carácter de escape como </a:t>
            </a:r>
            <a:r>
              <a:rPr lang="es-MX" sz="2000" b="1" dirty="0">
                <a:solidFill>
                  <a:srgbClr val="C00000"/>
                </a:solidFill>
                <a:latin typeface="Consolas" panose="020B0609020204030204" pitchFamily="49" charset="0"/>
              </a:rPr>
              <a:t>\n</a:t>
            </a:r>
            <a:r>
              <a:rPr lang="es-MX" sz="2000" dirty="0"/>
              <a:t> o </a:t>
            </a:r>
            <a:r>
              <a:rPr lang="es-MX" sz="2000" b="1" dirty="0">
                <a:solidFill>
                  <a:srgbClr val="C00000"/>
                </a:solidFill>
                <a:latin typeface="Consolas" panose="020B0609020204030204" pitchFamily="49" charset="0"/>
              </a:rPr>
              <a:t>\t</a:t>
            </a:r>
            <a:r>
              <a:rPr lang="es-MX" sz="2000" dirty="0"/>
              <a:t>).</a:t>
            </a:r>
          </a:p>
          <a:p>
            <a:r>
              <a:rPr lang="es-MX" sz="2000" dirty="0"/>
              <a:t>Se usa por legibilidad, cuando una línea de código es demasiado larga.</a:t>
            </a:r>
          </a:p>
        </p:txBody>
      </p:sp>
      <p:sp>
        <p:nvSpPr>
          <p:cNvPr id="8" name="CuadroTexto 7">
            <a:extLst>
              <a:ext uri="{FF2B5EF4-FFF2-40B4-BE49-F238E27FC236}">
                <a16:creationId xmlns:a16="http://schemas.microsoft.com/office/drawing/2014/main" id="{DAD6A86A-1857-46DC-85E2-2742538814E6}"/>
              </a:ext>
            </a:extLst>
          </p:cNvPr>
          <p:cNvSpPr txBox="1"/>
          <p:nvPr/>
        </p:nvSpPr>
        <p:spPr>
          <a:xfrm>
            <a:off x="465093" y="3176125"/>
            <a:ext cx="8213814" cy="1384995"/>
          </a:xfrm>
          <a:prstGeom prst="rect">
            <a:avLst/>
          </a:prstGeom>
          <a:noFill/>
          <a:ln w="12700">
            <a:solidFill>
              <a:schemeClr val="tx1"/>
            </a:solidFill>
          </a:ln>
        </p:spPr>
        <p:txBody>
          <a:bodyPr wrap="square">
            <a:spAutoFit/>
          </a:bodyPr>
          <a:lstStyle/>
          <a:p>
            <a:r>
              <a:rPr lang="es-MX" sz="1400" dirty="0">
                <a:latin typeface="Consolas" panose="020B0609020204030204" pitchFamily="49" charset="0"/>
              </a:rPr>
              <a:t>print("Científico:\</a:t>
            </a:r>
            <a:r>
              <a:rPr lang="es-MX" sz="1400" dirty="0" err="1">
                <a:latin typeface="Consolas" panose="020B0609020204030204" pitchFamily="49" charset="0"/>
              </a:rPr>
              <a:t>tJohn</a:t>
            </a:r>
            <a:r>
              <a:rPr lang="es-MX" sz="1400" dirty="0">
                <a:latin typeface="Consolas" panose="020B0609020204030204" pitchFamily="49" charset="0"/>
              </a:rPr>
              <a:t> </a:t>
            </a:r>
            <a:r>
              <a:rPr lang="es-MX" sz="1400" dirty="0" err="1">
                <a:latin typeface="Consolas" panose="020B0609020204030204" pitchFamily="49" charset="0"/>
              </a:rPr>
              <a:t>von</a:t>
            </a:r>
            <a:r>
              <a:rPr lang="es-MX" sz="1400" dirty="0">
                <a:latin typeface="Consolas" panose="020B0609020204030204" pitchFamily="49" charset="0"/>
              </a:rPr>
              <a:t> Neumann")</a:t>
            </a:r>
          </a:p>
          <a:p>
            <a:r>
              <a:rPr lang="es-MX" sz="1400" dirty="0">
                <a:latin typeface="Consolas" panose="020B0609020204030204" pitchFamily="49" charset="0"/>
              </a:rPr>
              <a:t>print("Área:\t\</a:t>
            </a:r>
            <a:r>
              <a:rPr lang="es-MX" sz="1400" dirty="0" err="1">
                <a:latin typeface="Consolas" panose="020B0609020204030204" pitchFamily="49" charset="0"/>
              </a:rPr>
              <a:t>tMatemáticas</a:t>
            </a:r>
            <a:r>
              <a:rPr lang="es-MX" sz="1400" dirty="0">
                <a:latin typeface="Consolas" panose="020B0609020204030204" pitchFamily="49" charset="0"/>
              </a:rPr>
              <a:t> y Ciencias de la Computación")</a:t>
            </a:r>
          </a:p>
          <a:p>
            <a:r>
              <a:rPr lang="es-MX" sz="1400" dirty="0">
                <a:latin typeface="Consolas" panose="020B0609020204030204" pitchFamily="49" charset="0"/>
              </a:rPr>
              <a:t>print("Frase célebre:\n\"En matemáticas no se entienden las cosas, </a:t>
            </a:r>
            <a:r>
              <a:rPr lang="es-MX" sz="1400" b="1" dirty="0">
                <a:solidFill>
                  <a:srgbClr val="C00000"/>
                </a:solidFill>
                <a:highlight>
                  <a:srgbClr val="FFFF00"/>
                </a:highlight>
                <a:latin typeface="Consolas" panose="020B0609020204030204" pitchFamily="49" charset="0"/>
              </a:rPr>
              <a:t>\</a:t>
            </a:r>
            <a:r>
              <a:rPr lang="es-MX" sz="1400" dirty="0">
                <a:latin typeface="Consolas" panose="020B0609020204030204" pitchFamily="49" charset="0"/>
              </a:rPr>
              <a:t> </a:t>
            </a:r>
          </a:p>
          <a:p>
            <a:r>
              <a:rPr lang="es-MX" sz="1400" dirty="0">
                <a:latin typeface="Consolas" panose="020B0609020204030204" pitchFamily="49" charset="0"/>
              </a:rPr>
              <a:t>       uno simplemente se acostumbra a ellas.\"")</a:t>
            </a:r>
          </a:p>
          <a:p>
            <a:r>
              <a:rPr lang="es-MX" sz="1400" dirty="0">
                <a:latin typeface="Consolas" panose="020B0609020204030204" pitchFamily="49" charset="0"/>
              </a:rPr>
              <a:t>print("Nota:\</a:t>
            </a:r>
            <a:r>
              <a:rPr lang="es-MX" sz="1400" dirty="0" err="1">
                <a:latin typeface="Consolas" panose="020B0609020204030204" pitchFamily="49" charset="0"/>
              </a:rPr>
              <a:t>tPionero</a:t>
            </a:r>
            <a:r>
              <a:rPr lang="es-MX" sz="1400" dirty="0">
                <a:latin typeface="Consolas" panose="020B0609020204030204" pitchFamily="49" charset="0"/>
              </a:rPr>
              <a:t> de la arquitectura \"</a:t>
            </a:r>
            <a:r>
              <a:rPr lang="es-MX" sz="1400" dirty="0" err="1">
                <a:latin typeface="Consolas" panose="020B0609020204030204" pitchFamily="49" charset="0"/>
              </a:rPr>
              <a:t>von</a:t>
            </a:r>
            <a:r>
              <a:rPr lang="es-MX" sz="1400" dirty="0">
                <a:latin typeface="Consolas" panose="020B0609020204030204" pitchFamily="49" charset="0"/>
              </a:rPr>
              <a:t> Neumann\", </a:t>
            </a:r>
            <a:r>
              <a:rPr lang="es-MX" sz="1400" b="1" dirty="0">
                <a:solidFill>
                  <a:srgbClr val="C00000"/>
                </a:solidFill>
                <a:highlight>
                  <a:srgbClr val="FFFF00"/>
                </a:highlight>
                <a:latin typeface="Consolas" panose="020B0609020204030204" pitchFamily="49" charset="0"/>
              </a:rPr>
              <a:t>\</a:t>
            </a:r>
          </a:p>
          <a:p>
            <a:r>
              <a:rPr lang="es-MX" sz="1400" dirty="0">
                <a:latin typeface="Consolas" panose="020B0609020204030204" pitchFamily="49" charset="0"/>
              </a:rPr>
              <a:t>       base de las computadoras modernas.")</a:t>
            </a:r>
            <a:endParaRPr lang="es-CO" sz="1400" dirty="0">
              <a:latin typeface="Consolas" panose="020B0609020204030204" pitchFamily="49" charset="0"/>
            </a:endParaRPr>
          </a:p>
        </p:txBody>
      </p:sp>
      <p:sp>
        <p:nvSpPr>
          <p:cNvPr id="9" name="CuadroTexto 8">
            <a:extLst>
              <a:ext uri="{FF2B5EF4-FFF2-40B4-BE49-F238E27FC236}">
                <a16:creationId xmlns:a16="http://schemas.microsoft.com/office/drawing/2014/main" id="{A550C5C0-72F2-43FF-8194-1DBE9EC57F0E}"/>
              </a:ext>
            </a:extLst>
          </p:cNvPr>
          <p:cNvSpPr txBox="1"/>
          <p:nvPr/>
        </p:nvSpPr>
        <p:spPr>
          <a:xfrm>
            <a:off x="4175956" y="4596277"/>
            <a:ext cx="792088" cy="307777"/>
          </a:xfrm>
          <a:prstGeom prst="rect">
            <a:avLst/>
          </a:prstGeom>
          <a:noFill/>
        </p:spPr>
        <p:txBody>
          <a:bodyPr wrap="square">
            <a:spAutoFit/>
          </a:bodyPr>
          <a:lstStyle/>
          <a:p>
            <a:pPr algn="ctr"/>
            <a:r>
              <a:rPr lang="es-ES" sz="1400" dirty="0">
                <a:hlinkClick r:id="rId2"/>
              </a:rPr>
              <a:t>link</a:t>
            </a:r>
            <a:endParaRPr lang="es-CO" sz="1400" dirty="0"/>
          </a:p>
        </p:txBody>
      </p:sp>
      <p:pic>
        <p:nvPicPr>
          <p:cNvPr id="10" name="Imagen 9">
            <a:extLst>
              <a:ext uri="{FF2B5EF4-FFF2-40B4-BE49-F238E27FC236}">
                <a16:creationId xmlns:a16="http://schemas.microsoft.com/office/drawing/2014/main" id="{BB131E62-79A1-42D5-ABAB-F1D73517F539}"/>
              </a:ext>
            </a:extLst>
          </p:cNvPr>
          <p:cNvPicPr>
            <a:picLocks noChangeAspect="1"/>
          </p:cNvPicPr>
          <p:nvPr/>
        </p:nvPicPr>
        <p:blipFill>
          <a:blip r:embed="rId3"/>
          <a:stretch>
            <a:fillRect/>
          </a:stretch>
        </p:blipFill>
        <p:spPr>
          <a:xfrm>
            <a:off x="336259" y="5088719"/>
            <a:ext cx="8471482" cy="1468031"/>
          </a:xfrm>
          <a:prstGeom prst="rect">
            <a:avLst/>
          </a:prstGeom>
        </p:spPr>
      </p:pic>
      <p:pic>
        <p:nvPicPr>
          <p:cNvPr id="11"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7B6BF3FD-D85F-4F07-BCC4-A34D65352C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5582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728357"/>
          </a:xfrm>
        </p:spPr>
        <p:txBody>
          <a:bodyPr/>
          <a:lstStyle/>
          <a:p>
            <a:r>
              <a:rPr lang="en-US" sz="3200" dirty="0" err="1"/>
              <a:t>Sobre</a:t>
            </a:r>
            <a:r>
              <a:rPr lang="en-US" sz="3200" dirty="0"/>
              <a:t> las </a:t>
            </a:r>
            <a:r>
              <a:rPr lang="en-US" sz="3200" dirty="0" err="1"/>
              <a:t>cadenas</a:t>
            </a:r>
            <a:r>
              <a:rPr lang="en-US" sz="3200" dirty="0"/>
              <a:t> en python</a:t>
            </a:r>
          </a:p>
        </p:txBody>
      </p:sp>
      <p:sp>
        <p:nvSpPr>
          <p:cNvPr id="2" name="Content Placeholder 1"/>
          <p:cNvSpPr>
            <a:spLocks noGrp="1"/>
          </p:cNvSpPr>
          <p:nvPr>
            <p:ph idx="1"/>
          </p:nvPr>
        </p:nvSpPr>
        <p:spPr>
          <a:xfrm>
            <a:off x="212638" y="764704"/>
            <a:ext cx="8718724" cy="2376264"/>
          </a:xfrm>
        </p:spPr>
        <p:txBody>
          <a:bodyPr>
            <a:normAutofit lnSpcReduction="10000"/>
          </a:bodyPr>
          <a:lstStyle/>
          <a:p>
            <a:pPr marL="0" indent="0">
              <a:buNone/>
            </a:pPr>
            <a:r>
              <a:rPr lang="es-MX" sz="2400" b="1" dirty="0"/>
              <a:t>Indexado</a:t>
            </a:r>
            <a:endParaRPr lang="es-CO" sz="2400" b="1" dirty="0"/>
          </a:p>
          <a:p>
            <a:r>
              <a:rPr lang="es-MX" sz="2000" dirty="0"/>
              <a:t>Cada carácter de una cadena tiene una </a:t>
            </a:r>
            <a:r>
              <a:rPr lang="es-MX" sz="2000" b="1" dirty="0"/>
              <a:t>posición</a:t>
            </a:r>
            <a:r>
              <a:rPr lang="es-MX" sz="2000" dirty="0"/>
              <a:t> (</a:t>
            </a:r>
            <a:r>
              <a:rPr lang="es-MX" sz="2000" b="1" dirty="0"/>
              <a:t>índice</a:t>
            </a:r>
            <a:r>
              <a:rPr lang="es-MX" sz="2000" dirty="0"/>
              <a:t>), empezando en </a:t>
            </a:r>
            <a:r>
              <a:rPr lang="es-MX" sz="1800" b="1" dirty="0">
                <a:solidFill>
                  <a:srgbClr val="C00000"/>
                </a:solidFill>
                <a:latin typeface="Consolas" panose="020B0609020204030204" pitchFamily="49" charset="0"/>
              </a:rPr>
              <a:t>0</a:t>
            </a:r>
            <a:r>
              <a:rPr lang="es-MX" sz="2000" dirty="0"/>
              <a:t>.</a:t>
            </a:r>
          </a:p>
          <a:p>
            <a:r>
              <a:rPr lang="es-MX" sz="2000" dirty="0"/>
              <a:t>Se accede a un carácter con </a:t>
            </a:r>
            <a:r>
              <a:rPr lang="es-MX" sz="1800" b="1" dirty="0">
                <a:solidFill>
                  <a:srgbClr val="C00000"/>
                </a:solidFill>
                <a:latin typeface="Consolas" panose="020B0609020204030204" pitchFamily="49" charset="0"/>
              </a:rPr>
              <a:t>cadena[posición]</a:t>
            </a:r>
            <a:r>
              <a:rPr lang="es-MX" sz="2000" dirty="0"/>
              <a:t>.</a:t>
            </a:r>
          </a:p>
          <a:p>
            <a:r>
              <a:rPr lang="es-MX" sz="2000" dirty="0"/>
              <a:t>Los índices negativos cuentan desde el final: </a:t>
            </a:r>
            <a:r>
              <a:rPr lang="es-MX" sz="1800" b="1" dirty="0">
                <a:solidFill>
                  <a:srgbClr val="C00000"/>
                </a:solidFill>
                <a:latin typeface="Consolas" panose="020B0609020204030204" pitchFamily="49" charset="0"/>
              </a:rPr>
              <a:t>-1</a:t>
            </a:r>
            <a:r>
              <a:rPr lang="es-MX" sz="2000" dirty="0"/>
              <a:t> es el último carácter.</a:t>
            </a:r>
          </a:p>
          <a:p>
            <a:r>
              <a:rPr lang="es-MX" sz="2000" dirty="0"/>
              <a:t>El espacio en blanco también es un carácter y cuenta para la indexación.</a:t>
            </a:r>
          </a:p>
          <a:p>
            <a:r>
              <a:rPr lang="es-MX" sz="1800" b="1" dirty="0" err="1">
                <a:solidFill>
                  <a:srgbClr val="C00000"/>
                </a:solidFill>
                <a:latin typeface="Consolas" panose="020B0609020204030204" pitchFamily="49" charset="0"/>
              </a:rPr>
              <a:t>len</a:t>
            </a:r>
            <a:r>
              <a:rPr lang="es-MX" sz="1800" b="1" dirty="0">
                <a:solidFill>
                  <a:srgbClr val="C00000"/>
                </a:solidFill>
                <a:latin typeface="Consolas" panose="020B0609020204030204" pitchFamily="49" charset="0"/>
              </a:rPr>
              <a:t>(cadena)</a:t>
            </a:r>
            <a:r>
              <a:rPr lang="es-MX" sz="2000" dirty="0"/>
              <a:t> devuelve la cantidad total de caracteres.</a:t>
            </a:r>
          </a:p>
        </p:txBody>
      </p:sp>
      <p:sp>
        <p:nvSpPr>
          <p:cNvPr id="8" name="CuadroTexto 7">
            <a:extLst>
              <a:ext uri="{FF2B5EF4-FFF2-40B4-BE49-F238E27FC236}">
                <a16:creationId xmlns:a16="http://schemas.microsoft.com/office/drawing/2014/main" id="{DAD6A86A-1857-46DC-85E2-2742538814E6}"/>
              </a:ext>
            </a:extLst>
          </p:cNvPr>
          <p:cNvSpPr txBox="1"/>
          <p:nvPr/>
        </p:nvSpPr>
        <p:spPr>
          <a:xfrm>
            <a:off x="343538" y="4214902"/>
            <a:ext cx="8456924" cy="1815882"/>
          </a:xfrm>
          <a:prstGeom prst="rect">
            <a:avLst/>
          </a:prstGeom>
          <a:noFill/>
          <a:ln w="12700">
            <a:solidFill>
              <a:schemeClr val="tx1"/>
            </a:solidFill>
          </a:ln>
        </p:spPr>
        <p:txBody>
          <a:bodyPr wrap="square">
            <a:spAutoFit/>
          </a:bodyPr>
          <a:lstStyle/>
          <a:p>
            <a:r>
              <a:rPr lang="es-MX" sz="1400" dirty="0">
                <a:latin typeface="Consolas" panose="020B0609020204030204" pitchFamily="49" charset="0"/>
              </a:rPr>
              <a:t>universidad = "Universidad de Antioquia"</a:t>
            </a:r>
          </a:p>
          <a:p>
            <a:endParaRPr lang="es-MX" sz="1400" dirty="0">
              <a:latin typeface="Consolas" panose="020B0609020204030204" pitchFamily="49" charset="0"/>
            </a:endParaRPr>
          </a:p>
          <a:p>
            <a:r>
              <a:rPr lang="es-MX" sz="1400" dirty="0">
                <a:latin typeface="Consolas" panose="020B0609020204030204" pitchFamily="49" charset="0"/>
              </a:rPr>
              <a:t>print(universidad[0])       # U   (primer carácter)</a:t>
            </a:r>
          </a:p>
          <a:p>
            <a:r>
              <a:rPr lang="es-MX" sz="1400" dirty="0">
                <a:latin typeface="Consolas" panose="020B0609020204030204" pitchFamily="49" charset="0"/>
              </a:rPr>
              <a:t>print(universidad[11])      # espacio (entre "Universidad" y "de")</a:t>
            </a:r>
          </a:p>
          <a:p>
            <a:r>
              <a:rPr lang="es-MX" sz="1400" dirty="0">
                <a:latin typeface="Consolas" panose="020B0609020204030204" pitchFamily="49" charset="0"/>
              </a:rPr>
              <a:t>print(universidad[15])      # A   (inicio de "Antioquia")</a:t>
            </a:r>
          </a:p>
          <a:p>
            <a:r>
              <a:rPr lang="es-MX" sz="1400" dirty="0">
                <a:latin typeface="Consolas" panose="020B0609020204030204" pitchFamily="49" charset="0"/>
              </a:rPr>
              <a:t>print(universidad[-1])      # a   (último carácter)</a:t>
            </a:r>
          </a:p>
          <a:p>
            <a:r>
              <a:rPr lang="es-MX" sz="1400" dirty="0">
                <a:latin typeface="Consolas" panose="020B0609020204030204" pitchFamily="49" charset="0"/>
              </a:rPr>
              <a:t>print(universidad[-9])      # A   (mismo carácter, contado desde el final)</a:t>
            </a:r>
          </a:p>
          <a:p>
            <a:r>
              <a:rPr lang="es-MX" sz="1400" dirty="0">
                <a:latin typeface="Consolas" panose="020B0609020204030204" pitchFamily="49" charset="0"/>
              </a:rPr>
              <a:t>print(</a:t>
            </a:r>
            <a:r>
              <a:rPr lang="es-MX" sz="1400" dirty="0" err="1">
                <a:latin typeface="Consolas" panose="020B0609020204030204" pitchFamily="49" charset="0"/>
              </a:rPr>
              <a:t>len</a:t>
            </a:r>
            <a:r>
              <a:rPr lang="es-MX" sz="1400" dirty="0">
                <a:latin typeface="Consolas" panose="020B0609020204030204" pitchFamily="49" charset="0"/>
              </a:rPr>
              <a:t>(universidad))     # 24  (cantidad total de caracteres, incluye espacios)</a:t>
            </a:r>
            <a:endParaRPr lang="es-CO" sz="1400" dirty="0">
              <a:latin typeface="Consolas" panose="020B0609020204030204" pitchFamily="49" charset="0"/>
            </a:endParaRPr>
          </a:p>
        </p:txBody>
      </p:sp>
      <p:sp>
        <p:nvSpPr>
          <p:cNvPr id="9" name="CuadroTexto 8">
            <a:extLst>
              <a:ext uri="{FF2B5EF4-FFF2-40B4-BE49-F238E27FC236}">
                <a16:creationId xmlns:a16="http://schemas.microsoft.com/office/drawing/2014/main" id="{A550C5C0-72F2-43FF-8194-1DBE9EC57F0E}"/>
              </a:ext>
            </a:extLst>
          </p:cNvPr>
          <p:cNvSpPr txBox="1"/>
          <p:nvPr/>
        </p:nvSpPr>
        <p:spPr>
          <a:xfrm>
            <a:off x="4155988" y="6093296"/>
            <a:ext cx="792088" cy="307777"/>
          </a:xfrm>
          <a:prstGeom prst="rect">
            <a:avLst/>
          </a:prstGeom>
          <a:noFill/>
        </p:spPr>
        <p:txBody>
          <a:bodyPr wrap="square">
            <a:spAutoFit/>
          </a:bodyPr>
          <a:lstStyle/>
          <a:p>
            <a:pPr algn="ctr"/>
            <a:r>
              <a:rPr lang="es-ES" sz="1400" dirty="0">
                <a:hlinkClick r:id="rId2"/>
              </a:rPr>
              <a:t>link</a:t>
            </a:r>
            <a:endParaRPr lang="es-CO" sz="1400" dirty="0"/>
          </a:p>
        </p:txBody>
      </p:sp>
      <p:pic>
        <p:nvPicPr>
          <p:cNvPr id="4" name="Imagen 3">
            <a:extLst>
              <a:ext uri="{FF2B5EF4-FFF2-40B4-BE49-F238E27FC236}">
                <a16:creationId xmlns:a16="http://schemas.microsoft.com/office/drawing/2014/main" id="{2023F5D5-6CDB-44A7-A168-798972C371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3538" y="2855282"/>
            <a:ext cx="8456924" cy="1357408"/>
          </a:xfrm>
          <a:prstGeom prst="rect">
            <a:avLst/>
          </a:prstGeom>
        </p:spPr>
      </p:pic>
      <p:pic>
        <p:nvPicPr>
          <p:cNvPr id="11"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E4CB0431-1739-4C77-B39D-A83D36970A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316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728357"/>
          </a:xfrm>
        </p:spPr>
        <p:txBody>
          <a:bodyPr/>
          <a:lstStyle/>
          <a:p>
            <a:r>
              <a:rPr lang="en-US" sz="3200" dirty="0" err="1"/>
              <a:t>Sobre</a:t>
            </a:r>
            <a:r>
              <a:rPr lang="en-US" sz="3200" dirty="0"/>
              <a:t> las </a:t>
            </a:r>
            <a:r>
              <a:rPr lang="en-US" sz="3200" dirty="0" err="1"/>
              <a:t>cadenas</a:t>
            </a:r>
            <a:r>
              <a:rPr lang="en-US" sz="3200" dirty="0"/>
              <a:t> en python</a:t>
            </a:r>
          </a:p>
        </p:txBody>
      </p:sp>
      <p:sp>
        <p:nvSpPr>
          <p:cNvPr id="2" name="Content Placeholder 1"/>
          <p:cNvSpPr>
            <a:spLocks noGrp="1"/>
          </p:cNvSpPr>
          <p:nvPr>
            <p:ph idx="1"/>
          </p:nvPr>
        </p:nvSpPr>
        <p:spPr>
          <a:xfrm>
            <a:off x="212638" y="764704"/>
            <a:ext cx="8718724" cy="2376264"/>
          </a:xfrm>
        </p:spPr>
        <p:txBody>
          <a:bodyPr>
            <a:normAutofit fontScale="92500"/>
          </a:bodyPr>
          <a:lstStyle/>
          <a:p>
            <a:pPr marL="0" indent="0">
              <a:buNone/>
            </a:pPr>
            <a:r>
              <a:rPr lang="es-MX" sz="2400" b="1" dirty="0"/>
              <a:t>Slicing (rebanado)</a:t>
            </a:r>
            <a:endParaRPr lang="es-CO" sz="2400" b="1" dirty="0"/>
          </a:p>
          <a:p>
            <a:r>
              <a:rPr lang="es-MX" sz="2000" dirty="0"/>
              <a:t>El </a:t>
            </a:r>
            <a:r>
              <a:rPr lang="es-MX" sz="2000" b="1" dirty="0"/>
              <a:t>slicing</a:t>
            </a:r>
            <a:r>
              <a:rPr lang="es-MX" sz="2000" dirty="0"/>
              <a:t> permite extraer una </a:t>
            </a:r>
            <a:r>
              <a:rPr lang="es-MX" sz="2000" b="1" dirty="0"/>
              <a:t>porción</a:t>
            </a:r>
            <a:r>
              <a:rPr lang="es-MX" sz="2000" dirty="0"/>
              <a:t> (</a:t>
            </a:r>
            <a:r>
              <a:rPr lang="es-MX" sz="2000" b="1" dirty="0"/>
              <a:t>subcadena</a:t>
            </a:r>
            <a:r>
              <a:rPr lang="es-MX" sz="2000" dirty="0"/>
              <a:t>) usando </a:t>
            </a:r>
            <a:r>
              <a:rPr lang="es-MX" sz="1900" b="1" dirty="0">
                <a:solidFill>
                  <a:srgbClr val="C00000"/>
                </a:solidFill>
                <a:latin typeface="Consolas" panose="020B0609020204030204" pitchFamily="49" charset="0"/>
              </a:rPr>
              <a:t>cadena[inicio:fin]</a:t>
            </a:r>
            <a:r>
              <a:rPr lang="es-MX" sz="2000" dirty="0"/>
              <a:t>.</a:t>
            </a:r>
          </a:p>
          <a:p>
            <a:r>
              <a:rPr lang="es-MX" sz="2000" dirty="0"/>
              <a:t>El carácter en la posición </a:t>
            </a:r>
            <a:r>
              <a:rPr lang="es-MX" sz="1900" b="1" dirty="0">
                <a:solidFill>
                  <a:srgbClr val="C00000"/>
                </a:solidFill>
                <a:latin typeface="Consolas" panose="020B0609020204030204" pitchFamily="49" charset="0"/>
              </a:rPr>
              <a:t>inicio</a:t>
            </a:r>
            <a:r>
              <a:rPr lang="es-MX" sz="2000" dirty="0"/>
              <a:t> </a:t>
            </a:r>
            <a:r>
              <a:rPr lang="es-MX" sz="2000" b="1" dirty="0"/>
              <a:t>sí se incluye</a:t>
            </a:r>
            <a:r>
              <a:rPr lang="es-MX" sz="2000" dirty="0"/>
              <a:t>; el de la posición </a:t>
            </a:r>
            <a:r>
              <a:rPr lang="es-MX" sz="1900" b="1" dirty="0">
                <a:solidFill>
                  <a:srgbClr val="C00000"/>
                </a:solidFill>
                <a:latin typeface="Consolas" panose="020B0609020204030204" pitchFamily="49" charset="0"/>
              </a:rPr>
              <a:t>fin</a:t>
            </a:r>
            <a:r>
              <a:rPr lang="es-MX" sz="2000" dirty="0"/>
              <a:t> </a:t>
            </a:r>
            <a:r>
              <a:rPr lang="es-MX" sz="2000" b="1" dirty="0"/>
              <a:t>no se incluye</a:t>
            </a:r>
            <a:r>
              <a:rPr lang="es-MX" sz="2000" dirty="0"/>
              <a:t>.</a:t>
            </a:r>
          </a:p>
          <a:p>
            <a:r>
              <a:rPr lang="es-MX" sz="2000" dirty="0"/>
              <a:t>Si se omite inicio, empieza desde el principio (</a:t>
            </a:r>
            <a:r>
              <a:rPr lang="es-MX" sz="1900" b="1" dirty="0">
                <a:solidFill>
                  <a:srgbClr val="C00000"/>
                </a:solidFill>
                <a:latin typeface="Consolas" panose="020B0609020204030204" pitchFamily="49" charset="0"/>
              </a:rPr>
              <a:t>0</a:t>
            </a:r>
            <a:r>
              <a:rPr lang="es-MX" sz="2000" dirty="0"/>
              <a:t>).</a:t>
            </a:r>
          </a:p>
          <a:p>
            <a:r>
              <a:rPr lang="es-MX" sz="2000" dirty="0"/>
              <a:t>Si se omite fin, llega hasta el final de la cadena.</a:t>
            </a:r>
          </a:p>
          <a:p>
            <a:r>
              <a:rPr lang="es-MX" sz="2000" dirty="0"/>
              <a:t>Se puede agregar un tercer valor </a:t>
            </a:r>
            <a:r>
              <a:rPr lang="es-MX" sz="1900" b="1" dirty="0">
                <a:solidFill>
                  <a:srgbClr val="C00000"/>
                </a:solidFill>
                <a:latin typeface="Consolas" panose="020B0609020204030204" pitchFamily="49" charset="0"/>
              </a:rPr>
              <a:t>[inicio:fin:paso]</a:t>
            </a:r>
            <a:r>
              <a:rPr lang="es-MX" sz="2000" dirty="0"/>
              <a:t> para saltar caracteres.</a:t>
            </a:r>
          </a:p>
        </p:txBody>
      </p:sp>
      <p:sp>
        <p:nvSpPr>
          <p:cNvPr id="8" name="CuadroTexto 7">
            <a:extLst>
              <a:ext uri="{FF2B5EF4-FFF2-40B4-BE49-F238E27FC236}">
                <a16:creationId xmlns:a16="http://schemas.microsoft.com/office/drawing/2014/main" id="{DAD6A86A-1857-46DC-85E2-2742538814E6}"/>
              </a:ext>
            </a:extLst>
          </p:cNvPr>
          <p:cNvSpPr txBox="1"/>
          <p:nvPr/>
        </p:nvSpPr>
        <p:spPr>
          <a:xfrm>
            <a:off x="343538" y="4550564"/>
            <a:ext cx="8456924" cy="1815882"/>
          </a:xfrm>
          <a:prstGeom prst="rect">
            <a:avLst/>
          </a:prstGeom>
          <a:noFill/>
          <a:ln w="12700">
            <a:solidFill>
              <a:schemeClr val="tx1"/>
            </a:solidFill>
          </a:ln>
        </p:spPr>
        <p:txBody>
          <a:bodyPr wrap="square">
            <a:spAutoFit/>
          </a:bodyPr>
          <a:lstStyle/>
          <a:p>
            <a:r>
              <a:rPr lang="es-MX" sz="1400" dirty="0">
                <a:latin typeface="Consolas" panose="020B0609020204030204" pitchFamily="49" charset="0"/>
              </a:rPr>
              <a:t>universidad = "Universidad de Antioquia"</a:t>
            </a:r>
          </a:p>
          <a:p>
            <a:endParaRPr lang="es-MX" sz="1400" dirty="0">
              <a:latin typeface="Consolas" panose="020B0609020204030204" pitchFamily="49" charset="0"/>
            </a:endParaRPr>
          </a:p>
          <a:p>
            <a:r>
              <a:rPr lang="es-MX" sz="1400" dirty="0">
                <a:latin typeface="Consolas" panose="020B0609020204030204" pitchFamily="49" charset="0"/>
              </a:rPr>
              <a:t>print(universidad[0:11])     # Universidad</a:t>
            </a:r>
          </a:p>
          <a:p>
            <a:r>
              <a:rPr lang="es-MX" sz="1400" dirty="0">
                <a:latin typeface="Consolas" panose="020B0609020204030204" pitchFamily="49" charset="0"/>
              </a:rPr>
              <a:t>print(universidad[12:14])    # de</a:t>
            </a:r>
          </a:p>
          <a:p>
            <a:r>
              <a:rPr lang="es-MX" sz="1400" dirty="0">
                <a:latin typeface="Consolas" panose="020B0609020204030204" pitchFamily="49" charset="0"/>
              </a:rPr>
              <a:t>print(universidad[15:])      # Antioquia</a:t>
            </a:r>
          </a:p>
          <a:p>
            <a:r>
              <a:rPr lang="es-MX" sz="1400" dirty="0">
                <a:latin typeface="Consolas" panose="020B0609020204030204" pitchFamily="49" charset="0"/>
              </a:rPr>
              <a:t>print(universidad[:11])      # Universidad</a:t>
            </a:r>
          </a:p>
          <a:p>
            <a:r>
              <a:rPr lang="es-MX" sz="1400" dirty="0">
                <a:latin typeface="Consolas" panose="020B0609020204030204" pitchFamily="49" charset="0"/>
              </a:rPr>
              <a:t>print(universidad[-9:])      # Antioquia (usando índice negativo)</a:t>
            </a:r>
          </a:p>
          <a:p>
            <a:r>
              <a:rPr lang="es-MX" sz="1400" dirty="0">
                <a:latin typeface="Consolas" panose="020B0609020204030204" pitchFamily="49" charset="0"/>
              </a:rPr>
              <a:t>print(universidad[::2])      # Uiestddatoqi (un carácter sí, uno no)</a:t>
            </a:r>
            <a:endParaRPr lang="es-CO" sz="1400" dirty="0">
              <a:latin typeface="Consolas" panose="020B0609020204030204" pitchFamily="49" charset="0"/>
            </a:endParaRPr>
          </a:p>
        </p:txBody>
      </p:sp>
      <p:sp>
        <p:nvSpPr>
          <p:cNvPr id="9" name="CuadroTexto 8">
            <a:extLst>
              <a:ext uri="{FF2B5EF4-FFF2-40B4-BE49-F238E27FC236}">
                <a16:creationId xmlns:a16="http://schemas.microsoft.com/office/drawing/2014/main" id="{A550C5C0-72F2-43FF-8194-1DBE9EC57F0E}"/>
              </a:ext>
            </a:extLst>
          </p:cNvPr>
          <p:cNvSpPr txBox="1"/>
          <p:nvPr/>
        </p:nvSpPr>
        <p:spPr>
          <a:xfrm>
            <a:off x="4175956" y="6426963"/>
            <a:ext cx="792088" cy="307777"/>
          </a:xfrm>
          <a:prstGeom prst="rect">
            <a:avLst/>
          </a:prstGeom>
          <a:noFill/>
        </p:spPr>
        <p:txBody>
          <a:bodyPr wrap="square">
            <a:spAutoFit/>
          </a:bodyPr>
          <a:lstStyle/>
          <a:p>
            <a:pPr algn="ctr"/>
            <a:r>
              <a:rPr lang="es-ES" sz="1400" dirty="0">
                <a:hlinkClick r:id="rId2"/>
              </a:rPr>
              <a:t>link</a:t>
            </a:r>
            <a:endParaRPr lang="es-CO" sz="1400" dirty="0"/>
          </a:p>
        </p:txBody>
      </p:sp>
      <p:pic>
        <p:nvPicPr>
          <p:cNvPr id="4" name="Imagen 3">
            <a:extLst>
              <a:ext uri="{FF2B5EF4-FFF2-40B4-BE49-F238E27FC236}">
                <a16:creationId xmlns:a16="http://schemas.microsoft.com/office/drawing/2014/main" id="{2023F5D5-6CDB-44A7-A168-798972C371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3538" y="3162898"/>
            <a:ext cx="8456924" cy="1357408"/>
          </a:xfrm>
          <a:prstGeom prst="rect">
            <a:avLst/>
          </a:prstGeom>
        </p:spPr>
      </p:pic>
      <p:pic>
        <p:nvPicPr>
          <p:cNvPr id="7"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5B52C8C3-7CEC-4A46-B084-3AFF8B0E16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21329" y="0"/>
            <a:ext cx="722671" cy="72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3461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289109"/>
            <a:ext cx="7886700" cy="1116540"/>
          </a:xfrm>
        </p:spPr>
        <p:txBody>
          <a:bodyPr/>
          <a:lstStyle/>
          <a:p>
            <a:r>
              <a:rPr lang="en-US" sz="3200" dirty="0"/>
              <a:t>Mostrando la salida con la instrucción </a:t>
            </a:r>
            <a:r>
              <a:rPr lang="en-US" sz="3200" dirty="0">
                <a:latin typeface="Consolas" panose="020B0609020204030204" pitchFamily="49" charset="0"/>
              </a:rPr>
              <a:t>print</a:t>
            </a:r>
          </a:p>
        </p:txBody>
      </p:sp>
      <p:sp>
        <p:nvSpPr>
          <p:cNvPr id="2" name="Content Placeholder 1"/>
          <p:cNvSpPr>
            <a:spLocks noGrp="1"/>
          </p:cNvSpPr>
          <p:nvPr>
            <p:ph idx="1"/>
          </p:nvPr>
        </p:nvSpPr>
        <p:spPr>
          <a:xfrm>
            <a:off x="272113" y="1217952"/>
            <a:ext cx="8620180" cy="2679072"/>
          </a:xfrm>
        </p:spPr>
        <p:txBody>
          <a:bodyPr>
            <a:normAutofit fontScale="92500" lnSpcReduction="10000"/>
          </a:bodyPr>
          <a:lstStyle/>
          <a:p>
            <a:pPr marL="0" indent="0">
              <a:buNone/>
            </a:pPr>
            <a:r>
              <a:rPr lang="en-US" sz="2600" b="1" dirty="0"/>
              <a:t>Instrucción </a:t>
            </a:r>
            <a:r>
              <a:rPr lang="en-US" sz="2600" b="1" dirty="0">
                <a:latin typeface="Consolas" panose="020B0609020204030204" pitchFamily="49" charset="0"/>
              </a:rPr>
              <a:t>print</a:t>
            </a:r>
          </a:p>
          <a:p>
            <a:r>
              <a:rPr lang="en-US" sz="2200" dirty="0"/>
              <a:t>La salida en </a:t>
            </a:r>
            <a:r>
              <a:rPr lang="es-CO" sz="2200" dirty="0"/>
              <a:t>pantalla</a:t>
            </a:r>
            <a:r>
              <a:rPr lang="en-US" sz="2200" dirty="0"/>
              <a:t> se </a:t>
            </a:r>
            <a:r>
              <a:rPr lang="es-CO" sz="2200" dirty="0"/>
              <a:t>realiza</a:t>
            </a:r>
            <a:r>
              <a:rPr lang="en-US" sz="2200" dirty="0"/>
              <a:t> usando la </a:t>
            </a:r>
            <a:r>
              <a:rPr lang="es-CO" sz="2200" dirty="0"/>
              <a:t>función</a:t>
            </a:r>
            <a:r>
              <a:rPr lang="en-US" sz="2200" dirty="0"/>
              <a:t> </a:t>
            </a:r>
            <a:r>
              <a:rPr lang="en-US" sz="2000" b="1" dirty="0">
                <a:solidFill>
                  <a:srgbClr val="C00000"/>
                </a:solidFill>
                <a:latin typeface="Consolas" panose="020B0609020204030204" pitchFamily="49" charset="0"/>
              </a:rPr>
              <a:t>print</a:t>
            </a:r>
            <a:r>
              <a:rPr lang="en-US" sz="2200" dirty="0"/>
              <a:t>.</a:t>
            </a:r>
          </a:p>
          <a:p>
            <a:r>
              <a:rPr lang="es-MX" sz="2200" dirty="0"/>
              <a:t>Muestra en pantalla texto, números o el resultado de una operación.</a:t>
            </a:r>
          </a:p>
          <a:p>
            <a:r>
              <a:rPr lang="es-MX" sz="2200" dirty="0"/>
              <a:t>Todo lo que va dentro de los paréntesis se muestra tal cual.</a:t>
            </a:r>
          </a:p>
          <a:p>
            <a:r>
              <a:rPr lang="es-MX" sz="2200" dirty="0"/>
              <a:t>El texto (cadenas de caracteres) se escribe entre comillas </a:t>
            </a:r>
            <a:r>
              <a:rPr lang="es-MX" sz="2200" b="1" dirty="0">
                <a:solidFill>
                  <a:srgbClr val="C00000"/>
                </a:solidFill>
                <a:latin typeface="Consolas" panose="020B0609020204030204" pitchFamily="49" charset="0"/>
              </a:rPr>
              <a:t>" "</a:t>
            </a:r>
            <a:r>
              <a:rPr lang="es-MX" sz="2200" dirty="0"/>
              <a:t> o </a:t>
            </a:r>
            <a:r>
              <a:rPr lang="es-MX" sz="2200" b="1" dirty="0">
                <a:solidFill>
                  <a:srgbClr val="C00000"/>
                </a:solidFill>
                <a:latin typeface="Consolas" panose="020B0609020204030204" pitchFamily="49" charset="0"/>
              </a:rPr>
              <a:t>' '</a:t>
            </a:r>
            <a:r>
              <a:rPr lang="es-MX" sz="2200" dirty="0"/>
              <a:t>.</a:t>
            </a:r>
          </a:p>
          <a:p>
            <a:r>
              <a:rPr lang="es-MX" sz="2200" dirty="0"/>
              <a:t>Se pueden imprimir varios valores separados por comas.</a:t>
            </a:r>
          </a:p>
          <a:p>
            <a:r>
              <a:rPr lang="es-MX" sz="2200" dirty="0"/>
              <a:t>Cada llamado a </a:t>
            </a:r>
            <a:r>
              <a:rPr lang="es-MX" sz="2000" b="1" dirty="0">
                <a:solidFill>
                  <a:srgbClr val="C00000"/>
                </a:solidFill>
                <a:latin typeface="Consolas" panose="020B0609020204030204" pitchFamily="49" charset="0"/>
              </a:rPr>
              <a:t>print()</a:t>
            </a:r>
            <a:r>
              <a:rPr lang="es-MX" sz="2200" dirty="0"/>
              <a:t> inicia en una nueva línea.</a:t>
            </a:r>
            <a:endParaRPr lang="en-US" sz="2200" dirty="0"/>
          </a:p>
        </p:txBody>
      </p:sp>
      <p:sp>
        <p:nvSpPr>
          <p:cNvPr id="12" name="CuadroTexto 11">
            <a:extLst>
              <a:ext uri="{FF2B5EF4-FFF2-40B4-BE49-F238E27FC236}">
                <a16:creationId xmlns:a16="http://schemas.microsoft.com/office/drawing/2014/main" id="{90CA1E44-0373-4DDC-9A94-DE95D9208B91}"/>
              </a:ext>
            </a:extLst>
          </p:cNvPr>
          <p:cNvSpPr txBox="1"/>
          <p:nvPr/>
        </p:nvSpPr>
        <p:spPr>
          <a:xfrm>
            <a:off x="467545" y="4077072"/>
            <a:ext cx="4248472" cy="1600438"/>
          </a:xfrm>
          <a:prstGeom prst="rect">
            <a:avLst/>
          </a:prstGeom>
          <a:noFill/>
          <a:ln>
            <a:solidFill>
              <a:schemeClr val="tx1"/>
            </a:solidFill>
            <a:prstDash val="solid"/>
          </a:ln>
        </p:spPr>
        <p:txBody>
          <a:bodyPr wrap="square" rtlCol="0">
            <a:spAutoFit/>
          </a:bodyPr>
          <a:lstStyle/>
          <a:p>
            <a:r>
              <a:rPr lang="es-MX" sz="1600" dirty="0">
                <a:latin typeface="Consolas" panose="020B0609020204030204" pitchFamily="49" charset="0"/>
              </a:rPr>
              <a:t>print("Universidad de Antioquia")</a:t>
            </a:r>
          </a:p>
          <a:p>
            <a:r>
              <a:rPr lang="es-MX" sz="1600" dirty="0">
                <a:latin typeface="Consolas" panose="020B0609020204030204" pitchFamily="49" charset="0"/>
              </a:rPr>
              <a:t>print('Fernando </a:t>
            </a:r>
            <a:r>
              <a:rPr lang="es-MX" sz="1600" dirty="0" err="1">
                <a:latin typeface="Consolas" panose="020B0609020204030204" pitchFamily="49" charset="0"/>
              </a:rPr>
              <a:t>Perez</a:t>
            </a:r>
            <a:r>
              <a:rPr lang="es-MX" sz="1600" dirty="0">
                <a:latin typeface="Consolas" panose="020B0609020204030204" pitchFamily="49" charset="0"/>
              </a:rPr>
              <a:t> creo </a:t>
            </a:r>
            <a:r>
              <a:rPr lang="es-MX" sz="1600" dirty="0" err="1">
                <a:latin typeface="Consolas" panose="020B0609020204030204" pitchFamily="49" charset="0"/>
              </a:rPr>
              <a:t>iPython</a:t>
            </a:r>
            <a:r>
              <a:rPr lang="es-MX" sz="1600" dirty="0">
                <a:latin typeface="Consolas" panose="020B0609020204030204" pitchFamily="49" charset="0"/>
              </a:rPr>
              <a:t>')</a:t>
            </a:r>
          </a:p>
          <a:p>
            <a:r>
              <a:rPr lang="es-MX" sz="1600" dirty="0">
                <a:latin typeface="Consolas" panose="020B0609020204030204" pitchFamily="49" charset="0"/>
              </a:rPr>
              <a:t>print(2+5)</a:t>
            </a:r>
          </a:p>
          <a:p>
            <a:r>
              <a:rPr lang="es-MX" sz="1600" dirty="0">
                <a:latin typeface="Consolas" panose="020B0609020204030204" pitchFamily="49" charset="0"/>
              </a:rPr>
              <a:t>print('2+5')</a:t>
            </a:r>
          </a:p>
          <a:p>
            <a:r>
              <a:rPr lang="es-MX" sz="1600" dirty="0">
                <a:latin typeface="Consolas" panose="020B0609020204030204" pitchFamily="49" charset="0"/>
              </a:rPr>
              <a:t>print(2,3.0, "hola")</a:t>
            </a:r>
          </a:p>
          <a:p>
            <a:r>
              <a:rPr lang="es-MX" sz="1600" dirty="0">
                <a:latin typeface="Consolas" panose="020B0609020204030204" pitchFamily="49" charset="0"/>
              </a:rPr>
              <a:t>print("Amarillo", "azul", "rojo")</a:t>
            </a:r>
            <a:endParaRPr lang="es-CO" sz="1600" dirty="0">
              <a:latin typeface="Consolas" panose="020B0609020204030204" pitchFamily="49" charset="0"/>
            </a:endParaRPr>
          </a:p>
        </p:txBody>
      </p:sp>
      <p:grpSp>
        <p:nvGrpSpPr>
          <p:cNvPr id="16" name="Grupo 15">
            <a:extLst>
              <a:ext uri="{FF2B5EF4-FFF2-40B4-BE49-F238E27FC236}">
                <a16:creationId xmlns:a16="http://schemas.microsoft.com/office/drawing/2014/main" id="{1AD527B7-8A93-457A-8F42-F1A8D931590F}"/>
              </a:ext>
            </a:extLst>
          </p:cNvPr>
          <p:cNvGrpSpPr/>
          <p:nvPr/>
        </p:nvGrpSpPr>
        <p:grpSpPr>
          <a:xfrm>
            <a:off x="5377505" y="3933056"/>
            <a:ext cx="3266824" cy="2679072"/>
            <a:chOff x="5377505" y="3717032"/>
            <a:chExt cx="3266824" cy="2679072"/>
          </a:xfrm>
        </p:grpSpPr>
        <p:pic>
          <p:nvPicPr>
            <p:cNvPr id="13" name="Picture 2" descr="http://t2.gstatic.com/images?q=tbn:ANd9GcS51PGLkp34nPs-LewfkgAfjdZsyder21fNGFoRiZ_A6x7txo3e">
              <a:extLst>
                <a:ext uri="{FF2B5EF4-FFF2-40B4-BE49-F238E27FC236}">
                  <a16:creationId xmlns:a16="http://schemas.microsoft.com/office/drawing/2014/main" id="{DF41FF1D-0BAC-4ED8-8F5A-593D976044F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77505" y="3717032"/>
              <a:ext cx="3266824" cy="2679072"/>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3736F530-5BD9-4DB2-A16B-8E30DB933837}"/>
                </a:ext>
              </a:extLst>
            </p:cNvPr>
            <p:cNvSpPr txBox="1"/>
            <p:nvPr/>
          </p:nvSpPr>
          <p:spPr>
            <a:xfrm>
              <a:off x="5478849" y="3904915"/>
              <a:ext cx="2981583" cy="1015663"/>
            </a:xfrm>
            <a:prstGeom prst="rect">
              <a:avLst/>
            </a:prstGeom>
            <a:noFill/>
          </p:spPr>
          <p:txBody>
            <a:bodyPr wrap="square">
              <a:spAutoFit/>
            </a:bodyPr>
            <a:lstStyle/>
            <a:p>
              <a:r>
                <a:rPr lang="es-CO" sz="1000" dirty="0">
                  <a:latin typeface="Consolas" panose="020B0609020204030204" pitchFamily="49" charset="0"/>
                </a:rPr>
                <a:t>Universidad de Antioquia</a:t>
              </a:r>
            </a:p>
            <a:p>
              <a:r>
                <a:rPr lang="es-CO" sz="1000" dirty="0">
                  <a:latin typeface="Consolas" panose="020B0609020204030204" pitchFamily="49" charset="0"/>
                </a:rPr>
                <a:t>Fernando Perez es el creador de iPython</a:t>
              </a:r>
            </a:p>
            <a:p>
              <a:r>
                <a:rPr lang="es-CO" sz="1000" dirty="0">
                  <a:latin typeface="Consolas" panose="020B0609020204030204" pitchFamily="49" charset="0"/>
                </a:rPr>
                <a:t>7</a:t>
              </a:r>
            </a:p>
            <a:p>
              <a:r>
                <a:rPr lang="es-CO" sz="1000" dirty="0">
                  <a:latin typeface="Consolas" panose="020B0609020204030204" pitchFamily="49" charset="0"/>
                </a:rPr>
                <a:t>2+5</a:t>
              </a:r>
            </a:p>
            <a:p>
              <a:r>
                <a:rPr lang="es-CO" sz="1000" dirty="0">
                  <a:latin typeface="Consolas" panose="020B0609020204030204" pitchFamily="49" charset="0"/>
                </a:rPr>
                <a:t>2 3.0 hola</a:t>
              </a:r>
            </a:p>
            <a:p>
              <a:r>
                <a:rPr lang="es-CO" sz="1000" dirty="0">
                  <a:latin typeface="Consolas" panose="020B0609020204030204" pitchFamily="49" charset="0"/>
                </a:rPr>
                <a:t>Amarillo azul rojo</a:t>
              </a:r>
            </a:p>
          </p:txBody>
        </p:sp>
      </p:grpSp>
      <p:sp>
        <p:nvSpPr>
          <p:cNvPr id="17" name="CuadroTexto 16">
            <a:extLst>
              <a:ext uri="{FF2B5EF4-FFF2-40B4-BE49-F238E27FC236}">
                <a16:creationId xmlns:a16="http://schemas.microsoft.com/office/drawing/2014/main" id="{DAA9E785-B26B-4F1D-84E8-3A7CB096EDD9}"/>
              </a:ext>
            </a:extLst>
          </p:cNvPr>
          <p:cNvSpPr txBox="1"/>
          <p:nvPr/>
        </p:nvSpPr>
        <p:spPr>
          <a:xfrm>
            <a:off x="2195737" y="5704398"/>
            <a:ext cx="792088" cy="369332"/>
          </a:xfrm>
          <a:prstGeom prst="rect">
            <a:avLst/>
          </a:prstGeom>
          <a:noFill/>
        </p:spPr>
        <p:txBody>
          <a:bodyPr wrap="square">
            <a:spAutoFit/>
          </a:bodyPr>
          <a:lstStyle/>
          <a:p>
            <a:pPr algn="ctr"/>
            <a:r>
              <a:rPr lang="es-ES" sz="1800" dirty="0">
                <a:hlinkClick r:id="rId3"/>
              </a:rPr>
              <a:t>link</a:t>
            </a:r>
            <a:endParaRPr lang="es-CO" dirty="0"/>
          </a:p>
        </p:txBody>
      </p:sp>
      <p:pic>
        <p:nvPicPr>
          <p:cNvPr id="10" name="Picture 2" descr="http://t2.gstatic.com/images?q=tbn:ANd9GcS51PGLkp34nPs-LewfkgAfjdZsyder21fNGFoRiZ_A6x7txo3e">
            <a:extLst>
              <a:ext uri="{FF2B5EF4-FFF2-40B4-BE49-F238E27FC236}">
                <a16:creationId xmlns:a16="http://schemas.microsoft.com/office/drawing/2014/main" id="{38EA8623-B8EC-4276-99F2-5F3E71C563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20760" y="71543"/>
            <a:ext cx="544851" cy="446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4441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238781"/>
            <a:ext cx="7886700" cy="875647"/>
          </a:xfrm>
        </p:spPr>
        <p:txBody>
          <a:bodyPr/>
          <a:lstStyle/>
          <a:p>
            <a:r>
              <a:rPr lang="en-US" sz="3200" dirty="0"/>
              <a:t>Mostrando la salida con la instrucción </a:t>
            </a:r>
            <a:r>
              <a:rPr lang="en-US" sz="3200" dirty="0">
                <a:latin typeface="Consolas" panose="020B0609020204030204" pitchFamily="49" charset="0"/>
              </a:rPr>
              <a:t>print</a:t>
            </a:r>
          </a:p>
        </p:txBody>
      </p:sp>
      <p:sp>
        <p:nvSpPr>
          <p:cNvPr id="2" name="Content Placeholder 1"/>
          <p:cNvSpPr>
            <a:spLocks noGrp="1"/>
          </p:cNvSpPr>
          <p:nvPr>
            <p:ph idx="1"/>
          </p:nvPr>
        </p:nvSpPr>
        <p:spPr>
          <a:xfrm>
            <a:off x="251707" y="1083328"/>
            <a:ext cx="8392622" cy="467993"/>
          </a:xfrm>
        </p:spPr>
        <p:txBody>
          <a:bodyPr>
            <a:normAutofit/>
          </a:bodyPr>
          <a:lstStyle/>
          <a:p>
            <a:pPr marL="0" indent="0">
              <a:buNone/>
            </a:pPr>
            <a:r>
              <a:rPr lang="es-MX" sz="2400" b="1" dirty="0"/>
              <a:t>Sintaxis de </a:t>
            </a:r>
            <a:r>
              <a:rPr lang="es-MX" sz="2400" b="1" dirty="0">
                <a:solidFill>
                  <a:srgbClr val="C00000"/>
                </a:solidFill>
                <a:latin typeface="Consolas" panose="020B0609020204030204" pitchFamily="49" charset="0"/>
              </a:rPr>
              <a:t>print</a:t>
            </a:r>
            <a:endParaRPr lang="en-US" sz="2400" dirty="0"/>
          </a:p>
        </p:txBody>
      </p:sp>
      <p:sp>
        <p:nvSpPr>
          <p:cNvPr id="6" name="5 CuadroTexto"/>
          <p:cNvSpPr txBox="1"/>
          <p:nvPr/>
        </p:nvSpPr>
        <p:spPr>
          <a:xfrm>
            <a:off x="706106" y="1612746"/>
            <a:ext cx="7825235" cy="369332"/>
          </a:xfrm>
          <a:prstGeom prst="rect">
            <a:avLst/>
          </a:prstGeom>
          <a:noFill/>
          <a:ln w="28575">
            <a:solidFill>
              <a:schemeClr val="tx1"/>
            </a:solidFill>
          </a:ln>
        </p:spPr>
        <p:txBody>
          <a:bodyPr wrap="square" rtlCol="0">
            <a:spAutoFit/>
          </a:bodyPr>
          <a:lstStyle/>
          <a:p>
            <a:r>
              <a:rPr lang="es-CO" dirty="0">
                <a:latin typeface="Consolas" panose="020B0609020204030204" pitchFamily="49" charset="0"/>
                <a:cs typeface="Consolas" panose="020B0609020204030204" pitchFamily="49" charset="0"/>
              </a:rPr>
              <a:t>print(valor1, valor2, ..., sep = ' ', end = '\n')</a:t>
            </a:r>
          </a:p>
        </p:txBody>
      </p:sp>
      <p:sp>
        <p:nvSpPr>
          <p:cNvPr id="10" name="Content Placeholder 1">
            <a:extLst>
              <a:ext uri="{FF2B5EF4-FFF2-40B4-BE49-F238E27FC236}">
                <a16:creationId xmlns:a16="http://schemas.microsoft.com/office/drawing/2014/main" id="{FD59A798-8B9A-43F0-B2A1-03DEFC708636}"/>
              </a:ext>
            </a:extLst>
          </p:cNvPr>
          <p:cNvSpPr txBox="1">
            <a:spLocks/>
          </p:cNvSpPr>
          <p:nvPr/>
        </p:nvSpPr>
        <p:spPr>
          <a:xfrm>
            <a:off x="731278" y="2113821"/>
            <a:ext cx="7455337" cy="1352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2000" b="1" dirty="0"/>
              <a:t>Donde</a:t>
            </a:r>
            <a:r>
              <a:rPr lang="es-MX" sz="2000" dirty="0"/>
              <a:t>:</a:t>
            </a:r>
          </a:p>
          <a:p>
            <a:pPr lvl="1"/>
            <a:r>
              <a:rPr lang="en-US" sz="1800" b="1" dirty="0">
                <a:latin typeface="Consolas" panose="020B0609020204030204" pitchFamily="49" charset="0"/>
              </a:rPr>
              <a:t>valor1, valor2,...</a:t>
            </a:r>
            <a:r>
              <a:rPr lang="en-US" sz="1800" dirty="0"/>
              <a:t>: Elementos a mostrar</a:t>
            </a:r>
          </a:p>
          <a:p>
            <a:pPr lvl="1"/>
            <a:r>
              <a:rPr lang="en-US" sz="1800" b="1" dirty="0">
                <a:latin typeface="Consolas" panose="020B0609020204030204" pitchFamily="49" charset="0"/>
              </a:rPr>
              <a:t>sep</a:t>
            </a:r>
            <a:r>
              <a:rPr lang="en-US" sz="1800" dirty="0"/>
              <a:t>:  </a:t>
            </a:r>
            <a:r>
              <a:rPr lang="es-MX" sz="1800" dirty="0"/>
              <a:t>separador entre valores (por defecto un espacio)</a:t>
            </a:r>
          </a:p>
          <a:p>
            <a:pPr lvl="1"/>
            <a:r>
              <a:rPr lang="es-MX" sz="1800" b="1" dirty="0">
                <a:latin typeface="Consolas" panose="020B0609020204030204" pitchFamily="49" charset="0"/>
              </a:rPr>
              <a:t>end</a:t>
            </a:r>
            <a:r>
              <a:rPr lang="es-MX" sz="1800" dirty="0"/>
              <a:t>: qué se agrega al final (por defecto salto de línea)</a:t>
            </a:r>
            <a:endParaRPr lang="en-US" sz="1800" dirty="0"/>
          </a:p>
        </p:txBody>
      </p:sp>
      <p:pic>
        <p:nvPicPr>
          <p:cNvPr id="4098" name="Picture 2" descr="How can I learn the basics of Python? – Real Python">
            <a:extLst>
              <a:ext uri="{FF2B5EF4-FFF2-40B4-BE49-F238E27FC236}">
                <a16:creationId xmlns:a16="http://schemas.microsoft.com/office/drawing/2014/main" id="{97E04C3D-1B96-41C3-8FD0-08D5106CCB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23" y="6223030"/>
            <a:ext cx="488522" cy="48852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47254302-E2D3-405E-B0C5-1F68B42A29F3}"/>
              </a:ext>
            </a:extLst>
          </p:cNvPr>
          <p:cNvSpPr txBox="1"/>
          <p:nvPr/>
        </p:nvSpPr>
        <p:spPr>
          <a:xfrm>
            <a:off x="711106" y="6342220"/>
            <a:ext cx="3375539" cy="276999"/>
          </a:xfrm>
          <a:prstGeom prst="rect">
            <a:avLst/>
          </a:prstGeom>
          <a:noFill/>
        </p:spPr>
        <p:txBody>
          <a:bodyPr wrap="none" rtlCol="0">
            <a:spAutoFit/>
          </a:bodyPr>
          <a:lstStyle/>
          <a:p>
            <a:pPr algn="l"/>
            <a:r>
              <a:rPr lang="en-US" sz="1200" b="1" i="0" dirty="0">
                <a:solidFill>
                  <a:srgbClr val="222222"/>
                </a:solidFill>
                <a:effectLst/>
              </a:rPr>
              <a:t>Your Guide to the Python </a:t>
            </a:r>
            <a:r>
              <a:rPr lang="en-US" sz="1100" b="1" i="0" dirty="0">
                <a:solidFill>
                  <a:srgbClr val="C00000"/>
                </a:solidFill>
                <a:effectLst/>
                <a:latin typeface="Consolas" panose="020B0609020204030204" pitchFamily="49" charset="0"/>
              </a:rPr>
              <a:t>print()</a:t>
            </a:r>
            <a:r>
              <a:rPr lang="en-US" sz="1200" b="1" i="0" dirty="0">
                <a:solidFill>
                  <a:srgbClr val="222222"/>
                </a:solidFill>
                <a:effectLst/>
              </a:rPr>
              <a:t> Function </a:t>
            </a:r>
            <a:r>
              <a:rPr lang="en-US" sz="1200" i="0" dirty="0">
                <a:solidFill>
                  <a:srgbClr val="222222"/>
                </a:solidFill>
                <a:effectLst/>
              </a:rPr>
              <a:t>(</a:t>
            </a:r>
            <a:r>
              <a:rPr lang="en-US" sz="1200" i="0" dirty="0">
                <a:solidFill>
                  <a:srgbClr val="222222"/>
                </a:solidFill>
                <a:effectLst/>
                <a:hlinkClick r:id="rId3"/>
              </a:rPr>
              <a:t>link</a:t>
            </a:r>
            <a:r>
              <a:rPr lang="en-US" sz="1200" i="0" dirty="0">
                <a:solidFill>
                  <a:srgbClr val="222222"/>
                </a:solidFill>
                <a:effectLst/>
              </a:rPr>
              <a:t>)</a:t>
            </a:r>
          </a:p>
        </p:txBody>
      </p:sp>
      <p:graphicFrame>
        <p:nvGraphicFramePr>
          <p:cNvPr id="4" name="Tabla 3">
            <a:extLst>
              <a:ext uri="{FF2B5EF4-FFF2-40B4-BE49-F238E27FC236}">
                <a16:creationId xmlns:a16="http://schemas.microsoft.com/office/drawing/2014/main" id="{2C9F0198-8681-4B8D-AC36-068FCDAFF8D2}"/>
              </a:ext>
            </a:extLst>
          </p:cNvPr>
          <p:cNvGraphicFramePr>
            <a:graphicFrameLocks noGrp="1"/>
          </p:cNvGraphicFramePr>
          <p:nvPr>
            <p:extLst>
              <p:ext uri="{D42A27DB-BD31-4B8C-83A1-F6EECF244321}">
                <p14:modId xmlns:p14="http://schemas.microsoft.com/office/powerpoint/2010/main" val="3527568874"/>
              </p:ext>
            </p:extLst>
          </p:nvPr>
        </p:nvGraphicFramePr>
        <p:xfrm>
          <a:off x="742950" y="3517068"/>
          <a:ext cx="7658100" cy="2346960"/>
        </p:xfrm>
        <a:graphic>
          <a:graphicData uri="http://schemas.openxmlformats.org/drawingml/2006/table">
            <a:tbl>
              <a:tblPr/>
              <a:tblGrid>
                <a:gridCol w="3829050">
                  <a:extLst>
                    <a:ext uri="{9D8B030D-6E8A-4147-A177-3AD203B41FA5}">
                      <a16:colId xmlns:a16="http://schemas.microsoft.com/office/drawing/2014/main" val="295973543"/>
                    </a:ext>
                  </a:extLst>
                </a:gridCol>
                <a:gridCol w="3829050">
                  <a:extLst>
                    <a:ext uri="{9D8B030D-6E8A-4147-A177-3AD203B41FA5}">
                      <a16:colId xmlns:a16="http://schemas.microsoft.com/office/drawing/2014/main" val="193506051"/>
                    </a:ext>
                  </a:extLst>
                </a:gridCol>
              </a:tblGrid>
              <a:tr h="0">
                <a:tc>
                  <a:txBody>
                    <a:bodyPr/>
                    <a:lstStyle/>
                    <a:p>
                      <a:pPr algn="l" fontAlgn="b"/>
                      <a:r>
                        <a:rPr lang="es-CO" sz="1600" b="1" dirty="0">
                          <a:effectLst/>
                        </a:rPr>
                        <a:t>Código</a:t>
                      </a:r>
                    </a:p>
                  </a:txBody>
                  <a:tcPr anchor="b">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fontAlgn="b"/>
                      <a:r>
                        <a:rPr lang="es-CO" sz="1600" b="1" dirty="0">
                          <a:effectLst/>
                        </a:rPr>
                        <a:t>Salida</a:t>
                      </a:r>
                    </a:p>
                  </a:txBody>
                  <a:tcPr anchor="b">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505678911"/>
                  </a:ext>
                </a:extLst>
              </a:tr>
              <a:tr h="0">
                <a:tc>
                  <a:txBody>
                    <a:bodyPr/>
                    <a:lstStyle/>
                    <a:p>
                      <a:pPr fontAlgn="ctr"/>
                      <a:r>
                        <a:rPr lang="en-US" sz="1200" dirty="0">
                          <a:solidFill>
                            <a:srgbClr val="424242"/>
                          </a:solidFill>
                          <a:effectLst/>
                          <a:latin typeface="Consolas" panose="020B0609020204030204" pitchFamily="49" charset="0"/>
                        </a:rPr>
                        <a:t>print(</a:t>
                      </a:r>
                      <a:r>
                        <a:rPr lang="en-US" sz="1200" dirty="0">
                          <a:solidFill>
                            <a:srgbClr val="914700"/>
                          </a:solidFill>
                          <a:effectLst/>
                          <a:latin typeface="Consolas" panose="020B0609020204030204" pitchFamily="49" charset="0"/>
                        </a:rPr>
                        <a:t>"Today is Monday."</a:t>
                      </a:r>
                      <a:r>
                        <a:rPr lang="en-US" sz="1200" dirty="0">
                          <a:solidFill>
                            <a:srgbClr val="424242"/>
                          </a:solidFill>
                          <a:effectLst/>
                          <a:latin typeface="Consolas" panose="020B0609020204030204" pitchFamily="49" charset="0"/>
                        </a:rPr>
                        <a:t>)</a:t>
                      </a:r>
                      <a:br>
                        <a:rPr lang="en-US" sz="1200" dirty="0">
                          <a:solidFill>
                            <a:srgbClr val="424242"/>
                          </a:solidFill>
                          <a:effectLst/>
                          <a:latin typeface="Consolas" panose="020B0609020204030204" pitchFamily="49" charset="0"/>
                        </a:rPr>
                      </a:br>
                      <a:r>
                        <a:rPr lang="en-US" sz="1200" dirty="0">
                          <a:solidFill>
                            <a:srgbClr val="424242"/>
                          </a:solidFill>
                          <a:effectLst/>
                          <a:latin typeface="Consolas" panose="020B0609020204030204" pitchFamily="49" charset="0"/>
                        </a:rPr>
                        <a:t>print(</a:t>
                      </a:r>
                      <a:r>
                        <a:rPr lang="en-US" sz="1200" dirty="0">
                          <a:solidFill>
                            <a:srgbClr val="914700"/>
                          </a:solidFill>
                          <a:effectLst/>
                          <a:latin typeface="Consolas" panose="020B0609020204030204" pitchFamily="49" charset="0"/>
                        </a:rPr>
                        <a:t>"I like string beans."</a:t>
                      </a:r>
                      <a:r>
                        <a:rPr lang="en-US" sz="1200" dirty="0">
                          <a:solidFill>
                            <a:srgbClr val="424242"/>
                          </a:solidFill>
                          <a:effectLst/>
                          <a:latin typeface="Consolas" panose="020B0609020204030204" pitchFamily="49" charset="0"/>
                        </a:rPr>
                        <a:t>)</a:t>
                      </a: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fontAlgn="ctr"/>
                      <a:r>
                        <a:rPr lang="en-US" sz="1200" dirty="0">
                          <a:solidFill>
                            <a:srgbClr val="424242"/>
                          </a:solidFill>
                          <a:effectLst/>
                          <a:latin typeface="Consolas" panose="020B0609020204030204" pitchFamily="49" charset="0"/>
                        </a:rPr>
                        <a:t>Today </a:t>
                      </a:r>
                      <a:r>
                        <a:rPr lang="en-US" sz="1200" dirty="0">
                          <a:solidFill>
                            <a:srgbClr val="0000AA"/>
                          </a:solidFill>
                          <a:effectLst/>
                          <a:latin typeface="Consolas" panose="020B0609020204030204" pitchFamily="49" charset="0"/>
                        </a:rPr>
                        <a:t>is</a:t>
                      </a:r>
                      <a:r>
                        <a:rPr lang="en-US" sz="1200" dirty="0">
                          <a:solidFill>
                            <a:srgbClr val="424242"/>
                          </a:solidFill>
                          <a:effectLst/>
                          <a:latin typeface="Consolas" panose="020B0609020204030204" pitchFamily="49" charset="0"/>
                        </a:rPr>
                        <a:t> Monday.</a:t>
                      </a:r>
                      <a:br>
                        <a:rPr lang="en-US" sz="1200" dirty="0">
                          <a:solidFill>
                            <a:srgbClr val="424242"/>
                          </a:solidFill>
                          <a:effectLst/>
                          <a:latin typeface="Consolas" panose="020B0609020204030204" pitchFamily="49" charset="0"/>
                        </a:rPr>
                      </a:br>
                      <a:r>
                        <a:rPr lang="en-US" sz="1200" dirty="0">
                          <a:solidFill>
                            <a:srgbClr val="424242"/>
                          </a:solidFill>
                          <a:effectLst/>
                          <a:latin typeface="Consolas" panose="020B0609020204030204" pitchFamily="49" charset="0"/>
                        </a:rPr>
                        <a:t>I like string beans.</a:t>
                      </a: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71119218"/>
                  </a:ext>
                </a:extLst>
              </a:tr>
              <a:tr h="0">
                <a:tc>
                  <a:txBody>
                    <a:bodyPr/>
                    <a:lstStyle/>
                    <a:p>
                      <a:pPr fontAlgn="ctr"/>
                      <a:r>
                        <a:rPr lang="en-US" sz="1200" dirty="0">
                          <a:solidFill>
                            <a:srgbClr val="424242"/>
                          </a:solidFill>
                          <a:effectLst/>
                          <a:latin typeface="Consolas" panose="020B0609020204030204" pitchFamily="49" charset="0"/>
                        </a:rPr>
                        <a:t>print(</a:t>
                      </a:r>
                      <a:r>
                        <a:rPr lang="en-US" sz="1200" dirty="0">
                          <a:solidFill>
                            <a:srgbClr val="914700"/>
                          </a:solidFill>
                          <a:effectLst/>
                          <a:latin typeface="Consolas" panose="020B0609020204030204" pitchFamily="49" charset="0"/>
                        </a:rPr>
                        <a:t>"Today"</a:t>
                      </a:r>
                      <a:r>
                        <a:rPr lang="en-US" sz="1200" dirty="0">
                          <a:solidFill>
                            <a:srgbClr val="424242"/>
                          </a:solidFill>
                          <a:effectLst/>
                          <a:latin typeface="Consolas" panose="020B0609020204030204" pitchFamily="49" charset="0"/>
                        </a:rPr>
                        <a:t>, </a:t>
                      </a:r>
                      <a:r>
                        <a:rPr lang="en-US" sz="1200" dirty="0">
                          <a:solidFill>
                            <a:srgbClr val="914700"/>
                          </a:solidFill>
                          <a:effectLst/>
                          <a:latin typeface="Consolas" panose="020B0609020204030204" pitchFamily="49" charset="0"/>
                        </a:rPr>
                        <a:t>"is"</a:t>
                      </a:r>
                      <a:r>
                        <a:rPr lang="en-US" sz="1200" dirty="0">
                          <a:solidFill>
                            <a:srgbClr val="424242"/>
                          </a:solidFill>
                          <a:effectLst/>
                          <a:latin typeface="Consolas" panose="020B0609020204030204" pitchFamily="49" charset="0"/>
                        </a:rPr>
                        <a:t>, </a:t>
                      </a:r>
                      <a:r>
                        <a:rPr lang="en-US" sz="1200" dirty="0">
                          <a:solidFill>
                            <a:srgbClr val="914700"/>
                          </a:solidFill>
                          <a:effectLst/>
                          <a:latin typeface="Consolas" panose="020B0609020204030204" pitchFamily="49" charset="0"/>
                        </a:rPr>
                        <a:t>"Monday"</a:t>
                      </a:r>
                      <a:r>
                        <a:rPr lang="en-US" sz="1200" dirty="0">
                          <a:solidFill>
                            <a:srgbClr val="424242"/>
                          </a:solidFill>
                          <a:effectLst/>
                          <a:latin typeface="Consolas" panose="020B0609020204030204" pitchFamily="49" charset="0"/>
                        </a:rPr>
                        <a:t>)</a:t>
                      </a:r>
                      <a:br>
                        <a:rPr lang="en-US" sz="1200" dirty="0">
                          <a:solidFill>
                            <a:srgbClr val="424242"/>
                          </a:solidFill>
                          <a:effectLst/>
                          <a:latin typeface="Consolas" panose="020B0609020204030204" pitchFamily="49" charset="0"/>
                        </a:rPr>
                      </a:br>
                      <a:r>
                        <a:rPr lang="en-US" sz="1200" dirty="0">
                          <a:solidFill>
                            <a:srgbClr val="424242"/>
                          </a:solidFill>
                          <a:effectLst/>
                          <a:latin typeface="Consolas" panose="020B0609020204030204" pitchFamily="49" charset="0"/>
                        </a:rPr>
                        <a:t>print(</a:t>
                      </a:r>
                      <a:r>
                        <a:rPr lang="en-US" sz="1200" dirty="0">
                          <a:solidFill>
                            <a:srgbClr val="914700"/>
                          </a:solidFill>
                          <a:effectLst/>
                          <a:latin typeface="Consolas" panose="020B0609020204030204" pitchFamily="49" charset="0"/>
                        </a:rPr>
                        <a:t>"Today"</a:t>
                      </a:r>
                      <a:r>
                        <a:rPr lang="en-US" sz="1200" dirty="0">
                          <a:solidFill>
                            <a:srgbClr val="424242"/>
                          </a:solidFill>
                          <a:effectLst/>
                          <a:latin typeface="Consolas" panose="020B0609020204030204" pitchFamily="49" charset="0"/>
                        </a:rPr>
                        <a:t>, </a:t>
                      </a:r>
                      <a:r>
                        <a:rPr lang="en-US" sz="1200" dirty="0">
                          <a:solidFill>
                            <a:srgbClr val="914700"/>
                          </a:solidFill>
                          <a:effectLst/>
                          <a:latin typeface="Consolas" panose="020B0609020204030204" pitchFamily="49" charset="0"/>
                        </a:rPr>
                        <a:t>"is"</a:t>
                      </a:r>
                      <a:r>
                        <a:rPr lang="en-US" sz="1200" dirty="0">
                          <a:solidFill>
                            <a:srgbClr val="424242"/>
                          </a:solidFill>
                          <a:effectLst/>
                          <a:latin typeface="Consolas" panose="020B0609020204030204" pitchFamily="49" charset="0"/>
                        </a:rPr>
                        <a:t>, </a:t>
                      </a:r>
                      <a:r>
                        <a:rPr lang="en-US" sz="1200" dirty="0">
                          <a:solidFill>
                            <a:srgbClr val="914700"/>
                          </a:solidFill>
                          <a:effectLst/>
                          <a:latin typeface="Consolas" panose="020B0609020204030204" pitchFamily="49" charset="0"/>
                        </a:rPr>
                        <a:t>"Monday"</a:t>
                      </a:r>
                      <a:r>
                        <a:rPr lang="en-US" sz="1200" dirty="0">
                          <a:solidFill>
                            <a:srgbClr val="424242"/>
                          </a:solidFill>
                          <a:effectLst/>
                          <a:latin typeface="Consolas" panose="020B0609020204030204" pitchFamily="49" charset="0"/>
                        </a:rPr>
                        <a:t>, sep=</a:t>
                      </a:r>
                      <a:r>
                        <a:rPr lang="en-US" sz="1200" dirty="0">
                          <a:solidFill>
                            <a:srgbClr val="914700"/>
                          </a:solidFill>
                          <a:effectLst/>
                          <a:latin typeface="Consolas" panose="020B0609020204030204" pitchFamily="49" charset="0"/>
                        </a:rPr>
                        <a:t>"..."</a:t>
                      </a:r>
                      <a:r>
                        <a:rPr lang="en-US" sz="1200" dirty="0">
                          <a:solidFill>
                            <a:srgbClr val="424242"/>
                          </a:solidFill>
                          <a:effectLst/>
                          <a:latin typeface="Consolas" panose="020B0609020204030204" pitchFamily="49" charset="0"/>
                        </a:rPr>
                        <a:t>)</a:t>
                      </a: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fontAlgn="ctr"/>
                      <a:r>
                        <a:rPr lang="en-US" sz="1200" dirty="0">
                          <a:solidFill>
                            <a:srgbClr val="424242"/>
                          </a:solidFill>
                          <a:effectLst/>
                          <a:latin typeface="Consolas" panose="020B0609020204030204" pitchFamily="49" charset="0"/>
                        </a:rPr>
                        <a:t>Today </a:t>
                      </a:r>
                      <a:r>
                        <a:rPr lang="en-US" sz="1200" dirty="0">
                          <a:solidFill>
                            <a:srgbClr val="0000AA"/>
                          </a:solidFill>
                          <a:effectLst/>
                          <a:latin typeface="Consolas" panose="020B0609020204030204" pitchFamily="49" charset="0"/>
                        </a:rPr>
                        <a:t>is</a:t>
                      </a:r>
                      <a:r>
                        <a:rPr lang="en-US" sz="1200" dirty="0">
                          <a:solidFill>
                            <a:srgbClr val="424242"/>
                          </a:solidFill>
                          <a:effectLst/>
                          <a:latin typeface="Consolas" panose="020B0609020204030204" pitchFamily="49" charset="0"/>
                        </a:rPr>
                        <a:t> Monday</a:t>
                      </a:r>
                      <a:br>
                        <a:rPr lang="en-US" sz="1200" dirty="0">
                          <a:solidFill>
                            <a:srgbClr val="424242"/>
                          </a:solidFill>
                          <a:effectLst/>
                          <a:latin typeface="Consolas" panose="020B0609020204030204" pitchFamily="49" charset="0"/>
                        </a:rPr>
                      </a:br>
                      <a:r>
                        <a:rPr lang="en-US" sz="1200" dirty="0">
                          <a:solidFill>
                            <a:srgbClr val="424242"/>
                          </a:solidFill>
                          <a:effectLst/>
                          <a:latin typeface="Consolas" panose="020B0609020204030204" pitchFamily="49" charset="0"/>
                        </a:rPr>
                        <a:t>Today...</a:t>
                      </a:r>
                      <a:r>
                        <a:rPr lang="en-US" sz="1200" dirty="0">
                          <a:solidFill>
                            <a:srgbClr val="0000AA"/>
                          </a:solidFill>
                          <a:effectLst/>
                          <a:latin typeface="Consolas" panose="020B0609020204030204" pitchFamily="49" charset="0"/>
                        </a:rPr>
                        <a:t>is</a:t>
                      </a:r>
                      <a:r>
                        <a:rPr lang="en-US" sz="1200" dirty="0">
                          <a:solidFill>
                            <a:srgbClr val="424242"/>
                          </a:solidFill>
                          <a:effectLst/>
                          <a:latin typeface="Consolas" panose="020B0609020204030204" pitchFamily="49" charset="0"/>
                        </a:rPr>
                        <a:t>...Monday</a:t>
                      </a: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25406153"/>
                  </a:ext>
                </a:extLst>
              </a:tr>
              <a:tr h="0">
                <a:tc>
                  <a:txBody>
                    <a:bodyPr/>
                    <a:lstStyle/>
                    <a:p>
                      <a:pPr fontAlgn="ctr"/>
                      <a:r>
                        <a:rPr lang="en-US" sz="1200">
                          <a:solidFill>
                            <a:srgbClr val="424242"/>
                          </a:solidFill>
                          <a:effectLst/>
                          <a:latin typeface="Consolas" panose="020B0609020204030204" pitchFamily="49" charset="0"/>
                        </a:rPr>
                        <a:t>print(</a:t>
                      </a:r>
                      <a:r>
                        <a:rPr lang="en-US" sz="1200">
                          <a:solidFill>
                            <a:srgbClr val="914700"/>
                          </a:solidFill>
                          <a:effectLst/>
                          <a:latin typeface="Consolas" panose="020B0609020204030204" pitchFamily="49" charset="0"/>
                        </a:rPr>
                        <a:t>"Today is Monday, "</a:t>
                      </a:r>
                      <a:r>
                        <a:rPr lang="en-US" sz="1200">
                          <a:solidFill>
                            <a:srgbClr val="424242"/>
                          </a:solidFill>
                          <a:effectLst/>
                          <a:latin typeface="Consolas" panose="020B0609020204030204" pitchFamily="49" charset="0"/>
                        </a:rPr>
                        <a:t>, end=</a:t>
                      </a:r>
                      <a:r>
                        <a:rPr lang="en-US" sz="1200">
                          <a:solidFill>
                            <a:srgbClr val="914700"/>
                          </a:solidFill>
                          <a:effectLst/>
                          <a:latin typeface="Consolas" panose="020B0609020204030204" pitchFamily="49" charset="0"/>
                        </a:rPr>
                        <a:t>""</a:t>
                      </a:r>
                      <a:r>
                        <a:rPr lang="en-US" sz="1200">
                          <a:solidFill>
                            <a:srgbClr val="424242"/>
                          </a:solidFill>
                          <a:effectLst/>
                          <a:latin typeface="Consolas" panose="020B0609020204030204" pitchFamily="49" charset="0"/>
                        </a:rPr>
                        <a:t>)</a:t>
                      </a:r>
                      <a:br>
                        <a:rPr lang="en-US" sz="1200">
                          <a:solidFill>
                            <a:srgbClr val="424242"/>
                          </a:solidFill>
                          <a:effectLst/>
                          <a:latin typeface="Consolas" panose="020B0609020204030204" pitchFamily="49" charset="0"/>
                        </a:rPr>
                      </a:br>
                      <a:r>
                        <a:rPr lang="en-US" sz="1200">
                          <a:solidFill>
                            <a:srgbClr val="424242"/>
                          </a:solidFill>
                          <a:effectLst/>
                          <a:latin typeface="Consolas" panose="020B0609020204030204" pitchFamily="49" charset="0"/>
                        </a:rPr>
                        <a:t>print(</a:t>
                      </a:r>
                      <a:r>
                        <a:rPr lang="en-US" sz="1200">
                          <a:solidFill>
                            <a:srgbClr val="914700"/>
                          </a:solidFill>
                          <a:effectLst/>
                          <a:latin typeface="Consolas" panose="020B0609020204030204" pitchFamily="49" charset="0"/>
                        </a:rPr>
                        <a:t>"I like string beans."</a:t>
                      </a:r>
                      <a:r>
                        <a:rPr lang="en-US" sz="1200">
                          <a:solidFill>
                            <a:srgbClr val="424242"/>
                          </a:solidFill>
                          <a:effectLst/>
                          <a:latin typeface="Consolas" panose="020B0609020204030204" pitchFamily="49" charset="0"/>
                        </a:rPr>
                        <a:t>)</a:t>
                      </a: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fontAlgn="ctr"/>
                      <a:r>
                        <a:rPr lang="en-US" sz="1200" dirty="0">
                          <a:solidFill>
                            <a:srgbClr val="424242"/>
                          </a:solidFill>
                          <a:effectLst/>
                          <a:latin typeface="Consolas" panose="020B0609020204030204" pitchFamily="49" charset="0"/>
                        </a:rPr>
                        <a:t>Today </a:t>
                      </a:r>
                      <a:r>
                        <a:rPr lang="en-US" sz="1200" dirty="0">
                          <a:solidFill>
                            <a:srgbClr val="0000AA"/>
                          </a:solidFill>
                          <a:effectLst/>
                          <a:latin typeface="Consolas" panose="020B0609020204030204" pitchFamily="49" charset="0"/>
                        </a:rPr>
                        <a:t>is</a:t>
                      </a:r>
                      <a:r>
                        <a:rPr lang="en-US" sz="1200" dirty="0">
                          <a:solidFill>
                            <a:srgbClr val="424242"/>
                          </a:solidFill>
                          <a:effectLst/>
                          <a:latin typeface="Consolas" panose="020B0609020204030204" pitchFamily="49" charset="0"/>
                        </a:rPr>
                        <a:t> Monday, I like string beans.</a:t>
                      </a: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153712308"/>
                  </a:ext>
                </a:extLst>
              </a:tr>
              <a:tr h="0">
                <a:tc>
                  <a:txBody>
                    <a:bodyPr/>
                    <a:lstStyle/>
                    <a:p>
                      <a:pPr fontAlgn="ctr"/>
                      <a:r>
                        <a:rPr lang="en-US" sz="1200">
                          <a:solidFill>
                            <a:srgbClr val="424242"/>
                          </a:solidFill>
                          <a:effectLst/>
                          <a:latin typeface="Consolas" panose="020B0609020204030204" pitchFamily="49" charset="0"/>
                        </a:rPr>
                        <a:t>print(</a:t>
                      </a:r>
                      <a:r>
                        <a:rPr lang="en-US" sz="1200">
                          <a:solidFill>
                            <a:srgbClr val="914700"/>
                          </a:solidFill>
                          <a:effectLst/>
                          <a:latin typeface="Consolas" panose="020B0609020204030204" pitchFamily="49" charset="0"/>
                        </a:rPr>
                        <a:t>"Today"</a:t>
                      </a:r>
                      <a:r>
                        <a:rPr lang="en-US" sz="1200">
                          <a:solidFill>
                            <a:srgbClr val="424242"/>
                          </a:solidFill>
                          <a:effectLst/>
                          <a:latin typeface="Consolas" panose="020B0609020204030204" pitchFamily="49" charset="0"/>
                        </a:rPr>
                        <a:t>, </a:t>
                      </a:r>
                      <a:r>
                        <a:rPr lang="en-US" sz="1200">
                          <a:solidFill>
                            <a:srgbClr val="914700"/>
                          </a:solidFill>
                          <a:effectLst/>
                          <a:latin typeface="Consolas" panose="020B0609020204030204" pitchFamily="49" charset="0"/>
                        </a:rPr>
                        <a:t>"is"</a:t>
                      </a:r>
                      <a:r>
                        <a:rPr lang="en-US" sz="1200">
                          <a:solidFill>
                            <a:srgbClr val="424242"/>
                          </a:solidFill>
                          <a:effectLst/>
                          <a:latin typeface="Consolas" panose="020B0609020204030204" pitchFamily="49" charset="0"/>
                        </a:rPr>
                        <a:t>, </a:t>
                      </a:r>
                      <a:r>
                        <a:rPr lang="en-US" sz="1200">
                          <a:solidFill>
                            <a:srgbClr val="914700"/>
                          </a:solidFill>
                          <a:effectLst/>
                          <a:latin typeface="Consolas" panose="020B0609020204030204" pitchFamily="49" charset="0"/>
                        </a:rPr>
                        <a:t>"Monday"</a:t>
                      </a:r>
                      <a:r>
                        <a:rPr lang="en-US" sz="1200">
                          <a:solidFill>
                            <a:srgbClr val="424242"/>
                          </a:solidFill>
                          <a:effectLst/>
                          <a:latin typeface="Consolas" panose="020B0609020204030204" pitchFamily="49" charset="0"/>
                        </a:rPr>
                        <a:t>, sep=</a:t>
                      </a:r>
                      <a:r>
                        <a:rPr lang="en-US" sz="1200">
                          <a:solidFill>
                            <a:srgbClr val="914700"/>
                          </a:solidFill>
                          <a:effectLst/>
                          <a:latin typeface="Consolas" panose="020B0609020204030204" pitchFamily="49" charset="0"/>
                        </a:rPr>
                        <a:t>"? "</a:t>
                      </a:r>
                      <a:r>
                        <a:rPr lang="en-US" sz="1200">
                          <a:solidFill>
                            <a:srgbClr val="424242"/>
                          </a:solidFill>
                          <a:effectLst/>
                          <a:latin typeface="Consolas" panose="020B0609020204030204" pitchFamily="49" charset="0"/>
                        </a:rPr>
                        <a:t>, end=</a:t>
                      </a:r>
                      <a:r>
                        <a:rPr lang="en-US" sz="1200">
                          <a:solidFill>
                            <a:srgbClr val="914700"/>
                          </a:solidFill>
                          <a:effectLst/>
                          <a:latin typeface="Consolas" panose="020B0609020204030204" pitchFamily="49" charset="0"/>
                        </a:rPr>
                        <a:t>"!!"</a:t>
                      </a:r>
                      <a:r>
                        <a:rPr lang="en-US" sz="1200">
                          <a:solidFill>
                            <a:srgbClr val="424242"/>
                          </a:solidFill>
                          <a:effectLst/>
                          <a:latin typeface="Consolas" panose="020B0609020204030204" pitchFamily="49" charset="0"/>
                        </a:rPr>
                        <a:t>)</a:t>
                      </a:r>
                      <a:br>
                        <a:rPr lang="en-US" sz="1200">
                          <a:solidFill>
                            <a:srgbClr val="424242"/>
                          </a:solidFill>
                          <a:effectLst/>
                          <a:latin typeface="Consolas" panose="020B0609020204030204" pitchFamily="49" charset="0"/>
                        </a:rPr>
                      </a:br>
                      <a:r>
                        <a:rPr lang="en-US" sz="1200">
                          <a:solidFill>
                            <a:srgbClr val="424242"/>
                          </a:solidFill>
                          <a:effectLst/>
                          <a:latin typeface="Consolas" panose="020B0609020204030204" pitchFamily="49" charset="0"/>
                        </a:rPr>
                        <a:t>print(</a:t>
                      </a:r>
                      <a:r>
                        <a:rPr lang="en-US" sz="1200">
                          <a:solidFill>
                            <a:srgbClr val="914700"/>
                          </a:solidFill>
                          <a:effectLst/>
                          <a:latin typeface="Consolas" panose="020B0609020204030204" pitchFamily="49" charset="0"/>
                        </a:rPr>
                        <a:t>"I like string beans."</a:t>
                      </a:r>
                      <a:r>
                        <a:rPr lang="en-US" sz="1200">
                          <a:solidFill>
                            <a:srgbClr val="424242"/>
                          </a:solidFill>
                          <a:effectLst/>
                          <a:latin typeface="Consolas" panose="020B0609020204030204" pitchFamily="49" charset="0"/>
                        </a:rPr>
                        <a:t>)</a:t>
                      </a: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fontAlgn="ctr"/>
                      <a:r>
                        <a:rPr lang="en-US" sz="1200" dirty="0">
                          <a:solidFill>
                            <a:srgbClr val="424242"/>
                          </a:solidFill>
                          <a:effectLst/>
                          <a:latin typeface="Consolas" panose="020B0609020204030204" pitchFamily="49" charset="0"/>
                        </a:rPr>
                        <a:t>Today? is? Monday!!I like string beans.</a:t>
                      </a: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366642597"/>
                  </a:ext>
                </a:extLst>
              </a:tr>
            </a:tbl>
          </a:graphicData>
        </a:graphic>
      </p:graphicFrame>
      <p:pic>
        <p:nvPicPr>
          <p:cNvPr id="9" name="Picture 2" descr="http://t2.gstatic.com/images?q=tbn:ANd9GcS51PGLkp34nPs-LewfkgAfjdZsyder21fNGFoRiZ_A6x7txo3e">
            <a:extLst>
              <a:ext uri="{FF2B5EF4-FFF2-40B4-BE49-F238E27FC236}">
                <a16:creationId xmlns:a16="http://schemas.microsoft.com/office/drawing/2014/main" id="{9B392B56-DB42-4208-8C01-4F02056392E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20760" y="71543"/>
            <a:ext cx="544851" cy="446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547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136524"/>
            <a:ext cx="7886700" cy="864096"/>
          </a:xfrm>
        </p:spPr>
        <p:txBody>
          <a:bodyPr/>
          <a:lstStyle/>
          <a:p>
            <a:r>
              <a:rPr lang="en-US" sz="3200" dirty="0"/>
              <a:t>Mostrando la salida con la instrucción </a:t>
            </a:r>
            <a:r>
              <a:rPr lang="en-US" sz="3200" dirty="0">
                <a:latin typeface="Consolas" panose="020B0609020204030204" pitchFamily="49" charset="0"/>
              </a:rPr>
              <a:t>print</a:t>
            </a:r>
          </a:p>
        </p:txBody>
      </p:sp>
      <p:sp>
        <p:nvSpPr>
          <p:cNvPr id="2" name="Content Placeholder 1"/>
          <p:cNvSpPr>
            <a:spLocks noGrp="1"/>
          </p:cNvSpPr>
          <p:nvPr>
            <p:ph idx="1"/>
          </p:nvPr>
        </p:nvSpPr>
        <p:spPr>
          <a:xfrm>
            <a:off x="251707" y="836712"/>
            <a:ext cx="8640586" cy="2407147"/>
          </a:xfrm>
        </p:spPr>
        <p:txBody>
          <a:bodyPr>
            <a:normAutofit fontScale="92500" lnSpcReduction="10000"/>
          </a:bodyPr>
          <a:lstStyle/>
          <a:p>
            <a:pPr marL="0" indent="0">
              <a:buNone/>
            </a:pPr>
            <a:r>
              <a:rPr lang="es-MX" sz="2400" b="1" dirty="0"/>
              <a:t>Imprimiendo variables de diferentes tipos</a:t>
            </a:r>
            <a:endParaRPr lang="en-US" sz="2400" b="1" dirty="0"/>
          </a:p>
          <a:p>
            <a:r>
              <a:rPr lang="es-MX" sz="1900" b="1" dirty="0">
                <a:solidFill>
                  <a:srgbClr val="C00000"/>
                </a:solidFill>
                <a:latin typeface="Consolas" panose="020B0609020204030204" pitchFamily="49" charset="0"/>
              </a:rPr>
              <a:t>print()</a:t>
            </a:r>
            <a:r>
              <a:rPr lang="es-MX" sz="2200" dirty="0"/>
              <a:t> puede recibir variables de cualquier tipo: </a:t>
            </a:r>
            <a:r>
              <a:rPr lang="es-MX" sz="1900" b="1" dirty="0">
                <a:solidFill>
                  <a:srgbClr val="C00000"/>
                </a:solidFill>
                <a:latin typeface="Consolas" panose="020B0609020204030204" pitchFamily="49" charset="0"/>
              </a:rPr>
              <a:t>int</a:t>
            </a:r>
            <a:r>
              <a:rPr lang="es-MX" sz="2200" dirty="0"/>
              <a:t>, </a:t>
            </a:r>
            <a:r>
              <a:rPr lang="es-MX" sz="1900" b="1" dirty="0">
                <a:solidFill>
                  <a:srgbClr val="C00000"/>
                </a:solidFill>
                <a:latin typeface="Consolas" panose="020B0609020204030204" pitchFamily="49" charset="0"/>
              </a:rPr>
              <a:t>float</a:t>
            </a:r>
            <a:r>
              <a:rPr lang="es-MX" sz="2200" dirty="0"/>
              <a:t>, </a:t>
            </a:r>
            <a:r>
              <a:rPr lang="es-MX" sz="1900" b="1" dirty="0">
                <a:solidFill>
                  <a:srgbClr val="C00000"/>
                </a:solidFill>
                <a:latin typeface="Consolas" panose="020B0609020204030204" pitchFamily="49" charset="0"/>
              </a:rPr>
              <a:t>str</a:t>
            </a:r>
            <a:r>
              <a:rPr lang="es-MX" sz="2200" dirty="0"/>
              <a:t>, </a:t>
            </a:r>
            <a:r>
              <a:rPr lang="es-MX" sz="1900" b="1" dirty="0" err="1">
                <a:solidFill>
                  <a:srgbClr val="C00000"/>
                </a:solidFill>
                <a:latin typeface="Consolas" panose="020B0609020204030204" pitchFamily="49" charset="0"/>
              </a:rPr>
              <a:t>bool</a:t>
            </a:r>
            <a:r>
              <a:rPr lang="es-MX" sz="2200" dirty="0"/>
              <a:t>.</a:t>
            </a:r>
          </a:p>
          <a:p>
            <a:r>
              <a:rPr lang="es-MX" sz="2200" dirty="0"/>
              <a:t>Python convierte automáticamente cada valor a texto para mostrarlo en pantalla.</a:t>
            </a:r>
          </a:p>
          <a:p>
            <a:r>
              <a:rPr lang="es-MX" sz="2200" dirty="0"/>
              <a:t>Se pueden combinar varios tipos en un mismo </a:t>
            </a:r>
            <a:r>
              <a:rPr lang="es-MX" sz="1900" b="1" dirty="0">
                <a:solidFill>
                  <a:srgbClr val="C00000"/>
                </a:solidFill>
                <a:latin typeface="Consolas" panose="020B0609020204030204" pitchFamily="49" charset="0"/>
              </a:rPr>
              <a:t>print()</a:t>
            </a:r>
            <a:r>
              <a:rPr lang="es-MX" sz="2200" dirty="0"/>
              <a:t>, separados por comas.</a:t>
            </a:r>
          </a:p>
          <a:p>
            <a:r>
              <a:rPr lang="es-MX" sz="2200" dirty="0"/>
              <a:t>Para concatenar con +, todos los valores deben ser str — los números se deben convertir con </a:t>
            </a:r>
            <a:r>
              <a:rPr lang="es-MX" sz="1900" b="1" dirty="0">
                <a:solidFill>
                  <a:srgbClr val="C00000"/>
                </a:solidFill>
                <a:latin typeface="Consolas" panose="020B0609020204030204" pitchFamily="49" charset="0"/>
              </a:rPr>
              <a:t>str()</a:t>
            </a:r>
            <a:r>
              <a:rPr lang="es-MX" sz="2200" dirty="0"/>
              <a:t>.</a:t>
            </a:r>
            <a:endParaRPr lang="en-US" sz="2200" dirty="0"/>
          </a:p>
        </p:txBody>
      </p:sp>
      <p:sp>
        <p:nvSpPr>
          <p:cNvPr id="8" name="CuadroTexto 7">
            <a:extLst>
              <a:ext uri="{FF2B5EF4-FFF2-40B4-BE49-F238E27FC236}">
                <a16:creationId xmlns:a16="http://schemas.microsoft.com/office/drawing/2014/main" id="{B5B1762C-1CF0-4F22-A96C-887C0D6EF97C}"/>
              </a:ext>
            </a:extLst>
          </p:cNvPr>
          <p:cNvSpPr txBox="1"/>
          <p:nvPr/>
        </p:nvSpPr>
        <p:spPr>
          <a:xfrm>
            <a:off x="415996" y="3614142"/>
            <a:ext cx="5452150" cy="2292935"/>
          </a:xfrm>
          <a:prstGeom prst="rect">
            <a:avLst/>
          </a:prstGeom>
          <a:noFill/>
          <a:ln>
            <a:solidFill>
              <a:schemeClr val="tx1"/>
            </a:solidFill>
            <a:prstDash val="solid"/>
          </a:ln>
        </p:spPr>
        <p:txBody>
          <a:bodyPr wrap="square" rtlCol="0">
            <a:spAutoFit/>
          </a:bodyPr>
          <a:lstStyle/>
          <a:p>
            <a:r>
              <a:rPr lang="es-MX" sz="1100" dirty="0">
                <a:latin typeface="Consolas" panose="020B0609020204030204" pitchFamily="49" charset="0"/>
              </a:rPr>
              <a:t>universidad = "Universidad de Antioquia"</a:t>
            </a:r>
          </a:p>
          <a:p>
            <a:r>
              <a:rPr lang="es-MX" sz="1100" dirty="0" err="1">
                <a:latin typeface="Consolas" panose="020B0609020204030204" pitchFamily="49" charset="0"/>
              </a:rPr>
              <a:t>anio_fundacion</a:t>
            </a:r>
            <a:r>
              <a:rPr lang="es-MX" sz="1100" dirty="0">
                <a:latin typeface="Consolas" panose="020B0609020204030204" pitchFamily="49" charset="0"/>
              </a:rPr>
              <a:t> = 1803</a:t>
            </a:r>
          </a:p>
          <a:p>
            <a:r>
              <a:rPr lang="es-MX" sz="1100" dirty="0">
                <a:latin typeface="Consolas" panose="020B0609020204030204" pitchFamily="49" charset="0"/>
              </a:rPr>
              <a:t>promedio = 4.35</a:t>
            </a:r>
          </a:p>
          <a:p>
            <a:r>
              <a:rPr lang="es-MX" sz="1100" dirty="0">
                <a:latin typeface="Consolas" panose="020B0609020204030204" pitchFamily="49" charset="0"/>
              </a:rPr>
              <a:t>activa = True</a:t>
            </a:r>
          </a:p>
          <a:p>
            <a:endParaRPr lang="es-MX" sz="1100" dirty="0">
              <a:latin typeface="Consolas" panose="020B0609020204030204" pitchFamily="49" charset="0"/>
            </a:endParaRPr>
          </a:p>
          <a:p>
            <a:r>
              <a:rPr lang="es-MX" sz="1100" dirty="0">
                <a:latin typeface="Consolas" panose="020B0609020204030204" pitchFamily="49" charset="0"/>
              </a:rPr>
              <a:t># Varios tipos separados por comas</a:t>
            </a:r>
          </a:p>
          <a:p>
            <a:r>
              <a:rPr lang="es-MX" sz="1100" dirty="0">
                <a:latin typeface="Consolas" panose="020B0609020204030204" pitchFamily="49" charset="0"/>
              </a:rPr>
              <a:t>print(universidad, </a:t>
            </a:r>
            <a:r>
              <a:rPr lang="es-MX" sz="1100" dirty="0" err="1">
                <a:latin typeface="Consolas" panose="020B0609020204030204" pitchFamily="49" charset="0"/>
              </a:rPr>
              <a:t>anio_fundacion</a:t>
            </a:r>
            <a:r>
              <a:rPr lang="es-MX" sz="1100" dirty="0">
                <a:latin typeface="Consolas" panose="020B0609020204030204" pitchFamily="49" charset="0"/>
              </a:rPr>
              <a:t>, promedio, activa)</a:t>
            </a:r>
          </a:p>
          <a:p>
            <a:endParaRPr lang="es-MX" sz="1100" dirty="0">
              <a:latin typeface="Consolas" panose="020B0609020204030204" pitchFamily="49" charset="0"/>
            </a:endParaRPr>
          </a:p>
          <a:p>
            <a:r>
              <a:rPr lang="es-MX" sz="1100" dirty="0">
                <a:latin typeface="Consolas" panose="020B0609020204030204" pitchFamily="49" charset="0"/>
              </a:rPr>
              <a:t># El mismo mensaje, usando comas (sin necesidad de convertir tipos)</a:t>
            </a:r>
          </a:p>
          <a:p>
            <a:r>
              <a:rPr lang="es-MX" sz="1100" dirty="0">
                <a:latin typeface="Consolas" panose="020B0609020204030204" pitchFamily="49" charset="0"/>
              </a:rPr>
              <a:t>print("La", universidad, "fue fundada en", anio_fundacion)</a:t>
            </a:r>
          </a:p>
          <a:p>
            <a:endParaRPr lang="es-MX" sz="1100" dirty="0">
              <a:latin typeface="Consolas" panose="020B0609020204030204" pitchFamily="49" charset="0"/>
            </a:endParaRPr>
          </a:p>
          <a:p>
            <a:r>
              <a:rPr lang="es-MX" sz="1100" dirty="0">
                <a:latin typeface="Consolas" panose="020B0609020204030204" pitchFamily="49" charset="0"/>
              </a:rPr>
              <a:t># El mismo mensaje, usando concatenación (requiere convertir a str)</a:t>
            </a:r>
          </a:p>
          <a:p>
            <a:r>
              <a:rPr lang="es-MX" sz="1100" dirty="0">
                <a:latin typeface="Consolas" panose="020B0609020204030204" pitchFamily="49" charset="0"/>
              </a:rPr>
              <a:t>print("La " + universidad + " fue fundada en " + str(anio_fundacion))</a:t>
            </a:r>
            <a:endParaRPr lang="es-CO" sz="1100" dirty="0">
              <a:latin typeface="Consolas" panose="020B0609020204030204" pitchFamily="49" charset="0"/>
            </a:endParaRPr>
          </a:p>
        </p:txBody>
      </p:sp>
      <p:sp>
        <p:nvSpPr>
          <p:cNvPr id="9" name="CuadroTexto 8">
            <a:extLst>
              <a:ext uri="{FF2B5EF4-FFF2-40B4-BE49-F238E27FC236}">
                <a16:creationId xmlns:a16="http://schemas.microsoft.com/office/drawing/2014/main" id="{6F51E7FA-7D86-4550-AB85-EBFB5512B165}"/>
              </a:ext>
            </a:extLst>
          </p:cNvPr>
          <p:cNvSpPr txBox="1"/>
          <p:nvPr/>
        </p:nvSpPr>
        <p:spPr>
          <a:xfrm>
            <a:off x="2746027" y="5920370"/>
            <a:ext cx="792088" cy="369332"/>
          </a:xfrm>
          <a:prstGeom prst="rect">
            <a:avLst/>
          </a:prstGeom>
          <a:noFill/>
        </p:spPr>
        <p:txBody>
          <a:bodyPr wrap="square">
            <a:spAutoFit/>
          </a:bodyPr>
          <a:lstStyle/>
          <a:p>
            <a:pPr algn="ctr"/>
            <a:r>
              <a:rPr lang="es-ES" sz="1800" dirty="0">
                <a:hlinkClick r:id="rId2"/>
              </a:rPr>
              <a:t>link</a:t>
            </a:r>
            <a:endParaRPr lang="es-CO" dirty="0"/>
          </a:p>
        </p:txBody>
      </p:sp>
      <p:pic>
        <p:nvPicPr>
          <p:cNvPr id="11" name="Imagen 10">
            <a:extLst>
              <a:ext uri="{FF2B5EF4-FFF2-40B4-BE49-F238E27FC236}">
                <a16:creationId xmlns:a16="http://schemas.microsoft.com/office/drawing/2014/main" id="{AABEC7B2-51FD-4D89-89C4-F10FB1291166}"/>
              </a:ext>
            </a:extLst>
          </p:cNvPr>
          <p:cNvPicPr>
            <a:picLocks noChangeAspect="1"/>
          </p:cNvPicPr>
          <p:nvPr/>
        </p:nvPicPr>
        <p:blipFill>
          <a:blip r:embed="rId3"/>
          <a:stretch>
            <a:fillRect/>
          </a:stretch>
        </p:blipFill>
        <p:spPr>
          <a:xfrm>
            <a:off x="5987845" y="3635565"/>
            <a:ext cx="3038168" cy="2310849"/>
          </a:xfrm>
          <a:prstGeom prst="rect">
            <a:avLst/>
          </a:prstGeom>
        </p:spPr>
      </p:pic>
      <p:pic>
        <p:nvPicPr>
          <p:cNvPr id="15" name="Picture 2" descr="http://t2.gstatic.com/images?q=tbn:ANd9GcS51PGLkp34nPs-LewfkgAfjdZsyder21fNGFoRiZ_A6x7txo3e">
            <a:extLst>
              <a:ext uri="{FF2B5EF4-FFF2-40B4-BE49-F238E27FC236}">
                <a16:creationId xmlns:a16="http://schemas.microsoft.com/office/drawing/2014/main" id="{B6479714-5FBC-43FD-B9E4-165DB76590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20760" y="71543"/>
            <a:ext cx="544851" cy="446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3072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136524"/>
            <a:ext cx="7886700" cy="864096"/>
          </a:xfrm>
        </p:spPr>
        <p:txBody>
          <a:bodyPr/>
          <a:lstStyle/>
          <a:p>
            <a:r>
              <a:rPr lang="en-US" sz="3200" dirty="0"/>
              <a:t>Mostrando la salida con la instrucción </a:t>
            </a:r>
            <a:r>
              <a:rPr lang="en-US" sz="3200" dirty="0">
                <a:latin typeface="Consolas" panose="020B0609020204030204" pitchFamily="49" charset="0"/>
              </a:rPr>
              <a:t>print</a:t>
            </a:r>
          </a:p>
        </p:txBody>
      </p:sp>
      <p:sp>
        <p:nvSpPr>
          <p:cNvPr id="2" name="Content Placeholder 1"/>
          <p:cNvSpPr>
            <a:spLocks noGrp="1"/>
          </p:cNvSpPr>
          <p:nvPr>
            <p:ph idx="1"/>
          </p:nvPr>
        </p:nvSpPr>
        <p:spPr>
          <a:xfrm>
            <a:off x="251707" y="836712"/>
            <a:ext cx="8640586" cy="2407147"/>
          </a:xfrm>
        </p:spPr>
        <p:txBody>
          <a:bodyPr>
            <a:normAutofit fontScale="92500" lnSpcReduction="10000"/>
          </a:bodyPr>
          <a:lstStyle/>
          <a:p>
            <a:pPr marL="0" indent="0">
              <a:buNone/>
            </a:pPr>
            <a:r>
              <a:rPr lang="es-MX" sz="2400" b="1" dirty="0"/>
              <a:t>Salida formateada con </a:t>
            </a:r>
            <a:r>
              <a:rPr lang="es-MX" sz="2400" b="1" dirty="0" err="1"/>
              <a:t>fstrings</a:t>
            </a:r>
            <a:endParaRPr lang="en-US" sz="2400" b="1" dirty="0"/>
          </a:p>
          <a:p>
            <a:r>
              <a:rPr lang="es-MX" sz="2200" dirty="0"/>
              <a:t>Las </a:t>
            </a:r>
            <a:r>
              <a:rPr lang="es-MX" sz="2200" b="1" dirty="0"/>
              <a:t>f-</a:t>
            </a:r>
            <a:r>
              <a:rPr lang="es-MX" sz="2200" b="1" dirty="0" err="1"/>
              <a:t>strings</a:t>
            </a:r>
            <a:r>
              <a:rPr lang="es-MX" sz="2200" dirty="0"/>
              <a:t> permiten insertar variables directamente dentro de un texto, usando </a:t>
            </a:r>
            <a:r>
              <a:rPr lang="es-MX" sz="1900" b="1" dirty="0">
                <a:solidFill>
                  <a:srgbClr val="C00000"/>
                </a:solidFill>
                <a:latin typeface="Consolas" panose="020B0609020204030204" pitchFamily="49" charset="0"/>
              </a:rPr>
              <a:t>f"..."</a:t>
            </a:r>
            <a:r>
              <a:rPr lang="es-MX" sz="2200" dirty="0"/>
              <a:t> y llaves </a:t>
            </a:r>
            <a:r>
              <a:rPr lang="es-MX" sz="1900" b="1" dirty="0">
                <a:solidFill>
                  <a:srgbClr val="C00000"/>
                </a:solidFill>
                <a:latin typeface="Consolas" panose="020B0609020204030204" pitchFamily="49" charset="0"/>
              </a:rPr>
              <a:t>{ }</a:t>
            </a:r>
            <a:r>
              <a:rPr lang="es-MX" sz="2200" dirty="0"/>
              <a:t>.</a:t>
            </a:r>
          </a:p>
          <a:p>
            <a:r>
              <a:rPr lang="es-MX" sz="2200" dirty="0"/>
              <a:t>Son más legibles que concatenar con </a:t>
            </a:r>
            <a:r>
              <a:rPr lang="es-MX" sz="2200" b="1" dirty="0">
                <a:solidFill>
                  <a:srgbClr val="C00000"/>
                </a:solidFill>
                <a:latin typeface="Consolas" panose="020B0609020204030204" pitchFamily="49" charset="0"/>
              </a:rPr>
              <a:t>+</a:t>
            </a:r>
            <a:r>
              <a:rPr lang="es-MX" sz="2200" dirty="0"/>
              <a:t> o separar con comas.</a:t>
            </a:r>
          </a:p>
          <a:p>
            <a:r>
              <a:rPr lang="es-MX" sz="2200" dirty="0"/>
              <a:t>Dentro de las llaves se pueden usar variables e incluso operaciones.</a:t>
            </a:r>
          </a:p>
          <a:p>
            <a:r>
              <a:rPr lang="es-MX" sz="2200" dirty="0"/>
              <a:t>Se puede dar formato a números dentro de las llaves (ejemplo: </a:t>
            </a:r>
            <a:r>
              <a:rPr lang="es-MX" sz="1900" b="1" dirty="0">
                <a:solidFill>
                  <a:srgbClr val="C00000"/>
                </a:solidFill>
                <a:latin typeface="Consolas" panose="020B0609020204030204" pitchFamily="49" charset="0"/>
              </a:rPr>
              <a:t>{promedio:.2f}</a:t>
            </a:r>
            <a:r>
              <a:rPr lang="es-MX" sz="2200" dirty="0"/>
              <a:t> para 2 decimales).</a:t>
            </a:r>
            <a:endParaRPr lang="en-US" sz="2200" dirty="0"/>
          </a:p>
        </p:txBody>
      </p:sp>
      <p:sp>
        <p:nvSpPr>
          <p:cNvPr id="8" name="CuadroTexto 7">
            <a:extLst>
              <a:ext uri="{FF2B5EF4-FFF2-40B4-BE49-F238E27FC236}">
                <a16:creationId xmlns:a16="http://schemas.microsoft.com/office/drawing/2014/main" id="{B5B1762C-1CF0-4F22-A96C-887C0D6EF97C}"/>
              </a:ext>
            </a:extLst>
          </p:cNvPr>
          <p:cNvSpPr txBox="1"/>
          <p:nvPr/>
        </p:nvSpPr>
        <p:spPr>
          <a:xfrm>
            <a:off x="415996" y="3936295"/>
            <a:ext cx="5468610" cy="1569660"/>
          </a:xfrm>
          <a:prstGeom prst="rect">
            <a:avLst/>
          </a:prstGeom>
          <a:noFill/>
          <a:ln>
            <a:solidFill>
              <a:schemeClr val="tx1"/>
            </a:solidFill>
            <a:prstDash val="solid"/>
          </a:ln>
        </p:spPr>
        <p:txBody>
          <a:bodyPr wrap="square" rtlCol="0">
            <a:spAutoFit/>
          </a:bodyPr>
          <a:lstStyle/>
          <a:p>
            <a:r>
              <a:rPr lang="es-MX" sz="1200" dirty="0">
                <a:latin typeface="Consolas" panose="020B0609020204030204" pitchFamily="49" charset="0"/>
              </a:rPr>
              <a:t>universidad = "Universidad de Antioquia"</a:t>
            </a:r>
          </a:p>
          <a:p>
            <a:r>
              <a:rPr lang="es-MX" sz="1200" dirty="0">
                <a:latin typeface="Consolas" panose="020B0609020204030204" pitchFamily="49" charset="0"/>
              </a:rPr>
              <a:t>anio_fundacion = 1803</a:t>
            </a:r>
          </a:p>
          <a:p>
            <a:r>
              <a:rPr lang="es-MX" sz="1200" dirty="0">
                <a:latin typeface="Consolas" panose="020B0609020204030204" pitchFamily="49" charset="0"/>
              </a:rPr>
              <a:t>promedio = 4.35</a:t>
            </a:r>
          </a:p>
          <a:p>
            <a:r>
              <a:rPr lang="es-MX" sz="1200" dirty="0" err="1">
                <a:latin typeface="Consolas" panose="020B0609020204030204" pitchFamily="49" charset="0"/>
              </a:rPr>
              <a:t>antiguedad</a:t>
            </a:r>
            <a:r>
              <a:rPr lang="es-MX" sz="1200" dirty="0">
                <a:latin typeface="Consolas" panose="020B0609020204030204" pitchFamily="49" charset="0"/>
              </a:rPr>
              <a:t> = 2026 - anio_fundacion</a:t>
            </a:r>
          </a:p>
          <a:p>
            <a:endParaRPr lang="es-MX" sz="1200" dirty="0">
              <a:latin typeface="Consolas" panose="020B0609020204030204" pitchFamily="49" charset="0"/>
            </a:endParaRPr>
          </a:p>
          <a:p>
            <a:r>
              <a:rPr lang="es-MX" sz="1200" dirty="0">
                <a:latin typeface="Consolas" panose="020B0609020204030204" pitchFamily="49" charset="0"/>
              </a:rPr>
              <a:t>print(</a:t>
            </a:r>
            <a:r>
              <a:rPr lang="es-MX" sz="1200" dirty="0" err="1">
                <a:latin typeface="Consolas" panose="020B0609020204030204" pitchFamily="49" charset="0"/>
              </a:rPr>
              <a:t>f"La</a:t>
            </a:r>
            <a:r>
              <a:rPr lang="es-MX" sz="1200" dirty="0">
                <a:latin typeface="Consolas" panose="020B0609020204030204" pitchFamily="49" charset="0"/>
              </a:rPr>
              <a:t> {universidad} fue fundada en {anio_fundacion}.")</a:t>
            </a:r>
          </a:p>
          <a:p>
            <a:r>
              <a:rPr lang="es-MX" sz="1200" dirty="0">
                <a:latin typeface="Consolas" panose="020B0609020204030204" pitchFamily="49" charset="0"/>
              </a:rPr>
              <a:t>print(</a:t>
            </a:r>
            <a:r>
              <a:rPr lang="es-MX" sz="1200" dirty="0" err="1">
                <a:latin typeface="Consolas" panose="020B0609020204030204" pitchFamily="49" charset="0"/>
              </a:rPr>
              <a:t>f"Tiene</a:t>
            </a:r>
            <a:r>
              <a:rPr lang="es-MX" sz="1200" dirty="0">
                <a:latin typeface="Consolas" panose="020B0609020204030204" pitchFamily="49" charset="0"/>
              </a:rPr>
              <a:t> aproximadamente {</a:t>
            </a:r>
            <a:r>
              <a:rPr lang="es-MX" sz="1200" dirty="0" err="1">
                <a:latin typeface="Consolas" panose="020B0609020204030204" pitchFamily="49" charset="0"/>
              </a:rPr>
              <a:t>antiguedad</a:t>
            </a:r>
            <a:r>
              <a:rPr lang="es-MX" sz="1200" dirty="0">
                <a:latin typeface="Consolas" panose="020B0609020204030204" pitchFamily="49" charset="0"/>
              </a:rPr>
              <a:t>} años de historia.")</a:t>
            </a:r>
          </a:p>
          <a:p>
            <a:r>
              <a:rPr lang="es-MX" sz="1200" dirty="0">
                <a:latin typeface="Consolas" panose="020B0609020204030204" pitchFamily="49" charset="0"/>
              </a:rPr>
              <a:t>print(</a:t>
            </a:r>
            <a:r>
              <a:rPr lang="es-MX" sz="1200" dirty="0" err="1">
                <a:latin typeface="Consolas" panose="020B0609020204030204" pitchFamily="49" charset="0"/>
              </a:rPr>
              <a:t>f"El</a:t>
            </a:r>
            <a:r>
              <a:rPr lang="es-MX" sz="1200" dirty="0">
                <a:latin typeface="Consolas" panose="020B0609020204030204" pitchFamily="49" charset="0"/>
              </a:rPr>
              <a:t> promedio del estudiante es {promedio:.2f}")</a:t>
            </a:r>
            <a:endParaRPr lang="es-CO" sz="1200" dirty="0">
              <a:latin typeface="Consolas" panose="020B0609020204030204" pitchFamily="49" charset="0"/>
            </a:endParaRPr>
          </a:p>
        </p:txBody>
      </p:sp>
      <p:sp>
        <p:nvSpPr>
          <p:cNvPr id="9" name="CuadroTexto 8">
            <a:extLst>
              <a:ext uri="{FF2B5EF4-FFF2-40B4-BE49-F238E27FC236}">
                <a16:creationId xmlns:a16="http://schemas.microsoft.com/office/drawing/2014/main" id="{6F51E7FA-7D86-4550-AB85-EBFB5512B165}"/>
              </a:ext>
            </a:extLst>
          </p:cNvPr>
          <p:cNvSpPr txBox="1"/>
          <p:nvPr/>
        </p:nvSpPr>
        <p:spPr>
          <a:xfrm>
            <a:off x="2754257" y="5600424"/>
            <a:ext cx="792088" cy="369332"/>
          </a:xfrm>
          <a:prstGeom prst="rect">
            <a:avLst/>
          </a:prstGeom>
          <a:noFill/>
        </p:spPr>
        <p:txBody>
          <a:bodyPr wrap="square">
            <a:spAutoFit/>
          </a:bodyPr>
          <a:lstStyle/>
          <a:p>
            <a:pPr algn="ctr"/>
            <a:r>
              <a:rPr lang="es-ES" sz="1800" dirty="0">
                <a:hlinkClick r:id="rId2"/>
              </a:rPr>
              <a:t>link</a:t>
            </a:r>
            <a:endParaRPr lang="es-CO" dirty="0"/>
          </a:p>
        </p:txBody>
      </p:sp>
      <p:pic>
        <p:nvPicPr>
          <p:cNvPr id="7" name="Imagen 6">
            <a:extLst>
              <a:ext uri="{FF2B5EF4-FFF2-40B4-BE49-F238E27FC236}">
                <a16:creationId xmlns:a16="http://schemas.microsoft.com/office/drawing/2014/main" id="{2EA3B233-2C65-4805-8F15-7444AE795990}"/>
              </a:ext>
            </a:extLst>
          </p:cNvPr>
          <p:cNvPicPr>
            <a:picLocks noChangeAspect="1"/>
          </p:cNvPicPr>
          <p:nvPr/>
        </p:nvPicPr>
        <p:blipFill>
          <a:blip r:embed="rId3"/>
          <a:stretch>
            <a:fillRect/>
          </a:stretch>
        </p:blipFill>
        <p:spPr>
          <a:xfrm>
            <a:off x="5922706" y="3420963"/>
            <a:ext cx="3162300" cy="2600325"/>
          </a:xfrm>
          <a:prstGeom prst="rect">
            <a:avLst/>
          </a:prstGeom>
        </p:spPr>
      </p:pic>
      <p:pic>
        <p:nvPicPr>
          <p:cNvPr id="12" name="Picture 2" descr="http://t2.gstatic.com/images?q=tbn:ANd9GcS51PGLkp34nPs-LewfkgAfjdZsyder21fNGFoRiZ_A6x7txo3e">
            <a:extLst>
              <a:ext uri="{FF2B5EF4-FFF2-40B4-BE49-F238E27FC236}">
                <a16:creationId xmlns:a16="http://schemas.microsoft.com/office/drawing/2014/main" id="{A82D257C-CB0F-4389-984C-4907684EB6E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20760" y="71543"/>
            <a:ext cx="544851" cy="446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957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136524"/>
            <a:ext cx="7886700" cy="864096"/>
          </a:xfrm>
        </p:spPr>
        <p:txBody>
          <a:bodyPr/>
          <a:lstStyle/>
          <a:p>
            <a:r>
              <a:rPr lang="en-US" sz="3200" dirty="0"/>
              <a:t>Mostrando la salida con la instrucción </a:t>
            </a:r>
            <a:r>
              <a:rPr lang="en-US" sz="3200" dirty="0">
                <a:latin typeface="Consolas" panose="020B0609020204030204" pitchFamily="49" charset="0"/>
              </a:rPr>
              <a:t>print</a:t>
            </a:r>
          </a:p>
        </p:txBody>
      </p:sp>
      <p:sp>
        <p:nvSpPr>
          <p:cNvPr id="2" name="Content Placeholder 1"/>
          <p:cNvSpPr>
            <a:spLocks noGrp="1"/>
          </p:cNvSpPr>
          <p:nvPr>
            <p:ph idx="1"/>
          </p:nvPr>
        </p:nvSpPr>
        <p:spPr>
          <a:xfrm>
            <a:off x="251707" y="836713"/>
            <a:ext cx="8640586" cy="1152128"/>
          </a:xfrm>
        </p:spPr>
        <p:txBody>
          <a:bodyPr>
            <a:normAutofit/>
          </a:bodyPr>
          <a:lstStyle/>
          <a:p>
            <a:pPr marL="0" indent="0">
              <a:buNone/>
            </a:pPr>
            <a:r>
              <a:rPr lang="es-MX" sz="2400" b="1" dirty="0"/>
              <a:t>Tabla resumen de formateo con </a:t>
            </a:r>
            <a:r>
              <a:rPr lang="es-MX" sz="2400" b="1" dirty="0" err="1"/>
              <a:t>fstrings</a:t>
            </a:r>
            <a:endParaRPr lang="en-US" sz="2400" b="1" dirty="0"/>
          </a:p>
          <a:p>
            <a:r>
              <a:rPr lang="es-MX" sz="2000" dirty="0"/>
              <a:t>Dentro de </a:t>
            </a:r>
            <a:r>
              <a:rPr lang="es-MX" sz="1800" b="1" dirty="0">
                <a:solidFill>
                  <a:srgbClr val="C00000"/>
                </a:solidFill>
                <a:latin typeface="Consolas" panose="020B0609020204030204" pitchFamily="49" charset="0"/>
              </a:rPr>
              <a:t>{ }</a:t>
            </a:r>
            <a:r>
              <a:rPr lang="es-MX" sz="2000" dirty="0"/>
              <a:t> no solo van variables: se puede escribir cualquier expresión válida de Python (operaciones, formato, métodos, etc.).</a:t>
            </a:r>
            <a:endParaRPr lang="en-US" sz="2000" dirty="0"/>
          </a:p>
        </p:txBody>
      </p:sp>
      <p:graphicFrame>
        <p:nvGraphicFramePr>
          <p:cNvPr id="4" name="Tabla 3">
            <a:extLst>
              <a:ext uri="{FF2B5EF4-FFF2-40B4-BE49-F238E27FC236}">
                <a16:creationId xmlns:a16="http://schemas.microsoft.com/office/drawing/2014/main" id="{2B5DCE7B-5C30-44F8-AD47-8EC815717749}"/>
              </a:ext>
            </a:extLst>
          </p:cNvPr>
          <p:cNvGraphicFramePr>
            <a:graphicFrameLocks noGrp="1"/>
          </p:cNvGraphicFramePr>
          <p:nvPr>
            <p:extLst>
              <p:ext uri="{D42A27DB-BD31-4B8C-83A1-F6EECF244321}">
                <p14:modId xmlns:p14="http://schemas.microsoft.com/office/powerpoint/2010/main" val="1904862962"/>
              </p:ext>
            </p:extLst>
          </p:nvPr>
        </p:nvGraphicFramePr>
        <p:xfrm>
          <a:off x="454786" y="2132856"/>
          <a:ext cx="8234428" cy="3064259"/>
        </p:xfrm>
        <a:graphic>
          <a:graphicData uri="http://schemas.openxmlformats.org/drawingml/2006/table">
            <a:tbl>
              <a:tblPr/>
              <a:tblGrid>
                <a:gridCol w="3341609">
                  <a:extLst>
                    <a:ext uri="{9D8B030D-6E8A-4147-A177-3AD203B41FA5}">
                      <a16:colId xmlns:a16="http://schemas.microsoft.com/office/drawing/2014/main" val="1381286786"/>
                    </a:ext>
                  </a:extLst>
                </a:gridCol>
                <a:gridCol w="2602415">
                  <a:extLst>
                    <a:ext uri="{9D8B030D-6E8A-4147-A177-3AD203B41FA5}">
                      <a16:colId xmlns:a16="http://schemas.microsoft.com/office/drawing/2014/main" val="1706520638"/>
                    </a:ext>
                  </a:extLst>
                </a:gridCol>
                <a:gridCol w="2290404">
                  <a:extLst>
                    <a:ext uri="{9D8B030D-6E8A-4147-A177-3AD203B41FA5}">
                      <a16:colId xmlns:a16="http://schemas.microsoft.com/office/drawing/2014/main" val="1925324455"/>
                    </a:ext>
                  </a:extLst>
                </a:gridCol>
              </a:tblGrid>
              <a:tr h="207383">
                <a:tc>
                  <a:txBody>
                    <a:bodyPr/>
                    <a:lstStyle/>
                    <a:p>
                      <a:r>
                        <a:rPr lang="es-CO" sz="1800" b="1">
                          <a:solidFill>
                            <a:schemeClr val="bg1"/>
                          </a:solidFill>
                        </a:rPr>
                        <a:t>Código</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1"/>
                    </a:solidFill>
                  </a:tcPr>
                </a:tc>
                <a:tc>
                  <a:txBody>
                    <a:bodyPr/>
                    <a:lstStyle/>
                    <a:p>
                      <a:r>
                        <a:rPr lang="es-CO" sz="1800" b="1">
                          <a:solidFill>
                            <a:schemeClr val="bg1"/>
                          </a:solidFill>
                        </a:rPr>
                        <a:t>Qué hace {}</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1"/>
                    </a:solidFill>
                  </a:tcPr>
                </a:tc>
                <a:tc>
                  <a:txBody>
                    <a:bodyPr/>
                    <a:lstStyle/>
                    <a:p>
                      <a:r>
                        <a:rPr lang="es-CO" sz="1800" b="1" dirty="0">
                          <a:solidFill>
                            <a:schemeClr val="bg1"/>
                          </a:solidFill>
                        </a:rPr>
                        <a:t>Salida</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141019144"/>
                  </a:ext>
                </a:extLst>
              </a:tr>
              <a:tr h="673995">
                <a:tc>
                  <a:txBody>
                    <a:bodyPr/>
                    <a:lstStyle/>
                    <a:p>
                      <a:r>
                        <a:rPr lang="es-CO" sz="1200" dirty="0">
                          <a:latin typeface="Consolas" panose="020B0609020204030204" pitchFamily="49" charset="0"/>
                        </a:rPr>
                        <a:t>programa = "Ingeniería de Sistemas"</a:t>
                      </a:r>
                      <a:br>
                        <a:rPr lang="es-CO" sz="1200" dirty="0">
                          <a:latin typeface="Consolas" panose="020B0609020204030204" pitchFamily="49" charset="0"/>
                        </a:rPr>
                      </a:br>
                      <a:r>
                        <a:rPr lang="es-CO" sz="1200" dirty="0">
                          <a:latin typeface="Consolas" panose="020B0609020204030204" pitchFamily="49" charset="0"/>
                        </a:rPr>
                        <a:t>print(f"Programa: {programa}")</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MX" sz="1600"/>
                        <a:t>Inserta el valor de una variable</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CO" sz="1200" dirty="0">
                          <a:latin typeface="Consolas" panose="020B0609020204030204" pitchFamily="49" charset="0"/>
                        </a:rPr>
                        <a:t>Programa: Ingeniería de Sistemas</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0698905"/>
                  </a:ext>
                </a:extLst>
              </a:tr>
              <a:tr h="673995">
                <a:tc>
                  <a:txBody>
                    <a:bodyPr/>
                    <a:lstStyle/>
                    <a:p>
                      <a:r>
                        <a:rPr lang="it-IT" sz="1200" dirty="0">
                          <a:latin typeface="Consolas" panose="020B0609020204030204" pitchFamily="49" charset="0"/>
                        </a:rPr>
                        <a:t>nota1 = 4.2</a:t>
                      </a:r>
                      <a:br>
                        <a:rPr lang="it-IT" sz="1200" dirty="0">
                          <a:latin typeface="Consolas" panose="020B0609020204030204" pitchFamily="49" charset="0"/>
                        </a:rPr>
                      </a:br>
                      <a:r>
                        <a:rPr lang="it-IT" sz="1200" dirty="0">
                          <a:latin typeface="Consolas" panose="020B0609020204030204" pitchFamily="49" charset="0"/>
                        </a:rPr>
                        <a:t>nota2 = 3.8</a:t>
                      </a:r>
                      <a:br>
                        <a:rPr lang="it-IT" sz="1200" dirty="0">
                          <a:latin typeface="Consolas" panose="020B0609020204030204" pitchFamily="49" charset="0"/>
                        </a:rPr>
                      </a:br>
                      <a:r>
                        <a:rPr lang="it-IT" sz="1200" dirty="0">
                          <a:latin typeface="Consolas" panose="020B0609020204030204" pitchFamily="49" charset="0"/>
                        </a:rPr>
                        <a:t>print(f"Promedio: {(nota1 + nota2) / 2}")</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MX" sz="1600" dirty="0"/>
                        <a:t>Calcula una operación entre variables</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CO" sz="1200" dirty="0">
                          <a:latin typeface="Consolas" panose="020B0609020204030204" pitchFamily="49" charset="0"/>
                        </a:rPr>
                        <a:t>Promedio: 4.0</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6679017"/>
                  </a:ext>
                </a:extLst>
              </a:tr>
              <a:tr h="518458">
                <a:tc>
                  <a:txBody>
                    <a:bodyPr/>
                    <a:lstStyle/>
                    <a:p>
                      <a:r>
                        <a:rPr lang="it-IT" sz="1200">
                          <a:latin typeface="Consolas" panose="020B0609020204030204" pitchFamily="49" charset="0"/>
                        </a:rPr>
                        <a:t>promedio = 4.3567</a:t>
                      </a:r>
                      <a:br>
                        <a:rPr lang="it-IT" sz="1200">
                          <a:latin typeface="Consolas" panose="020B0609020204030204" pitchFamily="49" charset="0"/>
                        </a:rPr>
                      </a:br>
                      <a:r>
                        <a:rPr lang="it-IT" sz="1200">
                          <a:latin typeface="Consolas" panose="020B0609020204030204" pitchFamily="49" charset="0"/>
                        </a:rPr>
                        <a:t>print(f"Promedio: {promedio:.2f}")</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MX" sz="1600"/>
                        <a:t>Redondea el valor a 2 decimales</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CO" sz="1200" dirty="0">
                          <a:latin typeface="Consolas" panose="020B0609020204030204" pitchFamily="49" charset="0"/>
                        </a:rPr>
                        <a:t>Promedio: 4.36</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869362"/>
                  </a:ext>
                </a:extLst>
              </a:tr>
              <a:tr h="518458">
                <a:tc>
                  <a:txBody>
                    <a:bodyPr/>
                    <a:lstStyle/>
                    <a:p>
                      <a:r>
                        <a:rPr lang="es-CO" sz="1200" dirty="0">
                          <a:latin typeface="Consolas" panose="020B0609020204030204" pitchFamily="49" charset="0"/>
                        </a:rPr>
                        <a:t>nombre = "ana"</a:t>
                      </a:r>
                      <a:br>
                        <a:rPr lang="es-CO" sz="1200" dirty="0">
                          <a:latin typeface="Consolas" panose="020B0609020204030204" pitchFamily="49" charset="0"/>
                        </a:rPr>
                      </a:br>
                      <a:r>
                        <a:rPr lang="es-CO" sz="1200" dirty="0">
                          <a:latin typeface="Consolas" panose="020B0609020204030204" pitchFamily="49" charset="0"/>
                        </a:rPr>
                        <a:t>print(f"Bienvenida, {nombre.upper()}")</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MX" sz="1600"/>
                        <a:t>Llama a un método sobre la variable</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CO" sz="1200" dirty="0">
                          <a:latin typeface="Consolas" panose="020B0609020204030204" pitchFamily="49" charset="0"/>
                        </a:rPr>
                        <a:t>Bienvenida, ANA</a:t>
                      </a:r>
                    </a:p>
                  </a:txBody>
                  <a:tcPr marL="87027" marR="87027" marT="43513" marB="43513"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9496177"/>
                  </a:ext>
                </a:extLst>
              </a:tr>
            </a:tbl>
          </a:graphicData>
        </a:graphic>
      </p:graphicFrame>
      <p:pic>
        <p:nvPicPr>
          <p:cNvPr id="10" name="Picture 2" descr="http://t2.gstatic.com/images?q=tbn:ANd9GcS51PGLkp34nPs-LewfkgAfjdZsyder21fNGFoRiZ_A6x7txo3e">
            <a:extLst>
              <a:ext uri="{FF2B5EF4-FFF2-40B4-BE49-F238E27FC236}">
                <a16:creationId xmlns:a16="http://schemas.microsoft.com/office/drawing/2014/main" id="{361ABDB2-FB95-476B-8296-5E8B90F526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20760" y="71543"/>
            <a:ext cx="544851" cy="446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414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289109"/>
            <a:ext cx="7886700" cy="1116540"/>
          </a:xfrm>
        </p:spPr>
        <p:txBody>
          <a:bodyPr/>
          <a:lstStyle/>
          <a:p>
            <a:r>
              <a:rPr lang="en-US" sz="3200" dirty="0"/>
              <a:t>Entrada de datos </a:t>
            </a:r>
            <a:r>
              <a:rPr lang="en-US" sz="3200" dirty="0" err="1"/>
              <a:t>usando</a:t>
            </a:r>
            <a:r>
              <a:rPr lang="en-US" sz="3200" dirty="0"/>
              <a:t> </a:t>
            </a:r>
            <a:r>
              <a:rPr lang="en-US" sz="3200" dirty="0">
                <a:latin typeface="Consolas" panose="020B0609020204030204" pitchFamily="49" charset="0"/>
              </a:rPr>
              <a:t>input</a:t>
            </a:r>
          </a:p>
        </p:txBody>
      </p:sp>
      <p:sp>
        <p:nvSpPr>
          <p:cNvPr id="2" name="Content Placeholder 1"/>
          <p:cNvSpPr>
            <a:spLocks noGrp="1"/>
          </p:cNvSpPr>
          <p:nvPr>
            <p:ph idx="1"/>
          </p:nvPr>
        </p:nvSpPr>
        <p:spPr>
          <a:xfrm>
            <a:off x="272113" y="1217952"/>
            <a:ext cx="8372216" cy="2679072"/>
          </a:xfrm>
        </p:spPr>
        <p:txBody>
          <a:bodyPr>
            <a:normAutofit fontScale="92500" lnSpcReduction="20000"/>
          </a:bodyPr>
          <a:lstStyle/>
          <a:p>
            <a:pPr marL="0" indent="0">
              <a:buNone/>
            </a:pPr>
            <a:r>
              <a:rPr lang="en-US" sz="2600" b="1" dirty="0"/>
              <a:t>Instrucción </a:t>
            </a:r>
            <a:r>
              <a:rPr lang="en-US" sz="2600" b="1" dirty="0">
                <a:latin typeface="Consolas" panose="020B0609020204030204" pitchFamily="49" charset="0"/>
              </a:rPr>
              <a:t>input</a:t>
            </a:r>
          </a:p>
          <a:p>
            <a:r>
              <a:rPr lang="es-MX" sz="2200" dirty="0"/>
              <a:t>La función </a:t>
            </a:r>
            <a:r>
              <a:rPr lang="es-MX" sz="1900" b="1" dirty="0">
                <a:solidFill>
                  <a:srgbClr val="C00000"/>
                </a:solidFill>
                <a:latin typeface="Consolas" panose="020B0609020204030204" pitchFamily="49" charset="0"/>
              </a:rPr>
              <a:t>input()</a:t>
            </a:r>
            <a:r>
              <a:rPr lang="es-MX" sz="2200" dirty="0"/>
              <a:t> permite </a:t>
            </a:r>
            <a:r>
              <a:rPr lang="es-MX" sz="2200" b="1" dirty="0"/>
              <a:t>recibir datos</a:t>
            </a:r>
            <a:r>
              <a:rPr lang="es-MX" sz="2200" dirty="0"/>
              <a:t> desde el teclado mientras el programa se ejecuta.</a:t>
            </a:r>
          </a:p>
          <a:p>
            <a:r>
              <a:rPr lang="es-MX" sz="2200" dirty="0"/>
              <a:t>El programa se detiene y espera a que el usuario escriba algo y presione </a:t>
            </a:r>
            <a:r>
              <a:rPr lang="es-MX" sz="2200" b="1" dirty="0" err="1"/>
              <a:t>Enter</a:t>
            </a:r>
            <a:r>
              <a:rPr lang="es-MX" sz="2200" dirty="0"/>
              <a:t>.</a:t>
            </a:r>
          </a:p>
          <a:p>
            <a:r>
              <a:rPr lang="es-MX" sz="2200" dirty="0"/>
              <a:t>Dentro de los paréntesis se puede escribir un </a:t>
            </a:r>
            <a:r>
              <a:rPr lang="es-MX" sz="2200" b="1" dirty="0"/>
              <a:t>mensaje</a:t>
            </a:r>
            <a:r>
              <a:rPr lang="es-MX" sz="2200" dirty="0"/>
              <a:t> (</a:t>
            </a:r>
            <a:r>
              <a:rPr lang="es-MX" sz="2200" b="1" dirty="0" err="1"/>
              <a:t>prompt</a:t>
            </a:r>
            <a:r>
              <a:rPr lang="es-MX" sz="2200" dirty="0"/>
              <a:t>) que guía al usuario sobre qué debe ingresar.</a:t>
            </a:r>
          </a:p>
          <a:p>
            <a:r>
              <a:rPr lang="es-MX" sz="1900" b="1" dirty="0">
                <a:solidFill>
                  <a:srgbClr val="C00000"/>
                </a:solidFill>
                <a:latin typeface="Consolas" panose="020B0609020204030204" pitchFamily="49" charset="0"/>
              </a:rPr>
              <a:t>input()</a:t>
            </a:r>
            <a:r>
              <a:rPr lang="es-MX" sz="2200" dirty="0"/>
              <a:t> siempre devuelve el valor como </a:t>
            </a:r>
            <a:r>
              <a:rPr lang="es-MX" sz="2200" b="1" dirty="0"/>
              <a:t>texto</a:t>
            </a:r>
            <a:r>
              <a:rPr lang="es-MX" sz="2200" dirty="0"/>
              <a:t> (</a:t>
            </a:r>
            <a:r>
              <a:rPr lang="es-MX" sz="1900" b="1" dirty="0">
                <a:solidFill>
                  <a:srgbClr val="C00000"/>
                </a:solidFill>
                <a:latin typeface="Consolas" panose="020B0609020204030204" pitchFamily="49" charset="0"/>
              </a:rPr>
              <a:t>str</a:t>
            </a:r>
            <a:r>
              <a:rPr lang="es-MX" sz="2200" dirty="0"/>
              <a:t>), sin importar si el usuario escribió un número.</a:t>
            </a:r>
            <a:endParaRPr lang="en-US" sz="2200" dirty="0"/>
          </a:p>
        </p:txBody>
      </p:sp>
      <p:sp>
        <p:nvSpPr>
          <p:cNvPr id="12" name="CuadroTexto 11">
            <a:extLst>
              <a:ext uri="{FF2B5EF4-FFF2-40B4-BE49-F238E27FC236}">
                <a16:creationId xmlns:a16="http://schemas.microsoft.com/office/drawing/2014/main" id="{90CA1E44-0373-4DDC-9A94-DE95D9208B91}"/>
              </a:ext>
            </a:extLst>
          </p:cNvPr>
          <p:cNvSpPr txBox="1"/>
          <p:nvPr/>
        </p:nvSpPr>
        <p:spPr>
          <a:xfrm>
            <a:off x="467545" y="3948681"/>
            <a:ext cx="4248472" cy="584775"/>
          </a:xfrm>
          <a:prstGeom prst="rect">
            <a:avLst/>
          </a:prstGeom>
          <a:noFill/>
          <a:ln>
            <a:solidFill>
              <a:schemeClr val="tx1"/>
            </a:solidFill>
            <a:prstDash val="solid"/>
          </a:ln>
        </p:spPr>
        <p:txBody>
          <a:bodyPr wrap="square" rtlCol="0">
            <a:spAutoFit/>
          </a:bodyPr>
          <a:lstStyle/>
          <a:p>
            <a:r>
              <a:rPr lang="es-MX" sz="1600" dirty="0">
                <a:latin typeface="Consolas" panose="020B0609020204030204" pitchFamily="49" charset="0"/>
              </a:rPr>
              <a:t>nombre = input("¿Cómo te llamas? ")</a:t>
            </a:r>
          </a:p>
          <a:p>
            <a:r>
              <a:rPr lang="es-MX" sz="1600" dirty="0">
                <a:latin typeface="Consolas" panose="020B0609020204030204" pitchFamily="49" charset="0"/>
              </a:rPr>
              <a:t>print("Hola,", nombre)</a:t>
            </a:r>
            <a:endParaRPr lang="es-CO" sz="1600" dirty="0">
              <a:latin typeface="Consolas" panose="020B0609020204030204" pitchFamily="49" charset="0"/>
            </a:endParaRPr>
          </a:p>
        </p:txBody>
      </p:sp>
      <p:grpSp>
        <p:nvGrpSpPr>
          <p:cNvPr id="16" name="Grupo 15">
            <a:extLst>
              <a:ext uri="{FF2B5EF4-FFF2-40B4-BE49-F238E27FC236}">
                <a16:creationId xmlns:a16="http://schemas.microsoft.com/office/drawing/2014/main" id="{1AD527B7-8A93-457A-8F42-F1A8D931590F}"/>
              </a:ext>
            </a:extLst>
          </p:cNvPr>
          <p:cNvGrpSpPr/>
          <p:nvPr/>
        </p:nvGrpSpPr>
        <p:grpSpPr>
          <a:xfrm>
            <a:off x="5377505" y="3933056"/>
            <a:ext cx="3266824" cy="2679072"/>
            <a:chOff x="5377505" y="3717032"/>
            <a:chExt cx="3266824" cy="2679072"/>
          </a:xfrm>
        </p:grpSpPr>
        <p:pic>
          <p:nvPicPr>
            <p:cNvPr id="13" name="Picture 2" descr="http://t2.gstatic.com/images?q=tbn:ANd9GcS51PGLkp34nPs-LewfkgAfjdZsyder21fNGFoRiZ_A6x7txo3e">
              <a:extLst>
                <a:ext uri="{FF2B5EF4-FFF2-40B4-BE49-F238E27FC236}">
                  <a16:creationId xmlns:a16="http://schemas.microsoft.com/office/drawing/2014/main" id="{DF41FF1D-0BAC-4ED8-8F5A-593D976044F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77505" y="3717032"/>
              <a:ext cx="3266824" cy="2679072"/>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3736F530-5BD9-4DB2-A16B-8E30DB933837}"/>
                </a:ext>
              </a:extLst>
            </p:cNvPr>
            <p:cNvSpPr txBox="1"/>
            <p:nvPr/>
          </p:nvSpPr>
          <p:spPr>
            <a:xfrm>
              <a:off x="5478849" y="3904915"/>
              <a:ext cx="2981583" cy="400110"/>
            </a:xfrm>
            <a:prstGeom prst="rect">
              <a:avLst/>
            </a:prstGeom>
            <a:noFill/>
          </p:spPr>
          <p:txBody>
            <a:bodyPr wrap="square">
              <a:spAutoFit/>
            </a:bodyPr>
            <a:lstStyle/>
            <a:p>
              <a:r>
                <a:rPr lang="es-CO" sz="1000" dirty="0">
                  <a:latin typeface="Consolas" panose="020B0609020204030204" pitchFamily="49" charset="0"/>
                </a:rPr>
                <a:t>¿Cómo te llamas? </a:t>
              </a:r>
              <a:r>
                <a:rPr lang="es-CO" sz="1000" dirty="0" err="1">
                  <a:solidFill>
                    <a:srgbClr val="C00000"/>
                  </a:solidFill>
                  <a:latin typeface="Consolas" panose="020B0609020204030204" pitchFamily="49" charset="0"/>
                </a:rPr>
                <a:t>Maria</a:t>
              </a:r>
              <a:r>
                <a:rPr lang="es-CO" sz="1000" dirty="0">
                  <a:solidFill>
                    <a:srgbClr val="C00000"/>
                  </a:solidFill>
                  <a:latin typeface="Consolas" panose="020B0609020204030204" pitchFamily="49" charset="0"/>
                </a:rPr>
                <a:t> ↵</a:t>
              </a:r>
            </a:p>
            <a:p>
              <a:r>
                <a:rPr lang="es-CO" sz="1000" dirty="0">
                  <a:latin typeface="Consolas" panose="020B0609020204030204" pitchFamily="49" charset="0"/>
                </a:rPr>
                <a:t>Hola </a:t>
              </a:r>
              <a:r>
                <a:rPr lang="es-CO" sz="1000" dirty="0" err="1">
                  <a:latin typeface="Consolas" panose="020B0609020204030204" pitchFamily="49" charset="0"/>
                </a:rPr>
                <a:t>Maria</a:t>
              </a:r>
              <a:endParaRPr lang="es-CO" sz="1000" dirty="0">
                <a:latin typeface="Consolas" panose="020B0609020204030204" pitchFamily="49" charset="0"/>
              </a:endParaRPr>
            </a:p>
          </p:txBody>
        </p:sp>
      </p:grpSp>
      <p:sp>
        <p:nvSpPr>
          <p:cNvPr id="17" name="CuadroTexto 16">
            <a:extLst>
              <a:ext uri="{FF2B5EF4-FFF2-40B4-BE49-F238E27FC236}">
                <a16:creationId xmlns:a16="http://schemas.microsoft.com/office/drawing/2014/main" id="{DAA9E785-B26B-4F1D-84E8-3A7CB096EDD9}"/>
              </a:ext>
            </a:extLst>
          </p:cNvPr>
          <p:cNvSpPr txBox="1"/>
          <p:nvPr/>
        </p:nvSpPr>
        <p:spPr>
          <a:xfrm>
            <a:off x="2270341" y="4538477"/>
            <a:ext cx="792088" cy="307777"/>
          </a:xfrm>
          <a:prstGeom prst="rect">
            <a:avLst/>
          </a:prstGeom>
          <a:noFill/>
        </p:spPr>
        <p:txBody>
          <a:bodyPr wrap="square">
            <a:spAutoFit/>
          </a:bodyPr>
          <a:lstStyle/>
          <a:p>
            <a:pPr algn="ctr"/>
            <a:r>
              <a:rPr lang="es-ES" sz="1400" dirty="0">
                <a:hlinkClick r:id="rId3"/>
              </a:rPr>
              <a:t>link</a:t>
            </a:r>
            <a:endParaRPr lang="es-CO" sz="1400" dirty="0"/>
          </a:p>
        </p:txBody>
      </p:sp>
      <p:pic>
        <p:nvPicPr>
          <p:cNvPr id="6" name="Imagen 5">
            <a:extLst>
              <a:ext uri="{FF2B5EF4-FFF2-40B4-BE49-F238E27FC236}">
                <a16:creationId xmlns:a16="http://schemas.microsoft.com/office/drawing/2014/main" id="{0D8F4DDC-1DAA-4768-8804-F8D29B7A835F}"/>
              </a:ext>
            </a:extLst>
          </p:cNvPr>
          <p:cNvPicPr>
            <a:picLocks noChangeAspect="1"/>
          </p:cNvPicPr>
          <p:nvPr/>
        </p:nvPicPr>
        <p:blipFill>
          <a:blip r:embed="rId4"/>
          <a:stretch>
            <a:fillRect/>
          </a:stretch>
        </p:blipFill>
        <p:spPr>
          <a:xfrm>
            <a:off x="899592" y="4907809"/>
            <a:ext cx="3533586" cy="1841296"/>
          </a:xfrm>
          <a:prstGeom prst="rect">
            <a:avLst/>
          </a:prstGeom>
        </p:spPr>
      </p:pic>
      <p:pic>
        <p:nvPicPr>
          <p:cNvPr id="11" name="Picture 2" descr="http://www.jegsworks.com/lessons/computerbasics/lesson3/keyboard-white.png">
            <a:extLst>
              <a:ext uri="{FF2B5EF4-FFF2-40B4-BE49-F238E27FC236}">
                <a16:creationId xmlns:a16="http://schemas.microsoft.com/office/drawing/2014/main" id="{3D97B2C1-2DAE-4668-8004-2508E3582A8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11611" y="55865"/>
            <a:ext cx="963689" cy="305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55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238781"/>
            <a:ext cx="7886700" cy="875647"/>
          </a:xfrm>
        </p:spPr>
        <p:txBody>
          <a:bodyPr/>
          <a:lstStyle/>
          <a:p>
            <a:r>
              <a:rPr lang="en-US" sz="3200" dirty="0"/>
              <a:t>Entrada de datos </a:t>
            </a:r>
            <a:r>
              <a:rPr lang="en-US" sz="3200" dirty="0" err="1"/>
              <a:t>usando</a:t>
            </a:r>
            <a:r>
              <a:rPr lang="en-US" sz="3200" dirty="0"/>
              <a:t> </a:t>
            </a:r>
            <a:r>
              <a:rPr lang="en-US" sz="3200" dirty="0">
                <a:latin typeface="Consolas" panose="020B0609020204030204" pitchFamily="49" charset="0"/>
              </a:rPr>
              <a:t>input</a:t>
            </a:r>
          </a:p>
        </p:txBody>
      </p:sp>
      <p:sp>
        <p:nvSpPr>
          <p:cNvPr id="2" name="Content Placeholder 1"/>
          <p:cNvSpPr>
            <a:spLocks noGrp="1"/>
          </p:cNvSpPr>
          <p:nvPr>
            <p:ph idx="1"/>
          </p:nvPr>
        </p:nvSpPr>
        <p:spPr>
          <a:xfrm>
            <a:off x="251707" y="1083328"/>
            <a:ext cx="8392622" cy="467993"/>
          </a:xfrm>
        </p:spPr>
        <p:txBody>
          <a:bodyPr>
            <a:normAutofit/>
          </a:bodyPr>
          <a:lstStyle/>
          <a:p>
            <a:pPr marL="0" indent="0">
              <a:buNone/>
            </a:pPr>
            <a:r>
              <a:rPr lang="es-MX" sz="2400" b="1" dirty="0"/>
              <a:t>Sintaxis de </a:t>
            </a:r>
            <a:r>
              <a:rPr lang="es-MX" sz="2400" b="1" dirty="0">
                <a:solidFill>
                  <a:srgbClr val="C00000"/>
                </a:solidFill>
                <a:latin typeface="Consolas" panose="020B0609020204030204" pitchFamily="49" charset="0"/>
              </a:rPr>
              <a:t>input</a:t>
            </a:r>
            <a:endParaRPr lang="en-US" sz="2400" dirty="0"/>
          </a:p>
        </p:txBody>
      </p:sp>
      <p:sp>
        <p:nvSpPr>
          <p:cNvPr id="6" name="5 CuadroTexto"/>
          <p:cNvSpPr txBox="1"/>
          <p:nvPr/>
        </p:nvSpPr>
        <p:spPr>
          <a:xfrm>
            <a:off x="706106" y="1612746"/>
            <a:ext cx="7825235" cy="369332"/>
          </a:xfrm>
          <a:prstGeom prst="rect">
            <a:avLst/>
          </a:prstGeom>
          <a:noFill/>
          <a:ln w="28575">
            <a:solidFill>
              <a:schemeClr val="tx1"/>
            </a:solidFill>
          </a:ln>
        </p:spPr>
        <p:txBody>
          <a:bodyPr wrap="square" rtlCol="0">
            <a:spAutoFit/>
          </a:bodyPr>
          <a:lstStyle/>
          <a:p>
            <a:r>
              <a:rPr lang="es-CO" dirty="0">
                <a:latin typeface="Consolas" panose="020B0609020204030204" pitchFamily="49" charset="0"/>
                <a:cs typeface="Consolas" panose="020B0609020204030204" pitchFamily="49" charset="0"/>
              </a:rPr>
              <a:t>variable = input("mensaje")</a:t>
            </a:r>
          </a:p>
        </p:txBody>
      </p:sp>
      <p:sp>
        <p:nvSpPr>
          <p:cNvPr id="10" name="Content Placeholder 1">
            <a:extLst>
              <a:ext uri="{FF2B5EF4-FFF2-40B4-BE49-F238E27FC236}">
                <a16:creationId xmlns:a16="http://schemas.microsoft.com/office/drawing/2014/main" id="{FD59A798-8B9A-43F0-B2A1-03DEFC708636}"/>
              </a:ext>
            </a:extLst>
          </p:cNvPr>
          <p:cNvSpPr txBox="1">
            <a:spLocks/>
          </p:cNvSpPr>
          <p:nvPr/>
        </p:nvSpPr>
        <p:spPr>
          <a:xfrm>
            <a:off x="361380" y="2113821"/>
            <a:ext cx="8282949" cy="1352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2000" dirty="0"/>
              <a:t>El </a:t>
            </a:r>
            <a:r>
              <a:rPr lang="es-MX" sz="2000" b="1" dirty="0"/>
              <a:t>mensaje</a:t>
            </a:r>
            <a:r>
              <a:rPr lang="es-MX" sz="2000" dirty="0"/>
              <a:t> (</a:t>
            </a:r>
            <a:r>
              <a:rPr lang="es-MX" sz="2000" b="1" dirty="0" err="1"/>
              <a:t>prompt</a:t>
            </a:r>
            <a:r>
              <a:rPr lang="es-MX" sz="2000" dirty="0"/>
              <a:t>) es opcional, pero es una buena práctica incluirlo siempre para que el usuario sepa qué debe escribir.</a:t>
            </a:r>
          </a:p>
          <a:p>
            <a:r>
              <a:rPr lang="es-MX" sz="2000" dirty="0"/>
              <a:t>Si no se asigna el resultado a una variable, el valor ingresado se pierde — no queda almacenado en memoria.</a:t>
            </a:r>
            <a:endParaRPr lang="en-US" sz="1800" dirty="0"/>
          </a:p>
        </p:txBody>
      </p:sp>
      <p:pic>
        <p:nvPicPr>
          <p:cNvPr id="4098" name="Picture 2" descr="How can I learn the basics of Python? – Real Python">
            <a:extLst>
              <a:ext uri="{FF2B5EF4-FFF2-40B4-BE49-F238E27FC236}">
                <a16:creationId xmlns:a16="http://schemas.microsoft.com/office/drawing/2014/main" id="{97E04C3D-1B96-41C3-8FD0-08D5106CCB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223" y="6223030"/>
            <a:ext cx="488522" cy="48852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47254302-E2D3-405E-B0C5-1F68B42A29F3}"/>
              </a:ext>
            </a:extLst>
          </p:cNvPr>
          <p:cNvSpPr txBox="1"/>
          <p:nvPr/>
        </p:nvSpPr>
        <p:spPr>
          <a:xfrm>
            <a:off x="711106" y="6342220"/>
            <a:ext cx="5805110" cy="276999"/>
          </a:xfrm>
          <a:prstGeom prst="rect">
            <a:avLst/>
          </a:prstGeom>
          <a:noFill/>
        </p:spPr>
        <p:txBody>
          <a:bodyPr wrap="square" rtlCol="0">
            <a:spAutoFit/>
          </a:bodyPr>
          <a:lstStyle/>
          <a:p>
            <a:r>
              <a:rPr lang="en-US" sz="1200" b="1" i="0" dirty="0">
                <a:solidFill>
                  <a:srgbClr val="222222"/>
                </a:solidFill>
                <a:effectLst/>
                <a:latin typeface="Source Sans Pro" panose="020B0503030403020204" pitchFamily="34" charset="0"/>
              </a:rPr>
              <a:t>How to Read User Input From the Keyboard in Python</a:t>
            </a:r>
            <a:r>
              <a:rPr lang="en-US" sz="1200" b="1" i="0" dirty="0">
                <a:solidFill>
                  <a:srgbClr val="222222"/>
                </a:solidFill>
                <a:effectLst/>
              </a:rPr>
              <a:t> </a:t>
            </a:r>
            <a:r>
              <a:rPr lang="en-US" sz="1200" i="0" dirty="0">
                <a:solidFill>
                  <a:srgbClr val="222222"/>
                </a:solidFill>
                <a:effectLst/>
              </a:rPr>
              <a:t>(</a:t>
            </a:r>
            <a:r>
              <a:rPr lang="en-US" sz="1200" i="0" dirty="0">
                <a:solidFill>
                  <a:srgbClr val="222222"/>
                </a:solidFill>
                <a:effectLst/>
                <a:hlinkClick r:id="rId3"/>
              </a:rPr>
              <a:t>link</a:t>
            </a:r>
            <a:r>
              <a:rPr lang="en-US" sz="1200" i="0" dirty="0">
                <a:solidFill>
                  <a:srgbClr val="222222"/>
                </a:solidFill>
                <a:effectLst/>
              </a:rPr>
              <a:t>)</a:t>
            </a:r>
          </a:p>
        </p:txBody>
      </p:sp>
      <p:pic>
        <p:nvPicPr>
          <p:cNvPr id="11" name="Picture 2" descr="http://www.jegsworks.com/lessons/computerbasics/lesson3/keyboard-white.png">
            <a:extLst>
              <a:ext uri="{FF2B5EF4-FFF2-40B4-BE49-F238E27FC236}">
                <a16:creationId xmlns:a16="http://schemas.microsoft.com/office/drawing/2014/main" id="{DE2B9F77-2E95-484B-9BE4-B0169FE907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1611" y="55865"/>
            <a:ext cx="963689" cy="30516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a 6">
            <a:extLst>
              <a:ext uri="{FF2B5EF4-FFF2-40B4-BE49-F238E27FC236}">
                <a16:creationId xmlns:a16="http://schemas.microsoft.com/office/drawing/2014/main" id="{4B50D847-8FF4-48E5-9D66-06143133A2CD}"/>
              </a:ext>
            </a:extLst>
          </p:cNvPr>
          <p:cNvGraphicFramePr>
            <a:graphicFrameLocks noGrp="1"/>
          </p:cNvGraphicFramePr>
          <p:nvPr>
            <p:extLst>
              <p:ext uri="{D42A27DB-BD31-4B8C-83A1-F6EECF244321}">
                <p14:modId xmlns:p14="http://schemas.microsoft.com/office/powerpoint/2010/main" val="457574374"/>
              </p:ext>
            </p:extLst>
          </p:nvPr>
        </p:nvGraphicFramePr>
        <p:xfrm>
          <a:off x="686350" y="3485662"/>
          <a:ext cx="7886700" cy="2407920"/>
        </p:xfrm>
        <a:graphic>
          <a:graphicData uri="http://schemas.openxmlformats.org/drawingml/2006/table">
            <a:tbl>
              <a:tblPr/>
              <a:tblGrid>
                <a:gridCol w="3943350">
                  <a:extLst>
                    <a:ext uri="{9D8B030D-6E8A-4147-A177-3AD203B41FA5}">
                      <a16:colId xmlns:a16="http://schemas.microsoft.com/office/drawing/2014/main" val="3325708717"/>
                    </a:ext>
                  </a:extLst>
                </a:gridCol>
                <a:gridCol w="3943350">
                  <a:extLst>
                    <a:ext uri="{9D8B030D-6E8A-4147-A177-3AD203B41FA5}">
                      <a16:colId xmlns:a16="http://schemas.microsoft.com/office/drawing/2014/main" val="2599380608"/>
                    </a:ext>
                  </a:extLst>
                </a:gridCol>
              </a:tblGrid>
              <a:tr h="0">
                <a:tc>
                  <a:txBody>
                    <a:bodyPr/>
                    <a:lstStyle/>
                    <a:p>
                      <a:r>
                        <a:rPr lang="es-CO" b="1">
                          <a:solidFill>
                            <a:schemeClr val="bg1"/>
                          </a:solidFill>
                        </a:rPr>
                        <a:t>Código</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1"/>
                    </a:solidFill>
                  </a:tcPr>
                </a:tc>
                <a:tc>
                  <a:txBody>
                    <a:bodyPr/>
                    <a:lstStyle/>
                    <a:p>
                      <a:r>
                        <a:rPr lang="es-CO" b="1" dirty="0">
                          <a:solidFill>
                            <a:schemeClr val="bg1"/>
                          </a:solidFill>
                        </a:rPr>
                        <a:t>Salida (interacción)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00999108"/>
                  </a:ext>
                </a:extLst>
              </a:tr>
              <a:tr h="0">
                <a:tc>
                  <a:txBody>
                    <a:bodyPr/>
                    <a:lstStyle/>
                    <a:p>
                      <a:r>
                        <a:rPr lang="es-CO" sz="1600">
                          <a:latin typeface="Consolas" panose="020B0609020204030204" pitchFamily="49" charset="0"/>
                        </a:rPr>
                        <a:t>input("Escribe algo: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MX" sz="1600" dirty="0">
                          <a:latin typeface="Consolas" panose="020B0609020204030204" pitchFamily="49" charset="0"/>
                        </a:rPr>
                        <a:t>Escribe algo: </a:t>
                      </a:r>
                      <a:r>
                        <a:rPr lang="es-MX" sz="1600" dirty="0">
                          <a:solidFill>
                            <a:srgbClr val="C00000"/>
                          </a:solidFill>
                          <a:latin typeface="Consolas" panose="020B0609020204030204" pitchFamily="49" charset="0"/>
                        </a:rPr>
                        <a:t>Hola ↵</a:t>
                      </a:r>
                      <a:r>
                        <a:rPr lang="es-MX" dirty="0"/>
                        <a:t> </a:t>
                      </a:r>
                      <a:r>
                        <a:rPr lang="es-MX" i="1" dirty="0"/>
                        <a:t>(el valor no se guarda en ninguna variable)</a:t>
                      </a:r>
                      <a:endParaRPr lang="es-MX" dirty="0"/>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0606869"/>
                  </a:ext>
                </a:extLst>
              </a:tr>
              <a:tr h="0">
                <a:tc>
                  <a:txBody>
                    <a:bodyPr/>
                    <a:lstStyle/>
                    <a:p>
                      <a:r>
                        <a:rPr lang="it-IT" sz="1600">
                          <a:latin typeface="Consolas" panose="020B0609020204030204" pitchFamily="49" charset="0"/>
                        </a:rPr>
                        <a:t>dato = input("Escribe algo: ")</a:t>
                      </a:r>
                      <a:br>
                        <a:rPr lang="it-IT" sz="1600">
                          <a:latin typeface="Consolas" panose="020B0609020204030204" pitchFamily="49" charset="0"/>
                        </a:rPr>
                      </a:br>
                      <a:r>
                        <a:rPr lang="it-IT" sz="1600">
                          <a:latin typeface="Consolas" panose="020B0609020204030204" pitchFamily="49" charset="0"/>
                        </a:rPr>
                        <a:t>print(dato)</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CO" sz="1600" dirty="0">
                          <a:latin typeface="Consolas" panose="020B0609020204030204" pitchFamily="49" charset="0"/>
                        </a:rPr>
                        <a:t>Escribe algo: </a:t>
                      </a:r>
                      <a:r>
                        <a:rPr lang="es-CO" sz="1600" dirty="0">
                          <a:solidFill>
                            <a:srgbClr val="C00000"/>
                          </a:solidFill>
                          <a:latin typeface="Consolas" panose="020B0609020204030204" pitchFamily="49" charset="0"/>
                        </a:rPr>
                        <a:t>Hola ↵</a:t>
                      </a:r>
                      <a:br>
                        <a:rPr lang="es-CO" sz="1600" dirty="0">
                          <a:solidFill>
                            <a:srgbClr val="C00000"/>
                          </a:solidFill>
                          <a:latin typeface="Consolas" panose="020B0609020204030204" pitchFamily="49" charset="0"/>
                        </a:rPr>
                      </a:br>
                      <a:r>
                        <a:rPr lang="es-CO" sz="1600" dirty="0">
                          <a:latin typeface="Consolas" panose="020B0609020204030204" pitchFamily="49" charset="0"/>
                        </a:rPr>
                        <a:t>Hola</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4175166"/>
                  </a:ext>
                </a:extLst>
              </a:tr>
              <a:tr h="0">
                <a:tc>
                  <a:txBody>
                    <a:bodyPr/>
                    <a:lstStyle/>
                    <a:p>
                      <a:r>
                        <a:rPr lang="es-MX" sz="1600" dirty="0">
                          <a:latin typeface="Consolas" panose="020B0609020204030204" pitchFamily="49" charset="0"/>
                        </a:rPr>
                        <a:t>edad = input("¿Cuántos años tienes? ")</a:t>
                      </a:r>
                      <a:br>
                        <a:rPr lang="es-MX" sz="1600" dirty="0">
                          <a:latin typeface="Consolas" panose="020B0609020204030204" pitchFamily="49" charset="0"/>
                        </a:rPr>
                      </a:br>
                      <a:r>
                        <a:rPr lang="es-MX" sz="1600" dirty="0">
                          <a:latin typeface="Consolas" panose="020B0609020204030204" pitchFamily="49" charset="0"/>
                        </a:rPr>
                        <a:t>print("Tipo:", </a:t>
                      </a:r>
                      <a:r>
                        <a:rPr lang="es-MX" sz="1600" dirty="0" err="1">
                          <a:latin typeface="Consolas" panose="020B0609020204030204" pitchFamily="49" charset="0"/>
                        </a:rPr>
                        <a:t>type</a:t>
                      </a:r>
                      <a:r>
                        <a:rPr lang="es-MX" sz="1600" dirty="0">
                          <a:latin typeface="Consolas" panose="020B0609020204030204" pitchFamily="49" charset="0"/>
                        </a:rPr>
                        <a:t>(edad))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s-MX" sz="1600" dirty="0">
                          <a:latin typeface="Consolas" panose="020B0609020204030204" pitchFamily="49" charset="0"/>
                        </a:rPr>
                        <a:t>¿Cuántos años tienes? </a:t>
                      </a:r>
                      <a:r>
                        <a:rPr lang="es-MX" sz="1600" dirty="0">
                          <a:solidFill>
                            <a:srgbClr val="C00000"/>
                          </a:solidFill>
                          <a:latin typeface="Consolas" panose="020B0609020204030204" pitchFamily="49" charset="0"/>
                        </a:rPr>
                        <a:t>20 ↵</a:t>
                      </a:r>
                      <a:br>
                        <a:rPr lang="es-MX" sz="1600" dirty="0">
                          <a:latin typeface="Consolas" panose="020B0609020204030204" pitchFamily="49" charset="0"/>
                        </a:rPr>
                      </a:br>
                      <a:r>
                        <a:rPr lang="es-MX" sz="1600" dirty="0">
                          <a:latin typeface="Consolas" panose="020B0609020204030204" pitchFamily="49" charset="0"/>
                        </a:rPr>
                        <a:t>Tipo: &lt;</a:t>
                      </a:r>
                      <a:r>
                        <a:rPr lang="es-MX" sz="1600" dirty="0" err="1">
                          <a:latin typeface="Consolas" panose="020B0609020204030204" pitchFamily="49" charset="0"/>
                        </a:rPr>
                        <a:t>class</a:t>
                      </a:r>
                      <a:r>
                        <a:rPr lang="es-MX" sz="1600" dirty="0">
                          <a:latin typeface="Consolas" panose="020B0609020204030204" pitchFamily="49" charset="0"/>
                        </a:rPr>
                        <a:t> 'str'&gt;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595059"/>
                  </a:ext>
                </a:extLst>
              </a:tr>
            </a:tbl>
          </a:graphicData>
        </a:graphic>
      </p:graphicFrame>
    </p:spTree>
    <p:extLst>
      <p:ext uri="{BB962C8B-B14F-4D97-AF65-F5344CB8AC3E}">
        <p14:creationId xmlns:p14="http://schemas.microsoft.com/office/powerpoint/2010/main" val="4243811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136524"/>
            <a:ext cx="7886700" cy="864096"/>
          </a:xfrm>
        </p:spPr>
        <p:txBody>
          <a:bodyPr/>
          <a:lstStyle/>
          <a:p>
            <a:r>
              <a:rPr lang="en-US" sz="3200" dirty="0"/>
              <a:t>Entrada de datos </a:t>
            </a:r>
            <a:r>
              <a:rPr lang="en-US" sz="3200" dirty="0" err="1"/>
              <a:t>usando</a:t>
            </a:r>
            <a:r>
              <a:rPr lang="en-US" sz="3200" dirty="0"/>
              <a:t> </a:t>
            </a:r>
            <a:r>
              <a:rPr lang="en-US" sz="3200" dirty="0">
                <a:latin typeface="Consolas" panose="020B0609020204030204" pitchFamily="49" charset="0"/>
              </a:rPr>
              <a:t>input</a:t>
            </a:r>
          </a:p>
        </p:txBody>
      </p:sp>
      <p:sp>
        <p:nvSpPr>
          <p:cNvPr id="2" name="Content Placeholder 1"/>
          <p:cNvSpPr>
            <a:spLocks noGrp="1"/>
          </p:cNvSpPr>
          <p:nvPr>
            <p:ph idx="1"/>
          </p:nvPr>
        </p:nvSpPr>
        <p:spPr>
          <a:xfrm>
            <a:off x="251707" y="836712"/>
            <a:ext cx="8640586" cy="2407147"/>
          </a:xfrm>
        </p:spPr>
        <p:txBody>
          <a:bodyPr>
            <a:normAutofit fontScale="92500"/>
          </a:bodyPr>
          <a:lstStyle/>
          <a:p>
            <a:pPr marL="0" indent="0">
              <a:buNone/>
            </a:pPr>
            <a:r>
              <a:rPr lang="es-MX" sz="2400" b="1" dirty="0"/>
              <a:t>Conversión de tipos con input</a:t>
            </a:r>
          </a:p>
          <a:p>
            <a:r>
              <a:rPr lang="es-MX" sz="1900" b="1" dirty="0">
                <a:solidFill>
                  <a:srgbClr val="C00000"/>
                </a:solidFill>
                <a:latin typeface="Consolas" panose="020B0609020204030204" pitchFamily="49" charset="0"/>
              </a:rPr>
              <a:t>input()</a:t>
            </a:r>
            <a:r>
              <a:rPr lang="es-MX" sz="2200" dirty="0"/>
              <a:t> siempre devuelve texto (</a:t>
            </a:r>
            <a:r>
              <a:rPr lang="es-MX" sz="1900" b="1" dirty="0">
                <a:solidFill>
                  <a:srgbClr val="C00000"/>
                </a:solidFill>
                <a:latin typeface="Consolas" panose="020B0609020204030204" pitchFamily="49" charset="0"/>
              </a:rPr>
              <a:t>str</a:t>
            </a:r>
            <a:r>
              <a:rPr lang="es-MX" sz="2200" dirty="0"/>
              <a:t>), aunque el usuario escriba un número.</a:t>
            </a:r>
          </a:p>
          <a:p>
            <a:r>
              <a:rPr lang="es-MX" sz="2200" dirty="0"/>
              <a:t>Para poder operar con el valor ingresado (sumar, restar, comparar), hay que convertirlo explícitamente.</a:t>
            </a:r>
          </a:p>
          <a:p>
            <a:r>
              <a:rPr lang="es-MX" sz="1900" b="1" dirty="0">
                <a:solidFill>
                  <a:srgbClr val="C00000"/>
                </a:solidFill>
                <a:latin typeface="Consolas" panose="020B0609020204030204" pitchFamily="49" charset="0"/>
              </a:rPr>
              <a:t>int()</a:t>
            </a:r>
            <a:r>
              <a:rPr lang="es-MX" sz="2200" dirty="0"/>
              <a:t> convierte a número entero; </a:t>
            </a:r>
            <a:r>
              <a:rPr lang="es-MX" sz="1900" b="1" dirty="0">
                <a:solidFill>
                  <a:srgbClr val="C00000"/>
                </a:solidFill>
                <a:latin typeface="Consolas" panose="020B0609020204030204" pitchFamily="49" charset="0"/>
              </a:rPr>
              <a:t>float()</a:t>
            </a:r>
            <a:r>
              <a:rPr lang="es-MX" sz="2200" dirty="0"/>
              <a:t> convierte a número decimal.</a:t>
            </a:r>
          </a:p>
          <a:p>
            <a:r>
              <a:rPr lang="es-MX" sz="2200" dirty="0"/>
              <a:t>Si se intenta operar sin convertir, Python genera un error de tipo (</a:t>
            </a:r>
            <a:r>
              <a:rPr lang="es-MX" sz="1900" b="1" dirty="0">
                <a:solidFill>
                  <a:srgbClr val="C00000"/>
                </a:solidFill>
                <a:latin typeface="Consolas" panose="020B0609020204030204" pitchFamily="49" charset="0"/>
              </a:rPr>
              <a:t>TypeError</a:t>
            </a:r>
            <a:r>
              <a:rPr lang="es-MX" sz="2200" dirty="0"/>
              <a:t>).</a:t>
            </a:r>
            <a:endParaRPr lang="en-US" sz="2200" dirty="0"/>
          </a:p>
        </p:txBody>
      </p:sp>
      <p:sp>
        <p:nvSpPr>
          <p:cNvPr id="8" name="CuadroTexto 7">
            <a:extLst>
              <a:ext uri="{FF2B5EF4-FFF2-40B4-BE49-F238E27FC236}">
                <a16:creationId xmlns:a16="http://schemas.microsoft.com/office/drawing/2014/main" id="{B5B1762C-1CF0-4F22-A96C-887C0D6EF97C}"/>
              </a:ext>
            </a:extLst>
          </p:cNvPr>
          <p:cNvSpPr txBox="1"/>
          <p:nvPr/>
        </p:nvSpPr>
        <p:spPr>
          <a:xfrm>
            <a:off x="519260" y="3324975"/>
            <a:ext cx="4732068" cy="1569660"/>
          </a:xfrm>
          <a:prstGeom prst="rect">
            <a:avLst/>
          </a:prstGeom>
          <a:noFill/>
          <a:ln>
            <a:solidFill>
              <a:schemeClr val="tx1"/>
            </a:solidFill>
            <a:prstDash val="solid"/>
          </a:ln>
        </p:spPr>
        <p:txBody>
          <a:bodyPr wrap="square" rtlCol="0">
            <a:spAutoFit/>
          </a:bodyPr>
          <a:lstStyle/>
          <a:p>
            <a:r>
              <a:rPr lang="es-MX" sz="1200" dirty="0" err="1">
                <a:latin typeface="Consolas" panose="020B0609020204030204" pitchFamily="49" charset="0"/>
              </a:rPr>
              <a:t>anio_nacimiento</a:t>
            </a:r>
            <a:r>
              <a:rPr lang="es-MX" sz="1200" dirty="0">
                <a:latin typeface="Consolas" panose="020B0609020204030204" pitchFamily="49" charset="0"/>
              </a:rPr>
              <a:t> = input("¿En qué año naciste? ")</a:t>
            </a:r>
          </a:p>
          <a:p>
            <a:r>
              <a:rPr lang="es-MX" sz="1200" dirty="0">
                <a:latin typeface="Consolas" panose="020B0609020204030204" pitchFamily="49" charset="0"/>
              </a:rPr>
              <a:t>print(</a:t>
            </a:r>
            <a:r>
              <a:rPr lang="es-MX" sz="1200" dirty="0" err="1">
                <a:latin typeface="Consolas" panose="020B0609020204030204" pitchFamily="49" charset="0"/>
              </a:rPr>
              <a:t>type</a:t>
            </a:r>
            <a:r>
              <a:rPr lang="es-MX" sz="1200" dirty="0">
                <a:latin typeface="Consolas" panose="020B0609020204030204" pitchFamily="49" charset="0"/>
              </a:rPr>
              <a:t>(</a:t>
            </a:r>
            <a:r>
              <a:rPr lang="es-MX" sz="1200" dirty="0" err="1">
                <a:latin typeface="Consolas" panose="020B0609020204030204" pitchFamily="49" charset="0"/>
              </a:rPr>
              <a:t>anio_nacimiento</a:t>
            </a:r>
            <a:r>
              <a:rPr lang="es-MX" sz="1200" dirty="0">
                <a:latin typeface="Consolas" panose="020B0609020204030204" pitchFamily="49" charset="0"/>
              </a:rPr>
              <a:t>))          # &lt;</a:t>
            </a:r>
            <a:r>
              <a:rPr lang="es-MX" sz="1200" dirty="0" err="1">
                <a:latin typeface="Consolas" panose="020B0609020204030204" pitchFamily="49" charset="0"/>
              </a:rPr>
              <a:t>class</a:t>
            </a:r>
            <a:r>
              <a:rPr lang="es-MX" sz="1200" dirty="0">
                <a:latin typeface="Consolas" panose="020B0609020204030204" pitchFamily="49" charset="0"/>
              </a:rPr>
              <a:t> 'str'&gt;</a:t>
            </a:r>
          </a:p>
          <a:p>
            <a:endParaRPr lang="es-MX" sz="1200" dirty="0">
              <a:latin typeface="Consolas" panose="020B0609020204030204" pitchFamily="49" charset="0"/>
            </a:endParaRPr>
          </a:p>
          <a:p>
            <a:r>
              <a:rPr lang="es-MX" sz="1200" dirty="0" err="1">
                <a:latin typeface="Consolas" panose="020B0609020204030204" pitchFamily="49" charset="0"/>
              </a:rPr>
              <a:t>anio_nacimiento</a:t>
            </a:r>
            <a:r>
              <a:rPr lang="es-MX" sz="1200" dirty="0">
                <a:latin typeface="Consolas" panose="020B0609020204030204" pitchFamily="49" charset="0"/>
              </a:rPr>
              <a:t> = int(</a:t>
            </a:r>
            <a:r>
              <a:rPr lang="es-MX" sz="1200" dirty="0" err="1">
                <a:latin typeface="Consolas" panose="020B0609020204030204" pitchFamily="49" charset="0"/>
              </a:rPr>
              <a:t>anio_nacimiento</a:t>
            </a:r>
            <a:r>
              <a:rPr lang="es-MX" sz="1200" dirty="0">
                <a:latin typeface="Consolas" panose="020B0609020204030204" pitchFamily="49" charset="0"/>
              </a:rPr>
              <a:t>)</a:t>
            </a:r>
          </a:p>
          <a:p>
            <a:r>
              <a:rPr lang="es-MX" sz="1200" dirty="0">
                <a:latin typeface="Consolas" panose="020B0609020204030204" pitchFamily="49" charset="0"/>
              </a:rPr>
              <a:t>print(</a:t>
            </a:r>
            <a:r>
              <a:rPr lang="es-MX" sz="1200" dirty="0" err="1">
                <a:latin typeface="Consolas" panose="020B0609020204030204" pitchFamily="49" charset="0"/>
              </a:rPr>
              <a:t>type</a:t>
            </a:r>
            <a:r>
              <a:rPr lang="es-MX" sz="1200" dirty="0">
                <a:latin typeface="Consolas" panose="020B0609020204030204" pitchFamily="49" charset="0"/>
              </a:rPr>
              <a:t>(</a:t>
            </a:r>
            <a:r>
              <a:rPr lang="es-MX" sz="1200" dirty="0" err="1">
                <a:latin typeface="Consolas" panose="020B0609020204030204" pitchFamily="49" charset="0"/>
              </a:rPr>
              <a:t>anio_nacimiento</a:t>
            </a:r>
            <a:r>
              <a:rPr lang="es-MX" sz="1200" dirty="0">
                <a:latin typeface="Consolas" panose="020B0609020204030204" pitchFamily="49" charset="0"/>
              </a:rPr>
              <a:t>))          # &lt;</a:t>
            </a:r>
            <a:r>
              <a:rPr lang="es-MX" sz="1200" dirty="0" err="1">
                <a:latin typeface="Consolas" panose="020B0609020204030204" pitchFamily="49" charset="0"/>
              </a:rPr>
              <a:t>class</a:t>
            </a:r>
            <a:r>
              <a:rPr lang="es-MX" sz="1200" dirty="0">
                <a:latin typeface="Consolas" panose="020B0609020204030204" pitchFamily="49" charset="0"/>
              </a:rPr>
              <a:t> 'int'&gt;</a:t>
            </a:r>
          </a:p>
          <a:p>
            <a:endParaRPr lang="es-MX" sz="1200" dirty="0">
              <a:latin typeface="Consolas" panose="020B0609020204030204" pitchFamily="49" charset="0"/>
            </a:endParaRPr>
          </a:p>
          <a:p>
            <a:r>
              <a:rPr lang="es-MX" sz="1200" dirty="0">
                <a:latin typeface="Consolas" panose="020B0609020204030204" pitchFamily="49" charset="0"/>
              </a:rPr>
              <a:t>edad = 2026 - </a:t>
            </a:r>
            <a:r>
              <a:rPr lang="es-MX" sz="1200" dirty="0" err="1">
                <a:latin typeface="Consolas" panose="020B0609020204030204" pitchFamily="49" charset="0"/>
              </a:rPr>
              <a:t>anio_nacimiento</a:t>
            </a:r>
            <a:endParaRPr lang="es-MX" sz="1200" dirty="0">
              <a:latin typeface="Consolas" panose="020B0609020204030204" pitchFamily="49" charset="0"/>
            </a:endParaRPr>
          </a:p>
          <a:p>
            <a:r>
              <a:rPr lang="es-MX" sz="1200" dirty="0">
                <a:latin typeface="Consolas" panose="020B0609020204030204" pitchFamily="49" charset="0"/>
              </a:rPr>
              <a:t>print("Tienes", edad, "años")</a:t>
            </a:r>
            <a:endParaRPr lang="es-CO" sz="1200" dirty="0">
              <a:latin typeface="Consolas" panose="020B0609020204030204" pitchFamily="49" charset="0"/>
            </a:endParaRPr>
          </a:p>
        </p:txBody>
      </p:sp>
      <p:sp>
        <p:nvSpPr>
          <p:cNvPr id="9" name="CuadroTexto 8">
            <a:hlinkClick r:id="rId2"/>
            <a:extLst>
              <a:ext uri="{FF2B5EF4-FFF2-40B4-BE49-F238E27FC236}">
                <a16:creationId xmlns:a16="http://schemas.microsoft.com/office/drawing/2014/main" id="{6F51E7FA-7D86-4550-AB85-EBFB5512B165}"/>
              </a:ext>
            </a:extLst>
          </p:cNvPr>
          <p:cNvSpPr txBox="1"/>
          <p:nvPr/>
        </p:nvSpPr>
        <p:spPr>
          <a:xfrm>
            <a:off x="2426844" y="4971036"/>
            <a:ext cx="792088" cy="307777"/>
          </a:xfrm>
          <a:prstGeom prst="rect">
            <a:avLst/>
          </a:prstGeom>
          <a:noFill/>
        </p:spPr>
        <p:txBody>
          <a:bodyPr wrap="square">
            <a:spAutoFit/>
          </a:bodyPr>
          <a:lstStyle/>
          <a:p>
            <a:pPr algn="ctr"/>
            <a:r>
              <a:rPr lang="es-ES" sz="1400" dirty="0">
                <a:hlinkClick r:id="rId3"/>
              </a:rPr>
              <a:t>link</a:t>
            </a:r>
            <a:endParaRPr lang="es-CO" sz="1400" dirty="0"/>
          </a:p>
        </p:txBody>
      </p:sp>
      <p:pic>
        <p:nvPicPr>
          <p:cNvPr id="10" name="Picture 2" descr="http://www.jegsworks.com/lessons/computerbasics/lesson3/keyboard-white.png">
            <a:extLst>
              <a:ext uri="{FF2B5EF4-FFF2-40B4-BE49-F238E27FC236}">
                <a16:creationId xmlns:a16="http://schemas.microsoft.com/office/drawing/2014/main" id="{90FB408F-DEAC-4A08-B6C7-01C18097463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1611" y="55865"/>
            <a:ext cx="963689" cy="305169"/>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5E6B0B9D-A4AF-4219-8036-546CFDAF9F53}"/>
              </a:ext>
            </a:extLst>
          </p:cNvPr>
          <p:cNvSpPr txBox="1"/>
          <p:nvPr/>
        </p:nvSpPr>
        <p:spPr>
          <a:xfrm>
            <a:off x="482192" y="5632756"/>
            <a:ext cx="4732068" cy="461665"/>
          </a:xfrm>
          <a:prstGeom prst="rect">
            <a:avLst/>
          </a:prstGeom>
          <a:noFill/>
          <a:ln>
            <a:solidFill>
              <a:schemeClr val="tx1"/>
            </a:solidFill>
            <a:prstDash val="solid"/>
          </a:ln>
        </p:spPr>
        <p:txBody>
          <a:bodyPr wrap="square" rtlCol="0">
            <a:spAutoFit/>
          </a:bodyPr>
          <a:lstStyle/>
          <a:p>
            <a:r>
              <a:rPr lang="es-CO" sz="1200" dirty="0" err="1">
                <a:latin typeface="Consolas" panose="020B0609020204030204" pitchFamily="49" charset="0"/>
              </a:rPr>
              <a:t>anio_nacimiento</a:t>
            </a:r>
            <a:r>
              <a:rPr lang="es-CO" sz="1200" dirty="0">
                <a:latin typeface="Consolas" panose="020B0609020204030204" pitchFamily="49" charset="0"/>
              </a:rPr>
              <a:t> = input("¿En qué año naciste? ")</a:t>
            </a:r>
          </a:p>
          <a:p>
            <a:r>
              <a:rPr lang="es-CO" sz="1200" dirty="0">
                <a:latin typeface="Consolas" panose="020B0609020204030204" pitchFamily="49" charset="0"/>
              </a:rPr>
              <a:t>edad = 2026 - </a:t>
            </a:r>
            <a:r>
              <a:rPr lang="es-CO" sz="1200" dirty="0" err="1">
                <a:latin typeface="Consolas" panose="020B0609020204030204" pitchFamily="49" charset="0"/>
              </a:rPr>
              <a:t>anio_nacimiento</a:t>
            </a:r>
            <a:r>
              <a:rPr lang="es-CO" sz="1200" dirty="0">
                <a:latin typeface="Consolas" panose="020B0609020204030204" pitchFamily="49" charset="0"/>
              </a:rPr>
              <a:t>   # </a:t>
            </a:r>
            <a:r>
              <a:rPr lang="es-CO" sz="1200" dirty="0" err="1">
                <a:latin typeface="Consolas" panose="020B0609020204030204" pitchFamily="49" charset="0"/>
              </a:rPr>
              <a:t>TypeError</a:t>
            </a:r>
            <a:endParaRPr lang="es-CO" sz="1200" dirty="0">
              <a:latin typeface="Consolas" panose="020B0609020204030204" pitchFamily="49" charset="0"/>
            </a:endParaRPr>
          </a:p>
        </p:txBody>
      </p:sp>
      <p:sp>
        <p:nvSpPr>
          <p:cNvPr id="13" name="CuadroTexto 12">
            <a:hlinkClick r:id="rId2"/>
            <a:extLst>
              <a:ext uri="{FF2B5EF4-FFF2-40B4-BE49-F238E27FC236}">
                <a16:creationId xmlns:a16="http://schemas.microsoft.com/office/drawing/2014/main" id="{D70BCB7F-2C3C-40C5-9BFA-6730876CF1AA}"/>
              </a:ext>
            </a:extLst>
          </p:cNvPr>
          <p:cNvSpPr txBox="1"/>
          <p:nvPr/>
        </p:nvSpPr>
        <p:spPr>
          <a:xfrm>
            <a:off x="2246388" y="6121495"/>
            <a:ext cx="792088" cy="307777"/>
          </a:xfrm>
          <a:prstGeom prst="rect">
            <a:avLst/>
          </a:prstGeom>
          <a:noFill/>
        </p:spPr>
        <p:txBody>
          <a:bodyPr wrap="square">
            <a:spAutoFit/>
          </a:bodyPr>
          <a:lstStyle/>
          <a:p>
            <a:pPr algn="ctr"/>
            <a:r>
              <a:rPr lang="es-ES" sz="1400" dirty="0">
                <a:hlinkClick r:id="rId5"/>
              </a:rPr>
              <a:t>link</a:t>
            </a:r>
            <a:endParaRPr lang="es-CO" sz="1400" dirty="0"/>
          </a:p>
        </p:txBody>
      </p:sp>
      <p:pic>
        <p:nvPicPr>
          <p:cNvPr id="14" name="Picture 2" descr="http://t2.gstatic.com/images?q=tbn:ANd9GcS51PGLkp34nPs-LewfkgAfjdZsyder21fNGFoRiZ_A6x7txo3e">
            <a:extLst>
              <a:ext uri="{FF2B5EF4-FFF2-40B4-BE49-F238E27FC236}">
                <a16:creationId xmlns:a16="http://schemas.microsoft.com/office/drawing/2014/main" id="{423C8460-169C-420F-ACFB-9A342658D04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50843" y="3365889"/>
            <a:ext cx="2248671" cy="1844101"/>
          </a:xfrm>
          <a:prstGeom prst="rect">
            <a:avLst/>
          </a:prstGeom>
          <a:noFill/>
          <a:extLst>
            <a:ext uri="{909E8E84-426E-40DD-AFC4-6F175D3DCCD1}">
              <a14:hiddenFill xmlns:a14="http://schemas.microsoft.com/office/drawing/2010/main">
                <a:solidFill>
                  <a:srgbClr val="FFFFFF"/>
                </a:solidFill>
              </a14:hiddenFill>
            </a:ext>
          </a:extLst>
        </p:spPr>
      </p:pic>
      <p:sp>
        <p:nvSpPr>
          <p:cNvPr id="16" name="CuadroTexto 15">
            <a:extLst>
              <a:ext uri="{FF2B5EF4-FFF2-40B4-BE49-F238E27FC236}">
                <a16:creationId xmlns:a16="http://schemas.microsoft.com/office/drawing/2014/main" id="{FB379678-29FF-4909-9BB8-F3107CC78A6A}"/>
              </a:ext>
            </a:extLst>
          </p:cNvPr>
          <p:cNvSpPr txBox="1"/>
          <p:nvPr/>
        </p:nvSpPr>
        <p:spPr>
          <a:xfrm>
            <a:off x="6389030" y="3446302"/>
            <a:ext cx="2077750" cy="707886"/>
          </a:xfrm>
          <a:prstGeom prst="rect">
            <a:avLst/>
          </a:prstGeom>
          <a:noFill/>
        </p:spPr>
        <p:txBody>
          <a:bodyPr wrap="square">
            <a:spAutoFit/>
          </a:bodyPr>
          <a:lstStyle/>
          <a:p>
            <a:r>
              <a:rPr lang="es-MX" sz="1000" dirty="0">
                <a:latin typeface="Consolas" panose="020B0609020204030204" pitchFamily="49" charset="0"/>
              </a:rPr>
              <a:t>¿En qué año naciste? </a:t>
            </a:r>
            <a:r>
              <a:rPr lang="es-MX" sz="1000" dirty="0">
                <a:solidFill>
                  <a:srgbClr val="C00000"/>
                </a:solidFill>
                <a:latin typeface="Consolas" panose="020B0609020204030204" pitchFamily="49" charset="0"/>
              </a:rPr>
              <a:t>1990 </a:t>
            </a:r>
            <a:r>
              <a:rPr lang="es-CO" sz="1000" dirty="0">
                <a:solidFill>
                  <a:srgbClr val="C00000"/>
                </a:solidFill>
                <a:latin typeface="Consolas" panose="020B0609020204030204" pitchFamily="49" charset="0"/>
              </a:rPr>
              <a:t>↵</a:t>
            </a:r>
            <a:r>
              <a:rPr lang="es-MX" sz="1000" dirty="0">
                <a:solidFill>
                  <a:srgbClr val="C00000"/>
                </a:solidFill>
                <a:latin typeface="Consolas" panose="020B0609020204030204" pitchFamily="49" charset="0"/>
              </a:rPr>
              <a:t> </a:t>
            </a:r>
          </a:p>
          <a:p>
            <a:r>
              <a:rPr lang="es-MX" sz="1000" dirty="0">
                <a:latin typeface="Consolas" panose="020B0609020204030204" pitchFamily="49" charset="0"/>
              </a:rPr>
              <a:t>&lt;</a:t>
            </a:r>
            <a:r>
              <a:rPr lang="es-MX" sz="1000" dirty="0" err="1">
                <a:latin typeface="Consolas" panose="020B0609020204030204" pitchFamily="49" charset="0"/>
              </a:rPr>
              <a:t>class</a:t>
            </a:r>
            <a:r>
              <a:rPr lang="es-MX" sz="1000" dirty="0">
                <a:latin typeface="Consolas" panose="020B0609020204030204" pitchFamily="49" charset="0"/>
              </a:rPr>
              <a:t> 'str'&gt;</a:t>
            </a:r>
          </a:p>
          <a:p>
            <a:r>
              <a:rPr lang="es-MX" sz="1000" dirty="0">
                <a:latin typeface="Consolas" panose="020B0609020204030204" pitchFamily="49" charset="0"/>
              </a:rPr>
              <a:t>&lt;</a:t>
            </a:r>
            <a:r>
              <a:rPr lang="es-MX" sz="1000" dirty="0" err="1">
                <a:latin typeface="Consolas" panose="020B0609020204030204" pitchFamily="49" charset="0"/>
              </a:rPr>
              <a:t>class</a:t>
            </a:r>
            <a:r>
              <a:rPr lang="es-MX" sz="1000" dirty="0">
                <a:latin typeface="Consolas" panose="020B0609020204030204" pitchFamily="49" charset="0"/>
              </a:rPr>
              <a:t> 'int'&gt;</a:t>
            </a:r>
          </a:p>
          <a:p>
            <a:r>
              <a:rPr lang="es-MX" sz="1000" dirty="0">
                <a:latin typeface="Consolas" panose="020B0609020204030204" pitchFamily="49" charset="0"/>
              </a:rPr>
              <a:t>Tienes 36 años</a:t>
            </a:r>
            <a:endParaRPr lang="es-CO" sz="1000" dirty="0">
              <a:latin typeface="Consolas" panose="020B0609020204030204" pitchFamily="49" charset="0"/>
            </a:endParaRPr>
          </a:p>
        </p:txBody>
      </p:sp>
      <p:pic>
        <p:nvPicPr>
          <p:cNvPr id="6" name="Imagen 5">
            <a:extLst>
              <a:ext uri="{FF2B5EF4-FFF2-40B4-BE49-F238E27FC236}">
                <a16:creationId xmlns:a16="http://schemas.microsoft.com/office/drawing/2014/main" id="{D4F406FC-74AB-498C-946C-6FDC78CF4460}"/>
              </a:ext>
            </a:extLst>
          </p:cNvPr>
          <p:cNvPicPr>
            <a:picLocks noChangeAspect="1"/>
          </p:cNvPicPr>
          <p:nvPr/>
        </p:nvPicPr>
        <p:blipFill>
          <a:blip r:embed="rId7"/>
          <a:stretch>
            <a:fillRect/>
          </a:stretch>
        </p:blipFill>
        <p:spPr>
          <a:xfrm>
            <a:off x="5480417" y="3792224"/>
            <a:ext cx="737692" cy="707886"/>
          </a:xfrm>
          <a:prstGeom prst="rect">
            <a:avLst/>
          </a:prstGeom>
        </p:spPr>
      </p:pic>
      <p:pic>
        <p:nvPicPr>
          <p:cNvPr id="17" name="Imagen 16">
            <a:extLst>
              <a:ext uri="{FF2B5EF4-FFF2-40B4-BE49-F238E27FC236}">
                <a16:creationId xmlns:a16="http://schemas.microsoft.com/office/drawing/2014/main" id="{82F4A78C-AB70-44B8-B761-C9B9DEA35963}"/>
              </a:ext>
            </a:extLst>
          </p:cNvPr>
          <p:cNvPicPr>
            <a:picLocks noChangeAspect="1"/>
          </p:cNvPicPr>
          <p:nvPr/>
        </p:nvPicPr>
        <p:blipFill>
          <a:blip r:embed="rId8"/>
          <a:stretch>
            <a:fillRect/>
          </a:stretch>
        </p:blipFill>
        <p:spPr>
          <a:xfrm>
            <a:off x="5509914" y="5579710"/>
            <a:ext cx="642015" cy="680925"/>
          </a:xfrm>
          <a:prstGeom prst="rect">
            <a:avLst/>
          </a:prstGeom>
        </p:spPr>
      </p:pic>
    </p:spTree>
    <p:extLst>
      <p:ext uri="{BB962C8B-B14F-4D97-AF65-F5344CB8AC3E}">
        <p14:creationId xmlns:p14="http://schemas.microsoft.com/office/powerpoint/2010/main" val="206644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136524"/>
            <a:ext cx="7886700" cy="864096"/>
          </a:xfrm>
        </p:spPr>
        <p:txBody>
          <a:bodyPr/>
          <a:lstStyle/>
          <a:p>
            <a:r>
              <a:rPr lang="en-US" sz="3200" dirty="0"/>
              <a:t>Entrada de datos </a:t>
            </a:r>
            <a:r>
              <a:rPr lang="en-US" sz="3200" dirty="0" err="1"/>
              <a:t>usando</a:t>
            </a:r>
            <a:r>
              <a:rPr lang="en-US" sz="3200" dirty="0"/>
              <a:t> </a:t>
            </a:r>
            <a:r>
              <a:rPr lang="en-US" sz="3200" dirty="0">
                <a:latin typeface="Consolas" panose="020B0609020204030204" pitchFamily="49" charset="0"/>
              </a:rPr>
              <a:t>input</a:t>
            </a:r>
          </a:p>
        </p:txBody>
      </p:sp>
      <p:sp>
        <p:nvSpPr>
          <p:cNvPr id="2" name="Content Placeholder 1"/>
          <p:cNvSpPr>
            <a:spLocks noGrp="1"/>
          </p:cNvSpPr>
          <p:nvPr>
            <p:ph idx="1"/>
          </p:nvPr>
        </p:nvSpPr>
        <p:spPr>
          <a:xfrm>
            <a:off x="251707" y="836713"/>
            <a:ext cx="8640586" cy="1569660"/>
          </a:xfrm>
        </p:spPr>
        <p:txBody>
          <a:bodyPr>
            <a:normAutofit/>
          </a:bodyPr>
          <a:lstStyle/>
          <a:p>
            <a:pPr marL="0" indent="0">
              <a:buNone/>
            </a:pPr>
            <a:r>
              <a:rPr lang="es-MX" sz="2400" b="1" dirty="0"/>
              <a:t>Combinando input con print y f-</a:t>
            </a:r>
            <a:r>
              <a:rPr lang="es-MX" sz="2400" b="1" dirty="0" err="1"/>
              <a:t>strings</a:t>
            </a:r>
            <a:r>
              <a:rPr lang="es-MX" sz="2400" b="1" dirty="0"/>
              <a:t> </a:t>
            </a:r>
          </a:p>
          <a:p>
            <a:r>
              <a:rPr lang="es-MX" sz="2000" dirty="0"/>
              <a:t>Con </a:t>
            </a:r>
            <a:r>
              <a:rPr lang="es-MX" sz="1800" b="1" dirty="0">
                <a:solidFill>
                  <a:srgbClr val="C00000"/>
                </a:solidFill>
                <a:latin typeface="Consolas" panose="020B0609020204030204" pitchFamily="49" charset="0"/>
              </a:rPr>
              <a:t>input()</a:t>
            </a:r>
            <a:r>
              <a:rPr lang="es-MX" sz="2000" dirty="0"/>
              <a:t>, </a:t>
            </a:r>
            <a:r>
              <a:rPr lang="es-MX" sz="1800" b="1" dirty="0">
                <a:solidFill>
                  <a:srgbClr val="C00000"/>
                </a:solidFill>
                <a:latin typeface="Consolas" panose="020B0609020204030204" pitchFamily="49" charset="0"/>
              </a:rPr>
              <a:t>int()</a:t>
            </a:r>
            <a:r>
              <a:rPr lang="es-MX" sz="1800" dirty="0">
                <a:latin typeface="Consolas" panose="020B0609020204030204" pitchFamily="49" charset="0"/>
              </a:rPr>
              <a:t>/</a:t>
            </a:r>
            <a:r>
              <a:rPr lang="es-MX" sz="1800" b="1" dirty="0">
                <a:solidFill>
                  <a:srgbClr val="C00000"/>
                </a:solidFill>
                <a:latin typeface="Consolas" panose="020B0609020204030204" pitchFamily="49" charset="0"/>
              </a:rPr>
              <a:t>float()</a:t>
            </a:r>
            <a:r>
              <a:rPr lang="es-MX" sz="2000" dirty="0"/>
              <a:t> y </a:t>
            </a:r>
            <a:r>
              <a:rPr lang="es-MX" sz="1800" b="1" dirty="0">
                <a:solidFill>
                  <a:srgbClr val="C00000"/>
                </a:solidFill>
                <a:latin typeface="Consolas" panose="020B0609020204030204" pitchFamily="49" charset="0"/>
              </a:rPr>
              <a:t>f-</a:t>
            </a:r>
            <a:r>
              <a:rPr lang="es-MX" sz="1800" b="1" dirty="0" err="1">
                <a:solidFill>
                  <a:srgbClr val="C00000"/>
                </a:solidFill>
                <a:latin typeface="Consolas" panose="020B0609020204030204" pitchFamily="49" charset="0"/>
              </a:rPr>
              <a:t>strings</a:t>
            </a:r>
            <a:r>
              <a:rPr lang="es-MX" sz="2000" dirty="0"/>
              <a:t>, ya se puede construir un programa completo que siga el modelo </a:t>
            </a:r>
            <a:r>
              <a:rPr lang="es-MX" sz="2000" b="1" dirty="0"/>
              <a:t>entrada</a:t>
            </a:r>
            <a:r>
              <a:rPr lang="es-MX" sz="2000" dirty="0"/>
              <a:t> </a:t>
            </a:r>
            <a:r>
              <a:rPr lang="es-MX" sz="2000" b="1" dirty="0"/>
              <a:t>→ proceso → salida</a:t>
            </a:r>
            <a:r>
              <a:rPr lang="es-MX" sz="2000" dirty="0"/>
              <a:t>.</a:t>
            </a:r>
          </a:p>
          <a:p>
            <a:r>
              <a:rPr lang="es-MX" sz="2000" dirty="0"/>
              <a:t>El resultado se puede mostrar de forma clara y legible usando </a:t>
            </a:r>
            <a:r>
              <a:rPr lang="es-MX" sz="1800" b="1" dirty="0">
                <a:solidFill>
                  <a:srgbClr val="C00000"/>
                </a:solidFill>
                <a:latin typeface="Consolas" panose="020B0609020204030204" pitchFamily="49" charset="0"/>
              </a:rPr>
              <a:t>f"..."</a:t>
            </a:r>
            <a:r>
              <a:rPr lang="es-MX" sz="2000" dirty="0"/>
              <a:t>.</a:t>
            </a:r>
            <a:endParaRPr lang="en-US" sz="2000" dirty="0"/>
          </a:p>
        </p:txBody>
      </p:sp>
      <p:sp>
        <p:nvSpPr>
          <p:cNvPr id="8" name="CuadroTexto 7">
            <a:extLst>
              <a:ext uri="{FF2B5EF4-FFF2-40B4-BE49-F238E27FC236}">
                <a16:creationId xmlns:a16="http://schemas.microsoft.com/office/drawing/2014/main" id="{B5B1762C-1CF0-4F22-A96C-887C0D6EF97C}"/>
              </a:ext>
            </a:extLst>
          </p:cNvPr>
          <p:cNvSpPr txBox="1"/>
          <p:nvPr/>
        </p:nvSpPr>
        <p:spPr>
          <a:xfrm>
            <a:off x="848163" y="2397871"/>
            <a:ext cx="7447673" cy="1384995"/>
          </a:xfrm>
          <a:prstGeom prst="rect">
            <a:avLst/>
          </a:prstGeom>
          <a:noFill/>
          <a:ln>
            <a:solidFill>
              <a:schemeClr val="tx1"/>
            </a:solidFill>
            <a:prstDash val="solid"/>
          </a:ln>
        </p:spPr>
        <p:txBody>
          <a:bodyPr wrap="square" rtlCol="0">
            <a:spAutoFit/>
          </a:bodyPr>
          <a:lstStyle/>
          <a:p>
            <a:r>
              <a:rPr lang="es-MX" sz="1400" dirty="0">
                <a:latin typeface="Consolas" panose="020B0609020204030204" pitchFamily="49" charset="0"/>
              </a:rPr>
              <a:t>nombre = input("¿Cómo te llamas? ")</a:t>
            </a:r>
          </a:p>
          <a:p>
            <a:r>
              <a:rPr lang="es-MX" sz="1400" dirty="0" err="1">
                <a:latin typeface="Consolas" panose="020B0609020204030204" pitchFamily="49" charset="0"/>
              </a:rPr>
              <a:t>anio_nacimiento</a:t>
            </a:r>
            <a:r>
              <a:rPr lang="es-MX" sz="1400" dirty="0">
                <a:latin typeface="Consolas" panose="020B0609020204030204" pitchFamily="49" charset="0"/>
              </a:rPr>
              <a:t> = int(input("¿En qué año naciste? "))</a:t>
            </a:r>
          </a:p>
          <a:p>
            <a:endParaRPr lang="es-MX" sz="1400" dirty="0">
              <a:latin typeface="Consolas" panose="020B0609020204030204" pitchFamily="49" charset="0"/>
            </a:endParaRPr>
          </a:p>
          <a:p>
            <a:r>
              <a:rPr lang="es-MX" sz="1400" dirty="0">
                <a:latin typeface="Consolas" panose="020B0609020204030204" pitchFamily="49" charset="0"/>
              </a:rPr>
              <a:t>edad = 2026 - </a:t>
            </a:r>
            <a:r>
              <a:rPr lang="es-MX" sz="1400" dirty="0" err="1">
                <a:latin typeface="Consolas" panose="020B0609020204030204" pitchFamily="49" charset="0"/>
              </a:rPr>
              <a:t>anio_nacimiento</a:t>
            </a:r>
            <a:endParaRPr lang="es-MX" sz="1400" dirty="0">
              <a:latin typeface="Consolas" panose="020B0609020204030204" pitchFamily="49" charset="0"/>
            </a:endParaRPr>
          </a:p>
          <a:p>
            <a:endParaRPr lang="es-MX" sz="1400" dirty="0">
              <a:latin typeface="Consolas" panose="020B0609020204030204" pitchFamily="49" charset="0"/>
            </a:endParaRPr>
          </a:p>
          <a:p>
            <a:r>
              <a:rPr lang="es-MX" sz="1400" dirty="0">
                <a:latin typeface="Consolas" panose="020B0609020204030204" pitchFamily="49" charset="0"/>
              </a:rPr>
              <a:t>print(</a:t>
            </a:r>
            <a:r>
              <a:rPr lang="es-MX" sz="1400" dirty="0" err="1">
                <a:latin typeface="Consolas" panose="020B0609020204030204" pitchFamily="49" charset="0"/>
              </a:rPr>
              <a:t>f"Hola</a:t>
            </a:r>
            <a:r>
              <a:rPr lang="es-MX" sz="1400" dirty="0">
                <a:latin typeface="Consolas" panose="020B0609020204030204" pitchFamily="49" charset="0"/>
              </a:rPr>
              <a:t>, {nombre}. Tienes {edad} años.")</a:t>
            </a:r>
            <a:endParaRPr lang="es-CO" sz="1400" dirty="0">
              <a:latin typeface="Consolas" panose="020B0609020204030204" pitchFamily="49" charset="0"/>
            </a:endParaRPr>
          </a:p>
        </p:txBody>
      </p:sp>
      <p:sp>
        <p:nvSpPr>
          <p:cNvPr id="9" name="CuadroTexto 8">
            <a:extLst>
              <a:ext uri="{FF2B5EF4-FFF2-40B4-BE49-F238E27FC236}">
                <a16:creationId xmlns:a16="http://schemas.microsoft.com/office/drawing/2014/main" id="{6F51E7FA-7D86-4550-AB85-EBFB5512B165}"/>
              </a:ext>
            </a:extLst>
          </p:cNvPr>
          <p:cNvSpPr txBox="1"/>
          <p:nvPr/>
        </p:nvSpPr>
        <p:spPr>
          <a:xfrm>
            <a:off x="2770013" y="3782865"/>
            <a:ext cx="792088" cy="369332"/>
          </a:xfrm>
          <a:prstGeom prst="rect">
            <a:avLst/>
          </a:prstGeom>
          <a:noFill/>
        </p:spPr>
        <p:txBody>
          <a:bodyPr wrap="square">
            <a:spAutoFit/>
          </a:bodyPr>
          <a:lstStyle/>
          <a:p>
            <a:pPr algn="ctr"/>
            <a:r>
              <a:rPr lang="es-ES" sz="1800" dirty="0">
                <a:hlinkClick r:id="rId2"/>
              </a:rPr>
              <a:t>link</a:t>
            </a:r>
            <a:endParaRPr lang="es-CO" dirty="0"/>
          </a:p>
        </p:txBody>
      </p:sp>
      <p:pic>
        <p:nvPicPr>
          <p:cNvPr id="10" name="Picture 2" descr="http://www.jegsworks.com/lessons/computerbasics/lesson3/keyboard-white.png">
            <a:extLst>
              <a:ext uri="{FF2B5EF4-FFF2-40B4-BE49-F238E27FC236}">
                <a16:creationId xmlns:a16="http://schemas.microsoft.com/office/drawing/2014/main" id="{3FFF938C-CB50-4AB2-A255-B17F59C58D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1611" y="55865"/>
            <a:ext cx="963689" cy="305169"/>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upo 12">
            <a:extLst>
              <a:ext uri="{FF2B5EF4-FFF2-40B4-BE49-F238E27FC236}">
                <a16:creationId xmlns:a16="http://schemas.microsoft.com/office/drawing/2014/main" id="{ADC626B8-7ACF-44CF-9D2F-335A743EEA98}"/>
              </a:ext>
            </a:extLst>
          </p:cNvPr>
          <p:cNvGrpSpPr/>
          <p:nvPr/>
        </p:nvGrpSpPr>
        <p:grpSpPr>
          <a:xfrm>
            <a:off x="5566255" y="4066812"/>
            <a:ext cx="3042845" cy="2511158"/>
            <a:chOff x="5377505" y="3717032"/>
            <a:chExt cx="3266824" cy="2679072"/>
          </a:xfrm>
        </p:grpSpPr>
        <p:pic>
          <p:nvPicPr>
            <p:cNvPr id="14" name="Picture 2" descr="http://t2.gstatic.com/images?q=tbn:ANd9GcS51PGLkp34nPs-LewfkgAfjdZsyder21fNGFoRiZ_A6x7txo3e">
              <a:extLst>
                <a:ext uri="{FF2B5EF4-FFF2-40B4-BE49-F238E27FC236}">
                  <a16:creationId xmlns:a16="http://schemas.microsoft.com/office/drawing/2014/main" id="{90B43DB8-4A6B-465E-9073-0C52D8D1CB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77505" y="3717032"/>
              <a:ext cx="3266824" cy="2679072"/>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42EBDDBB-487B-4192-A2C0-C03A9A19E78A}"/>
                </a:ext>
              </a:extLst>
            </p:cNvPr>
            <p:cNvSpPr txBox="1"/>
            <p:nvPr/>
          </p:nvSpPr>
          <p:spPr>
            <a:xfrm>
              <a:off x="5478849" y="3904915"/>
              <a:ext cx="2981583" cy="975334"/>
            </a:xfrm>
            <a:prstGeom prst="rect">
              <a:avLst/>
            </a:prstGeom>
            <a:noFill/>
          </p:spPr>
          <p:txBody>
            <a:bodyPr wrap="square">
              <a:spAutoFit/>
            </a:bodyPr>
            <a:lstStyle/>
            <a:p>
              <a:r>
                <a:rPr lang="es-CO" sz="1000" dirty="0">
                  <a:latin typeface="Consolas" panose="020B0609020204030204" pitchFamily="49" charset="0"/>
                </a:rPr>
                <a:t>¿Cómo te llamas? </a:t>
              </a:r>
              <a:r>
                <a:rPr lang="es-CO" sz="1000" dirty="0">
                  <a:solidFill>
                    <a:srgbClr val="C00000"/>
                  </a:solidFill>
                  <a:latin typeface="Consolas" panose="020B0609020204030204" pitchFamily="49" charset="0"/>
                </a:rPr>
                <a:t>Alan Turing ↵</a:t>
              </a:r>
            </a:p>
            <a:p>
              <a:r>
                <a:rPr lang="es-CO" sz="1000" dirty="0">
                  <a:latin typeface="Consolas" panose="020B0609020204030204" pitchFamily="49" charset="0"/>
                </a:rPr>
                <a:t>¿En qué año naciste? </a:t>
              </a:r>
              <a:r>
                <a:rPr lang="es-CO" sz="1000" dirty="0">
                  <a:solidFill>
                    <a:srgbClr val="C00000"/>
                  </a:solidFill>
                  <a:latin typeface="Consolas" panose="020B0609020204030204" pitchFamily="49" charset="0"/>
                </a:rPr>
                <a:t>1912 ↵</a:t>
              </a:r>
            </a:p>
            <a:p>
              <a:r>
                <a:rPr lang="es-CO" sz="1000" dirty="0">
                  <a:latin typeface="Consolas" panose="020B0609020204030204" pitchFamily="49" charset="0"/>
                </a:rPr>
                <a:t>Hola, Alan Turing. Tienes 114 años.</a:t>
              </a:r>
            </a:p>
            <a:p>
              <a:endParaRPr lang="es-CO" sz="1000" dirty="0">
                <a:latin typeface="Consolas" panose="020B0609020204030204" pitchFamily="49" charset="0"/>
              </a:endParaRPr>
            </a:p>
          </p:txBody>
        </p:sp>
      </p:grpSp>
      <p:pic>
        <p:nvPicPr>
          <p:cNvPr id="17" name="Imagen 16">
            <a:extLst>
              <a:ext uri="{FF2B5EF4-FFF2-40B4-BE49-F238E27FC236}">
                <a16:creationId xmlns:a16="http://schemas.microsoft.com/office/drawing/2014/main" id="{B10BBC77-3A27-4161-A1E5-29AAC8C1AD99}"/>
              </a:ext>
            </a:extLst>
          </p:cNvPr>
          <p:cNvPicPr>
            <a:picLocks noChangeAspect="1"/>
          </p:cNvPicPr>
          <p:nvPr/>
        </p:nvPicPr>
        <p:blipFill>
          <a:blip r:embed="rId5"/>
          <a:stretch>
            <a:fillRect/>
          </a:stretch>
        </p:blipFill>
        <p:spPr>
          <a:xfrm>
            <a:off x="1619672" y="4229505"/>
            <a:ext cx="3247296" cy="2425691"/>
          </a:xfrm>
          <a:prstGeom prst="rect">
            <a:avLst/>
          </a:prstGeom>
        </p:spPr>
      </p:pic>
    </p:spTree>
    <p:extLst>
      <p:ext uri="{BB962C8B-B14F-4D97-AF65-F5344CB8AC3E}">
        <p14:creationId xmlns:p14="http://schemas.microsoft.com/office/powerpoint/2010/main" val="1188182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6750" y="185971"/>
            <a:ext cx="8119814" cy="831626"/>
          </a:xfrm>
        </p:spPr>
        <p:txBody>
          <a:bodyPr/>
          <a:lstStyle/>
          <a:p>
            <a:r>
              <a:rPr lang="es-CO" sz="2800" dirty="0"/>
              <a:t>Comentarios</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70506" y="1017597"/>
            <a:ext cx="7886700" cy="5292493"/>
          </a:xfrm>
        </p:spPr>
        <p:txBody>
          <a:bodyPr>
            <a:normAutofit/>
          </a:bodyPr>
          <a:lstStyle/>
          <a:p>
            <a:r>
              <a:rPr lang="es-MX" sz="2200" b="0" i="0" u="none" strike="noStrike" baseline="0" dirty="0">
                <a:latin typeface="Calibri" panose="020F0502020204030204" pitchFamily="34" charset="0"/>
              </a:rPr>
              <a:t>Los </a:t>
            </a:r>
            <a:r>
              <a:rPr lang="es-MX" sz="2200" b="1" i="0" u="none" strike="noStrike" baseline="0" dirty="0">
                <a:latin typeface="Calibri" panose="020F0502020204030204" pitchFamily="34" charset="0"/>
              </a:rPr>
              <a:t>comentarios</a:t>
            </a:r>
            <a:r>
              <a:rPr lang="es-MX" sz="2200" b="0" i="0" u="none" strike="noStrike" baseline="0" dirty="0">
                <a:latin typeface="Calibri" panose="020F0502020204030204" pitchFamily="34" charset="0"/>
              </a:rPr>
              <a:t> son sentencias que permiten explicar las líneas de código de un programa. </a:t>
            </a:r>
          </a:p>
          <a:p>
            <a:r>
              <a:rPr lang="es-MX" sz="2200" b="0" i="0" u="none" strike="noStrike" baseline="0" dirty="0">
                <a:latin typeface="Calibri" panose="020F0502020204030204" pitchFamily="34" charset="0"/>
              </a:rPr>
              <a:t>Los comentarios siempre son ignorados por el compilador o interprete del lenguaje. </a:t>
            </a:r>
          </a:p>
          <a:p>
            <a:r>
              <a:rPr lang="es-MX" sz="2200" b="0" i="0" u="none" strike="noStrike" baseline="0" dirty="0">
                <a:latin typeface="Calibri" panose="020F0502020204030204" pitchFamily="34" charset="0"/>
              </a:rPr>
              <a:t>Dependiendo del lenguaje, pueden existir dos tipos de comentarios: </a:t>
            </a:r>
          </a:p>
          <a:p>
            <a:pPr lvl="1"/>
            <a:r>
              <a:rPr lang="es-MX" sz="2000" b="1" i="0" u="none" strike="noStrike" baseline="0" dirty="0">
                <a:latin typeface="Calibri" panose="020F0502020204030204" pitchFamily="34" charset="0"/>
              </a:rPr>
              <a:t>Comentarios de una línea: </a:t>
            </a:r>
            <a:r>
              <a:rPr lang="es-MX" sz="2000" b="0" i="0" u="none" strike="noStrike" baseline="0" dirty="0">
                <a:latin typeface="Calibri" panose="020F0502020204030204" pitchFamily="34" charset="0"/>
              </a:rPr>
              <a:t>son aquellos que inician con el símbolo </a:t>
            </a:r>
            <a:r>
              <a:rPr lang="es-MX" sz="2000" b="0" i="0" u="none" strike="noStrike" baseline="0" dirty="0">
                <a:solidFill>
                  <a:srgbClr val="C00000"/>
                </a:solidFill>
                <a:latin typeface="Calibri" panose="020F0502020204030204" pitchFamily="34" charset="0"/>
              </a:rPr>
              <a:t>#</a:t>
            </a:r>
            <a:r>
              <a:rPr lang="es-MX" sz="2000" b="0" i="0" u="none" strike="noStrike" baseline="0" dirty="0">
                <a:solidFill>
                  <a:srgbClr val="000000"/>
                </a:solidFill>
                <a:latin typeface="Calibri" panose="020F0502020204030204" pitchFamily="34" charset="0"/>
              </a:rPr>
              <a:t>. Estos comentarios se utilizan para explicar de manera corta una instrucción.</a:t>
            </a:r>
          </a:p>
          <a:p>
            <a:pPr algn="l"/>
            <a:endParaRPr lang="es-CO" sz="2000" b="0" i="0" u="none" strike="noStrike" baseline="0" dirty="0">
              <a:solidFill>
                <a:srgbClr val="000000"/>
              </a:solidFill>
              <a:latin typeface="Calibri" panose="020F0502020204030204" pitchFamily="34" charset="0"/>
            </a:endParaRPr>
          </a:p>
          <a:p>
            <a:pPr lvl="1"/>
            <a:r>
              <a:rPr lang="es-MX" sz="2000" b="1" i="0" u="none" strike="noStrike" baseline="0" dirty="0">
                <a:latin typeface="Calibri" panose="020F0502020204030204" pitchFamily="34" charset="0"/>
              </a:rPr>
              <a:t>Comentarios varias líneas: </a:t>
            </a:r>
            <a:r>
              <a:rPr lang="es-MX" sz="2000" b="0" i="0" u="none" strike="noStrike" baseline="0" dirty="0">
                <a:latin typeface="Calibri" panose="020F0502020204030204" pitchFamily="34" charset="0"/>
              </a:rPr>
              <a:t>son aquellos que inician con los símbolos </a:t>
            </a:r>
            <a:r>
              <a:rPr lang="es-MX" sz="2000" b="0" i="0" u="none" strike="noStrike" baseline="0" dirty="0">
                <a:solidFill>
                  <a:srgbClr val="C00000"/>
                </a:solidFill>
                <a:latin typeface="Courier New" panose="02070309020205020404" pitchFamily="49" charset="0"/>
              </a:rPr>
              <a:t>""" </a:t>
            </a:r>
            <a:r>
              <a:rPr lang="es-MX" sz="2000" b="0" i="0" u="none" strike="noStrike" baseline="0" dirty="0">
                <a:solidFill>
                  <a:srgbClr val="000000"/>
                </a:solidFill>
                <a:latin typeface="Calibri" panose="020F0502020204030204" pitchFamily="34" charset="0"/>
              </a:rPr>
              <a:t>y terminan con los símbolos </a:t>
            </a:r>
            <a:r>
              <a:rPr lang="es-MX" sz="2000" b="0" i="0" u="none" strike="noStrike" baseline="0" dirty="0">
                <a:solidFill>
                  <a:srgbClr val="C00000"/>
                </a:solidFill>
                <a:latin typeface="Courier New" panose="02070309020205020404" pitchFamily="49" charset="0"/>
              </a:rPr>
              <a:t>"""</a:t>
            </a:r>
            <a:r>
              <a:rPr lang="es-MX" sz="2000" b="0" i="0" u="none" strike="noStrike" baseline="0" dirty="0">
                <a:solidFill>
                  <a:srgbClr val="000000"/>
                </a:solidFill>
                <a:latin typeface="Calibri" panose="020F0502020204030204" pitchFamily="34" charset="0"/>
              </a:rPr>
              <a:t>. Se usan para describir o explicar el funcionamiento de un bloque de código.</a:t>
            </a:r>
          </a:p>
          <a:p>
            <a:endParaRPr lang="es-MX" sz="1800" b="0" i="0" u="none" strike="noStrike" baseline="0" dirty="0">
              <a:latin typeface="Calibri" panose="020F0502020204030204" pitchFamily="34" charset="0"/>
            </a:endParaRPr>
          </a:p>
        </p:txBody>
      </p:sp>
      <p:sp>
        <p:nvSpPr>
          <p:cNvPr id="14" name="CuadroTexto 13">
            <a:extLst>
              <a:ext uri="{FF2B5EF4-FFF2-40B4-BE49-F238E27FC236}">
                <a16:creationId xmlns:a16="http://schemas.microsoft.com/office/drawing/2014/main" id="{8E811345-CBB4-4B99-A5B5-93DB704FE563}"/>
              </a:ext>
            </a:extLst>
          </p:cNvPr>
          <p:cNvSpPr txBox="1"/>
          <p:nvPr/>
        </p:nvSpPr>
        <p:spPr>
          <a:xfrm>
            <a:off x="1178638" y="4077072"/>
            <a:ext cx="6276928" cy="307777"/>
          </a:xfrm>
          <a:prstGeom prst="rect">
            <a:avLst/>
          </a:prstGeom>
          <a:noFill/>
          <a:ln>
            <a:solidFill>
              <a:schemeClr val="tx1"/>
            </a:solidFill>
          </a:ln>
        </p:spPr>
        <p:txBody>
          <a:bodyPr wrap="square">
            <a:spAutoFit/>
          </a:bodyPr>
          <a:lstStyle/>
          <a:p>
            <a:r>
              <a:rPr lang="es-CO" sz="1400" dirty="0">
                <a:solidFill>
                  <a:srgbClr val="00B050"/>
                </a:solidFill>
                <a:latin typeface="Consolas" panose="020B0609020204030204" pitchFamily="49" charset="0"/>
              </a:rPr>
              <a:t># Esto es un comentario de una línea</a:t>
            </a:r>
          </a:p>
        </p:txBody>
      </p:sp>
      <p:sp>
        <p:nvSpPr>
          <p:cNvPr id="18" name="CuadroTexto 17">
            <a:extLst>
              <a:ext uri="{FF2B5EF4-FFF2-40B4-BE49-F238E27FC236}">
                <a16:creationId xmlns:a16="http://schemas.microsoft.com/office/drawing/2014/main" id="{199E7F6E-9233-4849-BB35-E7618312DB3C}"/>
              </a:ext>
            </a:extLst>
          </p:cNvPr>
          <p:cNvSpPr txBox="1"/>
          <p:nvPr/>
        </p:nvSpPr>
        <p:spPr>
          <a:xfrm>
            <a:off x="1181884" y="5363349"/>
            <a:ext cx="6273682" cy="954107"/>
          </a:xfrm>
          <a:prstGeom prst="rect">
            <a:avLst/>
          </a:prstGeom>
          <a:noFill/>
          <a:ln>
            <a:solidFill>
              <a:schemeClr val="tx1"/>
            </a:solidFill>
          </a:ln>
        </p:spPr>
        <p:txBody>
          <a:bodyPr wrap="square">
            <a:spAutoFit/>
          </a:bodyPr>
          <a:lstStyle>
            <a:defPPr>
              <a:defRPr lang="en-US"/>
            </a:defPPr>
            <a:lvl1pPr>
              <a:defRPr sz="1400">
                <a:solidFill>
                  <a:srgbClr val="00B050"/>
                </a:solidFill>
                <a:latin typeface="Consolas" panose="020B0609020204030204" pitchFamily="49" charset="0"/>
              </a:defRPr>
            </a:lvl1pPr>
          </a:lstStyle>
          <a:p>
            <a:r>
              <a:rPr lang="es-CO" dirty="0"/>
              <a:t>""" </a:t>
            </a:r>
          </a:p>
          <a:p>
            <a:r>
              <a:rPr lang="es-MX" dirty="0"/>
              <a:t>Este es un comentario </a:t>
            </a:r>
          </a:p>
          <a:p>
            <a:r>
              <a:rPr lang="es-MX" dirty="0"/>
              <a:t>de varias </a:t>
            </a:r>
          </a:p>
          <a:p>
            <a:r>
              <a:rPr lang="es-MX" dirty="0"/>
              <a:t>líneas</a:t>
            </a:r>
            <a:r>
              <a:rPr lang="es-CO" dirty="0"/>
              <a:t>"""</a:t>
            </a:r>
          </a:p>
        </p:txBody>
      </p:sp>
    </p:spTree>
    <p:extLst>
      <p:ext uri="{BB962C8B-B14F-4D97-AF65-F5344CB8AC3E}">
        <p14:creationId xmlns:p14="http://schemas.microsoft.com/office/powerpoint/2010/main" val="1857330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284840"/>
            <a:ext cx="8119814" cy="831626"/>
          </a:xfrm>
        </p:spPr>
        <p:txBody>
          <a:bodyPr/>
          <a:lstStyle/>
          <a:p>
            <a:r>
              <a:rPr lang="es-CO" sz="2800" dirty="0"/>
              <a:t>Tabla resumen</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94816" y="980728"/>
            <a:ext cx="7993607" cy="663501"/>
          </a:xfrm>
        </p:spPr>
        <p:txBody>
          <a:bodyPr>
            <a:normAutofit/>
          </a:bodyPr>
          <a:lstStyle/>
          <a:p>
            <a:pPr marL="0" indent="0">
              <a:buNone/>
            </a:pPr>
            <a:r>
              <a:rPr lang="es-MX" sz="2000" dirty="0"/>
              <a:t>La siguiente tabla muestra la representación equivalente de las piezas esenciales para construir código secuencial</a:t>
            </a:r>
            <a:endParaRPr lang="es-CO" sz="2000" dirty="0"/>
          </a:p>
        </p:txBody>
      </p:sp>
      <p:graphicFrame>
        <p:nvGraphicFramePr>
          <p:cNvPr id="2" name="Tabla 2">
            <a:extLst>
              <a:ext uri="{FF2B5EF4-FFF2-40B4-BE49-F238E27FC236}">
                <a16:creationId xmlns:a16="http://schemas.microsoft.com/office/drawing/2014/main" id="{1D2B5E36-52C4-42F4-8540-7CBD071455A5}"/>
              </a:ext>
            </a:extLst>
          </p:cNvPr>
          <p:cNvGraphicFramePr>
            <a:graphicFrameLocks noGrp="1"/>
          </p:cNvGraphicFramePr>
          <p:nvPr>
            <p:extLst>
              <p:ext uri="{D42A27DB-BD31-4B8C-83A1-F6EECF244321}">
                <p14:modId xmlns:p14="http://schemas.microsoft.com/office/powerpoint/2010/main" val="730077221"/>
              </p:ext>
            </p:extLst>
          </p:nvPr>
        </p:nvGraphicFramePr>
        <p:xfrm>
          <a:off x="466826" y="1700808"/>
          <a:ext cx="7993606" cy="4211320"/>
        </p:xfrm>
        <a:graphic>
          <a:graphicData uri="http://schemas.openxmlformats.org/drawingml/2006/table">
            <a:tbl>
              <a:tblPr firstRow="1" bandRow="1">
                <a:tableStyleId>{5940675A-B579-460E-94D1-54222C63F5DA}</a:tableStyleId>
              </a:tblPr>
              <a:tblGrid>
                <a:gridCol w="1517343">
                  <a:extLst>
                    <a:ext uri="{9D8B030D-6E8A-4147-A177-3AD203B41FA5}">
                      <a16:colId xmlns:a16="http://schemas.microsoft.com/office/drawing/2014/main" val="4002968547"/>
                    </a:ext>
                  </a:extLst>
                </a:gridCol>
                <a:gridCol w="2352911">
                  <a:extLst>
                    <a:ext uri="{9D8B030D-6E8A-4147-A177-3AD203B41FA5}">
                      <a16:colId xmlns:a16="http://schemas.microsoft.com/office/drawing/2014/main" val="2376140116"/>
                    </a:ext>
                  </a:extLst>
                </a:gridCol>
                <a:gridCol w="2061676">
                  <a:extLst>
                    <a:ext uri="{9D8B030D-6E8A-4147-A177-3AD203B41FA5}">
                      <a16:colId xmlns:a16="http://schemas.microsoft.com/office/drawing/2014/main" val="1317388859"/>
                    </a:ext>
                  </a:extLst>
                </a:gridCol>
                <a:gridCol w="2061676">
                  <a:extLst>
                    <a:ext uri="{9D8B030D-6E8A-4147-A177-3AD203B41FA5}">
                      <a16:colId xmlns:a16="http://schemas.microsoft.com/office/drawing/2014/main" val="1620986510"/>
                    </a:ext>
                  </a:extLst>
                </a:gridCol>
              </a:tblGrid>
              <a:tr h="370840">
                <a:tc>
                  <a:txBody>
                    <a:bodyPr/>
                    <a:lstStyle/>
                    <a:p>
                      <a:pPr algn="ctr"/>
                      <a:r>
                        <a:rPr lang="es-CO" b="1" dirty="0"/>
                        <a:t>Tipo</a:t>
                      </a:r>
                    </a:p>
                  </a:txBody>
                  <a:tcPr/>
                </a:tc>
                <a:tc>
                  <a:txBody>
                    <a:bodyPr/>
                    <a:lstStyle/>
                    <a:p>
                      <a:pPr algn="ctr"/>
                      <a:r>
                        <a:rPr lang="es-CO" b="1" dirty="0"/>
                        <a:t>Diagrama de bloques</a:t>
                      </a:r>
                    </a:p>
                  </a:txBody>
                  <a:tcPr/>
                </a:tc>
                <a:tc>
                  <a:txBody>
                    <a:bodyPr/>
                    <a:lstStyle/>
                    <a:p>
                      <a:pPr algn="ctr"/>
                      <a:r>
                        <a:rPr lang="es-CO" b="1" dirty="0"/>
                        <a:t>Pseudocordigo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t>Python</a:t>
                      </a:r>
                    </a:p>
                  </a:txBody>
                  <a:tcPr/>
                </a:tc>
                <a:extLst>
                  <a:ext uri="{0D108BD9-81ED-4DB2-BD59-A6C34878D82A}">
                    <a16:rowId xmlns:a16="http://schemas.microsoft.com/office/drawing/2014/main" val="3153662098"/>
                  </a:ext>
                </a:extLst>
              </a:tr>
              <a:tr h="370840">
                <a:tc>
                  <a:txBody>
                    <a:bodyPr/>
                    <a:lstStyle/>
                    <a:p>
                      <a:pPr algn="ctr"/>
                      <a:r>
                        <a:rPr lang="es-CO" dirty="0"/>
                        <a:t>Entrada</a:t>
                      </a:r>
                    </a:p>
                    <a:p>
                      <a:pPr algn="ctr"/>
                      <a:endParaRPr lang="es-CO" dirty="0"/>
                    </a:p>
                    <a:p>
                      <a:pPr algn="ctr"/>
                      <a:endParaRPr lang="es-CO" dirty="0"/>
                    </a:p>
                  </a:txBody>
                  <a:tcPr/>
                </a:tc>
                <a:tc>
                  <a:txBody>
                    <a:bodyPr/>
                    <a:lstStyle/>
                    <a:p>
                      <a:endParaRPr lang="es-CO" dirty="0"/>
                    </a:p>
                    <a:p>
                      <a:endParaRPr lang="es-CO" dirty="0"/>
                    </a:p>
                    <a:p>
                      <a:endParaRPr lang="es-CO" dirty="0"/>
                    </a:p>
                    <a:p>
                      <a:endParaRPr lang="es-CO" dirty="0"/>
                    </a:p>
                  </a:txBody>
                  <a:tcPr/>
                </a:tc>
                <a:tc>
                  <a:txBody>
                    <a:bodyPr/>
                    <a:lstStyle/>
                    <a:p>
                      <a:pPr algn="ctr"/>
                      <a:r>
                        <a:rPr lang="es-CO" sz="1400" dirty="0">
                          <a:latin typeface="Consolas" panose="020B0609020204030204" pitchFamily="49" charset="0"/>
                        </a:rPr>
                        <a:t>Leer(v1,v2,…)</a:t>
                      </a:r>
                    </a:p>
                  </a:txBody>
                  <a:tcPr anchor="ctr"/>
                </a:tc>
                <a:tc>
                  <a:txBody>
                    <a:bodyPr/>
                    <a:lstStyle/>
                    <a:p>
                      <a:pPr algn="ctr"/>
                      <a:r>
                        <a:rPr lang="es-CO" sz="1400" dirty="0">
                          <a:latin typeface="Consolas" panose="020B0609020204030204" pitchFamily="49" charset="0"/>
                        </a:rPr>
                        <a:t>v1 = input(...)</a:t>
                      </a:r>
                    </a:p>
                    <a:p>
                      <a:pPr algn="ctr"/>
                      <a:r>
                        <a:rPr lang="es-CO" sz="1400" dirty="0">
                          <a:latin typeface="Consolas" panose="020B0609020204030204" pitchFamily="49" charset="0"/>
                        </a:rPr>
                        <a:t>v2 = input(...)</a:t>
                      </a:r>
                    </a:p>
                  </a:txBody>
                  <a:tcPr anchor="ctr"/>
                </a:tc>
                <a:extLst>
                  <a:ext uri="{0D108BD9-81ED-4DB2-BD59-A6C34878D82A}">
                    <a16:rowId xmlns:a16="http://schemas.microsoft.com/office/drawing/2014/main" val="2502274137"/>
                  </a:ext>
                </a:extLst>
              </a:tr>
              <a:tr h="370840">
                <a:tc>
                  <a:txBody>
                    <a:bodyPr/>
                    <a:lstStyle/>
                    <a:p>
                      <a:pPr algn="ctr"/>
                      <a:r>
                        <a:rPr lang="es-CO" dirty="0"/>
                        <a:t>Salida</a:t>
                      </a:r>
                    </a:p>
                  </a:txBody>
                  <a:tcPr/>
                </a:tc>
                <a:tc>
                  <a:txBody>
                    <a:bodyPr/>
                    <a:lstStyle/>
                    <a:p>
                      <a:endParaRPr lang="es-CO" dirty="0"/>
                    </a:p>
                    <a:p>
                      <a:endParaRPr lang="es-CO" dirty="0"/>
                    </a:p>
                    <a:p>
                      <a:endParaRPr lang="es-CO" dirty="0"/>
                    </a:p>
                    <a:p>
                      <a:endParaRPr lang="es-CO" dirty="0"/>
                    </a:p>
                    <a:p>
                      <a:endParaRPr lang="es-CO"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400" dirty="0">
                          <a:latin typeface="Consolas" panose="020B0609020204030204" pitchFamily="49" charset="0"/>
                        </a:rPr>
                        <a:t>Escribir(v1,v2,…)</a:t>
                      </a:r>
                    </a:p>
                    <a:p>
                      <a:pPr algn="ctr"/>
                      <a:endParaRPr lang="es-CO" sz="1400" dirty="0"/>
                    </a:p>
                  </a:txBody>
                  <a:tcPr anchor="ctr"/>
                </a:tc>
                <a:tc>
                  <a:txBody>
                    <a:bodyPr/>
                    <a:lstStyle/>
                    <a:p>
                      <a:pPr algn="ctr"/>
                      <a:r>
                        <a:rPr lang="es-CO" sz="1400" dirty="0">
                          <a:latin typeface="Consolas" panose="020B0609020204030204" pitchFamily="49" charset="0"/>
                        </a:rPr>
                        <a:t>print(v1,v2,…)</a:t>
                      </a:r>
                    </a:p>
                  </a:txBody>
                  <a:tcPr anchor="ctr"/>
                </a:tc>
                <a:extLst>
                  <a:ext uri="{0D108BD9-81ED-4DB2-BD59-A6C34878D82A}">
                    <a16:rowId xmlns:a16="http://schemas.microsoft.com/office/drawing/2014/main" val="325961845"/>
                  </a:ext>
                </a:extLst>
              </a:tr>
              <a:tr h="370840">
                <a:tc>
                  <a:txBody>
                    <a:bodyPr/>
                    <a:lstStyle/>
                    <a:p>
                      <a:pPr algn="ctr"/>
                      <a:r>
                        <a:rPr lang="es-CO" dirty="0"/>
                        <a:t>Proceso</a:t>
                      </a:r>
                    </a:p>
                  </a:txBody>
                  <a:tcPr/>
                </a:tc>
                <a:tc>
                  <a:txBody>
                    <a:bodyPr/>
                    <a:lstStyle/>
                    <a:p>
                      <a:endParaRPr lang="es-CO" dirty="0"/>
                    </a:p>
                    <a:p>
                      <a:endParaRPr lang="es-CO" dirty="0"/>
                    </a:p>
                    <a:p>
                      <a:endParaRPr lang="es-CO" dirty="0"/>
                    </a:p>
                    <a:p>
                      <a:endParaRPr lang="es-CO" dirty="0"/>
                    </a:p>
                  </a:txBody>
                  <a:tcPr/>
                </a:tc>
                <a:tc>
                  <a:txBody>
                    <a:bodyPr/>
                    <a:lstStyle/>
                    <a:p>
                      <a:pPr algn="ctr"/>
                      <a:endParaRPr lang="es-CO"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s-CO" sz="1400" dirty="0">
                          <a:latin typeface="Consolas" panose="020B0609020204030204" pitchFamily="49" charset="0"/>
                        </a:rPr>
                        <a:t>c = a + b</a:t>
                      </a:r>
                      <a:endParaRPr lang="es-CO" sz="1400" dirty="0"/>
                    </a:p>
                    <a:p>
                      <a:pPr algn="ctr"/>
                      <a:endParaRPr lang="es-CO" sz="1400" dirty="0"/>
                    </a:p>
                  </a:txBody>
                  <a:tcPr anchor="ctr"/>
                </a:tc>
                <a:tc>
                  <a:txBody>
                    <a:bodyPr/>
                    <a:lstStyle/>
                    <a:p>
                      <a:pPr algn="ctr"/>
                      <a:r>
                        <a:rPr lang="es-CO" sz="1400" dirty="0">
                          <a:latin typeface="Consolas" panose="020B0609020204030204" pitchFamily="49" charset="0"/>
                        </a:rPr>
                        <a:t>c = a + b</a:t>
                      </a:r>
                    </a:p>
                  </a:txBody>
                  <a:tcPr anchor="ctr"/>
                </a:tc>
                <a:extLst>
                  <a:ext uri="{0D108BD9-81ED-4DB2-BD59-A6C34878D82A}">
                    <a16:rowId xmlns:a16="http://schemas.microsoft.com/office/drawing/2014/main" val="2481907500"/>
                  </a:ext>
                </a:extLst>
              </a:tr>
            </a:tbl>
          </a:graphicData>
        </a:graphic>
      </p:graphicFrame>
      <p:sp>
        <p:nvSpPr>
          <p:cNvPr id="10" name="Flowchart: Data 6">
            <a:extLst>
              <a:ext uri="{FF2B5EF4-FFF2-40B4-BE49-F238E27FC236}">
                <a16:creationId xmlns:a16="http://schemas.microsoft.com/office/drawing/2014/main" id="{0844C778-9DE1-449B-B09C-237271C11B8A}"/>
              </a:ext>
            </a:extLst>
          </p:cNvPr>
          <p:cNvSpPr/>
          <p:nvPr/>
        </p:nvSpPr>
        <p:spPr>
          <a:xfrm>
            <a:off x="2051722" y="2285936"/>
            <a:ext cx="2231500"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Read v1,v2,…</a:t>
            </a:r>
          </a:p>
        </p:txBody>
      </p:sp>
      <p:sp>
        <p:nvSpPr>
          <p:cNvPr id="11" name="Flowchart: Data 6">
            <a:extLst>
              <a:ext uri="{FF2B5EF4-FFF2-40B4-BE49-F238E27FC236}">
                <a16:creationId xmlns:a16="http://schemas.microsoft.com/office/drawing/2014/main" id="{9C39F37A-2A39-47E1-86A7-FAE0C0329172}"/>
              </a:ext>
            </a:extLst>
          </p:cNvPr>
          <p:cNvSpPr/>
          <p:nvPr/>
        </p:nvSpPr>
        <p:spPr>
          <a:xfrm>
            <a:off x="2051722" y="3654088"/>
            <a:ext cx="2214917"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Print v1,v2,…</a:t>
            </a:r>
          </a:p>
        </p:txBody>
      </p:sp>
      <p:sp>
        <p:nvSpPr>
          <p:cNvPr id="12" name="Flowchart: Process 7">
            <a:extLst>
              <a:ext uri="{FF2B5EF4-FFF2-40B4-BE49-F238E27FC236}">
                <a16:creationId xmlns:a16="http://schemas.microsoft.com/office/drawing/2014/main" id="{6B08FC8C-52EF-4BF1-96B3-3C24D434D6C2}"/>
              </a:ext>
            </a:extLst>
          </p:cNvPr>
          <p:cNvSpPr/>
          <p:nvPr/>
        </p:nvSpPr>
        <p:spPr>
          <a:xfrm>
            <a:off x="2461374" y="5019720"/>
            <a:ext cx="1395611"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c </a:t>
            </a:r>
            <a:r>
              <a:rPr lang="en-US" sz="1200" dirty="0">
                <a:latin typeface="Consolas" panose="020B0609020204030204" pitchFamily="49" charset="0"/>
                <a:sym typeface="Wingdings" panose="05000000000000000000" pitchFamily="2" charset="2"/>
              </a:rPr>
              <a:t> a + b</a:t>
            </a:r>
            <a:r>
              <a:rPr lang="en-US" sz="1200" dirty="0">
                <a:latin typeface="Consolas" panose="020B0609020204030204" pitchFamily="49" charset="0"/>
              </a:rPr>
              <a:t> </a:t>
            </a:r>
          </a:p>
        </p:txBody>
      </p:sp>
      <p:pic>
        <p:nvPicPr>
          <p:cNvPr id="8" name="Picture 2" descr="http://www.jegsworks.com/lessons/computerbasics/lesson3/keyboard-white.png">
            <a:extLst>
              <a:ext uri="{FF2B5EF4-FFF2-40B4-BE49-F238E27FC236}">
                <a16:creationId xmlns:a16="http://schemas.microsoft.com/office/drawing/2014/main" id="{D62F66DF-1E4D-4961-A500-E613E89785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510" y="2565896"/>
            <a:ext cx="1108159" cy="35091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t2.gstatic.com/images?q=tbn:ANd9GcS51PGLkp34nPs-LewfkgAfjdZsyder21fNGFoRiZ_A6x7txo3e">
            <a:extLst>
              <a:ext uri="{FF2B5EF4-FFF2-40B4-BE49-F238E27FC236}">
                <a16:creationId xmlns:a16="http://schemas.microsoft.com/office/drawing/2014/main" id="{1D582CE4-942A-4E2B-8410-CB4053B31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1465" y="3741286"/>
            <a:ext cx="716248" cy="5873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53F8DCC6-0D98-4EEC-91B9-C840D748923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1465" y="5038329"/>
            <a:ext cx="728448" cy="728448"/>
          </a:xfrm>
          <a:prstGeom prst="rect">
            <a:avLst/>
          </a:prstGeom>
          <a:noFill/>
          <a:extLst>
            <a:ext uri="{909E8E84-426E-40DD-AFC4-6F175D3DCCD1}">
              <a14:hiddenFill xmlns:a14="http://schemas.microsoft.com/office/drawing/2010/main">
                <a:solidFill>
                  <a:srgbClr val="FFFFFF"/>
                </a:solidFill>
              </a14:hiddenFill>
            </a:ext>
          </a:extLst>
        </p:spPr>
      </p:pic>
      <p:sp>
        <p:nvSpPr>
          <p:cNvPr id="15" name="Marcador de contenido 8">
            <a:extLst>
              <a:ext uri="{FF2B5EF4-FFF2-40B4-BE49-F238E27FC236}">
                <a16:creationId xmlns:a16="http://schemas.microsoft.com/office/drawing/2014/main" id="{A781356A-A35A-48D6-BC89-058C09E8F029}"/>
              </a:ext>
            </a:extLst>
          </p:cNvPr>
          <p:cNvSpPr txBox="1">
            <a:spLocks/>
          </p:cNvSpPr>
          <p:nvPr/>
        </p:nvSpPr>
        <p:spPr>
          <a:xfrm>
            <a:off x="394817" y="6072698"/>
            <a:ext cx="8281640" cy="596662"/>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1600" dirty="0"/>
              <a:t>En Python, </a:t>
            </a:r>
            <a:r>
              <a:rPr lang="es-MX" sz="1400" dirty="0">
                <a:solidFill>
                  <a:srgbClr val="C00000"/>
                </a:solidFill>
                <a:latin typeface="Consolas" panose="020B0609020204030204" pitchFamily="49" charset="0"/>
              </a:rPr>
              <a:t>input()</a:t>
            </a:r>
            <a:r>
              <a:rPr lang="es-MX" sz="1600" dirty="0"/>
              <a:t> siempre devuelve texto (</a:t>
            </a:r>
            <a:r>
              <a:rPr lang="es-MX" sz="1400" dirty="0">
                <a:solidFill>
                  <a:srgbClr val="C00000"/>
                </a:solidFill>
                <a:latin typeface="Consolas" panose="020B0609020204030204" pitchFamily="49" charset="0"/>
              </a:rPr>
              <a:t>str</a:t>
            </a:r>
            <a:r>
              <a:rPr lang="es-MX" sz="1600" dirty="0"/>
              <a:t>); si el valor se va a usar en una operación numérica, debe convertirse con </a:t>
            </a:r>
            <a:r>
              <a:rPr lang="es-MX" sz="1400" dirty="0" err="1">
                <a:solidFill>
                  <a:srgbClr val="C00000"/>
                </a:solidFill>
                <a:latin typeface="Consolas" panose="020B0609020204030204" pitchFamily="49" charset="0"/>
              </a:rPr>
              <a:t>int</a:t>
            </a:r>
            <a:r>
              <a:rPr lang="es-MX" sz="1400" dirty="0">
                <a:solidFill>
                  <a:srgbClr val="C00000"/>
                </a:solidFill>
                <a:latin typeface="Consolas" panose="020B0609020204030204" pitchFamily="49" charset="0"/>
              </a:rPr>
              <a:t>()</a:t>
            </a:r>
            <a:r>
              <a:rPr lang="es-MX" sz="1600" dirty="0"/>
              <a:t> o </a:t>
            </a:r>
            <a:r>
              <a:rPr lang="es-MX" sz="1400" dirty="0" err="1">
                <a:solidFill>
                  <a:srgbClr val="C00000"/>
                </a:solidFill>
                <a:latin typeface="Consolas" panose="020B0609020204030204" pitchFamily="49" charset="0"/>
              </a:rPr>
              <a:t>float</a:t>
            </a:r>
            <a:r>
              <a:rPr lang="es-MX" sz="1400" dirty="0">
                <a:solidFill>
                  <a:srgbClr val="C00000"/>
                </a:solidFill>
                <a:latin typeface="Consolas" panose="020B0609020204030204" pitchFamily="49" charset="0"/>
              </a:rPr>
              <a:t>()</a:t>
            </a:r>
            <a:r>
              <a:rPr lang="es-MX" sz="1600" dirty="0"/>
              <a:t> (por ejemplo: </a:t>
            </a:r>
            <a:r>
              <a:rPr lang="es-MX" sz="1400" dirty="0">
                <a:solidFill>
                  <a:srgbClr val="C00000"/>
                </a:solidFill>
                <a:latin typeface="Consolas" panose="020B0609020204030204" pitchFamily="49" charset="0"/>
              </a:rPr>
              <a:t>v1 = </a:t>
            </a:r>
            <a:r>
              <a:rPr lang="es-MX" sz="1400" dirty="0" err="1">
                <a:solidFill>
                  <a:srgbClr val="C00000"/>
                </a:solidFill>
                <a:latin typeface="Consolas" panose="020B0609020204030204" pitchFamily="49" charset="0"/>
              </a:rPr>
              <a:t>float</a:t>
            </a:r>
            <a:r>
              <a:rPr lang="es-MX" sz="1400" dirty="0">
                <a:solidFill>
                  <a:srgbClr val="C00000"/>
                </a:solidFill>
                <a:latin typeface="Consolas" panose="020B0609020204030204" pitchFamily="49" charset="0"/>
              </a:rPr>
              <a:t>(input(...))</a:t>
            </a:r>
            <a:r>
              <a:rPr lang="es-MX" sz="1600" dirty="0"/>
              <a:t>).</a:t>
            </a:r>
            <a:endParaRPr lang="es-CO" sz="1600" dirty="0"/>
          </a:p>
        </p:txBody>
      </p:sp>
    </p:spTree>
    <p:extLst>
      <p:ext uri="{BB962C8B-B14F-4D97-AF65-F5344CB8AC3E}">
        <p14:creationId xmlns:p14="http://schemas.microsoft.com/office/powerpoint/2010/main" val="2011269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22487" y="260648"/>
            <a:ext cx="8119813" cy="1116540"/>
          </a:xfrm>
        </p:spPr>
        <p:txBody>
          <a:bodyPr/>
          <a:lstStyle/>
          <a:p>
            <a:r>
              <a:rPr lang="es-CO" sz="3200" dirty="0"/>
              <a:t>Codificación de algoritmos en Python</a:t>
            </a:r>
          </a:p>
        </p:txBody>
      </p:sp>
      <p:sp>
        <p:nvSpPr>
          <p:cNvPr id="19" name="1 Marcador de contenido">
            <a:extLst>
              <a:ext uri="{FF2B5EF4-FFF2-40B4-BE49-F238E27FC236}">
                <a16:creationId xmlns:a16="http://schemas.microsoft.com/office/drawing/2014/main" id="{934FDD44-A4EB-4C3E-B8ED-D760B67C9486}"/>
              </a:ext>
            </a:extLst>
          </p:cNvPr>
          <p:cNvSpPr txBox="1">
            <a:spLocks/>
          </p:cNvSpPr>
          <p:nvPr/>
        </p:nvSpPr>
        <p:spPr>
          <a:xfrm>
            <a:off x="395535" y="1244857"/>
            <a:ext cx="8119813" cy="69426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2200" b="1" dirty="0">
                <a:solidFill>
                  <a:srgbClr val="FF0000"/>
                </a:solidFill>
              </a:rPr>
              <a:t>Ejemplo 1</a:t>
            </a:r>
            <a:r>
              <a:rPr lang="es-ES" sz="2200" dirty="0">
                <a:solidFill>
                  <a:srgbClr val="FF0000"/>
                </a:solidFill>
              </a:rPr>
              <a:t>: </a:t>
            </a:r>
            <a:r>
              <a:rPr lang="es-ES" sz="2200" dirty="0"/>
              <a:t>Realice un programa que permita calcular al área de un triangulo</a:t>
            </a:r>
            <a:endParaRPr lang="es-ES" sz="2200" b="1" dirty="0"/>
          </a:p>
        </p:txBody>
      </p:sp>
      <p:grpSp>
        <p:nvGrpSpPr>
          <p:cNvPr id="7" name="53 Grupo">
            <a:extLst>
              <a:ext uri="{FF2B5EF4-FFF2-40B4-BE49-F238E27FC236}">
                <a16:creationId xmlns:a16="http://schemas.microsoft.com/office/drawing/2014/main" id="{5C853D73-4E44-4DBB-8B9E-03C6DDDEEE70}"/>
              </a:ext>
            </a:extLst>
          </p:cNvPr>
          <p:cNvGrpSpPr/>
          <p:nvPr/>
        </p:nvGrpSpPr>
        <p:grpSpPr>
          <a:xfrm>
            <a:off x="395536" y="2685256"/>
            <a:ext cx="2575938" cy="3048000"/>
            <a:chOff x="5569827" y="1676400"/>
            <a:chExt cx="2098914" cy="2819400"/>
          </a:xfrm>
        </p:grpSpPr>
        <p:sp>
          <p:nvSpPr>
            <p:cNvPr id="8" name="Flowchart: Terminator 43">
              <a:extLst>
                <a:ext uri="{FF2B5EF4-FFF2-40B4-BE49-F238E27FC236}">
                  <a16:creationId xmlns:a16="http://schemas.microsoft.com/office/drawing/2014/main" id="{51F2DF42-3C89-41AF-B35C-0F30A4BCE1E7}"/>
                </a:ext>
              </a:extLst>
            </p:cNvPr>
            <p:cNvSpPr/>
            <p:nvPr/>
          </p:nvSpPr>
          <p:spPr>
            <a:xfrm>
              <a:off x="6096000" y="41910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9" name="Flowchart: Terminator 44">
              <a:extLst>
                <a:ext uri="{FF2B5EF4-FFF2-40B4-BE49-F238E27FC236}">
                  <a16:creationId xmlns:a16="http://schemas.microsoft.com/office/drawing/2014/main" id="{BD126E55-F2EF-4BFF-A16D-4C5D48B7D9EB}"/>
                </a:ext>
              </a:extLst>
            </p:cNvPr>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10" name="Straight Arrow Connector 45">
              <a:extLst>
                <a:ext uri="{FF2B5EF4-FFF2-40B4-BE49-F238E27FC236}">
                  <a16:creationId xmlns:a16="http://schemas.microsoft.com/office/drawing/2014/main" id="{8D32CA32-0796-48E6-AAA8-0E6586752F18}"/>
                </a:ext>
              </a:extLst>
            </p:cNvPr>
            <p:cNvCxnSpPr>
              <a:stCxn id="9" idx="2"/>
              <a:endCxn id="14"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48">
              <a:extLst>
                <a:ext uri="{FF2B5EF4-FFF2-40B4-BE49-F238E27FC236}">
                  <a16:creationId xmlns:a16="http://schemas.microsoft.com/office/drawing/2014/main" id="{B49B31AE-8C9F-495A-BFFD-91CD01739852}"/>
                </a:ext>
              </a:extLst>
            </p:cNvPr>
            <p:cNvCxnSpPr>
              <a:cxnSpLocks/>
              <a:stCxn id="16" idx="2"/>
              <a:endCxn id="12" idx="1"/>
            </p:cNvCxnSpPr>
            <p:nvPr/>
          </p:nvCxnSpPr>
          <p:spPr>
            <a:xfrm>
              <a:off x="6619284" y="3276600"/>
              <a:ext cx="10116"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Flowchart: Data 52">
              <a:extLst>
                <a:ext uri="{FF2B5EF4-FFF2-40B4-BE49-F238E27FC236}">
                  <a16:creationId xmlns:a16="http://schemas.microsoft.com/office/drawing/2014/main" id="{5BFEDB35-2B9C-4D27-A5EB-53B7D4B6FE13}"/>
                </a:ext>
              </a:extLst>
            </p:cNvPr>
            <p:cNvSpPr/>
            <p:nvPr/>
          </p:nvSpPr>
          <p:spPr>
            <a:xfrm>
              <a:off x="5867400" y="3581400"/>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area</a:t>
              </a:r>
            </a:p>
          </p:txBody>
        </p:sp>
        <p:cxnSp>
          <p:nvCxnSpPr>
            <p:cNvPr id="13" name="Straight Arrow Connector 53">
              <a:extLst>
                <a:ext uri="{FF2B5EF4-FFF2-40B4-BE49-F238E27FC236}">
                  <a16:creationId xmlns:a16="http://schemas.microsoft.com/office/drawing/2014/main" id="{588DD5DA-1829-4B56-8FBE-B6974ACC3F39}"/>
                </a:ext>
              </a:extLst>
            </p:cNvPr>
            <p:cNvCxnSpPr>
              <a:stCxn id="12" idx="4"/>
              <a:endCxn id="8" idx="0"/>
            </p:cNvCxnSpPr>
            <p:nvPr/>
          </p:nvCxnSpPr>
          <p:spPr>
            <a:xfrm>
              <a:off x="6629400" y="3962400"/>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Flowchart: Data 68">
              <a:extLst>
                <a:ext uri="{FF2B5EF4-FFF2-40B4-BE49-F238E27FC236}">
                  <a16:creationId xmlns:a16="http://schemas.microsoft.com/office/drawing/2014/main" id="{52F5FB1E-AB05-4525-A342-14FFD0D13E06}"/>
                </a:ext>
              </a:extLst>
            </p:cNvPr>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a:latin typeface="Century Gothic" panose="020B0502020202020204" pitchFamily="34" charset="0"/>
                </a:rPr>
                <a:t>base</a:t>
              </a:r>
              <a:br>
                <a:rPr lang="en-US" sz="1200" b="1" dirty="0">
                  <a:latin typeface="Century Gothic" panose="020B0502020202020204" pitchFamily="34" charset="0"/>
                </a:rPr>
              </a:br>
              <a:r>
                <a:rPr lang="en-US" sz="1200" dirty="0">
                  <a:latin typeface="Century Gothic" panose="020B0502020202020204" pitchFamily="34" charset="0"/>
                </a:rPr>
                <a:t>Read</a:t>
              </a:r>
              <a:r>
                <a:rPr lang="en-US" sz="1200" b="1" dirty="0">
                  <a:latin typeface="Century Gothic" panose="020B0502020202020204" pitchFamily="34" charset="0"/>
                </a:rPr>
                <a:t> height</a:t>
              </a:r>
            </a:p>
          </p:txBody>
        </p:sp>
        <p:cxnSp>
          <p:nvCxnSpPr>
            <p:cNvPr id="15" name="Straight Arrow Connector 47">
              <a:extLst>
                <a:ext uri="{FF2B5EF4-FFF2-40B4-BE49-F238E27FC236}">
                  <a16:creationId xmlns:a16="http://schemas.microsoft.com/office/drawing/2014/main" id="{7CCDD7DD-A06B-4BE9-9D70-F4557FB410CC}"/>
                </a:ext>
              </a:extLst>
            </p:cNvPr>
            <p:cNvCxnSpPr>
              <a:cxnSpLocks/>
              <a:stCxn id="14" idx="4"/>
              <a:endCxn id="16" idx="0"/>
            </p:cNvCxnSpPr>
            <p:nvPr/>
          </p:nvCxnSpPr>
          <p:spPr>
            <a:xfrm flipH="1">
              <a:off x="6619284" y="2667000"/>
              <a:ext cx="6665"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Process 42">
              <a:extLst>
                <a:ext uri="{FF2B5EF4-FFF2-40B4-BE49-F238E27FC236}">
                  <a16:creationId xmlns:a16="http://schemas.microsoft.com/office/drawing/2014/main" id="{CA06A9ED-18C6-4378-AFA1-A6E3BBCA2AF7}"/>
                </a:ext>
              </a:extLst>
            </p:cNvPr>
            <p:cNvSpPr/>
            <p:nvPr/>
          </p:nvSpPr>
          <p:spPr>
            <a:xfrm>
              <a:off x="5569827" y="2895600"/>
              <a:ext cx="2098914"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area  (base</a:t>
              </a:r>
              <a:r>
                <a:rPr lang="en-US" sz="1200" dirty="0">
                  <a:latin typeface="Century Gothic" panose="020B0502020202020204" pitchFamily="34" charset="0"/>
                </a:rPr>
                <a:t> * height)/2</a:t>
              </a:r>
            </a:p>
          </p:txBody>
        </p:sp>
      </p:grpSp>
      <p:sp>
        <p:nvSpPr>
          <p:cNvPr id="17" name="CuadroTexto 16">
            <a:extLst>
              <a:ext uri="{FF2B5EF4-FFF2-40B4-BE49-F238E27FC236}">
                <a16:creationId xmlns:a16="http://schemas.microsoft.com/office/drawing/2014/main" id="{AC5B07EC-AF68-447C-8A9F-B67038D46EDB}"/>
              </a:ext>
            </a:extLst>
          </p:cNvPr>
          <p:cNvSpPr txBox="1"/>
          <p:nvPr/>
        </p:nvSpPr>
        <p:spPr>
          <a:xfrm>
            <a:off x="3131840" y="2262752"/>
            <a:ext cx="5287042" cy="1384995"/>
          </a:xfrm>
          <a:prstGeom prst="rect">
            <a:avLst/>
          </a:prstGeom>
          <a:noFill/>
          <a:ln>
            <a:solidFill>
              <a:schemeClr val="tx1"/>
            </a:solidFill>
          </a:ln>
        </p:spPr>
        <p:txBody>
          <a:bodyPr wrap="square">
            <a:spAutoFit/>
          </a:bodyPr>
          <a:lstStyle/>
          <a:p>
            <a:r>
              <a:rPr lang="es-CO" sz="1400" b="1" dirty="0">
                <a:latin typeface="Consolas" panose="020B0609020204030204" pitchFamily="49" charset="0"/>
              </a:rPr>
              <a:t>Inicio</a:t>
            </a:r>
            <a:endParaRPr lang="es-CO" sz="1400" dirty="0">
              <a:latin typeface="Consolas" panose="020B0609020204030204" pitchFamily="49" charset="0"/>
            </a:endParaRPr>
          </a:p>
          <a:p>
            <a:r>
              <a:rPr lang="es-CO" sz="1400" dirty="0">
                <a:latin typeface="Consolas" panose="020B0609020204030204" pitchFamily="49" charset="0"/>
              </a:rPr>
              <a:t>  Leer(base)</a:t>
            </a:r>
          </a:p>
          <a:p>
            <a:r>
              <a:rPr lang="es-CO" sz="1400" dirty="0">
                <a:latin typeface="Consolas" panose="020B0609020204030204" pitchFamily="49" charset="0"/>
              </a:rPr>
              <a:t>  Leer(height)</a:t>
            </a:r>
          </a:p>
          <a:p>
            <a:r>
              <a:rPr lang="es-CO" sz="1400" dirty="0">
                <a:latin typeface="Consolas" panose="020B0609020204030204" pitchFamily="49" charset="0"/>
              </a:rPr>
              <a:t>  area = (base*height)/2</a:t>
            </a:r>
          </a:p>
          <a:p>
            <a:r>
              <a:rPr lang="es-CO" sz="1400" dirty="0">
                <a:latin typeface="Consolas" panose="020B0609020204030204" pitchFamily="49" charset="0"/>
              </a:rPr>
              <a:t>  Escribir(area)</a:t>
            </a:r>
          </a:p>
          <a:p>
            <a:r>
              <a:rPr lang="es-CO" sz="1400" b="1" dirty="0">
                <a:latin typeface="Consolas" panose="020B0609020204030204" pitchFamily="49" charset="0"/>
              </a:rPr>
              <a:t>Fin</a:t>
            </a:r>
          </a:p>
        </p:txBody>
      </p:sp>
      <p:sp>
        <p:nvSpPr>
          <p:cNvPr id="18" name="CuadroTexto 17">
            <a:extLst>
              <a:ext uri="{FF2B5EF4-FFF2-40B4-BE49-F238E27FC236}">
                <a16:creationId xmlns:a16="http://schemas.microsoft.com/office/drawing/2014/main" id="{DC9D5927-66B1-4091-8E4F-AC17FA113F94}"/>
              </a:ext>
            </a:extLst>
          </p:cNvPr>
          <p:cNvSpPr txBox="1"/>
          <p:nvPr/>
        </p:nvSpPr>
        <p:spPr>
          <a:xfrm>
            <a:off x="3131840" y="4410978"/>
            <a:ext cx="5287042" cy="1754326"/>
          </a:xfrm>
          <a:prstGeom prst="rect">
            <a:avLst/>
          </a:prstGeom>
          <a:noFill/>
          <a:ln>
            <a:solidFill>
              <a:schemeClr val="tx1"/>
            </a:solidFill>
          </a:ln>
        </p:spPr>
        <p:txBody>
          <a:bodyPr wrap="square">
            <a:spAutoFit/>
          </a:bodyPr>
          <a:lstStyle/>
          <a:p>
            <a:r>
              <a:rPr lang="es-CO" sz="1200" b="0" dirty="0">
                <a:effectLst/>
                <a:latin typeface="Consolas" panose="020B0609020204030204" pitchFamily="49" charset="0"/>
              </a:rPr>
              <a:t># Entrada de datos</a:t>
            </a:r>
          </a:p>
          <a:p>
            <a:r>
              <a:rPr lang="es-CO" sz="1200" b="0" dirty="0">
                <a:effectLst/>
                <a:latin typeface="Consolas" panose="020B0609020204030204" pitchFamily="49" charset="0"/>
              </a:rPr>
              <a:t>base = </a:t>
            </a:r>
            <a:r>
              <a:rPr lang="es-CO" sz="1200" b="0" dirty="0" err="1">
                <a:effectLst/>
                <a:latin typeface="Consolas" panose="020B0609020204030204" pitchFamily="49" charset="0"/>
              </a:rPr>
              <a:t>float</a:t>
            </a:r>
            <a:r>
              <a:rPr lang="es-CO" sz="1200" b="0" dirty="0">
                <a:effectLst/>
                <a:latin typeface="Consolas" panose="020B0609020204030204" pitchFamily="49" charset="0"/>
              </a:rPr>
              <a:t>(input("Ingrese la base del triangulo: "))</a:t>
            </a:r>
          </a:p>
          <a:p>
            <a:r>
              <a:rPr lang="es-CO" sz="1200" b="0" dirty="0">
                <a:effectLst/>
                <a:latin typeface="Consolas" panose="020B0609020204030204" pitchFamily="49" charset="0"/>
              </a:rPr>
              <a:t>height = </a:t>
            </a:r>
            <a:r>
              <a:rPr lang="es-CO" sz="1200" b="0" dirty="0" err="1">
                <a:effectLst/>
                <a:latin typeface="Consolas" panose="020B0609020204030204" pitchFamily="49" charset="0"/>
              </a:rPr>
              <a:t>float</a:t>
            </a:r>
            <a:r>
              <a:rPr lang="es-CO" sz="1200" b="0" dirty="0">
                <a:effectLst/>
                <a:latin typeface="Consolas" panose="020B0609020204030204" pitchFamily="49" charset="0"/>
              </a:rPr>
              <a:t>(input("Ingrese la altura del triangulo: "))</a:t>
            </a:r>
          </a:p>
          <a:p>
            <a:br>
              <a:rPr lang="es-CO" sz="1200" b="0" dirty="0">
                <a:effectLst/>
                <a:latin typeface="Consolas" panose="020B0609020204030204" pitchFamily="49" charset="0"/>
              </a:rPr>
            </a:br>
            <a:r>
              <a:rPr lang="es-CO" sz="1200" b="0" dirty="0">
                <a:effectLst/>
                <a:latin typeface="Consolas" panose="020B0609020204030204" pitchFamily="49" charset="0"/>
              </a:rPr>
              <a:t># Calculo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err="1">
                <a:effectLst/>
                <a:latin typeface="Consolas" panose="020B0609020204030204" pitchFamily="49" charset="0"/>
              </a:rPr>
              <a:t>area</a:t>
            </a:r>
            <a:r>
              <a:rPr lang="es-CO" sz="1200" b="0" dirty="0">
                <a:effectLst/>
                <a:latin typeface="Consolas" panose="020B0609020204030204" pitchFamily="49" charset="0"/>
              </a:rPr>
              <a:t> = (base * height)/2</a:t>
            </a:r>
          </a:p>
          <a:p>
            <a:br>
              <a:rPr lang="es-CO" sz="1200" b="0" dirty="0">
                <a:effectLst/>
                <a:latin typeface="Consolas" panose="020B0609020204030204" pitchFamily="49" charset="0"/>
              </a:rPr>
            </a:br>
            <a:r>
              <a:rPr lang="es-CO" sz="1200" b="0" dirty="0">
                <a:effectLst/>
                <a:latin typeface="Consolas" panose="020B0609020204030204" pitchFamily="49" charset="0"/>
              </a:rPr>
              <a:t># </a:t>
            </a:r>
            <a:r>
              <a:rPr lang="es-CO" sz="1200" b="0" dirty="0" err="1">
                <a:effectLst/>
                <a:latin typeface="Consolas" panose="020B0609020204030204" pitchFamily="49" charset="0"/>
              </a:rPr>
              <a:t>Despligue</a:t>
            </a:r>
            <a:r>
              <a:rPr lang="es-CO" sz="1200" b="0" dirty="0">
                <a:effectLst/>
                <a:latin typeface="Consolas" panose="020B0609020204030204" pitchFamily="49" charset="0"/>
              </a:rPr>
              <a:t>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a:effectLst/>
                <a:latin typeface="Consolas" panose="020B0609020204030204" pitchFamily="49" charset="0"/>
              </a:rPr>
              <a:t>print("El </a:t>
            </a:r>
            <a:r>
              <a:rPr lang="es-CO" sz="1200" b="0" dirty="0" err="1">
                <a:effectLst/>
                <a:latin typeface="Consolas" panose="020B0609020204030204" pitchFamily="49" charset="0"/>
              </a:rPr>
              <a:t>area</a:t>
            </a:r>
            <a:r>
              <a:rPr lang="es-CO" sz="1200" b="0" dirty="0">
                <a:effectLst/>
                <a:latin typeface="Consolas" panose="020B0609020204030204" pitchFamily="49" charset="0"/>
              </a:rPr>
              <a:t> del triangulo es:", </a:t>
            </a:r>
            <a:r>
              <a:rPr lang="es-CO" sz="1200" b="0" dirty="0" err="1">
                <a:effectLst/>
                <a:latin typeface="Consolas" panose="020B0609020204030204" pitchFamily="49" charset="0"/>
              </a:rPr>
              <a:t>area</a:t>
            </a:r>
            <a:r>
              <a:rPr lang="es-CO" sz="1200" b="0" dirty="0">
                <a:effectLst/>
                <a:latin typeface="Consolas" panose="020B0609020204030204" pitchFamily="49" charset="0"/>
              </a:rPr>
              <a:t>)</a:t>
            </a:r>
          </a:p>
        </p:txBody>
      </p:sp>
      <p:pic>
        <p:nvPicPr>
          <p:cNvPr id="20" name="Imagen 19">
            <a:extLst>
              <a:ext uri="{FF2B5EF4-FFF2-40B4-BE49-F238E27FC236}">
                <a16:creationId xmlns:a16="http://schemas.microsoft.com/office/drawing/2014/main" id="{00D24E46-78E9-4190-9F3C-EE01E1A89E4F}"/>
              </a:ext>
            </a:extLst>
          </p:cNvPr>
          <p:cNvPicPr>
            <a:picLocks noChangeAspect="1"/>
          </p:cNvPicPr>
          <p:nvPr/>
        </p:nvPicPr>
        <p:blipFill>
          <a:blip r:embed="rId3"/>
          <a:stretch>
            <a:fillRect/>
          </a:stretch>
        </p:blipFill>
        <p:spPr>
          <a:xfrm>
            <a:off x="8540355" y="5083109"/>
            <a:ext cx="424133" cy="434123"/>
          </a:xfrm>
          <a:prstGeom prst="rect">
            <a:avLst/>
          </a:prstGeom>
        </p:spPr>
      </p:pic>
      <p:sp>
        <p:nvSpPr>
          <p:cNvPr id="21" name="CuadroTexto 20">
            <a:extLst>
              <a:ext uri="{FF2B5EF4-FFF2-40B4-BE49-F238E27FC236}">
                <a16:creationId xmlns:a16="http://schemas.microsoft.com/office/drawing/2014/main" id="{2D8886F8-4E80-4E8D-9A2E-EBE3A14CBC7D}"/>
              </a:ext>
            </a:extLst>
          </p:cNvPr>
          <p:cNvSpPr txBox="1"/>
          <p:nvPr/>
        </p:nvSpPr>
        <p:spPr>
          <a:xfrm>
            <a:off x="5508104" y="6240529"/>
            <a:ext cx="792088" cy="276999"/>
          </a:xfrm>
          <a:prstGeom prst="rect">
            <a:avLst/>
          </a:prstGeom>
          <a:noFill/>
        </p:spPr>
        <p:txBody>
          <a:bodyPr wrap="square">
            <a:spAutoFit/>
          </a:bodyPr>
          <a:lstStyle/>
          <a:p>
            <a:pPr algn="ctr"/>
            <a:r>
              <a:rPr lang="es-ES" sz="1200" dirty="0">
                <a:hlinkClick r:id="rId4"/>
              </a:rPr>
              <a:t>link</a:t>
            </a:r>
            <a:endParaRPr lang="es-CO" sz="1200" dirty="0"/>
          </a:p>
        </p:txBody>
      </p:sp>
    </p:spTree>
    <p:extLst>
      <p:ext uri="{BB962C8B-B14F-4D97-AF65-F5344CB8AC3E}">
        <p14:creationId xmlns:p14="http://schemas.microsoft.com/office/powerpoint/2010/main" val="4102393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22487" y="260648"/>
            <a:ext cx="7777905" cy="1116540"/>
          </a:xfrm>
        </p:spPr>
        <p:txBody>
          <a:bodyPr/>
          <a:lstStyle/>
          <a:p>
            <a:r>
              <a:rPr lang="es-CO" sz="3200" dirty="0"/>
              <a:t>Codificación de algoritmos en Python</a:t>
            </a:r>
          </a:p>
        </p:txBody>
      </p:sp>
      <p:sp>
        <p:nvSpPr>
          <p:cNvPr id="19" name="1 Marcador de contenido">
            <a:extLst>
              <a:ext uri="{FF2B5EF4-FFF2-40B4-BE49-F238E27FC236}">
                <a16:creationId xmlns:a16="http://schemas.microsoft.com/office/drawing/2014/main" id="{934FDD44-A4EB-4C3E-B8ED-D760B67C9486}"/>
              </a:ext>
            </a:extLst>
          </p:cNvPr>
          <p:cNvSpPr txBox="1">
            <a:spLocks/>
          </p:cNvSpPr>
          <p:nvPr/>
        </p:nvSpPr>
        <p:spPr>
          <a:xfrm>
            <a:off x="395535" y="1244857"/>
            <a:ext cx="8119813" cy="69426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2200" b="1" dirty="0">
                <a:solidFill>
                  <a:srgbClr val="FF0000"/>
                </a:solidFill>
              </a:rPr>
              <a:t>Ejemplo 1</a:t>
            </a:r>
            <a:r>
              <a:rPr lang="es-ES" sz="2200" dirty="0">
                <a:solidFill>
                  <a:srgbClr val="FF0000"/>
                </a:solidFill>
              </a:rPr>
              <a:t>: </a:t>
            </a:r>
            <a:r>
              <a:rPr lang="es-ES" sz="2200" dirty="0"/>
              <a:t>Realice un programa que permita calcular al área de un triangulo</a:t>
            </a:r>
            <a:endParaRPr lang="es-ES" sz="2200" b="1" dirty="0"/>
          </a:p>
        </p:txBody>
      </p:sp>
      <p:sp>
        <p:nvSpPr>
          <p:cNvPr id="18" name="CuadroTexto 17">
            <a:extLst>
              <a:ext uri="{FF2B5EF4-FFF2-40B4-BE49-F238E27FC236}">
                <a16:creationId xmlns:a16="http://schemas.microsoft.com/office/drawing/2014/main" id="{DC9D5927-66B1-4091-8E4F-AC17FA113F94}"/>
              </a:ext>
            </a:extLst>
          </p:cNvPr>
          <p:cNvSpPr txBox="1"/>
          <p:nvPr/>
        </p:nvSpPr>
        <p:spPr>
          <a:xfrm>
            <a:off x="467544" y="2060848"/>
            <a:ext cx="5287042" cy="1754326"/>
          </a:xfrm>
          <a:prstGeom prst="rect">
            <a:avLst/>
          </a:prstGeom>
          <a:noFill/>
          <a:ln>
            <a:solidFill>
              <a:schemeClr val="tx1"/>
            </a:solidFill>
          </a:ln>
        </p:spPr>
        <p:txBody>
          <a:bodyPr wrap="square">
            <a:spAutoFit/>
          </a:bodyPr>
          <a:lstStyle/>
          <a:p>
            <a:r>
              <a:rPr lang="es-CO" sz="1200" b="0" dirty="0">
                <a:effectLst/>
                <a:latin typeface="Consolas" panose="020B0609020204030204" pitchFamily="49" charset="0"/>
              </a:rPr>
              <a:t># Entrada de datos</a:t>
            </a:r>
          </a:p>
          <a:p>
            <a:r>
              <a:rPr lang="es-CO" sz="1200" b="0" dirty="0">
                <a:effectLst/>
                <a:latin typeface="Consolas" panose="020B0609020204030204" pitchFamily="49" charset="0"/>
              </a:rPr>
              <a:t>base = </a:t>
            </a:r>
            <a:r>
              <a:rPr lang="es-CO" sz="1200" b="0" dirty="0" err="1">
                <a:effectLst/>
                <a:latin typeface="Consolas" panose="020B0609020204030204" pitchFamily="49" charset="0"/>
              </a:rPr>
              <a:t>float</a:t>
            </a:r>
            <a:r>
              <a:rPr lang="es-CO" sz="1200" b="0" dirty="0">
                <a:effectLst/>
                <a:latin typeface="Consolas" panose="020B0609020204030204" pitchFamily="49" charset="0"/>
              </a:rPr>
              <a:t>(input("Ingrese la base del triangulo: "))</a:t>
            </a:r>
          </a:p>
          <a:p>
            <a:r>
              <a:rPr lang="es-CO" sz="1200" b="0" dirty="0">
                <a:effectLst/>
                <a:latin typeface="Consolas" panose="020B0609020204030204" pitchFamily="49" charset="0"/>
              </a:rPr>
              <a:t>height = </a:t>
            </a:r>
            <a:r>
              <a:rPr lang="es-CO" sz="1200" b="0" dirty="0" err="1">
                <a:effectLst/>
                <a:latin typeface="Consolas" panose="020B0609020204030204" pitchFamily="49" charset="0"/>
              </a:rPr>
              <a:t>float</a:t>
            </a:r>
            <a:r>
              <a:rPr lang="es-CO" sz="1200" b="0" dirty="0">
                <a:effectLst/>
                <a:latin typeface="Consolas" panose="020B0609020204030204" pitchFamily="49" charset="0"/>
              </a:rPr>
              <a:t>(input("Ingrese la altura del triangulo: "))</a:t>
            </a:r>
          </a:p>
          <a:p>
            <a:br>
              <a:rPr lang="es-CO" sz="1200" b="0" dirty="0">
                <a:effectLst/>
                <a:latin typeface="Consolas" panose="020B0609020204030204" pitchFamily="49" charset="0"/>
              </a:rPr>
            </a:br>
            <a:r>
              <a:rPr lang="es-CO" sz="1200" b="0" dirty="0">
                <a:effectLst/>
                <a:latin typeface="Consolas" panose="020B0609020204030204" pitchFamily="49" charset="0"/>
              </a:rPr>
              <a:t># Calculo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err="1">
                <a:effectLst/>
                <a:latin typeface="Consolas" panose="020B0609020204030204" pitchFamily="49" charset="0"/>
              </a:rPr>
              <a:t>area</a:t>
            </a:r>
            <a:r>
              <a:rPr lang="es-CO" sz="1200" b="0" dirty="0">
                <a:effectLst/>
                <a:latin typeface="Consolas" panose="020B0609020204030204" pitchFamily="49" charset="0"/>
              </a:rPr>
              <a:t> = (base * height)/2</a:t>
            </a:r>
          </a:p>
          <a:p>
            <a:br>
              <a:rPr lang="es-CO" sz="1200" b="0" dirty="0">
                <a:effectLst/>
                <a:latin typeface="Consolas" panose="020B0609020204030204" pitchFamily="49" charset="0"/>
              </a:rPr>
            </a:br>
            <a:r>
              <a:rPr lang="es-CO" sz="1200" b="0" dirty="0">
                <a:effectLst/>
                <a:latin typeface="Consolas" panose="020B0609020204030204" pitchFamily="49" charset="0"/>
              </a:rPr>
              <a:t># </a:t>
            </a:r>
            <a:r>
              <a:rPr lang="es-CO" sz="1200" b="0" dirty="0" err="1">
                <a:effectLst/>
                <a:latin typeface="Consolas" panose="020B0609020204030204" pitchFamily="49" charset="0"/>
              </a:rPr>
              <a:t>Despligue</a:t>
            </a:r>
            <a:r>
              <a:rPr lang="es-CO" sz="1200" b="0" dirty="0">
                <a:effectLst/>
                <a:latin typeface="Consolas" panose="020B0609020204030204" pitchFamily="49" charset="0"/>
              </a:rPr>
              <a:t>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a:effectLst/>
                <a:latin typeface="Consolas" panose="020B0609020204030204" pitchFamily="49" charset="0"/>
              </a:rPr>
              <a:t>print("El </a:t>
            </a:r>
            <a:r>
              <a:rPr lang="es-CO" sz="1200" b="0" dirty="0" err="1">
                <a:effectLst/>
                <a:latin typeface="Consolas" panose="020B0609020204030204" pitchFamily="49" charset="0"/>
              </a:rPr>
              <a:t>area</a:t>
            </a:r>
            <a:r>
              <a:rPr lang="es-CO" sz="1200" b="0" dirty="0">
                <a:effectLst/>
                <a:latin typeface="Consolas" panose="020B0609020204030204" pitchFamily="49" charset="0"/>
              </a:rPr>
              <a:t> del triangulo es:", </a:t>
            </a:r>
            <a:r>
              <a:rPr lang="es-CO" sz="1200" b="0" dirty="0" err="1">
                <a:effectLst/>
                <a:latin typeface="Consolas" panose="020B0609020204030204" pitchFamily="49" charset="0"/>
              </a:rPr>
              <a:t>area</a:t>
            </a:r>
            <a:r>
              <a:rPr lang="es-CO" sz="1200" b="0" dirty="0">
                <a:effectLst/>
                <a:latin typeface="Consolas" panose="020B0609020204030204" pitchFamily="49" charset="0"/>
              </a:rPr>
              <a:t>)</a:t>
            </a:r>
          </a:p>
        </p:txBody>
      </p:sp>
      <p:graphicFrame>
        <p:nvGraphicFramePr>
          <p:cNvPr id="20" name="Tabla 5">
            <a:extLst>
              <a:ext uri="{FF2B5EF4-FFF2-40B4-BE49-F238E27FC236}">
                <a16:creationId xmlns:a16="http://schemas.microsoft.com/office/drawing/2014/main" id="{90484794-443D-41AF-974A-7ED51FE0A40A}"/>
              </a:ext>
            </a:extLst>
          </p:cNvPr>
          <p:cNvGraphicFramePr>
            <a:graphicFrameLocks noGrp="1"/>
          </p:cNvGraphicFramePr>
          <p:nvPr>
            <p:extLst>
              <p:ext uri="{D42A27DB-BD31-4B8C-83A1-F6EECF244321}">
                <p14:modId xmlns:p14="http://schemas.microsoft.com/office/powerpoint/2010/main" val="2765210816"/>
              </p:ext>
            </p:extLst>
          </p:nvPr>
        </p:nvGraphicFramePr>
        <p:xfrm>
          <a:off x="467544" y="4298032"/>
          <a:ext cx="3105726" cy="1219200"/>
        </p:xfrm>
        <a:graphic>
          <a:graphicData uri="http://schemas.openxmlformats.org/drawingml/2006/table">
            <a:tbl>
              <a:tblPr firstRow="1" bandRow="1">
                <a:tableStyleId>{7E9639D4-E3E2-4D34-9284-5A2195B3D0D7}</a:tableStyleId>
              </a:tblPr>
              <a:tblGrid>
                <a:gridCol w="695611">
                  <a:extLst>
                    <a:ext uri="{9D8B030D-6E8A-4147-A177-3AD203B41FA5}">
                      <a16:colId xmlns:a16="http://schemas.microsoft.com/office/drawing/2014/main" val="1270268523"/>
                    </a:ext>
                  </a:extLst>
                </a:gridCol>
                <a:gridCol w="695611">
                  <a:extLst>
                    <a:ext uri="{9D8B030D-6E8A-4147-A177-3AD203B41FA5}">
                      <a16:colId xmlns:a16="http://schemas.microsoft.com/office/drawing/2014/main" val="101718729"/>
                    </a:ext>
                  </a:extLst>
                </a:gridCol>
                <a:gridCol w="1714504">
                  <a:extLst>
                    <a:ext uri="{9D8B030D-6E8A-4147-A177-3AD203B41FA5}">
                      <a16:colId xmlns:a16="http://schemas.microsoft.com/office/drawing/2014/main" val="3468495707"/>
                    </a:ext>
                  </a:extLst>
                </a:gridCol>
              </a:tblGrid>
              <a:tr h="0">
                <a:tc gridSpan="2">
                  <a:txBody>
                    <a:bodyPr/>
                    <a:lstStyle/>
                    <a:p>
                      <a:pPr algn="ctr"/>
                      <a:r>
                        <a:rPr lang="es-CO" sz="1400" b="1" dirty="0"/>
                        <a:t>Entradas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s-CO" sz="1600" b="1" dirty="0">
                        <a:latin typeface="Consolas" panose="020B0609020204030204" pitchFamily="49" charset="0"/>
                      </a:endParaRPr>
                    </a:p>
                  </a:txBody>
                  <a:tcPr>
                    <a:lnT w="12700" cap="flat" cmpd="sng" algn="ctr">
                      <a:noFill/>
                      <a:prstDash val="solid"/>
                      <a:round/>
                      <a:headEnd type="none" w="med" len="med"/>
                      <a:tailEnd type="none" w="med" len="med"/>
                    </a:lnT>
                  </a:tcPr>
                </a:tc>
                <a:tc>
                  <a:txBody>
                    <a:bodyPr/>
                    <a:lstStyle/>
                    <a:p>
                      <a:pPr algn="ctr"/>
                      <a:r>
                        <a:rPr lang="es-CO" sz="1400" b="1" dirty="0"/>
                        <a:t>Salidas (esperadas)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868271"/>
                  </a:ext>
                </a:extLst>
              </a:tr>
              <a:tr h="213175">
                <a:tc>
                  <a:txBody>
                    <a:bodyPr/>
                    <a:lstStyle/>
                    <a:p>
                      <a:pPr algn="ctr"/>
                      <a:r>
                        <a:rPr lang="es-CO" sz="1400" b="1" dirty="0"/>
                        <a:t>base</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Height</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area</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789806"/>
                  </a:ext>
                </a:extLst>
              </a:tr>
              <a:tr h="234493">
                <a:tc>
                  <a:txBody>
                    <a:bodyPr/>
                    <a:lstStyle/>
                    <a:p>
                      <a:pPr algn="ctr"/>
                      <a:r>
                        <a:rPr lang="es-CO" sz="1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strike="noStrike"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5089987"/>
                  </a:ext>
                </a:extLst>
              </a:tr>
              <a:tr h="234493">
                <a:tc>
                  <a:txBody>
                    <a:bodyPr/>
                    <a:lstStyle/>
                    <a:p>
                      <a:pPr algn="ctr"/>
                      <a:r>
                        <a:rPr lang="es-CO" sz="1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strike="noStrike"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237131"/>
                  </a:ext>
                </a:extLst>
              </a:tr>
            </a:tbl>
          </a:graphicData>
        </a:graphic>
      </p:graphicFrame>
      <p:pic>
        <p:nvPicPr>
          <p:cNvPr id="6" name="Imagen 5">
            <a:extLst>
              <a:ext uri="{FF2B5EF4-FFF2-40B4-BE49-F238E27FC236}">
                <a16:creationId xmlns:a16="http://schemas.microsoft.com/office/drawing/2014/main" id="{2C9D3D8C-E935-419F-BED3-8297B66B54FF}"/>
              </a:ext>
            </a:extLst>
          </p:cNvPr>
          <p:cNvPicPr>
            <a:picLocks noChangeAspect="1"/>
          </p:cNvPicPr>
          <p:nvPr/>
        </p:nvPicPr>
        <p:blipFill>
          <a:blip r:embed="rId3"/>
          <a:stretch>
            <a:fillRect/>
          </a:stretch>
        </p:blipFill>
        <p:spPr>
          <a:xfrm>
            <a:off x="3851920" y="4237825"/>
            <a:ext cx="4946025" cy="2503543"/>
          </a:xfrm>
          <a:prstGeom prst="rect">
            <a:avLst/>
          </a:prstGeom>
        </p:spPr>
      </p:pic>
      <p:pic>
        <p:nvPicPr>
          <p:cNvPr id="21" name="Imagen 20">
            <a:extLst>
              <a:ext uri="{FF2B5EF4-FFF2-40B4-BE49-F238E27FC236}">
                <a16:creationId xmlns:a16="http://schemas.microsoft.com/office/drawing/2014/main" id="{C8578BFE-489D-4366-8987-7811C3947EF1}"/>
              </a:ext>
            </a:extLst>
          </p:cNvPr>
          <p:cNvPicPr>
            <a:picLocks noChangeAspect="1"/>
          </p:cNvPicPr>
          <p:nvPr/>
        </p:nvPicPr>
        <p:blipFill>
          <a:blip r:embed="rId4"/>
          <a:stretch>
            <a:fillRect/>
          </a:stretch>
        </p:blipFill>
        <p:spPr>
          <a:xfrm>
            <a:off x="5900799" y="2770361"/>
            <a:ext cx="424133" cy="434123"/>
          </a:xfrm>
          <a:prstGeom prst="rect">
            <a:avLst/>
          </a:prstGeom>
        </p:spPr>
      </p:pic>
      <p:sp>
        <p:nvSpPr>
          <p:cNvPr id="22" name="CuadroTexto 21">
            <a:extLst>
              <a:ext uri="{FF2B5EF4-FFF2-40B4-BE49-F238E27FC236}">
                <a16:creationId xmlns:a16="http://schemas.microsoft.com/office/drawing/2014/main" id="{770C3364-1425-4670-8603-D35377C1C75C}"/>
              </a:ext>
            </a:extLst>
          </p:cNvPr>
          <p:cNvSpPr txBox="1"/>
          <p:nvPr/>
        </p:nvSpPr>
        <p:spPr>
          <a:xfrm>
            <a:off x="2843808" y="3789040"/>
            <a:ext cx="792088" cy="276999"/>
          </a:xfrm>
          <a:prstGeom prst="rect">
            <a:avLst/>
          </a:prstGeom>
          <a:noFill/>
        </p:spPr>
        <p:txBody>
          <a:bodyPr wrap="square">
            <a:spAutoFit/>
          </a:bodyPr>
          <a:lstStyle/>
          <a:p>
            <a:pPr algn="ctr"/>
            <a:r>
              <a:rPr lang="es-ES" sz="1200" dirty="0">
                <a:hlinkClick r:id="rId5"/>
              </a:rPr>
              <a:t>link</a:t>
            </a:r>
            <a:endParaRPr lang="es-CO" sz="1200" dirty="0"/>
          </a:p>
        </p:txBody>
      </p:sp>
    </p:spTree>
    <p:extLst>
      <p:ext uri="{BB962C8B-B14F-4D97-AF65-F5344CB8AC3E}">
        <p14:creationId xmlns:p14="http://schemas.microsoft.com/office/powerpoint/2010/main" val="3196642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368244"/>
            <a:ext cx="7886700" cy="1116540"/>
          </a:xfrm>
        </p:spPr>
        <p:txBody>
          <a:bodyPr/>
          <a:lstStyle/>
          <a:p>
            <a:r>
              <a:rPr lang="es-CO" sz="3200" dirty="0"/>
              <a:t>Codificación de algoritmos en Python</a:t>
            </a:r>
          </a:p>
        </p:txBody>
      </p:sp>
      <p:sp>
        <p:nvSpPr>
          <p:cNvPr id="2" name="1 Marcador de contenido"/>
          <p:cNvSpPr>
            <a:spLocks noGrp="1"/>
          </p:cNvSpPr>
          <p:nvPr>
            <p:ph idx="1"/>
          </p:nvPr>
        </p:nvSpPr>
        <p:spPr>
          <a:xfrm>
            <a:off x="323850" y="1412776"/>
            <a:ext cx="8352605" cy="841144"/>
          </a:xfrm>
          <a:ln>
            <a:noFill/>
          </a:ln>
        </p:spPr>
        <p:txBody>
          <a:bodyPr>
            <a:normAutofit/>
          </a:bodyPr>
          <a:lstStyle/>
          <a:p>
            <a:pPr marL="0" indent="0">
              <a:buNone/>
            </a:pPr>
            <a:r>
              <a:rPr lang="es-CO" sz="2200" b="1" dirty="0">
                <a:solidFill>
                  <a:srgbClr val="FF0000"/>
                </a:solidFill>
              </a:rPr>
              <a:t>Ejemplo 2</a:t>
            </a:r>
            <a:r>
              <a:rPr lang="es-CO" sz="2200" dirty="0">
                <a:solidFill>
                  <a:srgbClr val="FF0000"/>
                </a:solidFill>
              </a:rPr>
              <a:t>:</a:t>
            </a:r>
            <a:r>
              <a:rPr lang="es-CO" sz="2200" dirty="0"/>
              <a:t> Se requiere diseñar un algoritmo que </a:t>
            </a:r>
            <a:r>
              <a:rPr lang="es-CO" sz="2200" b="1" dirty="0"/>
              <a:t>calcule el número de meses que hay entre los años A y B</a:t>
            </a:r>
            <a:r>
              <a:rPr lang="es-CO" sz="2200" dirty="0"/>
              <a:t>.</a:t>
            </a:r>
          </a:p>
          <a:p>
            <a:pPr marL="0" indent="0">
              <a:buNone/>
            </a:pPr>
            <a:endParaRPr lang="es-CO" sz="2200" dirty="0"/>
          </a:p>
        </p:txBody>
      </p:sp>
      <p:grpSp>
        <p:nvGrpSpPr>
          <p:cNvPr id="18" name="53 Grupo">
            <a:extLst>
              <a:ext uri="{FF2B5EF4-FFF2-40B4-BE49-F238E27FC236}">
                <a16:creationId xmlns:a16="http://schemas.microsoft.com/office/drawing/2014/main" id="{152E4ECC-5C5A-468E-AA1A-58A72DD72E98}"/>
              </a:ext>
            </a:extLst>
          </p:cNvPr>
          <p:cNvGrpSpPr/>
          <p:nvPr/>
        </p:nvGrpSpPr>
        <p:grpSpPr>
          <a:xfrm>
            <a:off x="339878" y="2708920"/>
            <a:ext cx="2575938" cy="3404074"/>
            <a:chOff x="5569827" y="1676400"/>
            <a:chExt cx="2098914" cy="3148769"/>
          </a:xfrm>
        </p:grpSpPr>
        <p:sp>
          <p:nvSpPr>
            <p:cNvPr id="19" name="Flowchart: Terminator 43">
              <a:extLst>
                <a:ext uri="{FF2B5EF4-FFF2-40B4-BE49-F238E27FC236}">
                  <a16:creationId xmlns:a16="http://schemas.microsoft.com/office/drawing/2014/main" id="{E2B3E343-3F76-4B11-BBCE-E420A1931956}"/>
                </a:ext>
              </a:extLst>
            </p:cNvPr>
            <p:cNvSpPr/>
            <p:nvPr/>
          </p:nvSpPr>
          <p:spPr>
            <a:xfrm>
              <a:off x="6096000" y="4520369"/>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20" name="Flowchart: Terminator 44">
              <a:extLst>
                <a:ext uri="{FF2B5EF4-FFF2-40B4-BE49-F238E27FC236}">
                  <a16:creationId xmlns:a16="http://schemas.microsoft.com/office/drawing/2014/main" id="{F9C3B227-E8DF-4A3F-9508-9C346905D81C}"/>
                </a:ext>
              </a:extLst>
            </p:cNvPr>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21" name="Straight Arrow Connector 45">
              <a:extLst>
                <a:ext uri="{FF2B5EF4-FFF2-40B4-BE49-F238E27FC236}">
                  <a16:creationId xmlns:a16="http://schemas.microsoft.com/office/drawing/2014/main" id="{ED2128C7-DD85-467F-BD46-0D012AE825A1}"/>
                </a:ext>
              </a:extLst>
            </p:cNvPr>
            <p:cNvCxnSpPr>
              <a:stCxn id="20" idx="2"/>
              <a:endCxn id="25"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48">
              <a:extLst>
                <a:ext uri="{FF2B5EF4-FFF2-40B4-BE49-F238E27FC236}">
                  <a16:creationId xmlns:a16="http://schemas.microsoft.com/office/drawing/2014/main" id="{0CB838CD-7FB8-424D-A01B-0A520166B99F}"/>
                </a:ext>
              </a:extLst>
            </p:cNvPr>
            <p:cNvCxnSpPr>
              <a:cxnSpLocks/>
              <a:stCxn id="27" idx="2"/>
              <a:endCxn id="23" idx="1"/>
            </p:cNvCxnSpPr>
            <p:nvPr/>
          </p:nvCxnSpPr>
          <p:spPr>
            <a:xfrm>
              <a:off x="6619284" y="3522617"/>
              <a:ext cx="10116" cy="38815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Flowchart: Data 52">
              <a:extLst>
                <a:ext uri="{FF2B5EF4-FFF2-40B4-BE49-F238E27FC236}">
                  <a16:creationId xmlns:a16="http://schemas.microsoft.com/office/drawing/2014/main" id="{BE656A46-69B1-4A4F-B7C7-C4971D4582F2}"/>
                </a:ext>
              </a:extLst>
            </p:cNvPr>
            <p:cNvSpPr/>
            <p:nvPr/>
          </p:nvSpPr>
          <p:spPr>
            <a:xfrm>
              <a:off x="5867400" y="3910769"/>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months</a:t>
              </a:r>
            </a:p>
          </p:txBody>
        </p:sp>
        <p:cxnSp>
          <p:nvCxnSpPr>
            <p:cNvPr id="24" name="Straight Arrow Connector 53">
              <a:extLst>
                <a:ext uri="{FF2B5EF4-FFF2-40B4-BE49-F238E27FC236}">
                  <a16:creationId xmlns:a16="http://schemas.microsoft.com/office/drawing/2014/main" id="{070271F2-EC64-467B-AA22-2EC6AE0A78A3}"/>
                </a:ext>
              </a:extLst>
            </p:cNvPr>
            <p:cNvCxnSpPr>
              <a:stCxn id="23" idx="4"/>
              <a:endCxn id="19" idx="0"/>
            </p:cNvCxnSpPr>
            <p:nvPr/>
          </p:nvCxnSpPr>
          <p:spPr>
            <a:xfrm>
              <a:off x="6629400" y="4291767"/>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Flowchart: Data 68">
              <a:extLst>
                <a:ext uri="{FF2B5EF4-FFF2-40B4-BE49-F238E27FC236}">
                  <a16:creationId xmlns:a16="http://schemas.microsoft.com/office/drawing/2014/main" id="{1A70CD38-D54A-4831-9346-643E9A638328}"/>
                </a:ext>
              </a:extLst>
            </p:cNvPr>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err="1">
                  <a:latin typeface="Century Gothic" panose="020B0502020202020204" pitchFamily="34" charset="0"/>
                </a:rPr>
                <a:t>init_year</a:t>
              </a:r>
              <a:endParaRPr lang="en-US" sz="1200" b="1" dirty="0">
                <a:latin typeface="Century Gothic" panose="020B0502020202020204" pitchFamily="34" charset="0"/>
              </a:endParaRPr>
            </a:p>
            <a:p>
              <a:pPr algn="ctr"/>
              <a:r>
                <a:rPr lang="en-US" sz="1200" dirty="0">
                  <a:latin typeface="Century Gothic" panose="020B0502020202020204" pitchFamily="34" charset="0"/>
                </a:rPr>
                <a:t>Read </a:t>
              </a:r>
              <a:r>
                <a:rPr lang="en-US" sz="1200" b="1" dirty="0" err="1">
                  <a:latin typeface="Century Gothic" panose="020B0502020202020204" pitchFamily="34" charset="0"/>
                </a:rPr>
                <a:t>final_year</a:t>
              </a:r>
              <a:endParaRPr lang="en-US" sz="1200" b="1" dirty="0">
                <a:latin typeface="Century Gothic" panose="020B0502020202020204" pitchFamily="34" charset="0"/>
              </a:endParaRPr>
            </a:p>
          </p:txBody>
        </p:sp>
        <p:cxnSp>
          <p:nvCxnSpPr>
            <p:cNvPr id="26" name="Straight Arrow Connector 47">
              <a:extLst>
                <a:ext uri="{FF2B5EF4-FFF2-40B4-BE49-F238E27FC236}">
                  <a16:creationId xmlns:a16="http://schemas.microsoft.com/office/drawing/2014/main" id="{A6185100-BBA6-48E2-B543-664FDFCA03C2}"/>
                </a:ext>
              </a:extLst>
            </p:cNvPr>
            <p:cNvCxnSpPr>
              <a:cxnSpLocks/>
              <a:stCxn id="25" idx="4"/>
              <a:endCxn id="27" idx="0"/>
            </p:cNvCxnSpPr>
            <p:nvPr/>
          </p:nvCxnSpPr>
          <p:spPr>
            <a:xfrm flipH="1">
              <a:off x="6619284" y="2667000"/>
              <a:ext cx="6665" cy="22859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Flowchart: Process 42">
              <a:extLst>
                <a:ext uri="{FF2B5EF4-FFF2-40B4-BE49-F238E27FC236}">
                  <a16:creationId xmlns:a16="http://schemas.microsoft.com/office/drawing/2014/main" id="{B087212B-CC95-47DC-88A9-7229B12B8920}"/>
                </a:ext>
              </a:extLst>
            </p:cNvPr>
            <p:cNvSpPr/>
            <p:nvPr/>
          </p:nvSpPr>
          <p:spPr>
            <a:xfrm>
              <a:off x="5569827" y="2895599"/>
              <a:ext cx="2098914" cy="627018"/>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years </a:t>
              </a:r>
              <a:r>
                <a:rPr lang="en-US" sz="1200" dirty="0">
                  <a:latin typeface="Century Gothic" panose="020B0502020202020204" pitchFamily="34" charset="0"/>
                </a:rPr>
                <a:t> </a:t>
              </a:r>
              <a:r>
                <a:rPr lang="en-US" sz="1200" dirty="0" err="1">
                  <a:latin typeface="Century Gothic" panose="020B0502020202020204" pitchFamily="34" charset="0"/>
                </a:rPr>
                <a:t>final_year</a:t>
              </a:r>
              <a:r>
                <a:rPr lang="en-US" sz="1200" dirty="0">
                  <a:latin typeface="Century Gothic" panose="020B0502020202020204" pitchFamily="34" charset="0"/>
                </a:rPr>
                <a:t> – </a:t>
              </a:r>
              <a:r>
                <a:rPr lang="en-US" sz="1200" dirty="0" err="1">
                  <a:latin typeface="Century Gothic" panose="020B0502020202020204" pitchFamily="34" charset="0"/>
                </a:rPr>
                <a:t>init_year</a:t>
              </a:r>
              <a:endParaRPr lang="en-US" sz="1200" dirty="0">
                <a:latin typeface="Century Gothic" panose="020B0502020202020204" pitchFamily="34" charset="0"/>
              </a:endParaRPr>
            </a:p>
            <a:p>
              <a:pPr algn="ctr"/>
              <a:r>
                <a:rPr lang="en-US" sz="1200" dirty="0">
                  <a:latin typeface="Century Gothic" panose="020B0502020202020204" pitchFamily="34" charset="0"/>
                </a:rPr>
                <a:t>months = 12*years</a:t>
              </a:r>
            </a:p>
          </p:txBody>
        </p:sp>
      </p:grpSp>
      <p:sp>
        <p:nvSpPr>
          <p:cNvPr id="28" name="CuadroTexto 27">
            <a:extLst>
              <a:ext uri="{FF2B5EF4-FFF2-40B4-BE49-F238E27FC236}">
                <a16:creationId xmlns:a16="http://schemas.microsoft.com/office/drawing/2014/main" id="{EC7EC286-1529-429A-96DF-A7244848F368}"/>
              </a:ext>
            </a:extLst>
          </p:cNvPr>
          <p:cNvSpPr txBox="1"/>
          <p:nvPr/>
        </p:nvSpPr>
        <p:spPr>
          <a:xfrm>
            <a:off x="3131840" y="2257750"/>
            <a:ext cx="5287042" cy="1600438"/>
          </a:xfrm>
          <a:prstGeom prst="rect">
            <a:avLst/>
          </a:prstGeom>
          <a:noFill/>
          <a:ln>
            <a:solidFill>
              <a:schemeClr val="tx1"/>
            </a:solidFill>
          </a:ln>
        </p:spPr>
        <p:txBody>
          <a:bodyPr wrap="square">
            <a:spAutoFit/>
          </a:bodyPr>
          <a:lstStyle/>
          <a:p>
            <a:r>
              <a:rPr lang="es-CO" sz="1400" b="1" dirty="0">
                <a:latin typeface="Consolas" panose="020B0609020204030204" pitchFamily="49" charset="0"/>
              </a:rPr>
              <a:t>Inicio</a:t>
            </a:r>
            <a:endParaRPr lang="es-CO" sz="1400" dirty="0">
              <a:latin typeface="Consolas" panose="020B0609020204030204" pitchFamily="49" charset="0"/>
            </a:endParaRPr>
          </a:p>
          <a:p>
            <a:r>
              <a:rPr lang="es-CO" sz="1400" dirty="0">
                <a:latin typeface="Consolas" panose="020B0609020204030204" pitchFamily="49" charset="0"/>
              </a:rPr>
              <a:t>  Leer(init_year) </a:t>
            </a:r>
          </a:p>
          <a:p>
            <a:r>
              <a:rPr lang="es-CO" sz="1400" dirty="0">
                <a:latin typeface="Consolas" panose="020B0609020204030204" pitchFamily="49" charset="0"/>
              </a:rPr>
              <a:t>  Leer(final_year)</a:t>
            </a:r>
          </a:p>
          <a:p>
            <a:r>
              <a:rPr lang="es-CO" sz="1400" dirty="0">
                <a:latin typeface="Consolas" panose="020B0609020204030204" pitchFamily="49" charset="0"/>
              </a:rPr>
              <a:t>  years = init_year, final_year</a:t>
            </a:r>
          </a:p>
          <a:p>
            <a:r>
              <a:rPr lang="es-CO" sz="1400" dirty="0">
                <a:latin typeface="Consolas" panose="020B0609020204030204" pitchFamily="49" charset="0"/>
              </a:rPr>
              <a:t>  months = 12*years</a:t>
            </a:r>
          </a:p>
          <a:p>
            <a:r>
              <a:rPr lang="es-CO" sz="1400" dirty="0">
                <a:latin typeface="Consolas" panose="020B0609020204030204" pitchFamily="49" charset="0"/>
              </a:rPr>
              <a:t>  Escribir(</a:t>
            </a:r>
            <a:r>
              <a:rPr lang="es-CO" sz="1400" dirty="0" err="1">
                <a:latin typeface="Consolas" panose="020B0609020204030204" pitchFamily="49" charset="0"/>
              </a:rPr>
              <a:t>months</a:t>
            </a:r>
            <a:r>
              <a:rPr lang="es-CO" sz="1400" dirty="0">
                <a:latin typeface="Consolas" panose="020B0609020204030204" pitchFamily="49" charset="0"/>
              </a:rPr>
              <a:t>)</a:t>
            </a:r>
          </a:p>
          <a:p>
            <a:r>
              <a:rPr lang="es-CO" sz="1400" b="1" dirty="0">
                <a:latin typeface="Consolas" panose="020B0609020204030204" pitchFamily="49" charset="0"/>
              </a:rPr>
              <a:t>Fin</a:t>
            </a:r>
          </a:p>
        </p:txBody>
      </p:sp>
      <p:sp>
        <p:nvSpPr>
          <p:cNvPr id="29" name="CuadroTexto 28">
            <a:extLst>
              <a:ext uri="{FF2B5EF4-FFF2-40B4-BE49-F238E27FC236}">
                <a16:creationId xmlns:a16="http://schemas.microsoft.com/office/drawing/2014/main" id="{5ACD80BD-859E-410A-85A3-A2CD3EE532E2}"/>
              </a:ext>
            </a:extLst>
          </p:cNvPr>
          <p:cNvSpPr txBox="1"/>
          <p:nvPr/>
        </p:nvSpPr>
        <p:spPr>
          <a:xfrm>
            <a:off x="3101382" y="4410978"/>
            <a:ext cx="5287042" cy="2123658"/>
          </a:xfrm>
          <a:prstGeom prst="rect">
            <a:avLst/>
          </a:prstGeom>
          <a:noFill/>
          <a:ln>
            <a:solidFill>
              <a:schemeClr val="tx1"/>
            </a:solidFill>
          </a:ln>
        </p:spPr>
        <p:txBody>
          <a:bodyPr wrap="square">
            <a:spAutoFit/>
          </a:bodyPr>
          <a:lstStyle/>
          <a:p>
            <a:r>
              <a:rPr lang="es-CO" sz="1200" b="0" dirty="0">
                <a:effectLst/>
                <a:latin typeface="Consolas" panose="020B0609020204030204" pitchFamily="49" charset="0"/>
              </a:rPr>
              <a:t># Entrada de datos</a:t>
            </a:r>
          </a:p>
          <a:p>
            <a:r>
              <a:rPr lang="es-CO" sz="1200" b="0" dirty="0">
                <a:effectLst/>
                <a:latin typeface="Consolas" panose="020B0609020204030204" pitchFamily="49" charset="0"/>
              </a:rPr>
              <a:t>init_year = </a:t>
            </a:r>
            <a:r>
              <a:rPr lang="es-CO" sz="1200" b="0" dirty="0" err="1">
                <a:effectLst/>
                <a:latin typeface="Consolas" panose="020B0609020204030204" pitchFamily="49" charset="0"/>
              </a:rPr>
              <a:t>int</a:t>
            </a:r>
            <a:r>
              <a:rPr lang="es-CO" sz="1200" b="0" dirty="0">
                <a:effectLst/>
                <a:latin typeface="Consolas" panose="020B0609020204030204" pitchFamily="49" charset="0"/>
              </a:rPr>
              <a:t>(input("Ingrese el año inicial: "))</a:t>
            </a:r>
          </a:p>
          <a:p>
            <a:r>
              <a:rPr lang="es-CO" sz="1200" b="0" dirty="0">
                <a:effectLst/>
                <a:latin typeface="Consolas" panose="020B0609020204030204" pitchFamily="49" charset="0"/>
              </a:rPr>
              <a:t>final_year = </a:t>
            </a:r>
            <a:r>
              <a:rPr lang="es-CO" sz="1200" b="0" dirty="0" err="1">
                <a:effectLst/>
                <a:latin typeface="Consolas" panose="020B0609020204030204" pitchFamily="49" charset="0"/>
              </a:rPr>
              <a:t>int</a:t>
            </a:r>
            <a:r>
              <a:rPr lang="es-CO" sz="1200" b="0" dirty="0">
                <a:effectLst/>
                <a:latin typeface="Consolas" panose="020B0609020204030204" pitchFamily="49" charset="0"/>
              </a:rPr>
              <a:t>(input("Ingrese el año final: "))</a:t>
            </a:r>
          </a:p>
          <a:p>
            <a:br>
              <a:rPr lang="es-CO" sz="1200" b="0" dirty="0">
                <a:effectLst/>
                <a:latin typeface="Consolas" panose="020B0609020204030204" pitchFamily="49" charset="0"/>
              </a:rPr>
            </a:br>
            <a:r>
              <a:rPr lang="es-CO" sz="1200" b="0" dirty="0">
                <a:effectLst/>
                <a:latin typeface="Consolas" panose="020B0609020204030204" pitchFamily="49" charset="0"/>
              </a:rPr>
              <a:t># Calculo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err="1">
                <a:effectLst/>
                <a:latin typeface="Consolas" panose="020B0609020204030204" pitchFamily="49" charset="0"/>
              </a:rPr>
              <a:t>years</a:t>
            </a:r>
            <a:r>
              <a:rPr lang="es-CO" sz="1200" b="0" dirty="0">
                <a:effectLst/>
                <a:latin typeface="Consolas" panose="020B0609020204030204" pitchFamily="49" charset="0"/>
              </a:rPr>
              <a:t> = final_year - init_year</a:t>
            </a:r>
          </a:p>
          <a:p>
            <a:r>
              <a:rPr lang="es-CO" sz="1200" b="0" dirty="0" err="1">
                <a:effectLst/>
                <a:latin typeface="Consolas" panose="020B0609020204030204" pitchFamily="49" charset="0"/>
              </a:rPr>
              <a:t>months</a:t>
            </a:r>
            <a:r>
              <a:rPr lang="es-CO" sz="1200" b="0" dirty="0">
                <a:effectLst/>
                <a:latin typeface="Consolas" panose="020B0609020204030204" pitchFamily="49" charset="0"/>
              </a:rPr>
              <a:t> = </a:t>
            </a:r>
            <a:r>
              <a:rPr lang="es-CO" sz="1200" b="0" dirty="0" err="1">
                <a:effectLst/>
                <a:latin typeface="Consolas" panose="020B0609020204030204" pitchFamily="49" charset="0"/>
              </a:rPr>
              <a:t>years</a:t>
            </a:r>
            <a:r>
              <a:rPr lang="es-CO" sz="1200" b="0" dirty="0">
                <a:effectLst/>
                <a:latin typeface="Consolas" panose="020B0609020204030204" pitchFamily="49" charset="0"/>
              </a:rPr>
              <a:t> * 12</a:t>
            </a:r>
          </a:p>
          <a:p>
            <a:br>
              <a:rPr lang="es-CO" sz="1200" b="0" dirty="0">
                <a:effectLst/>
                <a:latin typeface="Consolas" panose="020B0609020204030204" pitchFamily="49" charset="0"/>
              </a:rPr>
            </a:br>
            <a:r>
              <a:rPr lang="es-CO" sz="1200" b="0" dirty="0">
                <a:effectLst/>
                <a:latin typeface="Consolas" panose="020B0609020204030204" pitchFamily="49" charset="0"/>
              </a:rPr>
              <a:t># </a:t>
            </a:r>
            <a:r>
              <a:rPr lang="es-CO" sz="1200" b="0" dirty="0" err="1">
                <a:effectLst/>
                <a:latin typeface="Consolas" panose="020B0609020204030204" pitchFamily="49" charset="0"/>
              </a:rPr>
              <a:t>Despligue</a:t>
            </a:r>
            <a:r>
              <a:rPr lang="es-CO" sz="1200" b="0" dirty="0">
                <a:effectLst/>
                <a:latin typeface="Consolas" panose="020B0609020204030204" pitchFamily="49" charset="0"/>
              </a:rPr>
              <a:t> de los meses</a:t>
            </a:r>
          </a:p>
          <a:p>
            <a:r>
              <a:rPr lang="es-CO" sz="1200" b="0" dirty="0">
                <a:effectLst/>
                <a:latin typeface="Consolas" panose="020B0609020204030204" pitchFamily="49" charset="0"/>
              </a:rPr>
              <a:t>print(</a:t>
            </a:r>
            <a:r>
              <a:rPr lang="es-CO" sz="1200" b="0" dirty="0" err="1">
                <a:effectLst/>
                <a:latin typeface="Consolas" panose="020B0609020204030204" pitchFamily="49" charset="0"/>
              </a:rPr>
              <a:t>f"El</a:t>
            </a:r>
            <a:r>
              <a:rPr lang="es-CO" sz="1200" b="0" dirty="0">
                <a:effectLst/>
                <a:latin typeface="Consolas" panose="020B0609020204030204" pitchFamily="49" charset="0"/>
              </a:rPr>
              <a:t> número de meses entre los años {init_year} y {final_year} es: {</a:t>
            </a:r>
            <a:r>
              <a:rPr lang="es-CO" sz="1200" b="0" dirty="0" err="1">
                <a:effectLst/>
                <a:latin typeface="Consolas" panose="020B0609020204030204" pitchFamily="49" charset="0"/>
              </a:rPr>
              <a:t>months</a:t>
            </a:r>
            <a:r>
              <a:rPr lang="es-CO" sz="1200" b="0" dirty="0">
                <a:effectLst/>
                <a:latin typeface="Consolas" panose="020B0609020204030204" pitchFamily="49" charset="0"/>
              </a:rPr>
              <a:t>}")</a:t>
            </a:r>
          </a:p>
        </p:txBody>
      </p:sp>
      <p:pic>
        <p:nvPicPr>
          <p:cNvPr id="30" name="Imagen 29">
            <a:extLst>
              <a:ext uri="{FF2B5EF4-FFF2-40B4-BE49-F238E27FC236}">
                <a16:creationId xmlns:a16="http://schemas.microsoft.com/office/drawing/2014/main" id="{AF4FE302-B629-4EE3-8067-826B65A39C2C}"/>
              </a:ext>
            </a:extLst>
          </p:cNvPr>
          <p:cNvPicPr>
            <a:picLocks noChangeAspect="1"/>
          </p:cNvPicPr>
          <p:nvPr/>
        </p:nvPicPr>
        <p:blipFill>
          <a:blip r:embed="rId2"/>
          <a:stretch>
            <a:fillRect/>
          </a:stretch>
        </p:blipFill>
        <p:spPr>
          <a:xfrm>
            <a:off x="8540355" y="5229200"/>
            <a:ext cx="424133" cy="434123"/>
          </a:xfrm>
          <a:prstGeom prst="rect">
            <a:avLst/>
          </a:prstGeom>
        </p:spPr>
      </p:pic>
      <p:sp>
        <p:nvSpPr>
          <p:cNvPr id="31" name="CuadroTexto 30">
            <a:extLst>
              <a:ext uri="{FF2B5EF4-FFF2-40B4-BE49-F238E27FC236}">
                <a16:creationId xmlns:a16="http://schemas.microsoft.com/office/drawing/2014/main" id="{F90A1BA8-E162-48EC-A264-D3111DB1AF16}"/>
              </a:ext>
            </a:extLst>
          </p:cNvPr>
          <p:cNvSpPr txBox="1"/>
          <p:nvPr/>
        </p:nvSpPr>
        <p:spPr>
          <a:xfrm>
            <a:off x="5379317" y="6489756"/>
            <a:ext cx="792088" cy="276999"/>
          </a:xfrm>
          <a:prstGeom prst="rect">
            <a:avLst/>
          </a:prstGeom>
          <a:noFill/>
        </p:spPr>
        <p:txBody>
          <a:bodyPr wrap="square">
            <a:spAutoFit/>
          </a:bodyPr>
          <a:lstStyle/>
          <a:p>
            <a:pPr algn="ctr"/>
            <a:r>
              <a:rPr lang="es-ES" sz="1200" dirty="0">
                <a:hlinkClick r:id="rId3"/>
              </a:rPr>
              <a:t>link</a:t>
            </a:r>
            <a:endParaRPr lang="es-CO" sz="1200" dirty="0"/>
          </a:p>
        </p:txBody>
      </p:sp>
    </p:spTree>
    <p:extLst>
      <p:ext uri="{BB962C8B-B14F-4D97-AF65-F5344CB8AC3E}">
        <p14:creationId xmlns:p14="http://schemas.microsoft.com/office/powerpoint/2010/main" val="9668880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368244"/>
            <a:ext cx="7886700" cy="1116540"/>
          </a:xfrm>
        </p:spPr>
        <p:txBody>
          <a:bodyPr/>
          <a:lstStyle/>
          <a:p>
            <a:r>
              <a:rPr lang="es-CO" sz="3200" dirty="0"/>
              <a:t>Codificación de algoritmos en Python</a:t>
            </a:r>
          </a:p>
        </p:txBody>
      </p:sp>
      <p:sp>
        <p:nvSpPr>
          <p:cNvPr id="2" name="1 Marcador de contenido"/>
          <p:cNvSpPr>
            <a:spLocks noGrp="1"/>
          </p:cNvSpPr>
          <p:nvPr>
            <p:ph idx="1"/>
          </p:nvPr>
        </p:nvSpPr>
        <p:spPr>
          <a:xfrm>
            <a:off x="323850" y="1268760"/>
            <a:ext cx="8352605" cy="646562"/>
          </a:xfrm>
          <a:ln>
            <a:noFill/>
          </a:ln>
        </p:spPr>
        <p:txBody>
          <a:bodyPr>
            <a:normAutofit lnSpcReduction="10000"/>
          </a:bodyPr>
          <a:lstStyle/>
          <a:p>
            <a:pPr marL="0" indent="0">
              <a:buNone/>
            </a:pPr>
            <a:r>
              <a:rPr lang="es-CO" sz="2200" b="1" dirty="0">
                <a:solidFill>
                  <a:srgbClr val="FF0000"/>
                </a:solidFill>
              </a:rPr>
              <a:t>Ejemplo 2</a:t>
            </a:r>
            <a:r>
              <a:rPr lang="es-CO" sz="2200" dirty="0">
                <a:solidFill>
                  <a:srgbClr val="FF0000"/>
                </a:solidFill>
              </a:rPr>
              <a:t>:</a:t>
            </a:r>
            <a:r>
              <a:rPr lang="es-CO" sz="2200" dirty="0"/>
              <a:t> Se requiere diseñar un algoritmo que </a:t>
            </a:r>
            <a:r>
              <a:rPr lang="es-CO" sz="2200" b="1" dirty="0"/>
              <a:t>calcule el número de meses que hay entre los años A y B</a:t>
            </a:r>
            <a:r>
              <a:rPr lang="es-CO" sz="2200" dirty="0"/>
              <a:t>.</a:t>
            </a:r>
          </a:p>
          <a:p>
            <a:pPr marL="0" indent="0">
              <a:buNone/>
            </a:pPr>
            <a:endParaRPr lang="es-CO" sz="2200" dirty="0"/>
          </a:p>
        </p:txBody>
      </p:sp>
      <p:sp>
        <p:nvSpPr>
          <p:cNvPr id="29" name="CuadroTexto 28">
            <a:extLst>
              <a:ext uri="{FF2B5EF4-FFF2-40B4-BE49-F238E27FC236}">
                <a16:creationId xmlns:a16="http://schemas.microsoft.com/office/drawing/2014/main" id="{5ACD80BD-859E-410A-85A3-A2CD3EE532E2}"/>
              </a:ext>
            </a:extLst>
          </p:cNvPr>
          <p:cNvSpPr txBox="1"/>
          <p:nvPr/>
        </p:nvSpPr>
        <p:spPr>
          <a:xfrm>
            <a:off x="359840" y="2060848"/>
            <a:ext cx="5287042" cy="2123658"/>
          </a:xfrm>
          <a:prstGeom prst="rect">
            <a:avLst/>
          </a:prstGeom>
          <a:noFill/>
          <a:ln>
            <a:solidFill>
              <a:schemeClr val="tx1"/>
            </a:solidFill>
          </a:ln>
        </p:spPr>
        <p:txBody>
          <a:bodyPr wrap="square">
            <a:spAutoFit/>
          </a:bodyPr>
          <a:lstStyle/>
          <a:p>
            <a:r>
              <a:rPr lang="es-CO" sz="1200" b="0" dirty="0">
                <a:effectLst/>
                <a:latin typeface="Consolas" panose="020B0609020204030204" pitchFamily="49" charset="0"/>
              </a:rPr>
              <a:t># Entrada de datos</a:t>
            </a:r>
          </a:p>
          <a:p>
            <a:r>
              <a:rPr lang="es-CO" sz="1200" b="0" dirty="0">
                <a:effectLst/>
                <a:latin typeface="Consolas" panose="020B0609020204030204" pitchFamily="49" charset="0"/>
              </a:rPr>
              <a:t>init_year = </a:t>
            </a:r>
            <a:r>
              <a:rPr lang="es-CO" sz="1200" b="0" dirty="0" err="1">
                <a:effectLst/>
                <a:latin typeface="Consolas" panose="020B0609020204030204" pitchFamily="49" charset="0"/>
              </a:rPr>
              <a:t>int</a:t>
            </a:r>
            <a:r>
              <a:rPr lang="es-CO" sz="1200" b="0" dirty="0">
                <a:effectLst/>
                <a:latin typeface="Consolas" panose="020B0609020204030204" pitchFamily="49" charset="0"/>
              </a:rPr>
              <a:t>(input("Ingrese el año inicial: "))</a:t>
            </a:r>
          </a:p>
          <a:p>
            <a:r>
              <a:rPr lang="es-CO" sz="1200" b="0" dirty="0">
                <a:effectLst/>
                <a:latin typeface="Consolas" panose="020B0609020204030204" pitchFamily="49" charset="0"/>
              </a:rPr>
              <a:t>final_year = </a:t>
            </a:r>
            <a:r>
              <a:rPr lang="es-CO" sz="1200" b="0" dirty="0" err="1">
                <a:effectLst/>
                <a:latin typeface="Consolas" panose="020B0609020204030204" pitchFamily="49" charset="0"/>
              </a:rPr>
              <a:t>int</a:t>
            </a:r>
            <a:r>
              <a:rPr lang="es-CO" sz="1200" b="0" dirty="0">
                <a:effectLst/>
                <a:latin typeface="Consolas" panose="020B0609020204030204" pitchFamily="49" charset="0"/>
              </a:rPr>
              <a:t>(input("Ingrese el año final: "))</a:t>
            </a:r>
          </a:p>
          <a:p>
            <a:br>
              <a:rPr lang="es-CO" sz="1200" b="0" dirty="0">
                <a:effectLst/>
                <a:latin typeface="Consolas" panose="020B0609020204030204" pitchFamily="49" charset="0"/>
              </a:rPr>
            </a:br>
            <a:r>
              <a:rPr lang="es-CO" sz="1200" b="0" dirty="0">
                <a:effectLst/>
                <a:latin typeface="Consolas" panose="020B0609020204030204" pitchFamily="49" charset="0"/>
              </a:rPr>
              <a:t># Calculo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err="1">
                <a:effectLst/>
                <a:latin typeface="Consolas" panose="020B0609020204030204" pitchFamily="49" charset="0"/>
              </a:rPr>
              <a:t>years</a:t>
            </a:r>
            <a:r>
              <a:rPr lang="es-CO" sz="1200" b="0" dirty="0">
                <a:effectLst/>
                <a:latin typeface="Consolas" panose="020B0609020204030204" pitchFamily="49" charset="0"/>
              </a:rPr>
              <a:t> = final_year - init_year</a:t>
            </a:r>
          </a:p>
          <a:p>
            <a:r>
              <a:rPr lang="es-CO" sz="1200" b="0" dirty="0" err="1">
                <a:effectLst/>
                <a:latin typeface="Consolas" panose="020B0609020204030204" pitchFamily="49" charset="0"/>
              </a:rPr>
              <a:t>months</a:t>
            </a:r>
            <a:r>
              <a:rPr lang="es-CO" sz="1200" b="0" dirty="0">
                <a:effectLst/>
                <a:latin typeface="Consolas" panose="020B0609020204030204" pitchFamily="49" charset="0"/>
              </a:rPr>
              <a:t> = </a:t>
            </a:r>
            <a:r>
              <a:rPr lang="es-CO" sz="1200" b="0" dirty="0" err="1">
                <a:effectLst/>
                <a:latin typeface="Consolas" panose="020B0609020204030204" pitchFamily="49" charset="0"/>
              </a:rPr>
              <a:t>years</a:t>
            </a:r>
            <a:r>
              <a:rPr lang="es-CO" sz="1200" b="0" dirty="0">
                <a:effectLst/>
                <a:latin typeface="Consolas" panose="020B0609020204030204" pitchFamily="49" charset="0"/>
              </a:rPr>
              <a:t> * 12</a:t>
            </a:r>
          </a:p>
          <a:p>
            <a:br>
              <a:rPr lang="es-CO" sz="1200" b="0" dirty="0">
                <a:effectLst/>
                <a:latin typeface="Consolas" panose="020B0609020204030204" pitchFamily="49" charset="0"/>
              </a:rPr>
            </a:br>
            <a:r>
              <a:rPr lang="es-CO" sz="1200" b="0" dirty="0">
                <a:effectLst/>
                <a:latin typeface="Consolas" panose="020B0609020204030204" pitchFamily="49" charset="0"/>
              </a:rPr>
              <a:t># </a:t>
            </a:r>
            <a:r>
              <a:rPr lang="es-CO" sz="1200" b="0" dirty="0" err="1">
                <a:effectLst/>
                <a:latin typeface="Consolas" panose="020B0609020204030204" pitchFamily="49" charset="0"/>
              </a:rPr>
              <a:t>Despligue</a:t>
            </a:r>
            <a:r>
              <a:rPr lang="es-CO" sz="1200" b="0" dirty="0">
                <a:effectLst/>
                <a:latin typeface="Consolas" panose="020B0609020204030204" pitchFamily="49" charset="0"/>
              </a:rPr>
              <a:t> de los meses</a:t>
            </a:r>
          </a:p>
          <a:p>
            <a:r>
              <a:rPr lang="es-CO" sz="1200" b="0" dirty="0">
                <a:effectLst/>
                <a:latin typeface="Consolas" panose="020B0609020204030204" pitchFamily="49" charset="0"/>
              </a:rPr>
              <a:t>print(</a:t>
            </a:r>
            <a:r>
              <a:rPr lang="es-CO" sz="1200" b="0" dirty="0" err="1">
                <a:effectLst/>
                <a:latin typeface="Consolas" panose="020B0609020204030204" pitchFamily="49" charset="0"/>
              </a:rPr>
              <a:t>f"El</a:t>
            </a:r>
            <a:r>
              <a:rPr lang="es-CO" sz="1200" b="0" dirty="0">
                <a:effectLst/>
                <a:latin typeface="Consolas" panose="020B0609020204030204" pitchFamily="49" charset="0"/>
              </a:rPr>
              <a:t> número de meses entre los años {init_year} y {final_year} es: {</a:t>
            </a:r>
            <a:r>
              <a:rPr lang="es-CO" sz="1200" b="0" dirty="0" err="1">
                <a:effectLst/>
                <a:latin typeface="Consolas" panose="020B0609020204030204" pitchFamily="49" charset="0"/>
              </a:rPr>
              <a:t>months</a:t>
            </a:r>
            <a:r>
              <a:rPr lang="es-CO" sz="1200" b="0" dirty="0">
                <a:effectLst/>
                <a:latin typeface="Consolas" panose="020B0609020204030204" pitchFamily="49" charset="0"/>
              </a:rPr>
              <a:t>}")</a:t>
            </a:r>
          </a:p>
        </p:txBody>
      </p:sp>
      <p:graphicFrame>
        <p:nvGraphicFramePr>
          <p:cNvPr id="16" name="Tabla 5">
            <a:extLst>
              <a:ext uri="{FF2B5EF4-FFF2-40B4-BE49-F238E27FC236}">
                <a16:creationId xmlns:a16="http://schemas.microsoft.com/office/drawing/2014/main" id="{682A35AA-AD0F-4F29-90A2-016AA1BC34A8}"/>
              </a:ext>
            </a:extLst>
          </p:cNvPr>
          <p:cNvGraphicFramePr>
            <a:graphicFrameLocks noGrp="1"/>
          </p:cNvGraphicFramePr>
          <p:nvPr>
            <p:extLst>
              <p:ext uri="{D42A27DB-BD31-4B8C-83A1-F6EECF244321}">
                <p14:modId xmlns:p14="http://schemas.microsoft.com/office/powerpoint/2010/main" val="415459385"/>
              </p:ext>
            </p:extLst>
          </p:nvPr>
        </p:nvGraphicFramePr>
        <p:xfrm>
          <a:off x="365046" y="4797152"/>
          <a:ext cx="3700340" cy="1219200"/>
        </p:xfrm>
        <a:graphic>
          <a:graphicData uri="http://schemas.openxmlformats.org/drawingml/2006/table">
            <a:tbl>
              <a:tblPr firstRow="1" bandRow="1">
                <a:tableStyleId>{7E9639D4-E3E2-4D34-9284-5A2195B3D0D7}</a:tableStyleId>
              </a:tblPr>
              <a:tblGrid>
                <a:gridCol w="941324">
                  <a:extLst>
                    <a:ext uri="{9D8B030D-6E8A-4147-A177-3AD203B41FA5}">
                      <a16:colId xmlns:a16="http://schemas.microsoft.com/office/drawing/2014/main" val="1270268523"/>
                    </a:ext>
                  </a:extLst>
                </a:gridCol>
                <a:gridCol w="1044512">
                  <a:extLst>
                    <a:ext uri="{9D8B030D-6E8A-4147-A177-3AD203B41FA5}">
                      <a16:colId xmlns:a16="http://schemas.microsoft.com/office/drawing/2014/main" val="101718729"/>
                    </a:ext>
                  </a:extLst>
                </a:gridCol>
                <a:gridCol w="1714504">
                  <a:extLst>
                    <a:ext uri="{9D8B030D-6E8A-4147-A177-3AD203B41FA5}">
                      <a16:colId xmlns:a16="http://schemas.microsoft.com/office/drawing/2014/main" val="3468495707"/>
                    </a:ext>
                  </a:extLst>
                </a:gridCol>
              </a:tblGrid>
              <a:tr h="0">
                <a:tc gridSpan="2">
                  <a:txBody>
                    <a:bodyPr/>
                    <a:lstStyle/>
                    <a:p>
                      <a:pPr algn="ctr"/>
                      <a:r>
                        <a:rPr lang="es-CO" sz="1400" b="1" dirty="0"/>
                        <a:t>Entradas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s-CO" sz="1600" b="1" dirty="0">
                        <a:latin typeface="Consolas" panose="020B0609020204030204" pitchFamily="49" charset="0"/>
                      </a:endParaRPr>
                    </a:p>
                  </a:txBody>
                  <a:tcPr>
                    <a:lnT w="12700" cap="flat" cmpd="sng" algn="ctr">
                      <a:noFill/>
                      <a:prstDash val="solid"/>
                      <a:round/>
                      <a:headEnd type="none" w="med" len="med"/>
                      <a:tailEnd type="none" w="med" len="med"/>
                    </a:lnT>
                  </a:tcPr>
                </a:tc>
                <a:tc>
                  <a:txBody>
                    <a:bodyPr/>
                    <a:lstStyle/>
                    <a:p>
                      <a:pPr algn="ctr"/>
                      <a:r>
                        <a:rPr lang="es-CO" sz="1400" b="1" dirty="0"/>
                        <a:t>Salidas (esperadas)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868271"/>
                  </a:ext>
                </a:extLst>
              </a:tr>
              <a:tr h="213175">
                <a:tc>
                  <a:txBody>
                    <a:bodyPr/>
                    <a:lstStyle/>
                    <a:p>
                      <a:pPr algn="ctr"/>
                      <a:r>
                        <a:rPr lang="es-CO" sz="1400" b="1" dirty="0"/>
                        <a:t>init_year</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final_year</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months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789806"/>
                  </a:ext>
                </a:extLst>
              </a:tr>
              <a:tr h="234493">
                <a:tc>
                  <a:txBody>
                    <a:bodyPr/>
                    <a:lstStyle/>
                    <a:p>
                      <a:pPr algn="ctr"/>
                      <a:r>
                        <a:rPr lang="es-CO" sz="1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strike="noStrike"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dirty="0"/>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9623581"/>
                  </a:ext>
                </a:extLst>
              </a:tr>
              <a:tr h="234493">
                <a:tc>
                  <a:txBody>
                    <a:bodyPr/>
                    <a:lstStyle/>
                    <a:p>
                      <a:pPr algn="ctr"/>
                      <a:r>
                        <a:rPr lang="es-CO" sz="1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strike="noStrike"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dirty="0"/>
                        <a:t>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237131"/>
                  </a:ext>
                </a:extLst>
              </a:tr>
            </a:tbl>
          </a:graphicData>
        </a:graphic>
      </p:graphicFrame>
      <p:pic>
        <p:nvPicPr>
          <p:cNvPr id="4" name="Imagen 3">
            <a:extLst>
              <a:ext uri="{FF2B5EF4-FFF2-40B4-BE49-F238E27FC236}">
                <a16:creationId xmlns:a16="http://schemas.microsoft.com/office/drawing/2014/main" id="{C188DD0D-1BBA-4988-94ED-8371CA04DB9E}"/>
              </a:ext>
            </a:extLst>
          </p:cNvPr>
          <p:cNvPicPr>
            <a:picLocks noChangeAspect="1"/>
          </p:cNvPicPr>
          <p:nvPr/>
        </p:nvPicPr>
        <p:blipFill>
          <a:blip r:embed="rId2"/>
          <a:stretch>
            <a:fillRect/>
          </a:stretch>
        </p:blipFill>
        <p:spPr>
          <a:xfrm>
            <a:off x="4310743" y="4345460"/>
            <a:ext cx="4605159" cy="2323900"/>
          </a:xfrm>
          <a:prstGeom prst="rect">
            <a:avLst/>
          </a:prstGeom>
        </p:spPr>
      </p:pic>
      <p:pic>
        <p:nvPicPr>
          <p:cNvPr id="30" name="Imagen 29">
            <a:extLst>
              <a:ext uri="{FF2B5EF4-FFF2-40B4-BE49-F238E27FC236}">
                <a16:creationId xmlns:a16="http://schemas.microsoft.com/office/drawing/2014/main" id="{0C58D886-9030-446D-B57A-49D3DE7BB648}"/>
              </a:ext>
            </a:extLst>
          </p:cNvPr>
          <p:cNvPicPr>
            <a:picLocks noChangeAspect="1"/>
          </p:cNvPicPr>
          <p:nvPr/>
        </p:nvPicPr>
        <p:blipFill>
          <a:blip r:embed="rId3"/>
          <a:stretch>
            <a:fillRect/>
          </a:stretch>
        </p:blipFill>
        <p:spPr>
          <a:xfrm>
            <a:off x="5796136" y="2850051"/>
            <a:ext cx="424133" cy="434123"/>
          </a:xfrm>
          <a:prstGeom prst="rect">
            <a:avLst/>
          </a:prstGeom>
        </p:spPr>
      </p:pic>
      <p:sp>
        <p:nvSpPr>
          <p:cNvPr id="31" name="CuadroTexto 30">
            <a:extLst>
              <a:ext uri="{FF2B5EF4-FFF2-40B4-BE49-F238E27FC236}">
                <a16:creationId xmlns:a16="http://schemas.microsoft.com/office/drawing/2014/main" id="{3037D22E-72E1-4DDC-8CEE-6855E976B8D9}"/>
              </a:ext>
            </a:extLst>
          </p:cNvPr>
          <p:cNvSpPr txBox="1"/>
          <p:nvPr/>
        </p:nvSpPr>
        <p:spPr>
          <a:xfrm>
            <a:off x="2607317" y="4160113"/>
            <a:ext cx="792088" cy="276999"/>
          </a:xfrm>
          <a:prstGeom prst="rect">
            <a:avLst/>
          </a:prstGeom>
          <a:noFill/>
        </p:spPr>
        <p:txBody>
          <a:bodyPr wrap="square">
            <a:spAutoFit/>
          </a:bodyPr>
          <a:lstStyle/>
          <a:p>
            <a:pPr algn="ctr"/>
            <a:r>
              <a:rPr lang="es-ES" sz="1200" dirty="0">
                <a:hlinkClick r:id="rId4"/>
              </a:rPr>
              <a:t>link</a:t>
            </a:r>
            <a:endParaRPr lang="es-CO" sz="1200" dirty="0"/>
          </a:p>
        </p:txBody>
      </p:sp>
    </p:spTree>
    <p:extLst>
      <p:ext uri="{BB962C8B-B14F-4D97-AF65-F5344CB8AC3E}">
        <p14:creationId xmlns:p14="http://schemas.microsoft.com/office/powerpoint/2010/main" val="1562914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368244"/>
            <a:ext cx="7886700" cy="1116540"/>
          </a:xfrm>
        </p:spPr>
        <p:txBody>
          <a:bodyPr/>
          <a:lstStyle/>
          <a:p>
            <a:r>
              <a:rPr lang="es-CO" sz="3200" dirty="0"/>
              <a:t>Codificación de algoritmos en Python</a:t>
            </a:r>
          </a:p>
        </p:txBody>
      </p:sp>
      <p:sp>
        <p:nvSpPr>
          <p:cNvPr id="2" name="1 Marcador de contenido"/>
          <p:cNvSpPr>
            <a:spLocks noGrp="1"/>
          </p:cNvSpPr>
          <p:nvPr>
            <p:ph idx="1"/>
          </p:nvPr>
        </p:nvSpPr>
        <p:spPr>
          <a:xfrm>
            <a:off x="323850" y="1412776"/>
            <a:ext cx="8352605" cy="477101"/>
          </a:xfrm>
          <a:ln>
            <a:noFill/>
          </a:ln>
        </p:spPr>
        <p:txBody>
          <a:bodyPr>
            <a:normAutofit/>
          </a:bodyPr>
          <a:lstStyle/>
          <a:p>
            <a:pPr marL="0" indent="0">
              <a:buNone/>
            </a:pPr>
            <a:r>
              <a:rPr lang="es-CO" sz="2200" b="1" dirty="0">
                <a:solidFill>
                  <a:srgbClr val="FF0000"/>
                </a:solidFill>
              </a:rPr>
              <a:t>Ejemplo 3</a:t>
            </a:r>
            <a:r>
              <a:rPr lang="es-CO" sz="2200" dirty="0">
                <a:solidFill>
                  <a:srgbClr val="FF0000"/>
                </a:solidFill>
              </a:rPr>
              <a:t>:</a:t>
            </a:r>
            <a:r>
              <a:rPr lang="es-CO" sz="2200" dirty="0"/>
              <a:t> </a:t>
            </a:r>
            <a:r>
              <a:rPr lang="es-MX" sz="2200" dirty="0"/>
              <a:t>Hacer un algoritmo que calcule el área de un circulo</a:t>
            </a:r>
          </a:p>
        </p:txBody>
      </p:sp>
      <p:sp>
        <p:nvSpPr>
          <p:cNvPr id="28" name="CuadroTexto 27">
            <a:extLst>
              <a:ext uri="{FF2B5EF4-FFF2-40B4-BE49-F238E27FC236}">
                <a16:creationId xmlns:a16="http://schemas.microsoft.com/office/drawing/2014/main" id="{EC7EC286-1529-429A-96DF-A7244848F368}"/>
              </a:ext>
            </a:extLst>
          </p:cNvPr>
          <p:cNvSpPr txBox="1"/>
          <p:nvPr/>
        </p:nvSpPr>
        <p:spPr>
          <a:xfrm>
            <a:off x="3135299" y="3985497"/>
            <a:ext cx="5287042" cy="2123658"/>
          </a:xfrm>
          <a:prstGeom prst="rect">
            <a:avLst/>
          </a:prstGeom>
          <a:noFill/>
          <a:ln>
            <a:solidFill>
              <a:schemeClr val="tx1"/>
            </a:solidFill>
          </a:ln>
        </p:spPr>
        <p:txBody>
          <a:bodyPr wrap="square">
            <a:spAutoFit/>
          </a:bodyPr>
          <a:lstStyle/>
          <a:p>
            <a:r>
              <a:rPr lang="es-CO" sz="1200" b="0" dirty="0">
                <a:effectLst/>
                <a:latin typeface="Consolas" panose="020B0609020204030204" pitchFamily="49" charset="0"/>
              </a:rPr>
              <a:t># Inicialización de variables</a:t>
            </a:r>
          </a:p>
          <a:p>
            <a:r>
              <a:rPr lang="es-CO" sz="1200" b="0" dirty="0">
                <a:effectLst/>
                <a:latin typeface="Consolas" panose="020B0609020204030204" pitchFamily="49" charset="0"/>
              </a:rPr>
              <a:t>PI = 3.14</a:t>
            </a:r>
          </a:p>
          <a:p>
            <a:br>
              <a:rPr lang="es-CO" sz="1200" b="0" dirty="0">
                <a:effectLst/>
                <a:latin typeface="Consolas" panose="020B0609020204030204" pitchFamily="49" charset="0"/>
              </a:rPr>
            </a:br>
            <a:r>
              <a:rPr lang="es-CO" sz="1200" b="0" dirty="0">
                <a:effectLst/>
                <a:latin typeface="Consolas" panose="020B0609020204030204" pitchFamily="49" charset="0"/>
              </a:rPr>
              <a:t># Entrada de datos</a:t>
            </a:r>
          </a:p>
          <a:p>
            <a:r>
              <a:rPr lang="es-CO" sz="1200" b="0" dirty="0">
                <a:effectLst/>
                <a:latin typeface="Consolas" panose="020B0609020204030204" pitchFamily="49" charset="0"/>
              </a:rPr>
              <a:t>radio = </a:t>
            </a:r>
            <a:r>
              <a:rPr lang="es-CO" sz="1200" b="0" dirty="0" err="1">
                <a:effectLst/>
                <a:latin typeface="Consolas" panose="020B0609020204030204" pitchFamily="49" charset="0"/>
              </a:rPr>
              <a:t>float</a:t>
            </a:r>
            <a:r>
              <a:rPr lang="es-CO" sz="1200" b="0" dirty="0">
                <a:effectLst/>
                <a:latin typeface="Consolas" panose="020B0609020204030204" pitchFamily="49" charset="0"/>
              </a:rPr>
              <a:t>(input("Ingrese el radio del círculo: "))</a:t>
            </a:r>
          </a:p>
          <a:p>
            <a:br>
              <a:rPr lang="es-CO" sz="1200" b="0" dirty="0">
                <a:effectLst/>
                <a:latin typeface="Consolas" panose="020B0609020204030204" pitchFamily="49" charset="0"/>
              </a:rPr>
            </a:br>
            <a:r>
              <a:rPr lang="es-CO" sz="1200" b="0" dirty="0">
                <a:effectLst/>
                <a:latin typeface="Consolas" panose="020B0609020204030204" pitchFamily="49" charset="0"/>
              </a:rPr>
              <a:t># Calculo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err="1">
                <a:effectLst/>
                <a:latin typeface="Consolas" panose="020B0609020204030204" pitchFamily="49" charset="0"/>
              </a:rPr>
              <a:t>area</a:t>
            </a:r>
            <a:r>
              <a:rPr lang="es-CO" sz="1200" b="0" dirty="0">
                <a:effectLst/>
                <a:latin typeface="Consolas" panose="020B0609020204030204" pitchFamily="49" charset="0"/>
              </a:rPr>
              <a:t> = PI * radio ** 2</a:t>
            </a:r>
          </a:p>
          <a:p>
            <a:br>
              <a:rPr lang="es-CO" sz="1200" b="0" dirty="0">
                <a:effectLst/>
                <a:latin typeface="Consolas" panose="020B0609020204030204" pitchFamily="49" charset="0"/>
              </a:rPr>
            </a:br>
            <a:r>
              <a:rPr lang="es-CO" sz="1200" b="0" dirty="0">
                <a:effectLst/>
                <a:latin typeface="Consolas" panose="020B0609020204030204" pitchFamily="49" charset="0"/>
              </a:rPr>
              <a:t># </a:t>
            </a:r>
            <a:r>
              <a:rPr lang="es-CO" sz="1200" b="0" dirty="0" err="1">
                <a:effectLst/>
                <a:latin typeface="Consolas" panose="020B0609020204030204" pitchFamily="49" charset="0"/>
              </a:rPr>
              <a:t>Despligue</a:t>
            </a:r>
            <a:r>
              <a:rPr lang="es-CO" sz="1200" b="0" dirty="0">
                <a:effectLst/>
                <a:latin typeface="Consolas" panose="020B0609020204030204" pitchFamily="49" charset="0"/>
              </a:rPr>
              <a:t>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a:effectLst/>
                <a:latin typeface="Consolas" panose="020B0609020204030204" pitchFamily="49" charset="0"/>
              </a:rPr>
              <a:t>print(</a:t>
            </a:r>
            <a:r>
              <a:rPr lang="es-CO" sz="1200" b="0" dirty="0" err="1">
                <a:effectLst/>
                <a:latin typeface="Consolas" panose="020B0609020204030204" pitchFamily="49" charset="0"/>
              </a:rPr>
              <a:t>f"El</a:t>
            </a:r>
            <a:r>
              <a:rPr lang="es-CO" sz="1200" b="0" dirty="0">
                <a:effectLst/>
                <a:latin typeface="Consolas" panose="020B0609020204030204" pitchFamily="49" charset="0"/>
              </a:rPr>
              <a:t> </a:t>
            </a:r>
            <a:r>
              <a:rPr lang="es-CO" sz="1200" b="0" dirty="0" err="1">
                <a:effectLst/>
                <a:latin typeface="Consolas" panose="020B0609020204030204" pitchFamily="49" charset="0"/>
              </a:rPr>
              <a:t>area</a:t>
            </a:r>
            <a:r>
              <a:rPr lang="es-CO" sz="1200" b="0" dirty="0">
                <a:effectLst/>
                <a:latin typeface="Consolas" panose="020B0609020204030204" pitchFamily="49" charset="0"/>
              </a:rPr>
              <a:t> del círculo de radio {radio} es: {</a:t>
            </a:r>
            <a:r>
              <a:rPr lang="es-CO" sz="1200" b="0" dirty="0" err="1">
                <a:effectLst/>
                <a:latin typeface="Consolas" panose="020B0609020204030204" pitchFamily="49" charset="0"/>
              </a:rPr>
              <a:t>area</a:t>
            </a:r>
            <a:r>
              <a:rPr lang="es-CO" sz="1200" b="0" dirty="0">
                <a:effectLst/>
                <a:latin typeface="Consolas" panose="020B0609020204030204" pitchFamily="49" charset="0"/>
              </a:rPr>
              <a:t>}")</a:t>
            </a:r>
          </a:p>
        </p:txBody>
      </p:sp>
      <p:grpSp>
        <p:nvGrpSpPr>
          <p:cNvPr id="45" name="Grupo 44">
            <a:extLst>
              <a:ext uri="{FF2B5EF4-FFF2-40B4-BE49-F238E27FC236}">
                <a16:creationId xmlns:a16="http://schemas.microsoft.com/office/drawing/2014/main" id="{153FBB06-2F4A-4FD7-A66C-FB2CD1E72FAF}"/>
              </a:ext>
            </a:extLst>
          </p:cNvPr>
          <p:cNvGrpSpPr/>
          <p:nvPr/>
        </p:nvGrpSpPr>
        <p:grpSpPr>
          <a:xfrm>
            <a:off x="512226" y="2529316"/>
            <a:ext cx="1998336" cy="3578352"/>
            <a:chOff x="3803911" y="2084774"/>
            <a:chExt cx="2766928" cy="4006530"/>
          </a:xfrm>
        </p:grpSpPr>
        <p:sp>
          <p:nvSpPr>
            <p:cNvPr id="49" name="Flowchart: Terminator 43">
              <a:extLst>
                <a:ext uri="{FF2B5EF4-FFF2-40B4-BE49-F238E27FC236}">
                  <a16:creationId xmlns:a16="http://schemas.microsoft.com/office/drawing/2014/main" id="{825F14D2-6C45-4A6E-97D5-9A874199197C}"/>
                </a:ext>
              </a:extLst>
            </p:cNvPr>
            <p:cNvSpPr/>
            <p:nvPr/>
          </p:nvSpPr>
          <p:spPr>
            <a:xfrm>
              <a:off x="4533557" y="5761790"/>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Finish</a:t>
              </a:r>
              <a:endParaRPr lang="en-US" sz="1100" dirty="0">
                <a:latin typeface="Consolas" panose="020B0609020204030204" pitchFamily="49" charset="0"/>
              </a:endParaRPr>
            </a:p>
          </p:txBody>
        </p:sp>
        <p:sp>
          <p:nvSpPr>
            <p:cNvPr id="50" name="Flowchart: Terminator 44">
              <a:extLst>
                <a:ext uri="{FF2B5EF4-FFF2-40B4-BE49-F238E27FC236}">
                  <a16:creationId xmlns:a16="http://schemas.microsoft.com/office/drawing/2014/main" id="{04B816D6-8E17-46AF-9CBE-9B32931D459F}"/>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Start</a:t>
              </a:r>
              <a:endParaRPr lang="en-US" sz="1100" dirty="0">
                <a:latin typeface="Consolas" panose="020B0609020204030204" pitchFamily="49" charset="0"/>
              </a:endParaRPr>
            </a:p>
          </p:txBody>
        </p:sp>
        <p:cxnSp>
          <p:nvCxnSpPr>
            <p:cNvPr id="51" name="Straight Arrow Connector 45">
              <a:extLst>
                <a:ext uri="{FF2B5EF4-FFF2-40B4-BE49-F238E27FC236}">
                  <a16:creationId xmlns:a16="http://schemas.microsoft.com/office/drawing/2014/main" id="{2A5B42FE-84F4-4BB4-A3ED-280D12B95FF5}"/>
                </a:ext>
              </a:extLst>
            </p:cNvPr>
            <p:cNvCxnSpPr>
              <a:cxnSpLocks/>
              <a:stCxn id="50" idx="2"/>
              <a:endCxn id="58"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48">
              <a:extLst>
                <a:ext uri="{FF2B5EF4-FFF2-40B4-BE49-F238E27FC236}">
                  <a16:creationId xmlns:a16="http://schemas.microsoft.com/office/drawing/2014/main" id="{3FAAA3FC-207F-4FDE-B8ED-325B69426545}"/>
                </a:ext>
              </a:extLst>
            </p:cNvPr>
            <p:cNvCxnSpPr>
              <a:cxnSpLocks/>
              <a:stCxn id="57" idx="2"/>
              <a:endCxn id="53" idx="1"/>
            </p:cNvCxnSpPr>
            <p:nvPr/>
          </p:nvCxnSpPr>
          <p:spPr>
            <a:xfrm>
              <a:off x="5187375" y="4699868"/>
              <a:ext cx="809" cy="32901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Flowchart: Data 52">
              <a:extLst>
                <a:ext uri="{FF2B5EF4-FFF2-40B4-BE49-F238E27FC236}">
                  <a16:creationId xmlns:a16="http://schemas.microsoft.com/office/drawing/2014/main" id="{2C32FE91-BBE3-444A-9BD5-1AB8A804E834}"/>
                </a:ext>
              </a:extLst>
            </p:cNvPr>
            <p:cNvSpPr/>
            <p:nvPr/>
          </p:nvSpPr>
          <p:spPr>
            <a:xfrm>
              <a:off x="4039827" y="5028888"/>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Print </a:t>
              </a:r>
              <a:r>
                <a:rPr lang="en-US" sz="1100" b="1" dirty="0">
                  <a:latin typeface="Consolas" panose="020B0609020204030204" pitchFamily="49" charset="0"/>
                </a:rPr>
                <a:t>area</a:t>
              </a:r>
            </a:p>
          </p:txBody>
        </p:sp>
        <p:cxnSp>
          <p:nvCxnSpPr>
            <p:cNvPr id="54" name="Straight Arrow Connector 53">
              <a:extLst>
                <a:ext uri="{FF2B5EF4-FFF2-40B4-BE49-F238E27FC236}">
                  <a16:creationId xmlns:a16="http://schemas.microsoft.com/office/drawing/2014/main" id="{D7ADB84F-2870-4D58-A0F8-79E4287719F7}"/>
                </a:ext>
              </a:extLst>
            </p:cNvPr>
            <p:cNvCxnSpPr>
              <a:cxnSpLocks/>
              <a:stCxn id="53" idx="4"/>
              <a:endCxn id="49" idx="0"/>
            </p:cNvCxnSpPr>
            <p:nvPr/>
          </p:nvCxnSpPr>
          <p:spPr>
            <a:xfrm>
              <a:off x="5188184" y="5440779"/>
              <a:ext cx="0" cy="3210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Flowchart: Data 68">
              <a:extLst>
                <a:ext uri="{FF2B5EF4-FFF2-40B4-BE49-F238E27FC236}">
                  <a16:creationId xmlns:a16="http://schemas.microsoft.com/office/drawing/2014/main" id="{2AE2E912-1608-4ADC-873A-0BB756362DF1}"/>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Read radio</a:t>
              </a:r>
              <a:endParaRPr lang="en-US" sz="1100" b="1" dirty="0">
                <a:latin typeface="Consolas" panose="020B0609020204030204" pitchFamily="49" charset="0"/>
              </a:endParaRPr>
            </a:p>
          </p:txBody>
        </p:sp>
        <p:cxnSp>
          <p:nvCxnSpPr>
            <p:cNvPr id="56" name="Straight Arrow Connector 47">
              <a:extLst>
                <a:ext uri="{FF2B5EF4-FFF2-40B4-BE49-F238E27FC236}">
                  <a16:creationId xmlns:a16="http://schemas.microsoft.com/office/drawing/2014/main" id="{2CAFA9F1-6020-4479-A998-A08C323F6D61}"/>
                </a:ext>
              </a:extLst>
            </p:cNvPr>
            <p:cNvCxnSpPr>
              <a:cxnSpLocks/>
              <a:stCxn id="55" idx="4"/>
              <a:endCxn id="57" idx="0"/>
            </p:cNvCxnSpPr>
            <p:nvPr/>
          </p:nvCxnSpPr>
          <p:spPr>
            <a:xfrm>
              <a:off x="5185097" y="3938138"/>
              <a:ext cx="2278" cy="34983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Flowchart: Process 42">
              <a:extLst>
                <a:ext uri="{FF2B5EF4-FFF2-40B4-BE49-F238E27FC236}">
                  <a16:creationId xmlns:a16="http://schemas.microsoft.com/office/drawing/2014/main" id="{939AC112-AB92-4598-9870-C8C136482459}"/>
                </a:ext>
              </a:extLst>
            </p:cNvPr>
            <p:cNvSpPr/>
            <p:nvPr/>
          </p:nvSpPr>
          <p:spPr>
            <a:xfrm>
              <a:off x="3803911" y="4287976"/>
              <a:ext cx="2766928"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area </a:t>
              </a:r>
              <a:r>
                <a:rPr lang="en-US" sz="1100" dirty="0">
                  <a:latin typeface="Consolas" panose="020B0609020204030204" pitchFamily="49" charset="0"/>
                </a:rPr>
                <a:t> PI * (radio**2)</a:t>
              </a:r>
            </a:p>
          </p:txBody>
        </p:sp>
        <p:sp>
          <p:nvSpPr>
            <p:cNvPr id="58" name="Flowchart: Process 42">
              <a:extLst>
                <a:ext uri="{FF2B5EF4-FFF2-40B4-BE49-F238E27FC236}">
                  <a16:creationId xmlns:a16="http://schemas.microsoft.com/office/drawing/2014/main" id="{705768AC-40EB-4F54-9B7A-4B6721B48CB4}"/>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PI </a:t>
              </a:r>
              <a:r>
                <a:rPr lang="en-US" sz="1100" dirty="0">
                  <a:latin typeface="Consolas" panose="020B0609020204030204" pitchFamily="49" charset="0"/>
                </a:rPr>
                <a:t> 3.14</a:t>
              </a:r>
            </a:p>
          </p:txBody>
        </p:sp>
        <p:cxnSp>
          <p:nvCxnSpPr>
            <p:cNvPr id="59" name="Straight Arrow Connector 45">
              <a:extLst>
                <a:ext uri="{FF2B5EF4-FFF2-40B4-BE49-F238E27FC236}">
                  <a16:creationId xmlns:a16="http://schemas.microsoft.com/office/drawing/2014/main" id="{91478818-6B4B-45FF-98AD-BF3B2CB0DBB9}"/>
                </a:ext>
              </a:extLst>
            </p:cNvPr>
            <p:cNvCxnSpPr>
              <a:cxnSpLocks/>
              <a:endCxn id="55"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46" name="CuadroTexto 45">
            <a:extLst>
              <a:ext uri="{FF2B5EF4-FFF2-40B4-BE49-F238E27FC236}">
                <a16:creationId xmlns:a16="http://schemas.microsoft.com/office/drawing/2014/main" id="{32914610-6F7A-4527-8E9C-050027DA007A}"/>
              </a:ext>
            </a:extLst>
          </p:cNvPr>
          <p:cNvSpPr txBox="1"/>
          <p:nvPr/>
        </p:nvSpPr>
        <p:spPr>
          <a:xfrm>
            <a:off x="3135299" y="2022522"/>
            <a:ext cx="5287042" cy="1432110"/>
          </a:xfrm>
          <a:prstGeom prst="rect">
            <a:avLst/>
          </a:prstGeom>
          <a:noFill/>
          <a:ln>
            <a:solidFill>
              <a:schemeClr val="tx1"/>
            </a:solidFill>
          </a:ln>
        </p:spPr>
        <p:txBody>
          <a:bodyPr wrap="square">
            <a:spAutoFit/>
          </a:bodyPr>
          <a:lstStyle/>
          <a:p>
            <a:r>
              <a:rPr lang="es-CO" sz="1400" b="1" dirty="0">
                <a:latin typeface="Consolas" panose="020B0609020204030204" pitchFamily="49" charset="0"/>
              </a:rPr>
              <a:t>Inicio</a:t>
            </a:r>
            <a:endParaRPr lang="es-CO" sz="1400" dirty="0">
              <a:latin typeface="Consolas" panose="020B0609020204030204" pitchFamily="49" charset="0"/>
            </a:endParaRPr>
          </a:p>
          <a:p>
            <a:r>
              <a:rPr lang="es-CO" sz="1400" dirty="0">
                <a:latin typeface="Consolas" panose="020B0609020204030204" pitchFamily="49" charset="0"/>
              </a:rPr>
              <a:t>  PI = 3.14</a:t>
            </a:r>
          </a:p>
          <a:p>
            <a:r>
              <a:rPr lang="es-CO" sz="1400" dirty="0">
                <a:latin typeface="Consolas" panose="020B0609020204030204" pitchFamily="49" charset="0"/>
              </a:rPr>
              <a:t>  Leer(radio)</a:t>
            </a:r>
          </a:p>
          <a:p>
            <a:r>
              <a:rPr lang="es-CO" sz="1400" dirty="0">
                <a:latin typeface="Consolas" panose="020B0609020204030204" pitchFamily="49" charset="0"/>
              </a:rPr>
              <a:t>  area = PI*(radio**2)</a:t>
            </a:r>
          </a:p>
          <a:p>
            <a:r>
              <a:rPr lang="es-CO" sz="1400" dirty="0">
                <a:latin typeface="Consolas" panose="020B0609020204030204" pitchFamily="49" charset="0"/>
              </a:rPr>
              <a:t>  Escribir(area)</a:t>
            </a:r>
          </a:p>
          <a:p>
            <a:r>
              <a:rPr lang="es-CO" sz="1400" b="1" dirty="0">
                <a:latin typeface="Consolas" panose="020B0609020204030204" pitchFamily="49" charset="0"/>
              </a:rPr>
              <a:t>Fin</a:t>
            </a:r>
          </a:p>
        </p:txBody>
      </p:sp>
      <p:pic>
        <p:nvPicPr>
          <p:cNvPr id="60" name="Imagen 59">
            <a:extLst>
              <a:ext uri="{FF2B5EF4-FFF2-40B4-BE49-F238E27FC236}">
                <a16:creationId xmlns:a16="http://schemas.microsoft.com/office/drawing/2014/main" id="{7A48369B-F708-4C04-A806-ECC6D30785E3}"/>
              </a:ext>
            </a:extLst>
          </p:cNvPr>
          <p:cNvPicPr>
            <a:picLocks noChangeAspect="1"/>
          </p:cNvPicPr>
          <p:nvPr/>
        </p:nvPicPr>
        <p:blipFill>
          <a:blip r:embed="rId2"/>
          <a:stretch>
            <a:fillRect/>
          </a:stretch>
        </p:blipFill>
        <p:spPr>
          <a:xfrm>
            <a:off x="8540355" y="4899791"/>
            <a:ext cx="424133" cy="434123"/>
          </a:xfrm>
          <a:prstGeom prst="rect">
            <a:avLst/>
          </a:prstGeom>
        </p:spPr>
      </p:pic>
      <p:sp>
        <p:nvSpPr>
          <p:cNvPr id="61" name="CuadroTexto 60">
            <a:extLst>
              <a:ext uri="{FF2B5EF4-FFF2-40B4-BE49-F238E27FC236}">
                <a16:creationId xmlns:a16="http://schemas.microsoft.com/office/drawing/2014/main" id="{812530CA-92E4-47CA-B780-8F6C9DFEEF16}"/>
              </a:ext>
            </a:extLst>
          </p:cNvPr>
          <p:cNvSpPr txBox="1"/>
          <p:nvPr/>
        </p:nvSpPr>
        <p:spPr>
          <a:xfrm>
            <a:off x="5382776" y="6109538"/>
            <a:ext cx="792088" cy="276999"/>
          </a:xfrm>
          <a:prstGeom prst="rect">
            <a:avLst/>
          </a:prstGeom>
          <a:noFill/>
        </p:spPr>
        <p:txBody>
          <a:bodyPr wrap="square">
            <a:spAutoFit/>
          </a:bodyPr>
          <a:lstStyle/>
          <a:p>
            <a:pPr algn="ctr"/>
            <a:r>
              <a:rPr lang="es-ES" sz="1200" dirty="0">
                <a:hlinkClick r:id="rId3"/>
              </a:rPr>
              <a:t>link</a:t>
            </a:r>
            <a:endParaRPr lang="es-CO" sz="1200" dirty="0"/>
          </a:p>
        </p:txBody>
      </p:sp>
    </p:spTree>
    <p:extLst>
      <p:ext uri="{BB962C8B-B14F-4D97-AF65-F5344CB8AC3E}">
        <p14:creationId xmlns:p14="http://schemas.microsoft.com/office/powerpoint/2010/main" val="809590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188640"/>
            <a:ext cx="7886700" cy="1116540"/>
          </a:xfrm>
        </p:spPr>
        <p:txBody>
          <a:bodyPr/>
          <a:lstStyle/>
          <a:p>
            <a:r>
              <a:rPr lang="es-CO" sz="3200" dirty="0"/>
              <a:t>Codificación de algoritmos en Python</a:t>
            </a:r>
          </a:p>
        </p:txBody>
      </p:sp>
      <p:sp>
        <p:nvSpPr>
          <p:cNvPr id="2" name="1 Marcador de contenido"/>
          <p:cNvSpPr>
            <a:spLocks noGrp="1"/>
          </p:cNvSpPr>
          <p:nvPr>
            <p:ph idx="1"/>
          </p:nvPr>
        </p:nvSpPr>
        <p:spPr>
          <a:xfrm>
            <a:off x="359840" y="1268760"/>
            <a:ext cx="8352605" cy="477101"/>
          </a:xfrm>
          <a:ln>
            <a:noFill/>
          </a:ln>
        </p:spPr>
        <p:txBody>
          <a:bodyPr>
            <a:normAutofit/>
          </a:bodyPr>
          <a:lstStyle/>
          <a:p>
            <a:pPr marL="0" indent="0">
              <a:buNone/>
            </a:pPr>
            <a:r>
              <a:rPr lang="es-CO" sz="2200" b="1" dirty="0">
                <a:solidFill>
                  <a:srgbClr val="FF0000"/>
                </a:solidFill>
              </a:rPr>
              <a:t>Ejemplo 3</a:t>
            </a:r>
            <a:r>
              <a:rPr lang="es-CO" sz="2200" dirty="0">
                <a:solidFill>
                  <a:srgbClr val="FF0000"/>
                </a:solidFill>
              </a:rPr>
              <a:t>:</a:t>
            </a:r>
            <a:r>
              <a:rPr lang="es-CO" sz="2200" dirty="0"/>
              <a:t> </a:t>
            </a:r>
            <a:r>
              <a:rPr lang="es-MX" sz="2200" dirty="0"/>
              <a:t>Hacer un algoritmo que calcule el área de un circulo</a:t>
            </a:r>
          </a:p>
        </p:txBody>
      </p:sp>
      <p:sp>
        <p:nvSpPr>
          <p:cNvPr id="28" name="CuadroTexto 27">
            <a:extLst>
              <a:ext uri="{FF2B5EF4-FFF2-40B4-BE49-F238E27FC236}">
                <a16:creationId xmlns:a16="http://schemas.microsoft.com/office/drawing/2014/main" id="{EC7EC286-1529-429A-96DF-A7244848F368}"/>
              </a:ext>
            </a:extLst>
          </p:cNvPr>
          <p:cNvSpPr txBox="1"/>
          <p:nvPr/>
        </p:nvSpPr>
        <p:spPr>
          <a:xfrm>
            <a:off x="467544" y="1772816"/>
            <a:ext cx="5287042" cy="2123658"/>
          </a:xfrm>
          <a:prstGeom prst="rect">
            <a:avLst/>
          </a:prstGeom>
          <a:noFill/>
          <a:ln>
            <a:solidFill>
              <a:schemeClr val="tx1"/>
            </a:solidFill>
          </a:ln>
        </p:spPr>
        <p:txBody>
          <a:bodyPr wrap="square">
            <a:spAutoFit/>
          </a:bodyPr>
          <a:lstStyle/>
          <a:p>
            <a:r>
              <a:rPr lang="es-CO" sz="1200" b="0" dirty="0">
                <a:effectLst/>
                <a:latin typeface="Consolas" panose="020B0609020204030204" pitchFamily="49" charset="0"/>
              </a:rPr>
              <a:t># Inicialización de variables</a:t>
            </a:r>
          </a:p>
          <a:p>
            <a:r>
              <a:rPr lang="es-CO" sz="1200" b="0" dirty="0">
                <a:effectLst/>
                <a:latin typeface="Consolas" panose="020B0609020204030204" pitchFamily="49" charset="0"/>
              </a:rPr>
              <a:t>PI = 3.14</a:t>
            </a:r>
          </a:p>
          <a:p>
            <a:br>
              <a:rPr lang="es-CO" sz="1200" b="0" dirty="0">
                <a:effectLst/>
                <a:latin typeface="Consolas" panose="020B0609020204030204" pitchFamily="49" charset="0"/>
              </a:rPr>
            </a:br>
            <a:r>
              <a:rPr lang="es-CO" sz="1200" b="0" dirty="0">
                <a:effectLst/>
                <a:latin typeface="Consolas" panose="020B0609020204030204" pitchFamily="49" charset="0"/>
              </a:rPr>
              <a:t># Entrada de datos</a:t>
            </a:r>
          </a:p>
          <a:p>
            <a:r>
              <a:rPr lang="es-CO" sz="1200" b="0" dirty="0">
                <a:effectLst/>
                <a:latin typeface="Consolas" panose="020B0609020204030204" pitchFamily="49" charset="0"/>
              </a:rPr>
              <a:t>radio = </a:t>
            </a:r>
            <a:r>
              <a:rPr lang="es-CO" sz="1200" b="0" dirty="0" err="1">
                <a:effectLst/>
                <a:latin typeface="Consolas" panose="020B0609020204030204" pitchFamily="49" charset="0"/>
              </a:rPr>
              <a:t>float</a:t>
            </a:r>
            <a:r>
              <a:rPr lang="es-CO" sz="1200" b="0" dirty="0">
                <a:effectLst/>
                <a:latin typeface="Consolas" panose="020B0609020204030204" pitchFamily="49" charset="0"/>
              </a:rPr>
              <a:t>(input("Ingrese el radio del círculo: "))</a:t>
            </a:r>
          </a:p>
          <a:p>
            <a:br>
              <a:rPr lang="es-CO" sz="1200" b="0" dirty="0">
                <a:effectLst/>
                <a:latin typeface="Consolas" panose="020B0609020204030204" pitchFamily="49" charset="0"/>
              </a:rPr>
            </a:br>
            <a:r>
              <a:rPr lang="es-CO" sz="1200" b="0" dirty="0">
                <a:effectLst/>
                <a:latin typeface="Consolas" panose="020B0609020204030204" pitchFamily="49" charset="0"/>
              </a:rPr>
              <a:t># Calculo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err="1">
                <a:effectLst/>
                <a:latin typeface="Consolas" panose="020B0609020204030204" pitchFamily="49" charset="0"/>
              </a:rPr>
              <a:t>area</a:t>
            </a:r>
            <a:r>
              <a:rPr lang="es-CO" sz="1200" b="0" dirty="0">
                <a:effectLst/>
                <a:latin typeface="Consolas" panose="020B0609020204030204" pitchFamily="49" charset="0"/>
              </a:rPr>
              <a:t> = PI * radio ** 2</a:t>
            </a:r>
          </a:p>
          <a:p>
            <a:br>
              <a:rPr lang="es-CO" sz="1200" b="0" dirty="0">
                <a:effectLst/>
                <a:latin typeface="Consolas" panose="020B0609020204030204" pitchFamily="49" charset="0"/>
              </a:rPr>
            </a:br>
            <a:r>
              <a:rPr lang="es-CO" sz="1200" b="0" dirty="0">
                <a:effectLst/>
                <a:latin typeface="Consolas" panose="020B0609020204030204" pitchFamily="49" charset="0"/>
              </a:rPr>
              <a:t># </a:t>
            </a:r>
            <a:r>
              <a:rPr lang="es-CO" sz="1200" b="0" dirty="0" err="1">
                <a:effectLst/>
                <a:latin typeface="Consolas" panose="020B0609020204030204" pitchFamily="49" charset="0"/>
              </a:rPr>
              <a:t>Despligue</a:t>
            </a:r>
            <a:r>
              <a:rPr lang="es-CO" sz="1200" b="0" dirty="0">
                <a:effectLst/>
                <a:latin typeface="Consolas" panose="020B0609020204030204" pitchFamily="49" charset="0"/>
              </a:rPr>
              <a:t> del </a:t>
            </a:r>
            <a:r>
              <a:rPr lang="es-CO" sz="1200" b="0" dirty="0" err="1">
                <a:effectLst/>
                <a:latin typeface="Consolas" panose="020B0609020204030204" pitchFamily="49" charset="0"/>
              </a:rPr>
              <a:t>area</a:t>
            </a:r>
            <a:endParaRPr lang="es-CO" sz="1200" b="0" dirty="0">
              <a:effectLst/>
              <a:latin typeface="Consolas" panose="020B0609020204030204" pitchFamily="49" charset="0"/>
            </a:endParaRPr>
          </a:p>
          <a:p>
            <a:r>
              <a:rPr lang="es-CO" sz="1200" b="0" dirty="0">
                <a:effectLst/>
                <a:latin typeface="Consolas" panose="020B0609020204030204" pitchFamily="49" charset="0"/>
              </a:rPr>
              <a:t>print(</a:t>
            </a:r>
            <a:r>
              <a:rPr lang="es-CO" sz="1200" b="0" dirty="0" err="1">
                <a:effectLst/>
                <a:latin typeface="Consolas" panose="020B0609020204030204" pitchFamily="49" charset="0"/>
              </a:rPr>
              <a:t>f"El</a:t>
            </a:r>
            <a:r>
              <a:rPr lang="es-CO" sz="1200" b="0" dirty="0">
                <a:effectLst/>
                <a:latin typeface="Consolas" panose="020B0609020204030204" pitchFamily="49" charset="0"/>
              </a:rPr>
              <a:t> </a:t>
            </a:r>
            <a:r>
              <a:rPr lang="es-CO" sz="1200" b="0" dirty="0" err="1">
                <a:effectLst/>
                <a:latin typeface="Consolas" panose="020B0609020204030204" pitchFamily="49" charset="0"/>
              </a:rPr>
              <a:t>area</a:t>
            </a:r>
            <a:r>
              <a:rPr lang="es-CO" sz="1200" b="0" dirty="0">
                <a:effectLst/>
                <a:latin typeface="Consolas" panose="020B0609020204030204" pitchFamily="49" charset="0"/>
              </a:rPr>
              <a:t> del círculo de radio {radio} es: {</a:t>
            </a:r>
            <a:r>
              <a:rPr lang="es-CO" sz="1200" b="0" dirty="0" err="1">
                <a:effectLst/>
                <a:latin typeface="Consolas" panose="020B0609020204030204" pitchFamily="49" charset="0"/>
              </a:rPr>
              <a:t>area</a:t>
            </a:r>
            <a:r>
              <a:rPr lang="es-CO" sz="1200" b="0" dirty="0">
                <a:effectLst/>
                <a:latin typeface="Consolas" panose="020B0609020204030204" pitchFamily="49" charset="0"/>
              </a:rPr>
              <a:t>}")</a:t>
            </a:r>
          </a:p>
        </p:txBody>
      </p:sp>
      <p:graphicFrame>
        <p:nvGraphicFramePr>
          <p:cNvPr id="18" name="Tabla 5">
            <a:extLst>
              <a:ext uri="{FF2B5EF4-FFF2-40B4-BE49-F238E27FC236}">
                <a16:creationId xmlns:a16="http://schemas.microsoft.com/office/drawing/2014/main" id="{4F88E115-89BB-4FAA-AADC-9A13840135DA}"/>
              </a:ext>
            </a:extLst>
          </p:cNvPr>
          <p:cNvGraphicFramePr>
            <a:graphicFrameLocks noGrp="1"/>
          </p:cNvGraphicFramePr>
          <p:nvPr>
            <p:extLst>
              <p:ext uri="{D42A27DB-BD31-4B8C-83A1-F6EECF244321}">
                <p14:modId xmlns:p14="http://schemas.microsoft.com/office/powerpoint/2010/main" val="724315898"/>
              </p:ext>
            </p:extLst>
          </p:nvPr>
        </p:nvGraphicFramePr>
        <p:xfrm>
          <a:off x="467544" y="4465841"/>
          <a:ext cx="2448858" cy="1219200"/>
        </p:xfrm>
        <a:graphic>
          <a:graphicData uri="http://schemas.openxmlformats.org/drawingml/2006/table">
            <a:tbl>
              <a:tblPr firstRow="1" bandRow="1">
                <a:tableStyleId>{7E9639D4-E3E2-4D34-9284-5A2195B3D0D7}</a:tableStyleId>
              </a:tblPr>
              <a:tblGrid>
                <a:gridCol w="1008698">
                  <a:extLst>
                    <a:ext uri="{9D8B030D-6E8A-4147-A177-3AD203B41FA5}">
                      <a16:colId xmlns:a16="http://schemas.microsoft.com/office/drawing/2014/main" val="101718729"/>
                    </a:ext>
                  </a:extLst>
                </a:gridCol>
                <a:gridCol w="1440160">
                  <a:extLst>
                    <a:ext uri="{9D8B030D-6E8A-4147-A177-3AD203B41FA5}">
                      <a16:colId xmlns:a16="http://schemas.microsoft.com/office/drawing/2014/main" val="3468495707"/>
                    </a:ext>
                  </a:extLst>
                </a:gridCol>
              </a:tblGrid>
              <a:tr h="224079">
                <a:tc>
                  <a:txBody>
                    <a:bodyPr/>
                    <a:lstStyle/>
                    <a:p>
                      <a:pPr algn="ctr"/>
                      <a:r>
                        <a:rPr lang="es-CO" sz="1400" b="1" dirty="0">
                          <a:latin typeface="+mn-lt"/>
                        </a:rPr>
                        <a:t>Entradas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Salidas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868271"/>
                  </a:ext>
                </a:extLst>
              </a:tr>
              <a:tr h="224079">
                <a:tc>
                  <a:txBody>
                    <a:bodyPr/>
                    <a:lstStyle/>
                    <a:p>
                      <a:pPr algn="ctr"/>
                      <a:r>
                        <a:rPr lang="es-CO" sz="1400" b="1" dirty="0"/>
                        <a:t>radio</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area</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789806"/>
                  </a:ext>
                </a:extLst>
              </a:tr>
              <a:tr h="224079">
                <a:tc>
                  <a:txBody>
                    <a:bodyPr/>
                    <a:lstStyle/>
                    <a:p>
                      <a:pPr algn="ctr"/>
                      <a:r>
                        <a:rPr lang="es-CO" sz="1400" strike="noStrike"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dirty="0"/>
                        <a:t>314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237131"/>
                  </a:ext>
                </a:extLst>
              </a:tr>
              <a:tr h="224079">
                <a:tc>
                  <a:txBody>
                    <a:bodyPr/>
                    <a:lstStyle/>
                    <a:p>
                      <a:pPr algn="ctr"/>
                      <a:r>
                        <a:rPr lang="es-CO" sz="1400" strike="noStrike" dirty="0"/>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dirty="0"/>
                        <a:t>21.237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889482"/>
                  </a:ext>
                </a:extLst>
              </a:tr>
            </a:tbl>
          </a:graphicData>
        </a:graphic>
      </p:graphicFrame>
      <p:pic>
        <p:nvPicPr>
          <p:cNvPr id="4" name="Imagen 3">
            <a:extLst>
              <a:ext uri="{FF2B5EF4-FFF2-40B4-BE49-F238E27FC236}">
                <a16:creationId xmlns:a16="http://schemas.microsoft.com/office/drawing/2014/main" id="{C3AF9C73-1CC7-4CC1-8832-1B2E89EBC1BE}"/>
              </a:ext>
            </a:extLst>
          </p:cNvPr>
          <p:cNvPicPr>
            <a:picLocks noChangeAspect="1"/>
          </p:cNvPicPr>
          <p:nvPr/>
        </p:nvPicPr>
        <p:blipFill>
          <a:blip r:embed="rId2"/>
          <a:stretch>
            <a:fillRect/>
          </a:stretch>
        </p:blipFill>
        <p:spPr>
          <a:xfrm>
            <a:off x="3923928" y="4218727"/>
            <a:ext cx="5044704" cy="2545707"/>
          </a:xfrm>
          <a:prstGeom prst="rect">
            <a:avLst/>
          </a:prstGeom>
        </p:spPr>
      </p:pic>
      <p:pic>
        <p:nvPicPr>
          <p:cNvPr id="21" name="Imagen 20">
            <a:extLst>
              <a:ext uri="{FF2B5EF4-FFF2-40B4-BE49-F238E27FC236}">
                <a16:creationId xmlns:a16="http://schemas.microsoft.com/office/drawing/2014/main" id="{9EEBE094-7C5B-4A22-AA27-17C629AEE9C4}"/>
              </a:ext>
            </a:extLst>
          </p:cNvPr>
          <p:cNvPicPr>
            <a:picLocks noChangeAspect="1"/>
          </p:cNvPicPr>
          <p:nvPr/>
        </p:nvPicPr>
        <p:blipFill>
          <a:blip r:embed="rId3"/>
          <a:stretch>
            <a:fillRect/>
          </a:stretch>
        </p:blipFill>
        <p:spPr>
          <a:xfrm>
            <a:off x="5938935" y="2636912"/>
            <a:ext cx="424133" cy="434123"/>
          </a:xfrm>
          <a:prstGeom prst="rect">
            <a:avLst/>
          </a:prstGeom>
        </p:spPr>
      </p:pic>
      <p:sp>
        <p:nvSpPr>
          <p:cNvPr id="22" name="CuadroTexto 21">
            <a:extLst>
              <a:ext uri="{FF2B5EF4-FFF2-40B4-BE49-F238E27FC236}">
                <a16:creationId xmlns:a16="http://schemas.microsoft.com/office/drawing/2014/main" id="{ECE89B1A-3987-40A4-A405-09AE065DADD3}"/>
              </a:ext>
            </a:extLst>
          </p:cNvPr>
          <p:cNvSpPr txBox="1"/>
          <p:nvPr/>
        </p:nvSpPr>
        <p:spPr>
          <a:xfrm>
            <a:off x="2715021" y="3888613"/>
            <a:ext cx="792088" cy="276999"/>
          </a:xfrm>
          <a:prstGeom prst="rect">
            <a:avLst/>
          </a:prstGeom>
          <a:noFill/>
        </p:spPr>
        <p:txBody>
          <a:bodyPr wrap="square">
            <a:spAutoFit/>
          </a:bodyPr>
          <a:lstStyle/>
          <a:p>
            <a:pPr algn="ctr"/>
            <a:r>
              <a:rPr lang="es-ES" sz="1200" dirty="0">
                <a:hlinkClick r:id="rId4"/>
              </a:rPr>
              <a:t>link</a:t>
            </a:r>
            <a:endParaRPr lang="es-CO" sz="1200" dirty="0"/>
          </a:p>
        </p:txBody>
      </p:sp>
    </p:spTree>
    <p:extLst>
      <p:ext uri="{BB962C8B-B14F-4D97-AF65-F5344CB8AC3E}">
        <p14:creationId xmlns:p14="http://schemas.microsoft.com/office/powerpoint/2010/main" val="1782730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188640"/>
            <a:ext cx="7886700" cy="1116540"/>
          </a:xfrm>
        </p:spPr>
        <p:txBody>
          <a:bodyPr/>
          <a:lstStyle/>
          <a:p>
            <a:r>
              <a:rPr lang="en-US" sz="3200" dirty="0"/>
              <a:t>Ejercicios de repaso</a:t>
            </a:r>
          </a:p>
        </p:txBody>
      </p:sp>
      <p:sp>
        <p:nvSpPr>
          <p:cNvPr id="2" name="Content Placeholder 1"/>
          <p:cNvSpPr>
            <a:spLocks noGrp="1"/>
          </p:cNvSpPr>
          <p:nvPr>
            <p:ph idx="1"/>
          </p:nvPr>
        </p:nvSpPr>
        <p:spPr>
          <a:xfrm>
            <a:off x="319314" y="1124744"/>
            <a:ext cx="8465154" cy="5472608"/>
          </a:xfrm>
        </p:spPr>
        <p:txBody>
          <a:bodyPr>
            <a:normAutofit fontScale="92500" lnSpcReduction="10000"/>
          </a:bodyPr>
          <a:lstStyle/>
          <a:p>
            <a:pPr marL="0" indent="0">
              <a:buNone/>
            </a:pPr>
            <a:r>
              <a:rPr lang="es-CO" sz="2000" dirty="0"/>
              <a:t>Después de haber realizado en pseudocodigo o diagrama de flujo la representación de los algoritmos que se muestran a continuación, realice la codificación en Python y pruebe su funcionamiento.</a:t>
            </a:r>
          </a:p>
          <a:p>
            <a:pPr marL="457200" indent="-457200">
              <a:buFont typeface="+mj-lt"/>
              <a:buAutoNum type="arabicPeriod"/>
            </a:pPr>
            <a:r>
              <a:rPr lang="es-CO" sz="2000" dirty="0"/>
              <a:t>Hacer un programa que calcule el área y el perímetro de un circulo dado su radio.</a:t>
            </a:r>
          </a:p>
          <a:p>
            <a:pPr marL="457200" indent="-457200">
              <a:buFont typeface="+mj-lt"/>
              <a:buAutoNum type="arabicPeriod"/>
            </a:pPr>
            <a:r>
              <a:rPr lang="es-CO" sz="2000" dirty="0"/>
              <a:t>Hacer un programa que solicite el nombre, la identificación, el número de horas trabajadas y el valor por hora y realice el cálculo del salario neto teniendo en cuenta que se cobra un impuesto del 10% por salud y un 5% debido a pensiones.</a:t>
            </a:r>
          </a:p>
          <a:p>
            <a:pPr marL="457200" indent="-457200">
              <a:buFont typeface="+mj-lt"/>
              <a:buAutoNum type="arabicPeriod"/>
            </a:pPr>
            <a:r>
              <a:rPr lang="es-CO" sz="2000" dirty="0"/>
              <a:t>Hacer un programa que pida el nombre y la edad (en años) y retorne un mensaje con el nombre y la edad en días.</a:t>
            </a:r>
          </a:p>
          <a:p>
            <a:pPr marL="457200" indent="-457200">
              <a:buFont typeface="+mj-lt"/>
              <a:buAutoNum type="arabicPeriod"/>
            </a:pPr>
            <a:r>
              <a:rPr lang="es-CO" sz="2000" dirty="0"/>
              <a:t>Hacer un programa que solicite los 2 catetos de un triangulo rectángulo y calcule su hipotenusa.</a:t>
            </a:r>
          </a:p>
          <a:p>
            <a:pPr marL="457200" indent="-457200">
              <a:buFont typeface="+mj-lt"/>
              <a:buAutoNum type="arabicPeriod"/>
            </a:pPr>
            <a:r>
              <a:rPr lang="es-CO" sz="2000" dirty="0"/>
              <a:t>Diseñar un algoritmo que lea dos valores reales y nos muestre los resultados de sumar, restar, dividir y multiplicar dichos números.</a:t>
            </a:r>
          </a:p>
          <a:p>
            <a:pPr marL="457200" indent="-457200">
              <a:buFont typeface="+mj-lt"/>
              <a:buAutoNum type="arabicPeriod"/>
            </a:pPr>
            <a:r>
              <a:rPr lang="es-CO" sz="2000" dirty="0"/>
              <a:t>Si una persona corta sus uñas en promedio una vez por cada 1.5 semanas, dada la edad de una persona calcular cuantas veces ha cortado sus uñas en toda su vida. Adicionalmente, si en cada corte en promedio obtiene 0.5 gramos del material de la uñas cuantos kilos lleva en su existencia.</a:t>
            </a:r>
            <a:endParaRPr lang="en-US" sz="2000" dirty="0"/>
          </a:p>
        </p:txBody>
      </p:sp>
    </p:spTree>
    <p:extLst>
      <p:ext uri="{BB962C8B-B14F-4D97-AF65-F5344CB8AC3E}">
        <p14:creationId xmlns:p14="http://schemas.microsoft.com/office/powerpoint/2010/main" val="2450219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836712"/>
            <a:ext cx="7886700" cy="1116540"/>
          </a:xfrm>
        </p:spPr>
        <p:txBody>
          <a:bodyPr/>
          <a:lstStyle/>
          <a:p>
            <a:r>
              <a:rPr lang="en-US" sz="2800" dirty="0"/>
              <a:t>Referencias</a:t>
            </a:r>
          </a:p>
        </p:txBody>
      </p:sp>
      <p:sp>
        <p:nvSpPr>
          <p:cNvPr id="2" name="Content Placeholder 1"/>
          <p:cNvSpPr>
            <a:spLocks noGrp="1"/>
          </p:cNvSpPr>
          <p:nvPr>
            <p:ph idx="1"/>
          </p:nvPr>
        </p:nvSpPr>
        <p:spPr>
          <a:xfrm>
            <a:off x="251520" y="1767990"/>
            <a:ext cx="8424936" cy="4968552"/>
          </a:xfrm>
        </p:spPr>
        <p:txBody>
          <a:bodyPr>
            <a:normAutofit/>
          </a:bodyPr>
          <a:lstStyle/>
          <a:p>
            <a:pPr marL="457200" indent="-457200">
              <a:buFont typeface="+mj-lt"/>
              <a:buAutoNum type="arabicPeriod"/>
            </a:pPr>
            <a:r>
              <a:rPr lang="es-CO" sz="2000" dirty="0">
                <a:hlinkClick r:id="rId2"/>
              </a:rPr>
              <a:t>https://ellibrodepython.com/</a:t>
            </a:r>
            <a:endParaRPr lang="es-CO" sz="2000" dirty="0"/>
          </a:p>
          <a:p>
            <a:pPr marL="457200" indent="-457200">
              <a:buFont typeface="+mj-lt"/>
              <a:buAutoNum type="arabicPeriod"/>
            </a:pPr>
            <a:r>
              <a:rPr lang="es-CO" sz="2000" dirty="0">
                <a:hlinkClick r:id="rId3"/>
              </a:rPr>
              <a:t>https://www.w3resource.com/index.php</a:t>
            </a:r>
            <a:endParaRPr lang="es-CO" sz="2000" dirty="0"/>
          </a:p>
          <a:p>
            <a:pPr marL="457200" indent="-457200">
              <a:buFont typeface="+mj-lt"/>
              <a:buAutoNum type="arabicPeriod"/>
            </a:pPr>
            <a:r>
              <a:rPr lang="es-CO" sz="2000" dirty="0">
                <a:hlinkClick r:id="rId4"/>
              </a:rPr>
              <a:t>https://realpython.com/</a:t>
            </a:r>
            <a:endParaRPr lang="es-CO" sz="2000" dirty="0"/>
          </a:p>
          <a:p>
            <a:pPr marL="457200" indent="-457200">
              <a:buFont typeface="+mj-lt"/>
              <a:buAutoNum type="arabicPeriod"/>
            </a:pPr>
            <a:r>
              <a:rPr lang="es-CO" sz="2000" dirty="0">
                <a:hlinkClick r:id="rId5"/>
              </a:rPr>
              <a:t>https://curriculumresources.edu.gh/wp-content/uploads/2025/01/</a:t>
            </a:r>
            <a:endParaRPr lang="es-CO" sz="2000" dirty="0"/>
          </a:p>
          <a:p>
            <a:pPr marL="457200" indent="-457200">
              <a:buFont typeface="+mj-lt"/>
              <a:buAutoNum type="arabicPeriod"/>
            </a:pPr>
            <a:r>
              <a:rPr lang="es-CO" sz="2000" dirty="0">
                <a:hlinkClick r:id="rId6"/>
              </a:rPr>
              <a:t>https://python-course.eu/</a:t>
            </a:r>
            <a:endParaRPr lang="es-CO" sz="2000" dirty="0"/>
          </a:p>
          <a:p>
            <a:pPr marL="457200" indent="-457200">
              <a:buFont typeface="+mj-lt"/>
              <a:buAutoNum type="arabicPeriod"/>
            </a:pPr>
            <a:r>
              <a:rPr lang="es-CO" sz="2000" dirty="0">
                <a:hlinkClick r:id="rId7"/>
              </a:rPr>
              <a:t>https://realpython.com/cheatsheets/python/</a:t>
            </a:r>
            <a:r>
              <a:rPr lang="es-CO" sz="2000" dirty="0"/>
              <a:t>    </a:t>
            </a:r>
            <a:endParaRPr lang="en-US" sz="2000" dirty="0"/>
          </a:p>
        </p:txBody>
      </p:sp>
    </p:spTree>
    <p:extLst>
      <p:ext uri="{BB962C8B-B14F-4D97-AF65-F5344CB8AC3E}">
        <p14:creationId xmlns:p14="http://schemas.microsoft.com/office/powerpoint/2010/main" val="10231648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0616"/>
            <a:ext cx="7886700" cy="1325563"/>
          </a:xfrm>
        </p:spPr>
        <p:txBody>
          <a:bodyPr/>
          <a:lstStyle/>
          <a:p>
            <a:r>
              <a:rPr lang="es-CO" dirty="0"/>
              <a:t>Eso es todo amigos</a:t>
            </a:r>
            <a:endParaRPr lang="en-US" dirty="0"/>
          </a:p>
        </p:txBody>
      </p:sp>
      <p:pic>
        <p:nvPicPr>
          <p:cNvPr id="5" name="Imagen 4">
            <a:extLst>
              <a:ext uri="{FF2B5EF4-FFF2-40B4-BE49-F238E27FC236}">
                <a16:creationId xmlns:a16="http://schemas.microsoft.com/office/drawing/2014/main" id="{E03ECA8F-0420-4D74-9281-A2434A50C58D}"/>
              </a:ext>
            </a:extLst>
          </p:cNvPr>
          <p:cNvPicPr>
            <a:picLocks noChangeAspect="1"/>
          </p:cNvPicPr>
          <p:nvPr/>
        </p:nvPicPr>
        <p:blipFill>
          <a:blip r:embed="rId2"/>
          <a:stretch>
            <a:fillRect/>
          </a:stretch>
        </p:blipFill>
        <p:spPr>
          <a:xfrm>
            <a:off x="1047750" y="1476439"/>
            <a:ext cx="7048500" cy="5086350"/>
          </a:xfrm>
          <a:prstGeom prst="rect">
            <a:avLst/>
          </a:prstGeom>
        </p:spPr>
      </p:pic>
    </p:spTree>
    <p:extLst>
      <p:ext uri="{BB962C8B-B14F-4D97-AF65-F5344CB8AC3E}">
        <p14:creationId xmlns:p14="http://schemas.microsoft.com/office/powerpoint/2010/main" val="3024962735"/>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2326</TotalTime>
  <Words>4608</Words>
  <Application>Microsoft Office PowerPoint</Application>
  <PresentationFormat>Presentación en pantalla (4:3)</PresentationFormat>
  <Paragraphs>759</Paragraphs>
  <Slides>39</Slides>
  <Notes>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39</vt:i4>
      </vt:variant>
    </vt:vector>
  </HeadingPairs>
  <TitlesOfParts>
    <vt:vector size="48" baseType="lpstr">
      <vt:lpstr>Arial</vt:lpstr>
      <vt:lpstr>Calibri</vt:lpstr>
      <vt:lpstr>Calibri Light</vt:lpstr>
      <vt:lpstr>Cambria Math</vt:lpstr>
      <vt:lpstr>Century Gothic</vt:lpstr>
      <vt:lpstr>Consolas</vt:lpstr>
      <vt:lpstr>Courier New</vt:lpstr>
      <vt:lpstr>Source Sans Pro</vt:lpstr>
      <vt:lpstr>Office Theme</vt:lpstr>
      <vt:lpstr>Lógica y Representación 1</vt:lpstr>
      <vt:lpstr>Método de Polya - Resumen</vt:lpstr>
      <vt:lpstr>Resumiendo del proceso de diseño del algoritmos</vt:lpstr>
      <vt:lpstr>Pseudocodigo</vt:lpstr>
      <vt:lpstr>Sobre los programas</vt:lpstr>
      <vt:lpstr>Programa en lenguaje Python</vt:lpstr>
      <vt:lpstr>Diseño de programas</vt:lpstr>
      <vt:lpstr>Entrada, procesamiento y salida</vt:lpstr>
      <vt:lpstr>Variables</vt:lpstr>
      <vt:lpstr>Variables</vt:lpstr>
      <vt:lpstr>Variables</vt:lpstr>
      <vt:lpstr>Variables</vt:lpstr>
      <vt:lpstr>Prueba de escritorio</vt:lpstr>
      <vt:lpstr>Sobre las cadenas en python</vt:lpstr>
      <vt:lpstr>Sobre las cadenas en python</vt:lpstr>
      <vt:lpstr>Sobre las cadenas en python</vt:lpstr>
      <vt:lpstr>Sobre las cadenas en python</vt:lpstr>
      <vt:lpstr>Sobre las cadenas en python</vt:lpstr>
      <vt:lpstr>Sobre las cadenas en python</vt:lpstr>
      <vt:lpstr>Mostrando la salida con la instrucción print</vt:lpstr>
      <vt:lpstr>Mostrando la salida con la instrucción print</vt:lpstr>
      <vt:lpstr>Mostrando la salida con la instrucción print</vt:lpstr>
      <vt:lpstr>Mostrando la salida con la instrucción print</vt:lpstr>
      <vt:lpstr>Mostrando la salida con la instrucción print</vt:lpstr>
      <vt:lpstr>Entrada de datos usando input</vt:lpstr>
      <vt:lpstr>Entrada de datos usando input</vt:lpstr>
      <vt:lpstr>Entrada de datos usando input</vt:lpstr>
      <vt:lpstr>Entrada de datos usando input</vt:lpstr>
      <vt:lpstr>Comentarios</vt:lpstr>
      <vt:lpstr>Tabla resumen</vt:lpstr>
      <vt:lpstr>Codificación de algoritmos en Python</vt:lpstr>
      <vt:lpstr>Codificación de algoritmos en Python</vt:lpstr>
      <vt:lpstr>Codificación de algoritmos en Python</vt:lpstr>
      <vt:lpstr>Codificación de algoritmos en Python</vt:lpstr>
      <vt:lpstr>Codificación de algoritmos en Python</vt:lpstr>
      <vt:lpstr>Codificación de algoritmos en Python</vt:lpstr>
      <vt:lpstr>Ejercicios de repaso</vt:lpstr>
      <vt:lpstr>Referencias</vt:lpstr>
      <vt:lpstr>Eso es todo amigos</vt:lpstr>
    </vt:vector>
  </TitlesOfParts>
  <Company>Universidad de Antioquia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del curso</dc:title>
  <dc:creator>Apoyo Administrativo Ingeniería</dc:creator>
  <cp:lastModifiedBy>HENRY ALBERTO ARCILA RAMIREZ</cp:lastModifiedBy>
  <cp:revision>72</cp:revision>
  <dcterms:created xsi:type="dcterms:W3CDTF">2015-03-12T20:27:20Z</dcterms:created>
  <dcterms:modified xsi:type="dcterms:W3CDTF">2026-08-10T15:35:39Z</dcterms:modified>
</cp:coreProperties>
</file>