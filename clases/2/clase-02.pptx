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43"/>
  </p:notesMasterIdLst>
  <p:sldIdLst>
    <p:sldId id="281" r:id="rId2"/>
    <p:sldId id="259" r:id="rId3"/>
    <p:sldId id="287" r:id="rId4"/>
    <p:sldId id="305" r:id="rId5"/>
    <p:sldId id="261" r:id="rId6"/>
    <p:sldId id="306" r:id="rId7"/>
    <p:sldId id="307" r:id="rId8"/>
    <p:sldId id="308" r:id="rId9"/>
    <p:sldId id="309" r:id="rId10"/>
    <p:sldId id="289" r:id="rId11"/>
    <p:sldId id="264" r:id="rId12"/>
    <p:sldId id="342" r:id="rId13"/>
    <p:sldId id="291" r:id="rId14"/>
    <p:sldId id="320" r:id="rId15"/>
    <p:sldId id="292" r:id="rId16"/>
    <p:sldId id="294" r:id="rId17"/>
    <p:sldId id="290" r:id="rId18"/>
    <p:sldId id="312" r:id="rId19"/>
    <p:sldId id="313" r:id="rId20"/>
    <p:sldId id="314" r:id="rId21"/>
    <p:sldId id="315" r:id="rId22"/>
    <p:sldId id="316" r:id="rId23"/>
    <p:sldId id="317" r:id="rId24"/>
    <p:sldId id="318" r:id="rId25"/>
    <p:sldId id="267" r:id="rId26"/>
    <p:sldId id="319" r:id="rId27"/>
    <p:sldId id="321" r:id="rId28"/>
    <p:sldId id="322" r:id="rId29"/>
    <p:sldId id="323" r:id="rId30"/>
    <p:sldId id="324" r:id="rId31"/>
    <p:sldId id="345" r:id="rId32"/>
    <p:sldId id="341" r:id="rId33"/>
    <p:sldId id="340" r:id="rId34"/>
    <p:sldId id="325" r:id="rId35"/>
    <p:sldId id="344" r:id="rId36"/>
    <p:sldId id="338" r:id="rId37"/>
    <p:sldId id="343" r:id="rId38"/>
    <p:sldId id="346" r:id="rId39"/>
    <p:sldId id="302" r:id="rId40"/>
    <p:sldId id="310" r:id="rId41"/>
    <p:sldId id="277"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9" autoAdjust="0"/>
    <p:restoredTop sz="94684" autoAdjust="0"/>
  </p:normalViewPr>
  <p:slideViewPr>
    <p:cSldViewPr>
      <p:cViewPr varScale="1">
        <p:scale>
          <a:sx n="65" d="100"/>
          <a:sy n="65" d="100"/>
        </p:scale>
        <p:origin x="1452" y="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25531" y="128709"/>
          <a:ext cx="836875" cy="58581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1" y="296083"/>
        <a:ext cx="585812" cy="251063"/>
      </dsp:txXfrm>
    </dsp:sp>
    <dsp:sp modelId="{344A86B1-48E8-448F-9C6D-71580BFB5F83}">
      <dsp:nvSpPr>
        <dsp:cNvPr id="0" name=""/>
        <dsp:cNvSpPr/>
      </dsp:nvSpPr>
      <dsp:spPr>
        <a:xfrm rot="5400000">
          <a:off x="2829233" y="-2240242"/>
          <a:ext cx="543968" cy="503081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585812" y="29733"/>
        <a:ext cx="5004257" cy="490860"/>
      </dsp:txXfrm>
    </dsp:sp>
    <dsp:sp modelId="{A651636C-CE47-4575-AA1E-AB00D80E941D}">
      <dsp:nvSpPr>
        <dsp:cNvPr id="0" name=""/>
        <dsp:cNvSpPr/>
      </dsp:nvSpPr>
      <dsp:spPr>
        <a:xfrm rot="5400000">
          <a:off x="-125531" y="810368"/>
          <a:ext cx="836875" cy="58581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1" y="977742"/>
        <a:ext cx="585812" cy="251063"/>
      </dsp:txXfrm>
    </dsp:sp>
    <dsp:sp modelId="{79B0DE70-0A03-4A6F-B31F-EC81EB5DF7EA}">
      <dsp:nvSpPr>
        <dsp:cNvPr id="0" name=""/>
        <dsp:cNvSpPr/>
      </dsp:nvSpPr>
      <dsp:spPr>
        <a:xfrm rot="5400000">
          <a:off x="2829090" y="-1558441"/>
          <a:ext cx="544254" cy="503081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585812" y="711405"/>
        <a:ext cx="5004243" cy="491118"/>
      </dsp:txXfrm>
    </dsp:sp>
    <dsp:sp modelId="{2AA7B02C-023E-4537-897E-B54A048C8983}">
      <dsp:nvSpPr>
        <dsp:cNvPr id="0" name=""/>
        <dsp:cNvSpPr/>
      </dsp:nvSpPr>
      <dsp:spPr>
        <a:xfrm rot="5400000">
          <a:off x="-125531" y="1492027"/>
          <a:ext cx="836875" cy="58581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1" y="1659401"/>
        <a:ext cx="585812" cy="251063"/>
      </dsp:txXfrm>
    </dsp:sp>
    <dsp:sp modelId="{15D3D31F-A831-4E62-ADE9-6ACE81331CDC}">
      <dsp:nvSpPr>
        <dsp:cNvPr id="0" name=""/>
        <dsp:cNvSpPr/>
      </dsp:nvSpPr>
      <dsp:spPr>
        <a:xfrm rot="5400000">
          <a:off x="2829233" y="-876925"/>
          <a:ext cx="543968" cy="503081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585812" y="1393050"/>
        <a:ext cx="5004257" cy="490860"/>
      </dsp:txXfrm>
    </dsp:sp>
    <dsp:sp modelId="{58E45CBE-DE64-4E4E-8AAA-D376465B2BEE}">
      <dsp:nvSpPr>
        <dsp:cNvPr id="0" name=""/>
        <dsp:cNvSpPr/>
      </dsp:nvSpPr>
      <dsp:spPr>
        <a:xfrm rot="5400000">
          <a:off x="-125531" y="2173685"/>
          <a:ext cx="836875" cy="58581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1" y="2341059"/>
        <a:ext cx="585812" cy="251063"/>
      </dsp:txXfrm>
    </dsp:sp>
    <dsp:sp modelId="{C37D6712-7A35-4663-80F7-1B8FC410AF19}">
      <dsp:nvSpPr>
        <dsp:cNvPr id="0" name=""/>
        <dsp:cNvSpPr/>
      </dsp:nvSpPr>
      <dsp:spPr>
        <a:xfrm rot="5400000">
          <a:off x="2829233" y="-195266"/>
          <a:ext cx="543968" cy="503081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585812" y="2074709"/>
        <a:ext cx="5004257" cy="490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25531" y="128709"/>
          <a:ext cx="836875" cy="58581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1" y="296083"/>
        <a:ext cx="585812" cy="251063"/>
      </dsp:txXfrm>
    </dsp:sp>
    <dsp:sp modelId="{344A86B1-48E8-448F-9C6D-71580BFB5F83}">
      <dsp:nvSpPr>
        <dsp:cNvPr id="0" name=""/>
        <dsp:cNvSpPr/>
      </dsp:nvSpPr>
      <dsp:spPr>
        <a:xfrm rot="5400000">
          <a:off x="2829233" y="-2240242"/>
          <a:ext cx="543968" cy="503081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585812" y="29733"/>
        <a:ext cx="5004257" cy="490860"/>
      </dsp:txXfrm>
    </dsp:sp>
    <dsp:sp modelId="{A651636C-CE47-4575-AA1E-AB00D80E941D}">
      <dsp:nvSpPr>
        <dsp:cNvPr id="0" name=""/>
        <dsp:cNvSpPr/>
      </dsp:nvSpPr>
      <dsp:spPr>
        <a:xfrm rot="5400000">
          <a:off x="-125531" y="810368"/>
          <a:ext cx="836875" cy="58581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1" y="977742"/>
        <a:ext cx="585812" cy="251063"/>
      </dsp:txXfrm>
    </dsp:sp>
    <dsp:sp modelId="{79B0DE70-0A03-4A6F-B31F-EC81EB5DF7EA}">
      <dsp:nvSpPr>
        <dsp:cNvPr id="0" name=""/>
        <dsp:cNvSpPr/>
      </dsp:nvSpPr>
      <dsp:spPr>
        <a:xfrm rot="5400000">
          <a:off x="2829090" y="-1558441"/>
          <a:ext cx="544254" cy="503081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585812" y="711405"/>
        <a:ext cx="5004243" cy="491118"/>
      </dsp:txXfrm>
    </dsp:sp>
    <dsp:sp modelId="{2AA7B02C-023E-4537-897E-B54A048C8983}">
      <dsp:nvSpPr>
        <dsp:cNvPr id="0" name=""/>
        <dsp:cNvSpPr/>
      </dsp:nvSpPr>
      <dsp:spPr>
        <a:xfrm rot="5400000">
          <a:off x="-125531" y="1492027"/>
          <a:ext cx="836875" cy="58581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1" y="1659401"/>
        <a:ext cx="585812" cy="251063"/>
      </dsp:txXfrm>
    </dsp:sp>
    <dsp:sp modelId="{15D3D31F-A831-4E62-ADE9-6ACE81331CDC}">
      <dsp:nvSpPr>
        <dsp:cNvPr id="0" name=""/>
        <dsp:cNvSpPr/>
      </dsp:nvSpPr>
      <dsp:spPr>
        <a:xfrm rot="5400000">
          <a:off x="2829233" y="-876925"/>
          <a:ext cx="543968" cy="503081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585812" y="1393050"/>
        <a:ext cx="5004257" cy="490860"/>
      </dsp:txXfrm>
    </dsp:sp>
    <dsp:sp modelId="{58E45CBE-DE64-4E4E-8AAA-D376465B2BEE}">
      <dsp:nvSpPr>
        <dsp:cNvPr id="0" name=""/>
        <dsp:cNvSpPr/>
      </dsp:nvSpPr>
      <dsp:spPr>
        <a:xfrm rot="5400000">
          <a:off x="-125531" y="2173685"/>
          <a:ext cx="836875" cy="58581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1" y="2341059"/>
        <a:ext cx="585812" cy="251063"/>
      </dsp:txXfrm>
    </dsp:sp>
    <dsp:sp modelId="{C37D6712-7A35-4663-80F7-1B8FC410AF19}">
      <dsp:nvSpPr>
        <dsp:cNvPr id="0" name=""/>
        <dsp:cNvSpPr/>
      </dsp:nvSpPr>
      <dsp:spPr>
        <a:xfrm rot="5400000">
          <a:off x="2829233" y="-195266"/>
          <a:ext cx="543968" cy="503081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585812" y="2074709"/>
        <a:ext cx="5004257" cy="4908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943A3E-55B9-4706-BA6E-9364B5247742}" type="datetimeFigureOut">
              <a:rPr lang="es-CO" smtClean="0"/>
              <a:t>4/08/2026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8B099-0CC4-41E8-A6BF-D10E445BFF74}" type="slidenum">
              <a:rPr lang="es-CO" smtClean="0"/>
              <a:t>‹Nº›</a:t>
            </a:fld>
            <a:endParaRPr lang="es-CO"/>
          </a:p>
        </p:txBody>
      </p:sp>
    </p:spTree>
    <p:extLst>
      <p:ext uri="{BB962C8B-B14F-4D97-AF65-F5344CB8AC3E}">
        <p14:creationId xmlns:p14="http://schemas.microsoft.com/office/powerpoint/2010/main" val="1715684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27</a:t>
            </a:fld>
            <a:endParaRPr lang="es-CO"/>
          </a:p>
        </p:txBody>
      </p:sp>
    </p:spTree>
    <p:extLst>
      <p:ext uri="{BB962C8B-B14F-4D97-AF65-F5344CB8AC3E}">
        <p14:creationId xmlns:p14="http://schemas.microsoft.com/office/powerpoint/2010/main" val="472039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28</a:t>
            </a:fld>
            <a:endParaRPr lang="es-CO"/>
          </a:p>
        </p:txBody>
      </p:sp>
    </p:spTree>
    <p:extLst>
      <p:ext uri="{BB962C8B-B14F-4D97-AF65-F5344CB8AC3E}">
        <p14:creationId xmlns:p14="http://schemas.microsoft.com/office/powerpoint/2010/main" val="472039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29</a:t>
            </a:fld>
            <a:endParaRPr lang="es-CO"/>
          </a:p>
        </p:txBody>
      </p:sp>
    </p:spTree>
    <p:extLst>
      <p:ext uri="{BB962C8B-B14F-4D97-AF65-F5344CB8AC3E}">
        <p14:creationId xmlns:p14="http://schemas.microsoft.com/office/powerpoint/2010/main" val="472039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30</a:t>
            </a:fld>
            <a:endParaRPr lang="es-CO"/>
          </a:p>
        </p:txBody>
      </p:sp>
    </p:spTree>
    <p:extLst>
      <p:ext uri="{BB962C8B-B14F-4D97-AF65-F5344CB8AC3E}">
        <p14:creationId xmlns:p14="http://schemas.microsoft.com/office/powerpoint/2010/main" val="472039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FAE389-1891-4C1C-AE7B-96446A92669F}" type="datetime1">
              <a:rPr lang="es-CO" smtClean="0"/>
              <a:t>4/08/2026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136620888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197211-2E02-4E34-9D1C-742DBBA2E713}" type="datetime1">
              <a:rPr lang="es-CO" smtClean="0"/>
              <a:t>4/08/2026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519918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84A16AA-8F92-4F8D-9FF5-AE4F5F025475}" type="datetime1">
              <a:rPr lang="es-CO" smtClean="0"/>
              <a:t>4/08/2026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32149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8A2889A-C4A3-4C6C-A514-E9566A95FF0B}" type="datetime1">
              <a:rPr lang="es-CO" smtClean="0"/>
              <a:t>4/08/2026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03131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FC549B8-F78E-4015-8DD3-99AC842EEF5C}" type="datetime1">
              <a:rPr lang="es-CO" smtClean="0"/>
              <a:t>4/08/2026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7385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8FAE389-1891-4C1C-AE7B-96446A92669F}" type="datetime1">
              <a:rPr lang="es-CO" smtClean="0"/>
              <a:t>4/08/2026</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20851051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75FDE-4F9B-4FF4-9D4F-6D3ED15F62CE}" type="datetime1">
              <a:rPr lang="es-CO" smtClean="0"/>
              <a:t>4/08/2026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726837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AF392FA-6414-43D4-857F-1D16849F2AFB}" type="datetime1">
              <a:rPr lang="es-CO" smtClean="0"/>
              <a:t>4/08/2026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308845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2F1ADB1-43E6-4CC5-8BA6-A3F5A7E6EF55}" type="datetime1">
              <a:rPr lang="es-CO" smtClean="0"/>
              <a:t>4/08/2026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1530639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9921E5-6957-4C84-BD80-156D13F58C59}" type="datetime1">
              <a:rPr lang="es-CO" smtClean="0"/>
              <a:t>4/08/2026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77121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7BB61D7-E979-4A0B-B106-A9203ABD6AA5}" type="datetime1">
              <a:rPr lang="es-CO" smtClean="0"/>
              <a:t>4/08/2026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222539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dirty="0"/>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BC197211-2E02-4E34-9D1C-742DBBA2E713}" type="datetime1">
              <a:rPr lang="es-CO" smtClean="0"/>
              <a:t>4/08/2026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864103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AE389-1891-4C1C-AE7B-96446A92669F}" type="datetime1">
              <a:rPr lang="es-CO" smtClean="0"/>
              <a:t>4/08/2026</a:t>
            </a:fld>
            <a:endParaRPr lang="es-CO"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414347453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65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9Fh_zeukGYI"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hyperlink" Target="https://es.wikipedia.org/wiki/George_P%C3%B3lya" TargetMode="Externa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tudio.code.org/hoc/5"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studio.code.org/hoc/5"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hyperlink" Target="https://pythontutor.com/visualize.html#code=x%20%3D%203%0Ay%20%3D%206%0Ay%20%3D%20y%20%2B%202*x%20%0Ax%20%3D%20x%20%2B%201%0Az%20%3D%20x%20-%202*%28y%20-%201%29%0AZ%20%3D%20-z&amp;cumulative=false&amp;curInstr=0&amp;heapPrimitives=nevernest&amp;mode=display&amp;origin=opt-frontend.js&amp;py=3&amp;rawInputLstJSON=%5B%5D&amp;textReferences=fals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charset.org/utf-8" TargetMode="External"/><Relationship Id="rId2" Type="http://schemas.openxmlformats.org/officeDocument/2006/relationships/hyperlink" Target="https://www.asciitab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peps.python.org/pep-0008/#naming-convention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hyperlink" Target="https://pythontutor.com/visualize.html#code=PI%20%3D%203.14%0Aradio%20%3D%20float%28input%28%22Digite%20el%20radio%3A%20%22%29%29%0Aarea%20%3D%20PI%20*%20%28radio**2%29%0Aprint%28%22El%20area%20del%20circulo%20es%3A%22,%20r%29&amp;cumulative=false&amp;curInstr=0&amp;heapPrimitives=nevernest&amp;mode=display&amp;origin=opt-frontend.js&amp;py=3&amp;rawInputLstJSON=%5B%5D&amp;textReferences=false"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pythontutor.com/visualize.html#code=PI%20%3D%203.14%0Aradio%20%3D%20float%28input%28%22Digite%20el%20radio%3A%20%22%29%29%0Aarea%20%3D%20PI%20*%20%28radio**2%29%0Aprint%28%22El%20area%20del%20circulo%20es%3A%22,%20r%29&amp;cumulative=false&amp;curInstr=0&amp;heapPrimitives=nevernest&amp;mode=display&amp;origin=opt-frontend.js&amp;py=3&amp;rawInputLstJSON=%5B%5D&amp;textReferences=false"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w3resource.com/index.php" TargetMode="External"/><Relationship Id="rId2" Type="http://schemas.openxmlformats.org/officeDocument/2006/relationships/hyperlink" Target="https://ellibrodepython.com/" TargetMode="External"/><Relationship Id="rId1" Type="http://schemas.openxmlformats.org/officeDocument/2006/relationships/slideLayout" Target="../slideLayouts/slideLayout2.xml"/><Relationship Id="rId4" Type="http://schemas.openxmlformats.org/officeDocument/2006/relationships/hyperlink" Target="https://realpython.com/"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5909BB-6F92-48BA-A875-99E15D2253EC}"/>
              </a:ext>
            </a:extLst>
          </p:cNvPr>
          <p:cNvSpPr>
            <a:spLocks noGrp="1"/>
          </p:cNvSpPr>
          <p:nvPr>
            <p:ph type="ctrTitle"/>
          </p:nvPr>
        </p:nvSpPr>
        <p:spPr>
          <a:xfrm>
            <a:off x="323528" y="1122363"/>
            <a:ext cx="8568952" cy="2387600"/>
          </a:xfrm>
        </p:spPr>
        <p:txBody>
          <a:bodyPr/>
          <a:lstStyle/>
          <a:p>
            <a:r>
              <a:rPr lang="es-CO" dirty="0"/>
              <a:t>Lógica y Representación 1</a:t>
            </a:r>
          </a:p>
        </p:txBody>
      </p:sp>
      <p:sp>
        <p:nvSpPr>
          <p:cNvPr id="3" name="Subtítulo 2">
            <a:extLst>
              <a:ext uri="{FF2B5EF4-FFF2-40B4-BE49-F238E27FC236}">
                <a16:creationId xmlns:a16="http://schemas.microsoft.com/office/drawing/2014/main" id="{8A9999BC-7CCA-4677-B2C4-E913A7AA1FC0}"/>
              </a:ext>
            </a:extLst>
          </p:cNvPr>
          <p:cNvSpPr>
            <a:spLocks noGrp="1"/>
          </p:cNvSpPr>
          <p:nvPr>
            <p:ph type="subTitle" idx="1"/>
          </p:nvPr>
        </p:nvSpPr>
        <p:spPr/>
        <p:txBody>
          <a:bodyPr/>
          <a:lstStyle/>
          <a:p>
            <a:r>
              <a:rPr lang="es-CO" sz="3200" b="1" dirty="0"/>
              <a:t>Algoritmos y diagramas de flujo</a:t>
            </a:r>
          </a:p>
          <a:p>
            <a:r>
              <a:rPr lang="es-CO" dirty="0"/>
              <a:t>Ingeniería de Sistemas</a:t>
            </a:r>
          </a:p>
          <a:p>
            <a:r>
              <a:rPr lang="es-CO" dirty="0"/>
              <a:t>Universidad de Antioquia</a:t>
            </a:r>
          </a:p>
        </p:txBody>
      </p:sp>
    </p:spTree>
    <p:extLst>
      <p:ext uri="{BB962C8B-B14F-4D97-AF65-F5344CB8AC3E}">
        <p14:creationId xmlns:p14="http://schemas.microsoft.com/office/powerpoint/2010/main" val="77409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3528" y="258806"/>
            <a:ext cx="7886700" cy="1116540"/>
          </a:xfrm>
        </p:spPr>
        <p:txBody>
          <a:bodyPr/>
          <a:lstStyle/>
          <a:p>
            <a:r>
              <a:rPr lang="en-US" sz="3200" dirty="0"/>
              <a:t>Resolución de problemas</a:t>
            </a:r>
          </a:p>
        </p:txBody>
      </p:sp>
      <p:sp>
        <p:nvSpPr>
          <p:cNvPr id="2" name="Content Placeholder 1"/>
          <p:cNvSpPr>
            <a:spLocks noGrp="1"/>
          </p:cNvSpPr>
          <p:nvPr>
            <p:ph idx="1"/>
          </p:nvPr>
        </p:nvSpPr>
        <p:spPr>
          <a:xfrm>
            <a:off x="395535" y="1185224"/>
            <a:ext cx="8352928" cy="1116540"/>
          </a:xfrm>
        </p:spPr>
        <p:txBody>
          <a:bodyPr>
            <a:normAutofit/>
          </a:bodyPr>
          <a:lstStyle/>
          <a:p>
            <a:pPr marL="0" indent="0" algn="just">
              <a:buNone/>
            </a:pPr>
            <a:r>
              <a:rPr lang="es-CO" sz="2400" dirty="0"/>
              <a:t>A partir del planteamiento de un problema, es conveniente usar una </a:t>
            </a:r>
            <a:r>
              <a:rPr lang="es-CO" sz="2400" b="1" dirty="0">
                <a:solidFill>
                  <a:srgbClr val="FF0000"/>
                </a:solidFill>
              </a:rPr>
              <a:t>metodología</a:t>
            </a:r>
            <a:r>
              <a:rPr lang="es-CO" sz="2400" dirty="0"/>
              <a:t> para la resolución del problema, que tendrá como objetivo final el algoritmo que dará una solución.</a:t>
            </a:r>
            <a:endParaRPr lang="en-US" sz="2400" dirty="0"/>
          </a:p>
        </p:txBody>
      </p:sp>
      <p:pic>
        <p:nvPicPr>
          <p:cNvPr id="3074" name="Picture 2" descr="http://41.media.tumblr.com/tumblr_lyvkkbUxQq1qljjlmo1_1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940" y="2709336"/>
            <a:ext cx="4128459" cy="3096344"/>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22D980E7-E18F-4ECF-B2D4-040D025323B7}"/>
              </a:ext>
            </a:extLst>
          </p:cNvPr>
          <p:cNvSpPr txBox="1"/>
          <p:nvPr/>
        </p:nvSpPr>
        <p:spPr>
          <a:xfrm>
            <a:off x="828891" y="6381328"/>
            <a:ext cx="3097869" cy="276999"/>
          </a:xfrm>
          <a:prstGeom prst="rect">
            <a:avLst/>
          </a:prstGeom>
          <a:noFill/>
        </p:spPr>
        <p:txBody>
          <a:bodyPr wrap="square">
            <a:spAutoFit/>
          </a:bodyPr>
          <a:lstStyle/>
          <a:p>
            <a:r>
              <a:rPr lang="es-CO" sz="1200" b="1" i="0" dirty="0">
                <a:solidFill>
                  <a:srgbClr val="0F0F0F"/>
                </a:solidFill>
                <a:effectLst/>
              </a:rPr>
              <a:t>Homero + cerveza = Presidente</a:t>
            </a:r>
            <a:r>
              <a:rPr lang="en-US" sz="1200" dirty="0">
                <a:cs typeface="Courier New" panose="02070309020205020404" pitchFamily="49" charset="0"/>
              </a:rPr>
              <a:t> (</a:t>
            </a:r>
            <a:r>
              <a:rPr lang="en-US" sz="1200" dirty="0">
                <a:cs typeface="Courier New" panose="02070309020205020404" pitchFamily="49" charset="0"/>
                <a:hlinkClick r:id="rId3"/>
              </a:rPr>
              <a:t>link</a:t>
            </a:r>
            <a:r>
              <a:rPr lang="en-US" sz="1200" dirty="0">
                <a:cs typeface="Courier New" panose="02070309020205020404" pitchFamily="49" charset="0"/>
              </a:rPr>
              <a:t>)</a:t>
            </a:r>
          </a:p>
        </p:txBody>
      </p:sp>
      <p:pic>
        <p:nvPicPr>
          <p:cNvPr id="7" name="Picture 8">
            <a:extLst>
              <a:ext uri="{FF2B5EF4-FFF2-40B4-BE49-F238E27FC236}">
                <a16:creationId xmlns:a16="http://schemas.microsoft.com/office/drawing/2014/main" id="{B179EE13-DDB7-496C-8A10-1775FFDFBD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6471" y="6326378"/>
            <a:ext cx="582420" cy="403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63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9263" y="229104"/>
            <a:ext cx="8263830" cy="1116540"/>
          </a:xfrm>
        </p:spPr>
        <p:txBody>
          <a:bodyPr/>
          <a:lstStyle/>
          <a:p>
            <a:r>
              <a:rPr lang="es-CO" sz="3200" dirty="0"/>
              <a:t>Método de Polya</a:t>
            </a:r>
            <a:endParaRPr lang="en-US" sz="3200" dirty="0"/>
          </a:p>
        </p:txBody>
      </p:sp>
      <p:sp>
        <p:nvSpPr>
          <p:cNvPr id="2" name="Content Placeholder 1"/>
          <p:cNvSpPr>
            <a:spLocks noGrp="1"/>
          </p:cNvSpPr>
          <p:nvPr>
            <p:ph idx="1"/>
          </p:nvPr>
        </p:nvSpPr>
        <p:spPr>
          <a:xfrm>
            <a:off x="267066" y="1205427"/>
            <a:ext cx="8424936" cy="1116540"/>
          </a:xfrm>
        </p:spPr>
        <p:txBody>
          <a:bodyPr>
            <a:normAutofit/>
          </a:bodyPr>
          <a:lstStyle/>
          <a:p>
            <a:pPr marL="0" indent="0">
              <a:buNone/>
            </a:pPr>
            <a:r>
              <a:rPr lang="es-CO" sz="2400" dirty="0">
                <a:hlinkClick r:id="rId2"/>
              </a:rPr>
              <a:t>George Polya</a:t>
            </a:r>
            <a:r>
              <a:rPr lang="es-CO" sz="2400" dirty="0"/>
              <a:t>, Matemático húngaro, autor del libro </a:t>
            </a:r>
            <a:r>
              <a:rPr lang="es-CO" sz="2400" b="1" i="1" dirty="0"/>
              <a:t>How to solve it</a:t>
            </a:r>
            <a:r>
              <a:rPr lang="es-CO" sz="2400" b="1" dirty="0"/>
              <a:t> </a:t>
            </a:r>
            <a:r>
              <a:rPr lang="es-CO" sz="2400" dirty="0"/>
              <a:t>(1945). En él, Polya propone cuatro pasos generales para la solución de un problema</a:t>
            </a:r>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4059730565"/>
              </p:ext>
            </p:extLst>
          </p:nvPr>
        </p:nvGraphicFramePr>
        <p:xfrm>
          <a:off x="3059832" y="2526094"/>
          <a:ext cx="5616624" cy="2888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544" y="2915233"/>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3288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296259"/>
            <a:ext cx="8263830" cy="1116540"/>
          </a:xfrm>
        </p:spPr>
        <p:txBody>
          <a:bodyPr/>
          <a:lstStyle/>
          <a:p>
            <a:r>
              <a:rPr lang="es-CO" sz="3200" dirty="0"/>
              <a:t>Método de Polya</a:t>
            </a:r>
            <a:endParaRPr lang="en-US" sz="3200" dirty="0"/>
          </a:p>
        </p:txBody>
      </p:sp>
      <p:sp>
        <p:nvSpPr>
          <p:cNvPr id="2" name="Content Placeholder 1"/>
          <p:cNvSpPr>
            <a:spLocks noGrp="1"/>
          </p:cNvSpPr>
          <p:nvPr>
            <p:ph idx="1"/>
          </p:nvPr>
        </p:nvSpPr>
        <p:spPr>
          <a:xfrm>
            <a:off x="262780" y="1424252"/>
            <a:ext cx="8413675" cy="2724828"/>
          </a:xfrm>
        </p:spPr>
        <p:txBody>
          <a:bodyPr>
            <a:normAutofit/>
          </a:bodyPr>
          <a:lstStyle/>
          <a:p>
            <a:pPr marL="457200" indent="-457200">
              <a:buFont typeface="+mj-lt"/>
              <a:buAutoNum type="arabicPeriod"/>
            </a:pPr>
            <a:r>
              <a:rPr lang="es-CO" sz="2400" b="1" dirty="0">
                <a:solidFill>
                  <a:srgbClr val="FF0000"/>
                </a:solidFill>
              </a:rPr>
              <a:t>Entienda el problema</a:t>
            </a:r>
            <a:r>
              <a:rPr lang="es-CO" sz="2400" dirty="0">
                <a:solidFill>
                  <a:srgbClr val="FF0000"/>
                </a:solidFill>
              </a:rPr>
              <a:t>: </a:t>
            </a:r>
            <a:r>
              <a:rPr lang="es-CO" sz="2400" dirty="0"/>
              <a:t>parece obvio pero es con frecuencia un gran obstáculo.</a:t>
            </a:r>
          </a:p>
          <a:p>
            <a:pPr marL="857250" lvl="1" indent="-457200"/>
            <a:r>
              <a:rPr lang="es-CO" sz="2000" dirty="0"/>
              <a:t>¿Entiende todas las palabras de la formulación del problema?</a:t>
            </a:r>
          </a:p>
          <a:p>
            <a:pPr marL="857250" lvl="1" indent="-457200"/>
            <a:r>
              <a:rPr lang="es-CO" sz="2000" dirty="0"/>
              <a:t>¿Qué le están pidiendo que encuentre?</a:t>
            </a:r>
          </a:p>
          <a:p>
            <a:pPr marL="857250" lvl="1" indent="-457200"/>
            <a:r>
              <a:rPr lang="es-CO" sz="2000" dirty="0"/>
              <a:t>¿Puede usted reformular el problema en sus propias palabras?</a:t>
            </a:r>
          </a:p>
          <a:p>
            <a:pPr marL="857250" lvl="1" indent="-457200"/>
            <a:r>
              <a:rPr lang="es-CO" sz="2000" dirty="0"/>
              <a:t>¿Puede hacer un dibujo que represente el problema?</a:t>
            </a:r>
          </a:p>
          <a:p>
            <a:pPr marL="857250" lvl="1" indent="-457200"/>
            <a:r>
              <a:rPr lang="es-CO" sz="2000" dirty="0"/>
              <a:t>¿Hay suficiente información para encontrar la solución?</a:t>
            </a:r>
          </a:p>
          <a:p>
            <a:endParaRPr lang="en-US" sz="24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4</a:t>
            </a:fld>
            <a:endParaRPr lang="en-US" dirty="0"/>
          </a:p>
        </p:txBody>
      </p:sp>
    </p:spTree>
    <p:extLst>
      <p:ext uri="{BB962C8B-B14F-4D97-AF65-F5344CB8AC3E}">
        <p14:creationId xmlns:p14="http://schemas.microsoft.com/office/powerpoint/2010/main" val="1460040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65127"/>
            <a:ext cx="7886700" cy="975641"/>
          </a:xfrm>
        </p:spPr>
        <p:txBody>
          <a:bodyPr/>
          <a:lstStyle/>
          <a:p>
            <a:r>
              <a:rPr lang="es-CO" sz="3200" dirty="0"/>
              <a:t>Método de Polya</a:t>
            </a:r>
            <a:endParaRPr lang="en-US" sz="3200" dirty="0"/>
          </a:p>
        </p:txBody>
      </p:sp>
      <p:sp>
        <p:nvSpPr>
          <p:cNvPr id="2" name="Content Placeholder 1"/>
          <p:cNvSpPr>
            <a:spLocks noGrp="1"/>
          </p:cNvSpPr>
          <p:nvPr>
            <p:ph idx="1"/>
          </p:nvPr>
        </p:nvSpPr>
        <p:spPr>
          <a:xfrm>
            <a:off x="598276" y="1412776"/>
            <a:ext cx="7886700" cy="4351338"/>
          </a:xfrm>
        </p:spPr>
        <p:txBody>
          <a:bodyPr>
            <a:normAutofit/>
          </a:bodyPr>
          <a:lstStyle/>
          <a:p>
            <a:pPr marL="457200" indent="-457200">
              <a:buAutoNum type="arabicPeriod" startAt="2"/>
            </a:pPr>
            <a:r>
              <a:rPr lang="es-CO" sz="2400" b="1" dirty="0">
                <a:solidFill>
                  <a:srgbClr val="FF0000"/>
                </a:solidFill>
              </a:rPr>
              <a:t>Diseñe un plan</a:t>
            </a:r>
            <a:r>
              <a:rPr lang="es-CO" sz="2400" dirty="0">
                <a:solidFill>
                  <a:srgbClr val="FF0000"/>
                </a:solidFill>
              </a:rPr>
              <a:t>: </a:t>
            </a:r>
            <a:r>
              <a:rPr lang="es-CO" sz="2400" dirty="0"/>
              <a:t>escoja una estrategia para resolver el problema (divida el problema en problemas más simples, elimine posibilidades, aproveche simetrías, suponga y verifique, etc).</a:t>
            </a:r>
          </a:p>
          <a:p>
            <a:pPr marL="457200" indent="-457200">
              <a:buAutoNum type="arabicPeriod" startAt="2"/>
            </a:pPr>
            <a:r>
              <a:rPr lang="es-CO" sz="2400" b="1" dirty="0">
                <a:solidFill>
                  <a:srgbClr val="FF0000"/>
                </a:solidFill>
              </a:rPr>
              <a:t>Implemente el plan</a:t>
            </a:r>
            <a:r>
              <a:rPr lang="es-CO" sz="2400" dirty="0">
                <a:solidFill>
                  <a:srgbClr val="FF0000"/>
                </a:solidFill>
              </a:rPr>
              <a:t>: </a:t>
            </a:r>
            <a:r>
              <a:rPr lang="es-CO" sz="2400" dirty="0"/>
              <a:t>más fácil que el paso 2, sólo requiere mucho cuidado en los detalles y paciencia.</a:t>
            </a:r>
          </a:p>
          <a:p>
            <a:pPr marL="457200" indent="-457200">
              <a:buAutoNum type="arabicPeriod" startAt="2"/>
            </a:pPr>
            <a:r>
              <a:rPr lang="es-CO" sz="2400" b="1" dirty="0">
                <a:solidFill>
                  <a:srgbClr val="FF0000"/>
                </a:solidFill>
              </a:rPr>
              <a:t>Revise</a:t>
            </a:r>
            <a:r>
              <a:rPr lang="es-CO" sz="2400" dirty="0">
                <a:solidFill>
                  <a:srgbClr val="FF0000"/>
                </a:solidFill>
              </a:rPr>
              <a:t>: </a:t>
            </a:r>
            <a:r>
              <a:rPr lang="es-CO" sz="2400" dirty="0"/>
              <a:t>haga una pausa, revise y reflexione sobre el trabajo hecho.</a:t>
            </a:r>
            <a:endParaRPr lang="en-US" sz="24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5</a:t>
            </a:fld>
            <a:endParaRPr lang="en-US" dirty="0"/>
          </a:p>
        </p:txBody>
      </p:sp>
    </p:spTree>
    <p:extLst>
      <p:ext uri="{BB962C8B-B14F-4D97-AF65-F5344CB8AC3E}">
        <p14:creationId xmlns:p14="http://schemas.microsoft.com/office/powerpoint/2010/main" val="1931083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467543" y="207926"/>
            <a:ext cx="7939037" cy="1325563"/>
          </a:xfrm>
        </p:spPr>
        <p:txBody>
          <a:bodyPr/>
          <a:lstStyle/>
          <a:p>
            <a:r>
              <a:rPr lang="es-CO" sz="3200" dirty="0"/>
              <a:t>Algoritmos</a:t>
            </a:r>
          </a:p>
        </p:txBody>
      </p:sp>
      <p:sp>
        <p:nvSpPr>
          <p:cNvPr id="2" name="1 Marcador de contenido"/>
          <p:cNvSpPr>
            <a:spLocks noGrp="1"/>
          </p:cNvSpPr>
          <p:nvPr>
            <p:ph idx="1"/>
          </p:nvPr>
        </p:nvSpPr>
        <p:spPr>
          <a:xfrm>
            <a:off x="519880" y="1369516"/>
            <a:ext cx="7886700" cy="4351338"/>
          </a:xfrm>
        </p:spPr>
        <p:txBody>
          <a:bodyPr>
            <a:normAutofit/>
          </a:bodyPr>
          <a:lstStyle/>
          <a:p>
            <a:pPr marL="0" indent="0">
              <a:buNone/>
            </a:pPr>
            <a:r>
              <a:rPr lang="es-CO" sz="2400" dirty="0"/>
              <a:t>Recordemos que, un algoritmo es un proceso preciso, computable y finito que paso a paso lleva a la solución de un problema.</a:t>
            </a:r>
          </a:p>
          <a:p>
            <a:pPr marL="0" indent="0">
              <a:buNone/>
            </a:pPr>
            <a:endParaRPr lang="es-CO" sz="2800" dirty="0"/>
          </a:p>
          <a:p>
            <a:pPr marL="0" indent="0">
              <a:buNone/>
            </a:pPr>
            <a:r>
              <a:rPr lang="es-CO" sz="2400" dirty="0"/>
              <a:t>Todo algoritmo debe tener tres partes:</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6</a:t>
            </a:fld>
            <a:endParaRPr lang="en-US" dirty="0"/>
          </a:p>
        </p:txBody>
      </p:sp>
      <p:grpSp>
        <p:nvGrpSpPr>
          <p:cNvPr id="15" name="14 Grupo"/>
          <p:cNvGrpSpPr/>
          <p:nvPr/>
        </p:nvGrpSpPr>
        <p:grpSpPr>
          <a:xfrm>
            <a:off x="1714500" y="4221088"/>
            <a:ext cx="5715000" cy="838200"/>
            <a:chOff x="1676400" y="4495800"/>
            <a:chExt cx="5715000" cy="838200"/>
          </a:xfrm>
        </p:grpSpPr>
        <p:sp>
          <p:nvSpPr>
            <p:cNvPr id="10" name="9 Rectángulo"/>
            <p:cNvSpPr/>
            <p:nvPr/>
          </p:nvSpPr>
          <p:spPr>
            <a:xfrm>
              <a:off x="1676400" y="4648200"/>
              <a:ext cx="1447800" cy="533400"/>
            </a:xfrm>
            <a:prstGeom prst="rect">
              <a:avLst/>
            </a:prstGeom>
            <a:noFill/>
            <a:ln>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Inputs</a:t>
              </a:r>
              <a:endParaRPr lang="es-CO" b="1" dirty="0">
                <a:solidFill>
                  <a:schemeClr val="tx1">
                    <a:lumMod val="50000"/>
                    <a:lumOff val="50000"/>
                  </a:schemeClr>
                </a:solidFill>
                <a:latin typeface="Consolas" panose="020B0609020204030204" pitchFamily="49" charset="0"/>
              </a:endParaRPr>
            </a:p>
          </p:txBody>
        </p:sp>
        <p:sp>
          <p:nvSpPr>
            <p:cNvPr id="11" name="10 Rectángulo"/>
            <p:cNvSpPr/>
            <p:nvPr/>
          </p:nvSpPr>
          <p:spPr>
            <a:xfrm>
              <a:off x="3810000" y="4495800"/>
              <a:ext cx="1447800"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b="1" dirty="0">
                  <a:latin typeface="Consolas" panose="020B0609020204030204" pitchFamily="49" charset="0"/>
                </a:rPr>
                <a:t>Process</a:t>
              </a:r>
              <a:endParaRPr lang="es-CO" b="1" dirty="0">
                <a:latin typeface="Consolas" panose="020B0609020204030204" pitchFamily="49" charset="0"/>
              </a:endParaRPr>
            </a:p>
          </p:txBody>
        </p:sp>
        <p:sp>
          <p:nvSpPr>
            <p:cNvPr id="12" name="11 Rectángulo"/>
            <p:cNvSpPr/>
            <p:nvPr/>
          </p:nvSpPr>
          <p:spPr>
            <a:xfrm>
              <a:off x="5943600" y="4648200"/>
              <a:ext cx="1447800" cy="533400"/>
            </a:xfrm>
            <a:prstGeom prst="rect">
              <a:avLst/>
            </a:prstGeom>
            <a:noFill/>
            <a:ln>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Outputs</a:t>
              </a:r>
              <a:endParaRPr lang="es-CO" sz="1600" b="1" dirty="0">
                <a:solidFill>
                  <a:schemeClr val="tx1">
                    <a:lumMod val="50000"/>
                    <a:lumOff val="50000"/>
                  </a:schemeClr>
                </a:solidFill>
                <a:latin typeface="Consolas" panose="020B0609020204030204" pitchFamily="49" charset="0"/>
              </a:endParaRPr>
            </a:p>
          </p:txBody>
        </p:sp>
        <p:sp>
          <p:nvSpPr>
            <p:cNvPr id="13" name="12 Flecha derecha"/>
            <p:cNvSpPr/>
            <p:nvPr/>
          </p:nvSpPr>
          <p:spPr>
            <a:xfrm>
              <a:off x="31242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13 Flecha derecha"/>
            <p:cNvSpPr/>
            <p:nvPr/>
          </p:nvSpPr>
          <p:spPr>
            <a:xfrm>
              <a:off x="52578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777014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884168-8B30-4157-B760-0F12DF53F27F}"/>
              </a:ext>
            </a:extLst>
          </p:cNvPr>
          <p:cNvSpPr>
            <a:spLocks noGrp="1"/>
          </p:cNvSpPr>
          <p:nvPr>
            <p:ph type="title"/>
          </p:nvPr>
        </p:nvSpPr>
        <p:spPr>
          <a:xfrm>
            <a:off x="259373" y="318493"/>
            <a:ext cx="7886700" cy="837405"/>
          </a:xfrm>
        </p:spPr>
        <p:txBody>
          <a:bodyPr/>
          <a:lstStyle/>
          <a:p>
            <a:r>
              <a:rPr lang="es-MX" sz="3200" dirty="0"/>
              <a:t>Algoritmo</a:t>
            </a:r>
            <a:endParaRPr lang="es-CO" sz="3200" dirty="0"/>
          </a:p>
        </p:txBody>
      </p:sp>
      <p:sp>
        <p:nvSpPr>
          <p:cNvPr id="3" name="Marcador de contenido 2">
            <a:extLst>
              <a:ext uri="{FF2B5EF4-FFF2-40B4-BE49-F238E27FC236}">
                <a16:creationId xmlns:a16="http://schemas.microsoft.com/office/drawing/2014/main" id="{9E41F787-1D8E-47B3-8A6E-3596B5CDAB27}"/>
              </a:ext>
            </a:extLst>
          </p:cNvPr>
          <p:cNvSpPr>
            <a:spLocks noGrp="1"/>
          </p:cNvSpPr>
          <p:nvPr>
            <p:ph idx="1"/>
          </p:nvPr>
        </p:nvSpPr>
        <p:spPr>
          <a:xfrm>
            <a:off x="259373" y="1171922"/>
            <a:ext cx="8625254" cy="1034803"/>
          </a:xfrm>
        </p:spPr>
        <p:txBody>
          <a:bodyPr>
            <a:normAutofit/>
          </a:bodyPr>
          <a:lstStyle/>
          <a:p>
            <a:pPr marL="0" indent="0">
              <a:buNone/>
            </a:pPr>
            <a:r>
              <a:rPr lang="es-MX" sz="2000" dirty="0"/>
              <a:t>Teniendo en cuenta los bloques que se muestran a la derecha, describa el algoritmo que permita que el pájaro pise al marrano</a:t>
            </a:r>
            <a:r>
              <a:rPr lang="es-CO" sz="2000" dirty="0"/>
              <a:t> (</a:t>
            </a:r>
            <a:r>
              <a:rPr lang="es-CO" sz="2000" dirty="0">
                <a:hlinkClick r:id="rId2"/>
              </a:rPr>
              <a:t>link</a:t>
            </a:r>
            <a:r>
              <a:rPr lang="es-CO" sz="2000" dirty="0"/>
              <a:t>).</a:t>
            </a:r>
          </a:p>
        </p:txBody>
      </p:sp>
      <p:pic>
        <p:nvPicPr>
          <p:cNvPr id="6" name="Picture 2">
            <a:extLst>
              <a:ext uri="{FF2B5EF4-FFF2-40B4-BE49-F238E27FC236}">
                <a16:creationId xmlns:a16="http://schemas.microsoft.com/office/drawing/2014/main" id="{2EBC7A31-84A4-4FC6-9279-3A7234C18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006" y="3191862"/>
            <a:ext cx="2957517" cy="2928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a:extLst>
              <a:ext uri="{FF2B5EF4-FFF2-40B4-BE49-F238E27FC236}">
                <a16:creationId xmlns:a16="http://schemas.microsoft.com/office/drawing/2014/main" id="{10309157-31A0-4D17-B34C-62EC334A87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3191862"/>
            <a:ext cx="2343155" cy="2928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3709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884168-8B30-4157-B760-0F12DF53F27F}"/>
              </a:ext>
            </a:extLst>
          </p:cNvPr>
          <p:cNvSpPr>
            <a:spLocks noGrp="1"/>
          </p:cNvSpPr>
          <p:nvPr>
            <p:ph type="title"/>
          </p:nvPr>
        </p:nvSpPr>
        <p:spPr>
          <a:xfrm>
            <a:off x="259373" y="311362"/>
            <a:ext cx="7886700" cy="837405"/>
          </a:xfrm>
        </p:spPr>
        <p:txBody>
          <a:bodyPr/>
          <a:lstStyle/>
          <a:p>
            <a:r>
              <a:rPr lang="es-MX" sz="3200" dirty="0"/>
              <a:t>Algoritmo - Solución</a:t>
            </a:r>
            <a:endParaRPr lang="es-CO" sz="3200" dirty="0"/>
          </a:p>
        </p:txBody>
      </p:sp>
      <p:sp>
        <p:nvSpPr>
          <p:cNvPr id="3" name="Marcador de contenido 2">
            <a:extLst>
              <a:ext uri="{FF2B5EF4-FFF2-40B4-BE49-F238E27FC236}">
                <a16:creationId xmlns:a16="http://schemas.microsoft.com/office/drawing/2014/main" id="{9E41F787-1D8E-47B3-8A6E-3596B5CDAB27}"/>
              </a:ext>
            </a:extLst>
          </p:cNvPr>
          <p:cNvSpPr>
            <a:spLocks noGrp="1"/>
          </p:cNvSpPr>
          <p:nvPr>
            <p:ph idx="1"/>
          </p:nvPr>
        </p:nvSpPr>
        <p:spPr>
          <a:xfrm>
            <a:off x="259373" y="1161249"/>
            <a:ext cx="8625254" cy="899599"/>
          </a:xfrm>
        </p:spPr>
        <p:txBody>
          <a:bodyPr>
            <a:noAutofit/>
          </a:bodyPr>
          <a:lstStyle/>
          <a:p>
            <a:pPr marL="0" indent="0">
              <a:buNone/>
            </a:pPr>
            <a:r>
              <a:rPr lang="es-MX" sz="2000" dirty="0"/>
              <a:t>Teniendo en cuenta los bloques que se muestran a la derecha, describa el algoritmo que permita que el pájaro pise al marrano</a:t>
            </a:r>
            <a:r>
              <a:rPr lang="es-CO" sz="2000" dirty="0"/>
              <a:t> (</a:t>
            </a:r>
            <a:r>
              <a:rPr lang="es-CO" sz="2000" dirty="0">
                <a:hlinkClick r:id="rId2"/>
              </a:rPr>
              <a:t>link</a:t>
            </a:r>
            <a:r>
              <a:rPr lang="es-CO" sz="2000" dirty="0"/>
              <a:t>)</a:t>
            </a:r>
          </a:p>
        </p:txBody>
      </p:sp>
      <p:pic>
        <p:nvPicPr>
          <p:cNvPr id="8" name="Picture 2">
            <a:extLst>
              <a:ext uri="{FF2B5EF4-FFF2-40B4-BE49-F238E27FC236}">
                <a16:creationId xmlns:a16="http://schemas.microsoft.com/office/drawing/2014/main" id="{29C175E8-75AC-4C87-A0B2-AB6B9428E0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810" y="2178509"/>
            <a:ext cx="2461917" cy="2438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B65DA1C1-B748-4BDF-88F2-B8D29788F5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5601" y="5257120"/>
            <a:ext cx="914640" cy="1143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a:extLst>
              <a:ext uri="{FF2B5EF4-FFF2-40B4-BE49-F238E27FC236}">
                <a16:creationId xmlns:a16="http://schemas.microsoft.com/office/drawing/2014/main" id="{16146172-59F9-402A-8611-45680D61A28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53451" y="2185320"/>
            <a:ext cx="2392622" cy="2404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29817819-35AE-4E51-ACB8-1FB113A5CD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3584" y="3884477"/>
            <a:ext cx="1956226" cy="1797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1 Flecha derecha">
            <a:extLst>
              <a:ext uri="{FF2B5EF4-FFF2-40B4-BE49-F238E27FC236}">
                <a16:creationId xmlns:a16="http://schemas.microsoft.com/office/drawing/2014/main" id="{83C0E60A-3B79-4C85-BBD1-B4DA86E66578}"/>
              </a:ext>
            </a:extLst>
          </p:cNvPr>
          <p:cNvSpPr/>
          <p:nvPr/>
        </p:nvSpPr>
        <p:spPr>
          <a:xfrm>
            <a:off x="3274483" y="3001899"/>
            <a:ext cx="2184006" cy="50140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13" name="5 Conector recto de flecha">
            <a:extLst>
              <a:ext uri="{FF2B5EF4-FFF2-40B4-BE49-F238E27FC236}">
                <a16:creationId xmlns:a16="http://schemas.microsoft.com/office/drawing/2014/main" id="{7956F167-BFCB-4C08-A6E2-76B1CFFFAC58}"/>
              </a:ext>
            </a:extLst>
          </p:cNvPr>
          <p:cNvCxnSpPr>
            <a:cxnSpLocks/>
          </p:cNvCxnSpPr>
          <p:nvPr/>
        </p:nvCxnSpPr>
        <p:spPr>
          <a:xfrm flipV="1">
            <a:off x="1127487" y="5633214"/>
            <a:ext cx="488132" cy="249062"/>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10 Rectángulo">
            <a:extLst>
              <a:ext uri="{FF2B5EF4-FFF2-40B4-BE49-F238E27FC236}">
                <a16:creationId xmlns:a16="http://schemas.microsoft.com/office/drawing/2014/main" id="{1EDC5ED6-15F5-4C1A-AEC1-97A68819864A}"/>
              </a:ext>
            </a:extLst>
          </p:cNvPr>
          <p:cNvSpPr/>
          <p:nvPr/>
        </p:nvSpPr>
        <p:spPr>
          <a:xfrm>
            <a:off x="753618" y="5888547"/>
            <a:ext cx="768159" cy="276999"/>
          </a:xfrm>
          <a:prstGeom prst="rect">
            <a:avLst/>
          </a:prstGeom>
        </p:spPr>
        <p:txBody>
          <a:bodyPr wrap="none">
            <a:spAutoFit/>
          </a:bodyPr>
          <a:lstStyle/>
          <a:p>
            <a:r>
              <a:rPr lang="es-CO" sz="1200" b="1" dirty="0">
                <a:solidFill>
                  <a:srgbClr val="FF0000"/>
                </a:solidFill>
                <a:latin typeface="Century Gothic" panose="020B0502020202020204" pitchFamily="34" charset="0"/>
              </a:rPr>
              <a:t>Bloques</a:t>
            </a:r>
            <a:endParaRPr lang="es-CO" sz="1350" b="1" dirty="0">
              <a:solidFill>
                <a:srgbClr val="FF0000"/>
              </a:solidFill>
              <a:latin typeface="Century Gothic" panose="020B0502020202020204" pitchFamily="34" charset="0"/>
            </a:endParaRPr>
          </a:p>
        </p:txBody>
      </p:sp>
      <p:cxnSp>
        <p:nvCxnSpPr>
          <p:cNvPr id="15" name="11 Conector recto de flecha">
            <a:extLst>
              <a:ext uri="{FF2B5EF4-FFF2-40B4-BE49-F238E27FC236}">
                <a16:creationId xmlns:a16="http://schemas.microsoft.com/office/drawing/2014/main" id="{FC3EA0FB-C9AC-448D-95D6-1E615755A510}"/>
              </a:ext>
            </a:extLst>
          </p:cNvPr>
          <p:cNvCxnSpPr/>
          <p:nvPr/>
        </p:nvCxnSpPr>
        <p:spPr>
          <a:xfrm flipH="1" flipV="1">
            <a:off x="5049298" y="5324826"/>
            <a:ext cx="501024" cy="308388"/>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12 Rectángulo">
            <a:extLst>
              <a:ext uri="{FF2B5EF4-FFF2-40B4-BE49-F238E27FC236}">
                <a16:creationId xmlns:a16="http://schemas.microsoft.com/office/drawing/2014/main" id="{B16CC67C-790E-4C2D-A13A-E89A67F4BBBC}"/>
              </a:ext>
            </a:extLst>
          </p:cNvPr>
          <p:cNvSpPr/>
          <p:nvPr/>
        </p:nvSpPr>
        <p:spPr>
          <a:xfrm>
            <a:off x="5722181" y="5633215"/>
            <a:ext cx="1458162" cy="461665"/>
          </a:xfrm>
          <a:prstGeom prst="rect">
            <a:avLst/>
          </a:prstGeom>
        </p:spPr>
        <p:txBody>
          <a:bodyPr wrap="square">
            <a:spAutoFit/>
          </a:bodyPr>
          <a:lstStyle/>
          <a:p>
            <a:r>
              <a:rPr lang="es-CO" sz="1200" b="1" dirty="0">
                <a:solidFill>
                  <a:srgbClr val="FF0000"/>
                </a:solidFill>
                <a:latin typeface="Century Gothic" panose="020B0502020202020204" pitchFamily="34" charset="0"/>
              </a:rPr>
              <a:t>Implementación del Algoritmo</a:t>
            </a:r>
            <a:endParaRPr lang="es-CO" sz="1350" b="1"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1287056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332656"/>
            <a:ext cx="8263830" cy="1116540"/>
          </a:xfrm>
        </p:spPr>
        <p:txBody>
          <a:bodyPr/>
          <a:lstStyle/>
          <a:p>
            <a:r>
              <a:rPr lang="es-CO" sz="3200" dirty="0"/>
              <a:t>Método de Polya - Resumen</a:t>
            </a:r>
            <a:endParaRPr lang="en-US" sz="32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9</a:t>
            </a:fld>
            <a:endParaRPr lang="en-US" dirty="0"/>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3324537454"/>
              </p:ext>
            </p:extLst>
          </p:nvPr>
        </p:nvGraphicFramePr>
        <p:xfrm>
          <a:off x="3059832" y="1700808"/>
          <a:ext cx="5616624" cy="288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544" y="2089947"/>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8404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289109"/>
            <a:ext cx="7886700" cy="1116540"/>
          </a:xfrm>
        </p:spPr>
        <p:txBody>
          <a:bodyPr/>
          <a:lstStyle/>
          <a:p>
            <a:r>
              <a:rPr lang="en-US" sz="3200" dirty="0"/>
              <a:t>Datos en algorítmos</a:t>
            </a:r>
          </a:p>
        </p:txBody>
      </p:sp>
      <p:sp>
        <p:nvSpPr>
          <p:cNvPr id="2" name="Content Placeholder 1"/>
          <p:cNvSpPr>
            <a:spLocks noGrp="1"/>
          </p:cNvSpPr>
          <p:nvPr>
            <p:ph idx="1"/>
          </p:nvPr>
        </p:nvSpPr>
        <p:spPr>
          <a:xfrm>
            <a:off x="251707" y="1248882"/>
            <a:ext cx="8392622" cy="1872208"/>
          </a:xfrm>
        </p:spPr>
        <p:txBody>
          <a:bodyPr>
            <a:normAutofit/>
          </a:bodyPr>
          <a:lstStyle/>
          <a:p>
            <a:pPr marL="0" indent="0">
              <a:buNone/>
            </a:pPr>
            <a:r>
              <a:rPr lang="en-US" sz="2200" b="1" dirty="0">
                <a:solidFill>
                  <a:srgbClr val="FF0000"/>
                </a:solidFill>
              </a:rPr>
              <a:t>Variable</a:t>
            </a:r>
            <a:r>
              <a:rPr lang="en-US" sz="2200" dirty="0"/>
              <a:t>: </a:t>
            </a:r>
            <a:r>
              <a:rPr lang="es-ES" sz="2200" dirty="0"/>
              <a:t> espacio de memoria asociado con un identificador  (nombre) que almacena un valor que puede ser modificado por instrucciones del algoritmo:</a:t>
            </a:r>
          </a:p>
          <a:p>
            <a:r>
              <a:rPr lang="en-US" sz="2200" dirty="0"/>
              <a:t>De entrada y salida.</a:t>
            </a:r>
          </a:p>
          <a:p>
            <a:r>
              <a:rPr lang="en-US" sz="2200" dirty="0"/>
              <a:t>Variables auxiliares.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10</a:t>
            </a:fld>
            <a:endParaRPr lang="en-US" dirty="0"/>
          </a:p>
        </p:txBody>
      </p:sp>
      <p:sp>
        <p:nvSpPr>
          <p:cNvPr id="6" name="5 CuadroTexto"/>
          <p:cNvSpPr txBox="1"/>
          <p:nvPr/>
        </p:nvSpPr>
        <p:spPr>
          <a:xfrm>
            <a:off x="621089" y="3510926"/>
            <a:ext cx="2687116" cy="1938992"/>
          </a:xfrm>
          <a:prstGeom prst="rect">
            <a:avLst/>
          </a:prstGeom>
          <a:noFill/>
          <a:ln w="28575">
            <a:solidFill>
              <a:schemeClr val="tx1"/>
            </a:solidFill>
          </a:ln>
        </p:spPr>
        <p:txBody>
          <a:bodyPr wrap="square" rtlCol="0">
            <a:spAutoFit/>
          </a:bodyPr>
          <a:lstStyle/>
          <a:p>
            <a:r>
              <a:rPr lang="es-CO" sz="2000" dirty="0">
                <a:latin typeface="Consolas" panose="020B0609020204030204" pitchFamily="49" charset="0"/>
                <a:cs typeface="Consolas" panose="020B0609020204030204" pitchFamily="49" charset="0"/>
              </a:rPr>
              <a:t>x = 3</a:t>
            </a:r>
          </a:p>
          <a:p>
            <a:r>
              <a:rPr lang="es-CO" sz="2000" dirty="0">
                <a:latin typeface="Consolas" panose="020B0609020204030204" pitchFamily="49" charset="0"/>
                <a:cs typeface="Consolas" panose="020B0609020204030204" pitchFamily="49" charset="0"/>
              </a:rPr>
              <a:t>y = 6</a:t>
            </a:r>
          </a:p>
          <a:p>
            <a:r>
              <a:rPr lang="es-CO" sz="2000" dirty="0">
                <a:latin typeface="Consolas" panose="020B0609020204030204" pitchFamily="49" charset="0"/>
                <a:cs typeface="Consolas" panose="020B0609020204030204" pitchFamily="49" charset="0"/>
              </a:rPr>
              <a:t>y = y + 2*x </a:t>
            </a:r>
          </a:p>
          <a:p>
            <a:r>
              <a:rPr lang="es-CO" sz="2000" dirty="0">
                <a:latin typeface="Consolas" panose="020B0609020204030204" pitchFamily="49" charset="0"/>
                <a:cs typeface="Consolas" panose="020B0609020204030204" pitchFamily="49" charset="0"/>
              </a:rPr>
              <a:t>x = x + 1</a:t>
            </a:r>
          </a:p>
          <a:p>
            <a:r>
              <a:rPr lang="es-CO" sz="2000" dirty="0">
                <a:latin typeface="Consolas" panose="020B0609020204030204" pitchFamily="49" charset="0"/>
                <a:cs typeface="Consolas" panose="020B0609020204030204" pitchFamily="49" charset="0"/>
              </a:rPr>
              <a:t>z = x - 2*(y – 1)</a:t>
            </a:r>
          </a:p>
          <a:p>
            <a:r>
              <a:rPr lang="es-CO" sz="2000" dirty="0">
                <a:latin typeface="Consolas" panose="020B0609020204030204" pitchFamily="49" charset="0"/>
                <a:cs typeface="Consolas" panose="020B0609020204030204" pitchFamily="49" charset="0"/>
              </a:rPr>
              <a:t>Z = -z</a:t>
            </a:r>
          </a:p>
        </p:txBody>
      </p:sp>
      <p:sp>
        <p:nvSpPr>
          <p:cNvPr id="8" name="7 CuadroTexto"/>
          <p:cNvSpPr txBox="1"/>
          <p:nvPr/>
        </p:nvSpPr>
        <p:spPr>
          <a:xfrm>
            <a:off x="3552625" y="3521234"/>
            <a:ext cx="4896544" cy="1785104"/>
          </a:xfrm>
          <a:prstGeom prst="rect">
            <a:avLst/>
          </a:prstGeom>
          <a:noFill/>
        </p:spPr>
        <p:txBody>
          <a:bodyPr wrap="square" rtlCol="0">
            <a:spAutoFit/>
          </a:bodyPr>
          <a:lstStyle/>
          <a:p>
            <a:r>
              <a:rPr lang="es-CO" sz="2000" b="1" dirty="0">
                <a:solidFill>
                  <a:srgbClr val="FF0000"/>
                </a:solidFill>
              </a:rPr>
              <a:t>Ejemplo</a:t>
            </a:r>
            <a:r>
              <a:rPr lang="es-CO" sz="2000" dirty="0">
                <a:solidFill>
                  <a:srgbClr val="FF0000"/>
                </a:solidFill>
              </a:rPr>
              <a:t>: </a:t>
            </a:r>
          </a:p>
          <a:p>
            <a:r>
              <a:rPr lang="es-CO" dirty="0"/>
              <a:t>Dado el conjunto de instrucciones mostrado a en el cuadro:</a:t>
            </a:r>
          </a:p>
          <a:p>
            <a:pPr marL="285750" indent="-285750">
              <a:buFont typeface="Arial" panose="020B0604020202020204" pitchFamily="34" charset="0"/>
              <a:buChar char="•"/>
            </a:pPr>
            <a:r>
              <a:rPr lang="es-CO" dirty="0"/>
              <a:t>¿Cuantas variables hay?</a:t>
            </a:r>
          </a:p>
          <a:p>
            <a:pPr marL="285750" indent="-285750">
              <a:buFont typeface="Arial" panose="020B0604020202020204" pitchFamily="34" charset="0"/>
              <a:buChar char="•"/>
            </a:pPr>
            <a:r>
              <a:rPr lang="es-CO" dirty="0"/>
              <a:t>¿Cuáles son esas variables?</a:t>
            </a:r>
          </a:p>
          <a:p>
            <a:pPr marL="285750" indent="-285750">
              <a:buFont typeface="Arial" panose="020B0604020202020204" pitchFamily="34" charset="0"/>
              <a:buChar char="•"/>
            </a:pPr>
            <a:r>
              <a:rPr lang="es-CO" dirty="0"/>
              <a:t>¿Cuál es el valor final de estas?</a:t>
            </a:r>
          </a:p>
        </p:txBody>
      </p:sp>
      <p:sp>
        <p:nvSpPr>
          <p:cNvPr id="9" name="CuadroTexto 8">
            <a:extLst>
              <a:ext uri="{FF2B5EF4-FFF2-40B4-BE49-F238E27FC236}">
                <a16:creationId xmlns:a16="http://schemas.microsoft.com/office/drawing/2014/main" id="{7C8E84EA-45AB-4748-9272-222329310ED9}"/>
              </a:ext>
            </a:extLst>
          </p:cNvPr>
          <p:cNvSpPr txBox="1"/>
          <p:nvPr/>
        </p:nvSpPr>
        <p:spPr>
          <a:xfrm>
            <a:off x="1475656" y="5655088"/>
            <a:ext cx="792088" cy="369332"/>
          </a:xfrm>
          <a:prstGeom prst="rect">
            <a:avLst/>
          </a:prstGeom>
          <a:noFill/>
        </p:spPr>
        <p:txBody>
          <a:bodyPr wrap="square">
            <a:spAutoFit/>
          </a:bodyPr>
          <a:lstStyle/>
          <a:p>
            <a:pPr algn="ctr"/>
            <a:r>
              <a:rPr lang="es-ES" sz="1800" dirty="0">
                <a:hlinkClick r:id="rId2"/>
              </a:rPr>
              <a:t>link</a:t>
            </a:r>
            <a:endParaRPr lang="es-CO" dirty="0"/>
          </a:p>
        </p:txBody>
      </p:sp>
    </p:spTree>
    <p:extLst>
      <p:ext uri="{BB962C8B-B14F-4D97-AF65-F5344CB8AC3E}">
        <p14:creationId xmlns:p14="http://schemas.microsoft.com/office/powerpoint/2010/main" val="202103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1116540"/>
          </a:xfrm>
        </p:spPr>
        <p:txBody>
          <a:bodyPr/>
          <a:lstStyle/>
          <a:p>
            <a:r>
              <a:rPr lang="en-US" sz="3200" dirty="0"/>
              <a:t>Datos en algorítmos</a:t>
            </a:r>
          </a:p>
        </p:txBody>
      </p:sp>
      <p:sp>
        <p:nvSpPr>
          <p:cNvPr id="2" name="Content Placeholder 1"/>
          <p:cNvSpPr>
            <a:spLocks noGrp="1"/>
          </p:cNvSpPr>
          <p:nvPr>
            <p:ph idx="1"/>
          </p:nvPr>
        </p:nvSpPr>
        <p:spPr>
          <a:xfrm>
            <a:off x="202195" y="1082418"/>
            <a:ext cx="8568952" cy="762406"/>
          </a:xfrm>
        </p:spPr>
        <p:txBody>
          <a:bodyPr>
            <a:normAutofit/>
          </a:bodyPr>
          <a:lstStyle/>
          <a:p>
            <a:r>
              <a:rPr lang="es-CO" sz="2200" dirty="0"/>
              <a:t>Una </a:t>
            </a:r>
            <a:r>
              <a:rPr lang="es-CO" sz="2200" b="1" dirty="0">
                <a:solidFill>
                  <a:srgbClr val="FF0000"/>
                </a:solidFill>
              </a:rPr>
              <a:t>variable</a:t>
            </a:r>
            <a:r>
              <a:rPr lang="es-CO" sz="2200" dirty="0"/>
              <a:t> puede representar un número decimal, un numero entero, un arreglo de números o de caracteres, etc.</a:t>
            </a:r>
            <a:endParaRPr lang="en-US" sz="22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11</a:t>
            </a:fld>
            <a:endParaRPr lang="en-US" dirty="0"/>
          </a:p>
        </p:txBody>
      </p:sp>
      <p:graphicFrame>
        <p:nvGraphicFramePr>
          <p:cNvPr id="7" name="Tabla 19">
            <a:extLst>
              <a:ext uri="{FF2B5EF4-FFF2-40B4-BE49-F238E27FC236}">
                <a16:creationId xmlns:a16="http://schemas.microsoft.com/office/drawing/2014/main" id="{52F76C5E-B156-4EFA-8E2C-B3BF63CE80AD}"/>
              </a:ext>
            </a:extLst>
          </p:cNvPr>
          <p:cNvGraphicFramePr>
            <a:graphicFrameLocks noGrp="1"/>
          </p:cNvGraphicFramePr>
          <p:nvPr>
            <p:extLst>
              <p:ext uri="{D42A27DB-BD31-4B8C-83A1-F6EECF244321}">
                <p14:modId xmlns:p14="http://schemas.microsoft.com/office/powerpoint/2010/main" val="3569335785"/>
              </p:ext>
            </p:extLst>
          </p:nvPr>
        </p:nvGraphicFramePr>
        <p:xfrm>
          <a:off x="501070" y="1811248"/>
          <a:ext cx="8293043" cy="3489960"/>
        </p:xfrm>
        <a:graphic>
          <a:graphicData uri="http://schemas.openxmlformats.org/drawingml/2006/table">
            <a:tbl>
              <a:tblPr firstRow="1" bandRow="1">
                <a:tableStyleId>{5940675A-B579-460E-94D1-54222C63F5DA}</a:tableStyleId>
              </a:tblPr>
              <a:tblGrid>
                <a:gridCol w="1625302">
                  <a:extLst>
                    <a:ext uri="{9D8B030D-6E8A-4147-A177-3AD203B41FA5}">
                      <a16:colId xmlns:a16="http://schemas.microsoft.com/office/drawing/2014/main" val="739729413"/>
                    </a:ext>
                  </a:extLst>
                </a:gridCol>
                <a:gridCol w="1261279">
                  <a:extLst>
                    <a:ext uri="{9D8B030D-6E8A-4147-A177-3AD203B41FA5}">
                      <a16:colId xmlns:a16="http://schemas.microsoft.com/office/drawing/2014/main" val="3254429892"/>
                    </a:ext>
                  </a:extLst>
                </a:gridCol>
                <a:gridCol w="3297389">
                  <a:extLst>
                    <a:ext uri="{9D8B030D-6E8A-4147-A177-3AD203B41FA5}">
                      <a16:colId xmlns:a16="http://schemas.microsoft.com/office/drawing/2014/main" val="3190591107"/>
                    </a:ext>
                  </a:extLst>
                </a:gridCol>
                <a:gridCol w="2109073">
                  <a:extLst>
                    <a:ext uri="{9D8B030D-6E8A-4147-A177-3AD203B41FA5}">
                      <a16:colId xmlns:a16="http://schemas.microsoft.com/office/drawing/2014/main" val="1522724985"/>
                    </a:ext>
                  </a:extLst>
                </a:gridCol>
              </a:tblGrid>
              <a:tr h="370840">
                <a:tc>
                  <a:txBody>
                    <a:bodyPr/>
                    <a:lstStyle/>
                    <a:p>
                      <a:r>
                        <a:rPr lang="es-MX" sz="1800" b="1" dirty="0">
                          <a:solidFill>
                            <a:schemeClr val="bg1"/>
                          </a:solidFill>
                          <a:latin typeface="+mn-lt"/>
                        </a:rPr>
                        <a:t>Grupo</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Tipo</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Descripción</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Ejemplo</a:t>
                      </a:r>
                      <a:endParaRPr lang="es-CO" sz="1800" b="1" dirty="0">
                        <a:solidFill>
                          <a:schemeClr val="bg1"/>
                        </a:solidFill>
                        <a:latin typeface="+mn-lt"/>
                      </a:endParaRPr>
                    </a:p>
                  </a:txBody>
                  <a:tcPr>
                    <a:solidFill>
                      <a:schemeClr val="tx1"/>
                    </a:solidFill>
                  </a:tcPr>
                </a:tc>
                <a:extLst>
                  <a:ext uri="{0D108BD9-81ED-4DB2-BD59-A6C34878D82A}">
                    <a16:rowId xmlns:a16="http://schemas.microsoft.com/office/drawing/2014/main" val="1346299279"/>
                  </a:ext>
                </a:extLst>
              </a:tr>
              <a:tr h="370840">
                <a:tc rowSpan="2">
                  <a:txBody>
                    <a:bodyPr/>
                    <a:lstStyle/>
                    <a:p>
                      <a:r>
                        <a:rPr lang="es-MX" sz="1400" dirty="0">
                          <a:latin typeface="+mn-lt"/>
                        </a:rPr>
                        <a:t>Numéricas</a:t>
                      </a:r>
                      <a:endParaRPr lang="es-CO" sz="1400" dirty="0">
                        <a:latin typeface="+mn-lt"/>
                      </a:endParaRPr>
                    </a:p>
                  </a:txBody>
                  <a:tcPr/>
                </a:tc>
                <a:tc>
                  <a:txBody>
                    <a:bodyPr/>
                    <a:lstStyle/>
                    <a:p>
                      <a:r>
                        <a:rPr lang="es-MX" sz="1400" dirty="0">
                          <a:latin typeface="+mn-lt"/>
                        </a:rPr>
                        <a:t>Enteros</a:t>
                      </a:r>
                      <a:endParaRPr lang="es-CO" sz="1400" dirty="0">
                        <a:latin typeface="+mn-lt"/>
                      </a:endParaRPr>
                    </a:p>
                  </a:txBody>
                  <a:tcPr/>
                </a:tc>
                <a:tc>
                  <a:txBody>
                    <a:bodyPr/>
                    <a:lstStyle/>
                    <a:p>
                      <a:r>
                        <a:rPr lang="es-MX" sz="1400" dirty="0">
                          <a:latin typeface="+mn-lt"/>
                        </a:rPr>
                        <a:t>Variables asociadas a números enteros, es decir, sin parte decimal</a:t>
                      </a:r>
                      <a:endParaRPr lang="es-CO" sz="1400" dirty="0">
                        <a:latin typeface="+mn-lt"/>
                      </a:endParaRPr>
                    </a:p>
                  </a:txBody>
                  <a:tcPr/>
                </a:tc>
                <a:tc>
                  <a:txBody>
                    <a:bodyPr/>
                    <a:lstStyle/>
                    <a:p>
                      <a:r>
                        <a:rPr lang="es-MX" sz="1400" dirty="0">
                          <a:latin typeface="Century Gothic" panose="020B0502020202020204" pitchFamily="34" charset="0"/>
                        </a:rPr>
                        <a:t>5, 6, -12, 3000,…</a:t>
                      </a:r>
                      <a:endParaRPr lang="es-CO" sz="1400" dirty="0">
                        <a:latin typeface="Century Gothic" panose="020B0502020202020204" pitchFamily="34" charset="0"/>
                      </a:endParaRPr>
                    </a:p>
                  </a:txBody>
                  <a:tcPr/>
                </a:tc>
                <a:extLst>
                  <a:ext uri="{0D108BD9-81ED-4DB2-BD59-A6C34878D82A}">
                    <a16:rowId xmlns:a16="http://schemas.microsoft.com/office/drawing/2014/main" val="2822273762"/>
                  </a:ext>
                </a:extLst>
              </a:tr>
              <a:tr h="370840">
                <a:tc vMerge="1">
                  <a:txBody>
                    <a:bodyPr/>
                    <a:lstStyle/>
                    <a:p>
                      <a:endParaRPr lang="es-CO" sz="2000" dirty="0">
                        <a:latin typeface="Century Gothic" panose="020B0502020202020204" pitchFamily="34" charset="0"/>
                      </a:endParaRPr>
                    </a:p>
                  </a:txBody>
                  <a:tcPr/>
                </a:tc>
                <a:tc>
                  <a:txBody>
                    <a:bodyPr/>
                    <a:lstStyle/>
                    <a:p>
                      <a:r>
                        <a:rPr lang="es-MX" sz="1400" dirty="0">
                          <a:latin typeface="+mn-lt"/>
                        </a:rPr>
                        <a:t>Reales</a:t>
                      </a:r>
                      <a:endParaRPr lang="es-CO" sz="1400" dirty="0">
                        <a:latin typeface="+mn-lt"/>
                      </a:endParaRPr>
                    </a:p>
                  </a:txBody>
                  <a:tcPr/>
                </a:tc>
                <a:tc>
                  <a:txBody>
                    <a:bodyPr/>
                    <a:lstStyle/>
                    <a:p>
                      <a:r>
                        <a:rPr lang="es-MX" sz="1400" dirty="0">
                          <a:latin typeface="+mn-lt"/>
                        </a:rPr>
                        <a:t>Variables asociadas a números reales (con parte decimal).</a:t>
                      </a:r>
                      <a:endParaRPr lang="es-CO" sz="1400" dirty="0">
                        <a:latin typeface="+mn-lt"/>
                      </a:endParaRPr>
                    </a:p>
                  </a:txBody>
                  <a:tcPr/>
                </a:tc>
                <a:tc>
                  <a:txBody>
                    <a:bodyPr/>
                    <a:lstStyle/>
                    <a:p>
                      <a:r>
                        <a:rPr lang="es-MX" sz="1400" dirty="0">
                          <a:latin typeface="Century Gothic" panose="020B0502020202020204" pitchFamily="34" charset="0"/>
                        </a:rPr>
                        <a:t>0.08, 10.0, -1.5, 300.26,…</a:t>
                      </a:r>
                      <a:endParaRPr lang="es-CO" sz="1400" dirty="0">
                        <a:latin typeface="Century Gothic" panose="020B0502020202020204" pitchFamily="34" charset="0"/>
                      </a:endParaRPr>
                    </a:p>
                  </a:txBody>
                  <a:tcPr/>
                </a:tc>
                <a:extLst>
                  <a:ext uri="{0D108BD9-81ED-4DB2-BD59-A6C34878D82A}">
                    <a16:rowId xmlns:a16="http://schemas.microsoft.com/office/drawing/2014/main" val="378661654"/>
                  </a:ext>
                </a:extLst>
              </a:tr>
              <a:tr h="1193800">
                <a:tc>
                  <a:txBody>
                    <a:bodyPr/>
                    <a:lstStyle/>
                    <a:p>
                      <a:r>
                        <a:rPr lang="es-MX" sz="1400" dirty="0">
                          <a:latin typeface="+mn-lt"/>
                        </a:rPr>
                        <a:t>Lógicas</a:t>
                      </a:r>
                      <a:endParaRPr lang="es-CO" sz="1400" dirty="0">
                        <a:latin typeface="+mn-lt"/>
                      </a:endParaRPr>
                    </a:p>
                  </a:txBody>
                  <a:tcPr/>
                </a:tc>
                <a:tc>
                  <a:txBody>
                    <a:bodyPr/>
                    <a:lstStyle/>
                    <a:p>
                      <a:r>
                        <a:rPr lang="es-MX" sz="1400" dirty="0">
                          <a:latin typeface="+mn-lt"/>
                        </a:rPr>
                        <a:t>Booleanas</a:t>
                      </a:r>
                      <a:endParaRPr lang="es-CO" sz="1400" dirty="0">
                        <a:latin typeface="+mn-lt"/>
                      </a:endParaRPr>
                    </a:p>
                  </a:txBody>
                  <a:tcPr/>
                </a:tc>
                <a:tc>
                  <a:txBody>
                    <a:bodyPr/>
                    <a:lstStyle/>
                    <a:p>
                      <a:r>
                        <a:rPr lang="es-MX" sz="1400" dirty="0">
                          <a:latin typeface="+mn-lt"/>
                        </a:rPr>
                        <a:t>Variables que pueden tomar dos posibles valores</a:t>
                      </a:r>
                      <a:endParaRPr lang="es-CO" sz="1400" dirty="0">
                        <a:latin typeface="+mn-lt"/>
                      </a:endParaRPr>
                    </a:p>
                  </a:txBody>
                  <a:tcPr/>
                </a:tc>
                <a:tc>
                  <a:txBody>
                    <a:bodyPr/>
                    <a:lstStyle/>
                    <a:p>
                      <a:r>
                        <a:rPr lang="es-MX" sz="1400" dirty="0">
                          <a:latin typeface="Century Gothic" panose="020B0502020202020204" pitchFamily="34" charset="0"/>
                        </a:rPr>
                        <a:t>True (Verdadero), False (Falso)</a:t>
                      </a:r>
                      <a:endParaRPr lang="es-CO" sz="1400" dirty="0">
                        <a:latin typeface="Century Gothic" panose="020B0502020202020204" pitchFamily="34" charset="0"/>
                      </a:endParaRPr>
                    </a:p>
                  </a:txBody>
                  <a:tcPr/>
                </a:tc>
                <a:extLst>
                  <a:ext uri="{0D108BD9-81ED-4DB2-BD59-A6C34878D82A}">
                    <a16:rowId xmlns:a16="http://schemas.microsoft.com/office/drawing/2014/main" val="3975723690"/>
                  </a:ext>
                </a:extLst>
              </a:tr>
              <a:tr h="370840">
                <a:tc rowSpan="2">
                  <a:txBody>
                    <a:bodyPr/>
                    <a:lstStyle/>
                    <a:p>
                      <a:r>
                        <a:rPr lang="es-MX" sz="1400" dirty="0">
                          <a:latin typeface="+mn-lt"/>
                        </a:rPr>
                        <a:t>Alfanuméricas</a:t>
                      </a:r>
                      <a:endParaRPr lang="es-CO" sz="1400" dirty="0">
                        <a:latin typeface="+mn-lt"/>
                      </a:endParaRPr>
                    </a:p>
                  </a:txBody>
                  <a:tcPr/>
                </a:tc>
                <a:tc>
                  <a:txBody>
                    <a:bodyPr/>
                    <a:lstStyle/>
                    <a:p>
                      <a:r>
                        <a:rPr lang="es-MX" sz="1400" dirty="0">
                          <a:latin typeface="+mn-lt"/>
                        </a:rPr>
                        <a:t>Carácter</a:t>
                      </a:r>
                      <a:endParaRPr lang="es-CO" sz="1400" dirty="0">
                        <a:latin typeface="+mn-lt"/>
                      </a:endParaRPr>
                    </a:p>
                  </a:txBody>
                  <a:tcPr/>
                </a:tc>
                <a:tc rowSpan="2">
                  <a:txBody>
                    <a:bodyPr/>
                    <a:lstStyle/>
                    <a:p>
                      <a:r>
                        <a:rPr lang="es-MX" sz="1400" dirty="0">
                          <a:latin typeface="+mn-lt"/>
                        </a:rPr>
                        <a:t>Variables que pueden tomar solo un conjunto finito de valores reconocidos por computador</a:t>
                      </a:r>
                      <a:endParaRPr lang="es-CO" sz="1400" dirty="0">
                        <a:latin typeface="+mn-lt"/>
                      </a:endParaRPr>
                    </a:p>
                  </a:txBody>
                  <a:tcPr/>
                </a:tc>
                <a:tc rowSpan="2">
                  <a:txBody>
                    <a:bodyPr/>
                    <a:lstStyle/>
                    <a:p>
                      <a:r>
                        <a:rPr lang="es-MX" sz="1400" dirty="0">
                          <a:latin typeface="Century Gothic" panose="020B0502020202020204" pitchFamily="34" charset="0"/>
                          <a:hlinkClick r:id="rId2"/>
                        </a:rPr>
                        <a:t>tabla </a:t>
                      </a:r>
                      <a:r>
                        <a:rPr lang="es-MX" sz="1400" dirty="0" err="1">
                          <a:latin typeface="Century Gothic" panose="020B0502020202020204" pitchFamily="34" charset="0"/>
                          <a:hlinkClick r:id="rId2"/>
                        </a:rPr>
                        <a:t>ascii</a:t>
                      </a:r>
                      <a:r>
                        <a:rPr lang="es-MX" sz="1400" dirty="0">
                          <a:latin typeface="Century Gothic" panose="020B0502020202020204" pitchFamily="34" charset="0"/>
                        </a:rPr>
                        <a:t>, </a:t>
                      </a:r>
                      <a:r>
                        <a:rPr lang="es-MX" sz="1400" dirty="0">
                          <a:latin typeface="Century Gothic" panose="020B0502020202020204" pitchFamily="34" charset="0"/>
                          <a:hlinkClick r:id="rId3"/>
                        </a:rPr>
                        <a:t>tabla Unicode,</a:t>
                      </a:r>
                      <a:r>
                        <a:rPr lang="es-MX" sz="1400" dirty="0">
                          <a:latin typeface="Century Gothic" panose="020B0502020202020204" pitchFamily="34" charset="0"/>
                        </a:rPr>
                        <a:t> etc.</a:t>
                      </a:r>
                      <a:endParaRPr lang="es-CO" sz="1400" dirty="0">
                        <a:latin typeface="Century Gothic" panose="020B0502020202020204" pitchFamily="34" charset="0"/>
                      </a:endParaRPr>
                    </a:p>
                  </a:txBody>
                  <a:tcPr/>
                </a:tc>
                <a:extLst>
                  <a:ext uri="{0D108BD9-81ED-4DB2-BD59-A6C34878D82A}">
                    <a16:rowId xmlns:a16="http://schemas.microsoft.com/office/drawing/2014/main" val="3459740466"/>
                  </a:ext>
                </a:extLst>
              </a:tr>
              <a:tr h="370840">
                <a:tc vMerge="1">
                  <a:txBody>
                    <a:bodyPr/>
                    <a:lstStyle/>
                    <a:p>
                      <a:endParaRPr lang="es-CO" sz="2000" dirty="0">
                        <a:latin typeface="Century Gothic" panose="020B0502020202020204" pitchFamily="34" charset="0"/>
                      </a:endParaRPr>
                    </a:p>
                  </a:txBody>
                  <a:tcPr/>
                </a:tc>
                <a:tc>
                  <a:txBody>
                    <a:bodyPr/>
                    <a:lstStyle/>
                    <a:p>
                      <a:r>
                        <a:rPr lang="es-MX" sz="1400" dirty="0">
                          <a:latin typeface="+mn-lt"/>
                        </a:rPr>
                        <a:t>Cadena (</a:t>
                      </a:r>
                      <a:r>
                        <a:rPr lang="es-MX" sz="1400" b="1" dirty="0">
                          <a:latin typeface="+mn-lt"/>
                        </a:rPr>
                        <a:t>Texto</a:t>
                      </a:r>
                      <a:r>
                        <a:rPr lang="es-MX" sz="1400" dirty="0">
                          <a:latin typeface="+mn-lt"/>
                        </a:rPr>
                        <a:t>)</a:t>
                      </a:r>
                      <a:endParaRPr lang="es-CO" sz="1400" dirty="0">
                        <a:latin typeface="+mn-lt"/>
                      </a:endParaRPr>
                    </a:p>
                  </a:txBody>
                  <a:tcPr/>
                </a:tc>
                <a:tc vMerge="1">
                  <a:txBody>
                    <a:bodyPr/>
                    <a:lstStyle/>
                    <a:p>
                      <a:endParaRPr lang="es-CO" sz="1600" dirty="0">
                        <a:latin typeface="Century Gothic" panose="020B0502020202020204" pitchFamily="34" charset="0"/>
                      </a:endParaRPr>
                    </a:p>
                  </a:txBody>
                  <a:tcPr/>
                </a:tc>
                <a:tc vMerge="1">
                  <a:txBody>
                    <a:bodyPr/>
                    <a:lstStyle/>
                    <a:p>
                      <a:endParaRPr lang="es-CO" sz="1600" dirty="0">
                        <a:latin typeface="Century Gothic" panose="020B0502020202020204" pitchFamily="34" charset="0"/>
                      </a:endParaRPr>
                    </a:p>
                  </a:txBody>
                  <a:tcPr/>
                </a:tc>
                <a:extLst>
                  <a:ext uri="{0D108BD9-81ED-4DB2-BD59-A6C34878D82A}">
                    <a16:rowId xmlns:a16="http://schemas.microsoft.com/office/drawing/2014/main" val="2446729419"/>
                  </a:ext>
                </a:extLst>
              </a:tr>
            </a:tbl>
          </a:graphicData>
        </a:graphic>
      </p:graphicFrame>
      <p:sp>
        <p:nvSpPr>
          <p:cNvPr id="6" name="Content Placeholder 1">
            <a:extLst>
              <a:ext uri="{FF2B5EF4-FFF2-40B4-BE49-F238E27FC236}">
                <a16:creationId xmlns:a16="http://schemas.microsoft.com/office/drawing/2014/main" id="{512B04AB-F6BB-42D0-A78F-D83381B4A384}"/>
              </a:ext>
            </a:extLst>
          </p:cNvPr>
          <p:cNvSpPr txBox="1">
            <a:spLocks/>
          </p:cNvSpPr>
          <p:nvPr/>
        </p:nvSpPr>
        <p:spPr>
          <a:xfrm>
            <a:off x="225161" y="5419414"/>
            <a:ext cx="8568952" cy="7624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O" sz="2200" b="1" dirty="0"/>
              <a:t>Declaración de variables</a:t>
            </a:r>
            <a:r>
              <a:rPr lang="es-CO" sz="2200" dirty="0"/>
              <a:t>: Consiste en</a:t>
            </a:r>
            <a:r>
              <a:rPr lang="es-MX" sz="2200" dirty="0"/>
              <a:t> asignarle un nombre (identificador) a un espacio en memoria donde se va a guardar un valor</a:t>
            </a:r>
            <a:endParaRPr lang="en-US" sz="2400" dirty="0"/>
          </a:p>
        </p:txBody>
      </p:sp>
    </p:spTree>
    <p:extLst>
      <p:ext uri="{BB962C8B-B14F-4D97-AF65-F5344CB8AC3E}">
        <p14:creationId xmlns:p14="http://schemas.microsoft.com/office/powerpoint/2010/main" val="316307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1116540"/>
          </a:xfrm>
        </p:spPr>
        <p:txBody>
          <a:bodyPr/>
          <a:lstStyle/>
          <a:p>
            <a:r>
              <a:rPr lang="en-US" sz="3200" dirty="0"/>
              <a:t>Datos en algorítmos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12</a:t>
            </a:fld>
            <a:endParaRPr lang="en-US" dirty="0"/>
          </a:p>
        </p:txBody>
      </p:sp>
      <p:sp>
        <p:nvSpPr>
          <p:cNvPr id="8" name="Marcador de contenido 7">
            <a:extLst>
              <a:ext uri="{FF2B5EF4-FFF2-40B4-BE49-F238E27FC236}">
                <a16:creationId xmlns:a16="http://schemas.microsoft.com/office/drawing/2014/main" id="{A8E3E052-400D-4193-BE33-74FFC0A116B1}"/>
              </a:ext>
            </a:extLst>
          </p:cNvPr>
          <p:cNvSpPr>
            <a:spLocks noGrp="1"/>
          </p:cNvSpPr>
          <p:nvPr>
            <p:ph idx="1"/>
          </p:nvPr>
        </p:nvSpPr>
        <p:spPr>
          <a:xfrm>
            <a:off x="323528" y="1052736"/>
            <a:ext cx="8191822" cy="1008112"/>
          </a:xfrm>
        </p:spPr>
        <p:txBody>
          <a:bodyPr>
            <a:normAutofit/>
          </a:bodyPr>
          <a:lstStyle/>
          <a:p>
            <a:r>
              <a:rPr lang="es-CO" sz="2200" b="1" dirty="0"/>
              <a:t>Declaración de variables</a:t>
            </a:r>
            <a:r>
              <a:rPr lang="es-CO" sz="2200" dirty="0"/>
              <a:t>: Consiste en</a:t>
            </a:r>
            <a:r>
              <a:rPr lang="es-MX" sz="2200" dirty="0"/>
              <a:t> asignarle un nombre (identificador) a un espacio en memoria donde se va a guardar un valor</a:t>
            </a:r>
            <a:endParaRPr lang="en-US" sz="2200" dirty="0"/>
          </a:p>
          <a:p>
            <a:endParaRPr lang="es-CO" sz="2200" dirty="0"/>
          </a:p>
        </p:txBody>
      </p:sp>
      <p:sp>
        <p:nvSpPr>
          <p:cNvPr id="9" name="CuadroTexto 8">
            <a:extLst>
              <a:ext uri="{FF2B5EF4-FFF2-40B4-BE49-F238E27FC236}">
                <a16:creationId xmlns:a16="http://schemas.microsoft.com/office/drawing/2014/main" id="{D28851F9-E243-4B4E-8C57-D9265C49EB6D}"/>
              </a:ext>
            </a:extLst>
          </p:cNvPr>
          <p:cNvSpPr txBox="1"/>
          <p:nvPr/>
        </p:nvSpPr>
        <p:spPr>
          <a:xfrm>
            <a:off x="2133439" y="2959292"/>
            <a:ext cx="4572000" cy="338554"/>
          </a:xfrm>
          <a:prstGeom prst="rect">
            <a:avLst/>
          </a:prstGeom>
          <a:noFill/>
        </p:spPr>
        <p:txBody>
          <a:bodyPr wrap="square">
            <a:spAutoFit/>
          </a:bodyPr>
          <a:lstStyle/>
          <a:p>
            <a:r>
              <a:rPr lang="es-CO" sz="1600" b="1" dirty="0">
                <a:solidFill>
                  <a:schemeClr val="accent2"/>
                </a:solidFill>
                <a:latin typeface="Consolas" panose="020B0609020204030204" pitchFamily="49" charset="0"/>
              </a:rPr>
              <a:t>&lt;Tipo_de_dato&gt;</a:t>
            </a:r>
            <a:r>
              <a:rPr lang="es-CO" sz="1600" dirty="0">
                <a:latin typeface="Consolas" panose="020B0609020204030204" pitchFamily="49" charset="0"/>
              </a:rPr>
              <a:t> </a:t>
            </a:r>
            <a:r>
              <a:rPr lang="es-CO" sz="1600" dirty="0">
                <a:solidFill>
                  <a:schemeClr val="accent4"/>
                </a:solidFill>
                <a:latin typeface="Consolas" panose="020B0609020204030204" pitchFamily="49" charset="0"/>
              </a:rPr>
              <a:t>identificador</a:t>
            </a:r>
            <a:r>
              <a:rPr lang="es-CO" sz="1600" dirty="0">
                <a:latin typeface="Consolas" panose="020B0609020204030204" pitchFamily="49" charset="0"/>
              </a:rPr>
              <a:t> = valor</a:t>
            </a:r>
          </a:p>
        </p:txBody>
      </p:sp>
      <p:sp>
        <p:nvSpPr>
          <p:cNvPr id="10" name="CuadroTexto 9">
            <a:extLst>
              <a:ext uri="{FF2B5EF4-FFF2-40B4-BE49-F238E27FC236}">
                <a16:creationId xmlns:a16="http://schemas.microsoft.com/office/drawing/2014/main" id="{9ED9BAD6-0522-40D9-8CEA-A2A509E4AC1F}"/>
              </a:ext>
            </a:extLst>
          </p:cNvPr>
          <p:cNvSpPr txBox="1"/>
          <p:nvPr/>
        </p:nvSpPr>
        <p:spPr>
          <a:xfrm>
            <a:off x="640788" y="2220872"/>
            <a:ext cx="4572000" cy="307777"/>
          </a:xfrm>
          <a:prstGeom prst="rect">
            <a:avLst/>
          </a:prstGeom>
          <a:noFill/>
        </p:spPr>
        <p:txBody>
          <a:bodyPr wrap="square">
            <a:spAutoFit/>
          </a:bodyPr>
          <a:lstStyle/>
          <a:p>
            <a:pPr algn="ctr"/>
            <a:r>
              <a:rPr lang="es-CO" sz="1400" dirty="0">
                <a:solidFill>
                  <a:schemeClr val="accent2"/>
                </a:solidFill>
                <a:latin typeface="Consolas" panose="020B0609020204030204" pitchFamily="49" charset="0"/>
              </a:rPr>
              <a:t>Entero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Real</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Texto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Logico</a:t>
            </a:r>
          </a:p>
        </p:txBody>
      </p:sp>
      <p:cxnSp>
        <p:nvCxnSpPr>
          <p:cNvPr id="12" name="Conector recto de flecha 11">
            <a:extLst>
              <a:ext uri="{FF2B5EF4-FFF2-40B4-BE49-F238E27FC236}">
                <a16:creationId xmlns:a16="http://schemas.microsoft.com/office/drawing/2014/main" id="{ED1BCF28-0C75-42D7-B9A3-FA212DE75E52}"/>
              </a:ext>
            </a:extLst>
          </p:cNvPr>
          <p:cNvCxnSpPr>
            <a:stCxn id="10" idx="2"/>
          </p:cNvCxnSpPr>
          <p:nvPr/>
        </p:nvCxnSpPr>
        <p:spPr>
          <a:xfrm>
            <a:off x="2926788" y="2528649"/>
            <a:ext cx="0" cy="43064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99BFA4DA-A455-4862-BC4F-9794D5EB6D65}"/>
              </a:ext>
            </a:extLst>
          </p:cNvPr>
          <p:cNvCxnSpPr>
            <a:cxnSpLocks/>
          </p:cNvCxnSpPr>
          <p:nvPr/>
        </p:nvCxnSpPr>
        <p:spPr>
          <a:xfrm flipV="1">
            <a:off x="4572000" y="3297847"/>
            <a:ext cx="0" cy="419185"/>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6D0F1ACF-0CC2-4271-9F0B-CF3934154327}"/>
              </a:ext>
            </a:extLst>
          </p:cNvPr>
          <p:cNvSpPr txBox="1"/>
          <p:nvPr/>
        </p:nvSpPr>
        <p:spPr>
          <a:xfrm>
            <a:off x="3673452" y="3746934"/>
            <a:ext cx="1797095" cy="307777"/>
          </a:xfrm>
          <a:prstGeom prst="rect">
            <a:avLst/>
          </a:prstGeom>
          <a:noFill/>
        </p:spPr>
        <p:txBody>
          <a:bodyPr wrap="none" rtlCol="0">
            <a:spAutoFit/>
          </a:bodyPr>
          <a:lstStyle/>
          <a:p>
            <a:r>
              <a:rPr lang="es-CO" sz="1400" dirty="0">
                <a:solidFill>
                  <a:srgbClr val="0070C0"/>
                </a:solidFill>
              </a:rPr>
              <a:t>Nombre de la variable</a:t>
            </a:r>
          </a:p>
        </p:txBody>
      </p:sp>
      <p:cxnSp>
        <p:nvCxnSpPr>
          <p:cNvPr id="18" name="Conector recto de flecha 17">
            <a:extLst>
              <a:ext uri="{FF2B5EF4-FFF2-40B4-BE49-F238E27FC236}">
                <a16:creationId xmlns:a16="http://schemas.microsoft.com/office/drawing/2014/main" id="{057AF4D6-FFCC-413D-8969-73088174DD07}"/>
              </a:ext>
            </a:extLst>
          </p:cNvPr>
          <p:cNvCxnSpPr>
            <a:cxnSpLocks/>
          </p:cNvCxnSpPr>
          <p:nvPr/>
        </p:nvCxnSpPr>
        <p:spPr>
          <a:xfrm>
            <a:off x="5940152" y="2636912"/>
            <a:ext cx="0" cy="3223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7798F436-8A8A-4289-807F-EA26EF077696}"/>
              </a:ext>
            </a:extLst>
          </p:cNvPr>
          <p:cNvSpPr txBox="1"/>
          <p:nvPr/>
        </p:nvSpPr>
        <p:spPr>
          <a:xfrm>
            <a:off x="5427223" y="2371710"/>
            <a:ext cx="1025858" cy="307777"/>
          </a:xfrm>
          <a:prstGeom prst="rect">
            <a:avLst/>
          </a:prstGeom>
          <a:noFill/>
        </p:spPr>
        <p:txBody>
          <a:bodyPr wrap="none" rtlCol="0">
            <a:spAutoFit/>
          </a:bodyPr>
          <a:lstStyle/>
          <a:p>
            <a:r>
              <a:rPr lang="es-CO" sz="1400" dirty="0"/>
              <a:t>Valor inicial</a:t>
            </a:r>
          </a:p>
        </p:txBody>
      </p:sp>
      <p:sp>
        <p:nvSpPr>
          <p:cNvPr id="22" name="CuadroTexto 21">
            <a:extLst>
              <a:ext uri="{FF2B5EF4-FFF2-40B4-BE49-F238E27FC236}">
                <a16:creationId xmlns:a16="http://schemas.microsoft.com/office/drawing/2014/main" id="{C0EBC0B4-22DD-4FEF-B070-FFC420D5D2B8}"/>
              </a:ext>
            </a:extLst>
          </p:cNvPr>
          <p:cNvSpPr txBox="1"/>
          <p:nvPr/>
        </p:nvSpPr>
        <p:spPr>
          <a:xfrm>
            <a:off x="657953" y="4527760"/>
            <a:ext cx="2776244" cy="738664"/>
          </a:xfrm>
          <a:prstGeom prst="rect">
            <a:avLst/>
          </a:prstGeom>
          <a:noFill/>
          <a:ln>
            <a:solidFill>
              <a:schemeClr val="tx1"/>
            </a:solidFill>
          </a:ln>
        </p:spPr>
        <p:txBody>
          <a:bodyPr wrap="square" rtlCol="0">
            <a:spAutoFit/>
          </a:bodyPr>
          <a:lstStyle/>
          <a:p>
            <a:r>
              <a:rPr lang="es-CO" sz="1400" dirty="0">
                <a:solidFill>
                  <a:schemeClr val="accent2"/>
                </a:solidFill>
                <a:latin typeface="Consolas" panose="020B0609020204030204" pitchFamily="49" charset="0"/>
                <a:cs typeface="Courier New" panose="02070309020205020404" pitchFamily="49" charset="0"/>
              </a:rPr>
              <a:t>Entero</a:t>
            </a:r>
            <a:r>
              <a:rPr lang="es-CO" sz="1400" dirty="0">
                <a:latin typeface="Consolas" panose="020B0609020204030204" pitchFamily="49" charset="0"/>
                <a:cs typeface="Courier New" panose="02070309020205020404" pitchFamily="49" charset="0"/>
              </a:rPr>
              <a:t> edad = 25</a:t>
            </a:r>
          </a:p>
          <a:p>
            <a:r>
              <a:rPr lang="es-CO" sz="1400" dirty="0">
                <a:solidFill>
                  <a:schemeClr val="accent2"/>
                </a:solidFill>
                <a:latin typeface="Consolas" panose="020B0609020204030204" pitchFamily="49" charset="0"/>
                <a:cs typeface="Courier New" panose="02070309020205020404" pitchFamily="49" charset="0"/>
              </a:rPr>
              <a:t>Real</a:t>
            </a:r>
            <a:r>
              <a:rPr lang="es-CO" sz="1400" dirty="0">
                <a:latin typeface="Consolas" panose="020B0609020204030204" pitchFamily="49" charset="0"/>
                <a:cs typeface="Courier New" panose="02070309020205020404" pitchFamily="49" charset="0"/>
              </a:rPr>
              <a:t> peso = 59.5</a:t>
            </a:r>
          </a:p>
          <a:p>
            <a:r>
              <a:rPr lang="es-CO" sz="1400" dirty="0">
                <a:solidFill>
                  <a:schemeClr val="accent2"/>
                </a:solidFill>
                <a:latin typeface="Consolas" panose="020B0609020204030204" pitchFamily="49" charset="0"/>
                <a:cs typeface="Courier New" panose="02070309020205020404" pitchFamily="49" charset="0"/>
              </a:rPr>
              <a:t>Texto</a:t>
            </a:r>
            <a:r>
              <a:rPr lang="es-CO" sz="1400" dirty="0">
                <a:latin typeface="Consolas" panose="020B0609020204030204" pitchFamily="49" charset="0"/>
                <a:cs typeface="Courier New" panose="02070309020205020404" pitchFamily="49" charset="0"/>
              </a:rPr>
              <a:t> nombre = </a:t>
            </a:r>
            <a:r>
              <a:rPr lang="es-CO" sz="1400" dirty="0"/>
              <a:t>“</a:t>
            </a:r>
            <a:r>
              <a:rPr lang="es-CO" sz="1400" dirty="0">
                <a:latin typeface="Consolas" panose="020B0609020204030204" pitchFamily="49" charset="0"/>
                <a:cs typeface="Courier New" panose="02070309020205020404" pitchFamily="49" charset="0"/>
              </a:rPr>
              <a:t>Pepe</a:t>
            </a:r>
            <a:r>
              <a:rPr lang="es-CO" sz="1400" dirty="0">
                <a:cs typeface="Courier New" panose="02070309020205020404" pitchFamily="49" charset="0"/>
              </a:rPr>
              <a:t>”</a:t>
            </a:r>
          </a:p>
        </p:txBody>
      </p:sp>
      <p:grpSp>
        <p:nvGrpSpPr>
          <p:cNvPr id="23" name="125 Grupo">
            <a:extLst>
              <a:ext uri="{FF2B5EF4-FFF2-40B4-BE49-F238E27FC236}">
                <a16:creationId xmlns:a16="http://schemas.microsoft.com/office/drawing/2014/main" id="{CFE71AD9-77FA-4578-BD4C-BAD08571D517}"/>
              </a:ext>
            </a:extLst>
          </p:cNvPr>
          <p:cNvGrpSpPr/>
          <p:nvPr/>
        </p:nvGrpSpPr>
        <p:grpSpPr>
          <a:xfrm>
            <a:off x="3981613" y="4503799"/>
            <a:ext cx="1728192" cy="1627793"/>
            <a:chOff x="2771800" y="3957882"/>
            <a:chExt cx="1728192" cy="1627793"/>
          </a:xfrm>
        </p:grpSpPr>
        <p:grpSp>
          <p:nvGrpSpPr>
            <p:cNvPr id="24" name="126 Grupo">
              <a:extLst>
                <a:ext uri="{FF2B5EF4-FFF2-40B4-BE49-F238E27FC236}">
                  <a16:creationId xmlns:a16="http://schemas.microsoft.com/office/drawing/2014/main" id="{0E0AF42A-18BA-4085-A266-BA2C99621C04}"/>
                </a:ext>
              </a:extLst>
            </p:cNvPr>
            <p:cNvGrpSpPr/>
            <p:nvPr/>
          </p:nvGrpSpPr>
          <p:grpSpPr>
            <a:xfrm>
              <a:off x="2771800" y="3957882"/>
              <a:ext cx="1728192" cy="1627793"/>
              <a:chOff x="2771800" y="3957882"/>
              <a:chExt cx="1728192" cy="1627793"/>
            </a:xfrm>
          </p:grpSpPr>
          <p:cxnSp>
            <p:nvCxnSpPr>
              <p:cNvPr id="29" name="131 Conector recto">
                <a:extLst>
                  <a:ext uri="{FF2B5EF4-FFF2-40B4-BE49-F238E27FC236}">
                    <a16:creationId xmlns:a16="http://schemas.microsoft.com/office/drawing/2014/main" id="{22D99018-6EDC-4693-BA3C-3793913EF574}"/>
                  </a:ext>
                </a:extLst>
              </p:cNvPr>
              <p:cNvCxnSpPr/>
              <p:nvPr/>
            </p:nvCxnSpPr>
            <p:spPr>
              <a:xfrm>
                <a:off x="2771800" y="3965150"/>
                <a:ext cx="0" cy="162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132 Conector recto">
                <a:extLst>
                  <a:ext uri="{FF2B5EF4-FFF2-40B4-BE49-F238E27FC236}">
                    <a16:creationId xmlns:a16="http://schemas.microsoft.com/office/drawing/2014/main" id="{91D1CBB0-9E8F-4479-B5D4-2738E2403181}"/>
                  </a:ext>
                </a:extLst>
              </p:cNvPr>
              <p:cNvCxnSpPr/>
              <p:nvPr/>
            </p:nvCxnSpPr>
            <p:spPr>
              <a:xfrm>
                <a:off x="4499992" y="3957882"/>
                <a:ext cx="0" cy="16260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127 Grupo">
              <a:extLst>
                <a:ext uri="{FF2B5EF4-FFF2-40B4-BE49-F238E27FC236}">
                  <a16:creationId xmlns:a16="http://schemas.microsoft.com/office/drawing/2014/main" id="{3EA248D8-DE68-4897-844E-BED9AD0AB510}"/>
                </a:ext>
              </a:extLst>
            </p:cNvPr>
            <p:cNvGrpSpPr/>
            <p:nvPr/>
          </p:nvGrpSpPr>
          <p:grpSpPr>
            <a:xfrm>
              <a:off x="2871849" y="3997282"/>
              <a:ext cx="979755" cy="1586627"/>
              <a:chOff x="2871849" y="3997282"/>
              <a:chExt cx="979755" cy="1586627"/>
            </a:xfrm>
          </p:grpSpPr>
          <p:cxnSp>
            <p:nvCxnSpPr>
              <p:cNvPr id="26" name="128 Conector recto">
                <a:extLst>
                  <a:ext uri="{FF2B5EF4-FFF2-40B4-BE49-F238E27FC236}">
                    <a16:creationId xmlns:a16="http://schemas.microsoft.com/office/drawing/2014/main" id="{3AAD2236-5E91-4788-AECC-CBE374577804}"/>
                  </a:ext>
                </a:extLst>
              </p:cNvPr>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129 CuadroTexto">
                <a:extLst>
                  <a:ext uri="{FF2B5EF4-FFF2-40B4-BE49-F238E27FC236}">
                    <a16:creationId xmlns:a16="http://schemas.microsoft.com/office/drawing/2014/main" id="{2ED0339C-CBDB-4851-A39E-EC269AD7AC7C}"/>
                  </a:ext>
                </a:extLst>
              </p:cNvPr>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28" name="130 CuadroTexto">
                <a:extLst>
                  <a:ext uri="{FF2B5EF4-FFF2-40B4-BE49-F238E27FC236}">
                    <a16:creationId xmlns:a16="http://schemas.microsoft.com/office/drawing/2014/main" id="{C517DDA3-C643-4E82-9362-CC188BBEF34F}"/>
                  </a:ext>
                </a:extLst>
              </p:cNvPr>
              <p:cNvSpPr txBox="1"/>
              <p:nvPr/>
            </p:nvSpPr>
            <p:spPr>
              <a:xfrm>
                <a:off x="3119841" y="5245355"/>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31" name="133 Rectángulo">
            <a:extLst>
              <a:ext uri="{FF2B5EF4-FFF2-40B4-BE49-F238E27FC236}">
                <a16:creationId xmlns:a16="http://schemas.microsoft.com/office/drawing/2014/main" id="{6E51454E-F9D7-4D9B-B61C-59FA83F99F62}"/>
              </a:ext>
            </a:extLst>
          </p:cNvPr>
          <p:cNvSpPr/>
          <p:nvPr/>
        </p:nvSpPr>
        <p:spPr>
          <a:xfrm>
            <a:off x="4123488" y="4977698"/>
            <a:ext cx="582211" cy="307777"/>
          </a:xfrm>
          <a:prstGeom prst="rect">
            <a:avLst/>
          </a:prstGeom>
        </p:spPr>
        <p:txBody>
          <a:bodyPr wrap="none">
            <a:spAutoFit/>
          </a:bodyPr>
          <a:lstStyle/>
          <a:p>
            <a:r>
              <a:rPr lang="es-CO" sz="1400" dirty="0">
                <a:latin typeface="Consolas" panose="020B0609020204030204" pitchFamily="49" charset="0"/>
                <a:cs typeface="Consolas" panose="020B0609020204030204" pitchFamily="49" charset="0"/>
              </a:rPr>
              <a:t>edad</a:t>
            </a:r>
            <a:endParaRPr lang="es-CO" sz="1600" dirty="0"/>
          </a:p>
        </p:txBody>
      </p:sp>
      <p:sp>
        <p:nvSpPr>
          <p:cNvPr id="32" name="134 Rectángulo">
            <a:extLst>
              <a:ext uri="{FF2B5EF4-FFF2-40B4-BE49-F238E27FC236}">
                <a16:creationId xmlns:a16="http://schemas.microsoft.com/office/drawing/2014/main" id="{618408D8-3990-4143-8F6A-858AB11923B4}"/>
              </a:ext>
            </a:extLst>
          </p:cNvPr>
          <p:cNvSpPr/>
          <p:nvPr/>
        </p:nvSpPr>
        <p:spPr>
          <a:xfrm>
            <a:off x="4910342" y="5013212"/>
            <a:ext cx="588995"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135 Rectángulo">
            <a:extLst>
              <a:ext uri="{FF2B5EF4-FFF2-40B4-BE49-F238E27FC236}">
                <a16:creationId xmlns:a16="http://schemas.microsoft.com/office/drawing/2014/main" id="{6B2A5209-02CC-4377-860C-94D5164AB3ED}"/>
              </a:ext>
            </a:extLst>
          </p:cNvPr>
          <p:cNvSpPr/>
          <p:nvPr/>
        </p:nvSpPr>
        <p:spPr>
          <a:xfrm>
            <a:off x="4119861" y="5273109"/>
            <a:ext cx="582211" cy="307777"/>
          </a:xfrm>
          <a:prstGeom prst="rect">
            <a:avLst/>
          </a:prstGeom>
        </p:spPr>
        <p:txBody>
          <a:bodyPr wrap="none">
            <a:spAutoFit/>
          </a:bodyPr>
          <a:lstStyle/>
          <a:p>
            <a:r>
              <a:rPr lang="es-CO" sz="1400" dirty="0">
                <a:latin typeface="Consolas" panose="020B0609020204030204" pitchFamily="49" charset="0"/>
                <a:cs typeface="Consolas" panose="020B0609020204030204" pitchFamily="49" charset="0"/>
              </a:rPr>
              <a:t>peso</a:t>
            </a:r>
            <a:endParaRPr lang="es-CO" sz="1600" dirty="0"/>
          </a:p>
        </p:txBody>
      </p:sp>
      <p:sp>
        <p:nvSpPr>
          <p:cNvPr id="34" name="136 Rectángulo">
            <a:extLst>
              <a:ext uri="{FF2B5EF4-FFF2-40B4-BE49-F238E27FC236}">
                <a16:creationId xmlns:a16="http://schemas.microsoft.com/office/drawing/2014/main" id="{28DF2066-611E-4AA8-97BE-16DBB688582B}"/>
              </a:ext>
            </a:extLst>
          </p:cNvPr>
          <p:cNvSpPr/>
          <p:nvPr/>
        </p:nvSpPr>
        <p:spPr>
          <a:xfrm>
            <a:off x="4906791" y="5283290"/>
            <a:ext cx="592546"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139 Rectángulo">
            <a:extLst>
              <a:ext uri="{FF2B5EF4-FFF2-40B4-BE49-F238E27FC236}">
                <a16:creationId xmlns:a16="http://schemas.microsoft.com/office/drawing/2014/main" id="{C6F6E895-F1F4-4945-B49A-D7CFA9D8F4E0}"/>
              </a:ext>
            </a:extLst>
          </p:cNvPr>
          <p:cNvSpPr/>
          <p:nvPr/>
        </p:nvSpPr>
        <p:spPr>
          <a:xfrm>
            <a:off x="4121240" y="5558282"/>
            <a:ext cx="780983" cy="307777"/>
          </a:xfrm>
          <a:prstGeom prst="rect">
            <a:avLst/>
          </a:prstGeom>
        </p:spPr>
        <p:txBody>
          <a:bodyPr wrap="none">
            <a:spAutoFit/>
          </a:bodyPr>
          <a:lstStyle/>
          <a:p>
            <a:r>
              <a:rPr lang="es-CO" sz="1400" dirty="0">
                <a:latin typeface="Consolas" panose="020B0609020204030204" pitchFamily="49" charset="0"/>
                <a:cs typeface="Consolas" panose="020B0609020204030204" pitchFamily="49" charset="0"/>
              </a:rPr>
              <a:t>nombre</a:t>
            </a:r>
            <a:endParaRPr lang="es-CO" sz="1600" dirty="0"/>
          </a:p>
        </p:txBody>
      </p:sp>
      <p:sp>
        <p:nvSpPr>
          <p:cNvPr id="36" name="140 Rectángulo">
            <a:extLst>
              <a:ext uri="{FF2B5EF4-FFF2-40B4-BE49-F238E27FC236}">
                <a16:creationId xmlns:a16="http://schemas.microsoft.com/office/drawing/2014/main" id="{E4E8BE65-FBA5-485E-9039-9F092A2A00D5}"/>
              </a:ext>
            </a:extLst>
          </p:cNvPr>
          <p:cNvSpPr/>
          <p:nvPr/>
        </p:nvSpPr>
        <p:spPr>
          <a:xfrm>
            <a:off x="4918157" y="5589276"/>
            <a:ext cx="581182"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141 Rectángulo">
            <a:extLst>
              <a:ext uri="{FF2B5EF4-FFF2-40B4-BE49-F238E27FC236}">
                <a16:creationId xmlns:a16="http://schemas.microsoft.com/office/drawing/2014/main" id="{C7BCD0D8-23BF-4F56-BB34-7C6A95CF93B9}"/>
              </a:ext>
            </a:extLst>
          </p:cNvPr>
          <p:cNvSpPr/>
          <p:nvPr/>
        </p:nvSpPr>
        <p:spPr>
          <a:xfrm>
            <a:off x="5006325" y="4977698"/>
            <a:ext cx="367408" cy="307777"/>
          </a:xfrm>
          <a:prstGeom prst="rect">
            <a:avLst/>
          </a:prstGeom>
        </p:spPr>
        <p:txBody>
          <a:bodyPr wrap="none">
            <a:spAutoFit/>
          </a:bodyPr>
          <a:lstStyle/>
          <a:p>
            <a:r>
              <a:rPr lang="es-CO" sz="1400" dirty="0"/>
              <a:t>25</a:t>
            </a:r>
          </a:p>
        </p:txBody>
      </p:sp>
      <p:sp>
        <p:nvSpPr>
          <p:cNvPr id="38" name="142 Rectángulo">
            <a:extLst>
              <a:ext uri="{FF2B5EF4-FFF2-40B4-BE49-F238E27FC236}">
                <a16:creationId xmlns:a16="http://schemas.microsoft.com/office/drawing/2014/main" id="{8470CA0A-6C25-4E88-A2F0-916F3CEE469A}"/>
              </a:ext>
            </a:extLst>
          </p:cNvPr>
          <p:cNvSpPr/>
          <p:nvPr/>
        </p:nvSpPr>
        <p:spPr>
          <a:xfrm>
            <a:off x="4970287" y="5244599"/>
            <a:ext cx="503664" cy="307777"/>
          </a:xfrm>
          <a:prstGeom prst="rect">
            <a:avLst/>
          </a:prstGeom>
        </p:spPr>
        <p:txBody>
          <a:bodyPr wrap="none">
            <a:spAutoFit/>
          </a:bodyPr>
          <a:lstStyle/>
          <a:p>
            <a:r>
              <a:rPr lang="es-CO" sz="1400" dirty="0"/>
              <a:t>59.5</a:t>
            </a:r>
          </a:p>
        </p:txBody>
      </p:sp>
      <p:sp>
        <p:nvSpPr>
          <p:cNvPr id="39" name="143 Rectángulo">
            <a:extLst>
              <a:ext uri="{FF2B5EF4-FFF2-40B4-BE49-F238E27FC236}">
                <a16:creationId xmlns:a16="http://schemas.microsoft.com/office/drawing/2014/main" id="{0C50CB47-1874-4B32-90AF-5CA9487B8FCA}"/>
              </a:ext>
            </a:extLst>
          </p:cNvPr>
          <p:cNvSpPr/>
          <p:nvPr/>
        </p:nvSpPr>
        <p:spPr>
          <a:xfrm>
            <a:off x="4871702" y="5552376"/>
            <a:ext cx="700833" cy="307777"/>
          </a:xfrm>
          <a:prstGeom prst="rect">
            <a:avLst/>
          </a:prstGeom>
        </p:spPr>
        <p:txBody>
          <a:bodyPr wrap="none">
            <a:spAutoFit/>
          </a:bodyPr>
          <a:lstStyle/>
          <a:p>
            <a:r>
              <a:rPr lang="es-CO" sz="1400" dirty="0"/>
              <a:t>“pepe”</a:t>
            </a:r>
          </a:p>
        </p:txBody>
      </p:sp>
    </p:spTree>
    <p:extLst>
      <p:ext uri="{BB962C8B-B14F-4D97-AF65-F5344CB8AC3E}">
        <p14:creationId xmlns:p14="http://schemas.microsoft.com/office/powerpoint/2010/main" val="246883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7309" y="166419"/>
            <a:ext cx="7886700" cy="1116540"/>
          </a:xfrm>
        </p:spPr>
        <p:txBody>
          <a:bodyPr/>
          <a:lstStyle/>
          <a:p>
            <a:r>
              <a:rPr lang="en-US" sz="3200" dirty="0"/>
              <a:t>Datos en algoritmos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13</a:t>
            </a:fld>
            <a:endParaRPr lang="en-US" dirty="0"/>
          </a:p>
        </p:txBody>
      </p:sp>
      <p:sp>
        <p:nvSpPr>
          <p:cNvPr id="15" name="CuadroTexto 14">
            <a:extLst>
              <a:ext uri="{FF2B5EF4-FFF2-40B4-BE49-F238E27FC236}">
                <a16:creationId xmlns:a16="http://schemas.microsoft.com/office/drawing/2014/main" id="{70CC87B5-FE6C-4BE6-A988-C5E4FB4A65B0}"/>
              </a:ext>
            </a:extLst>
          </p:cNvPr>
          <p:cNvSpPr txBox="1"/>
          <p:nvPr/>
        </p:nvSpPr>
        <p:spPr>
          <a:xfrm>
            <a:off x="179512" y="980728"/>
            <a:ext cx="8437799" cy="1107996"/>
          </a:xfrm>
          <a:prstGeom prst="rect">
            <a:avLst/>
          </a:prstGeom>
          <a:noFill/>
        </p:spPr>
        <p:txBody>
          <a:bodyPr wrap="square">
            <a:spAutoFit/>
          </a:bodyPr>
          <a:lstStyle/>
          <a:p>
            <a:r>
              <a:rPr lang="es-CO" sz="2200" dirty="0"/>
              <a:t>Los </a:t>
            </a:r>
            <a:r>
              <a:rPr lang="es-CO" sz="2200" b="1" dirty="0">
                <a:solidFill>
                  <a:srgbClr val="FF0000"/>
                </a:solidFill>
              </a:rPr>
              <a:t>identificadores</a:t>
            </a:r>
            <a:r>
              <a:rPr lang="es-CO" sz="2200" dirty="0"/>
              <a:t> son nombres que se dan a los elementos utilizados para resolver un problema (variables, funciones, procedimientos, nombre del programa).</a:t>
            </a:r>
          </a:p>
        </p:txBody>
      </p:sp>
      <p:graphicFrame>
        <p:nvGraphicFramePr>
          <p:cNvPr id="7" name="Tabla 6">
            <a:extLst>
              <a:ext uri="{FF2B5EF4-FFF2-40B4-BE49-F238E27FC236}">
                <a16:creationId xmlns:a16="http://schemas.microsoft.com/office/drawing/2014/main" id="{BBFFDC55-71B7-4D56-91C0-4548842FCD4D}"/>
              </a:ext>
            </a:extLst>
          </p:cNvPr>
          <p:cNvGraphicFramePr>
            <a:graphicFrameLocks noGrp="1"/>
          </p:cNvGraphicFramePr>
          <p:nvPr>
            <p:extLst>
              <p:ext uri="{D42A27DB-BD31-4B8C-83A1-F6EECF244321}">
                <p14:modId xmlns:p14="http://schemas.microsoft.com/office/powerpoint/2010/main" val="3887953358"/>
              </p:ext>
            </p:extLst>
          </p:nvPr>
        </p:nvGraphicFramePr>
        <p:xfrm>
          <a:off x="257835" y="2204864"/>
          <a:ext cx="8281152" cy="2260600"/>
        </p:xfrm>
        <a:graphic>
          <a:graphicData uri="http://schemas.openxmlformats.org/drawingml/2006/table">
            <a:tbl>
              <a:tblPr firstRow="1" bandRow="1">
                <a:tableStyleId>{5940675A-B579-460E-94D1-54222C63F5DA}</a:tableStyleId>
              </a:tblPr>
              <a:tblGrid>
                <a:gridCol w="3234045">
                  <a:extLst>
                    <a:ext uri="{9D8B030D-6E8A-4147-A177-3AD203B41FA5}">
                      <a16:colId xmlns:a16="http://schemas.microsoft.com/office/drawing/2014/main" val="3622000655"/>
                    </a:ext>
                  </a:extLst>
                </a:gridCol>
                <a:gridCol w="5047107">
                  <a:extLst>
                    <a:ext uri="{9D8B030D-6E8A-4147-A177-3AD203B41FA5}">
                      <a16:colId xmlns:a16="http://schemas.microsoft.com/office/drawing/2014/main" val="2679410866"/>
                    </a:ext>
                  </a:extLst>
                </a:gridCol>
              </a:tblGrid>
              <a:tr h="370840">
                <a:tc>
                  <a:txBody>
                    <a:bodyPr/>
                    <a:lstStyle/>
                    <a:p>
                      <a:r>
                        <a:rPr lang="es-MX" sz="1800" b="1" dirty="0">
                          <a:solidFill>
                            <a:schemeClr val="bg1"/>
                          </a:solidFill>
                          <a:latin typeface="+mn-lt"/>
                        </a:rPr>
                        <a:t>Reglas y buenas practicas</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Ejemplos</a:t>
                      </a:r>
                      <a:endParaRPr lang="es-CO" sz="1800" b="1" dirty="0">
                        <a:solidFill>
                          <a:schemeClr val="bg1"/>
                        </a:solidFill>
                        <a:latin typeface="+mn-lt"/>
                      </a:endParaRPr>
                    </a:p>
                  </a:txBody>
                  <a:tcPr>
                    <a:solidFill>
                      <a:schemeClr val="tx1"/>
                    </a:solidFill>
                  </a:tcPr>
                </a:tc>
                <a:extLst>
                  <a:ext uri="{0D108BD9-81ED-4DB2-BD59-A6C34878D82A}">
                    <a16:rowId xmlns:a16="http://schemas.microsoft.com/office/drawing/2014/main" val="480209282"/>
                  </a:ext>
                </a:extLst>
              </a:tr>
              <a:tr h="370840">
                <a:tc>
                  <a:txBody>
                    <a:bodyPr/>
                    <a:lstStyle/>
                    <a:p>
                      <a:pPr lvl="0" algn="just"/>
                      <a:r>
                        <a:rPr lang="es-CO" sz="1600" dirty="0">
                          <a:latin typeface="+mn-lt"/>
                        </a:rPr>
                        <a:t>Pueden estar formados por una combinación de números y letras. Sin embargo, el primer carácter no puede ser un numero.</a:t>
                      </a:r>
                    </a:p>
                  </a:txBody>
                  <a:tcPr/>
                </a:tc>
                <a:tc>
                  <a:txBody>
                    <a:bodyPr/>
                    <a:lstStyle/>
                    <a:p>
                      <a:r>
                        <a:rPr lang="es-CO" sz="1600" b="0" dirty="0">
                          <a:solidFill>
                            <a:schemeClr val="accent6"/>
                          </a:solidFill>
                          <a:latin typeface="Consolas" panose="020B0609020204030204" pitchFamily="49" charset="0"/>
                        </a:rPr>
                        <a:t>grupo1</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grupo_2</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ced</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peso</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num_est</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nom</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name</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_x</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y</a:t>
                      </a:r>
                      <a:r>
                        <a:rPr lang="es-CO" sz="1600" b="0" dirty="0">
                          <a:latin typeface="Consolas" panose="020B0609020204030204" pitchFamily="49" charset="0"/>
                        </a:rPr>
                        <a:t>, </a:t>
                      </a:r>
                      <a:r>
                        <a:rPr lang="es-CO" sz="1600" b="0" strike="sngStrike" dirty="0">
                          <a:solidFill>
                            <a:srgbClr val="FF0000"/>
                          </a:solidFill>
                          <a:latin typeface="Consolas" panose="020B0609020204030204" pitchFamily="49" charset="0"/>
                        </a:rPr>
                        <a:t>2345bcc</a:t>
                      </a:r>
                      <a:r>
                        <a:rPr lang="es-CO" sz="1600" b="0" dirty="0">
                          <a:latin typeface="Consolas" panose="020B0609020204030204" pitchFamily="49" charset="0"/>
                        </a:rPr>
                        <a:t>, </a:t>
                      </a:r>
                      <a:r>
                        <a:rPr lang="es-CO" sz="1600" b="0" strike="sngStrike" dirty="0" err="1">
                          <a:solidFill>
                            <a:srgbClr val="FF0000"/>
                          </a:solidFill>
                          <a:latin typeface="Consolas" panose="020B0609020204030204" pitchFamily="49" charset="0"/>
                        </a:rPr>
                        <a:t>num</a:t>
                      </a:r>
                      <a:r>
                        <a:rPr lang="es-CO" sz="1600" b="0" strike="sngStrike" dirty="0">
                          <a:solidFill>
                            <a:srgbClr val="FF0000"/>
                          </a:solidFill>
                          <a:latin typeface="Consolas" panose="020B0609020204030204" pitchFamily="49" charset="0"/>
                        </a:rPr>
                        <a:t> </a:t>
                      </a:r>
                      <a:r>
                        <a:rPr lang="es-CO" sz="1600" b="0" strike="sngStrike" dirty="0" err="1">
                          <a:solidFill>
                            <a:srgbClr val="FF0000"/>
                          </a:solidFill>
                          <a:latin typeface="Consolas" panose="020B0609020204030204" pitchFamily="49" charset="0"/>
                        </a:rPr>
                        <a:t>est</a:t>
                      </a:r>
                      <a:r>
                        <a:rPr lang="es-CO" sz="1600" b="0" dirty="0">
                          <a:latin typeface="Consolas" panose="020B0609020204030204" pitchFamily="49" charset="0"/>
                        </a:rPr>
                        <a:t>, </a:t>
                      </a:r>
                      <a:r>
                        <a:rPr lang="es-CO" sz="1600" b="0" strike="sngStrike" dirty="0">
                          <a:solidFill>
                            <a:srgbClr val="FF0000"/>
                          </a:solidFill>
                          <a:latin typeface="Consolas" panose="020B0609020204030204" pitchFamily="49" charset="0"/>
                        </a:rPr>
                        <a:t>c+23</a:t>
                      </a:r>
                    </a:p>
                  </a:txBody>
                  <a:tcPr/>
                </a:tc>
                <a:extLst>
                  <a:ext uri="{0D108BD9-81ED-4DB2-BD59-A6C34878D82A}">
                    <a16:rowId xmlns:a16="http://schemas.microsoft.com/office/drawing/2014/main" val="2428998015"/>
                  </a:ext>
                </a:extLst>
              </a:tr>
              <a:tr h="370840">
                <a:tc>
                  <a:txBody>
                    <a:bodyPr/>
                    <a:lstStyle/>
                    <a:p>
                      <a:pPr lvl="0" algn="just"/>
                      <a:r>
                        <a:rPr lang="es-MX" sz="1600" dirty="0">
                          <a:latin typeface="+mn-lt"/>
                        </a:rPr>
                        <a:t>Usar nombres autodescriptivos, los nombres de las variables deben indicar claramente qué almacenan.</a:t>
                      </a:r>
                      <a:endParaRPr lang="es-CO" sz="1600" dirty="0">
                        <a:latin typeface="+mn-lt"/>
                      </a:endParaRPr>
                    </a:p>
                  </a:txBody>
                  <a:tcPr/>
                </a:tc>
                <a:tc>
                  <a:txBody>
                    <a:bodyPr/>
                    <a:lstStyle/>
                    <a:p>
                      <a:r>
                        <a:rPr lang="es-MX" sz="1600" dirty="0">
                          <a:latin typeface="+mj-lt"/>
                        </a:rPr>
                        <a:t>Nombre Completo </a:t>
                      </a:r>
                      <a:r>
                        <a:rPr lang="es-MX" sz="1600" dirty="0">
                          <a:latin typeface="+mj-lt"/>
                          <a:sym typeface="Wingdings" panose="05000000000000000000" pitchFamily="2" charset="2"/>
                        </a:rPr>
                        <a:t> </a:t>
                      </a:r>
                      <a:r>
                        <a:rPr lang="es-MX" sz="1600" dirty="0">
                          <a:latin typeface="Consolas" panose="020B0609020204030204" pitchFamily="49" charset="0"/>
                          <a:sym typeface="Wingdings" panose="05000000000000000000" pitchFamily="2" charset="2"/>
                        </a:rPr>
                        <a:t>nombre</a:t>
                      </a:r>
                    </a:p>
                    <a:p>
                      <a:r>
                        <a:rPr lang="es-MX" sz="1600" dirty="0">
                          <a:latin typeface="+mj-lt"/>
                          <a:sym typeface="Wingdings" panose="05000000000000000000" pitchFamily="2" charset="2"/>
                        </a:rPr>
                        <a:t>Numero de estudiantes  </a:t>
                      </a:r>
                      <a:r>
                        <a:rPr lang="es-MX" sz="1600" dirty="0" err="1">
                          <a:latin typeface="Consolas" panose="020B0609020204030204" pitchFamily="49" charset="0"/>
                          <a:sym typeface="Wingdings" panose="05000000000000000000" pitchFamily="2" charset="2"/>
                        </a:rPr>
                        <a:t>numero_estudiantes</a:t>
                      </a:r>
                      <a:endParaRPr lang="es-MX" sz="1600" dirty="0">
                        <a:latin typeface="Consolas" panose="020B0609020204030204" pitchFamily="49" charset="0"/>
                        <a:sym typeface="Wingdings" panose="05000000000000000000" pitchFamily="2" charset="2"/>
                      </a:endParaRPr>
                    </a:p>
                    <a:p>
                      <a:endParaRPr lang="es-CO" sz="1600" dirty="0">
                        <a:latin typeface="Consolas" panose="020B0609020204030204" pitchFamily="49" charset="0"/>
                      </a:endParaRPr>
                    </a:p>
                  </a:txBody>
                  <a:tcPr/>
                </a:tc>
                <a:extLst>
                  <a:ext uri="{0D108BD9-81ED-4DB2-BD59-A6C34878D82A}">
                    <a16:rowId xmlns:a16="http://schemas.microsoft.com/office/drawing/2014/main" val="1496770222"/>
                  </a:ext>
                </a:extLst>
              </a:tr>
            </a:tbl>
          </a:graphicData>
        </a:graphic>
      </p:graphicFrame>
      <p:sp>
        <p:nvSpPr>
          <p:cNvPr id="8" name="CuadroTexto 7">
            <a:extLst>
              <a:ext uri="{FF2B5EF4-FFF2-40B4-BE49-F238E27FC236}">
                <a16:creationId xmlns:a16="http://schemas.microsoft.com/office/drawing/2014/main" id="{22CAB8A2-AE05-47CF-A071-FFDD1FED5AF6}"/>
              </a:ext>
            </a:extLst>
          </p:cNvPr>
          <p:cNvSpPr txBox="1"/>
          <p:nvPr/>
        </p:nvSpPr>
        <p:spPr>
          <a:xfrm>
            <a:off x="179512" y="4661555"/>
            <a:ext cx="7848872" cy="400110"/>
          </a:xfrm>
          <a:prstGeom prst="rect">
            <a:avLst/>
          </a:prstGeom>
          <a:noFill/>
        </p:spPr>
        <p:txBody>
          <a:bodyPr wrap="square">
            <a:spAutoFit/>
          </a:bodyPr>
          <a:lstStyle/>
          <a:p>
            <a:r>
              <a:rPr lang="es-CO" sz="2000" dirty="0"/>
              <a:t>Estilos de nombrado para juntar múltiples palabras en una sola:</a:t>
            </a:r>
          </a:p>
        </p:txBody>
      </p:sp>
      <p:pic>
        <p:nvPicPr>
          <p:cNvPr id="6" name="Imagen 5">
            <a:extLst>
              <a:ext uri="{FF2B5EF4-FFF2-40B4-BE49-F238E27FC236}">
                <a16:creationId xmlns:a16="http://schemas.microsoft.com/office/drawing/2014/main" id="{9133E1B8-7BC8-4C0B-8F14-C8F47E085032}"/>
              </a:ext>
            </a:extLst>
          </p:cNvPr>
          <p:cNvPicPr>
            <a:picLocks noChangeAspect="1"/>
          </p:cNvPicPr>
          <p:nvPr/>
        </p:nvPicPr>
        <p:blipFill>
          <a:blip r:embed="rId2"/>
          <a:stretch>
            <a:fillRect/>
          </a:stretch>
        </p:blipFill>
        <p:spPr>
          <a:xfrm>
            <a:off x="3130425" y="5111580"/>
            <a:ext cx="3000111" cy="1557780"/>
          </a:xfrm>
          <a:prstGeom prst="rect">
            <a:avLst/>
          </a:prstGeom>
        </p:spPr>
      </p:pic>
    </p:spTree>
    <p:extLst>
      <p:ext uri="{BB962C8B-B14F-4D97-AF65-F5344CB8AC3E}">
        <p14:creationId xmlns:p14="http://schemas.microsoft.com/office/powerpoint/2010/main" val="2335580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10897" y="166419"/>
            <a:ext cx="7713112" cy="1116540"/>
          </a:xfrm>
        </p:spPr>
        <p:txBody>
          <a:bodyPr/>
          <a:lstStyle/>
          <a:p>
            <a:r>
              <a:rPr lang="en-US" sz="3200" dirty="0"/>
              <a:t>Buenas prácticas</a:t>
            </a:r>
          </a:p>
        </p:txBody>
      </p:sp>
      <p:sp>
        <p:nvSpPr>
          <p:cNvPr id="15" name="CuadroTexto 14">
            <a:extLst>
              <a:ext uri="{FF2B5EF4-FFF2-40B4-BE49-F238E27FC236}">
                <a16:creationId xmlns:a16="http://schemas.microsoft.com/office/drawing/2014/main" id="{70CC87B5-FE6C-4BE6-A988-C5E4FB4A65B0}"/>
              </a:ext>
            </a:extLst>
          </p:cNvPr>
          <p:cNvSpPr txBox="1"/>
          <p:nvPr/>
        </p:nvSpPr>
        <p:spPr>
          <a:xfrm>
            <a:off x="353099" y="920728"/>
            <a:ext cx="8437799" cy="1631216"/>
          </a:xfrm>
          <a:prstGeom prst="rect">
            <a:avLst/>
          </a:prstGeom>
          <a:noFill/>
        </p:spPr>
        <p:txBody>
          <a:bodyPr wrap="square">
            <a:spAutoFit/>
          </a:bodyPr>
          <a:lstStyle/>
          <a:p>
            <a:pPr marL="342900" indent="-342900">
              <a:buFont typeface="Arial" panose="020B0604020202020204" pitchFamily="34" charset="0"/>
              <a:buChar char="•"/>
            </a:pPr>
            <a:r>
              <a:rPr lang="es-MX" sz="2000" dirty="0"/>
              <a:t>Las buenas prácticas ayudan a escribir código más legible, mantenible y eficiente. Además de facilitar a otros desarrolladores la lectura y seguimiento de este </a:t>
            </a:r>
          </a:p>
          <a:p>
            <a:pPr marL="342900" indent="-342900">
              <a:buFont typeface="Arial" panose="020B0604020202020204" pitchFamily="34" charset="0"/>
              <a:buChar char="•"/>
            </a:pPr>
            <a:r>
              <a:rPr lang="es-MX" sz="2000" dirty="0"/>
              <a:t>Cada lenguaje tiene sus propias convenciones (</a:t>
            </a:r>
            <a:r>
              <a:rPr lang="es-MX" sz="2000" dirty="0">
                <a:hlinkClick r:id="rId2"/>
              </a:rPr>
              <a:t>PEP 8 - </a:t>
            </a:r>
            <a:r>
              <a:rPr lang="es-CO" sz="2000" dirty="0">
                <a:hlinkClick r:id="rId2"/>
              </a:rPr>
              <a:t>Style </a:t>
            </a:r>
            <a:r>
              <a:rPr lang="es-CO" sz="2000" dirty="0" err="1">
                <a:hlinkClick r:id="rId2"/>
              </a:rPr>
              <a:t>Guide</a:t>
            </a:r>
            <a:r>
              <a:rPr lang="es-CO" sz="2000" dirty="0">
                <a:hlinkClick r:id="rId2"/>
              </a:rPr>
              <a:t> </a:t>
            </a:r>
            <a:r>
              <a:rPr lang="es-CO" sz="2000" dirty="0" err="1">
                <a:hlinkClick r:id="rId2"/>
              </a:rPr>
              <a:t>for</a:t>
            </a:r>
            <a:r>
              <a:rPr lang="es-CO" sz="2000" dirty="0">
                <a:hlinkClick r:id="rId2"/>
              </a:rPr>
              <a:t> Python </a:t>
            </a:r>
            <a:r>
              <a:rPr lang="es-CO" sz="2000" dirty="0" err="1">
                <a:hlinkClick r:id="rId2"/>
              </a:rPr>
              <a:t>Code</a:t>
            </a:r>
            <a:r>
              <a:rPr lang="es-MX" sz="2000" dirty="0"/>
              <a:t>).</a:t>
            </a:r>
            <a:endParaRPr lang="es-CO" sz="2000" dirty="0"/>
          </a:p>
        </p:txBody>
      </p:sp>
      <p:graphicFrame>
        <p:nvGraphicFramePr>
          <p:cNvPr id="2" name="Tabla 1">
            <a:extLst>
              <a:ext uri="{FF2B5EF4-FFF2-40B4-BE49-F238E27FC236}">
                <a16:creationId xmlns:a16="http://schemas.microsoft.com/office/drawing/2014/main" id="{2D941ECF-C33F-4CA3-B564-D9240682DAF3}"/>
              </a:ext>
            </a:extLst>
          </p:cNvPr>
          <p:cNvGraphicFramePr>
            <a:graphicFrameLocks noGrp="1"/>
          </p:cNvGraphicFramePr>
          <p:nvPr>
            <p:extLst>
              <p:ext uri="{D42A27DB-BD31-4B8C-83A1-F6EECF244321}">
                <p14:modId xmlns:p14="http://schemas.microsoft.com/office/powerpoint/2010/main" val="93252926"/>
              </p:ext>
            </p:extLst>
          </p:nvPr>
        </p:nvGraphicFramePr>
        <p:xfrm>
          <a:off x="395536" y="2756872"/>
          <a:ext cx="8437798" cy="3261360"/>
        </p:xfrm>
        <a:graphic>
          <a:graphicData uri="http://schemas.openxmlformats.org/drawingml/2006/table">
            <a:tbl>
              <a:tblPr/>
              <a:tblGrid>
                <a:gridCol w="2215868">
                  <a:extLst>
                    <a:ext uri="{9D8B030D-6E8A-4147-A177-3AD203B41FA5}">
                      <a16:colId xmlns:a16="http://schemas.microsoft.com/office/drawing/2014/main" val="1507443463"/>
                    </a:ext>
                  </a:extLst>
                </a:gridCol>
                <a:gridCol w="2619351">
                  <a:extLst>
                    <a:ext uri="{9D8B030D-6E8A-4147-A177-3AD203B41FA5}">
                      <a16:colId xmlns:a16="http://schemas.microsoft.com/office/drawing/2014/main" val="1898614548"/>
                    </a:ext>
                  </a:extLst>
                </a:gridCol>
                <a:gridCol w="3602579">
                  <a:extLst>
                    <a:ext uri="{9D8B030D-6E8A-4147-A177-3AD203B41FA5}">
                      <a16:colId xmlns:a16="http://schemas.microsoft.com/office/drawing/2014/main" val="717967158"/>
                    </a:ext>
                  </a:extLst>
                </a:gridCol>
              </a:tblGrid>
              <a:tr h="0">
                <a:tc>
                  <a:txBody>
                    <a:bodyPr/>
                    <a:lstStyle/>
                    <a:p>
                      <a:r>
                        <a:rPr lang="es-CO" b="1" dirty="0">
                          <a:solidFill>
                            <a:schemeClr val="bg1"/>
                          </a:solidFill>
                        </a:rPr>
                        <a:t>Regla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b="1" dirty="0">
                          <a:solidFill>
                            <a:schemeClr val="bg1"/>
                          </a:solidFill>
                        </a:rPr>
                        <a:t>Ejemplo correcto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b="1" dirty="0">
                          <a:solidFill>
                            <a:schemeClr val="bg1"/>
                          </a:solidFill>
                        </a:rPr>
                        <a:t>Ejemplo a evitar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3936966"/>
                  </a:ext>
                </a:extLst>
              </a:tr>
              <a:tr h="0">
                <a:tc>
                  <a:txBody>
                    <a:bodyPr/>
                    <a:lstStyle/>
                    <a:p>
                      <a:r>
                        <a:rPr lang="es-MX" sz="1600" dirty="0"/>
                        <a:t>Nombres descriptivos, no abreviados en exceso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numero_estudiantes</a:t>
                      </a:r>
                      <a:endParaRPr lang="es-CO" sz="14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numEst</a:t>
                      </a:r>
                      <a:r>
                        <a:rPr lang="es-CO" sz="1400" dirty="0">
                          <a:latin typeface="Consolas" panose="020B0609020204030204" pitchFamily="49" charset="0"/>
                        </a:rPr>
                        <a:t>,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547143"/>
                  </a:ext>
                </a:extLst>
              </a:tr>
              <a:tr h="0">
                <a:tc>
                  <a:txBody>
                    <a:bodyPr/>
                    <a:lstStyle/>
                    <a:p>
                      <a:r>
                        <a:rPr lang="es-MX" sz="1600" dirty="0"/>
                        <a:t>Sin tildes ni ñ (evita errores de codificación)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calcular_promedio</a:t>
                      </a:r>
                      <a:endParaRPr lang="es-CO" sz="14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a:latin typeface="Consolas" panose="020B0609020204030204" pitchFamily="49" charset="0"/>
                        </a:rPr>
                        <a:t>calcularPromédio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2504343"/>
                  </a:ext>
                </a:extLst>
              </a:tr>
              <a:tr h="0">
                <a:tc>
                  <a:txBody>
                    <a:bodyPr/>
                    <a:lstStyle/>
                    <a:p>
                      <a:r>
                        <a:rPr lang="es-CO" sz="1600"/>
                        <a:t>Sin mezclar estilos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total_ventas</a:t>
                      </a:r>
                      <a:endParaRPr lang="es-CO" sz="14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Total_Ventas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048508"/>
                  </a:ext>
                </a:extLst>
              </a:tr>
              <a:tr h="0">
                <a:tc>
                  <a:txBody>
                    <a:bodyPr/>
                    <a:lstStyle/>
                    <a:p>
                      <a:r>
                        <a:rPr lang="es-CO" sz="1600"/>
                        <a:t>Verbos para funciones, sustantivos para variables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solidFill>
                            <a:srgbClr val="00B050"/>
                          </a:solidFill>
                          <a:latin typeface="Consolas" panose="020B0609020204030204" pitchFamily="49" charset="0"/>
                        </a:rPr>
                        <a:t>def</a:t>
                      </a:r>
                      <a:r>
                        <a:rPr lang="es-CO" sz="1400" dirty="0">
                          <a:latin typeface="Consolas" panose="020B0609020204030204" pitchFamily="49" charset="0"/>
                        </a:rPr>
                        <a:t> </a:t>
                      </a:r>
                      <a:r>
                        <a:rPr lang="es-CO" sz="1400" dirty="0" err="1">
                          <a:latin typeface="Consolas" panose="020B0609020204030204" pitchFamily="49" charset="0"/>
                        </a:rPr>
                        <a:t>validar_correo</a:t>
                      </a:r>
                      <a:r>
                        <a:rPr lang="es-CO" sz="1400" dirty="0">
                          <a:latin typeface="Consolas" panose="020B06090202040302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solidFill>
                            <a:srgbClr val="00B050"/>
                          </a:solidFill>
                          <a:latin typeface="Consolas" panose="020B0609020204030204" pitchFamily="49" charset="0"/>
                        </a:rPr>
                        <a:t>def</a:t>
                      </a:r>
                      <a:r>
                        <a:rPr lang="es-CO" sz="1400" dirty="0">
                          <a:latin typeface="Consolas" panose="020B0609020204030204" pitchFamily="49" charset="0"/>
                        </a:rPr>
                        <a:t> </a:t>
                      </a:r>
                      <a:r>
                        <a:rPr lang="es-CO" sz="1400" dirty="0" err="1">
                          <a:latin typeface="Consolas" panose="020B0609020204030204" pitchFamily="49" charset="0"/>
                        </a:rPr>
                        <a:t>correo_validado_funcion</a:t>
                      </a:r>
                      <a:r>
                        <a:rPr lang="es-CO" sz="1400" dirty="0">
                          <a:latin typeface="Consolas" panose="020B06090202040302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01904"/>
                  </a:ext>
                </a:extLst>
              </a:tr>
              <a:tr h="0">
                <a:tc>
                  <a:txBody>
                    <a:bodyPr/>
                    <a:lstStyle/>
                    <a:p>
                      <a:r>
                        <a:rPr lang="es-CO" sz="1600"/>
                        <a:t>Evitar nombres reservados de 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lista_datos</a:t>
                      </a:r>
                      <a:endParaRPr lang="es-CO" sz="14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list</a:t>
                      </a:r>
                      <a:r>
                        <a:rPr lang="es-CO" sz="1400" dirty="0">
                          <a:latin typeface="Consolas" panose="020B0609020204030204" pitchFamily="49" charset="0"/>
                        </a:rPr>
                        <a:t>, </a:t>
                      </a:r>
                      <a:r>
                        <a:rPr lang="es-CO" sz="1400" dirty="0" err="1">
                          <a:latin typeface="Consolas" panose="020B0609020204030204" pitchFamily="49" charset="0"/>
                        </a:rPr>
                        <a:t>dict</a:t>
                      </a:r>
                      <a:r>
                        <a:rPr lang="es-CO" sz="1400" dirty="0">
                          <a:latin typeface="Consolas" panose="020B0609020204030204" pitchFamily="49" charset="0"/>
                        </a:rPr>
                        <a:t>, </a:t>
                      </a:r>
                      <a:r>
                        <a:rPr lang="es-CO" sz="1400" dirty="0" err="1">
                          <a:latin typeface="Consolas" panose="020B0609020204030204" pitchFamily="49" charset="0"/>
                        </a:rPr>
                        <a:t>for</a:t>
                      </a:r>
                      <a:endParaRPr lang="es-CO" sz="14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77871"/>
                  </a:ext>
                </a:extLst>
              </a:tr>
            </a:tbl>
          </a:graphicData>
        </a:graphic>
      </p:graphicFrame>
    </p:spTree>
    <p:extLst>
      <p:ext uri="{BB962C8B-B14F-4D97-AF65-F5344CB8AC3E}">
        <p14:creationId xmlns:p14="http://schemas.microsoft.com/office/powerpoint/2010/main" val="4049864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2077" y="136524"/>
            <a:ext cx="7886700" cy="1116540"/>
          </a:xfrm>
        </p:spPr>
        <p:txBody>
          <a:bodyPr/>
          <a:lstStyle/>
          <a:p>
            <a:r>
              <a:rPr lang="en-US" sz="3200" dirty="0"/>
              <a:t>Datos en algoritmos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15</a:t>
            </a:fld>
            <a:endParaRPr lang="en-US" dirty="0"/>
          </a:p>
        </p:txBody>
      </p:sp>
      <p:sp>
        <p:nvSpPr>
          <p:cNvPr id="11" name="10 CuadroTexto"/>
          <p:cNvSpPr txBox="1"/>
          <p:nvPr/>
        </p:nvSpPr>
        <p:spPr>
          <a:xfrm>
            <a:off x="322076" y="1052736"/>
            <a:ext cx="8136903" cy="1231106"/>
          </a:xfrm>
          <a:prstGeom prst="rect">
            <a:avLst/>
          </a:prstGeom>
          <a:noFill/>
        </p:spPr>
        <p:txBody>
          <a:bodyPr wrap="square" rtlCol="0">
            <a:spAutoFit/>
          </a:bodyPr>
          <a:lstStyle/>
          <a:p>
            <a:r>
              <a:rPr lang="es-CO" sz="2000" b="1" dirty="0">
                <a:solidFill>
                  <a:srgbClr val="FF0000"/>
                </a:solidFill>
              </a:rPr>
              <a:t>Ejemplo</a:t>
            </a:r>
            <a:r>
              <a:rPr lang="es-CO" sz="2000" dirty="0">
                <a:solidFill>
                  <a:srgbClr val="FF0000"/>
                </a:solidFill>
              </a:rPr>
              <a:t>: </a:t>
            </a:r>
          </a:p>
          <a:p>
            <a:r>
              <a:rPr lang="es-CO" dirty="0"/>
              <a:t>Dada la siguiente tabla de Datos. Que nombres marque con una X la columna A (apropiados) o NA (No apropiados) si los nombres de las variables son los apropiados para estos datos. En caso de que no sean los apropiados, sugiera un nombre.</a:t>
            </a:r>
          </a:p>
        </p:txBody>
      </p:sp>
      <p:graphicFrame>
        <p:nvGraphicFramePr>
          <p:cNvPr id="7" name="6 Tabla"/>
          <p:cNvGraphicFramePr>
            <a:graphicFrameLocks noGrp="1"/>
          </p:cNvGraphicFramePr>
          <p:nvPr>
            <p:extLst>
              <p:ext uri="{D42A27DB-BD31-4B8C-83A1-F6EECF244321}">
                <p14:modId xmlns:p14="http://schemas.microsoft.com/office/powerpoint/2010/main" val="1549391135"/>
              </p:ext>
            </p:extLst>
          </p:nvPr>
        </p:nvGraphicFramePr>
        <p:xfrm>
          <a:off x="394086" y="2492896"/>
          <a:ext cx="8354378" cy="3261360"/>
        </p:xfrm>
        <a:graphic>
          <a:graphicData uri="http://schemas.openxmlformats.org/drawingml/2006/table">
            <a:tbl>
              <a:tblPr firstRow="1" bandRow="1">
                <a:tableStyleId>{5940675A-B579-460E-94D1-54222C63F5DA}</a:tableStyleId>
              </a:tblPr>
              <a:tblGrid>
                <a:gridCol w="487268">
                  <a:extLst>
                    <a:ext uri="{9D8B030D-6E8A-4147-A177-3AD203B41FA5}">
                      <a16:colId xmlns:a16="http://schemas.microsoft.com/office/drawing/2014/main" val="305664878"/>
                    </a:ext>
                  </a:extLst>
                </a:gridCol>
                <a:gridCol w="2394503">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504055">
                  <a:extLst>
                    <a:ext uri="{9D8B030D-6E8A-4147-A177-3AD203B41FA5}">
                      <a16:colId xmlns:a16="http://schemas.microsoft.com/office/drawing/2014/main" val="20002"/>
                    </a:ext>
                  </a:extLst>
                </a:gridCol>
                <a:gridCol w="504057">
                  <a:extLst>
                    <a:ext uri="{9D8B030D-6E8A-4147-A177-3AD203B41FA5}">
                      <a16:colId xmlns:a16="http://schemas.microsoft.com/office/drawing/2014/main" val="20003"/>
                    </a:ext>
                  </a:extLst>
                </a:gridCol>
                <a:gridCol w="2304255">
                  <a:extLst>
                    <a:ext uri="{9D8B030D-6E8A-4147-A177-3AD203B41FA5}">
                      <a16:colId xmlns:a16="http://schemas.microsoft.com/office/drawing/2014/main" val="20004"/>
                    </a:ext>
                  </a:extLst>
                </a:gridCol>
              </a:tblGrid>
              <a:tr h="321327">
                <a:tc>
                  <a:txBody>
                    <a:bodyPr/>
                    <a:lstStyle/>
                    <a:p>
                      <a:pPr algn="l"/>
                      <a:r>
                        <a:rPr lang="es-CO" sz="1600" b="1" dirty="0">
                          <a:solidFill>
                            <a:schemeClr val="bg1"/>
                          </a:solidFill>
                          <a:latin typeface="Century Gothic" panose="020B0502020202020204" pitchFamily="34" charset="0"/>
                        </a:rPr>
                        <a:t>#</a:t>
                      </a:r>
                    </a:p>
                  </a:txBody>
                  <a:tcPr>
                    <a:solidFill>
                      <a:schemeClr val="tx1"/>
                    </a:solidFill>
                  </a:tcPr>
                </a:tc>
                <a:tc>
                  <a:txBody>
                    <a:bodyPr/>
                    <a:lstStyle/>
                    <a:p>
                      <a:pPr algn="l"/>
                      <a:r>
                        <a:rPr lang="es-CO" sz="1600" b="1" dirty="0">
                          <a:solidFill>
                            <a:schemeClr val="bg1"/>
                          </a:solidFill>
                          <a:latin typeface="Century Gothic" panose="020B0502020202020204" pitchFamily="34" charset="0"/>
                        </a:rPr>
                        <a:t>Dato</a:t>
                      </a:r>
                    </a:p>
                  </a:txBody>
                  <a:tcPr>
                    <a:solidFill>
                      <a:schemeClr val="tx1"/>
                    </a:solidFill>
                  </a:tcPr>
                </a:tc>
                <a:tc>
                  <a:txBody>
                    <a:bodyPr/>
                    <a:lstStyle/>
                    <a:p>
                      <a:pPr algn="l"/>
                      <a:r>
                        <a:rPr lang="es-CO" sz="1600" b="1" dirty="0">
                          <a:solidFill>
                            <a:schemeClr val="bg1"/>
                          </a:solidFill>
                          <a:latin typeface="Century Gothic" panose="020B0502020202020204" pitchFamily="34" charset="0"/>
                        </a:rPr>
                        <a:t>Nombre</a:t>
                      </a:r>
                      <a:r>
                        <a:rPr lang="es-CO" sz="1600" b="1" baseline="0" dirty="0">
                          <a:solidFill>
                            <a:schemeClr val="bg1"/>
                          </a:solidFill>
                          <a:latin typeface="Century Gothic" panose="020B0502020202020204" pitchFamily="34" charset="0"/>
                        </a:rPr>
                        <a:t> Variable</a:t>
                      </a:r>
                      <a:endParaRPr lang="es-CO" sz="1600" b="1" dirty="0">
                        <a:solidFill>
                          <a:schemeClr val="bg1"/>
                        </a:solidFill>
                        <a:latin typeface="Century Gothic" panose="020B0502020202020204" pitchFamily="34" charset="0"/>
                      </a:endParaRPr>
                    </a:p>
                  </a:txBody>
                  <a:tcPr>
                    <a:solidFill>
                      <a:schemeClr val="tx1"/>
                    </a:solidFill>
                  </a:tcPr>
                </a:tc>
                <a:tc>
                  <a:txBody>
                    <a:bodyPr/>
                    <a:lstStyle/>
                    <a:p>
                      <a:pPr algn="l"/>
                      <a:r>
                        <a:rPr lang="es-CO" sz="1600" b="1" dirty="0">
                          <a:solidFill>
                            <a:schemeClr val="bg1"/>
                          </a:solidFill>
                          <a:latin typeface="Century Gothic" panose="020B0502020202020204" pitchFamily="34" charset="0"/>
                        </a:rPr>
                        <a:t>A</a:t>
                      </a:r>
                    </a:p>
                  </a:txBody>
                  <a:tcPr>
                    <a:solidFill>
                      <a:schemeClr val="tx1"/>
                    </a:solidFill>
                  </a:tcPr>
                </a:tc>
                <a:tc>
                  <a:txBody>
                    <a:bodyPr/>
                    <a:lstStyle/>
                    <a:p>
                      <a:pPr algn="l"/>
                      <a:r>
                        <a:rPr lang="es-CO" sz="1600" b="1" dirty="0">
                          <a:solidFill>
                            <a:schemeClr val="bg1"/>
                          </a:solidFill>
                          <a:latin typeface="Century Gothic" panose="020B0502020202020204" pitchFamily="34" charset="0"/>
                        </a:rPr>
                        <a:t>NA</a:t>
                      </a:r>
                    </a:p>
                  </a:txBody>
                  <a:tcPr>
                    <a:solidFill>
                      <a:schemeClr val="tx1"/>
                    </a:solidFill>
                  </a:tcPr>
                </a:tc>
                <a:tc>
                  <a:txBody>
                    <a:bodyPr/>
                    <a:lstStyle/>
                    <a:p>
                      <a:pPr algn="l"/>
                      <a:r>
                        <a:rPr lang="es-CO" sz="1600" b="1" dirty="0">
                          <a:solidFill>
                            <a:schemeClr val="bg1"/>
                          </a:solidFill>
                          <a:latin typeface="Century Gothic" panose="020B0502020202020204" pitchFamily="34" charset="0"/>
                        </a:rPr>
                        <a:t>Nombre sugerido</a:t>
                      </a:r>
                    </a:p>
                  </a:txBody>
                  <a:tcPr>
                    <a:solidFill>
                      <a:schemeClr val="tx1"/>
                    </a:solidFill>
                  </a:tcPr>
                </a:tc>
                <a:extLst>
                  <a:ext uri="{0D108BD9-81ED-4DB2-BD59-A6C34878D82A}">
                    <a16:rowId xmlns:a16="http://schemas.microsoft.com/office/drawing/2014/main" val="10000"/>
                  </a:ext>
                </a:extLst>
              </a:tr>
              <a:tr h="321327">
                <a:tc>
                  <a:txBody>
                    <a:bodyPr/>
                    <a:lstStyle/>
                    <a:p>
                      <a:r>
                        <a:rPr lang="es-CO" sz="1400" dirty="0">
                          <a:latin typeface="Century Gothic" panose="020B0502020202020204" pitchFamily="34" charset="0"/>
                        </a:rPr>
                        <a:t>1</a:t>
                      </a:r>
                    </a:p>
                  </a:txBody>
                  <a:tcPr/>
                </a:tc>
                <a:tc>
                  <a:txBody>
                    <a:bodyPr/>
                    <a:lstStyle/>
                    <a:p>
                      <a:r>
                        <a:rPr lang="es-CO" sz="1400" dirty="0">
                          <a:latin typeface="Century Gothic" panose="020B0502020202020204" pitchFamily="34" charset="0"/>
                        </a:rPr>
                        <a:t>Temperatura</a:t>
                      </a:r>
                    </a:p>
                  </a:txBody>
                  <a:tcPr/>
                </a:tc>
                <a:tc>
                  <a:txBody>
                    <a:bodyPr/>
                    <a:lstStyle/>
                    <a:p>
                      <a:r>
                        <a:rPr lang="es-CO" sz="1400" dirty="0">
                          <a:latin typeface="Consolas" panose="020B0609020204030204" pitchFamily="49" charset="0"/>
                        </a:rPr>
                        <a:t>jj</a:t>
                      </a: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1"/>
                  </a:ext>
                </a:extLst>
              </a:tr>
              <a:tr h="321327">
                <a:tc>
                  <a:txBody>
                    <a:bodyPr/>
                    <a:lstStyle/>
                    <a:p>
                      <a:r>
                        <a:rPr lang="es-CO" sz="1400" dirty="0">
                          <a:latin typeface="Century Gothic" panose="020B0502020202020204" pitchFamily="34" charset="0"/>
                        </a:rPr>
                        <a:t>2</a:t>
                      </a:r>
                    </a:p>
                  </a:txBody>
                  <a:tcPr/>
                </a:tc>
                <a:tc>
                  <a:txBody>
                    <a:bodyPr/>
                    <a:lstStyle/>
                    <a:p>
                      <a:r>
                        <a:rPr lang="es-CO" sz="1400" dirty="0">
                          <a:latin typeface="Century Gothic" panose="020B0502020202020204" pitchFamily="34" charset="0"/>
                        </a:rPr>
                        <a:t>Peso</a:t>
                      </a:r>
                    </a:p>
                  </a:txBody>
                  <a:tcPr/>
                </a:tc>
                <a:tc>
                  <a:txBody>
                    <a:bodyPr/>
                    <a:lstStyle/>
                    <a:p>
                      <a:r>
                        <a:rPr lang="es-CO" sz="1400" dirty="0">
                          <a:latin typeface="Consolas" panose="020B0609020204030204" pitchFamily="49" charset="0"/>
                        </a:rPr>
                        <a:t>p</a:t>
                      </a: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2"/>
                  </a:ext>
                </a:extLst>
              </a:tr>
              <a:tr h="321327">
                <a:tc>
                  <a:txBody>
                    <a:bodyPr/>
                    <a:lstStyle/>
                    <a:p>
                      <a:r>
                        <a:rPr lang="es-CO" sz="1400" dirty="0">
                          <a:latin typeface="Century Gothic" panose="020B0502020202020204" pitchFamily="34" charset="0"/>
                        </a:rPr>
                        <a:t>3</a:t>
                      </a:r>
                    </a:p>
                  </a:txBody>
                  <a:tcPr/>
                </a:tc>
                <a:tc>
                  <a:txBody>
                    <a:bodyPr/>
                    <a:lstStyle/>
                    <a:p>
                      <a:r>
                        <a:rPr lang="es-CO" sz="1400" dirty="0">
                          <a:latin typeface="Century Gothic" panose="020B0502020202020204" pitchFamily="34" charset="0"/>
                        </a:rPr>
                        <a:t>Estatura</a:t>
                      </a:r>
                    </a:p>
                  </a:txBody>
                  <a:tcPr/>
                </a:tc>
                <a:tc>
                  <a:txBody>
                    <a:bodyPr/>
                    <a:lstStyle/>
                    <a:p>
                      <a:r>
                        <a:rPr lang="es-CO" sz="1400" dirty="0">
                          <a:latin typeface="Consolas" panose="020B0609020204030204" pitchFamily="49" charset="0"/>
                        </a:rPr>
                        <a:t>heigth</a:t>
                      </a: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3"/>
                  </a:ext>
                </a:extLst>
              </a:tr>
              <a:tr h="321327">
                <a:tc>
                  <a:txBody>
                    <a:bodyPr/>
                    <a:lstStyle/>
                    <a:p>
                      <a:r>
                        <a:rPr lang="es-CO" sz="1400" dirty="0">
                          <a:latin typeface="Century Gothic" panose="020B0502020202020204" pitchFamily="34" charset="0"/>
                        </a:rPr>
                        <a:t>4</a:t>
                      </a:r>
                    </a:p>
                  </a:txBody>
                  <a:tcPr/>
                </a:tc>
                <a:tc>
                  <a:txBody>
                    <a:bodyPr/>
                    <a:lstStyle/>
                    <a:p>
                      <a:r>
                        <a:rPr lang="es-CO" sz="1400" dirty="0">
                          <a:latin typeface="Century Gothic" panose="020B0502020202020204" pitchFamily="34" charset="0"/>
                        </a:rPr>
                        <a:t>Edad</a:t>
                      </a:r>
                    </a:p>
                  </a:txBody>
                  <a:tcPr/>
                </a:tc>
                <a:tc>
                  <a:txBody>
                    <a:bodyPr/>
                    <a:lstStyle/>
                    <a:p>
                      <a:r>
                        <a:rPr lang="es-CO" sz="1400" dirty="0">
                          <a:latin typeface="Consolas" panose="020B0609020204030204" pitchFamily="49" charset="0"/>
                        </a:rPr>
                        <a:t>vejez</a:t>
                      </a: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4"/>
                  </a:ext>
                </a:extLst>
              </a:tr>
              <a:tr h="321327">
                <a:tc>
                  <a:txBody>
                    <a:bodyPr/>
                    <a:lstStyle/>
                    <a:p>
                      <a:r>
                        <a:rPr lang="es-CO" sz="1400" dirty="0">
                          <a:latin typeface="Century Gothic" panose="020B0502020202020204" pitchFamily="34" charset="0"/>
                        </a:rPr>
                        <a:t>5</a:t>
                      </a:r>
                    </a:p>
                  </a:txBody>
                  <a:tcPr/>
                </a:tc>
                <a:tc>
                  <a:txBody>
                    <a:bodyPr/>
                    <a:lstStyle/>
                    <a:p>
                      <a:r>
                        <a:rPr lang="es-CO" sz="1400" dirty="0">
                          <a:latin typeface="Century Gothic" panose="020B0502020202020204" pitchFamily="34" charset="0"/>
                        </a:rPr>
                        <a:t>Numero de gallinas</a:t>
                      </a:r>
                    </a:p>
                  </a:txBody>
                  <a:tcPr/>
                </a:tc>
                <a:tc>
                  <a:txBody>
                    <a:bodyPr/>
                    <a:lstStyle/>
                    <a:p>
                      <a:r>
                        <a:rPr lang="es-CO" sz="1400" dirty="0">
                          <a:latin typeface="Consolas" panose="020B0609020204030204" pitchFamily="49" charset="0"/>
                        </a:rPr>
                        <a:t>ng</a:t>
                      </a: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5"/>
                  </a:ext>
                </a:extLst>
              </a:tr>
              <a:tr h="321327">
                <a:tc>
                  <a:txBody>
                    <a:bodyPr/>
                    <a:lstStyle/>
                    <a:p>
                      <a:r>
                        <a:rPr lang="es-CO" sz="1400" dirty="0">
                          <a:latin typeface="Century Gothic" panose="020B0502020202020204" pitchFamily="34" charset="0"/>
                        </a:rPr>
                        <a:t>6</a:t>
                      </a:r>
                    </a:p>
                  </a:txBody>
                  <a:tcPr/>
                </a:tc>
                <a:tc>
                  <a:txBody>
                    <a:bodyPr/>
                    <a:lstStyle/>
                    <a:p>
                      <a:r>
                        <a:rPr lang="es-CO" sz="1400" dirty="0">
                          <a:latin typeface="Century Gothic" panose="020B0502020202020204" pitchFamily="34" charset="0"/>
                        </a:rPr>
                        <a:t>Horas</a:t>
                      </a:r>
                    </a:p>
                  </a:txBody>
                  <a:tcPr/>
                </a:tc>
                <a:tc>
                  <a:txBody>
                    <a:bodyPr/>
                    <a:lstStyle/>
                    <a:p>
                      <a:r>
                        <a:rPr lang="es-CO" sz="1400" dirty="0">
                          <a:latin typeface="Consolas" panose="020B0609020204030204" pitchFamily="49" charset="0"/>
                        </a:rPr>
                        <a:t>h</a:t>
                      </a: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6"/>
                  </a:ext>
                </a:extLst>
              </a:tr>
              <a:tr h="321327">
                <a:tc>
                  <a:txBody>
                    <a:bodyPr/>
                    <a:lstStyle/>
                    <a:p>
                      <a:r>
                        <a:rPr lang="es-CO" sz="1400" dirty="0">
                          <a:latin typeface="Century Gothic" panose="020B0502020202020204" pitchFamily="34" charset="0"/>
                        </a:rPr>
                        <a:t>7</a:t>
                      </a:r>
                    </a:p>
                  </a:txBody>
                  <a:tcPr/>
                </a:tc>
                <a:tc>
                  <a:txBody>
                    <a:bodyPr/>
                    <a:lstStyle/>
                    <a:p>
                      <a:r>
                        <a:rPr lang="es-CO" sz="1400" dirty="0">
                          <a:latin typeface="Century Gothic" panose="020B0502020202020204" pitchFamily="34" charset="0"/>
                        </a:rPr>
                        <a:t>Cantidad</a:t>
                      </a:r>
                      <a:r>
                        <a:rPr lang="es-CO" sz="1400" baseline="0" dirty="0">
                          <a:latin typeface="Century Gothic" panose="020B0502020202020204" pitchFamily="34" charset="0"/>
                        </a:rPr>
                        <a:t> de carros</a:t>
                      </a:r>
                      <a:endParaRPr lang="es-CO" sz="1400" dirty="0">
                        <a:latin typeface="Century Gothic" panose="020B0502020202020204" pitchFamily="34" charset="0"/>
                      </a:endParaRPr>
                    </a:p>
                  </a:txBody>
                  <a:tcPr/>
                </a:tc>
                <a:tc>
                  <a:txBody>
                    <a:bodyPr/>
                    <a:lstStyle/>
                    <a:p>
                      <a:r>
                        <a:rPr lang="es-CO" sz="1400" dirty="0">
                          <a:latin typeface="Consolas" panose="020B0609020204030204" pitchFamily="49" charset="0"/>
                        </a:rPr>
                        <a:t>car</a:t>
                      </a: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7"/>
                  </a:ext>
                </a:extLst>
              </a:tr>
              <a:tr h="321327">
                <a:tc>
                  <a:txBody>
                    <a:bodyPr/>
                    <a:lstStyle/>
                    <a:p>
                      <a:r>
                        <a:rPr lang="es-CO" sz="1400" dirty="0">
                          <a:latin typeface="Century Gothic" panose="020B0502020202020204" pitchFamily="34" charset="0"/>
                        </a:rPr>
                        <a:t>8</a:t>
                      </a:r>
                    </a:p>
                  </a:txBody>
                  <a:tcPr/>
                </a:tc>
                <a:tc>
                  <a:txBody>
                    <a:bodyPr/>
                    <a:lstStyle/>
                    <a:p>
                      <a:r>
                        <a:rPr lang="es-CO" sz="1400" dirty="0">
                          <a:latin typeface="Century Gothic" panose="020B0502020202020204" pitchFamily="34" charset="0"/>
                        </a:rPr>
                        <a:t>Nombre</a:t>
                      </a:r>
                    </a:p>
                  </a:txBody>
                  <a:tcPr/>
                </a:tc>
                <a:tc>
                  <a:txBody>
                    <a:bodyPr/>
                    <a:lstStyle/>
                    <a:p>
                      <a:r>
                        <a:rPr lang="es-CO" sz="1400" dirty="0">
                          <a:latin typeface="Consolas" panose="020B0609020204030204" pitchFamily="49" charset="0"/>
                        </a:rPr>
                        <a:t>n</a:t>
                      </a:r>
                    </a:p>
                  </a:txBody>
                  <a:tcPr/>
                </a:tc>
                <a:tc>
                  <a:txBody>
                    <a:bodyPr/>
                    <a:lstStyle/>
                    <a:p>
                      <a:endParaRPr lang="es-CO">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68673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3044" y="80431"/>
            <a:ext cx="7886700" cy="1116540"/>
          </a:xfrm>
        </p:spPr>
        <p:txBody>
          <a:bodyPr/>
          <a:lstStyle/>
          <a:p>
            <a:r>
              <a:rPr lang="en-US" sz="3200" dirty="0"/>
              <a:t>Datos en algoritmos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16</a:t>
            </a:fld>
            <a:endParaRPr lang="en-US" dirty="0"/>
          </a:p>
        </p:txBody>
      </p:sp>
      <p:sp>
        <p:nvSpPr>
          <p:cNvPr id="11" name="10 CuadroTexto"/>
          <p:cNvSpPr txBox="1"/>
          <p:nvPr/>
        </p:nvSpPr>
        <p:spPr>
          <a:xfrm>
            <a:off x="309546" y="1037916"/>
            <a:ext cx="8438918" cy="954107"/>
          </a:xfrm>
          <a:prstGeom prst="rect">
            <a:avLst/>
          </a:prstGeom>
          <a:noFill/>
        </p:spPr>
        <p:txBody>
          <a:bodyPr wrap="square" rtlCol="0">
            <a:spAutoFit/>
          </a:bodyPr>
          <a:lstStyle/>
          <a:p>
            <a:r>
              <a:rPr lang="es-CO" sz="2000" b="1" dirty="0">
                <a:solidFill>
                  <a:srgbClr val="FF0000"/>
                </a:solidFill>
              </a:rPr>
              <a:t>Ejemplo</a:t>
            </a:r>
            <a:r>
              <a:rPr lang="es-CO" sz="2000" dirty="0">
                <a:solidFill>
                  <a:srgbClr val="FF0000"/>
                </a:solidFill>
              </a:rPr>
              <a:t>: </a:t>
            </a:r>
          </a:p>
          <a:p>
            <a:r>
              <a:rPr lang="es-CO" dirty="0"/>
              <a:t>Dadas las siguientes variables, defina el tipo de dato al que pertenecen marcando con una X la columna mas apropiada</a:t>
            </a:r>
          </a:p>
        </p:txBody>
      </p:sp>
      <p:graphicFrame>
        <p:nvGraphicFramePr>
          <p:cNvPr id="7" name="6 Tabla"/>
          <p:cNvGraphicFramePr>
            <a:graphicFrameLocks noGrp="1"/>
          </p:cNvGraphicFramePr>
          <p:nvPr>
            <p:extLst>
              <p:ext uri="{D42A27DB-BD31-4B8C-83A1-F6EECF244321}">
                <p14:modId xmlns:p14="http://schemas.microsoft.com/office/powerpoint/2010/main" val="962913315"/>
              </p:ext>
            </p:extLst>
          </p:nvPr>
        </p:nvGraphicFramePr>
        <p:xfrm>
          <a:off x="442551" y="2126278"/>
          <a:ext cx="8172907" cy="2499360"/>
        </p:xfrm>
        <a:graphic>
          <a:graphicData uri="http://schemas.openxmlformats.org/drawingml/2006/table">
            <a:tbl>
              <a:tblPr firstRow="1" bandRow="1">
                <a:tableStyleId>{5940675A-B579-460E-94D1-54222C63F5DA}</a:tableStyleId>
              </a:tblPr>
              <a:tblGrid>
                <a:gridCol w="1709277">
                  <a:extLst>
                    <a:ext uri="{9D8B030D-6E8A-4147-A177-3AD203B41FA5}">
                      <a16:colId xmlns:a16="http://schemas.microsoft.com/office/drawing/2014/main" val="20000"/>
                    </a:ext>
                  </a:extLst>
                </a:gridCol>
                <a:gridCol w="1704862">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1080120">
                  <a:extLst>
                    <a:ext uri="{9D8B030D-6E8A-4147-A177-3AD203B41FA5}">
                      <a16:colId xmlns:a16="http://schemas.microsoft.com/office/drawing/2014/main" val="20004"/>
                    </a:ext>
                  </a:extLst>
                </a:gridCol>
                <a:gridCol w="1080120">
                  <a:extLst>
                    <a:ext uri="{9D8B030D-6E8A-4147-A177-3AD203B41FA5}">
                      <a16:colId xmlns:a16="http://schemas.microsoft.com/office/drawing/2014/main" val="20005"/>
                    </a:ext>
                  </a:extLst>
                </a:gridCol>
                <a:gridCol w="942344">
                  <a:extLst>
                    <a:ext uri="{9D8B030D-6E8A-4147-A177-3AD203B41FA5}">
                      <a16:colId xmlns:a16="http://schemas.microsoft.com/office/drawing/2014/main" val="20006"/>
                    </a:ext>
                  </a:extLst>
                </a:gridCol>
              </a:tblGrid>
              <a:tr h="218625">
                <a:tc>
                  <a:txBody>
                    <a:bodyPr/>
                    <a:lstStyle/>
                    <a:p>
                      <a:pPr marL="0" algn="l" defTabSz="685800" rtl="0" eaLnBrk="1" latinLnBrk="0" hangingPunct="1"/>
                      <a:r>
                        <a:rPr lang="es-CO" sz="1400" b="1" kern="1200" dirty="0">
                          <a:solidFill>
                            <a:schemeClr val="bg1"/>
                          </a:solidFill>
                          <a:latin typeface="+mn-lt"/>
                          <a:ea typeface="+mn-ea"/>
                          <a:cs typeface="+mn-cs"/>
                        </a:rPr>
                        <a:t>Dato</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Nombre Variable</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Entero</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Real</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Booleana</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Carácter</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Cadena</a:t>
                      </a:r>
                    </a:p>
                  </a:txBody>
                  <a:tcPr>
                    <a:solidFill>
                      <a:schemeClr val="tx1"/>
                    </a:solidFill>
                  </a:tcPr>
                </a:tc>
                <a:extLst>
                  <a:ext uri="{0D108BD9-81ED-4DB2-BD59-A6C34878D82A}">
                    <a16:rowId xmlns:a16="http://schemas.microsoft.com/office/drawing/2014/main" val="10000"/>
                  </a:ext>
                </a:extLst>
              </a:tr>
              <a:tr h="184694">
                <a:tc>
                  <a:txBody>
                    <a:bodyPr/>
                    <a:lstStyle/>
                    <a:p>
                      <a:r>
                        <a:rPr lang="es-CO" sz="1200" dirty="0">
                          <a:latin typeface="+mn-lt"/>
                        </a:rPr>
                        <a:t>Dinero</a:t>
                      </a:r>
                    </a:p>
                  </a:txBody>
                  <a:tcPr/>
                </a:tc>
                <a:tc>
                  <a:txBody>
                    <a:bodyPr/>
                    <a:lstStyle/>
                    <a:p>
                      <a:r>
                        <a:rPr lang="es-CO" sz="1200" dirty="0" err="1">
                          <a:latin typeface="Consolas" panose="020B0609020204030204" pitchFamily="49" charset="0"/>
                        </a:rPr>
                        <a:t>money</a:t>
                      </a:r>
                      <a:r>
                        <a:rPr lang="es-CO" sz="1200" dirty="0">
                          <a:latin typeface="Consolas" panose="020B0609020204030204" pitchFamily="49" charset="0"/>
                        </a:rPr>
                        <a:t> </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1"/>
                  </a:ext>
                </a:extLst>
              </a:tr>
              <a:tr h="184694">
                <a:tc>
                  <a:txBody>
                    <a:bodyPr/>
                    <a:lstStyle/>
                    <a:p>
                      <a:r>
                        <a:rPr lang="es-CO" sz="1200" dirty="0">
                          <a:latin typeface="+mn-lt"/>
                        </a:rPr>
                        <a:t>Correo</a:t>
                      </a:r>
                      <a:r>
                        <a:rPr lang="es-CO" sz="1200" baseline="0" dirty="0">
                          <a:latin typeface="+mn-lt"/>
                        </a:rPr>
                        <a:t> electrónico</a:t>
                      </a:r>
                      <a:endParaRPr lang="es-CO" sz="1200" dirty="0">
                        <a:latin typeface="+mn-lt"/>
                      </a:endParaRPr>
                    </a:p>
                  </a:txBody>
                  <a:tcPr/>
                </a:tc>
                <a:tc>
                  <a:txBody>
                    <a:bodyPr/>
                    <a:lstStyle/>
                    <a:p>
                      <a:r>
                        <a:rPr lang="es-CO" sz="1200" dirty="0">
                          <a:latin typeface="Consolas" panose="020B0609020204030204" pitchFamily="49" charset="0"/>
                        </a:rPr>
                        <a:t>email </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2"/>
                  </a:ext>
                </a:extLst>
              </a:tr>
              <a:tr h="184694">
                <a:tc>
                  <a:txBody>
                    <a:bodyPr/>
                    <a:lstStyle/>
                    <a:p>
                      <a:r>
                        <a:rPr lang="es-CO" sz="1200" dirty="0">
                          <a:latin typeface="+mn-lt"/>
                        </a:rPr>
                        <a:t>velocidad</a:t>
                      </a:r>
                    </a:p>
                  </a:txBody>
                  <a:tcPr/>
                </a:tc>
                <a:tc>
                  <a:txBody>
                    <a:bodyPr/>
                    <a:lstStyle/>
                    <a:p>
                      <a:r>
                        <a:rPr lang="es-CO" sz="1200" dirty="0" err="1">
                          <a:latin typeface="Consolas" panose="020B0609020204030204" pitchFamily="49" charset="0"/>
                        </a:rPr>
                        <a:t>speed</a:t>
                      </a:r>
                      <a:r>
                        <a:rPr lang="es-CO" sz="1200" dirty="0">
                          <a:latin typeface="Consolas" panose="020B0609020204030204" pitchFamily="49" charset="0"/>
                        </a:rPr>
                        <a:t> </a:t>
                      </a:r>
                    </a:p>
                  </a:txBody>
                  <a:tcPr/>
                </a:tc>
                <a:tc>
                  <a:txBody>
                    <a:bodyPr/>
                    <a:lstStyle/>
                    <a:p>
                      <a:endParaRPr lang="es-CO" sz="1200" dirty="0">
                        <a:latin typeface="Consolas" panose="020B0609020204030204" pitchFamily="49" charset="0"/>
                      </a:endParaRPr>
                    </a:p>
                  </a:txBody>
                  <a:tcPr/>
                </a:tc>
                <a:tc>
                  <a:txBody>
                    <a:bodyPr/>
                    <a:lstStyle/>
                    <a:p>
                      <a:endParaRPr lang="es-CO" sz="120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3"/>
                  </a:ext>
                </a:extLst>
              </a:tr>
              <a:tr h="227705">
                <a:tc>
                  <a:txBody>
                    <a:bodyPr/>
                    <a:lstStyle/>
                    <a:p>
                      <a:r>
                        <a:rPr lang="es-CO" sz="1200" dirty="0">
                          <a:latin typeface="+mn-lt"/>
                        </a:rPr>
                        <a:t>Numero</a:t>
                      </a:r>
                      <a:r>
                        <a:rPr lang="es-CO" sz="1200" baseline="0" dirty="0">
                          <a:latin typeface="+mn-lt"/>
                        </a:rPr>
                        <a:t> de llamadas</a:t>
                      </a:r>
                      <a:endParaRPr lang="es-CO" sz="1200" dirty="0">
                        <a:latin typeface="+mn-lt"/>
                      </a:endParaRPr>
                    </a:p>
                  </a:txBody>
                  <a:tcPr/>
                </a:tc>
                <a:tc>
                  <a:txBody>
                    <a:bodyPr/>
                    <a:lstStyle/>
                    <a:p>
                      <a:r>
                        <a:rPr lang="es-CO" sz="1200" dirty="0" err="1">
                          <a:latin typeface="Consolas" panose="020B0609020204030204" pitchFamily="49" charset="0"/>
                        </a:rPr>
                        <a:t>num_calls</a:t>
                      </a:r>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4"/>
                  </a:ext>
                </a:extLst>
              </a:tr>
              <a:tr h="0">
                <a:tc>
                  <a:txBody>
                    <a:bodyPr/>
                    <a:lstStyle/>
                    <a:p>
                      <a:r>
                        <a:rPr lang="es-CO" sz="1200" dirty="0">
                          <a:latin typeface="+mn-lt"/>
                        </a:rPr>
                        <a:t>Sexo</a:t>
                      </a:r>
                    </a:p>
                  </a:txBody>
                  <a:tcPr/>
                </a:tc>
                <a:tc>
                  <a:txBody>
                    <a:bodyPr/>
                    <a:lstStyle/>
                    <a:p>
                      <a:r>
                        <a:rPr lang="es-CO" sz="1200" dirty="0" err="1">
                          <a:latin typeface="Consolas" panose="020B0609020204030204" pitchFamily="49" charset="0"/>
                        </a:rPr>
                        <a:t>gender</a:t>
                      </a:r>
                      <a:r>
                        <a:rPr lang="es-CO" sz="1200" dirty="0">
                          <a:latin typeface="Consolas" panose="020B0609020204030204" pitchFamily="49" charset="0"/>
                        </a:rPr>
                        <a:t> </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5"/>
                  </a:ext>
                </a:extLst>
              </a:tr>
              <a:tr h="139326">
                <a:tc>
                  <a:txBody>
                    <a:bodyPr/>
                    <a:lstStyle/>
                    <a:p>
                      <a:r>
                        <a:rPr lang="es-CO" sz="1200" dirty="0">
                          <a:latin typeface="+mn-lt"/>
                        </a:rPr>
                        <a:t>Radio</a:t>
                      </a:r>
                    </a:p>
                  </a:txBody>
                  <a:tcPr/>
                </a:tc>
                <a:tc>
                  <a:txBody>
                    <a:bodyPr/>
                    <a:lstStyle/>
                    <a:p>
                      <a:r>
                        <a:rPr lang="es-CO" sz="1200" dirty="0">
                          <a:latin typeface="Consolas" panose="020B0609020204030204" pitchFamily="49" charset="0"/>
                        </a:rPr>
                        <a:t>radio</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6"/>
                  </a:ext>
                </a:extLst>
              </a:tr>
              <a:tr h="184694">
                <a:tc>
                  <a:txBody>
                    <a:bodyPr/>
                    <a:lstStyle/>
                    <a:p>
                      <a:r>
                        <a:rPr lang="es-CO" sz="1200" dirty="0">
                          <a:latin typeface="+mn-lt"/>
                        </a:rPr>
                        <a:t>Numero</a:t>
                      </a:r>
                      <a:r>
                        <a:rPr lang="es-CO" sz="1200" baseline="0" dirty="0">
                          <a:latin typeface="+mn-lt"/>
                        </a:rPr>
                        <a:t> de materias</a:t>
                      </a:r>
                      <a:endParaRPr lang="es-CO" sz="1200" dirty="0">
                        <a:latin typeface="+mn-lt"/>
                      </a:endParaRPr>
                    </a:p>
                  </a:txBody>
                  <a:tcPr/>
                </a:tc>
                <a:tc>
                  <a:txBody>
                    <a:bodyPr/>
                    <a:lstStyle/>
                    <a:p>
                      <a:r>
                        <a:rPr lang="es-CO" sz="1200" dirty="0" err="1">
                          <a:latin typeface="Consolas" panose="020B0609020204030204" pitchFamily="49" charset="0"/>
                        </a:rPr>
                        <a:t>num_materias</a:t>
                      </a:r>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7"/>
                  </a:ext>
                </a:extLst>
              </a:tr>
              <a:tr h="227705">
                <a:tc>
                  <a:txBody>
                    <a:bodyPr/>
                    <a:lstStyle/>
                    <a:p>
                      <a:r>
                        <a:rPr lang="es-CO" sz="1200" dirty="0" err="1">
                          <a:latin typeface="+mn-lt"/>
                        </a:rPr>
                        <a:t>Indice</a:t>
                      </a:r>
                      <a:r>
                        <a:rPr lang="es-CO" sz="1200" baseline="0" dirty="0">
                          <a:latin typeface="+mn-lt"/>
                        </a:rPr>
                        <a:t> de masa corporal</a:t>
                      </a:r>
                      <a:endParaRPr lang="es-CO" sz="1200" dirty="0">
                        <a:latin typeface="+mn-lt"/>
                      </a:endParaRPr>
                    </a:p>
                  </a:txBody>
                  <a:tcPr/>
                </a:tc>
                <a:tc>
                  <a:txBody>
                    <a:bodyPr/>
                    <a:lstStyle/>
                    <a:p>
                      <a:r>
                        <a:rPr lang="es-CO" sz="1200" dirty="0" err="1">
                          <a:latin typeface="Consolas" panose="020B0609020204030204" pitchFamily="49" charset="0"/>
                        </a:rPr>
                        <a:t>imc</a:t>
                      </a:r>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740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3528" y="224228"/>
            <a:ext cx="7886700" cy="1116540"/>
          </a:xfrm>
        </p:spPr>
        <p:txBody>
          <a:bodyPr/>
          <a:lstStyle/>
          <a:p>
            <a:r>
              <a:rPr lang="en-US" sz="3200" dirty="0"/>
              <a:t>Datos en algoritmos</a:t>
            </a:r>
          </a:p>
        </p:txBody>
      </p:sp>
      <p:sp>
        <p:nvSpPr>
          <p:cNvPr id="2" name="Content Placeholder 1"/>
          <p:cNvSpPr>
            <a:spLocks noGrp="1"/>
          </p:cNvSpPr>
          <p:nvPr>
            <p:ph idx="1"/>
          </p:nvPr>
        </p:nvSpPr>
        <p:spPr>
          <a:xfrm>
            <a:off x="323528" y="1196752"/>
            <a:ext cx="8191822" cy="1116541"/>
          </a:xfrm>
        </p:spPr>
        <p:txBody>
          <a:bodyPr>
            <a:normAutofit lnSpcReduction="10000"/>
          </a:bodyPr>
          <a:lstStyle/>
          <a:p>
            <a:r>
              <a:rPr lang="en-US" sz="2200" b="1" dirty="0">
                <a:solidFill>
                  <a:srgbClr val="FF0000"/>
                </a:solidFill>
              </a:rPr>
              <a:t>Constante</a:t>
            </a:r>
            <a:r>
              <a:rPr lang="en-US" sz="2200" dirty="0">
                <a:solidFill>
                  <a:srgbClr val="FF0000"/>
                </a:solidFill>
              </a:rPr>
              <a:t>: </a:t>
            </a:r>
            <a:r>
              <a:rPr lang="es-ES" sz="2200" dirty="0">
                <a:solidFill>
                  <a:srgbClr val="FF0000"/>
                </a:solidFill>
              </a:rPr>
              <a:t> </a:t>
            </a:r>
            <a:r>
              <a:rPr lang="es-ES" sz="2200" dirty="0"/>
              <a:t>Dato del algoritmo que luego de ser asignado, que no puede ser modificado </a:t>
            </a:r>
          </a:p>
          <a:p>
            <a:r>
              <a:rPr lang="es-ES" sz="2200" dirty="0"/>
              <a:t>Para nombrar constantes se usan mayúsculas</a:t>
            </a:r>
          </a:p>
        </p:txBody>
      </p:sp>
      <p:graphicFrame>
        <p:nvGraphicFramePr>
          <p:cNvPr id="6" name="5 Tabla"/>
          <p:cNvGraphicFramePr>
            <a:graphicFrameLocks noGrp="1"/>
          </p:cNvGraphicFramePr>
          <p:nvPr>
            <p:extLst>
              <p:ext uri="{D42A27DB-BD31-4B8C-83A1-F6EECF244321}">
                <p14:modId xmlns:p14="http://schemas.microsoft.com/office/powerpoint/2010/main" val="2401627642"/>
              </p:ext>
            </p:extLst>
          </p:nvPr>
        </p:nvGraphicFramePr>
        <p:xfrm>
          <a:off x="1259632" y="2313292"/>
          <a:ext cx="6624736" cy="2595880"/>
        </p:xfrm>
        <a:graphic>
          <a:graphicData uri="http://schemas.openxmlformats.org/drawingml/2006/table">
            <a:tbl>
              <a:tblPr firstRow="1" bandRow="1">
                <a:tableStyleId>{5940675A-B579-460E-94D1-54222C63F5DA}</a:tableStyleId>
              </a:tblPr>
              <a:tblGrid>
                <a:gridCol w="2735470">
                  <a:extLst>
                    <a:ext uri="{9D8B030D-6E8A-4147-A177-3AD203B41FA5}">
                      <a16:colId xmlns:a16="http://schemas.microsoft.com/office/drawing/2014/main" val="20000"/>
                    </a:ext>
                  </a:extLst>
                </a:gridCol>
                <a:gridCol w="3889266">
                  <a:extLst>
                    <a:ext uri="{9D8B030D-6E8A-4147-A177-3AD203B41FA5}">
                      <a16:colId xmlns:a16="http://schemas.microsoft.com/office/drawing/2014/main" val="20001"/>
                    </a:ext>
                  </a:extLst>
                </a:gridCol>
              </a:tblGrid>
              <a:tr h="370840">
                <a:tc>
                  <a:txBody>
                    <a:bodyPr/>
                    <a:lstStyle/>
                    <a:p>
                      <a:pPr algn="l"/>
                      <a:r>
                        <a:rPr lang="es-CO" sz="1800" b="1" kern="1200" dirty="0">
                          <a:solidFill>
                            <a:schemeClr val="bg1"/>
                          </a:solidFill>
                          <a:latin typeface="+mn-lt"/>
                          <a:ea typeface="+mn-ea"/>
                          <a:cs typeface="+mn-cs"/>
                        </a:rPr>
                        <a:t>Dato</a:t>
                      </a:r>
                    </a:p>
                  </a:txBody>
                  <a:tcPr anchor="ctr">
                    <a:solidFill>
                      <a:schemeClr val="tx1"/>
                    </a:solidFill>
                  </a:tcPr>
                </a:tc>
                <a:tc>
                  <a:txBody>
                    <a:bodyPr/>
                    <a:lstStyle/>
                    <a:p>
                      <a:pPr algn="l"/>
                      <a:r>
                        <a:rPr lang="es-CO" sz="1800" b="1" kern="1200" dirty="0">
                          <a:solidFill>
                            <a:schemeClr val="bg1"/>
                          </a:solidFill>
                          <a:latin typeface="+mn-lt"/>
                          <a:ea typeface="+mn-ea"/>
                          <a:cs typeface="+mn-cs"/>
                        </a:rPr>
                        <a:t>Nombre de la constante</a:t>
                      </a:r>
                    </a:p>
                  </a:txBody>
                  <a:tcPr anchor="ctr">
                    <a:solidFill>
                      <a:schemeClr val="tx1"/>
                    </a:solidFill>
                  </a:tcPr>
                </a:tc>
                <a:extLst>
                  <a:ext uri="{0D108BD9-81ED-4DB2-BD59-A6C34878D82A}">
                    <a16:rowId xmlns:a16="http://schemas.microsoft.com/office/drawing/2014/main" val="10000"/>
                  </a:ext>
                </a:extLst>
              </a:tr>
              <a:tr h="370840">
                <a:tc>
                  <a:txBody>
                    <a:bodyPr/>
                    <a:lstStyle/>
                    <a:p>
                      <a:r>
                        <a:rPr lang="es-CO" sz="1600" dirty="0">
                          <a:latin typeface="+mn-lt"/>
                        </a:rPr>
                        <a:t>Numero Pi</a:t>
                      </a:r>
                    </a:p>
                  </a:txBody>
                  <a:tcPr/>
                </a:tc>
                <a:tc>
                  <a:txBody>
                    <a:bodyPr/>
                    <a:lstStyle/>
                    <a:p>
                      <a:r>
                        <a:rPr lang="es-CO" sz="1600" dirty="0">
                          <a:latin typeface="Consolas" panose="020B0609020204030204" pitchFamily="49" charset="0"/>
                        </a:rPr>
                        <a:t>PI = 3.14</a:t>
                      </a:r>
                    </a:p>
                  </a:txBody>
                  <a:tcPr/>
                </a:tc>
                <a:extLst>
                  <a:ext uri="{0D108BD9-81ED-4DB2-BD59-A6C34878D82A}">
                    <a16:rowId xmlns:a16="http://schemas.microsoft.com/office/drawing/2014/main" val="10001"/>
                  </a:ext>
                </a:extLst>
              </a:tr>
              <a:tr h="370840">
                <a:tc>
                  <a:txBody>
                    <a:bodyPr/>
                    <a:lstStyle/>
                    <a:p>
                      <a:r>
                        <a:rPr lang="es-CO" sz="1600" dirty="0">
                          <a:latin typeface="+mn-lt"/>
                        </a:rPr>
                        <a:t>Numero Euler</a:t>
                      </a:r>
                    </a:p>
                  </a:txBody>
                  <a:tcPr/>
                </a:tc>
                <a:tc>
                  <a:txBody>
                    <a:bodyPr/>
                    <a:lstStyle/>
                    <a:p>
                      <a:r>
                        <a:rPr lang="es-CO" sz="1600" dirty="0">
                          <a:latin typeface="Consolas" panose="020B0609020204030204" pitchFamily="49" charset="0"/>
                        </a:rPr>
                        <a:t>exp = 2.71828</a:t>
                      </a:r>
                    </a:p>
                  </a:txBody>
                  <a:tcPr/>
                </a:tc>
                <a:extLst>
                  <a:ext uri="{0D108BD9-81ED-4DB2-BD59-A6C34878D82A}">
                    <a16:rowId xmlns:a16="http://schemas.microsoft.com/office/drawing/2014/main" val="10002"/>
                  </a:ext>
                </a:extLst>
              </a:tr>
              <a:tr h="370840">
                <a:tc>
                  <a:txBody>
                    <a:bodyPr/>
                    <a:lstStyle/>
                    <a:p>
                      <a:r>
                        <a:rPr lang="es-CO" sz="1600" dirty="0">
                          <a:latin typeface="+mn-lt"/>
                        </a:rPr>
                        <a:t>Gravedad</a:t>
                      </a:r>
                    </a:p>
                  </a:txBody>
                  <a:tcPr/>
                </a:tc>
                <a:tc>
                  <a:txBody>
                    <a:bodyPr/>
                    <a:lstStyle/>
                    <a:p>
                      <a:r>
                        <a:rPr lang="es-CO" sz="1600" dirty="0">
                          <a:latin typeface="Consolas" panose="020B0609020204030204" pitchFamily="49" charset="0"/>
                        </a:rPr>
                        <a:t>G = 9.8</a:t>
                      </a:r>
                    </a:p>
                  </a:txBody>
                  <a:tcPr/>
                </a:tc>
                <a:extLst>
                  <a:ext uri="{0D108BD9-81ED-4DB2-BD59-A6C34878D82A}">
                    <a16:rowId xmlns:a16="http://schemas.microsoft.com/office/drawing/2014/main" val="10003"/>
                  </a:ext>
                </a:extLst>
              </a:tr>
              <a:tr h="370840">
                <a:tc>
                  <a:txBody>
                    <a:bodyPr/>
                    <a:lstStyle/>
                    <a:p>
                      <a:r>
                        <a:rPr lang="es-MX" sz="1600" dirty="0">
                          <a:latin typeface="+mn-lt"/>
                        </a:rPr>
                        <a:t>Velocidad de la luz</a:t>
                      </a:r>
                      <a:endParaRPr lang="es-CO" sz="1600" dirty="0">
                        <a:latin typeface="+mn-lt"/>
                      </a:endParaRPr>
                    </a:p>
                  </a:txBody>
                  <a:tcPr/>
                </a:tc>
                <a:tc>
                  <a:txBody>
                    <a:bodyPr/>
                    <a:lstStyle/>
                    <a:p>
                      <a:r>
                        <a:rPr lang="es-MX" sz="1600" dirty="0">
                          <a:latin typeface="Consolas" panose="020B0609020204030204" pitchFamily="49" charset="0"/>
                        </a:rPr>
                        <a:t>C = 300000 </a:t>
                      </a:r>
                      <a:endParaRPr lang="es-CO" sz="1600" dirty="0">
                        <a:latin typeface="Consolas" panose="020B0609020204030204" pitchFamily="49" charset="0"/>
                      </a:endParaRPr>
                    </a:p>
                  </a:txBody>
                  <a:tcPr/>
                </a:tc>
                <a:extLst>
                  <a:ext uri="{0D108BD9-81ED-4DB2-BD59-A6C34878D82A}">
                    <a16:rowId xmlns:a16="http://schemas.microsoft.com/office/drawing/2014/main" val="791867113"/>
                  </a:ext>
                </a:extLst>
              </a:tr>
              <a:tr h="370840">
                <a:tc>
                  <a:txBody>
                    <a:bodyPr/>
                    <a:lstStyle/>
                    <a:p>
                      <a:r>
                        <a:rPr lang="es-MX" sz="1600" dirty="0">
                          <a:latin typeface="+mn-lt"/>
                        </a:rPr>
                        <a:t>Numero de Avogadro</a:t>
                      </a:r>
                      <a:endParaRPr lang="es-CO" sz="1600" dirty="0">
                        <a:latin typeface="+mn-lt"/>
                      </a:endParaRPr>
                    </a:p>
                  </a:txBody>
                  <a:tcPr/>
                </a:tc>
                <a:tc>
                  <a:txBody>
                    <a:bodyPr/>
                    <a:lstStyle/>
                    <a:p>
                      <a:r>
                        <a:rPr lang="es-MX" sz="1600" dirty="0">
                          <a:latin typeface="Consolas" panose="020B0609020204030204" pitchFamily="49" charset="0"/>
                        </a:rPr>
                        <a:t>NUM_AVOGADRO = 6.022e-23</a:t>
                      </a:r>
                      <a:endParaRPr lang="es-CO" sz="1600" dirty="0">
                        <a:latin typeface="Consolas" panose="020B0609020204030204" pitchFamily="49" charset="0"/>
                      </a:endParaRPr>
                    </a:p>
                  </a:txBody>
                  <a:tcPr/>
                </a:tc>
                <a:extLst>
                  <a:ext uri="{0D108BD9-81ED-4DB2-BD59-A6C34878D82A}">
                    <a16:rowId xmlns:a16="http://schemas.microsoft.com/office/drawing/2014/main" val="1226238806"/>
                  </a:ext>
                </a:extLst>
              </a:tr>
              <a:tr h="370840">
                <a:tc>
                  <a:txBody>
                    <a:bodyPr/>
                    <a:lstStyle/>
                    <a:p>
                      <a:r>
                        <a:rPr lang="es-CO" sz="1600" dirty="0">
                          <a:latin typeface="+mn-lt"/>
                        </a:rPr>
                        <a:t>Limite de intentos</a:t>
                      </a:r>
                    </a:p>
                  </a:txBody>
                  <a:tcPr/>
                </a:tc>
                <a:tc>
                  <a:txBody>
                    <a:bodyPr/>
                    <a:lstStyle/>
                    <a:p>
                      <a:r>
                        <a:rPr lang="es-CO" sz="1600" dirty="0">
                          <a:latin typeface="Consolas" panose="020B0609020204030204" pitchFamily="49" charset="0"/>
                        </a:rPr>
                        <a:t>LIMITE_INTENTOS = 30</a:t>
                      </a:r>
                    </a:p>
                  </a:txBody>
                  <a:tcPr/>
                </a:tc>
                <a:extLst>
                  <a:ext uri="{0D108BD9-81ED-4DB2-BD59-A6C34878D82A}">
                    <a16:rowId xmlns:a16="http://schemas.microsoft.com/office/drawing/2014/main" val="2230700229"/>
                  </a:ext>
                </a:extLst>
              </a:tr>
            </a:tbl>
          </a:graphicData>
        </a:graphic>
      </p:graphicFrame>
      <p:sp>
        <p:nvSpPr>
          <p:cNvPr id="7" name="Content Placeholder 1">
            <a:extLst>
              <a:ext uri="{FF2B5EF4-FFF2-40B4-BE49-F238E27FC236}">
                <a16:creationId xmlns:a16="http://schemas.microsoft.com/office/drawing/2014/main" id="{74D48624-C0CA-4A9D-94EB-FCC9669EC85A}"/>
              </a:ext>
            </a:extLst>
          </p:cNvPr>
          <p:cNvSpPr txBox="1">
            <a:spLocks/>
          </p:cNvSpPr>
          <p:nvPr/>
        </p:nvSpPr>
        <p:spPr>
          <a:xfrm>
            <a:off x="339304" y="5074491"/>
            <a:ext cx="8191822" cy="1116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200" b="1" dirty="0"/>
              <a:t>Declaración</a:t>
            </a:r>
            <a:r>
              <a:rPr lang="es-ES" sz="2200" dirty="0"/>
              <a:t>:</a:t>
            </a:r>
          </a:p>
        </p:txBody>
      </p:sp>
      <p:sp>
        <p:nvSpPr>
          <p:cNvPr id="8" name="CuadroTexto 7">
            <a:extLst>
              <a:ext uri="{FF2B5EF4-FFF2-40B4-BE49-F238E27FC236}">
                <a16:creationId xmlns:a16="http://schemas.microsoft.com/office/drawing/2014/main" id="{1884346A-4BB4-4196-8F5D-9A8BF19F7F52}"/>
              </a:ext>
            </a:extLst>
          </p:cNvPr>
          <p:cNvSpPr txBox="1"/>
          <p:nvPr/>
        </p:nvSpPr>
        <p:spPr>
          <a:xfrm>
            <a:off x="1285019" y="6061982"/>
            <a:ext cx="4572000" cy="338554"/>
          </a:xfrm>
          <a:prstGeom prst="rect">
            <a:avLst/>
          </a:prstGeom>
          <a:noFill/>
        </p:spPr>
        <p:txBody>
          <a:bodyPr wrap="square">
            <a:spAutoFit/>
          </a:bodyPr>
          <a:lstStyle/>
          <a:p>
            <a:r>
              <a:rPr lang="es-CO" sz="1600" b="1" dirty="0">
                <a:solidFill>
                  <a:schemeClr val="accent2"/>
                </a:solidFill>
                <a:latin typeface="Consolas" panose="020B0609020204030204" pitchFamily="49" charset="0"/>
              </a:rPr>
              <a:t>&lt;Tipo_de_dato&gt;</a:t>
            </a:r>
            <a:r>
              <a:rPr lang="es-CO" sz="1600" dirty="0">
                <a:latin typeface="Consolas" panose="020B0609020204030204" pitchFamily="49" charset="0"/>
              </a:rPr>
              <a:t> </a:t>
            </a:r>
            <a:r>
              <a:rPr lang="es-CO" sz="1600" dirty="0">
                <a:solidFill>
                  <a:schemeClr val="accent4"/>
                </a:solidFill>
                <a:latin typeface="Consolas" panose="020B0609020204030204" pitchFamily="49" charset="0"/>
              </a:rPr>
              <a:t>identificador</a:t>
            </a:r>
            <a:r>
              <a:rPr lang="es-CO" sz="1600" dirty="0">
                <a:latin typeface="Consolas" panose="020B0609020204030204" pitchFamily="49" charset="0"/>
              </a:rPr>
              <a:t> = valor</a:t>
            </a:r>
          </a:p>
        </p:txBody>
      </p:sp>
      <p:sp>
        <p:nvSpPr>
          <p:cNvPr id="9" name="CuadroTexto 8">
            <a:extLst>
              <a:ext uri="{FF2B5EF4-FFF2-40B4-BE49-F238E27FC236}">
                <a16:creationId xmlns:a16="http://schemas.microsoft.com/office/drawing/2014/main" id="{393D016E-8623-4088-87EC-A39D05A5DF87}"/>
              </a:ext>
            </a:extLst>
          </p:cNvPr>
          <p:cNvSpPr txBox="1"/>
          <p:nvPr/>
        </p:nvSpPr>
        <p:spPr>
          <a:xfrm>
            <a:off x="546683" y="5473711"/>
            <a:ext cx="3024336" cy="307777"/>
          </a:xfrm>
          <a:prstGeom prst="rect">
            <a:avLst/>
          </a:prstGeom>
          <a:noFill/>
        </p:spPr>
        <p:txBody>
          <a:bodyPr wrap="square">
            <a:spAutoFit/>
          </a:bodyPr>
          <a:lstStyle/>
          <a:p>
            <a:pPr algn="ctr"/>
            <a:r>
              <a:rPr lang="es-CO" sz="1400" dirty="0">
                <a:solidFill>
                  <a:schemeClr val="accent2"/>
                </a:solidFill>
                <a:latin typeface="Consolas" panose="020B0609020204030204" pitchFamily="49" charset="0"/>
              </a:rPr>
              <a:t>Entero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Real</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Texto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Logico</a:t>
            </a:r>
          </a:p>
        </p:txBody>
      </p:sp>
      <p:cxnSp>
        <p:nvCxnSpPr>
          <p:cNvPr id="10" name="Conector recto de flecha 9">
            <a:extLst>
              <a:ext uri="{FF2B5EF4-FFF2-40B4-BE49-F238E27FC236}">
                <a16:creationId xmlns:a16="http://schemas.microsoft.com/office/drawing/2014/main" id="{E1EB6349-CC08-41A8-8D0A-345DE1D2921C}"/>
              </a:ext>
            </a:extLst>
          </p:cNvPr>
          <p:cNvCxnSpPr>
            <a:cxnSpLocks/>
            <a:stCxn id="9" idx="2"/>
          </p:cNvCxnSpPr>
          <p:nvPr/>
        </p:nvCxnSpPr>
        <p:spPr>
          <a:xfrm flipH="1">
            <a:off x="2058113" y="5781488"/>
            <a:ext cx="738" cy="28801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BD5CE581-B61B-412B-8907-A10C4FE6DC9E}"/>
              </a:ext>
            </a:extLst>
          </p:cNvPr>
          <p:cNvCxnSpPr>
            <a:cxnSpLocks/>
          </p:cNvCxnSpPr>
          <p:nvPr/>
        </p:nvCxnSpPr>
        <p:spPr>
          <a:xfrm flipV="1">
            <a:off x="3715035" y="6330187"/>
            <a:ext cx="0" cy="259054"/>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087189F3-7056-4628-81FC-FDA1BEB0E8E3}"/>
              </a:ext>
            </a:extLst>
          </p:cNvPr>
          <p:cNvSpPr txBox="1"/>
          <p:nvPr/>
        </p:nvSpPr>
        <p:spPr>
          <a:xfrm>
            <a:off x="2816487" y="6543959"/>
            <a:ext cx="1797095" cy="307777"/>
          </a:xfrm>
          <a:prstGeom prst="rect">
            <a:avLst/>
          </a:prstGeom>
          <a:noFill/>
        </p:spPr>
        <p:txBody>
          <a:bodyPr wrap="none" rtlCol="0">
            <a:spAutoFit/>
          </a:bodyPr>
          <a:lstStyle/>
          <a:p>
            <a:r>
              <a:rPr lang="es-CO" sz="1400" dirty="0">
                <a:solidFill>
                  <a:srgbClr val="0070C0"/>
                </a:solidFill>
              </a:rPr>
              <a:t>Nombre de la variable</a:t>
            </a:r>
          </a:p>
        </p:txBody>
      </p:sp>
      <p:cxnSp>
        <p:nvCxnSpPr>
          <p:cNvPr id="13" name="Conector recto de flecha 12">
            <a:extLst>
              <a:ext uri="{FF2B5EF4-FFF2-40B4-BE49-F238E27FC236}">
                <a16:creationId xmlns:a16="http://schemas.microsoft.com/office/drawing/2014/main" id="{BE3D7E41-15BE-4174-B33C-87771B3A8E9B}"/>
              </a:ext>
            </a:extLst>
          </p:cNvPr>
          <p:cNvCxnSpPr>
            <a:cxnSpLocks/>
          </p:cNvCxnSpPr>
          <p:nvPr/>
        </p:nvCxnSpPr>
        <p:spPr>
          <a:xfrm>
            <a:off x="5083187" y="5781488"/>
            <a:ext cx="0" cy="2880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ACE068EF-DD0C-4394-BDD7-49FFC12772E6}"/>
              </a:ext>
            </a:extLst>
          </p:cNvPr>
          <p:cNvSpPr txBox="1"/>
          <p:nvPr/>
        </p:nvSpPr>
        <p:spPr>
          <a:xfrm>
            <a:off x="4226221" y="5445224"/>
            <a:ext cx="1713931" cy="307777"/>
          </a:xfrm>
          <a:prstGeom prst="rect">
            <a:avLst/>
          </a:prstGeom>
          <a:noFill/>
        </p:spPr>
        <p:txBody>
          <a:bodyPr wrap="none" rtlCol="0">
            <a:spAutoFit/>
          </a:bodyPr>
          <a:lstStyle/>
          <a:p>
            <a:r>
              <a:rPr lang="es-CO" sz="1400" dirty="0"/>
              <a:t>Valor de la constante</a:t>
            </a:r>
          </a:p>
        </p:txBody>
      </p:sp>
      <p:sp>
        <p:nvSpPr>
          <p:cNvPr id="20" name="CuadroTexto 19">
            <a:extLst>
              <a:ext uri="{FF2B5EF4-FFF2-40B4-BE49-F238E27FC236}">
                <a16:creationId xmlns:a16="http://schemas.microsoft.com/office/drawing/2014/main" id="{75FE9370-5542-4485-80B7-8502694C7188}"/>
              </a:ext>
            </a:extLst>
          </p:cNvPr>
          <p:cNvSpPr txBox="1"/>
          <p:nvPr/>
        </p:nvSpPr>
        <p:spPr>
          <a:xfrm>
            <a:off x="5940152" y="6119447"/>
            <a:ext cx="2864544" cy="523220"/>
          </a:xfrm>
          <a:prstGeom prst="rect">
            <a:avLst/>
          </a:prstGeom>
          <a:noFill/>
          <a:ln>
            <a:solidFill>
              <a:schemeClr val="tx1"/>
            </a:solidFill>
          </a:ln>
        </p:spPr>
        <p:txBody>
          <a:bodyPr wrap="square" rtlCol="0">
            <a:spAutoFit/>
          </a:bodyPr>
          <a:lstStyle/>
          <a:p>
            <a:r>
              <a:rPr lang="es-CO" sz="1400" dirty="0">
                <a:solidFill>
                  <a:schemeClr val="accent2"/>
                </a:solidFill>
                <a:latin typeface="Consolas" panose="020B0609020204030204" pitchFamily="49" charset="0"/>
                <a:cs typeface="Courier New" panose="02070309020205020404" pitchFamily="49" charset="0"/>
              </a:rPr>
              <a:t>Entero</a:t>
            </a:r>
            <a:r>
              <a:rPr lang="es-CO" sz="1400" dirty="0">
                <a:latin typeface="Consolas" panose="020B0609020204030204" pitchFamily="49" charset="0"/>
                <a:cs typeface="Courier New" panose="02070309020205020404" pitchFamily="49" charset="0"/>
              </a:rPr>
              <a:t> LIMITE_INTENTOS = 30</a:t>
            </a:r>
          </a:p>
          <a:p>
            <a:r>
              <a:rPr lang="es-CO" sz="1400" dirty="0">
                <a:solidFill>
                  <a:schemeClr val="accent2"/>
                </a:solidFill>
                <a:latin typeface="Consolas" panose="020B0609020204030204" pitchFamily="49" charset="0"/>
                <a:cs typeface="Courier New" panose="02070309020205020404" pitchFamily="49" charset="0"/>
              </a:rPr>
              <a:t>Real</a:t>
            </a:r>
            <a:r>
              <a:rPr lang="es-CO" sz="1400" dirty="0">
                <a:latin typeface="Consolas" panose="020B0609020204030204" pitchFamily="49" charset="0"/>
                <a:cs typeface="Courier New" panose="02070309020205020404" pitchFamily="49" charset="0"/>
              </a:rPr>
              <a:t> PI = 3.14</a:t>
            </a:r>
          </a:p>
        </p:txBody>
      </p:sp>
    </p:spTree>
    <p:extLst>
      <p:ext uri="{BB962C8B-B14F-4D97-AF65-F5344CB8AC3E}">
        <p14:creationId xmlns:p14="http://schemas.microsoft.com/office/powerpoint/2010/main" val="1863692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22487" y="260648"/>
            <a:ext cx="4825577" cy="1116540"/>
          </a:xfrm>
        </p:spPr>
        <p:txBody>
          <a:bodyPr/>
          <a:lstStyle/>
          <a:p>
            <a:r>
              <a:rPr lang="es-CO" sz="3200" dirty="0"/>
              <a:t>Diseño de Algoritmos</a:t>
            </a:r>
          </a:p>
        </p:txBody>
      </p:sp>
      <p:sp>
        <p:nvSpPr>
          <p:cNvPr id="2" name="1 Marcador de contenido"/>
          <p:cNvSpPr>
            <a:spLocks noGrp="1"/>
          </p:cNvSpPr>
          <p:nvPr>
            <p:ph idx="1"/>
          </p:nvPr>
        </p:nvSpPr>
        <p:spPr>
          <a:xfrm>
            <a:off x="322487" y="1405657"/>
            <a:ext cx="5578449" cy="4327599"/>
          </a:xfrm>
        </p:spPr>
        <p:txBody>
          <a:bodyPr>
            <a:normAutofit/>
          </a:bodyPr>
          <a:lstStyle/>
          <a:p>
            <a:pPr marL="0" indent="0">
              <a:buNone/>
            </a:pPr>
            <a:r>
              <a:rPr lang="es-ES" sz="2800" b="1" dirty="0">
                <a:solidFill>
                  <a:srgbClr val="FF0000"/>
                </a:solidFill>
              </a:rPr>
              <a:t>Calcular el área de un triángulo</a:t>
            </a:r>
          </a:p>
          <a:p>
            <a:pPr marL="400050" lvl="1" indent="0">
              <a:buNone/>
            </a:pPr>
            <a:r>
              <a:rPr lang="es-ES" sz="2400" b="1" dirty="0"/>
              <a:t>Análisis: </a:t>
            </a:r>
          </a:p>
          <a:p>
            <a:pPr lvl="1"/>
            <a:r>
              <a:rPr lang="es-ES" sz="2400" dirty="0">
                <a:solidFill>
                  <a:schemeClr val="accent5"/>
                </a:solidFill>
              </a:rPr>
              <a:t>¿Cuál es el objetivo buscado?</a:t>
            </a:r>
          </a:p>
          <a:p>
            <a:pPr marL="857250" lvl="2" indent="0">
              <a:buNone/>
            </a:pPr>
            <a:r>
              <a:rPr lang="es-ES" sz="2000" dirty="0"/>
              <a:t>Calcular el área de un triángulo</a:t>
            </a:r>
          </a:p>
          <a:p>
            <a:pPr lvl="1"/>
            <a:r>
              <a:rPr lang="es-ES" sz="2400" dirty="0">
                <a:solidFill>
                  <a:schemeClr val="accent5"/>
                </a:solidFill>
              </a:rPr>
              <a:t>¿Cuáles son los datos de entrada?</a:t>
            </a:r>
          </a:p>
          <a:p>
            <a:pPr marL="857250" lvl="2" indent="0">
              <a:buNone/>
            </a:pPr>
            <a:r>
              <a:rPr lang="es-ES" sz="2000" dirty="0"/>
              <a:t>Base y altura</a:t>
            </a:r>
          </a:p>
          <a:p>
            <a:pPr lvl="1"/>
            <a:r>
              <a:rPr lang="es-ES" sz="2400" dirty="0">
                <a:solidFill>
                  <a:schemeClr val="accent5"/>
                </a:solidFill>
              </a:rPr>
              <a:t>¿Cuáles son los datos de salida?</a:t>
            </a:r>
          </a:p>
          <a:p>
            <a:pPr marL="857250" lvl="2" indent="0">
              <a:buNone/>
            </a:pPr>
            <a:r>
              <a:rPr lang="es-ES" sz="2000" dirty="0"/>
              <a:t>Área de un triángulo</a:t>
            </a:r>
          </a:p>
          <a:p>
            <a:pPr lvl="1"/>
            <a:r>
              <a:rPr lang="es-ES" sz="2400" dirty="0">
                <a:solidFill>
                  <a:schemeClr val="accent5"/>
                </a:solidFill>
              </a:rPr>
              <a:t>¿Qué cálculos/procesos deben llevarse a cabo?</a:t>
            </a:r>
          </a:p>
          <a:p>
            <a:pPr marL="857250" lvl="2" indent="0">
              <a:buNone/>
            </a:pPr>
            <a:r>
              <a:rPr lang="es-ES" sz="2000" dirty="0"/>
              <a:t>Área = (base * altura)/2</a:t>
            </a:r>
            <a:endParaRPr lang="es-CO" sz="2000" dirty="0"/>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18</a:t>
            </a:fld>
            <a:endParaRPr lang="en-US" dirty="0"/>
          </a:p>
        </p:txBody>
      </p:sp>
      <p:grpSp>
        <p:nvGrpSpPr>
          <p:cNvPr id="20" name="19 Grupo"/>
          <p:cNvGrpSpPr/>
          <p:nvPr/>
        </p:nvGrpSpPr>
        <p:grpSpPr>
          <a:xfrm>
            <a:off x="5825568" y="1939122"/>
            <a:ext cx="2778880" cy="3513221"/>
            <a:chOff x="5969584" y="1287379"/>
            <a:chExt cx="2778880" cy="3513221"/>
          </a:xfrm>
        </p:grpSpPr>
        <p:sp>
          <p:nvSpPr>
            <p:cNvPr id="7" name="6 Rectángulo"/>
            <p:cNvSpPr/>
            <p:nvPr/>
          </p:nvSpPr>
          <p:spPr>
            <a:xfrm>
              <a:off x="6172200" y="2125579"/>
              <a:ext cx="1447800" cy="533400"/>
            </a:xfrm>
            <a:prstGeom prst="rect">
              <a:avLst/>
            </a:pr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lumMod val="50000"/>
                      <a:lumOff val="50000"/>
                    </a:schemeClr>
                  </a:solidFill>
                  <a:latin typeface="Consolas" panose="020B0609020204030204" pitchFamily="49" charset="0"/>
                </a:rPr>
                <a:t>Inputs</a:t>
              </a:r>
            </a:p>
          </p:txBody>
        </p:sp>
        <p:sp>
          <p:nvSpPr>
            <p:cNvPr id="8" name="7 Rectángulo"/>
            <p:cNvSpPr/>
            <p:nvPr/>
          </p:nvSpPr>
          <p:spPr>
            <a:xfrm>
              <a:off x="6172200" y="3039979"/>
              <a:ext cx="1447800" cy="838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latin typeface="Consolas" panose="020B0609020204030204" pitchFamily="49" charset="0"/>
                </a:rPr>
                <a:t>Process</a:t>
              </a:r>
            </a:p>
          </p:txBody>
        </p:sp>
        <p:sp>
          <p:nvSpPr>
            <p:cNvPr id="9" name="8 Rectángulo"/>
            <p:cNvSpPr/>
            <p:nvPr/>
          </p:nvSpPr>
          <p:spPr>
            <a:xfrm>
              <a:off x="6172200" y="4259179"/>
              <a:ext cx="1447800" cy="533400"/>
            </a:xfrm>
            <a:prstGeom prst="rect">
              <a:avLst/>
            </a:pr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lumMod val="50000"/>
                      <a:lumOff val="50000"/>
                    </a:schemeClr>
                  </a:solidFill>
                  <a:latin typeface="Consolas" panose="020B0609020204030204" pitchFamily="49" charset="0"/>
                </a:rPr>
                <a:t>Outputs</a:t>
              </a:r>
            </a:p>
          </p:txBody>
        </p:sp>
        <p:sp>
          <p:nvSpPr>
            <p:cNvPr id="10" name="9 Flecha derecha"/>
            <p:cNvSpPr/>
            <p:nvPr/>
          </p:nvSpPr>
          <p:spPr>
            <a:xfrm rot="5400000">
              <a:off x="6705600" y="2735179"/>
              <a:ext cx="3810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10 Flecha derecha"/>
            <p:cNvSpPr/>
            <p:nvPr/>
          </p:nvSpPr>
          <p:spPr>
            <a:xfrm rot="5400000">
              <a:off x="6705600" y="3954379"/>
              <a:ext cx="3810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11 Rectángulo"/>
            <p:cNvSpPr/>
            <p:nvPr/>
          </p:nvSpPr>
          <p:spPr>
            <a:xfrm>
              <a:off x="5969584" y="1287379"/>
              <a:ext cx="1725498"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tx1"/>
                  </a:solidFill>
                  <a:latin typeface="Consolas" panose="020B0609020204030204" pitchFamily="49" charset="0"/>
                </a:rPr>
                <a:t>Base, altura</a:t>
              </a:r>
            </a:p>
          </p:txBody>
        </p:sp>
        <p:cxnSp>
          <p:nvCxnSpPr>
            <p:cNvPr id="14" name="13 Conector recto de flecha"/>
            <p:cNvCxnSpPr/>
            <p:nvPr/>
          </p:nvCxnSpPr>
          <p:spPr>
            <a:xfrm>
              <a:off x="7145756" y="1744579"/>
              <a:ext cx="0" cy="304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6612356" y="1744579"/>
              <a:ext cx="0" cy="304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16 Rectángulo"/>
            <p:cNvSpPr/>
            <p:nvPr/>
          </p:nvSpPr>
          <p:spPr>
            <a:xfrm>
              <a:off x="7834064" y="4267200"/>
              <a:ext cx="9144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solidFill>
                    <a:schemeClr val="tx1"/>
                  </a:solidFill>
                  <a:latin typeface="Consolas" panose="020B0609020204030204" pitchFamily="49" charset="0"/>
                </a:rPr>
                <a:t>Área</a:t>
              </a:r>
            </a:p>
          </p:txBody>
        </p:sp>
        <p:cxnSp>
          <p:nvCxnSpPr>
            <p:cNvPr id="18" name="17 Conector recto de flecha"/>
            <p:cNvCxnSpPr/>
            <p:nvPr/>
          </p:nvCxnSpPr>
          <p:spPr>
            <a:xfrm>
              <a:off x="7668344" y="4525879"/>
              <a:ext cx="3048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0073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368244"/>
            <a:ext cx="7886700" cy="1116540"/>
          </a:xfrm>
        </p:spPr>
        <p:txBody>
          <a:bodyPr/>
          <a:lstStyle/>
          <a:p>
            <a:r>
              <a:rPr lang="es-CO" sz="3200" dirty="0"/>
              <a:t>Diseño de Algoritmos</a:t>
            </a:r>
          </a:p>
        </p:txBody>
      </p:sp>
      <p:sp>
        <p:nvSpPr>
          <p:cNvPr id="2" name="1 Marcador de contenido"/>
          <p:cNvSpPr>
            <a:spLocks noGrp="1"/>
          </p:cNvSpPr>
          <p:nvPr>
            <p:ph idx="1"/>
          </p:nvPr>
        </p:nvSpPr>
        <p:spPr>
          <a:xfrm>
            <a:off x="323850" y="1412776"/>
            <a:ext cx="8352605" cy="841144"/>
          </a:xfrm>
          <a:ln>
            <a:noFill/>
          </a:ln>
        </p:spPr>
        <p:txBody>
          <a:bodyPr/>
          <a:lstStyle/>
          <a:p>
            <a:pPr marL="0" indent="0">
              <a:buNone/>
            </a:pPr>
            <a:r>
              <a:rPr lang="es-CO" sz="2400" dirty="0"/>
              <a:t>Se requiere diseñar un algoritmo que </a:t>
            </a:r>
            <a:r>
              <a:rPr lang="es-CO" sz="2400" b="1" dirty="0">
                <a:solidFill>
                  <a:srgbClr val="FF0000"/>
                </a:solidFill>
              </a:rPr>
              <a:t>calcule el número de meses que hay entre los años A y B</a:t>
            </a:r>
            <a:r>
              <a:rPr lang="es-CO" sz="2400" dirty="0">
                <a:solidFill>
                  <a:srgbClr val="FF0000"/>
                </a:solidFill>
              </a:rPr>
              <a:t>.</a:t>
            </a:r>
          </a:p>
          <a:p>
            <a:pPr marL="0" indent="0">
              <a:buNone/>
            </a:pPr>
            <a:endParaRPr lang="es-CO" dirty="0"/>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19</a:t>
            </a:fld>
            <a:endParaRPr lang="en-US" dirty="0"/>
          </a:p>
        </p:txBody>
      </p:sp>
      <p:sp>
        <p:nvSpPr>
          <p:cNvPr id="6" name="5 CuadroTexto"/>
          <p:cNvSpPr txBox="1"/>
          <p:nvPr/>
        </p:nvSpPr>
        <p:spPr>
          <a:xfrm>
            <a:off x="323850" y="2420888"/>
            <a:ext cx="4248150" cy="2739211"/>
          </a:xfrm>
          <a:prstGeom prst="rect">
            <a:avLst/>
          </a:prstGeom>
          <a:noFill/>
        </p:spPr>
        <p:txBody>
          <a:bodyPr wrap="square" rtlCol="0">
            <a:spAutoFit/>
          </a:bodyPr>
          <a:lstStyle/>
          <a:p>
            <a:pPr marL="342900" indent="-342900">
              <a:buFont typeface="Arial" panose="020B0604020202020204" pitchFamily="34" charset="0"/>
              <a:buChar char="•"/>
            </a:pPr>
            <a:r>
              <a:rPr lang="es-CO" sz="2000" dirty="0">
                <a:solidFill>
                  <a:schemeClr val="accent5"/>
                </a:solidFill>
                <a:latin typeface="Century Gothic" panose="020B0502020202020204" pitchFamily="34" charset="0"/>
              </a:rPr>
              <a:t>Datos de entrada: </a:t>
            </a:r>
            <a:r>
              <a:rPr lang="es-CO" sz="2000" dirty="0">
                <a:latin typeface="Century Gothic" panose="020B0502020202020204" pitchFamily="34" charset="0"/>
              </a:rPr>
              <a:t>los años especificados (A y B)</a:t>
            </a:r>
          </a:p>
          <a:p>
            <a:pPr marL="342900" indent="-342900">
              <a:buFont typeface="Arial" panose="020B0604020202020204" pitchFamily="34" charset="0"/>
              <a:buChar char="•"/>
            </a:pPr>
            <a:r>
              <a:rPr lang="es-CO" sz="2000" dirty="0">
                <a:solidFill>
                  <a:schemeClr val="accent5"/>
                </a:solidFill>
                <a:latin typeface="Century Gothic" panose="020B0502020202020204" pitchFamily="34" charset="0"/>
              </a:rPr>
              <a:t>Datos de salida: </a:t>
            </a:r>
            <a:r>
              <a:rPr lang="es-CO" sz="2000" dirty="0">
                <a:latin typeface="Century Gothic" panose="020B0502020202020204" pitchFamily="34" charset="0"/>
              </a:rPr>
              <a:t>numero total de meses transcurridos</a:t>
            </a:r>
          </a:p>
          <a:p>
            <a:pPr marL="342900" indent="-342900">
              <a:buFont typeface="Arial" panose="020B0604020202020204" pitchFamily="34" charset="0"/>
              <a:buChar char="•"/>
            </a:pPr>
            <a:r>
              <a:rPr lang="es-CO" sz="2000" dirty="0">
                <a:solidFill>
                  <a:schemeClr val="accent5"/>
                </a:solidFill>
                <a:latin typeface="Century Gothic" panose="020B0502020202020204" pitchFamily="34" charset="0"/>
              </a:rPr>
              <a:t>Definición de variables:</a:t>
            </a:r>
          </a:p>
          <a:p>
            <a:pPr marL="800100" lvl="1" indent="-342900">
              <a:buFont typeface="Arial" pitchFamily="34" charset="0"/>
              <a:buChar char="•"/>
            </a:pPr>
            <a:r>
              <a:rPr lang="es-CO" i="1" dirty="0">
                <a:latin typeface="Century Gothic" panose="020B0502020202020204" pitchFamily="34" charset="0"/>
              </a:rPr>
              <a:t>A: primer año</a:t>
            </a:r>
          </a:p>
          <a:p>
            <a:pPr marL="800100" lvl="1" indent="-342900">
              <a:buFont typeface="Arial" pitchFamily="34" charset="0"/>
              <a:buChar char="•"/>
            </a:pPr>
            <a:r>
              <a:rPr lang="es-CO" i="1" dirty="0">
                <a:latin typeface="Century Gothic" panose="020B0502020202020204" pitchFamily="34" charset="0"/>
              </a:rPr>
              <a:t>B: segundo año</a:t>
            </a:r>
          </a:p>
          <a:p>
            <a:pPr marL="800100" lvl="1" indent="-342900">
              <a:buFont typeface="Arial" pitchFamily="34" charset="0"/>
              <a:buChar char="•"/>
            </a:pPr>
            <a:r>
              <a:rPr lang="es-CO" i="1" dirty="0">
                <a:latin typeface="Century Gothic" panose="020B0502020202020204" pitchFamily="34" charset="0"/>
              </a:rPr>
              <a:t>years</a:t>
            </a:r>
            <a:r>
              <a:rPr lang="es-CO" dirty="0">
                <a:latin typeface="Century Gothic" panose="020B0502020202020204" pitchFamily="34" charset="0"/>
              </a:rPr>
              <a:t>: años transcurridos</a:t>
            </a:r>
          </a:p>
          <a:p>
            <a:pPr marL="800100" lvl="1" indent="-342900">
              <a:buFont typeface="Arial" pitchFamily="34" charset="0"/>
              <a:buChar char="•"/>
            </a:pPr>
            <a:r>
              <a:rPr lang="es-CO" i="1" dirty="0">
                <a:latin typeface="Century Gothic" panose="020B0502020202020204" pitchFamily="34" charset="0"/>
              </a:rPr>
              <a:t>months</a:t>
            </a:r>
            <a:r>
              <a:rPr lang="es-CO" dirty="0">
                <a:latin typeface="Century Gothic" panose="020B0502020202020204" pitchFamily="34" charset="0"/>
              </a:rPr>
              <a:t>: meses transcurridos</a:t>
            </a:r>
          </a:p>
        </p:txBody>
      </p:sp>
      <p:sp>
        <p:nvSpPr>
          <p:cNvPr id="7" name="6 CuadroTexto"/>
          <p:cNvSpPr txBox="1"/>
          <p:nvPr/>
        </p:nvSpPr>
        <p:spPr>
          <a:xfrm>
            <a:off x="4905597" y="2492896"/>
            <a:ext cx="3770858" cy="2554545"/>
          </a:xfrm>
          <a:prstGeom prst="rect">
            <a:avLst/>
          </a:prstGeom>
          <a:solidFill>
            <a:srgbClr val="FF0000"/>
          </a:solidFill>
        </p:spPr>
        <p:txBody>
          <a:bodyPr wrap="square" rtlCol="0">
            <a:spAutoFit/>
          </a:bodyPr>
          <a:lstStyle/>
          <a:p>
            <a:r>
              <a:rPr lang="es-CO" sz="2000" b="1" dirty="0">
                <a:solidFill>
                  <a:schemeClr val="bg1"/>
                </a:solidFill>
                <a:latin typeface="Century Gothic" panose="020B0502020202020204" pitchFamily="34" charset="0"/>
              </a:rPr>
              <a:t>Algoritmo</a:t>
            </a:r>
          </a:p>
          <a:p>
            <a:pPr marL="342900" indent="-342900">
              <a:buFont typeface="+mj-lt"/>
              <a:buAutoNum type="arabicPeriod"/>
            </a:pPr>
            <a:r>
              <a:rPr lang="es-CO" sz="2000" dirty="0">
                <a:solidFill>
                  <a:schemeClr val="bg1"/>
                </a:solidFill>
                <a:latin typeface="Century Gothic" panose="020B0502020202020204" pitchFamily="34" charset="0"/>
              </a:rPr>
              <a:t>Capturar valores de A y B</a:t>
            </a:r>
          </a:p>
          <a:p>
            <a:pPr marL="342900" indent="-342900">
              <a:buFont typeface="+mj-lt"/>
              <a:buAutoNum type="arabicPeriod"/>
            </a:pPr>
            <a:r>
              <a:rPr lang="es-CO" sz="2000" dirty="0">
                <a:solidFill>
                  <a:schemeClr val="bg1"/>
                </a:solidFill>
                <a:latin typeface="Century Gothic" panose="020B0502020202020204" pitchFamily="34" charset="0"/>
              </a:rPr>
              <a:t>Asignar a </a:t>
            </a:r>
            <a:r>
              <a:rPr lang="es-CO" sz="2000" i="1" dirty="0">
                <a:solidFill>
                  <a:schemeClr val="bg1"/>
                </a:solidFill>
                <a:latin typeface="Century Gothic" panose="020B0502020202020204" pitchFamily="34" charset="0"/>
              </a:rPr>
              <a:t>years</a:t>
            </a:r>
            <a:r>
              <a:rPr lang="es-CO" sz="2000" dirty="0">
                <a:solidFill>
                  <a:schemeClr val="bg1"/>
                </a:solidFill>
                <a:latin typeface="Century Gothic" panose="020B0502020202020204" pitchFamily="34" charset="0"/>
              </a:rPr>
              <a:t> la operación </a:t>
            </a:r>
            <a:r>
              <a:rPr lang="es-CO" sz="2000" i="1" dirty="0">
                <a:solidFill>
                  <a:schemeClr val="bg1"/>
                </a:solidFill>
                <a:latin typeface="Century Gothic" panose="020B0502020202020204" pitchFamily="34" charset="0"/>
              </a:rPr>
              <a:t>B-A</a:t>
            </a:r>
          </a:p>
          <a:p>
            <a:pPr marL="342900" indent="-342900">
              <a:buFont typeface="+mj-lt"/>
              <a:buAutoNum type="arabicPeriod"/>
            </a:pPr>
            <a:r>
              <a:rPr lang="es-CO" sz="2000" dirty="0">
                <a:solidFill>
                  <a:schemeClr val="bg1"/>
                </a:solidFill>
                <a:latin typeface="Century Gothic" panose="020B0502020202020204" pitchFamily="34" charset="0"/>
              </a:rPr>
              <a:t>Asignar a </a:t>
            </a:r>
            <a:r>
              <a:rPr lang="es-CO" sz="2000" i="1" dirty="0">
                <a:solidFill>
                  <a:schemeClr val="bg1"/>
                </a:solidFill>
                <a:latin typeface="Century Gothic" panose="020B0502020202020204" pitchFamily="34" charset="0"/>
              </a:rPr>
              <a:t>months</a:t>
            </a:r>
            <a:r>
              <a:rPr lang="es-CO" sz="2000" dirty="0">
                <a:solidFill>
                  <a:schemeClr val="bg1"/>
                </a:solidFill>
                <a:latin typeface="Century Gothic" panose="020B0502020202020204" pitchFamily="34" charset="0"/>
              </a:rPr>
              <a:t> la operación </a:t>
            </a:r>
            <a:r>
              <a:rPr lang="es-CO" sz="2000" i="1" dirty="0">
                <a:solidFill>
                  <a:schemeClr val="bg1"/>
                </a:solidFill>
                <a:latin typeface="Century Gothic" panose="020B0502020202020204" pitchFamily="34" charset="0"/>
              </a:rPr>
              <a:t>years * 12</a:t>
            </a:r>
          </a:p>
          <a:p>
            <a:pPr marL="342900" indent="-342900">
              <a:buFont typeface="+mj-lt"/>
              <a:buAutoNum type="arabicPeriod"/>
            </a:pPr>
            <a:r>
              <a:rPr lang="es-CO" sz="2000" dirty="0">
                <a:solidFill>
                  <a:schemeClr val="bg1"/>
                </a:solidFill>
                <a:latin typeface="Century Gothic" panose="020B0502020202020204" pitchFamily="34" charset="0"/>
              </a:rPr>
              <a:t>Muestre el valor de </a:t>
            </a:r>
            <a:r>
              <a:rPr lang="es-CO" sz="2000" i="1" dirty="0">
                <a:solidFill>
                  <a:schemeClr val="bg1"/>
                </a:solidFill>
                <a:latin typeface="Century Gothic" panose="020B0502020202020204" pitchFamily="34" charset="0"/>
              </a:rPr>
              <a:t>months</a:t>
            </a:r>
          </a:p>
        </p:txBody>
      </p:sp>
    </p:spTree>
    <p:extLst>
      <p:ext uri="{BB962C8B-B14F-4D97-AF65-F5344CB8AC3E}">
        <p14:creationId xmlns:p14="http://schemas.microsoft.com/office/powerpoint/2010/main" val="3657115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74B467-E950-411E-ADA1-08A802E433E0}"/>
              </a:ext>
            </a:extLst>
          </p:cNvPr>
          <p:cNvSpPr>
            <a:spLocks noGrp="1"/>
          </p:cNvSpPr>
          <p:nvPr>
            <p:ph type="title"/>
          </p:nvPr>
        </p:nvSpPr>
        <p:spPr>
          <a:xfrm>
            <a:off x="162529" y="233521"/>
            <a:ext cx="7886700" cy="747207"/>
          </a:xfrm>
        </p:spPr>
        <p:txBody>
          <a:bodyPr/>
          <a:lstStyle/>
          <a:p>
            <a:r>
              <a:rPr lang="es-MX" dirty="0"/>
              <a:t>Diagrama de flujos - Bloques</a:t>
            </a:r>
            <a:endParaRPr lang="es-CO" dirty="0"/>
          </a:p>
        </p:txBody>
      </p:sp>
      <p:sp>
        <p:nvSpPr>
          <p:cNvPr id="5" name="Flowchart: Data 6">
            <a:extLst>
              <a:ext uri="{FF2B5EF4-FFF2-40B4-BE49-F238E27FC236}">
                <a16:creationId xmlns:a16="http://schemas.microsoft.com/office/drawing/2014/main" id="{03904255-9331-434B-8981-75EF486CB1DD}"/>
              </a:ext>
            </a:extLst>
          </p:cNvPr>
          <p:cNvSpPr/>
          <p:nvPr/>
        </p:nvSpPr>
        <p:spPr>
          <a:xfrm>
            <a:off x="5146312" y="2242488"/>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sp>
        <p:nvSpPr>
          <p:cNvPr id="6" name="Flowchart: Process 7">
            <a:extLst>
              <a:ext uri="{FF2B5EF4-FFF2-40B4-BE49-F238E27FC236}">
                <a16:creationId xmlns:a16="http://schemas.microsoft.com/office/drawing/2014/main" id="{B4F15497-6C8A-4887-AFE8-87B678D6A7EC}"/>
              </a:ext>
            </a:extLst>
          </p:cNvPr>
          <p:cNvSpPr/>
          <p:nvPr/>
        </p:nvSpPr>
        <p:spPr>
          <a:xfrm>
            <a:off x="5648000" y="3166016"/>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Process</a:t>
            </a:r>
          </a:p>
        </p:txBody>
      </p:sp>
      <p:sp>
        <p:nvSpPr>
          <p:cNvPr id="7" name="Flowchart: Terminator 8">
            <a:extLst>
              <a:ext uri="{FF2B5EF4-FFF2-40B4-BE49-F238E27FC236}">
                <a16:creationId xmlns:a16="http://schemas.microsoft.com/office/drawing/2014/main" id="{9810BD53-E015-4C28-8C6B-03045C726130}"/>
              </a:ext>
            </a:extLst>
          </p:cNvPr>
          <p:cNvSpPr/>
          <p:nvPr/>
        </p:nvSpPr>
        <p:spPr>
          <a:xfrm>
            <a:off x="5648000" y="6295896"/>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8" name="Flowchart: Terminator 9">
            <a:extLst>
              <a:ext uri="{FF2B5EF4-FFF2-40B4-BE49-F238E27FC236}">
                <a16:creationId xmlns:a16="http://schemas.microsoft.com/office/drawing/2014/main" id="{5265D614-799A-45C1-B9AB-1D1A77B1031C}"/>
              </a:ext>
            </a:extLst>
          </p:cNvPr>
          <p:cNvSpPr/>
          <p:nvPr/>
        </p:nvSpPr>
        <p:spPr>
          <a:xfrm>
            <a:off x="5683634" y="1477308"/>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grpSp>
        <p:nvGrpSpPr>
          <p:cNvPr id="9" name="42 Grupo">
            <a:extLst>
              <a:ext uri="{FF2B5EF4-FFF2-40B4-BE49-F238E27FC236}">
                <a16:creationId xmlns:a16="http://schemas.microsoft.com/office/drawing/2014/main" id="{94510A54-C1A2-4B44-BB6C-18104072C4FE}"/>
              </a:ext>
            </a:extLst>
          </p:cNvPr>
          <p:cNvGrpSpPr/>
          <p:nvPr/>
        </p:nvGrpSpPr>
        <p:grpSpPr>
          <a:xfrm>
            <a:off x="4489522" y="4351680"/>
            <a:ext cx="3488970" cy="645219"/>
            <a:chOff x="4512196" y="4002981"/>
            <a:chExt cx="3488970" cy="645219"/>
          </a:xfrm>
        </p:grpSpPr>
        <p:sp>
          <p:nvSpPr>
            <p:cNvPr id="10" name="TextBox 75">
              <a:extLst>
                <a:ext uri="{FF2B5EF4-FFF2-40B4-BE49-F238E27FC236}">
                  <a16:creationId xmlns:a16="http://schemas.microsoft.com/office/drawing/2014/main" id="{FD63529B-55B7-40D8-8F36-1429AE14DEB3}"/>
                </a:ext>
              </a:extLst>
            </p:cNvPr>
            <p:cNvSpPr txBox="1"/>
            <p:nvPr/>
          </p:nvSpPr>
          <p:spPr>
            <a:xfrm>
              <a:off x="7391566" y="4019005"/>
              <a:ext cx="609600"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1" name="TextBox 76">
              <a:extLst>
                <a:ext uri="{FF2B5EF4-FFF2-40B4-BE49-F238E27FC236}">
                  <a16:creationId xmlns:a16="http://schemas.microsoft.com/office/drawing/2014/main" id="{293001CE-D8A0-4419-9E0C-571E43B47E56}"/>
                </a:ext>
              </a:extLst>
            </p:cNvPr>
            <p:cNvSpPr txBox="1"/>
            <p:nvPr/>
          </p:nvSpPr>
          <p:spPr>
            <a:xfrm>
              <a:off x="4512196" y="4002981"/>
              <a:ext cx="609600"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12" name="Flowchart: Decision 5">
              <a:extLst>
                <a:ext uri="{FF2B5EF4-FFF2-40B4-BE49-F238E27FC236}">
                  <a16:creationId xmlns:a16="http://schemas.microsoft.com/office/drawing/2014/main" id="{FAB5114B-DAD5-44AC-827F-A020693414E7}"/>
                </a:ext>
              </a:extLst>
            </p:cNvPr>
            <p:cNvSpPr/>
            <p:nvPr/>
          </p:nvSpPr>
          <p:spPr>
            <a:xfrm>
              <a:off x="5143761" y="4055676"/>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Decision</a:t>
              </a:r>
            </a:p>
          </p:txBody>
        </p:sp>
        <p:grpSp>
          <p:nvGrpSpPr>
            <p:cNvPr id="13" name="40 Grupo">
              <a:extLst>
                <a:ext uri="{FF2B5EF4-FFF2-40B4-BE49-F238E27FC236}">
                  <a16:creationId xmlns:a16="http://schemas.microsoft.com/office/drawing/2014/main" id="{E4A715DE-8046-4711-B557-2B0DBDC121B3}"/>
                </a:ext>
              </a:extLst>
            </p:cNvPr>
            <p:cNvGrpSpPr/>
            <p:nvPr/>
          </p:nvGrpSpPr>
          <p:grpSpPr>
            <a:xfrm>
              <a:off x="4633913" y="4281488"/>
              <a:ext cx="528637" cy="366712"/>
              <a:chOff x="4633913" y="4281488"/>
              <a:chExt cx="528637" cy="366712"/>
            </a:xfrm>
          </p:grpSpPr>
          <p:cxnSp>
            <p:nvCxnSpPr>
              <p:cNvPr id="17" name="Straight Arrow Connector 18">
                <a:extLst>
                  <a:ext uri="{FF2B5EF4-FFF2-40B4-BE49-F238E27FC236}">
                    <a16:creationId xmlns:a16="http://schemas.microsoft.com/office/drawing/2014/main" id="{71A8D79A-02E3-4DD2-BA4F-B504B81717A1}"/>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8">
                <a:extLst>
                  <a:ext uri="{FF2B5EF4-FFF2-40B4-BE49-F238E27FC236}">
                    <a16:creationId xmlns:a16="http://schemas.microsoft.com/office/drawing/2014/main" id="{D2910915-F8A9-4A12-9B48-4A23F444FDB5}"/>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65 Grupo">
              <a:extLst>
                <a:ext uri="{FF2B5EF4-FFF2-40B4-BE49-F238E27FC236}">
                  <a16:creationId xmlns:a16="http://schemas.microsoft.com/office/drawing/2014/main" id="{037553D7-C48C-4660-858E-30FC9E02C7C7}"/>
                </a:ext>
              </a:extLst>
            </p:cNvPr>
            <p:cNvGrpSpPr/>
            <p:nvPr/>
          </p:nvGrpSpPr>
          <p:grpSpPr>
            <a:xfrm flipH="1">
              <a:off x="7305676" y="4281488"/>
              <a:ext cx="528637" cy="366712"/>
              <a:chOff x="4633913" y="4281488"/>
              <a:chExt cx="528637" cy="366712"/>
            </a:xfrm>
          </p:grpSpPr>
          <p:cxnSp>
            <p:nvCxnSpPr>
              <p:cNvPr id="15" name="Straight Arrow Connector 18">
                <a:extLst>
                  <a:ext uri="{FF2B5EF4-FFF2-40B4-BE49-F238E27FC236}">
                    <a16:creationId xmlns:a16="http://schemas.microsoft.com/office/drawing/2014/main" id="{557A0862-E30C-4463-B486-495669B2666C}"/>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8">
                <a:extLst>
                  <a:ext uri="{FF2B5EF4-FFF2-40B4-BE49-F238E27FC236}">
                    <a16:creationId xmlns:a16="http://schemas.microsoft.com/office/drawing/2014/main" id="{214D7920-4A89-4B92-AE32-8A0B3EF087E6}"/>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9" name="69 Rectángulo">
            <a:extLst>
              <a:ext uri="{FF2B5EF4-FFF2-40B4-BE49-F238E27FC236}">
                <a16:creationId xmlns:a16="http://schemas.microsoft.com/office/drawing/2014/main" id="{86EAFD9E-C574-4C0C-ABDF-ABCFEB7E27EE}"/>
              </a:ext>
            </a:extLst>
          </p:cNvPr>
          <p:cNvSpPr/>
          <p:nvPr/>
        </p:nvSpPr>
        <p:spPr>
          <a:xfrm>
            <a:off x="1958644" y="1412776"/>
            <a:ext cx="2143536" cy="338554"/>
          </a:xfrm>
          <a:prstGeom prst="rect">
            <a:avLst/>
          </a:prstGeom>
        </p:spPr>
        <p:txBody>
          <a:bodyPr wrap="none">
            <a:spAutoFit/>
          </a:bodyPr>
          <a:lstStyle/>
          <a:p>
            <a:pPr algn="r"/>
            <a:r>
              <a:rPr lang="es-CO" sz="1600" dirty="0">
                <a:latin typeface="Century Gothic" panose="020B0502020202020204" pitchFamily="34" charset="0"/>
              </a:rPr>
              <a:t>Inicio del programa</a:t>
            </a:r>
          </a:p>
        </p:txBody>
      </p:sp>
      <p:sp>
        <p:nvSpPr>
          <p:cNvPr id="20" name="70 Rectángulo">
            <a:extLst>
              <a:ext uri="{FF2B5EF4-FFF2-40B4-BE49-F238E27FC236}">
                <a16:creationId xmlns:a16="http://schemas.microsoft.com/office/drawing/2014/main" id="{C8E71A4E-3EB9-4A3A-BE2F-D9C9209E8D49}"/>
              </a:ext>
            </a:extLst>
          </p:cNvPr>
          <p:cNvSpPr/>
          <p:nvPr/>
        </p:nvSpPr>
        <p:spPr>
          <a:xfrm>
            <a:off x="1522158" y="3055317"/>
            <a:ext cx="2556513" cy="830997"/>
          </a:xfrm>
          <a:prstGeom prst="rect">
            <a:avLst/>
          </a:prstGeom>
        </p:spPr>
        <p:txBody>
          <a:bodyPr wrap="square">
            <a:spAutoFit/>
          </a:bodyPr>
          <a:lstStyle/>
          <a:p>
            <a:pPr algn="r"/>
            <a:r>
              <a:rPr lang="es-CO" sz="1600" dirty="0">
                <a:latin typeface="Century Gothic" panose="020B0502020202020204" pitchFamily="34" charset="0"/>
              </a:rPr>
              <a:t>Pasos, procesos o líneas de instrucción de programa de computo</a:t>
            </a:r>
          </a:p>
        </p:txBody>
      </p:sp>
      <p:sp>
        <p:nvSpPr>
          <p:cNvPr id="21" name="71 Rectángulo">
            <a:extLst>
              <a:ext uri="{FF2B5EF4-FFF2-40B4-BE49-F238E27FC236}">
                <a16:creationId xmlns:a16="http://schemas.microsoft.com/office/drawing/2014/main" id="{60F1026D-95AD-4158-8099-BA97C2B48183}"/>
              </a:ext>
            </a:extLst>
          </p:cNvPr>
          <p:cNvSpPr/>
          <p:nvPr/>
        </p:nvSpPr>
        <p:spPr>
          <a:xfrm>
            <a:off x="2434736" y="2240576"/>
            <a:ext cx="1667444" cy="338554"/>
          </a:xfrm>
          <a:prstGeom prst="rect">
            <a:avLst/>
          </a:prstGeom>
        </p:spPr>
        <p:txBody>
          <a:bodyPr wrap="none">
            <a:spAutoFit/>
          </a:bodyPr>
          <a:lstStyle/>
          <a:p>
            <a:r>
              <a:rPr lang="es-CO" sz="1600" dirty="0">
                <a:latin typeface="Century Gothic" panose="020B0502020202020204" pitchFamily="34" charset="0"/>
              </a:rPr>
              <a:t>Entrada/Salida</a:t>
            </a:r>
          </a:p>
        </p:txBody>
      </p:sp>
      <p:sp>
        <p:nvSpPr>
          <p:cNvPr id="22" name="73 Rectángulo">
            <a:extLst>
              <a:ext uri="{FF2B5EF4-FFF2-40B4-BE49-F238E27FC236}">
                <a16:creationId xmlns:a16="http://schemas.microsoft.com/office/drawing/2014/main" id="{C890F85B-BF07-4D8C-BB14-68B977B23124}"/>
              </a:ext>
            </a:extLst>
          </p:cNvPr>
          <p:cNvSpPr/>
          <p:nvPr/>
        </p:nvSpPr>
        <p:spPr>
          <a:xfrm>
            <a:off x="398133" y="4481697"/>
            <a:ext cx="3703258" cy="338554"/>
          </a:xfrm>
          <a:prstGeom prst="rect">
            <a:avLst/>
          </a:prstGeom>
        </p:spPr>
        <p:txBody>
          <a:bodyPr wrap="none">
            <a:spAutoFit/>
          </a:bodyPr>
          <a:lstStyle/>
          <a:p>
            <a:r>
              <a:rPr lang="es-CO" sz="1600" dirty="0">
                <a:latin typeface="Century Gothic" panose="020B0502020202020204" pitchFamily="34" charset="0"/>
              </a:rPr>
              <a:t>Toma de decisiones y Ramificación</a:t>
            </a:r>
          </a:p>
        </p:txBody>
      </p:sp>
      <p:sp>
        <p:nvSpPr>
          <p:cNvPr id="23" name="75 Rectángulo">
            <a:extLst>
              <a:ext uri="{FF2B5EF4-FFF2-40B4-BE49-F238E27FC236}">
                <a16:creationId xmlns:a16="http://schemas.microsoft.com/office/drawing/2014/main" id="{E35B0682-B4F6-4AC7-AFDB-4D50F409A7D5}"/>
              </a:ext>
            </a:extLst>
          </p:cNvPr>
          <p:cNvSpPr/>
          <p:nvPr/>
        </p:nvSpPr>
        <p:spPr>
          <a:xfrm>
            <a:off x="2174729" y="6235571"/>
            <a:ext cx="1887055" cy="338554"/>
          </a:xfrm>
          <a:prstGeom prst="rect">
            <a:avLst/>
          </a:prstGeom>
        </p:spPr>
        <p:txBody>
          <a:bodyPr wrap="none">
            <a:spAutoFit/>
          </a:bodyPr>
          <a:lstStyle/>
          <a:p>
            <a:r>
              <a:rPr lang="es-CO" sz="1600" dirty="0">
                <a:latin typeface="Century Gothic" panose="020B0502020202020204" pitchFamily="34" charset="0"/>
              </a:rPr>
              <a:t>Fin del programa</a:t>
            </a:r>
          </a:p>
        </p:txBody>
      </p:sp>
      <p:cxnSp>
        <p:nvCxnSpPr>
          <p:cNvPr id="24" name="Straight Arrow Connector 12">
            <a:extLst>
              <a:ext uri="{FF2B5EF4-FFF2-40B4-BE49-F238E27FC236}">
                <a16:creationId xmlns:a16="http://schemas.microsoft.com/office/drawing/2014/main" id="{64E926B6-1FEE-495B-9125-3A7DEBD8ECCC}"/>
              </a:ext>
            </a:extLst>
          </p:cNvPr>
          <p:cNvCxnSpPr/>
          <p:nvPr/>
        </p:nvCxnSpPr>
        <p:spPr>
          <a:xfrm>
            <a:off x="5510314" y="5575816"/>
            <a:ext cx="1402250" cy="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79 Rectángulo">
            <a:extLst>
              <a:ext uri="{FF2B5EF4-FFF2-40B4-BE49-F238E27FC236}">
                <a16:creationId xmlns:a16="http://schemas.microsoft.com/office/drawing/2014/main" id="{51F18032-D936-47AC-8AD4-97A8597A131C}"/>
              </a:ext>
            </a:extLst>
          </p:cNvPr>
          <p:cNvSpPr/>
          <p:nvPr/>
        </p:nvSpPr>
        <p:spPr>
          <a:xfrm>
            <a:off x="2469681" y="5359579"/>
            <a:ext cx="1592103" cy="338554"/>
          </a:xfrm>
          <a:prstGeom prst="rect">
            <a:avLst/>
          </a:prstGeom>
        </p:spPr>
        <p:txBody>
          <a:bodyPr wrap="none">
            <a:spAutoFit/>
          </a:bodyPr>
          <a:lstStyle/>
          <a:p>
            <a:r>
              <a:rPr lang="es-CO" sz="1600" dirty="0">
                <a:latin typeface="Century Gothic" panose="020B0502020202020204" pitchFamily="34" charset="0"/>
              </a:rPr>
              <a:t>Líneas de flujo</a:t>
            </a:r>
          </a:p>
        </p:txBody>
      </p:sp>
    </p:spTree>
    <p:extLst>
      <p:ext uri="{BB962C8B-B14F-4D97-AF65-F5344CB8AC3E}">
        <p14:creationId xmlns:p14="http://schemas.microsoft.com/office/powerpoint/2010/main" val="3704960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188640"/>
            <a:ext cx="7886700" cy="1116540"/>
          </a:xfrm>
        </p:spPr>
        <p:txBody>
          <a:bodyPr/>
          <a:lstStyle/>
          <a:p>
            <a:r>
              <a:rPr lang="es-CO" sz="3200" dirty="0"/>
              <a:t>Comparación de un problema</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21</a:t>
            </a:fld>
            <a:endParaRPr lang="en-US" dirty="0"/>
          </a:p>
        </p:txBody>
      </p:sp>
      <p:pic>
        <p:nvPicPr>
          <p:cNvPr id="9" name="Picture 2">
            <a:extLst>
              <a:ext uri="{FF2B5EF4-FFF2-40B4-BE49-F238E27FC236}">
                <a16:creationId xmlns:a16="http://schemas.microsoft.com/office/drawing/2014/main" id="{5F5EA5F5-6DAD-4F35-A550-0EDF68B72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840" y="1412776"/>
            <a:ext cx="2981400" cy="29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descr="PHD Comics: Grading Methods | Phd comics, Math humor, Comics">
            <a:extLst>
              <a:ext uri="{FF2B5EF4-FFF2-40B4-BE49-F238E27FC236}">
                <a16:creationId xmlns:a16="http://schemas.microsoft.com/office/drawing/2014/main" id="{794F9EA6-B8FF-41F0-849D-A05248D7E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768975"/>
            <a:ext cx="4661688" cy="2020065"/>
          </a:xfrm>
          <a:prstGeom prst="rect">
            <a:avLst/>
          </a:prstGeom>
          <a:noFill/>
          <a:extLst>
            <a:ext uri="{909E8E84-426E-40DD-AFC4-6F175D3DCCD1}">
              <a14:hiddenFill xmlns:a14="http://schemas.microsoft.com/office/drawing/2010/main">
                <a:solidFill>
                  <a:srgbClr val="FFFFFF"/>
                </a:solidFill>
              </a14:hiddenFill>
            </a:ext>
          </a:extLst>
        </p:spPr>
      </p:pic>
      <p:sp>
        <p:nvSpPr>
          <p:cNvPr id="11" name="27 Rectángulo">
            <a:extLst>
              <a:ext uri="{FF2B5EF4-FFF2-40B4-BE49-F238E27FC236}">
                <a16:creationId xmlns:a16="http://schemas.microsoft.com/office/drawing/2014/main" id="{C12ABEAE-228A-4FBD-B2DB-742AF88288CB}"/>
              </a:ext>
            </a:extLst>
          </p:cNvPr>
          <p:cNvSpPr/>
          <p:nvPr/>
        </p:nvSpPr>
        <p:spPr>
          <a:xfrm>
            <a:off x="359840" y="4725144"/>
            <a:ext cx="2592697" cy="615553"/>
          </a:xfrm>
          <a:prstGeom prst="rect">
            <a:avLst/>
          </a:prstGeom>
        </p:spPr>
        <p:txBody>
          <a:bodyPr wrap="none">
            <a:spAutoFit/>
          </a:bodyPr>
          <a:lstStyle/>
          <a:p>
            <a:r>
              <a:rPr lang="es-CO" b="1" dirty="0"/>
              <a:t>Problema:</a:t>
            </a:r>
          </a:p>
          <a:p>
            <a:r>
              <a:rPr lang="es-CO" sz="1600" dirty="0"/>
              <a:t>Pise al marrano con el pájaro</a:t>
            </a:r>
          </a:p>
        </p:txBody>
      </p:sp>
      <p:sp>
        <p:nvSpPr>
          <p:cNvPr id="12" name="26 Rectángulo">
            <a:extLst>
              <a:ext uri="{FF2B5EF4-FFF2-40B4-BE49-F238E27FC236}">
                <a16:creationId xmlns:a16="http://schemas.microsoft.com/office/drawing/2014/main" id="{65FDE972-23A7-4EFB-B3BC-20A29216BD54}"/>
              </a:ext>
            </a:extLst>
          </p:cNvPr>
          <p:cNvSpPr/>
          <p:nvPr/>
        </p:nvSpPr>
        <p:spPr>
          <a:xfrm>
            <a:off x="3942164" y="4716521"/>
            <a:ext cx="2268442" cy="615553"/>
          </a:xfrm>
          <a:prstGeom prst="rect">
            <a:avLst/>
          </a:prstGeom>
        </p:spPr>
        <p:txBody>
          <a:bodyPr wrap="none">
            <a:spAutoFit/>
          </a:bodyPr>
          <a:lstStyle/>
          <a:p>
            <a:r>
              <a:rPr lang="es-CO" b="1" dirty="0"/>
              <a:t>Problema:</a:t>
            </a:r>
          </a:p>
          <a:p>
            <a:r>
              <a:rPr lang="es-CO" sz="1600" dirty="0"/>
              <a:t>Haga un programa que …</a:t>
            </a:r>
          </a:p>
        </p:txBody>
      </p:sp>
    </p:spTree>
    <p:extLst>
      <p:ext uri="{BB962C8B-B14F-4D97-AF65-F5344CB8AC3E}">
        <p14:creationId xmlns:p14="http://schemas.microsoft.com/office/powerpoint/2010/main" val="1487255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224228"/>
            <a:ext cx="7886700" cy="1116540"/>
          </a:xfrm>
        </p:spPr>
        <p:txBody>
          <a:bodyPr/>
          <a:lstStyle/>
          <a:p>
            <a:r>
              <a:rPr lang="es-CO" sz="3200" dirty="0"/>
              <a:t>Comparación de un problema</a:t>
            </a:r>
          </a:p>
        </p:txBody>
      </p:sp>
      <p:pic>
        <p:nvPicPr>
          <p:cNvPr id="9" name="Picture 2">
            <a:extLst>
              <a:ext uri="{FF2B5EF4-FFF2-40B4-BE49-F238E27FC236}">
                <a16:creationId xmlns:a16="http://schemas.microsoft.com/office/drawing/2014/main" id="{5F5EA5F5-6DAD-4F35-A550-0EDF68B720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3772" y="1196752"/>
            <a:ext cx="1619872" cy="1619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descr="PHD Comics: Grading Methods | Phd comics, Math humor, Comics">
            <a:extLst>
              <a:ext uri="{FF2B5EF4-FFF2-40B4-BE49-F238E27FC236}">
                <a16:creationId xmlns:a16="http://schemas.microsoft.com/office/drawing/2014/main" id="{794F9EA6-B8FF-41F0-849D-A05248D7E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4637" y="1161632"/>
            <a:ext cx="3736836" cy="1619296"/>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89476E3E-F9E5-49F1-BB25-C2013D4DAD89}"/>
              </a:ext>
            </a:extLst>
          </p:cNvPr>
          <p:cNvSpPr txBox="1"/>
          <p:nvPr/>
        </p:nvSpPr>
        <p:spPr>
          <a:xfrm>
            <a:off x="179512" y="2996952"/>
            <a:ext cx="3528392" cy="338554"/>
          </a:xfrm>
          <a:prstGeom prst="rect">
            <a:avLst/>
          </a:prstGeom>
          <a:noFill/>
        </p:spPr>
        <p:txBody>
          <a:bodyPr wrap="square">
            <a:spAutoFit/>
          </a:bodyPr>
          <a:lstStyle/>
          <a:p>
            <a:pPr algn="ctr"/>
            <a:r>
              <a:rPr lang="es-CO" sz="1600" b="1" dirty="0">
                <a:latin typeface="Century Gothic" panose="020B0502020202020204" pitchFamily="34" charset="0"/>
              </a:rPr>
              <a:t>Bloques problema del pájaro</a:t>
            </a:r>
          </a:p>
        </p:txBody>
      </p:sp>
      <p:sp>
        <p:nvSpPr>
          <p:cNvPr id="13" name="CuadroTexto 12">
            <a:extLst>
              <a:ext uri="{FF2B5EF4-FFF2-40B4-BE49-F238E27FC236}">
                <a16:creationId xmlns:a16="http://schemas.microsoft.com/office/drawing/2014/main" id="{CE3369A2-D6E8-46F6-9B0F-5E8CF555F6CE}"/>
              </a:ext>
            </a:extLst>
          </p:cNvPr>
          <p:cNvSpPr txBox="1"/>
          <p:nvPr/>
        </p:nvSpPr>
        <p:spPr>
          <a:xfrm>
            <a:off x="4600162" y="2996952"/>
            <a:ext cx="3779912" cy="338554"/>
          </a:xfrm>
          <a:prstGeom prst="rect">
            <a:avLst/>
          </a:prstGeom>
          <a:noFill/>
        </p:spPr>
        <p:txBody>
          <a:bodyPr wrap="square">
            <a:spAutoFit/>
          </a:bodyPr>
          <a:lstStyle/>
          <a:p>
            <a:pPr algn="ctr"/>
            <a:r>
              <a:rPr lang="es-CO" sz="1600" b="1" dirty="0">
                <a:latin typeface="Century Gothic" panose="020B0502020202020204" pitchFamily="34" charset="0"/>
              </a:rPr>
              <a:t>Bloques problema asignado</a:t>
            </a:r>
          </a:p>
        </p:txBody>
      </p:sp>
      <p:pic>
        <p:nvPicPr>
          <p:cNvPr id="14" name="Picture 2">
            <a:extLst>
              <a:ext uri="{FF2B5EF4-FFF2-40B4-BE49-F238E27FC236}">
                <a16:creationId xmlns:a16="http://schemas.microsoft.com/office/drawing/2014/main" id="{CC7766EB-610E-498B-B13D-7EBF1677C6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4058" y="3730575"/>
            <a:ext cx="2019300"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Flowchart: Data 6">
            <a:extLst>
              <a:ext uri="{FF2B5EF4-FFF2-40B4-BE49-F238E27FC236}">
                <a16:creationId xmlns:a16="http://schemas.microsoft.com/office/drawing/2014/main" id="{492BDD9B-1327-4064-9B99-9570B5E6DD1B}"/>
              </a:ext>
            </a:extLst>
          </p:cNvPr>
          <p:cNvSpPr/>
          <p:nvPr/>
        </p:nvSpPr>
        <p:spPr>
          <a:xfrm>
            <a:off x="5451022" y="4134353"/>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Read/Print</a:t>
            </a:r>
          </a:p>
        </p:txBody>
      </p:sp>
      <p:sp>
        <p:nvSpPr>
          <p:cNvPr id="16" name="Flowchart: Process 7">
            <a:extLst>
              <a:ext uri="{FF2B5EF4-FFF2-40B4-BE49-F238E27FC236}">
                <a16:creationId xmlns:a16="http://schemas.microsoft.com/office/drawing/2014/main" id="{78CF6510-8828-49FE-9B67-0104523DCC74}"/>
              </a:ext>
            </a:extLst>
          </p:cNvPr>
          <p:cNvSpPr/>
          <p:nvPr/>
        </p:nvSpPr>
        <p:spPr>
          <a:xfrm>
            <a:off x="5946087" y="4724377"/>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Process</a:t>
            </a:r>
            <a:endParaRPr lang="en-US" sz="1400" dirty="0">
              <a:latin typeface="Consolas" panose="020B0609020204030204" pitchFamily="49" charset="0"/>
            </a:endParaRPr>
          </a:p>
        </p:txBody>
      </p:sp>
      <p:sp>
        <p:nvSpPr>
          <p:cNvPr id="17" name="Flowchart: Terminator 8">
            <a:extLst>
              <a:ext uri="{FF2B5EF4-FFF2-40B4-BE49-F238E27FC236}">
                <a16:creationId xmlns:a16="http://schemas.microsoft.com/office/drawing/2014/main" id="{147FAF2C-A90A-4D96-9207-8A5CB52D18D0}"/>
              </a:ext>
            </a:extLst>
          </p:cNvPr>
          <p:cNvSpPr/>
          <p:nvPr/>
        </p:nvSpPr>
        <p:spPr>
          <a:xfrm>
            <a:off x="5924550" y="6241384"/>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Finish</a:t>
            </a:r>
            <a:endParaRPr lang="en-US" sz="1400" dirty="0">
              <a:latin typeface="Consolas" panose="020B0609020204030204" pitchFamily="49" charset="0"/>
            </a:endParaRPr>
          </a:p>
        </p:txBody>
      </p:sp>
      <p:sp>
        <p:nvSpPr>
          <p:cNvPr id="18" name="Flowchart: Terminator 9">
            <a:extLst>
              <a:ext uri="{FF2B5EF4-FFF2-40B4-BE49-F238E27FC236}">
                <a16:creationId xmlns:a16="http://schemas.microsoft.com/office/drawing/2014/main" id="{945BF1C2-4146-481A-8542-6FB6163438DF}"/>
              </a:ext>
            </a:extLst>
          </p:cNvPr>
          <p:cNvSpPr/>
          <p:nvPr/>
        </p:nvSpPr>
        <p:spPr>
          <a:xfrm>
            <a:off x="5956718" y="3645024"/>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grpSp>
        <p:nvGrpSpPr>
          <p:cNvPr id="19" name="12 Grupo">
            <a:extLst>
              <a:ext uri="{FF2B5EF4-FFF2-40B4-BE49-F238E27FC236}">
                <a16:creationId xmlns:a16="http://schemas.microsoft.com/office/drawing/2014/main" id="{A572ED94-769B-44B0-B833-760E3F6CBA2F}"/>
              </a:ext>
            </a:extLst>
          </p:cNvPr>
          <p:cNvGrpSpPr/>
          <p:nvPr/>
        </p:nvGrpSpPr>
        <p:grpSpPr>
          <a:xfrm>
            <a:off x="4757570" y="5457680"/>
            <a:ext cx="3488970" cy="645219"/>
            <a:chOff x="4512196" y="4002981"/>
            <a:chExt cx="3488970" cy="645219"/>
          </a:xfrm>
        </p:grpSpPr>
        <p:sp>
          <p:nvSpPr>
            <p:cNvPr id="20" name="TextBox 75">
              <a:extLst>
                <a:ext uri="{FF2B5EF4-FFF2-40B4-BE49-F238E27FC236}">
                  <a16:creationId xmlns:a16="http://schemas.microsoft.com/office/drawing/2014/main" id="{3807D0B8-09AC-4A1C-ABE6-5F0EDABB581B}"/>
                </a:ext>
              </a:extLst>
            </p:cNvPr>
            <p:cNvSpPr txBox="1"/>
            <p:nvPr/>
          </p:nvSpPr>
          <p:spPr>
            <a:xfrm>
              <a:off x="7391566" y="4019005"/>
              <a:ext cx="609600"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21" name="TextBox 76">
              <a:extLst>
                <a:ext uri="{FF2B5EF4-FFF2-40B4-BE49-F238E27FC236}">
                  <a16:creationId xmlns:a16="http://schemas.microsoft.com/office/drawing/2014/main" id="{66B0FDD7-80DF-42EC-B1AA-31DDB49305F9}"/>
                </a:ext>
              </a:extLst>
            </p:cNvPr>
            <p:cNvSpPr txBox="1"/>
            <p:nvPr/>
          </p:nvSpPr>
          <p:spPr>
            <a:xfrm>
              <a:off x="4512196" y="4002981"/>
              <a:ext cx="609600"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22" name="Flowchart: Decision 5">
              <a:extLst>
                <a:ext uri="{FF2B5EF4-FFF2-40B4-BE49-F238E27FC236}">
                  <a16:creationId xmlns:a16="http://schemas.microsoft.com/office/drawing/2014/main" id="{29870C19-641F-4E46-84A8-4147361702D3}"/>
                </a:ext>
              </a:extLst>
            </p:cNvPr>
            <p:cNvSpPr/>
            <p:nvPr/>
          </p:nvSpPr>
          <p:spPr>
            <a:xfrm>
              <a:off x="5143761" y="4055676"/>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Decision</a:t>
              </a:r>
              <a:endParaRPr lang="en-US" sz="1400" dirty="0">
                <a:latin typeface="Consolas" panose="020B0609020204030204" pitchFamily="49" charset="0"/>
              </a:endParaRPr>
            </a:p>
          </p:txBody>
        </p:sp>
        <p:grpSp>
          <p:nvGrpSpPr>
            <p:cNvPr id="23" name="16 Grupo">
              <a:extLst>
                <a:ext uri="{FF2B5EF4-FFF2-40B4-BE49-F238E27FC236}">
                  <a16:creationId xmlns:a16="http://schemas.microsoft.com/office/drawing/2014/main" id="{66463977-0F6D-4693-8F50-93E717E90CD8}"/>
                </a:ext>
              </a:extLst>
            </p:cNvPr>
            <p:cNvGrpSpPr/>
            <p:nvPr/>
          </p:nvGrpSpPr>
          <p:grpSpPr>
            <a:xfrm>
              <a:off x="4633913" y="4281488"/>
              <a:ext cx="528637" cy="366712"/>
              <a:chOff x="4633913" y="4281488"/>
              <a:chExt cx="528637" cy="366712"/>
            </a:xfrm>
          </p:grpSpPr>
          <p:cxnSp>
            <p:nvCxnSpPr>
              <p:cNvPr id="27" name="Straight Arrow Connector 18">
                <a:extLst>
                  <a:ext uri="{FF2B5EF4-FFF2-40B4-BE49-F238E27FC236}">
                    <a16:creationId xmlns:a16="http://schemas.microsoft.com/office/drawing/2014/main" id="{612535C4-231A-40DA-94A9-73FE3F8255EF}"/>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18">
                <a:extLst>
                  <a:ext uri="{FF2B5EF4-FFF2-40B4-BE49-F238E27FC236}">
                    <a16:creationId xmlns:a16="http://schemas.microsoft.com/office/drawing/2014/main" id="{04A0DB20-983B-46B4-992F-52FF6E193858}"/>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4" name="17 Grupo">
              <a:extLst>
                <a:ext uri="{FF2B5EF4-FFF2-40B4-BE49-F238E27FC236}">
                  <a16:creationId xmlns:a16="http://schemas.microsoft.com/office/drawing/2014/main" id="{3000B1F4-A615-4F24-9674-E4F77E3C6A42}"/>
                </a:ext>
              </a:extLst>
            </p:cNvPr>
            <p:cNvGrpSpPr/>
            <p:nvPr/>
          </p:nvGrpSpPr>
          <p:grpSpPr>
            <a:xfrm flipH="1">
              <a:off x="7305676" y="4281488"/>
              <a:ext cx="528637" cy="366712"/>
              <a:chOff x="4633913" y="4281488"/>
              <a:chExt cx="528637" cy="366712"/>
            </a:xfrm>
          </p:grpSpPr>
          <p:cxnSp>
            <p:nvCxnSpPr>
              <p:cNvPr id="25" name="Straight Arrow Connector 18">
                <a:extLst>
                  <a:ext uri="{FF2B5EF4-FFF2-40B4-BE49-F238E27FC236}">
                    <a16:creationId xmlns:a16="http://schemas.microsoft.com/office/drawing/2014/main" id="{7A3A8865-C512-43D9-B972-740948F2C8BA}"/>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8">
                <a:extLst>
                  <a:ext uri="{FF2B5EF4-FFF2-40B4-BE49-F238E27FC236}">
                    <a16:creationId xmlns:a16="http://schemas.microsoft.com/office/drawing/2014/main" id="{6C990021-FB1F-46DF-9838-2C56F8D138CF}"/>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29" name="Straight Arrow Connector 12">
            <a:extLst>
              <a:ext uri="{FF2B5EF4-FFF2-40B4-BE49-F238E27FC236}">
                <a16:creationId xmlns:a16="http://schemas.microsoft.com/office/drawing/2014/main" id="{B67FB79E-C597-4010-A9E0-B132C1823408}"/>
              </a:ext>
            </a:extLst>
          </p:cNvPr>
          <p:cNvCxnSpPr/>
          <p:nvPr/>
        </p:nvCxnSpPr>
        <p:spPr>
          <a:xfrm>
            <a:off x="5756825" y="6102899"/>
            <a:ext cx="1402250" cy="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111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1520" y="424019"/>
            <a:ext cx="7995020" cy="1116540"/>
          </a:xfrm>
        </p:spPr>
        <p:txBody>
          <a:bodyPr/>
          <a:lstStyle/>
          <a:p>
            <a:r>
              <a:rPr lang="es-CO" sz="2800" dirty="0"/>
              <a:t>Comparación – Solución del problema del pájaro</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23</a:t>
            </a:fld>
            <a:endParaRPr lang="en-US" dirty="0"/>
          </a:p>
        </p:txBody>
      </p:sp>
      <p:sp>
        <p:nvSpPr>
          <p:cNvPr id="10" name="CuadroTexto 9">
            <a:extLst>
              <a:ext uri="{FF2B5EF4-FFF2-40B4-BE49-F238E27FC236}">
                <a16:creationId xmlns:a16="http://schemas.microsoft.com/office/drawing/2014/main" id="{89476E3E-F9E5-49F1-BB25-C2013D4DAD89}"/>
              </a:ext>
            </a:extLst>
          </p:cNvPr>
          <p:cNvSpPr txBox="1"/>
          <p:nvPr/>
        </p:nvSpPr>
        <p:spPr>
          <a:xfrm>
            <a:off x="107504" y="4253698"/>
            <a:ext cx="3528392" cy="338554"/>
          </a:xfrm>
          <a:prstGeom prst="rect">
            <a:avLst/>
          </a:prstGeom>
          <a:noFill/>
        </p:spPr>
        <p:txBody>
          <a:bodyPr wrap="square">
            <a:spAutoFit/>
          </a:bodyPr>
          <a:lstStyle/>
          <a:p>
            <a:pPr algn="ctr"/>
            <a:r>
              <a:rPr lang="es-CO" sz="1600" b="1" dirty="0">
                <a:latin typeface="Century Gothic" panose="020B0502020202020204" pitchFamily="34" charset="0"/>
              </a:rPr>
              <a:t>Bloques problema del pájaro</a:t>
            </a:r>
          </a:p>
        </p:txBody>
      </p:sp>
      <p:pic>
        <p:nvPicPr>
          <p:cNvPr id="14" name="Picture 2">
            <a:extLst>
              <a:ext uri="{FF2B5EF4-FFF2-40B4-BE49-F238E27FC236}">
                <a16:creationId xmlns:a16="http://schemas.microsoft.com/office/drawing/2014/main" id="{CC7766EB-610E-498B-B13D-7EBF1677C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197" y="4575092"/>
            <a:ext cx="1710651" cy="2146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2">
            <a:extLst>
              <a:ext uri="{FF2B5EF4-FFF2-40B4-BE49-F238E27FC236}">
                <a16:creationId xmlns:a16="http://schemas.microsoft.com/office/drawing/2014/main" id="{74F2BC17-9C74-4517-827D-1743ECE5E3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3623" y="2553242"/>
            <a:ext cx="1652217" cy="1652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CuadroTexto 30">
            <a:extLst>
              <a:ext uri="{FF2B5EF4-FFF2-40B4-BE49-F238E27FC236}">
                <a16:creationId xmlns:a16="http://schemas.microsoft.com/office/drawing/2014/main" id="{E87C950A-A0DD-49C4-91F6-2BD15A6C9498}"/>
              </a:ext>
            </a:extLst>
          </p:cNvPr>
          <p:cNvSpPr txBox="1"/>
          <p:nvPr/>
        </p:nvSpPr>
        <p:spPr>
          <a:xfrm>
            <a:off x="251520" y="1960729"/>
            <a:ext cx="3672408" cy="584775"/>
          </a:xfrm>
          <a:prstGeom prst="rect">
            <a:avLst/>
          </a:prstGeom>
          <a:noFill/>
        </p:spPr>
        <p:txBody>
          <a:bodyPr wrap="square">
            <a:spAutoFit/>
          </a:bodyPr>
          <a:lstStyle/>
          <a:p>
            <a:r>
              <a:rPr lang="es-CO" sz="1600" b="1" dirty="0">
                <a:latin typeface="Century Gothic" panose="020B0502020202020204" pitchFamily="34" charset="0"/>
              </a:rPr>
              <a:t>Problema: </a:t>
            </a:r>
            <a:r>
              <a:rPr lang="es-CO" sz="1600" dirty="0">
                <a:latin typeface="Century Gothic" panose="020B0502020202020204" pitchFamily="34" charset="0"/>
              </a:rPr>
              <a:t>Pise al marrano con el pájaro</a:t>
            </a:r>
          </a:p>
        </p:txBody>
      </p:sp>
      <p:sp>
        <p:nvSpPr>
          <p:cNvPr id="32" name="26 Rectángulo">
            <a:extLst>
              <a:ext uri="{FF2B5EF4-FFF2-40B4-BE49-F238E27FC236}">
                <a16:creationId xmlns:a16="http://schemas.microsoft.com/office/drawing/2014/main" id="{ED19F232-4E20-429C-A454-0AA1CCD5A1F7}"/>
              </a:ext>
            </a:extLst>
          </p:cNvPr>
          <p:cNvSpPr/>
          <p:nvPr/>
        </p:nvSpPr>
        <p:spPr>
          <a:xfrm>
            <a:off x="4572000" y="1960729"/>
            <a:ext cx="2117887" cy="338554"/>
          </a:xfrm>
          <a:prstGeom prst="rect">
            <a:avLst/>
          </a:prstGeom>
        </p:spPr>
        <p:txBody>
          <a:bodyPr wrap="none">
            <a:spAutoFit/>
          </a:bodyPr>
          <a:lstStyle/>
          <a:p>
            <a:r>
              <a:rPr lang="es-CO" sz="1600" b="1" dirty="0">
                <a:latin typeface="Century Gothic" panose="020B0502020202020204" pitchFamily="34" charset="0"/>
              </a:rPr>
              <a:t>Algoritmo Solución</a:t>
            </a:r>
          </a:p>
        </p:txBody>
      </p:sp>
      <p:pic>
        <p:nvPicPr>
          <p:cNvPr id="33" name="Picture 2">
            <a:extLst>
              <a:ext uri="{FF2B5EF4-FFF2-40B4-BE49-F238E27FC236}">
                <a16:creationId xmlns:a16="http://schemas.microsoft.com/office/drawing/2014/main" id="{C1E3A390-EEBE-48ED-B4FE-9B2EDD8EDF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7485" y="2903752"/>
            <a:ext cx="3595830" cy="2644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291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1520" y="260648"/>
            <a:ext cx="7995020" cy="1116540"/>
          </a:xfrm>
        </p:spPr>
        <p:txBody>
          <a:bodyPr/>
          <a:lstStyle/>
          <a:p>
            <a:r>
              <a:rPr lang="es-CO" sz="2800" dirty="0"/>
              <a:t>Comparación – Solución del problema asignado</a:t>
            </a:r>
          </a:p>
        </p:txBody>
      </p:sp>
      <p:sp>
        <p:nvSpPr>
          <p:cNvPr id="10" name="CuadroTexto 9">
            <a:extLst>
              <a:ext uri="{FF2B5EF4-FFF2-40B4-BE49-F238E27FC236}">
                <a16:creationId xmlns:a16="http://schemas.microsoft.com/office/drawing/2014/main" id="{89476E3E-F9E5-49F1-BB25-C2013D4DAD89}"/>
              </a:ext>
            </a:extLst>
          </p:cNvPr>
          <p:cNvSpPr txBox="1"/>
          <p:nvPr/>
        </p:nvSpPr>
        <p:spPr>
          <a:xfrm>
            <a:off x="855052" y="3281415"/>
            <a:ext cx="3528392" cy="338554"/>
          </a:xfrm>
          <a:prstGeom prst="rect">
            <a:avLst/>
          </a:prstGeom>
          <a:noFill/>
        </p:spPr>
        <p:txBody>
          <a:bodyPr wrap="square">
            <a:spAutoFit/>
          </a:bodyPr>
          <a:lstStyle/>
          <a:p>
            <a:pPr algn="ctr"/>
            <a:r>
              <a:rPr lang="es-CO" sz="1600" b="1" dirty="0">
                <a:latin typeface="Century Gothic" panose="020B0502020202020204" pitchFamily="34" charset="0"/>
              </a:rPr>
              <a:t>Bloques problema asignado</a:t>
            </a:r>
          </a:p>
        </p:txBody>
      </p:sp>
      <p:sp>
        <p:nvSpPr>
          <p:cNvPr id="31" name="CuadroTexto 30">
            <a:extLst>
              <a:ext uri="{FF2B5EF4-FFF2-40B4-BE49-F238E27FC236}">
                <a16:creationId xmlns:a16="http://schemas.microsoft.com/office/drawing/2014/main" id="{E87C950A-A0DD-49C4-91F6-2BD15A6C9498}"/>
              </a:ext>
            </a:extLst>
          </p:cNvPr>
          <p:cNvSpPr txBox="1"/>
          <p:nvPr/>
        </p:nvSpPr>
        <p:spPr>
          <a:xfrm>
            <a:off x="251520" y="1332057"/>
            <a:ext cx="4536504" cy="584775"/>
          </a:xfrm>
          <a:prstGeom prst="rect">
            <a:avLst/>
          </a:prstGeom>
          <a:noFill/>
        </p:spPr>
        <p:txBody>
          <a:bodyPr wrap="square">
            <a:spAutoFit/>
          </a:bodyPr>
          <a:lstStyle/>
          <a:p>
            <a:r>
              <a:rPr lang="es-CO" sz="1600" b="1" dirty="0">
                <a:latin typeface="Century Gothic" panose="020B0502020202020204" pitchFamily="34" charset="0"/>
              </a:rPr>
              <a:t>Problema: </a:t>
            </a:r>
            <a:r>
              <a:rPr lang="es-MX" sz="1600" dirty="0">
                <a:latin typeface="Century Gothic" panose="020B0502020202020204" pitchFamily="34" charset="0"/>
              </a:rPr>
              <a:t>Hacer un algoritmo que calcule el área de un rectángulo</a:t>
            </a:r>
          </a:p>
        </p:txBody>
      </p:sp>
      <p:sp>
        <p:nvSpPr>
          <p:cNvPr id="32" name="26 Rectángulo">
            <a:extLst>
              <a:ext uri="{FF2B5EF4-FFF2-40B4-BE49-F238E27FC236}">
                <a16:creationId xmlns:a16="http://schemas.microsoft.com/office/drawing/2014/main" id="{ED19F232-4E20-429C-A454-0AA1CCD5A1F7}"/>
              </a:ext>
            </a:extLst>
          </p:cNvPr>
          <p:cNvSpPr/>
          <p:nvPr/>
        </p:nvSpPr>
        <p:spPr>
          <a:xfrm>
            <a:off x="5766046" y="1340768"/>
            <a:ext cx="2117887" cy="338554"/>
          </a:xfrm>
          <a:prstGeom prst="rect">
            <a:avLst/>
          </a:prstGeom>
        </p:spPr>
        <p:txBody>
          <a:bodyPr wrap="none">
            <a:spAutoFit/>
          </a:bodyPr>
          <a:lstStyle/>
          <a:p>
            <a:r>
              <a:rPr lang="es-CO" sz="1600" b="1" dirty="0">
                <a:latin typeface="Century Gothic" panose="020B0502020202020204" pitchFamily="34" charset="0"/>
              </a:rPr>
              <a:t>Algoritmo Solución</a:t>
            </a:r>
          </a:p>
        </p:txBody>
      </p:sp>
      <p:pic>
        <p:nvPicPr>
          <p:cNvPr id="11" name="Picture 2">
            <a:extLst>
              <a:ext uri="{FF2B5EF4-FFF2-40B4-BE49-F238E27FC236}">
                <a16:creationId xmlns:a16="http://schemas.microsoft.com/office/drawing/2014/main" id="{FA3BA271-4F67-4C4E-8A78-AA5A6CC88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817" y="3703307"/>
            <a:ext cx="2456862"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11 Grupo">
            <a:extLst>
              <a:ext uri="{FF2B5EF4-FFF2-40B4-BE49-F238E27FC236}">
                <a16:creationId xmlns:a16="http://schemas.microsoft.com/office/drawing/2014/main" id="{BE34DE6F-A852-401D-A470-C2B2A132B52E}"/>
              </a:ext>
            </a:extLst>
          </p:cNvPr>
          <p:cNvGrpSpPr/>
          <p:nvPr/>
        </p:nvGrpSpPr>
        <p:grpSpPr>
          <a:xfrm>
            <a:off x="5652120" y="2450962"/>
            <a:ext cx="2304254" cy="3048000"/>
            <a:chOff x="5698371" y="1676400"/>
            <a:chExt cx="1877541" cy="2819400"/>
          </a:xfrm>
        </p:grpSpPr>
        <p:sp>
          <p:nvSpPr>
            <p:cNvPr id="13" name="Flowchart: Terminator 43">
              <a:extLst>
                <a:ext uri="{FF2B5EF4-FFF2-40B4-BE49-F238E27FC236}">
                  <a16:creationId xmlns:a16="http://schemas.microsoft.com/office/drawing/2014/main" id="{5BCD9775-D97F-470E-AA43-3197B1739593}"/>
                </a:ext>
              </a:extLst>
            </p:cNvPr>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Finish</a:t>
              </a:r>
              <a:endParaRPr lang="en-US" sz="1200" dirty="0">
                <a:latin typeface="Consolas" panose="020B0609020204030204" pitchFamily="49" charset="0"/>
              </a:endParaRPr>
            </a:p>
          </p:txBody>
        </p:sp>
        <p:sp>
          <p:nvSpPr>
            <p:cNvPr id="15" name="Flowchart: Terminator 44">
              <a:extLst>
                <a:ext uri="{FF2B5EF4-FFF2-40B4-BE49-F238E27FC236}">
                  <a16:creationId xmlns:a16="http://schemas.microsoft.com/office/drawing/2014/main" id="{7A3D9A30-4C07-4917-AF66-BDEEB9A9C865}"/>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6" name="Straight Arrow Connector 45">
              <a:extLst>
                <a:ext uri="{FF2B5EF4-FFF2-40B4-BE49-F238E27FC236}">
                  <a16:creationId xmlns:a16="http://schemas.microsoft.com/office/drawing/2014/main" id="{E2494ADF-1616-4D43-B1F2-78D60D8DC7EE}"/>
                </a:ext>
              </a:extLst>
            </p:cNvPr>
            <p:cNvCxnSpPr>
              <a:stCxn id="15" idx="2"/>
              <a:endCxn id="20" idx="1"/>
            </p:cNvCxnSpPr>
            <p:nvPr/>
          </p:nvCxnSpPr>
          <p:spPr>
            <a:xfrm>
              <a:off x="6629400" y="1981200"/>
              <a:ext cx="7743"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48">
              <a:extLst>
                <a:ext uri="{FF2B5EF4-FFF2-40B4-BE49-F238E27FC236}">
                  <a16:creationId xmlns:a16="http://schemas.microsoft.com/office/drawing/2014/main" id="{DD25BB48-ACF9-45E7-8538-A929CB33F9E6}"/>
                </a:ext>
              </a:extLst>
            </p:cNvPr>
            <p:cNvCxnSpPr>
              <a:stCxn id="22" idx="2"/>
              <a:endCxn id="18" idx="1"/>
            </p:cNvCxnSpPr>
            <p:nvPr/>
          </p:nvCxnSpPr>
          <p:spPr>
            <a:xfrm>
              <a:off x="6629400" y="3276600"/>
              <a:ext cx="0"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lowchart: Data 52">
              <a:extLst>
                <a:ext uri="{FF2B5EF4-FFF2-40B4-BE49-F238E27FC236}">
                  <a16:creationId xmlns:a16="http://schemas.microsoft.com/office/drawing/2014/main" id="{53873A92-F5F4-48AA-A527-1D77FAF1DA09}"/>
                </a:ext>
              </a:extLst>
            </p:cNvPr>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Print </a:t>
              </a:r>
              <a:r>
                <a:rPr lang="en-US" sz="1200" b="1" dirty="0">
                  <a:latin typeface="Consolas" panose="020B0609020204030204" pitchFamily="49" charset="0"/>
                </a:rPr>
                <a:t>area</a:t>
              </a:r>
            </a:p>
          </p:txBody>
        </p:sp>
        <p:cxnSp>
          <p:nvCxnSpPr>
            <p:cNvPr id="19" name="Straight Arrow Connector 53">
              <a:extLst>
                <a:ext uri="{FF2B5EF4-FFF2-40B4-BE49-F238E27FC236}">
                  <a16:creationId xmlns:a16="http://schemas.microsoft.com/office/drawing/2014/main" id="{E5154D50-D374-4579-8C37-FBB9155CBA84}"/>
                </a:ext>
              </a:extLst>
            </p:cNvPr>
            <p:cNvCxnSpPr>
              <a:stCxn id="18" idx="4"/>
              <a:endCxn id="13"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a:extLst>
                <a:ext uri="{FF2B5EF4-FFF2-40B4-BE49-F238E27FC236}">
                  <a16:creationId xmlns:a16="http://schemas.microsoft.com/office/drawing/2014/main" id="{EFC51405-943A-49C2-9095-719DED113631}"/>
                </a:ext>
              </a:extLst>
            </p:cNvPr>
            <p:cNvSpPr/>
            <p:nvPr/>
          </p:nvSpPr>
          <p:spPr>
            <a:xfrm>
              <a:off x="5698371"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Read </a:t>
              </a:r>
              <a:r>
                <a:rPr lang="en-US" sz="1200" b="1" dirty="0">
                  <a:latin typeface="Consolas" panose="020B0609020204030204" pitchFamily="49" charset="0"/>
                </a:rPr>
                <a:t>width</a:t>
              </a:r>
              <a:br>
                <a:rPr lang="en-US" sz="1200" b="1" dirty="0">
                  <a:latin typeface="Consolas" panose="020B0609020204030204" pitchFamily="49" charset="0"/>
                </a:rPr>
              </a:br>
              <a:r>
                <a:rPr lang="en-US" sz="1200" dirty="0">
                  <a:latin typeface="Consolas" panose="020B0609020204030204" pitchFamily="49" charset="0"/>
                </a:rPr>
                <a:t>Read</a:t>
              </a:r>
              <a:r>
                <a:rPr lang="en-US" sz="1200" b="1" dirty="0">
                  <a:latin typeface="Consolas" panose="020B0609020204030204" pitchFamily="49" charset="0"/>
                </a:rPr>
                <a:t> height</a:t>
              </a:r>
            </a:p>
          </p:txBody>
        </p:sp>
        <p:cxnSp>
          <p:nvCxnSpPr>
            <p:cNvPr id="21" name="Straight Arrow Connector 47">
              <a:extLst>
                <a:ext uri="{FF2B5EF4-FFF2-40B4-BE49-F238E27FC236}">
                  <a16:creationId xmlns:a16="http://schemas.microsoft.com/office/drawing/2014/main" id="{1D9AD1A2-F921-499C-A63E-C88D965DA89D}"/>
                </a:ext>
              </a:extLst>
            </p:cNvPr>
            <p:cNvCxnSpPr>
              <a:stCxn id="20" idx="4"/>
              <a:endCxn id="22" idx="0"/>
            </p:cNvCxnSpPr>
            <p:nvPr/>
          </p:nvCxnSpPr>
          <p:spPr>
            <a:xfrm flipH="1">
              <a:off x="6629400" y="2667000"/>
              <a:ext cx="7743"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Process 42">
              <a:extLst>
                <a:ext uri="{FF2B5EF4-FFF2-40B4-BE49-F238E27FC236}">
                  <a16:creationId xmlns:a16="http://schemas.microsoft.com/office/drawing/2014/main" id="{FF20E6B7-4C4D-4ACA-9DCB-C906E5D015CD}"/>
                </a:ext>
              </a:extLst>
            </p:cNvPr>
            <p:cNvSpPr/>
            <p:nvPr/>
          </p:nvSpPr>
          <p:spPr>
            <a:xfrm>
              <a:off x="5791200" y="2895600"/>
              <a:ext cx="1676400"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sym typeface="Wingdings" pitchFamily="2" charset="2"/>
                </a:rPr>
                <a:t>area</a:t>
              </a:r>
              <a:r>
                <a:rPr lang="en-US" sz="1200" dirty="0">
                  <a:latin typeface="Consolas" panose="020B0609020204030204" pitchFamily="49" charset="0"/>
                </a:rPr>
                <a:t> width * height</a:t>
              </a:r>
            </a:p>
          </p:txBody>
        </p:sp>
      </p:grpSp>
      <p:sp>
        <p:nvSpPr>
          <p:cNvPr id="2" name="Rectángulo 1">
            <a:extLst>
              <a:ext uri="{FF2B5EF4-FFF2-40B4-BE49-F238E27FC236}">
                <a16:creationId xmlns:a16="http://schemas.microsoft.com/office/drawing/2014/main" id="{7C1A3B96-B43B-4DA1-BCAF-A92C534CDB70}"/>
              </a:ext>
            </a:extLst>
          </p:cNvPr>
          <p:cNvSpPr/>
          <p:nvPr/>
        </p:nvSpPr>
        <p:spPr>
          <a:xfrm>
            <a:off x="971599" y="2276872"/>
            <a:ext cx="1656185" cy="665322"/>
          </a:xfrm>
          <a:prstGeom prst="rect">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6" name="Conector recto de flecha 5">
            <a:extLst>
              <a:ext uri="{FF2B5EF4-FFF2-40B4-BE49-F238E27FC236}">
                <a16:creationId xmlns:a16="http://schemas.microsoft.com/office/drawing/2014/main" id="{5DF1F716-0209-414F-AE5B-E06B9BE03471}"/>
              </a:ext>
            </a:extLst>
          </p:cNvPr>
          <p:cNvCxnSpPr/>
          <p:nvPr/>
        </p:nvCxnSpPr>
        <p:spPr>
          <a:xfrm>
            <a:off x="971600" y="3211153"/>
            <a:ext cx="165618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E762CCB8-054D-4127-B658-0AE145BC7F83}"/>
              </a:ext>
            </a:extLst>
          </p:cNvPr>
          <p:cNvCxnSpPr>
            <a:cxnSpLocks/>
          </p:cNvCxnSpPr>
          <p:nvPr/>
        </p:nvCxnSpPr>
        <p:spPr>
          <a:xfrm>
            <a:off x="827584" y="2276872"/>
            <a:ext cx="0" cy="66532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CuadroTexto 27">
            <a:extLst>
              <a:ext uri="{FF2B5EF4-FFF2-40B4-BE49-F238E27FC236}">
                <a16:creationId xmlns:a16="http://schemas.microsoft.com/office/drawing/2014/main" id="{49AA61B4-8634-45F8-B3A7-8CF10F6D948D}"/>
              </a:ext>
            </a:extLst>
          </p:cNvPr>
          <p:cNvSpPr txBox="1"/>
          <p:nvPr/>
        </p:nvSpPr>
        <p:spPr>
          <a:xfrm>
            <a:off x="1513999" y="2917620"/>
            <a:ext cx="590891" cy="276999"/>
          </a:xfrm>
          <a:prstGeom prst="rect">
            <a:avLst/>
          </a:prstGeom>
          <a:noFill/>
        </p:spPr>
        <p:txBody>
          <a:bodyPr wrap="square">
            <a:spAutoFit/>
          </a:bodyPr>
          <a:lstStyle/>
          <a:p>
            <a:r>
              <a:rPr lang="es-MX" sz="1200" dirty="0">
                <a:latin typeface="Consolas" panose="020B0609020204030204" pitchFamily="49" charset="0"/>
              </a:rPr>
              <a:t>base</a:t>
            </a:r>
            <a:endParaRPr lang="es-CO" sz="1400" dirty="0">
              <a:latin typeface="Consolas" panose="020B0609020204030204" pitchFamily="49" charset="0"/>
            </a:endParaRPr>
          </a:p>
        </p:txBody>
      </p:sp>
      <p:sp>
        <p:nvSpPr>
          <p:cNvPr id="29" name="CuadroTexto 28">
            <a:extLst>
              <a:ext uri="{FF2B5EF4-FFF2-40B4-BE49-F238E27FC236}">
                <a16:creationId xmlns:a16="http://schemas.microsoft.com/office/drawing/2014/main" id="{B4439F87-D234-471D-ABB6-0233EA47F530}"/>
              </a:ext>
            </a:extLst>
          </p:cNvPr>
          <p:cNvSpPr txBox="1"/>
          <p:nvPr/>
        </p:nvSpPr>
        <p:spPr>
          <a:xfrm>
            <a:off x="98475" y="2455644"/>
            <a:ext cx="697242" cy="276999"/>
          </a:xfrm>
          <a:prstGeom prst="rect">
            <a:avLst/>
          </a:prstGeom>
          <a:noFill/>
        </p:spPr>
        <p:txBody>
          <a:bodyPr wrap="square">
            <a:spAutoFit/>
          </a:bodyPr>
          <a:lstStyle/>
          <a:p>
            <a:r>
              <a:rPr lang="es-MX" sz="1200" dirty="0">
                <a:latin typeface="Consolas" panose="020B0609020204030204" pitchFamily="49" charset="0"/>
              </a:rPr>
              <a:t>altura</a:t>
            </a:r>
            <a:endParaRPr lang="es-CO" sz="1200" dirty="0">
              <a:latin typeface="Consolas" panose="020B0609020204030204" pitchFamily="49" charset="0"/>
            </a:endParaRPr>
          </a:p>
        </p:txBody>
      </p:sp>
      <p:sp>
        <p:nvSpPr>
          <p:cNvPr id="34" name="CuadroTexto 33">
            <a:extLst>
              <a:ext uri="{FF2B5EF4-FFF2-40B4-BE49-F238E27FC236}">
                <a16:creationId xmlns:a16="http://schemas.microsoft.com/office/drawing/2014/main" id="{6FB52851-956C-4C45-8CF2-376F5BD3FCC3}"/>
              </a:ext>
            </a:extLst>
          </p:cNvPr>
          <p:cNvSpPr txBox="1"/>
          <p:nvPr/>
        </p:nvSpPr>
        <p:spPr>
          <a:xfrm>
            <a:off x="2937272" y="2450962"/>
            <a:ext cx="1725279" cy="276999"/>
          </a:xfrm>
          <a:prstGeom prst="rect">
            <a:avLst/>
          </a:prstGeom>
          <a:noFill/>
          <a:ln>
            <a:solidFill>
              <a:schemeClr val="tx1"/>
            </a:solidFill>
          </a:ln>
        </p:spPr>
        <p:txBody>
          <a:bodyPr wrap="square">
            <a:spAutoFit/>
          </a:bodyPr>
          <a:lstStyle/>
          <a:p>
            <a:r>
              <a:rPr lang="es-MX" sz="1200" dirty="0">
                <a:latin typeface="Consolas" panose="020B0609020204030204" pitchFamily="49" charset="0"/>
              </a:rPr>
              <a:t>Area = base*altura</a:t>
            </a:r>
            <a:endParaRPr lang="es-CO" sz="1200" dirty="0">
              <a:latin typeface="Consolas" panose="020B0609020204030204" pitchFamily="49" charset="0"/>
            </a:endParaRPr>
          </a:p>
        </p:txBody>
      </p:sp>
    </p:spTree>
    <p:extLst>
      <p:ext uri="{BB962C8B-B14F-4D97-AF65-F5344CB8AC3E}">
        <p14:creationId xmlns:p14="http://schemas.microsoft.com/office/powerpoint/2010/main" val="320838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sp>
        <p:nvSpPr>
          <p:cNvPr id="24" name="23 Marcador de contenido"/>
          <p:cNvSpPr>
            <a:spLocks noGrp="1"/>
          </p:cNvSpPr>
          <p:nvPr>
            <p:ph idx="1"/>
          </p:nvPr>
        </p:nvSpPr>
        <p:spPr>
          <a:xfrm>
            <a:off x="266372" y="1904386"/>
            <a:ext cx="8248977" cy="730863"/>
          </a:xfrm>
        </p:spPr>
        <p:txBody>
          <a:bodyPr>
            <a:normAutofit/>
          </a:bodyPr>
          <a:lstStyle/>
          <a:p>
            <a:pPr marL="0" indent="0">
              <a:buNone/>
            </a:pPr>
            <a:r>
              <a:rPr lang="es-CO" sz="2000" dirty="0"/>
              <a:t>Escriba un algoritmo que calcule el área de un rectángulo dada la longitud de sus lados.</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25</a:t>
            </a:fld>
            <a:endParaRPr lang="en-US" dirty="0"/>
          </a:p>
        </p:txBody>
      </p:sp>
      <p:grpSp>
        <p:nvGrpSpPr>
          <p:cNvPr id="54" name="53 Grupo"/>
          <p:cNvGrpSpPr/>
          <p:nvPr/>
        </p:nvGrpSpPr>
        <p:grpSpPr>
          <a:xfrm>
            <a:off x="5305823" y="2777277"/>
            <a:ext cx="2304254" cy="3048000"/>
            <a:chOff x="5698371" y="1676400"/>
            <a:chExt cx="1877541" cy="2819400"/>
          </a:xfrm>
        </p:grpSpPr>
        <p:sp>
          <p:nvSpPr>
            <p:cNvPr id="8" name="Flowchart: Terminator 43"/>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9" name="Flowchart: Terminator 44"/>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0" name="Straight Arrow Connector 45"/>
            <p:cNvCxnSpPr>
              <a:stCxn id="9" idx="2"/>
              <a:endCxn id="20" idx="1"/>
            </p:cNvCxnSpPr>
            <p:nvPr/>
          </p:nvCxnSpPr>
          <p:spPr>
            <a:xfrm>
              <a:off x="6629400" y="1981200"/>
              <a:ext cx="7743"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48"/>
            <p:cNvCxnSpPr>
              <a:stCxn id="44" idx="2"/>
              <a:endCxn id="16" idx="1"/>
            </p:cNvCxnSpPr>
            <p:nvPr/>
          </p:nvCxnSpPr>
          <p:spPr>
            <a:xfrm>
              <a:off x="6629400" y="3276600"/>
              <a:ext cx="0"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Data 52"/>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area</a:t>
              </a:r>
            </a:p>
          </p:txBody>
        </p:sp>
        <p:cxnSp>
          <p:nvCxnSpPr>
            <p:cNvPr id="17" name="Straight Arrow Connector 53"/>
            <p:cNvCxnSpPr>
              <a:stCxn id="16" idx="4"/>
              <a:endCxn id="8"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p:cNvSpPr/>
            <p:nvPr/>
          </p:nvSpPr>
          <p:spPr>
            <a:xfrm>
              <a:off x="5698371"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width</a:t>
              </a:r>
              <a:br>
                <a:rPr lang="en-US" sz="1200" b="1" dirty="0">
                  <a:latin typeface="Century Gothic" panose="020B0502020202020204" pitchFamily="34" charset="0"/>
                </a:rPr>
              </a:br>
              <a:r>
                <a:rPr lang="en-US" sz="1200" dirty="0">
                  <a:latin typeface="Century Gothic" panose="020B0502020202020204" pitchFamily="34" charset="0"/>
                </a:rPr>
                <a:t>Read</a:t>
              </a:r>
              <a:r>
                <a:rPr lang="en-US" sz="1200" b="1" dirty="0">
                  <a:latin typeface="Century Gothic" panose="020B0502020202020204" pitchFamily="34" charset="0"/>
                </a:rPr>
                <a:t> height</a:t>
              </a:r>
            </a:p>
          </p:txBody>
        </p:sp>
        <p:cxnSp>
          <p:nvCxnSpPr>
            <p:cNvPr id="26" name="Straight Arrow Connector 47"/>
            <p:cNvCxnSpPr>
              <a:stCxn id="20" idx="4"/>
              <a:endCxn id="44" idx="0"/>
            </p:cNvCxnSpPr>
            <p:nvPr/>
          </p:nvCxnSpPr>
          <p:spPr>
            <a:xfrm flipH="1">
              <a:off x="6629400" y="2667000"/>
              <a:ext cx="7743"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Flowchart: Process 42"/>
            <p:cNvSpPr/>
            <p:nvPr/>
          </p:nvSpPr>
          <p:spPr>
            <a:xfrm>
              <a:off x="5791200" y="2895600"/>
              <a:ext cx="1676400"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area</a:t>
              </a:r>
              <a:r>
                <a:rPr lang="en-US" sz="1200" dirty="0">
                  <a:latin typeface="Century Gothic" panose="020B0502020202020204" pitchFamily="34" charset="0"/>
                </a:rPr>
                <a:t> width * height</a:t>
              </a:r>
            </a:p>
          </p:txBody>
        </p:sp>
      </p:grpSp>
      <p:sp>
        <p:nvSpPr>
          <p:cNvPr id="21" name="5 CuadroTexto"/>
          <p:cNvSpPr txBox="1"/>
          <p:nvPr/>
        </p:nvSpPr>
        <p:spPr>
          <a:xfrm>
            <a:off x="389384" y="2777277"/>
            <a:ext cx="4038600" cy="3077766"/>
          </a:xfrm>
          <a:prstGeom prst="rect">
            <a:avLst/>
          </a:prstGeom>
          <a:noFill/>
        </p:spPr>
        <p:txBody>
          <a:bodyPr wrap="square" rtlCol="0">
            <a:spAutoFit/>
          </a:bodyPr>
          <a:lstStyle/>
          <a:p>
            <a:r>
              <a:rPr lang="es-CO" sz="2000" dirty="0">
                <a:solidFill>
                  <a:schemeClr val="accent5"/>
                </a:solidFill>
                <a:latin typeface="Century Gothic" panose="020B0502020202020204" pitchFamily="34" charset="0"/>
              </a:rPr>
              <a:t>Datos de entrada: </a:t>
            </a:r>
            <a:r>
              <a:rPr lang="es-CO" sz="2000" dirty="0">
                <a:latin typeface="Century Gothic" panose="020B0502020202020204" pitchFamily="34" charset="0"/>
              </a:rPr>
              <a:t>longitud de los lados</a:t>
            </a:r>
          </a:p>
          <a:p>
            <a:r>
              <a:rPr lang="es-CO" sz="2000" dirty="0">
                <a:solidFill>
                  <a:schemeClr val="accent5"/>
                </a:solidFill>
                <a:latin typeface="Century Gothic" panose="020B0502020202020204" pitchFamily="34" charset="0"/>
              </a:rPr>
              <a:t>Datos de salida: </a:t>
            </a:r>
            <a:r>
              <a:rPr lang="es-CO" sz="2000" dirty="0">
                <a:latin typeface="Century Gothic" panose="020B0502020202020204" pitchFamily="34" charset="0"/>
              </a:rPr>
              <a:t>área del rectángulo</a:t>
            </a:r>
          </a:p>
          <a:p>
            <a:r>
              <a:rPr lang="es-CO" sz="2000" dirty="0">
                <a:solidFill>
                  <a:schemeClr val="accent5"/>
                </a:solidFill>
                <a:latin typeface="Century Gothic" panose="020B0502020202020204" pitchFamily="34" charset="0"/>
              </a:rPr>
              <a:t>Definición de variables:</a:t>
            </a:r>
          </a:p>
          <a:p>
            <a:pPr marL="800100" lvl="1" indent="-342900">
              <a:buFont typeface="Arial" pitchFamily="34" charset="0"/>
              <a:buChar char="•"/>
            </a:pPr>
            <a:r>
              <a:rPr lang="es-CO" i="1" dirty="0" err="1">
                <a:latin typeface="Century Gothic" panose="020B0502020202020204" pitchFamily="34" charset="0"/>
              </a:rPr>
              <a:t>width</a:t>
            </a:r>
            <a:r>
              <a:rPr lang="es-CO" dirty="0">
                <a:latin typeface="Century Gothic" panose="020B0502020202020204" pitchFamily="34" charset="0"/>
              </a:rPr>
              <a:t>: ancho</a:t>
            </a:r>
          </a:p>
          <a:p>
            <a:pPr marL="800100" lvl="1" indent="-342900">
              <a:buFont typeface="Arial" pitchFamily="34" charset="0"/>
              <a:buChar char="•"/>
            </a:pPr>
            <a:r>
              <a:rPr lang="es-CO" i="1" dirty="0" err="1">
                <a:latin typeface="Century Gothic" panose="020B0502020202020204" pitchFamily="34" charset="0"/>
              </a:rPr>
              <a:t>height</a:t>
            </a:r>
            <a:r>
              <a:rPr lang="es-CO" dirty="0">
                <a:latin typeface="Century Gothic" panose="020B0502020202020204" pitchFamily="34" charset="0"/>
              </a:rPr>
              <a:t>: alto</a:t>
            </a:r>
          </a:p>
          <a:p>
            <a:pPr marL="800100" lvl="1" indent="-342900">
              <a:buFont typeface="Arial" pitchFamily="34" charset="0"/>
              <a:buChar char="•"/>
            </a:pPr>
            <a:r>
              <a:rPr lang="es-CO" i="1" dirty="0">
                <a:latin typeface="Century Gothic" panose="020B0502020202020204" pitchFamily="34" charset="0"/>
              </a:rPr>
              <a:t>area</a:t>
            </a:r>
            <a:r>
              <a:rPr lang="es-CO" dirty="0">
                <a:latin typeface="Century Gothic" panose="020B0502020202020204" pitchFamily="34" charset="0"/>
              </a:rPr>
              <a:t>: área</a:t>
            </a:r>
          </a:p>
          <a:p>
            <a:r>
              <a:rPr lang="es-CO" sz="2000" dirty="0">
                <a:solidFill>
                  <a:schemeClr val="accent5"/>
                </a:solidFill>
                <a:latin typeface="Century Gothic" panose="020B0502020202020204" pitchFamily="34" charset="0"/>
              </a:rPr>
              <a:t>¿Proceso?: </a:t>
            </a:r>
            <a:r>
              <a:rPr lang="es-CO" sz="2000" dirty="0">
                <a:latin typeface="Century Gothic" panose="020B0502020202020204" pitchFamily="34" charset="0"/>
              </a:rPr>
              <a:t>multiplicar el ancho por el alto</a:t>
            </a:r>
          </a:p>
        </p:txBody>
      </p:sp>
    </p:spTree>
    <p:extLst>
      <p:ext uri="{BB962C8B-B14F-4D97-AF65-F5344CB8AC3E}">
        <p14:creationId xmlns:p14="http://schemas.microsoft.com/office/powerpoint/2010/main" val="2861668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2614" y="228119"/>
            <a:ext cx="8668072" cy="1059256"/>
          </a:xfrm>
        </p:spPr>
        <p:txBody>
          <a:bodyPr>
            <a:normAutofit/>
          </a:bodyPr>
          <a:lstStyle/>
          <a:p>
            <a:r>
              <a:rPr lang="es-CO" sz="2800" dirty="0"/>
              <a:t>Diagramas de flujo (Flow charts)</a:t>
            </a:r>
          </a:p>
        </p:txBody>
      </p:sp>
      <p:sp>
        <p:nvSpPr>
          <p:cNvPr id="18" name="TextBox 75">
            <a:extLst>
              <a:ext uri="{FF2B5EF4-FFF2-40B4-BE49-F238E27FC236}">
                <a16:creationId xmlns:a16="http://schemas.microsoft.com/office/drawing/2014/main" id="{96D76D11-4392-4FCB-B9AE-F72E9ACC4BF5}"/>
              </a:ext>
            </a:extLst>
          </p:cNvPr>
          <p:cNvSpPr txBox="1"/>
          <p:nvPr/>
        </p:nvSpPr>
        <p:spPr>
          <a:xfrm>
            <a:off x="5090864" y="4130660"/>
            <a:ext cx="609600"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9" name="Flowchart: Decision 5">
            <a:extLst>
              <a:ext uri="{FF2B5EF4-FFF2-40B4-BE49-F238E27FC236}">
                <a16:creationId xmlns:a16="http://schemas.microsoft.com/office/drawing/2014/main" id="{58C5188C-7CE5-48F5-876D-4BCD1EF27803}"/>
              </a:ext>
            </a:extLst>
          </p:cNvPr>
          <p:cNvSpPr/>
          <p:nvPr/>
        </p:nvSpPr>
        <p:spPr>
          <a:xfrm>
            <a:off x="3312864" y="4130660"/>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Decision</a:t>
            </a:r>
          </a:p>
        </p:txBody>
      </p:sp>
      <p:sp>
        <p:nvSpPr>
          <p:cNvPr id="22" name="Flowchart: Data 6">
            <a:extLst>
              <a:ext uri="{FF2B5EF4-FFF2-40B4-BE49-F238E27FC236}">
                <a16:creationId xmlns:a16="http://schemas.microsoft.com/office/drawing/2014/main" id="{A0F67769-1588-462B-9775-94C6096DF76F}"/>
              </a:ext>
            </a:extLst>
          </p:cNvPr>
          <p:cNvSpPr/>
          <p:nvPr/>
        </p:nvSpPr>
        <p:spPr>
          <a:xfrm>
            <a:off x="3401765" y="2378060"/>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sp>
        <p:nvSpPr>
          <p:cNvPr id="23" name="Flowchart: Process 7">
            <a:extLst>
              <a:ext uri="{FF2B5EF4-FFF2-40B4-BE49-F238E27FC236}">
                <a16:creationId xmlns:a16="http://schemas.microsoft.com/office/drawing/2014/main" id="{9A9ECB2E-A5F9-417D-A7FC-28907F5FF217}"/>
              </a:ext>
            </a:extLst>
          </p:cNvPr>
          <p:cNvSpPr/>
          <p:nvPr/>
        </p:nvSpPr>
        <p:spPr>
          <a:xfrm>
            <a:off x="3871664" y="3292460"/>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Process</a:t>
            </a:r>
          </a:p>
        </p:txBody>
      </p:sp>
      <p:sp>
        <p:nvSpPr>
          <p:cNvPr id="25" name="Flowchart: Terminator 8">
            <a:extLst>
              <a:ext uri="{FF2B5EF4-FFF2-40B4-BE49-F238E27FC236}">
                <a16:creationId xmlns:a16="http://schemas.microsoft.com/office/drawing/2014/main" id="{D0132E8F-EEC6-431C-97FD-253B7F21880C}"/>
              </a:ext>
            </a:extLst>
          </p:cNvPr>
          <p:cNvSpPr/>
          <p:nvPr/>
        </p:nvSpPr>
        <p:spPr>
          <a:xfrm>
            <a:off x="4605089" y="5566047"/>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t>Finish</a:t>
            </a:r>
            <a:endParaRPr lang="en-US" sz="1400" dirty="0"/>
          </a:p>
        </p:txBody>
      </p:sp>
      <p:sp>
        <p:nvSpPr>
          <p:cNvPr id="27" name="Flowchart: Terminator 9">
            <a:extLst>
              <a:ext uri="{FF2B5EF4-FFF2-40B4-BE49-F238E27FC236}">
                <a16:creationId xmlns:a16="http://schemas.microsoft.com/office/drawing/2014/main" id="{706FF29D-736F-482D-B58D-F06A5F4B1D90}"/>
              </a:ext>
            </a:extLst>
          </p:cNvPr>
          <p:cNvSpPr/>
          <p:nvPr/>
        </p:nvSpPr>
        <p:spPr>
          <a:xfrm>
            <a:off x="3871664" y="184466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28" name="Straight Arrow Connector 11">
            <a:extLst>
              <a:ext uri="{FF2B5EF4-FFF2-40B4-BE49-F238E27FC236}">
                <a16:creationId xmlns:a16="http://schemas.microsoft.com/office/drawing/2014/main" id="{D9962A1B-578F-4FDE-94AC-0F3E3203B1D5}"/>
              </a:ext>
            </a:extLst>
          </p:cNvPr>
          <p:cNvCxnSpPr>
            <a:stCxn id="27" idx="2"/>
            <a:endCxn id="22" idx="1"/>
          </p:cNvCxnSpPr>
          <p:nvPr/>
        </p:nvCxnSpPr>
        <p:spPr>
          <a:xfrm>
            <a:off x="4405064" y="2149460"/>
            <a:ext cx="3629"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12">
            <a:extLst>
              <a:ext uri="{FF2B5EF4-FFF2-40B4-BE49-F238E27FC236}">
                <a16:creationId xmlns:a16="http://schemas.microsoft.com/office/drawing/2014/main" id="{68BCE860-220A-4F59-A7EB-8A979BFD12EB}"/>
              </a:ext>
            </a:extLst>
          </p:cNvPr>
          <p:cNvCxnSpPr>
            <a:stCxn id="22" idx="4"/>
            <a:endCxn id="23" idx="0"/>
          </p:cNvCxnSpPr>
          <p:nvPr/>
        </p:nvCxnSpPr>
        <p:spPr>
          <a:xfrm flipH="1">
            <a:off x="4405064" y="2759060"/>
            <a:ext cx="3629" cy="5334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15">
            <a:extLst>
              <a:ext uri="{FF2B5EF4-FFF2-40B4-BE49-F238E27FC236}">
                <a16:creationId xmlns:a16="http://schemas.microsoft.com/office/drawing/2014/main" id="{22663454-B4A6-46CF-9CA0-CC0001952BFA}"/>
              </a:ext>
            </a:extLst>
          </p:cNvPr>
          <p:cNvCxnSpPr>
            <a:stCxn id="23" idx="2"/>
            <a:endCxn id="19" idx="0"/>
          </p:cNvCxnSpPr>
          <p:nvPr/>
        </p:nvCxnSpPr>
        <p:spPr>
          <a:xfrm flipH="1">
            <a:off x="4403216" y="3902060"/>
            <a:ext cx="1848"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18">
            <a:extLst>
              <a:ext uri="{FF2B5EF4-FFF2-40B4-BE49-F238E27FC236}">
                <a16:creationId xmlns:a16="http://schemas.microsoft.com/office/drawing/2014/main" id="{E6A94903-074C-4F97-9F60-971970A0AD6F}"/>
              </a:ext>
            </a:extLst>
          </p:cNvPr>
          <p:cNvCxnSpPr>
            <a:stCxn id="19" idx="2"/>
            <a:endCxn id="33" idx="1"/>
          </p:cNvCxnSpPr>
          <p:nvPr/>
        </p:nvCxnSpPr>
        <p:spPr>
          <a:xfrm flipH="1">
            <a:off x="4398714" y="4587860"/>
            <a:ext cx="4502"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21">
            <a:extLst>
              <a:ext uri="{FF2B5EF4-FFF2-40B4-BE49-F238E27FC236}">
                <a16:creationId xmlns:a16="http://schemas.microsoft.com/office/drawing/2014/main" id="{C2398472-1F6E-41A6-96D1-57881E121B13}"/>
              </a:ext>
            </a:extLst>
          </p:cNvPr>
          <p:cNvCxnSpPr>
            <a:stCxn id="19" idx="3"/>
          </p:cNvCxnSpPr>
          <p:nvPr/>
        </p:nvCxnSpPr>
        <p:spPr>
          <a:xfrm>
            <a:off x="5493568" y="4359260"/>
            <a:ext cx="81649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Flowchart: Data 34">
            <a:extLst>
              <a:ext uri="{FF2B5EF4-FFF2-40B4-BE49-F238E27FC236}">
                <a16:creationId xmlns:a16="http://schemas.microsoft.com/office/drawing/2014/main" id="{AACF9623-F473-4E96-BA20-07117AE45C03}"/>
              </a:ext>
            </a:extLst>
          </p:cNvPr>
          <p:cNvSpPr/>
          <p:nvPr/>
        </p:nvSpPr>
        <p:spPr>
          <a:xfrm>
            <a:off x="3439864" y="4816460"/>
            <a:ext cx="19177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Read/Print</a:t>
            </a:r>
          </a:p>
        </p:txBody>
      </p:sp>
      <p:cxnSp>
        <p:nvCxnSpPr>
          <p:cNvPr id="34" name="Straight Arrow Connector 37">
            <a:extLst>
              <a:ext uri="{FF2B5EF4-FFF2-40B4-BE49-F238E27FC236}">
                <a16:creationId xmlns:a16="http://schemas.microsoft.com/office/drawing/2014/main" id="{9D038E01-A767-4CBA-A26E-848CD1218786}"/>
              </a:ext>
            </a:extLst>
          </p:cNvPr>
          <p:cNvCxnSpPr>
            <a:endCxn id="25" idx="0"/>
          </p:cNvCxnSpPr>
          <p:nvPr/>
        </p:nvCxnSpPr>
        <p:spPr>
          <a:xfrm>
            <a:off x="5138489" y="5381753"/>
            <a:ext cx="0" cy="18429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76">
            <a:extLst>
              <a:ext uri="{FF2B5EF4-FFF2-40B4-BE49-F238E27FC236}">
                <a16:creationId xmlns:a16="http://schemas.microsoft.com/office/drawing/2014/main" id="{6B5CD410-EA37-4594-8464-6C3778392894}"/>
              </a:ext>
            </a:extLst>
          </p:cNvPr>
          <p:cNvSpPr txBox="1"/>
          <p:nvPr/>
        </p:nvSpPr>
        <p:spPr>
          <a:xfrm>
            <a:off x="4252664" y="4570239"/>
            <a:ext cx="609600"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grpSp>
        <p:nvGrpSpPr>
          <p:cNvPr id="36" name="22 Grupo">
            <a:extLst>
              <a:ext uri="{FF2B5EF4-FFF2-40B4-BE49-F238E27FC236}">
                <a16:creationId xmlns:a16="http://schemas.microsoft.com/office/drawing/2014/main" id="{A46E7438-ADE8-4841-B34D-BBBCBBE0CDA1}"/>
              </a:ext>
            </a:extLst>
          </p:cNvPr>
          <p:cNvGrpSpPr/>
          <p:nvPr/>
        </p:nvGrpSpPr>
        <p:grpSpPr>
          <a:xfrm>
            <a:off x="5014664" y="1692260"/>
            <a:ext cx="3390900" cy="738664"/>
            <a:chOff x="5029200" y="1600200"/>
            <a:chExt cx="3390900" cy="738664"/>
          </a:xfrm>
        </p:grpSpPr>
        <p:cxnSp>
          <p:nvCxnSpPr>
            <p:cNvPr id="37" name="39 Conector recto de flecha">
              <a:extLst>
                <a:ext uri="{FF2B5EF4-FFF2-40B4-BE49-F238E27FC236}">
                  <a16:creationId xmlns:a16="http://schemas.microsoft.com/office/drawing/2014/main" id="{E7685363-0B88-4797-81C3-30484DE02723}"/>
                </a:ext>
              </a:extLst>
            </p:cNvPr>
            <p:cNvCxnSpPr/>
            <p:nvPr/>
          </p:nvCxnSpPr>
          <p:spPr>
            <a:xfrm flipV="1">
              <a:off x="5029200" y="1904999"/>
              <a:ext cx="801914" cy="2"/>
            </a:xfrm>
            <a:prstGeom prst="straightConnector1">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38" name="41 CuadroTexto">
              <a:extLst>
                <a:ext uri="{FF2B5EF4-FFF2-40B4-BE49-F238E27FC236}">
                  <a16:creationId xmlns:a16="http://schemas.microsoft.com/office/drawing/2014/main" id="{9829BF59-8A46-486A-8EB3-F5DCA76D3196}"/>
                </a:ext>
              </a:extLst>
            </p:cNvPr>
            <p:cNvSpPr txBox="1"/>
            <p:nvPr/>
          </p:nvSpPr>
          <p:spPr>
            <a:xfrm>
              <a:off x="5831114" y="1600200"/>
              <a:ext cx="2588986" cy="738664"/>
            </a:xfrm>
            <a:prstGeom prst="rect">
              <a:avLst/>
            </a:prstGeom>
            <a:noFill/>
          </p:spPr>
          <p:txBody>
            <a:bodyPr wrap="square" rtlCol="0">
              <a:spAutoFit/>
            </a:bodyPr>
            <a:lstStyle/>
            <a:p>
              <a:r>
                <a:rPr lang="es-CO" sz="1400" dirty="0">
                  <a:solidFill>
                    <a:schemeClr val="accent5"/>
                  </a:solidFill>
                  <a:latin typeface="Century Gothic" panose="020B0502020202020204" pitchFamily="34" charset="0"/>
                </a:rPr>
                <a:t>indica el punto único donde empieza el algoritmo</a:t>
              </a:r>
              <a:endParaRPr lang="es-ES" sz="1400" i="1" dirty="0">
                <a:solidFill>
                  <a:schemeClr val="accent5"/>
                </a:solidFill>
                <a:latin typeface="Century Gothic" panose="020B0502020202020204" pitchFamily="34" charset="0"/>
              </a:endParaRPr>
            </a:p>
          </p:txBody>
        </p:sp>
      </p:grpSp>
      <p:grpSp>
        <p:nvGrpSpPr>
          <p:cNvPr id="39" name="23 Grupo">
            <a:extLst>
              <a:ext uri="{FF2B5EF4-FFF2-40B4-BE49-F238E27FC236}">
                <a16:creationId xmlns:a16="http://schemas.microsoft.com/office/drawing/2014/main" id="{D7A328E0-6DFF-4ADF-BFAC-E0BBE67FBD18}"/>
              </a:ext>
            </a:extLst>
          </p:cNvPr>
          <p:cNvGrpSpPr/>
          <p:nvPr/>
        </p:nvGrpSpPr>
        <p:grpSpPr>
          <a:xfrm>
            <a:off x="137864" y="2156663"/>
            <a:ext cx="3505200" cy="954107"/>
            <a:chOff x="228600" y="1905000"/>
            <a:chExt cx="3505200" cy="954107"/>
          </a:xfrm>
        </p:grpSpPr>
        <p:cxnSp>
          <p:nvCxnSpPr>
            <p:cNvPr id="40" name="46 Conector recto de flecha">
              <a:extLst>
                <a:ext uri="{FF2B5EF4-FFF2-40B4-BE49-F238E27FC236}">
                  <a16:creationId xmlns:a16="http://schemas.microsoft.com/office/drawing/2014/main" id="{AD05B929-D73C-4528-8ACA-4D1595E2AC0F}"/>
                </a:ext>
              </a:extLst>
            </p:cNvPr>
            <p:cNvCxnSpPr/>
            <p:nvPr/>
          </p:nvCxnSpPr>
          <p:spPr>
            <a:xfrm flipV="1">
              <a:off x="3327400" y="2278797"/>
              <a:ext cx="406400" cy="1"/>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54 CuadroTexto">
              <a:extLst>
                <a:ext uri="{FF2B5EF4-FFF2-40B4-BE49-F238E27FC236}">
                  <a16:creationId xmlns:a16="http://schemas.microsoft.com/office/drawing/2014/main" id="{2D7D0A52-3A06-4C20-BF8F-826320D98503}"/>
                </a:ext>
              </a:extLst>
            </p:cNvPr>
            <p:cNvSpPr txBox="1"/>
            <p:nvPr/>
          </p:nvSpPr>
          <p:spPr>
            <a:xfrm>
              <a:off x="228600" y="1905000"/>
              <a:ext cx="3124200" cy="954107"/>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la lectura (recepción) o impresión (envío o salida) de datos desde o hacia afuera del sistema</a:t>
              </a:r>
              <a:endParaRPr lang="es-ES" sz="1400" i="1" dirty="0">
                <a:solidFill>
                  <a:schemeClr val="accent5"/>
                </a:solidFill>
                <a:latin typeface="Century Gothic" panose="020B0502020202020204" pitchFamily="34" charset="0"/>
              </a:endParaRPr>
            </a:p>
          </p:txBody>
        </p:sp>
      </p:grpSp>
      <p:grpSp>
        <p:nvGrpSpPr>
          <p:cNvPr id="42" name="25 Grupo">
            <a:extLst>
              <a:ext uri="{FF2B5EF4-FFF2-40B4-BE49-F238E27FC236}">
                <a16:creationId xmlns:a16="http://schemas.microsoft.com/office/drawing/2014/main" id="{7C644081-DEA1-4118-AFED-186E0360C20C}"/>
              </a:ext>
            </a:extLst>
          </p:cNvPr>
          <p:cNvGrpSpPr/>
          <p:nvPr/>
        </p:nvGrpSpPr>
        <p:grpSpPr>
          <a:xfrm>
            <a:off x="4557464" y="2690063"/>
            <a:ext cx="4191000" cy="738664"/>
            <a:chOff x="4572000" y="2158425"/>
            <a:chExt cx="4191000" cy="738664"/>
          </a:xfrm>
        </p:grpSpPr>
        <p:cxnSp>
          <p:nvCxnSpPr>
            <p:cNvPr id="43" name="55 Conector recto de flecha">
              <a:extLst>
                <a:ext uri="{FF2B5EF4-FFF2-40B4-BE49-F238E27FC236}">
                  <a16:creationId xmlns:a16="http://schemas.microsoft.com/office/drawing/2014/main" id="{BBE813FD-6D84-420C-B2D6-28C1C168851B}"/>
                </a:ext>
              </a:extLst>
            </p:cNvPr>
            <p:cNvCxnSpPr/>
            <p:nvPr/>
          </p:nvCxnSpPr>
          <p:spPr>
            <a:xfrm>
              <a:off x="4572000" y="2456022"/>
              <a:ext cx="1259114" cy="7202"/>
            </a:xfrm>
            <a:prstGeom prst="straightConnector1">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45" name="56 CuadroTexto">
              <a:extLst>
                <a:ext uri="{FF2B5EF4-FFF2-40B4-BE49-F238E27FC236}">
                  <a16:creationId xmlns:a16="http://schemas.microsoft.com/office/drawing/2014/main" id="{B2169F05-B836-478D-B2C7-FDBEF4239FEF}"/>
                </a:ext>
              </a:extLst>
            </p:cNvPr>
            <p:cNvSpPr txBox="1"/>
            <p:nvPr/>
          </p:nvSpPr>
          <p:spPr>
            <a:xfrm>
              <a:off x="5831114" y="2158425"/>
              <a:ext cx="2931886" cy="738664"/>
            </a:xfrm>
            <a:prstGeom prst="rect">
              <a:avLst/>
            </a:prstGeom>
            <a:noFill/>
          </p:spPr>
          <p:txBody>
            <a:bodyPr wrap="square" rtlCol="0">
              <a:spAutoFit/>
            </a:bodyPr>
            <a:lstStyle/>
            <a:p>
              <a:r>
                <a:rPr lang="es-CO" sz="1400" dirty="0">
                  <a:solidFill>
                    <a:schemeClr val="accent5"/>
                  </a:solidFill>
                  <a:latin typeface="Century Gothic" panose="020B0502020202020204" pitchFamily="34" charset="0"/>
                </a:rPr>
                <a:t>flechas indican la secuencia entre dos secciones del algoritmo</a:t>
              </a:r>
              <a:endParaRPr lang="es-ES" sz="1400" i="1" dirty="0">
                <a:solidFill>
                  <a:schemeClr val="accent5"/>
                </a:solidFill>
                <a:latin typeface="Century Gothic" panose="020B0502020202020204" pitchFamily="34" charset="0"/>
              </a:endParaRPr>
            </a:p>
          </p:txBody>
        </p:sp>
      </p:grpSp>
      <p:grpSp>
        <p:nvGrpSpPr>
          <p:cNvPr id="46" name="27 Grupo">
            <a:extLst>
              <a:ext uri="{FF2B5EF4-FFF2-40B4-BE49-F238E27FC236}">
                <a16:creationId xmlns:a16="http://schemas.microsoft.com/office/drawing/2014/main" id="{E5472813-C00C-4A4C-A11E-7905B7B2E425}"/>
              </a:ext>
            </a:extLst>
          </p:cNvPr>
          <p:cNvGrpSpPr/>
          <p:nvPr/>
        </p:nvGrpSpPr>
        <p:grpSpPr>
          <a:xfrm>
            <a:off x="214064" y="3317285"/>
            <a:ext cx="3556000" cy="523220"/>
            <a:chOff x="228600" y="3225225"/>
            <a:chExt cx="3556000" cy="523220"/>
          </a:xfrm>
        </p:grpSpPr>
        <p:cxnSp>
          <p:nvCxnSpPr>
            <p:cNvPr id="47" name="57 Conector recto de flecha">
              <a:extLst>
                <a:ext uri="{FF2B5EF4-FFF2-40B4-BE49-F238E27FC236}">
                  <a16:creationId xmlns:a16="http://schemas.microsoft.com/office/drawing/2014/main" id="{938FE0C8-E74F-49A7-A812-74688C28D38F}"/>
                </a:ext>
              </a:extLst>
            </p:cNvPr>
            <p:cNvCxnSpPr/>
            <p:nvPr/>
          </p:nvCxnSpPr>
          <p:spPr>
            <a:xfrm>
              <a:off x="3251200" y="3491927"/>
              <a:ext cx="533400" cy="0"/>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58 CuadroTexto">
              <a:extLst>
                <a:ext uri="{FF2B5EF4-FFF2-40B4-BE49-F238E27FC236}">
                  <a16:creationId xmlns:a16="http://schemas.microsoft.com/office/drawing/2014/main" id="{B2428A00-7BCA-41C0-A97A-1141CE96BFA2}"/>
                </a:ext>
              </a:extLst>
            </p:cNvPr>
            <p:cNvSpPr txBox="1"/>
            <p:nvPr/>
          </p:nvSpPr>
          <p:spPr>
            <a:xfrm>
              <a:off x="228600" y="3225225"/>
              <a:ext cx="3048000" cy="523220"/>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un proceso secuencial </a:t>
              </a:r>
              <a:br>
                <a:rPr lang="es-CO" sz="1400" dirty="0">
                  <a:solidFill>
                    <a:schemeClr val="accent5"/>
                  </a:solidFill>
                  <a:latin typeface="Century Gothic" panose="020B0502020202020204" pitchFamily="34" charset="0"/>
                </a:rPr>
              </a:br>
              <a:r>
                <a:rPr lang="es-CO" sz="1400" dirty="0">
                  <a:solidFill>
                    <a:schemeClr val="accent5"/>
                  </a:solidFill>
                  <a:latin typeface="Century Gothic" panose="020B0502020202020204" pitchFamily="34" charset="0"/>
                </a:rPr>
                <a:t>de operaciones o cálculos</a:t>
              </a:r>
              <a:endParaRPr lang="es-ES" sz="1400" i="1" dirty="0">
                <a:solidFill>
                  <a:schemeClr val="accent5"/>
                </a:solidFill>
                <a:latin typeface="Century Gothic" panose="020B0502020202020204" pitchFamily="34" charset="0"/>
              </a:endParaRPr>
            </a:p>
          </p:txBody>
        </p:sp>
      </p:grpSp>
      <p:grpSp>
        <p:nvGrpSpPr>
          <p:cNvPr id="49" name="28 Grupo">
            <a:extLst>
              <a:ext uri="{FF2B5EF4-FFF2-40B4-BE49-F238E27FC236}">
                <a16:creationId xmlns:a16="http://schemas.microsoft.com/office/drawing/2014/main" id="{63B18C2E-558C-4D3A-9E9A-D6FFEFFBF465}"/>
              </a:ext>
            </a:extLst>
          </p:cNvPr>
          <p:cNvGrpSpPr/>
          <p:nvPr/>
        </p:nvGrpSpPr>
        <p:grpSpPr>
          <a:xfrm>
            <a:off x="309508" y="3989928"/>
            <a:ext cx="3081795" cy="738664"/>
            <a:chOff x="224108" y="3946495"/>
            <a:chExt cx="3188064" cy="738664"/>
          </a:xfrm>
        </p:grpSpPr>
        <p:cxnSp>
          <p:nvCxnSpPr>
            <p:cNvPr id="50" name="59 Conector recto de flecha">
              <a:extLst>
                <a:ext uri="{FF2B5EF4-FFF2-40B4-BE49-F238E27FC236}">
                  <a16:creationId xmlns:a16="http://schemas.microsoft.com/office/drawing/2014/main" id="{92D64AA8-2794-4F89-AE21-1ECFE1A5A3C1}"/>
                </a:ext>
              </a:extLst>
            </p:cNvPr>
            <p:cNvCxnSpPr>
              <a:cxnSpLocks/>
              <a:stCxn id="51" idx="3"/>
              <a:endCxn id="19" idx="1"/>
            </p:cNvCxnSpPr>
            <p:nvPr/>
          </p:nvCxnSpPr>
          <p:spPr>
            <a:xfrm>
              <a:off x="3022354" y="4315827"/>
              <a:ext cx="389818" cy="0"/>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60 CuadroTexto">
              <a:extLst>
                <a:ext uri="{FF2B5EF4-FFF2-40B4-BE49-F238E27FC236}">
                  <a16:creationId xmlns:a16="http://schemas.microsoft.com/office/drawing/2014/main" id="{96E50C93-6985-4432-B0C6-BF834BEF854D}"/>
                </a:ext>
              </a:extLst>
            </p:cNvPr>
            <p:cNvSpPr txBox="1"/>
            <p:nvPr/>
          </p:nvSpPr>
          <p:spPr>
            <a:xfrm>
              <a:off x="224108" y="3946495"/>
              <a:ext cx="2798246" cy="738664"/>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la evaluación de una condición para determinar el flujo del algoritmo</a:t>
              </a:r>
              <a:endParaRPr lang="es-ES" sz="1400" i="1" dirty="0">
                <a:solidFill>
                  <a:schemeClr val="accent5"/>
                </a:solidFill>
                <a:latin typeface="Century Gothic" panose="020B0502020202020204" pitchFamily="34" charset="0"/>
              </a:endParaRPr>
            </a:p>
          </p:txBody>
        </p:sp>
      </p:grpSp>
      <p:grpSp>
        <p:nvGrpSpPr>
          <p:cNvPr id="52" name="26 Grupo">
            <a:extLst>
              <a:ext uri="{FF2B5EF4-FFF2-40B4-BE49-F238E27FC236}">
                <a16:creationId xmlns:a16="http://schemas.microsoft.com/office/drawing/2014/main" id="{6C5AAD0D-98FB-459B-ADB5-0360339C09CC}"/>
              </a:ext>
            </a:extLst>
          </p:cNvPr>
          <p:cNvGrpSpPr/>
          <p:nvPr/>
        </p:nvGrpSpPr>
        <p:grpSpPr>
          <a:xfrm>
            <a:off x="671264" y="5426060"/>
            <a:ext cx="3829097" cy="523220"/>
            <a:chOff x="5321300" y="5194012"/>
            <a:chExt cx="3829097" cy="523220"/>
          </a:xfrm>
        </p:grpSpPr>
        <p:cxnSp>
          <p:nvCxnSpPr>
            <p:cNvPr id="53" name="61 Conector recto de flecha">
              <a:extLst>
                <a:ext uri="{FF2B5EF4-FFF2-40B4-BE49-F238E27FC236}">
                  <a16:creationId xmlns:a16="http://schemas.microsoft.com/office/drawing/2014/main" id="{08D2F4E8-2EA6-4691-931A-AF6CAFD6A8DF}"/>
                </a:ext>
              </a:extLst>
            </p:cNvPr>
            <p:cNvCxnSpPr/>
            <p:nvPr/>
          </p:nvCxnSpPr>
          <p:spPr>
            <a:xfrm flipV="1">
              <a:off x="7962900" y="5482005"/>
              <a:ext cx="1187497" cy="4394"/>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62 CuadroTexto">
              <a:extLst>
                <a:ext uri="{FF2B5EF4-FFF2-40B4-BE49-F238E27FC236}">
                  <a16:creationId xmlns:a16="http://schemas.microsoft.com/office/drawing/2014/main" id="{83ECD359-98CD-431D-9093-151FCA7E45E7}"/>
                </a:ext>
              </a:extLst>
            </p:cNvPr>
            <p:cNvSpPr txBox="1"/>
            <p:nvPr/>
          </p:nvSpPr>
          <p:spPr>
            <a:xfrm>
              <a:off x="5321300" y="5194012"/>
              <a:ext cx="2588986" cy="523220"/>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el punto donde termina el algoritmo</a:t>
              </a:r>
              <a:endParaRPr lang="es-ES" sz="1400" i="1" dirty="0">
                <a:solidFill>
                  <a:schemeClr val="accent5"/>
                </a:solidFill>
                <a:latin typeface="Century Gothic" panose="020B0502020202020204" pitchFamily="34" charset="0"/>
              </a:endParaRPr>
            </a:p>
          </p:txBody>
        </p:sp>
      </p:grpSp>
      <p:cxnSp>
        <p:nvCxnSpPr>
          <p:cNvPr id="56" name="Straight Arrow Connector 18">
            <a:extLst>
              <a:ext uri="{FF2B5EF4-FFF2-40B4-BE49-F238E27FC236}">
                <a16:creationId xmlns:a16="http://schemas.microsoft.com/office/drawing/2014/main" id="{935A4460-46B1-412A-9B2C-3A6964D800FC}"/>
              </a:ext>
            </a:extLst>
          </p:cNvPr>
          <p:cNvCxnSpPr>
            <a:endCxn id="57" idx="1"/>
          </p:cNvCxnSpPr>
          <p:nvPr/>
        </p:nvCxnSpPr>
        <p:spPr>
          <a:xfrm>
            <a:off x="6310064" y="4376881"/>
            <a:ext cx="9979" cy="4572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Flowchart: Data 34">
            <a:extLst>
              <a:ext uri="{FF2B5EF4-FFF2-40B4-BE49-F238E27FC236}">
                <a16:creationId xmlns:a16="http://schemas.microsoft.com/office/drawing/2014/main" id="{52A848E0-E2F4-4D6A-882D-451FFF821628}"/>
              </a:ext>
            </a:extLst>
          </p:cNvPr>
          <p:cNvSpPr/>
          <p:nvPr/>
        </p:nvSpPr>
        <p:spPr>
          <a:xfrm>
            <a:off x="5357565" y="4834081"/>
            <a:ext cx="19249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Read/Print</a:t>
            </a:r>
          </a:p>
        </p:txBody>
      </p:sp>
      <p:cxnSp>
        <p:nvCxnSpPr>
          <p:cNvPr id="58" name="Straight Arrow Connector 21">
            <a:extLst>
              <a:ext uri="{FF2B5EF4-FFF2-40B4-BE49-F238E27FC236}">
                <a16:creationId xmlns:a16="http://schemas.microsoft.com/office/drawing/2014/main" id="{63BDCC70-6D42-47F4-910F-9FB5D1DB1C2B}"/>
              </a:ext>
            </a:extLst>
          </p:cNvPr>
          <p:cNvCxnSpPr/>
          <p:nvPr/>
        </p:nvCxnSpPr>
        <p:spPr>
          <a:xfrm>
            <a:off x="4405064" y="5381753"/>
            <a:ext cx="1905000"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18">
            <a:extLst>
              <a:ext uri="{FF2B5EF4-FFF2-40B4-BE49-F238E27FC236}">
                <a16:creationId xmlns:a16="http://schemas.microsoft.com/office/drawing/2014/main" id="{A36A69F5-277E-434C-B5C9-8D95D9F9CBAE}"/>
              </a:ext>
            </a:extLst>
          </p:cNvPr>
          <p:cNvCxnSpPr>
            <a:stCxn id="33" idx="4"/>
          </p:cNvCxnSpPr>
          <p:nvPr/>
        </p:nvCxnSpPr>
        <p:spPr>
          <a:xfrm>
            <a:off x="4398714" y="5197460"/>
            <a:ext cx="6350" cy="18429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18">
            <a:extLst>
              <a:ext uri="{FF2B5EF4-FFF2-40B4-BE49-F238E27FC236}">
                <a16:creationId xmlns:a16="http://schemas.microsoft.com/office/drawing/2014/main" id="{D1F9F9CD-53E5-41C7-ADC1-4FE3CC15969A}"/>
              </a:ext>
            </a:extLst>
          </p:cNvPr>
          <p:cNvCxnSpPr/>
          <p:nvPr/>
        </p:nvCxnSpPr>
        <p:spPr>
          <a:xfrm>
            <a:off x="6310064" y="5197460"/>
            <a:ext cx="0" cy="18429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875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1684" y="116632"/>
            <a:ext cx="7886700" cy="789708"/>
          </a:xfrm>
        </p:spPr>
        <p:txBody>
          <a:bodyPr>
            <a:normAutofit/>
          </a:bodyPr>
          <a:lstStyle/>
          <a:p>
            <a:r>
              <a:rPr lang="es-CO" sz="3200" dirty="0"/>
              <a:t>Bloques básicos</a:t>
            </a:r>
            <a:endParaRPr lang="en-US" sz="3200" dirty="0"/>
          </a:p>
        </p:txBody>
      </p:sp>
      <p:sp>
        <p:nvSpPr>
          <p:cNvPr id="2" name="1 Marcador de contenido"/>
          <p:cNvSpPr>
            <a:spLocks noGrp="1"/>
          </p:cNvSpPr>
          <p:nvPr>
            <p:ph idx="1"/>
          </p:nvPr>
        </p:nvSpPr>
        <p:spPr>
          <a:xfrm>
            <a:off x="107504" y="931672"/>
            <a:ext cx="7886700" cy="4009496"/>
          </a:xfrm>
        </p:spPr>
        <p:txBody>
          <a:bodyPr>
            <a:normAutofit lnSpcReduction="10000"/>
          </a:bodyPr>
          <a:lstStyle/>
          <a:p>
            <a:pPr marL="0" indent="0">
              <a:buNone/>
            </a:pPr>
            <a:r>
              <a:rPr lang="es-CO" sz="2400" dirty="0"/>
              <a:t>Bloques vistos hasta el momento:</a:t>
            </a:r>
          </a:p>
          <a:p>
            <a:r>
              <a:rPr lang="es-CO" sz="2000" b="1" dirty="0"/>
              <a:t>Entrada/Salida</a:t>
            </a:r>
            <a:r>
              <a:rPr lang="es-CO" sz="2000" dirty="0"/>
              <a:t>:</a:t>
            </a:r>
          </a:p>
          <a:p>
            <a:endParaRPr lang="es-CO" sz="2000" dirty="0"/>
          </a:p>
          <a:p>
            <a:endParaRPr lang="es-CO" sz="2000" dirty="0"/>
          </a:p>
          <a:p>
            <a:endParaRPr lang="es-CO" sz="2000" dirty="0"/>
          </a:p>
          <a:p>
            <a:r>
              <a:rPr lang="es-CO" sz="2000" b="1" dirty="0"/>
              <a:t>Proceso</a:t>
            </a:r>
            <a:r>
              <a:rPr lang="es-CO" sz="2000" dirty="0"/>
              <a:t>:</a:t>
            </a:r>
          </a:p>
          <a:p>
            <a:endParaRPr lang="es-CO" sz="2000" dirty="0"/>
          </a:p>
          <a:p>
            <a:endParaRPr lang="es-CO" sz="2000" dirty="0"/>
          </a:p>
          <a:p>
            <a:endParaRPr lang="es-CO" sz="2000" dirty="0"/>
          </a:p>
          <a:p>
            <a:r>
              <a:rPr lang="es-CO" sz="2000" b="1" dirty="0"/>
              <a:t>Condicionales</a:t>
            </a:r>
            <a:r>
              <a:rPr lang="es-CO" sz="2000" dirty="0"/>
              <a:t>:</a:t>
            </a:r>
          </a:p>
        </p:txBody>
      </p:sp>
      <p:sp>
        <p:nvSpPr>
          <p:cNvPr id="8" name="Flowchart: Data 6"/>
          <p:cNvSpPr/>
          <p:nvPr/>
        </p:nvSpPr>
        <p:spPr>
          <a:xfrm>
            <a:off x="3729377" y="2003804"/>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Read/Print</a:t>
            </a:r>
          </a:p>
        </p:txBody>
      </p:sp>
      <p:sp>
        <p:nvSpPr>
          <p:cNvPr id="9" name="Flowchart: Process 7"/>
          <p:cNvSpPr/>
          <p:nvPr/>
        </p:nvSpPr>
        <p:spPr>
          <a:xfrm>
            <a:off x="4151098" y="3389372"/>
            <a:ext cx="1512168" cy="753616"/>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Process</a:t>
            </a:r>
            <a:endParaRPr lang="en-US" sz="1400" dirty="0">
              <a:latin typeface="Consolas" panose="020B0609020204030204" pitchFamily="49" charset="0"/>
            </a:endParaRPr>
          </a:p>
        </p:txBody>
      </p:sp>
      <p:grpSp>
        <p:nvGrpSpPr>
          <p:cNvPr id="10" name="9 Grupo"/>
          <p:cNvGrpSpPr/>
          <p:nvPr/>
        </p:nvGrpSpPr>
        <p:grpSpPr>
          <a:xfrm>
            <a:off x="2815775" y="4813358"/>
            <a:ext cx="4182814" cy="991906"/>
            <a:chOff x="4512196" y="4055676"/>
            <a:chExt cx="3488970" cy="592524"/>
          </a:xfrm>
        </p:grpSpPr>
        <p:sp>
          <p:nvSpPr>
            <p:cNvPr id="12" name="TextBox 75"/>
            <p:cNvSpPr txBox="1"/>
            <p:nvPr/>
          </p:nvSpPr>
          <p:spPr>
            <a:xfrm>
              <a:off x="7391566" y="4143894"/>
              <a:ext cx="609600" cy="147082"/>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3" name="TextBox 76"/>
            <p:cNvSpPr txBox="1"/>
            <p:nvPr/>
          </p:nvSpPr>
          <p:spPr>
            <a:xfrm>
              <a:off x="4512196" y="4132026"/>
              <a:ext cx="609600" cy="147082"/>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14" name="Flowchart: Decision 5"/>
            <p:cNvSpPr/>
            <p:nvPr/>
          </p:nvSpPr>
          <p:spPr>
            <a:xfrm>
              <a:off x="5143761" y="4055676"/>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Decision</a:t>
              </a:r>
            </a:p>
          </p:txBody>
        </p:sp>
        <p:grpSp>
          <p:nvGrpSpPr>
            <p:cNvPr id="15" name="14 Grupo"/>
            <p:cNvGrpSpPr/>
            <p:nvPr/>
          </p:nvGrpSpPr>
          <p:grpSpPr>
            <a:xfrm>
              <a:off x="4633913" y="4281488"/>
              <a:ext cx="528637" cy="366712"/>
              <a:chOff x="4633913" y="4281488"/>
              <a:chExt cx="528637" cy="366712"/>
            </a:xfrm>
          </p:grpSpPr>
          <p:cxnSp>
            <p:nvCxnSpPr>
              <p:cNvPr id="19" name="Straight Arrow Connector 18"/>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8"/>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 name="15 Grupo"/>
            <p:cNvGrpSpPr/>
            <p:nvPr/>
          </p:nvGrpSpPr>
          <p:grpSpPr>
            <a:xfrm flipH="1">
              <a:off x="7305676" y="4281488"/>
              <a:ext cx="528637" cy="366712"/>
              <a:chOff x="4633913" y="4281488"/>
              <a:chExt cx="528637" cy="366712"/>
            </a:xfrm>
          </p:grpSpPr>
          <p:cxnSp>
            <p:nvCxnSpPr>
              <p:cNvPr id="17" name="Straight Arrow Connector 18"/>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8"/>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9188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692" y="332656"/>
            <a:ext cx="7886700" cy="787524"/>
          </a:xfrm>
        </p:spPr>
        <p:txBody>
          <a:bodyPr>
            <a:normAutofit/>
          </a:bodyPr>
          <a:lstStyle/>
          <a:p>
            <a:r>
              <a:rPr lang="es-CO" sz="2800" dirty="0"/>
              <a:t>Entrada</a:t>
            </a:r>
            <a:endParaRPr lang="en-US" sz="2800" dirty="0"/>
          </a:p>
        </p:txBody>
      </p:sp>
      <p:sp>
        <p:nvSpPr>
          <p:cNvPr id="41" name="Flowchart: Data 6"/>
          <p:cNvSpPr/>
          <p:nvPr/>
        </p:nvSpPr>
        <p:spPr>
          <a:xfrm>
            <a:off x="5861891" y="2448907"/>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m</a:t>
            </a:r>
          </a:p>
        </p:txBody>
      </p:sp>
      <p:grpSp>
        <p:nvGrpSpPr>
          <p:cNvPr id="42" name="41 Grupo"/>
          <p:cNvGrpSpPr/>
          <p:nvPr/>
        </p:nvGrpSpPr>
        <p:grpSpPr>
          <a:xfrm>
            <a:off x="7452320" y="3737095"/>
            <a:ext cx="1368152" cy="1706060"/>
            <a:chOff x="2771800" y="3965150"/>
            <a:chExt cx="1368152" cy="1706060"/>
          </a:xfrm>
        </p:grpSpPr>
        <p:grpSp>
          <p:nvGrpSpPr>
            <p:cNvPr id="43" name="42 Grupo"/>
            <p:cNvGrpSpPr/>
            <p:nvPr/>
          </p:nvGrpSpPr>
          <p:grpSpPr>
            <a:xfrm>
              <a:off x="2771800" y="3965150"/>
              <a:ext cx="1368152" cy="1336058"/>
              <a:chOff x="2771800" y="3965150"/>
              <a:chExt cx="1368152" cy="1336058"/>
            </a:xfrm>
          </p:grpSpPr>
          <p:cxnSp>
            <p:nvCxnSpPr>
              <p:cNvPr id="51" name="50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51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43 Grupo"/>
            <p:cNvGrpSpPr/>
            <p:nvPr/>
          </p:nvGrpSpPr>
          <p:grpSpPr>
            <a:xfrm>
              <a:off x="2871849" y="3997282"/>
              <a:ext cx="1124087" cy="1673928"/>
              <a:chOff x="2871849" y="3997282"/>
              <a:chExt cx="1124087" cy="1673928"/>
            </a:xfrm>
          </p:grpSpPr>
          <p:grpSp>
            <p:nvGrpSpPr>
              <p:cNvPr id="45" name="44 Grupo"/>
              <p:cNvGrpSpPr/>
              <p:nvPr/>
            </p:nvGrpSpPr>
            <p:grpSpPr>
              <a:xfrm>
                <a:off x="2915816" y="4518573"/>
                <a:ext cx="1080120" cy="936613"/>
                <a:chOff x="2915816" y="4518573"/>
                <a:chExt cx="1080120" cy="936613"/>
              </a:xfrm>
            </p:grpSpPr>
            <p:cxnSp>
              <p:nvCxnSpPr>
                <p:cNvPr id="48" name="47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48 Conector recto"/>
                <p:cNvCxnSpPr/>
                <p:nvPr/>
              </p:nvCxnSpPr>
              <p:spPr>
                <a:xfrm>
                  <a:off x="2915816" y="516715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49 Conector recto"/>
                <p:cNvCxnSpPr/>
                <p:nvPr/>
              </p:nvCxnSpPr>
              <p:spPr>
                <a:xfrm>
                  <a:off x="2915816" y="5455186"/>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45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47" name="46 CuadroTexto"/>
              <p:cNvSpPr txBox="1"/>
              <p:nvPr/>
            </p:nvSpPr>
            <p:spPr>
              <a:xfrm>
                <a:off x="3195227" y="5332656"/>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pic>
        <p:nvPicPr>
          <p:cNvPr id="53" name="Picture 2" descr="http://www.jegsworks.com/lessons/computerbasics/lesson3/keyboard-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072" y="4353653"/>
            <a:ext cx="1760635" cy="557535"/>
          </a:xfrm>
          <a:prstGeom prst="rect">
            <a:avLst/>
          </a:prstGeom>
          <a:noFill/>
          <a:extLst>
            <a:ext uri="{909E8E84-426E-40DD-AFC4-6F175D3DCCD1}">
              <a14:hiddenFill xmlns:a14="http://schemas.microsoft.com/office/drawing/2010/main">
                <a:solidFill>
                  <a:srgbClr val="FFFFFF"/>
                </a:solidFill>
              </a14:hiddenFill>
            </a:ext>
          </a:extLst>
        </p:spPr>
      </p:pic>
      <p:sp>
        <p:nvSpPr>
          <p:cNvPr id="40" name="39 Rectángulo"/>
          <p:cNvSpPr/>
          <p:nvPr/>
        </p:nvSpPr>
        <p:spPr>
          <a:xfrm>
            <a:off x="8197806" y="4423563"/>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m</a:t>
            </a:r>
            <a:endParaRPr lang="es-CO" dirty="0"/>
          </a:p>
        </p:txBody>
      </p:sp>
      <p:sp>
        <p:nvSpPr>
          <p:cNvPr id="55" name="54 Rectángulo"/>
          <p:cNvSpPr/>
          <p:nvPr/>
        </p:nvSpPr>
        <p:spPr>
          <a:xfrm>
            <a:off x="7863813" y="4489767"/>
            <a:ext cx="292100" cy="2413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8" name="57 Conector recto de flecha"/>
          <p:cNvCxnSpPr/>
          <p:nvPr/>
        </p:nvCxnSpPr>
        <p:spPr>
          <a:xfrm>
            <a:off x="7036139" y="4648047"/>
            <a:ext cx="753751" cy="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9696" name="29695 Grupo"/>
          <p:cNvGrpSpPr/>
          <p:nvPr/>
        </p:nvGrpSpPr>
        <p:grpSpPr>
          <a:xfrm>
            <a:off x="524477" y="1362845"/>
            <a:ext cx="3850051" cy="4127166"/>
            <a:chOff x="539552" y="1844725"/>
            <a:chExt cx="3850051" cy="4127166"/>
          </a:xfrm>
        </p:grpSpPr>
        <p:grpSp>
          <p:nvGrpSpPr>
            <p:cNvPr id="63" name="62 Grupo"/>
            <p:cNvGrpSpPr/>
            <p:nvPr/>
          </p:nvGrpSpPr>
          <p:grpSpPr>
            <a:xfrm>
              <a:off x="539552" y="2532810"/>
              <a:ext cx="3850051" cy="3439081"/>
              <a:chOff x="539552" y="2532810"/>
              <a:chExt cx="3850051" cy="3439081"/>
            </a:xfrm>
          </p:grpSpPr>
          <p:sp>
            <p:nvSpPr>
              <p:cNvPr id="21" name="Flowchart: Data 6"/>
              <p:cNvSpPr/>
              <p:nvPr/>
            </p:nvSpPr>
            <p:spPr>
              <a:xfrm>
                <a:off x="1293259" y="2532810"/>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cxnSp>
            <p:nvCxnSpPr>
              <p:cNvPr id="6" name="5 Conector recto de flecha"/>
              <p:cNvCxnSpPr/>
              <p:nvPr/>
            </p:nvCxnSpPr>
            <p:spPr>
              <a:xfrm>
                <a:off x="2300187" y="4221088"/>
                <a:ext cx="0" cy="576064"/>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Data 6"/>
              <p:cNvSpPr/>
              <p:nvPr/>
            </p:nvSpPr>
            <p:spPr>
              <a:xfrm>
                <a:off x="1293259" y="3576081"/>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a:t>
                </a:r>
              </a:p>
            </p:txBody>
          </p:sp>
          <p:cxnSp>
            <p:nvCxnSpPr>
              <p:cNvPr id="23" name="22 Conector recto de flecha"/>
              <p:cNvCxnSpPr/>
              <p:nvPr/>
            </p:nvCxnSpPr>
            <p:spPr>
              <a:xfrm>
                <a:off x="2348123" y="3036866"/>
                <a:ext cx="0" cy="43204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2" name="61 Grupo"/>
              <p:cNvGrpSpPr/>
              <p:nvPr/>
            </p:nvGrpSpPr>
            <p:grpSpPr>
              <a:xfrm>
                <a:off x="539552" y="4630525"/>
                <a:ext cx="3850051" cy="1341366"/>
                <a:chOff x="539552" y="4630525"/>
                <a:chExt cx="3850051" cy="1341366"/>
              </a:xfrm>
            </p:grpSpPr>
            <p:pic>
              <p:nvPicPr>
                <p:cNvPr id="29698" name="Picture 2" descr="http://www.jegsworks.com/lessons/computerbasics/lesson3/keyboard-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5036222"/>
                  <a:ext cx="1760635" cy="557535"/>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35 Grupo"/>
                <p:cNvGrpSpPr/>
                <p:nvPr/>
              </p:nvGrpSpPr>
              <p:grpSpPr>
                <a:xfrm>
                  <a:off x="3021451" y="4630525"/>
                  <a:ext cx="1368152" cy="1341366"/>
                  <a:chOff x="2771800" y="3965150"/>
                  <a:chExt cx="1368152" cy="1341366"/>
                </a:xfrm>
              </p:grpSpPr>
              <p:grpSp>
                <p:nvGrpSpPr>
                  <p:cNvPr id="26" name="25 Grupo"/>
                  <p:cNvGrpSpPr/>
                  <p:nvPr/>
                </p:nvGrpSpPr>
                <p:grpSpPr>
                  <a:xfrm>
                    <a:off x="2771800" y="3965150"/>
                    <a:ext cx="1368152" cy="1336058"/>
                    <a:chOff x="2771800" y="3965150"/>
                    <a:chExt cx="1368152" cy="1336058"/>
                  </a:xfrm>
                </p:grpSpPr>
                <p:cxnSp>
                  <p:nvCxnSpPr>
                    <p:cNvPr id="25" name="24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34 Grupo"/>
                  <p:cNvGrpSpPr/>
                  <p:nvPr/>
                </p:nvGrpSpPr>
                <p:grpSpPr>
                  <a:xfrm>
                    <a:off x="2871849" y="3997282"/>
                    <a:ext cx="1124087" cy="1309234"/>
                    <a:chOff x="2871849" y="3997282"/>
                    <a:chExt cx="1124087" cy="1309234"/>
                  </a:xfrm>
                </p:grpSpPr>
                <p:grpSp>
                  <p:nvGrpSpPr>
                    <p:cNvPr id="33" name="32 Grupo"/>
                    <p:cNvGrpSpPr/>
                    <p:nvPr/>
                  </p:nvGrpSpPr>
                  <p:grpSpPr>
                    <a:xfrm>
                      <a:off x="2915816" y="4518573"/>
                      <a:ext cx="1080120" cy="422595"/>
                      <a:chOff x="2915816" y="4518573"/>
                      <a:chExt cx="1080120" cy="422595"/>
                    </a:xfrm>
                  </p:grpSpPr>
                  <p:cxnSp>
                    <p:nvCxnSpPr>
                      <p:cNvPr id="29" name="28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2915816" y="472514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a:off x="2915816" y="4941168"/>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29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34" name="33 CuadroTexto"/>
                    <p:cNvSpPr txBox="1"/>
                    <p:nvPr/>
                  </p:nvSpPr>
                  <p:spPr>
                    <a:xfrm>
                      <a:off x="3195227" y="4967962"/>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38" name="37 Triángulo isósceles"/>
                <p:cNvSpPr/>
                <p:nvPr/>
              </p:nvSpPr>
              <p:spPr>
                <a:xfrm rot="5400000">
                  <a:off x="2418122" y="5229200"/>
                  <a:ext cx="342561" cy="14401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sp>
          <p:nvSpPr>
            <p:cNvPr id="61" name="60 Rectángulo"/>
            <p:cNvSpPr/>
            <p:nvPr/>
          </p:nvSpPr>
          <p:spPr>
            <a:xfrm>
              <a:off x="1344952" y="1844725"/>
              <a:ext cx="1758815" cy="400110"/>
            </a:xfrm>
            <a:prstGeom prst="rect">
              <a:avLst/>
            </a:prstGeom>
          </p:spPr>
          <p:txBody>
            <a:bodyPr wrap="none">
              <a:spAutoFit/>
            </a:bodyPr>
            <a:lstStyle/>
            <a:p>
              <a:r>
                <a:rPr lang="es-CO" sz="2000" b="1" dirty="0">
                  <a:solidFill>
                    <a:srgbClr val="FF0000"/>
                  </a:solidFill>
                </a:rPr>
                <a:t>Entrada/</a:t>
              </a:r>
              <a:r>
                <a:rPr lang="es-CO" sz="2000" b="1" dirty="0"/>
                <a:t>Salida</a:t>
              </a:r>
            </a:p>
          </p:txBody>
        </p:sp>
      </p:grpSp>
      <p:sp>
        <p:nvSpPr>
          <p:cNvPr id="29697" name="29696 Rectángulo redondeado"/>
          <p:cNvSpPr/>
          <p:nvPr/>
        </p:nvSpPr>
        <p:spPr>
          <a:xfrm>
            <a:off x="181251" y="1274011"/>
            <a:ext cx="4536504" cy="4603261"/>
          </a:xfrm>
          <a:prstGeom prst="roundRect">
            <a:avLst>
              <a:gd name="adj" fmla="val 7429"/>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699" name="29698 Rectángulo"/>
          <p:cNvSpPr/>
          <p:nvPr/>
        </p:nvSpPr>
        <p:spPr>
          <a:xfrm>
            <a:off x="5129247" y="1274012"/>
            <a:ext cx="3267797" cy="861774"/>
          </a:xfrm>
          <a:prstGeom prst="rect">
            <a:avLst/>
          </a:prstGeom>
        </p:spPr>
        <p:txBody>
          <a:bodyPr wrap="square">
            <a:spAutoFit/>
          </a:bodyPr>
          <a:lstStyle/>
          <a:p>
            <a:r>
              <a:rPr lang="es-CO" b="1" dirty="0">
                <a:solidFill>
                  <a:srgbClr val="FF0000"/>
                </a:solidFill>
              </a:rPr>
              <a:t>Ejemplo</a:t>
            </a:r>
            <a:r>
              <a:rPr lang="es-CO" dirty="0">
                <a:solidFill>
                  <a:srgbClr val="FF0000"/>
                </a:solidFill>
              </a:rPr>
              <a:t>:</a:t>
            </a:r>
          </a:p>
          <a:p>
            <a:r>
              <a:rPr lang="es-CO" sz="1600" dirty="0"/>
              <a:t>Dado el siguiente bloque cual seria su efecto:</a:t>
            </a:r>
            <a:endParaRPr lang="es-CO" dirty="0"/>
          </a:p>
        </p:txBody>
      </p:sp>
      <p:sp>
        <p:nvSpPr>
          <p:cNvPr id="29700" name="29699 Rectángulo"/>
          <p:cNvSpPr/>
          <p:nvPr/>
        </p:nvSpPr>
        <p:spPr>
          <a:xfrm>
            <a:off x="5181645" y="3205954"/>
            <a:ext cx="1058303" cy="369332"/>
          </a:xfrm>
          <a:prstGeom prst="rect">
            <a:avLst/>
          </a:prstGeom>
        </p:spPr>
        <p:txBody>
          <a:bodyPr wrap="none">
            <a:spAutoFit/>
          </a:bodyPr>
          <a:lstStyle/>
          <a:p>
            <a:r>
              <a:rPr lang="es-CO" b="1" dirty="0">
                <a:solidFill>
                  <a:srgbClr val="FF0000"/>
                </a:solidFill>
              </a:rPr>
              <a:t>Solución</a:t>
            </a:r>
            <a:r>
              <a:rPr lang="es-CO" dirty="0">
                <a:solidFill>
                  <a:srgbClr val="FF0000"/>
                </a:solidFill>
              </a:rPr>
              <a:t>:</a:t>
            </a:r>
          </a:p>
        </p:txBody>
      </p:sp>
      <p:sp>
        <p:nvSpPr>
          <p:cNvPr id="29701" name="29700 Rectángulo"/>
          <p:cNvSpPr/>
          <p:nvPr/>
        </p:nvSpPr>
        <p:spPr>
          <a:xfrm>
            <a:off x="7872016" y="4475909"/>
            <a:ext cx="284052" cy="307777"/>
          </a:xfrm>
          <a:prstGeom prst="rect">
            <a:avLst/>
          </a:prstGeom>
        </p:spPr>
        <p:txBody>
          <a:bodyPr wrap="none">
            <a:spAutoFit/>
          </a:bodyPr>
          <a:lstStyle/>
          <a:p>
            <a:r>
              <a:rPr lang="es-CO" sz="1400" dirty="0">
                <a:solidFill>
                  <a:srgbClr val="FF0000"/>
                </a:solidFill>
                <a:latin typeface="Consolas" panose="020B0609020204030204" pitchFamily="49" charset="0"/>
              </a:rPr>
              <a:t>5</a:t>
            </a:r>
          </a:p>
        </p:txBody>
      </p:sp>
      <p:pic>
        <p:nvPicPr>
          <p:cNvPr id="29702" name="Picture 4" descr="http://t1.gstatic.com/images?q=tbn:ANd9GcRw1aAbCusAezWY3KVKXz_KlvwzulNuqEmMtl4dnriXwIm5Sc8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9979" y="5045297"/>
            <a:ext cx="400819" cy="559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975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349183"/>
            <a:ext cx="7797862" cy="780782"/>
          </a:xfrm>
        </p:spPr>
        <p:txBody>
          <a:bodyPr>
            <a:normAutofit/>
          </a:bodyPr>
          <a:lstStyle/>
          <a:p>
            <a:r>
              <a:rPr lang="es-CO" sz="2800" dirty="0"/>
              <a:t>Salida</a:t>
            </a:r>
            <a:endParaRPr lang="en-US" sz="2800" dirty="0"/>
          </a:p>
        </p:txBody>
      </p:sp>
      <p:sp>
        <p:nvSpPr>
          <p:cNvPr id="41" name="Flowchart: Data 6"/>
          <p:cNvSpPr/>
          <p:nvPr/>
        </p:nvSpPr>
        <p:spPr>
          <a:xfrm>
            <a:off x="5580112" y="2398859"/>
            <a:ext cx="2295635" cy="434835"/>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“Hola”</a:t>
            </a:r>
          </a:p>
        </p:txBody>
      </p:sp>
      <p:grpSp>
        <p:nvGrpSpPr>
          <p:cNvPr id="42" name="41 Grupo"/>
          <p:cNvGrpSpPr/>
          <p:nvPr/>
        </p:nvGrpSpPr>
        <p:grpSpPr>
          <a:xfrm>
            <a:off x="5076056" y="3903072"/>
            <a:ext cx="1368152" cy="1346020"/>
            <a:chOff x="2771800" y="3965150"/>
            <a:chExt cx="1368152" cy="1346020"/>
          </a:xfrm>
        </p:grpSpPr>
        <p:grpSp>
          <p:nvGrpSpPr>
            <p:cNvPr id="43" name="42 Grupo"/>
            <p:cNvGrpSpPr/>
            <p:nvPr/>
          </p:nvGrpSpPr>
          <p:grpSpPr>
            <a:xfrm>
              <a:off x="2771800" y="3965150"/>
              <a:ext cx="1368152" cy="1336058"/>
              <a:chOff x="2771800" y="3965150"/>
              <a:chExt cx="1368152" cy="1336058"/>
            </a:xfrm>
          </p:grpSpPr>
          <p:cxnSp>
            <p:nvCxnSpPr>
              <p:cNvPr id="51" name="50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51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43 Grupo"/>
            <p:cNvGrpSpPr/>
            <p:nvPr/>
          </p:nvGrpSpPr>
          <p:grpSpPr>
            <a:xfrm>
              <a:off x="2871849" y="3997282"/>
              <a:ext cx="1124087" cy="1313888"/>
              <a:chOff x="2871849" y="3997282"/>
              <a:chExt cx="1124087" cy="1313888"/>
            </a:xfrm>
          </p:grpSpPr>
          <p:grpSp>
            <p:nvGrpSpPr>
              <p:cNvPr id="45" name="44 Grupo"/>
              <p:cNvGrpSpPr/>
              <p:nvPr/>
            </p:nvGrpSpPr>
            <p:grpSpPr>
              <a:xfrm>
                <a:off x="2915816" y="4518573"/>
                <a:ext cx="1080120" cy="576573"/>
                <a:chOff x="2915816" y="4518573"/>
                <a:chExt cx="1080120" cy="576573"/>
              </a:xfrm>
            </p:grpSpPr>
            <p:cxnSp>
              <p:nvCxnSpPr>
                <p:cNvPr id="48" name="47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48 Conector recto"/>
                <p:cNvCxnSpPr/>
                <p:nvPr/>
              </p:nvCxnSpPr>
              <p:spPr>
                <a:xfrm>
                  <a:off x="2915816" y="480711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49 Conector recto"/>
                <p:cNvCxnSpPr/>
                <p:nvPr/>
              </p:nvCxnSpPr>
              <p:spPr>
                <a:xfrm>
                  <a:off x="2915816" y="5095146"/>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45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47" name="46 CuadroTexto"/>
              <p:cNvSpPr txBox="1"/>
              <p:nvPr/>
            </p:nvSpPr>
            <p:spPr>
              <a:xfrm>
                <a:off x="3195227" y="4972616"/>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cxnSp>
        <p:nvCxnSpPr>
          <p:cNvPr id="58" name="57 Conector recto de flecha"/>
          <p:cNvCxnSpPr/>
          <p:nvPr/>
        </p:nvCxnSpPr>
        <p:spPr>
          <a:xfrm>
            <a:off x="6677124" y="4613588"/>
            <a:ext cx="753751" cy="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Flowchart: Data 6"/>
          <p:cNvSpPr/>
          <p:nvPr/>
        </p:nvSpPr>
        <p:spPr>
          <a:xfrm>
            <a:off x="1331640" y="1810011"/>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cxnSp>
        <p:nvCxnSpPr>
          <p:cNvPr id="6" name="5 Conector recto de flecha"/>
          <p:cNvCxnSpPr/>
          <p:nvPr/>
        </p:nvCxnSpPr>
        <p:spPr>
          <a:xfrm>
            <a:off x="2411760" y="3498289"/>
            <a:ext cx="0" cy="576064"/>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Data 6"/>
          <p:cNvSpPr/>
          <p:nvPr/>
        </p:nvSpPr>
        <p:spPr>
          <a:xfrm>
            <a:off x="1331640" y="2853282"/>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a:t>
            </a:r>
          </a:p>
        </p:txBody>
      </p:sp>
      <p:cxnSp>
        <p:nvCxnSpPr>
          <p:cNvPr id="23" name="22 Conector recto de flecha"/>
          <p:cNvCxnSpPr/>
          <p:nvPr/>
        </p:nvCxnSpPr>
        <p:spPr>
          <a:xfrm>
            <a:off x="2386504" y="2314067"/>
            <a:ext cx="0" cy="43204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6" name="35 Grupo"/>
          <p:cNvGrpSpPr/>
          <p:nvPr/>
        </p:nvGrpSpPr>
        <p:grpSpPr>
          <a:xfrm>
            <a:off x="467544" y="3907726"/>
            <a:ext cx="1368152" cy="1341366"/>
            <a:chOff x="2771800" y="3965150"/>
            <a:chExt cx="1368152" cy="1341366"/>
          </a:xfrm>
        </p:grpSpPr>
        <p:grpSp>
          <p:nvGrpSpPr>
            <p:cNvPr id="26" name="25 Grupo"/>
            <p:cNvGrpSpPr/>
            <p:nvPr/>
          </p:nvGrpSpPr>
          <p:grpSpPr>
            <a:xfrm>
              <a:off x="2771800" y="3965150"/>
              <a:ext cx="1368152" cy="1336058"/>
              <a:chOff x="2771800" y="3965150"/>
              <a:chExt cx="1368152" cy="1336058"/>
            </a:xfrm>
          </p:grpSpPr>
          <p:cxnSp>
            <p:nvCxnSpPr>
              <p:cNvPr id="25" name="24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34 Grupo"/>
            <p:cNvGrpSpPr/>
            <p:nvPr/>
          </p:nvGrpSpPr>
          <p:grpSpPr>
            <a:xfrm>
              <a:off x="2871849" y="3997282"/>
              <a:ext cx="1124087" cy="1309234"/>
              <a:chOff x="2871849" y="3997282"/>
              <a:chExt cx="1124087" cy="1309234"/>
            </a:xfrm>
          </p:grpSpPr>
          <p:grpSp>
            <p:nvGrpSpPr>
              <p:cNvPr id="33" name="32 Grupo"/>
              <p:cNvGrpSpPr/>
              <p:nvPr/>
            </p:nvGrpSpPr>
            <p:grpSpPr>
              <a:xfrm>
                <a:off x="2915816" y="4518573"/>
                <a:ext cx="1080120" cy="422595"/>
                <a:chOff x="2915816" y="4518573"/>
                <a:chExt cx="1080120" cy="422595"/>
              </a:xfrm>
            </p:grpSpPr>
            <p:cxnSp>
              <p:nvCxnSpPr>
                <p:cNvPr id="29" name="28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2915816" y="472514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a:off x="2915816" y="4941168"/>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29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34" name="33 CuadroTexto"/>
              <p:cNvSpPr txBox="1"/>
              <p:nvPr/>
            </p:nvSpPr>
            <p:spPr>
              <a:xfrm>
                <a:off x="3195227" y="4967962"/>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38" name="37 Triángulo isósceles"/>
          <p:cNvSpPr/>
          <p:nvPr/>
        </p:nvSpPr>
        <p:spPr>
          <a:xfrm rot="5400000">
            <a:off x="2312487" y="4506401"/>
            <a:ext cx="342561" cy="14401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1" name="60 Rectángulo"/>
          <p:cNvSpPr/>
          <p:nvPr/>
        </p:nvSpPr>
        <p:spPr>
          <a:xfrm>
            <a:off x="1381808" y="1122769"/>
            <a:ext cx="1758815" cy="400110"/>
          </a:xfrm>
          <a:prstGeom prst="rect">
            <a:avLst/>
          </a:prstGeom>
        </p:spPr>
        <p:txBody>
          <a:bodyPr wrap="none">
            <a:spAutoFit/>
          </a:bodyPr>
          <a:lstStyle/>
          <a:p>
            <a:r>
              <a:rPr lang="es-CO" sz="2000" b="1" dirty="0"/>
              <a:t>Entrada</a:t>
            </a:r>
            <a:r>
              <a:rPr lang="es-CO" sz="2000" b="1" dirty="0">
                <a:solidFill>
                  <a:srgbClr val="FF0000"/>
                </a:solidFill>
              </a:rPr>
              <a:t>/Salida</a:t>
            </a:r>
          </a:p>
        </p:txBody>
      </p:sp>
      <p:sp>
        <p:nvSpPr>
          <p:cNvPr id="29697" name="29696 Rectángulo redondeado"/>
          <p:cNvSpPr/>
          <p:nvPr/>
        </p:nvSpPr>
        <p:spPr>
          <a:xfrm>
            <a:off x="179512" y="1072628"/>
            <a:ext cx="4536504" cy="4536504"/>
          </a:xfrm>
          <a:prstGeom prst="roundRect">
            <a:avLst>
              <a:gd name="adj" fmla="val 7429"/>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699" name="29698 Rectángulo"/>
          <p:cNvSpPr/>
          <p:nvPr/>
        </p:nvSpPr>
        <p:spPr>
          <a:xfrm>
            <a:off x="4868598" y="1086626"/>
            <a:ext cx="3007149" cy="861774"/>
          </a:xfrm>
          <a:prstGeom prst="rect">
            <a:avLst/>
          </a:prstGeom>
        </p:spPr>
        <p:txBody>
          <a:bodyPr wrap="square">
            <a:spAutoFit/>
          </a:bodyPr>
          <a:lstStyle/>
          <a:p>
            <a:r>
              <a:rPr lang="es-CO" b="1" dirty="0">
                <a:solidFill>
                  <a:srgbClr val="FF0000"/>
                </a:solidFill>
              </a:rPr>
              <a:t>Ejemplo</a:t>
            </a:r>
            <a:r>
              <a:rPr lang="es-CO" dirty="0">
                <a:solidFill>
                  <a:srgbClr val="FF0000"/>
                </a:solidFill>
              </a:rPr>
              <a:t>:</a:t>
            </a:r>
          </a:p>
          <a:p>
            <a:r>
              <a:rPr lang="es-CO" sz="1600" dirty="0"/>
              <a:t>Dado el siguiente bloque cual seria su efecto:</a:t>
            </a:r>
            <a:endParaRPr lang="es-CO" dirty="0"/>
          </a:p>
        </p:txBody>
      </p:sp>
      <p:sp>
        <p:nvSpPr>
          <p:cNvPr id="29700" name="29699 Rectángulo"/>
          <p:cNvSpPr/>
          <p:nvPr/>
        </p:nvSpPr>
        <p:spPr>
          <a:xfrm>
            <a:off x="5004048" y="3122235"/>
            <a:ext cx="1058303" cy="369332"/>
          </a:xfrm>
          <a:prstGeom prst="rect">
            <a:avLst/>
          </a:prstGeom>
        </p:spPr>
        <p:txBody>
          <a:bodyPr wrap="none">
            <a:spAutoFit/>
          </a:bodyPr>
          <a:lstStyle/>
          <a:p>
            <a:r>
              <a:rPr lang="es-CO" b="1" dirty="0">
                <a:solidFill>
                  <a:srgbClr val="FF0000"/>
                </a:solidFill>
              </a:rPr>
              <a:t>Solución</a:t>
            </a:r>
            <a:r>
              <a:rPr lang="es-CO" dirty="0">
                <a:solidFill>
                  <a:srgbClr val="FF0000"/>
                </a:solidFill>
              </a:rPr>
              <a:t>:</a:t>
            </a:r>
          </a:p>
        </p:txBody>
      </p:sp>
      <p:pic>
        <p:nvPicPr>
          <p:cNvPr id="31746" name="Picture 2" descr="http://t2.gstatic.com/images?q=tbn:ANd9GcS51PGLkp34nPs-LewfkgAfjdZsyder21fNGFoRiZ_A6x7txo3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4634" y="3990784"/>
            <a:ext cx="1534365" cy="1258308"/>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http://t2.gstatic.com/images?q=tbn:ANd9GcS51PGLkp34nPs-LewfkgAfjdZsyder21fNGFoRiZ_A6x7txo3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336" y="4104481"/>
            <a:ext cx="1453655" cy="1192119"/>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7977374" y="4395270"/>
            <a:ext cx="633507" cy="338554"/>
          </a:xfrm>
          <a:prstGeom prst="rect">
            <a:avLst/>
          </a:prstGeom>
        </p:spPr>
        <p:txBody>
          <a:bodyPr wrap="none">
            <a:spAutoFit/>
          </a:bodyPr>
          <a:lstStyle/>
          <a:p>
            <a:r>
              <a:rPr lang="es-CO" sz="1600" dirty="0">
                <a:solidFill>
                  <a:srgbClr val="FF0000"/>
                </a:solidFill>
                <a:latin typeface="Consolas" panose="020B0609020204030204" pitchFamily="49" charset="0"/>
                <a:cs typeface="Consolas" panose="020B0609020204030204" pitchFamily="49" charset="0"/>
              </a:rPr>
              <a:t>Hola</a:t>
            </a:r>
            <a:endParaRPr lang="es-CO" dirty="0">
              <a:solidFill>
                <a:srgbClr val="FF0000"/>
              </a:solidFill>
            </a:endParaRPr>
          </a:p>
        </p:txBody>
      </p:sp>
    </p:spTree>
    <p:extLst>
      <p:ext uri="{BB962C8B-B14F-4D97-AF65-F5344CB8AC3E}">
        <p14:creationId xmlns:p14="http://schemas.microsoft.com/office/powerpoint/2010/main" val="164269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22 Conector recto de flecha"/>
          <p:cNvCxnSpPr>
            <a:cxnSpLocks/>
          </p:cNvCxnSpPr>
          <p:nvPr/>
        </p:nvCxnSpPr>
        <p:spPr>
          <a:xfrm flipH="1">
            <a:off x="2483768" y="1655332"/>
            <a:ext cx="1224136" cy="791402"/>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Flowchart: Process 7"/>
          <p:cNvSpPr/>
          <p:nvPr/>
        </p:nvSpPr>
        <p:spPr>
          <a:xfrm>
            <a:off x="3785236" y="1350532"/>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Process</a:t>
            </a:r>
          </a:p>
        </p:txBody>
      </p:sp>
      <p:cxnSp>
        <p:nvCxnSpPr>
          <p:cNvPr id="53" name="52 Conector recto de flecha"/>
          <p:cNvCxnSpPr>
            <a:cxnSpLocks/>
          </p:cNvCxnSpPr>
          <p:nvPr/>
        </p:nvCxnSpPr>
        <p:spPr>
          <a:xfrm>
            <a:off x="4946255" y="1632164"/>
            <a:ext cx="1353937" cy="73903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54 Rectángulo"/>
          <p:cNvSpPr/>
          <p:nvPr/>
        </p:nvSpPr>
        <p:spPr>
          <a:xfrm>
            <a:off x="1296666" y="2468280"/>
            <a:ext cx="2411238" cy="338554"/>
          </a:xfrm>
          <a:prstGeom prst="rect">
            <a:avLst/>
          </a:prstGeom>
        </p:spPr>
        <p:txBody>
          <a:bodyPr wrap="none">
            <a:spAutoFit/>
          </a:bodyPr>
          <a:lstStyle/>
          <a:p>
            <a:r>
              <a:rPr lang="es-CO" sz="1600" b="1" dirty="0">
                <a:solidFill>
                  <a:srgbClr val="FF0000"/>
                </a:solidFill>
                <a:latin typeface="Century Gothic" panose="020B0502020202020204" pitchFamily="34" charset="0"/>
              </a:rPr>
              <a:t>Asignación de valores</a:t>
            </a:r>
            <a:endParaRPr lang="es-CO" sz="1600" dirty="0">
              <a:solidFill>
                <a:srgbClr val="FF0000"/>
              </a:solidFill>
              <a:latin typeface="Century Gothic" panose="020B0502020202020204" pitchFamily="34" charset="0"/>
            </a:endParaRPr>
          </a:p>
        </p:txBody>
      </p:sp>
      <p:sp>
        <p:nvSpPr>
          <p:cNvPr id="56" name="55 Rectángulo"/>
          <p:cNvSpPr/>
          <p:nvPr/>
        </p:nvSpPr>
        <p:spPr>
          <a:xfrm>
            <a:off x="4617637" y="2457880"/>
            <a:ext cx="3365110" cy="584775"/>
          </a:xfrm>
          <a:prstGeom prst="rect">
            <a:avLst/>
          </a:prstGeom>
        </p:spPr>
        <p:txBody>
          <a:bodyPr wrap="square">
            <a:spAutoFit/>
          </a:bodyPr>
          <a:lstStyle/>
          <a:p>
            <a:pPr algn="ctr"/>
            <a:r>
              <a:rPr lang="es-CO" sz="1600" b="1" dirty="0">
                <a:solidFill>
                  <a:srgbClr val="FF0000"/>
                </a:solidFill>
                <a:latin typeface="Century Gothic" panose="020B0502020202020204" pitchFamily="34" charset="0"/>
              </a:rPr>
              <a:t>Procesamiento de datos (Operaciones)</a:t>
            </a:r>
            <a:endParaRPr lang="es-CO" sz="1600" dirty="0">
              <a:solidFill>
                <a:srgbClr val="FF0000"/>
              </a:solidFill>
              <a:latin typeface="Century Gothic" panose="020B0502020202020204" pitchFamily="34" charset="0"/>
            </a:endParaRPr>
          </a:p>
        </p:txBody>
      </p:sp>
      <p:cxnSp>
        <p:nvCxnSpPr>
          <p:cNvPr id="57" name="56 Conector recto de flecha"/>
          <p:cNvCxnSpPr/>
          <p:nvPr/>
        </p:nvCxnSpPr>
        <p:spPr>
          <a:xfrm flipH="1">
            <a:off x="1660934" y="2836292"/>
            <a:ext cx="546100" cy="4826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58 Rectángulo"/>
          <p:cNvSpPr/>
          <p:nvPr/>
        </p:nvSpPr>
        <p:spPr>
          <a:xfrm>
            <a:off x="1066689" y="3356992"/>
            <a:ext cx="1292341" cy="338554"/>
          </a:xfrm>
          <a:prstGeom prst="rect">
            <a:avLst/>
          </a:prstGeom>
        </p:spPr>
        <p:txBody>
          <a:bodyPr wrap="none">
            <a:spAutoFit/>
          </a:bodyPr>
          <a:lstStyle/>
          <a:p>
            <a:r>
              <a:rPr lang="es-CO" sz="1600" b="1" dirty="0">
                <a:solidFill>
                  <a:srgbClr val="FF0000"/>
                </a:solidFill>
                <a:latin typeface="Century Gothic" panose="020B0502020202020204" pitchFamily="34" charset="0"/>
              </a:rPr>
              <a:t>Constantes</a:t>
            </a:r>
            <a:endParaRPr lang="es-CO" sz="1400" dirty="0">
              <a:solidFill>
                <a:srgbClr val="FF0000"/>
              </a:solidFill>
              <a:latin typeface="Century Gothic" panose="020B0502020202020204" pitchFamily="34" charset="0"/>
            </a:endParaRPr>
          </a:p>
        </p:txBody>
      </p:sp>
      <p:sp>
        <p:nvSpPr>
          <p:cNvPr id="60" name="59 Rectángulo"/>
          <p:cNvSpPr/>
          <p:nvPr/>
        </p:nvSpPr>
        <p:spPr>
          <a:xfrm>
            <a:off x="2743594" y="3338528"/>
            <a:ext cx="1124026" cy="338554"/>
          </a:xfrm>
          <a:prstGeom prst="rect">
            <a:avLst/>
          </a:prstGeom>
        </p:spPr>
        <p:txBody>
          <a:bodyPr wrap="none">
            <a:spAutoFit/>
          </a:bodyPr>
          <a:lstStyle/>
          <a:p>
            <a:r>
              <a:rPr lang="es-CO" sz="1600" b="1" dirty="0">
                <a:solidFill>
                  <a:srgbClr val="FF0000"/>
                </a:solidFill>
                <a:latin typeface="Century Gothic" panose="020B0502020202020204" pitchFamily="34" charset="0"/>
              </a:rPr>
              <a:t>Variables</a:t>
            </a:r>
            <a:endParaRPr lang="es-CO" sz="1400" dirty="0">
              <a:solidFill>
                <a:srgbClr val="FF0000"/>
              </a:solidFill>
              <a:latin typeface="Century Gothic" panose="020B0502020202020204" pitchFamily="34" charset="0"/>
            </a:endParaRPr>
          </a:p>
        </p:txBody>
      </p:sp>
      <p:cxnSp>
        <p:nvCxnSpPr>
          <p:cNvPr id="65" name="64 Conector recto de flecha"/>
          <p:cNvCxnSpPr/>
          <p:nvPr/>
        </p:nvCxnSpPr>
        <p:spPr>
          <a:xfrm>
            <a:off x="2699172" y="2836292"/>
            <a:ext cx="546100" cy="4826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Flowchart: Process 7"/>
          <p:cNvSpPr/>
          <p:nvPr/>
        </p:nvSpPr>
        <p:spPr>
          <a:xfrm>
            <a:off x="1154372" y="3702241"/>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a </a:t>
            </a:r>
            <a:r>
              <a:rPr lang="en-US" sz="1400" dirty="0">
                <a:latin typeface="Consolas" panose="020B0609020204030204" pitchFamily="49" charset="0"/>
                <a:sym typeface="Wingdings" panose="05000000000000000000" pitchFamily="2" charset="2"/>
              </a:rPr>
              <a:t> 3</a:t>
            </a:r>
            <a:r>
              <a:rPr lang="en-US" sz="1400" dirty="0">
                <a:latin typeface="Consolas" panose="020B0609020204030204" pitchFamily="49" charset="0"/>
              </a:rPr>
              <a:t> </a:t>
            </a:r>
          </a:p>
        </p:txBody>
      </p:sp>
      <p:grpSp>
        <p:nvGrpSpPr>
          <p:cNvPr id="67" name="66 Grupo"/>
          <p:cNvGrpSpPr/>
          <p:nvPr/>
        </p:nvGrpSpPr>
        <p:grpSpPr>
          <a:xfrm>
            <a:off x="1134309" y="4821978"/>
            <a:ext cx="1224136" cy="1343326"/>
            <a:chOff x="2771800" y="3957882"/>
            <a:chExt cx="1224136" cy="1343326"/>
          </a:xfrm>
        </p:grpSpPr>
        <p:grpSp>
          <p:nvGrpSpPr>
            <p:cNvPr id="68" name="67 Grupo"/>
            <p:cNvGrpSpPr/>
            <p:nvPr/>
          </p:nvGrpSpPr>
          <p:grpSpPr>
            <a:xfrm>
              <a:off x="2771800" y="3957882"/>
              <a:ext cx="1224136" cy="1343326"/>
              <a:chOff x="2771800" y="3957882"/>
              <a:chExt cx="1224136" cy="1343326"/>
            </a:xfrm>
          </p:grpSpPr>
          <p:cxnSp>
            <p:nvCxnSpPr>
              <p:cNvPr id="76" name="75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76 Conector recto"/>
              <p:cNvCxnSpPr/>
              <p:nvPr/>
            </p:nvCxnSpPr>
            <p:spPr>
              <a:xfrm>
                <a:off x="3995936" y="3957882"/>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68 Grupo"/>
            <p:cNvGrpSpPr/>
            <p:nvPr/>
          </p:nvGrpSpPr>
          <p:grpSpPr>
            <a:xfrm>
              <a:off x="2871849" y="3997282"/>
              <a:ext cx="979755" cy="1257199"/>
              <a:chOff x="2871849" y="3997282"/>
              <a:chExt cx="979755" cy="1257199"/>
            </a:xfrm>
          </p:grpSpPr>
          <p:cxnSp>
            <p:nvCxnSpPr>
              <p:cNvPr id="73" name="72 Conector recto"/>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70 CuadroTexto"/>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72" name="71 CuadroTexto"/>
              <p:cNvSpPr txBox="1"/>
              <p:nvPr/>
            </p:nvSpPr>
            <p:spPr>
              <a:xfrm>
                <a:off x="3119841" y="4915927"/>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78" name="77 Rectángulo"/>
          <p:cNvSpPr/>
          <p:nvPr/>
        </p:nvSpPr>
        <p:spPr>
          <a:xfrm>
            <a:off x="1260860" y="5272113"/>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a</a:t>
            </a:r>
            <a:endParaRPr lang="es-CO" dirty="0"/>
          </a:p>
        </p:txBody>
      </p:sp>
      <p:sp>
        <p:nvSpPr>
          <p:cNvPr id="79" name="78 Rectángulo"/>
          <p:cNvSpPr/>
          <p:nvPr/>
        </p:nvSpPr>
        <p:spPr>
          <a:xfrm>
            <a:off x="1567601" y="5326167"/>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0" name="79 Conector recto"/>
          <p:cNvCxnSpPr/>
          <p:nvPr/>
        </p:nvCxnSpPr>
        <p:spPr>
          <a:xfrm>
            <a:off x="1246486" y="5668142"/>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80 Conector recto"/>
          <p:cNvCxnSpPr/>
          <p:nvPr/>
        </p:nvCxnSpPr>
        <p:spPr>
          <a:xfrm>
            <a:off x="1246486" y="5890270"/>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81 Rectángulo"/>
          <p:cNvSpPr/>
          <p:nvPr/>
        </p:nvSpPr>
        <p:spPr>
          <a:xfrm>
            <a:off x="1642316" y="5262861"/>
            <a:ext cx="298480" cy="338554"/>
          </a:xfrm>
          <a:prstGeom prst="rect">
            <a:avLst/>
          </a:prstGeom>
        </p:spPr>
        <p:txBody>
          <a:bodyPr wrap="none">
            <a:spAutoFit/>
          </a:bodyPr>
          <a:lstStyle/>
          <a:p>
            <a:r>
              <a:rPr lang="es-CO" sz="1600" dirty="0">
                <a:solidFill>
                  <a:srgbClr val="FF0000"/>
                </a:solidFill>
              </a:rPr>
              <a:t>3</a:t>
            </a:r>
          </a:p>
        </p:txBody>
      </p:sp>
      <p:sp>
        <p:nvSpPr>
          <p:cNvPr id="83" name="Flowchart: Process 7"/>
          <p:cNvSpPr/>
          <p:nvPr/>
        </p:nvSpPr>
        <p:spPr>
          <a:xfrm>
            <a:off x="2797236" y="3698176"/>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b </a:t>
            </a:r>
            <a:r>
              <a:rPr lang="en-US" sz="1400" dirty="0">
                <a:latin typeface="Consolas" panose="020B0609020204030204" pitchFamily="49" charset="0"/>
                <a:sym typeface="Wingdings" panose="05000000000000000000" pitchFamily="2" charset="2"/>
              </a:rPr>
              <a:t> a</a:t>
            </a:r>
            <a:r>
              <a:rPr lang="en-US" sz="1400" dirty="0">
                <a:latin typeface="Consolas" panose="020B0609020204030204" pitchFamily="49" charset="0"/>
              </a:rPr>
              <a:t> </a:t>
            </a:r>
          </a:p>
        </p:txBody>
      </p:sp>
      <p:sp>
        <p:nvSpPr>
          <p:cNvPr id="24" name="23 Rectángulo"/>
          <p:cNvSpPr/>
          <p:nvPr/>
        </p:nvSpPr>
        <p:spPr>
          <a:xfrm>
            <a:off x="2544662" y="4307776"/>
            <a:ext cx="1620834" cy="430887"/>
          </a:xfrm>
          <a:prstGeom prst="rect">
            <a:avLst/>
          </a:prstGeom>
        </p:spPr>
        <p:txBody>
          <a:bodyPr wrap="square">
            <a:spAutoFit/>
          </a:bodyPr>
          <a:lstStyle/>
          <a:p>
            <a:pPr algn="just"/>
            <a:r>
              <a:rPr lang="es-CO" sz="1100" dirty="0">
                <a:latin typeface="Century Gothic" panose="020B0502020202020204" pitchFamily="34" charset="0"/>
              </a:rPr>
              <a:t>Suponiendo que </a:t>
            </a:r>
            <a:r>
              <a:rPr lang="es-CO" sz="1100" b="1" dirty="0">
                <a:latin typeface="Century Gothic" panose="020B0502020202020204" pitchFamily="34" charset="0"/>
              </a:rPr>
              <a:t>a </a:t>
            </a:r>
            <a:r>
              <a:rPr lang="es-CO" sz="1100" dirty="0">
                <a:latin typeface="Century Gothic" panose="020B0502020202020204" pitchFamily="34" charset="0"/>
              </a:rPr>
              <a:t>ya existe y vale </a:t>
            </a:r>
            <a:r>
              <a:rPr lang="es-CO" sz="1100" b="1" dirty="0">
                <a:latin typeface="Century Gothic" panose="020B0502020202020204" pitchFamily="34" charset="0"/>
              </a:rPr>
              <a:t>4</a:t>
            </a:r>
          </a:p>
        </p:txBody>
      </p:sp>
      <p:grpSp>
        <p:nvGrpSpPr>
          <p:cNvPr id="86" name="85 Grupo"/>
          <p:cNvGrpSpPr/>
          <p:nvPr/>
        </p:nvGrpSpPr>
        <p:grpSpPr>
          <a:xfrm>
            <a:off x="2759507" y="4806904"/>
            <a:ext cx="1224136" cy="1430408"/>
            <a:chOff x="2771800" y="3957882"/>
            <a:chExt cx="1224136" cy="1430408"/>
          </a:xfrm>
        </p:grpSpPr>
        <p:grpSp>
          <p:nvGrpSpPr>
            <p:cNvPr id="92" name="91 Grupo"/>
            <p:cNvGrpSpPr/>
            <p:nvPr/>
          </p:nvGrpSpPr>
          <p:grpSpPr>
            <a:xfrm>
              <a:off x="2771800" y="3957882"/>
              <a:ext cx="1224136" cy="1343326"/>
              <a:chOff x="2771800" y="3957882"/>
              <a:chExt cx="1224136" cy="1343326"/>
            </a:xfrm>
          </p:grpSpPr>
          <p:cxnSp>
            <p:nvCxnSpPr>
              <p:cNvPr id="97" name="96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97 Conector recto"/>
              <p:cNvCxnSpPr/>
              <p:nvPr/>
            </p:nvCxnSpPr>
            <p:spPr>
              <a:xfrm>
                <a:off x="3995936" y="3957882"/>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92 Grupo"/>
            <p:cNvGrpSpPr/>
            <p:nvPr/>
          </p:nvGrpSpPr>
          <p:grpSpPr>
            <a:xfrm>
              <a:off x="2871849" y="3997282"/>
              <a:ext cx="979755" cy="1391008"/>
              <a:chOff x="2871849" y="3997282"/>
              <a:chExt cx="979755" cy="1391008"/>
            </a:xfrm>
          </p:grpSpPr>
          <p:cxnSp>
            <p:nvCxnSpPr>
              <p:cNvPr id="94" name="93 Conector recto"/>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94 CuadroTexto"/>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96" name="95 CuadroTexto"/>
              <p:cNvSpPr txBox="1"/>
              <p:nvPr/>
            </p:nvSpPr>
            <p:spPr>
              <a:xfrm>
                <a:off x="3119841" y="5049736"/>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87" name="86 Rectángulo"/>
          <p:cNvSpPr/>
          <p:nvPr/>
        </p:nvSpPr>
        <p:spPr>
          <a:xfrm>
            <a:off x="2886058" y="5257039"/>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a</a:t>
            </a:r>
            <a:endParaRPr lang="es-CO" dirty="0"/>
          </a:p>
        </p:txBody>
      </p:sp>
      <p:sp>
        <p:nvSpPr>
          <p:cNvPr id="88" name="87 Rectángulo"/>
          <p:cNvSpPr/>
          <p:nvPr/>
        </p:nvSpPr>
        <p:spPr>
          <a:xfrm>
            <a:off x="3192799" y="5311093"/>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0" name="89 Conector recto"/>
          <p:cNvCxnSpPr/>
          <p:nvPr/>
        </p:nvCxnSpPr>
        <p:spPr>
          <a:xfrm>
            <a:off x="2871684" y="6021288"/>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90 Rectángulo"/>
          <p:cNvSpPr/>
          <p:nvPr/>
        </p:nvSpPr>
        <p:spPr>
          <a:xfrm>
            <a:off x="3267514" y="5247787"/>
            <a:ext cx="298480" cy="338554"/>
          </a:xfrm>
          <a:prstGeom prst="rect">
            <a:avLst/>
          </a:prstGeom>
        </p:spPr>
        <p:txBody>
          <a:bodyPr wrap="none">
            <a:spAutoFit/>
          </a:bodyPr>
          <a:lstStyle/>
          <a:p>
            <a:r>
              <a:rPr lang="es-CO" sz="1600" dirty="0"/>
              <a:t>4</a:t>
            </a:r>
          </a:p>
        </p:txBody>
      </p:sp>
      <p:sp>
        <p:nvSpPr>
          <p:cNvPr id="99" name="98 Rectángulo"/>
          <p:cNvSpPr/>
          <p:nvPr/>
        </p:nvSpPr>
        <p:spPr>
          <a:xfrm>
            <a:off x="2888294" y="5610726"/>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b</a:t>
            </a:r>
            <a:endParaRPr lang="es-CO" dirty="0"/>
          </a:p>
        </p:txBody>
      </p:sp>
      <p:sp>
        <p:nvSpPr>
          <p:cNvPr id="100" name="99 Rectángulo"/>
          <p:cNvSpPr/>
          <p:nvPr/>
        </p:nvSpPr>
        <p:spPr>
          <a:xfrm>
            <a:off x="3195035" y="5664780"/>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1" name="100 Rectángulo"/>
          <p:cNvSpPr/>
          <p:nvPr/>
        </p:nvSpPr>
        <p:spPr>
          <a:xfrm>
            <a:off x="3267514" y="5612492"/>
            <a:ext cx="298480" cy="338554"/>
          </a:xfrm>
          <a:prstGeom prst="rect">
            <a:avLst/>
          </a:prstGeom>
        </p:spPr>
        <p:txBody>
          <a:bodyPr wrap="none">
            <a:spAutoFit/>
          </a:bodyPr>
          <a:lstStyle/>
          <a:p>
            <a:r>
              <a:rPr lang="es-CO" sz="1600" dirty="0">
                <a:solidFill>
                  <a:srgbClr val="FF0000"/>
                </a:solidFill>
              </a:rPr>
              <a:t>4</a:t>
            </a:r>
          </a:p>
        </p:txBody>
      </p:sp>
      <p:sp>
        <p:nvSpPr>
          <p:cNvPr id="124" name="Flowchart: Process 7"/>
          <p:cNvSpPr/>
          <p:nvPr/>
        </p:nvSpPr>
        <p:spPr>
          <a:xfrm>
            <a:off x="5837166" y="3157319"/>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z </a:t>
            </a:r>
            <a:r>
              <a:rPr lang="en-US" sz="1400" dirty="0">
                <a:latin typeface="Consolas" panose="020B0609020204030204" pitchFamily="49" charset="0"/>
                <a:sym typeface="Wingdings" panose="05000000000000000000" pitchFamily="2" charset="2"/>
              </a:rPr>
              <a:t>x + y</a:t>
            </a:r>
            <a:r>
              <a:rPr lang="en-US" sz="1400" dirty="0">
                <a:latin typeface="Consolas" panose="020B0609020204030204" pitchFamily="49" charset="0"/>
              </a:rPr>
              <a:t> </a:t>
            </a:r>
          </a:p>
        </p:txBody>
      </p:sp>
      <p:sp>
        <p:nvSpPr>
          <p:cNvPr id="125" name="124 Rectángulo"/>
          <p:cNvSpPr/>
          <p:nvPr/>
        </p:nvSpPr>
        <p:spPr>
          <a:xfrm>
            <a:off x="5029205" y="3948981"/>
            <a:ext cx="2585535" cy="430887"/>
          </a:xfrm>
          <a:prstGeom prst="rect">
            <a:avLst/>
          </a:prstGeom>
        </p:spPr>
        <p:txBody>
          <a:bodyPr wrap="square">
            <a:spAutoFit/>
          </a:bodyPr>
          <a:lstStyle/>
          <a:p>
            <a:pPr algn="just"/>
            <a:r>
              <a:rPr lang="es-CO" sz="1100" dirty="0">
                <a:latin typeface="Century Gothic" panose="020B0502020202020204" pitchFamily="34" charset="0"/>
              </a:rPr>
              <a:t>Suponiendo que </a:t>
            </a:r>
            <a:r>
              <a:rPr lang="es-CO" sz="1100" b="1" dirty="0">
                <a:latin typeface="Century Gothic" panose="020B0502020202020204" pitchFamily="34" charset="0"/>
              </a:rPr>
              <a:t>x</a:t>
            </a:r>
            <a:r>
              <a:rPr lang="es-CO" sz="1100" dirty="0">
                <a:latin typeface="Century Gothic" panose="020B0502020202020204" pitchFamily="34" charset="0"/>
              </a:rPr>
              <a:t> e </a:t>
            </a:r>
            <a:r>
              <a:rPr lang="es-CO" sz="1100" b="1" dirty="0">
                <a:latin typeface="Century Gothic" panose="020B0502020202020204" pitchFamily="34" charset="0"/>
              </a:rPr>
              <a:t>y</a:t>
            </a:r>
            <a:r>
              <a:rPr lang="es-CO" sz="1100" dirty="0">
                <a:latin typeface="Century Gothic" panose="020B0502020202020204" pitchFamily="34" charset="0"/>
              </a:rPr>
              <a:t> existen y que sus valores son </a:t>
            </a:r>
            <a:r>
              <a:rPr lang="es-CO" sz="1100" b="1" dirty="0">
                <a:latin typeface="Century Gothic" panose="020B0502020202020204" pitchFamily="34" charset="0"/>
              </a:rPr>
              <a:t>4</a:t>
            </a:r>
            <a:r>
              <a:rPr lang="es-CO" sz="1100" dirty="0">
                <a:latin typeface="Century Gothic" panose="020B0502020202020204" pitchFamily="34" charset="0"/>
              </a:rPr>
              <a:t> y </a:t>
            </a:r>
            <a:r>
              <a:rPr lang="es-CO" sz="1100" b="1" dirty="0">
                <a:latin typeface="Century Gothic" panose="020B0502020202020204" pitchFamily="34" charset="0"/>
              </a:rPr>
              <a:t>-6</a:t>
            </a:r>
            <a:r>
              <a:rPr lang="es-CO" sz="1100" dirty="0">
                <a:latin typeface="Century Gothic" panose="020B0502020202020204" pitchFamily="34" charset="0"/>
              </a:rPr>
              <a:t>.</a:t>
            </a:r>
          </a:p>
        </p:txBody>
      </p:sp>
      <p:grpSp>
        <p:nvGrpSpPr>
          <p:cNvPr id="126" name="125 Grupo"/>
          <p:cNvGrpSpPr/>
          <p:nvPr/>
        </p:nvGrpSpPr>
        <p:grpSpPr>
          <a:xfrm>
            <a:off x="5758498" y="4543120"/>
            <a:ext cx="1224136" cy="1627793"/>
            <a:chOff x="2771800" y="3957882"/>
            <a:chExt cx="1224136" cy="1627793"/>
          </a:xfrm>
        </p:grpSpPr>
        <p:grpSp>
          <p:nvGrpSpPr>
            <p:cNvPr id="127" name="126 Grupo"/>
            <p:cNvGrpSpPr/>
            <p:nvPr/>
          </p:nvGrpSpPr>
          <p:grpSpPr>
            <a:xfrm>
              <a:off x="2771800" y="3957882"/>
              <a:ext cx="1224136" cy="1627793"/>
              <a:chOff x="2771800" y="3957882"/>
              <a:chExt cx="1224136" cy="1627793"/>
            </a:xfrm>
          </p:grpSpPr>
          <p:cxnSp>
            <p:nvCxnSpPr>
              <p:cNvPr id="132" name="131 Conector recto"/>
              <p:cNvCxnSpPr/>
              <p:nvPr/>
            </p:nvCxnSpPr>
            <p:spPr>
              <a:xfrm>
                <a:off x="2771800" y="3965150"/>
                <a:ext cx="0" cy="162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132 Conector recto"/>
              <p:cNvCxnSpPr/>
              <p:nvPr/>
            </p:nvCxnSpPr>
            <p:spPr>
              <a:xfrm>
                <a:off x="3995936" y="3957882"/>
                <a:ext cx="0" cy="16260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8" name="127 Grupo"/>
            <p:cNvGrpSpPr/>
            <p:nvPr/>
          </p:nvGrpSpPr>
          <p:grpSpPr>
            <a:xfrm>
              <a:off x="2871849" y="3997282"/>
              <a:ext cx="979755" cy="1586627"/>
              <a:chOff x="2871849" y="3997282"/>
              <a:chExt cx="979755" cy="1586627"/>
            </a:xfrm>
          </p:grpSpPr>
          <p:cxnSp>
            <p:nvCxnSpPr>
              <p:cNvPr id="129" name="128 Conector recto"/>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129 CuadroTexto"/>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131" name="130 CuadroTexto"/>
              <p:cNvSpPr txBox="1"/>
              <p:nvPr/>
            </p:nvSpPr>
            <p:spPr>
              <a:xfrm>
                <a:off x="3119841" y="5245355"/>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134" name="133 Rectángulo"/>
          <p:cNvSpPr/>
          <p:nvPr/>
        </p:nvSpPr>
        <p:spPr>
          <a:xfrm>
            <a:off x="5900373" y="5017019"/>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x</a:t>
            </a:r>
            <a:endParaRPr lang="es-CO" dirty="0"/>
          </a:p>
        </p:txBody>
      </p:sp>
      <p:sp>
        <p:nvSpPr>
          <p:cNvPr id="135" name="134 Rectángulo"/>
          <p:cNvSpPr/>
          <p:nvPr/>
        </p:nvSpPr>
        <p:spPr>
          <a:xfrm>
            <a:off x="6207114" y="5071073"/>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6" name="135 Rectángulo"/>
          <p:cNvSpPr/>
          <p:nvPr/>
        </p:nvSpPr>
        <p:spPr>
          <a:xfrm>
            <a:off x="5900373" y="5326537"/>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y</a:t>
            </a:r>
            <a:endParaRPr lang="es-CO" dirty="0"/>
          </a:p>
        </p:txBody>
      </p:sp>
      <p:sp>
        <p:nvSpPr>
          <p:cNvPr id="137" name="136 Rectángulo"/>
          <p:cNvSpPr/>
          <p:nvPr/>
        </p:nvSpPr>
        <p:spPr>
          <a:xfrm>
            <a:off x="6207114" y="5380591"/>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0" name="139 Rectángulo"/>
          <p:cNvSpPr/>
          <p:nvPr/>
        </p:nvSpPr>
        <p:spPr>
          <a:xfrm>
            <a:off x="5900373" y="5614569"/>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z</a:t>
            </a:r>
            <a:endParaRPr lang="es-CO" dirty="0"/>
          </a:p>
        </p:txBody>
      </p:sp>
      <p:sp>
        <p:nvSpPr>
          <p:cNvPr id="141" name="140 Rectángulo"/>
          <p:cNvSpPr/>
          <p:nvPr/>
        </p:nvSpPr>
        <p:spPr>
          <a:xfrm>
            <a:off x="6207114" y="5668623"/>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2" name="141 Rectángulo"/>
          <p:cNvSpPr/>
          <p:nvPr/>
        </p:nvSpPr>
        <p:spPr>
          <a:xfrm>
            <a:off x="6321973" y="5017019"/>
            <a:ext cx="298480" cy="338554"/>
          </a:xfrm>
          <a:prstGeom prst="rect">
            <a:avLst/>
          </a:prstGeom>
        </p:spPr>
        <p:txBody>
          <a:bodyPr wrap="none">
            <a:spAutoFit/>
          </a:bodyPr>
          <a:lstStyle/>
          <a:p>
            <a:r>
              <a:rPr lang="es-CO" sz="1600" dirty="0"/>
              <a:t>4</a:t>
            </a:r>
          </a:p>
        </p:txBody>
      </p:sp>
      <p:sp>
        <p:nvSpPr>
          <p:cNvPr id="143" name="142 Rectángulo"/>
          <p:cNvSpPr/>
          <p:nvPr/>
        </p:nvSpPr>
        <p:spPr>
          <a:xfrm>
            <a:off x="6260413" y="5305051"/>
            <a:ext cx="367408" cy="338554"/>
          </a:xfrm>
          <a:prstGeom prst="rect">
            <a:avLst/>
          </a:prstGeom>
        </p:spPr>
        <p:txBody>
          <a:bodyPr wrap="none">
            <a:spAutoFit/>
          </a:bodyPr>
          <a:lstStyle/>
          <a:p>
            <a:r>
              <a:rPr lang="es-CO" sz="1600" dirty="0"/>
              <a:t>-6</a:t>
            </a:r>
          </a:p>
        </p:txBody>
      </p:sp>
      <p:sp>
        <p:nvSpPr>
          <p:cNvPr id="144" name="143 Rectángulo"/>
          <p:cNvSpPr/>
          <p:nvPr/>
        </p:nvSpPr>
        <p:spPr>
          <a:xfrm>
            <a:off x="6260413" y="5614569"/>
            <a:ext cx="351378" cy="338554"/>
          </a:xfrm>
          <a:prstGeom prst="rect">
            <a:avLst/>
          </a:prstGeom>
        </p:spPr>
        <p:txBody>
          <a:bodyPr wrap="none">
            <a:spAutoFit/>
          </a:bodyPr>
          <a:lstStyle/>
          <a:p>
            <a:r>
              <a:rPr lang="es-CO" sz="1600" dirty="0">
                <a:solidFill>
                  <a:srgbClr val="FF0000"/>
                </a:solidFill>
              </a:rPr>
              <a:t>-2</a:t>
            </a:r>
          </a:p>
        </p:txBody>
      </p:sp>
      <p:sp>
        <p:nvSpPr>
          <p:cNvPr id="89" name="Title 4">
            <a:extLst>
              <a:ext uri="{FF2B5EF4-FFF2-40B4-BE49-F238E27FC236}">
                <a16:creationId xmlns:a16="http://schemas.microsoft.com/office/drawing/2014/main" id="{DB5C92FC-0D96-42FF-BC94-802405A67B61}"/>
              </a:ext>
            </a:extLst>
          </p:cNvPr>
          <p:cNvSpPr>
            <a:spLocks noGrp="1"/>
          </p:cNvSpPr>
          <p:nvPr>
            <p:ph type="title"/>
          </p:nvPr>
        </p:nvSpPr>
        <p:spPr>
          <a:xfrm>
            <a:off x="96047" y="412388"/>
            <a:ext cx="7886700" cy="780782"/>
          </a:xfrm>
        </p:spPr>
        <p:txBody>
          <a:bodyPr>
            <a:normAutofit/>
          </a:bodyPr>
          <a:lstStyle/>
          <a:p>
            <a:r>
              <a:rPr lang="es-CO" sz="2800" dirty="0"/>
              <a:t>Proceso</a:t>
            </a:r>
            <a:endParaRPr lang="en-US" sz="2800" dirty="0"/>
          </a:p>
        </p:txBody>
      </p:sp>
    </p:spTree>
    <p:extLst>
      <p:ext uri="{BB962C8B-B14F-4D97-AF65-F5344CB8AC3E}">
        <p14:creationId xmlns:p14="http://schemas.microsoft.com/office/powerpoint/2010/main" val="4232865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365127"/>
            <a:ext cx="8119814" cy="831626"/>
          </a:xfrm>
        </p:spPr>
        <p:txBody>
          <a:bodyPr/>
          <a:lstStyle/>
          <a:p>
            <a:r>
              <a:rPr lang="es-CO" sz="2800" dirty="0"/>
              <a:t>Pseudocodigo</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48720" y="1063858"/>
            <a:ext cx="7886700" cy="1390744"/>
          </a:xfrm>
        </p:spPr>
        <p:txBody>
          <a:bodyPr>
            <a:normAutofit fontScale="92500"/>
          </a:bodyPr>
          <a:lstStyle/>
          <a:p>
            <a:r>
              <a:rPr lang="es-MX" sz="2000" dirty="0"/>
              <a:t>El pseudocódigo utiliza una mezcla de palabras clave en un formato similar al de un lenguaje de programación, pero sin seguir una sintaxis estricta.</a:t>
            </a:r>
          </a:p>
          <a:p>
            <a:r>
              <a:rPr lang="es-MX" sz="2000" dirty="0"/>
              <a:t>A continuación se muestra una representación abreviada del pseudocodigo (Libro del profesor Efrain Oviedo)</a:t>
            </a:r>
            <a:endParaRPr lang="es-CO" sz="20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31</a:t>
            </a:fld>
            <a:endParaRPr lang="en-US" dirty="0"/>
          </a:p>
        </p:txBody>
      </p:sp>
      <p:sp>
        <p:nvSpPr>
          <p:cNvPr id="13" name="CuadroTexto 12">
            <a:extLst>
              <a:ext uri="{FF2B5EF4-FFF2-40B4-BE49-F238E27FC236}">
                <a16:creationId xmlns:a16="http://schemas.microsoft.com/office/drawing/2014/main" id="{0B6305CF-23E3-43A3-9200-85E9A2C1D0D9}"/>
              </a:ext>
            </a:extLst>
          </p:cNvPr>
          <p:cNvSpPr txBox="1"/>
          <p:nvPr/>
        </p:nvSpPr>
        <p:spPr>
          <a:xfrm>
            <a:off x="4572000" y="3717875"/>
            <a:ext cx="3663420" cy="1815882"/>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r>
              <a:rPr lang="es-CO" sz="1600" dirty="0">
                <a:latin typeface="Consolas" panose="020B0609020204030204" pitchFamily="49" charset="0"/>
              </a:rPr>
              <a:t> </a:t>
            </a:r>
          </a:p>
          <a:p>
            <a:r>
              <a:rPr lang="es-CO" sz="1600" dirty="0">
                <a:solidFill>
                  <a:schemeClr val="bg1">
                    <a:lumMod val="50000"/>
                  </a:schemeClr>
                </a:solidFill>
                <a:latin typeface="Consolas" panose="020B0609020204030204" pitchFamily="49" charset="0"/>
              </a:rPr>
              <a:t>  # Cuerpo del algoritmo</a:t>
            </a:r>
            <a:endParaRPr lang="es-CO" sz="1600" dirty="0">
              <a:latin typeface="Consolas" panose="020B0609020204030204" pitchFamily="49" charset="0"/>
            </a:endParaRPr>
          </a:p>
          <a:p>
            <a:r>
              <a:rPr lang="es-CO" sz="1600" dirty="0">
                <a:latin typeface="Consolas" panose="020B0609020204030204" pitchFamily="49" charset="0"/>
              </a:rPr>
              <a:t>  &lt;Instrucción 1&gt;</a:t>
            </a:r>
          </a:p>
          <a:p>
            <a:r>
              <a:rPr lang="es-CO" sz="1600" dirty="0">
                <a:latin typeface="Consolas" panose="020B0609020204030204" pitchFamily="49" charset="0"/>
              </a:rPr>
              <a:t>  &lt;Instrucción 2&gt;</a:t>
            </a:r>
          </a:p>
          <a:p>
            <a:r>
              <a:rPr lang="es-CO" sz="1600" dirty="0">
                <a:latin typeface="Consolas" panose="020B0609020204030204" pitchFamily="49" charset="0"/>
              </a:rPr>
              <a:t>  ...</a:t>
            </a:r>
          </a:p>
          <a:p>
            <a:endParaRPr lang="es-CO" sz="1600" dirty="0">
              <a:latin typeface="Consolas" panose="020B0609020204030204" pitchFamily="49" charset="0"/>
            </a:endParaRPr>
          </a:p>
          <a:p>
            <a:r>
              <a:rPr lang="es-CO" sz="1600" b="1" dirty="0">
                <a:latin typeface="Consolas" panose="020B0609020204030204" pitchFamily="49" charset="0"/>
              </a:rPr>
              <a:t>FIN</a:t>
            </a:r>
          </a:p>
        </p:txBody>
      </p:sp>
      <p:grpSp>
        <p:nvGrpSpPr>
          <p:cNvPr id="38" name="Grupo 37">
            <a:extLst>
              <a:ext uri="{FF2B5EF4-FFF2-40B4-BE49-F238E27FC236}">
                <a16:creationId xmlns:a16="http://schemas.microsoft.com/office/drawing/2014/main" id="{9425DEC8-1F02-4C92-B6E4-07824043AC71}"/>
              </a:ext>
            </a:extLst>
          </p:cNvPr>
          <p:cNvGrpSpPr/>
          <p:nvPr/>
        </p:nvGrpSpPr>
        <p:grpSpPr>
          <a:xfrm>
            <a:off x="1259633" y="3140968"/>
            <a:ext cx="2592286" cy="2824837"/>
            <a:chOff x="1259633" y="2301829"/>
            <a:chExt cx="2592286" cy="2824837"/>
          </a:xfrm>
        </p:grpSpPr>
        <p:sp>
          <p:nvSpPr>
            <p:cNvPr id="15" name="Flowchart: Terminator 43">
              <a:extLst>
                <a:ext uri="{FF2B5EF4-FFF2-40B4-BE49-F238E27FC236}">
                  <a16:creationId xmlns:a16="http://schemas.microsoft.com/office/drawing/2014/main" id="{61F3A59C-EA37-44F2-9E22-1FEACFA0A503}"/>
                </a:ext>
              </a:extLst>
            </p:cNvPr>
            <p:cNvSpPr/>
            <p:nvPr/>
          </p:nvSpPr>
          <p:spPr>
            <a:xfrm>
              <a:off x="1901149" y="479715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a:t>
              </a:r>
              <a:endParaRPr lang="en-US" sz="1400" dirty="0">
                <a:latin typeface="Consolas" panose="020B0609020204030204" pitchFamily="49" charset="0"/>
              </a:endParaRPr>
            </a:p>
          </p:txBody>
        </p:sp>
        <p:sp>
          <p:nvSpPr>
            <p:cNvPr id="16" name="Flowchart: Terminator 44">
              <a:extLst>
                <a:ext uri="{FF2B5EF4-FFF2-40B4-BE49-F238E27FC236}">
                  <a16:creationId xmlns:a16="http://schemas.microsoft.com/office/drawing/2014/main" id="{F47C2561-2955-4467-8797-65AF4B8B6D41}"/>
                </a:ext>
              </a:extLst>
            </p:cNvPr>
            <p:cNvSpPr/>
            <p:nvPr/>
          </p:nvSpPr>
          <p:spPr>
            <a:xfrm>
              <a:off x="1905390" y="2301829"/>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INICIO</a:t>
              </a:r>
              <a:endParaRPr lang="en-US" sz="1400" dirty="0">
                <a:latin typeface="Consolas" panose="020B0609020204030204" pitchFamily="49" charset="0"/>
              </a:endParaRPr>
            </a:p>
          </p:txBody>
        </p:sp>
        <p:cxnSp>
          <p:nvCxnSpPr>
            <p:cNvPr id="17" name="Straight Arrow Connector 45">
              <a:extLst>
                <a:ext uri="{FF2B5EF4-FFF2-40B4-BE49-F238E27FC236}">
                  <a16:creationId xmlns:a16="http://schemas.microsoft.com/office/drawing/2014/main" id="{DA3DCAE8-9054-4E3E-8D36-B72EAC5944BB}"/>
                </a:ext>
              </a:extLst>
            </p:cNvPr>
            <p:cNvCxnSpPr>
              <a:cxnSpLocks/>
              <a:stCxn id="16" idx="2"/>
              <a:endCxn id="24" idx="0"/>
            </p:cNvCxnSpPr>
            <p:nvPr/>
          </p:nvCxnSpPr>
          <p:spPr>
            <a:xfrm flipH="1">
              <a:off x="2555776" y="2631343"/>
              <a:ext cx="4241" cy="4759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53">
              <a:extLst>
                <a:ext uri="{FF2B5EF4-FFF2-40B4-BE49-F238E27FC236}">
                  <a16:creationId xmlns:a16="http://schemas.microsoft.com/office/drawing/2014/main" id="{190D1CA0-EF47-4EA7-A881-B9F4413D70BD}"/>
                </a:ext>
              </a:extLst>
            </p:cNvPr>
            <p:cNvCxnSpPr>
              <a:cxnSpLocks/>
              <a:stCxn id="24" idx="2"/>
              <a:endCxn id="15" idx="0"/>
            </p:cNvCxnSpPr>
            <p:nvPr/>
          </p:nvCxnSpPr>
          <p:spPr>
            <a:xfrm>
              <a:off x="2555776" y="4365104"/>
              <a:ext cx="0" cy="43204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Flowchart: Process 42">
              <a:extLst>
                <a:ext uri="{FF2B5EF4-FFF2-40B4-BE49-F238E27FC236}">
                  <a16:creationId xmlns:a16="http://schemas.microsoft.com/office/drawing/2014/main" id="{4682FE77-2D60-434D-8638-ABC038BB94E2}"/>
                </a:ext>
              </a:extLst>
            </p:cNvPr>
            <p:cNvSpPr/>
            <p:nvPr/>
          </p:nvSpPr>
          <p:spPr>
            <a:xfrm>
              <a:off x="1259633" y="3107255"/>
              <a:ext cx="2592286" cy="1257849"/>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&lt;Instrucción 1&gt;</a:t>
              </a:r>
            </a:p>
            <a:p>
              <a:pPr algn="ctr"/>
              <a:r>
                <a:rPr lang="en-US" sz="1400" dirty="0">
                  <a:latin typeface="Consolas" panose="020B0609020204030204" pitchFamily="49" charset="0"/>
                  <a:sym typeface="Wingdings" pitchFamily="2" charset="2"/>
                </a:rPr>
                <a:t>&lt;Instrucción 2&gt;</a:t>
              </a:r>
            </a:p>
            <a:p>
              <a:pPr algn="ctr"/>
              <a:r>
                <a:rPr lang="en-US" sz="1400" dirty="0">
                  <a:latin typeface="Consolas" panose="020B0609020204030204" pitchFamily="49" charset="0"/>
                  <a:sym typeface="Wingdings" pitchFamily="2" charset="2"/>
                </a:rPr>
                <a:t>...</a:t>
              </a:r>
              <a:endParaRPr lang="en-US" sz="1400" dirty="0">
                <a:latin typeface="Consolas" panose="020B0609020204030204" pitchFamily="49" charset="0"/>
              </a:endParaRPr>
            </a:p>
          </p:txBody>
        </p:sp>
      </p:grpSp>
    </p:spTree>
    <p:extLst>
      <p:ext uri="{BB962C8B-B14F-4D97-AF65-F5344CB8AC3E}">
        <p14:creationId xmlns:p14="http://schemas.microsoft.com/office/powerpoint/2010/main" val="184004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66750" y="185971"/>
            <a:ext cx="8119814" cy="831626"/>
          </a:xfrm>
        </p:spPr>
        <p:txBody>
          <a:bodyPr/>
          <a:lstStyle/>
          <a:p>
            <a:r>
              <a:rPr lang="es-CO" sz="2800" dirty="0"/>
              <a:t>Comentarios</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70506" y="1017597"/>
            <a:ext cx="7886700" cy="5292493"/>
          </a:xfrm>
        </p:spPr>
        <p:txBody>
          <a:bodyPr>
            <a:normAutofit/>
          </a:bodyPr>
          <a:lstStyle/>
          <a:p>
            <a:r>
              <a:rPr lang="es-MX" sz="2200" b="0" i="0" u="none" strike="noStrike" baseline="0" dirty="0">
                <a:latin typeface="Calibri" panose="020F0502020204030204" pitchFamily="34" charset="0"/>
              </a:rPr>
              <a:t>Los </a:t>
            </a:r>
            <a:r>
              <a:rPr lang="es-MX" sz="2200" b="1" i="0" u="none" strike="noStrike" baseline="0" dirty="0">
                <a:latin typeface="Calibri" panose="020F0502020204030204" pitchFamily="34" charset="0"/>
              </a:rPr>
              <a:t>comentarios</a:t>
            </a:r>
            <a:r>
              <a:rPr lang="es-MX" sz="2200" b="0" i="0" u="none" strike="noStrike" baseline="0" dirty="0">
                <a:latin typeface="Calibri" panose="020F0502020204030204" pitchFamily="34" charset="0"/>
              </a:rPr>
              <a:t> son sentencias que permiten explicar las líneas de código de un programa. </a:t>
            </a:r>
          </a:p>
          <a:p>
            <a:r>
              <a:rPr lang="es-MX" sz="2200" b="0" i="0" u="none" strike="noStrike" baseline="0" dirty="0">
                <a:latin typeface="Calibri" panose="020F0502020204030204" pitchFamily="34" charset="0"/>
              </a:rPr>
              <a:t>Los comentarios siempre son ignorados por el compilador o interprete del lenguaje. </a:t>
            </a:r>
          </a:p>
          <a:p>
            <a:r>
              <a:rPr lang="es-MX" sz="2200" b="0" i="0" u="none" strike="noStrike" baseline="0" dirty="0">
                <a:latin typeface="Calibri" panose="020F0502020204030204" pitchFamily="34" charset="0"/>
              </a:rPr>
              <a:t>Dependiendo del lenguaje, pueden existir dos tipos de comentarios: </a:t>
            </a:r>
          </a:p>
          <a:p>
            <a:pPr lvl="1"/>
            <a:r>
              <a:rPr lang="es-MX" sz="2000" b="1" i="0" u="none" strike="noStrike" baseline="0" dirty="0">
                <a:latin typeface="Calibri" panose="020F0502020204030204" pitchFamily="34" charset="0"/>
              </a:rPr>
              <a:t>Comentarios de una línea: </a:t>
            </a:r>
            <a:r>
              <a:rPr lang="es-MX" sz="2000" b="0" i="0" u="none" strike="noStrike" baseline="0" dirty="0">
                <a:latin typeface="Calibri" panose="020F0502020204030204" pitchFamily="34" charset="0"/>
              </a:rPr>
              <a:t>son aquellos que inician con el símbolo </a:t>
            </a:r>
            <a:r>
              <a:rPr lang="es-MX" sz="2000" b="0" i="0" u="none" strike="noStrike" baseline="0" dirty="0">
                <a:solidFill>
                  <a:srgbClr val="C00000"/>
                </a:solidFill>
                <a:latin typeface="Calibri" panose="020F0502020204030204" pitchFamily="34" charset="0"/>
              </a:rPr>
              <a:t>#</a:t>
            </a:r>
            <a:r>
              <a:rPr lang="es-MX" sz="2000" b="0" i="0" u="none" strike="noStrike" baseline="0" dirty="0">
                <a:solidFill>
                  <a:srgbClr val="000000"/>
                </a:solidFill>
                <a:latin typeface="Calibri" panose="020F0502020204030204" pitchFamily="34" charset="0"/>
              </a:rPr>
              <a:t>. Estos comentarios se utilizan para explicar de manera corta una instrucción.</a:t>
            </a:r>
          </a:p>
          <a:p>
            <a:pPr algn="l"/>
            <a:endParaRPr lang="es-CO" sz="2000" b="0" i="0" u="none" strike="noStrike" baseline="0" dirty="0">
              <a:solidFill>
                <a:srgbClr val="000000"/>
              </a:solidFill>
              <a:latin typeface="Calibri" panose="020F0502020204030204" pitchFamily="34" charset="0"/>
            </a:endParaRPr>
          </a:p>
          <a:p>
            <a:pPr lvl="1"/>
            <a:r>
              <a:rPr lang="es-MX" sz="2000" b="1" i="0" u="none" strike="noStrike" baseline="0" dirty="0">
                <a:latin typeface="Calibri" panose="020F0502020204030204" pitchFamily="34" charset="0"/>
              </a:rPr>
              <a:t>Comentarios varias líneas: </a:t>
            </a:r>
            <a:r>
              <a:rPr lang="es-MX" sz="2000" b="0" i="0" u="none" strike="noStrike" baseline="0" dirty="0">
                <a:latin typeface="Calibri" panose="020F0502020204030204" pitchFamily="34" charset="0"/>
              </a:rPr>
              <a:t>son aquellos que inician con los símbolos </a:t>
            </a:r>
            <a:r>
              <a:rPr lang="es-MX" sz="2000" b="0" i="0" u="none" strike="noStrike" baseline="0" dirty="0">
                <a:solidFill>
                  <a:srgbClr val="C00000"/>
                </a:solidFill>
                <a:latin typeface="Courier New" panose="02070309020205020404" pitchFamily="49" charset="0"/>
              </a:rPr>
              <a:t>""" </a:t>
            </a:r>
            <a:r>
              <a:rPr lang="es-MX" sz="2000" b="0" i="0" u="none" strike="noStrike" baseline="0" dirty="0">
                <a:solidFill>
                  <a:srgbClr val="000000"/>
                </a:solidFill>
                <a:latin typeface="Calibri" panose="020F0502020204030204" pitchFamily="34" charset="0"/>
              </a:rPr>
              <a:t>y terminan con los símbolos </a:t>
            </a:r>
            <a:r>
              <a:rPr lang="es-MX" sz="2000" b="0" i="0" u="none" strike="noStrike" baseline="0" dirty="0">
                <a:solidFill>
                  <a:srgbClr val="C00000"/>
                </a:solidFill>
                <a:latin typeface="Courier New" panose="02070309020205020404" pitchFamily="49" charset="0"/>
              </a:rPr>
              <a:t>"""</a:t>
            </a:r>
            <a:r>
              <a:rPr lang="es-MX" sz="2000" b="0" i="0" u="none" strike="noStrike" baseline="0" dirty="0">
                <a:solidFill>
                  <a:srgbClr val="000000"/>
                </a:solidFill>
                <a:latin typeface="Calibri" panose="020F0502020204030204" pitchFamily="34" charset="0"/>
              </a:rPr>
              <a:t>. Se usan para describir o explicar el funcionamiento de un bloque de código.</a:t>
            </a:r>
          </a:p>
          <a:p>
            <a:endParaRPr lang="es-MX" sz="1800" b="0" i="0" u="none" strike="noStrike" baseline="0" dirty="0">
              <a:latin typeface="Calibri" panose="020F0502020204030204" pitchFamily="34" charset="0"/>
            </a:endParaRPr>
          </a:p>
        </p:txBody>
      </p:sp>
      <p:sp>
        <p:nvSpPr>
          <p:cNvPr id="14" name="CuadroTexto 13">
            <a:extLst>
              <a:ext uri="{FF2B5EF4-FFF2-40B4-BE49-F238E27FC236}">
                <a16:creationId xmlns:a16="http://schemas.microsoft.com/office/drawing/2014/main" id="{8E811345-CBB4-4B99-A5B5-93DB704FE563}"/>
              </a:ext>
            </a:extLst>
          </p:cNvPr>
          <p:cNvSpPr txBox="1"/>
          <p:nvPr/>
        </p:nvSpPr>
        <p:spPr>
          <a:xfrm>
            <a:off x="1178638" y="4077072"/>
            <a:ext cx="6276928" cy="307777"/>
          </a:xfrm>
          <a:prstGeom prst="rect">
            <a:avLst/>
          </a:prstGeom>
          <a:noFill/>
          <a:ln>
            <a:solidFill>
              <a:schemeClr val="tx1"/>
            </a:solidFill>
          </a:ln>
        </p:spPr>
        <p:txBody>
          <a:bodyPr wrap="square">
            <a:spAutoFit/>
          </a:bodyPr>
          <a:lstStyle/>
          <a:p>
            <a:r>
              <a:rPr lang="es-CO" sz="1400" dirty="0">
                <a:solidFill>
                  <a:srgbClr val="00B050"/>
                </a:solidFill>
                <a:latin typeface="Consolas" panose="020B0609020204030204" pitchFamily="49" charset="0"/>
              </a:rPr>
              <a:t># Esto es un comentario de una línea</a:t>
            </a:r>
          </a:p>
        </p:txBody>
      </p:sp>
      <p:sp>
        <p:nvSpPr>
          <p:cNvPr id="18" name="CuadroTexto 17">
            <a:extLst>
              <a:ext uri="{FF2B5EF4-FFF2-40B4-BE49-F238E27FC236}">
                <a16:creationId xmlns:a16="http://schemas.microsoft.com/office/drawing/2014/main" id="{199E7F6E-9233-4849-BB35-E7618312DB3C}"/>
              </a:ext>
            </a:extLst>
          </p:cNvPr>
          <p:cNvSpPr txBox="1"/>
          <p:nvPr/>
        </p:nvSpPr>
        <p:spPr>
          <a:xfrm>
            <a:off x="1181884" y="5363349"/>
            <a:ext cx="6273682" cy="954107"/>
          </a:xfrm>
          <a:prstGeom prst="rect">
            <a:avLst/>
          </a:prstGeom>
          <a:noFill/>
          <a:ln>
            <a:solidFill>
              <a:schemeClr val="tx1"/>
            </a:solidFill>
          </a:ln>
        </p:spPr>
        <p:txBody>
          <a:bodyPr wrap="square">
            <a:spAutoFit/>
          </a:bodyPr>
          <a:lstStyle>
            <a:defPPr>
              <a:defRPr lang="en-US"/>
            </a:defPPr>
            <a:lvl1pPr>
              <a:defRPr sz="1400">
                <a:solidFill>
                  <a:srgbClr val="00B050"/>
                </a:solidFill>
                <a:latin typeface="Consolas" panose="020B0609020204030204" pitchFamily="49" charset="0"/>
              </a:defRPr>
            </a:lvl1pPr>
          </a:lstStyle>
          <a:p>
            <a:r>
              <a:rPr lang="es-CO" dirty="0"/>
              <a:t>""" </a:t>
            </a:r>
          </a:p>
          <a:p>
            <a:r>
              <a:rPr lang="es-MX" dirty="0"/>
              <a:t>Este es un comentario </a:t>
            </a:r>
          </a:p>
          <a:p>
            <a:r>
              <a:rPr lang="es-MX" dirty="0"/>
              <a:t>de varias </a:t>
            </a:r>
          </a:p>
          <a:p>
            <a:r>
              <a:rPr lang="es-MX" dirty="0"/>
              <a:t>líneas</a:t>
            </a:r>
            <a:r>
              <a:rPr lang="es-CO" dirty="0"/>
              <a:t>"""</a:t>
            </a:r>
          </a:p>
        </p:txBody>
      </p:sp>
    </p:spTree>
    <p:extLst>
      <p:ext uri="{BB962C8B-B14F-4D97-AF65-F5344CB8AC3E}">
        <p14:creationId xmlns:p14="http://schemas.microsoft.com/office/powerpoint/2010/main" val="18573302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284840"/>
            <a:ext cx="8119814" cy="831626"/>
          </a:xfrm>
        </p:spPr>
        <p:txBody>
          <a:bodyPr/>
          <a:lstStyle/>
          <a:p>
            <a:r>
              <a:rPr lang="es-CO" sz="2800" dirty="0"/>
              <a:t>Pseudocodigo</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94816" y="1140787"/>
            <a:ext cx="7993607" cy="663501"/>
          </a:xfrm>
        </p:spPr>
        <p:txBody>
          <a:bodyPr>
            <a:normAutofit/>
          </a:bodyPr>
          <a:lstStyle/>
          <a:p>
            <a:pPr marL="0" indent="0">
              <a:buNone/>
            </a:pPr>
            <a:r>
              <a:rPr lang="es-MX" sz="2000" dirty="0"/>
              <a:t>La siguiente tabla muestra el resultado equivalente para operaciones secuenciales básicas entre el diagrama de bloques y el pseudocodigo.</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extLst>
              <p:ext uri="{D42A27DB-BD31-4B8C-83A1-F6EECF244321}">
                <p14:modId xmlns:p14="http://schemas.microsoft.com/office/powerpoint/2010/main" val="3900181536"/>
              </p:ext>
            </p:extLst>
          </p:nvPr>
        </p:nvGraphicFramePr>
        <p:xfrm>
          <a:off x="1056135" y="2098000"/>
          <a:ext cx="6756225" cy="4211320"/>
        </p:xfrm>
        <a:graphic>
          <a:graphicData uri="http://schemas.openxmlformats.org/drawingml/2006/table">
            <a:tbl>
              <a:tblPr firstRow="1" bandRow="1">
                <a:tableStyleId>{5940675A-B579-460E-94D1-54222C63F5DA}</a:tableStyleId>
              </a:tblPr>
              <a:tblGrid>
                <a:gridCol w="1728192">
                  <a:extLst>
                    <a:ext uri="{9D8B030D-6E8A-4147-A177-3AD203B41FA5}">
                      <a16:colId xmlns:a16="http://schemas.microsoft.com/office/drawing/2014/main" val="4002968547"/>
                    </a:ext>
                  </a:extLst>
                </a:gridCol>
                <a:gridCol w="2775958">
                  <a:extLst>
                    <a:ext uri="{9D8B030D-6E8A-4147-A177-3AD203B41FA5}">
                      <a16:colId xmlns:a16="http://schemas.microsoft.com/office/drawing/2014/main" val="2376140116"/>
                    </a:ext>
                  </a:extLst>
                </a:gridCol>
                <a:gridCol w="2252075">
                  <a:extLst>
                    <a:ext uri="{9D8B030D-6E8A-4147-A177-3AD203B41FA5}">
                      <a16:colId xmlns:a16="http://schemas.microsoft.com/office/drawing/2014/main" val="1317388859"/>
                    </a:ext>
                  </a:extLst>
                </a:gridCol>
              </a:tblGrid>
              <a:tr h="370840">
                <a:tc>
                  <a:txBody>
                    <a:bodyPr/>
                    <a:lstStyle/>
                    <a:p>
                      <a:r>
                        <a:rPr lang="es-CO" b="1" dirty="0"/>
                        <a:t>Tipo</a:t>
                      </a:r>
                    </a:p>
                  </a:txBody>
                  <a:tcPr/>
                </a:tc>
                <a:tc>
                  <a:txBody>
                    <a:bodyPr/>
                    <a:lstStyle/>
                    <a:p>
                      <a:r>
                        <a:rPr lang="es-CO" b="1" dirty="0"/>
                        <a:t>Diagrama de bloques</a:t>
                      </a:r>
                    </a:p>
                  </a:txBody>
                  <a:tcPr/>
                </a:tc>
                <a:tc>
                  <a:txBody>
                    <a:bodyPr/>
                    <a:lstStyle/>
                    <a:p>
                      <a:r>
                        <a:rPr lang="es-CO" b="1" dirty="0"/>
                        <a:t>Pseudocordigo</a:t>
                      </a:r>
                    </a:p>
                  </a:txBody>
                  <a:tcPr/>
                </a:tc>
                <a:extLst>
                  <a:ext uri="{0D108BD9-81ED-4DB2-BD59-A6C34878D82A}">
                    <a16:rowId xmlns:a16="http://schemas.microsoft.com/office/drawing/2014/main" val="3153662098"/>
                  </a:ext>
                </a:extLst>
              </a:tr>
              <a:tr h="370840">
                <a:tc>
                  <a:txBody>
                    <a:bodyPr/>
                    <a:lstStyle/>
                    <a:p>
                      <a:pPr algn="ctr"/>
                      <a:r>
                        <a:rPr lang="es-CO" dirty="0"/>
                        <a:t>Entrada</a:t>
                      </a:r>
                    </a:p>
                    <a:p>
                      <a:pPr algn="ctr"/>
                      <a:endParaRPr lang="es-CO" dirty="0"/>
                    </a:p>
                    <a:p>
                      <a:pPr algn="ctr"/>
                      <a:endParaRPr lang="es-CO" dirty="0"/>
                    </a:p>
                  </a:txBody>
                  <a:tcPr anchor="ctr"/>
                </a:tc>
                <a:tc>
                  <a:txBody>
                    <a:bodyPr/>
                    <a:lstStyle/>
                    <a:p>
                      <a:endParaRPr lang="es-CO" dirty="0"/>
                    </a:p>
                    <a:p>
                      <a:endParaRPr lang="es-CO" dirty="0"/>
                    </a:p>
                    <a:p>
                      <a:endParaRPr lang="es-CO" dirty="0"/>
                    </a:p>
                    <a:p>
                      <a:endParaRPr lang="es-CO" dirty="0"/>
                    </a:p>
                  </a:txBody>
                  <a:tcPr/>
                </a:tc>
                <a:tc>
                  <a:txBody>
                    <a:bodyPr/>
                    <a:lstStyle/>
                    <a:p>
                      <a:r>
                        <a:rPr lang="es-CO" dirty="0">
                          <a:latin typeface="Consolas" panose="020B0609020204030204" pitchFamily="49" charset="0"/>
                        </a:rPr>
                        <a:t>LEA(v1,v2,…)</a:t>
                      </a:r>
                    </a:p>
                  </a:txBody>
                  <a:tcPr anchor="ctr"/>
                </a:tc>
                <a:extLst>
                  <a:ext uri="{0D108BD9-81ED-4DB2-BD59-A6C34878D82A}">
                    <a16:rowId xmlns:a16="http://schemas.microsoft.com/office/drawing/2014/main" val="2502274137"/>
                  </a:ext>
                </a:extLst>
              </a:tr>
              <a:tr h="370840">
                <a:tc>
                  <a:txBody>
                    <a:bodyPr/>
                    <a:lstStyle/>
                    <a:p>
                      <a:pPr algn="ctr"/>
                      <a:r>
                        <a:rPr lang="es-CO" dirty="0"/>
                        <a:t>Salida</a:t>
                      </a:r>
                    </a:p>
                  </a:txBody>
                  <a:tcPr anchor="ctr"/>
                </a:tc>
                <a:tc>
                  <a:txBody>
                    <a:bodyPr/>
                    <a:lstStyle/>
                    <a:p>
                      <a:endParaRPr lang="es-CO" dirty="0"/>
                    </a:p>
                    <a:p>
                      <a:endParaRPr lang="es-CO" dirty="0"/>
                    </a:p>
                    <a:p>
                      <a:endParaRPr lang="es-CO" dirty="0"/>
                    </a:p>
                    <a:p>
                      <a:endParaRPr lang="es-CO" dirty="0"/>
                    </a:p>
                    <a:p>
                      <a:endParaRPr lang="es-CO"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ESCRIBA(v1,v2,…)</a:t>
                      </a:r>
                    </a:p>
                    <a:p>
                      <a:endParaRPr lang="es-CO" dirty="0"/>
                    </a:p>
                  </a:txBody>
                  <a:tcPr anchor="ctr"/>
                </a:tc>
                <a:extLst>
                  <a:ext uri="{0D108BD9-81ED-4DB2-BD59-A6C34878D82A}">
                    <a16:rowId xmlns:a16="http://schemas.microsoft.com/office/drawing/2014/main" val="325961845"/>
                  </a:ext>
                </a:extLst>
              </a:tr>
              <a:tr h="370840">
                <a:tc>
                  <a:txBody>
                    <a:bodyPr/>
                    <a:lstStyle/>
                    <a:p>
                      <a:pPr algn="ctr"/>
                      <a:r>
                        <a:rPr lang="es-CO" dirty="0"/>
                        <a:t>Proceso</a:t>
                      </a:r>
                    </a:p>
                  </a:txBody>
                  <a:tcPr anchor="ctr"/>
                </a:tc>
                <a:tc>
                  <a:txBody>
                    <a:bodyPr/>
                    <a:lstStyle/>
                    <a:p>
                      <a:endParaRPr lang="es-CO" dirty="0"/>
                    </a:p>
                    <a:p>
                      <a:endParaRPr lang="es-CO" dirty="0"/>
                    </a:p>
                    <a:p>
                      <a:endParaRPr lang="es-CO" dirty="0"/>
                    </a:p>
                    <a:p>
                      <a:endParaRPr lang="es-CO" dirty="0"/>
                    </a:p>
                  </a:txBody>
                  <a:tcPr/>
                </a:tc>
                <a:tc>
                  <a:txBody>
                    <a:bodyPr/>
                    <a:lstStyle/>
                    <a:p>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c = a + b</a:t>
                      </a:r>
                      <a:endParaRPr lang="es-CO" dirty="0"/>
                    </a:p>
                    <a:p>
                      <a:endParaRPr lang="es-CO" dirty="0"/>
                    </a:p>
                  </a:txBody>
                  <a:tcPr anchor="ctr"/>
                </a:tc>
                <a:extLst>
                  <a:ext uri="{0D108BD9-81ED-4DB2-BD59-A6C34878D82A}">
                    <a16:rowId xmlns:a16="http://schemas.microsoft.com/office/drawing/2014/main" val="2481907500"/>
                  </a:ext>
                </a:extLst>
              </a:tr>
            </a:tbl>
          </a:graphicData>
        </a:graphic>
      </p:graphicFrame>
      <p:sp>
        <p:nvSpPr>
          <p:cNvPr id="10" name="Flowchart: Data 6">
            <a:extLst>
              <a:ext uri="{FF2B5EF4-FFF2-40B4-BE49-F238E27FC236}">
                <a16:creationId xmlns:a16="http://schemas.microsoft.com/office/drawing/2014/main" id="{0844C778-9DE1-449B-B09C-237271C11B8A}"/>
              </a:ext>
            </a:extLst>
          </p:cNvPr>
          <p:cNvSpPr/>
          <p:nvPr/>
        </p:nvSpPr>
        <p:spPr>
          <a:xfrm>
            <a:off x="3000351" y="2683128"/>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v1,v2,…</a:t>
            </a:r>
          </a:p>
        </p:txBody>
      </p:sp>
      <p:sp>
        <p:nvSpPr>
          <p:cNvPr id="11" name="Flowchart: Data 6">
            <a:extLst>
              <a:ext uri="{FF2B5EF4-FFF2-40B4-BE49-F238E27FC236}">
                <a16:creationId xmlns:a16="http://schemas.microsoft.com/office/drawing/2014/main" id="{9C39F37A-2A39-47E1-86A7-FAE0C0329172}"/>
              </a:ext>
            </a:extLst>
          </p:cNvPr>
          <p:cNvSpPr/>
          <p:nvPr/>
        </p:nvSpPr>
        <p:spPr>
          <a:xfrm>
            <a:off x="2989742" y="4051280"/>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v1,v2,…</a:t>
            </a:r>
          </a:p>
        </p:txBody>
      </p:sp>
      <p:sp>
        <p:nvSpPr>
          <p:cNvPr id="12" name="Flowchart: Process 7">
            <a:extLst>
              <a:ext uri="{FF2B5EF4-FFF2-40B4-BE49-F238E27FC236}">
                <a16:creationId xmlns:a16="http://schemas.microsoft.com/office/drawing/2014/main" id="{6B08FC8C-52EF-4BF1-96B3-3C24D434D6C2}"/>
              </a:ext>
            </a:extLst>
          </p:cNvPr>
          <p:cNvSpPr/>
          <p:nvPr/>
        </p:nvSpPr>
        <p:spPr>
          <a:xfrm>
            <a:off x="3360391" y="5419432"/>
            <a:ext cx="1395611"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 </a:t>
            </a:r>
            <a:r>
              <a:rPr lang="en-US" sz="1400" dirty="0">
                <a:latin typeface="Consolas" panose="020B0609020204030204" pitchFamily="49" charset="0"/>
                <a:sym typeface="Wingdings" panose="05000000000000000000" pitchFamily="2" charset="2"/>
              </a:rPr>
              <a:t> a + b</a:t>
            </a:r>
            <a:r>
              <a:rPr lang="en-US" sz="1400" dirty="0">
                <a:latin typeface="Consolas" panose="020B0609020204030204" pitchFamily="49" charset="0"/>
              </a:rPr>
              <a:t> </a:t>
            </a:r>
          </a:p>
        </p:txBody>
      </p:sp>
    </p:spTree>
    <p:extLst>
      <p:ext uri="{BB962C8B-B14F-4D97-AF65-F5344CB8AC3E}">
        <p14:creationId xmlns:p14="http://schemas.microsoft.com/office/powerpoint/2010/main" val="1892261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365127"/>
            <a:ext cx="8119814" cy="831626"/>
          </a:xfrm>
        </p:spPr>
        <p:txBody>
          <a:bodyPr/>
          <a:lstStyle/>
          <a:p>
            <a:r>
              <a:rPr lang="es-CO" sz="2800" dirty="0"/>
              <a:t>Pseudocodigo</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429716" y="1052736"/>
            <a:ext cx="7886700" cy="1257849"/>
          </a:xfrm>
        </p:spPr>
        <p:txBody>
          <a:bodyPr>
            <a:normAutofit fontScale="92500" lnSpcReduction="10000"/>
          </a:bodyPr>
          <a:lstStyle/>
          <a:p>
            <a:r>
              <a:rPr lang="es-MX" sz="2000" dirty="0"/>
              <a:t>El pseudocódigo utiliza una mezcla de palabras clave en un formato similar al de un lenguaje de programación, pero sin seguir una sintaxis estricta.</a:t>
            </a:r>
          </a:p>
          <a:p>
            <a:r>
              <a:rPr lang="es-MX" sz="2000" dirty="0"/>
              <a:t>A continuación se presenta la representación de pseudocodigo propia del texto guía (Notación del profesor Carlos Mera)</a:t>
            </a:r>
            <a:endParaRPr lang="es-CO" sz="20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34</a:t>
            </a:fld>
            <a:endParaRPr lang="en-US" dirty="0"/>
          </a:p>
        </p:txBody>
      </p:sp>
      <p:sp>
        <p:nvSpPr>
          <p:cNvPr id="16" name="CuadroTexto 15">
            <a:extLst>
              <a:ext uri="{FF2B5EF4-FFF2-40B4-BE49-F238E27FC236}">
                <a16:creationId xmlns:a16="http://schemas.microsoft.com/office/drawing/2014/main" id="{F98563A0-A51B-4C4F-B086-08B8FCDFF60D}"/>
              </a:ext>
            </a:extLst>
          </p:cNvPr>
          <p:cNvSpPr txBox="1"/>
          <p:nvPr/>
        </p:nvSpPr>
        <p:spPr>
          <a:xfrm>
            <a:off x="3848006" y="2902292"/>
            <a:ext cx="4667344" cy="3046988"/>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p>
          <a:p>
            <a:r>
              <a:rPr lang="es-CO" sz="1600" dirty="0">
                <a:solidFill>
                  <a:schemeClr val="bg1">
                    <a:lumMod val="50000"/>
                  </a:schemeClr>
                </a:solidFill>
                <a:latin typeface="Consolas" panose="020B0609020204030204" pitchFamily="49" charset="0"/>
              </a:rPr>
              <a:t>  # </a:t>
            </a:r>
            <a:r>
              <a:rPr lang="es-CO" sz="1600" dirty="0" err="1">
                <a:solidFill>
                  <a:schemeClr val="bg1">
                    <a:lumMod val="50000"/>
                  </a:schemeClr>
                </a:solidFill>
                <a:latin typeface="Consolas" panose="020B0609020204030204" pitchFamily="49" charset="0"/>
              </a:rPr>
              <a:t>Declaracion</a:t>
            </a:r>
            <a:r>
              <a:rPr lang="es-CO" sz="1600" dirty="0">
                <a:solidFill>
                  <a:schemeClr val="bg1">
                    <a:lumMod val="50000"/>
                  </a:schemeClr>
                </a:solidFill>
                <a:latin typeface="Consolas" panose="020B0609020204030204" pitchFamily="49" charset="0"/>
              </a:rPr>
              <a:t> de variables</a:t>
            </a:r>
          </a:p>
          <a:p>
            <a:r>
              <a:rPr lang="es-CO" sz="1600" dirty="0">
                <a:latin typeface="Consolas" panose="020B0609020204030204" pitchFamily="49" charset="0"/>
              </a:rPr>
              <a:t>  &lt;Tipo_de_dato_1&gt; &lt;</a:t>
            </a:r>
            <a:r>
              <a:rPr lang="es-CO" sz="1600" dirty="0" err="1">
                <a:latin typeface="Consolas" panose="020B0609020204030204" pitchFamily="49" charset="0"/>
              </a:rPr>
              <a:t>listaDeVariables</a:t>
            </a:r>
            <a:r>
              <a:rPr lang="es-CO" sz="1600" dirty="0">
                <a:latin typeface="Consolas" panose="020B0609020204030204" pitchFamily="49" charset="0"/>
              </a:rPr>
              <a:t>&gt;</a:t>
            </a:r>
          </a:p>
          <a:p>
            <a:r>
              <a:rPr lang="es-CO" sz="1600" dirty="0">
                <a:latin typeface="Consolas" panose="020B0609020204030204" pitchFamily="49" charset="0"/>
              </a:rPr>
              <a:t>  &lt;Tipo_de_dato_2&gt; &lt;</a:t>
            </a:r>
            <a:r>
              <a:rPr lang="es-CO" sz="1600" dirty="0" err="1">
                <a:latin typeface="Consolas" panose="020B0609020204030204" pitchFamily="49" charset="0"/>
              </a:rPr>
              <a:t>listaDeVariables</a:t>
            </a:r>
            <a:r>
              <a:rPr lang="es-CO" sz="1600" dirty="0">
                <a:latin typeface="Consolas" panose="020B0609020204030204" pitchFamily="49" charset="0"/>
              </a:rPr>
              <a:t>&gt;</a:t>
            </a:r>
          </a:p>
          <a:p>
            <a:r>
              <a:rPr lang="es-CO" sz="1600" dirty="0">
                <a:latin typeface="Consolas" panose="020B0609020204030204" pitchFamily="49" charset="0"/>
              </a:rPr>
              <a:t>  ...</a:t>
            </a:r>
          </a:p>
          <a:p>
            <a:r>
              <a:rPr lang="es-CO" sz="1600" dirty="0">
                <a:latin typeface="Consolas" panose="020B0609020204030204" pitchFamily="49" charset="0"/>
              </a:rPr>
              <a:t>  </a:t>
            </a:r>
          </a:p>
          <a:p>
            <a:r>
              <a:rPr lang="es-CO" sz="1600" dirty="0">
                <a:solidFill>
                  <a:schemeClr val="bg1">
                    <a:lumMod val="50000"/>
                  </a:schemeClr>
                </a:solidFill>
                <a:latin typeface="Consolas" panose="020B0609020204030204" pitchFamily="49" charset="0"/>
              </a:rPr>
              <a:t>  # Cuerpo del algoritmo</a:t>
            </a:r>
            <a:endParaRPr lang="es-CO" sz="1600" dirty="0">
              <a:latin typeface="Consolas" panose="020B0609020204030204" pitchFamily="49" charset="0"/>
            </a:endParaRPr>
          </a:p>
          <a:p>
            <a:r>
              <a:rPr lang="es-CO" sz="1600" dirty="0">
                <a:latin typeface="Consolas" panose="020B0609020204030204" pitchFamily="49" charset="0"/>
              </a:rPr>
              <a:t>  &lt;Instrucción 1&gt;</a:t>
            </a:r>
          </a:p>
          <a:p>
            <a:r>
              <a:rPr lang="es-CO" sz="1600" dirty="0">
                <a:latin typeface="Consolas" panose="020B0609020204030204" pitchFamily="49" charset="0"/>
              </a:rPr>
              <a:t>  &lt;Instrucción 2&gt;</a:t>
            </a:r>
          </a:p>
          <a:p>
            <a:r>
              <a:rPr lang="es-CO" sz="1600" dirty="0">
                <a:latin typeface="Consolas" panose="020B0609020204030204" pitchFamily="49" charset="0"/>
              </a:rPr>
              <a:t>  ...</a:t>
            </a:r>
          </a:p>
          <a:p>
            <a:endParaRPr lang="es-CO" sz="1600" dirty="0">
              <a:latin typeface="Consolas" panose="020B0609020204030204" pitchFamily="49" charset="0"/>
            </a:endParaRPr>
          </a:p>
          <a:p>
            <a:r>
              <a:rPr lang="es-CO" sz="1600" b="1" dirty="0">
                <a:latin typeface="Consolas" panose="020B0609020204030204" pitchFamily="49" charset="0"/>
              </a:rPr>
              <a:t>Fin</a:t>
            </a:r>
          </a:p>
        </p:txBody>
      </p:sp>
      <p:grpSp>
        <p:nvGrpSpPr>
          <p:cNvPr id="8" name="Grupo 7">
            <a:extLst>
              <a:ext uri="{FF2B5EF4-FFF2-40B4-BE49-F238E27FC236}">
                <a16:creationId xmlns:a16="http://schemas.microsoft.com/office/drawing/2014/main" id="{14D85D4E-F7CA-4244-9C80-87E59321A48D}"/>
              </a:ext>
            </a:extLst>
          </p:cNvPr>
          <p:cNvGrpSpPr/>
          <p:nvPr/>
        </p:nvGrpSpPr>
        <p:grpSpPr>
          <a:xfrm>
            <a:off x="611560" y="2928954"/>
            <a:ext cx="2592286" cy="2824837"/>
            <a:chOff x="1259633" y="2301829"/>
            <a:chExt cx="2592286" cy="2824837"/>
          </a:xfrm>
        </p:grpSpPr>
        <p:sp>
          <p:nvSpPr>
            <p:cNvPr id="10" name="Flowchart: Terminator 43">
              <a:extLst>
                <a:ext uri="{FF2B5EF4-FFF2-40B4-BE49-F238E27FC236}">
                  <a16:creationId xmlns:a16="http://schemas.microsoft.com/office/drawing/2014/main" id="{BADFB041-EC0C-470F-A1A1-E57886C705B0}"/>
                </a:ext>
              </a:extLst>
            </p:cNvPr>
            <p:cNvSpPr/>
            <p:nvPr/>
          </p:nvSpPr>
          <p:spPr>
            <a:xfrm>
              <a:off x="1901149" y="479715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a:t>
              </a:r>
              <a:endParaRPr lang="en-US" sz="1400" dirty="0">
                <a:latin typeface="Consolas" panose="020B0609020204030204" pitchFamily="49" charset="0"/>
              </a:endParaRPr>
            </a:p>
          </p:txBody>
        </p:sp>
        <p:sp>
          <p:nvSpPr>
            <p:cNvPr id="11" name="Flowchart: Terminator 44">
              <a:extLst>
                <a:ext uri="{FF2B5EF4-FFF2-40B4-BE49-F238E27FC236}">
                  <a16:creationId xmlns:a16="http://schemas.microsoft.com/office/drawing/2014/main" id="{FE53CF9C-9436-4D14-973E-975E0061E960}"/>
                </a:ext>
              </a:extLst>
            </p:cNvPr>
            <p:cNvSpPr/>
            <p:nvPr/>
          </p:nvSpPr>
          <p:spPr>
            <a:xfrm>
              <a:off x="1905390" y="2301829"/>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INICIO</a:t>
              </a:r>
              <a:endParaRPr lang="en-US" sz="1400" dirty="0">
                <a:latin typeface="Consolas" panose="020B0609020204030204" pitchFamily="49" charset="0"/>
              </a:endParaRPr>
            </a:p>
          </p:txBody>
        </p:sp>
        <p:cxnSp>
          <p:nvCxnSpPr>
            <p:cNvPr id="12" name="Straight Arrow Connector 45">
              <a:extLst>
                <a:ext uri="{FF2B5EF4-FFF2-40B4-BE49-F238E27FC236}">
                  <a16:creationId xmlns:a16="http://schemas.microsoft.com/office/drawing/2014/main" id="{F821D792-E9FA-49A7-9232-798F7495DFEA}"/>
                </a:ext>
              </a:extLst>
            </p:cNvPr>
            <p:cNvCxnSpPr>
              <a:cxnSpLocks/>
              <a:stCxn id="11" idx="2"/>
              <a:endCxn id="14" idx="0"/>
            </p:cNvCxnSpPr>
            <p:nvPr/>
          </p:nvCxnSpPr>
          <p:spPr>
            <a:xfrm flipH="1">
              <a:off x="2555776" y="2631343"/>
              <a:ext cx="4241" cy="4759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53">
              <a:extLst>
                <a:ext uri="{FF2B5EF4-FFF2-40B4-BE49-F238E27FC236}">
                  <a16:creationId xmlns:a16="http://schemas.microsoft.com/office/drawing/2014/main" id="{3BF0B4F4-C556-4C23-842A-2F6569194138}"/>
                </a:ext>
              </a:extLst>
            </p:cNvPr>
            <p:cNvCxnSpPr>
              <a:cxnSpLocks/>
              <a:stCxn id="14" idx="2"/>
              <a:endCxn id="10" idx="0"/>
            </p:cNvCxnSpPr>
            <p:nvPr/>
          </p:nvCxnSpPr>
          <p:spPr>
            <a:xfrm>
              <a:off x="2555776" y="4365104"/>
              <a:ext cx="0" cy="43204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Flowchart: Process 42">
              <a:extLst>
                <a:ext uri="{FF2B5EF4-FFF2-40B4-BE49-F238E27FC236}">
                  <a16:creationId xmlns:a16="http://schemas.microsoft.com/office/drawing/2014/main" id="{F871E4C9-DC5D-4F9A-A2FB-A87569217405}"/>
                </a:ext>
              </a:extLst>
            </p:cNvPr>
            <p:cNvSpPr/>
            <p:nvPr/>
          </p:nvSpPr>
          <p:spPr>
            <a:xfrm>
              <a:off x="1259633" y="3107255"/>
              <a:ext cx="2592286" cy="1257849"/>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&lt;Instrucción 1&gt;</a:t>
              </a:r>
            </a:p>
            <a:p>
              <a:pPr algn="ctr"/>
              <a:r>
                <a:rPr lang="en-US" sz="1400" dirty="0">
                  <a:latin typeface="Consolas" panose="020B0609020204030204" pitchFamily="49" charset="0"/>
                  <a:sym typeface="Wingdings" pitchFamily="2" charset="2"/>
                </a:rPr>
                <a:t>&lt;Instrucción 2&gt;</a:t>
              </a:r>
            </a:p>
            <a:p>
              <a:pPr algn="ctr"/>
              <a:r>
                <a:rPr lang="en-US" sz="1400" dirty="0">
                  <a:latin typeface="Consolas" panose="020B0609020204030204" pitchFamily="49" charset="0"/>
                  <a:sym typeface="Wingdings" pitchFamily="2" charset="2"/>
                </a:rPr>
                <a:t>...</a:t>
              </a:r>
              <a:endParaRPr lang="en-US" sz="1400" dirty="0">
                <a:latin typeface="Consolas" panose="020B0609020204030204" pitchFamily="49" charset="0"/>
              </a:endParaRPr>
            </a:p>
          </p:txBody>
        </p:sp>
      </p:grpSp>
    </p:spTree>
    <p:extLst>
      <p:ext uri="{BB962C8B-B14F-4D97-AF65-F5344CB8AC3E}">
        <p14:creationId xmlns:p14="http://schemas.microsoft.com/office/powerpoint/2010/main" val="2828525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284840"/>
            <a:ext cx="8119814" cy="831626"/>
          </a:xfrm>
        </p:spPr>
        <p:txBody>
          <a:bodyPr/>
          <a:lstStyle/>
          <a:p>
            <a:r>
              <a:rPr lang="es-CO" sz="2800" dirty="0"/>
              <a:t>Pseudocodigo</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94816" y="1140787"/>
            <a:ext cx="7993607" cy="663501"/>
          </a:xfrm>
        </p:spPr>
        <p:txBody>
          <a:bodyPr>
            <a:normAutofit/>
          </a:bodyPr>
          <a:lstStyle/>
          <a:p>
            <a:pPr marL="0" indent="0">
              <a:buNone/>
            </a:pPr>
            <a:r>
              <a:rPr lang="es-MX" sz="2000" dirty="0"/>
              <a:t>La siguiente tabla muestra el resultado equivalente para operaciones secuenciales básicas entre el diagrama de bloques y el pseudocodigo.</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extLst>
              <p:ext uri="{D42A27DB-BD31-4B8C-83A1-F6EECF244321}">
                <p14:modId xmlns:p14="http://schemas.microsoft.com/office/powerpoint/2010/main" val="4259724880"/>
              </p:ext>
            </p:extLst>
          </p:nvPr>
        </p:nvGraphicFramePr>
        <p:xfrm>
          <a:off x="1056135" y="2098000"/>
          <a:ext cx="7044257" cy="4211320"/>
        </p:xfrm>
        <a:graphic>
          <a:graphicData uri="http://schemas.openxmlformats.org/drawingml/2006/table">
            <a:tbl>
              <a:tblPr firstRow="1" bandRow="1">
                <a:tableStyleId>{5940675A-B579-460E-94D1-54222C63F5DA}</a:tableStyleId>
              </a:tblPr>
              <a:tblGrid>
                <a:gridCol w="1801868">
                  <a:extLst>
                    <a:ext uri="{9D8B030D-6E8A-4147-A177-3AD203B41FA5}">
                      <a16:colId xmlns:a16="http://schemas.microsoft.com/office/drawing/2014/main" val="4002968547"/>
                    </a:ext>
                  </a:extLst>
                </a:gridCol>
                <a:gridCol w="2794117">
                  <a:extLst>
                    <a:ext uri="{9D8B030D-6E8A-4147-A177-3AD203B41FA5}">
                      <a16:colId xmlns:a16="http://schemas.microsoft.com/office/drawing/2014/main" val="2376140116"/>
                    </a:ext>
                  </a:extLst>
                </a:gridCol>
                <a:gridCol w="2448272">
                  <a:extLst>
                    <a:ext uri="{9D8B030D-6E8A-4147-A177-3AD203B41FA5}">
                      <a16:colId xmlns:a16="http://schemas.microsoft.com/office/drawing/2014/main" val="1317388859"/>
                    </a:ext>
                  </a:extLst>
                </a:gridCol>
              </a:tblGrid>
              <a:tr h="370840">
                <a:tc>
                  <a:txBody>
                    <a:bodyPr/>
                    <a:lstStyle/>
                    <a:p>
                      <a:r>
                        <a:rPr lang="es-CO" b="1" dirty="0"/>
                        <a:t>Tipo</a:t>
                      </a:r>
                    </a:p>
                  </a:txBody>
                  <a:tcPr/>
                </a:tc>
                <a:tc>
                  <a:txBody>
                    <a:bodyPr/>
                    <a:lstStyle/>
                    <a:p>
                      <a:r>
                        <a:rPr lang="es-CO" b="1" dirty="0"/>
                        <a:t>Diagrama de bloques</a:t>
                      </a:r>
                    </a:p>
                  </a:txBody>
                  <a:tcPr/>
                </a:tc>
                <a:tc>
                  <a:txBody>
                    <a:bodyPr/>
                    <a:lstStyle/>
                    <a:p>
                      <a:r>
                        <a:rPr lang="es-CO" b="1" dirty="0"/>
                        <a:t>Pseudocordigo</a:t>
                      </a:r>
                    </a:p>
                  </a:txBody>
                  <a:tcPr/>
                </a:tc>
                <a:extLst>
                  <a:ext uri="{0D108BD9-81ED-4DB2-BD59-A6C34878D82A}">
                    <a16:rowId xmlns:a16="http://schemas.microsoft.com/office/drawing/2014/main" val="3153662098"/>
                  </a:ext>
                </a:extLst>
              </a:tr>
              <a:tr h="370840">
                <a:tc>
                  <a:txBody>
                    <a:bodyPr/>
                    <a:lstStyle/>
                    <a:p>
                      <a:pPr algn="ctr"/>
                      <a:r>
                        <a:rPr lang="es-CO" dirty="0"/>
                        <a:t>Entrada</a:t>
                      </a:r>
                    </a:p>
                    <a:p>
                      <a:pPr algn="ctr"/>
                      <a:endParaRPr lang="es-CO" dirty="0"/>
                    </a:p>
                    <a:p>
                      <a:pPr algn="ctr"/>
                      <a:endParaRPr lang="es-CO" dirty="0"/>
                    </a:p>
                  </a:txBody>
                  <a:tcPr anchor="ctr"/>
                </a:tc>
                <a:tc>
                  <a:txBody>
                    <a:bodyPr/>
                    <a:lstStyle/>
                    <a:p>
                      <a:endParaRPr lang="es-CO" dirty="0"/>
                    </a:p>
                    <a:p>
                      <a:endParaRPr lang="es-CO" dirty="0"/>
                    </a:p>
                    <a:p>
                      <a:endParaRPr lang="es-CO" dirty="0"/>
                    </a:p>
                    <a:p>
                      <a:endParaRPr lang="es-CO" dirty="0"/>
                    </a:p>
                  </a:txBody>
                  <a:tcPr/>
                </a:tc>
                <a:tc>
                  <a:txBody>
                    <a:bodyPr/>
                    <a:lstStyle/>
                    <a:p>
                      <a:r>
                        <a:rPr lang="es-CO" dirty="0">
                          <a:latin typeface="Consolas" panose="020B0609020204030204" pitchFamily="49" charset="0"/>
                        </a:rPr>
                        <a:t>Leer(v1,v2,…)</a:t>
                      </a:r>
                    </a:p>
                  </a:txBody>
                  <a:tcPr anchor="ctr"/>
                </a:tc>
                <a:extLst>
                  <a:ext uri="{0D108BD9-81ED-4DB2-BD59-A6C34878D82A}">
                    <a16:rowId xmlns:a16="http://schemas.microsoft.com/office/drawing/2014/main" val="2502274137"/>
                  </a:ext>
                </a:extLst>
              </a:tr>
              <a:tr h="370840">
                <a:tc>
                  <a:txBody>
                    <a:bodyPr/>
                    <a:lstStyle/>
                    <a:p>
                      <a:pPr algn="ctr"/>
                      <a:r>
                        <a:rPr lang="es-CO" dirty="0"/>
                        <a:t>Salida</a:t>
                      </a:r>
                    </a:p>
                  </a:txBody>
                  <a:tcPr anchor="ctr"/>
                </a:tc>
                <a:tc>
                  <a:txBody>
                    <a:bodyPr/>
                    <a:lstStyle/>
                    <a:p>
                      <a:endParaRPr lang="es-CO" dirty="0"/>
                    </a:p>
                    <a:p>
                      <a:endParaRPr lang="es-CO" dirty="0"/>
                    </a:p>
                    <a:p>
                      <a:endParaRPr lang="es-CO" dirty="0"/>
                    </a:p>
                    <a:p>
                      <a:endParaRPr lang="es-CO" dirty="0"/>
                    </a:p>
                    <a:p>
                      <a:endParaRPr lang="es-CO"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Escribir(v1,v2,…)</a:t>
                      </a:r>
                    </a:p>
                    <a:p>
                      <a:endParaRPr lang="es-CO" dirty="0"/>
                    </a:p>
                  </a:txBody>
                  <a:tcPr anchor="ctr"/>
                </a:tc>
                <a:extLst>
                  <a:ext uri="{0D108BD9-81ED-4DB2-BD59-A6C34878D82A}">
                    <a16:rowId xmlns:a16="http://schemas.microsoft.com/office/drawing/2014/main" val="325961845"/>
                  </a:ext>
                </a:extLst>
              </a:tr>
              <a:tr h="370840">
                <a:tc>
                  <a:txBody>
                    <a:bodyPr/>
                    <a:lstStyle/>
                    <a:p>
                      <a:pPr algn="ctr"/>
                      <a:r>
                        <a:rPr lang="es-CO" dirty="0"/>
                        <a:t>Proceso</a:t>
                      </a:r>
                    </a:p>
                  </a:txBody>
                  <a:tcPr anchor="ctr"/>
                </a:tc>
                <a:tc>
                  <a:txBody>
                    <a:bodyPr/>
                    <a:lstStyle/>
                    <a:p>
                      <a:endParaRPr lang="es-CO" dirty="0"/>
                    </a:p>
                    <a:p>
                      <a:endParaRPr lang="es-CO" dirty="0"/>
                    </a:p>
                    <a:p>
                      <a:endParaRPr lang="es-CO" dirty="0"/>
                    </a:p>
                    <a:p>
                      <a:endParaRPr lang="es-CO" dirty="0"/>
                    </a:p>
                  </a:txBody>
                  <a:tcPr/>
                </a:tc>
                <a:tc>
                  <a:txBody>
                    <a:bodyPr/>
                    <a:lstStyle/>
                    <a:p>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c = a + b</a:t>
                      </a:r>
                      <a:endParaRPr lang="es-CO" dirty="0"/>
                    </a:p>
                    <a:p>
                      <a:endParaRPr lang="es-CO" dirty="0"/>
                    </a:p>
                  </a:txBody>
                  <a:tcPr anchor="ctr"/>
                </a:tc>
                <a:extLst>
                  <a:ext uri="{0D108BD9-81ED-4DB2-BD59-A6C34878D82A}">
                    <a16:rowId xmlns:a16="http://schemas.microsoft.com/office/drawing/2014/main" val="2481907500"/>
                  </a:ext>
                </a:extLst>
              </a:tr>
            </a:tbl>
          </a:graphicData>
        </a:graphic>
      </p:graphicFrame>
      <p:sp>
        <p:nvSpPr>
          <p:cNvPr id="10" name="Flowchart: Data 6">
            <a:extLst>
              <a:ext uri="{FF2B5EF4-FFF2-40B4-BE49-F238E27FC236}">
                <a16:creationId xmlns:a16="http://schemas.microsoft.com/office/drawing/2014/main" id="{0844C778-9DE1-449B-B09C-237271C11B8A}"/>
              </a:ext>
            </a:extLst>
          </p:cNvPr>
          <p:cNvSpPr/>
          <p:nvPr/>
        </p:nvSpPr>
        <p:spPr>
          <a:xfrm>
            <a:off x="3000351" y="2683128"/>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v1,v2,…</a:t>
            </a:r>
          </a:p>
        </p:txBody>
      </p:sp>
      <p:sp>
        <p:nvSpPr>
          <p:cNvPr id="11" name="Flowchart: Data 6">
            <a:extLst>
              <a:ext uri="{FF2B5EF4-FFF2-40B4-BE49-F238E27FC236}">
                <a16:creationId xmlns:a16="http://schemas.microsoft.com/office/drawing/2014/main" id="{9C39F37A-2A39-47E1-86A7-FAE0C0329172}"/>
              </a:ext>
            </a:extLst>
          </p:cNvPr>
          <p:cNvSpPr/>
          <p:nvPr/>
        </p:nvSpPr>
        <p:spPr>
          <a:xfrm>
            <a:off x="2989742" y="4051280"/>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v1,v2,…</a:t>
            </a:r>
          </a:p>
        </p:txBody>
      </p:sp>
      <p:sp>
        <p:nvSpPr>
          <p:cNvPr id="12" name="Flowchart: Process 7">
            <a:extLst>
              <a:ext uri="{FF2B5EF4-FFF2-40B4-BE49-F238E27FC236}">
                <a16:creationId xmlns:a16="http://schemas.microsoft.com/office/drawing/2014/main" id="{6B08FC8C-52EF-4BF1-96B3-3C24D434D6C2}"/>
              </a:ext>
            </a:extLst>
          </p:cNvPr>
          <p:cNvSpPr/>
          <p:nvPr/>
        </p:nvSpPr>
        <p:spPr>
          <a:xfrm>
            <a:off x="3360391" y="5419432"/>
            <a:ext cx="1395611"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 </a:t>
            </a:r>
            <a:r>
              <a:rPr lang="en-US" sz="1400" dirty="0">
                <a:latin typeface="Consolas" panose="020B0609020204030204" pitchFamily="49" charset="0"/>
                <a:sym typeface="Wingdings" panose="05000000000000000000" pitchFamily="2" charset="2"/>
              </a:rPr>
              <a:t> a + b</a:t>
            </a:r>
            <a:r>
              <a:rPr lang="en-US" sz="1400" dirty="0">
                <a:latin typeface="Consolas" panose="020B0609020204030204" pitchFamily="49" charset="0"/>
              </a:rPr>
              <a:t> </a:t>
            </a:r>
          </a:p>
        </p:txBody>
      </p:sp>
    </p:spTree>
    <p:extLst>
      <p:ext uri="{BB962C8B-B14F-4D97-AF65-F5344CB8AC3E}">
        <p14:creationId xmlns:p14="http://schemas.microsoft.com/office/powerpoint/2010/main" val="2011269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0341" y="167717"/>
            <a:ext cx="7886700" cy="743229"/>
          </a:xfrm>
        </p:spPr>
        <p:txBody>
          <a:bodyPr/>
          <a:lstStyle/>
          <a:p>
            <a:r>
              <a:rPr lang="es-CO" sz="2800" dirty="0"/>
              <a:t>Problema - Solución</a:t>
            </a:r>
            <a:endParaRPr lang="en-US" sz="28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36</a:t>
            </a:fld>
            <a:endParaRPr lang="en-US" dirty="0"/>
          </a:p>
        </p:txBody>
      </p:sp>
      <p:sp>
        <p:nvSpPr>
          <p:cNvPr id="11" name="27 Rectángulo">
            <a:extLst>
              <a:ext uri="{FF2B5EF4-FFF2-40B4-BE49-F238E27FC236}">
                <a16:creationId xmlns:a16="http://schemas.microsoft.com/office/drawing/2014/main" id="{D44C9DCC-06E7-48ED-B8D8-CE7DB277AE3D}"/>
              </a:ext>
            </a:extLst>
          </p:cNvPr>
          <p:cNvSpPr/>
          <p:nvPr/>
        </p:nvSpPr>
        <p:spPr>
          <a:xfrm>
            <a:off x="137344" y="1052736"/>
            <a:ext cx="3426542" cy="861774"/>
          </a:xfrm>
          <a:prstGeom prst="rect">
            <a:avLst/>
          </a:prstGeom>
        </p:spPr>
        <p:txBody>
          <a:bodyPr wrap="square">
            <a:spAutoFit/>
          </a:bodyPr>
          <a:lstStyle/>
          <a:p>
            <a:r>
              <a:rPr lang="es-CO" b="1" dirty="0">
                <a:latin typeface="Century Gothic" panose="020B0502020202020204" pitchFamily="34" charset="0"/>
              </a:rPr>
              <a:t>Problema:</a:t>
            </a:r>
          </a:p>
          <a:p>
            <a:r>
              <a:rPr lang="es-CO" sz="1600" dirty="0">
                <a:latin typeface="Century Gothic" panose="020B0502020202020204" pitchFamily="34" charset="0"/>
              </a:rPr>
              <a:t>Hacer un algoritmo que calcule el área de un circulo</a:t>
            </a:r>
          </a:p>
        </p:txBody>
      </p:sp>
      <mc:AlternateContent xmlns:mc="http://schemas.openxmlformats.org/markup-compatibility/2006" xmlns:a14="http://schemas.microsoft.com/office/drawing/2010/main">
        <mc:Choice Requires="a14">
          <p:sp>
            <p:nvSpPr>
              <p:cNvPr id="12" name="5 CuadroTexto">
                <a:extLst>
                  <a:ext uri="{FF2B5EF4-FFF2-40B4-BE49-F238E27FC236}">
                    <a16:creationId xmlns:a16="http://schemas.microsoft.com/office/drawing/2014/main" id="{ABDA1C0D-3879-42DB-9A80-642C82CD9A78}"/>
                  </a:ext>
                </a:extLst>
              </p:cNvPr>
              <p:cNvSpPr txBox="1"/>
              <p:nvPr/>
            </p:nvSpPr>
            <p:spPr>
              <a:xfrm>
                <a:off x="240382" y="3798507"/>
                <a:ext cx="4152082" cy="1846659"/>
              </a:xfrm>
              <a:prstGeom prst="rect">
                <a:avLst/>
              </a:prstGeom>
              <a:noFill/>
            </p:spPr>
            <p:txBody>
              <a:bodyPr wrap="square" rtlCol="0">
                <a:spAutoFit/>
              </a:bodyPr>
              <a:lstStyle/>
              <a:p>
                <a:r>
                  <a:rPr lang="es-CO" b="1" dirty="0">
                    <a:latin typeface="Century Gothic" panose="020B0502020202020204" pitchFamily="34" charset="0"/>
                  </a:rPr>
                  <a:t>Análisis</a:t>
                </a:r>
                <a:r>
                  <a:rPr lang="es-CO" dirty="0">
                    <a:latin typeface="Century Gothic" panose="020B0502020202020204" pitchFamily="34" charset="0"/>
                  </a:rPr>
                  <a:t>:</a:t>
                </a:r>
              </a:p>
              <a:p>
                <a:r>
                  <a:rPr lang="es-CO" sz="1600" dirty="0">
                    <a:solidFill>
                      <a:srgbClr val="FF0000"/>
                    </a:solidFill>
                    <a:latin typeface="Century Gothic" panose="020B0502020202020204" pitchFamily="34" charset="0"/>
                  </a:rPr>
                  <a:t>Datos de entrada: </a:t>
                </a:r>
                <a:r>
                  <a:rPr lang="es-CO" sz="1600" dirty="0">
                    <a:latin typeface="Century Gothic" panose="020B0502020202020204" pitchFamily="34" charset="0"/>
                  </a:rPr>
                  <a:t>radio</a:t>
                </a:r>
              </a:p>
              <a:p>
                <a:r>
                  <a:rPr lang="es-CO" sz="1600" dirty="0">
                    <a:solidFill>
                      <a:srgbClr val="FF0000"/>
                    </a:solidFill>
                    <a:latin typeface="Century Gothic" panose="020B0502020202020204" pitchFamily="34" charset="0"/>
                  </a:rPr>
                  <a:t>Datos de salida: </a:t>
                </a:r>
                <a:r>
                  <a:rPr lang="es-CO" sz="1600" dirty="0">
                    <a:latin typeface="Century Gothic" panose="020B0502020202020204" pitchFamily="34" charset="0"/>
                  </a:rPr>
                  <a:t>área del circulo</a:t>
                </a:r>
              </a:p>
              <a:p>
                <a:r>
                  <a:rPr lang="es-CO" sz="1600" dirty="0">
                    <a:solidFill>
                      <a:srgbClr val="FF0000"/>
                    </a:solidFill>
                    <a:latin typeface="Century Gothic" panose="020B0502020202020204" pitchFamily="34" charset="0"/>
                  </a:rPr>
                  <a:t>Definición de variables:</a:t>
                </a:r>
              </a:p>
              <a:p>
                <a:pPr marL="800100" lvl="1" indent="-342900">
                  <a:buFont typeface="Arial" pitchFamily="34" charset="0"/>
                  <a:buChar char="•"/>
                </a:pPr>
                <a:r>
                  <a:rPr lang="es-CO" sz="1400" i="1" dirty="0">
                    <a:latin typeface="Century Gothic" panose="020B0502020202020204" pitchFamily="34" charset="0"/>
                  </a:rPr>
                  <a:t>radio</a:t>
                </a:r>
                <a:r>
                  <a:rPr lang="es-CO" sz="1400" dirty="0">
                    <a:latin typeface="Century Gothic" panose="020B0502020202020204" pitchFamily="34" charset="0"/>
                  </a:rPr>
                  <a:t>: radio</a:t>
                </a:r>
              </a:p>
              <a:p>
                <a:r>
                  <a:rPr lang="es-CO" sz="1600" dirty="0">
                    <a:solidFill>
                      <a:srgbClr val="FF0000"/>
                    </a:solidFill>
                    <a:latin typeface="Century Gothic" panose="020B0502020202020204" pitchFamily="34" charset="0"/>
                  </a:rPr>
                  <a:t>¿Proceso?: </a:t>
                </a:r>
                <a:r>
                  <a:rPr lang="es-CO" sz="1600" dirty="0">
                    <a:latin typeface="Century Gothic" panose="020B0502020202020204" pitchFamily="34" charset="0"/>
                  </a:rPr>
                  <a:t>Elevar el radio al cuadrado y multiplicarlo por </a:t>
                </a:r>
                <a14:m>
                  <m:oMath xmlns:m="http://schemas.openxmlformats.org/officeDocument/2006/math">
                    <m:r>
                      <a:rPr lang="es-CO" i="1" smtClean="0">
                        <a:latin typeface="Cambria Math" panose="02040503050406030204" pitchFamily="18" charset="0"/>
                        <a:ea typeface="Cambria Math" panose="02040503050406030204" pitchFamily="18" charset="0"/>
                      </a:rPr>
                      <m:t>𝜋</m:t>
                    </m:r>
                  </m:oMath>
                </a14:m>
                <a:endParaRPr lang="es-CO" sz="1600" dirty="0">
                  <a:latin typeface="Century Gothic" panose="020B0502020202020204" pitchFamily="34" charset="0"/>
                </a:endParaRPr>
              </a:p>
            </p:txBody>
          </p:sp>
        </mc:Choice>
        <mc:Fallback xmlns="">
          <p:sp>
            <p:nvSpPr>
              <p:cNvPr id="12" name="5 CuadroTexto">
                <a:extLst>
                  <a:ext uri="{FF2B5EF4-FFF2-40B4-BE49-F238E27FC236}">
                    <a16:creationId xmlns:a16="http://schemas.microsoft.com/office/drawing/2014/main" id="{ABDA1C0D-3879-42DB-9A80-642C82CD9A78}"/>
                  </a:ext>
                </a:extLst>
              </p:cNvPr>
              <p:cNvSpPr txBox="1">
                <a:spLocks noRot="1" noChangeAspect="1" noMove="1" noResize="1" noEditPoints="1" noAdjustHandles="1" noChangeArrowheads="1" noChangeShapeType="1" noTextEdit="1"/>
              </p:cNvSpPr>
              <p:nvPr/>
            </p:nvSpPr>
            <p:spPr>
              <a:xfrm>
                <a:off x="240382" y="3798507"/>
                <a:ext cx="4152082" cy="1846659"/>
              </a:xfrm>
              <a:prstGeom prst="rect">
                <a:avLst/>
              </a:prstGeom>
              <a:blipFill>
                <a:blip r:embed="rId2"/>
                <a:stretch>
                  <a:fillRect l="-1173" t="-1650" b="-2970"/>
                </a:stretch>
              </a:blipFill>
            </p:spPr>
            <p:txBody>
              <a:bodyPr/>
              <a:lstStyle/>
              <a:p>
                <a:r>
                  <a:rPr lang="es-CO">
                    <a:noFill/>
                  </a:rPr>
                  <a:t> </a:t>
                </a:r>
              </a:p>
            </p:txBody>
          </p:sp>
        </mc:Fallback>
      </mc:AlternateContent>
      <p:grpSp>
        <p:nvGrpSpPr>
          <p:cNvPr id="57" name="Grupo 56">
            <a:extLst>
              <a:ext uri="{FF2B5EF4-FFF2-40B4-BE49-F238E27FC236}">
                <a16:creationId xmlns:a16="http://schemas.microsoft.com/office/drawing/2014/main" id="{C75A40F1-4714-4A2D-8D6C-7A413FEBF89C}"/>
              </a:ext>
            </a:extLst>
          </p:cNvPr>
          <p:cNvGrpSpPr/>
          <p:nvPr/>
        </p:nvGrpSpPr>
        <p:grpSpPr>
          <a:xfrm>
            <a:off x="4603750" y="1483623"/>
            <a:ext cx="2592287" cy="4054522"/>
            <a:chOff x="3865663" y="2084774"/>
            <a:chExt cx="2592287" cy="4054522"/>
          </a:xfrm>
        </p:grpSpPr>
        <p:sp>
          <p:nvSpPr>
            <p:cNvPr id="14" name="Flowchart: Terminator 43">
              <a:extLst>
                <a:ext uri="{FF2B5EF4-FFF2-40B4-BE49-F238E27FC236}">
                  <a16:creationId xmlns:a16="http://schemas.microsoft.com/office/drawing/2014/main" id="{BED445AE-167E-4AA6-AFC0-11E3E35EA28D}"/>
                </a:ext>
              </a:extLst>
            </p:cNvPr>
            <p:cNvSpPr/>
            <p:nvPr/>
          </p:nvSpPr>
          <p:spPr>
            <a:xfrm>
              <a:off x="4507179" y="580978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15" name="Flowchart: Terminator 44">
              <a:extLst>
                <a:ext uri="{FF2B5EF4-FFF2-40B4-BE49-F238E27FC236}">
                  <a16:creationId xmlns:a16="http://schemas.microsoft.com/office/drawing/2014/main" id="{1CF6A766-4B47-4A43-AFF3-4EF2D8AAFFEB}"/>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16" name="Straight Arrow Connector 45">
              <a:extLst>
                <a:ext uri="{FF2B5EF4-FFF2-40B4-BE49-F238E27FC236}">
                  <a16:creationId xmlns:a16="http://schemas.microsoft.com/office/drawing/2014/main" id="{B38A8422-A529-4209-8D9A-A356AB1E003F}"/>
                </a:ext>
              </a:extLst>
            </p:cNvPr>
            <p:cNvCxnSpPr>
              <a:cxnSpLocks/>
              <a:stCxn id="15" idx="2"/>
              <a:endCxn id="23"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48">
              <a:extLst>
                <a:ext uri="{FF2B5EF4-FFF2-40B4-BE49-F238E27FC236}">
                  <a16:creationId xmlns:a16="http://schemas.microsoft.com/office/drawing/2014/main" id="{3A5F7DCD-C971-4E61-9D52-589716870EE4}"/>
                </a:ext>
              </a:extLst>
            </p:cNvPr>
            <p:cNvCxnSpPr>
              <a:cxnSpLocks/>
              <a:stCxn id="22" idx="2"/>
              <a:endCxn id="18" idx="1"/>
            </p:cNvCxnSpPr>
            <p:nvPr/>
          </p:nvCxnSpPr>
          <p:spPr>
            <a:xfrm>
              <a:off x="5161807" y="4710533"/>
              <a:ext cx="0" cy="32368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lowchart: Data 52">
              <a:extLst>
                <a:ext uri="{FF2B5EF4-FFF2-40B4-BE49-F238E27FC236}">
                  <a16:creationId xmlns:a16="http://schemas.microsoft.com/office/drawing/2014/main" id="{7C4ECD2D-A0D9-41E4-899E-92488B8E97A3}"/>
                </a:ext>
              </a:extLst>
            </p:cNvPr>
            <p:cNvSpPr/>
            <p:nvPr/>
          </p:nvSpPr>
          <p:spPr>
            <a:xfrm>
              <a:off x="4013451" y="5034221"/>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a:t>
              </a:r>
              <a:r>
                <a:rPr lang="en-US" sz="1400" b="1" dirty="0">
                  <a:latin typeface="Consolas" panose="020B0609020204030204" pitchFamily="49" charset="0"/>
                </a:rPr>
                <a:t>area</a:t>
              </a:r>
            </a:p>
          </p:txBody>
        </p:sp>
        <p:cxnSp>
          <p:nvCxnSpPr>
            <p:cNvPr id="19" name="Straight Arrow Connector 53">
              <a:extLst>
                <a:ext uri="{FF2B5EF4-FFF2-40B4-BE49-F238E27FC236}">
                  <a16:creationId xmlns:a16="http://schemas.microsoft.com/office/drawing/2014/main" id="{88EE88A8-FD79-464A-8C89-F5B4C3CB7383}"/>
                </a:ext>
              </a:extLst>
            </p:cNvPr>
            <p:cNvCxnSpPr>
              <a:cxnSpLocks/>
              <a:stCxn id="18" idx="4"/>
              <a:endCxn id="14" idx="0"/>
            </p:cNvCxnSpPr>
            <p:nvPr/>
          </p:nvCxnSpPr>
          <p:spPr>
            <a:xfrm flipH="1">
              <a:off x="5161806" y="5446113"/>
              <a:ext cx="1" cy="36366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a:extLst>
                <a:ext uri="{FF2B5EF4-FFF2-40B4-BE49-F238E27FC236}">
                  <a16:creationId xmlns:a16="http://schemas.microsoft.com/office/drawing/2014/main" id="{19568E3C-2EB2-4BA2-B069-6F97533D4AD7}"/>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radio</a:t>
              </a:r>
              <a:endParaRPr lang="en-US" sz="1400" b="1" dirty="0">
                <a:latin typeface="Consolas" panose="020B0609020204030204" pitchFamily="49" charset="0"/>
              </a:endParaRPr>
            </a:p>
          </p:txBody>
        </p:sp>
        <p:cxnSp>
          <p:nvCxnSpPr>
            <p:cNvPr id="21" name="Straight Arrow Connector 47">
              <a:extLst>
                <a:ext uri="{FF2B5EF4-FFF2-40B4-BE49-F238E27FC236}">
                  <a16:creationId xmlns:a16="http://schemas.microsoft.com/office/drawing/2014/main" id="{839440A2-4ABB-416F-A054-E0F183DE6742}"/>
                </a:ext>
              </a:extLst>
            </p:cNvPr>
            <p:cNvCxnSpPr>
              <a:cxnSpLocks/>
              <a:stCxn id="20" idx="4"/>
            </p:cNvCxnSpPr>
            <p:nvPr/>
          </p:nvCxnSpPr>
          <p:spPr>
            <a:xfrm>
              <a:off x="5185096" y="3938138"/>
              <a:ext cx="1" cy="3414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Process 42">
              <a:extLst>
                <a:ext uri="{FF2B5EF4-FFF2-40B4-BE49-F238E27FC236}">
                  <a16:creationId xmlns:a16="http://schemas.microsoft.com/office/drawing/2014/main" id="{5BAE35F9-4854-4E7D-9300-26DDBAB29571}"/>
                </a:ext>
              </a:extLst>
            </p:cNvPr>
            <p:cNvSpPr/>
            <p:nvPr/>
          </p:nvSpPr>
          <p:spPr>
            <a:xfrm>
              <a:off x="3865663" y="4298641"/>
              <a:ext cx="2592287"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area</a:t>
              </a:r>
              <a:r>
                <a:rPr lang="en-US" sz="1400" dirty="0">
                  <a:latin typeface="Consolas" panose="020B0609020204030204" pitchFamily="49" charset="0"/>
                </a:rPr>
                <a:t> PI * (radio**2)</a:t>
              </a:r>
            </a:p>
          </p:txBody>
        </p:sp>
        <p:sp>
          <p:nvSpPr>
            <p:cNvPr id="23" name="Flowchart: Process 42">
              <a:extLst>
                <a:ext uri="{FF2B5EF4-FFF2-40B4-BE49-F238E27FC236}">
                  <a16:creationId xmlns:a16="http://schemas.microsoft.com/office/drawing/2014/main" id="{698F2AC1-BDB8-494B-9418-CEB787156EE5}"/>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PI </a:t>
              </a:r>
              <a:r>
                <a:rPr lang="en-US" sz="1400" dirty="0">
                  <a:latin typeface="Consolas" panose="020B0609020204030204" pitchFamily="49" charset="0"/>
                </a:rPr>
                <a:t> 3.14</a:t>
              </a:r>
            </a:p>
          </p:txBody>
        </p:sp>
        <p:cxnSp>
          <p:nvCxnSpPr>
            <p:cNvPr id="28" name="Straight Arrow Connector 45">
              <a:extLst>
                <a:ext uri="{FF2B5EF4-FFF2-40B4-BE49-F238E27FC236}">
                  <a16:creationId xmlns:a16="http://schemas.microsoft.com/office/drawing/2014/main" id="{65150B39-3550-4E83-8156-741977F4300C}"/>
                </a:ext>
              </a:extLst>
            </p:cNvPr>
            <p:cNvCxnSpPr>
              <a:cxnSpLocks/>
              <a:endCxn id="20"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62" name="Picture 2" descr="http://www.jegsworks.com/lessons/computerbasics/lesson3/keyboard-white.png">
            <a:extLst>
              <a:ext uri="{FF2B5EF4-FFF2-40B4-BE49-F238E27FC236}">
                <a16:creationId xmlns:a16="http://schemas.microsoft.com/office/drawing/2014/main" id="{D6FEC060-58C9-4156-A735-B379D76DD9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2320" y="2900381"/>
            <a:ext cx="1365108" cy="432285"/>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http://t2.gstatic.com/images?q=tbn:ANd9GcS51PGLkp34nPs-LewfkgAfjdZsyder21fNGFoRiZ_A6x7txo3e">
            <a:extLst>
              <a:ext uri="{FF2B5EF4-FFF2-40B4-BE49-F238E27FC236}">
                <a16:creationId xmlns:a16="http://schemas.microsoft.com/office/drawing/2014/main" id="{F4A31435-DC5C-43A1-A5F1-5C16B81C266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73894" y="4356083"/>
            <a:ext cx="841456" cy="69006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F96762B2-695E-4175-ABE5-5CD24032637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39322" y="3618372"/>
            <a:ext cx="615439" cy="615439"/>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3B68BA91-9C1D-4D02-B04C-752085F80E9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99206" y="1999236"/>
            <a:ext cx="615439" cy="61543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3">
            <a:extLst>
              <a:ext uri="{FF2B5EF4-FFF2-40B4-BE49-F238E27FC236}">
                <a16:creationId xmlns:a16="http://schemas.microsoft.com/office/drawing/2014/main" id="{A63C8DA9-AAD0-4EA1-B536-4EAF884B3BE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15097" y="2249279"/>
            <a:ext cx="1570978" cy="1178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3070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0341" y="167717"/>
            <a:ext cx="7886700" cy="743229"/>
          </a:xfrm>
        </p:spPr>
        <p:txBody>
          <a:bodyPr/>
          <a:lstStyle/>
          <a:p>
            <a:r>
              <a:rPr lang="es-CO" sz="2800" dirty="0"/>
              <a:t>Problema - Solución</a:t>
            </a:r>
            <a:endParaRPr lang="en-US" sz="28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37</a:t>
            </a:fld>
            <a:endParaRPr lang="en-US" dirty="0"/>
          </a:p>
        </p:txBody>
      </p:sp>
      <p:sp>
        <p:nvSpPr>
          <p:cNvPr id="11" name="27 Rectángulo">
            <a:extLst>
              <a:ext uri="{FF2B5EF4-FFF2-40B4-BE49-F238E27FC236}">
                <a16:creationId xmlns:a16="http://schemas.microsoft.com/office/drawing/2014/main" id="{D44C9DCC-06E7-48ED-B8D8-CE7DB277AE3D}"/>
              </a:ext>
            </a:extLst>
          </p:cNvPr>
          <p:cNvSpPr/>
          <p:nvPr/>
        </p:nvSpPr>
        <p:spPr>
          <a:xfrm>
            <a:off x="137344" y="1052736"/>
            <a:ext cx="8755136" cy="615553"/>
          </a:xfrm>
          <a:prstGeom prst="rect">
            <a:avLst/>
          </a:prstGeom>
        </p:spPr>
        <p:txBody>
          <a:bodyPr wrap="square">
            <a:spAutoFit/>
          </a:bodyPr>
          <a:lstStyle/>
          <a:p>
            <a:r>
              <a:rPr lang="es-CO" b="1" dirty="0">
                <a:latin typeface="Century Gothic" panose="020B0502020202020204" pitchFamily="34" charset="0"/>
              </a:rPr>
              <a:t>Problema:</a:t>
            </a:r>
          </a:p>
          <a:p>
            <a:r>
              <a:rPr lang="es-CO" sz="1600" dirty="0">
                <a:latin typeface="Century Gothic" panose="020B0502020202020204" pitchFamily="34" charset="0"/>
              </a:rPr>
              <a:t>Hacer un algoritmo que calcule el área de un circulo (Pseudocodigo forma 1)</a:t>
            </a:r>
          </a:p>
        </p:txBody>
      </p:sp>
      <p:grpSp>
        <p:nvGrpSpPr>
          <p:cNvPr id="57" name="Grupo 56">
            <a:extLst>
              <a:ext uri="{FF2B5EF4-FFF2-40B4-BE49-F238E27FC236}">
                <a16:creationId xmlns:a16="http://schemas.microsoft.com/office/drawing/2014/main" id="{C75A40F1-4714-4A2D-8D6C-7A413FEBF89C}"/>
              </a:ext>
            </a:extLst>
          </p:cNvPr>
          <p:cNvGrpSpPr/>
          <p:nvPr/>
        </p:nvGrpSpPr>
        <p:grpSpPr>
          <a:xfrm>
            <a:off x="628650" y="1999236"/>
            <a:ext cx="2592287" cy="4054522"/>
            <a:chOff x="3865663" y="2084774"/>
            <a:chExt cx="2592287" cy="4054522"/>
          </a:xfrm>
        </p:grpSpPr>
        <p:sp>
          <p:nvSpPr>
            <p:cNvPr id="14" name="Flowchart: Terminator 43">
              <a:extLst>
                <a:ext uri="{FF2B5EF4-FFF2-40B4-BE49-F238E27FC236}">
                  <a16:creationId xmlns:a16="http://schemas.microsoft.com/office/drawing/2014/main" id="{BED445AE-167E-4AA6-AFC0-11E3E35EA28D}"/>
                </a:ext>
              </a:extLst>
            </p:cNvPr>
            <p:cNvSpPr/>
            <p:nvPr/>
          </p:nvSpPr>
          <p:spPr>
            <a:xfrm>
              <a:off x="4507179" y="580978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15" name="Flowchart: Terminator 44">
              <a:extLst>
                <a:ext uri="{FF2B5EF4-FFF2-40B4-BE49-F238E27FC236}">
                  <a16:creationId xmlns:a16="http://schemas.microsoft.com/office/drawing/2014/main" id="{1CF6A766-4B47-4A43-AFF3-4EF2D8AAFFEB}"/>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16" name="Straight Arrow Connector 45">
              <a:extLst>
                <a:ext uri="{FF2B5EF4-FFF2-40B4-BE49-F238E27FC236}">
                  <a16:creationId xmlns:a16="http://schemas.microsoft.com/office/drawing/2014/main" id="{B38A8422-A529-4209-8D9A-A356AB1E003F}"/>
                </a:ext>
              </a:extLst>
            </p:cNvPr>
            <p:cNvCxnSpPr>
              <a:cxnSpLocks/>
              <a:stCxn id="15" idx="2"/>
              <a:endCxn id="23"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48">
              <a:extLst>
                <a:ext uri="{FF2B5EF4-FFF2-40B4-BE49-F238E27FC236}">
                  <a16:creationId xmlns:a16="http://schemas.microsoft.com/office/drawing/2014/main" id="{3A5F7DCD-C971-4E61-9D52-589716870EE4}"/>
                </a:ext>
              </a:extLst>
            </p:cNvPr>
            <p:cNvCxnSpPr>
              <a:cxnSpLocks/>
              <a:stCxn id="22" idx="2"/>
              <a:endCxn id="18" idx="1"/>
            </p:cNvCxnSpPr>
            <p:nvPr/>
          </p:nvCxnSpPr>
          <p:spPr>
            <a:xfrm>
              <a:off x="5161807" y="4710533"/>
              <a:ext cx="0" cy="32368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lowchart: Data 52">
              <a:extLst>
                <a:ext uri="{FF2B5EF4-FFF2-40B4-BE49-F238E27FC236}">
                  <a16:creationId xmlns:a16="http://schemas.microsoft.com/office/drawing/2014/main" id="{7C4ECD2D-A0D9-41E4-899E-92488B8E97A3}"/>
                </a:ext>
              </a:extLst>
            </p:cNvPr>
            <p:cNvSpPr/>
            <p:nvPr/>
          </p:nvSpPr>
          <p:spPr>
            <a:xfrm>
              <a:off x="4013451" y="5034221"/>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a:t>
              </a:r>
              <a:r>
                <a:rPr lang="en-US" sz="1400" b="1" dirty="0">
                  <a:latin typeface="Consolas" panose="020B0609020204030204" pitchFamily="49" charset="0"/>
                </a:rPr>
                <a:t>area</a:t>
              </a:r>
            </a:p>
          </p:txBody>
        </p:sp>
        <p:cxnSp>
          <p:nvCxnSpPr>
            <p:cNvPr id="19" name="Straight Arrow Connector 53">
              <a:extLst>
                <a:ext uri="{FF2B5EF4-FFF2-40B4-BE49-F238E27FC236}">
                  <a16:creationId xmlns:a16="http://schemas.microsoft.com/office/drawing/2014/main" id="{88EE88A8-FD79-464A-8C89-F5B4C3CB7383}"/>
                </a:ext>
              </a:extLst>
            </p:cNvPr>
            <p:cNvCxnSpPr>
              <a:cxnSpLocks/>
              <a:stCxn id="18" idx="4"/>
              <a:endCxn id="14" idx="0"/>
            </p:cNvCxnSpPr>
            <p:nvPr/>
          </p:nvCxnSpPr>
          <p:spPr>
            <a:xfrm flipH="1">
              <a:off x="5161806" y="5446113"/>
              <a:ext cx="1" cy="36366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a:extLst>
                <a:ext uri="{FF2B5EF4-FFF2-40B4-BE49-F238E27FC236}">
                  <a16:creationId xmlns:a16="http://schemas.microsoft.com/office/drawing/2014/main" id="{19568E3C-2EB2-4BA2-B069-6F97533D4AD7}"/>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a:t>
              </a:r>
              <a:r>
                <a:rPr lang="en-US" sz="1400" b="1" dirty="0">
                  <a:latin typeface="Consolas" panose="020B0609020204030204" pitchFamily="49" charset="0"/>
                </a:rPr>
                <a:t>radio</a:t>
              </a:r>
              <a:br>
                <a:rPr lang="en-US" sz="1400" b="1" dirty="0">
                  <a:latin typeface="Consolas" panose="020B0609020204030204" pitchFamily="49" charset="0"/>
                </a:rPr>
              </a:br>
              <a:r>
                <a:rPr lang="en-US" sz="1400" dirty="0">
                  <a:latin typeface="Consolas" panose="020B0609020204030204" pitchFamily="49" charset="0"/>
                </a:rPr>
                <a:t>Read</a:t>
              </a:r>
              <a:r>
                <a:rPr lang="en-US" sz="1400" b="1" dirty="0">
                  <a:latin typeface="Consolas" panose="020B0609020204030204" pitchFamily="49" charset="0"/>
                </a:rPr>
                <a:t> height</a:t>
              </a:r>
            </a:p>
          </p:txBody>
        </p:sp>
        <p:cxnSp>
          <p:nvCxnSpPr>
            <p:cNvPr id="21" name="Straight Arrow Connector 47">
              <a:extLst>
                <a:ext uri="{FF2B5EF4-FFF2-40B4-BE49-F238E27FC236}">
                  <a16:creationId xmlns:a16="http://schemas.microsoft.com/office/drawing/2014/main" id="{839440A2-4ABB-416F-A054-E0F183DE6742}"/>
                </a:ext>
              </a:extLst>
            </p:cNvPr>
            <p:cNvCxnSpPr>
              <a:cxnSpLocks/>
              <a:stCxn id="20" idx="4"/>
            </p:cNvCxnSpPr>
            <p:nvPr/>
          </p:nvCxnSpPr>
          <p:spPr>
            <a:xfrm>
              <a:off x="5185096" y="3938138"/>
              <a:ext cx="1" cy="3414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Process 42">
              <a:extLst>
                <a:ext uri="{FF2B5EF4-FFF2-40B4-BE49-F238E27FC236}">
                  <a16:creationId xmlns:a16="http://schemas.microsoft.com/office/drawing/2014/main" id="{5BAE35F9-4854-4E7D-9300-26DDBAB29571}"/>
                </a:ext>
              </a:extLst>
            </p:cNvPr>
            <p:cNvSpPr/>
            <p:nvPr/>
          </p:nvSpPr>
          <p:spPr>
            <a:xfrm>
              <a:off x="3865663" y="4298641"/>
              <a:ext cx="2592287"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area</a:t>
              </a:r>
              <a:r>
                <a:rPr lang="en-US" sz="1400" dirty="0">
                  <a:latin typeface="Consolas" panose="020B0609020204030204" pitchFamily="49" charset="0"/>
                </a:rPr>
                <a:t> PI * (radio**2)</a:t>
              </a:r>
            </a:p>
          </p:txBody>
        </p:sp>
        <p:sp>
          <p:nvSpPr>
            <p:cNvPr id="23" name="Flowchart: Process 42">
              <a:extLst>
                <a:ext uri="{FF2B5EF4-FFF2-40B4-BE49-F238E27FC236}">
                  <a16:creationId xmlns:a16="http://schemas.microsoft.com/office/drawing/2014/main" id="{698F2AC1-BDB8-494B-9418-CEB787156EE5}"/>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PI </a:t>
              </a:r>
              <a:r>
                <a:rPr lang="en-US" sz="1400" dirty="0">
                  <a:latin typeface="Consolas" panose="020B0609020204030204" pitchFamily="49" charset="0"/>
                </a:rPr>
                <a:t> 3.14</a:t>
              </a:r>
            </a:p>
          </p:txBody>
        </p:sp>
        <p:cxnSp>
          <p:nvCxnSpPr>
            <p:cNvPr id="28" name="Straight Arrow Connector 45">
              <a:extLst>
                <a:ext uri="{FF2B5EF4-FFF2-40B4-BE49-F238E27FC236}">
                  <a16:creationId xmlns:a16="http://schemas.microsoft.com/office/drawing/2014/main" id="{65150B39-3550-4E83-8156-741977F4300C}"/>
                </a:ext>
              </a:extLst>
            </p:cNvPr>
            <p:cNvCxnSpPr>
              <a:cxnSpLocks/>
              <a:endCxn id="20"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CuadroTexto 23">
            <a:extLst>
              <a:ext uri="{FF2B5EF4-FFF2-40B4-BE49-F238E27FC236}">
                <a16:creationId xmlns:a16="http://schemas.microsoft.com/office/drawing/2014/main" id="{58DBAB80-7B45-4C61-B5B2-9BE2ACB11B54}"/>
              </a:ext>
            </a:extLst>
          </p:cNvPr>
          <p:cNvSpPr txBox="1"/>
          <p:nvPr/>
        </p:nvSpPr>
        <p:spPr>
          <a:xfrm>
            <a:off x="3995935" y="2139716"/>
            <a:ext cx="4364011" cy="1569660"/>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r>
              <a:rPr lang="es-CO" sz="1600" dirty="0">
                <a:latin typeface="Consolas" panose="020B0609020204030204" pitchFamily="49" charset="0"/>
              </a:rPr>
              <a:t> </a:t>
            </a:r>
          </a:p>
          <a:p>
            <a:r>
              <a:rPr lang="es-CO" sz="1600" dirty="0">
                <a:latin typeface="Consolas" panose="020B0609020204030204" pitchFamily="49" charset="0"/>
              </a:rPr>
              <a:t>  PI = 3.14</a:t>
            </a:r>
          </a:p>
          <a:p>
            <a:r>
              <a:rPr lang="es-CO" sz="1600" dirty="0">
                <a:latin typeface="Consolas" panose="020B0609020204030204" pitchFamily="49" charset="0"/>
              </a:rPr>
              <a:t>  LEA(radio)</a:t>
            </a:r>
          </a:p>
          <a:p>
            <a:r>
              <a:rPr lang="es-CO" sz="1600" dirty="0">
                <a:latin typeface="Consolas" panose="020B0609020204030204" pitchFamily="49" charset="0"/>
              </a:rPr>
              <a:t>  area = PI*(radio**2)</a:t>
            </a:r>
          </a:p>
          <a:p>
            <a:r>
              <a:rPr lang="es-CO" sz="1600" dirty="0">
                <a:latin typeface="Consolas" panose="020B0609020204030204" pitchFamily="49" charset="0"/>
              </a:rPr>
              <a:t>  ESCRIBA(area)</a:t>
            </a:r>
          </a:p>
          <a:p>
            <a:r>
              <a:rPr lang="es-CO" sz="1600" b="1" dirty="0">
                <a:latin typeface="Consolas" panose="020B0609020204030204" pitchFamily="49" charset="0"/>
              </a:rPr>
              <a:t>FIN</a:t>
            </a:r>
          </a:p>
        </p:txBody>
      </p:sp>
      <p:sp>
        <p:nvSpPr>
          <p:cNvPr id="25" name="1 Rectángulo">
            <a:extLst>
              <a:ext uri="{FF2B5EF4-FFF2-40B4-BE49-F238E27FC236}">
                <a16:creationId xmlns:a16="http://schemas.microsoft.com/office/drawing/2014/main" id="{529D5F01-1C96-4ED9-A5DD-67EFC842684B}"/>
              </a:ext>
            </a:extLst>
          </p:cNvPr>
          <p:cNvSpPr/>
          <p:nvPr/>
        </p:nvSpPr>
        <p:spPr>
          <a:xfrm>
            <a:off x="3995936" y="4974466"/>
            <a:ext cx="4368253" cy="954107"/>
          </a:xfrm>
          <a:prstGeom prst="rect">
            <a:avLst/>
          </a:prstGeom>
          <a:ln w="28575">
            <a:solidFill>
              <a:schemeClr val="tx2"/>
            </a:solidFill>
          </a:ln>
        </p:spPr>
        <p:txBody>
          <a:bodyPr wrap="square">
            <a:spAutoFit/>
          </a:bodyPr>
          <a:lstStyle/>
          <a:p>
            <a:r>
              <a:rPr lang="en-US" sz="1400" dirty="0">
                <a:latin typeface="Consolas" panose="020B0609020204030204" pitchFamily="49" charset="0"/>
                <a:cs typeface="Consolas" panose="020B0609020204030204" pitchFamily="49" charset="0"/>
              </a:rPr>
              <a:t>PI = 3.14</a:t>
            </a:r>
          </a:p>
          <a:p>
            <a:r>
              <a:rPr lang="en-US" sz="1400" dirty="0">
                <a:latin typeface="Consolas" panose="020B0609020204030204" pitchFamily="49" charset="0"/>
                <a:cs typeface="Consolas" panose="020B0609020204030204" pitchFamily="49" charset="0"/>
              </a:rPr>
              <a:t>radio = float(input(“Digite el radio: ”))</a:t>
            </a:r>
          </a:p>
          <a:p>
            <a:r>
              <a:rPr lang="en-US" sz="1400" dirty="0">
                <a:latin typeface="Consolas" panose="020B0609020204030204" pitchFamily="49" charset="0"/>
                <a:cs typeface="Consolas" panose="020B0609020204030204" pitchFamily="49" charset="0"/>
              </a:rPr>
              <a:t>area = PI * (radio**2)</a:t>
            </a:r>
          </a:p>
          <a:p>
            <a:r>
              <a:rPr lang="en-US" sz="1400" dirty="0">
                <a:latin typeface="Consolas" panose="020B0609020204030204" pitchFamily="49" charset="0"/>
                <a:cs typeface="Consolas" panose="020B0609020204030204" pitchFamily="49" charset="0"/>
              </a:rPr>
              <a:t>print(“El area del circulo es:”, r)</a:t>
            </a:r>
            <a:endParaRPr lang="es-CO" sz="1400" dirty="0">
              <a:latin typeface="Consolas" panose="020B0609020204030204" pitchFamily="49" charset="0"/>
              <a:cs typeface="Consolas" panose="020B0609020204030204" pitchFamily="49" charset="0"/>
            </a:endParaRPr>
          </a:p>
        </p:txBody>
      </p:sp>
      <p:pic>
        <p:nvPicPr>
          <p:cNvPr id="26" name="Picture 5" descr="http://upload.wikimedia.org/wikipedia/commons/thumb/c/c3/Python-logo-notext.svg/2000px-Python-logo-notext.svg.png">
            <a:extLst>
              <a:ext uri="{FF2B5EF4-FFF2-40B4-BE49-F238E27FC236}">
                <a16:creationId xmlns:a16="http://schemas.microsoft.com/office/drawing/2014/main" id="{07E9DFAF-58A0-4EB7-AA79-738368CB1B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6156" y="4180803"/>
            <a:ext cx="637828" cy="637828"/>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D528608D-F126-45F8-992A-E49C55D22AC7}"/>
              </a:ext>
            </a:extLst>
          </p:cNvPr>
          <p:cNvSpPr/>
          <p:nvPr/>
        </p:nvSpPr>
        <p:spPr>
          <a:xfrm>
            <a:off x="5663804" y="5944195"/>
            <a:ext cx="1032516"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Century Gothic" panose="020B0502020202020204" pitchFamily="34" charset="0"/>
                <a:hlinkClick r:id="rId3"/>
              </a:rPr>
              <a:t>link</a:t>
            </a:r>
            <a:endParaRPr lang="es-MX" sz="12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1790479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0341" y="167717"/>
            <a:ext cx="7886700" cy="743229"/>
          </a:xfrm>
        </p:spPr>
        <p:txBody>
          <a:bodyPr/>
          <a:lstStyle/>
          <a:p>
            <a:r>
              <a:rPr lang="es-CO" sz="2800" dirty="0"/>
              <a:t>Problema - Solución</a:t>
            </a:r>
            <a:endParaRPr lang="en-US" sz="2800" dirty="0"/>
          </a:p>
        </p:txBody>
      </p:sp>
      <p:sp>
        <p:nvSpPr>
          <p:cNvPr id="11" name="27 Rectángulo">
            <a:extLst>
              <a:ext uri="{FF2B5EF4-FFF2-40B4-BE49-F238E27FC236}">
                <a16:creationId xmlns:a16="http://schemas.microsoft.com/office/drawing/2014/main" id="{D44C9DCC-06E7-48ED-B8D8-CE7DB277AE3D}"/>
              </a:ext>
            </a:extLst>
          </p:cNvPr>
          <p:cNvSpPr/>
          <p:nvPr/>
        </p:nvSpPr>
        <p:spPr>
          <a:xfrm>
            <a:off x="137344" y="1052736"/>
            <a:ext cx="8683128" cy="615553"/>
          </a:xfrm>
          <a:prstGeom prst="rect">
            <a:avLst/>
          </a:prstGeom>
        </p:spPr>
        <p:txBody>
          <a:bodyPr wrap="square">
            <a:spAutoFit/>
          </a:bodyPr>
          <a:lstStyle/>
          <a:p>
            <a:r>
              <a:rPr lang="es-CO" b="1" dirty="0">
                <a:latin typeface="Century Gothic" panose="020B0502020202020204" pitchFamily="34" charset="0"/>
              </a:rPr>
              <a:t>Problema:</a:t>
            </a:r>
          </a:p>
          <a:p>
            <a:r>
              <a:rPr lang="es-CO" sz="1600" dirty="0">
                <a:latin typeface="Century Gothic" panose="020B0502020202020204" pitchFamily="34" charset="0"/>
              </a:rPr>
              <a:t>Hacer un algoritmo que calcule el área de un circulo (Pseudocodigo forma 2)</a:t>
            </a:r>
          </a:p>
        </p:txBody>
      </p:sp>
      <p:grpSp>
        <p:nvGrpSpPr>
          <p:cNvPr id="57" name="Grupo 56">
            <a:extLst>
              <a:ext uri="{FF2B5EF4-FFF2-40B4-BE49-F238E27FC236}">
                <a16:creationId xmlns:a16="http://schemas.microsoft.com/office/drawing/2014/main" id="{C75A40F1-4714-4A2D-8D6C-7A413FEBF89C}"/>
              </a:ext>
            </a:extLst>
          </p:cNvPr>
          <p:cNvGrpSpPr/>
          <p:nvPr/>
        </p:nvGrpSpPr>
        <p:grpSpPr>
          <a:xfrm>
            <a:off x="628650" y="1999236"/>
            <a:ext cx="2592287" cy="4054522"/>
            <a:chOff x="3865663" y="2084774"/>
            <a:chExt cx="2592287" cy="4054522"/>
          </a:xfrm>
        </p:grpSpPr>
        <p:sp>
          <p:nvSpPr>
            <p:cNvPr id="14" name="Flowchart: Terminator 43">
              <a:extLst>
                <a:ext uri="{FF2B5EF4-FFF2-40B4-BE49-F238E27FC236}">
                  <a16:creationId xmlns:a16="http://schemas.microsoft.com/office/drawing/2014/main" id="{BED445AE-167E-4AA6-AFC0-11E3E35EA28D}"/>
                </a:ext>
              </a:extLst>
            </p:cNvPr>
            <p:cNvSpPr/>
            <p:nvPr/>
          </p:nvSpPr>
          <p:spPr>
            <a:xfrm>
              <a:off x="4507179" y="580978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15" name="Flowchart: Terminator 44">
              <a:extLst>
                <a:ext uri="{FF2B5EF4-FFF2-40B4-BE49-F238E27FC236}">
                  <a16:creationId xmlns:a16="http://schemas.microsoft.com/office/drawing/2014/main" id="{1CF6A766-4B47-4A43-AFF3-4EF2D8AAFFEB}"/>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16" name="Straight Arrow Connector 45">
              <a:extLst>
                <a:ext uri="{FF2B5EF4-FFF2-40B4-BE49-F238E27FC236}">
                  <a16:creationId xmlns:a16="http://schemas.microsoft.com/office/drawing/2014/main" id="{B38A8422-A529-4209-8D9A-A356AB1E003F}"/>
                </a:ext>
              </a:extLst>
            </p:cNvPr>
            <p:cNvCxnSpPr>
              <a:cxnSpLocks/>
              <a:stCxn id="15" idx="2"/>
              <a:endCxn id="23"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48">
              <a:extLst>
                <a:ext uri="{FF2B5EF4-FFF2-40B4-BE49-F238E27FC236}">
                  <a16:creationId xmlns:a16="http://schemas.microsoft.com/office/drawing/2014/main" id="{3A5F7DCD-C971-4E61-9D52-589716870EE4}"/>
                </a:ext>
              </a:extLst>
            </p:cNvPr>
            <p:cNvCxnSpPr>
              <a:cxnSpLocks/>
              <a:stCxn id="22" idx="2"/>
              <a:endCxn id="18" idx="1"/>
            </p:cNvCxnSpPr>
            <p:nvPr/>
          </p:nvCxnSpPr>
          <p:spPr>
            <a:xfrm>
              <a:off x="5161807" y="4710533"/>
              <a:ext cx="0" cy="32368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lowchart: Data 52">
              <a:extLst>
                <a:ext uri="{FF2B5EF4-FFF2-40B4-BE49-F238E27FC236}">
                  <a16:creationId xmlns:a16="http://schemas.microsoft.com/office/drawing/2014/main" id="{7C4ECD2D-A0D9-41E4-899E-92488B8E97A3}"/>
                </a:ext>
              </a:extLst>
            </p:cNvPr>
            <p:cNvSpPr/>
            <p:nvPr/>
          </p:nvSpPr>
          <p:spPr>
            <a:xfrm>
              <a:off x="4013451" y="5034221"/>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a:t>
              </a:r>
              <a:r>
                <a:rPr lang="en-US" sz="1400" b="1" dirty="0">
                  <a:latin typeface="Consolas" panose="020B0609020204030204" pitchFamily="49" charset="0"/>
                </a:rPr>
                <a:t>area</a:t>
              </a:r>
            </a:p>
          </p:txBody>
        </p:sp>
        <p:cxnSp>
          <p:nvCxnSpPr>
            <p:cNvPr id="19" name="Straight Arrow Connector 53">
              <a:extLst>
                <a:ext uri="{FF2B5EF4-FFF2-40B4-BE49-F238E27FC236}">
                  <a16:creationId xmlns:a16="http://schemas.microsoft.com/office/drawing/2014/main" id="{88EE88A8-FD79-464A-8C89-F5B4C3CB7383}"/>
                </a:ext>
              </a:extLst>
            </p:cNvPr>
            <p:cNvCxnSpPr>
              <a:cxnSpLocks/>
              <a:stCxn id="18" idx="4"/>
              <a:endCxn id="14" idx="0"/>
            </p:cNvCxnSpPr>
            <p:nvPr/>
          </p:nvCxnSpPr>
          <p:spPr>
            <a:xfrm flipH="1">
              <a:off x="5161806" y="5446113"/>
              <a:ext cx="1" cy="36366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a:extLst>
                <a:ext uri="{FF2B5EF4-FFF2-40B4-BE49-F238E27FC236}">
                  <a16:creationId xmlns:a16="http://schemas.microsoft.com/office/drawing/2014/main" id="{19568E3C-2EB2-4BA2-B069-6F97533D4AD7}"/>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a:t>
              </a:r>
              <a:r>
                <a:rPr lang="en-US" sz="1400" b="1" dirty="0">
                  <a:latin typeface="Consolas" panose="020B0609020204030204" pitchFamily="49" charset="0"/>
                </a:rPr>
                <a:t>radio</a:t>
              </a:r>
              <a:br>
                <a:rPr lang="en-US" sz="1400" b="1" dirty="0">
                  <a:latin typeface="Consolas" panose="020B0609020204030204" pitchFamily="49" charset="0"/>
                </a:rPr>
              </a:br>
              <a:r>
                <a:rPr lang="en-US" sz="1400" dirty="0">
                  <a:latin typeface="Consolas" panose="020B0609020204030204" pitchFamily="49" charset="0"/>
                </a:rPr>
                <a:t>Read</a:t>
              </a:r>
              <a:r>
                <a:rPr lang="en-US" sz="1400" b="1" dirty="0">
                  <a:latin typeface="Consolas" panose="020B0609020204030204" pitchFamily="49" charset="0"/>
                </a:rPr>
                <a:t> height</a:t>
              </a:r>
            </a:p>
          </p:txBody>
        </p:sp>
        <p:cxnSp>
          <p:nvCxnSpPr>
            <p:cNvPr id="21" name="Straight Arrow Connector 47">
              <a:extLst>
                <a:ext uri="{FF2B5EF4-FFF2-40B4-BE49-F238E27FC236}">
                  <a16:creationId xmlns:a16="http://schemas.microsoft.com/office/drawing/2014/main" id="{839440A2-4ABB-416F-A054-E0F183DE6742}"/>
                </a:ext>
              </a:extLst>
            </p:cNvPr>
            <p:cNvCxnSpPr>
              <a:cxnSpLocks/>
              <a:stCxn id="20" idx="4"/>
            </p:cNvCxnSpPr>
            <p:nvPr/>
          </p:nvCxnSpPr>
          <p:spPr>
            <a:xfrm>
              <a:off x="5185096" y="3938138"/>
              <a:ext cx="1" cy="3414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Process 42">
              <a:extLst>
                <a:ext uri="{FF2B5EF4-FFF2-40B4-BE49-F238E27FC236}">
                  <a16:creationId xmlns:a16="http://schemas.microsoft.com/office/drawing/2014/main" id="{5BAE35F9-4854-4E7D-9300-26DDBAB29571}"/>
                </a:ext>
              </a:extLst>
            </p:cNvPr>
            <p:cNvSpPr/>
            <p:nvPr/>
          </p:nvSpPr>
          <p:spPr>
            <a:xfrm>
              <a:off x="3865663" y="4298641"/>
              <a:ext cx="2592287"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area</a:t>
              </a:r>
              <a:r>
                <a:rPr lang="en-US" sz="1400" dirty="0">
                  <a:latin typeface="Consolas" panose="020B0609020204030204" pitchFamily="49" charset="0"/>
                </a:rPr>
                <a:t> PI * (radio**2)</a:t>
              </a:r>
            </a:p>
          </p:txBody>
        </p:sp>
        <p:sp>
          <p:nvSpPr>
            <p:cNvPr id="23" name="Flowchart: Process 42">
              <a:extLst>
                <a:ext uri="{FF2B5EF4-FFF2-40B4-BE49-F238E27FC236}">
                  <a16:creationId xmlns:a16="http://schemas.microsoft.com/office/drawing/2014/main" id="{698F2AC1-BDB8-494B-9418-CEB787156EE5}"/>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PI </a:t>
              </a:r>
              <a:r>
                <a:rPr lang="en-US" sz="1400" dirty="0">
                  <a:latin typeface="Consolas" panose="020B0609020204030204" pitchFamily="49" charset="0"/>
                </a:rPr>
                <a:t> 3.14</a:t>
              </a:r>
            </a:p>
          </p:txBody>
        </p:sp>
        <p:cxnSp>
          <p:nvCxnSpPr>
            <p:cNvPr id="28" name="Straight Arrow Connector 45">
              <a:extLst>
                <a:ext uri="{FF2B5EF4-FFF2-40B4-BE49-F238E27FC236}">
                  <a16:creationId xmlns:a16="http://schemas.microsoft.com/office/drawing/2014/main" id="{65150B39-3550-4E83-8156-741977F4300C}"/>
                </a:ext>
              </a:extLst>
            </p:cNvPr>
            <p:cNvCxnSpPr>
              <a:cxnSpLocks/>
              <a:endCxn id="20"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CuadroTexto 23">
            <a:extLst>
              <a:ext uri="{FF2B5EF4-FFF2-40B4-BE49-F238E27FC236}">
                <a16:creationId xmlns:a16="http://schemas.microsoft.com/office/drawing/2014/main" id="{58DBAB80-7B45-4C61-B5B2-9BE2ACB11B54}"/>
              </a:ext>
            </a:extLst>
          </p:cNvPr>
          <p:cNvSpPr txBox="1"/>
          <p:nvPr/>
        </p:nvSpPr>
        <p:spPr>
          <a:xfrm>
            <a:off x="3995935" y="1937143"/>
            <a:ext cx="4347867" cy="2246769"/>
          </a:xfrm>
          <a:prstGeom prst="rect">
            <a:avLst/>
          </a:prstGeom>
          <a:noFill/>
          <a:ln>
            <a:solidFill>
              <a:schemeClr val="tx1"/>
            </a:solidFill>
          </a:ln>
        </p:spPr>
        <p:txBody>
          <a:bodyPr wrap="square">
            <a:spAutoFit/>
          </a:bodyPr>
          <a:lstStyle/>
          <a:p>
            <a:r>
              <a:rPr lang="es-CO" sz="1400" b="1" dirty="0">
                <a:latin typeface="Consolas" panose="020B0609020204030204" pitchFamily="49" charset="0"/>
              </a:rPr>
              <a:t>Inicio</a:t>
            </a:r>
            <a:endParaRPr lang="es-CO" sz="1400" dirty="0">
              <a:latin typeface="Consolas" panose="020B0609020204030204" pitchFamily="49" charset="0"/>
            </a:endParaRPr>
          </a:p>
          <a:p>
            <a:r>
              <a:rPr lang="es-CO" sz="1400" dirty="0">
                <a:solidFill>
                  <a:schemeClr val="bg1">
                    <a:lumMod val="50000"/>
                  </a:schemeClr>
                </a:solidFill>
                <a:latin typeface="Consolas" panose="020B0609020204030204" pitchFamily="49" charset="0"/>
              </a:rPr>
              <a:t>  # Declaraciones</a:t>
            </a:r>
            <a:endParaRPr lang="es-CO" sz="1400" dirty="0">
              <a:latin typeface="Consolas" panose="020B0609020204030204" pitchFamily="49" charset="0"/>
            </a:endParaRPr>
          </a:p>
          <a:p>
            <a:r>
              <a:rPr lang="es-CO" sz="1400" dirty="0">
                <a:latin typeface="Consolas" panose="020B0609020204030204" pitchFamily="49" charset="0"/>
              </a:rPr>
              <a:t>  Real PI = 3.14</a:t>
            </a:r>
          </a:p>
          <a:p>
            <a:r>
              <a:rPr lang="es-CO" sz="1400" dirty="0">
                <a:latin typeface="Consolas" panose="020B0609020204030204" pitchFamily="49" charset="0"/>
              </a:rPr>
              <a:t>  </a:t>
            </a:r>
            <a:r>
              <a:rPr lang="es-CO" sz="1400" dirty="0">
                <a:solidFill>
                  <a:schemeClr val="bg1">
                    <a:lumMod val="50000"/>
                  </a:schemeClr>
                </a:solidFill>
                <a:latin typeface="Consolas" panose="020B0609020204030204" pitchFamily="49" charset="0"/>
              </a:rPr>
              <a:t># Entrada de datos</a:t>
            </a:r>
            <a:r>
              <a:rPr lang="es-CO" sz="1400" dirty="0">
                <a:latin typeface="Consolas" panose="020B0609020204030204" pitchFamily="49" charset="0"/>
              </a:rPr>
              <a:t>  </a:t>
            </a:r>
          </a:p>
          <a:p>
            <a:r>
              <a:rPr lang="es-CO" sz="1400" dirty="0">
                <a:latin typeface="Consolas" panose="020B0609020204030204" pitchFamily="49" charset="0"/>
              </a:rPr>
              <a:t>  Leer(radio)</a:t>
            </a:r>
          </a:p>
          <a:p>
            <a:r>
              <a:rPr lang="es-CO" sz="1400" dirty="0">
                <a:latin typeface="Consolas" panose="020B0609020204030204" pitchFamily="49" charset="0"/>
              </a:rPr>
              <a:t>  </a:t>
            </a:r>
            <a:r>
              <a:rPr lang="es-CO" sz="1400" dirty="0">
                <a:solidFill>
                  <a:schemeClr val="bg1">
                    <a:lumMod val="50000"/>
                  </a:schemeClr>
                </a:solidFill>
                <a:latin typeface="Consolas" panose="020B0609020204030204" pitchFamily="49" charset="0"/>
              </a:rPr>
              <a:t># Calculo del area</a:t>
            </a:r>
            <a:r>
              <a:rPr lang="es-CO" sz="1400" dirty="0">
                <a:latin typeface="Consolas" panose="020B0609020204030204" pitchFamily="49" charset="0"/>
              </a:rPr>
              <a:t>  </a:t>
            </a:r>
          </a:p>
          <a:p>
            <a:r>
              <a:rPr lang="es-CO" sz="1400" dirty="0">
                <a:latin typeface="Consolas" panose="020B0609020204030204" pitchFamily="49" charset="0"/>
              </a:rPr>
              <a:t>  area = PI*(radio**2)</a:t>
            </a:r>
          </a:p>
          <a:p>
            <a:r>
              <a:rPr lang="es-CO" sz="1400" dirty="0">
                <a:latin typeface="Consolas" panose="020B0609020204030204" pitchFamily="49" charset="0"/>
              </a:rPr>
              <a:t>  </a:t>
            </a:r>
            <a:r>
              <a:rPr lang="es-CO" sz="1400" dirty="0">
                <a:solidFill>
                  <a:schemeClr val="bg1">
                    <a:lumMod val="50000"/>
                  </a:schemeClr>
                </a:solidFill>
                <a:latin typeface="Consolas" panose="020B0609020204030204" pitchFamily="49" charset="0"/>
              </a:rPr>
              <a:t># Salida en pantalla</a:t>
            </a:r>
            <a:endParaRPr lang="es-CO" sz="1400" dirty="0">
              <a:latin typeface="Consolas" panose="020B0609020204030204" pitchFamily="49" charset="0"/>
            </a:endParaRPr>
          </a:p>
          <a:p>
            <a:r>
              <a:rPr lang="es-CO" sz="1400" dirty="0">
                <a:latin typeface="Consolas" panose="020B0609020204030204" pitchFamily="49" charset="0"/>
              </a:rPr>
              <a:t>  Escribir(area)</a:t>
            </a:r>
          </a:p>
          <a:p>
            <a:r>
              <a:rPr lang="es-CO" sz="1400" b="1" dirty="0">
                <a:latin typeface="Consolas" panose="020B0609020204030204" pitchFamily="49" charset="0"/>
              </a:rPr>
              <a:t>Fin</a:t>
            </a:r>
          </a:p>
        </p:txBody>
      </p:sp>
      <p:sp>
        <p:nvSpPr>
          <p:cNvPr id="25" name="1 Rectángulo">
            <a:extLst>
              <a:ext uri="{FF2B5EF4-FFF2-40B4-BE49-F238E27FC236}">
                <a16:creationId xmlns:a16="http://schemas.microsoft.com/office/drawing/2014/main" id="{529D5F01-1C96-4ED9-A5DD-67EFC842684B}"/>
              </a:ext>
            </a:extLst>
          </p:cNvPr>
          <p:cNvSpPr/>
          <p:nvPr/>
        </p:nvSpPr>
        <p:spPr>
          <a:xfrm>
            <a:off x="3985741" y="4677575"/>
            <a:ext cx="4368253" cy="954107"/>
          </a:xfrm>
          <a:prstGeom prst="rect">
            <a:avLst/>
          </a:prstGeom>
          <a:ln w="28575">
            <a:solidFill>
              <a:schemeClr val="tx2"/>
            </a:solidFill>
          </a:ln>
        </p:spPr>
        <p:txBody>
          <a:bodyPr wrap="square">
            <a:spAutoFit/>
          </a:bodyPr>
          <a:lstStyle/>
          <a:p>
            <a:r>
              <a:rPr lang="en-US" sz="1400" dirty="0">
                <a:latin typeface="Consolas" panose="020B0609020204030204" pitchFamily="49" charset="0"/>
                <a:cs typeface="Consolas" panose="020B0609020204030204" pitchFamily="49" charset="0"/>
              </a:rPr>
              <a:t>PI = 3.14</a:t>
            </a:r>
          </a:p>
          <a:p>
            <a:r>
              <a:rPr lang="en-US" sz="1400" dirty="0">
                <a:latin typeface="Consolas" panose="020B0609020204030204" pitchFamily="49" charset="0"/>
                <a:cs typeface="Consolas" panose="020B0609020204030204" pitchFamily="49" charset="0"/>
              </a:rPr>
              <a:t>radio = float(input(“Digite el radio: ”))</a:t>
            </a:r>
          </a:p>
          <a:p>
            <a:r>
              <a:rPr lang="en-US" sz="1400" dirty="0">
                <a:latin typeface="Consolas" panose="020B0609020204030204" pitchFamily="49" charset="0"/>
                <a:cs typeface="Consolas" panose="020B0609020204030204" pitchFamily="49" charset="0"/>
              </a:rPr>
              <a:t>area = PI * (radio**2)</a:t>
            </a:r>
          </a:p>
          <a:p>
            <a:r>
              <a:rPr lang="en-US" sz="1400" dirty="0">
                <a:latin typeface="Consolas" panose="020B0609020204030204" pitchFamily="49" charset="0"/>
                <a:cs typeface="Consolas" panose="020B0609020204030204" pitchFamily="49" charset="0"/>
              </a:rPr>
              <a:t>print(“El area del circulo es:”, r)</a:t>
            </a:r>
            <a:endParaRPr lang="es-CO" sz="1400" dirty="0">
              <a:latin typeface="Consolas" panose="020B0609020204030204" pitchFamily="49" charset="0"/>
              <a:cs typeface="Consolas" panose="020B0609020204030204" pitchFamily="49" charset="0"/>
            </a:endParaRPr>
          </a:p>
        </p:txBody>
      </p:sp>
      <p:pic>
        <p:nvPicPr>
          <p:cNvPr id="26" name="Picture 5" descr="http://upload.wikimedia.org/wikipedia/commons/thumb/c/c3/Python-logo-notext.svg/2000px-Python-logo-notext.svg.png">
            <a:extLst>
              <a:ext uri="{FF2B5EF4-FFF2-40B4-BE49-F238E27FC236}">
                <a16:creationId xmlns:a16="http://schemas.microsoft.com/office/drawing/2014/main" id="{07E9DFAF-58A0-4EB7-AA79-738368CB1B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432" y="4924275"/>
            <a:ext cx="524861" cy="524861"/>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D528608D-F126-45F8-992A-E49C55D22AC7}"/>
              </a:ext>
            </a:extLst>
          </p:cNvPr>
          <p:cNvSpPr/>
          <p:nvPr/>
        </p:nvSpPr>
        <p:spPr>
          <a:xfrm>
            <a:off x="5653609" y="5732012"/>
            <a:ext cx="1032516"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Century Gothic" panose="020B0502020202020204" pitchFamily="34" charset="0"/>
                <a:hlinkClick r:id="rId3"/>
              </a:rPr>
              <a:t>link</a:t>
            </a:r>
            <a:endParaRPr lang="es-MX" sz="1200"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4053636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260648"/>
            <a:ext cx="7886700" cy="1116540"/>
          </a:xfrm>
        </p:spPr>
        <p:txBody>
          <a:bodyPr/>
          <a:lstStyle/>
          <a:p>
            <a:r>
              <a:rPr lang="en-US" sz="3200" dirty="0"/>
              <a:t>Ejercicios de repaso</a:t>
            </a:r>
          </a:p>
        </p:txBody>
      </p:sp>
      <p:sp>
        <p:nvSpPr>
          <p:cNvPr id="2" name="Content Placeholder 1"/>
          <p:cNvSpPr>
            <a:spLocks noGrp="1"/>
          </p:cNvSpPr>
          <p:nvPr>
            <p:ph idx="1"/>
          </p:nvPr>
        </p:nvSpPr>
        <p:spPr>
          <a:xfrm>
            <a:off x="359532" y="1344632"/>
            <a:ext cx="8424936" cy="4604648"/>
          </a:xfrm>
        </p:spPr>
        <p:txBody>
          <a:bodyPr>
            <a:normAutofit fontScale="92500" lnSpcReduction="10000"/>
          </a:bodyPr>
          <a:lstStyle/>
          <a:p>
            <a:pPr marL="457200" indent="-457200">
              <a:buFont typeface="+mj-lt"/>
              <a:buAutoNum type="arabicPeriod"/>
            </a:pPr>
            <a:r>
              <a:rPr lang="es-CO" sz="2000" dirty="0"/>
              <a:t>Hacer un programa que calcule el área y el perímetro de un circulo dado su radio.</a:t>
            </a:r>
          </a:p>
          <a:p>
            <a:pPr marL="457200" indent="-457200">
              <a:buFont typeface="+mj-lt"/>
              <a:buAutoNum type="arabicPeriod"/>
            </a:pPr>
            <a:r>
              <a:rPr lang="es-CO" sz="2000" dirty="0"/>
              <a:t>Hacer un programa que solicite el nombre, la identificación, el número de horas trabajadas y el valor por hora y realice el cálculo del salario neto teniendo en cuenta que se cobra un impuesto del 10% por salud y un 5% debido a pensiones.</a:t>
            </a:r>
          </a:p>
          <a:p>
            <a:pPr marL="457200" indent="-457200">
              <a:buFont typeface="+mj-lt"/>
              <a:buAutoNum type="arabicPeriod"/>
            </a:pPr>
            <a:r>
              <a:rPr lang="es-CO" sz="2000" dirty="0"/>
              <a:t>Hacer un programa que pida el nombre y la edad (en años) y retorne un mensaje con el nombre y la edad en días.</a:t>
            </a:r>
          </a:p>
          <a:p>
            <a:pPr marL="457200" indent="-457200">
              <a:buFont typeface="+mj-lt"/>
              <a:buAutoNum type="arabicPeriod"/>
            </a:pPr>
            <a:r>
              <a:rPr lang="es-CO" sz="2000" dirty="0"/>
              <a:t>Hacer un programa que solicite los 2 catetos de un triangulo rectángulo y calcule su hipotenusa.</a:t>
            </a:r>
          </a:p>
          <a:p>
            <a:pPr marL="457200" indent="-457200">
              <a:buFont typeface="+mj-lt"/>
              <a:buAutoNum type="arabicPeriod"/>
            </a:pPr>
            <a:r>
              <a:rPr lang="es-CO" sz="2000" dirty="0"/>
              <a:t>Diseñar un algoritmo que lea dos valores reales y nos muestre los resultados de sumar, restar, dividir y multiplicar dichos números.</a:t>
            </a:r>
          </a:p>
          <a:p>
            <a:pPr marL="457200" indent="-457200">
              <a:buFont typeface="+mj-lt"/>
              <a:buAutoNum type="arabicPeriod"/>
            </a:pPr>
            <a:r>
              <a:rPr lang="es-CO" sz="2000" dirty="0"/>
              <a:t>Si una persona corta sus uñas en promedio una vez por cada 1.5 semanas, dada la edad de una persona calcular cuantas veces ha cortado sus uñas en toda su vida. Adicionalmente, si en cada corte en promedio obtiene 0.5 gramos del material de la uñas cuantos kilos lleva en su existencia.</a:t>
            </a:r>
            <a:endParaRPr lang="en-US" sz="20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39</a:t>
            </a:fld>
            <a:endParaRPr lang="en-US" dirty="0"/>
          </a:p>
        </p:txBody>
      </p:sp>
    </p:spTree>
    <p:extLst>
      <p:ext uri="{BB962C8B-B14F-4D97-AF65-F5344CB8AC3E}">
        <p14:creationId xmlns:p14="http://schemas.microsoft.com/office/powerpoint/2010/main" val="24502199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836712"/>
            <a:ext cx="7886700" cy="1116540"/>
          </a:xfrm>
        </p:spPr>
        <p:txBody>
          <a:bodyPr/>
          <a:lstStyle/>
          <a:p>
            <a:r>
              <a:rPr lang="en-US" sz="2800" dirty="0" err="1"/>
              <a:t>Referencias</a:t>
            </a:r>
            <a:endParaRPr lang="en-US" sz="2800" dirty="0"/>
          </a:p>
        </p:txBody>
      </p:sp>
      <p:sp>
        <p:nvSpPr>
          <p:cNvPr id="2" name="Content Placeholder 1"/>
          <p:cNvSpPr>
            <a:spLocks noGrp="1"/>
          </p:cNvSpPr>
          <p:nvPr>
            <p:ph idx="1"/>
          </p:nvPr>
        </p:nvSpPr>
        <p:spPr>
          <a:xfrm>
            <a:off x="251520" y="1767990"/>
            <a:ext cx="8424936" cy="4968552"/>
          </a:xfrm>
        </p:spPr>
        <p:txBody>
          <a:bodyPr>
            <a:normAutofit/>
          </a:bodyPr>
          <a:lstStyle/>
          <a:p>
            <a:pPr marL="457200" indent="-457200">
              <a:buFont typeface="+mj-lt"/>
              <a:buAutoNum type="arabicPeriod"/>
            </a:pPr>
            <a:r>
              <a:rPr lang="es-CO" sz="2000" dirty="0">
                <a:hlinkClick r:id="rId2"/>
              </a:rPr>
              <a:t>https://ellibrodepython.com/</a:t>
            </a:r>
            <a:endParaRPr lang="es-CO" sz="2000" dirty="0"/>
          </a:p>
          <a:p>
            <a:pPr marL="457200" indent="-457200">
              <a:buFont typeface="+mj-lt"/>
              <a:buAutoNum type="arabicPeriod"/>
            </a:pPr>
            <a:r>
              <a:rPr lang="es-CO" sz="2000" dirty="0">
                <a:hlinkClick r:id="rId3"/>
              </a:rPr>
              <a:t>https://www.w3resource.com/index.php</a:t>
            </a:r>
            <a:endParaRPr lang="es-CO" sz="2000" dirty="0"/>
          </a:p>
          <a:p>
            <a:pPr marL="457200" indent="-457200">
              <a:buFont typeface="+mj-lt"/>
              <a:buAutoNum type="arabicPeriod"/>
            </a:pPr>
            <a:r>
              <a:rPr lang="es-CO" sz="2000" dirty="0">
                <a:hlinkClick r:id="rId4"/>
              </a:rPr>
              <a:t>https://realpython.com/</a:t>
            </a:r>
            <a:r>
              <a:rPr lang="es-CO" sz="2000" dirty="0"/>
              <a:t>  </a:t>
            </a:r>
            <a:endParaRPr lang="en-US" sz="20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40</a:t>
            </a:fld>
            <a:endParaRPr lang="en-US" dirty="0"/>
          </a:p>
        </p:txBody>
      </p:sp>
    </p:spTree>
    <p:extLst>
      <p:ext uri="{BB962C8B-B14F-4D97-AF65-F5344CB8AC3E}">
        <p14:creationId xmlns:p14="http://schemas.microsoft.com/office/powerpoint/2010/main" val="10231648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0616"/>
            <a:ext cx="7886700" cy="1325563"/>
          </a:xfrm>
        </p:spPr>
        <p:txBody>
          <a:bodyPr/>
          <a:lstStyle/>
          <a:p>
            <a:r>
              <a:rPr lang="es-CO" dirty="0"/>
              <a:t>Eso es todo amigos</a:t>
            </a:r>
            <a:endParaRPr lang="en-US" dirty="0"/>
          </a:p>
        </p:txBody>
      </p:sp>
      <p:sp>
        <p:nvSpPr>
          <p:cNvPr id="6" name="Slide Number Placeholder 5"/>
          <p:cNvSpPr>
            <a:spLocks noGrp="1"/>
          </p:cNvSpPr>
          <p:nvPr>
            <p:ph type="sldNum" sz="quarter" idx="12"/>
          </p:nvPr>
        </p:nvSpPr>
        <p:spPr/>
        <p:txBody>
          <a:bodyPr/>
          <a:lstStyle/>
          <a:p>
            <a:fld id="{45F1CE28-A3C7-48DC-84A2-8FB08D6123C5}" type="slidenum">
              <a:rPr lang="en-US" smtClean="0"/>
              <a:pPr/>
              <a:t>41</a:t>
            </a:fld>
            <a:endParaRPr lang="en-US" dirty="0"/>
          </a:p>
        </p:txBody>
      </p:sp>
      <p:pic>
        <p:nvPicPr>
          <p:cNvPr id="5" name="Imagen 4">
            <a:extLst>
              <a:ext uri="{FF2B5EF4-FFF2-40B4-BE49-F238E27FC236}">
                <a16:creationId xmlns:a16="http://schemas.microsoft.com/office/drawing/2014/main" id="{E03ECA8F-0420-4D74-9281-A2434A50C58D}"/>
              </a:ext>
            </a:extLst>
          </p:cNvPr>
          <p:cNvPicPr>
            <a:picLocks noChangeAspect="1"/>
          </p:cNvPicPr>
          <p:nvPr/>
        </p:nvPicPr>
        <p:blipFill>
          <a:blip r:embed="rId2"/>
          <a:stretch>
            <a:fillRect/>
          </a:stretch>
        </p:blipFill>
        <p:spPr>
          <a:xfrm>
            <a:off x="1047750" y="1476439"/>
            <a:ext cx="7048500" cy="5086350"/>
          </a:xfrm>
          <a:prstGeom prst="rect">
            <a:avLst/>
          </a:prstGeom>
        </p:spPr>
      </p:pic>
    </p:spTree>
    <p:extLst>
      <p:ext uri="{BB962C8B-B14F-4D97-AF65-F5344CB8AC3E}">
        <p14:creationId xmlns:p14="http://schemas.microsoft.com/office/powerpoint/2010/main" val="3024962735"/>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1052</TotalTime>
  <Words>2748</Words>
  <Application>Microsoft Office PowerPoint</Application>
  <PresentationFormat>Presentación en pantalla (4:3)</PresentationFormat>
  <Paragraphs>585</Paragraphs>
  <Slides>41</Slides>
  <Notes>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41</vt:i4>
      </vt:variant>
    </vt:vector>
  </HeadingPairs>
  <TitlesOfParts>
    <vt:vector size="49" baseType="lpstr">
      <vt:lpstr>Arial</vt:lpstr>
      <vt:lpstr>Calibri</vt:lpstr>
      <vt:lpstr>Calibri Light</vt:lpstr>
      <vt:lpstr>Cambria Math</vt:lpstr>
      <vt:lpstr>Century Gothic</vt:lpstr>
      <vt:lpstr>Consolas</vt:lpstr>
      <vt:lpstr>Courier New</vt:lpstr>
      <vt:lpstr>Office Theme</vt:lpstr>
      <vt:lpstr>Lógica y Representación 1</vt:lpstr>
      <vt:lpstr>Resolución de problemas</vt:lpstr>
      <vt:lpstr>Método de Polya</vt:lpstr>
      <vt:lpstr>Método de Polya</vt:lpstr>
      <vt:lpstr>Método de Polya</vt:lpstr>
      <vt:lpstr>Algoritmos</vt:lpstr>
      <vt:lpstr>Algoritmo</vt:lpstr>
      <vt:lpstr>Algoritmo - Solución</vt:lpstr>
      <vt:lpstr>Método de Polya - Resumen</vt:lpstr>
      <vt:lpstr>Datos en algorítmos</vt:lpstr>
      <vt:lpstr>Datos en algorítmos</vt:lpstr>
      <vt:lpstr>Datos en algorítmos</vt:lpstr>
      <vt:lpstr>Datos en algoritmos</vt:lpstr>
      <vt:lpstr>Buenas prácticas</vt:lpstr>
      <vt:lpstr>Datos en algoritmos</vt:lpstr>
      <vt:lpstr>Datos en algoritmos</vt:lpstr>
      <vt:lpstr>Datos en algoritmos</vt:lpstr>
      <vt:lpstr>Diseño de Algoritmos</vt:lpstr>
      <vt:lpstr>Diseño de Algoritmos</vt:lpstr>
      <vt:lpstr>Diagrama de flujos - Bloques</vt:lpstr>
      <vt:lpstr>Comparación de un problema</vt:lpstr>
      <vt:lpstr>Comparación de un problema</vt:lpstr>
      <vt:lpstr>Comparación – Solución del problema del pájaro</vt:lpstr>
      <vt:lpstr>Comparación – Solución del problema asignado</vt:lpstr>
      <vt:lpstr>Representación de algoritmos como diagramas de flujo</vt:lpstr>
      <vt:lpstr>Diagramas de flujo (Flow charts)</vt:lpstr>
      <vt:lpstr>Bloques básicos</vt:lpstr>
      <vt:lpstr>Entrada</vt:lpstr>
      <vt:lpstr>Salida</vt:lpstr>
      <vt:lpstr>Proceso</vt:lpstr>
      <vt:lpstr>Pseudocodigo</vt:lpstr>
      <vt:lpstr>Comentarios</vt:lpstr>
      <vt:lpstr>Pseudocodigo</vt:lpstr>
      <vt:lpstr>Pseudocodigo</vt:lpstr>
      <vt:lpstr>Pseudocodigo</vt:lpstr>
      <vt:lpstr>Problema - Solución</vt:lpstr>
      <vt:lpstr>Problema - Solución</vt:lpstr>
      <vt:lpstr>Problema - Solución</vt:lpstr>
      <vt:lpstr>Ejercicios de repaso</vt:lpstr>
      <vt:lpstr>Referencias</vt:lpstr>
      <vt:lpstr>Eso es todo amigos</vt:lpstr>
    </vt:vector>
  </TitlesOfParts>
  <Company>Universidad de Antioquia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del curso</dc:title>
  <dc:creator>Apoyo Administrativo Ingeniería</dc:creator>
  <cp:lastModifiedBy>HENRY ALBERTO ARCILA RAMIREZ</cp:lastModifiedBy>
  <cp:revision>20</cp:revision>
  <dcterms:created xsi:type="dcterms:W3CDTF">2015-03-12T20:27:20Z</dcterms:created>
  <dcterms:modified xsi:type="dcterms:W3CDTF">2026-08-04T14:07:46Z</dcterms:modified>
</cp:coreProperties>
</file>