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7.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9" r:id="rId1"/>
  </p:sldMasterIdLst>
  <p:notesMasterIdLst>
    <p:notesMasterId r:id="rId57"/>
  </p:notesMasterIdLst>
  <p:sldIdLst>
    <p:sldId id="281" r:id="rId2"/>
    <p:sldId id="259" r:id="rId3"/>
    <p:sldId id="287" r:id="rId4"/>
    <p:sldId id="305" r:id="rId5"/>
    <p:sldId id="261" r:id="rId6"/>
    <p:sldId id="306" r:id="rId7"/>
    <p:sldId id="307" r:id="rId8"/>
    <p:sldId id="308" r:id="rId9"/>
    <p:sldId id="309" r:id="rId10"/>
    <p:sldId id="289" r:id="rId11"/>
    <p:sldId id="264" r:id="rId12"/>
    <p:sldId id="342" r:id="rId13"/>
    <p:sldId id="291" r:id="rId14"/>
    <p:sldId id="320" r:id="rId15"/>
    <p:sldId id="292" r:id="rId16"/>
    <p:sldId id="294" r:id="rId17"/>
    <p:sldId id="290" r:id="rId18"/>
    <p:sldId id="314" r:id="rId19"/>
    <p:sldId id="317" r:id="rId20"/>
    <p:sldId id="315" r:id="rId21"/>
    <p:sldId id="316" r:id="rId22"/>
    <p:sldId id="319" r:id="rId23"/>
    <p:sldId id="321" r:id="rId24"/>
    <p:sldId id="322" r:id="rId25"/>
    <p:sldId id="323" r:id="rId26"/>
    <p:sldId id="324" r:id="rId27"/>
    <p:sldId id="355" r:id="rId28"/>
    <p:sldId id="356" r:id="rId29"/>
    <p:sldId id="358" r:id="rId30"/>
    <p:sldId id="267" r:id="rId31"/>
    <p:sldId id="360" r:id="rId32"/>
    <p:sldId id="359" r:id="rId33"/>
    <p:sldId id="361" r:id="rId34"/>
    <p:sldId id="313" r:id="rId35"/>
    <p:sldId id="350" r:id="rId36"/>
    <p:sldId id="362" r:id="rId37"/>
    <p:sldId id="345" r:id="rId38"/>
    <p:sldId id="340" r:id="rId39"/>
    <p:sldId id="353" r:id="rId40"/>
    <p:sldId id="354" r:id="rId41"/>
    <p:sldId id="363" r:id="rId42"/>
    <p:sldId id="325" r:id="rId43"/>
    <p:sldId id="351" r:id="rId44"/>
    <p:sldId id="352" r:id="rId45"/>
    <p:sldId id="364" r:id="rId46"/>
    <p:sldId id="338" r:id="rId47"/>
    <p:sldId id="343" r:id="rId48"/>
    <p:sldId id="365" r:id="rId49"/>
    <p:sldId id="366" r:id="rId50"/>
    <p:sldId id="367" r:id="rId51"/>
    <p:sldId id="368" r:id="rId52"/>
    <p:sldId id="369" r:id="rId53"/>
    <p:sldId id="302" r:id="rId54"/>
    <p:sldId id="310" r:id="rId55"/>
    <p:sldId id="277" r:id="rId5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9" autoAdjust="0"/>
    <p:restoredTop sz="94684" autoAdjust="0"/>
  </p:normalViewPr>
  <p:slideViewPr>
    <p:cSldViewPr>
      <p:cViewPr varScale="1">
        <p:scale>
          <a:sx n="65" d="100"/>
          <a:sy n="65" d="100"/>
        </p:scale>
        <p:origin x="1452" y="6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34617D2-EBA5-43D3-A846-ABD7019008A4}" type="doc">
      <dgm:prSet loTypeId="urn:microsoft.com/office/officeart/2005/8/layout/chevron2" loCatId="process" qsTypeId="urn:microsoft.com/office/officeart/2005/8/quickstyle/simple4" qsCatId="simple" csTypeId="urn:microsoft.com/office/officeart/2005/8/colors/colorful3" csCatId="colorful" phldr="1"/>
      <dgm:spPr/>
      <dgm:t>
        <a:bodyPr/>
        <a:lstStyle/>
        <a:p>
          <a:endParaRPr lang="es-CO"/>
        </a:p>
      </dgm:t>
    </dgm:pt>
    <dgm:pt modelId="{0F6E169A-367E-48F6-8A0F-9538EF72E803}">
      <dgm:prSet phldrT="[Texto]" custT="1"/>
      <dgm:spPr/>
      <dgm:t>
        <a:bodyPr/>
        <a:lstStyle/>
        <a:p>
          <a:r>
            <a:rPr lang="es-CO" sz="1600" dirty="0">
              <a:latin typeface="Century Gothic" panose="020B0502020202020204" pitchFamily="34" charset="0"/>
            </a:rPr>
            <a:t>1</a:t>
          </a:r>
          <a:endParaRPr lang="es-CO" sz="1200" dirty="0">
            <a:latin typeface="Century Gothic" panose="020B0502020202020204" pitchFamily="34" charset="0"/>
          </a:endParaRPr>
        </a:p>
      </dgm:t>
    </dgm:pt>
    <dgm:pt modelId="{214810CF-0E9F-420E-9F44-94CA29248781}" type="parTrans" cxnId="{1D7BCF56-E33F-4A42-8129-E524DE8CA73C}">
      <dgm:prSet/>
      <dgm:spPr/>
      <dgm:t>
        <a:bodyPr/>
        <a:lstStyle/>
        <a:p>
          <a:endParaRPr lang="es-CO" sz="1600"/>
        </a:p>
      </dgm:t>
    </dgm:pt>
    <dgm:pt modelId="{9E3845BF-94AB-444E-AB21-A0DA1B4B1270}" type="sibTrans" cxnId="{1D7BCF56-E33F-4A42-8129-E524DE8CA73C}">
      <dgm:prSet/>
      <dgm:spPr/>
      <dgm:t>
        <a:bodyPr/>
        <a:lstStyle/>
        <a:p>
          <a:endParaRPr lang="es-CO" sz="1600"/>
        </a:p>
      </dgm:t>
    </dgm:pt>
    <dgm:pt modelId="{676AA4D5-22F4-47B3-B0E8-95C3D9C99480}">
      <dgm:prSet phldrT="[Texto]" custT="1"/>
      <dgm:spPr/>
      <dgm:t>
        <a:bodyPr/>
        <a:lstStyle/>
        <a:p>
          <a:pPr>
            <a:buNone/>
          </a:pPr>
          <a:r>
            <a:rPr lang="es-CO" sz="2000" dirty="0">
              <a:latin typeface="Century Gothic" panose="020B0502020202020204" pitchFamily="34" charset="0"/>
            </a:rPr>
            <a:t>Entender el problema</a:t>
          </a:r>
        </a:p>
      </dgm:t>
    </dgm:pt>
    <dgm:pt modelId="{65AE6963-95E3-417E-9DBC-C327427667A9}" type="parTrans" cxnId="{E402CAF0-5AAA-416F-BAF4-3854EF253EE5}">
      <dgm:prSet/>
      <dgm:spPr/>
      <dgm:t>
        <a:bodyPr/>
        <a:lstStyle/>
        <a:p>
          <a:endParaRPr lang="es-CO" sz="1600"/>
        </a:p>
      </dgm:t>
    </dgm:pt>
    <dgm:pt modelId="{BBDCCB86-71C3-422E-959C-8FA92A9124DF}" type="sibTrans" cxnId="{E402CAF0-5AAA-416F-BAF4-3854EF253EE5}">
      <dgm:prSet/>
      <dgm:spPr/>
      <dgm:t>
        <a:bodyPr/>
        <a:lstStyle/>
        <a:p>
          <a:endParaRPr lang="es-CO" sz="1600"/>
        </a:p>
      </dgm:t>
    </dgm:pt>
    <dgm:pt modelId="{9C3C57BE-AD01-47F6-9592-98EF2608A6EF}">
      <dgm:prSet phldrT="[Texto]" custT="1"/>
      <dgm:spPr/>
      <dgm:t>
        <a:bodyPr/>
        <a:lstStyle/>
        <a:p>
          <a:r>
            <a:rPr lang="es-CO" sz="1800" dirty="0">
              <a:latin typeface="Century Gothic" panose="020B0502020202020204" pitchFamily="34" charset="0"/>
            </a:rPr>
            <a:t>2</a:t>
          </a:r>
          <a:endParaRPr lang="es-CO" sz="2400" dirty="0">
            <a:latin typeface="Century Gothic" panose="020B0502020202020204" pitchFamily="34" charset="0"/>
          </a:endParaRPr>
        </a:p>
      </dgm:t>
    </dgm:pt>
    <dgm:pt modelId="{33D25418-EA10-4491-90C6-5683712BE055}" type="parTrans" cxnId="{FBB864E0-2027-4A45-B5D7-110F765EFD96}">
      <dgm:prSet/>
      <dgm:spPr/>
      <dgm:t>
        <a:bodyPr/>
        <a:lstStyle/>
        <a:p>
          <a:endParaRPr lang="es-CO" sz="1600"/>
        </a:p>
      </dgm:t>
    </dgm:pt>
    <dgm:pt modelId="{0019765E-5748-4647-85C8-6E8054C68086}" type="sibTrans" cxnId="{FBB864E0-2027-4A45-B5D7-110F765EFD96}">
      <dgm:prSet/>
      <dgm:spPr/>
      <dgm:t>
        <a:bodyPr/>
        <a:lstStyle/>
        <a:p>
          <a:endParaRPr lang="es-CO" sz="1600"/>
        </a:p>
      </dgm:t>
    </dgm:pt>
    <dgm:pt modelId="{C59A2A35-6BBC-4F81-BD74-40520AACD6AB}">
      <dgm:prSet phldrT="[Texto]"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Diseñar un plan</a:t>
          </a:r>
        </a:p>
      </dgm:t>
    </dgm:pt>
    <dgm:pt modelId="{EDE363E4-7EA3-41D2-8DB9-A0871D9DA325}" type="parTrans" cxnId="{3B1F784D-95DD-4194-A52D-9A5B55BC5BD7}">
      <dgm:prSet/>
      <dgm:spPr/>
      <dgm:t>
        <a:bodyPr/>
        <a:lstStyle/>
        <a:p>
          <a:endParaRPr lang="es-CO" sz="1600"/>
        </a:p>
      </dgm:t>
    </dgm:pt>
    <dgm:pt modelId="{C31DDF04-103F-4600-9F78-0BDCC0BF907B}" type="sibTrans" cxnId="{3B1F784D-95DD-4194-A52D-9A5B55BC5BD7}">
      <dgm:prSet/>
      <dgm:spPr/>
      <dgm:t>
        <a:bodyPr/>
        <a:lstStyle/>
        <a:p>
          <a:endParaRPr lang="es-CO" sz="1600"/>
        </a:p>
      </dgm:t>
    </dgm:pt>
    <dgm:pt modelId="{9AB424BA-7E8B-4D0B-8A3C-3748A54646B8}">
      <dgm:prSet phldrT="[Texto]" custT="1"/>
      <dgm:spPr/>
      <dgm:t>
        <a:bodyPr/>
        <a:lstStyle/>
        <a:p>
          <a:r>
            <a:rPr lang="es-CO" sz="2000" dirty="0">
              <a:latin typeface="Century Gothic" panose="020B0502020202020204" pitchFamily="34" charset="0"/>
            </a:rPr>
            <a:t>3</a:t>
          </a:r>
        </a:p>
      </dgm:t>
    </dgm:pt>
    <dgm:pt modelId="{E543BFA9-86DB-499C-8E83-B32D00A97FD8}" type="parTrans" cxnId="{9DB9632F-E2AC-48EE-840F-D6A88C411EEA}">
      <dgm:prSet/>
      <dgm:spPr/>
      <dgm:t>
        <a:bodyPr/>
        <a:lstStyle/>
        <a:p>
          <a:endParaRPr lang="es-CO" sz="1600"/>
        </a:p>
      </dgm:t>
    </dgm:pt>
    <dgm:pt modelId="{DDCD6E76-3560-4CAA-96A8-94ACFF130E9B}" type="sibTrans" cxnId="{9DB9632F-E2AC-48EE-840F-D6A88C411EEA}">
      <dgm:prSet/>
      <dgm:spPr/>
      <dgm:t>
        <a:bodyPr/>
        <a:lstStyle/>
        <a:p>
          <a:endParaRPr lang="es-CO" sz="1600"/>
        </a:p>
      </dgm:t>
    </dgm:pt>
    <dgm:pt modelId="{BEC04423-D6B7-4792-AEB9-C3D7F81A98AC}">
      <dgm:prSet phldrT="[Texto]"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Implementar el plan</a:t>
          </a:r>
        </a:p>
      </dgm:t>
    </dgm:pt>
    <dgm:pt modelId="{F135D138-85FF-4087-B751-5F159F842289}" type="parTrans" cxnId="{5B0A26F8-5ACB-43D3-A171-6C62CAD4E7BE}">
      <dgm:prSet/>
      <dgm:spPr/>
      <dgm:t>
        <a:bodyPr/>
        <a:lstStyle/>
        <a:p>
          <a:endParaRPr lang="es-CO" sz="1600"/>
        </a:p>
      </dgm:t>
    </dgm:pt>
    <dgm:pt modelId="{AB02689B-5109-4C4C-A9DD-EF332B395FC7}" type="sibTrans" cxnId="{5B0A26F8-5ACB-43D3-A171-6C62CAD4E7BE}">
      <dgm:prSet/>
      <dgm:spPr/>
      <dgm:t>
        <a:bodyPr/>
        <a:lstStyle/>
        <a:p>
          <a:endParaRPr lang="es-CO" sz="1600"/>
        </a:p>
      </dgm:t>
    </dgm:pt>
    <dgm:pt modelId="{6F3FB39C-3E1D-4D2D-849B-EA0299C466C8}">
      <dgm:prSet phldrT="[Texto]" custT="1"/>
      <dgm:spPr/>
      <dgm:t>
        <a:bodyPr/>
        <a:lstStyle/>
        <a:p>
          <a:r>
            <a:rPr lang="es-CO" sz="2000" dirty="0">
              <a:latin typeface="Century Gothic" panose="020B0502020202020204" pitchFamily="34" charset="0"/>
            </a:rPr>
            <a:t>4</a:t>
          </a:r>
        </a:p>
      </dgm:t>
    </dgm:pt>
    <dgm:pt modelId="{F344B892-AD67-4863-B1DB-FFEAC6AE3C6A}" type="parTrans" cxnId="{F85ACEEE-F8C0-443C-BAAF-021763D37073}">
      <dgm:prSet/>
      <dgm:spPr/>
      <dgm:t>
        <a:bodyPr/>
        <a:lstStyle/>
        <a:p>
          <a:endParaRPr lang="es-CO" sz="1600"/>
        </a:p>
      </dgm:t>
    </dgm:pt>
    <dgm:pt modelId="{2E86F725-3FD8-4480-8AF6-6A89E142D77A}" type="sibTrans" cxnId="{F85ACEEE-F8C0-443C-BAAF-021763D37073}">
      <dgm:prSet/>
      <dgm:spPr/>
      <dgm:t>
        <a:bodyPr/>
        <a:lstStyle/>
        <a:p>
          <a:endParaRPr lang="es-CO" sz="1600"/>
        </a:p>
      </dgm:t>
    </dgm:pt>
    <dgm:pt modelId="{DCCFDBD5-3BD5-4368-8E74-2BE430318114}">
      <dgm:prSet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Revisar el plan</a:t>
          </a:r>
        </a:p>
      </dgm:t>
    </dgm:pt>
    <dgm:pt modelId="{E9C3A1B1-6767-4D4A-B32D-4EDACFE1C0F4}" type="parTrans" cxnId="{95C514DE-3460-4712-B0CD-D954FE76DB64}">
      <dgm:prSet/>
      <dgm:spPr/>
      <dgm:t>
        <a:bodyPr/>
        <a:lstStyle/>
        <a:p>
          <a:endParaRPr lang="es-CO" sz="1600"/>
        </a:p>
      </dgm:t>
    </dgm:pt>
    <dgm:pt modelId="{159A55EA-C5B7-4F9E-8222-A763BEB4D99B}" type="sibTrans" cxnId="{95C514DE-3460-4712-B0CD-D954FE76DB64}">
      <dgm:prSet/>
      <dgm:spPr/>
      <dgm:t>
        <a:bodyPr/>
        <a:lstStyle/>
        <a:p>
          <a:endParaRPr lang="es-CO" sz="1600"/>
        </a:p>
      </dgm:t>
    </dgm:pt>
    <dgm:pt modelId="{C30EB98C-BF8E-47B5-A59F-A3E708D5551C}" type="pres">
      <dgm:prSet presAssocID="{234617D2-EBA5-43D3-A846-ABD7019008A4}" presName="linearFlow" presStyleCnt="0">
        <dgm:presLayoutVars>
          <dgm:dir/>
          <dgm:animLvl val="lvl"/>
          <dgm:resizeHandles val="exact"/>
        </dgm:presLayoutVars>
      </dgm:prSet>
      <dgm:spPr/>
    </dgm:pt>
    <dgm:pt modelId="{B5976899-2FC4-4A3E-891A-B74C8C23C8B5}" type="pres">
      <dgm:prSet presAssocID="{0F6E169A-367E-48F6-8A0F-9538EF72E803}" presName="composite" presStyleCnt="0"/>
      <dgm:spPr/>
    </dgm:pt>
    <dgm:pt modelId="{416A876F-5FA3-42F9-A923-4E2C334EF9BC}" type="pres">
      <dgm:prSet presAssocID="{0F6E169A-367E-48F6-8A0F-9538EF72E803}" presName="parentText" presStyleLbl="alignNode1" presStyleIdx="0" presStyleCnt="4">
        <dgm:presLayoutVars>
          <dgm:chMax val="1"/>
          <dgm:bulletEnabled val="1"/>
        </dgm:presLayoutVars>
      </dgm:prSet>
      <dgm:spPr/>
    </dgm:pt>
    <dgm:pt modelId="{344A86B1-48E8-448F-9C6D-71580BFB5F83}" type="pres">
      <dgm:prSet presAssocID="{0F6E169A-367E-48F6-8A0F-9538EF72E803}" presName="descendantText" presStyleLbl="alignAcc1" presStyleIdx="0" presStyleCnt="4">
        <dgm:presLayoutVars>
          <dgm:bulletEnabled val="1"/>
        </dgm:presLayoutVars>
      </dgm:prSet>
      <dgm:spPr/>
    </dgm:pt>
    <dgm:pt modelId="{19B3EDEB-1CF9-4423-9037-F0221A01EBBA}" type="pres">
      <dgm:prSet presAssocID="{9E3845BF-94AB-444E-AB21-A0DA1B4B1270}" presName="sp" presStyleCnt="0"/>
      <dgm:spPr/>
    </dgm:pt>
    <dgm:pt modelId="{5D167E8C-136F-440C-8D10-651E4D964A72}" type="pres">
      <dgm:prSet presAssocID="{9C3C57BE-AD01-47F6-9592-98EF2608A6EF}" presName="composite" presStyleCnt="0"/>
      <dgm:spPr/>
    </dgm:pt>
    <dgm:pt modelId="{A651636C-CE47-4575-AA1E-AB00D80E941D}" type="pres">
      <dgm:prSet presAssocID="{9C3C57BE-AD01-47F6-9592-98EF2608A6EF}" presName="parentText" presStyleLbl="alignNode1" presStyleIdx="1" presStyleCnt="4" custLinFactNeighborY="0">
        <dgm:presLayoutVars>
          <dgm:chMax val="1"/>
          <dgm:bulletEnabled val="1"/>
        </dgm:presLayoutVars>
      </dgm:prSet>
      <dgm:spPr/>
    </dgm:pt>
    <dgm:pt modelId="{79B0DE70-0A03-4A6F-B31F-EC81EB5DF7EA}" type="pres">
      <dgm:prSet presAssocID="{9C3C57BE-AD01-47F6-9592-98EF2608A6EF}" presName="descendantText" presStyleLbl="alignAcc1" presStyleIdx="1" presStyleCnt="4">
        <dgm:presLayoutVars>
          <dgm:bulletEnabled val="1"/>
        </dgm:presLayoutVars>
      </dgm:prSet>
      <dgm:spPr/>
    </dgm:pt>
    <dgm:pt modelId="{5C2D5B77-4FD3-4BFC-B7C7-B69CFA47B819}" type="pres">
      <dgm:prSet presAssocID="{0019765E-5748-4647-85C8-6E8054C68086}" presName="sp" presStyleCnt="0"/>
      <dgm:spPr/>
    </dgm:pt>
    <dgm:pt modelId="{FD9C2F86-B450-49A0-8639-065AE676C080}" type="pres">
      <dgm:prSet presAssocID="{9AB424BA-7E8B-4D0B-8A3C-3748A54646B8}" presName="composite" presStyleCnt="0"/>
      <dgm:spPr/>
    </dgm:pt>
    <dgm:pt modelId="{2AA7B02C-023E-4537-897E-B54A048C8983}" type="pres">
      <dgm:prSet presAssocID="{9AB424BA-7E8B-4D0B-8A3C-3748A54646B8}" presName="parentText" presStyleLbl="alignNode1" presStyleIdx="2" presStyleCnt="4">
        <dgm:presLayoutVars>
          <dgm:chMax val="1"/>
          <dgm:bulletEnabled val="1"/>
        </dgm:presLayoutVars>
      </dgm:prSet>
      <dgm:spPr/>
    </dgm:pt>
    <dgm:pt modelId="{15D3D31F-A831-4E62-ADE9-6ACE81331CDC}" type="pres">
      <dgm:prSet presAssocID="{9AB424BA-7E8B-4D0B-8A3C-3748A54646B8}" presName="descendantText" presStyleLbl="alignAcc1" presStyleIdx="2" presStyleCnt="4">
        <dgm:presLayoutVars>
          <dgm:bulletEnabled val="1"/>
        </dgm:presLayoutVars>
      </dgm:prSet>
      <dgm:spPr/>
    </dgm:pt>
    <dgm:pt modelId="{365F76A6-EF4F-41D1-B81D-BC3D7851A081}" type="pres">
      <dgm:prSet presAssocID="{DDCD6E76-3560-4CAA-96A8-94ACFF130E9B}" presName="sp" presStyleCnt="0"/>
      <dgm:spPr/>
    </dgm:pt>
    <dgm:pt modelId="{4DB00594-09F9-4225-B772-B1D52DAEEAB6}" type="pres">
      <dgm:prSet presAssocID="{6F3FB39C-3E1D-4D2D-849B-EA0299C466C8}" presName="composite" presStyleCnt="0"/>
      <dgm:spPr/>
    </dgm:pt>
    <dgm:pt modelId="{58E45CBE-DE64-4E4E-8AAA-D376465B2BEE}" type="pres">
      <dgm:prSet presAssocID="{6F3FB39C-3E1D-4D2D-849B-EA0299C466C8}" presName="parentText" presStyleLbl="alignNode1" presStyleIdx="3" presStyleCnt="4">
        <dgm:presLayoutVars>
          <dgm:chMax val="1"/>
          <dgm:bulletEnabled val="1"/>
        </dgm:presLayoutVars>
      </dgm:prSet>
      <dgm:spPr/>
    </dgm:pt>
    <dgm:pt modelId="{C37D6712-7A35-4663-80F7-1B8FC410AF19}" type="pres">
      <dgm:prSet presAssocID="{6F3FB39C-3E1D-4D2D-849B-EA0299C466C8}" presName="descendantText" presStyleLbl="alignAcc1" presStyleIdx="3" presStyleCnt="4">
        <dgm:presLayoutVars>
          <dgm:bulletEnabled val="1"/>
        </dgm:presLayoutVars>
      </dgm:prSet>
      <dgm:spPr/>
    </dgm:pt>
  </dgm:ptLst>
  <dgm:cxnLst>
    <dgm:cxn modelId="{D25A530A-E341-4BA7-8999-21A374D537D3}" type="presOf" srcId="{BEC04423-D6B7-4792-AEB9-C3D7F81A98AC}" destId="{15D3D31F-A831-4E62-ADE9-6ACE81331CDC}" srcOrd="0" destOrd="0" presId="urn:microsoft.com/office/officeart/2005/8/layout/chevron2"/>
    <dgm:cxn modelId="{0F63B510-A033-48E8-A5FD-87C76FF5A9D6}" type="presOf" srcId="{0F6E169A-367E-48F6-8A0F-9538EF72E803}" destId="{416A876F-5FA3-42F9-A923-4E2C334EF9BC}" srcOrd="0" destOrd="0" presId="urn:microsoft.com/office/officeart/2005/8/layout/chevron2"/>
    <dgm:cxn modelId="{09EB6217-24CA-4B61-90D2-9CF7E646FA43}" type="presOf" srcId="{234617D2-EBA5-43D3-A846-ABD7019008A4}" destId="{C30EB98C-BF8E-47B5-A59F-A3E708D5551C}" srcOrd="0" destOrd="0" presId="urn:microsoft.com/office/officeart/2005/8/layout/chevron2"/>
    <dgm:cxn modelId="{9DB9632F-E2AC-48EE-840F-D6A88C411EEA}" srcId="{234617D2-EBA5-43D3-A846-ABD7019008A4}" destId="{9AB424BA-7E8B-4D0B-8A3C-3748A54646B8}" srcOrd="2" destOrd="0" parTransId="{E543BFA9-86DB-499C-8E83-B32D00A97FD8}" sibTransId="{DDCD6E76-3560-4CAA-96A8-94ACFF130E9B}"/>
    <dgm:cxn modelId="{5C56243F-7D54-4FD5-BD45-EEAB6E9334A6}" type="presOf" srcId="{676AA4D5-22F4-47B3-B0E8-95C3D9C99480}" destId="{344A86B1-48E8-448F-9C6D-71580BFB5F83}" srcOrd="0" destOrd="0" presId="urn:microsoft.com/office/officeart/2005/8/layout/chevron2"/>
    <dgm:cxn modelId="{3EF6886C-4FCF-4899-8F48-98F458A380A4}" type="presOf" srcId="{DCCFDBD5-3BD5-4368-8E74-2BE430318114}" destId="{C37D6712-7A35-4663-80F7-1B8FC410AF19}" srcOrd="0" destOrd="0" presId="urn:microsoft.com/office/officeart/2005/8/layout/chevron2"/>
    <dgm:cxn modelId="{3B1F784D-95DD-4194-A52D-9A5B55BC5BD7}" srcId="{9C3C57BE-AD01-47F6-9592-98EF2608A6EF}" destId="{C59A2A35-6BBC-4F81-BD74-40520AACD6AB}" srcOrd="0" destOrd="0" parTransId="{EDE363E4-7EA3-41D2-8DB9-A0871D9DA325}" sibTransId="{C31DDF04-103F-4600-9F78-0BDCC0BF907B}"/>
    <dgm:cxn modelId="{1D7BCF56-E33F-4A42-8129-E524DE8CA73C}" srcId="{234617D2-EBA5-43D3-A846-ABD7019008A4}" destId="{0F6E169A-367E-48F6-8A0F-9538EF72E803}" srcOrd="0" destOrd="0" parTransId="{214810CF-0E9F-420E-9F44-94CA29248781}" sibTransId="{9E3845BF-94AB-444E-AB21-A0DA1B4B1270}"/>
    <dgm:cxn modelId="{E8354084-D26E-4270-954C-74C7F6A06793}" type="presOf" srcId="{C59A2A35-6BBC-4F81-BD74-40520AACD6AB}" destId="{79B0DE70-0A03-4A6F-B31F-EC81EB5DF7EA}" srcOrd="0" destOrd="0" presId="urn:microsoft.com/office/officeart/2005/8/layout/chevron2"/>
    <dgm:cxn modelId="{BF2B6EA9-3F5A-49C1-AF7E-EC921192B9DE}" type="presOf" srcId="{9C3C57BE-AD01-47F6-9592-98EF2608A6EF}" destId="{A651636C-CE47-4575-AA1E-AB00D80E941D}" srcOrd="0" destOrd="0" presId="urn:microsoft.com/office/officeart/2005/8/layout/chevron2"/>
    <dgm:cxn modelId="{95C514DE-3460-4712-B0CD-D954FE76DB64}" srcId="{6F3FB39C-3E1D-4D2D-849B-EA0299C466C8}" destId="{DCCFDBD5-3BD5-4368-8E74-2BE430318114}" srcOrd="0" destOrd="0" parTransId="{E9C3A1B1-6767-4D4A-B32D-4EDACFE1C0F4}" sibTransId="{159A55EA-C5B7-4F9E-8222-A763BEB4D99B}"/>
    <dgm:cxn modelId="{FBB864E0-2027-4A45-B5D7-110F765EFD96}" srcId="{234617D2-EBA5-43D3-A846-ABD7019008A4}" destId="{9C3C57BE-AD01-47F6-9592-98EF2608A6EF}" srcOrd="1" destOrd="0" parTransId="{33D25418-EA10-4491-90C6-5683712BE055}" sibTransId="{0019765E-5748-4647-85C8-6E8054C68086}"/>
    <dgm:cxn modelId="{448B48EB-E488-4909-82B4-2E61877F00AE}" type="presOf" srcId="{6F3FB39C-3E1D-4D2D-849B-EA0299C466C8}" destId="{58E45CBE-DE64-4E4E-8AAA-D376465B2BEE}" srcOrd="0" destOrd="0" presId="urn:microsoft.com/office/officeart/2005/8/layout/chevron2"/>
    <dgm:cxn modelId="{E644B3EB-418D-4B1A-83D6-8DCC10BE06E8}" type="presOf" srcId="{9AB424BA-7E8B-4D0B-8A3C-3748A54646B8}" destId="{2AA7B02C-023E-4537-897E-B54A048C8983}" srcOrd="0" destOrd="0" presId="urn:microsoft.com/office/officeart/2005/8/layout/chevron2"/>
    <dgm:cxn modelId="{F85ACEEE-F8C0-443C-BAAF-021763D37073}" srcId="{234617D2-EBA5-43D3-A846-ABD7019008A4}" destId="{6F3FB39C-3E1D-4D2D-849B-EA0299C466C8}" srcOrd="3" destOrd="0" parTransId="{F344B892-AD67-4863-B1DB-FFEAC6AE3C6A}" sibTransId="{2E86F725-3FD8-4480-8AF6-6A89E142D77A}"/>
    <dgm:cxn modelId="{E402CAF0-5AAA-416F-BAF4-3854EF253EE5}" srcId="{0F6E169A-367E-48F6-8A0F-9538EF72E803}" destId="{676AA4D5-22F4-47B3-B0E8-95C3D9C99480}" srcOrd="0" destOrd="0" parTransId="{65AE6963-95E3-417E-9DBC-C327427667A9}" sibTransId="{BBDCCB86-71C3-422E-959C-8FA92A9124DF}"/>
    <dgm:cxn modelId="{5B0A26F8-5ACB-43D3-A171-6C62CAD4E7BE}" srcId="{9AB424BA-7E8B-4D0B-8A3C-3748A54646B8}" destId="{BEC04423-D6B7-4792-AEB9-C3D7F81A98AC}" srcOrd="0" destOrd="0" parTransId="{F135D138-85FF-4087-B751-5F159F842289}" sibTransId="{AB02689B-5109-4C4C-A9DD-EF332B395FC7}"/>
    <dgm:cxn modelId="{AC4A8FF1-0B42-4570-ACB4-F62AD10AC7E7}" type="presParOf" srcId="{C30EB98C-BF8E-47B5-A59F-A3E708D5551C}" destId="{B5976899-2FC4-4A3E-891A-B74C8C23C8B5}" srcOrd="0" destOrd="0" presId="urn:microsoft.com/office/officeart/2005/8/layout/chevron2"/>
    <dgm:cxn modelId="{78437963-1AD6-4AA2-99FF-D3C136E6C1B9}" type="presParOf" srcId="{B5976899-2FC4-4A3E-891A-B74C8C23C8B5}" destId="{416A876F-5FA3-42F9-A923-4E2C334EF9BC}" srcOrd="0" destOrd="0" presId="urn:microsoft.com/office/officeart/2005/8/layout/chevron2"/>
    <dgm:cxn modelId="{E5BB8A76-3CEA-42DE-8EE6-7959F74B0BB9}" type="presParOf" srcId="{B5976899-2FC4-4A3E-891A-B74C8C23C8B5}" destId="{344A86B1-48E8-448F-9C6D-71580BFB5F83}" srcOrd="1" destOrd="0" presId="urn:microsoft.com/office/officeart/2005/8/layout/chevron2"/>
    <dgm:cxn modelId="{1409A561-56BE-41EC-823E-CEEC12A8CF50}" type="presParOf" srcId="{C30EB98C-BF8E-47B5-A59F-A3E708D5551C}" destId="{19B3EDEB-1CF9-4423-9037-F0221A01EBBA}" srcOrd="1" destOrd="0" presId="urn:microsoft.com/office/officeart/2005/8/layout/chevron2"/>
    <dgm:cxn modelId="{69FAE29B-8826-413D-A90D-E3D1914BB7C5}" type="presParOf" srcId="{C30EB98C-BF8E-47B5-A59F-A3E708D5551C}" destId="{5D167E8C-136F-440C-8D10-651E4D964A72}" srcOrd="2" destOrd="0" presId="urn:microsoft.com/office/officeart/2005/8/layout/chevron2"/>
    <dgm:cxn modelId="{26C5ECD3-BE74-4234-955C-82B823BF9F9B}" type="presParOf" srcId="{5D167E8C-136F-440C-8D10-651E4D964A72}" destId="{A651636C-CE47-4575-AA1E-AB00D80E941D}" srcOrd="0" destOrd="0" presId="urn:microsoft.com/office/officeart/2005/8/layout/chevron2"/>
    <dgm:cxn modelId="{BFF53C8A-F466-46C1-9066-7E1EB74CF072}" type="presParOf" srcId="{5D167E8C-136F-440C-8D10-651E4D964A72}" destId="{79B0DE70-0A03-4A6F-B31F-EC81EB5DF7EA}" srcOrd="1" destOrd="0" presId="urn:microsoft.com/office/officeart/2005/8/layout/chevron2"/>
    <dgm:cxn modelId="{530A7BC0-79AB-4546-A568-2187FF19F65D}" type="presParOf" srcId="{C30EB98C-BF8E-47B5-A59F-A3E708D5551C}" destId="{5C2D5B77-4FD3-4BFC-B7C7-B69CFA47B819}" srcOrd="3" destOrd="0" presId="urn:microsoft.com/office/officeart/2005/8/layout/chevron2"/>
    <dgm:cxn modelId="{BE3F6BE8-AEFA-4235-B54E-61907BC9372B}" type="presParOf" srcId="{C30EB98C-BF8E-47B5-A59F-A3E708D5551C}" destId="{FD9C2F86-B450-49A0-8639-065AE676C080}" srcOrd="4" destOrd="0" presId="urn:microsoft.com/office/officeart/2005/8/layout/chevron2"/>
    <dgm:cxn modelId="{2E20AF7C-4B60-47FB-B029-F81F1CE8FCB7}" type="presParOf" srcId="{FD9C2F86-B450-49A0-8639-065AE676C080}" destId="{2AA7B02C-023E-4537-897E-B54A048C8983}" srcOrd="0" destOrd="0" presId="urn:microsoft.com/office/officeart/2005/8/layout/chevron2"/>
    <dgm:cxn modelId="{0573D7AB-2C25-487B-B0E2-947295CA4BF1}" type="presParOf" srcId="{FD9C2F86-B450-49A0-8639-065AE676C080}" destId="{15D3D31F-A831-4E62-ADE9-6ACE81331CDC}" srcOrd="1" destOrd="0" presId="urn:microsoft.com/office/officeart/2005/8/layout/chevron2"/>
    <dgm:cxn modelId="{49FE4450-ED31-4DD4-95F8-F34D880718F4}" type="presParOf" srcId="{C30EB98C-BF8E-47B5-A59F-A3E708D5551C}" destId="{365F76A6-EF4F-41D1-B81D-BC3D7851A081}" srcOrd="5" destOrd="0" presId="urn:microsoft.com/office/officeart/2005/8/layout/chevron2"/>
    <dgm:cxn modelId="{D297B7B3-984B-4BEF-88CF-E8496B62D532}" type="presParOf" srcId="{C30EB98C-BF8E-47B5-A59F-A3E708D5551C}" destId="{4DB00594-09F9-4225-B772-B1D52DAEEAB6}" srcOrd="6" destOrd="0" presId="urn:microsoft.com/office/officeart/2005/8/layout/chevron2"/>
    <dgm:cxn modelId="{58E3F0DF-7BFD-4BEB-873F-CA02319F1E26}" type="presParOf" srcId="{4DB00594-09F9-4225-B772-B1D52DAEEAB6}" destId="{58E45CBE-DE64-4E4E-8AAA-D376465B2BEE}" srcOrd="0" destOrd="0" presId="urn:microsoft.com/office/officeart/2005/8/layout/chevron2"/>
    <dgm:cxn modelId="{C405AC97-4C54-4757-8651-AB11924A4B6F}" type="presParOf" srcId="{4DB00594-09F9-4225-B772-B1D52DAEEAB6}" destId="{C37D6712-7A35-4663-80F7-1B8FC410AF19}"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4617D2-EBA5-43D3-A846-ABD7019008A4}" type="doc">
      <dgm:prSet loTypeId="urn:microsoft.com/office/officeart/2005/8/layout/chevron2" loCatId="process" qsTypeId="urn:microsoft.com/office/officeart/2005/8/quickstyle/simple4" qsCatId="simple" csTypeId="urn:microsoft.com/office/officeart/2005/8/colors/colorful3" csCatId="colorful" phldr="1"/>
      <dgm:spPr/>
      <dgm:t>
        <a:bodyPr/>
        <a:lstStyle/>
        <a:p>
          <a:endParaRPr lang="es-CO"/>
        </a:p>
      </dgm:t>
    </dgm:pt>
    <dgm:pt modelId="{0F6E169A-367E-48F6-8A0F-9538EF72E803}">
      <dgm:prSet phldrT="[Texto]" custT="1"/>
      <dgm:spPr/>
      <dgm:t>
        <a:bodyPr/>
        <a:lstStyle/>
        <a:p>
          <a:r>
            <a:rPr lang="es-CO" sz="1600" dirty="0">
              <a:latin typeface="Century Gothic" panose="020B0502020202020204" pitchFamily="34" charset="0"/>
            </a:rPr>
            <a:t>1</a:t>
          </a:r>
          <a:endParaRPr lang="es-CO" sz="1200" dirty="0">
            <a:latin typeface="Century Gothic" panose="020B0502020202020204" pitchFamily="34" charset="0"/>
          </a:endParaRPr>
        </a:p>
      </dgm:t>
    </dgm:pt>
    <dgm:pt modelId="{214810CF-0E9F-420E-9F44-94CA29248781}" type="parTrans" cxnId="{1D7BCF56-E33F-4A42-8129-E524DE8CA73C}">
      <dgm:prSet/>
      <dgm:spPr/>
      <dgm:t>
        <a:bodyPr/>
        <a:lstStyle/>
        <a:p>
          <a:endParaRPr lang="es-CO" sz="1600"/>
        </a:p>
      </dgm:t>
    </dgm:pt>
    <dgm:pt modelId="{9E3845BF-94AB-444E-AB21-A0DA1B4B1270}" type="sibTrans" cxnId="{1D7BCF56-E33F-4A42-8129-E524DE8CA73C}">
      <dgm:prSet/>
      <dgm:spPr/>
      <dgm:t>
        <a:bodyPr/>
        <a:lstStyle/>
        <a:p>
          <a:endParaRPr lang="es-CO" sz="1600"/>
        </a:p>
      </dgm:t>
    </dgm:pt>
    <dgm:pt modelId="{676AA4D5-22F4-47B3-B0E8-95C3D9C99480}">
      <dgm:prSet phldrT="[Texto]" custT="1"/>
      <dgm:spPr/>
      <dgm:t>
        <a:bodyPr/>
        <a:lstStyle/>
        <a:p>
          <a:pPr>
            <a:buNone/>
          </a:pPr>
          <a:r>
            <a:rPr lang="es-CO" sz="2000" dirty="0">
              <a:latin typeface="Century Gothic" panose="020B0502020202020204" pitchFamily="34" charset="0"/>
            </a:rPr>
            <a:t>Entender el problema</a:t>
          </a:r>
        </a:p>
      </dgm:t>
    </dgm:pt>
    <dgm:pt modelId="{65AE6963-95E3-417E-9DBC-C327427667A9}" type="parTrans" cxnId="{E402CAF0-5AAA-416F-BAF4-3854EF253EE5}">
      <dgm:prSet/>
      <dgm:spPr/>
      <dgm:t>
        <a:bodyPr/>
        <a:lstStyle/>
        <a:p>
          <a:endParaRPr lang="es-CO" sz="1600"/>
        </a:p>
      </dgm:t>
    </dgm:pt>
    <dgm:pt modelId="{BBDCCB86-71C3-422E-959C-8FA92A9124DF}" type="sibTrans" cxnId="{E402CAF0-5AAA-416F-BAF4-3854EF253EE5}">
      <dgm:prSet/>
      <dgm:spPr/>
      <dgm:t>
        <a:bodyPr/>
        <a:lstStyle/>
        <a:p>
          <a:endParaRPr lang="es-CO" sz="1600"/>
        </a:p>
      </dgm:t>
    </dgm:pt>
    <dgm:pt modelId="{9C3C57BE-AD01-47F6-9592-98EF2608A6EF}">
      <dgm:prSet phldrT="[Texto]" custT="1"/>
      <dgm:spPr/>
      <dgm:t>
        <a:bodyPr/>
        <a:lstStyle/>
        <a:p>
          <a:r>
            <a:rPr lang="es-CO" sz="1800" dirty="0">
              <a:latin typeface="Century Gothic" panose="020B0502020202020204" pitchFamily="34" charset="0"/>
            </a:rPr>
            <a:t>2</a:t>
          </a:r>
          <a:endParaRPr lang="es-CO" sz="2400" dirty="0">
            <a:latin typeface="Century Gothic" panose="020B0502020202020204" pitchFamily="34" charset="0"/>
          </a:endParaRPr>
        </a:p>
      </dgm:t>
    </dgm:pt>
    <dgm:pt modelId="{33D25418-EA10-4491-90C6-5683712BE055}" type="parTrans" cxnId="{FBB864E0-2027-4A45-B5D7-110F765EFD96}">
      <dgm:prSet/>
      <dgm:spPr/>
      <dgm:t>
        <a:bodyPr/>
        <a:lstStyle/>
        <a:p>
          <a:endParaRPr lang="es-CO" sz="1600"/>
        </a:p>
      </dgm:t>
    </dgm:pt>
    <dgm:pt modelId="{0019765E-5748-4647-85C8-6E8054C68086}" type="sibTrans" cxnId="{FBB864E0-2027-4A45-B5D7-110F765EFD96}">
      <dgm:prSet/>
      <dgm:spPr/>
      <dgm:t>
        <a:bodyPr/>
        <a:lstStyle/>
        <a:p>
          <a:endParaRPr lang="es-CO" sz="1600"/>
        </a:p>
      </dgm:t>
    </dgm:pt>
    <dgm:pt modelId="{C59A2A35-6BBC-4F81-BD74-40520AACD6AB}">
      <dgm:prSet phldrT="[Texto]"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Diseñar un plan</a:t>
          </a:r>
        </a:p>
      </dgm:t>
    </dgm:pt>
    <dgm:pt modelId="{EDE363E4-7EA3-41D2-8DB9-A0871D9DA325}" type="parTrans" cxnId="{3B1F784D-95DD-4194-A52D-9A5B55BC5BD7}">
      <dgm:prSet/>
      <dgm:spPr/>
      <dgm:t>
        <a:bodyPr/>
        <a:lstStyle/>
        <a:p>
          <a:endParaRPr lang="es-CO" sz="1600"/>
        </a:p>
      </dgm:t>
    </dgm:pt>
    <dgm:pt modelId="{C31DDF04-103F-4600-9F78-0BDCC0BF907B}" type="sibTrans" cxnId="{3B1F784D-95DD-4194-A52D-9A5B55BC5BD7}">
      <dgm:prSet/>
      <dgm:spPr/>
      <dgm:t>
        <a:bodyPr/>
        <a:lstStyle/>
        <a:p>
          <a:endParaRPr lang="es-CO" sz="1600"/>
        </a:p>
      </dgm:t>
    </dgm:pt>
    <dgm:pt modelId="{9AB424BA-7E8B-4D0B-8A3C-3748A54646B8}">
      <dgm:prSet phldrT="[Texto]" custT="1"/>
      <dgm:spPr/>
      <dgm:t>
        <a:bodyPr/>
        <a:lstStyle/>
        <a:p>
          <a:r>
            <a:rPr lang="es-CO" sz="2000" dirty="0">
              <a:latin typeface="Century Gothic" panose="020B0502020202020204" pitchFamily="34" charset="0"/>
            </a:rPr>
            <a:t>3</a:t>
          </a:r>
        </a:p>
      </dgm:t>
    </dgm:pt>
    <dgm:pt modelId="{E543BFA9-86DB-499C-8E83-B32D00A97FD8}" type="parTrans" cxnId="{9DB9632F-E2AC-48EE-840F-D6A88C411EEA}">
      <dgm:prSet/>
      <dgm:spPr/>
      <dgm:t>
        <a:bodyPr/>
        <a:lstStyle/>
        <a:p>
          <a:endParaRPr lang="es-CO" sz="1600"/>
        </a:p>
      </dgm:t>
    </dgm:pt>
    <dgm:pt modelId="{DDCD6E76-3560-4CAA-96A8-94ACFF130E9B}" type="sibTrans" cxnId="{9DB9632F-E2AC-48EE-840F-D6A88C411EEA}">
      <dgm:prSet/>
      <dgm:spPr/>
      <dgm:t>
        <a:bodyPr/>
        <a:lstStyle/>
        <a:p>
          <a:endParaRPr lang="es-CO" sz="1600"/>
        </a:p>
      </dgm:t>
    </dgm:pt>
    <dgm:pt modelId="{BEC04423-D6B7-4792-AEB9-C3D7F81A98AC}">
      <dgm:prSet phldrT="[Texto]"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Implementar el plan</a:t>
          </a:r>
        </a:p>
      </dgm:t>
    </dgm:pt>
    <dgm:pt modelId="{F135D138-85FF-4087-B751-5F159F842289}" type="parTrans" cxnId="{5B0A26F8-5ACB-43D3-A171-6C62CAD4E7BE}">
      <dgm:prSet/>
      <dgm:spPr/>
      <dgm:t>
        <a:bodyPr/>
        <a:lstStyle/>
        <a:p>
          <a:endParaRPr lang="es-CO" sz="1600"/>
        </a:p>
      </dgm:t>
    </dgm:pt>
    <dgm:pt modelId="{AB02689B-5109-4C4C-A9DD-EF332B395FC7}" type="sibTrans" cxnId="{5B0A26F8-5ACB-43D3-A171-6C62CAD4E7BE}">
      <dgm:prSet/>
      <dgm:spPr/>
      <dgm:t>
        <a:bodyPr/>
        <a:lstStyle/>
        <a:p>
          <a:endParaRPr lang="es-CO" sz="1600"/>
        </a:p>
      </dgm:t>
    </dgm:pt>
    <dgm:pt modelId="{6F3FB39C-3E1D-4D2D-849B-EA0299C466C8}">
      <dgm:prSet phldrT="[Texto]" custT="1"/>
      <dgm:spPr/>
      <dgm:t>
        <a:bodyPr/>
        <a:lstStyle/>
        <a:p>
          <a:r>
            <a:rPr lang="es-CO" sz="2000" dirty="0">
              <a:latin typeface="Century Gothic" panose="020B0502020202020204" pitchFamily="34" charset="0"/>
            </a:rPr>
            <a:t>4</a:t>
          </a:r>
        </a:p>
      </dgm:t>
    </dgm:pt>
    <dgm:pt modelId="{F344B892-AD67-4863-B1DB-FFEAC6AE3C6A}" type="parTrans" cxnId="{F85ACEEE-F8C0-443C-BAAF-021763D37073}">
      <dgm:prSet/>
      <dgm:spPr/>
      <dgm:t>
        <a:bodyPr/>
        <a:lstStyle/>
        <a:p>
          <a:endParaRPr lang="es-CO" sz="1600"/>
        </a:p>
      </dgm:t>
    </dgm:pt>
    <dgm:pt modelId="{2E86F725-3FD8-4480-8AF6-6A89E142D77A}" type="sibTrans" cxnId="{F85ACEEE-F8C0-443C-BAAF-021763D37073}">
      <dgm:prSet/>
      <dgm:spPr/>
      <dgm:t>
        <a:bodyPr/>
        <a:lstStyle/>
        <a:p>
          <a:endParaRPr lang="es-CO" sz="1600"/>
        </a:p>
      </dgm:t>
    </dgm:pt>
    <dgm:pt modelId="{DCCFDBD5-3BD5-4368-8E74-2BE430318114}">
      <dgm:prSet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Revisar el plan</a:t>
          </a:r>
        </a:p>
      </dgm:t>
    </dgm:pt>
    <dgm:pt modelId="{E9C3A1B1-6767-4D4A-B32D-4EDACFE1C0F4}" type="parTrans" cxnId="{95C514DE-3460-4712-B0CD-D954FE76DB64}">
      <dgm:prSet/>
      <dgm:spPr/>
      <dgm:t>
        <a:bodyPr/>
        <a:lstStyle/>
        <a:p>
          <a:endParaRPr lang="es-CO" sz="1600"/>
        </a:p>
      </dgm:t>
    </dgm:pt>
    <dgm:pt modelId="{159A55EA-C5B7-4F9E-8222-A763BEB4D99B}" type="sibTrans" cxnId="{95C514DE-3460-4712-B0CD-D954FE76DB64}">
      <dgm:prSet/>
      <dgm:spPr/>
      <dgm:t>
        <a:bodyPr/>
        <a:lstStyle/>
        <a:p>
          <a:endParaRPr lang="es-CO" sz="1600"/>
        </a:p>
      </dgm:t>
    </dgm:pt>
    <dgm:pt modelId="{C30EB98C-BF8E-47B5-A59F-A3E708D5551C}" type="pres">
      <dgm:prSet presAssocID="{234617D2-EBA5-43D3-A846-ABD7019008A4}" presName="linearFlow" presStyleCnt="0">
        <dgm:presLayoutVars>
          <dgm:dir/>
          <dgm:animLvl val="lvl"/>
          <dgm:resizeHandles val="exact"/>
        </dgm:presLayoutVars>
      </dgm:prSet>
      <dgm:spPr/>
    </dgm:pt>
    <dgm:pt modelId="{B5976899-2FC4-4A3E-891A-B74C8C23C8B5}" type="pres">
      <dgm:prSet presAssocID="{0F6E169A-367E-48F6-8A0F-9538EF72E803}" presName="composite" presStyleCnt="0"/>
      <dgm:spPr/>
    </dgm:pt>
    <dgm:pt modelId="{416A876F-5FA3-42F9-A923-4E2C334EF9BC}" type="pres">
      <dgm:prSet presAssocID="{0F6E169A-367E-48F6-8A0F-9538EF72E803}" presName="parentText" presStyleLbl="alignNode1" presStyleIdx="0" presStyleCnt="4">
        <dgm:presLayoutVars>
          <dgm:chMax val="1"/>
          <dgm:bulletEnabled val="1"/>
        </dgm:presLayoutVars>
      </dgm:prSet>
      <dgm:spPr/>
    </dgm:pt>
    <dgm:pt modelId="{344A86B1-48E8-448F-9C6D-71580BFB5F83}" type="pres">
      <dgm:prSet presAssocID="{0F6E169A-367E-48F6-8A0F-9538EF72E803}" presName="descendantText" presStyleLbl="alignAcc1" presStyleIdx="0" presStyleCnt="4">
        <dgm:presLayoutVars>
          <dgm:bulletEnabled val="1"/>
        </dgm:presLayoutVars>
      </dgm:prSet>
      <dgm:spPr/>
    </dgm:pt>
    <dgm:pt modelId="{19B3EDEB-1CF9-4423-9037-F0221A01EBBA}" type="pres">
      <dgm:prSet presAssocID="{9E3845BF-94AB-444E-AB21-A0DA1B4B1270}" presName="sp" presStyleCnt="0"/>
      <dgm:spPr/>
    </dgm:pt>
    <dgm:pt modelId="{5D167E8C-136F-440C-8D10-651E4D964A72}" type="pres">
      <dgm:prSet presAssocID="{9C3C57BE-AD01-47F6-9592-98EF2608A6EF}" presName="composite" presStyleCnt="0"/>
      <dgm:spPr/>
    </dgm:pt>
    <dgm:pt modelId="{A651636C-CE47-4575-AA1E-AB00D80E941D}" type="pres">
      <dgm:prSet presAssocID="{9C3C57BE-AD01-47F6-9592-98EF2608A6EF}" presName="parentText" presStyleLbl="alignNode1" presStyleIdx="1" presStyleCnt="4" custLinFactNeighborY="0">
        <dgm:presLayoutVars>
          <dgm:chMax val="1"/>
          <dgm:bulletEnabled val="1"/>
        </dgm:presLayoutVars>
      </dgm:prSet>
      <dgm:spPr/>
    </dgm:pt>
    <dgm:pt modelId="{79B0DE70-0A03-4A6F-B31F-EC81EB5DF7EA}" type="pres">
      <dgm:prSet presAssocID="{9C3C57BE-AD01-47F6-9592-98EF2608A6EF}" presName="descendantText" presStyleLbl="alignAcc1" presStyleIdx="1" presStyleCnt="4">
        <dgm:presLayoutVars>
          <dgm:bulletEnabled val="1"/>
        </dgm:presLayoutVars>
      </dgm:prSet>
      <dgm:spPr/>
    </dgm:pt>
    <dgm:pt modelId="{5C2D5B77-4FD3-4BFC-B7C7-B69CFA47B819}" type="pres">
      <dgm:prSet presAssocID="{0019765E-5748-4647-85C8-6E8054C68086}" presName="sp" presStyleCnt="0"/>
      <dgm:spPr/>
    </dgm:pt>
    <dgm:pt modelId="{FD9C2F86-B450-49A0-8639-065AE676C080}" type="pres">
      <dgm:prSet presAssocID="{9AB424BA-7E8B-4D0B-8A3C-3748A54646B8}" presName="composite" presStyleCnt="0"/>
      <dgm:spPr/>
    </dgm:pt>
    <dgm:pt modelId="{2AA7B02C-023E-4537-897E-B54A048C8983}" type="pres">
      <dgm:prSet presAssocID="{9AB424BA-7E8B-4D0B-8A3C-3748A54646B8}" presName="parentText" presStyleLbl="alignNode1" presStyleIdx="2" presStyleCnt="4">
        <dgm:presLayoutVars>
          <dgm:chMax val="1"/>
          <dgm:bulletEnabled val="1"/>
        </dgm:presLayoutVars>
      </dgm:prSet>
      <dgm:spPr/>
    </dgm:pt>
    <dgm:pt modelId="{15D3D31F-A831-4E62-ADE9-6ACE81331CDC}" type="pres">
      <dgm:prSet presAssocID="{9AB424BA-7E8B-4D0B-8A3C-3748A54646B8}" presName="descendantText" presStyleLbl="alignAcc1" presStyleIdx="2" presStyleCnt="4">
        <dgm:presLayoutVars>
          <dgm:bulletEnabled val="1"/>
        </dgm:presLayoutVars>
      </dgm:prSet>
      <dgm:spPr/>
    </dgm:pt>
    <dgm:pt modelId="{365F76A6-EF4F-41D1-B81D-BC3D7851A081}" type="pres">
      <dgm:prSet presAssocID="{DDCD6E76-3560-4CAA-96A8-94ACFF130E9B}" presName="sp" presStyleCnt="0"/>
      <dgm:spPr/>
    </dgm:pt>
    <dgm:pt modelId="{4DB00594-09F9-4225-B772-B1D52DAEEAB6}" type="pres">
      <dgm:prSet presAssocID="{6F3FB39C-3E1D-4D2D-849B-EA0299C466C8}" presName="composite" presStyleCnt="0"/>
      <dgm:spPr/>
    </dgm:pt>
    <dgm:pt modelId="{58E45CBE-DE64-4E4E-8AAA-D376465B2BEE}" type="pres">
      <dgm:prSet presAssocID="{6F3FB39C-3E1D-4D2D-849B-EA0299C466C8}" presName="parentText" presStyleLbl="alignNode1" presStyleIdx="3" presStyleCnt="4">
        <dgm:presLayoutVars>
          <dgm:chMax val="1"/>
          <dgm:bulletEnabled val="1"/>
        </dgm:presLayoutVars>
      </dgm:prSet>
      <dgm:spPr/>
    </dgm:pt>
    <dgm:pt modelId="{C37D6712-7A35-4663-80F7-1B8FC410AF19}" type="pres">
      <dgm:prSet presAssocID="{6F3FB39C-3E1D-4D2D-849B-EA0299C466C8}" presName="descendantText" presStyleLbl="alignAcc1" presStyleIdx="3" presStyleCnt="4">
        <dgm:presLayoutVars>
          <dgm:bulletEnabled val="1"/>
        </dgm:presLayoutVars>
      </dgm:prSet>
      <dgm:spPr/>
    </dgm:pt>
  </dgm:ptLst>
  <dgm:cxnLst>
    <dgm:cxn modelId="{D25A530A-E341-4BA7-8999-21A374D537D3}" type="presOf" srcId="{BEC04423-D6B7-4792-AEB9-C3D7F81A98AC}" destId="{15D3D31F-A831-4E62-ADE9-6ACE81331CDC}" srcOrd="0" destOrd="0" presId="urn:microsoft.com/office/officeart/2005/8/layout/chevron2"/>
    <dgm:cxn modelId="{0F63B510-A033-48E8-A5FD-87C76FF5A9D6}" type="presOf" srcId="{0F6E169A-367E-48F6-8A0F-9538EF72E803}" destId="{416A876F-5FA3-42F9-A923-4E2C334EF9BC}" srcOrd="0" destOrd="0" presId="urn:microsoft.com/office/officeart/2005/8/layout/chevron2"/>
    <dgm:cxn modelId="{09EB6217-24CA-4B61-90D2-9CF7E646FA43}" type="presOf" srcId="{234617D2-EBA5-43D3-A846-ABD7019008A4}" destId="{C30EB98C-BF8E-47B5-A59F-A3E708D5551C}" srcOrd="0" destOrd="0" presId="urn:microsoft.com/office/officeart/2005/8/layout/chevron2"/>
    <dgm:cxn modelId="{9DB9632F-E2AC-48EE-840F-D6A88C411EEA}" srcId="{234617D2-EBA5-43D3-A846-ABD7019008A4}" destId="{9AB424BA-7E8B-4D0B-8A3C-3748A54646B8}" srcOrd="2" destOrd="0" parTransId="{E543BFA9-86DB-499C-8E83-B32D00A97FD8}" sibTransId="{DDCD6E76-3560-4CAA-96A8-94ACFF130E9B}"/>
    <dgm:cxn modelId="{5C56243F-7D54-4FD5-BD45-EEAB6E9334A6}" type="presOf" srcId="{676AA4D5-22F4-47B3-B0E8-95C3D9C99480}" destId="{344A86B1-48E8-448F-9C6D-71580BFB5F83}" srcOrd="0" destOrd="0" presId="urn:microsoft.com/office/officeart/2005/8/layout/chevron2"/>
    <dgm:cxn modelId="{3EF6886C-4FCF-4899-8F48-98F458A380A4}" type="presOf" srcId="{DCCFDBD5-3BD5-4368-8E74-2BE430318114}" destId="{C37D6712-7A35-4663-80F7-1B8FC410AF19}" srcOrd="0" destOrd="0" presId="urn:microsoft.com/office/officeart/2005/8/layout/chevron2"/>
    <dgm:cxn modelId="{3B1F784D-95DD-4194-A52D-9A5B55BC5BD7}" srcId="{9C3C57BE-AD01-47F6-9592-98EF2608A6EF}" destId="{C59A2A35-6BBC-4F81-BD74-40520AACD6AB}" srcOrd="0" destOrd="0" parTransId="{EDE363E4-7EA3-41D2-8DB9-A0871D9DA325}" sibTransId="{C31DDF04-103F-4600-9F78-0BDCC0BF907B}"/>
    <dgm:cxn modelId="{1D7BCF56-E33F-4A42-8129-E524DE8CA73C}" srcId="{234617D2-EBA5-43D3-A846-ABD7019008A4}" destId="{0F6E169A-367E-48F6-8A0F-9538EF72E803}" srcOrd="0" destOrd="0" parTransId="{214810CF-0E9F-420E-9F44-94CA29248781}" sibTransId="{9E3845BF-94AB-444E-AB21-A0DA1B4B1270}"/>
    <dgm:cxn modelId="{E8354084-D26E-4270-954C-74C7F6A06793}" type="presOf" srcId="{C59A2A35-6BBC-4F81-BD74-40520AACD6AB}" destId="{79B0DE70-0A03-4A6F-B31F-EC81EB5DF7EA}" srcOrd="0" destOrd="0" presId="urn:microsoft.com/office/officeart/2005/8/layout/chevron2"/>
    <dgm:cxn modelId="{BF2B6EA9-3F5A-49C1-AF7E-EC921192B9DE}" type="presOf" srcId="{9C3C57BE-AD01-47F6-9592-98EF2608A6EF}" destId="{A651636C-CE47-4575-AA1E-AB00D80E941D}" srcOrd="0" destOrd="0" presId="urn:microsoft.com/office/officeart/2005/8/layout/chevron2"/>
    <dgm:cxn modelId="{95C514DE-3460-4712-B0CD-D954FE76DB64}" srcId="{6F3FB39C-3E1D-4D2D-849B-EA0299C466C8}" destId="{DCCFDBD5-3BD5-4368-8E74-2BE430318114}" srcOrd="0" destOrd="0" parTransId="{E9C3A1B1-6767-4D4A-B32D-4EDACFE1C0F4}" sibTransId="{159A55EA-C5B7-4F9E-8222-A763BEB4D99B}"/>
    <dgm:cxn modelId="{FBB864E0-2027-4A45-B5D7-110F765EFD96}" srcId="{234617D2-EBA5-43D3-A846-ABD7019008A4}" destId="{9C3C57BE-AD01-47F6-9592-98EF2608A6EF}" srcOrd="1" destOrd="0" parTransId="{33D25418-EA10-4491-90C6-5683712BE055}" sibTransId="{0019765E-5748-4647-85C8-6E8054C68086}"/>
    <dgm:cxn modelId="{448B48EB-E488-4909-82B4-2E61877F00AE}" type="presOf" srcId="{6F3FB39C-3E1D-4D2D-849B-EA0299C466C8}" destId="{58E45CBE-DE64-4E4E-8AAA-D376465B2BEE}" srcOrd="0" destOrd="0" presId="urn:microsoft.com/office/officeart/2005/8/layout/chevron2"/>
    <dgm:cxn modelId="{E644B3EB-418D-4B1A-83D6-8DCC10BE06E8}" type="presOf" srcId="{9AB424BA-7E8B-4D0B-8A3C-3748A54646B8}" destId="{2AA7B02C-023E-4537-897E-B54A048C8983}" srcOrd="0" destOrd="0" presId="urn:microsoft.com/office/officeart/2005/8/layout/chevron2"/>
    <dgm:cxn modelId="{F85ACEEE-F8C0-443C-BAAF-021763D37073}" srcId="{234617D2-EBA5-43D3-A846-ABD7019008A4}" destId="{6F3FB39C-3E1D-4D2D-849B-EA0299C466C8}" srcOrd="3" destOrd="0" parTransId="{F344B892-AD67-4863-B1DB-FFEAC6AE3C6A}" sibTransId="{2E86F725-3FD8-4480-8AF6-6A89E142D77A}"/>
    <dgm:cxn modelId="{E402CAF0-5AAA-416F-BAF4-3854EF253EE5}" srcId="{0F6E169A-367E-48F6-8A0F-9538EF72E803}" destId="{676AA4D5-22F4-47B3-B0E8-95C3D9C99480}" srcOrd="0" destOrd="0" parTransId="{65AE6963-95E3-417E-9DBC-C327427667A9}" sibTransId="{BBDCCB86-71C3-422E-959C-8FA92A9124DF}"/>
    <dgm:cxn modelId="{5B0A26F8-5ACB-43D3-A171-6C62CAD4E7BE}" srcId="{9AB424BA-7E8B-4D0B-8A3C-3748A54646B8}" destId="{BEC04423-D6B7-4792-AEB9-C3D7F81A98AC}" srcOrd="0" destOrd="0" parTransId="{F135D138-85FF-4087-B751-5F159F842289}" sibTransId="{AB02689B-5109-4C4C-A9DD-EF332B395FC7}"/>
    <dgm:cxn modelId="{AC4A8FF1-0B42-4570-ACB4-F62AD10AC7E7}" type="presParOf" srcId="{C30EB98C-BF8E-47B5-A59F-A3E708D5551C}" destId="{B5976899-2FC4-4A3E-891A-B74C8C23C8B5}" srcOrd="0" destOrd="0" presId="urn:microsoft.com/office/officeart/2005/8/layout/chevron2"/>
    <dgm:cxn modelId="{78437963-1AD6-4AA2-99FF-D3C136E6C1B9}" type="presParOf" srcId="{B5976899-2FC4-4A3E-891A-B74C8C23C8B5}" destId="{416A876F-5FA3-42F9-A923-4E2C334EF9BC}" srcOrd="0" destOrd="0" presId="urn:microsoft.com/office/officeart/2005/8/layout/chevron2"/>
    <dgm:cxn modelId="{E5BB8A76-3CEA-42DE-8EE6-7959F74B0BB9}" type="presParOf" srcId="{B5976899-2FC4-4A3E-891A-B74C8C23C8B5}" destId="{344A86B1-48E8-448F-9C6D-71580BFB5F83}" srcOrd="1" destOrd="0" presId="urn:microsoft.com/office/officeart/2005/8/layout/chevron2"/>
    <dgm:cxn modelId="{1409A561-56BE-41EC-823E-CEEC12A8CF50}" type="presParOf" srcId="{C30EB98C-BF8E-47B5-A59F-A3E708D5551C}" destId="{19B3EDEB-1CF9-4423-9037-F0221A01EBBA}" srcOrd="1" destOrd="0" presId="urn:microsoft.com/office/officeart/2005/8/layout/chevron2"/>
    <dgm:cxn modelId="{69FAE29B-8826-413D-A90D-E3D1914BB7C5}" type="presParOf" srcId="{C30EB98C-BF8E-47B5-A59F-A3E708D5551C}" destId="{5D167E8C-136F-440C-8D10-651E4D964A72}" srcOrd="2" destOrd="0" presId="urn:microsoft.com/office/officeart/2005/8/layout/chevron2"/>
    <dgm:cxn modelId="{26C5ECD3-BE74-4234-955C-82B823BF9F9B}" type="presParOf" srcId="{5D167E8C-136F-440C-8D10-651E4D964A72}" destId="{A651636C-CE47-4575-AA1E-AB00D80E941D}" srcOrd="0" destOrd="0" presId="urn:microsoft.com/office/officeart/2005/8/layout/chevron2"/>
    <dgm:cxn modelId="{BFF53C8A-F466-46C1-9066-7E1EB74CF072}" type="presParOf" srcId="{5D167E8C-136F-440C-8D10-651E4D964A72}" destId="{79B0DE70-0A03-4A6F-B31F-EC81EB5DF7EA}" srcOrd="1" destOrd="0" presId="urn:microsoft.com/office/officeart/2005/8/layout/chevron2"/>
    <dgm:cxn modelId="{530A7BC0-79AB-4546-A568-2187FF19F65D}" type="presParOf" srcId="{C30EB98C-BF8E-47B5-A59F-A3E708D5551C}" destId="{5C2D5B77-4FD3-4BFC-B7C7-B69CFA47B819}" srcOrd="3" destOrd="0" presId="urn:microsoft.com/office/officeart/2005/8/layout/chevron2"/>
    <dgm:cxn modelId="{BE3F6BE8-AEFA-4235-B54E-61907BC9372B}" type="presParOf" srcId="{C30EB98C-BF8E-47B5-A59F-A3E708D5551C}" destId="{FD9C2F86-B450-49A0-8639-065AE676C080}" srcOrd="4" destOrd="0" presId="urn:microsoft.com/office/officeart/2005/8/layout/chevron2"/>
    <dgm:cxn modelId="{2E20AF7C-4B60-47FB-B029-F81F1CE8FCB7}" type="presParOf" srcId="{FD9C2F86-B450-49A0-8639-065AE676C080}" destId="{2AA7B02C-023E-4537-897E-B54A048C8983}" srcOrd="0" destOrd="0" presId="urn:microsoft.com/office/officeart/2005/8/layout/chevron2"/>
    <dgm:cxn modelId="{0573D7AB-2C25-487B-B0E2-947295CA4BF1}" type="presParOf" srcId="{FD9C2F86-B450-49A0-8639-065AE676C080}" destId="{15D3D31F-A831-4E62-ADE9-6ACE81331CDC}" srcOrd="1" destOrd="0" presId="urn:microsoft.com/office/officeart/2005/8/layout/chevron2"/>
    <dgm:cxn modelId="{49FE4450-ED31-4DD4-95F8-F34D880718F4}" type="presParOf" srcId="{C30EB98C-BF8E-47B5-A59F-A3E708D5551C}" destId="{365F76A6-EF4F-41D1-B81D-BC3D7851A081}" srcOrd="5" destOrd="0" presId="urn:microsoft.com/office/officeart/2005/8/layout/chevron2"/>
    <dgm:cxn modelId="{D297B7B3-984B-4BEF-88CF-E8496B62D532}" type="presParOf" srcId="{C30EB98C-BF8E-47B5-A59F-A3E708D5551C}" destId="{4DB00594-09F9-4225-B772-B1D52DAEEAB6}" srcOrd="6" destOrd="0" presId="urn:microsoft.com/office/officeart/2005/8/layout/chevron2"/>
    <dgm:cxn modelId="{58E3F0DF-7BFD-4BEB-873F-CA02319F1E26}" type="presParOf" srcId="{4DB00594-09F9-4225-B772-B1D52DAEEAB6}" destId="{58E45CBE-DE64-4E4E-8AAA-D376465B2BEE}" srcOrd="0" destOrd="0" presId="urn:microsoft.com/office/officeart/2005/8/layout/chevron2"/>
    <dgm:cxn modelId="{C405AC97-4C54-4757-8651-AB11924A4B6F}" type="presParOf" srcId="{4DB00594-09F9-4225-B772-B1D52DAEEAB6}" destId="{C37D6712-7A35-4663-80F7-1B8FC410AF19}"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34617D2-EBA5-43D3-A846-ABD7019008A4}" type="doc">
      <dgm:prSet loTypeId="urn:microsoft.com/office/officeart/2005/8/layout/chevron2" loCatId="process" qsTypeId="urn:microsoft.com/office/officeart/2005/8/quickstyle/simple4" qsCatId="simple" csTypeId="urn:microsoft.com/office/officeart/2005/8/colors/colorful3" csCatId="colorful" phldr="1"/>
      <dgm:spPr/>
      <dgm:t>
        <a:bodyPr/>
        <a:lstStyle/>
        <a:p>
          <a:endParaRPr lang="es-CO"/>
        </a:p>
      </dgm:t>
    </dgm:pt>
    <dgm:pt modelId="{0F6E169A-367E-48F6-8A0F-9538EF72E803}">
      <dgm:prSet phldrT="[Texto]" custT="1"/>
      <dgm:spPr/>
      <dgm:t>
        <a:bodyPr/>
        <a:lstStyle/>
        <a:p>
          <a:r>
            <a:rPr lang="es-CO" sz="1600" dirty="0">
              <a:latin typeface="Century Gothic" panose="020B0502020202020204" pitchFamily="34" charset="0"/>
            </a:rPr>
            <a:t>1</a:t>
          </a:r>
          <a:endParaRPr lang="es-CO" sz="1200" dirty="0">
            <a:latin typeface="Century Gothic" panose="020B0502020202020204" pitchFamily="34" charset="0"/>
          </a:endParaRPr>
        </a:p>
      </dgm:t>
    </dgm:pt>
    <dgm:pt modelId="{214810CF-0E9F-420E-9F44-94CA29248781}" type="parTrans" cxnId="{1D7BCF56-E33F-4A42-8129-E524DE8CA73C}">
      <dgm:prSet/>
      <dgm:spPr/>
      <dgm:t>
        <a:bodyPr/>
        <a:lstStyle/>
        <a:p>
          <a:endParaRPr lang="es-CO" sz="1600"/>
        </a:p>
      </dgm:t>
    </dgm:pt>
    <dgm:pt modelId="{9E3845BF-94AB-444E-AB21-A0DA1B4B1270}" type="sibTrans" cxnId="{1D7BCF56-E33F-4A42-8129-E524DE8CA73C}">
      <dgm:prSet/>
      <dgm:spPr/>
      <dgm:t>
        <a:bodyPr/>
        <a:lstStyle/>
        <a:p>
          <a:endParaRPr lang="es-CO" sz="1600"/>
        </a:p>
      </dgm:t>
    </dgm:pt>
    <dgm:pt modelId="{676AA4D5-22F4-47B3-B0E8-95C3D9C99480}">
      <dgm:prSet phldrT="[Texto]" custT="1"/>
      <dgm:spPr/>
      <dgm:t>
        <a:bodyPr/>
        <a:lstStyle/>
        <a:p>
          <a:pPr>
            <a:buNone/>
          </a:pPr>
          <a:r>
            <a:rPr lang="es-CO" sz="2000" dirty="0">
              <a:latin typeface="Century Gothic" panose="020B0502020202020204" pitchFamily="34" charset="0"/>
            </a:rPr>
            <a:t>Entender el problema</a:t>
          </a:r>
        </a:p>
      </dgm:t>
    </dgm:pt>
    <dgm:pt modelId="{65AE6963-95E3-417E-9DBC-C327427667A9}" type="parTrans" cxnId="{E402CAF0-5AAA-416F-BAF4-3854EF253EE5}">
      <dgm:prSet/>
      <dgm:spPr/>
      <dgm:t>
        <a:bodyPr/>
        <a:lstStyle/>
        <a:p>
          <a:endParaRPr lang="es-CO" sz="1600"/>
        </a:p>
      </dgm:t>
    </dgm:pt>
    <dgm:pt modelId="{BBDCCB86-71C3-422E-959C-8FA92A9124DF}" type="sibTrans" cxnId="{E402CAF0-5AAA-416F-BAF4-3854EF253EE5}">
      <dgm:prSet/>
      <dgm:spPr/>
      <dgm:t>
        <a:bodyPr/>
        <a:lstStyle/>
        <a:p>
          <a:endParaRPr lang="es-CO" sz="1600"/>
        </a:p>
      </dgm:t>
    </dgm:pt>
    <dgm:pt modelId="{9C3C57BE-AD01-47F6-9592-98EF2608A6EF}">
      <dgm:prSet phldrT="[Texto]" custT="1"/>
      <dgm:spPr/>
      <dgm:t>
        <a:bodyPr/>
        <a:lstStyle/>
        <a:p>
          <a:r>
            <a:rPr lang="es-CO" sz="1800" dirty="0">
              <a:latin typeface="Century Gothic" panose="020B0502020202020204" pitchFamily="34" charset="0"/>
            </a:rPr>
            <a:t>2</a:t>
          </a:r>
          <a:endParaRPr lang="es-CO" sz="2400" dirty="0">
            <a:latin typeface="Century Gothic" panose="020B0502020202020204" pitchFamily="34" charset="0"/>
          </a:endParaRPr>
        </a:p>
      </dgm:t>
    </dgm:pt>
    <dgm:pt modelId="{33D25418-EA10-4491-90C6-5683712BE055}" type="parTrans" cxnId="{FBB864E0-2027-4A45-B5D7-110F765EFD96}">
      <dgm:prSet/>
      <dgm:spPr/>
      <dgm:t>
        <a:bodyPr/>
        <a:lstStyle/>
        <a:p>
          <a:endParaRPr lang="es-CO" sz="1600"/>
        </a:p>
      </dgm:t>
    </dgm:pt>
    <dgm:pt modelId="{0019765E-5748-4647-85C8-6E8054C68086}" type="sibTrans" cxnId="{FBB864E0-2027-4A45-B5D7-110F765EFD96}">
      <dgm:prSet/>
      <dgm:spPr/>
      <dgm:t>
        <a:bodyPr/>
        <a:lstStyle/>
        <a:p>
          <a:endParaRPr lang="es-CO" sz="1600"/>
        </a:p>
      </dgm:t>
    </dgm:pt>
    <dgm:pt modelId="{C59A2A35-6BBC-4F81-BD74-40520AACD6AB}">
      <dgm:prSet phldrT="[Texto]"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Diseñar un plan</a:t>
          </a:r>
        </a:p>
      </dgm:t>
    </dgm:pt>
    <dgm:pt modelId="{EDE363E4-7EA3-41D2-8DB9-A0871D9DA325}" type="parTrans" cxnId="{3B1F784D-95DD-4194-A52D-9A5B55BC5BD7}">
      <dgm:prSet/>
      <dgm:spPr/>
      <dgm:t>
        <a:bodyPr/>
        <a:lstStyle/>
        <a:p>
          <a:endParaRPr lang="es-CO" sz="1600"/>
        </a:p>
      </dgm:t>
    </dgm:pt>
    <dgm:pt modelId="{C31DDF04-103F-4600-9F78-0BDCC0BF907B}" type="sibTrans" cxnId="{3B1F784D-95DD-4194-A52D-9A5B55BC5BD7}">
      <dgm:prSet/>
      <dgm:spPr/>
      <dgm:t>
        <a:bodyPr/>
        <a:lstStyle/>
        <a:p>
          <a:endParaRPr lang="es-CO" sz="1600"/>
        </a:p>
      </dgm:t>
    </dgm:pt>
    <dgm:pt modelId="{9AB424BA-7E8B-4D0B-8A3C-3748A54646B8}">
      <dgm:prSet phldrT="[Texto]" custT="1"/>
      <dgm:spPr/>
      <dgm:t>
        <a:bodyPr/>
        <a:lstStyle/>
        <a:p>
          <a:r>
            <a:rPr lang="es-CO" sz="2000" dirty="0">
              <a:latin typeface="Century Gothic" panose="020B0502020202020204" pitchFamily="34" charset="0"/>
            </a:rPr>
            <a:t>3</a:t>
          </a:r>
        </a:p>
      </dgm:t>
    </dgm:pt>
    <dgm:pt modelId="{E543BFA9-86DB-499C-8E83-B32D00A97FD8}" type="parTrans" cxnId="{9DB9632F-E2AC-48EE-840F-D6A88C411EEA}">
      <dgm:prSet/>
      <dgm:spPr/>
      <dgm:t>
        <a:bodyPr/>
        <a:lstStyle/>
        <a:p>
          <a:endParaRPr lang="es-CO" sz="1600"/>
        </a:p>
      </dgm:t>
    </dgm:pt>
    <dgm:pt modelId="{DDCD6E76-3560-4CAA-96A8-94ACFF130E9B}" type="sibTrans" cxnId="{9DB9632F-E2AC-48EE-840F-D6A88C411EEA}">
      <dgm:prSet/>
      <dgm:spPr/>
      <dgm:t>
        <a:bodyPr/>
        <a:lstStyle/>
        <a:p>
          <a:endParaRPr lang="es-CO" sz="1600"/>
        </a:p>
      </dgm:t>
    </dgm:pt>
    <dgm:pt modelId="{BEC04423-D6B7-4792-AEB9-C3D7F81A98AC}">
      <dgm:prSet phldrT="[Texto]"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Implementar el plan</a:t>
          </a:r>
        </a:p>
      </dgm:t>
    </dgm:pt>
    <dgm:pt modelId="{F135D138-85FF-4087-B751-5F159F842289}" type="parTrans" cxnId="{5B0A26F8-5ACB-43D3-A171-6C62CAD4E7BE}">
      <dgm:prSet/>
      <dgm:spPr/>
      <dgm:t>
        <a:bodyPr/>
        <a:lstStyle/>
        <a:p>
          <a:endParaRPr lang="es-CO" sz="1600"/>
        </a:p>
      </dgm:t>
    </dgm:pt>
    <dgm:pt modelId="{AB02689B-5109-4C4C-A9DD-EF332B395FC7}" type="sibTrans" cxnId="{5B0A26F8-5ACB-43D3-A171-6C62CAD4E7BE}">
      <dgm:prSet/>
      <dgm:spPr/>
      <dgm:t>
        <a:bodyPr/>
        <a:lstStyle/>
        <a:p>
          <a:endParaRPr lang="es-CO" sz="1600"/>
        </a:p>
      </dgm:t>
    </dgm:pt>
    <dgm:pt modelId="{6F3FB39C-3E1D-4D2D-849B-EA0299C466C8}">
      <dgm:prSet phldrT="[Texto]" custT="1"/>
      <dgm:spPr/>
      <dgm:t>
        <a:bodyPr/>
        <a:lstStyle/>
        <a:p>
          <a:r>
            <a:rPr lang="es-CO" sz="2000" dirty="0">
              <a:latin typeface="Century Gothic" panose="020B0502020202020204" pitchFamily="34" charset="0"/>
            </a:rPr>
            <a:t>4</a:t>
          </a:r>
        </a:p>
      </dgm:t>
    </dgm:pt>
    <dgm:pt modelId="{F344B892-AD67-4863-B1DB-FFEAC6AE3C6A}" type="parTrans" cxnId="{F85ACEEE-F8C0-443C-BAAF-021763D37073}">
      <dgm:prSet/>
      <dgm:spPr/>
      <dgm:t>
        <a:bodyPr/>
        <a:lstStyle/>
        <a:p>
          <a:endParaRPr lang="es-CO" sz="1600"/>
        </a:p>
      </dgm:t>
    </dgm:pt>
    <dgm:pt modelId="{2E86F725-3FD8-4480-8AF6-6A89E142D77A}" type="sibTrans" cxnId="{F85ACEEE-F8C0-443C-BAAF-021763D37073}">
      <dgm:prSet/>
      <dgm:spPr/>
      <dgm:t>
        <a:bodyPr/>
        <a:lstStyle/>
        <a:p>
          <a:endParaRPr lang="es-CO" sz="1600"/>
        </a:p>
      </dgm:t>
    </dgm:pt>
    <dgm:pt modelId="{DCCFDBD5-3BD5-4368-8E74-2BE430318114}">
      <dgm:prSet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Revisar el plan</a:t>
          </a:r>
        </a:p>
      </dgm:t>
    </dgm:pt>
    <dgm:pt modelId="{E9C3A1B1-6767-4D4A-B32D-4EDACFE1C0F4}" type="parTrans" cxnId="{95C514DE-3460-4712-B0CD-D954FE76DB64}">
      <dgm:prSet/>
      <dgm:spPr/>
      <dgm:t>
        <a:bodyPr/>
        <a:lstStyle/>
        <a:p>
          <a:endParaRPr lang="es-CO" sz="1600"/>
        </a:p>
      </dgm:t>
    </dgm:pt>
    <dgm:pt modelId="{159A55EA-C5B7-4F9E-8222-A763BEB4D99B}" type="sibTrans" cxnId="{95C514DE-3460-4712-B0CD-D954FE76DB64}">
      <dgm:prSet/>
      <dgm:spPr/>
      <dgm:t>
        <a:bodyPr/>
        <a:lstStyle/>
        <a:p>
          <a:endParaRPr lang="es-CO" sz="1600"/>
        </a:p>
      </dgm:t>
    </dgm:pt>
    <dgm:pt modelId="{C30EB98C-BF8E-47B5-A59F-A3E708D5551C}" type="pres">
      <dgm:prSet presAssocID="{234617D2-EBA5-43D3-A846-ABD7019008A4}" presName="linearFlow" presStyleCnt="0">
        <dgm:presLayoutVars>
          <dgm:dir/>
          <dgm:animLvl val="lvl"/>
          <dgm:resizeHandles val="exact"/>
        </dgm:presLayoutVars>
      </dgm:prSet>
      <dgm:spPr/>
    </dgm:pt>
    <dgm:pt modelId="{B5976899-2FC4-4A3E-891A-B74C8C23C8B5}" type="pres">
      <dgm:prSet presAssocID="{0F6E169A-367E-48F6-8A0F-9538EF72E803}" presName="composite" presStyleCnt="0"/>
      <dgm:spPr/>
    </dgm:pt>
    <dgm:pt modelId="{416A876F-5FA3-42F9-A923-4E2C334EF9BC}" type="pres">
      <dgm:prSet presAssocID="{0F6E169A-367E-48F6-8A0F-9538EF72E803}" presName="parentText" presStyleLbl="alignNode1" presStyleIdx="0" presStyleCnt="4">
        <dgm:presLayoutVars>
          <dgm:chMax val="1"/>
          <dgm:bulletEnabled val="1"/>
        </dgm:presLayoutVars>
      </dgm:prSet>
      <dgm:spPr/>
    </dgm:pt>
    <dgm:pt modelId="{344A86B1-48E8-448F-9C6D-71580BFB5F83}" type="pres">
      <dgm:prSet presAssocID="{0F6E169A-367E-48F6-8A0F-9538EF72E803}" presName="descendantText" presStyleLbl="alignAcc1" presStyleIdx="0" presStyleCnt="4">
        <dgm:presLayoutVars>
          <dgm:bulletEnabled val="1"/>
        </dgm:presLayoutVars>
      </dgm:prSet>
      <dgm:spPr/>
    </dgm:pt>
    <dgm:pt modelId="{19B3EDEB-1CF9-4423-9037-F0221A01EBBA}" type="pres">
      <dgm:prSet presAssocID="{9E3845BF-94AB-444E-AB21-A0DA1B4B1270}" presName="sp" presStyleCnt="0"/>
      <dgm:spPr/>
    </dgm:pt>
    <dgm:pt modelId="{5D167E8C-136F-440C-8D10-651E4D964A72}" type="pres">
      <dgm:prSet presAssocID="{9C3C57BE-AD01-47F6-9592-98EF2608A6EF}" presName="composite" presStyleCnt="0"/>
      <dgm:spPr/>
    </dgm:pt>
    <dgm:pt modelId="{A651636C-CE47-4575-AA1E-AB00D80E941D}" type="pres">
      <dgm:prSet presAssocID="{9C3C57BE-AD01-47F6-9592-98EF2608A6EF}" presName="parentText" presStyleLbl="alignNode1" presStyleIdx="1" presStyleCnt="4" custLinFactNeighborY="0">
        <dgm:presLayoutVars>
          <dgm:chMax val="1"/>
          <dgm:bulletEnabled val="1"/>
        </dgm:presLayoutVars>
      </dgm:prSet>
      <dgm:spPr/>
    </dgm:pt>
    <dgm:pt modelId="{79B0DE70-0A03-4A6F-B31F-EC81EB5DF7EA}" type="pres">
      <dgm:prSet presAssocID="{9C3C57BE-AD01-47F6-9592-98EF2608A6EF}" presName="descendantText" presStyleLbl="alignAcc1" presStyleIdx="1" presStyleCnt="4">
        <dgm:presLayoutVars>
          <dgm:bulletEnabled val="1"/>
        </dgm:presLayoutVars>
      </dgm:prSet>
      <dgm:spPr/>
    </dgm:pt>
    <dgm:pt modelId="{5C2D5B77-4FD3-4BFC-B7C7-B69CFA47B819}" type="pres">
      <dgm:prSet presAssocID="{0019765E-5748-4647-85C8-6E8054C68086}" presName="sp" presStyleCnt="0"/>
      <dgm:spPr/>
    </dgm:pt>
    <dgm:pt modelId="{FD9C2F86-B450-49A0-8639-065AE676C080}" type="pres">
      <dgm:prSet presAssocID="{9AB424BA-7E8B-4D0B-8A3C-3748A54646B8}" presName="composite" presStyleCnt="0"/>
      <dgm:spPr/>
    </dgm:pt>
    <dgm:pt modelId="{2AA7B02C-023E-4537-897E-B54A048C8983}" type="pres">
      <dgm:prSet presAssocID="{9AB424BA-7E8B-4D0B-8A3C-3748A54646B8}" presName="parentText" presStyleLbl="alignNode1" presStyleIdx="2" presStyleCnt="4">
        <dgm:presLayoutVars>
          <dgm:chMax val="1"/>
          <dgm:bulletEnabled val="1"/>
        </dgm:presLayoutVars>
      </dgm:prSet>
      <dgm:spPr/>
    </dgm:pt>
    <dgm:pt modelId="{15D3D31F-A831-4E62-ADE9-6ACE81331CDC}" type="pres">
      <dgm:prSet presAssocID="{9AB424BA-7E8B-4D0B-8A3C-3748A54646B8}" presName="descendantText" presStyleLbl="alignAcc1" presStyleIdx="2" presStyleCnt="4">
        <dgm:presLayoutVars>
          <dgm:bulletEnabled val="1"/>
        </dgm:presLayoutVars>
      </dgm:prSet>
      <dgm:spPr/>
    </dgm:pt>
    <dgm:pt modelId="{365F76A6-EF4F-41D1-B81D-BC3D7851A081}" type="pres">
      <dgm:prSet presAssocID="{DDCD6E76-3560-4CAA-96A8-94ACFF130E9B}" presName="sp" presStyleCnt="0"/>
      <dgm:spPr/>
    </dgm:pt>
    <dgm:pt modelId="{4DB00594-09F9-4225-B772-B1D52DAEEAB6}" type="pres">
      <dgm:prSet presAssocID="{6F3FB39C-3E1D-4D2D-849B-EA0299C466C8}" presName="composite" presStyleCnt="0"/>
      <dgm:spPr/>
    </dgm:pt>
    <dgm:pt modelId="{58E45CBE-DE64-4E4E-8AAA-D376465B2BEE}" type="pres">
      <dgm:prSet presAssocID="{6F3FB39C-3E1D-4D2D-849B-EA0299C466C8}" presName="parentText" presStyleLbl="alignNode1" presStyleIdx="3" presStyleCnt="4">
        <dgm:presLayoutVars>
          <dgm:chMax val="1"/>
          <dgm:bulletEnabled val="1"/>
        </dgm:presLayoutVars>
      </dgm:prSet>
      <dgm:spPr/>
    </dgm:pt>
    <dgm:pt modelId="{C37D6712-7A35-4663-80F7-1B8FC410AF19}" type="pres">
      <dgm:prSet presAssocID="{6F3FB39C-3E1D-4D2D-849B-EA0299C466C8}" presName="descendantText" presStyleLbl="alignAcc1" presStyleIdx="3" presStyleCnt="4">
        <dgm:presLayoutVars>
          <dgm:bulletEnabled val="1"/>
        </dgm:presLayoutVars>
      </dgm:prSet>
      <dgm:spPr/>
    </dgm:pt>
  </dgm:ptLst>
  <dgm:cxnLst>
    <dgm:cxn modelId="{D25A530A-E341-4BA7-8999-21A374D537D3}" type="presOf" srcId="{BEC04423-D6B7-4792-AEB9-C3D7F81A98AC}" destId="{15D3D31F-A831-4E62-ADE9-6ACE81331CDC}" srcOrd="0" destOrd="0" presId="urn:microsoft.com/office/officeart/2005/8/layout/chevron2"/>
    <dgm:cxn modelId="{0F63B510-A033-48E8-A5FD-87C76FF5A9D6}" type="presOf" srcId="{0F6E169A-367E-48F6-8A0F-9538EF72E803}" destId="{416A876F-5FA3-42F9-A923-4E2C334EF9BC}" srcOrd="0" destOrd="0" presId="urn:microsoft.com/office/officeart/2005/8/layout/chevron2"/>
    <dgm:cxn modelId="{09EB6217-24CA-4B61-90D2-9CF7E646FA43}" type="presOf" srcId="{234617D2-EBA5-43D3-A846-ABD7019008A4}" destId="{C30EB98C-BF8E-47B5-A59F-A3E708D5551C}" srcOrd="0" destOrd="0" presId="urn:microsoft.com/office/officeart/2005/8/layout/chevron2"/>
    <dgm:cxn modelId="{9DB9632F-E2AC-48EE-840F-D6A88C411EEA}" srcId="{234617D2-EBA5-43D3-A846-ABD7019008A4}" destId="{9AB424BA-7E8B-4D0B-8A3C-3748A54646B8}" srcOrd="2" destOrd="0" parTransId="{E543BFA9-86DB-499C-8E83-B32D00A97FD8}" sibTransId="{DDCD6E76-3560-4CAA-96A8-94ACFF130E9B}"/>
    <dgm:cxn modelId="{5C56243F-7D54-4FD5-BD45-EEAB6E9334A6}" type="presOf" srcId="{676AA4D5-22F4-47B3-B0E8-95C3D9C99480}" destId="{344A86B1-48E8-448F-9C6D-71580BFB5F83}" srcOrd="0" destOrd="0" presId="urn:microsoft.com/office/officeart/2005/8/layout/chevron2"/>
    <dgm:cxn modelId="{3EF6886C-4FCF-4899-8F48-98F458A380A4}" type="presOf" srcId="{DCCFDBD5-3BD5-4368-8E74-2BE430318114}" destId="{C37D6712-7A35-4663-80F7-1B8FC410AF19}" srcOrd="0" destOrd="0" presId="urn:microsoft.com/office/officeart/2005/8/layout/chevron2"/>
    <dgm:cxn modelId="{3B1F784D-95DD-4194-A52D-9A5B55BC5BD7}" srcId="{9C3C57BE-AD01-47F6-9592-98EF2608A6EF}" destId="{C59A2A35-6BBC-4F81-BD74-40520AACD6AB}" srcOrd="0" destOrd="0" parTransId="{EDE363E4-7EA3-41D2-8DB9-A0871D9DA325}" sibTransId="{C31DDF04-103F-4600-9F78-0BDCC0BF907B}"/>
    <dgm:cxn modelId="{1D7BCF56-E33F-4A42-8129-E524DE8CA73C}" srcId="{234617D2-EBA5-43D3-A846-ABD7019008A4}" destId="{0F6E169A-367E-48F6-8A0F-9538EF72E803}" srcOrd="0" destOrd="0" parTransId="{214810CF-0E9F-420E-9F44-94CA29248781}" sibTransId="{9E3845BF-94AB-444E-AB21-A0DA1B4B1270}"/>
    <dgm:cxn modelId="{E8354084-D26E-4270-954C-74C7F6A06793}" type="presOf" srcId="{C59A2A35-6BBC-4F81-BD74-40520AACD6AB}" destId="{79B0DE70-0A03-4A6F-B31F-EC81EB5DF7EA}" srcOrd="0" destOrd="0" presId="urn:microsoft.com/office/officeart/2005/8/layout/chevron2"/>
    <dgm:cxn modelId="{BF2B6EA9-3F5A-49C1-AF7E-EC921192B9DE}" type="presOf" srcId="{9C3C57BE-AD01-47F6-9592-98EF2608A6EF}" destId="{A651636C-CE47-4575-AA1E-AB00D80E941D}" srcOrd="0" destOrd="0" presId="urn:microsoft.com/office/officeart/2005/8/layout/chevron2"/>
    <dgm:cxn modelId="{95C514DE-3460-4712-B0CD-D954FE76DB64}" srcId="{6F3FB39C-3E1D-4D2D-849B-EA0299C466C8}" destId="{DCCFDBD5-3BD5-4368-8E74-2BE430318114}" srcOrd="0" destOrd="0" parTransId="{E9C3A1B1-6767-4D4A-B32D-4EDACFE1C0F4}" sibTransId="{159A55EA-C5B7-4F9E-8222-A763BEB4D99B}"/>
    <dgm:cxn modelId="{FBB864E0-2027-4A45-B5D7-110F765EFD96}" srcId="{234617D2-EBA5-43D3-A846-ABD7019008A4}" destId="{9C3C57BE-AD01-47F6-9592-98EF2608A6EF}" srcOrd="1" destOrd="0" parTransId="{33D25418-EA10-4491-90C6-5683712BE055}" sibTransId="{0019765E-5748-4647-85C8-6E8054C68086}"/>
    <dgm:cxn modelId="{448B48EB-E488-4909-82B4-2E61877F00AE}" type="presOf" srcId="{6F3FB39C-3E1D-4D2D-849B-EA0299C466C8}" destId="{58E45CBE-DE64-4E4E-8AAA-D376465B2BEE}" srcOrd="0" destOrd="0" presId="urn:microsoft.com/office/officeart/2005/8/layout/chevron2"/>
    <dgm:cxn modelId="{E644B3EB-418D-4B1A-83D6-8DCC10BE06E8}" type="presOf" srcId="{9AB424BA-7E8B-4D0B-8A3C-3748A54646B8}" destId="{2AA7B02C-023E-4537-897E-B54A048C8983}" srcOrd="0" destOrd="0" presId="urn:microsoft.com/office/officeart/2005/8/layout/chevron2"/>
    <dgm:cxn modelId="{F85ACEEE-F8C0-443C-BAAF-021763D37073}" srcId="{234617D2-EBA5-43D3-A846-ABD7019008A4}" destId="{6F3FB39C-3E1D-4D2D-849B-EA0299C466C8}" srcOrd="3" destOrd="0" parTransId="{F344B892-AD67-4863-B1DB-FFEAC6AE3C6A}" sibTransId="{2E86F725-3FD8-4480-8AF6-6A89E142D77A}"/>
    <dgm:cxn modelId="{E402CAF0-5AAA-416F-BAF4-3854EF253EE5}" srcId="{0F6E169A-367E-48F6-8A0F-9538EF72E803}" destId="{676AA4D5-22F4-47B3-B0E8-95C3D9C99480}" srcOrd="0" destOrd="0" parTransId="{65AE6963-95E3-417E-9DBC-C327427667A9}" sibTransId="{BBDCCB86-71C3-422E-959C-8FA92A9124DF}"/>
    <dgm:cxn modelId="{5B0A26F8-5ACB-43D3-A171-6C62CAD4E7BE}" srcId="{9AB424BA-7E8B-4D0B-8A3C-3748A54646B8}" destId="{BEC04423-D6B7-4792-AEB9-C3D7F81A98AC}" srcOrd="0" destOrd="0" parTransId="{F135D138-85FF-4087-B751-5F159F842289}" sibTransId="{AB02689B-5109-4C4C-A9DD-EF332B395FC7}"/>
    <dgm:cxn modelId="{AC4A8FF1-0B42-4570-ACB4-F62AD10AC7E7}" type="presParOf" srcId="{C30EB98C-BF8E-47B5-A59F-A3E708D5551C}" destId="{B5976899-2FC4-4A3E-891A-B74C8C23C8B5}" srcOrd="0" destOrd="0" presId="urn:microsoft.com/office/officeart/2005/8/layout/chevron2"/>
    <dgm:cxn modelId="{78437963-1AD6-4AA2-99FF-D3C136E6C1B9}" type="presParOf" srcId="{B5976899-2FC4-4A3E-891A-B74C8C23C8B5}" destId="{416A876F-5FA3-42F9-A923-4E2C334EF9BC}" srcOrd="0" destOrd="0" presId="urn:microsoft.com/office/officeart/2005/8/layout/chevron2"/>
    <dgm:cxn modelId="{E5BB8A76-3CEA-42DE-8EE6-7959F74B0BB9}" type="presParOf" srcId="{B5976899-2FC4-4A3E-891A-B74C8C23C8B5}" destId="{344A86B1-48E8-448F-9C6D-71580BFB5F83}" srcOrd="1" destOrd="0" presId="urn:microsoft.com/office/officeart/2005/8/layout/chevron2"/>
    <dgm:cxn modelId="{1409A561-56BE-41EC-823E-CEEC12A8CF50}" type="presParOf" srcId="{C30EB98C-BF8E-47B5-A59F-A3E708D5551C}" destId="{19B3EDEB-1CF9-4423-9037-F0221A01EBBA}" srcOrd="1" destOrd="0" presId="urn:microsoft.com/office/officeart/2005/8/layout/chevron2"/>
    <dgm:cxn modelId="{69FAE29B-8826-413D-A90D-E3D1914BB7C5}" type="presParOf" srcId="{C30EB98C-BF8E-47B5-A59F-A3E708D5551C}" destId="{5D167E8C-136F-440C-8D10-651E4D964A72}" srcOrd="2" destOrd="0" presId="urn:microsoft.com/office/officeart/2005/8/layout/chevron2"/>
    <dgm:cxn modelId="{26C5ECD3-BE74-4234-955C-82B823BF9F9B}" type="presParOf" srcId="{5D167E8C-136F-440C-8D10-651E4D964A72}" destId="{A651636C-CE47-4575-AA1E-AB00D80E941D}" srcOrd="0" destOrd="0" presId="urn:microsoft.com/office/officeart/2005/8/layout/chevron2"/>
    <dgm:cxn modelId="{BFF53C8A-F466-46C1-9066-7E1EB74CF072}" type="presParOf" srcId="{5D167E8C-136F-440C-8D10-651E4D964A72}" destId="{79B0DE70-0A03-4A6F-B31F-EC81EB5DF7EA}" srcOrd="1" destOrd="0" presId="urn:microsoft.com/office/officeart/2005/8/layout/chevron2"/>
    <dgm:cxn modelId="{530A7BC0-79AB-4546-A568-2187FF19F65D}" type="presParOf" srcId="{C30EB98C-BF8E-47B5-A59F-A3E708D5551C}" destId="{5C2D5B77-4FD3-4BFC-B7C7-B69CFA47B819}" srcOrd="3" destOrd="0" presId="urn:microsoft.com/office/officeart/2005/8/layout/chevron2"/>
    <dgm:cxn modelId="{BE3F6BE8-AEFA-4235-B54E-61907BC9372B}" type="presParOf" srcId="{C30EB98C-BF8E-47B5-A59F-A3E708D5551C}" destId="{FD9C2F86-B450-49A0-8639-065AE676C080}" srcOrd="4" destOrd="0" presId="urn:microsoft.com/office/officeart/2005/8/layout/chevron2"/>
    <dgm:cxn modelId="{2E20AF7C-4B60-47FB-B029-F81F1CE8FCB7}" type="presParOf" srcId="{FD9C2F86-B450-49A0-8639-065AE676C080}" destId="{2AA7B02C-023E-4537-897E-B54A048C8983}" srcOrd="0" destOrd="0" presId="urn:microsoft.com/office/officeart/2005/8/layout/chevron2"/>
    <dgm:cxn modelId="{0573D7AB-2C25-487B-B0E2-947295CA4BF1}" type="presParOf" srcId="{FD9C2F86-B450-49A0-8639-065AE676C080}" destId="{15D3D31F-A831-4E62-ADE9-6ACE81331CDC}" srcOrd="1" destOrd="0" presId="urn:microsoft.com/office/officeart/2005/8/layout/chevron2"/>
    <dgm:cxn modelId="{49FE4450-ED31-4DD4-95F8-F34D880718F4}" type="presParOf" srcId="{C30EB98C-BF8E-47B5-A59F-A3E708D5551C}" destId="{365F76A6-EF4F-41D1-B81D-BC3D7851A081}" srcOrd="5" destOrd="0" presId="urn:microsoft.com/office/officeart/2005/8/layout/chevron2"/>
    <dgm:cxn modelId="{D297B7B3-984B-4BEF-88CF-E8496B62D532}" type="presParOf" srcId="{C30EB98C-BF8E-47B5-A59F-A3E708D5551C}" destId="{4DB00594-09F9-4225-B772-B1D52DAEEAB6}" srcOrd="6" destOrd="0" presId="urn:microsoft.com/office/officeart/2005/8/layout/chevron2"/>
    <dgm:cxn modelId="{58E3F0DF-7BFD-4BEB-873F-CA02319F1E26}" type="presParOf" srcId="{4DB00594-09F9-4225-B772-B1D52DAEEAB6}" destId="{58E45CBE-DE64-4E4E-8AAA-D376465B2BEE}" srcOrd="0" destOrd="0" presId="urn:microsoft.com/office/officeart/2005/8/layout/chevron2"/>
    <dgm:cxn modelId="{C405AC97-4C54-4757-8651-AB11924A4B6F}" type="presParOf" srcId="{4DB00594-09F9-4225-B772-B1D52DAEEAB6}" destId="{C37D6712-7A35-4663-80F7-1B8FC410AF19}"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34617D2-EBA5-43D3-A846-ABD7019008A4}" type="doc">
      <dgm:prSet loTypeId="urn:microsoft.com/office/officeart/2005/8/layout/chevron2" loCatId="process" qsTypeId="urn:microsoft.com/office/officeart/2005/8/quickstyle/simple4" qsCatId="simple" csTypeId="urn:microsoft.com/office/officeart/2005/8/colors/colorful3" csCatId="colorful" phldr="1"/>
      <dgm:spPr/>
      <dgm:t>
        <a:bodyPr/>
        <a:lstStyle/>
        <a:p>
          <a:endParaRPr lang="es-CO"/>
        </a:p>
      </dgm:t>
    </dgm:pt>
    <dgm:pt modelId="{0F6E169A-367E-48F6-8A0F-9538EF72E803}">
      <dgm:prSet phldrT="[Texto]" custT="1"/>
      <dgm:spPr/>
      <dgm:t>
        <a:bodyPr/>
        <a:lstStyle/>
        <a:p>
          <a:r>
            <a:rPr lang="es-CO" sz="1600" dirty="0">
              <a:latin typeface="+mj-lt"/>
            </a:rPr>
            <a:t>1</a:t>
          </a:r>
          <a:endParaRPr lang="es-CO" sz="1200" dirty="0">
            <a:latin typeface="+mj-lt"/>
          </a:endParaRPr>
        </a:p>
      </dgm:t>
    </dgm:pt>
    <dgm:pt modelId="{214810CF-0E9F-420E-9F44-94CA29248781}" type="parTrans" cxnId="{1D7BCF56-E33F-4A42-8129-E524DE8CA73C}">
      <dgm:prSet/>
      <dgm:spPr/>
      <dgm:t>
        <a:bodyPr/>
        <a:lstStyle/>
        <a:p>
          <a:endParaRPr lang="es-CO" sz="1600"/>
        </a:p>
      </dgm:t>
    </dgm:pt>
    <dgm:pt modelId="{9E3845BF-94AB-444E-AB21-A0DA1B4B1270}" type="sibTrans" cxnId="{1D7BCF56-E33F-4A42-8129-E524DE8CA73C}">
      <dgm:prSet/>
      <dgm:spPr/>
      <dgm:t>
        <a:bodyPr/>
        <a:lstStyle/>
        <a:p>
          <a:endParaRPr lang="es-CO" sz="1600"/>
        </a:p>
      </dgm:t>
    </dgm:pt>
    <dgm:pt modelId="{676AA4D5-22F4-47B3-B0E8-95C3D9C99480}">
      <dgm:prSet phldrT="[Texto]" custT="1"/>
      <dgm:spPr/>
      <dgm:t>
        <a:bodyPr/>
        <a:lstStyle/>
        <a:p>
          <a:pPr>
            <a:buNone/>
          </a:pPr>
          <a:r>
            <a:rPr lang="es-CO" sz="2000" dirty="0">
              <a:latin typeface="+mn-lt"/>
            </a:rPr>
            <a:t>Entender el problema</a:t>
          </a:r>
        </a:p>
      </dgm:t>
    </dgm:pt>
    <dgm:pt modelId="{65AE6963-95E3-417E-9DBC-C327427667A9}" type="parTrans" cxnId="{E402CAF0-5AAA-416F-BAF4-3854EF253EE5}">
      <dgm:prSet/>
      <dgm:spPr/>
      <dgm:t>
        <a:bodyPr/>
        <a:lstStyle/>
        <a:p>
          <a:endParaRPr lang="es-CO" sz="1600"/>
        </a:p>
      </dgm:t>
    </dgm:pt>
    <dgm:pt modelId="{BBDCCB86-71C3-422E-959C-8FA92A9124DF}" type="sibTrans" cxnId="{E402CAF0-5AAA-416F-BAF4-3854EF253EE5}">
      <dgm:prSet/>
      <dgm:spPr/>
      <dgm:t>
        <a:bodyPr/>
        <a:lstStyle/>
        <a:p>
          <a:endParaRPr lang="es-CO" sz="1600"/>
        </a:p>
      </dgm:t>
    </dgm:pt>
    <dgm:pt modelId="{C30EB98C-BF8E-47B5-A59F-A3E708D5551C}" type="pres">
      <dgm:prSet presAssocID="{234617D2-EBA5-43D3-A846-ABD7019008A4}" presName="linearFlow" presStyleCnt="0">
        <dgm:presLayoutVars>
          <dgm:dir/>
          <dgm:animLvl val="lvl"/>
          <dgm:resizeHandles val="exact"/>
        </dgm:presLayoutVars>
      </dgm:prSet>
      <dgm:spPr/>
    </dgm:pt>
    <dgm:pt modelId="{B5976899-2FC4-4A3E-891A-B74C8C23C8B5}" type="pres">
      <dgm:prSet presAssocID="{0F6E169A-367E-48F6-8A0F-9538EF72E803}" presName="composite" presStyleCnt="0"/>
      <dgm:spPr/>
    </dgm:pt>
    <dgm:pt modelId="{416A876F-5FA3-42F9-A923-4E2C334EF9BC}" type="pres">
      <dgm:prSet presAssocID="{0F6E169A-367E-48F6-8A0F-9538EF72E803}" presName="parentText" presStyleLbl="alignNode1" presStyleIdx="0" presStyleCnt="1">
        <dgm:presLayoutVars>
          <dgm:chMax val="1"/>
          <dgm:bulletEnabled val="1"/>
        </dgm:presLayoutVars>
      </dgm:prSet>
      <dgm:spPr/>
    </dgm:pt>
    <dgm:pt modelId="{344A86B1-48E8-448F-9C6D-71580BFB5F83}" type="pres">
      <dgm:prSet presAssocID="{0F6E169A-367E-48F6-8A0F-9538EF72E803}" presName="descendantText" presStyleLbl="alignAcc1" presStyleIdx="0" presStyleCnt="1">
        <dgm:presLayoutVars>
          <dgm:bulletEnabled val="1"/>
        </dgm:presLayoutVars>
      </dgm:prSet>
      <dgm:spPr/>
    </dgm:pt>
  </dgm:ptLst>
  <dgm:cxnLst>
    <dgm:cxn modelId="{0F63B510-A033-48E8-A5FD-87C76FF5A9D6}" type="presOf" srcId="{0F6E169A-367E-48F6-8A0F-9538EF72E803}" destId="{416A876F-5FA3-42F9-A923-4E2C334EF9BC}" srcOrd="0" destOrd="0" presId="urn:microsoft.com/office/officeart/2005/8/layout/chevron2"/>
    <dgm:cxn modelId="{09EB6217-24CA-4B61-90D2-9CF7E646FA43}" type="presOf" srcId="{234617D2-EBA5-43D3-A846-ABD7019008A4}" destId="{C30EB98C-BF8E-47B5-A59F-A3E708D5551C}" srcOrd="0" destOrd="0" presId="urn:microsoft.com/office/officeart/2005/8/layout/chevron2"/>
    <dgm:cxn modelId="{5C56243F-7D54-4FD5-BD45-EEAB6E9334A6}" type="presOf" srcId="{676AA4D5-22F4-47B3-B0E8-95C3D9C99480}" destId="{344A86B1-48E8-448F-9C6D-71580BFB5F83}" srcOrd="0" destOrd="0" presId="urn:microsoft.com/office/officeart/2005/8/layout/chevron2"/>
    <dgm:cxn modelId="{1D7BCF56-E33F-4A42-8129-E524DE8CA73C}" srcId="{234617D2-EBA5-43D3-A846-ABD7019008A4}" destId="{0F6E169A-367E-48F6-8A0F-9538EF72E803}" srcOrd="0" destOrd="0" parTransId="{214810CF-0E9F-420E-9F44-94CA29248781}" sibTransId="{9E3845BF-94AB-444E-AB21-A0DA1B4B1270}"/>
    <dgm:cxn modelId="{E402CAF0-5AAA-416F-BAF4-3854EF253EE5}" srcId="{0F6E169A-367E-48F6-8A0F-9538EF72E803}" destId="{676AA4D5-22F4-47B3-B0E8-95C3D9C99480}" srcOrd="0" destOrd="0" parTransId="{65AE6963-95E3-417E-9DBC-C327427667A9}" sibTransId="{BBDCCB86-71C3-422E-959C-8FA92A9124DF}"/>
    <dgm:cxn modelId="{AC4A8FF1-0B42-4570-ACB4-F62AD10AC7E7}" type="presParOf" srcId="{C30EB98C-BF8E-47B5-A59F-A3E708D5551C}" destId="{B5976899-2FC4-4A3E-891A-B74C8C23C8B5}" srcOrd="0" destOrd="0" presId="urn:microsoft.com/office/officeart/2005/8/layout/chevron2"/>
    <dgm:cxn modelId="{78437963-1AD6-4AA2-99FF-D3C136E6C1B9}" type="presParOf" srcId="{B5976899-2FC4-4A3E-891A-B74C8C23C8B5}" destId="{416A876F-5FA3-42F9-A923-4E2C334EF9BC}" srcOrd="0" destOrd="0" presId="urn:microsoft.com/office/officeart/2005/8/layout/chevron2"/>
    <dgm:cxn modelId="{E5BB8A76-3CEA-42DE-8EE6-7959F74B0BB9}" type="presParOf" srcId="{B5976899-2FC4-4A3E-891A-B74C8C23C8B5}" destId="{344A86B1-48E8-448F-9C6D-71580BFB5F83}"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34617D2-EBA5-43D3-A846-ABD7019008A4}" type="doc">
      <dgm:prSet loTypeId="urn:microsoft.com/office/officeart/2005/8/layout/chevron2" loCatId="process" qsTypeId="urn:microsoft.com/office/officeart/2005/8/quickstyle/simple4" qsCatId="simple" csTypeId="urn:microsoft.com/office/officeart/2005/8/colors/colorful3" csCatId="colorful" phldr="1"/>
      <dgm:spPr/>
      <dgm:t>
        <a:bodyPr/>
        <a:lstStyle/>
        <a:p>
          <a:endParaRPr lang="es-CO"/>
        </a:p>
      </dgm:t>
    </dgm:pt>
    <dgm:pt modelId="{0F6E169A-367E-48F6-8A0F-9538EF72E803}">
      <dgm:prSet phldrT="[Texto]" custT="1"/>
      <dgm:spPr/>
      <dgm:t>
        <a:bodyPr/>
        <a:lstStyle/>
        <a:p>
          <a:r>
            <a:rPr lang="es-CO" sz="1600" dirty="0">
              <a:latin typeface="+mn-lt"/>
            </a:rPr>
            <a:t>2</a:t>
          </a:r>
          <a:endParaRPr lang="es-CO" sz="1200" dirty="0">
            <a:latin typeface="+mn-lt"/>
          </a:endParaRPr>
        </a:p>
      </dgm:t>
    </dgm:pt>
    <dgm:pt modelId="{214810CF-0E9F-420E-9F44-94CA29248781}" type="parTrans" cxnId="{1D7BCF56-E33F-4A42-8129-E524DE8CA73C}">
      <dgm:prSet/>
      <dgm:spPr/>
      <dgm:t>
        <a:bodyPr/>
        <a:lstStyle/>
        <a:p>
          <a:endParaRPr lang="es-CO" sz="1600">
            <a:latin typeface="+mn-lt"/>
          </a:endParaRPr>
        </a:p>
      </dgm:t>
    </dgm:pt>
    <dgm:pt modelId="{9E3845BF-94AB-444E-AB21-A0DA1B4B1270}" type="sibTrans" cxnId="{1D7BCF56-E33F-4A42-8129-E524DE8CA73C}">
      <dgm:prSet/>
      <dgm:spPr/>
      <dgm:t>
        <a:bodyPr/>
        <a:lstStyle/>
        <a:p>
          <a:endParaRPr lang="es-CO" sz="1600">
            <a:latin typeface="+mn-lt"/>
          </a:endParaRPr>
        </a:p>
      </dgm:t>
    </dgm:pt>
    <dgm:pt modelId="{676AA4D5-22F4-47B3-B0E8-95C3D9C99480}">
      <dgm:prSet phldrT="[Texto]" custT="1"/>
      <dgm:spPr/>
      <dgm:t>
        <a:bodyPr/>
        <a:lstStyle/>
        <a:p>
          <a:pPr>
            <a:buNone/>
          </a:pPr>
          <a:r>
            <a:rPr lang="es-CO" sz="2000" dirty="0">
              <a:latin typeface="+mn-lt"/>
            </a:rPr>
            <a:t>Diseñar el plan</a:t>
          </a:r>
        </a:p>
      </dgm:t>
    </dgm:pt>
    <dgm:pt modelId="{65AE6963-95E3-417E-9DBC-C327427667A9}" type="parTrans" cxnId="{E402CAF0-5AAA-416F-BAF4-3854EF253EE5}">
      <dgm:prSet/>
      <dgm:spPr/>
      <dgm:t>
        <a:bodyPr/>
        <a:lstStyle/>
        <a:p>
          <a:endParaRPr lang="es-CO" sz="1600">
            <a:latin typeface="+mn-lt"/>
          </a:endParaRPr>
        </a:p>
      </dgm:t>
    </dgm:pt>
    <dgm:pt modelId="{BBDCCB86-71C3-422E-959C-8FA92A9124DF}" type="sibTrans" cxnId="{E402CAF0-5AAA-416F-BAF4-3854EF253EE5}">
      <dgm:prSet/>
      <dgm:spPr/>
      <dgm:t>
        <a:bodyPr/>
        <a:lstStyle/>
        <a:p>
          <a:endParaRPr lang="es-CO" sz="1600">
            <a:latin typeface="+mn-lt"/>
          </a:endParaRPr>
        </a:p>
      </dgm:t>
    </dgm:pt>
    <dgm:pt modelId="{9C3C57BE-AD01-47F6-9592-98EF2608A6EF}">
      <dgm:prSet phldrT="[Texto]" custT="1"/>
      <dgm:spPr/>
      <dgm:t>
        <a:bodyPr/>
        <a:lstStyle/>
        <a:p>
          <a:r>
            <a:rPr lang="es-CO" sz="1800" dirty="0">
              <a:latin typeface="+mn-lt"/>
            </a:rPr>
            <a:t>3</a:t>
          </a:r>
          <a:endParaRPr lang="es-CO" sz="2400" dirty="0">
            <a:latin typeface="+mn-lt"/>
          </a:endParaRPr>
        </a:p>
      </dgm:t>
    </dgm:pt>
    <dgm:pt modelId="{33D25418-EA10-4491-90C6-5683712BE055}" type="parTrans" cxnId="{FBB864E0-2027-4A45-B5D7-110F765EFD96}">
      <dgm:prSet/>
      <dgm:spPr/>
      <dgm:t>
        <a:bodyPr/>
        <a:lstStyle/>
        <a:p>
          <a:endParaRPr lang="es-CO" sz="1600">
            <a:latin typeface="+mn-lt"/>
          </a:endParaRPr>
        </a:p>
      </dgm:t>
    </dgm:pt>
    <dgm:pt modelId="{0019765E-5748-4647-85C8-6E8054C68086}" type="sibTrans" cxnId="{FBB864E0-2027-4A45-B5D7-110F765EFD96}">
      <dgm:prSet/>
      <dgm:spPr/>
      <dgm:t>
        <a:bodyPr/>
        <a:lstStyle/>
        <a:p>
          <a:endParaRPr lang="es-CO" sz="1600">
            <a:latin typeface="+mn-lt"/>
          </a:endParaRPr>
        </a:p>
      </dgm:t>
    </dgm:pt>
    <dgm:pt modelId="{C59A2A35-6BBC-4F81-BD74-40520AACD6AB}">
      <dgm:prSet phldrT="[Texto]"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mn-lt"/>
              <a:ea typeface="+mn-ea"/>
              <a:cs typeface="+mn-cs"/>
            </a:rPr>
            <a:t>Implementar el plan</a:t>
          </a:r>
        </a:p>
      </dgm:t>
    </dgm:pt>
    <dgm:pt modelId="{EDE363E4-7EA3-41D2-8DB9-A0871D9DA325}" type="parTrans" cxnId="{3B1F784D-95DD-4194-A52D-9A5B55BC5BD7}">
      <dgm:prSet/>
      <dgm:spPr/>
      <dgm:t>
        <a:bodyPr/>
        <a:lstStyle/>
        <a:p>
          <a:endParaRPr lang="es-CO" sz="1600">
            <a:latin typeface="+mn-lt"/>
          </a:endParaRPr>
        </a:p>
      </dgm:t>
    </dgm:pt>
    <dgm:pt modelId="{C31DDF04-103F-4600-9F78-0BDCC0BF907B}" type="sibTrans" cxnId="{3B1F784D-95DD-4194-A52D-9A5B55BC5BD7}">
      <dgm:prSet/>
      <dgm:spPr/>
      <dgm:t>
        <a:bodyPr/>
        <a:lstStyle/>
        <a:p>
          <a:endParaRPr lang="es-CO" sz="1600">
            <a:latin typeface="+mn-lt"/>
          </a:endParaRPr>
        </a:p>
      </dgm:t>
    </dgm:pt>
    <dgm:pt modelId="{C30EB98C-BF8E-47B5-A59F-A3E708D5551C}" type="pres">
      <dgm:prSet presAssocID="{234617D2-EBA5-43D3-A846-ABD7019008A4}" presName="linearFlow" presStyleCnt="0">
        <dgm:presLayoutVars>
          <dgm:dir/>
          <dgm:animLvl val="lvl"/>
          <dgm:resizeHandles val="exact"/>
        </dgm:presLayoutVars>
      </dgm:prSet>
      <dgm:spPr/>
    </dgm:pt>
    <dgm:pt modelId="{B5976899-2FC4-4A3E-891A-B74C8C23C8B5}" type="pres">
      <dgm:prSet presAssocID="{0F6E169A-367E-48F6-8A0F-9538EF72E803}" presName="composite" presStyleCnt="0"/>
      <dgm:spPr/>
    </dgm:pt>
    <dgm:pt modelId="{416A876F-5FA3-42F9-A923-4E2C334EF9BC}" type="pres">
      <dgm:prSet presAssocID="{0F6E169A-367E-48F6-8A0F-9538EF72E803}" presName="parentText" presStyleLbl="alignNode1" presStyleIdx="0" presStyleCnt="2" custScaleX="95636">
        <dgm:presLayoutVars>
          <dgm:chMax val="1"/>
          <dgm:bulletEnabled val="1"/>
        </dgm:presLayoutVars>
      </dgm:prSet>
      <dgm:spPr/>
    </dgm:pt>
    <dgm:pt modelId="{344A86B1-48E8-448F-9C6D-71580BFB5F83}" type="pres">
      <dgm:prSet presAssocID="{0F6E169A-367E-48F6-8A0F-9538EF72E803}" presName="descendantText" presStyleLbl="alignAcc1" presStyleIdx="0" presStyleCnt="2" custScaleY="83819">
        <dgm:presLayoutVars>
          <dgm:bulletEnabled val="1"/>
        </dgm:presLayoutVars>
      </dgm:prSet>
      <dgm:spPr/>
    </dgm:pt>
    <dgm:pt modelId="{19B3EDEB-1CF9-4423-9037-F0221A01EBBA}" type="pres">
      <dgm:prSet presAssocID="{9E3845BF-94AB-444E-AB21-A0DA1B4B1270}" presName="sp" presStyleCnt="0"/>
      <dgm:spPr/>
    </dgm:pt>
    <dgm:pt modelId="{5D167E8C-136F-440C-8D10-651E4D964A72}" type="pres">
      <dgm:prSet presAssocID="{9C3C57BE-AD01-47F6-9592-98EF2608A6EF}" presName="composite" presStyleCnt="0"/>
      <dgm:spPr/>
    </dgm:pt>
    <dgm:pt modelId="{A651636C-CE47-4575-AA1E-AB00D80E941D}" type="pres">
      <dgm:prSet presAssocID="{9C3C57BE-AD01-47F6-9592-98EF2608A6EF}" presName="parentText" presStyleLbl="alignNode1" presStyleIdx="1" presStyleCnt="2" custScaleX="95450" custLinFactNeighborY="0">
        <dgm:presLayoutVars>
          <dgm:chMax val="1"/>
          <dgm:bulletEnabled val="1"/>
        </dgm:presLayoutVars>
      </dgm:prSet>
      <dgm:spPr/>
    </dgm:pt>
    <dgm:pt modelId="{79B0DE70-0A03-4A6F-B31F-EC81EB5DF7EA}" type="pres">
      <dgm:prSet presAssocID="{9C3C57BE-AD01-47F6-9592-98EF2608A6EF}" presName="descendantText" presStyleLbl="alignAcc1" presStyleIdx="1" presStyleCnt="2" custScaleY="100000" custLinFactNeighborY="6388">
        <dgm:presLayoutVars>
          <dgm:bulletEnabled val="1"/>
        </dgm:presLayoutVars>
      </dgm:prSet>
      <dgm:spPr/>
    </dgm:pt>
  </dgm:ptLst>
  <dgm:cxnLst>
    <dgm:cxn modelId="{0F63B510-A033-48E8-A5FD-87C76FF5A9D6}" type="presOf" srcId="{0F6E169A-367E-48F6-8A0F-9538EF72E803}" destId="{416A876F-5FA3-42F9-A923-4E2C334EF9BC}" srcOrd="0" destOrd="0" presId="urn:microsoft.com/office/officeart/2005/8/layout/chevron2"/>
    <dgm:cxn modelId="{09EB6217-24CA-4B61-90D2-9CF7E646FA43}" type="presOf" srcId="{234617D2-EBA5-43D3-A846-ABD7019008A4}" destId="{C30EB98C-BF8E-47B5-A59F-A3E708D5551C}" srcOrd="0" destOrd="0" presId="urn:microsoft.com/office/officeart/2005/8/layout/chevron2"/>
    <dgm:cxn modelId="{5C56243F-7D54-4FD5-BD45-EEAB6E9334A6}" type="presOf" srcId="{676AA4D5-22F4-47B3-B0E8-95C3D9C99480}" destId="{344A86B1-48E8-448F-9C6D-71580BFB5F83}" srcOrd="0" destOrd="0" presId="urn:microsoft.com/office/officeart/2005/8/layout/chevron2"/>
    <dgm:cxn modelId="{3B1F784D-95DD-4194-A52D-9A5B55BC5BD7}" srcId="{9C3C57BE-AD01-47F6-9592-98EF2608A6EF}" destId="{C59A2A35-6BBC-4F81-BD74-40520AACD6AB}" srcOrd="0" destOrd="0" parTransId="{EDE363E4-7EA3-41D2-8DB9-A0871D9DA325}" sibTransId="{C31DDF04-103F-4600-9F78-0BDCC0BF907B}"/>
    <dgm:cxn modelId="{1D7BCF56-E33F-4A42-8129-E524DE8CA73C}" srcId="{234617D2-EBA5-43D3-A846-ABD7019008A4}" destId="{0F6E169A-367E-48F6-8A0F-9538EF72E803}" srcOrd="0" destOrd="0" parTransId="{214810CF-0E9F-420E-9F44-94CA29248781}" sibTransId="{9E3845BF-94AB-444E-AB21-A0DA1B4B1270}"/>
    <dgm:cxn modelId="{E8354084-D26E-4270-954C-74C7F6A06793}" type="presOf" srcId="{C59A2A35-6BBC-4F81-BD74-40520AACD6AB}" destId="{79B0DE70-0A03-4A6F-B31F-EC81EB5DF7EA}" srcOrd="0" destOrd="0" presId="urn:microsoft.com/office/officeart/2005/8/layout/chevron2"/>
    <dgm:cxn modelId="{BF2B6EA9-3F5A-49C1-AF7E-EC921192B9DE}" type="presOf" srcId="{9C3C57BE-AD01-47F6-9592-98EF2608A6EF}" destId="{A651636C-CE47-4575-AA1E-AB00D80E941D}" srcOrd="0" destOrd="0" presId="urn:microsoft.com/office/officeart/2005/8/layout/chevron2"/>
    <dgm:cxn modelId="{FBB864E0-2027-4A45-B5D7-110F765EFD96}" srcId="{234617D2-EBA5-43D3-A846-ABD7019008A4}" destId="{9C3C57BE-AD01-47F6-9592-98EF2608A6EF}" srcOrd="1" destOrd="0" parTransId="{33D25418-EA10-4491-90C6-5683712BE055}" sibTransId="{0019765E-5748-4647-85C8-6E8054C68086}"/>
    <dgm:cxn modelId="{E402CAF0-5AAA-416F-BAF4-3854EF253EE5}" srcId="{0F6E169A-367E-48F6-8A0F-9538EF72E803}" destId="{676AA4D5-22F4-47B3-B0E8-95C3D9C99480}" srcOrd="0" destOrd="0" parTransId="{65AE6963-95E3-417E-9DBC-C327427667A9}" sibTransId="{BBDCCB86-71C3-422E-959C-8FA92A9124DF}"/>
    <dgm:cxn modelId="{AC4A8FF1-0B42-4570-ACB4-F62AD10AC7E7}" type="presParOf" srcId="{C30EB98C-BF8E-47B5-A59F-A3E708D5551C}" destId="{B5976899-2FC4-4A3E-891A-B74C8C23C8B5}" srcOrd="0" destOrd="0" presId="urn:microsoft.com/office/officeart/2005/8/layout/chevron2"/>
    <dgm:cxn modelId="{78437963-1AD6-4AA2-99FF-D3C136E6C1B9}" type="presParOf" srcId="{B5976899-2FC4-4A3E-891A-B74C8C23C8B5}" destId="{416A876F-5FA3-42F9-A923-4E2C334EF9BC}" srcOrd="0" destOrd="0" presId="urn:microsoft.com/office/officeart/2005/8/layout/chevron2"/>
    <dgm:cxn modelId="{E5BB8A76-3CEA-42DE-8EE6-7959F74B0BB9}" type="presParOf" srcId="{B5976899-2FC4-4A3E-891A-B74C8C23C8B5}" destId="{344A86B1-48E8-448F-9C6D-71580BFB5F83}" srcOrd="1" destOrd="0" presId="urn:microsoft.com/office/officeart/2005/8/layout/chevron2"/>
    <dgm:cxn modelId="{1409A561-56BE-41EC-823E-CEEC12A8CF50}" type="presParOf" srcId="{C30EB98C-BF8E-47B5-A59F-A3E708D5551C}" destId="{19B3EDEB-1CF9-4423-9037-F0221A01EBBA}" srcOrd="1" destOrd="0" presId="urn:microsoft.com/office/officeart/2005/8/layout/chevron2"/>
    <dgm:cxn modelId="{69FAE29B-8826-413D-A90D-E3D1914BB7C5}" type="presParOf" srcId="{C30EB98C-BF8E-47B5-A59F-A3E708D5551C}" destId="{5D167E8C-136F-440C-8D10-651E4D964A72}" srcOrd="2" destOrd="0" presId="urn:microsoft.com/office/officeart/2005/8/layout/chevron2"/>
    <dgm:cxn modelId="{26C5ECD3-BE74-4234-955C-82B823BF9F9B}" type="presParOf" srcId="{5D167E8C-136F-440C-8D10-651E4D964A72}" destId="{A651636C-CE47-4575-AA1E-AB00D80E941D}" srcOrd="0" destOrd="0" presId="urn:microsoft.com/office/officeart/2005/8/layout/chevron2"/>
    <dgm:cxn modelId="{BFF53C8A-F466-46C1-9066-7E1EB74CF072}" type="presParOf" srcId="{5D167E8C-136F-440C-8D10-651E4D964A72}" destId="{79B0DE70-0A03-4A6F-B31F-EC81EB5DF7EA}"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34617D2-EBA5-43D3-A846-ABD7019008A4}" type="doc">
      <dgm:prSet loTypeId="urn:microsoft.com/office/officeart/2005/8/layout/chevron2" loCatId="process" qsTypeId="urn:microsoft.com/office/officeart/2005/8/quickstyle/simple4" qsCatId="simple" csTypeId="urn:microsoft.com/office/officeart/2005/8/colors/colorful3" csCatId="colorful" phldr="1"/>
      <dgm:spPr/>
      <dgm:t>
        <a:bodyPr/>
        <a:lstStyle/>
        <a:p>
          <a:endParaRPr lang="es-CO"/>
        </a:p>
      </dgm:t>
    </dgm:pt>
    <dgm:pt modelId="{0F6E169A-367E-48F6-8A0F-9538EF72E803}">
      <dgm:prSet phldrT="[Texto]" custT="1"/>
      <dgm:spPr/>
      <dgm:t>
        <a:bodyPr/>
        <a:lstStyle/>
        <a:p>
          <a:r>
            <a:rPr lang="es-CO" sz="1600" dirty="0">
              <a:latin typeface="+mj-lt"/>
            </a:rPr>
            <a:t>4</a:t>
          </a:r>
          <a:endParaRPr lang="es-CO" sz="1200" dirty="0">
            <a:latin typeface="+mj-lt"/>
          </a:endParaRPr>
        </a:p>
      </dgm:t>
    </dgm:pt>
    <dgm:pt modelId="{214810CF-0E9F-420E-9F44-94CA29248781}" type="parTrans" cxnId="{1D7BCF56-E33F-4A42-8129-E524DE8CA73C}">
      <dgm:prSet/>
      <dgm:spPr/>
      <dgm:t>
        <a:bodyPr/>
        <a:lstStyle/>
        <a:p>
          <a:endParaRPr lang="es-CO" sz="1600"/>
        </a:p>
      </dgm:t>
    </dgm:pt>
    <dgm:pt modelId="{9E3845BF-94AB-444E-AB21-A0DA1B4B1270}" type="sibTrans" cxnId="{1D7BCF56-E33F-4A42-8129-E524DE8CA73C}">
      <dgm:prSet/>
      <dgm:spPr/>
      <dgm:t>
        <a:bodyPr/>
        <a:lstStyle/>
        <a:p>
          <a:endParaRPr lang="es-CO" sz="1600"/>
        </a:p>
      </dgm:t>
    </dgm:pt>
    <dgm:pt modelId="{676AA4D5-22F4-47B3-B0E8-95C3D9C99480}">
      <dgm:prSet phldrT="[Texto]" custT="1"/>
      <dgm:spPr/>
      <dgm:t>
        <a:bodyPr/>
        <a:lstStyle/>
        <a:p>
          <a:pPr>
            <a:buNone/>
          </a:pPr>
          <a:r>
            <a:rPr lang="es-CO" sz="2000" dirty="0">
              <a:latin typeface="+mn-lt"/>
            </a:rPr>
            <a:t>Revisar el plan</a:t>
          </a:r>
        </a:p>
      </dgm:t>
    </dgm:pt>
    <dgm:pt modelId="{65AE6963-95E3-417E-9DBC-C327427667A9}" type="parTrans" cxnId="{E402CAF0-5AAA-416F-BAF4-3854EF253EE5}">
      <dgm:prSet/>
      <dgm:spPr/>
      <dgm:t>
        <a:bodyPr/>
        <a:lstStyle/>
        <a:p>
          <a:endParaRPr lang="es-CO" sz="1600"/>
        </a:p>
      </dgm:t>
    </dgm:pt>
    <dgm:pt modelId="{BBDCCB86-71C3-422E-959C-8FA92A9124DF}" type="sibTrans" cxnId="{E402CAF0-5AAA-416F-BAF4-3854EF253EE5}">
      <dgm:prSet/>
      <dgm:spPr/>
      <dgm:t>
        <a:bodyPr/>
        <a:lstStyle/>
        <a:p>
          <a:endParaRPr lang="es-CO" sz="1600"/>
        </a:p>
      </dgm:t>
    </dgm:pt>
    <dgm:pt modelId="{C30EB98C-BF8E-47B5-A59F-A3E708D5551C}" type="pres">
      <dgm:prSet presAssocID="{234617D2-EBA5-43D3-A846-ABD7019008A4}" presName="linearFlow" presStyleCnt="0">
        <dgm:presLayoutVars>
          <dgm:dir/>
          <dgm:animLvl val="lvl"/>
          <dgm:resizeHandles val="exact"/>
        </dgm:presLayoutVars>
      </dgm:prSet>
      <dgm:spPr/>
    </dgm:pt>
    <dgm:pt modelId="{B5976899-2FC4-4A3E-891A-B74C8C23C8B5}" type="pres">
      <dgm:prSet presAssocID="{0F6E169A-367E-48F6-8A0F-9538EF72E803}" presName="composite" presStyleCnt="0"/>
      <dgm:spPr/>
    </dgm:pt>
    <dgm:pt modelId="{416A876F-5FA3-42F9-A923-4E2C334EF9BC}" type="pres">
      <dgm:prSet presAssocID="{0F6E169A-367E-48F6-8A0F-9538EF72E803}" presName="parentText" presStyleLbl="alignNode1" presStyleIdx="0" presStyleCnt="1">
        <dgm:presLayoutVars>
          <dgm:chMax val="1"/>
          <dgm:bulletEnabled val="1"/>
        </dgm:presLayoutVars>
      </dgm:prSet>
      <dgm:spPr/>
    </dgm:pt>
    <dgm:pt modelId="{344A86B1-48E8-448F-9C6D-71580BFB5F83}" type="pres">
      <dgm:prSet presAssocID="{0F6E169A-367E-48F6-8A0F-9538EF72E803}" presName="descendantText" presStyleLbl="alignAcc1" presStyleIdx="0" presStyleCnt="1">
        <dgm:presLayoutVars>
          <dgm:bulletEnabled val="1"/>
        </dgm:presLayoutVars>
      </dgm:prSet>
      <dgm:spPr/>
    </dgm:pt>
  </dgm:ptLst>
  <dgm:cxnLst>
    <dgm:cxn modelId="{0F63B510-A033-48E8-A5FD-87C76FF5A9D6}" type="presOf" srcId="{0F6E169A-367E-48F6-8A0F-9538EF72E803}" destId="{416A876F-5FA3-42F9-A923-4E2C334EF9BC}" srcOrd="0" destOrd="0" presId="urn:microsoft.com/office/officeart/2005/8/layout/chevron2"/>
    <dgm:cxn modelId="{09EB6217-24CA-4B61-90D2-9CF7E646FA43}" type="presOf" srcId="{234617D2-EBA5-43D3-A846-ABD7019008A4}" destId="{C30EB98C-BF8E-47B5-A59F-A3E708D5551C}" srcOrd="0" destOrd="0" presId="urn:microsoft.com/office/officeart/2005/8/layout/chevron2"/>
    <dgm:cxn modelId="{5C56243F-7D54-4FD5-BD45-EEAB6E9334A6}" type="presOf" srcId="{676AA4D5-22F4-47B3-B0E8-95C3D9C99480}" destId="{344A86B1-48E8-448F-9C6D-71580BFB5F83}" srcOrd="0" destOrd="0" presId="urn:microsoft.com/office/officeart/2005/8/layout/chevron2"/>
    <dgm:cxn modelId="{1D7BCF56-E33F-4A42-8129-E524DE8CA73C}" srcId="{234617D2-EBA5-43D3-A846-ABD7019008A4}" destId="{0F6E169A-367E-48F6-8A0F-9538EF72E803}" srcOrd="0" destOrd="0" parTransId="{214810CF-0E9F-420E-9F44-94CA29248781}" sibTransId="{9E3845BF-94AB-444E-AB21-A0DA1B4B1270}"/>
    <dgm:cxn modelId="{E402CAF0-5AAA-416F-BAF4-3854EF253EE5}" srcId="{0F6E169A-367E-48F6-8A0F-9538EF72E803}" destId="{676AA4D5-22F4-47B3-B0E8-95C3D9C99480}" srcOrd="0" destOrd="0" parTransId="{65AE6963-95E3-417E-9DBC-C327427667A9}" sibTransId="{BBDCCB86-71C3-422E-959C-8FA92A9124DF}"/>
    <dgm:cxn modelId="{AC4A8FF1-0B42-4570-ACB4-F62AD10AC7E7}" type="presParOf" srcId="{C30EB98C-BF8E-47B5-A59F-A3E708D5551C}" destId="{B5976899-2FC4-4A3E-891A-B74C8C23C8B5}" srcOrd="0" destOrd="0" presId="urn:microsoft.com/office/officeart/2005/8/layout/chevron2"/>
    <dgm:cxn modelId="{78437963-1AD6-4AA2-99FF-D3C136E6C1B9}" type="presParOf" srcId="{B5976899-2FC4-4A3E-891A-B74C8C23C8B5}" destId="{416A876F-5FA3-42F9-A923-4E2C334EF9BC}" srcOrd="0" destOrd="0" presId="urn:microsoft.com/office/officeart/2005/8/layout/chevron2"/>
    <dgm:cxn modelId="{E5BB8A76-3CEA-42DE-8EE6-7959F74B0BB9}" type="presParOf" srcId="{B5976899-2FC4-4A3E-891A-B74C8C23C8B5}" destId="{344A86B1-48E8-448F-9C6D-71580BFB5F83}" srcOrd="1" destOrd="0" presId="urn:microsoft.com/office/officeart/2005/8/layout/chevron2"/>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34617D2-EBA5-43D3-A846-ABD7019008A4}" type="doc">
      <dgm:prSet loTypeId="urn:microsoft.com/office/officeart/2005/8/layout/chevron2" loCatId="process" qsTypeId="urn:microsoft.com/office/officeart/2005/8/quickstyle/simple4" qsCatId="simple" csTypeId="urn:microsoft.com/office/officeart/2005/8/colors/colorful3" csCatId="colorful" phldr="1"/>
      <dgm:spPr/>
      <dgm:t>
        <a:bodyPr/>
        <a:lstStyle/>
        <a:p>
          <a:endParaRPr lang="es-CO"/>
        </a:p>
      </dgm:t>
    </dgm:pt>
    <dgm:pt modelId="{0F6E169A-367E-48F6-8A0F-9538EF72E803}">
      <dgm:prSet phldrT="[Texto]" custT="1"/>
      <dgm:spPr/>
      <dgm:t>
        <a:bodyPr/>
        <a:lstStyle/>
        <a:p>
          <a:r>
            <a:rPr lang="es-CO" sz="1600" dirty="0">
              <a:latin typeface="+mj-lt"/>
            </a:rPr>
            <a:t>1</a:t>
          </a:r>
          <a:endParaRPr lang="es-CO" sz="1200" dirty="0">
            <a:latin typeface="+mj-lt"/>
          </a:endParaRPr>
        </a:p>
      </dgm:t>
    </dgm:pt>
    <dgm:pt modelId="{214810CF-0E9F-420E-9F44-94CA29248781}" type="parTrans" cxnId="{1D7BCF56-E33F-4A42-8129-E524DE8CA73C}">
      <dgm:prSet/>
      <dgm:spPr/>
      <dgm:t>
        <a:bodyPr/>
        <a:lstStyle/>
        <a:p>
          <a:endParaRPr lang="es-CO" sz="1600"/>
        </a:p>
      </dgm:t>
    </dgm:pt>
    <dgm:pt modelId="{9E3845BF-94AB-444E-AB21-A0DA1B4B1270}" type="sibTrans" cxnId="{1D7BCF56-E33F-4A42-8129-E524DE8CA73C}">
      <dgm:prSet/>
      <dgm:spPr/>
      <dgm:t>
        <a:bodyPr/>
        <a:lstStyle/>
        <a:p>
          <a:endParaRPr lang="es-CO" sz="1600"/>
        </a:p>
      </dgm:t>
    </dgm:pt>
    <dgm:pt modelId="{676AA4D5-22F4-47B3-B0E8-95C3D9C99480}">
      <dgm:prSet phldrT="[Texto]" custT="1"/>
      <dgm:spPr/>
      <dgm:t>
        <a:bodyPr/>
        <a:lstStyle/>
        <a:p>
          <a:pPr>
            <a:buNone/>
          </a:pPr>
          <a:r>
            <a:rPr lang="es-CO" sz="2000" dirty="0">
              <a:latin typeface="+mn-lt"/>
            </a:rPr>
            <a:t>Entender el problema</a:t>
          </a:r>
        </a:p>
      </dgm:t>
    </dgm:pt>
    <dgm:pt modelId="{65AE6963-95E3-417E-9DBC-C327427667A9}" type="parTrans" cxnId="{E402CAF0-5AAA-416F-BAF4-3854EF253EE5}">
      <dgm:prSet/>
      <dgm:spPr/>
      <dgm:t>
        <a:bodyPr/>
        <a:lstStyle/>
        <a:p>
          <a:endParaRPr lang="es-CO" sz="1600"/>
        </a:p>
      </dgm:t>
    </dgm:pt>
    <dgm:pt modelId="{BBDCCB86-71C3-422E-959C-8FA92A9124DF}" type="sibTrans" cxnId="{E402CAF0-5AAA-416F-BAF4-3854EF253EE5}">
      <dgm:prSet/>
      <dgm:spPr/>
      <dgm:t>
        <a:bodyPr/>
        <a:lstStyle/>
        <a:p>
          <a:endParaRPr lang="es-CO" sz="1600"/>
        </a:p>
      </dgm:t>
    </dgm:pt>
    <dgm:pt modelId="{C30EB98C-BF8E-47B5-A59F-A3E708D5551C}" type="pres">
      <dgm:prSet presAssocID="{234617D2-EBA5-43D3-A846-ABD7019008A4}" presName="linearFlow" presStyleCnt="0">
        <dgm:presLayoutVars>
          <dgm:dir/>
          <dgm:animLvl val="lvl"/>
          <dgm:resizeHandles val="exact"/>
        </dgm:presLayoutVars>
      </dgm:prSet>
      <dgm:spPr/>
    </dgm:pt>
    <dgm:pt modelId="{B5976899-2FC4-4A3E-891A-B74C8C23C8B5}" type="pres">
      <dgm:prSet presAssocID="{0F6E169A-367E-48F6-8A0F-9538EF72E803}" presName="composite" presStyleCnt="0"/>
      <dgm:spPr/>
    </dgm:pt>
    <dgm:pt modelId="{416A876F-5FA3-42F9-A923-4E2C334EF9BC}" type="pres">
      <dgm:prSet presAssocID="{0F6E169A-367E-48F6-8A0F-9538EF72E803}" presName="parentText" presStyleLbl="alignNode1" presStyleIdx="0" presStyleCnt="1">
        <dgm:presLayoutVars>
          <dgm:chMax val="1"/>
          <dgm:bulletEnabled val="1"/>
        </dgm:presLayoutVars>
      </dgm:prSet>
      <dgm:spPr/>
    </dgm:pt>
    <dgm:pt modelId="{344A86B1-48E8-448F-9C6D-71580BFB5F83}" type="pres">
      <dgm:prSet presAssocID="{0F6E169A-367E-48F6-8A0F-9538EF72E803}" presName="descendantText" presStyleLbl="alignAcc1" presStyleIdx="0" presStyleCnt="1">
        <dgm:presLayoutVars>
          <dgm:bulletEnabled val="1"/>
        </dgm:presLayoutVars>
      </dgm:prSet>
      <dgm:spPr/>
    </dgm:pt>
  </dgm:ptLst>
  <dgm:cxnLst>
    <dgm:cxn modelId="{0F63B510-A033-48E8-A5FD-87C76FF5A9D6}" type="presOf" srcId="{0F6E169A-367E-48F6-8A0F-9538EF72E803}" destId="{416A876F-5FA3-42F9-A923-4E2C334EF9BC}" srcOrd="0" destOrd="0" presId="urn:microsoft.com/office/officeart/2005/8/layout/chevron2"/>
    <dgm:cxn modelId="{09EB6217-24CA-4B61-90D2-9CF7E646FA43}" type="presOf" srcId="{234617D2-EBA5-43D3-A846-ABD7019008A4}" destId="{C30EB98C-BF8E-47B5-A59F-A3E708D5551C}" srcOrd="0" destOrd="0" presId="urn:microsoft.com/office/officeart/2005/8/layout/chevron2"/>
    <dgm:cxn modelId="{5C56243F-7D54-4FD5-BD45-EEAB6E9334A6}" type="presOf" srcId="{676AA4D5-22F4-47B3-B0E8-95C3D9C99480}" destId="{344A86B1-48E8-448F-9C6D-71580BFB5F83}" srcOrd="0" destOrd="0" presId="urn:microsoft.com/office/officeart/2005/8/layout/chevron2"/>
    <dgm:cxn modelId="{1D7BCF56-E33F-4A42-8129-E524DE8CA73C}" srcId="{234617D2-EBA5-43D3-A846-ABD7019008A4}" destId="{0F6E169A-367E-48F6-8A0F-9538EF72E803}" srcOrd="0" destOrd="0" parTransId="{214810CF-0E9F-420E-9F44-94CA29248781}" sibTransId="{9E3845BF-94AB-444E-AB21-A0DA1B4B1270}"/>
    <dgm:cxn modelId="{E402CAF0-5AAA-416F-BAF4-3854EF253EE5}" srcId="{0F6E169A-367E-48F6-8A0F-9538EF72E803}" destId="{676AA4D5-22F4-47B3-B0E8-95C3D9C99480}" srcOrd="0" destOrd="0" parTransId="{65AE6963-95E3-417E-9DBC-C327427667A9}" sibTransId="{BBDCCB86-71C3-422E-959C-8FA92A9124DF}"/>
    <dgm:cxn modelId="{AC4A8FF1-0B42-4570-ACB4-F62AD10AC7E7}" type="presParOf" srcId="{C30EB98C-BF8E-47B5-A59F-A3E708D5551C}" destId="{B5976899-2FC4-4A3E-891A-B74C8C23C8B5}" srcOrd="0" destOrd="0" presId="urn:microsoft.com/office/officeart/2005/8/layout/chevron2"/>
    <dgm:cxn modelId="{78437963-1AD6-4AA2-99FF-D3C136E6C1B9}" type="presParOf" srcId="{B5976899-2FC4-4A3E-891A-B74C8C23C8B5}" destId="{416A876F-5FA3-42F9-A923-4E2C334EF9BC}" srcOrd="0" destOrd="0" presId="urn:microsoft.com/office/officeart/2005/8/layout/chevron2"/>
    <dgm:cxn modelId="{E5BB8A76-3CEA-42DE-8EE6-7959F74B0BB9}" type="presParOf" srcId="{B5976899-2FC4-4A3E-891A-B74C8C23C8B5}" destId="{344A86B1-48E8-448F-9C6D-71580BFB5F83}"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34617D2-EBA5-43D3-A846-ABD7019008A4}" type="doc">
      <dgm:prSet loTypeId="urn:microsoft.com/office/officeart/2005/8/layout/chevron2" loCatId="process" qsTypeId="urn:microsoft.com/office/officeart/2005/8/quickstyle/simple4" qsCatId="simple" csTypeId="urn:microsoft.com/office/officeart/2005/8/colors/colorful3" csCatId="colorful" phldr="1"/>
      <dgm:spPr/>
      <dgm:t>
        <a:bodyPr/>
        <a:lstStyle/>
        <a:p>
          <a:endParaRPr lang="es-CO"/>
        </a:p>
      </dgm:t>
    </dgm:pt>
    <dgm:pt modelId="{0F6E169A-367E-48F6-8A0F-9538EF72E803}">
      <dgm:prSet phldrT="[Texto]" custT="1"/>
      <dgm:spPr/>
      <dgm:t>
        <a:bodyPr/>
        <a:lstStyle/>
        <a:p>
          <a:r>
            <a:rPr lang="es-CO" sz="1600" dirty="0">
              <a:latin typeface="+mn-lt"/>
            </a:rPr>
            <a:t>2</a:t>
          </a:r>
          <a:endParaRPr lang="es-CO" sz="1200" dirty="0">
            <a:latin typeface="+mn-lt"/>
          </a:endParaRPr>
        </a:p>
      </dgm:t>
    </dgm:pt>
    <dgm:pt modelId="{214810CF-0E9F-420E-9F44-94CA29248781}" type="parTrans" cxnId="{1D7BCF56-E33F-4A42-8129-E524DE8CA73C}">
      <dgm:prSet/>
      <dgm:spPr/>
      <dgm:t>
        <a:bodyPr/>
        <a:lstStyle/>
        <a:p>
          <a:endParaRPr lang="es-CO" sz="1600">
            <a:latin typeface="+mn-lt"/>
          </a:endParaRPr>
        </a:p>
      </dgm:t>
    </dgm:pt>
    <dgm:pt modelId="{9E3845BF-94AB-444E-AB21-A0DA1B4B1270}" type="sibTrans" cxnId="{1D7BCF56-E33F-4A42-8129-E524DE8CA73C}">
      <dgm:prSet/>
      <dgm:spPr/>
      <dgm:t>
        <a:bodyPr/>
        <a:lstStyle/>
        <a:p>
          <a:endParaRPr lang="es-CO" sz="1600">
            <a:latin typeface="+mn-lt"/>
          </a:endParaRPr>
        </a:p>
      </dgm:t>
    </dgm:pt>
    <dgm:pt modelId="{676AA4D5-22F4-47B3-B0E8-95C3D9C99480}">
      <dgm:prSet phldrT="[Texto]" custT="1"/>
      <dgm:spPr/>
      <dgm:t>
        <a:bodyPr/>
        <a:lstStyle/>
        <a:p>
          <a:pPr>
            <a:buNone/>
          </a:pPr>
          <a:r>
            <a:rPr lang="es-CO" sz="2000" dirty="0">
              <a:latin typeface="+mn-lt"/>
            </a:rPr>
            <a:t>Diseñar el plan</a:t>
          </a:r>
        </a:p>
      </dgm:t>
    </dgm:pt>
    <dgm:pt modelId="{65AE6963-95E3-417E-9DBC-C327427667A9}" type="parTrans" cxnId="{E402CAF0-5AAA-416F-BAF4-3854EF253EE5}">
      <dgm:prSet/>
      <dgm:spPr/>
      <dgm:t>
        <a:bodyPr/>
        <a:lstStyle/>
        <a:p>
          <a:endParaRPr lang="es-CO" sz="1600">
            <a:latin typeface="+mn-lt"/>
          </a:endParaRPr>
        </a:p>
      </dgm:t>
    </dgm:pt>
    <dgm:pt modelId="{BBDCCB86-71C3-422E-959C-8FA92A9124DF}" type="sibTrans" cxnId="{E402CAF0-5AAA-416F-BAF4-3854EF253EE5}">
      <dgm:prSet/>
      <dgm:spPr/>
      <dgm:t>
        <a:bodyPr/>
        <a:lstStyle/>
        <a:p>
          <a:endParaRPr lang="es-CO" sz="1600">
            <a:latin typeface="+mn-lt"/>
          </a:endParaRPr>
        </a:p>
      </dgm:t>
    </dgm:pt>
    <dgm:pt modelId="{9C3C57BE-AD01-47F6-9592-98EF2608A6EF}">
      <dgm:prSet phldrT="[Texto]" custT="1"/>
      <dgm:spPr/>
      <dgm:t>
        <a:bodyPr/>
        <a:lstStyle/>
        <a:p>
          <a:r>
            <a:rPr lang="es-CO" sz="1800" dirty="0">
              <a:latin typeface="+mn-lt"/>
            </a:rPr>
            <a:t>3</a:t>
          </a:r>
          <a:endParaRPr lang="es-CO" sz="2400" dirty="0">
            <a:latin typeface="+mn-lt"/>
          </a:endParaRPr>
        </a:p>
      </dgm:t>
    </dgm:pt>
    <dgm:pt modelId="{33D25418-EA10-4491-90C6-5683712BE055}" type="parTrans" cxnId="{FBB864E0-2027-4A45-B5D7-110F765EFD96}">
      <dgm:prSet/>
      <dgm:spPr/>
      <dgm:t>
        <a:bodyPr/>
        <a:lstStyle/>
        <a:p>
          <a:endParaRPr lang="es-CO" sz="1600">
            <a:latin typeface="+mn-lt"/>
          </a:endParaRPr>
        </a:p>
      </dgm:t>
    </dgm:pt>
    <dgm:pt modelId="{0019765E-5748-4647-85C8-6E8054C68086}" type="sibTrans" cxnId="{FBB864E0-2027-4A45-B5D7-110F765EFD96}">
      <dgm:prSet/>
      <dgm:spPr/>
      <dgm:t>
        <a:bodyPr/>
        <a:lstStyle/>
        <a:p>
          <a:endParaRPr lang="es-CO" sz="1600">
            <a:latin typeface="+mn-lt"/>
          </a:endParaRPr>
        </a:p>
      </dgm:t>
    </dgm:pt>
    <dgm:pt modelId="{C59A2A35-6BBC-4F81-BD74-40520AACD6AB}">
      <dgm:prSet phldrT="[Texto]" custT="1"/>
      <dgm:spPr/>
      <dgm: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mn-lt"/>
              <a:ea typeface="+mn-ea"/>
              <a:cs typeface="+mn-cs"/>
            </a:rPr>
            <a:t>Implementar el plan</a:t>
          </a:r>
        </a:p>
      </dgm:t>
    </dgm:pt>
    <dgm:pt modelId="{EDE363E4-7EA3-41D2-8DB9-A0871D9DA325}" type="parTrans" cxnId="{3B1F784D-95DD-4194-A52D-9A5B55BC5BD7}">
      <dgm:prSet/>
      <dgm:spPr/>
      <dgm:t>
        <a:bodyPr/>
        <a:lstStyle/>
        <a:p>
          <a:endParaRPr lang="es-CO" sz="1600">
            <a:latin typeface="+mn-lt"/>
          </a:endParaRPr>
        </a:p>
      </dgm:t>
    </dgm:pt>
    <dgm:pt modelId="{C31DDF04-103F-4600-9F78-0BDCC0BF907B}" type="sibTrans" cxnId="{3B1F784D-95DD-4194-A52D-9A5B55BC5BD7}">
      <dgm:prSet/>
      <dgm:spPr/>
      <dgm:t>
        <a:bodyPr/>
        <a:lstStyle/>
        <a:p>
          <a:endParaRPr lang="es-CO" sz="1600">
            <a:latin typeface="+mn-lt"/>
          </a:endParaRPr>
        </a:p>
      </dgm:t>
    </dgm:pt>
    <dgm:pt modelId="{C30EB98C-BF8E-47B5-A59F-A3E708D5551C}" type="pres">
      <dgm:prSet presAssocID="{234617D2-EBA5-43D3-A846-ABD7019008A4}" presName="linearFlow" presStyleCnt="0">
        <dgm:presLayoutVars>
          <dgm:dir/>
          <dgm:animLvl val="lvl"/>
          <dgm:resizeHandles val="exact"/>
        </dgm:presLayoutVars>
      </dgm:prSet>
      <dgm:spPr/>
    </dgm:pt>
    <dgm:pt modelId="{B5976899-2FC4-4A3E-891A-B74C8C23C8B5}" type="pres">
      <dgm:prSet presAssocID="{0F6E169A-367E-48F6-8A0F-9538EF72E803}" presName="composite" presStyleCnt="0"/>
      <dgm:spPr/>
    </dgm:pt>
    <dgm:pt modelId="{416A876F-5FA3-42F9-A923-4E2C334EF9BC}" type="pres">
      <dgm:prSet presAssocID="{0F6E169A-367E-48F6-8A0F-9538EF72E803}" presName="parentText" presStyleLbl="alignNode1" presStyleIdx="0" presStyleCnt="2" custScaleX="95636">
        <dgm:presLayoutVars>
          <dgm:chMax val="1"/>
          <dgm:bulletEnabled val="1"/>
        </dgm:presLayoutVars>
      </dgm:prSet>
      <dgm:spPr/>
    </dgm:pt>
    <dgm:pt modelId="{344A86B1-48E8-448F-9C6D-71580BFB5F83}" type="pres">
      <dgm:prSet presAssocID="{0F6E169A-367E-48F6-8A0F-9538EF72E803}" presName="descendantText" presStyleLbl="alignAcc1" presStyleIdx="0" presStyleCnt="2" custScaleY="83819">
        <dgm:presLayoutVars>
          <dgm:bulletEnabled val="1"/>
        </dgm:presLayoutVars>
      </dgm:prSet>
      <dgm:spPr/>
    </dgm:pt>
    <dgm:pt modelId="{19B3EDEB-1CF9-4423-9037-F0221A01EBBA}" type="pres">
      <dgm:prSet presAssocID="{9E3845BF-94AB-444E-AB21-A0DA1B4B1270}" presName="sp" presStyleCnt="0"/>
      <dgm:spPr/>
    </dgm:pt>
    <dgm:pt modelId="{5D167E8C-136F-440C-8D10-651E4D964A72}" type="pres">
      <dgm:prSet presAssocID="{9C3C57BE-AD01-47F6-9592-98EF2608A6EF}" presName="composite" presStyleCnt="0"/>
      <dgm:spPr/>
    </dgm:pt>
    <dgm:pt modelId="{A651636C-CE47-4575-AA1E-AB00D80E941D}" type="pres">
      <dgm:prSet presAssocID="{9C3C57BE-AD01-47F6-9592-98EF2608A6EF}" presName="parentText" presStyleLbl="alignNode1" presStyleIdx="1" presStyleCnt="2" custScaleX="95450" custLinFactNeighborY="0">
        <dgm:presLayoutVars>
          <dgm:chMax val="1"/>
          <dgm:bulletEnabled val="1"/>
        </dgm:presLayoutVars>
      </dgm:prSet>
      <dgm:spPr/>
    </dgm:pt>
    <dgm:pt modelId="{79B0DE70-0A03-4A6F-B31F-EC81EB5DF7EA}" type="pres">
      <dgm:prSet presAssocID="{9C3C57BE-AD01-47F6-9592-98EF2608A6EF}" presName="descendantText" presStyleLbl="alignAcc1" presStyleIdx="1" presStyleCnt="2" custScaleY="100000" custLinFactNeighborY="6388">
        <dgm:presLayoutVars>
          <dgm:bulletEnabled val="1"/>
        </dgm:presLayoutVars>
      </dgm:prSet>
      <dgm:spPr/>
    </dgm:pt>
  </dgm:ptLst>
  <dgm:cxnLst>
    <dgm:cxn modelId="{0F63B510-A033-48E8-A5FD-87C76FF5A9D6}" type="presOf" srcId="{0F6E169A-367E-48F6-8A0F-9538EF72E803}" destId="{416A876F-5FA3-42F9-A923-4E2C334EF9BC}" srcOrd="0" destOrd="0" presId="urn:microsoft.com/office/officeart/2005/8/layout/chevron2"/>
    <dgm:cxn modelId="{09EB6217-24CA-4B61-90D2-9CF7E646FA43}" type="presOf" srcId="{234617D2-EBA5-43D3-A846-ABD7019008A4}" destId="{C30EB98C-BF8E-47B5-A59F-A3E708D5551C}" srcOrd="0" destOrd="0" presId="urn:microsoft.com/office/officeart/2005/8/layout/chevron2"/>
    <dgm:cxn modelId="{5C56243F-7D54-4FD5-BD45-EEAB6E9334A6}" type="presOf" srcId="{676AA4D5-22F4-47B3-B0E8-95C3D9C99480}" destId="{344A86B1-48E8-448F-9C6D-71580BFB5F83}" srcOrd="0" destOrd="0" presId="urn:microsoft.com/office/officeart/2005/8/layout/chevron2"/>
    <dgm:cxn modelId="{3B1F784D-95DD-4194-A52D-9A5B55BC5BD7}" srcId="{9C3C57BE-AD01-47F6-9592-98EF2608A6EF}" destId="{C59A2A35-6BBC-4F81-BD74-40520AACD6AB}" srcOrd="0" destOrd="0" parTransId="{EDE363E4-7EA3-41D2-8DB9-A0871D9DA325}" sibTransId="{C31DDF04-103F-4600-9F78-0BDCC0BF907B}"/>
    <dgm:cxn modelId="{1D7BCF56-E33F-4A42-8129-E524DE8CA73C}" srcId="{234617D2-EBA5-43D3-A846-ABD7019008A4}" destId="{0F6E169A-367E-48F6-8A0F-9538EF72E803}" srcOrd="0" destOrd="0" parTransId="{214810CF-0E9F-420E-9F44-94CA29248781}" sibTransId="{9E3845BF-94AB-444E-AB21-A0DA1B4B1270}"/>
    <dgm:cxn modelId="{E8354084-D26E-4270-954C-74C7F6A06793}" type="presOf" srcId="{C59A2A35-6BBC-4F81-BD74-40520AACD6AB}" destId="{79B0DE70-0A03-4A6F-B31F-EC81EB5DF7EA}" srcOrd="0" destOrd="0" presId="urn:microsoft.com/office/officeart/2005/8/layout/chevron2"/>
    <dgm:cxn modelId="{BF2B6EA9-3F5A-49C1-AF7E-EC921192B9DE}" type="presOf" srcId="{9C3C57BE-AD01-47F6-9592-98EF2608A6EF}" destId="{A651636C-CE47-4575-AA1E-AB00D80E941D}" srcOrd="0" destOrd="0" presId="urn:microsoft.com/office/officeart/2005/8/layout/chevron2"/>
    <dgm:cxn modelId="{FBB864E0-2027-4A45-B5D7-110F765EFD96}" srcId="{234617D2-EBA5-43D3-A846-ABD7019008A4}" destId="{9C3C57BE-AD01-47F6-9592-98EF2608A6EF}" srcOrd="1" destOrd="0" parTransId="{33D25418-EA10-4491-90C6-5683712BE055}" sibTransId="{0019765E-5748-4647-85C8-6E8054C68086}"/>
    <dgm:cxn modelId="{E402CAF0-5AAA-416F-BAF4-3854EF253EE5}" srcId="{0F6E169A-367E-48F6-8A0F-9538EF72E803}" destId="{676AA4D5-22F4-47B3-B0E8-95C3D9C99480}" srcOrd="0" destOrd="0" parTransId="{65AE6963-95E3-417E-9DBC-C327427667A9}" sibTransId="{BBDCCB86-71C3-422E-959C-8FA92A9124DF}"/>
    <dgm:cxn modelId="{AC4A8FF1-0B42-4570-ACB4-F62AD10AC7E7}" type="presParOf" srcId="{C30EB98C-BF8E-47B5-A59F-A3E708D5551C}" destId="{B5976899-2FC4-4A3E-891A-B74C8C23C8B5}" srcOrd="0" destOrd="0" presId="urn:microsoft.com/office/officeart/2005/8/layout/chevron2"/>
    <dgm:cxn modelId="{78437963-1AD6-4AA2-99FF-D3C136E6C1B9}" type="presParOf" srcId="{B5976899-2FC4-4A3E-891A-B74C8C23C8B5}" destId="{416A876F-5FA3-42F9-A923-4E2C334EF9BC}" srcOrd="0" destOrd="0" presId="urn:microsoft.com/office/officeart/2005/8/layout/chevron2"/>
    <dgm:cxn modelId="{E5BB8A76-3CEA-42DE-8EE6-7959F74B0BB9}" type="presParOf" srcId="{B5976899-2FC4-4A3E-891A-B74C8C23C8B5}" destId="{344A86B1-48E8-448F-9C6D-71580BFB5F83}" srcOrd="1" destOrd="0" presId="urn:microsoft.com/office/officeart/2005/8/layout/chevron2"/>
    <dgm:cxn modelId="{1409A561-56BE-41EC-823E-CEEC12A8CF50}" type="presParOf" srcId="{C30EB98C-BF8E-47B5-A59F-A3E708D5551C}" destId="{19B3EDEB-1CF9-4423-9037-F0221A01EBBA}" srcOrd="1" destOrd="0" presId="urn:microsoft.com/office/officeart/2005/8/layout/chevron2"/>
    <dgm:cxn modelId="{69FAE29B-8826-413D-A90D-E3D1914BB7C5}" type="presParOf" srcId="{C30EB98C-BF8E-47B5-A59F-A3E708D5551C}" destId="{5D167E8C-136F-440C-8D10-651E4D964A72}" srcOrd="2" destOrd="0" presId="urn:microsoft.com/office/officeart/2005/8/layout/chevron2"/>
    <dgm:cxn modelId="{26C5ECD3-BE74-4234-955C-82B823BF9F9B}" type="presParOf" srcId="{5D167E8C-136F-440C-8D10-651E4D964A72}" destId="{A651636C-CE47-4575-AA1E-AB00D80E941D}" srcOrd="0" destOrd="0" presId="urn:microsoft.com/office/officeart/2005/8/layout/chevron2"/>
    <dgm:cxn modelId="{BFF53C8A-F466-46C1-9066-7E1EB74CF072}" type="presParOf" srcId="{5D167E8C-136F-440C-8D10-651E4D964A72}" destId="{79B0DE70-0A03-4A6F-B31F-EC81EB5DF7EA}"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34617D2-EBA5-43D3-A846-ABD7019008A4}" type="doc">
      <dgm:prSet loTypeId="urn:microsoft.com/office/officeart/2005/8/layout/chevron2" loCatId="process" qsTypeId="urn:microsoft.com/office/officeart/2005/8/quickstyle/simple4" qsCatId="simple" csTypeId="urn:microsoft.com/office/officeart/2005/8/colors/colorful3" csCatId="colorful" phldr="1"/>
      <dgm:spPr/>
      <dgm:t>
        <a:bodyPr/>
        <a:lstStyle/>
        <a:p>
          <a:endParaRPr lang="es-CO"/>
        </a:p>
      </dgm:t>
    </dgm:pt>
    <dgm:pt modelId="{0F6E169A-367E-48F6-8A0F-9538EF72E803}">
      <dgm:prSet phldrT="[Texto]" custT="1"/>
      <dgm:spPr/>
      <dgm:t>
        <a:bodyPr/>
        <a:lstStyle/>
        <a:p>
          <a:r>
            <a:rPr lang="es-CO" sz="1600" dirty="0">
              <a:latin typeface="+mj-lt"/>
            </a:rPr>
            <a:t>4</a:t>
          </a:r>
          <a:endParaRPr lang="es-CO" sz="1200" dirty="0">
            <a:latin typeface="+mj-lt"/>
          </a:endParaRPr>
        </a:p>
      </dgm:t>
    </dgm:pt>
    <dgm:pt modelId="{214810CF-0E9F-420E-9F44-94CA29248781}" type="parTrans" cxnId="{1D7BCF56-E33F-4A42-8129-E524DE8CA73C}">
      <dgm:prSet/>
      <dgm:spPr/>
      <dgm:t>
        <a:bodyPr/>
        <a:lstStyle/>
        <a:p>
          <a:endParaRPr lang="es-CO" sz="1600"/>
        </a:p>
      </dgm:t>
    </dgm:pt>
    <dgm:pt modelId="{9E3845BF-94AB-444E-AB21-A0DA1B4B1270}" type="sibTrans" cxnId="{1D7BCF56-E33F-4A42-8129-E524DE8CA73C}">
      <dgm:prSet/>
      <dgm:spPr/>
      <dgm:t>
        <a:bodyPr/>
        <a:lstStyle/>
        <a:p>
          <a:endParaRPr lang="es-CO" sz="1600"/>
        </a:p>
      </dgm:t>
    </dgm:pt>
    <dgm:pt modelId="{676AA4D5-22F4-47B3-B0E8-95C3D9C99480}">
      <dgm:prSet phldrT="[Texto]" custT="1"/>
      <dgm:spPr/>
      <dgm:t>
        <a:bodyPr/>
        <a:lstStyle/>
        <a:p>
          <a:pPr>
            <a:buNone/>
          </a:pPr>
          <a:r>
            <a:rPr lang="es-CO" sz="2000" dirty="0">
              <a:latin typeface="+mn-lt"/>
            </a:rPr>
            <a:t>Revisar el plan</a:t>
          </a:r>
        </a:p>
      </dgm:t>
    </dgm:pt>
    <dgm:pt modelId="{65AE6963-95E3-417E-9DBC-C327427667A9}" type="parTrans" cxnId="{E402CAF0-5AAA-416F-BAF4-3854EF253EE5}">
      <dgm:prSet/>
      <dgm:spPr/>
      <dgm:t>
        <a:bodyPr/>
        <a:lstStyle/>
        <a:p>
          <a:endParaRPr lang="es-CO" sz="1600"/>
        </a:p>
      </dgm:t>
    </dgm:pt>
    <dgm:pt modelId="{BBDCCB86-71C3-422E-959C-8FA92A9124DF}" type="sibTrans" cxnId="{E402CAF0-5AAA-416F-BAF4-3854EF253EE5}">
      <dgm:prSet/>
      <dgm:spPr/>
      <dgm:t>
        <a:bodyPr/>
        <a:lstStyle/>
        <a:p>
          <a:endParaRPr lang="es-CO" sz="1600"/>
        </a:p>
      </dgm:t>
    </dgm:pt>
    <dgm:pt modelId="{C30EB98C-BF8E-47B5-A59F-A3E708D5551C}" type="pres">
      <dgm:prSet presAssocID="{234617D2-EBA5-43D3-A846-ABD7019008A4}" presName="linearFlow" presStyleCnt="0">
        <dgm:presLayoutVars>
          <dgm:dir/>
          <dgm:animLvl val="lvl"/>
          <dgm:resizeHandles val="exact"/>
        </dgm:presLayoutVars>
      </dgm:prSet>
      <dgm:spPr/>
    </dgm:pt>
    <dgm:pt modelId="{B5976899-2FC4-4A3E-891A-B74C8C23C8B5}" type="pres">
      <dgm:prSet presAssocID="{0F6E169A-367E-48F6-8A0F-9538EF72E803}" presName="composite" presStyleCnt="0"/>
      <dgm:spPr/>
    </dgm:pt>
    <dgm:pt modelId="{416A876F-5FA3-42F9-A923-4E2C334EF9BC}" type="pres">
      <dgm:prSet presAssocID="{0F6E169A-367E-48F6-8A0F-9538EF72E803}" presName="parentText" presStyleLbl="alignNode1" presStyleIdx="0" presStyleCnt="1">
        <dgm:presLayoutVars>
          <dgm:chMax val="1"/>
          <dgm:bulletEnabled val="1"/>
        </dgm:presLayoutVars>
      </dgm:prSet>
      <dgm:spPr/>
    </dgm:pt>
    <dgm:pt modelId="{344A86B1-48E8-448F-9C6D-71580BFB5F83}" type="pres">
      <dgm:prSet presAssocID="{0F6E169A-367E-48F6-8A0F-9538EF72E803}" presName="descendantText" presStyleLbl="alignAcc1" presStyleIdx="0" presStyleCnt="1">
        <dgm:presLayoutVars>
          <dgm:bulletEnabled val="1"/>
        </dgm:presLayoutVars>
      </dgm:prSet>
      <dgm:spPr/>
    </dgm:pt>
  </dgm:ptLst>
  <dgm:cxnLst>
    <dgm:cxn modelId="{0F63B510-A033-48E8-A5FD-87C76FF5A9D6}" type="presOf" srcId="{0F6E169A-367E-48F6-8A0F-9538EF72E803}" destId="{416A876F-5FA3-42F9-A923-4E2C334EF9BC}" srcOrd="0" destOrd="0" presId="urn:microsoft.com/office/officeart/2005/8/layout/chevron2"/>
    <dgm:cxn modelId="{09EB6217-24CA-4B61-90D2-9CF7E646FA43}" type="presOf" srcId="{234617D2-EBA5-43D3-A846-ABD7019008A4}" destId="{C30EB98C-BF8E-47B5-A59F-A3E708D5551C}" srcOrd="0" destOrd="0" presId="urn:microsoft.com/office/officeart/2005/8/layout/chevron2"/>
    <dgm:cxn modelId="{5C56243F-7D54-4FD5-BD45-EEAB6E9334A6}" type="presOf" srcId="{676AA4D5-22F4-47B3-B0E8-95C3D9C99480}" destId="{344A86B1-48E8-448F-9C6D-71580BFB5F83}" srcOrd="0" destOrd="0" presId="urn:microsoft.com/office/officeart/2005/8/layout/chevron2"/>
    <dgm:cxn modelId="{1D7BCF56-E33F-4A42-8129-E524DE8CA73C}" srcId="{234617D2-EBA5-43D3-A846-ABD7019008A4}" destId="{0F6E169A-367E-48F6-8A0F-9538EF72E803}" srcOrd="0" destOrd="0" parTransId="{214810CF-0E9F-420E-9F44-94CA29248781}" sibTransId="{9E3845BF-94AB-444E-AB21-A0DA1B4B1270}"/>
    <dgm:cxn modelId="{E402CAF0-5AAA-416F-BAF4-3854EF253EE5}" srcId="{0F6E169A-367E-48F6-8A0F-9538EF72E803}" destId="{676AA4D5-22F4-47B3-B0E8-95C3D9C99480}" srcOrd="0" destOrd="0" parTransId="{65AE6963-95E3-417E-9DBC-C327427667A9}" sibTransId="{BBDCCB86-71C3-422E-959C-8FA92A9124DF}"/>
    <dgm:cxn modelId="{AC4A8FF1-0B42-4570-ACB4-F62AD10AC7E7}" type="presParOf" srcId="{C30EB98C-BF8E-47B5-A59F-A3E708D5551C}" destId="{B5976899-2FC4-4A3E-891A-B74C8C23C8B5}" srcOrd="0" destOrd="0" presId="urn:microsoft.com/office/officeart/2005/8/layout/chevron2"/>
    <dgm:cxn modelId="{78437963-1AD6-4AA2-99FF-D3C136E6C1B9}" type="presParOf" srcId="{B5976899-2FC4-4A3E-891A-B74C8C23C8B5}" destId="{416A876F-5FA3-42F9-A923-4E2C334EF9BC}" srcOrd="0" destOrd="0" presId="urn:microsoft.com/office/officeart/2005/8/layout/chevron2"/>
    <dgm:cxn modelId="{E5BB8A76-3CEA-42DE-8EE6-7959F74B0BB9}" type="presParOf" srcId="{B5976899-2FC4-4A3E-891A-B74C8C23C8B5}" destId="{344A86B1-48E8-448F-9C6D-71580BFB5F83}" srcOrd="1" destOrd="0" presId="urn:microsoft.com/office/officeart/2005/8/layout/chevron2"/>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A876F-5FA3-42F9-A923-4E2C334EF9BC}">
      <dsp:nvSpPr>
        <dsp:cNvPr id="0" name=""/>
        <dsp:cNvSpPr/>
      </dsp:nvSpPr>
      <dsp:spPr>
        <a:xfrm rot="5400000">
          <a:off x="-125531" y="128709"/>
          <a:ext cx="836875" cy="585812"/>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CO" sz="1600" kern="1200" dirty="0">
              <a:latin typeface="Century Gothic" panose="020B0502020202020204" pitchFamily="34" charset="0"/>
            </a:rPr>
            <a:t>1</a:t>
          </a:r>
          <a:endParaRPr lang="es-CO" sz="1200" kern="1200" dirty="0">
            <a:latin typeface="Century Gothic" panose="020B0502020202020204" pitchFamily="34" charset="0"/>
          </a:endParaRPr>
        </a:p>
      </dsp:txBody>
      <dsp:txXfrm rot="-5400000">
        <a:off x="1" y="296083"/>
        <a:ext cx="585812" cy="251063"/>
      </dsp:txXfrm>
    </dsp:sp>
    <dsp:sp modelId="{344A86B1-48E8-448F-9C6D-71580BFB5F83}">
      <dsp:nvSpPr>
        <dsp:cNvPr id="0" name=""/>
        <dsp:cNvSpPr/>
      </dsp:nvSpPr>
      <dsp:spPr>
        <a:xfrm rot="5400000">
          <a:off x="2829233" y="-2240242"/>
          <a:ext cx="543968" cy="5030811"/>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latin typeface="Century Gothic" panose="020B0502020202020204" pitchFamily="34" charset="0"/>
            </a:rPr>
            <a:t>Entender el problema</a:t>
          </a:r>
        </a:p>
      </dsp:txBody>
      <dsp:txXfrm rot="-5400000">
        <a:off x="585812" y="29733"/>
        <a:ext cx="5004257" cy="490860"/>
      </dsp:txXfrm>
    </dsp:sp>
    <dsp:sp modelId="{A651636C-CE47-4575-AA1E-AB00D80E941D}">
      <dsp:nvSpPr>
        <dsp:cNvPr id="0" name=""/>
        <dsp:cNvSpPr/>
      </dsp:nvSpPr>
      <dsp:spPr>
        <a:xfrm rot="5400000">
          <a:off x="-125531" y="810368"/>
          <a:ext cx="836875" cy="585812"/>
        </a:xfrm>
        <a:prstGeom prst="chevron">
          <a:avLst/>
        </a:prstGeom>
        <a:gradFill rotWithShape="0">
          <a:gsLst>
            <a:gs pos="0">
              <a:schemeClr val="accent3">
                <a:hueOff val="252426"/>
                <a:satOff val="3301"/>
                <a:lumOff val="-4052"/>
                <a:alphaOff val="0"/>
                <a:satMod val="103000"/>
                <a:lumMod val="102000"/>
                <a:tint val="94000"/>
              </a:schemeClr>
            </a:gs>
            <a:gs pos="50000">
              <a:schemeClr val="accent3">
                <a:hueOff val="252426"/>
                <a:satOff val="3301"/>
                <a:lumOff val="-4052"/>
                <a:alphaOff val="0"/>
                <a:satMod val="110000"/>
                <a:lumMod val="100000"/>
                <a:shade val="100000"/>
              </a:schemeClr>
            </a:gs>
            <a:gs pos="100000">
              <a:schemeClr val="accent3">
                <a:hueOff val="252426"/>
                <a:satOff val="3301"/>
                <a:lumOff val="-4052"/>
                <a:alphaOff val="0"/>
                <a:lumMod val="99000"/>
                <a:satMod val="120000"/>
                <a:shade val="78000"/>
              </a:schemeClr>
            </a:gs>
          </a:gsLst>
          <a:lin ang="5400000" scaled="0"/>
        </a:gradFill>
        <a:ln w="6350" cap="flat" cmpd="sng" algn="ctr">
          <a:solidFill>
            <a:schemeClr val="accent3">
              <a:hueOff val="252426"/>
              <a:satOff val="3301"/>
              <a:lumOff val="-405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CO" sz="1800" kern="1200" dirty="0">
              <a:latin typeface="Century Gothic" panose="020B0502020202020204" pitchFamily="34" charset="0"/>
            </a:rPr>
            <a:t>2</a:t>
          </a:r>
          <a:endParaRPr lang="es-CO" sz="2400" kern="1200" dirty="0">
            <a:latin typeface="Century Gothic" panose="020B0502020202020204" pitchFamily="34" charset="0"/>
          </a:endParaRPr>
        </a:p>
      </dsp:txBody>
      <dsp:txXfrm rot="-5400000">
        <a:off x="1" y="977742"/>
        <a:ext cx="585812" cy="251063"/>
      </dsp:txXfrm>
    </dsp:sp>
    <dsp:sp modelId="{79B0DE70-0A03-4A6F-B31F-EC81EB5DF7EA}">
      <dsp:nvSpPr>
        <dsp:cNvPr id="0" name=""/>
        <dsp:cNvSpPr/>
      </dsp:nvSpPr>
      <dsp:spPr>
        <a:xfrm rot="5400000">
          <a:off x="2829090" y="-1558441"/>
          <a:ext cx="544254" cy="5030811"/>
        </a:xfrm>
        <a:prstGeom prst="round2SameRect">
          <a:avLst/>
        </a:prstGeom>
        <a:solidFill>
          <a:schemeClr val="lt1">
            <a:alpha val="90000"/>
            <a:hueOff val="0"/>
            <a:satOff val="0"/>
            <a:lumOff val="0"/>
            <a:alphaOff val="0"/>
          </a:schemeClr>
        </a:solidFill>
        <a:ln w="6350" cap="flat" cmpd="sng" algn="ctr">
          <a:solidFill>
            <a:schemeClr val="accent3">
              <a:hueOff val="252426"/>
              <a:satOff val="3301"/>
              <a:lumOff val="-405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Diseñar un plan</a:t>
          </a:r>
        </a:p>
      </dsp:txBody>
      <dsp:txXfrm rot="-5400000">
        <a:off x="585812" y="711405"/>
        <a:ext cx="5004243" cy="491118"/>
      </dsp:txXfrm>
    </dsp:sp>
    <dsp:sp modelId="{2AA7B02C-023E-4537-897E-B54A048C8983}">
      <dsp:nvSpPr>
        <dsp:cNvPr id="0" name=""/>
        <dsp:cNvSpPr/>
      </dsp:nvSpPr>
      <dsp:spPr>
        <a:xfrm rot="5400000">
          <a:off x="-125531" y="1492027"/>
          <a:ext cx="836875" cy="585812"/>
        </a:xfrm>
        <a:prstGeom prst="chevron">
          <a:avLst/>
        </a:prstGeom>
        <a:gradFill rotWithShape="0">
          <a:gsLst>
            <a:gs pos="0">
              <a:schemeClr val="accent3">
                <a:hueOff val="504853"/>
                <a:satOff val="6602"/>
                <a:lumOff val="-8104"/>
                <a:alphaOff val="0"/>
                <a:satMod val="103000"/>
                <a:lumMod val="102000"/>
                <a:tint val="94000"/>
              </a:schemeClr>
            </a:gs>
            <a:gs pos="50000">
              <a:schemeClr val="accent3">
                <a:hueOff val="504853"/>
                <a:satOff val="6602"/>
                <a:lumOff val="-8104"/>
                <a:alphaOff val="0"/>
                <a:satMod val="110000"/>
                <a:lumMod val="100000"/>
                <a:shade val="100000"/>
              </a:schemeClr>
            </a:gs>
            <a:gs pos="100000">
              <a:schemeClr val="accent3">
                <a:hueOff val="504853"/>
                <a:satOff val="6602"/>
                <a:lumOff val="-8104"/>
                <a:alphaOff val="0"/>
                <a:lumMod val="99000"/>
                <a:satMod val="120000"/>
                <a:shade val="78000"/>
              </a:schemeClr>
            </a:gs>
          </a:gsLst>
          <a:lin ang="5400000" scaled="0"/>
        </a:gradFill>
        <a:ln w="6350" cap="flat" cmpd="sng" algn="ctr">
          <a:solidFill>
            <a:schemeClr val="accent3">
              <a:hueOff val="504853"/>
              <a:satOff val="6602"/>
              <a:lumOff val="-8104"/>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kern="1200" dirty="0">
              <a:latin typeface="Century Gothic" panose="020B0502020202020204" pitchFamily="34" charset="0"/>
            </a:rPr>
            <a:t>3</a:t>
          </a:r>
        </a:p>
      </dsp:txBody>
      <dsp:txXfrm rot="-5400000">
        <a:off x="1" y="1659401"/>
        <a:ext cx="585812" cy="251063"/>
      </dsp:txXfrm>
    </dsp:sp>
    <dsp:sp modelId="{15D3D31F-A831-4E62-ADE9-6ACE81331CDC}">
      <dsp:nvSpPr>
        <dsp:cNvPr id="0" name=""/>
        <dsp:cNvSpPr/>
      </dsp:nvSpPr>
      <dsp:spPr>
        <a:xfrm rot="5400000">
          <a:off x="2829233" y="-876925"/>
          <a:ext cx="543968" cy="5030811"/>
        </a:xfrm>
        <a:prstGeom prst="round2SameRect">
          <a:avLst/>
        </a:prstGeom>
        <a:solidFill>
          <a:schemeClr val="lt1">
            <a:alpha val="90000"/>
            <a:hueOff val="0"/>
            <a:satOff val="0"/>
            <a:lumOff val="0"/>
            <a:alphaOff val="0"/>
          </a:schemeClr>
        </a:solidFill>
        <a:ln w="6350" cap="flat" cmpd="sng" algn="ctr">
          <a:solidFill>
            <a:schemeClr val="accent3">
              <a:hueOff val="504853"/>
              <a:satOff val="6602"/>
              <a:lumOff val="-810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Implementar el plan</a:t>
          </a:r>
        </a:p>
      </dsp:txBody>
      <dsp:txXfrm rot="-5400000">
        <a:off x="585812" y="1393050"/>
        <a:ext cx="5004257" cy="490860"/>
      </dsp:txXfrm>
    </dsp:sp>
    <dsp:sp modelId="{58E45CBE-DE64-4E4E-8AAA-D376465B2BEE}">
      <dsp:nvSpPr>
        <dsp:cNvPr id="0" name=""/>
        <dsp:cNvSpPr/>
      </dsp:nvSpPr>
      <dsp:spPr>
        <a:xfrm rot="5400000">
          <a:off x="-125531" y="2173685"/>
          <a:ext cx="836875" cy="585812"/>
        </a:xfrm>
        <a:prstGeom prst="chevron">
          <a:avLst/>
        </a:prstGeom>
        <a:gradFill rotWithShape="0">
          <a:gsLst>
            <a:gs pos="0">
              <a:schemeClr val="accent3">
                <a:hueOff val="757279"/>
                <a:satOff val="9903"/>
                <a:lumOff val="-12156"/>
                <a:alphaOff val="0"/>
                <a:satMod val="103000"/>
                <a:lumMod val="102000"/>
                <a:tint val="94000"/>
              </a:schemeClr>
            </a:gs>
            <a:gs pos="50000">
              <a:schemeClr val="accent3">
                <a:hueOff val="757279"/>
                <a:satOff val="9903"/>
                <a:lumOff val="-12156"/>
                <a:alphaOff val="0"/>
                <a:satMod val="110000"/>
                <a:lumMod val="100000"/>
                <a:shade val="100000"/>
              </a:schemeClr>
            </a:gs>
            <a:gs pos="100000">
              <a:schemeClr val="accent3">
                <a:hueOff val="757279"/>
                <a:satOff val="9903"/>
                <a:lumOff val="-12156"/>
                <a:alphaOff val="0"/>
                <a:lumMod val="99000"/>
                <a:satMod val="120000"/>
                <a:shade val="78000"/>
              </a:schemeClr>
            </a:gs>
          </a:gsLst>
          <a:lin ang="5400000" scaled="0"/>
        </a:gradFill>
        <a:ln w="6350" cap="flat" cmpd="sng" algn="ctr">
          <a:solidFill>
            <a:schemeClr val="accent3">
              <a:hueOff val="757279"/>
              <a:satOff val="9903"/>
              <a:lumOff val="-12156"/>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kern="1200" dirty="0">
              <a:latin typeface="Century Gothic" panose="020B0502020202020204" pitchFamily="34" charset="0"/>
            </a:rPr>
            <a:t>4</a:t>
          </a:r>
        </a:p>
      </dsp:txBody>
      <dsp:txXfrm rot="-5400000">
        <a:off x="1" y="2341059"/>
        <a:ext cx="585812" cy="251063"/>
      </dsp:txXfrm>
    </dsp:sp>
    <dsp:sp modelId="{C37D6712-7A35-4663-80F7-1B8FC410AF19}">
      <dsp:nvSpPr>
        <dsp:cNvPr id="0" name=""/>
        <dsp:cNvSpPr/>
      </dsp:nvSpPr>
      <dsp:spPr>
        <a:xfrm rot="5400000">
          <a:off x="2829233" y="-195266"/>
          <a:ext cx="543968" cy="5030811"/>
        </a:xfrm>
        <a:prstGeom prst="round2SameRect">
          <a:avLst/>
        </a:prstGeom>
        <a:solidFill>
          <a:schemeClr val="lt1">
            <a:alpha val="90000"/>
            <a:hueOff val="0"/>
            <a:satOff val="0"/>
            <a:lumOff val="0"/>
            <a:alphaOff val="0"/>
          </a:schemeClr>
        </a:solidFill>
        <a:ln w="6350" cap="flat" cmpd="sng" algn="ctr">
          <a:solidFill>
            <a:schemeClr val="accent3">
              <a:hueOff val="757279"/>
              <a:satOff val="9903"/>
              <a:lumOff val="-1215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Revisar el plan</a:t>
          </a:r>
        </a:p>
      </dsp:txBody>
      <dsp:txXfrm rot="-5400000">
        <a:off x="585812" y="2074709"/>
        <a:ext cx="5004257" cy="4908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A876F-5FA3-42F9-A923-4E2C334EF9BC}">
      <dsp:nvSpPr>
        <dsp:cNvPr id="0" name=""/>
        <dsp:cNvSpPr/>
      </dsp:nvSpPr>
      <dsp:spPr>
        <a:xfrm rot="5400000">
          <a:off x="-125531" y="128709"/>
          <a:ext cx="836875" cy="585812"/>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CO" sz="1600" kern="1200" dirty="0">
              <a:latin typeface="Century Gothic" panose="020B0502020202020204" pitchFamily="34" charset="0"/>
            </a:rPr>
            <a:t>1</a:t>
          </a:r>
          <a:endParaRPr lang="es-CO" sz="1200" kern="1200" dirty="0">
            <a:latin typeface="Century Gothic" panose="020B0502020202020204" pitchFamily="34" charset="0"/>
          </a:endParaRPr>
        </a:p>
      </dsp:txBody>
      <dsp:txXfrm rot="-5400000">
        <a:off x="1" y="296083"/>
        <a:ext cx="585812" cy="251063"/>
      </dsp:txXfrm>
    </dsp:sp>
    <dsp:sp modelId="{344A86B1-48E8-448F-9C6D-71580BFB5F83}">
      <dsp:nvSpPr>
        <dsp:cNvPr id="0" name=""/>
        <dsp:cNvSpPr/>
      </dsp:nvSpPr>
      <dsp:spPr>
        <a:xfrm rot="5400000">
          <a:off x="2829233" y="-2240242"/>
          <a:ext cx="543968" cy="5030811"/>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latin typeface="Century Gothic" panose="020B0502020202020204" pitchFamily="34" charset="0"/>
            </a:rPr>
            <a:t>Entender el problema</a:t>
          </a:r>
        </a:p>
      </dsp:txBody>
      <dsp:txXfrm rot="-5400000">
        <a:off x="585812" y="29733"/>
        <a:ext cx="5004257" cy="490860"/>
      </dsp:txXfrm>
    </dsp:sp>
    <dsp:sp modelId="{A651636C-CE47-4575-AA1E-AB00D80E941D}">
      <dsp:nvSpPr>
        <dsp:cNvPr id="0" name=""/>
        <dsp:cNvSpPr/>
      </dsp:nvSpPr>
      <dsp:spPr>
        <a:xfrm rot="5400000">
          <a:off x="-125531" y="810368"/>
          <a:ext cx="836875" cy="585812"/>
        </a:xfrm>
        <a:prstGeom prst="chevron">
          <a:avLst/>
        </a:prstGeom>
        <a:gradFill rotWithShape="0">
          <a:gsLst>
            <a:gs pos="0">
              <a:schemeClr val="accent3">
                <a:hueOff val="252426"/>
                <a:satOff val="3301"/>
                <a:lumOff val="-4052"/>
                <a:alphaOff val="0"/>
                <a:satMod val="103000"/>
                <a:lumMod val="102000"/>
                <a:tint val="94000"/>
              </a:schemeClr>
            </a:gs>
            <a:gs pos="50000">
              <a:schemeClr val="accent3">
                <a:hueOff val="252426"/>
                <a:satOff val="3301"/>
                <a:lumOff val="-4052"/>
                <a:alphaOff val="0"/>
                <a:satMod val="110000"/>
                <a:lumMod val="100000"/>
                <a:shade val="100000"/>
              </a:schemeClr>
            </a:gs>
            <a:gs pos="100000">
              <a:schemeClr val="accent3">
                <a:hueOff val="252426"/>
                <a:satOff val="3301"/>
                <a:lumOff val="-4052"/>
                <a:alphaOff val="0"/>
                <a:lumMod val="99000"/>
                <a:satMod val="120000"/>
                <a:shade val="78000"/>
              </a:schemeClr>
            </a:gs>
          </a:gsLst>
          <a:lin ang="5400000" scaled="0"/>
        </a:gradFill>
        <a:ln w="6350" cap="flat" cmpd="sng" algn="ctr">
          <a:solidFill>
            <a:schemeClr val="accent3">
              <a:hueOff val="252426"/>
              <a:satOff val="3301"/>
              <a:lumOff val="-405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CO" sz="1800" kern="1200" dirty="0">
              <a:latin typeface="Century Gothic" panose="020B0502020202020204" pitchFamily="34" charset="0"/>
            </a:rPr>
            <a:t>2</a:t>
          </a:r>
          <a:endParaRPr lang="es-CO" sz="2400" kern="1200" dirty="0">
            <a:latin typeface="Century Gothic" panose="020B0502020202020204" pitchFamily="34" charset="0"/>
          </a:endParaRPr>
        </a:p>
      </dsp:txBody>
      <dsp:txXfrm rot="-5400000">
        <a:off x="1" y="977742"/>
        <a:ext cx="585812" cy="251063"/>
      </dsp:txXfrm>
    </dsp:sp>
    <dsp:sp modelId="{79B0DE70-0A03-4A6F-B31F-EC81EB5DF7EA}">
      <dsp:nvSpPr>
        <dsp:cNvPr id="0" name=""/>
        <dsp:cNvSpPr/>
      </dsp:nvSpPr>
      <dsp:spPr>
        <a:xfrm rot="5400000">
          <a:off x="2829090" y="-1558441"/>
          <a:ext cx="544254" cy="5030811"/>
        </a:xfrm>
        <a:prstGeom prst="round2SameRect">
          <a:avLst/>
        </a:prstGeom>
        <a:solidFill>
          <a:schemeClr val="lt1">
            <a:alpha val="90000"/>
            <a:hueOff val="0"/>
            <a:satOff val="0"/>
            <a:lumOff val="0"/>
            <a:alphaOff val="0"/>
          </a:schemeClr>
        </a:solidFill>
        <a:ln w="6350" cap="flat" cmpd="sng" algn="ctr">
          <a:solidFill>
            <a:schemeClr val="accent3">
              <a:hueOff val="252426"/>
              <a:satOff val="3301"/>
              <a:lumOff val="-405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Diseñar un plan</a:t>
          </a:r>
        </a:p>
      </dsp:txBody>
      <dsp:txXfrm rot="-5400000">
        <a:off x="585812" y="711405"/>
        <a:ext cx="5004243" cy="491118"/>
      </dsp:txXfrm>
    </dsp:sp>
    <dsp:sp modelId="{2AA7B02C-023E-4537-897E-B54A048C8983}">
      <dsp:nvSpPr>
        <dsp:cNvPr id="0" name=""/>
        <dsp:cNvSpPr/>
      </dsp:nvSpPr>
      <dsp:spPr>
        <a:xfrm rot="5400000">
          <a:off x="-125531" y="1492027"/>
          <a:ext cx="836875" cy="585812"/>
        </a:xfrm>
        <a:prstGeom prst="chevron">
          <a:avLst/>
        </a:prstGeom>
        <a:gradFill rotWithShape="0">
          <a:gsLst>
            <a:gs pos="0">
              <a:schemeClr val="accent3">
                <a:hueOff val="504853"/>
                <a:satOff val="6602"/>
                <a:lumOff val="-8104"/>
                <a:alphaOff val="0"/>
                <a:satMod val="103000"/>
                <a:lumMod val="102000"/>
                <a:tint val="94000"/>
              </a:schemeClr>
            </a:gs>
            <a:gs pos="50000">
              <a:schemeClr val="accent3">
                <a:hueOff val="504853"/>
                <a:satOff val="6602"/>
                <a:lumOff val="-8104"/>
                <a:alphaOff val="0"/>
                <a:satMod val="110000"/>
                <a:lumMod val="100000"/>
                <a:shade val="100000"/>
              </a:schemeClr>
            </a:gs>
            <a:gs pos="100000">
              <a:schemeClr val="accent3">
                <a:hueOff val="504853"/>
                <a:satOff val="6602"/>
                <a:lumOff val="-8104"/>
                <a:alphaOff val="0"/>
                <a:lumMod val="99000"/>
                <a:satMod val="120000"/>
                <a:shade val="78000"/>
              </a:schemeClr>
            </a:gs>
          </a:gsLst>
          <a:lin ang="5400000" scaled="0"/>
        </a:gradFill>
        <a:ln w="6350" cap="flat" cmpd="sng" algn="ctr">
          <a:solidFill>
            <a:schemeClr val="accent3">
              <a:hueOff val="504853"/>
              <a:satOff val="6602"/>
              <a:lumOff val="-8104"/>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kern="1200" dirty="0">
              <a:latin typeface="Century Gothic" panose="020B0502020202020204" pitchFamily="34" charset="0"/>
            </a:rPr>
            <a:t>3</a:t>
          </a:r>
        </a:p>
      </dsp:txBody>
      <dsp:txXfrm rot="-5400000">
        <a:off x="1" y="1659401"/>
        <a:ext cx="585812" cy="251063"/>
      </dsp:txXfrm>
    </dsp:sp>
    <dsp:sp modelId="{15D3D31F-A831-4E62-ADE9-6ACE81331CDC}">
      <dsp:nvSpPr>
        <dsp:cNvPr id="0" name=""/>
        <dsp:cNvSpPr/>
      </dsp:nvSpPr>
      <dsp:spPr>
        <a:xfrm rot="5400000">
          <a:off x="2829233" y="-876925"/>
          <a:ext cx="543968" cy="5030811"/>
        </a:xfrm>
        <a:prstGeom prst="round2SameRect">
          <a:avLst/>
        </a:prstGeom>
        <a:solidFill>
          <a:schemeClr val="lt1">
            <a:alpha val="90000"/>
            <a:hueOff val="0"/>
            <a:satOff val="0"/>
            <a:lumOff val="0"/>
            <a:alphaOff val="0"/>
          </a:schemeClr>
        </a:solidFill>
        <a:ln w="6350" cap="flat" cmpd="sng" algn="ctr">
          <a:solidFill>
            <a:schemeClr val="accent3">
              <a:hueOff val="504853"/>
              <a:satOff val="6602"/>
              <a:lumOff val="-810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Implementar el plan</a:t>
          </a:r>
        </a:p>
      </dsp:txBody>
      <dsp:txXfrm rot="-5400000">
        <a:off x="585812" y="1393050"/>
        <a:ext cx="5004257" cy="490860"/>
      </dsp:txXfrm>
    </dsp:sp>
    <dsp:sp modelId="{58E45CBE-DE64-4E4E-8AAA-D376465B2BEE}">
      <dsp:nvSpPr>
        <dsp:cNvPr id="0" name=""/>
        <dsp:cNvSpPr/>
      </dsp:nvSpPr>
      <dsp:spPr>
        <a:xfrm rot="5400000">
          <a:off x="-125531" y="2173685"/>
          <a:ext cx="836875" cy="585812"/>
        </a:xfrm>
        <a:prstGeom prst="chevron">
          <a:avLst/>
        </a:prstGeom>
        <a:gradFill rotWithShape="0">
          <a:gsLst>
            <a:gs pos="0">
              <a:schemeClr val="accent3">
                <a:hueOff val="757279"/>
                <a:satOff val="9903"/>
                <a:lumOff val="-12156"/>
                <a:alphaOff val="0"/>
                <a:satMod val="103000"/>
                <a:lumMod val="102000"/>
                <a:tint val="94000"/>
              </a:schemeClr>
            </a:gs>
            <a:gs pos="50000">
              <a:schemeClr val="accent3">
                <a:hueOff val="757279"/>
                <a:satOff val="9903"/>
                <a:lumOff val="-12156"/>
                <a:alphaOff val="0"/>
                <a:satMod val="110000"/>
                <a:lumMod val="100000"/>
                <a:shade val="100000"/>
              </a:schemeClr>
            </a:gs>
            <a:gs pos="100000">
              <a:schemeClr val="accent3">
                <a:hueOff val="757279"/>
                <a:satOff val="9903"/>
                <a:lumOff val="-12156"/>
                <a:alphaOff val="0"/>
                <a:lumMod val="99000"/>
                <a:satMod val="120000"/>
                <a:shade val="78000"/>
              </a:schemeClr>
            </a:gs>
          </a:gsLst>
          <a:lin ang="5400000" scaled="0"/>
        </a:gradFill>
        <a:ln w="6350" cap="flat" cmpd="sng" algn="ctr">
          <a:solidFill>
            <a:schemeClr val="accent3">
              <a:hueOff val="757279"/>
              <a:satOff val="9903"/>
              <a:lumOff val="-12156"/>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kern="1200" dirty="0">
              <a:latin typeface="Century Gothic" panose="020B0502020202020204" pitchFamily="34" charset="0"/>
            </a:rPr>
            <a:t>4</a:t>
          </a:r>
        </a:p>
      </dsp:txBody>
      <dsp:txXfrm rot="-5400000">
        <a:off x="1" y="2341059"/>
        <a:ext cx="585812" cy="251063"/>
      </dsp:txXfrm>
    </dsp:sp>
    <dsp:sp modelId="{C37D6712-7A35-4663-80F7-1B8FC410AF19}">
      <dsp:nvSpPr>
        <dsp:cNvPr id="0" name=""/>
        <dsp:cNvSpPr/>
      </dsp:nvSpPr>
      <dsp:spPr>
        <a:xfrm rot="5400000">
          <a:off x="2829233" y="-195266"/>
          <a:ext cx="543968" cy="5030811"/>
        </a:xfrm>
        <a:prstGeom prst="round2SameRect">
          <a:avLst/>
        </a:prstGeom>
        <a:solidFill>
          <a:schemeClr val="lt1">
            <a:alpha val="90000"/>
            <a:hueOff val="0"/>
            <a:satOff val="0"/>
            <a:lumOff val="0"/>
            <a:alphaOff val="0"/>
          </a:schemeClr>
        </a:solidFill>
        <a:ln w="6350" cap="flat" cmpd="sng" algn="ctr">
          <a:solidFill>
            <a:schemeClr val="accent3">
              <a:hueOff val="757279"/>
              <a:satOff val="9903"/>
              <a:lumOff val="-1215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Revisar el plan</a:t>
          </a:r>
        </a:p>
      </dsp:txBody>
      <dsp:txXfrm rot="-5400000">
        <a:off x="585812" y="2074709"/>
        <a:ext cx="5004257" cy="4908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A876F-5FA3-42F9-A923-4E2C334EF9BC}">
      <dsp:nvSpPr>
        <dsp:cNvPr id="0" name=""/>
        <dsp:cNvSpPr/>
      </dsp:nvSpPr>
      <dsp:spPr>
        <a:xfrm rot="5400000">
          <a:off x="-125531" y="128709"/>
          <a:ext cx="836875" cy="585812"/>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CO" sz="1600" kern="1200" dirty="0">
              <a:latin typeface="Century Gothic" panose="020B0502020202020204" pitchFamily="34" charset="0"/>
            </a:rPr>
            <a:t>1</a:t>
          </a:r>
          <a:endParaRPr lang="es-CO" sz="1200" kern="1200" dirty="0">
            <a:latin typeface="Century Gothic" panose="020B0502020202020204" pitchFamily="34" charset="0"/>
          </a:endParaRPr>
        </a:p>
      </dsp:txBody>
      <dsp:txXfrm rot="-5400000">
        <a:off x="1" y="296083"/>
        <a:ext cx="585812" cy="251063"/>
      </dsp:txXfrm>
    </dsp:sp>
    <dsp:sp modelId="{344A86B1-48E8-448F-9C6D-71580BFB5F83}">
      <dsp:nvSpPr>
        <dsp:cNvPr id="0" name=""/>
        <dsp:cNvSpPr/>
      </dsp:nvSpPr>
      <dsp:spPr>
        <a:xfrm rot="5400000">
          <a:off x="2829233" y="-2240242"/>
          <a:ext cx="543968" cy="5030811"/>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latin typeface="Century Gothic" panose="020B0502020202020204" pitchFamily="34" charset="0"/>
            </a:rPr>
            <a:t>Entender el problema</a:t>
          </a:r>
        </a:p>
      </dsp:txBody>
      <dsp:txXfrm rot="-5400000">
        <a:off x="585812" y="29733"/>
        <a:ext cx="5004257" cy="490860"/>
      </dsp:txXfrm>
    </dsp:sp>
    <dsp:sp modelId="{A651636C-CE47-4575-AA1E-AB00D80E941D}">
      <dsp:nvSpPr>
        <dsp:cNvPr id="0" name=""/>
        <dsp:cNvSpPr/>
      </dsp:nvSpPr>
      <dsp:spPr>
        <a:xfrm rot="5400000">
          <a:off x="-125531" y="810368"/>
          <a:ext cx="836875" cy="585812"/>
        </a:xfrm>
        <a:prstGeom prst="chevron">
          <a:avLst/>
        </a:prstGeom>
        <a:gradFill rotWithShape="0">
          <a:gsLst>
            <a:gs pos="0">
              <a:schemeClr val="accent3">
                <a:hueOff val="252426"/>
                <a:satOff val="3301"/>
                <a:lumOff val="-4052"/>
                <a:alphaOff val="0"/>
                <a:satMod val="103000"/>
                <a:lumMod val="102000"/>
                <a:tint val="94000"/>
              </a:schemeClr>
            </a:gs>
            <a:gs pos="50000">
              <a:schemeClr val="accent3">
                <a:hueOff val="252426"/>
                <a:satOff val="3301"/>
                <a:lumOff val="-4052"/>
                <a:alphaOff val="0"/>
                <a:satMod val="110000"/>
                <a:lumMod val="100000"/>
                <a:shade val="100000"/>
              </a:schemeClr>
            </a:gs>
            <a:gs pos="100000">
              <a:schemeClr val="accent3">
                <a:hueOff val="252426"/>
                <a:satOff val="3301"/>
                <a:lumOff val="-4052"/>
                <a:alphaOff val="0"/>
                <a:lumMod val="99000"/>
                <a:satMod val="120000"/>
                <a:shade val="78000"/>
              </a:schemeClr>
            </a:gs>
          </a:gsLst>
          <a:lin ang="5400000" scaled="0"/>
        </a:gradFill>
        <a:ln w="6350" cap="flat" cmpd="sng" algn="ctr">
          <a:solidFill>
            <a:schemeClr val="accent3">
              <a:hueOff val="252426"/>
              <a:satOff val="3301"/>
              <a:lumOff val="-405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CO" sz="1800" kern="1200" dirty="0">
              <a:latin typeface="Century Gothic" panose="020B0502020202020204" pitchFamily="34" charset="0"/>
            </a:rPr>
            <a:t>2</a:t>
          </a:r>
          <a:endParaRPr lang="es-CO" sz="2400" kern="1200" dirty="0">
            <a:latin typeface="Century Gothic" panose="020B0502020202020204" pitchFamily="34" charset="0"/>
          </a:endParaRPr>
        </a:p>
      </dsp:txBody>
      <dsp:txXfrm rot="-5400000">
        <a:off x="1" y="977742"/>
        <a:ext cx="585812" cy="251063"/>
      </dsp:txXfrm>
    </dsp:sp>
    <dsp:sp modelId="{79B0DE70-0A03-4A6F-B31F-EC81EB5DF7EA}">
      <dsp:nvSpPr>
        <dsp:cNvPr id="0" name=""/>
        <dsp:cNvSpPr/>
      </dsp:nvSpPr>
      <dsp:spPr>
        <a:xfrm rot="5400000">
          <a:off x="2829090" y="-1558441"/>
          <a:ext cx="544254" cy="5030811"/>
        </a:xfrm>
        <a:prstGeom prst="round2SameRect">
          <a:avLst/>
        </a:prstGeom>
        <a:solidFill>
          <a:schemeClr val="lt1">
            <a:alpha val="90000"/>
            <a:hueOff val="0"/>
            <a:satOff val="0"/>
            <a:lumOff val="0"/>
            <a:alphaOff val="0"/>
          </a:schemeClr>
        </a:solidFill>
        <a:ln w="6350" cap="flat" cmpd="sng" algn="ctr">
          <a:solidFill>
            <a:schemeClr val="accent3">
              <a:hueOff val="252426"/>
              <a:satOff val="3301"/>
              <a:lumOff val="-405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Diseñar un plan</a:t>
          </a:r>
        </a:p>
      </dsp:txBody>
      <dsp:txXfrm rot="-5400000">
        <a:off x="585812" y="711405"/>
        <a:ext cx="5004243" cy="491118"/>
      </dsp:txXfrm>
    </dsp:sp>
    <dsp:sp modelId="{2AA7B02C-023E-4537-897E-B54A048C8983}">
      <dsp:nvSpPr>
        <dsp:cNvPr id="0" name=""/>
        <dsp:cNvSpPr/>
      </dsp:nvSpPr>
      <dsp:spPr>
        <a:xfrm rot="5400000">
          <a:off x="-125531" y="1492027"/>
          <a:ext cx="836875" cy="585812"/>
        </a:xfrm>
        <a:prstGeom prst="chevron">
          <a:avLst/>
        </a:prstGeom>
        <a:gradFill rotWithShape="0">
          <a:gsLst>
            <a:gs pos="0">
              <a:schemeClr val="accent3">
                <a:hueOff val="504853"/>
                <a:satOff val="6602"/>
                <a:lumOff val="-8104"/>
                <a:alphaOff val="0"/>
                <a:satMod val="103000"/>
                <a:lumMod val="102000"/>
                <a:tint val="94000"/>
              </a:schemeClr>
            </a:gs>
            <a:gs pos="50000">
              <a:schemeClr val="accent3">
                <a:hueOff val="504853"/>
                <a:satOff val="6602"/>
                <a:lumOff val="-8104"/>
                <a:alphaOff val="0"/>
                <a:satMod val="110000"/>
                <a:lumMod val="100000"/>
                <a:shade val="100000"/>
              </a:schemeClr>
            </a:gs>
            <a:gs pos="100000">
              <a:schemeClr val="accent3">
                <a:hueOff val="504853"/>
                <a:satOff val="6602"/>
                <a:lumOff val="-8104"/>
                <a:alphaOff val="0"/>
                <a:lumMod val="99000"/>
                <a:satMod val="120000"/>
                <a:shade val="78000"/>
              </a:schemeClr>
            </a:gs>
          </a:gsLst>
          <a:lin ang="5400000" scaled="0"/>
        </a:gradFill>
        <a:ln w="6350" cap="flat" cmpd="sng" algn="ctr">
          <a:solidFill>
            <a:schemeClr val="accent3">
              <a:hueOff val="504853"/>
              <a:satOff val="6602"/>
              <a:lumOff val="-8104"/>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kern="1200" dirty="0">
              <a:latin typeface="Century Gothic" panose="020B0502020202020204" pitchFamily="34" charset="0"/>
            </a:rPr>
            <a:t>3</a:t>
          </a:r>
        </a:p>
      </dsp:txBody>
      <dsp:txXfrm rot="-5400000">
        <a:off x="1" y="1659401"/>
        <a:ext cx="585812" cy="251063"/>
      </dsp:txXfrm>
    </dsp:sp>
    <dsp:sp modelId="{15D3D31F-A831-4E62-ADE9-6ACE81331CDC}">
      <dsp:nvSpPr>
        <dsp:cNvPr id="0" name=""/>
        <dsp:cNvSpPr/>
      </dsp:nvSpPr>
      <dsp:spPr>
        <a:xfrm rot="5400000">
          <a:off x="2829233" y="-876925"/>
          <a:ext cx="543968" cy="5030811"/>
        </a:xfrm>
        <a:prstGeom prst="round2SameRect">
          <a:avLst/>
        </a:prstGeom>
        <a:solidFill>
          <a:schemeClr val="lt1">
            <a:alpha val="90000"/>
            <a:hueOff val="0"/>
            <a:satOff val="0"/>
            <a:lumOff val="0"/>
            <a:alphaOff val="0"/>
          </a:schemeClr>
        </a:solidFill>
        <a:ln w="6350" cap="flat" cmpd="sng" algn="ctr">
          <a:solidFill>
            <a:schemeClr val="accent3">
              <a:hueOff val="504853"/>
              <a:satOff val="6602"/>
              <a:lumOff val="-810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Implementar el plan</a:t>
          </a:r>
        </a:p>
      </dsp:txBody>
      <dsp:txXfrm rot="-5400000">
        <a:off x="585812" y="1393050"/>
        <a:ext cx="5004257" cy="490860"/>
      </dsp:txXfrm>
    </dsp:sp>
    <dsp:sp modelId="{58E45CBE-DE64-4E4E-8AAA-D376465B2BEE}">
      <dsp:nvSpPr>
        <dsp:cNvPr id="0" name=""/>
        <dsp:cNvSpPr/>
      </dsp:nvSpPr>
      <dsp:spPr>
        <a:xfrm rot="5400000">
          <a:off x="-125531" y="2173685"/>
          <a:ext cx="836875" cy="585812"/>
        </a:xfrm>
        <a:prstGeom prst="chevron">
          <a:avLst/>
        </a:prstGeom>
        <a:gradFill rotWithShape="0">
          <a:gsLst>
            <a:gs pos="0">
              <a:schemeClr val="accent3">
                <a:hueOff val="757279"/>
                <a:satOff val="9903"/>
                <a:lumOff val="-12156"/>
                <a:alphaOff val="0"/>
                <a:satMod val="103000"/>
                <a:lumMod val="102000"/>
                <a:tint val="94000"/>
              </a:schemeClr>
            </a:gs>
            <a:gs pos="50000">
              <a:schemeClr val="accent3">
                <a:hueOff val="757279"/>
                <a:satOff val="9903"/>
                <a:lumOff val="-12156"/>
                <a:alphaOff val="0"/>
                <a:satMod val="110000"/>
                <a:lumMod val="100000"/>
                <a:shade val="100000"/>
              </a:schemeClr>
            </a:gs>
            <a:gs pos="100000">
              <a:schemeClr val="accent3">
                <a:hueOff val="757279"/>
                <a:satOff val="9903"/>
                <a:lumOff val="-12156"/>
                <a:alphaOff val="0"/>
                <a:lumMod val="99000"/>
                <a:satMod val="120000"/>
                <a:shade val="78000"/>
              </a:schemeClr>
            </a:gs>
          </a:gsLst>
          <a:lin ang="5400000" scaled="0"/>
        </a:gradFill>
        <a:ln w="6350" cap="flat" cmpd="sng" algn="ctr">
          <a:solidFill>
            <a:schemeClr val="accent3">
              <a:hueOff val="757279"/>
              <a:satOff val="9903"/>
              <a:lumOff val="-12156"/>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s-CO" sz="2000" kern="1200" dirty="0">
              <a:latin typeface="Century Gothic" panose="020B0502020202020204" pitchFamily="34" charset="0"/>
            </a:rPr>
            <a:t>4</a:t>
          </a:r>
        </a:p>
      </dsp:txBody>
      <dsp:txXfrm rot="-5400000">
        <a:off x="1" y="2341059"/>
        <a:ext cx="585812" cy="251063"/>
      </dsp:txXfrm>
    </dsp:sp>
    <dsp:sp modelId="{C37D6712-7A35-4663-80F7-1B8FC410AF19}">
      <dsp:nvSpPr>
        <dsp:cNvPr id="0" name=""/>
        <dsp:cNvSpPr/>
      </dsp:nvSpPr>
      <dsp:spPr>
        <a:xfrm rot="5400000">
          <a:off x="2829233" y="-195266"/>
          <a:ext cx="543968" cy="5030811"/>
        </a:xfrm>
        <a:prstGeom prst="round2SameRect">
          <a:avLst/>
        </a:prstGeom>
        <a:solidFill>
          <a:schemeClr val="lt1">
            <a:alpha val="90000"/>
            <a:hueOff val="0"/>
            <a:satOff val="0"/>
            <a:lumOff val="0"/>
            <a:alphaOff val="0"/>
          </a:schemeClr>
        </a:solidFill>
        <a:ln w="6350" cap="flat" cmpd="sng" algn="ctr">
          <a:solidFill>
            <a:schemeClr val="accent3">
              <a:hueOff val="757279"/>
              <a:satOff val="9903"/>
              <a:lumOff val="-1215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Century Gothic" panose="020B0502020202020204" pitchFamily="34" charset="0"/>
              <a:ea typeface="+mn-ea"/>
              <a:cs typeface="+mn-cs"/>
            </a:rPr>
            <a:t>Revisar el plan</a:t>
          </a:r>
        </a:p>
      </dsp:txBody>
      <dsp:txXfrm rot="-5400000">
        <a:off x="585812" y="2074709"/>
        <a:ext cx="5004257" cy="49086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A876F-5FA3-42F9-A923-4E2C334EF9BC}">
      <dsp:nvSpPr>
        <dsp:cNvPr id="0" name=""/>
        <dsp:cNvSpPr/>
      </dsp:nvSpPr>
      <dsp:spPr>
        <a:xfrm rot="5400000">
          <a:off x="-119435" y="120213"/>
          <a:ext cx="796234" cy="557364"/>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CO" sz="1600" kern="1200" dirty="0">
              <a:latin typeface="+mj-lt"/>
            </a:rPr>
            <a:t>1</a:t>
          </a:r>
          <a:endParaRPr lang="es-CO" sz="1200" kern="1200" dirty="0">
            <a:latin typeface="+mj-lt"/>
          </a:endParaRPr>
        </a:p>
      </dsp:txBody>
      <dsp:txXfrm rot="-5400000">
        <a:off x="0" y="279460"/>
        <a:ext cx="557364" cy="238870"/>
      </dsp:txXfrm>
    </dsp:sp>
    <dsp:sp modelId="{344A86B1-48E8-448F-9C6D-71580BFB5F83}">
      <dsp:nvSpPr>
        <dsp:cNvPr id="0" name=""/>
        <dsp:cNvSpPr/>
      </dsp:nvSpPr>
      <dsp:spPr>
        <a:xfrm rot="5400000">
          <a:off x="1543837" y="-985694"/>
          <a:ext cx="517824" cy="2490770"/>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latin typeface="+mn-lt"/>
            </a:rPr>
            <a:t>Entender el problema</a:t>
          </a:r>
        </a:p>
      </dsp:txBody>
      <dsp:txXfrm rot="-5400000">
        <a:off x="557364" y="26057"/>
        <a:ext cx="2465492" cy="46726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A876F-5FA3-42F9-A923-4E2C334EF9BC}">
      <dsp:nvSpPr>
        <dsp:cNvPr id="0" name=""/>
        <dsp:cNvSpPr/>
      </dsp:nvSpPr>
      <dsp:spPr>
        <a:xfrm rot="5400000">
          <a:off x="-170733" y="171058"/>
          <a:ext cx="878045" cy="536579"/>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CO" sz="1600" kern="1200" dirty="0">
              <a:latin typeface="+mn-lt"/>
            </a:rPr>
            <a:t>2</a:t>
          </a:r>
          <a:endParaRPr lang="es-CO" sz="1200" kern="1200" dirty="0">
            <a:latin typeface="+mn-lt"/>
          </a:endParaRPr>
        </a:p>
      </dsp:txBody>
      <dsp:txXfrm rot="-5400000">
        <a:off x="1" y="268615"/>
        <a:ext cx="536579" cy="341466"/>
      </dsp:txXfrm>
    </dsp:sp>
    <dsp:sp modelId="{344A86B1-48E8-448F-9C6D-71580BFB5F83}">
      <dsp:nvSpPr>
        <dsp:cNvPr id="0" name=""/>
        <dsp:cNvSpPr/>
      </dsp:nvSpPr>
      <dsp:spPr>
        <a:xfrm rot="5400000">
          <a:off x="1554185" y="-944454"/>
          <a:ext cx="500829" cy="2487072"/>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latin typeface="+mn-lt"/>
            </a:rPr>
            <a:t>Diseñar el plan</a:t>
          </a:r>
        </a:p>
      </dsp:txBody>
      <dsp:txXfrm rot="-5400000">
        <a:off x="561064" y="73115"/>
        <a:ext cx="2462624" cy="451933"/>
      </dsp:txXfrm>
    </dsp:sp>
    <dsp:sp modelId="{A651636C-CE47-4575-AA1E-AB00D80E941D}">
      <dsp:nvSpPr>
        <dsp:cNvPr id="0" name=""/>
        <dsp:cNvSpPr/>
      </dsp:nvSpPr>
      <dsp:spPr>
        <a:xfrm rot="5400000">
          <a:off x="-171254" y="720056"/>
          <a:ext cx="878045" cy="535535"/>
        </a:xfrm>
        <a:prstGeom prst="chevron">
          <a:avLst/>
        </a:prstGeom>
        <a:gradFill rotWithShape="0">
          <a:gsLst>
            <a:gs pos="0">
              <a:schemeClr val="accent3">
                <a:hueOff val="757279"/>
                <a:satOff val="9903"/>
                <a:lumOff val="-12156"/>
                <a:alphaOff val="0"/>
                <a:satMod val="103000"/>
                <a:lumMod val="102000"/>
                <a:tint val="94000"/>
              </a:schemeClr>
            </a:gs>
            <a:gs pos="50000">
              <a:schemeClr val="accent3">
                <a:hueOff val="757279"/>
                <a:satOff val="9903"/>
                <a:lumOff val="-12156"/>
                <a:alphaOff val="0"/>
                <a:satMod val="110000"/>
                <a:lumMod val="100000"/>
                <a:shade val="100000"/>
              </a:schemeClr>
            </a:gs>
            <a:gs pos="100000">
              <a:schemeClr val="accent3">
                <a:hueOff val="757279"/>
                <a:satOff val="9903"/>
                <a:lumOff val="-12156"/>
                <a:alphaOff val="0"/>
                <a:lumMod val="99000"/>
                <a:satMod val="120000"/>
                <a:shade val="78000"/>
              </a:schemeClr>
            </a:gs>
          </a:gsLst>
          <a:lin ang="5400000" scaled="0"/>
        </a:gradFill>
        <a:ln w="6350" cap="flat" cmpd="sng" algn="ctr">
          <a:solidFill>
            <a:schemeClr val="accent3">
              <a:hueOff val="757279"/>
              <a:satOff val="9903"/>
              <a:lumOff val="-12156"/>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CO" sz="1800" kern="1200" dirty="0">
              <a:latin typeface="+mn-lt"/>
            </a:rPr>
            <a:t>3</a:t>
          </a:r>
          <a:endParaRPr lang="es-CO" sz="2400" kern="1200" dirty="0">
            <a:latin typeface="+mn-lt"/>
          </a:endParaRPr>
        </a:p>
      </dsp:txBody>
      <dsp:txXfrm rot="-5400000">
        <a:off x="2" y="816569"/>
        <a:ext cx="535535" cy="342510"/>
      </dsp:txXfrm>
    </dsp:sp>
    <dsp:sp modelId="{79B0DE70-0A03-4A6F-B31F-EC81EB5DF7EA}">
      <dsp:nvSpPr>
        <dsp:cNvPr id="0" name=""/>
        <dsp:cNvSpPr/>
      </dsp:nvSpPr>
      <dsp:spPr>
        <a:xfrm rot="5400000">
          <a:off x="1505843" y="-357808"/>
          <a:ext cx="597513" cy="2487072"/>
        </a:xfrm>
        <a:prstGeom prst="round2SameRect">
          <a:avLst/>
        </a:prstGeom>
        <a:solidFill>
          <a:schemeClr val="lt1">
            <a:alpha val="90000"/>
            <a:hueOff val="0"/>
            <a:satOff val="0"/>
            <a:lumOff val="0"/>
            <a:alphaOff val="0"/>
          </a:schemeClr>
        </a:solidFill>
        <a:ln w="6350" cap="flat" cmpd="sng" algn="ctr">
          <a:solidFill>
            <a:schemeClr val="accent3">
              <a:hueOff val="757279"/>
              <a:satOff val="9903"/>
              <a:lumOff val="-1215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mn-lt"/>
              <a:ea typeface="+mn-ea"/>
              <a:cs typeface="+mn-cs"/>
            </a:rPr>
            <a:t>Implementar el plan</a:t>
          </a:r>
        </a:p>
      </dsp:txBody>
      <dsp:txXfrm rot="-5400000">
        <a:off x="561064" y="616139"/>
        <a:ext cx="2457904" cy="53917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A876F-5FA3-42F9-A923-4E2C334EF9BC}">
      <dsp:nvSpPr>
        <dsp:cNvPr id="0" name=""/>
        <dsp:cNvSpPr/>
      </dsp:nvSpPr>
      <dsp:spPr>
        <a:xfrm rot="5400000">
          <a:off x="-119435" y="120213"/>
          <a:ext cx="796234" cy="557364"/>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CO" sz="1600" kern="1200" dirty="0">
              <a:latin typeface="+mj-lt"/>
            </a:rPr>
            <a:t>4</a:t>
          </a:r>
          <a:endParaRPr lang="es-CO" sz="1200" kern="1200" dirty="0">
            <a:latin typeface="+mj-lt"/>
          </a:endParaRPr>
        </a:p>
      </dsp:txBody>
      <dsp:txXfrm rot="-5400000">
        <a:off x="0" y="279460"/>
        <a:ext cx="557364" cy="238870"/>
      </dsp:txXfrm>
    </dsp:sp>
    <dsp:sp modelId="{344A86B1-48E8-448F-9C6D-71580BFB5F83}">
      <dsp:nvSpPr>
        <dsp:cNvPr id="0" name=""/>
        <dsp:cNvSpPr/>
      </dsp:nvSpPr>
      <dsp:spPr>
        <a:xfrm rot="5400000">
          <a:off x="1543837" y="-985694"/>
          <a:ext cx="517824" cy="2490770"/>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latin typeface="+mn-lt"/>
            </a:rPr>
            <a:t>Revisar el plan</a:t>
          </a:r>
        </a:p>
      </dsp:txBody>
      <dsp:txXfrm rot="-5400000">
        <a:off x="557364" y="26057"/>
        <a:ext cx="2465492" cy="46726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A876F-5FA3-42F9-A923-4E2C334EF9BC}">
      <dsp:nvSpPr>
        <dsp:cNvPr id="0" name=""/>
        <dsp:cNvSpPr/>
      </dsp:nvSpPr>
      <dsp:spPr>
        <a:xfrm rot="5400000">
          <a:off x="-119435" y="120213"/>
          <a:ext cx="796234" cy="557364"/>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CO" sz="1600" kern="1200" dirty="0">
              <a:latin typeface="+mj-lt"/>
            </a:rPr>
            <a:t>1</a:t>
          </a:r>
          <a:endParaRPr lang="es-CO" sz="1200" kern="1200" dirty="0">
            <a:latin typeface="+mj-lt"/>
          </a:endParaRPr>
        </a:p>
      </dsp:txBody>
      <dsp:txXfrm rot="-5400000">
        <a:off x="0" y="279460"/>
        <a:ext cx="557364" cy="238870"/>
      </dsp:txXfrm>
    </dsp:sp>
    <dsp:sp modelId="{344A86B1-48E8-448F-9C6D-71580BFB5F83}">
      <dsp:nvSpPr>
        <dsp:cNvPr id="0" name=""/>
        <dsp:cNvSpPr/>
      </dsp:nvSpPr>
      <dsp:spPr>
        <a:xfrm rot="5400000">
          <a:off x="1543837" y="-985694"/>
          <a:ext cx="517824" cy="2490770"/>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latin typeface="+mn-lt"/>
            </a:rPr>
            <a:t>Entender el problema</a:t>
          </a:r>
        </a:p>
      </dsp:txBody>
      <dsp:txXfrm rot="-5400000">
        <a:off x="557364" y="26057"/>
        <a:ext cx="2465492" cy="46726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A876F-5FA3-42F9-A923-4E2C334EF9BC}">
      <dsp:nvSpPr>
        <dsp:cNvPr id="0" name=""/>
        <dsp:cNvSpPr/>
      </dsp:nvSpPr>
      <dsp:spPr>
        <a:xfrm rot="5400000">
          <a:off x="-170733" y="171058"/>
          <a:ext cx="878045" cy="536579"/>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CO" sz="1600" kern="1200" dirty="0">
              <a:latin typeface="+mn-lt"/>
            </a:rPr>
            <a:t>2</a:t>
          </a:r>
          <a:endParaRPr lang="es-CO" sz="1200" kern="1200" dirty="0">
            <a:latin typeface="+mn-lt"/>
          </a:endParaRPr>
        </a:p>
      </dsp:txBody>
      <dsp:txXfrm rot="-5400000">
        <a:off x="1" y="268615"/>
        <a:ext cx="536579" cy="341466"/>
      </dsp:txXfrm>
    </dsp:sp>
    <dsp:sp modelId="{344A86B1-48E8-448F-9C6D-71580BFB5F83}">
      <dsp:nvSpPr>
        <dsp:cNvPr id="0" name=""/>
        <dsp:cNvSpPr/>
      </dsp:nvSpPr>
      <dsp:spPr>
        <a:xfrm rot="5400000">
          <a:off x="1554185" y="-944454"/>
          <a:ext cx="500829" cy="2487072"/>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latin typeface="+mn-lt"/>
            </a:rPr>
            <a:t>Diseñar el plan</a:t>
          </a:r>
        </a:p>
      </dsp:txBody>
      <dsp:txXfrm rot="-5400000">
        <a:off x="561064" y="73115"/>
        <a:ext cx="2462624" cy="451933"/>
      </dsp:txXfrm>
    </dsp:sp>
    <dsp:sp modelId="{A651636C-CE47-4575-AA1E-AB00D80E941D}">
      <dsp:nvSpPr>
        <dsp:cNvPr id="0" name=""/>
        <dsp:cNvSpPr/>
      </dsp:nvSpPr>
      <dsp:spPr>
        <a:xfrm rot="5400000">
          <a:off x="-171254" y="720056"/>
          <a:ext cx="878045" cy="535535"/>
        </a:xfrm>
        <a:prstGeom prst="chevron">
          <a:avLst/>
        </a:prstGeom>
        <a:gradFill rotWithShape="0">
          <a:gsLst>
            <a:gs pos="0">
              <a:schemeClr val="accent3">
                <a:hueOff val="757279"/>
                <a:satOff val="9903"/>
                <a:lumOff val="-12156"/>
                <a:alphaOff val="0"/>
                <a:satMod val="103000"/>
                <a:lumMod val="102000"/>
                <a:tint val="94000"/>
              </a:schemeClr>
            </a:gs>
            <a:gs pos="50000">
              <a:schemeClr val="accent3">
                <a:hueOff val="757279"/>
                <a:satOff val="9903"/>
                <a:lumOff val="-12156"/>
                <a:alphaOff val="0"/>
                <a:satMod val="110000"/>
                <a:lumMod val="100000"/>
                <a:shade val="100000"/>
              </a:schemeClr>
            </a:gs>
            <a:gs pos="100000">
              <a:schemeClr val="accent3">
                <a:hueOff val="757279"/>
                <a:satOff val="9903"/>
                <a:lumOff val="-12156"/>
                <a:alphaOff val="0"/>
                <a:lumMod val="99000"/>
                <a:satMod val="120000"/>
                <a:shade val="78000"/>
              </a:schemeClr>
            </a:gs>
          </a:gsLst>
          <a:lin ang="5400000" scaled="0"/>
        </a:gradFill>
        <a:ln w="6350" cap="flat" cmpd="sng" algn="ctr">
          <a:solidFill>
            <a:schemeClr val="accent3">
              <a:hueOff val="757279"/>
              <a:satOff val="9903"/>
              <a:lumOff val="-12156"/>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s-CO" sz="1800" kern="1200" dirty="0">
              <a:latin typeface="+mn-lt"/>
            </a:rPr>
            <a:t>3</a:t>
          </a:r>
          <a:endParaRPr lang="es-CO" sz="2400" kern="1200" dirty="0">
            <a:latin typeface="+mn-lt"/>
          </a:endParaRPr>
        </a:p>
      </dsp:txBody>
      <dsp:txXfrm rot="-5400000">
        <a:off x="2" y="816569"/>
        <a:ext cx="535535" cy="342510"/>
      </dsp:txXfrm>
    </dsp:sp>
    <dsp:sp modelId="{79B0DE70-0A03-4A6F-B31F-EC81EB5DF7EA}">
      <dsp:nvSpPr>
        <dsp:cNvPr id="0" name=""/>
        <dsp:cNvSpPr/>
      </dsp:nvSpPr>
      <dsp:spPr>
        <a:xfrm rot="5400000">
          <a:off x="1505843" y="-357808"/>
          <a:ext cx="597513" cy="2487072"/>
        </a:xfrm>
        <a:prstGeom prst="round2SameRect">
          <a:avLst/>
        </a:prstGeom>
        <a:solidFill>
          <a:schemeClr val="lt1">
            <a:alpha val="90000"/>
            <a:hueOff val="0"/>
            <a:satOff val="0"/>
            <a:lumOff val="0"/>
            <a:alphaOff val="0"/>
          </a:schemeClr>
        </a:solidFill>
        <a:ln w="6350" cap="flat" cmpd="sng" algn="ctr">
          <a:solidFill>
            <a:schemeClr val="accent3">
              <a:hueOff val="757279"/>
              <a:satOff val="9903"/>
              <a:lumOff val="-1215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solidFill>
                <a:prstClr val="black">
                  <a:hueOff val="0"/>
                  <a:satOff val="0"/>
                  <a:lumOff val="0"/>
                  <a:alphaOff val="0"/>
                </a:prstClr>
              </a:solidFill>
              <a:latin typeface="+mn-lt"/>
              <a:ea typeface="+mn-ea"/>
              <a:cs typeface="+mn-cs"/>
            </a:rPr>
            <a:t>Implementar el plan</a:t>
          </a:r>
        </a:p>
      </dsp:txBody>
      <dsp:txXfrm rot="-5400000">
        <a:off x="561064" y="616139"/>
        <a:ext cx="2457904" cy="53917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6A876F-5FA3-42F9-A923-4E2C334EF9BC}">
      <dsp:nvSpPr>
        <dsp:cNvPr id="0" name=""/>
        <dsp:cNvSpPr/>
      </dsp:nvSpPr>
      <dsp:spPr>
        <a:xfrm rot="5400000">
          <a:off x="-119435" y="120213"/>
          <a:ext cx="796234" cy="557364"/>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s-CO" sz="1600" kern="1200" dirty="0">
              <a:latin typeface="+mj-lt"/>
            </a:rPr>
            <a:t>4</a:t>
          </a:r>
          <a:endParaRPr lang="es-CO" sz="1200" kern="1200" dirty="0">
            <a:latin typeface="+mj-lt"/>
          </a:endParaRPr>
        </a:p>
      </dsp:txBody>
      <dsp:txXfrm rot="-5400000">
        <a:off x="0" y="279460"/>
        <a:ext cx="557364" cy="238870"/>
      </dsp:txXfrm>
    </dsp:sp>
    <dsp:sp modelId="{344A86B1-48E8-448F-9C6D-71580BFB5F83}">
      <dsp:nvSpPr>
        <dsp:cNvPr id="0" name=""/>
        <dsp:cNvSpPr/>
      </dsp:nvSpPr>
      <dsp:spPr>
        <a:xfrm rot="5400000">
          <a:off x="1543837" y="-985694"/>
          <a:ext cx="517824" cy="2490770"/>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s-CO" sz="2000" kern="1200" dirty="0">
              <a:latin typeface="+mn-lt"/>
            </a:rPr>
            <a:t>Revisar el plan</a:t>
          </a:r>
        </a:p>
      </dsp:txBody>
      <dsp:txXfrm rot="-5400000">
        <a:off x="557364" y="26057"/>
        <a:ext cx="2465492" cy="467268"/>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0943A3E-55B9-4706-BA6E-9364B5247742}" type="datetimeFigureOut">
              <a:rPr lang="es-CO" smtClean="0"/>
              <a:t>10/08/2026</a:t>
            </a:fld>
            <a:endParaRPr lang="es-CO"/>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C08B099-0CC4-41E8-A6BF-D10E445BFF74}" type="slidenum">
              <a:rPr lang="es-CO" smtClean="0"/>
              <a:t>‹Nº›</a:t>
            </a:fld>
            <a:endParaRPr lang="es-CO"/>
          </a:p>
        </p:txBody>
      </p:sp>
    </p:spTree>
    <p:extLst>
      <p:ext uri="{BB962C8B-B14F-4D97-AF65-F5344CB8AC3E}">
        <p14:creationId xmlns:p14="http://schemas.microsoft.com/office/powerpoint/2010/main" val="1715684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O" dirty="0"/>
          </a:p>
        </p:txBody>
      </p:sp>
      <p:sp>
        <p:nvSpPr>
          <p:cNvPr id="4" name="3 Marcador de número de diapositiva"/>
          <p:cNvSpPr>
            <a:spLocks noGrp="1"/>
          </p:cNvSpPr>
          <p:nvPr>
            <p:ph type="sldNum" sz="quarter" idx="10"/>
          </p:nvPr>
        </p:nvSpPr>
        <p:spPr/>
        <p:txBody>
          <a:bodyPr/>
          <a:lstStyle/>
          <a:p>
            <a:fld id="{4C08B099-0CC4-41E8-A6BF-D10E445BFF74}" type="slidenum">
              <a:rPr lang="es-CO" smtClean="0"/>
              <a:t>23</a:t>
            </a:fld>
            <a:endParaRPr lang="es-CO"/>
          </a:p>
        </p:txBody>
      </p:sp>
    </p:spTree>
    <p:extLst>
      <p:ext uri="{BB962C8B-B14F-4D97-AF65-F5344CB8AC3E}">
        <p14:creationId xmlns:p14="http://schemas.microsoft.com/office/powerpoint/2010/main" val="4720391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O" dirty="0"/>
          </a:p>
        </p:txBody>
      </p:sp>
      <p:sp>
        <p:nvSpPr>
          <p:cNvPr id="4" name="3 Marcador de número de diapositiva"/>
          <p:cNvSpPr>
            <a:spLocks noGrp="1"/>
          </p:cNvSpPr>
          <p:nvPr>
            <p:ph type="sldNum" sz="quarter" idx="10"/>
          </p:nvPr>
        </p:nvSpPr>
        <p:spPr/>
        <p:txBody>
          <a:bodyPr/>
          <a:lstStyle/>
          <a:p>
            <a:fld id="{4C08B099-0CC4-41E8-A6BF-D10E445BFF74}" type="slidenum">
              <a:rPr lang="es-CO" smtClean="0"/>
              <a:t>24</a:t>
            </a:fld>
            <a:endParaRPr lang="es-CO"/>
          </a:p>
        </p:txBody>
      </p:sp>
    </p:spTree>
    <p:extLst>
      <p:ext uri="{BB962C8B-B14F-4D97-AF65-F5344CB8AC3E}">
        <p14:creationId xmlns:p14="http://schemas.microsoft.com/office/powerpoint/2010/main" val="472039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O" dirty="0"/>
          </a:p>
        </p:txBody>
      </p:sp>
      <p:sp>
        <p:nvSpPr>
          <p:cNvPr id="4" name="3 Marcador de número de diapositiva"/>
          <p:cNvSpPr>
            <a:spLocks noGrp="1"/>
          </p:cNvSpPr>
          <p:nvPr>
            <p:ph type="sldNum" sz="quarter" idx="10"/>
          </p:nvPr>
        </p:nvSpPr>
        <p:spPr/>
        <p:txBody>
          <a:bodyPr/>
          <a:lstStyle/>
          <a:p>
            <a:fld id="{4C08B099-0CC4-41E8-A6BF-D10E445BFF74}" type="slidenum">
              <a:rPr lang="es-CO" smtClean="0"/>
              <a:t>25</a:t>
            </a:fld>
            <a:endParaRPr lang="es-CO"/>
          </a:p>
        </p:txBody>
      </p:sp>
    </p:spTree>
    <p:extLst>
      <p:ext uri="{BB962C8B-B14F-4D97-AF65-F5344CB8AC3E}">
        <p14:creationId xmlns:p14="http://schemas.microsoft.com/office/powerpoint/2010/main" val="4720391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CO" dirty="0"/>
          </a:p>
        </p:txBody>
      </p:sp>
      <p:sp>
        <p:nvSpPr>
          <p:cNvPr id="4" name="3 Marcador de número de diapositiva"/>
          <p:cNvSpPr>
            <a:spLocks noGrp="1"/>
          </p:cNvSpPr>
          <p:nvPr>
            <p:ph type="sldNum" sz="quarter" idx="10"/>
          </p:nvPr>
        </p:nvSpPr>
        <p:spPr/>
        <p:txBody>
          <a:bodyPr/>
          <a:lstStyle/>
          <a:p>
            <a:fld id="{4C08B099-0CC4-41E8-A6BF-D10E445BFF74}" type="slidenum">
              <a:rPr lang="es-CO" smtClean="0"/>
              <a:t>26</a:t>
            </a:fld>
            <a:endParaRPr lang="es-CO"/>
          </a:p>
        </p:txBody>
      </p:sp>
    </p:spTree>
    <p:extLst>
      <p:ext uri="{BB962C8B-B14F-4D97-AF65-F5344CB8AC3E}">
        <p14:creationId xmlns:p14="http://schemas.microsoft.com/office/powerpoint/2010/main" val="4720391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4C08B099-0CC4-41E8-A6BF-D10E445BFF74}" type="slidenum">
              <a:rPr lang="es-CO" smtClean="0"/>
              <a:t>28</a:t>
            </a:fld>
            <a:endParaRPr lang="es-CO"/>
          </a:p>
        </p:txBody>
      </p:sp>
    </p:spTree>
    <p:extLst>
      <p:ext uri="{BB962C8B-B14F-4D97-AF65-F5344CB8AC3E}">
        <p14:creationId xmlns:p14="http://schemas.microsoft.com/office/powerpoint/2010/main" val="40616946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4C08B099-0CC4-41E8-A6BF-D10E445BFF74}" type="slidenum">
              <a:rPr lang="es-CO" smtClean="0"/>
              <a:t>32</a:t>
            </a:fld>
            <a:endParaRPr lang="es-CO"/>
          </a:p>
        </p:txBody>
      </p:sp>
    </p:spTree>
    <p:extLst>
      <p:ext uri="{BB962C8B-B14F-4D97-AF65-F5344CB8AC3E}">
        <p14:creationId xmlns:p14="http://schemas.microsoft.com/office/powerpoint/2010/main" val="20548644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4C08B099-0CC4-41E8-A6BF-D10E445BFF74}" type="slidenum">
              <a:rPr lang="es-CO" smtClean="0"/>
              <a:t>36</a:t>
            </a:fld>
            <a:endParaRPr lang="es-CO"/>
          </a:p>
        </p:txBody>
      </p:sp>
    </p:spTree>
    <p:extLst>
      <p:ext uri="{BB962C8B-B14F-4D97-AF65-F5344CB8AC3E}">
        <p14:creationId xmlns:p14="http://schemas.microsoft.com/office/powerpoint/2010/main" val="509410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78FAE389-1891-4C1C-AE7B-96446A92669F}" type="datetime1">
              <a:rPr lang="es-CO" smtClean="0"/>
              <a:t>10/08/2026</a:t>
            </a:fld>
            <a:endParaRPr lang="es-CO" dirty="0"/>
          </a:p>
        </p:txBody>
      </p:sp>
      <p:sp>
        <p:nvSpPr>
          <p:cNvPr id="5" name="Footer Placeholder 4"/>
          <p:cNvSpPr>
            <a:spLocks noGrp="1"/>
          </p:cNvSpPr>
          <p:nvPr>
            <p:ph type="ftr" sz="quarter" idx="11"/>
          </p:nvPr>
        </p:nvSpPr>
        <p:spPr/>
        <p:txBody>
          <a:bodyPr/>
          <a:lstStyle/>
          <a:p>
            <a:endParaRPr lang="es-CO" dirty="0"/>
          </a:p>
        </p:txBody>
      </p:sp>
      <p:sp>
        <p:nvSpPr>
          <p:cNvPr id="6" name="Slide Number Placeholder 5"/>
          <p:cNvSpPr>
            <a:spLocks noGrp="1"/>
          </p:cNvSpPr>
          <p:nvPr>
            <p:ph type="sldNum" sz="quarter" idx="12"/>
          </p:nvPr>
        </p:nvSpPr>
        <p:spPr/>
        <p:txBody>
          <a:bodyPr/>
          <a:lstStyle/>
          <a:p>
            <a:fld id="{47DF11D6-2A43-477C-ACA3-F1025A79500F}" type="slidenum">
              <a:rPr lang="es-CO" smtClean="0"/>
              <a:pPr/>
              <a:t>‹Nº›</a:t>
            </a:fld>
            <a:endParaRPr lang="es-CO" dirty="0"/>
          </a:p>
        </p:txBody>
      </p:sp>
    </p:spTree>
    <p:extLst>
      <p:ext uri="{BB962C8B-B14F-4D97-AF65-F5344CB8AC3E}">
        <p14:creationId xmlns:p14="http://schemas.microsoft.com/office/powerpoint/2010/main" val="1366208883"/>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C197211-2E02-4E34-9D1C-742DBBA2E713}" type="datetime1">
              <a:rPr lang="es-CO" smtClean="0"/>
              <a:t>10/08/2026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dirty="0"/>
          </a:p>
        </p:txBody>
      </p:sp>
    </p:spTree>
    <p:extLst>
      <p:ext uri="{BB962C8B-B14F-4D97-AF65-F5344CB8AC3E}">
        <p14:creationId xmlns:p14="http://schemas.microsoft.com/office/powerpoint/2010/main" val="3519918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84A16AA-8F92-4F8D-9FF5-AE4F5F025475}" type="datetime1">
              <a:rPr lang="es-CO" smtClean="0"/>
              <a:t>10/08/2026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432149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58A2889A-C4A3-4C6C-A514-E9566A95FF0B}" type="datetime1">
              <a:rPr lang="es-CO" smtClean="0"/>
              <a:t>10/08/2026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031312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29842" y="2505075"/>
            <a:ext cx="3868340"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4629150" y="2505075"/>
            <a:ext cx="3887391"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FC549B8-F78E-4015-8DD3-99AC842EEF5C}" type="datetime1">
              <a:rPr lang="es-CO" smtClean="0"/>
              <a:t>10/08/2026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473852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8FAE389-1891-4C1C-AE7B-96446A92669F}" type="datetime1">
              <a:rPr lang="es-CO" smtClean="0"/>
              <a:t>10/08/2026</a:t>
            </a:fld>
            <a:endParaRPr lang="es-CO" dirty="0"/>
          </a:p>
        </p:txBody>
      </p:sp>
      <p:sp>
        <p:nvSpPr>
          <p:cNvPr id="4" name="Footer Placeholder 3"/>
          <p:cNvSpPr>
            <a:spLocks noGrp="1"/>
          </p:cNvSpPr>
          <p:nvPr>
            <p:ph type="ftr" sz="quarter" idx="11"/>
          </p:nvPr>
        </p:nvSpPr>
        <p:spPr/>
        <p:txBody>
          <a:bodyPr/>
          <a:lstStyle/>
          <a:p>
            <a:endParaRPr lang="es-CO" dirty="0"/>
          </a:p>
        </p:txBody>
      </p:sp>
      <p:sp>
        <p:nvSpPr>
          <p:cNvPr id="5" name="Slide Number Placeholder 4"/>
          <p:cNvSpPr>
            <a:spLocks noGrp="1"/>
          </p:cNvSpPr>
          <p:nvPr>
            <p:ph type="sldNum" sz="quarter" idx="12"/>
          </p:nvPr>
        </p:nvSpPr>
        <p:spPr/>
        <p:txBody>
          <a:bodyPr/>
          <a:lstStyle/>
          <a:p>
            <a:fld id="{47DF11D6-2A43-477C-ACA3-F1025A79500F}" type="slidenum">
              <a:rPr lang="es-CO" smtClean="0"/>
              <a:pPr/>
              <a:t>‹Nº›</a:t>
            </a:fld>
            <a:endParaRPr lang="es-CO" dirty="0"/>
          </a:p>
        </p:txBody>
      </p:sp>
    </p:spTree>
    <p:extLst>
      <p:ext uri="{BB962C8B-B14F-4D97-AF65-F5344CB8AC3E}">
        <p14:creationId xmlns:p14="http://schemas.microsoft.com/office/powerpoint/2010/main" val="208510513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375FDE-4F9B-4FF4-9D4F-6D3ED15F62CE}" type="datetime1">
              <a:rPr lang="es-CO" smtClean="0"/>
              <a:t>10/08/2026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726837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AF392FA-6414-43D4-857F-1D16849F2AFB}" type="datetime1">
              <a:rPr lang="es-CO" smtClean="0"/>
              <a:t>10/08/2026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3088452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2F1ADB1-43E6-4CC5-8BA6-A3F5A7E6EF55}" type="datetime1">
              <a:rPr lang="es-CO" smtClean="0"/>
              <a:t>10/08/2026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1530639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69921E5-6957-4C84-BD80-156D13F58C59}" type="datetime1">
              <a:rPr lang="es-CO" smtClean="0"/>
              <a:t>10/08/2026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771218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7BB61D7-E979-4A0B-B106-A9203ABD6AA5}" type="datetime1">
              <a:rPr lang="es-CO" smtClean="0"/>
              <a:t>10/08/2026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47DF11D6-2A43-477C-ACA3-F1025A79500F}" type="slidenum">
              <a:rPr lang="es-CO" smtClean="0"/>
              <a:t>‹Nº›</a:t>
            </a:fld>
            <a:endParaRPr lang="es-CO"/>
          </a:p>
        </p:txBody>
      </p:sp>
    </p:spTree>
    <p:extLst>
      <p:ext uri="{BB962C8B-B14F-4D97-AF65-F5344CB8AC3E}">
        <p14:creationId xmlns:p14="http://schemas.microsoft.com/office/powerpoint/2010/main" val="2222539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dirty="0"/>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BC197211-2E02-4E34-9D1C-742DBBA2E713}" type="datetime1">
              <a:rPr lang="es-CO" smtClean="0"/>
              <a:t>10/08/2026</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47DF11D6-2A43-477C-ACA3-F1025A79500F}" type="slidenum">
              <a:rPr lang="es-CO" smtClean="0"/>
              <a:t>‹Nº›</a:t>
            </a:fld>
            <a:endParaRPr lang="es-CO" dirty="0"/>
          </a:p>
        </p:txBody>
      </p:sp>
    </p:spTree>
    <p:extLst>
      <p:ext uri="{BB962C8B-B14F-4D97-AF65-F5344CB8AC3E}">
        <p14:creationId xmlns:p14="http://schemas.microsoft.com/office/powerpoint/2010/main" val="3864103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FAE389-1891-4C1C-AE7B-96446A92669F}" type="datetime1">
              <a:rPr lang="es-CO" smtClean="0"/>
              <a:t>10/08/2026</a:t>
            </a:fld>
            <a:endParaRPr lang="es-CO"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DF11D6-2A43-477C-ACA3-F1025A79500F}" type="slidenum">
              <a:rPr lang="es-CO" smtClean="0"/>
              <a:pPr/>
              <a:t>‹Nº›</a:t>
            </a:fld>
            <a:endParaRPr lang="es-CO" dirty="0"/>
          </a:p>
        </p:txBody>
      </p:sp>
    </p:spTree>
    <p:extLst>
      <p:ext uri="{BB962C8B-B14F-4D97-AF65-F5344CB8AC3E}">
        <p14:creationId xmlns:p14="http://schemas.microsoft.com/office/powerpoint/2010/main" val="4143474534"/>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65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watch?v=9Fh_zeukGYI" TargetMode="External"/><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hyperlink" Target="https://es.wikipedia.org/wiki/George_P%C3%B3lya" TargetMode="Externa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studio.code.org/hoc/5"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s://studio.code.org/hoc/5" TargetMode="Externa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3.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hyperlink" Target="https://pythontutor.com/visualize.html#code=x%20%3D%203%0Ay%20%3D%206%0Ay%20%3D%20y%20%2B%202*x%20%0Ax%20%3D%20x%20%2B%201%0Az%20%3D%20x%20-%202*%28y%20-%201%29%0AZ%20%3D%20-z&amp;cumulative=false&amp;curInstr=0&amp;heapPrimitives=nevernest&amp;mode=display&amp;origin=opt-frontend.js&amp;py=3&amp;rawInputLstJSON=%5B%5D&amp;textReferences=fals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charset.org/utf-8" TargetMode="External"/><Relationship Id="rId2" Type="http://schemas.openxmlformats.org/officeDocument/2006/relationships/hyperlink" Target="https://www.asciitable.co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peps.python.org/pep-0008/#naming-conventions"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1.jpe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3.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Layout" Target="../diagrams/layout4.xml"/><Relationship Id="rId7" Type="http://schemas.openxmlformats.org/officeDocument/2006/relationships/image" Target="../media/image22.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0.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3.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3.png"/><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3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3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5.jpeg"/><Relationship Id="rId7" Type="http://schemas.openxmlformats.org/officeDocument/2006/relationships/image" Target="../media/image29.png"/><Relationship Id="rId2" Type="http://schemas.openxmlformats.org/officeDocument/2006/relationships/image" Target="../media/image24.gif"/><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47.xml.rels><?xml version="1.0" encoding="UTF-8" standalone="yes"?>
<Relationships xmlns="http://schemas.openxmlformats.org/package/2006/relationships"><Relationship Id="rId3" Type="http://schemas.openxmlformats.org/officeDocument/2006/relationships/hyperlink" Target="https://pythontutor.com/visualize.html#code=PI%20%3D%203.14%0Aradio%20%3D%20float%28input%28%22Digite%20el%20radio%3A%20%22%29%29%0Aarea%20%3D%20PI%20*%20%28radio**2%29%0Aprint%28%22El%20area%20del%20circulo%20es%3A%22,%20r%29&amp;cumulative=false&amp;curInstr=0&amp;heapPrimitives=nevernest&amp;mode=display&amp;origin=opt-frontend.js&amp;py=3&amp;rawInputLstJSON=%5B%5D&amp;textReferences=false" TargetMode="External"/><Relationship Id="rId2" Type="http://schemas.openxmlformats.org/officeDocument/2006/relationships/hyperlink" Target="https://pythontutor.com/visualize.html#code=%23%20Inicializacion%0API%20%3D%203.14%0A%23%20Entrada%20de%20datos%0Aradio%20%3D%20float%28input%28%22Digite%20el%20radio%3A%20%22%29%29%0A%23%20Calculo%20del%20area%0Aarea%20%3D%20PI%20*%20%28radio**2%29%0A%23%20Despliegue%20del%20area%0Aprint%28%22El%20%C3%A1rea%20del%20circulo%20es%3A%22,%20area%29%0A&amp;curInstr=0&amp;mode=display&amp;origin=opt-frontend.js&amp;py=3" TargetMode="Externa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pythontutor.com/visualize.html#code=import%20java.util.Scanner%3B%0A%0Apublic%20class%20MainClass%20%7B%0A%20%20public%20static%20void%20main%28String%5B%5D%20args%29%20%7B%0A%20%20%20%20//%20Declaraciones%0A%20%20%20%20Scanner%20keyboard%20%3D%20new%20Scanner%28System.in%29%3B%0A%20%20%20%20final%20double%20PI%20%3D%203.14%3B%0A%20%20%20%20double%20radio,%20area%3B%0A%20%20%20%20//%20Entrada%20de%20datos%0A%20%20%20%20System.out.print%28%22Digite%20el%20radio%3A%20%22%29%3B%0A%20%20%20%20radio%20%3D%20keyboard.nextDouble%28%29%3B%0A%20%20%20%20//%20Calculo%20del%20area%0A%20%20%20%20area%20%3D%20Math.PI%20*%20Math.pow%28radio,%202%29%3B%0A%20%20%20%20//%20Despliegue%20del%20area%0A%20%20%20%20System.out.println%28%22El%20%C3%A1rea%20del%20c%C3%ADrculo%20es%3A%20%22%20%2B%20%20area%29%3B%20%20%20%20%0A%20%20%20%20keyboard.close%28%29%3B%20%20%20%20%0A%20%20%7D%0A%7D&amp;curInstr=0&amp;mode=display&amp;origin=opt-frontend.js&amp;py=java"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hyperlink" Target="https://www.w3resource.com/index.php" TargetMode="External"/><Relationship Id="rId2" Type="http://schemas.openxmlformats.org/officeDocument/2006/relationships/hyperlink" Target="https://ellibrodepython.com/" TargetMode="External"/><Relationship Id="rId1" Type="http://schemas.openxmlformats.org/officeDocument/2006/relationships/slideLayout" Target="../slideLayouts/slideLayout2.xml"/><Relationship Id="rId6" Type="http://schemas.openxmlformats.org/officeDocument/2006/relationships/hyperlink" Target="https://inventwithpython.com/" TargetMode="External"/><Relationship Id="rId5" Type="http://schemas.openxmlformats.org/officeDocument/2006/relationships/hyperlink" Target="https://curriculumresources.edu.gh/wp-content/uploads/2025/01/" TargetMode="External"/><Relationship Id="rId4" Type="http://schemas.openxmlformats.org/officeDocument/2006/relationships/hyperlink" Target="https://realpython.com/" TargetMode="External"/></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5909BB-6F92-48BA-A875-99E15D2253EC}"/>
              </a:ext>
            </a:extLst>
          </p:cNvPr>
          <p:cNvSpPr>
            <a:spLocks noGrp="1"/>
          </p:cNvSpPr>
          <p:nvPr>
            <p:ph type="ctrTitle"/>
          </p:nvPr>
        </p:nvSpPr>
        <p:spPr>
          <a:xfrm>
            <a:off x="323528" y="1122363"/>
            <a:ext cx="8568952" cy="2387600"/>
          </a:xfrm>
        </p:spPr>
        <p:txBody>
          <a:bodyPr/>
          <a:lstStyle/>
          <a:p>
            <a:r>
              <a:rPr lang="es-CO" dirty="0"/>
              <a:t>Lógica y Representación 1</a:t>
            </a:r>
          </a:p>
        </p:txBody>
      </p:sp>
      <p:sp>
        <p:nvSpPr>
          <p:cNvPr id="3" name="Subtítulo 2">
            <a:extLst>
              <a:ext uri="{FF2B5EF4-FFF2-40B4-BE49-F238E27FC236}">
                <a16:creationId xmlns:a16="http://schemas.microsoft.com/office/drawing/2014/main" id="{8A9999BC-7CCA-4677-B2C4-E913A7AA1FC0}"/>
              </a:ext>
            </a:extLst>
          </p:cNvPr>
          <p:cNvSpPr>
            <a:spLocks noGrp="1"/>
          </p:cNvSpPr>
          <p:nvPr>
            <p:ph type="subTitle" idx="1"/>
          </p:nvPr>
        </p:nvSpPr>
        <p:spPr/>
        <p:txBody>
          <a:bodyPr>
            <a:normAutofit/>
          </a:bodyPr>
          <a:lstStyle/>
          <a:p>
            <a:r>
              <a:rPr lang="es-CO" sz="3200" b="1" dirty="0"/>
              <a:t>Algoritmos y diagramas de flujo</a:t>
            </a:r>
          </a:p>
          <a:p>
            <a:r>
              <a:rPr lang="es-CO" dirty="0"/>
              <a:t>Ingeniería de Sistemas</a:t>
            </a:r>
          </a:p>
          <a:p>
            <a:r>
              <a:rPr lang="es-CO" dirty="0"/>
              <a:t>Universidad de Antioquia</a:t>
            </a:r>
          </a:p>
        </p:txBody>
      </p:sp>
    </p:spTree>
    <p:extLst>
      <p:ext uri="{BB962C8B-B14F-4D97-AF65-F5344CB8AC3E}">
        <p14:creationId xmlns:p14="http://schemas.microsoft.com/office/powerpoint/2010/main" val="774097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23528" y="258806"/>
            <a:ext cx="7886700" cy="1116540"/>
          </a:xfrm>
        </p:spPr>
        <p:txBody>
          <a:bodyPr/>
          <a:lstStyle/>
          <a:p>
            <a:r>
              <a:rPr lang="en-US" sz="3200" dirty="0"/>
              <a:t>Resolución de problemas</a:t>
            </a:r>
          </a:p>
        </p:txBody>
      </p:sp>
      <p:sp>
        <p:nvSpPr>
          <p:cNvPr id="2" name="Content Placeholder 1"/>
          <p:cNvSpPr>
            <a:spLocks noGrp="1"/>
          </p:cNvSpPr>
          <p:nvPr>
            <p:ph idx="1"/>
          </p:nvPr>
        </p:nvSpPr>
        <p:spPr>
          <a:xfrm>
            <a:off x="395535" y="1185224"/>
            <a:ext cx="8352928" cy="1116540"/>
          </a:xfrm>
        </p:spPr>
        <p:txBody>
          <a:bodyPr>
            <a:normAutofit/>
          </a:bodyPr>
          <a:lstStyle/>
          <a:p>
            <a:pPr marL="0" indent="0" algn="just">
              <a:buNone/>
            </a:pPr>
            <a:r>
              <a:rPr lang="es-CO" sz="2400" dirty="0"/>
              <a:t>A partir del planteamiento de un problema, es conveniente usar una </a:t>
            </a:r>
            <a:r>
              <a:rPr lang="es-CO" sz="2400" b="1" dirty="0">
                <a:solidFill>
                  <a:srgbClr val="FF0000"/>
                </a:solidFill>
              </a:rPr>
              <a:t>metodología</a:t>
            </a:r>
            <a:r>
              <a:rPr lang="es-CO" sz="2400" dirty="0"/>
              <a:t> para la resolución del problema, que tendrá como objetivo final el algoritmo que dará una solución.</a:t>
            </a:r>
            <a:endParaRPr lang="en-US" sz="2400" dirty="0"/>
          </a:p>
        </p:txBody>
      </p:sp>
      <p:pic>
        <p:nvPicPr>
          <p:cNvPr id="3074" name="Picture 2" descr="http://41.media.tumblr.com/tumblr_lyvkkbUxQq1qljjlmo1_128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0940" y="2709336"/>
            <a:ext cx="4128459" cy="3096344"/>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22D980E7-E18F-4ECF-B2D4-040D025323B7}"/>
              </a:ext>
            </a:extLst>
          </p:cNvPr>
          <p:cNvSpPr txBox="1"/>
          <p:nvPr/>
        </p:nvSpPr>
        <p:spPr>
          <a:xfrm>
            <a:off x="828891" y="6381328"/>
            <a:ext cx="3097869" cy="276999"/>
          </a:xfrm>
          <a:prstGeom prst="rect">
            <a:avLst/>
          </a:prstGeom>
          <a:noFill/>
        </p:spPr>
        <p:txBody>
          <a:bodyPr wrap="square">
            <a:spAutoFit/>
          </a:bodyPr>
          <a:lstStyle/>
          <a:p>
            <a:r>
              <a:rPr lang="es-CO" sz="1200" b="1" i="0" dirty="0">
                <a:solidFill>
                  <a:srgbClr val="0F0F0F"/>
                </a:solidFill>
                <a:effectLst/>
              </a:rPr>
              <a:t>Homero + cerveza = Presidente</a:t>
            </a:r>
            <a:r>
              <a:rPr lang="en-US" sz="1200" dirty="0">
                <a:cs typeface="Courier New" panose="02070309020205020404" pitchFamily="49" charset="0"/>
              </a:rPr>
              <a:t> (</a:t>
            </a:r>
            <a:r>
              <a:rPr lang="en-US" sz="1200" dirty="0">
                <a:cs typeface="Courier New" panose="02070309020205020404" pitchFamily="49" charset="0"/>
                <a:hlinkClick r:id="rId3"/>
              </a:rPr>
              <a:t>link</a:t>
            </a:r>
            <a:r>
              <a:rPr lang="en-US" sz="1200" dirty="0">
                <a:cs typeface="Courier New" panose="02070309020205020404" pitchFamily="49" charset="0"/>
              </a:rPr>
              <a:t>)</a:t>
            </a:r>
          </a:p>
        </p:txBody>
      </p:sp>
      <p:pic>
        <p:nvPicPr>
          <p:cNvPr id="7" name="Picture 8">
            <a:extLst>
              <a:ext uri="{FF2B5EF4-FFF2-40B4-BE49-F238E27FC236}">
                <a16:creationId xmlns:a16="http://schemas.microsoft.com/office/drawing/2014/main" id="{B179EE13-DDB7-496C-8A10-1775FFDFBD8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6471" y="6326378"/>
            <a:ext cx="582420" cy="4031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3632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79263" y="229104"/>
            <a:ext cx="8263830" cy="1116540"/>
          </a:xfrm>
        </p:spPr>
        <p:txBody>
          <a:bodyPr/>
          <a:lstStyle/>
          <a:p>
            <a:r>
              <a:rPr lang="es-CO" sz="3200" dirty="0"/>
              <a:t>Método de Polya</a:t>
            </a:r>
            <a:endParaRPr lang="en-US" sz="3200" dirty="0"/>
          </a:p>
        </p:txBody>
      </p:sp>
      <p:sp>
        <p:nvSpPr>
          <p:cNvPr id="2" name="Content Placeholder 1"/>
          <p:cNvSpPr>
            <a:spLocks noGrp="1"/>
          </p:cNvSpPr>
          <p:nvPr>
            <p:ph idx="1"/>
          </p:nvPr>
        </p:nvSpPr>
        <p:spPr>
          <a:xfrm>
            <a:off x="267066" y="1205427"/>
            <a:ext cx="8424936" cy="1116540"/>
          </a:xfrm>
        </p:spPr>
        <p:txBody>
          <a:bodyPr>
            <a:normAutofit/>
          </a:bodyPr>
          <a:lstStyle/>
          <a:p>
            <a:pPr marL="0" indent="0">
              <a:buNone/>
            </a:pPr>
            <a:r>
              <a:rPr lang="es-CO" sz="2400" dirty="0">
                <a:hlinkClick r:id="rId2"/>
              </a:rPr>
              <a:t>George Polya</a:t>
            </a:r>
            <a:r>
              <a:rPr lang="es-CO" sz="2400" dirty="0"/>
              <a:t>, Matemático húngaro, autor del libro </a:t>
            </a:r>
            <a:r>
              <a:rPr lang="es-CO" sz="2400" b="1" i="1" dirty="0"/>
              <a:t>How to solve it</a:t>
            </a:r>
            <a:r>
              <a:rPr lang="es-CO" sz="2400" b="1" dirty="0"/>
              <a:t> </a:t>
            </a:r>
            <a:r>
              <a:rPr lang="es-CO" sz="2400" dirty="0"/>
              <a:t>(1945). En él, Polya propone cuatro pasos generales para la solución de un problema</a:t>
            </a:r>
          </a:p>
        </p:txBody>
      </p:sp>
      <p:graphicFrame>
        <p:nvGraphicFramePr>
          <p:cNvPr id="6" name="13 Diagrama">
            <a:extLst>
              <a:ext uri="{FF2B5EF4-FFF2-40B4-BE49-F238E27FC236}">
                <a16:creationId xmlns:a16="http://schemas.microsoft.com/office/drawing/2014/main" id="{D0B70736-976D-4675-A33E-9F94643ADC43}"/>
              </a:ext>
            </a:extLst>
          </p:cNvPr>
          <p:cNvGraphicFramePr/>
          <p:nvPr>
            <p:extLst>
              <p:ext uri="{D42A27DB-BD31-4B8C-83A1-F6EECF244321}">
                <p14:modId xmlns:p14="http://schemas.microsoft.com/office/powerpoint/2010/main" val="4059730565"/>
              </p:ext>
            </p:extLst>
          </p:nvPr>
        </p:nvGraphicFramePr>
        <p:xfrm>
          <a:off x="3059832" y="2526094"/>
          <a:ext cx="5616624" cy="28882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3">
            <a:extLst>
              <a:ext uri="{FF2B5EF4-FFF2-40B4-BE49-F238E27FC236}">
                <a16:creationId xmlns:a16="http://schemas.microsoft.com/office/drawing/2014/main" id="{9C9BD4AC-3A6A-4FE1-A719-F0D8329520F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7544" y="2915233"/>
            <a:ext cx="2200014" cy="1977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732887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520" y="296259"/>
            <a:ext cx="8263830" cy="1116540"/>
          </a:xfrm>
        </p:spPr>
        <p:txBody>
          <a:bodyPr/>
          <a:lstStyle/>
          <a:p>
            <a:r>
              <a:rPr lang="es-CO" sz="3200" dirty="0"/>
              <a:t>Método de Polya</a:t>
            </a:r>
            <a:endParaRPr lang="en-US" sz="3200" dirty="0"/>
          </a:p>
        </p:txBody>
      </p:sp>
      <p:sp>
        <p:nvSpPr>
          <p:cNvPr id="2" name="Content Placeholder 1"/>
          <p:cNvSpPr>
            <a:spLocks noGrp="1"/>
          </p:cNvSpPr>
          <p:nvPr>
            <p:ph idx="1"/>
          </p:nvPr>
        </p:nvSpPr>
        <p:spPr>
          <a:xfrm>
            <a:off x="262780" y="1424252"/>
            <a:ext cx="8413675" cy="2724828"/>
          </a:xfrm>
        </p:spPr>
        <p:txBody>
          <a:bodyPr>
            <a:normAutofit/>
          </a:bodyPr>
          <a:lstStyle/>
          <a:p>
            <a:pPr marL="457200" indent="-457200">
              <a:buFont typeface="+mj-lt"/>
              <a:buAutoNum type="arabicPeriod"/>
            </a:pPr>
            <a:r>
              <a:rPr lang="es-CO" sz="2400" b="1" dirty="0">
                <a:solidFill>
                  <a:srgbClr val="FF0000"/>
                </a:solidFill>
              </a:rPr>
              <a:t>Entienda el problema</a:t>
            </a:r>
            <a:r>
              <a:rPr lang="es-CO" sz="2400" dirty="0">
                <a:solidFill>
                  <a:srgbClr val="FF0000"/>
                </a:solidFill>
              </a:rPr>
              <a:t>: </a:t>
            </a:r>
            <a:r>
              <a:rPr lang="es-CO" sz="2400" dirty="0"/>
              <a:t>parece obvio pero es con frecuencia un gran obstáculo.</a:t>
            </a:r>
          </a:p>
          <a:p>
            <a:pPr marL="857250" lvl="1" indent="-457200"/>
            <a:r>
              <a:rPr lang="es-CO" sz="2000" dirty="0"/>
              <a:t>¿Entiende todas las palabras de la formulación del problema?</a:t>
            </a:r>
          </a:p>
          <a:p>
            <a:pPr marL="857250" lvl="1" indent="-457200"/>
            <a:r>
              <a:rPr lang="es-CO" sz="2000" dirty="0"/>
              <a:t>¿Qué le están pidiendo que encuentre?</a:t>
            </a:r>
          </a:p>
          <a:p>
            <a:pPr marL="857250" lvl="1" indent="-457200"/>
            <a:r>
              <a:rPr lang="es-CO" sz="2000" dirty="0"/>
              <a:t>¿Puede usted reformular el problema en sus propias palabras?</a:t>
            </a:r>
          </a:p>
          <a:p>
            <a:pPr marL="857250" lvl="1" indent="-457200"/>
            <a:r>
              <a:rPr lang="es-CO" sz="2000" dirty="0"/>
              <a:t>¿Puede hacer un dibujo que represente el problema?</a:t>
            </a:r>
          </a:p>
          <a:p>
            <a:pPr marL="857250" lvl="1" indent="-457200"/>
            <a:r>
              <a:rPr lang="es-CO" sz="2000" dirty="0"/>
              <a:t>¿Hay suficiente información para encontrar la solución?</a:t>
            </a:r>
          </a:p>
          <a:p>
            <a:endParaRPr lang="en-US" sz="2400" dirty="0"/>
          </a:p>
        </p:txBody>
      </p:sp>
      <p:sp>
        <p:nvSpPr>
          <p:cNvPr id="4" name="Slide Number Placeholder 3"/>
          <p:cNvSpPr>
            <a:spLocks noGrp="1"/>
          </p:cNvSpPr>
          <p:nvPr>
            <p:ph type="sldNum" sz="quarter" idx="12"/>
          </p:nvPr>
        </p:nvSpPr>
        <p:spPr/>
        <p:txBody>
          <a:bodyPr/>
          <a:lstStyle/>
          <a:p>
            <a:fld id="{45F1CE28-A3C7-48DC-84A2-8FB08D6123C5}" type="slidenum">
              <a:rPr lang="en-US" smtClean="0"/>
              <a:pPr/>
              <a:t>4</a:t>
            </a:fld>
            <a:endParaRPr lang="en-US" dirty="0"/>
          </a:p>
        </p:txBody>
      </p:sp>
    </p:spTree>
    <p:extLst>
      <p:ext uri="{BB962C8B-B14F-4D97-AF65-F5344CB8AC3E}">
        <p14:creationId xmlns:p14="http://schemas.microsoft.com/office/powerpoint/2010/main" val="1460040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28650" y="365127"/>
            <a:ext cx="7886700" cy="975641"/>
          </a:xfrm>
        </p:spPr>
        <p:txBody>
          <a:bodyPr/>
          <a:lstStyle/>
          <a:p>
            <a:r>
              <a:rPr lang="es-CO" sz="3200" dirty="0"/>
              <a:t>Método de Polya</a:t>
            </a:r>
            <a:endParaRPr lang="en-US" sz="3200" dirty="0"/>
          </a:p>
        </p:txBody>
      </p:sp>
      <p:sp>
        <p:nvSpPr>
          <p:cNvPr id="2" name="Content Placeholder 1"/>
          <p:cNvSpPr>
            <a:spLocks noGrp="1"/>
          </p:cNvSpPr>
          <p:nvPr>
            <p:ph idx="1"/>
          </p:nvPr>
        </p:nvSpPr>
        <p:spPr>
          <a:xfrm>
            <a:off x="598276" y="1412776"/>
            <a:ext cx="7886700" cy="4351338"/>
          </a:xfrm>
        </p:spPr>
        <p:txBody>
          <a:bodyPr>
            <a:normAutofit/>
          </a:bodyPr>
          <a:lstStyle/>
          <a:p>
            <a:pPr marL="457200" indent="-457200">
              <a:buAutoNum type="arabicPeriod" startAt="2"/>
            </a:pPr>
            <a:r>
              <a:rPr lang="es-CO" sz="2400" b="1" dirty="0">
                <a:solidFill>
                  <a:srgbClr val="FF0000"/>
                </a:solidFill>
              </a:rPr>
              <a:t>Diseñe un plan</a:t>
            </a:r>
            <a:r>
              <a:rPr lang="es-CO" sz="2400" dirty="0">
                <a:solidFill>
                  <a:srgbClr val="FF0000"/>
                </a:solidFill>
              </a:rPr>
              <a:t>: </a:t>
            </a:r>
            <a:r>
              <a:rPr lang="es-CO" sz="2400" dirty="0"/>
              <a:t>escoja una estrategia para resolver el problema (divida el problema en problemas más simples, elimine posibilidades, aproveche simetrías, suponga y verifique, etc).</a:t>
            </a:r>
          </a:p>
          <a:p>
            <a:pPr marL="457200" indent="-457200">
              <a:buAutoNum type="arabicPeriod" startAt="2"/>
            </a:pPr>
            <a:r>
              <a:rPr lang="es-CO" sz="2400" b="1" dirty="0">
                <a:solidFill>
                  <a:srgbClr val="FF0000"/>
                </a:solidFill>
              </a:rPr>
              <a:t>Implemente el plan</a:t>
            </a:r>
            <a:r>
              <a:rPr lang="es-CO" sz="2400" dirty="0">
                <a:solidFill>
                  <a:srgbClr val="FF0000"/>
                </a:solidFill>
              </a:rPr>
              <a:t>: </a:t>
            </a:r>
            <a:r>
              <a:rPr lang="es-CO" sz="2400" dirty="0"/>
              <a:t>más fácil que el paso 2, sólo requiere mucho cuidado en los detalles y paciencia.</a:t>
            </a:r>
          </a:p>
          <a:p>
            <a:pPr marL="457200" indent="-457200">
              <a:buAutoNum type="arabicPeriod" startAt="2"/>
            </a:pPr>
            <a:r>
              <a:rPr lang="es-CO" sz="2400" b="1" dirty="0">
                <a:solidFill>
                  <a:srgbClr val="FF0000"/>
                </a:solidFill>
              </a:rPr>
              <a:t>Revise</a:t>
            </a:r>
            <a:r>
              <a:rPr lang="es-CO" sz="2400" dirty="0">
                <a:solidFill>
                  <a:srgbClr val="FF0000"/>
                </a:solidFill>
              </a:rPr>
              <a:t>: </a:t>
            </a:r>
            <a:r>
              <a:rPr lang="es-CO" sz="2400" dirty="0"/>
              <a:t>haga una pausa, revise y reflexione sobre el trabajo hecho. </a:t>
            </a:r>
            <a:endParaRPr lang="en-US" sz="2400" dirty="0"/>
          </a:p>
        </p:txBody>
      </p:sp>
      <p:sp>
        <p:nvSpPr>
          <p:cNvPr id="4" name="Slide Number Placeholder 3"/>
          <p:cNvSpPr>
            <a:spLocks noGrp="1"/>
          </p:cNvSpPr>
          <p:nvPr>
            <p:ph type="sldNum" sz="quarter" idx="12"/>
          </p:nvPr>
        </p:nvSpPr>
        <p:spPr/>
        <p:txBody>
          <a:bodyPr/>
          <a:lstStyle/>
          <a:p>
            <a:fld id="{45F1CE28-A3C7-48DC-84A2-8FB08D6123C5}" type="slidenum">
              <a:rPr lang="en-US" smtClean="0"/>
              <a:pPr/>
              <a:t>5</a:t>
            </a:fld>
            <a:endParaRPr lang="en-US" dirty="0"/>
          </a:p>
        </p:txBody>
      </p:sp>
    </p:spTree>
    <p:extLst>
      <p:ext uri="{BB962C8B-B14F-4D97-AF65-F5344CB8AC3E}">
        <p14:creationId xmlns:p14="http://schemas.microsoft.com/office/powerpoint/2010/main" val="1931083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467543" y="207926"/>
            <a:ext cx="7939037" cy="1325563"/>
          </a:xfrm>
        </p:spPr>
        <p:txBody>
          <a:bodyPr/>
          <a:lstStyle/>
          <a:p>
            <a:r>
              <a:rPr lang="es-CO" sz="3200" dirty="0"/>
              <a:t>Algoritmos</a:t>
            </a:r>
          </a:p>
        </p:txBody>
      </p:sp>
      <p:sp>
        <p:nvSpPr>
          <p:cNvPr id="2" name="1 Marcador de contenido"/>
          <p:cNvSpPr>
            <a:spLocks noGrp="1"/>
          </p:cNvSpPr>
          <p:nvPr>
            <p:ph idx="1"/>
          </p:nvPr>
        </p:nvSpPr>
        <p:spPr>
          <a:xfrm>
            <a:off x="519880" y="1369516"/>
            <a:ext cx="7886700" cy="4351338"/>
          </a:xfrm>
        </p:spPr>
        <p:txBody>
          <a:bodyPr>
            <a:normAutofit/>
          </a:bodyPr>
          <a:lstStyle/>
          <a:p>
            <a:pPr marL="0" indent="0">
              <a:buNone/>
            </a:pPr>
            <a:r>
              <a:rPr lang="es-CO" sz="2400" dirty="0"/>
              <a:t>Recordemos que, un algoritmo es un proceso preciso, computable y finito que paso a paso lleva a la solución de un problema.</a:t>
            </a:r>
          </a:p>
          <a:p>
            <a:pPr marL="0" indent="0">
              <a:buNone/>
            </a:pPr>
            <a:endParaRPr lang="es-CO" sz="2800" dirty="0"/>
          </a:p>
          <a:p>
            <a:pPr marL="0" indent="0">
              <a:buNone/>
            </a:pPr>
            <a:r>
              <a:rPr lang="es-CO" sz="2400" dirty="0"/>
              <a:t>Todo algoritmo debe tener tres partes:</a:t>
            </a:r>
          </a:p>
        </p:txBody>
      </p:sp>
      <p:sp>
        <p:nvSpPr>
          <p:cNvPr id="4" name="3 Marcador de número de diapositiva"/>
          <p:cNvSpPr>
            <a:spLocks noGrp="1"/>
          </p:cNvSpPr>
          <p:nvPr>
            <p:ph type="sldNum" sz="quarter" idx="12"/>
          </p:nvPr>
        </p:nvSpPr>
        <p:spPr/>
        <p:txBody>
          <a:bodyPr/>
          <a:lstStyle/>
          <a:p>
            <a:fld id="{45F1CE28-A3C7-48DC-84A2-8FB08D6123C5}" type="slidenum">
              <a:rPr lang="en-US" smtClean="0"/>
              <a:pPr/>
              <a:t>6</a:t>
            </a:fld>
            <a:endParaRPr lang="en-US" dirty="0"/>
          </a:p>
        </p:txBody>
      </p:sp>
      <p:grpSp>
        <p:nvGrpSpPr>
          <p:cNvPr id="15" name="14 Grupo"/>
          <p:cNvGrpSpPr/>
          <p:nvPr/>
        </p:nvGrpSpPr>
        <p:grpSpPr>
          <a:xfrm>
            <a:off x="1714500" y="4221088"/>
            <a:ext cx="5715000" cy="838200"/>
            <a:chOff x="1676400" y="4495800"/>
            <a:chExt cx="5715000" cy="838200"/>
          </a:xfrm>
        </p:grpSpPr>
        <p:sp>
          <p:nvSpPr>
            <p:cNvPr id="10" name="9 Rectángulo"/>
            <p:cNvSpPr/>
            <p:nvPr/>
          </p:nvSpPr>
          <p:spPr>
            <a:xfrm>
              <a:off x="1676400" y="4648200"/>
              <a:ext cx="1447800" cy="533400"/>
            </a:xfrm>
            <a:prstGeom prst="rect">
              <a:avLst/>
            </a:prstGeom>
            <a:noFill/>
            <a:ln>
              <a:solidFill>
                <a:schemeClr val="tx1">
                  <a:lumMod val="50000"/>
                  <a:lumOff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000" b="1" dirty="0">
                  <a:solidFill>
                    <a:schemeClr val="tx1">
                      <a:lumMod val="50000"/>
                      <a:lumOff val="50000"/>
                    </a:schemeClr>
                  </a:solidFill>
                  <a:latin typeface="Consolas" panose="020B0609020204030204" pitchFamily="49" charset="0"/>
                </a:rPr>
                <a:t>Inputs</a:t>
              </a:r>
              <a:endParaRPr lang="es-CO" b="1" dirty="0">
                <a:solidFill>
                  <a:schemeClr val="tx1">
                    <a:lumMod val="50000"/>
                    <a:lumOff val="50000"/>
                  </a:schemeClr>
                </a:solidFill>
                <a:latin typeface="Consolas" panose="020B0609020204030204" pitchFamily="49" charset="0"/>
              </a:endParaRPr>
            </a:p>
          </p:txBody>
        </p:sp>
        <p:sp>
          <p:nvSpPr>
            <p:cNvPr id="11" name="10 Rectángulo"/>
            <p:cNvSpPr/>
            <p:nvPr/>
          </p:nvSpPr>
          <p:spPr>
            <a:xfrm>
              <a:off x="3810000" y="4495800"/>
              <a:ext cx="1447800" cy="838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400" b="1" dirty="0">
                  <a:latin typeface="Consolas" panose="020B0609020204030204" pitchFamily="49" charset="0"/>
                </a:rPr>
                <a:t>Process</a:t>
              </a:r>
              <a:endParaRPr lang="es-CO" b="1" dirty="0">
                <a:latin typeface="Consolas" panose="020B0609020204030204" pitchFamily="49" charset="0"/>
              </a:endParaRPr>
            </a:p>
          </p:txBody>
        </p:sp>
        <p:sp>
          <p:nvSpPr>
            <p:cNvPr id="12" name="11 Rectángulo"/>
            <p:cNvSpPr/>
            <p:nvPr/>
          </p:nvSpPr>
          <p:spPr>
            <a:xfrm>
              <a:off x="5943600" y="4648200"/>
              <a:ext cx="1447800" cy="533400"/>
            </a:xfrm>
            <a:prstGeom prst="rect">
              <a:avLst/>
            </a:prstGeom>
            <a:noFill/>
            <a:ln>
              <a:solidFill>
                <a:schemeClr val="tx1">
                  <a:lumMod val="50000"/>
                  <a:lumOff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2000" b="1" dirty="0">
                  <a:solidFill>
                    <a:schemeClr val="tx1">
                      <a:lumMod val="50000"/>
                      <a:lumOff val="50000"/>
                    </a:schemeClr>
                  </a:solidFill>
                  <a:latin typeface="Consolas" panose="020B0609020204030204" pitchFamily="49" charset="0"/>
                </a:rPr>
                <a:t>Outputs</a:t>
              </a:r>
              <a:endParaRPr lang="es-CO" sz="1600" b="1" dirty="0">
                <a:solidFill>
                  <a:schemeClr val="tx1">
                    <a:lumMod val="50000"/>
                    <a:lumOff val="50000"/>
                  </a:schemeClr>
                </a:solidFill>
                <a:latin typeface="Consolas" panose="020B0609020204030204" pitchFamily="49" charset="0"/>
              </a:endParaRPr>
            </a:p>
          </p:txBody>
        </p:sp>
        <p:sp>
          <p:nvSpPr>
            <p:cNvPr id="13" name="12 Flecha derecha"/>
            <p:cNvSpPr/>
            <p:nvPr/>
          </p:nvSpPr>
          <p:spPr>
            <a:xfrm>
              <a:off x="3124200" y="4800600"/>
              <a:ext cx="685800" cy="22860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 name="13 Flecha derecha"/>
            <p:cNvSpPr/>
            <p:nvPr/>
          </p:nvSpPr>
          <p:spPr>
            <a:xfrm>
              <a:off x="5257800" y="4800600"/>
              <a:ext cx="685800" cy="22860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Tree>
    <p:extLst>
      <p:ext uri="{BB962C8B-B14F-4D97-AF65-F5344CB8AC3E}">
        <p14:creationId xmlns:p14="http://schemas.microsoft.com/office/powerpoint/2010/main" val="777014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884168-8B30-4157-B760-0F12DF53F27F}"/>
              </a:ext>
            </a:extLst>
          </p:cNvPr>
          <p:cNvSpPr>
            <a:spLocks noGrp="1"/>
          </p:cNvSpPr>
          <p:nvPr>
            <p:ph type="title"/>
          </p:nvPr>
        </p:nvSpPr>
        <p:spPr>
          <a:xfrm>
            <a:off x="259373" y="318493"/>
            <a:ext cx="7886700" cy="837405"/>
          </a:xfrm>
        </p:spPr>
        <p:txBody>
          <a:bodyPr/>
          <a:lstStyle/>
          <a:p>
            <a:r>
              <a:rPr lang="es-MX" sz="3200" dirty="0"/>
              <a:t>Algoritmo</a:t>
            </a:r>
            <a:endParaRPr lang="es-CO" sz="3200" dirty="0"/>
          </a:p>
        </p:txBody>
      </p:sp>
      <p:sp>
        <p:nvSpPr>
          <p:cNvPr id="3" name="Marcador de contenido 2">
            <a:extLst>
              <a:ext uri="{FF2B5EF4-FFF2-40B4-BE49-F238E27FC236}">
                <a16:creationId xmlns:a16="http://schemas.microsoft.com/office/drawing/2014/main" id="{9E41F787-1D8E-47B3-8A6E-3596B5CDAB27}"/>
              </a:ext>
            </a:extLst>
          </p:cNvPr>
          <p:cNvSpPr>
            <a:spLocks noGrp="1"/>
          </p:cNvSpPr>
          <p:nvPr>
            <p:ph idx="1"/>
          </p:nvPr>
        </p:nvSpPr>
        <p:spPr>
          <a:xfrm>
            <a:off x="259373" y="1171922"/>
            <a:ext cx="8625254" cy="1034803"/>
          </a:xfrm>
        </p:spPr>
        <p:txBody>
          <a:bodyPr>
            <a:normAutofit/>
          </a:bodyPr>
          <a:lstStyle/>
          <a:p>
            <a:pPr marL="0" indent="0">
              <a:buNone/>
            </a:pPr>
            <a:r>
              <a:rPr lang="es-MX" sz="2000" dirty="0"/>
              <a:t>Teniendo en cuenta los bloques que se muestran a la derecha, describa el algoritmo que permita que el pájaro pise al marrano</a:t>
            </a:r>
            <a:r>
              <a:rPr lang="es-CO" sz="2000" dirty="0"/>
              <a:t> (</a:t>
            </a:r>
            <a:r>
              <a:rPr lang="es-CO" sz="2000" dirty="0">
                <a:hlinkClick r:id="rId2"/>
              </a:rPr>
              <a:t>link</a:t>
            </a:r>
            <a:r>
              <a:rPr lang="es-CO" sz="2000" dirty="0"/>
              <a:t>).</a:t>
            </a:r>
          </a:p>
        </p:txBody>
      </p:sp>
      <p:pic>
        <p:nvPicPr>
          <p:cNvPr id="6" name="Picture 2">
            <a:extLst>
              <a:ext uri="{FF2B5EF4-FFF2-40B4-BE49-F238E27FC236}">
                <a16:creationId xmlns:a16="http://schemas.microsoft.com/office/drawing/2014/main" id="{2EBC7A31-84A4-4FC6-9279-3A7234C183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0006" y="3191862"/>
            <a:ext cx="2957517" cy="29289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3">
            <a:extLst>
              <a:ext uri="{FF2B5EF4-FFF2-40B4-BE49-F238E27FC236}">
                <a16:creationId xmlns:a16="http://schemas.microsoft.com/office/drawing/2014/main" id="{10309157-31A0-4D17-B34C-62EC334A87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48064" y="3191862"/>
            <a:ext cx="2343155" cy="29289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53709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884168-8B30-4157-B760-0F12DF53F27F}"/>
              </a:ext>
            </a:extLst>
          </p:cNvPr>
          <p:cNvSpPr>
            <a:spLocks noGrp="1"/>
          </p:cNvSpPr>
          <p:nvPr>
            <p:ph type="title"/>
          </p:nvPr>
        </p:nvSpPr>
        <p:spPr>
          <a:xfrm>
            <a:off x="259373" y="311362"/>
            <a:ext cx="7886700" cy="837405"/>
          </a:xfrm>
        </p:spPr>
        <p:txBody>
          <a:bodyPr/>
          <a:lstStyle/>
          <a:p>
            <a:r>
              <a:rPr lang="es-MX" sz="3200" dirty="0"/>
              <a:t>Algoritmo - Solución</a:t>
            </a:r>
            <a:endParaRPr lang="es-CO" sz="3200" dirty="0"/>
          </a:p>
        </p:txBody>
      </p:sp>
      <p:sp>
        <p:nvSpPr>
          <p:cNvPr id="3" name="Marcador de contenido 2">
            <a:extLst>
              <a:ext uri="{FF2B5EF4-FFF2-40B4-BE49-F238E27FC236}">
                <a16:creationId xmlns:a16="http://schemas.microsoft.com/office/drawing/2014/main" id="{9E41F787-1D8E-47B3-8A6E-3596B5CDAB27}"/>
              </a:ext>
            </a:extLst>
          </p:cNvPr>
          <p:cNvSpPr>
            <a:spLocks noGrp="1"/>
          </p:cNvSpPr>
          <p:nvPr>
            <p:ph idx="1"/>
          </p:nvPr>
        </p:nvSpPr>
        <p:spPr>
          <a:xfrm>
            <a:off x="259373" y="1161249"/>
            <a:ext cx="8625254" cy="899599"/>
          </a:xfrm>
        </p:spPr>
        <p:txBody>
          <a:bodyPr>
            <a:noAutofit/>
          </a:bodyPr>
          <a:lstStyle/>
          <a:p>
            <a:pPr marL="0" indent="0">
              <a:buNone/>
            </a:pPr>
            <a:r>
              <a:rPr lang="es-MX" sz="2000" dirty="0"/>
              <a:t>Teniendo en cuenta los bloques que se muestran a la derecha, describa el algoritmo que permita que el pájaro pise al marrano</a:t>
            </a:r>
            <a:r>
              <a:rPr lang="es-CO" sz="2000" dirty="0"/>
              <a:t> (</a:t>
            </a:r>
            <a:r>
              <a:rPr lang="es-CO" sz="2000" dirty="0">
                <a:hlinkClick r:id="rId2"/>
              </a:rPr>
              <a:t>link</a:t>
            </a:r>
            <a:r>
              <a:rPr lang="es-CO" sz="2000" dirty="0"/>
              <a:t>)</a:t>
            </a:r>
          </a:p>
        </p:txBody>
      </p:sp>
      <p:pic>
        <p:nvPicPr>
          <p:cNvPr id="8" name="Picture 2">
            <a:extLst>
              <a:ext uri="{FF2B5EF4-FFF2-40B4-BE49-F238E27FC236}">
                <a16:creationId xmlns:a16="http://schemas.microsoft.com/office/drawing/2014/main" id="{29C175E8-75AC-4C87-A0B2-AB6B9428E0A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3810" y="2178509"/>
            <a:ext cx="2461917" cy="24381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3">
            <a:extLst>
              <a:ext uri="{FF2B5EF4-FFF2-40B4-BE49-F238E27FC236}">
                <a16:creationId xmlns:a16="http://schemas.microsoft.com/office/drawing/2014/main" id="{B65DA1C1-B748-4BDF-88F2-B8D29788F54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15601" y="5257120"/>
            <a:ext cx="914640" cy="1143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2">
            <a:extLst>
              <a:ext uri="{FF2B5EF4-FFF2-40B4-BE49-F238E27FC236}">
                <a16:creationId xmlns:a16="http://schemas.microsoft.com/office/drawing/2014/main" id="{16146172-59F9-402A-8611-45680D61A28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53451" y="2185320"/>
            <a:ext cx="2392622" cy="24044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3">
            <a:extLst>
              <a:ext uri="{FF2B5EF4-FFF2-40B4-BE49-F238E27FC236}">
                <a16:creationId xmlns:a16="http://schemas.microsoft.com/office/drawing/2014/main" id="{29817819-35AE-4E51-ACB8-1FB113A5CD3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3584" y="3884477"/>
            <a:ext cx="1956226" cy="17979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1 Flecha derecha">
            <a:extLst>
              <a:ext uri="{FF2B5EF4-FFF2-40B4-BE49-F238E27FC236}">
                <a16:creationId xmlns:a16="http://schemas.microsoft.com/office/drawing/2014/main" id="{83C0E60A-3B79-4C85-BBD1-B4DA86E66578}"/>
              </a:ext>
            </a:extLst>
          </p:cNvPr>
          <p:cNvSpPr/>
          <p:nvPr/>
        </p:nvSpPr>
        <p:spPr>
          <a:xfrm>
            <a:off x="3274483" y="3001899"/>
            <a:ext cx="2184006" cy="501402"/>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350"/>
          </a:p>
        </p:txBody>
      </p:sp>
      <p:cxnSp>
        <p:nvCxnSpPr>
          <p:cNvPr id="13" name="5 Conector recto de flecha">
            <a:extLst>
              <a:ext uri="{FF2B5EF4-FFF2-40B4-BE49-F238E27FC236}">
                <a16:creationId xmlns:a16="http://schemas.microsoft.com/office/drawing/2014/main" id="{7956F167-BFCB-4C08-A6E2-76B1CFFFAC58}"/>
              </a:ext>
            </a:extLst>
          </p:cNvPr>
          <p:cNvCxnSpPr>
            <a:cxnSpLocks/>
          </p:cNvCxnSpPr>
          <p:nvPr/>
        </p:nvCxnSpPr>
        <p:spPr>
          <a:xfrm flipV="1">
            <a:off x="1127487" y="5633214"/>
            <a:ext cx="488132" cy="249062"/>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10 Rectángulo">
            <a:extLst>
              <a:ext uri="{FF2B5EF4-FFF2-40B4-BE49-F238E27FC236}">
                <a16:creationId xmlns:a16="http://schemas.microsoft.com/office/drawing/2014/main" id="{1EDC5ED6-15F5-4C1A-AEC1-97A68819864A}"/>
              </a:ext>
            </a:extLst>
          </p:cNvPr>
          <p:cNvSpPr/>
          <p:nvPr/>
        </p:nvSpPr>
        <p:spPr>
          <a:xfrm>
            <a:off x="753618" y="5888547"/>
            <a:ext cx="768159" cy="276999"/>
          </a:xfrm>
          <a:prstGeom prst="rect">
            <a:avLst/>
          </a:prstGeom>
        </p:spPr>
        <p:txBody>
          <a:bodyPr wrap="none">
            <a:spAutoFit/>
          </a:bodyPr>
          <a:lstStyle/>
          <a:p>
            <a:r>
              <a:rPr lang="es-CO" sz="1200" b="1" dirty="0">
                <a:solidFill>
                  <a:srgbClr val="FF0000"/>
                </a:solidFill>
                <a:latin typeface="Century Gothic" panose="020B0502020202020204" pitchFamily="34" charset="0"/>
              </a:rPr>
              <a:t>Bloques</a:t>
            </a:r>
            <a:endParaRPr lang="es-CO" sz="1350" b="1" dirty="0">
              <a:solidFill>
                <a:srgbClr val="FF0000"/>
              </a:solidFill>
              <a:latin typeface="Century Gothic" panose="020B0502020202020204" pitchFamily="34" charset="0"/>
            </a:endParaRPr>
          </a:p>
        </p:txBody>
      </p:sp>
      <p:cxnSp>
        <p:nvCxnSpPr>
          <p:cNvPr id="15" name="11 Conector recto de flecha">
            <a:extLst>
              <a:ext uri="{FF2B5EF4-FFF2-40B4-BE49-F238E27FC236}">
                <a16:creationId xmlns:a16="http://schemas.microsoft.com/office/drawing/2014/main" id="{FC3EA0FB-C9AC-448D-95D6-1E615755A510}"/>
              </a:ext>
            </a:extLst>
          </p:cNvPr>
          <p:cNvCxnSpPr/>
          <p:nvPr/>
        </p:nvCxnSpPr>
        <p:spPr>
          <a:xfrm flipH="1" flipV="1">
            <a:off x="5049298" y="5324826"/>
            <a:ext cx="501024" cy="308388"/>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12 Rectángulo">
            <a:extLst>
              <a:ext uri="{FF2B5EF4-FFF2-40B4-BE49-F238E27FC236}">
                <a16:creationId xmlns:a16="http://schemas.microsoft.com/office/drawing/2014/main" id="{B16CC67C-790E-4C2D-A13A-E89A67F4BBBC}"/>
              </a:ext>
            </a:extLst>
          </p:cNvPr>
          <p:cNvSpPr/>
          <p:nvPr/>
        </p:nvSpPr>
        <p:spPr>
          <a:xfrm>
            <a:off x="5722181" y="5633215"/>
            <a:ext cx="1458162" cy="461665"/>
          </a:xfrm>
          <a:prstGeom prst="rect">
            <a:avLst/>
          </a:prstGeom>
        </p:spPr>
        <p:txBody>
          <a:bodyPr wrap="square">
            <a:spAutoFit/>
          </a:bodyPr>
          <a:lstStyle/>
          <a:p>
            <a:r>
              <a:rPr lang="es-CO" sz="1200" b="1" dirty="0">
                <a:solidFill>
                  <a:srgbClr val="FF0000"/>
                </a:solidFill>
                <a:latin typeface="Century Gothic" panose="020B0502020202020204" pitchFamily="34" charset="0"/>
              </a:rPr>
              <a:t>Implementación del Algoritmo</a:t>
            </a:r>
            <a:endParaRPr lang="es-CO" sz="1350" b="1" dirty="0">
              <a:solidFill>
                <a:srgbClr val="FF0000"/>
              </a:solidFill>
              <a:latin typeface="Century Gothic" panose="020B0502020202020204" pitchFamily="34" charset="0"/>
            </a:endParaRPr>
          </a:p>
        </p:txBody>
      </p:sp>
    </p:spTree>
    <p:extLst>
      <p:ext uri="{BB962C8B-B14F-4D97-AF65-F5344CB8AC3E}">
        <p14:creationId xmlns:p14="http://schemas.microsoft.com/office/powerpoint/2010/main" val="12870564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520" y="332656"/>
            <a:ext cx="8263830" cy="1116540"/>
          </a:xfrm>
        </p:spPr>
        <p:txBody>
          <a:bodyPr/>
          <a:lstStyle/>
          <a:p>
            <a:r>
              <a:rPr lang="es-CO" sz="3200" dirty="0"/>
              <a:t>Método de Polya - Resumen</a:t>
            </a:r>
            <a:endParaRPr lang="en-US" sz="3200" dirty="0"/>
          </a:p>
        </p:txBody>
      </p:sp>
      <p:sp>
        <p:nvSpPr>
          <p:cNvPr id="4" name="Slide Number Placeholder 3"/>
          <p:cNvSpPr>
            <a:spLocks noGrp="1"/>
          </p:cNvSpPr>
          <p:nvPr>
            <p:ph type="sldNum" sz="quarter" idx="12"/>
          </p:nvPr>
        </p:nvSpPr>
        <p:spPr/>
        <p:txBody>
          <a:bodyPr/>
          <a:lstStyle/>
          <a:p>
            <a:fld id="{45F1CE28-A3C7-48DC-84A2-8FB08D6123C5}" type="slidenum">
              <a:rPr lang="en-US" smtClean="0"/>
              <a:pPr/>
              <a:t>9</a:t>
            </a:fld>
            <a:endParaRPr lang="en-US" dirty="0"/>
          </a:p>
        </p:txBody>
      </p:sp>
      <p:graphicFrame>
        <p:nvGraphicFramePr>
          <p:cNvPr id="6" name="13 Diagrama">
            <a:extLst>
              <a:ext uri="{FF2B5EF4-FFF2-40B4-BE49-F238E27FC236}">
                <a16:creationId xmlns:a16="http://schemas.microsoft.com/office/drawing/2014/main" id="{D0B70736-976D-4675-A33E-9F94643ADC43}"/>
              </a:ext>
            </a:extLst>
          </p:cNvPr>
          <p:cNvGraphicFramePr/>
          <p:nvPr>
            <p:extLst>
              <p:ext uri="{D42A27DB-BD31-4B8C-83A1-F6EECF244321}">
                <p14:modId xmlns:p14="http://schemas.microsoft.com/office/powerpoint/2010/main" val="3324537454"/>
              </p:ext>
            </p:extLst>
          </p:nvPr>
        </p:nvGraphicFramePr>
        <p:xfrm>
          <a:off x="3059832" y="1700808"/>
          <a:ext cx="5616624" cy="28882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3">
            <a:extLst>
              <a:ext uri="{FF2B5EF4-FFF2-40B4-BE49-F238E27FC236}">
                <a16:creationId xmlns:a16="http://schemas.microsoft.com/office/drawing/2014/main" id="{9C9BD4AC-3A6A-4FE1-A719-F0D8329520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7544" y="2089947"/>
            <a:ext cx="2200014" cy="1977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8404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707" y="289109"/>
            <a:ext cx="7886700" cy="1116540"/>
          </a:xfrm>
        </p:spPr>
        <p:txBody>
          <a:bodyPr/>
          <a:lstStyle/>
          <a:p>
            <a:r>
              <a:rPr lang="en-US" sz="3200" dirty="0"/>
              <a:t>Datos en algorítmos</a:t>
            </a:r>
          </a:p>
        </p:txBody>
      </p:sp>
      <p:sp>
        <p:nvSpPr>
          <p:cNvPr id="2" name="Content Placeholder 1"/>
          <p:cNvSpPr>
            <a:spLocks noGrp="1"/>
          </p:cNvSpPr>
          <p:nvPr>
            <p:ph idx="1"/>
          </p:nvPr>
        </p:nvSpPr>
        <p:spPr>
          <a:xfrm>
            <a:off x="251707" y="1248882"/>
            <a:ext cx="8392622" cy="1872208"/>
          </a:xfrm>
        </p:spPr>
        <p:txBody>
          <a:bodyPr>
            <a:normAutofit/>
          </a:bodyPr>
          <a:lstStyle/>
          <a:p>
            <a:pPr marL="0" indent="0">
              <a:buNone/>
            </a:pPr>
            <a:r>
              <a:rPr lang="en-US" sz="2200" b="1" dirty="0">
                <a:solidFill>
                  <a:srgbClr val="FF0000"/>
                </a:solidFill>
              </a:rPr>
              <a:t>Variable</a:t>
            </a:r>
            <a:r>
              <a:rPr lang="en-US" sz="2200" dirty="0"/>
              <a:t>: </a:t>
            </a:r>
            <a:r>
              <a:rPr lang="es-ES" sz="2200" dirty="0"/>
              <a:t> espacio de memoria asociado con un identificador  (nombre) que almacena un valor que puede ser modificado por instrucciones del algoritmo:</a:t>
            </a:r>
          </a:p>
          <a:p>
            <a:r>
              <a:rPr lang="en-US" sz="2200" dirty="0"/>
              <a:t>De entrada y salida.</a:t>
            </a:r>
          </a:p>
          <a:p>
            <a:r>
              <a:rPr lang="en-US" sz="2200" dirty="0"/>
              <a:t>Variables auxiliares.</a:t>
            </a:r>
          </a:p>
        </p:txBody>
      </p:sp>
      <p:sp>
        <p:nvSpPr>
          <p:cNvPr id="4" name="Slide Number Placeholder 3"/>
          <p:cNvSpPr>
            <a:spLocks noGrp="1"/>
          </p:cNvSpPr>
          <p:nvPr>
            <p:ph type="sldNum" sz="quarter" idx="12"/>
          </p:nvPr>
        </p:nvSpPr>
        <p:spPr/>
        <p:txBody>
          <a:bodyPr/>
          <a:lstStyle/>
          <a:p>
            <a:fld id="{45F1CE28-A3C7-48DC-84A2-8FB08D6123C5}" type="slidenum">
              <a:rPr lang="en-US" smtClean="0"/>
              <a:pPr/>
              <a:t>10</a:t>
            </a:fld>
            <a:endParaRPr lang="en-US" dirty="0"/>
          </a:p>
        </p:txBody>
      </p:sp>
      <p:sp>
        <p:nvSpPr>
          <p:cNvPr id="6" name="5 CuadroTexto"/>
          <p:cNvSpPr txBox="1"/>
          <p:nvPr/>
        </p:nvSpPr>
        <p:spPr>
          <a:xfrm>
            <a:off x="621089" y="3510926"/>
            <a:ext cx="2687116" cy="1938992"/>
          </a:xfrm>
          <a:prstGeom prst="rect">
            <a:avLst/>
          </a:prstGeom>
          <a:noFill/>
          <a:ln w="28575">
            <a:solidFill>
              <a:schemeClr val="tx1"/>
            </a:solidFill>
          </a:ln>
        </p:spPr>
        <p:txBody>
          <a:bodyPr wrap="square" rtlCol="0">
            <a:spAutoFit/>
          </a:bodyPr>
          <a:lstStyle/>
          <a:p>
            <a:r>
              <a:rPr lang="es-CO" sz="2000" dirty="0">
                <a:latin typeface="Consolas" panose="020B0609020204030204" pitchFamily="49" charset="0"/>
                <a:cs typeface="Consolas" panose="020B0609020204030204" pitchFamily="49" charset="0"/>
              </a:rPr>
              <a:t>x = 3</a:t>
            </a:r>
          </a:p>
          <a:p>
            <a:r>
              <a:rPr lang="es-CO" sz="2000" dirty="0">
                <a:latin typeface="Consolas" panose="020B0609020204030204" pitchFamily="49" charset="0"/>
                <a:cs typeface="Consolas" panose="020B0609020204030204" pitchFamily="49" charset="0"/>
              </a:rPr>
              <a:t>y = 6</a:t>
            </a:r>
          </a:p>
          <a:p>
            <a:r>
              <a:rPr lang="es-CO" sz="2000" dirty="0">
                <a:latin typeface="Consolas" panose="020B0609020204030204" pitchFamily="49" charset="0"/>
                <a:cs typeface="Consolas" panose="020B0609020204030204" pitchFamily="49" charset="0"/>
              </a:rPr>
              <a:t>y = y + 2*x </a:t>
            </a:r>
          </a:p>
          <a:p>
            <a:r>
              <a:rPr lang="es-CO" sz="2000" dirty="0">
                <a:latin typeface="Consolas" panose="020B0609020204030204" pitchFamily="49" charset="0"/>
                <a:cs typeface="Consolas" panose="020B0609020204030204" pitchFamily="49" charset="0"/>
              </a:rPr>
              <a:t>x = x + 1</a:t>
            </a:r>
          </a:p>
          <a:p>
            <a:r>
              <a:rPr lang="es-CO" sz="2000" dirty="0">
                <a:latin typeface="Consolas" panose="020B0609020204030204" pitchFamily="49" charset="0"/>
                <a:cs typeface="Consolas" panose="020B0609020204030204" pitchFamily="49" charset="0"/>
              </a:rPr>
              <a:t>z = x - 2*(y – 1)</a:t>
            </a:r>
          </a:p>
          <a:p>
            <a:r>
              <a:rPr lang="es-CO" sz="2000" dirty="0">
                <a:latin typeface="Consolas" panose="020B0609020204030204" pitchFamily="49" charset="0"/>
                <a:cs typeface="Consolas" panose="020B0609020204030204" pitchFamily="49" charset="0"/>
              </a:rPr>
              <a:t>Z = -z</a:t>
            </a:r>
          </a:p>
        </p:txBody>
      </p:sp>
      <p:sp>
        <p:nvSpPr>
          <p:cNvPr id="8" name="7 CuadroTexto"/>
          <p:cNvSpPr txBox="1"/>
          <p:nvPr/>
        </p:nvSpPr>
        <p:spPr>
          <a:xfrm>
            <a:off x="3552625" y="3521234"/>
            <a:ext cx="4896544" cy="1785104"/>
          </a:xfrm>
          <a:prstGeom prst="rect">
            <a:avLst/>
          </a:prstGeom>
          <a:noFill/>
        </p:spPr>
        <p:txBody>
          <a:bodyPr wrap="square" rtlCol="0">
            <a:spAutoFit/>
          </a:bodyPr>
          <a:lstStyle/>
          <a:p>
            <a:r>
              <a:rPr lang="es-CO" sz="2000" b="1" dirty="0">
                <a:solidFill>
                  <a:srgbClr val="FF0000"/>
                </a:solidFill>
              </a:rPr>
              <a:t>Ejemplo</a:t>
            </a:r>
            <a:r>
              <a:rPr lang="es-CO" sz="2000" dirty="0">
                <a:solidFill>
                  <a:srgbClr val="FF0000"/>
                </a:solidFill>
              </a:rPr>
              <a:t>: </a:t>
            </a:r>
          </a:p>
          <a:p>
            <a:r>
              <a:rPr lang="es-CO" dirty="0"/>
              <a:t>Dado el conjunto de instrucciones mostrado a en el cuadro:</a:t>
            </a:r>
          </a:p>
          <a:p>
            <a:pPr marL="285750" indent="-285750">
              <a:buFont typeface="Arial" panose="020B0604020202020204" pitchFamily="34" charset="0"/>
              <a:buChar char="•"/>
            </a:pPr>
            <a:r>
              <a:rPr lang="es-CO" dirty="0"/>
              <a:t>¿Cuantas variables hay?</a:t>
            </a:r>
          </a:p>
          <a:p>
            <a:pPr marL="285750" indent="-285750">
              <a:buFont typeface="Arial" panose="020B0604020202020204" pitchFamily="34" charset="0"/>
              <a:buChar char="•"/>
            </a:pPr>
            <a:r>
              <a:rPr lang="es-CO" dirty="0"/>
              <a:t>¿Cuáles son esas variables?</a:t>
            </a:r>
          </a:p>
          <a:p>
            <a:pPr marL="285750" indent="-285750">
              <a:buFont typeface="Arial" panose="020B0604020202020204" pitchFamily="34" charset="0"/>
              <a:buChar char="•"/>
            </a:pPr>
            <a:r>
              <a:rPr lang="es-CO" dirty="0"/>
              <a:t>¿Cuál es el valor final de estas?</a:t>
            </a:r>
          </a:p>
        </p:txBody>
      </p:sp>
      <p:sp>
        <p:nvSpPr>
          <p:cNvPr id="9" name="CuadroTexto 8">
            <a:extLst>
              <a:ext uri="{FF2B5EF4-FFF2-40B4-BE49-F238E27FC236}">
                <a16:creationId xmlns:a16="http://schemas.microsoft.com/office/drawing/2014/main" id="{7C8E84EA-45AB-4748-9272-222329310ED9}"/>
              </a:ext>
            </a:extLst>
          </p:cNvPr>
          <p:cNvSpPr txBox="1"/>
          <p:nvPr/>
        </p:nvSpPr>
        <p:spPr>
          <a:xfrm>
            <a:off x="1475656" y="5655088"/>
            <a:ext cx="792088" cy="369332"/>
          </a:xfrm>
          <a:prstGeom prst="rect">
            <a:avLst/>
          </a:prstGeom>
          <a:noFill/>
        </p:spPr>
        <p:txBody>
          <a:bodyPr wrap="square">
            <a:spAutoFit/>
          </a:bodyPr>
          <a:lstStyle/>
          <a:p>
            <a:pPr algn="ctr"/>
            <a:r>
              <a:rPr lang="es-ES" sz="1800" dirty="0">
                <a:hlinkClick r:id="rId2"/>
              </a:rPr>
              <a:t>link</a:t>
            </a:r>
            <a:endParaRPr lang="es-CO" dirty="0"/>
          </a:p>
        </p:txBody>
      </p:sp>
    </p:spTree>
    <p:extLst>
      <p:ext uri="{BB962C8B-B14F-4D97-AF65-F5344CB8AC3E}">
        <p14:creationId xmlns:p14="http://schemas.microsoft.com/office/powerpoint/2010/main" val="2021031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2638" y="154292"/>
            <a:ext cx="7886700" cy="1116540"/>
          </a:xfrm>
        </p:spPr>
        <p:txBody>
          <a:bodyPr/>
          <a:lstStyle/>
          <a:p>
            <a:r>
              <a:rPr lang="en-US" sz="3200" dirty="0"/>
              <a:t>Datos en algorítmos</a:t>
            </a:r>
          </a:p>
        </p:txBody>
      </p:sp>
      <p:sp>
        <p:nvSpPr>
          <p:cNvPr id="2" name="Content Placeholder 1"/>
          <p:cNvSpPr>
            <a:spLocks noGrp="1"/>
          </p:cNvSpPr>
          <p:nvPr>
            <p:ph idx="1"/>
          </p:nvPr>
        </p:nvSpPr>
        <p:spPr>
          <a:xfrm>
            <a:off x="202195" y="1082418"/>
            <a:ext cx="8568952" cy="762406"/>
          </a:xfrm>
        </p:spPr>
        <p:txBody>
          <a:bodyPr>
            <a:normAutofit/>
          </a:bodyPr>
          <a:lstStyle/>
          <a:p>
            <a:r>
              <a:rPr lang="es-CO" sz="2200" dirty="0"/>
              <a:t>Una </a:t>
            </a:r>
            <a:r>
              <a:rPr lang="es-CO" sz="2200" b="1" dirty="0">
                <a:solidFill>
                  <a:srgbClr val="FF0000"/>
                </a:solidFill>
              </a:rPr>
              <a:t>variable</a:t>
            </a:r>
            <a:r>
              <a:rPr lang="es-CO" sz="2200" dirty="0"/>
              <a:t> puede representar un número decimal, un numero entero, un arreglo de números o de caracteres, etc.</a:t>
            </a:r>
            <a:endParaRPr lang="en-US" sz="2200" dirty="0"/>
          </a:p>
        </p:txBody>
      </p:sp>
      <p:sp>
        <p:nvSpPr>
          <p:cNvPr id="4" name="Slide Number Placeholder 3"/>
          <p:cNvSpPr>
            <a:spLocks noGrp="1"/>
          </p:cNvSpPr>
          <p:nvPr>
            <p:ph type="sldNum" sz="quarter" idx="12"/>
          </p:nvPr>
        </p:nvSpPr>
        <p:spPr/>
        <p:txBody>
          <a:bodyPr/>
          <a:lstStyle/>
          <a:p>
            <a:fld id="{45F1CE28-A3C7-48DC-84A2-8FB08D6123C5}" type="slidenum">
              <a:rPr lang="en-US" smtClean="0"/>
              <a:pPr/>
              <a:t>11</a:t>
            </a:fld>
            <a:endParaRPr lang="en-US" dirty="0"/>
          </a:p>
        </p:txBody>
      </p:sp>
      <p:graphicFrame>
        <p:nvGraphicFramePr>
          <p:cNvPr id="7" name="Tabla 19">
            <a:extLst>
              <a:ext uri="{FF2B5EF4-FFF2-40B4-BE49-F238E27FC236}">
                <a16:creationId xmlns:a16="http://schemas.microsoft.com/office/drawing/2014/main" id="{52F76C5E-B156-4EFA-8E2C-B3BF63CE80AD}"/>
              </a:ext>
            </a:extLst>
          </p:cNvPr>
          <p:cNvGraphicFramePr>
            <a:graphicFrameLocks noGrp="1"/>
          </p:cNvGraphicFramePr>
          <p:nvPr>
            <p:extLst>
              <p:ext uri="{D42A27DB-BD31-4B8C-83A1-F6EECF244321}">
                <p14:modId xmlns:p14="http://schemas.microsoft.com/office/powerpoint/2010/main" val="3569335785"/>
              </p:ext>
            </p:extLst>
          </p:nvPr>
        </p:nvGraphicFramePr>
        <p:xfrm>
          <a:off x="501070" y="1811248"/>
          <a:ext cx="8293043" cy="3489960"/>
        </p:xfrm>
        <a:graphic>
          <a:graphicData uri="http://schemas.openxmlformats.org/drawingml/2006/table">
            <a:tbl>
              <a:tblPr firstRow="1" bandRow="1">
                <a:tableStyleId>{5940675A-B579-460E-94D1-54222C63F5DA}</a:tableStyleId>
              </a:tblPr>
              <a:tblGrid>
                <a:gridCol w="1625302">
                  <a:extLst>
                    <a:ext uri="{9D8B030D-6E8A-4147-A177-3AD203B41FA5}">
                      <a16:colId xmlns:a16="http://schemas.microsoft.com/office/drawing/2014/main" val="739729413"/>
                    </a:ext>
                  </a:extLst>
                </a:gridCol>
                <a:gridCol w="1261279">
                  <a:extLst>
                    <a:ext uri="{9D8B030D-6E8A-4147-A177-3AD203B41FA5}">
                      <a16:colId xmlns:a16="http://schemas.microsoft.com/office/drawing/2014/main" val="3254429892"/>
                    </a:ext>
                  </a:extLst>
                </a:gridCol>
                <a:gridCol w="3297389">
                  <a:extLst>
                    <a:ext uri="{9D8B030D-6E8A-4147-A177-3AD203B41FA5}">
                      <a16:colId xmlns:a16="http://schemas.microsoft.com/office/drawing/2014/main" val="3190591107"/>
                    </a:ext>
                  </a:extLst>
                </a:gridCol>
                <a:gridCol w="2109073">
                  <a:extLst>
                    <a:ext uri="{9D8B030D-6E8A-4147-A177-3AD203B41FA5}">
                      <a16:colId xmlns:a16="http://schemas.microsoft.com/office/drawing/2014/main" val="1522724985"/>
                    </a:ext>
                  </a:extLst>
                </a:gridCol>
              </a:tblGrid>
              <a:tr h="370840">
                <a:tc>
                  <a:txBody>
                    <a:bodyPr/>
                    <a:lstStyle/>
                    <a:p>
                      <a:r>
                        <a:rPr lang="es-MX" sz="1800" b="1" dirty="0">
                          <a:solidFill>
                            <a:schemeClr val="bg1"/>
                          </a:solidFill>
                          <a:latin typeface="+mn-lt"/>
                        </a:rPr>
                        <a:t>Grupo</a:t>
                      </a:r>
                      <a:endParaRPr lang="es-CO" sz="1800" b="1" dirty="0">
                        <a:solidFill>
                          <a:schemeClr val="bg1"/>
                        </a:solidFill>
                        <a:latin typeface="+mn-lt"/>
                      </a:endParaRPr>
                    </a:p>
                  </a:txBody>
                  <a:tcPr>
                    <a:solidFill>
                      <a:schemeClr val="tx1"/>
                    </a:solidFill>
                  </a:tcPr>
                </a:tc>
                <a:tc>
                  <a:txBody>
                    <a:bodyPr/>
                    <a:lstStyle/>
                    <a:p>
                      <a:r>
                        <a:rPr lang="es-MX" sz="1800" b="1" dirty="0">
                          <a:solidFill>
                            <a:schemeClr val="bg1"/>
                          </a:solidFill>
                          <a:latin typeface="+mn-lt"/>
                        </a:rPr>
                        <a:t>Tipo</a:t>
                      </a:r>
                      <a:endParaRPr lang="es-CO" sz="1800" b="1" dirty="0">
                        <a:solidFill>
                          <a:schemeClr val="bg1"/>
                        </a:solidFill>
                        <a:latin typeface="+mn-lt"/>
                      </a:endParaRPr>
                    </a:p>
                  </a:txBody>
                  <a:tcPr>
                    <a:solidFill>
                      <a:schemeClr val="tx1"/>
                    </a:solidFill>
                  </a:tcPr>
                </a:tc>
                <a:tc>
                  <a:txBody>
                    <a:bodyPr/>
                    <a:lstStyle/>
                    <a:p>
                      <a:r>
                        <a:rPr lang="es-MX" sz="1800" b="1" dirty="0">
                          <a:solidFill>
                            <a:schemeClr val="bg1"/>
                          </a:solidFill>
                          <a:latin typeface="+mn-lt"/>
                        </a:rPr>
                        <a:t>Descripción</a:t>
                      </a:r>
                      <a:endParaRPr lang="es-CO" sz="1800" b="1" dirty="0">
                        <a:solidFill>
                          <a:schemeClr val="bg1"/>
                        </a:solidFill>
                        <a:latin typeface="+mn-lt"/>
                      </a:endParaRPr>
                    </a:p>
                  </a:txBody>
                  <a:tcPr>
                    <a:solidFill>
                      <a:schemeClr val="tx1"/>
                    </a:solidFill>
                  </a:tcPr>
                </a:tc>
                <a:tc>
                  <a:txBody>
                    <a:bodyPr/>
                    <a:lstStyle/>
                    <a:p>
                      <a:r>
                        <a:rPr lang="es-MX" sz="1800" b="1" dirty="0">
                          <a:solidFill>
                            <a:schemeClr val="bg1"/>
                          </a:solidFill>
                          <a:latin typeface="+mn-lt"/>
                        </a:rPr>
                        <a:t>Ejemplo</a:t>
                      </a:r>
                      <a:endParaRPr lang="es-CO" sz="1800" b="1" dirty="0">
                        <a:solidFill>
                          <a:schemeClr val="bg1"/>
                        </a:solidFill>
                        <a:latin typeface="+mn-lt"/>
                      </a:endParaRPr>
                    </a:p>
                  </a:txBody>
                  <a:tcPr>
                    <a:solidFill>
                      <a:schemeClr val="tx1"/>
                    </a:solidFill>
                  </a:tcPr>
                </a:tc>
                <a:extLst>
                  <a:ext uri="{0D108BD9-81ED-4DB2-BD59-A6C34878D82A}">
                    <a16:rowId xmlns:a16="http://schemas.microsoft.com/office/drawing/2014/main" val="1346299279"/>
                  </a:ext>
                </a:extLst>
              </a:tr>
              <a:tr h="370840">
                <a:tc rowSpan="2">
                  <a:txBody>
                    <a:bodyPr/>
                    <a:lstStyle/>
                    <a:p>
                      <a:r>
                        <a:rPr lang="es-MX" sz="1400" dirty="0">
                          <a:latin typeface="+mn-lt"/>
                        </a:rPr>
                        <a:t>Numéricas</a:t>
                      </a:r>
                      <a:endParaRPr lang="es-CO" sz="1400" dirty="0">
                        <a:latin typeface="+mn-lt"/>
                      </a:endParaRPr>
                    </a:p>
                  </a:txBody>
                  <a:tcPr/>
                </a:tc>
                <a:tc>
                  <a:txBody>
                    <a:bodyPr/>
                    <a:lstStyle/>
                    <a:p>
                      <a:r>
                        <a:rPr lang="es-MX" sz="1400" dirty="0">
                          <a:latin typeface="+mn-lt"/>
                        </a:rPr>
                        <a:t>Enteros</a:t>
                      </a:r>
                      <a:endParaRPr lang="es-CO" sz="1400" dirty="0">
                        <a:latin typeface="+mn-lt"/>
                      </a:endParaRPr>
                    </a:p>
                  </a:txBody>
                  <a:tcPr/>
                </a:tc>
                <a:tc>
                  <a:txBody>
                    <a:bodyPr/>
                    <a:lstStyle/>
                    <a:p>
                      <a:r>
                        <a:rPr lang="es-MX" sz="1400" dirty="0">
                          <a:latin typeface="+mn-lt"/>
                        </a:rPr>
                        <a:t>Variables asociadas a números enteros, es decir, sin parte decimal</a:t>
                      </a:r>
                      <a:endParaRPr lang="es-CO" sz="1400" dirty="0">
                        <a:latin typeface="+mn-lt"/>
                      </a:endParaRPr>
                    </a:p>
                  </a:txBody>
                  <a:tcPr/>
                </a:tc>
                <a:tc>
                  <a:txBody>
                    <a:bodyPr/>
                    <a:lstStyle/>
                    <a:p>
                      <a:r>
                        <a:rPr lang="es-MX" sz="1400" dirty="0">
                          <a:latin typeface="Century Gothic" panose="020B0502020202020204" pitchFamily="34" charset="0"/>
                        </a:rPr>
                        <a:t>5, 6, -12, 3000,…</a:t>
                      </a:r>
                      <a:endParaRPr lang="es-CO" sz="1400" dirty="0">
                        <a:latin typeface="Century Gothic" panose="020B0502020202020204" pitchFamily="34" charset="0"/>
                      </a:endParaRPr>
                    </a:p>
                  </a:txBody>
                  <a:tcPr/>
                </a:tc>
                <a:extLst>
                  <a:ext uri="{0D108BD9-81ED-4DB2-BD59-A6C34878D82A}">
                    <a16:rowId xmlns:a16="http://schemas.microsoft.com/office/drawing/2014/main" val="2822273762"/>
                  </a:ext>
                </a:extLst>
              </a:tr>
              <a:tr h="370840">
                <a:tc vMerge="1">
                  <a:txBody>
                    <a:bodyPr/>
                    <a:lstStyle/>
                    <a:p>
                      <a:endParaRPr lang="es-CO" sz="2000" dirty="0">
                        <a:latin typeface="Century Gothic" panose="020B0502020202020204" pitchFamily="34" charset="0"/>
                      </a:endParaRPr>
                    </a:p>
                  </a:txBody>
                  <a:tcPr/>
                </a:tc>
                <a:tc>
                  <a:txBody>
                    <a:bodyPr/>
                    <a:lstStyle/>
                    <a:p>
                      <a:r>
                        <a:rPr lang="es-MX" sz="1400" dirty="0">
                          <a:latin typeface="+mn-lt"/>
                        </a:rPr>
                        <a:t>Reales</a:t>
                      </a:r>
                      <a:endParaRPr lang="es-CO" sz="1400" dirty="0">
                        <a:latin typeface="+mn-lt"/>
                      </a:endParaRPr>
                    </a:p>
                  </a:txBody>
                  <a:tcPr/>
                </a:tc>
                <a:tc>
                  <a:txBody>
                    <a:bodyPr/>
                    <a:lstStyle/>
                    <a:p>
                      <a:r>
                        <a:rPr lang="es-MX" sz="1400" dirty="0">
                          <a:latin typeface="+mn-lt"/>
                        </a:rPr>
                        <a:t>Variables asociadas a números reales (con parte decimal).</a:t>
                      </a:r>
                      <a:endParaRPr lang="es-CO" sz="1400" dirty="0">
                        <a:latin typeface="+mn-lt"/>
                      </a:endParaRPr>
                    </a:p>
                  </a:txBody>
                  <a:tcPr/>
                </a:tc>
                <a:tc>
                  <a:txBody>
                    <a:bodyPr/>
                    <a:lstStyle/>
                    <a:p>
                      <a:r>
                        <a:rPr lang="es-MX" sz="1400" dirty="0">
                          <a:latin typeface="Century Gothic" panose="020B0502020202020204" pitchFamily="34" charset="0"/>
                        </a:rPr>
                        <a:t>0.08, 10.0, -1.5, 300.26,…</a:t>
                      </a:r>
                      <a:endParaRPr lang="es-CO" sz="1400" dirty="0">
                        <a:latin typeface="Century Gothic" panose="020B0502020202020204" pitchFamily="34" charset="0"/>
                      </a:endParaRPr>
                    </a:p>
                  </a:txBody>
                  <a:tcPr/>
                </a:tc>
                <a:extLst>
                  <a:ext uri="{0D108BD9-81ED-4DB2-BD59-A6C34878D82A}">
                    <a16:rowId xmlns:a16="http://schemas.microsoft.com/office/drawing/2014/main" val="378661654"/>
                  </a:ext>
                </a:extLst>
              </a:tr>
              <a:tr h="1193800">
                <a:tc>
                  <a:txBody>
                    <a:bodyPr/>
                    <a:lstStyle/>
                    <a:p>
                      <a:r>
                        <a:rPr lang="es-MX" sz="1400" dirty="0">
                          <a:latin typeface="+mn-lt"/>
                        </a:rPr>
                        <a:t>Lógicas</a:t>
                      </a:r>
                      <a:endParaRPr lang="es-CO" sz="1400" dirty="0">
                        <a:latin typeface="+mn-lt"/>
                      </a:endParaRPr>
                    </a:p>
                  </a:txBody>
                  <a:tcPr/>
                </a:tc>
                <a:tc>
                  <a:txBody>
                    <a:bodyPr/>
                    <a:lstStyle/>
                    <a:p>
                      <a:r>
                        <a:rPr lang="es-MX" sz="1400" dirty="0">
                          <a:latin typeface="+mn-lt"/>
                        </a:rPr>
                        <a:t>Booleanas</a:t>
                      </a:r>
                      <a:endParaRPr lang="es-CO" sz="1400" dirty="0">
                        <a:latin typeface="+mn-lt"/>
                      </a:endParaRPr>
                    </a:p>
                  </a:txBody>
                  <a:tcPr/>
                </a:tc>
                <a:tc>
                  <a:txBody>
                    <a:bodyPr/>
                    <a:lstStyle/>
                    <a:p>
                      <a:r>
                        <a:rPr lang="es-MX" sz="1400" dirty="0">
                          <a:latin typeface="+mn-lt"/>
                        </a:rPr>
                        <a:t>Variables que pueden tomar dos posibles valores</a:t>
                      </a:r>
                      <a:endParaRPr lang="es-CO" sz="1400" dirty="0">
                        <a:latin typeface="+mn-lt"/>
                      </a:endParaRPr>
                    </a:p>
                  </a:txBody>
                  <a:tcPr/>
                </a:tc>
                <a:tc>
                  <a:txBody>
                    <a:bodyPr/>
                    <a:lstStyle/>
                    <a:p>
                      <a:r>
                        <a:rPr lang="es-MX" sz="1400" dirty="0">
                          <a:latin typeface="Century Gothic" panose="020B0502020202020204" pitchFamily="34" charset="0"/>
                        </a:rPr>
                        <a:t>True (Verdadero), False (Falso)</a:t>
                      </a:r>
                      <a:endParaRPr lang="es-CO" sz="1400" dirty="0">
                        <a:latin typeface="Century Gothic" panose="020B0502020202020204" pitchFamily="34" charset="0"/>
                      </a:endParaRPr>
                    </a:p>
                  </a:txBody>
                  <a:tcPr/>
                </a:tc>
                <a:extLst>
                  <a:ext uri="{0D108BD9-81ED-4DB2-BD59-A6C34878D82A}">
                    <a16:rowId xmlns:a16="http://schemas.microsoft.com/office/drawing/2014/main" val="3975723690"/>
                  </a:ext>
                </a:extLst>
              </a:tr>
              <a:tr h="370840">
                <a:tc rowSpan="2">
                  <a:txBody>
                    <a:bodyPr/>
                    <a:lstStyle/>
                    <a:p>
                      <a:r>
                        <a:rPr lang="es-MX" sz="1400" dirty="0">
                          <a:latin typeface="+mn-lt"/>
                        </a:rPr>
                        <a:t>Alfanuméricas</a:t>
                      </a:r>
                      <a:endParaRPr lang="es-CO" sz="1400" dirty="0">
                        <a:latin typeface="+mn-lt"/>
                      </a:endParaRPr>
                    </a:p>
                  </a:txBody>
                  <a:tcPr/>
                </a:tc>
                <a:tc>
                  <a:txBody>
                    <a:bodyPr/>
                    <a:lstStyle/>
                    <a:p>
                      <a:r>
                        <a:rPr lang="es-MX" sz="1400" dirty="0">
                          <a:latin typeface="+mn-lt"/>
                        </a:rPr>
                        <a:t>Carácter</a:t>
                      </a:r>
                      <a:endParaRPr lang="es-CO" sz="1400" dirty="0">
                        <a:latin typeface="+mn-lt"/>
                      </a:endParaRPr>
                    </a:p>
                  </a:txBody>
                  <a:tcPr/>
                </a:tc>
                <a:tc rowSpan="2">
                  <a:txBody>
                    <a:bodyPr/>
                    <a:lstStyle/>
                    <a:p>
                      <a:r>
                        <a:rPr lang="es-MX" sz="1400" dirty="0">
                          <a:latin typeface="+mn-lt"/>
                        </a:rPr>
                        <a:t>Variables que pueden tomar solo un conjunto finito de valores reconocidos por computador</a:t>
                      </a:r>
                      <a:endParaRPr lang="es-CO" sz="1400" dirty="0">
                        <a:latin typeface="+mn-lt"/>
                      </a:endParaRPr>
                    </a:p>
                  </a:txBody>
                  <a:tcPr/>
                </a:tc>
                <a:tc rowSpan="2">
                  <a:txBody>
                    <a:bodyPr/>
                    <a:lstStyle/>
                    <a:p>
                      <a:r>
                        <a:rPr lang="es-MX" sz="1400" dirty="0">
                          <a:latin typeface="Century Gothic" panose="020B0502020202020204" pitchFamily="34" charset="0"/>
                          <a:hlinkClick r:id="rId2"/>
                        </a:rPr>
                        <a:t>tabla </a:t>
                      </a:r>
                      <a:r>
                        <a:rPr lang="es-MX" sz="1400" dirty="0" err="1">
                          <a:latin typeface="Century Gothic" panose="020B0502020202020204" pitchFamily="34" charset="0"/>
                          <a:hlinkClick r:id="rId2"/>
                        </a:rPr>
                        <a:t>ascii</a:t>
                      </a:r>
                      <a:r>
                        <a:rPr lang="es-MX" sz="1400" dirty="0">
                          <a:latin typeface="Century Gothic" panose="020B0502020202020204" pitchFamily="34" charset="0"/>
                        </a:rPr>
                        <a:t>, </a:t>
                      </a:r>
                      <a:r>
                        <a:rPr lang="es-MX" sz="1400" dirty="0">
                          <a:latin typeface="Century Gothic" panose="020B0502020202020204" pitchFamily="34" charset="0"/>
                          <a:hlinkClick r:id="rId3"/>
                        </a:rPr>
                        <a:t>tabla Unicode,</a:t>
                      </a:r>
                      <a:r>
                        <a:rPr lang="es-MX" sz="1400" dirty="0">
                          <a:latin typeface="Century Gothic" panose="020B0502020202020204" pitchFamily="34" charset="0"/>
                        </a:rPr>
                        <a:t> etc.</a:t>
                      </a:r>
                      <a:endParaRPr lang="es-CO" sz="1400" dirty="0">
                        <a:latin typeface="Century Gothic" panose="020B0502020202020204" pitchFamily="34" charset="0"/>
                      </a:endParaRPr>
                    </a:p>
                  </a:txBody>
                  <a:tcPr/>
                </a:tc>
                <a:extLst>
                  <a:ext uri="{0D108BD9-81ED-4DB2-BD59-A6C34878D82A}">
                    <a16:rowId xmlns:a16="http://schemas.microsoft.com/office/drawing/2014/main" val="3459740466"/>
                  </a:ext>
                </a:extLst>
              </a:tr>
              <a:tr h="370840">
                <a:tc vMerge="1">
                  <a:txBody>
                    <a:bodyPr/>
                    <a:lstStyle/>
                    <a:p>
                      <a:endParaRPr lang="es-CO" sz="2000" dirty="0">
                        <a:latin typeface="Century Gothic" panose="020B0502020202020204" pitchFamily="34" charset="0"/>
                      </a:endParaRPr>
                    </a:p>
                  </a:txBody>
                  <a:tcPr/>
                </a:tc>
                <a:tc>
                  <a:txBody>
                    <a:bodyPr/>
                    <a:lstStyle/>
                    <a:p>
                      <a:r>
                        <a:rPr lang="es-MX" sz="1400" dirty="0">
                          <a:latin typeface="+mn-lt"/>
                        </a:rPr>
                        <a:t>Cadena (</a:t>
                      </a:r>
                      <a:r>
                        <a:rPr lang="es-MX" sz="1400" b="1" dirty="0">
                          <a:latin typeface="+mn-lt"/>
                        </a:rPr>
                        <a:t>Texto</a:t>
                      </a:r>
                      <a:r>
                        <a:rPr lang="es-MX" sz="1400" dirty="0">
                          <a:latin typeface="+mn-lt"/>
                        </a:rPr>
                        <a:t>)</a:t>
                      </a:r>
                      <a:endParaRPr lang="es-CO" sz="1400" dirty="0">
                        <a:latin typeface="+mn-lt"/>
                      </a:endParaRPr>
                    </a:p>
                  </a:txBody>
                  <a:tcPr/>
                </a:tc>
                <a:tc vMerge="1">
                  <a:txBody>
                    <a:bodyPr/>
                    <a:lstStyle/>
                    <a:p>
                      <a:endParaRPr lang="es-CO" sz="1600" dirty="0">
                        <a:latin typeface="Century Gothic" panose="020B0502020202020204" pitchFamily="34" charset="0"/>
                      </a:endParaRPr>
                    </a:p>
                  </a:txBody>
                  <a:tcPr/>
                </a:tc>
                <a:tc vMerge="1">
                  <a:txBody>
                    <a:bodyPr/>
                    <a:lstStyle/>
                    <a:p>
                      <a:endParaRPr lang="es-CO" sz="1600" dirty="0">
                        <a:latin typeface="Century Gothic" panose="020B0502020202020204" pitchFamily="34" charset="0"/>
                      </a:endParaRPr>
                    </a:p>
                  </a:txBody>
                  <a:tcPr/>
                </a:tc>
                <a:extLst>
                  <a:ext uri="{0D108BD9-81ED-4DB2-BD59-A6C34878D82A}">
                    <a16:rowId xmlns:a16="http://schemas.microsoft.com/office/drawing/2014/main" val="2446729419"/>
                  </a:ext>
                </a:extLst>
              </a:tr>
            </a:tbl>
          </a:graphicData>
        </a:graphic>
      </p:graphicFrame>
      <p:sp>
        <p:nvSpPr>
          <p:cNvPr id="6" name="Content Placeholder 1">
            <a:extLst>
              <a:ext uri="{FF2B5EF4-FFF2-40B4-BE49-F238E27FC236}">
                <a16:creationId xmlns:a16="http://schemas.microsoft.com/office/drawing/2014/main" id="{512B04AB-F6BB-42D0-A78F-D83381B4A384}"/>
              </a:ext>
            </a:extLst>
          </p:cNvPr>
          <p:cNvSpPr txBox="1">
            <a:spLocks/>
          </p:cNvSpPr>
          <p:nvPr/>
        </p:nvSpPr>
        <p:spPr>
          <a:xfrm>
            <a:off x="225161" y="5419414"/>
            <a:ext cx="8568952" cy="76240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CO" sz="2200" b="1" dirty="0"/>
              <a:t>Declaración de variables</a:t>
            </a:r>
            <a:r>
              <a:rPr lang="es-CO" sz="2200" dirty="0"/>
              <a:t>: Consiste en</a:t>
            </a:r>
            <a:r>
              <a:rPr lang="es-MX" sz="2200" dirty="0"/>
              <a:t> asignarle un nombre (identificador) a un espacio en memoria donde se va a guardar un valor</a:t>
            </a:r>
            <a:endParaRPr lang="en-US" sz="2400" dirty="0"/>
          </a:p>
        </p:txBody>
      </p:sp>
    </p:spTree>
    <p:extLst>
      <p:ext uri="{BB962C8B-B14F-4D97-AF65-F5344CB8AC3E}">
        <p14:creationId xmlns:p14="http://schemas.microsoft.com/office/powerpoint/2010/main" val="31630718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2638" y="154292"/>
            <a:ext cx="7886700" cy="1116540"/>
          </a:xfrm>
        </p:spPr>
        <p:txBody>
          <a:bodyPr/>
          <a:lstStyle/>
          <a:p>
            <a:r>
              <a:rPr lang="en-US" sz="3200" dirty="0"/>
              <a:t>Datos en algorítmos</a:t>
            </a:r>
          </a:p>
        </p:txBody>
      </p:sp>
      <p:sp>
        <p:nvSpPr>
          <p:cNvPr id="4" name="Slide Number Placeholder 3"/>
          <p:cNvSpPr>
            <a:spLocks noGrp="1"/>
          </p:cNvSpPr>
          <p:nvPr>
            <p:ph type="sldNum" sz="quarter" idx="12"/>
          </p:nvPr>
        </p:nvSpPr>
        <p:spPr/>
        <p:txBody>
          <a:bodyPr/>
          <a:lstStyle/>
          <a:p>
            <a:fld id="{45F1CE28-A3C7-48DC-84A2-8FB08D6123C5}" type="slidenum">
              <a:rPr lang="en-US" smtClean="0"/>
              <a:pPr/>
              <a:t>12</a:t>
            </a:fld>
            <a:endParaRPr lang="en-US" dirty="0"/>
          </a:p>
        </p:txBody>
      </p:sp>
      <p:sp>
        <p:nvSpPr>
          <p:cNvPr id="8" name="Marcador de contenido 7">
            <a:extLst>
              <a:ext uri="{FF2B5EF4-FFF2-40B4-BE49-F238E27FC236}">
                <a16:creationId xmlns:a16="http://schemas.microsoft.com/office/drawing/2014/main" id="{A8E3E052-400D-4193-BE33-74FFC0A116B1}"/>
              </a:ext>
            </a:extLst>
          </p:cNvPr>
          <p:cNvSpPr>
            <a:spLocks noGrp="1"/>
          </p:cNvSpPr>
          <p:nvPr>
            <p:ph idx="1"/>
          </p:nvPr>
        </p:nvSpPr>
        <p:spPr>
          <a:xfrm>
            <a:off x="323528" y="1052736"/>
            <a:ext cx="8191822" cy="1008112"/>
          </a:xfrm>
        </p:spPr>
        <p:txBody>
          <a:bodyPr>
            <a:normAutofit/>
          </a:bodyPr>
          <a:lstStyle/>
          <a:p>
            <a:r>
              <a:rPr lang="es-CO" sz="2200" b="1" dirty="0"/>
              <a:t>Declaración de variables</a:t>
            </a:r>
            <a:r>
              <a:rPr lang="es-CO" sz="2200" dirty="0"/>
              <a:t>: Consiste en</a:t>
            </a:r>
            <a:r>
              <a:rPr lang="es-MX" sz="2200" dirty="0"/>
              <a:t> asignarle un nombre (identificador) a un espacio en memoria donde se va a guardar un valor</a:t>
            </a:r>
            <a:endParaRPr lang="en-US" sz="2200" dirty="0"/>
          </a:p>
          <a:p>
            <a:endParaRPr lang="es-CO" sz="2200" dirty="0"/>
          </a:p>
        </p:txBody>
      </p:sp>
      <p:sp>
        <p:nvSpPr>
          <p:cNvPr id="9" name="CuadroTexto 8">
            <a:extLst>
              <a:ext uri="{FF2B5EF4-FFF2-40B4-BE49-F238E27FC236}">
                <a16:creationId xmlns:a16="http://schemas.microsoft.com/office/drawing/2014/main" id="{D28851F9-E243-4B4E-8C57-D9265C49EB6D}"/>
              </a:ext>
            </a:extLst>
          </p:cNvPr>
          <p:cNvSpPr txBox="1"/>
          <p:nvPr/>
        </p:nvSpPr>
        <p:spPr>
          <a:xfrm>
            <a:off x="2133439" y="2959292"/>
            <a:ext cx="4572000" cy="338554"/>
          </a:xfrm>
          <a:prstGeom prst="rect">
            <a:avLst/>
          </a:prstGeom>
          <a:noFill/>
        </p:spPr>
        <p:txBody>
          <a:bodyPr wrap="square">
            <a:spAutoFit/>
          </a:bodyPr>
          <a:lstStyle/>
          <a:p>
            <a:r>
              <a:rPr lang="es-CO" sz="1600" b="1" dirty="0">
                <a:solidFill>
                  <a:schemeClr val="accent2"/>
                </a:solidFill>
                <a:latin typeface="Consolas" panose="020B0609020204030204" pitchFamily="49" charset="0"/>
              </a:rPr>
              <a:t>&lt;Tipo_de_dato&gt;</a:t>
            </a:r>
            <a:r>
              <a:rPr lang="es-CO" sz="1600" dirty="0">
                <a:latin typeface="Consolas" panose="020B0609020204030204" pitchFamily="49" charset="0"/>
              </a:rPr>
              <a:t> </a:t>
            </a:r>
            <a:r>
              <a:rPr lang="es-CO" sz="1600" dirty="0">
                <a:solidFill>
                  <a:schemeClr val="accent4"/>
                </a:solidFill>
                <a:latin typeface="Consolas" panose="020B0609020204030204" pitchFamily="49" charset="0"/>
              </a:rPr>
              <a:t>identificador</a:t>
            </a:r>
            <a:r>
              <a:rPr lang="es-CO" sz="1600" dirty="0">
                <a:latin typeface="Consolas" panose="020B0609020204030204" pitchFamily="49" charset="0"/>
              </a:rPr>
              <a:t> [= valor]</a:t>
            </a:r>
          </a:p>
        </p:txBody>
      </p:sp>
      <p:sp>
        <p:nvSpPr>
          <p:cNvPr id="10" name="CuadroTexto 9">
            <a:extLst>
              <a:ext uri="{FF2B5EF4-FFF2-40B4-BE49-F238E27FC236}">
                <a16:creationId xmlns:a16="http://schemas.microsoft.com/office/drawing/2014/main" id="{9ED9BAD6-0522-40D9-8CEA-A2A509E4AC1F}"/>
              </a:ext>
            </a:extLst>
          </p:cNvPr>
          <p:cNvSpPr txBox="1"/>
          <p:nvPr/>
        </p:nvSpPr>
        <p:spPr>
          <a:xfrm>
            <a:off x="640788" y="2220872"/>
            <a:ext cx="4572000" cy="307777"/>
          </a:xfrm>
          <a:prstGeom prst="rect">
            <a:avLst/>
          </a:prstGeom>
          <a:noFill/>
        </p:spPr>
        <p:txBody>
          <a:bodyPr wrap="square">
            <a:spAutoFit/>
          </a:bodyPr>
          <a:lstStyle/>
          <a:p>
            <a:pPr algn="ctr"/>
            <a:r>
              <a:rPr lang="es-CO" sz="1400" dirty="0">
                <a:solidFill>
                  <a:schemeClr val="accent2"/>
                </a:solidFill>
                <a:latin typeface="Consolas" panose="020B0609020204030204" pitchFamily="49" charset="0"/>
              </a:rPr>
              <a:t>Entero</a:t>
            </a:r>
            <a:r>
              <a:rPr lang="es-CO" sz="1400" dirty="0">
                <a:latin typeface="Consolas" panose="020B0609020204030204" pitchFamily="49" charset="0"/>
              </a:rPr>
              <a:t>, </a:t>
            </a:r>
            <a:r>
              <a:rPr lang="es-CO" sz="1400" dirty="0">
                <a:solidFill>
                  <a:schemeClr val="accent2"/>
                </a:solidFill>
                <a:latin typeface="Consolas" panose="020B0609020204030204" pitchFamily="49" charset="0"/>
              </a:rPr>
              <a:t>Real</a:t>
            </a:r>
            <a:r>
              <a:rPr lang="es-CO" sz="1400" dirty="0">
                <a:latin typeface="Consolas" panose="020B0609020204030204" pitchFamily="49" charset="0"/>
              </a:rPr>
              <a:t>, </a:t>
            </a:r>
            <a:r>
              <a:rPr lang="es-CO" sz="1400" dirty="0">
                <a:solidFill>
                  <a:schemeClr val="accent2"/>
                </a:solidFill>
                <a:latin typeface="Consolas" panose="020B0609020204030204" pitchFamily="49" charset="0"/>
              </a:rPr>
              <a:t>Texto</a:t>
            </a:r>
            <a:r>
              <a:rPr lang="es-CO" sz="1400" dirty="0">
                <a:latin typeface="Consolas" panose="020B0609020204030204" pitchFamily="49" charset="0"/>
              </a:rPr>
              <a:t>, </a:t>
            </a:r>
            <a:r>
              <a:rPr lang="es-CO" sz="1400" dirty="0">
                <a:solidFill>
                  <a:schemeClr val="accent2"/>
                </a:solidFill>
                <a:latin typeface="Consolas" panose="020B0609020204030204" pitchFamily="49" charset="0"/>
              </a:rPr>
              <a:t>Logico</a:t>
            </a:r>
          </a:p>
        </p:txBody>
      </p:sp>
      <p:cxnSp>
        <p:nvCxnSpPr>
          <p:cNvPr id="12" name="Conector recto de flecha 11">
            <a:extLst>
              <a:ext uri="{FF2B5EF4-FFF2-40B4-BE49-F238E27FC236}">
                <a16:creationId xmlns:a16="http://schemas.microsoft.com/office/drawing/2014/main" id="{ED1BCF28-0C75-42D7-B9A3-FA212DE75E52}"/>
              </a:ext>
            </a:extLst>
          </p:cNvPr>
          <p:cNvCxnSpPr>
            <a:stCxn id="10" idx="2"/>
          </p:cNvCxnSpPr>
          <p:nvPr/>
        </p:nvCxnSpPr>
        <p:spPr>
          <a:xfrm>
            <a:off x="2926788" y="2528649"/>
            <a:ext cx="0" cy="430643"/>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99BFA4DA-A455-4862-BC4F-9794D5EB6D65}"/>
              </a:ext>
            </a:extLst>
          </p:cNvPr>
          <p:cNvCxnSpPr>
            <a:cxnSpLocks/>
          </p:cNvCxnSpPr>
          <p:nvPr/>
        </p:nvCxnSpPr>
        <p:spPr>
          <a:xfrm flipV="1">
            <a:off x="4572000" y="3297847"/>
            <a:ext cx="0" cy="419185"/>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6D0F1ACF-0CC2-4271-9F0B-CF3934154327}"/>
              </a:ext>
            </a:extLst>
          </p:cNvPr>
          <p:cNvSpPr txBox="1"/>
          <p:nvPr/>
        </p:nvSpPr>
        <p:spPr>
          <a:xfrm>
            <a:off x="3673452" y="3746934"/>
            <a:ext cx="1797095" cy="307777"/>
          </a:xfrm>
          <a:prstGeom prst="rect">
            <a:avLst/>
          </a:prstGeom>
          <a:noFill/>
        </p:spPr>
        <p:txBody>
          <a:bodyPr wrap="none" rtlCol="0">
            <a:spAutoFit/>
          </a:bodyPr>
          <a:lstStyle/>
          <a:p>
            <a:r>
              <a:rPr lang="es-CO" sz="1400" dirty="0">
                <a:solidFill>
                  <a:srgbClr val="0070C0"/>
                </a:solidFill>
              </a:rPr>
              <a:t>Nombre de la variable</a:t>
            </a:r>
          </a:p>
        </p:txBody>
      </p:sp>
      <p:cxnSp>
        <p:nvCxnSpPr>
          <p:cNvPr id="18" name="Conector recto de flecha 17">
            <a:extLst>
              <a:ext uri="{FF2B5EF4-FFF2-40B4-BE49-F238E27FC236}">
                <a16:creationId xmlns:a16="http://schemas.microsoft.com/office/drawing/2014/main" id="{057AF4D6-FFCC-413D-8969-73088174DD07}"/>
              </a:ext>
            </a:extLst>
          </p:cNvPr>
          <p:cNvCxnSpPr>
            <a:cxnSpLocks/>
          </p:cNvCxnSpPr>
          <p:nvPr/>
        </p:nvCxnSpPr>
        <p:spPr>
          <a:xfrm>
            <a:off x="5940152" y="2636912"/>
            <a:ext cx="0" cy="3223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CuadroTexto 20">
            <a:extLst>
              <a:ext uri="{FF2B5EF4-FFF2-40B4-BE49-F238E27FC236}">
                <a16:creationId xmlns:a16="http://schemas.microsoft.com/office/drawing/2014/main" id="{7798F436-8A8A-4289-807F-EA26EF077696}"/>
              </a:ext>
            </a:extLst>
          </p:cNvPr>
          <p:cNvSpPr txBox="1"/>
          <p:nvPr/>
        </p:nvSpPr>
        <p:spPr>
          <a:xfrm>
            <a:off x="5427223" y="2371710"/>
            <a:ext cx="1025858" cy="307777"/>
          </a:xfrm>
          <a:prstGeom prst="rect">
            <a:avLst/>
          </a:prstGeom>
          <a:noFill/>
        </p:spPr>
        <p:txBody>
          <a:bodyPr wrap="none" rtlCol="0">
            <a:spAutoFit/>
          </a:bodyPr>
          <a:lstStyle/>
          <a:p>
            <a:r>
              <a:rPr lang="es-CO" sz="1400" dirty="0"/>
              <a:t>Valor inicial</a:t>
            </a:r>
          </a:p>
        </p:txBody>
      </p:sp>
      <p:sp>
        <p:nvSpPr>
          <p:cNvPr id="22" name="CuadroTexto 21">
            <a:extLst>
              <a:ext uri="{FF2B5EF4-FFF2-40B4-BE49-F238E27FC236}">
                <a16:creationId xmlns:a16="http://schemas.microsoft.com/office/drawing/2014/main" id="{C0EBC0B4-22DD-4FEF-B070-FFC420D5D2B8}"/>
              </a:ext>
            </a:extLst>
          </p:cNvPr>
          <p:cNvSpPr txBox="1"/>
          <p:nvPr/>
        </p:nvSpPr>
        <p:spPr>
          <a:xfrm>
            <a:off x="657953" y="4527760"/>
            <a:ext cx="2776244" cy="738664"/>
          </a:xfrm>
          <a:prstGeom prst="rect">
            <a:avLst/>
          </a:prstGeom>
          <a:noFill/>
          <a:ln>
            <a:solidFill>
              <a:schemeClr val="tx1"/>
            </a:solidFill>
          </a:ln>
        </p:spPr>
        <p:txBody>
          <a:bodyPr wrap="square" rtlCol="0">
            <a:spAutoFit/>
          </a:bodyPr>
          <a:lstStyle/>
          <a:p>
            <a:r>
              <a:rPr lang="es-CO" sz="1400" dirty="0">
                <a:solidFill>
                  <a:schemeClr val="accent2"/>
                </a:solidFill>
                <a:latin typeface="Consolas" panose="020B0609020204030204" pitchFamily="49" charset="0"/>
                <a:cs typeface="Courier New" panose="02070309020205020404" pitchFamily="49" charset="0"/>
              </a:rPr>
              <a:t>Entero</a:t>
            </a:r>
            <a:r>
              <a:rPr lang="es-CO" sz="1400" dirty="0">
                <a:latin typeface="Consolas" panose="020B0609020204030204" pitchFamily="49" charset="0"/>
                <a:cs typeface="Courier New" panose="02070309020205020404" pitchFamily="49" charset="0"/>
              </a:rPr>
              <a:t> edad = 25</a:t>
            </a:r>
          </a:p>
          <a:p>
            <a:r>
              <a:rPr lang="es-CO" sz="1400" dirty="0">
                <a:solidFill>
                  <a:schemeClr val="accent2"/>
                </a:solidFill>
                <a:latin typeface="Consolas" panose="020B0609020204030204" pitchFamily="49" charset="0"/>
                <a:cs typeface="Courier New" panose="02070309020205020404" pitchFamily="49" charset="0"/>
              </a:rPr>
              <a:t>Real</a:t>
            </a:r>
            <a:r>
              <a:rPr lang="es-CO" sz="1400" dirty="0">
                <a:latin typeface="Consolas" panose="020B0609020204030204" pitchFamily="49" charset="0"/>
                <a:cs typeface="Courier New" panose="02070309020205020404" pitchFamily="49" charset="0"/>
              </a:rPr>
              <a:t> peso = 59.5</a:t>
            </a:r>
          </a:p>
          <a:p>
            <a:r>
              <a:rPr lang="es-CO" sz="1400" dirty="0">
                <a:solidFill>
                  <a:schemeClr val="accent2"/>
                </a:solidFill>
                <a:latin typeface="Consolas" panose="020B0609020204030204" pitchFamily="49" charset="0"/>
                <a:cs typeface="Courier New" panose="02070309020205020404" pitchFamily="49" charset="0"/>
              </a:rPr>
              <a:t>Texto</a:t>
            </a:r>
            <a:r>
              <a:rPr lang="es-CO" sz="1400" dirty="0">
                <a:latin typeface="Consolas" panose="020B0609020204030204" pitchFamily="49" charset="0"/>
                <a:cs typeface="Courier New" panose="02070309020205020404" pitchFamily="49" charset="0"/>
              </a:rPr>
              <a:t> nombre = </a:t>
            </a:r>
            <a:r>
              <a:rPr lang="es-CO" sz="1400" dirty="0"/>
              <a:t>“</a:t>
            </a:r>
            <a:r>
              <a:rPr lang="es-CO" sz="1400" dirty="0">
                <a:latin typeface="Consolas" panose="020B0609020204030204" pitchFamily="49" charset="0"/>
                <a:cs typeface="Courier New" panose="02070309020205020404" pitchFamily="49" charset="0"/>
              </a:rPr>
              <a:t>Pepe</a:t>
            </a:r>
            <a:r>
              <a:rPr lang="es-CO" sz="1400" dirty="0">
                <a:cs typeface="Courier New" panose="02070309020205020404" pitchFamily="49" charset="0"/>
              </a:rPr>
              <a:t>”</a:t>
            </a:r>
          </a:p>
        </p:txBody>
      </p:sp>
      <p:grpSp>
        <p:nvGrpSpPr>
          <p:cNvPr id="23" name="125 Grupo">
            <a:extLst>
              <a:ext uri="{FF2B5EF4-FFF2-40B4-BE49-F238E27FC236}">
                <a16:creationId xmlns:a16="http://schemas.microsoft.com/office/drawing/2014/main" id="{CFE71AD9-77FA-4578-BD4C-BAD08571D517}"/>
              </a:ext>
            </a:extLst>
          </p:cNvPr>
          <p:cNvGrpSpPr/>
          <p:nvPr/>
        </p:nvGrpSpPr>
        <p:grpSpPr>
          <a:xfrm>
            <a:off x="3981613" y="4503799"/>
            <a:ext cx="1728192" cy="1627793"/>
            <a:chOff x="2771800" y="3957882"/>
            <a:chExt cx="1728192" cy="1627793"/>
          </a:xfrm>
        </p:grpSpPr>
        <p:grpSp>
          <p:nvGrpSpPr>
            <p:cNvPr id="24" name="126 Grupo">
              <a:extLst>
                <a:ext uri="{FF2B5EF4-FFF2-40B4-BE49-F238E27FC236}">
                  <a16:creationId xmlns:a16="http://schemas.microsoft.com/office/drawing/2014/main" id="{0E0AF42A-18BA-4085-A266-BA2C99621C04}"/>
                </a:ext>
              </a:extLst>
            </p:cNvPr>
            <p:cNvGrpSpPr/>
            <p:nvPr/>
          </p:nvGrpSpPr>
          <p:grpSpPr>
            <a:xfrm>
              <a:off x="2771800" y="3957882"/>
              <a:ext cx="1728192" cy="1627793"/>
              <a:chOff x="2771800" y="3957882"/>
              <a:chExt cx="1728192" cy="1627793"/>
            </a:xfrm>
          </p:grpSpPr>
          <p:cxnSp>
            <p:nvCxnSpPr>
              <p:cNvPr id="29" name="131 Conector recto">
                <a:extLst>
                  <a:ext uri="{FF2B5EF4-FFF2-40B4-BE49-F238E27FC236}">
                    <a16:creationId xmlns:a16="http://schemas.microsoft.com/office/drawing/2014/main" id="{22D99018-6EDC-4693-BA3C-3793913EF574}"/>
                  </a:ext>
                </a:extLst>
              </p:cNvPr>
              <p:cNvCxnSpPr/>
              <p:nvPr/>
            </p:nvCxnSpPr>
            <p:spPr>
              <a:xfrm>
                <a:off x="2771800" y="3965150"/>
                <a:ext cx="0" cy="16205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132 Conector recto">
                <a:extLst>
                  <a:ext uri="{FF2B5EF4-FFF2-40B4-BE49-F238E27FC236}">
                    <a16:creationId xmlns:a16="http://schemas.microsoft.com/office/drawing/2014/main" id="{91D1CBB0-9E8F-4479-B5D4-2738E2403181}"/>
                  </a:ext>
                </a:extLst>
              </p:cNvPr>
              <p:cNvCxnSpPr/>
              <p:nvPr/>
            </p:nvCxnSpPr>
            <p:spPr>
              <a:xfrm>
                <a:off x="4499992" y="3957882"/>
                <a:ext cx="0" cy="162602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127 Grupo">
              <a:extLst>
                <a:ext uri="{FF2B5EF4-FFF2-40B4-BE49-F238E27FC236}">
                  <a16:creationId xmlns:a16="http://schemas.microsoft.com/office/drawing/2014/main" id="{3EA248D8-DE68-4897-844E-BED9AD0AB510}"/>
                </a:ext>
              </a:extLst>
            </p:cNvPr>
            <p:cNvGrpSpPr/>
            <p:nvPr/>
          </p:nvGrpSpPr>
          <p:grpSpPr>
            <a:xfrm>
              <a:off x="2871849" y="3997282"/>
              <a:ext cx="979755" cy="1586627"/>
              <a:chOff x="2871849" y="3997282"/>
              <a:chExt cx="979755" cy="1586627"/>
            </a:xfrm>
          </p:grpSpPr>
          <p:cxnSp>
            <p:nvCxnSpPr>
              <p:cNvPr id="26" name="128 Conector recto">
                <a:extLst>
                  <a:ext uri="{FF2B5EF4-FFF2-40B4-BE49-F238E27FC236}">
                    <a16:creationId xmlns:a16="http://schemas.microsoft.com/office/drawing/2014/main" id="{3AAD2236-5E91-4788-AECC-CBE374577804}"/>
                  </a:ext>
                </a:extLst>
              </p:cNvPr>
              <p:cNvCxnSpPr/>
              <p:nvPr/>
            </p:nvCxnSpPr>
            <p:spPr>
              <a:xfrm>
                <a:off x="2883977" y="4341629"/>
                <a:ext cx="9676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129 CuadroTexto">
                <a:extLst>
                  <a:ext uri="{FF2B5EF4-FFF2-40B4-BE49-F238E27FC236}">
                    <a16:creationId xmlns:a16="http://schemas.microsoft.com/office/drawing/2014/main" id="{2ED0339C-CBDB-4851-A39E-EC269AD7AC7C}"/>
                  </a:ext>
                </a:extLst>
              </p:cNvPr>
              <p:cNvSpPr txBox="1"/>
              <p:nvPr/>
            </p:nvSpPr>
            <p:spPr>
              <a:xfrm>
                <a:off x="2871849" y="3997282"/>
                <a:ext cx="880369" cy="307777"/>
              </a:xfrm>
              <a:prstGeom prst="rect">
                <a:avLst/>
              </a:prstGeom>
              <a:noFill/>
            </p:spPr>
            <p:txBody>
              <a:bodyPr wrap="none" rtlCol="0">
                <a:spAutoFit/>
              </a:bodyPr>
              <a:lstStyle/>
              <a:p>
                <a:r>
                  <a:rPr lang="es-CO" sz="1400" dirty="0">
                    <a:latin typeface="Consolas" panose="020B0609020204030204" pitchFamily="49" charset="0"/>
                    <a:cs typeface="Consolas" panose="020B0609020204030204" pitchFamily="49" charset="0"/>
                  </a:rPr>
                  <a:t>Memoria</a:t>
                </a:r>
                <a:endParaRPr lang="es-CO" sz="1600" dirty="0">
                  <a:latin typeface="Consolas" panose="020B0609020204030204" pitchFamily="49" charset="0"/>
                  <a:cs typeface="Consolas" panose="020B0609020204030204" pitchFamily="49" charset="0"/>
                </a:endParaRPr>
              </a:p>
            </p:txBody>
          </p:sp>
          <p:sp>
            <p:nvSpPr>
              <p:cNvPr id="28" name="130 CuadroTexto">
                <a:extLst>
                  <a:ext uri="{FF2B5EF4-FFF2-40B4-BE49-F238E27FC236}">
                    <a16:creationId xmlns:a16="http://schemas.microsoft.com/office/drawing/2014/main" id="{C517DDA3-C643-4E82-9362-CC188BBEF34F}"/>
                  </a:ext>
                </a:extLst>
              </p:cNvPr>
              <p:cNvSpPr txBox="1"/>
              <p:nvPr/>
            </p:nvSpPr>
            <p:spPr>
              <a:xfrm>
                <a:off x="3119841" y="5245355"/>
                <a:ext cx="52129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a:t>
                </a:r>
              </a:p>
            </p:txBody>
          </p:sp>
        </p:grpSp>
      </p:grpSp>
      <p:sp>
        <p:nvSpPr>
          <p:cNvPr id="31" name="133 Rectángulo">
            <a:extLst>
              <a:ext uri="{FF2B5EF4-FFF2-40B4-BE49-F238E27FC236}">
                <a16:creationId xmlns:a16="http://schemas.microsoft.com/office/drawing/2014/main" id="{6E51454E-F9D7-4D9B-B61C-59FA83F99F62}"/>
              </a:ext>
            </a:extLst>
          </p:cNvPr>
          <p:cNvSpPr/>
          <p:nvPr/>
        </p:nvSpPr>
        <p:spPr>
          <a:xfrm>
            <a:off x="4123488" y="4977698"/>
            <a:ext cx="582211" cy="307777"/>
          </a:xfrm>
          <a:prstGeom prst="rect">
            <a:avLst/>
          </a:prstGeom>
        </p:spPr>
        <p:txBody>
          <a:bodyPr wrap="none">
            <a:spAutoFit/>
          </a:bodyPr>
          <a:lstStyle/>
          <a:p>
            <a:r>
              <a:rPr lang="es-CO" sz="1400" dirty="0">
                <a:latin typeface="Consolas" panose="020B0609020204030204" pitchFamily="49" charset="0"/>
                <a:cs typeface="Consolas" panose="020B0609020204030204" pitchFamily="49" charset="0"/>
              </a:rPr>
              <a:t>edad</a:t>
            </a:r>
            <a:endParaRPr lang="es-CO" sz="1600" dirty="0"/>
          </a:p>
        </p:txBody>
      </p:sp>
      <p:sp>
        <p:nvSpPr>
          <p:cNvPr id="32" name="134 Rectángulo">
            <a:extLst>
              <a:ext uri="{FF2B5EF4-FFF2-40B4-BE49-F238E27FC236}">
                <a16:creationId xmlns:a16="http://schemas.microsoft.com/office/drawing/2014/main" id="{618408D8-3990-4143-8F6A-858AB11923B4}"/>
              </a:ext>
            </a:extLst>
          </p:cNvPr>
          <p:cNvSpPr/>
          <p:nvPr/>
        </p:nvSpPr>
        <p:spPr>
          <a:xfrm>
            <a:off x="4910342" y="5013212"/>
            <a:ext cx="588995" cy="23397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135 Rectángulo">
            <a:extLst>
              <a:ext uri="{FF2B5EF4-FFF2-40B4-BE49-F238E27FC236}">
                <a16:creationId xmlns:a16="http://schemas.microsoft.com/office/drawing/2014/main" id="{6B2A5209-02CC-4377-860C-94D5164AB3ED}"/>
              </a:ext>
            </a:extLst>
          </p:cNvPr>
          <p:cNvSpPr/>
          <p:nvPr/>
        </p:nvSpPr>
        <p:spPr>
          <a:xfrm>
            <a:off x="4119861" y="5273109"/>
            <a:ext cx="582211" cy="307777"/>
          </a:xfrm>
          <a:prstGeom prst="rect">
            <a:avLst/>
          </a:prstGeom>
        </p:spPr>
        <p:txBody>
          <a:bodyPr wrap="none">
            <a:spAutoFit/>
          </a:bodyPr>
          <a:lstStyle/>
          <a:p>
            <a:r>
              <a:rPr lang="es-CO" sz="1400" dirty="0">
                <a:latin typeface="Consolas" panose="020B0609020204030204" pitchFamily="49" charset="0"/>
                <a:cs typeface="Consolas" panose="020B0609020204030204" pitchFamily="49" charset="0"/>
              </a:rPr>
              <a:t>peso</a:t>
            </a:r>
            <a:endParaRPr lang="es-CO" sz="1600" dirty="0"/>
          </a:p>
        </p:txBody>
      </p:sp>
      <p:sp>
        <p:nvSpPr>
          <p:cNvPr id="34" name="136 Rectángulo">
            <a:extLst>
              <a:ext uri="{FF2B5EF4-FFF2-40B4-BE49-F238E27FC236}">
                <a16:creationId xmlns:a16="http://schemas.microsoft.com/office/drawing/2014/main" id="{28DF2066-611E-4AA8-97BE-16DBB688582B}"/>
              </a:ext>
            </a:extLst>
          </p:cNvPr>
          <p:cNvSpPr/>
          <p:nvPr/>
        </p:nvSpPr>
        <p:spPr>
          <a:xfrm>
            <a:off x="4906791" y="5283290"/>
            <a:ext cx="592546" cy="23397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5" name="139 Rectángulo">
            <a:extLst>
              <a:ext uri="{FF2B5EF4-FFF2-40B4-BE49-F238E27FC236}">
                <a16:creationId xmlns:a16="http://schemas.microsoft.com/office/drawing/2014/main" id="{C6F6E895-F1F4-4945-B49A-D7CFA9D8F4E0}"/>
              </a:ext>
            </a:extLst>
          </p:cNvPr>
          <p:cNvSpPr/>
          <p:nvPr/>
        </p:nvSpPr>
        <p:spPr>
          <a:xfrm>
            <a:off x="4121240" y="5558282"/>
            <a:ext cx="780983" cy="307777"/>
          </a:xfrm>
          <a:prstGeom prst="rect">
            <a:avLst/>
          </a:prstGeom>
        </p:spPr>
        <p:txBody>
          <a:bodyPr wrap="none">
            <a:spAutoFit/>
          </a:bodyPr>
          <a:lstStyle/>
          <a:p>
            <a:r>
              <a:rPr lang="es-CO" sz="1400" dirty="0">
                <a:latin typeface="Consolas" panose="020B0609020204030204" pitchFamily="49" charset="0"/>
                <a:cs typeface="Consolas" panose="020B0609020204030204" pitchFamily="49" charset="0"/>
              </a:rPr>
              <a:t>nombre</a:t>
            </a:r>
            <a:endParaRPr lang="es-CO" sz="1600" dirty="0"/>
          </a:p>
        </p:txBody>
      </p:sp>
      <p:sp>
        <p:nvSpPr>
          <p:cNvPr id="36" name="140 Rectángulo">
            <a:extLst>
              <a:ext uri="{FF2B5EF4-FFF2-40B4-BE49-F238E27FC236}">
                <a16:creationId xmlns:a16="http://schemas.microsoft.com/office/drawing/2014/main" id="{E4E8BE65-FBA5-485E-9039-9F092A2A00D5}"/>
              </a:ext>
            </a:extLst>
          </p:cNvPr>
          <p:cNvSpPr/>
          <p:nvPr/>
        </p:nvSpPr>
        <p:spPr>
          <a:xfrm>
            <a:off x="4918157" y="5589276"/>
            <a:ext cx="581182" cy="23397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7" name="141 Rectángulo">
            <a:extLst>
              <a:ext uri="{FF2B5EF4-FFF2-40B4-BE49-F238E27FC236}">
                <a16:creationId xmlns:a16="http://schemas.microsoft.com/office/drawing/2014/main" id="{C7BCD0D8-23BF-4F56-BB34-7C6A95CF93B9}"/>
              </a:ext>
            </a:extLst>
          </p:cNvPr>
          <p:cNvSpPr/>
          <p:nvPr/>
        </p:nvSpPr>
        <p:spPr>
          <a:xfrm>
            <a:off x="5006325" y="4977698"/>
            <a:ext cx="367408" cy="307777"/>
          </a:xfrm>
          <a:prstGeom prst="rect">
            <a:avLst/>
          </a:prstGeom>
        </p:spPr>
        <p:txBody>
          <a:bodyPr wrap="none">
            <a:spAutoFit/>
          </a:bodyPr>
          <a:lstStyle/>
          <a:p>
            <a:r>
              <a:rPr lang="es-CO" sz="1400" dirty="0"/>
              <a:t>25</a:t>
            </a:r>
          </a:p>
        </p:txBody>
      </p:sp>
      <p:sp>
        <p:nvSpPr>
          <p:cNvPr id="38" name="142 Rectángulo">
            <a:extLst>
              <a:ext uri="{FF2B5EF4-FFF2-40B4-BE49-F238E27FC236}">
                <a16:creationId xmlns:a16="http://schemas.microsoft.com/office/drawing/2014/main" id="{8470CA0A-6C25-4E88-A2F0-916F3CEE469A}"/>
              </a:ext>
            </a:extLst>
          </p:cNvPr>
          <p:cNvSpPr/>
          <p:nvPr/>
        </p:nvSpPr>
        <p:spPr>
          <a:xfrm>
            <a:off x="4970287" y="5244599"/>
            <a:ext cx="503664" cy="307777"/>
          </a:xfrm>
          <a:prstGeom prst="rect">
            <a:avLst/>
          </a:prstGeom>
        </p:spPr>
        <p:txBody>
          <a:bodyPr wrap="none">
            <a:spAutoFit/>
          </a:bodyPr>
          <a:lstStyle/>
          <a:p>
            <a:r>
              <a:rPr lang="es-CO" sz="1400" dirty="0"/>
              <a:t>59.5</a:t>
            </a:r>
          </a:p>
        </p:txBody>
      </p:sp>
      <p:sp>
        <p:nvSpPr>
          <p:cNvPr id="39" name="143 Rectángulo">
            <a:extLst>
              <a:ext uri="{FF2B5EF4-FFF2-40B4-BE49-F238E27FC236}">
                <a16:creationId xmlns:a16="http://schemas.microsoft.com/office/drawing/2014/main" id="{0C50CB47-1874-4B32-90AF-5CA9487B8FCA}"/>
              </a:ext>
            </a:extLst>
          </p:cNvPr>
          <p:cNvSpPr/>
          <p:nvPr/>
        </p:nvSpPr>
        <p:spPr>
          <a:xfrm>
            <a:off x="4871702" y="5552376"/>
            <a:ext cx="700833" cy="307777"/>
          </a:xfrm>
          <a:prstGeom prst="rect">
            <a:avLst/>
          </a:prstGeom>
        </p:spPr>
        <p:txBody>
          <a:bodyPr wrap="none">
            <a:spAutoFit/>
          </a:bodyPr>
          <a:lstStyle/>
          <a:p>
            <a:r>
              <a:rPr lang="es-CO" sz="1400" dirty="0"/>
              <a:t>“pepe”</a:t>
            </a:r>
          </a:p>
        </p:txBody>
      </p:sp>
    </p:spTree>
    <p:extLst>
      <p:ext uri="{BB962C8B-B14F-4D97-AF65-F5344CB8AC3E}">
        <p14:creationId xmlns:p14="http://schemas.microsoft.com/office/powerpoint/2010/main" val="2468838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37309" y="166419"/>
            <a:ext cx="7886700" cy="1116540"/>
          </a:xfrm>
        </p:spPr>
        <p:txBody>
          <a:bodyPr/>
          <a:lstStyle/>
          <a:p>
            <a:r>
              <a:rPr lang="en-US" sz="3200" dirty="0"/>
              <a:t>Datos en algoritmos</a:t>
            </a:r>
          </a:p>
        </p:txBody>
      </p:sp>
      <p:sp>
        <p:nvSpPr>
          <p:cNvPr id="4" name="Slide Number Placeholder 3"/>
          <p:cNvSpPr>
            <a:spLocks noGrp="1"/>
          </p:cNvSpPr>
          <p:nvPr>
            <p:ph type="sldNum" sz="quarter" idx="12"/>
          </p:nvPr>
        </p:nvSpPr>
        <p:spPr/>
        <p:txBody>
          <a:bodyPr/>
          <a:lstStyle/>
          <a:p>
            <a:fld id="{45F1CE28-A3C7-48DC-84A2-8FB08D6123C5}" type="slidenum">
              <a:rPr lang="en-US" smtClean="0"/>
              <a:pPr/>
              <a:t>13</a:t>
            </a:fld>
            <a:endParaRPr lang="en-US" dirty="0"/>
          </a:p>
        </p:txBody>
      </p:sp>
      <p:sp>
        <p:nvSpPr>
          <p:cNvPr id="15" name="CuadroTexto 14">
            <a:extLst>
              <a:ext uri="{FF2B5EF4-FFF2-40B4-BE49-F238E27FC236}">
                <a16:creationId xmlns:a16="http://schemas.microsoft.com/office/drawing/2014/main" id="{70CC87B5-FE6C-4BE6-A988-C5E4FB4A65B0}"/>
              </a:ext>
            </a:extLst>
          </p:cNvPr>
          <p:cNvSpPr txBox="1"/>
          <p:nvPr/>
        </p:nvSpPr>
        <p:spPr>
          <a:xfrm>
            <a:off x="179512" y="980728"/>
            <a:ext cx="8437799" cy="1107996"/>
          </a:xfrm>
          <a:prstGeom prst="rect">
            <a:avLst/>
          </a:prstGeom>
          <a:noFill/>
        </p:spPr>
        <p:txBody>
          <a:bodyPr wrap="square">
            <a:spAutoFit/>
          </a:bodyPr>
          <a:lstStyle/>
          <a:p>
            <a:r>
              <a:rPr lang="es-CO" sz="2200" dirty="0"/>
              <a:t>Los </a:t>
            </a:r>
            <a:r>
              <a:rPr lang="es-CO" sz="2200" b="1" dirty="0">
                <a:solidFill>
                  <a:srgbClr val="FF0000"/>
                </a:solidFill>
              </a:rPr>
              <a:t>identificadores</a:t>
            </a:r>
            <a:r>
              <a:rPr lang="es-CO" sz="2200" dirty="0"/>
              <a:t> son nombres que se dan a los elementos utilizados para resolver un problema (variables, funciones, procedimientos, nombre del programa).</a:t>
            </a:r>
          </a:p>
        </p:txBody>
      </p:sp>
      <p:graphicFrame>
        <p:nvGraphicFramePr>
          <p:cNvPr id="7" name="Tabla 6">
            <a:extLst>
              <a:ext uri="{FF2B5EF4-FFF2-40B4-BE49-F238E27FC236}">
                <a16:creationId xmlns:a16="http://schemas.microsoft.com/office/drawing/2014/main" id="{BBFFDC55-71B7-4D56-91C0-4548842FCD4D}"/>
              </a:ext>
            </a:extLst>
          </p:cNvPr>
          <p:cNvGraphicFramePr>
            <a:graphicFrameLocks noGrp="1"/>
          </p:cNvGraphicFramePr>
          <p:nvPr>
            <p:extLst>
              <p:ext uri="{D42A27DB-BD31-4B8C-83A1-F6EECF244321}">
                <p14:modId xmlns:p14="http://schemas.microsoft.com/office/powerpoint/2010/main" val="3887953358"/>
              </p:ext>
            </p:extLst>
          </p:nvPr>
        </p:nvGraphicFramePr>
        <p:xfrm>
          <a:off x="257835" y="2204864"/>
          <a:ext cx="8281152" cy="2260600"/>
        </p:xfrm>
        <a:graphic>
          <a:graphicData uri="http://schemas.openxmlformats.org/drawingml/2006/table">
            <a:tbl>
              <a:tblPr firstRow="1" bandRow="1">
                <a:tableStyleId>{5940675A-B579-460E-94D1-54222C63F5DA}</a:tableStyleId>
              </a:tblPr>
              <a:tblGrid>
                <a:gridCol w="3234045">
                  <a:extLst>
                    <a:ext uri="{9D8B030D-6E8A-4147-A177-3AD203B41FA5}">
                      <a16:colId xmlns:a16="http://schemas.microsoft.com/office/drawing/2014/main" val="3622000655"/>
                    </a:ext>
                  </a:extLst>
                </a:gridCol>
                <a:gridCol w="5047107">
                  <a:extLst>
                    <a:ext uri="{9D8B030D-6E8A-4147-A177-3AD203B41FA5}">
                      <a16:colId xmlns:a16="http://schemas.microsoft.com/office/drawing/2014/main" val="2679410866"/>
                    </a:ext>
                  </a:extLst>
                </a:gridCol>
              </a:tblGrid>
              <a:tr h="370840">
                <a:tc>
                  <a:txBody>
                    <a:bodyPr/>
                    <a:lstStyle/>
                    <a:p>
                      <a:r>
                        <a:rPr lang="es-MX" sz="1800" b="1" dirty="0">
                          <a:solidFill>
                            <a:schemeClr val="bg1"/>
                          </a:solidFill>
                          <a:latin typeface="+mn-lt"/>
                        </a:rPr>
                        <a:t>Reglas y buenas practicas</a:t>
                      </a:r>
                      <a:endParaRPr lang="es-CO" sz="1800" b="1" dirty="0">
                        <a:solidFill>
                          <a:schemeClr val="bg1"/>
                        </a:solidFill>
                        <a:latin typeface="+mn-lt"/>
                      </a:endParaRPr>
                    </a:p>
                  </a:txBody>
                  <a:tcPr>
                    <a:solidFill>
                      <a:schemeClr val="tx1"/>
                    </a:solidFill>
                  </a:tcPr>
                </a:tc>
                <a:tc>
                  <a:txBody>
                    <a:bodyPr/>
                    <a:lstStyle/>
                    <a:p>
                      <a:r>
                        <a:rPr lang="es-MX" sz="1800" b="1" dirty="0">
                          <a:solidFill>
                            <a:schemeClr val="bg1"/>
                          </a:solidFill>
                          <a:latin typeface="+mn-lt"/>
                        </a:rPr>
                        <a:t>Ejemplos</a:t>
                      </a:r>
                      <a:endParaRPr lang="es-CO" sz="1800" b="1" dirty="0">
                        <a:solidFill>
                          <a:schemeClr val="bg1"/>
                        </a:solidFill>
                        <a:latin typeface="+mn-lt"/>
                      </a:endParaRPr>
                    </a:p>
                  </a:txBody>
                  <a:tcPr>
                    <a:solidFill>
                      <a:schemeClr val="tx1"/>
                    </a:solidFill>
                  </a:tcPr>
                </a:tc>
                <a:extLst>
                  <a:ext uri="{0D108BD9-81ED-4DB2-BD59-A6C34878D82A}">
                    <a16:rowId xmlns:a16="http://schemas.microsoft.com/office/drawing/2014/main" val="480209282"/>
                  </a:ext>
                </a:extLst>
              </a:tr>
              <a:tr h="370840">
                <a:tc>
                  <a:txBody>
                    <a:bodyPr/>
                    <a:lstStyle/>
                    <a:p>
                      <a:pPr lvl="0" algn="just"/>
                      <a:r>
                        <a:rPr lang="es-CO" sz="1600" dirty="0">
                          <a:latin typeface="+mn-lt"/>
                        </a:rPr>
                        <a:t>Pueden estar formados por una combinación de números y letras. Sin embargo, el primer carácter no puede ser un numero.</a:t>
                      </a:r>
                    </a:p>
                  </a:txBody>
                  <a:tcPr/>
                </a:tc>
                <a:tc>
                  <a:txBody>
                    <a:bodyPr/>
                    <a:lstStyle/>
                    <a:p>
                      <a:r>
                        <a:rPr lang="es-CO" sz="1600" b="0" dirty="0">
                          <a:solidFill>
                            <a:schemeClr val="accent6"/>
                          </a:solidFill>
                          <a:latin typeface="Consolas" panose="020B0609020204030204" pitchFamily="49" charset="0"/>
                        </a:rPr>
                        <a:t>grupo1</a:t>
                      </a:r>
                      <a:r>
                        <a:rPr lang="es-CO" sz="1600" b="0" dirty="0">
                          <a:latin typeface="Consolas" panose="020B0609020204030204" pitchFamily="49" charset="0"/>
                        </a:rPr>
                        <a:t>, </a:t>
                      </a:r>
                      <a:r>
                        <a:rPr lang="es-CO" sz="1600" b="0" dirty="0">
                          <a:solidFill>
                            <a:schemeClr val="accent6"/>
                          </a:solidFill>
                          <a:latin typeface="Consolas" panose="020B0609020204030204" pitchFamily="49" charset="0"/>
                        </a:rPr>
                        <a:t>grupo_2</a:t>
                      </a:r>
                      <a:r>
                        <a:rPr lang="es-CO" sz="1600" b="0" dirty="0">
                          <a:latin typeface="Consolas" panose="020B0609020204030204" pitchFamily="49" charset="0"/>
                        </a:rPr>
                        <a:t>, </a:t>
                      </a:r>
                      <a:r>
                        <a:rPr lang="es-CO" sz="1600" b="0" dirty="0" err="1">
                          <a:solidFill>
                            <a:schemeClr val="accent6"/>
                          </a:solidFill>
                          <a:latin typeface="Consolas" panose="020B0609020204030204" pitchFamily="49" charset="0"/>
                        </a:rPr>
                        <a:t>ced</a:t>
                      </a:r>
                      <a:r>
                        <a:rPr lang="es-CO" sz="1600" b="0" dirty="0">
                          <a:latin typeface="Consolas" panose="020B0609020204030204" pitchFamily="49" charset="0"/>
                        </a:rPr>
                        <a:t>, </a:t>
                      </a:r>
                      <a:r>
                        <a:rPr lang="es-CO" sz="1600" b="0" dirty="0">
                          <a:solidFill>
                            <a:schemeClr val="accent6"/>
                          </a:solidFill>
                          <a:latin typeface="Consolas" panose="020B0609020204030204" pitchFamily="49" charset="0"/>
                        </a:rPr>
                        <a:t>peso</a:t>
                      </a:r>
                      <a:r>
                        <a:rPr lang="es-CO" sz="1600" b="0" dirty="0">
                          <a:latin typeface="Consolas" panose="020B0609020204030204" pitchFamily="49" charset="0"/>
                        </a:rPr>
                        <a:t>, </a:t>
                      </a:r>
                      <a:r>
                        <a:rPr lang="es-CO" sz="1600" b="0" dirty="0" err="1">
                          <a:solidFill>
                            <a:schemeClr val="accent6"/>
                          </a:solidFill>
                          <a:latin typeface="Consolas" panose="020B0609020204030204" pitchFamily="49" charset="0"/>
                        </a:rPr>
                        <a:t>num_est</a:t>
                      </a:r>
                      <a:r>
                        <a:rPr lang="es-CO" sz="1600" b="0" dirty="0">
                          <a:latin typeface="Consolas" panose="020B0609020204030204" pitchFamily="49" charset="0"/>
                        </a:rPr>
                        <a:t>, </a:t>
                      </a:r>
                      <a:r>
                        <a:rPr lang="es-CO" sz="1600" b="0" dirty="0" err="1">
                          <a:solidFill>
                            <a:schemeClr val="accent6"/>
                          </a:solidFill>
                          <a:latin typeface="Consolas" panose="020B0609020204030204" pitchFamily="49" charset="0"/>
                        </a:rPr>
                        <a:t>nom</a:t>
                      </a:r>
                      <a:r>
                        <a:rPr lang="es-CO" sz="1600" b="0" dirty="0">
                          <a:latin typeface="Consolas" panose="020B0609020204030204" pitchFamily="49" charset="0"/>
                        </a:rPr>
                        <a:t>, </a:t>
                      </a:r>
                      <a:r>
                        <a:rPr lang="es-CO" sz="1600" b="0" dirty="0" err="1">
                          <a:solidFill>
                            <a:schemeClr val="accent6"/>
                          </a:solidFill>
                          <a:latin typeface="Consolas" panose="020B0609020204030204" pitchFamily="49" charset="0"/>
                        </a:rPr>
                        <a:t>name</a:t>
                      </a:r>
                      <a:r>
                        <a:rPr lang="es-CO" sz="1600" b="0" dirty="0">
                          <a:latin typeface="Consolas" panose="020B0609020204030204" pitchFamily="49" charset="0"/>
                        </a:rPr>
                        <a:t>, </a:t>
                      </a:r>
                      <a:r>
                        <a:rPr lang="es-CO" sz="1600" b="0" dirty="0">
                          <a:solidFill>
                            <a:schemeClr val="accent6"/>
                          </a:solidFill>
                          <a:latin typeface="Consolas" panose="020B0609020204030204" pitchFamily="49" charset="0"/>
                        </a:rPr>
                        <a:t>_x</a:t>
                      </a:r>
                      <a:r>
                        <a:rPr lang="es-CO" sz="1600" b="0" dirty="0">
                          <a:latin typeface="Consolas" panose="020B0609020204030204" pitchFamily="49" charset="0"/>
                        </a:rPr>
                        <a:t>, </a:t>
                      </a:r>
                      <a:r>
                        <a:rPr lang="es-CO" sz="1600" b="0" dirty="0">
                          <a:solidFill>
                            <a:schemeClr val="accent6"/>
                          </a:solidFill>
                          <a:latin typeface="Consolas" panose="020B0609020204030204" pitchFamily="49" charset="0"/>
                        </a:rPr>
                        <a:t>y</a:t>
                      </a:r>
                      <a:r>
                        <a:rPr lang="es-CO" sz="1600" b="0" dirty="0">
                          <a:latin typeface="Consolas" panose="020B0609020204030204" pitchFamily="49" charset="0"/>
                        </a:rPr>
                        <a:t>, </a:t>
                      </a:r>
                      <a:r>
                        <a:rPr lang="es-CO" sz="1600" b="0" strike="sngStrike" dirty="0">
                          <a:solidFill>
                            <a:srgbClr val="FF0000"/>
                          </a:solidFill>
                          <a:latin typeface="Consolas" panose="020B0609020204030204" pitchFamily="49" charset="0"/>
                        </a:rPr>
                        <a:t>2345bcc</a:t>
                      </a:r>
                      <a:r>
                        <a:rPr lang="es-CO" sz="1600" b="0" dirty="0">
                          <a:latin typeface="Consolas" panose="020B0609020204030204" pitchFamily="49" charset="0"/>
                        </a:rPr>
                        <a:t>, </a:t>
                      </a:r>
                      <a:r>
                        <a:rPr lang="es-CO" sz="1600" b="0" strike="sngStrike" dirty="0" err="1">
                          <a:solidFill>
                            <a:srgbClr val="FF0000"/>
                          </a:solidFill>
                          <a:latin typeface="Consolas" panose="020B0609020204030204" pitchFamily="49" charset="0"/>
                        </a:rPr>
                        <a:t>num</a:t>
                      </a:r>
                      <a:r>
                        <a:rPr lang="es-CO" sz="1600" b="0" strike="sngStrike" dirty="0">
                          <a:solidFill>
                            <a:srgbClr val="FF0000"/>
                          </a:solidFill>
                          <a:latin typeface="Consolas" panose="020B0609020204030204" pitchFamily="49" charset="0"/>
                        </a:rPr>
                        <a:t> </a:t>
                      </a:r>
                      <a:r>
                        <a:rPr lang="es-CO" sz="1600" b="0" strike="sngStrike" dirty="0" err="1">
                          <a:solidFill>
                            <a:srgbClr val="FF0000"/>
                          </a:solidFill>
                          <a:latin typeface="Consolas" panose="020B0609020204030204" pitchFamily="49" charset="0"/>
                        </a:rPr>
                        <a:t>est</a:t>
                      </a:r>
                      <a:r>
                        <a:rPr lang="es-CO" sz="1600" b="0" dirty="0">
                          <a:latin typeface="Consolas" panose="020B0609020204030204" pitchFamily="49" charset="0"/>
                        </a:rPr>
                        <a:t>, </a:t>
                      </a:r>
                      <a:r>
                        <a:rPr lang="es-CO" sz="1600" b="0" strike="sngStrike" dirty="0">
                          <a:solidFill>
                            <a:srgbClr val="FF0000"/>
                          </a:solidFill>
                          <a:latin typeface="Consolas" panose="020B0609020204030204" pitchFamily="49" charset="0"/>
                        </a:rPr>
                        <a:t>c+23</a:t>
                      </a:r>
                    </a:p>
                  </a:txBody>
                  <a:tcPr/>
                </a:tc>
                <a:extLst>
                  <a:ext uri="{0D108BD9-81ED-4DB2-BD59-A6C34878D82A}">
                    <a16:rowId xmlns:a16="http://schemas.microsoft.com/office/drawing/2014/main" val="2428998015"/>
                  </a:ext>
                </a:extLst>
              </a:tr>
              <a:tr h="370840">
                <a:tc>
                  <a:txBody>
                    <a:bodyPr/>
                    <a:lstStyle/>
                    <a:p>
                      <a:pPr lvl="0" algn="just"/>
                      <a:r>
                        <a:rPr lang="es-MX" sz="1600" dirty="0">
                          <a:latin typeface="+mn-lt"/>
                        </a:rPr>
                        <a:t>Usar nombres autodescriptivos, los nombres de las variables deben indicar claramente qué almacenan.</a:t>
                      </a:r>
                      <a:endParaRPr lang="es-CO" sz="1600" dirty="0">
                        <a:latin typeface="+mn-lt"/>
                      </a:endParaRPr>
                    </a:p>
                  </a:txBody>
                  <a:tcPr/>
                </a:tc>
                <a:tc>
                  <a:txBody>
                    <a:bodyPr/>
                    <a:lstStyle/>
                    <a:p>
                      <a:r>
                        <a:rPr lang="es-MX" sz="1600" dirty="0">
                          <a:latin typeface="+mj-lt"/>
                        </a:rPr>
                        <a:t>Nombre Completo </a:t>
                      </a:r>
                      <a:r>
                        <a:rPr lang="es-MX" sz="1600" dirty="0">
                          <a:latin typeface="+mj-lt"/>
                          <a:sym typeface="Wingdings" panose="05000000000000000000" pitchFamily="2" charset="2"/>
                        </a:rPr>
                        <a:t> </a:t>
                      </a:r>
                      <a:r>
                        <a:rPr lang="es-MX" sz="1600" dirty="0">
                          <a:latin typeface="Consolas" panose="020B0609020204030204" pitchFamily="49" charset="0"/>
                          <a:sym typeface="Wingdings" panose="05000000000000000000" pitchFamily="2" charset="2"/>
                        </a:rPr>
                        <a:t>nombre</a:t>
                      </a:r>
                    </a:p>
                    <a:p>
                      <a:r>
                        <a:rPr lang="es-MX" sz="1600" dirty="0">
                          <a:latin typeface="+mj-lt"/>
                          <a:sym typeface="Wingdings" panose="05000000000000000000" pitchFamily="2" charset="2"/>
                        </a:rPr>
                        <a:t>Numero de estudiantes  </a:t>
                      </a:r>
                      <a:r>
                        <a:rPr lang="es-MX" sz="1600" dirty="0" err="1">
                          <a:latin typeface="Consolas" panose="020B0609020204030204" pitchFamily="49" charset="0"/>
                          <a:sym typeface="Wingdings" panose="05000000000000000000" pitchFamily="2" charset="2"/>
                        </a:rPr>
                        <a:t>numero_estudiantes</a:t>
                      </a:r>
                      <a:endParaRPr lang="es-MX" sz="1600" dirty="0">
                        <a:latin typeface="Consolas" panose="020B0609020204030204" pitchFamily="49" charset="0"/>
                        <a:sym typeface="Wingdings" panose="05000000000000000000" pitchFamily="2" charset="2"/>
                      </a:endParaRPr>
                    </a:p>
                    <a:p>
                      <a:endParaRPr lang="es-CO" sz="1600" dirty="0">
                        <a:latin typeface="Consolas" panose="020B0609020204030204" pitchFamily="49" charset="0"/>
                      </a:endParaRPr>
                    </a:p>
                  </a:txBody>
                  <a:tcPr/>
                </a:tc>
                <a:extLst>
                  <a:ext uri="{0D108BD9-81ED-4DB2-BD59-A6C34878D82A}">
                    <a16:rowId xmlns:a16="http://schemas.microsoft.com/office/drawing/2014/main" val="1496770222"/>
                  </a:ext>
                </a:extLst>
              </a:tr>
            </a:tbl>
          </a:graphicData>
        </a:graphic>
      </p:graphicFrame>
      <p:sp>
        <p:nvSpPr>
          <p:cNvPr id="8" name="CuadroTexto 7">
            <a:extLst>
              <a:ext uri="{FF2B5EF4-FFF2-40B4-BE49-F238E27FC236}">
                <a16:creationId xmlns:a16="http://schemas.microsoft.com/office/drawing/2014/main" id="{22CAB8A2-AE05-47CF-A071-FFDD1FED5AF6}"/>
              </a:ext>
            </a:extLst>
          </p:cNvPr>
          <p:cNvSpPr txBox="1"/>
          <p:nvPr/>
        </p:nvSpPr>
        <p:spPr>
          <a:xfrm>
            <a:off x="179512" y="4661555"/>
            <a:ext cx="7848872" cy="400110"/>
          </a:xfrm>
          <a:prstGeom prst="rect">
            <a:avLst/>
          </a:prstGeom>
          <a:noFill/>
        </p:spPr>
        <p:txBody>
          <a:bodyPr wrap="square">
            <a:spAutoFit/>
          </a:bodyPr>
          <a:lstStyle/>
          <a:p>
            <a:r>
              <a:rPr lang="es-CO" sz="2000" dirty="0"/>
              <a:t>Estilos de nombrado para juntar múltiples palabras en una sola:</a:t>
            </a:r>
          </a:p>
        </p:txBody>
      </p:sp>
      <p:pic>
        <p:nvPicPr>
          <p:cNvPr id="6" name="Imagen 5">
            <a:extLst>
              <a:ext uri="{FF2B5EF4-FFF2-40B4-BE49-F238E27FC236}">
                <a16:creationId xmlns:a16="http://schemas.microsoft.com/office/drawing/2014/main" id="{9133E1B8-7BC8-4C0B-8F14-C8F47E085032}"/>
              </a:ext>
            </a:extLst>
          </p:cNvPr>
          <p:cNvPicPr>
            <a:picLocks noChangeAspect="1"/>
          </p:cNvPicPr>
          <p:nvPr/>
        </p:nvPicPr>
        <p:blipFill>
          <a:blip r:embed="rId2"/>
          <a:stretch>
            <a:fillRect/>
          </a:stretch>
        </p:blipFill>
        <p:spPr>
          <a:xfrm>
            <a:off x="3130425" y="5111580"/>
            <a:ext cx="3000111" cy="1557780"/>
          </a:xfrm>
          <a:prstGeom prst="rect">
            <a:avLst/>
          </a:prstGeom>
        </p:spPr>
      </p:pic>
    </p:spTree>
    <p:extLst>
      <p:ext uri="{BB962C8B-B14F-4D97-AF65-F5344CB8AC3E}">
        <p14:creationId xmlns:p14="http://schemas.microsoft.com/office/powerpoint/2010/main" val="2335580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10897" y="166419"/>
            <a:ext cx="7713112" cy="1116540"/>
          </a:xfrm>
        </p:spPr>
        <p:txBody>
          <a:bodyPr/>
          <a:lstStyle/>
          <a:p>
            <a:r>
              <a:rPr lang="en-US" sz="3200" dirty="0"/>
              <a:t>Buenas prácticas</a:t>
            </a:r>
          </a:p>
        </p:txBody>
      </p:sp>
      <p:sp>
        <p:nvSpPr>
          <p:cNvPr id="15" name="CuadroTexto 14">
            <a:extLst>
              <a:ext uri="{FF2B5EF4-FFF2-40B4-BE49-F238E27FC236}">
                <a16:creationId xmlns:a16="http://schemas.microsoft.com/office/drawing/2014/main" id="{70CC87B5-FE6C-4BE6-A988-C5E4FB4A65B0}"/>
              </a:ext>
            </a:extLst>
          </p:cNvPr>
          <p:cNvSpPr txBox="1"/>
          <p:nvPr/>
        </p:nvSpPr>
        <p:spPr>
          <a:xfrm>
            <a:off x="353099" y="920728"/>
            <a:ext cx="8437799" cy="1631216"/>
          </a:xfrm>
          <a:prstGeom prst="rect">
            <a:avLst/>
          </a:prstGeom>
          <a:noFill/>
        </p:spPr>
        <p:txBody>
          <a:bodyPr wrap="square">
            <a:spAutoFit/>
          </a:bodyPr>
          <a:lstStyle/>
          <a:p>
            <a:pPr marL="342900" indent="-342900">
              <a:buFont typeface="Arial" panose="020B0604020202020204" pitchFamily="34" charset="0"/>
              <a:buChar char="•"/>
            </a:pPr>
            <a:r>
              <a:rPr lang="es-MX" sz="2000" dirty="0"/>
              <a:t>Las buenas prácticas ayudan a escribir código más legible, mantenible y eficiente. Además de facilitar a otros desarrolladores la lectura y seguimiento de este </a:t>
            </a:r>
          </a:p>
          <a:p>
            <a:pPr marL="342900" indent="-342900">
              <a:buFont typeface="Arial" panose="020B0604020202020204" pitchFamily="34" charset="0"/>
              <a:buChar char="•"/>
            </a:pPr>
            <a:r>
              <a:rPr lang="es-MX" sz="2000" dirty="0"/>
              <a:t>Cada lenguaje tiene sus propias convenciones (</a:t>
            </a:r>
            <a:r>
              <a:rPr lang="es-MX" sz="2000" dirty="0">
                <a:hlinkClick r:id="rId2"/>
              </a:rPr>
              <a:t>PEP 8 - </a:t>
            </a:r>
            <a:r>
              <a:rPr lang="es-CO" sz="2000" dirty="0">
                <a:hlinkClick r:id="rId2"/>
              </a:rPr>
              <a:t>Style </a:t>
            </a:r>
            <a:r>
              <a:rPr lang="es-CO" sz="2000" dirty="0" err="1">
                <a:hlinkClick r:id="rId2"/>
              </a:rPr>
              <a:t>Guide</a:t>
            </a:r>
            <a:r>
              <a:rPr lang="es-CO" sz="2000" dirty="0">
                <a:hlinkClick r:id="rId2"/>
              </a:rPr>
              <a:t> </a:t>
            </a:r>
            <a:r>
              <a:rPr lang="es-CO" sz="2000" dirty="0" err="1">
                <a:hlinkClick r:id="rId2"/>
              </a:rPr>
              <a:t>for</a:t>
            </a:r>
            <a:r>
              <a:rPr lang="es-CO" sz="2000" dirty="0">
                <a:hlinkClick r:id="rId2"/>
              </a:rPr>
              <a:t> Python </a:t>
            </a:r>
            <a:r>
              <a:rPr lang="es-CO" sz="2000" dirty="0" err="1">
                <a:hlinkClick r:id="rId2"/>
              </a:rPr>
              <a:t>Code</a:t>
            </a:r>
            <a:r>
              <a:rPr lang="es-MX" sz="2000" dirty="0"/>
              <a:t>).</a:t>
            </a:r>
            <a:endParaRPr lang="es-CO" sz="2000" dirty="0"/>
          </a:p>
        </p:txBody>
      </p:sp>
      <p:graphicFrame>
        <p:nvGraphicFramePr>
          <p:cNvPr id="2" name="Tabla 1">
            <a:extLst>
              <a:ext uri="{FF2B5EF4-FFF2-40B4-BE49-F238E27FC236}">
                <a16:creationId xmlns:a16="http://schemas.microsoft.com/office/drawing/2014/main" id="{2D941ECF-C33F-4CA3-B564-D9240682DAF3}"/>
              </a:ext>
            </a:extLst>
          </p:cNvPr>
          <p:cNvGraphicFramePr>
            <a:graphicFrameLocks noGrp="1"/>
          </p:cNvGraphicFramePr>
          <p:nvPr>
            <p:extLst>
              <p:ext uri="{D42A27DB-BD31-4B8C-83A1-F6EECF244321}">
                <p14:modId xmlns:p14="http://schemas.microsoft.com/office/powerpoint/2010/main" val="1584604291"/>
              </p:ext>
            </p:extLst>
          </p:nvPr>
        </p:nvGraphicFramePr>
        <p:xfrm>
          <a:off x="395536" y="2756872"/>
          <a:ext cx="8437798" cy="3261360"/>
        </p:xfrm>
        <a:graphic>
          <a:graphicData uri="http://schemas.openxmlformats.org/drawingml/2006/table">
            <a:tbl>
              <a:tblPr/>
              <a:tblGrid>
                <a:gridCol w="2215868">
                  <a:extLst>
                    <a:ext uri="{9D8B030D-6E8A-4147-A177-3AD203B41FA5}">
                      <a16:colId xmlns:a16="http://schemas.microsoft.com/office/drawing/2014/main" val="1507443463"/>
                    </a:ext>
                  </a:extLst>
                </a:gridCol>
                <a:gridCol w="2619351">
                  <a:extLst>
                    <a:ext uri="{9D8B030D-6E8A-4147-A177-3AD203B41FA5}">
                      <a16:colId xmlns:a16="http://schemas.microsoft.com/office/drawing/2014/main" val="1898614548"/>
                    </a:ext>
                  </a:extLst>
                </a:gridCol>
                <a:gridCol w="3602579">
                  <a:extLst>
                    <a:ext uri="{9D8B030D-6E8A-4147-A177-3AD203B41FA5}">
                      <a16:colId xmlns:a16="http://schemas.microsoft.com/office/drawing/2014/main" val="717967158"/>
                    </a:ext>
                  </a:extLst>
                </a:gridCol>
              </a:tblGrid>
              <a:tr h="0">
                <a:tc>
                  <a:txBody>
                    <a:bodyPr/>
                    <a:lstStyle/>
                    <a:p>
                      <a:r>
                        <a:rPr lang="es-CO" b="1" dirty="0">
                          <a:solidFill>
                            <a:schemeClr val="bg1"/>
                          </a:solidFill>
                        </a:rPr>
                        <a:t>Regla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s-CO" b="1" dirty="0">
                          <a:solidFill>
                            <a:schemeClr val="bg1"/>
                          </a:solidFill>
                        </a:rPr>
                        <a:t>Ejemplo correcto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es-CO" b="1" dirty="0">
                          <a:solidFill>
                            <a:schemeClr val="bg1"/>
                          </a:solidFill>
                        </a:rPr>
                        <a:t>Ejemplo a evitar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extLst>
                  <a:ext uri="{0D108BD9-81ED-4DB2-BD59-A6C34878D82A}">
                    <a16:rowId xmlns:a16="http://schemas.microsoft.com/office/drawing/2014/main" val="423936966"/>
                  </a:ext>
                </a:extLst>
              </a:tr>
              <a:tr h="0">
                <a:tc>
                  <a:txBody>
                    <a:bodyPr/>
                    <a:lstStyle/>
                    <a:p>
                      <a:r>
                        <a:rPr lang="es-MX" sz="1600" dirty="0"/>
                        <a:t>Nombres descriptivos, no abreviados en exceso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err="1">
                          <a:latin typeface="Consolas" panose="020B0609020204030204" pitchFamily="49" charset="0"/>
                        </a:rPr>
                        <a:t>numero_estudiantes</a:t>
                      </a:r>
                      <a:endParaRPr lang="es-CO" sz="1400" dirty="0">
                        <a:latin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a:latin typeface="Consolas" panose="020B0609020204030204" pitchFamily="49" charset="0"/>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2547143"/>
                  </a:ext>
                </a:extLst>
              </a:tr>
              <a:tr h="0">
                <a:tc>
                  <a:txBody>
                    <a:bodyPr/>
                    <a:lstStyle/>
                    <a:p>
                      <a:r>
                        <a:rPr lang="es-MX" sz="1600" dirty="0"/>
                        <a:t>Sin tildes ni ñ (evita errores de codificación)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err="1">
                          <a:latin typeface="Consolas" panose="020B0609020204030204" pitchFamily="49" charset="0"/>
                        </a:rPr>
                        <a:t>calcular_promedio</a:t>
                      </a:r>
                      <a:endParaRPr lang="es-CO" sz="1400" dirty="0">
                        <a:latin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a:latin typeface="Consolas" panose="020B0609020204030204" pitchFamily="49" charset="0"/>
                        </a:rPr>
                        <a:t>calcularPromédio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2504343"/>
                  </a:ext>
                </a:extLst>
              </a:tr>
              <a:tr h="0">
                <a:tc>
                  <a:txBody>
                    <a:bodyPr/>
                    <a:lstStyle/>
                    <a:p>
                      <a:r>
                        <a:rPr lang="es-CO" sz="1600"/>
                        <a:t>Sin mezclar estilos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err="1">
                          <a:latin typeface="Consolas" panose="020B0609020204030204" pitchFamily="49" charset="0"/>
                        </a:rPr>
                        <a:t>total_ventas</a:t>
                      </a:r>
                      <a:endParaRPr lang="es-CO" sz="1400" dirty="0">
                        <a:latin typeface="Consolas" panose="020B06090202040302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a:latin typeface="Consolas" panose="020B0609020204030204" pitchFamily="49" charset="0"/>
                        </a:rPr>
                        <a:t>Total_Ventas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048508"/>
                  </a:ext>
                </a:extLst>
              </a:tr>
              <a:tr h="0">
                <a:tc>
                  <a:txBody>
                    <a:bodyPr/>
                    <a:lstStyle/>
                    <a:p>
                      <a:r>
                        <a:rPr lang="es-CO" sz="1600"/>
                        <a:t>Verbos para funciones, sustantivos para variables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err="1">
                          <a:solidFill>
                            <a:srgbClr val="00B050"/>
                          </a:solidFill>
                          <a:latin typeface="Consolas" panose="020B0609020204030204" pitchFamily="49" charset="0"/>
                        </a:rPr>
                        <a:t>def</a:t>
                      </a:r>
                      <a:r>
                        <a:rPr lang="es-CO" sz="1400" dirty="0">
                          <a:latin typeface="Consolas" panose="020B0609020204030204" pitchFamily="49" charset="0"/>
                        </a:rPr>
                        <a:t> </a:t>
                      </a:r>
                      <a:r>
                        <a:rPr lang="es-CO" sz="1400" dirty="0" err="1">
                          <a:latin typeface="Consolas" panose="020B0609020204030204" pitchFamily="49" charset="0"/>
                        </a:rPr>
                        <a:t>validar_correo</a:t>
                      </a:r>
                      <a:r>
                        <a:rPr lang="es-CO" sz="1400" dirty="0">
                          <a:latin typeface="Consolas" panose="020B0609020204030204" pitchFamily="49"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err="1">
                          <a:solidFill>
                            <a:srgbClr val="00B050"/>
                          </a:solidFill>
                          <a:latin typeface="Consolas" panose="020B0609020204030204" pitchFamily="49" charset="0"/>
                        </a:rPr>
                        <a:t>def</a:t>
                      </a:r>
                      <a:r>
                        <a:rPr lang="es-CO" sz="1400" dirty="0">
                          <a:latin typeface="Consolas" panose="020B0609020204030204" pitchFamily="49" charset="0"/>
                        </a:rPr>
                        <a:t> </a:t>
                      </a:r>
                      <a:r>
                        <a:rPr lang="es-CO" sz="1400" dirty="0" err="1">
                          <a:latin typeface="Consolas" panose="020B0609020204030204" pitchFamily="49" charset="0"/>
                        </a:rPr>
                        <a:t>correo_validado_funcion</a:t>
                      </a:r>
                      <a:r>
                        <a:rPr lang="es-CO" sz="1400" dirty="0">
                          <a:latin typeface="Consolas" panose="020B0609020204030204" pitchFamily="49"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0401904"/>
                  </a:ext>
                </a:extLst>
              </a:tr>
              <a:tr h="0">
                <a:tc>
                  <a:txBody>
                    <a:bodyPr/>
                    <a:lstStyle/>
                    <a:p>
                      <a:r>
                        <a:rPr lang="es-CO" sz="1600"/>
                        <a:t>Evitar nombres reservados de 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err="1">
                          <a:latin typeface="Consolas" panose="020B0609020204030204" pitchFamily="49" charset="0"/>
                        </a:rPr>
                        <a:t>lista_datos</a:t>
                      </a:r>
                      <a:endParaRPr lang="es-CO" sz="1400"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1400" dirty="0" err="1">
                          <a:latin typeface="Consolas" panose="020B0609020204030204" pitchFamily="49" charset="0"/>
                        </a:rPr>
                        <a:t>list</a:t>
                      </a:r>
                      <a:r>
                        <a:rPr lang="es-CO" sz="1400" dirty="0">
                          <a:latin typeface="Consolas" panose="020B0609020204030204" pitchFamily="49" charset="0"/>
                        </a:rPr>
                        <a:t>, </a:t>
                      </a:r>
                      <a:r>
                        <a:rPr lang="es-CO" sz="1400" dirty="0" err="1">
                          <a:latin typeface="Consolas" panose="020B0609020204030204" pitchFamily="49" charset="0"/>
                        </a:rPr>
                        <a:t>dict</a:t>
                      </a:r>
                      <a:r>
                        <a:rPr lang="es-CO" sz="1400" dirty="0">
                          <a:latin typeface="Consolas" panose="020B0609020204030204" pitchFamily="49" charset="0"/>
                        </a:rPr>
                        <a:t>, </a:t>
                      </a:r>
                      <a:r>
                        <a:rPr lang="es-CO" sz="1400" dirty="0" err="1">
                          <a:latin typeface="Consolas" panose="020B0609020204030204" pitchFamily="49" charset="0"/>
                        </a:rPr>
                        <a:t>for</a:t>
                      </a:r>
                      <a:endParaRPr lang="es-CO" sz="1400"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7577871"/>
                  </a:ext>
                </a:extLst>
              </a:tr>
            </a:tbl>
          </a:graphicData>
        </a:graphic>
      </p:graphicFrame>
    </p:spTree>
    <p:extLst>
      <p:ext uri="{BB962C8B-B14F-4D97-AF65-F5344CB8AC3E}">
        <p14:creationId xmlns:p14="http://schemas.microsoft.com/office/powerpoint/2010/main" val="4049864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22077" y="136524"/>
            <a:ext cx="7886700" cy="1116540"/>
          </a:xfrm>
        </p:spPr>
        <p:txBody>
          <a:bodyPr/>
          <a:lstStyle/>
          <a:p>
            <a:r>
              <a:rPr lang="en-US" sz="3200" dirty="0"/>
              <a:t>Datos en algoritmos</a:t>
            </a:r>
          </a:p>
        </p:txBody>
      </p:sp>
      <p:sp>
        <p:nvSpPr>
          <p:cNvPr id="4" name="Slide Number Placeholder 3"/>
          <p:cNvSpPr>
            <a:spLocks noGrp="1"/>
          </p:cNvSpPr>
          <p:nvPr>
            <p:ph type="sldNum" sz="quarter" idx="12"/>
          </p:nvPr>
        </p:nvSpPr>
        <p:spPr/>
        <p:txBody>
          <a:bodyPr/>
          <a:lstStyle/>
          <a:p>
            <a:fld id="{45F1CE28-A3C7-48DC-84A2-8FB08D6123C5}" type="slidenum">
              <a:rPr lang="en-US" smtClean="0"/>
              <a:pPr/>
              <a:t>15</a:t>
            </a:fld>
            <a:endParaRPr lang="en-US" dirty="0"/>
          </a:p>
        </p:txBody>
      </p:sp>
      <p:sp>
        <p:nvSpPr>
          <p:cNvPr id="11" name="10 CuadroTexto"/>
          <p:cNvSpPr txBox="1"/>
          <p:nvPr/>
        </p:nvSpPr>
        <p:spPr>
          <a:xfrm>
            <a:off x="322076" y="1052736"/>
            <a:ext cx="8136903" cy="1231106"/>
          </a:xfrm>
          <a:prstGeom prst="rect">
            <a:avLst/>
          </a:prstGeom>
          <a:noFill/>
        </p:spPr>
        <p:txBody>
          <a:bodyPr wrap="square" rtlCol="0">
            <a:spAutoFit/>
          </a:bodyPr>
          <a:lstStyle/>
          <a:p>
            <a:r>
              <a:rPr lang="es-CO" sz="2000" b="1" dirty="0">
                <a:solidFill>
                  <a:srgbClr val="FF0000"/>
                </a:solidFill>
              </a:rPr>
              <a:t>Ejemplo</a:t>
            </a:r>
            <a:r>
              <a:rPr lang="es-CO" sz="2000" dirty="0">
                <a:solidFill>
                  <a:srgbClr val="FF0000"/>
                </a:solidFill>
              </a:rPr>
              <a:t>: </a:t>
            </a:r>
          </a:p>
          <a:p>
            <a:r>
              <a:rPr lang="es-CO" dirty="0"/>
              <a:t>Dada la siguiente tabla de Datos. Que nombres marque con una X la columna A (apropiados) o NA (No apropiados) si los nombres de las variables son los apropiados para estos datos. En caso de que no sean los apropiados, sugiera un nombre.</a:t>
            </a:r>
          </a:p>
        </p:txBody>
      </p:sp>
      <p:graphicFrame>
        <p:nvGraphicFramePr>
          <p:cNvPr id="7" name="6 Tabla"/>
          <p:cNvGraphicFramePr>
            <a:graphicFrameLocks noGrp="1"/>
          </p:cNvGraphicFramePr>
          <p:nvPr>
            <p:extLst>
              <p:ext uri="{D42A27DB-BD31-4B8C-83A1-F6EECF244321}">
                <p14:modId xmlns:p14="http://schemas.microsoft.com/office/powerpoint/2010/main" val="1549391135"/>
              </p:ext>
            </p:extLst>
          </p:nvPr>
        </p:nvGraphicFramePr>
        <p:xfrm>
          <a:off x="394086" y="2492896"/>
          <a:ext cx="8354378" cy="3261360"/>
        </p:xfrm>
        <a:graphic>
          <a:graphicData uri="http://schemas.openxmlformats.org/drawingml/2006/table">
            <a:tbl>
              <a:tblPr firstRow="1" bandRow="1">
                <a:tableStyleId>{5940675A-B579-460E-94D1-54222C63F5DA}</a:tableStyleId>
              </a:tblPr>
              <a:tblGrid>
                <a:gridCol w="487268">
                  <a:extLst>
                    <a:ext uri="{9D8B030D-6E8A-4147-A177-3AD203B41FA5}">
                      <a16:colId xmlns:a16="http://schemas.microsoft.com/office/drawing/2014/main" val="305664878"/>
                    </a:ext>
                  </a:extLst>
                </a:gridCol>
                <a:gridCol w="2394503">
                  <a:extLst>
                    <a:ext uri="{9D8B030D-6E8A-4147-A177-3AD203B41FA5}">
                      <a16:colId xmlns:a16="http://schemas.microsoft.com/office/drawing/2014/main" val="20000"/>
                    </a:ext>
                  </a:extLst>
                </a:gridCol>
                <a:gridCol w="2160240">
                  <a:extLst>
                    <a:ext uri="{9D8B030D-6E8A-4147-A177-3AD203B41FA5}">
                      <a16:colId xmlns:a16="http://schemas.microsoft.com/office/drawing/2014/main" val="20001"/>
                    </a:ext>
                  </a:extLst>
                </a:gridCol>
                <a:gridCol w="504055">
                  <a:extLst>
                    <a:ext uri="{9D8B030D-6E8A-4147-A177-3AD203B41FA5}">
                      <a16:colId xmlns:a16="http://schemas.microsoft.com/office/drawing/2014/main" val="20002"/>
                    </a:ext>
                  </a:extLst>
                </a:gridCol>
                <a:gridCol w="504057">
                  <a:extLst>
                    <a:ext uri="{9D8B030D-6E8A-4147-A177-3AD203B41FA5}">
                      <a16:colId xmlns:a16="http://schemas.microsoft.com/office/drawing/2014/main" val="20003"/>
                    </a:ext>
                  </a:extLst>
                </a:gridCol>
                <a:gridCol w="2304255">
                  <a:extLst>
                    <a:ext uri="{9D8B030D-6E8A-4147-A177-3AD203B41FA5}">
                      <a16:colId xmlns:a16="http://schemas.microsoft.com/office/drawing/2014/main" val="20004"/>
                    </a:ext>
                  </a:extLst>
                </a:gridCol>
              </a:tblGrid>
              <a:tr h="321327">
                <a:tc>
                  <a:txBody>
                    <a:bodyPr/>
                    <a:lstStyle/>
                    <a:p>
                      <a:pPr algn="l"/>
                      <a:r>
                        <a:rPr lang="es-CO" sz="1600" b="1" dirty="0">
                          <a:solidFill>
                            <a:schemeClr val="bg1"/>
                          </a:solidFill>
                          <a:latin typeface="Century Gothic" panose="020B0502020202020204" pitchFamily="34" charset="0"/>
                        </a:rPr>
                        <a:t>#</a:t>
                      </a:r>
                    </a:p>
                  </a:txBody>
                  <a:tcPr>
                    <a:solidFill>
                      <a:schemeClr val="tx1"/>
                    </a:solidFill>
                  </a:tcPr>
                </a:tc>
                <a:tc>
                  <a:txBody>
                    <a:bodyPr/>
                    <a:lstStyle/>
                    <a:p>
                      <a:pPr algn="l"/>
                      <a:r>
                        <a:rPr lang="es-CO" sz="1600" b="1" dirty="0">
                          <a:solidFill>
                            <a:schemeClr val="bg1"/>
                          </a:solidFill>
                          <a:latin typeface="Century Gothic" panose="020B0502020202020204" pitchFamily="34" charset="0"/>
                        </a:rPr>
                        <a:t>Dato</a:t>
                      </a:r>
                    </a:p>
                  </a:txBody>
                  <a:tcPr>
                    <a:solidFill>
                      <a:schemeClr val="tx1"/>
                    </a:solidFill>
                  </a:tcPr>
                </a:tc>
                <a:tc>
                  <a:txBody>
                    <a:bodyPr/>
                    <a:lstStyle/>
                    <a:p>
                      <a:pPr algn="l"/>
                      <a:r>
                        <a:rPr lang="es-CO" sz="1600" b="1" dirty="0">
                          <a:solidFill>
                            <a:schemeClr val="bg1"/>
                          </a:solidFill>
                          <a:latin typeface="Century Gothic" panose="020B0502020202020204" pitchFamily="34" charset="0"/>
                        </a:rPr>
                        <a:t>Nombre</a:t>
                      </a:r>
                      <a:r>
                        <a:rPr lang="es-CO" sz="1600" b="1" baseline="0" dirty="0">
                          <a:solidFill>
                            <a:schemeClr val="bg1"/>
                          </a:solidFill>
                          <a:latin typeface="Century Gothic" panose="020B0502020202020204" pitchFamily="34" charset="0"/>
                        </a:rPr>
                        <a:t> Variable</a:t>
                      </a:r>
                      <a:endParaRPr lang="es-CO" sz="1600" b="1" dirty="0">
                        <a:solidFill>
                          <a:schemeClr val="bg1"/>
                        </a:solidFill>
                        <a:latin typeface="Century Gothic" panose="020B0502020202020204" pitchFamily="34" charset="0"/>
                      </a:endParaRPr>
                    </a:p>
                  </a:txBody>
                  <a:tcPr>
                    <a:solidFill>
                      <a:schemeClr val="tx1"/>
                    </a:solidFill>
                  </a:tcPr>
                </a:tc>
                <a:tc>
                  <a:txBody>
                    <a:bodyPr/>
                    <a:lstStyle/>
                    <a:p>
                      <a:pPr algn="l"/>
                      <a:r>
                        <a:rPr lang="es-CO" sz="1600" b="1" dirty="0">
                          <a:solidFill>
                            <a:schemeClr val="bg1"/>
                          </a:solidFill>
                          <a:latin typeface="Century Gothic" panose="020B0502020202020204" pitchFamily="34" charset="0"/>
                        </a:rPr>
                        <a:t>A</a:t>
                      </a:r>
                    </a:p>
                  </a:txBody>
                  <a:tcPr>
                    <a:solidFill>
                      <a:schemeClr val="tx1"/>
                    </a:solidFill>
                  </a:tcPr>
                </a:tc>
                <a:tc>
                  <a:txBody>
                    <a:bodyPr/>
                    <a:lstStyle/>
                    <a:p>
                      <a:pPr algn="l"/>
                      <a:r>
                        <a:rPr lang="es-CO" sz="1600" b="1" dirty="0">
                          <a:solidFill>
                            <a:schemeClr val="bg1"/>
                          </a:solidFill>
                          <a:latin typeface="Century Gothic" panose="020B0502020202020204" pitchFamily="34" charset="0"/>
                        </a:rPr>
                        <a:t>NA</a:t>
                      </a:r>
                    </a:p>
                  </a:txBody>
                  <a:tcPr>
                    <a:solidFill>
                      <a:schemeClr val="tx1"/>
                    </a:solidFill>
                  </a:tcPr>
                </a:tc>
                <a:tc>
                  <a:txBody>
                    <a:bodyPr/>
                    <a:lstStyle/>
                    <a:p>
                      <a:pPr algn="l"/>
                      <a:r>
                        <a:rPr lang="es-CO" sz="1600" b="1" dirty="0">
                          <a:solidFill>
                            <a:schemeClr val="bg1"/>
                          </a:solidFill>
                          <a:latin typeface="Century Gothic" panose="020B0502020202020204" pitchFamily="34" charset="0"/>
                        </a:rPr>
                        <a:t>Nombre sugerido</a:t>
                      </a:r>
                    </a:p>
                  </a:txBody>
                  <a:tcPr>
                    <a:solidFill>
                      <a:schemeClr val="tx1"/>
                    </a:solidFill>
                  </a:tcPr>
                </a:tc>
                <a:extLst>
                  <a:ext uri="{0D108BD9-81ED-4DB2-BD59-A6C34878D82A}">
                    <a16:rowId xmlns:a16="http://schemas.microsoft.com/office/drawing/2014/main" val="10000"/>
                  </a:ext>
                </a:extLst>
              </a:tr>
              <a:tr h="321327">
                <a:tc>
                  <a:txBody>
                    <a:bodyPr/>
                    <a:lstStyle/>
                    <a:p>
                      <a:r>
                        <a:rPr lang="es-CO" sz="1400" dirty="0">
                          <a:latin typeface="Century Gothic" panose="020B0502020202020204" pitchFamily="34" charset="0"/>
                        </a:rPr>
                        <a:t>1</a:t>
                      </a:r>
                    </a:p>
                  </a:txBody>
                  <a:tcPr/>
                </a:tc>
                <a:tc>
                  <a:txBody>
                    <a:bodyPr/>
                    <a:lstStyle/>
                    <a:p>
                      <a:r>
                        <a:rPr lang="es-CO" sz="1400" dirty="0">
                          <a:latin typeface="Century Gothic" panose="020B0502020202020204" pitchFamily="34" charset="0"/>
                        </a:rPr>
                        <a:t>Temperatura</a:t>
                      </a:r>
                    </a:p>
                  </a:txBody>
                  <a:tcPr/>
                </a:tc>
                <a:tc>
                  <a:txBody>
                    <a:bodyPr/>
                    <a:lstStyle/>
                    <a:p>
                      <a:r>
                        <a:rPr lang="es-CO" sz="1400" dirty="0">
                          <a:latin typeface="Consolas" panose="020B0609020204030204" pitchFamily="49" charset="0"/>
                        </a:rPr>
                        <a:t>jj</a:t>
                      </a:r>
                    </a:p>
                  </a:txBody>
                  <a:tcPr/>
                </a:tc>
                <a:tc>
                  <a:txBody>
                    <a:bodyPr/>
                    <a:lstStyle/>
                    <a:p>
                      <a:endParaRPr lang="es-CO" dirty="0">
                        <a:latin typeface="Century Gothic" panose="020B0502020202020204" pitchFamily="34" charset="0"/>
                      </a:endParaRPr>
                    </a:p>
                  </a:txBody>
                  <a:tcPr/>
                </a:tc>
                <a:tc>
                  <a:txBody>
                    <a:bodyPr/>
                    <a:lstStyle/>
                    <a:p>
                      <a:endParaRPr lang="es-CO" dirty="0">
                        <a:latin typeface="Century Gothic" panose="020B0502020202020204" pitchFamily="34" charset="0"/>
                      </a:endParaRPr>
                    </a:p>
                  </a:txBody>
                  <a:tcPr/>
                </a:tc>
                <a:tc>
                  <a:txBody>
                    <a:bodyPr/>
                    <a:lstStyle/>
                    <a:p>
                      <a:endParaRPr lang="es-CO">
                        <a:latin typeface="Century Gothic" panose="020B0502020202020204" pitchFamily="34" charset="0"/>
                      </a:endParaRPr>
                    </a:p>
                  </a:txBody>
                  <a:tcPr/>
                </a:tc>
                <a:extLst>
                  <a:ext uri="{0D108BD9-81ED-4DB2-BD59-A6C34878D82A}">
                    <a16:rowId xmlns:a16="http://schemas.microsoft.com/office/drawing/2014/main" val="10001"/>
                  </a:ext>
                </a:extLst>
              </a:tr>
              <a:tr h="321327">
                <a:tc>
                  <a:txBody>
                    <a:bodyPr/>
                    <a:lstStyle/>
                    <a:p>
                      <a:r>
                        <a:rPr lang="es-CO" sz="1400" dirty="0">
                          <a:latin typeface="Century Gothic" panose="020B0502020202020204" pitchFamily="34" charset="0"/>
                        </a:rPr>
                        <a:t>2</a:t>
                      </a:r>
                    </a:p>
                  </a:txBody>
                  <a:tcPr/>
                </a:tc>
                <a:tc>
                  <a:txBody>
                    <a:bodyPr/>
                    <a:lstStyle/>
                    <a:p>
                      <a:r>
                        <a:rPr lang="es-CO" sz="1400" dirty="0">
                          <a:latin typeface="Century Gothic" panose="020B0502020202020204" pitchFamily="34" charset="0"/>
                        </a:rPr>
                        <a:t>Peso</a:t>
                      </a:r>
                    </a:p>
                  </a:txBody>
                  <a:tcPr/>
                </a:tc>
                <a:tc>
                  <a:txBody>
                    <a:bodyPr/>
                    <a:lstStyle/>
                    <a:p>
                      <a:r>
                        <a:rPr lang="es-CO" sz="1400" dirty="0">
                          <a:latin typeface="Consolas" panose="020B0609020204030204" pitchFamily="49" charset="0"/>
                        </a:rPr>
                        <a:t>p</a:t>
                      </a:r>
                    </a:p>
                  </a:txBody>
                  <a:tcPr/>
                </a:tc>
                <a:tc>
                  <a:txBody>
                    <a:bodyPr/>
                    <a:lstStyle/>
                    <a:p>
                      <a:endParaRPr lang="es-CO">
                        <a:latin typeface="Century Gothic" panose="020B0502020202020204" pitchFamily="34" charset="0"/>
                      </a:endParaRPr>
                    </a:p>
                  </a:txBody>
                  <a:tcPr/>
                </a:tc>
                <a:tc>
                  <a:txBody>
                    <a:bodyPr/>
                    <a:lstStyle/>
                    <a:p>
                      <a:endParaRPr lang="es-CO">
                        <a:latin typeface="Century Gothic" panose="020B0502020202020204" pitchFamily="34" charset="0"/>
                      </a:endParaRPr>
                    </a:p>
                  </a:txBody>
                  <a:tcPr/>
                </a:tc>
                <a:tc>
                  <a:txBody>
                    <a:bodyPr/>
                    <a:lstStyle/>
                    <a:p>
                      <a:endParaRPr lang="es-CO">
                        <a:latin typeface="Century Gothic" panose="020B0502020202020204" pitchFamily="34" charset="0"/>
                      </a:endParaRPr>
                    </a:p>
                  </a:txBody>
                  <a:tcPr/>
                </a:tc>
                <a:extLst>
                  <a:ext uri="{0D108BD9-81ED-4DB2-BD59-A6C34878D82A}">
                    <a16:rowId xmlns:a16="http://schemas.microsoft.com/office/drawing/2014/main" val="10002"/>
                  </a:ext>
                </a:extLst>
              </a:tr>
              <a:tr h="321327">
                <a:tc>
                  <a:txBody>
                    <a:bodyPr/>
                    <a:lstStyle/>
                    <a:p>
                      <a:r>
                        <a:rPr lang="es-CO" sz="1400" dirty="0">
                          <a:latin typeface="Century Gothic" panose="020B0502020202020204" pitchFamily="34" charset="0"/>
                        </a:rPr>
                        <a:t>3</a:t>
                      </a:r>
                    </a:p>
                  </a:txBody>
                  <a:tcPr/>
                </a:tc>
                <a:tc>
                  <a:txBody>
                    <a:bodyPr/>
                    <a:lstStyle/>
                    <a:p>
                      <a:r>
                        <a:rPr lang="es-CO" sz="1400" dirty="0">
                          <a:latin typeface="Century Gothic" panose="020B0502020202020204" pitchFamily="34" charset="0"/>
                        </a:rPr>
                        <a:t>Estatura</a:t>
                      </a:r>
                    </a:p>
                  </a:txBody>
                  <a:tcPr/>
                </a:tc>
                <a:tc>
                  <a:txBody>
                    <a:bodyPr/>
                    <a:lstStyle/>
                    <a:p>
                      <a:r>
                        <a:rPr lang="es-CO" sz="1400" dirty="0">
                          <a:latin typeface="Consolas" panose="020B0609020204030204" pitchFamily="49" charset="0"/>
                        </a:rPr>
                        <a:t>heigth</a:t>
                      </a:r>
                    </a:p>
                  </a:txBody>
                  <a:tcPr/>
                </a:tc>
                <a:tc>
                  <a:txBody>
                    <a:bodyPr/>
                    <a:lstStyle/>
                    <a:p>
                      <a:endParaRPr lang="es-CO" dirty="0">
                        <a:latin typeface="Century Gothic" panose="020B0502020202020204" pitchFamily="34" charset="0"/>
                      </a:endParaRPr>
                    </a:p>
                  </a:txBody>
                  <a:tcPr/>
                </a:tc>
                <a:tc>
                  <a:txBody>
                    <a:bodyPr/>
                    <a:lstStyle/>
                    <a:p>
                      <a:endParaRPr lang="es-CO">
                        <a:latin typeface="Century Gothic" panose="020B0502020202020204" pitchFamily="34" charset="0"/>
                      </a:endParaRPr>
                    </a:p>
                  </a:txBody>
                  <a:tcPr/>
                </a:tc>
                <a:tc>
                  <a:txBody>
                    <a:bodyPr/>
                    <a:lstStyle/>
                    <a:p>
                      <a:endParaRPr lang="es-CO" dirty="0">
                        <a:latin typeface="Century Gothic" panose="020B0502020202020204" pitchFamily="34" charset="0"/>
                      </a:endParaRPr>
                    </a:p>
                  </a:txBody>
                  <a:tcPr/>
                </a:tc>
                <a:extLst>
                  <a:ext uri="{0D108BD9-81ED-4DB2-BD59-A6C34878D82A}">
                    <a16:rowId xmlns:a16="http://schemas.microsoft.com/office/drawing/2014/main" val="10003"/>
                  </a:ext>
                </a:extLst>
              </a:tr>
              <a:tr h="321327">
                <a:tc>
                  <a:txBody>
                    <a:bodyPr/>
                    <a:lstStyle/>
                    <a:p>
                      <a:r>
                        <a:rPr lang="es-CO" sz="1400" dirty="0">
                          <a:latin typeface="Century Gothic" panose="020B0502020202020204" pitchFamily="34" charset="0"/>
                        </a:rPr>
                        <a:t>4</a:t>
                      </a:r>
                    </a:p>
                  </a:txBody>
                  <a:tcPr/>
                </a:tc>
                <a:tc>
                  <a:txBody>
                    <a:bodyPr/>
                    <a:lstStyle/>
                    <a:p>
                      <a:r>
                        <a:rPr lang="es-CO" sz="1400" dirty="0">
                          <a:latin typeface="Century Gothic" panose="020B0502020202020204" pitchFamily="34" charset="0"/>
                        </a:rPr>
                        <a:t>Edad</a:t>
                      </a:r>
                    </a:p>
                  </a:txBody>
                  <a:tcPr/>
                </a:tc>
                <a:tc>
                  <a:txBody>
                    <a:bodyPr/>
                    <a:lstStyle/>
                    <a:p>
                      <a:r>
                        <a:rPr lang="es-CO" sz="1400" dirty="0">
                          <a:latin typeface="Consolas" panose="020B0609020204030204" pitchFamily="49" charset="0"/>
                        </a:rPr>
                        <a:t>vejez</a:t>
                      </a:r>
                    </a:p>
                  </a:txBody>
                  <a:tcPr/>
                </a:tc>
                <a:tc>
                  <a:txBody>
                    <a:bodyPr/>
                    <a:lstStyle/>
                    <a:p>
                      <a:endParaRPr lang="es-CO" dirty="0">
                        <a:latin typeface="Century Gothic" panose="020B0502020202020204" pitchFamily="34" charset="0"/>
                      </a:endParaRPr>
                    </a:p>
                  </a:txBody>
                  <a:tcPr/>
                </a:tc>
                <a:tc>
                  <a:txBody>
                    <a:bodyPr/>
                    <a:lstStyle/>
                    <a:p>
                      <a:endParaRPr lang="es-CO">
                        <a:latin typeface="Century Gothic" panose="020B0502020202020204" pitchFamily="34" charset="0"/>
                      </a:endParaRPr>
                    </a:p>
                  </a:txBody>
                  <a:tcPr/>
                </a:tc>
                <a:tc>
                  <a:txBody>
                    <a:bodyPr/>
                    <a:lstStyle/>
                    <a:p>
                      <a:endParaRPr lang="es-CO">
                        <a:latin typeface="Century Gothic" panose="020B0502020202020204" pitchFamily="34" charset="0"/>
                      </a:endParaRPr>
                    </a:p>
                  </a:txBody>
                  <a:tcPr/>
                </a:tc>
                <a:extLst>
                  <a:ext uri="{0D108BD9-81ED-4DB2-BD59-A6C34878D82A}">
                    <a16:rowId xmlns:a16="http://schemas.microsoft.com/office/drawing/2014/main" val="10004"/>
                  </a:ext>
                </a:extLst>
              </a:tr>
              <a:tr h="321327">
                <a:tc>
                  <a:txBody>
                    <a:bodyPr/>
                    <a:lstStyle/>
                    <a:p>
                      <a:r>
                        <a:rPr lang="es-CO" sz="1400" dirty="0">
                          <a:latin typeface="Century Gothic" panose="020B0502020202020204" pitchFamily="34" charset="0"/>
                        </a:rPr>
                        <a:t>5</a:t>
                      </a:r>
                    </a:p>
                  </a:txBody>
                  <a:tcPr/>
                </a:tc>
                <a:tc>
                  <a:txBody>
                    <a:bodyPr/>
                    <a:lstStyle/>
                    <a:p>
                      <a:r>
                        <a:rPr lang="es-CO" sz="1400" dirty="0">
                          <a:latin typeface="Century Gothic" panose="020B0502020202020204" pitchFamily="34" charset="0"/>
                        </a:rPr>
                        <a:t>Numero de gallinas</a:t>
                      </a:r>
                    </a:p>
                  </a:txBody>
                  <a:tcPr/>
                </a:tc>
                <a:tc>
                  <a:txBody>
                    <a:bodyPr/>
                    <a:lstStyle/>
                    <a:p>
                      <a:r>
                        <a:rPr lang="es-CO" sz="1400" dirty="0">
                          <a:latin typeface="Consolas" panose="020B0609020204030204" pitchFamily="49" charset="0"/>
                        </a:rPr>
                        <a:t>ng</a:t>
                      </a:r>
                    </a:p>
                  </a:txBody>
                  <a:tcPr/>
                </a:tc>
                <a:tc>
                  <a:txBody>
                    <a:bodyPr/>
                    <a:lstStyle/>
                    <a:p>
                      <a:endParaRPr lang="es-CO" dirty="0">
                        <a:latin typeface="Century Gothic" panose="020B0502020202020204" pitchFamily="34" charset="0"/>
                      </a:endParaRPr>
                    </a:p>
                  </a:txBody>
                  <a:tcPr/>
                </a:tc>
                <a:tc>
                  <a:txBody>
                    <a:bodyPr/>
                    <a:lstStyle/>
                    <a:p>
                      <a:endParaRPr lang="es-CO">
                        <a:latin typeface="Century Gothic" panose="020B0502020202020204" pitchFamily="34" charset="0"/>
                      </a:endParaRPr>
                    </a:p>
                  </a:txBody>
                  <a:tcPr/>
                </a:tc>
                <a:tc>
                  <a:txBody>
                    <a:bodyPr/>
                    <a:lstStyle/>
                    <a:p>
                      <a:endParaRPr lang="es-CO">
                        <a:latin typeface="Century Gothic" panose="020B0502020202020204" pitchFamily="34" charset="0"/>
                      </a:endParaRPr>
                    </a:p>
                  </a:txBody>
                  <a:tcPr/>
                </a:tc>
                <a:extLst>
                  <a:ext uri="{0D108BD9-81ED-4DB2-BD59-A6C34878D82A}">
                    <a16:rowId xmlns:a16="http://schemas.microsoft.com/office/drawing/2014/main" val="10005"/>
                  </a:ext>
                </a:extLst>
              </a:tr>
              <a:tr h="321327">
                <a:tc>
                  <a:txBody>
                    <a:bodyPr/>
                    <a:lstStyle/>
                    <a:p>
                      <a:r>
                        <a:rPr lang="es-CO" sz="1400" dirty="0">
                          <a:latin typeface="Century Gothic" panose="020B0502020202020204" pitchFamily="34" charset="0"/>
                        </a:rPr>
                        <a:t>6</a:t>
                      </a:r>
                    </a:p>
                  </a:txBody>
                  <a:tcPr/>
                </a:tc>
                <a:tc>
                  <a:txBody>
                    <a:bodyPr/>
                    <a:lstStyle/>
                    <a:p>
                      <a:r>
                        <a:rPr lang="es-CO" sz="1400" dirty="0">
                          <a:latin typeface="Century Gothic" panose="020B0502020202020204" pitchFamily="34" charset="0"/>
                        </a:rPr>
                        <a:t>Horas</a:t>
                      </a:r>
                    </a:p>
                  </a:txBody>
                  <a:tcPr/>
                </a:tc>
                <a:tc>
                  <a:txBody>
                    <a:bodyPr/>
                    <a:lstStyle/>
                    <a:p>
                      <a:r>
                        <a:rPr lang="es-CO" sz="1400" dirty="0">
                          <a:latin typeface="Consolas" panose="020B0609020204030204" pitchFamily="49" charset="0"/>
                        </a:rPr>
                        <a:t>h</a:t>
                      </a:r>
                    </a:p>
                  </a:txBody>
                  <a:tcPr/>
                </a:tc>
                <a:tc>
                  <a:txBody>
                    <a:bodyPr/>
                    <a:lstStyle/>
                    <a:p>
                      <a:endParaRPr lang="es-CO" dirty="0">
                        <a:latin typeface="Century Gothic" panose="020B0502020202020204" pitchFamily="34" charset="0"/>
                      </a:endParaRPr>
                    </a:p>
                  </a:txBody>
                  <a:tcPr/>
                </a:tc>
                <a:tc>
                  <a:txBody>
                    <a:bodyPr/>
                    <a:lstStyle/>
                    <a:p>
                      <a:endParaRPr lang="es-CO" dirty="0">
                        <a:latin typeface="Century Gothic" panose="020B0502020202020204" pitchFamily="34" charset="0"/>
                      </a:endParaRPr>
                    </a:p>
                  </a:txBody>
                  <a:tcPr/>
                </a:tc>
                <a:tc>
                  <a:txBody>
                    <a:bodyPr/>
                    <a:lstStyle/>
                    <a:p>
                      <a:endParaRPr lang="es-CO" dirty="0">
                        <a:latin typeface="Century Gothic" panose="020B0502020202020204" pitchFamily="34" charset="0"/>
                      </a:endParaRPr>
                    </a:p>
                  </a:txBody>
                  <a:tcPr/>
                </a:tc>
                <a:extLst>
                  <a:ext uri="{0D108BD9-81ED-4DB2-BD59-A6C34878D82A}">
                    <a16:rowId xmlns:a16="http://schemas.microsoft.com/office/drawing/2014/main" val="10006"/>
                  </a:ext>
                </a:extLst>
              </a:tr>
              <a:tr h="321327">
                <a:tc>
                  <a:txBody>
                    <a:bodyPr/>
                    <a:lstStyle/>
                    <a:p>
                      <a:r>
                        <a:rPr lang="es-CO" sz="1400" dirty="0">
                          <a:latin typeface="Century Gothic" panose="020B0502020202020204" pitchFamily="34" charset="0"/>
                        </a:rPr>
                        <a:t>7</a:t>
                      </a:r>
                    </a:p>
                  </a:txBody>
                  <a:tcPr/>
                </a:tc>
                <a:tc>
                  <a:txBody>
                    <a:bodyPr/>
                    <a:lstStyle/>
                    <a:p>
                      <a:r>
                        <a:rPr lang="es-CO" sz="1400" dirty="0">
                          <a:latin typeface="Century Gothic" panose="020B0502020202020204" pitchFamily="34" charset="0"/>
                        </a:rPr>
                        <a:t>Cantidad</a:t>
                      </a:r>
                      <a:r>
                        <a:rPr lang="es-CO" sz="1400" baseline="0" dirty="0">
                          <a:latin typeface="Century Gothic" panose="020B0502020202020204" pitchFamily="34" charset="0"/>
                        </a:rPr>
                        <a:t> de carros</a:t>
                      </a:r>
                      <a:endParaRPr lang="es-CO" sz="1400" dirty="0">
                        <a:latin typeface="Century Gothic" panose="020B0502020202020204" pitchFamily="34" charset="0"/>
                      </a:endParaRPr>
                    </a:p>
                  </a:txBody>
                  <a:tcPr/>
                </a:tc>
                <a:tc>
                  <a:txBody>
                    <a:bodyPr/>
                    <a:lstStyle/>
                    <a:p>
                      <a:r>
                        <a:rPr lang="es-CO" sz="1400" dirty="0">
                          <a:latin typeface="Consolas" panose="020B0609020204030204" pitchFamily="49" charset="0"/>
                        </a:rPr>
                        <a:t>car</a:t>
                      </a:r>
                    </a:p>
                  </a:txBody>
                  <a:tcPr/>
                </a:tc>
                <a:tc>
                  <a:txBody>
                    <a:bodyPr/>
                    <a:lstStyle/>
                    <a:p>
                      <a:endParaRPr lang="es-CO" dirty="0">
                        <a:latin typeface="Century Gothic" panose="020B0502020202020204" pitchFamily="34" charset="0"/>
                      </a:endParaRPr>
                    </a:p>
                  </a:txBody>
                  <a:tcPr/>
                </a:tc>
                <a:tc>
                  <a:txBody>
                    <a:bodyPr/>
                    <a:lstStyle/>
                    <a:p>
                      <a:endParaRPr lang="es-CO" dirty="0">
                        <a:latin typeface="Century Gothic" panose="020B0502020202020204" pitchFamily="34" charset="0"/>
                      </a:endParaRPr>
                    </a:p>
                  </a:txBody>
                  <a:tcPr/>
                </a:tc>
                <a:tc>
                  <a:txBody>
                    <a:bodyPr/>
                    <a:lstStyle/>
                    <a:p>
                      <a:endParaRPr lang="es-CO" dirty="0">
                        <a:latin typeface="Century Gothic" panose="020B0502020202020204" pitchFamily="34" charset="0"/>
                      </a:endParaRPr>
                    </a:p>
                  </a:txBody>
                  <a:tcPr/>
                </a:tc>
                <a:extLst>
                  <a:ext uri="{0D108BD9-81ED-4DB2-BD59-A6C34878D82A}">
                    <a16:rowId xmlns:a16="http://schemas.microsoft.com/office/drawing/2014/main" val="10007"/>
                  </a:ext>
                </a:extLst>
              </a:tr>
              <a:tr h="321327">
                <a:tc>
                  <a:txBody>
                    <a:bodyPr/>
                    <a:lstStyle/>
                    <a:p>
                      <a:r>
                        <a:rPr lang="es-CO" sz="1400" dirty="0">
                          <a:latin typeface="Century Gothic" panose="020B0502020202020204" pitchFamily="34" charset="0"/>
                        </a:rPr>
                        <a:t>8</a:t>
                      </a:r>
                    </a:p>
                  </a:txBody>
                  <a:tcPr/>
                </a:tc>
                <a:tc>
                  <a:txBody>
                    <a:bodyPr/>
                    <a:lstStyle/>
                    <a:p>
                      <a:r>
                        <a:rPr lang="es-CO" sz="1400" dirty="0">
                          <a:latin typeface="Century Gothic" panose="020B0502020202020204" pitchFamily="34" charset="0"/>
                        </a:rPr>
                        <a:t>Nombre</a:t>
                      </a:r>
                    </a:p>
                  </a:txBody>
                  <a:tcPr/>
                </a:tc>
                <a:tc>
                  <a:txBody>
                    <a:bodyPr/>
                    <a:lstStyle/>
                    <a:p>
                      <a:r>
                        <a:rPr lang="es-CO" sz="1400" dirty="0">
                          <a:latin typeface="Consolas" panose="020B0609020204030204" pitchFamily="49" charset="0"/>
                        </a:rPr>
                        <a:t>n</a:t>
                      </a:r>
                    </a:p>
                  </a:txBody>
                  <a:tcPr/>
                </a:tc>
                <a:tc>
                  <a:txBody>
                    <a:bodyPr/>
                    <a:lstStyle/>
                    <a:p>
                      <a:endParaRPr lang="es-CO">
                        <a:latin typeface="Century Gothic" panose="020B0502020202020204" pitchFamily="34" charset="0"/>
                      </a:endParaRPr>
                    </a:p>
                  </a:txBody>
                  <a:tcPr/>
                </a:tc>
                <a:tc>
                  <a:txBody>
                    <a:bodyPr/>
                    <a:lstStyle/>
                    <a:p>
                      <a:endParaRPr lang="es-CO" dirty="0">
                        <a:latin typeface="Century Gothic" panose="020B0502020202020204" pitchFamily="34" charset="0"/>
                      </a:endParaRPr>
                    </a:p>
                  </a:txBody>
                  <a:tcPr/>
                </a:tc>
                <a:tc>
                  <a:txBody>
                    <a:bodyPr/>
                    <a:lstStyle/>
                    <a:p>
                      <a:endParaRPr lang="es-CO" dirty="0">
                        <a:latin typeface="Century Gothic" panose="020B0502020202020204" pitchFamily="34" charset="0"/>
                      </a:endParaRP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268673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93044" y="80431"/>
            <a:ext cx="7886700" cy="1116540"/>
          </a:xfrm>
        </p:spPr>
        <p:txBody>
          <a:bodyPr/>
          <a:lstStyle/>
          <a:p>
            <a:r>
              <a:rPr lang="en-US" sz="3200" dirty="0"/>
              <a:t>Datos en algoritmos</a:t>
            </a:r>
          </a:p>
        </p:txBody>
      </p:sp>
      <p:sp>
        <p:nvSpPr>
          <p:cNvPr id="4" name="Slide Number Placeholder 3"/>
          <p:cNvSpPr>
            <a:spLocks noGrp="1"/>
          </p:cNvSpPr>
          <p:nvPr>
            <p:ph type="sldNum" sz="quarter" idx="12"/>
          </p:nvPr>
        </p:nvSpPr>
        <p:spPr/>
        <p:txBody>
          <a:bodyPr/>
          <a:lstStyle/>
          <a:p>
            <a:fld id="{45F1CE28-A3C7-48DC-84A2-8FB08D6123C5}" type="slidenum">
              <a:rPr lang="en-US" smtClean="0"/>
              <a:pPr/>
              <a:t>16</a:t>
            </a:fld>
            <a:endParaRPr lang="en-US" dirty="0"/>
          </a:p>
        </p:txBody>
      </p:sp>
      <p:sp>
        <p:nvSpPr>
          <p:cNvPr id="11" name="10 CuadroTexto"/>
          <p:cNvSpPr txBox="1"/>
          <p:nvPr/>
        </p:nvSpPr>
        <p:spPr>
          <a:xfrm>
            <a:off x="309546" y="1037916"/>
            <a:ext cx="8438918" cy="954107"/>
          </a:xfrm>
          <a:prstGeom prst="rect">
            <a:avLst/>
          </a:prstGeom>
          <a:noFill/>
        </p:spPr>
        <p:txBody>
          <a:bodyPr wrap="square" rtlCol="0">
            <a:spAutoFit/>
          </a:bodyPr>
          <a:lstStyle/>
          <a:p>
            <a:r>
              <a:rPr lang="es-CO" sz="2000" b="1" dirty="0">
                <a:solidFill>
                  <a:srgbClr val="FF0000"/>
                </a:solidFill>
              </a:rPr>
              <a:t>Ejemplo</a:t>
            </a:r>
            <a:r>
              <a:rPr lang="es-CO" sz="2000" dirty="0">
                <a:solidFill>
                  <a:srgbClr val="FF0000"/>
                </a:solidFill>
              </a:rPr>
              <a:t>: </a:t>
            </a:r>
          </a:p>
          <a:p>
            <a:r>
              <a:rPr lang="es-CO" dirty="0"/>
              <a:t>Dadas las siguientes variables, defina el tipo de dato al que pertenecen marcando con una X la columna mas apropiada</a:t>
            </a:r>
          </a:p>
        </p:txBody>
      </p:sp>
      <p:graphicFrame>
        <p:nvGraphicFramePr>
          <p:cNvPr id="7" name="6 Tabla"/>
          <p:cNvGraphicFramePr>
            <a:graphicFrameLocks noGrp="1"/>
          </p:cNvGraphicFramePr>
          <p:nvPr>
            <p:extLst>
              <p:ext uri="{D42A27DB-BD31-4B8C-83A1-F6EECF244321}">
                <p14:modId xmlns:p14="http://schemas.microsoft.com/office/powerpoint/2010/main" val="962913315"/>
              </p:ext>
            </p:extLst>
          </p:nvPr>
        </p:nvGraphicFramePr>
        <p:xfrm>
          <a:off x="442551" y="2126278"/>
          <a:ext cx="8172907" cy="2499360"/>
        </p:xfrm>
        <a:graphic>
          <a:graphicData uri="http://schemas.openxmlformats.org/drawingml/2006/table">
            <a:tbl>
              <a:tblPr firstRow="1" bandRow="1">
                <a:tableStyleId>{5940675A-B579-460E-94D1-54222C63F5DA}</a:tableStyleId>
              </a:tblPr>
              <a:tblGrid>
                <a:gridCol w="1709277">
                  <a:extLst>
                    <a:ext uri="{9D8B030D-6E8A-4147-A177-3AD203B41FA5}">
                      <a16:colId xmlns:a16="http://schemas.microsoft.com/office/drawing/2014/main" val="20000"/>
                    </a:ext>
                  </a:extLst>
                </a:gridCol>
                <a:gridCol w="1704862">
                  <a:extLst>
                    <a:ext uri="{9D8B030D-6E8A-4147-A177-3AD203B41FA5}">
                      <a16:colId xmlns:a16="http://schemas.microsoft.com/office/drawing/2014/main" val="20001"/>
                    </a:ext>
                  </a:extLst>
                </a:gridCol>
                <a:gridCol w="864096">
                  <a:extLst>
                    <a:ext uri="{9D8B030D-6E8A-4147-A177-3AD203B41FA5}">
                      <a16:colId xmlns:a16="http://schemas.microsoft.com/office/drawing/2014/main" val="20002"/>
                    </a:ext>
                  </a:extLst>
                </a:gridCol>
                <a:gridCol w="792088">
                  <a:extLst>
                    <a:ext uri="{9D8B030D-6E8A-4147-A177-3AD203B41FA5}">
                      <a16:colId xmlns:a16="http://schemas.microsoft.com/office/drawing/2014/main" val="20003"/>
                    </a:ext>
                  </a:extLst>
                </a:gridCol>
                <a:gridCol w="1080120">
                  <a:extLst>
                    <a:ext uri="{9D8B030D-6E8A-4147-A177-3AD203B41FA5}">
                      <a16:colId xmlns:a16="http://schemas.microsoft.com/office/drawing/2014/main" val="20004"/>
                    </a:ext>
                  </a:extLst>
                </a:gridCol>
                <a:gridCol w="1080120">
                  <a:extLst>
                    <a:ext uri="{9D8B030D-6E8A-4147-A177-3AD203B41FA5}">
                      <a16:colId xmlns:a16="http://schemas.microsoft.com/office/drawing/2014/main" val="20005"/>
                    </a:ext>
                  </a:extLst>
                </a:gridCol>
                <a:gridCol w="942344">
                  <a:extLst>
                    <a:ext uri="{9D8B030D-6E8A-4147-A177-3AD203B41FA5}">
                      <a16:colId xmlns:a16="http://schemas.microsoft.com/office/drawing/2014/main" val="20006"/>
                    </a:ext>
                  </a:extLst>
                </a:gridCol>
              </a:tblGrid>
              <a:tr h="218625">
                <a:tc>
                  <a:txBody>
                    <a:bodyPr/>
                    <a:lstStyle/>
                    <a:p>
                      <a:pPr marL="0" algn="l" defTabSz="685800" rtl="0" eaLnBrk="1" latinLnBrk="0" hangingPunct="1"/>
                      <a:r>
                        <a:rPr lang="es-CO" sz="1400" b="1" kern="1200" dirty="0">
                          <a:solidFill>
                            <a:schemeClr val="bg1"/>
                          </a:solidFill>
                          <a:latin typeface="+mn-lt"/>
                          <a:ea typeface="+mn-ea"/>
                          <a:cs typeface="+mn-cs"/>
                        </a:rPr>
                        <a:t>Dato</a:t>
                      </a:r>
                    </a:p>
                  </a:txBody>
                  <a:tcPr>
                    <a:solidFill>
                      <a:schemeClr val="tx1"/>
                    </a:solidFill>
                  </a:tcPr>
                </a:tc>
                <a:tc>
                  <a:txBody>
                    <a:bodyPr/>
                    <a:lstStyle/>
                    <a:p>
                      <a:pPr marL="0" algn="l" defTabSz="685800" rtl="0" eaLnBrk="1" latinLnBrk="0" hangingPunct="1"/>
                      <a:r>
                        <a:rPr lang="es-CO" sz="1400" b="1" kern="1200" dirty="0">
                          <a:solidFill>
                            <a:schemeClr val="bg1"/>
                          </a:solidFill>
                          <a:latin typeface="+mn-lt"/>
                          <a:ea typeface="+mn-ea"/>
                          <a:cs typeface="+mn-cs"/>
                        </a:rPr>
                        <a:t>Nombre Variable</a:t>
                      </a:r>
                    </a:p>
                  </a:txBody>
                  <a:tcPr>
                    <a:solidFill>
                      <a:schemeClr val="tx1"/>
                    </a:solidFill>
                  </a:tcPr>
                </a:tc>
                <a:tc>
                  <a:txBody>
                    <a:bodyPr/>
                    <a:lstStyle/>
                    <a:p>
                      <a:pPr marL="0" algn="l" defTabSz="685800" rtl="0" eaLnBrk="1" latinLnBrk="0" hangingPunct="1"/>
                      <a:r>
                        <a:rPr lang="es-CO" sz="1400" b="1" kern="1200" dirty="0">
                          <a:solidFill>
                            <a:schemeClr val="bg1"/>
                          </a:solidFill>
                          <a:latin typeface="+mn-lt"/>
                          <a:ea typeface="+mn-ea"/>
                          <a:cs typeface="+mn-cs"/>
                        </a:rPr>
                        <a:t>Entero</a:t>
                      </a:r>
                    </a:p>
                  </a:txBody>
                  <a:tcPr>
                    <a:solidFill>
                      <a:schemeClr val="tx1"/>
                    </a:solidFill>
                  </a:tcPr>
                </a:tc>
                <a:tc>
                  <a:txBody>
                    <a:bodyPr/>
                    <a:lstStyle/>
                    <a:p>
                      <a:pPr marL="0" algn="l" defTabSz="685800" rtl="0" eaLnBrk="1" latinLnBrk="0" hangingPunct="1"/>
                      <a:r>
                        <a:rPr lang="es-CO" sz="1400" b="1" kern="1200" dirty="0">
                          <a:solidFill>
                            <a:schemeClr val="bg1"/>
                          </a:solidFill>
                          <a:latin typeface="+mn-lt"/>
                          <a:ea typeface="+mn-ea"/>
                          <a:cs typeface="+mn-cs"/>
                        </a:rPr>
                        <a:t>Real</a:t>
                      </a:r>
                    </a:p>
                  </a:txBody>
                  <a:tcPr>
                    <a:solidFill>
                      <a:schemeClr val="tx1"/>
                    </a:solidFill>
                  </a:tcPr>
                </a:tc>
                <a:tc>
                  <a:txBody>
                    <a:bodyPr/>
                    <a:lstStyle/>
                    <a:p>
                      <a:pPr marL="0" algn="l" defTabSz="685800" rtl="0" eaLnBrk="1" latinLnBrk="0" hangingPunct="1"/>
                      <a:r>
                        <a:rPr lang="es-CO" sz="1400" b="1" kern="1200" dirty="0">
                          <a:solidFill>
                            <a:schemeClr val="bg1"/>
                          </a:solidFill>
                          <a:latin typeface="+mn-lt"/>
                          <a:ea typeface="+mn-ea"/>
                          <a:cs typeface="+mn-cs"/>
                        </a:rPr>
                        <a:t>Booleana</a:t>
                      </a:r>
                    </a:p>
                  </a:txBody>
                  <a:tcPr>
                    <a:solidFill>
                      <a:schemeClr val="tx1"/>
                    </a:solidFill>
                  </a:tcPr>
                </a:tc>
                <a:tc>
                  <a:txBody>
                    <a:bodyPr/>
                    <a:lstStyle/>
                    <a:p>
                      <a:pPr marL="0" algn="l" defTabSz="685800" rtl="0" eaLnBrk="1" latinLnBrk="0" hangingPunct="1"/>
                      <a:r>
                        <a:rPr lang="es-CO" sz="1400" b="1" kern="1200" dirty="0">
                          <a:solidFill>
                            <a:schemeClr val="bg1"/>
                          </a:solidFill>
                          <a:latin typeface="+mn-lt"/>
                          <a:ea typeface="+mn-ea"/>
                          <a:cs typeface="+mn-cs"/>
                        </a:rPr>
                        <a:t>Carácter</a:t>
                      </a:r>
                    </a:p>
                  </a:txBody>
                  <a:tcPr>
                    <a:solidFill>
                      <a:schemeClr val="tx1"/>
                    </a:solidFill>
                  </a:tcPr>
                </a:tc>
                <a:tc>
                  <a:txBody>
                    <a:bodyPr/>
                    <a:lstStyle/>
                    <a:p>
                      <a:pPr marL="0" algn="l" defTabSz="685800" rtl="0" eaLnBrk="1" latinLnBrk="0" hangingPunct="1"/>
                      <a:r>
                        <a:rPr lang="es-CO" sz="1400" b="1" kern="1200" dirty="0">
                          <a:solidFill>
                            <a:schemeClr val="bg1"/>
                          </a:solidFill>
                          <a:latin typeface="+mn-lt"/>
                          <a:ea typeface="+mn-ea"/>
                          <a:cs typeface="+mn-cs"/>
                        </a:rPr>
                        <a:t>Cadena</a:t>
                      </a:r>
                    </a:p>
                  </a:txBody>
                  <a:tcPr>
                    <a:solidFill>
                      <a:schemeClr val="tx1"/>
                    </a:solidFill>
                  </a:tcPr>
                </a:tc>
                <a:extLst>
                  <a:ext uri="{0D108BD9-81ED-4DB2-BD59-A6C34878D82A}">
                    <a16:rowId xmlns:a16="http://schemas.microsoft.com/office/drawing/2014/main" val="10000"/>
                  </a:ext>
                </a:extLst>
              </a:tr>
              <a:tr h="184694">
                <a:tc>
                  <a:txBody>
                    <a:bodyPr/>
                    <a:lstStyle/>
                    <a:p>
                      <a:r>
                        <a:rPr lang="es-CO" sz="1200" dirty="0">
                          <a:latin typeface="+mn-lt"/>
                        </a:rPr>
                        <a:t>Dinero</a:t>
                      </a:r>
                    </a:p>
                  </a:txBody>
                  <a:tcPr/>
                </a:tc>
                <a:tc>
                  <a:txBody>
                    <a:bodyPr/>
                    <a:lstStyle/>
                    <a:p>
                      <a:r>
                        <a:rPr lang="es-CO" sz="1200" dirty="0" err="1">
                          <a:latin typeface="Consolas" panose="020B0609020204030204" pitchFamily="49" charset="0"/>
                        </a:rPr>
                        <a:t>money</a:t>
                      </a:r>
                      <a:r>
                        <a:rPr lang="es-CO" sz="1200" dirty="0">
                          <a:latin typeface="Consolas" panose="020B0609020204030204" pitchFamily="49" charset="0"/>
                        </a:rPr>
                        <a:t> </a:t>
                      </a: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extLst>
                  <a:ext uri="{0D108BD9-81ED-4DB2-BD59-A6C34878D82A}">
                    <a16:rowId xmlns:a16="http://schemas.microsoft.com/office/drawing/2014/main" val="10001"/>
                  </a:ext>
                </a:extLst>
              </a:tr>
              <a:tr h="184694">
                <a:tc>
                  <a:txBody>
                    <a:bodyPr/>
                    <a:lstStyle/>
                    <a:p>
                      <a:r>
                        <a:rPr lang="es-CO" sz="1200" dirty="0">
                          <a:latin typeface="+mn-lt"/>
                        </a:rPr>
                        <a:t>Correo</a:t>
                      </a:r>
                      <a:r>
                        <a:rPr lang="es-CO" sz="1200" baseline="0" dirty="0">
                          <a:latin typeface="+mn-lt"/>
                        </a:rPr>
                        <a:t> electrónico</a:t>
                      </a:r>
                      <a:endParaRPr lang="es-CO" sz="1200" dirty="0">
                        <a:latin typeface="+mn-lt"/>
                      </a:endParaRPr>
                    </a:p>
                  </a:txBody>
                  <a:tcPr/>
                </a:tc>
                <a:tc>
                  <a:txBody>
                    <a:bodyPr/>
                    <a:lstStyle/>
                    <a:p>
                      <a:r>
                        <a:rPr lang="es-CO" sz="1200" dirty="0">
                          <a:latin typeface="Consolas" panose="020B0609020204030204" pitchFamily="49" charset="0"/>
                        </a:rPr>
                        <a:t>email </a:t>
                      </a: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extLst>
                  <a:ext uri="{0D108BD9-81ED-4DB2-BD59-A6C34878D82A}">
                    <a16:rowId xmlns:a16="http://schemas.microsoft.com/office/drawing/2014/main" val="10002"/>
                  </a:ext>
                </a:extLst>
              </a:tr>
              <a:tr h="184694">
                <a:tc>
                  <a:txBody>
                    <a:bodyPr/>
                    <a:lstStyle/>
                    <a:p>
                      <a:r>
                        <a:rPr lang="es-CO" sz="1200" dirty="0">
                          <a:latin typeface="+mn-lt"/>
                        </a:rPr>
                        <a:t>velocidad</a:t>
                      </a:r>
                    </a:p>
                  </a:txBody>
                  <a:tcPr/>
                </a:tc>
                <a:tc>
                  <a:txBody>
                    <a:bodyPr/>
                    <a:lstStyle/>
                    <a:p>
                      <a:r>
                        <a:rPr lang="es-CO" sz="1200" dirty="0" err="1">
                          <a:latin typeface="Consolas" panose="020B0609020204030204" pitchFamily="49" charset="0"/>
                        </a:rPr>
                        <a:t>speed</a:t>
                      </a:r>
                      <a:r>
                        <a:rPr lang="es-CO" sz="1200" dirty="0">
                          <a:latin typeface="Consolas" panose="020B0609020204030204" pitchFamily="49" charset="0"/>
                        </a:rPr>
                        <a:t> </a:t>
                      </a:r>
                    </a:p>
                  </a:txBody>
                  <a:tcPr/>
                </a:tc>
                <a:tc>
                  <a:txBody>
                    <a:bodyPr/>
                    <a:lstStyle/>
                    <a:p>
                      <a:endParaRPr lang="es-CO" sz="1200" dirty="0">
                        <a:latin typeface="Consolas" panose="020B0609020204030204" pitchFamily="49" charset="0"/>
                      </a:endParaRPr>
                    </a:p>
                  </a:txBody>
                  <a:tcPr/>
                </a:tc>
                <a:tc>
                  <a:txBody>
                    <a:bodyPr/>
                    <a:lstStyle/>
                    <a:p>
                      <a:endParaRPr lang="es-CO" sz="120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extLst>
                  <a:ext uri="{0D108BD9-81ED-4DB2-BD59-A6C34878D82A}">
                    <a16:rowId xmlns:a16="http://schemas.microsoft.com/office/drawing/2014/main" val="10003"/>
                  </a:ext>
                </a:extLst>
              </a:tr>
              <a:tr h="227705">
                <a:tc>
                  <a:txBody>
                    <a:bodyPr/>
                    <a:lstStyle/>
                    <a:p>
                      <a:r>
                        <a:rPr lang="es-CO" sz="1200" dirty="0">
                          <a:latin typeface="+mn-lt"/>
                        </a:rPr>
                        <a:t>Numero</a:t>
                      </a:r>
                      <a:r>
                        <a:rPr lang="es-CO" sz="1200" baseline="0" dirty="0">
                          <a:latin typeface="+mn-lt"/>
                        </a:rPr>
                        <a:t> de llamadas</a:t>
                      </a:r>
                      <a:endParaRPr lang="es-CO" sz="1200" dirty="0">
                        <a:latin typeface="+mn-lt"/>
                      </a:endParaRPr>
                    </a:p>
                  </a:txBody>
                  <a:tcPr/>
                </a:tc>
                <a:tc>
                  <a:txBody>
                    <a:bodyPr/>
                    <a:lstStyle/>
                    <a:p>
                      <a:r>
                        <a:rPr lang="es-CO" sz="1200" dirty="0" err="1">
                          <a:latin typeface="Consolas" panose="020B0609020204030204" pitchFamily="49" charset="0"/>
                        </a:rPr>
                        <a:t>num_calls</a:t>
                      </a:r>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extLst>
                  <a:ext uri="{0D108BD9-81ED-4DB2-BD59-A6C34878D82A}">
                    <a16:rowId xmlns:a16="http://schemas.microsoft.com/office/drawing/2014/main" val="10004"/>
                  </a:ext>
                </a:extLst>
              </a:tr>
              <a:tr h="0">
                <a:tc>
                  <a:txBody>
                    <a:bodyPr/>
                    <a:lstStyle/>
                    <a:p>
                      <a:r>
                        <a:rPr lang="es-CO" sz="1200" dirty="0">
                          <a:latin typeface="+mn-lt"/>
                        </a:rPr>
                        <a:t>Sexo</a:t>
                      </a:r>
                    </a:p>
                  </a:txBody>
                  <a:tcPr/>
                </a:tc>
                <a:tc>
                  <a:txBody>
                    <a:bodyPr/>
                    <a:lstStyle/>
                    <a:p>
                      <a:r>
                        <a:rPr lang="es-CO" sz="1200" dirty="0" err="1">
                          <a:latin typeface="Consolas" panose="020B0609020204030204" pitchFamily="49" charset="0"/>
                        </a:rPr>
                        <a:t>gender</a:t>
                      </a:r>
                      <a:r>
                        <a:rPr lang="es-CO" sz="1200" dirty="0">
                          <a:latin typeface="Consolas" panose="020B0609020204030204" pitchFamily="49" charset="0"/>
                        </a:rPr>
                        <a:t> </a:t>
                      </a: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extLst>
                  <a:ext uri="{0D108BD9-81ED-4DB2-BD59-A6C34878D82A}">
                    <a16:rowId xmlns:a16="http://schemas.microsoft.com/office/drawing/2014/main" val="10005"/>
                  </a:ext>
                </a:extLst>
              </a:tr>
              <a:tr h="139326">
                <a:tc>
                  <a:txBody>
                    <a:bodyPr/>
                    <a:lstStyle/>
                    <a:p>
                      <a:r>
                        <a:rPr lang="es-CO" sz="1200" dirty="0">
                          <a:latin typeface="+mn-lt"/>
                        </a:rPr>
                        <a:t>Radio</a:t>
                      </a:r>
                    </a:p>
                  </a:txBody>
                  <a:tcPr/>
                </a:tc>
                <a:tc>
                  <a:txBody>
                    <a:bodyPr/>
                    <a:lstStyle/>
                    <a:p>
                      <a:r>
                        <a:rPr lang="es-CO" sz="1200" dirty="0">
                          <a:latin typeface="Consolas" panose="020B0609020204030204" pitchFamily="49" charset="0"/>
                        </a:rPr>
                        <a:t>radio</a:t>
                      </a: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extLst>
                  <a:ext uri="{0D108BD9-81ED-4DB2-BD59-A6C34878D82A}">
                    <a16:rowId xmlns:a16="http://schemas.microsoft.com/office/drawing/2014/main" val="10006"/>
                  </a:ext>
                </a:extLst>
              </a:tr>
              <a:tr h="184694">
                <a:tc>
                  <a:txBody>
                    <a:bodyPr/>
                    <a:lstStyle/>
                    <a:p>
                      <a:r>
                        <a:rPr lang="es-CO" sz="1200" dirty="0">
                          <a:latin typeface="+mn-lt"/>
                        </a:rPr>
                        <a:t>Numero</a:t>
                      </a:r>
                      <a:r>
                        <a:rPr lang="es-CO" sz="1200" baseline="0" dirty="0">
                          <a:latin typeface="+mn-lt"/>
                        </a:rPr>
                        <a:t> de materias</a:t>
                      </a:r>
                      <a:endParaRPr lang="es-CO" sz="1200" dirty="0">
                        <a:latin typeface="+mn-lt"/>
                      </a:endParaRPr>
                    </a:p>
                  </a:txBody>
                  <a:tcPr/>
                </a:tc>
                <a:tc>
                  <a:txBody>
                    <a:bodyPr/>
                    <a:lstStyle/>
                    <a:p>
                      <a:r>
                        <a:rPr lang="es-CO" sz="1200" dirty="0" err="1">
                          <a:latin typeface="Consolas" panose="020B0609020204030204" pitchFamily="49" charset="0"/>
                        </a:rPr>
                        <a:t>num_materias</a:t>
                      </a:r>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extLst>
                  <a:ext uri="{0D108BD9-81ED-4DB2-BD59-A6C34878D82A}">
                    <a16:rowId xmlns:a16="http://schemas.microsoft.com/office/drawing/2014/main" val="10007"/>
                  </a:ext>
                </a:extLst>
              </a:tr>
              <a:tr h="227705">
                <a:tc>
                  <a:txBody>
                    <a:bodyPr/>
                    <a:lstStyle/>
                    <a:p>
                      <a:r>
                        <a:rPr lang="es-CO" sz="1200" dirty="0" err="1">
                          <a:latin typeface="+mn-lt"/>
                        </a:rPr>
                        <a:t>Indice</a:t>
                      </a:r>
                      <a:r>
                        <a:rPr lang="es-CO" sz="1200" baseline="0" dirty="0">
                          <a:latin typeface="+mn-lt"/>
                        </a:rPr>
                        <a:t> de masa corporal</a:t>
                      </a:r>
                      <a:endParaRPr lang="es-CO" sz="1200" dirty="0">
                        <a:latin typeface="+mn-lt"/>
                      </a:endParaRPr>
                    </a:p>
                  </a:txBody>
                  <a:tcPr/>
                </a:tc>
                <a:tc>
                  <a:txBody>
                    <a:bodyPr/>
                    <a:lstStyle/>
                    <a:p>
                      <a:r>
                        <a:rPr lang="es-CO" sz="1200" dirty="0" err="1">
                          <a:latin typeface="Consolas" panose="020B0609020204030204" pitchFamily="49" charset="0"/>
                        </a:rPr>
                        <a:t>imc</a:t>
                      </a:r>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tc>
                  <a:txBody>
                    <a:bodyPr/>
                    <a:lstStyle/>
                    <a:p>
                      <a:endParaRPr lang="es-CO" sz="1200" dirty="0">
                        <a:latin typeface="Consolas" panose="020B0609020204030204" pitchFamily="49" charset="0"/>
                      </a:endParaRP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427403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23528" y="224228"/>
            <a:ext cx="7886700" cy="1116540"/>
          </a:xfrm>
        </p:spPr>
        <p:txBody>
          <a:bodyPr/>
          <a:lstStyle/>
          <a:p>
            <a:r>
              <a:rPr lang="en-US" sz="3200" dirty="0"/>
              <a:t>Datos en algoritmos</a:t>
            </a:r>
          </a:p>
        </p:txBody>
      </p:sp>
      <p:sp>
        <p:nvSpPr>
          <p:cNvPr id="2" name="Content Placeholder 1"/>
          <p:cNvSpPr>
            <a:spLocks noGrp="1"/>
          </p:cNvSpPr>
          <p:nvPr>
            <p:ph idx="1"/>
          </p:nvPr>
        </p:nvSpPr>
        <p:spPr>
          <a:xfrm>
            <a:off x="323528" y="1196752"/>
            <a:ext cx="8191822" cy="1116541"/>
          </a:xfrm>
        </p:spPr>
        <p:txBody>
          <a:bodyPr>
            <a:normAutofit lnSpcReduction="10000"/>
          </a:bodyPr>
          <a:lstStyle/>
          <a:p>
            <a:r>
              <a:rPr lang="en-US" sz="2200" b="1" dirty="0">
                <a:solidFill>
                  <a:srgbClr val="FF0000"/>
                </a:solidFill>
              </a:rPr>
              <a:t>Constante</a:t>
            </a:r>
            <a:r>
              <a:rPr lang="en-US" sz="2200" dirty="0">
                <a:solidFill>
                  <a:srgbClr val="FF0000"/>
                </a:solidFill>
              </a:rPr>
              <a:t>: </a:t>
            </a:r>
            <a:r>
              <a:rPr lang="es-ES" sz="2200" dirty="0">
                <a:solidFill>
                  <a:srgbClr val="FF0000"/>
                </a:solidFill>
              </a:rPr>
              <a:t> </a:t>
            </a:r>
            <a:r>
              <a:rPr lang="es-ES" sz="2200" dirty="0"/>
              <a:t>Dato del algoritmo que luego de ser asignado, que no puede ser modificado </a:t>
            </a:r>
          </a:p>
          <a:p>
            <a:r>
              <a:rPr lang="es-ES" sz="2200" dirty="0"/>
              <a:t>Para nombrar constantes se usan mayúsculas</a:t>
            </a:r>
          </a:p>
        </p:txBody>
      </p:sp>
      <p:graphicFrame>
        <p:nvGraphicFramePr>
          <p:cNvPr id="6" name="5 Tabla"/>
          <p:cNvGraphicFramePr>
            <a:graphicFrameLocks noGrp="1"/>
          </p:cNvGraphicFramePr>
          <p:nvPr>
            <p:extLst>
              <p:ext uri="{D42A27DB-BD31-4B8C-83A1-F6EECF244321}">
                <p14:modId xmlns:p14="http://schemas.microsoft.com/office/powerpoint/2010/main" val="2401627642"/>
              </p:ext>
            </p:extLst>
          </p:nvPr>
        </p:nvGraphicFramePr>
        <p:xfrm>
          <a:off x="1259632" y="2313292"/>
          <a:ext cx="6624736" cy="2595880"/>
        </p:xfrm>
        <a:graphic>
          <a:graphicData uri="http://schemas.openxmlformats.org/drawingml/2006/table">
            <a:tbl>
              <a:tblPr firstRow="1" bandRow="1">
                <a:tableStyleId>{5940675A-B579-460E-94D1-54222C63F5DA}</a:tableStyleId>
              </a:tblPr>
              <a:tblGrid>
                <a:gridCol w="2735470">
                  <a:extLst>
                    <a:ext uri="{9D8B030D-6E8A-4147-A177-3AD203B41FA5}">
                      <a16:colId xmlns:a16="http://schemas.microsoft.com/office/drawing/2014/main" val="20000"/>
                    </a:ext>
                  </a:extLst>
                </a:gridCol>
                <a:gridCol w="3889266">
                  <a:extLst>
                    <a:ext uri="{9D8B030D-6E8A-4147-A177-3AD203B41FA5}">
                      <a16:colId xmlns:a16="http://schemas.microsoft.com/office/drawing/2014/main" val="20001"/>
                    </a:ext>
                  </a:extLst>
                </a:gridCol>
              </a:tblGrid>
              <a:tr h="370840">
                <a:tc>
                  <a:txBody>
                    <a:bodyPr/>
                    <a:lstStyle/>
                    <a:p>
                      <a:pPr algn="l"/>
                      <a:r>
                        <a:rPr lang="es-CO" sz="1800" b="1" kern="1200" dirty="0">
                          <a:solidFill>
                            <a:schemeClr val="bg1"/>
                          </a:solidFill>
                          <a:latin typeface="+mn-lt"/>
                          <a:ea typeface="+mn-ea"/>
                          <a:cs typeface="+mn-cs"/>
                        </a:rPr>
                        <a:t>Dato</a:t>
                      </a:r>
                    </a:p>
                  </a:txBody>
                  <a:tcPr anchor="ctr">
                    <a:solidFill>
                      <a:schemeClr val="tx1"/>
                    </a:solidFill>
                  </a:tcPr>
                </a:tc>
                <a:tc>
                  <a:txBody>
                    <a:bodyPr/>
                    <a:lstStyle/>
                    <a:p>
                      <a:pPr algn="l"/>
                      <a:r>
                        <a:rPr lang="es-CO" sz="1800" b="1" kern="1200" dirty="0">
                          <a:solidFill>
                            <a:schemeClr val="bg1"/>
                          </a:solidFill>
                          <a:latin typeface="+mn-lt"/>
                          <a:ea typeface="+mn-ea"/>
                          <a:cs typeface="+mn-cs"/>
                        </a:rPr>
                        <a:t>Nombre de la constante</a:t>
                      </a:r>
                    </a:p>
                  </a:txBody>
                  <a:tcPr anchor="ctr">
                    <a:solidFill>
                      <a:schemeClr val="tx1"/>
                    </a:solidFill>
                  </a:tcPr>
                </a:tc>
                <a:extLst>
                  <a:ext uri="{0D108BD9-81ED-4DB2-BD59-A6C34878D82A}">
                    <a16:rowId xmlns:a16="http://schemas.microsoft.com/office/drawing/2014/main" val="10000"/>
                  </a:ext>
                </a:extLst>
              </a:tr>
              <a:tr h="370840">
                <a:tc>
                  <a:txBody>
                    <a:bodyPr/>
                    <a:lstStyle/>
                    <a:p>
                      <a:r>
                        <a:rPr lang="es-CO" sz="1600" dirty="0">
                          <a:latin typeface="+mn-lt"/>
                        </a:rPr>
                        <a:t>Numero Pi</a:t>
                      </a:r>
                    </a:p>
                  </a:txBody>
                  <a:tcPr/>
                </a:tc>
                <a:tc>
                  <a:txBody>
                    <a:bodyPr/>
                    <a:lstStyle/>
                    <a:p>
                      <a:r>
                        <a:rPr lang="es-CO" sz="1600" dirty="0">
                          <a:latin typeface="Consolas" panose="020B0609020204030204" pitchFamily="49" charset="0"/>
                        </a:rPr>
                        <a:t>PI = 3.14</a:t>
                      </a:r>
                    </a:p>
                  </a:txBody>
                  <a:tcPr/>
                </a:tc>
                <a:extLst>
                  <a:ext uri="{0D108BD9-81ED-4DB2-BD59-A6C34878D82A}">
                    <a16:rowId xmlns:a16="http://schemas.microsoft.com/office/drawing/2014/main" val="10001"/>
                  </a:ext>
                </a:extLst>
              </a:tr>
              <a:tr h="370840">
                <a:tc>
                  <a:txBody>
                    <a:bodyPr/>
                    <a:lstStyle/>
                    <a:p>
                      <a:r>
                        <a:rPr lang="es-CO" sz="1600" dirty="0">
                          <a:latin typeface="+mn-lt"/>
                        </a:rPr>
                        <a:t>Numero Euler</a:t>
                      </a:r>
                    </a:p>
                  </a:txBody>
                  <a:tcPr/>
                </a:tc>
                <a:tc>
                  <a:txBody>
                    <a:bodyPr/>
                    <a:lstStyle/>
                    <a:p>
                      <a:r>
                        <a:rPr lang="es-CO" sz="1600" dirty="0">
                          <a:latin typeface="Consolas" panose="020B0609020204030204" pitchFamily="49" charset="0"/>
                        </a:rPr>
                        <a:t>exp = 2.71828</a:t>
                      </a:r>
                    </a:p>
                  </a:txBody>
                  <a:tcPr/>
                </a:tc>
                <a:extLst>
                  <a:ext uri="{0D108BD9-81ED-4DB2-BD59-A6C34878D82A}">
                    <a16:rowId xmlns:a16="http://schemas.microsoft.com/office/drawing/2014/main" val="10002"/>
                  </a:ext>
                </a:extLst>
              </a:tr>
              <a:tr h="370840">
                <a:tc>
                  <a:txBody>
                    <a:bodyPr/>
                    <a:lstStyle/>
                    <a:p>
                      <a:r>
                        <a:rPr lang="es-CO" sz="1600" dirty="0">
                          <a:latin typeface="+mn-lt"/>
                        </a:rPr>
                        <a:t>Gravedad</a:t>
                      </a:r>
                    </a:p>
                  </a:txBody>
                  <a:tcPr/>
                </a:tc>
                <a:tc>
                  <a:txBody>
                    <a:bodyPr/>
                    <a:lstStyle/>
                    <a:p>
                      <a:r>
                        <a:rPr lang="es-CO" sz="1600" dirty="0">
                          <a:latin typeface="Consolas" panose="020B0609020204030204" pitchFamily="49" charset="0"/>
                        </a:rPr>
                        <a:t>G = 9.8</a:t>
                      </a:r>
                    </a:p>
                  </a:txBody>
                  <a:tcPr/>
                </a:tc>
                <a:extLst>
                  <a:ext uri="{0D108BD9-81ED-4DB2-BD59-A6C34878D82A}">
                    <a16:rowId xmlns:a16="http://schemas.microsoft.com/office/drawing/2014/main" val="10003"/>
                  </a:ext>
                </a:extLst>
              </a:tr>
              <a:tr h="370840">
                <a:tc>
                  <a:txBody>
                    <a:bodyPr/>
                    <a:lstStyle/>
                    <a:p>
                      <a:r>
                        <a:rPr lang="es-MX" sz="1600" dirty="0">
                          <a:latin typeface="+mn-lt"/>
                        </a:rPr>
                        <a:t>Velocidad de la luz</a:t>
                      </a:r>
                      <a:endParaRPr lang="es-CO" sz="1600" dirty="0">
                        <a:latin typeface="+mn-lt"/>
                      </a:endParaRPr>
                    </a:p>
                  </a:txBody>
                  <a:tcPr/>
                </a:tc>
                <a:tc>
                  <a:txBody>
                    <a:bodyPr/>
                    <a:lstStyle/>
                    <a:p>
                      <a:r>
                        <a:rPr lang="es-MX" sz="1600" dirty="0">
                          <a:latin typeface="Consolas" panose="020B0609020204030204" pitchFamily="49" charset="0"/>
                        </a:rPr>
                        <a:t>C = 300000 </a:t>
                      </a:r>
                      <a:endParaRPr lang="es-CO" sz="1600" dirty="0">
                        <a:latin typeface="Consolas" panose="020B0609020204030204" pitchFamily="49" charset="0"/>
                      </a:endParaRPr>
                    </a:p>
                  </a:txBody>
                  <a:tcPr/>
                </a:tc>
                <a:extLst>
                  <a:ext uri="{0D108BD9-81ED-4DB2-BD59-A6C34878D82A}">
                    <a16:rowId xmlns:a16="http://schemas.microsoft.com/office/drawing/2014/main" val="791867113"/>
                  </a:ext>
                </a:extLst>
              </a:tr>
              <a:tr h="370840">
                <a:tc>
                  <a:txBody>
                    <a:bodyPr/>
                    <a:lstStyle/>
                    <a:p>
                      <a:r>
                        <a:rPr lang="es-MX" sz="1600" dirty="0">
                          <a:latin typeface="+mn-lt"/>
                        </a:rPr>
                        <a:t>Numero de Avogadro</a:t>
                      </a:r>
                      <a:endParaRPr lang="es-CO" sz="1600" dirty="0">
                        <a:latin typeface="+mn-lt"/>
                      </a:endParaRPr>
                    </a:p>
                  </a:txBody>
                  <a:tcPr/>
                </a:tc>
                <a:tc>
                  <a:txBody>
                    <a:bodyPr/>
                    <a:lstStyle/>
                    <a:p>
                      <a:r>
                        <a:rPr lang="es-MX" sz="1600" dirty="0">
                          <a:latin typeface="Consolas" panose="020B0609020204030204" pitchFamily="49" charset="0"/>
                        </a:rPr>
                        <a:t>NUM_AVOGADRO = 6.022e-23</a:t>
                      </a:r>
                      <a:endParaRPr lang="es-CO" sz="1600" dirty="0">
                        <a:latin typeface="Consolas" panose="020B0609020204030204" pitchFamily="49" charset="0"/>
                      </a:endParaRPr>
                    </a:p>
                  </a:txBody>
                  <a:tcPr/>
                </a:tc>
                <a:extLst>
                  <a:ext uri="{0D108BD9-81ED-4DB2-BD59-A6C34878D82A}">
                    <a16:rowId xmlns:a16="http://schemas.microsoft.com/office/drawing/2014/main" val="1226238806"/>
                  </a:ext>
                </a:extLst>
              </a:tr>
              <a:tr h="370840">
                <a:tc>
                  <a:txBody>
                    <a:bodyPr/>
                    <a:lstStyle/>
                    <a:p>
                      <a:r>
                        <a:rPr lang="es-CO" sz="1600" dirty="0">
                          <a:latin typeface="+mn-lt"/>
                        </a:rPr>
                        <a:t>Limite de intentos</a:t>
                      </a:r>
                    </a:p>
                  </a:txBody>
                  <a:tcPr/>
                </a:tc>
                <a:tc>
                  <a:txBody>
                    <a:bodyPr/>
                    <a:lstStyle/>
                    <a:p>
                      <a:r>
                        <a:rPr lang="es-CO" sz="1600" dirty="0">
                          <a:latin typeface="Consolas" panose="020B0609020204030204" pitchFamily="49" charset="0"/>
                        </a:rPr>
                        <a:t>LIMITE_INTENTOS = 30</a:t>
                      </a:r>
                    </a:p>
                  </a:txBody>
                  <a:tcPr/>
                </a:tc>
                <a:extLst>
                  <a:ext uri="{0D108BD9-81ED-4DB2-BD59-A6C34878D82A}">
                    <a16:rowId xmlns:a16="http://schemas.microsoft.com/office/drawing/2014/main" val="2230700229"/>
                  </a:ext>
                </a:extLst>
              </a:tr>
            </a:tbl>
          </a:graphicData>
        </a:graphic>
      </p:graphicFrame>
      <p:sp>
        <p:nvSpPr>
          <p:cNvPr id="7" name="Content Placeholder 1">
            <a:extLst>
              <a:ext uri="{FF2B5EF4-FFF2-40B4-BE49-F238E27FC236}">
                <a16:creationId xmlns:a16="http://schemas.microsoft.com/office/drawing/2014/main" id="{74D48624-C0CA-4A9D-94EB-FCC9669EC85A}"/>
              </a:ext>
            </a:extLst>
          </p:cNvPr>
          <p:cNvSpPr txBox="1">
            <a:spLocks/>
          </p:cNvSpPr>
          <p:nvPr/>
        </p:nvSpPr>
        <p:spPr>
          <a:xfrm>
            <a:off x="339304" y="5074491"/>
            <a:ext cx="8191822" cy="11165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sz="2200" b="1" dirty="0"/>
              <a:t>Declaración</a:t>
            </a:r>
            <a:r>
              <a:rPr lang="es-ES" sz="2200" dirty="0"/>
              <a:t>:</a:t>
            </a:r>
          </a:p>
        </p:txBody>
      </p:sp>
      <p:sp>
        <p:nvSpPr>
          <p:cNvPr id="8" name="CuadroTexto 7">
            <a:extLst>
              <a:ext uri="{FF2B5EF4-FFF2-40B4-BE49-F238E27FC236}">
                <a16:creationId xmlns:a16="http://schemas.microsoft.com/office/drawing/2014/main" id="{1884346A-4BB4-4196-8F5D-9A8BF19F7F52}"/>
              </a:ext>
            </a:extLst>
          </p:cNvPr>
          <p:cNvSpPr txBox="1"/>
          <p:nvPr/>
        </p:nvSpPr>
        <p:spPr>
          <a:xfrm>
            <a:off x="1285019" y="6061982"/>
            <a:ext cx="4572000" cy="338554"/>
          </a:xfrm>
          <a:prstGeom prst="rect">
            <a:avLst/>
          </a:prstGeom>
          <a:noFill/>
        </p:spPr>
        <p:txBody>
          <a:bodyPr wrap="square">
            <a:spAutoFit/>
          </a:bodyPr>
          <a:lstStyle/>
          <a:p>
            <a:r>
              <a:rPr lang="es-CO" sz="1600" b="1" dirty="0">
                <a:solidFill>
                  <a:schemeClr val="accent2"/>
                </a:solidFill>
                <a:latin typeface="Consolas" panose="020B0609020204030204" pitchFamily="49" charset="0"/>
              </a:rPr>
              <a:t>&lt;Tipo_de_dato&gt;</a:t>
            </a:r>
            <a:r>
              <a:rPr lang="es-CO" sz="1600" dirty="0">
                <a:latin typeface="Consolas" panose="020B0609020204030204" pitchFamily="49" charset="0"/>
              </a:rPr>
              <a:t> </a:t>
            </a:r>
            <a:r>
              <a:rPr lang="es-CO" sz="1600" dirty="0">
                <a:solidFill>
                  <a:schemeClr val="accent4"/>
                </a:solidFill>
                <a:latin typeface="Consolas" panose="020B0609020204030204" pitchFamily="49" charset="0"/>
              </a:rPr>
              <a:t>identificador</a:t>
            </a:r>
            <a:r>
              <a:rPr lang="es-CO" sz="1600" dirty="0">
                <a:latin typeface="Consolas" panose="020B0609020204030204" pitchFamily="49" charset="0"/>
              </a:rPr>
              <a:t> = valor</a:t>
            </a:r>
          </a:p>
        </p:txBody>
      </p:sp>
      <p:sp>
        <p:nvSpPr>
          <p:cNvPr id="9" name="CuadroTexto 8">
            <a:extLst>
              <a:ext uri="{FF2B5EF4-FFF2-40B4-BE49-F238E27FC236}">
                <a16:creationId xmlns:a16="http://schemas.microsoft.com/office/drawing/2014/main" id="{393D016E-8623-4088-87EC-A39D05A5DF87}"/>
              </a:ext>
            </a:extLst>
          </p:cNvPr>
          <p:cNvSpPr txBox="1"/>
          <p:nvPr/>
        </p:nvSpPr>
        <p:spPr>
          <a:xfrm>
            <a:off x="546683" y="5473711"/>
            <a:ext cx="3024336" cy="307777"/>
          </a:xfrm>
          <a:prstGeom prst="rect">
            <a:avLst/>
          </a:prstGeom>
          <a:noFill/>
        </p:spPr>
        <p:txBody>
          <a:bodyPr wrap="square">
            <a:spAutoFit/>
          </a:bodyPr>
          <a:lstStyle/>
          <a:p>
            <a:pPr algn="ctr"/>
            <a:r>
              <a:rPr lang="es-CO" sz="1400" dirty="0">
                <a:solidFill>
                  <a:schemeClr val="accent2"/>
                </a:solidFill>
                <a:latin typeface="Consolas" panose="020B0609020204030204" pitchFamily="49" charset="0"/>
              </a:rPr>
              <a:t>Entero</a:t>
            </a:r>
            <a:r>
              <a:rPr lang="es-CO" sz="1400" dirty="0">
                <a:latin typeface="Consolas" panose="020B0609020204030204" pitchFamily="49" charset="0"/>
              </a:rPr>
              <a:t>, </a:t>
            </a:r>
            <a:r>
              <a:rPr lang="es-CO" sz="1400" dirty="0">
                <a:solidFill>
                  <a:schemeClr val="accent2"/>
                </a:solidFill>
                <a:latin typeface="Consolas" panose="020B0609020204030204" pitchFamily="49" charset="0"/>
              </a:rPr>
              <a:t>Real</a:t>
            </a:r>
            <a:r>
              <a:rPr lang="es-CO" sz="1400" dirty="0">
                <a:latin typeface="Consolas" panose="020B0609020204030204" pitchFamily="49" charset="0"/>
              </a:rPr>
              <a:t>, </a:t>
            </a:r>
            <a:r>
              <a:rPr lang="es-CO" sz="1400" dirty="0">
                <a:solidFill>
                  <a:schemeClr val="accent2"/>
                </a:solidFill>
                <a:latin typeface="Consolas" panose="020B0609020204030204" pitchFamily="49" charset="0"/>
              </a:rPr>
              <a:t>Texto</a:t>
            </a:r>
            <a:r>
              <a:rPr lang="es-CO" sz="1400" dirty="0">
                <a:latin typeface="Consolas" panose="020B0609020204030204" pitchFamily="49" charset="0"/>
              </a:rPr>
              <a:t>, </a:t>
            </a:r>
            <a:r>
              <a:rPr lang="es-CO" sz="1400" dirty="0">
                <a:solidFill>
                  <a:schemeClr val="accent2"/>
                </a:solidFill>
                <a:latin typeface="Consolas" panose="020B0609020204030204" pitchFamily="49" charset="0"/>
              </a:rPr>
              <a:t>Logico</a:t>
            </a:r>
          </a:p>
        </p:txBody>
      </p:sp>
      <p:cxnSp>
        <p:nvCxnSpPr>
          <p:cNvPr id="10" name="Conector recto de flecha 9">
            <a:extLst>
              <a:ext uri="{FF2B5EF4-FFF2-40B4-BE49-F238E27FC236}">
                <a16:creationId xmlns:a16="http://schemas.microsoft.com/office/drawing/2014/main" id="{E1EB6349-CC08-41A8-8D0A-345DE1D2921C}"/>
              </a:ext>
            </a:extLst>
          </p:cNvPr>
          <p:cNvCxnSpPr>
            <a:cxnSpLocks/>
            <a:stCxn id="9" idx="2"/>
          </p:cNvCxnSpPr>
          <p:nvPr/>
        </p:nvCxnSpPr>
        <p:spPr>
          <a:xfrm flipH="1">
            <a:off x="2058113" y="5781488"/>
            <a:ext cx="738" cy="288014"/>
          </a:xfrm>
          <a:prstGeom prst="straightConnector1">
            <a:avLst/>
          </a:prstGeom>
          <a:ln w="285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BD5CE581-B61B-412B-8907-A10C4FE6DC9E}"/>
              </a:ext>
            </a:extLst>
          </p:cNvPr>
          <p:cNvCxnSpPr>
            <a:cxnSpLocks/>
          </p:cNvCxnSpPr>
          <p:nvPr/>
        </p:nvCxnSpPr>
        <p:spPr>
          <a:xfrm flipV="1">
            <a:off x="3715035" y="6330187"/>
            <a:ext cx="0" cy="259054"/>
          </a:xfrm>
          <a:prstGeom prst="straightConnector1">
            <a:avLst/>
          </a:prstGeom>
          <a:ln w="285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087189F3-7056-4628-81FC-FDA1BEB0E8E3}"/>
              </a:ext>
            </a:extLst>
          </p:cNvPr>
          <p:cNvSpPr txBox="1"/>
          <p:nvPr/>
        </p:nvSpPr>
        <p:spPr>
          <a:xfrm>
            <a:off x="2816487" y="6543959"/>
            <a:ext cx="1797095" cy="307777"/>
          </a:xfrm>
          <a:prstGeom prst="rect">
            <a:avLst/>
          </a:prstGeom>
          <a:noFill/>
        </p:spPr>
        <p:txBody>
          <a:bodyPr wrap="none" rtlCol="0">
            <a:spAutoFit/>
          </a:bodyPr>
          <a:lstStyle/>
          <a:p>
            <a:r>
              <a:rPr lang="es-CO" sz="1400" dirty="0">
                <a:solidFill>
                  <a:srgbClr val="0070C0"/>
                </a:solidFill>
              </a:rPr>
              <a:t>Nombre de la variable</a:t>
            </a:r>
          </a:p>
        </p:txBody>
      </p:sp>
      <p:cxnSp>
        <p:nvCxnSpPr>
          <p:cNvPr id="13" name="Conector recto de flecha 12">
            <a:extLst>
              <a:ext uri="{FF2B5EF4-FFF2-40B4-BE49-F238E27FC236}">
                <a16:creationId xmlns:a16="http://schemas.microsoft.com/office/drawing/2014/main" id="{BE3D7E41-15BE-4174-B33C-87771B3A8E9B}"/>
              </a:ext>
            </a:extLst>
          </p:cNvPr>
          <p:cNvCxnSpPr>
            <a:cxnSpLocks/>
          </p:cNvCxnSpPr>
          <p:nvPr/>
        </p:nvCxnSpPr>
        <p:spPr>
          <a:xfrm>
            <a:off x="5083187" y="5781488"/>
            <a:ext cx="0" cy="28801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CuadroTexto 13">
            <a:extLst>
              <a:ext uri="{FF2B5EF4-FFF2-40B4-BE49-F238E27FC236}">
                <a16:creationId xmlns:a16="http://schemas.microsoft.com/office/drawing/2014/main" id="{ACE068EF-DD0C-4394-BDD7-49FFC12772E6}"/>
              </a:ext>
            </a:extLst>
          </p:cNvPr>
          <p:cNvSpPr txBox="1"/>
          <p:nvPr/>
        </p:nvSpPr>
        <p:spPr>
          <a:xfrm>
            <a:off x="4226221" y="5445224"/>
            <a:ext cx="1713931" cy="307777"/>
          </a:xfrm>
          <a:prstGeom prst="rect">
            <a:avLst/>
          </a:prstGeom>
          <a:noFill/>
        </p:spPr>
        <p:txBody>
          <a:bodyPr wrap="none" rtlCol="0">
            <a:spAutoFit/>
          </a:bodyPr>
          <a:lstStyle/>
          <a:p>
            <a:r>
              <a:rPr lang="es-CO" sz="1400" dirty="0"/>
              <a:t>Valor de la constante</a:t>
            </a:r>
          </a:p>
        </p:txBody>
      </p:sp>
      <p:sp>
        <p:nvSpPr>
          <p:cNvPr id="20" name="CuadroTexto 19">
            <a:extLst>
              <a:ext uri="{FF2B5EF4-FFF2-40B4-BE49-F238E27FC236}">
                <a16:creationId xmlns:a16="http://schemas.microsoft.com/office/drawing/2014/main" id="{75FE9370-5542-4485-80B7-8502694C7188}"/>
              </a:ext>
            </a:extLst>
          </p:cNvPr>
          <p:cNvSpPr txBox="1"/>
          <p:nvPr/>
        </p:nvSpPr>
        <p:spPr>
          <a:xfrm>
            <a:off x="5940152" y="6119447"/>
            <a:ext cx="2864544" cy="523220"/>
          </a:xfrm>
          <a:prstGeom prst="rect">
            <a:avLst/>
          </a:prstGeom>
          <a:noFill/>
          <a:ln>
            <a:solidFill>
              <a:schemeClr val="tx1"/>
            </a:solidFill>
          </a:ln>
        </p:spPr>
        <p:txBody>
          <a:bodyPr wrap="square" rtlCol="0">
            <a:spAutoFit/>
          </a:bodyPr>
          <a:lstStyle/>
          <a:p>
            <a:r>
              <a:rPr lang="es-CO" sz="1400" dirty="0">
                <a:solidFill>
                  <a:schemeClr val="accent2"/>
                </a:solidFill>
                <a:latin typeface="Consolas" panose="020B0609020204030204" pitchFamily="49" charset="0"/>
                <a:cs typeface="Courier New" panose="02070309020205020404" pitchFamily="49" charset="0"/>
              </a:rPr>
              <a:t>Entero</a:t>
            </a:r>
            <a:r>
              <a:rPr lang="es-CO" sz="1400" dirty="0">
                <a:latin typeface="Consolas" panose="020B0609020204030204" pitchFamily="49" charset="0"/>
                <a:cs typeface="Courier New" panose="02070309020205020404" pitchFamily="49" charset="0"/>
              </a:rPr>
              <a:t> LIMITE_INTENTOS = 30</a:t>
            </a:r>
          </a:p>
          <a:p>
            <a:r>
              <a:rPr lang="es-CO" sz="1400" dirty="0">
                <a:solidFill>
                  <a:schemeClr val="accent2"/>
                </a:solidFill>
                <a:latin typeface="Consolas" panose="020B0609020204030204" pitchFamily="49" charset="0"/>
                <a:cs typeface="Courier New" panose="02070309020205020404" pitchFamily="49" charset="0"/>
              </a:rPr>
              <a:t>Real</a:t>
            </a:r>
            <a:r>
              <a:rPr lang="es-CO" sz="1400" dirty="0">
                <a:latin typeface="Consolas" panose="020B0609020204030204" pitchFamily="49" charset="0"/>
                <a:cs typeface="Courier New" panose="02070309020205020404" pitchFamily="49" charset="0"/>
              </a:rPr>
              <a:t> PI = 3.14</a:t>
            </a:r>
          </a:p>
        </p:txBody>
      </p:sp>
    </p:spTree>
    <p:extLst>
      <p:ext uri="{BB962C8B-B14F-4D97-AF65-F5344CB8AC3E}">
        <p14:creationId xmlns:p14="http://schemas.microsoft.com/office/powerpoint/2010/main" val="1863692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74B467-E950-411E-ADA1-08A802E433E0}"/>
              </a:ext>
            </a:extLst>
          </p:cNvPr>
          <p:cNvSpPr>
            <a:spLocks noGrp="1"/>
          </p:cNvSpPr>
          <p:nvPr>
            <p:ph type="title"/>
          </p:nvPr>
        </p:nvSpPr>
        <p:spPr>
          <a:xfrm>
            <a:off x="162529" y="305529"/>
            <a:ext cx="7886700" cy="747207"/>
          </a:xfrm>
        </p:spPr>
        <p:txBody>
          <a:bodyPr/>
          <a:lstStyle/>
          <a:p>
            <a:r>
              <a:rPr lang="es-MX" dirty="0"/>
              <a:t>Diagrama de flujos - Bloques</a:t>
            </a:r>
            <a:endParaRPr lang="es-CO" dirty="0"/>
          </a:p>
        </p:txBody>
      </p:sp>
      <p:sp>
        <p:nvSpPr>
          <p:cNvPr id="5" name="Flowchart: Data 6">
            <a:extLst>
              <a:ext uri="{FF2B5EF4-FFF2-40B4-BE49-F238E27FC236}">
                <a16:creationId xmlns:a16="http://schemas.microsoft.com/office/drawing/2014/main" id="{03904255-9331-434B-8981-75EF486CB1DD}"/>
              </a:ext>
            </a:extLst>
          </p:cNvPr>
          <p:cNvSpPr/>
          <p:nvPr/>
        </p:nvSpPr>
        <p:spPr>
          <a:xfrm>
            <a:off x="5146312" y="2242488"/>
            <a:ext cx="2013856"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Read/Print</a:t>
            </a:r>
          </a:p>
        </p:txBody>
      </p:sp>
      <p:sp>
        <p:nvSpPr>
          <p:cNvPr id="6" name="Flowchart: Process 7">
            <a:extLst>
              <a:ext uri="{FF2B5EF4-FFF2-40B4-BE49-F238E27FC236}">
                <a16:creationId xmlns:a16="http://schemas.microsoft.com/office/drawing/2014/main" id="{B4F15497-6C8A-4887-AFE8-87B678D6A7EC}"/>
              </a:ext>
            </a:extLst>
          </p:cNvPr>
          <p:cNvSpPr/>
          <p:nvPr/>
        </p:nvSpPr>
        <p:spPr>
          <a:xfrm>
            <a:off x="5648000" y="3166016"/>
            <a:ext cx="1066800"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Process</a:t>
            </a:r>
          </a:p>
        </p:txBody>
      </p:sp>
      <p:sp>
        <p:nvSpPr>
          <p:cNvPr id="7" name="Flowchart: Terminator 8">
            <a:extLst>
              <a:ext uri="{FF2B5EF4-FFF2-40B4-BE49-F238E27FC236}">
                <a16:creationId xmlns:a16="http://schemas.microsoft.com/office/drawing/2014/main" id="{9810BD53-E015-4C28-8C6B-03045C726130}"/>
              </a:ext>
            </a:extLst>
          </p:cNvPr>
          <p:cNvSpPr/>
          <p:nvPr/>
        </p:nvSpPr>
        <p:spPr>
          <a:xfrm>
            <a:off x="5648000" y="6295896"/>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Finish</a:t>
            </a:r>
            <a:endParaRPr lang="en-US" sz="1400" dirty="0">
              <a:latin typeface="Consolas" panose="020B0609020204030204" pitchFamily="49" charset="0"/>
            </a:endParaRPr>
          </a:p>
        </p:txBody>
      </p:sp>
      <p:sp>
        <p:nvSpPr>
          <p:cNvPr id="8" name="Flowchart: Terminator 9">
            <a:extLst>
              <a:ext uri="{FF2B5EF4-FFF2-40B4-BE49-F238E27FC236}">
                <a16:creationId xmlns:a16="http://schemas.microsoft.com/office/drawing/2014/main" id="{5265D614-799A-45C1-B9AB-1D1A77B1031C}"/>
              </a:ext>
            </a:extLst>
          </p:cNvPr>
          <p:cNvSpPr/>
          <p:nvPr/>
        </p:nvSpPr>
        <p:spPr>
          <a:xfrm>
            <a:off x="5683634" y="1477308"/>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Start</a:t>
            </a:r>
            <a:endParaRPr lang="en-US" sz="1400" dirty="0">
              <a:latin typeface="Consolas" panose="020B0609020204030204" pitchFamily="49" charset="0"/>
            </a:endParaRPr>
          </a:p>
        </p:txBody>
      </p:sp>
      <p:grpSp>
        <p:nvGrpSpPr>
          <p:cNvPr id="9" name="42 Grupo">
            <a:extLst>
              <a:ext uri="{FF2B5EF4-FFF2-40B4-BE49-F238E27FC236}">
                <a16:creationId xmlns:a16="http://schemas.microsoft.com/office/drawing/2014/main" id="{94510A54-C1A2-4B44-BB6C-18104072C4FE}"/>
              </a:ext>
            </a:extLst>
          </p:cNvPr>
          <p:cNvGrpSpPr/>
          <p:nvPr/>
        </p:nvGrpSpPr>
        <p:grpSpPr>
          <a:xfrm>
            <a:off x="4489522" y="4351680"/>
            <a:ext cx="3488970" cy="645219"/>
            <a:chOff x="4512196" y="4002981"/>
            <a:chExt cx="3488970" cy="645219"/>
          </a:xfrm>
        </p:grpSpPr>
        <p:sp>
          <p:nvSpPr>
            <p:cNvPr id="10" name="TextBox 75">
              <a:extLst>
                <a:ext uri="{FF2B5EF4-FFF2-40B4-BE49-F238E27FC236}">
                  <a16:creationId xmlns:a16="http://schemas.microsoft.com/office/drawing/2014/main" id="{FD63529B-55B7-40D8-8F36-1429AE14DEB3}"/>
                </a:ext>
              </a:extLst>
            </p:cNvPr>
            <p:cNvSpPr txBox="1"/>
            <p:nvPr/>
          </p:nvSpPr>
          <p:spPr>
            <a:xfrm>
              <a:off x="7391566" y="4019005"/>
              <a:ext cx="609600" cy="246221"/>
            </a:xfrm>
            <a:prstGeom prst="rect">
              <a:avLst/>
            </a:prstGeom>
            <a:noFill/>
          </p:spPr>
          <p:txBody>
            <a:bodyPr wrap="square" rtlCol="0">
              <a:spAutoFit/>
            </a:bodyPr>
            <a:lstStyle/>
            <a:p>
              <a:pPr algn="ctr"/>
              <a:r>
                <a:rPr lang="en-US" sz="1000" dirty="0">
                  <a:latin typeface="Consolas" panose="020B0609020204030204" pitchFamily="49" charset="0"/>
                </a:rPr>
                <a:t>yes</a:t>
              </a:r>
            </a:p>
          </p:txBody>
        </p:sp>
        <p:sp>
          <p:nvSpPr>
            <p:cNvPr id="11" name="TextBox 76">
              <a:extLst>
                <a:ext uri="{FF2B5EF4-FFF2-40B4-BE49-F238E27FC236}">
                  <a16:creationId xmlns:a16="http://schemas.microsoft.com/office/drawing/2014/main" id="{293001CE-D8A0-4419-9E0C-571E43B47E56}"/>
                </a:ext>
              </a:extLst>
            </p:cNvPr>
            <p:cNvSpPr txBox="1"/>
            <p:nvPr/>
          </p:nvSpPr>
          <p:spPr>
            <a:xfrm>
              <a:off x="4512196" y="4002981"/>
              <a:ext cx="609600" cy="246221"/>
            </a:xfrm>
            <a:prstGeom prst="rect">
              <a:avLst/>
            </a:prstGeom>
            <a:noFill/>
          </p:spPr>
          <p:txBody>
            <a:bodyPr wrap="square" rtlCol="0">
              <a:spAutoFit/>
            </a:bodyPr>
            <a:lstStyle/>
            <a:p>
              <a:pPr algn="ctr"/>
              <a:r>
                <a:rPr lang="en-US" sz="1000" dirty="0">
                  <a:latin typeface="Consolas" panose="020B0609020204030204" pitchFamily="49" charset="0"/>
                </a:rPr>
                <a:t>no</a:t>
              </a:r>
            </a:p>
          </p:txBody>
        </p:sp>
        <p:sp>
          <p:nvSpPr>
            <p:cNvPr id="12" name="Flowchart: Decision 5">
              <a:extLst>
                <a:ext uri="{FF2B5EF4-FFF2-40B4-BE49-F238E27FC236}">
                  <a16:creationId xmlns:a16="http://schemas.microsoft.com/office/drawing/2014/main" id="{FAB5114B-DAD5-44AC-827F-A020693414E7}"/>
                </a:ext>
              </a:extLst>
            </p:cNvPr>
            <p:cNvSpPr/>
            <p:nvPr/>
          </p:nvSpPr>
          <p:spPr>
            <a:xfrm>
              <a:off x="5143761" y="4055676"/>
              <a:ext cx="2180704" cy="457200"/>
            </a:xfrm>
            <a:prstGeom prst="flowChartDecisi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Decision</a:t>
              </a:r>
            </a:p>
          </p:txBody>
        </p:sp>
        <p:grpSp>
          <p:nvGrpSpPr>
            <p:cNvPr id="13" name="40 Grupo">
              <a:extLst>
                <a:ext uri="{FF2B5EF4-FFF2-40B4-BE49-F238E27FC236}">
                  <a16:creationId xmlns:a16="http://schemas.microsoft.com/office/drawing/2014/main" id="{E4A715DE-8046-4711-B557-2B0DBDC121B3}"/>
                </a:ext>
              </a:extLst>
            </p:cNvPr>
            <p:cNvGrpSpPr/>
            <p:nvPr/>
          </p:nvGrpSpPr>
          <p:grpSpPr>
            <a:xfrm>
              <a:off x="4633913" y="4281488"/>
              <a:ext cx="528637" cy="366712"/>
              <a:chOff x="4633913" y="4281488"/>
              <a:chExt cx="528637" cy="366712"/>
            </a:xfrm>
          </p:grpSpPr>
          <p:cxnSp>
            <p:nvCxnSpPr>
              <p:cNvPr id="17" name="Straight Arrow Connector 18">
                <a:extLst>
                  <a:ext uri="{FF2B5EF4-FFF2-40B4-BE49-F238E27FC236}">
                    <a16:creationId xmlns:a16="http://schemas.microsoft.com/office/drawing/2014/main" id="{71A8D79A-02E3-4DD2-BA4F-B504B81717A1}"/>
                  </a:ext>
                </a:extLst>
              </p:cNvPr>
              <p:cNvCxnSpPr/>
              <p:nvPr/>
            </p:nvCxnSpPr>
            <p:spPr>
              <a:xfrm>
                <a:off x="4633913" y="4281488"/>
                <a:ext cx="4763" cy="3667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8">
                <a:extLst>
                  <a:ext uri="{FF2B5EF4-FFF2-40B4-BE49-F238E27FC236}">
                    <a16:creationId xmlns:a16="http://schemas.microsoft.com/office/drawing/2014/main" id="{D2910915-F8A9-4A12-9B48-4A23F444FDB5}"/>
                  </a:ext>
                </a:extLst>
              </p:cNvPr>
              <p:cNvCxnSpPr/>
              <p:nvPr/>
            </p:nvCxnSpPr>
            <p:spPr>
              <a:xfrm flipH="1">
                <a:off x="4633913" y="4286250"/>
                <a:ext cx="528637"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4" name="65 Grupo">
              <a:extLst>
                <a:ext uri="{FF2B5EF4-FFF2-40B4-BE49-F238E27FC236}">
                  <a16:creationId xmlns:a16="http://schemas.microsoft.com/office/drawing/2014/main" id="{037553D7-C48C-4660-858E-30FC9E02C7C7}"/>
                </a:ext>
              </a:extLst>
            </p:cNvPr>
            <p:cNvGrpSpPr/>
            <p:nvPr/>
          </p:nvGrpSpPr>
          <p:grpSpPr>
            <a:xfrm flipH="1">
              <a:off x="7305676" y="4281488"/>
              <a:ext cx="528637" cy="366712"/>
              <a:chOff x="4633913" y="4281488"/>
              <a:chExt cx="528637" cy="366712"/>
            </a:xfrm>
          </p:grpSpPr>
          <p:cxnSp>
            <p:nvCxnSpPr>
              <p:cNvPr id="15" name="Straight Arrow Connector 18">
                <a:extLst>
                  <a:ext uri="{FF2B5EF4-FFF2-40B4-BE49-F238E27FC236}">
                    <a16:creationId xmlns:a16="http://schemas.microsoft.com/office/drawing/2014/main" id="{557A0862-E30C-4463-B486-495669B2666C}"/>
                  </a:ext>
                </a:extLst>
              </p:cNvPr>
              <p:cNvCxnSpPr/>
              <p:nvPr/>
            </p:nvCxnSpPr>
            <p:spPr>
              <a:xfrm>
                <a:off x="4633913" y="4281488"/>
                <a:ext cx="4763" cy="3667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8">
                <a:extLst>
                  <a:ext uri="{FF2B5EF4-FFF2-40B4-BE49-F238E27FC236}">
                    <a16:creationId xmlns:a16="http://schemas.microsoft.com/office/drawing/2014/main" id="{214D7920-4A89-4B92-AE32-8A0B3EF087E6}"/>
                  </a:ext>
                </a:extLst>
              </p:cNvPr>
              <p:cNvCxnSpPr/>
              <p:nvPr/>
            </p:nvCxnSpPr>
            <p:spPr>
              <a:xfrm flipH="1">
                <a:off x="4633913" y="4286250"/>
                <a:ext cx="528637"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sp>
        <p:nvSpPr>
          <p:cNvPr id="19" name="69 Rectángulo">
            <a:extLst>
              <a:ext uri="{FF2B5EF4-FFF2-40B4-BE49-F238E27FC236}">
                <a16:creationId xmlns:a16="http://schemas.microsoft.com/office/drawing/2014/main" id="{86EAFD9E-C574-4C0C-ABDF-ABCFEB7E27EE}"/>
              </a:ext>
            </a:extLst>
          </p:cNvPr>
          <p:cNvSpPr/>
          <p:nvPr/>
        </p:nvSpPr>
        <p:spPr>
          <a:xfrm>
            <a:off x="1958644" y="1412776"/>
            <a:ext cx="2143536" cy="338554"/>
          </a:xfrm>
          <a:prstGeom prst="rect">
            <a:avLst/>
          </a:prstGeom>
        </p:spPr>
        <p:txBody>
          <a:bodyPr wrap="none">
            <a:spAutoFit/>
          </a:bodyPr>
          <a:lstStyle/>
          <a:p>
            <a:pPr algn="r"/>
            <a:r>
              <a:rPr lang="es-CO" sz="1600" dirty="0">
                <a:latin typeface="Century Gothic" panose="020B0502020202020204" pitchFamily="34" charset="0"/>
              </a:rPr>
              <a:t>Inicio del programa</a:t>
            </a:r>
          </a:p>
        </p:txBody>
      </p:sp>
      <p:sp>
        <p:nvSpPr>
          <p:cNvPr id="20" name="70 Rectángulo">
            <a:extLst>
              <a:ext uri="{FF2B5EF4-FFF2-40B4-BE49-F238E27FC236}">
                <a16:creationId xmlns:a16="http://schemas.microsoft.com/office/drawing/2014/main" id="{C8E71A4E-3EB9-4A3A-BE2F-D9C9209E8D49}"/>
              </a:ext>
            </a:extLst>
          </p:cNvPr>
          <p:cNvSpPr/>
          <p:nvPr/>
        </p:nvSpPr>
        <p:spPr>
          <a:xfrm>
            <a:off x="1522158" y="3055317"/>
            <a:ext cx="2556513" cy="830997"/>
          </a:xfrm>
          <a:prstGeom prst="rect">
            <a:avLst/>
          </a:prstGeom>
        </p:spPr>
        <p:txBody>
          <a:bodyPr wrap="square">
            <a:spAutoFit/>
          </a:bodyPr>
          <a:lstStyle/>
          <a:p>
            <a:pPr algn="r"/>
            <a:r>
              <a:rPr lang="es-CO" sz="1600" dirty="0">
                <a:latin typeface="Century Gothic" panose="020B0502020202020204" pitchFamily="34" charset="0"/>
              </a:rPr>
              <a:t>Pasos, procesos o líneas de instrucción de programa de computo</a:t>
            </a:r>
          </a:p>
        </p:txBody>
      </p:sp>
      <p:sp>
        <p:nvSpPr>
          <p:cNvPr id="21" name="71 Rectángulo">
            <a:extLst>
              <a:ext uri="{FF2B5EF4-FFF2-40B4-BE49-F238E27FC236}">
                <a16:creationId xmlns:a16="http://schemas.microsoft.com/office/drawing/2014/main" id="{60F1026D-95AD-4158-8099-BA97C2B48183}"/>
              </a:ext>
            </a:extLst>
          </p:cNvPr>
          <p:cNvSpPr/>
          <p:nvPr/>
        </p:nvSpPr>
        <p:spPr>
          <a:xfrm>
            <a:off x="2434736" y="2240576"/>
            <a:ext cx="1667444" cy="338554"/>
          </a:xfrm>
          <a:prstGeom prst="rect">
            <a:avLst/>
          </a:prstGeom>
        </p:spPr>
        <p:txBody>
          <a:bodyPr wrap="none">
            <a:spAutoFit/>
          </a:bodyPr>
          <a:lstStyle/>
          <a:p>
            <a:r>
              <a:rPr lang="es-CO" sz="1600" dirty="0">
                <a:latin typeface="Century Gothic" panose="020B0502020202020204" pitchFamily="34" charset="0"/>
              </a:rPr>
              <a:t>Entrada/Salida</a:t>
            </a:r>
          </a:p>
        </p:txBody>
      </p:sp>
      <p:sp>
        <p:nvSpPr>
          <p:cNvPr id="22" name="73 Rectángulo">
            <a:extLst>
              <a:ext uri="{FF2B5EF4-FFF2-40B4-BE49-F238E27FC236}">
                <a16:creationId xmlns:a16="http://schemas.microsoft.com/office/drawing/2014/main" id="{C890F85B-BF07-4D8C-BB14-68B977B23124}"/>
              </a:ext>
            </a:extLst>
          </p:cNvPr>
          <p:cNvSpPr/>
          <p:nvPr/>
        </p:nvSpPr>
        <p:spPr>
          <a:xfrm>
            <a:off x="398133" y="4481697"/>
            <a:ext cx="3703258" cy="338554"/>
          </a:xfrm>
          <a:prstGeom prst="rect">
            <a:avLst/>
          </a:prstGeom>
        </p:spPr>
        <p:txBody>
          <a:bodyPr wrap="none">
            <a:spAutoFit/>
          </a:bodyPr>
          <a:lstStyle/>
          <a:p>
            <a:r>
              <a:rPr lang="es-CO" sz="1600" dirty="0">
                <a:latin typeface="Century Gothic" panose="020B0502020202020204" pitchFamily="34" charset="0"/>
              </a:rPr>
              <a:t>Toma de decisiones y Ramificación</a:t>
            </a:r>
          </a:p>
        </p:txBody>
      </p:sp>
      <p:sp>
        <p:nvSpPr>
          <p:cNvPr id="23" name="75 Rectángulo">
            <a:extLst>
              <a:ext uri="{FF2B5EF4-FFF2-40B4-BE49-F238E27FC236}">
                <a16:creationId xmlns:a16="http://schemas.microsoft.com/office/drawing/2014/main" id="{E35B0682-B4F6-4AC7-AFDB-4D50F409A7D5}"/>
              </a:ext>
            </a:extLst>
          </p:cNvPr>
          <p:cNvSpPr/>
          <p:nvPr/>
        </p:nvSpPr>
        <p:spPr>
          <a:xfrm>
            <a:off x="2174729" y="6235571"/>
            <a:ext cx="1887055" cy="338554"/>
          </a:xfrm>
          <a:prstGeom prst="rect">
            <a:avLst/>
          </a:prstGeom>
        </p:spPr>
        <p:txBody>
          <a:bodyPr wrap="none">
            <a:spAutoFit/>
          </a:bodyPr>
          <a:lstStyle/>
          <a:p>
            <a:r>
              <a:rPr lang="es-CO" sz="1600" dirty="0">
                <a:latin typeface="Century Gothic" panose="020B0502020202020204" pitchFamily="34" charset="0"/>
              </a:rPr>
              <a:t>Fin del programa</a:t>
            </a:r>
          </a:p>
        </p:txBody>
      </p:sp>
      <p:cxnSp>
        <p:nvCxnSpPr>
          <p:cNvPr id="24" name="Straight Arrow Connector 12">
            <a:extLst>
              <a:ext uri="{FF2B5EF4-FFF2-40B4-BE49-F238E27FC236}">
                <a16:creationId xmlns:a16="http://schemas.microsoft.com/office/drawing/2014/main" id="{64E926B6-1FEE-495B-9125-3A7DEBD8ECCC}"/>
              </a:ext>
            </a:extLst>
          </p:cNvPr>
          <p:cNvCxnSpPr/>
          <p:nvPr/>
        </p:nvCxnSpPr>
        <p:spPr>
          <a:xfrm>
            <a:off x="5510314" y="5575816"/>
            <a:ext cx="1402250" cy="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79 Rectángulo">
            <a:extLst>
              <a:ext uri="{FF2B5EF4-FFF2-40B4-BE49-F238E27FC236}">
                <a16:creationId xmlns:a16="http://schemas.microsoft.com/office/drawing/2014/main" id="{51F18032-D936-47AC-8AD4-97A8597A131C}"/>
              </a:ext>
            </a:extLst>
          </p:cNvPr>
          <p:cNvSpPr/>
          <p:nvPr/>
        </p:nvSpPr>
        <p:spPr>
          <a:xfrm>
            <a:off x="2469681" y="5359579"/>
            <a:ext cx="1592103" cy="338554"/>
          </a:xfrm>
          <a:prstGeom prst="rect">
            <a:avLst/>
          </a:prstGeom>
        </p:spPr>
        <p:txBody>
          <a:bodyPr wrap="none">
            <a:spAutoFit/>
          </a:bodyPr>
          <a:lstStyle/>
          <a:p>
            <a:r>
              <a:rPr lang="es-CO" sz="1600" dirty="0">
                <a:latin typeface="Century Gothic" panose="020B0502020202020204" pitchFamily="34" charset="0"/>
              </a:rPr>
              <a:t>Líneas de flujo</a:t>
            </a:r>
          </a:p>
        </p:txBody>
      </p:sp>
    </p:spTree>
    <p:extLst>
      <p:ext uri="{BB962C8B-B14F-4D97-AF65-F5344CB8AC3E}">
        <p14:creationId xmlns:p14="http://schemas.microsoft.com/office/powerpoint/2010/main" val="37049604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251520" y="424019"/>
            <a:ext cx="7995020" cy="1116540"/>
          </a:xfrm>
        </p:spPr>
        <p:txBody>
          <a:bodyPr/>
          <a:lstStyle/>
          <a:p>
            <a:r>
              <a:rPr lang="es-CO" sz="2800" dirty="0"/>
              <a:t>Comparación – Solución del problema del pájaro</a:t>
            </a:r>
          </a:p>
        </p:txBody>
      </p:sp>
      <p:sp>
        <p:nvSpPr>
          <p:cNvPr id="4" name="3 Marcador de número de diapositiva"/>
          <p:cNvSpPr>
            <a:spLocks noGrp="1"/>
          </p:cNvSpPr>
          <p:nvPr>
            <p:ph type="sldNum" sz="quarter" idx="12"/>
          </p:nvPr>
        </p:nvSpPr>
        <p:spPr/>
        <p:txBody>
          <a:bodyPr/>
          <a:lstStyle/>
          <a:p>
            <a:fld id="{45F1CE28-A3C7-48DC-84A2-8FB08D6123C5}" type="slidenum">
              <a:rPr lang="en-US" smtClean="0"/>
              <a:pPr/>
              <a:t>19</a:t>
            </a:fld>
            <a:endParaRPr lang="en-US" dirty="0"/>
          </a:p>
        </p:txBody>
      </p:sp>
      <p:sp>
        <p:nvSpPr>
          <p:cNvPr id="10" name="CuadroTexto 9">
            <a:extLst>
              <a:ext uri="{FF2B5EF4-FFF2-40B4-BE49-F238E27FC236}">
                <a16:creationId xmlns:a16="http://schemas.microsoft.com/office/drawing/2014/main" id="{89476E3E-F9E5-49F1-BB25-C2013D4DAD89}"/>
              </a:ext>
            </a:extLst>
          </p:cNvPr>
          <p:cNvSpPr txBox="1"/>
          <p:nvPr/>
        </p:nvSpPr>
        <p:spPr>
          <a:xfrm>
            <a:off x="0" y="3903342"/>
            <a:ext cx="3528392" cy="338554"/>
          </a:xfrm>
          <a:prstGeom prst="rect">
            <a:avLst/>
          </a:prstGeom>
          <a:noFill/>
        </p:spPr>
        <p:txBody>
          <a:bodyPr wrap="square">
            <a:spAutoFit/>
          </a:bodyPr>
          <a:lstStyle/>
          <a:p>
            <a:pPr algn="ctr"/>
            <a:r>
              <a:rPr lang="es-CO" sz="1600" b="1" dirty="0">
                <a:latin typeface="Century Gothic" panose="020B0502020202020204" pitchFamily="34" charset="0"/>
              </a:rPr>
              <a:t>Bloques problema del pájaro</a:t>
            </a:r>
          </a:p>
        </p:txBody>
      </p:sp>
      <p:pic>
        <p:nvPicPr>
          <p:cNvPr id="14" name="Picture 2">
            <a:extLst>
              <a:ext uri="{FF2B5EF4-FFF2-40B4-BE49-F238E27FC236}">
                <a16:creationId xmlns:a16="http://schemas.microsoft.com/office/drawing/2014/main" id="{CC7766EB-610E-498B-B13D-7EBF1677C6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1195" y="4469588"/>
            <a:ext cx="1710651" cy="21463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Picture 2">
            <a:extLst>
              <a:ext uri="{FF2B5EF4-FFF2-40B4-BE49-F238E27FC236}">
                <a16:creationId xmlns:a16="http://schemas.microsoft.com/office/drawing/2014/main" id="{74F2BC17-9C74-4517-827D-1743ECE5E3C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30413" y="2099008"/>
            <a:ext cx="1652217" cy="16522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1" name="CuadroTexto 30">
            <a:extLst>
              <a:ext uri="{FF2B5EF4-FFF2-40B4-BE49-F238E27FC236}">
                <a16:creationId xmlns:a16="http://schemas.microsoft.com/office/drawing/2014/main" id="{E87C950A-A0DD-49C4-91F6-2BD15A6C9498}"/>
              </a:ext>
            </a:extLst>
          </p:cNvPr>
          <p:cNvSpPr txBox="1"/>
          <p:nvPr/>
        </p:nvSpPr>
        <p:spPr>
          <a:xfrm>
            <a:off x="250603" y="1458257"/>
            <a:ext cx="3672408" cy="584775"/>
          </a:xfrm>
          <a:prstGeom prst="rect">
            <a:avLst/>
          </a:prstGeom>
          <a:noFill/>
        </p:spPr>
        <p:txBody>
          <a:bodyPr wrap="square">
            <a:spAutoFit/>
          </a:bodyPr>
          <a:lstStyle/>
          <a:p>
            <a:r>
              <a:rPr lang="es-CO" sz="1600" b="1" dirty="0">
                <a:latin typeface="Century Gothic" panose="020B0502020202020204" pitchFamily="34" charset="0"/>
              </a:rPr>
              <a:t>Problema: </a:t>
            </a:r>
            <a:r>
              <a:rPr lang="es-CO" sz="1600" dirty="0">
                <a:latin typeface="Century Gothic" panose="020B0502020202020204" pitchFamily="34" charset="0"/>
              </a:rPr>
              <a:t>Pise al marrano con el pájaro</a:t>
            </a:r>
          </a:p>
        </p:txBody>
      </p:sp>
      <p:sp>
        <p:nvSpPr>
          <p:cNvPr id="32" name="26 Rectángulo">
            <a:extLst>
              <a:ext uri="{FF2B5EF4-FFF2-40B4-BE49-F238E27FC236}">
                <a16:creationId xmlns:a16="http://schemas.microsoft.com/office/drawing/2014/main" id="{ED19F232-4E20-429C-A454-0AA1CCD5A1F7}"/>
              </a:ext>
            </a:extLst>
          </p:cNvPr>
          <p:cNvSpPr/>
          <p:nvPr/>
        </p:nvSpPr>
        <p:spPr>
          <a:xfrm>
            <a:off x="4434241" y="2456902"/>
            <a:ext cx="2117887" cy="338554"/>
          </a:xfrm>
          <a:prstGeom prst="rect">
            <a:avLst/>
          </a:prstGeom>
        </p:spPr>
        <p:txBody>
          <a:bodyPr wrap="none">
            <a:spAutoFit/>
          </a:bodyPr>
          <a:lstStyle/>
          <a:p>
            <a:r>
              <a:rPr lang="es-CO" sz="1600" b="1" dirty="0">
                <a:latin typeface="Century Gothic" panose="020B0502020202020204" pitchFamily="34" charset="0"/>
              </a:rPr>
              <a:t>Algoritmo Solución</a:t>
            </a:r>
          </a:p>
        </p:txBody>
      </p:sp>
      <p:pic>
        <p:nvPicPr>
          <p:cNvPr id="33" name="Picture 2">
            <a:extLst>
              <a:ext uri="{FF2B5EF4-FFF2-40B4-BE49-F238E27FC236}">
                <a16:creationId xmlns:a16="http://schemas.microsoft.com/office/drawing/2014/main" id="{C1E3A390-EEBE-48ED-B4FE-9B2EDD8EDF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63758" y="2925116"/>
            <a:ext cx="3595830" cy="26445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72910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359840" y="188640"/>
            <a:ext cx="7886700" cy="1116540"/>
          </a:xfrm>
        </p:spPr>
        <p:txBody>
          <a:bodyPr/>
          <a:lstStyle/>
          <a:p>
            <a:r>
              <a:rPr lang="es-CO" sz="3200" dirty="0"/>
              <a:t>Comparación de un problema</a:t>
            </a:r>
          </a:p>
        </p:txBody>
      </p:sp>
      <p:sp>
        <p:nvSpPr>
          <p:cNvPr id="4" name="3 Marcador de número de diapositiva"/>
          <p:cNvSpPr>
            <a:spLocks noGrp="1"/>
          </p:cNvSpPr>
          <p:nvPr>
            <p:ph type="sldNum" sz="quarter" idx="12"/>
          </p:nvPr>
        </p:nvSpPr>
        <p:spPr/>
        <p:txBody>
          <a:bodyPr/>
          <a:lstStyle/>
          <a:p>
            <a:fld id="{45F1CE28-A3C7-48DC-84A2-8FB08D6123C5}" type="slidenum">
              <a:rPr lang="en-US" smtClean="0"/>
              <a:pPr/>
              <a:t>20</a:t>
            </a:fld>
            <a:endParaRPr lang="en-US" dirty="0"/>
          </a:p>
        </p:txBody>
      </p:sp>
      <p:pic>
        <p:nvPicPr>
          <p:cNvPr id="9" name="Picture 2">
            <a:extLst>
              <a:ext uri="{FF2B5EF4-FFF2-40B4-BE49-F238E27FC236}">
                <a16:creationId xmlns:a16="http://schemas.microsoft.com/office/drawing/2014/main" id="{5F5EA5F5-6DAD-4F35-A550-0EDF68B720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9840" y="1412776"/>
            <a:ext cx="2981400" cy="2981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descr="PHD Comics: Grading Methods | Phd comics, Math humor, Comics">
            <a:extLst>
              <a:ext uri="{FF2B5EF4-FFF2-40B4-BE49-F238E27FC236}">
                <a16:creationId xmlns:a16="http://schemas.microsoft.com/office/drawing/2014/main" id="{794F9EA6-B8FF-41F0-849D-A05248D7EE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3928" y="1768975"/>
            <a:ext cx="4661688" cy="2020065"/>
          </a:xfrm>
          <a:prstGeom prst="rect">
            <a:avLst/>
          </a:prstGeom>
          <a:noFill/>
          <a:extLst>
            <a:ext uri="{909E8E84-426E-40DD-AFC4-6F175D3DCCD1}">
              <a14:hiddenFill xmlns:a14="http://schemas.microsoft.com/office/drawing/2010/main">
                <a:solidFill>
                  <a:srgbClr val="FFFFFF"/>
                </a:solidFill>
              </a14:hiddenFill>
            </a:ext>
          </a:extLst>
        </p:spPr>
      </p:pic>
      <p:sp>
        <p:nvSpPr>
          <p:cNvPr id="11" name="27 Rectángulo">
            <a:extLst>
              <a:ext uri="{FF2B5EF4-FFF2-40B4-BE49-F238E27FC236}">
                <a16:creationId xmlns:a16="http://schemas.microsoft.com/office/drawing/2014/main" id="{C12ABEAE-228A-4FBD-B2DB-742AF88288CB}"/>
              </a:ext>
            </a:extLst>
          </p:cNvPr>
          <p:cNvSpPr/>
          <p:nvPr/>
        </p:nvSpPr>
        <p:spPr>
          <a:xfrm>
            <a:off x="359840" y="4725144"/>
            <a:ext cx="2592697" cy="615553"/>
          </a:xfrm>
          <a:prstGeom prst="rect">
            <a:avLst/>
          </a:prstGeom>
        </p:spPr>
        <p:txBody>
          <a:bodyPr wrap="none">
            <a:spAutoFit/>
          </a:bodyPr>
          <a:lstStyle/>
          <a:p>
            <a:r>
              <a:rPr lang="es-CO" b="1" dirty="0"/>
              <a:t>Problema:</a:t>
            </a:r>
          </a:p>
          <a:p>
            <a:r>
              <a:rPr lang="es-CO" sz="1600" dirty="0"/>
              <a:t>Pise al marrano con el pájaro</a:t>
            </a:r>
          </a:p>
        </p:txBody>
      </p:sp>
      <p:sp>
        <p:nvSpPr>
          <p:cNvPr id="12" name="26 Rectángulo">
            <a:extLst>
              <a:ext uri="{FF2B5EF4-FFF2-40B4-BE49-F238E27FC236}">
                <a16:creationId xmlns:a16="http://schemas.microsoft.com/office/drawing/2014/main" id="{65FDE972-23A7-4EFB-B3BC-20A29216BD54}"/>
              </a:ext>
            </a:extLst>
          </p:cNvPr>
          <p:cNvSpPr/>
          <p:nvPr/>
        </p:nvSpPr>
        <p:spPr>
          <a:xfrm>
            <a:off x="3942164" y="4716521"/>
            <a:ext cx="2268442" cy="615553"/>
          </a:xfrm>
          <a:prstGeom prst="rect">
            <a:avLst/>
          </a:prstGeom>
        </p:spPr>
        <p:txBody>
          <a:bodyPr wrap="none">
            <a:spAutoFit/>
          </a:bodyPr>
          <a:lstStyle/>
          <a:p>
            <a:r>
              <a:rPr lang="es-CO" b="1" dirty="0"/>
              <a:t>Problema:</a:t>
            </a:r>
          </a:p>
          <a:p>
            <a:r>
              <a:rPr lang="es-CO" sz="1600" dirty="0"/>
              <a:t>Haga un programa que …</a:t>
            </a:r>
          </a:p>
        </p:txBody>
      </p:sp>
    </p:spTree>
    <p:extLst>
      <p:ext uri="{BB962C8B-B14F-4D97-AF65-F5344CB8AC3E}">
        <p14:creationId xmlns:p14="http://schemas.microsoft.com/office/powerpoint/2010/main" val="14872552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359840" y="224228"/>
            <a:ext cx="7886700" cy="1116540"/>
          </a:xfrm>
        </p:spPr>
        <p:txBody>
          <a:bodyPr/>
          <a:lstStyle/>
          <a:p>
            <a:r>
              <a:rPr lang="es-CO" sz="3200" dirty="0"/>
              <a:t>Comparación de un problema</a:t>
            </a:r>
          </a:p>
        </p:txBody>
      </p:sp>
      <p:pic>
        <p:nvPicPr>
          <p:cNvPr id="9" name="Picture 2">
            <a:extLst>
              <a:ext uri="{FF2B5EF4-FFF2-40B4-BE49-F238E27FC236}">
                <a16:creationId xmlns:a16="http://schemas.microsoft.com/office/drawing/2014/main" id="{5F5EA5F5-6DAD-4F35-A550-0EDF68B720E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3772" y="1196752"/>
            <a:ext cx="1619872" cy="16198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descr="PHD Comics: Grading Methods | Phd comics, Math humor, Comics">
            <a:extLst>
              <a:ext uri="{FF2B5EF4-FFF2-40B4-BE49-F238E27FC236}">
                <a16:creationId xmlns:a16="http://schemas.microsoft.com/office/drawing/2014/main" id="{794F9EA6-B8FF-41F0-849D-A05248D7EE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4637" y="1161632"/>
            <a:ext cx="3736836" cy="1619296"/>
          </a:xfrm>
          <a:prstGeom prst="rect">
            <a:avLst/>
          </a:prstGeom>
          <a:noFill/>
          <a:extLst>
            <a:ext uri="{909E8E84-426E-40DD-AFC4-6F175D3DCCD1}">
              <a14:hiddenFill xmlns:a14="http://schemas.microsoft.com/office/drawing/2010/main">
                <a:solidFill>
                  <a:srgbClr val="FFFFFF"/>
                </a:solidFill>
              </a14:hiddenFill>
            </a:ext>
          </a:extLst>
        </p:spPr>
      </p:pic>
      <p:sp>
        <p:nvSpPr>
          <p:cNvPr id="10" name="CuadroTexto 9">
            <a:extLst>
              <a:ext uri="{FF2B5EF4-FFF2-40B4-BE49-F238E27FC236}">
                <a16:creationId xmlns:a16="http://schemas.microsoft.com/office/drawing/2014/main" id="{89476E3E-F9E5-49F1-BB25-C2013D4DAD89}"/>
              </a:ext>
            </a:extLst>
          </p:cNvPr>
          <p:cNvSpPr txBox="1"/>
          <p:nvPr/>
        </p:nvSpPr>
        <p:spPr>
          <a:xfrm>
            <a:off x="179512" y="2996952"/>
            <a:ext cx="3528392" cy="338554"/>
          </a:xfrm>
          <a:prstGeom prst="rect">
            <a:avLst/>
          </a:prstGeom>
          <a:noFill/>
        </p:spPr>
        <p:txBody>
          <a:bodyPr wrap="square">
            <a:spAutoFit/>
          </a:bodyPr>
          <a:lstStyle/>
          <a:p>
            <a:pPr algn="ctr"/>
            <a:r>
              <a:rPr lang="es-CO" sz="1600" b="1" dirty="0">
                <a:latin typeface="Century Gothic" panose="020B0502020202020204" pitchFamily="34" charset="0"/>
              </a:rPr>
              <a:t>Bloques problema del pájaro</a:t>
            </a:r>
          </a:p>
        </p:txBody>
      </p:sp>
      <p:sp>
        <p:nvSpPr>
          <p:cNvPr id="13" name="CuadroTexto 12">
            <a:extLst>
              <a:ext uri="{FF2B5EF4-FFF2-40B4-BE49-F238E27FC236}">
                <a16:creationId xmlns:a16="http://schemas.microsoft.com/office/drawing/2014/main" id="{CE3369A2-D6E8-46F6-9B0F-5E8CF555F6CE}"/>
              </a:ext>
            </a:extLst>
          </p:cNvPr>
          <p:cNvSpPr txBox="1"/>
          <p:nvPr/>
        </p:nvSpPr>
        <p:spPr>
          <a:xfrm>
            <a:off x="4600162" y="2996952"/>
            <a:ext cx="3779912" cy="338554"/>
          </a:xfrm>
          <a:prstGeom prst="rect">
            <a:avLst/>
          </a:prstGeom>
          <a:noFill/>
        </p:spPr>
        <p:txBody>
          <a:bodyPr wrap="square">
            <a:spAutoFit/>
          </a:bodyPr>
          <a:lstStyle/>
          <a:p>
            <a:pPr algn="ctr"/>
            <a:r>
              <a:rPr lang="es-CO" sz="1600" b="1" dirty="0">
                <a:latin typeface="Century Gothic" panose="020B0502020202020204" pitchFamily="34" charset="0"/>
              </a:rPr>
              <a:t>Bloques problema asignado</a:t>
            </a:r>
          </a:p>
        </p:txBody>
      </p:sp>
      <p:pic>
        <p:nvPicPr>
          <p:cNvPr id="14" name="Picture 2">
            <a:extLst>
              <a:ext uri="{FF2B5EF4-FFF2-40B4-BE49-F238E27FC236}">
                <a16:creationId xmlns:a16="http://schemas.microsoft.com/office/drawing/2014/main" id="{CC7766EB-610E-498B-B13D-7EBF1677C6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4058" y="3730575"/>
            <a:ext cx="2019300" cy="2533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5" name="Flowchart: Data 6">
            <a:extLst>
              <a:ext uri="{FF2B5EF4-FFF2-40B4-BE49-F238E27FC236}">
                <a16:creationId xmlns:a16="http://schemas.microsoft.com/office/drawing/2014/main" id="{492BDD9B-1327-4064-9B99-9570B5E6DD1B}"/>
              </a:ext>
            </a:extLst>
          </p:cNvPr>
          <p:cNvSpPr/>
          <p:nvPr/>
        </p:nvSpPr>
        <p:spPr>
          <a:xfrm>
            <a:off x="5451022" y="4134353"/>
            <a:ext cx="2013856"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Read/Print</a:t>
            </a:r>
          </a:p>
        </p:txBody>
      </p:sp>
      <p:sp>
        <p:nvSpPr>
          <p:cNvPr id="16" name="Flowchart: Process 7">
            <a:extLst>
              <a:ext uri="{FF2B5EF4-FFF2-40B4-BE49-F238E27FC236}">
                <a16:creationId xmlns:a16="http://schemas.microsoft.com/office/drawing/2014/main" id="{78CF6510-8828-49FE-9B67-0104523DCC74}"/>
              </a:ext>
            </a:extLst>
          </p:cNvPr>
          <p:cNvSpPr/>
          <p:nvPr/>
        </p:nvSpPr>
        <p:spPr>
          <a:xfrm>
            <a:off x="5946087" y="4724377"/>
            <a:ext cx="1066800"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Process</a:t>
            </a:r>
            <a:endParaRPr lang="en-US" sz="1400" dirty="0">
              <a:latin typeface="Consolas" panose="020B0609020204030204" pitchFamily="49" charset="0"/>
            </a:endParaRPr>
          </a:p>
        </p:txBody>
      </p:sp>
      <p:sp>
        <p:nvSpPr>
          <p:cNvPr id="17" name="Flowchart: Terminator 8">
            <a:extLst>
              <a:ext uri="{FF2B5EF4-FFF2-40B4-BE49-F238E27FC236}">
                <a16:creationId xmlns:a16="http://schemas.microsoft.com/office/drawing/2014/main" id="{147FAF2C-A90A-4D96-9207-8A5CB52D18D0}"/>
              </a:ext>
            </a:extLst>
          </p:cNvPr>
          <p:cNvSpPr/>
          <p:nvPr/>
        </p:nvSpPr>
        <p:spPr>
          <a:xfrm>
            <a:off x="5924550" y="6241384"/>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onsolas" panose="020B0609020204030204" pitchFamily="49" charset="0"/>
              </a:rPr>
              <a:t>Finish</a:t>
            </a:r>
            <a:endParaRPr lang="en-US" sz="1400" dirty="0">
              <a:latin typeface="Consolas" panose="020B0609020204030204" pitchFamily="49" charset="0"/>
            </a:endParaRPr>
          </a:p>
        </p:txBody>
      </p:sp>
      <p:sp>
        <p:nvSpPr>
          <p:cNvPr id="18" name="Flowchart: Terminator 9">
            <a:extLst>
              <a:ext uri="{FF2B5EF4-FFF2-40B4-BE49-F238E27FC236}">
                <a16:creationId xmlns:a16="http://schemas.microsoft.com/office/drawing/2014/main" id="{945BF1C2-4146-481A-8542-6FB6163438DF}"/>
              </a:ext>
            </a:extLst>
          </p:cNvPr>
          <p:cNvSpPr/>
          <p:nvPr/>
        </p:nvSpPr>
        <p:spPr>
          <a:xfrm>
            <a:off x="5956718" y="3645024"/>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onsolas" panose="020B0609020204030204" pitchFamily="49" charset="0"/>
              </a:rPr>
              <a:t>Start</a:t>
            </a:r>
            <a:endParaRPr lang="en-US" sz="1400" dirty="0">
              <a:latin typeface="Consolas" panose="020B0609020204030204" pitchFamily="49" charset="0"/>
            </a:endParaRPr>
          </a:p>
        </p:txBody>
      </p:sp>
      <p:grpSp>
        <p:nvGrpSpPr>
          <p:cNvPr id="19" name="12 Grupo">
            <a:extLst>
              <a:ext uri="{FF2B5EF4-FFF2-40B4-BE49-F238E27FC236}">
                <a16:creationId xmlns:a16="http://schemas.microsoft.com/office/drawing/2014/main" id="{A572ED94-769B-44B0-B833-760E3F6CBA2F}"/>
              </a:ext>
            </a:extLst>
          </p:cNvPr>
          <p:cNvGrpSpPr/>
          <p:nvPr/>
        </p:nvGrpSpPr>
        <p:grpSpPr>
          <a:xfrm>
            <a:off x="4757570" y="5457680"/>
            <a:ext cx="3488970" cy="645219"/>
            <a:chOff x="4512196" y="4002981"/>
            <a:chExt cx="3488970" cy="645219"/>
          </a:xfrm>
        </p:grpSpPr>
        <p:sp>
          <p:nvSpPr>
            <p:cNvPr id="20" name="TextBox 75">
              <a:extLst>
                <a:ext uri="{FF2B5EF4-FFF2-40B4-BE49-F238E27FC236}">
                  <a16:creationId xmlns:a16="http://schemas.microsoft.com/office/drawing/2014/main" id="{3807D0B8-09AC-4A1C-ABE6-5F0EDABB581B}"/>
                </a:ext>
              </a:extLst>
            </p:cNvPr>
            <p:cNvSpPr txBox="1"/>
            <p:nvPr/>
          </p:nvSpPr>
          <p:spPr>
            <a:xfrm>
              <a:off x="7391566" y="4019005"/>
              <a:ext cx="609600" cy="246221"/>
            </a:xfrm>
            <a:prstGeom prst="rect">
              <a:avLst/>
            </a:prstGeom>
            <a:noFill/>
          </p:spPr>
          <p:txBody>
            <a:bodyPr wrap="square" rtlCol="0">
              <a:spAutoFit/>
            </a:bodyPr>
            <a:lstStyle/>
            <a:p>
              <a:pPr algn="ctr"/>
              <a:r>
                <a:rPr lang="en-US" sz="1000" dirty="0">
                  <a:latin typeface="Consolas" panose="020B0609020204030204" pitchFamily="49" charset="0"/>
                </a:rPr>
                <a:t>yes</a:t>
              </a:r>
            </a:p>
          </p:txBody>
        </p:sp>
        <p:sp>
          <p:nvSpPr>
            <p:cNvPr id="21" name="TextBox 76">
              <a:extLst>
                <a:ext uri="{FF2B5EF4-FFF2-40B4-BE49-F238E27FC236}">
                  <a16:creationId xmlns:a16="http://schemas.microsoft.com/office/drawing/2014/main" id="{66B0FDD7-80DF-42EC-B1AA-31DDB49305F9}"/>
                </a:ext>
              </a:extLst>
            </p:cNvPr>
            <p:cNvSpPr txBox="1"/>
            <p:nvPr/>
          </p:nvSpPr>
          <p:spPr>
            <a:xfrm>
              <a:off x="4512196" y="4002981"/>
              <a:ext cx="609600" cy="246221"/>
            </a:xfrm>
            <a:prstGeom prst="rect">
              <a:avLst/>
            </a:prstGeom>
            <a:noFill/>
          </p:spPr>
          <p:txBody>
            <a:bodyPr wrap="square" rtlCol="0">
              <a:spAutoFit/>
            </a:bodyPr>
            <a:lstStyle/>
            <a:p>
              <a:pPr algn="ctr"/>
              <a:r>
                <a:rPr lang="en-US" sz="1000" dirty="0">
                  <a:latin typeface="Consolas" panose="020B0609020204030204" pitchFamily="49" charset="0"/>
                </a:rPr>
                <a:t>no</a:t>
              </a:r>
            </a:p>
          </p:txBody>
        </p:sp>
        <p:sp>
          <p:nvSpPr>
            <p:cNvPr id="22" name="Flowchart: Decision 5">
              <a:extLst>
                <a:ext uri="{FF2B5EF4-FFF2-40B4-BE49-F238E27FC236}">
                  <a16:creationId xmlns:a16="http://schemas.microsoft.com/office/drawing/2014/main" id="{29870C19-641F-4E46-84A8-4147361702D3}"/>
                </a:ext>
              </a:extLst>
            </p:cNvPr>
            <p:cNvSpPr/>
            <p:nvPr/>
          </p:nvSpPr>
          <p:spPr>
            <a:xfrm>
              <a:off x="5143761" y="4055676"/>
              <a:ext cx="2180704" cy="457200"/>
            </a:xfrm>
            <a:prstGeom prst="flowChartDecisi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onsolas" panose="020B0609020204030204" pitchFamily="49" charset="0"/>
                </a:rPr>
                <a:t>Decision</a:t>
              </a:r>
              <a:endParaRPr lang="en-US" sz="1400" dirty="0">
                <a:latin typeface="Consolas" panose="020B0609020204030204" pitchFamily="49" charset="0"/>
              </a:endParaRPr>
            </a:p>
          </p:txBody>
        </p:sp>
        <p:grpSp>
          <p:nvGrpSpPr>
            <p:cNvPr id="23" name="16 Grupo">
              <a:extLst>
                <a:ext uri="{FF2B5EF4-FFF2-40B4-BE49-F238E27FC236}">
                  <a16:creationId xmlns:a16="http://schemas.microsoft.com/office/drawing/2014/main" id="{66463977-0F6D-4693-8F50-93E717E90CD8}"/>
                </a:ext>
              </a:extLst>
            </p:cNvPr>
            <p:cNvGrpSpPr/>
            <p:nvPr/>
          </p:nvGrpSpPr>
          <p:grpSpPr>
            <a:xfrm>
              <a:off x="4633913" y="4281488"/>
              <a:ext cx="528637" cy="366712"/>
              <a:chOff x="4633913" y="4281488"/>
              <a:chExt cx="528637" cy="366712"/>
            </a:xfrm>
          </p:grpSpPr>
          <p:cxnSp>
            <p:nvCxnSpPr>
              <p:cNvPr id="27" name="Straight Arrow Connector 18">
                <a:extLst>
                  <a:ext uri="{FF2B5EF4-FFF2-40B4-BE49-F238E27FC236}">
                    <a16:creationId xmlns:a16="http://schemas.microsoft.com/office/drawing/2014/main" id="{612535C4-231A-40DA-94A9-73FE3F8255EF}"/>
                  </a:ext>
                </a:extLst>
              </p:cNvPr>
              <p:cNvCxnSpPr/>
              <p:nvPr/>
            </p:nvCxnSpPr>
            <p:spPr>
              <a:xfrm>
                <a:off x="4633913" y="4281488"/>
                <a:ext cx="4763" cy="3667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18">
                <a:extLst>
                  <a:ext uri="{FF2B5EF4-FFF2-40B4-BE49-F238E27FC236}">
                    <a16:creationId xmlns:a16="http://schemas.microsoft.com/office/drawing/2014/main" id="{04A0DB20-983B-46B4-992F-52FF6E193858}"/>
                  </a:ext>
                </a:extLst>
              </p:cNvPr>
              <p:cNvCxnSpPr/>
              <p:nvPr/>
            </p:nvCxnSpPr>
            <p:spPr>
              <a:xfrm flipH="1">
                <a:off x="4633913" y="4286250"/>
                <a:ext cx="528637"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4" name="17 Grupo">
              <a:extLst>
                <a:ext uri="{FF2B5EF4-FFF2-40B4-BE49-F238E27FC236}">
                  <a16:creationId xmlns:a16="http://schemas.microsoft.com/office/drawing/2014/main" id="{3000B1F4-A615-4F24-9674-E4F77E3C6A42}"/>
                </a:ext>
              </a:extLst>
            </p:cNvPr>
            <p:cNvGrpSpPr/>
            <p:nvPr/>
          </p:nvGrpSpPr>
          <p:grpSpPr>
            <a:xfrm flipH="1">
              <a:off x="7305676" y="4281488"/>
              <a:ext cx="528637" cy="366712"/>
              <a:chOff x="4633913" y="4281488"/>
              <a:chExt cx="528637" cy="366712"/>
            </a:xfrm>
          </p:grpSpPr>
          <p:cxnSp>
            <p:nvCxnSpPr>
              <p:cNvPr id="25" name="Straight Arrow Connector 18">
                <a:extLst>
                  <a:ext uri="{FF2B5EF4-FFF2-40B4-BE49-F238E27FC236}">
                    <a16:creationId xmlns:a16="http://schemas.microsoft.com/office/drawing/2014/main" id="{7A3A8865-C512-43D9-B972-740948F2C8BA}"/>
                  </a:ext>
                </a:extLst>
              </p:cNvPr>
              <p:cNvCxnSpPr/>
              <p:nvPr/>
            </p:nvCxnSpPr>
            <p:spPr>
              <a:xfrm>
                <a:off x="4633913" y="4281488"/>
                <a:ext cx="4763" cy="3667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6" name="Straight Arrow Connector 18">
                <a:extLst>
                  <a:ext uri="{FF2B5EF4-FFF2-40B4-BE49-F238E27FC236}">
                    <a16:creationId xmlns:a16="http://schemas.microsoft.com/office/drawing/2014/main" id="{6C990021-FB1F-46DF-9838-2C56F8D138CF}"/>
                  </a:ext>
                </a:extLst>
              </p:cNvPr>
              <p:cNvCxnSpPr/>
              <p:nvPr/>
            </p:nvCxnSpPr>
            <p:spPr>
              <a:xfrm flipH="1">
                <a:off x="4633913" y="4286250"/>
                <a:ext cx="528637"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cxnSp>
        <p:nvCxnSpPr>
          <p:cNvPr id="29" name="Straight Arrow Connector 12">
            <a:extLst>
              <a:ext uri="{FF2B5EF4-FFF2-40B4-BE49-F238E27FC236}">
                <a16:creationId xmlns:a16="http://schemas.microsoft.com/office/drawing/2014/main" id="{B67FB79E-C597-4010-A9E0-B132C1823408}"/>
              </a:ext>
            </a:extLst>
          </p:cNvPr>
          <p:cNvCxnSpPr/>
          <p:nvPr/>
        </p:nvCxnSpPr>
        <p:spPr>
          <a:xfrm>
            <a:off x="5756825" y="6102899"/>
            <a:ext cx="1402250" cy="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5111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2614" y="228119"/>
            <a:ext cx="8668072" cy="1059256"/>
          </a:xfrm>
        </p:spPr>
        <p:txBody>
          <a:bodyPr>
            <a:normAutofit/>
          </a:bodyPr>
          <a:lstStyle/>
          <a:p>
            <a:r>
              <a:rPr lang="es-CO" sz="2800" dirty="0"/>
              <a:t>Diagramas de flujo (Flow charts)</a:t>
            </a:r>
          </a:p>
        </p:txBody>
      </p:sp>
      <p:sp>
        <p:nvSpPr>
          <p:cNvPr id="18" name="TextBox 75">
            <a:extLst>
              <a:ext uri="{FF2B5EF4-FFF2-40B4-BE49-F238E27FC236}">
                <a16:creationId xmlns:a16="http://schemas.microsoft.com/office/drawing/2014/main" id="{96D76D11-4392-4FCB-B9AE-F72E9ACC4BF5}"/>
              </a:ext>
            </a:extLst>
          </p:cNvPr>
          <p:cNvSpPr txBox="1"/>
          <p:nvPr/>
        </p:nvSpPr>
        <p:spPr>
          <a:xfrm>
            <a:off x="5090864" y="4130660"/>
            <a:ext cx="609600" cy="246221"/>
          </a:xfrm>
          <a:prstGeom prst="rect">
            <a:avLst/>
          </a:prstGeom>
          <a:noFill/>
        </p:spPr>
        <p:txBody>
          <a:bodyPr wrap="square" rtlCol="0">
            <a:spAutoFit/>
          </a:bodyPr>
          <a:lstStyle/>
          <a:p>
            <a:pPr algn="ctr"/>
            <a:r>
              <a:rPr lang="en-US" sz="1000" dirty="0">
                <a:latin typeface="Consolas" panose="020B0609020204030204" pitchFamily="49" charset="0"/>
              </a:rPr>
              <a:t>yes</a:t>
            </a:r>
          </a:p>
        </p:txBody>
      </p:sp>
      <p:sp>
        <p:nvSpPr>
          <p:cNvPr id="19" name="Flowchart: Decision 5">
            <a:extLst>
              <a:ext uri="{FF2B5EF4-FFF2-40B4-BE49-F238E27FC236}">
                <a16:creationId xmlns:a16="http://schemas.microsoft.com/office/drawing/2014/main" id="{58C5188C-7CE5-48F5-876D-4BCD1EF27803}"/>
              </a:ext>
            </a:extLst>
          </p:cNvPr>
          <p:cNvSpPr/>
          <p:nvPr/>
        </p:nvSpPr>
        <p:spPr>
          <a:xfrm>
            <a:off x="3312864" y="4130660"/>
            <a:ext cx="2180704" cy="457200"/>
          </a:xfrm>
          <a:prstGeom prst="flowChartDecisi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Decision</a:t>
            </a:r>
          </a:p>
        </p:txBody>
      </p:sp>
      <p:sp>
        <p:nvSpPr>
          <p:cNvPr id="22" name="Flowchart: Data 6">
            <a:extLst>
              <a:ext uri="{FF2B5EF4-FFF2-40B4-BE49-F238E27FC236}">
                <a16:creationId xmlns:a16="http://schemas.microsoft.com/office/drawing/2014/main" id="{A0F67769-1588-462B-9775-94C6096DF76F}"/>
              </a:ext>
            </a:extLst>
          </p:cNvPr>
          <p:cNvSpPr/>
          <p:nvPr/>
        </p:nvSpPr>
        <p:spPr>
          <a:xfrm>
            <a:off x="3401765" y="2378060"/>
            <a:ext cx="2013856"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Read/Print</a:t>
            </a:r>
          </a:p>
        </p:txBody>
      </p:sp>
      <p:sp>
        <p:nvSpPr>
          <p:cNvPr id="23" name="Flowchart: Process 7">
            <a:extLst>
              <a:ext uri="{FF2B5EF4-FFF2-40B4-BE49-F238E27FC236}">
                <a16:creationId xmlns:a16="http://schemas.microsoft.com/office/drawing/2014/main" id="{9A9ECB2E-A5F9-417D-A7FC-28907F5FF217}"/>
              </a:ext>
            </a:extLst>
          </p:cNvPr>
          <p:cNvSpPr/>
          <p:nvPr/>
        </p:nvSpPr>
        <p:spPr>
          <a:xfrm>
            <a:off x="3871664" y="3292460"/>
            <a:ext cx="1066800"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Process</a:t>
            </a:r>
          </a:p>
        </p:txBody>
      </p:sp>
      <p:sp>
        <p:nvSpPr>
          <p:cNvPr id="25" name="Flowchart: Terminator 8">
            <a:extLst>
              <a:ext uri="{FF2B5EF4-FFF2-40B4-BE49-F238E27FC236}">
                <a16:creationId xmlns:a16="http://schemas.microsoft.com/office/drawing/2014/main" id="{D0132E8F-EEC6-431C-97FD-253B7F21880C}"/>
              </a:ext>
            </a:extLst>
          </p:cNvPr>
          <p:cNvSpPr/>
          <p:nvPr/>
        </p:nvSpPr>
        <p:spPr>
          <a:xfrm>
            <a:off x="4605089" y="5566047"/>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t>Finish</a:t>
            </a:r>
            <a:endParaRPr lang="en-US" sz="1400" dirty="0"/>
          </a:p>
        </p:txBody>
      </p:sp>
      <p:sp>
        <p:nvSpPr>
          <p:cNvPr id="27" name="Flowchart: Terminator 9">
            <a:extLst>
              <a:ext uri="{FF2B5EF4-FFF2-40B4-BE49-F238E27FC236}">
                <a16:creationId xmlns:a16="http://schemas.microsoft.com/office/drawing/2014/main" id="{706FF29D-736F-482D-B58D-F06A5F4B1D90}"/>
              </a:ext>
            </a:extLst>
          </p:cNvPr>
          <p:cNvSpPr/>
          <p:nvPr/>
        </p:nvSpPr>
        <p:spPr>
          <a:xfrm>
            <a:off x="3871664" y="184466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Start</a:t>
            </a:r>
            <a:endParaRPr lang="en-US" sz="1400" dirty="0">
              <a:latin typeface="Consolas" panose="020B0609020204030204" pitchFamily="49" charset="0"/>
            </a:endParaRPr>
          </a:p>
        </p:txBody>
      </p:sp>
      <p:cxnSp>
        <p:nvCxnSpPr>
          <p:cNvPr id="28" name="Straight Arrow Connector 11">
            <a:extLst>
              <a:ext uri="{FF2B5EF4-FFF2-40B4-BE49-F238E27FC236}">
                <a16:creationId xmlns:a16="http://schemas.microsoft.com/office/drawing/2014/main" id="{D9962A1B-578F-4FDE-94AC-0F3E3203B1D5}"/>
              </a:ext>
            </a:extLst>
          </p:cNvPr>
          <p:cNvCxnSpPr>
            <a:stCxn id="27" idx="2"/>
            <a:endCxn id="22" idx="1"/>
          </p:cNvCxnSpPr>
          <p:nvPr/>
        </p:nvCxnSpPr>
        <p:spPr>
          <a:xfrm>
            <a:off x="4405064" y="2149460"/>
            <a:ext cx="3629"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12">
            <a:extLst>
              <a:ext uri="{FF2B5EF4-FFF2-40B4-BE49-F238E27FC236}">
                <a16:creationId xmlns:a16="http://schemas.microsoft.com/office/drawing/2014/main" id="{68BCE860-220A-4F59-A7EB-8A979BFD12EB}"/>
              </a:ext>
            </a:extLst>
          </p:cNvPr>
          <p:cNvCxnSpPr>
            <a:stCxn id="22" idx="4"/>
            <a:endCxn id="23" idx="0"/>
          </p:cNvCxnSpPr>
          <p:nvPr/>
        </p:nvCxnSpPr>
        <p:spPr>
          <a:xfrm flipH="1">
            <a:off x="4405064" y="2759060"/>
            <a:ext cx="3629" cy="5334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15">
            <a:extLst>
              <a:ext uri="{FF2B5EF4-FFF2-40B4-BE49-F238E27FC236}">
                <a16:creationId xmlns:a16="http://schemas.microsoft.com/office/drawing/2014/main" id="{22663454-B4A6-46CF-9CA0-CC0001952BFA}"/>
              </a:ext>
            </a:extLst>
          </p:cNvPr>
          <p:cNvCxnSpPr>
            <a:stCxn id="23" idx="2"/>
            <a:endCxn id="19" idx="0"/>
          </p:cNvCxnSpPr>
          <p:nvPr/>
        </p:nvCxnSpPr>
        <p:spPr>
          <a:xfrm flipH="1">
            <a:off x="4403216" y="3902060"/>
            <a:ext cx="1848"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18">
            <a:extLst>
              <a:ext uri="{FF2B5EF4-FFF2-40B4-BE49-F238E27FC236}">
                <a16:creationId xmlns:a16="http://schemas.microsoft.com/office/drawing/2014/main" id="{E6A94903-074C-4F97-9F60-971970A0AD6F}"/>
              </a:ext>
            </a:extLst>
          </p:cNvPr>
          <p:cNvCxnSpPr>
            <a:stCxn id="19" idx="2"/>
            <a:endCxn id="33" idx="1"/>
          </p:cNvCxnSpPr>
          <p:nvPr/>
        </p:nvCxnSpPr>
        <p:spPr>
          <a:xfrm flipH="1">
            <a:off x="4398714" y="4587860"/>
            <a:ext cx="4502"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21">
            <a:extLst>
              <a:ext uri="{FF2B5EF4-FFF2-40B4-BE49-F238E27FC236}">
                <a16:creationId xmlns:a16="http://schemas.microsoft.com/office/drawing/2014/main" id="{C2398472-1F6E-41A6-96D1-57881E121B13}"/>
              </a:ext>
            </a:extLst>
          </p:cNvPr>
          <p:cNvCxnSpPr>
            <a:stCxn id="19" idx="3"/>
          </p:cNvCxnSpPr>
          <p:nvPr/>
        </p:nvCxnSpPr>
        <p:spPr>
          <a:xfrm>
            <a:off x="5493568" y="4359260"/>
            <a:ext cx="816496"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Flowchart: Data 34">
            <a:extLst>
              <a:ext uri="{FF2B5EF4-FFF2-40B4-BE49-F238E27FC236}">
                <a16:creationId xmlns:a16="http://schemas.microsoft.com/office/drawing/2014/main" id="{AACF9623-F473-4E96-BA20-07117AE45C03}"/>
              </a:ext>
            </a:extLst>
          </p:cNvPr>
          <p:cNvSpPr/>
          <p:nvPr/>
        </p:nvSpPr>
        <p:spPr>
          <a:xfrm>
            <a:off x="3439864" y="4816460"/>
            <a:ext cx="1917700"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Read/Print</a:t>
            </a:r>
          </a:p>
        </p:txBody>
      </p:sp>
      <p:cxnSp>
        <p:nvCxnSpPr>
          <p:cNvPr id="34" name="Straight Arrow Connector 37">
            <a:extLst>
              <a:ext uri="{FF2B5EF4-FFF2-40B4-BE49-F238E27FC236}">
                <a16:creationId xmlns:a16="http://schemas.microsoft.com/office/drawing/2014/main" id="{9D038E01-A767-4CBA-A26E-848CD1218786}"/>
              </a:ext>
            </a:extLst>
          </p:cNvPr>
          <p:cNvCxnSpPr>
            <a:endCxn id="25" idx="0"/>
          </p:cNvCxnSpPr>
          <p:nvPr/>
        </p:nvCxnSpPr>
        <p:spPr>
          <a:xfrm>
            <a:off x="5138489" y="5381753"/>
            <a:ext cx="0" cy="184294"/>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TextBox 76">
            <a:extLst>
              <a:ext uri="{FF2B5EF4-FFF2-40B4-BE49-F238E27FC236}">
                <a16:creationId xmlns:a16="http://schemas.microsoft.com/office/drawing/2014/main" id="{6B5CD410-EA37-4594-8464-6C3778392894}"/>
              </a:ext>
            </a:extLst>
          </p:cNvPr>
          <p:cNvSpPr txBox="1"/>
          <p:nvPr/>
        </p:nvSpPr>
        <p:spPr>
          <a:xfrm>
            <a:off x="4252664" y="4570239"/>
            <a:ext cx="609600" cy="246221"/>
          </a:xfrm>
          <a:prstGeom prst="rect">
            <a:avLst/>
          </a:prstGeom>
          <a:noFill/>
        </p:spPr>
        <p:txBody>
          <a:bodyPr wrap="square" rtlCol="0">
            <a:spAutoFit/>
          </a:bodyPr>
          <a:lstStyle/>
          <a:p>
            <a:pPr algn="ctr"/>
            <a:r>
              <a:rPr lang="en-US" sz="1000" dirty="0">
                <a:latin typeface="Consolas" panose="020B0609020204030204" pitchFamily="49" charset="0"/>
              </a:rPr>
              <a:t>no</a:t>
            </a:r>
          </a:p>
        </p:txBody>
      </p:sp>
      <p:grpSp>
        <p:nvGrpSpPr>
          <p:cNvPr id="36" name="22 Grupo">
            <a:extLst>
              <a:ext uri="{FF2B5EF4-FFF2-40B4-BE49-F238E27FC236}">
                <a16:creationId xmlns:a16="http://schemas.microsoft.com/office/drawing/2014/main" id="{A46E7438-ADE8-4841-B34D-BBBCBBE0CDA1}"/>
              </a:ext>
            </a:extLst>
          </p:cNvPr>
          <p:cNvGrpSpPr/>
          <p:nvPr/>
        </p:nvGrpSpPr>
        <p:grpSpPr>
          <a:xfrm>
            <a:off x="5014664" y="1692260"/>
            <a:ext cx="3390900" cy="738664"/>
            <a:chOff x="5029200" y="1600200"/>
            <a:chExt cx="3390900" cy="738664"/>
          </a:xfrm>
        </p:grpSpPr>
        <p:cxnSp>
          <p:nvCxnSpPr>
            <p:cNvPr id="37" name="39 Conector recto de flecha">
              <a:extLst>
                <a:ext uri="{FF2B5EF4-FFF2-40B4-BE49-F238E27FC236}">
                  <a16:creationId xmlns:a16="http://schemas.microsoft.com/office/drawing/2014/main" id="{E7685363-0B88-4797-81C3-30484DE02723}"/>
                </a:ext>
              </a:extLst>
            </p:cNvPr>
            <p:cNvCxnSpPr/>
            <p:nvPr/>
          </p:nvCxnSpPr>
          <p:spPr>
            <a:xfrm flipV="1">
              <a:off x="5029200" y="1904999"/>
              <a:ext cx="801914" cy="2"/>
            </a:xfrm>
            <a:prstGeom prst="straightConnector1">
              <a:avLst/>
            </a:prstGeom>
            <a:ln>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38" name="41 CuadroTexto">
              <a:extLst>
                <a:ext uri="{FF2B5EF4-FFF2-40B4-BE49-F238E27FC236}">
                  <a16:creationId xmlns:a16="http://schemas.microsoft.com/office/drawing/2014/main" id="{9829BF59-8A46-486A-8EB3-F5DCA76D3196}"/>
                </a:ext>
              </a:extLst>
            </p:cNvPr>
            <p:cNvSpPr txBox="1"/>
            <p:nvPr/>
          </p:nvSpPr>
          <p:spPr>
            <a:xfrm>
              <a:off x="5831114" y="1600200"/>
              <a:ext cx="2588986" cy="738664"/>
            </a:xfrm>
            <a:prstGeom prst="rect">
              <a:avLst/>
            </a:prstGeom>
            <a:noFill/>
          </p:spPr>
          <p:txBody>
            <a:bodyPr wrap="square" rtlCol="0">
              <a:spAutoFit/>
            </a:bodyPr>
            <a:lstStyle/>
            <a:p>
              <a:r>
                <a:rPr lang="es-CO" sz="1400" dirty="0">
                  <a:solidFill>
                    <a:schemeClr val="accent5"/>
                  </a:solidFill>
                  <a:latin typeface="Century Gothic" panose="020B0502020202020204" pitchFamily="34" charset="0"/>
                </a:rPr>
                <a:t>indica el punto único donde empieza el algoritmo</a:t>
              </a:r>
              <a:endParaRPr lang="es-ES" sz="1400" i="1" dirty="0">
                <a:solidFill>
                  <a:schemeClr val="accent5"/>
                </a:solidFill>
                <a:latin typeface="Century Gothic" panose="020B0502020202020204" pitchFamily="34" charset="0"/>
              </a:endParaRPr>
            </a:p>
          </p:txBody>
        </p:sp>
      </p:grpSp>
      <p:grpSp>
        <p:nvGrpSpPr>
          <p:cNvPr id="39" name="23 Grupo">
            <a:extLst>
              <a:ext uri="{FF2B5EF4-FFF2-40B4-BE49-F238E27FC236}">
                <a16:creationId xmlns:a16="http://schemas.microsoft.com/office/drawing/2014/main" id="{D7A328E0-6DFF-4ADF-BFAC-E0BBE67FBD18}"/>
              </a:ext>
            </a:extLst>
          </p:cNvPr>
          <p:cNvGrpSpPr/>
          <p:nvPr/>
        </p:nvGrpSpPr>
        <p:grpSpPr>
          <a:xfrm>
            <a:off x="137864" y="2156663"/>
            <a:ext cx="3505200" cy="954107"/>
            <a:chOff x="228600" y="1905000"/>
            <a:chExt cx="3505200" cy="954107"/>
          </a:xfrm>
        </p:grpSpPr>
        <p:cxnSp>
          <p:nvCxnSpPr>
            <p:cNvPr id="40" name="46 Conector recto de flecha">
              <a:extLst>
                <a:ext uri="{FF2B5EF4-FFF2-40B4-BE49-F238E27FC236}">
                  <a16:creationId xmlns:a16="http://schemas.microsoft.com/office/drawing/2014/main" id="{AD05B929-D73C-4528-8ACA-4D1595E2AC0F}"/>
                </a:ext>
              </a:extLst>
            </p:cNvPr>
            <p:cNvCxnSpPr/>
            <p:nvPr/>
          </p:nvCxnSpPr>
          <p:spPr>
            <a:xfrm flipV="1">
              <a:off x="3327400" y="2278797"/>
              <a:ext cx="406400" cy="1"/>
            </a:xfrm>
            <a:prstGeom prst="straightConnector1">
              <a:avLst/>
            </a:prstGeom>
            <a:ln>
              <a:solidFill>
                <a:schemeClr val="accent5"/>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54 CuadroTexto">
              <a:extLst>
                <a:ext uri="{FF2B5EF4-FFF2-40B4-BE49-F238E27FC236}">
                  <a16:creationId xmlns:a16="http://schemas.microsoft.com/office/drawing/2014/main" id="{2D7D0A52-3A06-4C20-BF8F-826320D98503}"/>
                </a:ext>
              </a:extLst>
            </p:cNvPr>
            <p:cNvSpPr txBox="1"/>
            <p:nvPr/>
          </p:nvSpPr>
          <p:spPr>
            <a:xfrm>
              <a:off x="228600" y="1905000"/>
              <a:ext cx="3124200" cy="954107"/>
            </a:xfrm>
            <a:prstGeom prst="rect">
              <a:avLst/>
            </a:prstGeom>
            <a:noFill/>
          </p:spPr>
          <p:txBody>
            <a:bodyPr wrap="square" rtlCol="0">
              <a:spAutoFit/>
            </a:bodyPr>
            <a:lstStyle/>
            <a:p>
              <a:pPr algn="r"/>
              <a:r>
                <a:rPr lang="es-CO" sz="1400" dirty="0">
                  <a:solidFill>
                    <a:schemeClr val="accent5"/>
                  </a:solidFill>
                  <a:latin typeface="Century Gothic" panose="020B0502020202020204" pitchFamily="34" charset="0"/>
                </a:rPr>
                <a:t>indica la lectura (recepción) o impresión (envío o salida) de datos desde o hacia afuera del sistema</a:t>
              </a:r>
              <a:endParaRPr lang="es-ES" sz="1400" i="1" dirty="0">
                <a:solidFill>
                  <a:schemeClr val="accent5"/>
                </a:solidFill>
                <a:latin typeface="Century Gothic" panose="020B0502020202020204" pitchFamily="34" charset="0"/>
              </a:endParaRPr>
            </a:p>
          </p:txBody>
        </p:sp>
      </p:grpSp>
      <p:grpSp>
        <p:nvGrpSpPr>
          <p:cNvPr id="42" name="25 Grupo">
            <a:extLst>
              <a:ext uri="{FF2B5EF4-FFF2-40B4-BE49-F238E27FC236}">
                <a16:creationId xmlns:a16="http://schemas.microsoft.com/office/drawing/2014/main" id="{7C644081-DEA1-4118-AFED-186E0360C20C}"/>
              </a:ext>
            </a:extLst>
          </p:cNvPr>
          <p:cNvGrpSpPr/>
          <p:nvPr/>
        </p:nvGrpSpPr>
        <p:grpSpPr>
          <a:xfrm>
            <a:off x="4557464" y="2690063"/>
            <a:ext cx="4191000" cy="738664"/>
            <a:chOff x="4572000" y="2158425"/>
            <a:chExt cx="4191000" cy="738664"/>
          </a:xfrm>
        </p:grpSpPr>
        <p:cxnSp>
          <p:nvCxnSpPr>
            <p:cNvPr id="43" name="55 Conector recto de flecha">
              <a:extLst>
                <a:ext uri="{FF2B5EF4-FFF2-40B4-BE49-F238E27FC236}">
                  <a16:creationId xmlns:a16="http://schemas.microsoft.com/office/drawing/2014/main" id="{BBE813FD-6D84-420C-B2D6-28C1C168851B}"/>
                </a:ext>
              </a:extLst>
            </p:cNvPr>
            <p:cNvCxnSpPr/>
            <p:nvPr/>
          </p:nvCxnSpPr>
          <p:spPr>
            <a:xfrm>
              <a:off x="4572000" y="2456022"/>
              <a:ext cx="1259114" cy="7202"/>
            </a:xfrm>
            <a:prstGeom prst="straightConnector1">
              <a:avLst/>
            </a:prstGeom>
            <a:ln>
              <a:solidFill>
                <a:schemeClr val="accent5"/>
              </a:solidFill>
              <a:tailEnd type="arrow"/>
            </a:ln>
          </p:spPr>
          <p:style>
            <a:lnRef idx="1">
              <a:schemeClr val="accent1"/>
            </a:lnRef>
            <a:fillRef idx="0">
              <a:schemeClr val="accent1"/>
            </a:fillRef>
            <a:effectRef idx="0">
              <a:schemeClr val="accent1"/>
            </a:effectRef>
            <a:fontRef idx="minor">
              <a:schemeClr val="tx1"/>
            </a:fontRef>
          </p:style>
        </p:cxnSp>
        <p:sp>
          <p:nvSpPr>
            <p:cNvPr id="45" name="56 CuadroTexto">
              <a:extLst>
                <a:ext uri="{FF2B5EF4-FFF2-40B4-BE49-F238E27FC236}">
                  <a16:creationId xmlns:a16="http://schemas.microsoft.com/office/drawing/2014/main" id="{B2169F05-B836-478D-B2C7-FDBEF4239FEF}"/>
                </a:ext>
              </a:extLst>
            </p:cNvPr>
            <p:cNvSpPr txBox="1"/>
            <p:nvPr/>
          </p:nvSpPr>
          <p:spPr>
            <a:xfrm>
              <a:off x="5831114" y="2158425"/>
              <a:ext cx="2931886" cy="738664"/>
            </a:xfrm>
            <a:prstGeom prst="rect">
              <a:avLst/>
            </a:prstGeom>
            <a:noFill/>
          </p:spPr>
          <p:txBody>
            <a:bodyPr wrap="square" rtlCol="0">
              <a:spAutoFit/>
            </a:bodyPr>
            <a:lstStyle/>
            <a:p>
              <a:r>
                <a:rPr lang="es-CO" sz="1400" dirty="0">
                  <a:solidFill>
                    <a:schemeClr val="accent5"/>
                  </a:solidFill>
                  <a:latin typeface="Century Gothic" panose="020B0502020202020204" pitchFamily="34" charset="0"/>
                </a:rPr>
                <a:t>flechas indican la secuencia entre dos secciones del algoritmo</a:t>
              </a:r>
              <a:endParaRPr lang="es-ES" sz="1400" i="1" dirty="0">
                <a:solidFill>
                  <a:schemeClr val="accent5"/>
                </a:solidFill>
                <a:latin typeface="Century Gothic" panose="020B0502020202020204" pitchFamily="34" charset="0"/>
              </a:endParaRPr>
            </a:p>
          </p:txBody>
        </p:sp>
      </p:grpSp>
      <p:grpSp>
        <p:nvGrpSpPr>
          <p:cNvPr id="46" name="27 Grupo">
            <a:extLst>
              <a:ext uri="{FF2B5EF4-FFF2-40B4-BE49-F238E27FC236}">
                <a16:creationId xmlns:a16="http://schemas.microsoft.com/office/drawing/2014/main" id="{E5472813-C00C-4A4C-A11E-7905B7B2E425}"/>
              </a:ext>
            </a:extLst>
          </p:cNvPr>
          <p:cNvGrpSpPr/>
          <p:nvPr/>
        </p:nvGrpSpPr>
        <p:grpSpPr>
          <a:xfrm>
            <a:off x="214064" y="3317285"/>
            <a:ext cx="3556000" cy="523220"/>
            <a:chOff x="228600" y="3225225"/>
            <a:chExt cx="3556000" cy="523220"/>
          </a:xfrm>
        </p:grpSpPr>
        <p:cxnSp>
          <p:nvCxnSpPr>
            <p:cNvPr id="47" name="57 Conector recto de flecha">
              <a:extLst>
                <a:ext uri="{FF2B5EF4-FFF2-40B4-BE49-F238E27FC236}">
                  <a16:creationId xmlns:a16="http://schemas.microsoft.com/office/drawing/2014/main" id="{938FE0C8-E74F-49A7-A812-74688C28D38F}"/>
                </a:ext>
              </a:extLst>
            </p:cNvPr>
            <p:cNvCxnSpPr/>
            <p:nvPr/>
          </p:nvCxnSpPr>
          <p:spPr>
            <a:xfrm>
              <a:off x="3251200" y="3491927"/>
              <a:ext cx="533400" cy="0"/>
            </a:xfrm>
            <a:prstGeom prst="straightConnector1">
              <a:avLst/>
            </a:prstGeom>
            <a:ln>
              <a:solidFill>
                <a:schemeClr val="accent5"/>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58 CuadroTexto">
              <a:extLst>
                <a:ext uri="{FF2B5EF4-FFF2-40B4-BE49-F238E27FC236}">
                  <a16:creationId xmlns:a16="http://schemas.microsoft.com/office/drawing/2014/main" id="{B2428A00-7BCA-41C0-A97A-1141CE96BFA2}"/>
                </a:ext>
              </a:extLst>
            </p:cNvPr>
            <p:cNvSpPr txBox="1"/>
            <p:nvPr/>
          </p:nvSpPr>
          <p:spPr>
            <a:xfrm>
              <a:off x="228600" y="3225225"/>
              <a:ext cx="3048000" cy="523220"/>
            </a:xfrm>
            <a:prstGeom prst="rect">
              <a:avLst/>
            </a:prstGeom>
            <a:noFill/>
          </p:spPr>
          <p:txBody>
            <a:bodyPr wrap="square" rtlCol="0">
              <a:spAutoFit/>
            </a:bodyPr>
            <a:lstStyle/>
            <a:p>
              <a:pPr algn="r"/>
              <a:r>
                <a:rPr lang="es-CO" sz="1400" dirty="0">
                  <a:solidFill>
                    <a:schemeClr val="accent5"/>
                  </a:solidFill>
                  <a:latin typeface="Century Gothic" panose="020B0502020202020204" pitchFamily="34" charset="0"/>
                </a:rPr>
                <a:t>indica un proceso secuencial </a:t>
              </a:r>
              <a:br>
                <a:rPr lang="es-CO" sz="1400" dirty="0">
                  <a:solidFill>
                    <a:schemeClr val="accent5"/>
                  </a:solidFill>
                  <a:latin typeface="Century Gothic" panose="020B0502020202020204" pitchFamily="34" charset="0"/>
                </a:rPr>
              </a:br>
              <a:r>
                <a:rPr lang="es-CO" sz="1400" dirty="0">
                  <a:solidFill>
                    <a:schemeClr val="accent5"/>
                  </a:solidFill>
                  <a:latin typeface="Century Gothic" panose="020B0502020202020204" pitchFamily="34" charset="0"/>
                </a:rPr>
                <a:t>de operaciones o cálculos</a:t>
              </a:r>
              <a:endParaRPr lang="es-ES" sz="1400" i="1" dirty="0">
                <a:solidFill>
                  <a:schemeClr val="accent5"/>
                </a:solidFill>
                <a:latin typeface="Century Gothic" panose="020B0502020202020204" pitchFamily="34" charset="0"/>
              </a:endParaRPr>
            </a:p>
          </p:txBody>
        </p:sp>
      </p:grpSp>
      <p:grpSp>
        <p:nvGrpSpPr>
          <p:cNvPr id="49" name="28 Grupo">
            <a:extLst>
              <a:ext uri="{FF2B5EF4-FFF2-40B4-BE49-F238E27FC236}">
                <a16:creationId xmlns:a16="http://schemas.microsoft.com/office/drawing/2014/main" id="{63B18C2E-558C-4D3A-9E9A-D6FFEFFBF465}"/>
              </a:ext>
            </a:extLst>
          </p:cNvPr>
          <p:cNvGrpSpPr/>
          <p:nvPr/>
        </p:nvGrpSpPr>
        <p:grpSpPr>
          <a:xfrm>
            <a:off x="309508" y="3989928"/>
            <a:ext cx="3081795" cy="738664"/>
            <a:chOff x="224108" y="3946495"/>
            <a:chExt cx="3188064" cy="738664"/>
          </a:xfrm>
        </p:grpSpPr>
        <p:cxnSp>
          <p:nvCxnSpPr>
            <p:cNvPr id="50" name="59 Conector recto de flecha">
              <a:extLst>
                <a:ext uri="{FF2B5EF4-FFF2-40B4-BE49-F238E27FC236}">
                  <a16:creationId xmlns:a16="http://schemas.microsoft.com/office/drawing/2014/main" id="{92D64AA8-2794-4F89-AE21-1ECFE1A5A3C1}"/>
                </a:ext>
              </a:extLst>
            </p:cNvPr>
            <p:cNvCxnSpPr>
              <a:cxnSpLocks/>
              <a:stCxn id="51" idx="3"/>
              <a:endCxn id="19" idx="1"/>
            </p:cNvCxnSpPr>
            <p:nvPr/>
          </p:nvCxnSpPr>
          <p:spPr>
            <a:xfrm>
              <a:off x="3022354" y="4315827"/>
              <a:ext cx="389818" cy="0"/>
            </a:xfrm>
            <a:prstGeom prst="straightConnector1">
              <a:avLst/>
            </a:prstGeom>
            <a:ln>
              <a:solidFill>
                <a:schemeClr val="accent5"/>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51" name="60 CuadroTexto">
              <a:extLst>
                <a:ext uri="{FF2B5EF4-FFF2-40B4-BE49-F238E27FC236}">
                  <a16:creationId xmlns:a16="http://schemas.microsoft.com/office/drawing/2014/main" id="{96E50C93-6985-4432-B0C6-BF834BEF854D}"/>
                </a:ext>
              </a:extLst>
            </p:cNvPr>
            <p:cNvSpPr txBox="1"/>
            <p:nvPr/>
          </p:nvSpPr>
          <p:spPr>
            <a:xfrm>
              <a:off x="224108" y="3946495"/>
              <a:ext cx="2798246" cy="738664"/>
            </a:xfrm>
            <a:prstGeom prst="rect">
              <a:avLst/>
            </a:prstGeom>
            <a:noFill/>
          </p:spPr>
          <p:txBody>
            <a:bodyPr wrap="square" rtlCol="0">
              <a:spAutoFit/>
            </a:bodyPr>
            <a:lstStyle/>
            <a:p>
              <a:pPr algn="r"/>
              <a:r>
                <a:rPr lang="es-CO" sz="1400" dirty="0">
                  <a:solidFill>
                    <a:schemeClr val="accent5"/>
                  </a:solidFill>
                  <a:latin typeface="Century Gothic" panose="020B0502020202020204" pitchFamily="34" charset="0"/>
                </a:rPr>
                <a:t>indica la evaluación de una condición para determinar el flujo del algoritmo</a:t>
              </a:r>
              <a:endParaRPr lang="es-ES" sz="1400" i="1" dirty="0">
                <a:solidFill>
                  <a:schemeClr val="accent5"/>
                </a:solidFill>
                <a:latin typeface="Century Gothic" panose="020B0502020202020204" pitchFamily="34" charset="0"/>
              </a:endParaRPr>
            </a:p>
          </p:txBody>
        </p:sp>
      </p:grpSp>
      <p:grpSp>
        <p:nvGrpSpPr>
          <p:cNvPr id="52" name="26 Grupo">
            <a:extLst>
              <a:ext uri="{FF2B5EF4-FFF2-40B4-BE49-F238E27FC236}">
                <a16:creationId xmlns:a16="http://schemas.microsoft.com/office/drawing/2014/main" id="{6C5AAD0D-98FB-459B-ADB5-0360339C09CC}"/>
              </a:ext>
            </a:extLst>
          </p:cNvPr>
          <p:cNvGrpSpPr/>
          <p:nvPr/>
        </p:nvGrpSpPr>
        <p:grpSpPr>
          <a:xfrm>
            <a:off x="671264" y="5426060"/>
            <a:ext cx="3829097" cy="523220"/>
            <a:chOff x="5321300" y="5194012"/>
            <a:chExt cx="3829097" cy="523220"/>
          </a:xfrm>
        </p:grpSpPr>
        <p:cxnSp>
          <p:nvCxnSpPr>
            <p:cNvPr id="53" name="61 Conector recto de flecha">
              <a:extLst>
                <a:ext uri="{FF2B5EF4-FFF2-40B4-BE49-F238E27FC236}">
                  <a16:creationId xmlns:a16="http://schemas.microsoft.com/office/drawing/2014/main" id="{08D2F4E8-2EA6-4691-931A-AF6CAFD6A8DF}"/>
                </a:ext>
              </a:extLst>
            </p:cNvPr>
            <p:cNvCxnSpPr/>
            <p:nvPr/>
          </p:nvCxnSpPr>
          <p:spPr>
            <a:xfrm flipV="1">
              <a:off x="7962900" y="5482005"/>
              <a:ext cx="1187497" cy="4394"/>
            </a:xfrm>
            <a:prstGeom prst="straightConnector1">
              <a:avLst/>
            </a:prstGeom>
            <a:ln>
              <a:solidFill>
                <a:schemeClr val="accent5"/>
              </a:solidFill>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62 CuadroTexto">
              <a:extLst>
                <a:ext uri="{FF2B5EF4-FFF2-40B4-BE49-F238E27FC236}">
                  <a16:creationId xmlns:a16="http://schemas.microsoft.com/office/drawing/2014/main" id="{83ECD359-98CD-431D-9093-151FCA7E45E7}"/>
                </a:ext>
              </a:extLst>
            </p:cNvPr>
            <p:cNvSpPr txBox="1"/>
            <p:nvPr/>
          </p:nvSpPr>
          <p:spPr>
            <a:xfrm>
              <a:off x="5321300" y="5194012"/>
              <a:ext cx="2588986" cy="523220"/>
            </a:xfrm>
            <a:prstGeom prst="rect">
              <a:avLst/>
            </a:prstGeom>
            <a:noFill/>
          </p:spPr>
          <p:txBody>
            <a:bodyPr wrap="square" rtlCol="0">
              <a:spAutoFit/>
            </a:bodyPr>
            <a:lstStyle/>
            <a:p>
              <a:pPr algn="r"/>
              <a:r>
                <a:rPr lang="es-CO" sz="1400" dirty="0">
                  <a:solidFill>
                    <a:schemeClr val="accent5"/>
                  </a:solidFill>
                  <a:latin typeface="Century Gothic" panose="020B0502020202020204" pitchFamily="34" charset="0"/>
                </a:rPr>
                <a:t>indica el punto donde termina el algoritmo</a:t>
              </a:r>
              <a:endParaRPr lang="es-ES" sz="1400" i="1" dirty="0">
                <a:solidFill>
                  <a:schemeClr val="accent5"/>
                </a:solidFill>
                <a:latin typeface="Century Gothic" panose="020B0502020202020204" pitchFamily="34" charset="0"/>
              </a:endParaRPr>
            </a:p>
          </p:txBody>
        </p:sp>
      </p:grpSp>
      <p:cxnSp>
        <p:nvCxnSpPr>
          <p:cNvPr id="56" name="Straight Arrow Connector 18">
            <a:extLst>
              <a:ext uri="{FF2B5EF4-FFF2-40B4-BE49-F238E27FC236}">
                <a16:creationId xmlns:a16="http://schemas.microsoft.com/office/drawing/2014/main" id="{935A4460-46B1-412A-9B2C-3A6964D800FC}"/>
              </a:ext>
            </a:extLst>
          </p:cNvPr>
          <p:cNvCxnSpPr>
            <a:endCxn id="57" idx="1"/>
          </p:cNvCxnSpPr>
          <p:nvPr/>
        </p:nvCxnSpPr>
        <p:spPr>
          <a:xfrm>
            <a:off x="6310064" y="4376881"/>
            <a:ext cx="9979" cy="4572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7" name="Flowchart: Data 34">
            <a:extLst>
              <a:ext uri="{FF2B5EF4-FFF2-40B4-BE49-F238E27FC236}">
                <a16:creationId xmlns:a16="http://schemas.microsoft.com/office/drawing/2014/main" id="{52A848E0-E2F4-4D6A-882D-451FFF821628}"/>
              </a:ext>
            </a:extLst>
          </p:cNvPr>
          <p:cNvSpPr/>
          <p:nvPr/>
        </p:nvSpPr>
        <p:spPr>
          <a:xfrm>
            <a:off x="5357565" y="4834081"/>
            <a:ext cx="1924956"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Read/Print</a:t>
            </a:r>
          </a:p>
        </p:txBody>
      </p:sp>
      <p:cxnSp>
        <p:nvCxnSpPr>
          <p:cNvPr id="58" name="Straight Arrow Connector 21">
            <a:extLst>
              <a:ext uri="{FF2B5EF4-FFF2-40B4-BE49-F238E27FC236}">
                <a16:creationId xmlns:a16="http://schemas.microsoft.com/office/drawing/2014/main" id="{63BDCC70-6D42-47F4-910F-9FB5D1DB1C2B}"/>
              </a:ext>
            </a:extLst>
          </p:cNvPr>
          <p:cNvCxnSpPr/>
          <p:nvPr/>
        </p:nvCxnSpPr>
        <p:spPr>
          <a:xfrm>
            <a:off x="4405064" y="5381753"/>
            <a:ext cx="1905000"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Straight Arrow Connector 18">
            <a:extLst>
              <a:ext uri="{FF2B5EF4-FFF2-40B4-BE49-F238E27FC236}">
                <a16:creationId xmlns:a16="http://schemas.microsoft.com/office/drawing/2014/main" id="{A36A69F5-277E-434C-B5C9-8D95D9F9CBAE}"/>
              </a:ext>
            </a:extLst>
          </p:cNvPr>
          <p:cNvCxnSpPr>
            <a:stCxn id="33" idx="4"/>
          </p:cNvCxnSpPr>
          <p:nvPr/>
        </p:nvCxnSpPr>
        <p:spPr>
          <a:xfrm>
            <a:off x="4398714" y="5197460"/>
            <a:ext cx="6350" cy="184293"/>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0" name="Straight Arrow Connector 18">
            <a:extLst>
              <a:ext uri="{FF2B5EF4-FFF2-40B4-BE49-F238E27FC236}">
                <a16:creationId xmlns:a16="http://schemas.microsoft.com/office/drawing/2014/main" id="{D1F9F9CD-53E5-41C7-ADC1-4FE3CC15969A}"/>
              </a:ext>
            </a:extLst>
          </p:cNvPr>
          <p:cNvCxnSpPr/>
          <p:nvPr/>
        </p:nvCxnSpPr>
        <p:spPr>
          <a:xfrm>
            <a:off x="6310064" y="5197460"/>
            <a:ext cx="0" cy="184293"/>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58753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1684" y="116632"/>
            <a:ext cx="7886700" cy="789708"/>
          </a:xfrm>
        </p:spPr>
        <p:txBody>
          <a:bodyPr>
            <a:normAutofit/>
          </a:bodyPr>
          <a:lstStyle/>
          <a:p>
            <a:r>
              <a:rPr lang="es-CO" sz="3200" dirty="0"/>
              <a:t>Bloques básicos</a:t>
            </a:r>
            <a:endParaRPr lang="en-US" sz="3200" dirty="0"/>
          </a:p>
        </p:txBody>
      </p:sp>
      <p:sp>
        <p:nvSpPr>
          <p:cNvPr id="2" name="1 Marcador de contenido"/>
          <p:cNvSpPr>
            <a:spLocks noGrp="1"/>
          </p:cNvSpPr>
          <p:nvPr>
            <p:ph idx="1"/>
          </p:nvPr>
        </p:nvSpPr>
        <p:spPr>
          <a:xfrm>
            <a:off x="107504" y="931672"/>
            <a:ext cx="7886700" cy="4009496"/>
          </a:xfrm>
        </p:spPr>
        <p:txBody>
          <a:bodyPr>
            <a:normAutofit lnSpcReduction="10000"/>
          </a:bodyPr>
          <a:lstStyle/>
          <a:p>
            <a:pPr marL="0" indent="0">
              <a:buNone/>
            </a:pPr>
            <a:r>
              <a:rPr lang="es-CO" sz="2400" dirty="0"/>
              <a:t>Bloques vistos hasta el momento:</a:t>
            </a:r>
          </a:p>
          <a:p>
            <a:r>
              <a:rPr lang="es-CO" sz="2000" b="1" dirty="0"/>
              <a:t>Entrada/Salida</a:t>
            </a:r>
            <a:r>
              <a:rPr lang="es-CO" sz="2000" dirty="0"/>
              <a:t>:</a:t>
            </a:r>
          </a:p>
          <a:p>
            <a:endParaRPr lang="es-CO" sz="2000" dirty="0"/>
          </a:p>
          <a:p>
            <a:endParaRPr lang="es-CO" sz="2000" dirty="0"/>
          </a:p>
          <a:p>
            <a:endParaRPr lang="es-CO" sz="2000" dirty="0"/>
          </a:p>
          <a:p>
            <a:r>
              <a:rPr lang="es-CO" sz="2000" b="1" dirty="0"/>
              <a:t>Proceso</a:t>
            </a:r>
            <a:r>
              <a:rPr lang="es-CO" sz="2000" dirty="0"/>
              <a:t>:</a:t>
            </a:r>
          </a:p>
          <a:p>
            <a:endParaRPr lang="es-CO" sz="2000" dirty="0"/>
          </a:p>
          <a:p>
            <a:endParaRPr lang="es-CO" sz="2000" dirty="0"/>
          </a:p>
          <a:p>
            <a:endParaRPr lang="es-CO" sz="2000" dirty="0"/>
          </a:p>
          <a:p>
            <a:r>
              <a:rPr lang="es-CO" sz="2000" b="1" dirty="0"/>
              <a:t>Condicionales</a:t>
            </a:r>
            <a:r>
              <a:rPr lang="es-CO" sz="2000" dirty="0"/>
              <a:t>:</a:t>
            </a:r>
          </a:p>
        </p:txBody>
      </p:sp>
      <p:sp>
        <p:nvSpPr>
          <p:cNvPr id="8" name="Flowchart: Data 6"/>
          <p:cNvSpPr/>
          <p:nvPr/>
        </p:nvSpPr>
        <p:spPr>
          <a:xfrm>
            <a:off x="4373894" y="1978636"/>
            <a:ext cx="2491631" cy="715198"/>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rPr>
              <a:t>Read/Print</a:t>
            </a:r>
          </a:p>
        </p:txBody>
      </p:sp>
      <p:sp>
        <p:nvSpPr>
          <p:cNvPr id="9" name="Flowchart: Process 7"/>
          <p:cNvSpPr/>
          <p:nvPr/>
        </p:nvSpPr>
        <p:spPr>
          <a:xfrm>
            <a:off x="4795615" y="3364204"/>
            <a:ext cx="1512168" cy="753616"/>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rPr>
              <a:t>Process</a:t>
            </a:r>
            <a:endParaRPr lang="en-US" sz="1400" dirty="0">
              <a:latin typeface="Consolas" panose="020B0609020204030204" pitchFamily="49" charset="0"/>
            </a:endParaRPr>
          </a:p>
        </p:txBody>
      </p:sp>
      <p:grpSp>
        <p:nvGrpSpPr>
          <p:cNvPr id="10" name="9 Grupo"/>
          <p:cNvGrpSpPr/>
          <p:nvPr/>
        </p:nvGrpSpPr>
        <p:grpSpPr>
          <a:xfrm>
            <a:off x="3460292" y="4788190"/>
            <a:ext cx="4182814" cy="991906"/>
            <a:chOff x="4512196" y="4055676"/>
            <a:chExt cx="3488970" cy="592524"/>
          </a:xfrm>
        </p:grpSpPr>
        <p:sp>
          <p:nvSpPr>
            <p:cNvPr id="12" name="TextBox 75"/>
            <p:cNvSpPr txBox="1"/>
            <p:nvPr/>
          </p:nvSpPr>
          <p:spPr>
            <a:xfrm>
              <a:off x="7391566" y="4143894"/>
              <a:ext cx="609600" cy="147082"/>
            </a:xfrm>
            <a:prstGeom prst="rect">
              <a:avLst/>
            </a:prstGeom>
            <a:noFill/>
          </p:spPr>
          <p:txBody>
            <a:bodyPr wrap="square" rtlCol="0">
              <a:spAutoFit/>
            </a:bodyPr>
            <a:lstStyle/>
            <a:p>
              <a:pPr algn="ctr"/>
              <a:r>
                <a:rPr lang="en-US" sz="1000" dirty="0">
                  <a:latin typeface="Consolas" panose="020B0609020204030204" pitchFamily="49" charset="0"/>
                </a:rPr>
                <a:t>yes</a:t>
              </a:r>
            </a:p>
          </p:txBody>
        </p:sp>
        <p:sp>
          <p:nvSpPr>
            <p:cNvPr id="13" name="TextBox 76"/>
            <p:cNvSpPr txBox="1"/>
            <p:nvPr/>
          </p:nvSpPr>
          <p:spPr>
            <a:xfrm>
              <a:off x="4512196" y="4132026"/>
              <a:ext cx="609600" cy="147082"/>
            </a:xfrm>
            <a:prstGeom prst="rect">
              <a:avLst/>
            </a:prstGeom>
            <a:noFill/>
          </p:spPr>
          <p:txBody>
            <a:bodyPr wrap="square" rtlCol="0">
              <a:spAutoFit/>
            </a:bodyPr>
            <a:lstStyle/>
            <a:p>
              <a:pPr algn="ctr"/>
              <a:r>
                <a:rPr lang="en-US" sz="1000" dirty="0">
                  <a:latin typeface="Consolas" panose="020B0609020204030204" pitchFamily="49" charset="0"/>
                </a:rPr>
                <a:t>no</a:t>
              </a:r>
            </a:p>
          </p:txBody>
        </p:sp>
        <p:sp>
          <p:nvSpPr>
            <p:cNvPr id="14" name="Flowchart: Decision 5"/>
            <p:cNvSpPr/>
            <p:nvPr/>
          </p:nvSpPr>
          <p:spPr>
            <a:xfrm>
              <a:off x="5143761" y="4055676"/>
              <a:ext cx="2180704" cy="457200"/>
            </a:xfrm>
            <a:prstGeom prst="flowChartDecision">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Consolas" panose="020B0609020204030204" pitchFamily="49" charset="0"/>
                </a:rPr>
                <a:t>Decision</a:t>
              </a:r>
            </a:p>
          </p:txBody>
        </p:sp>
        <p:grpSp>
          <p:nvGrpSpPr>
            <p:cNvPr id="15" name="14 Grupo"/>
            <p:cNvGrpSpPr/>
            <p:nvPr/>
          </p:nvGrpSpPr>
          <p:grpSpPr>
            <a:xfrm>
              <a:off x="4633913" y="4281488"/>
              <a:ext cx="528637" cy="366712"/>
              <a:chOff x="4633913" y="4281488"/>
              <a:chExt cx="528637" cy="366712"/>
            </a:xfrm>
          </p:grpSpPr>
          <p:cxnSp>
            <p:nvCxnSpPr>
              <p:cNvPr id="19" name="Straight Arrow Connector 18"/>
              <p:cNvCxnSpPr/>
              <p:nvPr/>
            </p:nvCxnSpPr>
            <p:spPr>
              <a:xfrm>
                <a:off x="4633913" y="4281488"/>
                <a:ext cx="4763" cy="3667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8"/>
              <p:cNvCxnSpPr/>
              <p:nvPr/>
            </p:nvCxnSpPr>
            <p:spPr>
              <a:xfrm flipH="1">
                <a:off x="4633913" y="4286250"/>
                <a:ext cx="528637"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6" name="15 Grupo"/>
            <p:cNvGrpSpPr/>
            <p:nvPr/>
          </p:nvGrpSpPr>
          <p:grpSpPr>
            <a:xfrm flipH="1">
              <a:off x="7305676" y="4281488"/>
              <a:ext cx="528637" cy="366712"/>
              <a:chOff x="4633913" y="4281488"/>
              <a:chExt cx="528637" cy="366712"/>
            </a:xfrm>
          </p:grpSpPr>
          <p:cxnSp>
            <p:nvCxnSpPr>
              <p:cNvPr id="17" name="Straight Arrow Connector 18"/>
              <p:cNvCxnSpPr/>
              <p:nvPr/>
            </p:nvCxnSpPr>
            <p:spPr>
              <a:xfrm>
                <a:off x="4633913" y="4281488"/>
                <a:ext cx="4763" cy="36671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8"/>
              <p:cNvCxnSpPr/>
              <p:nvPr/>
            </p:nvCxnSpPr>
            <p:spPr>
              <a:xfrm flipH="1">
                <a:off x="4633913" y="4286250"/>
                <a:ext cx="528637" cy="0"/>
              </a:xfrm>
              <a:prstGeom prst="straightConnector1">
                <a:avLst/>
              </a:prstGeom>
              <a:ln>
                <a:solidFill>
                  <a:schemeClr val="tx1">
                    <a:lumMod val="50000"/>
                    <a:lumOff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pic>
        <p:nvPicPr>
          <p:cNvPr id="21" name="Picture 2" descr="http://www.jegsworks.com/lessons/computerbasics/lesson3/keyboard-white.png">
            <a:extLst>
              <a:ext uri="{FF2B5EF4-FFF2-40B4-BE49-F238E27FC236}">
                <a16:creationId xmlns:a16="http://schemas.microsoft.com/office/drawing/2014/main" id="{FF0D749D-A1D8-44AC-AE13-C874418972F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2436" y="2145260"/>
            <a:ext cx="1365108" cy="432285"/>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http://t2.gstatic.com/images?q=tbn:ANd9GcS51PGLkp34nPs-LewfkgAfjdZsyder21fNGFoRiZ_A6x7txo3e">
            <a:extLst>
              <a:ext uri="{FF2B5EF4-FFF2-40B4-BE49-F238E27FC236}">
                <a16:creationId xmlns:a16="http://schemas.microsoft.com/office/drawing/2014/main" id="{F457154E-F8C9-4051-BB73-E24A9B5658F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94763" y="2028937"/>
            <a:ext cx="841456" cy="690065"/>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74D1AD5B-4030-47D7-8B03-9ECF4B8FA96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19529" y="3295470"/>
            <a:ext cx="891084" cy="891084"/>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a:extLst>
              <a:ext uri="{FF2B5EF4-FFF2-40B4-BE49-F238E27FC236}">
                <a16:creationId xmlns:a16="http://schemas.microsoft.com/office/drawing/2014/main" id="{07DA5716-7409-4979-AFAC-986BFDAD00F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53400" y="4966500"/>
            <a:ext cx="1188349" cy="1101548"/>
          </a:xfrm>
          <a:prstGeom prst="rect">
            <a:avLst/>
          </a:prstGeom>
        </p:spPr>
      </p:pic>
    </p:spTree>
    <p:extLst>
      <p:ext uri="{BB962C8B-B14F-4D97-AF65-F5344CB8AC3E}">
        <p14:creationId xmlns:p14="http://schemas.microsoft.com/office/powerpoint/2010/main" val="3291889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3692" y="332656"/>
            <a:ext cx="7886700" cy="787524"/>
          </a:xfrm>
        </p:spPr>
        <p:txBody>
          <a:bodyPr>
            <a:normAutofit/>
          </a:bodyPr>
          <a:lstStyle/>
          <a:p>
            <a:r>
              <a:rPr lang="es-CO" sz="2800" dirty="0"/>
              <a:t>Entrada</a:t>
            </a:r>
            <a:endParaRPr lang="en-US" sz="2800" dirty="0"/>
          </a:p>
        </p:txBody>
      </p:sp>
      <p:sp>
        <p:nvSpPr>
          <p:cNvPr id="41" name="Flowchart: Data 6"/>
          <p:cNvSpPr/>
          <p:nvPr/>
        </p:nvSpPr>
        <p:spPr>
          <a:xfrm>
            <a:off x="5861891" y="2448907"/>
            <a:ext cx="2013856"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 m</a:t>
            </a:r>
          </a:p>
        </p:txBody>
      </p:sp>
      <p:grpSp>
        <p:nvGrpSpPr>
          <p:cNvPr id="42" name="41 Grupo"/>
          <p:cNvGrpSpPr/>
          <p:nvPr/>
        </p:nvGrpSpPr>
        <p:grpSpPr>
          <a:xfrm>
            <a:off x="7452320" y="3737095"/>
            <a:ext cx="1368152" cy="1706060"/>
            <a:chOff x="2771800" y="3965150"/>
            <a:chExt cx="1368152" cy="1706060"/>
          </a:xfrm>
        </p:grpSpPr>
        <p:grpSp>
          <p:nvGrpSpPr>
            <p:cNvPr id="43" name="42 Grupo"/>
            <p:cNvGrpSpPr/>
            <p:nvPr/>
          </p:nvGrpSpPr>
          <p:grpSpPr>
            <a:xfrm>
              <a:off x="2771800" y="3965150"/>
              <a:ext cx="1368152" cy="1336058"/>
              <a:chOff x="2771800" y="3965150"/>
              <a:chExt cx="1368152" cy="1336058"/>
            </a:xfrm>
          </p:grpSpPr>
          <p:cxnSp>
            <p:nvCxnSpPr>
              <p:cNvPr id="51" name="50 Conector recto"/>
              <p:cNvCxnSpPr/>
              <p:nvPr/>
            </p:nvCxnSpPr>
            <p:spPr>
              <a:xfrm>
                <a:off x="2771800"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51 Conector recto"/>
              <p:cNvCxnSpPr/>
              <p:nvPr/>
            </p:nvCxnSpPr>
            <p:spPr>
              <a:xfrm>
                <a:off x="4139952"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4" name="43 Grupo"/>
            <p:cNvGrpSpPr/>
            <p:nvPr/>
          </p:nvGrpSpPr>
          <p:grpSpPr>
            <a:xfrm>
              <a:off x="2871849" y="3997282"/>
              <a:ext cx="1124087" cy="1673928"/>
              <a:chOff x="2871849" y="3997282"/>
              <a:chExt cx="1124087" cy="1673928"/>
            </a:xfrm>
          </p:grpSpPr>
          <p:grpSp>
            <p:nvGrpSpPr>
              <p:cNvPr id="45" name="44 Grupo"/>
              <p:cNvGrpSpPr/>
              <p:nvPr/>
            </p:nvGrpSpPr>
            <p:grpSpPr>
              <a:xfrm>
                <a:off x="2915816" y="4518573"/>
                <a:ext cx="1080120" cy="936613"/>
                <a:chOff x="2915816" y="4518573"/>
                <a:chExt cx="1080120" cy="936613"/>
              </a:xfrm>
            </p:grpSpPr>
            <p:cxnSp>
              <p:nvCxnSpPr>
                <p:cNvPr id="48" name="47 Conector recto"/>
                <p:cNvCxnSpPr/>
                <p:nvPr/>
              </p:nvCxnSpPr>
              <p:spPr>
                <a:xfrm>
                  <a:off x="2915816" y="4518573"/>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48 Conector recto"/>
                <p:cNvCxnSpPr/>
                <p:nvPr/>
              </p:nvCxnSpPr>
              <p:spPr>
                <a:xfrm>
                  <a:off x="2915816" y="5167154"/>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49 Conector recto"/>
                <p:cNvCxnSpPr/>
                <p:nvPr/>
              </p:nvCxnSpPr>
              <p:spPr>
                <a:xfrm>
                  <a:off x="2915816" y="5455186"/>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45 CuadroTexto"/>
              <p:cNvSpPr txBox="1"/>
              <p:nvPr/>
            </p:nvSpPr>
            <p:spPr>
              <a:xfrm>
                <a:off x="2871849" y="3997282"/>
                <a:ext cx="97013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Memoria</a:t>
                </a:r>
              </a:p>
            </p:txBody>
          </p:sp>
          <p:sp>
            <p:nvSpPr>
              <p:cNvPr id="47" name="46 CuadroTexto"/>
              <p:cNvSpPr txBox="1"/>
              <p:nvPr/>
            </p:nvSpPr>
            <p:spPr>
              <a:xfrm>
                <a:off x="3195227" y="5332656"/>
                <a:ext cx="52129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a:t>
                </a:r>
              </a:p>
            </p:txBody>
          </p:sp>
        </p:grpSp>
      </p:grpSp>
      <p:pic>
        <p:nvPicPr>
          <p:cNvPr id="53" name="Picture 2" descr="http://www.jegsworks.com/lessons/computerbasics/lesson3/keyboard-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20072" y="4353653"/>
            <a:ext cx="1760635" cy="557535"/>
          </a:xfrm>
          <a:prstGeom prst="rect">
            <a:avLst/>
          </a:prstGeom>
          <a:noFill/>
          <a:extLst>
            <a:ext uri="{909E8E84-426E-40DD-AFC4-6F175D3DCCD1}">
              <a14:hiddenFill xmlns:a14="http://schemas.microsoft.com/office/drawing/2010/main">
                <a:solidFill>
                  <a:srgbClr val="FFFFFF"/>
                </a:solidFill>
              </a14:hiddenFill>
            </a:ext>
          </a:extLst>
        </p:spPr>
      </p:pic>
      <p:sp>
        <p:nvSpPr>
          <p:cNvPr id="40" name="39 Rectángulo"/>
          <p:cNvSpPr/>
          <p:nvPr/>
        </p:nvSpPr>
        <p:spPr>
          <a:xfrm>
            <a:off x="8197806" y="4423563"/>
            <a:ext cx="296876" cy="338554"/>
          </a:xfrm>
          <a:prstGeom prst="rect">
            <a:avLst/>
          </a:prstGeom>
        </p:spPr>
        <p:txBody>
          <a:bodyPr wrap="none">
            <a:spAutoFit/>
          </a:bodyPr>
          <a:lstStyle/>
          <a:p>
            <a:r>
              <a:rPr lang="es-CO" sz="1600" dirty="0">
                <a:latin typeface="Consolas" panose="020B0609020204030204" pitchFamily="49" charset="0"/>
                <a:cs typeface="Consolas" panose="020B0609020204030204" pitchFamily="49" charset="0"/>
              </a:rPr>
              <a:t>m</a:t>
            </a:r>
            <a:endParaRPr lang="es-CO" dirty="0"/>
          </a:p>
        </p:txBody>
      </p:sp>
      <p:sp>
        <p:nvSpPr>
          <p:cNvPr id="55" name="54 Rectángulo"/>
          <p:cNvSpPr/>
          <p:nvPr/>
        </p:nvSpPr>
        <p:spPr>
          <a:xfrm>
            <a:off x="7863813" y="4489767"/>
            <a:ext cx="292100" cy="241300"/>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58" name="57 Conector recto de flecha"/>
          <p:cNvCxnSpPr/>
          <p:nvPr/>
        </p:nvCxnSpPr>
        <p:spPr>
          <a:xfrm>
            <a:off x="7036139" y="4648047"/>
            <a:ext cx="753751" cy="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29696" name="29695 Grupo"/>
          <p:cNvGrpSpPr/>
          <p:nvPr/>
        </p:nvGrpSpPr>
        <p:grpSpPr>
          <a:xfrm>
            <a:off x="524477" y="1362845"/>
            <a:ext cx="3850051" cy="4127166"/>
            <a:chOff x="539552" y="1844725"/>
            <a:chExt cx="3850051" cy="4127166"/>
          </a:xfrm>
        </p:grpSpPr>
        <p:grpSp>
          <p:nvGrpSpPr>
            <p:cNvPr id="63" name="62 Grupo"/>
            <p:cNvGrpSpPr/>
            <p:nvPr/>
          </p:nvGrpSpPr>
          <p:grpSpPr>
            <a:xfrm>
              <a:off x="539552" y="2532810"/>
              <a:ext cx="3850051" cy="3439081"/>
              <a:chOff x="539552" y="2532810"/>
              <a:chExt cx="3850051" cy="3439081"/>
            </a:xfrm>
          </p:grpSpPr>
          <p:sp>
            <p:nvSpPr>
              <p:cNvPr id="21" name="Flowchart: Data 6"/>
              <p:cNvSpPr/>
              <p:nvPr/>
            </p:nvSpPr>
            <p:spPr>
              <a:xfrm>
                <a:off x="1293259" y="2532810"/>
                <a:ext cx="2013856"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Read/Print</a:t>
                </a:r>
              </a:p>
            </p:txBody>
          </p:sp>
          <p:cxnSp>
            <p:nvCxnSpPr>
              <p:cNvPr id="6" name="5 Conector recto de flecha"/>
              <p:cNvCxnSpPr/>
              <p:nvPr/>
            </p:nvCxnSpPr>
            <p:spPr>
              <a:xfrm>
                <a:off x="2300187" y="4221088"/>
                <a:ext cx="0" cy="576064"/>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Flowchart: Data 6"/>
              <p:cNvSpPr/>
              <p:nvPr/>
            </p:nvSpPr>
            <p:spPr>
              <a:xfrm>
                <a:off x="1293259" y="3576081"/>
                <a:ext cx="2013856"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a:t>
                </a:r>
              </a:p>
            </p:txBody>
          </p:sp>
          <p:cxnSp>
            <p:nvCxnSpPr>
              <p:cNvPr id="23" name="22 Conector recto de flecha"/>
              <p:cNvCxnSpPr/>
              <p:nvPr/>
            </p:nvCxnSpPr>
            <p:spPr>
              <a:xfrm>
                <a:off x="2348123" y="3036866"/>
                <a:ext cx="0" cy="43204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62" name="61 Grupo"/>
              <p:cNvGrpSpPr/>
              <p:nvPr/>
            </p:nvGrpSpPr>
            <p:grpSpPr>
              <a:xfrm>
                <a:off x="539552" y="4630525"/>
                <a:ext cx="3850051" cy="1341366"/>
                <a:chOff x="539552" y="4630525"/>
                <a:chExt cx="3850051" cy="1341366"/>
              </a:xfrm>
            </p:grpSpPr>
            <p:pic>
              <p:nvPicPr>
                <p:cNvPr id="29698" name="Picture 2" descr="http://www.jegsworks.com/lessons/computerbasics/lesson3/keyboard-whi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9552" y="5036222"/>
                  <a:ext cx="1760635" cy="557535"/>
                </a:xfrm>
                <a:prstGeom prst="rect">
                  <a:avLst/>
                </a:prstGeom>
                <a:noFill/>
                <a:extLst>
                  <a:ext uri="{909E8E84-426E-40DD-AFC4-6F175D3DCCD1}">
                    <a14:hiddenFill xmlns:a14="http://schemas.microsoft.com/office/drawing/2010/main">
                      <a:solidFill>
                        <a:srgbClr val="FFFFFF"/>
                      </a:solidFill>
                    </a14:hiddenFill>
                  </a:ext>
                </a:extLst>
              </p:spPr>
            </p:pic>
            <p:grpSp>
              <p:nvGrpSpPr>
                <p:cNvPr id="36" name="35 Grupo"/>
                <p:cNvGrpSpPr/>
                <p:nvPr/>
              </p:nvGrpSpPr>
              <p:grpSpPr>
                <a:xfrm>
                  <a:off x="3021451" y="4630525"/>
                  <a:ext cx="1368152" cy="1341366"/>
                  <a:chOff x="2771800" y="3965150"/>
                  <a:chExt cx="1368152" cy="1341366"/>
                </a:xfrm>
              </p:grpSpPr>
              <p:grpSp>
                <p:nvGrpSpPr>
                  <p:cNvPr id="26" name="25 Grupo"/>
                  <p:cNvGrpSpPr/>
                  <p:nvPr/>
                </p:nvGrpSpPr>
                <p:grpSpPr>
                  <a:xfrm>
                    <a:off x="2771800" y="3965150"/>
                    <a:ext cx="1368152" cy="1336058"/>
                    <a:chOff x="2771800" y="3965150"/>
                    <a:chExt cx="1368152" cy="1336058"/>
                  </a:xfrm>
                </p:grpSpPr>
                <p:cxnSp>
                  <p:nvCxnSpPr>
                    <p:cNvPr id="25" name="24 Conector recto"/>
                    <p:cNvCxnSpPr/>
                    <p:nvPr/>
                  </p:nvCxnSpPr>
                  <p:spPr>
                    <a:xfrm>
                      <a:off x="2771800"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26 Conector recto"/>
                    <p:cNvCxnSpPr/>
                    <p:nvPr/>
                  </p:nvCxnSpPr>
                  <p:spPr>
                    <a:xfrm>
                      <a:off x="4139952"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34 Grupo"/>
                  <p:cNvGrpSpPr/>
                  <p:nvPr/>
                </p:nvGrpSpPr>
                <p:grpSpPr>
                  <a:xfrm>
                    <a:off x="2871849" y="3997282"/>
                    <a:ext cx="1124087" cy="1309234"/>
                    <a:chOff x="2871849" y="3997282"/>
                    <a:chExt cx="1124087" cy="1309234"/>
                  </a:xfrm>
                </p:grpSpPr>
                <p:grpSp>
                  <p:nvGrpSpPr>
                    <p:cNvPr id="33" name="32 Grupo"/>
                    <p:cNvGrpSpPr/>
                    <p:nvPr/>
                  </p:nvGrpSpPr>
                  <p:grpSpPr>
                    <a:xfrm>
                      <a:off x="2915816" y="4518573"/>
                      <a:ext cx="1080120" cy="422595"/>
                      <a:chOff x="2915816" y="4518573"/>
                      <a:chExt cx="1080120" cy="422595"/>
                    </a:xfrm>
                  </p:grpSpPr>
                  <p:cxnSp>
                    <p:nvCxnSpPr>
                      <p:cNvPr id="29" name="28 Conector recto"/>
                      <p:cNvCxnSpPr/>
                      <p:nvPr/>
                    </p:nvCxnSpPr>
                    <p:spPr>
                      <a:xfrm>
                        <a:off x="2915816" y="4518573"/>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30 Conector recto"/>
                      <p:cNvCxnSpPr/>
                      <p:nvPr/>
                    </p:nvCxnSpPr>
                    <p:spPr>
                      <a:xfrm>
                        <a:off x="2915816" y="4725144"/>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31 Conector recto"/>
                      <p:cNvCxnSpPr/>
                      <p:nvPr/>
                    </p:nvCxnSpPr>
                    <p:spPr>
                      <a:xfrm>
                        <a:off x="2915816" y="4941168"/>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 name="29 CuadroTexto"/>
                    <p:cNvSpPr txBox="1"/>
                    <p:nvPr/>
                  </p:nvSpPr>
                  <p:spPr>
                    <a:xfrm>
                      <a:off x="2871849" y="3997282"/>
                      <a:ext cx="97013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Memoria</a:t>
                      </a:r>
                    </a:p>
                  </p:txBody>
                </p:sp>
                <p:sp>
                  <p:nvSpPr>
                    <p:cNvPr id="34" name="33 CuadroTexto"/>
                    <p:cNvSpPr txBox="1"/>
                    <p:nvPr/>
                  </p:nvSpPr>
                  <p:spPr>
                    <a:xfrm>
                      <a:off x="3195227" y="4967962"/>
                      <a:ext cx="52129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a:t>
                      </a:r>
                    </a:p>
                  </p:txBody>
                </p:sp>
              </p:grpSp>
            </p:grpSp>
            <p:sp>
              <p:nvSpPr>
                <p:cNvPr id="38" name="37 Triángulo isósceles"/>
                <p:cNvSpPr/>
                <p:nvPr/>
              </p:nvSpPr>
              <p:spPr>
                <a:xfrm rot="5400000">
                  <a:off x="2418122" y="5229200"/>
                  <a:ext cx="342561" cy="14401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grpSp>
        <p:sp>
          <p:nvSpPr>
            <p:cNvPr id="61" name="60 Rectángulo"/>
            <p:cNvSpPr/>
            <p:nvPr/>
          </p:nvSpPr>
          <p:spPr>
            <a:xfrm>
              <a:off x="1344952" y="1844725"/>
              <a:ext cx="1758815" cy="400110"/>
            </a:xfrm>
            <a:prstGeom prst="rect">
              <a:avLst/>
            </a:prstGeom>
          </p:spPr>
          <p:txBody>
            <a:bodyPr wrap="none">
              <a:spAutoFit/>
            </a:bodyPr>
            <a:lstStyle/>
            <a:p>
              <a:r>
                <a:rPr lang="es-CO" sz="2000" b="1" dirty="0">
                  <a:solidFill>
                    <a:srgbClr val="FF0000"/>
                  </a:solidFill>
                </a:rPr>
                <a:t>Entrada/</a:t>
              </a:r>
              <a:r>
                <a:rPr lang="es-CO" sz="2000" b="1" dirty="0"/>
                <a:t>Salida</a:t>
              </a:r>
            </a:p>
          </p:txBody>
        </p:sp>
      </p:grpSp>
      <p:sp>
        <p:nvSpPr>
          <p:cNvPr id="29697" name="29696 Rectángulo redondeado"/>
          <p:cNvSpPr/>
          <p:nvPr/>
        </p:nvSpPr>
        <p:spPr>
          <a:xfrm>
            <a:off x="181251" y="1274011"/>
            <a:ext cx="4536504" cy="4603261"/>
          </a:xfrm>
          <a:prstGeom prst="roundRect">
            <a:avLst>
              <a:gd name="adj" fmla="val 7429"/>
            </a:avLst>
          </a:prstGeom>
          <a:noFill/>
          <a:ln w="381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9699" name="29698 Rectángulo"/>
          <p:cNvSpPr/>
          <p:nvPr/>
        </p:nvSpPr>
        <p:spPr>
          <a:xfrm>
            <a:off x="5129247" y="1274012"/>
            <a:ext cx="3267797" cy="861774"/>
          </a:xfrm>
          <a:prstGeom prst="rect">
            <a:avLst/>
          </a:prstGeom>
        </p:spPr>
        <p:txBody>
          <a:bodyPr wrap="square">
            <a:spAutoFit/>
          </a:bodyPr>
          <a:lstStyle/>
          <a:p>
            <a:r>
              <a:rPr lang="es-CO" b="1" dirty="0">
                <a:solidFill>
                  <a:srgbClr val="FF0000"/>
                </a:solidFill>
              </a:rPr>
              <a:t>Ejemplo</a:t>
            </a:r>
            <a:r>
              <a:rPr lang="es-CO" dirty="0">
                <a:solidFill>
                  <a:srgbClr val="FF0000"/>
                </a:solidFill>
              </a:rPr>
              <a:t>:</a:t>
            </a:r>
          </a:p>
          <a:p>
            <a:r>
              <a:rPr lang="es-CO" sz="1600" dirty="0"/>
              <a:t>Dado el siguiente bloque cual seria su efecto:</a:t>
            </a:r>
            <a:endParaRPr lang="es-CO" dirty="0"/>
          </a:p>
        </p:txBody>
      </p:sp>
      <p:sp>
        <p:nvSpPr>
          <p:cNvPr id="29700" name="29699 Rectángulo"/>
          <p:cNvSpPr/>
          <p:nvPr/>
        </p:nvSpPr>
        <p:spPr>
          <a:xfrm>
            <a:off x="5181645" y="3205954"/>
            <a:ext cx="1058303" cy="369332"/>
          </a:xfrm>
          <a:prstGeom prst="rect">
            <a:avLst/>
          </a:prstGeom>
        </p:spPr>
        <p:txBody>
          <a:bodyPr wrap="none">
            <a:spAutoFit/>
          </a:bodyPr>
          <a:lstStyle/>
          <a:p>
            <a:r>
              <a:rPr lang="es-CO" b="1" dirty="0">
                <a:solidFill>
                  <a:srgbClr val="FF0000"/>
                </a:solidFill>
              </a:rPr>
              <a:t>Solución</a:t>
            </a:r>
            <a:r>
              <a:rPr lang="es-CO" dirty="0">
                <a:solidFill>
                  <a:srgbClr val="FF0000"/>
                </a:solidFill>
              </a:rPr>
              <a:t>:</a:t>
            </a:r>
          </a:p>
        </p:txBody>
      </p:sp>
      <p:sp>
        <p:nvSpPr>
          <p:cNvPr id="29701" name="29700 Rectángulo"/>
          <p:cNvSpPr/>
          <p:nvPr/>
        </p:nvSpPr>
        <p:spPr>
          <a:xfrm>
            <a:off x="7872016" y="4475909"/>
            <a:ext cx="284052" cy="307777"/>
          </a:xfrm>
          <a:prstGeom prst="rect">
            <a:avLst/>
          </a:prstGeom>
        </p:spPr>
        <p:txBody>
          <a:bodyPr wrap="none">
            <a:spAutoFit/>
          </a:bodyPr>
          <a:lstStyle/>
          <a:p>
            <a:r>
              <a:rPr lang="es-CO" sz="1400" dirty="0">
                <a:solidFill>
                  <a:srgbClr val="FF0000"/>
                </a:solidFill>
                <a:latin typeface="Consolas" panose="020B0609020204030204" pitchFamily="49" charset="0"/>
              </a:rPr>
              <a:t>5</a:t>
            </a:r>
          </a:p>
        </p:txBody>
      </p:sp>
      <p:pic>
        <p:nvPicPr>
          <p:cNvPr id="29702" name="Picture 4" descr="http://t1.gstatic.com/images?q=tbn:ANd9GcRw1aAbCusAezWY3KVKXz_KlvwzulNuqEmMtl4dnriXwIm5Sc8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99979" y="5045297"/>
            <a:ext cx="400819" cy="559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39759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9512" y="349183"/>
            <a:ext cx="7797862" cy="780782"/>
          </a:xfrm>
        </p:spPr>
        <p:txBody>
          <a:bodyPr>
            <a:normAutofit/>
          </a:bodyPr>
          <a:lstStyle/>
          <a:p>
            <a:r>
              <a:rPr lang="es-CO" sz="2800" dirty="0"/>
              <a:t>Salida</a:t>
            </a:r>
            <a:endParaRPr lang="en-US" sz="2800" dirty="0"/>
          </a:p>
        </p:txBody>
      </p:sp>
      <p:sp>
        <p:nvSpPr>
          <p:cNvPr id="41" name="Flowchart: Data 6"/>
          <p:cNvSpPr/>
          <p:nvPr/>
        </p:nvSpPr>
        <p:spPr>
          <a:xfrm>
            <a:off x="5580112" y="2398859"/>
            <a:ext cx="2295635" cy="434835"/>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Print “Hola”</a:t>
            </a:r>
          </a:p>
        </p:txBody>
      </p:sp>
      <p:grpSp>
        <p:nvGrpSpPr>
          <p:cNvPr id="42" name="41 Grupo"/>
          <p:cNvGrpSpPr/>
          <p:nvPr/>
        </p:nvGrpSpPr>
        <p:grpSpPr>
          <a:xfrm>
            <a:off x="5076056" y="3903072"/>
            <a:ext cx="1368152" cy="1346020"/>
            <a:chOff x="2771800" y="3965150"/>
            <a:chExt cx="1368152" cy="1346020"/>
          </a:xfrm>
        </p:grpSpPr>
        <p:grpSp>
          <p:nvGrpSpPr>
            <p:cNvPr id="43" name="42 Grupo"/>
            <p:cNvGrpSpPr/>
            <p:nvPr/>
          </p:nvGrpSpPr>
          <p:grpSpPr>
            <a:xfrm>
              <a:off x="2771800" y="3965150"/>
              <a:ext cx="1368152" cy="1336058"/>
              <a:chOff x="2771800" y="3965150"/>
              <a:chExt cx="1368152" cy="1336058"/>
            </a:xfrm>
          </p:grpSpPr>
          <p:cxnSp>
            <p:nvCxnSpPr>
              <p:cNvPr id="51" name="50 Conector recto"/>
              <p:cNvCxnSpPr/>
              <p:nvPr/>
            </p:nvCxnSpPr>
            <p:spPr>
              <a:xfrm>
                <a:off x="2771800"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51 Conector recto"/>
              <p:cNvCxnSpPr/>
              <p:nvPr/>
            </p:nvCxnSpPr>
            <p:spPr>
              <a:xfrm>
                <a:off x="4139952"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4" name="43 Grupo"/>
            <p:cNvGrpSpPr/>
            <p:nvPr/>
          </p:nvGrpSpPr>
          <p:grpSpPr>
            <a:xfrm>
              <a:off x="2871849" y="3997282"/>
              <a:ext cx="1124087" cy="1313888"/>
              <a:chOff x="2871849" y="3997282"/>
              <a:chExt cx="1124087" cy="1313888"/>
            </a:xfrm>
          </p:grpSpPr>
          <p:grpSp>
            <p:nvGrpSpPr>
              <p:cNvPr id="45" name="44 Grupo"/>
              <p:cNvGrpSpPr/>
              <p:nvPr/>
            </p:nvGrpSpPr>
            <p:grpSpPr>
              <a:xfrm>
                <a:off x="2915816" y="4518573"/>
                <a:ext cx="1080120" cy="576573"/>
                <a:chOff x="2915816" y="4518573"/>
                <a:chExt cx="1080120" cy="576573"/>
              </a:xfrm>
            </p:grpSpPr>
            <p:cxnSp>
              <p:nvCxnSpPr>
                <p:cNvPr id="48" name="47 Conector recto"/>
                <p:cNvCxnSpPr/>
                <p:nvPr/>
              </p:nvCxnSpPr>
              <p:spPr>
                <a:xfrm>
                  <a:off x="2915816" y="4518573"/>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48 Conector recto"/>
                <p:cNvCxnSpPr/>
                <p:nvPr/>
              </p:nvCxnSpPr>
              <p:spPr>
                <a:xfrm>
                  <a:off x="2915816" y="4807114"/>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49 Conector recto"/>
                <p:cNvCxnSpPr/>
                <p:nvPr/>
              </p:nvCxnSpPr>
              <p:spPr>
                <a:xfrm>
                  <a:off x="2915816" y="5095146"/>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45 CuadroTexto"/>
              <p:cNvSpPr txBox="1"/>
              <p:nvPr/>
            </p:nvSpPr>
            <p:spPr>
              <a:xfrm>
                <a:off x="2871849" y="3997282"/>
                <a:ext cx="97013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Memoria</a:t>
                </a:r>
              </a:p>
            </p:txBody>
          </p:sp>
          <p:sp>
            <p:nvSpPr>
              <p:cNvPr id="47" name="46 CuadroTexto"/>
              <p:cNvSpPr txBox="1"/>
              <p:nvPr/>
            </p:nvSpPr>
            <p:spPr>
              <a:xfrm>
                <a:off x="3195227" y="4972616"/>
                <a:ext cx="52129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a:t>
                </a:r>
              </a:p>
            </p:txBody>
          </p:sp>
        </p:grpSp>
      </p:grpSp>
      <p:cxnSp>
        <p:nvCxnSpPr>
          <p:cNvPr id="58" name="57 Conector recto de flecha"/>
          <p:cNvCxnSpPr/>
          <p:nvPr/>
        </p:nvCxnSpPr>
        <p:spPr>
          <a:xfrm>
            <a:off x="6677124" y="4613588"/>
            <a:ext cx="753751" cy="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Flowchart: Data 6"/>
          <p:cNvSpPr/>
          <p:nvPr/>
        </p:nvSpPr>
        <p:spPr>
          <a:xfrm>
            <a:off x="1331640" y="1810011"/>
            <a:ext cx="2013856"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Read/Print</a:t>
            </a:r>
          </a:p>
        </p:txBody>
      </p:sp>
      <p:cxnSp>
        <p:nvCxnSpPr>
          <p:cNvPr id="6" name="5 Conector recto de flecha"/>
          <p:cNvCxnSpPr/>
          <p:nvPr/>
        </p:nvCxnSpPr>
        <p:spPr>
          <a:xfrm>
            <a:off x="2411760" y="3498289"/>
            <a:ext cx="0" cy="576064"/>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Flowchart: Data 6"/>
          <p:cNvSpPr/>
          <p:nvPr/>
        </p:nvSpPr>
        <p:spPr>
          <a:xfrm>
            <a:off x="1331640" y="2853282"/>
            <a:ext cx="2013856"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Print</a:t>
            </a:r>
          </a:p>
        </p:txBody>
      </p:sp>
      <p:cxnSp>
        <p:nvCxnSpPr>
          <p:cNvPr id="23" name="22 Conector recto de flecha"/>
          <p:cNvCxnSpPr/>
          <p:nvPr/>
        </p:nvCxnSpPr>
        <p:spPr>
          <a:xfrm>
            <a:off x="2386504" y="2314067"/>
            <a:ext cx="0" cy="43204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nvGrpSpPr>
          <p:cNvPr id="36" name="35 Grupo"/>
          <p:cNvGrpSpPr/>
          <p:nvPr/>
        </p:nvGrpSpPr>
        <p:grpSpPr>
          <a:xfrm>
            <a:off x="467544" y="3907726"/>
            <a:ext cx="1368152" cy="1341366"/>
            <a:chOff x="2771800" y="3965150"/>
            <a:chExt cx="1368152" cy="1341366"/>
          </a:xfrm>
        </p:grpSpPr>
        <p:grpSp>
          <p:nvGrpSpPr>
            <p:cNvPr id="26" name="25 Grupo"/>
            <p:cNvGrpSpPr/>
            <p:nvPr/>
          </p:nvGrpSpPr>
          <p:grpSpPr>
            <a:xfrm>
              <a:off x="2771800" y="3965150"/>
              <a:ext cx="1368152" cy="1336058"/>
              <a:chOff x="2771800" y="3965150"/>
              <a:chExt cx="1368152" cy="1336058"/>
            </a:xfrm>
          </p:grpSpPr>
          <p:cxnSp>
            <p:nvCxnSpPr>
              <p:cNvPr id="25" name="24 Conector recto"/>
              <p:cNvCxnSpPr/>
              <p:nvPr/>
            </p:nvCxnSpPr>
            <p:spPr>
              <a:xfrm>
                <a:off x="2771800"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26 Conector recto"/>
              <p:cNvCxnSpPr/>
              <p:nvPr/>
            </p:nvCxnSpPr>
            <p:spPr>
              <a:xfrm>
                <a:off x="4139952"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34 Grupo"/>
            <p:cNvGrpSpPr/>
            <p:nvPr/>
          </p:nvGrpSpPr>
          <p:grpSpPr>
            <a:xfrm>
              <a:off x="2871849" y="3997282"/>
              <a:ext cx="1124087" cy="1309234"/>
              <a:chOff x="2871849" y="3997282"/>
              <a:chExt cx="1124087" cy="1309234"/>
            </a:xfrm>
          </p:grpSpPr>
          <p:grpSp>
            <p:nvGrpSpPr>
              <p:cNvPr id="33" name="32 Grupo"/>
              <p:cNvGrpSpPr/>
              <p:nvPr/>
            </p:nvGrpSpPr>
            <p:grpSpPr>
              <a:xfrm>
                <a:off x="2915816" y="4518573"/>
                <a:ext cx="1080120" cy="422595"/>
                <a:chOff x="2915816" y="4518573"/>
                <a:chExt cx="1080120" cy="422595"/>
              </a:xfrm>
            </p:grpSpPr>
            <p:cxnSp>
              <p:nvCxnSpPr>
                <p:cNvPr id="29" name="28 Conector recto"/>
                <p:cNvCxnSpPr/>
                <p:nvPr/>
              </p:nvCxnSpPr>
              <p:spPr>
                <a:xfrm>
                  <a:off x="2915816" y="4518573"/>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30 Conector recto"/>
                <p:cNvCxnSpPr/>
                <p:nvPr/>
              </p:nvCxnSpPr>
              <p:spPr>
                <a:xfrm>
                  <a:off x="2915816" y="4725144"/>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31 Conector recto"/>
                <p:cNvCxnSpPr/>
                <p:nvPr/>
              </p:nvCxnSpPr>
              <p:spPr>
                <a:xfrm>
                  <a:off x="2915816" y="4941168"/>
                  <a:ext cx="10801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0" name="29 CuadroTexto"/>
              <p:cNvSpPr txBox="1"/>
              <p:nvPr/>
            </p:nvSpPr>
            <p:spPr>
              <a:xfrm>
                <a:off x="2871849" y="3997282"/>
                <a:ext cx="97013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Memoria</a:t>
                </a:r>
              </a:p>
            </p:txBody>
          </p:sp>
          <p:sp>
            <p:nvSpPr>
              <p:cNvPr id="34" name="33 CuadroTexto"/>
              <p:cNvSpPr txBox="1"/>
              <p:nvPr/>
            </p:nvSpPr>
            <p:spPr>
              <a:xfrm>
                <a:off x="3195227" y="4967962"/>
                <a:ext cx="52129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a:t>
                </a:r>
              </a:p>
            </p:txBody>
          </p:sp>
        </p:grpSp>
      </p:grpSp>
      <p:sp>
        <p:nvSpPr>
          <p:cNvPr id="38" name="37 Triángulo isósceles"/>
          <p:cNvSpPr/>
          <p:nvPr/>
        </p:nvSpPr>
        <p:spPr>
          <a:xfrm rot="5400000">
            <a:off x="2312487" y="4506401"/>
            <a:ext cx="342561" cy="144016"/>
          </a:xfrm>
          <a:prstGeom prs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1" name="60 Rectángulo"/>
          <p:cNvSpPr/>
          <p:nvPr/>
        </p:nvSpPr>
        <p:spPr>
          <a:xfrm>
            <a:off x="1381808" y="1122769"/>
            <a:ext cx="1758815" cy="400110"/>
          </a:xfrm>
          <a:prstGeom prst="rect">
            <a:avLst/>
          </a:prstGeom>
        </p:spPr>
        <p:txBody>
          <a:bodyPr wrap="none">
            <a:spAutoFit/>
          </a:bodyPr>
          <a:lstStyle/>
          <a:p>
            <a:r>
              <a:rPr lang="es-CO" sz="2000" b="1" dirty="0"/>
              <a:t>Entrada</a:t>
            </a:r>
            <a:r>
              <a:rPr lang="es-CO" sz="2000" b="1" dirty="0">
                <a:solidFill>
                  <a:srgbClr val="FF0000"/>
                </a:solidFill>
              </a:rPr>
              <a:t>/Salida</a:t>
            </a:r>
          </a:p>
        </p:txBody>
      </p:sp>
      <p:sp>
        <p:nvSpPr>
          <p:cNvPr id="29697" name="29696 Rectángulo redondeado"/>
          <p:cNvSpPr/>
          <p:nvPr/>
        </p:nvSpPr>
        <p:spPr>
          <a:xfrm>
            <a:off x="179512" y="1072628"/>
            <a:ext cx="4536504" cy="4536504"/>
          </a:xfrm>
          <a:prstGeom prst="roundRect">
            <a:avLst>
              <a:gd name="adj" fmla="val 7429"/>
            </a:avLst>
          </a:prstGeom>
          <a:noFill/>
          <a:ln w="38100">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9699" name="29698 Rectángulo"/>
          <p:cNvSpPr/>
          <p:nvPr/>
        </p:nvSpPr>
        <p:spPr>
          <a:xfrm>
            <a:off x="4868598" y="1086626"/>
            <a:ext cx="3007149" cy="861774"/>
          </a:xfrm>
          <a:prstGeom prst="rect">
            <a:avLst/>
          </a:prstGeom>
        </p:spPr>
        <p:txBody>
          <a:bodyPr wrap="square">
            <a:spAutoFit/>
          </a:bodyPr>
          <a:lstStyle/>
          <a:p>
            <a:r>
              <a:rPr lang="es-CO" b="1" dirty="0">
                <a:solidFill>
                  <a:srgbClr val="FF0000"/>
                </a:solidFill>
              </a:rPr>
              <a:t>Ejemplo</a:t>
            </a:r>
            <a:r>
              <a:rPr lang="es-CO" dirty="0">
                <a:solidFill>
                  <a:srgbClr val="FF0000"/>
                </a:solidFill>
              </a:rPr>
              <a:t>:</a:t>
            </a:r>
          </a:p>
          <a:p>
            <a:r>
              <a:rPr lang="es-CO" sz="1600" dirty="0"/>
              <a:t>Dado el siguiente bloque cual seria su efecto:</a:t>
            </a:r>
            <a:endParaRPr lang="es-CO" dirty="0"/>
          </a:p>
        </p:txBody>
      </p:sp>
      <p:sp>
        <p:nvSpPr>
          <p:cNvPr id="29700" name="29699 Rectángulo"/>
          <p:cNvSpPr/>
          <p:nvPr/>
        </p:nvSpPr>
        <p:spPr>
          <a:xfrm>
            <a:off x="5004048" y="3122235"/>
            <a:ext cx="1058303" cy="369332"/>
          </a:xfrm>
          <a:prstGeom prst="rect">
            <a:avLst/>
          </a:prstGeom>
        </p:spPr>
        <p:txBody>
          <a:bodyPr wrap="none">
            <a:spAutoFit/>
          </a:bodyPr>
          <a:lstStyle/>
          <a:p>
            <a:r>
              <a:rPr lang="es-CO" b="1" dirty="0">
                <a:solidFill>
                  <a:srgbClr val="FF0000"/>
                </a:solidFill>
              </a:rPr>
              <a:t>Solución</a:t>
            </a:r>
            <a:r>
              <a:rPr lang="es-CO" dirty="0">
                <a:solidFill>
                  <a:srgbClr val="FF0000"/>
                </a:solidFill>
              </a:rPr>
              <a:t>:</a:t>
            </a:r>
          </a:p>
        </p:txBody>
      </p:sp>
      <p:pic>
        <p:nvPicPr>
          <p:cNvPr id="31746" name="Picture 2" descr="http://t2.gstatic.com/images?q=tbn:ANd9GcS51PGLkp34nPs-LewfkgAfjdZsyder21fNGFoRiZ_A6x7txo3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4634" y="3990784"/>
            <a:ext cx="1534365" cy="1258308"/>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http://t2.gstatic.com/images?q=tbn:ANd9GcS51PGLkp34nPs-LewfkgAfjdZsyder21fNGFoRiZ_A6x7txo3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6336" y="4104481"/>
            <a:ext cx="1453655" cy="1192119"/>
          </a:xfrm>
          <a:prstGeom prst="rect">
            <a:avLst/>
          </a:prstGeom>
          <a:noFill/>
          <a:extLst>
            <a:ext uri="{909E8E84-426E-40DD-AFC4-6F175D3DCCD1}">
              <a14:hiddenFill xmlns:a14="http://schemas.microsoft.com/office/drawing/2010/main">
                <a:solidFill>
                  <a:srgbClr val="FFFFFF"/>
                </a:solidFill>
              </a14:hiddenFill>
            </a:ext>
          </a:extLst>
        </p:spPr>
      </p:pic>
      <p:sp>
        <p:nvSpPr>
          <p:cNvPr id="2" name="1 Rectángulo"/>
          <p:cNvSpPr/>
          <p:nvPr/>
        </p:nvSpPr>
        <p:spPr>
          <a:xfrm>
            <a:off x="7977374" y="4395270"/>
            <a:ext cx="633507" cy="338554"/>
          </a:xfrm>
          <a:prstGeom prst="rect">
            <a:avLst/>
          </a:prstGeom>
        </p:spPr>
        <p:txBody>
          <a:bodyPr wrap="none">
            <a:spAutoFit/>
          </a:bodyPr>
          <a:lstStyle/>
          <a:p>
            <a:r>
              <a:rPr lang="es-CO" sz="1600" dirty="0">
                <a:solidFill>
                  <a:srgbClr val="FF0000"/>
                </a:solidFill>
                <a:latin typeface="Consolas" panose="020B0609020204030204" pitchFamily="49" charset="0"/>
                <a:cs typeface="Consolas" panose="020B0609020204030204" pitchFamily="49" charset="0"/>
              </a:rPr>
              <a:t>Hola</a:t>
            </a:r>
            <a:endParaRPr lang="es-CO" dirty="0">
              <a:solidFill>
                <a:srgbClr val="FF0000"/>
              </a:solidFill>
            </a:endParaRPr>
          </a:p>
        </p:txBody>
      </p:sp>
    </p:spTree>
    <p:extLst>
      <p:ext uri="{BB962C8B-B14F-4D97-AF65-F5344CB8AC3E}">
        <p14:creationId xmlns:p14="http://schemas.microsoft.com/office/powerpoint/2010/main" val="1642690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22 Conector recto de flecha"/>
          <p:cNvCxnSpPr>
            <a:cxnSpLocks/>
          </p:cNvCxnSpPr>
          <p:nvPr/>
        </p:nvCxnSpPr>
        <p:spPr>
          <a:xfrm flipH="1">
            <a:off x="2483768" y="1655332"/>
            <a:ext cx="1224136" cy="791402"/>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Flowchart: Process 7"/>
          <p:cNvSpPr/>
          <p:nvPr/>
        </p:nvSpPr>
        <p:spPr>
          <a:xfrm>
            <a:off x="3785236" y="1350532"/>
            <a:ext cx="1066800"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Process</a:t>
            </a:r>
          </a:p>
        </p:txBody>
      </p:sp>
      <p:cxnSp>
        <p:nvCxnSpPr>
          <p:cNvPr id="53" name="52 Conector recto de flecha"/>
          <p:cNvCxnSpPr>
            <a:cxnSpLocks/>
          </p:cNvCxnSpPr>
          <p:nvPr/>
        </p:nvCxnSpPr>
        <p:spPr>
          <a:xfrm>
            <a:off x="4946255" y="1632164"/>
            <a:ext cx="1353937" cy="73903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54 Rectángulo"/>
          <p:cNvSpPr/>
          <p:nvPr/>
        </p:nvSpPr>
        <p:spPr>
          <a:xfrm>
            <a:off x="1296666" y="2468280"/>
            <a:ext cx="2411238" cy="338554"/>
          </a:xfrm>
          <a:prstGeom prst="rect">
            <a:avLst/>
          </a:prstGeom>
        </p:spPr>
        <p:txBody>
          <a:bodyPr wrap="none">
            <a:spAutoFit/>
          </a:bodyPr>
          <a:lstStyle/>
          <a:p>
            <a:r>
              <a:rPr lang="es-CO" sz="1600" b="1" dirty="0">
                <a:solidFill>
                  <a:srgbClr val="FF0000"/>
                </a:solidFill>
                <a:latin typeface="Century Gothic" panose="020B0502020202020204" pitchFamily="34" charset="0"/>
              </a:rPr>
              <a:t>Asignación de valores</a:t>
            </a:r>
            <a:endParaRPr lang="es-CO" sz="1600" dirty="0">
              <a:solidFill>
                <a:srgbClr val="FF0000"/>
              </a:solidFill>
              <a:latin typeface="Century Gothic" panose="020B0502020202020204" pitchFamily="34" charset="0"/>
            </a:endParaRPr>
          </a:p>
        </p:txBody>
      </p:sp>
      <p:sp>
        <p:nvSpPr>
          <p:cNvPr id="56" name="55 Rectángulo"/>
          <p:cNvSpPr/>
          <p:nvPr/>
        </p:nvSpPr>
        <p:spPr>
          <a:xfrm>
            <a:off x="4617637" y="2457880"/>
            <a:ext cx="3365110" cy="584775"/>
          </a:xfrm>
          <a:prstGeom prst="rect">
            <a:avLst/>
          </a:prstGeom>
        </p:spPr>
        <p:txBody>
          <a:bodyPr wrap="square">
            <a:spAutoFit/>
          </a:bodyPr>
          <a:lstStyle/>
          <a:p>
            <a:pPr algn="ctr"/>
            <a:r>
              <a:rPr lang="es-CO" sz="1600" b="1" dirty="0">
                <a:solidFill>
                  <a:srgbClr val="FF0000"/>
                </a:solidFill>
                <a:latin typeface="Century Gothic" panose="020B0502020202020204" pitchFamily="34" charset="0"/>
              </a:rPr>
              <a:t>Procesamiento de datos (Operaciones)</a:t>
            </a:r>
            <a:endParaRPr lang="es-CO" sz="1600" dirty="0">
              <a:solidFill>
                <a:srgbClr val="FF0000"/>
              </a:solidFill>
              <a:latin typeface="Century Gothic" panose="020B0502020202020204" pitchFamily="34" charset="0"/>
            </a:endParaRPr>
          </a:p>
        </p:txBody>
      </p:sp>
      <p:cxnSp>
        <p:nvCxnSpPr>
          <p:cNvPr id="57" name="56 Conector recto de flecha"/>
          <p:cNvCxnSpPr/>
          <p:nvPr/>
        </p:nvCxnSpPr>
        <p:spPr>
          <a:xfrm flipH="1">
            <a:off x="1660934" y="2836292"/>
            <a:ext cx="546100" cy="4826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 name="58 Rectángulo"/>
          <p:cNvSpPr/>
          <p:nvPr/>
        </p:nvSpPr>
        <p:spPr>
          <a:xfrm>
            <a:off x="1066689" y="3356992"/>
            <a:ext cx="1292341" cy="338554"/>
          </a:xfrm>
          <a:prstGeom prst="rect">
            <a:avLst/>
          </a:prstGeom>
        </p:spPr>
        <p:txBody>
          <a:bodyPr wrap="none">
            <a:spAutoFit/>
          </a:bodyPr>
          <a:lstStyle/>
          <a:p>
            <a:r>
              <a:rPr lang="es-CO" sz="1600" b="1" dirty="0">
                <a:solidFill>
                  <a:srgbClr val="FF0000"/>
                </a:solidFill>
                <a:latin typeface="Century Gothic" panose="020B0502020202020204" pitchFamily="34" charset="0"/>
              </a:rPr>
              <a:t>Constantes</a:t>
            </a:r>
            <a:endParaRPr lang="es-CO" sz="1400" dirty="0">
              <a:solidFill>
                <a:srgbClr val="FF0000"/>
              </a:solidFill>
              <a:latin typeface="Century Gothic" panose="020B0502020202020204" pitchFamily="34" charset="0"/>
            </a:endParaRPr>
          </a:p>
        </p:txBody>
      </p:sp>
      <p:sp>
        <p:nvSpPr>
          <p:cNvPr id="60" name="59 Rectángulo"/>
          <p:cNvSpPr/>
          <p:nvPr/>
        </p:nvSpPr>
        <p:spPr>
          <a:xfrm>
            <a:off x="2743594" y="3338528"/>
            <a:ext cx="1124026" cy="338554"/>
          </a:xfrm>
          <a:prstGeom prst="rect">
            <a:avLst/>
          </a:prstGeom>
        </p:spPr>
        <p:txBody>
          <a:bodyPr wrap="none">
            <a:spAutoFit/>
          </a:bodyPr>
          <a:lstStyle/>
          <a:p>
            <a:r>
              <a:rPr lang="es-CO" sz="1600" b="1" dirty="0">
                <a:solidFill>
                  <a:srgbClr val="FF0000"/>
                </a:solidFill>
                <a:latin typeface="Century Gothic" panose="020B0502020202020204" pitchFamily="34" charset="0"/>
              </a:rPr>
              <a:t>Variables</a:t>
            </a:r>
            <a:endParaRPr lang="es-CO" sz="1400" dirty="0">
              <a:solidFill>
                <a:srgbClr val="FF0000"/>
              </a:solidFill>
              <a:latin typeface="Century Gothic" panose="020B0502020202020204" pitchFamily="34" charset="0"/>
            </a:endParaRPr>
          </a:p>
        </p:txBody>
      </p:sp>
      <p:cxnSp>
        <p:nvCxnSpPr>
          <p:cNvPr id="65" name="64 Conector recto de flecha"/>
          <p:cNvCxnSpPr/>
          <p:nvPr/>
        </p:nvCxnSpPr>
        <p:spPr>
          <a:xfrm>
            <a:off x="2699172" y="2836292"/>
            <a:ext cx="546100" cy="4826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6" name="Flowchart: Process 7"/>
          <p:cNvSpPr/>
          <p:nvPr/>
        </p:nvSpPr>
        <p:spPr>
          <a:xfrm>
            <a:off x="1154372" y="3702241"/>
            <a:ext cx="1066800"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a </a:t>
            </a:r>
            <a:r>
              <a:rPr lang="en-US" sz="1400" dirty="0">
                <a:latin typeface="Consolas" panose="020B0609020204030204" pitchFamily="49" charset="0"/>
                <a:sym typeface="Wingdings" panose="05000000000000000000" pitchFamily="2" charset="2"/>
              </a:rPr>
              <a:t> 3</a:t>
            </a:r>
            <a:r>
              <a:rPr lang="en-US" sz="1400" dirty="0">
                <a:latin typeface="Consolas" panose="020B0609020204030204" pitchFamily="49" charset="0"/>
              </a:rPr>
              <a:t> </a:t>
            </a:r>
          </a:p>
        </p:txBody>
      </p:sp>
      <p:grpSp>
        <p:nvGrpSpPr>
          <p:cNvPr id="67" name="66 Grupo"/>
          <p:cNvGrpSpPr/>
          <p:nvPr/>
        </p:nvGrpSpPr>
        <p:grpSpPr>
          <a:xfrm>
            <a:off x="1134309" y="4821978"/>
            <a:ext cx="1224136" cy="1343326"/>
            <a:chOff x="2771800" y="3957882"/>
            <a:chExt cx="1224136" cy="1343326"/>
          </a:xfrm>
        </p:grpSpPr>
        <p:grpSp>
          <p:nvGrpSpPr>
            <p:cNvPr id="68" name="67 Grupo"/>
            <p:cNvGrpSpPr/>
            <p:nvPr/>
          </p:nvGrpSpPr>
          <p:grpSpPr>
            <a:xfrm>
              <a:off x="2771800" y="3957882"/>
              <a:ext cx="1224136" cy="1343326"/>
              <a:chOff x="2771800" y="3957882"/>
              <a:chExt cx="1224136" cy="1343326"/>
            </a:xfrm>
          </p:grpSpPr>
          <p:cxnSp>
            <p:nvCxnSpPr>
              <p:cNvPr id="76" name="75 Conector recto"/>
              <p:cNvCxnSpPr/>
              <p:nvPr/>
            </p:nvCxnSpPr>
            <p:spPr>
              <a:xfrm>
                <a:off x="2771800"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76 Conector recto"/>
              <p:cNvCxnSpPr/>
              <p:nvPr/>
            </p:nvCxnSpPr>
            <p:spPr>
              <a:xfrm>
                <a:off x="3995936" y="3957882"/>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9" name="68 Grupo"/>
            <p:cNvGrpSpPr/>
            <p:nvPr/>
          </p:nvGrpSpPr>
          <p:grpSpPr>
            <a:xfrm>
              <a:off x="2871849" y="3997282"/>
              <a:ext cx="979755" cy="1257199"/>
              <a:chOff x="2871849" y="3997282"/>
              <a:chExt cx="979755" cy="1257199"/>
            </a:xfrm>
          </p:grpSpPr>
          <p:cxnSp>
            <p:nvCxnSpPr>
              <p:cNvPr id="73" name="72 Conector recto"/>
              <p:cNvCxnSpPr/>
              <p:nvPr/>
            </p:nvCxnSpPr>
            <p:spPr>
              <a:xfrm>
                <a:off x="2883977" y="4341629"/>
                <a:ext cx="9676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70 CuadroTexto"/>
              <p:cNvSpPr txBox="1"/>
              <p:nvPr/>
            </p:nvSpPr>
            <p:spPr>
              <a:xfrm>
                <a:off x="2871849" y="3997282"/>
                <a:ext cx="880369" cy="307777"/>
              </a:xfrm>
              <a:prstGeom prst="rect">
                <a:avLst/>
              </a:prstGeom>
              <a:noFill/>
            </p:spPr>
            <p:txBody>
              <a:bodyPr wrap="none" rtlCol="0">
                <a:spAutoFit/>
              </a:bodyPr>
              <a:lstStyle/>
              <a:p>
                <a:r>
                  <a:rPr lang="es-CO" sz="1400" dirty="0">
                    <a:latin typeface="Consolas" panose="020B0609020204030204" pitchFamily="49" charset="0"/>
                    <a:cs typeface="Consolas" panose="020B0609020204030204" pitchFamily="49" charset="0"/>
                  </a:rPr>
                  <a:t>Memoria</a:t>
                </a:r>
                <a:endParaRPr lang="es-CO" sz="1600" dirty="0">
                  <a:latin typeface="Consolas" panose="020B0609020204030204" pitchFamily="49" charset="0"/>
                  <a:cs typeface="Consolas" panose="020B0609020204030204" pitchFamily="49" charset="0"/>
                </a:endParaRPr>
              </a:p>
            </p:txBody>
          </p:sp>
          <p:sp>
            <p:nvSpPr>
              <p:cNvPr id="72" name="71 CuadroTexto"/>
              <p:cNvSpPr txBox="1"/>
              <p:nvPr/>
            </p:nvSpPr>
            <p:spPr>
              <a:xfrm>
                <a:off x="3119841" y="4915927"/>
                <a:ext cx="52129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a:t>
                </a:r>
              </a:p>
            </p:txBody>
          </p:sp>
        </p:grpSp>
      </p:grpSp>
      <p:sp>
        <p:nvSpPr>
          <p:cNvPr id="78" name="77 Rectángulo"/>
          <p:cNvSpPr/>
          <p:nvPr/>
        </p:nvSpPr>
        <p:spPr>
          <a:xfrm>
            <a:off x="1260860" y="5272113"/>
            <a:ext cx="296876" cy="338554"/>
          </a:xfrm>
          <a:prstGeom prst="rect">
            <a:avLst/>
          </a:prstGeom>
        </p:spPr>
        <p:txBody>
          <a:bodyPr wrap="none">
            <a:spAutoFit/>
          </a:bodyPr>
          <a:lstStyle/>
          <a:p>
            <a:r>
              <a:rPr lang="es-CO" sz="1600" dirty="0">
                <a:latin typeface="Consolas" panose="020B0609020204030204" pitchFamily="49" charset="0"/>
                <a:cs typeface="Consolas" panose="020B0609020204030204" pitchFamily="49" charset="0"/>
              </a:rPr>
              <a:t>a</a:t>
            </a:r>
            <a:endParaRPr lang="es-CO" dirty="0"/>
          </a:p>
        </p:txBody>
      </p:sp>
      <p:sp>
        <p:nvSpPr>
          <p:cNvPr id="79" name="78 Rectángulo"/>
          <p:cNvSpPr/>
          <p:nvPr/>
        </p:nvSpPr>
        <p:spPr>
          <a:xfrm>
            <a:off x="1567601" y="5326167"/>
            <a:ext cx="511431" cy="23397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80" name="79 Conector recto"/>
          <p:cNvCxnSpPr/>
          <p:nvPr/>
        </p:nvCxnSpPr>
        <p:spPr>
          <a:xfrm>
            <a:off x="1246486" y="5668142"/>
            <a:ext cx="9676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80 Conector recto"/>
          <p:cNvCxnSpPr/>
          <p:nvPr/>
        </p:nvCxnSpPr>
        <p:spPr>
          <a:xfrm>
            <a:off x="1246486" y="5890270"/>
            <a:ext cx="9676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81 Rectángulo"/>
          <p:cNvSpPr/>
          <p:nvPr/>
        </p:nvSpPr>
        <p:spPr>
          <a:xfrm>
            <a:off x="1642316" y="5262861"/>
            <a:ext cx="298480" cy="338554"/>
          </a:xfrm>
          <a:prstGeom prst="rect">
            <a:avLst/>
          </a:prstGeom>
        </p:spPr>
        <p:txBody>
          <a:bodyPr wrap="none">
            <a:spAutoFit/>
          </a:bodyPr>
          <a:lstStyle/>
          <a:p>
            <a:r>
              <a:rPr lang="es-CO" sz="1600" dirty="0">
                <a:solidFill>
                  <a:srgbClr val="FF0000"/>
                </a:solidFill>
              </a:rPr>
              <a:t>3</a:t>
            </a:r>
          </a:p>
        </p:txBody>
      </p:sp>
      <p:sp>
        <p:nvSpPr>
          <p:cNvPr id="83" name="Flowchart: Process 7"/>
          <p:cNvSpPr/>
          <p:nvPr/>
        </p:nvSpPr>
        <p:spPr>
          <a:xfrm>
            <a:off x="2797236" y="3698176"/>
            <a:ext cx="1066800"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b </a:t>
            </a:r>
            <a:r>
              <a:rPr lang="en-US" sz="1400" dirty="0">
                <a:latin typeface="Consolas" panose="020B0609020204030204" pitchFamily="49" charset="0"/>
                <a:sym typeface="Wingdings" panose="05000000000000000000" pitchFamily="2" charset="2"/>
              </a:rPr>
              <a:t> a</a:t>
            </a:r>
            <a:r>
              <a:rPr lang="en-US" sz="1400" dirty="0">
                <a:latin typeface="Consolas" panose="020B0609020204030204" pitchFamily="49" charset="0"/>
              </a:rPr>
              <a:t> </a:t>
            </a:r>
          </a:p>
        </p:txBody>
      </p:sp>
      <p:sp>
        <p:nvSpPr>
          <p:cNvPr id="24" name="23 Rectángulo"/>
          <p:cNvSpPr/>
          <p:nvPr/>
        </p:nvSpPr>
        <p:spPr>
          <a:xfrm>
            <a:off x="2544662" y="4307776"/>
            <a:ext cx="1620834" cy="430887"/>
          </a:xfrm>
          <a:prstGeom prst="rect">
            <a:avLst/>
          </a:prstGeom>
        </p:spPr>
        <p:txBody>
          <a:bodyPr wrap="square">
            <a:spAutoFit/>
          </a:bodyPr>
          <a:lstStyle/>
          <a:p>
            <a:pPr algn="just"/>
            <a:r>
              <a:rPr lang="es-CO" sz="1100" dirty="0">
                <a:latin typeface="Century Gothic" panose="020B0502020202020204" pitchFamily="34" charset="0"/>
              </a:rPr>
              <a:t>Suponiendo que </a:t>
            </a:r>
            <a:r>
              <a:rPr lang="es-CO" sz="1100" b="1" dirty="0">
                <a:latin typeface="Century Gothic" panose="020B0502020202020204" pitchFamily="34" charset="0"/>
              </a:rPr>
              <a:t>a </a:t>
            </a:r>
            <a:r>
              <a:rPr lang="es-CO" sz="1100" dirty="0">
                <a:latin typeface="Century Gothic" panose="020B0502020202020204" pitchFamily="34" charset="0"/>
              </a:rPr>
              <a:t>ya existe y vale </a:t>
            </a:r>
            <a:r>
              <a:rPr lang="es-CO" sz="1100" b="1" dirty="0">
                <a:latin typeface="Century Gothic" panose="020B0502020202020204" pitchFamily="34" charset="0"/>
              </a:rPr>
              <a:t>4</a:t>
            </a:r>
          </a:p>
        </p:txBody>
      </p:sp>
      <p:grpSp>
        <p:nvGrpSpPr>
          <p:cNvPr id="86" name="85 Grupo"/>
          <p:cNvGrpSpPr/>
          <p:nvPr/>
        </p:nvGrpSpPr>
        <p:grpSpPr>
          <a:xfrm>
            <a:off x="2759507" y="4806904"/>
            <a:ext cx="1224136" cy="1430408"/>
            <a:chOff x="2771800" y="3957882"/>
            <a:chExt cx="1224136" cy="1430408"/>
          </a:xfrm>
        </p:grpSpPr>
        <p:grpSp>
          <p:nvGrpSpPr>
            <p:cNvPr id="92" name="91 Grupo"/>
            <p:cNvGrpSpPr/>
            <p:nvPr/>
          </p:nvGrpSpPr>
          <p:grpSpPr>
            <a:xfrm>
              <a:off x="2771800" y="3957882"/>
              <a:ext cx="1224136" cy="1343326"/>
              <a:chOff x="2771800" y="3957882"/>
              <a:chExt cx="1224136" cy="1343326"/>
            </a:xfrm>
          </p:grpSpPr>
          <p:cxnSp>
            <p:nvCxnSpPr>
              <p:cNvPr id="97" name="96 Conector recto"/>
              <p:cNvCxnSpPr/>
              <p:nvPr/>
            </p:nvCxnSpPr>
            <p:spPr>
              <a:xfrm>
                <a:off x="2771800" y="3965150"/>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97 Conector recto"/>
              <p:cNvCxnSpPr/>
              <p:nvPr/>
            </p:nvCxnSpPr>
            <p:spPr>
              <a:xfrm>
                <a:off x="3995936" y="3957882"/>
                <a:ext cx="0" cy="133605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3" name="92 Grupo"/>
            <p:cNvGrpSpPr/>
            <p:nvPr/>
          </p:nvGrpSpPr>
          <p:grpSpPr>
            <a:xfrm>
              <a:off x="2871849" y="3997282"/>
              <a:ext cx="979755" cy="1391008"/>
              <a:chOff x="2871849" y="3997282"/>
              <a:chExt cx="979755" cy="1391008"/>
            </a:xfrm>
          </p:grpSpPr>
          <p:cxnSp>
            <p:nvCxnSpPr>
              <p:cNvPr id="94" name="93 Conector recto"/>
              <p:cNvCxnSpPr/>
              <p:nvPr/>
            </p:nvCxnSpPr>
            <p:spPr>
              <a:xfrm>
                <a:off x="2883977" y="4341629"/>
                <a:ext cx="9676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5" name="94 CuadroTexto"/>
              <p:cNvSpPr txBox="1"/>
              <p:nvPr/>
            </p:nvSpPr>
            <p:spPr>
              <a:xfrm>
                <a:off x="2871849" y="3997282"/>
                <a:ext cx="880369" cy="307777"/>
              </a:xfrm>
              <a:prstGeom prst="rect">
                <a:avLst/>
              </a:prstGeom>
              <a:noFill/>
            </p:spPr>
            <p:txBody>
              <a:bodyPr wrap="none" rtlCol="0">
                <a:spAutoFit/>
              </a:bodyPr>
              <a:lstStyle/>
              <a:p>
                <a:r>
                  <a:rPr lang="es-CO" sz="1400" dirty="0">
                    <a:latin typeface="Consolas" panose="020B0609020204030204" pitchFamily="49" charset="0"/>
                    <a:cs typeface="Consolas" panose="020B0609020204030204" pitchFamily="49" charset="0"/>
                  </a:rPr>
                  <a:t>Memoria</a:t>
                </a:r>
                <a:endParaRPr lang="es-CO" sz="1600" dirty="0">
                  <a:latin typeface="Consolas" panose="020B0609020204030204" pitchFamily="49" charset="0"/>
                  <a:cs typeface="Consolas" panose="020B0609020204030204" pitchFamily="49" charset="0"/>
                </a:endParaRPr>
              </a:p>
            </p:txBody>
          </p:sp>
          <p:sp>
            <p:nvSpPr>
              <p:cNvPr id="96" name="95 CuadroTexto"/>
              <p:cNvSpPr txBox="1"/>
              <p:nvPr/>
            </p:nvSpPr>
            <p:spPr>
              <a:xfrm>
                <a:off x="3119841" y="5049736"/>
                <a:ext cx="52129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a:t>
                </a:r>
              </a:p>
            </p:txBody>
          </p:sp>
        </p:grpSp>
      </p:grpSp>
      <p:sp>
        <p:nvSpPr>
          <p:cNvPr id="87" name="86 Rectángulo"/>
          <p:cNvSpPr/>
          <p:nvPr/>
        </p:nvSpPr>
        <p:spPr>
          <a:xfrm>
            <a:off x="2886058" y="5257039"/>
            <a:ext cx="296876" cy="338554"/>
          </a:xfrm>
          <a:prstGeom prst="rect">
            <a:avLst/>
          </a:prstGeom>
        </p:spPr>
        <p:txBody>
          <a:bodyPr wrap="none">
            <a:spAutoFit/>
          </a:bodyPr>
          <a:lstStyle/>
          <a:p>
            <a:r>
              <a:rPr lang="es-CO" sz="1600" dirty="0">
                <a:latin typeface="Consolas" panose="020B0609020204030204" pitchFamily="49" charset="0"/>
                <a:cs typeface="Consolas" panose="020B0609020204030204" pitchFamily="49" charset="0"/>
              </a:rPr>
              <a:t>a</a:t>
            </a:r>
            <a:endParaRPr lang="es-CO" dirty="0"/>
          </a:p>
        </p:txBody>
      </p:sp>
      <p:sp>
        <p:nvSpPr>
          <p:cNvPr id="88" name="87 Rectángulo"/>
          <p:cNvSpPr/>
          <p:nvPr/>
        </p:nvSpPr>
        <p:spPr>
          <a:xfrm>
            <a:off x="3192799" y="5311093"/>
            <a:ext cx="511431" cy="23397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cxnSp>
        <p:nvCxnSpPr>
          <p:cNvPr id="90" name="89 Conector recto"/>
          <p:cNvCxnSpPr/>
          <p:nvPr/>
        </p:nvCxnSpPr>
        <p:spPr>
          <a:xfrm>
            <a:off x="2871684" y="6021288"/>
            <a:ext cx="9676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90 Rectángulo"/>
          <p:cNvSpPr/>
          <p:nvPr/>
        </p:nvSpPr>
        <p:spPr>
          <a:xfrm>
            <a:off x="3267514" y="5247787"/>
            <a:ext cx="298480" cy="338554"/>
          </a:xfrm>
          <a:prstGeom prst="rect">
            <a:avLst/>
          </a:prstGeom>
        </p:spPr>
        <p:txBody>
          <a:bodyPr wrap="none">
            <a:spAutoFit/>
          </a:bodyPr>
          <a:lstStyle/>
          <a:p>
            <a:r>
              <a:rPr lang="es-CO" sz="1600" dirty="0"/>
              <a:t>4</a:t>
            </a:r>
          </a:p>
        </p:txBody>
      </p:sp>
      <p:sp>
        <p:nvSpPr>
          <p:cNvPr id="99" name="98 Rectángulo"/>
          <p:cNvSpPr/>
          <p:nvPr/>
        </p:nvSpPr>
        <p:spPr>
          <a:xfrm>
            <a:off x="2888294" y="5610726"/>
            <a:ext cx="296876" cy="338554"/>
          </a:xfrm>
          <a:prstGeom prst="rect">
            <a:avLst/>
          </a:prstGeom>
        </p:spPr>
        <p:txBody>
          <a:bodyPr wrap="none">
            <a:spAutoFit/>
          </a:bodyPr>
          <a:lstStyle/>
          <a:p>
            <a:r>
              <a:rPr lang="es-CO" sz="1600" dirty="0">
                <a:latin typeface="Consolas" panose="020B0609020204030204" pitchFamily="49" charset="0"/>
                <a:cs typeface="Consolas" panose="020B0609020204030204" pitchFamily="49" charset="0"/>
              </a:rPr>
              <a:t>b</a:t>
            </a:r>
            <a:endParaRPr lang="es-CO" dirty="0"/>
          </a:p>
        </p:txBody>
      </p:sp>
      <p:sp>
        <p:nvSpPr>
          <p:cNvPr id="100" name="99 Rectángulo"/>
          <p:cNvSpPr/>
          <p:nvPr/>
        </p:nvSpPr>
        <p:spPr>
          <a:xfrm>
            <a:off x="3195035" y="5664780"/>
            <a:ext cx="511431" cy="23397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1" name="100 Rectángulo"/>
          <p:cNvSpPr/>
          <p:nvPr/>
        </p:nvSpPr>
        <p:spPr>
          <a:xfrm>
            <a:off x="3267514" y="5612492"/>
            <a:ext cx="298480" cy="338554"/>
          </a:xfrm>
          <a:prstGeom prst="rect">
            <a:avLst/>
          </a:prstGeom>
        </p:spPr>
        <p:txBody>
          <a:bodyPr wrap="none">
            <a:spAutoFit/>
          </a:bodyPr>
          <a:lstStyle/>
          <a:p>
            <a:r>
              <a:rPr lang="es-CO" sz="1600" dirty="0">
                <a:solidFill>
                  <a:srgbClr val="FF0000"/>
                </a:solidFill>
              </a:rPr>
              <a:t>4</a:t>
            </a:r>
          </a:p>
        </p:txBody>
      </p:sp>
      <p:sp>
        <p:nvSpPr>
          <p:cNvPr id="124" name="Flowchart: Process 7"/>
          <p:cNvSpPr/>
          <p:nvPr/>
        </p:nvSpPr>
        <p:spPr>
          <a:xfrm>
            <a:off x="5837166" y="3157319"/>
            <a:ext cx="1066800"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z </a:t>
            </a:r>
            <a:r>
              <a:rPr lang="en-US" sz="1400" dirty="0">
                <a:latin typeface="Consolas" panose="020B0609020204030204" pitchFamily="49" charset="0"/>
                <a:sym typeface="Wingdings" panose="05000000000000000000" pitchFamily="2" charset="2"/>
              </a:rPr>
              <a:t>x + y</a:t>
            </a:r>
            <a:r>
              <a:rPr lang="en-US" sz="1400" dirty="0">
                <a:latin typeface="Consolas" panose="020B0609020204030204" pitchFamily="49" charset="0"/>
              </a:rPr>
              <a:t> </a:t>
            </a:r>
          </a:p>
        </p:txBody>
      </p:sp>
      <p:sp>
        <p:nvSpPr>
          <p:cNvPr id="125" name="124 Rectángulo"/>
          <p:cNvSpPr/>
          <p:nvPr/>
        </p:nvSpPr>
        <p:spPr>
          <a:xfrm>
            <a:off x="5029205" y="3948981"/>
            <a:ext cx="2585535" cy="430887"/>
          </a:xfrm>
          <a:prstGeom prst="rect">
            <a:avLst/>
          </a:prstGeom>
        </p:spPr>
        <p:txBody>
          <a:bodyPr wrap="square">
            <a:spAutoFit/>
          </a:bodyPr>
          <a:lstStyle/>
          <a:p>
            <a:pPr algn="just"/>
            <a:r>
              <a:rPr lang="es-CO" sz="1100" dirty="0">
                <a:latin typeface="Century Gothic" panose="020B0502020202020204" pitchFamily="34" charset="0"/>
              </a:rPr>
              <a:t>Suponiendo que </a:t>
            </a:r>
            <a:r>
              <a:rPr lang="es-CO" sz="1100" b="1" dirty="0">
                <a:latin typeface="Century Gothic" panose="020B0502020202020204" pitchFamily="34" charset="0"/>
              </a:rPr>
              <a:t>x</a:t>
            </a:r>
            <a:r>
              <a:rPr lang="es-CO" sz="1100" dirty="0">
                <a:latin typeface="Century Gothic" panose="020B0502020202020204" pitchFamily="34" charset="0"/>
              </a:rPr>
              <a:t> e </a:t>
            </a:r>
            <a:r>
              <a:rPr lang="es-CO" sz="1100" b="1" dirty="0">
                <a:latin typeface="Century Gothic" panose="020B0502020202020204" pitchFamily="34" charset="0"/>
              </a:rPr>
              <a:t>y</a:t>
            </a:r>
            <a:r>
              <a:rPr lang="es-CO" sz="1100" dirty="0">
                <a:latin typeface="Century Gothic" panose="020B0502020202020204" pitchFamily="34" charset="0"/>
              </a:rPr>
              <a:t> existen y que sus valores son </a:t>
            </a:r>
            <a:r>
              <a:rPr lang="es-CO" sz="1100" b="1" dirty="0">
                <a:latin typeface="Century Gothic" panose="020B0502020202020204" pitchFamily="34" charset="0"/>
              </a:rPr>
              <a:t>4</a:t>
            </a:r>
            <a:r>
              <a:rPr lang="es-CO" sz="1100" dirty="0">
                <a:latin typeface="Century Gothic" panose="020B0502020202020204" pitchFamily="34" charset="0"/>
              </a:rPr>
              <a:t> y </a:t>
            </a:r>
            <a:r>
              <a:rPr lang="es-CO" sz="1100" b="1" dirty="0">
                <a:latin typeface="Century Gothic" panose="020B0502020202020204" pitchFamily="34" charset="0"/>
              </a:rPr>
              <a:t>-6</a:t>
            </a:r>
            <a:r>
              <a:rPr lang="es-CO" sz="1100" dirty="0">
                <a:latin typeface="Century Gothic" panose="020B0502020202020204" pitchFamily="34" charset="0"/>
              </a:rPr>
              <a:t>.</a:t>
            </a:r>
          </a:p>
        </p:txBody>
      </p:sp>
      <p:grpSp>
        <p:nvGrpSpPr>
          <p:cNvPr id="126" name="125 Grupo"/>
          <p:cNvGrpSpPr/>
          <p:nvPr/>
        </p:nvGrpSpPr>
        <p:grpSpPr>
          <a:xfrm>
            <a:off x="5758498" y="4543120"/>
            <a:ext cx="1224136" cy="1627793"/>
            <a:chOff x="2771800" y="3957882"/>
            <a:chExt cx="1224136" cy="1627793"/>
          </a:xfrm>
        </p:grpSpPr>
        <p:grpSp>
          <p:nvGrpSpPr>
            <p:cNvPr id="127" name="126 Grupo"/>
            <p:cNvGrpSpPr/>
            <p:nvPr/>
          </p:nvGrpSpPr>
          <p:grpSpPr>
            <a:xfrm>
              <a:off x="2771800" y="3957882"/>
              <a:ext cx="1224136" cy="1627793"/>
              <a:chOff x="2771800" y="3957882"/>
              <a:chExt cx="1224136" cy="1627793"/>
            </a:xfrm>
          </p:grpSpPr>
          <p:cxnSp>
            <p:nvCxnSpPr>
              <p:cNvPr id="132" name="131 Conector recto"/>
              <p:cNvCxnSpPr/>
              <p:nvPr/>
            </p:nvCxnSpPr>
            <p:spPr>
              <a:xfrm>
                <a:off x="2771800" y="3965150"/>
                <a:ext cx="0" cy="162052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132 Conector recto"/>
              <p:cNvCxnSpPr/>
              <p:nvPr/>
            </p:nvCxnSpPr>
            <p:spPr>
              <a:xfrm>
                <a:off x="3995936" y="3957882"/>
                <a:ext cx="0" cy="162602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8" name="127 Grupo"/>
            <p:cNvGrpSpPr/>
            <p:nvPr/>
          </p:nvGrpSpPr>
          <p:grpSpPr>
            <a:xfrm>
              <a:off x="2871849" y="3997282"/>
              <a:ext cx="979755" cy="1586627"/>
              <a:chOff x="2871849" y="3997282"/>
              <a:chExt cx="979755" cy="1586627"/>
            </a:xfrm>
          </p:grpSpPr>
          <p:cxnSp>
            <p:nvCxnSpPr>
              <p:cNvPr id="129" name="128 Conector recto"/>
              <p:cNvCxnSpPr/>
              <p:nvPr/>
            </p:nvCxnSpPr>
            <p:spPr>
              <a:xfrm>
                <a:off x="2883977" y="4341629"/>
                <a:ext cx="9676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0" name="129 CuadroTexto"/>
              <p:cNvSpPr txBox="1"/>
              <p:nvPr/>
            </p:nvSpPr>
            <p:spPr>
              <a:xfrm>
                <a:off x="2871849" y="3997282"/>
                <a:ext cx="880369" cy="307777"/>
              </a:xfrm>
              <a:prstGeom prst="rect">
                <a:avLst/>
              </a:prstGeom>
              <a:noFill/>
            </p:spPr>
            <p:txBody>
              <a:bodyPr wrap="none" rtlCol="0">
                <a:spAutoFit/>
              </a:bodyPr>
              <a:lstStyle/>
              <a:p>
                <a:r>
                  <a:rPr lang="es-CO" sz="1400" dirty="0">
                    <a:latin typeface="Consolas" panose="020B0609020204030204" pitchFamily="49" charset="0"/>
                    <a:cs typeface="Consolas" panose="020B0609020204030204" pitchFamily="49" charset="0"/>
                  </a:rPr>
                  <a:t>Memoria</a:t>
                </a:r>
                <a:endParaRPr lang="es-CO" sz="1600" dirty="0">
                  <a:latin typeface="Consolas" panose="020B0609020204030204" pitchFamily="49" charset="0"/>
                  <a:cs typeface="Consolas" panose="020B0609020204030204" pitchFamily="49" charset="0"/>
                </a:endParaRPr>
              </a:p>
            </p:txBody>
          </p:sp>
          <p:sp>
            <p:nvSpPr>
              <p:cNvPr id="131" name="130 CuadroTexto"/>
              <p:cNvSpPr txBox="1"/>
              <p:nvPr/>
            </p:nvSpPr>
            <p:spPr>
              <a:xfrm>
                <a:off x="3119841" y="5245355"/>
                <a:ext cx="521297" cy="338554"/>
              </a:xfrm>
              <a:prstGeom prst="rect">
                <a:avLst/>
              </a:prstGeom>
              <a:noFill/>
            </p:spPr>
            <p:txBody>
              <a:bodyPr wrap="none" rtlCol="0">
                <a:spAutoFit/>
              </a:bodyPr>
              <a:lstStyle/>
              <a:p>
                <a:r>
                  <a:rPr lang="es-CO" sz="1600" dirty="0">
                    <a:latin typeface="Consolas" panose="020B0609020204030204" pitchFamily="49" charset="0"/>
                    <a:cs typeface="Consolas" panose="020B0609020204030204" pitchFamily="49" charset="0"/>
                  </a:rPr>
                  <a:t>...</a:t>
                </a:r>
              </a:p>
            </p:txBody>
          </p:sp>
        </p:grpSp>
      </p:grpSp>
      <p:sp>
        <p:nvSpPr>
          <p:cNvPr id="134" name="133 Rectángulo"/>
          <p:cNvSpPr/>
          <p:nvPr/>
        </p:nvSpPr>
        <p:spPr>
          <a:xfrm>
            <a:off x="5900373" y="5017019"/>
            <a:ext cx="296876" cy="338554"/>
          </a:xfrm>
          <a:prstGeom prst="rect">
            <a:avLst/>
          </a:prstGeom>
        </p:spPr>
        <p:txBody>
          <a:bodyPr wrap="none">
            <a:spAutoFit/>
          </a:bodyPr>
          <a:lstStyle/>
          <a:p>
            <a:r>
              <a:rPr lang="es-CO" sz="1600" dirty="0">
                <a:latin typeface="Consolas" panose="020B0609020204030204" pitchFamily="49" charset="0"/>
                <a:cs typeface="Consolas" panose="020B0609020204030204" pitchFamily="49" charset="0"/>
              </a:rPr>
              <a:t>x</a:t>
            </a:r>
            <a:endParaRPr lang="es-CO" dirty="0"/>
          </a:p>
        </p:txBody>
      </p:sp>
      <p:sp>
        <p:nvSpPr>
          <p:cNvPr id="135" name="134 Rectángulo"/>
          <p:cNvSpPr/>
          <p:nvPr/>
        </p:nvSpPr>
        <p:spPr>
          <a:xfrm>
            <a:off x="6207114" y="5071073"/>
            <a:ext cx="511431" cy="23397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6" name="135 Rectángulo"/>
          <p:cNvSpPr/>
          <p:nvPr/>
        </p:nvSpPr>
        <p:spPr>
          <a:xfrm>
            <a:off x="5900373" y="5326537"/>
            <a:ext cx="296876" cy="338554"/>
          </a:xfrm>
          <a:prstGeom prst="rect">
            <a:avLst/>
          </a:prstGeom>
        </p:spPr>
        <p:txBody>
          <a:bodyPr wrap="none">
            <a:spAutoFit/>
          </a:bodyPr>
          <a:lstStyle/>
          <a:p>
            <a:r>
              <a:rPr lang="es-CO" sz="1600" dirty="0">
                <a:latin typeface="Consolas" panose="020B0609020204030204" pitchFamily="49" charset="0"/>
                <a:cs typeface="Consolas" panose="020B0609020204030204" pitchFamily="49" charset="0"/>
              </a:rPr>
              <a:t>y</a:t>
            </a:r>
            <a:endParaRPr lang="es-CO" dirty="0"/>
          </a:p>
        </p:txBody>
      </p:sp>
      <p:sp>
        <p:nvSpPr>
          <p:cNvPr id="137" name="136 Rectángulo"/>
          <p:cNvSpPr/>
          <p:nvPr/>
        </p:nvSpPr>
        <p:spPr>
          <a:xfrm>
            <a:off x="6207114" y="5380591"/>
            <a:ext cx="511431" cy="23397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0" name="139 Rectángulo"/>
          <p:cNvSpPr/>
          <p:nvPr/>
        </p:nvSpPr>
        <p:spPr>
          <a:xfrm>
            <a:off x="5900373" y="5614569"/>
            <a:ext cx="296876" cy="338554"/>
          </a:xfrm>
          <a:prstGeom prst="rect">
            <a:avLst/>
          </a:prstGeom>
        </p:spPr>
        <p:txBody>
          <a:bodyPr wrap="none">
            <a:spAutoFit/>
          </a:bodyPr>
          <a:lstStyle/>
          <a:p>
            <a:r>
              <a:rPr lang="es-CO" sz="1600" dirty="0">
                <a:latin typeface="Consolas" panose="020B0609020204030204" pitchFamily="49" charset="0"/>
                <a:cs typeface="Consolas" panose="020B0609020204030204" pitchFamily="49" charset="0"/>
              </a:rPr>
              <a:t>z</a:t>
            </a:r>
            <a:endParaRPr lang="es-CO" dirty="0"/>
          </a:p>
        </p:txBody>
      </p:sp>
      <p:sp>
        <p:nvSpPr>
          <p:cNvPr id="141" name="140 Rectángulo"/>
          <p:cNvSpPr/>
          <p:nvPr/>
        </p:nvSpPr>
        <p:spPr>
          <a:xfrm>
            <a:off x="6207114" y="5668623"/>
            <a:ext cx="511431" cy="233978"/>
          </a:xfrm>
          <a:prstGeom prst="rect">
            <a:avLst/>
          </a:prstGeom>
          <a:no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42" name="141 Rectángulo"/>
          <p:cNvSpPr/>
          <p:nvPr/>
        </p:nvSpPr>
        <p:spPr>
          <a:xfrm>
            <a:off x="6321973" y="5017019"/>
            <a:ext cx="298480" cy="338554"/>
          </a:xfrm>
          <a:prstGeom prst="rect">
            <a:avLst/>
          </a:prstGeom>
        </p:spPr>
        <p:txBody>
          <a:bodyPr wrap="none">
            <a:spAutoFit/>
          </a:bodyPr>
          <a:lstStyle/>
          <a:p>
            <a:r>
              <a:rPr lang="es-CO" sz="1600" dirty="0"/>
              <a:t>4</a:t>
            </a:r>
          </a:p>
        </p:txBody>
      </p:sp>
      <p:sp>
        <p:nvSpPr>
          <p:cNvPr id="143" name="142 Rectángulo"/>
          <p:cNvSpPr/>
          <p:nvPr/>
        </p:nvSpPr>
        <p:spPr>
          <a:xfrm>
            <a:off x="6260413" y="5305051"/>
            <a:ext cx="367408" cy="338554"/>
          </a:xfrm>
          <a:prstGeom prst="rect">
            <a:avLst/>
          </a:prstGeom>
        </p:spPr>
        <p:txBody>
          <a:bodyPr wrap="none">
            <a:spAutoFit/>
          </a:bodyPr>
          <a:lstStyle/>
          <a:p>
            <a:r>
              <a:rPr lang="es-CO" sz="1600" dirty="0"/>
              <a:t>-6</a:t>
            </a:r>
          </a:p>
        </p:txBody>
      </p:sp>
      <p:sp>
        <p:nvSpPr>
          <p:cNvPr id="144" name="143 Rectángulo"/>
          <p:cNvSpPr/>
          <p:nvPr/>
        </p:nvSpPr>
        <p:spPr>
          <a:xfrm>
            <a:off x="6260413" y="5614569"/>
            <a:ext cx="351378" cy="338554"/>
          </a:xfrm>
          <a:prstGeom prst="rect">
            <a:avLst/>
          </a:prstGeom>
        </p:spPr>
        <p:txBody>
          <a:bodyPr wrap="none">
            <a:spAutoFit/>
          </a:bodyPr>
          <a:lstStyle/>
          <a:p>
            <a:r>
              <a:rPr lang="es-CO" sz="1600" dirty="0">
                <a:solidFill>
                  <a:srgbClr val="FF0000"/>
                </a:solidFill>
              </a:rPr>
              <a:t>-2</a:t>
            </a:r>
          </a:p>
        </p:txBody>
      </p:sp>
      <p:sp>
        <p:nvSpPr>
          <p:cNvPr id="89" name="Title 4">
            <a:extLst>
              <a:ext uri="{FF2B5EF4-FFF2-40B4-BE49-F238E27FC236}">
                <a16:creationId xmlns:a16="http://schemas.microsoft.com/office/drawing/2014/main" id="{DB5C92FC-0D96-42FF-BC94-802405A67B61}"/>
              </a:ext>
            </a:extLst>
          </p:cNvPr>
          <p:cNvSpPr>
            <a:spLocks noGrp="1"/>
          </p:cNvSpPr>
          <p:nvPr>
            <p:ph type="title"/>
          </p:nvPr>
        </p:nvSpPr>
        <p:spPr>
          <a:xfrm>
            <a:off x="96047" y="606088"/>
            <a:ext cx="7886700" cy="780782"/>
          </a:xfrm>
        </p:spPr>
        <p:txBody>
          <a:bodyPr>
            <a:normAutofit/>
          </a:bodyPr>
          <a:lstStyle/>
          <a:p>
            <a:r>
              <a:rPr lang="es-CO" sz="2800" dirty="0"/>
              <a:t>Proceso</a:t>
            </a:r>
            <a:endParaRPr lang="en-US" sz="2800" dirty="0"/>
          </a:p>
        </p:txBody>
      </p:sp>
    </p:spTree>
    <p:extLst>
      <p:ext uri="{BB962C8B-B14F-4D97-AF65-F5344CB8AC3E}">
        <p14:creationId xmlns:p14="http://schemas.microsoft.com/office/powerpoint/2010/main" val="42328650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520" y="332656"/>
            <a:ext cx="8263830" cy="1116540"/>
          </a:xfrm>
        </p:spPr>
        <p:txBody>
          <a:bodyPr/>
          <a:lstStyle/>
          <a:p>
            <a:r>
              <a:rPr lang="es-CO" sz="3200" dirty="0"/>
              <a:t>Método de Polya - Resumen</a:t>
            </a:r>
            <a:endParaRPr lang="en-US" sz="3200" dirty="0"/>
          </a:p>
        </p:txBody>
      </p:sp>
      <p:sp>
        <p:nvSpPr>
          <p:cNvPr id="4" name="Slide Number Placeholder 3"/>
          <p:cNvSpPr>
            <a:spLocks noGrp="1"/>
          </p:cNvSpPr>
          <p:nvPr>
            <p:ph type="sldNum" sz="quarter" idx="12"/>
          </p:nvPr>
        </p:nvSpPr>
        <p:spPr/>
        <p:txBody>
          <a:bodyPr/>
          <a:lstStyle/>
          <a:p>
            <a:fld id="{45F1CE28-A3C7-48DC-84A2-8FB08D6123C5}" type="slidenum">
              <a:rPr lang="en-US" smtClean="0"/>
              <a:pPr/>
              <a:t>27</a:t>
            </a:fld>
            <a:endParaRPr lang="en-US" dirty="0"/>
          </a:p>
        </p:txBody>
      </p:sp>
      <p:graphicFrame>
        <p:nvGraphicFramePr>
          <p:cNvPr id="6" name="13 Diagrama">
            <a:extLst>
              <a:ext uri="{FF2B5EF4-FFF2-40B4-BE49-F238E27FC236}">
                <a16:creationId xmlns:a16="http://schemas.microsoft.com/office/drawing/2014/main" id="{D0B70736-976D-4675-A33E-9F94643ADC43}"/>
              </a:ext>
            </a:extLst>
          </p:cNvPr>
          <p:cNvGraphicFramePr/>
          <p:nvPr/>
        </p:nvGraphicFramePr>
        <p:xfrm>
          <a:off x="3059832" y="1700808"/>
          <a:ext cx="5616624" cy="28882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3">
            <a:extLst>
              <a:ext uri="{FF2B5EF4-FFF2-40B4-BE49-F238E27FC236}">
                <a16:creationId xmlns:a16="http://schemas.microsoft.com/office/drawing/2014/main" id="{9C9BD4AC-3A6A-4FE1-A719-F0D8329520F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7544" y="2089947"/>
            <a:ext cx="2200014" cy="1977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Content Placeholder 1">
            <a:extLst>
              <a:ext uri="{FF2B5EF4-FFF2-40B4-BE49-F238E27FC236}">
                <a16:creationId xmlns:a16="http://schemas.microsoft.com/office/drawing/2014/main" id="{ACCCD547-C86B-4991-8A30-70AB33B6B43F}"/>
              </a:ext>
            </a:extLst>
          </p:cNvPr>
          <p:cNvSpPr>
            <a:spLocks noGrp="1"/>
          </p:cNvSpPr>
          <p:nvPr>
            <p:ph idx="1"/>
          </p:nvPr>
        </p:nvSpPr>
        <p:spPr>
          <a:xfrm>
            <a:off x="375689" y="4969502"/>
            <a:ext cx="8392622" cy="1006362"/>
          </a:xfrm>
        </p:spPr>
        <p:txBody>
          <a:bodyPr>
            <a:normAutofit/>
          </a:bodyPr>
          <a:lstStyle/>
          <a:p>
            <a:pPr marL="0" indent="0">
              <a:buNone/>
            </a:pPr>
            <a:r>
              <a:rPr lang="es-ES" sz="2200" dirty="0"/>
              <a:t>Ahora que tenemos una forma para representar un algoritmo, procedamos a aplicar el método de Polya al diseño de algoritmos.</a:t>
            </a:r>
          </a:p>
        </p:txBody>
      </p:sp>
    </p:spTree>
    <p:extLst>
      <p:ext uri="{BB962C8B-B14F-4D97-AF65-F5344CB8AC3E}">
        <p14:creationId xmlns:p14="http://schemas.microsoft.com/office/powerpoint/2010/main" val="22656953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322487" y="260648"/>
            <a:ext cx="4825577" cy="1116540"/>
          </a:xfrm>
        </p:spPr>
        <p:txBody>
          <a:bodyPr/>
          <a:lstStyle/>
          <a:p>
            <a:r>
              <a:rPr lang="es-CO" sz="3200" dirty="0"/>
              <a:t>Diseño de Algoritmos</a:t>
            </a:r>
          </a:p>
        </p:txBody>
      </p:sp>
      <p:pic>
        <p:nvPicPr>
          <p:cNvPr id="6" name="Imagen 5">
            <a:extLst>
              <a:ext uri="{FF2B5EF4-FFF2-40B4-BE49-F238E27FC236}">
                <a16:creationId xmlns:a16="http://schemas.microsoft.com/office/drawing/2014/main" id="{87BCE632-7BE4-4EDE-9ED0-B93D64D118CE}"/>
              </a:ext>
            </a:extLst>
          </p:cNvPr>
          <p:cNvPicPr>
            <a:picLocks noChangeAspect="1"/>
          </p:cNvPicPr>
          <p:nvPr/>
        </p:nvPicPr>
        <p:blipFill>
          <a:blip r:embed="rId3"/>
          <a:stretch>
            <a:fillRect/>
          </a:stretch>
        </p:blipFill>
        <p:spPr>
          <a:xfrm>
            <a:off x="3219264" y="2734735"/>
            <a:ext cx="2705472" cy="1872208"/>
          </a:xfrm>
          <a:prstGeom prst="rect">
            <a:avLst/>
          </a:prstGeom>
        </p:spPr>
      </p:pic>
      <p:sp>
        <p:nvSpPr>
          <p:cNvPr id="19" name="1 Marcador de contenido">
            <a:extLst>
              <a:ext uri="{FF2B5EF4-FFF2-40B4-BE49-F238E27FC236}">
                <a16:creationId xmlns:a16="http://schemas.microsoft.com/office/drawing/2014/main" id="{934FDD44-A4EB-4C3E-B8ED-D760B67C9486}"/>
              </a:ext>
            </a:extLst>
          </p:cNvPr>
          <p:cNvSpPr txBox="1">
            <a:spLocks/>
          </p:cNvSpPr>
          <p:nvPr/>
        </p:nvSpPr>
        <p:spPr>
          <a:xfrm>
            <a:off x="395535" y="1244857"/>
            <a:ext cx="8119813" cy="69426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sz="2200" b="1" dirty="0">
                <a:solidFill>
                  <a:srgbClr val="FF0000"/>
                </a:solidFill>
              </a:rPr>
              <a:t>Ejemplo 1</a:t>
            </a:r>
            <a:r>
              <a:rPr lang="es-ES" sz="2200" dirty="0">
                <a:solidFill>
                  <a:srgbClr val="FF0000"/>
                </a:solidFill>
              </a:rPr>
              <a:t>: </a:t>
            </a:r>
            <a:r>
              <a:rPr lang="es-ES" sz="2200" dirty="0"/>
              <a:t>Realice un programa que permita calcular al área de un triangulo</a:t>
            </a:r>
            <a:endParaRPr lang="es-ES" sz="2200" b="1" dirty="0"/>
          </a:p>
        </p:txBody>
      </p:sp>
    </p:spTree>
    <p:extLst>
      <p:ext uri="{BB962C8B-B14F-4D97-AF65-F5344CB8AC3E}">
        <p14:creationId xmlns:p14="http://schemas.microsoft.com/office/powerpoint/2010/main" val="41023937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51520" y="332656"/>
            <a:ext cx="8263830" cy="1116540"/>
          </a:xfrm>
        </p:spPr>
        <p:txBody>
          <a:bodyPr/>
          <a:lstStyle/>
          <a:p>
            <a:r>
              <a:rPr lang="es-CO" sz="3200" dirty="0"/>
              <a:t>Método de Polya - Resumen</a:t>
            </a:r>
            <a:endParaRPr lang="en-US" sz="3200" dirty="0"/>
          </a:p>
        </p:txBody>
      </p:sp>
      <p:graphicFrame>
        <p:nvGraphicFramePr>
          <p:cNvPr id="6" name="13 Diagrama">
            <a:extLst>
              <a:ext uri="{FF2B5EF4-FFF2-40B4-BE49-F238E27FC236}">
                <a16:creationId xmlns:a16="http://schemas.microsoft.com/office/drawing/2014/main" id="{D0B70736-976D-4675-A33E-9F94643ADC43}"/>
              </a:ext>
            </a:extLst>
          </p:cNvPr>
          <p:cNvGraphicFramePr/>
          <p:nvPr>
            <p:extLst>
              <p:ext uri="{D42A27DB-BD31-4B8C-83A1-F6EECF244321}">
                <p14:modId xmlns:p14="http://schemas.microsoft.com/office/powerpoint/2010/main" val="3517317034"/>
              </p:ext>
            </p:extLst>
          </p:nvPr>
        </p:nvGraphicFramePr>
        <p:xfrm>
          <a:off x="1623950" y="1459744"/>
          <a:ext cx="3048135" cy="797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5" name="1 Marcador de contenido">
            <a:extLst>
              <a:ext uri="{FF2B5EF4-FFF2-40B4-BE49-F238E27FC236}">
                <a16:creationId xmlns:a16="http://schemas.microsoft.com/office/drawing/2014/main" id="{D19472FD-B798-4A50-BFA2-76C89844C263}"/>
              </a:ext>
            </a:extLst>
          </p:cNvPr>
          <p:cNvSpPr>
            <a:spLocks noGrp="1"/>
          </p:cNvSpPr>
          <p:nvPr>
            <p:ph idx="1"/>
          </p:nvPr>
        </p:nvSpPr>
        <p:spPr>
          <a:xfrm>
            <a:off x="367828" y="2817121"/>
            <a:ext cx="4064125" cy="3335307"/>
          </a:xfrm>
        </p:spPr>
        <p:txBody>
          <a:bodyPr>
            <a:normAutofit lnSpcReduction="10000"/>
          </a:bodyPr>
          <a:lstStyle/>
          <a:p>
            <a:pPr marL="0" indent="-57150">
              <a:buNone/>
            </a:pPr>
            <a:r>
              <a:rPr lang="es-ES" sz="2000" b="1" dirty="0"/>
              <a:t>Análisis:</a:t>
            </a:r>
            <a:r>
              <a:rPr lang="es-ES" sz="1800" b="1" dirty="0"/>
              <a:t> </a:t>
            </a:r>
          </a:p>
          <a:p>
            <a:r>
              <a:rPr lang="es-ES" sz="1800" dirty="0">
                <a:solidFill>
                  <a:schemeClr val="accent5"/>
                </a:solidFill>
              </a:rPr>
              <a:t>¿Cuál es el objetivo buscado?</a:t>
            </a:r>
          </a:p>
          <a:p>
            <a:pPr marL="400050" lvl="1" indent="0">
              <a:buNone/>
            </a:pPr>
            <a:r>
              <a:rPr lang="es-ES" sz="1800" dirty="0"/>
              <a:t>Calcular el área de un triángulo</a:t>
            </a:r>
          </a:p>
          <a:p>
            <a:r>
              <a:rPr lang="es-ES" sz="1800" dirty="0">
                <a:solidFill>
                  <a:schemeClr val="accent5"/>
                </a:solidFill>
              </a:rPr>
              <a:t>¿Cuáles son los datos de entrada?</a:t>
            </a:r>
          </a:p>
          <a:p>
            <a:pPr marL="400050" lvl="1" indent="0">
              <a:buNone/>
            </a:pPr>
            <a:r>
              <a:rPr lang="es-ES" sz="1800" dirty="0"/>
              <a:t>Base y altura</a:t>
            </a:r>
          </a:p>
          <a:p>
            <a:r>
              <a:rPr lang="es-ES" sz="1800" dirty="0">
                <a:solidFill>
                  <a:schemeClr val="accent5"/>
                </a:solidFill>
              </a:rPr>
              <a:t>¿Cuáles son los datos de salida?</a:t>
            </a:r>
          </a:p>
          <a:p>
            <a:pPr marL="400050" lvl="1" indent="0">
              <a:buNone/>
            </a:pPr>
            <a:r>
              <a:rPr lang="es-ES" sz="1800" dirty="0"/>
              <a:t>Área de un triángulo</a:t>
            </a:r>
          </a:p>
          <a:p>
            <a:r>
              <a:rPr lang="es-ES" sz="1800" dirty="0">
                <a:solidFill>
                  <a:schemeClr val="accent5"/>
                </a:solidFill>
              </a:rPr>
              <a:t>¿Qué cálculos/procesos deben llevarse a cabo?</a:t>
            </a:r>
          </a:p>
          <a:p>
            <a:pPr marL="400050" lvl="1" indent="0">
              <a:buNone/>
            </a:pPr>
            <a:r>
              <a:rPr lang="es-ES" sz="1800" dirty="0"/>
              <a:t>Multiplicar la base por la altura y dividir entre 2</a:t>
            </a:r>
            <a:endParaRPr lang="es-CO" sz="1800" dirty="0"/>
          </a:p>
        </p:txBody>
      </p:sp>
      <p:pic>
        <p:nvPicPr>
          <p:cNvPr id="26" name="Imagen 25">
            <a:extLst>
              <a:ext uri="{FF2B5EF4-FFF2-40B4-BE49-F238E27FC236}">
                <a16:creationId xmlns:a16="http://schemas.microsoft.com/office/drawing/2014/main" id="{7142311B-9F58-48A1-A59F-5FAFB2C140F4}"/>
              </a:ext>
            </a:extLst>
          </p:cNvPr>
          <p:cNvPicPr>
            <a:picLocks noChangeAspect="1"/>
          </p:cNvPicPr>
          <p:nvPr/>
        </p:nvPicPr>
        <p:blipFill>
          <a:blip r:embed="rId7"/>
          <a:stretch>
            <a:fillRect/>
          </a:stretch>
        </p:blipFill>
        <p:spPr>
          <a:xfrm>
            <a:off x="5724959" y="1309626"/>
            <a:ext cx="1795091" cy="1242217"/>
          </a:xfrm>
          <a:prstGeom prst="rect">
            <a:avLst/>
          </a:prstGeom>
        </p:spPr>
      </p:pic>
      <p:grpSp>
        <p:nvGrpSpPr>
          <p:cNvPr id="27" name="Grupo 26">
            <a:extLst>
              <a:ext uri="{FF2B5EF4-FFF2-40B4-BE49-F238E27FC236}">
                <a16:creationId xmlns:a16="http://schemas.microsoft.com/office/drawing/2014/main" id="{5BA981A0-7234-4710-8F11-04056FA3683D}"/>
              </a:ext>
            </a:extLst>
          </p:cNvPr>
          <p:cNvGrpSpPr/>
          <p:nvPr/>
        </p:nvGrpSpPr>
        <p:grpSpPr>
          <a:xfrm>
            <a:off x="4965352" y="2852936"/>
            <a:ext cx="3550172" cy="3466736"/>
            <a:chOff x="5220072" y="2564904"/>
            <a:chExt cx="3550172" cy="3466736"/>
          </a:xfrm>
        </p:grpSpPr>
        <p:sp>
          <p:nvSpPr>
            <p:cNvPr id="28" name="6 Rectángulo">
              <a:extLst>
                <a:ext uri="{FF2B5EF4-FFF2-40B4-BE49-F238E27FC236}">
                  <a16:creationId xmlns:a16="http://schemas.microsoft.com/office/drawing/2014/main" id="{F65FD810-8567-4BF0-AB39-5ECBB67A346B}"/>
                </a:ext>
              </a:extLst>
            </p:cNvPr>
            <p:cNvSpPr/>
            <p:nvPr/>
          </p:nvSpPr>
          <p:spPr>
            <a:xfrm>
              <a:off x="5220072" y="3364640"/>
              <a:ext cx="1447800" cy="533400"/>
            </a:xfrm>
            <a:prstGeom prst="rect">
              <a:avLst/>
            </a:prstGeom>
            <a:noFill/>
            <a:ln>
              <a:solidFill>
                <a:schemeClr val="accent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lumMod val="50000"/>
                      <a:lumOff val="50000"/>
                    </a:schemeClr>
                  </a:solidFill>
                  <a:latin typeface="Consolas" panose="020B0609020204030204" pitchFamily="49" charset="0"/>
                </a:rPr>
                <a:t>Inputs</a:t>
              </a:r>
            </a:p>
          </p:txBody>
        </p:sp>
        <p:sp>
          <p:nvSpPr>
            <p:cNvPr id="29" name="7 Rectángulo">
              <a:extLst>
                <a:ext uri="{FF2B5EF4-FFF2-40B4-BE49-F238E27FC236}">
                  <a16:creationId xmlns:a16="http://schemas.microsoft.com/office/drawing/2014/main" id="{07520CB9-8FBF-4924-BA1D-1ABA8EA4C58E}"/>
                </a:ext>
              </a:extLst>
            </p:cNvPr>
            <p:cNvSpPr/>
            <p:nvPr/>
          </p:nvSpPr>
          <p:spPr>
            <a:xfrm>
              <a:off x="5220072" y="4279040"/>
              <a:ext cx="1447800" cy="838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latin typeface="Consolas" panose="020B0609020204030204" pitchFamily="49" charset="0"/>
                </a:rPr>
                <a:t>Process</a:t>
              </a:r>
            </a:p>
          </p:txBody>
        </p:sp>
        <p:sp>
          <p:nvSpPr>
            <p:cNvPr id="30" name="8 Rectángulo">
              <a:extLst>
                <a:ext uri="{FF2B5EF4-FFF2-40B4-BE49-F238E27FC236}">
                  <a16:creationId xmlns:a16="http://schemas.microsoft.com/office/drawing/2014/main" id="{90FCD2CE-7032-4552-BF84-3DAE7E5BB6F9}"/>
                </a:ext>
              </a:extLst>
            </p:cNvPr>
            <p:cNvSpPr/>
            <p:nvPr/>
          </p:nvSpPr>
          <p:spPr>
            <a:xfrm>
              <a:off x="5220072" y="5498240"/>
              <a:ext cx="1447800" cy="533400"/>
            </a:xfrm>
            <a:prstGeom prst="rect">
              <a:avLst/>
            </a:prstGeom>
            <a:noFill/>
            <a:ln>
              <a:solidFill>
                <a:schemeClr val="accent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lumMod val="50000"/>
                      <a:lumOff val="50000"/>
                    </a:schemeClr>
                  </a:solidFill>
                  <a:latin typeface="Consolas" panose="020B0609020204030204" pitchFamily="49" charset="0"/>
                </a:rPr>
                <a:t>Outputs</a:t>
              </a:r>
            </a:p>
          </p:txBody>
        </p:sp>
        <p:sp>
          <p:nvSpPr>
            <p:cNvPr id="31" name="9 Flecha derecha">
              <a:extLst>
                <a:ext uri="{FF2B5EF4-FFF2-40B4-BE49-F238E27FC236}">
                  <a16:creationId xmlns:a16="http://schemas.microsoft.com/office/drawing/2014/main" id="{3121F2A9-C963-4767-B10D-61F0EE1687E8}"/>
                </a:ext>
              </a:extLst>
            </p:cNvPr>
            <p:cNvSpPr/>
            <p:nvPr/>
          </p:nvSpPr>
          <p:spPr>
            <a:xfrm rot="5400000">
              <a:off x="5753472" y="3974240"/>
              <a:ext cx="381000" cy="22860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2" name="10 Flecha derecha">
              <a:extLst>
                <a:ext uri="{FF2B5EF4-FFF2-40B4-BE49-F238E27FC236}">
                  <a16:creationId xmlns:a16="http://schemas.microsoft.com/office/drawing/2014/main" id="{5143E586-ECAC-4E4E-89FA-5C0768728157}"/>
                </a:ext>
              </a:extLst>
            </p:cNvPr>
            <p:cNvSpPr/>
            <p:nvPr/>
          </p:nvSpPr>
          <p:spPr>
            <a:xfrm rot="5400000">
              <a:off x="5753472" y="5193440"/>
              <a:ext cx="381000" cy="22860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3" name="11 Rectángulo">
              <a:extLst>
                <a:ext uri="{FF2B5EF4-FFF2-40B4-BE49-F238E27FC236}">
                  <a16:creationId xmlns:a16="http://schemas.microsoft.com/office/drawing/2014/main" id="{D8B09513-E60E-4B4B-9D0C-C24486F9C036}"/>
                </a:ext>
              </a:extLst>
            </p:cNvPr>
            <p:cNvSpPr/>
            <p:nvPr/>
          </p:nvSpPr>
          <p:spPr>
            <a:xfrm>
              <a:off x="5397956" y="2581949"/>
              <a:ext cx="524543"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solidFill>
                    <a:schemeClr val="tx1"/>
                  </a:solidFill>
                  <a:latin typeface="Consolas" panose="020B0609020204030204" pitchFamily="49" charset="0"/>
                </a:rPr>
                <a:t>base</a:t>
              </a:r>
            </a:p>
          </p:txBody>
        </p:sp>
        <p:cxnSp>
          <p:nvCxnSpPr>
            <p:cNvPr id="34" name="13 Conector recto de flecha">
              <a:extLst>
                <a:ext uri="{FF2B5EF4-FFF2-40B4-BE49-F238E27FC236}">
                  <a16:creationId xmlns:a16="http://schemas.microsoft.com/office/drawing/2014/main" id="{ED515C83-E1F9-466A-A340-2F350F21A1D6}"/>
                </a:ext>
              </a:extLst>
            </p:cNvPr>
            <p:cNvCxnSpPr/>
            <p:nvPr/>
          </p:nvCxnSpPr>
          <p:spPr>
            <a:xfrm>
              <a:off x="6193628" y="2983640"/>
              <a:ext cx="0" cy="3048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15 Conector recto de flecha">
              <a:extLst>
                <a:ext uri="{FF2B5EF4-FFF2-40B4-BE49-F238E27FC236}">
                  <a16:creationId xmlns:a16="http://schemas.microsoft.com/office/drawing/2014/main" id="{8DD96ED8-C704-4CE8-8C23-29FB1D606B6D}"/>
                </a:ext>
              </a:extLst>
            </p:cNvPr>
            <p:cNvCxnSpPr/>
            <p:nvPr/>
          </p:nvCxnSpPr>
          <p:spPr>
            <a:xfrm>
              <a:off x="5660228" y="2983640"/>
              <a:ext cx="0" cy="3048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6" name="16 Rectángulo">
              <a:extLst>
                <a:ext uri="{FF2B5EF4-FFF2-40B4-BE49-F238E27FC236}">
                  <a16:creationId xmlns:a16="http://schemas.microsoft.com/office/drawing/2014/main" id="{D578FAA9-984C-4D81-BF4F-511EFD417473}"/>
                </a:ext>
              </a:extLst>
            </p:cNvPr>
            <p:cNvSpPr/>
            <p:nvPr/>
          </p:nvSpPr>
          <p:spPr>
            <a:xfrm>
              <a:off x="7069360" y="5631590"/>
              <a:ext cx="554360" cy="266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solidFill>
                    <a:schemeClr val="tx1"/>
                  </a:solidFill>
                  <a:latin typeface="Consolas" panose="020B0609020204030204" pitchFamily="49" charset="0"/>
                </a:rPr>
                <a:t>area</a:t>
              </a:r>
            </a:p>
          </p:txBody>
        </p:sp>
        <p:cxnSp>
          <p:nvCxnSpPr>
            <p:cNvPr id="37" name="17 Conector recto de flecha">
              <a:extLst>
                <a:ext uri="{FF2B5EF4-FFF2-40B4-BE49-F238E27FC236}">
                  <a16:creationId xmlns:a16="http://schemas.microsoft.com/office/drawing/2014/main" id="{DC0FBCB8-EF5C-4236-AED1-8141061774D5}"/>
                </a:ext>
              </a:extLst>
            </p:cNvPr>
            <p:cNvCxnSpPr/>
            <p:nvPr/>
          </p:nvCxnSpPr>
          <p:spPr>
            <a:xfrm>
              <a:off x="6716216" y="5764940"/>
              <a:ext cx="3048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8" name="11 Rectángulo">
              <a:extLst>
                <a:ext uri="{FF2B5EF4-FFF2-40B4-BE49-F238E27FC236}">
                  <a16:creationId xmlns:a16="http://schemas.microsoft.com/office/drawing/2014/main" id="{945E0B56-B06F-4954-B263-A9954E0E51DD}"/>
                </a:ext>
              </a:extLst>
            </p:cNvPr>
            <p:cNvSpPr/>
            <p:nvPr/>
          </p:nvSpPr>
          <p:spPr>
            <a:xfrm>
              <a:off x="5804219" y="2564904"/>
              <a:ext cx="853289" cy="3388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solidFill>
                    <a:schemeClr val="tx1"/>
                  </a:solidFill>
                  <a:latin typeface="Consolas" panose="020B0609020204030204" pitchFamily="49" charset="0"/>
                </a:rPr>
                <a:t>altura</a:t>
              </a:r>
            </a:p>
          </p:txBody>
        </p:sp>
        <p:sp>
          <p:nvSpPr>
            <p:cNvPr id="39" name="11 Rectángulo">
              <a:extLst>
                <a:ext uri="{FF2B5EF4-FFF2-40B4-BE49-F238E27FC236}">
                  <a16:creationId xmlns:a16="http://schemas.microsoft.com/office/drawing/2014/main" id="{F96EDC81-181E-4E8E-9BC2-D91971116979}"/>
                </a:ext>
              </a:extLst>
            </p:cNvPr>
            <p:cNvSpPr/>
            <p:nvPr/>
          </p:nvSpPr>
          <p:spPr>
            <a:xfrm>
              <a:off x="6696398" y="4431440"/>
              <a:ext cx="2073846"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O" sz="1200" dirty="0">
                  <a:solidFill>
                    <a:schemeClr val="tx1"/>
                  </a:solidFill>
                  <a:latin typeface="Consolas" panose="020B0609020204030204" pitchFamily="49" charset="0"/>
                </a:rPr>
                <a:t>area = (base*altura)/2</a:t>
              </a:r>
            </a:p>
          </p:txBody>
        </p:sp>
      </p:grpSp>
      <p:pic>
        <p:nvPicPr>
          <p:cNvPr id="41" name="Picture 3">
            <a:extLst>
              <a:ext uri="{FF2B5EF4-FFF2-40B4-BE49-F238E27FC236}">
                <a16:creationId xmlns:a16="http://schemas.microsoft.com/office/drawing/2014/main" id="{A72210B3-BFEF-4E64-8802-A75E3B30D52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138" y="1392778"/>
            <a:ext cx="989195" cy="8890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74168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88640"/>
            <a:ext cx="8496944" cy="1116540"/>
          </a:xfrm>
        </p:spPr>
        <p:txBody>
          <a:bodyPr>
            <a:normAutofit/>
          </a:bodyPr>
          <a:lstStyle/>
          <a:p>
            <a:r>
              <a:rPr lang="es-CO" sz="2800" dirty="0"/>
              <a:t>Representación de algoritmos como diagramas de flujo</a:t>
            </a:r>
          </a:p>
        </p:txBody>
      </p:sp>
      <p:grpSp>
        <p:nvGrpSpPr>
          <p:cNvPr id="54" name="53 Grupo"/>
          <p:cNvGrpSpPr/>
          <p:nvPr/>
        </p:nvGrpSpPr>
        <p:grpSpPr>
          <a:xfrm>
            <a:off x="5076056" y="3099793"/>
            <a:ext cx="2575938" cy="3048000"/>
            <a:chOff x="5569827" y="1676400"/>
            <a:chExt cx="2098914" cy="2819400"/>
          </a:xfrm>
        </p:grpSpPr>
        <p:sp>
          <p:nvSpPr>
            <p:cNvPr id="8" name="Flowchart: Terminator 43"/>
            <p:cNvSpPr/>
            <p:nvPr/>
          </p:nvSpPr>
          <p:spPr>
            <a:xfrm>
              <a:off x="6096000" y="41910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entury Gothic" panose="020B0502020202020204" pitchFamily="34" charset="0"/>
                </a:rPr>
                <a:t>Finish</a:t>
              </a:r>
              <a:endParaRPr lang="en-US" sz="1400" dirty="0">
                <a:latin typeface="Century Gothic" panose="020B0502020202020204" pitchFamily="34" charset="0"/>
              </a:endParaRPr>
            </a:p>
          </p:txBody>
        </p:sp>
        <p:sp>
          <p:nvSpPr>
            <p:cNvPr id="9" name="Flowchart: Terminator 44"/>
            <p:cNvSpPr/>
            <p:nvPr/>
          </p:nvSpPr>
          <p:spPr>
            <a:xfrm>
              <a:off x="6096000" y="16764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onsolas" panose="020B0609020204030204" pitchFamily="49" charset="0"/>
                </a:rPr>
                <a:t>Start</a:t>
              </a:r>
              <a:endParaRPr lang="en-US" sz="1400" dirty="0">
                <a:latin typeface="Consolas" panose="020B0609020204030204" pitchFamily="49" charset="0"/>
              </a:endParaRPr>
            </a:p>
          </p:txBody>
        </p:sp>
        <p:cxnSp>
          <p:nvCxnSpPr>
            <p:cNvPr id="10" name="Straight Arrow Connector 45"/>
            <p:cNvCxnSpPr>
              <a:stCxn id="9" idx="2"/>
              <a:endCxn id="20" idx="1"/>
            </p:cNvCxnSpPr>
            <p:nvPr/>
          </p:nvCxnSpPr>
          <p:spPr>
            <a:xfrm flipH="1">
              <a:off x="6625949" y="1981200"/>
              <a:ext cx="3451"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48"/>
            <p:cNvCxnSpPr>
              <a:cxnSpLocks/>
              <a:stCxn id="44" idx="2"/>
              <a:endCxn id="16" idx="1"/>
            </p:cNvCxnSpPr>
            <p:nvPr/>
          </p:nvCxnSpPr>
          <p:spPr>
            <a:xfrm>
              <a:off x="6619284" y="3276600"/>
              <a:ext cx="10116" cy="3048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Flowchart: Data 52"/>
            <p:cNvSpPr/>
            <p:nvPr/>
          </p:nvSpPr>
          <p:spPr>
            <a:xfrm>
              <a:off x="5867400" y="3581400"/>
              <a:ext cx="1524000"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Print </a:t>
              </a:r>
              <a:r>
                <a:rPr lang="en-US" sz="1200" b="1" dirty="0">
                  <a:latin typeface="Century Gothic" panose="020B0502020202020204" pitchFamily="34" charset="0"/>
                </a:rPr>
                <a:t>area</a:t>
              </a:r>
            </a:p>
          </p:txBody>
        </p:sp>
        <p:cxnSp>
          <p:nvCxnSpPr>
            <p:cNvPr id="17" name="Straight Arrow Connector 53"/>
            <p:cNvCxnSpPr>
              <a:stCxn id="16" idx="4"/>
              <a:endCxn id="8" idx="0"/>
            </p:cNvCxnSpPr>
            <p:nvPr/>
          </p:nvCxnSpPr>
          <p:spPr>
            <a:xfrm>
              <a:off x="6629400" y="3962400"/>
              <a:ext cx="0"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Flowchart: Data 68"/>
            <p:cNvSpPr/>
            <p:nvPr/>
          </p:nvSpPr>
          <p:spPr>
            <a:xfrm>
              <a:off x="5687178" y="2209800"/>
              <a:ext cx="1877541" cy="4572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Read </a:t>
              </a:r>
              <a:r>
                <a:rPr lang="en-US" sz="1200" b="1" dirty="0">
                  <a:latin typeface="Century Gothic" panose="020B0502020202020204" pitchFamily="34" charset="0"/>
                </a:rPr>
                <a:t>base</a:t>
              </a:r>
              <a:br>
                <a:rPr lang="en-US" sz="1200" b="1" dirty="0">
                  <a:latin typeface="Century Gothic" panose="020B0502020202020204" pitchFamily="34" charset="0"/>
                </a:rPr>
              </a:br>
              <a:r>
                <a:rPr lang="en-US" sz="1200" dirty="0">
                  <a:latin typeface="Century Gothic" panose="020B0502020202020204" pitchFamily="34" charset="0"/>
                </a:rPr>
                <a:t>Read</a:t>
              </a:r>
              <a:r>
                <a:rPr lang="en-US" sz="1200" b="1" dirty="0">
                  <a:latin typeface="Century Gothic" panose="020B0502020202020204" pitchFamily="34" charset="0"/>
                </a:rPr>
                <a:t> height</a:t>
              </a:r>
            </a:p>
          </p:txBody>
        </p:sp>
        <p:cxnSp>
          <p:nvCxnSpPr>
            <p:cNvPr id="26" name="Straight Arrow Connector 47"/>
            <p:cNvCxnSpPr>
              <a:cxnSpLocks/>
              <a:stCxn id="20" idx="4"/>
              <a:endCxn id="44" idx="0"/>
            </p:cNvCxnSpPr>
            <p:nvPr/>
          </p:nvCxnSpPr>
          <p:spPr>
            <a:xfrm flipH="1">
              <a:off x="6619284" y="2667000"/>
              <a:ext cx="6665"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Flowchart: Process 42"/>
            <p:cNvSpPr/>
            <p:nvPr/>
          </p:nvSpPr>
          <p:spPr>
            <a:xfrm>
              <a:off x="5569827" y="2895600"/>
              <a:ext cx="2098914" cy="3810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sym typeface="Wingdings" pitchFamily="2" charset="2"/>
                </a:rPr>
                <a:t>area  (base</a:t>
              </a:r>
              <a:r>
                <a:rPr lang="en-US" sz="1200" dirty="0">
                  <a:latin typeface="Century Gothic" panose="020B0502020202020204" pitchFamily="34" charset="0"/>
                </a:rPr>
                <a:t> * height)/2</a:t>
              </a:r>
            </a:p>
          </p:txBody>
        </p:sp>
      </p:grpSp>
      <p:sp>
        <p:nvSpPr>
          <p:cNvPr id="21" name="5 CuadroTexto"/>
          <p:cNvSpPr txBox="1"/>
          <p:nvPr/>
        </p:nvSpPr>
        <p:spPr>
          <a:xfrm>
            <a:off x="467478" y="3203272"/>
            <a:ext cx="4038600" cy="3046988"/>
          </a:xfrm>
          <a:prstGeom prst="rect">
            <a:avLst/>
          </a:prstGeom>
          <a:noFill/>
        </p:spPr>
        <p:txBody>
          <a:bodyPr wrap="square" rtlCol="0">
            <a:spAutoFit/>
          </a:bodyPr>
          <a:lstStyle/>
          <a:p>
            <a:pPr marL="342900" indent="-342900">
              <a:buFont typeface="Arial" panose="020B0604020202020204" pitchFamily="34" charset="0"/>
              <a:buChar char="•"/>
            </a:pPr>
            <a:r>
              <a:rPr lang="es-CO" sz="2000" dirty="0">
                <a:solidFill>
                  <a:schemeClr val="accent5"/>
                </a:solidFill>
              </a:rPr>
              <a:t>Datos de entrada: </a:t>
            </a:r>
            <a:r>
              <a:rPr lang="es-CO" sz="2000" dirty="0"/>
              <a:t>longitud de los lados</a:t>
            </a:r>
          </a:p>
          <a:p>
            <a:pPr marL="342900" indent="-342900">
              <a:buFont typeface="Arial" panose="020B0604020202020204" pitchFamily="34" charset="0"/>
              <a:buChar char="•"/>
            </a:pPr>
            <a:r>
              <a:rPr lang="es-CO" sz="2000" dirty="0">
                <a:solidFill>
                  <a:schemeClr val="accent5"/>
                </a:solidFill>
              </a:rPr>
              <a:t>Datos de salida: </a:t>
            </a:r>
            <a:r>
              <a:rPr lang="es-CO" sz="2000" dirty="0"/>
              <a:t>área del rectángulo</a:t>
            </a:r>
          </a:p>
          <a:p>
            <a:pPr marL="342900" indent="-342900">
              <a:buFont typeface="Arial" panose="020B0604020202020204" pitchFamily="34" charset="0"/>
              <a:buChar char="•"/>
            </a:pPr>
            <a:r>
              <a:rPr lang="es-CO" sz="2000" dirty="0">
                <a:solidFill>
                  <a:schemeClr val="accent5"/>
                </a:solidFill>
              </a:rPr>
              <a:t>Definición de variables:</a:t>
            </a:r>
          </a:p>
          <a:p>
            <a:pPr marL="800100" lvl="1" indent="-342900">
              <a:buFont typeface="Arial" pitchFamily="34" charset="0"/>
              <a:buChar char="•"/>
            </a:pPr>
            <a:r>
              <a:rPr lang="es-CO" b="1" i="1" dirty="0"/>
              <a:t>base</a:t>
            </a:r>
            <a:r>
              <a:rPr lang="es-CO" dirty="0"/>
              <a:t>: base (Real)</a:t>
            </a:r>
          </a:p>
          <a:p>
            <a:pPr marL="800100" lvl="1" indent="-342900">
              <a:buFont typeface="Arial" pitchFamily="34" charset="0"/>
              <a:buChar char="•"/>
            </a:pPr>
            <a:r>
              <a:rPr lang="es-CO" b="1" i="1" dirty="0"/>
              <a:t>height</a:t>
            </a:r>
            <a:r>
              <a:rPr lang="es-CO" dirty="0"/>
              <a:t>: alto (Real)</a:t>
            </a:r>
          </a:p>
          <a:p>
            <a:pPr marL="800100" lvl="1" indent="-342900">
              <a:buFont typeface="Arial" pitchFamily="34" charset="0"/>
              <a:buChar char="•"/>
            </a:pPr>
            <a:r>
              <a:rPr lang="es-CO" b="1" i="1" dirty="0"/>
              <a:t>area</a:t>
            </a:r>
            <a:r>
              <a:rPr lang="es-CO" dirty="0"/>
              <a:t>: área (Real)</a:t>
            </a:r>
          </a:p>
          <a:p>
            <a:pPr marL="342900" indent="-342900">
              <a:buFont typeface="Arial" panose="020B0604020202020204" pitchFamily="34" charset="0"/>
              <a:buChar char="•"/>
            </a:pPr>
            <a:r>
              <a:rPr lang="es-CO" sz="2000" dirty="0">
                <a:solidFill>
                  <a:schemeClr val="accent5"/>
                </a:solidFill>
              </a:rPr>
              <a:t>Proceso:</a:t>
            </a:r>
          </a:p>
          <a:p>
            <a:pPr marL="800100" lvl="1" indent="-342900">
              <a:buFont typeface="Arial" panose="020B0604020202020204" pitchFamily="34" charset="0"/>
              <a:buChar char="•"/>
            </a:pPr>
            <a:r>
              <a:rPr lang="es-CO" b="1" i="1" dirty="0"/>
              <a:t>area = (base*altura)/2</a:t>
            </a:r>
            <a:endParaRPr lang="es-CO" dirty="0"/>
          </a:p>
        </p:txBody>
      </p:sp>
      <p:pic>
        <p:nvPicPr>
          <p:cNvPr id="23" name="Imagen 22">
            <a:extLst>
              <a:ext uri="{FF2B5EF4-FFF2-40B4-BE49-F238E27FC236}">
                <a16:creationId xmlns:a16="http://schemas.microsoft.com/office/drawing/2014/main" id="{2451A4C2-3E5C-4507-A630-359F2940FD38}"/>
              </a:ext>
            </a:extLst>
          </p:cNvPr>
          <p:cNvPicPr>
            <a:picLocks noChangeAspect="1"/>
          </p:cNvPicPr>
          <p:nvPr/>
        </p:nvPicPr>
        <p:blipFill>
          <a:blip r:embed="rId2"/>
          <a:stretch>
            <a:fillRect/>
          </a:stretch>
        </p:blipFill>
        <p:spPr>
          <a:xfrm>
            <a:off x="5538254" y="1401225"/>
            <a:ext cx="1795091" cy="1242217"/>
          </a:xfrm>
          <a:prstGeom prst="rect">
            <a:avLst/>
          </a:prstGeom>
        </p:spPr>
      </p:pic>
      <p:graphicFrame>
        <p:nvGraphicFramePr>
          <p:cNvPr id="29" name="13 Diagrama">
            <a:extLst>
              <a:ext uri="{FF2B5EF4-FFF2-40B4-BE49-F238E27FC236}">
                <a16:creationId xmlns:a16="http://schemas.microsoft.com/office/drawing/2014/main" id="{F353B2FA-8F8E-4CC4-8721-3D6BC06D0654}"/>
              </a:ext>
            </a:extLst>
          </p:cNvPr>
          <p:cNvGraphicFramePr/>
          <p:nvPr>
            <p:extLst>
              <p:ext uri="{D42A27DB-BD31-4B8C-83A1-F6EECF244321}">
                <p14:modId xmlns:p14="http://schemas.microsoft.com/office/powerpoint/2010/main" val="1825799489"/>
              </p:ext>
            </p:extLst>
          </p:nvPr>
        </p:nvGraphicFramePr>
        <p:xfrm>
          <a:off x="1674032" y="1387781"/>
          <a:ext cx="3048136" cy="14271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0" name="Picture 3">
            <a:extLst>
              <a:ext uri="{FF2B5EF4-FFF2-40B4-BE49-F238E27FC236}">
                <a16:creationId xmlns:a16="http://schemas.microsoft.com/office/drawing/2014/main" id="{E5B87A46-7AD4-4470-A5BC-349FB022AC5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552" y="1555229"/>
            <a:ext cx="989195" cy="8890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616687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88640"/>
            <a:ext cx="8496944" cy="1116540"/>
          </a:xfrm>
        </p:spPr>
        <p:txBody>
          <a:bodyPr>
            <a:normAutofit/>
          </a:bodyPr>
          <a:lstStyle/>
          <a:p>
            <a:r>
              <a:rPr lang="es-CO" sz="2800" dirty="0"/>
              <a:t>Prueba de escritorio</a:t>
            </a:r>
          </a:p>
        </p:txBody>
      </p:sp>
      <p:sp>
        <p:nvSpPr>
          <p:cNvPr id="19" name="1 Marcador de contenido">
            <a:extLst>
              <a:ext uri="{FF2B5EF4-FFF2-40B4-BE49-F238E27FC236}">
                <a16:creationId xmlns:a16="http://schemas.microsoft.com/office/drawing/2014/main" id="{FE999F40-6EC9-4378-9BC0-399B6244E19D}"/>
              </a:ext>
            </a:extLst>
          </p:cNvPr>
          <p:cNvSpPr txBox="1">
            <a:spLocks/>
          </p:cNvSpPr>
          <p:nvPr/>
        </p:nvSpPr>
        <p:spPr>
          <a:xfrm>
            <a:off x="179512" y="1603342"/>
            <a:ext cx="5752460" cy="207925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2000" dirty="0"/>
              <a:t>Es importante porque:</a:t>
            </a:r>
          </a:p>
          <a:p>
            <a:pPr lvl="1"/>
            <a:r>
              <a:rPr lang="es-MX" sz="1800" dirty="0"/>
              <a:t>Permite verificar la lógica del algoritmo antes de traducirlo a código.</a:t>
            </a:r>
          </a:p>
          <a:p>
            <a:pPr lvl="1"/>
            <a:r>
              <a:rPr lang="es-CO" sz="1800" dirty="0"/>
              <a:t>Ayuda a detectar errores lógicos antes de programar.</a:t>
            </a:r>
          </a:p>
          <a:p>
            <a:pPr lvl="1"/>
            <a:r>
              <a:rPr lang="es-CO" sz="1800" dirty="0"/>
              <a:t>Refuerza la comprensión del flujo de ejecución.</a:t>
            </a:r>
            <a:endParaRPr lang="es-MX" sz="1800" dirty="0"/>
          </a:p>
          <a:p>
            <a:endParaRPr lang="es-ES" sz="2200" b="1" dirty="0"/>
          </a:p>
        </p:txBody>
      </p:sp>
      <p:grpSp>
        <p:nvGrpSpPr>
          <p:cNvPr id="21" name="53 Grupo">
            <a:extLst>
              <a:ext uri="{FF2B5EF4-FFF2-40B4-BE49-F238E27FC236}">
                <a16:creationId xmlns:a16="http://schemas.microsoft.com/office/drawing/2014/main" id="{5FDBB20C-B002-42A7-9F87-AE1EC2E25650}"/>
              </a:ext>
            </a:extLst>
          </p:cNvPr>
          <p:cNvGrpSpPr/>
          <p:nvPr/>
        </p:nvGrpSpPr>
        <p:grpSpPr>
          <a:xfrm>
            <a:off x="5966601" y="1618122"/>
            <a:ext cx="2575938" cy="3048000"/>
            <a:chOff x="5569827" y="1676400"/>
            <a:chExt cx="2098914" cy="2819400"/>
          </a:xfrm>
        </p:grpSpPr>
        <p:sp>
          <p:nvSpPr>
            <p:cNvPr id="22" name="Flowchart: Terminator 43">
              <a:extLst>
                <a:ext uri="{FF2B5EF4-FFF2-40B4-BE49-F238E27FC236}">
                  <a16:creationId xmlns:a16="http://schemas.microsoft.com/office/drawing/2014/main" id="{F318F10C-DADC-4589-9169-4D9C8D6C264D}"/>
                </a:ext>
              </a:extLst>
            </p:cNvPr>
            <p:cNvSpPr/>
            <p:nvPr/>
          </p:nvSpPr>
          <p:spPr>
            <a:xfrm>
              <a:off x="6096000" y="41910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entury Gothic" panose="020B0502020202020204" pitchFamily="34" charset="0"/>
                </a:rPr>
                <a:t>Finish</a:t>
              </a:r>
              <a:endParaRPr lang="en-US" sz="1400" dirty="0">
                <a:latin typeface="Century Gothic" panose="020B0502020202020204" pitchFamily="34" charset="0"/>
              </a:endParaRPr>
            </a:p>
          </p:txBody>
        </p:sp>
        <p:sp>
          <p:nvSpPr>
            <p:cNvPr id="23" name="Flowchart: Terminator 44">
              <a:extLst>
                <a:ext uri="{FF2B5EF4-FFF2-40B4-BE49-F238E27FC236}">
                  <a16:creationId xmlns:a16="http://schemas.microsoft.com/office/drawing/2014/main" id="{5322C0A6-8663-40D1-83BF-C334A3903434}"/>
                </a:ext>
              </a:extLst>
            </p:cNvPr>
            <p:cNvSpPr/>
            <p:nvPr/>
          </p:nvSpPr>
          <p:spPr>
            <a:xfrm>
              <a:off x="6096000" y="16764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onsolas" panose="020B0609020204030204" pitchFamily="49" charset="0"/>
                </a:rPr>
                <a:t>Start</a:t>
              </a:r>
              <a:endParaRPr lang="en-US" sz="1400" dirty="0">
                <a:latin typeface="Consolas" panose="020B0609020204030204" pitchFamily="49" charset="0"/>
              </a:endParaRPr>
            </a:p>
          </p:txBody>
        </p:sp>
        <p:cxnSp>
          <p:nvCxnSpPr>
            <p:cNvPr id="24" name="Straight Arrow Connector 45">
              <a:extLst>
                <a:ext uri="{FF2B5EF4-FFF2-40B4-BE49-F238E27FC236}">
                  <a16:creationId xmlns:a16="http://schemas.microsoft.com/office/drawing/2014/main" id="{5BA8EDCC-D067-4BE3-994D-103B27BC62BC}"/>
                </a:ext>
              </a:extLst>
            </p:cNvPr>
            <p:cNvCxnSpPr>
              <a:stCxn id="23" idx="2"/>
              <a:endCxn id="29" idx="1"/>
            </p:cNvCxnSpPr>
            <p:nvPr/>
          </p:nvCxnSpPr>
          <p:spPr>
            <a:xfrm flipH="1">
              <a:off x="6625949" y="1981200"/>
              <a:ext cx="3451"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48">
              <a:extLst>
                <a:ext uri="{FF2B5EF4-FFF2-40B4-BE49-F238E27FC236}">
                  <a16:creationId xmlns:a16="http://schemas.microsoft.com/office/drawing/2014/main" id="{BF2498DA-D18C-4F69-A91B-8319BB62C165}"/>
                </a:ext>
              </a:extLst>
            </p:cNvPr>
            <p:cNvCxnSpPr>
              <a:cxnSpLocks/>
              <a:stCxn id="31" idx="2"/>
              <a:endCxn id="27" idx="1"/>
            </p:cNvCxnSpPr>
            <p:nvPr/>
          </p:nvCxnSpPr>
          <p:spPr>
            <a:xfrm>
              <a:off x="6619284" y="3276600"/>
              <a:ext cx="10116" cy="3048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7" name="Flowchart: Data 52">
              <a:extLst>
                <a:ext uri="{FF2B5EF4-FFF2-40B4-BE49-F238E27FC236}">
                  <a16:creationId xmlns:a16="http://schemas.microsoft.com/office/drawing/2014/main" id="{DCB07439-0440-4F77-BD46-9D0784C2C816}"/>
                </a:ext>
              </a:extLst>
            </p:cNvPr>
            <p:cNvSpPr/>
            <p:nvPr/>
          </p:nvSpPr>
          <p:spPr>
            <a:xfrm>
              <a:off x="5867400" y="3581400"/>
              <a:ext cx="1524000"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Print </a:t>
              </a:r>
              <a:r>
                <a:rPr lang="en-US" sz="1200" b="1" dirty="0">
                  <a:latin typeface="Century Gothic" panose="020B0502020202020204" pitchFamily="34" charset="0"/>
                </a:rPr>
                <a:t>area</a:t>
              </a:r>
            </a:p>
          </p:txBody>
        </p:sp>
        <p:cxnSp>
          <p:nvCxnSpPr>
            <p:cNvPr id="28" name="Straight Arrow Connector 53">
              <a:extLst>
                <a:ext uri="{FF2B5EF4-FFF2-40B4-BE49-F238E27FC236}">
                  <a16:creationId xmlns:a16="http://schemas.microsoft.com/office/drawing/2014/main" id="{DBE579F4-43B5-4C6D-94F8-B8AAE06BD9C5}"/>
                </a:ext>
              </a:extLst>
            </p:cNvPr>
            <p:cNvCxnSpPr>
              <a:stCxn id="27" idx="4"/>
              <a:endCxn id="22" idx="0"/>
            </p:cNvCxnSpPr>
            <p:nvPr/>
          </p:nvCxnSpPr>
          <p:spPr>
            <a:xfrm>
              <a:off x="6629400" y="3962400"/>
              <a:ext cx="0"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Flowchart: Data 68">
              <a:extLst>
                <a:ext uri="{FF2B5EF4-FFF2-40B4-BE49-F238E27FC236}">
                  <a16:creationId xmlns:a16="http://schemas.microsoft.com/office/drawing/2014/main" id="{9F1F546D-29C1-4E16-A208-34CBE4F3D1AE}"/>
                </a:ext>
              </a:extLst>
            </p:cNvPr>
            <p:cNvSpPr/>
            <p:nvPr/>
          </p:nvSpPr>
          <p:spPr>
            <a:xfrm>
              <a:off x="5687178" y="2209800"/>
              <a:ext cx="1877541" cy="4572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Read </a:t>
              </a:r>
              <a:r>
                <a:rPr lang="en-US" sz="1200" b="1" dirty="0">
                  <a:latin typeface="Century Gothic" panose="020B0502020202020204" pitchFamily="34" charset="0"/>
                </a:rPr>
                <a:t>base</a:t>
              </a:r>
              <a:br>
                <a:rPr lang="en-US" sz="1200" b="1" dirty="0">
                  <a:latin typeface="Century Gothic" panose="020B0502020202020204" pitchFamily="34" charset="0"/>
                </a:rPr>
              </a:br>
              <a:r>
                <a:rPr lang="en-US" sz="1200" dirty="0">
                  <a:latin typeface="Century Gothic" panose="020B0502020202020204" pitchFamily="34" charset="0"/>
                </a:rPr>
                <a:t>Read</a:t>
              </a:r>
              <a:r>
                <a:rPr lang="en-US" sz="1200" b="1" dirty="0">
                  <a:latin typeface="Century Gothic" panose="020B0502020202020204" pitchFamily="34" charset="0"/>
                </a:rPr>
                <a:t> height</a:t>
              </a:r>
            </a:p>
          </p:txBody>
        </p:sp>
        <p:cxnSp>
          <p:nvCxnSpPr>
            <p:cNvPr id="30" name="Straight Arrow Connector 47">
              <a:extLst>
                <a:ext uri="{FF2B5EF4-FFF2-40B4-BE49-F238E27FC236}">
                  <a16:creationId xmlns:a16="http://schemas.microsoft.com/office/drawing/2014/main" id="{6F4832EF-C0EA-4529-A9FC-C532A565664F}"/>
                </a:ext>
              </a:extLst>
            </p:cNvPr>
            <p:cNvCxnSpPr>
              <a:cxnSpLocks/>
              <a:stCxn id="29" idx="4"/>
              <a:endCxn id="31" idx="0"/>
            </p:cNvCxnSpPr>
            <p:nvPr/>
          </p:nvCxnSpPr>
          <p:spPr>
            <a:xfrm flipH="1">
              <a:off x="6619284" y="2667000"/>
              <a:ext cx="6665"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Flowchart: Process 42">
              <a:extLst>
                <a:ext uri="{FF2B5EF4-FFF2-40B4-BE49-F238E27FC236}">
                  <a16:creationId xmlns:a16="http://schemas.microsoft.com/office/drawing/2014/main" id="{35928B49-7A8D-4D1F-8536-2AC27EAB991C}"/>
                </a:ext>
              </a:extLst>
            </p:cNvPr>
            <p:cNvSpPr/>
            <p:nvPr/>
          </p:nvSpPr>
          <p:spPr>
            <a:xfrm>
              <a:off x="5569827" y="2895600"/>
              <a:ext cx="2098914" cy="3810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sym typeface="Wingdings" pitchFamily="2" charset="2"/>
                </a:rPr>
                <a:t>area  (base</a:t>
              </a:r>
              <a:r>
                <a:rPr lang="en-US" sz="1200" dirty="0">
                  <a:latin typeface="Century Gothic" panose="020B0502020202020204" pitchFamily="34" charset="0"/>
                </a:rPr>
                <a:t> * height)/2</a:t>
              </a:r>
            </a:p>
          </p:txBody>
        </p:sp>
      </p:grpSp>
      <p:sp>
        <p:nvSpPr>
          <p:cNvPr id="32" name="1 Marcador de contenido">
            <a:extLst>
              <a:ext uri="{FF2B5EF4-FFF2-40B4-BE49-F238E27FC236}">
                <a16:creationId xmlns:a16="http://schemas.microsoft.com/office/drawing/2014/main" id="{07AA3AE6-7EE3-4050-9447-4BEAE81C746E}"/>
              </a:ext>
            </a:extLst>
          </p:cNvPr>
          <p:cNvSpPr txBox="1">
            <a:spLocks/>
          </p:cNvSpPr>
          <p:nvPr/>
        </p:nvSpPr>
        <p:spPr>
          <a:xfrm>
            <a:off x="179512" y="1051860"/>
            <a:ext cx="8424936" cy="65902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2000" dirty="0"/>
              <a:t>Una </a:t>
            </a:r>
            <a:r>
              <a:rPr lang="es-MX" sz="2000" b="1" dirty="0"/>
              <a:t>prueba de escritorio</a:t>
            </a:r>
            <a:r>
              <a:rPr lang="es-MX" sz="2000" dirty="0"/>
              <a:t> (trace table) es una técnica manual para simular la ejecución de un algoritmo, sin usar el computador.</a:t>
            </a:r>
          </a:p>
          <a:p>
            <a:endParaRPr lang="es-ES" sz="2200" b="1" dirty="0"/>
          </a:p>
        </p:txBody>
      </p:sp>
      <p:graphicFrame>
        <p:nvGraphicFramePr>
          <p:cNvPr id="5" name="Tabla 5">
            <a:extLst>
              <a:ext uri="{FF2B5EF4-FFF2-40B4-BE49-F238E27FC236}">
                <a16:creationId xmlns:a16="http://schemas.microsoft.com/office/drawing/2014/main" id="{AFE2160E-86D4-47D9-8227-08A4ECE09E34}"/>
              </a:ext>
            </a:extLst>
          </p:cNvPr>
          <p:cNvGraphicFramePr>
            <a:graphicFrameLocks noGrp="1"/>
          </p:cNvGraphicFramePr>
          <p:nvPr>
            <p:extLst>
              <p:ext uri="{D42A27DB-BD31-4B8C-83A1-F6EECF244321}">
                <p14:modId xmlns:p14="http://schemas.microsoft.com/office/powerpoint/2010/main" val="1190890293"/>
              </p:ext>
            </p:extLst>
          </p:nvPr>
        </p:nvGraphicFramePr>
        <p:xfrm>
          <a:off x="5652120" y="5013176"/>
          <a:ext cx="3195861" cy="1010920"/>
        </p:xfrm>
        <a:graphic>
          <a:graphicData uri="http://schemas.openxmlformats.org/drawingml/2006/table">
            <a:tbl>
              <a:tblPr firstRow="1" bandRow="1">
                <a:tableStyleId>{5940675A-B579-460E-94D1-54222C63F5DA}</a:tableStyleId>
              </a:tblPr>
              <a:tblGrid>
                <a:gridCol w="1065287">
                  <a:extLst>
                    <a:ext uri="{9D8B030D-6E8A-4147-A177-3AD203B41FA5}">
                      <a16:colId xmlns:a16="http://schemas.microsoft.com/office/drawing/2014/main" val="1270268523"/>
                    </a:ext>
                  </a:extLst>
                </a:gridCol>
                <a:gridCol w="1065287">
                  <a:extLst>
                    <a:ext uri="{9D8B030D-6E8A-4147-A177-3AD203B41FA5}">
                      <a16:colId xmlns:a16="http://schemas.microsoft.com/office/drawing/2014/main" val="101718729"/>
                    </a:ext>
                  </a:extLst>
                </a:gridCol>
                <a:gridCol w="1065287">
                  <a:extLst>
                    <a:ext uri="{9D8B030D-6E8A-4147-A177-3AD203B41FA5}">
                      <a16:colId xmlns:a16="http://schemas.microsoft.com/office/drawing/2014/main" val="3468495707"/>
                    </a:ext>
                  </a:extLst>
                </a:gridCol>
              </a:tblGrid>
              <a:tr h="370840">
                <a:tc>
                  <a:txBody>
                    <a:bodyPr/>
                    <a:lstStyle/>
                    <a:p>
                      <a:pPr algn="ctr"/>
                      <a:r>
                        <a:rPr lang="es-CO" sz="1600" dirty="0"/>
                        <a:t>↘</a:t>
                      </a:r>
                      <a:r>
                        <a:rPr lang="es-CO" sz="1600" b="1" dirty="0">
                          <a:latin typeface="Consolas" panose="020B0609020204030204" pitchFamily="49" charset="0"/>
                        </a:rPr>
                        <a:t>base</a:t>
                      </a: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es-CO" sz="1600" dirty="0"/>
                        <a:t>↘</a:t>
                      </a:r>
                      <a:r>
                        <a:rPr lang="es-CO" sz="1600" b="1" dirty="0">
                          <a:latin typeface="Consolas" panose="020B0609020204030204" pitchFamily="49" charset="0"/>
                        </a:rPr>
                        <a:t>height</a:t>
                      </a:r>
                    </a:p>
                  </a:txBody>
                  <a:tcPr>
                    <a:lnT w="12700" cap="flat" cmpd="sng" algn="ctr">
                      <a:noFill/>
                      <a:prstDash val="solid"/>
                      <a:round/>
                      <a:headEnd type="none" w="med" len="med"/>
                      <a:tailEnd type="none" w="med" len="med"/>
                    </a:lnT>
                  </a:tcPr>
                </a:tc>
                <a:tc>
                  <a:txBody>
                    <a:bodyPr/>
                    <a:lstStyle/>
                    <a:p>
                      <a:pPr algn="ctr"/>
                      <a:r>
                        <a:rPr lang="es-CO" sz="1600" dirty="0"/>
                        <a:t>↗</a:t>
                      </a:r>
                      <a:r>
                        <a:rPr lang="es-CO" sz="1600" b="1" dirty="0">
                          <a:latin typeface="Consolas" panose="020B0609020204030204" pitchFamily="49" charset="0"/>
                        </a:rPr>
                        <a:t>area</a:t>
                      </a: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784789806"/>
                  </a:ext>
                </a:extLst>
              </a:tr>
              <a:tr h="370840">
                <a:tc>
                  <a:txBody>
                    <a:bodyPr/>
                    <a:lstStyle/>
                    <a:p>
                      <a:pPr algn="ctr"/>
                      <a:r>
                        <a:rPr lang="es-CO" strike="sngStrike" dirty="0"/>
                        <a:t>?</a:t>
                      </a:r>
                    </a:p>
                    <a:p>
                      <a:pPr algn="ctr"/>
                      <a:r>
                        <a:rPr lang="es-CO" dirty="0"/>
                        <a:t>↘4</a:t>
                      </a: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ctr"/>
                      <a:r>
                        <a:rPr lang="es-CO" strike="sngStrike" dirty="0"/>
                        <a:t>?</a:t>
                      </a:r>
                    </a:p>
                    <a:p>
                      <a:pPr algn="ctr"/>
                      <a:r>
                        <a:rPr lang="es-CO" dirty="0"/>
                        <a:t>↘3</a:t>
                      </a:r>
                    </a:p>
                  </a:txBody>
                  <a:tcPr>
                    <a:lnB w="12700" cap="flat" cmpd="sng" algn="ctr">
                      <a:noFill/>
                      <a:prstDash val="solid"/>
                      <a:round/>
                      <a:headEnd type="none" w="med" len="med"/>
                      <a:tailEnd type="none" w="med" len="med"/>
                    </a:lnB>
                  </a:tcPr>
                </a:tc>
                <a:tc>
                  <a:txBody>
                    <a:bodyPr/>
                    <a:lstStyle/>
                    <a:p>
                      <a:pPr algn="ctr"/>
                      <a:r>
                        <a:rPr lang="es-CO" dirty="0"/>
                        <a:t>?</a:t>
                      </a:r>
                    </a:p>
                    <a:p>
                      <a:pPr algn="ctr"/>
                      <a:r>
                        <a:rPr lang="es-CO" dirty="0"/>
                        <a:t>↗6</a:t>
                      </a:r>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2984237131"/>
                  </a:ext>
                </a:extLst>
              </a:tr>
            </a:tbl>
          </a:graphicData>
        </a:graphic>
      </p:graphicFrame>
      <p:sp>
        <p:nvSpPr>
          <p:cNvPr id="33" name="1 Marcador de contenido">
            <a:extLst>
              <a:ext uri="{FF2B5EF4-FFF2-40B4-BE49-F238E27FC236}">
                <a16:creationId xmlns:a16="http://schemas.microsoft.com/office/drawing/2014/main" id="{1EC31473-1D21-4866-8262-EF0A40A7AD87}"/>
              </a:ext>
            </a:extLst>
          </p:cNvPr>
          <p:cNvSpPr txBox="1">
            <a:spLocks/>
          </p:cNvSpPr>
          <p:nvPr/>
        </p:nvSpPr>
        <p:spPr>
          <a:xfrm>
            <a:off x="699915" y="4255406"/>
            <a:ext cx="1070245" cy="32951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MX" sz="1800" b="1" dirty="0"/>
              <a:t>Prueba</a:t>
            </a:r>
            <a:r>
              <a:rPr lang="es-MX" sz="1800" dirty="0"/>
              <a:t>:</a:t>
            </a:r>
          </a:p>
        </p:txBody>
      </p:sp>
      <p:graphicFrame>
        <p:nvGraphicFramePr>
          <p:cNvPr id="34" name="Tabla 5">
            <a:extLst>
              <a:ext uri="{FF2B5EF4-FFF2-40B4-BE49-F238E27FC236}">
                <a16:creationId xmlns:a16="http://schemas.microsoft.com/office/drawing/2014/main" id="{6BE0F400-0A8E-4E39-8C88-54C6D5A5D28F}"/>
              </a:ext>
            </a:extLst>
          </p:cNvPr>
          <p:cNvGraphicFramePr>
            <a:graphicFrameLocks noGrp="1"/>
          </p:cNvGraphicFramePr>
          <p:nvPr>
            <p:extLst>
              <p:ext uri="{D42A27DB-BD31-4B8C-83A1-F6EECF244321}">
                <p14:modId xmlns:p14="http://schemas.microsoft.com/office/powerpoint/2010/main" val="1987778122"/>
              </p:ext>
            </p:extLst>
          </p:nvPr>
        </p:nvGraphicFramePr>
        <p:xfrm>
          <a:off x="1835696" y="4309778"/>
          <a:ext cx="3105726" cy="914400"/>
        </p:xfrm>
        <a:graphic>
          <a:graphicData uri="http://schemas.openxmlformats.org/drawingml/2006/table">
            <a:tbl>
              <a:tblPr firstRow="1" bandRow="1">
                <a:tableStyleId>{7E9639D4-E3E2-4D34-9284-5A2195B3D0D7}</a:tableStyleId>
              </a:tblPr>
              <a:tblGrid>
                <a:gridCol w="695611">
                  <a:extLst>
                    <a:ext uri="{9D8B030D-6E8A-4147-A177-3AD203B41FA5}">
                      <a16:colId xmlns:a16="http://schemas.microsoft.com/office/drawing/2014/main" val="1270268523"/>
                    </a:ext>
                  </a:extLst>
                </a:gridCol>
                <a:gridCol w="695611">
                  <a:extLst>
                    <a:ext uri="{9D8B030D-6E8A-4147-A177-3AD203B41FA5}">
                      <a16:colId xmlns:a16="http://schemas.microsoft.com/office/drawing/2014/main" val="101718729"/>
                    </a:ext>
                  </a:extLst>
                </a:gridCol>
                <a:gridCol w="1714504">
                  <a:extLst>
                    <a:ext uri="{9D8B030D-6E8A-4147-A177-3AD203B41FA5}">
                      <a16:colId xmlns:a16="http://schemas.microsoft.com/office/drawing/2014/main" val="3468495707"/>
                    </a:ext>
                  </a:extLst>
                </a:gridCol>
              </a:tblGrid>
              <a:tr h="0">
                <a:tc gridSpan="2">
                  <a:txBody>
                    <a:bodyPr/>
                    <a:lstStyle/>
                    <a:p>
                      <a:pPr algn="ctr"/>
                      <a:r>
                        <a:rPr lang="es-CO" sz="1400" b="1" dirty="0"/>
                        <a:t>Entradas</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s-CO" sz="1600" b="1" dirty="0">
                        <a:latin typeface="Consolas" panose="020B0609020204030204" pitchFamily="49" charset="0"/>
                      </a:endParaRPr>
                    </a:p>
                  </a:txBody>
                  <a:tcPr>
                    <a:lnT w="12700" cap="flat" cmpd="sng" algn="ctr">
                      <a:noFill/>
                      <a:prstDash val="solid"/>
                      <a:round/>
                      <a:headEnd type="none" w="med" len="med"/>
                      <a:tailEnd type="none" w="med" len="med"/>
                    </a:lnT>
                  </a:tcPr>
                </a:tc>
                <a:tc>
                  <a:txBody>
                    <a:bodyPr/>
                    <a:lstStyle/>
                    <a:p>
                      <a:pPr algn="ctr"/>
                      <a:r>
                        <a:rPr lang="es-CO" sz="1400" b="1" dirty="0"/>
                        <a:t>Salidas (esperadas)</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0868271"/>
                  </a:ext>
                </a:extLst>
              </a:tr>
              <a:tr h="213175">
                <a:tc>
                  <a:txBody>
                    <a:bodyPr/>
                    <a:lstStyle/>
                    <a:p>
                      <a:pPr algn="ctr"/>
                      <a:r>
                        <a:rPr lang="es-CO" sz="1400" b="1" dirty="0"/>
                        <a:t>base</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b="1" dirty="0"/>
                        <a:t>Height</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b="1" dirty="0"/>
                        <a:t>area</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4789806"/>
                  </a:ext>
                </a:extLst>
              </a:tr>
              <a:tr h="234493">
                <a:tc>
                  <a:txBody>
                    <a:bodyPr/>
                    <a:lstStyle/>
                    <a:p>
                      <a:pPr algn="ctr"/>
                      <a:r>
                        <a:rPr lang="es-CO" sz="1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strike="noStrike"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237131"/>
                  </a:ext>
                </a:extLst>
              </a:tr>
            </a:tbl>
          </a:graphicData>
        </a:graphic>
      </p:graphicFrame>
    </p:spTree>
    <p:extLst>
      <p:ext uri="{BB962C8B-B14F-4D97-AF65-F5344CB8AC3E}">
        <p14:creationId xmlns:p14="http://schemas.microsoft.com/office/powerpoint/2010/main" val="36116112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88640"/>
            <a:ext cx="8496944" cy="1116540"/>
          </a:xfrm>
        </p:spPr>
        <p:txBody>
          <a:bodyPr>
            <a:normAutofit/>
          </a:bodyPr>
          <a:lstStyle/>
          <a:p>
            <a:r>
              <a:rPr lang="es-CO" sz="2800" dirty="0"/>
              <a:t>Representación de algoritmos como diagramas de flujo</a:t>
            </a:r>
          </a:p>
        </p:txBody>
      </p:sp>
      <p:grpSp>
        <p:nvGrpSpPr>
          <p:cNvPr id="54" name="53 Grupo"/>
          <p:cNvGrpSpPr/>
          <p:nvPr/>
        </p:nvGrpSpPr>
        <p:grpSpPr>
          <a:xfrm>
            <a:off x="5498235" y="2077930"/>
            <a:ext cx="2575938" cy="3048000"/>
            <a:chOff x="5569827" y="1676400"/>
            <a:chExt cx="2098914" cy="2819400"/>
          </a:xfrm>
        </p:grpSpPr>
        <p:sp>
          <p:nvSpPr>
            <p:cNvPr id="8" name="Flowchart: Terminator 43"/>
            <p:cNvSpPr/>
            <p:nvPr/>
          </p:nvSpPr>
          <p:spPr>
            <a:xfrm>
              <a:off x="6096000" y="41910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entury Gothic" panose="020B0502020202020204" pitchFamily="34" charset="0"/>
                </a:rPr>
                <a:t>Finish</a:t>
              </a:r>
              <a:endParaRPr lang="en-US" sz="1400" dirty="0">
                <a:latin typeface="Century Gothic" panose="020B0502020202020204" pitchFamily="34" charset="0"/>
              </a:endParaRPr>
            </a:p>
          </p:txBody>
        </p:sp>
        <p:sp>
          <p:nvSpPr>
            <p:cNvPr id="9" name="Flowchart: Terminator 44"/>
            <p:cNvSpPr/>
            <p:nvPr/>
          </p:nvSpPr>
          <p:spPr>
            <a:xfrm>
              <a:off x="6096000" y="16764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onsolas" panose="020B0609020204030204" pitchFamily="49" charset="0"/>
                </a:rPr>
                <a:t>Start</a:t>
              </a:r>
              <a:endParaRPr lang="en-US" sz="1400" dirty="0">
                <a:latin typeface="Consolas" panose="020B0609020204030204" pitchFamily="49" charset="0"/>
              </a:endParaRPr>
            </a:p>
          </p:txBody>
        </p:sp>
        <p:cxnSp>
          <p:nvCxnSpPr>
            <p:cNvPr id="10" name="Straight Arrow Connector 45"/>
            <p:cNvCxnSpPr>
              <a:stCxn id="9" idx="2"/>
              <a:endCxn id="20" idx="1"/>
            </p:cNvCxnSpPr>
            <p:nvPr/>
          </p:nvCxnSpPr>
          <p:spPr>
            <a:xfrm flipH="1">
              <a:off x="6625949" y="1981200"/>
              <a:ext cx="3451"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48"/>
            <p:cNvCxnSpPr>
              <a:cxnSpLocks/>
              <a:stCxn id="44" idx="2"/>
              <a:endCxn id="16" idx="1"/>
            </p:cNvCxnSpPr>
            <p:nvPr/>
          </p:nvCxnSpPr>
          <p:spPr>
            <a:xfrm>
              <a:off x="6619284" y="3276600"/>
              <a:ext cx="10116" cy="3048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Flowchart: Data 52"/>
            <p:cNvSpPr/>
            <p:nvPr/>
          </p:nvSpPr>
          <p:spPr>
            <a:xfrm>
              <a:off x="5867400" y="3581400"/>
              <a:ext cx="1524000"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Print </a:t>
              </a:r>
              <a:r>
                <a:rPr lang="en-US" sz="1200" b="1" dirty="0">
                  <a:latin typeface="Century Gothic" panose="020B0502020202020204" pitchFamily="34" charset="0"/>
                </a:rPr>
                <a:t>area</a:t>
              </a:r>
            </a:p>
          </p:txBody>
        </p:sp>
        <p:cxnSp>
          <p:nvCxnSpPr>
            <p:cNvPr id="17" name="Straight Arrow Connector 53"/>
            <p:cNvCxnSpPr>
              <a:stCxn id="16" idx="4"/>
              <a:endCxn id="8" idx="0"/>
            </p:cNvCxnSpPr>
            <p:nvPr/>
          </p:nvCxnSpPr>
          <p:spPr>
            <a:xfrm>
              <a:off x="6629400" y="3962400"/>
              <a:ext cx="0"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Flowchart: Data 68"/>
            <p:cNvSpPr/>
            <p:nvPr/>
          </p:nvSpPr>
          <p:spPr>
            <a:xfrm>
              <a:off x="5687178" y="2209800"/>
              <a:ext cx="1877541" cy="4572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Read </a:t>
              </a:r>
              <a:r>
                <a:rPr lang="en-US" sz="1200" b="1" dirty="0">
                  <a:latin typeface="Century Gothic" panose="020B0502020202020204" pitchFamily="34" charset="0"/>
                </a:rPr>
                <a:t>base</a:t>
              </a:r>
              <a:br>
                <a:rPr lang="en-US" sz="1200" b="1" dirty="0">
                  <a:latin typeface="Century Gothic" panose="020B0502020202020204" pitchFamily="34" charset="0"/>
                </a:rPr>
              </a:br>
              <a:r>
                <a:rPr lang="en-US" sz="1200" dirty="0">
                  <a:latin typeface="Century Gothic" panose="020B0502020202020204" pitchFamily="34" charset="0"/>
                </a:rPr>
                <a:t>Read</a:t>
              </a:r>
              <a:r>
                <a:rPr lang="en-US" sz="1200" b="1" dirty="0">
                  <a:latin typeface="Century Gothic" panose="020B0502020202020204" pitchFamily="34" charset="0"/>
                </a:rPr>
                <a:t> height</a:t>
              </a:r>
            </a:p>
          </p:txBody>
        </p:sp>
        <p:cxnSp>
          <p:nvCxnSpPr>
            <p:cNvPr id="26" name="Straight Arrow Connector 47"/>
            <p:cNvCxnSpPr>
              <a:cxnSpLocks/>
              <a:stCxn id="20" idx="4"/>
              <a:endCxn id="44" idx="0"/>
            </p:cNvCxnSpPr>
            <p:nvPr/>
          </p:nvCxnSpPr>
          <p:spPr>
            <a:xfrm flipH="1">
              <a:off x="6619284" y="2667000"/>
              <a:ext cx="6665"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Flowchart: Process 42"/>
            <p:cNvSpPr/>
            <p:nvPr/>
          </p:nvSpPr>
          <p:spPr>
            <a:xfrm>
              <a:off x="5569827" y="2895600"/>
              <a:ext cx="2098914" cy="3810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sym typeface="Wingdings" pitchFamily="2" charset="2"/>
                </a:rPr>
                <a:t>area  (base</a:t>
              </a:r>
              <a:r>
                <a:rPr lang="en-US" sz="1200" dirty="0">
                  <a:latin typeface="Century Gothic" panose="020B0502020202020204" pitchFamily="34" charset="0"/>
                </a:rPr>
                <a:t> * height)/2</a:t>
              </a:r>
            </a:p>
          </p:txBody>
        </p:sp>
      </p:grpSp>
      <p:graphicFrame>
        <p:nvGraphicFramePr>
          <p:cNvPr id="18" name="13 Diagrama">
            <a:extLst>
              <a:ext uri="{FF2B5EF4-FFF2-40B4-BE49-F238E27FC236}">
                <a16:creationId xmlns:a16="http://schemas.microsoft.com/office/drawing/2014/main" id="{9965EF72-5E5A-4B91-9E69-AADDE7DC5150}"/>
              </a:ext>
            </a:extLst>
          </p:cNvPr>
          <p:cNvGraphicFramePr/>
          <p:nvPr>
            <p:extLst>
              <p:ext uri="{D42A27DB-BD31-4B8C-83A1-F6EECF244321}">
                <p14:modId xmlns:p14="http://schemas.microsoft.com/office/powerpoint/2010/main" val="460568819"/>
              </p:ext>
            </p:extLst>
          </p:nvPr>
        </p:nvGraphicFramePr>
        <p:xfrm>
          <a:off x="1398949" y="1280138"/>
          <a:ext cx="3048135" cy="7977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9" name="1 Marcador de contenido">
            <a:extLst>
              <a:ext uri="{FF2B5EF4-FFF2-40B4-BE49-F238E27FC236}">
                <a16:creationId xmlns:a16="http://schemas.microsoft.com/office/drawing/2014/main" id="{FE999F40-6EC9-4378-9BC0-399B6244E19D}"/>
              </a:ext>
            </a:extLst>
          </p:cNvPr>
          <p:cNvSpPr txBox="1">
            <a:spLocks/>
          </p:cNvSpPr>
          <p:nvPr/>
        </p:nvSpPr>
        <p:spPr>
          <a:xfrm>
            <a:off x="252007" y="2484120"/>
            <a:ext cx="1214267" cy="32951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MX" sz="1800" b="1" dirty="0"/>
              <a:t>Prueba</a:t>
            </a:r>
            <a:r>
              <a:rPr lang="es-MX" sz="1800" dirty="0"/>
              <a:t>:</a:t>
            </a:r>
          </a:p>
        </p:txBody>
      </p:sp>
      <p:graphicFrame>
        <p:nvGraphicFramePr>
          <p:cNvPr id="22" name="Tabla 5">
            <a:extLst>
              <a:ext uri="{FF2B5EF4-FFF2-40B4-BE49-F238E27FC236}">
                <a16:creationId xmlns:a16="http://schemas.microsoft.com/office/drawing/2014/main" id="{3BB42301-F1C1-49D2-B8DF-771627E9357D}"/>
              </a:ext>
            </a:extLst>
          </p:cNvPr>
          <p:cNvGraphicFramePr>
            <a:graphicFrameLocks noGrp="1"/>
          </p:cNvGraphicFramePr>
          <p:nvPr>
            <p:extLst>
              <p:ext uri="{D42A27DB-BD31-4B8C-83A1-F6EECF244321}">
                <p14:modId xmlns:p14="http://schemas.microsoft.com/office/powerpoint/2010/main" val="20582533"/>
              </p:ext>
            </p:extLst>
          </p:nvPr>
        </p:nvGraphicFramePr>
        <p:xfrm>
          <a:off x="1156880" y="4274611"/>
          <a:ext cx="3411885" cy="1010920"/>
        </p:xfrm>
        <a:graphic>
          <a:graphicData uri="http://schemas.openxmlformats.org/drawingml/2006/table">
            <a:tbl>
              <a:tblPr firstRow="1" bandRow="1">
                <a:tableStyleId>{5940675A-B579-460E-94D1-54222C63F5DA}</a:tableStyleId>
              </a:tblPr>
              <a:tblGrid>
                <a:gridCol w="1137295">
                  <a:extLst>
                    <a:ext uri="{9D8B030D-6E8A-4147-A177-3AD203B41FA5}">
                      <a16:colId xmlns:a16="http://schemas.microsoft.com/office/drawing/2014/main" val="1270268523"/>
                    </a:ext>
                  </a:extLst>
                </a:gridCol>
                <a:gridCol w="1137295">
                  <a:extLst>
                    <a:ext uri="{9D8B030D-6E8A-4147-A177-3AD203B41FA5}">
                      <a16:colId xmlns:a16="http://schemas.microsoft.com/office/drawing/2014/main" val="101718729"/>
                    </a:ext>
                  </a:extLst>
                </a:gridCol>
                <a:gridCol w="1137295">
                  <a:extLst>
                    <a:ext uri="{9D8B030D-6E8A-4147-A177-3AD203B41FA5}">
                      <a16:colId xmlns:a16="http://schemas.microsoft.com/office/drawing/2014/main" val="3468495707"/>
                    </a:ext>
                  </a:extLst>
                </a:gridCol>
              </a:tblGrid>
              <a:tr h="370840">
                <a:tc>
                  <a:txBody>
                    <a:bodyPr/>
                    <a:lstStyle/>
                    <a:p>
                      <a:pPr algn="ctr"/>
                      <a:r>
                        <a:rPr lang="es-CO" sz="1600" dirty="0"/>
                        <a:t>↘</a:t>
                      </a:r>
                      <a:r>
                        <a:rPr lang="es-CO" sz="1600" b="1" dirty="0">
                          <a:latin typeface="Consolas" panose="020B0609020204030204" pitchFamily="49" charset="0"/>
                        </a:rPr>
                        <a:t>base</a:t>
                      </a: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es-CO" sz="1600" dirty="0"/>
                        <a:t>↘</a:t>
                      </a:r>
                      <a:r>
                        <a:rPr lang="es-CO" sz="1600" b="1" dirty="0">
                          <a:latin typeface="Consolas" panose="020B0609020204030204" pitchFamily="49" charset="0"/>
                        </a:rPr>
                        <a:t>height</a:t>
                      </a:r>
                    </a:p>
                  </a:txBody>
                  <a:tcPr>
                    <a:lnT w="12700" cap="flat" cmpd="sng" algn="ctr">
                      <a:noFill/>
                      <a:prstDash val="solid"/>
                      <a:round/>
                      <a:headEnd type="none" w="med" len="med"/>
                      <a:tailEnd type="none" w="med" len="med"/>
                    </a:lnT>
                  </a:tcPr>
                </a:tc>
                <a:tc>
                  <a:txBody>
                    <a:bodyPr/>
                    <a:lstStyle/>
                    <a:p>
                      <a:pPr algn="ctr"/>
                      <a:r>
                        <a:rPr lang="es-CO" sz="1600" dirty="0"/>
                        <a:t>↗</a:t>
                      </a:r>
                      <a:r>
                        <a:rPr lang="es-CO" sz="1600" b="1" dirty="0">
                          <a:latin typeface="Consolas" panose="020B0609020204030204" pitchFamily="49" charset="0"/>
                        </a:rPr>
                        <a:t>area</a:t>
                      </a: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784789806"/>
                  </a:ext>
                </a:extLst>
              </a:tr>
              <a:tr h="370840">
                <a:tc>
                  <a:txBody>
                    <a:bodyPr/>
                    <a:lstStyle/>
                    <a:p>
                      <a:pPr algn="ctr"/>
                      <a:r>
                        <a:rPr lang="es-CO" strike="sngStrike" dirty="0"/>
                        <a:t>?</a:t>
                      </a:r>
                    </a:p>
                    <a:p>
                      <a:pPr algn="ctr"/>
                      <a:r>
                        <a:rPr lang="es-CO" dirty="0"/>
                        <a:t>↘3</a:t>
                      </a: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ctr"/>
                      <a:r>
                        <a:rPr lang="es-CO" strike="sngStrike" dirty="0"/>
                        <a:t>?</a:t>
                      </a:r>
                    </a:p>
                    <a:p>
                      <a:pPr algn="ctr"/>
                      <a:r>
                        <a:rPr lang="es-CO" dirty="0"/>
                        <a:t>↘</a:t>
                      </a:r>
                      <a:r>
                        <a:rPr lang="es-CO" strike="noStrike" dirty="0"/>
                        <a:t>5</a:t>
                      </a:r>
                    </a:p>
                  </a:txBody>
                  <a:tcPr>
                    <a:lnB w="12700" cap="flat" cmpd="sng" algn="ctr">
                      <a:noFill/>
                      <a:prstDash val="solid"/>
                      <a:round/>
                      <a:headEnd type="none" w="med" len="med"/>
                      <a:tailEnd type="none" w="med" len="med"/>
                    </a:lnB>
                  </a:tcPr>
                </a:tc>
                <a:tc>
                  <a:txBody>
                    <a:bodyPr/>
                    <a:lstStyle/>
                    <a:p>
                      <a:pPr algn="ctr"/>
                      <a:r>
                        <a:rPr lang="es-CO" strike="sngStrike" dirty="0"/>
                        <a:t>?</a:t>
                      </a:r>
                    </a:p>
                    <a:p>
                      <a:pPr algn="ctr"/>
                      <a:r>
                        <a:rPr lang="es-CO" dirty="0"/>
                        <a:t>↗7.5</a:t>
                      </a:r>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2984237131"/>
                  </a:ext>
                </a:extLst>
              </a:tr>
            </a:tbl>
          </a:graphicData>
        </a:graphic>
      </p:graphicFrame>
      <p:graphicFrame>
        <p:nvGraphicFramePr>
          <p:cNvPr id="28" name="Tabla 5">
            <a:extLst>
              <a:ext uri="{FF2B5EF4-FFF2-40B4-BE49-F238E27FC236}">
                <a16:creationId xmlns:a16="http://schemas.microsoft.com/office/drawing/2014/main" id="{97987C8B-F9EC-430B-A149-7FBC5792522E}"/>
              </a:ext>
            </a:extLst>
          </p:cNvPr>
          <p:cNvGraphicFramePr>
            <a:graphicFrameLocks noGrp="1"/>
          </p:cNvGraphicFramePr>
          <p:nvPr>
            <p:extLst>
              <p:ext uri="{D42A27DB-BD31-4B8C-83A1-F6EECF244321}">
                <p14:modId xmlns:p14="http://schemas.microsoft.com/office/powerpoint/2010/main" val="2981538214"/>
              </p:ext>
            </p:extLst>
          </p:nvPr>
        </p:nvGraphicFramePr>
        <p:xfrm>
          <a:off x="1322258" y="2540171"/>
          <a:ext cx="3105726" cy="914400"/>
        </p:xfrm>
        <a:graphic>
          <a:graphicData uri="http://schemas.openxmlformats.org/drawingml/2006/table">
            <a:tbl>
              <a:tblPr firstRow="1" bandRow="1">
                <a:tableStyleId>{7E9639D4-E3E2-4D34-9284-5A2195B3D0D7}</a:tableStyleId>
              </a:tblPr>
              <a:tblGrid>
                <a:gridCol w="695611">
                  <a:extLst>
                    <a:ext uri="{9D8B030D-6E8A-4147-A177-3AD203B41FA5}">
                      <a16:colId xmlns:a16="http://schemas.microsoft.com/office/drawing/2014/main" val="1270268523"/>
                    </a:ext>
                  </a:extLst>
                </a:gridCol>
                <a:gridCol w="695611">
                  <a:extLst>
                    <a:ext uri="{9D8B030D-6E8A-4147-A177-3AD203B41FA5}">
                      <a16:colId xmlns:a16="http://schemas.microsoft.com/office/drawing/2014/main" val="101718729"/>
                    </a:ext>
                  </a:extLst>
                </a:gridCol>
                <a:gridCol w="1714504">
                  <a:extLst>
                    <a:ext uri="{9D8B030D-6E8A-4147-A177-3AD203B41FA5}">
                      <a16:colId xmlns:a16="http://schemas.microsoft.com/office/drawing/2014/main" val="3468495707"/>
                    </a:ext>
                  </a:extLst>
                </a:gridCol>
              </a:tblGrid>
              <a:tr h="0">
                <a:tc gridSpan="2">
                  <a:txBody>
                    <a:bodyPr/>
                    <a:lstStyle/>
                    <a:p>
                      <a:pPr algn="ctr"/>
                      <a:r>
                        <a:rPr lang="es-CO" sz="1400" b="1" dirty="0"/>
                        <a:t>Entradas</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s-CO" sz="1600" b="1" dirty="0">
                        <a:latin typeface="Consolas" panose="020B0609020204030204" pitchFamily="49" charset="0"/>
                      </a:endParaRPr>
                    </a:p>
                  </a:txBody>
                  <a:tcPr>
                    <a:lnT w="12700" cap="flat" cmpd="sng" algn="ctr">
                      <a:noFill/>
                      <a:prstDash val="solid"/>
                      <a:round/>
                      <a:headEnd type="none" w="med" len="med"/>
                      <a:tailEnd type="none" w="med" len="med"/>
                    </a:lnT>
                  </a:tcPr>
                </a:tc>
                <a:tc>
                  <a:txBody>
                    <a:bodyPr/>
                    <a:lstStyle/>
                    <a:p>
                      <a:pPr algn="ctr"/>
                      <a:r>
                        <a:rPr lang="es-CO" sz="1400" b="1" dirty="0"/>
                        <a:t>Salidas (esperadas)</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0868271"/>
                  </a:ext>
                </a:extLst>
              </a:tr>
              <a:tr h="213175">
                <a:tc>
                  <a:txBody>
                    <a:bodyPr/>
                    <a:lstStyle/>
                    <a:p>
                      <a:pPr algn="ctr"/>
                      <a:r>
                        <a:rPr lang="es-CO" sz="1400" b="1" dirty="0"/>
                        <a:t>base</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b="1" dirty="0"/>
                        <a:t>Height</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b="1" dirty="0"/>
                        <a:t>area</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4789806"/>
                  </a:ext>
                </a:extLst>
              </a:tr>
              <a:tr h="234493">
                <a:tc>
                  <a:txBody>
                    <a:bodyPr/>
                    <a:lstStyle/>
                    <a:p>
                      <a:pPr algn="ctr"/>
                      <a:r>
                        <a:rPr lang="es-CO" sz="14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strike="noStrike"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dirty="0"/>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237131"/>
                  </a:ext>
                </a:extLst>
              </a:tr>
            </a:tbl>
          </a:graphicData>
        </a:graphic>
      </p:graphicFrame>
      <p:pic>
        <p:nvPicPr>
          <p:cNvPr id="33" name="Picture 3">
            <a:extLst>
              <a:ext uri="{FF2B5EF4-FFF2-40B4-BE49-F238E27FC236}">
                <a16:creationId xmlns:a16="http://schemas.microsoft.com/office/drawing/2014/main" id="{E43F68DC-96C7-4702-B5B9-C97FF8E7C7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8461" y="1196377"/>
            <a:ext cx="989195" cy="8890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90430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359840" y="368244"/>
            <a:ext cx="7886700" cy="1116540"/>
          </a:xfrm>
        </p:spPr>
        <p:txBody>
          <a:bodyPr/>
          <a:lstStyle/>
          <a:p>
            <a:r>
              <a:rPr lang="es-CO" sz="3200" dirty="0"/>
              <a:t>Diseño de Algoritmos</a:t>
            </a:r>
          </a:p>
        </p:txBody>
      </p:sp>
      <p:sp>
        <p:nvSpPr>
          <p:cNvPr id="2" name="1 Marcador de contenido"/>
          <p:cNvSpPr>
            <a:spLocks noGrp="1"/>
          </p:cNvSpPr>
          <p:nvPr>
            <p:ph idx="1"/>
          </p:nvPr>
        </p:nvSpPr>
        <p:spPr>
          <a:xfrm>
            <a:off x="323850" y="1412776"/>
            <a:ext cx="8352605" cy="841144"/>
          </a:xfrm>
          <a:ln>
            <a:noFill/>
          </a:ln>
        </p:spPr>
        <p:txBody>
          <a:bodyPr/>
          <a:lstStyle/>
          <a:p>
            <a:pPr marL="0" indent="0">
              <a:buNone/>
            </a:pPr>
            <a:r>
              <a:rPr lang="es-CO" sz="2400" b="1" dirty="0">
                <a:solidFill>
                  <a:srgbClr val="FF0000"/>
                </a:solidFill>
              </a:rPr>
              <a:t>Ejemplo 2</a:t>
            </a:r>
            <a:r>
              <a:rPr lang="es-CO" sz="2400" dirty="0">
                <a:solidFill>
                  <a:srgbClr val="FF0000"/>
                </a:solidFill>
              </a:rPr>
              <a:t>:</a:t>
            </a:r>
            <a:r>
              <a:rPr lang="es-CO" sz="2400" dirty="0"/>
              <a:t> Se requiere diseñar un algoritmo que </a:t>
            </a:r>
            <a:r>
              <a:rPr lang="es-CO" sz="2400" b="1" dirty="0"/>
              <a:t>calcule el número de meses que hay entre los años A y B</a:t>
            </a:r>
            <a:r>
              <a:rPr lang="es-CO" sz="2400" dirty="0"/>
              <a:t>.</a:t>
            </a:r>
          </a:p>
          <a:p>
            <a:pPr marL="0" indent="0">
              <a:buNone/>
            </a:pPr>
            <a:endParaRPr lang="es-CO" dirty="0"/>
          </a:p>
        </p:txBody>
      </p:sp>
      <p:grpSp>
        <p:nvGrpSpPr>
          <p:cNvPr id="17" name="Grupo 16">
            <a:extLst>
              <a:ext uri="{FF2B5EF4-FFF2-40B4-BE49-F238E27FC236}">
                <a16:creationId xmlns:a16="http://schemas.microsoft.com/office/drawing/2014/main" id="{82E23D9C-3890-4185-BC65-FBA45DD78D2F}"/>
              </a:ext>
            </a:extLst>
          </p:cNvPr>
          <p:cNvGrpSpPr/>
          <p:nvPr/>
        </p:nvGrpSpPr>
        <p:grpSpPr>
          <a:xfrm>
            <a:off x="1196733" y="3068960"/>
            <a:ext cx="6606838" cy="1899976"/>
            <a:chOff x="1331640" y="2480681"/>
            <a:chExt cx="6606838" cy="1899976"/>
          </a:xfrm>
        </p:grpSpPr>
        <p:cxnSp>
          <p:nvCxnSpPr>
            <p:cNvPr id="6" name="Conector recto de flecha 5">
              <a:extLst>
                <a:ext uri="{FF2B5EF4-FFF2-40B4-BE49-F238E27FC236}">
                  <a16:creationId xmlns:a16="http://schemas.microsoft.com/office/drawing/2014/main" id="{1F7F222F-6376-4EF6-82AE-31EB7F1D3F99}"/>
                </a:ext>
              </a:extLst>
            </p:cNvPr>
            <p:cNvCxnSpPr/>
            <p:nvPr/>
          </p:nvCxnSpPr>
          <p:spPr>
            <a:xfrm>
              <a:off x="1331640" y="3573016"/>
              <a:ext cx="6192688" cy="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Conector recto 8">
              <a:extLst>
                <a:ext uri="{FF2B5EF4-FFF2-40B4-BE49-F238E27FC236}">
                  <a16:creationId xmlns:a16="http://schemas.microsoft.com/office/drawing/2014/main" id="{EF61828C-EA03-4976-B7E0-92BF5E882839}"/>
                </a:ext>
              </a:extLst>
            </p:cNvPr>
            <p:cNvCxnSpPr>
              <a:cxnSpLocks/>
            </p:cNvCxnSpPr>
            <p:nvPr/>
          </p:nvCxnSpPr>
          <p:spPr>
            <a:xfrm>
              <a:off x="2195736" y="3429000"/>
              <a:ext cx="0" cy="28136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10" name="CuadroTexto 9">
              <a:extLst>
                <a:ext uri="{FF2B5EF4-FFF2-40B4-BE49-F238E27FC236}">
                  <a16:creationId xmlns:a16="http://schemas.microsoft.com/office/drawing/2014/main" id="{1E366C2B-7ACB-4D27-A727-6512A5BA99F8}"/>
                </a:ext>
              </a:extLst>
            </p:cNvPr>
            <p:cNvSpPr txBox="1"/>
            <p:nvPr/>
          </p:nvSpPr>
          <p:spPr>
            <a:xfrm>
              <a:off x="7380312" y="3710360"/>
              <a:ext cx="558166" cy="307777"/>
            </a:xfrm>
            <a:prstGeom prst="rect">
              <a:avLst/>
            </a:prstGeom>
            <a:noFill/>
          </p:spPr>
          <p:txBody>
            <a:bodyPr wrap="none" rtlCol="0">
              <a:spAutoFit/>
            </a:bodyPr>
            <a:lstStyle/>
            <a:p>
              <a:r>
                <a:rPr lang="es-CO" sz="1400" b="1" dirty="0"/>
                <a:t>Años</a:t>
              </a:r>
            </a:p>
          </p:txBody>
        </p:sp>
        <p:cxnSp>
          <p:nvCxnSpPr>
            <p:cNvPr id="33" name="Conector recto 32">
              <a:extLst>
                <a:ext uri="{FF2B5EF4-FFF2-40B4-BE49-F238E27FC236}">
                  <a16:creationId xmlns:a16="http://schemas.microsoft.com/office/drawing/2014/main" id="{141B90E2-46A7-43B4-B8E5-766A737F6AFB}"/>
                </a:ext>
              </a:extLst>
            </p:cNvPr>
            <p:cNvCxnSpPr>
              <a:cxnSpLocks/>
            </p:cNvCxnSpPr>
            <p:nvPr/>
          </p:nvCxnSpPr>
          <p:spPr>
            <a:xfrm>
              <a:off x="6084168" y="3429000"/>
              <a:ext cx="0" cy="28136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45B5F923-2D9E-47E8-BCB5-6AC94A9176C7}"/>
                </a:ext>
              </a:extLst>
            </p:cNvPr>
            <p:cNvCxnSpPr/>
            <p:nvPr/>
          </p:nvCxnSpPr>
          <p:spPr>
            <a:xfrm flipV="1">
              <a:off x="2195736" y="3788048"/>
              <a:ext cx="0" cy="284832"/>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ector recto de flecha 33">
              <a:extLst>
                <a:ext uri="{FF2B5EF4-FFF2-40B4-BE49-F238E27FC236}">
                  <a16:creationId xmlns:a16="http://schemas.microsoft.com/office/drawing/2014/main" id="{2F66CBFC-B807-4B68-9781-17B051A7DB1A}"/>
                </a:ext>
              </a:extLst>
            </p:cNvPr>
            <p:cNvCxnSpPr/>
            <p:nvPr/>
          </p:nvCxnSpPr>
          <p:spPr>
            <a:xfrm flipV="1">
              <a:off x="6084168" y="3743412"/>
              <a:ext cx="0" cy="284832"/>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5" name="CuadroTexto 34">
              <a:extLst>
                <a:ext uri="{FF2B5EF4-FFF2-40B4-BE49-F238E27FC236}">
                  <a16:creationId xmlns:a16="http://schemas.microsoft.com/office/drawing/2014/main" id="{93178A4C-7EBD-42AC-BD9A-D7DDB024B2B1}"/>
                </a:ext>
              </a:extLst>
            </p:cNvPr>
            <p:cNvSpPr txBox="1"/>
            <p:nvPr/>
          </p:nvSpPr>
          <p:spPr>
            <a:xfrm>
              <a:off x="2048901" y="4072880"/>
              <a:ext cx="293670" cy="307777"/>
            </a:xfrm>
            <a:prstGeom prst="rect">
              <a:avLst/>
            </a:prstGeom>
            <a:noFill/>
          </p:spPr>
          <p:txBody>
            <a:bodyPr wrap="none" rtlCol="0">
              <a:spAutoFit/>
            </a:bodyPr>
            <a:lstStyle/>
            <a:p>
              <a:r>
                <a:rPr lang="es-CO" sz="1400" b="1" dirty="0"/>
                <a:t>A</a:t>
              </a:r>
            </a:p>
          </p:txBody>
        </p:sp>
        <p:sp>
          <p:nvSpPr>
            <p:cNvPr id="36" name="CuadroTexto 35">
              <a:extLst>
                <a:ext uri="{FF2B5EF4-FFF2-40B4-BE49-F238E27FC236}">
                  <a16:creationId xmlns:a16="http://schemas.microsoft.com/office/drawing/2014/main" id="{037DF19F-2C31-4CF7-BD6F-E760BFBE7503}"/>
                </a:ext>
              </a:extLst>
            </p:cNvPr>
            <p:cNvSpPr txBox="1"/>
            <p:nvPr/>
          </p:nvSpPr>
          <p:spPr>
            <a:xfrm>
              <a:off x="5937333" y="4072880"/>
              <a:ext cx="293670" cy="307777"/>
            </a:xfrm>
            <a:prstGeom prst="rect">
              <a:avLst/>
            </a:prstGeom>
            <a:noFill/>
          </p:spPr>
          <p:txBody>
            <a:bodyPr wrap="none" rtlCol="0">
              <a:spAutoFit/>
            </a:bodyPr>
            <a:lstStyle/>
            <a:p>
              <a:r>
                <a:rPr lang="es-CO" sz="1400" b="1" dirty="0"/>
                <a:t>B</a:t>
              </a:r>
            </a:p>
          </p:txBody>
        </p:sp>
        <p:sp>
          <p:nvSpPr>
            <p:cNvPr id="16" name="Abrir llave 15">
              <a:extLst>
                <a:ext uri="{FF2B5EF4-FFF2-40B4-BE49-F238E27FC236}">
                  <a16:creationId xmlns:a16="http://schemas.microsoft.com/office/drawing/2014/main" id="{ABFAB077-420D-4206-B70F-62574E651244}"/>
                </a:ext>
              </a:extLst>
            </p:cNvPr>
            <p:cNvSpPr/>
            <p:nvPr/>
          </p:nvSpPr>
          <p:spPr>
            <a:xfrm rot="5400000">
              <a:off x="3958689" y="1166183"/>
              <a:ext cx="362524" cy="3888431"/>
            </a:xfrm>
            <a:prstGeom prst="leftBrace">
              <a:avLst>
                <a:gd name="adj1" fmla="val 48119"/>
                <a:gd name="adj2" fmla="val 50000"/>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37" name="CuadroTexto 36">
              <a:extLst>
                <a:ext uri="{FF2B5EF4-FFF2-40B4-BE49-F238E27FC236}">
                  <a16:creationId xmlns:a16="http://schemas.microsoft.com/office/drawing/2014/main" id="{F8E1CE52-2C4F-4373-99B4-7ECDDAD930BD}"/>
                </a:ext>
              </a:extLst>
            </p:cNvPr>
            <p:cNvSpPr txBox="1"/>
            <p:nvPr/>
          </p:nvSpPr>
          <p:spPr>
            <a:xfrm>
              <a:off x="3812778" y="2480681"/>
              <a:ext cx="654346" cy="307777"/>
            </a:xfrm>
            <a:prstGeom prst="rect">
              <a:avLst/>
            </a:prstGeom>
            <a:noFill/>
          </p:spPr>
          <p:txBody>
            <a:bodyPr wrap="none" rtlCol="0">
              <a:spAutoFit/>
            </a:bodyPr>
            <a:lstStyle/>
            <a:p>
              <a:r>
                <a:rPr lang="es-CO" sz="1400" b="1" dirty="0">
                  <a:solidFill>
                    <a:srgbClr val="00B050"/>
                  </a:solidFill>
                </a:rPr>
                <a:t>meses</a:t>
              </a:r>
            </a:p>
          </p:txBody>
        </p:sp>
      </p:grpSp>
    </p:spTree>
    <p:extLst>
      <p:ext uri="{BB962C8B-B14F-4D97-AF65-F5344CB8AC3E}">
        <p14:creationId xmlns:p14="http://schemas.microsoft.com/office/powerpoint/2010/main" val="9668880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Título"/>
          <p:cNvSpPr>
            <a:spLocks noGrp="1"/>
          </p:cNvSpPr>
          <p:nvPr>
            <p:ph type="title"/>
          </p:nvPr>
        </p:nvSpPr>
        <p:spPr>
          <a:xfrm>
            <a:off x="359840" y="368244"/>
            <a:ext cx="7886700" cy="1116540"/>
          </a:xfrm>
        </p:spPr>
        <p:txBody>
          <a:bodyPr/>
          <a:lstStyle/>
          <a:p>
            <a:r>
              <a:rPr lang="es-CO" sz="3200" dirty="0"/>
              <a:t>Diseño de Algoritmos</a:t>
            </a:r>
          </a:p>
        </p:txBody>
      </p:sp>
      <p:sp>
        <p:nvSpPr>
          <p:cNvPr id="8" name="1 Marcador de contenido">
            <a:extLst>
              <a:ext uri="{FF2B5EF4-FFF2-40B4-BE49-F238E27FC236}">
                <a16:creationId xmlns:a16="http://schemas.microsoft.com/office/drawing/2014/main" id="{070A64C5-05F8-485A-86ED-5988138399BC}"/>
              </a:ext>
            </a:extLst>
          </p:cNvPr>
          <p:cNvSpPr txBox="1">
            <a:spLocks/>
          </p:cNvSpPr>
          <p:nvPr/>
        </p:nvSpPr>
        <p:spPr>
          <a:xfrm>
            <a:off x="467544" y="2456903"/>
            <a:ext cx="3960440" cy="37084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57150">
              <a:buNone/>
            </a:pPr>
            <a:r>
              <a:rPr lang="es-ES" sz="1800" b="1" dirty="0"/>
              <a:t>Análisis: </a:t>
            </a:r>
          </a:p>
          <a:p>
            <a:r>
              <a:rPr lang="es-ES" sz="1800" dirty="0">
                <a:solidFill>
                  <a:schemeClr val="accent5"/>
                </a:solidFill>
              </a:rPr>
              <a:t>¿Cuál es el objetivo buscado?</a:t>
            </a:r>
          </a:p>
          <a:p>
            <a:pPr marL="400050" lvl="1" indent="0">
              <a:buNone/>
            </a:pPr>
            <a:r>
              <a:rPr lang="es-ES" sz="1800" dirty="0"/>
              <a:t>Calcular los meses entre dos años.</a:t>
            </a:r>
          </a:p>
          <a:p>
            <a:r>
              <a:rPr lang="es-ES" sz="1800" dirty="0">
                <a:solidFill>
                  <a:schemeClr val="accent5"/>
                </a:solidFill>
              </a:rPr>
              <a:t>¿Cuáles son los datos de entrada?</a:t>
            </a:r>
          </a:p>
          <a:p>
            <a:pPr marL="400050" lvl="1" indent="0">
              <a:buNone/>
            </a:pPr>
            <a:r>
              <a:rPr lang="es-ES" sz="1800" dirty="0"/>
              <a:t>Año inicial (A) y año final (B)</a:t>
            </a:r>
          </a:p>
          <a:p>
            <a:r>
              <a:rPr lang="es-ES" sz="1800" dirty="0">
                <a:solidFill>
                  <a:schemeClr val="accent5"/>
                </a:solidFill>
              </a:rPr>
              <a:t>¿Cuáles son los datos de salida?</a:t>
            </a:r>
          </a:p>
          <a:p>
            <a:pPr marL="400050" lvl="1" indent="0">
              <a:buNone/>
            </a:pPr>
            <a:r>
              <a:rPr lang="es-ES" sz="1800" dirty="0"/>
              <a:t>Cantidad de meses</a:t>
            </a:r>
          </a:p>
          <a:p>
            <a:r>
              <a:rPr lang="es-ES" sz="1800" dirty="0">
                <a:solidFill>
                  <a:schemeClr val="accent5"/>
                </a:solidFill>
              </a:rPr>
              <a:t>¿Qué cálculos/procesos deben llevarse a cabo?</a:t>
            </a:r>
          </a:p>
          <a:p>
            <a:pPr marL="400050" lvl="1" indent="0">
              <a:buNone/>
            </a:pPr>
            <a:r>
              <a:rPr lang="es-ES" sz="1800" dirty="0"/>
              <a:t>años = B – A</a:t>
            </a:r>
          </a:p>
          <a:p>
            <a:pPr marL="400050" lvl="1" indent="0">
              <a:buNone/>
            </a:pPr>
            <a:r>
              <a:rPr lang="es-ES" sz="1800" dirty="0"/>
              <a:t>meses = 12*años</a:t>
            </a:r>
            <a:endParaRPr lang="es-CO" sz="1800" dirty="0"/>
          </a:p>
        </p:txBody>
      </p:sp>
      <p:grpSp>
        <p:nvGrpSpPr>
          <p:cNvPr id="3" name="Grupo 2">
            <a:extLst>
              <a:ext uri="{FF2B5EF4-FFF2-40B4-BE49-F238E27FC236}">
                <a16:creationId xmlns:a16="http://schemas.microsoft.com/office/drawing/2014/main" id="{77B04E87-09BA-4BAC-9709-696194422CB7}"/>
              </a:ext>
            </a:extLst>
          </p:cNvPr>
          <p:cNvGrpSpPr/>
          <p:nvPr/>
        </p:nvGrpSpPr>
        <p:grpSpPr>
          <a:xfrm>
            <a:off x="5076056" y="2644933"/>
            <a:ext cx="3024336" cy="3376355"/>
            <a:chOff x="5076056" y="2924944"/>
            <a:chExt cx="3024336" cy="3376355"/>
          </a:xfrm>
        </p:grpSpPr>
        <p:sp>
          <p:nvSpPr>
            <p:cNvPr id="20" name="6 Rectángulo">
              <a:extLst>
                <a:ext uri="{FF2B5EF4-FFF2-40B4-BE49-F238E27FC236}">
                  <a16:creationId xmlns:a16="http://schemas.microsoft.com/office/drawing/2014/main" id="{0C9340DA-FF2B-4F3E-9238-1C2DC81D2862}"/>
                </a:ext>
              </a:extLst>
            </p:cNvPr>
            <p:cNvSpPr/>
            <p:nvPr/>
          </p:nvSpPr>
          <p:spPr>
            <a:xfrm>
              <a:off x="5076056" y="3634299"/>
              <a:ext cx="1447800" cy="533400"/>
            </a:xfrm>
            <a:prstGeom prst="rect">
              <a:avLst/>
            </a:prstGeom>
            <a:noFill/>
            <a:ln>
              <a:solidFill>
                <a:schemeClr val="accent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lumMod val="50000"/>
                      <a:lumOff val="50000"/>
                    </a:schemeClr>
                  </a:solidFill>
                  <a:latin typeface="Consolas" panose="020B0609020204030204" pitchFamily="49" charset="0"/>
                </a:rPr>
                <a:t>Inputs</a:t>
              </a:r>
            </a:p>
          </p:txBody>
        </p:sp>
        <p:sp>
          <p:nvSpPr>
            <p:cNvPr id="21" name="7 Rectángulo">
              <a:extLst>
                <a:ext uri="{FF2B5EF4-FFF2-40B4-BE49-F238E27FC236}">
                  <a16:creationId xmlns:a16="http://schemas.microsoft.com/office/drawing/2014/main" id="{362B55A6-496E-4F92-97C5-DDC1C57EE016}"/>
                </a:ext>
              </a:extLst>
            </p:cNvPr>
            <p:cNvSpPr/>
            <p:nvPr/>
          </p:nvSpPr>
          <p:spPr>
            <a:xfrm>
              <a:off x="5076056" y="4548699"/>
              <a:ext cx="1447800" cy="838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latin typeface="Consolas" panose="020B0609020204030204" pitchFamily="49" charset="0"/>
                </a:rPr>
                <a:t>Process</a:t>
              </a:r>
            </a:p>
          </p:txBody>
        </p:sp>
        <p:sp>
          <p:nvSpPr>
            <p:cNvPr id="22" name="8 Rectángulo">
              <a:extLst>
                <a:ext uri="{FF2B5EF4-FFF2-40B4-BE49-F238E27FC236}">
                  <a16:creationId xmlns:a16="http://schemas.microsoft.com/office/drawing/2014/main" id="{C5510F37-31DD-4892-BC14-C429288748A2}"/>
                </a:ext>
              </a:extLst>
            </p:cNvPr>
            <p:cNvSpPr/>
            <p:nvPr/>
          </p:nvSpPr>
          <p:spPr>
            <a:xfrm>
              <a:off x="5076056" y="5767899"/>
              <a:ext cx="1447800" cy="533400"/>
            </a:xfrm>
            <a:prstGeom prst="rect">
              <a:avLst/>
            </a:prstGeom>
            <a:noFill/>
            <a:ln>
              <a:solidFill>
                <a:schemeClr val="accent5"/>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b="1" dirty="0">
                  <a:solidFill>
                    <a:schemeClr val="tx1">
                      <a:lumMod val="50000"/>
                      <a:lumOff val="50000"/>
                    </a:schemeClr>
                  </a:solidFill>
                  <a:latin typeface="Consolas" panose="020B0609020204030204" pitchFamily="49" charset="0"/>
                </a:rPr>
                <a:t>Outputs</a:t>
              </a:r>
            </a:p>
          </p:txBody>
        </p:sp>
        <p:sp>
          <p:nvSpPr>
            <p:cNvPr id="23" name="9 Flecha derecha">
              <a:extLst>
                <a:ext uri="{FF2B5EF4-FFF2-40B4-BE49-F238E27FC236}">
                  <a16:creationId xmlns:a16="http://schemas.microsoft.com/office/drawing/2014/main" id="{D6841359-5872-44B5-B1B4-A32D7B656493}"/>
                </a:ext>
              </a:extLst>
            </p:cNvPr>
            <p:cNvSpPr/>
            <p:nvPr/>
          </p:nvSpPr>
          <p:spPr>
            <a:xfrm rot="5400000">
              <a:off x="5609456" y="4243899"/>
              <a:ext cx="381000" cy="22860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4" name="10 Flecha derecha">
              <a:extLst>
                <a:ext uri="{FF2B5EF4-FFF2-40B4-BE49-F238E27FC236}">
                  <a16:creationId xmlns:a16="http://schemas.microsoft.com/office/drawing/2014/main" id="{94C5D393-E38A-453F-938F-F6D1A8DCFF01}"/>
                </a:ext>
              </a:extLst>
            </p:cNvPr>
            <p:cNvSpPr/>
            <p:nvPr/>
          </p:nvSpPr>
          <p:spPr>
            <a:xfrm rot="5400000">
              <a:off x="5609456" y="5463099"/>
              <a:ext cx="381000" cy="228600"/>
            </a:xfrm>
            <a:prstGeom prst="rightArrow">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11 Rectángulo">
              <a:extLst>
                <a:ext uri="{FF2B5EF4-FFF2-40B4-BE49-F238E27FC236}">
                  <a16:creationId xmlns:a16="http://schemas.microsoft.com/office/drawing/2014/main" id="{D01C220D-BECE-4A0D-8E73-80AE1D9C2A70}"/>
                </a:ext>
              </a:extLst>
            </p:cNvPr>
            <p:cNvSpPr/>
            <p:nvPr/>
          </p:nvSpPr>
          <p:spPr>
            <a:xfrm>
              <a:off x="5253940" y="2941989"/>
              <a:ext cx="524543" cy="304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solidFill>
                    <a:schemeClr val="tx1"/>
                  </a:solidFill>
                  <a:latin typeface="Consolas" panose="020B0609020204030204" pitchFamily="49" charset="0"/>
                </a:rPr>
                <a:t>A</a:t>
              </a:r>
            </a:p>
          </p:txBody>
        </p:sp>
        <p:cxnSp>
          <p:nvCxnSpPr>
            <p:cNvPr id="26" name="13 Conector recto de flecha">
              <a:extLst>
                <a:ext uri="{FF2B5EF4-FFF2-40B4-BE49-F238E27FC236}">
                  <a16:creationId xmlns:a16="http://schemas.microsoft.com/office/drawing/2014/main" id="{A0054D05-3DBB-4C0F-9008-56A2D4819774}"/>
                </a:ext>
              </a:extLst>
            </p:cNvPr>
            <p:cNvCxnSpPr/>
            <p:nvPr/>
          </p:nvCxnSpPr>
          <p:spPr>
            <a:xfrm>
              <a:off x="6049612" y="3253299"/>
              <a:ext cx="0" cy="3048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15 Conector recto de flecha">
              <a:extLst>
                <a:ext uri="{FF2B5EF4-FFF2-40B4-BE49-F238E27FC236}">
                  <a16:creationId xmlns:a16="http://schemas.microsoft.com/office/drawing/2014/main" id="{1C4F0FFA-BBAE-479D-A238-D9BC1515DF7F}"/>
                </a:ext>
              </a:extLst>
            </p:cNvPr>
            <p:cNvCxnSpPr/>
            <p:nvPr/>
          </p:nvCxnSpPr>
          <p:spPr>
            <a:xfrm>
              <a:off x="5516212" y="3253299"/>
              <a:ext cx="0" cy="30480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16 Rectángulo">
              <a:extLst>
                <a:ext uri="{FF2B5EF4-FFF2-40B4-BE49-F238E27FC236}">
                  <a16:creationId xmlns:a16="http://schemas.microsoft.com/office/drawing/2014/main" id="{ECABF78B-C68B-4F47-B0E6-8C020EF6B4B8}"/>
                </a:ext>
              </a:extLst>
            </p:cNvPr>
            <p:cNvSpPr/>
            <p:nvPr/>
          </p:nvSpPr>
          <p:spPr>
            <a:xfrm>
              <a:off x="6925344" y="5901249"/>
              <a:ext cx="678223" cy="2640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solidFill>
                    <a:schemeClr val="tx1"/>
                  </a:solidFill>
                  <a:latin typeface="Consolas" panose="020B0609020204030204" pitchFamily="49" charset="0"/>
                </a:rPr>
                <a:t>meses</a:t>
              </a:r>
            </a:p>
          </p:txBody>
        </p:sp>
        <p:cxnSp>
          <p:nvCxnSpPr>
            <p:cNvPr id="29" name="17 Conector recto de flecha">
              <a:extLst>
                <a:ext uri="{FF2B5EF4-FFF2-40B4-BE49-F238E27FC236}">
                  <a16:creationId xmlns:a16="http://schemas.microsoft.com/office/drawing/2014/main" id="{19606861-D3FC-4D16-B935-7BABF9249E49}"/>
                </a:ext>
              </a:extLst>
            </p:cNvPr>
            <p:cNvCxnSpPr/>
            <p:nvPr/>
          </p:nvCxnSpPr>
          <p:spPr>
            <a:xfrm>
              <a:off x="6572200" y="6034599"/>
              <a:ext cx="304800"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11 Rectángulo">
              <a:extLst>
                <a:ext uri="{FF2B5EF4-FFF2-40B4-BE49-F238E27FC236}">
                  <a16:creationId xmlns:a16="http://schemas.microsoft.com/office/drawing/2014/main" id="{C2D0AECB-F5AE-40F3-8C37-9C34E737B775}"/>
                </a:ext>
              </a:extLst>
            </p:cNvPr>
            <p:cNvSpPr/>
            <p:nvPr/>
          </p:nvSpPr>
          <p:spPr>
            <a:xfrm>
              <a:off x="5660203" y="2924944"/>
              <a:ext cx="853289" cy="3388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solidFill>
                    <a:schemeClr val="tx1"/>
                  </a:solidFill>
                  <a:latin typeface="Consolas" panose="020B0609020204030204" pitchFamily="49" charset="0"/>
                </a:rPr>
                <a:t>B</a:t>
              </a:r>
            </a:p>
          </p:txBody>
        </p:sp>
        <p:sp>
          <p:nvSpPr>
            <p:cNvPr id="31" name="11 Rectángulo">
              <a:extLst>
                <a:ext uri="{FF2B5EF4-FFF2-40B4-BE49-F238E27FC236}">
                  <a16:creationId xmlns:a16="http://schemas.microsoft.com/office/drawing/2014/main" id="{66934DA9-A58A-4700-A30C-A2525981078F}"/>
                </a:ext>
              </a:extLst>
            </p:cNvPr>
            <p:cNvSpPr/>
            <p:nvPr/>
          </p:nvSpPr>
          <p:spPr>
            <a:xfrm>
              <a:off x="6552382" y="4701099"/>
              <a:ext cx="1548010" cy="533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CO" sz="1200" dirty="0">
                  <a:solidFill>
                    <a:schemeClr val="tx1"/>
                  </a:solidFill>
                  <a:latin typeface="Consolas" panose="020B0609020204030204" pitchFamily="49" charset="0"/>
                </a:rPr>
                <a:t>años = B – A</a:t>
              </a:r>
            </a:p>
            <a:p>
              <a:r>
                <a:rPr lang="es-CO" sz="1200" dirty="0">
                  <a:solidFill>
                    <a:schemeClr val="tx1"/>
                  </a:solidFill>
                  <a:latin typeface="Consolas" panose="020B0609020204030204" pitchFamily="49" charset="0"/>
                </a:rPr>
                <a:t>meses = 12*años</a:t>
              </a:r>
            </a:p>
          </p:txBody>
        </p:sp>
      </p:grpSp>
      <p:graphicFrame>
        <p:nvGraphicFramePr>
          <p:cNvPr id="32" name="13 Diagrama">
            <a:extLst>
              <a:ext uri="{FF2B5EF4-FFF2-40B4-BE49-F238E27FC236}">
                <a16:creationId xmlns:a16="http://schemas.microsoft.com/office/drawing/2014/main" id="{3912DD6E-D8E3-47FC-AD10-FC36343FD5CE}"/>
              </a:ext>
            </a:extLst>
          </p:cNvPr>
          <p:cNvGraphicFramePr/>
          <p:nvPr>
            <p:extLst>
              <p:ext uri="{D42A27DB-BD31-4B8C-83A1-F6EECF244321}">
                <p14:modId xmlns:p14="http://schemas.microsoft.com/office/powerpoint/2010/main" val="510665533"/>
              </p:ext>
            </p:extLst>
          </p:nvPr>
        </p:nvGraphicFramePr>
        <p:xfrm>
          <a:off x="1523865" y="1340768"/>
          <a:ext cx="3048135" cy="797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3" name="Picture 3">
            <a:extLst>
              <a:ext uri="{FF2B5EF4-FFF2-40B4-BE49-F238E27FC236}">
                <a16:creationId xmlns:a16="http://schemas.microsoft.com/office/drawing/2014/main" id="{B5228026-997F-4B49-B9FB-245E729147C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0991" y="1308618"/>
            <a:ext cx="989195" cy="8890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4" name="Grupo 33">
            <a:extLst>
              <a:ext uri="{FF2B5EF4-FFF2-40B4-BE49-F238E27FC236}">
                <a16:creationId xmlns:a16="http://schemas.microsoft.com/office/drawing/2014/main" id="{6C0ECDEA-C0AF-4311-9DD3-A0CF601EA582}"/>
              </a:ext>
            </a:extLst>
          </p:cNvPr>
          <p:cNvGrpSpPr/>
          <p:nvPr/>
        </p:nvGrpSpPr>
        <p:grpSpPr>
          <a:xfrm>
            <a:off x="5364088" y="795198"/>
            <a:ext cx="2920802" cy="1654207"/>
            <a:chOff x="1331640" y="2465909"/>
            <a:chExt cx="6606838" cy="1929320"/>
          </a:xfrm>
        </p:grpSpPr>
        <p:cxnSp>
          <p:nvCxnSpPr>
            <p:cNvPr id="35" name="Conector recto de flecha 34">
              <a:extLst>
                <a:ext uri="{FF2B5EF4-FFF2-40B4-BE49-F238E27FC236}">
                  <a16:creationId xmlns:a16="http://schemas.microsoft.com/office/drawing/2014/main" id="{48553563-3E0F-4A82-8CAD-9F963DAAF06C}"/>
                </a:ext>
              </a:extLst>
            </p:cNvPr>
            <p:cNvCxnSpPr/>
            <p:nvPr/>
          </p:nvCxnSpPr>
          <p:spPr>
            <a:xfrm>
              <a:off x="1331640" y="3573016"/>
              <a:ext cx="6192688" cy="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ector recto 35">
              <a:extLst>
                <a:ext uri="{FF2B5EF4-FFF2-40B4-BE49-F238E27FC236}">
                  <a16:creationId xmlns:a16="http://schemas.microsoft.com/office/drawing/2014/main" id="{11AC9A4E-9104-4F3B-A5EE-7D227214DFDD}"/>
                </a:ext>
              </a:extLst>
            </p:cNvPr>
            <p:cNvCxnSpPr>
              <a:cxnSpLocks/>
            </p:cNvCxnSpPr>
            <p:nvPr/>
          </p:nvCxnSpPr>
          <p:spPr>
            <a:xfrm>
              <a:off x="2195736" y="3429000"/>
              <a:ext cx="0" cy="28136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7" name="CuadroTexto 36">
              <a:extLst>
                <a:ext uri="{FF2B5EF4-FFF2-40B4-BE49-F238E27FC236}">
                  <a16:creationId xmlns:a16="http://schemas.microsoft.com/office/drawing/2014/main" id="{83575EC7-1495-48CC-8132-485EBE8103D4}"/>
                </a:ext>
              </a:extLst>
            </p:cNvPr>
            <p:cNvSpPr txBox="1"/>
            <p:nvPr/>
          </p:nvSpPr>
          <p:spPr>
            <a:xfrm>
              <a:off x="7380312" y="3710360"/>
              <a:ext cx="558166" cy="307777"/>
            </a:xfrm>
            <a:prstGeom prst="rect">
              <a:avLst/>
            </a:prstGeom>
            <a:noFill/>
          </p:spPr>
          <p:txBody>
            <a:bodyPr wrap="none" rtlCol="0">
              <a:spAutoFit/>
            </a:bodyPr>
            <a:lstStyle/>
            <a:p>
              <a:r>
                <a:rPr lang="es-CO" sz="1400" b="1" dirty="0"/>
                <a:t>Años</a:t>
              </a:r>
            </a:p>
          </p:txBody>
        </p:sp>
        <p:cxnSp>
          <p:nvCxnSpPr>
            <p:cNvPr id="38" name="Conector recto 37">
              <a:extLst>
                <a:ext uri="{FF2B5EF4-FFF2-40B4-BE49-F238E27FC236}">
                  <a16:creationId xmlns:a16="http://schemas.microsoft.com/office/drawing/2014/main" id="{19273B07-8A0E-4441-A453-9A4E38B6A458}"/>
                </a:ext>
              </a:extLst>
            </p:cNvPr>
            <p:cNvCxnSpPr>
              <a:cxnSpLocks/>
            </p:cNvCxnSpPr>
            <p:nvPr/>
          </p:nvCxnSpPr>
          <p:spPr>
            <a:xfrm>
              <a:off x="6084168" y="3429000"/>
              <a:ext cx="0" cy="28136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9" name="Conector recto de flecha 38">
              <a:extLst>
                <a:ext uri="{FF2B5EF4-FFF2-40B4-BE49-F238E27FC236}">
                  <a16:creationId xmlns:a16="http://schemas.microsoft.com/office/drawing/2014/main" id="{73D74608-1084-42FB-B886-4922DAEB38E5}"/>
                </a:ext>
              </a:extLst>
            </p:cNvPr>
            <p:cNvCxnSpPr/>
            <p:nvPr/>
          </p:nvCxnSpPr>
          <p:spPr>
            <a:xfrm flipV="1">
              <a:off x="2195736" y="3788048"/>
              <a:ext cx="0" cy="284832"/>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Conector recto de flecha 39">
              <a:extLst>
                <a:ext uri="{FF2B5EF4-FFF2-40B4-BE49-F238E27FC236}">
                  <a16:creationId xmlns:a16="http://schemas.microsoft.com/office/drawing/2014/main" id="{16BD35A8-E023-4AFD-B2E4-FCCC2DF2496C}"/>
                </a:ext>
              </a:extLst>
            </p:cNvPr>
            <p:cNvCxnSpPr/>
            <p:nvPr/>
          </p:nvCxnSpPr>
          <p:spPr>
            <a:xfrm flipV="1">
              <a:off x="6084168" y="3743412"/>
              <a:ext cx="0" cy="284832"/>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1" name="CuadroTexto 40">
              <a:extLst>
                <a:ext uri="{FF2B5EF4-FFF2-40B4-BE49-F238E27FC236}">
                  <a16:creationId xmlns:a16="http://schemas.microsoft.com/office/drawing/2014/main" id="{13A589EC-69D7-4AE2-B9B0-45F95AE9BC84}"/>
                </a:ext>
              </a:extLst>
            </p:cNvPr>
            <p:cNvSpPr txBox="1"/>
            <p:nvPr/>
          </p:nvSpPr>
          <p:spPr>
            <a:xfrm>
              <a:off x="1902063" y="4087452"/>
              <a:ext cx="293670" cy="307777"/>
            </a:xfrm>
            <a:prstGeom prst="rect">
              <a:avLst/>
            </a:prstGeom>
            <a:noFill/>
          </p:spPr>
          <p:txBody>
            <a:bodyPr wrap="none" rtlCol="0">
              <a:spAutoFit/>
            </a:bodyPr>
            <a:lstStyle/>
            <a:p>
              <a:r>
                <a:rPr lang="es-CO" sz="1400" b="1" dirty="0"/>
                <a:t>A</a:t>
              </a:r>
            </a:p>
          </p:txBody>
        </p:sp>
        <p:sp>
          <p:nvSpPr>
            <p:cNvPr id="42" name="CuadroTexto 41">
              <a:extLst>
                <a:ext uri="{FF2B5EF4-FFF2-40B4-BE49-F238E27FC236}">
                  <a16:creationId xmlns:a16="http://schemas.microsoft.com/office/drawing/2014/main" id="{1EE784A2-2197-42A6-8CFF-BD0152E85ED1}"/>
                </a:ext>
              </a:extLst>
            </p:cNvPr>
            <p:cNvSpPr txBox="1"/>
            <p:nvPr/>
          </p:nvSpPr>
          <p:spPr>
            <a:xfrm>
              <a:off x="5790497" y="4087452"/>
              <a:ext cx="293670" cy="307777"/>
            </a:xfrm>
            <a:prstGeom prst="rect">
              <a:avLst/>
            </a:prstGeom>
            <a:noFill/>
          </p:spPr>
          <p:txBody>
            <a:bodyPr wrap="none" rtlCol="0">
              <a:spAutoFit/>
            </a:bodyPr>
            <a:lstStyle/>
            <a:p>
              <a:r>
                <a:rPr lang="es-CO" sz="1400" b="1" dirty="0"/>
                <a:t>B</a:t>
              </a:r>
            </a:p>
          </p:txBody>
        </p:sp>
        <p:sp>
          <p:nvSpPr>
            <p:cNvPr id="43" name="Abrir llave 42">
              <a:extLst>
                <a:ext uri="{FF2B5EF4-FFF2-40B4-BE49-F238E27FC236}">
                  <a16:creationId xmlns:a16="http://schemas.microsoft.com/office/drawing/2014/main" id="{6352977B-4805-429C-8EBB-C0BB06AB3C62}"/>
                </a:ext>
              </a:extLst>
            </p:cNvPr>
            <p:cNvSpPr/>
            <p:nvPr/>
          </p:nvSpPr>
          <p:spPr>
            <a:xfrm rot="5400000">
              <a:off x="4050415" y="1111091"/>
              <a:ext cx="325887" cy="4035251"/>
            </a:xfrm>
            <a:prstGeom prst="leftBrace">
              <a:avLst>
                <a:gd name="adj1" fmla="val 48119"/>
                <a:gd name="adj2" fmla="val 50000"/>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44" name="CuadroTexto 43">
              <a:extLst>
                <a:ext uri="{FF2B5EF4-FFF2-40B4-BE49-F238E27FC236}">
                  <a16:creationId xmlns:a16="http://schemas.microsoft.com/office/drawing/2014/main" id="{69E2D50D-581A-440A-AD0A-767DD868794E}"/>
                </a:ext>
              </a:extLst>
            </p:cNvPr>
            <p:cNvSpPr txBox="1"/>
            <p:nvPr/>
          </p:nvSpPr>
          <p:spPr>
            <a:xfrm>
              <a:off x="3336464" y="2465909"/>
              <a:ext cx="1753788" cy="358964"/>
            </a:xfrm>
            <a:prstGeom prst="rect">
              <a:avLst/>
            </a:prstGeom>
            <a:noFill/>
          </p:spPr>
          <p:txBody>
            <a:bodyPr wrap="square" rtlCol="0">
              <a:spAutoFit/>
            </a:bodyPr>
            <a:lstStyle/>
            <a:p>
              <a:r>
                <a:rPr lang="es-CO" sz="1400" b="1" dirty="0">
                  <a:solidFill>
                    <a:srgbClr val="00B050"/>
                  </a:solidFill>
                </a:rPr>
                <a:t>meses</a:t>
              </a:r>
            </a:p>
          </p:txBody>
        </p:sp>
      </p:grpSp>
    </p:spTree>
    <p:extLst>
      <p:ext uri="{BB962C8B-B14F-4D97-AF65-F5344CB8AC3E}">
        <p14:creationId xmlns:p14="http://schemas.microsoft.com/office/powerpoint/2010/main" val="36571156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88640"/>
            <a:ext cx="8496944" cy="1116540"/>
          </a:xfrm>
        </p:spPr>
        <p:txBody>
          <a:bodyPr>
            <a:normAutofit/>
          </a:bodyPr>
          <a:lstStyle/>
          <a:p>
            <a:r>
              <a:rPr lang="es-CO" sz="2800" dirty="0"/>
              <a:t>Representación de algoritmos como diagramas de flujo</a:t>
            </a:r>
          </a:p>
        </p:txBody>
      </p:sp>
      <p:grpSp>
        <p:nvGrpSpPr>
          <p:cNvPr id="54" name="53 Grupo"/>
          <p:cNvGrpSpPr/>
          <p:nvPr/>
        </p:nvGrpSpPr>
        <p:grpSpPr>
          <a:xfrm>
            <a:off x="5724128" y="2944222"/>
            <a:ext cx="2575938" cy="3404074"/>
            <a:chOff x="5569827" y="1676400"/>
            <a:chExt cx="2098914" cy="3148769"/>
          </a:xfrm>
        </p:grpSpPr>
        <p:sp>
          <p:nvSpPr>
            <p:cNvPr id="8" name="Flowchart: Terminator 43"/>
            <p:cNvSpPr/>
            <p:nvPr/>
          </p:nvSpPr>
          <p:spPr>
            <a:xfrm>
              <a:off x="6096000" y="4520369"/>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entury Gothic" panose="020B0502020202020204" pitchFamily="34" charset="0"/>
                </a:rPr>
                <a:t>Finish</a:t>
              </a:r>
              <a:endParaRPr lang="en-US" sz="1400" dirty="0">
                <a:latin typeface="Century Gothic" panose="020B0502020202020204" pitchFamily="34" charset="0"/>
              </a:endParaRPr>
            </a:p>
          </p:txBody>
        </p:sp>
        <p:sp>
          <p:nvSpPr>
            <p:cNvPr id="9" name="Flowchart: Terminator 44"/>
            <p:cNvSpPr/>
            <p:nvPr/>
          </p:nvSpPr>
          <p:spPr>
            <a:xfrm>
              <a:off x="6096000" y="16764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onsolas" panose="020B0609020204030204" pitchFamily="49" charset="0"/>
                </a:rPr>
                <a:t>Start</a:t>
              </a:r>
              <a:endParaRPr lang="en-US" sz="1400" dirty="0">
                <a:latin typeface="Consolas" panose="020B0609020204030204" pitchFamily="49" charset="0"/>
              </a:endParaRPr>
            </a:p>
          </p:txBody>
        </p:sp>
        <p:cxnSp>
          <p:nvCxnSpPr>
            <p:cNvPr id="10" name="Straight Arrow Connector 45"/>
            <p:cNvCxnSpPr>
              <a:stCxn id="9" idx="2"/>
              <a:endCxn id="20" idx="1"/>
            </p:cNvCxnSpPr>
            <p:nvPr/>
          </p:nvCxnSpPr>
          <p:spPr>
            <a:xfrm flipH="1">
              <a:off x="6625949" y="1981200"/>
              <a:ext cx="3451"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48"/>
            <p:cNvCxnSpPr>
              <a:cxnSpLocks/>
              <a:stCxn id="44" idx="2"/>
              <a:endCxn id="16" idx="1"/>
            </p:cNvCxnSpPr>
            <p:nvPr/>
          </p:nvCxnSpPr>
          <p:spPr>
            <a:xfrm>
              <a:off x="6619284" y="3522617"/>
              <a:ext cx="10116" cy="38815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Flowchart: Data 52"/>
            <p:cNvSpPr/>
            <p:nvPr/>
          </p:nvSpPr>
          <p:spPr>
            <a:xfrm>
              <a:off x="5867400" y="3910769"/>
              <a:ext cx="1524000"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Print </a:t>
              </a:r>
              <a:r>
                <a:rPr lang="en-US" sz="1200" b="1" dirty="0">
                  <a:latin typeface="Century Gothic" panose="020B0502020202020204" pitchFamily="34" charset="0"/>
                </a:rPr>
                <a:t>months</a:t>
              </a:r>
            </a:p>
          </p:txBody>
        </p:sp>
        <p:cxnSp>
          <p:nvCxnSpPr>
            <p:cNvPr id="17" name="Straight Arrow Connector 53"/>
            <p:cNvCxnSpPr>
              <a:stCxn id="16" idx="4"/>
              <a:endCxn id="8" idx="0"/>
            </p:cNvCxnSpPr>
            <p:nvPr/>
          </p:nvCxnSpPr>
          <p:spPr>
            <a:xfrm>
              <a:off x="6629400" y="4291767"/>
              <a:ext cx="0"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Flowchart: Data 68"/>
            <p:cNvSpPr/>
            <p:nvPr/>
          </p:nvSpPr>
          <p:spPr>
            <a:xfrm>
              <a:off x="5687178" y="2209800"/>
              <a:ext cx="1877541" cy="4572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Read </a:t>
              </a:r>
              <a:r>
                <a:rPr lang="en-US" sz="1200" b="1" dirty="0" err="1">
                  <a:latin typeface="Century Gothic" panose="020B0502020202020204" pitchFamily="34" charset="0"/>
                </a:rPr>
                <a:t>init_year</a:t>
              </a:r>
              <a:r>
                <a:rPr lang="en-US" sz="1200" b="1" dirty="0">
                  <a:latin typeface="Century Gothic" panose="020B0502020202020204" pitchFamily="34" charset="0"/>
                </a:rPr>
                <a:t> </a:t>
              </a:r>
              <a:r>
                <a:rPr lang="en-US" sz="1200" dirty="0">
                  <a:latin typeface="Century Gothic" panose="020B0502020202020204" pitchFamily="34" charset="0"/>
                </a:rPr>
                <a:t>Read </a:t>
              </a:r>
              <a:r>
                <a:rPr lang="en-US" sz="1200" b="1" dirty="0" err="1">
                  <a:latin typeface="Century Gothic" panose="020B0502020202020204" pitchFamily="34" charset="0"/>
                </a:rPr>
                <a:t>final_year</a:t>
              </a:r>
              <a:endParaRPr lang="en-US" sz="1200" b="1" dirty="0">
                <a:latin typeface="Century Gothic" panose="020B0502020202020204" pitchFamily="34" charset="0"/>
              </a:endParaRPr>
            </a:p>
          </p:txBody>
        </p:sp>
        <p:cxnSp>
          <p:nvCxnSpPr>
            <p:cNvPr id="26" name="Straight Arrow Connector 47"/>
            <p:cNvCxnSpPr>
              <a:cxnSpLocks/>
              <a:stCxn id="20" idx="4"/>
              <a:endCxn id="44" idx="0"/>
            </p:cNvCxnSpPr>
            <p:nvPr/>
          </p:nvCxnSpPr>
          <p:spPr>
            <a:xfrm flipH="1">
              <a:off x="6619284" y="2667000"/>
              <a:ext cx="6665" cy="228599"/>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4" name="Flowchart: Process 42"/>
            <p:cNvSpPr/>
            <p:nvPr/>
          </p:nvSpPr>
          <p:spPr>
            <a:xfrm>
              <a:off x="5569827" y="2895599"/>
              <a:ext cx="2098914" cy="627018"/>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sym typeface="Wingdings" pitchFamily="2" charset="2"/>
                </a:rPr>
                <a:t>years </a:t>
              </a:r>
              <a:r>
                <a:rPr lang="en-US" sz="1200" dirty="0">
                  <a:latin typeface="Century Gothic" panose="020B0502020202020204" pitchFamily="34" charset="0"/>
                </a:rPr>
                <a:t> </a:t>
              </a:r>
              <a:r>
                <a:rPr lang="en-US" sz="1200" dirty="0" err="1">
                  <a:latin typeface="Century Gothic" panose="020B0502020202020204" pitchFamily="34" charset="0"/>
                </a:rPr>
                <a:t>final_year</a:t>
              </a:r>
              <a:r>
                <a:rPr lang="en-US" sz="1200" dirty="0">
                  <a:latin typeface="Century Gothic" panose="020B0502020202020204" pitchFamily="34" charset="0"/>
                </a:rPr>
                <a:t> – </a:t>
              </a:r>
              <a:r>
                <a:rPr lang="en-US" sz="1200" dirty="0" err="1">
                  <a:latin typeface="Century Gothic" panose="020B0502020202020204" pitchFamily="34" charset="0"/>
                </a:rPr>
                <a:t>init_year</a:t>
              </a:r>
              <a:endParaRPr lang="en-US" sz="1200" dirty="0">
                <a:latin typeface="Century Gothic" panose="020B0502020202020204" pitchFamily="34" charset="0"/>
              </a:endParaRPr>
            </a:p>
            <a:p>
              <a:pPr algn="ctr"/>
              <a:r>
                <a:rPr lang="en-US" sz="1200" dirty="0">
                  <a:latin typeface="Century Gothic" panose="020B0502020202020204" pitchFamily="34" charset="0"/>
                </a:rPr>
                <a:t>months = 12*years</a:t>
              </a:r>
            </a:p>
          </p:txBody>
        </p:sp>
      </p:grpSp>
      <p:sp>
        <p:nvSpPr>
          <p:cNvPr id="22" name="5 CuadroTexto">
            <a:extLst>
              <a:ext uri="{FF2B5EF4-FFF2-40B4-BE49-F238E27FC236}">
                <a16:creationId xmlns:a16="http://schemas.microsoft.com/office/drawing/2014/main" id="{CFDF14D2-98DB-4A28-9A46-D0D335C5E8DD}"/>
              </a:ext>
            </a:extLst>
          </p:cNvPr>
          <p:cNvSpPr txBox="1"/>
          <p:nvPr/>
        </p:nvSpPr>
        <p:spPr>
          <a:xfrm>
            <a:off x="370599" y="2944222"/>
            <a:ext cx="4613352" cy="3600986"/>
          </a:xfrm>
          <a:prstGeom prst="rect">
            <a:avLst/>
          </a:prstGeom>
          <a:noFill/>
        </p:spPr>
        <p:txBody>
          <a:bodyPr wrap="square" rtlCol="0">
            <a:spAutoFit/>
          </a:bodyPr>
          <a:lstStyle/>
          <a:p>
            <a:pPr marL="342900" indent="-342900">
              <a:buFont typeface="Arial" panose="020B0604020202020204" pitchFamily="34" charset="0"/>
              <a:buChar char="•"/>
            </a:pPr>
            <a:r>
              <a:rPr lang="es-CO" sz="2000" dirty="0">
                <a:solidFill>
                  <a:schemeClr val="accent5"/>
                </a:solidFill>
              </a:rPr>
              <a:t>Datos de entrada: </a:t>
            </a:r>
            <a:r>
              <a:rPr lang="es-CO" sz="2000" dirty="0"/>
              <a:t>los años especificados (A y B)</a:t>
            </a:r>
          </a:p>
          <a:p>
            <a:pPr marL="342900" indent="-342900">
              <a:buFont typeface="Arial" panose="020B0604020202020204" pitchFamily="34" charset="0"/>
              <a:buChar char="•"/>
            </a:pPr>
            <a:r>
              <a:rPr lang="es-CO" sz="2000" dirty="0">
                <a:solidFill>
                  <a:schemeClr val="accent5"/>
                </a:solidFill>
              </a:rPr>
              <a:t>Datos de salida: </a:t>
            </a:r>
            <a:r>
              <a:rPr lang="es-CO" sz="2000" dirty="0"/>
              <a:t>numero total de meses transcurridos</a:t>
            </a:r>
          </a:p>
          <a:p>
            <a:pPr marL="342900" indent="-342900">
              <a:buFont typeface="Arial" panose="020B0604020202020204" pitchFamily="34" charset="0"/>
              <a:buChar char="•"/>
            </a:pPr>
            <a:r>
              <a:rPr lang="es-CO" sz="2000" dirty="0">
                <a:solidFill>
                  <a:schemeClr val="accent5"/>
                </a:solidFill>
              </a:rPr>
              <a:t>Definición de variables:</a:t>
            </a:r>
          </a:p>
          <a:p>
            <a:pPr marL="800100" lvl="1" indent="-342900">
              <a:buFont typeface="Arial" pitchFamily="34" charset="0"/>
              <a:buChar char="•"/>
            </a:pPr>
            <a:r>
              <a:rPr lang="es-CO" b="1" i="1" dirty="0"/>
              <a:t>init_year</a:t>
            </a:r>
            <a:r>
              <a:rPr lang="es-CO" i="1" dirty="0"/>
              <a:t>: </a:t>
            </a:r>
            <a:r>
              <a:rPr lang="es-CO" dirty="0"/>
              <a:t>año inicial (A)</a:t>
            </a:r>
            <a:r>
              <a:rPr lang="es-CO" i="1" dirty="0"/>
              <a:t> </a:t>
            </a:r>
            <a:r>
              <a:rPr lang="es-CO" dirty="0"/>
              <a:t>(Entero)</a:t>
            </a:r>
          </a:p>
          <a:p>
            <a:pPr marL="800100" lvl="1" indent="-342900">
              <a:buFont typeface="Arial" pitchFamily="34" charset="0"/>
              <a:buChar char="•"/>
            </a:pPr>
            <a:r>
              <a:rPr lang="es-CO" b="1" i="1" dirty="0"/>
              <a:t>final_year</a:t>
            </a:r>
            <a:r>
              <a:rPr lang="es-CO" i="1" dirty="0"/>
              <a:t>: año final </a:t>
            </a:r>
            <a:r>
              <a:rPr lang="es-CO" dirty="0"/>
              <a:t>(B) (Entero)</a:t>
            </a:r>
          </a:p>
          <a:p>
            <a:pPr marL="800100" lvl="1" indent="-342900">
              <a:buFont typeface="Arial" pitchFamily="34" charset="0"/>
              <a:buChar char="•"/>
            </a:pPr>
            <a:r>
              <a:rPr lang="es-CO" b="1" i="1" dirty="0">
                <a:solidFill>
                  <a:srgbClr val="FF0000"/>
                </a:solidFill>
              </a:rPr>
              <a:t>years</a:t>
            </a:r>
            <a:r>
              <a:rPr lang="es-CO" dirty="0"/>
              <a:t>: años transcurridos (Entero)</a:t>
            </a:r>
          </a:p>
          <a:p>
            <a:pPr marL="800100" lvl="1" indent="-342900">
              <a:buFont typeface="Arial" pitchFamily="34" charset="0"/>
              <a:buChar char="•"/>
            </a:pPr>
            <a:r>
              <a:rPr lang="es-CO" b="1" i="1" dirty="0"/>
              <a:t>months</a:t>
            </a:r>
            <a:r>
              <a:rPr lang="es-CO" dirty="0"/>
              <a:t>: meses transcurridos (Entero)</a:t>
            </a:r>
          </a:p>
          <a:p>
            <a:pPr marL="342900" indent="-342900">
              <a:buFont typeface="Arial" panose="020B0604020202020204" pitchFamily="34" charset="0"/>
              <a:buChar char="•"/>
            </a:pPr>
            <a:r>
              <a:rPr lang="es-CO" sz="2000" dirty="0">
                <a:solidFill>
                  <a:schemeClr val="accent5"/>
                </a:solidFill>
              </a:rPr>
              <a:t>Proceso:</a:t>
            </a:r>
          </a:p>
          <a:p>
            <a:pPr marL="800100" lvl="1" indent="-342900">
              <a:buFont typeface="Arial" panose="020B0604020202020204" pitchFamily="34" charset="0"/>
              <a:buChar char="•"/>
            </a:pPr>
            <a:r>
              <a:rPr lang="es-CO" b="1" i="1" dirty="0"/>
              <a:t>years = final_year – init_year</a:t>
            </a:r>
          </a:p>
          <a:p>
            <a:pPr marL="800100" lvl="1" indent="-342900">
              <a:buFont typeface="Arial" panose="020B0604020202020204" pitchFamily="34" charset="0"/>
              <a:buChar char="•"/>
            </a:pPr>
            <a:r>
              <a:rPr lang="es-CO" b="1" i="1" dirty="0"/>
              <a:t>months = 12*years</a:t>
            </a:r>
            <a:endParaRPr lang="es-CO" dirty="0"/>
          </a:p>
        </p:txBody>
      </p:sp>
      <p:graphicFrame>
        <p:nvGraphicFramePr>
          <p:cNvPr id="18" name="13 Diagrama">
            <a:extLst>
              <a:ext uri="{FF2B5EF4-FFF2-40B4-BE49-F238E27FC236}">
                <a16:creationId xmlns:a16="http://schemas.microsoft.com/office/drawing/2014/main" id="{F5CECBDB-6773-4C02-B087-5C1ABB1125FE}"/>
              </a:ext>
            </a:extLst>
          </p:cNvPr>
          <p:cNvGraphicFramePr/>
          <p:nvPr>
            <p:extLst>
              <p:ext uri="{D42A27DB-BD31-4B8C-83A1-F6EECF244321}">
                <p14:modId xmlns:p14="http://schemas.microsoft.com/office/powerpoint/2010/main" val="3903872649"/>
              </p:ext>
            </p:extLst>
          </p:nvPr>
        </p:nvGraphicFramePr>
        <p:xfrm>
          <a:off x="1691680" y="1317950"/>
          <a:ext cx="3048136" cy="142717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1" name="Picture 3">
            <a:extLst>
              <a:ext uri="{FF2B5EF4-FFF2-40B4-BE49-F238E27FC236}">
                <a16:creationId xmlns:a16="http://schemas.microsoft.com/office/drawing/2014/main" id="{5C71FC93-7CDA-4FD4-829C-58170ABC4EB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7200" y="1485398"/>
            <a:ext cx="989195" cy="8890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3" name="Grupo 22">
            <a:extLst>
              <a:ext uri="{FF2B5EF4-FFF2-40B4-BE49-F238E27FC236}">
                <a16:creationId xmlns:a16="http://schemas.microsoft.com/office/drawing/2014/main" id="{FDBDFB57-79F1-4553-BC3F-7103CB078DDD}"/>
              </a:ext>
            </a:extLst>
          </p:cNvPr>
          <p:cNvGrpSpPr/>
          <p:nvPr/>
        </p:nvGrpSpPr>
        <p:grpSpPr>
          <a:xfrm>
            <a:off x="5389384" y="1019271"/>
            <a:ext cx="2920802" cy="1654207"/>
            <a:chOff x="1331640" y="2465909"/>
            <a:chExt cx="6606838" cy="1929320"/>
          </a:xfrm>
        </p:grpSpPr>
        <p:cxnSp>
          <p:nvCxnSpPr>
            <p:cNvPr id="24" name="Conector recto de flecha 23">
              <a:extLst>
                <a:ext uri="{FF2B5EF4-FFF2-40B4-BE49-F238E27FC236}">
                  <a16:creationId xmlns:a16="http://schemas.microsoft.com/office/drawing/2014/main" id="{59DC8495-17D7-4137-912D-EFE45FBA41BF}"/>
                </a:ext>
              </a:extLst>
            </p:cNvPr>
            <p:cNvCxnSpPr/>
            <p:nvPr/>
          </p:nvCxnSpPr>
          <p:spPr>
            <a:xfrm>
              <a:off x="1331640" y="3573016"/>
              <a:ext cx="6192688" cy="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Conector recto 24">
              <a:extLst>
                <a:ext uri="{FF2B5EF4-FFF2-40B4-BE49-F238E27FC236}">
                  <a16:creationId xmlns:a16="http://schemas.microsoft.com/office/drawing/2014/main" id="{C64E023C-183C-437E-8520-FB646372EC89}"/>
                </a:ext>
              </a:extLst>
            </p:cNvPr>
            <p:cNvCxnSpPr>
              <a:cxnSpLocks/>
            </p:cNvCxnSpPr>
            <p:nvPr/>
          </p:nvCxnSpPr>
          <p:spPr>
            <a:xfrm>
              <a:off x="2195736" y="3429000"/>
              <a:ext cx="0" cy="28136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7" name="CuadroTexto 26">
              <a:extLst>
                <a:ext uri="{FF2B5EF4-FFF2-40B4-BE49-F238E27FC236}">
                  <a16:creationId xmlns:a16="http://schemas.microsoft.com/office/drawing/2014/main" id="{1B0825D0-48E0-4F7D-99E6-0158BC28FB37}"/>
                </a:ext>
              </a:extLst>
            </p:cNvPr>
            <p:cNvSpPr txBox="1"/>
            <p:nvPr/>
          </p:nvSpPr>
          <p:spPr>
            <a:xfrm>
              <a:off x="7380312" y="3710360"/>
              <a:ext cx="558166" cy="307777"/>
            </a:xfrm>
            <a:prstGeom prst="rect">
              <a:avLst/>
            </a:prstGeom>
            <a:noFill/>
          </p:spPr>
          <p:txBody>
            <a:bodyPr wrap="none" rtlCol="0">
              <a:spAutoFit/>
            </a:bodyPr>
            <a:lstStyle/>
            <a:p>
              <a:r>
                <a:rPr lang="es-CO" sz="1400" b="1" dirty="0"/>
                <a:t>Años</a:t>
              </a:r>
            </a:p>
          </p:txBody>
        </p:sp>
        <p:cxnSp>
          <p:nvCxnSpPr>
            <p:cNvPr id="28" name="Conector recto 27">
              <a:extLst>
                <a:ext uri="{FF2B5EF4-FFF2-40B4-BE49-F238E27FC236}">
                  <a16:creationId xmlns:a16="http://schemas.microsoft.com/office/drawing/2014/main" id="{551B5B98-4CA9-4C4F-B29B-901A3E7AD0BC}"/>
                </a:ext>
              </a:extLst>
            </p:cNvPr>
            <p:cNvCxnSpPr>
              <a:cxnSpLocks/>
            </p:cNvCxnSpPr>
            <p:nvPr/>
          </p:nvCxnSpPr>
          <p:spPr>
            <a:xfrm>
              <a:off x="6084168" y="3429000"/>
              <a:ext cx="0" cy="28136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 name="Conector recto de flecha 28">
              <a:extLst>
                <a:ext uri="{FF2B5EF4-FFF2-40B4-BE49-F238E27FC236}">
                  <a16:creationId xmlns:a16="http://schemas.microsoft.com/office/drawing/2014/main" id="{4B823C31-186F-4056-B03D-3573A117CBE1}"/>
                </a:ext>
              </a:extLst>
            </p:cNvPr>
            <p:cNvCxnSpPr/>
            <p:nvPr/>
          </p:nvCxnSpPr>
          <p:spPr>
            <a:xfrm flipV="1">
              <a:off x="2195736" y="3788048"/>
              <a:ext cx="0" cy="284832"/>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ector recto de flecha 29">
              <a:extLst>
                <a:ext uri="{FF2B5EF4-FFF2-40B4-BE49-F238E27FC236}">
                  <a16:creationId xmlns:a16="http://schemas.microsoft.com/office/drawing/2014/main" id="{04BBE88A-2F47-42F3-9EF8-4903D1860430}"/>
                </a:ext>
              </a:extLst>
            </p:cNvPr>
            <p:cNvCxnSpPr/>
            <p:nvPr/>
          </p:nvCxnSpPr>
          <p:spPr>
            <a:xfrm flipV="1">
              <a:off x="6084168" y="3743412"/>
              <a:ext cx="0" cy="284832"/>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CuadroTexto 30">
              <a:extLst>
                <a:ext uri="{FF2B5EF4-FFF2-40B4-BE49-F238E27FC236}">
                  <a16:creationId xmlns:a16="http://schemas.microsoft.com/office/drawing/2014/main" id="{50EBEF3A-E660-49CE-A6B8-9A3C51A726FB}"/>
                </a:ext>
              </a:extLst>
            </p:cNvPr>
            <p:cNvSpPr txBox="1"/>
            <p:nvPr/>
          </p:nvSpPr>
          <p:spPr>
            <a:xfrm>
              <a:off x="1902063" y="4087452"/>
              <a:ext cx="293670" cy="307777"/>
            </a:xfrm>
            <a:prstGeom prst="rect">
              <a:avLst/>
            </a:prstGeom>
            <a:noFill/>
          </p:spPr>
          <p:txBody>
            <a:bodyPr wrap="none" rtlCol="0">
              <a:spAutoFit/>
            </a:bodyPr>
            <a:lstStyle/>
            <a:p>
              <a:r>
                <a:rPr lang="es-CO" sz="1400" b="1" dirty="0"/>
                <a:t>A</a:t>
              </a:r>
            </a:p>
          </p:txBody>
        </p:sp>
        <p:sp>
          <p:nvSpPr>
            <p:cNvPr id="32" name="CuadroTexto 31">
              <a:extLst>
                <a:ext uri="{FF2B5EF4-FFF2-40B4-BE49-F238E27FC236}">
                  <a16:creationId xmlns:a16="http://schemas.microsoft.com/office/drawing/2014/main" id="{0E95B827-98C0-4C0E-8ABC-7F987AD53ED9}"/>
                </a:ext>
              </a:extLst>
            </p:cNvPr>
            <p:cNvSpPr txBox="1"/>
            <p:nvPr/>
          </p:nvSpPr>
          <p:spPr>
            <a:xfrm>
              <a:off x="5790497" y="4087452"/>
              <a:ext cx="293670" cy="307777"/>
            </a:xfrm>
            <a:prstGeom prst="rect">
              <a:avLst/>
            </a:prstGeom>
            <a:noFill/>
          </p:spPr>
          <p:txBody>
            <a:bodyPr wrap="none" rtlCol="0">
              <a:spAutoFit/>
            </a:bodyPr>
            <a:lstStyle/>
            <a:p>
              <a:r>
                <a:rPr lang="es-CO" sz="1400" b="1" dirty="0"/>
                <a:t>B</a:t>
              </a:r>
            </a:p>
          </p:txBody>
        </p:sp>
        <p:sp>
          <p:nvSpPr>
            <p:cNvPr id="33" name="Abrir llave 32">
              <a:extLst>
                <a:ext uri="{FF2B5EF4-FFF2-40B4-BE49-F238E27FC236}">
                  <a16:creationId xmlns:a16="http://schemas.microsoft.com/office/drawing/2014/main" id="{7D953B4C-AD40-4748-ADA4-C8163ABB3EEF}"/>
                </a:ext>
              </a:extLst>
            </p:cNvPr>
            <p:cNvSpPr/>
            <p:nvPr/>
          </p:nvSpPr>
          <p:spPr>
            <a:xfrm rot="5400000">
              <a:off x="4050415" y="1111091"/>
              <a:ext cx="325887" cy="4035251"/>
            </a:xfrm>
            <a:prstGeom prst="leftBrace">
              <a:avLst>
                <a:gd name="adj1" fmla="val 48119"/>
                <a:gd name="adj2" fmla="val 50000"/>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34" name="CuadroTexto 33">
              <a:extLst>
                <a:ext uri="{FF2B5EF4-FFF2-40B4-BE49-F238E27FC236}">
                  <a16:creationId xmlns:a16="http://schemas.microsoft.com/office/drawing/2014/main" id="{4285E60D-3B0B-40F3-B4AA-0A01CA5DED30}"/>
                </a:ext>
              </a:extLst>
            </p:cNvPr>
            <p:cNvSpPr txBox="1"/>
            <p:nvPr/>
          </p:nvSpPr>
          <p:spPr>
            <a:xfrm>
              <a:off x="3336464" y="2465909"/>
              <a:ext cx="1753788" cy="358964"/>
            </a:xfrm>
            <a:prstGeom prst="rect">
              <a:avLst/>
            </a:prstGeom>
            <a:noFill/>
          </p:spPr>
          <p:txBody>
            <a:bodyPr wrap="square" rtlCol="0">
              <a:spAutoFit/>
            </a:bodyPr>
            <a:lstStyle/>
            <a:p>
              <a:r>
                <a:rPr lang="es-CO" sz="1400" b="1" dirty="0">
                  <a:solidFill>
                    <a:srgbClr val="00B050"/>
                  </a:solidFill>
                </a:rPr>
                <a:t>meses</a:t>
              </a:r>
            </a:p>
          </p:txBody>
        </p:sp>
      </p:grpSp>
    </p:spTree>
    <p:extLst>
      <p:ext uri="{BB962C8B-B14F-4D97-AF65-F5344CB8AC3E}">
        <p14:creationId xmlns:p14="http://schemas.microsoft.com/office/powerpoint/2010/main" val="34207371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88640"/>
            <a:ext cx="8496944" cy="1116540"/>
          </a:xfrm>
        </p:spPr>
        <p:txBody>
          <a:bodyPr>
            <a:normAutofit/>
          </a:bodyPr>
          <a:lstStyle/>
          <a:p>
            <a:r>
              <a:rPr lang="es-CO" sz="2800" dirty="0"/>
              <a:t>Representación de algoritmos como diagramas de flujo</a:t>
            </a:r>
          </a:p>
        </p:txBody>
      </p:sp>
      <p:graphicFrame>
        <p:nvGraphicFramePr>
          <p:cNvPr id="18" name="13 Diagrama">
            <a:extLst>
              <a:ext uri="{FF2B5EF4-FFF2-40B4-BE49-F238E27FC236}">
                <a16:creationId xmlns:a16="http://schemas.microsoft.com/office/drawing/2014/main" id="{9965EF72-5E5A-4B91-9E69-AADDE7DC5150}"/>
              </a:ext>
            </a:extLst>
          </p:cNvPr>
          <p:cNvGraphicFramePr/>
          <p:nvPr/>
        </p:nvGraphicFramePr>
        <p:xfrm>
          <a:off x="1398949" y="1280138"/>
          <a:ext cx="3048135" cy="7977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9" name="1 Marcador de contenido">
            <a:extLst>
              <a:ext uri="{FF2B5EF4-FFF2-40B4-BE49-F238E27FC236}">
                <a16:creationId xmlns:a16="http://schemas.microsoft.com/office/drawing/2014/main" id="{FE999F40-6EC9-4378-9BC0-399B6244E19D}"/>
              </a:ext>
            </a:extLst>
          </p:cNvPr>
          <p:cNvSpPr txBox="1">
            <a:spLocks/>
          </p:cNvSpPr>
          <p:nvPr/>
        </p:nvSpPr>
        <p:spPr>
          <a:xfrm>
            <a:off x="252007" y="2484120"/>
            <a:ext cx="1214267" cy="32951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MX" sz="1800" b="1" dirty="0"/>
              <a:t>Prueba</a:t>
            </a:r>
            <a:r>
              <a:rPr lang="es-MX" sz="1800" dirty="0"/>
              <a:t>:</a:t>
            </a:r>
          </a:p>
        </p:txBody>
      </p:sp>
      <p:graphicFrame>
        <p:nvGraphicFramePr>
          <p:cNvPr id="22" name="Tabla 5">
            <a:extLst>
              <a:ext uri="{FF2B5EF4-FFF2-40B4-BE49-F238E27FC236}">
                <a16:creationId xmlns:a16="http://schemas.microsoft.com/office/drawing/2014/main" id="{3BB42301-F1C1-49D2-B8DF-771627E9357D}"/>
              </a:ext>
            </a:extLst>
          </p:cNvPr>
          <p:cNvGraphicFramePr>
            <a:graphicFrameLocks noGrp="1"/>
          </p:cNvGraphicFramePr>
          <p:nvPr>
            <p:extLst>
              <p:ext uri="{D42A27DB-BD31-4B8C-83A1-F6EECF244321}">
                <p14:modId xmlns:p14="http://schemas.microsoft.com/office/powerpoint/2010/main" val="1915437026"/>
              </p:ext>
            </p:extLst>
          </p:nvPr>
        </p:nvGraphicFramePr>
        <p:xfrm>
          <a:off x="268775" y="4408188"/>
          <a:ext cx="5212884" cy="1010920"/>
        </p:xfrm>
        <a:graphic>
          <a:graphicData uri="http://schemas.openxmlformats.org/drawingml/2006/table">
            <a:tbl>
              <a:tblPr firstRow="1" bandRow="1">
                <a:tableStyleId>{5940675A-B579-460E-94D1-54222C63F5DA}</a:tableStyleId>
              </a:tblPr>
              <a:tblGrid>
                <a:gridCol w="1494913">
                  <a:extLst>
                    <a:ext uri="{9D8B030D-6E8A-4147-A177-3AD203B41FA5}">
                      <a16:colId xmlns:a16="http://schemas.microsoft.com/office/drawing/2014/main" val="1270268523"/>
                    </a:ext>
                  </a:extLst>
                </a:gridCol>
                <a:gridCol w="1584642">
                  <a:extLst>
                    <a:ext uri="{9D8B030D-6E8A-4147-A177-3AD203B41FA5}">
                      <a16:colId xmlns:a16="http://schemas.microsoft.com/office/drawing/2014/main" val="101718729"/>
                    </a:ext>
                  </a:extLst>
                </a:gridCol>
                <a:gridCol w="1080120">
                  <a:extLst>
                    <a:ext uri="{9D8B030D-6E8A-4147-A177-3AD203B41FA5}">
                      <a16:colId xmlns:a16="http://schemas.microsoft.com/office/drawing/2014/main" val="477449374"/>
                    </a:ext>
                  </a:extLst>
                </a:gridCol>
                <a:gridCol w="1053209">
                  <a:extLst>
                    <a:ext uri="{9D8B030D-6E8A-4147-A177-3AD203B41FA5}">
                      <a16:colId xmlns:a16="http://schemas.microsoft.com/office/drawing/2014/main" val="3468495707"/>
                    </a:ext>
                  </a:extLst>
                </a:gridCol>
              </a:tblGrid>
              <a:tr h="370840">
                <a:tc>
                  <a:txBody>
                    <a:bodyPr/>
                    <a:lstStyle/>
                    <a:p>
                      <a:pPr algn="ctr"/>
                      <a:r>
                        <a:rPr lang="es-CO" sz="1600" dirty="0"/>
                        <a:t>↘</a:t>
                      </a:r>
                      <a:r>
                        <a:rPr lang="es-CO" sz="1600" b="1" dirty="0">
                          <a:latin typeface="Consolas" panose="020B0609020204030204" pitchFamily="49" charset="0"/>
                        </a:rPr>
                        <a:t>init_year</a:t>
                      </a:r>
                    </a:p>
                  </a:txBody>
                  <a:tcPr>
                    <a:lnL w="12700" cap="flat" cmpd="sng" algn="ctr">
                      <a:noFill/>
                      <a:prstDash val="solid"/>
                      <a:round/>
                      <a:headEnd type="none" w="med" len="med"/>
                      <a:tailEnd type="none" w="med" len="med"/>
                    </a:lnL>
                    <a:lnT w="12700" cap="flat" cmpd="sng" algn="ctr">
                      <a:noFill/>
                      <a:prstDash val="solid"/>
                      <a:round/>
                      <a:headEnd type="none" w="med" len="med"/>
                      <a:tailEnd type="none" w="med" len="med"/>
                    </a:lnT>
                  </a:tcPr>
                </a:tc>
                <a:tc>
                  <a:txBody>
                    <a:bodyPr/>
                    <a:lstStyle/>
                    <a:p>
                      <a:pPr algn="ctr"/>
                      <a:r>
                        <a:rPr lang="es-CO" sz="1600" dirty="0"/>
                        <a:t>↘</a:t>
                      </a:r>
                      <a:r>
                        <a:rPr lang="es-CO" sz="1600" b="1" dirty="0">
                          <a:latin typeface="Consolas" panose="020B0609020204030204" pitchFamily="49" charset="0"/>
                        </a:rPr>
                        <a:t>final_year</a:t>
                      </a:r>
                    </a:p>
                  </a:txBody>
                  <a:tcPr>
                    <a:lnT w="12700" cap="flat" cmpd="sng" algn="ctr">
                      <a:noFill/>
                      <a:prstDash val="solid"/>
                      <a:round/>
                      <a:headEnd type="none" w="med" len="med"/>
                      <a:tailEnd type="none" w="med" len="med"/>
                    </a:lnT>
                  </a:tcPr>
                </a:tc>
                <a:tc>
                  <a:txBody>
                    <a:bodyPr/>
                    <a:lstStyle/>
                    <a:p>
                      <a:pPr algn="ctr"/>
                      <a:r>
                        <a:rPr lang="es-CO" sz="1600" b="1" dirty="0">
                          <a:solidFill>
                            <a:srgbClr val="FF0000"/>
                          </a:solidFill>
                          <a:latin typeface="Consolas" panose="020B0609020204030204" pitchFamily="49" charset="0"/>
                        </a:rPr>
                        <a:t>years</a:t>
                      </a:r>
                    </a:p>
                  </a:txBody>
                  <a:tcPr>
                    <a:lnT w="12700" cap="flat" cmpd="sng" algn="ctr">
                      <a:noFill/>
                      <a:prstDash val="solid"/>
                      <a:round/>
                      <a:headEnd type="none" w="med" len="med"/>
                      <a:tailEnd type="none" w="med" len="med"/>
                    </a:lnT>
                    <a:solidFill>
                      <a:schemeClr val="bg1">
                        <a:lumMod val="95000"/>
                      </a:schemeClr>
                    </a:solidFill>
                  </a:tcPr>
                </a:tc>
                <a:tc>
                  <a:txBody>
                    <a:bodyPr/>
                    <a:lstStyle/>
                    <a:p>
                      <a:pPr algn="ctr"/>
                      <a:r>
                        <a:rPr lang="es-CO" sz="1600" dirty="0"/>
                        <a:t>↗</a:t>
                      </a:r>
                      <a:r>
                        <a:rPr lang="es-CO" sz="1600" b="1" dirty="0">
                          <a:latin typeface="Consolas" panose="020B0609020204030204" pitchFamily="49" charset="0"/>
                        </a:rPr>
                        <a:t>months</a:t>
                      </a:r>
                    </a:p>
                  </a:txBody>
                  <a:tcPr>
                    <a:lnR w="12700" cap="flat" cmpd="sng" algn="ctr">
                      <a:noFill/>
                      <a:prstDash val="solid"/>
                      <a:round/>
                      <a:headEnd type="none" w="med" len="med"/>
                      <a:tailEnd type="none" w="med" len="med"/>
                    </a:lnR>
                    <a:lnT w="12700" cap="flat" cmpd="sng" algn="ctr">
                      <a:noFill/>
                      <a:prstDash val="solid"/>
                      <a:round/>
                      <a:headEnd type="none" w="med" len="med"/>
                      <a:tailEnd type="none" w="med" len="med"/>
                    </a:lnT>
                  </a:tcPr>
                </a:tc>
                <a:extLst>
                  <a:ext uri="{0D108BD9-81ED-4DB2-BD59-A6C34878D82A}">
                    <a16:rowId xmlns:a16="http://schemas.microsoft.com/office/drawing/2014/main" val="1784789806"/>
                  </a:ext>
                </a:extLst>
              </a:tr>
              <a:tr h="370840">
                <a:tc>
                  <a:txBody>
                    <a:bodyPr/>
                    <a:lstStyle/>
                    <a:p>
                      <a:pPr algn="ctr"/>
                      <a:r>
                        <a:rPr lang="es-CO" strike="sngStrike" dirty="0"/>
                        <a:t>?</a:t>
                      </a:r>
                    </a:p>
                    <a:p>
                      <a:pPr algn="ctr"/>
                      <a:r>
                        <a:rPr lang="es-CO" dirty="0"/>
                        <a:t>↘4</a:t>
                      </a:r>
                    </a:p>
                  </a:txBody>
                  <a:tcPr>
                    <a:lnL w="12700" cap="flat" cmpd="sng" algn="ctr">
                      <a:noFill/>
                      <a:prstDash val="solid"/>
                      <a:round/>
                      <a:headEnd type="none" w="med" len="med"/>
                      <a:tailEnd type="none" w="med" len="med"/>
                    </a:lnL>
                    <a:lnB w="12700" cap="flat" cmpd="sng" algn="ctr">
                      <a:noFill/>
                      <a:prstDash val="solid"/>
                      <a:round/>
                      <a:headEnd type="none" w="med" len="med"/>
                      <a:tailEnd type="none" w="med" len="med"/>
                    </a:lnB>
                  </a:tcPr>
                </a:tc>
                <a:tc>
                  <a:txBody>
                    <a:bodyPr/>
                    <a:lstStyle/>
                    <a:p>
                      <a:pPr algn="ctr"/>
                      <a:r>
                        <a:rPr lang="es-CO" strike="sngStrike" dirty="0"/>
                        <a:t>?</a:t>
                      </a:r>
                    </a:p>
                    <a:p>
                      <a:pPr algn="ctr"/>
                      <a:r>
                        <a:rPr lang="es-CO" dirty="0"/>
                        <a:t>↘</a:t>
                      </a:r>
                      <a:r>
                        <a:rPr lang="es-CO" strike="noStrike" dirty="0"/>
                        <a:t>10</a:t>
                      </a:r>
                    </a:p>
                  </a:txBody>
                  <a:tcPr>
                    <a:lnB w="12700" cap="flat" cmpd="sng" algn="ctr">
                      <a:no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O" strike="sngStrike" dirty="0">
                          <a:solidFill>
                            <a:srgbClr val="FF0000"/>
                          </a:solidFill>
                        </a:rPr>
                        <a:t>?</a:t>
                      </a:r>
                    </a:p>
                    <a:p>
                      <a:pPr algn="ctr"/>
                      <a:r>
                        <a:rPr lang="es-CO" dirty="0">
                          <a:solidFill>
                            <a:srgbClr val="FF0000"/>
                          </a:solidFill>
                        </a:rPr>
                        <a:t>6</a:t>
                      </a:r>
                    </a:p>
                  </a:txBody>
                  <a:tcPr>
                    <a:lnB w="12700" cap="flat" cmpd="sng" algn="ctr">
                      <a:noFill/>
                      <a:prstDash val="solid"/>
                      <a:round/>
                      <a:headEnd type="none" w="med" len="med"/>
                      <a:tailEnd type="none" w="med" len="med"/>
                    </a:lnB>
                    <a:solidFill>
                      <a:schemeClr val="bg1">
                        <a:lumMod val="95000"/>
                      </a:schemeClr>
                    </a:solidFill>
                  </a:tcPr>
                </a:tc>
                <a:tc>
                  <a:txBody>
                    <a:bodyPr/>
                    <a:lstStyle/>
                    <a:p>
                      <a:pPr algn="ctr"/>
                      <a:r>
                        <a:rPr lang="es-CO" dirty="0"/>
                        <a:t>?</a:t>
                      </a:r>
                    </a:p>
                    <a:p>
                      <a:pPr algn="ctr"/>
                      <a:r>
                        <a:rPr lang="es-CO" dirty="0"/>
                        <a:t>↗72</a:t>
                      </a:r>
                    </a:p>
                  </a:txBody>
                  <a:tcPr>
                    <a:lnR w="12700" cap="flat" cmpd="sng" algn="ctr">
                      <a:noFill/>
                      <a:prstDash val="solid"/>
                      <a:round/>
                      <a:headEnd type="none" w="med" len="med"/>
                      <a:tailEnd type="none" w="med" len="med"/>
                    </a:lnR>
                    <a:lnB w="12700" cap="flat" cmpd="sng" algn="ctr">
                      <a:noFill/>
                      <a:prstDash val="solid"/>
                      <a:round/>
                      <a:headEnd type="none" w="med" len="med"/>
                      <a:tailEnd type="none" w="med" len="med"/>
                    </a:lnB>
                  </a:tcPr>
                </a:tc>
                <a:extLst>
                  <a:ext uri="{0D108BD9-81ED-4DB2-BD59-A6C34878D82A}">
                    <a16:rowId xmlns:a16="http://schemas.microsoft.com/office/drawing/2014/main" val="2984237131"/>
                  </a:ext>
                </a:extLst>
              </a:tr>
            </a:tbl>
          </a:graphicData>
        </a:graphic>
      </p:graphicFrame>
      <p:graphicFrame>
        <p:nvGraphicFramePr>
          <p:cNvPr id="28" name="Tabla 5">
            <a:extLst>
              <a:ext uri="{FF2B5EF4-FFF2-40B4-BE49-F238E27FC236}">
                <a16:creationId xmlns:a16="http://schemas.microsoft.com/office/drawing/2014/main" id="{97987C8B-F9EC-430B-A149-7FBC5792522E}"/>
              </a:ext>
            </a:extLst>
          </p:cNvPr>
          <p:cNvGraphicFramePr>
            <a:graphicFrameLocks noGrp="1"/>
          </p:cNvGraphicFramePr>
          <p:nvPr>
            <p:extLst>
              <p:ext uri="{D42A27DB-BD31-4B8C-83A1-F6EECF244321}">
                <p14:modId xmlns:p14="http://schemas.microsoft.com/office/powerpoint/2010/main" val="2577456354"/>
              </p:ext>
            </p:extLst>
          </p:nvPr>
        </p:nvGraphicFramePr>
        <p:xfrm>
          <a:off x="930572" y="3099486"/>
          <a:ext cx="3700340" cy="914400"/>
        </p:xfrm>
        <a:graphic>
          <a:graphicData uri="http://schemas.openxmlformats.org/drawingml/2006/table">
            <a:tbl>
              <a:tblPr firstRow="1" bandRow="1">
                <a:tableStyleId>{7E9639D4-E3E2-4D34-9284-5A2195B3D0D7}</a:tableStyleId>
              </a:tblPr>
              <a:tblGrid>
                <a:gridCol w="941324">
                  <a:extLst>
                    <a:ext uri="{9D8B030D-6E8A-4147-A177-3AD203B41FA5}">
                      <a16:colId xmlns:a16="http://schemas.microsoft.com/office/drawing/2014/main" val="1270268523"/>
                    </a:ext>
                  </a:extLst>
                </a:gridCol>
                <a:gridCol w="1044512">
                  <a:extLst>
                    <a:ext uri="{9D8B030D-6E8A-4147-A177-3AD203B41FA5}">
                      <a16:colId xmlns:a16="http://schemas.microsoft.com/office/drawing/2014/main" val="101718729"/>
                    </a:ext>
                  </a:extLst>
                </a:gridCol>
                <a:gridCol w="1714504">
                  <a:extLst>
                    <a:ext uri="{9D8B030D-6E8A-4147-A177-3AD203B41FA5}">
                      <a16:colId xmlns:a16="http://schemas.microsoft.com/office/drawing/2014/main" val="3468495707"/>
                    </a:ext>
                  </a:extLst>
                </a:gridCol>
              </a:tblGrid>
              <a:tr h="0">
                <a:tc gridSpan="2">
                  <a:txBody>
                    <a:bodyPr/>
                    <a:lstStyle/>
                    <a:p>
                      <a:pPr algn="ctr"/>
                      <a:r>
                        <a:rPr lang="es-CO" sz="1400" b="1" dirty="0"/>
                        <a:t>Entradas</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es-CO" sz="1600" b="1" dirty="0">
                        <a:latin typeface="Consolas" panose="020B0609020204030204" pitchFamily="49" charset="0"/>
                      </a:endParaRPr>
                    </a:p>
                  </a:txBody>
                  <a:tcPr>
                    <a:lnT w="12700" cap="flat" cmpd="sng" algn="ctr">
                      <a:noFill/>
                      <a:prstDash val="solid"/>
                      <a:round/>
                      <a:headEnd type="none" w="med" len="med"/>
                      <a:tailEnd type="none" w="med" len="med"/>
                    </a:lnT>
                  </a:tcPr>
                </a:tc>
                <a:tc>
                  <a:txBody>
                    <a:bodyPr/>
                    <a:lstStyle/>
                    <a:p>
                      <a:pPr algn="ctr"/>
                      <a:r>
                        <a:rPr lang="es-CO" sz="1400" b="1" dirty="0"/>
                        <a:t>Salidas (esperadas)</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0868271"/>
                  </a:ext>
                </a:extLst>
              </a:tr>
              <a:tr h="213175">
                <a:tc>
                  <a:txBody>
                    <a:bodyPr/>
                    <a:lstStyle/>
                    <a:p>
                      <a:pPr algn="ctr"/>
                      <a:r>
                        <a:rPr lang="es-CO" sz="1400" b="1" dirty="0"/>
                        <a:t>init_year</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b="1" dirty="0"/>
                        <a:t>final_year</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b="1" dirty="0"/>
                        <a:t>months</a:t>
                      </a:r>
                      <a:endParaRPr lang="es-CO" sz="14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4789806"/>
                  </a:ext>
                </a:extLst>
              </a:tr>
              <a:tr h="234493">
                <a:tc>
                  <a:txBody>
                    <a:bodyPr/>
                    <a:lstStyle/>
                    <a:p>
                      <a:pPr algn="ctr"/>
                      <a:r>
                        <a:rPr lang="es-CO" sz="1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strike="noStrike"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400" dirty="0"/>
                        <a:t>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237131"/>
                  </a:ext>
                </a:extLst>
              </a:tr>
            </a:tbl>
          </a:graphicData>
        </a:graphic>
      </p:graphicFrame>
      <p:pic>
        <p:nvPicPr>
          <p:cNvPr id="33" name="Picture 3">
            <a:extLst>
              <a:ext uri="{FF2B5EF4-FFF2-40B4-BE49-F238E27FC236}">
                <a16:creationId xmlns:a16="http://schemas.microsoft.com/office/drawing/2014/main" id="{E43F68DC-96C7-4702-B5B9-C97FF8E7C75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8461" y="1196377"/>
            <a:ext cx="989195" cy="8890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20" name="53 Grupo">
            <a:extLst>
              <a:ext uri="{FF2B5EF4-FFF2-40B4-BE49-F238E27FC236}">
                <a16:creationId xmlns:a16="http://schemas.microsoft.com/office/drawing/2014/main" id="{ECC22DF0-9D5D-41AE-99D8-65BB96246105}"/>
              </a:ext>
            </a:extLst>
          </p:cNvPr>
          <p:cNvGrpSpPr/>
          <p:nvPr/>
        </p:nvGrpSpPr>
        <p:grpSpPr>
          <a:xfrm>
            <a:off x="6012160" y="2401190"/>
            <a:ext cx="2575938" cy="3404074"/>
            <a:chOff x="5569827" y="1676400"/>
            <a:chExt cx="2098914" cy="3148769"/>
          </a:xfrm>
        </p:grpSpPr>
        <p:sp>
          <p:nvSpPr>
            <p:cNvPr id="26" name="Flowchart: Terminator 43">
              <a:extLst>
                <a:ext uri="{FF2B5EF4-FFF2-40B4-BE49-F238E27FC236}">
                  <a16:creationId xmlns:a16="http://schemas.microsoft.com/office/drawing/2014/main" id="{CEA8EF91-4534-42F1-A4CC-D45E4D773A45}"/>
                </a:ext>
              </a:extLst>
            </p:cNvPr>
            <p:cNvSpPr/>
            <p:nvPr/>
          </p:nvSpPr>
          <p:spPr>
            <a:xfrm>
              <a:off x="6096000" y="4520369"/>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entury Gothic" panose="020B0502020202020204" pitchFamily="34" charset="0"/>
                </a:rPr>
                <a:t>Finish</a:t>
              </a:r>
              <a:endParaRPr lang="en-US" sz="1400" dirty="0">
                <a:latin typeface="Century Gothic" panose="020B0502020202020204" pitchFamily="34" charset="0"/>
              </a:endParaRPr>
            </a:p>
          </p:txBody>
        </p:sp>
        <p:sp>
          <p:nvSpPr>
            <p:cNvPr id="35" name="Flowchart: Terminator 44">
              <a:extLst>
                <a:ext uri="{FF2B5EF4-FFF2-40B4-BE49-F238E27FC236}">
                  <a16:creationId xmlns:a16="http://schemas.microsoft.com/office/drawing/2014/main" id="{072F211A-DF2C-465D-A935-1E7F8B06B60A}"/>
                </a:ext>
              </a:extLst>
            </p:cNvPr>
            <p:cNvSpPr/>
            <p:nvPr/>
          </p:nvSpPr>
          <p:spPr>
            <a:xfrm>
              <a:off x="6096000" y="16764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onsolas" panose="020B0609020204030204" pitchFamily="49" charset="0"/>
                </a:rPr>
                <a:t>Start</a:t>
              </a:r>
              <a:endParaRPr lang="en-US" sz="1400" dirty="0">
                <a:latin typeface="Consolas" panose="020B0609020204030204" pitchFamily="49" charset="0"/>
              </a:endParaRPr>
            </a:p>
          </p:txBody>
        </p:sp>
        <p:cxnSp>
          <p:nvCxnSpPr>
            <p:cNvPr id="36" name="Straight Arrow Connector 45">
              <a:extLst>
                <a:ext uri="{FF2B5EF4-FFF2-40B4-BE49-F238E27FC236}">
                  <a16:creationId xmlns:a16="http://schemas.microsoft.com/office/drawing/2014/main" id="{488E1FB5-9107-40F3-8768-1BE8D7705D8E}"/>
                </a:ext>
              </a:extLst>
            </p:cNvPr>
            <p:cNvCxnSpPr>
              <a:stCxn id="35" idx="2"/>
              <a:endCxn id="40" idx="1"/>
            </p:cNvCxnSpPr>
            <p:nvPr/>
          </p:nvCxnSpPr>
          <p:spPr>
            <a:xfrm flipH="1">
              <a:off x="6625949" y="1981200"/>
              <a:ext cx="3451"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 name="Straight Arrow Connector 48">
              <a:extLst>
                <a:ext uri="{FF2B5EF4-FFF2-40B4-BE49-F238E27FC236}">
                  <a16:creationId xmlns:a16="http://schemas.microsoft.com/office/drawing/2014/main" id="{AE8C18D5-9F83-4843-BC8B-ABCADFBEB807}"/>
                </a:ext>
              </a:extLst>
            </p:cNvPr>
            <p:cNvCxnSpPr>
              <a:cxnSpLocks/>
              <a:stCxn id="42" idx="2"/>
              <a:endCxn id="38" idx="1"/>
            </p:cNvCxnSpPr>
            <p:nvPr/>
          </p:nvCxnSpPr>
          <p:spPr>
            <a:xfrm>
              <a:off x="6619284" y="3522617"/>
              <a:ext cx="10116" cy="38815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8" name="Flowchart: Data 52">
              <a:extLst>
                <a:ext uri="{FF2B5EF4-FFF2-40B4-BE49-F238E27FC236}">
                  <a16:creationId xmlns:a16="http://schemas.microsoft.com/office/drawing/2014/main" id="{898F90E0-3300-4B36-A982-3A78DE74411F}"/>
                </a:ext>
              </a:extLst>
            </p:cNvPr>
            <p:cNvSpPr/>
            <p:nvPr/>
          </p:nvSpPr>
          <p:spPr>
            <a:xfrm>
              <a:off x="5867400" y="3910769"/>
              <a:ext cx="1524000"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Print </a:t>
              </a:r>
              <a:r>
                <a:rPr lang="en-US" sz="1200" b="1" dirty="0">
                  <a:latin typeface="Century Gothic" panose="020B0502020202020204" pitchFamily="34" charset="0"/>
                </a:rPr>
                <a:t>months</a:t>
              </a:r>
            </a:p>
          </p:txBody>
        </p:sp>
        <p:cxnSp>
          <p:nvCxnSpPr>
            <p:cNvPr id="39" name="Straight Arrow Connector 53">
              <a:extLst>
                <a:ext uri="{FF2B5EF4-FFF2-40B4-BE49-F238E27FC236}">
                  <a16:creationId xmlns:a16="http://schemas.microsoft.com/office/drawing/2014/main" id="{7BFB71A8-4B47-4ECE-838D-DCDDE907AF58}"/>
                </a:ext>
              </a:extLst>
            </p:cNvPr>
            <p:cNvCxnSpPr>
              <a:stCxn id="38" idx="4"/>
              <a:endCxn id="26" idx="0"/>
            </p:cNvCxnSpPr>
            <p:nvPr/>
          </p:nvCxnSpPr>
          <p:spPr>
            <a:xfrm>
              <a:off x="6629400" y="4291767"/>
              <a:ext cx="0"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0" name="Flowchart: Data 68">
              <a:extLst>
                <a:ext uri="{FF2B5EF4-FFF2-40B4-BE49-F238E27FC236}">
                  <a16:creationId xmlns:a16="http://schemas.microsoft.com/office/drawing/2014/main" id="{96A4395D-7A46-4642-A1AA-5DA67AAB29AB}"/>
                </a:ext>
              </a:extLst>
            </p:cNvPr>
            <p:cNvSpPr/>
            <p:nvPr/>
          </p:nvSpPr>
          <p:spPr>
            <a:xfrm>
              <a:off x="5687178" y="2209800"/>
              <a:ext cx="1877541" cy="4572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Read </a:t>
              </a:r>
              <a:r>
                <a:rPr lang="en-US" sz="1200" b="1" dirty="0" err="1">
                  <a:latin typeface="Century Gothic" panose="020B0502020202020204" pitchFamily="34" charset="0"/>
                </a:rPr>
                <a:t>init_year</a:t>
              </a:r>
              <a:r>
                <a:rPr lang="en-US" sz="1200" b="1" dirty="0">
                  <a:latin typeface="Century Gothic" panose="020B0502020202020204" pitchFamily="34" charset="0"/>
                </a:rPr>
                <a:t> </a:t>
              </a:r>
              <a:r>
                <a:rPr lang="en-US" sz="1200" dirty="0">
                  <a:latin typeface="Century Gothic" panose="020B0502020202020204" pitchFamily="34" charset="0"/>
                </a:rPr>
                <a:t>Read </a:t>
              </a:r>
              <a:r>
                <a:rPr lang="en-US" sz="1200" b="1" dirty="0" err="1">
                  <a:latin typeface="Century Gothic" panose="020B0502020202020204" pitchFamily="34" charset="0"/>
                </a:rPr>
                <a:t>final_year</a:t>
              </a:r>
              <a:endParaRPr lang="en-US" sz="1200" b="1" dirty="0">
                <a:latin typeface="Century Gothic" panose="020B0502020202020204" pitchFamily="34" charset="0"/>
              </a:endParaRPr>
            </a:p>
          </p:txBody>
        </p:sp>
        <p:cxnSp>
          <p:nvCxnSpPr>
            <p:cNvPr id="41" name="Straight Arrow Connector 47">
              <a:extLst>
                <a:ext uri="{FF2B5EF4-FFF2-40B4-BE49-F238E27FC236}">
                  <a16:creationId xmlns:a16="http://schemas.microsoft.com/office/drawing/2014/main" id="{1CA39D08-9E87-4257-AFA4-10F3B94C9B50}"/>
                </a:ext>
              </a:extLst>
            </p:cNvPr>
            <p:cNvCxnSpPr>
              <a:cxnSpLocks/>
              <a:stCxn id="40" idx="4"/>
              <a:endCxn id="42" idx="0"/>
            </p:cNvCxnSpPr>
            <p:nvPr/>
          </p:nvCxnSpPr>
          <p:spPr>
            <a:xfrm flipH="1">
              <a:off x="6619284" y="2667000"/>
              <a:ext cx="6665" cy="228599"/>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Flowchart: Process 42">
              <a:extLst>
                <a:ext uri="{FF2B5EF4-FFF2-40B4-BE49-F238E27FC236}">
                  <a16:creationId xmlns:a16="http://schemas.microsoft.com/office/drawing/2014/main" id="{448D54B0-596D-4637-B926-DD7F7D46D68A}"/>
                </a:ext>
              </a:extLst>
            </p:cNvPr>
            <p:cNvSpPr/>
            <p:nvPr/>
          </p:nvSpPr>
          <p:spPr>
            <a:xfrm>
              <a:off x="5569827" y="2895599"/>
              <a:ext cx="2098914" cy="627018"/>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sym typeface="Wingdings" pitchFamily="2" charset="2"/>
                </a:rPr>
                <a:t>years </a:t>
              </a:r>
              <a:r>
                <a:rPr lang="en-US" sz="1200" dirty="0">
                  <a:latin typeface="Century Gothic" panose="020B0502020202020204" pitchFamily="34" charset="0"/>
                </a:rPr>
                <a:t> </a:t>
              </a:r>
              <a:r>
                <a:rPr lang="en-US" sz="1200" dirty="0" err="1">
                  <a:latin typeface="Century Gothic" panose="020B0502020202020204" pitchFamily="34" charset="0"/>
                </a:rPr>
                <a:t>final_year</a:t>
              </a:r>
              <a:r>
                <a:rPr lang="en-US" sz="1200" dirty="0">
                  <a:latin typeface="Century Gothic" panose="020B0502020202020204" pitchFamily="34" charset="0"/>
                </a:rPr>
                <a:t> – </a:t>
              </a:r>
              <a:r>
                <a:rPr lang="en-US" sz="1200" dirty="0" err="1">
                  <a:latin typeface="Century Gothic" panose="020B0502020202020204" pitchFamily="34" charset="0"/>
                </a:rPr>
                <a:t>init_year</a:t>
              </a:r>
              <a:endParaRPr lang="en-US" sz="1200" dirty="0">
                <a:latin typeface="Century Gothic" panose="020B0502020202020204" pitchFamily="34" charset="0"/>
              </a:endParaRPr>
            </a:p>
            <a:p>
              <a:pPr algn="ctr"/>
              <a:r>
                <a:rPr lang="en-US" sz="1200" dirty="0">
                  <a:latin typeface="Century Gothic" panose="020B0502020202020204" pitchFamily="34" charset="0"/>
                </a:rPr>
                <a:t>months = 12*years</a:t>
              </a:r>
            </a:p>
          </p:txBody>
        </p:sp>
      </p:grpSp>
    </p:spTree>
    <p:extLst>
      <p:ext uri="{BB962C8B-B14F-4D97-AF65-F5344CB8AC3E}">
        <p14:creationId xmlns:p14="http://schemas.microsoft.com/office/powerpoint/2010/main" val="3089771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73511" y="232232"/>
            <a:ext cx="8119814" cy="831626"/>
          </a:xfrm>
        </p:spPr>
        <p:txBody>
          <a:bodyPr/>
          <a:lstStyle/>
          <a:p>
            <a:r>
              <a:rPr lang="es-CO" sz="2800" dirty="0"/>
              <a:t>Pseudocódigo</a:t>
            </a:r>
            <a:endParaRPr lang="en-US" sz="2800" dirty="0"/>
          </a:p>
        </p:txBody>
      </p:sp>
      <p:sp>
        <p:nvSpPr>
          <p:cNvPr id="9" name="Marcador de contenido 8">
            <a:extLst>
              <a:ext uri="{FF2B5EF4-FFF2-40B4-BE49-F238E27FC236}">
                <a16:creationId xmlns:a16="http://schemas.microsoft.com/office/drawing/2014/main" id="{1C890BBD-1444-4CB9-97D4-FDDC5F53D6C3}"/>
              </a:ext>
            </a:extLst>
          </p:cNvPr>
          <p:cNvSpPr>
            <a:spLocks noGrp="1"/>
          </p:cNvSpPr>
          <p:nvPr>
            <p:ph idx="1"/>
          </p:nvPr>
        </p:nvSpPr>
        <p:spPr>
          <a:xfrm>
            <a:off x="373511" y="938749"/>
            <a:ext cx="8396978" cy="1741910"/>
          </a:xfrm>
        </p:spPr>
        <p:txBody>
          <a:bodyPr>
            <a:normAutofit/>
          </a:bodyPr>
          <a:lstStyle/>
          <a:p>
            <a:r>
              <a:rPr lang="es-MX" sz="2200" dirty="0"/>
              <a:t>El </a:t>
            </a:r>
            <a:r>
              <a:rPr lang="es-MX" sz="2200" b="1" dirty="0"/>
              <a:t>pseudocódigo</a:t>
            </a:r>
            <a:r>
              <a:rPr lang="es-MX" sz="2200" dirty="0"/>
              <a:t> es una descripción informal de un algoritmo, escrita en lenguaje natural estructurado, que utiliza palabras clave similares a un lenguaje de programación pero sin una sintaxis estricta. (Notación del profesor Efraín Oviedo).</a:t>
            </a:r>
          </a:p>
          <a:p>
            <a:r>
              <a:rPr lang="es-MX" sz="2200" dirty="0"/>
              <a:t>Sigue una estructura básica de </a:t>
            </a:r>
            <a:r>
              <a:rPr lang="es-MX" sz="2200" b="1" dirty="0"/>
              <a:t>inicio</a:t>
            </a:r>
            <a:r>
              <a:rPr lang="es-MX" sz="2200" dirty="0"/>
              <a:t>, </a:t>
            </a:r>
            <a:r>
              <a:rPr lang="es-MX" sz="2200" b="1" dirty="0"/>
              <a:t>inicialización</a:t>
            </a:r>
            <a:r>
              <a:rPr lang="es-MX" sz="2200" dirty="0"/>
              <a:t>, </a:t>
            </a:r>
            <a:r>
              <a:rPr lang="es-MX" sz="2200" b="1" dirty="0"/>
              <a:t>cuerpo</a:t>
            </a:r>
            <a:r>
              <a:rPr lang="es-MX" sz="2200" dirty="0"/>
              <a:t> y </a:t>
            </a:r>
            <a:r>
              <a:rPr lang="es-MX" sz="2200" b="1" dirty="0"/>
              <a:t>fin</a:t>
            </a:r>
            <a:r>
              <a:rPr lang="es-MX" sz="2200" dirty="0"/>
              <a:t>.</a:t>
            </a:r>
            <a:endParaRPr lang="es-CO" sz="2200" dirty="0"/>
          </a:p>
        </p:txBody>
      </p:sp>
      <p:sp>
        <p:nvSpPr>
          <p:cNvPr id="13" name="CuadroTexto 12">
            <a:extLst>
              <a:ext uri="{FF2B5EF4-FFF2-40B4-BE49-F238E27FC236}">
                <a16:creationId xmlns:a16="http://schemas.microsoft.com/office/drawing/2014/main" id="{0B6305CF-23E3-43A3-9200-85E9A2C1D0D9}"/>
              </a:ext>
            </a:extLst>
          </p:cNvPr>
          <p:cNvSpPr txBox="1"/>
          <p:nvPr/>
        </p:nvSpPr>
        <p:spPr>
          <a:xfrm>
            <a:off x="4427984" y="3246518"/>
            <a:ext cx="3951451" cy="2554545"/>
          </a:xfrm>
          <a:prstGeom prst="rect">
            <a:avLst/>
          </a:prstGeom>
          <a:noFill/>
          <a:ln>
            <a:solidFill>
              <a:schemeClr val="tx1"/>
            </a:solidFill>
          </a:ln>
        </p:spPr>
        <p:txBody>
          <a:bodyPr wrap="square">
            <a:spAutoFit/>
          </a:bodyPr>
          <a:lstStyle/>
          <a:p>
            <a:r>
              <a:rPr lang="es-CO" sz="1600" b="1" dirty="0">
                <a:latin typeface="Consolas" panose="020B0609020204030204" pitchFamily="49" charset="0"/>
              </a:rPr>
              <a:t>INICIO</a:t>
            </a:r>
            <a:r>
              <a:rPr lang="es-CO" sz="1600" dirty="0">
                <a:latin typeface="Consolas" panose="020B0609020204030204" pitchFamily="49" charset="0"/>
              </a:rPr>
              <a:t> </a:t>
            </a:r>
          </a:p>
          <a:p>
            <a:r>
              <a:rPr lang="es-CO" sz="1600" dirty="0">
                <a:solidFill>
                  <a:schemeClr val="bg1">
                    <a:lumMod val="50000"/>
                  </a:schemeClr>
                </a:solidFill>
                <a:latin typeface="Consolas" panose="020B0609020204030204" pitchFamily="49" charset="0"/>
              </a:rPr>
              <a:t>  # Inicialización de variables</a:t>
            </a:r>
            <a:endParaRPr lang="es-CO" sz="1600" dirty="0">
              <a:latin typeface="Consolas" panose="020B0609020204030204" pitchFamily="49" charset="0"/>
            </a:endParaRPr>
          </a:p>
          <a:p>
            <a:r>
              <a:rPr lang="es-CO" sz="1600" dirty="0">
                <a:solidFill>
                  <a:schemeClr val="bg1">
                    <a:lumMod val="50000"/>
                  </a:schemeClr>
                </a:solidFill>
                <a:latin typeface="Consolas" panose="020B0609020204030204" pitchFamily="49" charset="0"/>
              </a:rPr>
              <a:t>  </a:t>
            </a:r>
            <a:r>
              <a:rPr lang="es-CO" sz="1600" dirty="0">
                <a:latin typeface="Consolas" panose="020B0609020204030204" pitchFamily="49" charset="0"/>
              </a:rPr>
              <a:t>&lt;Instrucción inicialización 1&gt;</a:t>
            </a:r>
          </a:p>
          <a:p>
            <a:r>
              <a:rPr lang="es-CO" sz="1600" dirty="0">
                <a:latin typeface="Consolas" panose="020B0609020204030204" pitchFamily="49" charset="0"/>
              </a:rPr>
              <a:t>  &lt;Instrucción inicialización 2&gt;</a:t>
            </a:r>
          </a:p>
          <a:p>
            <a:r>
              <a:rPr lang="es-CO" sz="1600" dirty="0">
                <a:latin typeface="Consolas" panose="020B0609020204030204" pitchFamily="49" charset="0"/>
              </a:rPr>
              <a:t>  ...</a:t>
            </a:r>
          </a:p>
          <a:p>
            <a:r>
              <a:rPr lang="es-CO" sz="1600" dirty="0">
                <a:solidFill>
                  <a:schemeClr val="bg1">
                    <a:lumMod val="50000"/>
                  </a:schemeClr>
                </a:solidFill>
                <a:latin typeface="Consolas" panose="020B0609020204030204" pitchFamily="49" charset="0"/>
              </a:rPr>
              <a:t>  # Cuerpo del algoritmo</a:t>
            </a:r>
            <a:endParaRPr lang="es-CO" sz="1600" dirty="0">
              <a:latin typeface="Consolas" panose="020B0609020204030204" pitchFamily="49" charset="0"/>
            </a:endParaRPr>
          </a:p>
          <a:p>
            <a:r>
              <a:rPr lang="es-CO" sz="1600" dirty="0">
                <a:latin typeface="Consolas" panose="020B0609020204030204" pitchFamily="49" charset="0"/>
              </a:rPr>
              <a:t>  &lt;Instrucción 1&gt;</a:t>
            </a:r>
          </a:p>
          <a:p>
            <a:r>
              <a:rPr lang="es-CO" sz="1600" dirty="0">
                <a:latin typeface="Consolas" panose="020B0609020204030204" pitchFamily="49" charset="0"/>
              </a:rPr>
              <a:t>  &lt;Instrucción 2&gt;</a:t>
            </a:r>
          </a:p>
          <a:p>
            <a:r>
              <a:rPr lang="es-CO" sz="1600" dirty="0">
                <a:latin typeface="Consolas" panose="020B0609020204030204" pitchFamily="49" charset="0"/>
              </a:rPr>
              <a:t>  ...</a:t>
            </a:r>
          </a:p>
          <a:p>
            <a:r>
              <a:rPr lang="es-CO" sz="1600" b="1" dirty="0">
                <a:latin typeface="Consolas" panose="020B0609020204030204" pitchFamily="49" charset="0"/>
              </a:rPr>
              <a:t>FIN</a:t>
            </a:r>
          </a:p>
        </p:txBody>
      </p:sp>
      <p:grpSp>
        <p:nvGrpSpPr>
          <p:cNvPr id="30" name="Grupo 29">
            <a:extLst>
              <a:ext uri="{FF2B5EF4-FFF2-40B4-BE49-F238E27FC236}">
                <a16:creationId xmlns:a16="http://schemas.microsoft.com/office/drawing/2014/main" id="{C595851C-9FFE-4ECF-8032-82DEF370C8B6}"/>
              </a:ext>
            </a:extLst>
          </p:cNvPr>
          <p:cNvGrpSpPr/>
          <p:nvPr/>
        </p:nvGrpSpPr>
        <p:grpSpPr>
          <a:xfrm>
            <a:off x="845352" y="2837482"/>
            <a:ext cx="3205104" cy="3472909"/>
            <a:chOff x="953224" y="2564904"/>
            <a:chExt cx="3205104" cy="3472909"/>
          </a:xfrm>
        </p:grpSpPr>
        <p:sp>
          <p:nvSpPr>
            <p:cNvPr id="15" name="Flowchart: Terminator 43">
              <a:extLst>
                <a:ext uri="{FF2B5EF4-FFF2-40B4-BE49-F238E27FC236}">
                  <a16:creationId xmlns:a16="http://schemas.microsoft.com/office/drawing/2014/main" id="{61F3A59C-EA37-44F2-9E22-1FEACFA0A503}"/>
                </a:ext>
              </a:extLst>
            </p:cNvPr>
            <p:cNvSpPr/>
            <p:nvPr/>
          </p:nvSpPr>
          <p:spPr>
            <a:xfrm>
              <a:off x="1901149" y="5708299"/>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Fin</a:t>
              </a:r>
              <a:endParaRPr lang="en-US" sz="1400" dirty="0">
                <a:latin typeface="Consolas" panose="020B0609020204030204" pitchFamily="49" charset="0"/>
              </a:endParaRPr>
            </a:p>
          </p:txBody>
        </p:sp>
        <p:sp>
          <p:nvSpPr>
            <p:cNvPr id="16" name="Flowchart: Terminator 44">
              <a:extLst>
                <a:ext uri="{FF2B5EF4-FFF2-40B4-BE49-F238E27FC236}">
                  <a16:creationId xmlns:a16="http://schemas.microsoft.com/office/drawing/2014/main" id="{F47C2561-2955-4467-8797-65AF4B8B6D41}"/>
                </a:ext>
              </a:extLst>
            </p:cNvPr>
            <p:cNvSpPr/>
            <p:nvPr/>
          </p:nvSpPr>
          <p:spPr>
            <a:xfrm>
              <a:off x="1905390" y="2564904"/>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Inicio</a:t>
              </a:r>
              <a:endParaRPr lang="en-US" sz="1400" dirty="0">
                <a:latin typeface="Consolas" panose="020B0609020204030204" pitchFamily="49" charset="0"/>
              </a:endParaRPr>
            </a:p>
          </p:txBody>
        </p:sp>
        <p:cxnSp>
          <p:nvCxnSpPr>
            <p:cNvPr id="17" name="Straight Arrow Connector 45">
              <a:extLst>
                <a:ext uri="{FF2B5EF4-FFF2-40B4-BE49-F238E27FC236}">
                  <a16:creationId xmlns:a16="http://schemas.microsoft.com/office/drawing/2014/main" id="{DA3DCAE8-9054-4E3E-8D36-B72EAC5944BB}"/>
                </a:ext>
              </a:extLst>
            </p:cNvPr>
            <p:cNvCxnSpPr>
              <a:cxnSpLocks/>
              <a:stCxn id="16" idx="2"/>
              <a:endCxn id="12" idx="0"/>
            </p:cNvCxnSpPr>
            <p:nvPr/>
          </p:nvCxnSpPr>
          <p:spPr>
            <a:xfrm flipH="1">
              <a:off x="2555776" y="2894418"/>
              <a:ext cx="4241" cy="323141"/>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53">
              <a:extLst>
                <a:ext uri="{FF2B5EF4-FFF2-40B4-BE49-F238E27FC236}">
                  <a16:creationId xmlns:a16="http://schemas.microsoft.com/office/drawing/2014/main" id="{190D1CA0-EF47-4EA7-A881-B9F4413D70BD}"/>
                </a:ext>
              </a:extLst>
            </p:cNvPr>
            <p:cNvCxnSpPr>
              <a:cxnSpLocks/>
              <a:stCxn id="24" idx="2"/>
              <a:endCxn id="15" idx="0"/>
            </p:cNvCxnSpPr>
            <p:nvPr/>
          </p:nvCxnSpPr>
          <p:spPr>
            <a:xfrm>
              <a:off x="2555776" y="5279555"/>
              <a:ext cx="0" cy="428744"/>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Flowchart: Process 42">
              <a:extLst>
                <a:ext uri="{FF2B5EF4-FFF2-40B4-BE49-F238E27FC236}">
                  <a16:creationId xmlns:a16="http://schemas.microsoft.com/office/drawing/2014/main" id="{4682FE77-2D60-434D-8638-ABC038BB94E2}"/>
                </a:ext>
              </a:extLst>
            </p:cNvPr>
            <p:cNvSpPr/>
            <p:nvPr/>
          </p:nvSpPr>
          <p:spPr>
            <a:xfrm>
              <a:off x="953224" y="4470077"/>
              <a:ext cx="3205104" cy="809478"/>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&lt;Instrucción 1&gt;</a:t>
              </a:r>
            </a:p>
            <a:p>
              <a:pPr algn="ctr"/>
              <a:r>
                <a:rPr lang="en-US" sz="1400" dirty="0">
                  <a:latin typeface="Consolas" panose="020B0609020204030204" pitchFamily="49" charset="0"/>
                  <a:sym typeface="Wingdings" pitchFamily="2" charset="2"/>
                </a:rPr>
                <a:t>&lt;Instrucción 2&gt;</a:t>
              </a:r>
            </a:p>
            <a:p>
              <a:pPr algn="ctr"/>
              <a:r>
                <a:rPr lang="en-US" sz="1400" dirty="0">
                  <a:latin typeface="Consolas" panose="020B0609020204030204" pitchFamily="49" charset="0"/>
                  <a:sym typeface="Wingdings" pitchFamily="2" charset="2"/>
                </a:rPr>
                <a:t>...</a:t>
              </a:r>
              <a:endParaRPr lang="en-US" sz="1400" dirty="0">
                <a:latin typeface="Consolas" panose="020B0609020204030204" pitchFamily="49" charset="0"/>
              </a:endParaRPr>
            </a:p>
          </p:txBody>
        </p:sp>
        <p:sp>
          <p:nvSpPr>
            <p:cNvPr id="12" name="Flowchart: Process 42">
              <a:extLst>
                <a:ext uri="{FF2B5EF4-FFF2-40B4-BE49-F238E27FC236}">
                  <a16:creationId xmlns:a16="http://schemas.microsoft.com/office/drawing/2014/main" id="{5A900558-B1E8-4987-BA7E-05C2FDCF4714}"/>
                </a:ext>
              </a:extLst>
            </p:cNvPr>
            <p:cNvSpPr/>
            <p:nvPr/>
          </p:nvSpPr>
          <p:spPr>
            <a:xfrm>
              <a:off x="953224" y="3217559"/>
              <a:ext cx="3205104" cy="865084"/>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&lt;Instrucción inicializacion 1&gt;</a:t>
              </a:r>
            </a:p>
            <a:p>
              <a:pPr algn="ctr"/>
              <a:r>
                <a:rPr lang="en-US" sz="1400" dirty="0">
                  <a:latin typeface="Consolas" panose="020B0609020204030204" pitchFamily="49" charset="0"/>
                  <a:sym typeface="Wingdings" pitchFamily="2" charset="2"/>
                </a:rPr>
                <a:t>&lt;Instrucción inicializacion 2&gt;</a:t>
              </a:r>
            </a:p>
            <a:p>
              <a:pPr algn="ctr"/>
              <a:r>
                <a:rPr lang="en-US" sz="1400" dirty="0">
                  <a:latin typeface="Consolas" panose="020B0609020204030204" pitchFamily="49" charset="0"/>
                  <a:sym typeface="Wingdings" pitchFamily="2" charset="2"/>
                </a:rPr>
                <a:t>...</a:t>
              </a:r>
              <a:endParaRPr lang="en-US" sz="1400" dirty="0">
                <a:latin typeface="Consolas" panose="020B0609020204030204" pitchFamily="49" charset="0"/>
              </a:endParaRPr>
            </a:p>
          </p:txBody>
        </p:sp>
        <p:cxnSp>
          <p:nvCxnSpPr>
            <p:cNvPr id="19" name="Straight Arrow Connector 45">
              <a:extLst>
                <a:ext uri="{FF2B5EF4-FFF2-40B4-BE49-F238E27FC236}">
                  <a16:creationId xmlns:a16="http://schemas.microsoft.com/office/drawing/2014/main" id="{14B882D5-33BD-4656-95A7-37725EC1F833}"/>
                </a:ext>
              </a:extLst>
            </p:cNvPr>
            <p:cNvCxnSpPr>
              <a:cxnSpLocks/>
              <a:stCxn id="12" idx="2"/>
              <a:endCxn id="24" idx="0"/>
            </p:cNvCxnSpPr>
            <p:nvPr/>
          </p:nvCxnSpPr>
          <p:spPr>
            <a:xfrm>
              <a:off x="2555776" y="4082643"/>
              <a:ext cx="0" cy="387434"/>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40045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5536" y="284840"/>
            <a:ext cx="8119814" cy="831626"/>
          </a:xfrm>
        </p:spPr>
        <p:txBody>
          <a:bodyPr/>
          <a:lstStyle/>
          <a:p>
            <a:r>
              <a:rPr lang="es-CO" sz="2800" dirty="0"/>
              <a:t>Pseudocodigo</a:t>
            </a:r>
            <a:endParaRPr lang="en-US" sz="2800" dirty="0"/>
          </a:p>
        </p:txBody>
      </p:sp>
      <p:sp>
        <p:nvSpPr>
          <p:cNvPr id="9" name="Marcador de contenido 8">
            <a:extLst>
              <a:ext uri="{FF2B5EF4-FFF2-40B4-BE49-F238E27FC236}">
                <a16:creationId xmlns:a16="http://schemas.microsoft.com/office/drawing/2014/main" id="{1C890BBD-1444-4CB9-97D4-FDDC5F53D6C3}"/>
              </a:ext>
            </a:extLst>
          </p:cNvPr>
          <p:cNvSpPr>
            <a:spLocks noGrp="1"/>
          </p:cNvSpPr>
          <p:nvPr>
            <p:ph idx="1"/>
          </p:nvPr>
        </p:nvSpPr>
        <p:spPr>
          <a:xfrm>
            <a:off x="388912" y="991823"/>
            <a:ext cx="7993607" cy="1003737"/>
          </a:xfrm>
        </p:spPr>
        <p:txBody>
          <a:bodyPr>
            <a:normAutofit/>
          </a:bodyPr>
          <a:lstStyle/>
          <a:p>
            <a:pPr marL="0" indent="0">
              <a:buNone/>
            </a:pPr>
            <a:r>
              <a:rPr lang="es-MX" sz="2000" dirty="0"/>
              <a:t>La siguiente tabla muestra el resultado equivalente para operaciones secuenciales básicas entre el diagrama de bloques y el pseudocódigo (con las estructuras vistas hasta el momento).</a:t>
            </a:r>
            <a:endParaRPr lang="es-CO" sz="2000" dirty="0"/>
          </a:p>
        </p:txBody>
      </p:sp>
      <p:graphicFrame>
        <p:nvGraphicFramePr>
          <p:cNvPr id="2" name="Tabla 2">
            <a:extLst>
              <a:ext uri="{FF2B5EF4-FFF2-40B4-BE49-F238E27FC236}">
                <a16:creationId xmlns:a16="http://schemas.microsoft.com/office/drawing/2014/main" id="{1D2B5E36-52C4-42F4-8540-7CBD071455A5}"/>
              </a:ext>
            </a:extLst>
          </p:cNvPr>
          <p:cNvGraphicFramePr>
            <a:graphicFrameLocks noGrp="1"/>
          </p:cNvGraphicFramePr>
          <p:nvPr>
            <p:extLst>
              <p:ext uri="{D42A27DB-BD31-4B8C-83A1-F6EECF244321}">
                <p14:modId xmlns:p14="http://schemas.microsoft.com/office/powerpoint/2010/main" val="1792194534"/>
              </p:ext>
            </p:extLst>
          </p:nvPr>
        </p:nvGraphicFramePr>
        <p:xfrm>
          <a:off x="899592" y="2204864"/>
          <a:ext cx="6972249" cy="4211320"/>
        </p:xfrm>
        <a:graphic>
          <a:graphicData uri="http://schemas.openxmlformats.org/drawingml/2006/table">
            <a:tbl>
              <a:tblPr firstRow="1" bandRow="1">
                <a:tableStyleId>{5940675A-B579-460E-94D1-54222C63F5DA}</a:tableStyleId>
              </a:tblPr>
              <a:tblGrid>
                <a:gridCol w="1783449">
                  <a:extLst>
                    <a:ext uri="{9D8B030D-6E8A-4147-A177-3AD203B41FA5}">
                      <a16:colId xmlns:a16="http://schemas.microsoft.com/office/drawing/2014/main" val="4002968547"/>
                    </a:ext>
                  </a:extLst>
                </a:gridCol>
                <a:gridCol w="2864717">
                  <a:extLst>
                    <a:ext uri="{9D8B030D-6E8A-4147-A177-3AD203B41FA5}">
                      <a16:colId xmlns:a16="http://schemas.microsoft.com/office/drawing/2014/main" val="2376140116"/>
                    </a:ext>
                  </a:extLst>
                </a:gridCol>
                <a:gridCol w="2324083">
                  <a:extLst>
                    <a:ext uri="{9D8B030D-6E8A-4147-A177-3AD203B41FA5}">
                      <a16:colId xmlns:a16="http://schemas.microsoft.com/office/drawing/2014/main" val="1317388859"/>
                    </a:ext>
                  </a:extLst>
                </a:gridCol>
              </a:tblGrid>
              <a:tr h="370840">
                <a:tc>
                  <a:txBody>
                    <a:bodyPr/>
                    <a:lstStyle/>
                    <a:p>
                      <a:r>
                        <a:rPr lang="es-CO" b="1" dirty="0"/>
                        <a:t>Tipo</a:t>
                      </a:r>
                    </a:p>
                  </a:txBody>
                  <a:tcPr/>
                </a:tc>
                <a:tc>
                  <a:txBody>
                    <a:bodyPr/>
                    <a:lstStyle/>
                    <a:p>
                      <a:r>
                        <a:rPr lang="es-CO" b="1" dirty="0"/>
                        <a:t>Diagrama de bloques</a:t>
                      </a:r>
                    </a:p>
                  </a:txBody>
                  <a:tcPr/>
                </a:tc>
                <a:tc>
                  <a:txBody>
                    <a:bodyPr/>
                    <a:lstStyle/>
                    <a:p>
                      <a:r>
                        <a:rPr lang="es-CO" b="1" dirty="0"/>
                        <a:t>Pseudocordigo</a:t>
                      </a:r>
                    </a:p>
                  </a:txBody>
                  <a:tcPr/>
                </a:tc>
                <a:extLst>
                  <a:ext uri="{0D108BD9-81ED-4DB2-BD59-A6C34878D82A}">
                    <a16:rowId xmlns:a16="http://schemas.microsoft.com/office/drawing/2014/main" val="3153662098"/>
                  </a:ext>
                </a:extLst>
              </a:tr>
              <a:tr h="370840">
                <a:tc>
                  <a:txBody>
                    <a:bodyPr/>
                    <a:lstStyle/>
                    <a:p>
                      <a:pPr algn="ctr"/>
                      <a:r>
                        <a:rPr lang="es-CO" dirty="0"/>
                        <a:t>Entrada</a:t>
                      </a:r>
                    </a:p>
                    <a:p>
                      <a:pPr algn="ctr"/>
                      <a:endParaRPr lang="es-CO" dirty="0"/>
                    </a:p>
                    <a:p>
                      <a:pPr algn="ctr"/>
                      <a:endParaRPr lang="es-CO" dirty="0"/>
                    </a:p>
                  </a:txBody>
                  <a:tcPr/>
                </a:tc>
                <a:tc>
                  <a:txBody>
                    <a:bodyPr/>
                    <a:lstStyle/>
                    <a:p>
                      <a:endParaRPr lang="es-CO" dirty="0"/>
                    </a:p>
                    <a:p>
                      <a:endParaRPr lang="es-CO" dirty="0"/>
                    </a:p>
                    <a:p>
                      <a:endParaRPr lang="es-CO" dirty="0"/>
                    </a:p>
                    <a:p>
                      <a:endParaRPr lang="es-CO" dirty="0"/>
                    </a:p>
                  </a:txBody>
                  <a:tcPr/>
                </a:tc>
                <a:tc>
                  <a:txBody>
                    <a:bodyPr/>
                    <a:lstStyle/>
                    <a:p>
                      <a:r>
                        <a:rPr lang="es-CO" dirty="0">
                          <a:latin typeface="Consolas" panose="020B0609020204030204" pitchFamily="49" charset="0"/>
                        </a:rPr>
                        <a:t>Leer(v1,v2,…)</a:t>
                      </a:r>
                    </a:p>
                  </a:txBody>
                  <a:tcPr anchor="ctr"/>
                </a:tc>
                <a:extLst>
                  <a:ext uri="{0D108BD9-81ED-4DB2-BD59-A6C34878D82A}">
                    <a16:rowId xmlns:a16="http://schemas.microsoft.com/office/drawing/2014/main" val="2502274137"/>
                  </a:ext>
                </a:extLst>
              </a:tr>
              <a:tr h="370840">
                <a:tc>
                  <a:txBody>
                    <a:bodyPr/>
                    <a:lstStyle/>
                    <a:p>
                      <a:pPr algn="ctr"/>
                      <a:r>
                        <a:rPr lang="es-CO" dirty="0"/>
                        <a:t>Salida</a:t>
                      </a:r>
                    </a:p>
                  </a:txBody>
                  <a:tcPr/>
                </a:tc>
                <a:tc>
                  <a:txBody>
                    <a:bodyPr/>
                    <a:lstStyle/>
                    <a:p>
                      <a:endParaRPr lang="es-CO" dirty="0"/>
                    </a:p>
                    <a:p>
                      <a:endParaRPr lang="es-CO" dirty="0"/>
                    </a:p>
                    <a:p>
                      <a:endParaRPr lang="es-CO" dirty="0"/>
                    </a:p>
                    <a:p>
                      <a:endParaRPr lang="es-CO" dirty="0"/>
                    </a:p>
                    <a:p>
                      <a:endParaRPr lang="es-CO"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dirty="0">
                          <a:latin typeface="Consolas" panose="020B0609020204030204" pitchFamily="49" charset="0"/>
                        </a:rPr>
                        <a:t>Escribir(v1,v2,…)</a:t>
                      </a:r>
                    </a:p>
                    <a:p>
                      <a:endParaRPr lang="es-CO" dirty="0"/>
                    </a:p>
                  </a:txBody>
                  <a:tcPr anchor="ctr"/>
                </a:tc>
                <a:extLst>
                  <a:ext uri="{0D108BD9-81ED-4DB2-BD59-A6C34878D82A}">
                    <a16:rowId xmlns:a16="http://schemas.microsoft.com/office/drawing/2014/main" val="325961845"/>
                  </a:ext>
                </a:extLst>
              </a:tr>
              <a:tr h="370840">
                <a:tc>
                  <a:txBody>
                    <a:bodyPr/>
                    <a:lstStyle/>
                    <a:p>
                      <a:pPr algn="ctr"/>
                      <a:r>
                        <a:rPr lang="es-CO" dirty="0"/>
                        <a:t>Proceso</a:t>
                      </a:r>
                    </a:p>
                  </a:txBody>
                  <a:tcPr/>
                </a:tc>
                <a:tc>
                  <a:txBody>
                    <a:bodyPr/>
                    <a:lstStyle/>
                    <a:p>
                      <a:endParaRPr lang="es-CO" dirty="0"/>
                    </a:p>
                    <a:p>
                      <a:endParaRPr lang="es-CO" dirty="0"/>
                    </a:p>
                    <a:p>
                      <a:endParaRPr lang="es-CO" dirty="0"/>
                    </a:p>
                    <a:p>
                      <a:endParaRPr lang="es-CO" dirty="0"/>
                    </a:p>
                  </a:txBody>
                  <a:tcPr/>
                </a:tc>
                <a:tc>
                  <a:txBody>
                    <a:bodyPr/>
                    <a:lstStyle/>
                    <a:p>
                      <a:endParaRPr lang="es-CO" dirty="0"/>
                    </a:p>
                    <a:p>
                      <a:pPr marL="0" marR="0" lvl="0" indent="0" algn="l" defTabSz="914400" rtl="0" eaLnBrk="1" fontAlgn="auto" latinLnBrk="0" hangingPunct="1">
                        <a:lnSpc>
                          <a:spcPct val="100000"/>
                        </a:lnSpc>
                        <a:spcBef>
                          <a:spcPts val="0"/>
                        </a:spcBef>
                        <a:spcAft>
                          <a:spcPts val="0"/>
                        </a:spcAft>
                        <a:buClrTx/>
                        <a:buSzTx/>
                        <a:buFontTx/>
                        <a:buNone/>
                        <a:tabLst/>
                        <a:defRPr/>
                      </a:pPr>
                      <a:r>
                        <a:rPr lang="es-CO" dirty="0">
                          <a:latin typeface="Consolas" panose="020B0609020204030204" pitchFamily="49" charset="0"/>
                        </a:rPr>
                        <a:t>c = a + b</a:t>
                      </a:r>
                      <a:endParaRPr lang="es-CO" dirty="0"/>
                    </a:p>
                    <a:p>
                      <a:endParaRPr lang="es-CO" dirty="0"/>
                    </a:p>
                  </a:txBody>
                  <a:tcPr anchor="ctr"/>
                </a:tc>
                <a:extLst>
                  <a:ext uri="{0D108BD9-81ED-4DB2-BD59-A6C34878D82A}">
                    <a16:rowId xmlns:a16="http://schemas.microsoft.com/office/drawing/2014/main" val="2481907500"/>
                  </a:ext>
                </a:extLst>
              </a:tr>
            </a:tbl>
          </a:graphicData>
        </a:graphic>
      </p:graphicFrame>
      <p:sp>
        <p:nvSpPr>
          <p:cNvPr id="10" name="Flowchart: Data 6">
            <a:extLst>
              <a:ext uri="{FF2B5EF4-FFF2-40B4-BE49-F238E27FC236}">
                <a16:creationId xmlns:a16="http://schemas.microsoft.com/office/drawing/2014/main" id="{0844C778-9DE1-449B-B09C-237271C11B8A}"/>
              </a:ext>
            </a:extLst>
          </p:cNvPr>
          <p:cNvSpPr/>
          <p:nvPr/>
        </p:nvSpPr>
        <p:spPr>
          <a:xfrm>
            <a:off x="2843808" y="2789992"/>
            <a:ext cx="2491631" cy="715198"/>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 v1,v2,…</a:t>
            </a:r>
          </a:p>
        </p:txBody>
      </p:sp>
      <p:sp>
        <p:nvSpPr>
          <p:cNvPr id="11" name="Flowchart: Data 6">
            <a:extLst>
              <a:ext uri="{FF2B5EF4-FFF2-40B4-BE49-F238E27FC236}">
                <a16:creationId xmlns:a16="http://schemas.microsoft.com/office/drawing/2014/main" id="{9C39F37A-2A39-47E1-86A7-FAE0C0329172}"/>
              </a:ext>
            </a:extLst>
          </p:cNvPr>
          <p:cNvSpPr/>
          <p:nvPr/>
        </p:nvSpPr>
        <p:spPr>
          <a:xfrm>
            <a:off x="2833199" y="4158144"/>
            <a:ext cx="2491631" cy="715198"/>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Print v1,v2,…</a:t>
            </a:r>
          </a:p>
        </p:txBody>
      </p:sp>
      <p:sp>
        <p:nvSpPr>
          <p:cNvPr id="12" name="Flowchart: Process 7">
            <a:extLst>
              <a:ext uri="{FF2B5EF4-FFF2-40B4-BE49-F238E27FC236}">
                <a16:creationId xmlns:a16="http://schemas.microsoft.com/office/drawing/2014/main" id="{6B08FC8C-52EF-4BF1-96B3-3C24D434D6C2}"/>
              </a:ext>
            </a:extLst>
          </p:cNvPr>
          <p:cNvSpPr/>
          <p:nvPr/>
        </p:nvSpPr>
        <p:spPr>
          <a:xfrm>
            <a:off x="3203848" y="5526296"/>
            <a:ext cx="1395611" cy="6096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c </a:t>
            </a:r>
            <a:r>
              <a:rPr lang="en-US" sz="1400" dirty="0">
                <a:latin typeface="Consolas" panose="020B0609020204030204" pitchFamily="49" charset="0"/>
                <a:sym typeface="Wingdings" panose="05000000000000000000" pitchFamily="2" charset="2"/>
              </a:rPr>
              <a:t> a + b</a:t>
            </a:r>
            <a:r>
              <a:rPr lang="en-US" sz="1400" dirty="0">
                <a:latin typeface="Consolas" panose="020B0609020204030204" pitchFamily="49" charset="0"/>
              </a:rPr>
              <a:t> </a:t>
            </a:r>
          </a:p>
        </p:txBody>
      </p:sp>
      <p:pic>
        <p:nvPicPr>
          <p:cNvPr id="8" name="Picture 2" descr="http://www.jegsworks.com/lessons/computerbasics/lesson3/keyboard-white.png">
            <a:extLst>
              <a:ext uri="{FF2B5EF4-FFF2-40B4-BE49-F238E27FC236}">
                <a16:creationId xmlns:a16="http://schemas.microsoft.com/office/drawing/2014/main" id="{E71ECA5B-E283-484E-BAA4-FA33B411115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34743" y="3072905"/>
            <a:ext cx="1365108" cy="43228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http://t2.gstatic.com/images?q=tbn:ANd9GcS51PGLkp34nPs-LewfkgAfjdZsyder21fNGFoRiZ_A6x7txo3e">
            <a:extLst>
              <a:ext uri="{FF2B5EF4-FFF2-40B4-BE49-F238E27FC236}">
                <a16:creationId xmlns:a16="http://schemas.microsoft.com/office/drawing/2014/main" id="{EDFE1FD8-9BA8-4946-85A9-2C0C79F4584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96569" y="4201790"/>
            <a:ext cx="841456" cy="69006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Settings Icon, Gear Icon Vector, Gear Symbol Illustration. for Web Sites  Our Mobile. Stock Illustration - Illustration of business, wheel: 151065188">
            <a:extLst>
              <a:ext uri="{FF2B5EF4-FFF2-40B4-BE49-F238E27FC236}">
                <a16:creationId xmlns:a16="http://schemas.microsoft.com/office/drawing/2014/main" id="{5ECC673D-BFEF-4D3C-AD06-02BF9118C5C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41509" y="5560142"/>
            <a:ext cx="751577" cy="7515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22616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88640"/>
            <a:ext cx="8496944" cy="1116540"/>
          </a:xfrm>
        </p:spPr>
        <p:txBody>
          <a:bodyPr>
            <a:normAutofit/>
          </a:bodyPr>
          <a:lstStyle/>
          <a:p>
            <a:r>
              <a:rPr lang="es-CO" sz="2800" dirty="0"/>
              <a:t>Representación de algoritmos mediante Pseudocódigo </a:t>
            </a:r>
          </a:p>
        </p:txBody>
      </p:sp>
      <p:sp>
        <p:nvSpPr>
          <p:cNvPr id="4" name="3 Marcador de número de diapositiva"/>
          <p:cNvSpPr>
            <a:spLocks noGrp="1"/>
          </p:cNvSpPr>
          <p:nvPr>
            <p:ph type="sldNum" sz="quarter" idx="12"/>
          </p:nvPr>
        </p:nvSpPr>
        <p:spPr/>
        <p:txBody>
          <a:bodyPr/>
          <a:lstStyle/>
          <a:p>
            <a:fld id="{45F1CE28-A3C7-48DC-84A2-8FB08D6123C5}" type="slidenum">
              <a:rPr lang="en-US" smtClean="0"/>
              <a:pPr/>
              <a:t>39</a:t>
            </a:fld>
            <a:endParaRPr lang="en-US" dirty="0"/>
          </a:p>
        </p:txBody>
      </p:sp>
      <p:pic>
        <p:nvPicPr>
          <p:cNvPr id="18" name="Imagen 17">
            <a:extLst>
              <a:ext uri="{FF2B5EF4-FFF2-40B4-BE49-F238E27FC236}">
                <a16:creationId xmlns:a16="http://schemas.microsoft.com/office/drawing/2014/main" id="{13B09A10-E562-4BED-B187-7ABBD56B0D39}"/>
              </a:ext>
            </a:extLst>
          </p:cNvPr>
          <p:cNvPicPr>
            <a:picLocks noChangeAspect="1"/>
          </p:cNvPicPr>
          <p:nvPr/>
        </p:nvPicPr>
        <p:blipFill>
          <a:blip r:embed="rId2"/>
          <a:stretch>
            <a:fillRect/>
          </a:stretch>
        </p:blipFill>
        <p:spPr>
          <a:xfrm>
            <a:off x="5552147" y="2358440"/>
            <a:ext cx="2003203" cy="1386232"/>
          </a:xfrm>
          <a:prstGeom prst="rect">
            <a:avLst/>
          </a:prstGeom>
        </p:spPr>
      </p:pic>
      <p:sp>
        <p:nvSpPr>
          <p:cNvPr id="19" name="1 Marcador de contenido">
            <a:extLst>
              <a:ext uri="{FF2B5EF4-FFF2-40B4-BE49-F238E27FC236}">
                <a16:creationId xmlns:a16="http://schemas.microsoft.com/office/drawing/2014/main" id="{B631F62A-D66E-4371-95AA-24391170E54B}"/>
              </a:ext>
            </a:extLst>
          </p:cNvPr>
          <p:cNvSpPr txBox="1">
            <a:spLocks noGrp="1"/>
          </p:cNvSpPr>
          <p:nvPr>
            <p:ph idx="1"/>
          </p:nvPr>
        </p:nvSpPr>
        <p:spPr>
          <a:xfrm>
            <a:off x="213692" y="1211525"/>
            <a:ext cx="7886700" cy="7693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sz="2200" b="1" dirty="0">
                <a:solidFill>
                  <a:srgbClr val="FF0000"/>
                </a:solidFill>
              </a:rPr>
              <a:t>Ejemplo 1</a:t>
            </a:r>
            <a:r>
              <a:rPr lang="es-ES" sz="2200" dirty="0">
                <a:solidFill>
                  <a:srgbClr val="FF0000"/>
                </a:solidFill>
              </a:rPr>
              <a:t>: </a:t>
            </a:r>
            <a:r>
              <a:rPr lang="es-ES" sz="2200" dirty="0"/>
              <a:t>Realice un programa que permita calcular al área de un triangulo</a:t>
            </a:r>
            <a:endParaRPr lang="es-ES" sz="2200" b="1" dirty="0"/>
          </a:p>
        </p:txBody>
      </p:sp>
      <p:sp>
        <p:nvSpPr>
          <p:cNvPr id="22" name="CuadroTexto 21">
            <a:extLst>
              <a:ext uri="{FF2B5EF4-FFF2-40B4-BE49-F238E27FC236}">
                <a16:creationId xmlns:a16="http://schemas.microsoft.com/office/drawing/2014/main" id="{D7CC8BA8-1420-4326-AFC0-E2E32679ADAA}"/>
              </a:ext>
            </a:extLst>
          </p:cNvPr>
          <p:cNvSpPr txBox="1"/>
          <p:nvPr/>
        </p:nvSpPr>
        <p:spPr>
          <a:xfrm>
            <a:off x="4693754" y="4163011"/>
            <a:ext cx="3528392" cy="1569660"/>
          </a:xfrm>
          <a:prstGeom prst="rect">
            <a:avLst/>
          </a:prstGeom>
          <a:noFill/>
          <a:ln>
            <a:solidFill>
              <a:schemeClr val="tx1"/>
            </a:solidFill>
          </a:ln>
        </p:spPr>
        <p:txBody>
          <a:bodyPr wrap="square">
            <a:spAutoFit/>
          </a:bodyPr>
          <a:lstStyle/>
          <a:p>
            <a:r>
              <a:rPr lang="es-CO" sz="1600" b="1" dirty="0">
                <a:latin typeface="Consolas" panose="020B0609020204030204" pitchFamily="49" charset="0"/>
              </a:rPr>
              <a:t>Inicio</a:t>
            </a:r>
            <a:endParaRPr lang="es-CO" sz="1600" dirty="0">
              <a:latin typeface="Consolas" panose="020B0609020204030204" pitchFamily="49" charset="0"/>
            </a:endParaRPr>
          </a:p>
          <a:p>
            <a:r>
              <a:rPr lang="es-CO" sz="1600" dirty="0">
                <a:latin typeface="Consolas" panose="020B0609020204030204" pitchFamily="49" charset="0"/>
              </a:rPr>
              <a:t>  Leer(base)</a:t>
            </a:r>
          </a:p>
          <a:p>
            <a:r>
              <a:rPr lang="es-CO" sz="1600" dirty="0">
                <a:latin typeface="Consolas" panose="020B0609020204030204" pitchFamily="49" charset="0"/>
              </a:rPr>
              <a:t>  Leer(height)</a:t>
            </a:r>
          </a:p>
          <a:p>
            <a:r>
              <a:rPr lang="es-CO" sz="1600" dirty="0">
                <a:latin typeface="Consolas" panose="020B0609020204030204" pitchFamily="49" charset="0"/>
              </a:rPr>
              <a:t>  area = (base*height)/2</a:t>
            </a:r>
          </a:p>
          <a:p>
            <a:r>
              <a:rPr lang="es-CO" sz="1600" dirty="0">
                <a:latin typeface="Consolas" panose="020B0609020204030204" pitchFamily="49" charset="0"/>
              </a:rPr>
              <a:t>  Escribir(area)</a:t>
            </a:r>
          </a:p>
          <a:p>
            <a:r>
              <a:rPr lang="es-CO" sz="1600" b="1" dirty="0">
                <a:latin typeface="Consolas" panose="020B0609020204030204" pitchFamily="49" charset="0"/>
              </a:rPr>
              <a:t>Fin</a:t>
            </a:r>
          </a:p>
        </p:txBody>
      </p:sp>
      <p:grpSp>
        <p:nvGrpSpPr>
          <p:cNvPr id="8" name="53 Grupo">
            <a:extLst>
              <a:ext uri="{FF2B5EF4-FFF2-40B4-BE49-F238E27FC236}">
                <a16:creationId xmlns:a16="http://schemas.microsoft.com/office/drawing/2014/main" id="{D4B898C9-705F-45A1-BA25-0655C30D63B1}"/>
              </a:ext>
            </a:extLst>
          </p:cNvPr>
          <p:cNvGrpSpPr/>
          <p:nvPr/>
        </p:nvGrpSpPr>
        <p:grpSpPr>
          <a:xfrm>
            <a:off x="1088683" y="2358440"/>
            <a:ext cx="2575938" cy="3048000"/>
            <a:chOff x="5569827" y="1676400"/>
            <a:chExt cx="2098914" cy="2819400"/>
          </a:xfrm>
        </p:grpSpPr>
        <p:sp>
          <p:nvSpPr>
            <p:cNvPr id="9" name="Flowchart: Terminator 43">
              <a:extLst>
                <a:ext uri="{FF2B5EF4-FFF2-40B4-BE49-F238E27FC236}">
                  <a16:creationId xmlns:a16="http://schemas.microsoft.com/office/drawing/2014/main" id="{1014193C-C56A-4058-A853-0A1479DC882E}"/>
                </a:ext>
              </a:extLst>
            </p:cNvPr>
            <p:cNvSpPr/>
            <p:nvPr/>
          </p:nvSpPr>
          <p:spPr>
            <a:xfrm>
              <a:off x="6096000" y="41910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entury Gothic" panose="020B0502020202020204" pitchFamily="34" charset="0"/>
                </a:rPr>
                <a:t>Finish</a:t>
              </a:r>
              <a:endParaRPr lang="en-US" sz="1400" dirty="0">
                <a:latin typeface="Century Gothic" panose="020B0502020202020204" pitchFamily="34" charset="0"/>
              </a:endParaRPr>
            </a:p>
          </p:txBody>
        </p:sp>
        <p:sp>
          <p:nvSpPr>
            <p:cNvPr id="10" name="Flowchart: Terminator 44">
              <a:extLst>
                <a:ext uri="{FF2B5EF4-FFF2-40B4-BE49-F238E27FC236}">
                  <a16:creationId xmlns:a16="http://schemas.microsoft.com/office/drawing/2014/main" id="{12106089-5F33-40F5-82B5-973422A637C3}"/>
                </a:ext>
              </a:extLst>
            </p:cNvPr>
            <p:cNvSpPr/>
            <p:nvPr/>
          </p:nvSpPr>
          <p:spPr>
            <a:xfrm>
              <a:off x="6096000" y="16764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onsolas" panose="020B0609020204030204" pitchFamily="49" charset="0"/>
                </a:rPr>
                <a:t>Start</a:t>
              </a:r>
              <a:endParaRPr lang="en-US" sz="1400" dirty="0">
                <a:latin typeface="Consolas" panose="020B0609020204030204" pitchFamily="49" charset="0"/>
              </a:endParaRPr>
            </a:p>
          </p:txBody>
        </p:sp>
        <p:cxnSp>
          <p:nvCxnSpPr>
            <p:cNvPr id="11" name="Straight Arrow Connector 45">
              <a:extLst>
                <a:ext uri="{FF2B5EF4-FFF2-40B4-BE49-F238E27FC236}">
                  <a16:creationId xmlns:a16="http://schemas.microsoft.com/office/drawing/2014/main" id="{135EBD13-DC57-4000-B5BF-A617196D4114}"/>
                </a:ext>
              </a:extLst>
            </p:cNvPr>
            <p:cNvCxnSpPr>
              <a:stCxn id="10" idx="2"/>
              <a:endCxn id="15" idx="1"/>
            </p:cNvCxnSpPr>
            <p:nvPr/>
          </p:nvCxnSpPr>
          <p:spPr>
            <a:xfrm flipH="1">
              <a:off x="6625949" y="1981200"/>
              <a:ext cx="3451"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48">
              <a:extLst>
                <a:ext uri="{FF2B5EF4-FFF2-40B4-BE49-F238E27FC236}">
                  <a16:creationId xmlns:a16="http://schemas.microsoft.com/office/drawing/2014/main" id="{8867EE18-402C-4B99-8EAE-4E649A351988}"/>
                </a:ext>
              </a:extLst>
            </p:cNvPr>
            <p:cNvCxnSpPr>
              <a:cxnSpLocks/>
              <a:stCxn id="17" idx="2"/>
              <a:endCxn id="13" idx="1"/>
            </p:cNvCxnSpPr>
            <p:nvPr/>
          </p:nvCxnSpPr>
          <p:spPr>
            <a:xfrm>
              <a:off x="6619284" y="3276600"/>
              <a:ext cx="10116" cy="3048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Flowchart: Data 52">
              <a:extLst>
                <a:ext uri="{FF2B5EF4-FFF2-40B4-BE49-F238E27FC236}">
                  <a16:creationId xmlns:a16="http://schemas.microsoft.com/office/drawing/2014/main" id="{F8091278-8F52-41E2-B983-C16DC1C09BCF}"/>
                </a:ext>
              </a:extLst>
            </p:cNvPr>
            <p:cNvSpPr/>
            <p:nvPr/>
          </p:nvSpPr>
          <p:spPr>
            <a:xfrm>
              <a:off x="5867400" y="3581400"/>
              <a:ext cx="1524000"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Print </a:t>
              </a:r>
              <a:r>
                <a:rPr lang="en-US" sz="1200" b="1" dirty="0">
                  <a:latin typeface="Century Gothic" panose="020B0502020202020204" pitchFamily="34" charset="0"/>
                </a:rPr>
                <a:t>area</a:t>
              </a:r>
            </a:p>
          </p:txBody>
        </p:sp>
        <p:cxnSp>
          <p:nvCxnSpPr>
            <p:cNvPr id="14" name="Straight Arrow Connector 53">
              <a:extLst>
                <a:ext uri="{FF2B5EF4-FFF2-40B4-BE49-F238E27FC236}">
                  <a16:creationId xmlns:a16="http://schemas.microsoft.com/office/drawing/2014/main" id="{53D62B17-BB2B-4ACF-BC26-470D76B5DD82}"/>
                </a:ext>
              </a:extLst>
            </p:cNvPr>
            <p:cNvCxnSpPr>
              <a:stCxn id="13" idx="4"/>
              <a:endCxn id="9" idx="0"/>
            </p:cNvCxnSpPr>
            <p:nvPr/>
          </p:nvCxnSpPr>
          <p:spPr>
            <a:xfrm>
              <a:off x="6629400" y="3962400"/>
              <a:ext cx="0"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 name="Flowchart: Data 68">
              <a:extLst>
                <a:ext uri="{FF2B5EF4-FFF2-40B4-BE49-F238E27FC236}">
                  <a16:creationId xmlns:a16="http://schemas.microsoft.com/office/drawing/2014/main" id="{56A6B584-B49A-48C8-B4FB-9543E676CC23}"/>
                </a:ext>
              </a:extLst>
            </p:cNvPr>
            <p:cNvSpPr/>
            <p:nvPr/>
          </p:nvSpPr>
          <p:spPr>
            <a:xfrm>
              <a:off x="5687178" y="2209800"/>
              <a:ext cx="1877541" cy="4572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Read </a:t>
              </a:r>
              <a:r>
                <a:rPr lang="en-US" sz="1200" b="1" dirty="0">
                  <a:latin typeface="Century Gothic" panose="020B0502020202020204" pitchFamily="34" charset="0"/>
                </a:rPr>
                <a:t>base</a:t>
              </a:r>
              <a:br>
                <a:rPr lang="en-US" sz="1200" b="1" dirty="0">
                  <a:latin typeface="Century Gothic" panose="020B0502020202020204" pitchFamily="34" charset="0"/>
                </a:rPr>
              </a:br>
              <a:r>
                <a:rPr lang="en-US" sz="1200" dirty="0">
                  <a:latin typeface="Century Gothic" panose="020B0502020202020204" pitchFamily="34" charset="0"/>
                </a:rPr>
                <a:t>Read</a:t>
              </a:r>
              <a:r>
                <a:rPr lang="en-US" sz="1200" b="1" dirty="0">
                  <a:latin typeface="Century Gothic" panose="020B0502020202020204" pitchFamily="34" charset="0"/>
                </a:rPr>
                <a:t> height</a:t>
              </a:r>
            </a:p>
          </p:txBody>
        </p:sp>
        <p:cxnSp>
          <p:nvCxnSpPr>
            <p:cNvPr id="16" name="Straight Arrow Connector 47">
              <a:extLst>
                <a:ext uri="{FF2B5EF4-FFF2-40B4-BE49-F238E27FC236}">
                  <a16:creationId xmlns:a16="http://schemas.microsoft.com/office/drawing/2014/main" id="{4CEA5EA4-076C-44FB-B349-E84D66574984}"/>
                </a:ext>
              </a:extLst>
            </p:cNvPr>
            <p:cNvCxnSpPr>
              <a:cxnSpLocks/>
              <a:stCxn id="15" idx="4"/>
              <a:endCxn id="17" idx="0"/>
            </p:cNvCxnSpPr>
            <p:nvPr/>
          </p:nvCxnSpPr>
          <p:spPr>
            <a:xfrm flipH="1">
              <a:off x="6619284" y="2667000"/>
              <a:ext cx="6665"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Flowchart: Process 42">
              <a:extLst>
                <a:ext uri="{FF2B5EF4-FFF2-40B4-BE49-F238E27FC236}">
                  <a16:creationId xmlns:a16="http://schemas.microsoft.com/office/drawing/2014/main" id="{BA184E24-AA91-4035-A11F-3E88D0423368}"/>
                </a:ext>
              </a:extLst>
            </p:cNvPr>
            <p:cNvSpPr/>
            <p:nvPr/>
          </p:nvSpPr>
          <p:spPr>
            <a:xfrm>
              <a:off x="5569827" y="2895600"/>
              <a:ext cx="2098914" cy="3810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sym typeface="Wingdings" pitchFamily="2" charset="2"/>
                </a:rPr>
                <a:t>area  (base</a:t>
              </a:r>
              <a:r>
                <a:rPr lang="en-US" sz="1200" dirty="0">
                  <a:latin typeface="Century Gothic" panose="020B0502020202020204" pitchFamily="34" charset="0"/>
                </a:rPr>
                <a:t> * height)/2</a:t>
              </a:r>
            </a:p>
          </p:txBody>
        </p:sp>
      </p:grpSp>
    </p:spTree>
    <p:extLst>
      <p:ext uri="{BB962C8B-B14F-4D97-AF65-F5344CB8AC3E}">
        <p14:creationId xmlns:p14="http://schemas.microsoft.com/office/powerpoint/2010/main" val="19019614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88640"/>
            <a:ext cx="8496944" cy="1116540"/>
          </a:xfrm>
        </p:spPr>
        <p:txBody>
          <a:bodyPr>
            <a:normAutofit/>
          </a:bodyPr>
          <a:lstStyle/>
          <a:p>
            <a:r>
              <a:rPr lang="es-CO" sz="2800" dirty="0"/>
              <a:t>Representación de algoritmos mediante Pseudocódigo </a:t>
            </a:r>
          </a:p>
        </p:txBody>
      </p:sp>
      <p:sp>
        <p:nvSpPr>
          <p:cNvPr id="19" name="1 Marcador de contenido">
            <a:extLst>
              <a:ext uri="{FF2B5EF4-FFF2-40B4-BE49-F238E27FC236}">
                <a16:creationId xmlns:a16="http://schemas.microsoft.com/office/drawing/2014/main" id="{B631F62A-D66E-4371-95AA-24391170E54B}"/>
              </a:ext>
            </a:extLst>
          </p:cNvPr>
          <p:cNvSpPr txBox="1">
            <a:spLocks noGrp="1"/>
          </p:cNvSpPr>
          <p:nvPr>
            <p:ph idx="1"/>
          </p:nvPr>
        </p:nvSpPr>
        <p:spPr>
          <a:xfrm>
            <a:off x="213692" y="1211525"/>
            <a:ext cx="7886700" cy="7693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sz="2200" b="1" dirty="0">
                <a:solidFill>
                  <a:srgbClr val="FF0000"/>
                </a:solidFill>
              </a:rPr>
              <a:t>Ejemplo 2</a:t>
            </a:r>
            <a:r>
              <a:rPr lang="es-ES" sz="2200" dirty="0">
                <a:solidFill>
                  <a:srgbClr val="FF0000"/>
                </a:solidFill>
              </a:rPr>
              <a:t>: </a:t>
            </a:r>
            <a:r>
              <a:rPr lang="es-ES" sz="2200" dirty="0"/>
              <a:t>Realice un programa que permita calcular al área de un triangulo</a:t>
            </a:r>
            <a:endParaRPr lang="es-ES" sz="2200" b="1" dirty="0"/>
          </a:p>
        </p:txBody>
      </p:sp>
      <p:sp>
        <p:nvSpPr>
          <p:cNvPr id="15" name="CuadroTexto 14">
            <a:extLst>
              <a:ext uri="{FF2B5EF4-FFF2-40B4-BE49-F238E27FC236}">
                <a16:creationId xmlns:a16="http://schemas.microsoft.com/office/drawing/2014/main" id="{83D413D9-09AB-40C7-9058-56DF4BA30F61}"/>
              </a:ext>
            </a:extLst>
          </p:cNvPr>
          <p:cNvSpPr txBox="1"/>
          <p:nvPr/>
        </p:nvSpPr>
        <p:spPr>
          <a:xfrm>
            <a:off x="4788024" y="4314515"/>
            <a:ext cx="3769051" cy="1815882"/>
          </a:xfrm>
          <a:prstGeom prst="rect">
            <a:avLst/>
          </a:prstGeom>
          <a:noFill/>
          <a:ln>
            <a:solidFill>
              <a:schemeClr val="tx1"/>
            </a:solidFill>
          </a:ln>
        </p:spPr>
        <p:txBody>
          <a:bodyPr wrap="square">
            <a:spAutoFit/>
          </a:bodyPr>
          <a:lstStyle/>
          <a:p>
            <a:r>
              <a:rPr lang="es-CO" sz="1600" b="1" dirty="0">
                <a:latin typeface="Consolas" panose="020B0609020204030204" pitchFamily="49" charset="0"/>
              </a:rPr>
              <a:t>Inicio</a:t>
            </a:r>
            <a:endParaRPr lang="es-CO" sz="1600" dirty="0">
              <a:latin typeface="Consolas" panose="020B0609020204030204" pitchFamily="49" charset="0"/>
            </a:endParaRPr>
          </a:p>
          <a:p>
            <a:r>
              <a:rPr lang="es-CO" sz="1600" dirty="0">
                <a:latin typeface="Consolas" panose="020B0609020204030204" pitchFamily="49" charset="0"/>
              </a:rPr>
              <a:t>  Leer(init_year)</a:t>
            </a:r>
          </a:p>
          <a:p>
            <a:r>
              <a:rPr lang="es-CO" sz="1600" dirty="0">
                <a:latin typeface="Consolas" panose="020B0609020204030204" pitchFamily="49" charset="0"/>
              </a:rPr>
              <a:t>  Leer(final_year)</a:t>
            </a:r>
          </a:p>
          <a:p>
            <a:r>
              <a:rPr lang="es-CO" sz="1600" dirty="0">
                <a:latin typeface="Consolas" panose="020B0609020204030204" pitchFamily="49" charset="0"/>
              </a:rPr>
              <a:t>  </a:t>
            </a:r>
            <a:r>
              <a:rPr lang="es-CO" sz="1600" dirty="0" err="1">
                <a:latin typeface="Consolas" panose="020B0609020204030204" pitchFamily="49" charset="0"/>
              </a:rPr>
              <a:t>years</a:t>
            </a:r>
            <a:r>
              <a:rPr lang="es-CO" sz="1600" dirty="0">
                <a:latin typeface="Consolas" panose="020B0609020204030204" pitchFamily="49" charset="0"/>
              </a:rPr>
              <a:t> = init_year, final_year</a:t>
            </a:r>
          </a:p>
          <a:p>
            <a:r>
              <a:rPr lang="es-CO" sz="1600" dirty="0">
                <a:latin typeface="Consolas" panose="020B0609020204030204" pitchFamily="49" charset="0"/>
              </a:rPr>
              <a:t>  </a:t>
            </a:r>
            <a:r>
              <a:rPr lang="es-CO" sz="1600" dirty="0" err="1">
                <a:latin typeface="Consolas" panose="020B0609020204030204" pitchFamily="49" charset="0"/>
              </a:rPr>
              <a:t>months</a:t>
            </a:r>
            <a:r>
              <a:rPr lang="es-CO" sz="1600" dirty="0">
                <a:latin typeface="Consolas" panose="020B0609020204030204" pitchFamily="49" charset="0"/>
              </a:rPr>
              <a:t> = 12*</a:t>
            </a:r>
            <a:r>
              <a:rPr lang="es-CO" sz="1600" dirty="0" err="1">
                <a:latin typeface="Consolas" panose="020B0609020204030204" pitchFamily="49" charset="0"/>
              </a:rPr>
              <a:t>years</a:t>
            </a:r>
            <a:endParaRPr lang="es-CO" sz="1600" dirty="0">
              <a:latin typeface="Consolas" panose="020B0609020204030204" pitchFamily="49" charset="0"/>
            </a:endParaRPr>
          </a:p>
          <a:p>
            <a:r>
              <a:rPr lang="es-CO" sz="1600" dirty="0">
                <a:latin typeface="Consolas" panose="020B0609020204030204" pitchFamily="49" charset="0"/>
              </a:rPr>
              <a:t>  Escribir(</a:t>
            </a:r>
            <a:r>
              <a:rPr lang="es-CO" sz="1600" dirty="0" err="1">
                <a:latin typeface="Consolas" panose="020B0609020204030204" pitchFamily="49" charset="0"/>
              </a:rPr>
              <a:t>area</a:t>
            </a:r>
            <a:r>
              <a:rPr lang="es-CO" sz="1600" dirty="0">
                <a:latin typeface="Consolas" panose="020B0609020204030204" pitchFamily="49" charset="0"/>
              </a:rPr>
              <a:t>)</a:t>
            </a:r>
          </a:p>
          <a:p>
            <a:r>
              <a:rPr lang="es-CO" sz="1600" b="1" dirty="0">
                <a:latin typeface="Consolas" panose="020B0609020204030204" pitchFamily="49" charset="0"/>
              </a:rPr>
              <a:t>Fin</a:t>
            </a:r>
          </a:p>
        </p:txBody>
      </p:sp>
      <p:grpSp>
        <p:nvGrpSpPr>
          <p:cNvPr id="6" name="Grupo 5">
            <a:extLst>
              <a:ext uri="{FF2B5EF4-FFF2-40B4-BE49-F238E27FC236}">
                <a16:creationId xmlns:a16="http://schemas.microsoft.com/office/drawing/2014/main" id="{4432DA35-F189-471C-B424-F660F090839C}"/>
              </a:ext>
            </a:extLst>
          </p:cNvPr>
          <p:cNvGrpSpPr/>
          <p:nvPr/>
        </p:nvGrpSpPr>
        <p:grpSpPr>
          <a:xfrm>
            <a:off x="5179590" y="2219229"/>
            <a:ext cx="2920802" cy="1654207"/>
            <a:chOff x="1331640" y="2465909"/>
            <a:chExt cx="6606838" cy="1929320"/>
          </a:xfrm>
        </p:grpSpPr>
        <p:cxnSp>
          <p:nvCxnSpPr>
            <p:cNvPr id="7" name="Conector recto de flecha 6">
              <a:extLst>
                <a:ext uri="{FF2B5EF4-FFF2-40B4-BE49-F238E27FC236}">
                  <a16:creationId xmlns:a16="http://schemas.microsoft.com/office/drawing/2014/main" id="{6F149BBD-5E37-4F59-BAC3-E4051E9BA4C6}"/>
                </a:ext>
              </a:extLst>
            </p:cNvPr>
            <p:cNvCxnSpPr/>
            <p:nvPr/>
          </p:nvCxnSpPr>
          <p:spPr>
            <a:xfrm>
              <a:off x="1331640" y="3573016"/>
              <a:ext cx="6192688" cy="0"/>
            </a:xfrm>
            <a:prstGeom prst="straightConnector1">
              <a:avLst/>
            </a:prstGeom>
            <a:ln w="3810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ector recto 7">
              <a:extLst>
                <a:ext uri="{FF2B5EF4-FFF2-40B4-BE49-F238E27FC236}">
                  <a16:creationId xmlns:a16="http://schemas.microsoft.com/office/drawing/2014/main" id="{D90D9AEB-BCDB-4418-B246-6312AEC53F50}"/>
                </a:ext>
              </a:extLst>
            </p:cNvPr>
            <p:cNvCxnSpPr>
              <a:cxnSpLocks/>
            </p:cNvCxnSpPr>
            <p:nvPr/>
          </p:nvCxnSpPr>
          <p:spPr>
            <a:xfrm>
              <a:off x="2195736" y="3429000"/>
              <a:ext cx="0" cy="28136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9" name="CuadroTexto 8">
              <a:extLst>
                <a:ext uri="{FF2B5EF4-FFF2-40B4-BE49-F238E27FC236}">
                  <a16:creationId xmlns:a16="http://schemas.microsoft.com/office/drawing/2014/main" id="{B29E50D8-63D4-4DCC-B005-42D19FB49724}"/>
                </a:ext>
              </a:extLst>
            </p:cNvPr>
            <p:cNvSpPr txBox="1"/>
            <p:nvPr/>
          </p:nvSpPr>
          <p:spPr>
            <a:xfrm>
              <a:off x="7380312" y="3710360"/>
              <a:ext cx="558166" cy="307777"/>
            </a:xfrm>
            <a:prstGeom prst="rect">
              <a:avLst/>
            </a:prstGeom>
            <a:noFill/>
          </p:spPr>
          <p:txBody>
            <a:bodyPr wrap="none" rtlCol="0">
              <a:spAutoFit/>
            </a:bodyPr>
            <a:lstStyle/>
            <a:p>
              <a:r>
                <a:rPr lang="es-CO" sz="1400" b="1" dirty="0"/>
                <a:t>Años</a:t>
              </a:r>
            </a:p>
          </p:txBody>
        </p:sp>
        <p:cxnSp>
          <p:nvCxnSpPr>
            <p:cNvPr id="10" name="Conector recto 9">
              <a:extLst>
                <a:ext uri="{FF2B5EF4-FFF2-40B4-BE49-F238E27FC236}">
                  <a16:creationId xmlns:a16="http://schemas.microsoft.com/office/drawing/2014/main" id="{3DA186F2-A981-4615-B21C-73479CC42187}"/>
                </a:ext>
              </a:extLst>
            </p:cNvPr>
            <p:cNvCxnSpPr>
              <a:cxnSpLocks/>
            </p:cNvCxnSpPr>
            <p:nvPr/>
          </p:nvCxnSpPr>
          <p:spPr>
            <a:xfrm>
              <a:off x="6084168" y="3429000"/>
              <a:ext cx="0" cy="281360"/>
            </a:xfrm>
            <a:prstGeom prst="line">
              <a:avLst/>
            </a:prstGeom>
            <a:ln>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17824147-695C-4100-B424-A172341FF6B4}"/>
                </a:ext>
              </a:extLst>
            </p:cNvPr>
            <p:cNvCxnSpPr/>
            <p:nvPr/>
          </p:nvCxnSpPr>
          <p:spPr>
            <a:xfrm flipV="1">
              <a:off x="2195736" y="3788048"/>
              <a:ext cx="0" cy="284832"/>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58F3ED25-7F2B-4EC3-BE67-373D53377364}"/>
                </a:ext>
              </a:extLst>
            </p:cNvPr>
            <p:cNvCxnSpPr/>
            <p:nvPr/>
          </p:nvCxnSpPr>
          <p:spPr>
            <a:xfrm flipV="1">
              <a:off x="6084168" y="3743412"/>
              <a:ext cx="0" cy="284832"/>
            </a:xfrm>
            <a:prstGeom prst="straightConnector1">
              <a:avLst/>
            </a:prstGeom>
            <a:ln w="19050">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CuadroTexto 12">
              <a:extLst>
                <a:ext uri="{FF2B5EF4-FFF2-40B4-BE49-F238E27FC236}">
                  <a16:creationId xmlns:a16="http://schemas.microsoft.com/office/drawing/2014/main" id="{40A66B83-5FB8-43F5-AB7D-0E827F874402}"/>
                </a:ext>
              </a:extLst>
            </p:cNvPr>
            <p:cNvSpPr txBox="1"/>
            <p:nvPr/>
          </p:nvSpPr>
          <p:spPr>
            <a:xfrm>
              <a:off x="1902063" y="4087452"/>
              <a:ext cx="293670" cy="307777"/>
            </a:xfrm>
            <a:prstGeom prst="rect">
              <a:avLst/>
            </a:prstGeom>
            <a:noFill/>
          </p:spPr>
          <p:txBody>
            <a:bodyPr wrap="none" rtlCol="0">
              <a:spAutoFit/>
            </a:bodyPr>
            <a:lstStyle/>
            <a:p>
              <a:r>
                <a:rPr lang="es-CO" sz="1400" b="1" dirty="0"/>
                <a:t>A</a:t>
              </a:r>
            </a:p>
          </p:txBody>
        </p:sp>
        <p:sp>
          <p:nvSpPr>
            <p:cNvPr id="14" name="CuadroTexto 13">
              <a:extLst>
                <a:ext uri="{FF2B5EF4-FFF2-40B4-BE49-F238E27FC236}">
                  <a16:creationId xmlns:a16="http://schemas.microsoft.com/office/drawing/2014/main" id="{B36F480D-70B1-42C1-BE03-EE30674CCD3D}"/>
                </a:ext>
              </a:extLst>
            </p:cNvPr>
            <p:cNvSpPr txBox="1"/>
            <p:nvPr/>
          </p:nvSpPr>
          <p:spPr>
            <a:xfrm>
              <a:off x="5790497" y="4087452"/>
              <a:ext cx="293670" cy="307777"/>
            </a:xfrm>
            <a:prstGeom prst="rect">
              <a:avLst/>
            </a:prstGeom>
            <a:noFill/>
          </p:spPr>
          <p:txBody>
            <a:bodyPr wrap="none" rtlCol="0">
              <a:spAutoFit/>
            </a:bodyPr>
            <a:lstStyle/>
            <a:p>
              <a:r>
                <a:rPr lang="es-CO" sz="1400" b="1" dirty="0"/>
                <a:t>B</a:t>
              </a:r>
            </a:p>
          </p:txBody>
        </p:sp>
        <p:sp>
          <p:nvSpPr>
            <p:cNvPr id="16" name="Abrir llave 15">
              <a:extLst>
                <a:ext uri="{FF2B5EF4-FFF2-40B4-BE49-F238E27FC236}">
                  <a16:creationId xmlns:a16="http://schemas.microsoft.com/office/drawing/2014/main" id="{0626812A-A3BA-4A0C-978E-B7F2B641BFB3}"/>
                </a:ext>
              </a:extLst>
            </p:cNvPr>
            <p:cNvSpPr/>
            <p:nvPr/>
          </p:nvSpPr>
          <p:spPr>
            <a:xfrm rot="5400000">
              <a:off x="4050415" y="1111091"/>
              <a:ext cx="325887" cy="4035251"/>
            </a:xfrm>
            <a:prstGeom prst="leftBrace">
              <a:avLst>
                <a:gd name="adj1" fmla="val 48119"/>
                <a:gd name="adj2" fmla="val 50000"/>
              </a:avLst>
            </a:prstGeom>
            <a:ln w="28575">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17" name="CuadroTexto 16">
              <a:extLst>
                <a:ext uri="{FF2B5EF4-FFF2-40B4-BE49-F238E27FC236}">
                  <a16:creationId xmlns:a16="http://schemas.microsoft.com/office/drawing/2014/main" id="{C42AA0D0-9450-4A21-B5FC-42E59118BC0F}"/>
                </a:ext>
              </a:extLst>
            </p:cNvPr>
            <p:cNvSpPr txBox="1"/>
            <p:nvPr/>
          </p:nvSpPr>
          <p:spPr>
            <a:xfrm>
              <a:off x="3336464" y="2465909"/>
              <a:ext cx="1753788" cy="358964"/>
            </a:xfrm>
            <a:prstGeom prst="rect">
              <a:avLst/>
            </a:prstGeom>
            <a:noFill/>
          </p:spPr>
          <p:txBody>
            <a:bodyPr wrap="square" rtlCol="0">
              <a:spAutoFit/>
            </a:bodyPr>
            <a:lstStyle/>
            <a:p>
              <a:r>
                <a:rPr lang="es-CO" sz="1400" b="1" dirty="0">
                  <a:solidFill>
                    <a:srgbClr val="00B050"/>
                  </a:solidFill>
                </a:rPr>
                <a:t>meses</a:t>
              </a:r>
            </a:p>
          </p:txBody>
        </p:sp>
      </p:grpSp>
      <p:grpSp>
        <p:nvGrpSpPr>
          <p:cNvPr id="30" name="53 Grupo">
            <a:extLst>
              <a:ext uri="{FF2B5EF4-FFF2-40B4-BE49-F238E27FC236}">
                <a16:creationId xmlns:a16="http://schemas.microsoft.com/office/drawing/2014/main" id="{8562DE14-346B-4177-BA15-EA02DB25E1D8}"/>
              </a:ext>
            </a:extLst>
          </p:cNvPr>
          <p:cNvGrpSpPr/>
          <p:nvPr/>
        </p:nvGrpSpPr>
        <p:grpSpPr>
          <a:xfrm>
            <a:off x="771926" y="2617214"/>
            <a:ext cx="2575938" cy="3404074"/>
            <a:chOff x="5569827" y="1676400"/>
            <a:chExt cx="2098914" cy="3148769"/>
          </a:xfrm>
        </p:grpSpPr>
        <p:sp>
          <p:nvSpPr>
            <p:cNvPr id="31" name="Flowchart: Terminator 43">
              <a:extLst>
                <a:ext uri="{FF2B5EF4-FFF2-40B4-BE49-F238E27FC236}">
                  <a16:creationId xmlns:a16="http://schemas.microsoft.com/office/drawing/2014/main" id="{98953353-36FF-4BCA-8F87-D2B1703E0ACE}"/>
                </a:ext>
              </a:extLst>
            </p:cNvPr>
            <p:cNvSpPr/>
            <p:nvPr/>
          </p:nvSpPr>
          <p:spPr>
            <a:xfrm>
              <a:off x="6096000" y="4520369"/>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entury Gothic" panose="020B0502020202020204" pitchFamily="34" charset="0"/>
                </a:rPr>
                <a:t>Finish</a:t>
              </a:r>
              <a:endParaRPr lang="en-US" sz="1400" dirty="0">
                <a:latin typeface="Century Gothic" panose="020B0502020202020204" pitchFamily="34" charset="0"/>
              </a:endParaRPr>
            </a:p>
          </p:txBody>
        </p:sp>
        <p:sp>
          <p:nvSpPr>
            <p:cNvPr id="32" name="Flowchart: Terminator 44">
              <a:extLst>
                <a:ext uri="{FF2B5EF4-FFF2-40B4-BE49-F238E27FC236}">
                  <a16:creationId xmlns:a16="http://schemas.microsoft.com/office/drawing/2014/main" id="{121D9C90-DF7C-4125-AA4B-7F991A9CBE63}"/>
                </a:ext>
              </a:extLst>
            </p:cNvPr>
            <p:cNvSpPr/>
            <p:nvPr/>
          </p:nvSpPr>
          <p:spPr>
            <a:xfrm>
              <a:off x="6096000" y="16764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onsolas" panose="020B0609020204030204" pitchFamily="49" charset="0"/>
                </a:rPr>
                <a:t>Start</a:t>
              </a:r>
              <a:endParaRPr lang="en-US" sz="1400" dirty="0">
                <a:latin typeface="Consolas" panose="020B0609020204030204" pitchFamily="49" charset="0"/>
              </a:endParaRPr>
            </a:p>
          </p:txBody>
        </p:sp>
        <p:cxnSp>
          <p:nvCxnSpPr>
            <p:cNvPr id="33" name="Straight Arrow Connector 45">
              <a:extLst>
                <a:ext uri="{FF2B5EF4-FFF2-40B4-BE49-F238E27FC236}">
                  <a16:creationId xmlns:a16="http://schemas.microsoft.com/office/drawing/2014/main" id="{B0608F81-7565-49FC-AFF0-F8ACAFABA89F}"/>
                </a:ext>
              </a:extLst>
            </p:cNvPr>
            <p:cNvCxnSpPr>
              <a:stCxn id="32" idx="2"/>
              <a:endCxn id="37" idx="1"/>
            </p:cNvCxnSpPr>
            <p:nvPr/>
          </p:nvCxnSpPr>
          <p:spPr>
            <a:xfrm flipH="1">
              <a:off x="6625949" y="1981200"/>
              <a:ext cx="3451"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Arrow Connector 48">
              <a:extLst>
                <a:ext uri="{FF2B5EF4-FFF2-40B4-BE49-F238E27FC236}">
                  <a16:creationId xmlns:a16="http://schemas.microsoft.com/office/drawing/2014/main" id="{9C7CEC0F-6C15-4CF9-9F04-61121EFEA1F6}"/>
                </a:ext>
              </a:extLst>
            </p:cNvPr>
            <p:cNvCxnSpPr>
              <a:cxnSpLocks/>
              <a:stCxn id="39" idx="2"/>
              <a:endCxn id="35" idx="1"/>
            </p:cNvCxnSpPr>
            <p:nvPr/>
          </p:nvCxnSpPr>
          <p:spPr>
            <a:xfrm>
              <a:off x="6619284" y="3522617"/>
              <a:ext cx="10116" cy="38815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Flowchart: Data 52">
              <a:extLst>
                <a:ext uri="{FF2B5EF4-FFF2-40B4-BE49-F238E27FC236}">
                  <a16:creationId xmlns:a16="http://schemas.microsoft.com/office/drawing/2014/main" id="{220F7BE7-C983-48B3-A04C-3846DB492458}"/>
                </a:ext>
              </a:extLst>
            </p:cNvPr>
            <p:cNvSpPr/>
            <p:nvPr/>
          </p:nvSpPr>
          <p:spPr>
            <a:xfrm>
              <a:off x="5867400" y="3910769"/>
              <a:ext cx="1524000"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Print </a:t>
              </a:r>
              <a:r>
                <a:rPr lang="en-US" sz="1200" b="1" dirty="0">
                  <a:latin typeface="Century Gothic" panose="020B0502020202020204" pitchFamily="34" charset="0"/>
                </a:rPr>
                <a:t>months</a:t>
              </a:r>
            </a:p>
          </p:txBody>
        </p:sp>
        <p:cxnSp>
          <p:nvCxnSpPr>
            <p:cNvPr id="36" name="Straight Arrow Connector 53">
              <a:extLst>
                <a:ext uri="{FF2B5EF4-FFF2-40B4-BE49-F238E27FC236}">
                  <a16:creationId xmlns:a16="http://schemas.microsoft.com/office/drawing/2014/main" id="{94E7965E-1056-483C-A9F7-AA05BF051E3A}"/>
                </a:ext>
              </a:extLst>
            </p:cNvPr>
            <p:cNvCxnSpPr>
              <a:stCxn id="35" idx="4"/>
              <a:endCxn id="31" idx="0"/>
            </p:cNvCxnSpPr>
            <p:nvPr/>
          </p:nvCxnSpPr>
          <p:spPr>
            <a:xfrm>
              <a:off x="6629400" y="4291767"/>
              <a:ext cx="0"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Flowchart: Data 68">
              <a:extLst>
                <a:ext uri="{FF2B5EF4-FFF2-40B4-BE49-F238E27FC236}">
                  <a16:creationId xmlns:a16="http://schemas.microsoft.com/office/drawing/2014/main" id="{A6755861-ACB5-4DBB-B398-D5D2984A8B67}"/>
                </a:ext>
              </a:extLst>
            </p:cNvPr>
            <p:cNvSpPr/>
            <p:nvPr/>
          </p:nvSpPr>
          <p:spPr>
            <a:xfrm>
              <a:off x="5687178" y="2209800"/>
              <a:ext cx="1877541" cy="4572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Read </a:t>
              </a:r>
              <a:r>
                <a:rPr lang="en-US" sz="1200" b="1" dirty="0" err="1">
                  <a:latin typeface="Century Gothic" panose="020B0502020202020204" pitchFamily="34" charset="0"/>
                </a:rPr>
                <a:t>init_year</a:t>
              </a:r>
              <a:r>
                <a:rPr lang="en-US" sz="1200" b="1" dirty="0">
                  <a:latin typeface="Century Gothic" panose="020B0502020202020204" pitchFamily="34" charset="0"/>
                </a:rPr>
                <a:t> </a:t>
              </a:r>
              <a:r>
                <a:rPr lang="en-US" sz="1200" dirty="0">
                  <a:latin typeface="Century Gothic" panose="020B0502020202020204" pitchFamily="34" charset="0"/>
                </a:rPr>
                <a:t>Read </a:t>
              </a:r>
              <a:r>
                <a:rPr lang="en-US" sz="1200" b="1" dirty="0" err="1">
                  <a:latin typeface="Century Gothic" panose="020B0502020202020204" pitchFamily="34" charset="0"/>
                </a:rPr>
                <a:t>final_year</a:t>
              </a:r>
              <a:endParaRPr lang="en-US" sz="1200" b="1" dirty="0">
                <a:latin typeface="Century Gothic" panose="020B0502020202020204" pitchFamily="34" charset="0"/>
              </a:endParaRPr>
            </a:p>
          </p:txBody>
        </p:sp>
        <p:cxnSp>
          <p:nvCxnSpPr>
            <p:cNvPr id="38" name="Straight Arrow Connector 47">
              <a:extLst>
                <a:ext uri="{FF2B5EF4-FFF2-40B4-BE49-F238E27FC236}">
                  <a16:creationId xmlns:a16="http://schemas.microsoft.com/office/drawing/2014/main" id="{B787DFEE-74F1-437A-8974-91CF11EFE3B4}"/>
                </a:ext>
              </a:extLst>
            </p:cNvPr>
            <p:cNvCxnSpPr>
              <a:cxnSpLocks/>
              <a:stCxn id="37" idx="4"/>
              <a:endCxn id="39" idx="0"/>
            </p:cNvCxnSpPr>
            <p:nvPr/>
          </p:nvCxnSpPr>
          <p:spPr>
            <a:xfrm flipH="1">
              <a:off x="6619284" y="2667000"/>
              <a:ext cx="6665" cy="228599"/>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Flowchart: Process 42">
              <a:extLst>
                <a:ext uri="{FF2B5EF4-FFF2-40B4-BE49-F238E27FC236}">
                  <a16:creationId xmlns:a16="http://schemas.microsoft.com/office/drawing/2014/main" id="{3C0FE957-ABF4-44CC-87A2-3BB7F0B9BBC3}"/>
                </a:ext>
              </a:extLst>
            </p:cNvPr>
            <p:cNvSpPr/>
            <p:nvPr/>
          </p:nvSpPr>
          <p:spPr>
            <a:xfrm>
              <a:off x="5569827" y="2895599"/>
              <a:ext cx="2098914" cy="627018"/>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sym typeface="Wingdings" pitchFamily="2" charset="2"/>
                </a:rPr>
                <a:t>years </a:t>
              </a:r>
              <a:r>
                <a:rPr lang="en-US" sz="1200" dirty="0">
                  <a:latin typeface="Century Gothic" panose="020B0502020202020204" pitchFamily="34" charset="0"/>
                </a:rPr>
                <a:t> </a:t>
              </a:r>
              <a:r>
                <a:rPr lang="en-US" sz="1200" dirty="0" err="1">
                  <a:latin typeface="Century Gothic" panose="020B0502020202020204" pitchFamily="34" charset="0"/>
                </a:rPr>
                <a:t>final_year</a:t>
              </a:r>
              <a:r>
                <a:rPr lang="en-US" sz="1200" dirty="0">
                  <a:latin typeface="Century Gothic" panose="020B0502020202020204" pitchFamily="34" charset="0"/>
                </a:rPr>
                <a:t> – </a:t>
              </a:r>
              <a:r>
                <a:rPr lang="en-US" sz="1200" dirty="0" err="1">
                  <a:latin typeface="Century Gothic" panose="020B0502020202020204" pitchFamily="34" charset="0"/>
                </a:rPr>
                <a:t>init_year</a:t>
              </a:r>
              <a:endParaRPr lang="en-US" sz="1200" dirty="0">
                <a:latin typeface="Century Gothic" panose="020B0502020202020204" pitchFamily="34" charset="0"/>
              </a:endParaRPr>
            </a:p>
            <a:p>
              <a:pPr algn="ctr"/>
              <a:r>
                <a:rPr lang="en-US" sz="1200" dirty="0">
                  <a:latin typeface="Century Gothic" panose="020B0502020202020204" pitchFamily="34" charset="0"/>
                </a:rPr>
                <a:t>months = 12*years</a:t>
              </a:r>
            </a:p>
          </p:txBody>
        </p:sp>
      </p:grpSp>
    </p:spTree>
    <p:extLst>
      <p:ext uri="{BB962C8B-B14F-4D97-AF65-F5344CB8AC3E}">
        <p14:creationId xmlns:p14="http://schemas.microsoft.com/office/powerpoint/2010/main" val="39376673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88640"/>
            <a:ext cx="8496944" cy="1116540"/>
          </a:xfrm>
        </p:spPr>
        <p:txBody>
          <a:bodyPr>
            <a:normAutofit/>
          </a:bodyPr>
          <a:lstStyle/>
          <a:p>
            <a:r>
              <a:rPr lang="es-CO" sz="2800" dirty="0"/>
              <a:t>Resumiendo del proceso de diseño del algoritmos</a:t>
            </a:r>
          </a:p>
        </p:txBody>
      </p:sp>
      <p:sp>
        <p:nvSpPr>
          <p:cNvPr id="33" name="27 Rectángulo">
            <a:extLst>
              <a:ext uri="{FF2B5EF4-FFF2-40B4-BE49-F238E27FC236}">
                <a16:creationId xmlns:a16="http://schemas.microsoft.com/office/drawing/2014/main" id="{CA292D76-5C05-4C70-9ED9-723B1F8E304C}"/>
              </a:ext>
            </a:extLst>
          </p:cNvPr>
          <p:cNvSpPr/>
          <p:nvPr/>
        </p:nvSpPr>
        <p:spPr>
          <a:xfrm>
            <a:off x="163813" y="1340768"/>
            <a:ext cx="3010207" cy="954107"/>
          </a:xfrm>
          <a:prstGeom prst="rect">
            <a:avLst/>
          </a:prstGeom>
        </p:spPr>
        <p:txBody>
          <a:bodyPr wrap="square">
            <a:spAutoFit/>
          </a:bodyPr>
          <a:lstStyle/>
          <a:p>
            <a:r>
              <a:rPr lang="es-CO" sz="2000" b="1" dirty="0">
                <a:solidFill>
                  <a:srgbClr val="FF0000"/>
                </a:solidFill>
              </a:rPr>
              <a:t>Ejemplo 3:</a:t>
            </a:r>
          </a:p>
          <a:p>
            <a:r>
              <a:rPr lang="es-CO" dirty="0"/>
              <a:t>Hacer un algoritmo que calcule el área de un circulo</a:t>
            </a:r>
          </a:p>
        </p:txBody>
      </p:sp>
      <p:graphicFrame>
        <p:nvGraphicFramePr>
          <p:cNvPr id="36" name="Tabla 5">
            <a:extLst>
              <a:ext uri="{FF2B5EF4-FFF2-40B4-BE49-F238E27FC236}">
                <a16:creationId xmlns:a16="http://schemas.microsoft.com/office/drawing/2014/main" id="{5A51CE99-D7AD-4A9F-9C76-C9D95BBB235F}"/>
              </a:ext>
            </a:extLst>
          </p:cNvPr>
          <p:cNvGraphicFramePr>
            <a:graphicFrameLocks noGrp="1"/>
          </p:cNvGraphicFramePr>
          <p:nvPr>
            <p:extLst>
              <p:ext uri="{D42A27DB-BD31-4B8C-83A1-F6EECF244321}">
                <p14:modId xmlns:p14="http://schemas.microsoft.com/office/powerpoint/2010/main" val="3195236452"/>
              </p:ext>
            </p:extLst>
          </p:nvPr>
        </p:nvGraphicFramePr>
        <p:xfrm>
          <a:off x="6544809" y="3718680"/>
          <a:ext cx="2274590" cy="792480"/>
        </p:xfrm>
        <a:graphic>
          <a:graphicData uri="http://schemas.openxmlformats.org/drawingml/2006/table">
            <a:tbl>
              <a:tblPr firstRow="1" bandRow="1">
                <a:tableStyleId>{5940675A-B579-460E-94D1-54222C63F5DA}</a:tableStyleId>
              </a:tblPr>
              <a:tblGrid>
                <a:gridCol w="1137295">
                  <a:extLst>
                    <a:ext uri="{9D8B030D-6E8A-4147-A177-3AD203B41FA5}">
                      <a16:colId xmlns:a16="http://schemas.microsoft.com/office/drawing/2014/main" val="101718729"/>
                    </a:ext>
                  </a:extLst>
                </a:gridCol>
                <a:gridCol w="1137295">
                  <a:extLst>
                    <a:ext uri="{9D8B030D-6E8A-4147-A177-3AD203B41FA5}">
                      <a16:colId xmlns:a16="http://schemas.microsoft.com/office/drawing/2014/main" val="3468495707"/>
                    </a:ext>
                  </a:extLst>
                </a:gridCol>
              </a:tblGrid>
              <a:tr h="0">
                <a:tc>
                  <a:txBody>
                    <a:bodyPr/>
                    <a:lstStyle/>
                    <a:p>
                      <a:pPr algn="ctr"/>
                      <a:r>
                        <a:rPr lang="es-CO" sz="1200" dirty="0"/>
                        <a:t>↘</a:t>
                      </a:r>
                      <a:r>
                        <a:rPr lang="es-CO" sz="1200" b="1" dirty="0">
                          <a:latin typeface="Consolas" panose="020B0609020204030204" pitchFamily="49" charset="0"/>
                        </a:rPr>
                        <a:t>radio</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200" dirty="0"/>
                        <a:t>↗</a:t>
                      </a:r>
                      <a:r>
                        <a:rPr lang="es-CO" sz="1200" b="1" dirty="0">
                          <a:latin typeface="Consolas" panose="020B0609020204030204" pitchFamily="49" charset="0"/>
                        </a:rPr>
                        <a:t>area</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4789806"/>
                  </a:ext>
                </a:extLst>
              </a:tr>
              <a:tr h="130963">
                <a:tc>
                  <a:txBody>
                    <a:bodyPr/>
                    <a:lstStyle/>
                    <a:p>
                      <a:pPr algn="ctr"/>
                      <a:r>
                        <a:rPr lang="es-CO" sz="1400" strike="sngStrike" dirty="0"/>
                        <a:t>?</a:t>
                      </a:r>
                    </a:p>
                    <a:p>
                      <a:pPr algn="ctr"/>
                      <a:r>
                        <a:rPr lang="es-CO" sz="1400" dirty="0"/>
                        <a:t>↘</a:t>
                      </a:r>
                      <a:r>
                        <a:rPr lang="es-CO" sz="1400" strike="noStrike" dirty="0"/>
                        <a:t>10</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400" strike="sngStrike" dirty="0"/>
                        <a:t>?</a:t>
                      </a:r>
                    </a:p>
                    <a:p>
                      <a:pPr algn="ctr"/>
                      <a:r>
                        <a:rPr lang="es-CO" sz="1400" dirty="0"/>
                        <a:t>↗314</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84237131"/>
                  </a:ext>
                </a:extLst>
              </a:tr>
            </a:tbl>
          </a:graphicData>
        </a:graphic>
      </p:graphicFrame>
      <p:graphicFrame>
        <p:nvGraphicFramePr>
          <p:cNvPr id="37" name="Tabla 5">
            <a:extLst>
              <a:ext uri="{FF2B5EF4-FFF2-40B4-BE49-F238E27FC236}">
                <a16:creationId xmlns:a16="http://schemas.microsoft.com/office/drawing/2014/main" id="{0E4350C5-922B-48AC-B2DB-4C89A523E08F}"/>
              </a:ext>
            </a:extLst>
          </p:cNvPr>
          <p:cNvGraphicFramePr>
            <a:graphicFrameLocks noGrp="1"/>
          </p:cNvGraphicFramePr>
          <p:nvPr>
            <p:extLst>
              <p:ext uri="{D42A27DB-BD31-4B8C-83A1-F6EECF244321}">
                <p14:modId xmlns:p14="http://schemas.microsoft.com/office/powerpoint/2010/main" val="4249788500"/>
              </p:ext>
            </p:extLst>
          </p:nvPr>
        </p:nvGraphicFramePr>
        <p:xfrm>
          <a:off x="6478273" y="2161410"/>
          <a:ext cx="2448858" cy="1097280"/>
        </p:xfrm>
        <a:graphic>
          <a:graphicData uri="http://schemas.openxmlformats.org/drawingml/2006/table">
            <a:tbl>
              <a:tblPr firstRow="1" bandRow="1">
                <a:tableStyleId>{7E9639D4-E3E2-4D34-9284-5A2195B3D0D7}</a:tableStyleId>
              </a:tblPr>
              <a:tblGrid>
                <a:gridCol w="1008698">
                  <a:extLst>
                    <a:ext uri="{9D8B030D-6E8A-4147-A177-3AD203B41FA5}">
                      <a16:colId xmlns:a16="http://schemas.microsoft.com/office/drawing/2014/main" val="101718729"/>
                    </a:ext>
                  </a:extLst>
                </a:gridCol>
                <a:gridCol w="1440160">
                  <a:extLst>
                    <a:ext uri="{9D8B030D-6E8A-4147-A177-3AD203B41FA5}">
                      <a16:colId xmlns:a16="http://schemas.microsoft.com/office/drawing/2014/main" val="3468495707"/>
                    </a:ext>
                  </a:extLst>
                </a:gridCol>
              </a:tblGrid>
              <a:tr h="224079">
                <a:tc>
                  <a:txBody>
                    <a:bodyPr/>
                    <a:lstStyle/>
                    <a:p>
                      <a:pPr algn="ctr"/>
                      <a:r>
                        <a:rPr lang="es-CO" sz="1200" b="1" dirty="0">
                          <a:latin typeface="+mn-lt"/>
                        </a:rPr>
                        <a:t>Entradas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200" b="1" dirty="0"/>
                        <a:t>Salidas</a:t>
                      </a:r>
                      <a:endParaRPr lang="es-CO" sz="12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0868271"/>
                  </a:ext>
                </a:extLst>
              </a:tr>
              <a:tr h="224079">
                <a:tc>
                  <a:txBody>
                    <a:bodyPr/>
                    <a:lstStyle/>
                    <a:p>
                      <a:pPr algn="ctr"/>
                      <a:r>
                        <a:rPr lang="es-CO" sz="1200" b="1" dirty="0"/>
                        <a:t>radio</a:t>
                      </a:r>
                      <a:endParaRPr lang="es-CO" sz="12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200" b="1" dirty="0"/>
                        <a:t>area</a:t>
                      </a:r>
                      <a:endParaRPr lang="es-CO" sz="1200" b="1" dirty="0">
                        <a:latin typeface="Consolas" panose="020B0609020204030204" pitchFamily="49"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4789806"/>
                  </a:ext>
                </a:extLst>
              </a:tr>
              <a:tr h="224079">
                <a:tc>
                  <a:txBody>
                    <a:bodyPr/>
                    <a:lstStyle/>
                    <a:p>
                      <a:pPr algn="ctr"/>
                      <a:r>
                        <a:rPr lang="es-CO" sz="1200" strike="noStrike"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200" dirty="0"/>
                        <a:t>314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4237131"/>
                  </a:ext>
                </a:extLst>
              </a:tr>
              <a:tr h="224079">
                <a:tc>
                  <a:txBody>
                    <a:bodyPr/>
                    <a:lstStyle/>
                    <a:p>
                      <a:pPr algn="ctr"/>
                      <a:r>
                        <a:rPr lang="es-CO" sz="1200" strike="noStrike" dirty="0"/>
                        <a:t>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s-CO" sz="1200" dirty="0"/>
                        <a:t>21.237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3889482"/>
                  </a:ext>
                </a:extLst>
              </a:tr>
            </a:tbl>
          </a:graphicData>
        </a:graphic>
      </p:graphicFrame>
      <p:graphicFrame>
        <p:nvGraphicFramePr>
          <p:cNvPr id="38" name="Tabla 5">
            <a:extLst>
              <a:ext uri="{FF2B5EF4-FFF2-40B4-BE49-F238E27FC236}">
                <a16:creationId xmlns:a16="http://schemas.microsoft.com/office/drawing/2014/main" id="{583D2238-1D79-4D9D-9DE7-EADBCC804709}"/>
              </a:ext>
            </a:extLst>
          </p:cNvPr>
          <p:cNvGraphicFramePr>
            <a:graphicFrameLocks noGrp="1"/>
          </p:cNvGraphicFramePr>
          <p:nvPr>
            <p:extLst>
              <p:ext uri="{D42A27DB-BD31-4B8C-83A1-F6EECF244321}">
                <p14:modId xmlns:p14="http://schemas.microsoft.com/office/powerpoint/2010/main" val="1808412839"/>
              </p:ext>
            </p:extLst>
          </p:nvPr>
        </p:nvGraphicFramePr>
        <p:xfrm>
          <a:off x="6567059" y="4990944"/>
          <a:ext cx="2274590" cy="792480"/>
        </p:xfrm>
        <a:graphic>
          <a:graphicData uri="http://schemas.openxmlformats.org/drawingml/2006/table">
            <a:tbl>
              <a:tblPr firstRow="1" bandRow="1">
                <a:tableStyleId>{5940675A-B579-460E-94D1-54222C63F5DA}</a:tableStyleId>
              </a:tblPr>
              <a:tblGrid>
                <a:gridCol w="1137295">
                  <a:extLst>
                    <a:ext uri="{9D8B030D-6E8A-4147-A177-3AD203B41FA5}">
                      <a16:colId xmlns:a16="http://schemas.microsoft.com/office/drawing/2014/main" val="101718729"/>
                    </a:ext>
                  </a:extLst>
                </a:gridCol>
                <a:gridCol w="1137295">
                  <a:extLst>
                    <a:ext uri="{9D8B030D-6E8A-4147-A177-3AD203B41FA5}">
                      <a16:colId xmlns:a16="http://schemas.microsoft.com/office/drawing/2014/main" val="3468495707"/>
                    </a:ext>
                  </a:extLst>
                </a:gridCol>
              </a:tblGrid>
              <a:tr h="194789">
                <a:tc>
                  <a:txBody>
                    <a:bodyPr/>
                    <a:lstStyle/>
                    <a:p>
                      <a:pPr algn="ctr"/>
                      <a:r>
                        <a:rPr lang="es-CO" sz="1200" dirty="0"/>
                        <a:t>↘</a:t>
                      </a:r>
                      <a:r>
                        <a:rPr lang="es-CO" sz="1200" b="1" dirty="0">
                          <a:latin typeface="Consolas" panose="020B0609020204030204" pitchFamily="49" charset="0"/>
                        </a:rPr>
                        <a:t>radio</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200" dirty="0"/>
                        <a:t>↗</a:t>
                      </a:r>
                      <a:r>
                        <a:rPr lang="es-CO" sz="1200" b="1" dirty="0">
                          <a:latin typeface="Consolas" panose="020B0609020204030204" pitchFamily="49" charset="0"/>
                        </a:rPr>
                        <a:t>area</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84789806"/>
                  </a:ext>
                </a:extLst>
              </a:tr>
              <a:tr h="272171">
                <a:tc>
                  <a:txBody>
                    <a:bodyPr/>
                    <a:lstStyle/>
                    <a:p>
                      <a:pPr algn="ctr"/>
                      <a:r>
                        <a:rPr lang="es-CO" sz="1400" strike="sngStrike" dirty="0"/>
                        <a:t>?</a:t>
                      </a:r>
                    </a:p>
                    <a:p>
                      <a:pPr algn="ctr"/>
                      <a:r>
                        <a:rPr lang="es-CO" sz="1400" dirty="0"/>
                        <a:t>↘</a:t>
                      </a:r>
                      <a:r>
                        <a:rPr lang="es-CO" sz="1400" strike="noStrike" dirty="0"/>
                        <a:t>2.6</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400" strike="sngStrike" dirty="0"/>
                        <a:t>?</a:t>
                      </a:r>
                    </a:p>
                    <a:p>
                      <a:pPr algn="ctr"/>
                      <a:r>
                        <a:rPr lang="es-CO" sz="1400" dirty="0"/>
                        <a:t>↗21.226</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84237131"/>
                  </a:ext>
                </a:extLst>
              </a:tr>
            </a:tbl>
          </a:graphicData>
        </a:graphic>
      </p:graphicFrame>
      <p:grpSp>
        <p:nvGrpSpPr>
          <p:cNvPr id="51" name="Grupo 50">
            <a:extLst>
              <a:ext uri="{FF2B5EF4-FFF2-40B4-BE49-F238E27FC236}">
                <a16:creationId xmlns:a16="http://schemas.microsoft.com/office/drawing/2014/main" id="{7C3CCC18-3B1C-4B19-9896-C880EF3151D2}"/>
              </a:ext>
            </a:extLst>
          </p:cNvPr>
          <p:cNvGrpSpPr/>
          <p:nvPr/>
        </p:nvGrpSpPr>
        <p:grpSpPr>
          <a:xfrm>
            <a:off x="162614" y="2348880"/>
            <a:ext cx="3038913" cy="1640907"/>
            <a:chOff x="162614" y="2348880"/>
            <a:chExt cx="3038913" cy="1640907"/>
          </a:xfrm>
        </p:grpSpPr>
        <p:pic>
          <p:nvPicPr>
            <p:cNvPr id="35" name="Picture 2" descr="Area of Circle - Definition, Formula &amp; Examples | ChiliMath">
              <a:extLst>
                <a:ext uri="{FF2B5EF4-FFF2-40B4-BE49-F238E27FC236}">
                  <a16:creationId xmlns:a16="http://schemas.microsoft.com/office/drawing/2014/main" id="{F1A11E4C-EB2D-4355-BDEA-C638F4B05B3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00904" y="2636912"/>
              <a:ext cx="1011966" cy="1309735"/>
            </a:xfrm>
            <a:prstGeom prst="rect">
              <a:avLst/>
            </a:prstGeom>
            <a:noFill/>
            <a:extLst>
              <a:ext uri="{909E8E84-426E-40DD-AFC4-6F175D3DCCD1}">
                <a14:hiddenFill xmlns:a14="http://schemas.microsoft.com/office/drawing/2010/main">
                  <a:solidFill>
                    <a:srgbClr val="FFFFFF"/>
                  </a:solidFill>
                </a14:hiddenFill>
              </a:ext>
            </a:extLst>
          </p:spPr>
        </p:pic>
        <p:grpSp>
          <p:nvGrpSpPr>
            <p:cNvPr id="45" name="Grupo 44">
              <a:extLst>
                <a:ext uri="{FF2B5EF4-FFF2-40B4-BE49-F238E27FC236}">
                  <a16:creationId xmlns:a16="http://schemas.microsoft.com/office/drawing/2014/main" id="{20F29D9E-8150-42E3-835D-6A0CD079CCBF}"/>
                </a:ext>
              </a:extLst>
            </p:cNvPr>
            <p:cNvGrpSpPr/>
            <p:nvPr/>
          </p:nvGrpSpPr>
          <p:grpSpPr>
            <a:xfrm>
              <a:off x="162614" y="2348880"/>
              <a:ext cx="3038913" cy="1640907"/>
              <a:chOff x="161645" y="2292149"/>
              <a:chExt cx="3038913" cy="1640907"/>
            </a:xfrm>
          </p:grpSpPr>
          <p:sp>
            <p:nvSpPr>
              <p:cNvPr id="41" name="Rectángulo: esquinas redondeadas 40">
                <a:extLst>
                  <a:ext uri="{FF2B5EF4-FFF2-40B4-BE49-F238E27FC236}">
                    <a16:creationId xmlns:a16="http://schemas.microsoft.com/office/drawing/2014/main" id="{A8D99359-AA9F-4477-A5EE-5A61D51A8401}"/>
                  </a:ext>
                </a:extLst>
              </p:cNvPr>
              <p:cNvSpPr/>
              <p:nvPr/>
            </p:nvSpPr>
            <p:spPr>
              <a:xfrm>
                <a:off x="411278" y="2522753"/>
                <a:ext cx="2789280" cy="1410303"/>
              </a:xfrm>
              <a:prstGeom prst="round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9" name="Flecha: cheurón 38">
                <a:extLst>
                  <a:ext uri="{FF2B5EF4-FFF2-40B4-BE49-F238E27FC236}">
                    <a16:creationId xmlns:a16="http://schemas.microsoft.com/office/drawing/2014/main" id="{E5FE2B1D-ADF6-4D1D-8E0A-1DCEDC083F0B}"/>
                  </a:ext>
                </a:extLst>
              </p:cNvPr>
              <p:cNvSpPr/>
              <p:nvPr/>
            </p:nvSpPr>
            <p:spPr>
              <a:xfrm rot="5400000">
                <a:off x="55314" y="2398480"/>
                <a:ext cx="676195" cy="463533"/>
              </a:xfrm>
              <a:prstGeom prst="chevr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s-CO" b="1" dirty="0">
                    <a:solidFill>
                      <a:schemeClr val="bg1"/>
                    </a:solidFill>
                  </a:rPr>
                  <a:t>1</a:t>
                </a:r>
              </a:p>
            </p:txBody>
          </p:sp>
        </p:grpSp>
      </p:grpSp>
      <p:grpSp>
        <p:nvGrpSpPr>
          <p:cNvPr id="44" name="Grupo 43">
            <a:extLst>
              <a:ext uri="{FF2B5EF4-FFF2-40B4-BE49-F238E27FC236}">
                <a16:creationId xmlns:a16="http://schemas.microsoft.com/office/drawing/2014/main" id="{5BC9562F-F26F-4E4F-916C-2075CAF2969B}"/>
              </a:ext>
            </a:extLst>
          </p:cNvPr>
          <p:cNvGrpSpPr/>
          <p:nvPr/>
        </p:nvGrpSpPr>
        <p:grpSpPr>
          <a:xfrm>
            <a:off x="163103" y="4124833"/>
            <a:ext cx="3011625" cy="2562034"/>
            <a:chOff x="171066" y="4101396"/>
            <a:chExt cx="3011625" cy="2562034"/>
          </a:xfrm>
        </p:grpSpPr>
        <mc:AlternateContent xmlns:mc="http://schemas.openxmlformats.org/markup-compatibility/2006" xmlns:a14="http://schemas.microsoft.com/office/drawing/2010/main">
          <mc:Choice Requires="a14">
            <p:sp>
              <p:nvSpPr>
                <p:cNvPr id="34" name="5 CuadroTexto">
                  <a:extLst>
                    <a:ext uri="{FF2B5EF4-FFF2-40B4-BE49-F238E27FC236}">
                      <a16:creationId xmlns:a16="http://schemas.microsoft.com/office/drawing/2014/main" id="{010AB634-E99C-4F05-B6E7-C0656858F595}"/>
                    </a:ext>
                  </a:extLst>
                </p:cNvPr>
                <p:cNvSpPr txBox="1"/>
                <p:nvPr/>
              </p:nvSpPr>
              <p:spPr>
                <a:xfrm>
                  <a:off x="572725" y="4368376"/>
                  <a:ext cx="2586696" cy="2277547"/>
                </a:xfrm>
                <a:prstGeom prst="rect">
                  <a:avLst/>
                </a:prstGeom>
                <a:noFill/>
              </p:spPr>
              <p:txBody>
                <a:bodyPr wrap="square" rtlCol="0">
                  <a:spAutoFit/>
                </a:bodyPr>
                <a:lstStyle/>
                <a:p>
                  <a:r>
                    <a:rPr lang="es-CO" b="1" dirty="0"/>
                    <a:t>Análisis</a:t>
                  </a:r>
                  <a:r>
                    <a:rPr lang="es-CO" dirty="0"/>
                    <a:t>:</a:t>
                  </a:r>
                </a:p>
                <a:p>
                  <a:r>
                    <a:rPr lang="es-CO" sz="1400" dirty="0">
                      <a:solidFill>
                        <a:srgbClr val="FF0000"/>
                      </a:solidFill>
                    </a:rPr>
                    <a:t>Datos de entrada: </a:t>
                  </a:r>
                  <a:r>
                    <a:rPr lang="es-CO" sz="1400" dirty="0"/>
                    <a:t>radio</a:t>
                  </a:r>
                </a:p>
                <a:p>
                  <a:r>
                    <a:rPr lang="es-CO" sz="1400" dirty="0">
                      <a:solidFill>
                        <a:srgbClr val="FF0000"/>
                      </a:solidFill>
                    </a:rPr>
                    <a:t>Datos de salida: </a:t>
                  </a:r>
                  <a:r>
                    <a:rPr lang="es-CO" sz="1400" dirty="0"/>
                    <a:t>área del circulo</a:t>
                  </a:r>
                </a:p>
                <a:p>
                  <a:r>
                    <a:rPr lang="es-CO" sz="1400" dirty="0">
                      <a:solidFill>
                        <a:srgbClr val="FF0000"/>
                      </a:solidFill>
                    </a:rPr>
                    <a:t>Constantes:</a:t>
                  </a:r>
                  <a:endParaRPr lang="es-CO" sz="1200" i="1" dirty="0"/>
                </a:p>
                <a:p>
                  <a:pPr marL="342900" indent="-342900">
                    <a:buFont typeface="Arial" pitchFamily="34" charset="0"/>
                    <a:buChar char="•"/>
                  </a:pPr>
                  <a:r>
                    <a:rPr lang="es-CO" sz="1400" b="1" dirty="0"/>
                    <a:t>Numero PI</a:t>
                  </a:r>
                  <a:r>
                    <a:rPr lang="es-CO" sz="1400" dirty="0"/>
                    <a:t>: PI = 3.14 (Real)</a:t>
                  </a:r>
                  <a:endParaRPr lang="es-CO" sz="1400" dirty="0">
                    <a:solidFill>
                      <a:srgbClr val="FF0000"/>
                    </a:solidFill>
                  </a:endParaRPr>
                </a:p>
                <a:p>
                  <a:r>
                    <a:rPr lang="es-CO" sz="1400" dirty="0">
                      <a:solidFill>
                        <a:srgbClr val="FF0000"/>
                      </a:solidFill>
                    </a:rPr>
                    <a:t>Definición de variables:</a:t>
                  </a:r>
                  <a:endParaRPr lang="es-CO" sz="1200" i="1" dirty="0"/>
                </a:p>
                <a:p>
                  <a:pPr marL="342900" indent="-342900">
                    <a:buFont typeface="Arial" pitchFamily="34" charset="0"/>
                    <a:buChar char="•"/>
                  </a:pPr>
                  <a:r>
                    <a:rPr lang="es-CO" sz="1200" b="1" i="1" dirty="0"/>
                    <a:t>radio</a:t>
                  </a:r>
                  <a:r>
                    <a:rPr lang="es-CO" sz="1200" dirty="0"/>
                    <a:t>: radio (Real)</a:t>
                  </a:r>
                </a:p>
                <a:p>
                  <a:pPr marL="342900" indent="-342900">
                    <a:buFont typeface="Arial" pitchFamily="34" charset="0"/>
                    <a:buChar char="•"/>
                  </a:pPr>
                  <a:r>
                    <a:rPr lang="es-CO" sz="1200" b="1" i="1" dirty="0"/>
                    <a:t>area</a:t>
                  </a:r>
                  <a:r>
                    <a:rPr lang="es-CO" sz="1200" dirty="0"/>
                    <a:t>: radio (Real)</a:t>
                  </a:r>
                </a:p>
                <a:p>
                  <a:r>
                    <a:rPr lang="es-CO" sz="1400" dirty="0">
                      <a:solidFill>
                        <a:srgbClr val="FF0000"/>
                      </a:solidFill>
                    </a:rPr>
                    <a:t>¿Proceso?: </a:t>
                  </a:r>
                  <a:r>
                    <a:rPr lang="es-CO" sz="1400" dirty="0"/>
                    <a:t>Elevar el radio al cuadrado y multiplicarlo por </a:t>
                  </a:r>
                  <a14:m>
                    <m:oMath xmlns:m="http://schemas.openxmlformats.org/officeDocument/2006/math">
                      <m:r>
                        <a:rPr lang="es-CO" sz="1600" i="1" smtClean="0">
                          <a:latin typeface="Cambria Math" panose="02040503050406030204" pitchFamily="18" charset="0"/>
                          <a:ea typeface="Cambria Math" panose="02040503050406030204" pitchFamily="18" charset="0"/>
                        </a:rPr>
                        <m:t>𝜋</m:t>
                      </m:r>
                    </m:oMath>
                  </a14:m>
                  <a:endParaRPr lang="es-CO" sz="1400" dirty="0"/>
                </a:p>
              </p:txBody>
            </p:sp>
          </mc:Choice>
          <mc:Fallback xmlns="">
            <p:sp>
              <p:nvSpPr>
                <p:cNvPr id="34" name="5 CuadroTexto">
                  <a:extLst>
                    <a:ext uri="{FF2B5EF4-FFF2-40B4-BE49-F238E27FC236}">
                      <a16:creationId xmlns:a16="http://schemas.microsoft.com/office/drawing/2014/main" id="{010AB634-E99C-4F05-B6E7-C0656858F595}"/>
                    </a:ext>
                  </a:extLst>
                </p:cNvPr>
                <p:cNvSpPr txBox="1">
                  <a:spLocks noRot="1" noChangeAspect="1" noMove="1" noResize="1" noEditPoints="1" noAdjustHandles="1" noChangeArrowheads="1" noChangeShapeType="1" noTextEdit="1"/>
                </p:cNvSpPr>
                <p:nvPr/>
              </p:nvSpPr>
              <p:spPr>
                <a:xfrm>
                  <a:off x="572725" y="4368376"/>
                  <a:ext cx="2586696" cy="2277547"/>
                </a:xfrm>
                <a:prstGeom prst="rect">
                  <a:avLst/>
                </a:prstGeom>
                <a:blipFill>
                  <a:blip r:embed="rId3"/>
                  <a:stretch>
                    <a:fillRect l="-2123" t="-1337" b="-1604"/>
                  </a:stretch>
                </a:blipFill>
              </p:spPr>
              <p:txBody>
                <a:bodyPr/>
                <a:lstStyle/>
                <a:p>
                  <a:r>
                    <a:rPr lang="es-CO">
                      <a:noFill/>
                    </a:rPr>
                    <a:t> </a:t>
                  </a:r>
                </a:p>
              </p:txBody>
            </p:sp>
          </mc:Fallback>
        </mc:AlternateContent>
        <p:sp>
          <p:nvSpPr>
            <p:cNvPr id="42" name="Rectángulo: esquinas redondeadas 41">
              <a:extLst>
                <a:ext uri="{FF2B5EF4-FFF2-40B4-BE49-F238E27FC236}">
                  <a16:creationId xmlns:a16="http://schemas.microsoft.com/office/drawing/2014/main" id="{EBB98256-9990-4C80-BF0D-A1BB7B891A90}"/>
                </a:ext>
              </a:extLst>
            </p:cNvPr>
            <p:cNvSpPr/>
            <p:nvPr/>
          </p:nvSpPr>
          <p:spPr>
            <a:xfrm>
              <a:off x="393411" y="4385883"/>
              <a:ext cx="2789280" cy="2277547"/>
            </a:xfrm>
            <a:prstGeom prst="roundRect">
              <a:avLst>
                <a:gd name="adj" fmla="val 8860"/>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3" name="Flecha: cheurón 42">
              <a:extLst>
                <a:ext uri="{FF2B5EF4-FFF2-40B4-BE49-F238E27FC236}">
                  <a16:creationId xmlns:a16="http://schemas.microsoft.com/office/drawing/2014/main" id="{DFFBA09E-B96B-4027-9BB8-1A878FE9DA04}"/>
                </a:ext>
              </a:extLst>
            </p:cNvPr>
            <p:cNvSpPr/>
            <p:nvPr/>
          </p:nvSpPr>
          <p:spPr>
            <a:xfrm rot="5400000">
              <a:off x="64735" y="4207727"/>
              <a:ext cx="676195" cy="463533"/>
            </a:xfrm>
            <a:prstGeom prst="chevr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s-CO" b="1" dirty="0">
                  <a:solidFill>
                    <a:schemeClr val="bg1"/>
                  </a:solidFill>
                </a:rPr>
                <a:t>2</a:t>
              </a:r>
            </a:p>
          </p:txBody>
        </p:sp>
      </p:grpSp>
      <p:grpSp>
        <p:nvGrpSpPr>
          <p:cNvPr id="48" name="Grupo 47">
            <a:extLst>
              <a:ext uri="{FF2B5EF4-FFF2-40B4-BE49-F238E27FC236}">
                <a16:creationId xmlns:a16="http://schemas.microsoft.com/office/drawing/2014/main" id="{FDABE766-2CA4-4D9F-AC1A-0A26245F6B65}"/>
              </a:ext>
            </a:extLst>
          </p:cNvPr>
          <p:cNvGrpSpPr/>
          <p:nvPr/>
        </p:nvGrpSpPr>
        <p:grpSpPr>
          <a:xfrm>
            <a:off x="3131840" y="1134860"/>
            <a:ext cx="2931131" cy="5534500"/>
            <a:chOff x="3172363" y="1134860"/>
            <a:chExt cx="2931131" cy="5534500"/>
          </a:xfrm>
        </p:grpSpPr>
        <p:grpSp>
          <p:nvGrpSpPr>
            <p:cNvPr id="6" name="Grupo 5">
              <a:extLst>
                <a:ext uri="{FF2B5EF4-FFF2-40B4-BE49-F238E27FC236}">
                  <a16:creationId xmlns:a16="http://schemas.microsoft.com/office/drawing/2014/main" id="{CFF087EB-E783-4AC7-A060-74DDA2CA815C}"/>
                </a:ext>
              </a:extLst>
            </p:cNvPr>
            <p:cNvGrpSpPr/>
            <p:nvPr/>
          </p:nvGrpSpPr>
          <p:grpSpPr>
            <a:xfrm>
              <a:off x="3758212" y="1503803"/>
              <a:ext cx="1998336" cy="3578352"/>
              <a:chOff x="3803911" y="2084774"/>
              <a:chExt cx="2766928" cy="4006530"/>
            </a:xfrm>
          </p:grpSpPr>
          <p:sp>
            <p:nvSpPr>
              <p:cNvPr id="7" name="Flowchart: Terminator 43">
                <a:extLst>
                  <a:ext uri="{FF2B5EF4-FFF2-40B4-BE49-F238E27FC236}">
                    <a16:creationId xmlns:a16="http://schemas.microsoft.com/office/drawing/2014/main" id="{4BEA731C-8A2D-4120-8EA7-32EAAB9052D1}"/>
                  </a:ext>
                </a:extLst>
              </p:cNvPr>
              <p:cNvSpPr/>
              <p:nvPr/>
            </p:nvSpPr>
            <p:spPr>
              <a:xfrm>
                <a:off x="4533557" y="5761790"/>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100" dirty="0">
                    <a:latin typeface="Consolas" panose="020B0609020204030204" pitchFamily="49" charset="0"/>
                  </a:rPr>
                  <a:t>Finish</a:t>
                </a:r>
                <a:endParaRPr lang="en-US" sz="1100" dirty="0">
                  <a:latin typeface="Consolas" panose="020B0609020204030204" pitchFamily="49" charset="0"/>
                </a:endParaRPr>
              </a:p>
            </p:txBody>
          </p:sp>
          <p:sp>
            <p:nvSpPr>
              <p:cNvPr id="8" name="Flowchart: Terminator 44">
                <a:extLst>
                  <a:ext uri="{FF2B5EF4-FFF2-40B4-BE49-F238E27FC236}">
                    <a16:creationId xmlns:a16="http://schemas.microsoft.com/office/drawing/2014/main" id="{DC5D4A15-AC0B-41C9-8418-F8E792476EF9}"/>
                  </a:ext>
                </a:extLst>
              </p:cNvPr>
              <p:cNvSpPr/>
              <p:nvPr/>
            </p:nvSpPr>
            <p:spPr>
              <a:xfrm>
                <a:off x="4511421" y="2084774"/>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100" dirty="0">
                    <a:latin typeface="Consolas" panose="020B0609020204030204" pitchFamily="49" charset="0"/>
                  </a:rPr>
                  <a:t>Start</a:t>
                </a:r>
                <a:endParaRPr lang="en-US" sz="1100" dirty="0">
                  <a:latin typeface="Consolas" panose="020B0609020204030204" pitchFamily="49" charset="0"/>
                </a:endParaRPr>
              </a:p>
            </p:txBody>
          </p:sp>
          <p:cxnSp>
            <p:nvCxnSpPr>
              <p:cNvPr id="9" name="Straight Arrow Connector 45">
                <a:extLst>
                  <a:ext uri="{FF2B5EF4-FFF2-40B4-BE49-F238E27FC236}">
                    <a16:creationId xmlns:a16="http://schemas.microsoft.com/office/drawing/2014/main" id="{87C5F869-26CA-4ECF-8117-EB2ACEEFB9D8}"/>
                  </a:ext>
                </a:extLst>
              </p:cNvPr>
              <p:cNvCxnSpPr>
                <a:cxnSpLocks/>
                <a:stCxn id="8" idx="2"/>
                <a:endCxn id="17" idx="0"/>
              </p:cNvCxnSpPr>
              <p:nvPr/>
            </p:nvCxnSpPr>
            <p:spPr>
              <a:xfrm flipH="1">
                <a:off x="5161807" y="2414288"/>
                <a:ext cx="4241" cy="29463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48">
                <a:extLst>
                  <a:ext uri="{FF2B5EF4-FFF2-40B4-BE49-F238E27FC236}">
                    <a16:creationId xmlns:a16="http://schemas.microsoft.com/office/drawing/2014/main" id="{03964D52-DBA5-4FAE-913A-8348C2091772}"/>
                  </a:ext>
                </a:extLst>
              </p:cNvPr>
              <p:cNvCxnSpPr>
                <a:cxnSpLocks/>
                <a:stCxn id="16" idx="2"/>
                <a:endCxn id="11" idx="1"/>
              </p:cNvCxnSpPr>
              <p:nvPr/>
            </p:nvCxnSpPr>
            <p:spPr>
              <a:xfrm>
                <a:off x="5187375" y="4699868"/>
                <a:ext cx="809" cy="329019"/>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 name="Flowchart: Data 52">
                <a:extLst>
                  <a:ext uri="{FF2B5EF4-FFF2-40B4-BE49-F238E27FC236}">
                    <a16:creationId xmlns:a16="http://schemas.microsoft.com/office/drawing/2014/main" id="{B9DF0CEE-D3EB-4499-93D1-614B554B387C}"/>
                  </a:ext>
                </a:extLst>
              </p:cNvPr>
              <p:cNvSpPr/>
              <p:nvPr/>
            </p:nvSpPr>
            <p:spPr>
              <a:xfrm>
                <a:off x="4039827" y="5028888"/>
                <a:ext cx="2296712" cy="411892"/>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rPr>
                  <a:t>Print </a:t>
                </a:r>
                <a:r>
                  <a:rPr lang="en-US" sz="1100" b="1" dirty="0">
                    <a:latin typeface="Consolas" panose="020B0609020204030204" pitchFamily="49" charset="0"/>
                  </a:rPr>
                  <a:t>area</a:t>
                </a:r>
              </a:p>
            </p:txBody>
          </p:sp>
          <p:cxnSp>
            <p:nvCxnSpPr>
              <p:cNvPr id="12" name="Straight Arrow Connector 53">
                <a:extLst>
                  <a:ext uri="{FF2B5EF4-FFF2-40B4-BE49-F238E27FC236}">
                    <a16:creationId xmlns:a16="http://schemas.microsoft.com/office/drawing/2014/main" id="{074C9DCF-6979-42B7-AF96-A0E41E156806}"/>
                  </a:ext>
                </a:extLst>
              </p:cNvPr>
              <p:cNvCxnSpPr>
                <a:cxnSpLocks/>
                <a:stCxn id="11" idx="4"/>
                <a:endCxn id="7" idx="0"/>
              </p:cNvCxnSpPr>
              <p:nvPr/>
            </p:nvCxnSpPr>
            <p:spPr>
              <a:xfrm>
                <a:off x="5188184" y="5440779"/>
                <a:ext cx="0" cy="32101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 name="Flowchart: Data 68">
                <a:extLst>
                  <a:ext uri="{FF2B5EF4-FFF2-40B4-BE49-F238E27FC236}">
                    <a16:creationId xmlns:a16="http://schemas.microsoft.com/office/drawing/2014/main" id="{0B4F97B3-5B04-4A76-8BB8-E5F8DEC41937}"/>
                  </a:ext>
                </a:extLst>
              </p:cNvPr>
              <p:cNvSpPr/>
              <p:nvPr/>
            </p:nvSpPr>
            <p:spPr>
              <a:xfrm>
                <a:off x="4032969" y="3443868"/>
                <a:ext cx="2304254" cy="49427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rPr>
                  <a:t>Read radio</a:t>
                </a:r>
                <a:endParaRPr lang="en-US" sz="1100" b="1" dirty="0">
                  <a:latin typeface="Consolas" panose="020B0609020204030204" pitchFamily="49" charset="0"/>
                </a:endParaRPr>
              </a:p>
            </p:txBody>
          </p:sp>
          <p:cxnSp>
            <p:nvCxnSpPr>
              <p:cNvPr id="14" name="Straight Arrow Connector 47">
                <a:extLst>
                  <a:ext uri="{FF2B5EF4-FFF2-40B4-BE49-F238E27FC236}">
                    <a16:creationId xmlns:a16="http://schemas.microsoft.com/office/drawing/2014/main" id="{65AEBC24-7F97-450B-ABB9-BFF75D9BCB31}"/>
                  </a:ext>
                </a:extLst>
              </p:cNvPr>
              <p:cNvCxnSpPr>
                <a:cxnSpLocks/>
                <a:stCxn id="13" idx="4"/>
                <a:endCxn id="16" idx="0"/>
              </p:cNvCxnSpPr>
              <p:nvPr/>
            </p:nvCxnSpPr>
            <p:spPr>
              <a:xfrm>
                <a:off x="5185097" y="3938138"/>
                <a:ext cx="2278" cy="349838"/>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Flowchart: Process 42">
                <a:extLst>
                  <a:ext uri="{FF2B5EF4-FFF2-40B4-BE49-F238E27FC236}">
                    <a16:creationId xmlns:a16="http://schemas.microsoft.com/office/drawing/2014/main" id="{66754C25-5131-48A6-953A-32CBEF110B64}"/>
                  </a:ext>
                </a:extLst>
              </p:cNvPr>
              <p:cNvSpPr/>
              <p:nvPr/>
            </p:nvSpPr>
            <p:spPr>
              <a:xfrm>
                <a:off x="3803911" y="4287976"/>
                <a:ext cx="2766928"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sym typeface="Wingdings" pitchFamily="2" charset="2"/>
                  </a:rPr>
                  <a:t>area </a:t>
                </a:r>
                <a:r>
                  <a:rPr lang="en-US" sz="1100" dirty="0">
                    <a:latin typeface="Consolas" panose="020B0609020204030204" pitchFamily="49" charset="0"/>
                  </a:rPr>
                  <a:t> PI * (radio**2)</a:t>
                </a:r>
              </a:p>
            </p:txBody>
          </p:sp>
          <p:sp>
            <p:nvSpPr>
              <p:cNvPr id="17" name="Flowchart: Process 42">
                <a:extLst>
                  <a:ext uri="{FF2B5EF4-FFF2-40B4-BE49-F238E27FC236}">
                    <a16:creationId xmlns:a16="http://schemas.microsoft.com/office/drawing/2014/main" id="{E768179D-85EC-4BF5-9F9A-4A45A0D35E39}"/>
                  </a:ext>
                </a:extLst>
              </p:cNvPr>
              <p:cNvSpPr/>
              <p:nvPr/>
            </p:nvSpPr>
            <p:spPr>
              <a:xfrm>
                <a:off x="3865664" y="2708920"/>
                <a:ext cx="2592286"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sym typeface="Wingdings" pitchFamily="2" charset="2"/>
                  </a:rPr>
                  <a:t>PI </a:t>
                </a:r>
                <a:r>
                  <a:rPr lang="en-US" sz="1100" dirty="0">
                    <a:latin typeface="Consolas" panose="020B0609020204030204" pitchFamily="49" charset="0"/>
                  </a:rPr>
                  <a:t> 3.14</a:t>
                </a:r>
              </a:p>
            </p:txBody>
          </p:sp>
          <p:cxnSp>
            <p:nvCxnSpPr>
              <p:cNvPr id="18" name="Straight Arrow Connector 45">
                <a:extLst>
                  <a:ext uri="{FF2B5EF4-FFF2-40B4-BE49-F238E27FC236}">
                    <a16:creationId xmlns:a16="http://schemas.microsoft.com/office/drawing/2014/main" id="{E9160B86-0320-4FF5-8E65-4A3CCF3EFFEC}"/>
                  </a:ext>
                </a:extLst>
              </p:cNvPr>
              <p:cNvCxnSpPr>
                <a:cxnSpLocks/>
                <a:endCxn id="13" idx="1"/>
              </p:cNvCxnSpPr>
              <p:nvPr/>
            </p:nvCxnSpPr>
            <p:spPr>
              <a:xfrm flipH="1">
                <a:off x="5185096" y="3097847"/>
                <a:ext cx="2" cy="346021"/>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0" name="CuadroTexto 19">
              <a:extLst>
                <a:ext uri="{FF2B5EF4-FFF2-40B4-BE49-F238E27FC236}">
                  <a16:creationId xmlns:a16="http://schemas.microsoft.com/office/drawing/2014/main" id="{A3CB30DA-E4AF-4A28-994A-0EE6B49FD220}"/>
                </a:ext>
              </a:extLst>
            </p:cNvPr>
            <p:cNvSpPr txBox="1"/>
            <p:nvPr/>
          </p:nvSpPr>
          <p:spPr>
            <a:xfrm>
              <a:off x="3593432" y="5275593"/>
              <a:ext cx="2348853" cy="1200329"/>
            </a:xfrm>
            <a:prstGeom prst="rect">
              <a:avLst/>
            </a:prstGeom>
            <a:noFill/>
            <a:ln>
              <a:solidFill>
                <a:schemeClr val="tx1"/>
              </a:solidFill>
            </a:ln>
          </p:spPr>
          <p:txBody>
            <a:bodyPr wrap="square">
              <a:spAutoFit/>
            </a:bodyPr>
            <a:lstStyle/>
            <a:p>
              <a:r>
                <a:rPr lang="es-CO" sz="1200" b="1" dirty="0">
                  <a:latin typeface="Consolas" panose="020B0609020204030204" pitchFamily="49" charset="0"/>
                </a:rPr>
                <a:t>Inicio</a:t>
              </a:r>
              <a:endParaRPr lang="es-CO" sz="1200" dirty="0">
                <a:latin typeface="Consolas" panose="020B0609020204030204" pitchFamily="49" charset="0"/>
              </a:endParaRPr>
            </a:p>
            <a:p>
              <a:r>
                <a:rPr lang="es-CO" sz="1200" dirty="0">
                  <a:latin typeface="Consolas" panose="020B0609020204030204" pitchFamily="49" charset="0"/>
                </a:rPr>
                <a:t>  PI = 3.14</a:t>
              </a:r>
            </a:p>
            <a:p>
              <a:r>
                <a:rPr lang="es-CO" sz="1200" dirty="0">
                  <a:latin typeface="Consolas" panose="020B0609020204030204" pitchFamily="49" charset="0"/>
                </a:rPr>
                <a:t>  Leer(radio)</a:t>
              </a:r>
            </a:p>
            <a:p>
              <a:r>
                <a:rPr lang="es-CO" sz="1200" dirty="0">
                  <a:latin typeface="Consolas" panose="020B0609020204030204" pitchFamily="49" charset="0"/>
                </a:rPr>
                <a:t>  area = PI*(radio**2)</a:t>
              </a:r>
            </a:p>
            <a:p>
              <a:r>
                <a:rPr lang="es-CO" sz="1200" dirty="0">
                  <a:latin typeface="Consolas" panose="020B0609020204030204" pitchFamily="49" charset="0"/>
                </a:rPr>
                <a:t>  Escribir(area)</a:t>
              </a:r>
            </a:p>
            <a:p>
              <a:r>
                <a:rPr lang="es-CO" sz="1200" b="1" dirty="0">
                  <a:latin typeface="Consolas" panose="020B0609020204030204" pitchFamily="49" charset="0"/>
                </a:rPr>
                <a:t>Fin</a:t>
              </a:r>
            </a:p>
          </p:txBody>
        </p:sp>
        <p:sp>
          <p:nvSpPr>
            <p:cNvPr id="47" name="Rectángulo: esquinas redondeadas 46">
              <a:extLst>
                <a:ext uri="{FF2B5EF4-FFF2-40B4-BE49-F238E27FC236}">
                  <a16:creationId xmlns:a16="http://schemas.microsoft.com/office/drawing/2014/main" id="{1C80DC11-2035-4811-95E3-B8390EFD5CD2}"/>
                </a:ext>
              </a:extLst>
            </p:cNvPr>
            <p:cNvSpPr/>
            <p:nvPr/>
          </p:nvSpPr>
          <p:spPr>
            <a:xfrm>
              <a:off x="3405036" y="1365464"/>
              <a:ext cx="2698458" cy="5303896"/>
            </a:xfrm>
            <a:prstGeom prst="roundRect">
              <a:avLst>
                <a:gd name="adj" fmla="val 9382"/>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46" name="Flecha: cheurón 45">
              <a:extLst>
                <a:ext uri="{FF2B5EF4-FFF2-40B4-BE49-F238E27FC236}">
                  <a16:creationId xmlns:a16="http://schemas.microsoft.com/office/drawing/2014/main" id="{DE133DD3-CB02-443A-B416-BAB11423F73F}"/>
                </a:ext>
              </a:extLst>
            </p:cNvPr>
            <p:cNvSpPr/>
            <p:nvPr/>
          </p:nvSpPr>
          <p:spPr>
            <a:xfrm rot="5400000">
              <a:off x="3066032" y="1241191"/>
              <a:ext cx="676195" cy="463533"/>
            </a:xfrm>
            <a:prstGeom prst="chevr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s-CO" b="1" dirty="0">
                  <a:solidFill>
                    <a:schemeClr val="bg1"/>
                  </a:solidFill>
                </a:rPr>
                <a:t>3</a:t>
              </a:r>
            </a:p>
          </p:txBody>
        </p:sp>
      </p:grpSp>
      <p:sp>
        <p:nvSpPr>
          <p:cNvPr id="49" name="Rectángulo: esquinas redondeadas 48">
            <a:extLst>
              <a:ext uri="{FF2B5EF4-FFF2-40B4-BE49-F238E27FC236}">
                <a16:creationId xmlns:a16="http://schemas.microsoft.com/office/drawing/2014/main" id="{CC600477-E127-464F-BF1E-8D7A99CB60FC}"/>
              </a:ext>
            </a:extLst>
          </p:cNvPr>
          <p:cNvSpPr/>
          <p:nvPr/>
        </p:nvSpPr>
        <p:spPr>
          <a:xfrm>
            <a:off x="6375773" y="1305180"/>
            <a:ext cx="2653859" cy="5303896"/>
          </a:xfrm>
          <a:prstGeom prst="roundRect">
            <a:avLst>
              <a:gd name="adj" fmla="val 9382"/>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0" name="Flecha: cheurón 49">
            <a:extLst>
              <a:ext uri="{FF2B5EF4-FFF2-40B4-BE49-F238E27FC236}">
                <a16:creationId xmlns:a16="http://schemas.microsoft.com/office/drawing/2014/main" id="{DD6DC9D0-1982-4164-BB2C-43BF3652891B}"/>
              </a:ext>
            </a:extLst>
          </p:cNvPr>
          <p:cNvSpPr/>
          <p:nvPr/>
        </p:nvSpPr>
        <p:spPr>
          <a:xfrm rot="5400000">
            <a:off x="6036769" y="1180907"/>
            <a:ext cx="676195" cy="463533"/>
          </a:xfrm>
          <a:prstGeom prst="chevron">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s-CO" b="1" dirty="0">
                <a:solidFill>
                  <a:schemeClr val="bg1"/>
                </a:solidFill>
              </a:rPr>
              <a:t>4</a:t>
            </a:r>
          </a:p>
        </p:txBody>
      </p:sp>
    </p:spTree>
    <p:extLst>
      <p:ext uri="{BB962C8B-B14F-4D97-AF65-F5344CB8AC3E}">
        <p14:creationId xmlns:p14="http://schemas.microsoft.com/office/powerpoint/2010/main" val="39077382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5536" y="249489"/>
            <a:ext cx="8119814" cy="831626"/>
          </a:xfrm>
        </p:spPr>
        <p:txBody>
          <a:bodyPr/>
          <a:lstStyle/>
          <a:p>
            <a:r>
              <a:rPr lang="es-CO" sz="2800" dirty="0"/>
              <a:t>Pseudocódigo (Opcional)</a:t>
            </a:r>
            <a:endParaRPr lang="en-US" sz="2800" dirty="0"/>
          </a:p>
        </p:txBody>
      </p:sp>
      <p:sp>
        <p:nvSpPr>
          <p:cNvPr id="9" name="Marcador de contenido 8">
            <a:extLst>
              <a:ext uri="{FF2B5EF4-FFF2-40B4-BE49-F238E27FC236}">
                <a16:creationId xmlns:a16="http://schemas.microsoft.com/office/drawing/2014/main" id="{1C890BBD-1444-4CB9-97D4-FDDC5F53D6C3}"/>
              </a:ext>
            </a:extLst>
          </p:cNvPr>
          <p:cNvSpPr>
            <a:spLocks noGrp="1"/>
          </p:cNvSpPr>
          <p:nvPr>
            <p:ph idx="1"/>
          </p:nvPr>
        </p:nvSpPr>
        <p:spPr>
          <a:xfrm>
            <a:off x="429716" y="878194"/>
            <a:ext cx="7886700" cy="1769578"/>
          </a:xfrm>
        </p:spPr>
        <p:txBody>
          <a:bodyPr>
            <a:normAutofit/>
          </a:bodyPr>
          <a:lstStyle/>
          <a:p>
            <a:r>
              <a:rPr lang="es-MX" sz="2000" dirty="0"/>
              <a:t>Existe otra notación de pseudocódigo que sí declara el tipo de dato de cada variable (texto guía, notación del profesor Carlos Mera).</a:t>
            </a:r>
          </a:p>
          <a:p>
            <a:r>
              <a:rPr lang="es-MX" sz="2000" dirty="0"/>
              <a:t>La diferencia frente a la vista anteriormente: aquí la inicialización especifica </a:t>
            </a:r>
            <a:r>
              <a:rPr lang="es-MX" sz="1600" dirty="0">
                <a:latin typeface="Consolas" panose="020B0609020204030204" pitchFamily="49" charset="0"/>
              </a:rPr>
              <a:t>&lt;</a:t>
            </a:r>
            <a:r>
              <a:rPr lang="es-MX" sz="1600" dirty="0" err="1">
                <a:latin typeface="Consolas" panose="020B0609020204030204" pitchFamily="49" charset="0"/>
              </a:rPr>
              <a:t>Tipo_de_dato</a:t>
            </a:r>
            <a:r>
              <a:rPr lang="es-MX" sz="1600" dirty="0">
                <a:latin typeface="Consolas" panose="020B0609020204030204" pitchFamily="49" charset="0"/>
              </a:rPr>
              <a:t>&gt; &lt;</a:t>
            </a:r>
            <a:r>
              <a:rPr lang="es-MX" sz="1600" dirty="0" err="1">
                <a:latin typeface="Consolas" panose="020B0609020204030204" pitchFamily="49" charset="0"/>
              </a:rPr>
              <a:t>listaDeVariables</a:t>
            </a:r>
            <a:r>
              <a:rPr lang="es-MX" sz="1600" dirty="0">
                <a:latin typeface="Consolas" panose="020B0609020204030204" pitchFamily="49" charset="0"/>
              </a:rPr>
              <a:t>&gt;</a:t>
            </a:r>
            <a:r>
              <a:rPr lang="es-MX" sz="2000" dirty="0"/>
              <a:t> en lugar de solo </a:t>
            </a:r>
            <a:r>
              <a:rPr lang="es-MX" sz="1800" dirty="0">
                <a:latin typeface="Consolas" panose="020B0609020204030204" pitchFamily="49" charset="0"/>
              </a:rPr>
              <a:t>&lt;Instrucción inicialización&gt;</a:t>
            </a:r>
            <a:r>
              <a:rPr lang="es-MX" sz="2000" dirty="0"/>
              <a:t>.</a:t>
            </a:r>
            <a:endParaRPr lang="es-CO" sz="2000" dirty="0"/>
          </a:p>
        </p:txBody>
      </p:sp>
      <p:sp>
        <p:nvSpPr>
          <p:cNvPr id="16" name="CuadroTexto 15">
            <a:extLst>
              <a:ext uri="{FF2B5EF4-FFF2-40B4-BE49-F238E27FC236}">
                <a16:creationId xmlns:a16="http://schemas.microsoft.com/office/drawing/2014/main" id="{F98563A0-A51B-4C4F-B086-08B8FCDFF60D}"/>
              </a:ext>
            </a:extLst>
          </p:cNvPr>
          <p:cNvSpPr txBox="1"/>
          <p:nvPr/>
        </p:nvSpPr>
        <p:spPr>
          <a:xfrm>
            <a:off x="4139903" y="3035206"/>
            <a:ext cx="4408162" cy="3046988"/>
          </a:xfrm>
          <a:prstGeom prst="rect">
            <a:avLst/>
          </a:prstGeom>
          <a:noFill/>
          <a:ln>
            <a:solidFill>
              <a:schemeClr val="tx1"/>
            </a:solidFill>
          </a:ln>
        </p:spPr>
        <p:txBody>
          <a:bodyPr wrap="square">
            <a:spAutoFit/>
          </a:bodyPr>
          <a:lstStyle/>
          <a:p>
            <a:r>
              <a:rPr lang="es-CO" sz="1600" b="1" dirty="0">
                <a:latin typeface="Consolas" panose="020B0609020204030204" pitchFamily="49" charset="0"/>
              </a:rPr>
              <a:t>Inicio</a:t>
            </a:r>
          </a:p>
          <a:p>
            <a:r>
              <a:rPr lang="es-CO" sz="1600" dirty="0">
                <a:solidFill>
                  <a:schemeClr val="bg1">
                    <a:lumMod val="50000"/>
                  </a:schemeClr>
                </a:solidFill>
                <a:latin typeface="Consolas" panose="020B0609020204030204" pitchFamily="49" charset="0"/>
              </a:rPr>
              <a:t>  # </a:t>
            </a:r>
            <a:r>
              <a:rPr lang="es-CO" sz="1600" dirty="0" err="1">
                <a:solidFill>
                  <a:schemeClr val="bg1">
                    <a:lumMod val="50000"/>
                  </a:schemeClr>
                </a:solidFill>
                <a:latin typeface="Consolas" panose="020B0609020204030204" pitchFamily="49" charset="0"/>
              </a:rPr>
              <a:t>Declaracion</a:t>
            </a:r>
            <a:r>
              <a:rPr lang="es-CO" sz="1600" dirty="0">
                <a:solidFill>
                  <a:schemeClr val="bg1">
                    <a:lumMod val="50000"/>
                  </a:schemeClr>
                </a:solidFill>
                <a:latin typeface="Consolas" panose="020B0609020204030204" pitchFamily="49" charset="0"/>
              </a:rPr>
              <a:t> de variables</a:t>
            </a:r>
          </a:p>
          <a:p>
            <a:r>
              <a:rPr lang="es-CO" sz="1600" dirty="0">
                <a:latin typeface="Consolas" panose="020B0609020204030204" pitchFamily="49" charset="0"/>
              </a:rPr>
              <a:t>  &lt;Tipo_de_dato_1&gt; &lt;</a:t>
            </a:r>
            <a:r>
              <a:rPr lang="es-CO" sz="1600" dirty="0" err="1">
                <a:latin typeface="Consolas" panose="020B0609020204030204" pitchFamily="49" charset="0"/>
              </a:rPr>
              <a:t>listaDeVariables</a:t>
            </a:r>
            <a:r>
              <a:rPr lang="es-CO" sz="1600" dirty="0">
                <a:latin typeface="Consolas" panose="020B0609020204030204" pitchFamily="49" charset="0"/>
              </a:rPr>
              <a:t>&gt;</a:t>
            </a:r>
          </a:p>
          <a:p>
            <a:r>
              <a:rPr lang="es-CO" sz="1600" dirty="0">
                <a:latin typeface="Consolas" panose="020B0609020204030204" pitchFamily="49" charset="0"/>
              </a:rPr>
              <a:t>  &lt;Tipo_de_dato_2&gt; &lt;</a:t>
            </a:r>
            <a:r>
              <a:rPr lang="es-CO" sz="1600" dirty="0" err="1">
                <a:latin typeface="Consolas" panose="020B0609020204030204" pitchFamily="49" charset="0"/>
              </a:rPr>
              <a:t>listaDeVariables</a:t>
            </a:r>
            <a:r>
              <a:rPr lang="es-CO" sz="1600" dirty="0">
                <a:latin typeface="Consolas" panose="020B0609020204030204" pitchFamily="49" charset="0"/>
              </a:rPr>
              <a:t>&gt;</a:t>
            </a:r>
          </a:p>
          <a:p>
            <a:r>
              <a:rPr lang="es-CO" sz="1600" dirty="0">
                <a:latin typeface="Consolas" panose="020B0609020204030204" pitchFamily="49" charset="0"/>
              </a:rPr>
              <a:t>  ...</a:t>
            </a:r>
          </a:p>
          <a:p>
            <a:r>
              <a:rPr lang="es-CO" sz="1600" dirty="0">
                <a:latin typeface="Consolas" panose="020B0609020204030204" pitchFamily="49" charset="0"/>
              </a:rPr>
              <a:t>  </a:t>
            </a:r>
          </a:p>
          <a:p>
            <a:r>
              <a:rPr lang="es-CO" sz="1600" dirty="0">
                <a:solidFill>
                  <a:schemeClr val="bg1">
                    <a:lumMod val="50000"/>
                  </a:schemeClr>
                </a:solidFill>
                <a:latin typeface="Consolas" panose="020B0609020204030204" pitchFamily="49" charset="0"/>
              </a:rPr>
              <a:t>  # Cuerpo del algoritmo</a:t>
            </a:r>
            <a:endParaRPr lang="es-CO" sz="1600" dirty="0">
              <a:latin typeface="Consolas" panose="020B0609020204030204" pitchFamily="49" charset="0"/>
            </a:endParaRPr>
          </a:p>
          <a:p>
            <a:r>
              <a:rPr lang="es-CO" sz="1600" dirty="0">
                <a:latin typeface="Consolas" panose="020B0609020204030204" pitchFamily="49" charset="0"/>
              </a:rPr>
              <a:t>  &lt;Instrucción 1&gt;</a:t>
            </a:r>
          </a:p>
          <a:p>
            <a:r>
              <a:rPr lang="es-CO" sz="1600" dirty="0">
                <a:latin typeface="Consolas" panose="020B0609020204030204" pitchFamily="49" charset="0"/>
              </a:rPr>
              <a:t>  &lt;Instrucción 2&gt;</a:t>
            </a:r>
          </a:p>
          <a:p>
            <a:r>
              <a:rPr lang="es-CO" sz="1600" dirty="0">
                <a:latin typeface="Consolas" panose="020B0609020204030204" pitchFamily="49" charset="0"/>
              </a:rPr>
              <a:t>  ...</a:t>
            </a:r>
          </a:p>
          <a:p>
            <a:endParaRPr lang="es-CO" sz="1600" dirty="0">
              <a:latin typeface="Consolas" panose="020B0609020204030204" pitchFamily="49" charset="0"/>
            </a:endParaRPr>
          </a:p>
          <a:p>
            <a:r>
              <a:rPr lang="es-CO" sz="1600" b="1" dirty="0">
                <a:latin typeface="Consolas" panose="020B0609020204030204" pitchFamily="49" charset="0"/>
              </a:rPr>
              <a:t>Fin</a:t>
            </a:r>
          </a:p>
        </p:txBody>
      </p:sp>
      <p:grpSp>
        <p:nvGrpSpPr>
          <p:cNvPr id="24" name="Grupo 23">
            <a:extLst>
              <a:ext uri="{FF2B5EF4-FFF2-40B4-BE49-F238E27FC236}">
                <a16:creationId xmlns:a16="http://schemas.microsoft.com/office/drawing/2014/main" id="{9B7FD6A4-FB74-4248-89BA-7B8E4C3CAB42}"/>
              </a:ext>
            </a:extLst>
          </p:cNvPr>
          <p:cNvGrpSpPr/>
          <p:nvPr/>
        </p:nvGrpSpPr>
        <p:grpSpPr>
          <a:xfrm>
            <a:off x="611560" y="2836411"/>
            <a:ext cx="3205104" cy="3472909"/>
            <a:chOff x="953224" y="2564904"/>
            <a:chExt cx="3205104" cy="3472909"/>
          </a:xfrm>
        </p:grpSpPr>
        <p:sp>
          <p:nvSpPr>
            <p:cNvPr id="25" name="Flowchart: Terminator 43">
              <a:extLst>
                <a:ext uri="{FF2B5EF4-FFF2-40B4-BE49-F238E27FC236}">
                  <a16:creationId xmlns:a16="http://schemas.microsoft.com/office/drawing/2014/main" id="{280B11CC-F38A-4442-A7A2-5A37929D1D70}"/>
                </a:ext>
              </a:extLst>
            </p:cNvPr>
            <p:cNvSpPr/>
            <p:nvPr/>
          </p:nvSpPr>
          <p:spPr>
            <a:xfrm>
              <a:off x="1901149" y="5708299"/>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FIN</a:t>
              </a:r>
              <a:endParaRPr lang="en-US" sz="1400" dirty="0">
                <a:latin typeface="Consolas" panose="020B0609020204030204" pitchFamily="49" charset="0"/>
              </a:endParaRPr>
            </a:p>
          </p:txBody>
        </p:sp>
        <p:sp>
          <p:nvSpPr>
            <p:cNvPr id="26" name="Flowchart: Terminator 44">
              <a:extLst>
                <a:ext uri="{FF2B5EF4-FFF2-40B4-BE49-F238E27FC236}">
                  <a16:creationId xmlns:a16="http://schemas.microsoft.com/office/drawing/2014/main" id="{3A135EF8-849C-40D8-8D00-8DBB339FA43E}"/>
                </a:ext>
              </a:extLst>
            </p:cNvPr>
            <p:cNvSpPr/>
            <p:nvPr/>
          </p:nvSpPr>
          <p:spPr>
            <a:xfrm>
              <a:off x="1905390" y="2564904"/>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INICIO</a:t>
              </a:r>
              <a:endParaRPr lang="en-US" sz="1400" dirty="0">
                <a:latin typeface="Consolas" panose="020B0609020204030204" pitchFamily="49" charset="0"/>
              </a:endParaRPr>
            </a:p>
          </p:txBody>
        </p:sp>
        <p:cxnSp>
          <p:nvCxnSpPr>
            <p:cNvPr id="27" name="Straight Arrow Connector 45">
              <a:extLst>
                <a:ext uri="{FF2B5EF4-FFF2-40B4-BE49-F238E27FC236}">
                  <a16:creationId xmlns:a16="http://schemas.microsoft.com/office/drawing/2014/main" id="{77E26A13-2BE3-4654-BBAD-BB36A8D048C2}"/>
                </a:ext>
              </a:extLst>
            </p:cNvPr>
            <p:cNvCxnSpPr>
              <a:cxnSpLocks/>
              <a:stCxn id="26" idx="2"/>
              <a:endCxn id="30" idx="0"/>
            </p:cNvCxnSpPr>
            <p:nvPr/>
          </p:nvCxnSpPr>
          <p:spPr>
            <a:xfrm flipH="1">
              <a:off x="2555776" y="2894418"/>
              <a:ext cx="4241" cy="323141"/>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53">
              <a:extLst>
                <a:ext uri="{FF2B5EF4-FFF2-40B4-BE49-F238E27FC236}">
                  <a16:creationId xmlns:a16="http://schemas.microsoft.com/office/drawing/2014/main" id="{AA405EF1-B0DA-4052-92B9-7FC58DDF7EE0}"/>
                </a:ext>
              </a:extLst>
            </p:cNvPr>
            <p:cNvCxnSpPr>
              <a:cxnSpLocks/>
              <a:stCxn id="29" idx="2"/>
              <a:endCxn id="25" idx="0"/>
            </p:cNvCxnSpPr>
            <p:nvPr/>
          </p:nvCxnSpPr>
          <p:spPr>
            <a:xfrm>
              <a:off x="2555776" y="5279555"/>
              <a:ext cx="0" cy="428744"/>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Flowchart: Process 42">
              <a:extLst>
                <a:ext uri="{FF2B5EF4-FFF2-40B4-BE49-F238E27FC236}">
                  <a16:creationId xmlns:a16="http://schemas.microsoft.com/office/drawing/2014/main" id="{C07DA4EC-BCAA-4EE3-B423-9E5CFCDD18CA}"/>
                </a:ext>
              </a:extLst>
            </p:cNvPr>
            <p:cNvSpPr/>
            <p:nvPr/>
          </p:nvSpPr>
          <p:spPr>
            <a:xfrm>
              <a:off x="953224" y="4470077"/>
              <a:ext cx="3205104" cy="809478"/>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&lt;Instrucción 1&gt;</a:t>
              </a:r>
            </a:p>
            <a:p>
              <a:pPr algn="ctr"/>
              <a:r>
                <a:rPr lang="en-US" sz="1400" dirty="0">
                  <a:latin typeface="Consolas" panose="020B0609020204030204" pitchFamily="49" charset="0"/>
                  <a:sym typeface="Wingdings" pitchFamily="2" charset="2"/>
                </a:rPr>
                <a:t>&lt;Instrucción 2&gt;</a:t>
              </a:r>
            </a:p>
            <a:p>
              <a:pPr algn="ctr"/>
              <a:r>
                <a:rPr lang="en-US" sz="1400" dirty="0">
                  <a:latin typeface="Consolas" panose="020B0609020204030204" pitchFamily="49" charset="0"/>
                  <a:sym typeface="Wingdings" pitchFamily="2" charset="2"/>
                </a:rPr>
                <a:t>...</a:t>
              </a:r>
              <a:endParaRPr lang="en-US" sz="1400" dirty="0">
                <a:latin typeface="Consolas" panose="020B0609020204030204" pitchFamily="49" charset="0"/>
              </a:endParaRPr>
            </a:p>
          </p:txBody>
        </p:sp>
        <p:sp>
          <p:nvSpPr>
            <p:cNvPr id="30" name="Flowchart: Process 42">
              <a:extLst>
                <a:ext uri="{FF2B5EF4-FFF2-40B4-BE49-F238E27FC236}">
                  <a16:creationId xmlns:a16="http://schemas.microsoft.com/office/drawing/2014/main" id="{BC0C2C21-72BC-4D69-8142-9A51AE7B019C}"/>
                </a:ext>
              </a:extLst>
            </p:cNvPr>
            <p:cNvSpPr/>
            <p:nvPr/>
          </p:nvSpPr>
          <p:spPr>
            <a:xfrm>
              <a:off x="953224" y="3217559"/>
              <a:ext cx="3205104" cy="865084"/>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&lt;Instrucción inicializacion 1&gt;</a:t>
              </a:r>
            </a:p>
            <a:p>
              <a:pPr algn="ctr"/>
              <a:r>
                <a:rPr lang="en-US" sz="1400" dirty="0">
                  <a:latin typeface="Consolas" panose="020B0609020204030204" pitchFamily="49" charset="0"/>
                  <a:sym typeface="Wingdings" pitchFamily="2" charset="2"/>
                </a:rPr>
                <a:t>&lt;Instrucción inicializacion 2&gt;</a:t>
              </a:r>
            </a:p>
            <a:p>
              <a:pPr algn="ctr"/>
              <a:r>
                <a:rPr lang="en-US" sz="1400" dirty="0">
                  <a:latin typeface="Consolas" panose="020B0609020204030204" pitchFamily="49" charset="0"/>
                  <a:sym typeface="Wingdings" pitchFamily="2" charset="2"/>
                </a:rPr>
                <a:t>...</a:t>
              </a:r>
              <a:endParaRPr lang="en-US" sz="1400" dirty="0">
                <a:latin typeface="Consolas" panose="020B0609020204030204" pitchFamily="49" charset="0"/>
              </a:endParaRPr>
            </a:p>
          </p:txBody>
        </p:sp>
        <p:cxnSp>
          <p:nvCxnSpPr>
            <p:cNvPr id="31" name="Straight Arrow Connector 45">
              <a:extLst>
                <a:ext uri="{FF2B5EF4-FFF2-40B4-BE49-F238E27FC236}">
                  <a16:creationId xmlns:a16="http://schemas.microsoft.com/office/drawing/2014/main" id="{B1814553-9C10-4581-BA40-74735F17DAE5}"/>
                </a:ext>
              </a:extLst>
            </p:cNvPr>
            <p:cNvCxnSpPr>
              <a:cxnSpLocks/>
              <a:stCxn id="30" idx="2"/>
              <a:endCxn id="29" idx="0"/>
            </p:cNvCxnSpPr>
            <p:nvPr/>
          </p:nvCxnSpPr>
          <p:spPr>
            <a:xfrm>
              <a:off x="2555776" y="4082643"/>
              <a:ext cx="0" cy="387434"/>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285250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88640"/>
            <a:ext cx="8496944" cy="1116540"/>
          </a:xfrm>
        </p:spPr>
        <p:txBody>
          <a:bodyPr>
            <a:normAutofit/>
          </a:bodyPr>
          <a:lstStyle/>
          <a:p>
            <a:r>
              <a:rPr lang="es-CO" sz="2800" dirty="0"/>
              <a:t>Representación de algoritmos como diagramas de flujo</a:t>
            </a:r>
          </a:p>
        </p:txBody>
      </p:sp>
      <p:sp>
        <p:nvSpPr>
          <p:cNvPr id="19" name="1 Marcador de contenido">
            <a:extLst>
              <a:ext uri="{FF2B5EF4-FFF2-40B4-BE49-F238E27FC236}">
                <a16:creationId xmlns:a16="http://schemas.microsoft.com/office/drawing/2014/main" id="{B631F62A-D66E-4371-95AA-24391170E54B}"/>
              </a:ext>
            </a:extLst>
          </p:cNvPr>
          <p:cNvSpPr txBox="1">
            <a:spLocks noGrp="1"/>
          </p:cNvSpPr>
          <p:nvPr>
            <p:ph idx="1"/>
          </p:nvPr>
        </p:nvSpPr>
        <p:spPr>
          <a:xfrm>
            <a:off x="213692" y="1211525"/>
            <a:ext cx="7886700" cy="7693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sz="2200" b="1" dirty="0">
                <a:solidFill>
                  <a:srgbClr val="FF0000"/>
                </a:solidFill>
              </a:rPr>
              <a:t>Ejemplo 1</a:t>
            </a:r>
            <a:r>
              <a:rPr lang="es-ES" sz="2200" dirty="0">
                <a:solidFill>
                  <a:srgbClr val="FF0000"/>
                </a:solidFill>
              </a:rPr>
              <a:t>: </a:t>
            </a:r>
            <a:r>
              <a:rPr lang="es-ES" sz="2200" dirty="0"/>
              <a:t>Realice un programa que permita calcular al área de un triangulo</a:t>
            </a:r>
            <a:endParaRPr lang="es-ES" sz="2200" b="1" dirty="0"/>
          </a:p>
        </p:txBody>
      </p:sp>
      <p:sp>
        <p:nvSpPr>
          <p:cNvPr id="22" name="CuadroTexto 21">
            <a:extLst>
              <a:ext uri="{FF2B5EF4-FFF2-40B4-BE49-F238E27FC236}">
                <a16:creationId xmlns:a16="http://schemas.microsoft.com/office/drawing/2014/main" id="{D7CC8BA8-1420-4326-AFC0-E2E32679ADAA}"/>
              </a:ext>
            </a:extLst>
          </p:cNvPr>
          <p:cNvSpPr txBox="1"/>
          <p:nvPr/>
        </p:nvSpPr>
        <p:spPr>
          <a:xfrm>
            <a:off x="4502861" y="4761723"/>
            <a:ext cx="3178819" cy="1815882"/>
          </a:xfrm>
          <a:prstGeom prst="rect">
            <a:avLst/>
          </a:prstGeom>
          <a:noFill/>
          <a:ln>
            <a:solidFill>
              <a:schemeClr val="tx1"/>
            </a:solidFill>
          </a:ln>
        </p:spPr>
        <p:txBody>
          <a:bodyPr wrap="square">
            <a:spAutoFit/>
          </a:bodyPr>
          <a:lstStyle/>
          <a:p>
            <a:r>
              <a:rPr lang="es-CO" sz="1600" b="1" dirty="0">
                <a:latin typeface="Consolas" panose="020B0609020204030204" pitchFamily="49" charset="0"/>
              </a:rPr>
              <a:t>Inicio</a:t>
            </a:r>
            <a:endParaRPr lang="es-CO" sz="1600" dirty="0">
              <a:latin typeface="Consolas" panose="020B0609020204030204" pitchFamily="49" charset="0"/>
            </a:endParaRPr>
          </a:p>
          <a:p>
            <a:r>
              <a:rPr lang="es-CO" sz="1600" dirty="0">
                <a:latin typeface="Consolas" panose="020B0609020204030204" pitchFamily="49" charset="0"/>
              </a:rPr>
              <a:t>  Real base, height, area</a:t>
            </a:r>
          </a:p>
          <a:p>
            <a:r>
              <a:rPr lang="es-CO" sz="1600" dirty="0">
                <a:latin typeface="Consolas" panose="020B0609020204030204" pitchFamily="49" charset="0"/>
              </a:rPr>
              <a:t>  Leer(base) </a:t>
            </a:r>
          </a:p>
          <a:p>
            <a:r>
              <a:rPr lang="es-CO" sz="1600" dirty="0">
                <a:latin typeface="Consolas" panose="020B0609020204030204" pitchFamily="49" charset="0"/>
              </a:rPr>
              <a:t>  Leer(height)</a:t>
            </a:r>
          </a:p>
          <a:p>
            <a:r>
              <a:rPr lang="es-CO" sz="1600" dirty="0">
                <a:latin typeface="Consolas" panose="020B0609020204030204" pitchFamily="49" charset="0"/>
              </a:rPr>
              <a:t>  area = (base*height)/2</a:t>
            </a:r>
          </a:p>
          <a:p>
            <a:r>
              <a:rPr lang="es-CO" sz="1600" dirty="0">
                <a:latin typeface="Consolas" panose="020B0609020204030204" pitchFamily="49" charset="0"/>
              </a:rPr>
              <a:t>  Escribir(area)</a:t>
            </a:r>
          </a:p>
          <a:p>
            <a:r>
              <a:rPr lang="es-CO" sz="1600" b="1" dirty="0">
                <a:latin typeface="Consolas" panose="020B0609020204030204" pitchFamily="49" charset="0"/>
              </a:rPr>
              <a:t>Fin</a:t>
            </a:r>
          </a:p>
        </p:txBody>
      </p:sp>
      <p:sp>
        <p:nvSpPr>
          <p:cNvPr id="8" name="CuadroTexto 7">
            <a:extLst>
              <a:ext uri="{FF2B5EF4-FFF2-40B4-BE49-F238E27FC236}">
                <a16:creationId xmlns:a16="http://schemas.microsoft.com/office/drawing/2014/main" id="{EB3BD0E4-F412-4752-8B7A-75621B5DA497}"/>
              </a:ext>
            </a:extLst>
          </p:cNvPr>
          <p:cNvSpPr txBox="1"/>
          <p:nvPr/>
        </p:nvSpPr>
        <p:spPr>
          <a:xfrm>
            <a:off x="4511042" y="2348880"/>
            <a:ext cx="3178819" cy="1569660"/>
          </a:xfrm>
          <a:prstGeom prst="rect">
            <a:avLst/>
          </a:prstGeom>
          <a:noFill/>
          <a:ln>
            <a:solidFill>
              <a:schemeClr val="tx1"/>
            </a:solidFill>
          </a:ln>
        </p:spPr>
        <p:txBody>
          <a:bodyPr wrap="square">
            <a:spAutoFit/>
          </a:bodyPr>
          <a:lstStyle/>
          <a:p>
            <a:r>
              <a:rPr lang="es-CO" sz="1600" b="1" dirty="0">
                <a:latin typeface="Consolas" panose="020B0609020204030204" pitchFamily="49" charset="0"/>
              </a:rPr>
              <a:t>Inicio</a:t>
            </a:r>
            <a:endParaRPr lang="es-CO" sz="1600" dirty="0">
              <a:latin typeface="Consolas" panose="020B0609020204030204" pitchFamily="49" charset="0"/>
            </a:endParaRPr>
          </a:p>
          <a:p>
            <a:r>
              <a:rPr lang="es-CO" sz="1600" dirty="0">
                <a:latin typeface="Consolas" panose="020B0609020204030204" pitchFamily="49" charset="0"/>
              </a:rPr>
              <a:t>  Leer(base) </a:t>
            </a:r>
          </a:p>
          <a:p>
            <a:r>
              <a:rPr lang="es-CO" sz="1600" dirty="0">
                <a:latin typeface="Consolas" panose="020B0609020204030204" pitchFamily="49" charset="0"/>
              </a:rPr>
              <a:t>  Leer(height)</a:t>
            </a:r>
          </a:p>
          <a:p>
            <a:r>
              <a:rPr lang="es-CO" sz="1600" dirty="0">
                <a:latin typeface="Consolas" panose="020B0609020204030204" pitchFamily="49" charset="0"/>
              </a:rPr>
              <a:t>  area = (base*height)/2</a:t>
            </a:r>
          </a:p>
          <a:p>
            <a:r>
              <a:rPr lang="es-CO" sz="1600" dirty="0">
                <a:latin typeface="Consolas" panose="020B0609020204030204" pitchFamily="49" charset="0"/>
              </a:rPr>
              <a:t>  Escribir(area)</a:t>
            </a:r>
          </a:p>
          <a:p>
            <a:r>
              <a:rPr lang="es-CO" sz="1600" b="1" dirty="0">
                <a:latin typeface="Consolas" panose="020B0609020204030204" pitchFamily="49" charset="0"/>
              </a:rPr>
              <a:t>Fin</a:t>
            </a:r>
          </a:p>
        </p:txBody>
      </p:sp>
      <p:grpSp>
        <p:nvGrpSpPr>
          <p:cNvPr id="9" name="53 Grupo">
            <a:extLst>
              <a:ext uri="{FF2B5EF4-FFF2-40B4-BE49-F238E27FC236}">
                <a16:creationId xmlns:a16="http://schemas.microsoft.com/office/drawing/2014/main" id="{2EFFCE00-D877-4FCA-A15B-AA1CB5980A93}"/>
              </a:ext>
            </a:extLst>
          </p:cNvPr>
          <p:cNvGrpSpPr/>
          <p:nvPr/>
        </p:nvGrpSpPr>
        <p:grpSpPr>
          <a:xfrm>
            <a:off x="827584" y="2780928"/>
            <a:ext cx="2575938" cy="3048000"/>
            <a:chOff x="5569827" y="1676400"/>
            <a:chExt cx="2098914" cy="2819400"/>
          </a:xfrm>
        </p:grpSpPr>
        <p:sp>
          <p:nvSpPr>
            <p:cNvPr id="10" name="Flowchart: Terminator 43">
              <a:extLst>
                <a:ext uri="{FF2B5EF4-FFF2-40B4-BE49-F238E27FC236}">
                  <a16:creationId xmlns:a16="http://schemas.microsoft.com/office/drawing/2014/main" id="{EF98A8C0-0543-4198-B0FA-721265269013}"/>
                </a:ext>
              </a:extLst>
            </p:cNvPr>
            <p:cNvSpPr/>
            <p:nvPr/>
          </p:nvSpPr>
          <p:spPr>
            <a:xfrm>
              <a:off x="6096000" y="41910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entury Gothic" panose="020B0502020202020204" pitchFamily="34" charset="0"/>
                </a:rPr>
                <a:t>Finish</a:t>
              </a:r>
              <a:endParaRPr lang="en-US" sz="1400" dirty="0">
                <a:latin typeface="Century Gothic" panose="020B0502020202020204" pitchFamily="34" charset="0"/>
              </a:endParaRPr>
            </a:p>
          </p:txBody>
        </p:sp>
        <p:sp>
          <p:nvSpPr>
            <p:cNvPr id="11" name="Flowchart: Terminator 44">
              <a:extLst>
                <a:ext uri="{FF2B5EF4-FFF2-40B4-BE49-F238E27FC236}">
                  <a16:creationId xmlns:a16="http://schemas.microsoft.com/office/drawing/2014/main" id="{5E2963D6-9B64-4EFD-A01E-AAD64AC5DDEA}"/>
                </a:ext>
              </a:extLst>
            </p:cNvPr>
            <p:cNvSpPr/>
            <p:nvPr/>
          </p:nvSpPr>
          <p:spPr>
            <a:xfrm>
              <a:off x="6096000" y="16764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onsolas" panose="020B0609020204030204" pitchFamily="49" charset="0"/>
                </a:rPr>
                <a:t>Start</a:t>
              </a:r>
              <a:endParaRPr lang="en-US" sz="1400" dirty="0">
                <a:latin typeface="Consolas" panose="020B0609020204030204" pitchFamily="49" charset="0"/>
              </a:endParaRPr>
            </a:p>
          </p:txBody>
        </p:sp>
        <p:cxnSp>
          <p:nvCxnSpPr>
            <p:cNvPr id="12" name="Straight Arrow Connector 45">
              <a:extLst>
                <a:ext uri="{FF2B5EF4-FFF2-40B4-BE49-F238E27FC236}">
                  <a16:creationId xmlns:a16="http://schemas.microsoft.com/office/drawing/2014/main" id="{9051A50B-AB6E-4493-8868-C9DF66967503}"/>
                </a:ext>
              </a:extLst>
            </p:cNvPr>
            <p:cNvCxnSpPr>
              <a:stCxn id="11" idx="2"/>
              <a:endCxn id="16" idx="1"/>
            </p:cNvCxnSpPr>
            <p:nvPr/>
          </p:nvCxnSpPr>
          <p:spPr>
            <a:xfrm flipH="1">
              <a:off x="6625949" y="1981200"/>
              <a:ext cx="3451"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48">
              <a:extLst>
                <a:ext uri="{FF2B5EF4-FFF2-40B4-BE49-F238E27FC236}">
                  <a16:creationId xmlns:a16="http://schemas.microsoft.com/office/drawing/2014/main" id="{2D47612B-D0F0-4250-A4CE-1F35C465ABBA}"/>
                </a:ext>
              </a:extLst>
            </p:cNvPr>
            <p:cNvCxnSpPr>
              <a:cxnSpLocks/>
              <a:stCxn id="20" idx="2"/>
              <a:endCxn id="14" idx="1"/>
            </p:cNvCxnSpPr>
            <p:nvPr/>
          </p:nvCxnSpPr>
          <p:spPr>
            <a:xfrm>
              <a:off x="6619284" y="3276600"/>
              <a:ext cx="10116" cy="3048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Flowchart: Data 52">
              <a:extLst>
                <a:ext uri="{FF2B5EF4-FFF2-40B4-BE49-F238E27FC236}">
                  <a16:creationId xmlns:a16="http://schemas.microsoft.com/office/drawing/2014/main" id="{E361922E-13D4-46F4-B75F-BCE001C961DE}"/>
                </a:ext>
              </a:extLst>
            </p:cNvPr>
            <p:cNvSpPr/>
            <p:nvPr/>
          </p:nvSpPr>
          <p:spPr>
            <a:xfrm>
              <a:off x="5867400" y="3581400"/>
              <a:ext cx="1524000"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Print </a:t>
              </a:r>
              <a:r>
                <a:rPr lang="en-US" sz="1200" b="1" dirty="0">
                  <a:latin typeface="Century Gothic" panose="020B0502020202020204" pitchFamily="34" charset="0"/>
                </a:rPr>
                <a:t>area</a:t>
              </a:r>
            </a:p>
          </p:txBody>
        </p:sp>
        <p:cxnSp>
          <p:nvCxnSpPr>
            <p:cNvPr id="15" name="Straight Arrow Connector 53">
              <a:extLst>
                <a:ext uri="{FF2B5EF4-FFF2-40B4-BE49-F238E27FC236}">
                  <a16:creationId xmlns:a16="http://schemas.microsoft.com/office/drawing/2014/main" id="{EA801BA7-4896-4264-ABEE-8BAA88F8A184}"/>
                </a:ext>
              </a:extLst>
            </p:cNvPr>
            <p:cNvCxnSpPr>
              <a:stCxn id="14" idx="4"/>
              <a:endCxn id="10" idx="0"/>
            </p:cNvCxnSpPr>
            <p:nvPr/>
          </p:nvCxnSpPr>
          <p:spPr>
            <a:xfrm>
              <a:off x="6629400" y="3962400"/>
              <a:ext cx="0"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Flowchart: Data 68">
              <a:extLst>
                <a:ext uri="{FF2B5EF4-FFF2-40B4-BE49-F238E27FC236}">
                  <a16:creationId xmlns:a16="http://schemas.microsoft.com/office/drawing/2014/main" id="{824E4CFB-3BAD-4BBF-8874-88DE4B143378}"/>
                </a:ext>
              </a:extLst>
            </p:cNvPr>
            <p:cNvSpPr/>
            <p:nvPr/>
          </p:nvSpPr>
          <p:spPr>
            <a:xfrm>
              <a:off x="5687178" y="2209800"/>
              <a:ext cx="1877541" cy="4572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Read </a:t>
              </a:r>
              <a:r>
                <a:rPr lang="en-US" sz="1200" b="1" dirty="0">
                  <a:latin typeface="Century Gothic" panose="020B0502020202020204" pitchFamily="34" charset="0"/>
                </a:rPr>
                <a:t>base</a:t>
              </a:r>
              <a:br>
                <a:rPr lang="en-US" sz="1200" b="1" dirty="0">
                  <a:latin typeface="Century Gothic" panose="020B0502020202020204" pitchFamily="34" charset="0"/>
                </a:rPr>
              </a:br>
              <a:r>
                <a:rPr lang="en-US" sz="1200" dirty="0">
                  <a:latin typeface="Century Gothic" panose="020B0502020202020204" pitchFamily="34" charset="0"/>
                </a:rPr>
                <a:t>Read</a:t>
              </a:r>
              <a:r>
                <a:rPr lang="en-US" sz="1200" b="1" dirty="0">
                  <a:latin typeface="Century Gothic" panose="020B0502020202020204" pitchFamily="34" charset="0"/>
                </a:rPr>
                <a:t> height</a:t>
              </a:r>
            </a:p>
          </p:txBody>
        </p:sp>
        <p:cxnSp>
          <p:nvCxnSpPr>
            <p:cNvPr id="17" name="Straight Arrow Connector 47">
              <a:extLst>
                <a:ext uri="{FF2B5EF4-FFF2-40B4-BE49-F238E27FC236}">
                  <a16:creationId xmlns:a16="http://schemas.microsoft.com/office/drawing/2014/main" id="{F324399F-D3EA-4B1A-AEA2-7D008C74C4B2}"/>
                </a:ext>
              </a:extLst>
            </p:cNvPr>
            <p:cNvCxnSpPr>
              <a:cxnSpLocks/>
              <a:stCxn id="16" idx="4"/>
              <a:endCxn id="20" idx="0"/>
            </p:cNvCxnSpPr>
            <p:nvPr/>
          </p:nvCxnSpPr>
          <p:spPr>
            <a:xfrm flipH="1">
              <a:off x="6619284" y="2667000"/>
              <a:ext cx="6665"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Flowchart: Process 42">
              <a:extLst>
                <a:ext uri="{FF2B5EF4-FFF2-40B4-BE49-F238E27FC236}">
                  <a16:creationId xmlns:a16="http://schemas.microsoft.com/office/drawing/2014/main" id="{C22D62E2-2212-4814-B8D3-1253C68D397F}"/>
                </a:ext>
              </a:extLst>
            </p:cNvPr>
            <p:cNvSpPr/>
            <p:nvPr/>
          </p:nvSpPr>
          <p:spPr>
            <a:xfrm>
              <a:off x="5569827" y="2895600"/>
              <a:ext cx="2098914" cy="381000"/>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sym typeface="Wingdings" pitchFamily="2" charset="2"/>
                </a:rPr>
                <a:t>area  (base</a:t>
              </a:r>
              <a:r>
                <a:rPr lang="en-US" sz="1200" dirty="0">
                  <a:latin typeface="Century Gothic" panose="020B0502020202020204" pitchFamily="34" charset="0"/>
                </a:rPr>
                <a:t> * height)/2</a:t>
              </a:r>
            </a:p>
          </p:txBody>
        </p:sp>
      </p:grpSp>
      <p:sp>
        <p:nvSpPr>
          <p:cNvPr id="3" name="CuadroTexto 2">
            <a:extLst>
              <a:ext uri="{FF2B5EF4-FFF2-40B4-BE49-F238E27FC236}">
                <a16:creationId xmlns:a16="http://schemas.microsoft.com/office/drawing/2014/main" id="{131C0330-8617-4403-A7FB-A187CA998E1A}"/>
              </a:ext>
            </a:extLst>
          </p:cNvPr>
          <p:cNvSpPr txBox="1"/>
          <p:nvPr/>
        </p:nvSpPr>
        <p:spPr>
          <a:xfrm>
            <a:off x="1161560" y="2060848"/>
            <a:ext cx="1881990" cy="369332"/>
          </a:xfrm>
          <a:prstGeom prst="rect">
            <a:avLst/>
          </a:prstGeom>
          <a:noFill/>
        </p:spPr>
        <p:txBody>
          <a:bodyPr wrap="none" rtlCol="0">
            <a:spAutoFit/>
          </a:bodyPr>
          <a:lstStyle/>
          <a:p>
            <a:r>
              <a:rPr lang="es-CO" b="1" dirty="0"/>
              <a:t>Diagrama de flujo</a:t>
            </a:r>
          </a:p>
        </p:txBody>
      </p:sp>
      <p:sp>
        <p:nvSpPr>
          <p:cNvPr id="23" name="CuadroTexto 22">
            <a:extLst>
              <a:ext uri="{FF2B5EF4-FFF2-40B4-BE49-F238E27FC236}">
                <a16:creationId xmlns:a16="http://schemas.microsoft.com/office/drawing/2014/main" id="{ADFEDF5D-D485-401D-9A48-F53551073AF2}"/>
              </a:ext>
            </a:extLst>
          </p:cNvPr>
          <p:cNvSpPr txBox="1"/>
          <p:nvPr/>
        </p:nvSpPr>
        <p:spPr>
          <a:xfrm>
            <a:off x="5003581" y="1958733"/>
            <a:ext cx="2193742" cy="369332"/>
          </a:xfrm>
          <a:prstGeom prst="rect">
            <a:avLst/>
          </a:prstGeom>
          <a:noFill/>
        </p:spPr>
        <p:txBody>
          <a:bodyPr wrap="none" rtlCol="0">
            <a:spAutoFit/>
          </a:bodyPr>
          <a:lstStyle/>
          <a:p>
            <a:r>
              <a:rPr lang="es-CO" b="1" dirty="0"/>
              <a:t>Pseudocódigo simple</a:t>
            </a:r>
          </a:p>
        </p:txBody>
      </p:sp>
      <p:sp>
        <p:nvSpPr>
          <p:cNvPr id="24" name="CuadroTexto 23">
            <a:extLst>
              <a:ext uri="{FF2B5EF4-FFF2-40B4-BE49-F238E27FC236}">
                <a16:creationId xmlns:a16="http://schemas.microsoft.com/office/drawing/2014/main" id="{F536CB98-75CC-4CE3-9A45-4B79C5F8FE1C}"/>
              </a:ext>
            </a:extLst>
          </p:cNvPr>
          <p:cNvSpPr txBox="1"/>
          <p:nvPr/>
        </p:nvSpPr>
        <p:spPr>
          <a:xfrm>
            <a:off x="4532255" y="4078813"/>
            <a:ext cx="3162459" cy="646331"/>
          </a:xfrm>
          <a:prstGeom prst="rect">
            <a:avLst/>
          </a:prstGeom>
          <a:noFill/>
        </p:spPr>
        <p:txBody>
          <a:bodyPr wrap="square" rtlCol="0">
            <a:spAutoFit/>
          </a:bodyPr>
          <a:lstStyle/>
          <a:p>
            <a:pPr algn="ctr"/>
            <a:r>
              <a:rPr lang="es-CO" b="1" dirty="0"/>
              <a:t>Pseudocódigo con declaración de variables</a:t>
            </a:r>
          </a:p>
        </p:txBody>
      </p:sp>
    </p:spTree>
    <p:extLst>
      <p:ext uri="{BB962C8B-B14F-4D97-AF65-F5344CB8AC3E}">
        <p14:creationId xmlns:p14="http://schemas.microsoft.com/office/powerpoint/2010/main" val="3814303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88640"/>
            <a:ext cx="8496944" cy="1116540"/>
          </a:xfrm>
        </p:spPr>
        <p:txBody>
          <a:bodyPr>
            <a:normAutofit/>
          </a:bodyPr>
          <a:lstStyle/>
          <a:p>
            <a:r>
              <a:rPr lang="es-CO" sz="2800" dirty="0"/>
              <a:t>Representación de algoritmos como diagramas de flujo</a:t>
            </a:r>
          </a:p>
        </p:txBody>
      </p:sp>
      <p:sp>
        <p:nvSpPr>
          <p:cNvPr id="19" name="1 Marcador de contenido">
            <a:extLst>
              <a:ext uri="{FF2B5EF4-FFF2-40B4-BE49-F238E27FC236}">
                <a16:creationId xmlns:a16="http://schemas.microsoft.com/office/drawing/2014/main" id="{B631F62A-D66E-4371-95AA-24391170E54B}"/>
              </a:ext>
            </a:extLst>
          </p:cNvPr>
          <p:cNvSpPr txBox="1">
            <a:spLocks noGrp="1"/>
          </p:cNvSpPr>
          <p:nvPr>
            <p:ph idx="1"/>
          </p:nvPr>
        </p:nvSpPr>
        <p:spPr>
          <a:xfrm>
            <a:off x="213692" y="1107140"/>
            <a:ext cx="7886700" cy="76931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200" b="1" dirty="0">
                <a:solidFill>
                  <a:srgbClr val="FF0000"/>
                </a:solidFill>
              </a:rPr>
              <a:t>Ejemplo 2</a:t>
            </a:r>
            <a:r>
              <a:rPr lang="es-CO" sz="2200" dirty="0">
                <a:solidFill>
                  <a:srgbClr val="FF0000"/>
                </a:solidFill>
              </a:rPr>
              <a:t>:</a:t>
            </a:r>
            <a:r>
              <a:rPr lang="es-CO" sz="2200" dirty="0"/>
              <a:t> Se requiere diseñar un algoritmo que </a:t>
            </a:r>
            <a:r>
              <a:rPr lang="es-CO" sz="2200" b="1" dirty="0"/>
              <a:t>calcule el número de meses que hay entre los años A y B</a:t>
            </a:r>
            <a:r>
              <a:rPr lang="es-CO" sz="2200" dirty="0"/>
              <a:t>.</a:t>
            </a:r>
          </a:p>
        </p:txBody>
      </p:sp>
      <p:sp>
        <p:nvSpPr>
          <p:cNvPr id="18" name="CuadroTexto 17">
            <a:extLst>
              <a:ext uri="{FF2B5EF4-FFF2-40B4-BE49-F238E27FC236}">
                <a16:creationId xmlns:a16="http://schemas.microsoft.com/office/drawing/2014/main" id="{34E5D085-94D4-43C0-8473-67CBA574C210}"/>
              </a:ext>
            </a:extLst>
          </p:cNvPr>
          <p:cNvSpPr txBox="1"/>
          <p:nvPr/>
        </p:nvSpPr>
        <p:spPr>
          <a:xfrm>
            <a:off x="4585054" y="4651502"/>
            <a:ext cx="4032448" cy="2031325"/>
          </a:xfrm>
          <a:prstGeom prst="rect">
            <a:avLst/>
          </a:prstGeom>
          <a:noFill/>
          <a:ln>
            <a:solidFill>
              <a:schemeClr val="tx1"/>
            </a:solidFill>
          </a:ln>
        </p:spPr>
        <p:txBody>
          <a:bodyPr wrap="square">
            <a:spAutoFit/>
          </a:bodyPr>
          <a:lstStyle/>
          <a:p>
            <a:r>
              <a:rPr lang="es-CO" sz="1400" b="1" dirty="0">
                <a:latin typeface="Consolas" panose="020B0609020204030204" pitchFamily="49" charset="0"/>
              </a:rPr>
              <a:t>Inicio</a:t>
            </a:r>
            <a:endParaRPr lang="es-CO" sz="1400" dirty="0">
              <a:latin typeface="Consolas" panose="020B0609020204030204" pitchFamily="49" charset="0"/>
            </a:endParaRPr>
          </a:p>
          <a:p>
            <a:r>
              <a:rPr lang="es-CO" sz="1400" dirty="0">
                <a:latin typeface="Consolas" panose="020B0609020204030204" pitchFamily="49" charset="0"/>
              </a:rPr>
              <a:t>  </a:t>
            </a:r>
            <a:r>
              <a:rPr lang="es-CO" sz="1400" dirty="0">
                <a:solidFill>
                  <a:srgbClr val="00B050"/>
                </a:solidFill>
                <a:latin typeface="Consolas" panose="020B0609020204030204" pitchFamily="49" charset="0"/>
              </a:rPr>
              <a:t>Entero</a:t>
            </a:r>
            <a:r>
              <a:rPr lang="es-CO" sz="1400" dirty="0">
                <a:latin typeface="Consolas" panose="020B0609020204030204" pitchFamily="49" charset="0"/>
              </a:rPr>
              <a:t> init_year, final_year</a:t>
            </a:r>
          </a:p>
          <a:p>
            <a:r>
              <a:rPr lang="es-CO" sz="1400" dirty="0">
                <a:latin typeface="Consolas" panose="020B0609020204030204" pitchFamily="49" charset="0"/>
              </a:rPr>
              <a:t>  </a:t>
            </a:r>
            <a:r>
              <a:rPr lang="es-CO" sz="1400" dirty="0">
                <a:solidFill>
                  <a:srgbClr val="00B050"/>
                </a:solidFill>
                <a:latin typeface="Consolas" panose="020B0609020204030204" pitchFamily="49" charset="0"/>
              </a:rPr>
              <a:t>Entero</a:t>
            </a:r>
            <a:r>
              <a:rPr lang="es-CO" sz="1400" dirty="0">
                <a:latin typeface="Consolas" panose="020B0609020204030204" pitchFamily="49" charset="0"/>
              </a:rPr>
              <a:t> years, months    </a:t>
            </a:r>
          </a:p>
          <a:p>
            <a:r>
              <a:rPr lang="es-CO" sz="1400" dirty="0">
                <a:latin typeface="Consolas" panose="020B0609020204030204" pitchFamily="49" charset="0"/>
              </a:rPr>
              <a:t>  Leer(init_year) </a:t>
            </a:r>
          </a:p>
          <a:p>
            <a:r>
              <a:rPr lang="es-CO" sz="1400" dirty="0">
                <a:latin typeface="Consolas" panose="020B0609020204030204" pitchFamily="49" charset="0"/>
              </a:rPr>
              <a:t>  Leer(final_year)</a:t>
            </a:r>
          </a:p>
          <a:p>
            <a:r>
              <a:rPr lang="es-CO" sz="1400" dirty="0">
                <a:latin typeface="Consolas" panose="020B0609020204030204" pitchFamily="49" charset="0"/>
              </a:rPr>
              <a:t>  years = final_year – init_year</a:t>
            </a:r>
          </a:p>
          <a:p>
            <a:r>
              <a:rPr lang="es-CO" sz="1400" dirty="0">
                <a:solidFill>
                  <a:schemeClr val="bg1">
                    <a:lumMod val="50000"/>
                  </a:schemeClr>
                </a:solidFill>
                <a:latin typeface="Consolas" panose="020B0609020204030204" pitchFamily="49" charset="0"/>
              </a:rPr>
              <a:t>  </a:t>
            </a:r>
            <a:r>
              <a:rPr lang="es-CO" sz="1400" dirty="0">
                <a:latin typeface="Consolas" panose="020B0609020204030204" pitchFamily="49" charset="0"/>
              </a:rPr>
              <a:t>months = 12*years</a:t>
            </a:r>
            <a:endParaRPr lang="es-CO" sz="1400" dirty="0">
              <a:solidFill>
                <a:schemeClr val="bg1">
                  <a:lumMod val="50000"/>
                </a:schemeClr>
              </a:solidFill>
              <a:latin typeface="Consolas" panose="020B0609020204030204" pitchFamily="49" charset="0"/>
            </a:endParaRPr>
          </a:p>
          <a:p>
            <a:r>
              <a:rPr lang="es-CO" sz="1400" dirty="0">
                <a:latin typeface="Consolas" panose="020B0609020204030204" pitchFamily="49" charset="0"/>
              </a:rPr>
              <a:t>  Escribir(months)</a:t>
            </a:r>
          </a:p>
          <a:p>
            <a:r>
              <a:rPr lang="es-CO" sz="1400" b="1" dirty="0">
                <a:latin typeface="Consolas" panose="020B0609020204030204" pitchFamily="49" charset="0"/>
              </a:rPr>
              <a:t>Fin</a:t>
            </a:r>
          </a:p>
        </p:txBody>
      </p:sp>
      <p:sp>
        <p:nvSpPr>
          <p:cNvPr id="6" name="CuadroTexto 5">
            <a:extLst>
              <a:ext uri="{FF2B5EF4-FFF2-40B4-BE49-F238E27FC236}">
                <a16:creationId xmlns:a16="http://schemas.microsoft.com/office/drawing/2014/main" id="{FD8722B4-F117-4B2C-9350-B8C511A6B858}"/>
              </a:ext>
            </a:extLst>
          </p:cNvPr>
          <p:cNvSpPr txBox="1"/>
          <p:nvPr/>
        </p:nvSpPr>
        <p:spPr>
          <a:xfrm>
            <a:off x="4644008" y="2309456"/>
            <a:ext cx="4032448" cy="1600438"/>
          </a:xfrm>
          <a:prstGeom prst="rect">
            <a:avLst/>
          </a:prstGeom>
          <a:noFill/>
          <a:ln>
            <a:solidFill>
              <a:schemeClr val="tx1"/>
            </a:solidFill>
          </a:ln>
        </p:spPr>
        <p:txBody>
          <a:bodyPr wrap="square">
            <a:spAutoFit/>
          </a:bodyPr>
          <a:lstStyle/>
          <a:p>
            <a:r>
              <a:rPr lang="es-CO" sz="1400" b="1" dirty="0">
                <a:latin typeface="Consolas" panose="020B0609020204030204" pitchFamily="49" charset="0"/>
              </a:rPr>
              <a:t>Inicio</a:t>
            </a:r>
            <a:endParaRPr lang="es-CO" sz="1400" dirty="0">
              <a:latin typeface="Consolas" panose="020B0609020204030204" pitchFamily="49" charset="0"/>
            </a:endParaRPr>
          </a:p>
          <a:p>
            <a:r>
              <a:rPr lang="es-CO" sz="1400" dirty="0">
                <a:latin typeface="Consolas" panose="020B0609020204030204" pitchFamily="49" charset="0"/>
              </a:rPr>
              <a:t>  Leer(init_year)</a:t>
            </a:r>
          </a:p>
          <a:p>
            <a:r>
              <a:rPr lang="es-CO" sz="1400" dirty="0">
                <a:latin typeface="Consolas" panose="020B0609020204030204" pitchFamily="49" charset="0"/>
              </a:rPr>
              <a:t>  Leer(final_year)</a:t>
            </a:r>
          </a:p>
          <a:p>
            <a:r>
              <a:rPr lang="es-CO" sz="1400" dirty="0">
                <a:latin typeface="Consolas" panose="020B0609020204030204" pitchFamily="49" charset="0"/>
              </a:rPr>
              <a:t>  years = final_year – init_year</a:t>
            </a:r>
          </a:p>
          <a:p>
            <a:r>
              <a:rPr lang="es-CO" sz="1400" dirty="0">
                <a:solidFill>
                  <a:schemeClr val="bg1">
                    <a:lumMod val="50000"/>
                  </a:schemeClr>
                </a:solidFill>
                <a:latin typeface="Consolas" panose="020B0609020204030204" pitchFamily="49" charset="0"/>
              </a:rPr>
              <a:t>  </a:t>
            </a:r>
            <a:r>
              <a:rPr lang="es-CO" sz="1400" dirty="0">
                <a:latin typeface="Consolas" panose="020B0609020204030204" pitchFamily="49" charset="0"/>
              </a:rPr>
              <a:t>months = 12*years</a:t>
            </a:r>
            <a:endParaRPr lang="es-CO" sz="1400" dirty="0">
              <a:solidFill>
                <a:schemeClr val="bg1">
                  <a:lumMod val="50000"/>
                </a:schemeClr>
              </a:solidFill>
              <a:latin typeface="Consolas" panose="020B0609020204030204" pitchFamily="49" charset="0"/>
            </a:endParaRPr>
          </a:p>
          <a:p>
            <a:r>
              <a:rPr lang="es-CO" sz="1400" dirty="0">
                <a:latin typeface="Consolas" panose="020B0609020204030204" pitchFamily="49" charset="0"/>
              </a:rPr>
              <a:t>  Escribir(months)</a:t>
            </a:r>
          </a:p>
          <a:p>
            <a:r>
              <a:rPr lang="es-CO" sz="1400" b="1" dirty="0">
                <a:latin typeface="Consolas" panose="020B0609020204030204" pitchFamily="49" charset="0"/>
              </a:rPr>
              <a:t>Fin</a:t>
            </a:r>
          </a:p>
        </p:txBody>
      </p:sp>
      <p:sp>
        <p:nvSpPr>
          <p:cNvPr id="7" name="CuadroTexto 6">
            <a:extLst>
              <a:ext uri="{FF2B5EF4-FFF2-40B4-BE49-F238E27FC236}">
                <a16:creationId xmlns:a16="http://schemas.microsoft.com/office/drawing/2014/main" id="{3ED1329B-1996-446F-BA4D-F57268E1D89D}"/>
              </a:ext>
            </a:extLst>
          </p:cNvPr>
          <p:cNvSpPr txBox="1"/>
          <p:nvPr/>
        </p:nvSpPr>
        <p:spPr>
          <a:xfrm>
            <a:off x="5422291" y="1872504"/>
            <a:ext cx="2193742" cy="369332"/>
          </a:xfrm>
          <a:prstGeom prst="rect">
            <a:avLst/>
          </a:prstGeom>
          <a:noFill/>
        </p:spPr>
        <p:txBody>
          <a:bodyPr wrap="none" rtlCol="0">
            <a:spAutoFit/>
          </a:bodyPr>
          <a:lstStyle/>
          <a:p>
            <a:r>
              <a:rPr lang="es-CO" b="1" dirty="0"/>
              <a:t>Pseudocódigo simple</a:t>
            </a:r>
          </a:p>
        </p:txBody>
      </p:sp>
      <p:sp>
        <p:nvSpPr>
          <p:cNvPr id="8" name="CuadroTexto 7">
            <a:extLst>
              <a:ext uri="{FF2B5EF4-FFF2-40B4-BE49-F238E27FC236}">
                <a16:creationId xmlns:a16="http://schemas.microsoft.com/office/drawing/2014/main" id="{9F4023A9-6CFD-4F9F-9200-30CF0A218B32}"/>
              </a:ext>
            </a:extLst>
          </p:cNvPr>
          <p:cNvSpPr txBox="1"/>
          <p:nvPr/>
        </p:nvSpPr>
        <p:spPr>
          <a:xfrm>
            <a:off x="4937933" y="3988953"/>
            <a:ext cx="3162459" cy="646331"/>
          </a:xfrm>
          <a:prstGeom prst="rect">
            <a:avLst/>
          </a:prstGeom>
          <a:noFill/>
        </p:spPr>
        <p:txBody>
          <a:bodyPr wrap="square" rtlCol="0">
            <a:spAutoFit/>
          </a:bodyPr>
          <a:lstStyle/>
          <a:p>
            <a:pPr algn="ctr"/>
            <a:r>
              <a:rPr lang="es-CO" b="1" dirty="0"/>
              <a:t>Pseudocódigo con declaración de variables</a:t>
            </a:r>
          </a:p>
        </p:txBody>
      </p:sp>
      <p:grpSp>
        <p:nvGrpSpPr>
          <p:cNvPr id="9" name="53 Grupo">
            <a:extLst>
              <a:ext uri="{FF2B5EF4-FFF2-40B4-BE49-F238E27FC236}">
                <a16:creationId xmlns:a16="http://schemas.microsoft.com/office/drawing/2014/main" id="{FD7ACAC4-BAA9-4A91-A7B7-492A640F2D2C}"/>
              </a:ext>
            </a:extLst>
          </p:cNvPr>
          <p:cNvGrpSpPr/>
          <p:nvPr/>
        </p:nvGrpSpPr>
        <p:grpSpPr>
          <a:xfrm>
            <a:off x="884625" y="2612478"/>
            <a:ext cx="2575938" cy="3404074"/>
            <a:chOff x="5569827" y="1676400"/>
            <a:chExt cx="2098914" cy="3148769"/>
          </a:xfrm>
        </p:grpSpPr>
        <p:sp>
          <p:nvSpPr>
            <p:cNvPr id="10" name="Flowchart: Terminator 43">
              <a:extLst>
                <a:ext uri="{FF2B5EF4-FFF2-40B4-BE49-F238E27FC236}">
                  <a16:creationId xmlns:a16="http://schemas.microsoft.com/office/drawing/2014/main" id="{A971D748-FE21-484D-835B-6F0B02E45A42}"/>
                </a:ext>
              </a:extLst>
            </p:cNvPr>
            <p:cNvSpPr/>
            <p:nvPr/>
          </p:nvSpPr>
          <p:spPr>
            <a:xfrm>
              <a:off x="6096000" y="4520369"/>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entury Gothic" panose="020B0502020202020204" pitchFamily="34" charset="0"/>
                </a:rPr>
                <a:t>Finish</a:t>
              </a:r>
              <a:endParaRPr lang="en-US" sz="1400" dirty="0">
                <a:latin typeface="Century Gothic" panose="020B0502020202020204" pitchFamily="34" charset="0"/>
              </a:endParaRPr>
            </a:p>
          </p:txBody>
        </p:sp>
        <p:sp>
          <p:nvSpPr>
            <p:cNvPr id="11" name="Flowchart: Terminator 44">
              <a:extLst>
                <a:ext uri="{FF2B5EF4-FFF2-40B4-BE49-F238E27FC236}">
                  <a16:creationId xmlns:a16="http://schemas.microsoft.com/office/drawing/2014/main" id="{AE165B7C-6E69-4A8C-97EE-2F837FDFCE28}"/>
                </a:ext>
              </a:extLst>
            </p:cNvPr>
            <p:cNvSpPr/>
            <p:nvPr/>
          </p:nvSpPr>
          <p:spPr>
            <a:xfrm>
              <a:off x="6096000" y="1676400"/>
              <a:ext cx="1066800" cy="304800"/>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200" dirty="0">
                  <a:latin typeface="Consolas" panose="020B0609020204030204" pitchFamily="49" charset="0"/>
                </a:rPr>
                <a:t>Start</a:t>
              </a:r>
              <a:endParaRPr lang="en-US" sz="1400" dirty="0">
                <a:latin typeface="Consolas" panose="020B0609020204030204" pitchFamily="49" charset="0"/>
              </a:endParaRPr>
            </a:p>
          </p:txBody>
        </p:sp>
        <p:cxnSp>
          <p:nvCxnSpPr>
            <p:cNvPr id="12" name="Straight Arrow Connector 45">
              <a:extLst>
                <a:ext uri="{FF2B5EF4-FFF2-40B4-BE49-F238E27FC236}">
                  <a16:creationId xmlns:a16="http://schemas.microsoft.com/office/drawing/2014/main" id="{8DBF81CA-5E18-4459-AA8D-80C7A548B121}"/>
                </a:ext>
              </a:extLst>
            </p:cNvPr>
            <p:cNvCxnSpPr>
              <a:stCxn id="11" idx="2"/>
              <a:endCxn id="16" idx="1"/>
            </p:cNvCxnSpPr>
            <p:nvPr/>
          </p:nvCxnSpPr>
          <p:spPr>
            <a:xfrm flipH="1">
              <a:off x="6625949" y="1981200"/>
              <a:ext cx="3451"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48">
              <a:extLst>
                <a:ext uri="{FF2B5EF4-FFF2-40B4-BE49-F238E27FC236}">
                  <a16:creationId xmlns:a16="http://schemas.microsoft.com/office/drawing/2014/main" id="{874FCC7E-FE44-4857-A0CD-81FD916A7CD5}"/>
                </a:ext>
              </a:extLst>
            </p:cNvPr>
            <p:cNvCxnSpPr>
              <a:cxnSpLocks/>
              <a:stCxn id="20" idx="2"/>
              <a:endCxn id="14" idx="1"/>
            </p:cNvCxnSpPr>
            <p:nvPr/>
          </p:nvCxnSpPr>
          <p:spPr>
            <a:xfrm>
              <a:off x="6619284" y="3522617"/>
              <a:ext cx="10116" cy="38815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Flowchart: Data 52">
              <a:extLst>
                <a:ext uri="{FF2B5EF4-FFF2-40B4-BE49-F238E27FC236}">
                  <a16:creationId xmlns:a16="http://schemas.microsoft.com/office/drawing/2014/main" id="{16DE0DA7-F1A1-47CB-BD56-05F759F0BCA7}"/>
                </a:ext>
              </a:extLst>
            </p:cNvPr>
            <p:cNvSpPr/>
            <p:nvPr/>
          </p:nvSpPr>
          <p:spPr>
            <a:xfrm>
              <a:off x="5867400" y="3910769"/>
              <a:ext cx="1524000" cy="3810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Print </a:t>
              </a:r>
              <a:r>
                <a:rPr lang="en-US" sz="1200" b="1" dirty="0">
                  <a:latin typeface="Century Gothic" panose="020B0502020202020204" pitchFamily="34" charset="0"/>
                </a:rPr>
                <a:t>months</a:t>
              </a:r>
            </a:p>
          </p:txBody>
        </p:sp>
        <p:cxnSp>
          <p:nvCxnSpPr>
            <p:cNvPr id="15" name="Straight Arrow Connector 53">
              <a:extLst>
                <a:ext uri="{FF2B5EF4-FFF2-40B4-BE49-F238E27FC236}">
                  <a16:creationId xmlns:a16="http://schemas.microsoft.com/office/drawing/2014/main" id="{FB32B00C-B468-4D3B-AEBD-BBA657493011}"/>
                </a:ext>
              </a:extLst>
            </p:cNvPr>
            <p:cNvCxnSpPr>
              <a:stCxn id="14" idx="4"/>
              <a:endCxn id="10" idx="0"/>
            </p:cNvCxnSpPr>
            <p:nvPr/>
          </p:nvCxnSpPr>
          <p:spPr>
            <a:xfrm>
              <a:off x="6629400" y="4291767"/>
              <a:ext cx="0" cy="22860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 name="Flowchart: Data 68">
              <a:extLst>
                <a:ext uri="{FF2B5EF4-FFF2-40B4-BE49-F238E27FC236}">
                  <a16:creationId xmlns:a16="http://schemas.microsoft.com/office/drawing/2014/main" id="{9F200A12-F529-4607-A254-66FC148BD8CC}"/>
                </a:ext>
              </a:extLst>
            </p:cNvPr>
            <p:cNvSpPr/>
            <p:nvPr/>
          </p:nvSpPr>
          <p:spPr>
            <a:xfrm>
              <a:off x="5687178" y="2209800"/>
              <a:ext cx="1877541" cy="45720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rPr>
                <a:t>Read </a:t>
              </a:r>
              <a:r>
                <a:rPr lang="en-US" sz="1200" b="1" dirty="0">
                  <a:latin typeface="Century Gothic" panose="020B0502020202020204" pitchFamily="34" charset="0"/>
                </a:rPr>
                <a:t>init_year. final_year</a:t>
              </a:r>
            </a:p>
          </p:txBody>
        </p:sp>
        <p:cxnSp>
          <p:nvCxnSpPr>
            <p:cNvPr id="17" name="Straight Arrow Connector 47">
              <a:extLst>
                <a:ext uri="{FF2B5EF4-FFF2-40B4-BE49-F238E27FC236}">
                  <a16:creationId xmlns:a16="http://schemas.microsoft.com/office/drawing/2014/main" id="{9258C299-4292-4814-B243-CA9E5F023396}"/>
                </a:ext>
              </a:extLst>
            </p:cNvPr>
            <p:cNvCxnSpPr>
              <a:cxnSpLocks/>
              <a:stCxn id="16" idx="4"/>
              <a:endCxn id="20" idx="0"/>
            </p:cNvCxnSpPr>
            <p:nvPr/>
          </p:nvCxnSpPr>
          <p:spPr>
            <a:xfrm flipH="1">
              <a:off x="6619284" y="2667000"/>
              <a:ext cx="6665" cy="228599"/>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Flowchart: Process 42">
              <a:extLst>
                <a:ext uri="{FF2B5EF4-FFF2-40B4-BE49-F238E27FC236}">
                  <a16:creationId xmlns:a16="http://schemas.microsoft.com/office/drawing/2014/main" id="{10F7FD7B-0B2C-43D3-B74E-3D4BBBB524D5}"/>
                </a:ext>
              </a:extLst>
            </p:cNvPr>
            <p:cNvSpPr/>
            <p:nvPr/>
          </p:nvSpPr>
          <p:spPr>
            <a:xfrm>
              <a:off x="5569827" y="2895599"/>
              <a:ext cx="2098914" cy="627018"/>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latin typeface="Century Gothic" panose="020B0502020202020204" pitchFamily="34" charset="0"/>
                  <a:sym typeface="Wingdings" pitchFamily="2" charset="2"/>
                </a:rPr>
                <a:t>years </a:t>
              </a:r>
              <a:r>
                <a:rPr lang="en-US" sz="1200" dirty="0">
                  <a:latin typeface="Century Gothic" panose="020B0502020202020204" pitchFamily="34" charset="0"/>
                </a:rPr>
                <a:t> final_year – init_year</a:t>
              </a:r>
            </a:p>
            <a:p>
              <a:pPr algn="ctr"/>
              <a:r>
                <a:rPr lang="en-US" sz="1200" dirty="0">
                  <a:latin typeface="Century Gothic" panose="020B0502020202020204" pitchFamily="34" charset="0"/>
                </a:rPr>
                <a:t>months = 12*years</a:t>
              </a:r>
            </a:p>
          </p:txBody>
        </p:sp>
      </p:grpSp>
    </p:spTree>
    <p:extLst>
      <p:ext uri="{BB962C8B-B14F-4D97-AF65-F5344CB8AC3E}">
        <p14:creationId xmlns:p14="http://schemas.microsoft.com/office/powerpoint/2010/main" val="30349279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79512" y="188640"/>
            <a:ext cx="8496944" cy="1116540"/>
          </a:xfrm>
        </p:spPr>
        <p:txBody>
          <a:bodyPr>
            <a:normAutofit/>
          </a:bodyPr>
          <a:lstStyle/>
          <a:p>
            <a:r>
              <a:rPr lang="es-CO" sz="2800" dirty="0"/>
              <a:t>Representación de algoritmos como diagramas de flujo</a:t>
            </a:r>
          </a:p>
        </p:txBody>
      </p:sp>
      <p:sp>
        <p:nvSpPr>
          <p:cNvPr id="19" name="1 Marcador de contenido">
            <a:extLst>
              <a:ext uri="{FF2B5EF4-FFF2-40B4-BE49-F238E27FC236}">
                <a16:creationId xmlns:a16="http://schemas.microsoft.com/office/drawing/2014/main" id="{B631F62A-D66E-4371-95AA-24391170E54B}"/>
              </a:ext>
            </a:extLst>
          </p:cNvPr>
          <p:cNvSpPr txBox="1">
            <a:spLocks noGrp="1"/>
          </p:cNvSpPr>
          <p:nvPr>
            <p:ph idx="1"/>
          </p:nvPr>
        </p:nvSpPr>
        <p:spPr>
          <a:xfrm>
            <a:off x="213692" y="1107141"/>
            <a:ext cx="7886700" cy="4451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200" b="1" dirty="0">
                <a:solidFill>
                  <a:srgbClr val="FF0000"/>
                </a:solidFill>
              </a:rPr>
              <a:t>Ejemplo 3</a:t>
            </a:r>
            <a:r>
              <a:rPr lang="es-CO" sz="2200" dirty="0">
                <a:solidFill>
                  <a:srgbClr val="FF0000"/>
                </a:solidFill>
              </a:rPr>
              <a:t>:</a:t>
            </a:r>
            <a:r>
              <a:rPr lang="es-CO" sz="2200" dirty="0"/>
              <a:t> </a:t>
            </a:r>
            <a:r>
              <a:rPr lang="es-MX" sz="2200" dirty="0"/>
              <a:t>Hacer un algoritmo que calcule el área de un circulo</a:t>
            </a:r>
            <a:r>
              <a:rPr lang="es-CO" sz="2200" dirty="0"/>
              <a:t>.</a:t>
            </a:r>
            <a:endParaRPr lang="es-MX" sz="2200" dirty="0"/>
          </a:p>
        </p:txBody>
      </p:sp>
      <p:sp>
        <p:nvSpPr>
          <p:cNvPr id="18" name="CuadroTexto 17">
            <a:extLst>
              <a:ext uri="{FF2B5EF4-FFF2-40B4-BE49-F238E27FC236}">
                <a16:creationId xmlns:a16="http://schemas.microsoft.com/office/drawing/2014/main" id="{34E5D085-94D4-43C0-8473-67CBA574C210}"/>
              </a:ext>
            </a:extLst>
          </p:cNvPr>
          <p:cNvSpPr txBox="1"/>
          <p:nvPr/>
        </p:nvSpPr>
        <p:spPr>
          <a:xfrm>
            <a:off x="4644008" y="4655071"/>
            <a:ext cx="4032448" cy="1815882"/>
          </a:xfrm>
          <a:prstGeom prst="rect">
            <a:avLst/>
          </a:prstGeom>
          <a:noFill/>
          <a:ln>
            <a:solidFill>
              <a:schemeClr val="tx1"/>
            </a:solidFill>
          </a:ln>
        </p:spPr>
        <p:txBody>
          <a:bodyPr wrap="square">
            <a:spAutoFit/>
          </a:bodyPr>
          <a:lstStyle/>
          <a:p>
            <a:r>
              <a:rPr lang="es-CO" sz="1600" b="1" dirty="0">
                <a:latin typeface="Consolas" panose="020B0609020204030204" pitchFamily="49" charset="0"/>
              </a:rPr>
              <a:t>Inicio</a:t>
            </a:r>
            <a:endParaRPr lang="es-CO" sz="1600" dirty="0">
              <a:latin typeface="Consolas" panose="020B0609020204030204" pitchFamily="49" charset="0"/>
            </a:endParaRPr>
          </a:p>
          <a:p>
            <a:r>
              <a:rPr lang="es-CO" sz="1600" dirty="0">
                <a:latin typeface="Consolas" panose="020B0609020204030204" pitchFamily="49" charset="0"/>
              </a:rPr>
              <a:t>  </a:t>
            </a:r>
            <a:r>
              <a:rPr lang="es-CO" sz="1600" dirty="0">
                <a:solidFill>
                  <a:schemeClr val="accent4"/>
                </a:solidFill>
                <a:latin typeface="Consolas" panose="020B0609020204030204" pitchFamily="49" charset="0"/>
              </a:rPr>
              <a:t>Real</a:t>
            </a:r>
            <a:r>
              <a:rPr lang="es-CO" sz="1600" dirty="0">
                <a:latin typeface="Consolas" panose="020B0609020204030204" pitchFamily="49" charset="0"/>
              </a:rPr>
              <a:t> PI = 3.14</a:t>
            </a:r>
          </a:p>
          <a:p>
            <a:r>
              <a:rPr lang="es-CO" sz="1600" dirty="0">
                <a:latin typeface="Consolas" panose="020B0609020204030204" pitchFamily="49" charset="0"/>
              </a:rPr>
              <a:t>  </a:t>
            </a:r>
            <a:r>
              <a:rPr lang="es-CO" sz="1600" dirty="0">
                <a:solidFill>
                  <a:schemeClr val="accent4"/>
                </a:solidFill>
                <a:latin typeface="Consolas" panose="020B0609020204030204" pitchFamily="49" charset="0"/>
              </a:rPr>
              <a:t>Real</a:t>
            </a:r>
            <a:r>
              <a:rPr lang="es-CO" sz="1600" dirty="0">
                <a:latin typeface="Consolas" panose="020B0609020204030204" pitchFamily="49" charset="0"/>
              </a:rPr>
              <a:t> radio, area</a:t>
            </a:r>
          </a:p>
          <a:p>
            <a:r>
              <a:rPr lang="es-CO" sz="1600" dirty="0">
                <a:latin typeface="Consolas" panose="020B0609020204030204" pitchFamily="49" charset="0"/>
              </a:rPr>
              <a:t>  Leer(radio)</a:t>
            </a:r>
          </a:p>
          <a:p>
            <a:r>
              <a:rPr lang="es-CO" sz="1600" dirty="0">
                <a:latin typeface="Consolas" panose="020B0609020204030204" pitchFamily="49" charset="0"/>
              </a:rPr>
              <a:t>  area = PI*(radio**2)</a:t>
            </a:r>
          </a:p>
          <a:p>
            <a:r>
              <a:rPr lang="es-CO" sz="1600" dirty="0">
                <a:latin typeface="Consolas" panose="020B0609020204030204" pitchFamily="49" charset="0"/>
              </a:rPr>
              <a:t>  Escribir(area)</a:t>
            </a:r>
          </a:p>
          <a:p>
            <a:r>
              <a:rPr lang="es-CO" sz="1600" b="1" dirty="0">
                <a:latin typeface="Consolas" panose="020B0609020204030204" pitchFamily="49" charset="0"/>
              </a:rPr>
              <a:t>Fin</a:t>
            </a:r>
          </a:p>
        </p:txBody>
      </p:sp>
      <p:sp>
        <p:nvSpPr>
          <p:cNvPr id="6" name="CuadroTexto 5">
            <a:extLst>
              <a:ext uri="{FF2B5EF4-FFF2-40B4-BE49-F238E27FC236}">
                <a16:creationId xmlns:a16="http://schemas.microsoft.com/office/drawing/2014/main" id="{FD8722B4-F117-4B2C-9350-B8C511A6B858}"/>
              </a:ext>
            </a:extLst>
          </p:cNvPr>
          <p:cNvSpPr txBox="1"/>
          <p:nvPr/>
        </p:nvSpPr>
        <p:spPr>
          <a:xfrm>
            <a:off x="4644008" y="2065671"/>
            <a:ext cx="4032448" cy="1569660"/>
          </a:xfrm>
          <a:prstGeom prst="rect">
            <a:avLst/>
          </a:prstGeom>
          <a:noFill/>
          <a:ln>
            <a:solidFill>
              <a:schemeClr val="tx1"/>
            </a:solidFill>
          </a:ln>
        </p:spPr>
        <p:txBody>
          <a:bodyPr wrap="square">
            <a:spAutoFit/>
          </a:bodyPr>
          <a:lstStyle/>
          <a:p>
            <a:r>
              <a:rPr lang="es-CO" sz="1600" b="1" dirty="0">
                <a:latin typeface="Consolas" panose="020B0609020204030204" pitchFamily="49" charset="0"/>
              </a:rPr>
              <a:t>Inicio</a:t>
            </a:r>
            <a:endParaRPr lang="es-CO" sz="1600" dirty="0">
              <a:latin typeface="Consolas" panose="020B0609020204030204" pitchFamily="49" charset="0"/>
            </a:endParaRPr>
          </a:p>
          <a:p>
            <a:r>
              <a:rPr lang="es-CO" sz="1600" dirty="0">
                <a:latin typeface="Consolas" panose="020B0609020204030204" pitchFamily="49" charset="0"/>
              </a:rPr>
              <a:t>  PI = 3.14</a:t>
            </a:r>
          </a:p>
          <a:p>
            <a:r>
              <a:rPr lang="es-CO" sz="1600" dirty="0">
                <a:latin typeface="Consolas" panose="020B0609020204030204" pitchFamily="49" charset="0"/>
              </a:rPr>
              <a:t>  Leer(radio)</a:t>
            </a:r>
          </a:p>
          <a:p>
            <a:r>
              <a:rPr lang="es-CO" sz="1600" dirty="0">
                <a:latin typeface="Consolas" panose="020B0609020204030204" pitchFamily="49" charset="0"/>
              </a:rPr>
              <a:t>  area = PI*(radio**2)</a:t>
            </a:r>
          </a:p>
          <a:p>
            <a:r>
              <a:rPr lang="es-CO" sz="1600" dirty="0">
                <a:latin typeface="Consolas" panose="020B0609020204030204" pitchFamily="49" charset="0"/>
              </a:rPr>
              <a:t>  Escribir(area)</a:t>
            </a:r>
          </a:p>
          <a:p>
            <a:r>
              <a:rPr lang="es-CO" sz="1600" b="1" dirty="0">
                <a:latin typeface="Consolas" panose="020B0609020204030204" pitchFamily="49" charset="0"/>
              </a:rPr>
              <a:t>Fin</a:t>
            </a:r>
          </a:p>
        </p:txBody>
      </p:sp>
      <p:sp>
        <p:nvSpPr>
          <p:cNvPr id="7" name="CuadroTexto 6">
            <a:extLst>
              <a:ext uri="{FF2B5EF4-FFF2-40B4-BE49-F238E27FC236}">
                <a16:creationId xmlns:a16="http://schemas.microsoft.com/office/drawing/2014/main" id="{3ED1329B-1996-446F-BA4D-F57268E1D89D}"/>
              </a:ext>
            </a:extLst>
          </p:cNvPr>
          <p:cNvSpPr txBox="1"/>
          <p:nvPr/>
        </p:nvSpPr>
        <p:spPr>
          <a:xfrm>
            <a:off x="5563360" y="1685296"/>
            <a:ext cx="2193742" cy="369332"/>
          </a:xfrm>
          <a:prstGeom prst="rect">
            <a:avLst/>
          </a:prstGeom>
          <a:noFill/>
        </p:spPr>
        <p:txBody>
          <a:bodyPr wrap="none" rtlCol="0">
            <a:spAutoFit/>
          </a:bodyPr>
          <a:lstStyle/>
          <a:p>
            <a:r>
              <a:rPr lang="es-CO" b="1" dirty="0"/>
              <a:t>Pseudocódigo simple</a:t>
            </a:r>
          </a:p>
        </p:txBody>
      </p:sp>
      <p:sp>
        <p:nvSpPr>
          <p:cNvPr id="8" name="CuadroTexto 7">
            <a:extLst>
              <a:ext uri="{FF2B5EF4-FFF2-40B4-BE49-F238E27FC236}">
                <a16:creationId xmlns:a16="http://schemas.microsoft.com/office/drawing/2014/main" id="{9F4023A9-6CFD-4F9F-9200-30CF0A218B32}"/>
              </a:ext>
            </a:extLst>
          </p:cNvPr>
          <p:cNvSpPr txBox="1"/>
          <p:nvPr/>
        </p:nvSpPr>
        <p:spPr>
          <a:xfrm>
            <a:off x="5079002" y="3986653"/>
            <a:ext cx="3162459" cy="646331"/>
          </a:xfrm>
          <a:prstGeom prst="rect">
            <a:avLst/>
          </a:prstGeom>
          <a:noFill/>
        </p:spPr>
        <p:txBody>
          <a:bodyPr wrap="square" rtlCol="0">
            <a:spAutoFit/>
          </a:bodyPr>
          <a:lstStyle/>
          <a:p>
            <a:pPr algn="ctr"/>
            <a:r>
              <a:rPr lang="es-CO" b="1" dirty="0"/>
              <a:t>Pseudocódigo con declaración de variables</a:t>
            </a:r>
          </a:p>
        </p:txBody>
      </p:sp>
      <p:grpSp>
        <p:nvGrpSpPr>
          <p:cNvPr id="21" name="Grupo 20">
            <a:extLst>
              <a:ext uri="{FF2B5EF4-FFF2-40B4-BE49-F238E27FC236}">
                <a16:creationId xmlns:a16="http://schemas.microsoft.com/office/drawing/2014/main" id="{3C41FE62-58AF-4B94-81A9-CD5572DACB36}"/>
              </a:ext>
            </a:extLst>
          </p:cNvPr>
          <p:cNvGrpSpPr/>
          <p:nvPr/>
        </p:nvGrpSpPr>
        <p:grpSpPr>
          <a:xfrm>
            <a:off x="1115616" y="2065671"/>
            <a:ext cx="2592287" cy="4054522"/>
            <a:chOff x="3865663" y="2084774"/>
            <a:chExt cx="2592287" cy="4054522"/>
          </a:xfrm>
        </p:grpSpPr>
        <p:sp>
          <p:nvSpPr>
            <p:cNvPr id="22" name="Flowchart: Terminator 43">
              <a:extLst>
                <a:ext uri="{FF2B5EF4-FFF2-40B4-BE49-F238E27FC236}">
                  <a16:creationId xmlns:a16="http://schemas.microsoft.com/office/drawing/2014/main" id="{325360FB-48D5-4768-8D55-72D939818DA6}"/>
                </a:ext>
              </a:extLst>
            </p:cNvPr>
            <p:cNvSpPr/>
            <p:nvPr/>
          </p:nvSpPr>
          <p:spPr>
            <a:xfrm>
              <a:off x="4507179" y="5809782"/>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Finish</a:t>
              </a:r>
              <a:endParaRPr lang="en-US" sz="1400" dirty="0">
                <a:latin typeface="Consolas" panose="020B0609020204030204" pitchFamily="49" charset="0"/>
              </a:endParaRPr>
            </a:p>
          </p:txBody>
        </p:sp>
        <p:sp>
          <p:nvSpPr>
            <p:cNvPr id="23" name="Flowchart: Terminator 44">
              <a:extLst>
                <a:ext uri="{FF2B5EF4-FFF2-40B4-BE49-F238E27FC236}">
                  <a16:creationId xmlns:a16="http://schemas.microsoft.com/office/drawing/2014/main" id="{529CB3E2-56EE-4778-AFEA-8E55092E79CA}"/>
                </a:ext>
              </a:extLst>
            </p:cNvPr>
            <p:cNvSpPr/>
            <p:nvPr/>
          </p:nvSpPr>
          <p:spPr>
            <a:xfrm>
              <a:off x="4511421" y="2084774"/>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Start</a:t>
              </a:r>
              <a:endParaRPr lang="en-US" sz="1400" dirty="0">
                <a:latin typeface="Consolas" panose="020B0609020204030204" pitchFamily="49" charset="0"/>
              </a:endParaRPr>
            </a:p>
          </p:txBody>
        </p:sp>
        <p:cxnSp>
          <p:nvCxnSpPr>
            <p:cNvPr id="24" name="Straight Arrow Connector 45">
              <a:extLst>
                <a:ext uri="{FF2B5EF4-FFF2-40B4-BE49-F238E27FC236}">
                  <a16:creationId xmlns:a16="http://schemas.microsoft.com/office/drawing/2014/main" id="{A4CEB4EF-1FE5-4DC2-870E-02A1B4C6B018}"/>
                </a:ext>
              </a:extLst>
            </p:cNvPr>
            <p:cNvCxnSpPr>
              <a:cxnSpLocks/>
              <a:stCxn id="23" idx="2"/>
              <a:endCxn id="31" idx="0"/>
            </p:cNvCxnSpPr>
            <p:nvPr/>
          </p:nvCxnSpPr>
          <p:spPr>
            <a:xfrm flipH="1">
              <a:off x="5161807" y="2414288"/>
              <a:ext cx="4241" cy="29463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48">
              <a:extLst>
                <a:ext uri="{FF2B5EF4-FFF2-40B4-BE49-F238E27FC236}">
                  <a16:creationId xmlns:a16="http://schemas.microsoft.com/office/drawing/2014/main" id="{D8E3BF69-6319-413A-9723-FC62E44A644D}"/>
                </a:ext>
              </a:extLst>
            </p:cNvPr>
            <p:cNvCxnSpPr>
              <a:cxnSpLocks/>
              <a:stCxn id="30" idx="2"/>
              <a:endCxn id="26" idx="1"/>
            </p:cNvCxnSpPr>
            <p:nvPr/>
          </p:nvCxnSpPr>
          <p:spPr>
            <a:xfrm>
              <a:off x="5161807" y="4710533"/>
              <a:ext cx="0" cy="323688"/>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6" name="Flowchart: Data 52">
              <a:extLst>
                <a:ext uri="{FF2B5EF4-FFF2-40B4-BE49-F238E27FC236}">
                  <a16:creationId xmlns:a16="http://schemas.microsoft.com/office/drawing/2014/main" id="{6BA12E94-1E0E-480A-B6CF-0C7124D65F87}"/>
                </a:ext>
              </a:extLst>
            </p:cNvPr>
            <p:cNvSpPr/>
            <p:nvPr/>
          </p:nvSpPr>
          <p:spPr>
            <a:xfrm>
              <a:off x="4013451" y="5034221"/>
              <a:ext cx="2296712" cy="411892"/>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Print </a:t>
              </a:r>
              <a:r>
                <a:rPr lang="en-US" sz="1400" b="1" dirty="0">
                  <a:latin typeface="Consolas" panose="020B0609020204030204" pitchFamily="49" charset="0"/>
                </a:rPr>
                <a:t>area</a:t>
              </a:r>
            </a:p>
          </p:txBody>
        </p:sp>
        <p:cxnSp>
          <p:nvCxnSpPr>
            <p:cNvPr id="27" name="Straight Arrow Connector 53">
              <a:extLst>
                <a:ext uri="{FF2B5EF4-FFF2-40B4-BE49-F238E27FC236}">
                  <a16:creationId xmlns:a16="http://schemas.microsoft.com/office/drawing/2014/main" id="{331F2B4C-EDA4-4A76-8BF3-35CF6E7E6003}"/>
                </a:ext>
              </a:extLst>
            </p:cNvPr>
            <p:cNvCxnSpPr>
              <a:cxnSpLocks/>
              <a:stCxn id="26" idx="4"/>
              <a:endCxn id="22" idx="0"/>
            </p:cNvCxnSpPr>
            <p:nvPr/>
          </p:nvCxnSpPr>
          <p:spPr>
            <a:xfrm flipH="1">
              <a:off x="5161806" y="5446113"/>
              <a:ext cx="1" cy="363669"/>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8" name="Flowchart: Data 68">
              <a:extLst>
                <a:ext uri="{FF2B5EF4-FFF2-40B4-BE49-F238E27FC236}">
                  <a16:creationId xmlns:a16="http://schemas.microsoft.com/office/drawing/2014/main" id="{C8E8E222-2FCC-4B78-86BB-93420917C6CC}"/>
                </a:ext>
              </a:extLst>
            </p:cNvPr>
            <p:cNvSpPr/>
            <p:nvPr/>
          </p:nvSpPr>
          <p:spPr>
            <a:xfrm>
              <a:off x="4032969" y="3443868"/>
              <a:ext cx="2304254" cy="49427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 radio</a:t>
              </a:r>
              <a:endParaRPr lang="en-US" sz="1400" b="1" dirty="0">
                <a:latin typeface="Consolas" panose="020B0609020204030204" pitchFamily="49" charset="0"/>
              </a:endParaRPr>
            </a:p>
          </p:txBody>
        </p:sp>
        <p:cxnSp>
          <p:nvCxnSpPr>
            <p:cNvPr id="29" name="Straight Arrow Connector 47">
              <a:extLst>
                <a:ext uri="{FF2B5EF4-FFF2-40B4-BE49-F238E27FC236}">
                  <a16:creationId xmlns:a16="http://schemas.microsoft.com/office/drawing/2014/main" id="{E70F95E2-CEC4-46C3-BE1E-C43B7839E5C1}"/>
                </a:ext>
              </a:extLst>
            </p:cNvPr>
            <p:cNvCxnSpPr>
              <a:cxnSpLocks/>
              <a:stCxn id="28" idx="4"/>
            </p:cNvCxnSpPr>
            <p:nvPr/>
          </p:nvCxnSpPr>
          <p:spPr>
            <a:xfrm>
              <a:off x="5185096" y="3938138"/>
              <a:ext cx="1" cy="34141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0" name="Flowchart: Process 42">
              <a:extLst>
                <a:ext uri="{FF2B5EF4-FFF2-40B4-BE49-F238E27FC236}">
                  <a16:creationId xmlns:a16="http://schemas.microsoft.com/office/drawing/2014/main" id="{4E453D5E-59BD-4652-8656-D668BE5A6B37}"/>
                </a:ext>
              </a:extLst>
            </p:cNvPr>
            <p:cNvSpPr/>
            <p:nvPr/>
          </p:nvSpPr>
          <p:spPr>
            <a:xfrm>
              <a:off x="3865663" y="4298641"/>
              <a:ext cx="2592287"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area </a:t>
              </a:r>
              <a:r>
                <a:rPr lang="en-US" sz="1400" dirty="0">
                  <a:latin typeface="Consolas" panose="020B0609020204030204" pitchFamily="49" charset="0"/>
                </a:rPr>
                <a:t> PI * (radio**2)</a:t>
              </a:r>
            </a:p>
          </p:txBody>
        </p:sp>
        <p:sp>
          <p:nvSpPr>
            <p:cNvPr id="31" name="Flowchart: Process 42">
              <a:extLst>
                <a:ext uri="{FF2B5EF4-FFF2-40B4-BE49-F238E27FC236}">
                  <a16:creationId xmlns:a16="http://schemas.microsoft.com/office/drawing/2014/main" id="{CFAF15E8-C938-489C-82A5-6139A940BF33}"/>
                </a:ext>
              </a:extLst>
            </p:cNvPr>
            <p:cNvSpPr/>
            <p:nvPr/>
          </p:nvSpPr>
          <p:spPr>
            <a:xfrm>
              <a:off x="3865664" y="2708920"/>
              <a:ext cx="2592286"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PI </a:t>
              </a:r>
              <a:r>
                <a:rPr lang="en-US" sz="1400" dirty="0">
                  <a:latin typeface="Consolas" panose="020B0609020204030204" pitchFamily="49" charset="0"/>
                </a:rPr>
                <a:t> 3.14</a:t>
              </a:r>
            </a:p>
          </p:txBody>
        </p:sp>
        <p:cxnSp>
          <p:nvCxnSpPr>
            <p:cNvPr id="32" name="Straight Arrow Connector 45">
              <a:extLst>
                <a:ext uri="{FF2B5EF4-FFF2-40B4-BE49-F238E27FC236}">
                  <a16:creationId xmlns:a16="http://schemas.microsoft.com/office/drawing/2014/main" id="{B080A447-4E09-44F4-B741-1E8CB644F115}"/>
                </a:ext>
              </a:extLst>
            </p:cNvPr>
            <p:cNvCxnSpPr>
              <a:cxnSpLocks/>
              <a:endCxn id="28" idx="1"/>
            </p:cNvCxnSpPr>
            <p:nvPr/>
          </p:nvCxnSpPr>
          <p:spPr>
            <a:xfrm flipH="1">
              <a:off x="5185096" y="3097847"/>
              <a:ext cx="2" cy="346021"/>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404765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40382" y="210351"/>
            <a:ext cx="7886700" cy="743229"/>
          </a:xfrm>
        </p:spPr>
        <p:txBody>
          <a:bodyPr/>
          <a:lstStyle/>
          <a:p>
            <a:r>
              <a:rPr lang="es-CO" sz="2800" dirty="0"/>
              <a:t>Sobre los programas</a:t>
            </a:r>
            <a:endParaRPr lang="en-US" sz="2800" dirty="0"/>
          </a:p>
        </p:txBody>
      </p:sp>
      <p:sp>
        <p:nvSpPr>
          <p:cNvPr id="11" name="27 Rectángulo">
            <a:extLst>
              <a:ext uri="{FF2B5EF4-FFF2-40B4-BE49-F238E27FC236}">
                <a16:creationId xmlns:a16="http://schemas.microsoft.com/office/drawing/2014/main" id="{D44C9DCC-06E7-48ED-B8D8-CE7DB277AE3D}"/>
              </a:ext>
            </a:extLst>
          </p:cNvPr>
          <p:cNvSpPr/>
          <p:nvPr/>
        </p:nvSpPr>
        <p:spPr>
          <a:xfrm>
            <a:off x="281361" y="775745"/>
            <a:ext cx="8622257" cy="1631216"/>
          </a:xfrm>
          <a:prstGeom prst="rect">
            <a:avLst/>
          </a:prstGeom>
        </p:spPr>
        <p:txBody>
          <a:bodyPr wrap="square">
            <a:spAutoFit/>
          </a:bodyPr>
          <a:lstStyle/>
          <a:p>
            <a:pPr marL="342900" indent="-342900">
              <a:buFont typeface="Arial" panose="020B0604020202020204" pitchFamily="34" charset="0"/>
              <a:buChar char="•"/>
            </a:pPr>
            <a:r>
              <a:rPr lang="es-CO" sz="2000" dirty="0"/>
              <a:t>Ya hemos logrado describir los pasos para plantear un algoritmo (algo natural para nosotros) de manera mas formal (diagrama de flujo y pseudocódigo), pero todavía no tenemos forma de ejecutarlo en una maquina. </a:t>
            </a:r>
          </a:p>
          <a:p>
            <a:pPr marL="342900" indent="-342900">
              <a:buFont typeface="Arial" panose="020B0604020202020204" pitchFamily="34" charset="0"/>
              <a:buChar char="•"/>
            </a:pPr>
            <a:r>
              <a:rPr lang="es-MX" sz="2000" dirty="0"/>
              <a:t>Necesitamos codificar el algoritmo en un lenguaje de programación para convertirlo en un programa ejecutable.</a:t>
            </a:r>
            <a:endParaRPr lang="es-CO" sz="2000" dirty="0"/>
          </a:p>
        </p:txBody>
      </p:sp>
      <p:pic>
        <p:nvPicPr>
          <p:cNvPr id="2050" name="Picture 2" descr="Una vida de película - Que la pases lindo!">
            <a:extLst>
              <a:ext uri="{FF2B5EF4-FFF2-40B4-BE49-F238E27FC236}">
                <a16:creationId xmlns:a16="http://schemas.microsoft.com/office/drawing/2014/main" id="{CA49FBAF-61D1-44FE-A8CC-F7BC075F93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0577" y="2568140"/>
            <a:ext cx="1409428" cy="163121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0736D866-8B9C-4A47-B923-1BE1D65D3E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3223" y="4617196"/>
            <a:ext cx="3080490" cy="1950977"/>
          </a:xfrm>
          <a:prstGeom prst="rect">
            <a:avLst/>
          </a:prstGeom>
          <a:noFill/>
          <a:extLst>
            <a:ext uri="{909E8E84-426E-40DD-AFC4-6F175D3DCCD1}">
              <a14:hiddenFill xmlns:a14="http://schemas.microsoft.com/office/drawing/2010/main">
                <a:solidFill>
                  <a:srgbClr val="FFFFFF"/>
                </a:solidFill>
              </a14:hiddenFill>
            </a:ext>
          </a:extLst>
        </p:spPr>
      </p:pic>
      <p:grpSp>
        <p:nvGrpSpPr>
          <p:cNvPr id="40" name="Grupo 39">
            <a:extLst>
              <a:ext uri="{FF2B5EF4-FFF2-40B4-BE49-F238E27FC236}">
                <a16:creationId xmlns:a16="http://schemas.microsoft.com/office/drawing/2014/main" id="{2E9C1172-A740-4CEB-92EB-016423715EF3}"/>
              </a:ext>
            </a:extLst>
          </p:cNvPr>
          <p:cNvGrpSpPr/>
          <p:nvPr/>
        </p:nvGrpSpPr>
        <p:grpSpPr>
          <a:xfrm>
            <a:off x="784687" y="2593127"/>
            <a:ext cx="2458616" cy="4054522"/>
            <a:chOff x="3865663" y="2084774"/>
            <a:chExt cx="2592287" cy="4054522"/>
          </a:xfrm>
        </p:grpSpPr>
        <p:sp>
          <p:nvSpPr>
            <p:cNvPr id="41" name="Flowchart: Terminator 43">
              <a:extLst>
                <a:ext uri="{FF2B5EF4-FFF2-40B4-BE49-F238E27FC236}">
                  <a16:creationId xmlns:a16="http://schemas.microsoft.com/office/drawing/2014/main" id="{99EEC9CD-D4FC-4889-9812-F20D76017693}"/>
                </a:ext>
              </a:extLst>
            </p:cNvPr>
            <p:cNvSpPr/>
            <p:nvPr/>
          </p:nvSpPr>
          <p:spPr>
            <a:xfrm>
              <a:off x="4507179" y="5809782"/>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Finish</a:t>
              </a:r>
              <a:endParaRPr lang="en-US" sz="1400" dirty="0">
                <a:latin typeface="Consolas" panose="020B0609020204030204" pitchFamily="49" charset="0"/>
              </a:endParaRPr>
            </a:p>
          </p:txBody>
        </p:sp>
        <p:sp>
          <p:nvSpPr>
            <p:cNvPr id="42" name="Flowchart: Terminator 44">
              <a:extLst>
                <a:ext uri="{FF2B5EF4-FFF2-40B4-BE49-F238E27FC236}">
                  <a16:creationId xmlns:a16="http://schemas.microsoft.com/office/drawing/2014/main" id="{F21AC91A-54C6-4917-A98B-C5B1453A0868}"/>
                </a:ext>
              </a:extLst>
            </p:cNvPr>
            <p:cNvSpPr/>
            <p:nvPr/>
          </p:nvSpPr>
          <p:spPr>
            <a:xfrm>
              <a:off x="4511421" y="2084774"/>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Start</a:t>
              </a:r>
              <a:endParaRPr lang="en-US" sz="1400" dirty="0">
                <a:latin typeface="Consolas" panose="020B0609020204030204" pitchFamily="49" charset="0"/>
              </a:endParaRPr>
            </a:p>
          </p:txBody>
        </p:sp>
        <p:cxnSp>
          <p:nvCxnSpPr>
            <p:cNvPr id="43" name="Straight Arrow Connector 45">
              <a:extLst>
                <a:ext uri="{FF2B5EF4-FFF2-40B4-BE49-F238E27FC236}">
                  <a16:creationId xmlns:a16="http://schemas.microsoft.com/office/drawing/2014/main" id="{0D3248C0-CB12-4571-823B-D73F96E4B5F5}"/>
                </a:ext>
              </a:extLst>
            </p:cNvPr>
            <p:cNvCxnSpPr>
              <a:cxnSpLocks/>
              <a:stCxn id="42" idx="2"/>
              <a:endCxn id="50" idx="0"/>
            </p:cNvCxnSpPr>
            <p:nvPr/>
          </p:nvCxnSpPr>
          <p:spPr>
            <a:xfrm flipH="1">
              <a:off x="5161807" y="2414288"/>
              <a:ext cx="4241" cy="29463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Straight Arrow Connector 48">
              <a:extLst>
                <a:ext uri="{FF2B5EF4-FFF2-40B4-BE49-F238E27FC236}">
                  <a16:creationId xmlns:a16="http://schemas.microsoft.com/office/drawing/2014/main" id="{4F28F599-7125-4B00-B96E-C7D6B80E02F2}"/>
                </a:ext>
              </a:extLst>
            </p:cNvPr>
            <p:cNvCxnSpPr>
              <a:cxnSpLocks/>
              <a:stCxn id="49" idx="2"/>
              <a:endCxn id="45" idx="1"/>
            </p:cNvCxnSpPr>
            <p:nvPr/>
          </p:nvCxnSpPr>
          <p:spPr>
            <a:xfrm>
              <a:off x="5161807" y="4710533"/>
              <a:ext cx="0" cy="323688"/>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Flowchart: Data 52">
              <a:extLst>
                <a:ext uri="{FF2B5EF4-FFF2-40B4-BE49-F238E27FC236}">
                  <a16:creationId xmlns:a16="http://schemas.microsoft.com/office/drawing/2014/main" id="{38334211-66D5-4C00-A531-8FBC15DB8A80}"/>
                </a:ext>
              </a:extLst>
            </p:cNvPr>
            <p:cNvSpPr/>
            <p:nvPr/>
          </p:nvSpPr>
          <p:spPr>
            <a:xfrm>
              <a:off x="4013451" y="5034221"/>
              <a:ext cx="2296712" cy="411892"/>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Print </a:t>
              </a:r>
              <a:r>
                <a:rPr lang="en-US" sz="1400" b="1" dirty="0">
                  <a:latin typeface="Consolas" panose="020B0609020204030204" pitchFamily="49" charset="0"/>
                </a:rPr>
                <a:t>area</a:t>
              </a:r>
            </a:p>
          </p:txBody>
        </p:sp>
        <p:cxnSp>
          <p:nvCxnSpPr>
            <p:cNvPr id="46" name="Straight Arrow Connector 53">
              <a:extLst>
                <a:ext uri="{FF2B5EF4-FFF2-40B4-BE49-F238E27FC236}">
                  <a16:creationId xmlns:a16="http://schemas.microsoft.com/office/drawing/2014/main" id="{1B7EC149-F277-4D64-A04B-5E6BA0AD2972}"/>
                </a:ext>
              </a:extLst>
            </p:cNvPr>
            <p:cNvCxnSpPr>
              <a:cxnSpLocks/>
              <a:stCxn id="45" idx="4"/>
              <a:endCxn id="41" idx="0"/>
            </p:cNvCxnSpPr>
            <p:nvPr/>
          </p:nvCxnSpPr>
          <p:spPr>
            <a:xfrm flipH="1">
              <a:off x="5161806" y="5446113"/>
              <a:ext cx="1" cy="363669"/>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7" name="Flowchart: Data 68">
              <a:extLst>
                <a:ext uri="{FF2B5EF4-FFF2-40B4-BE49-F238E27FC236}">
                  <a16:creationId xmlns:a16="http://schemas.microsoft.com/office/drawing/2014/main" id="{BE8910EE-83BA-4A92-9D21-F9982E181321}"/>
                </a:ext>
              </a:extLst>
            </p:cNvPr>
            <p:cNvSpPr/>
            <p:nvPr/>
          </p:nvSpPr>
          <p:spPr>
            <a:xfrm>
              <a:off x="4032969" y="3443868"/>
              <a:ext cx="2304254" cy="49427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 radio</a:t>
              </a:r>
              <a:endParaRPr lang="en-US" sz="1400" b="1" dirty="0">
                <a:latin typeface="Consolas" panose="020B0609020204030204" pitchFamily="49" charset="0"/>
              </a:endParaRPr>
            </a:p>
          </p:txBody>
        </p:sp>
        <p:cxnSp>
          <p:nvCxnSpPr>
            <p:cNvPr id="48" name="Straight Arrow Connector 47">
              <a:extLst>
                <a:ext uri="{FF2B5EF4-FFF2-40B4-BE49-F238E27FC236}">
                  <a16:creationId xmlns:a16="http://schemas.microsoft.com/office/drawing/2014/main" id="{6CBA5F54-BFFC-4A28-8204-F538752C7DCF}"/>
                </a:ext>
              </a:extLst>
            </p:cNvPr>
            <p:cNvCxnSpPr>
              <a:cxnSpLocks/>
              <a:stCxn id="47" idx="4"/>
            </p:cNvCxnSpPr>
            <p:nvPr/>
          </p:nvCxnSpPr>
          <p:spPr>
            <a:xfrm>
              <a:off x="5185096" y="3938138"/>
              <a:ext cx="1" cy="34141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9" name="Flowchart: Process 42">
              <a:extLst>
                <a:ext uri="{FF2B5EF4-FFF2-40B4-BE49-F238E27FC236}">
                  <a16:creationId xmlns:a16="http://schemas.microsoft.com/office/drawing/2014/main" id="{236322CE-3077-425A-B3AC-47DC6CA11BCA}"/>
                </a:ext>
              </a:extLst>
            </p:cNvPr>
            <p:cNvSpPr/>
            <p:nvPr/>
          </p:nvSpPr>
          <p:spPr>
            <a:xfrm>
              <a:off x="3865663" y="4298641"/>
              <a:ext cx="2592287"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area </a:t>
              </a:r>
              <a:r>
                <a:rPr lang="en-US" sz="1400" dirty="0">
                  <a:latin typeface="Consolas" panose="020B0609020204030204" pitchFamily="49" charset="0"/>
                </a:rPr>
                <a:t> PI * (radio**2)</a:t>
              </a:r>
            </a:p>
          </p:txBody>
        </p:sp>
        <p:sp>
          <p:nvSpPr>
            <p:cNvPr id="50" name="Flowchart: Process 42">
              <a:extLst>
                <a:ext uri="{FF2B5EF4-FFF2-40B4-BE49-F238E27FC236}">
                  <a16:creationId xmlns:a16="http://schemas.microsoft.com/office/drawing/2014/main" id="{831BF4F7-BC0C-460C-82B3-ECE38D8D4174}"/>
                </a:ext>
              </a:extLst>
            </p:cNvPr>
            <p:cNvSpPr/>
            <p:nvPr/>
          </p:nvSpPr>
          <p:spPr>
            <a:xfrm>
              <a:off x="3865664" y="2708920"/>
              <a:ext cx="2592286"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PI </a:t>
              </a:r>
              <a:r>
                <a:rPr lang="en-US" sz="1400" dirty="0">
                  <a:latin typeface="Consolas" panose="020B0609020204030204" pitchFamily="49" charset="0"/>
                </a:rPr>
                <a:t> 3.14</a:t>
              </a:r>
            </a:p>
          </p:txBody>
        </p:sp>
        <p:cxnSp>
          <p:nvCxnSpPr>
            <p:cNvPr id="51" name="Straight Arrow Connector 45">
              <a:extLst>
                <a:ext uri="{FF2B5EF4-FFF2-40B4-BE49-F238E27FC236}">
                  <a16:creationId xmlns:a16="http://schemas.microsoft.com/office/drawing/2014/main" id="{C1922514-4D13-4F9F-ACA4-B22FFB9AA058}"/>
                </a:ext>
              </a:extLst>
            </p:cNvPr>
            <p:cNvCxnSpPr>
              <a:cxnSpLocks/>
              <a:endCxn id="47" idx="1"/>
            </p:cNvCxnSpPr>
            <p:nvPr/>
          </p:nvCxnSpPr>
          <p:spPr>
            <a:xfrm flipH="1">
              <a:off x="5185096" y="3097847"/>
              <a:ext cx="2" cy="346021"/>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pic>
        <p:nvPicPr>
          <p:cNvPr id="13" name="Imagen 12">
            <a:extLst>
              <a:ext uri="{FF2B5EF4-FFF2-40B4-BE49-F238E27FC236}">
                <a16:creationId xmlns:a16="http://schemas.microsoft.com/office/drawing/2014/main" id="{7DFA7093-BBB7-440E-9E9B-C38C000EB7C4}"/>
              </a:ext>
            </a:extLst>
          </p:cNvPr>
          <p:cNvPicPr>
            <a:picLocks noChangeAspect="1"/>
          </p:cNvPicPr>
          <p:nvPr/>
        </p:nvPicPr>
        <p:blipFill>
          <a:blip r:embed="rId4"/>
          <a:stretch>
            <a:fillRect/>
          </a:stretch>
        </p:blipFill>
        <p:spPr>
          <a:xfrm>
            <a:off x="3637140" y="5275615"/>
            <a:ext cx="934860" cy="965278"/>
          </a:xfrm>
          <a:prstGeom prst="rect">
            <a:avLst/>
          </a:prstGeom>
        </p:spPr>
      </p:pic>
      <p:pic>
        <p:nvPicPr>
          <p:cNvPr id="37" name="Imagen 36">
            <a:extLst>
              <a:ext uri="{FF2B5EF4-FFF2-40B4-BE49-F238E27FC236}">
                <a16:creationId xmlns:a16="http://schemas.microsoft.com/office/drawing/2014/main" id="{4B8BEFEF-E5B3-4306-A9B3-DC12D075939C}"/>
              </a:ext>
            </a:extLst>
          </p:cNvPr>
          <p:cNvPicPr>
            <a:picLocks noChangeAspect="1"/>
          </p:cNvPicPr>
          <p:nvPr/>
        </p:nvPicPr>
        <p:blipFill>
          <a:blip r:embed="rId5"/>
          <a:stretch>
            <a:fillRect/>
          </a:stretch>
        </p:blipFill>
        <p:spPr>
          <a:xfrm>
            <a:off x="3759527" y="2856955"/>
            <a:ext cx="1024620" cy="965279"/>
          </a:xfrm>
          <a:prstGeom prst="rect">
            <a:avLst/>
          </a:prstGeom>
        </p:spPr>
      </p:pic>
      <p:pic>
        <p:nvPicPr>
          <p:cNvPr id="39" name="Imagen 38">
            <a:extLst>
              <a:ext uri="{FF2B5EF4-FFF2-40B4-BE49-F238E27FC236}">
                <a16:creationId xmlns:a16="http://schemas.microsoft.com/office/drawing/2014/main" id="{1F1FD035-8B01-45B3-8B0A-6CFE072B54D8}"/>
              </a:ext>
            </a:extLst>
          </p:cNvPr>
          <p:cNvPicPr>
            <a:picLocks noChangeAspect="1"/>
          </p:cNvPicPr>
          <p:nvPr/>
        </p:nvPicPr>
        <p:blipFill>
          <a:blip r:embed="rId6"/>
          <a:stretch>
            <a:fillRect/>
          </a:stretch>
        </p:blipFill>
        <p:spPr>
          <a:xfrm>
            <a:off x="8104213" y="5657131"/>
            <a:ext cx="645793" cy="661004"/>
          </a:xfrm>
          <a:prstGeom prst="rect">
            <a:avLst/>
          </a:prstGeom>
        </p:spPr>
      </p:pic>
      <p:pic>
        <p:nvPicPr>
          <p:cNvPr id="53" name="Imagen 52">
            <a:extLst>
              <a:ext uri="{FF2B5EF4-FFF2-40B4-BE49-F238E27FC236}">
                <a16:creationId xmlns:a16="http://schemas.microsoft.com/office/drawing/2014/main" id="{00DEE880-254A-4A26-BD12-7A2BD3A2D87F}"/>
              </a:ext>
            </a:extLst>
          </p:cNvPr>
          <p:cNvPicPr>
            <a:picLocks noChangeAspect="1"/>
          </p:cNvPicPr>
          <p:nvPr/>
        </p:nvPicPr>
        <p:blipFill>
          <a:blip r:embed="rId7"/>
          <a:stretch>
            <a:fillRect/>
          </a:stretch>
        </p:blipFill>
        <p:spPr>
          <a:xfrm>
            <a:off x="8127082" y="4617196"/>
            <a:ext cx="643424" cy="783890"/>
          </a:xfrm>
          <a:prstGeom prst="rect">
            <a:avLst/>
          </a:prstGeom>
        </p:spPr>
      </p:pic>
    </p:spTree>
    <p:extLst>
      <p:ext uri="{BB962C8B-B14F-4D97-AF65-F5344CB8AC3E}">
        <p14:creationId xmlns:p14="http://schemas.microsoft.com/office/powerpoint/2010/main" val="17230704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60341" y="167717"/>
            <a:ext cx="7886700" cy="743229"/>
          </a:xfrm>
        </p:spPr>
        <p:txBody>
          <a:bodyPr/>
          <a:lstStyle/>
          <a:p>
            <a:r>
              <a:rPr lang="es-CO" sz="2800" dirty="0"/>
              <a:t>Programa en lenguaje Python</a:t>
            </a:r>
            <a:endParaRPr lang="en-US" sz="2800" dirty="0"/>
          </a:p>
        </p:txBody>
      </p:sp>
      <p:sp>
        <p:nvSpPr>
          <p:cNvPr id="11" name="27 Rectángulo">
            <a:extLst>
              <a:ext uri="{FF2B5EF4-FFF2-40B4-BE49-F238E27FC236}">
                <a16:creationId xmlns:a16="http://schemas.microsoft.com/office/drawing/2014/main" id="{D44C9DCC-06E7-48ED-B8D8-CE7DB277AE3D}"/>
              </a:ext>
            </a:extLst>
          </p:cNvPr>
          <p:cNvSpPr/>
          <p:nvPr/>
        </p:nvSpPr>
        <p:spPr>
          <a:xfrm>
            <a:off x="194432" y="871667"/>
            <a:ext cx="8755136" cy="615553"/>
          </a:xfrm>
          <a:prstGeom prst="rect">
            <a:avLst/>
          </a:prstGeom>
        </p:spPr>
        <p:txBody>
          <a:bodyPr wrap="square">
            <a:spAutoFit/>
          </a:bodyPr>
          <a:lstStyle/>
          <a:p>
            <a:r>
              <a:rPr lang="es-CO" b="1" dirty="0">
                <a:latin typeface="Century Gothic" panose="020B0502020202020204" pitchFamily="34" charset="0"/>
              </a:rPr>
              <a:t>Problema:</a:t>
            </a:r>
          </a:p>
          <a:p>
            <a:r>
              <a:rPr lang="es-CO" sz="1600" dirty="0">
                <a:latin typeface="Century Gothic" panose="020B0502020202020204" pitchFamily="34" charset="0"/>
              </a:rPr>
              <a:t>Hacer un algoritmo que calcule el área de un circulo</a:t>
            </a:r>
          </a:p>
        </p:txBody>
      </p:sp>
      <p:sp>
        <p:nvSpPr>
          <p:cNvPr id="24" name="CuadroTexto 23">
            <a:extLst>
              <a:ext uri="{FF2B5EF4-FFF2-40B4-BE49-F238E27FC236}">
                <a16:creationId xmlns:a16="http://schemas.microsoft.com/office/drawing/2014/main" id="{58DBAB80-7B45-4C61-B5B2-9BE2ACB11B54}"/>
              </a:ext>
            </a:extLst>
          </p:cNvPr>
          <p:cNvSpPr txBox="1"/>
          <p:nvPr/>
        </p:nvSpPr>
        <p:spPr>
          <a:xfrm>
            <a:off x="4161864" y="2049870"/>
            <a:ext cx="4350421" cy="1292662"/>
          </a:xfrm>
          <a:prstGeom prst="rect">
            <a:avLst/>
          </a:prstGeom>
          <a:noFill/>
          <a:ln w="12700">
            <a:solidFill>
              <a:schemeClr val="tx1"/>
            </a:solidFill>
          </a:ln>
        </p:spPr>
        <p:txBody>
          <a:bodyPr wrap="square">
            <a:spAutoFit/>
          </a:bodyPr>
          <a:lstStyle/>
          <a:p>
            <a:r>
              <a:rPr lang="es-CO" sz="1300" b="1" dirty="0">
                <a:latin typeface="Consolas" panose="020B0609020204030204" pitchFamily="49" charset="0"/>
              </a:rPr>
              <a:t>Inicio</a:t>
            </a:r>
            <a:r>
              <a:rPr lang="es-CO" sz="1300" dirty="0">
                <a:latin typeface="Consolas" panose="020B0609020204030204" pitchFamily="49" charset="0"/>
              </a:rPr>
              <a:t> </a:t>
            </a:r>
          </a:p>
          <a:p>
            <a:r>
              <a:rPr lang="es-CO" sz="1300" dirty="0">
                <a:latin typeface="Consolas" panose="020B0609020204030204" pitchFamily="49" charset="0"/>
              </a:rPr>
              <a:t>  PI = 3.14</a:t>
            </a:r>
          </a:p>
          <a:p>
            <a:r>
              <a:rPr lang="es-CO" sz="1300" dirty="0">
                <a:latin typeface="Consolas" panose="020B0609020204030204" pitchFamily="49" charset="0"/>
              </a:rPr>
              <a:t>  Leer(radio)</a:t>
            </a:r>
          </a:p>
          <a:p>
            <a:r>
              <a:rPr lang="es-CO" sz="1300" dirty="0">
                <a:latin typeface="Consolas" panose="020B0609020204030204" pitchFamily="49" charset="0"/>
              </a:rPr>
              <a:t>  area = PI*(radio**2)</a:t>
            </a:r>
          </a:p>
          <a:p>
            <a:r>
              <a:rPr lang="es-CO" sz="1300" dirty="0">
                <a:latin typeface="Consolas" panose="020B0609020204030204" pitchFamily="49" charset="0"/>
              </a:rPr>
              <a:t>  Escribir(area)</a:t>
            </a:r>
          </a:p>
          <a:p>
            <a:r>
              <a:rPr lang="es-CO" sz="1300" b="1" dirty="0">
                <a:latin typeface="Consolas" panose="020B0609020204030204" pitchFamily="49" charset="0"/>
              </a:rPr>
              <a:t>Fin</a:t>
            </a:r>
          </a:p>
        </p:txBody>
      </p:sp>
      <p:sp>
        <p:nvSpPr>
          <p:cNvPr id="25" name="1 Rectángulo">
            <a:extLst>
              <a:ext uri="{FF2B5EF4-FFF2-40B4-BE49-F238E27FC236}">
                <a16:creationId xmlns:a16="http://schemas.microsoft.com/office/drawing/2014/main" id="{529D5F01-1C96-4ED9-A5DD-67EFC842684B}"/>
              </a:ext>
            </a:extLst>
          </p:cNvPr>
          <p:cNvSpPr/>
          <p:nvPr/>
        </p:nvSpPr>
        <p:spPr>
          <a:xfrm>
            <a:off x="4144032" y="3915560"/>
            <a:ext cx="4368253" cy="1692771"/>
          </a:xfrm>
          <a:prstGeom prst="rect">
            <a:avLst/>
          </a:prstGeom>
          <a:ln w="12700">
            <a:solidFill>
              <a:schemeClr val="tx2"/>
            </a:solidFill>
          </a:ln>
        </p:spPr>
        <p:txBody>
          <a:bodyPr wrap="square">
            <a:spAutoFit/>
          </a:bodyPr>
          <a:lstStyle/>
          <a:p>
            <a:r>
              <a:rPr lang="en-US" sz="1300" dirty="0">
                <a:solidFill>
                  <a:srgbClr val="00B050"/>
                </a:solidFill>
                <a:latin typeface="Consolas" panose="020B0609020204030204" pitchFamily="49" charset="0"/>
                <a:cs typeface="Consolas" panose="020B0609020204030204" pitchFamily="49" charset="0"/>
              </a:rPr>
              <a:t># </a:t>
            </a:r>
            <a:r>
              <a:rPr lang="en-US" sz="1300" dirty="0" err="1">
                <a:solidFill>
                  <a:srgbClr val="00B050"/>
                </a:solidFill>
                <a:latin typeface="Consolas" panose="020B0609020204030204" pitchFamily="49" charset="0"/>
                <a:cs typeface="Consolas" panose="020B0609020204030204" pitchFamily="49" charset="0"/>
              </a:rPr>
              <a:t>Inicializacion</a:t>
            </a:r>
            <a:endParaRPr lang="en-US" sz="1300" dirty="0">
              <a:solidFill>
                <a:srgbClr val="00B050"/>
              </a:solidFill>
              <a:latin typeface="Consolas" panose="020B0609020204030204" pitchFamily="49" charset="0"/>
              <a:cs typeface="Consolas" panose="020B0609020204030204" pitchFamily="49" charset="0"/>
            </a:endParaRPr>
          </a:p>
          <a:p>
            <a:r>
              <a:rPr lang="en-US" sz="1300" dirty="0">
                <a:latin typeface="Consolas" panose="020B0609020204030204" pitchFamily="49" charset="0"/>
                <a:cs typeface="Consolas" panose="020B0609020204030204" pitchFamily="49" charset="0"/>
              </a:rPr>
              <a:t>PI = 3.14</a:t>
            </a:r>
          </a:p>
          <a:p>
            <a:r>
              <a:rPr lang="en-US" sz="1300" dirty="0">
                <a:solidFill>
                  <a:srgbClr val="00B050"/>
                </a:solidFill>
                <a:latin typeface="Consolas" panose="020B0609020204030204" pitchFamily="49" charset="0"/>
                <a:cs typeface="Consolas" panose="020B0609020204030204" pitchFamily="49" charset="0"/>
              </a:rPr>
              <a:t># Entrada de </a:t>
            </a:r>
            <a:r>
              <a:rPr lang="en-US" sz="1300" dirty="0" err="1">
                <a:solidFill>
                  <a:srgbClr val="00B050"/>
                </a:solidFill>
                <a:latin typeface="Consolas" panose="020B0609020204030204" pitchFamily="49" charset="0"/>
                <a:cs typeface="Consolas" panose="020B0609020204030204" pitchFamily="49" charset="0"/>
              </a:rPr>
              <a:t>datos</a:t>
            </a:r>
            <a:endParaRPr lang="en-US" sz="1300" dirty="0">
              <a:solidFill>
                <a:srgbClr val="00B050"/>
              </a:solidFill>
              <a:latin typeface="Consolas" panose="020B0609020204030204" pitchFamily="49" charset="0"/>
              <a:cs typeface="Consolas" panose="020B0609020204030204" pitchFamily="49" charset="0"/>
            </a:endParaRPr>
          </a:p>
          <a:p>
            <a:r>
              <a:rPr lang="en-US" sz="1300" dirty="0">
                <a:latin typeface="Consolas" panose="020B0609020204030204" pitchFamily="49" charset="0"/>
                <a:cs typeface="Consolas" panose="020B0609020204030204" pitchFamily="49" charset="0"/>
              </a:rPr>
              <a:t>radio = float(input("</a:t>
            </a:r>
            <a:r>
              <a:rPr lang="en-US" sz="1300" dirty="0" err="1">
                <a:latin typeface="Consolas" panose="020B0609020204030204" pitchFamily="49" charset="0"/>
                <a:cs typeface="Consolas" panose="020B0609020204030204" pitchFamily="49" charset="0"/>
              </a:rPr>
              <a:t>Digite</a:t>
            </a:r>
            <a:r>
              <a:rPr lang="en-US" sz="1300" dirty="0">
                <a:latin typeface="Consolas" panose="020B0609020204030204" pitchFamily="49" charset="0"/>
                <a:cs typeface="Consolas" panose="020B0609020204030204" pitchFamily="49" charset="0"/>
              </a:rPr>
              <a:t> </a:t>
            </a:r>
            <a:r>
              <a:rPr lang="en-US" sz="1300" dirty="0" err="1">
                <a:latin typeface="Consolas" panose="020B0609020204030204" pitchFamily="49" charset="0"/>
                <a:cs typeface="Consolas" panose="020B0609020204030204" pitchFamily="49" charset="0"/>
              </a:rPr>
              <a:t>el</a:t>
            </a:r>
            <a:r>
              <a:rPr lang="en-US" sz="1300" dirty="0">
                <a:latin typeface="Consolas" panose="020B0609020204030204" pitchFamily="49" charset="0"/>
                <a:cs typeface="Consolas" panose="020B0609020204030204" pitchFamily="49" charset="0"/>
              </a:rPr>
              <a:t> radio: "))</a:t>
            </a:r>
          </a:p>
          <a:p>
            <a:r>
              <a:rPr lang="en-US" sz="1300" dirty="0">
                <a:solidFill>
                  <a:srgbClr val="00B050"/>
                </a:solidFill>
                <a:latin typeface="Consolas" panose="020B0609020204030204" pitchFamily="49" charset="0"/>
                <a:cs typeface="Consolas" panose="020B0609020204030204" pitchFamily="49" charset="0"/>
              </a:rPr>
              <a:t># </a:t>
            </a:r>
            <a:r>
              <a:rPr lang="en-US" sz="1300" dirty="0" err="1">
                <a:solidFill>
                  <a:srgbClr val="00B050"/>
                </a:solidFill>
                <a:latin typeface="Consolas" panose="020B0609020204030204" pitchFamily="49" charset="0"/>
                <a:cs typeface="Consolas" panose="020B0609020204030204" pitchFamily="49" charset="0"/>
              </a:rPr>
              <a:t>Calculo</a:t>
            </a:r>
            <a:r>
              <a:rPr lang="en-US" sz="1300" dirty="0">
                <a:solidFill>
                  <a:srgbClr val="00B050"/>
                </a:solidFill>
                <a:latin typeface="Consolas" panose="020B0609020204030204" pitchFamily="49" charset="0"/>
                <a:cs typeface="Consolas" panose="020B0609020204030204" pitchFamily="49" charset="0"/>
              </a:rPr>
              <a:t> del area</a:t>
            </a:r>
          </a:p>
          <a:p>
            <a:r>
              <a:rPr lang="en-US" sz="1300" dirty="0">
                <a:latin typeface="Consolas" panose="020B0609020204030204" pitchFamily="49" charset="0"/>
                <a:cs typeface="Consolas" panose="020B0609020204030204" pitchFamily="49" charset="0"/>
              </a:rPr>
              <a:t>area = PI * (radio**2)</a:t>
            </a:r>
          </a:p>
          <a:p>
            <a:r>
              <a:rPr lang="en-US" sz="1300" dirty="0">
                <a:solidFill>
                  <a:srgbClr val="00B050"/>
                </a:solidFill>
                <a:latin typeface="Consolas" panose="020B0609020204030204" pitchFamily="49" charset="0"/>
                <a:cs typeface="Consolas" panose="020B0609020204030204" pitchFamily="49" charset="0"/>
              </a:rPr>
              <a:t># </a:t>
            </a:r>
            <a:r>
              <a:rPr lang="en-US" sz="1300" dirty="0" err="1">
                <a:solidFill>
                  <a:srgbClr val="00B050"/>
                </a:solidFill>
                <a:latin typeface="Consolas" panose="020B0609020204030204" pitchFamily="49" charset="0"/>
                <a:cs typeface="Consolas" panose="020B0609020204030204" pitchFamily="49" charset="0"/>
              </a:rPr>
              <a:t>Despliegue</a:t>
            </a:r>
            <a:r>
              <a:rPr lang="en-US" sz="1300" dirty="0">
                <a:solidFill>
                  <a:srgbClr val="00B050"/>
                </a:solidFill>
                <a:latin typeface="Consolas" panose="020B0609020204030204" pitchFamily="49" charset="0"/>
                <a:cs typeface="Consolas" panose="020B0609020204030204" pitchFamily="49" charset="0"/>
              </a:rPr>
              <a:t> del area</a:t>
            </a:r>
          </a:p>
          <a:p>
            <a:r>
              <a:rPr lang="en-US" sz="1300" dirty="0">
                <a:latin typeface="Consolas" panose="020B0609020204030204" pitchFamily="49" charset="0"/>
                <a:cs typeface="Consolas" panose="020B0609020204030204" pitchFamily="49" charset="0"/>
              </a:rPr>
              <a:t>print("El </a:t>
            </a:r>
            <a:r>
              <a:rPr lang="en-US" sz="1300" dirty="0" err="1">
                <a:latin typeface="Consolas" panose="020B0609020204030204" pitchFamily="49" charset="0"/>
                <a:cs typeface="Consolas" panose="020B0609020204030204" pitchFamily="49" charset="0"/>
              </a:rPr>
              <a:t>área</a:t>
            </a:r>
            <a:r>
              <a:rPr lang="en-US" sz="1300" dirty="0">
                <a:latin typeface="Consolas" panose="020B0609020204030204" pitchFamily="49" charset="0"/>
                <a:cs typeface="Consolas" panose="020B0609020204030204" pitchFamily="49" charset="0"/>
              </a:rPr>
              <a:t> del </a:t>
            </a:r>
            <a:r>
              <a:rPr lang="en-US" sz="1300" dirty="0" err="1">
                <a:latin typeface="Consolas" panose="020B0609020204030204" pitchFamily="49" charset="0"/>
                <a:cs typeface="Consolas" panose="020B0609020204030204" pitchFamily="49" charset="0"/>
              </a:rPr>
              <a:t>circulo</a:t>
            </a:r>
            <a:r>
              <a:rPr lang="en-US" sz="1300" dirty="0">
                <a:latin typeface="Consolas" panose="020B0609020204030204" pitchFamily="49" charset="0"/>
                <a:cs typeface="Consolas" panose="020B0609020204030204" pitchFamily="49" charset="0"/>
              </a:rPr>
              <a:t> es:", area)</a:t>
            </a:r>
            <a:endParaRPr lang="es-CO" sz="1300" dirty="0">
              <a:latin typeface="Consolas" panose="020B0609020204030204" pitchFamily="49" charset="0"/>
              <a:cs typeface="Consolas" panose="020B0609020204030204" pitchFamily="49" charset="0"/>
            </a:endParaRPr>
          </a:p>
        </p:txBody>
      </p:sp>
      <p:sp>
        <p:nvSpPr>
          <p:cNvPr id="27" name="Rectángulo 26">
            <a:hlinkClick r:id="rId2"/>
            <a:extLst>
              <a:ext uri="{FF2B5EF4-FFF2-40B4-BE49-F238E27FC236}">
                <a16:creationId xmlns:a16="http://schemas.microsoft.com/office/drawing/2014/main" id="{D528608D-F126-45F8-992A-E49C55D22AC7}"/>
              </a:ext>
            </a:extLst>
          </p:cNvPr>
          <p:cNvSpPr/>
          <p:nvPr/>
        </p:nvSpPr>
        <p:spPr>
          <a:xfrm>
            <a:off x="5820816" y="5684057"/>
            <a:ext cx="1032516" cy="30647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400" dirty="0">
                <a:solidFill>
                  <a:schemeClr val="tx1"/>
                </a:solidFill>
                <a:latin typeface="Century Gothic" panose="020B0502020202020204" pitchFamily="34" charset="0"/>
                <a:hlinkClick r:id="rId3"/>
              </a:rPr>
              <a:t>link</a:t>
            </a:r>
            <a:endParaRPr lang="es-MX" sz="1200" dirty="0">
              <a:solidFill>
                <a:schemeClr val="tx1"/>
              </a:solidFill>
              <a:latin typeface="Century Gothic" panose="020B0502020202020204" pitchFamily="34" charset="0"/>
            </a:endParaRPr>
          </a:p>
        </p:txBody>
      </p:sp>
      <p:grpSp>
        <p:nvGrpSpPr>
          <p:cNvPr id="2" name="Grupo 1">
            <a:extLst>
              <a:ext uri="{FF2B5EF4-FFF2-40B4-BE49-F238E27FC236}">
                <a16:creationId xmlns:a16="http://schemas.microsoft.com/office/drawing/2014/main" id="{AAB97AB7-550E-4F10-9140-53F2BC02CCE9}"/>
              </a:ext>
            </a:extLst>
          </p:cNvPr>
          <p:cNvGrpSpPr/>
          <p:nvPr/>
        </p:nvGrpSpPr>
        <p:grpSpPr>
          <a:xfrm>
            <a:off x="631715" y="2010563"/>
            <a:ext cx="1998336" cy="3578352"/>
            <a:chOff x="3717689" y="1503803"/>
            <a:chExt cx="1998336" cy="3578352"/>
          </a:xfrm>
        </p:grpSpPr>
        <p:sp>
          <p:nvSpPr>
            <p:cNvPr id="29" name="Flowchart: Terminator 43">
              <a:extLst>
                <a:ext uri="{FF2B5EF4-FFF2-40B4-BE49-F238E27FC236}">
                  <a16:creationId xmlns:a16="http://schemas.microsoft.com/office/drawing/2014/main" id="{49A0F72D-00EA-4DFC-9582-81D2438CBC3F}"/>
                </a:ext>
              </a:extLst>
            </p:cNvPr>
            <p:cNvSpPr/>
            <p:nvPr/>
          </p:nvSpPr>
          <p:spPr>
            <a:xfrm>
              <a:off x="4244655" y="4787856"/>
              <a:ext cx="945572" cy="294299"/>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100" dirty="0">
                  <a:latin typeface="Consolas" panose="020B0609020204030204" pitchFamily="49" charset="0"/>
                </a:rPr>
                <a:t>Finish</a:t>
              </a:r>
              <a:endParaRPr lang="en-US" sz="1100" dirty="0">
                <a:latin typeface="Consolas" panose="020B0609020204030204" pitchFamily="49" charset="0"/>
              </a:endParaRPr>
            </a:p>
          </p:txBody>
        </p:sp>
        <p:sp>
          <p:nvSpPr>
            <p:cNvPr id="30" name="Flowchart: Terminator 44">
              <a:extLst>
                <a:ext uri="{FF2B5EF4-FFF2-40B4-BE49-F238E27FC236}">
                  <a16:creationId xmlns:a16="http://schemas.microsoft.com/office/drawing/2014/main" id="{60B555E7-4474-495D-9134-F2036627D845}"/>
                </a:ext>
              </a:extLst>
            </p:cNvPr>
            <p:cNvSpPr/>
            <p:nvPr/>
          </p:nvSpPr>
          <p:spPr>
            <a:xfrm>
              <a:off x="4228668" y="1503803"/>
              <a:ext cx="945572" cy="294299"/>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100" dirty="0">
                  <a:latin typeface="Consolas" panose="020B0609020204030204" pitchFamily="49" charset="0"/>
                </a:rPr>
                <a:t>Start</a:t>
              </a:r>
              <a:endParaRPr lang="en-US" sz="1100" dirty="0">
                <a:latin typeface="Consolas" panose="020B0609020204030204" pitchFamily="49" charset="0"/>
              </a:endParaRPr>
            </a:p>
          </p:txBody>
        </p:sp>
        <p:cxnSp>
          <p:nvCxnSpPr>
            <p:cNvPr id="31" name="Straight Arrow Connector 45">
              <a:extLst>
                <a:ext uri="{FF2B5EF4-FFF2-40B4-BE49-F238E27FC236}">
                  <a16:creationId xmlns:a16="http://schemas.microsoft.com/office/drawing/2014/main" id="{D9FF2FB4-A516-4DB6-AA91-52E1B4B5BB90}"/>
                </a:ext>
              </a:extLst>
            </p:cNvPr>
            <p:cNvCxnSpPr>
              <a:cxnSpLocks/>
              <a:stCxn id="30" idx="2"/>
              <a:endCxn id="38" idx="0"/>
            </p:cNvCxnSpPr>
            <p:nvPr/>
          </p:nvCxnSpPr>
          <p:spPr>
            <a:xfrm flipH="1">
              <a:off x="4698391" y="1798102"/>
              <a:ext cx="3063" cy="263145"/>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Straight Arrow Connector 48">
              <a:extLst>
                <a:ext uri="{FF2B5EF4-FFF2-40B4-BE49-F238E27FC236}">
                  <a16:creationId xmlns:a16="http://schemas.microsoft.com/office/drawing/2014/main" id="{EE5898D2-64FB-490D-A0A0-C6ECEBF64CED}"/>
                </a:ext>
              </a:extLst>
            </p:cNvPr>
            <p:cNvCxnSpPr>
              <a:cxnSpLocks/>
              <a:stCxn id="37" idx="2"/>
              <a:endCxn id="33" idx="1"/>
            </p:cNvCxnSpPr>
            <p:nvPr/>
          </p:nvCxnSpPr>
          <p:spPr>
            <a:xfrm>
              <a:off x="4716857" y="3839422"/>
              <a:ext cx="584" cy="293857"/>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Flowchart: Data 52">
              <a:extLst>
                <a:ext uri="{FF2B5EF4-FFF2-40B4-BE49-F238E27FC236}">
                  <a16:creationId xmlns:a16="http://schemas.microsoft.com/office/drawing/2014/main" id="{536A2FB2-D35C-441C-87ED-19C35E959D37}"/>
                </a:ext>
              </a:extLst>
            </p:cNvPr>
            <p:cNvSpPr/>
            <p:nvPr/>
          </p:nvSpPr>
          <p:spPr>
            <a:xfrm>
              <a:off x="3888073" y="4133279"/>
              <a:ext cx="1658736" cy="367873"/>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rPr>
                <a:t>Print </a:t>
              </a:r>
              <a:r>
                <a:rPr lang="en-US" sz="1100" b="1" dirty="0">
                  <a:latin typeface="Consolas" panose="020B0609020204030204" pitchFamily="49" charset="0"/>
                </a:rPr>
                <a:t>area</a:t>
              </a:r>
            </a:p>
          </p:txBody>
        </p:sp>
        <p:cxnSp>
          <p:nvCxnSpPr>
            <p:cNvPr id="34" name="Straight Arrow Connector 53">
              <a:extLst>
                <a:ext uri="{FF2B5EF4-FFF2-40B4-BE49-F238E27FC236}">
                  <a16:creationId xmlns:a16="http://schemas.microsoft.com/office/drawing/2014/main" id="{8F8F4F61-C9E2-426A-83C7-3DB61235963E}"/>
                </a:ext>
              </a:extLst>
            </p:cNvPr>
            <p:cNvCxnSpPr>
              <a:cxnSpLocks/>
              <a:stCxn id="33" idx="4"/>
              <a:endCxn id="29" idx="0"/>
            </p:cNvCxnSpPr>
            <p:nvPr/>
          </p:nvCxnSpPr>
          <p:spPr>
            <a:xfrm>
              <a:off x="4717441" y="4501152"/>
              <a:ext cx="0" cy="286704"/>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Flowchart: Data 68">
              <a:extLst>
                <a:ext uri="{FF2B5EF4-FFF2-40B4-BE49-F238E27FC236}">
                  <a16:creationId xmlns:a16="http://schemas.microsoft.com/office/drawing/2014/main" id="{66FA69CA-EB42-471A-8F76-5889FDADE3F2}"/>
                </a:ext>
              </a:extLst>
            </p:cNvPr>
            <p:cNvSpPr/>
            <p:nvPr/>
          </p:nvSpPr>
          <p:spPr>
            <a:xfrm>
              <a:off x="3883120" y="2717651"/>
              <a:ext cx="1664183" cy="441447"/>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rPr>
                <a:t>Read radio</a:t>
              </a:r>
              <a:endParaRPr lang="en-US" sz="1100" b="1" dirty="0">
                <a:latin typeface="Consolas" panose="020B0609020204030204" pitchFamily="49" charset="0"/>
              </a:endParaRPr>
            </a:p>
          </p:txBody>
        </p:sp>
        <p:cxnSp>
          <p:nvCxnSpPr>
            <p:cNvPr id="36" name="Straight Arrow Connector 47">
              <a:extLst>
                <a:ext uri="{FF2B5EF4-FFF2-40B4-BE49-F238E27FC236}">
                  <a16:creationId xmlns:a16="http://schemas.microsoft.com/office/drawing/2014/main" id="{2FBE4D42-3AB2-441E-A7EA-ABC2767B5FC3}"/>
                </a:ext>
              </a:extLst>
            </p:cNvPr>
            <p:cNvCxnSpPr>
              <a:cxnSpLocks/>
              <a:stCxn id="35" idx="4"/>
              <a:endCxn id="37" idx="0"/>
            </p:cNvCxnSpPr>
            <p:nvPr/>
          </p:nvCxnSpPr>
          <p:spPr>
            <a:xfrm>
              <a:off x="4715212" y="3159098"/>
              <a:ext cx="1645" cy="312451"/>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7" name="Flowchart: Process 42">
              <a:extLst>
                <a:ext uri="{FF2B5EF4-FFF2-40B4-BE49-F238E27FC236}">
                  <a16:creationId xmlns:a16="http://schemas.microsoft.com/office/drawing/2014/main" id="{A049D78B-5DEC-40BC-B3DD-AD3B2C227D3B}"/>
                </a:ext>
              </a:extLst>
            </p:cNvPr>
            <p:cNvSpPr/>
            <p:nvPr/>
          </p:nvSpPr>
          <p:spPr>
            <a:xfrm>
              <a:off x="3717689" y="3471549"/>
              <a:ext cx="1998336" cy="367873"/>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sym typeface="Wingdings" pitchFamily="2" charset="2"/>
                </a:rPr>
                <a:t>area </a:t>
              </a:r>
              <a:r>
                <a:rPr lang="en-US" sz="1100" dirty="0">
                  <a:latin typeface="Consolas" panose="020B0609020204030204" pitchFamily="49" charset="0"/>
                </a:rPr>
                <a:t> PI * (radio**2)</a:t>
              </a:r>
            </a:p>
          </p:txBody>
        </p:sp>
        <p:sp>
          <p:nvSpPr>
            <p:cNvPr id="38" name="Flowchart: Process 42">
              <a:extLst>
                <a:ext uri="{FF2B5EF4-FFF2-40B4-BE49-F238E27FC236}">
                  <a16:creationId xmlns:a16="http://schemas.microsoft.com/office/drawing/2014/main" id="{02EEDE9F-7579-42D3-97B0-37EA726A691A}"/>
                </a:ext>
              </a:extLst>
            </p:cNvPr>
            <p:cNvSpPr/>
            <p:nvPr/>
          </p:nvSpPr>
          <p:spPr>
            <a:xfrm>
              <a:off x="3762288" y="2061246"/>
              <a:ext cx="1872206" cy="367873"/>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latin typeface="Consolas" panose="020B0609020204030204" pitchFamily="49" charset="0"/>
                  <a:sym typeface="Wingdings" pitchFamily="2" charset="2"/>
                </a:rPr>
                <a:t>PI </a:t>
              </a:r>
              <a:r>
                <a:rPr lang="en-US" sz="1100" dirty="0">
                  <a:latin typeface="Consolas" panose="020B0609020204030204" pitchFamily="49" charset="0"/>
                </a:rPr>
                <a:t> 3.14</a:t>
              </a:r>
            </a:p>
          </p:txBody>
        </p:sp>
        <p:cxnSp>
          <p:nvCxnSpPr>
            <p:cNvPr id="39" name="Straight Arrow Connector 45">
              <a:extLst>
                <a:ext uri="{FF2B5EF4-FFF2-40B4-BE49-F238E27FC236}">
                  <a16:creationId xmlns:a16="http://schemas.microsoft.com/office/drawing/2014/main" id="{3530AB93-DC9C-48F4-9BEB-FF98F81D65D9}"/>
                </a:ext>
              </a:extLst>
            </p:cNvPr>
            <p:cNvCxnSpPr>
              <a:cxnSpLocks/>
              <a:endCxn id="35" idx="1"/>
            </p:cNvCxnSpPr>
            <p:nvPr/>
          </p:nvCxnSpPr>
          <p:spPr>
            <a:xfrm flipH="1">
              <a:off x="4715211" y="2408609"/>
              <a:ext cx="1" cy="30904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pic>
        <p:nvPicPr>
          <p:cNvPr id="40" name="Imagen 39">
            <a:extLst>
              <a:ext uri="{FF2B5EF4-FFF2-40B4-BE49-F238E27FC236}">
                <a16:creationId xmlns:a16="http://schemas.microsoft.com/office/drawing/2014/main" id="{8D1A3263-0E10-4E8F-B4D2-8DBD46CEBE01}"/>
              </a:ext>
            </a:extLst>
          </p:cNvPr>
          <p:cNvPicPr>
            <a:picLocks noChangeAspect="1"/>
          </p:cNvPicPr>
          <p:nvPr/>
        </p:nvPicPr>
        <p:blipFill>
          <a:blip r:embed="rId4"/>
          <a:stretch>
            <a:fillRect/>
          </a:stretch>
        </p:blipFill>
        <p:spPr>
          <a:xfrm>
            <a:off x="3267808" y="4835052"/>
            <a:ext cx="736515" cy="753863"/>
          </a:xfrm>
          <a:prstGeom prst="rect">
            <a:avLst/>
          </a:prstGeom>
        </p:spPr>
      </p:pic>
    </p:spTree>
    <p:extLst>
      <p:ext uri="{BB962C8B-B14F-4D97-AF65-F5344CB8AC3E}">
        <p14:creationId xmlns:p14="http://schemas.microsoft.com/office/powerpoint/2010/main" val="17904797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60341" y="167717"/>
            <a:ext cx="7886700" cy="743229"/>
          </a:xfrm>
        </p:spPr>
        <p:txBody>
          <a:bodyPr/>
          <a:lstStyle/>
          <a:p>
            <a:r>
              <a:rPr lang="es-CO" sz="2800" dirty="0"/>
              <a:t>Problema - Solución</a:t>
            </a:r>
            <a:endParaRPr lang="en-US" sz="2800" dirty="0"/>
          </a:p>
        </p:txBody>
      </p:sp>
      <p:grpSp>
        <p:nvGrpSpPr>
          <p:cNvPr id="57" name="Grupo 56">
            <a:extLst>
              <a:ext uri="{FF2B5EF4-FFF2-40B4-BE49-F238E27FC236}">
                <a16:creationId xmlns:a16="http://schemas.microsoft.com/office/drawing/2014/main" id="{C75A40F1-4714-4A2D-8D6C-7A413FEBF89C}"/>
              </a:ext>
            </a:extLst>
          </p:cNvPr>
          <p:cNvGrpSpPr/>
          <p:nvPr/>
        </p:nvGrpSpPr>
        <p:grpSpPr>
          <a:xfrm>
            <a:off x="326360" y="1401739"/>
            <a:ext cx="2592287" cy="4054522"/>
            <a:chOff x="3865663" y="2084774"/>
            <a:chExt cx="2592287" cy="4054522"/>
          </a:xfrm>
        </p:grpSpPr>
        <p:sp>
          <p:nvSpPr>
            <p:cNvPr id="14" name="Flowchart: Terminator 43">
              <a:extLst>
                <a:ext uri="{FF2B5EF4-FFF2-40B4-BE49-F238E27FC236}">
                  <a16:creationId xmlns:a16="http://schemas.microsoft.com/office/drawing/2014/main" id="{BED445AE-167E-4AA6-AFC0-11E3E35EA28D}"/>
                </a:ext>
              </a:extLst>
            </p:cNvPr>
            <p:cNvSpPr/>
            <p:nvPr/>
          </p:nvSpPr>
          <p:spPr>
            <a:xfrm>
              <a:off x="4507179" y="5809782"/>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Finish</a:t>
              </a:r>
              <a:endParaRPr lang="en-US" sz="1400" dirty="0">
                <a:latin typeface="Consolas" panose="020B0609020204030204" pitchFamily="49" charset="0"/>
              </a:endParaRPr>
            </a:p>
          </p:txBody>
        </p:sp>
        <p:sp>
          <p:nvSpPr>
            <p:cNvPr id="15" name="Flowchart: Terminator 44">
              <a:extLst>
                <a:ext uri="{FF2B5EF4-FFF2-40B4-BE49-F238E27FC236}">
                  <a16:creationId xmlns:a16="http://schemas.microsoft.com/office/drawing/2014/main" id="{1CF6A766-4B47-4A43-AFF3-4EF2D8AAFFEB}"/>
                </a:ext>
              </a:extLst>
            </p:cNvPr>
            <p:cNvSpPr/>
            <p:nvPr/>
          </p:nvSpPr>
          <p:spPr>
            <a:xfrm>
              <a:off x="4511421" y="2084774"/>
              <a:ext cx="1309254" cy="329514"/>
            </a:xfrm>
            <a:prstGeom prst="flowChartTerminator">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O" sz="1400" dirty="0">
                  <a:latin typeface="Consolas" panose="020B0609020204030204" pitchFamily="49" charset="0"/>
                </a:rPr>
                <a:t>Start</a:t>
              </a:r>
              <a:endParaRPr lang="en-US" sz="1400" dirty="0">
                <a:latin typeface="Consolas" panose="020B0609020204030204" pitchFamily="49" charset="0"/>
              </a:endParaRPr>
            </a:p>
          </p:txBody>
        </p:sp>
        <p:cxnSp>
          <p:nvCxnSpPr>
            <p:cNvPr id="16" name="Straight Arrow Connector 45">
              <a:extLst>
                <a:ext uri="{FF2B5EF4-FFF2-40B4-BE49-F238E27FC236}">
                  <a16:creationId xmlns:a16="http://schemas.microsoft.com/office/drawing/2014/main" id="{B38A8422-A529-4209-8D9A-A356AB1E003F}"/>
                </a:ext>
              </a:extLst>
            </p:cNvPr>
            <p:cNvCxnSpPr>
              <a:cxnSpLocks/>
              <a:stCxn id="15" idx="2"/>
              <a:endCxn id="23" idx="0"/>
            </p:cNvCxnSpPr>
            <p:nvPr/>
          </p:nvCxnSpPr>
          <p:spPr>
            <a:xfrm flipH="1">
              <a:off x="5161807" y="2414288"/>
              <a:ext cx="4241" cy="294632"/>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48">
              <a:extLst>
                <a:ext uri="{FF2B5EF4-FFF2-40B4-BE49-F238E27FC236}">
                  <a16:creationId xmlns:a16="http://schemas.microsoft.com/office/drawing/2014/main" id="{3A5F7DCD-C971-4E61-9D52-589716870EE4}"/>
                </a:ext>
              </a:extLst>
            </p:cNvPr>
            <p:cNvCxnSpPr>
              <a:cxnSpLocks/>
              <a:stCxn id="22" idx="2"/>
              <a:endCxn id="18" idx="1"/>
            </p:cNvCxnSpPr>
            <p:nvPr/>
          </p:nvCxnSpPr>
          <p:spPr>
            <a:xfrm>
              <a:off x="5161807" y="4710533"/>
              <a:ext cx="0" cy="323688"/>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Flowchart: Data 52">
              <a:extLst>
                <a:ext uri="{FF2B5EF4-FFF2-40B4-BE49-F238E27FC236}">
                  <a16:creationId xmlns:a16="http://schemas.microsoft.com/office/drawing/2014/main" id="{7C4ECD2D-A0D9-41E4-899E-92488B8E97A3}"/>
                </a:ext>
              </a:extLst>
            </p:cNvPr>
            <p:cNvSpPr/>
            <p:nvPr/>
          </p:nvSpPr>
          <p:spPr>
            <a:xfrm>
              <a:off x="4013451" y="5034221"/>
              <a:ext cx="2296712" cy="411892"/>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Print </a:t>
              </a:r>
              <a:r>
                <a:rPr lang="en-US" sz="1400" b="1" dirty="0">
                  <a:latin typeface="Consolas" panose="020B0609020204030204" pitchFamily="49" charset="0"/>
                </a:rPr>
                <a:t>area</a:t>
              </a:r>
            </a:p>
          </p:txBody>
        </p:sp>
        <p:cxnSp>
          <p:nvCxnSpPr>
            <p:cNvPr id="19" name="Straight Arrow Connector 53">
              <a:extLst>
                <a:ext uri="{FF2B5EF4-FFF2-40B4-BE49-F238E27FC236}">
                  <a16:creationId xmlns:a16="http://schemas.microsoft.com/office/drawing/2014/main" id="{88EE88A8-FD79-464A-8C89-F5B4C3CB7383}"/>
                </a:ext>
              </a:extLst>
            </p:cNvPr>
            <p:cNvCxnSpPr>
              <a:cxnSpLocks/>
              <a:stCxn id="18" idx="4"/>
              <a:endCxn id="14" idx="0"/>
            </p:cNvCxnSpPr>
            <p:nvPr/>
          </p:nvCxnSpPr>
          <p:spPr>
            <a:xfrm flipH="1">
              <a:off x="5161806" y="5446113"/>
              <a:ext cx="1" cy="363669"/>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Flowchart: Data 68">
              <a:extLst>
                <a:ext uri="{FF2B5EF4-FFF2-40B4-BE49-F238E27FC236}">
                  <a16:creationId xmlns:a16="http://schemas.microsoft.com/office/drawing/2014/main" id="{19568E3C-2EB2-4BA2-B069-6F97533D4AD7}"/>
                </a:ext>
              </a:extLst>
            </p:cNvPr>
            <p:cNvSpPr/>
            <p:nvPr/>
          </p:nvSpPr>
          <p:spPr>
            <a:xfrm>
              <a:off x="4032969" y="3443868"/>
              <a:ext cx="2304254" cy="494270"/>
            </a:xfrm>
            <a:prstGeom prst="flowChartInputOutpu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rPr>
                <a:t>Read </a:t>
              </a:r>
              <a:r>
                <a:rPr lang="en-US" sz="1400" b="1" dirty="0">
                  <a:latin typeface="Consolas" panose="020B0609020204030204" pitchFamily="49" charset="0"/>
                </a:rPr>
                <a:t>radio</a:t>
              </a:r>
              <a:br>
                <a:rPr lang="en-US" sz="1400" b="1" dirty="0">
                  <a:latin typeface="Consolas" panose="020B0609020204030204" pitchFamily="49" charset="0"/>
                </a:rPr>
              </a:br>
              <a:r>
                <a:rPr lang="en-US" sz="1400" dirty="0">
                  <a:latin typeface="Consolas" panose="020B0609020204030204" pitchFamily="49" charset="0"/>
                </a:rPr>
                <a:t>Read</a:t>
              </a:r>
              <a:r>
                <a:rPr lang="en-US" sz="1400" b="1" dirty="0">
                  <a:latin typeface="Consolas" panose="020B0609020204030204" pitchFamily="49" charset="0"/>
                </a:rPr>
                <a:t> height</a:t>
              </a:r>
            </a:p>
          </p:txBody>
        </p:sp>
        <p:cxnSp>
          <p:nvCxnSpPr>
            <p:cNvPr id="21" name="Straight Arrow Connector 47">
              <a:extLst>
                <a:ext uri="{FF2B5EF4-FFF2-40B4-BE49-F238E27FC236}">
                  <a16:creationId xmlns:a16="http://schemas.microsoft.com/office/drawing/2014/main" id="{839440A2-4ABB-416F-A054-E0F183DE6742}"/>
                </a:ext>
              </a:extLst>
            </p:cNvPr>
            <p:cNvCxnSpPr>
              <a:cxnSpLocks/>
              <a:stCxn id="20" idx="4"/>
            </p:cNvCxnSpPr>
            <p:nvPr/>
          </p:nvCxnSpPr>
          <p:spPr>
            <a:xfrm>
              <a:off x="5185096" y="3938138"/>
              <a:ext cx="1" cy="341410"/>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Flowchart: Process 42">
              <a:extLst>
                <a:ext uri="{FF2B5EF4-FFF2-40B4-BE49-F238E27FC236}">
                  <a16:creationId xmlns:a16="http://schemas.microsoft.com/office/drawing/2014/main" id="{5BAE35F9-4854-4E7D-9300-26DDBAB29571}"/>
                </a:ext>
              </a:extLst>
            </p:cNvPr>
            <p:cNvSpPr/>
            <p:nvPr/>
          </p:nvSpPr>
          <p:spPr>
            <a:xfrm>
              <a:off x="3865663" y="4298641"/>
              <a:ext cx="2592287"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area</a:t>
              </a:r>
              <a:r>
                <a:rPr lang="en-US" sz="1400" dirty="0">
                  <a:latin typeface="Consolas" panose="020B0609020204030204" pitchFamily="49" charset="0"/>
                </a:rPr>
                <a:t> PI * (radio**2)</a:t>
              </a:r>
            </a:p>
          </p:txBody>
        </p:sp>
        <p:sp>
          <p:nvSpPr>
            <p:cNvPr id="23" name="Flowchart: Process 42">
              <a:extLst>
                <a:ext uri="{FF2B5EF4-FFF2-40B4-BE49-F238E27FC236}">
                  <a16:creationId xmlns:a16="http://schemas.microsoft.com/office/drawing/2014/main" id="{698F2AC1-BDB8-494B-9418-CEB787156EE5}"/>
                </a:ext>
              </a:extLst>
            </p:cNvPr>
            <p:cNvSpPr/>
            <p:nvPr/>
          </p:nvSpPr>
          <p:spPr>
            <a:xfrm>
              <a:off x="3865664" y="2708920"/>
              <a:ext cx="2592286" cy="411892"/>
            </a:xfrm>
            <a:prstGeom prst="flowChartProcess">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latin typeface="Consolas" panose="020B0609020204030204" pitchFamily="49" charset="0"/>
                  <a:sym typeface="Wingdings" pitchFamily="2" charset="2"/>
                </a:rPr>
                <a:t>PI </a:t>
              </a:r>
              <a:r>
                <a:rPr lang="en-US" sz="1400" dirty="0">
                  <a:latin typeface="Consolas" panose="020B0609020204030204" pitchFamily="49" charset="0"/>
                </a:rPr>
                <a:t> 3.14</a:t>
              </a:r>
            </a:p>
          </p:txBody>
        </p:sp>
        <p:cxnSp>
          <p:nvCxnSpPr>
            <p:cNvPr id="28" name="Straight Arrow Connector 45">
              <a:extLst>
                <a:ext uri="{FF2B5EF4-FFF2-40B4-BE49-F238E27FC236}">
                  <a16:creationId xmlns:a16="http://schemas.microsoft.com/office/drawing/2014/main" id="{65150B39-3550-4E83-8156-741977F4300C}"/>
                </a:ext>
              </a:extLst>
            </p:cNvPr>
            <p:cNvCxnSpPr>
              <a:cxnSpLocks/>
              <a:endCxn id="20" idx="1"/>
            </p:cNvCxnSpPr>
            <p:nvPr/>
          </p:nvCxnSpPr>
          <p:spPr>
            <a:xfrm flipH="1">
              <a:off x="5185096" y="3097847"/>
              <a:ext cx="2" cy="346021"/>
            </a:xfrm>
            <a:prstGeom prst="straightConnector1">
              <a:avLst/>
            </a:prstGeom>
            <a:ln>
              <a:solidFill>
                <a:schemeClr val="tx1">
                  <a:lumMod val="50000"/>
                  <a:lumOff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24" name="CuadroTexto 23">
            <a:extLst>
              <a:ext uri="{FF2B5EF4-FFF2-40B4-BE49-F238E27FC236}">
                <a16:creationId xmlns:a16="http://schemas.microsoft.com/office/drawing/2014/main" id="{58DBAB80-7B45-4C61-B5B2-9BE2ACB11B54}"/>
              </a:ext>
            </a:extLst>
          </p:cNvPr>
          <p:cNvSpPr txBox="1"/>
          <p:nvPr/>
        </p:nvSpPr>
        <p:spPr>
          <a:xfrm>
            <a:off x="3417482" y="789946"/>
            <a:ext cx="5550826" cy="1492716"/>
          </a:xfrm>
          <a:prstGeom prst="rect">
            <a:avLst/>
          </a:prstGeom>
          <a:noFill/>
          <a:ln>
            <a:solidFill>
              <a:schemeClr val="tx1"/>
            </a:solidFill>
          </a:ln>
        </p:spPr>
        <p:txBody>
          <a:bodyPr wrap="square">
            <a:spAutoFit/>
          </a:bodyPr>
          <a:lstStyle/>
          <a:p>
            <a:r>
              <a:rPr lang="es-CO" sz="1300" b="1" dirty="0">
                <a:latin typeface="Consolas" panose="020B0609020204030204" pitchFamily="49" charset="0"/>
              </a:rPr>
              <a:t>Inicio</a:t>
            </a:r>
            <a:endParaRPr lang="es-CO" sz="1300" dirty="0">
              <a:latin typeface="Consolas" panose="020B0609020204030204" pitchFamily="49" charset="0"/>
            </a:endParaRPr>
          </a:p>
          <a:p>
            <a:r>
              <a:rPr lang="es-CO" sz="1300" dirty="0">
                <a:solidFill>
                  <a:schemeClr val="accent4"/>
                </a:solidFill>
                <a:latin typeface="Consolas" panose="020B0609020204030204" pitchFamily="49" charset="0"/>
              </a:rPr>
              <a:t>  Real</a:t>
            </a:r>
            <a:r>
              <a:rPr lang="es-CO" sz="1300" dirty="0">
                <a:latin typeface="Consolas" panose="020B0609020204030204" pitchFamily="49" charset="0"/>
              </a:rPr>
              <a:t> PI = 3.14</a:t>
            </a:r>
          </a:p>
          <a:p>
            <a:r>
              <a:rPr lang="es-CO" sz="1300" dirty="0">
                <a:latin typeface="Consolas" panose="020B0609020204030204" pitchFamily="49" charset="0"/>
              </a:rPr>
              <a:t>  </a:t>
            </a:r>
            <a:r>
              <a:rPr lang="es-CO" sz="1300" dirty="0">
                <a:solidFill>
                  <a:schemeClr val="accent4"/>
                </a:solidFill>
                <a:latin typeface="Consolas" panose="020B0609020204030204" pitchFamily="49" charset="0"/>
              </a:rPr>
              <a:t>Real</a:t>
            </a:r>
            <a:r>
              <a:rPr lang="es-CO" sz="1300" dirty="0">
                <a:latin typeface="Consolas" panose="020B0609020204030204" pitchFamily="49" charset="0"/>
              </a:rPr>
              <a:t> radio, area; </a:t>
            </a:r>
          </a:p>
          <a:p>
            <a:r>
              <a:rPr lang="es-CO" sz="1300" dirty="0">
                <a:latin typeface="Consolas" panose="020B0609020204030204" pitchFamily="49" charset="0"/>
              </a:rPr>
              <a:t>  Leer(radio)</a:t>
            </a:r>
          </a:p>
          <a:p>
            <a:r>
              <a:rPr lang="es-CO" sz="1300" dirty="0">
                <a:latin typeface="Consolas" panose="020B0609020204030204" pitchFamily="49" charset="0"/>
              </a:rPr>
              <a:t>  area = PI*(radio**2)</a:t>
            </a:r>
          </a:p>
          <a:p>
            <a:r>
              <a:rPr lang="es-CO" sz="1300" dirty="0">
                <a:latin typeface="Consolas" panose="020B0609020204030204" pitchFamily="49" charset="0"/>
              </a:rPr>
              <a:t>  Escribir(area)</a:t>
            </a:r>
          </a:p>
          <a:p>
            <a:r>
              <a:rPr lang="es-CO" sz="1300" b="1" dirty="0">
                <a:latin typeface="Consolas" panose="020B0609020204030204" pitchFamily="49" charset="0"/>
              </a:rPr>
              <a:t>Fin</a:t>
            </a:r>
          </a:p>
        </p:txBody>
      </p:sp>
      <p:sp>
        <p:nvSpPr>
          <p:cNvPr id="25" name="1 Rectángulo">
            <a:extLst>
              <a:ext uri="{FF2B5EF4-FFF2-40B4-BE49-F238E27FC236}">
                <a16:creationId xmlns:a16="http://schemas.microsoft.com/office/drawing/2014/main" id="{529D5F01-1C96-4ED9-A5DD-67EFC842684B}"/>
              </a:ext>
            </a:extLst>
          </p:cNvPr>
          <p:cNvSpPr/>
          <p:nvPr/>
        </p:nvSpPr>
        <p:spPr>
          <a:xfrm>
            <a:off x="3417481" y="2799556"/>
            <a:ext cx="5565859" cy="3693319"/>
          </a:xfrm>
          <a:prstGeom prst="rect">
            <a:avLst/>
          </a:prstGeom>
          <a:ln w="12700">
            <a:solidFill>
              <a:schemeClr val="tx2"/>
            </a:solidFill>
          </a:ln>
        </p:spPr>
        <p:txBody>
          <a:bodyPr wrap="square">
            <a:spAutoFit/>
          </a:bodyPr>
          <a:lstStyle/>
          <a:p>
            <a:r>
              <a:rPr lang="en-US" sz="1300" dirty="0">
                <a:latin typeface="Consolas" panose="020B0609020204030204" pitchFamily="49" charset="0"/>
                <a:cs typeface="Consolas" panose="020B0609020204030204" pitchFamily="49" charset="0"/>
              </a:rPr>
              <a:t>import </a:t>
            </a:r>
            <a:r>
              <a:rPr lang="en-US" sz="1300" dirty="0" err="1">
                <a:latin typeface="Consolas" panose="020B0609020204030204" pitchFamily="49" charset="0"/>
                <a:cs typeface="Consolas" panose="020B0609020204030204" pitchFamily="49" charset="0"/>
              </a:rPr>
              <a:t>java.util.Scanner</a:t>
            </a:r>
            <a:r>
              <a:rPr lang="en-US" sz="1300" dirty="0">
                <a:latin typeface="Consolas" panose="020B0609020204030204" pitchFamily="49" charset="0"/>
                <a:cs typeface="Consolas" panose="020B0609020204030204" pitchFamily="49" charset="0"/>
              </a:rPr>
              <a:t>;</a:t>
            </a:r>
          </a:p>
          <a:p>
            <a:endParaRPr lang="en-US" sz="1300" dirty="0">
              <a:latin typeface="Consolas" panose="020B0609020204030204" pitchFamily="49" charset="0"/>
              <a:cs typeface="Consolas" panose="020B0609020204030204" pitchFamily="49" charset="0"/>
            </a:endParaRPr>
          </a:p>
          <a:p>
            <a:r>
              <a:rPr lang="en-US" sz="1300" dirty="0">
                <a:latin typeface="Consolas" panose="020B0609020204030204" pitchFamily="49" charset="0"/>
                <a:cs typeface="Consolas" panose="020B0609020204030204" pitchFamily="49" charset="0"/>
              </a:rPr>
              <a:t>public class </a:t>
            </a:r>
            <a:r>
              <a:rPr lang="en-US" sz="1300" dirty="0" err="1">
                <a:latin typeface="Consolas" panose="020B0609020204030204" pitchFamily="49" charset="0"/>
                <a:cs typeface="Consolas" panose="020B0609020204030204" pitchFamily="49" charset="0"/>
              </a:rPr>
              <a:t>MainClass</a:t>
            </a:r>
            <a:r>
              <a:rPr lang="en-US" sz="1300" dirty="0">
                <a:latin typeface="Consolas" panose="020B0609020204030204" pitchFamily="49" charset="0"/>
                <a:cs typeface="Consolas" panose="020B0609020204030204" pitchFamily="49" charset="0"/>
              </a:rPr>
              <a:t> {</a:t>
            </a:r>
          </a:p>
          <a:p>
            <a:r>
              <a:rPr lang="en-US" sz="1300" dirty="0">
                <a:latin typeface="Consolas" panose="020B0609020204030204" pitchFamily="49" charset="0"/>
                <a:cs typeface="Consolas" panose="020B0609020204030204" pitchFamily="49" charset="0"/>
              </a:rPr>
              <a:t>  public static void main(String[] </a:t>
            </a:r>
            <a:r>
              <a:rPr lang="en-US" sz="1300" dirty="0" err="1">
                <a:latin typeface="Consolas" panose="020B0609020204030204" pitchFamily="49" charset="0"/>
                <a:cs typeface="Consolas" panose="020B0609020204030204" pitchFamily="49" charset="0"/>
              </a:rPr>
              <a:t>args</a:t>
            </a:r>
            <a:r>
              <a:rPr lang="en-US" sz="1300" dirty="0">
                <a:latin typeface="Consolas" panose="020B0609020204030204" pitchFamily="49" charset="0"/>
                <a:cs typeface="Consolas" panose="020B0609020204030204" pitchFamily="49" charset="0"/>
              </a:rPr>
              <a:t>) {</a:t>
            </a:r>
          </a:p>
          <a:p>
            <a:r>
              <a:rPr lang="en-US" sz="1300" dirty="0">
                <a:latin typeface="Consolas" panose="020B0609020204030204" pitchFamily="49" charset="0"/>
                <a:cs typeface="Consolas" panose="020B0609020204030204" pitchFamily="49" charset="0"/>
              </a:rPr>
              <a:t>    // </a:t>
            </a:r>
            <a:r>
              <a:rPr lang="en-US" sz="1300" dirty="0" err="1">
                <a:latin typeface="Consolas" panose="020B0609020204030204" pitchFamily="49" charset="0"/>
                <a:cs typeface="Consolas" panose="020B0609020204030204" pitchFamily="49" charset="0"/>
              </a:rPr>
              <a:t>Declaraciones</a:t>
            </a:r>
            <a:endParaRPr lang="en-US" sz="1300" dirty="0">
              <a:latin typeface="Consolas" panose="020B0609020204030204" pitchFamily="49" charset="0"/>
              <a:cs typeface="Consolas" panose="020B0609020204030204" pitchFamily="49" charset="0"/>
            </a:endParaRPr>
          </a:p>
          <a:p>
            <a:r>
              <a:rPr lang="en-US" sz="1300" dirty="0">
                <a:latin typeface="Consolas" panose="020B0609020204030204" pitchFamily="49" charset="0"/>
                <a:cs typeface="Consolas" panose="020B0609020204030204" pitchFamily="49" charset="0"/>
              </a:rPr>
              <a:t>    Scanner keyboard = new Scanner(System.in);</a:t>
            </a:r>
          </a:p>
          <a:p>
            <a:r>
              <a:rPr lang="en-US" sz="1300" dirty="0">
                <a:latin typeface="Consolas" panose="020B0609020204030204" pitchFamily="49" charset="0"/>
                <a:cs typeface="Consolas" panose="020B0609020204030204" pitchFamily="49" charset="0"/>
              </a:rPr>
              <a:t>    final double PI = 3.14;</a:t>
            </a:r>
          </a:p>
          <a:p>
            <a:r>
              <a:rPr lang="en-US" sz="1300" dirty="0">
                <a:latin typeface="Consolas" panose="020B0609020204030204" pitchFamily="49" charset="0"/>
                <a:cs typeface="Consolas" panose="020B0609020204030204" pitchFamily="49" charset="0"/>
              </a:rPr>
              <a:t>    double radio, area;</a:t>
            </a:r>
          </a:p>
          <a:p>
            <a:r>
              <a:rPr lang="en-US" sz="1300" dirty="0">
                <a:latin typeface="Consolas" panose="020B0609020204030204" pitchFamily="49" charset="0"/>
                <a:cs typeface="Consolas" panose="020B0609020204030204" pitchFamily="49" charset="0"/>
              </a:rPr>
              <a:t>    // Entrada de </a:t>
            </a:r>
            <a:r>
              <a:rPr lang="en-US" sz="1300" dirty="0" err="1">
                <a:latin typeface="Consolas" panose="020B0609020204030204" pitchFamily="49" charset="0"/>
                <a:cs typeface="Consolas" panose="020B0609020204030204" pitchFamily="49" charset="0"/>
              </a:rPr>
              <a:t>datos</a:t>
            </a:r>
            <a:endParaRPr lang="en-US" sz="1300" dirty="0">
              <a:latin typeface="Consolas" panose="020B0609020204030204" pitchFamily="49" charset="0"/>
              <a:cs typeface="Consolas" panose="020B0609020204030204" pitchFamily="49" charset="0"/>
            </a:endParaRPr>
          </a:p>
          <a:p>
            <a:r>
              <a:rPr lang="en-US" sz="1300" dirty="0">
                <a:latin typeface="Consolas" panose="020B0609020204030204" pitchFamily="49" charset="0"/>
                <a:cs typeface="Consolas" panose="020B0609020204030204" pitchFamily="49" charset="0"/>
              </a:rPr>
              <a:t>    </a:t>
            </a:r>
            <a:r>
              <a:rPr lang="en-US" sz="1300" dirty="0" err="1">
                <a:latin typeface="Consolas" panose="020B0609020204030204" pitchFamily="49" charset="0"/>
                <a:cs typeface="Consolas" panose="020B0609020204030204" pitchFamily="49" charset="0"/>
              </a:rPr>
              <a:t>System.out.print</a:t>
            </a:r>
            <a:r>
              <a:rPr lang="en-US" sz="1300" dirty="0">
                <a:latin typeface="Consolas" panose="020B0609020204030204" pitchFamily="49" charset="0"/>
                <a:cs typeface="Consolas" panose="020B0609020204030204" pitchFamily="49" charset="0"/>
              </a:rPr>
              <a:t>("</a:t>
            </a:r>
            <a:r>
              <a:rPr lang="en-US" sz="1300" dirty="0" err="1">
                <a:latin typeface="Consolas" panose="020B0609020204030204" pitchFamily="49" charset="0"/>
                <a:cs typeface="Consolas" panose="020B0609020204030204" pitchFamily="49" charset="0"/>
              </a:rPr>
              <a:t>Digite</a:t>
            </a:r>
            <a:r>
              <a:rPr lang="en-US" sz="1300" dirty="0">
                <a:latin typeface="Consolas" panose="020B0609020204030204" pitchFamily="49" charset="0"/>
                <a:cs typeface="Consolas" panose="020B0609020204030204" pitchFamily="49" charset="0"/>
              </a:rPr>
              <a:t> </a:t>
            </a:r>
            <a:r>
              <a:rPr lang="en-US" sz="1300" dirty="0" err="1">
                <a:latin typeface="Consolas" panose="020B0609020204030204" pitchFamily="49" charset="0"/>
                <a:cs typeface="Consolas" panose="020B0609020204030204" pitchFamily="49" charset="0"/>
              </a:rPr>
              <a:t>el</a:t>
            </a:r>
            <a:r>
              <a:rPr lang="en-US" sz="1300" dirty="0">
                <a:latin typeface="Consolas" panose="020B0609020204030204" pitchFamily="49" charset="0"/>
                <a:cs typeface="Consolas" panose="020B0609020204030204" pitchFamily="49" charset="0"/>
              </a:rPr>
              <a:t> radio: ");</a:t>
            </a:r>
          </a:p>
          <a:p>
            <a:r>
              <a:rPr lang="en-US" sz="1300" dirty="0">
                <a:latin typeface="Consolas" panose="020B0609020204030204" pitchFamily="49" charset="0"/>
                <a:cs typeface="Consolas" panose="020B0609020204030204" pitchFamily="49" charset="0"/>
              </a:rPr>
              <a:t>    radio = </a:t>
            </a:r>
            <a:r>
              <a:rPr lang="en-US" sz="1300" dirty="0" err="1">
                <a:latin typeface="Consolas" panose="020B0609020204030204" pitchFamily="49" charset="0"/>
                <a:cs typeface="Consolas" panose="020B0609020204030204" pitchFamily="49" charset="0"/>
              </a:rPr>
              <a:t>keyboard.nextDouble</a:t>
            </a:r>
            <a:r>
              <a:rPr lang="en-US" sz="1300" dirty="0">
                <a:latin typeface="Consolas" panose="020B0609020204030204" pitchFamily="49" charset="0"/>
                <a:cs typeface="Consolas" panose="020B0609020204030204" pitchFamily="49" charset="0"/>
              </a:rPr>
              <a:t>();</a:t>
            </a:r>
          </a:p>
          <a:p>
            <a:r>
              <a:rPr lang="en-US" sz="1300" dirty="0">
                <a:latin typeface="Consolas" panose="020B0609020204030204" pitchFamily="49" charset="0"/>
                <a:cs typeface="Consolas" panose="020B0609020204030204" pitchFamily="49" charset="0"/>
              </a:rPr>
              <a:t>    // </a:t>
            </a:r>
            <a:r>
              <a:rPr lang="en-US" sz="1300" dirty="0" err="1">
                <a:latin typeface="Consolas" panose="020B0609020204030204" pitchFamily="49" charset="0"/>
                <a:cs typeface="Consolas" panose="020B0609020204030204" pitchFamily="49" charset="0"/>
              </a:rPr>
              <a:t>Calculo</a:t>
            </a:r>
            <a:r>
              <a:rPr lang="en-US" sz="1300" dirty="0">
                <a:latin typeface="Consolas" panose="020B0609020204030204" pitchFamily="49" charset="0"/>
                <a:cs typeface="Consolas" panose="020B0609020204030204" pitchFamily="49" charset="0"/>
              </a:rPr>
              <a:t> del area</a:t>
            </a:r>
          </a:p>
          <a:p>
            <a:r>
              <a:rPr lang="en-US" sz="1300" dirty="0">
                <a:latin typeface="Consolas" panose="020B0609020204030204" pitchFamily="49" charset="0"/>
                <a:cs typeface="Consolas" panose="020B0609020204030204" pitchFamily="49" charset="0"/>
              </a:rPr>
              <a:t>    area = </a:t>
            </a:r>
            <a:r>
              <a:rPr lang="en-US" sz="1300" dirty="0" err="1">
                <a:latin typeface="Consolas" panose="020B0609020204030204" pitchFamily="49" charset="0"/>
                <a:cs typeface="Consolas" panose="020B0609020204030204" pitchFamily="49" charset="0"/>
              </a:rPr>
              <a:t>Math.PI</a:t>
            </a:r>
            <a:r>
              <a:rPr lang="en-US" sz="1300" dirty="0">
                <a:latin typeface="Consolas" panose="020B0609020204030204" pitchFamily="49" charset="0"/>
                <a:cs typeface="Consolas" panose="020B0609020204030204" pitchFamily="49" charset="0"/>
              </a:rPr>
              <a:t> * </a:t>
            </a:r>
            <a:r>
              <a:rPr lang="en-US" sz="1300" dirty="0" err="1">
                <a:latin typeface="Consolas" panose="020B0609020204030204" pitchFamily="49" charset="0"/>
                <a:cs typeface="Consolas" panose="020B0609020204030204" pitchFamily="49" charset="0"/>
              </a:rPr>
              <a:t>Math.pow</a:t>
            </a:r>
            <a:r>
              <a:rPr lang="en-US" sz="1300" dirty="0">
                <a:latin typeface="Consolas" panose="020B0609020204030204" pitchFamily="49" charset="0"/>
                <a:cs typeface="Consolas" panose="020B0609020204030204" pitchFamily="49" charset="0"/>
              </a:rPr>
              <a:t>(radio, 2);</a:t>
            </a:r>
          </a:p>
          <a:p>
            <a:r>
              <a:rPr lang="en-US" sz="1300" dirty="0">
                <a:latin typeface="Consolas" panose="020B0609020204030204" pitchFamily="49" charset="0"/>
                <a:cs typeface="Consolas" panose="020B0609020204030204" pitchFamily="49" charset="0"/>
              </a:rPr>
              <a:t>    // </a:t>
            </a:r>
            <a:r>
              <a:rPr lang="en-US" sz="1300" dirty="0" err="1">
                <a:latin typeface="Consolas" panose="020B0609020204030204" pitchFamily="49" charset="0"/>
                <a:cs typeface="Consolas" panose="020B0609020204030204" pitchFamily="49" charset="0"/>
              </a:rPr>
              <a:t>Despliegue</a:t>
            </a:r>
            <a:r>
              <a:rPr lang="en-US" sz="1300" dirty="0">
                <a:latin typeface="Consolas" panose="020B0609020204030204" pitchFamily="49" charset="0"/>
                <a:cs typeface="Consolas" panose="020B0609020204030204" pitchFamily="49" charset="0"/>
              </a:rPr>
              <a:t> del area</a:t>
            </a:r>
          </a:p>
          <a:p>
            <a:r>
              <a:rPr lang="en-US" sz="1300" dirty="0">
                <a:latin typeface="Consolas" panose="020B0609020204030204" pitchFamily="49" charset="0"/>
                <a:cs typeface="Consolas" panose="020B0609020204030204" pitchFamily="49" charset="0"/>
              </a:rPr>
              <a:t>    </a:t>
            </a:r>
            <a:r>
              <a:rPr lang="en-US" sz="1300" dirty="0" err="1">
                <a:latin typeface="Consolas" panose="020B0609020204030204" pitchFamily="49" charset="0"/>
                <a:cs typeface="Consolas" panose="020B0609020204030204" pitchFamily="49" charset="0"/>
              </a:rPr>
              <a:t>System.out.println</a:t>
            </a:r>
            <a:r>
              <a:rPr lang="en-US" sz="1300" dirty="0">
                <a:latin typeface="Consolas" panose="020B0609020204030204" pitchFamily="49" charset="0"/>
                <a:cs typeface="Consolas" panose="020B0609020204030204" pitchFamily="49" charset="0"/>
              </a:rPr>
              <a:t>("El </a:t>
            </a:r>
            <a:r>
              <a:rPr lang="en-US" sz="1300" dirty="0" err="1">
                <a:latin typeface="Consolas" panose="020B0609020204030204" pitchFamily="49" charset="0"/>
                <a:cs typeface="Consolas" panose="020B0609020204030204" pitchFamily="49" charset="0"/>
              </a:rPr>
              <a:t>área</a:t>
            </a:r>
            <a:r>
              <a:rPr lang="en-US" sz="1300" dirty="0">
                <a:latin typeface="Consolas" panose="020B0609020204030204" pitchFamily="49" charset="0"/>
                <a:cs typeface="Consolas" panose="020B0609020204030204" pitchFamily="49" charset="0"/>
              </a:rPr>
              <a:t> del </a:t>
            </a:r>
            <a:r>
              <a:rPr lang="en-US" sz="1300" dirty="0" err="1">
                <a:latin typeface="Consolas" panose="020B0609020204030204" pitchFamily="49" charset="0"/>
                <a:cs typeface="Consolas" panose="020B0609020204030204" pitchFamily="49" charset="0"/>
              </a:rPr>
              <a:t>círculo</a:t>
            </a:r>
            <a:r>
              <a:rPr lang="en-US" sz="1300" dirty="0">
                <a:latin typeface="Consolas" panose="020B0609020204030204" pitchFamily="49" charset="0"/>
                <a:cs typeface="Consolas" panose="020B0609020204030204" pitchFamily="49" charset="0"/>
              </a:rPr>
              <a:t> es: " +  area);    </a:t>
            </a:r>
          </a:p>
          <a:p>
            <a:r>
              <a:rPr lang="en-US" sz="1300" dirty="0">
                <a:latin typeface="Consolas" panose="020B0609020204030204" pitchFamily="49" charset="0"/>
                <a:cs typeface="Consolas" panose="020B0609020204030204" pitchFamily="49" charset="0"/>
              </a:rPr>
              <a:t>    </a:t>
            </a:r>
            <a:r>
              <a:rPr lang="en-US" sz="1300" dirty="0" err="1">
                <a:latin typeface="Consolas" panose="020B0609020204030204" pitchFamily="49" charset="0"/>
                <a:cs typeface="Consolas" panose="020B0609020204030204" pitchFamily="49" charset="0"/>
              </a:rPr>
              <a:t>keyboard.close</a:t>
            </a:r>
            <a:r>
              <a:rPr lang="en-US" sz="1300" dirty="0">
                <a:latin typeface="Consolas" panose="020B0609020204030204" pitchFamily="49" charset="0"/>
                <a:cs typeface="Consolas" panose="020B0609020204030204" pitchFamily="49" charset="0"/>
              </a:rPr>
              <a:t>();    </a:t>
            </a:r>
          </a:p>
          <a:p>
            <a:r>
              <a:rPr lang="en-US" sz="1300" dirty="0">
                <a:latin typeface="Consolas" panose="020B0609020204030204" pitchFamily="49" charset="0"/>
                <a:cs typeface="Consolas" panose="020B0609020204030204" pitchFamily="49" charset="0"/>
              </a:rPr>
              <a:t>  }</a:t>
            </a:r>
          </a:p>
          <a:p>
            <a:r>
              <a:rPr lang="en-US" sz="1300" dirty="0">
                <a:latin typeface="Consolas" panose="020B0609020204030204" pitchFamily="49" charset="0"/>
                <a:cs typeface="Consolas" panose="020B0609020204030204" pitchFamily="49" charset="0"/>
              </a:rPr>
              <a:t>}</a:t>
            </a:r>
            <a:endParaRPr lang="es-CO" sz="1300" dirty="0">
              <a:latin typeface="Consolas" panose="020B0609020204030204" pitchFamily="49" charset="0"/>
              <a:cs typeface="Consolas" panose="020B0609020204030204" pitchFamily="49" charset="0"/>
            </a:endParaRPr>
          </a:p>
        </p:txBody>
      </p:sp>
      <p:sp>
        <p:nvSpPr>
          <p:cNvPr id="29" name="Rectángulo 28">
            <a:extLst>
              <a:ext uri="{FF2B5EF4-FFF2-40B4-BE49-F238E27FC236}">
                <a16:creationId xmlns:a16="http://schemas.microsoft.com/office/drawing/2014/main" id="{A671C5D2-F0A4-47BF-A512-A8B1D513A822}"/>
              </a:ext>
            </a:extLst>
          </p:cNvPr>
          <p:cNvSpPr/>
          <p:nvPr/>
        </p:nvSpPr>
        <p:spPr>
          <a:xfrm>
            <a:off x="5869233" y="6492875"/>
            <a:ext cx="1032516" cy="365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sz="1400" dirty="0">
                <a:solidFill>
                  <a:schemeClr val="tx1"/>
                </a:solidFill>
                <a:latin typeface="Century Gothic" panose="020B0502020202020204" pitchFamily="34" charset="0"/>
                <a:hlinkClick r:id="rId2"/>
              </a:rPr>
              <a:t>link</a:t>
            </a:r>
            <a:endParaRPr lang="es-MX" sz="1200" dirty="0">
              <a:solidFill>
                <a:schemeClr val="tx1"/>
              </a:solidFill>
              <a:latin typeface="Century Gothic" panose="020B0502020202020204" pitchFamily="34" charset="0"/>
            </a:endParaRPr>
          </a:p>
        </p:txBody>
      </p:sp>
      <p:pic>
        <p:nvPicPr>
          <p:cNvPr id="30" name="Imagen 29">
            <a:extLst>
              <a:ext uri="{FF2B5EF4-FFF2-40B4-BE49-F238E27FC236}">
                <a16:creationId xmlns:a16="http://schemas.microsoft.com/office/drawing/2014/main" id="{4F8CBE89-665C-420E-B29B-6157FD2300C8}"/>
              </a:ext>
            </a:extLst>
          </p:cNvPr>
          <p:cNvPicPr>
            <a:picLocks noChangeAspect="1"/>
          </p:cNvPicPr>
          <p:nvPr/>
        </p:nvPicPr>
        <p:blipFill>
          <a:blip r:embed="rId3"/>
          <a:stretch>
            <a:fillRect/>
          </a:stretch>
        </p:blipFill>
        <p:spPr>
          <a:xfrm>
            <a:off x="2478299" y="5593746"/>
            <a:ext cx="738013" cy="899129"/>
          </a:xfrm>
          <a:prstGeom prst="rect">
            <a:avLst/>
          </a:prstGeom>
        </p:spPr>
      </p:pic>
    </p:spTree>
    <p:extLst>
      <p:ext uri="{BB962C8B-B14F-4D97-AF65-F5344CB8AC3E}">
        <p14:creationId xmlns:p14="http://schemas.microsoft.com/office/powerpoint/2010/main" val="18780142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9512" y="260648"/>
            <a:ext cx="8424936" cy="1116540"/>
          </a:xfrm>
        </p:spPr>
        <p:txBody>
          <a:bodyPr/>
          <a:lstStyle/>
          <a:p>
            <a:r>
              <a:rPr lang="en-US" sz="3200" dirty="0"/>
              <a:t>Codificando un programa en Python</a:t>
            </a:r>
          </a:p>
        </p:txBody>
      </p:sp>
      <p:sp>
        <p:nvSpPr>
          <p:cNvPr id="2" name="Content Placeholder 1"/>
          <p:cNvSpPr>
            <a:spLocks noGrp="1"/>
          </p:cNvSpPr>
          <p:nvPr>
            <p:ph idx="1"/>
          </p:nvPr>
        </p:nvSpPr>
        <p:spPr>
          <a:xfrm>
            <a:off x="213334" y="1196752"/>
            <a:ext cx="8424936" cy="1872208"/>
          </a:xfrm>
        </p:spPr>
        <p:txBody>
          <a:bodyPr>
            <a:normAutofit/>
          </a:bodyPr>
          <a:lstStyle/>
          <a:p>
            <a:pPr marL="0" indent="0">
              <a:buNone/>
            </a:pPr>
            <a:r>
              <a:rPr lang="es-CO" sz="2400" b="1" dirty="0"/>
              <a:t>Abrir Spyder</a:t>
            </a:r>
          </a:p>
          <a:p>
            <a:r>
              <a:rPr lang="es-MX" sz="1800" b="1" dirty="0"/>
              <a:t>Spyder</a:t>
            </a:r>
            <a:r>
              <a:rPr lang="es-MX" sz="1800" dirty="0"/>
              <a:t> se instala junto con </a:t>
            </a:r>
            <a:r>
              <a:rPr lang="es-MX" sz="1800" b="1" dirty="0"/>
              <a:t>Anaconda</a:t>
            </a:r>
            <a:r>
              <a:rPr lang="es-MX" sz="1800" dirty="0"/>
              <a:t> y se abre desde el menú de inicio (Anaconda3 → Spyder).</a:t>
            </a:r>
          </a:p>
          <a:p>
            <a:r>
              <a:rPr lang="es-MX" sz="1800" dirty="0"/>
              <a:t>Es el entorno de desarrollo (IDE) que se usará para escribir y ejecutar los programas de Python del curso.</a:t>
            </a:r>
            <a:endParaRPr lang="en-US" sz="1800" dirty="0"/>
          </a:p>
        </p:txBody>
      </p:sp>
      <p:pic>
        <p:nvPicPr>
          <p:cNvPr id="7" name="Imagen 6">
            <a:extLst>
              <a:ext uri="{FF2B5EF4-FFF2-40B4-BE49-F238E27FC236}">
                <a16:creationId xmlns:a16="http://schemas.microsoft.com/office/drawing/2014/main" id="{1785C9C0-C26B-4186-B80F-FAF10F74B5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34808" y="3068960"/>
            <a:ext cx="4274384" cy="3179428"/>
          </a:xfrm>
          <a:prstGeom prst="rect">
            <a:avLst/>
          </a:prstGeom>
        </p:spPr>
      </p:pic>
    </p:spTree>
    <p:extLst>
      <p:ext uri="{BB962C8B-B14F-4D97-AF65-F5344CB8AC3E}">
        <p14:creationId xmlns:p14="http://schemas.microsoft.com/office/powerpoint/2010/main" val="4777131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9512" y="260648"/>
            <a:ext cx="8424936" cy="1116540"/>
          </a:xfrm>
        </p:spPr>
        <p:txBody>
          <a:bodyPr/>
          <a:lstStyle/>
          <a:p>
            <a:r>
              <a:rPr lang="en-US" sz="3200" dirty="0"/>
              <a:t>Codificando un programa en Python</a:t>
            </a:r>
          </a:p>
        </p:txBody>
      </p:sp>
      <p:sp>
        <p:nvSpPr>
          <p:cNvPr id="2" name="Content Placeholder 1"/>
          <p:cNvSpPr>
            <a:spLocks noGrp="1"/>
          </p:cNvSpPr>
          <p:nvPr>
            <p:ph idx="1"/>
          </p:nvPr>
        </p:nvSpPr>
        <p:spPr>
          <a:xfrm>
            <a:off x="179512" y="1043877"/>
            <a:ext cx="8751154" cy="2232248"/>
          </a:xfrm>
        </p:spPr>
        <p:txBody>
          <a:bodyPr>
            <a:normAutofit fontScale="92500" lnSpcReduction="10000"/>
          </a:bodyPr>
          <a:lstStyle/>
          <a:p>
            <a:pPr marL="0" indent="0">
              <a:buNone/>
            </a:pPr>
            <a:r>
              <a:rPr lang="es-CO" sz="2400" b="1" dirty="0"/>
              <a:t>Crear un nuevo script</a:t>
            </a:r>
          </a:p>
          <a:p>
            <a:r>
              <a:rPr lang="es-MX" sz="1900" dirty="0"/>
              <a:t>Al abrir </a:t>
            </a:r>
            <a:r>
              <a:rPr lang="es-MX" sz="1900" b="1" dirty="0"/>
              <a:t>Spyder</a:t>
            </a:r>
            <a:r>
              <a:rPr lang="es-MX" sz="1900" dirty="0"/>
              <a:t> (o crear un archivo nuevo), se genera un script vacío con una plantilla inicial: codificación (utf-8), fecha de creación y autor.</a:t>
            </a:r>
          </a:p>
          <a:p>
            <a:r>
              <a:rPr lang="es-MX" sz="1900" dirty="0"/>
              <a:t>El nombre por defecto es Sin </a:t>
            </a:r>
            <a:r>
              <a:rPr lang="es-MX" sz="1900" dirty="0">
                <a:latin typeface="Consolas" panose="020B0609020204030204" pitchFamily="49" charset="0"/>
              </a:rPr>
              <a:t>título0.py </a:t>
            </a:r>
            <a:r>
              <a:rPr lang="es-MX" sz="1900" dirty="0"/>
              <a:t>— se recomienda guardarlo con un nombre descriptivo (ej. </a:t>
            </a:r>
            <a:r>
              <a:rPr lang="es-MX" sz="1900" dirty="0">
                <a:latin typeface="Consolas" panose="020B0609020204030204" pitchFamily="49" charset="0"/>
              </a:rPr>
              <a:t>ejemplo3_areacirculo.py</a:t>
            </a:r>
            <a:r>
              <a:rPr lang="es-MX" sz="1900" dirty="0"/>
              <a:t>) antes de escribir el código.</a:t>
            </a:r>
          </a:p>
          <a:p>
            <a:r>
              <a:rPr lang="es-MX" sz="1900" dirty="0"/>
              <a:t>En este punto, la consola y el explorador de variables están vacíos, porque aún no se ha ejecutado nada.</a:t>
            </a:r>
            <a:endParaRPr lang="en-US" sz="1900" dirty="0"/>
          </a:p>
        </p:txBody>
      </p:sp>
      <p:pic>
        <p:nvPicPr>
          <p:cNvPr id="9" name="Imagen 8">
            <a:extLst>
              <a:ext uri="{FF2B5EF4-FFF2-40B4-BE49-F238E27FC236}">
                <a16:creationId xmlns:a16="http://schemas.microsoft.com/office/drawing/2014/main" id="{65129930-BDF5-473C-8E03-3E5DBC4ADC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8711" y="3204330"/>
            <a:ext cx="6366577" cy="3393022"/>
          </a:xfrm>
          <a:prstGeom prst="rect">
            <a:avLst/>
          </a:prstGeom>
        </p:spPr>
      </p:pic>
    </p:spTree>
    <p:extLst>
      <p:ext uri="{BB962C8B-B14F-4D97-AF65-F5344CB8AC3E}">
        <p14:creationId xmlns:p14="http://schemas.microsoft.com/office/powerpoint/2010/main" val="10921461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3334" y="156098"/>
            <a:ext cx="8424936" cy="1116540"/>
          </a:xfrm>
        </p:spPr>
        <p:txBody>
          <a:bodyPr/>
          <a:lstStyle/>
          <a:p>
            <a:r>
              <a:rPr lang="en-US" sz="3200" dirty="0"/>
              <a:t>Codificando un programa en Python</a:t>
            </a:r>
          </a:p>
        </p:txBody>
      </p:sp>
      <p:sp>
        <p:nvSpPr>
          <p:cNvPr id="2" name="Content Placeholder 1"/>
          <p:cNvSpPr>
            <a:spLocks noGrp="1"/>
          </p:cNvSpPr>
          <p:nvPr>
            <p:ph idx="1"/>
          </p:nvPr>
        </p:nvSpPr>
        <p:spPr>
          <a:xfrm>
            <a:off x="179512" y="1043877"/>
            <a:ext cx="8751154" cy="2232248"/>
          </a:xfrm>
        </p:spPr>
        <p:txBody>
          <a:bodyPr>
            <a:normAutofit/>
          </a:bodyPr>
          <a:lstStyle/>
          <a:p>
            <a:pPr marL="0" indent="0">
              <a:buNone/>
            </a:pPr>
            <a:r>
              <a:rPr lang="es-CO" sz="2400" b="1" dirty="0"/>
              <a:t>Escribir el código</a:t>
            </a:r>
          </a:p>
          <a:p>
            <a:r>
              <a:rPr lang="es-MX" sz="1900" dirty="0"/>
              <a:t>El código se escribe en el editor (panel izquierdo), guardado como archivo </a:t>
            </a:r>
            <a:r>
              <a:rPr lang="es-MX" sz="1800" dirty="0">
                <a:latin typeface="Consolas" panose="020B0609020204030204" pitchFamily="49" charset="0"/>
              </a:rPr>
              <a:t>.py</a:t>
            </a:r>
            <a:r>
              <a:rPr lang="es-MX" sz="1900" dirty="0"/>
              <a:t> (ej. </a:t>
            </a:r>
            <a:r>
              <a:rPr lang="es-MX" sz="1800" dirty="0">
                <a:latin typeface="Consolas" panose="020B0609020204030204" pitchFamily="49" charset="0"/>
              </a:rPr>
              <a:t>ejemplo3_areacirculo.py</a:t>
            </a:r>
            <a:r>
              <a:rPr lang="es-MX" sz="1900" dirty="0"/>
              <a:t>).</a:t>
            </a:r>
          </a:p>
          <a:p>
            <a:r>
              <a:rPr lang="es-MX" sz="1800" dirty="0"/>
              <a:t>El botón ▶ (</a:t>
            </a:r>
            <a:r>
              <a:rPr lang="es-MX" sz="1800" b="1" dirty="0"/>
              <a:t>Ejecutar</a:t>
            </a:r>
            <a:r>
              <a:rPr lang="es-MX" sz="1800" dirty="0"/>
              <a:t>) en la barra de herramientas corre el script completo.</a:t>
            </a:r>
            <a:endParaRPr lang="en-US" sz="1800" dirty="0"/>
          </a:p>
        </p:txBody>
      </p:sp>
      <p:pic>
        <p:nvPicPr>
          <p:cNvPr id="4" name="Imagen 3">
            <a:extLst>
              <a:ext uri="{FF2B5EF4-FFF2-40B4-BE49-F238E27FC236}">
                <a16:creationId xmlns:a16="http://schemas.microsoft.com/office/drawing/2014/main" id="{7EE69358-9489-4845-A78F-684C2A5C88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8178" y="2780928"/>
            <a:ext cx="6890810" cy="3672408"/>
          </a:xfrm>
          <a:prstGeom prst="rect">
            <a:avLst/>
          </a:prstGeom>
        </p:spPr>
      </p:pic>
    </p:spTree>
    <p:extLst>
      <p:ext uri="{BB962C8B-B14F-4D97-AF65-F5344CB8AC3E}">
        <p14:creationId xmlns:p14="http://schemas.microsoft.com/office/powerpoint/2010/main" val="3537842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13334" y="156098"/>
            <a:ext cx="8424936" cy="1116540"/>
          </a:xfrm>
        </p:spPr>
        <p:txBody>
          <a:bodyPr/>
          <a:lstStyle/>
          <a:p>
            <a:r>
              <a:rPr lang="en-US" sz="3200" dirty="0"/>
              <a:t>Codificando un programa en Python</a:t>
            </a:r>
          </a:p>
        </p:txBody>
      </p:sp>
      <p:sp>
        <p:nvSpPr>
          <p:cNvPr id="2" name="Content Placeholder 1"/>
          <p:cNvSpPr>
            <a:spLocks noGrp="1"/>
          </p:cNvSpPr>
          <p:nvPr>
            <p:ph idx="1"/>
          </p:nvPr>
        </p:nvSpPr>
        <p:spPr>
          <a:xfrm>
            <a:off x="179512" y="1043877"/>
            <a:ext cx="8751154" cy="2232248"/>
          </a:xfrm>
        </p:spPr>
        <p:txBody>
          <a:bodyPr>
            <a:normAutofit fontScale="92500" lnSpcReduction="10000"/>
          </a:bodyPr>
          <a:lstStyle/>
          <a:p>
            <a:pPr marL="0" indent="0">
              <a:buNone/>
            </a:pPr>
            <a:r>
              <a:rPr lang="es-CO" sz="2400" b="1" dirty="0"/>
              <a:t>Ejecutar y ver resultados</a:t>
            </a:r>
          </a:p>
          <a:p>
            <a:r>
              <a:rPr lang="es-MX" sz="1900" dirty="0"/>
              <a:t>Al ejecutar, la consola solicita los datos de entrada definidos en el código (ej. "</a:t>
            </a:r>
            <a:r>
              <a:rPr lang="es-MX" sz="1700" dirty="0">
                <a:latin typeface="Consolas" panose="020B0609020204030204" pitchFamily="49" charset="0"/>
              </a:rPr>
              <a:t>Digite el radio: </a:t>
            </a:r>
            <a:r>
              <a:rPr lang="es-MX" sz="1900" dirty="0"/>
              <a:t>") y muestra la salida del programa.</a:t>
            </a:r>
          </a:p>
          <a:p>
            <a:r>
              <a:rPr lang="es-MX" sz="1900" dirty="0"/>
              <a:t>El explorador de variables se actualiza automáticamente, mostrando nombre, tipo, tamaño y valor de cada variable (</a:t>
            </a:r>
            <a:r>
              <a:rPr lang="es-MX" sz="1700" dirty="0">
                <a:latin typeface="Consolas" panose="020B0609020204030204" pitchFamily="49" charset="0"/>
              </a:rPr>
              <a:t>PI</a:t>
            </a:r>
            <a:r>
              <a:rPr lang="es-MX" sz="1900" dirty="0"/>
              <a:t>, </a:t>
            </a:r>
            <a:r>
              <a:rPr lang="es-MX" sz="1500" dirty="0">
                <a:latin typeface="Consolas" panose="020B0609020204030204" pitchFamily="49" charset="0"/>
              </a:rPr>
              <a:t>radio</a:t>
            </a:r>
            <a:r>
              <a:rPr lang="es-MX" sz="1900" dirty="0"/>
              <a:t>, </a:t>
            </a:r>
            <a:r>
              <a:rPr lang="es-MX" sz="1700" dirty="0" err="1">
                <a:latin typeface="Consolas" panose="020B0609020204030204" pitchFamily="49" charset="0"/>
              </a:rPr>
              <a:t>area</a:t>
            </a:r>
            <a:r>
              <a:rPr lang="es-MX" sz="1900" dirty="0"/>
              <a:t>).</a:t>
            </a:r>
          </a:p>
          <a:p>
            <a:r>
              <a:rPr lang="es-MX" sz="1900" dirty="0"/>
              <a:t>Esto permite verificar visualmente que el programa calculó y almacenó los valores correctamente.</a:t>
            </a:r>
            <a:endParaRPr lang="en-US" sz="1900" dirty="0"/>
          </a:p>
        </p:txBody>
      </p:sp>
      <p:pic>
        <p:nvPicPr>
          <p:cNvPr id="4" name="Imagen 3">
            <a:extLst>
              <a:ext uri="{FF2B5EF4-FFF2-40B4-BE49-F238E27FC236}">
                <a16:creationId xmlns:a16="http://schemas.microsoft.com/office/drawing/2014/main" id="{827E450D-CC66-46CB-B748-7E802697D7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7818" y="3202911"/>
            <a:ext cx="6548363" cy="3489903"/>
          </a:xfrm>
          <a:prstGeom prst="rect">
            <a:avLst/>
          </a:prstGeom>
        </p:spPr>
      </p:pic>
    </p:spTree>
    <p:extLst>
      <p:ext uri="{BB962C8B-B14F-4D97-AF65-F5344CB8AC3E}">
        <p14:creationId xmlns:p14="http://schemas.microsoft.com/office/powerpoint/2010/main" val="5520872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79512" y="260648"/>
            <a:ext cx="7886700" cy="1116540"/>
          </a:xfrm>
        </p:spPr>
        <p:txBody>
          <a:bodyPr/>
          <a:lstStyle/>
          <a:p>
            <a:r>
              <a:rPr lang="en-US" sz="3200" dirty="0"/>
              <a:t>Ejercicios de repaso</a:t>
            </a:r>
          </a:p>
        </p:txBody>
      </p:sp>
      <p:sp>
        <p:nvSpPr>
          <p:cNvPr id="2" name="Content Placeholder 1"/>
          <p:cNvSpPr>
            <a:spLocks noGrp="1"/>
          </p:cNvSpPr>
          <p:nvPr>
            <p:ph idx="1"/>
          </p:nvPr>
        </p:nvSpPr>
        <p:spPr>
          <a:xfrm>
            <a:off x="359532" y="1344632"/>
            <a:ext cx="8424936" cy="4604648"/>
          </a:xfrm>
        </p:spPr>
        <p:txBody>
          <a:bodyPr>
            <a:normAutofit fontScale="92500" lnSpcReduction="10000"/>
          </a:bodyPr>
          <a:lstStyle/>
          <a:p>
            <a:pPr marL="457200" indent="-457200">
              <a:buFont typeface="+mj-lt"/>
              <a:buAutoNum type="arabicPeriod"/>
            </a:pPr>
            <a:r>
              <a:rPr lang="es-CO" sz="2000" dirty="0"/>
              <a:t>Hacer un programa que calcule el área y el perímetro de un circulo dado su radio.</a:t>
            </a:r>
          </a:p>
          <a:p>
            <a:pPr marL="457200" indent="-457200">
              <a:buFont typeface="+mj-lt"/>
              <a:buAutoNum type="arabicPeriod"/>
            </a:pPr>
            <a:r>
              <a:rPr lang="es-CO" sz="2000" dirty="0"/>
              <a:t>Hacer un programa que solicite el nombre, la identificación, el número de horas trabajadas y el valor por hora y realice el cálculo del salario neto teniendo en cuenta que se cobra un impuesto del 10% por salud y un 5% debido a pensiones.</a:t>
            </a:r>
          </a:p>
          <a:p>
            <a:pPr marL="457200" indent="-457200">
              <a:buFont typeface="+mj-lt"/>
              <a:buAutoNum type="arabicPeriod"/>
            </a:pPr>
            <a:r>
              <a:rPr lang="es-CO" sz="2000" dirty="0"/>
              <a:t>Hacer un programa que pida el nombre y la edad (en años) y retorne un mensaje con el nombre y la edad en días.</a:t>
            </a:r>
          </a:p>
          <a:p>
            <a:pPr marL="457200" indent="-457200">
              <a:buFont typeface="+mj-lt"/>
              <a:buAutoNum type="arabicPeriod"/>
            </a:pPr>
            <a:r>
              <a:rPr lang="es-CO" sz="2000" dirty="0"/>
              <a:t>Hacer un programa que solicite los 2 catetos de un triangulo rectángulo y calcule su hipotenusa.</a:t>
            </a:r>
          </a:p>
          <a:p>
            <a:pPr marL="457200" indent="-457200">
              <a:buFont typeface="+mj-lt"/>
              <a:buAutoNum type="arabicPeriod"/>
            </a:pPr>
            <a:r>
              <a:rPr lang="es-CO" sz="2000" dirty="0"/>
              <a:t>Diseñar un algoritmo que lea dos valores reales y nos muestre los resultados de sumar, restar, dividir y multiplicar dichos números.</a:t>
            </a:r>
          </a:p>
          <a:p>
            <a:pPr marL="457200" indent="-457200">
              <a:buFont typeface="+mj-lt"/>
              <a:buAutoNum type="arabicPeriod"/>
            </a:pPr>
            <a:r>
              <a:rPr lang="es-CO" sz="2000" dirty="0"/>
              <a:t>Si una persona corta sus uñas en promedio una vez por cada 1.5 semanas, dada la edad de una persona calcular cuantas veces ha cortado sus uñas en toda su vida. Adicionalmente, si en cada corte en promedio obtiene 0.5 gramos del material de la uñas cuantos kilos lleva en su existencia.</a:t>
            </a:r>
            <a:endParaRPr lang="en-US" sz="2000" dirty="0"/>
          </a:p>
        </p:txBody>
      </p:sp>
      <p:sp>
        <p:nvSpPr>
          <p:cNvPr id="4" name="Slide Number Placeholder 3"/>
          <p:cNvSpPr>
            <a:spLocks noGrp="1"/>
          </p:cNvSpPr>
          <p:nvPr>
            <p:ph type="sldNum" sz="quarter" idx="12"/>
          </p:nvPr>
        </p:nvSpPr>
        <p:spPr/>
        <p:txBody>
          <a:bodyPr/>
          <a:lstStyle/>
          <a:p>
            <a:fld id="{45F1CE28-A3C7-48DC-84A2-8FB08D6123C5}" type="slidenum">
              <a:rPr lang="en-US" smtClean="0"/>
              <a:pPr/>
              <a:t>53</a:t>
            </a:fld>
            <a:endParaRPr lang="en-US" dirty="0"/>
          </a:p>
        </p:txBody>
      </p:sp>
    </p:spTree>
    <p:extLst>
      <p:ext uri="{BB962C8B-B14F-4D97-AF65-F5344CB8AC3E}">
        <p14:creationId xmlns:p14="http://schemas.microsoft.com/office/powerpoint/2010/main" val="24502199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72287" y="10802"/>
            <a:ext cx="7886700" cy="1116540"/>
          </a:xfrm>
        </p:spPr>
        <p:txBody>
          <a:bodyPr/>
          <a:lstStyle/>
          <a:p>
            <a:r>
              <a:rPr lang="en-US" sz="2800" dirty="0" err="1"/>
              <a:t>Referencias</a:t>
            </a:r>
            <a:endParaRPr lang="en-US" sz="2800" dirty="0"/>
          </a:p>
        </p:txBody>
      </p:sp>
      <p:sp>
        <p:nvSpPr>
          <p:cNvPr id="2" name="Content Placeholder 1"/>
          <p:cNvSpPr>
            <a:spLocks noGrp="1"/>
          </p:cNvSpPr>
          <p:nvPr>
            <p:ph idx="1"/>
          </p:nvPr>
        </p:nvSpPr>
        <p:spPr>
          <a:xfrm>
            <a:off x="278306" y="1119071"/>
            <a:ext cx="8424936" cy="4968552"/>
          </a:xfrm>
        </p:spPr>
        <p:txBody>
          <a:bodyPr>
            <a:normAutofit/>
          </a:bodyPr>
          <a:lstStyle/>
          <a:p>
            <a:pPr marL="457200" indent="-457200">
              <a:buFont typeface="+mj-lt"/>
              <a:buAutoNum type="arabicPeriod"/>
            </a:pPr>
            <a:r>
              <a:rPr lang="es-CO" sz="2000" dirty="0">
                <a:hlinkClick r:id="rId2"/>
              </a:rPr>
              <a:t>https://ellibrodepython.com/</a:t>
            </a:r>
            <a:endParaRPr lang="es-CO" sz="2000" dirty="0"/>
          </a:p>
          <a:p>
            <a:pPr marL="457200" indent="-457200">
              <a:buFont typeface="+mj-lt"/>
              <a:buAutoNum type="arabicPeriod"/>
            </a:pPr>
            <a:r>
              <a:rPr lang="es-CO" sz="2000" dirty="0">
                <a:hlinkClick r:id="rId3"/>
              </a:rPr>
              <a:t>https://www.w3resource.com/index.php</a:t>
            </a:r>
            <a:endParaRPr lang="es-CO" sz="2000" dirty="0"/>
          </a:p>
          <a:p>
            <a:pPr marL="457200" indent="-457200">
              <a:buFont typeface="+mj-lt"/>
              <a:buAutoNum type="arabicPeriod"/>
            </a:pPr>
            <a:r>
              <a:rPr lang="es-CO" sz="2000" dirty="0">
                <a:hlinkClick r:id="rId4"/>
              </a:rPr>
              <a:t>https://realpython.com/</a:t>
            </a:r>
            <a:endParaRPr lang="es-CO" sz="2000" dirty="0"/>
          </a:p>
          <a:p>
            <a:pPr marL="457200" indent="-457200">
              <a:buFont typeface="+mj-lt"/>
              <a:buAutoNum type="arabicPeriod"/>
            </a:pPr>
            <a:r>
              <a:rPr lang="es-CO" sz="2000" dirty="0">
                <a:hlinkClick r:id="rId5"/>
              </a:rPr>
              <a:t>https://curriculumresources.edu.gh/wp-content/uploads/2025/01/</a:t>
            </a:r>
            <a:r>
              <a:rPr lang="es-CO" sz="2000" dirty="0"/>
              <a:t>   </a:t>
            </a:r>
          </a:p>
          <a:p>
            <a:pPr marL="457200" indent="-457200">
              <a:buFont typeface="+mj-lt"/>
              <a:buAutoNum type="arabicPeriod"/>
            </a:pPr>
            <a:r>
              <a:rPr lang="en-US" sz="2000" dirty="0">
                <a:hlinkClick r:id="rId6"/>
              </a:rPr>
              <a:t>https://inventwithpython.com/</a:t>
            </a:r>
            <a:endParaRPr lang="es-CO" sz="2000" dirty="0"/>
          </a:p>
          <a:p>
            <a:pPr marL="457200" indent="-457200">
              <a:buFont typeface="+mj-lt"/>
              <a:buAutoNum type="arabicPeriod"/>
            </a:pPr>
            <a:endParaRPr lang="en-US" sz="2000" dirty="0"/>
          </a:p>
        </p:txBody>
      </p:sp>
      <p:sp>
        <p:nvSpPr>
          <p:cNvPr id="4" name="Slide Number Placeholder 3"/>
          <p:cNvSpPr>
            <a:spLocks noGrp="1"/>
          </p:cNvSpPr>
          <p:nvPr>
            <p:ph type="sldNum" sz="quarter" idx="12"/>
          </p:nvPr>
        </p:nvSpPr>
        <p:spPr/>
        <p:txBody>
          <a:bodyPr/>
          <a:lstStyle/>
          <a:p>
            <a:fld id="{45F1CE28-A3C7-48DC-84A2-8FB08D6123C5}" type="slidenum">
              <a:rPr lang="en-US" smtClean="0"/>
              <a:pPr/>
              <a:t>54</a:t>
            </a:fld>
            <a:endParaRPr lang="en-US" dirty="0"/>
          </a:p>
        </p:txBody>
      </p:sp>
    </p:spTree>
    <p:extLst>
      <p:ext uri="{BB962C8B-B14F-4D97-AF65-F5344CB8AC3E}">
        <p14:creationId xmlns:p14="http://schemas.microsoft.com/office/powerpoint/2010/main" val="102316485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80616"/>
            <a:ext cx="7886700" cy="1325563"/>
          </a:xfrm>
        </p:spPr>
        <p:txBody>
          <a:bodyPr/>
          <a:lstStyle/>
          <a:p>
            <a:r>
              <a:rPr lang="es-CO" dirty="0"/>
              <a:t>Eso es todo amigos</a:t>
            </a:r>
            <a:endParaRPr lang="en-US" dirty="0"/>
          </a:p>
        </p:txBody>
      </p:sp>
      <p:sp>
        <p:nvSpPr>
          <p:cNvPr id="6" name="Slide Number Placeholder 5"/>
          <p:cNvSpPr>
            <a:spLocks noGrp="1"/>
          </p:cNvSpPr>
          <p:nvPr>
            <p:ph type="sldNum" sz="quarter" idx="12"/>
          </p:nvPr>
        </p:nvSpPr>
        <p:spPr/>
        <p:txBody>
          <a:bodyPr/>
          <a:lstStyle/>
          <a:p>
            <a:fld id="{45F1CE28-A3C7-48DC-84A2-8FB08D6123C5}" type="slidenum">
              <a:rPr lang="en-US" smtClean="0"/>
              <a:pPr/>
              <a:t>55</a:t>
            </a:fld>
            <a:endParaRPr lang="en-US" dirty="0"/>
          </a:p>
        </p:txBody>
      </p:sp>
      <p:pic>
        <p:nvPicPr>
          <p:cNvPr id="5" name="Imagen 4">
            <a:extLst>
              <a:ext uri="{FF2B5EF4-FFF2-40B4-BE49-F238E27FC236}">
                <a16:creationId xmlns:a16="http://schemas.microsoft.com/office/drawing/2014/main" id="{E03ECA8F-0420-4D74-9281-A2434A50C58D}"/>
              </a:ext>
            </a:extLst>
          </p:cNvPr>
          <p:cNvPicPr>
            <a:picLocks noChangeAspect="1"/>
          </p:cNvPicPr>
          <p:nvPr/>
        </p:nvPicPr>
        <p:blipFill>
          <a:blip r:embed="rId2"/>
          <a:stretch>
            <a:fillRect/>
          </a:stretch>
        </p:blipFill>
        <p:spPr>
          <a:xfrm>
            <a:off x="1047750" y="1476439"/>
            <a:ext cx="7048500" cy="5086350"/>
          </a:xfrm>
          <a:prstGeom prst="rect">
            <a:avLst/>
          </a:prstGeom>
        </p:spPr>
      </p:pic>
    </p:spTree>
    <p:extLst>
      <p:ext uri="{BB962C8B-B14F-4D97-AF65-F5344CB8AC3E}">
        <p14:creationId xmlns:p14="http://schemas.microsoft.com/office/powerpoint/2010/main" val="3024962735"/>
      </p:ext>
    </p:extLst>
  </p:cSld>
  <p:clrMapOvr>
    <a:masterClrMapping/>
  </p:clrMapOvr>
</p:sld>
</file>

<file path=ppt/theme/theme1.xml><?xml version="1.0" encoding="utf-8"?>
<a:theme xmlns:a="http://schemas.openxmlformats.org/drawingml/2006/main" name="Office Theme">
  <a:themeElements>
    <a:clrScheme name="Tema de Offic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1669</TotalTime>
  <Words>4088</Words>
  <Application>Microsoft Office PowerPoint</Application>
  <PresentationFormat>Presentación en pantalla (4:3)</PresentationFormat>
  <Paragraphs>871</Paragraphs>
  <Slides>55</Slides>
  <Notes>7</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55</vt:i4>
      </vt:variant>
    </vt:vector>
  </HeadingPairs>
  <TitlesOfParts>
    <vt:vector size="62" baseType="lpstr">
      <vt:lpstr>Arial</vt:lpstr>
      <vt:lpstr>Calibri</vt:lpstr>
      <vt:lpstr>Calibri Light</vt:lpstr>
      <vt:lpstr>Cambria Math</vt:lpstr>
      <vt:lpstr>Century Gothic</vt:lpstr>
      <vt:lpstr>Consolas</vt:lpstr>
      <vt:lpstr>Office Theme</vt:lpstr>
      <vt:lpstr>Lógica y Representación 1</vt:lpstr>
      <vt:lpstr>Resolución de problemas</vt:lpstr>
      <vt:lpstr>Método de Polya</vt:lpstr>
      <vt:lpstr>Método de Polya</vt:lpstr>
      <vt:lpstr>Método de Polya</vt:lpstr>
      <vt:lpstr>Algoritmos</vt:lpstr>
      <vt:lpstr>Algoritmo</vt:lpstr>
      <vt:lpstr>Algoritmo - Solución</vt:lpstr>
      <vt:lpstr>Método de Polya - Resumen</vt:lpstr>
      <vt:lpstr>Datos en algorítmos</vt:lpstr>
      <vt:lpstr>Datos en algorítmos</vt:lpstr>
      <vt:lpstr>Datos en algorítmos</vt:lpstr>
      <vt:lpstr>Datos en algoritmos</vt:lpstr>
      <vt:lpstr>Buenas prácticas</vt:lpstr>
      <vt:lpstr>Datos en algoritmos</vt:lpstr>
      <vt:lpstr>Datos en algoritmos</vt:lpstr>
      <vt:lpstr>Datos en algoritmos</vt:lpstr>
      <vt:lpstr>Diagrama de flujos - Bloques</vt:lpstr>
      <vt:lpstr>Comparación – Solución del problema del pájaro</vt:lpstr>
      <vt:lpstr>Comparación de un problema</vt:lpstr>
      <vt:lpstr>Comparación de un problema</vt:lpstr>
      <vt:lpstr>Diagramas de flujo (Flow charts)</vt:lpstr>
      <vt:lpstr>Bloques básicos</vt:lpstr>
      <vt:lpstr>Entrada</vt:lpstr>
      <vt:lpstr>Salida</vt:lpstr>
      <vt:lpstr>Proceso</vt:lpstr>
      <vt:lpstr>Método de Polya - Resumen</vt:lpstr>
      <vt:lpstr>Diseño de Algoritmos</vt:lpstr>
      <vt:lpstr>Método de Polya - Resumen</vt:lpstr>
      <vt:lpstr>Representación de algoritmos como diagramas de flujo</vt:lpstr>
      <vt:lpstr>Prueba de escritorio</vt:lpstr>
      <vt:lpstr>Representación de algoritmos como diagramas de flujo</vt:lpstr>
      <vt:lpstr>Diseño de Algoritmos</vt:lpstr>
      <vt:lpstr>Diseño de Algoritmos</vt:lpstr>
      <vt:lpstr>Representación de algoritmos como diagramas de flujo</vt:lpstr>
      <vt:lpstr>Representación de algoritmos como diagramas de flujo</vt:lpstr>
      <vt:lpstr>Pseudocódigo</vt:lpstr>
      <vt:lpstr>Pseudocodigo</vt:lpstr>
      <vt:lpstr>Representación de algoritmos mediante Pseudocódigo </vt:lpstr>
      <vt:lpstr>Representación de algoritmos mediante Pseudocódigo </vt:lpstr>
      <vt:lpstr>Resumiendo del proceso de diseño del algoritmos</vt:lpstr>
      <vt:lpstr>Pseudocódigo (Opcional)</vt:lpstr>
      <vt:lpstr>Representación de algoritmos como diagramas de flujo</vt:lpstr>
      <vt:lpstr>Representación de algoritmos como diagramas de flujo</vt:lpstr>
      <vt:lpstr>Representación de algoritmos como diagramas de flujo</vt:lpstr>
      <vt:lpstr>Sobre los programas</vt:lpstr>
      <vt:lpstr>Programa en lenguaje Python</vt:lpstr>
      <vt:lpstr>Problema - Solución</vt:lpstr>
      <vt:lpstr>Codificando un programa en Python</vt:lpstr>
      <vt:lpstr>Codificando un programa en Python</vt:lpstr>
      <vt:lpstr>Codificando un programa en Python</vt:lpstr>
      <vt:lpstr>Codificando un programa en Python</vt:lpstr>
      <vt:lpstr>Ejercicios de repaso</vt:lpstr>
      <vt:lpstr>Referencias</vt:lpstr>
      <vt:lpstr>Eso es todo amigos</vt:lpstr>
    </vt:vector>
  </TitlesOfParts>
  <Company>Universidad de Antioquia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del curso</dc:title>
  <dc:creator>Apoyo Administrativo Ingeniería</dc:creator>
  <cp:lastModifiedBy>HENRY ALBERTO ARCILA RAMIREZ</cp:lastModifiedBy>
  <cp:revision>52</cp:revision>
  <dcterms:created xsi:type="dcterms:W3CDTF">2015-03-12T20:27:20Z</dcterms:created>
  <dcterms:modified xsi:type="dcterms:W3CDTF">2026-08-10T15:23:58Z</dcterms:modified>
</cp:coreProperties>
</file>