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9" r:id="rId1"/>
  </p:sldMasterIdLst>
  <p:notesMasterIdLst>
    <p:notesMasterId r:id="rId80"/>
  </p:notesMasterIdLst>
  <p:sldIdLst>
    <p:sldId id="281" r:id="rId2"/>
    <p:sldId id="309" r:id="rId3"/>
    <p:sldId id="368" r:id="rId4"/>
    <p:sldId id="594" r:id="rId5"/>
    <p:sldId id="536" r:id="rId6"/>
    <p:sldId id="654" r:id="rId7"/>
    <p:sldId id="653" r:id="rId8"/>
    <p:sldId id="656" r:id="rId9"/>
    <p:sldId id="655" r:id="rId10"/>
    <p:sldId id="657" r:id="rId11"/>
    <p:sldId id="595" r:id="rId12"/>
    <p:sldId id="603" r:id="rId13"/>
    <p:sldId id="604" r:id="rId14"/>
    <p:sldId id="606" r:id="rId15"/>
    <p:sldId id="587" r:id="rId16"/>
    <p:sldId id="580" r:id="rId17"/>
    <p:sldId id="607" r:id="rId18"/>
    <p:sldId id="608" r:id="rId19"/>
    <p:sldId id="609" r:id="rId20"/>
    <p:sldId id="658" r:id="rId21"/>
    <p:sldId id="659" r:id="rId22"/>
    <p:sldId id="613" r:id="rId23"/>
    <p:sldId id="660" r:id="rId24"/>
    <p:sldId id="661" r:id="rId25"/>
    <p:sldId id="610" r:id="rId26"/>
    <p:sldId id="662" r:id="rId27"/>
    <p:sldId id="663" r:id="rId28"/>
    <p:sldId id="664" r:id="rId29"/>
    <p:sldId id="611" r:id="rId30"/>
    <p:sldId id="671" r:id="rId31"/>
    <p:sldId id="612" r:id="rId32"/>
    <p:sldId id="665" r:id="rId33"/>
    <p:sldId id="614" r:id="rId34"/>
    <p:sldId id="666" r:id="rId35"/>
    <p:sldId id="667" r:id="rId36"/>
    <p:sldId id="669" r:id="rId37"/>
    <p:sldId id="670" r:id="rId38"/>
    <p:sldId id="668" r:id="rId39"/>
    <p:sldId id="615" r:id="rId40"/>
    <p:sldId id="616" r:id="rId41"/>
    <p:sldId id="617" r:id="rId42"/>
    <p:sldId id="618" r:id="rId43"/>
    <p:sldId id="619" r:id="rId44"/>
    <p:sldId id="620" r:id="rId45"/>
    <p:sldId id="621" r:id="rId46"/>
    <p:sldId id="623" r:id="rId47"/>
    <p:sldId id="624" r:id="rId48"/>
    <p:sldId id="625" r:id="rId49"/>
    <p:sldId id="626" r:id="rId50"/>
    <p:sldId id="627" r:id="rId51"/>
    <p:sldId id="628" r:id="rId52"/>
    <p:sldId id="629" r:id="rId53"/>
    <p:sldId id="630" r:id="rId54"/>
    <p:sldId id="631" r:id="rId55"/>
    <p:sldId id="632" r:id="rId56"/>
    <p:sldId id="633" r:id="rId57"/>
    <p:sldId id="634" r:id="rId58"/>
    <p:sldId id="636" r:id="rId59"/>
    <p:sldId id="635" r:id="rId60"/>
    <p:sldId id="637" r:id="rId61"/>
    <p:sldId id="638" r:id="rId62"/>
    <p:sldId id="640" r:id="rId63"/>
    <p:sldId id="639" r:id="rId64"/>
    <p:sldId id="641" r:id="rId65"/>
    <p:sldId id="642" r:id="rId66"/>
    <p:sldId id="643" r:id="rId67"/>
    <p:sldId id="644" r:id="rId68"/>
    <p:sldId id="645" r:id="rId69"/>
    <p:sldId id="646" r:id="rId70"/>
    <p:sldId id="647" r:id="rId71"/>
    <p:sldId id="648" r:id="rId72"/>
    <p:sldId id="649" r:id="rId73"/>
    <p:sldId id="650" r:id="rId74"/>
    <p:sldId id="651" r:id="rId75"/>
    <p:sldId id="652" r:id="rId76"/>
    <p:sldId id="310" r:id="rId77"/>
    <p:sldId id="622" r:id="rId78"/>
    <p:sldId id="277" r:id="rId7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Estilo me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38B1855-1B75-4FBE-930C-398BA8C253C6}" styleName="Estilo temático 2 - Énfasis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79" autoAdjust="0"/>
    <p:restoredTop sz="94291" autoAdjust="0"/>
  </p:normalViewPr>
  <p:slideViewPr>
    <p:cSldViewPr>
      <p:cViewPr>
        <p:scale>
          <a:sx n="66" d="100"/>
          <a:sy n="66" d="100"/>
        </p:scale>
        <p:origin x="1458" y="132"/>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Century Gothic" panose="020B0502020202020204" pitchFamily="34" charset="0"/>
            </a:rPr>
            <a:t>1</a:t>
          </a:r>
          <a:endParaRPr lang="es-CO" sz="1200" dirty="0">
            <a:latin typeface="Century Gothic" panose="020B0502020202020204" pitchFamily="34" charset="0"/>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Century Gothic" panose="020B0502020202020204" pitchFamily="34" charset="0"/>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9C3C57BE-AD01-47F6-9592-98EF2608A6EF}">
      <dgm:prSet phldrT="[Texto]" custT="1"/>
      <dgm:spPr/>
      <dgm:t>
        <a:bodyPr/>
        <a:lstStyle/>
        <a:p>
          <a:r>
            <a:rPr lang="es-CO" sz="1800" dirty="0">
              <a:latin typeface="Century Gothic" panose="020B0502020202020204" pitchFamily="34" charset="0"/>
            </a:rPr>
            <a:t>2</a:t>
          </a:r>
          <a:endParaRPr lang="es-CO" sz="2400" dirty="0">
            <a:latin typeface="Century Gothic" panose="020B0502020202020204" pitchFamily="34" charset="0"/>
          </a:endParaRPr>
        </a:p>
      </dgm:t>
    </dgm:pt>
    <dgm:pt modelId="{33D25418-EA10-4491-90C6-5683712BE055}" type="parTrans" cxnId="{FBB864E0-2027-4A45-B5D7-110F765EFD96}">
      <dgm:prSet/>
      <dgm:spPr/>
      <dgm:t>
        <a:bodyPr/>
        <a:lstStyle/>
        <a:p>
          <a:endParaRPr lang="es-CO" sz="1600"/>
        </a:p>
      </dgm:t>
    </dgm:pt>
    <dgm:pt modelId="{0019765E-5748-4647-85C8-6E8054C68086}" type="sibTrans" cxnId="{FBB864E0-2027-4A45-B5D7-110F765EFD96}">
      <dgm:prSet/>
      <dgm:spPr/>
      <dgm:t>
        <a:bodyPr/>
        <a:lstStyle/>
        <a:p>
          <a:endParaRPr lang="es-CO" sz="1600"/>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gm:t>
    </dgm:pt>
    <dgm:pt modelId="{EDE363E4-7EA3-41D2-8DB9-A0871D9DA325}" type="parTrans" cxnId="{3B1F784D-95DD-4194-A52D-9A5B55BC5BD7}">
      <dgm:prSet/>
      <dgm:spPr/>
      <dgm:t>
        <a:bodyPr/>
        <a:lstStyle/>
        <a:p>
          <a:endParaRPr lang="es-CO" sz="1600"/>
        </a:p>
      </dgm:t>
    </dgm:pt>
    <dgm:pt modelId="{C31DDF04-103F-4600-9F78-0BDCC0BF907B}" type="sibTrans" cxnId="{3B1F784D-95DD-4194-A52D-9A5B55BC5BD7}">
      <dgm:prSet/>
      <dgm:spPr/>
      <dgm:t>
        <a:bodyPr/>
        <a:lstStyle/>
        <a:p>
          <a:endParaRPr lang="es-CO" sz="1600"/>
        </a:p>
      </dgm:t>
    </dgm:pt>
    <dgm:pt modelId="{9AB424BA-7E8B-4D0B-8A3C-3748A54646B8}">
      <dgm:prSet phldrT="[Texto]" custT="1"/>
      <dgm:spPr/>
      <dgm:t>
        <a:bodyPr/>
        <a:lstStyle/>
        <a:p>
          <a:r>
            <a:rPr lang="es-CO" sz="2000" dirty="0">
              <a:latin typeface="Century Gothic" panose="020B0502020202020204" pitchFamily="34" charset="0"/>
            </a:rPr>
            <a:t>3</a:t>
          </a:r>
        </a:p>
      </dgm:t>
    </dgm:pt>
    <dgm:pt modelId="{E543BFA9-86DB-499C-8E83-B32D00A97FD8}" type="parTrans" cxnId="{9DB9632F-E2AC-48EE-840F-D6A88C411EEA}">
      <dgm:prSet/>
      <dgm:spPr/>
      <dgm:t>
        <a:bodyPr/>
        <a:lstStyle/>
        <a:p>
          <a:endParaRPr lang="es-CO" sz="1600"/>
        </a:p>
      </dgm:t>
    </dgm:pt>
    <dgm:pt modelId="{DDCD6E76-3560-4CAA-96A8-94ACFF130E9B}" type="sibTrans" cxnId="{9DB9632F-E2AC-48EE-840F-D6A88C411EEA}">
      <dgm:prSet/>
      <dgm:spPr/>
      <dgm:t>
        <a:bodyPr/>
        <a:lstStyle/>
        <a:p>
          <a:endParaRPr lang="es-CO" sz="1600"/>
        </a:p>
      </dgm:t>
    </dgm:pt>
    <dgm:pt modelId="{BEC04423-D6B7-4792-AEB9-C3D7F81A98AC}">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gm:t>
    </dgm:pt>
    <dgm:pt modelId="{F135D138-85FF-4087-B751-5F159F842289}" type="parTrans" cxnId="{5B0A26F8-5ACB-43D3-A171-6C62CAD4E7BE}">
      <dgm:prSet/>
      <dgm:spPr/>
      <dgm:t>
        <a:bodyPr/>
        <a:lstStyle/>
        <a:p>
          <a:endParaRPr lang="es-CO" sz="1600"/>
        </a:p>
      </dgm:t>
    </dgm:pt>
    <dgm:pt modelId="{AB02689B-5109-4C4C-A9DD-EF332B395FC7}" type="sibTrans" cxnId="{5B0A26F8-5ACB-43D3-A171-6C62CAD4E7BE}">
      <dgm:prSet/>
      <dgm:spPr/>
      <dgm:t>
        <a:bodyPr/>
        <a:lstStyle/>
        <a:p>
          <a:endParaRPr lang="es-CO" sz="1600"/>
        </a:p>
      </dgm:t>
    </dgm:pt>
    <dgm:pt modelId="{6F3FB39C-3E1D-4D2D-849B-EA0299C466C8}">
      <dgm:prSet phldrT="[Texto]" custT="1"/>
      <dgm:spPr/>
      <dgm:t>
        <a:bodyPr/>
        <a:lstStyle/>
        <a:p>
          <a:r>
            <a:rPr lang="es-CO" sz="2000" dirty="0">
              <a:latin typeface="Century Gothic" panose="020B0502020202020204" pitchFamily="34" charset="0"/>
            </a:rPr>
            <a:t>4</a:t>
          </a:r>
        </a:p>
      </dgm:t>
    </dgm:pt>
    <dgm:pt modelId="{F344B892-AD67-4863-B1DB-FFEAC6AE3C6A}" type="parTrans" cxnId="{F85ACEEE-F8C0-443C-BAAF-021763D37073}">
      <dgm:prSet/>
      <dgm:spPr/>
      <dgm:t>
        <a:bodyPr/>
        <a:lstStyle/>
        <a:p>
          <a:endParaRPr lang="es-CO" sz="1600"/>
        </a:p>
      </dgm:t>
    </dgm:pt>
    <dgm:pt modelId="{2E86F725-3FD8-4480-8AF6-6A89E142D77A}" type="sibTrans" cxnId="{F85ACEEE-F8C0-443C-BAAF-021763D37073}">
      <dgm:prSet/>
      <dgm:spPr/>
      <dgm:t>
        <a:bodyPr/>
        <a:lstStyle/>
        <a:p>
          <a:endParaRPr lang="es-CO" sz="1600"/>
        </a:p>
      </dgm:t>
    </dgm:pt>
    <dgm:pt modelId="{DCCFDBD5-3BD5-4368-8E74-2BE430318114}">
      <dgm:prSet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gm:t>
    </dgm:pt>
    <dgm:pt modelId="{E9C3A1B1-6767-4D4A-B32D-4EDACFE1C0F4}" type="parTrans" cxnId="{95C514DE-3460-4712-B0CD-D954FE76DB64}">
      <dgm:prSet/>
      <dgm:spPr/>
      <dgm:t>
        <a:bodyPr/>
        <a:lstStyle/>
        <a:p>
          <a:endParaRPr lang="es-CO" sz="1600"/>
        </a:p>
      </dgm:t>
    </dgm:pt>
    <dgm:pt modelId="{159A55EA-C5B7-4F9E-8222-A763BEB4D99B}" type="sibTrans" cxnId="{95C514DE-3460-4712-B0CD-D954FE76DB64}">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4">
        <dgm:presLayoutVars>
          <dgm:chMax val="1"/>
          <dgm:bulletEnabled val="1"/>
        </dgm:presLayoutVars>
      </dgm:prSet>
      <dgm:spPr/>
    </dgm:pt>
    <dgm:pt modelId="{344A86B1-48E8-448F-9C6D-71580BFB5F83}" type="pres">
      <dgm:prSet presAssocID="{0F6E169A-367E-48F6-8A0F-9538EF72E803}" presName="descendantText" presStyleLbl="alignAcc1" presStyleIdx="0" presStyleCnt="4">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4"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4">
        <dgm:presLayoutVars>
          <dgm:bulletEnabled val="1"/>
        </dgm:presLayoutVars>
      </dgm:prSet>
      <dgm:spPr/>
    </dgm:pt>
    <dgm:pt modelId="{5C2D5B77-4FD3-4BFC-B7C7-B69CFA47B819}" type="pres">
      <dgm:prSet presAssocID="{0019765E-5748-4647-85C8-6E8054C68086}" presName="sp" presStyleCnt="0"/>
      <dgm:spPr/>
    </dgm:pt>
    <dgm:pt modelId="{FD9C2F86-B450-49A0-8639-065AE676C080}" type="pres">
      <dgm:prSet presAssocID="{9AB424BA-7E8B-4D0B-8A3C-3748A54646B8}" presName="composite" presStyleCnt="0"/>
      <dgm:spPr/>
    </dgm:pt>
    <dgm:pt modelId="{2AA7B02C-023E-4537-897E-B54A048C8983}" type="pres">
      <dgm:prSet presAssocID="{9AB424BA-7E8B-4D0B-8A3C-3748A54646B8}" presName="parentText" presStyleLbl="alignNode1" presStyleIdx="2" presStyleCnt="4">
        <dgm:presLayoutVars>
          <dgm:chMax val="1"/>
          <dgm:bulletEnabled val="1"/>
        </dgm:presLayoutVars>
      </dgm:prSet>
      <dgm:spPr/>
    </dgm:pt>
    <dgm:pt modelId="{15D3D31F-A831-4E62-ADE9-6ACE81331CDC}" type="pres">
      <dgm:prSet presAssocID="{9AB424BA-7E8B-4D0B-8A3C-3748A54646B8}" presName="descendantText" presStyleLbl="alignAcc1" presStyleIdx="2" presStyleCnt="4">
        <dgm:presLayoutVars>
          <dgm:bulletEnabled val="1"/>
        </dgm:presLayoutVars>
      </dgm:prSet>
      <dgm:spPr/>
    </dgm:pt>
    <dgm:pt modelId="{365F76A6-EF4F-41D1-B81D-BC3D7851A081}" type="pres">
      <dgm:prSet presAssocID="{DDCD6E76-3560-4CAA-96A8-94ACFF130E9B}" presName="sp" presStyleCnt="0"/>
      <dgm:spPr/>
    </dgm:pt>
    <dgm:pt modelId="{4DB00594-09F9-4225-B772-B1D52DAEEAB6}" type="pres">
      <dgm:prSet presAssocID="{6F3FB39C-3E1D-4D2D-849B-EA0299C466C8}" presName="composite" presStyleCnt="0"/>
      <dgm:spPr/>
    </dgm:pt>
    <dgm:pt modelId="{58E45CBE-DE64-4E4E-8AAA-D376465B2BEE}" type="pres">
      <dgm:prSet presAssocID="{6F3FB39C-3E1D-4D2D-849B-EA0299C466C8}" presName="parentText" presStyleLbl="alignNode1" presStyleIdx="3" presStyleCnt="4">
        <dgm:presLayoutVars>
          <dgm:chMax val="1"/>
          <dgm:bulletEnabled val="1"/>
        </dgm:presLayoutVars>
      </dgm:prSet>
      <dgm:spPr/>
    </dgm:pt>
    <dgm:pt modelId="{C37D6712-7A35-4663-80F7-1B8FC410AF19}" type="pres">
      <dgm:prSet presAssocID="{6F3FB39C-3E1D-4D2D-849B-EA0299C466C8}" presName="descendantText" presStyleLbl="alignAcc1" presStyleIdx="3" presStyleCnt="4">
        <dgm:presLayoutVars>
          <dgm:bulletEnabled val="1"/>
        </dgm:presLayoutVars>
      </dgm:prSet>
      <dgm:spPr/>
    </dgm:pt>
  </dgm:ptLst>
  <dgm:cxnLst>
    <dgm:cxn modelId="{D25A530A-E341-4BA7-8999-21A374D537D3}" type="presOf" srcId="{BEC04423-D6B7-4792-AEB9-C3D7F81A98AC}" destId="{15D3D31F-A831-4E62-ADE9-6ACE81331CDC}" srcOrd="0" destOrd="0" presId="urn:microsoft.com/office/officeart/2005/8/layout/chevron2"/>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9DB9632F-E2AC-48EE-840F-D6A88C411EEA}" srcId="{234617D2-EBA5-43D3-A846-ABD7019008A4}" destId="{9AB424BA-7E8B-4D0B-8A3C-3748A54646B8}" srcOrd="2" destOrd="0" parTransId="{E543BFA9-86DB-499C-8E83-B32D00A97FD8}" sibTransId="{DDCD6E76-3560-4CAA-96A8-94ACFF130E9B}"/>
    <dgm:cxn modelId="{5C56243F-7D54-4FD5-BD45-EEAB6E9334A6}" type="presOf" srcId="{676AA4D5-22F4-47B3-B0E8-95C3D9C99480}" destId="{344A86B1-48E8-448F-9C6D-71580BFB5F83}" srcOrd="0" destOrd="0" presId="urn:microsoft.com/office/officeart/2005/8/layout/chevron2"/>
    <dgm:cxn modelId="{3EF6886C-4FCF-4899-8F48-98F458A380A4}" type="presOf" srcId="{DCCFDBD5-3BD5-4368-8E74-2BE430318114}" destId="{C37D6712-7A35-4663-80F7-1B8FC410AF19}"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95C514DE-3460-4712-B0CD-D954FE76DB64}" srcId="{6F3FB39C-3E1D-4D2D-849B-EA0299C466C8}" destId="{DCCFDBD5-3BD5-4368-8E74-2BE430318114}" srcOrd="0" destOrd="0" parTransId="{E9C3A1B1-6767-4D4A-B32D-4EDACFE1C0F4}" sibTransId="{159A55EA-C5B7-4F9E-8222-A763BEB4D99B}"/>
    <dgm:cxn modelId="{FBB864E0-2027-4A45-B5D7-110F765EFD96}" srcId="{234617D2-EBA5-43D3-A846-ABD7019008A4}" destId="{9C3C57BE-AD01-47F6-9592-98EF2608A6EF}" srcOrd="1" destOrd="0" parTransId="{33D25418-EA10-4491-90C6-5683712BE055}" sibTransId="{0019765E-5748-4647-85C8-6E8054C68086}"/>
    <dgm:cxn modelId="{448B48EB-E488-4909-82B4-2E61877F00AE}" type="presOf" srcId="{6F3FB39C-3E1D-4D2D-849B-EA0299C466C8}" destId="{58E45CBE-DE64-4E4E-8AAA-D376465B2BEE}" srcOrd="0" destOrd="0" presId="urn:microsoft.com/office/officeart/2005/8/layout/chevron2"/>
    <dgm:cxn modelId="{E644B3EB-418D-4B1A-83D6-8DCC10BE06E8}" type="presOf" srcId="{9AB424BA-7E8B-4D0B-8A3C-3748A54646B8}" destId="{2AA7B02C-023E-4537-897E-B54A048C8983}" srcOrd="0" destOrd="0" presId="urn:microsoft.com/office/officeart/2005/8/layout/chevron2"/>
    <dgm:cxn modelId="{F85ACEEE-F8C0-443C-BAAF-021763D37073}" srcId="{234617D2-EBA5-43D3-A846-ABD7019008A4}" destId="{6F3FB39C-3E1D-4D2D-849B-EA0299C466C8}" srcOrd="3" destOrd="0" parTransId="{F344B892-AD67-4863-B1DB-FFEAC6AE3C6A}" sibTransId="{2E86F725-3FD8-4480-8AF6-6A89E142D77A}"/>
    <dgm:cxn modelId="{E402CAF0-5AAA-416F-BAF4-3854EF253EE5}" srcId="{0F6E169A-367E-48F6-8A0F-9538EF72E803}" destId="{676AA4D5-22F4-47B3-B0E8-95C3D9C99480}" srcOrd="0" destOrd="0" parTransId="{65AE6963-95E3-417E-9DBC-C327427667A9}" sibTransId="{BBDCCB86-71C3-422E-959C-8FA92A9124DF}"/>
    <dgm:cxn modelId="{5B0A26F8-5ACB-43D3-A171-6C62CAD4E7BE}" srcId="{9AB424BA-7E8B-4D0B-8A3C-3748A54646B8}" destId="{BEC04423-D6B7-4792-AEB9-C3D7F81A98AC}" srcOrd="0" destOrd="0" parTransId="{F135D138-85FF-4087-B751-5F159F842289}" sibTransId="{AB02689B-5109-4C4C-A9DD-EF332B395FC7}"/>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 modelId="{530A7BC0-79AB-4546-A568-2187FF19F65D}" type="presParOf" srcId="{C30EB98C-BF8E-47B5-A59F-A3E708D5551C}" destId="{5C2D5B77-4FD3-4BFC-B7C7-B69CFA47B819}" srcOrd="3" destOrd="0" presId="urn:microsoft.com/office/officeart/2005/8/layout/chevron2"/>
    <dgm:cxn modelId="{BE3F6BE8-AEFA-4235-B54E-61907BC9372B}" type="presParOf" srcId="{C30EB98C-BF8E-47B5-A59F-A3E708D5551C}" destId="{FD9C2F86-B450-49A0-8639-065AE676C080}" srcOrd="4" destOrd="0" presId="urn:microsoft.com/office/officeart/2005/8/layout/chevron2"/>
    <dgm:cxn modelId="{2E20AF7C-4B60-47FB-B029-F81F1CE8FCB7}" type="presParOf" srcId="{FD9C2F86-B450-49A0-8639-065AE676C080}" destId="{2AA7B02C-023E-4537-897E-B54A048C8983}" srcOrd="0" destOrd="0" presId="urn:microsoft.com/office/officeart/2005/8/layout/chevron2"/>
    <dgm:cxn modelId="{0573D7AB-2C25-487B-B0E2-947295CA4BF1}" type="presParOf" srcId="{FD9C2F86-B450-49A0-8639-065AE676C080}" destId="{15D3D31F-A831-4E62-ADE9-6ACE81331CDC}" srcOrd="1" destOrd="0" presId="urn:microsoft.com/office/officeart/2005/8/layout/chevron2"/>
    <dgm:cxn modelId="{49FE4450-ED31-4DD4-95F8-F34D880718F4}" type="presParOf" srcId="{C30EB98C-BF8E-47B5-A59F-A3E708D5551C}" destId="{365F76A6-EF4F-41D1-B81D-BC3D7851A081}" srcOrd="5" destOrd="0" presId="urn:microsoft.com/office/officeart/2005/8/layout/chevron2"/>
    <dgm:cxn modelId="{D297B7B3-984B-4BEF-88CF-E8496B62D532}" type="presParOf" srcId="{C30EB98C-BF8E-47B5-A59F-A3E708D5551C}" destId="{4DB00594-09F9-4225-B772-B1D52DAEEAB6}" srcOrd="6" destOrd="0" presId="urn:microsoft.com/office/officeart/2005/8/layout/chevron2"/>
    <dgm:cxn modelId="{58E3F0DF-7BFD-4BEB-873F-CA02319F1E26}" type="presParOf" srcId="{4DB00594-09F9-4225-B772-B1D52DAEEAB6}" destId="{58E45CBE-DE64-4E4E-8AAA-D376465B2BEE}" srcOrd="0" destOrd="0" presId="urn:microsoft.com/office/officeart/2005/8/layout/chevron2"/>
    <dgm:cxn modelId="{C405AC97-4C54-4757-8651-AB11924A4B6F}" type="presParOf" srcId="{4DB00594-09F9-4225-B772-B1D52DAEEAB6}" destId="{C37D6712-7A35-4663-80F7-1B8FC410AF1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06543" y="109307"/>
          <a:ext cx="710288" cy="497202"/>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Century Gothic" panose="020B0502020202020204" pitchFamily="34" charset="0"/>
            </a:rPr>
            <a:t>1</a:t>
          </a:r>
          <a:endParaRPr lang="es-CO" sz="1200" kern="1200" dirty="0">
            <a:latin typeface="Century Gothic" panose="020B0502020202020204" pitchFamily="34" charset="0"/>
          </a:endParaRPr>
        </a:p>
      </dsp:txBody>
      <dsp:txXfrm rot="-5400000">
        <a:off x="0" y="251365"/>
        <a:ext cx="497202" cy="213086"/>
      </dsp:txXfrm>
    </dsp:sp>
    <dsp:sp modelId="{344A86B1-48E8-448F-9C6D-71580BFB5F83}">
      <dsp:nvSpPr>
        <dsp:cNvPr id="0" name=""/>
        <dsp:cNvSpPr/>
      </dsp:nvSpPr>
      <dsp:spPr>
        <a:xfrm rot="5400000">
          <a:off x="2825947" y="-2325981"/>
          <a:ext cx="461930" cy="5119421"/>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Century Gothic" panose="020B0502020202020204" pitchFamily="34" charset="0"/>
            </a:rPr>
            <a:t>Entender el problema</a:t>
          </a:r>
        </a:p>
      </dsp:txBody>
      <dsp:txXfrm rot="-5400000">
        <a:off x="497202" y="25314"/>
        <a:ext cx="5096871" cy="416830"/>
      </dsp:txXfrm>
    </dsp:sp>
    <dsp:sp modelId="{A651636C-CE47-4575-AA1E-AB00D80E941D}">
      <dsp:nvSpPr>
        <dsp:cNvPr id="0" name=""/>
        <dsp:cNvSpPr/>
      </dsp:nvSpPr>
      <dsp:spPr>
        <a:xfrm rot="5400000">
          <a:off x="-106543" y="658631"/>
          <a:ext cx="710288" cy="497202"/>
        </a:xfrm>
        <a:prstGeom prst="chevron">
          <a:avLst/>
        </a:prstGeom>
        <a:gradFill rotWithShape="0">
          <a:gsLst>
            <a:gs pos="0">
              <a:schemeClr val="accent3">
                <a:hueOff val="252426"/>
                <a:satOff val="3301"/>
                <a:lumOff val="-4052"/>
                <a:alphaOff val="0"/>
                <a:satMod val="103000"/>
                <a:lumMod val="102000"/>
                <a:tint val="94000"/>
              </a:schemeClr>
            </a:gs>
            <a:gs pos="50000">
              <a:schemeClr val="accent3">
                <a:hueOff val="252426"/>
                <a:satOff val="3301"/>
                <a:lumOff val="-4052"/>
                <a:alphaOff val="0"/>
                <a:satMod val="110000"/>
                <a:lumMod val="100000"/>
                <a:shade val="100000"/>
              </a:schemeClr>
            </a:gs>
            <a:gs pos="100000">
              <a:schemeClr val="accent3">
                <a:hueOff val="252426"/>
                <a:satOff val="3301"/>
                <a:lumOff val="-4052"/>
                <a:alphaOff val="0"/>
                <a:lumMod val="99000"/>
                <a:satMod val="120000"/>
                <a:shade val="78000"/>
              </a:schemeClr>
            </a:gs>
          </a:gsLst>
          <a:lin ang="5400000" scaled="0"/>
        </a:gradFill>
        <a:ln w="6350" cap="flat" cmpd="sng" algn="ctr">
          <a:solidFill>
            <a:schemeClr val="accent3">
              <a:hueOff val="252426"/>
              <a:satOff val="3301"/>
              <a:lumOff val="-4052"/>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Century Gothic" panose="020B0502020202020204" pitchFamily="34" charset="0"/>
            </a:rPr>
            <a:t>2</a:t>
          </a:r>
          <a:endParaRPr lang="es-CO" sz="2400" kern="1200" dirty="0">
            <a:latin typeface="Century Gothic" panose="020B0502020202020204" pitchFamily="34" charset="0"/>
          </a:endParaRPr>
        </a:p>
      </dsp:txBody>
      <dsp:txXfrm rot="-5400000">
        <a:off x="0" y="800689"/>
        <a:ext cx="497202" cy="213086"/>
      </dsp:txXfrm>
    </dsp:sp>
    <dsp:sp modelId="{79B0DE70-0A03-4A6F-B31F-EC81EB5DF7EA}">
      <dsp:nvSpPr>
        <dsp:cNvPr id="0" name=""/>
        <dsp:cNvSpPr/>
      </dsp:nvSpPr>
      <dsp:spPr>
        <a:xfrm rot="5400000">
          <a:off x="2826069" y="-1776779"/>
          <a:ext cx="461687" cy="5119421"/>
        </a:xfrm>
        <a:prstGeom prst="round2SameRect">
          <a:avLst/>
        </a:prstGeom>
        <a:solidFill>
          <a:schemeClr val="lt1">
            <a:alpha val="90000"/>
            <a:hueOff val="0"/>
            <a:satOff val="0"/>
            <a:lumOff val="0"/>
            <a:alphaOff val="0"/>
          </a:schemeClr>
        </a:solidFill>
        <a:ln w="6350" cap="flat" cmpd="sng" algn="ctr">
          <a:solidFill>
            <a:schemeClr val="accent3">
              <a:hueOff val="252426"/>
              <a:satOff val="3301"/>
              <a:lumOff val="-405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sp:txBody>
      <dsp:txXfrm rot="-5400000">
        <a:off x="497202" y="574626"/>
        <a:ext cx="5096883" cy="416611"/>
      </dsp:txXfrm>
    </dsp:sp>
    <dsp:sp modelId="{2AA7B02C-023E-4537-897E-B54A048C8983}">
      <dsp:nvSpPr>
        <dsp:cNvPr id="0" name=""/>
        <dsp:cNvSpPr/>
      </dsp:nvSpPr>
      <dsp:spPr>
        <a:xfrm rot="5400000">
          <a:off x="-106543" y="1207954"/>
          <a:ext cx="710288" cy="497202"/>
        </a:xfrm>
        <a:prstGeom prst="chevron">
          <a:avLst/>
        </a:prstGeom>
        <a:gradFill rotWithShape="0">
          <a:gsLst>
            <a:gs pos="0">
              <a:schemeClr val="accent3">
                <a:hueOff val="504853"/>
                <a:satOff val="6602"/>
                <a:lumOff val="-8104"/>
                <a:alphaOff val="0"/>
                <a:satMod val="103000"/>
                <a:lumMod val="102000"/>
                <a:tint val="94000"/>
              </a:schemeClr>
            </a:gs>
            <a:gs pos="50000">
              <a:schemeClr val="accent3">
                <a:hueOff val="504853"/>
                <a:satOff val="6602"/>
                <a:lumOff val="-8104"/>
                <a:alphaOff val="0"/>
                <a:satMod val="110000"/>
                <a:lumMod val="100000"/>
                <a:shade val="100000"/>
              </a:schemeClr>
            </a:gs>
            <a:gs pos="100000">
              <a:schemeClr val="accent3">
                <a:hueOff val="504853"/>
                <a:satOff val="6602"/>
                <a:lumOff val="-8104"/>
                <a:alphaOff val="0"/>
                <a:lumMod val="99000"/>
                <a:satMod val="120000"/>
                <a:shade val="78000"/>
              </a:schemeClr>
            </a:gs>
          </a:gsLst>
          <a:lin ang="5400000" scaled="0"/>
        </a:gradFill>
        <a:ln w="6350" cap="flat" cmpd="sng" algn="ctr">
          <a:solidFill>
            <a:schemeClr val="accent3">
              <a:hueOff val="504853"/>
              <a:satOff val="6602"/>
              <a:lumOff val="-810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3</a:t>
          </a:r>
        </a:p>
      </dsp:txBody>
      <dsp:txXfrm rot="-5400000">
        <a:off x="0" y="1350012"/>
        <a:ext cx="497202" cy="213086"/>
      </dsp:txXfrm>
    </dsp:sp>
    <dsp:sp modelId="{15D3D31F-A831-4E62-ADE9-6ACE81331CDC}">
      <dsp:nvSpPr>
        <dsp:cNvPr id="0" name=""/>
        <dsp:cNvSpPr/>
      </dsp:nvSpPr>
      <dsp:spPr>
        <a:xfrm rot="5400000">
          <a:off x="2826069" y="-1227455"/>
          <a:ext cx="461687" cy="5119421"/>
        </a:xfrm>
        <a:prstGeom prst="round2SameRect">
          <a:avLst/>
        </a:prstGeom>
        <a:solidFill>
          <a:schemeClr val="lt1">
            <a:alpha val="90000"/>
            <a:hueOff val="0"/>
            <a:satOff val="0"/>
            <a:lumOff val="0"/>
            <a:alphaOff val="0"/>
          </a:schemeClr>
        </a:solidFill>
        <a:ln w="6350" cap="flat" cmpd="sng" algn="ctr">
          <a:solidFill>
            <a:schemeClr val="accent3">
              <a:hueOff val="504853"/>
              <a:satOff val="6602"/>
              <a:lumOff val="-810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sp:txBody>
      <dsp:txXfrm rot="-5400000">
        <a:off x="497202" y="1123950"/>
        <a:ext cx="5096883" cy="416611"/>
      </dsp:txXfrm>
    </dsp:sp>
    <dsp:sp modelId="{58E45CBE-DE64-4E4E-8AAA-D376465B2BEE}">
      <dsp:nvSpPr>
        <dsp:cNvPr id="0" name=""/>
        <dsp:cNvSpPr/>
      </dsp:nvSpPr>
      <dsp:spPr>
        <a:xfrm rot="5400000">
          <a:off x="-106543" y="1757278"/>
          <a:ext cx="710288" cy="497202"/>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4</a:t>
          </a:r>
        </a:p>
      </dsp:txBody>
      <dsp:txXfrm rot="-5400000">
        <a:off x="0" y="1899336"/>
        <a:ext cx="497202" cy="213086"/>
      </dsp:txXfrm>
    </dsp:sp>
    <dsp:sp modelId="{C37D6712-7A35-4663-80F7-1B8FC410AF19}">
      <dsp:nvSpPr>
        <dsp:cNvPr id="0" name=""/>
        <dsp:cNvSpPr/>
      </dsp:nvSpPr>
      <dsp:spPr>
        <a:xfrm rot="5400000">
          <a:off x="2826069" y="-678132"/>
          <a:ext cx="461687" cy="5119421"/>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sp:txBody>
      <dsp:txXfrm rot="-5400000">
        <a:off x="497202" y="1673273"/>
        <a:ext cx="5096883" cy="41661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0943A3E-55B9-4706-BA6E-9364B5247742}" type="datetimeFigureOut">
              <a:rPr lang="es-CO" smtClean="0"/>
              <a:t>18/10/2026</a:t>
            </a:fld>
            <a:endParaRPr lang="es-CO"/>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C08B099-0CC4-41E8-A6BF-D10E445BFF74}" type="slidenum">
              <a:rPr lang="es-CO" smtClean="0"/>
              <a:t>‹Nº›</a:t>
            </a:fld>
            <a:endParaRPr lang="es-CO"/>
          </a:p>
        </p:txBody>
      </p:sp>
    </p:spTree>
    <p:extLst>
      <p:ext uri="{BB962C8B-B14F-4D97-AF65-F5344CB8AC3E}">
        <p14:creationId xmlns:p14="http://schemas.microsoft.com/office/powerpoint/2010/main" val="1715684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78FAE389-1891-4C1C-AE7B-96446A92669F}" type="datetime1">
              <a:rPr lang="es-CO" smtClean="0"/>
              <a:t>18/10/2026</a:t>
            </a:fld>
            <a:endParaRPr lang="es-CO" dirty="0"/>
          </a:p>
        </p:txBody>
      </p:sp>
      <p:sp>
        <p:nvSpPr>
          <p:cNvPr id="5" name="Footer Placeholder 4"/>
          <p:cNvSpPr>
            <a:spLocks noGrp="1"/>
          </p:cNvSpPr>
          <p:nvPr>
            <p:ph type="ftr" sz="quarter" idx="11"/>
          </p:nvPr>
        </p:nvSpPr>
        <p:spPr/>
        <p:txBody>
          <a:bodyPr/>
          <a:lstStyle/>
          <a:p>
            <a:endParaRPr lang="es-CO" dirty="0"/>
          </a:p>
        </p:txBody>
      </p:sp>
      <p:sp>
        <p:nvSpPr>
          <p:cNvPr id="6" name="Slide Number Placeholder 5"/>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1366208883"/>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C197211-2E02-4E34-9D1C-742DBBA2E713}" type="datetime1">
              <a:rPr lang="es-CO" smtClean="0"/>
              <a:t>18/10/2026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5199187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F84A16AA-8F92-4F8D-9FF5-AE4F5F025475}" type="datetime1">
              <a:rPr lang="es-CO" smtClean="0"/>
              <a:t>18/10/2026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32149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58A2889A-C4A3-4C6C-A514-E9566A95FF0B}" type="datetime1">
              <a:rPr lang="es-CO" smtClean="0"/>
              <a:t>18/10/2026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0313126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FC549B8-F78E-4015-8DD3-99AC842EEF5C}" type="datetime1">
              <a:rPr lang="es-CO" smtClean="0"/>
              <a:t>18/10/2026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73852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78FAE389-1891-4C1C-AE7B-96446A92669F}" type="datetime1">
              <a:rPr lang="es-CO" smtClean="0"/>
              <a:t>18/10/2026</a:t>
            </a:fld>
            <a:endParaRPr lang="es-CO" dirty="0"/>
          </a:p>
        </p:txBody>
      </p:sp>
      <p:sp>
        <p:nvSpPr>
          <p:cNvPr id="4" name="Footer Placeholder 3"/>
          <p:cNvSpPr>
            <a:spLocks noGrp="1"/>
          </p:cNvSpPr>
          <p:nvPr>
            <p:ph type="ftr" sz="quarter" idx="11"/>
          </p:nvPr>
        </p:nvSpPr>
        <p:spPr/>
        <p:txBody>
          <a:bodyPr/>
          <a:lstStyle/>
          <a:p>
            <a:endParaRPr lang="es-CO" dirty="0"/>
          </a:p>
        </p:txBody>
      </p:sp>
      <p:sp>
        <p:nvSpPr>
          <p:cNvPr id="5" name="Slide Number Placeholder 4"/>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208510513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375FDE-4F9B-4FF4-9D4F-6D3ED15F62CE}" type="datetime1">
              <a:rPr lang="es-CO" smtClean="0"/>
              <a:t>18/10/2026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726837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7AF392FA-6414-43D4-857F-1D16849F2AFB}" type="datetime1">
              <a:rPr lang="es-CO" smtClean="0"/>
              <a:t>18/10/2026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3088452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E2F1ADB1-43E6-4CC5-8BA6-A3F5A7E6EF55}" type="datetime1">
              <a:rPr lang="es-CO" smtClean="0"/>
              <a:t>18/10/2026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1530639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69921E5-6957-4C84-BD80-156D13F58C59}" type="datetime1">
              <a:rPr lang="es-CO" smtClean="0"/>
              <a:t>18/10/2026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771218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7BB61D7-E979-4A0B-B106-A9203ABD6AA5}" type="datetime1">
              <a:rPr lang="es-CO" smtClean="0"/>
              <a:t>18/10/2026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2225396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dirty="0"/>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BC197211-2E02-4E34-9D1C-742DBBA2E713}" type="datetime1">
              <a:rPr lang="es-CO" smtClean="0"/>
              <a:t>18/10/2026</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864103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FAE389-1891-4C1C-AE7B-96446A92669F}" type="datetime1">
              <a:rPr lang="es-CO" smtClean="0"/>
              <a:t>18/10/2026</a:t>
            </a:fld>
            <a:endParaRPr lang="es-CO"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4143474534"/>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65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Layout" Target="../diagrams/layout1.xml"/><Relationship Id="rId7" Type="http://schemas.openxmlformats.org/officeDocument/2006/relationships/image" Target="../media/image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cs-comics.com/how-an-array-of-integers-gets-stored-in-memory/" TargetMode="Externa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hyperlink" Target="https://pythontutor.com/visualize.html#code=d%20%3D%20%5B2,3,5%5D%0Aprint%28f%22d%5B0%5D%20%3D%20%7Bd%5B0%5D%7D%22%29%0Aprint%28f%22d%5B1%5D%20%3D%20%7Bd%5B1%5D%7D%22%29%0Aprint%28f%22d%5B2%5D%20%3D%20%7Bd%5B2%5D%7D%22%29&amp;curInstr=0&amp;mode=display&amp;origin=opt-frontend.js&amp;py=311" TargetMode="Externa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pythontutor.com/visualize.html#code=def%20celsius_a_fahrenheit%28temp_c%29%3A%0A%20%20%20%20%22%22%22%0A%20%20%20%20Convierte%20una%20temperatura%20de%20grados%20Celsius%20a%20grados%20Fahrenheit.%0A%0A%20%20%20%20Supone%3A%0A%20%20%20%20%20%20%20%20temp_c%20es%20un%20numero%20%28int%20o%20float%29%20mayor%20o%20igual%20a%20-273.15%0A%20%20%20%20%20%20%20%20%28el%20cero%20absoluto%29.%0A%20%20%20%20Garantiza%3A%0A%20%20%20%20%20%20%20%20Retorna%20la%20temperatura%20equivalente%20en%20grados%20Fahrenheit%20%28float%29.%0A%20%20%20%20%22%22%22%0A%20%20%20%20temp_f%20%3D%20%289%20/%205%29%20*%20temp_c%20%2B%2032%0A%20%20%20%20return%20temp_f%0A%0Atemp_c%20%3D%20float%28input%28%22Ingrese%20los%20%C2%B0C%3A%20%22%29%29%0Atemp_f%20%3D%20celsius_a_fahrenheit%28temp_c%29%0Aprint%28f%22%7Btemp_c%7D%20%C2%B0C%20%3D%20%7Btemp_f%3A.2f%7D%20%C2%B0F%22%29%0A&amp;curInstr=0&amp;mode=display&amp;origin=opt-frontend.js&amp;py=311" TargetMode="External"/><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hyperlink" Target="https://pythontutor.com/visualize.html#code=N%20%3D%204%0Anotas%20%3D%20%5B0.0%5D%20*%20N%20%20%20%20%23%204%20casillas,%20todas%20en%200.0%0Anotas%5B2%5D%20%3D%202.0%20%20%20%20%20%20%20%23%20se%20llega%20a%20la%20casilla%20por%20su%20posicion%0Aprint%28notas%29%20%20%20%20%20%20%20%20%20%23%20%5B0.0,%200.0,%202.0,%200.0%5D&amp;curInstr=0&amp;mode=display&amp;origin=opt-frontend.js&amp;py=311"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pythontutor.com/visualize.html#code=N%20%3D%204%0Anotas%20%3D%20%5B0.0%5D%20*%20N%0Anotas%5B0%5D%20%3D%203.0%0A%0A%23%20Leer%3A%20el%20valor%20llega%20desde%20el%20teclado%0Anotas%5B1%5D%20%3D%20float%28input%28%22Nota%3A%20%22%29%29%0A%0A%23%20Mostrar%3A%20el%20valor%20sale%20a%20la%20pantalla%0Aprint%28notas%5B0%5D%29%0A%0A%23%20Copiar%20y%20usar%20en%20una%20expresion%0Aprimera%20%3D%20notas%5B0%5D%0Asuma%20%3D%20notas%5B0%5D%20%2B%20notas%5B1%5D%0Aprint%28%22Suma%3A%22,%20suma%29&amp;curInstr=0&amp;mode=display&amp;origin=opt-frontend.js&amp;py=311" TargetMode="External"/><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pythontutor.com/visualize.html#code=A%20%3D%20%5B2%2C%205%2C%20-1%2C%200%2C%207%2C%2010%2C%2017%2C%20-3%5D%0AB%20%3D%20%5B0%2C%201%2C%2015%2C%20-8%2C%205%2C%207%2C%20-2%2C%200%5D%0A%0AB%5B2%5D%20%3D%20A%5B0%5D%20%2A%203%0AB%5B3%5D%20%3D%20B%5B3%5D%20%2B%20A%5B4%5D%0AB%5BA%5B3%5D%5D%20%3D%20A%5B5%5D%20%2F%2F%20B%5B1%5D%0AB%5BA%5B6%5D%20%25%20A%5B5%5D%5D%20%3D%20A%5BA%5B7%5D%20%2B%20A%5B5%5D%5D%20%2B%20B%5B2%5D%20%2A%20-3%0A%0Aprint%28B%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pythontutor.com/visualize.html#code=notas%20%3D%20%5B3.0,%204.5,%202,%204.0%5D%0A%0AN%20%3D%204%0Aaprobo%20%3D%20%5BFalse%5D%20*%20N%0A%0Afor%20i%20in%20range%28N%29%3A%0A%20%20aprobo%5Bi%5D%20%3D%20notas%5Bi%5D%20%3E%3D%203.0%0A&amp;curInstr=0&amp;mode=display&amp;origin=opt-frontend.js&amp;py=311" TargetMode="External"/><Relationship Id="rId2" Type="http://schemas.openxmlformats.org/officeDocument/2006/relationships/hyperlink" Target="https://pythontutor.com/visualize.html#code=N%20%3D%204%0Anotas%20%3D%20%5B0.0%5D%20%2A%20N%0Afor%20i%20in%20range%28N%29%3A%0A%20%20%20%20notas%5Bi%5D%20%3D%20float%28input%28f%22Nota%20del%20estudiante%20%7Bi%20%2B%201%7D%3A%20%22%29%29%0Aprint%28notas%29%0A&amp;cumulative=false&amp;curInstr=0&amp;heapPrimitives=nevernest&amp;mode=display&amp;origin=opt-frontend.js&amp;py=311&amp;rawInputLstJSON=%5B%223.0%22%2C%20%224.5%22%2C%20%222.0%22%2C%20%224.0%22%5D&amp;textReferences=false"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pythontutor.com/visualize.html#code=notas%20%3D%20%5B3.0%2C%204.5%2C%202.0%2C%204.0%5D%0Afor%20nota%20in%20notas%3A%0A%20%20%20%20print%28%22Nota%3A%22%2C%20nota%29%0A&amp;cumulative=false&amp;curInstr=0&amp;heapPrimitives=nevernest&amp;mode=display&amp;origin=opt-frontend.js&amp;py=311&amp;rawInputLstJSON=%5B%5D&amp;textReferences=false" TargetMode="External"/><Relationship Id="rId2" Type="http://schemas.openxmlformats.org/officeDocument/2006/relationships/hyperlink" Target="https://pythontutor.com/visualize.html#code=N%20%3D%204%0Anotas%20%3D%20%5B3.0%2C%204.5%2C%202.0%2C%204.0%5D%0Afor%20i%20in%20range%28N%29%3A%0A%20%20%20%20print%28f%22Posicion%20%7Bi%7D%3A%20%7Bnotas%5Bi%5D%7D%22%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pythontutor.com/visualize.html#code=notas%20%3D%20%5B3.0%2C%204.5%2C%202.0%2C%204.0%5D%0AN%20%3D%204%0Asuma%20%3D%200%0Afor%20i%20in%20range%28N%29%3A%0A%20%20%20%20suma%20%3D%20suma%20%2B%20notas%5Bi%5D%0Apromedio%20%3D%20suma%20%2F%20N%0Aprint%28f%22Promedio%3A%20%7Bpromedio%3A.2f%7D%22%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pythontutor.com/visualize.html#code=notas%20%3D%20%5B3.0%2C%204.5%2C%202.0%2C%204.0%5D%0AN%20%3D%204%0Afor%20i%20in%20range%28N%20%2B%201%29%3A%0A%20%20%20%20print%28notas%5Bi%5D%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pythontutor.com/visualize.html#code=notas%20%3D%20%5B3.0%2C%204.5%2C%202.0%2C%204.0%5D%0AN%20%3D%204%0Afor%20i%20in%20range%28N%20-%201%2C%20-1%2C%20-1%29%3A%0A%20%20%20%20print%28f%22Posicion%20%7Bi%7D%3A%20%7Bnotas%5Bi%5D%7D%22%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pythontutor.com/visualize.html#code=notas%20%3D%20%5B3.0%2C%204.5%2C%202.0%2C%204.0%5D%0AN%20%3D%204%0Afor%20i%20in%20range%28N%20-%201%29%3A%0A%20%20%20%20if%20notas%5Bi%20%2B%201%5D%20%3E%20notas%5Bi%5D%3A%0A%20%20%20%20%20%20%20%20print%28f%22De%20la%20evaluacion%20%7Bi%20%2B%201%7D%20a%20la%20%7Bi%20%2B%202%7D%3A%20sube%22%29%0A%20%20%20%20else%3A%0A%20%20%20%20%20%20%20%20print%28f%22De%20la%20evaluacion%20%7Bi%20%2B%201%7D%20a%20la%20%7Bi%20%2B%202%7D%3A%20baja%20o%20se%20mantiene%22%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pythontutor.com/visualize.html#code=notas%20%3D%20%5B3.0,%204.5,%202.0,%204.0%5D%0Acopia%20%3D%20notas%0Acopia%5B0%5D%20%3D%205.0%0A&amp;curInstr=0&amp;mode=display&amp;origin=opt-frontend.js&amp;py=311" TargetMode="External"/><Relationship Id="rId2" Type="http://schemas.openxmlformats.org/officeDocument/2006/relationships/hyperlink" Target="https://pythontutor.com/visualize.html#code=a%20%3D%203.0%0Ab%20%3D%20a%0Ab%20%3D%205.0%0A&amp;curInstr=0&amp;mode=display&amp;origin=opt-frontend.js&amp;py=311" TargetMode="Externa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pythontutor.com/visualize.html#code=notas%20%3D%20%5B3.0%2C%204.5%2C%202.0%2C%204.0%5D%0AN%20%3D%204%0Acopia%20%3D%20%5B0.0%5D%20%2A%20N%0Afor%20i%20in%20range%28N%29%3A%0A%20%20%20%20copia%5Bi%5D%20%3D%20notas%5Bi%5D%0Acopia%5B0%5D%20%3D%205.0%0Aprint%28%22notas%20%3D%22%2C%20notas%29%0Aprint%28%22copia%20%3D%22%2C%20copia%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pythontutor.com/visualize.html#code=notas%20%3D%20%5B3.0%2C%204.5%2C%202.0%2C%204.0%5D%0Acopia%20%3D%20notas%5B%3A%5D%0Acopia%5B0%5D%20%3D%205.0%0Aprint%28%22notas%20%3D%22%2C%20notas%29%0Aprint%28%22copia%20%3D%22%2C%20copia%29%0A&amp;cumulative=false&amp;curInstr=0&amp;heapPrimitives=nevernest&amp;mode=display&amp;origin=opt-frontend.js&amp;py=311&amp;rawInputLstJSON=%5B%5D&amp;textReferences=false" TargetMode="External"/><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hyperlink" Target="https://pythontutor.com/visualize.html#code=notas%20%3D%20%5B3.0%2C%204.5%2C%202.0%2C%204.0%5D%0Acopia%20%3D%20list%28notas%29%0Acopia%5B0%5D%20%3D%205.0%0Aprint%28%22notas%20%3D%22%2C%20notas%29%0Aprint%28%22copia%20%3D%22%2C%20copia%29%0A&amp;cumulative=false&amp;curInstr=0&amp;heapPrimitives=nevernest&amp;mode=display&amp;origin=opt-frontend.js&amp;py=311&amp;rawInputLstJSON=%5B%5D&amp;textReferences=false"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pythontutor.com/visualize.html#code=def%20calcular_promedio%28notas%29%3A%0A%20%20%20%20suma%20%3D%200%0A%20%20%20%20for%20i%20in%20range%28len%28notas%29%29%3A%0A%20%20%20%20%20%20%20%20suma%20%3D%20suma%20%2B%20notas%5Bi%5D%0A%20%20%20%20promedio%20%3D%20suma%20%2F%20len%28notas%29%0A%20%20%20%20return%20promedio%0A%0Alista_notas%20%3D%20%5B3.0%2C%204.5%2C%202.0%2C%204.0%5D%0Aprom%20%3D%20calcular_promedio%28lista_notas%29%0Aprint%28f%22Promedio%3A%20%7Bprom%3A.2f%7D%22%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hyperlink" Target="https://pythontutor.com/visualize.html#code=def%20calcular_promedio%28notas%29%3A%0A%20%20%20%20suma%20%3D%200%0A%20%20%20%20for%20i%20in%20range%28len%28notas%29%29%3A%0A%20%20%20%20%20%20%20%20suma%20%3D%20suma%20%2B%20notas%5Bi%5D%0A%20%20%20%20promedio%20%3D%20suma%20%2F%20len%28notas%29%0A%20%20%20%20return%20promedio%0A%0Alista_notas%20%3D%20%5B3.0%2C%204.5%2C%202.0%2C%204.0%5D%0Aprom%20%3D%20calcular_promedio%28lista_notas%29%0Aprint%28f%22Promedio%3A%20%7Bprom%3A.2f%7D%22%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pythontutor.com/visualize.html#code=def%20calcular_promedio%28notas%29%3A%0A%20%20%20%20suma%20%3D%200%0A%20%20%20%20for%20i%20in%20range%28len%28notas%29%29%3A%0A%20%20%20%20%20%20%20%20suma%20%3D%20suma%20%2B%20notas%5Bi%5D%0A%20%20%20%20promedio%20%3D%20suma%20%2F%20len%28notas%29%0A%20%20%20%20return%20promedio%0A%0Aassert%20round%28calcular_promedio%28%5B3.0%2C%204.5%2C%202.0%2C%204.0%5D%29%2C%203%29%20%3D%3D%203.375%20%20%23%20tipico%0Aassert%20calcular_promedio%28%5B3.5%5D%29%20%3D%3D%203.5%20%20%20%20%20%20%20%20%20%20%20%20%20%20%20%20%20%20%20%20%20%20%20%20%20%20%20%20%20%20%23%20limite%0Aassert%20calcular_promedio%28%5B4.0%2C%204.0%2C%204.0%5D%29%20%3D%3D%204.0%20%20%20%20%20%20%20%20%20%20%20%20%20%20%20%20%20%20%20%20%23%20especial%0A%0Adatos%20%3D%20%5B3.0%2C%204.5%2C%202.0%2C%204.0%5D%0Acalcular_promedio%28datos%29%0Aassert%20datos%20%3D%3D%20%5B3.0%2C%204.5%2C%202.0%2C%204.0%5D%20%20%20%20%20%20%20%20%20%20%20%20%20%20%20%20%20%20%20%20%20%20%20%20%20%20%20%20%20%20%20%20%23%20no%20modifica%0A%0Aprint%28%22Todas%20las%20pruebas%20pasaron%22%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pythontutor.com/visualize.html#code=def%20leer_notas%28n%29%3A%0A%20%20%20%20notas%20%3D%20%5B0.0%5D%20%2A%20n%0A%20%20%20%20for%20i%20in%20range%28n%29%3A%0A%20%20%20%20%20%20%20%20notas%5Bi%5D%20%3D%20float%28input%28f%22Nota%20del%20estudiante%20%7Bi%20%2B%201%7D%3A%20%22%29%29%0A%20%20%20%20return%20notas%0A%0Alista_notas%20%3D%20leer_notas%284%29%0Aprint%28lista_notas%29%0A&amp;cumulative=false&amp;curInstr=0&amp;heapPrimitives=nevernest&amp;mode=display&amp;origin=opt-frontend.js&amp;py=311&amp;rawInputLstJSON=%5B%223.0%22%2C%20%224.5%22%2C%20%222.0%22%2C%20%224.0%22%5D&amp;textReferences=false"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pythontutor.com/visualize.html#code=NOTA_MAXIMA%20%3D%205.0%0A%0Adef%20aplicar_bonificacion%28notas%2C%20puntos%29%3A%0A%20%20%20%20for%20i%20in%20range%28len%28notas%29%29%3A%0A%20%20%20%20%20%20%20%20notas%5Bi%5D%20%3D%20notas%5Bi%5D%20%2B%20puntos%0A%20%20%20%20%20%20%20%20if%20notas%5Bi%5D%20%3E%20NOTA_MAXIMA%3A%0A%20%20%20%20%20%20%20%20%20%20%20%20notas%5Bi%5D%20%3D%20NOTA_MAXIMA%0A%0Alista_notas%20%3D%20%5B3.0%2C%204.5%2C%202.0%2C%204.0%5D%0Aprint%28%22Antes%3A%20%20%22%2C%20lista_notas%29%0Aaplicar_bonificacion%28lista_notas%2C%200.5%29%0Aprint%28%22Despues%3A%22%2C%20lista_notas%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hyperlink" Target="https://pythontutor.com/visualize.html#code=def%20calcular_promedio%28notas%29%3A%0A%20%20%20%20suma%20%3D%200%0A%20%20%20%20for%20i%20in%20range%28len%28notas%29%29%3A%0A%20%20%20%20%20%20%20%20suma%20%3D%20suma%20%2B%20notas%5Bi%5D%0A%20%20%20%20promedio%20%3D%20suma%20%2F%20len%28notas%29%0A%20%20%20%20return%20promedio%0A%0Aassert%20round%28calcular_promedio%28%5B3.0%2C%204.5%2C%202.0%2C%204.0%5D%29%2C%203%29%20%3D%3D%203.375%20%20%23%20tipico%0Aassert%20calcular_promedio%28%5B3.5%5D%29%20%3D%3D%203.5%20%20%20%20%20%20%20%20%20%20%20%20%20%20%20%20%20%20%20%20%20%20%20%20%20%20%20%20%20%20%23%20limite%0Aassert%20calcular_promedio%28%5B4.0%2C%204.0%2C%204.0%5D%29%20%3D%3D%204.0%20%20%20%20%20%20%20%20%20%20%20%20%20%20%20%20%20%20%20%20%23%20especial%0A%0Adatos%20%3D%20%5B3.0%2C%204.5%2C%202.0%2C%204.0%5D%0Acalcular_promedio%28datos%29%0Aassert%20datos%20%3D%3D%20%5B3.0%2C%204.5%2C%202.0%2C%204.0%5D%20%20%20%20%20%20%20%20%20%20%20%20%20%20%20%20%20%20%20%20%20%20%20%20%20%20%20%20%20%20%20%20%23%20no%20modifica%0A%0Aprint%28%22Todas%20las%20pruebas%20pasaron%22%29%0A&amp;cumulative=false&amp;curInstr=0&amp;heapPrimitives=nevernest&amp;mode=display&amp;origin=opt-frontend.js&amp;py=311&amp;rawInputLstJSON=%5B%5D&amp;textReferences=false"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hyperlink" Target="https://pythontutor.com/visualize.html#code=def%20celsius_a_fahrenheit%28temp_c%29%3A%0A%20%20%20%20temp_f%20%3D%20%289%20/%205%29%20*%20temp_c%20%2B%2032%0A%20%20%20%20return%20temp_f%0A%0Atemp_c%20%3D%20float%28input%28%22Ingrese%20los%20%C2%B0C%3A%20%22%29%29%0Atemp_f%20%3D%20celsius_a_fahrenheit%28temp_c%29%0A%0Aprint%28f%22%7Btemp_c%7D%20%C2%B0C%20%3D%20%7Btemp_f%7D%20%C2%B0F%22%29%0A&amp;curInstr=0&amp;mode=display&amp;origin=opt-frontend.js&amp;py=311" TargetMode="Externa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3" Type="http://schemas.openxmlformats.org/officeDocument/2006/relationships/hyperlink" Target="https://pythontutor.com/visualize.html#code=conversiones%20%3D%200%0A%0Adef%20celsius_a_fahrenheit%28temp_c%29%3A%0A%20%20%20%20global%20conversiones%0A%20%20%20%20conversiones%20%3D%20conversiones%20%2B%201%0A%20%20%20%20temp_f%20%3D%20%289%20/%205%29%20*%20temp_c%20%2B%2032%0A%20%20%20%20return%20temp_f%0A%0A%23%20Pruebas%0Aassert%20round%28celsius_a_fahrenheit%28100%29,%202%29%20%3D%3D%20212.0%0Aassert%20round%28celsius_a_fahrenheit%280%29,%202%29%20%3D%3D%2032.0%0A%0A%23%20Programa%20principal%3A%20el%20usuario%20hace%20UNA%20conversion%0Atemp_f%20%3D%20celsius_a_fahrenheit%2823%29%0Aprint%28%2223%20%C2%B0C%20%3D%22,%20temp_f,%20%22%C2%B0F%22%29%0Aprint%28%22Conversiones%3A%22,%20conversiones%29%0A&amp;curInstr=0&amp;mode=display&amp;origin=opt-frontend.js&amp;py=311"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pythontutor.com/visualize.html#code=conversiones%20%3D%200%0A%0Adef%20celsius_a_fahrenheit%28temp_c%29%3A%0A%20%20%20%20conversiones%20%3D%20conversiones%20%2B%201%0A%20%20%20%20temp_f%20%3D%20%289%20%2F%205%29%20%2A%20temp_c%20%2B%2032%0A%20%20%20%20return%20temp_f%0A%0Atemp_f%20%3D%20celsius_a_fahrenheit%2823%29%0A&amp;cumulative=false&amp;curInstr=0&amp;heapPrimitives=nevernest&amp;mode=display&amp;origin=opt-frontend.js&amp;py=311&amp;rawInputLstJSON=%5B%5D&amp;textReferences=false"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 Id="rId4" Type="http://schemas.openxmlformats.org/officeDocument/2006/relationships/hyperlink" Target="https://pythontutor.com/visualize.html#code=def%20celsius_a_fahrenheit%28temp_c%29%3A%0A%20%20%20%20temp_f%20%3D%20%289%20%2F%205%29%20%2A%20temp_c%20%2B%2032%0A%20%20%20%20return%20temp_f%0A%0Acelsius_a_fahrenheit%2823%29%20%20%20%20%20%23%20el%20resultado%20no%20se%20guarda%0Aprint%28temp_f%29%0A&amp;cumulative=false&amp;curInstr=0&amp;heapPrimitives=nevernest&amp;mode=display&amp;origin=opt-frontend.js&amp;py=311&amp;rawInputLstJSON=%5B%5D&amp;textReferences=false"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pythontutor.com/visualize.html#code=def%20factorial%28n%29%3A%0A%20%20%20%20fact%20%3D%201%0A%20%20%20%20for%20i%20in%20range%281%2C%20n%20%2B%201%29%3A%0A%20%20%20%20%20%20%20%20fact%20%3D%20fact%20%2A%20i%0A%20%20%20%20return%20fact%0A%0Adef%20seno%28x%2C%20n%29%3A%0A%20%20%20%20suma%20%3D%200%0A%20%20%20%20for%20k%20in%20range%28n%29%3A%0A%20%20%20%20%20%20%20%20suma%20%3D%20suma%20%2B%20%28-1%29%2A%2Ak%20%2A%20x%2A%2A%282%2Ak%20%2B%201%29%20%2F%20factorial%282%2Ak%20%2B%201%29%0A%20%20%20%20return%20suma%0A%0Aa%20%3D%20seno%281.0%2C%203%29%20%20%20%20%20%20%20%20%20%20%23%20por%20posicion%0Ab%20%3D%20seno%28x%3D1.0%2C%20n%3D3%29%20%20%20%20%20%20%23%20por%20nombre%0Ac%20%3D%20seno%28n%3D3%2C%20x%3D1.0%29%20%20%20%20%20%20%23%20por%20nombre%2C%20en%20otro%20orden%0Ad%20%3D%20seno%281.0%2C%20n%3D3%29%20%20%20%20%20%20%20%20%23%20mezclados%0Aprint%28a%2C%20b%2C%20c%2C%20d%29%0A&amp;cumulative=false&amp;curInstr=0&amp;heapPrimitives=nevernest&amp;mode=display&amp;origin=opt-frontend.js&amp;py=311&amp;rawInputLstJSON=%5B%5D&amp;textReferences=false"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 Id="rId4" Type="http://schemas.openxmlformats.org/officeDocument/2006/relationships/image" Target="../media/image230.png"/></Relationships>
</file>

<file path=ppt/slides/_rels/slide44.xml.rels><?xml version="1.0" encoding="UTF-8" standalone="yes"?>
<Relationships xmlns="http://schemas.openxmlformats.org/package/2006/relationships"><Relationship Id="rId3" Type="http://schemas.openxmlformats.org/officeDocument/2006/relationships/hyperlink" Target="https://pythontutor.com/visualize.html#code=def%20factorial%28n%29%3A%0A%20%20%20%20fact%20%3D%201%0A%20%20%20%20for%20i%20in%20range%281%2C%20n%20%2B%201%29%3A%0A%20%20%20%20%20%20%20%20fact%20%3D%20fact%20%2A%20i%0A%20%20%20%20return%20fact%0A%0Adef%20seno%28x%2C%20n%3D10%29%3A%0A%20%20%20%20suma%20%3D%200%0A%20%20%20%20for%20k%20in%20range%28n%29%3A%0A%20%20%20%20%20%20%20%20suma%20%3D%20suma%20%2B%20%28-1%29%2A%2Ak%20%2A%20x%2A%2A%282%2Ak%20%2B%201%29%20%2F%20factorial%282%2Ak%20%2B%201%29%0A%20%20%20%20return%20suma%0A%0Aa%20%3D%20seno%281.0%29%20%20%20%20%20%20%20%20%20%20%23%20n%20omitido%3A%20usa%2010%0Ab%20%3D%20seno%281.0%2C%203%29%20%20%20%20%20%20%20%23%20n%20%3D%203%0Ac%20%3D%20seno%28n%3D3%2C%20x%3D1.0%29%20%20%20%23%20por%20nombre%0Aprint%28a%29%0Aprint%28b%29%0Aprint%28c%29%0A&amp;cumulative=false&amp;curInstr=0&amp;heapPrimitives=nevernest&amp;mode=display&amp;origin=opt-frontend.js&amp;py=311&amp;rawInputLstJSON=%5B%5D&amp;textReferences=false"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pythontutor.com/visualize.html#code=def%20factorial%28n%29%3A%0A%20%20%20%20fact%20%3D%201%0A%20%20%20%20for%20i%20in%20range%281,%20n%20%2B%201%29%3A%0A%20%20%20%20%20%20%20%20fact%20%3D%20fact%20*%20i%0A%20%20%20%20return%20fact%0A%0Adef%20seno%28x,%20n%3D10%29%3A%0A%20%20%20%20suma%20%3D%200%0A%20%20%20%20for%20k%20in%20range%28n%29%3A%0A%20%20%20%20%20%20%20%20suma%20%3D%20suma%20%2B%20%28-1%29**k%20*%20x**%282*k%20%2B%201%29%20/%20factorial%282*k%20%2B%201%29%0A%20%20%20%20return%20suma%0A%0Aresultado%20%3D%20seno%281.0,%203%29%0Aprint%28resultado%29&amp;curInstr=0&amp;mode=display&amp;origin=opt-frontend.js&amp;py=311"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hyperlink" Target="https://www.aprenderaprogramar.com/index.php?option=com_content&amp;view=article&amp;id=254:abstraccion-en-programacion-concepto-diseno-top-down-de-algoritmos-y-programas-ejemplos-cu00225a&amp;catid=36:curso-qbases-de-la-programacion-nivel-iiq&amp;Itemid=60" TargetMode="External"/></Relationships>
</file>

<file path=ppt/slides/_rels/slide4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hyperlink" Target="https://github.com/algoritmos-UdeA/logica1-20262/tree/main/clases/10/teoria/codigo" TargetMode="Externa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pythontutor.com/visualize.html#code=import%20math%0A%0Aprint%28math.sqrt%2825%29%29%20%20%20%20%20%23%205.0%0Aprint%28math.pi%29%20%20%20%20%20%20%20%20%20%20%20%23%203.141592653589793%0Aprint%28math.factorial%285%29%29%20%23%20120&amp;curInstr=0&amp;mode=display&amp;origin=opt-frontend.js&amp;py=311"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hyperlink" Target="https://docs.python.org/es/3/library/math.html"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docs.python.org/es/3/library/math.html"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hyperlink" Target="https://github.com/algoritmos-UdeA/logica1-20262/tree/main/clases/10/teoria/codigo/adivina_numero"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www.youtube.com/watch?v=tIrcxwLqzjQ" TargetMode="External"/><Relationship Id="rId2" Type="http://schemas.openxmlformats.org/officeDocument/2006/relationships/hyperlink" Target="https://cs50.harvard.edu/python/notes/5/#pytest"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cs50.harvard.edu/python/notes/4/" TargetMode="External"/><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hyperlink" Target="https://www.youtube.com/watch?v=MztLZWibctI" TargetMode="External"/></Relationships>
</file>

<file path=ppt/slides/_rels/slide7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compedu.stanford.edu/karel-reader/docs/python/en/chapter8.html" TargetMode="External"/><Relationship Id="rId7" Type="http://schemas.openxmlformats.org/officeDocument/2006/relationships/hyperlink" Target="https://cs50.harvard.edu/python/notes/0/" TargetMode="External"/><Relationship Id="rId2" Type="http://schemas.openxmlformats.org/officeDocument/2006/relationships/hyperlink" Target="https://www.aprenderaprogramar.com/index.php?option=com_content&amp;view=category&amp;id=36&amp;Itemid=60" TargetMode="External"/><Relationship Id="rId1" Type="http://schemas.openxmlformats.org/officeDocument/2006/relationships/slideLayout" Target="../slideLayouts/slideLayout2.xml"/><Relationship Id="rId6" Type="http://schemas.openxmlformats.org/officeDocument/2006/relationships/hyperlink" Target="https://ocw.mit.edu/courses/6-100l-introduction-to-cs-and-programming-using-python-fall-2022/resources/6100l-lecture-7-multi_mp4/" TargetMode="External"/><Relationship Id="rId5" Type="http://schemas.openxmlformats.org/officeDocument/2006/relationships/hyperlink" Target="https://ocw.mit.edu/courses/6-100l-introduction-to-cs-and-programming-using-python-fall-2022/resources/mit6_100l_f22_lec07_pdf/" TargetMode="External"/><Relationship Id="rId4" Type="http://schemas.openxmlformats.org/officeDocument/2006/relationships/hyperlink" Target="https://web.stanford.edu/class/archive/cs/cs106a/cs106a.1226/lectures/03-decomposition/3-Decomposition.pdf"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realpython.com/defining-your-own-python-function/" TargetMode="External"/><Relationship Id="rId13" Type="http://schemas.openxmlformats.org/officeDocument/2006/relationships/hyperlink" Target="https://cs.stanford.edu/people/nick/py/" TargetMode="External"/><Relationship Id="rId18" Type="http://schemas.openxmlformats.org/officeDocument/2006/relationships/hyperlink" Target="https://es.wikipedia.org/wiki/Karel_el_Robot" TargetMode="External"/><Relationship Id="rId3" Type="http://schemas.openxmlformats.org/officeDocument/2006/relationships/hyperlink" Target="https://www.uvm.edu/~cbcafier/" TargetMode="External"/><Relationship Id="rId7" Type="http://schemas.openxmlformats.org/officeDocument/2006/relationships/hyperlink" Target="https://www.teach.cs.toronto.edu/~csc110y/fall/notes/" TargetMode="External"/><Relationship Id="rId12" Type="http://schemas.openxmlformats.org/officeDocument/2006/relationships/hyperlink" Target="https://realpython.com/ref/keywords/while/" TargetMode="External"/><Relationship Id="rId17" Type="http://schemas.openxmlformats.org/officeDocument/2006/relationships/hyperlink" Target="https://compedu.stanford.edu/karel-reader/docs/python/en/intro.html" TargetMode="External"/><Relationship Id="rId2" Type="http://schemas.openxmlformats.org/officeDocument/2006/relationships/hyperlink" Target="https://ellibrodepython.com/" TargetMode="External"/><Relationship Id="rId16" Type="http://schemas.openxmlformats.org/officeDocument/2006/relationships/hyperlink" Target="https://web.stanford.edu/class/cs106a/section/section1/section1.html" TargetMode="External"/><Relationship Id="rId1" Type="http://schemas.openxmlformats.org/officeDocument/2006/relationships/slideLayout" Target="../slideLayouts/slideLayout2.xml"/><Relationship Id="rId6" Type="http://schemas.openxmlformats.org/officeDocument/2006/relationships/hyperlink" Target="https://python-course.eu/" TargetMode="External"/><Relationship Id="rId11" Type="http://schemas.openxmlformats.org/officeDocument/2006/relationships/hyperlink" Target="https://realpython.com/python-while-loop/" TargetMode="External"/><Relationship Id="rId5" Type="http://schemas.openxmlformats.org/officeDocument/2006/relationships/hyperlink" Target="https://docs.python.org/es/3/tutorial/" TargetMode="External"/><Relationship Id="rId15" Type="http://schemas.openxmlformats.org/officeDocument/2006/relationships/hyperlink" Target="https://web.stanford.edu/class/cs106a/" TargetMode="External"/><Relationship Id="rId10" Type="http://schemas.openxmlformats.org/officeDocument/2006/relationships/hyperlink" Target="https://realpython.com/ref/best-practices/functions/" TargetMode="External"/><Relationship Id="rId4" Type="http://schemas.openxmlformats.org/officeDocument/2006/relationships/hyperlink" Target="https://realpython.com/" TargetMode="External"/><Relationship Id="rId9" Type="http://schemas.openxmlformats.org/officeDocument/2006/relationships/hyperlink" Target="https://realpython.com/python-built-in-functions/" TargetMode="External"/><Relationship Id="rId14" Type="http://schemas.openxmlformats.org/officeDocument/2006/relationships/hyperlink" Target="https://github.com/rjherrera/IIC1103/tree/master"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phdcomics.com/comics/archive.php?comicid=1431" TargetMode="External"/><Relationship Id="rId2" Type="http://schemas.openxmlformats.org/officeDocument/2006/relationships/image" Target="../media/image60.gif"/><Relationship Id="rId1" Type="http://schemas.openxmlformats.org/officeDocument/2006/relationships/slideLayout" Target="../slideLayouts/slideLayout2.xml"/><Relationship Id="rId4" Type="http://schemas.openxmlformats.org/officeDocument/2006/relationships/image" Target="../media/image6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5909BB-6F92-48BA-A875-99E15D2253EC}"/>
              </a:ext>
            </a:extLst>
          </p:cNvPr>
          <p:cNvSpPr>
            <a:spLocks noGrp="1"/>
          </p:cNvSpPr>
          <p:nvPr>
            <p:ph type="ctrTitle"/>
          </p:nvPr>
        </p:nvSpPr>
        <p:spPr>
          <a:xfrm>
            <a:off x="323528" y="1122363"/>
            <a:ext cx="8568952" cy="2387600"/>
          </a:xfrm>
        </p:spPr>
        <p:txBody>
          <a:bodyPr/>
          <a:lstStyle/>
          <a:p>
            <a:r>
              <a:rPr lang="es-CO" dirty="0"/>
              <a:t>Lógica y Representación 1</a:t>
            </a:r>
          </a:p>
        </p:txBody>
      </p:sp>
      <p:sp>
        <p:nvSpPr>
          <p:cNvPr id="3" name="Subtítulo 2">
            <a:extLst>
              <a:ext uri="{FF2B5EF4-FFF2-40B4-BE49-F238E27FC236}">
                <a16:creationId xmlns:a16="http://schemas.microsoft.com/office/drawing/2014/main" id="{8A9999BC-7CCA-4677-B2C4-E913A7AA1FC0}"/>
              </a:ext>
            </a:extLst>
          </p:cNvPr>
          <p:cNvSpPr>
            <a:spLocks noGrp="1"/>
          </p:cNvSpPr>
          <p:nvPr>
            <p:ph type="subTitle" idx="1"/>
          </p:nvPr>
        </p:nvSpPr>
        <p:spPr/>
        <p:txBody>
          <a:bodyPr>
            <a:normAutofit/>
          </a:bodyPr>
          <a:lstStyle/>
          <a:p>
            <a:r>
              <a:rPr lang="es-MX" sz="3200" b="1" dirty="0"/>
              <a:t>Arreglos unidimensionales</a:t>
            </a:r>
          </a:p>
          <a:p>
            <a:r>
              <a:rPr lang="es-CO" dirty="0"/>
              <a:t>Ingeniería de Sistemas</a:t>
            </a:r>
          </a:p>
          <a:p>
            <a:r>
              <a:rPr lang="es-CO" dirty="0"/>
              <a:t>Universidad de Antioquia</a:t>
            </a:r>
          </a:p>
        </p:txBody>
      </p:sp>
    </p:spTree>
    <p:extLst>
      <p:ext uri="{BB962C8B-B14F-4D97-AF65-F5344CB8AC3E}">
        <p14:creationId xmlns:p14="http://schemas.microsoft.com/office/powerpoint/2010/main" val="774097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188640"/>
            <a:ext cx="8263830" cy="845334"/>
          </a:xfrm>
        </p:spPr>
        <p:txBody>
          <a:bodyPr>
            <a:normAutofit/>
          </a:bodyPr>
          <a:lstStyle/>
          <a:p>
            <a:r>
              <a:rPr lang="es-CO" sz="4000" dirty="0"/>
              <a:t>Método de Polya - Resumen</a:t>
            </a:r>
            <a:endParaRPr lang="en-US" sz="4000" dirty="0"/>
          </a:p>
        </p:txBody>
      </p:sp>
      <p:graphicFrame>
        <p:nvGraphicFramePr>
          <p:cNvPr id="6" name="13 Diagrama">
            <a:extLst>
              <a:ext uri="{FF2B5EF4-FFF2-40B4-BE49-F238E27FC236}">
                <a16:creationId xmlns:a16="http://schemas.microsoft.com/office/drawing/2014/main" id="{D0B70736-976D-4675-A33E-9F94643ADC43}"/>
              </a:ext>
            </a:extLst>
          </p:cNvPr>
          <p:cNvGraphicFramePr/>
          <p:nvPr>
            <p:extLst>
              <p:ext uri="{D42A27DB-BD31-4B8C-83A1-F6EECF244321}">
                <p14:modId xmlns:p14="http://schemas.microsoft.com/office/powerpoint/2010/main" val="3245553215"/>
              </p:ext>
            </p:extLst>
          </p:nvPr>
        </p:nvGraphicFramePr>
        <p:xfrm>
          <a:off x="3059832" y="4221088"/>
          <a:ext cx="5616624" cy="23637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3">
            <a:extLst>
              <a:ext uri="{FF2B5EF4-FFF2-40B4-BE49-F238E27FC236}">
                <a16:creationId xmlns:a16="http://schemas.microsoft.com/office/drawing/2014/main" id="{9C9BD4AC-3A6A-4FE1-A719-F0D8329520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7544" y="4404101"/>
            <a:ext cx="2200014" cy="197722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a:extLst>
              <a:ext uri="{FF2B5EF4-FFF2-40B4-BE49-F238E27FC236}">
                <a16:creationId xmlns:a16="http://schemas.microsoft.com/office/drawing/2014/main" id="{E6732E42-F6E4-4E10-A20E-82A4BE9E856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79016" y="1223168"/>
            <a:ext cx="3214687" cy="2411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3">
            <a:extLst>
              <a:ext uri="{FF2B5EF4-FFF2-40B4-BE49-F238E27FC236}">
                <a16:creationId xmlns:a16="http://schemas.microsoft.com/office/drawing/2014/main" id="{5899AD60-028E-47EE-844F-916EBA585E1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13811" y="1248925"/>
            <a:ext cx="2857500" cy="2363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17 Flecha abajo">
            <a:extLst>
              <a:ext uri="{FF2B5EF4-FFF2-40B4-BE49-F238E27FC236}">
                <a16:creationId xmlns:a16="http://schemas.microsoft.com/office/drawing/2014/main" id="{656E38FA-A37E-460A-AF17-E0C304C611BF}"/>
              </a:ext>
            </a:extLst>
          </p:cNvPr>
          <p:cNvSpPr/>
          <p:nvPr/>
        </p:nvSpPr>
        <p:spPr>
          <a:xfrm rot="16200000">
            <a:off x="4400922" y="1973262"/>
            <a:ext cx="322262" cy="965200"/>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s-CO"/>
          </a:p>
        </p:txBody>
      </p:sp>
      <p:sp>
        <p:nvSpPr>
          <p:cNvPr id="11" name="18 CuadroTexto">
            <a:extLst>
              <a:ext uri="{FF2B5EF4-FFF2-40B4-BE49-F238E27FC236}">
                <a16:creationId xmlns:a16="http://schemas.microsoft.com/office/drawing/2014/main" id="{B82BDCE9-7A82-42E8-98CF-353D30A777C0}"/>
              </a:ext>
            </a:extLst>
          </p:cNvPr>
          <p:cNvSpPr txBox="1"/>
          <p:nvPr/>
        </p:nvSpPr>
        <p:spPr>
          <a:xfrm>
            <a:off x="611560" y="3789040"/>
            <a:ext cx="3214688" cy="400110"/>
          </a:xfrm>
          <a:prstGeom prst="rect">
            <a:avLst/>
          </a:prstGeom>
          <a:noFill/>
        </p:spPr>
        <p:txBody>
          <a:bodyPr>
            <a:spAutoFit/>
          </a:bodyPr>
          <a:lstStyle/>
          <a:p>
            <a:pPr algn="ctr" fontAlgn="auto">
              <a:spcBef>
                <a:spcPts val="0"/>
              </a:spcBef>
              <a:spcAft>
                <a:spcPts val="0"/>
              </a:spcAft>
              <a:defRPr/>
            </a:pPr>
            <a:r>
              <a:rPr lang="es-CO" sz="2000" b="1" dirty="0"/>
              <a:t>PROBLEMA</a:t>
            </a:r>
            <a:endParaRPr lang="es-ES" sz="2000" dirty="0"/>
          </a:p>
        </p:txBody>
      </p:sp>
      <p:sp>
        <p:nvSpPr>
          <p:cNvPr id="12" name="19 CuadroTexto">
            <a:extLst>
              <a:ext uri="{FF2B5EF4-FFF2-40B4-BE49-F238E27FC236}">
                <a16:creationId xmlns:a16="http://schemas.microsoft.com/office/drawing/2014/main" id="{BFFC459E-C4D6-4371-ADA9-FB0FF4281118}"/>
              </a:ext>
            </a:extLst>
          </p:cNvPr>
          <p:cNvSpPr txBox="1"/>
          <p:nvPr/>
        </p:nvSpPr>
        <p:spPr>
          <a:xfrm>
            <a:off x="5148064" y="3752849"/>
            <a:ext cx="3214687" cy="400110"/>
          </a:xfrm>
          <a:prstGeom prst="rect">
            <a:avLst/>
          </a:prstGeom>
          <a:noFill/>
        </p:spPr>
        <p:txBody>
          <a:bodyPr>
            <a:spAutoFit/>
          </a:bodyPr>
          <a:lstStyle/>
          <a:p>
            <a:pPr algn="ctr" fontAlgn="auto">
              <a:spcBef>
                <a:spcPts val="0"/>
              </a:spcBef>
              <a:spcAft>
                <a:spcPts val="0"/>
              </a:spcAft>
              <a:defRPr/>
            </a:pPr>
            <a:r>
              <a:rPr lang="es-CO" sz="2000" b="1" dirty="0"/>
              <a:t>ALGORITMO</a:t>
            </a:r>
            <a:endParaRPr lang="es-ES" dirty="0"/>
          </a:p>
        </p:txBody>
      </p:sp>
    </p:spTree>
    <p:extLst>
      <p:ext uri="{BB962C8B-B14F-4D97-AF65-F5344CB8AC3E}">
        <p14:creationId xmlns:p14="http://schemas.microsoft.com/office/powerpoint/2010/main" val="3058404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467543" y="207926"/>
            <a:ext cx="7939037" cy="986803"/>
          </a:xfrm>
        </p:spPr>
        <p:txBody>
          <a:bodyPr/>
          <a:lstStyle/>
          <a:p>
            <a:r>
              <a:rPr lang="es-CO" sz="3200" dirty="0"/>
              <a:t>Entrada, procesamiento y salida</a:t>
            </a:r>
          </a:p>
        </p:txBody>
      </p:sp>
      <p:sp>
        <p:nvSpPr>
          <p:cNvPr id="2" name="1 Marcador de contenido"/>
          <p:cNvSpPr>
            <a:spLocks noGrp="1"/>
          </p:cNvSpPr>
          <p:nvPr>
            <p:ph idx="1"/>
          </p:nvPr>
        </p:nvSpPr>
        <p:spPr>
          <a:xfrm>
            <a:off x="435471" y="1238602"/>
            <a:ext cx="7886700" cy="1729296"/>
          </a:xfrm>
        </p:spPr>
        <p:txBody>
          <a:bodyPr>
            <a:normAutofit/>
          </a:bodyPr>
          <a:lstStyle/>
          <a:p>
            <a:pPr marL="0" indent="0">
              <a:buNone/>
            </a:pPr>
            <a:r>
              <a:rPr lang="es-MX" sz="2200" dirty="0"/>
              <a:t>Los programas de computadora realizan estos tres pasos:  </a:t>
            </a:r>
          </a:p>
          <a:p>
            <a:pPr marL="457200" indent="-457200">
              <a:buFont typeface="+mj-lt"/>
              <a:buAutoNum type="arabicPeriod"/>
            </a:pPr>
            <a:r>
              <a:rPr lang="es-MX" sz="2000" dirty="0"/>
              <a:t>Se recibe la </a:t>
            </a:r>
            <a:r>
              <a:rPr lang="es-MX" sz="2000" b="1" dirty="0"/>
              <a:t>entrada</a:t>
            </a:r>
            <a:r>
              <a:rPr lang="es-MX" sz="2000" dirty="0"/>
              <a:t>.  </a:t>
            </a:r>
          </a:p>
          <a:p>
            <a:pPr marL="457200" indent="-457200">
              <a:buFont typeface="+mj-lt"/>
              <a:buAutoNum type="arabicPeriod"/>
            </a:pPr>
            <a:r>
              <a:rPr lang="es-MX" sz="2000" dirty="0"/>
              <a:t>Se realiza un </a:t>
            </a:r>
            <a:r>
              <a:rPr lang="es-MX" sz="2000" b="1" dirty="0"/>
              <a:t>proceso</a:t>
            </a:r>
            <a:r>
              <a:rPr lang="es-MX" sz="2000" dirty="0"/>
              <a:t> sobre la entrada.  </a:t>
            </a:r>
          </a:p>
          <a:p>
            <a:pPr marL="457200" indent="-457200">
              <a:buFont typeface="+mj-lt"/>
              <a:buAutoNum type="arabicPeriod"/>
            </a:pPr>
            <a:r>
              <a:rPr lang="es-MX" sz="2000" dirty="0"/>
              <a:t>Se genera la </a:t>
            </a:r>
            <a:r>
              <a:rPr lang="es-MX" sz="2000" b="1" dirty="0"/>
              <a:t>salida</a:t>
            </a:r>
            <a:endParaRPr lang="es-CO" sz="2000" b="1" dirty="0"/>
          </a:p>
        </p:txBody>
      </p:sp>
      <p:grpSp>
        <p:nvGrpSpPr>
          <p:cNvPr id="15" name="14 Grupo"/>
          <p:cNvGrpSpPr/>
          <p:nvPr/>
        </p:nvGrpSpPr>
        <p:grpSpPr>
          <a:xfrm>
            <a:off x="1589010" y="4102449"/>
            <a:ext cx="5715000" cy="838200"/>
            <a:chOff x="1676400" y="4495800"/>
            <a:chExt cx="5715000" cy="838200"/>
          </a:xfrm>
        </p:grpSpPr>
        <p:sp>
          <p:nvSpPr>
            <p:cNvPr id="10" name="9 Rectángulo"/>
            <p:cNvSpPr/>
            <p:nvPr/>
          </p:nvSpPr>
          <p:spPr>
            <a:xfrm>
              <a:off x="16764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Inputs</a:t>
              </a:r>
              <a:endParaRPr lang="es-CO" b="1" dirty="0">
                <a:solidFill>
                  <a:schemeClr val="tx1">
                    <a:lumMod val="50000"/>
                    <a:lumOff val="50000"/>
                  </a:schemeClr>
                </a:solidFill>
                <a:latin typeface="Consolas" panose="020B0609020204030204" pitchFamily="49" charset="0"/>
              </a:endParaRPr>
            </a:p>
          </p:txBody>
        </p:sp>
        <p:sp>
          <p:nvSpPr>
            <p:cNvPr id="11" name="10 Rectángulo"/>
            <p:cNvSpPr/>
            <p:nvPr/>
          </p:nvSpPr>
          <p:spPr>
            <a:xfrm>
              <a:off x="3810000" y="4495800"/>
              <a:ext cx="1447800" cy="838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400" b="1" dirty="0">
                  <a:latin typeface="Consolas" panose="020B0609020204030204" pitchFamily="49" charset="0"/>
                </a:rPr>
                <a:t>Process</a:t>
              </a:r>
              <a:endParaRPr lang="es-CO" b="1" dirty="0">
                <a:latin typeface="Consolas" panose="020B0609020204030204" pitchFamily="49" charset="0"/>
              </a:endParaRPr>
            </a:p>
          </p:txBody>
        </p:sp>
        <p:sp>
          <p:nvSpPr>
            <p:cNvPr id="12" name="11 Rectángulo"/>
            <p:cNvSpPr/>
            <p:nvPr/>
          </p:nvSpPr>
          <p:spPr>
            <a:xfrm>
              <a:off x="59436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Outputs</a:t>
              </a:r>
              <a:endParaRPr lang="es-CO" sz="1600" b="1" dirty="0">
                <a:solidFill>
                  <a:schemeClr val="tx1">
                    <a:lumMod val="50000"/>
                    <a:lumOff val="50000"/>
                  </a:schemeClr>
                </a:solidFill>
                <a:latin typeface="Consolas" panose="020B0609020204030204" pitchFamily="49" charset="0"/>
              </a:endParaRPr>
            </a:p>
          </p:txBody>
        </p:sp>
        <p:sp>
          <p:nvSpPr>
            <p:cNvPr id="13" name="12 Flecha derecha"/>
            <p:cNvSpPr/>
            <p:nvPr/>
          </p:nvSpPr>
          <p:spPr>
            <a:xfrm>
              <a:off x="31242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13 Flecha derecha"/>
            <p:cNvSpPr/>
            <p:nvPr/>
          </p:nvSpPr>
          <p:spPr>
            <a:xfrm>
              <a:off x="52578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pic>
        <p:nvPicPr>
          <p:cNvPr id="16" name="Picture 2" descr="http://www.jegsworks.com/lessons/computerbasics/lesson3/keyboard-white.png">
            <a:extLst>
              <a:ext uri="{FF2B5EF4-FFF2-40B4-BE49-F238E27FC236}">
                <a16:creationId xmlns:a16="http://schemas.microsoft.com/office/drawing/2014/main" id="{CA5F3EB8-A827-4D08-B3D4-BC888566173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60116" y="3256265"/>
            <a:ext cx="1365108" cy="4322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http://t2.gstatic.com/images?q=tbn:ANd9GcS51PGLkp34nPs-LewfkgAfjdZsyder21fNGFoRiZ_A6x7txo3e">
            <a:extLst>
              <a:ext uri="{FF2B5EF4-FFF2-40B4-BE49-F238E27FC236}">
                <a16:creationId xmlns:a16="http://schemas.microsoft.com/office/drawing/2014/main" id="{BB2AD59A-355A-4EC4-BD61-76D458710B8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59382" y="3198200"/>
            <a:ext cx="841456" cy="690065"/>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AC519BCB-3AA9-4258-9707-83D241823FB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33143" y="5159353"/>
            <a:ext cx="1007836" cy="10078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452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1" y="134971"/>
            <a:ext cx="8491661" cy="773749"/>
          </a:xfrm>
        </p:spPr>
        <p:txBody>
          <a:bodyPr/>
          <a:lstStyle/>
          <a:p>
            <a:r>
              <a:rPr lang="en-US" dirty="0"/>
              <a:t>Arreglos unidimensionales</a:t>
            </a:r>
          </a:p>
        </p:txBody>
      </p:sp>
      <p:sp>
        <p:nvSpPr>
          <p:cNvPr id="13" name="CuadroTexto 12">
            <a:extLst>
              <a:ext uri="{FF2B5EF4-FFF2-40B4-BE49-F238E27FC236}">
                <a16:creationId xmlns:a16="http://schemas.microsoft.com/office/drawing/2014/main" id="{79099121-892E-41E2-A7A2-4DD72F6F3B3B}"/>
              </a:ext>
            </a:extLst>
          </p:cNvPr>
          <p:cNvSpPr txBox="1"/>
          <p:nvPr/>
        </p:nvSpPr>
        <p:spPr>
          <a:xfrm>
            <a:off x="0" y="6396335"/>
            <a:ext cx="8964490" cy="430887"/>
          </a:xfrm>
          <a:prstGeom prst="rect">
            <a:avLst/>
          </a:prstGeom>
          <a:noFill/>
        </p:spPr>
        <p:txBody>
          <a:bodyPr wrap="square">
            <a:spAutoFit/>
          </a:bodyPr>
          <a:lstStyle/>
          <a:p>
            <a:r>
              <a:rPr lang="en-US" sz="1100" dirty="0"/>
              <a:t>Imagen: Chand John, </a:t>
            </a:r>
            <a:r>
              <a:rPr lang="en-US" sz="1100" b="1" dirty="0"/>
              <a:t>“How an Array of Integers Gets Stored in Memory”</a:t>
            </a:r>
            <a:r>
              <a:rPr lang="en-US" sz="1100" dirty="0"/>
              <a:t>, </a:t>
            </a:r>
            <a:r>
              <a:rPr lang="en-US" sz="1100" i="1" dirty="0"/>
              <a:t>CS Comics</a:t>
            </a:r>
            <a:r>
              <a:rPr lang="en-US" sz="1100" dirty="0"/>
              <a:t>, 2018. </a:t>
            </a:r>
            <a:r>
              <a:rPr lang="en-US" sz="1100" dirty="0">
                <a:hlinkClick r:id="rId2"/>
              </a:rPr>
              <a:t>https://www.cs-comics.com/how-an-array-of-integers-gets-stored-in-memory/</a:t>
            </a:r>
            <a:r>
              <a:rPr lang="en-US" sz="1100" dirty="0"/>
              <a:t> — © CS Comics. </a:t>
            </a:r>
            <a:r>
              <a:rPr lang="en-US" sz="1100" dirty="0" err="1"/>
              <a:t>Uso</a:t>
            </a:r>
            <a:r>
              <a:rPr lang="en-US" sz="1100" dirty="0"/>
              <a:t> con fines </a:t>
            </a:r>
            <a:r>
              <a:rPr lang="en-US" sz="1100" dirty="0" err="1"/>
              <a:t>educativos</a:t>
            </a:r>
            <a:r>
              <a:rPr lang="en-US" sz="1100" dirty="0"/>
              <a:t>.</a:t>
            </a:r>
            <a:endParaRPr lang="es-CO" sz="1100" dirty="0"/>
          </a:p>
        </p:txBody>
      </p:sp>
      <p:pic>
        <p:nvPicPr>
          <p:cNvPr id="11" name="Imagen 10">
            <a:extLst>
              <a:ext uri="{FF2B5EF4-FFF2-40B4-BE49-F238E27FC236}">
                <a16:creationId xmlns:a16="http://schemas.microsoft.com/office/drawing/2014/main" id="{410A7442-FAEB-4359-B2CA-78F5F3994BF1}"/>
              </a:ext>
            </a:extLst>
          </p:cNvPr>
          <p:cNvPicPr>
            <a:picLocks noChangeAspect="1"/>
          </p:cNvPicPr>
          <p:nvPr/>
        </p:nvPicPr>
        <p:blipFill>
          <a:blip r:embed="rId3"/>
          <a:stretch>
            <a:fillRect/>
          </a:stretch>
        </p:blipFill>
        <p:spPr>
          <a:xfrm>
            <a:off x="179511" y="1008880"/>
            <a:ext cx="4160696" cy="2752397"/>
          </a:xfrm>
          <a:prstGeom prst="rect">
            <a:avLst/>
          </a:prstGeom>
        </p:spPr>
      </p:pic>
      <p:pic>
        <p:nvPicPr>
          <p:cNvPr id="16" name="Imagen 15">
            <a:extLst>
              <a:ext uri="{FF2B5EF4-FFF2-40B4-BE49-F238E27FC236}">
                <a16:creationId xmlns:a16="http://schemas.microsoft.com/office/drawing/2014/main" id="{F0B800AA-F780-4EC2-9B77-2BDDAB05ED16}"/>
              </a:ext>
            </a:extLst>
          </p:cNvPr>
          <p:cNvPicPr>
            <a:picLocks noChangeAspect="1"/>
          </p:cNvPicPr>
          <p:nvPr/>
        </p:nvPicPr>
        <p:blipFill>
          <a:blip r:embed="rId4"/>
          <a:stretch>
            <a:fillRect/>
          </a:stretch>
        </p:blipFill>
        <p:spPr>
          <a:xfrm>
            <a:off x="4587768" y="1022851"/>
            <a:ext cx="4160696" cy="2766189"/>
          </a:xfrm>
          <a:prstGeom prst="rect">
            <a:avLst/>
          </a:prstGeom>
        </p:spPr>
      </p:pic>
      <p:sp>
        <p:nvSpPr>
          <p:cNvPr id="18" name="CuadroTexto 17">
            <a:extLst>
              <a:ext uri="{FF2B5EF4-FFF2-40B4-BE49-F238E27FC236}">
                <a16:creationId xmlns:a16="http://schemas.microsoft.com/office/drawing/2014/main" id="{6AC2072B-6D64-473F-B2A8-65F71C602BCC}"/>
              </a:ext>
            </a:extLst>
          </p:cNvPr>
          <p:cNvSpPr txBox="1"/>
          <p:nvPr/>
        </p:nvSpPr>
        <p:spPr>
          <a:xfrm>
            <a:off x="395536" y="4365104"/>
            <a:ext cx="3321125" cy="1077218"/>
          </a:xfrm>
          <a:prstGeom prst="rect">
            <a:avLst/>
          </a:prstGeom>
          <a:noFill/>
          <a:ln>
            <a:solidFill>
              <a:schemeClr val="tx1"/>
            </a:solidFill>
          </a:ln>
        </p:spPr>
        <p:txBody>
          <a:bodyPr wrap="square" rtlCol="0">
            <a:spAutoFit/>
          </a:bodyPr>
          <a:lstStyle/>
          <a:p>
            <a:r>
              <a:rPr lang="es-CO" sz="1600" dirty="0">
                <a:latin typeface="Consolas" panose="020B0609020204030204" pitchFamily="49" charset="0"/>
              </a:rPr>
              <a:t>d = [2,3,5]</a:t>
            </a:r>
          </a:p>
          <a:p>
            <a:r>
              <a:rPr lang="es-CO" sz="1600" dirty="0">
                <a:latin typeface="Consolas" panose="020B0609020204030204" pitchFamily="49" charset="0"/>
              </a:rPr>
              <a:t>print(f"d[0] = {d[0]}")</a:t>
            </a:r>
          </a:p>
          <a:p>
            <a:r>
              <a:rPr lang="es-CO" sz="1600" dirty="0">
                <a:latin typeface="Consolas" panose="020B0609020204030204" pitchFamily="49" charset="0"/>
              </a:rPr>
              <a:t>print(f"d[1] = {d[1]}")</a:t>
            </a:r>
          </a:p>
          <a:p>
            <a:r>
              <a:rPr lang="es-CO" sz="1600" dirty="0">
                <a:latin typeface="Consolas" panose="020B0609020204030204" pitchFamily="49" charset="0"/>
              </a:rPr>
              <a:t>print(f"d[2] = {d[2]}")</a:t>
            </a:r>
          </a:p>
        </p:txBody>
      </p:sp>
      <p:sp>
        <p:nvSpPr>
          <p:cNvPr id="24" name="CuadroTexto 23">
            <a:extLst>
              <a:ext uri="{FF2B5EF4-FFF2-40B4-BE49-F238E27FC236}">
                <a16:creationId xmlns:a16="http://schemas.microsoft.com/office/drawing/2014/main" id="{222F359A-71F4-4776-9831-F03FDA860B64}"/>
              </a:ext>
            </a:extLst>
          </p:cNvPr>
          <p:cNvSpPr txBox="1"/>
          <p:nvPr/>
        </p:nvSpPr>
        <p:spPr>
          <a:xfrm>
            <a:off x="1223855" y="5442322"/>
            <a:ext cx="1664486" cy="276999"/>
          </a:xfrm>
          <a:prstGeom prst="rect">
            <a:avLst/>
          </a:prstGeom>
          <a:noFill/>
        </p:spPr>
        <p:txBody>
          <a:bodyPr wrap="square" rtlCol="0">
            <a:spAutoFit/>
          </a:bodyPr>
          <a:lstStyle/>
          <a:p>
            <a:pPr algn="ctr"/>
            <a:r>
              <a:rPr lang="es-CO" sz="1200" dirty="0">
                <a:hlinkClick r:id="rId5"/>
              </a:rPr>
              <a:t>Link simulación</a:t>
            </a:r>
            <a:endParaRPr lang="es-CO" sz="1200" dirty="0"/>
          </a:p>
        </p:txBody>
      </p:sp>
      <p:pic>
        <p:nvPicPr>
          <p:cNvPr id="20" name="Imagen 19">
            <a:extLst>
              <a:ext uri="{FF2B5EF4-FFF2-40B4-BE49-F238E27FC236}">
                <a16:creationId xmlns:a16="http://schemas.microsoft.com/office/drawing/2014/main" id="{7E6FF20A-4B25-45E7-A500-8904DC38AE7C}"/>
              </a:ext>
            </a:extLst>
          </p:cNvPr>
          <p:cNvPicPr>
            <a:picLocks noChangeAspect="1"/>
          </p:cNvPicPr>
          <p:nvPr/>
        </p:nvPicPr>
        <p:blipFill>
          <a:blip r:embed="rId6"/>
          <a:stretch>
            <a:fillRect/>
          </a:stretch>
        </p:blipFill>
        <p:spPr>
          <a:xfrm>
            <a:off x="4572000" y="3914011"/>
            <a:ext cx="2970653" cy="2395309"/>
          </a:xfrm>
          <a:prstGeom prst="rect">
            <a:avLst/>
          </a:prstGeom>
        </p:spPr>
      </p:pic>
    </p:spTree>
    <p:extLst>
      <p:ext uri="{BB962C8B-B14F-4D97-AF65-F5344CB8AC3E}">
        <p14:creationId xmlns:p14="http://schemas.microsoft.com/office/powerpoint/2010/main" val="1448291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62413" y="116632"/>
            <a:ext cx="8981587" cy="1215008"/>
          </a:xfrm>
        </p:spPr>
        <p:txBody>
          <a:bodyPr>
            <a:normAutofit/>
          </a:bodyPr>
          <a:lstStyle/>
          <a:p>
            <a:r>
              <a:rPr lang="es-CO" dirty="0"/>
              <a:t>Lo que ya se sabe de funciones</a:t>
            </a:r>
          </a:p>
        </p:txBody>
      </p:sp>
      <p:sp>
        <p:nvSpPr>
          <p:cNvPr id="13" name="12 Rectángulo"/>
          <p:cNvSpPr/>
          <p:nvPr/>
        </p:nvSpPr>
        <p:spPr>
          <a:xfrm>
            <a:off x="162413" y="4089588"/>
            <a:ext cx="3848360" cy="1938992"/>
          </a:xfrm>
          <a:prstGeom prst="rect">
            <a:avLst/>
          </a:prstGeom>
        </p:spPr>
        <p:txBody>
          <a:bodyPr wrap="square">
            <a:spAutoFit/>
          </a:bodyPr>
          <a:lstStyle/>
          <a:p>
            <a:pPr marL="285750" indent="-285750">
              <a:buFont typeface="Arial" panose="020B0604020202020204" pitchFamily="34" charset="0"/>
              <a:buChar char="•"/>
            </a:pPr>
            <a:r>
              <a:rPr lang="es-MX" sz="2000" dirty="0"/>
              <a:t>Una función se define con </a:t>
            </a:r>
            <a:r>
              <a:rPr lang="es-MX" sz="1400" b="1" dirty="0" err="1">
                <a:latin typeface="Consolas" panose="020B0609020204030204" pitchFamily="49" charset="0"/>
              </a:rPr>
              <a:t>def</a:t>
            </a:r>
            <a:r>
              <a:rPr lang="es-MX" sz="2000" dirty="0"/>
              <a:t> y entrega su resultado con </a:t>
            </a:r>
            <a:r>
              <a:rPr lang="es-MX" sz="1600" b="1" dirty="0">
                <a:latin typeface="Consolas" panose="020B0609020204030204" pitchFamily="49" charset="0"/>
              </a:rPr>
              <a:t>return</a:t>
            </a:r>
            <a:r>
              <a:rPr lang="es-MX" sz="2000" dirty="0"/>
              <a:t>.</a:t>
            </a:r>
          </a:p>
          <a:p>
            <a:pPr marL="285750" indent="-285750">
              <a:buFont typeface="Arial" panose="020B0604020202020204" pitchFamily="34" charset="0"/>
              <a:buChar char="•"/>
            </a:pPr>
            <a:r>
              <a:rPr lang="es-MX" sz="2000" dirty="0"/>
              <a:t>Su nombre empieza con un verbo y dice qué hace.</a:t>
            </a:r>
          </a:p>
          <a:p>
            <a:pPr marL="285750" indent="-285750">
              <a:buFont typeface="Arial" panose="020B0604020202020204" pitchFamily="34" charset="0"/>
              <a:buChar char="•"/>
            </a:pPr>
            <a:r>
              <a:rPr lang="es-MX" sz="2000" dirty="0"/>
              <a:t>Su especificación (</a:t>
            </a:r>
            <a:r>
              <a:rPr lang="es-MX" sz="1600" b="1" dirty="0" err="1">
                <a:latin typeface="Consolas" panose="020B0609020204030204" pitchFamily="49" charset="0"/>
              </a:rPr>
              <a:t>docstring</a:t>
            </a:r>
            <a:r>
              <a:rPr lang="es-MX" sz="2000" dirty="0"/>
              <a:t>) dice qué supone y qué garantiza.</a:t>
            </a:r>
          </a:p>
        </p:txBody>
      </p:sp>
      <p:pic>
        <p:nvPicPr>
          <p:cNvPr id="15" name="Imagen 14">
            <a:extLst>
              <a:ext uri="{FF2B5EF4-FFF2-40B4-BE49-F238E27FC236}">
                <a16:creationId xmlns:a16="http://schemas.microsoft.com/office/drawing/2014/main" id="{E3178BE7-4304-4438-A611-8A6601C61A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3090" y="1257636"/>
            <a:ext cx="6660232" cy="1799210"/>
          </a:xfrm>
          <a:prstGeom prst="rect">
            <a:avLst/>
          </a:prstGeom>
        </p:spPr>
      </p:pic>
      <p:grpSp>
        <p:nvGrpSpPr>
          <p:cNvPr id="35" name="Grupo 34">
            <a:extLst>
              <a:ext uri="{FF2B5EF4-FFF2-40B4-BE49-F238E27FC236}">
                <a16:creationId xmlns:a16="http://schemas.microsoft.com/office/drawing/2014/main" id="{E3AAC5BF-3D97-489C-8577-FAB90A6AA4BC}"/>
              </a:ext>
            </a:extLst>
          </p:cNvPr>
          <p:cNvGrpSpPr/>
          <p:nvPr/>
        </p:nvGrpSpPr>
        <p:grpSpPr>
          <a:xfrm>
            <a:off x="4211960" y="3775680"/>
            <a:ext cx="4536504" cy="2965688"/>
            <a:chOff x="4211960" y="3284984"/>
            <a:chExt cx="4536504" cy="2965688"/>
          </a:xfrm>
        </p:grpSpPr>
        <p:sp>
          <p:nvSpPr>
            <p:cNvPr id="32" name="CuadroTexto 31">
              <a:extLst>
                <a:ext uri="{FF2B5EF4-FFF2-40B4-BE49-F238E27FC236}">
                  <a16:creationId xmlns:a16="http://schemas.microsoft.com/office/drawing/2014/main" id="{4382F8EB-5FFA-4CEE-B8C9-B6905A88F31B}"/>
                </a:ext>
              </a:extLst>
            </p:cNvPr>
            <p:cNvSpPr txBox="1"/>
            <p:nvPr/>
          </p:nvSpPr>
          <p:spPr>
            <a:xfrm>
              <a:off x="4211960" y="3573016"/>
              <a:ext cx="4536504" cy="2677656"/>
            </a:xfrm>
            <a:prstGeom prst="rect">
              <a:avLst/>
            </a:prstGeom>
            <a:noFill/>
            <a:ln>
              <a:solidFill>
                <a:schemeClr val="tx1"/>
              </a:solidFill>
            </a:ln>
          </p:spPr>
          <p:txBody>
            <a:bodyPr wrap="square" rtlCol="0">
              <a:spAutoFit/>
            </a:bodyPr>
            <a:lstStyle/>
            <a:p>
              <a:r>
                <a:rPr lang="es-CO" sz="1200" b="0" dirty="0" err="1">
                  <a:effectLst/>
                  <a:latin typeface="Consolas" panose="020B0609020204030204" pitchFamily="49" charset="0"/>
                </a:rPr>
                <a:t>def</a:t>
              </a:r>
              <a:r>
                <a:rPr lang="es-CO" sz="1200" b="0" dirty="0">
                  <a:effectLst/>
                  <a:latin typeface="Consolas" panose="020B0609020204030204" pitchFamily="49" charset="0"/>
                </a:rPr>
                <a:t> </a:t>
              </a:r>
              <a:r>
                <a:rPr lang="es-CO" sz="1200" b="0" dirty="0" err="1">
                  <a:effectLst/>
                  <a:latin typeface="Consolas" panose="020B0609020204030204" pitchFamily="49" charset="0"/>
                </a:rPr>
                <a:t>celsius_a_fahrenheit</a:t>
              </a:r>
              <a:r>
                <a:rPr lang="es-CO" sz="1200" b="0" dirty="0">
                  <a:effectLst/>
                  <a:latin typeface="Consolas" panose="020B0609020204030204" pitchFamily="49" charset="0"/>
                </a:rPr>
                <a:t>(</a:t>
              </a:r>
              <a:r>
                <a:rPr lang="es-CO" sz="1200" b="0" dirty="0" err="1">
                  <a:effectLst/>
                  <a:latin typeface="Consolas" panose="020B0609020204030204" pitchFamily="49" charset="0"/>
                </a:rPr>
                <a:t>temp_c</a:t>
              </a:r>
              <a:r>
                <a:rPr lang="es-CO" sz="1200" b="0" dirty="0">
                  <a:effectLst/>
                  <a:latin typeface="Consolas" panose="020B0609020204030204" pitchFamily="49" charset="0"/>
                </a:rPr>
                <a:t>):</a:t>
              </a:r>
            </a:p>
            <a:p>
              <a:r>
                <a:rPr lang="es-CO" sz="1200" b="0" dirty="0">
                  <a:solidFill>
                    <a:srgbClr val="00B050"/>
                  </a:solidFill>
                  <a:effectLst/>
                  <a:latin typeface="Consolas" panose="020B0609020204030204" pitchFamily="49" charset="0"/>
                </a:rPr>
                <a:t>    """</a:t>
              </a:r>
            </a:p>
            <a:p>
              <a:r>
                <a:rPr lang="es-CO" sz="1200" b="0" dirty="0">
                  <a:solidFill>
                    <a:srgbClr val="00B050"/>
                  </a:solidFill>
                  <a:effectLst/>
                  <a:latin typeface="Consolas" panose="020B0609020204030204" pitchFamily="49" charset="0"/>
                </a:rPr>
                <a:t>    Convierte una temperatura de grados Celsius </a:t>
              </a:r>
            </a:p>
            <a:p>
              <a:r>
                <a:rPr lang="es-CO" sz="1200" dirty="0">
                  <a:solidFill>
                    <a:srgbClr val="00B050"/>
                  </a:solidFill>
                  <a:latin typeface="Consolas" panose="020B0609020204030204" pitchFamily="49" charset="0"/>
                </a:rPr>
                <a:t>    </a:t>
              </a:r>
              <a:r>
                <a:rPr lang="es-CO" sz="1200" b="0" dirty="0">
                  <a:solidFill>
                    <a:srgbClr val="00B050"/>
                  </a:solidFill>
                  <a:effectLst/>
                  <a:latin typeface="Consolas" panose="020B0609020204030204" pitchFamily="49" charset="0"/>
                </a:rPr>
                <a:t>a grados Fahrenheit.</a:t>
              </a:r>
            </a:p>
            <a:p>
              <a:br>
                <a:rPr lang="es-CO" sz="1200" b="0" dirty="0">
                  <a:solidFill>
                    <a:srgbClr val="00B050"/>
                  </a:solidFill>
                  <a:effectLst/>
                  <a:latin typeface="Consolas" panose="020B0609020204030204" pitchFamily="49" charset="0"/>
                </a:rPr>
              </a:br>
              <a:r>
                <a:rPr lang="es-CO" sz="1200" b="0" dirty="0">
                  <a:solidFill>
                    <a:srgbClr val="00B050"/>
                  </a:solidFill>
                  <a:effectLst/>
                  <a:latin typeface="Consolas" panose="020B0609020204030204" pitchFamily="49" charset="0"/>
                </a:rPr>
                <a:t>    Supone:</a:t>
              </a:r>
            </a:p>
            <a:p>
              <a:r>
                <a:rPr lang="es-CO" sz="1200" b="0" dirty="0">
                  <a:solidFill>
                    <a:srgbClr val="00B050"/>
                  </a:solidFill>
                  <a:effectLst/>
                  <a:latin typeface="Consolas" panose="020B0609020204030204" pitchFamily="49" charset="0"/>
                </a:rPr>
                <a:t>        </a:t>
              </a:r>
              <a:r>
                <a:rPr lang="es-CO" sz="1200" b="0" dirty="0" err="1">
                  <a:solidFill>
                    <a:srgbClr val="00B050"/>
                  </a:solidFill>
                  <a:effectLst/>
                  <a:latin typeface="Consolas" panose="020B0609020204030204" pitchFamily="49" charset="0"/>
                </a:rPr>
                <a:t>temp_c</a:t>
              </a:r>
              <a:r>
                <a:rPr lang="es-CO" sz="1200" b="0" dirty="0">
                  <a:solidFill>
                    <a:srgbClr val="00B050"/>
                  </a:solidFill>
                  <a:effectLst/>
                  <a:latin typeface="Consolas" panose="020B0609020204030204" pitchFamily="49" charset="0"/>
                </a:rPr>
                <a:t> es un numero (</a:t>
              </a:r>
              <a:r>
                <a:rPr lang="es-CO" sz="1200" b="0" dirty="0" err="1">
                  <a:solidFill>
                    <a:srgbClr val="00B050"/>
                  </a:solidFill>
                  <a:effectLst/>
                  <a:latin typeface="Consolas" panose="020B0609020204030204" pitchFamily="49" charset="0"/>
                </a:rPr>
                <a:t>int</a:t>
              </a:r>
              <a:r>
                <a:rPr lang="es-CO" sz="1200" b="0" dirty="0">
                  <a:solidFill>
                    <a:srgbClr val="00B050"/>
                  </a:solidFill>
                  <a:effectLst/>
                  <a:latin typeface="Consolas" panose="020B0609020204030204" pitchFamily="49" charset="0"/>
                </a:rPr>
                <a:t> o float) mayor </a:t>
              </a:r>
            </a:p>
            <a:p>
              <a:r>
                <a:rPr lang="es-CO" sz="1200" dirty="0">
                  <a:solidFill>
                    <a:srgbClr val="00B050"/>
                  </a:solidFill>
                  <a:latin typeface="Consolas" panose="020B0609020204030204" pitchFamily="49" charset="0"/>
                </a:rPr>
                <a:t>        </a:t>
              </a:r>
              <a:r>
                <a:rPr lang="es-CO" sz="1200" b="0" dirty="0">
                  <a:solidFill>
                    <a:srgbClr val="00B050"/>
                  </a:solidFill>
                  <a:effectLst/>
                  <a:latin typeface="Consolas" panose="020B0609020204030204" pitchFamily="49" charset="0"/>
                </a:rPr>
                <a:t>o igual a -273.15 (el cero absoluto).</a:t>
              </a:r>
            </a:p>
            <a:p>
              <a:r>
                <a:rPr lang="es-CO" sz="1200" b="0" dirty="0">
                  <a:solidFill>
                    <a:srgbClr val="00B050"/>
                  </a:solidFill>
                  <a:effectLst/>
                  <a:latin typeface="Consolas" panose="020B0609020204030204" pitchFamily="49" charset="0"/>
                </a:rPr>
                <a:t>    Garantiza:</a:t>
              </a:r>
            </a:p>
            <a:p>
              <a:r>
                <a:rPr lang="es-CO" sz="1200" b="0" dirty="0">
                  <a:solidFill>
                    <a:srgbClr val="00B050"/>
                  </a:solidFill>
                  <a:effectLst/>
                  <a:latin typeface="Consolas" panose="020B0609020204030204" pitchFamily="49" charset="0"/>
                </a:rPr>
                <a:t>        Retorna la temperatura equivalente en </a:t>
              </a:r>
            </a:p>
            <a:p>
              <a:r>
                <a:rPr lang="es-CO" sz="1200" dirty="0">
                  <a:solidFill>
                    <a:srgbClr val="00B050"/>
                  </a:solidFill>
                  <a:latin typeface="Consolas" panose="020B0609020204030204" pitchFamily="49" charset="0"/>
                </a:rPr>
                <a:t>        </a:t>
              </a:r>
              <a:r>
                <a:rPr lang="es-CO" sz="1200" b="0" dirty="0">
                  <a:solidFill>
                    <a:srgbClr val="00B050"/>
                  </a:solidFill>
                  <a:effectLst/>
                  <a:latin typeface="Consolas" panose="020B0609020204030204" pitchFamily="49" charset="0"/>
                </a:rPr>
                <a:t>grados Fahrenheit (float).</a:t>
              </a:r>
            </a:p>
            <a:p>
              <a:r>
                <a:rPr lang="es-CO" sz="1200" b="0" dirty="0">
                  <a:solidFill>
                    <a:srgbClr val="00B050"/>
                  </a:solidFill>
                  <a:effectLst/>
                  <a:latin typeface="Consolas" panose="020B0609020204030204" pitchFamily="49" charset="0"/>
                </a:rPr>
                <a:t>    """</a:t>
              </a:r>
            </a:p>
            <a:p>
              <a:r>
                <a:rPr lang="es-CO" sz="1200" b="0" dirty="0">
                  <a:effectLst/>
                  <a:latin typeface="Consolas" panose="020B0609020204030204" pitchFamily="49" charset="0"/>
                </a:rPr>
                <a:t>    </a:t>
              </a:r>
              <a:r>
                <a:rPr lang="es-CO" sz="1200" b="0" dirty="0" err="1">
                  <a:effectLst/>
                  <a:latin typeface="Consolas" panose="020B0609020204030204" pitchFamily="49" charset="0"/>
                </a:rPr>
                <a:t>temp_f</a:t>
              </a:r>
              <a:r>
                <a:rPr lang="es-CO" sz="1200" b="0" dirty="0">
                  <a:effectLst/>
                  <a:latin typeface="Consolas" panose="020B0609020204030204" pitchFamily="49" charset="0"/>
                </a:rPr>
                <a:t> = (9 / 5) * </a:t>
              </a:r>
              <a:r>
                <a:rPr lang="es-CO" sz="1200" b="0" dirty="0" err="1">
                  <a:effectLst/>
                  <a:latin typeface="Consolas" panose="020B0609020204030204" pitchFamily="49" charset="0"/>
                </a:rPr>
                <a:t>temp_c</a:t>
              </a:r>
              <a:r>
                <a:rPr lang="es-CO" sz="1200" b="0" dirty="0">
                  <a:effectLst/>
                  <a:latin typeface="Consolas" panose="020B0609020204030204" pitchFamily="49" charset="0"/>
                </a:rPr>
                <a:t> + 32</a:t>
              </a:r>
            </a:p>
            <a:p>
              <a:r>
                <a:rPr lang="es-CO" sz="1200" b="0" dirty="0">
                  <a:effectLst/>
                  <a:latin typeface="Consolas" panose="020B0609020204030204" pitchFamily="49" charset="0"/>
                </a:rPr>
                <a:t>    </a:t>
              </a:r>
              <a:r>
                <a:rPr lang="es-CO" sz="1200" b="0" dirty="0" err="1">
                  <a:effectLst/>
                  <a:latin typeface="Consolas" panose="020B0609020204030204" pitchFamily="49" charset="0"/>
                </a:rPr>
                <a:t>return</a:t>
              </a:r>
              <a:r>
                <a:rPr lang="es-CO" sz="1200" b="0" dirty="0">
                  <a:effectLst/>
                  <a:latin typeface="Consolas" panose="020B0609020204030204" pitchFamily="49" charset="0"/>
                </a:rPr>
                <a:t> </a:t>
              </a:r>
              <a:r>
                <a:rPr lang="es-CO" sz="1200" b="0" dirty="0" err="1">
                  <a:effectLst/>
                  <a:latin typeface="Consolas" panose="020B0609020204030204" pitchFamily="49" charset="0"/>
                </a:rPr>
                <a:t>temp_f</a:t>
              </a:r>
              <a:endParaRPr lang="es-CO" sz="1200" b="0" dirty="0">
                <a:effectLst/>
                <a:latin typeface="Consolas" panose="020B0609020204030204" pitchFamily="49" charset="0"/>
              </a:endParaRPr>
            </a:p>
          </p:txBody>
        </p:sp>
        <p:sp>
          <p:nvSpPr>
            <p:cNvPr id="34" name="CuadroTexto 33">
              <a:extLst>
                <a:ext uri="{FF2B5EF4-FFF2-40B4-BE49-F238E27FC236}">
                  <a16:creationId xmlns:a16="http://schemas.microsoft.com/office/drawing/2014/main" id="{1D0B6AD9-6925-4946-9E4B-BAE3CCDCEC42}"/>
                </a:ext>
              </a:extLst>
            </p:cNvPr>
            <p:cNvSpPr txBox="1"/>
            <p:nvPr/>
          </p:nvSpPr>
          <p:spPr>
            <a:xfrm>
              <a:off x="5420332" y="3284984"/>
              <a:ext cx="2119759" cy="307777"/>
            </a:xfrm>
            <a:prstGeom prst="rect">
              <a:avLst/>
            </a:prstGeom>
            <a:noFill/>
          </p:spPr>
          <p:txBody>
            <a:bodyPr wrap="square">
              <a:spAutoFit/>
            </a:bodyPr>
            <a:lstStyle/>
            <a:p>
              <a:pPr algn="ctr"/>
              <a:r>
                <a:rPr lang="es-CO" sz="1400" b="1" dirty="0">
                  <a:latin typeface="Consolas" panose="020B0609020204030204" pitchFamily="49" charset="0"/>
                </a:rPr>
                <a:t>conversiones.py</a:t>
              </a:r>
            </a:p>
          </p:txBody>
        </p:sp>
      </p:grpSp>
      <p:sp>
        <p:nvSpPr>
          <p:cNvPr id="37" name="CuadroTexto 36">
            <a:extLst>
              <a:ext uri="{FF2B5EF4-FFF2-40B4-BE49-F238E27FC236}">
                <a16:creationId xmlns:a16="http://schemas.microsoft.com/office/drawing/2014/main" id="{7BEED919-F522-4213-8131-928F019FE7B3}"/>
              </a:ext>
            </a:extLst>
          </p:cNvPr>
          <p:cNvSpPr txBox="1"/>
          <p:nvPr/>
        </p:nvSpPr>
        <p:spPr>
          <a:xfrm>
            <a:off x="332726" y="3259723"/>
            <a:ext cx="8640960" cy="338554"/>
          </a:xfrm>
          <a:prstGeom prst="rect">
            <a:avLst/>
          </a:prstGeom>
          <a:solidFill>
            <a:schemeClr val="accent2">
              <a:lumMod val="20000"/>
              <a:lumOff val="80000"/>
            </a:schemeClr>
          </a:solidFill>
        </p:spPr>
        <p:txBody>
          <a:bodyPr wrap="square">
            <a:spAutoFit/>
          </a:bodyPr>
          <a:lstStyle/>
          <a:p>
            <a:r>
              <a:rPr lang="es-MX" sz="1600" i="1" dirty="0"/>
              <a:t>“Quien usa la función solo necesita su nombre, qué recibe y qué devuelve: no necesita ver su código.”</a:t>
            </a:r>
            <a:endParaRPr lang="es-CO" sz="1600" i="1" dirty="0"/>
          </a:p>
        </p:txBody>
      </p:sp>
    </p:spTree>
    <p:extLst>
      <p:ext uri="{BB962C8B-B14F-4D97-AF65-F5344CB8AC3E}">
        <p14:creationId xmlns:p14="http://schemas.microsoft.com/office/powerpoint/2010/main" val="4108145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62413" y="116632"/>
            <a:ext cx="8981587" cy="1215008"/>
          </a:xfrm>
        </p:spPr>
        <p:txBody>
          <a:bodyPr>
            <a:normAutofit/>
          </a:bodyPr>
          <a:lstStyle/>
          <a:p>
            <a:r>
              <a:rPr lang="es-CO" dirty="0"/>
              <a:t>Quién llama y qué recibe de vuelta</a:t>
            </a:r>
          </a:p>
        </p:txBody>
      </p:sp>
      <p:sp>
        <p:nvSpPr>
          <p:cNvPr id="13" name="12 Rectángulo"/>
          <p:cNvSpPr/>
          <p:nvPr/>
        </p:nvSpPr>
        <p:spPr>
          <a:xfrm>
            <a:off x="0" y="6177498"/>
            <a:ext cx="9143999" cy="707886"/>
          </a:xfrm>
          <a:prstGeom prst="rect">
            <a:avLst/>
          </a:prstGeom>
          <a:solidFill>
            <a:schemeClr val="accent2">
              <a:lumMod val="20000"/>
              <a:lumOff val="80000"/>
            </a:schemeClr>
          </a:solidFill>
        </p:spPr>
        <p:txBody>
          <a:bodyPr wrap="square">
            <a:spAutoFit/>
          </a:bodyPr>
          <a:lstStyle/>
          <a:p>
            <a:r>
              <a:rPr lang="es-MX" sz="2000" dirty="0"/>
              <a:t>Definir una función no la ejecuta: se ejecuta cuando se la llama. La llamada le entrega </a:t>
            </a:r>
            <a:r>
              <a:rPr lang="es-MX" b="1" dirty="0" err="1">
                <a:latin typeface="Consolas" panose="020B0609020204030204" pitchFamily="49" charset="0"/>
              </a:rPr>
              <a:t>temp_c</a:t>
            </a:r>
            <a:r>
              <a:rPr lang="es-MX" sz="2000" dirty="0"/>
              <a:t> y recibe </a:t>
            </a:r>
            <a:r>
              <a:rPr lang="es-MX" b="1" dirty="0" err="1">
                <a:latin typeface="Consolas" panose="020B0609020204030204" pitchFamily="49" charset="0"/>
              </a:rPr>
              <a:t>temp_f</a:t>
            </a:r>
            <a:r>
              <a:rPr lang="es-MX" sz="2000" dirty="0"/>
              <a:t> con </a:t>
            </a:r>
            <a:r>
              <a:rPr lang="es-MX" b="1" dirty="0">
                <a:latin typeface="Consolas" panose="020B0609020204030204" pitchFamily="49" charset="0"/>
              </a:rPr>
              <a:t>return</a:t>
            </a:r>
            <a:r>
              <a:rPr lang="es-MX" sz="2000" dirty="0"/>
              <a:t>.</a:t>
            </a:r>
          </a:p>
        </p:txBody>
      </p:sp>
      <p:pic>
        <p:nvPicPr>
          <p:cNvPr id="3" name="Imagen 2">
            <a:extLst>
              <a:ext uri="{FF2B5EF4-FFF2-40B4-BE49-F238E27FC236}">
                <a16:creationId xmlns:a16="http://schemas.microsoft.com/office/drawing/2014/main" id="{00AE2315-E2CC-4E76-B336-4717263085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93924" y="1052736"/>
            <a:ext cx="6956152" cy="3208422"/>
          </a:xfrm>
          <a:prstGeom prst="rect">
            <a:avLst/>
          </a:prstGeom>
        </p:spPr>
      </p:pic>
      <p:sp>
        <p:nvSpPr>
          <p:cNvPr id="6" name="CuadroTexto 5">
            <a:extLst>
              <a:ext uri="{FF2B5EF4-FFF2-40B4-BE49-F238E27FC236}">
                <a16:creationId xmlns:a16="http://schemas.microsoft.com/office/drawing/2014/main" id="{8BC65B04-C12A-4CE7-A96C-3B3D791D423C}"/>
              </a:ext>
            </a:extLst>
          </p:cNvPr>
          <p:cNvSpPr txBox="1"/>
          <p:nvPr/>
        </p:nvSpPr>
        <p:spPr>
          <a:xfrm>
            <a:off x="1561507" y="5816297"/>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7" name="CuadroTexto 6">
            <a:extLst>
              <a:ext uri="{FF2B5EF4-FFF2-40B4-BE49-F238E27FC236}">
                <a16:creationId xmlns:a16="http://schemas.microsoft.com/office/drawing/2014/main" id="{BC064295-EAAB-4E37-ABF7-8A1B848B8192}"/>
              </a:ext>
            </a:extLst>
          </p:cNvPr>
          <p:cNvSpPr txBox="1"/>
          <p:nvPr/>
        </p:nvSpPr>
        <p:spPr>
          <a:xfrm>
            <a:off x="429947" y="4420681"/>
            <a:ext cx="3927607" cy="1384995"/>
          </a:xfrm>
          <a:prstGeom prst="rect">
            <a:avLst/>
          </a:prstGeom>
          <a:noFill/>
          <a:ln>
            <a:solidFill>
              <a:schemeClr val="tx1"/>
            </a:solidFill>
          </a:ln>
        </p:spPr>
        <p:txBody>
          <a:bodyPr wrap="square" rtlCol="0">
            <a:spAutoFit/>
          </a:bodyPr>
          <a:lstStyle/>
          <a:p>
            <a:r>
              <a:rPr lang="es-CO" sz="1200" b="0" dirty="0" err="1">
                <a:effectLst/>
                <a:latin typeface="Consolas" panose="020B0609020204030204" pitchFamily="49" charset="0"/>
              </a:rPr>
              <a:t>def</a:t>
            </a:r>
            <a:r>
              <a:rPr lang="es-CO" sz="1200" b="0" dirty="0">
                <a:effectLst/>
                <a:latin typeface="Consolas" panose="020B0609020204030204" pitchFamily="49" charset="0"/>
              </a:rPr>
              <a:t> </a:t>
            </a:r>
            <a:r>
              <a:rPr lang="es-CO" sz="1200" b="0" dirty="0" err="1">
                <a:effectLst/>
                <a:latin typeface="Consolas" panose="020B0609020204030204" pitchFamily="49" charset="0"/>
              </a:rPr>
              <a:t>celsius_a_fahrenheit</a:t>
            </a:r>
            <a:r>
              <a:rPr lang="es-CO" sz="1200" b="0" dirty="0">
                <a:effectLst/>
                <a:latin typeface="Consolas" panose="020B0609020204030204" pitchFamily="49" charset="0"/>
              </a:rPr>
              <a:t>(</a:t>
            </a:r>
            <a:r>
              <a:rPr lang="es-CO" sz="1200" b="0" dirty="0" err="1">
                <a:effectLst/>
                <a:latin typeface="Consolas" panose="020B0609020204030204" pitchFamily="49" charset="0"/>
              </a:rPr>
              <a:t>temp_c</a:t>
            </a:r>
            <a:r>
              <a:rPr lang="es-CO" sz="1200" b="0" dirty="0">
                <a:effectLst/>
                <a:latin typeface="Consolas" panose="020B0609020204030204" pitchFamily="49" charset="0"/>
              </a:rPr>
              <a:t>):</a:t>
            </a:r>
          </a:p>
          <a:p>
            <a:r>
              <a:rPr lang="es-CO" sz="1200" b="0" dirty="0">
                <a:effectLst/>
                <a:latin typeface="Consolas" panose="020B0609020204030204" pitchFamily="49" charset="0"/>
              </a:rPr>
              <a:t>    </a:t>
            </a:r>
            <a:r>
              <a:rPr lang="es-CO" sz="1200" b="0" dirty="0" err="1">
                <a:effectLst/>
                <a:latin typeface="Consolas" panose="020B0609020204030204" pitchFamily="49" charset="0"/>
              </a:rPr>
              <a:t>temp_f</a:t>
            </a:r>
            <a:r>
              <a:rPr lang="es-CO" sz="1200" b="0" dirty="0">
                <a:effectLst/>
                <a:latin typeface="Consolas" panose="020B0609020204030204" pitchFamily="49" charset="0"/>
              </a:rPr>
              <a:t> = (9 / 5) * </a:t>
            </a:r>
            <a:r>
              <a:rPr lang="es-CO" sz="1200" b="0" dirty="0" err="1">
                <a:effectLst/>
                <a:latin typeface="Consolas" panose="020B0609020204030204" pitchFamily="49" charset="0"/>
              </a:rPr>
              <a:t>temp_c</a:t>
            </a:r>
            <a:r>
              <a:rPr lang="es-CO" sz="1200" b="0" dirty="0">
                <a:effectLst/>
                <a:latin typeface="Consolas" panose="020B0609020204030204" pitchFamily="49" charset="0"/>
              </a:rPr>
              <a:t> + 32</a:t>
            </a:r>
          </a:p>
          <a:p>
            <a:r>
              <a:rPr lang="es-CO" sz="1200" b="0" dirty="0">
                <a:effectLst/>
                <a:latin typeface="Consolas" panose="020B0609020204030204" pitchFamily="49" charset="0"/>
              </a:rPr>
              <a:t>    </a:t>
            </a:r>
            <a:r>
              <a:rPr lang="es-CO" sz="1200" b="0" dirty="0" err="1">
                <a:effectLst/>
                <a:latin typeface="Consolas" panose="020B0609020204030204" pitchFamily="49" charset="0"/>
              </a:rPr>
              <a:t>return</a:t>
            </a:r>
            <a:r>
              <a:rPr lang="es-CO" sz="1200" b="0" dirty="0">
                <a:effectLst/>
                <a:latin typeface="Consolas" panose="020B0609020204030204" pitchFamily="49" charset="0"/>
              </a:rPr>
              <a:t> </a:t>
            </a:r>
            <a:r>
              <a:rPr lang="es-CO" sz="1200" b="0" dirty="0" err="1">
                <a:effectLst/>
                <a:latin typeface="Consolas" panose="020B0609020204030204" pitchFamily="49" charset="0"/>
              </a:rPr>
              <a:t>temp_f</a:t>
            </a:r>
            <a:endParaRPr lang="es-CO" sz="1200" b="0" dirty="0">
              <a:effectLst/>
              <a:latin typeface="Consolas" panose="020B0609020204030204" pitchFamily="49" charset="0"/>
            </a:endParaRPr>
          </a:p>
          <a:p>
            <a:endParaRPr lang="es-CO" sz="1200" dirty="0">
              <a:latin typeface="Consolas" panose="020B0609020204030204" pitchFamily="49" charset="0"/>
            </a:endParaRPr>
          </a:p>
          <a:p>
            <a:r>
              <a:rPr lang="es-CO" sz="1200" dirty="0" err="1">
                <a:latin typeface="Consolas" panose="020B0609020204030204" pitchFamily="49" charset="0"/>
              </a:rPr>
              <a:t>temp_c</a:t>
            </a:r>
            <a:r>
              <a:rPr lang="es-CO" sz="1200" dirty="0">
                <a:latin typeface="Consolas" panose="020B0609020204030204" pitchFamily="49" charset="0"/>
              </a:rPr>
              <a:t> = float(input("Ingrese los °C: "))</a:t>
            </a:r>
          </a:p>
          <a:p>
            <a:r>
              <a:rPr lang="es-CO" sz="1200" dirty="0" err="1">
                <a:latin typeface="Consolas" panose="020B0609020204030204" pitchFamily="49" charset="0"/>
              </a:rPr>
              <a:t>temp_f</a:t>
            </a:r>
            <a:r>
              <a:rPr lang="es-CO" sz="1200" dirty="0">
                <a:latin typeface="Consolas" panose="020B0609020204030204" pitchFamily="49" charset="0"/>
              </a:rPr>
              <a:t> = </a:t>
            </a:r>
            <a:r>
              <a:rPr lang="es-CO" sz="1200" dirty="0" err="1">
                <a:latin typeface="Consolas" panose="020B0609020204030204" pitchFamily="49" charset="0"/>
              </a:rPr>
              <a:t>celsius_a_fahrenheit</a:t>
            </a:r>
            <a:r>
              <a:rPr lang="es-CO" sz="1200" dirty="0">
                <a:latin typeface="Consolas" panose="020B0609020204030204" pitchFamily="49" charset="0"/>
              </a:rPr>
              <a: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print(f"{</a:t>
            </a:r>
            <a:r>
              <a:rPr lang="es-CO" sz="1200" dirty="0" err="1">
                <a:latin typeface="Consolas" panose="020B0609020204030204" pitchFamily="49" charset="0"/>
              </a:rPr>
              <a:t>temp_c</a:t>
            </a:r>
            <a:r>
              <a:rPr lang="es-CO" sz="1200" dirty="0">
                <a:latin typeface="Consolas" panose="020B0609020204030204" pitchFamily="49" charset="0"/>
              </a:rPr>
              <a:t>} °C = {temp_f:.2f} °F")</a:t>
            </a:r>
            <a:endParaRPr lang="es-CO" sz="1200" b="0" dirty="0">
              <a:effectLst/>
              <a:latin typeface="Consolas" panose="020B0609020204030204" pitchFamily="49" charset="0"/>
            </a:endParaRPr>
          </a:p>
        </p:txBody>
      </p:sp>
      <p:pic>
        <p:nvPicPr>
          <p:cNvPr id="8" name="Imagen 7">
            <a:extLst>
              <a:ext uri="{FF2B5EF4-FFF2-40B4-BE49-F238E27FC236}">
                <a16:creationId xmlns:a16="http://schemas.microsoft.com/office/drawing/2014/main" id="{77F86403-7C6E-4715-A588-A761BD4688F6}"/>
              </a:ext>
            </a:extLst>
          </p:cNvPr>
          <p:cNvPicPr>
            <a:picLocks noChangeAspect="1"/>
          </p:cNvPicPr>
          <p:nvPr/>
        </p:nvPicPr>
        <p:blipFill>
          <a:blip r:embed="rId4"/>
          <a:stretch>
            <a:fillRect/>
          </a:stretch>
        </p:blipFill>
        <p:spPr>
          <a:xfrm>
            <a:off x="4440710" y="3789040"/>
            <a:ext cx="4618892" cy="2304256"/>
          </a:xfrm>
          <a:prstGeom prst="rect">
            <a:avLst/>
          </a:prstGeom>
        </p:spPr>
      </p:pic>
    </p:spTree>
    <p:extLst>
      <p:ext uri="{BB962C8B-B14F-4D97-AF65-F5344CB8AC3E}">
        <p14:creationId xmlns:p14="http://schemas.microsoft.com/office/powerpoint/2010/main" val="1017165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62413" y="116632"/>
            <a:ext cx="8981587" cy="1215008"/>
          </a:xfrm>
        </p:spPr>
        <p:txBody>
          <a:bodyPr>
            <a:normAutofit/>
          </a:bodyPr>
          <a:lstStyle/>
          <a:p>
            <a:r>
              <a:rPr lang="es-CO" dirty="0"/>
              <a:t>Un programa en varios archivos</a:t>
            </a:r>
          </a:p>
        </p:txBody>
      </p:sp>
      <p:sp>
        <p:nvSpPr>
          <p:cNvPr id="13" name="12 Rectángulo"/>
          <p:cNvSpPr/>
          <p:nvPr/>
        </p:nvSpPr>
        <p:spPr>
          <a:xfrm>
            <a:off x="0" y="5301208"/>
            <a:ext cx="9143999" cy="1538883"/>
          </a:xfrm>
          <a:prstGeom prst="rect">
            <a:avLst/>
          </a:prstGeom>
          <a:solidFill>
            <a:schemeClr val="accent2">
              <a:lumMod val="20000"/>
              <a:lumOff val="80000"/>
            </a:schemeClr>
          </a:solidFill>
        </p:spPr>
        <p:txBody>
          <a:bodyPr wrap="square">
            <a:spAutoFit/>
          </a:bodyPr>
          <a:lstStyle/>
          <a:p>
            <a:r>
              <a:rPr lang="es-MX" sz="2000" b="1" dirty="0"/>
              <a:t>Recordemos la convención de trabajo</a:t>
            </a:r>
            <a:r>
              <a:rPr lang="es-MX" sz="2000" dirty="0"/>
              <a:t>: De aquí en adelante, los programas que usen funciones se organizan en 3 archivos (</a:t>
            </a:r>
            <a:r>
              <a:rPr lang="es-MX" sz="2000" b="1" dirty="0"/>
              <a:t>módulos</a:t>
            </a:r>
            <a:r>
              <a:rPr lang="es-MX" sz="2000" dirty="0"/>
              <a:t>):</a:t>
            </a:r>
          </a:p>
          <a:p>
            <a:pPr marL="342900" indent="-342900">
              <a:buFont typeface="Arial" panose="020B0604020202020204" pitchFamily="34" charset="0"/>
              <a:buChar char="•"/>
            </a:pPr>
            <a:r>
              <a:rPr lang="es-MX" b="1" dirty="0"/>
              <a:t>Funciones</a:t>
            </a:r>
            <a:r>
              <a:rPr lang="es-MX" dirty="0"/>
              <a:t> (</a:t>
            </a:r>
            <a:r>
              <a:rPr lang="es-MX" sz="1600" b="1" dirty="0">
                <a:latin typeface="Consolas" panose="020B0609020204030204" pitchFamily="49" charset="0"/>
              </a:rPr>
              <a:t>conversiones.py</a:t>
            </a:r>
            <a:r>
              <a:rPr lang="es-MX" dirty="0"/>
              <a:t>)</a:t>
            </a:r>
          </a:p>
          <a:p>
            <a:pPr marL="342900" indent="-342900">
              <a:buFont typeface="Arial" panose="020B0604020202020204" pitchFamily="34" charset="0"/>
              <a:buChar char="•"/>
            </a:pPr>
            <a:r>
              <a:rPr lang="es-MX" b="1" dirty="0"/>
              <a:t>Pruebas con </a:t>
            </a:r>
            <a:r>
              <a:rPr lang="es-MX" sz="1600" b="1" dirty="0" err="1">
                <a:latin typeface="Consolas" panose="020B0609020204030204" pitchFamily="49" charset="0"/>
              </a:rPr>
              <a:t>assert</a:t>
            </a:r>
            <a:r>
              <a:rPr lang="es-MX" dirty="0"/>
              <a:t> (</a:t>
            </a:r>
            <a:r>
              <a:rPr lang="es-MX" sz="1600" b="1" dirty="0">
                <a:latin typeface="Consolas" panose="020B0609020204030204" pitchFamily="49" charset="0"/>
              </a:rPr>
              <a:t>test_conversiones.py</a:t>
            </a:r>
            <a:r>
              <a:rPr lang="es-MX" dirty="0"/>
              <a:t>)</a:t>
            </a:r>
          </a:p>
          <a:p>
            <a:pPr marL="342900" indent="-342900">
              <a:buFont typeface="Arial" panose="020B0604020202020204" pitchFamily="34" charset="0"/>
              <a:buChar char="•"/>
            </a:pPr>
            <a:r>
              <a:rPr lang="es-MX" b="1" dirty="0"/>
              <a:t>Programa principal</a:t>
            </a:r>
            <a:r>
              <a:rPr lang="es-MX" dirty="0"/>
              <a:t> (</a:t>
            </a:r>
            <a:r>
              <a:rPr lang="es-MX" sz="1600" b="1" dirty="0">
                <a:latin typeface="Consolas" panose="020B0609020204030204" pitchFamily="49" charset="0"/>
              </a:rPr>
              <a:t>main.py</a:t>
            </a:r>
            <a:r>
              <a:rPr lang="es-MX" dirty="0"/>
              <a:t>) con </a:t>
            </a:r>
            <a:r>
              <a:rPr lang="es-MX" sz="1600" b="1" dirty="0" err="1">
                <a:latin typeface="Consolas" panose="020B0609020204030204" pitchFamily="49" charset="0"/>
              </a:rPr>
              <a:t>def</a:t>
            </a:r>
            <a:r>
              <a:rPr lang="es-MX" sz="1600" b="1" dirty="0">
                <a:latin typeface="Consolas" panose="020B0609020204030204" pitchFamily="49" charset="0"/>
              </a:rPr>
              <a:t> </a:t>
            </a:r>
            <a:r>
              <a:rPr lang="es-MX" sz="1600" b="1" dirty="0" err="1">
                <a:latin typeface="Consolas" panose="020B0609020204030204" pitchFamily="49" charset="0"/>
              </a:rPr>
              <a:t>main</a:t>
            </a:r>
            <a:r>
              <a:rPr lang="es-MX" sz="1600" b="1" dirty="0">
                <a:latin typeface="Consolas" panose="020B0609020204030204" pitchFamily="49" charset="0"/>
              </a:rPr>
              <a:t>()</a:t>
            </a:r>
            <a:r>
              <a:rPr lang="es-MX" dirty="0"/>
              <a:t> y la guarda </a:t>
            </a:r>
            <a:r>
              <a:rPr lang="es-CO" sz="1600" b="1" dirty="0" err="1">
                <a:latin typeface="Consolas" panose="020B0609020204030204" pitchFamily="49" charset="0"/>
              </a:rPr>
              <a:t>if</a:t>
            </a:r>
            <a:r>
              <a:rPr lang="es-CO" sz="1600" b="1" dirty="0">
                <a:latin typeface="Consolas" panose="020B0609020204030204" pitchFamily="49" charset="0"/>
              </a:rPr>
              <a:t> __</a:t>
            </a:r>
            <a:r>
              <a:rPr lang="es-CO" sz="1600" b="1" dirty="0" err="1">
                <a:latin typeface="Consolas" panose="020B0609020204030204" pitchFamily="49" charset="0"/>
              </a:rPr>
              <a:t>name</a:t>
            </a:r>
            <a:r>
              <a:rPr lang="es-CO" sz="1600" b="1" dirty="0">
                <a:latin typeface="Consolas" panose="020B0609020204030204" pitchFamily="49" charset="0"/>
              </a:rPr>
              <a:t>__ == "__</a:t>
            </a:r>
            <a:r>
              <a:rPr lang="es-CO" sz="1600" b="1" dirty="0" err="1">
                <a:latin typeface="Consolas" panose="020B0609020204030204" pitchFamily="49" charset="0"/>
              </a:rPr>
              <a:t>main</a:t>
            </a:r>
            <a:r>
              <a:rPr lang="es-CO" sz="1600" b="1" dirty="0">
                <a:latin typeface="Consolas" panose="020B0609020204030204" pitchFamily="49" charset="0"/>
              </a:rPr>
              <a:t>__":</a:t>
            </a:r>
            <a:endParaRPr lang="es-MX" dirty="0"/>
          </a:p>
        </p:txBody>
      </p:sp>
      <p:pic>
        <p:nvPicPr>
          <p:cNvPr id="3" name="Imagen 2">
            <a:extLst>
              <a:ext uri="{FF2B5EF4-FFF2-40B4-BE49-F238E27FC236}">
                <a16:creationId xmlns:a16="http://schemas.microsoft.com/office/drawing/2014/main" id="{CFF60526-8FEB-478A-BCCA-EF5DF80CF8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1520" y="1052736"/>
            <a:ext cx="8535866" cy="2448272"/>
          </a:xfrm>
          <a:prstGeom prst="rect">
            <a:avLst/>
          </a:prstGeom>
        </p:spPr>
      </p:pic>
      <p:grpSp>
        <p:nvGrpSpPr>
          <p:cNvPr id="22" name="Grupo 21">
            <a:extLst>
              <a:ext uri="{FF2B5EF4-FFF2-40B4-BE49-F238E27FC236}">
                <a16:creationId xmlns:a16="http://schemas.microsoft.com/office/drawing/2014/main" id="{04806B4A-384C-4563-BAA1-08B91B1A2FB9}"/>
              </a:ext>
            </a:extLst>
          </p:cNvPr>
          <p:cNvGrpSpPr/>
          <p:nvPr/>
        </p:nvGrpSpPr>
        <p:grpSpPr>
          <a:xfrm>
            <a:off x="423448" y="3717032"/>
            <a:ext cx="4157468" cy="1303990"/>
            <a:chOff x="3948973" y="3284689"/>
            <a:chExt cx="3795949" cy="1303990"/>
          </a:xfrm>
        </p:grpSpPr>
        <p:sp>
          <p:nvSpPr>
            <p:cNvPr id="28" name="CuadroTexto 27">
              <a:extLst>
                <a:ext uri="{FF2B5EF4-FFF2-40B4-BE49-F238E27FC236}">
                  <a16:creationId xmlns:a16="http://schemas.microsoft.com/office/drawing/2014/main" id="{73974851-AC40-436A-BF36-5D8979FD6A8E}"/>
                </a:ext>
              </a:extLst>
            </p:cNvPr>
            <p:cNvSpPr txBox="1"/>
            <p:nvPr/>
          </p:nvSpPr>
          <p:spPr>
            <a:xfrm>
              <a:off x="3948973" y="3573016"/>
              <a:ext cx="3795949" cy="1015663"/>
            </a:xfrm>
            <a:prstGeom prst="rect">
              <a:avLst/>
            </a:prstGeom>
            <a:noFill/>
            <a:ln>
              <a:solidFill>
                <a:schemeClr val="tx1"/>
              </a:solidFill>
            </a:ln>
          </p:spPr>
          <p:txBody>
            <a:bodyPr wrap="square" rtlCol="0">
              <a:spAutoFit/>
            </a:bodyPr>
            <a:lstStyle/>
            <a:p>
              <a:r>
                <a:rPr lang="es-CO" sz="1200" b="0" dirty="0" err="1">
                  <a:effectLst/>
                  <a:latin typeface="Consolas" panose="020B0609020204030204" pitchFamily="49" charset="0"/>
                </a:rPr>
                <a:t>import</a:t>
              </a:r>
              <a:r>
                <a:rPr lang="es-CO" sz="1200" b="0" dirty="0">
                  <a:effectLst/>
                  <a:latin typeface="Consolas" panose="020B0609020204030204" pitchFamily="49" charset="0"/>
                </a:rPr>
                <a:t> conversiones</a:t>
              </a:r>
            </a:p>
            <a:p>
              <a:br>
                <a:rPr lang="es-CO" sz="1200" b="0" dirty="0">
                  <a:effectLst/>
                  <a:latin typeface="Consolas" panose="020B0609020204030204" pitchFamily="49" charset="0"/>
                </a:rPr>
              </a:br>
              <a:r>
                <a:rPr lang="es-CO" sz="1200" b="0" dirty="0" err="1">
                  <a:effectLst/>
                  <a:latin typeface="Consolas" panose="020B0609020204030204" pitchFamily="49" charset="0"/>
                </a:rPr>
                <a:t>assert</a:t>
              </a:r>
              <a:r>
                <a:rPr lang="es-CO" sz="1200" b="0" dirty="0">
                  <a:effectLst/>
                  <a:latin typeface="Consolas" panose="020B0609020204030204" pitchFamily="49" charset="0"/>
                </a:rPr>
                <a:t> ...</a:t>
              </a:r>
            </a:p>
            <a:p>
              <a:r>
                <a:rPr lang="es-CO" sz="1200" b="0" dirty="0">
                  <a:effectLst/>
                  <a:latin typeface="Consolas" panose="020B0609020204030204" pitchFamily="49" charset="0"/>
                </a:rPr>
                <a:t>...</a:t>
              </a:r>
            </a:p>
            <a:p>
              <a:r>
                <a:rPr lang="es-CO" sz="1200" b="0" dirty="0">
                  <a:effectLst/>
                  <a:latin typeface="Consolas" panose="020B0609020204030204" pitchFamily="49" charset="0"/>
                </a:rPr>
                <a:t>print("Pruebas de conversiones: todas pasaron")</a:t>
              </a:r>
            </a:p>
          </p:txBody>
        </p:sp>
        <p:sp>
          <p:nvSpPr>
            <p:cNvPr id="31" name="CuadroTexto 30">
              <a:extLst>
                <a:ext uri="{FF2B5EF4-FFF2-40B4-BE49-F238E27FC236}">
                  <a16:creationId xmlns:a16="http://schemas.microsoft.com/office/drawing/2014/main" id="{CFDC075A-BBCA-42A8-BBF5-CA1B5A1DD99C}"/>
                </a:ext>
              </a:extLst>
            </p:cNvPr>
            <p:cNvSpPr txBox="1"/>
            <p:nvPr/>
          </p:nvSpPr>
          <p:spPr>
            <a:xfrm>
              <a:off x="4684651" y="3284689"/>
              <a:ext cx="2119759" cy="307777"/>
            </a:xfrm>
            <a:prstGeom prst="rect">
              <a:avLst/>
            </a:prstGeom>
            <a:noFill/>
          </p:spPr>
          <p:txBody>
            <a:bodyPr wrap="square">
              <a:spAutoFit/>
            </a:bodyPr>
            <a:lstStyle/>
            <a:p>
              <a:pPr algn="ctr"/>
              <a:r>
                <a:rPr lang="es-CO" sz="1400" b="1" dirty="0">
                  <a:latin typeface="Consolas" panose="020B0609020204030204" pitchFamily="49" charset="0"/>
                </a:rPr>
                <a:t>test_conversiones.py</a:t>
              </a:r>
            </a:p>
          </p:txBody>
        </p:sp>
      </p:grpSp>
      <p:grpSp>
        <p:nvGrpSpPr>
          <p:cNvPr id="32" name="Grupo 31">
            <a:extLst>
              <a:ext uri="{FF2B5EF4-FFF2-40B4-BE49-F238E27FC236}">
                <a16:creationId xmlns:a16="http://schemas.microsoft.com/office/drawing/2014/main" id="{3E7FC632-A011-43E1-9602-0500B88E1C1B}"/>
              </a:ext>
            </a:extLst>
          </p:cNvPr>
          <p:cNvGrpSpPr/>
          <p:nvPr/>
        </p:nvGrpSpPr>
        <p:grpSpPr>
          <a:xfrm>
            <a:off x="4743327" y="3740544"/>
            <a:ext cx="3933129" cy="1488656"/>
            <a:chOff x="3948973" y="3284689"/>
            <a:chExt cx="3591118" cy="1488656"/>
          </a:xfrm>
        </p:grpSpPr>
        <p:sp>
          <p:nvSpPr>
            <p:cNvPr id="33" name="CuadroTexto 32">
              <a:extLst>
                <a:ext uri="{FF2B5EF4-FFF2-40B4-BE49-F238E27FC236}">
                  <a16:creationId xmlns:a16="http://schemas.microsoft.com/office/drawing/2014/main" id="{B55EB806-96DB-44A5-8D41-68152547B41D}"/>
                </a:ext>
              </a:extLst>
            </p:cNvPr>
            <p:cNvSpPr txBox="1"/>
            <p:nvPr/>
          </p:nvSpPr>
          <p:spPr>
            <a:xfrm>
              <a:off x="3948973" y="3573016"/>
              <a:ext cx="3591118" cy="1200329"/>
            </a:xfrm>
            <a:prstGeom prst="rect">
              <a:avLst/>
            </a:prstGeom>
            <a:noFill/>
            <a:ln>
              <a:solidFill>
                <a:schemeClr val="tx1"/>
              </a:solidFill>
            </a:ln>
          </p:spPr>
          <p:txBody>
            <a:bodyPr wrap="square" rtlCol="0">
              <a:spAutoFit/>
            </a:bodyPr>
            <a:lstStyle/>
            <a:p>
              <a:r>
                <a:rPr lang="es-CO" sz="1200" b="0" dirty="0" err="1">
                  <a:effectLst/>
                  <a:latin typeface="Consolas" panose="020B0609020204030204" pitchFamily="49" charset="0"/>
                </a:rPr>
                <a:t>import</a:t>
              </a:r>
              <a:r>
                <a:rPr lang="es-CO" sz="1200" b="0" dirty="0">
                  <a:effectLst/>
                  <a:latin typeface="Consolas" panose="020B0609020204030204" pitchFamily="49" charset="0"/>
                </a:rPr>
                <a:t> conversiones</a:t>
              </a:r>
            </a:p>
            <a:p>
              <a:br>
                <a:rPr lang="es-CO" sz="1200" b="0" dirty="0">
                  <a:effectLst/>
                  <a:latin typeface="Consolas" panose="020B0609020204030204" pitchFamily="49" charset="0"/>
                </a:rPr>
              </a:br>
              <a:r>
                <a:rPr lang="es-CO" sz="1200" b="0" dirty="0" err="1">
                  <a:effectLst/>
                  <a:latin typeface="Consolas" panose="020B0609020204030204" pitchFamily="49" charset="0"/>
                </a:rPr>
                <a:t>def</a:t>
              </a:r>
              <a:r>
                <a:rPr lang="es-CO" sz="1200" b="0" dirty="0">
                  <a:effectLst/>
                  <a:latin typeface="Consolas" panose="020B0609020204030204" pitchFamily="49" charset="0"/>
                </a:rPr>
                <a:t> </a:t>
              </a:r>
              <a:r>
                <a:rPr lang="es-CO" sz="1200" b="0" dirty="0" err="1">
                  <a:effectLst/>
                  <a:latin typeface="Consolas" panose="020B0609020204030204" pitchFamily="49" charset="0"/>
                </a:rPr>
                <a:t>main</a:t>
              </a:r>
              <a:r>
                <a:rPr lang="es-CO" sz="1200" b="0" dirty="0">
                  <a:effectLst/>
                  <a:latin typeface="Consolas" panose="020B0609020204030204" pitchFamily="49" charset="0"/>
                </a:rPr>
                <a:t>(): ... </a:t>
              </a:r>
            </a:p>
            <a:p>
              <a:endParaRPr lang="es-CO" sz="1200" dirty="0">
                <a:latin typeface="Consolas" panose="020B0609020204030204" pitchFamily="49" charset="0"/>
              </a:endParaRPr>
            </a:p>
            <a:p>
              <a:r>
                <a:rPr lang="es-CO" sz="1200" b="0" dirty="0" err="1">
                  <a:effectLst/>
                  <a:latin typeface="Consolas" panose="020B0609020204030204" pitchFamily="49" charset="0"/>
                </a:rPr>
                <a:t>if</a:t>
              </a:r>
              <a:r>
                <a:rPr lang="es-CO" sz="1200" b="0" dirty="0">
                  <a:effectLst/>
                  <a:latin typeface="Consolas" panose="020B0609020204030204" pitchFamily="49" charset="0"/>
                </a:rPr>
                <a:t> __</a:t>
              </a:r>
              <a:r>
                <a:rPr lang="es-CO" sz="1200" b="0" dirty="0" err="1">
                  <a:effectLst/>
                  <a:latin typeface="Consolas" panose="020B0609020204030204" pitchFamily="49" charset="0"/>
                </a:rPr>
                <a:t>name</a:t>
              </a:r>
              <a:r>
                <a:rPr lang="es-CO" sz="1200" b="0" dirty="0">
                  <a:effectLst/>
                  <a:latin typeface="Consolas" panose="020B0609020204030204" pitchFamily="49" charset="0"/>
                </a:rPr>
                <a:t>__ == "__</a:t>
              </a:r>
              <a:r>
                <a:rPr lang="es-CO" sz="1200" b="0" dirty="0" err="1">
                  <a:effectLst/>
                  <a:latin typeface="Consolas" panose="020B0609020204030204" pitchFamily="49" charset="0"/>
                </a:rPr>
                <a:t>main</a:t>
              </a:r>
              <a:r>
                <a:rPr lang="es-CO" sz="1200" b="0" dirty="0">
                  <a:effectLst/>
                  <a:latin typeface="Consolas" panose="020B0609020204030204" pitchFamily="49" charset="0"/>
                </a:rPr>
                <a:t>__":</a:t>
              </a:r>
            </a:p>
            <a:p>
              <a:r>
                <a:rPr lang="es-CO" sz="1200" b="0" dirty="0">
                  <a:effectLst/>
                  <a:latin typeface="Consolas" panose="020B0609020204030204" pitchFamily="49" charset="0"/>
                </a:rPr>
                <a:t>    </a:t>
              </a:r>
              <a:r>
                <a:rPr lang="es-CO" sz="1200" b="0" dirty="0" err="1">
                  <a:effectLst/>
                  <a:latin typeface="Consolas" panose="020B0609020204030204" pitchFamily="49" charset="0"/>
                </a:rPr>
                <a:t>main</a:t>
              </a:r>
              <a:r>
                <a:rPr lang="es-CO" sz="1200" b="0" dirty="0">
                  <a:effectLst/>
                  <a:latin typeface="Consolas" panose="020B0609020204030204" pitchFamily="49" charset="0"/>
                </a:rPr>
                <a:t>()</a:t>
              </a:r>
            </a:p>
          </p:txBody>
        </p:sp>
        <p:sp>
          <p:nvSpPr>
            <p:cNvPr id="34" name="CuadroTexto 33">
              <a:extLst>
                <a:ext uri="{FF2B5EF4-FFF2-40B4-BE49-F238E27FC236}">
                  <a16:creationId xmlns:a16="http://schemas.microsoft.com/office/drawing/2014/main" id="{D5CB9242-BD11-4DF2-A0FE-DB2069665F2D}"/>
                </a:ext>
              </a:extLst>
            </p:cNvPr>
            <p:cNvSpPr txBox="1"/>
            <p:nvPr/>
          </p:nvSpPr>
          <p:spPr>
            <a:xfrm>
              <a:off x="4684651" y="3284689"/>
              <a:ext cx="2119759" cy="307777"/>
            </a:xfrm>
            <a:prstGeom prst="rect">
              <a:avLst/>
            </a:prstGeom>
            <a:noFill/>
          </p:spPr>
          <p:txBody>
            <a:bodyPr wrap="square">
              <a:spAutoFit/>
            </a:bodyPr>
            <a:lstStyle/>
            <a:p>
              <a:pPr algn="ctr"/>
              <a:r>
                <a:rPr lang="es-CO" sz="1400" b="1" dirty="0">
                  <a:latin typeface="Consolas" panose="020B0609020204030204" pitchFamily="49" charset="0"/>
                </a:rPr>
                <a:t>main.py</a:t>
              </a:r>
            </a:p>
          </p:txBody>
        </p:sp>
      </p:grpSp>
    </p:spTree>
    <p:extLst>
      <p:ext uri="{BB962C8B-B14F-4D97-AF65-F5344CB8AC3E}">
        <p14:creationId xmlns:p14="http://schemas.microsoft.com/office/powerpoint/2010/main" val="20784721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El problema que quedó pendiente</a:t>
            </a:r>
          </a:p>
        </p:txBody>
      </p:sp>
      <p:sp>
        <p:nvSpPr>
          <p:cNvPr id="11" name="CuadroTexto 10">
            <a:extLst>
              <a:ext uri="{FF2B5EF4-FFF2-40B4-BE49-F238E27FC236}">
                <a16:creationId xmlns:a16="http://schemas.microsoft.com/office/drawing/2014/main" id="{688FC587-B925-4872-9176-CBAE616BD677}"/>
              </a:ext>
            </a:extLst>
          </p:cNvPr>
          <p:cNvSpPr txBox="1"/>
          <p:nvPr/>
        </p:nvSpPr>
        <p:spPr>
          <a:xfrm>
            <a:off x="315766" y="5987652"/>
            <a:ext cx="8512465" cy="646331"/>
          </a:xfrm>
          <a:prstGeom prst="rect">
            <a:avLst/>
          </a:prstGeom>
          <a:solidFill>
            <a:schemeClr val="bg2"/>
          </a:solidFill>
        </p:spPr>
        <p:txBody>
          <a:bodyPr wrap="square">
            <a:spAutoFit/>
          </a:bodyPr>
          <a:lstStyle/>
          <a:p>
            <a:r>
              <a:rPr lang="es-MX" b="1" dirty="0"/>
              <a:t>Pregunta</a:t>
            </a:r>
            <a:r>
              <a:rPr lang="es-MX" dirty="0"/>
              <a:t>: El promedio solo se conoce después de leer todas las notas. ¿Cómo se compara cada nota con el promedio, si las anteriores ya se perdieron?</a:t>
            </a:r>
          </a:p>
        </p:txBody>
      </p:sp>
      <p:sp>
        <p:nvSpPr>
          <p:cNvPr id="6" name="12 Rectángulo">
            <a:extLst>
              <a:ext uri="{FF2B5EF4-FFF2-40B4-BE49-F238E27FC236}">
                <a16:creationId xmlns:a16="http://schemas.microsoft.com/office/drawing/2014/main" id="{A73AFEAC-B223-4D7F-B142-1E206A88BEB3}"/>
              </a:ext>
            </a:extLst>
          </p:cNvPr>
          <p:cNvSpPr/>
          <p:nvPr/>
        </p:nvSpPr>
        <p:spPr>
          <a:xfrm>
            <a:off x="144639" y="867484"/>
            <a:ext cx="8854721" cy="4401205"/>
          </a:xfrm>
          <a:prstGeom prst="rect">
            <a:avLst/>
          </a:prstGeom>
        </p:spPr>
        <p:txBody>
          <a:bodyPr wrap="square">
            <a:spAutoFit/>
          </a:bodyPr>
          <a:lstStyle/>
          <a:p>
            <a:r>
              <a:rPr lang="es-MX" sz="2000" b="1" dirty="0"/>
              <a:t>Enunciado</a:t>
            </a:r>
            <a:r>
              <a:rPr lang="es-MX" sz="2000" dirty="0"/>
              <a:t>: Leer las notas de los estudiantes de un curso y mostrar </a:t>
            </a:r>
            <a:r>
              <a:rPr lang="es-MX" sz="2000" b="1" dirty="0"/>
              <a:t>cuántas notas son mayores que el promedio</a:t>
            </a:r>
            <a:r>
              <a:rPr lang="es-MX" sz="2000" dirty="0"/>
              <a:t>.</a:t>
            </a:r>
          </a:p>
          <a:p>
            <a:pPr marL="342900" indent="-342900" rtl="0">
              <a:buFont typeface="Arial" panose="020B0604020202020204" pitchFamily="34" charset="0"/>
              <a:buChar char="•"/>
            </a:pPr>
            <a:r>
              <a:rPr lang="es-MX" sz="2000" b="1" dirty="0"/>
              <a:t>Archivo</a:t>
            </a:r>
            <a:r>
              <a:rPr lang="es-MX" sz="2000" dirty="0"/>
              <a:t>: </a:t>
            </a:r>
            <a:r>
              <a:rPr lang="es-MX" dirty="0">
                <a:latin typeface="Consolas" panose="020B0609020204030204" pitchFamily="49" charset="0"/>
              </a:rPr>
              <a:t>notas_sin_arreglos.py</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Salida</a:t>
            </a:r>
            <a:r>
              <a:rPr lang="es-MX" sz="2000" dirty="0"/>
              <a:t> (con 4 estudiantes: 3.0, 4.5, 2.0, 4.0):</a:t>
            </a:r>
          </a:p>
        </p:txBody>
      </p:sp>
      <p:sp>
        <p:nvSpPr>
          <p:cNvPr id="7" name="CuadroTexto 6">
            <a:extLst>
              <a:ext uri="{FF2B5EF4-FFF2-40B4-BE49-F238E27FC236}">
                <a16:creationId xmlns:a16="http://schemas.microsoft.com/office/drawing/2014/main" id="{41CE0D67-953B-4B33-BC21-F6E2079C93A0}"/>
              </a:ext>
            </a:extLst>
          </p:cNvPr>
          <p:cNvSpPr txBox="1"/>
          <p:nvPr/>
        </p:nvSpPr>
        <p:spPr>
          <a:xfrm>
            <a:off x="687372" y="1953414"/>
            <a:ext cx="7056784" cy="2677656"/>
          </a:xfrm>
          <a:prstGeom prst="rect">
            <a:avLst/>
          </a:prstGeom>
          <a:noFill/>
          <a:ln>
            <a:solidFill>
              <a:schemeClr val="tx1"/>
            </a:solidFill>
          </a:ln>
        </p:spPr>
        <p:txBody>
          <a:bodyPr wrap="square">
            <a:spAutoFit/>
          </a:bodyPr>
          <a:lstStyle/>
          <a:p>
            <a:r>
              <a:rPr lang="es-MX" sz="1200" dirty="0" err="1">
                <a:latin typeface="Consolas" panose="020B0609020204030204" pitchFamily="49" charset="0"/>
              </a:rPr>
              <a:t>def</a:t>
            </a:r>
            <a:r>
              <a:rPr lang="es-MX" sz="1200" dirty="0">
                <a:latin typeface="Consolas" panose="020B0609020204030204" pitchFamily="49" charset="0"/>
              </a:rPr>
              <a:t> </a:t>
            </a:r>
            <a:r>
              <a:rPr lang="es-MX" sz="1200" dirty="0" err="1">
                <a:latin typeface="Consolas" panose="020B0609020204030204" pitchFamily="49" charset="0"/>
              </a:rPr>
              <a:t>main</a:t>
            </a:r>
            <a:r>
              <a:rPr lang="es-MX" sz="1200" dirty="0">
                <a:latin typeface="Consolas" panose="020B0609020204030204" pitchFamily="49" charset="0"/>
              </a:rPr>
              <a:t>():</a:t>
            </a:r>
          </a:p>
          <a:p>
            <a:r>
              <a:rPr lang="es-MX" sz="1200" dirty="0">
                <a:latin typeface="Consolas" panose="020B0609020204030204" pitchFamily="49" charset="0"/>
              </a:rPr>
              <a:t>    cantidad = </a:t>
            </a:r>
            <a:r>
              <a:rPr lang="es-MX" sz="1200" dirty="0" err="1">
                <a:latin typeface="Consolas" panose="020B0609020204030204" pitchFamily="49" charset="0"/>
              </a:rPr>
              <a:t>int</a:t>
            </a:r>
            <a:r>
              <a:rPr lang="es-MX" sz="1200" dirty="0">
                <a:latin typeface="Consolas" panose="020B0609020204030204" pitchFamily="49" charset="0"/>
              </a:rPr>
              <a:t>(input("Cantidad de estudiantes: "))</a:t>
            </a:r>
          </a:p>
          <a:p>
            <a:r>
              <a:rPr lang="es-MX" sz="1200" dirty="0">
                <a:latin typeface="Consolas" panose="020B0609020204030204" pitchFamily="49" charset="0"/>
              </a:rPr>
              <a:t>    suma = 0.0</a:t>
            </a:r>
          </a:p>
          <a:p>
            <a:r>
              <a:rPr lang="es-MX" sz="1200" dirty="0">
                <a:latin typeface="Consolas" panose="020B0609020204030204" pitchFamily="49" charset="0"/>
              </a:rPr>
              <a:t>    </a:t>
            </a:r>
            <a:r>
              <a:rPr lang="es-MX" sz="1200" dirty="0" err="1">
                <a:latin typeface="Consolas" panose="020B0609020204030204" pitchFamily="49" charset="0"/>
              </a:rPr>
              <a:t>for</a:t>
            </a:r>
            <a:r>
              <a:rPr lang="es-MX" sz="1200" dirty="0">
                <a:latin typeface="Consolas" panose="020B0609020204030204" pitchFamily="49" charset="0"/>
              </a:rPr>
              <a:t> i in range(cantidad):</a:t>
            </a:r>
          </a:p>
          <a:p>
            <a:r>
              <a:rPr lang="es-MX" sz="1200" dirty="0">
                <a:latin typeface="Consolas" panose="020B0609020204030204" pitchFamily="49" charset="0"/>
              </a:rPr>
              <a:t>        nota = </a:t>
            </a:r>
            <a:r>
              <a:rPr lang="es-MX" sz="1200" dirty="0" err="1">
                <a:latin typeface="Consolas" panose="020B0609020204030204" pitchFamily="49" charset="0"/>
              </a:rPr>
              <a:t>float</a:t>
            </a:r>
            <a:r>
              <a:rPr lang="es-MX" sz="1200" dirty="0">
                <a:latin typeface="Consolas" panose="020B0609020204030204" pitchFamily="49" charset="0"/>
              </a:rPr>
              <a:t>(input(</a:t>
            </a:r>
            <a:r>
              <a:rPr lang="es-MX" sz="1200" dirty="0" err="1">
                <a:latin typeface="Consolas" panose="020B0609020204030204" pitchFamily="49" charset="0"/>
              </a:rPr>
              <a:t>f"Nota</a:t>
            </a:r>
            <a:r>
              <a:rPr lang="es-MX" sz="1200" dirty="0">
                <a:latin typeface="Consolas" panose="020B0609020204030204" pitchFamily="49" charset="0"/>
              </a:rPr>
              <a:t> del estudiante {i + 1}: "))</a:t>
            </a:r>
          </a:p>
          <a:p>
            <a:r>
              <a:rPr lang="es-MX" sz="1200" dirty="0">
                <a:latin typeface="Consolas" panose="020B0609020204030204" pitchFamily="49" charset="0"/>
              </a:rPr>
              <a:t>        suma += nota</a:t>
            </a:r>
          </a:p>
          <a:p>
            <a:r>
              <a:rPr lang="es-MX" sz="1200" dirty="0">
                <a:latin typeface="Consolas" panose="020B0609020204030204" pitchFamily="49" charset="0"/>
              </a:rPr>
              <a:t>    promedio = suma / cantidad</a:t>
            </a:r>
          </a:p>
          <a:p>
            <a:r>
              <a:rPr lang="es-MX" sz="1200" dirty="0">
                <a:latin typeface="Consolas" panose="020B0609020204030204" pitchFamily="49" charset="0"/>
              </a:rPr>
              <a:t>    print(</a:t>
            </a:r>
            <a:r>
              <a:rPr lang="es-MX" sz="1200" dirty="0" err="1">
                <a:latin typeface="Consolas" panose="020B0609020204030204" pitchFamily="49" charset="0"/>
              </a:rPr>
              <a:t>f"Promedio</a:t>
            </a:r>
            <a:r>
              <a:rPr lang="es-MX" sz="1200" dirty="0">
                <a:latin typeface="Consolas" panose="020B0609020204030204" pitchFamily="49" charset="0"/>
              </a:rPr>
              <a:t> del curso: {promedio:.2f}")</a:t>
            </a:r>
          </a:p>
          <a:p>
            <a:r>
              <a:rPr lang="es-MX" sz="1200" dirty="0">
                <a:solidFill>
                  <a:srgbClr val="00B050"/>
                </a:solidFill>
                <a:latin typeface="Consolas" panose="020B0609020204030204" pitchFamily="49" charset="0"/>
              </a:rPr>
              <a:t>    # ¿Cuántas notas son mayores que el promedio?</a:t>
            </a:r>
          </a:p>
          <a:p>
            <a:r>
              <a:rPr lang="es-MX" sz="1200" dirty="0">
                <a:solidFill>
                  <a:srgbClr val="00B050"/>
                </a:solidFill>
                <a:latin typeface="Consolas" panose="020B0609020204030204" pitchFamily="49" charset="0"/>
              </a:rPr>
              <a:t>    # Problema: la variable nota solo conserva la última nota leída.</a:t>
            </a:r>
          </a:p>
          <a:p>
            <a:r>
              <a:rPr lang="es-MX" sz="1200" dirty="0">
                <a:latin typeface="Consolas" panose="020B0609020204030204" pitchFamily="49" charset="0"/>
              </a:rPr>
              <a:t>    print(</a:t>
            </a:r>
            <a:r>
              <a:rPr lang="es-MX" sz="1200" dirty="0" err="1">
                <a:latin typeface="Consolas" panose="020B0609020204030204" pitchFamily="49" charset="0"/>
              </a:rPr>
              <a:t>f"Nota</a:t>
            </a:r>
            <a:r>
              <a:rPr lang="es-MX" sz="1200" dirty="0">
                <a:latin typeface="Consolas" panose="020B0609020204030204" pitchFamily="49" charset="0"/>
              </a:rPr>
              <a:t> guardada en la variable nota: {nota}")</a:t>
            </a:r>
          </a:p>
          <a:p>
            <a:endParaRPr lang="es-CO" sz="1200" dirty="0">
              <a:latin typeface="Consolas" panose="020B0609020204030204" pitchFamily="49" charset="0"/>
            </a:endParaRPr>
          </a:p>
          <a:p>
            <a:r>
              <a:rPr lang="es-CO" sz="1200" dirty="0" err="1">
                <a:latin typeface="Consolas" panose="020B0609020204030204" pitchFamily="49" charset="0"/>
              </a:rPr>
              <a:t>if</a:t>
            </a:r>
            <a:r>
              <a:rPr lang="es-CO" sz="1200" dirty="0">
                <a:latin typeface="Consolas" panose="020B0609020204030204" pitchFamily="49" charset="0"/>
              </a:rPr>
              <a:t> __</a:t>
            </a:r>
            <a:r>
              <a:rPr lang="es-CO" sz="1200" dirty="0" err="1">
                <a:latin typeface="Consolas" panose="020B0609020204030204" pitchFamily="49" charset="0"/>
              </a:rPr>
              <a:t>name</a:t>
            </a:r>
            <a:r>
              <a:rPr lang="es-CO" sz="1200" dirty="0">
                <a:latin typeface="Consolas" panose="020B0609020204030204" pitchFamily="49" charset="0"/>
              </a:rPr>
              <a:t>__ == "__</a:t>
            </a:r>
            <a:r>
              <a:rPr lang="es-CO" sz="1200" dirty="0" err="1">
                <a:latin typeface="Consolas" panose="020B0609020204030204" pitchFamily="49" charset="0"/>
              </a:rPr>
              <a:t>main</a:t>
            </a:r>
            <a:r>
              <a:rPr lang="es-CO" sz="1200" dirty="0">
                <a:latin typeface="Consolas" panose="020B0609020204030204" pitchFamily="49" charset="0"/>
              </a:rPr>
              <a:t>__":</a:t>
            </a:r>
          </a:p>
          <a:p>
            <a:r>
              <a:rPr lang="es-CO" sz="1200" dirty="0">
                <a:latin typeface="Consolas" panose="020B0609020204030204" pitchFamily="49" charset="0"/>
              </a:rPr>
              <a:t>    </a:t>
            </a:r>
            <a:r>
              <a:rPr lang="es-CO" sz="1200" dirty="0" err="1">
                <a:latin typeface="Consolas" panose="020B0609020204030204" pitchFamily="49" charset="0"/>
              </a:rPr>
              <a:t>main</a:t>
            </a:r>
            <a:r>
              <a:rPr lang="es-CO" sz="1200" dirty="0">
                <a:latin typeface="Consolas" panose="020B0609020204030204" pitchFamily="49" charset="0"/>
              </a:rPr>
              <a:t>()</a:t>
            </a:r>
          </a:p>
        </p:txBody>
      </p:sp>
      <p:sp>
        <p:nvSpPr>
          <p:cNvPr id="8" name="CuadroTexto 7">
            <a:extLst>
              <a:ext uri="{FF2B5EF4-FFF2-40B4-BE49-F238E27FC236}">
                <a16:creationId xmlns:a16="http://schemas.microsoft.com/office/drawing/2014/main" id="{5B10E6FD-9F29-438D-815C-B2E85E0B9B12}"/>
              </a:ext>
            </a:extLst>
          </p:cNvPr>
          <p:cNvSpPr txBox="1"/>
          <p:nvPr/>
        </p:nvSpPr>
        <p:spPr>
          <a:xfrm>
            <a:off x="677144" y="5373216"/>
            <a:ext cx="7056784" cy="461665"/>
          </a:xfrm>
          <a:prstGeom prst="rect">
            <a:avLst/>
          </a:prstGeom>
          <a:noFill/>
          <a:ln>
            <a:solidFill>
              <a:schemeClr val="tx1"/>
            </a:solidFill>
          </a:ln>
        </p:spPr>
        <p:txBody>
          <a:bodyPr wrap="square">
            <a:spAutoFit/>
          </a:bodyPr>
          <a:lstStyle/>
          <a:p>
            <a:r>
              <a:rPr lang="es-MX" sz="1200" dirty="0">
                <a:latin typeface="Consolas" panose="020B0609020204030204" pitchFamily="49" charset="0"/>
              </a:rPr>
              <a:t>Promedio del curso: 3.38</a:t>
            </a:r>
          </a:p>
          <a:p>
            <a:r>
              <a:rPr lang="es-MX" sz="1200" dirty="0">
                <a:latin typeface="Consolas" panose="020B0609020204030204" pitchFamily="49" charset="0"/>
              </a:rPr>
              <a:t>Nota guardada en la variable nota: 4.0</a:t>
            </a:r>
            <a:endParaRPr lang="es-CO" sz="1200" dirty="0">
              <a:latin typeface="Consolas" panose="020B0609020204030204" pitchFamily="49" charset="0"/>
            </a:endParaRPr>
          </a:p>
        </p:txBody>
      </p:sp>
    </p:spTree>
    <p:extLst>
      <p:ext uri="{BB962C8B-B14F-4D97-AF65-F5344CB8AC3E}">
        <p14:creationId xmlns:p14="http://schemas.microsoft.com/office/powerpoint/2010/main" val="28715140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Posible solución: Una variable por nota </a:t>
            </a:r>
          </a:p>
        </p:txBody>
      </p:sp>
      <p:sp>
        <p:nvSpPr>
          <p:cNvPr id="11" name="CuadroTexto 10">
            <a:extLst>
              <a:ext uri="{FF2B5EF4-FFF2-40B4-BE49-F238E27FC236}">
                <a16:creationId xmlns:a16="http://schemas.microsoft.com/office/drawing/2014/main" id="{688FC587-B925-4872-9176-CBAE616BD677}"/>
              </a:ext>
            </a:extLst>
          </p:cNvPr>
          <p:cNvSpPr txBox="1"/>
          <p:nvPr/>
        </p:nvSpPr>
        <p:spPr>
          <a:xfrm>
            <a:off x="128940" y="6165304"/>
            <a:ext cx="8740080" cy="369332"/>
          </a:xfrm>
          <a:prstGeom prst="rect">
            <a:avLst/>
          </a:prstGeom>
          <a:solidFill>
            <a:schemeClr val="accent2">
              <a:lumMod val="20000"/>
              <a:lumOff val="80000"/>
            </a:schemeClr>
          </a:solidFill>
        </p:spPr>
        <p:txBody>
          <a:bodyPr wrap="square">
            <a:spAutoFit/>
          </a:bodyPr>
          <a:lstStyle/>
          <a:p>
            <a:r>
              <a:rPr lang="es-MX" b="1" dirty="0"/>
              <a:t>Observación</a:t>
            </a:r>
            <a:r>
              <a:rPr lang="es-MX" dirty="0"/>
              <a:t>: Si los datos se van a usar después de leerlos, hay que guardarlos todos.</a:t>
            </a:r>
          </a:p>
        </p:txBody>
      </p:sp>
      <p:sp>
        <p:nvSpPr>
          <p:cNvPr id="6" name="12 Rectángulo">
            <a:extLst>
              <a:ext uri="{FF2B5EF4-FFF2-40B4-BE49-F238E27FC236}">
                <a16:creationId xmlns:a16="http://schemas.microsoft.com/office/drawing/2014/main" id="{A73AFEAC-B223-4D7F-B142-1E206A88BEB3}"/>
              </a:ext>
            </a:extLst>
          </p:cNvPr>
          <p:cNvSpPr/>
          <p:nvPr/>
        </p:nvSpPr>
        <p:spPr>
          <a:xfrm>
            <a:off x="201960" y="673316"/>
            <a:ext cx="8740080" cy="5324535"/>
          </a:xfrm>
          <a:prstGeom prst="rect">
            <a:avLst/>
          </a:prstGeom>
        </p:spPr>
        <p:txBody>
          <a:bodyPr wrap="square">
            <a:spAutoFit/>
          </a:bodyPr>
          <a:lstStyle/>
          <a:p>
            <a:r>
              <a:rPr lang="es-MX" sz="2000" b="1" dirty="0"/>
              <a:t>Pregunta</a:t>
            </a:r>
            <a:r>
              <a:rPr lang="es-MX" sz="2000" dirty="0"/>
              <a:t>: El promedio solo se conoce después de leer todas las notas. ¿Cómo se compara cada nota con el promedio, si las anteriores ya se perdieron?</a:t>
            </a:r>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r>
              <a:rPr lang="es-MX" sz="2000" dirty="0"/>
              <a:t>Con 4 estudiantes funciona.</a:t>
            </a:r>
          </a:p>
          <a:p>
            <a:pPr marL="342900" indent="-342900">
              <a:buFont typeface="Arial" panose="020B0604020202020204" pitchFamily="34" charset="0"/>
              <a:buChar char="•"/>
            </a:pPr>
            <a:r>
              <a:rPr lang="es-MX" sz="2000" dirty="0"/>
              <a:t>Con 40 estudiantes serían 40 variables, 40 lecturas, una suma de 40 términos y 40 </a:t>
            </a:r>
            <a:r>
              <a:rPr lang="es-MX" b="1" dirty="0" err="1">
                <a:latin typeface="Consolas" panose="020B0609020204030204" pitchFamily="49" charset="0"/>
              </a:rPr>
              <a:t>if</a:t>
            </a:r>
            <a:r>
              <a:rPr lang="es-MX" sz="2000" dirty="0"/>
              <a:t>. Aunque es posible, deja de ser practico.</a:t>
            </a:r>
          </a:p>
          <a:p>
            <a:pPr marL="342900" indent="-342900">
              <a:buFont typeface="Arial" panose="020B0604020202020204" pitchFamily="34" charset="0"/>
              <a:buChar char="•"/>
            </a:pPr>
            <a:r>
              <a:rPr lang="es-MX" sz="2000" b="1" dirty="0"/>
              <a:t>No se puede usar un ciclo</a:t>
            </a:r>
            <a:r>
              <a:rPr lang="es-MX" sz="2000" dirty="0"/>
              <a:t>: cada variable tiene un nombre distinto.</a:t>
            </a:r>
            <a:endParaRPr lang="es-MX" sz="2000" b="1" dirty="0"/>
          </a:p>
        </p:txBody>
      </p:sp>
      <p:sp>
        <p:nvSpPr>
          <p:cNvPr id="7" name="CuadroTexto 6">
            <a:extLst>
              <a:ext uri="{FF2B5EF4-FFF2-40B4-BE49-F238E27FC236}">
                <a16:creationId xmlns:a16="http://schemas.microsoft.com/office/drawing/2014/main" id="{41CE0D67-953B-4B33-BC21-F6E2079C93A0}"/>
              </a:ext>
            </a:extLst>
          </p:cNvPr>
          <p:cNvSpPr txBox="1"/>
          <p:nvPr/>
        </p:nvSpPr>
        <p:spPr>
          <a:xfrm>
            <a:off x="471471" y="1467969"/>
            <a:ext cx="4568588" cy="3046988"/>
          </a:xfrm>
          <a:prstGeom prst="rect">
            <a:avLst/>
          </a:prstGeom>
          <a:noFill/>
          <a:ln>
            <a:solidFill>
              <a:schemeClr val="tx1"/>
            </a:solidFill>
          </a:ln>
        </p:spPr>
        <p:txBody>
          <a:bodyPr wrap="square">
            <a:spAutoFit/>
          </a:bodyPr>
          <a:lstStyle/>
          <a:p>
            <a:r>
              <a:rPr lang="es-MX" sz="1200" dirty="0">
                <a:latin typeface="Consolas" panose="020B0609020204030204" pitchFamily="49" charset="0"/>
              </a:rPr>
              <a:t>nota1 = </a:t>
            </a:r>
            <a:r>
              <a:rPr lang="es-MX" sz="1200" dirty="0" err="1">
                <a:latin typeface="Consolas" panose="020B0609020204030204" pitchFamily="49" charset="0"/>
              </a:rPr>
              <a:t>float</a:t>
            </a:r>
            <a:r>
              <a:rPr lang="es-MX" sz="1200" dirty="0">
                <a:latin typeface="Consolas" panose="020B0609020204030204" pitchFamily="49" charset="0"/>
              </a:rPr>
              <a:t>(input("Nota 1: "))</a:t>
            </a:r>
          </a:p>
          <a:p>
            <a:r>
              <a:rPr lang="es-MX" sz="1200" dirty="0">
                <a:latin typeface="Consolas" panose="020B0609020204030204" pitchFamily="49" charset="0"/>
              </a:rPr>
              <a:t>nota2 = </a:t>
            </a:r>
            <a:r>
              <a:rPr lang="es-MX" sz="1200" dirty="0" err="1">
                <a:latin typeface="Consolas" panose="020B0609020204030204" pitchFamily="49" charset="0"/>
              </a:rPr>
              <a:t>float</a:t>
            </a:r>
            <a:r>
              <a:rPr lang="es-MX" sz="1200" dirty="0">
                <a:latin typeface="Consolas" panose="020B0609020204030204" pitchFamily="49" charset="0"/>
              </a:rPr>
              <a:t>(input("Nota 2: "))</a:t>
            </a:r>
          </a:p>
          <a:p>
            <a:r>
              <a:rPr lang="es-MX" sz="1200" dirty="0">
                <a:latin typeface="Consolas" panose="020B0609020204030204" pitchFamily="49" charset="0"/>
              </a:rPr>
              <a:t>nota3 = </a:t>
            </a:r>
            <a:r>
              <a:rPr lang="es-MX" sz="1200" dirty="0" err="1">
                <a:latin typeface="Consolas" panose="020B0609020204030204" pitchFamily="49" charset="0"/>
              </a:rPr>
              <a:t>float</a:t>
            </a:r>
            <a:r>
              <a:rPr lang="es-MX" sz="1200" dirty="0">
                <a:latin typeface="Consolas" panose="020B0609020204030204" pitchFamily="49" charset="0"/>
              </a:rPr>
              <a:t>(input("Nota 3: "))</a:t>
            </a:r>
          </a:p>
          <a:p>
            <a:r>
              <a:rPr lang="es-MX" sz="1200" dirty="0">
                <a:latin typeface="Consolas" panose="020B0609020204030204" pitchFamily="49" charset="0"/>
              </a:rPr>
              <a:t>nota4 = </a:t>
            </a:r>
            <a:r>
              <a:rPr lang="es-MX" sz="1200" dirty="0" err="1">
                <a:latin typeface="Consolas" panose="020B0609020204030204" pitchFamily="49" charset="0"/>
              </a:rPr>
              <a:t>float</a:t>
            </a:r>
            <a:r>
              <a:rPr lang="es-MX" sz="1200" dirty="0">
                <a:latin typeface="Consolas" panose="020B0609020204030204" pitchFamily="49" charset="0"/>
              </a:rPr>
              <a:t>(input("Nota 4: "))</a:t>
            </a:r>
          </a:p>
          <a:p>
            <a:r>
              <a:rPr lang="es-MX" sz="1200" dirty="0">
                <a:latin typeface="Consolas" panose="020B0609020204030204" pitchFamily="49" charset="0"/>
              </a:rPr>
              <a:t>promedio = (nota1 + nota2 + nota3 + nota4) / 4</a:t>
            </a:r>
          </a:p>
          <a:p>
            <a:endParaRPr lang="es-MX" sz="1200" dirty="0">
              <a:latin typeface="Consolas" panose="020B0609020204030204" pitchFamily="49" charset="0"/>
            </a:endParaRPr>
          </a:p>
          <a:p>
            <a:r>
              <a:rPr lang="es-MX" sz="1200" dirty="0">
                <a:latin typeface="Consolas" panose="020B0609020204030204" pitchFamily="49" charset="0"/>
              </a:rPr>
              <a:t>cantidad = 0</a:t>
            </a:r>
          </a:p>
          <a:p>
            <a:r>
              <a:rPr lang="es-MX" sz="1200" dirty="0" err="1">
                <a:latin typeface="Consolas" panose="020B0609020204030204" pitchFamily="49" charset="0"/>
              </a:rPr>
              <a:t>if</a:t>
            </a:r>
            <a:r>
              <a:rPr lang="es-MX" sz="1200" dirty="0">
                <a:latin typeface="Consolas" panose="020B0609020204030204" pitchFamily="49" charset="0"/>
              </a:rPr>
              <a:t> nota1 &gt; promedio:</a:t>
            </a:r>
          </a:p>
          <a:p>
            <a:r>
              <a:rPr lang="es-MX" sz="1200" dirty="0">
                <a:latin typeface="Consolas" panose="020B0609020204030204" pitchFamily="49" charset="0"/>
              </a:rPr>
              <a:t>    cantidad = cantidad + 1</a:t>
            </a:r>
          </a:p>
          <a:p>
            <a:r>
              <a:rPr lang="es-MX" sz="1200" dirty="0" err="1">
                <a:latin typeface="Consolas" panose="020B0609020204030204" pitchFamily="49" charset="0"/>
              </a:rPr>
              <a:t>if</a:t>
            </a:r>
            <a:r>
              <a:rPr lang="es-MX" sz="1200" dirty="0">
                <a:latin typeface="Consolas" panose="020B0609020204030204" pitchFamily="49" charset="0"/>
              </a:rPr>
              <a:t> nota2 &gt; promedio:</a:t>
            </a:r>
          </a:p>
          <a:p>
            <a:r>
              <a:rPr lang="es-MX" sz="1200" dirty="0">
                <a:latin typeface="Consolas" panose="020B0609020204030204" pitchFamily="49" charset="0"/>
              </a:rPr>
              <a:t>    cantidad = cantidad + 1</a:t>
            </a:r>
          </a:p>
          <a:p>
            <a:r>
              <a:rPr lang="es-MX" sz="1200" dirty="0" err="1">
                <a:latin typeface="Consolas" panose="020B0609020204030204" pitchFamily="49" charset="0"/>
              </a:rPr>
              <a:t>if</a:t>
            </a:r>
            <a:r>
              <a:rPr lang="es-MX" sz="1200" dirty="0">
                <a:latin typeface="Consolas" panose="020B0609020204030204" pitchFamily="49" charset="0"/>
              </a:rPr>
              <a:t> nota3 &gt; promedio:</a:t>
            </a:r>
          </a:p>
          <a:p>
            <a:r>
              <a:rPr lang="es-MX" sz="1200" dirty="0">
                <a:latin typeface="Consolas" panose="020B0609020204030204" pitchFamily="49" charset="0"/>
              </a:rPr>
              <a:t>    cantidad = cantidad + 1</a:t>
            </a:r>
          </a:p>
          <a:p>
            <a:r>
              <a:rPr lang="es-MX" sz="1200" dirty="0" err="1">
                <a:latin typeface="Consolas" panose="020B0609020204030204" pitchFamily="49" charset="0"/>
              </a:rPr>
              <a:t>if</a:t>
            </a:r>
            <a:r>
              <a:rPr lang="es-MX" sz="1200" dirty="0">
                <a:latin typeface="Consolas" panose="020B0609020204030204" pitchFamily="49" charset="0"/>
              </a:rPr>
              <a:t> nota4 &gt; promedio:</a:t>
            </a:r>
          </a:p>
          <a:p>
            <a:r>
              <a:rPr lang="es-MX" sz="1200" dirty="0">
                <a:latin typeface="Consolas" panose="020B0609020204030204" pitchFamily="49" charset="0"/>
              </a:rPr>
              <a:t>    cantidad = cantidad + 1</a:t>
            </a:r>
          </a:p>
          <a:p>
            <a:r>
              <a:rPr lang="es-MX" sz="1200" dirty="0">
                <a:latin typeface="Consolas" panose="020B0609020204030204" pitchFamily="49" charset="0"/>
              </a:rPr>
              <a:t>print("Notas mayores que el promedio:", cantidad)</a:t>
            </a:r>
            <a:endParaRPr lang="es-CO" sz="1200" dirty="0">
              <a:latin typeface="Consolas" panose="020B0609020204030204" pitchFamily="49" charset="0"/>
            </a:endParaRPr>
          </a:p>
        </p:txBody>
      </p:sp>
      <p:grpSp>
        <p:nvGrpSpPr>
          <p:cNvPr id="16" name="Grupo 15">
            <a:extLst>
              <a:ext uri="{FF2B5EF4-FFF2-40B4-BE49-F238E27FC236}">
                <a16:creationId xmlns:a16="http://schemas.microsoft.com/office/drawing/2014/main" id="{D78534C1-EADF-426B-92B5-AD3F99400C90}"/>
              </a:ext>
            </a:extLst>
          </p:cNvPr>
          <p:cNvGrpSpPr/>
          <p:nvPr/>
        </p:nvGrpSpPr>
        <p:grpSpPr>
          <a:xfrm>
            <a:off x="5441466" y="1383406"/>
            <a:ext cx="3231063" cy="3409024"/>
            <a:chOff x="5184342" y="1003043"/>
            <a:chExt cx="3231063" cy="3409024"/>
          </a:xfrm>
        </p:grpSpPr>
        <p:pic>
          <p:nvPicPr>
            <p:cNvPr id="5126" name="Picture 6" descr="THE SIMPSONS MILHOUSE VAN HOUTEN">
              <a:extLst>
                <a:ext uri="{FF2B5EF4-FFF2-40B4-BE49-F238E27FC236}">
                  <a16:creationId xmlns:a16="http://schemas.microsoft.com/office/drawing/2014/main" id="{26ECC2C2-042E-4A2A-9DC9-C17D5C61F54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56168" y="2999584"/>
              <a:ext cx="362676" cy="957095"/>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Lisa Simpson - Wikipedia">
              <a:extLst>
                <a:ext uri="{FF2B5EF4-FFF2-40B4-BE49-F238E27FC236}">
                  <a16:creationId xmlns:a16="http://schemas.microsoft.com/office/drawing/2014/main" id="{CB300537-AFC6-47CD-B984-70F72144167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30775" y="1294083"/>
              <a:ext cx="613462" cy="995944"/>
            </a:xfrm>
            <a:prstGeom prst="rect">
              <a:avLst/>
            </a:prstGeom>
            <a:noFill/>
            <a:extLst>
              <a:ext uri="{909E8E84-426E-40DD-AFC4-6F175D3DCCD1}">
                <a14:hiddenFill xmlns:a14="http://schemas.microsoft.com/office/drawing/2010/main">
                  <a:solidFill>
                    <a:srgbClr val="FFFFFF"/>
                  </a:solidFill>
                </a14:hiddenFill>
              </a:ext>
            </a:extLst>
          </p:spPr>
        </p:pic>
        <p:pic>
          <p:nvPicPr>
            <p:cNvPr id="5136" name="Picture 16" descr="Personajes Amigos De Nelson De Los Simpson">
              <a:extLst>
                <a:ext uri="{FF2B5EF4-FFF2-40B4-BE49-F238E27FC236}">
                  <a16:creationId xmlns:a16="http://schemas.microsoft.com/office/drawing/2014/main" id="{94BAEBAF-D02A-4677-87BD-3A8FA1F0EE9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45076" y="1003043"/>
              <a:ext cx="732797" cy="1197381"/>
            </a:xfrm>
            <a:prstGeom prst="rect">
              <a:avLst/>
            </a:prstGeom>
            <a:noFill/>
            <a:extLst>
              <a:ext uri="{909E8E84-426E-40DD-AFC4-6F175D3DCCD1}">
                <a14:hiddenFill xmlns:a14="http://schemas.microsoft.com/office/drawing/2010/main">
                  <a:solidFill>
                    <a:srgbClr val="FFFFFF"/>
                  </a:solidFill>
                </a14:hiddenFill>
              </a:ext>
            </a:extLst>
          </p:spPr>
        </p:pic>
        <p:pic>
          <p:nvPicPr>
            <p:cNvPr id="5138" name="Picture 18" descr="Bart Simpson - Wikipedia">
              <a:extLst>
                <a:ext uri="{FF2B5EF4-FFF2-40B4-BE49-F238E27FC236}">
                  <a16:creationId xmlns:a16="http://schemas.microsoft.com/office/drawing/2014/main" id="{CB6888E5-9CA0-4327-98D8-D7B1FDFCAC8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62007" y="2865465"/>
              <a:ext cx="803612" cy="1197382"/>
            </a:xfrm>
            <a:prstGeom prst="rect">
              <a:avLst/>
            </a:prstGeom>
            <a:noFill/>
            <a:extLst>
              <a:ext uri="{909E8E84-426E-40DD-AFC4-6F175D3DCCD1}">
                <a14:hiddenFill xmlns:a14="http://schemas.microsoft.com/office/drawing/2010/main">
                  <a:solidFill>
                    <a:srgbClr val="FFFFFF"/>
                  </a:solidFill>
                </a14:hiddenFill>
              </a:ext>
            </a:extLst>
          </p:spPr>
        </p:pic>
        <p:sp>
          <p:nvSpPr>
            <p:cNvPr id="14" name="CuadroTexto 13">
              <a:extLst>
                <a:ext uri="{FF2B5EF4-FFF2-40B4-BE49-F238E27FC236}">
                  <a16:creationId xmlns:a16="http://schemas.microsoft.com/office/drawing/2014/main" id="{53A21215-B051-4C6A-818A-5E60B78F7C74}"/>
                </a:ext>
              </a:extLst>
            </p:cNvPr>
            <p:cNvSpPr txBox="1"/>
            <p:nvPr/>
          </p:nvSpPr>
          <p:spPr>
            <a:xfrm>
              <a:off x="7671108" y="2353899"/>
              <a:ext cx="732797" cy="307777"/>
            </a:xfrm>
            <a:prstGeom prst="rect">
              <a:avLst/>
            </a:prstGeom>
            <a:solidFill>
              <a:schemeClr val="accent3">
                <a:lumMod val="20000"/>
                <a:lumOff val="80000"/>
              </a:schemeClr>
            </a:solidFill>
            <a:ln w="19050">
              <a:solidFill>
                <a:srgbClr val="0070C0"/>
              </a:solidFill>
            </a:ln>
          </p:spPr>
          <p:txBody>
            <a:bodyPr wrap="square" rtlCol="0">
              <a:spAutoFit/>
            </a:bodyPr>
            <a:lstStyle/>
            <a:p>
              <a:pPr algn="ctr"/>
              <a:r>
                <a:rPr lang="es-CO" sz="1400" b="1" dirty="0">
                  <a:latin typeface="Consolas" panose="020B0609020204030204" pitchFamily="49" charset="0"/>
                </a:rPr>
                <a:t>4.5</a:t>
              </a:r>
            </a:p>
          </p:txBody>
        </p:sp>
        <p:sp>
          <p:nvSpPr>
            <p:cNvPr id="19" name="CuadroTexto 18">
              <a:extLst>
                <a:ext uri="{FF2B5EF4-FFF2-40B4-BE49-F238E27FC236}">
                  <a16:creationId xmlns:a16="http://schemas.microsoft.com/office/drawing/2014/main" id="{A220A9E6-C278-45EB-9BB5-C221B1F28831}"/>
                </a:ext>
              </a:extLst>
            </p:cNvPr>
            <p:cNvSpPr txBox="1"/>
            <p:nvPr/>
          </p:nvSpPr>
          <p:spPr>
            <a:xfrm>
              <a:off x="5945076" y="4062847"/>
              <a:ext cx="732797" cy="307777"/>
            </a:xfrm>
            <a:prstGeom prst="rect">
              <a:avLst/>
            </a:prstGeom>
            <a:solidFill>
              <a:schemeClr val="accent3">
                <a:lumMod val="20000"/>
                <a:lumOff val="80000"/>
              </a:schemeClr>
            </a:solidFill>
            <a:ln w="19050">
              <a:solidFill>
                <a:srgbClr val="0070C0"/>
              </a:solidFill>
            </a:ln>
          </p:spPr>
          <p:txBody>
            <a:bodyPr wrap="square" rtlCol="0">
              <a:spAutoFit/>
            </a:bodyPr>
            <a:lstStyle/>
            <a:p>
              <a:pPr algn="ctr"/>
              <a:r>
                <a:rPr lang="es-CO" sz="1400" b="1" dirty="0">
                  <a:latin typeface="Consolas" panose="020B0609020204030204" pitchFamily="49" charset="0"/>
                </a:rPr>
                <a:t>2.0</a:t>
              </a:r>
            </a:p>
          </p:txBody>
        </p:sp>
        <p:sp>
          <p:nvSpPr>
            <p:cNvPr id="20" name="CuadroTexto 19">
              <a:extLst>
                <a:ext uri="{FF2B5EF4-FFF2-40B4-BE49-F238E27FC236}">
                  <a16:creationId xmlns:a16="http://schemas.microsoft.com/office/drawing/2014/main" id="{10921D35-0E45-48E6-894F-71A40E709A04}"/>
                </a:ext>
              </a:extLst>
            </p:cNvPr>
            <p:cNvSpPr txBox="1"/>
            <p:nvPr/>
          </p:nvSpPr>
          <p:spPr>
            <a:xfrm>
              <a:off x="5924953" y="2337879"/>
              <a:ext cx="732797" cy="307777"/>
            </a:xfrm>
            <a:prstGeom prst="rect">
              <a:avLst/>
            </a:prstGeom>
            <a:solidFill>
              <a:schemeClr val="accent3">
                <a:lumMod val="20000"/>
                <a:lumOff val="80000"/>
              </a:schemeClr>
            </a:solidFill>
            <a:ln w="19050">
              <a:solidFill>
                <a:srgbClr val="0070C0"/>
              </a:solidFill>
            </a:ln>
          </p:spPr>
          <p:txBody>
            <a:bodyPr wrap="square" rtlCol="0">
              <a:spAutoFit/>
            </a:bodyPr>
            <a:lstStyle/>
            <a:p>
              <a:pPr algn="ctr"/>
              <a:r>
                <a:rPr lang="es-CO" sz="1400" b="1" dirty="0">
                  <a:latin typeface="Consolas" panose="020B0609020204030204" pitchFamily="49" charset="0"/>
                </a:rPr>
                <a:t>3.0</a:t>
              </a:r>
            </a:p>
          </p:txBody>
        </p:sp>
        <p:sp>
          <p:nvSpPr>
            <p:cNvPr id="21" name="CuadroTexto 20">
              <a:extLst>
                <a:ext uri="{FF2B5EF4-FFF2-40B4-BE49-F238E27FC236}">
                  <a16:creationId xmlns:a16="http://schemas.microsoft.com/office/drawing/2014/main" id="{32F6FDCC-995F-4C07-B9D7-EEF07EBF4B76}"/>
                </a:ext>
              </a:extLst>
            </p:cNvPr>
            <p:cNvSpPr txBox="1"/>
            <p:nvPr/>
          </p:nvSpPr>
          <p:spPr>
            <a:xfrm>
              <a:off x="7682608" y="4078235"/>
              <a:ext cx="732797" cy="307777"/>
            </a:xfrm>
            <a:prstGeom prst="rect">
              <a:avLst/>
            </a:prstGeom>
            <a:solidFill>
              <a:schemeClr val="accent3">
                <a:lumMod val="20000"/>
                <a:lumOff val="80000"/>
              </a:schemeClr>
            </a:solidFill>
            <a:ln w="19050">
              <a:solidFill>
                <a:srgbClr val="0070C0"/>
              </a:solidFill>
            </a:ln>
          </p:spPr>
          <p:txBody>
            <a:bodyPr wrap="square" rtlCol="0">
              <a:spAutoFit/>
            </a:bodyPr>
            <a:lstStyle/>
            <a:p>
              <a:pPr algn="ctr"/>
              <a:r>
                <a:rPr lang="es-CO" sz="1400" b="1" dirty="0">
                  <a:latin typeface="Consolas" panose="020B0609020204030204" pitchFamily="49" charset="0"/>
                </a:rPr>
                <a:t>4.0</a:t>
              </a:r>
            </a:p>
          </p:txBody>
        </p:sp>
        <p:sp>
          <p:nvSpPr>
            <p:cNvPr id="15" name="CuadroTexto 14">
              <a:extLst>
                <a:ext uri="{FF2B5EF4-FFF2-40B4-BE49-F238E27FC236}">
                  <a16:creationId xmlns:a16="http://schemas.microsoft.com/office/drawing/2014/main" id="{7547C3BB-C407-4FC3-A856-BB6FBD960C39}"/>
                </a:ext>
              </a:extLst>
            </p:cNvPr>
            <p:cNvSpPr txBox="1"/>
            <p:nvPr/>
          </p:nvSpPr>
          <p:spPr>
            <a:xfrm>
              <a:off x="6935057" y="2353899"/>
              <a:ext cx="681597" cy="307777"/>
            </a:xfrm>
            <a:prstGeom prst="rect">
              <a:avLst/>
            </a:prstGeom>
            <a:noFill/>
          </p:spPr>
          <p:txBody>
            <a:bodyPr wrap="none" rtlCol="0">
              <a:spAutoFit/>
            </a:bodyPr>
            <a:lstStyle/>
            <a:p>
              <a:r>
                <a:rPr lang="es-CO" sz="1400" b="1" dirty="0">
                  <a:latin typeface="Consolas" panose="020B0609020204030204" pitchFamily="49" charset="0"/>
                </a:rPr>
                <a:t>nota2</a:t>
              </a:r>
            </a:p>
          </p:txBody>
        </p:sp>
        <p:sp>
          <p:nvSpPr>
            <p:cNvPr id="23" name="CuadroTexto 22">
              <a:extLst>
                <a:ext uri="{FF2B5EF4-FFF2-40B4-BE49-F238E27FC236}">
                  <a16:creationId xmlns:a16="http://schemas.microsoft.com/office/drawing/2014/main" id="{9E70C570-0927-4731-9328-713DE63E05D2}"/>
                </a:ext>
              </a:extLst>
            </p:cNvPr>
            <p:cNvSpPr txBox="1"/>
            <p:nvPr/>
          </p:nvSpPr>
          <p:spPr>
            <a:xfrm>
              <a:off x="5184342" y="2337548"/>
              <a:ext cx="681597" cy="307777"/>
            </a:xfrm>
            <a:prstGeom prst="rect">
              <a:avLst/>
            </a:prstGeom>
            <a:noFill/>
          </p:spPr>
          <p:txBody>
            <a:bodyPr wrap="none" rtlCol="0">
              <a:spAutoFit/>
            </a:bodyPr>
            <a:lstStyle/>
            <a:p>
              <a:r>
                <a:rPr lang="es-CO" sz="1400" b="1" dirty="0">
                  <a:latin typeface="Consolas" panose="020B0609020204030204" pitchFamily="49" charset="0"/>
                </a:rPr>
                <a:t>nota1</a:t>
              </a:r>
            </a:p>
          </p:txBody>
        </p:sp>
        <p:sp>
          <p:nvSpPr>
            <p:cNvPr id="24" name="CuadroTexto 23">
              <a:extLst>
                <a:ext uri="{FF2B5EF4-FFF2-40B4-BE49-F238E27FC236}">
                  <a16:creationId xmlns:a16="http://schemas.microsoft.com/office/drawing/2014/main" id="{6AEA968F-88B9-4C39-8E74-1032AD5EF053}"/>
                </a:ext>
              </a:extLst>
            </p:cNvPr>
            <p:cNvSpPr txBox="1"/>
            <p:nvPr/>
          </p:nvSpPr>
          <p:spPr>
            <a:xfrm>
              <a:off x="5243356" y="4093624"/>
              <a:ext cx="681597" cy="307777"/>
            </a:xfrm>
            <a:prstGeom prst="rect">
              <a:avLst/>
            </a:prstGeom>
            <a:noFill/>
          </p:spPr>
          <p:txBody>
            <a:bodyPr wrap="none" rtlCol="0">
              <a:spAutoFit/>
            </a:bodyPr>
            <a:lstStyle/>
            <a:p>
              <a:r>
                <a:rPr lang="es-CO" sz="1400" b="1" dirty="0">
                  <a:latin typeface="Consolas" panose="020B0609020204030204" pitchFamily="49" charset="0"/>
                </a:rPr>
                <a:t>nota3</a:t>
              </a:r>
            </a:p>
          </p:txBody>
        </p:sp>
        <p:sp>
          <p:nvSpPr>
            <p:cNvPr id="25" name="CuadroTexto 24">
              <a:extLst>
                <a:ext uri="{FF2B5EF4-FFF2-40B4-BE49-F238E27FC236}">
                  <a16:creationId xmlns:a16="http://schemas.microsoft.com/office/drawing/2014/main" id="{635FE899-D82A-4C8F-978F-749754576CE3}"/>
                </a:ext>
              </a:extLst>
            </p:cNvPr>
            <p:cNvSpPr txBox="1"/>
            <p:nvPr/>
          </p:nvSpPr>
          <p:spPr>
            <a:xfrm>
              <a:off x="6938791" y="4104290"/>
              <a:ext cx="681597" cy="307777"/>
            </a:xfrm>
            <a:prstGeom prst="rect">
              <a:avLst/>
            </a:prstGeom>
            <a:noFill/>
          </p:spPr>
          <p:txBody>
            <a:bodyPr wrap="none" rtlCol="0">
              <a:spAutoFit/>
            </a:bodyPr>
            <a:lstStyle/>
            <a:p>
              <a:r>
                <a:rPr lang="es-CO" sz="1400" b="1" dirty="0">
                  <a:latin typeface="Consolas" panose="020B0609020204030204" pitchFamily="49" charset="0"/>
                </a:rPr>
                <a:t>nota4</a:t>
              </a:r>
            </a:p>
          </p:txBody>
        </p:sp>
      </p:grpSp>
    </p:spTree>
    <p:extLst>
      <p:ext uri="{BB962C8B-B14F-4D97-AF65-F5344CB8AC3E}">
        <p14:creationId xmlns:p14="http://schemas.microsoft.com/office/powerpoint/2010/main" val="3018690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Otro caso: Los empleados del señor Burns</a:t>
            </a:r>
          </a:p>
        </p:txBody>
      </p:sp>
      <p:sp>
        <p:nvSpPr>
          <p:cNvPr id="11" name="CuadroTexto 10">
            <a:extLst>
              <a:ext uri="{FF2B5EF4-FFF2-40B4-BE49-F238E27FC236}">
                <a16:creationId xmlns:a16="http://schemas.microsoft.com/office/drawing/2014/main" id="{688FC587-B925-4872-9176-CBAE616BD677}"/>
              </a:ext>
            </a:extLst>
          </p:cNvPr>
          <p:cNvSpPr txBox="1"/>
          <p:nvPr/>
        </p:nvSpPr>
        <p:spPr>
          <a:xfrm>
            <a:off x="201960" y="6032787"/>
            <a:ext cx="8740080" cy="369332"/>
          </a:xfrm>
          <a:prstGeom prst="rect">
            <a:avLst/>
          </a:prstGeom>
          <a:solidFill>
            <a:schemeClr val="bg2"/>
          </a:solidFill>
        </p:spPr>
        <p:txBody>
          <a:bodyPr wrap="square">
            <a:spAutoFit/>
          </a:bodyPr>
          <a:lstStyle/>
          <a:p>
            <a:r>
              <a:rPr lang="es-MX" b="1" dirty="0"/>
              <a:t>Pregunta</a:t>
            </a:r>
            <a:r>
              <a:rPr lang="es-MX" dirty="0"/>
              <a:t>: ¿Existe una forma de guardar muchos valores bajo un solo nombre?</a:t>
            </a:r>
          </a:p>
        </p:txBody>
      </p:sp>
      <p:sp>
        <p:nvSpPr>
          <p:cNvPr id="6" name="12 Rectángulo">
            <a:extLst>
              <a:ext uri="{FF2B5EF4-FFF2-40B4-BE49-F238E27FC236}">
                <a16:creationId xmlns:a16="http://schemas.microsoft.com/office/drawing/2014/main" id="{A73AFEAC-B223-4D7F-B142-1E206A88BEB3}"/>
              </a:ext>
            </a:extLst>
          </p:cNvPr>
          <p:cNvSpPr/>
          <p:nvPr/>
        </p:nvSpPr>
        <p:spPr>
          <a:xfrm>
            <a:off x="107504" y="696753"/>
            <a:ext cx="8942040" cy="5324535"/>
          </a:xfrm>
          <a:prstGeom prst="rect">
            <a:avLst/>
          </a:prstGeom>
        </p:spPr>
        <p:txBody>
          <a:bodyPr wrap="square">
            <a:spAutoFit/>
          </a:bodyPr>
          <a:lstStyle/>
          <a:p>
            <a:r>
              <a:rPr lang="es-MX" sz="2000" b="1" dirty="0"/>
              <a:t>Problema</a:t>
            </a:r>
            <a:r>
              <a:rPr lang="es-MX" sz="2000" dirty="0"/>
              <a:t>: El señor Burns quiere un programa que registre la identificación de cada empleado de la planta nuclear de Springfield.</a:t>
            </a:r>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r>
              <a:rPr lang="es-MX" sz="2000" dirty="0"/>
              <a:t>Cada empleado nuevo obliga a crear una variable nueva y a cambiar el programa.</a:t>
            </a:r>
          </a:p>
          <a:p>
            <a:pPr marL="342900" indent="-342900">
              <a:buFont typeface="Arial" panose="020B0604020202020204" pitchFamily="34" charset="0"/>
              <a:buChar char="•"/>
            </a:pPr>
            <a:r>
              <a:rPr lang="es-MX" sz="2000" dirty="0"/>
              <a:t>¿Y si la planta tiene 500 empleados?</a:t>
            </a:r>
            <a:endParaRPr lang="es-MX" sz="2000" b="1" dirty="0"/>
          </a:p>
        </p:txBody>
      </p:sp>
      <p:sp>
        <p:nvSpPr>
          <p:cNvPr id="7" name="CuadroTexto 6">
            <a:extLst>
              <a:ext uri="{FF2B5EF4-FFF2-40B4-BE49-F238E27FC236}">
                <a16:creationId xmlns:a16="http://schemas.microsoft.com/office/drawing/2014/main" id="{41CE0D67-953B-4B33-BC21-F6E2079C93A0}"/>
              </a:ext>
            </a:extLst>
          </p:cNvPr>
          <p:cNvSpPr txBox="1"/>
          <p:nvPr/>
        </p:nvSpPr>
        <p:spPr>
          <a:xfrm>
            <a:off x="3071326" y="3900138"/>
            <a:ext cx="4568588" cy="1015663"/>
          </a:xfrm>
          <a:prstGeom prst="rect">
            <a:avLst/>
          </a:prstGeom>
          <a:noFill/>
          <a:ln>
            <a:solidFill>
              <a:schemeClr val="tx1"/>
            </a:solidFill>
          </a:ln>
        </p:spPr>
        <p:txBody>
          <a:bodyPr wrap="square">
            <a:spAutoFit/>
          </a:bodyPr>
          <a:lstStyle/>
          <a:p>
            <a:r>
              <a:rPr lang="es-MX" sz="1200" dirty="0" err="1">
                <a:latin typeface="Consolas" panose="020B0609020204030204" pitchFamily="49" charset="0"/>
              </a:rPr>
              <a:t>id_lenny</a:t>
            </a:r>
            <a:r>
              <a:rPr lang="es-MX" sz="1200" dirty="0">
                <a:latin typeface="Consolas" panose="020B0609020204030204" pitchFamily="49" charset="0"/>
              </a:rPr>
              <a:t> = "001"</a:t>
            </a:r>
          </a:p>
          <a:p>
            <a:r>
              <a:rPr lang="es-MX" sz="1200" dirty="0" err="1">
                <a:latin typeface="Consolas" panose="020B0609020204030204" pitchFamily="49" charset="0"/>
              </a:rPr>
              <a:t>id_carl</a:t>
            </a:r>
            <a:r>
              <a:rPr lang="es-MX" sz="1200" dirty="0">
                <a:latin typeface="Consolas" panose="020B0609020204030204" pitchFamily="49" charset="0"/>
              </a:rPr>
              <a:t> = "002"</a:t>
            </a:r>
          </a:p>
          <a:p>
            <a:r>
              <a:rPr lang="es-MX" sz="1200" dirty="0" err="1">
                <a:latin typeface="Consolas" panose="020B0609020204030204" pitchFamily="49" charset="0"/>
              </a:rPr>
              <a:t>id_homero</a:t>
            </a:r>
            <a:r>
              <a:rPr lang="es-MX" sz="1200" dirty="0">
                <a:latin typeface="Consolas" panose="020B0609020204030204" pitchFamily="49" charset="0"/>
              </a:rPr>
              <a:t> = "003"</a:t>
            </a:r>
          </a:p>
          <a:p>
            <a:r>
              <a:rPr lang="es-MX" sz="1200" dirty="0" err="1">
                <a:latin typeface="Consolas" panose="020B0609020204030204" pitchFamily="49" charset="0"/>
              </a:rPr>
              <a:t>id_barney</a:t>
            </a:r>
            <a:r>
              <a:rPr lang="es-MX" sz="1200" dirty="0">
                <a:latin typeface="Consolas" panose="020B0609020204030204" pitchFamily="49" charset="0"/>
              </a:rPr>
              <a:t> = "004"</a:t>
            </a:r>
          </a:p>
          <a:p>
            <a:r>
              <a:rPr lang="es-MX" sz="1200" dirty="0">
                <a:latin typeface="Consolas" panose="020B0609020204030204" pitchFamily="49" charset="0"/>
              </a:rPr>
              <a:t># ... y una variable más por cada empleado nuevo</a:t>
            </a:r>
            <a:endParaRPr lang="es-CO" sz="1200" dirty="0">
              <a:latin typeface="Consolas" panose="020B0609020204030204" pitchFamily="49" charset="0"/>
            </a:endParaRPr>
          </a:p>
        </p:txBody>
      </p:sp>
      <p:grpSp>
        <p:nvGrpSpPr>
          <p:cNvPr id="4" name="Grupo 3">
            <a:extLst>
              <a:ext uri="{FF2B5EF4-FFF2-40B4-BE49-F238E27FC236}">
                <a16:creationId xmlns:a16="http://schemas.microsoft.com/office/drawing/2014/main" id="{A3A4EA21-E3CC-43F7-B75C-8650CE49B477}"/>
              </a:ext>
            </a:extLst>
          </p:cNvPr>
          <p:cNvGrpSpPr/>
          <p:nvPr/>
        </p:nvGrpSpPr>
        <p:grpSpPr>
          <a:xfrm>
            <a:off x="4625092" y="2988944"/>
            <a:ext cx="1864664" cy="326050"/>
            <a:chOff x="4762136" y="2974627"/>
            <a:chExt cx="1864664" cy="326050"/>
          </a:xfrm>
        </p:grpSpPr>
        <p:sp>
          <p:nvSpPr>
            <p:cNvPr id="19" name="CuadroTexto 18">
              <a:extLst>
                <a:ext uri="{FF2B5EF4-FFF2-40B4-BE49-F238E27FC236}">
                  <a16:creationId xmlns:a16="http://schemas.microsoft.com/office/drawing/2014/main" id="{A220A9E6-C278-45EB-9BB5-C221B1F28831}"/>
                </a:ext>
              </a:extLst>
            </p:cNvPr>
            <p:cNvSpPr txBox="1"/>
            <p:nvPr/>
          </p:nvSpPr>
          <p:spPr>
            <a:xfrm>
              <a:off x="5894003" y="2974627"/>
              <a:ext cx="732797" cy="307777"/>
            </a:xfrm>
            <a:prstGeom prst="rect">
              <a:avLst/>
            </a:prstGeom>
            <a:solidFill>
              <a:schemeClr val="accent3">
                <a:lumMod val="20000"/>
                <a:lumOff val="80000"/>
              </a:schemeClr>
            </a:solidFill>
            <a:ln w="19050">
              <a:solidFill>
                <a:srgbClr val="0070C0"/>
              </a:solidFill>
            </a:ln>
          </p:spPr>
          <p:txBody>
            <a:bodyPr wrap="square" rtlCol="0">
              <a:spAutoFit/>
            </a:bodyPr>
            <a:lstStyle/>
            <a:p>
              <a:pPr algn="ctr"/>
              <a:r>
                <a:rPr lang="es-CO" sz="1400" b="1" dirty="0">
                  <a:latin typeface="Consolas" panose="020B0609020204030204" pitchFamily="49" charset="0"/>
                </a:rPr>
                <a:t>"003"</a:t>
              </a:r>
              <a:endParaRPr lang="es-CO" sz="1400" dirty="0">
                <a:latin typeface="Consolas" panose="020B0609020204030204" pitchFamily="49" charset="0"/>
              </a:endParaRPr>
            </a:p>
          </p:txBody>
        </p:sp>
        <p:sp>
          <p:nvSpPr>
            <p:cNvPr id="15" name="CuadroTexto 14">
              <a:extLst>
                <a:ext uri="{FF2B5EF4-FFF2-40B4-BE49-F238E27FC236}">
                  <a16:creationId xmlns:a16="http://schemas.microsoft.com/office/drawing/2014/main" id="{7547C3BB-C407-4FC3-A856-BB6FBD960C39}"/>
                </a:ext>
              </a:extLst>
            </p:cNvPr>
            <p:cNvSpPr txBox="1"/>
            <p:nvPr/>
          </p:nvSpPr>
          <p:spPr>
            <a:xfrm>
              <a:off x="4762136" y="2992900"/>
              <a:ext cx="1079142" cy="307777"/>
            </a:xfrm>
            <a:prstGeom prst="rect">
              <a:avLst/>
            </a:prstGeom>
            <a:noFill/>
          </p:spPr>
          <p:txBody>
            <a:bodyPr wrap="none" rtlCol="0">
              <a:spAutoFit/>
            </a:bodyPr>
            <a:lstStyle/>
            <a:p>
              <a:pPr algn="r"/>
              <a:r>
                <a:rPr lang="es-CO" sz="1400" b="1" dirty="0">
                  <a:latin typeface="Consolas" panose="020B0609020204030204" pitchFamily="49" charset="0"/>
                </a:rPr>
                <a:t>id_homero</a:t>
              </a:r>
            </a:p>
          </p:txBody>
        </p:sp>
      </p:grpSp>
      <p:grpSp>
        <p:nvGrpSpPr>
          <p:cNvPr id="2" name="Grupo 1">
            <a:extLst>
              <a:ext uri="{FF2B5EF4-FFF2-40B4-BE49-F238E27FC236}">
                <a16:creationId xmlns:a16="http://schemas.microsoft.com/office/drawing/2014/main" id="{872EA827-54CB-4D92-8694-7DC6EA2C095B}"/>
              </a:ext>
            </a:extLst>
          </p:cNvPr>
          <p:cNvGrpSpPr/>
          <p:nvPr/>
        </p:nvGrpSpPr>
        <p:grpSpPr>
          <a:xfrm>
            <a:off x="251520" y="3009714"/>
            <a:ext cx="1769872" cy="307778"/>
            <a:chOff x="5145002" y="2718241"/>
            <a:chExt cx="1769872" cy="307778"/>
          </a:xfrm>
        </p:grpSpPr>
        <p:sp>
          <p:nvSpPr>
            <p:cNvPr id="20" name="CuadroTexto 19">
              <a:extLst>
                <a:ext uri="{FF2B5EF4-FFF2-40B4-BE49-F238E27FC236}">
                  <a16:creationId xmlns:a16="http://schemas.microsoft.com/office/drawing/2014/main" id="{10921D35-0E45-48E6-894F-71A40E709A04}"/>
                </a:ext>
              </a:extLst>
            </p:cNvPr>
            <p:cNvSpPr txBox="1"/>
            <p:nvPr/>
          </p:nvSpPr>
          <p:spPr>
            <a:xfrm>
              <a:off x="6182077" y="2718242"/>
              <a:ext cx="732797" cy="307777"/>
            </a:xfrm>
            <a:prstGeom prst="rect">
              <a:avLst/>
            </a:prstGeom>
            <a:solidFill>
              <a:schemeClr val="accent3">
                <a:lumMod val="20000"/>
                <a:lumOff val="80000"/>
              </a:schemeClr>
            </a:solidFill>
            <a:ln w="19050">
              <a:solidFill>
                <a:srgbClr val="0070C0"/>
              </a:solidFill>
            </a:ln>
          </p:spPr>
          <p:txBody>
            <a:bodyPr wrap="square" rtlCol="0">
              <a:spAutoFit/>
            </a:bodyPr>
            <a:lstStyle/>
            <a:p>
              <a:pPr algn="ctr"/>
              <a:r>
                <a:rPr lang="es-CO" sz="1400" b="1" dirty="0">
                  <a:latin typeface="Consolas" panose="020B0609020204030204" pitchFamily="49" charset="0"/>
                </a:rPr>
                <a:t>"001"</a:t>
              </a:r>
            </a:p>
          </p:txBody>
        </p:sp>
        <p:sp>
          <p:nvSpPr>
            <p:cNvPr id="23" name="CuadroTexto 22">
              <a:extLst>
                <a:ext uri="{FF2B5EF4-FFF2-40B4-BE49-F238E27FC236}">
                  <a16:creationId xmlns:a16="http://schemas.microsoft.com/office/drawing/2014/main" id="{9E70C570-0927-4731-9328-713DE63E05D2}"/>
                </a:ext>
              </a:extLst>
            </p:cNvPr>
            <p:cNvSpPr txBox="1"/>
            <p:nvPr/>
          </p:nvSpPr>
          <p:spPr>
            <a:xfrm>
              <a:off x="5145002" y="2718241"/>
              <a:ext cx="979755" cy="307777"/>
            </a:xfrm>
            <a:prstGeom prst="rect">
              <a:avLst/>
            </a:prstGeom>
            <a:noFill/>
          </p:spPr>
          <p:txBody>
            <a:bodyPr wrap="none" rtlCol="0">
              <a:spAutoFit/>
            </a:bodyPr>
            <a:lstStyle/>
            <a:p>
              <a:pPr algn="r"/>
              <a:r>
                <a:rPr lang="es-CO" sz="1400" b="1" dirty="0">
                  <a:latin typeface="Consolas" panose="020B0609020204030204" pitchFamily="49" charset="0"/>
                </a:rPr>
                <a:t>id_lenny</a:t>
              </a:r>
            </a:p>
          </p:txBody>
        </p:sp>
      </p:grpSp>
      <p:grpSp>
        <p:nvGrpSpPr>
          <p:cNvPr id="3" name="Grupo 2">
            <a:extLst>
              <a:ext uri="{FF2B5EF4-FFF2-40B4-BE49-F238E27FC236}">
                <a16:creationId xmlns:a16="http://schemas.microsoft.com/office/drawing/2014/main" id="{CDF03D06-2C7F-48E2-863F-43531EFB447B}"/>
              </a:ext>
            </a:extLst>
          </p:cNvPr>
          <p:cNvGrpSpPr/>
          <p:nvPr/>
        </p:nvGrpSpPr>
        <p:grpSpPr>
          <a:xfrm>
            <a:off x="6918735" y="2988944"/>
            <a:ext cx="1876166" cy="307777"/>
            <a:chOff x="7024650" y="2962123"/>
            <a:chExt cx="1876166" cy="307777"/>
          </a:xfrm>
        </p:grpSpPr>
        <p:sp>
          <p:nvSpPr>
            <p:cNvPr id="21" name="CuadroTexto 20">
              <a:extLst>
                <a:ext uri="{FF2B5EF4-FFF2-40B4-BE49-F238E27FC236}">
                  <a16:creationId xmlns:a16="http://schemas.microsoft.com/office/drawing/2014/main" id="{32F6FDCC-995F-4C07-B9D7-EEF07EBF4B76}"/>
                </a:ext>
              </a:extLst>
            </p:cNvPr>
            <p:cNvSpPr txBox="1"/>
            <p:nvPr/>
          </p:nvSpPr>
          <p:spPr>
            <a:xfrm>
              <a:off x="8168019" y="2962123"/>
              <a:ext cx="732797" cy="307777"/>
            </a:xfrm>
            <a:prstGeom prst="rect">
              <a:avLst/>
            </a:prstGeom>
            <a:solidFill>
              <a:schemeClr val="accent3">
                <a:lumMod val="20000"/>
                <a:lumOff val="80000"/>
              </a:schemeClr>
            </a:solidFill>
            <a:ln w="19050">
              <a:solidFill>
                <a:srgbClr val="0070C0"/>
              </a:solidFill>
            </a:ln>
          </p:spPr>
          <p:txBody>
            <a:bodyPr wrap="square" rtlCol="0">
              <a:spAutoFit/>
            </a:bodyPr>
            <a:lstStyle/>
            <a:p>
              <a:pPr algn="ctr"/>
              <a:r>
                <a:rPr lang="es-CO" sz="1400" b="1" dirty="0">
                  <a:latin typeface="Consolas" panose="020B0609020204030204" pitchFamily="49" charset="0"/>
                </a:rPr>
                <a:t>"004"</a:t>
              </a:r>
              <a:endParaRPr lang="es-CO" sz="1400" dirty="0">
                <a:latin typeface="Consolas" panose="020B0609020204030204" pitchFamily="49" charset="0"/>
              </a:endParaRPr>
            </a:p>
          </p:txBody>
        </p:sp>
        <p:sp>
          <p:nvSpPr>
            <p:cNvPr id="25" name="CuadroTexto 24">
              <a:extLst>
                <a:ext uri="{FF2B5EF4-FFF2-40B4-BE49-F238E27FC236}">
                  <a16:creationId xmlns:a16="http://schemas.microsoft.com/office/drawing/2014/main" id="{635FE899-D82A-4C8F-978F-749754576CE3}"/>
                </a:ext>
              </a:extLst>
            </p:cNvPr>
            <p:cNvSpPr txBox="1"/>
            <p:nvPr/>
          </p:nvSpPr>
          <p:spPr>
            <a:xfrm>
              <a:off x="7024650" y="2962123"/>
              <a:ext cx="1079142" cy="307777"/>
            </a:xfrm>
            <a:prstGeom prst="rect">
              <a:avLst/>
            </a:prstGeom>
            <a:noFill/>
          </p:spPr>
          <p:txBody>
            <a:bodyPr wrap="none" rtlCol="0">
              <a:spAutoFit/>
            </a:bodyPr>
            <a:lstStyle/>
            <a:p>
              <a:pPr algn="r"/>
              <a:r>
                <a:rPr lang="es-CO" sz="1400" b="1" dirty="0">
                  <a:latin typeface="Consolas" panose="020B0609020204030204" pitchFamily="49" charset="0"/>
                </a:rPr>
                <a:t>id_barney</a:t>
              </a:r>
            </a:p>
          </p:txBody>
        </p:sp>
      </p:grpSp>
      <p:pic>
        <p:nvPicPr>
          <p:cNvPr id="29" name="Picture 2">
            <a:extLst>
              <a:ext uri="{FF2B5EF4-FFF2-40B4-BE49-F238E27FC236}">
                <a16:creationId xmlns:a16="http://schemas.microsoft.com/office/drawing/2014/main" id="{D8B0AA40-F01F-4435-8F55-3F154675CC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6247" y="1526619"/>
            <a:ext cx="1007110" cy="13453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 name="Picture 5">
            <a:extLst>
              <a:ext uri="{FF2B5EF4-FFF2-40B4-BE49-F238E27FC236}">
                <a16:creationId xmlns:a16="http://schemas.microsoft.com/office/drawing/2014/main" id="{22D74EB3-8711-448C-A22F-2A53C67788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96606" y="1566604"/>
            <a:ext cx="1002542" cy="1354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 name="Picture 3">
            <a:extLst>
              <a:ext uri="{FF2B5EF4-FFF2-40B4-BE49-F238E27FC236}">
                <a16:creationId xmlns:a16="http://schemas.microsoft.com/office/drawing/2014/main" id="{284C56CF-E489-4A76-970C-547BAEEF4D4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7112" y="1484784"/>
            <a:ext cx="581025" cy="138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4">
            <a:extLst>
              <a:ext uri="{FF2B5EF4-FFF2-40B4-BE49-F238E27FC236}">
                <a16:creationId xmlns:a16="http://schemas.microsoft.com/office/drawing/2014/main" id="{C15565FC-3DFF-4A07-95E9-ADF6C480B92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71326" y="1577842"/>
            <a:ext cx="529600" cy="1328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8" name="Grupo 7">
            <a:extLst>
              <a:ext uri="{FF2B5EF4-FFF2-40B4-BE49-F238E27FC236}">
                <a16:creationId xmlns:a16="http://schemas.microsoft.com/office/drawing/2014/main" id="{B668F505-3E1A-404E-853C-56522CD6DEC0}"/>
              </a:ext>
            </a:extLst>
          </p:cNvPr>
          <p:cNvGrpSpPr/>
          <p:nvPr/>
        </p:nvGrpSpPr>
        <p:grpSpPr>
          <a:xfrm>
            <a:off x="2414861" y="3009714"/>
            <a:ext cx="1707069" cy="312804"/>
            <a:chOff x="2662491" y="2974627"/>
            <a:chExt cx="1707069" cy="312804"/>
          </a:xfrm>
        </p:grpSpPr>
        <p:sp>
          <p:nvSpPr>
            <p:cNvPr id="14" name="CuadroTexto 13">
              <a:extLst>
                <a:ext uri="{FF2B5EF4-FFF2-40B4-BE49-F238E27FC236}">
                  <a16:creationId xmlns:a16="http://schemas.microsoft.com/office/drawing/2014/main" id="{53A21215-B051-4C6A-818A-5E60B78F7C74}"/>
                </a:ext>
              </a:extLst>
            </p:cNvPr>
            <p:cNvSpPr txBox="1"/>
            <p:nvPr/>
          </p:nvSpPr>
          <p:spPr>
            <a:xfrm>
              <a:off x="3636763" y="2979654"/>
              <a:ext cx="732797" cy="307777"/>
            </a:xfrm>
            <a:prstGeom prst="rect">
              <a:avLst/>
            </a:prstGeom>
            <a:solidFill>
              <a:schemeClr val="accent3">
                <a:lumMod val="20000"/>
                <a:lumOff val="80000"/>
              </a:schemeClr>
            </a:solidFill>
            <a:ln w="19050">
              <a:solidFill>
                <a:srgbClr val="0070C0"/>
              </a:solidFill>
            </a:ln>
          </p:spPr>
          <p:txBody>
            <a:bodyPr wrap="square" rtlCol="0">
              <a:spAutoFit/>
            </a:bodyPr>
            <a:lstStyle/>
            <a:p>
              <a:pPr algn="ctr"/>
              <a:r>
                <a:rPr lang="es-CO" sz="1400" b="1" dirty="0">
                  <a:latin typeface="Consolas" panose="020B0609020204030204" pitchFamily="49" charset="0"/>
                </a:rPr>
                <a:t>"002"</a:t>
              </a:r>
            </a:p>
          </p:txBody>
        </p:sp>
        <p:sp>
          <p:nvSpPr>
            <p:cNvPr id="33" name="CuadroTexto 32">
              <a:extLst>
                <a:ext uri="{FF2B5EF4-FFF2-40B4-BE49-F238E27FC236}">
                  <a16:creationId xmlns:a16="http://schemas.microsoft.com/office/drawing/2014/main" id="{BC44F245-AA84-43AA-944E-096D274F0B18}"/>
                </a:ext>
              </a:extLst>
            </p:cNvPr>
            <p:cNvSpPr txBox="1"/>
            <p:nvPr/>
          </p:nvSpPr>
          <p:spPr>
            <a:xfrm>
              <a:off x="2662491" y="2974627"/>
              <a:ext cx="916273" cy="307777"/>
            </a:xfrm>
            <a:prstGeom prst="rect">
              <a:avLst/>
            </a:prstGeom>
            <a:noFill/>
          </p:spPr>
          <p:txBody>
            <a:bodyPr wrap="square" rtlCol="0">
              <a:spAutoFit/>
            </a:bodyPr>
            <a:lstStyle/>
            <a:p>
              <a:pPr algn="r"/>
              <a:r>
                <a:rPr lang="es-CO" sz="1400" b="1" dirty="0">
                  <a:latin typeface="Consolas" panose="020B0609020204030204" pitchFamily="49" charset="0"/>
                </a:rPr>
                <a:t>id_carl</a:t>
              </a:r>
            </a:p>
          </p:txBody>
        </p:sp>
      </p:grpSp>
      <p:pic>
        <p:nvPicPr>
          <p:cNvPr id="34" name="Picture 5">
            <a:extLst>
              <a:ext uri="{FF2B5EF4-FFF2-40B4-BE49-F238E27FC236}">
                <a16:creationId xmlns:a16="http://schemas.microsoft.com/office/drawing/2014/main" id="{0711EAF0-EF20-4E62-87D4-52676D9E13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76532" y="3527909"/>
            <a:ext cx="1289720" cy="1612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869143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864096"/>
          </a:xfrm>
        </p:spPr>
        <p:txBody>
          <a:bodyPr>
            <a:normAutofit/>
          </a:bodyPr>
          <a:lstStyle/>
          <a:p>
            <a:r>
              <a:rPr lang="es-CO" dirty="0"/>
              <a:t>¿Qué es un arreglo?</a:t>
            </a:r>
          </a:p>
        </p:txBody>
      </p:sp>
      <p:sp>
        <p:nvSpPr>
          <p:cNvPr id="13" name="12 Rectángulo"/>
          <p:cNvSpPr/>
          <p:nvPr/>
        </p:nvSpPr>
        <p:spPr>
          <a:xfrm>
            <a:off x="229574" y="836712"/>
            <a:ext cx="8478688" cy="1631216"/>
          </a:xfrm>
          <a:prstGeom prst="rect">
            <a:avLst/>
          </a:prstGeom>
        </p:spPr>
        <p:txBody>
          <a:bodyPr wrap="square">
            <a:spAutoFit/>
          </a:bodyPr>
          <a:lstStyle/>
          <a:p>
            <a:r>
              <a:rPr lang="es-MX" sz="2000" dirty="0"/>
              <a:t>Un </a:t>
            </a:r>
            <a:r>
              <a:rPr lang="es-MX" sz="2000" b="1" dirty="0"/>
              <a:t>arreglo</a:t>
            </a:r>
            <a:r>
              <a:rPr lang="es-MX" sz="2000" dirty="0"/>
              <a:t> es una variable que guarda muchos valores bajo un solo nombre:</a:t>
            </a:r>
          </a:p>
          <a:p>
            <a:pPr marL="285750" indent="-285750">
              <a:buFont typeface="Arial" panose="020B0604020202020204" pitchFamily="34" charset="0"/>
              <a:buChar char="•"/>
            </a:pPr>
            <a:r>
              <a:rPr lang="es-MX" sz="2000" dirty="0"/>
              <a:t>Todos los valores son </a:t>
            </a:r>
            <a:r>
              <a:rPr lang="es-MX" sz="2000" b="1" dirty="0"/>
              <a:t>del mismo tipo</a:t>
            </a:r>
            <a:r>
              <a:rPr lang="es-MX" sz="2000" dirty="0"/>
              <a:t> (por ejemplo, todos reales).</a:t>
            </a:r>
          </a:p>
          <a:p>
            <a:pPr marL="285750" indent="-285750">
              <a:buFont typeface="Arial" panose="020B0604020202020204" pitchFamily="34" charset="0"/>
              <a:buChar char="•"/>
            </a:pPr>
            <a:r>
              <a:rPr lang="es-MX" sz="2000" dirty="0"/>
              <a:t>Se guardan en casillas </a:t>
            </a:r>
            <a:r>
              <a:rPr lang="es-MX" sz="2000" b="1" dirty="0"/>
              <a:t>contiguas</a:t>
            </a:r>
            <a:r>
              <a:rPr lang="es-MX" sz="2000" dirty="0"/>
              <a:t> (una al lado de la otra) en la memoria.</a:t>
            </a:r>
          </a:p>
          <a:p>
            <a:pPr marL="285750" indent="-285750">
              <a:buFont typeface="Arial" panose="020B0604020202020204" pitchFamily="34" charset="0"/>
              <a:buChar char="•"/>
            </a:pPr>
            <a:r>
              <a:rPr lang="es-MX" sz="2000" dirty="0"/>
              <a:t>Tiene un </a:t>
            </a:r>
            <a:r>
              <a:rPr lang="es-MX" sz="2000" b="1" dirty="0"/>
              <a:t>tamaño fijo</a:t>
            </a:r>
            <a:r>
              <a:rPr lang="es-MX" sz="2000" dirty="0"/>
              <a:t>: se decide al crearlo y no cambia.</a:t>
            </a:r>
          </a:p>
          <a:p>
            <a:pPr marL="285750" indent="-285750">
              <a:buFont typeface="Arial" panose="020B0604020202020204" pitchFamily="34" charset="0"/>
              <a:buChar char="•"/>
            </a:pPr>
            <a:r>
              <a:rPr lang="es-MX" sz="2000" dirty="0"/>
              <a:t>A cada valor se llega por su </a:t>
            </a:r>
            <a:r>
              <a:rPr lang="es-MX" sz="2000" b="1" dirty="0"/>
              <a:t>posición</a:t>
            </a:r>
            <a:r>
              <a:rPr lang="es-MX" sz="2000" dirty="0"/>
              <a:t> o </a:t>
            </a:r>
            <a:r>
              <a:rPr lang="es-MX" sz="2000" b="1" dirty="0"/>
              <a:t>índice</a:t>
            </a:r>
            <a:r>
              <a:rPr lang="es-MX" sz="2000" dirty="0"/>
              <a:t>.</a:t>
            </a:r>
          </a:p>
        </p:txBody>
      </p:sp>
      <p:pic>
        <p:nvPicPr>
          <p:cNvPr id="11" name="Imagen 10">
            <a:extLst>
              <a:ext uri="{FF2B5EF4-FFF2-40B4-BE49-F238E27FC236}">
                <a16:creationId xmlns:a16="http://schemas.microsoft.com/office/drawing/2014/main" id="{399BE7CB-86E8-441B-B333-CDF47726C343}"/>
              </a:ext>
            </a:extLst>
          </p:cNvPr>
          <p:cNvPicPr>
            <a:picLocks noChangeAspect="1"/>
          </p:cNvPicPr>
          <p:nvPr/>
        </p:nvPicPr>
        <p:blipFill>
          <a:blip r:embed="rId2"/>
          <a:stretch>
            <a:fillRect/>
          </a:stretch>
        </p:blipFill>
        <p:spPr>
          <a:xfrm>
            <a:off x="539552" y="2492896"/>
            <a:ext cx="7855831" cy="3677540"/>
          </a:xfrm>
          <a:prstGeom prst="rect">
            <a:avLst/>
          </a:prstGeom>
        </p:spPr>
      </p:pic>
      <p:sp>
        <p:nvSpPr>
          <p:cNvPr id="29" name="CuadroTexto 28">
            <a:extLst>
              <a:ext uri="{FF2B5EF4-FFF2-40B4-BE49-F238E27FC236}">
                <a16:creationId xmlns:a16="http://schemas.microsoft.com/office/drawing/2014/main" id="{B417B36D-AC17-42C7-BBDF-C09EA5A0072B}"/>
              </a:ext>
            </a:extLst>
          </p:cNvPr>
          <p:cNvSpPr txBox="1"/>
          <p:nvPr/>
        </p:nvSpPr>
        <p:spPr>
          <a:xfrm>
            <a:off x="500221" y="6372036"/>
            <a:ext cx="8143558" cy="369332"/>
          </a:xfrm>
          <a:prstGeom prst="rect">
            <a:avLst/>
          </a:prstGeom>
          <a:solidFill>
            <a:schemeClr val="accent2">
              <a:lumMod val="20000"/>
              <a:lumOff val="80000"/>
            </a:schemeClr>
          </a:solidFill>
        </p:spPr>
        <p:txBody>
          <a:bodyPr wrap="square">
            <a:spAutoFit/>
          </a:bodyPr>
          <a:lstStyle/>
          <a:p>
            <a:r>
              <a:rPr lang="es-CO" b="1" dirty="0"/>
              <a:t>En Python</a:t>
            </a:r>
            <a:r>
              <a:rPr lang="es-CO" dirty="0"/>
              <a:t>: un arreglo se escribe con una lista: </a:t>
            </a:r>
            <a:r>
              <a:rPr lang="es-CO" sz="1600" b="1" dirty="0">
                <a:latin typeface="Consolas" panose="020B0609020204030204" pitchFamily="49" charset="0"/>
              </a:rPr>
              <a:t>notas = [3.0, 4.5, 2.0, 4.0]</a:t>
            </a:r>
          </a:p>
        </p:txBody>
      </p:sp>
    </p:spTree>
    <p:extLst>
      <p:ext uri="{BB962C8B-B14F-4D97-AF65-F5344CB8AC3E}">
        <p14:creationId xmlns:p14="http://schemas.microsoft.com/office/powerpoint/2010/main" val="5421689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864096"/>
          </a:xfrm>
        </p:spPr>
        <p:txBody>
          <a:bodyPr>
            <a:normAutofit/>
          </a:bodyPr>
          <a:lstStyle/>
          <a:p>
            <a:r>
              <a:rPr lang="es-CO" dirty="0"/>
              <a:t>Partes de un arreglo</a:t>
            </a:r>
            <a:endParaRPr lang="es-CO" dirty="0">
              <a:highlight>
                <a:srgbClr val="FFFF00"/>
              </a:highlight>
            </a:endParaRPr>
          </a:p>
        </p:txBody>
      </p:sp>
      <p:sp>
        <p:nvSpPr>
          <p:cNvPr id="13" name="12 Rectángulo"/>
          <p:cNvSpPr/>
          <p:nvPr/>
        </p:nvSpPr>
        <p:spPr>
          <a:xfrm>
            <a:off x="251520" y="3789040"/>
            <a:ext cx="8496944" cy="1631216"/>
          </a:xfrm>
          <a:prstGeom prst="rect">
            <a:avLst/>
          </a:prstGeom>
        </p:spPr>
        <p:txBody>
          <a:bodyPr wrap="square">
            <a:spAutoFit/>
          </a:bodyPr>
          <a:lstStyle/>
          <a:p>
            <a:pPr marL="285750" indent="-285750">
              <a:buFont typeface="Arial" panose="020B0604020202020204" pitchFamily="34" charset="0"/>
              <a:buChar char="•"/>
            </a:pPr>
            <a:r>
              <a:rPr lang="es-MX" sz="2000" b="1" dirty="0"/>
              <a:t>Vocabulario</a:t>
            </a:r>
            <a:r>
              <a:rPr lang="es-MX" sz="2000" dirty="0"/>
              <a:t>:</a:t>
            </a:r>
          </a:p>
          <a:p>
            <a:pPr marL="742950" lvl="1" indent="-285750">
              <a:buFont typeface="Arial" panose="020B0604020202020204" pitchFamily="34" charset="0"/>
              <a:buChar char="•"/>
            </a:pPr>
            <a:r>
              <a:rPr lang="es-MX" sz="2000" b="1" dirty="0"/>
              <a:t>Identificador</a:t>
            </a:r>
            <a:r>
              <a:rPr lang="es-MX" sz="2000" dirty="0"/>
              <a:t>: el nombre del arreglo, </a:t>
            </a:r>
            <a:r>
              <a:rPr lang="es-MX" b="1" dirty="0">
                <a:latin typeface="Consolas" panose="020B0609020204030204" pitchFamily="49" charset="0"/>
              </a:rPr>
              <a:t>notas</a:t>
            </a:r>
            <a:r>
              <a:rPr lang="es-MX" sz="2000" dirty="0"/>
              <a:t>.</a:t>
            </a:r>
          </a:p>
          <a:p>
            <a:pPr marL="742950" lvl="1" indent="-285750">
              <a:buFont typeface="Arial" panose="020B0604020202020204" pitchFamily="34" charset="0"/>
              <a:buChar char="•"/>
            </a:pPr>
            <a:r>
              <a:rPr lang="es-MX" sz="2000" b="1" dirty="0"/>
              <a:t>Elemento</a:t>
            </a:r>
            <a:r>
              <a:rPr lang="es-MX" sz="2000" dirty="0"/>
              <a:t>: cada valor guardado, por ejemplo </a:t>
            </a:r>
            <a:r>
              <a:rPr lang="es-MX" b="1" dirty="0">
                <a:latin typeface="Consolas" panose="020B0609020204030204" pitchFamily="49" charset="0"/>
              </a:rPr>
              <a:t>4.5</a:t>
            </a:r>
            <a:r>
              <a:rPr lang="es-MX" sz="2000" dirty="0"/>
              <a:t>.</a:t>
            </a:r>
          </a:p>
          <a:p>
            <a:pPr marL="742950" lvl="1" indent="-285750">
              <a:buFont typeface="Arial" panose="020B0604020202020204" pitchFamily="34" charset="0"/>
              <a:buChar char="•"/>
            </a:pPr>
            <a:r>
              <a:rPr lang="es-MX" sz="2000" b="1" dirty="0"/>
              <a:t>Índice o posición</a:t>
            </a:r>
            <a:r>
              <a:rPr lang="es-MX" sz="2000" dirty="0"/>
              <a:t>: el número de la casilla, en </a:t>
            </a:r>
            <a:r>
              <a:rPr lang="es-MX" b="1" dirty="0">
                <a:latin typeface="Consolas" panose="020B0609020204030204" pitchFamily="49" charset="0"/>
              </a:rPr>
              <a:t>notas[1]</a:t>
            </a:r>
            <a:r>
              <a:rPr lang="es-MX" sz="2000" dirty="0"/>
              <a:t> el índice es </a:t>
            </a:r>
            <a:r>
              <a:rPr lang="es-MX" b="1" dirty="0">
                <a:latin typeface="Consolas" panose="020B0609020204030204" pitchFamily="49" charset="0"/>
              </a:rPr>
              <a:t>1</a:t>
            </a:r>
            <a:r>
              <a:rPr lang="es-MX" sz="2000" dirty="0"/>
              <a:t>.</a:t>
            </a:r>
          </a:p>
          <a:p>
            <a:pPr marL="742950" lvl="1" indent="-285750">
              <a:buFont typeface="Arial" panose="020B0604020202020204" pitchFamily="34" charset="0"/>
              <a:buChar char="•"/>
            </a:pPr>
            <a:r>
              <a:rPr lang="es-MX" sz="2000" b="1" dirty="0"/>
              <a:t>Tamaño</a:t>
            </a:r>
            <a:r>
              <a:rPr lang="es-MX" sz="2000" dirty="0"/>
              <a:t>: cuántas casillas tiene, </a:t>
            </a:r>
            <a:r>
              <a:rPr lang="es-MX" b="1" dirty="0">
                <a:latin typeface="Consolas" panose="020B0609020204030204" pitchFamily="49" charset="0"/>
              </a:rPr>
              <a:t>4</a:t>
            </a:r>
            <a:r>
              <a:rPr lang="es-MX" sz="2000" dirty="0"/>
              <a:t>.</a:t>
            </a:r>
            <a:endParaRPr lang="es-MX" sz="2000" b="1" dirty="0"/>
          </a:p>
        </p:txBody>
      </p:sp>
      <p:pic>
        <p:nvPicPr>
          <p:cNvPr id="6" name="Imagen 5">
            <a:extLst>
              <a:ext uri="{FF2B5EF4-FFF2-40B4-BE49-F238E27FC236}">
                <a16:creationId xmlns:a16="http://schemas.microsoft.com/office/drawing/2014/main" id="{33C23EF2-1F9E-445A-ADEC-AFAADA16F52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054" y="979822"/>
            <a:ext cx="8963892" cy="2576709"/>
          </a:xfrm>
          <a:prstGeom prst="rect">
            <a:avLst/>
          </a:prstGeom>
        </p:spPr>
      </p:pic>
      <p:sp>
        <p:nvSpPr>
          <p:cNvPr id="20" name="CuadroTexto 19">
            <a:extLst>
              <a:ext uri="{FF2B5EF4-FFF2-40B4-BE49-F238E27FC236}">
                <a16:creationId xmlns:a16="http://schemas.microsoft.com/office/drawing/2014/main" id="{22E40AA6-9565-4588-B72C-8F496E535F9E}"/>
              </a:ext>
            </a:extLst>
          </p:cNvPr>
          <p:cNvSpPr txBox="1"/>
          <p:nvPr/>
        </p:nvSpPr>
        <p:spPr>
          <a:xfrm>
            <a:off x="201960" y="5693512"/>
            <a:ext cx="8740080" cy="646331"/>
          </a:xfrm>
          <a:prstGeom prst="rect">
            <a:avLst/>
          </a:prstGeom>
          <a:solidFill>
            <a:schemeClr val="accent2">
              <a:lumMod val="20000"/>
              <a:lumOff val="80000"/>
            </a:schemeClr>
          </a:solidFill>
        </p:spPr>
        <p:txBody>
          <a:bodyPr wrap="square">
            <a:spAutoFit/>
          </a:bodyPr>
          <a:lstStyle/>
          <a:p>
            <a:r>
              <a:rPr lang="es-MX" b="1" dirty="0"/>
              <a:t>Observación</a:t>
            </a:r>
            <a:r>
              <a:rPr lang="es-MX" dirty="0"/>
              <a:t>: Las posiciones empiezan en </a:t>
            </a:r>
            <a:r>
              <a:rPr lang="es-MX" b="1" dirty="0">
                <a:latin typeface="Consolas" panose="020B0609020204030204" pitchFamily="49" charset="0"/>
              </a:rPr>
              <a:t>0</a:t>
            </a:r>
            <a:r>
              <a:rPr lang="es-MX" dirty="0"/>
              <a:t>. Si el arreglo tiene </a:t>
            </a:r>
            <a:r>
              <a:rPr lang="es-MX" b="1" dirty="0">
                <a:latin typeface="Consolas" panose="020B0609020204030204" pitchFamily="49" charset="0"/>
              </a:rPr>
              <a:t>N</a:t>
            </a:r>
            <a:r>
              <a:rPr lang="es-MX" dirty="0"/>
              <a:t> elementos, la última posición es </a:t>
            </a:r>
            <a:r>
              <a:rPr lang="es-MX" sz="1600" b="1" dirty="0">
                <a:latin typeface="Consolas" panose="020B0609020204030204" pitchFamily="49" charset="0"/>
              </a:rPr>
              <a:t>N - 1</a:t>
            </a:r>
            <a:r>
              <a:rPr lang="es-MX" dirty="0"/>
              <a:t>.</a:t>
            </a:r>
          </a:p>
        </p:txBody>
      </p:sp>
    </p:spTree>
    <p:extLst>
      <p:ext uri="{BB962C8B-B14F-4D97-AF65-F5344CB8AC3E}">
        <p14:creationId xmlns:p14="http://schemas.microsoft.com/office/powerpoint/2010/main" val="27357672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864096"/>
          </a:xfrm>
        </p:spPr>
        <p:txBody>
          <a:bodyPr>
            <a:normAutofit/>
          </a:bodyPr>
          <a:lstStyle/>
          <a:p>
            <a:r>
              <a:rPr lang="es-CO" dirty="0"/>
              <a:t>Una variable frente a un arreglo</a:t>
            </a:r>
            <a:endParaRPr lang="es-CO" dirty="0">
              <a:highlight>
                <a:srgbClr val="FFFF00"/>
              </a:highlight>
            </a:endParaRPr>
          </a:p>
        </p:txBody>
      </p:sp>
      <p:sp>
        <p:nvSpPr>
          <p:cNvPr id="13" name="12 Rectángulo"/>
          <p:cNvSpPr/>
          <p:nvPr/>
        </p:nvSpPr>
        <p:spPr>
          <a:xfrm>
            <a:off x="125760" y="977427"/>
            <a:ext cx="8892480" cy="3170099"/>
          </a:xfrm>
          <a:prstGeom prst="rect">
            <a:avLst/>
          </a:prstGeom>
        </p:spPr>
        <p:txBody>
          <a:bodyPr wrap="square">
            <a:spAutoFit/>
          </a:bodyPr>
          <a:lstStyle/>
          <a:p>
            <a:pPr marL="285750" indent="-285750">
              <a:buFont typeface="Arial" panose="020B0604020202020204" pitchFamily="34" charset="0"/>
              <a:buChar char="•"/>
            </a:pPr>
            <a:r>
              <a:rPr lang="es-MX" sz="2000" b="1" dirty="0"/>
              <a:t>Una variable guarda un valor</a:t>
            </a:r>
            <a:r>
              <a:rPr lang="es-MX" sz="2000" dirty="0"/>
              <a:t>: al leer una nota nueva, la anterior se pierde.</a:t>
            </a:r>
          </a:p>
          <a:p>
            <a:pPr marL="285750" indent="-285750">
              <a:buFont typeface="Arial" panose="020B0604020202020204" pitchFamily="34" charset="0"/>
              <a:buChar char="•"/>
            </a:pPr>
            <a:r>
              <a:rPr lang="es-MX" sz="2000" b="1" dirty="0"/>
              <a:t>Un arreglo guarda todos los valores</a:t>
            </a:r>
            <a:r>
              <a:rPr lang="es-MX" sz="2000" dirty="0"/>
              <a:t>: cada nota tiene su propia casilla.</a:t>
            </a:r>
          </a:p>
          <a:p>
            <a:pPr marL="285750" indent="-285750">
              <a:buFont typeface="Arial" panose="020B0604020202020204" pitchFamily="34" charset="0"/>
              <a:buChar char="•"/>
            </a:pPr>
            <a:endParaRPr lang="es-MX" sz="2000" b="1" dirty="0"/>
          </a:p>
          <a:p>
            <a:pPr marL="285750" indent="-285750">
              <a:buFont typeface="Arial" panose="020B0604020202020204" pitchFamily="34" charset="0"/>
              <a:buChar char="•"/>
            </a:pPr>
            <a:endParaRPr lang="es-MX" sz="2000" b="1" dirty="0"/>
          </a:p>
          <a:p>
            <a:pPr marL="285750" indent="-285750">
              <a:buFont typeface="Arial" panose="020B0604020202020204" pitchFamily="34" charset="0"/>
              <a:buChar char="•"/>
            </a:pPr>
            <a:endParaRPr lang="es-MX" sz="2000" b="1" dirty="0"/>
          </a:p>
          <a:p>
            <a:pPr marL="285750" indent="-285750">
              <a:buFont typeface="Arial" panose="020B0604020202020204" pitchFamily="34" charset="0"/>
              <a:buChar char="•"/>
            </a:pPr>
            <a:endParaRPr lang="es-MX" sz="2000" b="1" dirty="0"/>
          </a:p>
          <a:p>
            <a:pPr marL="285750" indent="-285750">
              <a:buFont typeface="Arial" panose="020B0604020202020204" pitchFamily="34" charset="0"/>
              <a:buChar char="•"/>
            </a:pPr>
            <a:endParaRPr lang="es-MX" sz="2000" b="1" dirty="0"/>
          </a:p>
          <a:p>
            <a:pPr marL="285750" indent="-285750">
              <a:buFont typeface="Arial" panose="020B0604020202020204" pitchFamily="34" charset="0"/>
              <a:buChar char="•"/>
            </a:pPr>
            <a:endParaRPr lang="es-MX" sz="2000" b="1" dirty="0"/>
          </a:p>
          <a:p>
            <a:pPr marL="285750" indent="-285750">
              <a:buFont typeface="Arial" panose="020B0604020202020204" pitchFamily="34" charset="0"/>
              <a:buChar char="•"/>
            </a:pPr>
            <a:endParaRPr lang="es-MX" sz="2000" b="1" dirty="0"/>
          </a:p>
          <a:p>
            <a:pPr marL="285750" indent="-285750">
              <a:buFont typeface="Arial" panose="020B0604020202020204" pitchFamily="34" charset="0"/>
              <a:buChar char="•"/>
            </a:pPr>
            <a:r>
              <a:rPr lang="es-MX" sz="2000" b="1" dirty="0"/>
              <a:t>Ventajas y desventajas de los arreglos</a:t>
            </a:r>
          </a:p>
        </p:txBody>
      </p:sp>
      <p:graphicFrame>
        <p:nvGraphicFramePr>
          <p:cNvPr id="6" name="Tabla 5">
            <a:extLst>
              <a:ext uri="{FF2B5EF4-FFF2-40B4-BE49-F238E27FC236}">
                <a16:creationId xmlns:a16="http://schemas.microsoft.com/office/drawing/2014/main" id="{1FA32A4B-89BB-4B70-9E7E-340AD54B48BC}"/>
              </a:ext>
            </a:extLst>
          </p:cNvPr>
          <p:cNvGraphicFramePr>
            <a:graphicFrameLocks noGrp="1"/>
          </p:cNvGraphicFramePr>
          <p:nvPr>
            <p:extLst>
              <p:ext uri="{D42A27DB-BD31-4B8C-83A1-F6EECF244321}">
                <p14:modId xmlns:p14="http://schemas.microsoft.com/office/powerpoint/2010/main" val="1516432236"/>
              </p:ext>
            </p:extLst>
          </p:nvPr>
        </p:nvGraphicFramePr>
        <p:xfrm>
          <a:off x="628650" y="4510523"/>
          <a:ext cx="7886700" cy="2011680"/>
        </p:xfrm>
        <a:graphic>
          <a:graphicData uri="http://schemas.openxmlformats.org/drawingml/2006/table">
            <a:tbl>
              <a:tblPr/>
              <a:tblGrid>
                <a:gridCol w="3943350">
                  <a:extLst>
                    <a:ext uri="{9D8B030D-6E8A-4147-A177-3AD203B41FA5}">
                      <a16:colId xmlns:a16="http://schemas.microsoft.com/office/drawing/2014/main" val="3028914014"/>
                    </a:ext>
                  </a:extLst>
                </a:gridCol>
                <a:gridCol w="3943350">
                  <a:extLst>
                    <a:ext uri="{9D8B030D-6E8A-4147-A177-3AD203B41FA5}">
                      <a16:colId xmlns:a16="http://schemas.microsoft.com/office/drawing/2014/main" val="3981203404"/>
                    </a:ext>
                  </a:extLst>
                </a:gridCol>
              </a:tblGrid>
              <a:tr h="0">
                <a:tc>
                  <a:txBody>
                    <a:bodyPr/>
                    <a:lstStyle/>
                    <a:p>
                      <a:r>
                        <a:rPr lang="es-CO" b="1"/>
                        <a:t>Ventajas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Limitaciones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34964257"/>
                  </a:ext>
                </a:extLst>
              </a:tr>
              <a:tr h="0">
                <a:tc>
                  <a:txBody>
                    <a:bodyPr/>
                    <a:lstStyle/>
                    <a:p>
                      <a:r>
                        <a:rPr lang="es-MX"/>
                        <a:t>Muchos datos bajo un solo nombre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a:t>El tamaño es fijo: no crece ni se encoge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8280118"/>
                  </a:ext>
                </a:extLst>
              </a:tr>
              <a:tr h="0">
                <a:tc>
                  <a:txBody>
                    <a:bodyPr/>
                    <a:lstStyle/>
                    <a:p>
                      <a:r>
                        <a:rPr lang="es-MX"/>
                        <a:t>Se recorren con un ciclo, sin importar cuántos datos sean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a:t>Todos los elementos deben ser del mismo tipo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146875"/>
                  </a:ext>
                </a:extLst>
              </a:tr>
              <a:tr h="0">
                <a:tc>
                  <a:txBody>
                    <a:bodyPr/>
                    <a:lstStyle/>
                    <a:p>
                      <a:r>
                        <a:rPr lang="es-MX" dirty="0"/>
                        <a:t>Se llega a cualquier elemento directamente por su posición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Un arreglo muy grande ocupa mucha memoria, aunque no se use completo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2442010"/>
                  </a:ext>
                </a:extLst>
              </a:tr>
            </a:tbl>
          </a:graphicData>
        </a:graphic>
      </p:graphicFrame>
      <p:pic>
        <p:nvPicPr>
          <p:cNvPr id="8" name="Imagen 7">
            <a:extLst>
              <a:ext uri="{FF2B5EF4-FFF2-40B4-BE49-F238E27FC236}">
                <a16:creationId xmlns:a16="http://schemas.microsoft.com/office/drawing/2014/main" id="{FAD93957-6528-4F09-9D84-27FF0B8158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9792" y="1921522"/>
            <a:ext cx="8044416" cy="1619754"/>
          </a:xfrm>
          <a:prstGeom prst="rect">
            <a:avLst/>
          </a:prstGeom>
        </p:spPr>
      </p:pic>
    </p:spTree>
    <p:extLst>
      <p:ext uri="{BB962C8B-B14F-4D97-AF65-F5344CB8AC3E}">
        <p14:creationId xmlns:p14="http://schemas.microsoft.com/office/powerpoint/2010/main" val="987624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864096"/>
          </a:xfrm>
        </p:spPr>
        <p:txBody>
          <a:bodyPr>
            <a:normAutofit/>
          </a:bodyPr>
          <a:lstStyle/>
          <a:p>
            <a:r>
              <a:rPr lang="es-CO" dirty="0"/>
              <a:t>La lista usada como arreglo</a:t>
            </a:r>
            <a:endParaRPr lang="es-CO" dirty="0">
              <a:solidFill>
                <a:schemeClr val="accent4"/>
              </a:solidFill>
              <a:highlight>
                <a:srgbClr val="FFFF00"/>
              </a:highlight>
              <a:latin typeface="Consolas" panose="020B0609020204030204" pitchFamily="49" charset="0"/>
            </a:endParaRPr>
          </a:p>
        </p:txBody>
      </p:sp>
      <p:sp>
        <p:nvSpPr>
          <p:cNvPr id="13" name="12 Rectángulo"/>
          <p:cNvSpPr/>
          <p:nvPr/>
        </p:nvSpPr>
        <p:spPr>
          <a:xfrm>
            <a:off x="35496" y="908720"/>
            <a:ext cx="8892480" cy="3477875"/>
          </a:xfrm>
          <a:prstGeom prst="rect">
            <a:avLst/>
          </a:prstGeom>
        </p:spPr>
        <p:txBody>
          <a:bodyPr wrap="square">
            <a:spAutoFit/>
          </a:bodyPr>
          <a:lstStyle/>
          <a:p>
            <a:pPr marL="285750" indent="-285750">
              <a:buFont typeface="Arial" panose="020B0604020202020204" pitchFamily="34" charset="0"/>
              <a:buChar char="•"/>
            </a:pPr>
            <a:r>
              <a:rPr lang="es-MX" sz="2000" dirty="0"/>
              <a:t>Ya conocen las listas de Python. Una lista puede hacer </a:t>
            </a:r>
            <a:r>
              <a:rPr lang="es-MX" sz="2000" b="1" dirty="0"/>
              <a:t>más cosas</a:t>
            </a:r>
            <a:r>
              <a:rPr lang="es-MX" sz="2000" dirty="0"/>
              <a:t> que un arreglo. En este curso, por ahora, se usa </a:t>
            </a:r>
            <a:r>
              <a:rPr lang="es-MX" sz="2000" b="1" dirty="0"/>
              <a:t>como arreglo</a:t>
            </a:r>
            <a:r>
              <a:rPr lang="es-MX" sz="2000" dirty="0"/>
              <a:t>, con estas reglas:</a:t>
            </a:r>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r>
              <a:rPr lang="es-MX" sz="2000" dirty="0"/>
              <a:t>Las listas traen sus propias operaciones, como </a:t>
            </a:r>
            <a:r>
              <a:rPr lang="es-MX" sz="1800" b="1" dirty="0">
                <a:latin typeface="Consolas" panose="020B0609020204030204" pitchFamily="49" charset="0"/>
              </a:rPr>
              <a:t>notas.append(5.0)</a:t>
            </a:r>
            <a:r>
              <a:rPr lang="es-MX" sz="2000" dirty="0"/>
              <a:t>. Son operaciones de objetos y se verán en </a:t>
            </a:r>
            <a:r>
              <a:rPr lang="es-MX" sz="2000" b="1" dirty="0"/>
              <a:t>Programación Orientada a Objetos</a:t>
            </a:r>
            <a:r>
              <a:rPr lang="es-MX" sz="2000" dirty="0"/>
              <a:t>.</a:t>
            </a:r>
          </a:p>
        </p:txBody>
      </p:sp>
      <p:sp>
        <p:nvSpPr>
          <p:cNvPr id="9" name="CuadroTexto 8">
            <a:extLst>
              <a:ext uri="{FF2B5EF4-FFF2-40B4-BE49-F238E27FC236}">
                <a16:creationId xmlns:a16="http://schemas.microsoft.com/office/drawing/2014/main" id="{D504B595-B2EE-4CC2-8807-AD51AFE47AF0}"/>
              </a:ext>
            </a:extLst>
          </p:cNvPr>
          <p:cNvSpPr txBox="1"/>
          <p:nvPr/>
        </p:nvSpPr>
        <p:spPr>
          <a:xfrm>
            <a:off x="2089668" y="5589240"/>
            <a:ext cx="1664486" cy="276999"/>
          </a:xfrm>
          <a:prstGeom prst="rect">
            <a:avLst/>
          </a:prstGeom>
          <a:noFill/>
        </p:spPr>
        <p:txBody>
          <a:bodyPr wrap="square" rtlCol="0">
            <a:spAutoFit/>
          </a:bodyPr>
          <a:lstStyle/>
          <a:p>
            <a:pPr algn="ctr"/>
            <a:r>
              <a:rPr lang="es-CO" sz="1200" dirty="0">
                <a:hlinkClick r:id="rId2"/>
              </a:rPr>
              <a:t>Link simulación</a:t>
            </a:r>
            <a:endParaRPr lang="es-CO" sz="1200" dirty="0"/>
          </a:p>
        </p:txBody>
      </p:sp>
      <p:sp>
        <p:nvSpPr>
          <p:cNvPr id="10" name="CuadroTexto 9">
            <a:extLst>
              <a:ext uri="{FF2B5EF4-FFF2-40B4-BE49-F238E27FC236}">
                <a16:creationId xmlns:a16="http://schemas.microsoft.com/office/drawing/2014/main" id="{9CED2DA4-4450-4E35-83D5-227E5ADBD70A}"/>
              </a:ext>
            </a:extLst>
          </p:cNvPr>
          <p:cNvSpPr txBox="1"/>
          <p:nvPr/>
        </p:nvSpPr>
        <p:spPr>
          <a:xfrm>
            <a:off x="291058" y="4725144"/>
            <a:ext cx="5112567" cy="830997"/>
          </a:xfrm>
          <a:prstGeom prst="rect">
            <a:avLst/>
          </a:prstGeom>
          <a:noFill/>
          <a:ln>
            <a:solidFill>
              <a:schemeClr val="tx1"/>
            </a:solidFill>
          </a:ln>
        </p:spPr>
        <p:txBody>
          <a:bodyPr wrap="square">
            <a:spAutoFit/>
          </a:bodyPr>
          <a:lstStyle/>
          <a:p>
            <a:r>
              <a:rPr lang="es-MX" sz="1200" dirty="0">
                <a:latin typeface="Consolas" panose="020B0609020204030204" pitchFamily="49" charset="0"/>
              </a:rPr>
              <a:t>N = 4</a:t>
            </a:r>
          </a:p>
          <a:p>
            <a:r>
              <a:rPr lang="es-MX" sz="1200" dirty="0">
                <a:latin typeface="Consolas" panose="020B0609020204030204" pitchFamily="49" charset="0"/>
              </a:rPr>
              <a:t>notas = [0.0] * N  # 4 casillas, todas en 0.0</a:t>
            </a:r>
          </a:p>
          <a:p>
            <a:r>
              <a:rPr lang="es-MX" sz="1200" dirty="0">
                <a:latin typeface="Consolas" panose="020B0609020204030204" pitchFamily="49" charset="0"/>
              </a:rPr>
              <a:t>notas[2] = 2.0     # se llega a la casilla por su posicion</a:t>
            </a:r>
          </a:p>
          <a:p>
            <a:r>
              <a:rPr lang="es-MX" sz="1200" dirty="0">
                <a:latin typeface="Consolas" panose="020B0609020204030204" pitchFamily="49" charset="0"/>
              </a:rPr>
              <a:t>print(notas)       # [0.0, 0.0, 2.0, 0.0]</a:t>
            </a:r>
            <a:endParaRPr lang="es-CO" sz="1200" dirty="0">
              <a:latin typeface="Consolas" panose="020B0609020204030204" pitchFamily="49" charset="0"/>
            </a:endParaRPr>
          </a:p>
        </p:txBody>
      </p:sp>
      <p:graphicFrame>
        <p:nvGraphicFramePr>
          <p:cNvPr id="2" name="Tabla 1">
            <a:extLst>
              <a:ext uri="{FF2B5EF4-FFF2-40B4-BE49-F238E27FC236}">
                <a16:creationId xmlns:a16="http://schemas.microsoft.com/office/drawing/2014/main" id="{3DA3E4D4-9828-43F8-8EFC-CCE052BD8A0B}"/>
              </a:ext>
            </a:extLst>
          </p:cNvPr>
          <p:cNvGraphicFramePr>
            <a:graphicFrameLocks noGrp="1"/>
          </p:cNvGraphicFramePr>
          <p:nvPr>
            <p:extLst>
              <p:ext uri="{D42A27DB-BD31-4B8C-83A1-F6EECF244321}">
                <p14:modId xmlns:p14="http://schemas.microsoft.com/office/powerpoint/2010/main" val="2749396407"/>
              </p:ext>
            </p:extLst>
          </p:nvPr>
        </p:nvGraphicFramePr>
        <p:xfrm>
          <a:off x="467543" y="1597536"/>
          <a:ext cx="8280920" cy="2011680"/>
        </p:xfrm>
        <a:graphic>
          <a:graphicData uri="http://schemas.openxmlformats.org/drawingml/2006/table">
            <a:tbl>
              <a:tblPr/>
              <a:tblGrid>
                <a:gridCol w="4140460">
                  <a:extLst>
                    <a:ext uri="{9D8B030D-6E8A-4147-A177-3AD203B41FA5}">
                      <a16:colId xmlns:a16="http://schemas.microsoft.com/office/drawing/2014/main" val="1267361648"/>
                    </a:ext>
                  </a:extLst>
                </a:gridCol>
                <a:gridCol w="4140460">
                  <a:extLst>
                    <a:ext uri="{9D8B030D-6E8A-4147-A177-3AD203B41FA5}">
                      <a16:colId xmlns:a16="http://schemas.microsoft.com/office/drawing/2014/main" val="2823612482"/>
                    </a:ext>
                  </a:extLst>
                </a:gridCol>
              </a:tblGrid>
              <a:tr h="0">
                <a:tc>
                  <a:txBody>
                    <a:bodyPr/>
                    <a:lstStyle/>
                    <a:p>
                      <a:r>
                        <a:rPr lang="es-MX" b="1" dirty="0"/>
                        <a:t>La lista en Python permite…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r>
                        <a:rPr lang="es-MX" b="1" dirty="0"/>
                        <a:t>Usada como arreglo, en este curso…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280706668"/>
                  </a:ext>
                </a:extLst>
              </a:tr>
              <a:tr h="0">
                <a:tc>
                  <a:txBody>
                    <a:bodyPr/>
                    <a:lstStyle/>
                    <a:p>
                      <a:r>
                        <a:rPr lang="es-MX" sz="1800" dirty="0"/>
                        <a:t>Crecer y encogerse: </a:t>
                      </a:r>
                      <a:r>
                        <a:rPr lang="es-MX" sz="1600" b="1" dirty="0" err="1">
                          <a:latin typeface="Consolas" panose="020B0609020204030204" pitchFamily="49" charset="0"/>
                        </a:rPr>
                        <a:t>append</a:t>
                      </a:r>
                      <a:r>
                        <a:rPr lang="es-MX" sz="1600" b="1" dirty="0">
                          <a:latin typeface="Consolas" panose="020B0609020204030204" pitchFamily="49" charset="0"/>
                        </a:rPr>
                        <a:t>()</a:t>
                      </a:r>
                      <a:r>
                        <a:rPr lang="es-MX" sz="1800" dirty="0"/>
                        <a:t>, </a:t>
                      </a:r>
                      <a:r>
                        <a:rPr lang="es-MX" sz="1600" b="1" dirty="0" err="1">
                          <a:latin typeface="Consolas" panose="020B0609020204030204" pitchFamily="49" charset="0"/>
                        </a:rPr>
                        <a:t>remove</a:t>
                      </a:r>
                      <a:r>
                        <a:rPr lang="es-MX" sz="1600" b="1" dirty="0">
                          <a:latin typeface="Consolas" panose="020B0609020204030204" pitchFamily="49" charset="0"/>
                        </a:rPr>
                        <a:t>()</a:t>
                      </a:r>
                      <a:endParaRPr lang="es-MX" sz="1800" b="1"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800" b="1" dirty="0"/>
                        <a:t>Tamaño fijo</a:t>
                      </a:r>
                      <a:r>
                        <a:rPr lang="es-MX" sz="1800" dirty="0"/>
                        <a:t>: se crea con </a:t>
                      </a:r>
                      <a:r>
                        <a:rPr lang="es-MX" sz="1600" b="1" dirty="0">
                          <a:latin typeface="Consolas" panose="020B0609020204030204" pitchFamily="49" charset="0"/>
                        </a:rPr>
                        <a:t>[0.0] * N</a:t>
                      </a:r>
                      <a:r>
                        <a:rPr lang="es-MX" sz="1800" dirty="0"/>
                        <a:t> y no cambia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2737812"/>
                  </a:ext>
                </a:extLst>
              </a:tr>
              <a:tr h="0">
                <a:tc>
                  <a:txBody>
                    <a:bodyPr/>
                    <a:lstStyle/>
                    <a:p>
                      <a:r>
                        <a:rPr lang="es-MX" sz="1800" dirty="0"/>
                        <a:t>Mezclar tipos: </a:t>
                      </a:r>
                      <a:r>
                        <a:rPr lang="es-MX" sz="1600" b="1" dirty="0">
                          <a:latin typeface="Consolas" panose="020B0609020204030204" pitchFamily="49" charset="0"/>
                        </a:rPr>
                        <a:t>[1, "oso", 2.5, True]</a:t>
                      </a:r>
                      <a:endParaRPr lang="es-MX" sz="1800" b="1"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800" b="1" dirty="0"/>
                        <a:t>Un solo tipo</a:t>
                      </a:r>
                      <a:r>
                        <a:rPr lang="es-MX" sz="1800" dirty="0"/>
                        <a:t>: todos reales, todos enteros, etc.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2092004"/>
                  </a:ext>
                </a:extLst>
              </a:tr>
              <a:tr h="0">
                <a:tc>
                  <a:txBody>
                    <a:bodyPr/>
                    <a:lstStyle/>
                    <a:p>
                      <a:r>
                        <a:rPr lang="es-CO" sz="1800" dirty="0"/>
                        <a:t>Índices negativos: </a:t>
                      </a:r>
                      <a:r>
                        <a:rPr lang="es-CO" sz="1600" b="1" dirty="0">
                          <a:latin typeface="Consolas" panose="020B0609020204030204" pitchFamily="49" charset="0"/>
                        </a:rPr>
                        <a:t>notas[-1]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800" b="1" dirty="0"/>
                        <a:t>Acceso por posición</a:t>
                      </a:r>
                      <a:r>
                        <a:rPr lang="es-MX" sz="1800" dirty="0"/>
                        <a:t> de </a:t>
                      </a:r>
                      <a:r>
                        <a:rPr lang="es-MX" sz="1600" b="1" dirty="0">
                          <a:latin typeface="Consolas" panose="020B0609020204030204" pitchFamily="49" charset="0"/>
                        </a:rPr>
                        <a:t>0</a:t>
                      </a:r>
                      <a:r>
                        <a:rPr lang="es-MX" sz="1800" dirty="0"/>
                        <a:t> a </a:t>
                      </a:r>
                      <a:r>
                        <a:rPr lang="es-MX" sz="1600" b="1" dirty="0">
                          <a:latin typeface="Consolas" panose="020B0609020204030204" pitchFamily="49" charset="0"/>
                        </a:rPr>
                        <a:t>N - 1</a:t>
                      </a:r>
                      <a:endParaRPr lang="es-MX" sz="1800" b="1"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7690901"/>
                  </a:ext>
                </a:extLst>
              </a:tr>
            </a:tbl>
          </a:graphicData>
        </a:graphic>
      </p:graphicFrame>
      <p:pic>
        <p:nvPicPr>
          <p:cNvPr id="4" name="Imagen 3">
            <a:extLst>
              <a:ext uri="{FF2B5EF4-FFF2-40B4-BE49-F238E27FC236}">
                <a16:creationId xmlns:a16="http://schemas.microsoft.com/office/drawing/2014/main" id="{C6135ED3-1B09-4353-92C9-016FC788D72D}"/>
              </a:ext>
            </a:extLst>
          </p:cNvPr>
          <p:cNvPicPr>
            <a:picLocks noChangeAspect="1"/>
          </p:cNvPicPr>
          <p:nvPr/>
        </p:nvPicPr>
        <p:blipFill>
          <a:blip r:embed="rId3"/>
          <a:stretch>
            <a:fillRect/>
          </a:stretch>
        </p:blipFill>
        <p:spPr>
          <a:xfrm>
            <a:off x="5571198" y="4476145"/>
            <a:ext cx="3038475" cy="1666875"/>
          </a:xfrm>
          <a:prstGeom prst="rect">
            <a:avLst/>
          </a:prstGeom>
        </p:spPr>
      </p:pic>
      <p:sp>
        <p:nvSpPr>
          <p:cNvPr id="17" name="CuadroTexto 16">
            <a:extLst>
              <a:ext uri="{FF2B5EF4-FFF2-40B4-BE49-F238E27FC236}">
                <a16:creationId xmlns:a16="http://schemas.microsoft.com/office/drawing/2014/main" id="{29092068-5AEA-45F5-9F17-6633FAE0C021}"/>
              </a:ext>
            </a:extLst>
          </p:cNvPr>
          <p:cNvSpPr txBox="1"/>
          <p:nvPr/>
        </p:nvSpPr>
        <p:spPr>
          <a:xfrm>
            <a:off x="116" y="6199514"/>
            <a:ext cx="9143999" cy="646331"/>
          </a:xfrm>
          <a:prstGeom prst="rect">
            <a:avLst/>
          </a:prstGeom>
          <a:solidFill>
            <a:schemeClr val="accent2">
              <a:lumMod val="20000"/>
              <a:lumOff val="80000"/>
            </a:schemeClr>
          </a:solidFill>
        </p:spPr>
        <p:txBody>
          <a:bodyPr wrap="square">
            <a:spAutoFit/>
          </a:bodyPr>
          <a:lstStyle/>
          <a:p>
            <a:r>
              <a:rPr lang="es-CO" b="1" dirty="0"/>
              <a:t>Idea clave</a:t>
            </a:r>
            <a:r>
              <a:rPr lang="es-CO" dirty="0"/>
              <a:t>: En Python el arreglo se escribe con una lista, pero la disciplina del arreglo la pone el programador.</a:t>
            </a:r>
          </a:p>
        </p:txBody>
      </p:sp>
    </p:spTree>
    <p:extLst>
      <p:ext uri="{BB962C8B-B14F-4D97-AF65-F5344CB8AC3E}">
        <p14:creationId xmlns:p14="http://schemas.microsoft.com/office/powerpoint/2010/main" val="4533458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Crear un arreglo</a:t>
            </a:r>
            <a:endParaRPr lang="es-CO" sz="3600" dirty="0"/>
          </a:p>
        </p:txBody>
      </p:sp>
      <p:sp>
        <p:nvSpPr>
          <p:cNvPr id="13" name="12 Rectángulo"/>
          <p:cNvSpPr/>
          <p:nvPr/>
        </p:nvSpPr>
        <p:spPr>
          <a:xfrm>
            <a:off x="110836" y="5157192"/>
            <a:ext cx="8874240" cy="1631216"/>
          </a:xfrm>
          <a:prstGeom prst="rect">
            <a:avLst/>
          </a:prstGeom>
        </p:spPr>
        <p:txBody>
          <a:bodyPr wrap="square">
            <a:spAutoFit/>
          </a:bodyPr>
          <a:lstStyle/>
          <a:p>
            <a:pPr marL="342900" indent="-342900" rtl="0">
              <a:buFont typeface="Arial" panose="020B0604020202020204" pitchFamily="34" charset="0"/>
              <a:buChar char="•"/>
            </a:pPr>
            <a:r>
              <a:rPr lang="es-MX" b="1" dirty="0">
                <a:latin typeface="Consolas" panose="020B0609020204030204" pitchFamily="49" charset="0"/>
              </a:rPr>
              <a:t>Arreglo(N)</a:t>
            </a:r>
            <a:r>
              <a:rPr lang="es-MX" sz="2000" dirty="0"/>
              <a:t> crea un arreglo con </a:t>
            </a:r>
            <a:r>
              <a:rPr lang="es-MX" b="1" dirty="0">
                <a:latin typeface="Consolas" panose="020B0609020204030204" pitchFamily="49" charset="0"/>
              </a:rPr>
              <a:t>N</a:t>
            </a:r>
            <a:r>
              <a:rPr lang="es-MX" sz="2000" dirty="0"/>
              <a:t> casillas. El tamaño se fija al crearlo.</a:t>
            </a:r>
          </a:p>
          <a:p>
            <a:pPr marL="342900" indent="-342900" rtl="0">
              <a:buFont typeface="Arial" panose="020B0604020202020204" pitchFamily="34" charset="0"/>
              <a:buChar char="•"/>
            </a:pPr>
            <a:r>
              <a:rPr lang="es-MX" sz="2000" dirty="0"/>
              <a:t>En Python cada casilla necesita un valor inicial. Por eso </a:t>
            </a:r>
            <a:r>
              <a:rPr lang="es-MX" b="1" dirty="0">
                <a:latin typeface="Consolas" panose="020B0609020204030204" pitchFamily="49" charset="0"/>
              </a:rPr>
              <a:t>Arreglo(N)</a:t>
            </a:r>
            <a:r>
              <a:rPr lang="es-MX" sz="2000" dirty="0"/>
              <a:t> se escribe </a:t>
            </a:r>
            <a:r>
              <a:rPr lang="es-MX" b="1" dirty="0">
                <a:latin typeface="Consolas" panose="020B0609020204030204" pitchFamily="49" charset="0"/>
              </a:rPr>
              <a:t>[0.0] * N</a:t>
            </a:r>
            <a:r>
              <a:rPr lang="es-MX" sz="2000" dirty="0"/>
              <a:t>: el operador </a:t>
            </a:r>
            <a:r>
              <a:rPr lang="es-MX" b="1" dirty="0">
                <a:latin typeface="Consolas" panose="020B0609020204030204" pitchFamily="49" charset="0"/>
              </a:rPr>
              <a:t>*</a:t>
            </a:r>
            <a:r>
              <a:rPr lang="es-MX" sz="2000" dirty="0"/>
              <a:t> repite el valor y forma una lista con </a:t>
            </a:r>
            <a:r>
              <a:rPr lang="es-MX" b="1" dirty="0">
                <a:latin typeface="Consolas" panose="020B0609020204030204" pitchFamily="49" charset="0"/>
              </a:rPr>
              <a:t>N</a:t>
            </a:r>
            <a:r>
              <a:rPr lang="es-MX" sz="2000" dirty="0"/>
              <a:t> ceros. </a:t>
            </a:r>
          </a:p>
          <a:p>
            <a:pPr marL="342900" indent="-342900" rtl="0">
              <a:buFont typeface="Arial" panose="020B0604020202020204" pitchFamily="34" charset="0"/>
              <a:buChar char="•"/>
            </a:pPr>
            <a:r>
              <a:rPr lang="es-MX" sz="2000" dirty="0"/>
              <a:t>Si ya se conocen los valores, se crea e inicializa a la vez, escribiéndolos entre corchetes. El primer valor queda en la posición </a:t>
            </a:r>
            <a:r>
              <a:rPr lang="es-MX" b="1" dirty="0">
                <a:latin typeface="Consolas" panose="020B0609020204030204" pitchFamily="49" charset="0"/>
              </a:rPr>
              <a:t>0</a:t>
            </a:r>
            <a:r>
              <a:rPr lang="es-MX" sz="2000" dirty="0"/>
              <a:t>.</a:t>
            </a:r>
          </a:p>
        </p:txBody>
      </p:sp>
      <p:graphicFrame>
        <p:nvGraphicFramePr>
          <p:cNvPr id="11" name="Tabla 10">
            <a:extLst>
              <a:ext uri="{FF2B5EF4-FFF2-40B4-BE49-F238E27FC236}">
                <a16:creationId xmlns:a16="http://schemas.microsoft.com/office/drawing/2014/main" id="{36E3886F-DB63-4A15-9BBA-5DCDDE7E9119}"/>
              </a:ext>
            </a:extLst>
          </p:cNvPr>
          <p:cNvGraphicFramePr>
            <a:graphicFrameLocks noGrp="1"/>
          </p:cNvGraphicFramePr>
          <p:nvPr>
            <p:extLst>
              <p:ext uri="{D42A27DB-BD31-4B8C-83A1-F6EECF244321}">
                <p14:modId xmlns:p14="http://schemas.microsoft.com/office/powerpoint/2010/main" val="2523360463"/>
              </p:ext>
            </p:extLst>
          </p:nvPr>
        </p:nvGraphicFramePr>
        <p:xfrm>
          <a:off x="438992" y="837084"/>
          <a:ext cx="8517533" cy="3078480"/>
        </p:xfrm>
        <a:graphic>
          <a:graphicData uri="http://schemas.openxmlformats.org/drawingml/2006/table">
            <a:tbl>
              <a:tblPr/>
              <a:tblGrid>
                <a:gridCol w="1872208">
                  <a:extLst>
                    <a:ext uri="{9D8B030D-6E8A-4147-A177-3AD203B41FA5}">
                      <a16:colId xmlns:a16="http://schemas.microsoft.com/office/drawing/2014/main" val="2043642934"/>
                    </a:ext>
                  </a:extLst>
                </a:gridCol>
                <a:gridCol w="3312368">
                  <a:extLst>
                    <a:ext uri="{9D8B030D-6E8A-4147-A177-3AD203B41FA5}">
                      <a16:colId xmlns:a16="http://schemas.microsoft.com/office/drawing/2014/main" val="520412853"/>
                    </a:ext>
                  </a:extLst>
                </a:gridCol>
                <a:gridCol w="3332957">
                  <a:extLst>
                    <a:ext uri="{9D8B030D-6E8A-4147-A177-3AD203B41FA5}">
                      <a16:colId xmlns:a16="http://schemas.microsoft.com/office/drawing/2014/main" val="3711841022"/>
                    </a:ext>
                  </a:extLst>
                </a:gridCol>
              </a:tblGrid>
              <a:tr h="345194">
                <a:tc>
                  <a:txBody>
                    <a:bodyPr/>
                    <a:lstStyle/>
                    <a:p>
                      <a:r>
                        <a:rPr lang="es-CO" b="1"/>
                        <a:t>Qué se hace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745903460"/>
                  </a:ext>
                </a:extLst>
              </a:tr>
              <a:tr h="345194">
                <a:tc>
                  <a:txBody>
                    <a:bodyPr/>
                    <a:lstStyle/>
                    <a:p>
                      <a:r>
                        <a:rPr lang="es-CO" b="1" dirty="0"/>
                        <a:t>Definir el tamaño</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dirty="0">
                          <a:latin typeface="Consolas" panose="020B0609020204030204" pitchFamily="49" charset="0"/>
                        </a:rPr>
                        <a:t>N =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a:latin typeface="Consolas" panose="020B0609020204030204" pitchFamily="49" charset="0"/>
                        </a:rPr>
                        <a:t>N =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3483969"/>
                  </a:ext>
                </a:extLst>
              </a:tr>
              <a:tr h="604089">
                <a:tc>
                  <a:txBody>
                    <a:bodyPr/>
                    <a:lstStyle/>
                    <a:p>
                      <a:r>
                        <a:rPr lang="es-MX" b="1"/>
                        <a:t>Crear</a:t>
                      </a:r>
                      <a:r>
                        <a:rPr lang="es-MX"/>
                        <a:t> el arreglo con N casillas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dirty="0">
                          <a:latin typeface="Consolas" panose="020B0609020204030204" pitchFamily="49" charset="0"/>
                        </a:rPr>
                        <a:t>notas = Arreglo(N)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a:latin typeface="Consolas" panose="020B0609020204030204" pitchFamily="49" charset="0"/>
                        </a:rPr>
                        <a:t>notas = [0.0] *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9057102"/>
                  </a:ext>
                </a:extLst>
              </a:tr>
              <a:tr h="1006815">
                <a:tc>
                  <a:txBody>
                    <a:bodyPr/>
                    <a:lstStyle/>
                    <a:p>
                      <a:r>
                        <a:rPr lang="es-CO" b="1"/>
                        <a:t>Inicializar</a:t>
                      </a:r>
                      <a:r>
                        <a:rPr lang="es-CO"/>
                        <a:t> elemento por elemento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dirty="0">
                          <a:latin typeface="Consolas" panose="020B0609020204030204" pitchFamily="49" charset="0"/>
                        </a:rPr>
                        <a:t>notas[0] = 3.0</a:t>
                      </a:r>
                      <a:br>
                        <a:rPr lang="es-CO" sz="1600" b="1" dirty="0">
                          <a:latin typeface="Consolas" panose="020B0609020204030204" pitchFamily="49" charset="0"/>
                        </a:rPr>
                      </a:br>
                      <a:r>
                        <a:rPr lang="es-CO" sz="1600" b="1" dirty="0">
                          <a:latin typeface="Consolas" panose="020B0609020204030204" pitchFamily="49" charset="0"/>
                        </a:rPr>
                        <a:t>notas[1] = 4.5</a:t>
                      </a:r>
                      <a:br>
                        <a:rPr lang="es-CO" sz="1600" b="1" dirty="0">
                          <a:latin typeface="Consolas" panose="020B0609020204030204" pitchFamily="49" charset="0"/>
                        </a:rPr>
                      </a:br>
                      <a:r>
                        <a:rPr lang="es-CO" sz="1600" b="1" dirty="0">
                          <a:latin typeface="Consolas" panose="020B0609020204030204" pitchFamily="49" charset="0"/>
                        </a:rPr>
                        <a:t>notas[2] = 2.0</a:t>
                      </a:r>
                      <a:br>
                        <a:rPr lang="es-CO" sz="1600" b="1" dirty="0">
                          <a:latin typeface="Consolas" panose="020B0609020204030204" pitchFamily="49" charset="0"/>
                        </a:rPr>
                      </a:br>
                      <a:r>
                        <a:rPr lang="es-CO" sz="1600" b="1" dirty="0">
                          <a:latin typeface="Consolas" panose="020B0609020204030204" pitchFamily="49" charset="0"/>
                        </a:rPr>
                        <a:t>notas[3] =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dirty="0">
                          <a:latin typeface="Consolas" panose="020B0609020204030204" pitchFamily="49" charset="0"/>
                        </a:rPr>
                        <a:t>notas[0] = 3.0</a:t>
                      </a:r>
                      <a:br>
                        <a:rPr lang="es-CO" sz="1600" b="1" dirty="0">
                          <a:latin typeface="Consolas" panose="020B0609020204030204" pitchFamily="49" charset="0"/>
                        </a:rPr>
                      </a:br>
                      <a:r>
                        <a:rPr lang="es-CO" sz="1600" b="1" dirty="0">
                          <a:latin typeface="Consolas" panose="020B0609020204030204" pitchFamily="49" charset="0"/>
                        </a:rPr>
                        <a:t>notas[1] = 4.5</a:t>
                      </a:r>
                      <a:br>
                        <a:rPr lang="es-CO" sz="1600" b="1" dirty="0">
                          <a:latin typeface="Consolas" panose="020B0609020204030204" pitchFamily="49" charset="0"/>
                        </a:rPr>
                      </a:br>
                      <a:r>
                        <a:rPr lang="es-CO" sz="1600" b="1" dirty="0">
                          <a:latin typeface="Consolas" panose="020B0609020204030204" pitchFamily="49" charset="0"/>
                        </a:rPr>
                        <a:t>notas[2] = 2.0</a:t>
                      </a:r>
                      <a:br>
                        <a:rPr lang="es-CO" sz="1600" b="1" dirty="0">
                          <a:latin typeface="Consolas" panose="020B0609020204030204" pitchFamily="49" charset="0"/>
                        </a:rPr>
                      </a:br>
                      <a:r>
                        <a:rPr lang="es-CO" sz="1600" b="1" dirty="0">
                          <a:latin typeface="Consolas" panose="020B0609020204030204" pitchFamily="49" charset="0"/>
                        </a:rPr>
                        <a:t>notas[3] =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0579100"/>
                  </a:ext>
                </a:extLst>
              </a:tr>
              <a:tr h="604089">
                <a:tc>
                  <a:txBody>
                    <a:bodyPr/>
                    <a:lstStyle/>
                    <a:p>
                      <a:r>
                        <a:rPr lang="es-MX" b="1" dirty="0"/>
                        <a:t>Crear e inicializar</a:t>
                      </a:r>
                      <a:r>
                        <a:rPr lang="es-MX" dirty="0"/>
                        <a:t> a la vez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a:latin typeface="Consolas" panose="020B0609020204030204" pitchFamily="49" charset="0"/>
                        </a:rPr>
                        <a:t>notas = [3.0, 4.5, 2.0,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dirty="0">
                          <a:latin typeface="Consolas" panose="020B0609020204030204" pitchFamily="49" charset="0"/>
                        </a:rPr>
                        <a:t>notas = [3.0, 4.5, 2.0,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9073164"/>
                  </a:ext>
                </a:extLst>
              </a:tr>
            </a:tbl>
          </a:graphicData>
        </a:graphic>
      </p:graphicFrame>
      <p:pic>
        <p:nvPicPr>
          <p:cNvPr id="27" name="Imagen 26">
            <a:extLst>
              <a:ext uri="{FF2B5EF4-FFF2-40B4-BE49-F238E27FC236}">
                <a16:creationId xmlns:a16="http://schemas.microsoft.com/office/drawing/2014/main" id="{77DB8326-B98C-444C-849D-C38EB66BCF5F}"/>
              </a:ext>
            </a:extLst>
          </p:cNvPr>
          <p:cNvPicPr>
            <a:picLocks noChangeAspect="1"/>
          </p:cNvPicPr>
          <p:nvPr/>
        </p:nvPicPr>
        <p:blipFill>
          <a:blip r:embed="rId2"/>
          <a:stretch>
            <a:fillRect/>
          </a:stretch>
        </p:blipFill>
        <p:spPr>
          <a:xfrm>
            <a:off x="1763688" y="3949582"/>
            <a:ext cx="5328592" cy="1135602"/>
          </a:xfrm>
          <a:prstGeom prst="rect">
            <a:avLst/>
          </a:prstGeom>
        </p:spPr>
      </p:pic>
    </p:spTree>
    <p:extLst>
      <p:ext uri="{BB962C8B-B14F-4D97-AF65-F5344CB8AC3E}">
        <p14:creationId xmlns:p14="http://schemas.microsoft.com/office/powerpoint/2010/main" val="6658983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CO" dirty="0"/>
              <a:t>Guardar y leer valores</a:t>
            </a:r>
          </a:p>
        </p:txBody>
      </p:sp>
      <p:sp>
        <p:nvSpPr>
          <p:cNvPr id="13" name="12 Rectángulo"/>
          <p:cNvSpPr/>
          <p:nvPr/>
        </p:nvSpPr>
        <p:spPr>
          <a:xfrm>
            <a:off x="145314" y="5445224"/>
            <a:ext cx="8747165" cy="1200329"/>
          </a:xfrm>
          <a:prstGeom prst="rect">
            <a:avLst/>
          </a:prstGeom>
        </p:spPr>
        <p:txBody>
          <a:bodyPr wrap="square">
            <a:spAutoFit/>
          </a:bodyPr>
          <a:lstStyle/>
          <a:p>
            <a:pPr marL="342900" indent="-342900" rtl="0">
              <a:buFont typeface="Arial" panose="020B0604020202020204" pitchFamily="34" charset="0"/>
              <a:buChar char="•"/>
            </a:pPr>
            <a:r>
              <a:rPr lang="es-MX" b="1" dirty="0"/>
              <a:t>Cada casilla se usa como una variable normal</a:t>
            </a:r>
            <a:r>
              <a:rPr lang="es-MX" dirty="0"/>
              <a:t>: se lee, se muestra, se copia y se usa en expresiones.</a:t>
            </a:r>
          </a:p>
          <a:p>
            <a:pPr marL="342900" indent="-342900" rtl="0">
              <a:buFont typeface="Arial" panose="020B0604020202020204" pitchFamily="34" charset="0"/>
              <a:buChar char="•"/>
            </a:pPr>
            <a:r>
              <a:rPr lang="es-MX" dirty="0"/>
              <a:t>Solo cambian </a:t>
            </a:r>
            <a:r>
              <a:rPr lang="es-MX" sz="1600" b="1" dirty="0">
                <a:latin typeface="Consolas" panose="020B0609020204030204" pitchFamily="49" charset="0"/>
              </a:rPr>
              <a:t>Leer/Escribir</a:t>
            </a:r>
            <a:r>
              <a:rPr lang="es-MX" dirty="0"/>
              <a:t> por </a:t>
            </a:r>
            <a:r>
              <a:rPr lang="es-MX" sz="1600" b="1" dirty="0">
                <a:latin typeface="Consolas" panose="020B0609020204030204" pitchFamily="49" charset="0"/>
              </a:rPr>
              <a:t>input()/print()</a:t>
            </a:r>
            <a:r>
              <a:rPr lang="es-MX" dirty="0"/>
              <a:t>. El acceso con corchetes </a:t>
            </a:r>
            <a:r>
              <a:rPr lang="es-MX" sz="1600" b="1" dirty="0">
                <a:latin typeface="Consolas" panose="020B0609020204030204" pitchFamily="49" charset="0"/>
              </a:rPr>
              <a:t>notas[i]</a:t>
            </a:r>
            <a:r>
              <a:rPr lang="es-MX" dirty="0"/>
              <a:t> es igual en los dos.</a:t>
            </a:r>
          </a:p>
        </p:txBody>
      </p:sp>
      <p:graphicFrame>
        <p:nvGraphicFramePr>
          <p:cNvPr id="4" name="Tabla 3">
            <a:extLst>
              <a:ext uri="{FF2B5EF4-FFF2-40B4-BE49-F238E27FC236}">
                <a16:creationId xmlns:a16="http://schemas.microsoft.com/office/drawing/2014/main" id="{C849E2C4-5C7A-45A2-B678-E6F5BB3040A6}"/>
              </a:ext>
            </a:extLst>
          </p:cNvPr>
          <p:cNvGraphicFramePr>
            <a:graphicFrameLocks noGrp="1"/>
          </p:cNvGraphicFramePr>
          <p:nvPr>
            <p:extLst>
              <p:ext uri="{D42A27DB-BD31-4B8C-83A1-F6EECF244321}">
                <p14:modId xmlns:p14="http://schemas.microsoft.com/office/powerpoint/2010/main" val="695641961"/>
              </p:ext>
            </p:extLst>
          </p:nvPr>
        </p:nvGraphicFramePr>
        <p:xfrm>
          <a:off x="251520" y="836712"/>
          <a:ext cx="8608554" cy="2682240"/>
        </p:xfrm>
        <a:graphic>
          <a:graphicData uri="http://schemas.openxmlformats.org/drawingml/2006/table">
            <a:tbl>
              <a:tblPr/>
              <a:tblGrid>
                <a:gridCol w="2304256">
                  <a:extLst>
                    <a:ext uri="{9D8B030D-6E8A-4147-A177-3AD203B41FA5}">
                      <a16:colId xmlns:a16="http://schemas.microsoft.com/office/drawing/2014/main" val="3752216682"/>
                    </a:ext>
                  </a:extLst>
                </a:gridCol>
                <a:gridCol w="2808312">
                  <a:extLst>
                    <a:ext uri="{9D8B030D-6E8A-4147-A177-3AD203B41FA5}">
                      <a16:colId xmlns:a16="http://schemas.microsoft.com/office/drawing/2014/main" val="3169562292"/>
                    </a:ext>
                  </a:extLst>
                </a:gridCol>
                <a:gridCol w="3495986">
                  <a:extLst>
                    <a:ext uri="{9D8B030D-6E8A-4147-A177-3AD203B41FA5}">
                      <a16:colId xmlns:a16="http://schemas.microsoft.com/office/drawing/2014/main" val="3382507934"/>
                    </a:ext>
                  </a:extLst>
                </a:gridCol>
              </a:tblGrid>
              <a:tr h="294578">
                <a:tc>
                  <a:txBody>
                    <a:bodyPr/>
                    <a:lstStyle/>
                    <a:p>
                      <a:r>
                        <a:rPr lang="es-CO" b="1" dirty="0"/>
                        <a:t>Qué se hace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3835453"/>
                  </a:ext>
                </a:extLst>
              </a:tr>
              <a:tr h="466415">
                <a:tc>
                  <a:txBody>
                    <a:bodyPr/>
                    <a:lstStyle/>
                    <a:p>
                      <a:r>
                        <a:rPr lang="es-MX" sz="1600" b="1" dirty="0"/>
                        <a:t>Leer</a:t>
                      </a:r>
                      <a:r>
                        <a:rPr lang="es-MX" sz="1600" dirty="0"/>
                        <a:t> desde el teclado y guardar en una casilla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Leer(notas[1])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notas[1] = float(input("Nota: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0090620"/>
                  </a:ext>
                </a:extLst>
              </a:tr>
              <a:tr h="466415">
                <a:tc>
                  <a:txBody>
                    <a:bodyPr/>
                    <a:lstStyle/>
                    <a:p>
                      <a:r>
                        <a:rPr lang="es-MX" sz="1600" b="1" dirty="0"/>
                        <a:t>Mostrar</a:t>
                      </a:r>
                      <a:r>
                        <a:rPr lang="es-MX" sz="1600" dirty="0"/>
                        <a:t> el valor de una casilla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Escribir(notas[0])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print(notas[0])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7309415"/>
                  </a:ext>
                </a:extLst>
              </a:tr>
              <a:tr h="466415">
                <a:tc>
                  <a:txBody>
                    <a:bodyPr/>
                    <a:lstStyle/>
                    <a:p>
                      <a:r>
                        <a:rPr lang="es-MX" sz="1600" b="1"/>
                        <a:t>Copiar</a:t>
                      </a:r>
                      <a:r>
                        <a:rPr lang="es-MX" sz="1600"/>
                        <a:t> el valor de una casilla a una variable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primera = notas[0]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primera = notas[0]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5368886"/>
                  </a:ext>
                </a:extLst>
              </a:tr>
              <a:tr h="466415">
                <a:tc>
                  <a:txBody>
                    <a:bodyPr/>
                    <a:lstStyle/>
                    <a:p>
                      <a:r>
                        <a:rPr lang="es-MX" sz="1600" b="1" dirty="0"/>
                        <a:t>Usar</a:t>
                      </a:r>
                      <a:r>
                        <a:rPr lang="es-MX" sz="1600" dirty="0"/>
                        <a:t> las casillas en una expresión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suma = notas[0] + notas[1]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suma = notas[0] + notas[1]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0960726"/>
                  </a:ext>
                </a:extLst>
              </a:tr>
            </a:tbl>
          </a:graphicData>
        </a:graphic>
      </p:graphicFrame>
      <p:pic>
        <p:nvPicPr>
          <p:cNvPr id="7" name="Imagen 6">
            <a:extLst>
              <a:ext uri="{FF2B5EF4-FFF2-40B4-BE49-F238E27FC236}">
                <a16:creationId xmlns:a16="http://schemas.microsoft.com/office/drawing/2014/main" id="{44FC717A-2406-4FAA-ACAD-707F9C8E17A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455" y="3650197"/>
            <a:ext cx="4452601" cy="1673606"/>
          </a:xfrm>
          <a:prstGeom prst="rect">
            <a:avLst/>
          </a:prstGeom>
        </p:spPr>
      </p:pic>
      <p:sp>
        <p:nvSpPr>
          <p:cNvPr id="9" name="CuadroTexto 8">
            <a:extLst>
              <a:ext uri="{FF2B5EF4-FFF2-40B4-BE49-F238E27FC236}">
                <a16:creationId xmlns:a16="http://schemas.microsoft.com/office/drawing/2014/main" id="{26B1CC64-2E3D-4110-982D-F889ADD8EFEB}"/>
              </a:ext>
            </a:extLst>
          </p:cNvPr>
          <p:cNvSpPr txBox="1"/>
          <p:nvPr/>
        </p:nvSpPr>
        <p:spPr>
          <a:xfrm>
            <a:off x="5310336" y="3645024"/>
            <a:ext cx="3366120" cy="1569660"/>
          </a:xfrm>
          <a:prstGeom prst="rect">
            <a:avLst/>
          </a:prstGeom>
          <a:noFill/>
          <a:ln>
            <a:solidFill>
              <a:schemeClr val="tx1"/>
            </a:solidFill>
          </a:ln>
        </p:spPr>
        <p:txBody>
          <a:bodyPr wrap="square">
            <a:spAutoFit/>
          </a:bodyPr>
          <a:lstStyle/>
          <a:p>
            <a:r>
              <a:rPr lang="es-MX" sz="1200" dirty="0">
                <a:latin typeface="Consolas" panose="020B0609020204030204" pitchFamily="49" charset="0"/>
              </a:rPr>
              <a:t>N = 4</a:t>
            </a:r>
          </a:p>
          <a:p>
            <a:r>
              <a:rPr lang="es-MX" sz="1200" dirty="0">
                <a:latin typeface="Consolas" panose="020B0609020204030204" pitchFamily="49" charset="0"/>
              </a:rPr>
              <a:t>notas = [0.0] * N</a:t>
            </a:r>
          </a:p>
          <a:p>
            <a:r>
              <a:rPr lang="es-MX" sz="1200" dirty="0">
                <a:latin typeface="Consolas" panose="020B0609020204030204" pitchFamily="49" charset="0"/>
              </a:rPr>
              <a:t>notas[0] = 3.0</a:t>
            </a:r>
          </a:p>
          <a:p>
            <a:r>
              <a:rPr lang="es-MX" sz="1200" dirty="0">
                <a:latin typeface="Consolas" panose="020B0609020204030204" pitchFamily="49" charset="0"/>
              </a:rPr>
              <a:t>notas[1] = </a:t>
            </a:r>
            <a:r>
              <a:rPr lang="es-MX" sz="1200" dirty="0" err="1">
                <a:latin typeface="Consolas" panose="020B0609020204030204" pitchFamily="49" charset="0"/>
              </a:rPr>
              <a:t>float</a:t>
            </a:r>
            <a:r>
              <a:rPr lang="es-MX" sz="1200" dirty="0">
                <a:latin typeface="Consolas" panose="020B0609020204030204" pitchFamily="49" charset="0"/>
              </a:rPr>
              <a:t>(input("Nota: "))</a:t>
            </a:r>
          </a:p>
          <a:p>
            <a:r>
              <a:rPr lang="es-MX" sz="1200" dirty="0">
                <a:latin typeface="Consolas" panose="020B0609020204030204" pitchFamily="49" charset="0"/>
              </a:rPr>
              <a:t>print(notas[0])</a:t>
            </a:r>
          </a:p>
          <a:p>
            <a:r>
              <a:rPr lang="es-MX" sz="1200" dirty="0">
                <a:latin typeface="Consolas" panose="020B0609020204030204" pitchFamily="49" charset="0"/>
              </a:rPr>
              <a:t>primera = notas[0]</a:t>
            </a:r>
          </a:p>
          <a:p>
            <a:r>
              <a:rPr lang="es-MX" sz="1200" dirty="0">
                <a:latin typeface="Consolas" panose="020B0609020204030204" pitchFamily="49" charset="0"/>
              </a:rPr>
              <a:t>suma = notas[0] + notas[1]</a:t>
            </a:r>
          </a:p>
          <a:p>
            <a:r>
              <a:rPr lang="es-MX" sz="1200" dirty="0">
                <a:latin typeface="Consolas" panose="020B0609020204030204" pitchFamily="49" charset="0"/>
              </a:rPr>
              <a:t>print("Suma:", suma)</a:t>
            </a:r>
          </a:p>
        </p:txBody>
      </p:sp>
      <p:sp>
        <p:nvSpPr>
          <p:cNvPr id="10" name="CuadroTexto 9">
            <a:extLst>
              <a:ext uri="{FF2B5EF4-FFF2-40B4-BE49-F238E27FC236}">
                <a16:creationId xmlns:a16="http://schemas.microsoft.com/office/drawing/2014/main" id="{55F4DAFA-547F-4156-BA9E-93A3F5361B0A}"/>
              </a:ext>
            </a:extLst>
          </p:cNvPr>
          <p:cNvSpPr txBox="1"/>
          <p:nvPr/>
        </p:nvSpPr>
        <p:spPr>
          <a:xfrm>
            <a:off x="6161153" y="5168225"/>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Tree>
    <p:extLst>
      <p:ext uri="{BB962C8B-B14F-4D97-AF65-F5344CB8AC3E}">
        <p14:creationId xmlns:p14="http://schemas.microsoft.com/office/powerpoint/2010/main" val="12421746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MX" dirty="0"/>
              <a:t>El índice puede ser una expresión</a:t>
            </a:r>
            <a:endParaRPr lang="es-CO" dirty="0"/>
          </a:p>
        </p:txBody>
      </p:sp>
      <p:sp>
        <p:nvSpPr>
          <p:cNvPr id="13" name="12 Rectángulo"/>
          <p:cNvSpPr/>
          <p:nvPr/>
        </p:nvSpPr>
        <p:spPr>
          <a:xfrm>
            <a:off x="145314" y="881382"/>
            <a:ext cx="8747165" cy="1631216"/>
          </a:xfrm>
          <a:prstGeom prst="rect">
            <a:avLst/>
          </a:prstGeom>
        </p:spPr>
        <p:txBody>
          <a:bodyPr wrap="square">
            <a:spAutoFit/>
          </a:bodyPr>
          <a:lstStyle/>
          <a:p>
            <a:pPr rtl="0"/>
            <a:r>
              <a:rPr lang="es-MX" sz="2000" dirty="0"/>
              <a:t>El índice puede ser cualquier expresión entera: </a:t>
            </a:r>
            <a:r>
              <a:rPr lang="es-MX" b="1" dirty="0">
                <a:latin typeface="Consolas" panose="020B0609020204030204" pitchFamily="49" charset="0"/>
              </a:rPr>
              <a:t>notas[i]</a:t>
            </a:r>
            <a:r>
              <a:rPr lang="es-MX" sz="2000" dirty="0"/>
              <a:t>, </a:t>
            </a:r>
            <a:r>
              <a:rPr lang="es-MX" b="1" dirty="0">
                <a:latin typeface="Consolas" panose="020B0609020204030204" pitchFamily="49" charset="0"/>
              </a:rPr>
              <a:t>notas[i + 1]</a:t>
            </a:r>
            <a:r>
              <a:rPr lang="es-MX" sz="2000" dirty="0"/>
              <a:t>, </a:t>
            </a:r>
            <a:r>
              <a:rPr lang="es-MX" b="1" dirty="0">
                <a:latin typeface="Consolas" panose="020B0609020204030204" pitchFamily="49" charset="0"/>
              </a:rPr>
              <a:t>notas[N - 1]</a:t>
            </a:r>
            <a:r>
              <a:rPr lang="es-MX" sz="2000" dirty="0"/>
              <a:t>, e incluso el valor de otro arreglo. En Python se escribe exactamente igual, así que el ejercicio se puede copiar tal cual y comprobar la respuesta.</a:t>
            </a:r>
          </a:p>
          <a:p>
            <a:pPr rtl="0"/>
            <a:endParaRPr lang="es-MX" sz="2000" dirty="0"/>
          </a:p>
          <a:p>
            <a:pPr rtl="0"/>
            <a:r>
              <a:rPr lang="es-MX" sz="2000" b="1" dirty="0"/>
              <a:t>Ejercicio</a:t>
            </a:r>
            <a:r>
              <a:rPr lang="es-MX" sz="2000" dirty="0"/>
              <a:t>: ¿Cómo queda el arreglo </a:t>
            </a:r>
            <a:r>
              <a:rPr lang="es-MX" sz="2000" b="1" dirty="0">
                <a:latin typeface="Consolas" panose="020B0609020204030204" pitchFamily="49" charset="0"/>
              </a:rPr>
              <a:t>B</a:t>
            </a:r>
            <a:r>
              <a:rPr lang="es-MX" sz="2000" dirty="0"/>
              <a:t> después de las siguientes instrucciones?</a:t>
            </a:r>
          </a:p>
        </p:txBody>
      </p:sp>
      <p:grpSp>
        <p:nvGrpSpPr>
          <p:cNvPr id="11" name="Grupo 10">
            <a:extLst>
              <a:ext uri="{FF2B5EF4-FFF2-40B4-BE49-F238E27FC236}">
                <a16:creationId xmlns:a16="http://schemas.microsoft.com/office/drawing/2014/main" id="{B0BA919B-10A9-4BE4-ADF7-9030EA22E215}"/>
              </a:ext>
            </a:extLst>
          </p:cNvPr>
          <p:cNvGrpSpPr/>
          <p:nvPr/>
        </p:nvGrpSpPr>
        <p:grpSpPr>
          <a:xfrm>
            <a:off x="2195736" y="2780928"/>
            <a:ext cx="4104456" cy="1661994"/>
            <a:chOff x="2123728" y="2780928"/>
            <a:chExt cx="4104456" cy="1661994"/>
          </a:xfrm>
        </p:grpSpPr>
        <p:sp>
          <p:nvSpPr>
            <p:cNvPr id="6" name="CuadroTexto 5">
              <a:extLst>
                <a:ext uri="{FF2B5EF4-FFF2-40B4-BE49-F238E27FC236}">
                  <a16:creationId xmlns:a16="http://schemas.microsoft.com/office/drawing/2014/main" id="{A136CE9E-9C08-4AE5-A6EA-D44D47C7EC89}"/>
                </a:ext>
              </a:extLst>
            </p:cNvPr>
            <p:cNvSpPr txBox="1"/>
            <p:nvPr/>
          </p:nvSpPr>
          <p:spPr>
            <a:xfrm>
              <a:off x="2123728" y="2780928"/>
              <a:ext cx="4104456" cy="1384995"/>
            </a:xfrm>
            <a:prstGeom prst="rect">
              <a:avLst/>
            </a:prstGeom>
            <a:noFill/>
            <a:ln>
              <a:solidFill>
                <a:schemeClr val="tx1"/>
              </a:solidFill>
            </a:ln>
          </p:spPr>
          <p:txBody>
            <a:bodyPr wrap="square">
              <a:spAutoFit/>
            </a:bodyPr>
            <a:lstStyle/>
            <a:p>
              <a:r>
                <a:rPr lang="pt-BR" sz="1200" dirty="0">
                  <a:latin typeface="Consolas" panose="020B0609020204030204" pitchFamily="49" charset="0"/>
                </a:rPr>
                <a:t>A = [2, 5, -1, 0, 7, 10, 17, -3]</a:t>
              </a:r>
            </a:p>
            <a:p>
              <a:r>
                <a:rPr lang="pt-BR" sz="1200" dirty="0">
                  <a:latin typeface="Consolas" panose="020B0609020204030204" pitchFamily="49" charset="0"/>
                </a:rPr>
                <a:t>B = [0, 1, 15, -8, 5, 7, -2, 0]</a:t>
              </a:r>
            </a:p>
            <a:p>
              <a:endParaRPr lang="pt-BR" sz="1200" dirty="0">
                <a:latin typeface="Consolas" panose="020B0609020204030204" pitchFamily="49" charset="0"/>
              </a:endParaRPr>
            </a:p>
            <a:p>
              <a:r>
                <a:rPr lang="pt-BR" sz="1200" dirty="0">
                  <a:latin typeface="Consolas" panose="020B0609020204030204" pitchFamily="49" charset="0"/>
                </a:rPr>
                <a:t>B[2] = A[0] * 3</a:t>
              </a:r>
            </a:p>
            <a:p>
              <a:r>
                <a:rPr lang="pt-BR" sz="1200" dirty="0">
                  <a:latin typeface="Consolas" panose="020B0609020204030204" pitchFamily="49" charset="0"/>
                </a:rPr>
                <a:t>B[3] = B[3] + A[4]</a:t>
              </a:r>
            </a:p>
            <a:p>
              <a:r>
                <a:rPr lang="pt-BR" sz="1200" dirty="0">
                  <a:latin typeface="Consolas" panose="020B0609020204030204" pitchFamily="49" charset="0"/>
                </a:rPr>
                <a:t>B[A[3]] = A[5] // B[1]</a:t>
              </a:r>
            </a:p>
            <a:p>
              <a:r>
                <a:rPr lang="pt-BR" sz="1200" dirty="0">
                  <a:latin typeface="Consolas" panose="020B0609020204030204" pitchFamily="49" charset="0"/>
                </a:rPr>
                <a:t>B[A[6] % A[5]] = A[A[7] + A[5]] + B[2] * -3</a:t>
              </a:r>
              <a:endParaRPr lang="es-MX" sz="1200" dirty="0">
                <a:latin typeface="Consolas" panose="020B0609020204030204" pitchFamily="49" charset="0"/>
              </a:endParaRPr>
            </a:p>
          </p:txBody>
        </p:sp>
        <p:sp>
          <p:nvSpPr>
            <p:cNvPr id="7" name="CuadroTexto 6">
              <a:extLst>
                <a:ext uri="{FF2B5EF4-FFF2-40B4-BE49-F238E27FC236}">
                  <a16:creationId xmlns:a16="http://schemas.microsoft.com/office/drawing/2014/main" id="{74B74EF3-3A42-45B6-823A-E1DB8D2C9712}"/>
                </a:ext>
              </a:extLst>
            </p:cNvPr>
            <p:cNvSpPr txBox="1"/>
            <p:nvPr/>
          </p:nvSpPr>
          <p:spPr>
            <a:xfrm>
              <a:off x="3347864" y="4165923"/>
              <a:ext cx="1664486" cy="276999"/>
            </a:xfrm>
            <a:prstGeom prst="rect">
              <a:avLst/>
            </a:prstGeom>
            <a:noFill/>
          </p:spPr>
          <p:txBody>
            <a:bodyPr wrap="square" rtlCol="0">
              <a:spAutoFit/>
            </a:bodyPr>
            <a:lstStyle/>
            <a:p>
              <a:pPr algn="ctr"/>
              <a:r>
                <a:rPr lang="es-CO" sz="1200" dirty="0">
                  <a:hlinkClick r:id="rId2"/>
                </a:rPr>
                <a:t>Link simulación</a:t>
              </a:r>
              <a:endParaRPr lang="es-CO" sz="1200" dirty="0"/>
            </a:p>
          </p:txBody>
        </p:sp>
      </p:grpSp>
      <p:pic>
        <p:nvPicPr>
          <p:cNvPr id="4" name="Imagen 3">
            <a:extLst>
              <a:ext uri="{FF2B5EF4-FFF2-40B4-BE49-F238E27FC236}">
                <a16:creationId xmlns:a16="http://schemas.microsoft.com/office/drawing/2014/main" id="{67D27D9F-A56B-40A1-B9FE-74E448D17D3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9512" y="5013177"/>
            <a:ext cx="3528392" cy="1102248"/>
          </a:xfrm>
          <a:prstGeom prst="rect">
            <a:avLst/>
          </a:prstGeom>
        </p:spPr>
      </p:pic>
      <p:pic>
        <p:nvPicPr>
          <p:cNvPr id="9" name="Imagen 8">
            <a:extLst>
              <a:ext uri="{FF2B5EF4-FFF2-40B4-BE49-F238E27FC236}">
                <a16:creationId xmlns:a16="http://schemas.microsoft.com/office/drawing/2014/main" id="{7189E345-072F-4F93-A488-740CB07401F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76056" y="5013176"/>
            <a:ext cx="3528392" cy="1293943"/>
          </a:xfrm>
          <a:prstGeom prst="rect">
            <a:avLst/>
          </a:prstGeom>
        </p:spPr>
      </p:pic>
      <p:sp>
        <p:nvSpPr>
          <p:cNvPr id="10" name="Flecha: a la derecha 9">
            <a:extLst>
              <a:ext uri="{FF2B5EF4-FFF2-40B4-BE49-F238E27FC236}">
                <a16:creationId xmlns:a16="http://schemas.microsoft.com/office/drawing/2014/main" id="{B0EB54DA-9EA2-433F-8CD1-0D5D79A50AAC}"/>
              </a:ext>
            </a:extLst>
          </p:cNvPr>
          <p:cNvSpPr/>
          <p:nvPr/>
        </p:nvSpPr>
        <p:spPr>
          <a:xfrm>
            <a:off x="4211960" y="5373216"/>
            <a:ext cx="648072" cy="288032"/>
          </a:xfrm>
          <a:prstGeom prst="rightArrow">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3448845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MX" dirty="0"/>
              <a:t>La clave: el índice es una variable</a:t>
            </a:r>
            <a:endParaRPr lang="es-CO" dirty="0"/>
          </a:p>
        </p:txBody>
      </p:sp>
      <p:sp>
        <p:nvSpPr>
          <p:cNvPr id="13" name="12 Rectángulo"/>
          <p:cNvSpPr/>
          <p:nvPr/>
        </p:nvSpPr>
        <p:spPr>
          <a:xfrm>
            <a:off x="179512" y="764704"/>
            <a:ext cx="8608556" cy="430887"/>
          </a:xfrm>
          <a:prstGeom prst="rect">
            <a:avLst/>
          </a:prstGeom>
        </p:spPr>
        <p:txBody>
          <a:bodyPr wrap="square">
            <a:spAutoFit/>
          </a:bodyPr>
          <a:lstStyle/>
          <a:p>
            <a:pPr rtl="0"/>
            <a:r>
              <a:rPr lang="es-MX" sz="2200" b="1" dirty="0"/>
              <a:t>Antes y después</a:t>
            </a:r>
          </a:p>
        </p:txBody>
      </p:sp>
      <p:graphicFrame>
        <p:nvGraphicFramePr>
          <p:cNvPr id="2" name="Tabla 1">
            <a:extLst>
              <a:ext uri="{FF2B5EF4-FFF2-40B4-BE49-F238E27FC236}">
                <a16:creationId xmlns:a16="http://schemas.microsoft.com/office/drawing/2014/main" id="{0E678B52-92A4-4055-BCF8-C5FBCE36B7D1}"/>
              </a:ext>
            </a:extLst>
          </p:cNvPr>
          <p:cNvGraphicFramePr>
            <a:graphicFrameLocks noGrp="1"/>
          </p:cNvGraphicFramePr>
          <p:nvPr>
            <p:extLst>
              <p:ext uri="{D42A27DB-BD31-4B8C-83A1-F6EECF244321}">
                <p14:modId xmlns:p14="http://schemas.microsoft.com/office/powerpoint/2010/main" val="437955526"/>
              </p:ext>
            </p:extLst>
          </p:nvPr>
        </p:nvGraphicFramePr>
        <p:xfrm>
          <a:off x="323528" y="1237496"/>
          <a:ext cx="8064896" cy="1615440"/>
        </p:xfrm>
        <a:graphic>
          <a:graphicData uri="http://schemas.openxmlformats.org/drawingml/2006/table">
            <a:tbl>
              <a:tblPr/>
              <a:tblGrid>
                <a:gridCol w="4392488">
                  <a:extLst>
                    <a:ext uri="{9D8B030D-6E8A-4147-A177-3AD203B41FA5}">
                      <a16:colId xmlns:a16="http://schemas.microsoft.com/office/drawing/2014/main" val="1590120610"/>
                    </a:ext>
                  </a:extLst>
                </a:gridCol>
                <a:gridCol w="3672408">
                  <a:extLst>
                    <a:ext uri="{9D8B030D-6E8A-4147-A177-3AD203B41FA5}">
                      <a16:colId xmlns:a16="http://schemas.microsoft.com/office/drawing/2014/main" val="3913879267"/>
                    </a:ext>
                  </a:extLst>
                </a:gridCol>
              </a:tblGrid>
              <a:tr h="121962">
                <a:tc>
                  <a:txBody>
                    <a:bodyPr/>
                    <a:lstStyle/>
                    <a:p>
                      <a:r>
                        <a:rPr lang="es-CO" sz="1600" b="1" dirty="0"/>
                        <a:t>Con índices fijos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MX" sz="1600" b="1" dirty="0"/>
                        <a:t>Con el índice como variable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456680041"/>
                  </a:ext>
                </a:extLst>
              </a:tr>
              <a:tr h="343712">
                <a:tc>
                  <a:txBody>
                    <a:bodyPr/>
                    <a:lstStyle/>
                    <a:p>
                      <a:r>
                        <a:rPr lang="es-CO" sz="1400" b="1" dirty="0">
                          <a:latin typeface="Consolas" panose="020B0609020204030204" pitchFamily="49" charset="0"/>
                        </a:rPr>
                        <a:t>notas[0] = float(input("Nota: "))</a:t>
                      </a:r>
                      <a:br>
                        <a:rPr lang="es-CO" sz="1400" b="1" dirty="0">
                          <a:latin typeface="Consolas" panose="020B0609020204030204" pitchFamily="49" charset="0"/>
                        </a:rPr>
                      </a:br>
                      <a:r>
                        <a:rPr lang="es-CO" sz="1400" b="1" dirty="0">
                          <a:latin typeface="Consolas" panose="020B0609020204030204" pitchFamily="49" charset="0"/>
                        </a:rPr>
                        <a:t>notas[1] = float(input("Nota: "))</a:t>
                      </a:r>
                      <a:br>
                        <a:rPr lang="es-CO" sz="1400" b="1" dirty="0">
                          <a:latin typeface="Consolas" panose="020B0609020204030204" pitchFamily="49" charset="0"/>
                        </a:rPr>
                      </a:br>
                      <a:r>
                        <a:rPr lang="es-CO" sz="1400" b="1" dirty="0">
                          <a:latin typeface="Consolas" panose="020B0609020204030204" pitchFamily="49" charset="0"/>
                        </a:rPr>
                        <a:t>notas[2] = float(input("Nota: "))</a:t>
                      </a:r>
                      <a:br>
                        <a:rPr lang="es-CO" sz="1400" b="1" dirty="0">
                          <a:latin typeface="Consolas" panose="020B0609020204030204" pitchFamily="49" charset="0"/>
                        </a:rPr>
                      </a:br>
                      <a:r>
                        <a:rPr lang="es-CO" sz="1400" b="1" dirty="0">
                          <a:latin typeface="Consolas" panose="020B0609020204030204" pitchFamily="49" charset="0"/>
                        </a:rPr>
                        <a:t>notas[3] = float(input("Nota: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b="1" dirty="0">
                          <a:latin typeface="Consolas" panose="020B0609020204030204" pitchFamily="49" charset="0"/>
                        </a:rPr>
                        <a:t>for i in range(N):</a:t>
                      </a:r>
                      <a:br>
                        <a:rPr lang="es-CO" sz="1400" b="1" dirty="0">
                          <a:latin typeface="Consolas" panose="020B0609020204030204" pitchFamily="49" charset="0"/>
                        </a:rPr>
                      </a:br>
                      <a:r>
                        <a:rPr lang="es-CO" sz="1400" b="1" dirty="0">
                          <a:latin typeface="Consolas" panose="020B0609020204030204" pitchFamily="49" charset="0"/>
                        </a:rPr>
                        <a:t>  notas[i] = float(input("Nota: "))</a:t>
                      </a:r>
                    </a:p>
                    <a:p>
                      <a:endParaRPr lang="es-CO" sz="1400" b="1" dirty="0">
                        <a:latin typeface="Consolas" panose="020B0609020204030204" pitchFamily="49" charset="0"/>
                      </a:endParaRPr>
                    </a:p>
                    <a:p>
                      <a:endParaRPr lang="es-CO" sz="1400" b="1"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7675559"/>
                  </a:ext>
                </a:extLst>
              </a:tr>
              <a:tr h="121962">
                <a:tc>
                  <a:txBody>
                    <a:bodyPr/>
                    <a:lstStyle/>
                    <a:p>
                      <a:r>
                        <a:rPr lang="es-MX" sz="1600"/>
                        <a:t>Una línea por casilla. Con 40 estudiantes, 40 líneas.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b="1" dirty="0"/>
                        <a:t>Una sola línea</a:t>
                      </a:r>
                      <a:r>
                        <a:rPr lang="es-MX" sz="1600" dirty="0"/>
                        <a:t> sirve para cualquier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2373530"/>
                  </a:ext>
                </a:extLst>
              </a:tr>
            </a:tbl>
          </a:graphicData>
        </a:graphic>
      </p:graphicFrame>
      <p:sp>
        <p:nvSpPr>
          <p:cNvPr id="6" name="12 Rectángulo">
            <a:extLst>
              <a:ext uri="{FF2B5EF4-FFF2-40B4-BE49-F238E27FC236}">
                <a16:creationId xmlns:a16="http://schemas.microsoft.com/office/drawing/2014/main" id="{3CEE1589-E03B-4412-84B1-C4854604169F}"/>
              </a:ext>
            </a:extLst>
          </p:cNvPr>
          <p:cNvSpPr/>
          <p:nvPr/>
        </p:nvSpPr>
        <p:spPr>
          <a:xfrm>
            <a:off x="179512" y="3005078"/>
            <a:ext cx="8608556" cy="3262432"/>
          </a:xfrm>
          <a:prstGeom prst="rect">
            <a:avLst/>
          </a:prstGeom>
        </p:spPr>
        <p:txBody>
          <a:bodyPr wrap="square">
            <a:spAutoFit/>
          </a:bodyPr>
          <a:lstStyle/>
          <a:p>
            <a:pPr rtl="0"/>
            <a:r>
              <a:rPr lang="es-MX" sz="2000" b="1" dirty="0"/>
              <a:t>El patrón que se repite en todo el bloque:</a:t>
            </a:r>
          </a:p>
          <a:p>
            <a:pPr rtl="0"/>
            <a:endParaRPr lang="es-MX" sz="2000" b="1" dirty="0"/>
          </a:p>
          <a:p>
            <a:pPr rtl="0"/>
            <a:endParaRPr lang="es-MX" sz="2000" b="1" dirty="0"/>
          </a:p>
          <a:p>
            <a:pPr rtl="0"/>
            <a:endParaRPr lang="es-MX" sz="2000" b="1" dirty="0"/>
          </a:p>
          <a:p>
            <a:pPr rtl="0"/>
            <a:endParaRPr lang="es-MX" sz="2000" b="1" dirty="0"/>
          </a:p>
          <a:p>
            <a:pPr rtl="0"/>
            <a:r>
              <a:rPr lang="es-MX" b="1" dirty="0"/>
              <a:t>Lo que se hace con este patrón</a:t>
            </a:r>
            <a:r>
              <a:rPr lang="es-MX" dirty="0"/>
              <a:t>:</a:t>
            </a:r>
          </a:p>
          <a:p>
            <a:pPr marL="285750" indent="-285750" rtl="0">
              <a:buFont typeface="Arial" panose="020B0604020202020204" pitchFamily="34" charset="0"/>
              <a:buChar char="•"/>
            </a:pPr>
            <a:r>
              <a:rPr lang="es-MX" b="1" dirty="0"/>
              <a:t>Llenar</a:t>
            </a:r>
            <a:r>
              <a:rPr lang="es-MX" dirty="0"/>
              <a:t>: </a:t>
            </a:r>
            <a:r>
              <a:rPr lang="es-MX" sz="1600" dirty="0">
                <a:latin typeface="Consolas" panose="020B0609020204030204" pitchFamily="49" charset="0"/>
              </a:rPr>
              <a:t>Leer(notas[i])</a:t>
            </a:r>
            <a:r>
              <a:rPr lang="es-CO" dirty="0"/>
              <a:t> o </a:t>
            </a:r>
            <a:r>
              <a:rPr lang="es-CO" sz="1600" dirty="0">
                <a:latin typeface="Consolas" panose="020B0609020204030204" pitchFamily="49" charset="0"/>
              </a:rPr>
              <a:t>notas[i] = expresión</a:t>
            </a:r>
            <a:endParaRPr lang="es-MX" dirty="0">
              <a:latin typeface="Consolas" panose="020B0609020204030204" pitchFamily="49" charset="0"/>
            </a:endParaRPr>
          </a:p>
          <a:p>
            <a:pPr marL="285750" indent="-285750" rtl="0">
              <a:buFont typeface="Arial" panose="020B0604020202020204" pitchFamily="34" charset="0"/>
              <a:buChar char="•"/>
            </a:pPr>
            <a:r>
              <a:rPr lang="es-MX" b="1" dirty="0"/>
              <a:t>Mostrar</a:t>
            </a:r>
            <a:r>
              <a:rPr lang="es-MX" dirty="0"/>
              <a:t>: </a:t>
            </a:r>
            <a:r>
              <a:rPr lang="es-MX" sz="1600" dirty="0">
                <a:latin typeface="Consolas" panose="020B0609020204030204" pitchFamily="49" charset="0"/>
              </a:rPr>
              <a:t>Escribir(notas[i])</a:t>
            </a:r>
            <a:endParaRPr lang="es-MX" dirty="0">
              <a:latin typeface="Consolas" panose="020B0609020204030204" pitchFamily="49" charset="0"/>
            </a:endParaRPr>
          </a:p>
          <a:p>
            <a:pPr marL="285750" indent="-285750" rtl="0">
              <a:buFont typeface="Arial" panose="020B0604020202020204" pitchFamily="34" charset="0"/>
              <a:buChar char="•"/>
            </a:pPr>
            <a:r>
              <a:rPr lang="es-MX" b="1" dirty="0"/>
              <a:t>Acumular</a:t>
            </a:r>
            <a:r>
              <a:rPr lang="es-MX" dirty="0"/>
              <a:t>: </a:t>
            </a:r>
            <a:r>
              <a:rPr lang="es-MX" sz="1600" dirty="0">
                <a:latin typeface="Consolas" panose="020B0609020204030204" pitchFamily="49" charset="0"/>
              </a:rPr>
              <a:t>suma = suma + notas[i]</a:t>
            </a:r>
          </a:p>
          <a:p>
            <a:pPr marL="285750" indent="-285750" rtl="0">
              <a:buFont typeface="Arial" panose="020B0604020202020204" pitchFamily="34" charset="0"/>
              <a:buChar char="•"/>
            </a:pPr>
            <a:r>
              <a:rPr lang="es-MX" b="1" dirty="0"/>
              <a:t>Contar</a:t>
            </a:r>
            <a:r>
              <a:rPr lang="es-MX" dirty="0"/>
              <a:t>:</a:t>
            </a:r>
            <a:r>
              <a:rPr lang="es-MX" sz="1600" dirty="0"/>
              <a:t> </a:t>
            </a:r>
            <a:r>
              <a:rPr lang="es-MX" sz="1600" dirty="0">
                <a:latin typeface="Consolas" panose="020B0609020204030204" pitchFamily="49" charset="0"/>
              </a:rPr>
              <a:t>Si notas[i] &gt; x Entonces </a:t>
            </a:r>
            <a:r>
              <a:rPr lang="es-MX" sz="1600" dirty="0" err="1">
                <a:latin typeface="Consolas" panose="020B0609020204030204" pitchFamily="49" charset="0"/>
              </a:rPr>
              <a:t>cont</a:t>
            </a:r>
            <a:r>
              <a:rPr lang="es-MX" sz="1600" dirty="0">
                <a:latin typeface="Consolas" panose="020B0609020204030204" pitchFamily="49" charset="0"/>
              </a:rPr>
              <a:t> = </a:t>
            </a:r>
            <a:r>
              <a:rPr lang="es-MX" sz="1600" dirty="0" err="1">
                <a:latin typeface="Consolas" panose="020B0609020204030204" pitchFamily="49" charset="0"/>
              </a:rPr>
              <a:t>cont</a:t>
            </a:r>
            <a:r>
              <a:rPr lang="es-MX" sz="1600" dirty="0">
                <a:latin typeface="Consolas" panose="020B0609020204030204" pitchFamily="49" charset="0"/>
              </a:rPr>
              <a:t> + 1</a:t>
            </a:r>
          </a:p>
          <a:p>
            <a:pPr marL="285750" indent="-285750" rtl="0">
              <a:buFont typeface="Arial" panose="020B0604020202020204" pitchFamily="34" charset="0"/>
              <a:buChar char="•"/>
            </a:pPr>
            <a:r>
              <a:rPr lang="es-MX" b="1" i="1" dirty="0"/>
              <a:t>Próxima clase</a:t>
            </a:r>
            <a:r>
              <a:rPr lang="es-MX" dirty="0"/>
              <a:t>: </a:t>
            </a:r>
            <a:r>
              <a:rPr lang="es-MX" i="1" dirty="0"/>
              <a:t>buscar el mayor, buscar un valor, intercambiar, ordenar.</a:t>
            </a:r>
          </a:p>
        </p:txBody>
      </p:sp>
      <p:graphicFrame>
        <p:nvGraphicFramePr>
          <p:cNvPr id="4" name="Tabla 3">
            <a:extLst>
              <a:ext uri="{FF2B5EF4-FFF2-40B4-BE49-F238E27FC236}">
                <a16:creationId xmlns:a16="http://schemas.microsoft.com/office/drawing/2014/main" id="{E39D4EB0-9C37-4781-B200-0641EB127C85}"/>
              </a:ext>
            </a:extLst>
          </p:cNvPr>
          <p:cNvGraphicFramePr>
            <a:graphicFrameLocks noGrp="1"/>
          </p:cNvGraphicFramePr>
          <p:nvPr>
            <p:extLst>
              <p:ext uri="{D42A27DB-BD31-4B8C-83A1-F6EECF244321}">
                <p14:modId xmlns:p14="http://schemas.microsoft.com/office/powerpoint/2010/main" val="941542576"/>
              </p:ext>
            </p:extLst>
          </p:nvPr>
        </p:nvGraphicFramePr>
        <p:xfrm>
          <a:off x="323528" y="3442320"/>
          <a:ext cx="8064896" cy="1066800"/>
        </p:xfrm>
        <a:graphic>
          <a:graphicData uri="http://schemas.openxmlformats.org/drawingml/2006/table">
            <a:tbl>
              <a:tblPr/>
              <a:tblGrid>
                <a:gridCol w="4032448">
                  <a:extLst>
                    <a:ext uri="{9D8B030D-6E8A-4147-A177-3AD203B41FA5}">
                      <a16:colId xmlns:a16="http://schemas.microsoft.com/office/drawing/2014/main" val="3108187173"/>
                    </a:ext>
                  </a:extLst>
                </a:gridCol>
                <a:gridCol w="4032448">
                  <a:extLst>
                    <a:ext uri="{9D8B030D-6E8A-4147-A177-3AD203B41FA5}">
                      <a16:colId xmlns:a16="http://schemas.microsoft.com/office/drawing/2014/main" val="2005790015"/>
                    </a:ext>
                  </a:extLst>
                </a:gridCol>
              </a:tblGrid>
              <a:tr h="0">
                <a:tc>
                  <a:txBody>
                    <a:bodyPr/>
                    <a:lstStyle/>
                    <a:p>
                      <a:r>
                        <a:rPr lang="es-CO" sz="1600" b="1" dirty="0"/>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473364668"/>
                  </a:ext>
                </a:extLst>
              </a:tr>
              <a:tr h="0">
                <a:tc>
                  <a:txBody>
                    <a:bodyPr/>
                    <a:lstStyle/>
                    <a:p>
                      <a:r>
                        <a:rPr lang="pt-BR" sz="1400" b="1" dirty="0">
                          <a:latin typeface="Consolas" panose="020B0609020204030204" pitchFamily="49" charset="0"/>
                        </a:rPr>
                        <a:t>Para (i = 0, N - 1, 1) Haga</a:t>
                      </a:r>
                      <a:br>
                        <a:rPr lang="pt-BR" sz="1400" b="1" dirty="0">
                          <a:latin typeface="Consolas" panose="020B0609020204030204" pitchFamily="49" charset="0"/>
                        </a:rPr>
                      </a:br>
                      <a:r>
                        <a:rPr lang="pt-BR" sz="1400" b="1" dirty="0">
                          <a:latin typeface="Consolas" panose="020B0609020204030204" pitchFamily="49" charset="0"/>
                        </a:rPr>
                        <a:t>  ... notas[i] ...</a:t>
                      </a:r>
                      <a:br>
                        <a:rPr lang="pt-BR" sz="1400" b="1" dirty="0">
                          <a:latin typeface="Consolas" panose="020B0609020204030204" pitchFamily="49" charset="0"/>
                        </a:rPr>
                      </a:br>
                      <a:r>
                        <a:rPr lang="pt-BR" sz="1400" b="1" dirty="0">
                          <a:latin typeface="Consolas" panose="020B0609020204030204" pitchFamily="49" charset="0"/>
                        </a:rPr>
                        <a:t>Fin_Para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b="1" dirty="0">
                          <a:latin typeface="Consolas" panose="020B0609020204030204" pitchFamily="49" charset="0"/>
                        </a:rPr>
                        <a:t>for i in range(N):</a:t>
                      </a:r>
                      <a:br>
                        <a:rPr lang="es-CO" sz="1400" b="1" dirty="0">
                          <a:latin typeface="Consolas" panose="020B0609020204030204" pitchFamily="49" charset="0"/>
                        </a:rPr>
                      </a:br>
                      <a:r>
                        <a:rPr lang="es-CO" sz="1400" b="1" dirty="0">
                          <a:latin typeface="Consolas" panose="020B0609020204030204" pitchFamily="49" charset="0"/>
                        </a:rPr>
                        <a:t>  ... notas[i]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1569081"/>
                  </a:ext>
                </a:extLst>
              </a:tr>
            </a:tbl>
          </a:graphicData>
        </a:graphic>
      </p:graphicFrame>
      <p:sp>
        <p:nvSpPr>
          <p:cNvPr id="9" name="CuadroTexto 8">
            <a:extLst>
              <a:ext uri="{FF2B5EF4-FFF2-40B4-BE49-F238E27FC236}">
                <a16:creationId xmlns:a16="http://schemas.microsoft.com/office/drawing/2014/main" id="{5ECA7D0B-7C75-4AA5-A950-1FBEA02DEBF8}"/>
              </a:ext>
            </a:extLst>
          </p:cNvPr>
          <p:cNvSpPr txBox="1"/>
          <p:nvPr/>
        </p:nvSpPr>
        <p:spPr>
          <a:xfrm>
            <a:off x="1" y="6239053"/>
            <a:ext cx="9144000" cy="646331"/>
          </a:xfrm>
          <a:prstGeom prst="rect">
            <a:avLst/>
          </a:prstGeom>
          <a:solidFill>
            <a:schemeClr val="accent2">
              <a:lumMod val="20000"/>
              <a:lumOff val="80000"/>
            </a:schemeClr>
          </a:solidFill>
        </p:spPr>
        <p:txBody>
          <a:bodyPr wrap="square">
            <a:spAutoFit/>
          </a:bodyPr>
          <a:lstStyle/>
          <a:p>
            <a:r>
              <a:rPr lang="es-CO" b="1" dirty="0"/>
              <a:t>Idea clave</a:t>
            </a:r>
            <a:r>
              <a:rPr lang="es-CO" dirty="0"/>
              <a:t>: “El verdadero beneficio de utilizar un arreglo está en su capacidad para usar una variable como un subíndice.” (Farrell, cap. 6)</a:t>
            </a:r>
          </a:p>
        </p:txBody>
      </p:sp>
    </p:spTree>
    <p:extLst>
      <p:ext uri="{BB962C8B-B14F-4D97-AF65-F5344CB8AC3E}">
        <p14:creationId xmlns:p14="http://schemas.microsoft.com/office/powerpoint/2010/main" val="1545986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CO" dirty="0"/>
              <a:t>Llenar un arreglo</a:t>
            </a:r>
          </a:p>
        </p:txBody>
      </p:sp>
      <p:sp>
        <p:nvSpPr>
          <p:cNvPr id="13" name="12 Rectángulo"/>
          <p:cNvSpPr/>
          <p:nvPr/>
        </p:nvSpPr>
        <p:spPr>
          <a:xfrm>
            <a:off x="139908" y="836712"/>
            <a:ext cx="8608556" cy="400110"/>
          </a:xfrm>
          <a:prstGeom prst="rect">
            <a:avLst/>
          </a:prstGeom>
        </p:spPr>
        <p:txBody>
          <a:bodyPr wrap="square">
            <a:spAutoFit/>
          </a:bodyPr>
          <a:lstStyle/>
          <a:p>
            <a:pPr rtl="0"/>
            <a:r>
              <a:rPr lang="es-MX" sz="2000" b="1" dirty="0"/>
              <a:t>Caso 1: </a:t>
            </a:r>
            <a:r>
              <a:rPr lang="es-MX" sz="2000" dirty="0"/>
              <a:t>El valor de cada uno de los elementos del arreglo se pasa por teclado.</a:t>
            </a:r>
          </a:p>
        </p:txBody>
      </p:sp>
      <p:sp>
        <p:nvSpPr>
          <p:cNvPr id="6" name="12 Rectángulo">
            <a:extLst>
              <a:ext uri="{FF2B5EF4-FFF2-40B4-BE49-F238E27FC236}">
                <a16:creationId xmlns:a16="http://schemas.microsoft.com/office/drawing/2014/main" id="{AB7BB788-B1FC-4EA3-AA86-A9AF9E515519}"/>
              </a:ext>
            </a:extLst>
          </p:cNvPr>
          <p:cNvSpPr/>
          <p:nvPr/>
        </p:nvSpPr>
        <p:spPr>
          <a:xfrm>
            <a:off x="179512" y="2996952"/>
            <a:ext cx="8608556" cy="707886"/>
          </a:xfrm>
          <a:prstGeom prst="rect">
            <a:avLst/>
          </a:prstGeom>
        </p:spPr>
        <p:txBody>
          <a:bodyPr wrap="square">
            <a:spAutoFit/>
          </a:bodyPr>
          <a:lstStyle/>
          <a:p>
            <a:pPr rtl="0"/>
            <a:r>
              <a:rPr lang="es-MX" sz="2000" b="1" dirty="0"/>
              <a:t>Caso 2: </a:t>
            </a:r>
            <a:r>
              <a:rPr lang="es-CO" sz="2000" dirty="0"/>
              <a:t>El valor de cada uno de los elementos del arreglo proviene de una expresión. </a:t>
            </a:r>
          </a:p>
        </p:txBody>
      </p:sp>
      <p:graphicFrame>
        <p:nvGraphicFramePr>
          <p:cNvPr id="3" name="Tabla 2">
            <a:extLst>
              <a:ext uri="{FF2B5EF4-FFF2-40B4-BE49-F238E27FC236}">
                <a16:creationId xmlns:a16="http://schemas.microsoft.com/office/drawing/2014/main" id="{89B4DA04-B18B-4611-ACBD-0426F17421ED}"/>
              </a:ext>
            </a:extLst>
          </p:cNvPr>
          <p:cNvGraphicFramePr>
            <a:graphicFrameLocks noGrp="1"/>
          </p:cNvGraphicFramePr>
          <p:nvPr>
            <p:extLst>
              <p:ext uri="{D42A27DB-BD31-4B8C-83A1-F6EECF244321}">
                <p14:modId xmlns:p14="http://schemas.microsoft.com/office/powerpoint/2010/main" val="817945071"/>
              </p:ext>
            </p:extLst>
          </p:nvPr>
        </p:nvGraphicFramePr>
        <p:xfrm>
          <a:off x="251519" y="1268760"/>
          <a:ext cx="8608556" cy="1524000"/>
        </p:xfrm>
        <a:graphic>
          <a:graphicData uri="http://schemas.openxmlformats.org/drawingml/2006/table">
            <a:tbl>
              <a:tblPr/>
              <a:tblGrid>
                <a:gridCol w="4176465">
                  <a:extLst>
                    <a:ext uri="{9D8B030D-6E8A-4147-A177-3AD203B41FA5}">
                      <a16:colId xmlns:a16="http://schemas.microsoft.com/office/drawing/2014/main" val="1706694766"/>
                    </a:ext>
                  </a:extLst>
                </a:gridCol>
                <a:gridCol w="4432091">
                  <a:extLst>
                    <a:ext uri="{9D8B030D-6E8A-4147-A177-3AD203B41FA5}">
                      <a16:colId xmlns:a16="http://schemas.microsoft.com/office/drawing/2014/main" val="1676544930"/>
                    </a:ext>
                  </a:extLst>
                </a:gridCol>
              </a:tblGrid>
              <a:tr h="0">
                <a:tc>
                  <a:txBody>
                    <a:bodyPr/>
                    <a:lstStyle/>
                    <a:p>
                      <a:r>
                        <a:rPr lang="es-CO" sz="1600" b="1" dirty="0"/>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Python (</a:t>
                      </a:r>
                      <a:r>
                        <a:rPr lang="es-CO" sz="1600" b="1" dirty="0">
                          <a:hlinkClick r:id="rId2"/>
                        </a:rPr>
                        <a:t>simulación</a:t>
                      </a:r>
                      <a:r>
                        <a:rPr lang="es-CO" sz="1600"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679471956"/>
                  </a:ext>
                </a:extLst>
              </a:tr>
              <a:tr h="0">
                <a:tc>
                  <a:txBody>
                    <a:bodyPr/>
                    <a:lstStyle/>
                    <a:p>
                      <a:r>
                        <a:rPr lang="es-CO" sz="1200" dirty="0">
                          <a:latin typeface="Consolas" panose="020B0609020204030204" pitchFamily="49" charset="0"/>
                        </a:rPr>
                        <a:t>N = 4</a:t>
                      </a:r>
                      <a:br>
                        <a:rPr lang="es-CO" sz="1200" dirty="0">
                          <a:latin typeface="Consolas" panose="020B0609020204030204" pitchFamily="49" charset="0"/>
                        </a:rPr>
                      </a:br>
                      <a:r>
                        <a:rPr lang="es-CO" sz="1200" dirty="0">
                          <a:latin typeface="Consolas" panose="020B0609020204030204" pitchFamily="49" charset="0"/>
                        </a:rPr>
                        <a:t>notas = Arreglo(N)</a:t>
                      </a:r>
                      <a:br>
                        <a:rPr lang="es-CO" sz="1200" dirty="0">
                          <a:latin typeface="Consolas" panose="020B0609020204030204" pitchFamily="49" charset="0"/>
                        </a:rPr>
                      </a:br>
                      <a:r>
                        <a:rPr lang="es-CO" sz="1200" dirty="0">
                          <a:latin typeface="Consolas" panose="020B0609020204030204" pitchFamily="49" charset="0"/>
                        </a:rPr>
                        <a:t>Para (i = 0, N - 1, 1) Haga</a:t>
                      </a:r>
                      <a:br>
                        <a:rPr lang="es-CO" sz="1200" dirty="0">
                          <a:latin typeface="Consolas" panose="020B0609020204030204" pitchFamily="49" charset="0"/>
                        </a:rPr>
                      </a:br>
                      <a:r>
                        <a:rPr lang="es-CO" sz="1200" dirty="0">
                          <a:latin typeface="Consolas" panose="020B0609020204030204" pitchFamily="49" charset="0"/>
                        </a:rPr>
                        <a:t>  Escribir("Nota del estudiante ", i + 1, ": ")</a:t>
                      </a:r>
                      <a:br>
                        <a:rPr lang="es-CO" sz="1200" dirty="0">
                          <a:latin typeface="Consolas" panose="020B0609020204030204" pitchFamily="49" charset="0"/>
                        </a:rPr>
                      </a:br>
                      <a:r>
                        <a:rPr lang="es-CO" sz="1200" dirty="0">
                          <a:latin typeface="Consolas" panose="020B0609020204030204" pitchFamily="49" charset="0"/>
                        </a:rPr>
                        <a:t>  Leer(notas[i])</a:t>
                      </a:r>
                      <a:br>
                        <a:rPr lang="es-CO" sz="1200" dirty="0">
                          <a:latin typeface="Consolas" panose="020B0609020204030204" pitchFamily="49" charset="0"/>
                        </a:rPr>
                      </a:br>
                      <a:r>
                        <a:rPr lang="es-CO" sz="1200" dirty="0" err="1">
                          <a:latin typeface="Consolas" panose="020B0609020204030204" pitchFamily="49" charset="0"/>
                        </a:rPr>
                        <a:t>Fin_Para</a:t>
                      </a:r>
                      <a:endParaRPr lang="es-CO" sz="12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dirty="0">
                          <a:latin typeface="Consolas" panose="020B0609020204030204" pitchFamily="49" charset="0"/>
                        </a:rPr>
                        <a:t>N = 4</a:t>
                      </a:r>
                      <a:br>
                        <a:rPr lang="pt-BR" sz="1200" dirty="0">
                          <a:latin typeface="Consolas" panose="020B0609020204030204" pitchFamily="49" charset="0"/>
                        </a:rPr>
                      </a:br>
                      <a:r>
                        <a:rPr lang="pt-BR" sz="1200" dirty="0">
                          <a:latin typeface="Consolas" panose="020B0609020204030204" pitchFamily="49" charset="0"/>
                        </a:rPr>
                        <a:t>notas = [0.0] * N</a:t>
                      </a:r>
                    </a:p>
                    <a:p>
                      <a:br>
                        <a:rPr lang="pt-BR" sz="1200" dirty="0">
                          <a:latin typeface="Consolas" panose="020B0609020204030204" pitchFamily="49" charset="0"/>
                        </a:rPr>
                      </a:br>
                      <a:r>
                        <a:rPr lang="pt-BR" sz="1200" dirty="0">
                          <a:latin typeface="Consolas" panose="020B0609020204030204" pitchFamily="49" charset="0"/>
                        </a:rPr>
                        <a:t>for i in range(N):</a:t>
                      </a:r>
                      <a:br>
                        <a:rPr lang="pt-BR" sz="1200" dirty="0">
                          <a:latin typeface="Consolas" panose="020B0609020204030204" pitchFamily="49" charset="0"/>
                        </a:rPr>
                      </a:br>
                      <a:r>
                        <a:rPr lang="pt-BR" sz="1200" dirty="0">
                          <a:latin typeface="Consolas" panose="020B0609020204030204" pitchFamily="49" charset="0"/>
                        </a:rPr>
                        <a:t>  notas[i] = </a:t>
                      </a:r>
                      <a:r>
                        <a:rPr lang="pt-BR" sz="1200" dirty="0" err="1">
                          <a:latin typeface="Consolas" panose="020B0609020204030204" pitchFamily="49" charset="0"/>
                        </a:rPr>
                        <a:t>float</a:t>
                      </a:r>
                      <a:r>
                        <a:rPr lang="pt-BR" sz="1200" dirty="0">
                          <a:latin typeface="Consolas" panose="020B0609020204030204" pitchFamily="49" charset="0"/>
                        </a:rPr>
                        <a:t>(input(</a:t>
                      </a:r>
                      <a:r>
                        <a:rPr lang="pt-BR" sz="1200" dirty="0" err="1">
                          <a:latin typeface="Consolas" panose="020B0609020204030204" pitchFamily="49" charset="0"/>
                        </a:rPr>
                        <a:t>f"Nota</a:t>
                      </a:r>
                      <a:r>
                        <a:rPr lang="pt-BR" sz="1200" dirty="0">
                          <a:latin typeface="Consolas" panose="020B0609020204030204" pitchFamily="49" charset="0"/>
                        </a:rPr>
                        <a:t> </a:t>
                      </a:r>
                      <a:r>
                        <a:rPr lang="pt-BR" sz="1200" dirty="0" err="1">
                          <a:latin typeface="Consolas" panose="020B0609020204030204" pitchFamily="49" charset="0"/>
                        </a:rPr>
                        <a:t>del</a:t>
                      </a:r>
                      <a:r>
                        <a:rPr lang="pt-BR" sz="1200" dirty="0">
                          <a:latin typeface="Consolas" panose="020B0609020204030204" pitchFamily="49" charset="0"/>
                        </a:rPr>
                        <a:t> </a:t>
                      </a:r>
                      <a:r>
                        <a:rPr lang="pt-BR" sz="1200" dirty="0" err="1">
                          <a:latin typeface="Consolas" panose="020B0609020204030204" pitchFamily="49" charset="0"/>
                        </a:rPr>
                        <a:t>estudiante</a:t>
                      </a:r>
                      <a:r>
                        <a:rPr lang="pt-BR" sz="1200" dirty="0">
                          <a:latin typeface="Consolas" panose="020B0609020204030204" pitchFamily="49" charset="0"/>
                        </a:rPr>
                        <a:t> </a:t>
                      </a:r>
                    </a:p>
                    <a:p>
                      <a:r>
                        <a:rPr lang="pt-BR" sz="1200" dirty="0">
                          <a:latin typeface="Consolas" panose="020B0609020204030204" pitchFamily="49" charset="0"/>
                        </a:rPr>
                        <a:t>                           {i + 1}: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3191429"/>
                  </a:ext>
                </a:extLst>
              </a:tr>
            </a:tbl>
          </a:graphicData>
        </a:graphic>
      </p:graphicFrame>
      <p:graphicFrame>
        <p:nvGraphicFramePr>
          <p:cNvPr id="7" name="Tabla 6">
            <a:extLst>
              <a:ext uri="{FF2B5EF4-FFF2-40B4-BE49-F238E27FC236}">
                <a16:creationId xmlns:a16="http://schemas.microsoft.com/office/drawing/2014/main" id="{21D1E346-0FEB-4B21-8973-725E86364D70}"/>
              </a:ext>
            </a:extLst>
          </p:cNvPr>
          <p:cNvGraphicFramePr>
            <a:graphicFrameLocks noGrp="1"/>
          </p:cNvGraphicFramePr>
          <p:nvPr>
            <p:extLst>
              <p:ext uri="{D42A27DB-BD31-4B8C-83A1-F6EECF244321}">
                <p14:modId xmlns:p14="http://schemas.microsoft.com/office/powerpoint/2010/main" val="1712504157"/>
              </p:ext>
            </p:extLst>
          </p:nvPr>
        </p:nvGraphicFramePr>
        <p:xfrm>
          <a:off x="251520" y="3810352"/>
          <a:ext cx="8608556" cy="1706880"/>
        </p:xfrm>
        <a:graphic>
          <a:graphicData uri="http://schemas.openxmlformats.org/drawingml/2006/table">
            <a:tbl>
              <a:tblPr/>
              <a:tblGrid>
                <a:gridCol w="4176465">
                  <a:extLst>
                    <a:ext uri="{9D8B030D-6E8A-4147-A177-3AD203B41FA5}">
                      <a16:colId xmlns:a16="http://schemas.microsoft.com/office/drawing/2014/main" val="1706694766"/>
                    </a:ext>
                  </a:extLst>
                </a:gridCol>
                <a:gridCol w="4432091">
                  <a:extLst>
                    <a:ext uri="{9D8B030D-6E8A-4147-A177-3AD203B41FA5}">
                      <a16:colId xmlns:a16="http://schemas.microsoft.com/office/drawing/2014/main" val="1676544930"/>
                    </a:ext>
                  </a:extLst>
                </a:gridCol>
              </a:tblGrid>
              <a:tr h="0">
                <a:tc>
                  <a:txBody>
                    <a:bodyPr/>
                    <a:lstStyle/>
                    <a:p>
                      <a:r>
                        <a:rPr lang="es-CO" sz="1600" b="1" dirty="0"/>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Python (</a:t>
                      </a:r>
                      <a:r>
                        <a:rPr lang="es-CO" sz="1600" b="1" dirty="0">
                          <a:hlinkClick r:id="rId3"/>
                        </a:rPr>
                        <a:t>simulación</a:t>
                      </a:r>
                      <a:r>
                        <a:rPr lang="es-CO" sz="1600"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67947195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latin typeface="Consolas" panose="020B0609020204030204" pitchFamily="49" charset="0"/>
                        </a:rPr>
                        <a:t>notas = [3.0, 4.5, 2.0, 4.0]</a:t>
                      </a: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latin typeface="Consolas" panose="020B0609020204030204" pitchFamily="49" charset="0"/>
                        </a:rPr>
                        <a:t>N = 4</a:t>
                      </a:r>
                    </a:p>
                    <a:p>
                      <a:r>
                        <a:rPr lang="pt-BR" sz="1200" dirty="0" err="1">
                          <a:latin typeface="Consolas" panose="020B0609020204030204" pitchFamily="49" charset="0"/>
                        </a:rPr>
                        <a:t>aprobo</a:t>
                      </a:r>
                      <a:r>
                        <a:rPr lang="pt-BR" sz="1200" dirty="0">
                          <a:latin typeface="Consolas" panose="020B0609020204030204" pitchFamily="49" charset="0"/>
                        </a:rPr>
                        <a:t> = [Falso, Falso, Falso, Falso]</a:t>
                      </a:r>
                    </a:p>
                    <a:p>
                      <a:endParaRPr lang="pt-BR" sz="1200" dirty="0">
                        <a:latin typeface="Consolas" panose="020B0609020204030204" pitchFamily="49" charset="0"/>
                      </a:endParaRPr>
                    </a:p>
                    <a:p>
                      <a:r>
                        <a:rPr lang="pt-BR" sz="1200" dirty="0">
                          <a:latin typeface="Consolas" panose="020B0609020204030204" pitchFamily="49" charset="0"/>
                        </a:rPr>
                        <a:t>Para (i = 0, N - 1, 1) Haga</a:t>
                      </a:r>
                    </a:p>
                    <a:p>
                      <a:r>
                        <a:rPr lang="pt-BR" sz="1200" dirty="0">
                          <a:latin typeface="Consolas" panose="020B0609020204030204" pitchFamily="49" charset="0"/>
                        </a:rPr>
                        <a:t>  </a:t>
                      </a:r>
                      <a:r>
                        <a:rPr lang="pt-BR" sz="1200" dirty="0" err="1">
                          <a:latin typeface="Consolas" panose="020B0609020204030204" pitchFamily="49" charset="0"/>
                        </a:rPr>
                        <a:t>aprobo</a:t>
                      </a:r>
                      <a:r>
                        <a:rPr lang="pt-BR" sz="1200" dirty="0">
                          <a:latin typeface="Consolas" panose="020B0609020204030204" pitchFamily="49" charset="0"/>
                        </a:rPr>
                        <a:t>[i] = notas[i] &gt;= 3.0</a:t>
                      </a:r>
                    </a:p>
                    <a:p>
                      <a:r>
                        <a:rPr lang="pt-BR" sz="1200" dirty="0">
                          <a:latin typeface="Consolas" panose="020B0609020204030204" pitchFamily="49" charset="0"/>
                        </a:rPr>
                        <a:t>Fin_Para</a:t>
                      </a:r>
                      <a:endParaRPr lang="es-CO" sz="12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latin typeface="Consolas" panose="020B0609020204030204" pitchFamily="49" charset="0"/>
                        </a:rPr>
                        <a:t>notas = [3.0, 4.5, 2.0, 4.0]</a:t>
                      </a:r>
                    </a:p>
                    <a:p>
                      <a:endParaRPr lang="pt-BR" sz="1200" dirty="0">
                        <a:latin typeface="Consolas" panose="020B0609020204030204" pitchFamily="49" charset="0"/>
                      </a:endParaRPr>
                    </a:p>
                    <a:p>
                      <a:r>
                        <a:rPr lang="pt-BR" sz="1200" dirty="0">
                          <a:latin typeface="Consolas" panose="020B0609020204030204" pitchFamily="49" charset="0"/>
                        </a:rPr>
                        <a:t>N = 4</a:t>
                      </a:r>
                      <a:br>
                        <a:rPr lang="pt-BR" sz="1200" dirty="0">
                          <a:latin typeface="Consolas" panose="020B0609020204030204" pitchFamily="49" charset="0"/>
                        </a:rPr>
                      </a:br>
                      <a:r>
                        <a:rPr lang="pt-BR" sz="1200" dirty="0" err="1">
                          <a:latin typeface="Consolas" panose="020B0609020204030204" pitchFamily="49" charset="0"/>
                        </a:rPr>
                        <a:t>aprobo</a:t>
                      </a:r>
                      <a:r>
                        <a:rPr lang="pt-BR" sz="1200" dirty="0">
                          <a:latin typeface="Consolas" panose="020B0609020204030204" pitchFamily="49" charset="0"/>
                        </a:rPr>
                        <a:t> = [False] * N</a:t>
                      </a:r>
                    </a:p>
                    <a:p>
                      <a:endParaRPr lang="pt-BR" sz="1200" dirty="0">
                        <a:latin typeface="Consolas" panose="020B0609020204030204" pitchFamily="49" charset="0"/>
                      </a:endParaRPr>
                    </a:p>
                    <a:p>
                      <a:r>
                        <a:rPr lang="pt-BR" sz="1200" dirty="0">
                          <a:latin typeface="Consolas" panose="020B0609020204030204" pitchFamily="49" charset="0"/>
                        </a:rPr>
                        <a:t>for i in range(N):</a:t>
                      </a:r>
                    </a:p>
                    <a:p>
                      <a:r>
                        <a:rPr lang="pt-BR" sz="1200" dirty="0">
                          <a:latin typeface="Consolas" panose="020B0609020204030204" pitchFamily="49" charset="0"/>
                        </a:rPr>
                        <a:t>  </a:t>
                      </a:r>
                      <a:r>
                        <a:rPr lang="pt-BR" sz="1200" dirty="0" err="1">
                          <a:latin typeface="Consolas" panose="020B0609020204030204" pitchFamily="49" charset="0"/>
                        </a:rPr>
                        <a:t>aprobo</a:t>
                      </a:r>
                      <a:r>
                        <a:rPr lang="pt-BR" sz="1200" dirty="0">
                          <a:latin typeface="Consolas" panose="020B0609020204030204" pitchFamily="49" charset="0"/>
                        </a:rPr>
                        <a:t>[i] = notas[i] &gt;=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3191429"/>
                  </a:ext>
                </a:extLst>
              </a:tr>
            </a:tbl>
          </a:graphicData>
        </a:graphic>
      </p:graphicFrame>
      <p:sp>
        <p:nvSpPr>
          <p:cNvPr id="9" name="CuadroTexto 8">
            <a:extLst>
              <a:ext uri="{FF2B5EF4-FFF2-40B4-BE49-F238E27FC236}">
                <a16:creationId xmlns:a16="http://schemas.microsoft.com/office/drawing/2014/main" id="{12A303B4-CE88-4706-AC50-BEAA89F02C52}"/>
              </a:ext>
            </a:extLst>
          </p:cNvPr>
          <p:cNvSpPr txBox="1"/>
          <p:nvPr/>
        </p:nvSpPr>
        <p:spPr>
          <a:xfrm>
            <a:off x="251518" y="5799508"/>
            <a:ext cx="8608556" cy="707886"/>
          </a:xfrm>
          <a:prstGeom prst="rect">
            <a:avLst/>
          </a:prstGeom>
          <a:solidFill>
            <a:schemeClr val="accent2">
              <a:lumMod val="20000"/>
              <a:lumOff val="80000"/>
            </a:schemeClr>
          </a:solidFill>
        </p:spPr>
        <p:txBody>
          <a:bodyPr wrap="square">
            <a:spAutoFit/>
          </a:bodyPr>
          <a:lstStyle/>
          <a:p>
            <a:r>
              <a:rPr lang="es-MX" sz="2000" b="1" dirty="0"/>
              <a:t>Idea clave:</a:t>
            </a:r>
            <a:r>
              <a:rPr lang="es-MX" sz="2000" dirty="0"/>
              <a:t> Llenar es darle un valor a cada casilla con un ciclo, y ese valor puede venir de leer o de calcular.</a:t>
            </a:r>
            <a:endParaRPr lang="es-CO" sz="2000" dirty="0"/>
          </a:p>
        </p:txBody>
      </p:sp>
    </p:spTree>
    <p:extLst>
      <p:ext uri="{BB962C8B-B14F-4D97-AF65-F5344CB8AC3E}">
        <p14:creationId xmlns:p14="http://schemas.microsoft.com/office/powerpoint/2010/main" val="6759550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CO" dirty="0"/>
              <a:t>Recorrer y mostrar</a:t>
            </a:r>
          </a:p>
        </p:txBody>
      </p:sp>
      <p:sp>
        <p:nvSpPr>
          <p:cNvPr id="13" name="12 Rectángulo"/>
          <p:cNvSpPr/>
          <p:nvPr/>
        </p:nvSpPr>
        <p:spPr>
          <a:xfrm>
            <a:off x="139908" y="692696"/>
            <a:ext cx="8608556" cy="1015663"/>
          </a:xfrm>
          <a:prstGeom prst="rect">
            <a:avLst/>
          </a:prstGeom>
        </p:spPr>
        <p:txBody>
          <a:bodyPr wrap="square">
            <a:spAutoFit/>
          </a:bodyPr>
          <a:lstStyle/>
          <a:p>
            <a:pPr rtl="0"/>
            <a:r>
              <a:rPr lang="es-MX" sz="2000" b="1" i="1" dirty="0"/>
              <a:t>Recorrer</a:t>
            </a:r>
            <a:r>
              <a:rPr lang="es-MX" sz="2000" dirty="0"/>
              <a:t> un arreglo es visitar sus casillas una por una. Mostrar su contenido es el recorrido más simple.</a:t>
            </a:r>
            <a:endParaRPr lang="es-MX" sz="2000" b="1" dirty="0"/>
          </a:p>
          <a:p>
            <a:pPr marL="342900" indent="-342900" rtl="0">
              <a:buFont typeface="Arial" panose="020B0604020202020204" pitchFamily="34" charset="0"/>
              <a:buChar char="•"/>
            </a:pPr>
            <a:r>
              <a:rPr lang="es-MX" sz="2000" b="1" dirty="0"/>
              <a:t>Caso 1 – Por índice</a:t>
            </a:r>
            <a:r>
              <a:rPr lang="es-MX" sz="2000" dirty="0"/>
              <a:t>:</a:t>
            </a:r>
            <a:r>
              <a:rPr lang="es-MX" sz="2000" b="1" dirty="0"/>
              <a:t> </a:t>
            </a:r>
            <a:r>
              <a:rPr lang="es-MX" sz="2000" dirty="0"/>
              <a:t>Se usa el índice </a:t>
            </a:r>
            <a:r>
              <a:rPr lang="es-MX" b="1" dirty="0">
                <a:latin typeface="Consolas" panose="020B0609020204030204" pitchFamily="49" charset="0"/>
              </a:rPr>
              <a:t>i</a:t>
            </a:r>
            <a:r>
              <a:rPr lang="es-MX" sz="2000" dirty="0"/>
              <a:t>.</a:t>
            </a:r>
          </a:p>
        </p:txBody>
      </p:sp>
      <p:sp>
        <p:nvSpPr>
          <p:cNvPr id="6" name="12 Rectángulo">
            <a:extLst>
              <a:ext uri="{FF2B5EF4-FFF2-40B4-BE49-F238E27FC236}">
                <a16:creationId xmlns:a16="http://schemas.microsoft.com/office/drawing/2014/main" id="{AB7BB788-B1FC-4EA3-AA86-A9AF9E515519}"/>
              </a:ext>
            </a:extLst>
          </p:cNvPr>
          <p:cNvSpPr/>
          <p:nvPr/>
        </p:nvSpPr>
        <p:spPr>
          <a:xfrm>
            <a:off x="179512" y="3153162"/>
            <a:ext cx="8608556" cy="707886"/>
          </a:xfrm>
          <a:prstGeom prst="rect">
            <a:avLst/>
          </a:prstGeom>
        </p:spPr>
        <p:txBody>
          <a:bodyPr wrap="square">
            <a:spAutoFit/>
          </a:bodyPr>
          <a:lstStyle/>
          <a:p>
            <a:pPr marL="342900" indent="-342900" rtl="0">
              <a:buFont typeface="Arial" panose="020B0604020202020204" pitchFamily="34" charset="0"/>
              <a:buChar char="•"/>
            </a:pPr>
            <a:r>
              <a:rPr lang="es-MX" sz="2000" b="1" dirty="0"/>
              <a:t>Caso 2 – Por elemento</a:t>
            </a:r>
            <a:r>
              <a:rPr lang="es-MX" sz="2000" dirty="0"/>
              <a:t>:</a:t>
            </a:r>
            <a:r>
              <a:rPr lang="es-MX" sz="2000" b="1" dirty="0"/>
              <a:t> </a:t>
            </a:r>
            <a:r>
              <a:rPr lang="es-MX" sz="2000" dirty="0"/>
              <a:t>Se recibe cada elemento sin usar el índice. Existe en Python y en otros lenguajes (Java, C++), pero no en el pseudocódigo.</a:t>
            </a:r>
            <a:endParaRPr lang="es-CO" sz="2000" dirty="0"/>
          </a:p>
        </p:txBody>
      </p:sp>
      <p:graphicFrame>
        <p:nvGraphicFramePr>
          <p:cNvPr id="2" name="Tabla 1">
            <a:extLst>
              <a:ext uri="{FF2B5EF4-FFF2-40B4-BE49-F238E27FC236}">
                <a16:creationId xmlns:a16="http://schemas.microsoft.com/office/drawing/2014/main" id="{657F5117-2590-45C9-A4CB-57355870698F}"/>
              </a:ext>
            </a:extLst>
          </p:cNvPr>
          <p:cNvGraphicFramePr>
            <a:graphicFrameLocks noGrp="1"/>
          </p:cNvGraphicFramePr>
          <p:nvPr>
            <p:extLst>
              <p:ext uri="{D42A27DB-BD31-4B8C-83A1-F6EECF244321}">
                <p14:modId xmlns:p14="http://schemas.microsoft.com/office/powerpoint/2010/main" val="198434902"/>
              </p:ext>
            </p:extLst>
          </p:nvPr>
        </p:nvGraphicFramePr>
        <p:xfrm>
          <a:off x="645740" y="1727840"/>
          <a:ext cx="7886700" cy="1341120"/>
        </p:xfrm>
        <a:graphic>
          <a:graphicData uri="http://schemas.openxmlformats.org/drawingml/2006/table">
            <a:tbl>
              <a:tblPr/>
              <a:tblGrid>
                <a:gridCol w="3943350">
                  <a:extLst>
                    <a:ext uri="{9D8B030D-6E8A-4147-A177-3AD203B41FA5}">
                      <a16:colId xmlns:a16="http://schemas.microsoft.com/office/drawing/2014/main" val="348586111"/>
                    </a:ext>
                  </a:extLst>
                </a:gridCol>
                <a:gridCol w="3943350">
                  <a:extLst>
                    <a:ext uri="{9D8B030D-6E8A-4147-A177-3AD203B41FA5}">
                      <a16:colId xmlns:a16="http://schemas.microsoft.com/office/drawing/2014/main" val="2659003476"/>
                    </a:ext>
                  </a:extLst>
                </a:gridCol>
              </a:tblGrid>
              <a:tr h="0">
                <a:tc>
                  <a:txBody>
                    <a:bodyPr/>
                    <a:lstStyle/>
                    <a:p>
                      <a:r>
                        <a:rPr lang="es-CO" sz="1600" b="1" dirty="0"/>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Python (</a:t>
                      </a:r>
                      <a:r>
                        <a:rPr lang="es-CO" sz="1600" b="1" dirty="0">
                          <a:hlinkClick r:id="rId2"/>
                        </a:rPr>
                        <a:t>simulación</a:t>
                      </a:r>
                      <a:r>
                        <a:rPr lang="es-CO" sz="1600"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69624215"/>
                  </a:ext>
                </a:extLst>
              </a:tr>
              <a:tr h="0">
                <a:tc>
                  <a:txBody>
                    <a:bodyPr/>
                    <a:lstStyle/>
                    <a:p>
                      <a:r>
                        <a:rPr lang="es-CO" sz="1200" dirty="0">
                          <a:latin typeface="Consolas" panose="020B0609020204030204" pitchFamily="49" charset="0"/>
                        </a:rPr>
                        <a:t>notas = [3.0, 4.5, 2.0, 4.0]</a:t>
                      </a:r>
                      <a:br>
                        <a:rPr lang="es-CO" sz="1200" dirty="0">
                          <a:latin typeface="Consolas" panose="020B0609020204030204" pitchFamily="49" charset="0"/>
                        </a:rPr>
                      </a:br>
                      <a:r>
                        <a:rPr lang="es-CO" sz="1200" dirty="0">
                          <a:latin typeface="Consolas" panose="020B0609020204030204" pitchFamily="49" charset="0"/>
                        </a:rPr>
                        <a:t>N = 4</a:t>
                      </a:r>
                      <a:br>
                        <a:rPr lang="es-CO" sz="1200" dirty="0">
                          <a:latin typeface="Consolas" panose="020B0609020204030204" pitchFamily="49" charset="0"/>
                        </a:rPr>
                      </a:br>
                      <a:r>
                        <a:rPr lang="es-CO" sz="1200" dirty="0">
                          <a:latin typeface="Consolas" panose="020B0609020204030204" pitchFamily="49" charset="0"/>
                        </a:rPr>
                        <a:t>Para (i = 0, N - 1, 1) Haga</a:t>
                      </a:r>
                      <a:br>
                        <a:rPr lang="es-CO" sz="1200" dirty="0">
                          <a:latin typeface="Consolas" panose="020B0609020204030204" pitchFamily="49" charset="0"/>
                        </a:rPr>
                      </a:br>
                      <a:r>
                        <a:rPr lang="es-CO" sz="1200" dirty="0">
                          <a:latin typeface="Consolas" panose="020B0609020204030204" pitchFamily="49" charset="0"/>
                        </a:rPr>
                        <a:t>  Escribir("Posición ", i, ": ", notas[i])</a:t>
                      </a:r>
                      <a:br>
                        <a:rPr lang="es-CO" sz="1200" dirty="0">
                          <a:latin typeface="Consolas" panose="020B0609020204030204" pitchFamily="49" charset="0"/>
                        </a:rPr>
                      </a:br>
                      <a:r>
                        <a:rPr lang="es-CO" sz="1200" dirty="0" err="1">
                          <a:latin typeface="Consolas" panose="020B0609020204030204" pitchFamily="49" charset="0"/>
                        </a:rPr>
                        <a:t>Fin_Para</a:t>
                      </a:r>
                      <a:endParaRPr lang="es-CO" sz="12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dirty="0">
                          <a:latin typeface="Consolas" panose="020B0609020204030204" pitchFamily="49" charset="0"/>
                        </a:rPr>
                        <a:t>notas = [3.0, 4.5, 2.0, 4.0]</a:t>
                      </a:r>
                      <a:br>
                        <a:rPr lang="pt-BR" sz="1200" dirty="0">
                          <a:latin typeface="Consolas" panose="020B0609020204030204" pitchFamily="49" charset="0"/>
                        </a:rPr>
                      </a:br>
                      <a:r>
                        <a:rPr lang="pt-BR" sz="1200" dirty="0">
                          <a:latin typeface="Consolas" panose="020B0609020204030204" pitchFamily="49" charset="0"/>
                        </a:rPr>
                        <a:t>N = 4</a:t>
                      </a:r>
                      <a:br>
                        <a:rPr lang="pt-BR" sz="1200" dirty="0">
                          <a:latin typeface="Consolas" panose="020B0609020204030204" pitchFamily="49" charset="0"/>
                        </a:rPr>
                      </a:br>
                      <a:r>
                        <a:rPr lang="pt-BR" sz="1200" dirty="0">
                          <a:latin typeface="Consolas" panose="020B0609020204030204" pitchFamily="49" charset="0"/>
                        </a:rPr>
                        <a:t>for i in range(N):</a:t>
                      </a:r>
                      <a:br>
                        <a:rPr lang="pt-BR" sz="1200" dirty="0">
                          <a:latin typeface="Consolas" panose="020B0609020204030204" pitchFamily="49" charset="0"/>
                        </a:rPr>
                      </a:br>
                      <a:r>
                        <a:rPr lang="pt-BR" sz="1200" dirty="0">
                          <a:latin typeface="Consolas" panose="020B0609020204030204" pitchFamily="49" charset="0"/>
                        </a:rPr>
                        <a:t>  print(f"Posicion {i}: {notas[i]}")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7366887"/>
                  </a:ext>
                </a:extLst>
              </a:tr>
            </a:tbl>
          </a:graphicData>
        </a:graphic>
      </p:graphicFrame>
      <p:graphicFrame>
        <p:nvGraphicFramePr>
          <p:cNvPr id="8" name="Tabla 7">
            <a:extLst>
              <a:ext uri="{FF2B5EF4-FFF2-40B4-BE49-F238E27FC236}">
                <a16:creationId xmlns:a16="http://schemas.microsoft.com/office/drawing/2014/main" id="{FD24A129-D8D4-4F3A-96B0-706B0E90B9FA}"/>
              </a:ext>
            </a:extLst>
          </p:cNvPr>
          <p:cNvGraphicFramePr>
            <a:graphicFrameLocks noGrp="1"/>
          </p:cNvGraphicFramePr>
          <p:nvPr>
            <p:extLst>
              <p:ext uri="{D42A27DB-BD31-4B8C-83A1-F6EECF244321}">
                <p14:modId xmlns:p14="http://schemas.microsoft.com/office/powerpoint/2010/main" val="2719662358"/>
              </p:ext>
            </p:extLst>
          </p:nvPr>
        </p:nvGraphicFramePr>
        <p:xfrm>
          <a:off x="645740" y="3926944"/>
          <a:ext cx="7886700" cy="1158240"/>
        </p:xfrm>
        <a:graphic>
          <a:graphicData uri="http://schemas.openxmlformats.org/drawingml/2006/table">
            <a:tbl>
              <a:tblPr/>
              <a:tblGrid>
                <a:gridCol w="3943350">
                  <a:extLst>
                    <a:ext uri="{9D8B030D-6E8A-4147-A177-3AD203B41FA5}">
                      <a16:colId xmlns:a16="http://schemas.microsoft.com/office/drawing/2014/main" val="1668945825"/>
                    </a:ext>
                  </a:extLst>
                </a:gridCol>
                <a:gridCol w="3943350">
                  <a:extLst>
                    <a:ext uri="{9D8B030D-6E8A-4147-A177-3AD203B41FA5}">
                      <a16:colId xmlns:a16="http://schemas.microsoft.com/office/drawing/2014/main" val="2886006610"/>
                    </a:ext>
                  </a:extLst>
                </a:gridCol>
              </a:tblGrid>
              <a:tr h="282461">
                <a:tc>
                  <a:txBody>
                    <a:bodyPr/>
                    <a:lstStyle/>
                    <a:p>
                      <a:r>
                        <a:rPr lang="es-CO" sz="1600" b="1" dirty="0"/>
                        <a:t>Python (</a:t>
                      </a:r>
                      <a:r>
                        <a:rPr lang="es-CO" sz="1600" b="1" dirty="0">
                          <a:hlinkClick r:id="rId3"/>
                        </a:rPr>
                        <a:t>simulación</a:t>
                      </a:r>
                      <a:r>
                        <a:rPr lang="es-CO" sz="1600"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Salida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608512179"/>
                  </a:ext>
                </a:extLst>
              </a:tr>
              <a:tr h="693311">
                <a:tc>
                  <a:txBody>
                    <a:bodyPr/>
                    <a:lstStyle/>
                    <a:p>
                      <a:r>
                        <a:rPr lang="es-CO" sz="1200" dirty="0">
                          <a:latin typeface="Consolas" panose="020B0609020204030204" pitchFamily="49" charset="0"/>
                        </a:rPr>
                        <a:t>for nota in notas:</a:t>
                      </a:r>
                      <a:br>
                        <a:rPr lang="es-CO" sz="1200" dirty="0">
                          <a:latin typeface="Consolas" panose="020B0609020204030204" pitchFamily="49" charset="0"/>
                        </a:rPr>
                      </a:br>
                      <a:r>
                        <a:rPr lang="es-CO" sz="1200" dirty="0">
                          <a:latin typeface="Consolas" panose="020B0609020204030204" pitchFamily="49" charset="0"/>
                        </a:rPr>
                        <a:t>  print("Nota:", nota)</a:t>
                      </a:r>
                    </a:p>
                    <a:p>
                      <a:endParaRPr lang="es-CO" sz="1200" dirty="0">
                        <a:latin typeface="Consolas" panose="020B0609020204030204" pitchFamily="49" charset="0"/>
                      </a:endParaRPr>
                    </a:p>
                    <a:p>
                      <a:endParaRPr lang="es-CO" sz="12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it-IT" sz="1200" dirty="0">
                          <a:latin typeface="Consolas" panose="020B0609020204030204" pitchFamily="49" charset="0"/>
                        </a:rPr>
                        <a:t>Nota: 3.0</a:t>
                      </a:r>
                      <a:br>
                        <a:rPr lang="it-IT" sz="1200" dirty="0">
                          <a:latin typeface="Consolas" panose="020B0609020204030204" pitchFamily="49" charset="0"/>
                        </a:rPr>
                      </a:br>
                      <a:r>
                        <a:rPr lang="it-IT" sz="1200" dirty="0">
                          <a:latin typeface="Consolas" panose="020B0609020204030204" pitchFamily="49" charset="0"/>
                        </a:rPr>
                        <a:t>Nota: 4.5</a:t>
                      </a:r>
                      <a:br>
                        <a:rPr lang="it-IT" sz="1200" dirty="0">
                          <a:latin typeface="Consolas" panose="020B0609020204030204" pitchFamily="49" charset="0"/>
                        </a:rPr>
                      </a:br>
                      <a:r>
                        <a:rPr lang="it-IT" sz="1200" dirty="0">
                          <a:latin typeface="Consolas" panose="020B0609020204030204" pitchFamily="49" charset="0"/>
                        </a:rPr>
                        <a:t>Nota: 2.0</a:t>
                      </a:r>
                      <a:br>
                        <a:rPr lang="it-IT" sz="1200" dirty="0">
                          <a:latin typeface="Consolas" panose="020B0609020204030204" pitchFamily="49" charset="0"/>
                        </a:rPr>
                      </a:br>
                      <a:r>
                        <a:rPr lang="it-IT" sz="1200" dirty="0">
                          <a:latin typeface="Consolas" panose="020B0609020204030204" pitchFamily="49" charset="0"/>
                        </a:rPr>
                        <a:t>Nota: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514826"/>
                  </a:ext>
                </a:extLst>
              </a:tr>
            </a:tbl>
          </a:graphicData>
        </a:graphic>
      </p:graphicFrame>
      <p:sp>
        <p:nvSpPr>
          <p:cNvPr id="11" name="12 Rectángulo">
            <a:extLst>
              <a:ext uri="{FF2B5EF4-FFF2-40B4-BE49-F238E27FC236}">
                <a16:creationId xmlns:a16="http://schemas.microsoft.com/office/drawing/2014/main" id="{06B5EDC1-33D3-4CA5-9545-FDC4BA042319}"/>
              </a:ext>
            </a:extLst>
          </p:cNvPr>
          <p:cNvSpPr/>
          <p:nvPr/>
        </p:nvSpPr>
        <p:spPr>
          <a:xfrm>
            <a:off x="251520" y="5120605"/>
            <a:ext cx="8714760" cy="1692771"/>
          </a:xfrm>
          <a:prstGeom prst="rect">
            <a:avLst/>
          </a:prstGeom>
        </p:spPr>
        <p:txBody>
          <a:bodyPr wrap="square">
            <a:spAutoFit/>
          </a:bodyPr>
          <a:lstStyle/>
          <a:p>
            <a:pPr rtl="0"/>
            <a:r>
              <a:rPr lang="es-MX" sz="2000" b="1" dirty="0"/>
              <a:t>Comparación:</a:t>
            </a:r>
          </a:p>
          <a:p>
            <a:pPr marL="342900" indent="-342900" rtl="0">
              <a:buFont typeface="Arial" panose="020B0604020202020204" pitchFamily="34" charset="0"/>
              <a:buChar char="•"/>
            </a:pPr>
            <a:r>
              <a:rPr lang="es-MX" sz="2000" b="1" dirty="0"/>
              <a:t>Caso 1</a:t>
            </a:r>
            <a:r>
              <a:rPr lang="es-MX" sz="2000" dirty="0"/>
              <a:t>:</a:t>
            </a:r>
            <a:r>
              <a:rPr lang="es-MX" sz="2000" b="1" dirty="0"/>
              <a:t> </a:t>
            </a:r>
            <a:r>
              <a:rPr lang="es-MX" sz="2000" dirty="0"/>
              <a:t>se conoce la posición </a:t>
            </a:r>
            <a:r>
              <a:rPr lang="es-MX" b="1" dirty="0">
                <a:latin typeface="Consolas" panose="020B0609020204030204" pitchFamily="49" charset="0"/>
              </a:rPr>
              <a:t>i</a:t>
            </a:r>
            <a:r>
              <a:rPr lang="es-MX" sz="2000" dirty="0"/>
              <a:t>. Sirve para leer, modificar y saber dónde está cada dato.</a:t>
            </a:r>
          </a:p>
          <a:p>
            <a:pPr marL="342900" indent="-342900" rtl="0">
              <a:buFont typeface="Arial" panose="020B0604020202020204" pitchFamily="34" charset="0"/>
              <a:buChar char="•"/>
            </a:pPr>
            <a:r>
              <a:rPr lang="es-MX" sz="2000" b="1" dirty="0"/>
              <a:t>Caso 2</a:t>
            </a:r>
            <a:r>
              <a:rPr lang="es-MX" sz="2000" dirty="0"/>
              <a:t>:</a:t>
            </a:r>
            <a:r>
              <a:rPr lang="es-MX" sz="2000" b="1" dirty="0"/>
              <a:t> </a:t>
            </a:r>
            <a:r>
              <a:rPr lang="es-MX" sz="2000" dirty="0"/>
              <a:t>se recibe cada valor directamente. Es más corto, pero no da la posición y solo sirve para leer los valores.</a:t>
            </a:r>
            <a:endParaRPr lang="es-CO" sz="2000" dirty="0"/>
          </a:p>
        </p:txBody>
      </p:sp>
    </p:spTree>
    <p:extLst>
      <p:ext uri="{BB962C8B-B14F-4D97-AF65-F5344CB8AC3E}">
        <p14:creationId xmlns:p14="http://schemas.microsoft.com/office/powerpoint/2010/main" val="34188536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CO" dirty="0"/>
              <a:t>Recorrer y acumular</a:t>
            </a:r>
          </a:p>
        </p:txBody>
      </p:sp>
      <p:sp>
        <p:nvSpPr>
          <p:cNvPr id="13" name="12 Rectángulo"/>
          <p:cNvSpPr/>
          <p:nvPr/>
        </p:nvSpPr>
        <p:spPr>
          <a:xfrm>
            <a:off x="139908" y="692696"/>
            <a:ext cx="8608556" cy="707886"/>
          </a:xfrm>
          <a:prstGeom prst="rect">
            <a:avLst/>
          </a:prstGeom>
        </p:spPr>
        <p:txBody>
          <a:bodyPr wrap="square">
            <a:spAutoFit/>
          </a:bodyPr>
          <a:lstStyle/>
          <a:p>
            <a:pPr rtl="0"/>
            <a:r>
              <a:rPr lang="es-MX" sz="2000" b="1" i="1" dirty="0"/>
              <a:t>Recorrer</a:t>
            </a:r>
            <a:r>
              <a:rPr lang="es-MX" sz="2000" dirty="0"/>
              <a:t> un arreglo es visitar sus casillas una por una. En este caso, dentro del recorrido se realizó la actualización de un acumulador (</a:t>
            </a:r>
            <a:r>
              <a:rPr lang="es-MX" b="1" dirty="0">
                <a:latin typeface="Consolas" panose="020B0609020204030204" pitchFamily="49" charset="0"/>
              </a:rPr>
              <a:t>suma</a:t>
            </a:r>
            <a:r>
              <a:rPr lang="es-MX" sz="2000" dirty="0"/>
              <a:t>).</a:t>
            </a:r>
            <a:endParaRPr lang="es-MX" sz="2000" b="1" dirty="0"/>
          </a:p>
        </p:txBody>
      </p:sp>
      <p:sp>
        <p:nvSpPr>
          <p:cNvPr id="11" name="12 Rectángulo">
            <a:extLst>
              <a:ext uri="{FF2B5EF4-FFF2-40B4-BE49-F238E27FC236}">
                <a16:creationId xmlns:a16="http://schemas.microsoft.com/office/drawing/2014/main" id="{06B5EDC1-33D3-4CA5-9545-FDC4BA042319}"/>
              </a:ext>
            </a:extLst>
          </p:cNvPr>
          <p:cNvSpPr/>
          <p:nvPr/>
        </p:nvSpPr>
        <p:spPr>
          <a:xfrm>
            <a:off x="161534" y="3429000"/>
            <a:ext cx="2812554" cy="400110"/>
          </a:xfrm>
          <a:prstGeom prst="rect">
            <a:avLst/>
          </a:prstGeom>
        </p:spPr>
        <p:txBody>
          <a:bodyPr wrap="square">
            <a:spAutoFit/>
          </a:bodyPr>
          <a:lstStyle/>
          <a:p>
            <a:pPr rtl="0"/>
            <a:r>
              <a:rPr lang="es-MX" sz="2000" b="1" dirty="0"/>
              <a:t>Prueba de escritorio</a:t>
            </a:r>
            <a:r>
              <a:rPr lang="es-MX" sz="2000" dirty="0"/>
              <a:t>:</a:t>
            </a:r>
          </a:p>
        </p:txBody>
      </p:sp>
      <p:graphicFrame>
        <p:nvGraphicFramePr>
          <p:cNvPr id="3" name="Tabla 2">
            <a:extLst>
              <a:ext uri="{FF2B5EF4-FFF2-40B4-BE49-F238E27FC236}">
                <a16:creationId xmlns:a16="http://schemas.microsoft.com/office/drawing/2014/main" id="{5207152C-2A19-4E17-91E2-F23F543C18FF}"/>
              </a:ext>
            </a:extLst>
          </p:cNvPr>
          <p:cNvGraphicFramePr>
            <a:graphicFrameLocks noGrp="1"/>
          </p:cNvGraphicFramePr>
          <p:nvPr>
            <p:extLst>
              <p:ext uri="{D42A27DB-BD31-4B8C-83A1-F6EECF244321}">
                <p14:modId xmlns:p14="http://schemas.microsoft.com/office/powerpoint/2010/main" val="63153294"/>
              </p:ext>
            </p:extLst>
          </p:nvPr>
        </p:nvGraphicFramePr>
        <p:xfrm>
          <a:off x="645740" y="1484784"/>
          <a:ext cx="7886700" cy="1920240"/>
        </p:xfrm>
        <a:graphic>
          <a:graphicData uri="http://schemas.openxmlformats.org/drawingml/2006/table">
            <a:tbl>
              <a:tblPr/>
              <a:tblGrid>
                <a:gridCol w="3943350">
                  <a:extLst>
                    <a:ext uri="{9D8B030D-6E8A-4147-A177-3AD203B41FA5}">
                      <a16:colId xmlns:a16="http://schemas.microsoft.com/office/drawing/2014/main" val="4089834255"/>
                    </a:ext>
                  </a:extLst>
                </a:gridCol>
                <a:gridCol w="3943350">
                  <a:extLst>
                    <a:ext uri="{9D8B030D-6E8A-4147-A177-3AD203B41FA5}">
                      <a16:colId xmlns:a16="http://schemas.microsoft.com/office/drawing/2014/main" val="2024469634"/>
                    </a:ext>
                  </a:extLst>
                </a:gridCol>
              </a:tblGrid>
              <a:tr h="0">
                <a:tc>
                  <a:txBody>
                    <a:bodyPr/>
                    <a:lstStyle/>
                    <a:p>
                      <a:r>
                        <a:rPr lang="es-CO" b="1" dirty="0"/>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Python (</a:t>
                      </a:r>
                      <a:r>
                        <a:rPr lang="es-CO" b="1" dirty="0">
                          <a:hlinkClick r:id="rId2"/>
                        </a:rPr>
                        <a:t>simulación</a:t>
                      </a:r>
                      <a:r>
                        <a:rPr lang="es-CO"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93425125"/>
                  </a:ext>
                </a:extLst>
              </a:tr>
              <a:tr h="0">
                <a:tc>
                  <a:txBody>
                    <a:bodyPr/>
                    <a:lstStyle/>
                    <a:p>
                      <a:r>
                        <a:rPr lang="es-CO" sz="1200" dirty="0">
                          <a:latin typeface="Consolas" panose="020B0609020204030204" pitchFamily="49" charset="0"/>
                        </a:rPr>
                        <a:t>notas = [3.0, 4.5, 2.0, 4.0]</a:t>
                      </a:r>
                      <a:br>
                        <a:rPr lang="es-CO" sz="1200" dirty="0">
                          <a:latin typeface="Consolas" panose="020B0609020204030204" pitchFamily="49" charset="0"/>
                        </a:rPr>
                      </a:br>
                      <a:r>
                        <a:rPr lang="es-CO" sz="1200" dirty="0">
                          <a:latin typeface="Consolas" panose="020B0609020204030204" pitchFamily="49" charset="0"/>
                        </a:rPr>
                        <a:t>N = 4</a:t>
                      </a:r>
                      <a:br>
                        <a:rPr lang="es-CO" sz="1200" dirty="0">
                          <a:latin typeface="Consolas" panose="020B0609020204030204" pitchFamily="49" charset="0"/>
                        </a:rPr>
                      </a:br>
                      <a:r>
                        <a:rPr lang="es-CO" sz="1200" dirty="0">
                          <a:latin typeface="Consolas" panose="020B0609020204030204" pitchFamily="49" charset="0"/>
                        </a:rPr>
                        <a:t>suma = 0</a:t>
                      </a:r>
                      <a:br>
                        <a:rPr lang="es-CO" sz="1200" dirty="0">
                          <a:latin typeface="Consolas" panose="020B0609020204030204" pitchFamily="49" charset="0"/>
                        </a:rPr>
                      </a:br>
                      <a:r>
                        <a:rPr lang="es-CO" sz="1200" dirty="0">
                          <a:latin typeface="Consolas" panose="020B0609020204030204" pitchFamily="49" charset="0"/>
                        </a:rPr>
                        <a:t>Para (i = 0, N - 1, 1) Haga</a:t>
                      </a:r>
                      <a:br>
                        <a:rPr lang="es-CO" sz="1200" dirty="0">
                          <a:latin typeface="Consolas" panose="020B0609020204030204" pitchFamily="49" charset="0"/>
                        </a:rPr>
                      </a:br>
                      <a:r>
                        <a:rPr lang="es-CO" sz="1200" dirty="0">
                          <a:latin typeface="Consolas" panose="020B0609020204030204" pitchFamily="49" charset="0"/>
                        </a:rPr>
                        <a:t>  suma = suma + notas[i]</a:t>
                      </a:r>
                      <a:br>
                        <a:rPr lang="es-CO" sz="1200" dirty="0">
                          <a:latin typeface="Consolas" panose="020B0609020204030204" pitchFamily="49" charset="0"/>
                        </a:rPr>
                      </a:br>
                      <a:r>
                        <a:rPr lang="es-CO" sz="1200" dirty="0">
                          <a:latin typeface="Consolas" panose="020B0609020204030204" pitchFamily="49" charset="0"/>
                        </a:rPr>
                        <a:t>Fin_Para</a:t>
                      </a:r>
                      <a:br>
                        <a:rPr lang="es-CO" sz="1200" dirty="0">
                          <a:latin typeface="Consolas" panose="020B0609020204030204" pitchFamily="49" charset="0"/>
                        </a:rPr>
                      </a:br>
                      <a:r>
                        <a:rPr lang="es-CO" sz="1200" dirty="0">
                          <a:latin typeface="Consolas" panose="020B0609020204030204" pitchFamily="49" charset="0"/>
                        </a:rPr>
                        <a:t>promedio = suma / N</a:t>
                      </a:r>
                      <a:br>
                        <a:rPr lang="es-CO" sz="1200" dirty="0">
                          <a:latin typeface="Consolas" panose="020B0609020204030204" pitchFamily="49" charset="0"/>
                        </a:rPr>
                      </a:br>
                      <a:r>
                        <a:rPr lang="es-CO" sz="1200" dirty="0">
                          <a:latin typeface="Consolas" panose="020B0609020204030204" pitchFamily="49" charset="0"/>
                        </a:rPr>
                        <a:t>Escribir("Promedio: ", promedio)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dirty="0">
                          <a:latin typeface="Consolas" panose="020B0609020204030204" pitchFamily="49" charset="0"/>
                        </a:rPr>
                        <a:t>notas = [3.0, 4.5, 2.0, 4.0]</a:t>
                      </a:r>
                      <a:br>
                        <a:rPr lang="pt-BR" sz="1200" dirty="0">
                          <a:latin typeface="Consolas" panose="020B0609020204030204" pitchFamily="49" charset="0"/>
                        </a:rPr>
                      </a:br>
                      <a:r>
                        <a:rPr lang="pt-BR" sz="1200" dirty="0">
                          <a:latin typeface="Consolas" panose="020B0609020204030204" pitchFamily="49" charset="0"/>
                        </a:rPr>
                        <a:t>N = 4</a:t>
                      </a:r>
                      <a:br>
                        <a:rPr lang="pt-BR" sz="1200" dirty="0">
                          <a:latin typeface="Consolas" panose="020B0609020204030204" pitchFamily="49" charset="0"/>
                        </a:rPr>
                      </a:br>
                      <a:r>
                        <a:rPr lang="pt-BR" sz="1200" dirty="0">
                          <a:latin typeface="Consolas" panose="020B0609020204030204" pitchFamily="49" charset="0"/>
                        </a:rPr>
                        <a:t>suma = 0</a:t>
                      </a:r>
                      <a:br>
                        <a:rPr lang="pt-BR" sz="1200" dirty="0">
                          <a:latin typeface="Consolas" panose="020B0609020204030204" pitchFamily="49" charset="0"/>
                        </a:rPr>
                      </a:br>
                      <a:r>
                        <a:rPr lang="pt-BR" sz="1200" dirty="0">
                          <a:latin typeface="Consolas" panose="020B0609020204030204" pitchFamily="49" charset="0"/>
                        </a:rPr>
                        <a:t>for i in range(N):</a:t>
                      </a:r>
                      <a:br>
                        <a:rPr lang="pt-BR" sz="1200" dirty="0">
                          <a:latin typeface="Consolas" panose="020B0609020204030204" pitchFamily="49" charset="0"/>
                        </a:rPr>
                      </a:br>
                      <a:r>
                        <a:rPr lang="pt-BR" sz="1200" dirty="0">
                          <a:latin typeface="Consolas" panose="020B0609020204030204" pitchFamily="49" charset="0"/>
                        </a:rPr>
                        <a:t>  suma = suma + notas[i]</a:t>
                      </a:r>
                      <a:br>
                        <a:rPr lang="pt-BR" sz="1200" dirty="0">
                          <a:latin typeface="Consolas" panose="020B0609020204030204" pitchFamily="49" charset="0"/>
                        </a:rPr>
                      </a:br>
                      <a:r>
                        <a:rPr lang="pt-BR" sz="1200" dirty="0" err="1">
                          <a:latin typeface="Consolas" panose="020B0609020204030204" pitchFamily="49" charset="0"/>
                        </a:rPr>
                        <a:t>promedio</a:t>
                      </a:r>
                      <a:r>
                        <a:rPr lang="pt-BR" sz="1200" dirty="0">
                          <a:latin typeface="Consolas" panose="020B0609020204030204" pitchFamily="49" charset="0"/>
                        </a:rPr>
                        <a:t> = suma / N</a:t>
                      </a:r>
                      <a:br>
                        <a:rPr lang="pt-BR" sz="1200" dirty="0">
                          <a:latin typeface="Consolas" panose="020B0609020204030204" pitchFamily="49" charset="0"/>
                        </a:rPr>
                      </a:br>
                      <a:r>
                        <a:rPr lang="pt-BR" sz="1200" dirty="0">
                          <a:latin typeface="Consolas" panose="020B0609020204030204" pitchFamily="49" charset="0"/>
                        </a:rPr>
                        <a:t>print(</a:t>
                      </a:r>
                      <a:r>
                        <a:rPr lang="pt-BR" sz="1200" dirty="0" err="1">
                          <a:latin typeface="Consolas" panose="020B0609020204030204" pitchFamily="49" charset="0"/>
                        </a:rPr>
                        <a:t>f"Promedio</a:t>
                      </a:r>
                      <a:r>
                        <a:rPr lang="pt-BR" sz="1200" dirty="0">
                          <a:latin typeface="Consolas" panose="020B0609020204030204" pitchFamily="49" charset="0"/>
                        </a:rPr>
                        <a:t>: {promedio:.2f}")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9256533"/>
                  </a:ext>
                </a:extLst>
              </a:tr>
            </a:tbl>
          </a:graphicData>
        </a:graphic>
      </p:graphicFrame>
      <p:graphicFrame>
        <p:nvGraphicFramePr>
          <p:cNvPr id="4" name="Tabla 3">
            <a:extLst>
              <a:ext uri="{FF2B5EF4-FFF2-40B4-BE49-F238E27FC236}">
                <a16:creationId xmlns:a16="http://schemas.microsoft.com/office/drawing/2014/main" id="{A0E15588-1573-4467-B9C3-F09CE980AA2C}"/>
              </a:ext>
            </a:extLst>
          </p:cNvPr>
          <p:cNvGraphicFramePr>
            <a:graphicFrameLocks noGrp="1"/>
          </p:cNvGraphicFramePr>
          <p:nvPr>
            <p:extLst>
              <p:ext uri="{D42A27DB-BD31-4B8C-83A1-F6EECF244321}">
                <p14:modId xmlns:p14="http://schemas.microsoft.com/office/powerpoint/2010/main" val="749448114"/>
              </p:ext>
            </p:extLst>
          </p:nvPr>
        </p:nvGraphicFramePr>
        <p:xfrm>
          <a:off x="755576" y="3865592"/>
          <a:ext cx="3247235" cy="2011680"/>
        </p:xfrm>
        <a:graphic>
          <a:graphicData uri="http://schemas.openxmlformats.org/drawingml/2006/table">
            <a:tbl>
              <a:tblPr/>
              <a:tblGrid>
                <a:gridCol w="1032115">
                  <a:extLst>
                    <a:ext uri="{9D8B030D-6E8A-4147-A177-3AD203B41FA5}">
                      <a16:colId xmlns:a16="http://schemas.microsoft.com/office/drawing/2014/main" val="747689366"/>
                    </a:ext>
                  </a:extLst>
                </a:gridCol>
                <a:gridCol w="1183005">
                  <a:extLst>
                    <a:ext uri="{9D8B030D-6E8A-4147-A177-3AD203B41FA5}">
                      <a16:colId xmlns:a16="http://schemas.microsoft.com/office/drawing/2014/main" val="3374178539"/>
                    </a:ext>
                  </a:extLst>
                </a:gridCol>
                <a:gridCol w="1032115">
                  <a:extLst>
                    <a:ext uri="{9D8B030D-6E8A-4147-A177-3AD203B41FA5}">
                      <a16:colId xmlns:a16="http://schemas.microsoft.com/office/drawing/2014/main" val="3970909880"/>
                    </a:ext>
                  </a:extLst>
                </a:gridCol>
              </a:tblGrid>
              <a:tr h="0">
                <a:tc>
                  <a:txBody>
                    <a:bodyPr/>
                    <a:lstStyle/>
                    <a:p>
                      <a:r>
                        <a:rPr lang="es-CO" sz="1600" b="1" dirty="0">
                          <a:latin typeface="Consolas" panose="020B0609020204030204" pitchFamily="49" charset="0"/>
                        </a:rPr>
                        <a:t>i</a:t>
                      </a: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sz="1600" b="1" dirty="0">
                          <a:latin typeface="Consolas" panose="020B0609020204030204" pitchFamily="49" charset="0"/>
                        </a:rPr>
                        <a:t>notas[i]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sz="1600" b="1" dirty="0">
                          <a:latin typeface="Consolas" panose="020B0609020204030204" pitchFamily="49" charset="0"/>
                        </a:rPr>
                        <a:t>suma</a:t>
                      </a: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5953193"/>
                  </a:ext>
                </a:extLst>
              </a:tr>
              <a:tr h="0">
                <a:tc>
                  <a:txBody>
                    <a:bodyPr/>
                    <a:lstStyle/>
                    <a:p>
                      <a:r>
                        <a:rPr lang="es-CO" sz="1600">
                          <a:latin typeface="Consolas" panose="020B0609020204030204" pitchFamily="49" charset="0"/>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r>
                        <a:rPr lang="es-CO" sz="1600" dirty="0">
                          <a:latin typeface="Consolas" panose="020B0609020204030204" pitchFamily="49"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r>
                        <a:rPr lang="es-CO" sz="1600">
                          <a:latin typeface="Consolas" panose="020B0609020204030204" pitchFamily="49" charset="0"/>
                        </a:rPr>
                        <a:t>0</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3616757807"/>
                  </a:ext>
                </a:extLst>
              </a:tr>
              <a:tr h="0">
                <a:tc>
                  <a:txBody>
                    <a:bodyPr/>
                    <a:lstStyle/>
                    <a:p>
                      <a:r>
                        <a:rPr lang="es-CO" sz="1600" dirty="0">
                          <a:latin typeface="Consolas" panose="020B0609020204030204" pitchFamily="49" charset="0"/>
                        </a:rPr>
                        <a:t>0</a:t>
                      </a:r>
                    </a:p>
                  </a:txBody>
                  <a:tcPr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s-CO" sz="1600" dirty="0">
                          <a:latin typeface="Consolas" panose="020B0609020204030204" pitchFamily="49" charset="0"/>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s-CO" sz="1600" dirty="0">
                          <a:latin typeface="Consolas" panose="020B0609020204030204" pitchFamily="49" charset="0"/>
                        </a:rPr>
                        <a:t>3.0</a:t>
                      </a:r>
                    </a:p>
                  </a:txBody>
                  <a:tcPr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790567900"/>
                  </a:ext>
                </a:extLst>
              </a:tr>
              <a:tr h="0">
                <a:tc>
                  <a:txBody>
                    <a:bodyPr/>
                    <a:lstStyle/>
                    <a:p>
                      <a:r>
                        <a:rPr lang="es-CO" sz="1600" dirty="0">
                          <a:latin typeface="Consolas" panose="020B0609020204030204" pitchFamily="49" charset="0"/>
                        </a:rPr>
                        <a:t>1</a:t>
                      </a:r>
                    </a:p>
                  </a:txBody>
                  <a:tcPr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s-CO" sz="1600" dirty="0">
                          <a:latin typeface="Consolas" panose="020B0609020204030204" pitchFamily="49" charset="0"/>
                        </a:rPr>
                        <a:t>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s-CO" sz="1600">
                          <a:latin typeface="Consolas" panose="020B0609020204030204" pitchFamily="49" charset="0"/>
                        </a:rPr>
                        <a:t>7.5</a:t>
                      </a:r>
                    </a:p>
                  </a:txBody>
                  <a:tcPr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72268071"/>
                  </a:ext>
                </a:extLst>
              </a:tr>
              <a:tr h="0">
                <a:tc>
                  <a:txBody>
                    <a:bodyPr/>
                    <a:lstStyle/>
                    <a:p>
                      <a:r>
                        <a:rPr lang="es-CO" sz="1600" dirty="0">
                          <a:latin typeface="Consolas" panose="020B0609020204030204" pitchFamily="49" charset="0"/>
                        </a:rPr>
                        <a:t>2</a:t>
                      </a:r>
                    </a:p>
                  </a:txBody>
                  <a:tcPr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s-CO" sz="1600" dirty="0">
                          <a:latin typeface="Consolas" panose="020B0609020204030204" pitchFamily="49" charset="0"/>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s-CO" sz="1600">
                          <a:latin typeface="Consolas" panose="020B0609020204030204" pitchFamily="49" charset="0"/>
                        </a:rPr>
                        <a:t>9.5</a:t>
                      </a:r>
                    </a:p>
                  </a:txBody>
                  <a:tcPr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26484112"/>
                  </a:ext>
                </a:extLst>
              </a:tr>
              <a:tr h="0">
                <a:tc>
                  <a:txBody>
                    <a:bodyPr/>
                    <a:lstStyle/>
                    <a:p>
                      <a:r>
                        <a:rPr lang="es-CO" sz="1600" dirty="0">
                          <a:latin typeface="Consolas" panose="020B0609020204030204" pitchFamily="49" charset="0"/>
                        </a:rPr>
                        <a:t>3</a:t>
                      </a:r>
                    </a:p>
                  </a:txBody>
                  <a:tcPr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s-CO" sz="1600" dirty="0">
                          <a:latin typeface="Consolas" panose="020B0609020204030204" pitchFamily="49" charset="0"/>
                        </a:rPr>
                        <a:t>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s-CO" sz="1600" dirty="0">
                          <a:latin typeface="Consolas" panose="020B0609020204030204" pitchFamily="49" charset="0"/>
                        </a:rPr>
                        <a:t>13.5</a:t>
                      </a:r>
                    </a:p>
                  </a:txBody>
                  <a:tcPr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391811924"/>
                  </a:ext>
                </a:extLst>
              </a:tr>
            </a:tbl>
          </a:graphicData>
        </a:graphic>
      </p:graphicFrame>
      <p:sp>
        <p:nvSpPr>
          <p:cNvPr id="12" name="CuadroTexto 11">
            <a:extLst>
              <a:ext uri="{FF2B5EF4-FFF2-40B4-BE49-F238E27FC236}">
                <a16:creationId xmlns:a16="http://schemas.microsoft.com/office/drawing/2014/main" id="{4834FABB-41BB-4F30-A046-4197CBABA302}"/>
              </a:ext>
            </a:extLst>
          </p:cNvPr>
          <p:cNvSpPr txBox="1"/>
          <p:nvPr/>
        </p:nvSpPr>
        <p:spPr>
          <a:xfrm>
            <a:off x="0" y="5962054"/>
            <a:ext cx="9143999" cy="923330"/>
          </a:xfrm>
          <a:prstGeom prst="rect">
            <a:avLst/>
          </a:prstGeom>
          <a:solidFill>
            <a:schemeClr val="accent2">
              <a:lumMod val="20000"/>
              <a:lumOff val="80000"/>
            </a:schemeClr>
          </a:solidFill>
        </p:spPr>
        <p:txBody>
          <a:bodyPr wrap="square">
            <a:spAutoFit/>
          </a:bodyPr>
          <a:lstStyle/>
          <a:p>
            <a:r>
              <a:rPr lang="es-MX" b="1" dirty="0"/>
              <a:t>Idea clave:</a:t>
            </a:r>
            <a:r>
              <a:rPr lang="es-MX" dirty="0"/>
              <a:t> Como las notas quedan en el arreglo, después de calcular el promedio se pueden volver a recorrer. Eso era lo que faltaba para resolver el problema de la clase 10 (determinar cuántas notas son mayores que el promedio).</a:t>
            </a:r>
            <a:endParaRPr lang="es-CO" dirty="0"/>
          </a:p>
        </p:txBody>
      </p:sp>
      <p:sp>
        <p:nvSpPr>
          <p:cNvPr id="14" name="12 Rectángulo">
            <a:extLst>
              <a:ext uri="{FF2B5EF4-FFF2-40B4-BE49-F238E27FC236}">
                <a16:creationId xmlns:a16="http://schemas.microsoft.com/office/drawing/2014/main" id="{9BE09052-4001-4581-B10A-29607BACC821}"/>
              </a:ext>
            </a:extLst>
          </p:cNvPr>
          <p:cNvSpPr/>
          <p:nvPr/>
        </p:nvSpPr>
        <p:spPr>
          <a:xfrm>
            <a:off x="4444186" y="4021389"/>
            <a:ext cx="2812554" cy="400110"/>
          </a:xfrm>
          <a:prstGeom prst="rect">
            <a:avLst/>
          </a:prstGeom>
        </p:spPr>
        <p:txBody>
          <a:bodyPr wrap="square">
            <a:spAutoFit/>
          </a:bodyPr>
          <a:lstStyle/>
          <a:p>
            <a:pPr rtl="0"/>
            <a:r>
              <a:rPr lang="es-MX" sz="2000" b="1" dirty="0"/>
              <a:t>Salida</a:t>
            </a:r>
            <a:r>
              <a:rPr lang="es-MX" sz="2000" dirty="0"/>
              <a:t>:</a:t>
            </a:r>
          </a:p>
        </p:txBody>
      </p:sp>
      <p:sp>
        <p:nvSpPr>
          <p:cNvPr id="10" name="CuadroTexto 9">
            <a:extLst>
              <a:ext uri="{FF2B5EF4-FFF2-40B4-BE49-F238E27FC236}">
                <a16:creationId xmlns:a16="http://schemas.microsoft.com/office/drawing/2014/main" id="{9A9C4231-A67A-43E7-9C51-343AD8A1703E}"/>
              </a:ext>
            </a:extLst>
          </p:cNvPr>
          <p:cNvSpPr txBox="1"/>
          <p:nvPr/>
        </p:nvSpPr>
        <p:spPr>
          <a:xfrm>
            <a:off x="4552682" y="4571836"/>
            <a:ext cx="3979758" cy="369332"/>
          </a:xfrm>
          <a:prstGeom prst="rect">
            <a:avLst/>
          </a:prstGeom>
          <a:noFill/>
          <a:ln>
            <a:solidFill>
              <a:schemeClr val="tx1"/>
            </a:solidFill>
          </a:ln>
        </p:spPr>
        <p:txBody>
          <a:bodyPr wrap="square" rtlCol="0">
            <a:spAutoFit/>
          </a:bodyPr>
          <a:lstStyle/>
          <a:p>
            <a:r>
              <a:rPr lang="es-CO" dirty="0">
                <a:latin typeface="Consolas" panose="020B0609020204030204" pitchFamily="49" charset="0"/>
              </a:rPr>
              <a:t>Promedio: 3.38</a:t>
            </a:r>
          </a:p>
        </p:txBody>
      </p:sp>
    </p:spTree>
    <p:extLst>
      <p:ext uri="{BB962C8B-B14F-4D97-AF65-F5344CB8AC3E}">
        <p14:creationId xmlns:p14="http://schemas.microsoft.com/office/powerpoint/2010/main" val="7701489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Cuidado con salirse del arreglo</a:t>
            </a:r>
            <a:endParaRPr lang="es-CO" sz="3600" dirty="0"/>
          </a:p>
        </p:txBody>
      </p:sp>
      <p:sp>
        <p:nvSpPr>
          <p:cNvPr id="13" name="12 Rectángulo"/>
          <p:cNvSpPr/>
          <p:nvPr/>
        </p:nvSpPr>
        <p:spPr>
          <a:xfrm>
            <a:off x="125760" y="821025"/>
            <a:ext cx="8892480" cy="5324535"/>
          </a:xfrm>
          <a:prstGeom prst="rect">
            <a:avLst/>
          </a:prstGeom>
        </p:spPr>
        <p:txBody>
          <a:bodyPr wrap="square">
            <a:spAutoFit/>
          </a:bodyPr>
          <a:lstStyle/>
          <a:p>
            <a:pPr rtl="0"/>
            <a:r>
              <a:rPr lang="es-MX" sz="2000" b="1" dirty="0"/>
              <a:t>Antes y después</a:t>
            </a:r>
            <a:r>
              <a:rPr lang="es-MX" sz="2000" dirty="0"/>
              <a:t>: el mismo programa, mejor escrito.</a:t>
            </a:r>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b="1" dirty="0"/>
          </a:p>
          <a:p>
            <a:pPr rtl="0"/>
            <a:r>
              <a:rPr lang="es-MX" sz="2000" b="1" dirty="0"/>
              <a:t>Salida en pantalla</a:t>
            </a:r>
            <a:r>
              <a:rPr lang="es-MX" sz="2000" dirty="0"/>
              <a:t>:</a:t>
            </a:r>
          </a:p>
          <a:p>
            <a:pPr rtl="0"/>
            <a:endParaRPr lang="es-MX" sz="2000" dirty="0"/>
          </a:p>
          <a:p>
            <a:pPr rtl="0"/>
            <a:endParaRPr lang="es-MX" sz="2000" dirty="0"/>
          </a:p>
          <a:p>
            <a:pPr rtl="0"/>
            <a:endParaRPr lang="es-MX" sz="2000" dirty="0"/>
          </a:p>
          <a:p>
            <a:pPr rtl="0"/>
            <a:endParaRPr lang="es-MX" sz="2000" dirty="0"/>
          </a:p>
          <a:p>
            <a:pPr rtl="0"/>
            <a:endParaRPr lang="es-MX" sz="2000" dirty="0"/>
          </a:p>
          <a:p>
            <a:pPr marL="285750" indent="-285750" rtl="0">
              <a:buFont typeface="Arial" panose="020B0604020202020204" pitchFamily="34" charset="0"/>
              <a:buChar char="•"/>
            </a:pPr>
            <a:r>
              <a:rPr lang="es-MX" sz="2000" dirty="0"/>
              <a:t>Las posiciones válidas son </a:t>
            </a:r>
            <a:r>
              <a:rPr lang="es-MX" b="1" dirty="0">
                <a:latin typeface="Consolas" panose="020B0609020204030204" pitchFamily="49" charset="0"/>
              </a:rPr>
              <a:t>0</a:t>
            </a:r>
            <a:r>
              <a:rPr lang="es-MX" sz="2000" dirty="0"/>
              <a:t>, </a:t>
            </a:r>
            <a:r>
              <a:rPr lang="es-MX" b="1" dirty="0">
                <a:latin typeface="Consolas" panose="020B0609020204030204" pitchFamily="49" charset="0"/>
              </a:rPr>
              <a:t>1</a:t>
            </a:r>
            <a:r>
              <a:rPr lang="es-MX" sz="2000" dirty="0"/>
              <a:t>, </a:t>
            </a:r>
            <a:r>
              <a:rPr lang="es-MX" b="1" dirty="0">
                <a:latin typeface="Consolas" panose="020B0609020204030204" pitchFamily="49" charset="0"/>
              </a:rPr>
              <a:t>2</a:t>
            </a:r>
            <a:r>
              <a:rPr lang="es-MX" sz="2000" dirty="0"/>
              <a:t>, </a:t>
            </a:r>
            <a:r>
              <a:rPr lang="es-MX" b="1" dirty="0">
                <a:latin typeface="Consolas" panose="020B0609020204030204" pitchFamily="49" charset="0"/>
              </a:rPr>
              <a:t>3</a:t>
            </a:r>
            <a:r>
              <a:rPr lang="es-MX" sz="2000" dirty="0"/>
              <a:t>. En la última vuelta </a:t>
            </a:r>
            <a:r>
              <a:rPr lang="es-MX" b="1" dirty="0">
                <a:latin typeface="Consolas" panose="020B0609020204030204" pitchFamily="49" charset="0"/>
              </a:rPr>
              <a:t>i</a:t>
            </a:r>
            <a:r>
              <a:rPr lang="es-MX" sz="2000" dirty="0"/>
              <a:t> vale </a:t>
            </a:r>
            <a:r>
              <a:rPr lang="es-MX" b="1" dirty="0">
                <a:latin typeface="Consolas" panose="020B0609020204030204" pitchFamily="49" charset="0"/>
              </a:rPr>
              <a:t>4</a:t>
            </a:r>
            <a:r>
              <a:rPr lang="es-MX" sz="2000" dirty="0"/>
              <a:t>, y </a:t>
            </a:r>
            <a:r>
              <a:rPr lang="es-MX" b="1" dirty="0">
                <a:latin typeface="Consolas" panose="020B0609020204030204" pitchFamily="49" charset="0"/>
              </a:rPr>
              <a:t>notas[4]</a:t>
            </a:r>
            <a:r>
              <a:rPr lang="es-MX" sz="2000" dirty="0"/>
              <a:t> no existe.</a:t>
            </a:r>
          </a:p>
          <a:p>
            <a:pPr marL="285750" indent="-285750" rtl="0">
              <a:buFont typeface="Arial" panose="020B0604020202020204" pitchFamily="34" charset="0"/>
              <a:buChar char="•"/>
            </a:pPr>
            <a:r>
              <a:rPr lang="es-MX" sz="2000" dirty="0"/>
              <a:t>Las primeras cuatro notas se muestran bien y el error aparece al final. </a:t>
            </a:r>
            <a:endParaRPr lang="es-MX" sz="2400" dirty="0"/>
          </a:p>
        </p:txBody>
      </p:sp>
      <p:sp>
        <p:nvSpPr>
          <p:cNvPr id="18" name="CuadroTexto 17">
            <a:extLst>
              <a:ext uri="{FF2B5EF4-FFF2-40B4-BE49-F238E27FC236}">
                <a16:creationId xmlns:a16="http://schemas.microsoft.com/office/drawing/2014/main" id="{98CA3F79-1F31-48C7-A52E-B6AB3137784F}"/>
              </a:ext>
            </a:extLst>
          </p:cNvPr>
          <p:cNvSpPr txBox="1"/>
          <p:nvPr/>
        </p:nvSpPr>
        <p:spPr>
          <a:xfrm>
            <a:off x="27709" y="6177498"/>
            <a:ext cx="9088582" cy="707886"/>
          </a:xfrm>
          <a:prstGeom prst="rect">
            <a:avLst/>
          </a:prstGeom>
          <a:solidFill>
            <a:schemeClr val="accent6">
              <a:lumMod val="20000"/>
              <a:lumOff val="80000"/>
            </a:schemeClr>
          </a:solidFill>
        </p:spPr>
        <p:txBody>
          <a:bodyPr wrap="square">
            <a:spAutoFit/>
          </a:bodyPr>
          <a:lstStyle/>
          <a:p>
            <a:r>
              <a:rPr lang="es-MX" sz="2000" b="1" dirty="0"/>
              <a:t>Importante</a:t>
            </a:r>
            <a:r>
              <a:rPr lang="es-MX" sz="2000" dirty="0"/>
              <a:t>: Un recorrido completo va de </a:t>
            </a:r>
            <a:r>
              <a:rPr lang="es-MX" b="1" dirty="0">
                <a:latin typeface="Consolas" panose="020B0609020204030204" pitchFamily="49" charset="0"/>
              </a:rPr>
              <a:t>0</a:t>
            </a:r>
            <a:r>
              <a:rPr lang="es-MX" sz="2000" dirty="0"/>
              <a:t> a </a:t>
            </a:r>
            <a:r>
              <a:rPr lang="es-MX" b="1" dirty="0">
                <a:latin typeface="Consolas" panose="020B0609020204030204" pitchFamily="49" charset="0"/>
              </a:rPr>
              <a:t>N - 1</a:t>
            </a:r>
            <a:r>
              <a:rPr lang="es-MX" sz="2000" dirty="0"/>
              <a:t>. El error típico es ir hasta </a:t>
            </a:r>
            <a:r>
              <a:rPr lang="es-MX" b="1" dirty="0">
                <a:latin typeface="Consolas" panose="020B0609020204030204" pitchFamily="49" charset="0"/>
              </a:rPr>
              <a:t>N</a:t>
            </a:r>
            <a:r>
              <a:rPr lang="es-MX" sz="2000" dirty="0"/>
              <a:t>: </a:t>
            </a:r>
            <a:r>
              <a:rPr lang="es-MX" b="1" dirty="0">
                <a:latin typeface="Consolas" panose="020B0609020204030204" pitchFamily="49" charset="0"/>
              </a:rPr>
              <a:t>range(N + 1)</a:t>
            </a:r>
            <a:r>
              <a:rPr lang="es-MX" sz="2000" dirty="0"/>
              <a:t> o </a:t>
            </a:r>
            <a:r>
              <a:rPr lang="es-MX" b="1" dirty="0">
                <a:latin typeface="Consolas" panose="020B0609020204030204" pitchFamily="49" charset="0"/>
              </a:rPr>
              <a:t>Para (i = 0, N, 1)</a:t>
            </a:r>
            <a:endParaRPr lang="es-CO" sz="2000" b="1" dirty="0">
              <a:latin typeface="Consolas" panose="020B0609020204030204" pitchFamily="49" charset="0"/>
            </a:endParaRPr>
          </a:p>
        </p:txBody>
      </p:sp>
      <p:graphicFrame>
        <p:nvGraphicFramePr>
          <p:cNvPr id="2" name="Tabla 1">
            <a:extLst>
              <a:ext uri="{FF2B5EF4-FFF2-40B4-BE49-F238E27FC236}">
                <a16:creationId xmlns:a16="http://schemas.microsoft.com/office/drawing/2014/main" id="{16CFE38D-7F46-47C5-88EB-AFAA046DD679}"/>
              </a:ext>
            </a:extLst>
          </p:cNvPr>
          <p:cNvGraphicFramePr>
            <a:graphicFrameLocks noGrp="1"/>
          </p:cNvGraphicFramePr>
          <p:nvPr>
            <p:extLst>
              <p:ext uri="{D42A27DB-BD31-4B8C-83A1-F6EECF244321}">
                <p14:modId xmlns:p14="http://schemas.microsoft.com/office/powerpoint/2010/main" val="1785221097"/>
              </p:ext>
            </p:extLst>
          </p:nvPr>
        </p:nvGraphicFramePr>
        <p:xfrm>
          <a:off x="628650" y="1392560"/>
          <a:ext cx="7886700" cy="1676400"/>
        </p:xfrm>
        <a:graphic>
          <a:graphicData uri="http://schemas.openxmlformats.org/drawingml/2006/table">
            <a:tbl>
              <a:tblPr/>
              <a:tblGrid>
                <a:gridCol w="3943350">
                  <a:extLst>
                    <a:ext uri="{9D8B030D-6E8A-4147-A177-3AD203B41FA5}">
                      <a16:colId xmlns:a16="http://schemas.microsoft.com/office/drawing/2014/main" val="1941522935"/>
                    </a:ext>
                  </a:extLst>
                </a:gridCol>
                <a:gridCol w="3943350">
                  <a:extLst>
                    <a:ext uri="{9D8B030D-6E8A-4147-A177-3AD203B41FA5}">
                      <a16:colId xmlns:a16="http://schemas.microsoft.com/office/drawing/2014/main" val="2298101696"/>
                    </a:ext>
                  </a:extLst>
                </a:gridCol>
              </a:tblGrid>
              <a:tr h="0">
                <a:tc>
                  <a:txBody>
                    <a:bodyPr/>
                    <a:lstStyle/>
                    <a:p>
                      <a:r>
                        <a:rPr lang="es-CO" b="1"/>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Python (</a:t>
                      </a:r>
                      <a:r>
                        <a:rPr lang="es-CO" b="1" dirty="0">
                          <a:hlinkClick r:id="rId2"/>
                        </a:rPr>
                        <a:t>simulación</a:t>
                      </a:r>
                      <a:r>
                        <a:rPr lang="es-CO"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699327508"/>
                  </a:ext>
                </a:extLst>
              </a:tr>
              <a:tr h="0">
                <a:tc>
                  <a:txBody>
                    <a:bodyPr/>
                    <a:lstStyle/>
                    <a:p>
                      <a:r>
                        <a:rPr lang="es-CO" sz="1600" dirty="0">
                          <a:latin typeface="Consolas" panose="020B0609020204030204" pitchFamily="49" charset="0"/>
                        </a:rPr>
                        <a:t>notas = [3.0, 4.5, 2.0, 4.0]</a:t>
                      </a:r>
                      <a:br>
                        <a:rPr lang="es-CO" sz="1600" dirty="0">
                          <a:latin typeface="Consolas" panose="020B0609020204030204" pitchFamily="49" charset="0"/>
                        </a:rPr>
                      </a:br>
                      <a:r>
                        <a:rPr lang="es-CO" sz="1600" dirty="0">
                          <a:latin typeface="Consolas" panose="020B0609020204030204" pitchFamily="49" charset="0"/>
                        </a:rPr>
                        <a:t>N = 4</a:t>
                      </a:r>
                      <a:br>
                        <a:rPr lang="es-CO" sz="1600" dirty="0">
                          <a:latin typeface="Consolas" panose="020B0609020204030204" pitchFamily="49" charset="0"/>
                        </a:rPr>
                      </a:br>
                      <a:r>
                        <a:rPr lang="es-CO" sz="1600" dirty="0">
                          <a:latin typeface="Consolas" panose="020B0609020204030204" pitchFamily="49" charset="0"/>
                        </a:rPr>
                        <a:t>Para (i = 0, N, 1) Haga</a:t>
                      </a:r>
                      <a:br>
                        <a:rPr lang="es-CO" sz="1600" dirty="0">
                          <a:latin typeface="Consolas" panose="020B0609020204030204" pitchFamily="49" charset="0"/>
                        </a:rPr>
                      </a:br>
                      <a:r>
                        <a:rPr lang="es-CO" sz="1600" dirty="0">
                          <a:latin typeface="Consolas" panose="020B0609020204030204" pitchFamily="49" charset="0"/>
                        </a:rPr>
                        <a:t>  Escribir(notas[i])</a:t>
                      </a:r>
                      <a:br>
                        <a:rPr lang="es-CO" sz="1600" dirty="0">
                          <a:latin typeface="Consolas" panose="020B0609020204030204" pitchFamily="49" charset="0"/>
                        </a:rPr>
                      </a:br>
                      <a:r>
                        <a:rPr lang="es-CO" sz="1600" dirty="0">
                          <a:latin typeface="Consolas" panose="020B0609020204030204" pitchFamily="49" charset="0"/>
                        </a:rPr>
                        <a:t>Fin_Para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notas = [3.0, 4.5, 2.0, 4.0]</a:t>
                      </a:r>
                      <a:br>
                        <a:rPr lang="es-CO" sz="1600" dirty="0">
                          <a:latin typeface="Consolas" panose="020B0609020204030204" pitchFamily="49" charset="0"/>
                        </a:rPr>
                      </a:br>
                      <a:r>
                        <a:rPr lang="es-CO" sz="1600" dirty="0">
                          <a:latin typeface="Consolas" panose="020B0609020204030204" pitchFamily="49" charset="0"/>
                        </a:rPr>
                        <a:t>N = 4</a:t>
                      </a:r>
                      <a:br>
                        <a:rPr lang="es-CO" sz="1600" dirty="0">
                          <a:latin typeface="Consolas" panose="020B0609020204030204" pitchFamily="49" charset="0"/>
                        </a:rPr>
                      </a:br>
                      <a:r>
                        <a:rPr lang="es-CO" sz="1600" dirty="0">
                          <a:latin typeface="Consolas" panose="020B0609020204030204" pitchFamily="49" charset="0"/>
                        </a:rPr>
                        <a:t>for i in range(N + 1):</a:t>
                      </a:r>
                      <a:br>
                        <a:rPr lang="es-CO" sz="1600" dirty="0">
                          <a:latin typeface="Consolas" panose="020B0609020204030204" pitchFamily="49" charset="0"/>
                        </a:rPr>
                      </a:br>
                      <a:r>
                        <a:rPr lang="es-CO" sz="1600" dirty="0">
                          <a:latin typeface="Consolas" panose="020B0609020204030204" pitchFamily="49" charset="0"/>
                        </a:rPr>
                        <a:t>  print(notas[i])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4293713"/>
                  </a:ext>
                </a:extLst>
              </a:tr>
            </a:tbl>
          </a:graphicData>
        </a:graphic>
      </p:graphicFrame>
      <p:sp>
        <p:nvSpPr>
          <p:cNvPr id="8" name="CuadroTexto 7">
            <a:extLst>
              <a:ext uri="{FF2B5EF4-FFF2-40B4-BE49-F238E27FC236}">
                <a16:creationId xmlns:a16="http://schemas.microsoft.com/office/drawing/2014/main" id="{F49894BC-3710-4D16-8AF0-8D70E7CD084F}"/>
              </a:ext>
            </a:extLst>
          </p:cNvPr>
          <p:cNvSpPr txBox="1"/>
          <p:nvPr/>
        </p:nvSpPr>
        <p:spPr>
          <a:xfrm>
            <a:off x="2152983" y="3717032"/>
            <a:ext cx="4579257" cy="1323439"/>
          </a:xfrm>
          <a:prstGeom prst="rect">
            <a:avLst/>
          </a:prstGeom>
          <a:noFill/>
          <a:ln>
            <a:solidFill>
              <a:schemeClr val="tx1"/>
            </a:solidFill>
          </a:ln>
        </p:spPr>
        <p:txBody>
          <a:bodyPr wrap="square">
            <a:spAutoFit/>
          </a:bodyPr>
          <a:lstStyle/>
          <a:p>
            <a:r>
              <a:rPr lang="es-CO" sz="1600" dirty="0">
                <a:latin typeface="Consolas" panose="020B0609020204030204" pitchFamily="49" charset="0"/>
              </a:rPr>
              <a:t>3.0</a:t>
            </a:r>
          </a:p>
          <a:p>
            <a:r>
              <a:rPr lang="es-CO" sz="1600" dirty="0">
                <a:latin typeface="Consolas" panose="020B0609020204030204" pitchFamily="49" charset="0"/>
              </a:rPr>
              <a:t>4.5</a:t>
            </a:r>
          </a:p>
          <a:p>
            <a:r>
              <a:rPr lang="es-CO" sz="1600" dirty="0">
                <a:latin typeface="Consolas" panose="020B0609020204030204" pitchFamily="49" charset="0"/>
              </a:rPr>
              <a:t>2.0</a:t>
            </a:r>
          </a:p>
          <a:p>
            <a:r>
              <a:rPr lang="es-CO" sz="1600" dirty="0">
                <a:latin typeface="Consolas" panose="020B0609020204030204" pitchFamily="49" charset="0"/>
              </a:rPr>
              <a:t>4.0</a:t>
            </a:r>
          </a:p>
          <a:p>
            <a:r>
              <a:rPr lang="es-CO" sz="1600" dirty="0">
                <a:solidFill>
                  <a:srgbClr val="FF0000"/>
                </a:solidFill>
                <a:latin typeface="Consolas" panose="020B0609020204030204" pitchFamily="49" charset="0"/>
              </a:rPr>
              <a:t>IndexError: list index out of range</a:t>
            </a:r>
          </a:p>
        </p:txBody>
      </p:sp>
    </p:spTree>
    <p:extLst>
      <p:ext uri="{BB962C8B-B14F-4D97-AF65-F5344CB8AC3E}">
        <p14:creationId xmlns:p14="http://schemas.microsoft.com/office/powerpoint/2010/main" val="14812478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Otros recorridos</a:t>
            </a:r>
            <a:endParaRPr lang="es-CO" sz="3600" dirty="0"/>
          </a:p>
        </p:txBody>
      </p:sp>
      <p:sp>
        <p:nvSpPr>
          <p:cNvPr id="13" name="12 Rectángulo"/>
          <p:cNvSpPr/>
          <p:nvPr/>
        </p:nvSpPr>
        <p:spPr>
          <a:xfrm>
            <a:off x="125760" y="821025"/>
            <a:ext cx="8892480" cy="4093428"/>
          </a:xfrm>
          <a:prstGeom prst="rect">
            <a:avLst/>
          </a:prstGeom>
        </p:spPr>
        <p:txBody>
          <a:bodyPr wrap="square">
            <a:spAutoFit/>
          </a:bodyPr>
          <a:lstStyle/>
          <a:p>
            <a:pPr rtl="0"/>
            <a:r>
              <a:rPr lang="es-CO" sz="2000" b="1" dirty="0"/>
              <a:t>Recorrido en orden inverso:</a:t>
            </a:r>
            <a:endParaRPr lang="es-MX" sz="2000" b="1" dirty="0"/>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b="1" dirty="0"/>
          </a:p>
          <a:p>
            <a:pPr rtl="0"/>
            <a:r>
              <a:rPr lang="es-MX" sz="2000" b="1" dirty="0"/>
              <a:t>Salida en pantalla</a:t>
            </a:r>
            <a:r>
              <a:rPr lang="es-MX" sz="2000" dirty="0"/>
              <a:t>:</a:t>
            </a:r>
          </a:p>
          <a:p>
            <a:pPr rtl="0"/>
            <a:endParaRPr lang="es-MX" sz="2000" dirty="0"/>
          </a:p>
          <a:p>
            <a:pPr rtl="0"/>
            <a:endParaRPr lang="es-MX" sz="2000" dirty="0"/>
          </a:p>
          <a:p>
            <a:pPr rtl="0"/>
            <a:endParaRPr lang="es-MX" sz="2000" dirty="0"/>
          </a:p>
          <a:p>
            <a:pPr rtl="0"/>
            <a:endParaRPr lang="es-MX" sz="2000" dirty="0"/>
          </a:p>
          <a:p>
            <a:pPr rtl="0"/>
            <a:endParaRPr lang="es-MX" sz="2000" dirty="0"/>
          </a:p>
        </p:txBody>
      </p:sp>
      <p:sp>
        <p:nvSpPr>
          <p:cNvPr id="18" name="CuadroTexto 17">
            <a:extLst>
              <a:ext uri="{FF2B5EF4-FFF2-40B4-BE49-F238E27FC236}">
                <a16:creationId xmlns:a16="http://schemas.microsoft.com/office/drawing/2014/main" id="{98CA3F79-1F31-48C7-A52E-B6AB3137784F}"/>
              </a:ext>
            </a:extLst>
          </p:cNvPr>
          <p:cNvSpPr txBox="1"/>
          <p:nvPr/>
        </p:nvSpPr>
        <p:spPr>
          <a:xfrm>
            <a:off x="251520" y="5196621"/>
            <a:ext cx="8496944" cy="707886"/>
          </a:xfrm>
          <a:prstGeom prst="rect">
            <a:avLst/>
          </a:prstGeom>
          <a:solidFill>
            <a:schemeClr val="accent2">
              <a:lumMod val="20000"/>
              <a:lumOff val="80000"/>
            </a:schemeClr>
          </a:solidFill>
        </p:spPr>
        <p:txBody>
          <a:bodyPr wrap="square">
            <a:spAutoFit/>
          </a:bodyPr>
          <a:lstStyle/>
          <a:p>
            <a:r>
              <a:rPr lang="es-MX" sz="2000" b="1" dirty="0"/>
              <a:t>Cuidado</a:t>
            </a:r>
            <a:r>
              <a:rPr lang="es-MX" sz="2000" dirty="0"/>
              <a:t>: en Python el límite es </a:t>
            </a:r>
            <a:r>
              <a:rPr lang="es-MX" b="1" dirty="0">
                <a:latin typeface="Consolas" panose="020B0609020204030204" pitchFamily="49" charset="0"/>
              </a:rPr>
              <a:t>-1</a:t>
            </a:r>
            <a:r>
              <a:rPr lang="es-MX" sz="2000" dirty="0"/>
              <a:t> y no </a:t>
            </a:r>
            <a:r>
              <a:rPr lang="es-MX" b="1" dirty="0">
                <a:latin typeface="Consolas" panose="020B0609020204030204" pitchFamily="49" charset="0"/>
              </a:rPr>
              <a:t>0</a:t>
            </a:r>
            <a:r>
              <a:rPr lang="es-MX" sz="2000" dirty="0"/>
              <a:t>, porque range no incluye el final. Con </a:t>
            </a:r>
            <a:r>
              <a:rPr lang="es-MX" b="1" dirty="0">
                <a:latin typeface="Consolas" panose="020B0609020204030204" pitchFamily="49" charset="0"/>
              </a:rPr>
              <a:t>range(N - 1, 0, -1)</a:t>
            </a:r>
            <a:r>
              <a:rPr lang="es-MX" sz="2000" dirty="0"/>
              <a:t> el ciclo da </a:t>
            </a:r>
            <a:r>
              <a:rPr lang="es-MX" b="1" dirty="0">
                <a:latin typeface="Consolas" panose="020B0609020204030204" pitchFamily="49" charset="0"/>
              </a:rPr>
              <a:t>3</a:t>
            </a:r>
            <a:r>
              <a:rPr lang="es-MX" sz="2000" dirty="0"/>
              <a:t>, </a:t>
            </a:r>
            <a:r>
              <a:rPr lang="es-MX" b="1" dirty="0">
                <a:latin typeface="Consolas" panose="020B0609020204030204" pitchFamily="49" charset="0"/>
              </a:rPr>
              <a:t>2</a:t>
            </a:r>
            <a:r>
              <a:rPr lang="es-MX" sz="2000" dirty="0"/>
              <a:t>, </a:t>
            </a:r>
            <a:r>
              <a:rPr lang="es-MX" b="1" dirty="0">
                <a:latin typeface="Consolas" panose="020B0609020204030204" pitchFamily="49" charset="0"/>
              </a:rPr>
              <a:t>1</a:t>
            </a:r>
            <a:r>
              <a:rPr lang="es-MX" sz="2000" dirty="0"/>
              <a:t> y se salta la posición </a:t>
            </a:r>
            <a:r>
              <a:rPr lang="es-MX" b="1" dirty="0">
                <a:latin typeface="Consolas" panose="020B0609020204030204" pitchFamily="49" charset="0"/>
              </a:rPr>
              <a:t>0</a:t>
            </a:r>
            <a:r>
              <a:rPr lang="es-MX" sz="2000" dirty="0"/>
              <a:t> sin dar error.</a:t>
            </a:r>
            <a:endParaRPr lang="es-CO" sz="2000" dirty="0">
              <a:latin typeface="Consolas" panose="020B0609020204030204" pitchFamily="49" charset="0"/>
            </a:endParaRPr>
          </a:p>
        </p:txBody>
      </p:sp>
      <p:sp>
        <p:nvSpPr>
          <p:cNvPr id="8" name="CuadroTexto 7">
            <a:extLst>
              <a:ext uri="{FF2B5EF4-FFF2-40B4-BE49-F238E27FC236}">
                <a16:creationId xmlns:a16="http://schemas.microsoft.com/office/drawing/2014/main" id="{F49894BC-3710-4D16-8AF0-8D70E7CD084F}"/>
              </a:ext>
            </a:extLst>
          </p:cNvPr>
          <p:cNvSpPr txBox="1"/>
          <p:nvPr/>
        </p:nvSpPr>
        <p:spPr>
          <a:xfrm>
            <a:off x="2224991" y="3575918"/>
            <a:ext cx="4579257" cy="1077218"/>
          </a:xfrm>
          <a:prstGeom prst="rect">
            <a:avLst/>
          </a:prstGeom>
          <a:noFill/>
          <a:ln>
            <a:solidFill>
              <a:schemeClr val="tx1"/>
            </a:solidFill>
          </a:ln>
        </p:spPr>
        <p:txBody>
          <a:bodyPr wrap="square">
            <a:spAutoFit/>
          </a:bodyPr>
          <a:lstStyle/>
          <a:p>
            <a:r>
              <a:rPr lang="es-MX" sz="1600" dirty="0">
                <a:latin typeface="Consolas" panose="020B0609020204030204" pitchFamily="49" charset="0"/>
              </a:rPr>
              <a:t>Posicion 3: 4.0</a:t>
            </a:r>
          </a:p>
          <a:p>
            <a:r>
              <a:rPr lang="es-MX" sz="1600" dirty="0">
                <a:latin typeface="Consolas" panose="020B0609020204030204" pitchFamily="49" charset="0"/>
              </a:rPr>
              <a:t>Posicion 2: 2.0</a:t>
            </a:r>
          </a:p>
          <a:p>
            <a:r>
              <a:rPr lang="es-MX" sz="1600" dirty="0">
                <a:latin typeface="Consolas" panose="020B0609020204030204" pitchFamily="49" charset="0"/>
              </a:rPr>
              <a:t>Posicion 1: 4.5</a:t>
            </a:r>
          </a:p>
          <a:p>
            <a:r>
              <a:rPr lang="es-MX" sz="1600" dirty="0">
                <a:latin typeface="Consolas" panose="020B0609020204030204" pitchFamily="49" charset="0"/>
              </a:rPr>
              <a:t>Posicion 0: 3.0</a:t>
            </a:r>
            <a:endParaRPr lang="es-CO" sz="1600" dirty="0">
              <a:solidFill>
                <a:srgbClr val="FF0000"/>
              </a:solidFill>
              <a:latin typeface="Consolas" panose="020B0609020204030204" pitchFamily="49" charset="0"/>
            </a:endParaRPr>
          </a:p>
        </p:txBody>
      </p:sp>
      <p:graphicFrame>
        <p:nvGraphicFramePr>
          <p:cNvPr id="3" name="Tabla 2">
            <a:extLst>
              <a:ext uri="{FF2B5EF4-FFF2-40B4-BE49-F238E27FC236}">
                <a16:creationId xmlns:a16="http://schemas.microsoft.com/office/drawing/2014/main" id="{52744FA2-2147-45B8-9DA0-5A9568276428}"/>
              </a:ext>
            </a:extLst>
          </p:cNvPr>
          <p:cNvGraphicFramePr>
            <a:graphicFrameLocks noGrp="1"/>
          </p:cNvGraphicFramePr>
          <p:nvPr>
            <p:extLst>
              <p:ext uri="{D42A27DB-BD31-4B8C-83A1-F6EECF244321}">
                <p14:modId xmlns:p14="http://schemas.microsoft.com/office/powerpoint/2010/main" val="2188000678"/>
              </p:ext>
            </p:extLst>
          </p:nvPr>
        </p:nvGraphicFramePr>
        <p:xfrm>
          <a:off x="389959" y="1307436"/>
          <a:ext cx="8358505" cy="1524000"/>
        </p:xfrm>
        <a:graphic>
          <a:graphicData uri="http://schemas.openxmlformats.org/drawingml/2006/table">
            <a:tbl>
              <a:tblPr/>
              <a:tblGrid>
                <a:gridCol w="4415155">
                  <a:extLst>
                    <a:ext uri="{9D8B030D-6E8A-4147-A177-3AD203B41FA5}">
                      <a16:colId xmlns:a16="http://schemas.microsoft.com/office/drawing/2014/main" val="2897229085"/>
                    </a:ext>
                  </a:extLst>
                </a:gridCol>
                <a:gridCol w="3943350">
                  <a:extLst>
                    <a:ext uri="{9D8B030D-6E8A-4147-A177-3AD203B41FA5}">
                      <a16:colId xmlns:a16="http://schemas.microsoft.com/office/drawing/2014/main" val="206836599"/>
                    </a:ext>
                  </a:extLst>
                </a:gridCol>
              </a:tblGrid>
              <a:tr h="0">
                <a:tc>
                  <a:txBody>
                    <a:bodyPr/>
                    <a:lstStyle/>
                    <a:p>
                      <a:r>
                        <a:rPr lang="es-CO" b="1" dirty="0"/>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Python (</a:t>
                      </a:r>
                      <a:r>
                        <a:rPr lang="es-CO" b="1" dirty="0">
                          <a:hlinkClick r:id="rId2"/>
                        </a:rPr>
                        <a:t>simulación</a:t>
                      </a:r>
                      <a:r>
                        <a:rPr lang="es-CO"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033854973"/>
                  </a:ext>
                </a:extLst>
              </a:tr>
              <a:tr h="0">
                <a:tc>
                  <a:txBody>
                    <a:bodyPr/>
                    <a:lstStyle/>
                    <a:p>
                      <a:r>
                        <a:rPr lang="es-CO" sz="1400" dirty="0">
                          <a:latin typeface="Consolas" panose="020B0609020204030204" pitchFamily="49" charset="0"/>
                        </a:rPr>
                        <a:t>notas = [3.0, 4.5, 2.0, 4.0]</a:t>
                      </a:r>
                      <a:br>
                        <a:rPr lang="es-CO" sz="1400" dirty="0">
                          <a:latin typeface="Consolas" panose="020B0609020204030204" pitchFamily="49" charset="0"/>
                        </a:rPr>
                      </a:br>
                      <a:r>
                        <a:rPr lang="es-CO" sz="1400" dirty="0">
                          <a:latin typeface="Consolas" panose="020B0609020204030204" pitchFamily="49" charset="0"/>
                        </a:rPr>
                        <a:t>N = 4</a:t>
                      </a:r>
                      <a:br>
                        <a:rPr lang="es-CO" sz="1400" dirty="0">
                          <a:latin typeface="Consolas" panose="020B0609020204030204" pitchFamily="49" charset="0"/>
                        </a:rPr>
                      </a:br>
                      <a:r>
                        <a:rPr lang="es-CO" sz="1400" dirty="0">
                          <a:latin typeface="Consolas" panose="020B0609020204030204" pitchFamily="49" charset="0"/>
                        </a:rPr>
                        <a:t>Para (i = N - 1, 0, -1) Haga</a:t>
                      </a:r>
                      <a:br>
                        <a:rPr lang="es-CO" sz="1400" dirty="0">
                          <a:latin typeface="Consolas" panose="020B0609020204030204" pitchFamily="49" charset="0"/>
                        </a:rPr>
                      </a:br>
                      <a:r>
                        <a:rPr lang="es-CO" sz="1400" dirty="0">
                          <a:latin typeface="Consolas" panose="020B0609020204030204" pitchFamily="49" charset="0"/>
                        </a:rPr>
                        <a:t>  Escribir("Posición ", i, ": ", notas[i])</a:t>
                      </a:r>
                      <a:br>
                        <a:rPr lang="es-CO" sz="1400" dirty="0">
                          <a:latin typeface="Consolas" panose="020B0609020204030204" pitchFamily="49" charset="0"/>
                        </a:rPr>
                      </a:br>
                      <a:r>
                        <a:rPr lang="es-CO" sz="1400" dirty="0">
                          <a:latin typeface="Consolas" panose="020B0609020204030204" pitchFamily="49" charset="0"/>
                        </a:rPr>
                        <a:t>Fin_Para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notas = [3.0, 4.5, 2.0, 4.0]</a:t>
                      </a:r>
                      <a:br>
                        <a:rPr lang="pt-BR" sz="1400" dirty="0">
                          <a:latin typeface="Consolas" panose="020B0609020204030204" pitchFamily="49" charset="0"/>
                        </a:rPr>
                      </a:br>
                      <a:r>
                        <a:rPr lang="pt-BR" sz="1400" dirty="0">
                          <a:latin typeface="Consolas" panose="020B0609020204030204" pitchFamily="49" charset="0"/>
                        </a:rPr>
                        <a:t>N = 4</a:t>
                      </a:r>
                      <a:br>
                        <a:rPr lang="pt-BR" sz="1400" dirty="0">
                          <a:latin typeface="Consolas" panose="020B0609020204030204" pitchFamily="49" charset="0"/>
                        </a:rPr>
                      </a:br>
                      <a:r>
                        <a:rPr lang="pt-BR" sz="1400" dirty="0">
                          <a:latin typeface="Consolas" panose="020B0609020204030204" pitchFamily="49" charset="0"/>
                        </a:rPr>
                        <a:t>for i in range(N - 1, -1, -1):</a:t>
                      </a:r>
                      <a:br>
                        <a:rPr lang="pt-BR" sz="1400" dirty="0">
                          <a:latin typeface="Consolas" panose="020B0609020204030204" pitchFamily="49" charset="0"/>
                        </a:rPr>
                      </a:br>
                      <a:r>
                        <a:rPr lang="pt-BR" sz="1400" dirty="0">
                          <a:latin typeface="Consolas" panose="020B0609020204030204" pitchFamily="49" charset="0"/>
                        </a:rPr>
                        <a:t>  print(f"Posicion {i}: {notas[i]}")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3487071"/>
                  </a:ext>
                </a:extLst>
              </a:tr>
            </a:tbl>
          </a:graphicData>
        </a:graphic>
      </p:graphicFrame>
    </p:spTree>
    <p:extLst>
      <p:ext uri="{BB962C8B-B14F-4D97-AF65-F5344CB8AC3E}">
        <p14:creationId xmlns:p14="http://schemas.microsoft.com/office/powerpoint/2010/main" val="6488664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Otros recorridos</a:t>
            </a:r>
            <a:endParaRPr lang="es-CO" sz="3600" dirty="0"/>
          </a:p>
        </p:txBody>
      </p:sp>
      <p:sp>
        <p:nvSpPr>
          <p:cNvPr id="13" name="12 Rectángulo"/>
          <p:cNvSpPr/>
          <p:nvPr/>
        </p:nvSpPr>
        <p:spPr>
          <a:xfrm>
            <a:off x="125760" y="821025"/>
            <a:ext cx="8892480" cy="4708981"/>
          </a:xfrm>
          <a:prstGeom prst="rect">
            <a:avLst/>
          </a:prstGeom>
        </p:spPr>
        <p:txBody>
          <a:bodyPr wrap="square">
            <a:spAutoFit/>
          </a:bodyPr>
          <a:lstStyle/>
          <a:p>
            <a:pPr rtl="0"/>
            <a:r>
              <a:rPr lang="es-MX" sz="2000" b="1" dirty="0"/>
              <a:t>Variantes del recorrido (solo cambian los valores de </a:t>
            </a:r>
            <a:r>
              <a:rPr lang="es-MX" b="1" dirty="0">
                <a:latin typeface="Consolas" panose="020B0609020204030204" pitchFamily="49" charset="0"/>
              </a:rPr>
              <a:t>i</a:t>
            </a:r>
            <a:r>
              <a:rPr lang="es-MX" sz="2000" b="1" dirty="0"/>
              <a:t>):</a:t>
            </a:r>
          </a:p>
          <a:p>
            <a:pPr rtl="0"/>
            <a:endParaRPr lang="es-CO" sz="2000" b="1" dirty="0"/>
          </a:p>
          <a:p>
            <a:pPr rtl="0"/>
            <a:endParaRPr lang="es-CO" sz="2000" b="1" dirty="0"/>
          </a:p>
          <a:p>
            <a:pPr rtl="0"/>
            <a:endParaRPr lang="es-CO" sz="2000" b="1" dirty="0"/>
          </a:p>
          <a:p>
            <a:pPr rtl="0"/>
            <a:endParaRPr lang="es-CO" sz="2000" b="1" dirty="0"/>
          </a:p>
          <a:p>
            <a:pPr rtl="0"/>
            <a:endParaRPr lang="es-CO" sz="2000" b="1" dirty="0"/>
          </a:p>
          <a:p>
            <a:pPr rtl="0"/>
            <a:endParaRPr lang="es-CO" sz="2000" b="1" dirty="0"/>
          </a:p>
          <a:p>
            <a:pPr rtl="0"/>
            <a:endParaRPr lang="es-CO" sz="2000" b="1" dirty="0"/>
          </a:p>
          <a:p>
            <a:pPr rtl="0"/>
            <a:endParaRPr lang="es-MX" sz="2000" dirty="0"/>
          </a:p>
          <a:p>
            <a:pPr rtl="0"/>
            <a:endParaRPr lang="es-MX" sz="2000" dirty="0"/>
          </a:p>
          <a:p>
            <a:pPr rtl="0"/>
            <a:endParaRPr lang="es-MX" sz="2000" dirty="0"/>
          </a:p>
          <a:p>
            <a:pPr rtl="0"/>
            <a:endParaRPr lang="es-MX" sz="2000" dirty="0"/>
          </a:p>
          <a:p>
            <a:pPr rtl="0"/>
            <a:endParaRPr lang="es-MX" sz="2000" b="1" dirty="0"/>
          </a:p>
          <a:p>
            <a:pPr rtl="0"/>
            <a:r>
              <a:rPr lang="es-MX" sz="2000" b="1" dirty="0"/>
              <a:t>Hasta la penúltima</a:t>
            </a:r>
            <a:r>
              <a:rPr lang="es-MX" sz="2000" dirty="0"/>
              <a:t> sirve para comparar cada casilla con la siguiente (</a:t>
            </a:r>
            <a:r>
              <a:rPr lang="es-MX" dirty="0">
                <a:latin typeface="Consolas" panose="020B0609020204030204" pitchFamily="49" charset="0"/>
              </a:rPr>
              <a:t>notas[i]</a:t>
            </a:r>
            <a:r>
              <a:rPr lang="es-MX" sz="2000" dirty="0"/>
              <a:t> con </a:t>
            </a:r>
            <a:r>
              <a:rPr lang="es-MX" dirty="0">
                <a:latin typeface="Consolas" panose="020B0609020204030204" pitchFamily="49" charset="0"/>
              </a:rPr>
              <a:t>notas[i + 1]</a:t>
            </a:r>
            <a:r>
              <a:rPr lang="es-MX" sz="2000" dirty="0"/>
              <a:t>): así </a:t>
            </a:r>
            <a:r>
              <a:rPr lang="es-MX" dirty="0">
                <a:latin typeface="Consolas" panose="020B0609020204030204" pitchFamily="49" charset="0"/>
              </a:rPr>
              <a:t>i + 1</a:t>
            </a:r>
            <a:r>
              <a:rPr lang="es-MX" sz="2000" dirty="0"/>
              <a:t> nunca se sale del arreglo.</a:t>
            </a:r>
          </a:p>
        </p:txBody>
      </p:sp>
      <p:sp>
        <p:nvSpPr>
          <p:cNvPr id="18" name="CuadroTexto 17">
            <a:extLst>
              <a:ext uri="{FF2B5EF4-FFF2-40B4-BE49-F238E27FC236}">
                <a16:creationId xmlns:a16="http://schemas.microsoft.com/office/drawing/2014/main" id="{98CA3F79-1F31-48C7-A52E-B6AB3137784F}"/>
              </a:ext>
            </a:extLst>
          </p:cNvPr>
          <p:cNvSpPr txBox="1"/>
          <p:nvPr/>
        </p:nvSpPr>
        <p:spPr>
          <a:xfrm>
            <a:off x="251520" y="5589240"/>
            <a:ext cx="8496944" cy="707886"/>
          </a:xfrm>
          <a:prstGeom prst="rect">
            <a:avLst/>
          </a:prstGeom>
          <a:solidFill>
            <a:schemeClr val="accent2">
              <a:lumMod val="20000"/>
              <a:lumOff val="80000"/>
            </a:schemeClr>
          </a:solidFill>
        </p:spPr>
        <p:txBody>
          <a:bodyPr wrap="square">
            <a:spAutoFit/>
          </a:bodyPr>
          <a:lstStyle/>
          <a:p>
            <a:r>
              <a:rPr lang="es-MX" sz="2000" b="1" dirty="0"/>
              <a:t>Idea clave: </a:t>
            </a:r>
            <a:r>
              <a:rPr lang="es-MX" sz="2000" dirty="0"/>
              <a:t>Para cualquier recorrido hay que responder tres preguntas: desde dónde, hasta dónde y de a cuánto. Eso define </a:t>
            </a:r>
            <a:r>
              <a:rPr lang="es-MX" b="1" dirty="0">
                <a:latin typeface="Consolas" panose="020B0609020204030204" pitchFamily="49" charset="0"/>
              </a:rPr>
              <a:t>inicio</a:t>
            </a:r>
            <a:r>
              <a:rPr lang="es-MX" sz="2000" dirty="0"/>
              <a:t>, </a:t>
            </a:r>
            <a:r>
              <a:rPr lang="es-MX" b="1" dirty="0">
                <a:latin typeface="Consolas" panose="020B0609020204030204" pitchFamily="49" charset="0"/>
              </a:rPr>
              <a:t>fin</a:t>
            </a:r>
            <a:r>
              <a:rPr lang="es-MX" sz="2000" dirty="0"/>
              <a:t> y </a:t>
            </a:r>
            <a:r>
              <a:rPr lang="es-MX" b="1" dirty="0">
                <a:latin typeface="Consolas" panose="020B0609020204030204" pitchFamily="49" charset="0"/>
              </a:rPr>
              <a:t>paso</a:t>
            </a:r>
            <a:r>
              <a:rPr lang="es-MX" sz="2000" dirty="0"/>
              <a:t>.</a:t>
            </a:r>
            <a:endParaRPr lang="es-CO" sz="2000" dirty="0">
              <a:latin typeface="Consolas" panose="020B0609020204030204" pitchFamily="49" charset="0"/>
            </a:endParaRPr>
          </a:p>
        </p:txBody>
      </p:sp>
      <p:graphicFrame>
        <p:nvGraphicFramePr>
          <p:cNvPr id="2" name="Tabla 1">
            <a:extLst>
              <a:ext uri="{FF2B5EF4-FFF2-40B4-BE49-F238E27FC236}">
                <a16:creationId xmlns:a16="http://schemas.microsoft.com/office/drawing/2014/main" id="{A39509AB-DC1A-46A5-B9A1-315A791F6676}"/>
              </a:ext>
            </a:extLst>
          </p:cNvPr>
          <p:cNvGraphicFramePr>
            <a:graphicFrameLocks noGrp="1"/>
          </p:cNvGraphicFramePr>
          <p:nvPr>
            <p:extLst>
              <p:ext uri="{D42A27DB-BD31-4B8C-83A1-F6EECF244321}">
                <p14:modId xmlns:p14="http://schemas.microsoft.com/office/powerpoint/2010/main" val="2373218832"/>
              </p:ext>
            </p:extLst>
          </p:nvPr>
        </p:nvGraphicFramePr>
        <p:xfrm>
          <a:off x="251520" y="1389112"/>
          <a:ext cx="8372067" cy="3048000"/>
        </p:xfrm>
        <a:graphic>
          <a:graphicData uri="http://schemas.openxmlformats.org/drawingml/2006/table">
            <a:tbl>
              <a:tblPr/>
              <a:tblGrid>
                <a:gridCol w="1921490">
                  <a:extLst>
                    <a:ext uri="{9D8B030D-6E8A-4147-A177-3AD203B41FA5}">
                      <a16:colId xmlns:a16="http://schemas.microsoft.com/office/drawing/2014/main" val="1986676761"/>
                    </a:ext>
                  </a:extLst>
                </a:gridCol>
                <a:gridCol w="2538730">
                  <a:extLst>
                    <a:ext uri="{9D8B030D-6E8A-4147-A177-3AD203B41FA5}">
                      <a16:colId xmlns:a16="http://schemas.microsoft.com/office/drawing/2014/main" val="7852403"/>
                    </a:ext>
                  </a:extLst>
                </a:gridCol>
                <a:gridCol w="1949768">
                  <a:extLst>
                    <a:ext uri="{9D8B030D-6E8A-4147-A177-3AD203B41FA5}">
                      <a16:colId xmlns:a16="http://schemas.microsoft.com/office/drawing/2014/main" val="4074616702"/>
                    </a:ext>
                  </a:extLst>
                </a:gridCol>
                <a:gridCol w="1962079">
                  <a:extLst>
                    <a:ext uri="{9D8B030D-6E8A-4147-A177-3AD203B41FA5}">
                      <a16:colId xmlns:a16="http://schemas.microsoft.com/office/drawing/2014/main" val="3073266454"/>
                    </a:ext>
                  </a:extLst>
                </a:gridCol>
              </a:tblGrid>
              <a:tr h="0">
                <a:tc>
                  <a:txBody>
                    <a:bodyPr/>
                    <a:lstStyle/>
                    <a:p>
                      <a:r>
                        <a:rPr lang="es-CO" b="1" dirty="0"/>
                        <a:t>Recorrido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Posiciones (</a:t>
                      </a:r>
                      <a:r>
                        <a:rPr lang="es-CO" sz="1600" b="1" dirty="0">
                          <a:latin typeface="Consolas" panose="020B0609020204030204" pitchFamily="49" charset="0"/>
                        </a:rPr>
                        <a:t>N = 6</a:t>
                      </a:r>
                      <a:r>
                        <a:rPr lang="es-CO"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4173503525"/>
                  </a:ext>
                </a:extLst>
              </a:tr>
              <a:tr h="0">
                <a:tc>
                  <a:txBody>
                    <a:bodyPr/>
                    <a:lstStyle/>
                    <a:p>
                      <a:r>
                        <a:rPr lang="es-CO" sz="1600" dirty="0"/>
                        <a:t>Completo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dirty="0">
                          <a:latin typeface="Consolas" panose="020B0609020204030204" pitchFamily="49" charset="0"/>
                        </a:rPr>
                        <a:t>Para (i = 0, N - 1,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range(N)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0, 1, 2, 3, 4, 5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8449856"/>
                  </a:ext>
                </a:extLst>
              </a:tr>
              <a:tr h="0">
                <a:tc>
                  <a:txBody>
                    <a:bodyPr/>
                    <a:lstStyle/>
                    <a:p>
                      <a:r>
                        <a:rPr lang="es-CO" sz="1600" dirty="0"/>
                        <a:t>Inverso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dirty="0">
                          <a:latin typeface="Consolas" panose="020B0609020204030204" pitchFamily="49" charset="0"/>
                        </a:rPr>
                        <a:t>Para (i = N - 1, 0,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dirty="0">
                          <a:latin typeface="Consolas" panose="020B0609020204030204" pitchFamily="49" charset="0"/>
                        </a:rPr>
                        <a:t>range(N - 1, -1,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5, 4, 3, 2, 1, 0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775631"/>
                  </a:ext>
                </a:extLst>
              </a:tr>
              <a:tr h="0">
                <a:tc>
                  <a:txBody>
                    <a:bodyPr/>
                    <a:lstStyle/>
                    <a:p>
                      <a:r>
                        <a:rPr lang="es-CO" sz="1600" dirty="0"/>
                        <a:t>Desde la segunda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a:latin typeface="Consolas" panose="020B0609020204030204" pitchFamily="49" charset="0"/>
                        </a:rPr>
                        <a:t>Para (i = 1, N - 1,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range(1,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1, 2, 3, 4, 5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876669"/>
                  </a:ext>
                </a:extLst>
              </a:tr>
              <a:tr h="0">
                <a:tc>
                  <a:txBody>
                    <a:bodyPr/>
                    <a:lstStyle/>
                    <a:p>
                      <a:r>
                        <a:rPr lang="es-CO" sz="1600" dirty="0"/>
                        <a:t>Hasta la penúltima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r>
                        <a:rPr lang="pt-BR" sz="1200">
                          <a:latin typeface="Consolas" panose="020B0609020204030204" pitchFamily="49" charset="0"/>
                        </a:rPr>
                        <a:t>Para (i = 0, N - 2,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r>
                        <a:rPr lang="es-CO" sz="1200">
                          <a:latin typeface="Consolas" panose="020B0609020204030204" pitchFamily="49" charset="0"/>
                        </a:rPr>
                        <a:t>range(N - 1)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r>
                        <a:rPr lang="es-CO" sz="1200" dirty="0">
                          <a:latin typeface="Consolas" panose="020B0609020204030204" pitchFamily="49" charset="0"/>
                        </a:rPr>
                        <a:t>0, 1, 2, 3, 4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9470570"/>
                  </a:ext>
                </a:extLst>
              </a:tr>
              <a:tr h="0">
                <a:tc>
                  <a:txBody>
                    <a:bodyPr/>
                    <a:lstStyle/>
                    <a:p>
                      <a:r>
                        <a:rPr lang="es-CO" sz="1600" dirty="0"/>
                        <a:t>Posiciones pares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a:latin typeface="Consolas" panose="020B0609020204030204" pitchFamily="49" charset="0"/>
                        </a:rPr>
                        <a:t>Para (i = 0, N - 1,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range(0, N,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0, 2, 4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2597369"/>
                  </a:ext>
                </a:extLst>
              </a:tr>
              <a:tr h="0">
                <a:tc>
                  <a:txBody>
                    <a:bodyPr/>
                    <a:lstStyle/>
                    <a:p>
                      <a:r>
                        <a:rPr lang="es-CO" sz="1600" dirty="0"/>
                        <a:t>Posiciones impares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a:latin typeface="Consolas" panose="020B0609020204030204" pitchFamily="49" charset="0"/>
                        </a:rPr>
                        <a:t>Para (i = 1, N - 1,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range(1, N,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1, 3, 5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715015"/>
                  </a:ext>
                </a:extLst>
              </a:tr>
              <a:tr h="0">
                <a:tc>
                  <a:txBody>
                    <a:bodyPr/>
                    <a:lstStyle/>
                    <a:p>
                      <a:r>
                        <a:rPr lang="es-CO" sz="1600" dirty="0"/>
                        <a:t>Primera mitad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dirty="0">
                          <a:latin typeface="Consolas" panose="020B0609020204030204" pitchFamily="49" charset="0"/>
                        </a:rPr>
                        <a:t>Para (i = 0, N // 2 - 1,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range(N //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0, 1, 2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1108536"/>
                  </a:ext>
                </a:extLst>
              </a:tr>
              <a:tr h="0">
                <a:tc>
                  <a:txBody>
                    <a:bodyPr/>
                    <a:lstStyle/>
                    <a:p>
                      <a:r>
                        <a:rPr lang="es-CO" sz="1600" dirty="0"/>
                        <a:t>Segunda mitad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200" dirty="0">
                          <a:latin typeface="Consolas" panose="020B0609020204030204" pitchFamily="49" charset="0"/>
                        </a:rPr>
                        <a:t>Para (i = N // 2, N - 1,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range(N // 2,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3, 4, 5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306734"/>
                  </a:ext>
                </a:extLst>
              </a:tr>
            </a:tbl>
          </a:graphicData>
        </a:graphic>
      </p:graphicFrame>
    </p:spTree>
    <p:extLst>
      <p:ext uri="{BB962C8B-B14F-4D97-AF65-F5344CB8AC3E}">
        <p14:creationId xmlns:p14="http://schemas.microsoft.com/office/powerpoint/2010/main" val="3005074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Comparar vecinos</a:t>
            </a:r>
            <a:endParaRPr lang="es-CO" sz="3600" dirty="0"/>
          </a:p>
        </p:txBody>
      </p:sp>
      <p:sp>
        <p:nvSpPr>
          <p:cNvPr id="13" name="12 Rectángulo"/>
          <p:cNvSpPr/>
          <p:nvPr/>
        </p:nvSpPr>
        <p:spPr>
          <a:xfrm>
            <a:off x="107504" y="776898"/>
            <a:ext cx="8892480" cy="5016758"/>
          </a:xfrm>
          <a:prstGeom prst="rect">
            <a:avLst/>
          </a:prstGeom>
        </p:spPr>
        <p:txBody>
          <a:bodyPr wrap="square">
            <a:spAutoFit/>
          </a:bodyPr>
          <a:lstStyle/>
          <a:p>
            <a:pPr marL="342900" indent="-342900" rtl="0">
              <a:buFont typeface="Arial" panose="020B0604020202020204" pitchFamily="34" charset="0"/>
              <a:buChar char="•"/>
            </a:pPr>
            <a:r>
              <a:rPr lang="es-MX" sz="2000" dirty="0"/>
              <a:t>En la tabla anterior aparece el recorrido </a:t>
            </a:r>
            <a:r>
              <a:rPr lang="es-MX" sz="2000" b="1" dirty="0"/>
              <a:t>“Hasta la penúltima”</a:t>
            </a:r>
            <a:r>
              <a:rPr lang="es-MX" sz="2000" dirty="0"/>
              <a:t>: </a:t>
            </a:r>
            <a:r>
              <a:rPr lang="es-MX" b="1" dirty="0">
                <a:latin typeface="Consolas" panose="020B0609020204030204" pitchFamily="49" charset="0"/>
              </a:rPr>
              <a:t>range(N - 1)</a:t>
            </a:r>
            <a:r>
              <a:rPr lang="es-MX" sz="2000" dirty="0"/>
              <a:t>. A continuación se muestra un caso de uso.</a:t>
            </a:r>
          </a:p>
          <a:p>
            <a:pPr marL="342900" indent="-342900" rtl="0">
              <a:buFont typeface="Arial" panose="020B0604020202020204" pitchFamily="34" charset="0"/>
              <a:buChar char="•"/>
            </a:pPr>
            <a:r>
              <a:rPr lang="es-MX" sz="2000" b="1" dirty="0"/>
              <a:t>Problema</a:t>
            </a:r>
            <a:r>
              <a:rPr lang="es-MX" sz="2000" dirty="0"/>
              <a:t>: Un estudiante tuvo estas notas en sus cuatro evaluaciones, en orden: </a:t>
            </a:r>
            <a:r>
              <a:rPr lang="es-MX" b="1" dirty="0">
                <a:latin typeface="Consolas" panose="020B0609020204030204" pitchFamily="49" charset="0"/>
              </a:rPr>
              <a:t>notas = [3.0, 4.5, 2.0, 4.0]</a:t>
            </a:r>
            <a:r>
              <a:rPr lang="es-MX" sz="2000" dirty="0"/>
              <a:t>. ¿Su nota subió de una evaluación a la siguiente?</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rtl="0"/>
            <a:endParaRPr lang="es-MX" sz="2000" dirty="0"/>
          </a:p>
          <a:p>
            <a:pPr marL="342900" indent="-342900" rtl="0">
              <a:buFont typeface="Arial" panose="020B0604020202020204" pitchFamily="34" charset="0"/>
              <a:buChar char="•"/>
            </a:pPr>
            <a:r>
              <a:rPr lang="es-MX" sz="2000" b="1" dirty="0"/>
              <a:t>¿Por qué el ciclo llega solo hasta N - 2?</a:t>
            </a:r>
            <a:r>
              <a:rPr lang="es-MX" sz="2000" dirty="0"/>
              <a:t> Con 4 notas hay </a:t>
            </a:r>
            <a:r>
              <a:rPr lang="es-MX" sz="2000" b="1" dirty="0"/>
              <a:t>3 comparaciones</a:t>
            </a:r>
            <a:r>
              <a:rPr lang="es-MX" sz="2000" dirty="0"/>
              <a:t>. Si </a:t>
            </a:r>
            <a:r>
              <a:rPr lang="es-MX" b="1" dirty="0">
                <a:latin typeface="Consolas" panose="020B0609020204030204" pitchFamily="49" charset="0"/>
              </a:rPr>
              <a:t>i</a:t>
            </a:r>
            <a:r>
              <a:rPr lang="es-MX" sz="2000" dirty="0"/>
              <a:t> llegara a </a:t>
            </a:r>
            <a:r>
              <a:rPr lang="es-MX" b="1" dirty="0">
                <a:latin typeface="Consolas" panose="020B0609020204030204" pitchFamily="49" charset="0"/>
              </a:rPr>
              <a:t>3</a:t>
            </a:r>
            <a:r>
              <a:rPr lang="es-MX" sz="2000" dirty="0"/>
              <a:t>, se compararía </a:t>
            </a:r>
            <a:r>
              <a:rPr lang="es-MX" b="1" dirty="0">
                <a:latin typeface="Consolas" panose="020B0609020204030204" pitchFamily="49" charset="0"/>
              </a:rPr>
              <a:t>notas[3]</a:t>
            </a:r>
            <a:r>
              <a:rPr lang="es-MX" sz="2000" dirty="0"/>
              <a:t> con </a:t>
            </a:r>
            <a:r>
              <a:rPr lang="es-MX" b="1" dirty="0">
                <a:latin typeface="Consolas" panose="020B0609020204030204" pitchFamily="49" charset="0"/>
              </a:rPr>
              <a:t>notas[4]</a:t>
            </a:r>
            <a:r>
              <a:rPr lang="es-MX" sz="2000" dirty="0"/>
              <a:t>, que no existe </a:t>
            </a:r>
            <a:r>
              <a:rPr lang="es-MX" sz="2000" dirty="0">
                <a:sym typeface="Wingdings" panose="05000000000000000000" pitchFamily="2" charset="2"/>
              </a:rPr>
              <a:t></a:t>
            </a:r>
            <a:r>
              <a:rPr lang="es-MX" sz="2000" dirty="0"/>
              <a:t> </a:t>
            </a:r>
            <a:r>
              <a:rPr lang="es-MX" b="1" dirty="0" err="1">
                <a:solidFill>
                  <a:srgbClr val="FF0000"/>
                </a:solidFill>
                <a:latin typeface="Consolas" panose="020B0609020204030204" pitchFamily="49" charset="0"/>
              </a:rPr>
              <a:t>IndexError</a:t>
            </a:r>
            <a:r>
              <a:rPr lang="es-MX" sz="2000" dirty="0"/>
              <a:t>.</a:t>
            </a:r>
          </a:p>
        </p:txBody>
      </p:sp>
      <p:graphicFrame>
        <p:nvGraphicFramePr>
          <p:cNvPr id="4" name="Tabla 3">
            <a:extLst>
              <a:ext uri="{FF2B5EF4-FFF2-40B4-BE49-F238E27FC236}">
                <a16:creationId xmlns:a16="http://schemas.microsoft.com/office/drawing/2014/main" id="{02485980-D15E-407D-B183-1CE9FA8091DD}"/>
              </a:ext>
            </a:extLst>
          </p:cNvPr>
          <p:cNvGraphicFramePr>
            <a:graphicFrameLocks noGrp="1"/>
          </p:cNvGraphicFramePr>
          <p:nvPr>
            <p:extLst>
              <p:ext uri="{D42A27DB-BD31-4B8C-83A1-F6EECF244321}">
                <p14:modId xmlns:p14="http://schemas.microsoft.com/office/powerpoint/2010/main" val="2694011091"/>
              </p:ext>
            </p:extLst>
          </p:nvPr>
        </p:nvGraphicFramePr>
        <p:xfrm>
          <a:off x="645740" y="2558400"/>
          <a:ext cx="7886700" cy="2377440"/>
        </p:xfrm>
        <a:graphic>
          <a:graphicData uri="http://schemas.openxmlformats.org/drawingml/2006/table">
            <a:tbl>
              <a:tblPr/>
              <a:tblGrid>
                <a:gridCol w="3943350">
                  <a:extLst>
                    <a:ext uri="{9D8B030D-6E8A-4147-A177-3AD203B41FA5}">
                      <a16:colId xmlns:a16="http://schemas.microsoft.com/office/drawing/2014/main" val="2308992647"/>
                    </a:ext>
                  </a:extLst>
                </a:gridCol>
                <a:gridCol w="3943350">
                  <a:extLst>
                    <a:ext uri="{9D8B030D-6E8A-4147-A177-3AD203B41FA5}">
                      <a16:colId xmlns:a16="http://schemas.microsoft.com/office/drawing/2014/main" val="896979473"/>
                    </a:ext>
                  </a:extLst>
                </a:gridCol>
              </a:tblGrid>
              <a:tr h="0">
                <a:tc>
                  <a:txBody>
                    <a:bodyPr/>
                    <a:lstStyle/>
                    <a:p>
                      <a:r>
                        <a:rPr lang="es-CO" b="1"/>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Python (</a:t>
                      </a:r>
                      <a:r>
                        <a:rPr lang="es-CO" b="1" dirty="0">
                          <a:hlinkClick r:id="rId2"/>
                        </a:rPr>
                        <a:t>simulación</a:t>
                      </a:r>
                      <a:r>
                        <a:rPr lang="es-CO"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418493556"/>
                  </a:ext>
                </a:extLst>
              </a:tr>
              <a:tr h="0">
                <a:tc>
                  <a:txBody>
                    <a:bodyPr/>
                    <a:lstStyle/>
                    <a:p>
                      <a:r>
                        <a:rPr lang="pt-BR" sz="1400" dirty="0">
                          <a:latin typeface="Consolas" panose="020B0609020204030204" pitchFamily="49" charset="0"/>
                        </a:rPr>
                        <a:t>notas = [3.0, 4.5, 2.0, 4.0]</a:t>
                      </a:r>
                    </a:p>
                    <a:p>
                      <a:r>
                        <a:rPr lang="pt-BR" sz="1400" dirty="0">
                          <a:latin typeface="Consolas" panose="020B0609020204030204" pitchFamily="49" charset="0"/>
                        </a:rPr>
                        <a:t>N = 4</a:t>
                      </a:r>
                      <a:endParaRPr lang="es-MX" sz="1400" dirty="0">
                        <a:latin typeface="Consolas" panose="020B0609020204030204" pitchFamily="49" charset="0"/>
                      </a:endParaRPr>
                    </a:p>
                    <a:p>
                      <a:r>
                        <a:rPr lang="es-MX" sz="1400" dirty="0">
                          <a:latin typeface="Consolas" panose="020B0609020204030204" pitchFamily="49" charset="0"/>
                        </a:rPr>
                        <a:t>Para (i = 0, N - 2, 1) Haga</a:t>
                      </a:r>
                      <a:br>
                        <a:rPr lang="es-MX" sz="1400" dirty="0">
                          <a:latin typeface="Consolas" panose="020B0609020204030204" pitchFamily="49" charset="0"/>
                        </a:rPr>
                      </a:br>
                      <a:r>
                        <a:rPr lang="es-MX" sz="1400" dirty="0">
                          <a:latin typeface="Consolas" panose="020B0609020204030204" pitchFamily="49" charset="0"/>
                        </a:rPr>
                        <a:t>  Si notas[i + 1] &gt; notas[i] Entonces</a:t>
                      </a:r>
                      <a:br>
                        <a:rPr lang="es-MX" sz="1400" dirty="0">
                          <a:latin typeface="Consolas" panose="020B0609020204030204" pitchFamily="49" charset="0"/>
                        </a:rPr>
                      </a:br>
                      <a:r>
                        <a:rPr lang="es-MX" sz="1400" dirty="0">
                          <a:latin typeface="Consolas" panose="020B0609020204030204" pitchFamily="49" charset="0"/>
                        </a:rPr>
                        <a:t>    Escribir("Sube")</a:t>
                      </a:r>
                      <a:br>
                        <a:rPr lang="es-MX" sz="1400" dirty="0">
                          <a:latin typeface="Consolas" panose="020B0609020204030204" pitchFamily="49" charset="0"/>
                        </a:rPr>
                      </a:br>
                      <a:r>
                        <a:rPr lang="es-MX" sz="1400" dirty="0">
                          <a:latin typeface="Consolas" panose="020B0609020204030204" pitchFamily="49" charset="0"/>
                        </a:rPr>
                        <a:t>  Sino</a:t>
                      </a:r>
                      <a:br>
                        <a:rPr lang="es-MX" sz="1400" dirty="0">
                          <a:latin typeface="Consolas" panose="020B0609020204030204" pitchFamily="49" charset="0"/>
                        </a:rPr>
                      </a:br>
                      <a:r>
                        <a:rPr lang="es-MX" sz="1400" dirty="0">
                          <a:latin typeface="Consolas" panose="020B0609020204030204" pitchFamily="49" charset="0"/>
                        </a:rPr>
                        <a:t>    Escribir("Baja o se mantiene")</a:t>
                      </a:r>
                      <a:br>
                        <a:rPr lang="es-MX" sz="1400" dirty="0">
                          <a:latin typeface="Consolas" panose="020B0609020204030204" pitchFamily="49" charset="0"/>
                        </a:rPr>
                      </a:br>
                      <a:r>
                        <a:rPr lang="es-MX" sz="1400" dirty="0">
                          <a:latin typeface="Consolas" panose="020B0609020204030204" pitchFamily="49" charset="0"/>
                        </a:rPr>
                        <a:t>  </a:t>
                      </a:r>
                      <a:r>
                        <a:rPr lang="es-MX" sz="1400" dirty="0" err="1">
                          <a:latin typeface="Consolas" panose="020B0609020204030204" pitchFamily="49" charset="0"/>
                        </a:rPr>
                        <a:t>Fin_Si</a:t>
                      </a:r>
                      <a:br>
                        <a:rPr lang="es-MX" sz="1400" dirty="0">
                          <a:latin typeface="Consolas" panose="020B0609020204030204" pitchFamily="49" charset="0"/>
                        </a:rPr>
                      </a:br>
                      <a:r>
                        <a:rPr lang="es-MX" sz="1400" dirty="0" err="1">
                          <a:latin typeface="Consolas" panose="020B0609020204030204" pitchFamily="49" charset="0"/>
                        </a:rPr>
                        <a:t>Fin_Para</a:t>
                      </a:r>
                      <a:endParaRPr lang="es-MX" sz="14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notas = [3.0, 4.5, 2.0, 4.0]</a:t>
                      </a:r>
                    </a:p>
                    <a:p>
                      <a:r>
                        <a:rPr lang="pt-BR" sz="1400" dirty="0">
                          <a:latin typeface="Consolas" panose="020B0609020204030204" pitchFamily="49" charset="0"/>
                        </a:rPr>
                        <a:t>N = 4</a:t>
                      </a:r>
                      <a:endParaRPr lang="es-CO" sz="1400" dirty="0">
                        <a:latin typeface="Consolas" panose="020B0609020204030204" pitchFamily="49" charset="0"/>
                      </a:endParaRPr>
                    </a:p>
                    <a:p>
                      <a:r>
                        <a:rPr lang="es-CO" sz="1400" dirty="0">
                          <a:latin typeface="Consolas" panose="020B0609020204030204" pitchFamily="49" charset="0"/>
                        </a:rPr>
                        <a:t>for i in range(N - 1):</a:t>
                      </a:r>
                      <a:br>
                        <a:rPr lang="es-CO" sz="1400" dirty="0">
                          <a:latin typeface="Consolas" panose="020B0609020204030204" pitchFamily="49" charset="0"/>
                        </a:rPr>
                      </a:br>
                      <a:r>
                        <a:rPr lang="es-CO" sz="1400" dirty="0">
                          <a:latin typeface="Consolas" panose="020B0609020204030204" pitchFamily="49" charset="0"/>
                        </a:rPr>
                        <a:t>  </a:t>
                      </a:r>
                      <a:r>
                        <a:rPr lang="es-CO" sz="1400" dirty="0" err="1">
                          <a:latin typeface="Consolas" panose="020B0609020204030204" pitchFamily="49" charset="0"/>
                        </a:rPr>
                        <a:t>if</a:t>
                      </a:r>
                      <a:r>
                        <a:rPr lang="es-CO" sz="1400" dirty="0">
                          <a:latin typeface="Consolas" panose="020B0609020204030204" pitchFamily="49" charset="0"/>
                        </a:rPr>
                        <a:t> notas[i + 1] &gt; notas[i]:</a:t>
                      </a:r>
                      <a:br>
                        <a:rPr lang="es-CO" sz="1400" dirty="0">
                          <a:latin typeface="Consolas" panose="020B0609020204030204" pitchFamily="49" charset="0"/>
                        </a:rPr>
                      </a:br>
                      <a:r>
                        <a:rPr lang="es-CO" sz="1400" dirty="0">
                          <a:latin typeface="Consolas" panose="020B0609020204030204" pitchFamily="49" charset="0"/>
                        </a:rPr>
                        <a:t>    print("Sube")</a:t>
                      </a:r>
                      <a:br>
                        <a:rPr lang="es-CO" sz="1400" dirty="0">
                          <a:latin typeface="Consolas" panose="020B0609020204030204" pitchFamily="49" charset="0"/>
                        </a:rPr>
                      </a:br>
                      <a:r>
                        <a:rPr lang="es-CO" sz="1400" dirty="0">
                          <a:latin typeface="Consolas" panose="020B0609020204030204" pitchFamily="49" charset="0"/>
                        </a:rPr>
                        <a:t>  </a:t>
                      </a:r>
                      <a:r>
                        <a:rPr lang="es-CO" sz="1400" dirty="0" err="1">
                          <a:latin typeface="Consolas" panose="020B0609020204030204" pitchFamily="49" charset="0"/>
                        </a:rPr>
                        <a:t>else</a:t>
                      </a:r>
                      <a:r>
                        <a:rPr lang="es-CO" sz="1400" dirty="0">
                          <a:latin typeface="Consolas" panose="020B0609020204030204" pitchFamily="49" charset="0"/>
                        </a:rPr>
                        <a:t>:</a:t>
                      </a:r>
                      <a:br>
                        <a:rPr lang="es-CO" sz="1400" dirty="0">
                          <a:latin typeface="Consolas" panose="020B0609020204030204" pitchFamily="49" charset="0"/>
                        </a:rPr>
                      </a:br>
                      <a:r>
                        <a:rPr lang="es-CO" sz="1400" dirty="0">
                          <a:latin typeface="Consolas" panose="020B0609020204030204" pitchFamily="49" charset="0"/>
                        </a:rPr>
                        <a:t>    print("Baja o se mantiene")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440945"/>
                  </a:ext>
                </a:extLst>
              </a:tr>
            </a:tbl>
          </a:graphicData>
        </a:graphic>
      </p:graphicFrame>
      <p:sp>
        <p:nvSpPr>
          <p:cNvPr id="11" name="CuadroTexto 10">
            <a:extLst>
              <a:ext uri="{FF2B5EF4-FFF2-40B4-BE49-F238E27FC236}">
                <a16:creationId xmlns:a16="http://schemas.microsoft.com/office/drawing/2014/main" id="{9CB00AA4-B7FB-42E6-8CC4-D69507C2BC00}"/>
              </a:ext>
            </a:extLst>
          </p:cNvPr>
          <p:cNvSpPr txBox="1"/>
          <p:nvPr/>
        </p:nvSpPr>
        <p:spPr>
          <a:xfrm>
            <a:off x="251520" y="5961474"/>
            <a:ext cx="8424935" cy="707886"/>
          </a:xfrm>
          <a:prstGeom prst="rect">
            <a:avLst/>
          </a:prstGeom>
          <a:solidFill>
            <a:schemeClr val="accent2">
              <a:lumMod val="20000"/>
              <a:lumOff val="80000"/>
            </a:schemeClr>
          </a:solidFill>
        </p:spPr>
        <p:txBody>
          <a:bodyPr wrap="square">
            <a:spAutoFit/>
          </a:bodyPr>
          <a:lstStyle/>
          <a:p>
            <a:r>
              <a:rPr lang="es-CO" sz="2000" b="1" dirty="0"/>
              <a:t>Idea clave</a:t>
            </a:r>
            <a:r>
              <a:rPr lang="es-CO" sz="2000" dirty="0"/>
              <a:t>: Cuando el cuerpo usa </a:t>
            </a:r>
            <a:r>
              <a:rPr lang="es-CO" b="1" dirty="0">
                <a:latin typeface="Consolas" panose="020B0609020204030204" pitchFamily="49" charset="0"/>
              </a:rPr>
              <a:t>notas[i + 1]</a:t>
            </a:r>
            <a:r>
              <a:rPr lang="es-CO" sz="2000" dirty="0"/>
              <a:t>, el recorrido va hasta la penúltima posición.</a:t>
            </a:r>
          </a:p>
        </p:txBody>
      </p:sp>
    </p:spTree>
    <p:extLst>
      <p:ext uri="{BB962C8B-B14F-4D97-AF65-F5344CB8AC3E}">
        <p14:creationId xmlns:p14="http://schemas.microsoft.com/office/powerpoint/2010/main" val="34583868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Asignar una lista no la copia</a:t>
            </a:r>
            <a:endParaRPr lang="es-CO" sz="3600" dirty="0"/>
          </a:p>
        </p:txBody>
      </p:sp>
      <p:sp>
        <p:nvSpPr>
          <p:cNvPr id="13" name="12 Rectángulo"/>
          <p:cNvSpPr/>
          <p:nvPr/>
        </p:nvSpPr>
        <p:spPr>
          <a:xfrm>
            <a:off x="107504" y="776898"/>
            <a:ext cx="8892480" cy="5016758"/>
          </a:xfrm>
          <a:prstGeom prst="rect">
            <a:avLst/>
          </a:prstGeom>
        </p:spPr>
        <p:txBody>
          <a:bodyPr wrap="square">
            <a:spAutoFit/>
          </a:bodyPr>
          <a:lstStyle/>
          <a:p>
            <a:pPr marL="342900" indent="-342900" rtl="0">
              <a:buFont typeface="Arial" panose="020B0604020202020204" pitchFamily="34" charset="0"/>
              <a:buChar char="•"/>
            </a:pPr>
            <a:r>
              <a:rPr lang="es-MX" sz="2000" b="1" dirty="0"/>
              <a:t>Con listas, </a:t>
            </a:r>
            <a:r>
              <a:rPr lang="es-MX" b="1" dirty="0">
                <a:latin typeface="Consolas" panose="020B0609020204030204" pitchFamily="49" charset="0"/>
              </a:rPr>
              <a:t>=</a:t>
            </a:r>
            <a:r>
              <a:rPr lang="es-MX" sz="2000" b="1" dirty="0"/>
              <a:t> no copia</a:t>
            </a:r>
            <a:r>
              <a:rPr lang="es-MX" sz="2000" dirty="0"/>
              <a:t>: </a:t>
            </a:r>
            <a:r>
              <a:rPr lang="es-MX" b="1" dirty="0">
                <a:latin typeface="Consolas" panose="020B0609020204030204" pitchFamily="49" charset="0"/>
              </a:rPr>
              <a:t>copia = notas</a:t>
            </a:r>
            <a:r>
              <a:rPr lang="es-MX" sz="2000" dirty="0"/>
              <a:t> le pone otro nombre (un </a:t>
            </a:r>
            <a:r>
              <a:rPr lang="es-MX" sz="2000" b="1" dirty="0"/>
              <a:t>alias</a:t>
            </a:r>
            <a:r>
              <a:rPr lang="es-MX" sz="2000" dirty="0"/>
              <a:t>) a la misma lista. Lo que se cambie con un nombre se ve con el otro.</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rtl="0"/>
            <a:endParaRPr lang="es-MX" sz="2000"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p:txBody>
      </p:sp>
      <p:graphicFrame>
        <p:nvGraphicFramePr>
          <p:cNvPr id="3" name="Tabla 2">
            <a:extLst>
              <a:ext uri="{FF2B5EF4-FFF2-40B4-BE49-F238E27FC236}">
                <a16:creationId xmlns:a16="http://schemas.microsoft.com/office/drawing/2014/main" id="{6A92D2F2-D51D-4A4D-B16D-4C5B122B4B16}"/>
              </a:ext>
            </a:extLst>
          </p:cNvPr>
          <p:cNvGraphicFramePr>
            <a:graphicFrameLocks noGrp="1"/>
          </p:cNvGraphicFramePr>
          <p:nvPr>
            <p:extLst>
              <p:ext uri="{D42A27DB-BD31-4B8C-83A1-F6EECF244321}">
                <p14:modId xmlns:p14="http://schemas.microsoft.com/office/powerpoint/2010/main" val="2903945807"/>
              </p:ext>
            </p:extLst>
          </p:nvPr>
        </p:nvGraphicFramePr>
        <p:xfrm>
          <a:off x="933986" y="1552952"/>
          <a:ext cx="7342462" cy="2164080"/>
        </p:xfrm>
        <a:graphic>
          <a:graphicData uri="http://schemas.openxmlformats.org/drawingml/2006/table">
            <a:tbl>
              <a:tblPr/>
              <a:tblGrid>
                <a:gridCol w="1483678">
                  <a:extLst>
                    <a:ext uri="{9D8B030D-6E8A-4147-A177-3AD203B41FA5}">
                      <a16:colId xmlns:a16="http://schemas.microsoft.com/office/drawing/2014/main" val="3280203030"/>
                    </a:ext>
                  </a:extLst>
                </a:gridCol>
                <a:gridCol w="2690940">
                  <a:extLst>
                    <a:ext uri="{9D8B030D-6E8A-4147-A177-3AD203B41FA5}">
                      <a16:colId xmlns:a16="http://schemas.microsoft.com/office/drawing/2014/main" val="2563747310"/>
                    </a:ext>
                  </a:extLst>
                </a:gridCol>
                <a:gridCol w="3167844">
                  <a:extLst>
                    <a:ext uri="{9D8B030D-6E8A-4147-A177-3AD203B41FA5}">
                      <a16:colId xmlns:a16="http://schemas.microsoft.com/office/drawing/2014/main" val="1468231671"/>
                    </a:ext>
                  </a:extLst>
                </a:gridCol>
              </a:tblGrid>
              <a:tr h="0">
                <a:tc>
                  <a:txBody>
                    <a:bodyPr/>
                    <a:lstStyle/>
                    <a:p>
                      <a:endParaRPr lang="es-CO" b="1" dirty="0"/>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b="1" dirty="0"/>
                        <a:t>Con variables </a:t>
                      </a:r>
                      <a:r>
                        <a:rPr lang="es-CO" b="0" dirty="0"/>
                        <a:t>(</a:t>
                      </a:r>
                      <a:r>
                        <a:rPr lang="es-CO" b="0" dirty="0">
                          <a:hlinkClick r:id="rId2"/>
                        </a:rPr>
                        <a:t>simulación</a:t>
                      </a:r>
                      <a:r>
                        <a:rPr lang="es-CO" b="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Con listas </a:t>
                      </a:r>
                      <a:r>
                        <a:rPr lang="es-CO" b="0" dirty="0"/>
                        <a:t>(</a:t>
                      </a:r>
                      <a:r>
                        <a:rPr lang="es-CO" b="0" dirty="0">
                          <a:hlinkClick r:id="rId3"/>
                        </a:rPr>
                        <a:t>simulación</a:t>
                      </a:r>
                      <a:r>
                        <a:rPr lang="es-CO" b="0" dirty="0"/>
                        <a:t>)</a:t>
                      </a:r>
                      <a:endParaRPr lang="es-CO"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005943116"/>
                  </a:ext>
                </a:extLst>
              </a:tr>
              <a:tr h="0">
                <a:tc>
                  <a:txBody>
                    <a:bodyPr/>
                    <a:lstStyle/>
                    <a:p>
                      <a:r>
                        <a:rPr lang="pt-BR" b="1" dirty="0"/>
                        <a:t>Instrucciones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a = 3.0</a:t>
                      </a:r>
                      <a:br>
                        <a:rPr lang="pt-BR" sz="1400" dirty="0">
                          <a:latin typeface="Consolas" panose="020B0609020204030204" pitchFamily="49" charset="0"/>
                        </a:rPr>
                      </a:br>
                      <a:r>
                        <a:rPr lang="pt-BR" sz="1400" dirty="0">
                          <a:latin typeface="Consolas" panose="020B0609020204030204" pitchFamily="49" charset="0"/>
                        </a:rPr>
                        <a:t>b = a</a:t>
                      </a:r>
                      <a:br>
                        <a:rPr lang="pt-BR" sz="1400" dirty="0">
                          <a:latin typeface="Consolas" panose="020B0609020204030204" pitchFamily="49" charset="0"/>
                        </a:rPr>
                      </a:br>
                      <a:r>
                        <a:rPr lang="pt-BR" sz="1400" dirty="0">
                          <a:latin typeface="Consolas" panose="020B0609020204030204" pitchFamily="49" charset="0"/>
                        </a:rPr>
                        <a:t>b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latin typeface="Consolas" panose="020B0609020204030204" pitchFamily="49" charset="0"/>
                        </a:rPr>
                        <a:t>notas = [3.0, 4.5, 2.0, 4.0]</a:t>
                      </a:r>
                      <a:br>
                        <a:rPr lang="es-MX" sz="1400" dirty="0">
                          <a:latin typeface="Consolas" panose="020B0609020204030204" pitchFamily="49" charset="0"/>
                        </a:rPr>
                      </a:br>
                      <a:r>
                        <a:rPr lang="es-MX" sz="1400" dirty="0">
                          <a:latin typeface="Consolas" panose="020B0609020204030204" pitchFamily="49" charset="0"/>
                        </a:rPr>
                        <a:t>copia = notas</a:t>
                      </a:r>
                      <a:br>
                        <a:rPr lang="es-MX" sz="1400" dirty="0">
                          <a:latin typeface="Consolas" panose="020B0609020204030204" pitchFamily="49" charset="0"/>
                        </a:rPr>
                      </a:br>
                      <a:r>
                        <a:rPr lang="es-MX" sz="1400" dirty="0">
                          <a:latin typeface="Consolas" panose="020B0609020204030204" pitchFamily="49" charset="0"/>
                        </a:rPr>
                        <a:t>copia[0]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38467420"/>
                  </a:ext>
                </a:extLst>
              </a:tr>
              <a:tr h="0">
                <a:tc>
                  <a:txBody>
                    <a:bodyPr/>
                    <a:lstStyle/>
                    <a:p>
                      <a:r>
                        <a:rPr lang="es-CO" b="1" dirty="0"/>
                        <a:t>Resultado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 = 3.0, b = 5.0</a:t>
                      </a:r>
                      <a:br>
                        <a:rPr lang="es-CO" sz="1400" dirty="0">
                          <a:latin typeface="Consolas" panose="020B0609020204030204" pitchFamily="49" charset="0"/>
                        </a:rPr>
                      </a:br>
                      <a:endParaRPr lang="es-CO" dirty="0">
                        <a:latin typeface="Consolas" panose="020B0609020204030204" pitchFamily="49" charset="0"/>
                      </a:endParaRPr>
                    </a:p>
                    <a:p>
                      <a:r>
                        <a:rPr lang="es-CO" b="1" dirty="0"/>
                        <a:t>a no cambió</a:t>
                      </a:r>
                      <a:endParaRPr lang="es-CO"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latin typeface="Consolas" panose="020B0609020204030204" pitchFamily="49" charset="0"/>
                        </a:rPr>
                        <a:t>notas = [5.0, 4.5, 2.0, 4.0]</a:t>
                      </a:r>
                      <a:br>
                        <a:rPr lang="es-MX" sz="1400" dirty="0">
                          <a:latin typeface="Consolas" panose="020B0609020204030204" pitchFamily="49" charset="0"/>
                        </a:rPr>
                      </a:br>
                      <a:r>
                        <a:rPr lang="es-MX" sz="1400" dirty="0">
                          <a:latin typeface="Consolas" panose="020B0609020204030204" pitchFamily="49" charset="0"/>
                        </a:rPr>
                        <a:t>copia = [5.0, 4.5, 2.0, 4.0]</a:t>
                      </a:r>
                      <a:br>
                        <a:rPr lang="es-MX" sz="1400" dirty="0">
                          <a:latin typeface="Consolas" panose="020B0609020204030204" pitchFamily="49" charset="0"/>
                        </a:rPr>
                      </a:br>
                      <a:endParaRPr lang="es-MX" dirty="0">
                        <a:latin typeface="Consolas" panose="020B0609020204030204" pitchFamily="49" charset="0"/>
                      </a:endParaRPr>
                    </a:p>
                    <a:p>
                      <a:r>
                        <a:rPr lang="es-MX" b="1" dirty="0"/>
                        <a:t>¡notas también cambió!</a:t>
                      </a:r>
                      <a:endParaRPr lang="es-MX"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801942"/>
                  </a:ext>
                </a:extLst>
              </a:tr>
            </a:tbl>
          </a:graphicData>
        </a:graphic>
      </p:graphicFrame>
      <p:pic>
        <p:nvPicPr>
          <p:cNvPr id="16" name="Imagen 15">
            <a:extLst>
              <a:ext uri="{FF2B5EF4-FFF2-40B4-BE49-F238E27FC236}">
                <a16:creationId xmlns:a16="http://schemas.microsoft.com/office/drawing/2014/main" id="{2A00808F-6A57-4B2C-85E2-07E081FE11A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1520" y="4047984"/>
            <a:ext cx="8748464" cy="2477360"/>
          </a:xfrm>
          <a:prstGeom prst="rect">
            <a:avLst/>
          </a:prstGeom>
        </p:spPr>
      </p:pic>
    </p:spTree>
    <p:extLst>
      <p:ext uri="{BB962C8B-B14F-4D97-AF65-F5344CB8AC3E}">
        <p14:creationId xmlns:p14="http://schemas.microsoft.com/office/powerpoint/2010/main" val="38426099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Clonar una lista con un recorrido</a:t>
            </a:r>
            <a:endParaRPr lang="es-CO" sz="3600" dirty="0"/>
          </a:p>
        </p:txBody>
      </p:sp>
      <p:sp>
        <p:nvSpPr>
          <p:cNvPr id="13" name="12 Rectángulo"/>
          <p:cNvSpPr/>
          <p:nvPr/>
        </p:nvSpPr>
        <p:spPr>
          <a:xfrm>
            <a:off x="107504" y="620688"/>
            <a:ext cx="8892480" cy="707886"/>
          </a:xfrm>
          <a:prstGeom prst="rect">
            <a:avLst/>
          </a:prstGeom>
        </p:spPr>
        <p:txBody>
          <a:bodyPr wrap="square">
            <a:spAutoFit/>
          </a:bodyPr>
          <a:lstStyle/>
          <a:p>
            <a:pPr marL="342900" indent="-342900" rtl="0">
              <a:buFont typeface="Arial" panose="020B0604020202020204" pitchFamily="34" charset="0"/>
              <a:buChar char="•"/>
            </a:pPr>
            <a:r>
              <a:rPr lang="es-MX" sz="2000" b="1" dirty="0"/>
              <a:t>Clonar</a:t>
            </a:r>
            <a:r>
              <a:rPr lang="es-MX" sz="2000" dirty="0"/>
              <a:t>: crear una lista </a:t>
            </a:r>
            <a:r>
              <a:rPr lang="es-MX" sz="2000" b="1" dirty="0"/>
              <a:t>nueva</a:t>
            </a:r>
            <a:r>
              <a:rPr lang="es-MX" sz="2000" dirty="0"/>
              <a:t> y copiarle los valores </a:t>
            </a:r>
            <a:r>
              <a:rPr lang="es-MX" sz="2000" b="1" dirty="0"/>
              <a:t>casilla por casilla</a:t>
            </a:r>
            <a:r>
              <a:rPr lang="es-MX" sz="2000" dirty="0"/>
              <a:t>. Así cada nombre tiene su propia lista.</a:t>
            </a:r>
            <a:endParaRPr lang="es-MX" sz="2000" b="1" dirty="0"/>
          </a:p>
        </p:txBody>
      </p:sp>
      <p:graphicFrame>
        <p:nvGraphicFramePr>
          <p:cNvPr id="2" name="Tabla 1">
            <a:extLst>
              <a:ext uri="{FF2B5EF4-FFF2-40B4-BE49-F238E27FC236}">
                <a16:creationId xmlns:a16="http://schemas.microsoft.com/office/drawing/2014/main" id="{13D9016F-24A8-4035-B707-50D050677659}"/>
              </a:ext>
            </a:extLst>
          </p:cNvPr>
          <p:cNvGraphicFramePr>
            <a:graphicFrameLocks noGrp="1"/>
          </p:cNvGraphicFramePr>
          <p:nvPr>
            <p:extLst>
              <p:ext uri="{D42A27DB-BD31-4B8C-83A1-F6EECF244321}">
                <p14:modId xmlns:p14="http://schemas.microsoft.com/office/powerpoint/2010/main" val="2328793510"/>
              </p:ext>
            </p:extLst>
          </p:nvPr>
        </p:nvGraphicFramePr>
        <p:xfrm>
          <a:off x="610394" y="1340768"/>
          <a:ext cx="8323904" cy="2590800"/>
        </p:xfrm>
        <a:graphic>
          <a:graphicData uri="http://schemas.openxmlformats.org/drawingml/2006/table">
            <a:tbl>
              <a:tblPr/>
              <a:tblGrid>
                <a:gridCol w="1606031">
                  <a:extLst>
                    <a:ext uri="{9D8B030D-6E8A-4147-A177-3AD203B41FA5}">
                      <a16:colId xmlns:a16="http://schemas.microsoft.com/office/drawing/2014/main" val="1407569086"/>
                    </a:ext>
                  </a:extLst>
                </a:gridCol>
                <a:gridCol w="3405505">
                  <a:extLst>
                    <a:ext uri="{9D8B030D-6E8A-4147-A177-3AD203B41FA5}">
                      <a16:colId xmlns:a16="http://schemas.microsoft.com/office/drawing/2014/main" val="2651136596"/>
                    </a:ext>
                  </a:extLst>
                </a:gridCol>
                <a:gridCol w="3312368">
                  <a:extLst>
                    <a:ext uri="{9D8B030D-6E8A-4147-A177-3AD203B41FA5}">
                      <a16:colId xmlns:a16="http://schemas.microsoft.com/office/drawing/2014/main" val="1582786834"/>
                    </a:ext>
                  </a:extLst>
                </a:gridCol>
              </a:tblGrid>
              <a:tr h="0">
                <a:tc>
                  <a:txBody>
                    <a:bodyPr/>
                    <a:lstStyle/>
                    <a:p>
                      <a:endParaRPr lang="es-CO" b="1"/>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b="1" dirty="0"/>
                        <a:t>Pseudocódigo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Python (</a:t>
                      </a:r>
                      <a:r>
                        <a:rPr lang="es-CO" b="1" dirty="0">
                          <a:hlinkClick r:id="rId2"/>
                        </a:rPr>
                        <a:t>simulación</a:t>
                      </a:r>
                      <a:r>
                        <a:rPr lang="es-CO" b="1"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15008391"/>
                  </a:ext>
                </a:extLst>
              </a:tr>
              <a:tr h="0">
                <a:tc>
                  <a:txBody>
                    <a:bodyPr/>
                    <a:lstStyle/>
                    <a:p>
                      <a:r>
                        <a:rPr lang="es-CO" b="1" dirty="0"/>
                        <a:t>Instrucciones</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copia = Arreglo(N)</a:t>
                      </a:r>
                      <a:br>
                        <a:rPr lang="es-CO" sz="1400" dirty="0">
                          <a:latin typeface="Consolas" panose="020B0609020204030204" pitchFamily="49" charset="0"/>
                        </a:rPr>
                      </a:br>
                      <a:r>
                        <a:rPr lang="es-CO" sz="1400" dirty="0">
                          <a:latin typeface="Consolas" panose="020B0609020204030204" pitchFamily="49" charset="0"/>
                        </a:rPr>
                        <a:t>Para (i = 0, N - 1, 1) Haga</a:t>
                      </a:r>
                      <a:br>
                        <a:rPr lang="es-CO" sz="1400" dirty="0">
                          <a:latin typeface="Consolas" panose="020B0609020204030204" pitchFamily="49" charset="0"/>
                        </a:rPr>
                      </a:br>
                      <a:r>
                        <a:rPr lang="es-CO" sz="1400" dirty="0">
                          <a:latin typeface="Consolas" panose="020B0609020204030204" pitchFamily="49" charset="0"/>
                        </a:rPr>
                        <a:t>  copia[i] = notas[i]</a:t>
                      </a:r>
                      <a:br>
                        <a:rPr lang="es-CO" sz="1400" dirty="0">
                          <a:latin typeface="Consolas" panose="020B0609020204030204" pitchFamily="49" charset="0"/>
                        </a:rPr>
                      </a:br>
                      <a:r>
                        <a:rPr lang="es-CO" sz="1400" dirty="0">
                          <a:latin typeface="Consolas" panose="020B0609020204030204" pitchFamily="49" charset="0"/>
                        </a:rPr>
                        <a:t>Fin_Para</a:t>
                      </a:r>
                      <a:br>
                        <a:rPr lang="es-CO" sz="1400" dirty="0">
                          <a:latin typeface="Consolas" panose="020B0609020204030204" pitchFamily="49" charset="0"/>
                        </a:rPr>
                      </a:br>
                      <a:r>
                        <a:rPr lang="es-CO" sz="1400" dirty="0">
                          <a:latin typeface="Consolas" panose="020B0609020204030204" pitchFamily="49" charset="0"/>
                        </a:rPr>
                        <a:t>copia[0]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it-IT" sz="1400" dirty="0">
                          <a:latin typeface="Consolas" panose="020B0609020204030204" pitchFamily="49" charset="0"/>
                        </a:rPr>
                        <a:t>copia = [0.0] * N</a:t>
                      </a:r>
                      <a:br>
                        <a:rPr lang="it-IT" sz="1400" dirty="0">
                          <a:latin typeface="Consolas" panose="020B0609020204030204" pitchFamily="49" charset="0"/>
                        </a:rPr>
                      </a:br>
                      <a:r>
                        <a:rPr lang="it-IT" sz="1400" dirty="0">
                          <a:latin typeface="Consolas" panose="020B0609020204030204" pitchFamily="49" charset="0"/>
                        </a:rPr>
                        <a:t>for i in range(N):</a:t>
                      </a:r>
                      <a:br>
                        <a:rPr lang="it-IT" sz="1400" dirty="0">
                          <a:latin typeface="Consolas" panose="020B0609020204030204" pitchFamily="49" charset="0"/>
                        </a:rPr>
                      </a:br>
                      <a:r>
                        <a:rPr lang="it-IT" sz="1400" dirty="0">
                          <a:latin typeface="Consolas" panose="020B0609020204030204" pitchFamily="49" charset="0"/>
                        </a:rPr>
                        <a:t>  copia[i] = notas[i]</a:t>
                      </a:r>
                      <a:br>
                        <a:rPr lang="it-IT" sz="1400" dirty="0">
                          <a:latin typeface="Consolas" panose="020B0609020204030204" pitchFamily="49" charset="0"/>
                        </a:rPr>
                      </a:br>
                      <a:r>
                        <a:rPr lang="it-IT" sz="1400" dirty="0">
                          <a:latin typeface="Consolas" panose="020B0609020204030204" pitchFamily="49" charset="0"/>
                        </a:rPr>
                        <a:t>copia[0]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92709119"/>
                  </a:ext>
                </a:extLst>
              </a:tr>
              <a:tr h="0">
                <a:tc>
                  <a:txBody>
                    <a:bodyPr/>
                    <a:lstStyle/>
                    <a:p>
                      <a:r>
                        <a:rPr lang="es-CO" b="1" dirty="0"/>
                        <a:t>Resultado</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latin typeface="Consolas" panose="020B0609020204030204" pitchFamily="49" charset="0"/>
                        </a:rPr>
                        <a:t>notas = [3.0, 4.5, 2.0, 4.0]</a:t>
                      </a:r>
                      <a:br>
                        <a:rPr lang="es-MX" sz="1400" dirty="0">
                          <a:latin typeface="Consolas" panose="020B0609020204030204" pitchFamily="49" charset="0"/>
                        </a:rPr>
                      </a:br>
                      <a:r>
                        <a:rPr lang="es-MX" sz="1400" dirty="0">
                          <a:latin typeface="Consolas" panose="020B0609020204030204" pitchFamily="49" charset="0"/>
                        </a:rPr>
                        <a:t>copia = [5.0, 4.5, 2.0, 4.0]</a:t>
                      </a:r>
                      <a:br>
                        <a:rPr lang="es-MX" dirty="0"/>
                      </a:br>
                      <a:endParaRPr lang="es-MX" dirty="0"/>
                    </a:p>
                    <a:p>
                      <a:r>
                        <a:rPr lang="es-MX" b="1" dirty="0"/>
                        <a:t>¡notas no cambió!</a:t>
                      </a:r>
                      <a:endParaRPr lang="es-MX"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latin typeface="Consolas" panose="020B0609020204030204" pitchFamily="49" charset="0"/>
                        </a:rPr>
                        <a:t>notas = [3.0, 4.5, 2.0, 4.0]</a:t>
                      </a:r>
                      <a:br>
                        <a:rPr lang="es-MX" sz="1400" dirty="0">
                          <a:latin typeface="Consolas" panose="020B0609020204030204" pitchFamily="49" charset="0"/>
                        </a:rPr>
                      </a:br>
                      <a:r>
                        <a:rPr lang="es-MX" sz="1400" dirty="0">
                          <a:latin typeface="Consolas" panose="020B0609020204030204" pitchFamily="49" charset="0"/>
                        </a:rPr>
                        <a:t>copia = [5.0, 4.5, 2.0, 4.0]</a:t>
                      </a:r>
                      <a:br>
                        <a:rPr lang="es-MX" dirty="0"/>
                      </a:br>
                      <a:endParaRPr lang="es-MX" dirty="0"/>
                    </a:p>
                    <a:p>
                      <a:r>
                        <a:rPr lang="es-MX" b="1" dirty="0"/>
                        <a:t>¡notas no cambió!</a:t>
                      </a:r>
                      <a:endParaRPr lang="es-MX"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117714"/>
                  </a:ext>
                </a:extLst>
              </a:tr>
            </a:tbl>
          </a:graphicData>
        </a:graphic>
      </p:graphicFrame>
      <p:pic>
        <p:nvPicPr>
          <p:cNvPr id="10" name="Imagen 9">
            <a:extLst>
              <a:ext uri="{FF2B5EF4-FFF2-40B4-BE49-F238E27FC236}">
                <a16:creationId xmlns:a16="http://schemas.microsoft.com/office/drawing/2014/main" id="{9D47CF4D-A858-4047-B35A-435FF622DBE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1163" y="4005064"/>
            <a:ext cx="7513194" cy="2810578"/>
          </a:xfrm>
          <a:prstGeom prst="rect">
            <a:avLst/>
          </a:prstGeom>
        </p:spPr>
      </p:pic>
    </p:spTree>
    <p:extLst>
      <p:ext uri="{BB962C8B-B14F-4D97-AF65-F5344CB8AC3E}">
        <p14:creationId xmlns:p14="http://schemas.microsoft.com/office/powerpoint/2010/main" val="37233556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Clonar una lista con un recorrido</a:t>
            </a:r>
            <a:endParaRPr lang="es-CO" sz="3600" dirty="0"/>
          </a:p>
        </p:txBody>
      </p:sp>
      <p:sp>
        <p:nvSpPr>
          <p:cNvPr id="13" name="12 Rectángulo"/>
          <p:cNvSpPr/>
          <p:nvPr/>
        </p:nvSpPr>
        <p:spPr>
          <a:xfrm>
            <a:off x="107504" y="776898"/>
            <a:ext cx="8892480" cy="4708981"/>
          </a:xfrm>
          <a:prstGeom prst="rect">
            <a:avLst/>
          </a:prstGeom>
        </p:spPr>
        <p:txBody>
          <a:bodyPr wrap="square">
            <a:spAutoFit/>
          </a:bodyPr>
          <a:lstStyle/>
          <a:p>
            <a:pPr marL="342900" indent="-342900" rtl="0">
              <a:buFont typeface="Arial" panose="020B0604020202020204" pitchFamily="34" charset="0"/>
              <a:buChar char="•"/>
            </a:pPr>
            <a:r>
              <a:rPr lang="es-MX" sz="2000" b="1" dirty="0"/>
              <a:t>Clonar</a:t>
            </a:r>
            <a:r>
              <a:rPr lang="es-MX" sz="2000" dirty="0"/>
              <a:t>: crear una lista </a:t>
            </a:r>
            <a:r>
              <a:rPr lang="es-MX" sz="2000" b="1" dirty="0"/>
              <a:t>nueva</a:t>
            </a:r>
            <a:r>
              <a:rPr lang="es-MX" sz="2000" dirty="0"/>
              <a:t> y copiarle los valores </a:t>
            </a:r>
            <a:r>
              <a:rPr lang="es-MX" sz="2000" b="1" dirty="0"/>
              <a:t>casilla por casilla</a:t>
            </a:r>
            <a:r>
              <a:rPr lang="es-MX" sz="2000" dirty="0"/>
              <a:t>. Así cada nombre tiene su propia lista.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rtl="0"/>
            <a:endParaRPr lang="es-MX" sz="2000"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p:txBody>
      </p:sp>
      <p:pic>
        <p:nvPicPr>
          <p:cNvPr id="7" name="Imagen 6">
            <a:extLst>
              <a:ext uri="{FF2B5EF4-FFF2-40B4-BE49-F238E27FC236}">
                <a16:creationId xmlns:a16="http://schemas.microsoft.com/office/drawing/2014/main" id="{69298FC6-60C1-4F18-A82F-B6BF408AF18F}"/>
              </a:ext>
            </a:extLst>
          </p:cNvPr>
          <p:cNvPicPr>
            <a:picLocks noChangeAspect="1"/>
          </p:cNvPicPr>
          <p:nvPr/>
        </p:nvPicPr>
        <p:blipFill>
          <a:blip r:embed="rId2"/>
          <a:stretch>
            <a:fillRect/>
          </a:stretch>
        </p:blipFill>
        <p:spPr>
          <a:xfrm>
            <a:off x="778474" y="3696690"/>
            <a:ext cx="7838571" cy="2768481"/>
          </a:xfrm>
          <a:prstGeom prst="rect">
            <a:avLst/>
          </a:prstGeom>
        </p:spPr>
      </p:pic>
      <p:graphicFrame>
        <p:nvGraphicFramePr>
          <p:cNvPr id="8" name="Tabla 7">
            <a:extLst>
              <a:ext uri="{FF2B5EF4-FFF2-40B4-BE49-F238E27FC236}">
                <a16:creationId xmlns:a16="http://schemas.microsoft.com/office/drawing/2014/main" id="{1E0F7AFB-FAAD-41B4-AFF6-147D97B84A0A}"/>
              </a:ext>
            </a:extLst>
          </p:cNvPr>
          <p:cNvGraphicFramePr>
            <a:graphicFrameLocks noGrp="1"/>
          </p:cNvGraphicFramePr>
          <p:nvPr>
            <p:extLst>
              <p:ext uri="{D42A27DB-BD31-4B8C-83A1-F6EECF244321}">
                <p14:modId xmlns:p14="http://schemas.microsoft.com/office/powerpoint/2010/main" val="1690258121"/>
              </p:ext>
            </p:extLst>
          </p:nvPr>
        </p:nvGraphicFramePr>
        <p:xfrm>
          <a:off x="251520" y="1485135"/>
          <a:ext cx="8568952" cy="2042160"/>
        </p:xfrm>
        <a:graphic>
          <a:graphicData uri="http://schemas.openxmlformats.org/drawingml/2006/table">
            <a:tbl>
              <a:tblPr/>
              <a:tblGrid>
                <a:gridCol w="1519348">
                  <a:extLst>
                    <a:ext uri="{9D8B030D-6E8A-4147-A177-3AD203B41FA5}">
                      <a16:colId xmlns:a16="http://schemas.microsoft.com/office/drawing/2014/main" val="3163102399"/>
                    </a:ext>
                  </a:extLst>
                </a:gridCol>
                <a:gridCol w="3524802">
                  <a:extLst>
                    <a:ext uri="{9D8B030D-6E8A-4147-A177-3AD203B41FA5}">
                      <a16:colId xmlns:a16="http://schemas.microsoft.com/office/drawing/2014/main" val="2880624150"/>
                    </a:ext>
                  </a:extLst>
                </a:gridCol>
                <a:gridCol w="3524802">
                  <a:extLst>
                    <a:ext uri="{9D8B030D-6E8A-4147-A177-3AD203B41FA5}">
                      <a16:colId xmlns:a16="http://schemas.microsoft.com/office/drawing/2014/main" val="4105651816"/>
                    </a:ext>
                  </a:extLst>
                </a:gridCol>
              </a:tblGrid>
              <a:tr h="0">
                <a:tc>
                  <a:txBody>
                    <a:bodyPr/>
                    <a:lstStyle/>
                    <a:p>
                      <a:endParaRPr lang="es-CO"/>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b="1" dirty="0"/>
                        <a:t>notas[:] (</a:t>
                      </a:r>
                      <a:r>
                        <a:rPr lang="es-CO" b="1" dirty="0">
                          <a:hlinkClick r:id="rId3"/>
                        </a:rPr>
                        <a:t>simulación</a:t>
                      </a:r>
                      <a:r>
                        <a:rPr lang="es-CO" b="1"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list(notas) (</a:t>
                      </a:r>
                      <a:r>
                        <a:rPr lang="es-CO" b="1" dirty="0">
                          <a:hlinkClick r:id="rId4"/>
                        </a:rPr>
                        <a:t>simulación</a:t>
                      </a:r>
                      <a:r>
                        <a:rPr lang="es-CO" b="1"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209314044"/>
                  </a:ext>
                </a:extLst>
              </a:tr>
              <a:tr h="0">
                <a:tc>
                  <a:txBody>
                    <a:bodyPr/>
                    <a:lstStyle/>
                    <a:p>
                      <a:r>
                        <a:rPr lang="es-CO" b="1" dirty="0"/>
                        <a:t>Instrucciones</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latin typeface="Consolas" panose="020B0609020204030204" pitchFamily="49" charset="0"/>
                        </a:rPr>
                        <a:t>copia = notas[:]</a:t>
                      </a:r>
                      <a:br>
                        <a:rPr lang="es-MX" sz="1400" dirty="0">
                          <a:latin typeface="Consolas" panose="020B0609020204030204" pitchFamily="49" charset="0"/>
                        </a:rPr>
                      </a:br>
                      <a:r>
                        <a:rPr lang="es-MX" sz="1400" dirty="0">
                          <a:latin typeface="Consolas" panose="020B0609020204030204" pitchFamily="49" charset="0"/>
                        </a:rPr>
                        <a:t>copia[0]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latin typeface="Consolas" panose="020B0609020204030204" pitchFamily="49" charset="0"/>
                        </a:rPr>
                        <a:t>copia = list(notas)</a:t>
                      </a:r>
                      <a:br>
                        <a:rPr lang="es-MX" sz="1400" dirty="0">
                          <a:latin typeface="Consolas" panose="020B0609020204030204" pitchFamily="49" charset="0"/>
                        </a:rPr>
                      </a:br>
                      <a:r>
                        <a:rPr lang="es-MX" sz="1400" dirty="0">
                          <a:latin typeface="Consolas" panose="020B0609020204030204" pitchFamily="49" charset="0"/>
                        </a:rPr>
                        <a:t>copia[0]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75753486"/>
                  </a:ext>
                </a:extLst>
              </a:tr>
              <a:tr h="0">
                <a:tc>
                  <a:txBody>
                    <a:bodyPr/>
                    <a:lstStyle/>
                    <a:p>
                      <a:r>
                        <a:rPr lang="es-CO" b="1" dirty="0"/>
                        <a:t>Qué hace</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Rebanada completa: toma las casillas </a:t>
                      </a:r>
                      <a:r>
                        <a:rPr lang="es-MX" b="1" dirty="0"/>
                        <a:t>desde el inicio hasta el final</a:t>
                      </a:r>
                      <a:endParaRPr lang="es-MX"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a:t>Función que crea una lista </a:t>
                      </a:r>
                      <a:r>
                        <a:rPr lang="es-MX" b="1"/>
                        <a:t>nueva</a:t>
                      </a:r>
                      <a:r>
                        <a:rPr lang="es-MX"/>
                        <a:t> con los mismos valores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8849935"/>
                  </a:ext>
                </a:extLst>
              </a:tr>
              <a:tr h="0">
                <a:tc>
                  <a:txBody>
                    <a:bodyPr/>
                    <a:lstStyle/>
                    <a:p>
                      <a:r>
                        <a:rPr lang="es-CO" b="1" dirty="0"/>
                        <a:t>Resultado</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a:latin typeface="Consolas" panose="020B0609020204030204" pitchFamily="49" charset="0"/>
                        </a:rPr>
                        <a:t>notas = [3.0, 4.5, 2.0, 4.0]</a:t>
                      </a:r>
                      <a:br>
                        <a:rPr lang="es-MX" sz="1400">
                          <a:latin typeface="Consolas" panose="020B0609020204030204" pitchFamily="49" charset="0"/>
                        </a:rPr>
                      </a:br>
                      <a:r>
                        <a:rPr lang="es-MX" sz="1400">
                          <a:latin typeface="Consolas" panose="020B0609020204030204" pitchFamily="49" charset="0"/>
                        </a:rPr>
                        <a:t>copia = [5.0, 4.5, 2.0, 4.0]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latin typeface="Consolas" panose="020B0609020204030204" pitchFamily="49" charset="0"/>
                        </a:rPr>
                        <a:t>notas = [3.0, 4.5, 2.0, 4.0]</a:t>
                      </a:r>
                      <a:br>
                        <a:rPr lang="es-MX" sz="1400" dirty="0">
                          <a:latin typeface="Consolas" panose="020B0609020204030204" pitchFamily="49" charset="0"/>
                        </a:rPr>
                      </a:br>
                      <a:r>
                        <a:rPr lang="es-MX" sz="1400" dirty="0">
                          <a:latin typeface="Consolas" panose="020B0609020204030204" pitchFamily="49" charset="0"/>
                        </a:rPr>
                        <a:t>copia = [5.0, 4.5, 2.0, 4.0]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41740252"/>
                  </a:ext>
                </a:extLst>
              </a:tr>
            </a:tbl>
          </a:graphicData>
        </a:graphic>
      </p:graphicFrame>
    </p:spTree>
    <p:extLst>
      <p:ext uri="{BB962C8B-B14F-4D97-AF65-F5344CB8AC3E}">
        <p14:creationId xmlns:p14="http://schemas.microsoft.com/office/powerpoint/2010/main" val="18439538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Resumen: arreglos en pseudocódigo y Python</a:t>
            </a:r>
            <a:endParaRPr lang="es-CO" sz="3600" dirty="0"/>
          </a:p>
        </p:txBody>
      </p:sp>
      <p:sp>
        <p:nvSpPr>
          <p:cNvPr id="13" name="12 Rectángulo"/>
          <p:cNvSpPr/>
          <p:nvPr/>
        </p:nvSpPr>
        <p:spPr>
          <a:xfrm>
            <a:off x="323528" y="6167045"/>
            <a:ext cx="8556390" cy="646331"/>
          </a:xfrm>
          <a:prstGeom prst="rect">
            <a:avLst/>
          </a:prstGeom>
          <a:solidFill>
            <a:schemeClr val="accent2">
              <a:lumMod val="20000"/>
              <a:lumOff val="80000"/>
            </a:schemeClr>
          </a:solidFill>
        </p:spPr>
        <p:txBody>
          <a:bodyPr wrap="square">
            <a:spAutoFit/>
          </a:bodyPr>
          <a:lstStyle/>
          <a:p>
            <a:pPr rtl="0"/>
            <a:r>
              <a:rPr lang="es-MX" b="1" dirty="0"/>
              <a:t>Observación importante</a:t>
            </a:r>
            <a:r>
              <a:rPr lang="es-MX" dirty="0"/>
              <a:t>: Toda operación sobre un arreglo completo es un recorrido: un ciclo que hace algo con </a:t>
            </a:r>
            <a:r>
              <a:rPr lang="es-MX" sz="1600" b="1" dirty="0">
                <a:latin typeface="Consolas" panose="020B0609020204030204" pitchFamily="49" charset="0"/>
              </a:rPr>
              <a:t>A[i]</a:t>
            </a:r>
            <a:r>
              <a:rPr lang="es-MX" dirty="0"/>
              <a:t>, donde </a:t>
            </a:r>
            <a:r>
              <a:rPr lang="es-MX" sz="1600" b="1" dirty="0">
                <a:latin typeface="Consolas" panose="020B0609020204030204" pitchFamily="49" charset="0"/>
              </a:rPr>
              <a:t>i</a:t>
            </a:r>
            <a:r>
              <a:rPr lang="es-MX" dirty="0"/>
              <a:t> va desde un inicio, hasta un fin y de a un paso.</a:t>
            </a:r>
          </a:p>
        </p:txBody>
      </p:sp>
      <p:graphicFrame>
        <p:nvGraphicFramePr>
          <p:cNvPr id="2" name="Tabla 1">
            <a:extLst>
              <a:ext uri="{FF2B5EF4-FFF2-40B4-BE49-F238E27FC236}">
                <a16:creationId xmlns:a16="http://schemas.microsoft.com/office/drawing/2014/main" id="{67AEA4F6-C3F9-44CE-A0DB-76F4DD9230BE}"/>
              </a:ext>
            </a:extLst>
          </p:cNvPr>
          <p:cNvGraphicFramePr>
            <a:graphicFrameLocks noGrp="1"/>
          </p:cNvGraphicFramePr>
          <p:nvPr>
            <p:extLst>
              <p:ext uri="{D42A27DB-BD31-4B8C-83A1-F6EECF244321}">
                <p14:modId xmlns:p14="http://schemas.microsoft.com/office/powerpoint/2010/main" val="1111617766"/>
              </p:ext>
            </p:extLst>
          </p:nvPr>
        </p:nvGraphicFramePr>
        <p:xfrm>
          <a:off x="323528" y="836712"/>
          <a:ext cx="8556390" cy="5286879"/>
        </p:xfrm>
        <a:graphic>
          <a:graphicData uri="http://schemas.openxmlformats.org/drawingml/2006/table">
            <a:tbl>
              <a:tblPr/>
              <a:tblGrid>
                <a:gridCol w="2377168">
                  <a:extLst>
                    <a:ext uri="{9D8B030D-6E8A-4147-A177-3AD203B41FA5}">
                      <a16:colId xmlns:a16="http://schemas.microsoft.com/office/drawing/2014/main" val="3099772351"/>
                    </a:ext>
                  </a:extLst>
                </a:gridCol>
                <a:gridCol w="3018527">
                  <a:extLst>
                    <a:ext uri="{9D8B030D-6E8A-4147-A177-3AD203B41FA5}">
                      <a16:colId xmlns:a16="http://schemas.microsoft.com/office/drawing/2014/main" val="4218120789"/>
                    </a:ext>
                  </a:extLst>
                </a:gridCol>
                <a:gridCol w="3160695">
                  <a:extLst>
                    <a:ext uri="{9D8B030D-6E8A-4147-A177-3AD203B41FA5}">
                      <a16:colId xmlns:a16="http://schemas.microsoft.com/office/drawing/2014/main" val="2000627994"/>
                    </a:ext>
                  </a:extLst>
                </a:gridCol>
              </a:tblGrid>
              <a:tr h="328403">
                <a:tc>
                  <a:txBody>
                    <a:bodyPr/>
                    <a:lstStyle/>
                    <a:p>
                      <a:r>
                        <a:rPr lang="es-CO" sz="1600" b="1"/>
                        <a:t>Operación</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Pseudocódigo</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Python</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963165026"/>
                  </a:ext>
                </a:extLst>
              </a:tr>
              <a:tr h="328403">
                <a:tc>
                  <a:txBody>
                    <a:bodyPr/>
                    <a:lstStyle/>
                    <a:p>
                      <a:r>
                        <a:rPr lang="es-CO" sz="1600" b="1"/>
                        <a:t>Crear</a:t>
                      </a:r>
                      <a:r>
                        <a:rPr lang="es-CO" sz="1600"/>
                        <a:t> con N casillas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 = Arreglo(N)</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 = [</a:t>
                      </a:r>
                      <a:r>
                        <a:rPr lang="es-CO" sz="1400" dirty="0" err="1">
                          <a:latin typeface="Consolas" panose="020B0609020204030204" pitchFamily="49" charset="0"/>
                        </a:rPr>
                        <a:t>valor_inicial</a:t>
                      </a:r>
                      <a:r>
                        <a:rPr lang="es-CO" sz="1400" dirty="0">
                          <a:latin typeface="Consolas" panose="020B0609020204030204" pitchFamily="49" charset="0"/>
                        </a:rPr>
                        <a:t>] * N</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8863104"/>
                  </a:ext>
                </a:extLst>
              </a:tr>
              <a:tr h="328403">
                <a:tc>
                  <a:txBody>
                    <a:bodyPr/>
                    <a:lstStyle/>
                    <a:p>
                      <a:r>
                        <a:rPr lang="es-CO" sz="1600" b="1"/>
                        <a:t>Crear</a:t>
                      </a:r>
                      <a:r>
                        <a:rPr lang="es-CO" sz="1600"/>
                        <a:t> con valores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 = [v0, v1, v2]</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 = [v0, v1, v2]</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9699784"/>
                  </a:ext>
                </a:extLst>
              </a:tr>
              <a:tr h="328403">
                <a:tc>
                  <a:txBody>
                    <a:bodyPr/>
                    <a:lstStyle/>
                    <a:p>
                      <a:r>
                        <a:rPr lang="es-CO" sz="1600" b="1"/>
                        <a:t>Guardar</a:t>
                      </a:r>
                      <a:r>
                        <a:rPr lang="es-CO" sz="1600"/>
                        <a:t> en una casilla</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A[i] = expresión</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A[i] = expresión</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7548765"/>
                  </a:ext>
                </a:extLst>
              </a:tr>
              <a:tr h="328403">
                <a:tc>
                  <a:txBody>
                    <a:bodyPr/>
                    <a:lstStyle/>
                    <a:p>
                      <a:r>
                        <a:rPr lang="es-CO" sz="1600" b="1"/>
                        <a:t>Leer</a:t>
                      </a:r>
                      <a:r>
                        <a:rPr lang="es-CO" sz="1600"/>
                        <a:t> desde el teclado</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Leer(A[i])</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A[i] = float(input())</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4495782"/>
                  </a:ext>
                </a:extLst>
              </a:tr>
              <a:tr h="328403">
                <a:tc>
                  <a:txBody>
                    <a:bodyPr/>
                    <a:lstStyle/>
                    <a:p>
                      <a:r>
                        <a:rPr lang="es-CO" sz="1600" b="1"/>
                        <a:t>Mostrar</a:t>
                      </a:r>
                      <a:r>
                        <a:rPr lang="es-CO" sz="1600"/>
                        <a:t> una casilla</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Escribir(A[i])</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print(A[i])</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9946419"/>
                  </a:ext>
                </a:extLst>
              </a:tr>
              <a:tr h="821007">
                <a:tc>
                  <a:txBody>
                    <a:bodyPr/>
                    <a:lstStyle/>
                    <a:p>
                      <a:r>
                        <a:rPr lang="es-CO" sz="1600" b="1"/>
                        <a:t>Recorrer</a:t>
                      </a:r>
                      <a:r>
                        <a:rPr lang="es-CO" sz="1600"/>
                        <a:t> completo</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Para (i = 0, N - 1, 1) Haga</a:t>
                      </a:r>
                      <a:br>
                        <a:rPr lang="pt-BR" sz="1400" dirty="0">
                          <a:latin typeface="Consolas" panose="020B0609020204030204" pitchFamily="49" charset="0"/>
                        </a:rPr>
                      </a:br>
                      <a:r>
                        <a:rPr lang="pt-BR" sz="1400" dirty="0">
                          <a:latin typeface="Consolas" panose="020B0609020204030204" pitchFamily="49" charset="0"/>
                        </a:rPr>
                        <a:t>  ... A[i] ...</a:t>
                      </a:r>
                      <a:br>
                        <a:rPr lang="pt-BR" sz="1400" dirty="0">
                          <a:latin typeface="Consolas" panose="020B0609020204030204" pitchFamily="49" charset="0"/>
                        </a:rPr>
                      </a:br>
                      <a:r>
                        <a:rPr lang="pt-BR" sz="1400" dirty="0">
                          <a:latin typeface="Consolas" panose="020B0609020204030204" pitchFamily="49" charset="0"/>
                        </a:rPr>
                        <a:t>Fin_Para</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Consolas" panose="020B0609020204030204" pitchFamily="49" charset="0"/>
                        </a:rPr>
                        <a:t>for </a:t>
                      </a:r>
                      <a:r>
                        <a:rPr lang="en-US" sz="1400" dirty="0" err="1">
                          <a:latin typeface="Consolas" panose="020B0609020204030204" pitchFamily="49" charset="0"/>
                        </a:rPr>
                        <a:t>i</a:t>
                      </a:r>
                      <a:r>
                        <a:rPr lang="en-US" sz="1400" dirty="0">
                          <a:latin typeface="Consolas" panose="020B0609020204030204" pitchFamily="49" charset="0"/>
                        </a:rPr>
                        <a:t> in range(N):</a:t>
                      </a:r>
                      <a:br>
                        <a:rPr lang="en-US" sz="1400" dirty="0">
                          <a:latin typeface="Consolas" panose="020B0609020204030204" pitchFamily="49" charset="0"/>
                        </a:rPr>
                      </a:br>
                      <a:r>
                        <a:rPr lang="en-US" sz="1400" dirty="0">
                          <a:latin typeface="Consolas" panose="020B0609020204030204" pitchFamily="49" charset="0"/>
                        </a:rPr>
                        <a:t>  ... A[</a:t>
                      </a:r>
                      <a:r>
                        <a:rPr lang="en-US" sz="1400" dirty="0" err="1">
                          <a:latin typeface="Consolas" panose="020B0609020204030204" pitchFamily="49" charset="0"/>
                        </a:rPr>
                        <a:t>i</a:t>
                      </a:r>
                      <a:r>
                        <a:rPr lang="en-US" sz="1400" dirty="0">
                          <a:latin typeface="Consolas" panose="020B0609020204030204" pitchFamily="49" charset="0"/>
                        </a:rPr>
                        <a:t>] ...</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48939988"/>
                  </a:ext>
                </a:extLst>
              </a:tr>
              <a:tr h="328403">
                <a:tc>
                  <a:txBody>
                    <a:bodyPr/>
                    <a:lstStyle/>
                    <a:p>
                      <a:r>
                        <a:rPr lang="es-CO" sz="1600" b="1"/>
                        <a:t>Recorrer</a:t>
                      </a:r>
                      <a:r>
                        <a:rPr lang="es-CO" sz="1600"/>
                        <a:t> inverso</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Para (i = N - 1, 0, -1) Haga</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Consolas" panose="020B0609020204030204" pitchFamily="49" charset="0"/>
                        </a:rPr>
                        <a:t>for </a:t>
                      </a:r>
                      <a:r>
                        <a:rPr lang="en-US" sz="1400" dirty="0" err="1">
                          <a:latin typeface="Consolas" panose="020B0609020204030204" pitchFamily="49" charset="0"/>
                        </a:rPr>
                        <a:t>i</a:t>
                      </a:r>
                      <a:r>
                        <a:rPr lang="en-US" sz="1400" dirty="0">
                          <a:latin typeface="Consolas" panose="020B0609020204030204" pitchFamily="49" charset="0"/>
                        </a:rPr>
                        <a:t> in range(N - 1, -1, -1):</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8974004"/>
                  </a:ext>
                </a:extLst>
              </a:tr>
              <a:tr h="328403">
                <a:tc>
                  <a:txBody>
                    <a:bodyPr/>
                    <a:lstStyle/>
                    <a:p>
                      <a:r>
                        <a:rPr lang="es-CO" sz="1600" b="1"/>
                        <a:t>Recorrer</a:t>
                      </a:r>
                      <a:r>
                        <a:rPr lang="es-CO" sz="1600"/>
                        <a:t> por elemento</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for x in A:</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751951"/>
                  </a:ext>
                </a:extLst>
              </a:tr>
              <a:tr h="574705">
                <a:tc>
                  <a:txBody>
                    <a:bodyPr/>
                    <a:lstStyle/>
                    <a:p>
                      <a:r>
                        <a:rPr lang="es-CO" sz="1600" b="1"/>
                        <a:t>Comparar</a:t>
                      </a:r>
                      <a:r>
                        <a:rPr lang="es-CO" sz="1600"/>
                        <a:t> con el vecino</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Para (i = 0, N - 2, 1) Haga</a:t>
                      </a:r>
                      <a:br>
                        <a:rPr lang="pt-BR" sz="1400" dirty="0">
                          <a:latin typeface="Consolas" panose="020B0609020204030204" pitchFamily="49" charset="0"/>
                        </a:rPr>
                      </a:br>
                      <a:r>
                        <a:rPr lang="pt-BR" sz="1400" dirty="0">
                          <a:latin typeface="Consolas" panose="020B0609020204030204" pitchFamily="49" charset="0"/>
                        </a:rPr>
                        <a:t>  ... A[i] ... A[i + 1] ...</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for i in range(N - 1):</a:t>
                      </a:r>
                      <a:br>
                        <a:rPr lang="es-CO" sz="1400" dirty="0">
                          <a:latin typeface="Consolas" panose="020B0609020204030204" pitchFamily="49" charset="0"/>
                        </a:rPr>
                      </a:br>
                      <a:r>
                        <a:rPr lang="es-CO" sz="1400" dirty="0">
                          <a:latin typeface="Consolas" panose="020B0609020204030204" pitchFamily="49" charset="0"/>
                        </a:rPr>
                        <a:t>  </a:t>
                      </a:r>
                      <a:r>
                        <a:rPr lang="pt-BR" sz="1400" dirty="0">
                          <a:latin typeface="Consolas" panose="020B0609020204030204" pitchFamily="49" charset="0"/>
                        </a:rPr>
                        <a:t>...</a:t>
                      </a:r>
                      <a:r>
                        <a:rPr lang="es-CO" sz="1400" dirty="0">
                          <a:latin typeface="Consolas" panose="020B0609020204030204" pitchFamily="49" charset="0"/>
                        </a:rPr>
                        <a:t> A[i] </a:t>
                      </a:r>
                      <a:r>
                        <a:rPr lang="pt-BR" sz="1400" dirty="0">
                          <a:latin typeface="Consolas" panose="020B0609020204030204" pitchFamily="49" charset="0"/>
                        </a:rPr>
                        <a:t>...</a:t>
                      </a:r>
                      <a:r>
                        <a:rPr lang="es-CO" sz="1400" dirty="0">
                          <a:latin typeface="Consolas" panose="020B0609020204030204" pitchFamily="49" charset="0"/>
                        </a:rPr>
                        <a:t> A[i + 1] </a:t>
                      </a:r>
                      <a:r>
                        <a:rPr lang="pt-BR" sz="1400" dirty="0">
                          <a:latin typeface="Consolas" panose="020B0609020204030204" pitchFamily="49" charset="0"/>
                        </a:rPr>
                        <a:t>...</a:t>
                      </a:r>
                      <a:endParaRPr lang="es-CO" sz="1400" dirty="0">
                        <a:latin typeface="Consolas" panose="020B0609020204030204" pitchFamily="49" charset="0"/>
                      </a:endParaRP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4085212"/>
                  </a:ext>
                </a:extLst>
              </a:tr>
              <a:tr h="328403">
                <a:tc>
                  <a:txBody>
                    <a:bodyPr/>
                    <a:lstStyle/>
                    <a:p>
                      <a:r>
                        <a:rPr lang="es-CO" sz="1600" b="1" dirty="0"/>
                        <a:t>Clonar</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B = Arreglo(N)</a:t>
                      </a:r>
                    </a:p>
                    <a:p>
                      <a:r>
                        <a:rPr lang="pt-BR" sz="1400" dirty="0">
                          <a:latin typeface="Consolas" panose="020B0609020204030204" pitchFamily="49" charset="0"/>
                        </a:rPr>
                        <a:t>Para (i = 0, N - 1, 1) Haga</a:t>
                      </a:r>
                    </a:p>
                    <a:p>
                      <a:r>
                        <a:rPr lang="pt-BR" sz="1400" dirty="0">
                          <a:latin typeface="Consolas" panose="020B0609020204030204" pitchFamily="49" charset="0"/>
                        </a:rPr>
                        <a:t>  B[i] = A[i]</a:t>
                      </a:r>
                    </a:p>
                    <a:p>
                      <a:r>
                        <a:rPr lang="pt-BR" sz="1400" dirty="0">
                          <a:latin typeface="Consolas" panose="020B0609020204030204" pitchFamily="49" charset="0"/>
                        </a:rPr>
                        <a:t>Fin_Para</a:t>
                      </a:r>
                      <a:endParaRPr lang="es-CO" sz="1400" dirty="0">
                        <a:latin typeface="Consolas" panose="020B0609020204030204" pitchFamily="49" charset="0"/>
                      </a:endParaRP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B = A[:] o B = </a:t>
                      </a:r>
                      <a:r>
                        <a:rPr lang="pt-BR" sz="1400" dirty="0" err="1">
                          <a:latin typeface="Consolas" panose="020B0609020204030204" pitchFamily="49" charset="0"/>
                        </a:rPr>
                        <a:t>list</a:t>
                      </a:r>
                      <a:r>
                        <a:rPr lang="pt-BR" sz="1400" dirty="0">
                          <a:latin typeface="Consolas" panose="020B0609020204030204" pitchFamily="49" charset="0"/>
                        </a:rPr>
                        <a:t>(A)</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7955094"/>
                  </a:ext>
                </a:extLst>
              </a:tr>
              <a:tr h="328403">
                <a:tc>
                  <a:txBody>
                    <a:bodyPr/>
                    <a:lstStyle/>
                    <a:p>
                      <a:r>
                        <a:rPr lang="es-CO" sz="1600" b="1" dirty="0"/>
                        <a:t>Último</a:t>
                      </a:r>
                      <a:r>
                        <a:rPr lang="es-CO" sz="1600" dirty="0"/>
                        <a:t> elemento</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A[N - 1]</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400" dirty="0">
                          <a:latin typeface="Consolas" panose="020B0609020204030204" pitchFamily="49" charset="0"/>
                        </a:rPr>
                        <a:t>A[N - 1] o A[-1]</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1636286"/>
                  </a:ext>
                </a:extLst>
              </a:tr>
            </a:tbl>
          </a:graphicData>
        </a:graphic>
      </p:graphicFrame>
    </p:spTree>
    <p:extLst>
      <p:ext uri="{BB962C8B-B14F-4D97-AF65-F5344CB8AC3E}">
        <p14:creationId xmlns:p14="http://schemas.microsoft.com/office/powerpoint/2010/main" val="29826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7768" y="323392"/>
            <a:ext cx="8892480" cy="720452"/>
          </a:xfrm>
        </p:spPr>
        <p:txBody>
          <a:bodyPr>
            <a:noAutofit/>
          </a:bodyPr>
          <a:lstStyle/>
          <a:p>
            <a:r>
              <a:rPr lang="es-MX" sz="3200" dirty="0"/>
              <a:t>Funciones con listas</a:t>
            </a:r>
            <a:endParaRPr lang="es-CO" sz="3200" dirty="0"/>
          </a:p>
        </p:txBody>
      </p:sp>
      <p:sp>
        <p:nvSpPr>
          <p:cNvPr id="13" name="12 Rectángulo"/>
          <p:cNvSpPr/>
          <p:nvPr/>
        </p:nvSpPr>
        <p:spPr>
          <a:xfrm>
            <a:off x="223550" y="1043844"/>
            <a:ext cx="8722681" cy="707886"/>
          </a:xfrm>
          <a:prstGeom prst="rect">
            <a:avLst/>
          </a:prstGeom>
        </p:spPr>
        <p:txBody>
          <a:bodyPr wrap="square">
            <a:spAutoFit/>
          </a:bodyPr>
          <a:lstStyle/>
          <a:p>
            <a:pPr rtl="0"/>
            <a:r>
              <a:rPr lang="es-MX" sz="2000" dirty="0"/>
              <a:t>Una lista puede </a:t>
            </a:r>
            <a:r>
              <a:rPr lang="es-MX" sz="2000" b="1" dirty="0"/>
              <a:t>entrar</a:t>
            </a:r>
            <a:r>
              <a:rPr lang="es-MX" sz="2000" dirty="0"/>
              <a:t> a una función, </a:t>
            </a:r>
            <a:r>
              <a:rPr lang="es-MX" sz="2000" b="1" dirty="0"/>
              <a:t>salir</a:t>
            </a:r>
            <a:r>
              <a:rPr lang="es-MX" sz="2000" dirty="0"/>
              <a:t> de ella, o </a:t>
            </a:r>
            <a:r>
              <a:rPr lang="es-MX" sz="2000" b="1" dirty="0"/>
              <a:t>entrar y salir modificada</a:t>
            </a:r>
            <a:r>
              <a:rPr lang="es-MX" sz="2000" dirty="0"/>
              <a:t>. A continuación se va a analizar cada caso por separado:</a:t>
            </a:r>
            <a:endParaRPr lang="es-MX" sz="2000" b="1" dirty="0"/>
          </a:p>
        </p:txBody>
      </p:sp>
      <p:pic>
        <p:nvPicPr>
          <p:cNvPr id="3" name="Imagen 2">
            <a:extLst>
              <a:ext uri="{FF2B5EF4-FFF2-40B4-BE49-F238E27FC236}">
                <a16:creationId xmlns:a16="http://schemas.microsoft.com/office/drawing/2014/main" id="{46586EFF-7F6E-47D9-9C78-C7F38137F718}"/>
              </a:ext>
            </a:extLst>
          </p:cNvPr>
          <p:cNvPicPr>
            <a:picLocks noChangeAspect="1"/>
          </p:cNvPicPr>
          <p:nvPr/>
        </p:nvPicPr>
        <p:blipFill>
          <a:blip r:embed="rId2"/>
          <a:stretch>
            <a:fillRect/>
          </a:stretch>
        </p:blipFill>
        <p:spPr>
          <a:xfrm>
            <a:off x="485803" y="1931344"/>
            <a:ext cx="8316409" cy="3877989"/>
          </a:xfrm>
          <a:prstGeom prst="rect">
            <a:avLst/>
          </a:prstGeom>
        </p:spPr>
      </p:pic>
      <p:sp>
        <p:nvSpPr>
          <p:cNvPr id="10" name="CuadroTexto 9">
            <a:extLst>
              <a:ext uri="{FF2B5EF4-FFF2-40B4-BE49-F238E27FC236}">
                <a16:creationId xmlns:a16="http://schemas.microsoft.com/office/drawing/2014/main" id="{C9AF9BD4-79BB-4BDD-8353-267B7D4946BD}"/>
              </a:ext>
            </a:extLst>
          </p:cNvPr>
          <p:cNvSpPr txBox="1"/>
          <p:nvPr/>
        </p:nvSpPr>
        <p:spPr>
          <a:xfrm>
            <a:off x="134888" y="6349942"/>
            <a:ext cx="8874224" cy="369332"/>
          </a:xfrm>
          <a:prstGeom prst="rect">
            <a:avLst/>
          </a:prstGeom>
          <a:solidFill>
            <a:schemeClr val="accent2">
              <a:lumMod val="20000"/>
              <a:lumOff val="80000"/>
            </a:schemeClr>
          </a:solidFill>
        </p:spPr>
        <p:txBody>
          <a:bodyPr wrap="square">
            <a:spAutoFit/>
          </a:bodyPr>
          <a:lstStyle/>
          <a:p>
            <a:r>
              <a:rPr lang="es-MX" b="1" dirty="0"/>
              <a:t>Idea clave:</a:t>
            </a:r>
            <a:r>
              <a:rPr lang="es-MX" dirty="0"/>
              <a:t> Lo que distingue cada caso es </a:t>
            </a:r>
            <a:r>
              <a:rPr lang="es-MX" b="1" dirty="0"/>
              <a:t>qué entra, qué sale y si la lista cambia</a:t>
            </a:r>
            <a:r>
              <a:rPr lang="es-MX" dirty="0"/>
              <a:t>.</a:t>
            </a:r>
            <a:endParaRPr lang="es-CO" dirty="0"/>
          </a:p>
        </p:txBody>
      </p:sp>
    </p:spTree>
    <p:extLst>
      <p:ext uri="{BB962C8B-B14F-4D97-AF65-F5344CB8AC3E}">
        <p14:creationId xmlns:p14="http://schemas.microsoft.com/office/powerpoint/2010/main" val="33967682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7768" y="323392"/>
            <a:ext cx="8892480" cy="720452"/>
          </a:xfrm>
        </p:spPr>
        <p:txBody>
          <a:bodyPr>
            <a:noAutofit/>
          </a:bodyPr>
          <a:lstStyle/>
          <a:p>
            <a:r>
              <a:rPr lang="es-MX" sz="3200" dirty="0"/>
              <a:t>Caso 1: la función recibe una lista y devuelve un valor</a:t>
            </a:r>
            <a:endParaRPr lang="es-CO" sz="3200" dirty="0"/>
          </a:p>
        </p:txBody>
      </p:sp>
      <p:sp>
        <p:nvSpPr>
          <p:cNvPr id="13" name="12 Rectángulo"/>
          <p:cNvSpPr/>
          <p:nvPr/>
        </p:nvSpPr>
        <p:spPr>
          <a:xfrm>
            <a:off x="223550" y="1043844"/>
            <a:ext cx="8722681" cy="1631216"/>
          </a:xfrm>
          <a:prstGeom prst="rect">
            <a:avLst/>
          </a:prstGeom>
        </p:spPr>
        <p:txBody>
          <a:bodyPr wrap="square">
            <a:spAutoFit/>
          </a:bodyPr>
          <a:lstStyle/>
          <a:p>
            <a:pPr marL="342900" indent="-342900" rtl="0">
              <a:buFont typeface="Arial" panose="020B0604020202020204" pitchFamily="34" charset="0"/>
              <a:buChar char="•"/>
            </a:pPr>
            <a:r>
              <a:rPr lang="es-MX" sz="2000" b="1" dirty="0"/>
              <a:t>La función recibe la</a:t>
            </a:r>
            <a:r>
              <a:rPr lang="es-MX" sz="2000" dirty="0"/>
              <a:t> </a:t>
            </a:r>
            <a:r>
              <a:rPr lang="es-MX" sz="2000" b="1" dirty="0"/>
              <a:t>lista completa como un solo parámetro</a:t>
            </a:r>
            <a:r>
              <a:rPr lang="es-MX" sz="2000" dirty="0"/>
              <a:t>: </a:t>
            </a:r>
            <a:r>
              <a:rPr lang="es-MX" b="1" dirty="0">
                <a:latin typeface="Consolas" panose="020B0609020204030204" pitchFamily="49" charset="0"/>
              </a:rPr>
              <a:t>notas</a:t>
            </a:r>
            <a:r>
              <a:rPr lang="es-MX" sz="2000" dirty="0"/>
              <a:t>.</a:t>
            </a:r>
          </a:p>
          <a:p>
            <a:pPr marL="342900" indent="-342900" rtl="0">
              <a:buFont typeface="Arial" panose="020B0604020202020204" pitchFamily="34" charset="0"/>
              <a:buChar char="•"/>
            </a:pPr>
            <a:r>
              <a:rPr lang="es-MX" sz="2000" b="1" dirty="0"/>
              <a:t>No conoce</a:t>
            </a:r>
            <a:r>
              <a:rPr lang="es-MX" sz="2000" dirty="0"/>
              <a:t> </a:t>
            </a:r>
            <a:r>
              <a:rPr lang="es-MX" b="1" dirty="0">
                <a:latin typeface="Consolas" panose="020B0609020204030204" pitchFamily="49" charset="0"/>
              </a:rPr>
              <a:t>N</a:t>
            </a:r>
            <a:r>
              <a:rPr lang="es-MX" sz="2000" dirty="0"/>
              <a:t>: con </a:t>
            </a:r>
            <a:r>
              <a:rPr lang="es-MX" b="1" dirty="0">
                <a:latin typeface="Consolas" panose="020B0609020204030204" pitchFamily="49" charset="0"/>
              </a:rPr>
              <a:t>len(notas)</a:t>
            </a:r>
            <a:r>
              <a:rPr lang="es-MX" sz="2000" dirty="0"/>
              <a:t> sabe cuántos elementos tiene, así sirve para listas de cualquier tamaño.</a:t>
            </a:r>
          </a:p>
          <a:p>
            <a:pPr rtl="0"/>
            <a:endParaRPr lang="es-MX" sz="2000" b="1" dirty="0"/>
          </a:p>
          <a:p>
            <a:pPr rtl="0"/>
            <a:r>
              <a:rPr lang="es-CO" sz="2000" b="1" dirty="0"/>
              <a:t>Definición</a:t>
            </a:r>
            <a:r>
              <a:rPr lang="es-CO" sz="2000" dirty="0"/>
              <a:t> (</a:t>
            </a:r>
            <a:r>
              <a:rPr lang="es-CO" sz="2000" dirty="0">
                <a:hlinkClick r:id="rId2"/>
              </a:rPr>
              <a:t>simulación</a:t>
            </a:r>
            <a:r>
              <a:rPr lang="es-CO" sz="2000" dirty="0"/>
              <a:t>):</a:t>
            </a:r>
            <a:endParaRPr lang="es-MX" sz="2000" dirty="0"/>
          </a:p>
        </p:txBody>
      </p:sp>
      <p:sp>
        <p:nvSpPr>
          <p:cNvPr id="14" name="CuadroTexto 13">
            <a:extLst>
              <a:ext uri="{FF2B5EF4-FFF2-40B4-BE49-F238E27FC236}">
                <a16:creationId xmlns:a16="http://schemas.microsoft.com/office/drawing/2014/main" id="{D83DB4B9-95E5-4BAF-80DB-597DA250B962}"/>
              </a:ext>
            </a:extLst>
          </p:cNvPr>
          <p:cNvSpPr txBox="1"/>
          <p:nvPr/>
        </p:nvSpPr>
        <p:spPr>
          <a:xfrm>
            <a:off x="223550" y="4233072"/>
            <a:ext cx="6301358" cy="2308324"/>
          </a:xfrm>
          <a:prstGeom prst="rect">
            <a:avLst/>
          </a:prstGeom>
          <a:noFill/>
          <a:ln>
            <a:solidFill>
              <a:schemeClr val="tx1"/>
            </a:solidFill>
          </a:ln>
        </p:spPr>
        <p:txBody>
          <a:bodyPr wrap="square">
            <a:spAutoFit/>
          </a:bodyPr>
          <a:lstStyle/>
          <a:p>
            <a:r>
              <a:rPr lang="es-MX" sz="1200" dirty="0" err="1">
                <a:latin typeface="Consolas" panose="020B0609020204030204" pitchFamily="49" charset="0"/>
              </a:rPr>
              <a:t>def</a:t>
            </a:r>
            <a:r>
              <a:rPr lang="es-MX" sz="1200" dirty="0">
                <a:latin typeface="Consolas" panose="020B0609020204030204" pitchFamily="49" charset="0"/>
              </a:rPr>
              <a:t> </a:t>
            </a:r>
            <a:r>
              <a:rPr lang="es-MX" sz="1200" dirty="0" err="1">
                <a:latin typeface="Consolas" panose="020B0609020204030204" pitchFamily="49" charset="0"/>
              </a:rPr>
              <a:t>calcular_promedio</a:t>
            </a:r>
            <a:r>
              <a:rPr lang="es-MX" sz="1200" dirty="0">
                <a:latin typeface="Consolas" panose="020B0609020204030204" pitchFamily="49" charset="0"/>
              </a:rPr>
              <a:t>(notas):</a:t>
            </a:r>
          </a:p>
          <a:p>
            <a:r>
              <a:rPr lang="es-MX" sz="1200" dirty="0">
                <a:latin typeface="Consolas" panose="020B0609020204030204" pitchFamily="49" charset="0"/>
              </a:rPr>
              <a:t>    </a:t>
            </a:r>
            <a:r>
              <a:rPr lang="es-MX" sz="1200" dirty="0">
                <a:solidFill>
                  <a:srgbClr val="00B050"/>
                </a:solidFill>
                <a:latin typeface="Consolas" panose="020B0609020204030204" pitchFamily="49" charset="0"/>
              </a:rPr>
              <a:t>"""</a:t>
            </a:r>
          </a:p>
          <a:p>
            <a:r>
              <a:rPr lang="es-MX" sz="1200" dirty="0">
                <a:solidFill>
                  <a:srgbClr val="00B050"/>
                </a:solidFill>
                <a:latin typeface="Consolas" panose="020B0609020204030204" pitchFamily="49" charset="0"/>
              </a:rPr>
              <a:t>    Supone:</a:t>
            </a:r>
          </a:p>
          <a:p>
            <a:r>
              <a:rPr lang="es-MX" sz="1200" dirty="0">
                <a:solidFill>
                  <a:srgbClr val="00B050"/>
                </a:solidFill>
                <a:latin typeface="Consolas" panose="020B0609020204030204" pitchFamily="49" charset="0"/>
              </a:rPr>
              <a:t>        notas es una lista de </a:t>
            </a:r>
            <a:r>
              <a:rPr lang="es-MX" sz="1200" dirty="0" err="1">
                <a:solidFill>
                  <a:srgbClr val="00B050"/>
                </a:solidFill>
                <a:latin typeface="Consolas" panose="020B0609020204030204" pitchFamily="49" charset="0"/>
              </a:rPr>
              <a:t>numeros</a:t>
            </a:r>
            <a:r>
              <a:rPr lang="es-MX" sz="1200" dirty="0">
                <a:solidFill>
                  <a:srgbClr val="00B050"/>
                </a:solidFill>
                <a:latin typeface="Consolas" panose="020B0609020204030204" pitchFamily="49" charset="0"/>
              </a:rPr>
              <a:t> con al menos un elemento.</a:t>
            </a:r>
          </a:p>
          <a:p>
            <a:r>
              <a:rPr lang="es-MX" sz="1200" dirty="0">
                <a:solidFill>
                  <a:srgbClr val="00B050"/>
                </a:solidFill>
                <a:latin typeface="Consolas" panose="020B0609020204030204" pitchFamily="49" charset="0"/>
              </a:rPr>
              <a:t>    Garantiza:</a:t>
            </a:r>
          </a:p>
          <a:p>
            <a:r>
              <a:rPr lang="es-MX" sz="1200" dirty="0">
                <a:solidFill>
                  <a:srgbClr val="00B050"/>
                </a:solidFill>
                <a:latin typeface="Consolas" panose="020B0609020204030204" pitchFamily="49" charset="0"/>
              </a:rPr>
              <a:t>        Retorna el promedio de las notas (</a:t>
            </a:r>
            <a:r>
              <a:rPr lang="es-MX" sz="1200" dirty="0" err="1">
                <a:solidFill>
                  <a:srgbClr val="00B050"/>
                </a:solidFill>
                <a:latin typeface="Consolas" panose="020B0609020204030204" pitchFamily="49" charset="0"/>
              </a:rPr>
              <a:t>float</a:t>
            </a:r>
            <a:r>
              <a:rPr lang="es-MX" sz="1200" dirty="0">
                <a:solidFill>
                  <a:srgbClr val="00B050"/>
                </a:solidFill>
                <a:latin typeface="Consolas" panose="020B0609020204030204" pitchFamily="49" charset="0"/>
              </a:rPr>
              <a:t>). No modifica notas.</a:t>
            </a:r>
          </a:p>
          <a:p>
            <a:r>
              <a:rPr lang="es-MX" sz="1200" dirty="0">
                <a:solidFill>
                  <a:srgbClr val="00B050"/>
                </a:solidFill>
                <a:latin typeface="Consolas" panose="020B0609020204030204" pitchFamily="49" charset="0"/>
              </a:rPr>
              <a:t>    """</a:t>
            </a:r>
          </a:p>
          <a:p>
            <a:r>
              <a:rPr lang="es-MX" sz="1200" dirty="0">
                <a:latin typeface="Consolas" panose="020B0609020204030204" pitchFamily="49" charset="0"/>
              </a:rPr>
              <a:t>    suma = 0</a:t>
            </a:r>
          </a:p>
          <a:p>
            <a:r>
              <a:rPr lang="es-MX" sz="1200" dirty="0">
                <a:latin typeface="Consolas" panose="020B0609020204030204" pitchFamily="49" charset="0"/>
              </a:rPr>
              <a:t>    </a:t>
            </a:r>
            <a:r>
              <a:rPr lang="es-MX" sz="1200" dirty="0" err="1">
                <a:latin typeface="Consolas" panose="020B0609020204030204" pitchFamily="49" charset="0"/>
              </a:rPr>
              <a:t>for</a:t>
            </a:r>
            <a:r>
              <a:rPr lang="es-MX" sz="1200" dirty="0">
                <a:latin typeface="Consolas" panose="020B0609020204030204" pitchFamily="49" charset="0"/>
              </a:rPr>
              <a:t> i in range(len(notas)):</a:t>
            </a:r>
          </a:p>
          <a:p>
            <a:r>
              <a:rPr lang="es-MX" sz="1200" dirty="0">
                <a:latin typeface="Consolas" panose="020B0609020204030204" pitchFamily="49" charset="0"/>
              </a:rPr>
              <a:t>        suma = suma + notas[i]</a:t>
            </a:r>
          </a:p>
          <a:p>
            <a:r>
              <a:rPr lang="es-MX" sz="1200" dirty="0">
                <a:latin typeface="Consolas" panose="020B0609020204030204" pitchFamily="49" charset="0"/>
              </a:rPr>
              <a:t>    promedio = suma / len(notas)</a:t>
            </a:r>
          </a:p>
          <a:p>
            <a:r>
              <a:rPr lang="es-MX" sz="1200" dirty="0">
                <a:latin typeface="Consolas" panose="020B0609020204030204" pitchFamily="49" charset="0"/>
              </a:rPr>
              <a:t>    return promedio</a:t>
            </a:r>
            <a:endParaRPr lang="es-CO" sz="1200" dirty="0">
              <a:latin typeface="Consolas" panose="020B0609020204030204" pitchFamily="49" charset="0"/>
            </a:endParaRPr>
          </a:p>
        </p:txBody>
      </p:sp>
      <p:pic>
        <p:nvPicPr>
          <p:cNvPr id="6" name="Imagen 5">
            <a:extLst>
              <a:ext uri="{FF2B5EF4-FFF2-40B4-BE49-F238E27FC236}">
                <a16:creationId xmlns:a16="http://schemas.microsoft.com/office/drawing/2014/main" id="{ACAEC491-E518-4E1F-952F-870DF5E06E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06709" y="2290278"/>
            <a:ext cx="6237291" cy="1850522"/>
          </a:xfrm>
          <a:prstGeom prst="rect">
            <a:avLst/>
          </a:prstGeom>
        </p:spPr>
      </p:pic>
      <p:sp>
        <p:nvSpPr>
          <p:cNvPr id="11" name="CuadroTexto 10">
            <a:extLst>
              <a:ext uri="{FF2B5EF4-FFF2-40B4-BE49-F238E27FC236}">
                <a16:creationId xmlns:a16="http://schemas.microsoft.com/office/drawing/2014/main" id="{8342944E-812B-406F-A228-FBFEDB894EE5}"/>
              </a:ext>
            </a:extLst>
          </p:cNvPr>
          <p:cNvSpPr txBox="1"/>
          <p:nvPr/>
        </p:nvSpPr>
        <p:spPr>
          <a:xfrm>
            <a:off x="6804248" y="4941168"/>
            <a:ext cx="1919266" cy="1200329"/>
          </a:xfrm>
          <a:prstGeom prst="rect">
            <a:avLst/>
          </a:prstGeom>
          <a:solidFill>
            <a:schemeClr val="accent2">
              <a:lumMod val="20000"/>
              <a:lumOff val="80000"/>
            </a:schemeClr>
          </a:solidFill>
        </p:spPr>
        <p:txBody>
          <a:bodyPr wrap="square">
            <a:spAutoFit/>
          </a:bodyPr>
          <a:lstStyle/>
          <a:p>
            <a:r>
              <a:rPr lang="es-MX" dirty="0"/>
              <a:t>El </a:t>
            </a:r>
            <a:r>
              <a:rPr lang="es-MX" b="1" dirty="0"/>
              <a:t>Garantiza</a:t>
            </a:r>
            <a:r>
              <a:rPr lang="es-MX" dirty="0"/>
              <a:t> dice </a:t>
            </a:r>
            <a:r>
              <a:rPr lang="es-MX" i="1" dirty="0"/>
              <a:t>“No modifica notas”</a:t>
            </a:r>
            <a:r>
              <a:rPr lang="es-MX" dirty="0"/>
              <a:t>: la función solo lee la lista.</a:t>
            </a:r>
            <a:endParaRPr lang="es-CO" dirty="0"/>
          </a:p>
        </p:txBody>
      </p:sp>
    </p:spTree>
    <p:extLst>
      <p:ext uri="{BB962C8B-B14F-4D97-AF65-F5344CB8AC3E}">
        <p14:creationId xmlns:p14="http://schemas.microsoft.com/office/powerpoint/2010/main" val="22773200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7768" y="323392"/>
            <a:ext cx="8892480" cy="720452"/>
          </a:xfrm>
        </p:spPr>
        <p:txBody>
          <a:bodyPr>
            <a:noAutofit/>
          </a:bodyPr>
          <a:lstStyle/>
          <a:p>
            <a:r>
              <a:rPr lang="es-MX" sz="3200" dirty="0"/>
              <a:t>Caso 1: invocar la función con una lista</a:t>
            </a:r>
            <a:endParaRPr lang="es-CO" sz="3200" dirty="0"/>
          </a:p>
        </p:txBody>
      </p:sp>
      <p:sp>
        <p:nvSpPr>
          <p:cNvPr id="13" name="12 Rectángulo"/>
          <p:cNvSpPr/>
          <p:nvPr/>
        </p:nvSpPr>
        <p:spPr>
          <a:xfrm>
            <a:off x="53752" y="1043844"/>
            <a:ext cx="9036496" cy="3785652"/>
          </a:xfrm>
          <a:prstGeom prst="rect">
            <a:avLst/>
          </a:prstGeom>
        </p:spPr>
        <p:txBody>
          <a:bodyPr wrap="square">
            <a:spAutoFit/>
          </a:bodyPr>
          <a:lstStyle/>
          <a:p>
            <a:pPr marL="342900" indent="-342900" rtl="0">
              <a:buFont typeface="Arial" panose="020B0604020202020204" pitchFamily="34" charset="0"/>
              <a:buChar char="•"/>
            </a:pPr>
            <a:r>
              <a:rPr lang="es-MX" sz="2000" b="1" dirty="0"/>
              <a:t>Al invocar se escribe solo el nombre de la lista</a:t>
            </a:r>
            <a:r>
              <a:rPr lang="es-MX" sz="2000" dirty="0"/>
              <a:t>: </a:t>
            </a:r>
            <a:r>
              <a:rPr lang="es-MX" b="1" dirty="0">
                <a:latin typeface="Consolas" panose="020B0609020204030204" pitchFamily="49" charset="0"/>
              </a:rPr>
              <a:t>calcular_promedio(lista_notas)</a:t>
            </a:r>
            <a:r>
              <a:rPr lang="es-MX" sz="2000" dirty="0"/>
              <a:t>.</a:t>
            </a:r>
          </a:p>
          <a:p>
            <a:pPr marL="342900" indent="-342900" rtl="0">
              <a:buFont typeface="Arial" panose="020B0604020202020204" pitchFamily="34" charset="0"/>
              <a:buChar char="•"/>
            </a:pPr>
            <a:r>
              <a:rPr lang="es-MX" sz="2000" b="1" dirty="0"/>
              <a:t>Adentro, el parámetro </a:t>
            </a:r>
            <a:r>
              <a:rPr lang="es-MX" b="1" dirty="0">
                <a:latin typeface="Consolas" panose="020B0609020204030204" pitchFamily="49" charset="0"/>
              </a:rPr>
              <a:t>notas</a:t>
            </a:r>
            <a:r>
              <a:rPr lang="es-MX" sz="2000" b="1" dirty="0"/>
              <a:t> es otro nombre para la misma lista</a:t>
            </a:r>
            <a:r>
              <a:rPr lang="es-MX" sz="2000" dirty="0"/>
              <a:t>: un </a:t>
            </a:r>
            <a:r>
              <a:rPr lang="es-MX" sz="2000" b="1" dirty="0"/>
              <a:t>alias</a:t>
            </a:r>
            <a:r>
              <a:rPr lang="es-MX" sz="2000" dirty="0"/>
              <a:t>. Como esta función solo lee, no hay efecto secundario.</a:t>
            </a:r>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rtl="0"/>
            <a:r>
              <a:rPr lang="es-CO" sz="2000" b="1" dirty="0"/>
              <a:t>Programa</a:t>
            </a:r>
            <a:r>
              <a:rPr lang="es-CO" sz="2000" dirty="0"/>
              <a:t> (</a:t>
            </a:r>
            <a:r>
              <a:rPr lang="es-CO" sz="2000" dirty="0">
                <a:hlinkClick r:id="rId2"/>
              </a:rPr>
              <a:t>simulación</a:t>
            </a:r>
            <a:r>
              <a:rPr lang="es-CO" sz="2000" dirty="0"/>
              <a:t>) y </a:t>
            </a:r>
            <a:r>
              <a:rPr lang="es-CO" sz="2000" b="1" dirty="0"/>
              <a:t>Salida</a:t>
            </a:r>
            <a:r>
              <a:rPr lang="es-CO" sz="2000" dirty="0"/>
              <a:t>:</a:t>
            </a:r>
          </a:p>
        </p:txBody>
      </p:sp>
      <p:pic>
        <p:nvPicPr>
          <p:cNvPr id="8" name="Imagen 7">
            <a:extLst>
              <a:ext uri="{FF2B5EF4-FFF2-40B4-BE49-F238E27FC236}">
                <a16:creationId xmlns:a16="http://schemas.microsoft.com/office/drawing/2014/main" id="{7AAC5224-36DA-4CD3-BD65-C64EC1C2A965}"/>
              </a:ext>
            </a:extLst>
          </p:cNvPr>
          <p:cNvPicPr>
            <a:picLocks noChangeAspect="1"/>
          </p:cNvPicPr>
          <p:nvPr/>
        </p:nvPicPr>
        <p:blipFill>
          <a:blip r:embed="rId3"/>
          <a:stretch>
            <a:fillRect/>
          </a:stretch>
        </p:blipFill>
        <p:spPr>
          <a:xfrm>
            <a:off x="944724" y="2485742"/>
            <a:ext cx="7254552" cy="1886516"/>
          </a:xfrm>
          <a:prstGeom prst="rect">
            <a:avLst/>
          </a:prstGeom>
        </p:spPr>
      </p:pic>
      <p:grpSp>
        <p:nvGrpSpPr>
          <p:cNvPr id="17" name="Grupo 16">
            <a:extLst>
              <a:ext uri="{FF2B5EF4-FFF2-40B4-BE49-F238E27FC236}">
                <a16:creationId xmlns:a16="http://schemas.microsoft.com/office/drawing/2014/main" id="{B158AAA3-2AE9-45E7-A15B-05261B722A8D}"/>
              </a:ext>
            </a:extLst>
          </p:cNvPr>
          <p:cNvGrpSpPr/>
          <p:nvPr/>
        </p:nvGrpSpPr>
        <p:grpSpPr>
          <a:xfrm>
            <a:off x="479044" y="4820959"/>
            <a:ext cx="4392488" cy="1200329"/>
            <a:chOff x="395536" y="5181870"/>
            <a:chExt cx="4392488" cy="1200329"/>
          </a:xfrm>
        </p:grpSpPr>
        <p:sp>
          <p:nvSpPr>
            <p:cNvPr id="14" name="CuadroTexto 13">
              <a:extLst>
                <a:ext uri="{FF2B5EF4-FFF2-40B4-BE49-F238E27FC236}">
                  <a16:creationId xmlns:a16="http://schemas.microsoft.com/office/drawing/2014/main" id="{D83DB4B9-95E5-4BAF-80DB-597DA250B962}"/>
                </a:ext>
              </a:extLst>
            </p:cNvPr>
            <p:cNvSpPr txBox="1"/>
            <p:nvPr/>
          </p:nvSpPr>
          <p:spPr>
            <a:xfrm>
              <a:off x="395536" y="5551202"/>
              <a:ext cx="4392488" cy="830997"/>
            </a:xfrm>
            <a:prstGeom prst="rect">
              <a:avLst/>
            </a:prstGeom>
            <a:noFill/>
            <a:ln>
              <a:solidFill>
                <a:schemeClr val="tx1"/>
              </a:solidFill>
            </a:ln>
          </p:spPr>
          <p:txBody>
            <a:bodyPr wrap="square">
              <a:spAutoFit/>
            </a:bodyPr>
            <a:lstStyle/>
            <a:p>
              <a:r>
                <a:rPr lang="es-MX" sz="1600" dirty="0" err="1">
                  <a:latin typeface="Consolas" panose="020B0609020204030204" pitchFamily="49" charset="0"/>
                </a:rPr>
                <a:t>lista_notas</a:t>
              </a:r>
              <a:r>
                <a:rPr lang="es-MX" sz="1600" dirty="0">
                  <a:latin typeface="Consolas" panose="020B0609020204030204" pitchFamily="49" charset="0"/>
                </a:rPr>
                <a:t> = [3.0, 4.5, 2.0, 4.0]</a:t>
              </a:r>
            </a:p>
            <a:p>
              <a:r>
                <a:rPr lang="es-MX" sz="1600" dirty="0" err="1">
                  <a:latin typeface="Consolas" panose="020B0609020204030204" pitchFamily="49" charset="0"/>
                </a:rPr>
                <a:t>prom</a:t>
              </a:r>
              <a:r>
                <a:rPr lang="es-MX" sz="1600" dirty="0">
                  <a:latin typeface="Consolas" panose="020B0609020204030204" pitchFamily="49" charset="0"/>
                </a:rPr>
                <a:t> = </a:t>
              </a:r>
              <a:r>
                <a:rPr lang="es-MX" sz="1600" dirty="0" err="1">
                  <a:latin typeface="Consolas" panose="020B0609020204030204" pitchFamily="49" charset="0"/>
                </a:rPr>
                <a:t>calcular_promedio</a:t>
              </a:r>
              <a:r>
                <a:rPr lang="es-MX" sz="1600" dirty="0">
                  <a:latin typeface="Consolas" panose="020B0609020204030204" pitchFamily="49" charset="0"/>
                </a:rPr>
                <a:t>(</a:t>
              </a:r>
              <a:r>
                <a:rPr lang="es-MX" sz="1600" dirty="0" err="1">
                  <a:latin typeface="Consolas" panose="020B0609020204030204" pitchFamily="49" charset="0"/>
                </a:rPr>
                <a:t>lista_notas</a:t>
              </a:r>
              <a:r>
                <a:rPr lang="es-MX" sz="1600" dirty="0">
                  <a:latin typeface="Consolas" panose="020B0609020204030204" pitchFamily="49" charset="0"/>
                </a:rPr>
                <a:t>)</a:t>
              </a:r>
            </a:p>
            <a:p>
              <a:r>
                <a:rPr lang="es-MX" sz="1600" dirty="0">
                  <a:latin typeface="Consolas" panose="020B0609020204030204" pitchFamily="49" charset="0"/>
                </a:rPr>
                <a:t>print(</a:t>
              </a:r>
              <a:r>
                <a:rPr lang="es-MX" sz="1600" dirty="0" err="1">
                  <a:latin typeface="Consolas" panose="020B0609020204030204" pitchFamily="49" charset="0"/>
                </a:rPr>
                <a:t>f"Promedio</a:t>
              </a:r>
              <a:r>
                <a:rPr lang="es-MX" sz="1600" dirty="0">
                  <a:latin typeface="Consolas" panose="020B0609020204030204" pitchFamily="49" charset="0"/>
                </a:rPr>
                <a:t>: {prom:.2f}")</a:t>
              </a:r>
              <a:endParaRPr lang="es-CO" sz="1600" dirty="0">
                <a:latin typeface="Consolas" panose="020B0609020204030204" pitchFamily="49" charset="0"/>
              </a:endParaRPr>
            </a:p>
          </p:txBody>
        </p:sp>
        <p:sp>
          <p:nvSpPr>
            <p:cNvPr id="15" name="CuadroTexto 14">
              <a:extLst>
                <a:ext uri="{FF2B5EF4-FFF2-40B4-BE49-F238E27FC236}">
                  <a16:creationId xmlns:a16="http://schemas.microsoft.com/office/drawing/2014/main" id="{CF56D24B-40D9-41CA-ABED-D45E1BC37163}"/>
                </a:ext>
              </a:extLst>
            </p:cNvPr>
            <p:cNvSpPr txBox="1"/>
            <p:nvPr/>
          </p:nvSpPr>
          <p:spPr>
            <a:xfrm>
              <a:off x="1665176" y="5181870"/>
              <a:ext cx="2122139" cy="369332"/>
            </a:xfrm>
            <a:prstGeom prst="rect">
              <a:avLst/>
            </a:prstGeom>
            <a:noFill/>
          </p:spPr>
          <p:txBody>
            <a:bodyPr wrap="square">
              <a:spAutoFit/>
            </a:bodyPr>
            <a:lstStyle/>
            <a:p>
              <a:pPr algn="ctr"/>
              <a:r>
                <a:rPr lang="es-CO" sz="1800" b="1" dirty="0"/>
                <a:t>Código invocación</a:t>
              </a:r>
              <a:endParaRPr lang="es-CO" dirty="0"/>
            </a:p>
          </p:txBody>
        </p:sp>
      </p:grpSp>
      <p:grpSp>
        <p:nvGrpSpPr>
          <p:cNvPr id="10" name="Grupo 9">
            <a:extLst>
              <a:ext uri="{FF2B5EF4-FFF2-40B4-BE49-F238E27FC236}">
                <a16:creationId xmlns:a16="http://schemas.microsoft.com/office/drawing/2014/main" id="{B062751E-C1F6-4679-8C1D-B24500DB7C3A}"/>
              </a:ext>
            </a:extLst>
          </p:cNvPr>
          <p:cNvGrpSpPr/>
          <p:nvPr/>
        </p:nvGrpSpPr>
        <p:grpSpPr>
          <a:xfrm>
            <a:off x="5572555" y="4990816"/>
            <a:ext cx="3092401" cy="742440"/>
            <a:chOff x="5292080" y="5393537"/>
            <a:chExt cx="3092401" cy="742440"/>
          </a:xfrm>
        </p:grpSpPr>
        <p:sp>
          <p:nvSpPr>
            <p:cNvPr id="12" name="CuadroTexto 11">
              <a:extLst>
                <a:ext uri="{FF2B5EF4-FFF2-40B4-BE49-F238E27FC236}">
                  <a16:creationId xmlns:a16="http://schemas.microsoft.com/office/drawing/2014/main" id="{FFBB13D0-A5A5-4F77-92E3-DD746E6EE6FA}"/>
                </a:ext>
              </a:extLst>
            </p:cNvPr>
            <p:cNvSpPr txBox="1"/>
            <p:nvPr/>
          </p:nvSpPr>
          <p:spPr>
            <a:xfrm>
              <a:off x="5292080" y="5797423"/>
              <a:ext cx="3092401" cy="338554"/>
            </a:xfrm>
            <a:prstGeom prst="rect">
              <a:avLst/>
            </a:prstGeom>
            <a:noFill/>
            <a:ln>
              <a:solidFill>
                <a:schemeClr val="tx1"/>
              </a:solidFill>
            </a:ln>
          </p:spPr>
          <p:txBody>
            <a:bodyPr wrap="square">
              <a:spAutoFit/>
            </a:bodyPr>
            <a:lstStyle/>
            <a:p>
              <a:r>
                <a:rPr lang="es-MX" sz="1600" dirty="0">
                  <a:latin typeface="Consolas" panose="020B0609020204030204" pitchFamily="49" charset="0"/>
                </a:rPr>
                <a:t>Promedio: 3.38</a:t>
              </a:r>
              <a:endParaRPr lang="es-CO" sz="1600" dirty="0">
                <a:latin typeface="Consolas" panose="020B0609020204030204" pitchFamily="49" charset="0"/>
              </a:endParaRPr>
            </a:p>
          </p:txBody>
        </p:sp>
        <p:sp>
          <p:nvSpPr>
            <p:cNvPr id="16" name="CuadroTexto 15">
              <a:extLst>
                <a:ext uri="{FF2B5EF4-FFF2-40B4-BE49-F238E27FC236}">
                  <a16:creationId xmlns:a16="http://schemas.microsoft.com/office/drawing/2014/main" id="{570FD75F-14BE-4FEC-B3BC-BB612F9BCB91}"/>
                </a:ext>
              </a:extLst>
            </p:cNvPr>
            <p:cNvSpPr txBox="1"/>
            <p:nvPr/>
          </p:nvSpPr>
          <p:spPr>
            <a:xfrm>
              <a:off x="5777210" y="5393537"/>
              <a:ext cx="2122139" cy="369332"/>
            </a:xfrm>
            <a:prstGeom prst="rect">
              <a:avLst/>
            </a:prstGeom>
            <a:noFill/>
          </p:spPr>
          <p:txBody>
            <a:bodyPr wrap="square">
              <a:spAutoFit/>
            </a:bodyPr>
            <a:lstStyle/>
            <a:p>
              <a:pPr algn="ctr"/>
              <a:r>
                <a:rPr lang="es-CO" sz="1800" b="1" dirty="0"/>
                <a:t>Salida en pantalla</a:t>
              </a:r>
              <a:endParaRPr lang="es-CO" dirty="0"/>
            </a:p>
          </p:txBody>
        </p:sp>
      </p:grpSp>
      <p:sp>
        <p:nvSpPr>
          <p:cNvPr id="21" name="CuadroTexto 20">
            <a:extLst>
              <a:ext uri="{FF2B5EF4-FFF2-40B4-BE49-F238E27FC236}">
                <a16:creationId xmlns:a16="http://schemas.microsoft.com/office/drawing/2014/main" id="{7D1DDB98-F25C-42DB-B3E6-4F0B4A970EF2}"/>
              </a:ext>
            </a:extLst>
          </p:cNvPr>
          <p:cNvSpPr txBox="1"/>
          <p:nvPr/>
        </p:nvSpPr>
        <p:spPr>
          <a:xfrm>
            <a:off x="0" y="6239053"/>
            <a:ext cx="9144000" cy="646331"/>
          </a:xfrm>
          <a:prstGeom prst="rect">
            <a:avLst/>
          </a:prstGeom>
          <a:solidFill>
            <a:schemeClr val="accent2">
              <a:lumMod val="20000"/>
              <a:lumOff val="80000"/>
            </a:schemeClr>
          </a:solidFill>
        </p:spPr>
        <p:txBody>
          <a:bodyPr wrap="square">
            <a:spAutoFit/>
          </a:bodyPr>
          <a:lstStyle/>
          <a:p>
            <a:r>
              <a:rPr lang="es-CO" b="1" dirty="0"/>
              <a:t>Observación importante</a:t>
            </a:r>
            <a:r>
              <a:rPr lang="es-CO" dirty="0"/>
              <a:t>: La misma función sirve para cualquier lista: </a:t>
            </a:r>
            <a:r>
              <a:rPr lang="es-CO" sz="1600" b="1" dirty="0">
                <a:latin typeface="Consolas" panose="020B0609020204030204" pitchFamily="49" charset="0"/>
              </a:rPr>
              <a:t>calcular_promedio([4.0, 3.5])</a:t>
            </a:r>
            <a:r>
              <a:rPr lang="es-CO" dirty="0"/>
              <a:t> devuelve </a:t>
            </a:r>
            <a:r>
              <a:rPr lang="es-CO" sz="1600" b="1" dirty="0">
                <a:latin typeface="Consolas" panose="020B0609020204030204" pitchFamily="49" charset="0"/>
              </a:rPr>
              <a:t>3.75</a:t>
            </a:r>
            <a:r>
              <a:rPr lang="es-CO" dirty="0"/>
              <a:t>.</a:t>
            </a:r>
          </a:p>
        </p:txBody>
      </p:sp>
    </p:spTree>
    <p:extLst>
      <p:ext uri="{BB962C8B-B14F-4D97-AF65-F5344CB8AC3E}">
        <p14:creationId xmlns:p14="http://schemas.microsoft.com/office/powerpoint/2010/main" val="1104441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Caso 1: probar la función</a:t>
            </a:r>
            <a:endParaRPr lang="es-CO" sz="3600" dirty="0"/>
          </a:p>
        </p:txBody>
      </p:sp>
      <p:sp>
        <p:nvSpPr>
          <p:cNvPr id="13" name="12 Rectángulo"/>
          <p:cNvSpPr/>
          <p:nvPr/>
        </p:nvSpPr>
        <p:spPr>
          <a:xfrm>
            <a:off x="269193" y="749017"/>
            <a:ext cx="8640960" cy="2862322"/>
          </a:xfrm>
          <a:prstGeom prst="rect">
            <a:avLst/>
          </a:prstGeom>
        </p:spPr>
        <p:txBody>
          <a:bodyPr wrap="square">
            <a:spAutoFit/>
          </a:bodyPr>
          <a:lstStyle/>
          <a:p>
            <a:pPr rtl="0"/>
            <a:r>
              <a:rPr lang="es-CO" sz="2000" b="1" dirty="0"/>
              <a:t>Pruebas</a:t>
            </a:r>
            <a:r>
              <a:rPr lang="es-CO" sz="2000" dirty="0"/>
              <a:t> (</a:t>
            </a:r>
            <a:r>
              <a:rPr lang="es-CO" sz="2000" dirty="0">
                <a:hlinkClick r:id="rId2"/>
              </a:rPr>
              <a:t>simulación</a:t>
            </a:r>
            <a:r>
              <a:rPr lang="es-CO" sz="2000" dirty="0"/>
              <a:t>):</a:t>
            </a: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r>
              <a:rPr lang="es-MX" sz="2000" b="1" dirty="0"/>
              <a:t>Tabla de casos de prueba:</a:t>
            </a:r>
            <a:endParaRPr lang="es-MX" sz="2000" b="1" dirty="0">
              <a:latin typeface="Consolas" panose="020B0609020204030204" pitchFamily="49" charset="0"/>
            </a:endParaRPr>
          </a:p>
        </p:txBody>
      </p:sp>
      <p:sp>
        <p:nvSpPr>
          <p:cNvPr id="9" name="CuadroTexto 8">
            <a:extLst>
              <a:ext uri="{FF2B5EF4-FFF2-40B4-BE49-F238E27FC236}">
                <a16:creationId xmlns:a16="http://schemas.microsoft.com/office/drawing/2014/main" id="{D6F819BF-8F43-40F3-8FDE-ED1EE531B97F}"/>
              </a:ext>
            </a:extLst>
          </p:cNvPr>
          <p:cNvSpPr txBox="1"/>
          <p:nvPr/>
        </p:nvSpPr>
        <p:spPr>
          <a:xfrm>
            <a:off x="377280" y="1196752"/>
            <a:ext cx="8416317" cy="1892826"/>
          </a:xfrm>
          <a:prstGeom prst="rect">
            <a:avLst/>
          </a:prstGeom>
          <a:noFill/>
          <a:ln>
            <a:solidFill>
              <a:schemeClr val="tx1"/>
            </a:solidFill>
          </a:ln>
        </p:spPr>
        <p:txBody>
          <a:bodyPr wrap="square">
            <a:spAutoFit/>
          </a:bodyPr>
          <a:lstStyle/>
          <a:p>
            <a:r>
              <a:rPr lang="es-MX" sz="1300" dirty="0" err="1">
                <a:latin typeface="Consolas" panose="020B0609020204030204" pitchFamily="49" charset="0"/>
              </a:rPr>
              <a:t>assert</a:t>
            </a:r>
            <a:r>
              <a:rPr lang="es-MX" sz="1300" dirty="0">
                <a:latin typeface="Consolas" panose="020B0609020204030204" pitchFamily="49" charset="0"/>
              </a:rPr>
              <a:t> round(calcular_promedio([3.0, 4.5, 2.0, 4.0]), 3) == 3.375   # </a:t>
            </a:r>
            <a:r>
              <a:rPr lang="es-MX" sz="1300" dirty="0" err="1">
                <a:latin typeface="Consolas" panose="020B0609020204030204" pitchFamily="49" charset="0"/>
              </a:rPr>
              <a:t>tipico</a:t>
            </a:r>
            <a:endParaRPr lang="es-MX" sz="1300" dirty="0">
              <a:latin typeface="Consolas" panose="020B0609020204030204" pitchFamily="49" charset="0"/>
            </a:endParaRPr>
          </a:p>
          <a:p>
            <a:r>
              <a:rPr lang="es-MX" sz="1300" dirty="0" err="1">
                <a:latin typeface="Consolas" panose="020B0609020204030204" pitchFamily="49" charset="0"/>
              </a:rPr>
              <a:t>assert</a:t>
            </a:r>
            <a:r>
              <a:rPr lang="es-MX" sz="1300" dirty="0">
                <a:latin typeface="Consolas" panose="020B0609020204030204" pitchFamily="49" charset="0"/>
              </a:rPr>
              <a:t> calcular_promedio([3.5]) == 3.5                              # limite</a:t>
            </a:r>
          </a:p>
          <a:p>
            <a:r>
              <a:rPr lang="es-MX" sz="1300" dirty="0" err="1">
                <a:latin typeface="Consolas" panose="020B0609020204030204" pitchFamily="49" charset="0"/>
              </a:rPr>
              <a:t>assert</a:t>
            </a:r>
            <a:r>
              <a:rPr lang="es-MX" sz="1300" dirty="0">
                <a:latin typeface="Consolas" panose="020B0609020204030204" pitchFamily="49" charset="0"/>
              </a:rPr>
              <a:t> calcular_promedio([4.0, 4.0, 4.0]) == 4.0                    # especial</a:t>
            </a:r>
          </a:p>
          <a:p>
            <a:endParaRPr lang="es-MX" sz="1300" dirty="0">
              <a:latin typeface="Consolas" panose="020B0609020204030204" pitchFamily="49" charset="0"/>
            </a:endParaRPr>
          </a:p>
          <a:p>
            <a:r>
              <a:rPr lang="es-MX" sz="1300" dirty="0">
                <a:latin typeface="Consolas" panose="020B0609020204030204" pitchFamily="49" charset="0"/>
              </a:rPr>
              <a:t>datos = [3.0, 4.5, 2.0, 4.0]</a:t>
            </a:r>
          </a:p>
          <a:p>
            <a:r>
              <a:rPr lang="es-MX" sz="1300" dirty="0">
                <a:latin typeface="Consolas" panose="020B0609020204030204" pitchFamily="49" charset="0"/>
              </a:rPr>
              <a:t>calcular_promedio(datos)</a:t>
            </a:r>
          </a:p>
          <a:p>
            <a:r>
              <a:rPr lang="es-MX" sz="1300" dirty="0" err="1">
                <a:latin typeface="Consolas" panose="020B0609020204030204" pitchFamily="49" charset="0"/>
              </a:rPr>
              <a:t>assert</a:t>
            </a:r>
            <a:r>
              <a:rPr lang="es-MX" sz="1300" dirty="0">
                <a:latin typeface="Consolas" panose="020B0609020204030204" pitchFamily="49" charset="0"/>
              </a:rPr>
              <a:t> datos == [3.0, 4.5, 2.0, 4.0]                                # no modifica</a:t>
            </a:r>
          </a:p>
          <a:p>
            <a:endParaRPr lang="es-MX" sz="1300" dirty="0">
              <a:latin typeface="Consolas" panose="020B0609020204030204" pitchFamily="49" charset="0"/>
            </a:endParaRPr>
          </a:p>
          <a:p>
            <a:r>
              <a:rPr lang="es-MX" sz="1300" dirty="0">
                <a:latin typeface="Consolas" panose="020B0609020204030204" pitchFamily="49" charset="0"/>
              </a:rPr>
              <a:t>print("Todas las pruebas pasaron")</a:t>
            </a:r>
            <a:endParaRPr lang="es-CO" sz="1300" dirty="0">
              <a:latin typeface="Consolas" panose="020B0609020204030204" pitchFamily="49" charset="0"/>
            </a:endParaRPr>
          </a:p>
        </p:txBody>
      </p:sp>
      <p:graphicFrame>
        <p:nvGraphicFramePr>
          <p:cNvPr id="2" name="Tabla 1">
            <a:extLst>
              <a:ext uri="{FF2B5EF4-FFF2-40B4-BE49-F238E27FC236}">
                <a16:creationId xmlns:a16="http://schemas.microsoft.com/office/drawing/2014/main" id="{C953BA8B-49A0-4EB1-8FE4-5587E90B69B4}"/>
              </a:ext>
            </a:extLst>
          </p:cNvPr>
          <p:cNvGraphicFramePr>
            <a:graphicFrameLocks noGrp="1"/>
          </p:cNvGraphicFramePr>
          <p:nvPr>
            <p:extLst>
              <p:ext uri="{D42A27DB-BD31-4B8C-83A1-F6EECF244321}">
                <p14:modId xmlns:p14="http://schemas.microsoft.com/office/powerpoint/2010/main" val="2201666959"/>
              </p:ext>
            </p:extLst>
          </p:nvPr>
        </p:nvGraphicFramePr>
        <p:xfrm>
          <a:off x="385749" y="3611339"/>
          <a:ext cx="8407848" cy="2164080"/>
        </p:xfrm>
        <a:graphic>
          <a:graphicData uri="http://schemas.openxmlformats.org/drawingml/2006/table">
            <a:tbl>
              <a:tblPr/>
              <a:tblGrid>
                <a:gridCol w="1207046">
                  <a:extLst>
                    <a:ext uri="{9D8B030D-6E8A-4147-A177-3AD203B41FA5}">
                      <a16:colId xmlns:a16="http://schemas.microsoft.com/office/drawing/2014/main" val="396506013"/>
                    </a:ext>
                  </a:extLst>
                </a:gridCol>
                <a:gridCol w="2304256">
                  <a:extLst>
                    <a:ext uri="{9D8B030D-6E8A-4147-A177-3AD203B41FA5}">
                      <a16:colId xmlns:a16="http://schemas.microsoft.com/office/drawing/2014/main" val="3661545983"/>
                    </a:ext>
                  </a:extLst>
                </a:gridCol>
                <a:gridCol w="2160240">
                  <a:extLst>
                    <a:ext uri="{9D8B030D-6E8A-4147-A177-3AD203B41FA5}">
                      <a16:colId xmlns:a16="http://schemas.microsoft.com/office/drawing/2014/main" val="3996277007"/>
                    </a:ext>
                  </a:extLst>
                </a:gridCol>
                <a:gridCol w="2736306">
                  <a:extLst>
                    <a:ext uri="{9D8B030D-6E8A-4147-A177-3AD203B41FA5}">
                      <a16:colId xmlns:a16="http://schemas.microsoft.com/office/drawing/2014/main" val="1907996216"/>
                    </a:ext>
                  </a:extLst>
                </a:gridCol>
              </a:tblGrid>
              <a:tr h="317592">
                <a:tc>
                  <a:txBody>
                    <a:bodyPr/>
                    <a:lstStyle/>
                    <a:p>
                      <a:r>
                        <a:rPr lang="es-CO" sz="1600" b="1"/>
                        <a:t>Caso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Entrada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Resultado esperado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Por qué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325588028"/>
                  </a:ext>
                </a:extLst>
              </a:tr>
              <a:tr h="317592">
                <a:tc>
                  <a:txBody>
                    <a:bodyPr/>
                    <a:lstStyle/>
                    <a:p>
                      <a:r>
                        <a:rPr lang="es-CO" sz="1600"/>
                        <a:t>Típico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[3.0, 4.5, 2.0,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3.375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El ejemplo de la clase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614408"/>
                  </a:ext>
                </a:extLst>
              </a:tr>
              <a:tr h="548567">
                <a:tc>
                  <a:txBody>
                    <a:bodyPr/>
                    <a:lstStyle/>
                    <a:p>
                      <a:r>
                        <a:rPr lang="es-CO" sz="1600"/>
                        <a:t>Límite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La lista más corta que permite el </a:t>
                      </a:r>
                      <a:r>
                        <a:rPr lang="es-MX" sz="1600" b="1"/>
                        <a:t>Supone</a:t>
                      </a:r>
                      <a:endParaRPr lang="es-MX"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99164042"/>
                  </a:ext>
                </a:extLst>
              </a:tr>
              <a:tr h="548567">
                <a:tc>
                  <a:txBody>
                    <a:bodyPr/>
                    <a:lstStyle/>
                    <a:p>
                      <a:r>
                        <a:rPr lang="es-CO" sz="1600"/>
                        <a:t>Especial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[4.0, 4.0,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Si todas son iguales, el promedio es ese valor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1247802"/>
                  </a:ext>
                </a:extLst>
              </a:tr>
              <a:tr h="317592">
                <a:tc>
                  <a:txBody>
                    <a:bodyPr/>
                    <a:lstStyle/>
                    <a:p>
                      <a:r>
                        <a:rPr lang="es-CO" sz="1600"/>
                        <a:t>Garantiza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datos antes y después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sin cambios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Verifica </a:t>
                      </a:r>
                      <a:r>
                        <a:rPr lang="es-CO" sz="1600" i="1" dirty="0"/>
                        <a:t>“No modifica notas”</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3423529"/>
                  </a:ext>
                </a:extLst>
              </a:tr>
            </a:tbl>
          </a:graphicData>
        </a:graphic>
      </p:graphicFrame>
      <p:sp>
        <p:nvSpPr>
          <p:cNvPr id="10" name="CuadroTexto 9">
            <a:extLst>
              <a:ext uri="{FF2B5EF4-FFF2-40B4-BE49-F238E27FC236}">
                <a16:creationId xmlns:a16="http://schemas.microsoft.com/office/drawing/2014/main" id="{FC2D1C7D-9AC5-4B30-95E4-1E70E98CA75C}"/>
              </a:ext>
            </a:extLst>
          </p:cNvPr>
          <p:cNvSpPr txBox="1"/>
          <p:nvPr/>
        </p:nvSpPr>
        <p:spPr>
          <a:xfrm>
            <a:off x="377280" y="5974014"/>
            <a:ext cx="8407848" cy="646331"/>
          </a:xfrm>
          <a:prstGeom prst="rect">
            <a:avLst/>
          </a:prstGeom>
          <a:solidFill>
            <a:schemeClr val="accent2">
              <a:lumMod val="20000"/>
              <a:lumOff val="80000"/>
            </a:schemeClr>
          </a:solidFill>
        </p:spPr>
        <p:txBody>
          <a:bodyPr wrap="square">
            <a:spAutoFit/>
          </a:bodyPr>
          <a:lstStyle/>
          <a:p>
            <a:r>
              <a:rPr lang="es-MX" b="1" dirty="0"/>
              <a:t>Idea clave:</a:t>
            </a:r>
            <a:r>
              <a:rPr lang="es-MX" dirty="0"/>
              <a:t> Probar una función también es comprobar su contrato: lo que </a:t>
            </a:r>
            <a:r>
              <a:rPr lang="es-MX" b="1" dirty="0"/>
              <a:t>devuelve</a:t>
            </a:r>
            <a:r>
              <a:rPr lang="es-MX" dirty="0"/>
              <a:t> y lo que </a:t>
            </a:r>
            <a:r>
              <a:rPr lang="es-MX" b="1" dirty="0"/>
              <a:t>no cambia</a:t>
            </a:r>
            <a:r>
              <a:rPr lang="es-MX" dirty="0"/>
              <a:t>.</a:t>
            </a:r>
            <a:endParaRPr lang="es-CO" dirty="0"/>
          </a:p>
        </p:txBody>
      </p:sp>
    </p:spTree>
    <p:extLst>
      <p:ext uri="{BB962C8B-B14F-4D97-AF65-F5344CB8AC3E}">
        <p14:creationId xmlns:p14="http://schemas.microsoft.com/office/powerpoint/2010/main" val="34853262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7768" y="323392"/>
            <a:ext cx="8892480" cy="720452"/>
          </a:xfrm>
        </p:spPr>
        <p:txBody>
          <a:bodyPr>
            <a:noAutofit/>
          </a:bodyPr>
          <a:lstStyle/>
          <a:p>
            <a:r>
              <a:rPr lang="es-MX" sz="3200" dirty="0"/>
              <a:t>Caso 2: la función devuelve una lista</a:t>
            </a:r>
            <a:endParaRPr lang="es-CO" sz="3200" dirty="0"/>
          </a:p>
        </p:txBody>
      </p:sp>
      <p:sp>
        <p:nvSpPr>
          <p:cNvPr id="13" name="12 Rectángulo"/>
          <p:cNvSpPr/>
          <p:nvPr/>
        </p:nvSpPr>
        <p:spPr>
          <a:xfrm>
            <a:off x="223550" y="980728"/>
            <a:ext cx="8722681" cy="1323439"/>
          </a:xfrm>
          <a:prstGeom prst="rect">
            <a:avLst/>
          </a:prstGeom>
        </p:spPr>
        <p:txBody>
          <a:bodyPr wrap="square">
            <a:spAutoFit/>
          </a:bodyPr>
          <a:lstStyle/>
          <a:p>
            <a:pPr marL="342900" indent="-342900" rtl="0">
              <a:buFont typeface="Arial" panose="020B0604020202020204" pitchFamily="34" charset="0"/>
              <a:buChar char="•"/>
            </a:pPr>
            <a:r>
              <a:rPr lang="es-MX" sz="2000" dirty="0"/>
              <a:t>La función </a:t>
            </a:r>
            <a:r>
              <a:rPr lang="es-MX" sz="2000" b="1" dirty="0"/>
              <a:t>crea</a:t>
            </a:r>
            <a:r>
              <a:rPr lang="es-MX" sz="2000" dirty="0"/>
              <a:t> una lista nueva, la llena y la </a:t>
            </a:r>
            <a:r>
              <a:rPr lang="es-MX" sz="2000" b="1" dirty="0"/>
              <a:t>devuelve</a:t>
            </a:r>
            <a:r>
              <a:rPr lang="es-MX" sz="2000" dirty="0"/>
              <a:t> con </a:t>
            </a:r>
            <a:r>
              <a:rPr lang="es-MX" b="1" dirty="0">
                <a:latin typeface="Consolas" panose="020B0609020204030204" pitchFamily="49" charset="0"/>
              </a:rPr>
              <a:t>return</a:t>
            </a:r>
            <a:r>
              <a:rPr lang="es-MX" sz="2000" dirty="0"/>
              <a:t>.</a:t>
            </a:r>
          </a:p>
          <a:p>
            <a:pPr marL="342900" indent="-342900" rtl="0">
              <a:buFont typeface="Arial" panose="020B0604020202020204" pitchFamily="34" charset="0"/>
              <a:buChar char="•"/>
            </a:pPr>
            <a:r>
              <a:rPr lang="es-MX" sz="2000" dirty="0"/>
              <a:t>Recibe un número (</a:t>
            </a:r>
            <a:r>
              <a:rPr lang="es-MX" b="1" dirty="0">
                <a:latin typeface="Consolas" panose="020B0609020204030204" pitchFamily="49" charset="0"/>
              </a:rPr>
              <a:t>n</a:t>
            </a:r>
            <a:r>
              <a:rPr lang="es-MX" sz="2000" dirty="0"/>
              <a:t>, cuántas notas leer) y entrega una </a:t>
            </a:r>
            <a:r>
              <a:rPr lang="es-MX" sz="2000" b="1" dirty="0"/>
              <a:t>lista</a:t>
            </a:r>
            <a:r>
              <a:rPr lang="es-MX" sz="2000" dirty="0"/>
              <a:t>: es el inverso del Caso 1.</a:t>
            </a:r>
          </a:p>
          <a:p>
            <a:pPr rtl="0"/>
            <a:r>
              <a:rPr lang="es-CO" sz="2000" b="1" dirty="0"/>
              <a:t>Definición</a:t>
            </a:r>
            <a:r>
              <a:rPr lang="es-CO" sz="2000" dirty="0"/>
              <a:t>:</a:t>
            </a:r>
            <a:endParaRPr lang="es-MX" sz="2000" dirty="0"/>
          </a:p>
        </p:txBody>
      </p:sp>
      <p:sp>
        <p:nvSpPr>
          <p:cNvPr id="14" name="CuadroTexto 13">
            <a:extLst>
              <a:ext uri="{FF2B5EF4-FFF2-40B4-BE49-F238E27FC236}">
                <a16:creationId xmlns:a16="http://schemas.microsoft.com/office/drawing/2014/main" id="{D83DB4B9-95E5-4BAF-80DB-597DA250B962}"/>
              </a:ext>
            </a:extLst>
          </p:cNvPr>
          <p:cNvSpPr txBox="1"/>
          <p:nvPr/>
        </p:nvSpPr>
        <p:spPr>
          <a:xfrm>
            <a:off x="223550" y="4233072"/>
            <a:ext cx="6301358" cy="2308324"/>
          </a:xfrm>
          <a:prstGeom prst="rect">
            <a:avLst/>
          </a:prstGeom>
          <a:noFill/>
          <a:ln>
            <a:solidFill>
              <a:schemeClr val="tx1"/>
            </a:solidFill>
          </a:ln>
        </p:spPr>
        <p:txBody>
          <a:bodyPr wrap="square">
            <a:spAutoFit/>
          </a:bodyPr>
          <a:lstStyle/>
          <a:p>
            <a:r>
              <a:rPr lang="es-MX" sz="1200" dirty="0" err="1">
                <a:latin typeface="Consolas" panose="020B0609020204030204" pitchFamily="49" charset="0"/>
              </a:rPr>
              <a:t>def</a:t>
            </a:r>
            <a:r>
              <a:rPr lang="es-MX" sz="1200" dirty="0">
                <a:latin typeface="Consolas" panose="020B0609020204030204" pitchFamily="49" charset="0"/>
              </a:rPr>
              <a:t> </a:t>
            </a:r>
            <a:r>
              <a:rPr lang="es-MX" sz="1200" dirty="0" err="1">
                <a:latin typeface="Consolas" panose="020B0609020204030204" pitchFamily="49" charset="0"/>
              </a:rPr>
              <a:t>leer_notas</a:t>
            </a:r>
            <a:r>
              <a:rPr lang="es-MX" sz="1200" dirty="0">
                <a:latin typeface="Consolas" panose="020B0609020204030204" pitchFamily="49" charset="0"/>
              </a:rPr>
              <a:t>(n):</a:t>
            </a:r>
          </a:p>
          <a:p>
            <a:r>
              <a:rPr lang="es-MX" sz="1200" dirty="0">
                <a:latin typeface="Consolas" panose="020B0609020204030204" pitchFamily="49" charset="0"/>
              </a:rPr>
              <a:t>    </a:t>
            </a:r>
            <a:r>
              <a:rPr lang="es-MX" sz="1200" dirty="0">
                <a:solidFill>
                  <a:srgbClr val="00B050"/>
                </a:solidFill>
                <a:latin typeface="Consolas" panose="020B0609020204030204" pitchFamily="49" charset="0"/>
              </a:rPr>
              <a:t>"""</a:t>
            </a:r>
          </a:p>
          <a:p>
            <a:r>
              <a:rPr lang="es-MX" sz="1200" dirty="0">
                <a:solidFill>
                  <a:srgbClr val="00B050"/>
                </a:solidFill>
                <a:latin typeface="Consolas" panose="020B0609020204030204" pitchFamily="49" charset="0"/>
              </a:rPr>
              <a:t>    Supone:</a:t>
            </a:r>
          </a:p>
          <a:p>
            <a:r>
              <a:rPr lang="es-MX" sz="1200" dirty="0">
                <a:solidFill>
                  <a:srgbClr val="00B050"/>
                </a:solidFill>
                <a:latin typeface="Consolas" panose="020B0609020204030204" pitchFamily="49" charset="0"/>
              </a:rPr>
              <a:t>        n es un entero mayor que 0.</a:t>
            </a:r>
          </a:p>
          <a:p>
            <a:r>
              <a:rPr lang="es-MX" sz="1200" dirty="0">
                <a:solidFill>
                  <a:srgbClr val="00B050"/>
                </a:solidFill>
                <a:latin typeface="Consolas" panose="020B0609020204030204" pitchFamily="49" charset="0"/>
              </a:rPr>
              <a:t>    Garantiza:</a:t>
            </a:r>
          </a:p>
          <a:p>
            <a:r>
              <a:rPr lang="es-MX" sz="1200" dirty="0">
                <a:solidFill>
                  <a:srgbClr val="00B050"/>
                </a:solidFill>
                <a:latin typeface="Consolas" panose="020B0609020204030204" pitchFamily="49" charset="0"/>
              </a:rPr>
              <a:t>        Retorna una lista nueva con las n notas </a:t>
            </a:r>
            <a:r>
              <a:rPr lang="es-MX" sz="1200" dirty="0" err="1">
                <a:solidFill>
                  <a:srgbClr val="00B050"/>
                </a:solidFill>
                <a:latin typeface="Consolas" panose="020B0609020204030204" pitchFamily="49" charset="0"/>
              </a:rPr>
              <a:t>leidas</a:t>
            </a:r>
            <a:r>
              <a:rPr lang="es-MX" sz="1200" dirty="0">
                <a:solidFill>
                  <a:srgbClr val="00B050"/>
                </a:solidFill>
                <a:latin typeface="Consolas" panose="020B0609020204030204" pitchFamily="49" charset="0"/>
              </a:rPr>
              <a:t>, en el orden</a:t>
            </a:r>
          </a:p>
          <a:p>
            <a:r>
              <a:rPr lang="es-MX" sz="1200" dirty="0">
                <a:solidFill>
                  <a:srgbClr val="00B050"/>
                </a:solidFill>
                <a:latin typeface="Consolas" panose="020B0609020204030204" pitchFamily="49" charset="0"/>
              </a:rPr>
              <a:t>        en que se escribieron.</a:t>
            </a:r>
          </a:p>
          <a:p>
            <a:r>
              <a:rPr lang="es-MX" sz="1200" dirty="0">
                <a:solidFill>
                  <a:srgbClr val="00B050"/>
                </a:solidFill>
                <a:latin typeface="Consolas" panose="020B0609020204030204" pitchFamily="49" charset="0"/>
              </a:rPr>
              <a:t>    """</a:t>
            </a:r>
          </a:p>
          <a:p>
            <a:r>
              <a:rPr lang="es-MX" sz="1200" dirty="0">
                <a:latin typeface="Consolas" panose="020B0609020204030204" pitchFamily="49" charset="0"/>
              </a:rPr>
              <a:t>    notas = [0.0] * n</a:t>
            </a:r>
          </a:p>
          <a:p>
            <a:r>
              <a:rPr lang="es-MX" sz="1200" dirty="0">
                <a:latin typeface="Consolas" panose="020B0609020204030204" pitchFamily="49" charset="0"/>
              </a:rPr>
              <a:t>    </a:t>
            </a:r>
            <a:r>
              <a:rPr lang="es-MX" sz="1200" dirty="0" err="1">
                <a:latin typeface="Consolas" panose="020B0609020204030204" pitchFamily="49" charset="0"/>
              </a:rPr>
              <a:t>for</a:t>
            </a:r>
            <a:r>
              <a:rPr lang="es-MX" sz="1200" dirty="0">
                <a:latin typeface="Consolas" panose="020B0609020204030204" pitchFamily="49" charset="0"/>
              </a:rPr>
              <a:t> i in range(n):</a:t>
            </a:r>
          </a:p>
          <a:p>
            <a:r>
              <a:rPr lang="es-MX" sz="1200" dirty="0">
                <a:latin typeface="Consolas" panose="020B0609020204030204" pitchFamily="49" charset="0"/>
              </a:rPr>
              <a:t>        notas[i] = </a:t>
            </a:r>
            <a:r>
              <a:rPr lang="es-MX" sz="1200" dirty="0" err="1">
                <a:latin typeface="Consolas" panose="020B0609020204030204" pitchFamily="49" charset="0"/>
              </a:rPr>
              <a:t>float</a:t>
            </a:r>
            <a:r>
              <a:rPr lang="es-MX" sz="1200" dirty="0">
                <a:latin typeface="Consolas" panose="020B0609020204030204" pitchFamily="49" charset="0"/>
              </a:rPr>
              <a:t>(input(</a:t>
            </a:r>
            <a:r>
              <a:rPr lang="es-MX" sz="1200" dirty="0" err="1">
                <a:latin typeface="Consolas" panose="020B0609020204030204" pitchFamily="49" charset="0"/>
              </a:rPr>
              <a:t>f"Nota</a:t>
            </a:r>
            <a:r>
              <a:rPr lang="es-MX" sz="1200" dirty="0">
                <a:latin typeface="Consolas" panose="020B0609020204030204" pitchFamily="49" charset="0"/>
              </a:rPr>
              <a:t> del estudiante {i + 1}: "))</a:t>
            </a:r>
          </a:p>
          <a:p>
            <a:r>
              <a:rPr lang="es-MX" sz="1200" dirty="0">
                <a:latin typeface="Consolas" panose="020B0609020204030204" pitchFamily="49" charset="0"/>
              </a:rPr>
              <a:t>    return notas</a:t>
            </a:r>
            <a:endParaRPr lang="es-CO" sz="1200" dirty="0">
              <a:latin typeface="Consolas" panose="020B0609020204030204" pitchFamily="49" charset="0"/>
            </a:endParaRPr>
          </a:p>
        </p:txBody>
      </p:sp>
      <p:sp>
        <p:nvSpPr>
          <p:cNvPr id="11" name="CuadroTexto 10">
            <a:extLst>
              <a:ext uri="{FF2B5EF4-FFF2-40B4-BE49-F238E27FC236}">
                <a16:creationId xmlns:a16="http://schemas.microsoft.com/office/drawing/2014/main" id="{8342944E-812B-406F-A228-FBFEDB894EE5}"/>
              </a:ext>
            </a:extLst>
          </p:cNvPr>
          <p:cNvSpPr txBox="1"/>
          <p:nvPr/>
        </p:nvSpPr>
        <p:spPr>
          <a:xfrm>
            <a:off x="6804248" y="4510071"/>
            <a:ext cx="1919266" cy="1754326"/>
          </a:xfrm>
          <a:prstGeom prst="rect">
            <a:avLst/>
          </a:prstGeom>
          <a:solidFill>
            <a:schemeClr val="accent2">
              <a:lumMod val="20000"/>
              <a:lumOff val="80000"/>
            </a:schemeClr>
          </a:solidFill>
        </p:spPr>
        <p:txBody>
          <a:bodyPr wrap="square">
            <a:spAutoFit/>
          </a:bodyPr>
          <a:lstStyle/>
          <a:p>
            <a:r>
              <a:rPr lang="es-MX" b="1" dirty="0"/>
              <a:t>Aquí sí se usa </a:t>
            </a:r>
            <a:r>
              <a:rPr lang="es-MX" sz="1600" b="1" dirty="0">
                <a:latin typeface="Consolas" panose="020B0609020204030204" pitchFamily="49" charset="0"/>
              </a:rPr>
              <a:t>n</a:t>
            </a:r>
            <a:r>
              <a:rPr lang="es-MX" b="1" dirty="0"/>
              <a:t> en el range</a:t>
            </a:r>
            <a:r>
              <a:rPr lang="es-MX" dirty="0"/>
              <a:t>: la función recibe el tamaño porque la lista todavía no existe.</a:t>
            </a:r>
            <a:endParaRPr lang="es-CO" dirty="0"/>
          </a:p>
        </p:txBody>
      </p:sp>
      <p:pic>
        <p:nvPicPr>
          <p:cNvPr id="9" name="Imagen 8">
            <a:extLst>
              <a:ext uri="{FF2B5EF4-FFF2-40B4-BE49-F238E27FC236}">
                <a16:creationId xmlns:a16="http://schemas.microsoft.com/office/drawing/2014/main" id="{A409CBDF-AD10-4561-90DF-D5084E22A882}"/>
              </a:ext>
            </a:extLst>
          </p:cNvPr>
          <p:cNvPicPr>
            <a:picLocks noChangeAspect="1"/>
          </p:cNvPicPr>
          <p:nvPr/>
        </p:nvPicPr>
        <p:blipFill>
          <a:blip r:embed="rId2"/>
          <a:stretch>
            <a:fillRect/>
          </a:stretch>
        </p:blipFill>
        <p:spPr>
          <a:xfrm>
            <a:off x="2078991" y="2060848"/>
            <a:ext cx="6644523" cy="1995383"/>
          </a:xfrm>
          <a:prstGeom prst="rect">
            <a:avLst/>
          </a:prstGeom>
        </p:spPr>
      </p:pic>
    </p:spTree>
    <p:extLst>
      <p:ext uri="{BB962C8B-B14F-4D97-AF65-F5344CB8AC3E}">
        <p14:creationId xmlns:p14="http://schemas.microsoft.com/office/powerpoint/2010/main" val="25936050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7768" y="323392"/>
            <a:ext cx="8892480" cy="720452"/>
          </a:xfrm>
        </p:spPr>
        <p:txBody>
          <a:bodyPr>
            <a:noAutofit/>
          </a:bodyPr>
          <a:lstStyle/>
          <a:p>
            <a:r>
              <a:rPr lang="es-MX" sz="3200" dirty="0"/>
              <a:t>Caso 2: invocar la función</a:t>
            </a:r>
            <a:endParaRPr lang="es-CO" sz="3200" dirty="0"/>
          </a:p>
        </p:txBody>
      </p:sp>
      <p:sp>
        <p:nvSpPr>
          <p:cNvPr id="13" name="12 Rectángulo"/>
          <p:cNvSpPr/>
          <p:nvPr/>
        </p:nvSpPr>
        <p:spPr>
          <a:xfrm>
            <a:off x="53752" y="1043844"/>
            <a:ext cx="9036496" cy="3477875"/>
          </a:xfrm>
          <a:prstGeom prst="rect">
            <a:avLst/>
          </a:prstGeom>
        </p:spPr>
        <p:txBody>
          <a:bodyPr wrap="square">
            <a:spAutoFit/>
          </a:bodyPr>
          <a:lstStyle/>
          <a:p>
            <a:pPr marL="342900" indent="-342900" rtl="0">
              <a:buFont typeface="Arial" panose="020B0604020202020204" pitchFamily="34" charset="0"/>
              <a:buChar char="•"/>
            </a:pPr>
            <a:r>
              <a:rPr lang="es-MX" sz="2000" dirty="0"/>
              <a:t>El resultado se guarda en una variable: </a:t>
            </a:r>
            <a:r>
              <a:rPr lang="es-MX" b="1" dirty="0">
                <a:latin typeface="Consolas" panose="020B0609020204030204" pitchFamily="49" charset="0"/>
              </a:rPr>
              <a:t>lista_notas = </a:t>
            </a:r>
            <a:r>
              <a:rPr lang="es-MX" b="1" dirty="0" err="1">
                <a:latin typeface="Consolas" panose="020B0609020204030204" pitchFamily="49" charset="0"/>
              </a:rPr>
              <a:t>leer_notas</a:t>
            </a:r>
            <a:r>
              <a:rPr lang="es-MX" b="1" dirty="0">
                <a:latin typeface="Consolas" panose="020B0609020204030204" pitchFamily="49" charset="0"/>
              </a:rPr>
              <a:t>(4)</a:t>
            </a:r>
            <a:r>
              <a:rPr lang="es-MX" sz="2000" dirty="0"/>
              <a:t>.</a:t>
            </a:r>
          </a:p>
          <a:p>
            <a:pPr marL="342900" indent="-342900" rtl="0">
              <a:buFont typeface="Arial" panose="020B0604020202020204" pitchFamily="34" charset="0"/>
              <a:buChar char="•"/>
            </a:pPr>
            <a:r>
              <a:rPr lang="es-MX" sz="2000" dirty="0"/>
              <a:t>La lista se creó </a:t>
            </a:r>
            <a:r>
              <a:rPr lang="es-MX" sz="2000" b="1" dirty="0"/>
              <a:t>dentro</a:t>
            </a:r>
            <a:r>
              <a:rPr lang="es-MX" sz="2000" dirty="0"/>
              <a:t> de la función, pero no se pierde: el </a:t>
            </a:r>
            <a:r>
              <a:rPr lang="es-MX" dirty="0">
                <a:latin typeface="Consolas" panose="020B0609020204030204" pitchFamily="49" charset="0"/>
              </a:rPr>
              <a:t>return</a:t>
            </a:r>
            <a:r>
              <a:rPr lang="es-MX" sz="2000" dirty="0"/>
              <a:t> la entrega afuera.</a:t>
            </a: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rtl="0"/>
            <a:r>
              <a:rPr lang="es-CO" sz="2000" b="1" dirty="0"/>
              <a:t>Programa</a:t>
            </a:r>
            <a:r>
              <a:rPr lang="es-CO" sz="2000" dirty="0"/>
              <a:t> (</a:t>
            </a:r>
            <a:r>
              <a:rPr lang="es-CO" sz="2000" dirty="0">
                <a:hlinkClick r:id="rId2"/>
              </a:rPr>
              <a:t>simulación</a:t>
            </a:r>
            <a:r>
              <a:rPr lang="es-CO" sz="2000" dirty="0"/>
              <a:t>) y </a:t>
            </a:r>
            <a:r>
              <a:rPr lang="es-CO" sz="2000" b="1" dirty="0"/>
              <a:t>Salida</a:t>
            </a:r>
            <a:r>
              <a:rPr lang="es-CO" sz="2000" dirty="0"/>
              <a:t>:</a:t>
            </a:r>
          </a:p>
        </p:txBody>
      </p:sp>
      <p:grpSp>
        <p:nvGrpSpPr>
          <p:cNvPr id="17" name="Grupo 16">
            <a:extLst>
              <a:ext uri="{FF2B5EF4-FFF2-40B4-BE49-F238E27FC236}">
                <a16:creationId xmlns:a16="http://schemas.microsoft.com/office/drawing/2014/main" id="{B158AAA3-2AE9-45E7-A15B-05261B722A8D}"/>
              </a:ext>
            </a:extLst>
          </p:cNvPr>
          <p:cNvGrpSpPr/>
          <p:nvPr/>
        </p:nvGrpSpPr>
        <p:grpSpPr>
          <a:xfrm>
            <a:off x="479044" y="4820959"/>
            <a:ext cx="4392488" cy="954107"/>
            <a:chOff x="395536" y="5181870"/>
            <a:chExt cx="4392488" cy="954107"/>
          </a:xfrm>
        </p:grpSpPr>
        <p:sp>
          <p:nvSpPr>
            <p:cNvPr id="14" name="CuadroTexto 13">
              <a:extLst>
                <a:ext uri="{FF2B5EF4-FFF2-40B4-BE49-F238E27FC236}">
                  <a16:creationId xmlns:a16="http://schemas.microsoft.com/office/drawing/2014/main" id="{D83DB4B9-95E5-4BAF-80DB-597DA250B962}"/>
                </a:ext>
              </a:extLst>
            </p:cNvPr>
            <p:cNvSpPr txBox="1"/>
            <p:nvPr/>
          </p:nvSpPr>
          <p:spPr>
            <a:xfrm>
              <a:off x="395536" y="5551202"/>
              <a:ext cx="4392488" cy="584775"/>
            </a:xfrm>
            <a:prstGeom prst="rect">
              <a:avLst/>
            </a:prstGeom>
            <a:noFill/>
            <a:ln>
              <a:solidFill>
                <a:schemeClr val="tx1"/>
              </a:solidFill>
            </a:ln>
          </p:spPr>
          <p:txBody>
            <a:bodyPr wrap="square">
              <a:spAutoFit/>
            </a:bodyPr>
            <a:lstStyle/>
            <a:p>
              <a:r>
                <a:rPr lang="es-MX" sz="1600" dirty="0">
                  <a:latin typeface="Consolas" panose="020B0609020204030204" pitchFamily="49" charset="0"/>
                </a:rPr>
                <a:t>lista_notas = </a:t>
              </a:r>
              <a:r>
                <a:rPr lang="es-MX" sz="1600" dirty="0" err="1">
                  <a:latin typeface="Consolas" panose="020B0609020204030204" pitchFamily="49" charset="0"/>
                </a:rPr>
                <a:t>leer_notas</a:t>
              </a:r>
              <a:r>
                <a:rPr lang="es-MX" sz="1600" dirty="0">
                  <a:latin typeface="Consolas" panose="020B0609020204030204" pitchFamily="49" charset="0"/>
                </a:rPr>
                <a:t>(4)</a:t>
              </a:r>
            </a:p>
            <a:p>
              <a:r>
                <a:rPr lang="es-MX" sz="1600" dirty="0">
                  <a:latin typeface="Consolas" panose="020B0609020204030204" pitchFamily="49" charset="0"/>
                </a:rPr>
                <a:t>print(lista_notas)</a:t>
              </a:r>
              <a:endParaRPr lang="es-CO" sz="1600" dirty="0">
                <a:latin typeface="Consolas" panose="020B0609020204030204" pitchFamily="49" charset="0"/>
              </a:endParaRPr>
            </a:p>
          </p:txBody>
        </p:sp>
        <p:sp>
          <p:nvSpPr>
            <p:cNvPr id="15" name="CuadroTexto 14">
              <a:extLst>
                <a:ext uri="{FF2B5EF4-FFF2-40B4-BE49-F238E27FC236}">
                  <a16:creationId xmlns:a16="http://schemas.microsoft.com/office/drawing/2014/main" id="{CF56D24B-40D9-41CA-ABED-D45E1BC37163}"/>
                </a:ext>
              </a:extLst>
            </p:cNvPr>
            <p:cNvSpPr txBox="1"/>
            <p:nvPr/>
          </p:nvSpPr>
          <p:spPr>
            <a:xfrm>
              <a:off x="1665176" y="5181870"/>
              <a:ext cx="2122139" cy="369332"/>
            </a:xfrm>
            <a:prstGeom prst="rect">
              <a:avLst/>
            </a:prstGeom>
            <a:noFill/>
          </p:spPr>
          <p:txBody>
            <a:bodyPr wrap="square">
              <a:spAutoFit/>
            </a:bodyPr>
            <a:lstStyle/>
            <a:p>
              <a:pPr algn="ctr"/>
              <a:r>
                <a:rPr lang="es-CO" sz="1800" b="1" dirty="0"/>
                <a:t>Código invocación</a:t>
              </a:r>
              <a:endParaRPr lang="es-CO" dirty="0"/>
            </a:p>
          </p:txBody>
        </p:sp>
      </p:grpSp>
      <p:grpSp>
        <p:nvGrpSpPr>
          <p:cNvPr id="10" name="Grupo 9">
            <a:extLst>
              <a:ext uri="{FF2B5EF4-FFF2-40B4-BE49-F238E27FC236}">
                <a16:creationId xmlns:a16="http://schemas.microsoft.com/office/drawing/2014/main" id="{B062751E-C1F6-4679-8C1D-B24500DB7C3A}"/>
              </a:ext>
            </a:extLst>
          </p:cNvPr>
          <p:cNvGrpSpPr/>
          <p:nvPr/>
        </p:nvGrpSpPr>
        <p:grpSpPr>
          <a:xfrm>
            <a:off x="5572555" y="4236520"/>
            <a:ext cx="3092401" cy="1727325"/>
            <a:chOff x="5292080" y="5393537"/>
            <a:chExt cx="3092401" cy="1727325"/>
          </a:xfrm>
        </p:grpSpPr>
        <p:sp>
          <p:nvSpPr>
            <p:cNvPr id="12" name="CuadroTexto 11">
              <a:extLst>
                <a:ext uri="{FF2B5EF4-FFF2-40B4-BE49-F238E27FC236}">
                  <a16:creationId xmlns:a16="http://schemas.microsoft.com/office/drawing/2014/main" id="{FFBB13D0-A5A5-4F77-92E3-DD746E6EE6FA}"/>
                </a:ext>
              </a:extLst>
            </p:cNvPr>
            <p:cNvSpPr txBox="1"/>
            <p:nvPr/>
          </p:nvSpPr>
          <p:spPr>
            <a:xfrm>
              <a:off x="5292080" y="5797423"/>
              <a:ext cx="3092401" cy="1323439"/>
            </a:xfrm>
            <a:prstGeom prst="rect">
              <a:avLst/>
            </a:prstGeom>
            <a:noFill/>
            <a:ln>
              <a:solidFill>
                <a:schemeClr val="tx1"/>
              </a:solidFill>
            </a:ln>
          </p:spPr>
          <p:txBody>
            <a:bodyPr wrap="square">
              <a:spAutoFit/>
            </a:bodyPr>
            <a:lstStyle/>
            <a:p>
              <a:r>
                <a:rPr lang="es-MX" sz="1600" dirty="0">
                  <a:latin typeface="Consolas" panose="020B0609020204030204" pitchFamily="49" charset="0"/>
                </a:rPr>
                <a:t>Nota del estudiante 1: 3.0</a:t>
              </a:r>
            </a:p>
            <a:p>
              <a:r>
                <a:rPr lang="es-MX" sz="1600" dirty="0">
                  <a:latin typeface="Consolas" panose="020B0609020204030204" pitchFamily="49" charset="0"/>
                </a:rPr>
                <a:t>Nota del estudiante 2: 4.5</a:t>
              </a:r>
            </a:p>
            <a:p>
              <a:r>
                <a:rPr lang="es-MX" sz="1600" dirty="0">
                  <a:latin typeface="Consolas" panose="020B0609020204030204" pitchFamily="49" charset="0"/>
                </a:rPr>
                <a:t>Nota del estudiante 3: 2.0</a:t>
              </a:r>
            </a:p>
            <a:p>
              <a:r>
                <a:rPr lang="es-MX" sz="1600" dirty="0">
                  <a:latin typeface="Consolas" panose="020B0609020204030204" pitchFamily="49" charset="0"/>
                </a:rPr>
                <a:t>Nota del estudiante 4: 4.0</a:t>
              </a:r>
            </a:p>
            <a:p>
              <a:r>
                <a:rPr lang="es-MX" sz="1600" dirty="0">
                  <a:latin typeface="Consolas" panose="020B0609020204030204" pitchFamily="49" charset="0"/>
                </a:rPr>
                <a:t>[3.0, 4.5, 2.0, 4.0]</a:t>
              </a:r>
              <a:endParaRPr lang="es-CO" sz="1600" dirty="0">
                <a:latin typeface="Consolas" panose="020B0609020204030204" pitchFamily="49" charset="0"/>
              </a:endParaRPr>
            </a:p>
          </p:txBody>
        </p:sp>
        <p:sp>
          <p:nvSpPr>
            <p:cNvPr id="16" name="CuadroTexto 15">
              <a:extLst>
                <a:ext uri="{FF2B5EF4-FFF2-40B4-BE49-F238E27FC236}">
                  <a16:creationId xmlns:a16="http://schemas.microsoft.com/office/drawing/2014/main" id="{570FD75F-14BE-4FEC-B3BC-BB612F9BCB91}"/>
                </a:ext>
              </a:extLst>
            </p:cNvPr>
            <p:cNvSpPr txBox="1"/>
            <p:nvPr/>
          </p:nvSpPr>
          <p:spPr>
            <a:xfrm>
              <a:off x="5777210" y="5393537"/>
              <a:ext cx="2122139" cy="369332"/>
            </a:xfrm>
            <a:prstGeom prst="rect">
              <a:avLst/>
            </a:prstGeom>
            <a:noFill/>
          </p:spPr>
          <p:txBody>
            <a:bodyPr wrap="square">
              <a:spAutoFit/>
            </a:bodyPr>
            <a:lstStyle/>
            <a:p>
              <a:pPr algn="ctr"/>
              <a:r>
                <a:rPr lang="es-CO" sz="1800" b="1" dirty="0"/>
                <a:t>Salida en pantalla</a:t>
              </a:r>
              <a:endParaRPr lang="es-CO" dirty="0"/>
            </a:p>
          </p:txBody>
        </p:sp>
      </p:grpSp>
      <p:sp>
        <p:nvSpPr>
          <p:cNvPr id="21" name="CuadroTexto 20">
            <a:extLst>
              <a:ext uri="{FF2B5EF4-FFF2-40B4-BE49-F238E27FC236}">
                <a16:creationId xmlns:a16="http://schemas.microsoft.com/office/drawing/2014/main" id="{7D1DDB98-F25C-42DB-B3E6-4F0B4A970EF2}"/>
              </a:ext>
            </a:extLst>
          </p:cNvPr>
          <p:cNvSpPr txBox="1"/>
          <p:nvPr/>
        </p:nvSpPr>
        <p:spPr>
          <a:xfrm>
            <a:off x="0" y="6239053"/>
            <a:ext cx="9144000" cy="646331"/>
          </a:xfrm>
          <a:prstGeom prst="rect">
            <a:avLst/>
          </a:prstGeom>
          <a:solidFill>
            <a:schemeClr val="accent2">
              <a:lumMod val="20000"/>
              <a:lumOff val="80000"/>
            </a:schemeClr>
          </a:solidFill>
        </p:spPr>
        <p:txBody>
          <a:bodyPr wrap="square">
            <a:spAutoFit/>
          </a:bodyPr>
          <a:lstStyle/>
          <a:p>
            <a:r>
              <a:rPr lang="es-MX" b="1" dirty="0"/>
              <a:t>Observación: </a:t>
            </a:r>
            <a:r>
              <a:rPr lang="es-MX" sz="1600" b="1" dirty="0" err="1">
                <a:latin typeface="Consolas" panose="020B0609020204030204" pitchFamily="49" charset="0"/>
              </a:rPr>
              <a:t>leer_notas</a:t>
            </a:r>
            <a:r>
              <a:rPr lang="es-MX" dirty="0"/>
              <a:t> usa </a:t>
            </a:r>
            <a:r>
              <a:rPr lang="es-MX" sz="1600" b="1" dirty="0">
                <a:latin typeface="Consolas" panose="020B0609020204030204" pitchFamily="49" charset="0"/>
              </a:rPr>
              <a:t>input()</a:t>
            </a:r>
            <a:r>
              <a:rPr lang="es-MX" dirty="0"/>
              <a:t>, así que no se prueba con </a:t>
            </a:r>
            <a:r>
              <a:rPr lang="es-MX" sz="1600" b="1" dirty="0" err="1">
                <a:latin typeface="Consolas" panose="020B0609020204030204" pitchFamily="49" charset="0"/>
              </a:rPr>
              <a:t>assert</a:t>
            </a:r>
            <a:r>
              <a:rPr lang="es-MX" b="1" dirty="0"/>
              <a:t>.</a:t>
            </a:r>
            <a:r>
              <a:rPr lang="es-MX" dirty="0"/>
              <a:t> Recuerde que las funciones de entrada y salida se prueban ejecutando el programa.</a:t>
            </a:r>
            <a:endParaRPr lang="es-CO" dirty="0"/>
          </a:p>
        </p:txBody>
      </p:sp>
      <p:pic>
        <p:nvPicPr>
          <p:cNvPr id="6" name="Imagen 5">
            <a:extLst>
              <a:ext uri="{FF2B5EF4-FFF2-40B4-BE49-F238E27FC236}">
                <a16:creationId xmlns:a16="http://schemas.microsoft.com/office/drawing/2014/main" id="{937593DC-4205-4304-8954-E3D37EEC548F}"/>
              </a:ext>
            </a:extLst>
          </p:cNvPr>
          <p:cNvPicPr>
            <a:picLocks noChangeAspect="1"/>
          </p:cNvPicPr>
          <p:nvPr/>
        </p:nvPicPr>
        <p:blipFill>
          <a:blip r:embed="rId3"/>
          <a:stretch>
            <a:fillRect/>
          </a:stretch>
        </p:blipFill>
        <p:spPr>
          <a:xfrm>
            <a:off x="827584" y="2154065"/>
            <a:ext cx="7128792" cy="1835897"/>
          </a:xfrm>
          <a:prstGeom prst="rect">
            <a:avLst/>
          </a:prstGeom>
        </p:spPr>
      </p:pic>
    </p:spTree>
    <p:extLst>
      <p:ext uri="{BB962C8B-B14F-4D97-AF65-F5344CB8AC3E}">
        <p14:creationId xmlns:p14="http://schemas.microsoft.com/office/powerpoint/2010/main" val="36004053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7768" y="323392"/>
            <a:ext cx="8892480" cy="720452"/>
          </a:xfrm>
        </p:spPr>
        <p:txBody>
          <a:bodyPr>
            <a:noAutofit/>
          </a:bodyPr>
          <a:lstStyle/>
          <a:p>
            <a:r>
              <a:rPr lang="es-MX" sz="3200" dirty="0"/>
              <a:t>Caso 3: la función modifica la lista que recibe</a:t>
            </a:r>
            <a:endParaRPr lang="es-CO" sz="3200" dirty="0"/>
          </a:p>
        </p:txBody>
      </p:sp>
      <p:sp>
        <p:nvSpPr>
          <p:cNvPr id="13" name="12 Rectángulo"/>
          <p:cNvSpPr/>
          <p:nvPr/>
        </p:nvSpPr>
        <p:spPr>
          <a:xfrm>
            <a:off x="223550" y="980728"/>
            <a:ext cx="8722681" cy="1323439"/>
          </a:xfrm>
          <a:prstGeom prst="rect">
            <a:avLst/>
          </a:prstGeom>
        </p:spPr>
        <p:txBody>
          <a:bodyPr wrap="square">
            <a:spAutoFit/>
          </a:bodyPr>
          <a:lstStyle/>
          <a:p>
            <a:pPr marL="342900" indent="-342900" rtl="0">
              <a:buFont typeface="Arial" panose="020B0604020202020204" pitchFamily="34" charset="0"/>
              <a:buChar char="•"/>
            </a:pPr>
            <a:r>
              <a:rPr lang="es-MX" sz="2000" dirty="0"/>
              <a:t>La función </a:t>
            </a:r>
            <a:r>
              <a:rPr lang="es-MX" sz="2000" b="1" dirty="0"/>
              <a:t>cambia las casillas</a:t>
            </a:r>
            <a:r>
              <a:rPr lang="es-MX" sz="2000" dirty="0"/>
              <a:t> de la lista que recibe y </a:t>
            </a:r>
            <a:r>
              <a:rPr lang="es-MX" sz="2000" b="1" dirty="0"/>
              <a:t>no devuelve nada</a:t>
            </a:r>
            <a:r>
              <a:rPr lang="es-MX" sz="2000" dirty="0"/>
              <a:t>.</a:t>
            </a:r>
          </a:p>
          <a:p>
            <a:pPr marL="342900" indent="-342900" rtl="0">
              <a:buFont typeface="Arial" panose="020B0604020202020204" pitchFamily="34" charset="0"/>
              <a:buChar char="•"/>
            </a:pPr>
            <a:r>
              <a:rPr lang="es-MX" sz="2000" dirty="0"/>
              <a:t>Su </a:t>
            </a:r>
            <a:r>
              <a:rPr lang="es-MX" sz="2000" b="1" dirty="0"/>
              <a:t>Garantiza</a:t>
            </a:r>
            <a:r>
              <a:rPr lang="es-MX" sz="2000" dirty="0"/>
              <a:t> debe decirlo claramente: </a:t>
            </a:r>
            <a:r>
              <a:rPr lang="es-MX" sz="2000" b="1" dirty="0"/>
              <a:t>MODIFICA</a:t>
            </a:r>
            <a:r>
              <a:rPr lang="es-MX" sz="2000" dirty="0"/>
              <a:t> la lista.</a:t>
            </a:r>
          </a:p>
          <a:p>
            <a:pPr rtl="0"/>
            <a:endParaRPr lang="es-CO" sz="2000" b="1" dirty="0"/>
          </a:p>
          <a:p>
            <a:pPr rtl="0"/>
            <a:r>
              <a:rPr lang="es-CO" sz="2000" b="1" dirty="0"/>
              <a:t>Definición</a:t>
            </a:r>
            <a:r>
              <a:rPr lang="es-CO" sz="2000" dirty="0"/>
              <a:t>:</a:t>
            </a:r>
            <a:endParaRPr lang="es-MX" sz="2000" dirty="0"/>
          </a:p>
        </p:txBody>
      </p:sp>
      <p:sp>
        <p:nvSpPr>
          <p:cNvPr id="14" name="CuadroTexto 13">
            <a:extLst>
              <a:ext uri="{FF2B5EF4-FFF2-40B4-BE49-F238E27FC236}">
                <a16:creationId xmlns:a16="http://schemas.microsoft.com/office/drawing/2014/main" id="{D83DB4B9-95E5-4BAF-80DB-597DA250B962}"/>
              </a:ext>
            </a:extLst>
          </p:cNvPr>
          <p:cNvSpPr txBox="1"/>
          <p:nvPr/>
        </p:nvSpPr>
        <p:spPr>
          <a:xfrm>
            <a:off x="223550" y="4048406"/>
            <a:ext cx="6301358" cy="2677656"/>
          </a:xfrm>
          <a:prstGeom prst="rect">
            <a:avLst/>
          </a:prstGeom>
          <a:noFill/>
          <a:ln>
            <a:solidFill>
              <a:schemeClr val="tx1"/>
            </a:solidFill>
          </a:ln>
        </p:spPr>
        <p:txBody>
          <a:bodyPr wrap="square">
            <a:spAutoFit/>
          </a:bodyPr>
          <a:lstStyle/>
          <a:p>
            <a:r>
              <a:rPr lang="es-MX" sz="1200" dirty="0">
                <a:latin typeface="Consolas" panose="020B0609020204030204" pitchFamily="49" charset="0"/>
              </a:rPr>
              <a:t>NOTA_MAXIMA = 5.0</a:t>
            </a:r>
          </a:p>
          <a:p>
            <a:endParaRPr lang="es-MX" sz="1200" dirty="0">
              <a:latin typeface="Consolas" panose="020B0609020204030204" pitchFamily="49" charset="0"/>
            </a:endParaRPr>
          </a:p>
          <a:p>
            <a:r>
              <a:rPr lang="es-MX" sz="1200" dirty="0" err="1">
                <a:latin typeface="Consolas" panose="020B0609020204030204" pitchFamily="49" charset="0"/>
              </a:rPr>
              <a:t>def</a:t>
            </a:r>
            <a:r>
              <a:rPr lang="es-MX" sz="1200" dirty="0">
                <a:latin typeface="Consolas" panose="020B0609020204030204" pitchFamily="49" charset="0"/>
              </a:rPr>
              <a:t> </a:t>
            </a:r>
            <a:r>
              <a:rPr lang="es-MX" sz="1200" dirty="0" err="1">
                <a:latin typeface="Consolas" panose="020B0609020204030204" pitchFamily="49" charset="0"/>
              </a:rPr>
              <a:t>aplicar_bonificacion</a:t>
            </a:r>
            <a:r>
              <a:rPr lang="es-MX" sz="1200" dirty="0">
                <a:latin typeface="Consolas" panose="020B0609020204030204" pitchFamily="49" charset="0"/>
              </a:rPr>
              <a:t>(notas, puntos):</a:t>
            </a:r>
          </a:p>
          <a:p>
            <a:r>
              <a:rPr lang="es-MX" sz="1200" dirty="0">
                <a:latin typeface="Consolas" panose="020B0609020204030204" pitchFamily="49" charset="0"/>
              </a:rPr>
              <a:t>    </a:t>
            </a:r>
            <a:r>
              <a:rPr lang="es-MX" sz="1200" dirty="0">
                <a:solidFill>
                  <a:srgbClr val="00B050"/>
                </a:solidFill>
                <a:latin typeface="Consolas" panose="020B0609020204030204" pitchFamily="49" charset="0"/>
              </a:rPr>
              <a:t>"""</a:t>
            </a:r>
          </a:p>
          <a:p>
            <a:r>
              <a:rPr lang="es-MX" sz="1200" dirty="0">
                <a:solidFill>
                  <a:srgbClr val="00B050"/>
                </a:solidFill>
                <a:latin typeface="Consolas" panose="020B0609020204030204" pitchFamily="49" charset="0"/>
              </a:rPr>
              <a:t>    Supone:</a:t>
            </a:r>
          </a:p>
          <a:p>
            <a:r>
              <a:rPr lang="es-MX" sz="1200" dirty="0">
                <a:solidFill>
                  <a:srgbClr val="00B050"/>
                </a:solidFill>
                <a:latin typeface="Consolas" panose="020B0609020204030204" pitchFamily="49" charset="0"/>
              </a:rPr>
              <a:t>        notas es una lista de </a:t>
            </a:r>
            <a:r>
              <a:rPr lang="es-MX" sz="1200" dirty="0" err="1">
                <a:solidFill>
                  <a:srgbClr val="00B050"/>
                </a:solidFill>
                <a:latin typeface="Consolas" panose="020B0609020204030204" pitchFamily="49" charset="0"/>
              </a:rPr>
              <a:t>numeros</a:t>
            </a:r>
            <a:r>
              <a:rPr lang="es-MX" sz="1200" dirty="0">
                <a:solidFill>
                  <a:srgbClr val="00B050"/>
                </a:solidFill>
                <a:latin typeface="Consolas" panose="020B0609020204030204" pitchFamily="49" charset="0"/>
              </a:rPr>
              <a:t> entre 0.0 y 5.0, y puntos &gt;= 0.</a:t>
            </a:r>
          </a:p>
          <a:p>
            <a:r>
              <a:rPr lang="es-MX" sz="1200" dirty="0">
                <a:solidFill>
                  <a:srgbClr val="00B050"/>
                </a:solidFill>
                <a:latin typeface="Consolas" panose="020B0609020204030204" pitchFamily="49" charset="0"/>
              </a:rPr>
              <a:t>    Garantiza:</a:t>
            </a:r>
          </a:p>
          <a:p>
            <a:r>
              <a:rPr lang="es-MX" sz="1200" dirty="0">
                <a:solidFill>
                  <a:srgbClr val="00B050"/>
                </a:solidFill>
                <a:latin typeface="Consolas" panose="020B0609020204030204" pitchFamily="49" charset="0"/>
              </a:rPr>
              <a:t>        MODIFICA la lista notas: a cada nota le suma puntos, y si el</a:t>
            </a:r>
          </a:p>
          <a:p>
            <a:r>
              <a:rPr lang="es-MX" sz="1200" dirty="0">
                <a:solidFill>
                  <a:srgbClr val="00B050"/>
                </a:solidFill>
                <a:latin typeface="Consolas" panose="020B0609020204030204" pitchFamily="49" charset="0"/>
              </a:rPr>
              <a:t>        resultado pasa de 5.0, la deja en 5.0. No retorna nada.</a:t>
            </a:r>
          </a:p>
          <a:p>
            <a:r>
              <a:rPr lang="es-MX" sz="1200" dirty="0">
                <a:solidFill>
                  <a:srgbClr val="00B050"/>
                </a:solidFill>
                <a:latin typeface="Consolas" panose="020B0609020204030204" pitchFamily="49" charset="0"/>
              </a:rPr>
              <a:t>    """</a:t>
            </a:r>
          </a:p>
          <a:p>
            <a:r>
              <a:rPr lang="es-MX" sz="1200" dirty="0">
                <a:latin typeface="Consolas" panose="020B0609020204030204" pitchFamily="49" charset="0"/>
              </a:rPr>
              <a:t>    </a:t>
            </a:r>
            <a:r>
              <a:rPr lang="es-MX" sz="1200" dirty="0" err="1">
                <a:latin typeface="Consolas" panose="020B0609020204030204" pitchFamily="49" charset="0"/>
              </a:rPr>
              <a:t>for</a:t>
            </a:r>
            <a:r>
              <a:rPr lang="es-MX" sz="1200" dirty="0">
                <a:latin typeface="Consolas" panose="020B0609020204030204" pitchFamily="49" charset="0"/>
              </a:rPr>
              <a:t> i in range(len(notas)):</a:t>
            </a:r>
          </a:p>
          <a:p>
            <a:r>
              <a:rPr lang="es-MX" sz="1200" dirty="0">
                <a:latin typeface="Consolas" panose="020B0609020204030204" pitchFamily="49" charset="0"/>
              </a:rPr>
              <a:t>        notas[i] = notas[i] + puntos</a:t>
            </a:r>
          </a:p>
          <a:p>
            <a:r>
              <a:rPr lang="es-MX" sz="1200" dirty="0">
                <a:latin typeface="Consolas" panose="020B0609020204030204" pitchFamily="49" charset="0"/>
              </a:rPr>
              <a:t>        </a:t>
            </a:r>
            <a:r>
              <a:rPr lang="es-MX" sz="1200" dirty="0" err="1">
                <a:latin typeface="Consolas" panose="020B0609020204030204" pitchFamily="49" charset="0"/>
              </a:rPr>
              <a:t>if</a:t>
            </a:r>
            <a:r>
              <a:rPr lang="es-MX" sz="1200" dirty="0">
                <a:latin typeface="Consolas" panose="020B0609020204030204" pitchFamily="49" charset="0"/>
              </a:rPr>
              <a:t> notas[i] &gt; NOTA_MAXIMA:</a:t>
            </a:r>
          </a:p>
          <a:p>
            <a:r>
              <a:rPr lang="es-MX" sz="1200" dirty="0">
                <a:latin typeface="Consolas" panose="020B0609020204030204" pitchFamily="49" charset="0"/>
              </a:rPr>
              <a:t>            notas[i] = NOTA_MAXIMA</a:t>
            </a:r>
            <a:endParaRPr lang="es-CO" sz="1200" dirty="0">
              <a:latin typeface="Consolas" panose="020B0609020204030204" pitchFamily="49" charset="0"/>
            </a:endParaRPr>
          </a:p>
        </p:txBody>
      </p:sp>
      <p:sp>
        <p:nvSpPr>
          <p:cNvPr id="11" name="CuadroTexto 10">
            <a:extLst>
              <a:ext uri="{FF2B5EF4-FFF2-40B4-BE49-F238E27FC236}">
                <a16:creationId xmlns:a16="http://schemas.microsoft.com/office/drawing/2014/main" id="{8342944E-812B-406F-A228-FBFEDB894EE5}"/>
              </a:ext>
            </a:extLst>
          </p:cNvPr>
          <p:cNvSpPr txBox="1"/>
          <p:nvPr/>
        </p:nvSpPr>
        <p:spPr>
          <a:xfrm>
            <a:off x="6804248" y="4371571"/>
            <a:ext cx="1919266" cy="2031325"/>
          </a:xfrm>
          <a:prstGeom prst="rect">
            <a:avLst/>
          </a:prstGeom>
          <a:solidFill>
            <a:schemeClr val="accent2">
              <a:lumMod val="20000"/>
              <a:lumOff val="80000"/>
            </a:schemeClr>
          </a:solidFill>
        </p:spPr>
        <p:txBody>
          <a:bodyPr wrap="square">
            <a:spAutoFit/>
          </a:bodyPr>
          <a:lstStyle/>
          <a:p>
            <a:r>
              <a:rPr lang="es-MX" dirty="0"/>
              <a:t>Compare el </a:t>
            </a:r>
            <a:r>
              <a:rPr lang="es-MX" b="1" dirty="0"/>
              <a:t>Garantiza</a:t>
            </a:r>
            <a:r>
              <a:rPr lang="es-MX" dirty="0"/>
              <a:t> con el del Caso 1: allá decía </a:t>
            </a:r>
            <a:r>
              <a:rPr lang="es-MX" i="1" dirty="0"/>
              <a:t>“No modifica notas”</a:t>
            </a:r>
            <a:r>
              <a:rPr lang="es-MX" dirty="0"/>
              <a:t>; aquí dice </a:t>
            </a:r>
            <a:r>
              <a:rPr lang="es-MX" b="1" i="1" dirty="0"/>
              <a:t>“MODIFICA”</a:t>
            </a:r>
            <a:r>
              <a:rPr lang="es-MX" dirty="0"/>
              <a:t>.</a:t>
            </a:r>
            <a:endParaRPr lang="es-CO" dirty="0"/>
          </a:p>
        </p:txBody>
      </p:sp>
      <p:pic>
        <p:nvPicPr>
          <p:cNvPr id="3" name="Imagen 2">
            <a:extLst>
              <a:ext uri="{FF2B5EF4-FFF2-40B4-BE49-F238E27FC236}">
                <a16:creationId xmlns:a16="http://schemas.microsoft.com/office/drawing/2014/main" id="{D007A412-5129-41FD-8AB6-168DC12BBCD8}"/>
              </a:ext>
            </a:extLst>
          </p:cNvPr>
          <p:cNvPicPr>
            <a:picLocks noChangeAspect="1"/>
          </p:cNvPicPr>
          <p:nvPr/>
        </p:nvPicPr>
        <p:blipFill>
          <a:blip r:embed="rId2"/>
          <a:stretch>
            <a:fillRect/>
          </a:stretch>
        </p:blipFill>
        <p:spPr>
          <a:xfrm>
            <a:off x="1777639" y="1848011"/>
            <a:ext cx="7142811" cy="2149778"/>
          </a:xfrm>
          <a:prstGeom prst="rect">
            <a:avLst/>
          </a:prstGeom>
        </p:spPr>
      </p:pic>
    </p:spTree>
    <p:extLst>
      <p:ext uri="{BB962C8B-B14F-4D97-AF65-F5344CB8AC3E}">
        <p14:creationId xmlns:p14="http://schemas.microsoft.com/office/powerpoint/2010/main" val="18656051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7768" y="188640"/>
            <a:ext cx="8892480" cy="855204"/>
          </a:xfrm>
        </p:spPr>
        <p:txBody>
          <a:bodyPr>
            <a:noAutofit/>
          </a:bodyPr>
          <a:lstStyle/>
          <a:p>
            <a:r>
              <a:rPr lang="es-MX" sz="2800" dirty="0"/>
              <a:t>Caso 3: invocar la función. ¿Por qué cambió la lista afuera?</a:t>
            </a:r>
            <a:endParaRPr lang="es-CO" sz="2800" dirty="0"/>
          </a:p>
        </p:txBody>
      </p:sp>
      <p:sp>
        <p:nvSpPr>
          <p:cNvPr id="13" name="12 Rectángulo"/>
          <p:cNvSpPr/>
          <p:nvPr/>
        </p:nvSpPr>
        <p:spPr>
          <a:xfrm>
            <a:off x="53752" y="1043844"/>
            <a:ext cx="9036496" cy="3477875"/>
          </a:xfrm>
          <a:prstGeom prst="rect">
            <a:avLst/>
          </a:prstGeom>
        </p:spPr>
        <p:txBody>
          <a:bodyPr wrap="square">
            <a:spAutoFit/>
          </a:bodyPr>
          <a:lstStyle/>
          <a:p>
            <a:pPr marL="342900" indent="-342900" rtl="0">
              <a:buFont typeface="Arial" panose="020B0604020202020204" pitchFamily="34" charset="0"/>
              <a:buChar char="•"/>
            </a:pPr>
            <a:r>
              <a:rPr lang="es-MX" sz="2000" dirty="0"/>
              <a:t>La llamada no se asigna a ninguna variable, porque no hay </a:t>
            </a:r>
            <a:r>
              <a:rPr lang="es-MX" b="1" dirty="0">
                <a:latin typeface="Consolas" panose="020B0609020204030204" pitchFamily="49" charset="0"/>
              </a:rPr>
              <a:t>return</a:t>
            </a:r>
            <a:r>
              <a:rPr lang="es-MX" sz="2000" dirty="0"/>
              <a:t>: </a:t>
            </a:r>
            <a:r>
              <a:rPr lang="es-MX" b="1" dirty="0" err="1">
                <a:latin typeface="Consolas" panose="020B0609020204030204" pitchFamily="49" charset="0"/>
              </a:rPr>
              <a:t>aplicar_bonificacion</a:t>
            </a:r>
            <a:r>
              <a:rPr lang="es-MX" b="1" dirty="0">
                <a:latin typeface="Consolas" panose="020B0609020204030204" pitchFamily="49" charset="0"/>
              </a:rPr>
              <a:t>(lista_notas, 0.5)</a:t>
            </a:r>
            <a:r>
              <a:rPr lang="es-MX" sz="2000" dirty="0"/>
              <a:t>.</a:t>
            </a:r>
          </a:p>
          <a:p>
            <a:pPr marL="342900" indent="-342900" rtl="0">
              <a:buFont typeface="Arial" panose="020B0604020202020204" pitchFamily="34" charset="0"/>
              <a:buChar char="•"/>
            </a:pPr>
            <a:r>
              <a:rPr lang="es-MX" sz="2000" dirty="0"/>
              <a:t>Adentro, </a:t>
            </a:r>
            <a:r>
              <a:rPr lang="es-MX" b="1" dirty="0">
                <a:latin typeface="Consolas" panose="020B0609020204030204" pitchFamily="49" charset="0"/>
              </a:rPr>
              <a:t>notas</a:t>
            </a:r>
            <a:r>
              <a:rPr lang="es-MX" sz="2000" dirty="0"/>
              <a:t> es un alias de </a:t>
            </a:r>
            <a:r>
              <a:rPr lang="es-MX" b="1" dirty="0">
                <a:latin typeface="Consolas" panose="020B0609020204030204" pitchFamily="49" charset="0"/>
              </a:rPr>
              <a:t>lista_notas</a:t>
            </a:r>
            <a:r>
              <a:rPr lang="es-MX" sz="2000" dirty="0"/>
              <a:t> (Asignar una lista no la copia). Por eso lo que la función cambia en notas se ve afuera.</a:t>
            </a: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marL="342900" indent="-342900" rtl="0">
              <a:buFont typeface="Arial" panose="020B0604020202020204" pitchFamily="34" charset="0"/>
              <a:buChar char="•"/>
            </a:pPr>
            <a:endParaRPr lang="es-MX" sz="2000" b="1" dirty="0"/>
          </a:p>
          <a:p>
            <a:pPr rtl="0"/>
            <a:endParaRPr lang="es-CO" sz="2000" b="1" dirty="0"/>
          </a:p>
          <a:p>
            <a:pPr rtl="0"/>
            <a:r>
              <a:rPr lang="es-CO" sz="2000" b="1" dirty="0"/>
              <a:t>Programa</a:t>
            </a:r>
            <a:r>
              <a:rPr lang="es-CO" sz="2000" dirty="0"/>
              <a:t> (</a:t>
            </a:r>
            <a:r>
              <a:rPr lang="es-CO" sz="2000" dirty="0">
                <a:hlinkClick r:id="rId2"/>
              </a:rPr>
              <a:t>simulación</a:t>
            </a:r>
            <a:r>
              <a:rPr lang="es-CO" sz="2000" dirty="0"/>
              <a:t>) y </a:t>
            </a:r>
            <a:r>
              <a:rPr lang="es-CO" sz="2000" b="1" dirty="0"/>
              <a:t>Salida</a:t>
            </a:r>
            <a:r>
              <a:rPr lang="es-CO" sz="2000" dirty="0"/>
              <a:t>:</a:t>
            </a:r>
          </a:p>
        </p:txBody>
      </p:sp>
      <p:grpSp>
        <p:nvGrpSpPr>
          <p:cNvPr id="17" name="Grupo 16">
            <a:extLst>
              <a:ext uri="{FF2B5EF4-FFF2-40B4-BE49-F238E27FC236}">
                <a16:creationId xmlns:a16="http://schemas.microsoft.com/office/drawing/2014/main" id="{B158AAA3-2AE9-45E7-A15B-05261B722A8D}"/>
              </a:ext>
            </a:extLst>
          </p:cNvPr>
          <p:cNvGrpSpPr/>
          <p:nvPr/>
        </p:nvGrpSpPr>
        <p:grpSpPr>
          <a:xfrm>
            <a:off x="479044" y="4489151"/>
            <a:ext cx="4452996" cy="1446550"/>
            <a:chOff x="395536" y="5181870"/>
            <a:chExt cx="4125631" cy="1446550"/>
          </a:xfrm>
        </p:grpSpPr>
        <p:sp>
          <p:nvSpPr>
            <p:cNvPr id="14" name="CuadroTexto 13">
              <a:extLst>
                <a:ext uri="{FF2B5EF4-FFF2-40B4-BE49-F238E27FC236}">
                  <a16:creationId xmlns:a16="http://schemas.microsoft.com/office/drawing/2014/main" id="{D83DB4B9-95E5-4BAF-80DB-597DA250B962}"/>
                </a:ext>
              </a:extLst>
            </p:cNvPr>
            <p:cNvSpPr txBox="1"/>
            <p:nvPr/>
          </p:nvSpPr>
          <p:spPr>
            <a:xfrm>
              <a:off x="395536" y="5551202"/>
              <a:ext cx="4125631" cy="1077218"/>
            </a:xfrm>
            <a:prstGeom prst="rect">
              <a:avLst/>
            </a:prstGeom>
            <a:noFill/>
            <a:ln>
              <a:solidFill>
                <a:schemeClr val="tx1"/>
              </a:solidFill>
            </a:ln>
          </p:spPr>
          <p:txBody>
            <a:bodyPr wrap="square">
              <a:spAutoFit/>
            </a:bodyPr>
            <a:lstStyle/>
            <a:p>
              <a:r>
                <a:rPr lang="es-MX" sz="1600" dirty="0">
                  <a:latin typeface="Consolas" panose="020B0609020204030204" pitchFamily="49" charset="0"/>
                </a:rPr>
                <a:t>lista_notas = [3.0, 4.5, 2.0, 4.0]</a:t>
              </a:r>
            </a:p>
            <a:p>
              <a:r>
                <a:rPr lang="es-MX" sz="1600" dirty="0">
                  <a:latin typeface="Consolas" panose="020B0609020204030204" pitchFamily="49" charset="0"/>
                </a:rPr>
                <a:t>print("Antes: ", lista_notas)</a:t>
              </a:r>
            </a:p>
            <a:p>
              <a:r>
                <a:rPr lang="es-MX" sz="1600" dirty="0" err="1">
                  <a:latin typeface="Consolas" panose="020B0609020204030204" pitchFamily="49" charset="0"/>
                </a:rPr>
                <a:t>aplicar_bonificacion</a:t>
              </a:r>
              <a:r>
                <a:rPr lang="es-MX" sz="1600" dirty="0">
                  <a:latin typeface="Consolas" panose="020B0609020204030204" pitchFamily="49" charset="0"/>
                </a:rPr>
                <a:t>(lista_notas, 0.5)</a:t>
              </a:r>
            </a:p>
            <a:p>
              <a:r>
                <a:rPr lang="es-MX" sz="1600" dirty="0">
                  <a:latin typeface="Consolas" panose="020B0609020204030204" pitchFamily="49" charset="0"/>
                </a:rPr>
                <a:t>print("</a:t>
              </a:r>
              <a:r>
                <a:rPr lang="es-MX" sz="1600" dirty="0" err="1">
                  <a:latin typeface="Consolas" panose="020B0609020204030204" pitchFamily="49" charset="0"/>
                </a:rPr>
                <a:t>Despues</a:t>
              </a:r>
              <a:r>
                <a:rPr lang="es-MX" sz="1600" dirty="0">
                  <a:latin typeface="Consolas" panose="020B0609020204030204" pitchFamily="49" charset="0"/>
                </a:rPr>
                <a:t>:", lista_notas)</a:t>
              </a:r>
              <a:endParaRPr lang="es-CO" sz="1600" dirty="0">
                <a:latin typeface="Consolas" panose="020B0609020204030204" pitchFamily="49" charset="0"/>
              </a:endParaRPr>
            </a:p>
          </p:txBody>
        </p:sp>
        <p:sp>
          <p:nvSpPr>
            <p:cNvPr id="15" name="CuadroTexto 14">
              <a:extLst>
                <a:ext uri="{FF2B5EF4-FFF2-40B4-BE49-F238E27FC236}">
                  <a16:creationId xmlns:a16="http://schemas.microsoft.com/office/drawing/2014/main" id="{CF56D24B-40D9-41CA-ABED-D45E1BC37163}"/>
                </a:ext>
              </a:extLst>
            </p:cNvPr>
            <p:cNvSpPr txBox="1"/>
            <p:nvPr/>
          </p:nvSpPr>
          <p:spPr>
            <a:xfrm>
              <a:off x="1665176" y="5181870"/>
              <a:ext cx="2122139" cy="369332"/>
            </a:xfrm>
            <a:prstGeom prst="rect">
              <a:avLst/>
            </a:prstGeom>
            <a:noFill/>
          </p:spPr>
          <p:txBody>
            <a:bodyPr wrap="square">
              <a:spAutoFit/>
            </a:bodyPr>
            <a:lstStyle/>
            <a:p>
              <a:pPr algn="ctr"/>
              <a:r>
                <a:rPr lang="es-CO" sz="1800" b="1" dirty="0"/>
                <a:t>Código invocación</a:t>
              </a:r>
              <a:endParaRPr lang="es-CO" dirty="0"/>
            </a:p>
          </p:txBody>
        </p:sp>
      </p:grpSp>
      <p:grpSp>
        <p:nvGrpSpPr>
          <p:cNvPr id="10" name="Grupo 9">
            <a:extLst>
              <a:ext uri="{FF2B5EF4-FFF2-40B4-BE49-F238E27FC236}">
                <a16:creationId xmlns:a16="http://schemas.microsoft.com/office/drawing/2014/main" id="{B062751E-C1F6-4679-8C1D-B24500DB7C3A}"/>
              </a:ext>
            </a:extLst>
          </p:cNvPr>
          <p:cNvGrpSpPr/>
          <p:nvPr/>
        </p:nvGrpSpPr>
        <p:grpSpPr>
          <a:xfrm>
            <a:off x="5292080" y="4673817"/>
            <a:ext cx="3528391" cy="988661"/>
            <a:chOff x="5011605" y="5393537"/>
            <a:chExt cx="3528391" cy="988661"/>
          </a:xfrm>
        </p:grpSpPr>
        <p:sp>
          <p:nvSpPr>
            <p:cNvPr id="12" name="CuadroTexto 11">
              <a:extLst>
                <a:ext uri="{FF2B5EF4-FFF2-40B4-BE49-F238E27FC236}">
                  <a16:creationId xmlns:a16="http://schemas.microsoft.com/office/drawing/2014/main" id="{FFBB13D0-A5A5-4F77-92E3-DD746E6EE6FA}"/>
                </a:ext>
              </a:extLst>
            </p:cNvPr>
            <p:cNvSpPr txBox="1"/>
            <p:nvPr/>
          </p:nvSpPr>
          <p:spPr>
            <a:xfrm>
              <a:off x="5011605" y="5797423"/>
              <a:ext cx="3528391" cy="584775"/>
            </a:xfrm>
            <a:prstGeom prst="rect">
              <a:avLst/>
            </a:prstGeom>
            <a:noFill/>
            <a:ln>
              <a:solidFill>
                <a:schemeClr val="tx1"/>
              </a:solidFill>
            </a:ln>
          </p:spPr>
          <p:txBody>
            <a:bodyPr wrap="square">
              <a:spAutoFit/>
            </a:bodyPr>
            <a:lstStyle/>
            <a:p>
              <a:r>
                <a:rPr lang="es-MX" sz="1600" dirty="0">
                  <a:latin typeface="Consolas" panose="020B0609020204030204" pitchFamily="49" charset="0"/>
                </a:rPr>
                <a:t>Antes:   [3.0, 4.5, 2.0, 4.0]</a:t>
              </a:r>
            </a:p>
            <a:p>
              <a:r>
                <a:rPr lang="es-MX" sz="1600" dirty="0" err="1">
                  <a:latin typeface="Consolas" panose="020B0609020204030204" pitchFamily="49" charset="0"/>
                </a:rPr>
                <a:t>Despues</a:t>
              </a:r>
              <a:r>
                <a:rPr lang="es-MX" sz="1600" dirty="0">
                  <a:latin typeface="Consolas" panose="020B0609020204030204" pitchFamily="49" charset="0"/>
                </a:rPr>
                <a:t>: [3.5, 5.0, 2.5, 4.5]</a:t>
              </a:r>
              <a:endParaRPr lang="es-CO" sz="1600" dirty="0">
                <a:latin typeface="Consolas" panose="020B0609020204030204" pitchFamily="49" charset="0"/>
              </a:endParaRPr>
            </a:p>
          </p:txBody>
        </p:sp>
        <p:sp>
          <p:nvSpPr>
            <p:cNvPr id="16" name="CuadroTexto 15">
              <a:extLst>
                <a:ext uri="{FF2B5EF4-FFF2-40B4-BE49-F238E27FC236}">
                  <a16:creationId xmlns:a16="http://schemas.microsoft.com/office/drawing/2014/main" id="{570FD75F-14BE-4FEC-B3BC-BB612F9BCB91}"/>
                </a:ext>
              </a:extLst>
            </p:cNvPr>
            <p:cNvSpPr txBox="1"/>
            <p:nvPr/>
          </p:nvSpPr>
          <p:spPr>
            <a:xfrm>
              <a:off x="5777210" y="5393537"/>
              <a:ext cx="2122139" cy="369332"/>
            </a:xfrm>
            <a:prstGeom prst="rect">
              <a:avLst/>
            </a:prstGeom>
            <a:noFill/>
          </p:spPr>
          <p:txBody>
            <a:bodyPr wrap="square">
              <a:spAutoFit/>
            </a:bodyPr>
            <a:lstStyle/>
            <a:p>
              <a:pPr algn="ctr"/>
              <a:r>
                <a:rPr lang="es-CO" sz="1800" b="1" dirty="0"/>
                <a:t>Salida en pantalla</a:t>
              </a:r>
              <a:endParaRPr lang="es-CO" dirty="0"/>
            </a:p>
          </p:txBody>
        </p:sp>
      </p:grpSp>
      <p:sp>
        <p:nvSpPr>
          <p:cNvPr id="21" name="CuadroTexto 20">
            <a:extLst>
              <a:ext uri="{FF2B5EF4-FFF2-40B4-BE49-F238E27FC236}">
                <a16:creationId xmlns:a16="http://schemas.microsoft.com/office/drawing/2014/main" id="{7D1DDB98-F25C-42DB-B3E6-4F0B4A970EF2}"/>
              </a:ext>
            </a:extLst>
          </p:cNvPr>
          <p:cNvSpPr txBox="1"/>
          <p:nvPr/>
        </p:nvSpPr>
        <p:spPr>
          <a:xfrm>
            <a:off x="0" y="6239053"/>
            <a:ext cx="9144000" cy="646331"/>
          </a:xfrm>
          <a:prstGeom prst="rect">
            <a:avLst/>
          </a:prstGeom>
          <a:solidFill>
            <a:schemeClr val="accent2">
              <a:lumMod val="20000"/>
              <a:lumOff val="80000"/>
            </a:schemeClr>
          </a:solidFill>
        </p:spPr>
        <p:txBody>
          <a:bodyPr wrap="square">
            <a:spAutoFit/>
          </a:bodyPr>
          <a:lstStyle/>
          <a:p>
            <a:r>
              <a:rPr lang="es-MX" b="1" dirty="0"/>
              <a:t>Observación: </a:t>
            </a:r>
            <a:r>
              <a:rPr lang="es-MX" dirty="0"/>
              <a:t>Si no se quiere modificar la original, se pasa un clon: </a:t>
            </a:r>
            <a:r>
              <a:rPr lang="es-MX" sz="1600" b="1" dirty="0" err="1">
                <a:latin typeface="Consolas" panose="020B0609020204030204" pitchFamily="49" charset="0"/>
              </a:rPr>
              <a:t>aplicar_bonificacion</a:t>
            </a:r>
            <a:r>
              <a:rPr lang="es-MX" sz="1600" b="1" dirty="0">
                <a:latin typeface="Consolas" panose="020B0609020204030204" pitchFamily="49" charset="0"/>
              </a:rPr>
              <a:t>(lista_notas[:], 0.5)</a:t>
            </a:r>
            <a:r>
              <a:rPr lang="es-MX" dirty="0"/>
              <a:t>.</a:t>
            </a:r>
            <a:endParaRPr lang="es-CO" dirty="0"/>
          </a:p>
        </p:txBody>
      </p:sp>
      <p:pic>
        <p:nvPicPr>
          <p:cNvPr id="9" name="Imagen 8">
            <a:extLst>
              <a:ext uri="{FF2B5EF4-FFF2-40B4-BE49-F238E27FC236}">
                <a16:creationId xmlns:a16="http://schemas.microsoft.com/office/drawing/2014/main" id="{A19EBD76-A6D3-4A05-BE83-1E12837A8427}"/>
              </a:ext>
            </a:extLst>
          </p:cNvPr>
          <p:cNvPicPr>
            <a:picLocks noChangeAspect="1"/>
          </p:cNvPicPr>
          <p:nvPr/>
        </p:nvPicPr>
        <p:blipFill>
          <a:blip r:embed="rId3"/>
          <a:stretch>
            <a:fillRect/>
          </a:stretch>
        </p:blipFill>
        <p:spPr>
          <a:xfrm>
            <a:off x="479044" y="2349856"/>
            <a:ext cx="8109633" cy="1802531"/>
          </a:xfrm>
          <a:prstGeom prst="rect">
            <a:avLst/>
          </a:prstGeom>
        </p:spPr>
      </p:pic>
    </p:spTree>
    <p:extLst>
      <p:ext uri="{BB962C8B-B14F-4D97-AF65-F5344CB8AC3E}">
        <p14:creationId xmlns:p14="http://schemas.microsoft.com/office/powerpoint/2010/main" val="39028628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Caso 3: probar la función</a:t>
            </a:r>
            <a:endParaRPr lang="es-CO" sz="3600" dirty="0"/>
          </a:p>
        </p:txBody>
      </p:sp>
      <p:sp>
        <p:nvSpPr>
          <p:cNvPr id="13" name="12 Rectángulo"/>
          <p:cNvSpPr/>
          <p:nvPr/>
        </p:nvSpPr>
        <p:spPr>
          <a:xfrm>
            <a:off x="269193" y="749017"/>
            <a:ext cx="8640960" cy="3170099"/>
          </a:xfrm>
          <a:prstGeom prst="rect">
            <a:avLst/>
          </a:prstGeom>
        </p:spPr>
        <p:txBody>
          <a:bodyPr wrap="square">
            <a:spAutoFit/>
          </a:bodyPr>
          <a:lstStyle/>
          <a:p>
            <a:pPr rtl="0"/>
            <a:r>
              <a:rPr lang="es-CO" sz="2000" b="1" dirty="0"/>
              <a:t>Pruebas</a:t>
            </a:r>
            <a:r>
              <a:rPr lang="es-CO" sz="2000" dirty="0"/>
              <a:t> (</a:t>
            </a:r>
            <a:r>
              <a:rPr lang="es-CO" sz="2000" dirty="0">
                <a:hlinkClick r:id="rId2"/>
              </a:rPr>
              <a:t>simulación</a:t>
            </a:r>
            <a:r>
              <a:rPr lang="es-CO" sz="2000" dirty="0"/>
              <a:t>):</a:t>
            </a:r>
          </a:p>
          <a:p>
            <a:pPr rtl="0"/>
            <a:endParaRPr lang="es-CO" sz="2000" dirty="0"/>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endParaRPr lang="es-CO" sz="2000" b="1" dirty="0">
              <a:latin typeface="Consolas" panose="020B0609020204030204" pitchFamily="49" charset="0"/>
            </a:endParaRPr>
          </a:p>
          <a:p>
            <a:pPr rtl="0"/>
            <a:r>
              <a:rPr lang="es-MX" sz="2000" b="1" dirty="0"/>
              <a:t>Tabla de casos de prueba:</a:t>
            </a:r>
            <a:endParaRPr lang="es-MX" sz="2000" b="1" dirty="0">
              <a:latin typeface="Consolas" panose="020B0609020204030204" pitchFamily="49" charset="0"/>
            </a:endParaRPr>
          </a:p>
        </p:txBody>
      </p:sp>
      <p:sp>
        <p:nvSpPr>
          <p:cNvPr id="9" name="CuadroTexto 8">
            <a:extLst>
              <a:ext uri="{FF2B5EF4-FFF2-40B4-BE49-F238E27FC236}">
                <a16:creationId xmlns:a16="http://schemas.microsoft.com/office/drawing/2014/main" id="{D6F819BF-8F43-40F3-8FDE-ED1EE531B97F}"/>
              </a:ext>
            </a:extLst>
          </p:cNvPr>
          <p:cNvSpPr txBox="1"/>
          <p:nvPr/>
        </p:nvSpPr>
        <p:spPr>
          <a:xfrm>
            <a:off x="377280" y="1196752"/>
            <a:ext cx="8497527" cy="2292935"/>
          </a:xfrm>
          <a:prstGeom prst="rect">
            <a:avLst/>
          </a:prstGeom>
          <a:noFill/>
          <a:ln>
            <a:solidFill>
              <a:schemeClr val="tx1"/>
            </a:solidFill>
          </a:ln>
        </p:spPr>
        <p:txBody>
          <a:bodyPr wrap="square">
            <a:spAutoFit/>
          </a:bodyPr>
          <a:lstStyle/>
          <a:p>
            <a:r>
              <a:rPr lang="es-MX" sz="1300" dirty="0">
                <a:latin typeface="Consolas" panose="020B0609020204030204" pitchFamily="49" charset="0"/>
              </a:rPr>
              <a:t>datos = [3.0, 4.5, 2.0, 4.0]</a:t>
            </a:r>
          </a:p>
          <a:p>
            <a:r>
              <a:rPr lang="es-MX" sz="1300" dirty="0" err="1">
                <a:latin typeface="Consolas" panose="020B0609020204030204" pitchFamily="49" charset="0"/>
              </a:rPr>
              <a:t>aplicar_bonificacion</a:t>
            </a:r>
            <a:r>
              <a:rPr lang="es-MX" sz="1300" dirty="0">
                <a:latin typeface="Consolas" panose="020B0609020204030204" pitchFamily="49" charset="0"/>
              </a:rPr>
              <a:t>(datos, 0.5)</a:t>
            </a:r>
          </a:p>
          <a:p>
            <a:r>
              <a:rPr lang="es-MX" sz="1300" dirty="0" err="1">
                <a:latin typeface="Consolas" panose="020B0609020204030204" pitchFamily="49" charset="0"/>
              </a:rPr>
              <a:t>assert</a:t>
            </a:r>
            <a:r>
              <a:rPr lang="es-MX" sz="1300" dirty="0">
                <a:latin typeface="Consolas" panose="020B0609020204030204" pitchFamily="49" charset="0"/>
              </a:rPr>
              <a:t> datos == [3.5, 5.0, 2.5, 4.5]      # </a:t>
            </a:r>
            <a:r>
              <a:rPr lang="es-MX" sz="1300" dirty="0" err="1">
                <a:latin typeface="Consolas" panose="020B0609020204030204" pitchFamily="49" charset="0"/>
              </a:rPr>
              <a:t>tipico</a:t>
            </a:r>
            <a:r>
              <a:rPr lang="es-MX" sz="1300" dirty="0">
                <a:latin typeface="Consolas" panose="020B0609020204030204" pitchFamily="49" charset="0"/>
              </a:rPr>
              <a:t>; 4.5 + 0.5 = 5.0 (limite)</a:t>
            </a:r>
          </a:p>
          <a:p>
            <a:endParaRPr lang="es-MX" sz="1300" dirty="0">
              <a:latin typeface="Consolas" panose="020B0609020204030204" pitchFamily="49" charset="0"/>
            </a:endParaRPr>
          </a:p>
          <a:p>
            <a:r>
              <a:rPr lang="es-MX" sz="1300" dirty="0">
                <a:latin typeface="Consolas" panose="020B0609020204030204" pitchFamily="49" charset="0"/>
              </a:rPr>
              <a:t>datos = [4.8, 1.0]</a:t>
            </a:r>
          </a:p>
          <a:p>
            <a:r>
              <a:rPr lang="es-MX" sz="1300" dirty="0" err="1">
                <a:latin typeface="Consolas" panose="020B0609020204030204" pitchFamily="49" charset="0"/>
              </a:rPr>
              <a:t>aplicar_bonificacion</a:t>
            </a:r>
            <a:r>
              <a:rPr lang="es-MX" sz="1300" dirty="0">
                <a:latin typeface="Consolas" panose="020B0609020204030204" pitchFamily="49" charset="0"/>
              </a:rPr>
              <a:t>(datos, 0.5)</a:t>
            </a:r>
          </a:p>
          <a:p>
            <a:r>
              <a:rPr lang="es-MX" sz="1300" dirty="0" err="1">
                <a:latin typeface="Consolas" panose="020B0609020204030204" pitchFamily="49" charset="0"/>
              </a:rPr>
              <a:t>assert</a:t>
            </a:r>
            <a:r>
              <a:rPr lang="es-MX" sz="1300" dirty="0">
                <a:latin typeface="Consolas" panose="020B0609020204030204" pitchFamily="49" charset="0"/>
              </a:rPr>
              <a:t> datos == [5.0, 1.5]                # especial: 4.8 + 0.5 pasa de 5.0</a:t>
            </a:r>
          </a:p>
          <a:p>
            <a:endParaRPr lang="es-MX" sz="1300" dirty="0">
              <a:latin typeface="Consolas" panose="020B0609020204030204" pitchFamily="49" charset="0"/>
            </a:endParaRPr>
          </a:p>
          <a:p>
            <a:r>
              <a:rPr lang="es-MX" sz="1300" dirty="0">
                <a:latin typeface="Consolas" panose="020B0609020204030204" pitchFamily="49" charset="0"/>
              </a:rPr>
              <a:t>datos = [3.0, 4.5]</a:t>
            </a:r>
          </a:p>
          <a:p>
            <a:r>
              <a:rPr lang="es-MX" sz="1300" dirty="0" err="1">
                <a:latin typeface="Consolas" panose="020B0609020204030204" pitchFamily="49" charset="0"/>
              </a:rPr>
              <a:t>aplicar_bonificacion</a:t>
            </a:r>
            <a:r>
              <a:rPr lang="es-MX" sz="1300" dirty="0">
                <a:latin typeface="Consolas" panose="020B0609020204030204" pitchFamily="49" charset="0"/>
              </a:rPr>
              <a:t>(datos, 0)</a:t>
            </a:r>
          </a:p>
          <a:p>
            <a:r>
              <a:rPr lang="es-MX" sz="1300" dirty="0" err="1">
                <a:latin typeface="Consolas" panose="020B0609020204030204" pitchFamily="49" charset="0"/>
              </a:rPr>
              <a:t>assert</a:t>
            </a:r>
            <a:r>
              <a:rPr lang="es-MX" sz="1300" dirty="0">
                <a:latin typeface="Consolas" panose="020B0609020204030204" pitchFamily="49" charset="0"/>
              </a:rPr>
              <a:t> datos == [3.0, 4.5]                # sin </a:t>
            </a:r>
            <a:r>
              <a:rPr lang="es-MX" sz="1300" dirty="0" err="1">
                <a:latin typeface="Consolas" panose="020B0609020204030204" pitchFamily="49" charset="0"/>
              </a:rPr>
              <a:t>bonificacion</a:t>
            </a:r>
            <a:r>
              <a:rPr lang="es-MX" sz="1300" dirty="0">
                <a:latin typeface="Consolas" panose="020B0609020204030204" pitchFamily="49" charset="0"/>
              </a:rPr>
              <a:t> no cambia</a:t>
            </a:r>
          </a:p>
        </p:txBody>
      </p:sp>
      <p:sp>
        <p:nvSpPr>
          <p:cNvPr id="10" name="CuadroTexto 9">
            <a:extLst>
              <a:ext uri="{FF2B5EF4-FFF2-40B4-BE49-F238E27FC236}">
                <a16:creationId xmlns:a16="http://schemas.microsoft.com/office/drawing/2014/main" id="{FC2D1C7D-9AC5-4B30-95E4-1E70E98CA75C}"/>
              </a:ext>
            </a:extLst>
          </p:cNvPr>
          <p:cNvSpPr txBox="1"/>
          <p:nvPr/>
        </p:nvSpPr>
        <p:spPr>
          <a:xfrm>
            <a:off x="277081" y="6095037"/>
            <a:ext cx="8633072" cy="646331"/>
          </a:xfrm>
          <a:prstGeom prst="rect">
            <a:avLst/>
          </a:prstGeom>
          <a:solidFill>
            <a:schemeClr val="accent2">
              <a:lumMod val="20000"/>
              <a:lumOff val="80000"/>
            </a:schemeClr>
          </a:solidFill>
        </p:spPr>
        <p:txBody>
          <a:bodyPr wrap="square">
            <a:spAutoFit/>
          </a:bodyPr>
          <a:lstStyle/>
          <a:p>
            <a:r>
              <a:rPr lang="es-MX" b="1" dirty="0"/>
              <a:t>Idea clave: </a:t>
            </a:r>
            <a:r>
              <a:rPr lang="es-MX" dirty="0"/>
              <a:t>Para probar una función que modifica una lista: llamar, y luego comparar la lista con </a:t>
            </a:r>
            <a:r>
              <a:rPr lang="es-MX" b="1" dirty="0">
                <a:latin typeface="Consolas" panose="020B0609020204030204" pitchFamily="49" charset="0"/>
              </a:rPr>
              <a:t>==</a:t>
            </a:r>
            <a:r>
              <a:rPr lang="es-MX" dirty="0"/>
              <a:t>.</a:t>
            </a:r>
            <a:endParaRPr lang="es-CO" dirty="0"/>
          </a:p>
        </p:txBody>
      </p:sp>
      <p:graphicFrame>
        <p:nvGraphicFramePr>
          <p:cNvPr id="3" name="Tabla 2">
            <a:extLst>
              <a:ext uri="{FF2B5EF4-FFF2-40B4-BE49-F238E27FC236}">
                <a16:creationId xmlns:a16="http://schemas.microsoft.com/office/drawing/2014/main" id="{99C50657-46CD-4F49-88D4-52AE44A0E71E}"/>
              </a:ext>
            </a:extLst>
          </p:cNvPr>
          <p:cNvGraphicFramePr>
            <a:graphicFrameLocks noGrp="1"/>
          </p:cNvGraphicFramePr>
          <p:nvPr>
            <p:extLst>
              <p:ext uri="{D42A27DB-BD31-4B8C-83A1-F6EECF244321}">
                <p14:modId xmlns:p14="http://schemas.microsoft.com/office/powerpoint/2010/main" val="3757880015"/>
              </p:ext>
            </p:extLst>
          </p:nvPr>
        </p:nvGraphicFramePr>
        <p:xfrm>
          <a:off x="184378" y="3876640"/>
          <a:ext cx="8810589" cy="2072640"/>
        </p:xfrm>
        <a:graphic>
          <a:graphicData uri="http://schemas.openxmlformats.org/drawingml/2006/table">
            <a:tbl>
              <a:tblPr/>
              <a:tblGrid>
                <a:gridCol w="1133913">
                  <a:extLst>
                    <a:ext uri="{9D8B030D-6E8A-4147-A177-3AD203B41FA5}">
                      <a16:colId xmlns:a16="http://schemas.microsoft.com/office/drawing/2014/main" val="1493911740"/>
                    </a:ext>
                  </a:extLst>
                </a:gridCol>
                <a:gridCol w="1949768">
                  <a:extLst>
                    <a:ext uri="{9D8B030D-6E8A-4147-A177-3AD203B41FA5}">
                      <a16:colId xmlns:a16="http://schemas.microsoft.com/office/drawing/2014/main" val="3448097407"/>
                    </a:ext>
                  </a:extLst>
                </a:gridCol>
                <a:gridCol w="779679">
                  <a:extLst>
                    <a:ext uri="{9D8B030D-6E8A-4147-A177-3AD203B41FA5}">
                      <a16:colId xmlns:a16="http://schemas.microsoft.com/office/drawing/2014/main" val="4187034291"/>
                    </a:ext>
                  </a:extLst>
                </a:gridCol>
                <a:gridCol w="1949768">
                  <a:extLst>
                    <a:ext uri="{9D8B030D-6E8A-4147-A177-3AD203B41FA5}">
                      <a16:colId xmlns:a16="http://schemas.microsoft.com/office/drawing/2014/main" val="3806241179"/>
                    </a:ext>
                  </a:extLst>
                </a:gridCol>
                <a:gridCol w="2997461">
                  <a:extLst>
                    <a:ext uri="{9D8B030D-6E8A-4147-A177-3AD203B41FA5}">
                      <a16:colId xmlns:a16="http://schemas.microsoft.com/office/drawing/2014/main" val="1480651399"/>
                    </a:ext>
                  </a:extLst>
                </a:gridCol>
              </a:tblGrid>
              <a:tr h="278275">
                <a:tc>
                  <a:txBody>
                    <a:bodyPr/>
                    <a:lstStyle/>
                    <a:p>
                      <a:r>
                        <a:rPr lang="es-CO" sz="1600" b="1"/>
                        <a:t>Caso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Lista antes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puntos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Lista después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Por qué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4168699643"/>
                  </a:ext>
                </a:extLst>
              </a:tr>
              <a:tr h="480656">
                <a:tc>
                  <a:txBody>
                    <a:bodyPr/>
                    <a:lstStyle/>
                    <a:p>
                      <a:r>
                        <a:rPr lang="es-CO" sz="1600"/>
                        <a:t>Típico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[3.0, 4.5, 2.0,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[3.5, 5.0, 2.5, 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El ejemplo de la clase. 4.5 + 0.5 llega </a:t>
                      </a:r>
                      <a:r>
                        <a:rPr lang="es-MX" sz="1600" b="1"/>
                        <a:t>justo</a:t>
                      </a:r>
                      <a:r>
                        <a:rPr lang="es-MX" sz="1600"/>
                        <a:t> a 5.0 (límite)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4679982"/>
                  </a:ext>
                </a:extLst>
              </a:tr>
              <a:tr h="480656">
                <a:tc>
                  <a:txBody>
                    <a:bodyPr/>
                    <a:lstStyle/>
                    <a:p>
                      <a:r>
                        <a:rPr lang="es-CO" sz="1600"/>
                        <a:t>Especial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[4.8,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[5.0, 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4.8 + 0.5 = 5.3 </a:t>
                      </a:r>
                      <a:r>
                        <a:rPr lang="es-MX" sz="1600" b="1"/>
                        <a:t>pasa</a:t>
                      </a:r>
                      <a:r>
                        <a:rPr lang="es-MX" sz="1600"/>
                        <a:t> de 5.0 y se recorta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7062768"/>
                  </a:ext>
                </a:extLst>
              </a:tr>
              <a:tr h="480656">
                <a:tc>
                  <a:txBody>
                    <a:bodyPr/>
                    <a:lstStyle/>
                    <a:p>
                      <a:r>
                        <a:rPr lang="es-CO" sz="1600"/>
                        <a:t>Sin cambio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[3.0, 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[3.0, 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Sin bonificación, la lista queda igual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7091446"/>
                  </a:ext>
                </a:extLst>
              </a:tr>
            </a:tbl>
          </a:graphicData>
        </a:graphic>
      </p:graphicFrame>
    </p:spTree>
    <p:extLst>
      <p:ext uri="{BB962C8B-B14F-4D97-AF65-F5344CB8AC3E}">
        <p14:creationId xmlns:p14="http://schemas.microsoft.com/office/powerpoint/2010/main" val="24564963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Resumen de los 3 casos</a:t>
            </a:r>
            <a:endParaRPr lang="es-CO" sz="3600" dirty="0"/>
          </a:p>
        </p:txBody>
      </p:sp>
      <p:sp>
        <p:nvSpPr>
          <p:cNvPr id="13" name="12 Rectángulo"/>
          <p:cNvSpPr/>
          <p:nvPr/>
        </p:nvSpPr>
        <p:spPr>
          <a:xfrm>
            <a:off x="251520" y="5666973"/>
            <a:ext cx="8640960" cy="707886"/>
          </a:xfrm>
          <a:prstGeom prst="rect">
            <a:avLst/>
          </a:prstGeom>
          <a:solidFill>
            <a:schemeClr val="accent2">
              <a:lumMod val="20000"/>
              <a:lumOff val="80000"/>
            </a:schemeClr>
          </a:solidFill>
        </p:spPr>
        <p:txBody>
          <a:bodyPr wrap="square">
            <a:spAutoFit/>
          </a:bodyPr>
          <a:lstStyle/>
          <a:p>
            <a:pPr rtl="0"/>
            <a:r>
              <a:rPr lang="es-MX" sz="2000" b="1" dirty="0"/>
              <a:t>Idea clave:</a:t>
            </a:r>
            <a:r>
              <a:rPr lang="es-MX" sz="2000" dirty="0"/>
              <a:t> Si una función modifica la lista que recibe, su </a:t>
            </a:r>
            <a:r>
              <a:rPr lang="es-MX" sz="2000" b="1" dirty="0"/>
              <a:t>Garantiza</a:t>
            </a:r>
            <a:r>
              <a:rPr lang="es-MX" sz="2000" dirty="0"/>
              <a:t> debe decirlo, y para no perder la original se le pasa un </a:t>
            </a:r>
            <a:r>
              <a:rPr lang="es-MX" sz="2000" b="1" dirty="0"/>
              <a:t>clon</a:t>
            </a:r>
            <a:r>
              <a:rPr lang="es-MX" sz="2000" dirty="0"/>
              <a:t>.</a:t>
            </a:r>
            <a:endParaRPr lang="es-MX" sz="2000" b="1" dirty="0">
              <a:latin typeface="Consolas" panose="020B0609020204030204" pitchFamily="49" charset="0"/>
            </a:endParaRPr>
          </a:p>
        </p:txBody>
      </p:sp>
      <p:graphicFrame>
        <p:nvGraphicFramePr>
          <p:cNvPr id="2" name="Tabla 1">
            <a:extLst>
              <a:ext uri="{FF2B5EF4-FFF2-40B4-BE49-F238E27FC236}">
                <a16:creationId xmlns:a16="http://schemas.microsoft.com/office/drawing/2014/main" id="{131A2559-AE1F-4242-8D00-C038CA6D7BC0}"/>
              </a:ext>
            </a:extLst>
          </p:cNvPr>
          <p:cNvGraphicFramePr>
            <a:graphicFrameLocks noGrp="1"/>
          </p:cNvGraphicFramePr>
          <p:nvPr>
            <p:extLst>
              <p:ext uri="{D42A27DB-BD31-4B8C-83A1-F6EECF244321}">
                <p14:modId xmlns:p14="http://schemas.microsoft.com/office/powerpoint/2010/main" val="694114939"/>
              </p:ext>
            </p:extLst>
          </p:nvPr>
        </p:nvGraphicFramePr>
        <p:xfrm>
          <a:off x="350122" y="1052736"/>
          <a:ext cx="8559824" cy="4351338"/>
        </p:xfrm>
        <a:graphic>
          <a:graphicData uri="http://schemas.openxmlformats.org/drawingml/2006/table">
            <a:tbl>
              <a:tblPr/>
              <a:tblGrid>
                <a:gridCol w="1737320">
                  <a:extLst>
                    <a:ext uri="{9D8B030D-6E8A-4147-A177-3AD203B41FA5}">
                      <a16:colId xmlns:a16="http://schemas.microsoft.com/office/drawing/2014/main" val="1362493764"/>
                    </a:ext>
                  </a:extLst>
                </a:gridCol>
                <a:gridCol w="2376264">
                  <a:extLst>
                    <a:ext uri="{9D8B030D-6E8A-4147-A177-3AD203B41FA5}">
                      <a16:colId xmlns:a16="http://schemas.microsoft.com/office/drawing/2014/main" val="3955142743"/>
                    </a:ext>
                  </a:extLst>
                </a:gridCol>
                <a:gridCol w="1872208">
                  <a:extLst>
                    <a:ext uri="{9D8B030D-6E8A-4147-A177-3AD203B41FA5}">
                      <a16:colId xmlns:a16="http://schemas.microsoft.com/office/drawing/2014/main" val="3934414259"/>
                    </a:ext>
                  </a:extLst>
                </a:gridCol>
                <a:gridCol w="2574032">
                  <a:extLst>
                    <a:ext uri="{9D8B030D-6E8A-4147-A177-3AD203B41FA5}">
                      <a16:colId xmlns:a16="http://schemas.microsoft.com/office/drawing/2014/main" val="3753656941"/>
                    </a:ext>
                  </a:extLst>
                </a:gridCol>
              </a:tblGrid>
              <a:tr h="328403">
                <a:tc>
                  <a:txBody>
                    <a:bodyPr/>
                    <a:lstStyle/>
                    <a:p>
                      <a:endParaRPr lang="es-CO" sz="1600"/>
                    </a:p>
                  </a:txBody>
                  <a:tcPr marL="82101" marR="82101" marT="41050" marB="41050"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sz="1600" b="1" dirty="0"/>
                        <a:t>Caso 1</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Caso 2</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Caso 3</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802042115"/>
                  </a:ext>
                </a:extLst>
              </a:tr>
              <a:tr h="574705">
                <a:tc>
                  <a:txBody>
                    <a:bodyPr/>
                    <a:lstStyle/>
                    <a:p>
                      <a:r>
                        <a:rPr lang="es-CO" sz="1600" b="1" dirty="0"/>
                        <a:t>Ejemplo</a:t>
                      </a:r>
                      <a:endParaRPr lang="es-CO" sz="1600" dirty="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a:latin typeface="Consolas" panose="020B0609020204030204" pitchFamily="49" charset="0"/>
                        </a:rPr>
                        <a:t>calcular_promedio(notas)</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err="1">
                          <a:latin typeface="Consolas" panose="020B0609020204030204" pitchFamily="49" charset="0"/>
                        </a:rPr>
                        <a:t>leer_notas</a:t>
                      </a:r>
                      <a:r>
                        <a:rPr lang="es-CO" sz="1200" dirty="0">
                          <a:latin typeface="Consolas" panose="020B0609020204030204" pitchFamily="49" charset="0"/>
                        </a:rPr>
                        <a:t>(n)</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err="1">
                          <a:latin typeface="Consolas" panose="020B0609020204030204" pitchFamily="49" charset="0"/>
                        </a:rPr>
                        <a:t>aplicar_bonificacion</a:t>
                      </a:r>
                      <a:r>
                        <a:rPr lang="es-CO" sz="1200" dirty="0">
                          <a:latin typeface="Consolas" panose="020B0609020204030204" pitchFamily="49" charset="0"/>
                        </a:rPr>
                        <a:t>(notas, </a:t>
                      </a:r>
                    </a:p>
                    <a:p>
                      <a:r>
                        <a:rPr lang="es-CO" sz="1200" dirty="0">
                          <a:latin typeface="Consolas" panose="020B0609020204030204" pitchFamily="49" charset="0"/>
                        </a:rPr>
                        <a:t>                     puntos)</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1527607"/>
                  </a:ext>
                </a:extLst>
              </a:tr>
              <a:tr h="574705">
                <a:tc>
                  <a:txBody>
                    <a:bodyPr/>
                    <a:lstStyle/>
                    <a:p>
                      <a:r>
                        <a:rPr lang="es-CO" sz="1600" b="1" dirty="0"/>
                        <a:t>Entra</a:t>
                      </a:r>
                      <a:endParaRPr lang="es-CO" sz="1600" dirty="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una lista</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un valor</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una lista (y un valor)</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866051"/>
                  </a:ext>
                </a:extLst>
              </a:tr>
              <a:tr h="328403">
                <a:tc>
                  <a:txBody>
                    <a:bodyPr/>
                    <a:lstStyle/>
                    <a:p>
                      <a:r>
                        <a:rPr lang="es-CO" sz="1600" b="1" dirty="0"/>
                        <a:t>Sale (</a:t>
                      </a:r>
                      <a:r>
                        <a:rPr lang="es-CO" sz="1400" b="1" dirty="0" err="1">
                          <a:latin typeface="Consolas" panose="020B0609020204030204" pitchFamily="49" charset="0"/>
                        </a:rPr>
                        <a:t>return</a:t>
                      </a:r>
                      <a:r>
                        <a:rPr lang="es-CO" sz="1600" b="1" dirty="0"/>
                        <a:t>)</a:t>
                      </a:r>
                      <a:endParaRPr lang="es-CO" sz="1600" dirty="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un valor</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una lista </a:t>
                      </a:r>
                      <a:r>
                        <a:rPr lang="es-CO" sz="1600" b="1"/>
                        <a:t>nueva</a:t>
                      </a:r>
                      <a:endParaRPr lang="es-CO" sz="1600"/>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nada</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20453924"/>
                  </a:ext>
                </a:extLst>
              </a:tr>
              <a:tr h="328403">
                <a:tc>
                  <a:txBody>
                    <a:bodyPr/>
                    <a:lstStyle/>
                    <a:p>
                      <a:r>
                        <a:rPr lang="es-CO" sz="1600" b="1" dirty="0"/>
                        <a:t>¿Modifica la lista?</a:t>
                      </a:r>
                      <a:endParaRPr lang="es-CO" sz="1600" dirty="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No</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 (la crea)</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dirty="0"/>
                        <a:t>Sí</a:t>
                      </a:r>
                      <a:endParaRPr lang="es-CO" sz="1600" dirty="0"/>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7618151"/>
                  </a:ext>
                </a:extLst>
              </a:tr>
              <a:tr h="574705">
                <a:tc>
                  <a:txBody>
                    <a:bodyPr/>
                    <a:lstStyle/>
                    <a:p>
                      <a:r>
                        <a:rPr lang="es-CO" sz="1600" b="1" dirty="0"/>
                        <a:t>Garantiza dice</a:t>
                      </a:r>
                      <a:endParaRPr lang="es-CO" sz="1600" dirty="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i="1" dirty="0"/>
                        <a:t>“No modifica notas”</a:t>
                      </a:r>
                      <a:endParaRPr lang="es-CO" sz="1600" dirty="0"/>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i="1" dirty="0"/>
                        <a:t>“Retorna una lista nueva”</a:t>
                      </a:r>
                      <a:endParaRPr lang="es-CO" sz="1600" dirty="0"/>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i="1"/>
                        <a:t>“MODIFICA la lista”</a:t>
                      </a:r>
                      <a:endParaRPr lang="es-CO" sz="1600"/>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1121545"/>
                  </a:ext>
                </a:extLst>
              </a:tr>
              <a:tr h="821007">
                <a:tc>
                  <a:txBody>
                    <a:bodyPr/>
                    <a:lstStyle/>
                    <a:p>
                      <a:r>
                        <a:rPr lang="es-CO" sz="1600" b="1" dirty="0"/>
                        <a:t>Se invoca</a:t>
                      </a:r>
                      <a:endParaRPr lang="es-CO" sz="1600" dirty="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a:latin typeface="Consolas" panose="020B0609020204030204" pitchFamily="49" charset="0"/>
                        </a:rPr>
                        <a:t>prom = calcular_promedio(lista_notas)</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err="1">
                          <a:latin typeface="Consolas" panose="020B0609020204030204" pitchFamily="49" charset="0"/>
                        </a:rPr>
                        <a:t>lista_notas</a:t>
                      </a:r>
                      <a:r>
                        <a:rPr lang="es-CO" sz="1200" dirty="0">
                          <a:latin typeface="Consolas" panose="020B0609020204030204" pitchFamily="49" charset="0"/>
                        </a:rPr>
                        <a:t> = leer_notas(4)</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200" dirty="0" err="1">
                          <a:latin typeface="Consolas" panose="020B0609020204030204" pitchFamily="49" charset="0"/>
                        </a:rPr>
                        <a:t>aplicar_bonificacion</a:t>
                      </a:r>
                      <a:r>
                        <a:rPr lang="es-CO" sz="1200" dirty="0">
                          <a:latin typeface="Consolas" panose="020B0609020204030204" pitchFamily="49" charset="0"/>
                        </a:rPr>
                        <a:t>(</a:t>
                      </a:r>
                      <a:r>
                        <a:rPr lang="es-CO" sz="1200" dirty="0" err="1">
                          <a:latin typeface="Consolas" panose="020B0609020204030204" pitchFamily="49" charset="0"/>
                        </a:rPr>
                        <a:t>lista_notas</a:t>
                      </a:r>
                      <a:r>
                        <a:rPr lang="es-CO" sz="1200" dirty="0">
                          <a:latin typeface="Consolas" panose="020B0609020204030204" pitchFamily="49" charset="0"/>
                        </a:rPr>
                        <a:t>, 0.5)</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6970774"/>
                  </a:ext>
                </a:extLst>
              </a:tr>
              <a:tr h="821007">
                <a:tc>
                  <a:txBody>
                    <a:bodyPr/>
                    <a:lstStyle/>
                    <a:p>
                      <a:r>
                        <a:rPr lang="es-CO" sz="1600" b="1" dirty="0"/>
                        <a:t>Se prueba</a:t>
                      </a:r>
                      <a:endParaRPr lang="es-CO" sz="1600" dirty="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b="1" dirty="0" err="1">
                          <a:latin typeface="Consolas" panose="020B0609020204030204" pitchFamily="49" charset="0"/>
                        </a:rPr>
                        <a:t>assert</a:t>
                      </a:r>
                      <a:r>
                        <a:rPr lang="es-MX" sz="1600" dirty="0"/>
                        <a:t> sobre el valor que devuelve</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Ejecutando el programa (usa </a:t>
                      </a:r>
                      <a:r>
                        <a:rPr lang="es-MX" sz="1400" b="1" dirty="0">
                          <a:latin typeface="Consolas" panose="020B0609020204030204" pitchFamily="49" charset="0"/>
                        </a:rPr>
                        <a:t>input</a:t>
                      </a:r>
                      <a:r>
                        <a:rPr lang="es-MX" sz="1600" dirty="0"/>
                        <a:t>)</a:t>
                      </a:r>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Llamar y </a:t>
                      </a:r>
                      <a:r>
                        <a:rPr lang="es-CO" sz="1600" b="1" dirty="0"/>
                        <a:t>después revisa</a:t>
                      </a:r>
                      <a:endParaRPr lang="es-CO" sz="1600" dirty="0"/>
                    </a:p>
                  </a:txBody>
                  <a:tcPr marL="82101" marR="82101" marT="41050" marB="4105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5976595"/>
                  </a:ext>
                </a:extLst>
              </a:tr>
            </a:tbl>
          </a:graphicData>
        </a:graphic>
      </p:graphicFrame>
    </p:spTree>
    <p:extLst>
      <p:ext uri="{BB962C8B-B14F-4D97-AF65-F5344CB8AC3E}">
        <p14:creationId xmlns:p14="http://schemas.microsoft.com/office/powerpoint/2010/main" val="27096833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4016" y="116632"/>
            <a:ext cx="8999984" cy="720452"/>
          </a:xfrm>
        </p:spPr>
        <p:txBody>
          <a:bodyPr>
            <a:noAutofit/>
          </a:bodyPr>
          <a:lstStyle/>
          <a:p>
            <a:r>
              <a:rPr lang="es-MX" sz="3600" dirty="0"/>
              <a:t>Ámbito de las variables</a:t>
            </a:r>
            <a:endParaRPr lang="es-CO" sz="3600" dirty="0"/>
          </a:p>
        </p:txBody>
      </p:sp>
      <p:sp>
        <p:nvSpPr>
          <p:cNvPr id="13" name="12 Rectángulo"/>
          <p:cNvSpPr/>
          <p:nvPr/>
        </p:nvSpPr>
        <p:spPr>
          <a:xfrm>
            <a:off x="144016" y="620688"/>
            <a:ext cx="8892480" cy="1015663"/>
          </a:xfrm>
          <a:prstGeom prst="rect">
            <a:avLst/>
          </a:prstGeom>
        </p:spPr>
        <p:txBody>
          <a:bodyPr wrap="square">
            <a:spAutoFit/>
          </a:bodyPr>
          <a:lstStyle/>
          <a:p>
            <a:pPr marL="342900" indent="-342900" rtl="0">
              <a:buFont typeface="Arial" panose="020B0604020202020204" pitchFamily="34" charset="0"/>
              <a:buChar char="•"/>
            </a:pPr>
            <a:r>
              <a:rPr lang="es-MX" sz="2000" b="1" dirty="0"/>
              <a:t>Idea clave</a:t>
            </a:r>
            <a:r>
              <a:rPr lang="es-MX" sz="2000" dirty="0"/>
              <a:t>: dos variables pueden tener el mismo nombre y ser distintas, si viven en ámbitos diferentes. Cada llamada a una función crea su propio espacio de variables.</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3929760812"/>
              </p:ext>
            </p:extLst>
          </p:nvPr>
        </p:nvGraphicFramePr>
        <p:xfrm>
          <a:off x="323527" y="1914086"/>
          <a:ext cx="4620004" cy="1798320"/>
        </p:xfrm>
        <a:graphic>
          <a:graphicData uri="http://schemas.openxmlformats.org/drawingml/2006/table">
            <a:tbl>
              <a:tblPr firstRow="1" bandRow="1">
                <a:tableStyleId>{2D5ABB26-0587-4C30-8999-92F81FD0307C}</a:tableStyleId>
              </a:tblPr>
              <a:tblGrid>
                <a:gridCol w="313055">
                  <a:extLst>
                    <a:ext uri="{9D8B030D-6E8A-4147-A177-3AD203B41FA5}">
                      <a16:colId xmlns:a16="http://schemas.microsoft.com/office/drawing/2014/main" val="2226858441"/>
                    </a:ext>
                  </a:extLst>
                </a:gridCol>
                <a:gridCol w="4306949">
                  <a:extLst>
                    <a:ext uri="{9D8B030D-6E8A-4147-A177-3AD203B41FA5}">
                      <a16:colId xmlns:a16="http://schemas.microsoft.com/office/drawing/2014/main" val="499056580"/>
                    </a:ext>
                  </a:extLst>
                </a:gridCol>
              </a:tblGrid>
              <a:tr h="887432">
                <a:tc>
                  <a:txBody>
                    <a:bodyPr/>
                    <a:lstStyle/>
                    <a:p>
                      <a:pPr algn="r"/>
                      <a:r>
                        <a:rPr lang="es-CO" sz="1400" dirty="0"/>
                        <a:t>1</a:t>
                      </a:r>
                    </a:p>
                    <a:p>
                      <a:pPr algn="r"/>
                      <a:r>
                        <a:rPr lang="es-CO" sz="1400" dirty="0"/>
                        <a:t>2</a:t>
                      </a:r>
                    </a:p>
                    <a:p>
                      <a:pPr algn="r"/>
                      <a:r>
                        <a:rPr lang="es-CO" sz="1400" dirty="0"/>
                        <a:t>3</a:t>
                      </a:r>
                    </a:p>
                    <a:p>
                      <a:pPr algn="r"/>
                      <a:r>
                        <a:rPr lang="es-CO" sz="1400" dirty="0"/>
                        <a:t>4</a:t>
                      </a:r>
                    </a:p>
                    <a:p>
                      <a:pPr algn="r"/>
                      <a:r>
                        <a:rPr lang="es-CO" sz="1400" dirty="0"/>
                        <a:t>5</a:t>
                      </a:r>
                    </a:p>
                    <a:p>
                      <a:pPr algn="r"/>
                      <a:r>
                        <a:rPr lang="es-CO" sz="1400" dirty="0"/>
                        <a:t>6</a:t>
                      </a:r>
                    </a:p>
                    <a:p>
                      <a:pPr algn="r"/>
                      <a:r>
                        <a:rPr lang="es-CO" sz="1400" dirty="0"/>
                        <a:t>7</a:t>
                      </a:r>
                    </a:p>
                    <a:p>
                      <a:pPr algn="r"/>
                      <a:r>
                        <a:rPr lang="es-CO" sz="1400" dirty="0"/>
                        <a:t>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err="1">
                          <a:latin typeface="Consolas" panose="020B0609020204030204" pitchFamily="49" charset="0"/>
                        </a:rPr>
                        <a:t>def</a:t>
                      </a:r>
                      <a:r>
                        <a:rPr lang="es-CO" sz="1400" dirty="0">
                          <a:latin typeface="Consolas" panose="020B0609020204030204" pitchFamily="49" charset="0"/>
                        </a:rPr>
                        <a:t> </a:t>
                      </a:r>
                      <a:r>
                        <a:rPr lang="es-CO" sz="1400" dirty="0" err="1">
                          <a:latin typeface="Consolas" panose="020B0609020204030204" pitchFamily="49" charset="0"/>
                        </a:rPr>
                        <a:t>celsius_a_fahrenheit</a:t>
                      </a:r>
                      <a:r>
                        <a:rPr lang="es-CO" sz="1400" dirty="0">
                          <a:latin typeface="Consolas" panose="020B0609020204030204" pitchFamily="49" charset="0"/>
                        </a:rPr>
                        <a:t>(</a:t>
                      </a:r>
                      <a:r>
                        <a:rPr lang="es-CO" sz="1400" dirty="0" err="1">
                          <a:latin typeface="Consolas" panose="020B0609020204030204" pitchFamily="49" charset="0"/>
                        </a:rPr>
                        <a:t>temp_c</a:t>
                      </a:r>
                      <a:r>
                        <a:rPr lang="es-CO" sz="1400" dirty="0">
                          <a:latin typeface="Consolas" panose="020B0609020204030204" pitchFamily="49" charset="0"/>
                        </a:rPr>
                        <a:t>):</a:t>
                      </a:r>
                    </a:p>
                    <a:p>
                      <a:r>
                        <a:rPr lang="es-CO" sz="1400" dirty="0">
                          <a:latin typeface="Consolas" panose="020B0609020204030204" pitchFamily="49" charset="0"/>
                        </a:rPr>
                        <a:t>    </a:t>
                      </a:r>
                      <a:r>
                        <a:rPr lang="es-CO" sz="1400" dirty="0" err="1">
                          <a:latin typeface="Consolas" panose="020B0609020204030204" pitchFamily="49" charset="0"/>
                        </a:rPr>
                        <a:t>temp_f</a:t>
                      </a:r>
                      <a:r>
                        <a:rPr lang="es-CO" sz="1400" dirty="0">
                          <a:latin typeface="Consolas" panose="020B0609020204030204" pitchFamily="49" charset="0"/>
                        </a:rPr>
                        <a:t> = (9 / 5) * </a:t>
                      </a:r>
                      <a:r>
                        <a:rPr lang="es-CO" sz="1400" dirty="0" err="1">
                          <a:latin typeface="Consolas" panose="020B0609020204030204" pitchFamily="49" charset="0"/>
                        </a:rPr>
                        <a:t>temp_c</a:t>
                      </a:r>
                      <a:r>
                        <a:rPr lang="es-CO" sz="1400" dirty="0">
                          <a:latin typeface="Consolas" panose="020B0609020204030204" pitchFamily="49" charset="0"/>
                        </a:rPr>
                        <a:t> + 32</a:t>
                      </a:r>
                    </a:p>
                    <a:p>
                      <a:r>
                        <a:rPr lang="es-CO" sz="1400" dirty="0">
                          <a:latin typeface="Consolas" panose="020B0609020204030204" pitchFamily="49" charset="0"/>
                        </a:rPr>
                        <a:t>    </a:t>
                      </a:r>
                      <a:r>
                        <a:rPr lang="es-CO" sz="1400" dirty="0" err="1">
                          <a:latin typeface="Consolas" panose="020B0609020204030204" pitchFamily="49" charset="0"/>
                        </a:rPr>
                        <a:t>return</a:t>
                      </a:r>
                      <a:r>
                        <a:rPr lang="es-CO" sz="1400" dirty="0">
                          <a:latin typeface="Consolas" panose="020B0609020204030204" pitchFamily="49" charset="0"/>
                        </a:rPr>
                        <a:t> </a:t>
                      </a:r>
                      <a:r>
                        <a:rPr lang="es-CO" sz="1400" dirty="0" err="1">
                          <a:latin typeface="Consolas" panose="020B0609020204030204" pitchFamily="49" charset="0"/>
                        </a:rPr>
                        <a:t>temp_f</a:t>
                      </a:r>
                      <a:endParaRPr lang="es-CO" sz="1400" dirty="0">
                        <a:latin typeface="Consolas" panose="020B0609020204030204" pitchFamily="49" charset="0"/>
                      </a:endParaRPr>
                    </a:p>
                    <a:p>
                      <a:endParaRPr lang="es-CO" sz="1400" dirty="0">
                        <a:latin typeface="Consolas" panose="020B0609020204030204" pitchFamily="49" charset="0"/>
                      </a:endParaRPr>
                    </a:p>
                    <a:p>
                      <a:r>
                        <a:rPr lang="es-CO" sz="1400" dirty="0" err="1">
                          <a:latin typeface="Consolas" panose="020B0609020204030204" pitchFamily="49" charset="0"/>
                        </a:rPr>
                        <a:t>temp_c</a:t>
                      </a:r>
                      <a:r>
                        <a:rPr lang="es-CO" sz="1400" dirty="0">
                          <a:latin typeface="Consolas" panose="020B0609020204030204" pitchFamily="49" charset="0"/>
                        </a:rPr>
                        <a:t> = float(input("Ingrese los °C: "))</a:t>
                      </a:r>
                    </a:p>
                    <a:p>
                      <a:r>
                        <a:rPr lang="es-CO" sz="1400" dirty="0" err="1">
                          <a:latin typeface="Consolas" panose="020B0609020204030204" pitchFamily="49" charset="0"/>
                        </a:rPr>
                        <a:t>temp_f</a:t>
                      </a:r>
                      <a:r>
                        <a:rPr lang="es-CO" sz="1400" dirty="0">
                          <a:latin typeface="Consolas" panose="020B0609020204030204" pitchFamily="49" charset="0"/>
                        </a:rPr>
                        <a:t> = </a:t>
                      </a:r>
                      <a:r>
                        <a:rPr lang="es-CO" sz="1400" dirty="0" err="1">
                          <a:latin typeface="Consolas" panose="020B0609020204030204" pitchFamily="49" charset="0"/>
                        </a:rPr>
                        <a:t>celsius_a_fahrenheit</a:t>
                      </a:r>
                      <a:r>
                        <a:rPr lang="es-CO" sz="1400" dirty="0">
                          <a:latin typeface="Consolas" panose="020B0609020204030204" pitchFamily="49" charset="0"/>
                        </a:rPr>
                        <a:t>(</a:t>
                      </a:r>
                      <a:r>
                        <a:rPr lang="es-CO" sz="1400" dirty="0" err="1">
                          <a:latin typeface="Consolas" panose="020B0609020204030204" pitchFamily="49" charset="0"/>
                        </a:rPr>
                        <a:t>temp_c</a:t>
                      </a:r>
                      <a:r>
                        <a:rPr lang="es-CO" sz="1400" dirty="0">
                          <a:latin typeface="Consolas" panose="020B0609020204030204" pitchFamily="49" charset="0"/>
                        </a:rPr>
                        <a:t>)</a:t>
                      </a:r>
                    </a:p>
                    <a:p>
                      <a:endParaRPr lang="es-CO" sz="1400" dirty="0">
                        <a:latin typeface="Consolas" panose="020B0609020204030204" pitchFamily="49" charset="0"/>
                      </a:endParaRPr>
                    </a:p>
                    <a:p>
                      <a:r>
                        <a:rPr lang="es-CO" sz="1400" dirty="0">
                          <a:latin typeface="Consolas" panose="020B0609020204030204" pitchFamily="49" charset="0"/>
                        </a:rPr>
                        <a:t>print(f"{</a:t>
                      </a:r>
                      <a:r>
                        <a:rPr lang="es-CO" sz="1400" dirty="0" err="1">
                          <a:latin typeface="Consolas" panose="020B0609020204030204" pitchFamily="49" charset="0"/>
                        </a:rPr>
                        <a:t>temp_c</a:t>
                      </a:r>
                      <a:r>
                        <a:rPr lang="es-CO" sz="1400" dirty="0">
                          <a:latin typeface="Consolas" panose="020B0609020204030204" pitchFamily="49" charset="0"/>
                        </a:rPr>
                        <a:t>} °C = {temp_f} °F")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24" name="CuadroTexto 23">
            <a:extLst>
              <a:ext uri="{FF2B5EF4-FFF2-40B4-BE49-F238E27FC236}">
                <a16:creationId xmlns:a16="http://schemas.microsoft.com/office/drawing/2014/main" id="{CE49B199-3734-442D-8D46-36A677AFFBAD}"/>
              </a:ext>
            </a:extLst>
          </p:cNvPr>
          <p:cNvSpPr txBox="1"/>
          <p:nvPr/>
        </p:nvSpPr>
        <p:spPr>
          <a:xfrm>
            <a:off x="5292080" y="2621534"/>
            <a:ext cx="3290909" cy="523220"/>
          </a:xfrm>
          <a:prstGeom prst="rect">
            <a:avLst/>
          </a:prstGeom>
          <a:noFill/>
          <a:ln>
            <a:solidFill>
              <a:schemeClr val="tx1"/>
            </a:solidFill>
          </a:ln>
        </p:spPr>
        <p:txBody>
          <a:bodyPr wrap="square">
            <a:spAutoFit/>
          </a:bodyPr>
          <a:lstStyle/>
          <a:p>
            <a:r>
              <a:rPr lang="es-MX" sz="1400" dirty="0">
                <a:latin typeface="Consolas" panose="020B0609020204030204" pitchFamily="49" charset="0"/>
              </a:rPr>
              <a:t>Ingrese los °C: 23</a:t>
            </a:r>
          </a:p>
          <a:p>
            <a:r>
              <a:rPr lang="es-MX" sz="1400" dirty="0">
                <a:latin typeface="Consolas" panose="020B0609020204030204" pitchFamily="49" charset="0"/>
              </a:rPr>
              <a:t>23.0 °C = 73.4 °F</a:t>
            </a:r>
            <a:endParaRPr lang="es-CO" sz="1400" dirty="0">
              <a:latin typeface="Consolas" panose="020B0609020204030204" pitchFamily="49" charset="0"/>
            </a:endParaRPr>
          </a:p>
        </p:txBody>
      </p:sp>
      <p:sp>
        <p:nvSpPr>
          <p:cNvPr id="25" name="CuadroTexto 24">
            <a:extLst>
              <a:ext uri="{FF2B5EF4-FFF2-40B4-BE49-F238E27FC236}">
                <a16:creationId xmlns:a16="http://schemas.microsoft.com/office/drawing/2014/main" id="{3658ECAE-DAAE-45DD-9BAA-B8ED9E8E0D15}"/>
              </a:ext>
            </a:extLst>
          </p:cNvPr>
          <p:cNvSpPr txBox="1"/>
          <p:nvPr/>
        </p:nvSpPr>
        <p:spPr>
          <a:xfrm>
            <a:off x="1907704" y="3717032"/>
            <a:ext cx="1664486" cy="276999"/>
          </a:xfrm>
          <a:prstGeom prst="rect">
            <a:avLst/>
          </a:prstGeom>
          <a:noFill/>
        </p:spPr>
        <p:txBody>
          <a:bodyPr wrap="square" rtlCol="0">
            <a:spAutoFit/>
          </a:bodyPr>
          <a:lstStyle/>
          <a:p>
            <a:pPr algn="ctr"/>
            <a:r>
              <a:rPr lang="es-CO" sz="1200" dirty="0">
                <a:hlinkClick r:id="rId2"/>
              </a:rPr>
              <a:t>Link simulación</a:t>
            </a:r>
            <a:endParaRPr lang="es-CO" sz="1200" dirty="0"/>
          </a:p>
        </p:txBody>
      </p:sp>
      <p:sp>
        <p:nvSpPr>
          <p:cNvPr id="26" name="CuadroTexto 25">
            <a:extLst>
              <a:ext uri="{FF2B5EF4-FFF2-40B4-BE49-F238E27FC236}">
                <a16:creationId xmlns:a16="http://schemas.microsoft.com/office/drawing/2014/main" id="{1A795D73-BD52-414F-AFA8-E36438AA7E48}"/>
              </a:ext>
            </a:extLst>
          </p:cNvPr>
          <p:cNvSpPr txBox="1"/>
          <p:nvPr/>
        </p:nvSpPr>
        <p:spPr>
          <a:xfrm>
            <a:off x="5880140" y="2205230"/>
            <a:ext cx="2114790" cy="338554"/>
          </a:xfrm>
          <a:prstGeom prst="rect">
            <a:avLst/>
          </a:prstGeom>
          <a:noFill/>
        </p:spPr>
        <p:txBody>
          <a:bodyPr wrap="square" rtlCol="0">
            <a:spAutoFit/>
          </a:bodyPr>
          <a:lstStyle/>
          <a:p>
            <a:r>
              <a:rPr lang="es-CO" sz="1600" b="1" dirty="0"/>
              <a:t>Salida en pantalla</a:t>
            </a:r>
          </a:p>
        </p:txBody>
      </p:sp>
      <p:sp>
        <p:nvSpPr>
          <p:cNvPr id="27" name="CuadroTexto 26">
            <a:extLst>
              <a:ext uri="{FF2B5EF4-FFF2-40B4-BE49-F238E27FC236}">
                <a16:creationId xmlns:a16="http://schemas.microsoft.com/office/drawing/2014/main" id="{5D9CF26A-D97C-47B6-942A-3BA33897395E}"/>
              </a:ext>
            </a:extLst>
          </p:cNvPr>
          <p:cNvSpPr txBox="1"/>
          <p:nvPr/>
        </p:nvSpPr>
        <p:spPr>
          <a:xfrm>
            <a:off x="1757510" y="1509945"/>
            <a:ext cx="1664486" cy="338554"/>
          </a:xfrm>
          <a:prstGeom prst="rect">
            <a:avLst/>
          </a:prstGeom>
          <a:noFill/>
        </p:spPr>
        <p:txBody>
          <a:bodyPr wrap="square" rtlCol="0">
            <a:spAutoFit/>
          </a:bodyPr>
          <a:lstStyle/>
          <a:p>
            <a:pPr algn="ctr"/>
            <a:r>
              <a:rPr lang="es-CO" sz="1600" b="1" dirty="0"/>
              <a:t>Código</a:t>
            </a:r>
          </a:p>
        </p:txBody>
      </p:sp>
      <p:pic>
        <p:nvPicPr>
          <p:cNvPr id="8" name="Imagen 7">
            <a:extLst>
              <a:ext uri="{FF2B5EF4-FFF2-40B4-BE49-F238E27FC236}">
                <a16:creationId xmlns:a16="http://schemas.microsoft.com/office/drawing/2014/main" id="{40D4C43A-15EC-4A4F-9A0A-D3B6BA196AD8}"/>
              </a:ext>
            </a:extLst>
          </p:cNvPr>
          <p:cNvPicPr>
            <a:picLocks noChangeAspect="1"/>
          </p:cNvPicPr>
          <p:nvPr/>
        </p:nvPicPr>
        <p:blipFill>
          <a:blip r:embed="rId3"/>
          <a:stretch>
            <a:fillRect/>
          </a:stretch>
        </p:blipFill>
        <p:spPr>
          <a:xfrm>
            <a:off x="491108" y="4005064"/>
            <a:ext cx="4152900" cy="2343150"/>
          </a:xfrm>
          <a:prstGeom prst="rect">
            <a:avLst/>
          </a:prstGeom>
        </p:spPr>
      </p:pic>
      <p:pic>
        <p:nvPicPr>
          <p:cNvPr id="12" name="Imagen 11">
            <a:extLst>
              <a:ext uri="{FF2B5EF4-FFF2-40B4-BE49-F238E27FC236}">
                <a16:creationId xmlns:a16="http://schemas.microsoft.com/office/drawing/2014/main" id="{6B1978E0-09EF-4295-A78B-D59103A9573A}"/>
              </a:ext>
            </a:extLst>
          </p:cNvPr>
          <p:cNvPicPr>
            <a:picLocks noChangeAspect="1"/>
          </p:cNvPicPr>
          <p:nvPr/>
        </p:nvPicPr>
        <p:blipFill>
          <a:blip r:embed="rId4"/>
          <a:stretch>
            <a:fillRect/>
          </a:stretch>
        </p:blipFill>
        <p:spPr>
          <a:xfrm>
            <a:off x="4793952" y="4833227"/>
            <a:ext cx="4133850" cy="1333500"/>
          </a:xfrm>
          <a:prstGeom prst="rect">
            <a:avLst/>
          </a:prstGeom>
        </p:spPr>
      </p:pic>
      <p:graphicFrame>
        <p:nvGraphicFramePr>
          <p:cNvPr id="23" name="Tabla 18">
            <a:extLst>
              <a:ext uri="{FF2B5EF4-FFF2-40B4-BE49-F238E27FC236}">
                <a16:creationId xmlns:a16="http://schemas.microsoft.com/office/drawing/2014/main" id="{EEF437E3-FD41-4321-8E50-29759D7BB13A}"/>
              </a:ext>
            </a:extLst>
          </p:cNvPr>
          <p:cNvGraphicFramePr>
            <a:graphicFrameLocks noGrp="1"/>
          </p:cNvGraphicFramePr>
          <p:nvPr>
            <p:extLst>
              <p:ext uri="{D42A27DB-BD31-4B8C-83A1-F6EECF244321}">
                <p14:modId xmlns:p14="http://schemas.microsoft.com/office/powerpoint/2010/main" val="1343019104"/>
              </p:ext>
            </p:extLst>
          </p:nvPr>
        </p:nvGraphicFramePr>
        <p:xfrm>
          <a:off x="1691680" y="6381328"/>
          <a:ext cx="2271484" cy="304800"/>
        </p:xfrm>
        <a:graphic>
          <a:graphicData uri="http://schemas.openxmlformats.org/drawingml/2006/table">
            <a:tbl>
              <a:tblPr firstRow="1" bandRow="1">
                <a:tableStyleId>{5940675A-B579-460E-94D1-54222C63F5DA}</a:tableStyleId>
              </a:tblPr>
              <a:tblGrid>
                <a:gridCol w="655955">
                  <a:extLst>
                    <a:ext uri="{9D8B030D-6E8A-4147-A177-3AD203B41FA5}">
                      <a16:colId xmlns:a16="http://schemas.microsoft.com/office/drawing/2014/main" val="59961605"/>
                    </a:ext>
                  </a:extLst>
                </a:gridCol>
                <a:gridCol w="1615529">
                  <a:extLst>
                    <a:ext uri="{9D8B030D-6E8A-4147-A177-3AD203B41FA5}">
                      <a16:colId xmlns:a16="http://schemas.microsoft.com/office/drawing/2014/main" val="4086264615"/>
                    </a:ext>
                  </a:extLst>
                </a:gridCol>
              </a:tblGrid>
              <a:tr h="0">
                <a:tc>
                  <a:txBody>
                    <a:bodyPr/>
                    <a:lstStyle/>
                    <a:p>
                      <a:pPr algn="r"/>
                      <a:r>
                        <a:rPr lang="es-CO" sz="1400" dirty="0">
                          <a:solidFill>
                            <a:srgbClr val="00B050"/>
                          </a:solidFill>
                          <a:latin typeface="Consolas" panose="020B0609020204030204" pitchFamily="49" charset="0"/>
                        </a:rPr>
                        <a:t>➔ </a:t>
                      </a:r>
                      <a:r>
                        <a:rPr lang="es-CO" sz="1400" dirty="0">
                          <a:solidFill>
                            <a:schemeClr val="tx1"/>
                          </a:solidFill>
                          <a:highlight>
                            <a:srgbClr val="FFFF00"/>
                          </a:highlight>
                          <a:latin typeface="Consolas" panose="020B0609020204030204" pitchFamily="49"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err="1">
                          <a:latin typeface="Consolas" panose="020B0609020204030204" pitchFamily="49" charset="0"/>
                        </a:rPr>
                        <a:t>return</a:t>
                      </a:r>
                      <a:r>
                        <a:rPr lang="es-CO" sz="1400" dirty="0">
                          <a:latin typeface="Consolas" panose="020B0609020204030204" pitchFamily="49" charset="0"/>
                        </a:rPr>
                        <a:t> </a:t>
                      </a:r>
                      <a:r>
                        <a:rPr lang="es-CO" sz="1400" dirty="0" err="1">
                          <a:latin typeface="Consolas" panose="020B0609020204030204" pitchFamily="49" charset="0"/>
                        </a:rPr>
                        <a:t>temp_f</a:t>
                      </a:r>
                      <a:endParaRPr lang="es-CO" sz="14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2221210"/>
                  </a:ext>
                </a:extLst>
              </a:tr>
            </a:tbl>
          </a:graphicData>
        </a:graphic>
      </p:graphicFrame>
      <p:graphicFrame>
        <p:nvGraphicFramePr>
          <p:cNvPr id="28" name="Tabla 27">
            <a:extLst>
              <a:ext uri="{FF2B5EF4-FFF2-40B4-BE49-F238E27FC236}">
                <a16:creationId xmlns:a16="http://schemas.microsoft.com/office/drawing/2014/main" id="{4C9653C9-2E45-47F8-AE63-0DCEA944486B}"/>
              </a:ext>
            </a:extLst>
          </p:cNvPr>
          <p:cNvGraphicFramePr>
            <a:graphicFrameLocks noGrp="1"/>
          </p:cNvGraphicFramePr>
          <p:nvPr>
            <p:extLst>
              <p:ext uri="{D42A27DB-BD31-4B8C-83A1-F6EECF244321}">
                <p14:modId xmlns:p14="http://schemas.microsoft.com/office/powerpoint/2010/main" val="2404699597"/>
              </p:ext>
            </p:extLst>
          </p:nvPr>
        </p:nvGraphicFramePr>
        <p:xfrm>
          <a:off x="5550672" y="6436568"/>
          <a:ext cx="2444258" cy="304800"/>
        </p:xfrm>
        <a:graphic>
          <a:graphicData uri="http://schemas.openxmlformats.org/drawingml/2006/table">
            <a:tbl>
              <a:tblPr firstRow="1" bandRow="1">
                <a:tableStyleId>{5940675A-B579-460E-94D1-54222C63F5DA}</a:tableStyleId>
              </a:tblPr>
              <a:tblGrid>
                <a:gridCol w="655955">
                  <a:extLst>
                    <a:ext uri="{9D8B030D-6E8A-4147-A177-3AD203B41FA5}">
                      <a16:colId xmlns:a16="http://schemas.microsoft.com/office/drawing/2014/main" val="59961605"/>
                    </a:ext>
                  </a:extLst>
                </a:gridCol>
                <a:gridCol w="1788303">
                  <a:extLst>
                    <a:ext uri="{9D8B030D-6E8A-4147-A177-3AD203B41FA5}">
                      <a16:colId xmlns:a16="http://schemas.microsoft.com/office/drawing/2014/main" val="4086264615"/>
                    </a:ext>
                  </a:extLst>
                </a:gridCol>
              </a:tblGrid>
              <a:tr h="0">
                <a:tc>
                  <a:txBody>
                    <a:bodyPr/>
                    <a:lstStyle/>
                    <a:p>
                      <a:pPr algn="r"/>
                      <a:r>
                        <a:rPr lang="es-CO" sz="1400" dirty="0">
                          <a:solidFill>
                            <a:srgbClr val="00B050"/>
                          </a:solidFill>
                          <a:latin typeface="Consolas" panose="020B0609020204030204" pitchFamily="49" charset="0"/>
                        </a:rPr>
                        <a:t>➔ </a:t>
                      </a:r>
                      <a:r>
                        <a:rPr lang="es-CO" sz="1400" dirty="0">
                          <a:solidFill>
                            <a:schemeClr val="tx1"/>
                          </a:solidFill>
                          <a:highlight>
                            <a:srgbClr val="FFFF00"/>
                          </a:highlight>
                          <a:latin typeface="Consolas" panose="020B0609020204030204" pitchFamily="49"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a:solidFill>
                            <a:schemeClr val="accent5"/>
                          </a:solidFill>
                          <a:latin typeface="Consolas" panose="020B0609020204030204" pitchFamily="49" charset="0"/>
                        </a:rPr>
                        <a:t>Fin del programa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2221210"/>
                  </a:ext>
                </a:extLst>
              </a:tr>
            </a:tbl>
          </a:graphicData>
        </a:graphic>
      </p:graphicFrame>
    </p:spTree>
    <p:extLst>
      <p:ext uri="{BB962C8B-B14F-4D97-AF65-F5344CB8AC3E}">
        <p14:creationId xmlns:p14="http://schemas.microsoft.com/office/powerpoint/2010/main" val="39681641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Variables globales: ¿Sí o No?</a:t>
            </a:r>
            <a:endParaRPr lang="es-CO" sz="3600" dirty="0"/>
          </a:p>
        </p:txBody>
      </p:sp>
      <p:sp>
        <p:nvSpPr>
          <p:cNvPr id="13" name="12 Rectángulo"/>
          <p:cNvSpPr/>
          <p:nvPr/>
        </p:nvSpPr>
        <p:spPr>
          <a:xfrm>
            <a:off x="308782" y="829161"/>
            <a:ext cx="8613543" cy="1015663"/>
          </a:xfrm>
          <a:prstGeom prst="rect">
            <a:avLst/>
          </a:prstGeom>
        </p:spPr>
        <p:txBody>
          <a:bodyPr wrap="square">
            <a:spAutoFit/>
          </a:bodyPr>
          <a:lstStyle/>
          <a:p>
            <a:pPr rtl="0"/>
            <a:r>
              <a:rPr lang="es-MX" sz="2000" b="1" dirty="0"/>
              <a:t>Idea clave</a:t>
            </a:r>
            <a:r>
              <a:rPr lang="es-MX" sz="2000" dirty="0"/>
              <a:t>: una función puede leer una variable global, pero no debería modificarla. Lo que necesita lo recibe por parámetros y lo que produce lo entrega con return.</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3238950364"/>
              </p:ext>
            </p:extLst>
          </p:nvPr>
        </p:nvGraphicFramePr>
        <p:xfrm>
          <a:off x="365153" y="2636912"/>
          <a:ext cx="3702791" cy="1554480"/>
        </p:xfrm>
        <a:graphic>
          <a:graphicData uri="http://schemas.openxmlformats.org/drawingml/2006/table">
            <a:tbl>
              <a:tblPr firstRow="1" bandRow="1">
                <a:tableStyleId>{2D5ABB26-0587-4C30-8999-92F81FD0307C}</a:tableStyleId>
              </a:tblPr>
              <a:tblGrid>
                <a:gridCol w="3702791">
                  <a:extLst>
                    <a:ext uri="{9D8B030D-6E8A-4147-A177-3AD203B41FA5}">
                      <a16:colId xmlns:a16="http://schemas.microsoft.com/office/drawing/2014/main" val="499056580"/>
                    </a:ext>
                  </a:extLst>
                </a:gridCol>
              </a:tblGrid>
              <a:tr h="887432">
                <a:tc>
                  <a:txBody>
                    <a:bodyPr/>
                    <a:lstStyle/>
                    <a:p>
                      <a:r>
                        <a:rPr lang="es-CO" sz="1200" dirty="0">
                          <a:latin typeface="Consolas" panose="020B0609020204030204" pitchFamily="49" charset="0"/>
                        </a:rPr>
                        <a:t>CERO_ABSOLUTO = -273.15</a:t>
                      </a:r>
                    </a:p>
                    <a:p>
                      <a:endParaRPr lang="es-CO" sz="1200" dirty="0">
                        <a:latin typeface="Consolas" panose="020B0609020204030204" pitchFamily="49" charset="0"/>
                      </a:endParaRPr>
                    </a:p>
                    <a:p>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celsius_a_kelvin</a:t>
                      </a:r>
                      <a:r>
                        <a:rPr lang="es-CO" sz="1200" dirty="0">
                          <a:latin typeface="Consolas" panose="020B0609020204030204" pitchFamily="49" charset="0"/>
                        </a:rPr>
                        <a: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    </a:t>
                      </a:r>
                      <a:r>
                        <a:rPr lang="es-CO" sz="1200" dirty="0" err="1">
                          <a:latin typeface="Consolas" panose="020B0609020204030204" pitchFamily="49" charset="0"/>
                        </a:rPr>
                        <a:t>temp_k</a:t>
                      </a:r>
                      <a:r>
                        <a:rPr lang="es-CO" sz="1200" dirty="0">
                          <a:latin typeface="Consolas" panose="020B0609020204030204" pitchFamily="49" charset="0"/>
                        </a:rPr>
                        <a:t> = </a:t>
                      </a:r>
                      <a:r>
                        <a:rPr lang="es-CO" sz="1200" dirty="0" err="1">
                          <a:latin typeface="Consolas" panose="020B0609020204030204" pitchFamily="49" charset="0"/>
                        </a:rPr>
                        <a:t>temp_c</a:t>
                      </a:r>
                      <a:r>
                        <a:rPr lang="es-CO" sz="1200" dirty="0">
                          <a:latin typeface="Consolas" panose="020B0609020204030204" pitchFamily="49" charset="0"/>
                        </a:rPr>
                        <a:t> - CERO_ABSOLUTO</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temp_k</a:t>
                      </a:r>
                      <a:endParaRPr lang="es-CO" sz="1200" dirty="0">
                        <a:latin typeface="Consolas" panose="020B0609020204030204" pitchFamily="49" charset="0"/>
                      </a:endParaRPr>
                    </a:p>
                    <a:p>
                      <a:endParaRPr lang="es-CO" sz="1200" dirty="0">
                        <a:latin typeface="Consolas" panose="020B0609020204030204" pitchFamily="49" charset="0"/>
                      </a:endParaRPr>
                    </a:p>
                    <a:p>
                      <a:r>
                        <a:rPr lang="es-CO" sz="1200" dirty="0" err="1">
                          <a:latin typeface="Consolas" panose="020B0609020204030204" pitchFamily="49" charset="0"/>
                        </a:rPr>
                        <a:t>temp_k</a:t>
                      </a:r>
                      <a:r>
                        <a:rPr lang="es-CO" sz="1200" dirty="0">
                          <a:latin typeface="Consolas" panose="020B0609020204030204" pitchFamily="49" charset="0"/>
                        </a:rPr>
                        <a:t> = </a:t>
                      </a:r>
                      <a:r>
                        <a:rPr lang="es-CO" sz="1200" dirty="0" err="1">
                          <a:latin typeface="Consolas" panose="020B0609020204030204" pitchFamily="49" charset="0"/>
                        </a:rPr>
                        <a:t>celsius_a_kelvin</a:t>
                      </a:r>
                      <a:r>
                        <a:rPr lang="es-CO" sz="1200" dirty="0">
                          <a:latin typeface="Consolas" panose="020B0609020204030204" pitchFamily="49" charset="0"/>
                        </a:rPr>
                        <a:t>(25)</a:t>
                      </a:r>
                    </a:p>
                    <a:p>
                      <a:r>
                        <a:rPr lang="es-CO" sz="1200" dirty="0">
                          <a:latin typeface="Consolas" panose="020B0609020204030204" pitchFamily="49" charset="0"/>
                        </a:rPr>
                        <a:t>print("25 °C =", </a:t>
                      </a:r>
                      <a:r>
                        <a:rPr lang="es-CO" sz="1200" dirty="0" err="1">
                          <a:latin typeface="Consolas" panose="020B0609020204030204" pitchFamily="49" charset="0"/>
                        </a:rPr>
                        <a:t>temp_k</a:t>
                      </a:r>
                      <a:r>
                        <a:rPr lang="es-CO" sz="1200" dirty="0">
                          <a:latin typeface="Consolas" panose="020B0609020204030204" pitchFamily="49" charset="0"/>
                        </a:rPr>
                        <a:t>, "K")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24" name="CuadroTexto 23">
            <a:extLst>
              <a:ext uri="{FF2B5EF4-FFF2-40B4-BE49-F238E27FC236}">
                <a16:creationId xmlns:a16="http://schemas.microsoft.com/office/drawing/2014/main" id="{CE49B199-3734-442D-8D46-36A677AFFBAD}"/>
              </a:ext>
            </a:extLst>
          </p:cNvPr>
          <p:cNvSpPr txBox="1"/>
          <p:nvPr/>
        </p:nvSpPr>
        <p:spPr>
          <a:xfrm>
            <a:off x="4374232" y="2492896"/>
            <a:ext cx="4572000" cy="3046988"/>
          </a:xfrm>
          <a:prstGeom prst="rect">
            <a:avLst/>
          </a:prstGeom>
          <a:noFill/>
          <a:ln>
            <a:solidFill>
              <a:schemeClr val="tx1"/>
            </a:solidFill>
          </a:ln>
        </p:spPr>
        <p:txBody>
          <a:bodyPr wrap="square">
            <a:spAutoFit/>
          </a:bodyPr>
          <a:lstStyle/>
          <a:p>
            <a:r>
              <a:rPr lang="es-MX" sz="1200" dirty="0">
                <a:latin typeface="Consolas" panose="020B0609020204030204" pitchFamily="49" charset="0"/>
              </a:rPr>
              <a:t>conversiones = 0</a:t>
            </a:r>
          </a:p>
          <a:p>
            <a:endParaRPr lang="es-MX" sz="1200" dirty="0">
              <a:latin typeface="Consolas" panose="020B0609020204030204" pitchFamily="49" charset="0"/>
            </a:endParaRPr>
          </a:p>
          <a:p>
            <a:r>
              <a:rPr lang="es-MX" sz="1200" dirty="0">
                <a:latin typeface="Consolas" panose="020B0609020204030204" pitchFamily="49" charset="0"/>
              </a:rPr>
              <a:t>def </a:t>
            </a:r>
            <a:r>
              <a:rPr lang="es-MX" sz="1200" dirty="0" err="1">
                <a:latin typeface="Consolas" panose="020B0609020204030204" pitchFamily="49" charset="0"/>
              </a:rPr>
              <a:t>celsius_a_fahrenheit</a:t>
            </a:r>
            <a:r>
              <a:rPr lang="es-MX" sz="1200" dirty="0">
                <a:latin typeface="Consolas" panose="020B0609020204030204" pitchFamily="49" charset="0"/>
              </a:rPr>
              <a:t>(</a:t>
            </a:r>
            <a:r>
              <a:rPr lang="es-MX" sz="1200" dirty="0" err="1">
                <a:latin typeface="Consolas" panose="020B0609020204030204" pitchFamily="49" charset="0"/>
              </a:rPr>
              <a:t>temp_c</a:t>
            </a:r>
            <a:r>
              <a:rPr lang="es-MX" sz="1200" dirty="0">
                <a:latin typeface="Consolas" panose="020B0609020204030204" pitchFamily="49" charset="0"/>
              </a:rPr>
              <a:t>):</a:t>
            </a:r>
          </a:p>
          <a:p>
            <a:r>
              <a:rPr lang="es-MX" sz="1200" dirty="0">
                <a:latin typeface="Consolas" panose="020B0609020204030204" pitchFamily="49" charset="0"/>
              </a:rPr>
              <a:t>    </a:t>
            </a:r>
            <a:r>
              <a:rPr lang="es-MX" sz="1200" dirty="0">
                <a:solidFill>
                  <a:schemeClr val="accent4"/>
                </a:solidFill>
                <a:latin typeface="Consolas" panose="020B0609020204030204" pitchFamily="49" charset="0"/>
              </a:rPr>
              <a:t>global</a:t>
            </a:r>
            <a:r>
              <a:rPr lang="es-MX" sz="1200" dirty="0">
                <a:latin typeface="Consolas" panose="020B0609020204030204" pitchFamily="49" charset="0"/>
              </a:rPr>
              <a:t> conversiones</a:t>
            </a:r>
          </a:p>
          <a:p>
            <a:r>
              <a:rPr lang="es-MX" sz="1200" dirty="0">
                <a:latin typeface="Consolas" panose="020B0609020204030204" pitchFamily="49" charset="0"/>
              </a:rPr>
              <a:t>    conversiones = conversiones + 1</a:t>
            </a:r>
          </a:p>
          <a:p>
            <a:r>
              <a:rPr lang="es-MX" sz="1200" dirty="0">
                <a:latin typeface="Consolas" panose="020B0609020204030204" pitchFamily="49" charset="0"/>
              </a:rPr>
              <a:t>    </a:t>
            </a:r>
            <a:r>
              <a:rPr lang="es-MX" sz="1200" dirty="0" err="1">
                <a:latin typeface="Consolas" panose="020B0609020204030204" pitchFamily="49" charset="0"/>
              </a:rPr>
              <a:t>temp_f</a:t>
            </a:r>
            <a:r>
              <a:rPr lang="es-MX" sz="1200" dirty="0">
                <a:latin typeface="Consolas" panose="020B0609020204030204" pitchFamily="49" charset="0"/>
              </a:rPr>
              <a:t> = (9 / 5) * </a:t>
            </a:r>
            <a:r>
              <a:rPr lang="es-MX" sz="1200" dirty="0" err="1">
                <a:latin typeface="Consolas" panose="020B0609020204030204" pitchFamily="49" charset="0"/>
              </a:rPr>
              <a:t>temp_c</a:t>
            </a:r>
            <a:r>
              <a:rPr lang="es-MX" sz="1200" dirty="0">
                <a:latin typeface="Consolas" panose="020B0609020204030204" pitchFamily="49" charset="0"/>
              </a:rPr>
              <a:t> + 32</a:t>
            </a:r>
          </a:p>
          <a:p>
            <a:r>
              <a:rPr lang="es-MX" sz="1200" dirty="0">
                <a:latin typeface="Consolas" panose="020B0609020204030204" pitchFamily="49" charset="0"/>
              </a:rPr>
              <a:t>    return </a:t>
            </a:r>
            <a:r>
              <a:rPr lang="es-MX" sz="1200" dirty="0" err="1">
                <a:latin typeface="Consolas" panose="020B0609020204030204" pitchFamily="49" charset="0"/>
              </a:rPr>
              <a:t>temp_f</a:t>
            </a:r>
            <a:endParaRPr lang="es-MX" sz="1200" dirty="0">
              <a:latin typeface="Consolas" panose="020B0609020204030204" pitchFamily="49" charset="0"/>
            </a:endParaRPr>
          </a:p>
          <a:p>
            <a:endParaRPr lang="es-MX" sz="1200" dirty="0">
              <a:latin typeface="Consolas" panose="020B0609020204030204" pitchFamily="49" charset="0"/>
            </a:endParaRPr>
          </a:p>
          <a:p>
            <a:r>
              <a:rPr lang="es-MX" sz="1200" dirty="0">
                <a:latin typeface="Consolas" panose="020B0609020204030204" pitchFamily="49" charset="0"/>
              </a:rPr>
              <a:t># Pruebas</a:t>
            </a:r>
          </a:p>
          <a:p>
            <a:r>
              <a:rPr lang="es-MX" sz="1200" dirty="0">
                <a:latin typeface="Consolas" panose="020B0609020204030204" pitchFamily="49" charset="0"/>
              </a:rPr>
              <a:t>assert round(</a:t>
            </a:r>
            <a:r>
              <a:rPr lang="es-MX" sz="1200" dirty="0" err="1">
                <a:latin typeface="Consolas" panose="020B0609020204030204" pitchFamily="49" charset="0"/>
              </a:rPr>
              <a:t>celsius_a_fahrenheit</a:t>
            </a:r>
            <a:r>
              <a:rPr lang="es-MX" sz="1200" dirty="0">
                <a:latin typeface="Consolas" panose="020B0609020204030204" pitchFamily="49" charset="0"/>
              </a:rPr>
              <a:t>(100), 2) == 212.0</a:t>
            </a:r>
          </a:p>
          <a:p>
            <a:r>
              <a:rPr lang="es-MX" sz="1200" dirty="0">
                <a:latin typeface="Consolas" panose="020B0609020204030204" pitchFamily="49" charset="0"/>
              </a:rPr>
              <a:t>assert round(</a:t>
            </a:r>
            <a:r>
              <a:rPr lang="es-MX" sz="1200" dirty="0" err="1">
                <a:latin typeface="Consolas" panose="020B0609020204030204" pitchFamily="49" charset="0"/>
              </a:rPr>
              <a:t>celsius_a_fahrenheit</a:t>
            </a:r>
            <a:r>
              <a:rPr lang="es-MX" sz="1200" dirty="0">
                <a:latin typeface="Consolas" panose="020B0609020204030204" pitchFamily="49" charset="0"/>
              </a:rPr>
              <a:t>(0), 2) == 32.0</a:t>
            </a:r>
          </a:p>
          <a:p>
            <a:endParaRPr lang="es-MX" sz="1200" dirty="0">
              <a:latin typeface="Consolas" panose="020B0609020204030204" pitchFamily="49" charset="0"/>
            </a:endParaRPr>
          </a:p>
          <a:p>
            <a:r>
              <a:rPr lang="es-MX" sz="1200" dirty="0">
                <a:latin typeface="Consolas" panose="020B0609020204030204" pitchFamily="49" charset="0"/>
              </a:rPr>
              <a:t># Programa principal: el usuario hace UNA </a:t>
            </a:r>
            <a:r>
              <a:rPr lang="es-MX" sz="1200" dirty="0" err="1">
                <a:latin typeface="Consolas" panose="020B0609020204030204" pitchFamily="49" charset="0"/>
              </a:rPr>
              <a:t>conversion</a:t>
            </a:r>
            <a:endParaRPr lang="es-MX" sz="1200" dirty="0">
              <a:latin typeface="Consolas" panose="020B0609020204030204" pitchFamily="49" charset="0"/>
            </a:endParaRPr>
          </a:p>
          <a:p>
            <a:r>
              <a:rPr lang="es-MX" sz="1200" dirty="0" err="1">
                <a:latin typeface="Consolas" panose="020B0609020204030204" pitchFamily="49" charset="0"/>
              </a:rPr>
              <a:t>temp_f</a:t>
            </a:r>
            <a:r>
              <a:rPr lang="es-MX" sz="1200" dirty="0">
                <a:latin typeface="Consolas" panose="020B0609020204030204" pitchFamily="49" charset="0"/>
              </a:rPr>
              <a:t> = </a:t>
            </a:r>
            <a:r>
              <a:rPr lang="es-MX" sz="1200" dirty="0" err="1">
                <a:latin typeface="Consolas" panose="020B0609020204030204" pitchFamily="49" charset="0"/>
              </a:rPr>
              <a:t>celsius_a_fahrenheit</a:t>
            </a:r>
            <a:r>
              <a:rPr lang="es-MX" sz="1200" dirty="0">
                <a:latin typeface="Consolas" panose="020B0609020204030204" pitchFamily="49" charset="0"/>
              </a:rPr>
              <a:t>(23)</a:t>
            </a:r>
          </a:p>
          <a:p>
            <a:r>
              <a:rPr lang="es-MX" sz="1200" dirty="0">
                <a:latin typeface="Consolas" panose="020B0609020204030204" pitchFamily="49" charset="0"/>
              </a:rPr>
              <a:t>print("23 °C =", </a:t>
            </a:r>
            <a:r>
              <a:rPr lang="es-MX" sz="1200" dirty="0" err="1">
                <a:latin typeface="Consolas" panose="020B0609020204030204" pitchFamily="49" charset="0"/>
              </a:rPr>
              <a:t>temp_f</a:t>
            </a:r>
            <a:r>
              <a:rPr lang="es-MX" sz="1200" dirty="0">
                <a:latin typeface="Consolas" panose="020B0609020204030204" pitchFamily="49" charset="0"/>
              </a:rPr>
              <a:t>, "°F")</a:t>
            </a:r>
          </a:p>
          <a:p>
            <a:r>
              <a:rPr lang="es-MX" sz="1200" dirty="0">
                <a:latin typeface="Consolas" panose="020B0609020204030204" pitchFamily="49" charset="0"/>
              </a:rPr>
              <a:t>print("Conversiones:", conversiones)</a:t>
            </a:r>
            <a:endParaRPr lang="es-CO" sz="1200" dirty="0">
              <a:latin typeface="Consolas" panose="020B0609020204030204" pitchFamily="49" charset="0"/>
            </a:endParaRPr>
          </a:p>
        </p:txBody>
      </p:sp>
      <p:sp>
        <p:nvSpPr>
          <p:cNvPr id="25" name="CuadroTexto 24">
            <a:hlinkClick r:id="rId2"/>
            <a:extLst>
              <a:ext uri="{FF2B5EF4-FFF2-40B4-BE49-F238E27FC236}">
                <a16:creationId xmlns:a16="http://schemas.microsoft.com/office/drawing/2014/main" id="{3658ECAE-DAAE-45DD-9BAA-B8ED9E8E0D15}"/>
              </a:ext>
            </a:extLst>
          </p:cNvPr>
          <p:cNvSpPr txBox="1"/>
          <p:nvPr/>
        </p:nvSpPr>
        <p:spPr>
          <a:xfrm>
            <a:off x="1476531" y="4221088"/>
            <a:ext cx="1664486" cy="276999"/>
          </a:xfrm>
          <a:prstGeom prst="rect">
            <a:avLst/>
          </a:prstGeom>
          <a:noFill/>
        </p:spPr>
        <p:txBody>
          <a:bodyPr wrap="square" rtlCol="0">
            <a:spAutoFit/>
          </a:bodyPr>
          <a:lstStyle/>
          <a:p>
            <a:pPr algn="ctr"/>
            <a:r>
              <a:rPr lang="es-CO" sz="1200" dirty="0">
                <a:hlinkClick r:id="rId2"/>
              </a:rPr>
              <a:t>Link simulación</a:t>
            </a:r>
            <a:endParaRPr lang="es-CO" sz="1200" dirty="0"/>
          </a:p>
        </p:txBody>
      </p:sp>
      <p:sp>
        <p:nvSpPr>
          <p:cNvPr id="26" name="CuadroTexto 25">
            <a:extLst>
              <a:ext uri="{FF2B5EF4-FFF2-40B4-BE49-F238E27FC236}">
                <a16:creationId xmlns:a16="http://schemas.microsoft.com/office/drawing/2014/main" id="{1A795D73-BD52-414F-AFA8-E36438AA7E48}"/>
              </a:ext>
            </a:extLst>
          </p:cNvPr>
          <p:cNvSpPr txBox="1"/>
          <p:nvPr/>
        </p:nvSpPr>
        <p:spPr>
          <a:xfrm>
            <a:off x="4427986" y="2051556"/>
            <a:ext cx="4176462" cy="369332"/>
          </a:xfrm>
          <a:prstGeom prst="rect">
            <a:avLst/>
          </a:prstGeom>
          <a:noFill/>
        </p:spPr>
        <p:txBody>
          <a:bodyPr wrap="square" rtlCol="0">
            <a:spAutoFit/>
          </a:bodyPr>
          <a:lstStyle/>
          <a:p>
            <a:r>
              <a:rPr lang="es-MX" b="1" dirty="0">
                <a:solidFill>
                  <a:schemeClr val="accent5"/>
                </a:solidFill>
              </a:rPr>
              <a:t>No</a:t>
            </a:r>
            <a:r>
              <a:rPr lang="es-MX" b="1" dirty="0"/>
              <a:t>: modificar una global con </a:t>
            </a:r>
            <a:r>
              <a:rPr lang="es-MX" sz="1600" b="1" dirty="0">
                <a:solidFill>
                  <a:schemeClr val="accent4"/>
                </a:solidFill>
                <a:latin typeface="Consolas" panose="020B0609020204030204" pitchFamily="49" charset="0"/>
              </a:rPr>
              <a:t>global</a:t>
            </a:r>
            <a:endParaRPr lang="es-CO" b="1" dirty="0">
              <a:solidFill>
                <a:schemeClr val="accent4"/>
              </a:solidFill>
              <a:latin typeface="Consolas" panose="020B0609020204030204" pitchFamily="49" charset="0"/>
            </a:endParaRPr>
          </a:p>
        </p:txBody>
      </p:sp>
      <p:sp>
        <p:nvSpPr>
          <p:cNvPr id="14" name="CuadroTexto 13">
            <a:extLst>
              <a:ext uri="{FF2B5EF4-FFF2-40B4-BE49-F238E27FC236}">
                <a16:creationId xmlns:a16="http://schemas.microsoft.com/office/drawing/2014/main" id="{1DBD656B-98A5-4B51-BE37-32316D62CB7E}"/>
              </a:ext>
            </a:extLst>
          </p:cNvPr>
          <p:cNvSpPr txBox="1"/>
          <p:nvPr/>
        </p:nvSpPr>
        <p:spPr>
          <a:xfrm>
            <a:off x="323528" y="1918573"/>
            <a:ext cx="3759161" cy="646331"/>
          </a:xfrm>
          <a:prstGeom prst="rect">
            <a:avLst/>
          </a:prstGeom>
          <a:noFill/>
        </p:spPr>
        <p:txBody>
          <a:bodyPr wrap="square" rtlCol="0">
            <a:spAutoFit/>
          </a:bodyPr>
          <a:lstStyle/>
          <a:p>
            <a:r>
              <a:rPr lang="es-CO" b="1" dirty="0">
                <a:solidFill>
                  <a:srgbClr val="00B050"/>
                </a:solidFill>
              </a:rPr>
              <a:t>Si</a:t>
            </a:r>
            <a:r>
              <a:rPr lang="es-CO" dirty="0"/>
              <a:t>: </a:t>
            </a:r>
            <a:r>
              <a:rPr lang="es-CO" b="1" dirty="0"/>
              <a:t>c</a:t>
            </a:r>
            <a:r>
              <a:rPr lang="es-MX" b="1" dirty="0"/>
              <a:t>onstantes globales</a:t>
            </a:r>
            <a:r>
              <a:rPr lang="es-MX" dirty="0"/>
              <a:t> (en MAYÚSCULA; su valor nunca cambia)</a:t>
            </a:r>
            <a:endParaRPr lang="es-CO" b="1" dirty="0"/>
          </a:p>
        </p:txBody>
      </p:sp>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5827989" y="5545400"/>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17" name="CuadroTexto 16">
            <a:extLst>
              <a:ext uri="{FF2B5EF4-FFF2-40B4-BE49-F238E27FC236}">
                <a16:creationId xmlns:a16="http://schemas.microsoft.com/office/drawing/2014/main" id="{EFB0EDE6-2AA3-43E3-A4EF-EA5603DEFE7C}"/>
              </a:ext>
            </a:extLst>
          </p:cNvPr>
          <p:cNvSpPr txBox="1"/>
          <p:nvPr/>
        </p:nvSpPr>
        <p:spPr>
          <a:xfrm>
            <a:off x="402964" y="6248345"/>
            <a:ext cx="3702791" cy="276999"/>
          </a:xfrm>
          <a:prstGeom prst="rect">
            <a:avLst/>
          </a:prstGeom>
          <a:noFill/>
          <a:ln>
            <a:solidFill>
              <a:schemeClr val="tx1"/>
            </a:solidFill>
          </a:ln>
        </p:spPr>
        <p:txBody>
          <a:bodyPr wrap="square">
            <a:spAutoFit/>
          </a:bodyPr>
          <a:lstStyle/>
          <a:p>
            <a:r>
              <a:rPr lang="es-CO" sz="1200" dirty="0">
                <a:latin typeface="Consolas" panose="020B0609020204030204" pitchFamily="49" charset="0"/>
              </a:rPr>
              <a:t>25 °C = 298.15 </a:t>
            </a:r>
            <a:r>
              <a:rPr lang="es-CO" sz="1200" dirty="0" err="1">
                <a:latin typeface="Consolas" panose="020B0609020204030204" pitchFamily="49" charset="0"/>
              </a:rPr>
              <a:t>°K</a:t>
            </a:r>
            <a:endParaRPr lang="es-CO" sz="1200" dirty="0">
              <a:latin typeface="Consolas" panose="020B0609020204030204" pitchFamily="49" charset="0"/>
            </a:endParaRPr>
          </a:p>
        </p:txBody>
      </p:sp>
      <p:sp>
        <p:nvSpPr>
          <p:cNvPr id="18" name="CuadroTexto 17">
            <a:extLst>
              <a:ext uri="{FF2B5EF4-FFF2-40B4-BE49-F238E27FC236}">
                <a16:creationId xmlns:a16="http://schemas.microsoft.com/office/drawing/2014/main" id="{D0013565-42EB-42AD-8933-619D6A34A9E5}"/>
              </a:ext>
            </a:extLst>
          </p:cNvPr>
          <p:cNvSpPr txBox="1"/>
          <p:nvPr/>
        </p:nvSpPr>
        <p:spPr>
          <a:xfrm>
            <a:off x="4397601" y="6207695"/>
            <a:ext cx="4572000" cy="461665"/>
          </a:xfrm>
          <a:prstGeom prst="rect">
            <a:avLst/>
          </a:prstGeom>
          <a:noFill/>
          <a:ln>
            <a:solidFill>
              <a:schemeClr val="tx1"/>
            </a:solidFill>
          </a:ln>
        </p:spPr>
        <p:txBody>
          <a:bodyPr wrap="square">
            <a:spAutoFit/>
          </a:bodyPr>
          <a:lstStyle/>
          <a:p>
            <a:r>
              <a:rPr lang="es-CO" sz="1200" dirty="0">
                <a:latin typeface="Consolas" panose="020B0609020204030204" pitchFamily="49" charset="0"/>
              </a:rPr>
              <a:t>23 °C = 73.4 °F</a:t>
            </a:r>
          </a:p>
          <a:p>
            <a:r>
              <a:rPr lang="es-CO" sz="1200" dirty="0">
                <a:latin typeface="Consolas" panose="020B0609020204030204" pitchFamily="49" charset="0"/>
              </a:rPr>
              <a:t>Conversiones: 3</a:t>
            </a:r>
          </a:p>
        </p:txBody>
      </p:sp>
      <p:sp>
        <p:nvSpPr>
          <p:cNvPr id="20" name="CuadroTexto 19">
            <a:extLst>
              <a:ext uri="{FF2B5EF4-FFF2-40B4-BE49-F238E27FC236}">
                <a16:creationId xmlns:a16="http://schemas.microsoft.com/office/drawing/2014/main" id="{F9016B5F-0537-4FB6-B4F5-41B8BAA7EF37}"/>
              </a:ext>
            </a:extLst>
          </p:cNvPr>
          <p:cNvSpPr txBox="1"/>
          <p:nvPr/>
        </p:nvSpPr>
        <p:spPr>
          <a:xfrm>
            <a:off x="352355" y="5898758"/>
            <a:ext cx="2114790" cy="338554"/>
          </a:xfrm>
          <a:prstGeom prst="rect">
            <a:avLst/>
          </a:prstGeom>
          <a:noFill/>
        </p:spPr>
        <p:txBody>
          <a:bodyPr wrap="square" rtlCol="0">
            <a:spAutoFit/>
          </a:bodyPr>
          <a:lstStyle/>
          <a:p>
            <a:r>
              <a:rPr lang="es-CO" sz="1600" b="1" dirty="0"/>
              <a:t>Salida en pantalla</a:t>
            </a:r>
          </a:p>
        </p:txBody>
      </p:sp>
      <p:sp>
        <p:nvSpPr>
          <p:cNvPr id="21" name="CuadroTexto 20">
            <a:extLst>
              <a:ext uri="{FF2B5EF4-FFF2-40B4-BE49-F238E27FC236}">
                <a16:creationId xmlns:a16="http://schemas.microsoft.com/office/drawing/2014/main" id="{3FD198C7-6FD0-475B-AAF9-28238F29CD78}"/>
              </a:ext>
            </a:extLst>
          </p:cNvPr>
          <p:cNvSpPr txBox="1"/>
          <p:nvPr/>
        </p:nvSpPr>
        <p:spPr>
          <a:xfrm>
            <a:off x="4363530" y="5877272"/>
            <a:ext cx="2114790" cy="338554"/>
          </a:xfrm>
          <a:prstGeom prst="rect">
            <a:avLst/>
          </a:prstGeom>
          <a:noFill/>
        </p:spPr>
        <p:txBody>
          <a:bodyPr wrap="square" rtlCol="0">
            <a:spAutoFit/>
          </a:bodyPr>
          <a:lstStyle/>
          <a:p>
            <a:r>
              <a:rPr lang="es-CO" sz="1600" b="1" dirty="0"/>
              <a:t>Salida en pantalla</a:t>
            </a:r>
          </a:p>
        </p:txBody>
      </p:sp>
    </p:spTree>
    <p:extLst>
      <p:ext uri="{BB962C8B-B14F-4D97-AF65-F5344CB8AC3E}">
        <p14:creationId xmlns:p14="http://schemas.microsoft.com/office/powerpoint/2010/main" val="23995770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Errores típicos de ámbito</a:t>
            </a:r>
          </a:p>
        </p:txBody>
      </p:sp>
      <p:sp>
        <p:nvSpPr>
          <p:cNvPr id="13" name="12 Rectángulo"/>
          <p:cNvSpPr/>
          <p:nvPr/>
        </p:nvSpPr>
        <p:spPr>
          <a:xfrm>
            <a:off x="308782" y="829161"/>
            <a:ext cx="8613543" cy="2862322"/>
          </a:xfrm>
          <a:prstGeom prst="rect">
            <a:avLst/>
          </a:prstGeom>
        </p:spPr>
        <p:txBody>
          <a:bodyPr wrap="square">
            <a:spAutoFit/>
          </a:bodyPr>
          <a:lstStyle/>
          <a:p>
            <a:r>
              <a:rPr lang="es-MX" sz="2000" dirty="0"/>
              <a:t>Si no se respeta el ámbito de las variables, Python lo avisa con un </a:t>
            </a:r>
            <a:r>
              <a:rPr lang="es-MX" sz="2000" b="1" dirty="0"/>
              <a:t>error</a:t>
            </a:r>
            <a:r>
              <a:rPr lang="es-MX" sz="2000" dirty="0"/>
              <a:t>.</a:t>
            </a:r>
          </a:p>
          <a:p>
            <a:r>
              <a:rPr lang="es-MX" sz="2000" b="1" dirty="0"/>
              <a:t>Caso 1</a:t>
            </a:r>
            <a:r>
              <a:rPr lang="es-MX" sz="2000" dirty="0"/>
              <a:t>: usar afuera una variable local.</a:t>
            </a:r>
          </a:p>
          <a:p>
            <a:endParaRPr lang="es-MX" sz="2000" dirty="0"/>
          </a:p>
          <a:p>
            <a:endParaRPr lang="es-MX" sz="2000" dirty="0"/>
          </a:p>
          <a:p>
            <a:endParaRPr lang="es-MX" sz="2000" dirty="0"/>
          </a:p>
          <a:p>
            <a:endParaRPr lang="es-MX" sz="2000" dirty="0"/>
          </a:p>
          <a:p>
            <a:endParaRPr lang="es-MX" sz="2000" dirty="0"/>
          </a:p>
          <a:p>
            <a:endParaRPr lang="es-MX" sz="2000" dirty="0"/>
          </a:p>
          <a:p>
            <a:r>
              <a:rPr lang="es-MX" sz="2000" b="1" dirty="0"/>
              <a:t>Caso 2</a:t>
            </a:r>
            <a:r>
              <a:rPr lang="es-MX" sz="2000" dirty="0"/>
              <a:t>: modificar una global sin global.</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110577181"/>
              </p:ext>
            </p:extLst>
          </p:nvPr>
        </p:nvGraphicFramePr>
        <p:xfrm>
          <a:off x="581177" y="1625352"/>
          <a:ext cx="3702791" cy="1371600"/>
        </p:xfrm>
        <a:graphic>
          <a:graphicData uri="http://schemas.openxmlformats.org/drawingml/2006/table">
            <a:tbl>
              <a:tblPr firstRow="1" bandRow="1">
                <a:tableStyleId>{2D5ABB26-0587-4C30-8999-92F81FD0307C}</a:tableStyleId>
              </a:tblPr>
              <a:tblGrid>
                <a:gridCol w="3702791">
                  <a:extLst>
                    <a:ext uri="{9D8B030D-6E8A-4147-A177-3AD203B41FA5}">
                      <a16:colId xmlns:a16="http://schemas.microsoft.com/office/drawing/2014/main" val="499056580"/>
                    </a:ext>
                  </a:extLst>
                </a:gridCol>
              </a:tblGrid>
              <a:tr h="887432">
                <a:tc>
                  <a:txBody>
                    <a:bodyPr/>
                    <a:lstStyle/>
                    <a:p>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celsius_a_fahrenheit</a:t>
                      </a:r>
                      <a:r>
                        <a:rPr lang="es-CO" sz="1200" dirty="0">
                          <a:latin typeface="Consolas" panose="020B0609020204030204" pitchFamily="49" charset="0"/>
                        </a:rPr>
                        <a: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    </a:t>
                      </a:r>
                      <a:r>
                        <a:rPr lang="es-CO" sz="1200" dirty="0" err="1">
                          <a:latin typeface="Consolas" panose="020B0609020204030204" pitchFamily="49" charset="0"/>
                        </a:rPr>
                        <a:t>temp_f</a:t>
                      </a:r>
                      <a:r>
                        <a:rPr lang="es-CO" sz="1200" dirty="0">
                          <a:latin typeface="Consolas" panose="020B0609020204030204" pitchFamily="49" charset="0"/>
                        </a:rPr>
                        <a:t> = (9 / 5) * </a:t>
                      </a:r>
                      <a:r>
                        <a:rPr lang="es-CO" sz="1200" dirty="0" err="1">
                          <a:latin typeface="Consolas" panose="020B0609020204030204" pitchFamily="49" charset="0"/>
                        </a:rPr>
                        <a:t>temp_c</a:t>
                      </a:r>
                      <a:r>
                        <a:rPr lang="es-CO" sz="1200" dirty="0">
                          <a:latin typeface="Consolas" panose="020B0609020204030204" pitchFamily="49" charset="0"/>
                        </a:rPr>
                        <a:t> + 32</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temp_f</a:t>
                      </a:r>
                      <a:endParaRPr lang="es-CO" sz="1200" dirty="0">
                        <a:latin typeface="Consolas" panose="020B0609020204030204" pitchFamily="49" charset="0"/>
                      </a:endParaRPr>
                    </a:p>
                    <a:p>
                      <a:endParaRPr lang="es-CO" sz="1200" dirty="0">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CO" sz="1200" dirty="0">
                          <a:latin typeface="Consolas" panose="020B0609020204030204" pitchFamily="49" charset="0"/>
                        </a:rPr>
                        <a:t># el resultado no se guarda</a:t>
                      </a:r>
                    </a:p>
                    <a:p>
                      <a:r>
                        <a:rPr lang="es-CO" sz="1200" dirty="0" err="1">
                          <a:latin typeface="Consolas" panose="020B0609020204030204" pitchFamily="49" charset="0"/>
                        </a:rPr>
                        <a:t>celsius_a_fahrenheit</a:t>
                      </a:r>
                      <a:r>
                        <a:rPr lang="es-CO" sz="1200" dirty="0">
                          <a:latin typeface="Consolas" panose="020B0609020204030204" pitchFamily="49" charset="0"/>
                        </a:rPr>
                        <a:t>(23)     </a:t>
                      </a:r>
                    </a:p>
                    <a:p>
                      <a:r>
                        <a:rPr lang="es-CO" sz="1200" dirty="0">
                          <a:latin typeface="Consolas" panose="020B0609020204030204" pitchFamily="49" charset="0"/>
                        </a:rPr>
                        <a:t>print(temp_f)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24" name="CuadroTexto 23">
            <a:extLst>
              <a:ext uri="{FF2B5EF4-FFF2-40B4-BE49-F238E27FC236}">
                <a16:creationId xmlns:a16="http://schemas.microsoft.com/office/drawing/2014/main" id="{CE49B199-3734-442D-8D46-36A677AFFBAD}"/>
              </a:ext>
            </a:extLst>
          </p:cNvPr>
          <p:cNvSpPr txBox="1"/>
          <p:nvPr/>
        </p:nvSpPr>
        <p:spPr>
          <a:xfrm>
            <a:off x="581177" y="3803556"/>
            <a:ext cx="3702791" cy="1569660"/>
          </a:xfrm>
          <a:prstGeom prst="rect">
            <a:avLst/>
          </a:prstGeom>
          <a:noFill/>
          <a:ln>
            <a:solidFill>
              <a:schemeClr val="tx1"/>
            </a:solidFill>
          </a:ln>
        </p:spPr>
        <p:txBody>
          <a:bodyPr wrap="square">
            <a:spAutoFit/>
          </a:bodyPr>
          <a:lstStyle/>
          <a:p>
            <a:r>
              <a:rPr lang="es-MX" sz="1200" dirty="0">
                <a:latin typeface="Consolas" panose="020B0609020204030204" pitchFamily="49" charset="0"/>
              </a:rPr>
              <a:t>conversiones = 0</a:t>
            </a:r>
          </a:p>
          <a:p>
            <a:endParaRPr lang="es-MX" sz="1200" dirty="0">
              <a:latin typeface="Consolas" panose="020B0609020204030204" pitchFamily="49" charset="0"/>
            </a:endParaRPr>
          </a:p>
          <a:p>
            <a:r>
              <a:rPr lang="es-MX" sz="1200" dirty="0">
                <a:latin typeface="Consolas" panose="020B0609020204030204" pitchFamily="49" charset="0"/>
              </a:rPr>
              <a:t>def </a:t>
            </a:r>
            <a:r>
              <a:rPr lang="es-MX" sz="1200" dirty="0" err="1">
                <a:latin typeface="Consolas" panose="020B0609020204030204" pitchFamily="49" charset="0"/>
              </a:rPr>
              <a:t>celsius_a_fahrenheit</a:t>
            </a:r>
            <a:r>
              <a:rPr lang="es-MX" sz="1200" dirty="0">
                <a:latin typeface="Consolas" panose="020B0609020204030204" pitchFamily="49" charset="0"/>
              </a:rPr>
              <a:t>(</a:t>
            </a:r>
            <a:r>
              <a:rPr lang="es-MX" sz="1200" dirty="0" err="1">
                <a:latin typeface="Consolas" panose="020B0609020204030204" pitchFamily="49" charset="0"/>
              </a:rPr>
              <a:t>temp_c</a:t>
            </a:r>
            <a:r>
              <a:rPr lang="es-MX" sz="1200" dirty="0">
                <a:latin typeface="Consolas" panose="020B0609020204030204" pitchFamily="49" charset="0"/>
              </a:rPr>
              <a:t>):</a:t>
            </a:r>
          </a:p>
          <a:p>
            <a:r>
              <a:rPr lang="es-MX" sz="1200" dirty="0">
                <a:latin typeface="Consolas" panose="020B0609020204030204" pitchFamily="49" charset="0"/>
              </a:rPr>
              <a:t>    conversiones = conversiones + 1</a:t>
            </a:r>
          </a:p>
          <a:p>
            <a:r>
              <a:rPr lang="es-MX" sz="1200" dirty="0">
                <a:latin typeface="Consolas" panose="020B0609020204030204" pitchFamily="49" charset="0"/>
              </a:rPr>
              <a:t>    </a:t>
            </a:r>
            <a:r>
              <a:rPr lang="es-MX" sz="1200" dirty="0" err="1">
                <a:latin typeface="Consolas" panose="020B0609020204030204" pitchFamily="49" charset="0"/>
              </a:rPr>
              <a:t>temp_f</a:t>
            </a:r>
            <a:r>
              <a:rPr lang="es-MX" sz="1200" dirty="0">
                <a:latin typeface="Consolas" panose="020B0609020204030204" pitchFamily="49" charset="0"/>
              </a:rPr>
              <a:t> = (9 / 5) * </a:t>
            </a:r>
            <a:r>
              <a:rPr lang="es-MX" sz="1200" dirty="0" err="1">
                <a:latin typeface="Consolas" panose="020B0609020204030204" pitchFamily="49" charset="0"/>
              </a:rPr>
              <a:t>temp_c</a:t>
            </a:r>
            <a:r>
              <a:rPr lang="es-MX" sz="1200" dirty="0">
                <a:latin typeface="Consolas" panose="020B0609020204030204" pitchFamily="49" charset="0"/>
              </a:rPr>
              <a:t> + 32</a:t>
            </a:r>
          </a:p>
          <a:p>
            <a:r>
              <a:rPr lang="es-MX" sz="1200" dirty="0">
                <a:latin typeface="Consolas" panose="020B0609020204030204" pitchFamily="49" charset="0"/>
              </a:rPr>
              <a:t>    return </a:t>
            </a:r>
            <a:r>
              <a:rPr lang="es-MX" sz="1200" dirty="0" err="1">
                <a:latin typeface="Consolas" panose="020B0609020204030204" pitchFamily="49" charset="0"/>
              </a:rPr>
              <a:t>temp_f</a:t>
            </a:r>
            <a:endParaRPr lang="es-MX" sz="1200" dirty="0">
              <a:latin typeface="Consolas" panose="020B0609020204030204" pitchFamily="49" charset="0"/>
            </a:endParaRPr>
          </a:p>
          <a:p>
            <a:endParaRPr lang="es-MX" sz="1200" dirty="0">
              <a:latin typeface="Consolas" panose="020B0609020204030204" pitchFamily="49" charset="0"/>
            </a:endParaRPr>
          </a:p>
          <a:p>
            <a:r>
              <a:rPr lang="es-MX" sz="1200" dirty="0" err="1">
                <a:latin typeface="Consolas" panose="020B0609020204030204" pitchFamily="49" charset="0"/>
              </a:rPr>
              <a:t>temp_f</a:t>
            </a:r>
            <a:r>
              <a:rPr lang="es-MX" sz="1200" dirty="0">
                <a:latin typeface="Consolas" panose="020B0609020204030204" pitchFamily="49" charset="0"/>
              </a:rPr>
              <a:t> = </a:t>
            </a:r>
            <a:r>
              <a:rPr lang="es-MX" sz="1200" dirty="0" err="1">
                <a:latin typeface="Consolas" panose="020B0609020204030204" pitchFamily="49" charset="0"/>
              </a:rPr>
              <a:t>celsius_a_fahrenheit</a:t>
            </a:r>
            <a:r>
              <a:rPr lang="es-MX" sz="1200" dirty="0">
                <a:latin typeface="Consolas" panose="020B0609020204030204" pitchFamily="49" charset="0"/>
              </a:rPr>
              <a:t>(23)</a:t>
            </a:r>
            <a:endParaRPr lang="es-CO" sz="1200" dirty="0">
              <a:latin typeface="Consolas" panose="020B0609020204030204" pitchFamily="49" charset="0"/>
            </a:endParaRPr>
          </a:p>
        </p:txBody>
      </p:sp>
      <p:sp>
        <p:nvSpPr>
          <p:cNvPr id="25" name="CuadroTexto 24">
            <a:hlinkClick r:id="rId2"/>
            <a:extLst>
              <a:ext uri="{FF2B5EF4-FFF2-40B4-BE49-F238E27FC236}">
                <a16:creationId xmlns:a16="http://schemas.microsoft.com/office/drawing/2014/main" id="{3658ECAE-DAAE-45DD-9BAA-B8ED9E8E0D15}"/>
              </a:ext>
            </a:extLst>
          </p:cNvPr>
          <p:cNvSpPr txBox="1"/>
          <p:nvPr/>
        </p:nvSpPr>
        <p:spPr>
          <a:xfrm>
            <a:off x="1539362" y="5384249"/>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1547664" y="3002057"/>
            <a:ext cx="1664486" cy="276999"/>
          </a:xfrm>
          <a:prstGeom prst="rect">
            <a:avLst/>
          </a:prstGeom>
          <a:noFill/>
        </p:spPr>
        <p:txBody>
          <a:bodyPr wrap="square" rtlCol="0">
            <a:spAutoFit/>
          </a:bodyPr>
          <a:lstStyle/>
          <a:p>
            <a:pPr algn="ctr"/>
            <a:r>
              <a:rPr lang="es-CO" sz="1200" dirty="0">
                <a:hlinkClick r:id="rId4"/>
              </a:rPr>
              <a:t>Link simulación</a:t>
            </a:r>
            <a:endParaRPr lang="es-CO" sz="1200" dirty="0"/>
          </a:p>
        </p:txBody>
      </p:sp>
      <p:sp>
        <p:nvSpPr>
          <p:cNvPr id="17" name="CuadroTexto 16">
            <a:extLst>
              <a:ext uri="{FF2B5EF4-FFF2-40B4-BE49-F238E27FC236}">
                <a16:creationId xmlns:a16="http://schemas.microsoft.com/office/drawing/2014/main" id="{EFB0EDE6-2AA3-43E3-A4EF-EA5603DEFE7C}"/>
              </a:ext>
            </a:extLst>
          </p:cNvPr>
          <p:cNvSpPr txBox="1"/>
          <p:nvPr/>
        </p:nvSpPr>
        <p:spPr>
          <a:xfrm>
            <a:off x="4726391" y="1772816"/>
            <a:ext cx="3702791" cy="276999"/>
          </a:xfrm>
          <a:prstGeom prst="rect">
            <a:avLst/>
          </a:prstGeom>
          <a:noFill/>
          <a:ln>
            <a:solidFill>
              <a:schemeClr val="tx1"/>
            </a:solidFill>
          </a:ln>
        </p:spPr>
        <p:txBody>
          <a:bodyPr wrap="square">
            <a:spAutoFit/>
          </a:bodyPr>
          <a:lstStyle/>
          <a:p>
            <a:r>
              <a:rPr lang="en-US" sz="1200" dirty="0" err="1">
                <a:latin typeface="Consolas" panose="020B0609020204030204" pitchFamily="49" charset="0"/>
              </a:rPr>
              <a:t>NameError</a:t>
            </a:r>
            <a:r>
              <a:rPr lang="en-US" sz="1200" dirty="0">
                <a:latin typeface="Consolas" panose="020B0609020204030204" pitchFamily="49" charset="0"/>
              </a:rPr>
              <a:t>: name '</a:t>
            </a:r>
            <a:r>
              <a:rPr lang="en-US" sz="1200" dirty="0" err="1">
                <a:latin typeface="Consolas" panose="020B0609020204030204" pitchFamily="49" charset="0"/>
              </a:rPr>
              <a:t>temp_f</a:t>
            </a:r>
            <a:r>
              <a:rPr lang="en-US" sz="1200" dirty="0">
                <a:latin typeface="Consolas" panose="020B0609020204030204" pitchFamily="49" charset="0"/>
              </a:rPr>
              <a:t>' is not defined</a:t>
            </a:r>
            <a:endParaRPr lang="es-CO" sz="1200" dirty="0">
              <a:latin typeface="Consolas" panose="020B0609020204030204" pitchFamily="49" charset="0"/>
            </a:endParaRPr>
          </a:p>
        </p:txBody>
      </p:sp>
      <p:sp>
        <p:nvSpPr>
          <p:cNvPr id="18" name="CuadroTexto 17">
            <a:extLst>
              <a:ext uri="{FF2B5EF4-FFF2-40B4-BE49-F238E27FC236}">
                <a16:creationId xmlns:a16="http://schemas.microsoft.com/office/drawing/2014/main" id="{D0013565-42EB-42AD-8933-619D6A34A9E5}"/>
              </a:ext>
            </a:extLst>
          </p:cNvPr>
          <p:cNvSpPr txBox="1"/>
          <p:nvPr/>
        </p:nvSpPr>
        <p:spPr>
          <a:xfrm>
            <a:off x="4752528" y="4149080"/>
            <a:ext cx="3702790" cy="646331"/>
          </a:xfrm>
          <a:prstGeom prst="rect">
            <a:avLst/>
          </a:prstGeom>
          <a:noFill/>
          <a:ln>
            <a:solidFill>
              <a:schemeClr val="tx1"/>
            </a:solidFill>
          </a:ln>
        </p:spPr>
        <p:txBody>
          <a:bodyPr wrap="square">
            <a:spAutoFit/>
          </a:bodyPr>
          <a:lstStyle/>
          <a:p>
            <a:r>
              <a:rPr lang="en-US" sz="1200" dirty="0" err="1">
                <a:latin typeface="Consolas" panose="020B0609020204030204" pitchFamily="49" charset="0"/>
              </a:rPr>
              <a:t>UnboundLocalError</a:t>
            </a:r>
            <a:r>
              <a:rPr lang="en-US" sz="1200" dirty="0">
                <a:latin typeface="Consolas" panose="020B0609020204030204" pitchFamily="49" charset="0"/>
              </a:rPr>
              <a:t>: cannot access local variable '</a:t>
            </a:r>
            <a:r>
              <a:rPr lang="en-US" sz="1200" dirty="0" err="1">
                <a:latin typeface="Consolas" panose="020B0609020204030204" pitchFamily="49" charset="0"/>
              </a:rPr>
              <a:t>conversiones</a:t>
            </a:r>
            <a:r>
              <a:rPr lang="en-US" sz="1200" dirty="0">
                <a:latin typeface="Consolas" panose="020B0609020204030204" pitchFamily="49" charset="0"/>
              </a:rPr>
              <a:t>' where it is not associated with a value</a:t>
            </a:r>
            <a:endParaRPr lang="es-CO" sz="1200" dirty="0">
              <a:latin typeface="Consolas" panose="020B0609020204030204" pitchFamily="49" charset="0"/>
            </a:endParaRPr>
          </a:p>
        </p:txBody>
      </p:sp>
      <p:sp>
        <p:nvSpPr>
          <p:cNvPr id="20" name="CuadroTexto 19">
            <a:extLst>
              <a:ext uri="{FF2B5EF4-FFF2-40B4-BE49-F238E27FC236}">
                <a16:creationId xmlns:a16="http://schemas.microsoft.com/office/drawing/2014/main" id="{F9016B5F-0537-4FB6-B4F5-41B8BAA7EF37}"/>
              </a:ext>
            </a:extLst>
          </p:cNvPr>
          <p:cNvSpPr txBox="1"/>
          <p:nvPr/>
        </p:nvSpPr>
        <p:spPr>
          <a:xfrm>
            <a:off x="4761466" y="1412776"/>
            <a:ext cx="2114790" cy="338554"/>
          </a:xfrm>
          <a:prstGeom prst="rect">
            <a:avLst/>
          </a:prstGeom>
          <a:noFill/>
        </p:spPr>
        <p:txBody>
          <a:bodyPr wrap="square" rtlCol="0">
            <a:spAutoFit/>
          </a:bodyPr>
          <a:lstStyle/>
          <a:p>
            <a:r>
              <a:rPr lang="es-CO" sz="1600" b="1" dirty="0"/>
              <a:t>Salida en pantalla</a:t>
            </a:r>
          </a:p>
        </p:txBody>
      </p:sp>
      <p:sp>
        <p:nvSpPr>
          <p:cNvPr id="21" name="CuadroTexto 20">
            <a:extLst>
              <a:ext uri="{FF2B5EF4-FFF2-40B4-BE49-F238E27FC236}">
                <a16:creationId xmlns:a16="http://schemas.microsoft.com/office/drawing/2014/main" id="{3FD198C7-6FD0-475B-AAF9-28238F29CD78}"/>
              </a:ext>
            </a:extLst>
          </p:cNvPr>
          <p:cNvSpPr txBox="1"/>
          <p:nvPr/>
        </p:nvSpPr>
        <p:spPr>
          <a:xfrm>
            <a:off x="4657069" y="3789040"/>
            <a:ext cx="2114790" cy="338554"/>
          </a:xfrm>
          <a:prstGeom prst="rect">
            <a:avLst/>
          </a:prstGeom>
          <a:noFill/>
        </p:spPr>
        <p:txBody>
          <a:bodyPr wrap="square" rtlCol="0">
            <a:spAutoFit/>
          </a:bodyPr>
          <a:lstStyle/>
          <a:p>
            <a:r>
              <a:rPr lang="es-CO" sz="1600" b="1" dirty="0"/>
              <a:t>Salida en pantalla</a:t>
            </a:r>
          </a:p>
        </p:txBody>
      </p:sp>
      <p:sp>
        <p:nvSpPr>
          <p:cNvPr id="19" name="CuadroTexto 18">
            <a:extLst>
              <a:ext uri="{FF2B5EF4-FFF2-40B4-BE49-F238E27FC236}">
                <a16:creationId xmlns:a16="http://schemas.microsoft.com/office/drawing/2014/main" id="{5E3E852D-135A-413A-A68B-B69A3D7455CA}"/>
              </a:ext>
            </a:extLst>
          </p:cNvPr>
          <p:cNvSpPr txBox="1"/>
          <p:nvPr/>
        </p:nvSpPr>
        <p:spPr>
          <a:xfrm>
            <a:off x="539552" y="5949280"/>
            <a:ext cx="7987774" cy="369332"/>
          </a:xfrm>
          <a:prstGeom prst="rect">
            <a:avLst/>
          </a:prstGeom>
          <a:solidFill>
            <a:schemeClr val="accent6">
              <a:lumMod val="20000"/>
              <a:lumOff val="80000"/>
            </a:schemeClr>
          </a:solidFill>
        </p:spPr>
        <p:txBody>
          <a:bodyPr wrap="square">
            <a:spAutoFit/>
          </a:bodyPr>
          <a:lstStyle/>
          <a:p>
            <a:r>
              <a:rPr lang="es-CO" dirty="0"/>
              <a:t>Las variables globales hacen que los programas sean difíciles de entender y depurar.</a:t>
            </a:r>
          </a:p>
        </p:txBody>
      </p:sp>
      <p:sp>
        <p:nvSpPr>
          <p:cNvPr id="22" name="CuadroTexto 21">
            <a:extLst>
              <a:ext uri="{FF2B5EF4-FFF2-40B4-BE49-F238E27FC236}">
                <a16:creationId xmlns:a16="http://schemas.microsoft.com/office/drawing/2014/main" id="{007C6454-B67F-40E6-B06D-5CECAA123D76}"/>
              </a:ext>
            </a:extLst>
          </p:cNvPr>
          <p:cNvSpPr txBox="1"/>
          <p:nvPr/>
        </p:nvSpPr>
        <p:spPr>
          <a:xfrm>
            <a:off x="4470148" y="2370946"/>
            <a:ext cx="4604580" cy="553998"/>
          </a:xfrm>
          <a:prstGeom prst="rect">
            <a:avLst/>
          </a:prstGeom>
          <a:solidFill>
            <a:schemeClr val="accent2">
              <a:lumMod val="20000"/>
              <a:lumOff val="80000"/>
            </a:schemeClr>
          </a:solidFill>
        </p:spPr>
        <p:txBody>
          <a:bodyPr wrap="square">
            <a:spAutoFit/>
          </a:bodyPr>
          <a:lstStyle/>
          <a:p>
            <a:r>
              <a:rPr lang="es-CO" sz="1600" b="1" dirty="0">
                <a:solidFill>
                  <a:schemeClr val="accent4"/>
                </a:solidFill>
              </a:rPr>
              <a:t>Solución</a:t>
            </a:r>
          </a:p>
          <a:p>
            <a:r>
              <a:rPr lang="es-CO" sz="1400" b="1" dirty="0"/>
              <a:t>Guardar el resultado</a:t>
            </a:r>
            <a:r>
              <a:rPr lang="es-CO" sz="1400" dirty="0"/>
              <a:t>: </a:t>
            </a:r>
            <a:r>
              <a:rPr lang="es-CO" sz="1200" dirty="0" err="1">
                <a:latin typeface="Consolas" panose="020B0609020204030204" pitchFamily="49" charset="0"/>
              </a:rPr>
              <a:t>temp_f</a:t>
            </a:r>
            <a:r>
              <a:rPr lang="es-CO" sz="1200" dirty="0">
                <a:latin typeface="Consolas" panose="020B0609020204030204" pitchFamily="49" charset="0"/>
              </a:rPr>
              <a:t> = </a:t>
            </a:r>
            <a:r>
              <a:rPr lang="es-CO" sz="1200" dirty="0" err="1">
                <a:latin typeface="Consolas" panose="020B0609020204030204" pitchFamily="49" charset="0"/>
              </a:rPr>
              <a:t>celsius_a_fahrenheit</a:t>
            </a:r>
            <a:r>
              <a:rPr lang="es-CO" sz="1200" dirty="0">
                <a:latin typeface="Consolas" panose="020B0609020204030204" pitchFamily="49" charset="0"/>
              </a:rPr>
              <a:t>(23)</a:t>
            </a:r>
          </a:p>
        </p:txBody>
      </p:sp>
      <p:sp>
        <p:nvSpPr>
          <p:cNvPr id="23" name="CuadroTexto 22">
            <a:extLst>
              <a:ext uri="{FF2B5EF4-FFF2-40B4-BE49-F238E27FC236}">
                <a16:creationId xmlns:a16="http://schemas.microsoft.com/office/drawing/2014/main" id="{04A11684-E9F8-4677-ACE6-4FA9A8AAF888}"/>
              </a:ext>
            </a:extLst>
          </p:cNvPr>
          <p:cNvSpPr txBox="1"/>
          <p:nvPr/>
        </p:nvSpPr>
        <p:spPr>
          <a:xfrm>
            <a:off x="4391473" y="4881934"/>
            <a:ext cx="4604580" cy="553998"/>
          </a:xfrm>
          <a:prstGeom prst="rect">
            <a:avLst/>
          </a:prstGeom>
          <a:solidFill>
            <a:schemeClr val="accent2">
              <a:lumMod val="20000"/>
              <a:lumOff val="80000"/>
            </a:schemeClr>
          </a:solidFill>
        </p:spPr>
        <p:txBody>
          <a:bodyPr wrap="square">
            <a:spAutoFit/>
          </a:bodyPr>
          <a:lstStyle/>
          <a:p>
            <a:r>
              <a:rPr lang="es-CO" sz="1600" b="1" dirty="0">
                <a:solidFill>
                  <a:schemeClr val="accent4"/>
                </a:solidFill>
              </a:rPr>
              <a:t>Recomendación</a:t>
            </a:r>
          </a:p>
          <a:p>
            <a:r>
              <a:rPr lang="es-MX" sz="1400" dirty="0"/>
              <a:t>Contar en el programa principal, no dentro de la función.</a:t>
            </a:r>
            <a:endParaRPr lang="es-CO" sz="1200" dirty="0">
              <a:latin typeface="Consolas" panose="020B0609020204030204" pitchFamily="49" charset="0"/>
            </a:endParaRPr>
          </a:p>
        </p:txBody>
      </p:sp>
    </p:spTree>
    <p:extLst>
      <p:ext uri="{BB962C8B-B14F-4D97-AF65-F5344CB8AC3E}">
        <p14:creationId xmlns:p14="http://schemas.microsoft.com/office/powerpoint/2010/main" val="21383194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Formas de pasar argumentos</a:t>
            </a:r>
          </a:p>
        </p:txBody>
      </p:sp>
      <p:sp>
        <p:nvSpPr>
          <p:cNvPr id="13" name="12 Rectángulo"/>
          <p:cNvSpPr/>
          <p:nvPr/>
        </p:nvSpPr>
        <p:spPr>
          <a:xfrm>
            <a:off x="179512" y="692696"/>
            <a:ext cx="8835218" cy="1323439"/>
          </a:xfrm>
          <a:prstGeom prst="rect">
            <a:avLst/>
          </a:prstGeom>
        </p:spPr>
        <p:txBody>
          <a:bodyPr wrap="square">
            <a:spAutoFit/>
          </a:bodyPr>
          <a:lstStyle/>
          <a:p>
            <a:r>
              <a:rPr lang="es-MX" sz="2000" dirty="0"/>
              <a:t>Python a diferencia de otros lenguajes de programación (como C por ejemplo), permite dos formas de pasar argumentos:</a:t>
            </a:r>
          </a:p>
          <a:p>
            <a:pPr marL="342900" indent="-342900">
              <a:buFont typeface="Arial" panose="020B0604020202020204" pitchFamily="34" charset="0"/>
              <a:buChar char="•"/>
            </a:pPr>
            <a:r>
              <a:rPr lang="es-MX" sz="2000" b="1" dirty="0"/>
              <a:t>Por posición</a:t>
            </a:r>
            <a:r>
              <a:rPr lang="es-MX" sz="2000" dirty="0"/>
              <a:t>: los argumentos se asignan en el mismo orden de los parámetros.</a:t>
            </a:r>
          </a:p>
          <a:p>
            <a:pPr marL="342900" indent="-342900">
              <a:buFont typeface="Arial" panose="020B0604020202020204" pitchFamily="34" charset="0"/>
              <a:buChar char="•"/>
            </a:pPr>
            <a:r>
              <a:rPr lang="es-MX" sz="2000" b="1" dirty="0"/>
              <a:t>Por nombre</a:t>
            </a:r>
            <a:r>
              <a:rPr lang="es-MX" sz="2000" dirty="0"/>
              <a:t>: se escribe </a:t>
            </a:r>
            <a:r>
              <a:rPr lang="es-MX" b="1" dirty="0">
                <a:latin typeface="Consolas" panose="020B0609020204030204" pitchFamily="49" charset="0"/>
              </a:rPr>
              <a:t>parametro = valor</a:t>
            </a:r>
            <a:r>
              <a:rPr lang="es-MX" sz="2000" dirty="0"/>
              <a:t>, y el orden no importa.</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1973091541"/>
              </p:ext>
            </p:extLst>
          </p:nvPr>
        </p:nvGraphicFramePr>
        <p:xfrm>
          <a:off x="1589289" y="2638008"/>
          <a:ext cx="5863031" cy="3383280"/>
        </p:xfrm>
        <a:graphic>
          <a:graphicData uri="http://schemas.openxmlformats.org/drawingml/2006/table">
            <a:tbl>
              <a:tblPr firstRow="1" bandRow="1">
                <a:tableStyleId>{2D5ABB26-0587-4C30-8999-92F81FD0307C}</a:tableStyleId>
              </a:tblPr>
              <a:tblGrid>
                <a:gridCol w="5863031">
                  <a:extLst>
                    <a:ext uri="{9D8B030D-6E8A-4147-A177-3AD203B41FA5}">
                      <a16:colId xmlns:a16="http://schemas.microsoft.com/office/drawing/2014/main" val="499056580"/>
                    </a:ext>
                  </a:extLst>
                </a:gridCol>
              </a:tblGrid>
              <a:tr h="2230547">
                <a:tc>
                  <a:txBody>
                    <a:bodyPr/>
                    <a:lstStyle/>
                    <a:p>
                      <a:r>
                        <a:rPr lang="es-CO" sz="1200" dirty="0" err="1">
                          <a:latin typeface="Consolas" panose="020B0609020204030204" pitchFamily="49" charset="0"/>
                        </a:rPr>
                        <a:t>def</a:t>
                      </a:r>
                      <a:r>
                        <a:rPr lang="es-CO" sz="1200" dirty="0">
                          <a:latin typeface="Consolas" panose="020B0609020204030204" pitchFamily="49" charset="0"/>
                        </a:rPr>
                        <a:t> factorial(n):</a:t>
                      </a:r>
                    </a:p>
                    <a:p>
                      <a:r>
                        <a:rPr lang="es-CO" sz="1200" dirty="0">
                          <a:latin typeface="Consolas" panose="020B0609020204030204" pitchFamily="49" charset="0"/>
                        </a:rPr>
                        <a:t>    </a:t>
                      </a:r>
                      <a:r>
                        <a:rPr lang="es-CO" sz="1200" dirty="0" err="1">
                          <a:latin typeface="Consolas" panose="020B0609020204030204" pitchFamily="49" charset="0"/>
                        </a:rPr>
                        <a:t>fact</a:t>
                      </a:r>
                      <a:r>
                        <a:rPr lang="es-CO" sz="1200" dirty="0">
                          <a:latin typeface="Consolas" panose="020B0609020204030204" pitchFamily="49" charset="0"/>
                        </a:rPr>
                        <a:t> = 1</a:t>
                      </a:r>
                    </a:p>
                    <a:p>
                      <a:r>
                        <a:rPr lang="es-CO" sz="1200" dirty="0">
                          <a:latin typeface="Consolas" panose="020B0609020204030204" pitchFamily="49" charset="0"/>
                        </a:rPr>
                        <a:t>    for i in range(1, n + 1):</a:t>
                      </a:r>
                    </a:p>
                    <a:p>
                      <a:r>
                        <a:rPr lang="es-CO" sz="1200" dirty="0">
                          <a:latin typeface="Consolas" panose="020B0609020204030204" pitchFamily="49" charset="0"/>
                        </a:rPr>
                        <a:t>        </a:t>
                      </a:r>
                      <a:r>
                        <a:rPr lang="es-CO" sz="1200" dirty="0" err="1">
                          <a:latin typeface="Consolas" panose="020B0609020204030204" pitchFamily="49" charset="0"/>
                        </a:rPr>
                        <a:t>fact</a:t>
                      </a:r>
                      <a:r>
                        <a:rPr lang="es-CO" sz="1200" dirty="0">
                          <a:latin typeface="Consolas" panose="020B0609020204030204" pitchFamily="49" charset="0"/>
                        </a:rPr>
                        <a:t> = </a:t>
                      </a:r>
                      <a:r>
                        <a:rPr lang="es-CO" sz="1200" dirty="0" err="1">
                          <a:latin typeface="Consolas" panose="020B0609020204030204" pitchFamily="49" charset="0"/>
                        </a:rPr>
                        <a:t>fact</a:t>
                      </a:r>
                      <a:r>
                        <a:rPr lang="es-CO" sz="1200" dirty="0">
                          <a:latin typeface="Consolas" panose="020B0609020204030204" pitchFamily="49" charset="0"/>
                        </a:rPr>
                        <a:t> * i</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fact</a:t>
                      </a:r>
                      <a:endParaRPr lang="es-CO" sz="1200" dirty="0">
                        <a:latin typeface="Consolas" panose="020B0609020204030204" pitchFamily="49" charset="0"/>
                      </a:endParaRPr>
                    </a:p>
                    <a:p>
                      <a:endParaRPr lang="es-CO" sz="1200" dirty="0">
                        <a:latin typeface="Consolas" panose="020B0609020204030204" pitchFamily="49" charset="0"/>
                      </a:endParaRPr>
                    </a:p>
                    <a:p>
                      <a:r>
                        <a:rPr lang="es-CO" sz="1200" dirty="0" err="1">
                          <a:latin typeface="Consolas" panose="020B0609020204030204" pitchFamily="49" charset="0"/>
                        </a:rPr>
                        <a:t>def</a:t>
                      </a:r>
                      <a:r>
                        <a:rPr lang="es-CO" sz="1200" dirty="0">
                          <a:latin typeface="Consolas" panose="020B0609020204030204" pitchFamily="49" charset="0"/>
                        </a:rPr>
                        <a:t> seno(x, n):</a:t>
                      </a:r>
                    </a:p>
                    <a:p>
                      <a:r>
                        <a:rPr lang="es-CO" sz="1200" dirty="0">
                          <a:latin typeface="Consolas" panose="020B0609020204030204" pitchFamily="49" charset="0"/>
                        </a:rPr>
                        <a:t>    suma = 0</a:t>
                      </a:r>
                    </a:p>
                    <a:p>
                      <a:r>
                        <a:rPr lang="es-CO" sz="1200" dirty="0">
                          <a:latin typeface="Consolas" panose="020B0609020204030204" pitchFamily="49" charset="0"/>
                        </a:rPr>
                        <a:t>    for k in range(n):</a:t>
                      </a:r>
                    </a:p>
                    <a:p>
                      <a:r>
                        <a:rPr lang="es-CO" sz="1200" dirty="0">
                          <a:latin typeface="Consolas" panose="020B0609020204030204" pitchFamily="49" charset="0"/>
                        </a:rPr>
                        <a:t>        suma = suma + (-1)**k * x**(2*k + 1) / factorial(2*k + 1)</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suma</a:t>
                      </a:r>
                    </a:p>
                    <a:p>
                      <a:endParaRPr lang="es-CO" sz="1200" dirty="0">
                        <a:latin typeface="Consolas" panose="020B0609020204030204" pitchFamily="49" charset="0"/>
                      </a:endParaRPr>
                    </a:p>
                    <a:p>
                      <a:r>
                        <a:rPr lang="es-CO" sz="1200" dirty="0">
                          <a:latin typeface="Consolas" panose="020B0609020204030204" pitchFamily="49" charset="0"/>
                        </a:rPr>
                        <a:t>a = seno(1.0, 3)          # por </a:t>
                      </a:r>
                      <a:r>
                        <a:rPr lang="es-CO" sz="1200" dirty="0" err="1">
                          <a:latin typeface="Consolas" panose="020B0609020204030204" pitchFamily="49" charset="0"/>
                        </a:rPr>
                        <a:t>posicion</a:t>
                      </a:r>
                      <a:endParaRPr lang="es-CO" sz="1200" dirty="0">
                        <a:latin typeface="Consolas" panose="020B0609020204030204" pitchFamily="49" charset="0"/>
                      </a:endParaRPr>
                    </a:p>
                    <a:p>
                      <a:r>
                        <a:rPr lang="es-CO" sz="1200" dirty="0">
                          <a:latin typeface="Consolas" panose="020B0609020204030204" pitchFamily="49" charset="0"/>
                        </a:rPr>
                        <a:t>b = seno(x=1.0, n=3)      # por nombre</a:t>
                      </a:r>
                    </a:p>
                    <a:p>
                      <a:r>
                        <a:rPr lang="es-CO" sz="1200" dirty="0">
                          <a:latin typeface="Consolas" panose="020B0609020204030204" pitchFamily="49" charset="0"/>
                        </a:rPr>
                        <a:t>c = seno(n=3, x=1.0)      # por nombre, en otro orden</a:t>
                      </a:r>
                    </a:p>
                    <a:p>
                      <a:r>
                        <a:rPr lang="es-CO" sz="1200" dirty="0">
                          <a:latin typeface="Consolas" panose="020B0609020204030204" pitchFamily="49" charset="0"/>
                        </a:rPr>
                        <a:t>d = seno(1.0, n=3)        # mezclados</a:t>
                      </a:r>
                    </a:p>
                    <a:p>
                      <a:r>
                        <a:rPr lang="es-CO" sz="1200" dirty="0">
                          <a:latin typeface="Consolas" panose="020B0609020204030204" pitchFamily="49" charset="0"/>
                        </a:rPr>
                        <a:t># e = seno(n=3, 1.0)      # </a:t>
                      </a:r>
                      <a:r>
                        <a:rPr lang="es-CO" sz="1200" dirty="0" err="1">
                          <a:latin typeface="Consolas" panose="020B0609020204030204" pitchFamily="49" charset="0"/>
                        </a:rPr>
                        <a:t>SyntaxError</a:t>
                      </a:r>
                      <a:endParaRPr lang="es-CO" sz="1200" dirty="0">
                        <a:latin typeface="Consolas" panose="020B0609020204030204" pitchFamily="49" charset="0"/>
                      </a:endParaRPr>
                    </a:p>
                    <a:p>
                      <a:r>
                        <a:rPr lang="es-CO" sz="1200" dirty="0">
                          <a:latin typeface="Consolas" panose="020B0609020204030204" pitchFamily="49" charset="0"/>
                        </a:rPr>
                        <a:t>print(a, b,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3627594" y="5949280"/>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20" name="CuadroTexto 19">
            <a:extLst>
              <a:ext uri="{FF2B5EF4-FFF2-40B4-BE49-F238E27FC236}">
                <a16:creationId xmlns:a16="http://schemas.microsoft.com/office/drawing/2014/main" id="{F9016B5F-0537-4FB6-B4F5-41B8BAA7EF37}"/>
              </a:ext>
            </a:extLst>
          </p:cNvPr>
          <p:cNvSpPr txBox="1"/>
          <p:nvPr/>
        </p:nvSpPr>
        <p:spPr>
          <a:xfrm>
            <a:off x="154391" y="6228601"/>
            <a:ext cx="8835218" cy="584775"/>
          </a:xfrm>
          <a:prstGeom prst="rect">
            <a:avLst/>
          </a:prstGeom>
          <a:solidFill>
            <a:schemeClr val="accent6">
              <a:lumMod val="20000"/>
              <a:lumOff val="80000"/>
            </a:schemeClr>
          </a:solidFill>
        </p:spPr>
        <p:txBody>
          <a:bodyPr wrap="square" rtlCol="0">
            <a:spAutoFit/>
          </a:bodyPr>
          <a:lstStyle/>
          <a:p>
            <a:r>
              <a:rPr lang="es-MX" sz="1600" b="1" dirty="0"/>
              <a:t>Regla: </a:t>
            </a:r>
            <a:r>
              <a:rPr lang="es-MX" sz="1600" dirty="0"/>
              <a:t>se pueden mezclar, pero los argumentos por nombre van después de los posicionales. Si no, Python no ejecuta ninguna línea: </a:t>
            </a:r>
            <a:r>
              <a:rPr lang="es-MX" sz="1400" b="1" dirty="0">
                <a:latin typeface="Consolas" panose="020B0609020204030204" pitchFamily="49" charset="0"/>
              </a:rPr>
              <a:t>SyntaxError: positional argument follows keyword argument</a:t>
            </a:r>
            <a:r>
              <a:rPr lang="es-MX" sz="1400" dirty="0">
                <a:latin typeface="Consolas" panose="020B0609020204030204" pitchFamily="49" charset="0"/>
              </a:rPr>
              <a:t>.</a:t>
            </a:r>
            <a:endParaRPr lang="es-CO" sz="1400" dirty="0">
              <a:latin typeface="Consolas" panose="020B0609020204030204" pitchFamily="49" charset="0"/>
            </a:endParaRPr>
          </a:p>
        </p:txBody>
      </p:sp>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565DD407-B6E3-49BB-896B-88AA45E99CF5}"/>
                  </a:ext>
                </a:extLst>
              </p:cNvPr>
              <p:cNvSpPr txBox="1"/>
              <p:nvPr/>
            </p:nvSpPr>
            <p:spPr>
              <a:xfrm>
                <a:off x="2915816" y="1988840"/>
                <a:ext cx="3174587" cy="5597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s-MX" b="0" i="1" smtClean="0">
                              <a:latin typeface="Cambria Math" panose="02040503050406030204" pitchFamily="18" charset="0"/>
                            </a:rPr>
                          </m:ctrlPr>
                        </m:funcPr>
                        <m:fName>
                          <m:r>
                            <m:rPr>
                              <m:sty m:val="p"/>
                            </m:rPr>
                            <a:rPr lang="es-MX" b="0" i="0" smtClean="0">
                              <a:latin typeface="Cambria Math" panose="02040503050406030204" pitchFamily="18" charset="0"/>
                            </a:rPr>
                            <m:t>sen</m:t>
                          </m:r>
                        </m:fName>
                        <m:e>
                          <m:d>
                            <m:dPr>
                              <m:ctrlPr>
                                <a:rPr lang="es-MX" b="0" i="1" smtClean="0">
                                  <a:latin typeface="Cambria Math" panose="02040503050406030204" pitchFamily="18" charset="0"/>
                                </a:rPr>
                              </m:ctrlPr>
                            </m:dPr>
                            <m:e>
                              <m:r>
                                <a:rPr lang="es-MX" b="0" i="1" smtClean="0">
                                  <a:latin typeface="Cambria Math" panose="02040503050406030204" pitchFamily="18" charset="0"/>
                                </a:rPr>
                                <m:t>𝑥</m:t>
                              </m:r>
                            </m:e>
                          </m:d>
                          <m:r>
                            <a:rPr lang="es-MX" b="0" i="1" smtClean="0">
                              <a:latin typeface="Cambria Math" panose="02040503050406030204" pitchFamily="18" charset="0"/>
                            </a:rPr>
                            <m:t>=1−</m:t>
                          </m:r>
                          <m:f>
                            <m:fPr>
                              <m:ctrlPr>
                                <a:rPr lang="es-MX" b="0" i="1" smtClean="0">
                                  <a:latin typeface="Cambria Math" panose="02040503050406030204" pitchFamily="18" charset="0"/>
                                </a:rPr>
                              </m:ctrlPr>
                            </m:fPr>
                            <m:num>
                              <m:sSup>
                                <m:sSupPr>
                                  <m:ctrlPr>
                                    <a:rPr lang="es-MX" b="0" i="1" smtClean="0">
                                      <a:latin typeface="Cambria Math" panose="02040503050406030204" pitchFamily="18" charset="0"/>
                                    </a:rPr>
                                  </m:ctrlPr>
                                </m:sSupPr>
                                <m:e>
                                  <m:r>
                                    <a:rPr lang="es-MX" b="0" i="1" smtClean="0">
                                      <a:latin typeface="Cambria Math" panose="02040503050406030204" pitchFamily="18" charset="0"/>
                                    </a:rPr>
                                    <m:t>𝑥</m:t>
                                  </m:r>
                                </m:e>
                                <m:sup>
                                  <m:r>
                                    <a:rPr lang="es-MX" b="0" i="1" smtClean="0">
                                      <a:latin typeface="Cambria Math" panose="02040503050406030204" pitchFamily="18" charset="0"/>
                                    </a:rPr>
                                    <m:t>3</m:t>
                                  </m:r>
                                </m:sup>
                              </m:sSup>
                            </m:num>
                            <m:den>
                              <m:r>
                                <a:rPr lang="es-MX" b="0" i="1" smtClean="0">
                                  <a:latin typeface="Cambria Math" panose="02040503050406030204" pitchFamily="18" charset="0"/>
                                </a:rPr>
                                <m:t>3!</m:t>
                              </m:r>
                            </m:den>
                          </m:f>
                          <m:r>
                            <a:rPr lang="es-MX" b="0" i="1" smtClean="0">
                              <a:latin typeface="Cambria Math" panose="02040503050406030204" pitchFamily="18" charset="0"/>
                            </a:rPr>
                            <m:t>+</m:t>
                          </m:r>
                          <m:f>
                            <m:fPr>
                              <m:ctrlPr>
                                <a:rPr lang="es-MX" i="1">
                                  <a:latin typeface="Cambria Math" panose="02040503050406030204" pitchFamily="18" charset="0"/>
                                </a:rPr>
                              </m:ctrlPr>
                            </m:fPr>
                            <m:num>
                              <m:sSup>
                                <m:sSupPr>
                                  <m:ctrlPr>
                                    <a:rPr lang="es-MX" i="1">
                                      <a:latin typeface="Cambria Math" panose="02040503050406030204" pitchFamily="18" charset="0"/>
                                    </a:rPr>
                                  </m:ctrlPr>
                                </m:sSupPr>
                                <m:e>
                                  <m:r>
                                    <a:rPr lang="es-MX" i="1">
                                      <a:latin typeface="Cambria Math" panose="02040503050406030204" pitchFamily="18" charset="0"/>
                                    </a:rPr>
                                    <m:t>𝑥</m:t>
                                  </m:r>
                                </m:e>
                                <m:sup>
                                  <m:r>
                                    <a:rPr lang="es-MX" b="0" i="1" smtClean="0">
                                      <a:latin typeface="Cambria Math" panose="02040503050406030204" pitchFamily="18" charset="0"/>
                                    </a:rPr>
                                    <m:t>5</m:t>
                                  </m:r>
                                </m:sup>
                              </m:sSup>
                            </m:num>
                            <m:den>
                              <m:r>
                                <a:rPr lang="es-MX" b="0" i="1" smtClean="0">
                                  <a:latin typeface="Cambria Math" panose="02040503050406030204" pitchFamily="18" charset="0"/>
                                </a:rPr>
                                <m:t>5</m:t>
                              </m:r>
                              <m:r>
                                <a:rPr lang="es-MX" i="1">
                                  <a:latin typeface="Cambria Math" panose="02040503050406030204" pitchFamily="18" charset="0"/>
                                </a:rPr>
                                <m:t>!</m:t>
                              </m:r>
                            </m:den>
                          </m:f>
                          <m:r>
                            <a:rPr lang="es-MX" b="0" i="1" smtClean="0">
                              <a:latin typeface="Cambria Math" panose="02040503050406030204" pitchFamily="18" charset="0"/>
                            </a:rPr>
                            <m:t>−</m:t>
                          </m:r>
                          <m:f>
                            <m:fPr>
                              <m:ctrlPr>
                                <a:rPr lang="es-MX" i="1">
                                  <a:latin typeface="Cambria Math" panose="02040503050406030204" pitchFamily="18" charset="0"/>
                                </a:rPr>
                              </m:ctrlPr>
                            </m:fPr>
                            <m:num>
                              <m:sSup>
                                <m:sSupPr>
                                  <m:ctrlPr>
                                    <a:rPr lang="es-MX" i="1">
                                      <a:latin typeface="Cambria Math" panose="02040503050406030204" pitchFamily="18" charset="0"/>
                                    </a:rPr>
                                  </m:ctrlPr>
                                </m:sSupPr>
                                <m:e>
                                  <m:r>
                                    <a:rPr lang="es-MX" i="1">
                                      <a:latin typeface="Cambria Math" panose="02040503050406030204" pitchFamily="18" charset="0"/>
                                    </a:rPr>
                                    <m:t>𝑥</m:t>
                                  </m:r>
                                </m:e>
                                <m:sup>
                                  <m:r>
                                    <a:rPr lang="es-MX" b="0" i="1" smtClean="0">
                                      <a:latin typeface="Cambria Math" panose="02040503050406030204" pitchFamily="18" charset="0"/>
                                    </a:rPr>
                                    <m:t>7</m:t>
                                  </m:r>
                                </m:sup>
                              </m:sSup>
                            </m:num>
                            <m:den>
                              <m:r>
                                <a:rPr lang="es-MX" b="0" i="1" smtClean="0">
                                  <a:latin typeface="Cambria Math" panose="02040503050406030204" pitchFamily="18" charset="0"/>
                                </a:rPr>
                                <m:t>7</m:t>
                              </m:r>
                              <m:r>
                                <a:rPr lang="es-MX" i="1">
                                  <a:latin typeface="Cambria Math" panose="02040503050406030204" pitchFamily="18" charset="0"/>
                                </a:rPr>
                                <m:t>!</m:t>
                              </m:r>
                            </m:den>
                          </m:f>
                          <m:r>
                            <a:rPr lang="es-MX" b="0" i="1" smtClean="0">
                              <a:latin typeface="Cambria Math" panose="02040503050406030204" pitchFamily="18" charset="0"/>
                            </a:rPr>
                            <m:t>+…</m:t>
                          </m:r>
                        </m:e>
                      </m:func>
                    </m:oMath>
                  </m:oMathPara>
                </a14:m>
                <a:endParaRPr lang="es-CO" dirty="0"/>
              </a:p>
            </p:txBody>
          </p:sp>
        </mc:Choice>
        <mc:Fallback xmlns="">
          <p:sp>
            <p:nvSpPr>
              <p:cNvPr id="3" name="CuadroTexto 2">
                <a:extLst>
                  <a:ext uri="{FF2B5EF4-FFF2-40B4-BE49-F238E27FC236}">
                    <a16:creationId xmlns:a16="http://schemas.microsoft.com/office/drawing/2014/main" id="{565DD407-B6E3-49BB-896B-88AA45E99CF5}"/>
                  </a:ext>
                </a:extLst>
              </p:cNvPr>
              <p:cNvSpPr txBox="1">
                <a:spLocks noRot="1" noChangeAspect="1" noMove="1" noResize="1" noEditPoints="1" noAdjustHandles="1" noChangeArrowheads="1" noChangeShapeType="1" noTextEdit="1"/>
              </p:cNvSpPr>
              <p:nvPr/>
            </p:nvSpPr>
            <p:spPr>
              <a:xfrm>
                <a:off x="2915816" y="1988840"/>
                <a:ext cx="3174587" cy="559769"/>
              </a:xfrm>
              <a:prstGeom prst="rect">
                <a:avLst/>
              </a:prstGeom>
              <a:blipFill>
                <a:blip r:embed="rId4"/>
                <a:stretch>
                  <a:fillRect/>
                </a:stretch>
              </a:blipFill>
            </p:spPr>
            <p:txBody>
              <a:bodyPr/>
              <a:lstStyle/>
              <a:p>
                <a:r>
                  <a:rPr lang="es-CO">
                    <a:noFill/>
                  </a:rPr>
                  <a:t> </a:t>
                </a:r>
              </a:p>
            </p:txBody>
          </p:sp>
        </mc:Fallback>
      </mc:AlternateContent>
    </p:spTree>
    <p:extLst>
      <p:ext uri="{BB962C8B-B14F-4D97-AF65-F5344CB8AC3E}">
        <p14:creationId xmlns:p14="http://schemas.microsoft.com/office/powerpoint/2010/main" val="14760400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Parámetros con valor por defecto</a:t>
            </a:r>
          </a:p>
        </p:txBody>
      </p:sp>
      <p:sp>
        <p:nvSpPr>
          <p:cNvPr id="13" name="12 Rectángulo"/>
          <p:cNvSpPr/>
          <p:nvPr/>
        </p:nvSpPr>
        <p:spPr>
          <a:xfrm>
            <a:off x="179512" y="692696"/>
            <a:ext cx="8613543" cy="4093428"/>
          </a:xfrm>
          <a:prstGeom prst="rect">
            <a:avLst/>
          </a:prstGeom>
        </p:spPr>
        <p:txBody>
          <a:bodyPr wrap="square">
            <a:spAutoFit/>
          </a:bodyPr>
          <a:lstStyle/>
          <a:p>
            <a:r>
              <a:rPr lang="es-MX" sz="2000" b="1" dirty="0"/>
              <a:t>Problema</a:t>
            </a:r>
            <a:r>
              <a:rPr lang="es-MX" sz="2000" dirty="0"/>
              <a:t>: con la versión anterior, si se omite </a:t>
            </a:r>
            <a:r>
              <a:rPr lang="es-MX" b="1" dirty="0">
                <a:latin typeface="Consolas" panose="020B0609020204030204" pitchFamily="49" charset="0"/>
              </a:rPr>
              <a:t>n</a:t>
            </a:r>
            <a:r>
              <a:rPr lang="es-MX" sz="2000" dirty="0"/>
              <a:t>:</a:t>
            </a:r>
          </a:p>
          <a:p>
            <a:endParaRPr lang="es-MX" sz="2000" dirty="0"/>
          </a:p>
          <a:p>
            <a:endParaRPr lang="es-MX" sz="2000" dirty="0"/>
          </a:p>
          <a:p>
            <a:endParaRPr lang="es-MX" sz="2000" dirty="0"/>
          </a:p>
          <a:p>
            <a:r>
              <a:rPr lang="es-MX" sz="2000" b="1" dirty="0"/>
              <a:t>Solución</a:t>
            </a:r>
            <a:r>
              <a:rPr lang="es-MX" sz="2000" dirty="0"/>
              <a:t>: Darle a </a:t>
            </a:r>
            <a:r>
              <a:rPr lang="es-MX" sz="2000" b="1" dirty="0">
                <a:latin typeface="Consolas" panose="020B0609020204030204" pitchFamily="49" charset="0"/>
              </a:rPr>
              <a:t>n</a:t>
            </a:r>
            <a:r>
              <a:rPr lang="es-MX" sz="2000" dirty="0"/>
              <a:t> un valor por defecto:</a:t>
            </a:r>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r>
              <a:rPr lang="es-MX" sz="2000" b="1" dirty="0"/>
              <a:t>Salida en pantalla</a:t>
            </a:r>
            <a:r>
              <a:rPr lang="es-MX" sz="2000" dirty="0"/>
              <a:t>:</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3201635152"/>
              </p:ext>
            </p:extLst>
          </p:nvPr>
        </p:nvGraphicFramePr>
        <p:xfrm>
          <a:off x="467544" y="1196752"/>
          <a:ext cx="7704856" cy="457200"/>
        </p:xfrm>
        <a:graphic>
          <a:graphicData uri="http://schemas.openxmlformats.org/drawingml/2006/table">
            <a:tbl>
              <a:tblPr firstRow="1" bandRow="1">
                <a:tableStyleId>{2D5ABB26-0587-4C30-8999-92F81FD0307C}</a:tableStyleId>
              </a:tblPr>
              <a:tblGrid>
                <a:gridCol w="7704856">
                  <a:extLst>
                    <a:ext uri="{9D8B030D-6E8A-4147-A177-3AD203B41FA5}">
                      <a16:colId xmlns:a16="http://schemas.microsoft.com/office/drawing/2014/main" val="499056580"/>
                    </a:ext>
                  </a:extLst>
                </a:gridCol>
              </a:tblGrid>
              <a:tr h="400110">
                <a:tc>
                  <a:txBody>
                    <a:bodyPr/>
                    <a:lstStyle/>
                    <a:p>
                      <a:r>
                        <a:rPr lang="en-US" sz="1200" dirty="0">
                          <a:latin typeface="Consolas" panose="020B0609020204030204" pitchFamily="49" charset="0"/>
                        </a:rPr>
                        <a:t>&gt;&gt;&gt; </a:t>
                      </a:r>
                      <a:r>
                        <a:rPr lang="en-US" sz="1200" dirty="0" err="1">
                          <a:latin typeface="Consolas" panose="020B0609020204030204" pitchFamily="49" charset="0"/>
                        </a:rPr>
                        <a:t>seno</a:t>
                      </a:r>
                      <a:r>
                        <a:rPr lang="en-US" sz="1200" dirty="0">
                          <a:latin typeface="Consolas" panose="020B0609020204030204" pitchFamily="49" charset="0"/>
                        </a:rPr>
                        <a:t>(1.0)</a:t>
                      </a:r>
                    </a:p>
                    <a:p>
                      <a:r>
                        <a:rPr lang="en-US" sz="1200" dirty="0" err="1">
                          <a:latin typeface="Consolas" panose="020B0609020204030204" pitchFamily="49" charset="0"/>
                        </a:rPr>
                        <a:t>TypeError</a:t>
                      </a:r>
                      <a:r>
                        <a:rPr lang="en-US" sz="1200" dirty="0">
                          <a:latin typeface="Consolas" panose="020B0609020204030204" pitchFamily="49" charset="0"/>
                        </a:rPr>
                        <a:t>: </a:t>
                      </a:r>
                      <a:r>
                        <a:rPr lang="en-US" sz="1200" dirty="0" err="1">
                          <a:latin typeface="Consolas" panose="020B0609020204030204" pitchFamily="49" charset="0"/>
                        </a:rPr>
                        <a:t>seno</a:t>
                      </a:r>
                      <a:r>
                        <a:rPr lang="en-US" sz="1200" dirty="0">
                          <a:latin typeface="Consolas" panose="020B0609020204030204" pitchFamily="49" charset="0"/>
                        </a:rPr>
                        <a:t>() missing 1 required positional argument: 'n'</a:t>
                      </a:r>
                      <a:endParaRPr lang="es-CO" sz="12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3563888" y="4160113"/>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20" name="CuadroTexto 19">
            <a:extLst>
              <a:ext uri="{FF2B5EF4-FFF2-40B4-BE49-F238E27FC236}">
                <a16:creationId xmlns:a16="http://schemas.microsoft.com/office/drawing/2014/main" id="{F9016B5F-0537-4FB6-B4F5-41B8BAA7EF37}"/>
              </a:ext>
            </a:extLst>
          </p:cNvPr>
          <p:cNvSpPr txBox="1"/>
          <p:nvPr/>
        </p:nvSpPr>
        <p:spPr>
          <a:xfrm>
            <a:off x="154391" y="6021288"/>
            <a:ext cx="8835218" cy="584775"/>
          </a:xfrm>
          <a:prstGeom prst="rect">
            <a:avLst/>
          </a:prstGeom>
          <a:solidFill>
            <a:schemeClr val="accent6">
              <a:lumMod val="20000"/>
              <a:lumOff val="80000"/>
            </a:schemeClr>
          </a:solidFill>
        </p:spPr>
        <p:txBody>
          <a:bodyPr wrap="square" rtlCol="0">
            <a:spAutoFit/>
          </a:bodyPr>
          <a:lstStyle/>
          <a:p>
            <a:r>
              <a:rPr lang="es-MX" sz="1600" b="1" dirty="0"/>
              <a:t>Regla: </a:t>
            </a:r>
            <a:r>
              <a:rPr lang="es-MX" sz="1600" dirty="0"/>
              <a:t>los parámetros con valor por defecto van al final. </a:t>
            </a:r>
            <a:r>
              <a:rPr lang="es-MX" sz="1400" b="1" dirty="0">
                <a:solidFill>
                  <a:schemeClr val="accent5"/>
                </a:solidFill>
                <a:latin typeface="Consolas" panose="020B0609020204030204" pitchFamily="49" charset="0"/>
              </a:rPr>
              <a:t>def seno(n=10, x)</a:t>
            </a:r>
            <a:r>
              <a:rPr lang="es-MX" sz="1600" dirty="0"/>
              <a:t>: da </a:t>
            </a:r>
            <a:r>
              <a:rPr lang="es-MX" sz="1400" b="1" dirty="0">
                <a:latin typeface="Consolas" panose="020B0609020204030204" pitchFamily="49" charset="0"/>
              </a:rPr>
              <a:t>SyntaxError: </a:t>
            </a:r>
            <a:r>
              <a:rPr lang="es-MX" sz="1400" b="1" dirty="0" err="1">
                <a:latin typeface="Consolas" panose="020B0609020204030204" pitchFamily="49" charset="0"/>
              </a:rPr>
              <a:t>parameter</a:t>
            </a:r>
            <a:r>
              <a:rPr lang="es-MX" sz="1400" b="1" dirty="0">
                <a:latin typeface="Consolas" panose="020B0609020204030204" pitchFamily="49" charset="0"/>
              </a:rPr>
              <a:t> </a:t>
            </a:r>
            <a:r>
              <a:rPr lang="es-MX" sz="1400" b="1" dirty="0" err="1">
                <a:latin typeface="Consolas" panose="020B0609020204030204" pitchFamily="49" charset="0"/>
              </a:rPr>
              <a:t>without</a:t>
            </a:r>
            <a:r>
              <a:rPr lang="es-MX" sz="1400" b="1" dirty="0">
                <a:latin typeface="Consolas" panose="020B0609020204030204" pitchFamily="49" charset="0"/>
              </a:rPr>
              <a:t> a default follows </a:t>
            </a:r>
            <a:r>
              <a:rPr lang="es-MX" sz="1400" b="1" dirty="0" err="1">
                <a:latin typeface="Consolas" panose="020B0609020204030204" pitchFamily="49" charset="0"/>
              </a:rPr>
              <a:t>parameter</a:t>
            </a:r>
            <a:r>
              <a:rPr lang="es-MX" sz="1400" b="1" dirty="0">
                <a:latin typeface="Consolas" panose="020B0609020204030204" pitchFamily="49" charset="0"/>
              </a:rPr>
              <a:t> </a:t>
            </a:r>
            <a:r>
              <a:rPr lang="es-MX" sz="1400" b="1" dirty="0" err="1">
                <a:latin typeface="Consolas" panose="020B0609020204030204" pitchFamily="49" charset="0"/>
              </a:rPr>
              <a:t>with</a:t>
            </a:r>
            <a:r>
              <a:rPr lang="es-MX" sz="1400" b="1" dirty="0">
                <a:latin typeface="Consolas" panose="020B0609020204030204" pitchFamily="49" charset="0"/>
              </a:rPr>
              <a:t> a default</a:t>
            </a:r>
            <a:r>
              <a:rPr lang="es-MX" sz="1600" dirty="0"/>
              <a:t>.</a:t>
            </a:r>
          </a:p>
        </p:txBody>
      </p:sp>
      <p:graphicFrame>
        <p:nvGraphicFramePr>
          <p:cNvPr id="9" name="Tabla 13">
            <a:extLst>
              <a:ext uri="{FF2B5EF4-FFF2-40B4-BE49-F238E27FC236}">
                <a16:creationId xmlns:a16="http://schemas.microsoft.com/office/drawing/2014/main" id="{79FFFB57-F063-4D48-B021-39A624DE655C}"/>
              </a:ext>
            </a:extLst>
          </p:cNvPr>
          <p:cNvGraphicFramePr>
            <a:graphicFrameLocks noGrp="1"/>
          </p:cNvGraphicFramePr>
          <p:nvPr>
            <p:extLst>
              <p:ext uri="{D42A27DB-BD31-4B8C-83A1-F6EECF244321}">
                <p14:modId xmlns:p14="http://schemas.microsoft.com/office/powerpoint/2010/main" val="1727026987"/>
              </p:ext>
            </p:extLst>
          </p:nvPr>
        </p:nvGraphicFramePr>
        <p:xfrm>
          <a:off x="467544" y="2395736"/>
          <a:ext cx="7665074" cy="1737360"/>
        </p:xfrm>
        <a:graphic>
          <a:graphicData uri="http://schemas.openxmlformats.org/drawingml/2006/table">
            <a:tbl>
              <a:tblPr firstRow="1" bandRow="1">
                <a:tableStyleId>{2D5ABB26-0587-4C30-8999-92F81FD0307C}</a:tableStyleId>
              </a:tblPr>
              <a:tblGrid>
                <a:gridCol w="7665074">
                  <a:extLst>
                    <a:ext uri="{9D8B030D-6E8A-4147-A177-3AD203B41FA5}">
                      <a16:colId xmlns:a16="http://schemas.microsoft.com/office/drawing/2014/main" val="499056580"/>
                    </a:ext>
                  </a:extLst>
                </a:gridCol>
              </a:tblGrid>
              <a:tr h="400110">
                <a:tc>
                  <a:txBody>
                    <a:bodyPr/>
                    <a:lstStyle/>
                    <a:p>
                      <a:r>
                        <a:rPr lang="en-US" sz="1200" dirty="0">
                          <a:latin typeface="Consolas" panose="020B0609020204030204" pitchFamily="49" charset="0"/>
                        </a:rPr>
                        <a:t>def </a:t>
                      </a:r>
                      <a:r>
                        <a:rPr lang="en-US" sz="1200" dirty="0" err="1">
                          <a:latin typeface="Consolas" panose="020B0609020204030204" pitchFamily="49" charset="0"/>
                        </a:rPr>
                        <a:t>seno</a:t>
                      </a:r>
                      <a:r>
                        <a:rPr lang="en-US" sz="1200" dirty="0">
                          <a:latin typeface="Consolas" panose="020B0609020204030204" pitchFamily="49" charset="0"/>
                        </a:rPr>
                        <a:t>(x, n=10):                 # </a:t>
                      </a:r>
                      <a:r>
                        <a:rPr lang="en-US" sz="1200" dirty="0" err="1">
                          <a:latin typeface="Consolas" panose="020B0609020204030204" pitchFamily="49" charset="0"/>
                        </a:rPr>
                        <a:t>parámetro</a:t>
                      </a:r>
                      <a:r>
                        <a:rPr lang="en-US" sz="1200" dirty="0">
                          <a:latin typeface="Consolas" panose="020B0609020204030204" pitchFamily="49" charset="0"/>
                        </a:rPr>
                        <a:t> con valor por </a:t>
                      </a:r>
                      <a:r>
                        <a:rPr lang="en-US" sz="1200" dirty="0" err="1">
                          <a:latin typeface="Consolas" panose="020B0609020204030204" pitchFamily="49" charset="0"/>
                        </a:rPr>
                        <a:t>defecto</a:t>
                      </a:r>
                      <a:endParaRPr lang="en-US" sz="1200" dirty="0">
                        <a:latin typeface="Consolas" panose="020B0609020204030204" pitchFamily="49" charset="0"/>
                      </a:endParaRPr>
                    </a:p>
                    <a:p>
                      <a:r>
                        <a:rPr lang="en-US" sz="1200" dirty="0">
                          <a:latin typeface="Consolas" panose="020B0609020204030204" pitchFamily="49" charset="0"/>
                        </a:rPr>
                        <a:t>    </a:t>
                      </a:r>
                      <a:r>
                        <a:rPr lang="en-US" sz="1200" dirty="0" err="1">
                          <a:latin typeface="Consolas" panose="020B0609020204030204" pitchFamily="49" charset="0"/>
                        </a:rPr>
                        <a:t>suma</a:t>
                      </a:r>
                      <a:r>
                        <a:rPr lang="en-US" sz="1200" dirty="0">
                          <a:latin typeface="Consolas" panose="020B0609020204030204" pitchFamily="49" charset="0"/>
                        </a:rPr>
                        <a:t> = 0</a:t>
                      </a:r>
                    </a:p>
                    <a:p>
                      <a:r>
                        <a:rPr lang="en-US" sz="1200" dirty="0">
                          <a:latin typeface="Consolas" panose="020B0609020204030204" pitchFamily="49" charset="0"/>
                        </a:rPr>
                        <a:t>    for k in range(n):</a:t>
                      </a:r>
                    </a:p>
                    <a:p>
                      <a:r>
                        <a:rPr lang="en-US" sz="1200" dirty="0">
                          <a:latin typeface="Consolas" panose="020B0609020204030204" pitchFamily="49" charset="0"/>
                        </a:rPr>
                        <a:t>        </a:t>
                      </a:r>
                      <a:r>
                        <a:rPr lang="en-US" sz="1200" dirty="0" err="1">
                          <a:latin typeface="Consolas" panose="020B0609020204030204" pitchFamily="49" charset="0"/>
                        </a:rPr>
                        <a:t>suma</a:t>
                      </a:r>
                      <a:r>
                        <a:rPr lang="en-US" sz="1200" dirty="0">
                          <a:latin typeface="Consolas" panose="020B0609020204030204" pitchFamily="49" charset="0"/>
                        </a:rPr>
                        <a:t> = </a:t>
                      </a:r>
                      <a:r>
                        <a:rPr lang="en-US" sz="1200" dirty="0" err="1">
                          <a:latin typeface="Consolas" panose="020B0609020204030204" pitchFamily="49" charset="0"/>
                        </a:rPr>
                        <a:t>suma</a:t>
                      </a:r>
                      <a:r>
                        <a:rPr lang="en-US" sz="1200" dirty="0">
                          <a:latin typeface="Consolas" panose="020B0609020204030204" pitchFamily="49" charset="0"/>
                        </a:rPr>
                        <a:t> + (-1)**k * x**(2*k + 1) / factorial(2*k + 1)</a:t>
                      </a:r>
                    </a:p>
                    <a:p>
                      <a:r>
                        <a:rPr lang="en-US" sz="1200" dirty="0">
                          <a:latin typeface="Consolas" panose="020B0609020204030204" pitchFamily="49" charset="0"/>
                        </a:rPr>
                        <a:t>    return </a:t>
                      </a:r>
                      <a:r>
                        <a:rPr lang="en-US" sz="1200" dirty="0" err="1">
                          <a:latin typeface="Consolas" panose="020B0609020204030204" pitchFamily="49" charset="0"/>
                        </a:rPr>
                        <a:t>suma</a:t>
                      </a:r>
                      <a:endParaRPr lang="en-US" sz="1200" dirty="0">
                        <a:latin typeface="Consolas" panose="020B0609020204030204" pitchFamily="49" charset="0"/>
                      </a:endParaRPr>
                    </a:p>
                    <a:p>
                      <a:endParaRPr lang="en-US" sz="1200" dirty="0">
                        <a:latin typeface="Consolas" panose="020B0609020204030204" pitchFamily="49" charset="0"/>
                      </a:endParaRPr>
                    </a:p>
                    <a:p>
                      <a:r>
                        <a:rPr lang="en-US" sz="1200" dirty="0">
                          <a:latin typeface="Consolas" panose="020B0609020204030204" pitchFamily="49" charset="0"/>
                        </a:rPr>
                        <a:t>a = </a:t>
                      </a:r>
                      <a:r>
                        <a:rPr lang="en-US" sz="1200" dirty="0" err="1">
                          <a:latin typeface="Consolas" panose="020B0609020204030204" pitchFamily="49" charset="0"/>
                        </a:rPr>
                        <a:t>seno</a:t>
                      </a:r>
                      <a:r>
                        <a:rPr lang="en-US" sz="1200" dirty="0">
                          <a:latin typeface="Consolas" panose="020B0609020204030204" pitchFamily="49" charset="0"/>
                        </a:rPr>
                        <a:t>(1.0)          # ← </a:t>
                      </a:r>
                      <a:r>
                        <a:rPr lang="en-US" sz="1200" dirty="0" err="1">
                          <a:latin typeface="Consolas" panose="020B0609020204030204" pitchFamily="49" charset="0"/>
                        </a:rPr>
                        <a:t>argumento</a:t>
                      </a:r>
                      <a:r>
                        <a:rPr lang="en-US" sz="1200" dirty="0">
                          <a:latin typeface="Consolas" panose="020B0609020204030204" pitchFamily="49" charset="0"/>
                        </a:rPr>
                        <a:t> </a:t>
                      </a:r>
                      <a:r>
                        <a:rPr lang="en-US" sz="1200" dirty="0" err="1">
                          <a:latin typeface="Consolas" panose="020B0609020204030204" pitchFamily="49" charset="0"/>
                        </a:rPr>
                        <a:t>omitido</a:t>
                      </a:r>
                      <a:r>
                        <a:rPr lang="en-US" sz="1200" dirty="0">
                          <a:latin typeface="Consolas" panose="020B0609020204030204" pitchFamily="49" charset="0"/>
                        </a:rPr>
                        <a:t>: </a:t>
                      </a:r>
                      <a:r>
                        <a:rPr lang="en-US" sz="1200" dirty="0" err="1">
                          <a:latin typeface="Consolas" panose="020B0609020204030204" pitchFamily="49" charset="0"/>
                        </a:rPr>
                        <a:t>usa</a:t>
                      </a:r>
                      <a:r>
                        <a:rPr lang="en-US" sz="1200" dirty="0">
                          <a:latin typeface="Consolas" panose="020B0609020204030204" pitchFamily="49" charset="0"/>
                        </a:rPr>
                        <a:t> n = 10</a:t>
                      </a:r>
                    </a:p>
                    <a:p>
                      <a:r>
                        <a:rPr lang="en-US" sz="1200" dirty="0">
                          <a:latin typeface="Consolas" panose="020B0609020204030204" pitchFamily="49" charset="0"/>
                        </a:rPr>
                        <a:t>b = </a:t>
                      </a:r>
                      <a:r>
                        <a:rPr lang="en-US" sz="1200" dirty="0" err="1">
                          <a:latin typeface="Consolas" panose="020B0609020204030204" pitchFamily="49" charset="0"/>
                        </a:rPr>
                        <a:t>seno</a:t>
                      </a:r>
                      <a:r>
                        <a:rPr lang="en-US" sz="1200" dirty="0">
                          <a:latin typeface="Consolas" panose="020B0609020204030204" pitchFamily="49" charset="0"/>
                        </a:rPr>
                        <a:t>(1.0, 3)       # n = 3</a:t>
                      </a:r>
                    </a:p>
                    <a:p>
                      <a:r>
                        <a:rPr lang="en-US" sz="1200" dirty="0">
                          <a:latin typeface="Consolas" panose="020B0609020204030204" pitchFamily="49" charset="0"/>
                        </a:rPr>
                        <a:t>c = </a:t>
                      </a:r>
                      <a:r>
                        <a:rPr lang="en-US" sz="1200" dirty="0" err="1">
                          <a:latin typeface="Consolas" panose="020B0609020204030204" pitchFamily="49" charset="0"/>
                        </a:rPr>
                        <a:t>seno</a:t>
                      </a:r>
                      <a:r>
                        <a:rPr lang="en-US" sz="1200" dirty="0">
                          <a:latin typeface="Consolas" panose="020B0609020204030204" pitchFamily="49" charset="0"/>
                        </a:rPr>
                        <a:t>(n=3, x=1.0)   # ← </a:t>
                      </a:r>
                      <a:r>
                        <a:rPr lang="en-US" sz="1200" dirty="0" err="1">
                          <a:latin typeface="Consolas" panose="020B0609020204030204" pitchFamily="49" charset="0"/>
                        </a:rPr>
                        <a:t>argumentos</a:t>
                      </a:r>
                      <a:r>
                        <a:rPr lang="en-US" sz="1200" dirty="0">
                          <a:latin typeface="Consolas" panose="020B0609020204030204" pitchFamily="49" charset="0"/>
                        </a:rPr>
                        <a:t> </a:t>
                      </a:r>
                      <a:r>
                        <a:rPr lang="en-US" sz="1200" dirty="0" err="1">
                          <a:latin typeface="Consolas" panose="020B0609020204030204" pitchFamily="49" charset="0"/>
                        </a:rPr>
                        <a:t>asignados</a:t>
                      </a:r>
                      <a:r>
                        <a:rPr lang="en-US" sz="1200" dirty="0">
                          <a:latin typeface="Consolas" panose="020B0609020204030204" pitchFamily="49" charset="0"/>
                        </a:rPr>
                        <a:t> por </a:t>
                      </a:r>
                      <a:r>
                        <a:rPr lang="en-US" sz="1200" dirty="0" err="1">
                          <a:latin typeface="Consolas" panose="020B0609020204030204" pitchFamily="49" charset="0"/>
                        </a:rPr>
                        <a:t>nombre</a:t>
                      </a:r>
                      <a:endParaRPr lang="es-CO" sz="12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graphicFrame>
        <p:nvGraphicFramePr>
          <p:cNvPr id="10" name="Tabla 13">
            <a:extLst>
              <a:ext uri="{FF2B5EF4-FFF2-40B4-BE49-F238E27FC236}">
                <a16:creationId xmlns:a16="http://schemas.microsoft.com/office/drawing/2014/main" id="{78D12777-E414-426E-94A4-4D7897759CAC}"/>
              </a:ext>
            </a:extLst>
          </p:cNvPr>
          <p:cNvGraphicFramePr>
            <a:graphicFrameLocks noGrp="1"/>
          </p:cNvGraphicFramePr>
          <p:nvPr>
            <p:extLst>
              <p:ext uri="{D42A27DB-BD31-4B8C-83A1-F6EECF244321}">
                <p14:modId xmlns:p14="http://schemas.microsoft.com/office/powerpoint/2010/main" val="4032888081"/>
              </p:ext>
            </p:extLst>
          </p:nvPr>
        </p:nvGraphicFramePr>
        <p:xfrm>
          <a:off x="467544" y="4910494"/>
          <a:ext cx="7665074" cy="653028"/>
        </p:xfrm>
        <a:graphic>
          <a:graphicData uri="http://schemas.openxmlformats.org/drawingml/2006/table">
            <a:tbl>
              <a:tblPr firstRow="1" bandRow="1">
                <a:tableStyleId>{2D5ABB26-0587-4C30-8999-92F81FD0307C}</a:tableStyleId>
              </a:tblPr>
              <a:tblGrid>
                <a:gridCol w="7665074">
                  <a:extLst>
                    <a:ext uri="{9D8B030D-6E8A-4147-A177-3AD203B41FA5}">
                      <a16:colId xmlns:a16="http://schemas.microsoft.com/office/drawing/2014/main" val="499056580"/>
                    </a:ext>
                  </a:extLst>
                </a:gridCol>
              </a:tblGrid>
              <a:tr h="653028">
                <a:tc>
                  <a:txBody>
                    <a:bodyPr/>
                    <a:lstStyle/>
                    <a:p>
                      <a:r>
                        <a:rPr lang="es-MX" sz="1200" dirty="0">
                          <a:latin typeface="Consolas" panose="020B0609020204030204" pitchFamily="49" charset="0"/>
                        </a:rPr>
                        <a:t>0.8414709848078965     ← 10 términos: coincide con el valor real</a:t>
                      </a:r>
                    </a:p>
                    <a:p>
                      <a:r>
                        <a:rPr lang="es-MX" sz="1200" dirty="0">
                          <a:latin typeface="Consolas" panose="020B0609020204030204" pitchFamily="49" charset="0"/>
                        </a:rPr>
                        <a:t>0.841</a:t>
                      </a:r>
                      <a:r>
                        <a:rPr lang="es-MX" sz="1200" dirty="0">
                          <a:solidFill>
                            <a:schemeClr val="accent5"/>
                          </a:solidFill>
                          <a:latin typeface="Consolas" panose="020B0609020204030204" pitchFamily="49" charset="0"/>
                        </a:rPr>
                        <a:t>6666666666667</a:t>
                      </a:r>
                      <a:r>
                        <a:rPr lang="es-MX" sz="1200" dirty="0">
                          <a:latin typeface="Consolas" panose="020B0609020204030204" pitchFamily="49" charset="0"/>
                        </a:rPr>
                        <a:t>     ← 3 términos: error en la 4.ª cifra</a:t>
                      </a:r>
                    </a:p>
                    <a:p>
                      <a:r>
                        <a:rPr lang="es-MX" sz="1200" dirty="0">
                          <a:latin typeface="Consolas" panose="020B0609020204030204" pitchFamily="49" charset="0"/>
                        </a:rPr>
                        <a:t>0.841</a:t>
                      </a:r>
                      <a:r>
                        <a:rPr lang="es-MX" sz="1200" dirty="0">
                          <a:solidFill>
                            <a:schemeClr val="accent5"/>
                          </a:solidFill>
                          <a:latin typeface="Consolas" panose="020B0609020204030204" pitchFamily="49" charset="0"/>
                        </a:rPr>
                        <a:t>6666666666667</a:t>
                      </a:r>
                      <a:endParaRPr lang="es-CO" sz="1200" dirty="0">
                        <a:solidFill>
                          <a:schemeClr val="accent5"/>
                        </a:solidFill>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Tree>
    <p:extLst>
      <p:ext uri="{BB962C8B-B14F-4D97-AF65-F5344CB8AC3E}">
        <p14:creationId xmlns:p14="http://schemas.microsoft.com/office/powerpoint/2010/main" val="39183836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Una función que llama a otra</a:t>
            </a:r>
          </a:p>
        </p:txBody>
      </p:sp>
      <p:sp>
        <p:nvSpPr>
          <p:cNvPr id="13" name="12 Rectángulo"/>
          <p:cNvSpPr/>
          <p:nvPr/>
        </p:nvSpPr>
        <p:spPr>
          <a:xfrm>
            <a:off x="179512" y="692696"/>
            <a:ext cx="8835218" cy="6032421"/>
          </a:xfrm>
          <a:prstGeom prst="rect">
            <a:avLst/>
          </a:prstGeom>
        </p:spPr>
        <p:txBody>
          <a:bodyPr wrap="square">
            <a:spAutoFit/>
          </a:bodyPr>
          <a:lstStyle/>
          <a:p>
            <a:pPr marL="342900" indent="-342900">
              <a:buFont typeface="Arial" panose="020B0604020202020204" pitchFamily="34" charset="0"/>
              <a:buChar char="•"/>
            </a:pPr>
            <a:r>
              <a:rPr lang="es-MX" sz="2000" dirty="0"/>
              <a:t>Una función puede usar otras funciones. </a:t>
            </a:r>
          </a:p>
          <a:p>
            <a:pPr marL="342900" indent="-342900">
              <a:buFont typeface="Arial" panose="020B0604020202020204" pitchFamily="34" charset="0"/>
              <a:buChar char="•"/>
            </a:pPr>
            <a:r>
              <a:rPr lang="es-MX" sz="2000" dirty="0"/>
              <a:t>Esto permite construir programas grandes a partir de piezas pequeñas y ya probadas.</a:t>
            </a:r>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r>
              <a:rPr lang="es-MX" dirty="0"/>
              <a:t>Lo anterior permite:</a:t>
            </a:r>
          </a:p>
          <a:p>
            <a:pPr marL="342900" indent="-342900">
              <a:buFont typeface="Arial" panose="020B0604020202020204" pitchFamily="34" charset="0"/>
              <a:buChar char="•"/>
            </a:pPr>
            <a:r>
              <a:rPr lang="es-MX" b="1" dirty="0"/>
              <a:t>Reutilización</a:t>
            </a:r>
            <a:r>
              <a:rPr lang="es-MX" dirty="0"/>
              <a:t>: </a:t>
            </a:r>
            <a:r>
              <a:rPr lang="es-MX" sz="1600" b="1" dirty="0">
                <a:latin typeface="Consolas" panose="020B0609020204030204" pitchFamily="49" charset="0"/>
              </a:rPr>
              <a:t>factorial</a:t>
            </a:r>
            <a:r>
              <a:rPr lang="es-MX" dirty="0"/>
              <a:t> se escribe y se prueba una vez, y se usa donde se necesite.</a:t>
            </a:r>
          </a:p>
          <a:p>
            <a:pPr marL="342900" indent="-342900">
              <a:buFont typeface="Arial" panose="020B0604020202020204" pitchFamily="34" charset="0"/>
              <a:buChar char="•"/>
            </a:pPr>
            <a:r>
              <a:rPr lang="es-MX" b="1" dirty="0"/>
              <a:t>Abstracción</a:t>
            </a:r>
            <a:r>
              <a:rPr lang="es-MX" dirty="0"/>
              <a:t>: </a:t>
            </a:r>
            <a:r>
              <a:rPr lang="es-MX" sz="1600" b="1" dirty="0">
                <a:latin typeface="Consolas" panose="020B0609020204030204" pitchFamily="49" charset="0"/>
              </a:rPr>
              <a:t>seno</a:t>
            </a:r>
            <a:r>
              <a:rPr lang="es-MX" dirty="0"/>
              <a:t> solo necesita saber </a:t>
            </a:r>
            <a:r>
              <a:rPr lang="es-MX" b="1" dirty="0"/>
              <a:t>qué</a:t>
            </a:r>
            <a:r>
              <a:rPr lang="es-MX" dirty="0"/>
              <a:t> hace </a:t>
            </a:r>
            <a:r>
              <a:rPr lang="es-MX" sz="1600" b="1" dirty="0">
                <a:latin typeface="Consolas" panose="020B0609020204030204" pitchFamily="49" charset="0"/>
              </a:rPr>
              <a:t>factorial</a:t>
            </a:r>
            <a:r>
              <a:rPr lang="es-MX" dirty="0"/>
              <a:t>, no </a:t>
            </a:r>
            <a:r>
              <a:rPr lang="es-MX" b="1" dirty="0"/>
              <a:t>cómo</a:t>
            </a:r>
            <a:r>
              <a:rPr lang="es-MX" dirty="0"/>
              <a:t> lo hace.</a:t>
            </a:r>
          </a:p>
          <a:p>
            <a:pPr marL="342900" indent="-342900">
              <a:buFont typeface="Arial" panose="020B0604020202020204" pitchFamily="34" charset="0"/>
              <a:buChar char="•"/>
            </a:pPr>
            <a:r>
              <a:rPr lang="es-MX" b="1" dirty="0"/>
              <a:t>La ejecución salta y vuelve</a:t>
            </a:r>
            <a:r>
              <a:rPr lang="es-MX" dirty="0"/>
              <a:t>: al terminar </a:t>
            </a:r>
            <a:r>
              <a:rPr lang="es-MX" sz="1600" b="1" dirty="0">
                <a:latin typeface="Consolas" panose="020B0609020204030204" pitchFamily="49" charset="0"/>
              </a:rPr>
              <a:t>factorial</a:t>
            </a:r>
            <a:r>
              <a:rPr lang="es-MX" dirty="0"/>
              <a:t>, se continúa en el punto exacto de la llamada (línea 10).</a:t>
            </a:r>
          </a:p>
          <a:p>
            <a:pPr marL="342900" indent="-342900">
              <a:buFont typeface="Arial" panose="020B0604020202020204" pitchFamily="34" charset="0"/>
              <a:buChar char="•"/>
            </a:pPr>
            <a:r>
              <a:rPr lang="es-MX" b="1" dirty="0"/>
              <a:t>Pila de llamadas</a:t>
            </a:r>
            <a:r>
              <a:rPr lang="es-MX" dirty="0"/>
              <a:t>: cada llamada crea su propio marco, con sus propias variables. Hay </a:t>
            </a:r>
            <a:r>
              <a:rPr lang="es-MX" b="1" dirty="0"/>
              <a:t>dos</a:t>
            </a:r>
            <a:r>
              <a:rPr lang="es-MX" dirty="0"/>
              <a:t> </a:t>
            </a:r>
            <a:r>
              <a:rPr lang="es-MX" b="1" dirty="0">
                <a:latin typeface="Consolas" panose="020B0609020204030204" pitchFamily="49" charset="0"/>
              </a:rPr>
              <a:t>n</a:t>
            </a:r>
            <a:r>
              <a:rPr lang="es-MX" dirty="0"/>
              <a:t> </a:t>
            </a:r>
            <a:r>
              <a:rPr lang="es-MX" b="1" dirty="0"/>
              <a:t>distintas</a:t>
            </a:r>
            <a:r>
              <a:rPr lang="es-MX" dirty="0"/>
              <a:t>.</a:t>
            </a:r>
          </a:p>
        </p:txBody>
      </p:sp>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3563888" y="4365104"/>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graphicFrame>
        <p:nvGraphicFramePr>
          <p:cNvPr id="9" name="Tabla 13">
            <a:extLst>
              <a:ext uri="{FF2B5EF4-FFF2-40B4-BE49-F238E27FC236}">
                <a16:creationId xmlns:a16="http://schemas.microsoft.com/office/drawing/2014/main" id="{79FFFB57-F063-4D48-B021-39A624DE655C}"/>
              </a:ext>
            </a:extLst>
          </p:cNvPr>
          <p:cNvGraphicFramePr>
            <a:graphicFrameLocks noGrp="1"/>
          </p:cNvGraphicFramePr>
          <p:nvPr>
            <p:extLst>
              <p:ext uri="{D42A27DB-BD31-4B8C-83A1-F6EECF244321}">
                <p14:modId xmlns:p14="http://schemas.microsoft.com/office/powerpoint/2010/main" val="2216588858"/>
              </p:ext>
            </p:extLst>
          </p:nvPr>
        </p:nvGraphicFramePr>
        <p:xfrm>
          <a:off x="579334" y="1700808"/>
          <a:ext cx="7665074" cy="2651760"/>
        </p:xfrm>
        <a:graphic>
          <a:graphicData uri="http://schemas.openxmlformats.org/drawingml/2006/table">
            <a:tbl>
              <a:tblPr firstRow="1" bandRow="1">
                <a:tableStyleId>{2D5ABB26-0587-4C30-8999-92F81FD0307C}</a:tableStyleId>
              </a:tblPr>
              <a:tblGrid>
                <a:gridCol w="7665074">
                  <a:extLst>
                    <a:ext uri="{9D8B030D-6E8A-4147-A177-3AD203B41FA5}">
                      <a16:colId xmlns:a16="http://schemas.microsoft.com/office/drawing/2014/main" val="499056580"/>
                    </a:ext>
                  </a:extLst>
                </a:gridCol>
              </a:tblGrid>
              <a:tr h="412646">
                <a:tc>
                  <a:txBody>
                    <a:bodyPr/>
                    <a:lstStyle/>
                    <a:p>
                      <a:r>
                        <a:rPr lang="en-US" sz="1200" dirty="0">
                          <a:latin typeface="Consolas" panose="020B0609020204030204" pitchFamily="49" charset="0"/>
                        </a:rPr>
                        <a:t> 1  def factorial(n):</a:t>
                      </a:r>
                    </a:p>
                    <a:p>
                      <a:r>
                        <a:rPr lang="en-US" sz="1200" dirty="0">
                          <a:latin typeface="Consolas" panose="020B0609020204030204" pitchFamily="49" charset="0"/>
                        </a:rPr>
                        <a:t> 2      fact = 1</a:t>
                      </a:r>
                    </a:p>
                    <a:p>
                      <a:r>
                        <a:rPr lang="en-US" sz="1200" dirty="0">
                          <a:latin typeface="Consolas" panose="020B0609020204030204" pitchFamily="49" charset="0"/>
                        </a:rPr>
                        <a:t> 3      for </a:t>
                      </a:r>
                      <a:r>
                        <a:rPr lang="en-US" sz="1200" dirty="0" err="1">
                          <a:latin typeface="Consolas" panose="020B0609020204030204" pitchFamily="49" charset="0"/>
                        </a:rPr>
                        <a:t>i</a:t>
                      </a:r>
                      <a:r>
                        <a:rPr lang="en-US" sz="1200" dirty="0">
                          <a:latin typeface="Consolas" panose="020B0609020204030204" pitchFamily="49" charset="0"/>
                        </a:rPr>
                        <a:t> in range(1, n + 1):</a:t>
                      </a:r>
                    </a:p>
                    <a:p>
                      <a:r>
                        <a:rPr lang="en-US" sz="1200" dirty="0">
                          <a:latin typeface="Consolas" panose="020B0609020204030204" pitchFamily="49" charset="0"/>
                        </a:rPr>
                        <a:t> 4          fact = fact * </a:t>
                      </a:r>
                      <a:r>
                        <a:rPr lang="en-US" sz="1200" dirty="0" err="1">
                          <a:latin typeface="Consolas" panose="020B0609020204030204" pitchFamily="49" charset="0"/>
                        </a:rPr>
                        <a:t>i</a:t>
                      </a:r>
                      <a:endParaRPr lang="en-US" sz="1200" dirty="0">
                        <a:latin typeface="Consolas" panose="020B0609020204030204" pitchFamily="49" charset="0"/>
                      </a:endParaRPr>
                    </a:p>
                    <a:p>
                      <a:r>
                        <a:rPr lang="en-US" sz="1200" dirty="0">
                          <a:latin typeface="Consolas" panose="020B0609020204030204" pitchFamily="49" charset="0"/>
                        </a:rPr>
                        <a:t> 5      return fact</a:t>
                      </a:r>
                    </a:p>
                    <a:p>
                      <a:r>
                        <a:rPr lang="en-US" sz="1200" dirty="0">
                          <a:latin typeface="Consolas" panose="020B0609020204030204" pitchFamily="49" charset="0"/>
                        </a:rPr>
                        <a:t> 6</a:t>
                      </a:r>
                    </a:p>
                    <a:p>
                      <a:r>
                        <a:rPr lang="en-US" sz="1200" dirty="0">
                          <a:latin typeface="Consolas" panose="020B0609020204030204" pitchFamily="49" charset="0"/>
                        </a:rPr>
                        <a:t> 7  def </a:t>
                      </a:r>
                      <a:r>
                        <a:rPr lang="en-US" sz="1200" dirty="0" err="1">
                          <a:latin typeface="Consolas" panose="020B0609020204030204" pitchFamily="49" charset="0"/>
                        </a:rPr>
                        <a:t>seno</a:t>
                      </a:r>
                      <a:r>
                        <a:rPr lang="en-US" sz="1200" dirty="0">
                          <a:latin typeface="Consolas" panose="020B0609020204030204" pitchFamily="49" charset="0"/>
                        </a:rPr>
                        <a:t>(x, n=10):</a:t>
                      </a:r>
                    </a:p>
                    <a:p>
                      <a:r>
                        <a:rPr lang="en-US" sz="1200" dirty="0">
                          <a:latin typeface="Consolas" panose="020B0609020204030204" pitchFamily="49" charset="0"/>
                        </a:rPr>
                        <a:t> 8      </a:t>
                      </a:r>
                      <a:r>
                        <a:rPr lang="en-US" sz="1200" dirty="0" err="1">
                          <a:latin typeface="Consolas" panose="020B0609020204030204" pitchFamily="49" charset="0"/>
                        </a:rPr>
                        <a:t>suma</a:t>
                      </a:r>
                      <a:r>
                        <a:rPr lang="en-US" sz="1200" dirty="0">
                          <a:latin typeface="Consolas" panose="020B0609020204030204" pitchFamily="49" charset="0"/>
                        </a:rPr>
                        <a:t> = 0</a:t>
                      </a:r>
                    </a:p>
                    <a:p>
                      <a:r>
                        <a:rPr lang="en-US" sz="1200" dirty="0">
                          <a:latin typeface="Consolas" panose="020B0609020204030204" pitchFamily="49" charset="0"/>
                        </a:rPr>
                        <a:t> 9      for k in range(n):</a:t>
                      </a:r>
                    </a:p>
                    <a:p>
                      <a:r>
                        <a:rPr lang="en-US" sz="1200" dirty="0">
                          <a:latin typeface="Consolas" panose="020B0609020204030204" pitchFamily="49" charset="0"/>
                        </a:rPr>
                        <a:t>10          </a:t>
                      </a:r>
                      <a:r>
                        <a:rPr lang="en-US" sz="1200" dirty="0" err="1">
                          <a:latin typeface="Consolas" panose="020B0609020204030204" pitchFamily="49" charset="0"/>
                        </a:rPr>
                        <a:t>suma</a:t>
                      </a:r>
                      <a:r>
                        <a:rPr lang="en-US" sz="1200" dirty="0">
                          <a:latin typeface="Consolas" panose="020B0609020204030204" pitchFamily="49" charset="0"/>
                        </a:rPr>
                        <a:t> = </a:t>
                      </a:r>
                      <a:r>
                        <a:rPr lang="en-US" sz="1200" dirty="0" err="1">
                          <a:latin typeface="Consolas" panose="020B0609020204030204" pitchFamily="49" charset="0"/>
                        </a:rPr>
                        <a:t>suma</a:t>
                      </a:r>
                      <a:r>
                        <a:rPr lang="en-US" sz="1200" dirty="0">
                          <a:latin typeface="Consolas" panose="020B0609020204030204" pitchFamily="49" charset="0"/>
                        </a:rPr>
                        <a:t> + (-1)**k * x**(2*k + 1) / factorial(2*k + 1)</a:t>
                      </a:r>
                    </a:p>
                    <a:p>
                      <a:r>
                        <a:rPr lang="en-US" sz="1200" dirty="0">
                          <a:latin typeface="Consolas" panose="020B0609020204030204" pitchFamily="49" charset="0"/>
                        </a:rPr>
                        <a:t>11      return </a:t>
                      </a:r>
                      <a:r>
                        <a:rPr lang="en-US" sz="1200" dirty="0" err="1">
                          <a:latin typeface="Consolas" panose="020B0609020204030204" pitchFamily="49" charset="0"/>
                        </a:rPr>
                        <a:t>suma</a:t>
                      </a:r>
                      <a:endParaRPr lang="en-US" sz="1200" dirty="0">
                        <a:latin typeface="Consolas" panose="020B0609020204030204" pitchFamily="49" charset="0"/>
                      </a:endParaRPr>
                    </a:p>
                    <a:p>
                      <a:r>
                        <a:rPr lang="en-US" sz="1200" dirty="0">
                          <a:latin typeface="Consolas" panose="020B0609020204030204" pitchFamily="49" charset="0"/>
                        </a:rPr>
                        <a:t>12</a:t>
                      </a:r>
                    </a:p>
                    <a:p>
                      <a:r>
                        <a:rPr lang="en-US" sz="1200" dirty="0">
                          <a:latin typeface="Consolas" panose="020B0609020204030204" pitchFamily="49" charset="0"/>
                        </a:rPr>
                        <a:t>13  </a:t>
                      </a:r>
                      <a:r>
                        <a:rPr lang="en-US" sz="1200" dirty="0" err="1">
                          <a:latin typeface="Consolas" panose="020B0609020204030204" pitchFamily="49" charset="0"/>
                        </a:rPr>
                        <a:t>resultado</a:t>
                      </a:r>
                      <a:r>
                        <a:rPr lang="en-US" sz="1200" dirty="0">
                          <a:latin typeface="Consolas" panose="020B0609020204030204" pitchFamily="49" charset="0"/>
                        </a:rPr>
                        <a:t> = </a:t>
                      </a:r>
                      <a:r>
                        <a:rPr lang="en-US" sz="1200" dirty="0" err="1">
                          <a:latin typeface="Consolas" panose="020B0609020204030204" pitchFamily="49" charset="0"/>
                        </a:rPr>
                        <a:t>seno</a:t>
                      </a:r>
                      <a:r>
                        <a:rPr lang="en-US" sz="1200" dirty="0">
                          <a:latin typeface="Consolas" panose="020B0609020204030204" pitchFamily="49" charset="0"/>
                        </a:rPr>
                        <a:t>(1.0, 3)</a:t>
                      </a:r>
                    </a:p>
                    <a:p>
                      <a:r>
                        <a:rPr lang="en-US" sz="1200" dirty="0">
                          <a:latin typeface="Consolas" panose="020B0609020204030204" pitchFamily="49" charset="0"/>
                        </a:rPr>
                        <a:t>14  print(</a:t>
                      </a:r>
                      <a:r>
                        <a:rPr lang="en-US" sz="1200" dirty="0" err="1">
                          <a:latin typeface="Consolas" panose="020B0609020204030204" pitchFamily="49" charset="0"/>
                        </a:rPr>
                        <a:t>resultado</a:t>
                      </a:r>
                      <a:r>
                        <a:rPr lang="en-US" sz="1200" dirty="0">
                          <a:latin typeface="Consolas" panose="020B0609020204030204" pitchFamily="49" charset="0"/>
                        </a:rPr>
                        <a:t>)</a:t>
                      </a:r>
                      <a:endParaRPr lang="es-CO" sz="12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Tree>
    <p:extLst>
      <p:ext uri="{BB962C8B-B14F-4D97-AF65-F5344CB8AC3E}">
        <p14:creationId xmlns:p14="http://schemas.microsoft.com/office/powerpoint/2010/main" val="29735249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Resolución de problemas complejos</a:t>
            </a:r>
          </a:p>
        </p:txBody>
      </p:sp>
      <p:sp>
        <p:nvSpPr>
          <p:cNvPr id="13" name="12 Rectángulo"/>
          <p:cNvSpPr/>
          <p:nvPr/>
        </p:nvSpPr>
        <p:spPr>
          <a:xfrm>
            <a:off x="179512" y="839028"/>
            <a:ext cx="8835218" cy="4985980"/>
          </a:xfrm>
          <a:prstGeom prst="rect">
            <a:avLst/>
          </a:prstGeom>
        </p:spPr>
        <p:txBody>
          <a:bodyPr wrap="square">
            <a:spAutoFit/>
          </a:bodyPr>
          <a:lstStyle/>
          <a:p>
            <a:pPr marL="342900" indent="-342900">
              <a:buFont typeface="Arial" panose="020B0604020202020204" pitchFamily="34" charset="0"/>
              <a:buChar char="•"/>
            </a:pPr>
            <a:r>
              <a:rPr lang="es-MX" sz="2000" b="1" dirty="0"/>
              <a:t>¿Y si el problema es grande? ¿Por dónde empiezo?</a:t>
            </a:r>
          </a:p>
          <a:p>
            <a:pPr marL="342900" indent="-342900">
              <a:buFont typeface="Arial" panose="020B0604020202020204" pitchFamily="34" charset="0"/>
              <a:buChar char="•"/>
            </a:pPr>
            <a:r>
              <a:rPr lang="es-MX" sz="2000" b="1" dirty="0"/>
              <a:t>Divide y vencerás</a:t>
            </a:r>
            <a:r>
              <a:rPr lang="es-MX" sz="2000" dirty="0"/>
              <a:t>: dividir un problema complejo en subproblemas más sencillos, y estos a su vez en otros más simples, hasta que cada uno sea fácil de resolver.</a:t>
            </a:r>
          </a:p>
          <a:p>
            <a:pPr marL="342900" indent="-342900">
              <a:buFont typeface="Arial" panose="020B0604020202020204" pitchFamily="34" charset="0"/>
              <a:buChar char="•"/>
            </a:pPr>
            <a:r>
              <a:rPr lang="es-MX" sz="2000" b="1" dirty="0"/>
              <a:t>Diseño top-</a:t>
            </a:r>
            <a:r>
              <a:rPr lang="es-MX" sz="2000" b="1" dirty="0" err="1"/>
              <a:t>down</a:t>
            </a:r>
            <a:r>
              <a:rPr lang="es-MX" sz="2000" b="1" dirty="0"/>
              <a:t> (descendente)</a:t>
            </a:r>
            <a:r>
              <a:rPr lang="es-MX" sz="2000" dirty="0"/>
              <a:t>: se parte del problema completo (arriba) y se baja, nivel por nivel, hasta las piezas más pequeñas.</a:t>
            </a:r>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dirty="0"/>
          </a:p>
        </p:txBody>
      </p:sp>
      <p:pic>
        <p:nvPicPr>
          <p:cNvPr id="6" name="Picture 2" descr="esquema top-down">
            <a:extLst>
              <a:ext uri="{FF2B5EF4-FFF2-40B4-BE49-F238E27FC236}">
                <a16:creationId xmlns:a16="http://schemas.microsoft.com/office/drawing/2014/main" id="{69BCE1C3-120F-4720-8A26-46A22ABB1E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1907" y="3222381"/>
            <a:ext cx="7858565" cy="243886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
            <a:extLst>
              <a:ext uri="{FF2B5EF4-FFF2-40B4-BE49-F238E27FC236}">
                <a16:creationId xmlns:a16="http://schemas.microsoft.com/office/drawing/2014/main" id="{4093F735-9854-4635-94C0-9D1BF029E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131" y="3039341"/>
            <a:ext cx="1961645" cy="161379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0" name="CuadroTexto 9">
            <a:extLst>
              <a:ext uri="{FF2B5EF4-FFF2-40B4-BE49-F238E27FC236}">
                <a16:creationId xmlns:a16="http://schemas.microsoft.com/office/drawing/2014/main" id="{B673CC65-DEEB-4F99-925B-E7F47922A62E}"/>
              </a:ext>
            </a:extLst>
          </p:cNvPr>
          <p:cNvSpPr txBox="1"/>
          <p:nvPr/>
        </p:nvSpPr>
        <p:spPr>
          <a:xfrm>
            <a:off x="251520" y="6309320"/>
            <a:ext cx="8695542" cy="369332"/>
          </a:xfrm>
          <a:prstGeom prst="rect">
            <a:avLst/>
          </a:prstGeom>
          <a:solidFill>
            <a:schemeClr val="accent2">
              <a:lumMod val="20000"/>
              <a:lumOff val="80000"/>
            </a:schemeClr>
          </a:solidFill>
        </p:spPr>
        <p:txBody>
          <a:bodyPr wrap="square">
            <a:spAutoFit/>
          </a:bodyPr>
          <a:lstStyle/>
          <a:p>
            <a:r>
              <a:rPr lang="es-CO" b="1" dirty="0"/>
              <a:t>Idea clave</a:t>
            </a:r>
            <a:r>
              <a:rPr lang="es-CO" dirty="0"/>
              <a:t>: no se resuelve el problema grande. Se resuelven muchos problemas pequeños.</a:t>
            </a:r>
          </a:p>
        </p:txBody>
      </p:sp>
      <p:sp>
        <p:nvSpPr>
          <p:cNvPr id="11" name="CuadroTexto 10">
            <a:extLst>
              <a:ext uri="{FF2B5EF4-FFF2-40B4-BE49-F238E27FC236}">
                <a16:creationId xmlns:a16="http://schemas.microsoft.com/office/drawing/2014/main" id="{1D8D8314-2095-4265-8B03-89DB2BAF2078}"/>
              </a:ext>
            </a:extLst>
          </p:cNvPr>
          <p:cNvSpPr txBox="1"/>
          <p:nvPr/>
        </p:nvSpPr>
        <p:spPr>
          <a:xfrm>
            <a:off x="2311121" y="5682734"/>
            <a:ext cx="4572000" cy="307777"/>
          </a:xfrm>
          <a:prstGeom prst="rect">
            <a:avLst/>
          </a:prstGeom>
          <a:noFill/>
        </p:spPr>
        <p:txBody>
          <a:bodyPr wrap="square">
            <a:spAutoFit/>
          </a:bodyPr>
          <a:lstStyle/>
          <a:p>
            <a:pPr algn="ctr"/>
            <a:r>
              <a:rPr lang="es-CO" sz="1400" b="1" dirty="0"/>
              <a:t>Diseño Top-Down para conquistar las Galias</a:t>
            </a:r>
            <a:r>
              <a:rPr lang="es-CO" sz="1400" dirty="0"/>
              <a:t> (</a:t>
            </a:r>
            <a:r>
              <a:rPr lang="es-CO" sz="1400" dirty="0">
                <a:hlinkClick r:id="rId4"/>
              </a:rPr>
              <a:t>link</a:t>
            </a:r>
            <a:r>
              <a:rPr lang="es-CO" sz="1400" dirty="0"/>
              <a:t>).</a:t>
            </a:r>
          </a:p>
        </p:txBody>
      </p:sp>
    </p:spTree>
    <p:extLst>
      <p:ext uri="{BB962C8B-B14F-4D97-AF65-F5344CB8AC3E}">
        <p14:creationId xmlns:p14="http://schemas.microsoft.com/office/powerpoint/2010/main" val="40731083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El primer nivel: entrada, proceso y salida</a:t>
            </a:r>
          </a:p>
        </p:txBody>
      </p:sp>
      <p:sp>
        <p:nvSpPr>
          <p:cNvPr id="13" name="12 Rectángulo"/>
          <p:cNvSpPr/>
          <p:nvPr/>
        </p:nvSpPr>
        <p:spPr>
          <a:xfrm>
            <a:off x="179512" y="717664"/>
            <a:ext cx="8835218" cy="1631216"/>
          </a:xfrm>
          <a:prstGeom prst="rect">
            <a:avLst/>
          </a:prstGeom>
        </p:spPr>
        <p:txBody>
          <a:bodyPr wrap="square">
            <a:spAutoFit/>
          </a:bodyPr>
          <a:lstStyle/>
          <a:p>
            <a:pPr marL="342900" indent="-342900" rtl="0">
              <a:buFont typeface="Arial" panose="020B0604020202020204" pitchFamily="34" charset="0"/>
              <a:buChar char="•"/>
            </a:pPr>
            <a:r>
              <a:rPr lang="es-MX" sz="2000" dirty="0"/>
              <a:t>Casi todo programa se divide primero en las mismas tres partes ya vistas: </a:t>
            </a:r>
          </a:p>
          <a:p>
            <a:pPr rtl="0"/>
            <a:endParaRPr lang="es-MX" sz="2000" b="1" dirty="0"/>
          </a:p>
          <a:p>
            <a:pPr algn="ctr" rtl="0"/>
            <a:r>
              <a:rPr lang="es-MX" sz="2000" b="1" dirty="0"/>
              <a:t>entrada → proceso → salida</a:t>
            </a:r>
            <a:r>
              <a:rPr lang="es-MX" sz="2000" dirty="0"/>
              <a:t>.</a:t>
            </a:r>
          </a:p>
          <a:p>
            <a:pPr algn="ctr" rtl="0"/>
            <a:endParaRPr lang="es-MX" sz="2000" dirty="0"/>
          </a:p>
          <a:p>
            <a:pPr marL="342900" indent="-342900" rtl="0">
              <a:buFont typeface="Arial" panose="020B0604020202020204" pitchFamily="34" charset="0"/>
              <a:buChar char="•"/>
            </a:pPr>
            <a:r>
              <a:rPr lang="es-MX" sz="2000" dirty="0"/>
              <a:t>El programa de temperaturas ya era </a:t>
            </a:r>
            <a:r>
              <a:rPr lang="es-MX" sz="2000" b="1" dirty="0"/>
              <a:t>top-</a:t>
            </a:r>
            <a:r>
              <a:rPr lang="es-MX" sz="2000" b="1" dirty="0" err="1"/>
              <a:t>down</a:t>
            </a:r>
            <a:r>
              <a:rPr lang="es-MX" sz="2000" dirty="0"/>
              <a:t>:</a:t>
            </a:r>
            <a:endParaRPr lang="es-MX" dirty="0"/>
          </a:p>
        </p:txBody>
      </p:sp>
      <p:sp>
        <p:nvSpPr>
          <p:cNvPr id="10" name="CuadroTexto 9">
            <a:extLst>
              <a:ext uri="{FF2B5EF4-FFF2-40B4-BE49-F238E27FC236}">
                <a16:creationId xmlns:a16="http://schemas.microsoft.com/office/drawing/2014/main" id="{B673CC65-DEEB-4F99-925B-E7F47922A62E}"/>
              </a:ext>
            </a:extLst>
          </p:cNvPr>
          <p:cNvSpPr txBox="1"/>
          <p:nvPr/>
        </p:nvSpPr>
        <p:spPr>
          <a:xfrm>
            <a:off x="251520" y="6093296"/>
            <a:ext cx="8695542" cy="646331"/>
          </a:xfrm>
          <a:prstGeom prst="rect">
            <a:avLst/>
          </a:prstGeom>
          <a:solidFill>
            <a:schemeClr val="accent2">
              <a:lumMod val="20000"/>
              <a:lumOff val="80000"/>
            </a:schemeClr>
          </a:solidFill>
        </p:spPr>
        <p:txBody>
          <a:bodyPr wrap="square">
            <a:spAutoFit/>
          </a:bodyPr>
          <a:lstStyle/>
          <a:p>
            <a:r>
              <a:rPr lang="es-MX" b="1" dirty="0"/>
              <a:t>No es un método nuevo: </a:t>
            </a:r>
            <a:r>
              <a:rPr lang="es-MX" dirty="0"/>
              <a:t>es lo que se hizo previamente con temperaturas. Ahora tiene nombre.</a:t>
            </a:r>
          </a:p>
        </p:txBody>
      </p:sp>
      <p:pic>
        <p:nvPicPr>
          <p:cNvPr id="3" name="Imagen 2">
            <a:extLst>
              <a:ext uri="{FF2B5EF4-FFF2-40B4-BE49-F238E27FC236}">
                <a16:creationId xmlns:a16="http://schemas.microsoft.com/office/drawing/2014/main" id="{37B98D33-7CCB-41E3-90FC-F4379A9BB1C3}"/>
              </a:ext>
            </a:extLst>
          </p:cNvPr>
          <p:cNvPicPr>
            <a:picLocks noChangeAspect="1"/>
          </p:cNvPicPr>
          <p:nvPr/>
        </p:nvPicPr>
        <p:blipFill>
          <a:blip r:embed="rId2"/>
          <a:stretch>
            <a:fillRect/>
          </a:stretch>
        </p:blipFill>
        <p:spPr>
          <a:xfrm>
            <a:off x="971600" y="2276872"/>
            <a:ext cx="7200800" cy="3398777"/>
          </a:xfrm>
          <a:prstGeom prst="rect">
            <a:avLst/>
          </a:prstGeom>
        </p:spPr>
      </p:pic>
      <p:sp>
        <p:nvSpPr>
          <p:cNvPr id="14" name="CuadroTexto 13">
            <a:extLst>
              <a:ext uri="{FF2B5EF4-FFF2-40B4-BE49-F238E27FC236}">
                <a16:creationId xmlns:a16="http://schemas.microsoft.com/office/drawing/2014/main" id="{026C3336-30AD-429B-8D85-6797BECC2F78}"/>
              </a:ext>
            </a:extLst>
          </p:cNvPr>
          <p:cNvSpPr txBox="1"/>
          <p:nvPr/>
        </p:nvSpPr>
        <p:spPr>
          <a:xfrm>
            <a:off x="467544" y="5579948"/>
            <a:ext cx="8407510" cy="369332"/>
          </a:xfrm>
          <a:prstGeom prst="rect">
            <a:avLst/>
          </a:prstGeom>
          <a:noFill/>
        </p:spPr>
        <p:txBody>
          <a:bodyPr wrap="square">
            <a:spAutoFit/>
          </a:bodyPr>
          <a:lstStyle/>
          <a:p>
            <a:pPr algn="ctr"/>
            <a:r>
              <a:rPr lang="es-CO" b="1" dirty="0"/>
              <a:t>Diagrama top-</a:t>
            </a:r>
            <a:r>
              <a:rPr lang="es-CO" b="1" dirty="0" err="1"/>
              <a:t>down</a:t>
            </a:r>
            <a:r>
              <a:rPr lang="es-CO" b="1" dirty="0"/>
              <a:t> temperaturas</a:t>
            </a:r>
            <a:r>
              <a:rPr lang="es-CO" dirty="0"/>
              <a:t>: ¿Dónde está cada parte en temperaturas_v2.py?</a:t>
            </a:r>
          </a:p>
        </p:txBody>
      </p:sp>
    </p:spTree>
    <p:extLst>
      <p:ext uri="{BB962C8B-B14F-4D97-AF65-F5344CB8AC3E}">
        <p14:creationId xmlns:p14="http://schemas.microsoft.com/office/powerpoint/2010/main" val="10699859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¿Hasta dónde dividir?</a:t>
            </a:r>
          </a:p>
        </p:txBody>
      </p:sp>
      <p:sp>
        <p:nvSpPr>
          <p:cNvPr id="13" name="12 Rectángulo"/>
          <p:cNvSpPr/>
          <p:nvPr/>
        </p:nvSpPr>
        <p:spPr>
          <a:xfrm>
            <a:off x="179512" y="717664"/>
            <a:ext cx="8835218" cy="1323439"/>
          </a:xfrm>
          <a:prstGeom prst="rect">
            <a:avLst/>
          </a:prstGeom>
        </p:spPr>
        <p:txBody>
          <a:bodyPr wrap="square">
            <a:spAutoFit/>
          </a:bodyPr>
          <a:lstStyle/>
          <a:p>
            <a:pPr rtl="0"/>
            <a:r>
              <a:rPr lang="es-MX" sz="2000" b="1" dirty="0"/>
              <a:t>Ejemplo:</a:t>
            </a:r>
            <a:r>
              <a:rPr lang="es-MX" sz="2000" dirty="0"/>
              <a:t> </a:t>
            </a:r>
            <a:r>
              <a:rPr lang="es-CO" sz="2000" dirty="0"/>
              <a:t>Hacer un programa que despliegue un calendario para un mes del año dado. El programa solicita al usuario que ingrese el año y el mes, y entonces despliega el calendario entero para ese mes tal y como lo muestra la siguiente figura:</a:t>
            </a:r>
            <a:endParaRPr lang="es-MX" sz="2000" dirty="0"/>
          </a:p>
        </p:txBody>
      </p:sp>
      <p:sp>
        <p:nvSpPr>
          <p:cNvPr id="14" name="CuadroTexto 13">
            <a:extLst>
              <a:ext uri="{FF2B5EF4-FFF2-40B4-BE49-F238E27FC236}">
                <a16:creationId xmlns:a16="http://schemas.microsoft.com/office/drawing/2014/main" id="{026C3336-30AD-429B-8D85-6797BECC2F78}"/>
              </a:ext>
            </a:extLst>
          </p:cNvPr>
          <p:cNvSpPr txBox="1"/>
          <p:nvPr/>
        </p:nvSpPr>
        <p:spPr>
          <a:xfrm>
            <a:off x="467544" y="5579948"/>
            <a:ext cx="8208912" cy="369332"/>
          </a:xfrm>
          <a:prstGeom prst="rect">
            <a:avLst/>
          </a:prstGeom>
          <a:solidFill>
            <a:schemeClr val="accent6">
              <a:lumMod val="20000"/>
              <a:lumOff val="80000"/>
            </a:schemeClr>
          </a:solidFill>
        </p:spPr>
        <p:txBody>
          <a:bodyPr wrap="square">
            <a:spAutoFit/>
          </a:bodyPr>
          <a:lstStyle/>
          <a:p>
            <a:r>
              <a:rPr lang="es-MX" b="1" dirty="0"/>
              <a:t>Antes de ver la solución:</a:t>
            </a:r>
            <a:r>
              <a:rPr lang="es-MX" dirty="0"/>
              <a:t> ¿en qué partes dividirían este problema?</a:t>
            </a:r>
            <a:endParaRPr lang="es-CO" dirty="0"/>
          </a:p>
        </p:txBody>
      </p:sp>
      <p:pic>
        <p:nvPicPr>
          <p:cNvPr id="7" name="Picture 2">
            <a:extLst>
              <a:ext uri="{FF2B5EF4-FFF2-40B4-BE49-F238E27FC236}">
                <a16:creationId xmlns:a16="http://schemas.microsoft.com/office/drawing/2014/main" id="{B7DBF9EF-FE6D-4839-85E5-F5EB76D21D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119746"/>
            <a:ext cx="8064896" cy="27486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499321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¿Hasta dónde dividir?</a:t>
            </a:r>
          </a:p>
        </p:txBody>
      </p:sp>
      <p:sp>
        <p:nvSpPr>
          <p:cNvPr id="13" name="12 Rectángulo"/>
          <p:cNvSpPr/>
          <p:nvPr/>
        </p:nvSpPr>
        <p:spPr>
          <a:xfrm>
            <a:off x="179512" y="717664"/>
            <a:ext cx="8835218" cy="1631216"/>
          </a:xfrm>
          <a:prstGeom prst="rect">
            <a:avLst/>
          </a:prstGeom>
        </p:spPr>
        <p:txBody>
          <a:bodyPr wrap="square">
            <a:spAutoFit/>
          </a:bodyPr>
          <a:lstStyle/>
          <a:p>
            <a:pPr rtl="0"/>
            <a:r>
              <a:rPr lang="es-CO" sz="2000" b="1" dirty="0"/>
              <a:t>Diagrama Top-Down</a:t>
            </a:r>
            <a:r>
              <a:rPr lang="es-CO" sz="2000" dirty="0"/>
              <a:t>:</a:t>
            </a:r>
          </a:p>
          <a:p>
            <a:pPr marL="342900" indent="-342900" rtl="0">
              <a:buFont typeface="Arial" panose="020B0604020202020204" pitchFamily="34" charset="0"/>
              <a:buChar char="•"/>
            </a:pPr>
            <a:r>
              <a:rPr lang="es-MX" sz="2000" dirty="0"/>
              <a:t>Se divide hasta que cada pieza haga una sola cosa y su nombre lo diga.</a:t>
            </a:r>
          </a:p>
          <a:p>
            <a:pPr marL="342900" indent="-342900" rtl="0">
              <a:buFont typeface="Arial" panose="020B0604020202020204" pitchFamily="34" charset="0"/>
              <a:buChar char="•"/>
            </a:pPr>
            <a:r>
              <a:rPr lang="es-MX" sz="2000" b="1" dirty="0"/>
              <a:t>Algunas piezas ya son conocidas</a:t>
            </a:r>
            <a:r>
              <a:rPr lang="es-MX" sz="2000" dirty="0"/>
              <a:t>: </a:t>
            </a:r>
            <a:r>
              <a:rPr lang="es-MX" sz="1600" b="1" dirty="0" err="1">
                <a:latin typeface="Consolas" panose="020B0609020204030204" pitchFamily="49" charset="0"/>
              </a:rPr>
              <a:t>es_bisiesto</a:t>
            </a:r>
            <a:r>
              <a:rPr lang="es-MX" sz="2000" dirty="0"/>
              <a:t> es el ejemplo de la clase 7.</a:t>
            </a:r>
          </a:p>
          <a:p>
            <a:pPr marL="342900" indent="-342900" rtl="0">
              <a:buFont typeface="Arial" panose="020B0604020202020204" pitchFamily="34" charset="0"/>
              <a:buChar char="•"/>
            </a:pPr>
            <a:r>
              <a:rPr lang="es-MX" sz="2000" b="1" dirty="0"/>
              <a:t>Una misma función puede ser usada por varias</a:t>
            </a:r>
            <a:r>
              <a:rPr lang="es-MX" sz="2000" dirty="0"/>
              <a:t>: </a:t>
            </a:r>
            <a:r>
              <a:rPr lang="es-MX" b="1" dirty="0" err="1">
                <a:latin typeface="Consolas" panose="020B0609020204030204" pitchFamily="49" charset="0"/>
              </a:rPr>
              <a:t>obtener_dias_mes</a:t>
            </a:r>
            <a:r>
              <a:rPr lang="es-MX" sz="2000" dirty="0"/>
              <a:t> aparece en dos ramas. Eso es reutilización.</a:t>
            </a:r>
          </a:p>
        </p:txBody>
      </p:sp>
      <p:pic>
        <p:nvPicPr>
          <p:cNvPr id="4" name="Imagen 3">
            <a:extLst>
              <a:ext uri="{FF2B5EF4-FFF2-40B4-BE49-F238E27FC236}">
                <a16:creationId xmlns:a16="http://schemas.microsoft.com/office/drawing/2014/main" id="{22855065-2A59-4C93-A3C4-DB0C88805A3D}"/>
              </a:ext>
            </a:extLst>
          </p:cNvPr>
          <p:cNvPicPr>
            <a:picLocks noChangeAspect="1"/>
          </p:cNvPicPr>
          <p:nvPr/>
        </p:nvPicPr>
        <p:blipFill>
          <a:blip r:embed="rId2"/>
          <a:stretch>
            <a:fillRect/>
          </a:stretch>
        </p:blipFill>
        <p:spPr>
          <a:xfrm>
            <a:off x="1331641" y="2306216"/>
            <a:ext cx="6905836" cy="4219128"/>
          </a:xfrm>
          <a:prstGeom prst="rect">
            <a:avLst/>
          </a:prstGeom>
        </p:spPr>
      </p:pic>
      <p:sp>
        <p:nvSpPr>
          <p:cNvPr id="15" name="CuadroTexto 14">
            <a:extLst>
              <a:ext uri="{FF2B5EF4-FFF2-40B4-BE49-F238E27FC236}">
                <a16:creationId xmlns:a16="http://schemas.microsoft.com/office/drawing/2014/main" id="{33C4FF9D-126A-43C8-8615-C2375C01EB92}"/>
              </a:ext>
            </a:extLst>
          </p:cNvPr>
          <p:cNvSpPr txBox="1"/>
          <p:nvPr/>
        </p:nvSpPr>
        <p:spPr>
          <a:xfrm>
            <a:off x="39835" y="6474822"/>
            <a:ext cx="9034891" cy="338554"/>
          </a:xfrm>
          <a:prstGeom prst="rect">
            <a:avLst/>
          </a:prstGeom>
          <a:solidFill>
            <a:schemeClr val="accent2">
              <a:lumMod val="20000"/>
              <a:lumOff val="80000"/>
            </a:schemeClr>
          </a:solidFill>
        </p:spPr>
        <p:txBody>
          <a:bodyPr wrap="square">
            <a:spAutoFit/>
          </a:bodyPr>
          <a:lstStyle/>
          <a:p>
            <a:r>
              <a:rPr lang="es-MX" sz="1600" dirty="0"/>
              <a:t>No todo subproblema necesita ser una función: si es una sola línea, puede quedarse dentro de otra.</a:t>
            </a:r>
          </a:p>
        </p:txBody>
      </p:sp>
    </p:spTree>
    <p:extLst>
      <p:ext uri="{BB962C8B-B14F-4D97-AF65-F5344CB8AC3E}">
        <p14:creationId xmlns:p14="http://schemas.microsoft.com/office/powerpoint/2010/main" val="26244027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n-US" sz="3600" dirty="0"/>
              <a:t>¿Cómo se construye? Top-down y bottom-up</a:t>
            </a:r>
            <a:endParaRPr lang="es-MX" sz="3600" dirty="0"/>
          </a:p>
        </p:txBody>
      </p:sp>
      <p:sp>
        <p:nvSpPr>
          <p:cNvPr id="13" name="12 Rectángulo"/>
          <p:cNvSpPr/>
          <p:nvPr/>
        </p:nvSpPr>
        <p:spPr>
          <a:xfrm>
            <a:off x="179512" y="796642"/>
            <a:ext cx="8835218" cy="5324535"/>
          </a:xfrm>
          <a:prstGeom prst="rect">
            <a:avLst/>
          </a:prstGeom>
        </p:spPr>
        <p:txBody>
          <a:bodyPr wrap="square">
            <a:spAutoFit/>
          </a:bodyPr>
          <a:lstStyle/>
          <a:p>
            <a:pPr marL="342900" indent="-342900" rtl="0">
              <a:buFont typeface="Arial" panose="020B0604020202020204" pitchFamily="34" charset="0"/>
              <a:buChar char="•"/>
            </a:pPr>
            <a:r>
              <a:rPr lang="es-MX" sz="2000" dirty="0"/>
              <a:t>La siguiente tabla ilustra los principales aspectos a tener en cuenta para abordar un problema complejo ya sea mediante </a:t>
            </a:r>
            <a:r>
              <a:rPr lang="es-MX" sz="2000" b="1" dirty="0"/>
              <a:t>top-</a:t>
            </a:r>
            <a:r>
              <a:rPr lang="es-MX" sz="2000" b="1" dirty="0" err="1"/>
              <a:t>down</a:t>
            </a:r>
            <a:r>
              <a:rPr lang="es-MX" sz="2000" dirty="0"/>
              <a:t> o mediante </a:t>
            </a:r>
            <a:r>
              <a:rPr lang="es-MX" sz="2000" b="1" dirty="0" err="1"/>
              <a:t>bottom</a:t>
            </a:r>
            <a:r>
              <a:rPr lang="es-MX" sz="2000" b="1" dirty="0"/>
              <a:t>-up</a:t>
            </a:r>
            <a:r>
              <a:rPr lang="es-MX" sz="2000" dirty="0"/>
              <a:t>.</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Lo que tienen en común</a:t>
            </a:r>
            <a:r>
              <a:rPr lang="es-MX" sz="2000" dirty="0"/>
              <a:t>: “los dos construyen una función a la vez, ayudan a aislar los errores y facilitan la depuración” (Liang, </a:t>
            </a:r>
            <a:r>
              <a:rPr lang="es-CO" sz="2000" dirty="0"/>
              <a:t>§6.13</a:t>
            </a:r>
            <a:r>
              <a:rPr lang="es-MX" sz="2000" dirty="0"/>
              <a:t>).</a:t>
            </a:r>
          </a:p>
          <a:p>
            <a:pPr marL="342900" indent="-342900" rtl="0">
              <a:buFont typeface="Arial" panose="020B0604020202020204" pitchFamily="34" charset="0"/>
              <a:buChar char="•"/>
            </a:pPr>
            <a:r>
              <a:rPr lang="es-MX" sz="2000" dirty="0"/>
              <a:t>Nunca se escribe todo para probarlo al final.</a:t>
            </a:r>
          </a:p>
        </p:txBody>
      </p:sp>
      <p:graphicFrame>
        <p:nvGraphicFramePr>
          <p:cNvPr id="2" name="Tabla 1">
            <a:extLst>
              <a:ext uri="{FF2B5EF4-FFF2-40B4-BE49-F238E27FC236}">
                <a16:creationId xmlns:a16="http://schemas.microsoft.com/office/drawing/2014/main" id="{8C462719-C3C9-4A70-A8F0-02BB0B1E60DB}"/>
              </a:ext>
            </a:extLst>
          </p:cNvPr>
          <p:cNvGraphicFramePr>
            <a:graphicFrameLocks noGrp="1"/>
          </p:cNvGraphicFramePr>
          <p:nvPr>
            <p:extLst>
              <p:ext uri="{D42A27DB-BD31-4B8C-83A1-F6EECF244321}">
                <p14:modId xmlns:p14="http://schemas.microsoft.com/office/powerpoint/2010/main" val="3363121036"/>
              </p:ext>
            </p:extLst>
          </p:nvPr>
        </p:nvGraphicFramePr>
        <p:xfrm>
          <a:off x="539552" y="1772816"/>
          <a:ext cx="8208912" cy="3108960"/>
        </p:xfrm>
        <a:graphic>
          <a:graphicData uri="http://schemas.openxmlformats.org/drawingml/2006/table">
            <a:tbl>
              <a:tblPr/>
              <a:tblGrid>
                <a:gridCol w="2736304">
                  <a:extLst>
                    <a:ext uri="{9D8B030D-6E8A-4147-A177-3AD203B41FA5}">
                      <a16:colId xmlns:a16="http://schemas.microsoft.com/office/drawing/2014/main" val="3568930428"/>
                    </a:ext>
                  </a:extLst>
                </a:gridCol>
                <a:gridCol w="2736304">
                  <a:extLst>
                    <a:ext uri="{9D8B030D-6E8A-4147-A177-3AD203B41FA5}">
                      <a16:colId xmlns:a16="http://schemas.microsoft.com/office/drawing/2014/main" val="4124702210"/>
                    </a:ext>
                  </a:extLst>
                </a:gridCol>
                <a:gridCol w="2736304">
                  <a:extLst>
                    <a:ext uri="{9D8B030D-6E8A-4147-A177-3AD203B41FA5}">
                      <a16:colId xmlns:a16="http://schemas.microsoft.com/office/drawing/2014/main" val="3675448163"/>
                    </a:ext>
                  </a:extLst>
                </a:gridCol>
              </a:tblGrid>
              <a:tr h="0">
                <a:tc>
                  <a:txBody>
                    <a:bodyPr/>
                    <a:lstStyle/>
                    <a:p>
                      <a:endParaRPr lang="es-CO"/>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b="1" dirty="0"/>
                        <a:t>Top-</a:t>
                      </a:r>
                      <a:r>
                        <a:rPr lang="es-CO" b="1" dirty="0" err="1"/>
                        <a:t>down</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b="1" dirty="0" err="1"/>
                        <a:t>Bottom</a:t>
                      </a:r>
                      <a:r>
                        <a:rPr lang="es-CO" b="1" dirty="0"/>
                        <a:t>-up</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616112531"/>
                  </a:ext>
                </a:extLst>
              </a:tr>
              <a:tr h="0">
                <a:tc>
                  <a:txBody>
                    <a:bodyPr/>
                    <a:lstStyle/>
                    <a:p>
                      <a:r>
                        <a:rPr lang="es-CO" b="1" dirty="0"/>
                        <a:t>Orden</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MX" b="1" dirty="0"/>
                        <a:t>De arriba hacia abajo</a:t>
                      </a:r>
                      <a:r>
                        <a:rPr lang="es-MX" dirty="0"/>
                        <a:t>: primero el programa principal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b="1" dirty="0"/>
                        <a:t>De abajo hacia arriba</a:t>
                      </a:r>
                      <a:r>
                        <a:rPr lang="es-MX" dirty="0"/>
                        <a:t>: primero las funciones más pequeñas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2789637"/>
                  </a:ext>
                </a:extLst>
              </a:tr>
              <a:tr h="0">
                <a:tc>
                  <a:txBody>
                    <a:bodyPr/>
                    <a:lstStyle/>
                    <a:p>
                      <a:r>
                        <a:rPr lang="es-MX" b="1" dirty="0"/>
                        <a:t>Lo que falta se reemplaza por…</a:t>
                      </a:r>
                      <a:endParaRPr lang="es-MX"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MX" b="1" dirty="0"/>
                        <a:t>Stubs:</a:t>
                      </a:r>
                      <a:r>
                        <a:rPr lang="es-MX" dirty="0"/>
                        <a:t> versiones provisionales e incompletas de una función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b="1" dirty="0"/>
                        <a:t>Drivers:</a:t>
                      </a:r>
                      <a:r>
                        <a:rPr lang="es-MX" dirty="0"/>
                        <a:t> pequeños programas de prueba, como nuestros assert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0159382"/>
                  </a:ext>
                </a:extLst>
              </a:tr>
              <a:tr h="0">
                <a:tc>
                  <a:txBody>
                    <a:bodyPr/>
                    <a:lstStyle/>
                    <a:p>
                      <a:r>
                        <a:rPr lang="es-CO" b="1" dirty="0"/>
                        <a:t>Ventaja</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MX" dirty="0"/>
                        <a:t>El programa corre desde el primer momento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Cada pieza llega probada a la integración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98547987"/>
                  </a:ext>
                </a:extLst>
              </a:tr>
            </a:tbl>
          </a:graphicData>
        </a:graphic>
      </p:graphicFrame>
    </p:spTree>
    <p:extLst>
      <p:ext uri="{BB962C8B-B14F-4D97-AF65-F5344CB8AC3E}">
        <p14:creationId xmlns:p14="http://schemas.microsoft.com/office/powerpoint/2010/main" val="24760275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n-US" sz="3600" dirty="0"/>
              <a:t>Top-down: Del planteamiento al </a:t>
            </a:r>
            <a:r>
              <a:rPr lang="en-US" sz="3600" dirty="0" err="1"/>
              <a:t>código</a:t>
            </a:r>
            <a:endParaRPr lang="es-MX" sz="3600" dirty="0"/>
          </a:p>
        </p:txBody>
      </p:sp>
      <p:sp>
        <p:nvSpPr>
          <p:cNvPr id="13" name="12 Rectángulo"/>
          <p:cNvSpPr/>
          <p:nvPr/>
        </p:nvSpPr>
        <p:spPr>
          <a:xfrm>
            <a:off x="179512" y="796642"/>
            <a:ext cx="8835218" cy="3170099"/>
          </a:xfrm>
          <a:prstGeom prst="rect">
            <a:avLst/>
          </a:prstGeom>
        </p:spPr>
        <p:txBody>
          <a:bodyPr wrap="square">
            <a:spAutoFit/>
          </a:bodyPr>
          <a:lstStyle/>
          <a:p>
            <a:pPr marL="342900" indent="-342900" rtl="0">
              <a:buFont typeface="Arial" panose="020B0604020202020204" pitchFamily="34" charset="0"/>
              <a:buChar char="•"/>
            </a:pPr>
            <a:r>
              <a:rPr lang="es-MX" sz="2000" dirty="0"/>
              <a:t>En el planteamiento, cada caja del árbol es un </a:t>
            </a:r>
            <a:r>
              <a:rPr lang="es-MX" sz="2000" b="1" dirty="0"/>
              <a:t>subproblema</a:t>
            </a:r>
            <a:r>
              <a:rPr lang="es-MX" sz="2000" dirty="0"/>
              <a:t>.</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dirty="0"/>
              <a:t>En el código, cada subproblema se convierte en una </a:t>
            </a:r>
            <a:r>
              <a:rPr lang="es-MX" sz="2000" b="1" dirty="0"/>
              <a:t>función</a:t>
            </a:r>
            <a:r>
              <a:rPr lang="es-MX" sz="2000" dirty="0"/>
              <a:t>:</a:t>
            </a:r>
          </a:p>
        </p:txBody>
      </p:sp>
      <p:graphicFrame>
        <p:nvGraphicFramePr>
          <p:cNvPr id="3" name="Tabla 2">
            <a:extLst>
              <a:ext uri="{FF2B5EF4-FFF2-40B4-BE49-F238E27FC236}">
                <a16:creationId xmlns:a16="http://schemas.microsoft.com/office/drawing/2014/main" id="{95D97ED3-7123-4017-A27A-D38CCCF2C330}"/>
              </a:ext>
            </a:extLst>
          </p:cNvPr>
          <p:cNvGraphicFramePr>
            <a:graphicFrameLocks noGrp="1"/>
          </p:cNvGraphicFramePr>
          <p:nvPr>
            <p:extLst>
              <p:ext uri="{D42A27DB-BD31-4B8C-83A1-F6EECF244321}">
                <p14:modId xmlns:p14="http://schemas.microsoft.com/office/powerpoint/2010/main" val="3128087495"/>
              </p:ext>
            </p:extLst>
          </p:nvPr>
        </p:nvGraphicFramePr>
        <p:xfrm>
          <a:off x="628650" y="4077072"/>
          <a:ext cx="7886700" cy="1828800"/>
        </p:xfrm>
        <a:graphic>
          <a:graphicData uri="http://schemas.openxmlformats.org/drawingml/2006/table">
            <a:tbl>
              <a:tblPr/>
              <a:tblGrid>
                <a:gridCol w="3943350">
                  <a:extLst>
                    <a:ext uri="{9D8B030D-6E8A-4147-A177-3AD203B41FA5}">
                      <a16:colId xmlns:a16="http://schemas.microsoft.com/office/drawing/2014/main" val="3200556719"/>
                    </a:ext>
                  </a:extLst>
                </a:gridCol>
                <a:gridCol w="3943350">
                  <a:extLst>
                    <a:ext uri="{9D8B030D-6E8A-4147-A177-3AD203B41FA5}">
                      <a16:colId xmlns:a16="http://schemas.microsoft.com/office/drawing/2014/main" val="343841987"/>
                    </a:ext>
                  </a:extLst>
                </a:gridCol>
              </a:tblGrid>
              <a:tr h="0">
                <a:tc>
                  <a:txBody>
                    <a:bodyPr/>
                    <a:lstStyle/>
                    <a:p>
                      <a:r>
                        <a:rPr lang="es-CO" sz="1600" b="1"/>
                        <a:t>Caja del árbol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En el 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664146475"/>
                  </a:ext>
                </a:extLst>
              </a:tr>
              <a:tr h="0">
                <a:tc>
                  <a:txBody>
                    <a:bodyPr/>
                    <a:lstStyle/>
                    <a:p>
                      <a:r>
                        <a:rPr lang="es-CO" sz="1400" dirty="0">
                          <a:latin typeface="Consolas" panose="020B0609020204030204" pitchFamily="49" charset="0"/>
                        </a:rPr>
                        <a:t>mostrar_menu()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def</a:t>
                      </a:r>
                      <a:r>
                        <a:rPr lang="es-CO" sz="1400" dirty="0">
                          <a:latin typeface="Consolas" panose="020B0609020204030204" pitchFamily="49" charset="0"/>
                        </a:rPr>
                        <a:t> mostrar_menu():</a:t>
                      </a:r>
                      <a:endParaRPr lang="es-CO" sz="16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5682915"/>
                  </a:ext>
                </a:extLst>
              </a:tr>
              <a:tr h="0">
                <a:tc>
                  <a:txBody>
                    <a:bodyPr/>
                    <a:lstStyle/>
                    <a:p>
                      <a:r>
                        <a:rPr lang="es-CO" sz="1400">
                          <a:latin typeface="Consolas" panose="020B0609020204030204" pitchFamily="49" charset="0"/>
                        </a:rPr>
                        <a:t>celsius_a_fahrenheit()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de-DE" sz="1400">
                          <a:latin typeface="Consolas" panose="020B0609020204030204" pitchFamily="49" charset="0"/>
                        </a:rPr>
                        <a:t>def celsius_a_fahrenheit(temp_c):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3561024"/>
                  </a:ext>
                </a:extLst>
              </a:tr>
              <a:tr h="0">
                <a:tc>
                  <a:txBody>
                    <a:bodyPr/>
                    <a:lstStyle/>
                    <a:p>
                      <a:r>
                        <a:rPr lang="es-CO" sz="1400" dirty="0">
                          <a:latin typeface="Consolas" panose="020B0609020204030204" pitchFamily="49" charset="0"/>
                        </a:rPr>
                        <a:t>celsius_a_kelvin()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fi-FI" sz="1400" dirty="0">
                          <a:latin typeface="Consolas" panose="020B0609020204030204" pitchFamily="49" charset="0"/>
                        </a:rPr>
                        <a:t>def celsius_a_kelvin(temp_c):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6146299"/>
                  </a:ext>
                </a:extLst>
              </a:tr>
              <a:tr h="0">
                <a:tc>
                  <a:txBody>
                    <a:bodyPr/>
                    <a:lstStyle/>
                    <a:p>
                      <a:r>
                        <a:rPr lang="es-MX" sz="1600" dirty="0"/>
                        <a:t>Leer opción, leer temperatura, mostrar resultado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Una línea cada una (</a:t>
                      </a:r>
                      <a:r>
                        <a:rPr lang="es-CO" sz="1400" dirty="0">
                          <a:latin typeface="Consolas" panose="020B0609020204030204" pitchFamily="49" charset="0"/>
                        </a:rPr>
                        <a:t>input</a:t>
                      </a:r>
                      <a:r>
                        <a:rPr lang="es-CO" sz="1600" dirty="0"/>
                        <a:t> o </a:t>
                      </a:r>
                      <a:r>
                        <a:rPr lang="es-CO" sz="1400" dirty="0">
                          <a:latin typeface="Consolas" panose="020B0609020204030204" pitchFamily="49" charset="0"/>
                        </a:rPr>
                        <a:t>print</a:t>
                      </a:r>
                      <a:r>
                        <a:rPr lang="es-CO" sz="1600" dirty="0"/>
                        <a:t>), dentro del </a:t>
                      </a:r>
                      <a:r>
                        <a:rPr lang="es-CO" sz="1600" b="1" dirty="0"/>
                        <a:t>programa principal</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1415090"/>
                  </a:ext>
                </a:extLst>
              </a:tr>
            </a:tbl>
          </a:graphicData>
        </a:graphic>
      </p:graphicFrame>
      <p:pic>
        <p:nvPicPr>
          <p:cNvPr id="6" name="Imagen 5">
            <a:extLst>
              <a:ext uri="{FF2B5EF4-FFF2-40B4-BE49-F238E27FC236}">
                <a16:creationId xmlns:a16="http://schemas.microsoft.com/office/drawing/2014/main" id="{A3AB67DB-2C57-4BCF-81B8-1B9A74E80EA8}"/>
              </a:ext>
            </a:extLst>
          </p:cNvPr>
          <p:cNvPicPr>
            <a:picLocks noChangeAspect="1"/>
          </p:cNvPicPr>
          <p:nvPr/>
        </p:nvPicPr>
        <p:blipFill>
          <a:blip r:embed="rId2"/>
          <a:stretch>
            <a:fillRect/>
          </a:stretch>
        </p:blipFill>
        <p:spPr>
          <a:xfrm>
            <a:off x="2123728" y="1235447"/>
            <a:ext cx="5137689" cy="2424989"/>
          </a:xfrm>
          <a:prstGeom prst="rect">
            <a:avLst/>
          </a:prstGeom>
        </p:spPr>
      </p:pic>
      <p:sp>
        <p:nvSpPr>
          <p:cNvPr id="11" name="CuadroTexto 10">
            <a:extLst>
              <a:ext uri="{FF2B5EF4-FFF2-40B4-BE49-F238E27FC236}">
                <a16:creationId xmlns:a16="http://schemas.microsoft.com/office/drawing/2014/main" id="{2F938FF1-6A0E-4201-A72E-E3484D4BFCD8}"/>
              </a:ext>
            </a:extLst>
          </p:cNvPr>
          <p:cNvSpPr txBox="1"/>
          <p:nvPr/>
        </p:nvSpPr>
        <p:spPr>
          <a:xfrm>
            <a:off x="256278" y="6093296"/>
            <a:ext cx="8636202" cy="584775"/>
          </a:xfrm>
          <a:prstGeom prst="rect">
            <a:avLst/>
          </a:prstGeom>
          <a:solidFill>
            <a:schemeClr val="accent6">
              <a:lumMod val="20000"/>
              <a:lumOff val="80000"/>
            </a:schemeClr>
          </a:solidFill>
        </p:spPr>
        <p:txBody>
          <a:bodyPr wrap="square">
            <a:spAutoFit/>
          </a:bodyPr>
          <a:lstStyle/>
          <a:p>
            <a:r>
              <a:rPr lang="es-CO" sz="1600" b="1" dirty="0"/>
              <a:t>Pregunta</a:t>
            </a:r>
            <a:r>
              <a:rPr lang="es-CO" sz="1600" dirty="0"/>
              <a:t>: si el árbol ya está listo, ¿por dónde empezamos a programar? </a:t>
            </a:r>
          </a:p>
          <a:p>
            <a:r>
              <a:rPr lang="es-CO" sz="1600" b="1" dirty="0"/>
              <a:t>Respuesta</a:t>
            </a:r>
            <a:r>
              <a:rPr lang="es-CO" sz="1600" dirty="0"/>
              <a:t>: Por arriba, el programa principal.</a:t>
            </a:r>
          </a:p>
        </p:txBody>
      </p:sp>
    </p:spTree>
    <p:extLst>
      <p:ext uri="{BB962C8B-B14F-4D97-AF65-F5344CB8AC3E}">
        <p14:creationId xmlns:p14="http://schemas.microsoft.com/office/powerpoint/2010/main" val="37637869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n-US" sz="3600" dirty="0" err="1"/>
              <a:t>Construir</a:t>
            </a:r>
            <a:r>
              <a:rPr lang="en-US" sz="3600" dirty="0"/>
              <a:t> de </a:t>
            </a:r>
            <a:r>
              <a:rPr lang="en-US" sz="3600" dirty="0" err="1"/>
              <a:t>arriba</a:t>
            </a:r>
            <a:r>
              <a:rPr lang="en-US" sz="3600" dirty="0"/>
              <a:t> </a:t>
            </a:r>
            <a:r>
              <a:rPr lang="en-US" sz="3600" dirty="0" err="1"/>
              <a:t>hacia</a:t>
            </a:r>
            <a:r>
              <a:rPr lang="en-US" sz="3600" dirty="0"/>
              <a:t> </a:t>
            </a:r>
            <a:r>
              <a:rPr lang="en-US" sz="3600" dirty="0" err="1"/>
              <a:t>abajo</a:t>
            </a:r>
            <a:r>
              <a:rPr lang="en-US" sz="3600" dirty="0"/>
              <a:t>: Los pasos</a:t>
            </a:r>
            <a:endParaRPr lang="es-MX" sz="3600" dirty="0"/>
          </a:p>
        </p:txBody>
      </p:sp>
      <p:sp>
        <p:nvSpPr>
          <p:cNvPr id="13" name="12 Rectángulo"/>
          <p:cNvSpPr/>
          <p:nvPr/>
        </p:nvSpPr>
        <p:spPr>
          <a:xfrm>
            <a:off x="179512" y="796642"/>
            <a:ext cx="8835218" cy="3785652"/>
          </a:xfrm>
          <a:prstGeom prst="rect">
            <a:avLst/>
          </a:prstGeom>
        </p:spPr>
        <p:txBody>
          <a:bodyPr wrap="square">
            <a:spAutoFit/>
          </a:bodyPr>
          <a:lstStyle/>
          <a:p>
            <a:pPr marL="342900" indent="-342900" rtl="0">
              <a:buFont typeface="Arial" panose="020B0604020202020204" pitchFamily="34" charset="0"/>
              <a:buChar char="•"/>
            </a:pPr>
            <a:r>
              <a:rPr lang="es-MX" sz="2000" b="1" dirty="0"/>
              <a:t>Stub</a:t>
            </a:r>
            <a:r>
              <a:rPr lang="es-MX" sz="2000" dirty="0"/>
              <a:t>: versión provisional de una función que permite ejecutar el programa antes de terminarlo.</a:t>
            </a:r>
          </a:p>
          <a:p>
            <a:pPr marL="342900" indent="-342900" rtl="0">
              <a:buFont typeface="Arial" panose="020B0604020202020204" pitchFamily="34" charset="0"/>
              <a:buChar char="•"/>
            </a:pPr>
            <a:r>
              <a:rPr lang="es-MX" sz="2000" dirty="0"/>
              <a:t>El programa se construye en tres pasos:</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Archivos</a:t>
            </a:r>
            <a:r>
              <a:rPr lang="es-MX" sz="2000" dirty="0"/>
              <a:t>: </a:t>
            </a:r>
            <a:r>
              <a:rPr lang="es-MX" sz="2000" dirty="0">
                <a:hlinkClick r:id="rId2"/>
              </a:rPr>
              <a:t>link</a:t>
            </a:r>
            <a:endParaRPr lang="es-MX" sz="2000" dirty="0"/>
          </a:p>
        </p:txBody>
      </p:sp>
      <p:sp>
        <p:nvSpPr>
          <p:cNvPr id="11" name="CuadroTexto 10">
            <a:extLst>
              <a:ext uri="{FF2B5EF4-FFF2-40B4-BE49-F238E27FC236}">
                <a16:creationId xmlns:a16="http://schemas.microsoft.com/office/drawing/2014/main" id="{2F938FF1-6A0E-4201-A72E-E3484D4BFCD8}"/>
              </a:ext>
            </a:extLst>
          </p:cNvPr>
          <p:cNvSpPr txBox="1"/>
          <p:nvPr/>
        </p:nvSpPr>
        <p:spPr>
          <a:xfrm>
            <a:off x="251520" y="4869160"/>
            <a:ext cx="8636202" cy="369332"/>
          </a:xfrm>
          <a:prstGeom prst="rect">
            <a:avLst/>
          </a:prstGeom>
          <a:solidFill>
            <a:schemeClr val="accent2">
              <a:lumMod val="20000"/>
              <a:lumOff val="80000"/>
            </a:schemeClr>
          </a:solidFill>
        </p:spPr>
        <p:txBody>
          <a:bodyPr wrap="square">
            <a:spAutoFit/>
          </a:bodyPr>
          <a:lstStyle/>
          <a:p>
            <a:r>
              <a:rPr lang="es-CO" b="1" dirty="0"/>
              <a:t>Idea clave</a:t>
            </a:r>
            <a:r>
              <a:rPr lang="es-CO" dirty="0"/>
              <a:t>: En cada paso el programa </a:t>
            </a:r>
            <a:r>
              <a:rPr lang="es-CO" b="1" dirty="0"/>
              <a:t>se puede ejecutar</a:t>
            </a:r>
            <a:r>
              <a:rPr lang="es-CO" dirty="0"/>
              <a:t>, y se avanza </a:t>
            </a:r>
            <a:r>
              <a:rPr lang="es-CO" b="1" dirty="0"/>
              <a:t>una función a la vez</a:t>
            </a:r>
            <a:r>
              <a:rPr lang="es-CO" dirty="0"/>
              <a:t>. </a:t>
            </a:r>
          </a:p>
        </p:txBody>
      </p:sp>
      <p:graphicFrame>
        <p:nvGraphicFramePr>
          <p:cNvPr id="2" name="Tabla 1">
            <a:extLst>
              <a:ext uri="{FF2B5EF4-FFF2-40B4-BE49-F238E27FC236}">
                <a16:creationId xmlns:a16="http://schemas.microsoft.com/office/drawing/2014/main" id="{15D60576-AF07-474E-83A2-BA787BE10C8B}"/>
              </a:ext>
            </a:extLst>
          </p:cNvPr>
          <p:cNvGraphicFramePr>
            <a:graphicFrameLocks noGrp="1"/>
          </p:cNvGraphicFramePr>
          <p:nvPr>
            <p:extLst>
              <p:ext uri="{D42A27DB-BD31-4B8C-83A1-F6EECF244321}">
                <p14:modId xmlns:p14="http://schemas.microsoft.com/office/powerpoint/2010/main" val="4086557101"/>
              </p:ext>
            </p:extLst>
          </p:nvPr>
        </p:nvGraphicFramePr>
        <p:xfrm>
          <a:off x="628650" y="1863080"/>
          <a:ext cx="8080716" cy="1828800"/>
        </p:xfrm>
        <a:graphic>
          <a:graphicData uri="http://schemas.openxmlformats.org/drawingml/2006/table">
            <a:tbl>
              <a:tblPr/>
              <a:tblGrid>
                <a:gridCol w="678498">
                  <a:extLst>
                    <a:ext uri="{9D8B030D-6E8A-4147-A177-3AD203B41FA5}">
                      <a16:colId xmlns:a16="http://schemas.microsoft.com/office/drawing/2014/main" val="1621026720"/>
                    </a:ext>
                  </a:extLst>
                </a:gridCol>
                <a:gridCol w="3701109">
                  <a:extLst>
                    <a:ext uri="{9D8B030D-6E8A-4147-A177-3AD203B41FA5}">
                      <a16:colId xmlns:a16="http://schemas.microsoft.com/office/drawing/2014/main" val="705239651"/>
                    </a:ext>
                  </a:extLst>
                </a:gridCol>
                <a:gridCol w="3701109">
                  <a:extLst>
                    <a:ext uri="{9D8B030D-6E8A-4147-A177-3AD203B41FA5}">
                      <a16:colId xmlns:a16="http://schemas.microsoft.com/office/drawing/2014/main" val="3555977613"/>
                    </a:ext>
                  </a:extLst>
                </a:gridCol>
              </a:tblGrid>
              <a:tr h="162506">
                <a:tc>
                  <a:txBody>
                    <a:bodyPr/>
                    <a:lstStyle/>
                    <a:p>
                      <a:r>
                        <a:rPr lang="es-CO" sz="1600" b="1"/>
                        <a:t>Paso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Archivo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Qué tiene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533719960"/>
                  </a:ext>
                </a:extLst>
              </a:tr>
              <a:tr h="284386">
                <a:tc>
                  <a:txBody>
                    <a:bodyPr/>
                    <a:lstStyle/>
                    <a:p>
                      <a:r>
                        <a:rPr lang="es-CO" sz="1600" b="1" dirty="0"/>
                        <a:t>1</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temperaturas_topdown_paso1.py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Programa principal completo; </a:t>
                      </a:r>
                      <a:r>
                        <a:rPr lang="es-MX" sz="1600" b="1" dirty="0"/>
                        <a:t>las dos</a:t>
                      </a:r>
                      <a:r>
                        <a:rPr lang="es-MX" sz="1600" dirty="0"/>
                        <a:t> conversiones son stubs.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4980433"/>
                  </a:ext>
                </a:extLst>
              </a:tr>
              <a:tr h="284386">
                <a:tc>
                  <a:txBody>
                    <a:bodyPr/>
                    <a:lstStyle/>
                    <a:p>
                      <a:r>
                        <a:rPr lang="es-CO" sz="1600" b="1"/>
                        <a:t>2</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temperaturas_topdown_paso2.py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Fahrenheit </a:t>
                      </a:r>
                      <a:r>
                        <a:rPr lang="es-MX" sz="1600" b="1" dirty="0"/>
                        <a:t>implementada y probada</a:t>
                      </a:r>
                      <a:r>
                        <a:rPr lang="es-MX" sz="1600" dirty="0"/>
                        <a:t>; Kelvin sigue como </a:t>
                      </a:r>
                      <a:r>
                        <a:rPr lang="es-MX" sz="1600" dirty="0" err="1"/>
                        <a:t>stub</a:t>
                      </a:r>
                      <a:r>
                        <a:rPr lang="es-MX" sz="16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6656533"/>
                  </a:ext>
                </a:extLst>
              </a:tr>
              <a:tr h="284386">
                <a:tc>
                  <a:txBody>
                    <a:bodyPr/>
                    <a:lstStyle/>
                    <a:p>
                      <a:r>
                        <a:rPr lang="es-CO" sz="1600" b="1"/>
                        <a:t>3</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temperaturas_v2.py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Ningún </a:t>
                      </a:r>
                      <a:r>
                        <a:rPr lang="es-MX" sz="1600" dirty="0" err="1"/>
                        <a:t>stub</a:t>
                      </a:r>
                      <a:r>
                        <a:rPr lang="es-MX" sz="1600" dirty="0"/>
                        <a:t>; </a:t>
                      </a:r>
                      <a:r>
                        <a:rPr lang="es-MX" sz="1600" b="1" dirty="0"/>
                        <a:t>todas</a:t>
                      </a:r>
                      <a:r>
                        <a:rPr lang="es-MX" sz="1600" dirty="0"/>
                        <a:t> las pruebas pasan.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4144767"/>
                  </a:ext>
                </a:extLst>
              </a:tr>
            </a:tbl>
          </a:graphicData>
        </a:graphic>
      </p:graphicFrame>
    </p:spTree>
    <p:extLst>
      <p:ext uri="{BB962C8B-B14F-4D97-AF65-F5344CB8AC3E}">
        <p14:creationId xmlns:p14="http://schemas.microsoft.com/office/powerpoint/2010/main" val="19119198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a:t>Paso 1: esqueleto con stubs</a:t>
            </a:r>
            <a:endParaRPr lang="es-MX" sz="3600" dirty="0"/>
          </a:p>
        </p:txBody>
      </p:sp>
      <p:sp>
        <p:nvSpPr>
          <p:cNvPr id="13" name="12 Rectángulo"/>
          <p:cNvSpPr/>
          <p:nvPr/>
        </p:nvSpPr>
        <p:spPr>
          <a:xfrm>
            <a:off x="179512" y="1136938"/>
            <a:ext cx="8835218" cy="3477875"/>
          </a:xfrm>
          <a:prstGeom prst="rect">
            <a:avLst/>
          </a:prstGeom>
        </p:spPr>
        <p:txBody>
          <a:bodyPr wrap="square">
            <a:spAutoFit/>
          </a:bodyPr>
          <a:lstStyle/>
          <a:p>
            <a:pPr marL="342900" indent="-342900" rtl="0">
              <a:buFont typeface="Arial" panose="020B0604020202020204" pitchFamily="34" charset="0"/>
              <a:buChar char="•"/>
            </a:pPr>
            <a:r>
              <a:rPr lang="es-MX" sz="2000" b="1" dirty="0"/>
              <a:t>Archivos</a:t>
            </a:r>
            <a:r>
              <a:rPr lang="es-MX" sz="2000" dirty="0"/>
              <a:t>: </a:t>
            </a:r>
            <a:r>
              <a:rPr lang="es-CO" sz="2000" dirty="0"/>
              <a:t>temperaturas_topdown_paso1.py</a:t>
            </a:r>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r>
              <a:rPr lang="es-MX" sz="2000" b="1" dirty="0"/>
              <a:t>Salida en pantalla</a:t>
            </a:r>
            <a:r>
              <a:rPr lang="es-MX" sz="2000" dirty="0"/>
              <a:t> (opción 1 con 100 y opción 2 con 25)</a:t>
            </a:r>
          </a:p>
        </p:txBody>
      </p:sp>
      <p:sp>
        <p:nvSpPr>
          <p:cNvPr id="11" name="CuadroTexto 10">
            <a:extLst>
              <a:ext uri="{FF2B5EF4-FFF2-40B4-BE49-F238E27FC236}">
                <a16:creationId xmlns:a16="http://schemas.microsoft.com/office/drawing/2014/main" id="{2F938FF1-6A0E-4201-A72E-E3484D4BFCD8}"/>
              </a:ext>
            </a:extLst>
          </p:cNvPr>
          <p:cNvSpPr txBox="1"/>
          <p:nvPr/>
        </p:nvSpPr>
        <p:spPr>
          <a:xfrm>
            <a:off x="179512" y="6023029"/>
            <a:ext cx="8636202" cy="646331"/>
          </a:xfrm>
          <a:prstGeom prst="rect">
            <a:avLst/>
          </a:prstGeom>
          <a:solidFill>
            <a:schemeClr val="accent2">
              <a:lumMod val="20000"/>
              <a:lumOff val="80000"/>
            </a:schemeClr>
          </a:solidFill>
        </p:spPr>
        <p:txBody>
          <a:bodyPr wrap="square">
            <a:spAutoFit/>
          </a:bodyPr>
          <a:lstStyle/>
          <a:p>
            <a:r>
              <a:rPr lang="es-MX" b="1" dirty="0"/>
              <a:t>El resultado está mal, pero el programa ya corre</a:t>
            </a:r>
            <a:r>
              <a:rPr lang="es-MX" dirty="0"/>
              <a:t>: el menú, las opciones y la salida ya se pueden probar. Las líneas 17 y 20 son los </a:t>
            </a:r>
            <a:r>
              <a:rPr lang="es-MX" b="1" dirty="0"/>
              <a:t>stubs</a:t>
            </a:r>
            <a:r>
              <a:rPr lang="es-MX" dirty="0"/>
              <a:t>.</a:t>
            </a:r>
          </a:p>
        </p:txBody>
      </p:sp>
      <p:pic>
        <p:nvPicPr>
          <p:cNvPr id="6" name="Imagen 5">
            <a:extLst>
              <a:ext uri="{FF2B5EF4-FFF2-40B4-BE49-F238E27FC236}">
                <a16:creationId xmlns:a16="http://schemas.microsoft.com/office/drawing/2014/main" id="{CFC32F41-14C0-4D8E-AC6F-0C9C72291F5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603444" y="1484784"/>
            <a:ext cx="4505060" cy="2556530"/>
          </a:xfrm>
          <a:prstGeom prst="rect">
            <a:avLst/>
          </a:prstGeom>
        </p:spPr>
      </p:pic>
      <p:sp>
        <p:nvSpPr>
          <p:cNvPr id="10" name="CuadroTexto 9">
            <a:extLst>
              <a:ext uri="{FF2B5EF4-FFF2-40B4-BE49-F238E27FC236}">
                <a16:creationId xmlns:a16="http://schemas.microsoft.com/office/drawing/2014/main" id="{8EAF772D-F6EE-4308-88C0-7D50D5949F39}"/>
              </a:ext>
            </a:extLst>
          </p:cNvPr>
          <p:cNvSpPr txBox="1"/>
          <p:nvPr/>
        </p:nvSpPr>
        <p:spPr>
          <a:xfrm>
            <a:off x="323528" y="1696740"/>
            <a:ext cx="4505060" cy="2308324"/>
          </a:xfrm>
          <a:prstGeom prst="rect">
            <a:avLst/>
          </a:prstGeom>
          <a:noFill/>
          <a:ln>
            <a:solidFill>
              <a:schemeClr val="tx1"/>
            </a:solidFill>
          </a:ln>
        </p:spPr>
        <p:txBody>
          <a:bodyPr wrap="square">
            <a:spAutoFit/>
          </a:bodyPr>
          <a:lstStyle/>
          <a:p>
            <a:r>
              <a:rPr lang="es-CO" sz="1200" dirty="0">
                <a:latin typeface="Consolas" panose="020B0609020204030204" pitchFamily="49" charset="0"/>
              </a:rPr>
              <a:t>16  </a:t>
            </a:r>
            <a:r>
              <a:rPr lang="es-CO" sz="1200" dirty="0" err="1">
                <a:latin typeface="Consolas" panose="020B0609020204030204" pitchFamily="49" charset="0"/>
              </a:rPr>
              <a:t>def</a:t>
            </a:r>
            <a:r>
              <a:rPr lang="es-CO" sz="1200" dirty="0">
                <a:latin typeface="Consolas" panose="020B0609020204030204" pitchFamily="49" charset="0"/>
              </a:rPr>
              <a:t> celsius_a_fahrenheit(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17      </a:t>
            </a:r>
            <a:r>
              <a:rPr lang="es-CO" sz="1200" dirty="0" err="1">
                <a:latin typeface="Consolas" panose="020B0609020204030204" pitchFamily="49" charset="0"/>
              </a:rPr>
              <a:t>return</a:t>
            </a:r>
            <a:r>
              <a:rPr lang="es-CO" sz="1200" dirty="0">
                <a:latin typeface="Consolas" panose="020B0609020204030204" pitchFamily="49" charset="0"/>
              </a:rPr>
              <a:t> 0.0  # PENDIENTE: implementar</a:t>
            </a:r>
          </a:p>
          <a:p>
            <a:r>
              <a:rPr lang="es-CO" sz="1200" dirty="0">
                <a:latin typeface="Consolas" panose="020B0609020204030204" pitchFamily="49" charset="0"/>
              </a:rPr>
              <a:t>18</a:t>
            </a:r>
          </a:p>
          <a:p>
            <a:r>
              <a:rPr lang="es-CO" sz="1200" dirty="0">
                <a:latin typeface="Consolas" panose="020B0609020204030204" pitchFamily="49" charset="0"/>
              </a:rPr>
              <a:t>19  </a:t>
            </a:r>
            <a:r>
              <a:rPr lang="es-CO" sz="1200" dirty="0" err="1">
                <a:latin typeface="Consolas" panose="020B0609020204030204" pitchFamily="49" charset="0"/>
              </a:rPr>
              <a:t>def</a:t>
            </a:r>
            <a:r>
              <a:rPr lang="es-CO" sz="1200" dirty="0">
                <a:latin typeface="Consolas" panose="020B0609020204030204" pitchFamily="49" charset="0"/>
              </a:rPr>
              <a:t> celsius_a_kelvin(</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20      </a:t>
            </a:r>
            <a:r>
              <a:rPr lang="es-CO" sz="1200" dirty="0" err="1">
                <a:latin typeface="Consolas" panose="020B0609020204030204" pitchFamily="49" charset="0"/>
              </a:rPr>
              <a:t>return</a:t>
            </a:r>
            <a:r>
              <a:rPr lang="es-CO" sz="1200" dirty="0">
                <a:latin typeface="Consolas" panose="020B0609020204030204" pitchFamily="49" charset="0"/>
              </a:rPr>
              <a:t> 0.0  # PENDIENTE: implementar</a:t>
            </a:r>
          </a:p>
          <a:p>
            <a:r>
              <a:rPr lang="es-CO" sz="1200" dirty="0">
                <a:latin typeface="Consolas" panose="020B0609020204030204" pitchFamily="49" charset="0"/>
              </a:rPr>
              <a:t>21</a:t>
            </a:r>
          </a:p>
          <a:p>
            <a:r>
              <a:rPr lang="es-CO" sz="1200" dirty="0">
                <a:latin typeface="Consolas" panose="020B0609020204030204" pitchFamily="49" charset="0"/>
              </a:rPr>
              <a:t>22  ############ Programa principal #########</a:t>
            </a:r>
          </a:p>
          <a:p>
            <a:r>
              <a:rPr lang="es-CO" sz="1200" dirty="0">
                <a:latin typeface="Consolas" panose="020B0609020204030204" pitchFamily="49" charset="0"/>
              </a:rPr>
              <a:t>23  print("Programa de </a:t>
            </a:r>
            <a:r>
              <a:rPr lang="es-CO" sz="1200" dirty="0" err="1">
                <a:latin typeface="Consolas" panose="020B0609020204030204" pitchFamily="49" charset="0"/>
              </a:rPr>
              <a:t>conversion</a:t>
            </a:r>
            <a:r>
              <a:rPr lang="es-CO" sz="1200" dirty="0">
                <a:latin typeface="Consolas" panose="020B0609020204030204" pitchFamily="49" charset="0"/>
              </a:rPr>
              <a:t> de °C a °F y </a:t>
            </a:r>
            <a:r>
              <a:rPr lang="es-CO" sz="1200" dirty="0" err="1">
                <a:latin typeface="Consolas" panose="020B0609020204030204" pitchFamily="49" charset="0"/>
              </a:rPr>
              <a:t>°K</a:t>
            </a:r>
            <a:r>
              <a:rPr lang="es-CO" sz="1200" dirty="0">
                <a:latin typeface="Consolas" panose="020B0609020204030204" pitchFamily="49" charset="0"/>
              </a:rPr>
              <a:t>")</a:t>
            </a:r>
          </a:p>
          <a:p>
            <a:r>
              <a:rPr lang="es-CO" sz="1200" dirty="0">
                <a:latin typeface="Consolas" panose="020B0609020204030204" pitchFamily="49" charset="0"/>
              </a:rPr>
              <a:t>24  </a:t>
            </a:r>
            <a:r>
              <a:rPr lang="es-CO" sz="1200" dirty="0" err="1">
                <a:latin typeface="Consolas" panose="020B0609020204030204" pitchFamily="49" charset="0"/>
              </a:rPr>
              <a:t>while</a:t>
            </a:r>
            <a:r>
              <a:rPr lang="es-CO" sz="1200" dirty="0">
                <a:latin typeface="Consolas" panose="020B0609020204030204" pitchFamily="49" charset="0"/>
              </a:rPr>
              <a:t> True:</a:t>
            </a:r>
          </a:p>
          <a:p>
            <a:r>
              <a:rPr lang="es-CO" sz="1200" dirty="0">
                <a:latin typeface="Consolas" panose="020B0609020204030204" pitchFamily="49" charset="0"/>
              </a:rPr>
              <a:t>25      mostrar_menu()</a:t>
            </a:r>
          </a:p>
          <a:p>
            <a:r>
              <a:rPr lang="es-CO" sz="1200" dirty="0">
                <a:latin typeface="Consolas" panose="020B0609020204030204" pitchFamily="49" charset="0"/>
              </a:rPr>
              <a:t>26      </a:t>
            </a:r>
            <a:r>
              <a:rPr lang="es-CO" sz="1200" dirty="0" err="1">
                <a:latin typeface="Consolas" panose="020B0609020204030204" pitchFamily="49" charset="0"/>
              </a:rPr>
              <a:t>opcion</a:t>
            </a:r>
            <a:r>
              <a:rPr lang="es-CO" sz="1200" dirty="0">
                <a:latin typeface="Consolas" panose="020B0609020204030204" pitchFamily="49" charset="0"/>
              </a:rPr>
              <a:t> = </a:t>
            </a:r>
            <a:r>
              <a:rPr lang="es-CO" sz="1200" dirty="0" err="1">
                <a:latin typeface="Consolas" panose="020B0609020204030204" pitchFamily="49" charset="0"/>
              </a:rPr>
              <a:t>int</a:t>
            </a:r>
            <a:r>
              <a:rPr lang="es-CO" sz="1200" dirty="0">
                <a:latin typeface="Consolas" panose="020B0609020204030204" pitchFamily="49" charset="0"/>
              </a:rPr>
              <a:t>(input("\</a:t>
            </a:r>
            <a:r>
              <a:rPr lang="es-CO" sz="1200" dirty="0" err="1">
                <a:latin typeface="Consolas" panose="020B0609020204030204" pitchFamily="49" charset="0"/>
              </a:rPr>
              <a:t>nElija</a:t>
            </a:r>
            <a:r>
              <a:rPr lang="es-CO" sz="1200" dirty="0">
                <a:latin typeface="Consolas" panose="020B0609020204030204" pitchFamily="49" charset="0"/>
              </a:rPr>
              <a:t> una </a:t>
            </a:r>
            <a:r>
              <a:rPr lang="es-CO" sz="1200" dirty="0" err="1">
                <a:latin typeface="Consolas" panose="020B0609020204030204" pitchFamily="49" charset="0"/>
              </a:rPr>
              <a:t>opcion</a:t>
            </a:r>
            <a:r>
              <a:rPr lang="es-CO" sz="1200" dirty="0">
                <a:latin typeface="Consolas" panose="020B0609020204030204" pitchFamily="49" charset="0"/>
              </a:rPr>
              <a:t>: "))</a:t>
            </a:r>
          </a:p>
          <a:p>
            <a:r>
              <a:rPr lang="es-CO" sz="1200" dirty="0">
                <a:latin typeface="Consolas" panose="020B0609020204030204" pitchFamily="49" charset="0"/>
              </a:rPr>
              <a:t>    ...</a:t>
            </a:r>
          </a:p>
        </p:txBody>
      </p:sp>
      <p:sp>
        <p:nvSpPr>
          <p:cNvPr id="14" name="CuadroTexto 13">
            <a:extLst>
              <a:ext uri="{FF2B5EF4-FFF2-40B4-BE49-F238E27FC236}">
                <a16:creationId xmlns:a16="http://schemas.microsoft.com/office/drawing/2014/main" id="{4421960D-F8A0-46D3-99F4-250ACD9BEE33}"/>
              </a:ext>
            </a:extLst>
          </p:cNvPr>
          <p:cNvSpPr txBox="1"/>
          <p:nvPr/>
        </p:nvSpPr>
        <p:spPr>
          <a:xfrm>
            <a:off x="323528" y="4639493"/>
            <a:ext cx="4572000" cy="461665"/>
          </a:xfrm>
          <a:prstGeom prst="rect">
            <a:avLst/>
          </a:prstGeom>
          <a:noFill/>
          <a:ln>
            <a:solidFill>
              <a:schemeClr val="tx1"/>
            </a:solidFill>
          </a:ln>
        </p:spPr>
        <p:txBody>
          <a:bodyPr wrap="square">
            <a:spAutoFit/>
          </a:bodyPr>
          <a:lstStyle/>
          <a:p>
            <a:r>
              <a:rPr lang="es-CO" sz="1200" dirty="0">
                <a:latin typeface="Consolas" panose="020B0609020204030204" pitchFamily="49" charset="0"/>
              </a:rPr>
              <a:t>100.0°C = 0.00°F</a:t>
            </a:r>
          </a:p>
          <a:p>
            <a:r>
              <a:rPr lang="es-CO" sz="1200" dirty="0">
                <a:latin typeface="Consolas" panose="020B0609020204030204" pitchFamily="49" charset="0"/>
              </a:rPr>
              <a:t>25.0°C = 0.00°K</a:t>
            </a:r>
          </a:p>
        </p:txBody>
      </p:sp>
    </p:spTree>
    <p:extLst>
      <p:ext uri="{BB962C8B-B14F-4D97-AF65-F5344CB8AC3E}">
        <p14:creationId xmlns:p14="http://schemas.microsoft.com/office/powerpoint/2010/main" val="3815737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a:t>Paso 2: </a:t>
            </a:r>
            <a:r>
              <a:rPr lang="en-US" sz="3600" dirty="0" err="1"/>
              <a:t>implementar</a:t>
            </a:r>
            <a:r>
              <a:rPr lang="en-US" sz="3600" dirty="0"/>
              <a:t> y </a:t>
            </a:r>
            <a:r>
              <a:rPr lang="en-US" sz="3600" dirty="0" err="1"/>
              <a:t>probar</a:t>
            </a:r>
            <a:r>
              <a:rPr lang="en-US" sz="3600" dirty="0"/>
              <a:t> una </a:t>
            </a:r>
            <a:r>
              <a:rPr lang="en-US" sz="3600" dirty="0" err="1"/>
              <a:t>función</a:t>
            </a:r>
            <a:endParaRPr lang="es-MX" sz="3600" dirty="0"/>
          </a:p>
        </p:txBody>
      </p:sp>
      <p:sp>
        <p:nvSpPr>
          <p:cNvPr id="13" name="12 Rectángulo"/>
          <p:cNvSpPr/>
          <p:nvPr/>
        </p:nvSpPr>
        <p:spPr>
          <a:xfrm>
            <a:off x="179512" y="1136938"/>
            <a:ext cx="8835218" cy="3477875"/>
          </a:xfrm>
          <a:prstGeom prst="rect">
            <a:avLst/>
          </a:prstGeom>
        </p:spPr>
        <p:txBody>
          <a:bodyPr wrap="square">
            <a:spAutoFit/>
          </a:bodyPr>
          <a:lstStyle/>
          <a:p>
            <a:pPr marL="342900" indent="-342900" rtl="0">
              <a:buFont typeface="Arial" panose="020B0604020202020204" pitchFamily="34" charset="0"/>
              <a:buChar char="•"/>
            </a:pPr>
            <a:r>
              <a:rPr lang="es-MX" sz="2000" b="1" dirty="0"/>
              <a:t>Archivos</a:t>
            </a:r>
            <a:r>
              <a:rPr lang="es-MX" sz="2000" dirty="0"/>
              <a:t>: </a:t>
            </a:r>
            <a:r>
              <a:rPr lang="es-CO" sz="2000" dirty="0"/>
              <a:t>temperaturas_topdown_paso2.py</a:t>
            </a:r>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r>
              <a:rPr lang="es-MX" sz="2000" b="1" dirty="0"/>
              <a:t>Salida en pantalla</a:t>
            </a:r>
            <a:endParaRPr lang="es-MX" sz="2000" dirty="0"/>
          </a:p>
        </p:txBody>
      </p:sp>
      <p:sp>
        <p:nvSpPr>
          <p:cNvPr id="11" name="CuadroTexto 10">
            <a:extLst>
              <a:ext uri="{FF2B5EF4-FFF2-40B4-BE49-F238E27FC236}">
                <a16:creationId xmlns:a16="http://schemas.microsoft.com/office/drawing/2014/main" id="{2F938FF1-6A0E-4201-A72E-E3484D4BFCD8}"/>
              </a:ext>
            </a:extLst>
          </p:cNvPr>
          <p:cNvSpPr txBox="1"/>
          <p:nvPr/>
        </p:nvSpPr>
        <p:spPr>
          <a:xfrm>
            <a:off x="256278" y="6228020"/>
            <a:ext cx="8636202" cy="369332"/>
          </a:xfrm>
          <a:prstGeom prst="rect">
            <a:avLst/>
          </a:prstGeom>
          <a:solidFill>
            <a:schemeClr val="accent2">
              <a:lumMod val="20000"/>
              <a:lumOff val="80000"/>
            </a:schemeClr>
          </a:solidFill>
        </p:spPr>
        <p:txBody>
          <a:bodyPr wrap="square">
            <a:spAutoFit/>
          </a:bodyPr>
          <a:lstStyle/>
          <a:p>
            <a:r>
              <a:rPr lang="es-MX" b="1" dirty="0"/>
              <a:t>El programa principal no cambió</a:t>
            </a:r>
            <a:r>
              <a:rPr lang="es-MX" dirty="0"/>
              <a:t>. Solo cambió una función, y se probó antes de seguir.</a:t>
            </a:r>
            <a:endParaRPr lang="es-MX" b="1" dirty="0"/>
          </a:p>
        </p:txBody>
      </p:sp>
      <p:sp>
        <p:nvSpPr>
          <p:cNvPr id="10" name="CuadroTexto 9">
            <a:extLst>
              <a:ext uri="{FF2B5EF4-FFF2-40B4-BE49-F238E27FC236}">
                <a16:creationId xmlns:a16="http://schemas.microsoft.com/office/drawing/2014/main" id="{8EAF772D-F6EE-4308-88C0-7D50D5949F39}"/>
              </a:ext>
            </a:extLst>
          </p:cNvPr>
          <p:cNvSpPr txBox="1"/>
          <p:nvPr/>
        </p:nvSpPr>
        <p:spPr>
          <a:xfrm>
            <a:off x="251520" y="1628800"/>
            <a:ext cx="4824536" cy="2308324"/>
          </a:xfrm>
          <a:prstGeom prst="rect">
            <a:avLst/>
          </a:prstGeom>
          <a:noFill/>
          <a:ln>
            <a:solidFill>
              <a:schemeClr val="tx1"/>
            </a:solidFill>
          </a:ln>
        </p:spPr>
        <p:txBody>
          <a:bodyPr wrap="square">
            <a:spAutoFit/>
          </a:bodyPr>
          <a:lstStyle/>
          <a:p>
            <a:r>
              <a:rPr lang="es-CO" sz="1200" dirty="0">
                <a:latin typeface="Consolas" panose="020B0609020204030204" pitchFamily="49" charset="0"/>
              </a:rPr>
              <a:t>16  </a:t>
            </a:r>
            <a:r>
              <a:rPr lang="es-CO" sz="1200" dirty="0" err="1">
                <a:latin typeface="Consolas" panose="020B0609020204030204" pitchFamily="49" charset="0"/>
              </a:rPr>
              <a:t>def</a:t>
            </a:r>
            <a:r>
              <a:rPr lang="es-CO" sz="1200" dirty="0">
                <a:latin typeface="Consolas" panose="020B0609020204030204" pitchFamily="49" charset="0"/>
              </a:rPr>
              <a:t> celsius_a_fahrenheit(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17      temp_f = (9/5)*</a:t>
            </a:r>
            <a:r>
              <a:rPr lang="es-CO" sz="1200" dirty="0" err="1">
                <a:latin typeface="Consolas" panose="020B0609020204030204" pitchFamily="49" charset="0"/>
              </a:rPr>
              <a:t>temp_c</a:t>
            </a:r>
            <a:r>
              <a:rPr lang="es-CO" sz="1200" dirty="0">
                <a:latin typeface="Consolas" panose="020B0609020204030204" pitchFamily="49" charset="0"/>
              </a:rPr>
              <a:t> + 32          </a:t>
            </a:r>
          </a:p>
          <a:p>
            <a:r>
              <a:rPr lang="es-CO" sz="1200" dirty="0">
                <a:latin typeface="Consolas" panose="020B0609020204030204" pitchFamily="49" charset="0"/>
              </a:rPr>
              <a:t>18      </a:t>
            </a:r>
            <a:r>
              <a:rPr lang="es-CO" sz="1200" dirty="0" err="1">
                <a:latin typeface="Consolas" panose="020B0609020204030204" pitchFamily="49" charset="0"/>
              </a:rPr>
              <a:t>return</a:t>
            </a:r>
            <a:r>
              <a:rPr lang="es-CO" sz="1200" dirty="0">
                <a:latin typeface="Consolas" panose="020B0609020204030204" pitchFamily="49" charset="0"/>
              </a:rPr>
              <a:t> temp_f</a:t>
            </a:r>
          </a:p>
          <a:p>
            <a:r>
              <a:rPr lang="es-CO" sz="1200" dirty="0">
                <a:latin typeface="Consolas" panose="020B0609020204030204" pitchFamily="49" charset="0"/>
              </a:rPr>
              <a:t>19</a:t>
            </a:r>
          </a:p>
          <a:p>
            <a:r>
              <a:rPr lang="es-CO" sz="1200" dirty="0">
                <a:latin typeface="Consolas" panose="020B0609020204030204" pitchFamily="49" charset="0"/>
              </a:rPr>
              <a:t>20  </a:t>
            </a:r>
            <a:r>
              <a:rPr lang="es-CO" sz="1200" dirty="0" err="1">
                <a:latin typeface="Consolas" panose="020B0609020204030204" pitchFamily="49" charset="0"/>
              </a:rPr>
              <a:t>def</a:t>
            </a:r>
            <a:r>
              <a:rPr lang="es-CO" sz="1200" dirty="0">
                <a:latin typeface="Consolas" panose="020B0609020204030204" pitchFamily="49" charset="0"/>
              </a:rPr>
              <a:t> celsius_a_kelvin(</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21      </a:t>
            </a:r>
            <a:r>
              <a:rPr lang="es-CO" sz="1200" dirty="0" err="1">
                <a:latin typeface="Consolas" panose="020B0609020204030204" pitchFamily="49" charset="0"/>
              </a:rPr>
              <a:t>return</a:t>
            </a:r>
            <a:r>
              <a:rPr lang="es-CO" sz="1200" dirty="0">
                <a:latin typeface="Consolas" panose="020B0609020204030204" pitchFamily="49" charset="0"/>
              </a:rPr>
              <a:t> 0.0  # PENDIENTE: sigue siendo </a:t>
            </a:r>
            <a:r>
              <a:rPr lang="es-CO" sz="1200" dirty="0" err="1">
                <a:latin typeface="Consolas" panose="020B0609020204030204" pitchFamily="49" charset="0"/>
              </a:rPr>
              <a:t>stub</a:t>
            </a:r>
            <a:endParaRPr lang="es-CO" sz="1200" dirty="0">
              <a:latin typeface="Consolas" panose="020B0609020204030204" pitchFamily="49" charset="0"/>
            </a:endParaRPr>
          </a:p>
          <a:p>
            <a:r>
              <a:rPr lang="es-CO" sz="1200" dirty="0">
                <a:latin typeface="Consolas" panose="020B0609020204030204" pitchFamily="49" charset="0"/>
              </a:rPr>
              <a:t>22</a:t>
            </a:r>
          </a:p>
          <a:p>
            <a:r>
              <a:rPr lang="es-CO" sz="1200" dirty="0">
                <a:latin typeface="Consolas" panose="020B0609020204030204" pitchFamily="49" charset="0"/>
              </a:rPr>
              <a:t>23  ############ Pruebas ##############</a:t>
            </a:r>
          </a:p>
          <a:p>
            <a:r>
              <a:rPr lang="es-CO" sz="1200" dirty="0">
                <a:latin typeface="Consolas" panose="020B0609020204030204" pitchFamily="49" charset="0"/>
              </a:rPr>
              <a:t>24  assert round(celsius_a_fahrenheit(100), 2) == 212.0</a:t>
            </a:r>
          </a:p>
          <a:p>
            <a:r>
              <a:rPr lang="es-CO" sz="1200" dirty="0">
                <a:latin typeface="Consolas" panose="020B0609020204030204" pitchFamily="49" charset="0"/>
              </a:rPr>
              <a:t>25  assert round(celsius_a_fahrenheit(0), 2) == 32.0</a:t>
            </a:r>
          </a:p>
          <a:p>
            <a:pPr marL="228600" indent="-228600">
              <a:buAutoNum type="arabicPlain" startAt="26"/>
            </a:pPr>
            <a:r>
              <a:rPr lang="es-CO" sz="1200" dirty="0">
                <a:latin typeface="Consolas" panose="020B0609020204030204" pitchFamily="49" charset="0"/>
              </a:rPr>
              <a:t># assert round(celsius_a_kelvin(25), 2) == 298.15   </a:t>
            </a:r>
          </a:p>
          <a:p>
            <a:pPr marL="228600" indent="-228600">
              <a:buAutoNum type="arabicPlain" startAt="26"/>
            </a:pPr>
            <a:r>
              <a:rPr lang="es-CO" sz="1200" dirty="0">
                <a:latin typeface="Consolas" panose="020B0609020204030204" pitchFamily="49" charset="0"/>
              </a:rPr>
              <a:t># falla mientras sea </a:t>
            </a:r>
            <a:r>
              <a:rPr lang="es-CO" sz="1200" dirty="0" err="1">
                <a:latin typeface="Consolas" panose="020B0609020204030204" pitchFamily="49" charset="0"/>
              </a:rPr>
              <a:t>stub</a:t>
            </a:r>
            <a:endParaRPr lang="es-CO" sz="1200" dirty="0">
              <a:latin typeface="Consolas" panose="020B0609020204030204" pitchFamily="49" charset="0"/>
            </a:endParaRPr>
          </a:p>
        </p:txBody>
      </p:sp>
      <p:sp>
        <p:nvSpPr>
          <p:cNvPr id="14" name="CuadroTexto 13">
            <a:extLst>
              <a:ext uri="{FF2B5EF4-FFF2-40B4-BE49-F238E27FC236}">
                <a16:creationId xmlns:a16="http://schemas.microsoft.com/office/drawing/2014/main" id="{4421960D-F8A0-46D3-99F4-250ACD9BEE33}"/>
              </a:ext>
            </a:extLst>
          </p:cNvPr>
          <p:cNvSpPr txBox="1"/>
          <p:nvPr/>
        </p:nvSpPr>
        <p:spPr>
          <a:xfrm>
            <a:off x="323528" y="4639493"/>
            <a:ext cx="4572000" cy="461665"/>
          </a:xfrm>
          <a:prstGeom prst="rect">
            <a:avLst/>
          </a:prstGeom>
          <a:noFill/>
          <a:ln>
            <a:solidFill>
              <a:schemeClr val="tx1"/>
            </a:solidFill>
          </a:ln>
        </p:spPr>
        <p:txBody>
          <a:bodyPr wrap="square">
            <a:spAutoFit/>
          </a:bodyPr>
          <a:lstStyle/>
          <a:p>
            <a:r>
              <a:rPr lang="es-MX" sz="1200" dirty="0">
                <a:latin typeface="Consolas" panose="020B0609020204030204" pitchFamily="49" charset="0"/>
              </a:rPr>
              <a:t>100.0°C = 212.00°F    </a:t>
            </a:r>
            <a:r>
              <a:rPr lang="es-MX" sz="1200" dirty="0">
                <a:solidFill>
                  <a:srgbClr val="00B050"/>
                </a:solidFill>
                <a:latin typeface="Consolas" panose="020B0609020204030204" pitchFamily="49" charset="0"/>
              </a:rPr>
              <a:t>← ya funciona</a:t>
            </a:r>
          </a:p>
          <a:p>
            <a:r>
              <a:rPr lang="es-MX" sz="1200" dirty="0">
                <a:latin typeface="Consolas" panose="020B0609020204030204" pitchFamily="49" charset="0"/>
              </a:rPr>
              <a:t>25.0°C = 0.00°K       </a:t>
            </a:r>
            <a:r>
              <a:rPr lang="es-MX" sz="1200" dirty="0">
                <a:solidFill>
                  <a:srgbClr val="FF0000"/>
                </a:solidFill>
                <a:latin typeface="Consolas" panose="020B0609020204030204" pitchFamily="49" charset="0"/>
              </a:rPr>
              <a:t>← todavía es </a:t>
            </a:r>
            <a:r>
              <a:rPr lang="es-MX" sz="1200" dirty="0" err="1">
                <a:solidFill>
                  <a:srgbClr val="FF0000"/>
                </a:solidFill>
                <a:latin typeface="Consolas" panose="020B0609020204030204" pitchFamily="49" charset="0"/>
              </a:rPr>
              <a:t>stub</a:t>
            </a:r>
            <a:endParaRPr lang="es-CO" sz="1200" dirty="0">
              <a:solidFill>
                <a:srgbClr val="FF0000"/>
              </a:solidFill>
              <a:latin typeface="Consolas" panose="020B0609020204030204" pitchFamily="49" charset="0"/>
            </a:endParaRPr>
          </a:p>
        </p:txBody>
      </p:sp>
      <p:pic>
        <p:nvPicPr>
          <p:cNvPr id="3" name="Imagen 2">
            <a:extLst>
              <a:ext uri="{FF2B5EF4-FFF2-40B4-BE49-F238E27FC236}">
                <a16:creationId xmlns:a16="http://schemas.microsoft.com/office/drawing/2014/main" id="{7A1BFE82-55B6-4DBE-B31A-DA6B39F88C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48063" y="1628800"/>
            <a:ext cx="3924587" cy="2227124"/>
          </a:xfrm>
          <a:prstGeom prst="rect">
            <a:avLst/>
          </a:prstGeom>
        </p:spPr>
      </p:pic>
    </p:spTree>
    <p:extLst>
      <p:ext uri="{BB962C8B-B14F-4D97-AF65-F5344CB8AC3E}">
        <p14:creationId xmlns:p14="http://schemas.microsoft.com/office/powerpoint/2010/main" val="28093885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err="1"/>
              <a:t>Parentesis</a:t>
            </a:r>
            <a:r>
              <a:rPr lang="en-US" sz="3600" dirty="0"/>
              <a:t>: </a:t>
            </a:r>
            <a:r>
              <a:rPr lang="es-MX" sz="3600" dirty="0"/>
              <a:t>¿Qué pasa si se prueba un </a:t>
            </a:r>
            <a:r>
              <a:rPr lang="es-MX" sz="3600" dirty="0" err="1"/>
              <a:t>stub</a:t>
            </a:r>
            <a:r>
              <a:rPr lang="es-MX" sz="3600" dirty="0"/>
              <a:t>?</a:t>
            </a:r>
          </a:p>
        </p:txBody>
      </p:sp>
      <p:sp>
        <p:nvSpPr>
          <p:cNvPr id="13" name="12 Rectángulo"/>
          <p:cNvSpPr/>
          <p:nvPr/>
        </p:nvSpPr>
        <p:spPr>
          <a:xfrm>
            <a:off x="179512" y="1136938"/>
            <a:ext cx="8835218" cy="3170099"/>
          </a:xfrm>
          <a:prstGeom prst="rect">
            <a:avLst/>
          </a:prstGeom>
        </p:spPr>
        <p:txBody>
          <a:bodyPr wrap="square">
            <a:spAutoFit/>
          </a:bodyPr>
          <a:lstStyle/>
          <a:p>
            <a:pPr marL="342900" indent="-342900" rtl="0">
              <a:buFont typeface="Arial" panose="020B0604020202020204" pitchFamily="34" charset="0"/>
              <a:buChar char="•"/>
            </a:pPr>
            <a:r>
              <a:rPr lang="es-MX" sz="2000" dirty="0"/>
              <a:t>Si se quita el # del inicio de la línea 26 y se ejecuta:</a:t>
            </a:r>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p:txBody>
      </p:sp>
      <p:sp>
        <p:nvSpPr>
          <p:cNvPr id="11" name="CuadroTexto 10">
            <a:extLst>
              <a:ext uri="{FF2B5EF4-FFF2-40B4-BE49-F238E27FC236}">
                <a16:creationId xmlns:a16="http://schemas.microsoft.com/office/drawing/2014/main" id="{2F938FF1-6A0E-4201-A72E-E3484D4BFCD8}"/>
              </a:ext>
            </a:extLst>
          </p:cNvPr>
          <p:cNvSpPr txBox="1"/>
          <p:nvPr/>
        </p:nvSpPr>
        <p:spPr>
          <a:xfrm>
            <a:off x="244147" y="5949280"/>
            <a:ext cx="8636202" cy="646331"/>
          </a:xfrm>
          <a:prstGeom prst="rect">
            <a:avLst/>
          </a:prstGeom>
          <a:solidFill>
            <a:schemeClr val="accent2">
              <a:lumMod val="20000"/>
              <a:lumOff val="80000"/>
            </a:schemeClr>
          </a:solidFill>
        </p:spPr>
        <p:txBody>
          <a:bodyPr wrap="square">
            <a:spAutoFit/>
          </a:bodyPr>
          <a:lstStyle/>
          <a:p>
            <a:r>
              <a:rPr lang="es-MX" b="1" dirty="0"/>
              <a:t>Las pruebas dicen qué falta por hacer:</a:t>
            </a:r>
            <a:r>
              <a:rPr lang="es-MX" dirty="0"/>
              <a:t> el error señala la línea 26, es decir, la función que todavía no está implementada.</a:t>
            </a:r>
            <a:endParaRPr lang="es-MX" b="1" dirty="0"/>
          </a:p>
        </p:txBody>
      </p:sp>
      <p:sp>
        <p:nvSpPr>
          <p:cNvPr id="10" name="CuadroTexto 9">
            <a:extLst>
              <a:ext uri="{FF2B5EF4-FFF2-40B4-BE49-F238E27FC236}">
                <a16:creationId xmlns:a16="http://schemas.microsoft.com/office/drawing/2014/main" id="{8EAF772D-F6EE-4308-88C0-7D50D5949F39}"/>
              </a:ext>
            </a:extLst>
          </p:cNvPr>
          <p:cNvSpPr txBox="1"/>
          <p:nvPr/>
        </p:nvSpPr>
        <p:spPr>
          <a:xfrm>
            <a:off x="611560" y="1599421"/>
            <a:ext cx="8204154" cy="954107"/>
          </a:xfrm>
          <a:prstGeom prst="rect">
            <a:avLst/>
          </a:prstGeom>
          <a:noFill/>
          <a:ln>
            <a:solidFill>
              <a:schemeClr val="tx1"/>
            </a:solidFill>
          </a:ln>
        </p:spPr>
        <p:txBody>
          <a:bodyPr wrap="square">
            <a:spAutoFit/>
          </a:bodyPr>
          <a:lstStyle/>
          <a:p>
            <a:r>
              <a:rPr lang="es-CO" sz="1400" dirty="0">
                <a:latin typeface="Consolas" panose="020B0609020204030204" pitchFamily="49" charset="0"/>
              </a:rPr>
              <a:t> File "temperaturas_topdown_paso2.py", line 26, in &lt;module&gt;</a:t>
            </a:r>
          </a:p>
          <a:p>
            <a:r>
              <a:rPr lang="es-CO" sz="1400" dirty="0">
                <a:latin typeface="Consolas" panose="020B0609020204030204" pitchFamily="49" charset="0"/>
              </a:rPr>
              <a:t>    assert round(celsius_a_kelvin(25), 2) == 298.15   # falla mientras sea </a:t>
            </a:r>
            <a:r>
              <a:rPr lang="es-CO" sz="1400" dirty="0" err="1">
                <a:latin typeface="Consolas" panose="020B0609020204030204" pitchFamily="49" charset="0"/>
              </a:rPr>
              <a:t>stub</a:t>
            </a:r>
            <a:endParaRPr lang="es-CO" sz="1400" dirty="0">
              <a:latin typeface="Consolas" panose="020B0609020204030204" pitchFamily="49" charset="0"/>
            </a:endParaRPr>
          </a:p>
          <a:p>
            <a:r>
              <a:rPr lang="es-CO" sz="1400" dirty="0">
                <a:latin typeface="Consolas" panose="020B0609020204030204" pitchFamily="49" charset="0"/>
              </a:rPr>
              <a:t>           ^^^^^^^^^^^^^^^^^^^^^^^^^^^^^^^^^^^^^^^^</a:t>
            </a:r>
          </a:p>
          <a:p>
            <a:r>
              <a:rPr lang="es-CO" sz="1400" dirty="0">
                <a:latin typeface="Consolas" panose="020B0609020204030204" pitchFamily="49" charset="0"/>
              </a:rPr>
              <a:t>AssertionError</a:t>
            </a:r>
          </a:p>
        </p:txBody>
      </p:sp>
      <p:pic>
        <p:nvPicPr>
          <p:cNvPr id="6" name="Imagen 5">
            <a:extLst>
              <a:ext uri="{FF2B5EF4-FFF2-40B4-BE49-F238E27FC236}">
                <a16:creationId xmlns:a16="http://schemas.microsoft.com/office/drawing/2014/main" id="{42B0E73C-1E01-4E1C-8468-3079D0490F61}"/>
              </a:ext>
            </a:extLst>
          </p:cNvPr>
          <p:cNvPicPr>
            <a:picLocks noChangeAspect="1"/>
          </p:cNvPicPr>
          <p:nvPr/>
        </p:nvPicPr>
        <p:blipFill>
          <a:blip r:embed="rId2"/>
          <a:stretch>
            <a:fillRect/>
          </a:stretch>
        </p:blipFill>
        <p:spPr>
          <a:xfrm>
            <a:off x="823912" y="2709871"/>
            <a:ext cx="7496175" cy="2971800"/>
          </a:xfrm>
          <a:prstGeom prst="rect">
            <a:avLst/>
          </a:prstGeom>
        </p:spPr>
      </p:pic>
    </p:spTree>
    <p:extLst>
      <p:ext uri="{BB962C8B-B14F-4D97-AF65-F5344CB8AC3E}">
        <p14:creationId xmlns:p14="http://schemas.microsoft.com/office/powerpoint/2010/main" val="37292162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a:t>Paso 3: El </a:t>
            </a:r>
            <a:r>
              <a:rPr lang="en-US" sz="3600" dirty="0" err="1"/>
              <a:t>programa</a:t>
            </a:r>
            <a:r>
              <a:rPr lang="en-US" sz="3600" dirty="0"/>
              <a:t> </a:t>
            </a:r>
            <a:r>
              <a:rPr lang="en-US" sz="3600" dirty="0" err="1"/>
              <a:t>terminado</a:t>
            </a:r>
            <a:endParaRPr lang="es-MX" sz="3600" dirty="0"/>
          </a:p>
        </p:txBody>
      </p:sp>
      <p:sp>
        <p:nvSpPr>
          <p:cNvPr id="13" name="12 Rectángulo"/>
          <p:cNvSpPr/>
          <p:nvPr/>
        </p:nvSpPr>
        <p:spPr>
          <a:xfrm>
            <a:off x="154391" y="692696"/>
            <a:ext cx="8835218" cy="4093428"/>
          </a:xfrm>
          <a:prstGeom prst="rect">
            <a:avLst/>
          </a:prstGeom>
        </p:spPr>
        <p:txBody>
          <a:bodyPr wrap="square">
            <a:spAutoFit/>
          </a:bodyPr>
          <a:lstStyle/>
          <a:p>
            <a:pPr marL="342900" indent="-342900" rtl="0">
              <a:buFont typeface="Arial" panose="020B0604020202020204" pitchFamily="34" charset="0"/>
              <a:buChar char="•"/>
            </a:pPr>
            <a:r>
              <a:rPr lang="es-MX" sz="2000" b="1" dirty="0"/>
              <a:t>Archivos</a:t>
            </a:r>
            <a:r>
              <a:rPr lang="es-MX" sz="2000" dirty="0"/>
              <a:t>: </a:t>
            </a:r>
            <a:r>
              <a:rPr lang="es-CO" sz="2000" dirty="0"/>
              <a:t>temperaturas_v2.py</a:t>
            </a:r>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r>
              <a:rPr lang="es-MX" sz="2000" b="1" dirty="0"/>
              <a:t>Salida en pantalla</a:t>
            </a:r>
            <a:endParaRPr lang="es-MX" sz="2000" dirty="0"/>
          </a:p>
        </p:txBody>
      </p:sp>
      <p:sp>
        <p:nvSpPr>
          <p:cNvPr id="11" name="CuadroTexto 10">
            <a:extLst>
              <a:ext uri="{FF2B5EF4-FFF2-40B4-BE49-F238E27FC236}">
                <a16:creationId xmlns:a16="http://schemas.microsoft.com/office/drawing/2014/main" id="{2F938FF1-6A0E-4201-A72E-E3484D4BFCD8}"/>
              </a:ext>
            </a:extLst>
          </p:cNvPr>
          <p:cNvSpPr txBox="1"/>
          <p:nvPr/>
        </p:nvSpPr>
        <p:spPr>
          <a:xfrm>
            <a:off x="253899" y="5445224"/>
            <a:ext cx="8636202" cy="646331"/>
          </a:xfrm>
          <a:prstGeom prst="rect">
            <a:avLst/>
          </a:prstGeom>
          <a:solidFill>
            <a:schemeClr val="accent2">
              <a:lumMod val="20000"/>
              <a:lumOff val="80000"/>
            </a:schemeClr>
          </a:solidFill>
        </p:spPr>
        <p:txBody>
          <a:bodyPr wrap="square">
            <a:spAutoFit/>
          </a:bodyPr>
          <a:lstStyle/>
          <a:p>
            <a:r>
              <a:rPr lang="es-MX" b="1" dirty="0"/>
              <a:t>Ningún </a:t>
            </a:r>
            <a:r>
              <a:rPr lang="es-MX" b="1" dirty="0" err="1"/>
              <a:t>stub</a:t>
            </a:r>
            <a:r>
              <a:rPr lang="es-MX" b="1" dirty="0"/>
              <a:t>, todas las pruebas pasan: el programa está terminado.</a:t>
            </a:r>
            <a:r>
              <a:rPr lang="es-MX" dirty="0"/>
              <a:t> Es la </a:t>
            </a:r>
            <a:r>
              <a:rPr lang="es-MX" sz="1600" b="1" dirty="0">
                <a:latin typeface="Consolas" panose="020B0609020204030204" pitchFamily="49" charset="0"/>
              </a:rPr>
              <a:t>temperaturas_v2.py</a:t>
            </a:r>
            <a:r>
              <a:rPr lang="es-MX" dirty="0"/>
              <a:t> que ya conocían; ahora saben cómo se pudo construir.</a:t>
            </a:r>
          </a:p>
        </p:txBody>
      </p:sp>
      <p:sp>
        <p:nvSpPr>
          <p:cNvPr id="10" name="CuadroTexto 9">
            <a:extLst>
              <a:ext uri="{FF2B5EF4-FFF2-40B4-BE49-F238E27FC236}">
                <a16:creationId xmlns:a16="http://schemas.microsoft.com/office/drawing/2014/main" id="{8EAF772D-F6EE-4308-88C0-7D50D5949F39}"/>
              </a:ext>
            </a:extLst>
          </p:cNvPr>
          <p:cNvSpPr txBox="1"/>
          <p:nvPr/>
        </p:nvSpPr>
        <p:spPr>
          <a:xfrm>
            <a:off x="253899" y="1052736"/>
            <a:ext cx="4824536" cy="3231654"/>
          </a:xfrm>
          <a:prstGeom prst="rect">
            <a:avLst/>
          </a:prstGeom>
          <a:noFill/>
          <a:ln>
            <a:solidFill>
              <a:schemeClr val="tx1"/>
            </a:solidFill>
          </a:ln>
        </p:spPr>
        <p:txBody>
          <a:bodyPr wrap="square">
            <a:spAutoFit/>
          </a:bodyPr>
          <a:lstStyle/>
          <a:p>
            <a:r>
              <a:rPr lang="es-CO" sz="1200" dirty="0">
                <a:latin typeface="Consolas" panose="020B0609020204030204" pitchFamily="49" charset="0"/>
              </a:rPr>
              <a:t>15  </a:t>
            </a:r>
            <a:r>
              <a:rPr lang="es-CO" sz="1200" dirty="0" err="1">
                <a:latin typeface="Consolas" panose="020B0609020204030204" pitchFamily="49" charset="0"/>
              </a:rPr>
              <a:t>def</a:t>
            </a:r>
            <a:r>
              <a:rPr lang="es-CO" sz="1200" dirty="0">
                <a:latin typeface="Consolas" panose="020B0609020204030204" pitchFamily="49" charset="0"/>
              </a:rPr>
              <a:t> celsius_a_fahrenheit(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16      temp_f = (9/5)*</a:t>
            </a:r>
            <a:r>
              <a:rPr lang="es-CO" sz="1200" dirty="0" err="1">
                <a:latin typeface="Consolas" panose="020B0609020204030204" pitchFamily="49" charset="0"/>
              </a:rPr>
              <a:t>temp_c</a:t>
            </a:r>
            <a:r>
              <a:rPr lang="es-CO" sz="1200" dirty="0">
                <a:latin typeface="Consolas" panose="020B0609020204030204" pitchFamily="49" charset="0"/>
              </a:rPr>
              <a:t> + 32</a:t>
            </a:r>
          </a:p>
          <a:p>
            <a:r>
              <a:rPr lang="es-CO" sz="1200" dirty="0">
                <a:latin typeface="Consolas" panose="020B0609020204030204" pitchFamily="49" charset="0"/>
              </a:rPr>
              <a:t>17      </a:t>
            </a:r>
            <a:r>
              <a:rPr lang="es-CO" sz="1200" dirty="0" err="1">
                <a:latin typeface="Consolas" panose="020B0609020204030204" pitchFamily="49" charset="0"/>
              </a:rPr>
              <a:t>return</a:t>
            </a:r>
            <a:r>
              <a:rPr lang="es-CO" sz="1200" dirty="0">
                <a:latin typeface="Consolas" panose="020B0609020204030204" pitchFamily="49" charset="0"/>
              </a:rPr>
              <a:t> temp_f</a:t>
            </a:r>
          </a:p>
          <a:p>
            <a:r>
              <a:rPr lang="es-CO" sz="1200" dirty="0">
                <a:latin typeface="Consolas" panose="020B0609020204030204" pitchFamily="49" charset="0"/>
              </a:rPr>
              <a:t>18</a:t>
            </a:r>
          </a:p>
          <a:p>
            <a:r>
              <a:rPr lang="es-CO" sz="1200" dirty="0">
                <a:latin typeface="Consolas" panose="020B0609020204030204" pitchFamily="49" charset="0"/>
              </a:rPr>
              <a:t>19  </a:t>
            </a:r>
            <a:r>
              <a:rPr lang="es-CO" sz="1200" dirty="0" err="1">
                <a:latin typeface="Consolas" panose="020B0609020204030204" pitchFamily="49" charset="0"/>
              </a:rPr>
              <a:t>def</a:t>
            </a:r>
            <a:r>
              <a:rPr lang="es-CO" sz="1200" dirty="0">
                <a:latin typeface="Consolas" panose="020B0609020204030204" pitchFamily="49" charset="0"/>
              </a:rPr>
              <a:t> celsius_a_kelvin(</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20      </a:t>
            </a:r>
            <a:r>
              <a:rPr lang="es-CO" sz="1200" dirty="0" err="1">
                <a:latin typeface="Consolas" panose="020B0609020204030204" pitchFamily="49" charset="0"/>
              </a:rPr>
              <a:t>temp_k</a:t>
            </a:r>
            <a:r>
              <a:rPr lang="es-CO" sz="1200" dirty="0">
                <a:latin typeface="Consolas" panose="020B0609020204030204" pitchFamily="49" charset="0"/>
              </a:rPr>
              <a:t> = </a:t>
            </a:r>
            <a:r>
              <a:rPr lang="es-CO" sz="1200" dirty="0" err="1">
                <a:latin typeface="Consolas" panose="020B0609020204030204" pitchFamily="49" charset="0"/>
              </a:rPr>
              <a:t>temp_c</a:t>
            </a:r>
            <a:r>
              <a:rPr lang="es-CO" sz="1200" dirty="0">
                <a:latin typeface="Consolas" panose="020B0609020204030204" pitchFamily="49" charset="0"/>
              </a:rPr>
              <a:t> + 273.15         </a:t>
            </a:r>
          </a:p>
          <a:p>
            <a:r>
              <a:rPr lang="es-CO" sz="1200" dirty="0">
                <a:latin typeface="Consolas" panose="020B0609020204030204" pitchFamily="49" charset="0"/>
              </a:rPr>
              <a:t>21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temp_k</a:t>
            </a:r>
            <a:endParaRPr lang="es-CO" sz="1200" dirty="0">
              <a:latin typeface="Consolas" panose="020B0609020204030204" pitchFamily="49" charset="0"/>
            </a:endParaRPr>
          </a:p>
          <a:p>
            <a:r>
              <a:rPr lang="es-CO" sz="1200" dirty="0">
                <a:latin typeface="Consolas" panose="020B0609020204030204" pitchFamily="49" charset="0"/>
              </a:rPr>
              <a:t>22</a:t>
            </a:r>
          </a:p>
          <a:p>
            <a:r>
              <a:rPr lang="es-CO" sz="1200" dirty="0">
                <a:latin typeface="Consolas" panose="020B0609020204030204" pitchFamily="49" charset="0"/>
              </a:rPr>
              <a:t>23  ############ Pruebas ##############</a:t>
            </a:r>
          </a:p>
          <a:p>
            <a:r>
              <a:rPr lang="es-CO" sz="1200" dirty="0">
                <a:latin typeface="Consolas" panose="020B0609020204030204" pitchFamily="49" charset="0"/>
              </a:rPr>
              <a:t>24  # celsius_a_fahrenheit</a:t>
            </a:r>
          </a:p>
          <a:p>
            <a:r>
              <a:rPr lang="es-CO" sz="1200" dirty="0">
                <a:latin typeface="Consolas" panose="020B0609020204030204" pitchFamily="49" charset="0"/>
              </a:rPr>
              <a:t>25  assert round(celsius_a_fahrenheit(100), 2) == 212.0</a:t>
            </a:r>
          </a:p>
          <a:p>
            <a:r>
              <a:rPr lang="es-CO" sz="1200" dirty="0">
                <a:latin typeface="Consolas" panose="020B0609020204030204" pitchFamily="49" charset="0"/>
              </a:rPr>
              <a:t>26  assert round(celsius_a_fahrenheit(0), 2) == 32.0</a:t>
            </a:r>
          </a:p>
          <a:p>
            <a:r>
              <a:rPr lang="es-CO" sz="1200" dirty="0">
                <a:latin typeface="Consolas" panose="020B0609020204030204" pitchFamily="49" charset="0"/>
              </a:rPr>
              <a:t>27  assert round(celsius_a_fahrenheit(37), 2) == 98.6</a:t>
            </a:r>
          </a:p>
          <a:p>
            <a:r>
              <a:rPr lang="es-CO" sz="1200" dirty="0">
                <a:latin typeface="Consolas" panose="020B0609020204030204" pitchFamily="49" charset="0"/>
              </a:rPr>
              <a:t>28  assert round(celsius_a_fahrenheit(-40), 2) == -40.0</a:t>
            </a:r>
          </a:p>
          <a:p>
            <a:r>
              <a:rPr lang="es-CO" sz="1200" dirty="0">
                <a:latin typeface="Consolas" panose="020B0609020204030204" pitchFamily="49" charset="0"/>
              </a:rPr>
              <a:t>29  # celsius_a_kelvin</a:t>
            </a:r>
          </a:p>
          <a:p>
            <a:r>
              <a:rPr lang="es-CO" sz="1200" dirty="0">
                <a:latin typeface="Consolas" panose="020B0609020204030204" pitchFamily="49" charset="0"/>
              </a:rPr>
              <a:t>30  assert round(celsius_a_kelvin(25), 2) == 298.15</a:t>
            </a:r>
          </a:p>
          <a:p>
            <a:r>
              <a:rPr lang="es-CO" sz="1200" dirty="0">
                <a:latin typeface="Consolas" panose="020B0609020204030204" pitchFamily="49" charset="0"/>
              </a:rPr>
              <a:t>31  assert round(celsius_a_kelvin(-273.15), 2) == 0.0</a:t>
            </a:r>
          </a:p>
        </p:txBody>
      </p:sp>
      <p:sp>
        <p:nvSpPr>
          <p:cNvPr id="14" name="CuadroTexto 13">
            <a:extLst>
              <a:ext uri="{FF2B5EF4-FFF2-40B4-BE49-F238E27FC236}">
                <a16:creationId xmlns:a16="http://schemas.microsoft.com/office/drawing/2014/main" id="{4421960D-F8A0-46D3-99F4-250ACD9BEE33}"/>
              </a:ext>
            </a:extLst>
          </p:cNvPr>
          <p:cNvSpPr txBox="1"/>
          <p:nvPr/>
        </p:nvSpPr>
        <p:spPr>
          <a:xfrm>
            <a:off x="251520" y="4767535"/>
            <a:ext cx="4824536" cy="461665"/>
          </a:xfrm>
          <a:prstGeom prst="rect">
            <a:avLst/>
          </a:prstGeom>
          <a:noFill/>
          <a:ln>
            <a:solidFill>
              <a:schemeClr val="tx1"/>
            </a:solidFill>
          </a:ln>
        </p:spPr>
        <p:txBody>
          <a:bodyPr wrap="square">
            <a:spAutoFit/>
          </a:bodyPr>
          <a:lstStyle/>
          <a:p>
            <a:r>
              <a:rPr lang="es-MX" sz="1200" dirty="0">
                <a:latin typeface="Consolas" panose="020B0609020204030204" pitchFamily="49" charset="0"/>
              </a:rPr>
              <a:t>100.0°C = 212.00°F   </a:t>
            </a:r>
            <a:endParaRPr lang="es-MX" sz="1200" dirty="0">
              <a:solidFill>
                <a:srgbClr val="00B050"/>
              </a:solidFill>
              <a:latin typeface="Consolas" panose="020B0609020204030204" pitchFamily="49" charset="0"/>
            </a:endParaRPr>
          </a:p>
          <a:p>
            <a:r>
              <a:rPr lang="es-MX" sz="1200" dirty="0">
                <a:latin typeface="Consolas" panose="020B0609020204030204" pitchFamily="49" charset="0"/>
              </a:rPr>
              <a:t>25.0°C = 298.15°K</a:t>
            </a:r>
            <a:endParaRPr lang="es-CO" sz="1200" dirty="0">
              <a:solidFill>
                <a:srgbClr val="FF0000"/>
              </a:solidFill>
              <a:latin typeface="Consolas" panose="020B0609020204030204" pitchFamily="49" charset="0"/>
            </a:endParaRPr>
          </a:p>
        </p:txBody>
      </p:sp>
      <p:pic>
        <p:nvPicPr>
          <p:cNvPr id="4" name="Imagen 3">
            <a:extLst>
              <a:ext uri="{FF2B5EF4-FFF2-40B4-BE49-F238E27FC236}">
                <a16:creationId xmlns:a16="http://schemas.microsoft.com/office/drawing/2014/main" id="{743B61E2-4B96-49A1-B610-3BFEA31A60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42448" y="1844824"/>
            <a:ext cx="3966056" cy="2250656"/>
          </a:xfrm>
          <a:prstGeom prst="rect">
            <a:avLst/>
          </a:prstGeom>
        </p:spPr>
      </p:pic>
      <p:sp>
        <p:nvSpPr>
          <p:cNvPr id="12" name="CuadroTexto 11">
            <a:extLst>
              <a:ext uri="{FF2B5EF4-FFF2-40B4-BE49-F238E27FC236}">
                <a16:creationId xmlns:a16="http://schemas.microsoft.com/office/drawing/2014/main" id="{A752196B-A80B-4DCB-8C01-105F787A6835}"/>
              </a:ext>
            </a:extLst>
          </p:cNvPr>
          <p:cNvSpPr txBox="1"/>
          <p:nvPr/>
        </p:nvSpPr>
        <p:spPr>
          <a:xfrm>
            <a:off x="251520" y="6167045"/>
            <a:ext cx="8636202" cy="369332"/>
          </a:xfrm>
          <a:prstGeom prst="rect">
            <a:avLst/>
          </a:prstGeom>
          <a:solidFill>
            <a:schemeClr val="accent2">
              <a:lumMod val="20000"/>
              <a:lumOff val="80000"/>
            </a:schemeClr>
          </a:solidFill>
        </p:spPr>
        <p:txBody>
          <a:bodyPr wrap="square">
            <a:spAutoFit/>
          </a:bodyPr>
          <a:lstStyle/>
          <a:p>
            <a:r>
              <a:rPr lang="es-MX" b="1" dirty="0"/>
              <a:t>Algunas hojas del árbol ya las escribió alguien más, y están probadas</a:t>
            </a:r>
            <a:r>
              <a:rPr lang="es-MX" dirty="0"/>
              <a:t>: son las </a:t>
            </a:r>
            <a:r>
              <a:rPr lang="es-MX" b="1" dirty="0"/>
              <a:t>librerías</a:t>
            </a:r>
            <a:r>
              <a:rPr lang="es-MX" dirty="0"/>
              <a:t>.</a:t>
            </a:r>
          </a:p>
        </p:txBody>
      </p:sp>
    </p:spTree>
    <p:extLst>
      <p:ext uri="{BB962C8B-B14F-4D97-AF65-F5344CB8AC3E}">
        <p14:creationId xmlns:p14="http://schemas.microsoft.com/office/powerpoint/2010/main" val="1205064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err="1"/>
              <a:t>Funciones</a:t>
            </a:r>
            <a:r>
              <a:rPr lang="en-US" sz="3600" dirty="0"/>
              <a:t> </a:t>
            </a:r>
            <a:r>
              <a:rPr lang="en-US" sz="3600" dirty="0" err="1"/>
              <a:t>integradas</a:t>
            </a:r>
            <a:endParaRPr lang="es-MX" sz="3600" dirty="0"/>
          </a:p>
        </p:txBody>
      </p:sp>
      <p:sp>
        <p:nvSpPr>
          <p:cNvPr id="13" name="12 Rectángulo"/>
          <p:cNvSpPr/>
          <p:nvPr/>
        </p:nvSpPr>
        <p:spPr>
          <a:xfrm>
            <a:off x="144639" y="797256"/>
            <a:ext cx="8835218" cy="1323439"/>
          </a:xfrm>
          <a:prstGeom prst="rect">
            <a:avLst/>
          </a:prstGeom>
        </p:spPr>
        <p:txBody>
          <a:bodyPr wrap="square">
            <a:spAutoFit/>
          </a:bodyPr>
          <a:lstStyle/>
          <a:p>
            <a:pPr marL="342900" indent="-342900" rtl="0">
              <a:buFont typeface="Arial" panose="020B0604020202020204" pitchFamily="34" charset="0"/>
              <a:buChar char="•"/>
            </a:pPr>
            <a:r>
              <a:rPr lang="es-MX" sz="2000" dirty="0"/>
              <a:t>A lo largo de las clases se han utilizado funciones que no fueron escritas en el curso: </a:t>
            </a:r>
            <a:r>
              <a:rPr lang="es-MX" b="1" dirty="0">
                <a:latin typeface="Consolas" panose="020B0609020204030204" pitchFamily="49" charset="0"/>
              </a:rPr>
              <a:t>print()</a:t>
            </a:r>
            <a:r>
              <a:rPr lang="es-MX" sz="2000" dirty="0"/>
              <a:t>, </a:t>
            </a:r>
            <a:r>
              <a:rPr lang="es-MX" b="1" dirty="0">
                <a:latin typeface="Consolas" panose="020B0609020204030204" pitchFamily="49" charset="0"/>
              </a:rPr>
              <a:t>input()</a:t>
            </a:r>
            <a:r>
              <a:rPr lang="es-MX" sz="2000" dirty="0"/>
              <a:t>, </a:t>
            </a:r>
            <a:r>
              <a:rPr lang="es-MX" b="1" dirty="0">
                <a:latin typeface="Consolas" panose="020B0609020204030204" pitchFamily="49" charset="0"/>
              </a:rPr>
              <a:t>int()</a:t>
            </a:r>
            <a:r>
              <a:rPr lang="es-MX" sz="2000" dirty="0"/>
              <a:t>, </a:t>
            </a:r>
            <a:r>
              <a:rPr lang="es-MX" b="1" dirty="0">
                <a:latin typeface="Consolas" panose="020B0609020204030204" pitchFamily="49" charset="0"/>
              </a:rPr>
              <a:t>float()</a:t>
            </a:r>
            <a:r>
              <a:rPr lang="es-MX" sz="2000" dirty="0"/>
              <a:t>, </a:t>
            </a:r>
            <a:r>
              <a:rPr lang="es-MX" b="1" dirty="0">
                <a:latin typeface="Consolas" panose="020B0609020204030204" pitchFamily="49" charset="0"/>
              </a:rPr>
              <a:t>round()</a:t>
            </a:r>
            <a:r>
              <a:rPr lang="es-MX" sz="2000" dirty="0"/>
              <a:t>.</a:t>
            </a:r>
          </a:p>
          <a:p>
            <a:pPr marL="342900" indent="-342900" rtl="0">
              <a:buFont typeface="Arial" panose="020B0604020202020204" pitchFamily="34" charset="0"/>
              <a:buChar char="•"/>
            </a:pPr>
            <a:r>
              <a:rPr lang="es-MX" sz="2000" dirty="0"/>
              <a:t>Estas se denominan </a:t>
            </a:r>
            <a:r>
              <a:rPr lang="es-MX" sz="2000" b="1" dirty="0"/>
              <a:t>funciones integradas</a:t>
            </a:r>
            <a:r>
              <a:rPr lang="es-MX" sz="2000" dirty="0"/>
              <a:t> (</a:t>
            </a:r>
            <a:r>
              <a:rPr lang="es-MX" sz="2000" b="1" dirty="0" err="1"/>
              <a:t>built</a:t>
            </a:r>
            <a:r>
              <a:rPr lang="es-MX" sz="2000" b="1" dirty="0"/>
              <a:t>-in</a:t>
            </a:r>
            <a:r>
              <a:rPr lang="es-MX" sz="2000" dirty="0"/>
              <a:t>) y están disponibles en cualquier programa sin necesidad de importarlas.</a:t>
            </a:r>
          </a:p>
        </p:txBody>
      </p:sp>
      <p:sp>
        <p:nvSpPr>
          <p:cNvPr id="11" name="CuadroTexto 10">
            <a:extLst>
              <a:ext uri="{FF2B5EF4-FFF2-40B4-BE49-F238E27FC236}">
                <a16:creationId xmlns:a16="http://schemas.microsoft.com/office/drawing/2014/main" id="{2F938FF1-6A0E-4201-A72E-E3484D4BFCD8}"/>
              </a:ext>
            </a:extLst>
          </p:cNvPr>
          <p:cNvSpPr txBox="1"/>
          <p:nvPr/>
        </p:nvSpPr>
        <p:spPr>
          <a:xfrm>
            <a:off x="618899" y="4443252"/>
            <a:ext cx="7932906" cy="923330"/>
          </a:xfrm>
          <a:prstGeom prst="rect">
            <a:avLst/>
          </a:prstGeom>
          <a:solidFill>
            <a:schemeClr val="accent2">
              <a:lumMod val="20000"/>
              <a:lumOff val="80000"/>
            </a:schemeClr>
          </a:solidFill>
        </p:spPr>
        <p:txBody>
          <a:bodyPr wrap="square">
            <a:spAutoFit/>
          </a:bodyPr>
          <a:lstStyle/>
          <a:p>
            <a:r>
              <a:rPr lang="es-MX" b="1" dirty="0"/>
              <a:t>Idea clave</a:t>
            </a:r>
            <a:r>
              <a:rPr lang="es-MX" dirty="0"/>
              <a:t>: una función integrada se comporta como cualquier función definida por el programador: recibe argumentos y retorna un valor. La diferencia es que ya fue escrita y probada por otros.</a:t>
            </a:r>
          </a:p>
        </p:txBody>
      </p:sp>
      <p:graphicFrame>
        <p:nvGraphicFramePr>
          <p:cNvPr id="6" name="Tabla 5">
            <a:extLst>
              <a:ext uri="{FF2B5EF4-FFF2-40B4-BE49-F238E27FC236}">
                <a16:creationId xmlns:a16="http://schemas.microsoft.com/office/drawing/2014/main" id="{AE171294-4E04-4989-B2B9-645F7E8104E8}"/>
              </a:ext>
            </a:extLst>
          </p:cNvPr>
          <p:cNvGraphicFramePr>
            <a:graphicFrameLocks noGrp="1"/>
          </p:cNvGraphicFramePr>
          <p:nvPr>
            <p:extLst>
              <p:ext uri="{D42A27DB-BD31-4B8C-83A1-F6EECF244321}">
                <p14:modId xmlns:p14="http://schemas.microsoft.com/office/powerpoint/2010/main" val="1140228775"/>
              </p:ext>
            </p:extLst>
          </p:nvPr>
        </p:nvGraphicFramePr>
        <p:xfrm>
          <a:off x="618899" y="2196185"/>
          <a:ext cx="7932906" cy="1676400"/>
        </p:xfrm>
        <a:graphic>
          <a:graphicData uri="http://schemas.openxmlformats.org/drawingml/2006/table">
            <a:tbl>
              <a:tblPr/>
              <a:tblGrid>
                <a:gridCol w="1659255">
                  <a:extLst>
                    <a:ext uri="{9D8B030D-6E8A-4147-A177-3AD203B41FA5}">
                      <a16:colId xmlns:a16="http://schemas.microsoft.com/office/drawing/2014/main" val="3351606858"/>
                    </a:ext>
                  </a:extLst>
                </a:gridCol>
                <a:gridCol w="2843975">
                  <a:extLst>
                    <a:ext uri="{9D8B030D-6E8A-4147-A177-3AD203B41FA5}">
                      <a16:colId xmlns:a16="http://schemas.microsoft.com/office/drawing/2014/main" val="1004489264"/>
                    </a:ext>
                  </a:extLst>
                </a:gridCol>
                <a:gridCol w="2277548">
                  <a:extLst>
                    <a:ext uri="{9D8B030D-6E8A-4147-A177-3AD203B41FA5}">
                      <a16:colId xmlns:a16="http://schemas.microsoft.com/office/drawing/2014/main" val="2124354429"/>
                    </a:ext>
                  </a:extLst>
                </a:gridCol>
                <a:gridCol w="1152128">
                  <a:extLst>
                    <a:ext uri="{9D8B030D-6E8A-4147-A177-3AD203B41FA5}">
                      <a16:colId xmlns:a16="http://schemas.microsoft.com/office/drawing/2014/main" val="3780946000"/>
                    </a:ext>
                  </a:extLst>
                </a:gridCol>
              </a:tblGrid>
              <a:tr h="0">
                <a:tc>
                  <a:txBody>
                    <a:bodyPr/>
                    <a:lstStyle/>
                    <a:p>
                      <a:r>
                        <a:rPr lang="es-CO" sz="1600" b="1" dirty="0"/>
                        <a:t>Función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Descripción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Ejemplo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Resultado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128784320"/>
                  </a:ext>
                </a:extLst>
              </a:tr>
              <a:tr h="0">
                <a:tc>
                  <a:txBody>
                    <a:bodyPr/>
                    <a:lstStyle/>
                    <a:p>
                      <a:r>
                        <a:rPr lang="es-CO" sz="1400" dirty="0">
                          <a:latin typeface="Consolas" panose="020B0609020204030204" pitchFamily="49" charset="0"/>
                        </a:rPr>
                        <a:t>abs(x)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Retorna el valor absoluto de 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abs(-7)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0004093"/>
                  </a:ext>
                </a:extLst>
              </a:tr>
              <a:tr h="0">
                <a:tc>
                  <a:txBody>
                    <a:bodyPr/>
                    <a:lstStyle/>
                    <a:p>
                      <a:r>
                        <a:rPr lang="es-CO" sz="1400" dirty="0">
                          <a:latin typeface="Consolas" panose="020B0609020204030204" pitchFamily="49" charset="0"/>
                        </a:rPr>
                        <a:t>round(x,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600"/>
                        <a:t>Redondea x a n decimales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round(3.14159,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3.14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0563441"/>
                  </a:ext>
                </a:extLst>
              </a:tr>
              <a:tr h="0">
                <a:tc>
                  <a:txBody>
                    <a:bodyPr/>
                    <a:lstStyle/>
                    <a:p>
                      <a:r>
                        <a:rPr lang="es-CO" sz="1400" dirty="0" err="1">
                          <a:latin typeface="Consolas" panose="020B0609020204030204" pitchFamily="49" charset="0"/>
                        </a:rPr>
                        <a:t>max</a:t>
                      </a:r>
                      <a:r>
                        <a:rPr lang="es-CO" sz="1400" dirty="0">
                          <a:latin typeface="Consolas" panose="020B0609020204030204" pitchFamily="49" charset="0"/>
                        </a:rPr>
                        <a:t>(a, b,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Retorna el mayor de los valores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max</a:t>
                      </a:r>
                      <a:r>
                        <a:rPr lang="es-CO" sz="1400" dirty="0">
                          <a:latin typeface="Consolas" panose="020B0609020204030204" pitchFamily="49" charset="0"/>
                        </a:rPr>
                        <a:t>(3, 9, 4)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8529819"/>
                  </a:ext>
                </a:extLst>
              </a:tr>
              <a:tr h="0">
                <a:tc>
                  <a:txBody>
                    <a:bodyPr/>
                    <a:lstStyle/>
                    <a:p>
                      <a:r>
                        <a:rPr lang="es-CO" sz="1400" dirty="0">
                          <a:latin typeface="Consolas" panose="020B0609020204030204" pitchFamily="49" charset="0"/>
                        </a:rPr>
                        <a:t>min(a, b,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Retorna el menor de los valores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min(3, 9,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5469008"/>
                  </a:ext>
                </a:extLst>
              </a:tr>
            </a:tbl>
          </a:graphicData>
        </a:graphic>
      </p:graphicFrame>
    </p:spTree>
    <p:extLst>
      <p:ext uri="{BB962C8B-B14F-4D97-AF65-F5344CB8AC3E}">
        <p14:creationId xmlns:p14="http://schemas.microsoft.com/office/powerpoint/2010/main" val="8300558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Librerías: funciones que se deben importar</a:t>
            </a:r>
          </a:p>
        </p:txBody>
      </p:sp>
      <p:sp>
        <p:nvSpPr>
          <p:cNvPr id="13" name="12 Rectángulo"/>
          <p:cNvSpPr/>
          <p:nvPr/>
        </p:nvSpPr>
        <p:spPr>
          <a:xfrm>
            <a:off x="144639" y="797256"/>
            <a:ext cx="8835218" cy="707886"/>
          </a:xfrm>
          <a:prstGeom prst="rect">
            <a:avLst/>
          </a:prstGeom>
        </p:spPr>
        <p:txBody>
          <a:bodyPr wrap="square">
            <a:spAutoFit/>
          </a:bodyPr>
          <a:lstStyle/>
          <a:p>
            <a:pPr marL="342900" indent="-342900" rtl="0">
              <a:buFont typeface="Arial" panose="020B0604020202020204" pitchFamily="34" charset="0"/>
              <a:buChar char="•"/>
            </a:pPr>
            <a:r>
              <a:rPr lang="es-MX" sz="2000" dirty="0"/>
              <a:t>Otras funciones están agrupadas en </a:t>
            </a:r>
            <a:r>
              <a:rPr lang="es-MX" sz="2000" b="1" dirty="0"/>
              <a:t>módulos</a:t>
            </a:r>
            <a:r>
              <a:rPr lang="es-MX" sz="2000" dirty="0"/>
              <a:t> (librerías). Para utilizarlas, primero se debe </a:t>
            </a:r>
            <a:r>
              <a:rPr lang="es-MX" sz="2000" b="1" dirty="0"/>
              <a:t>importar</a:t>
            </a:r>
            <a:r>
              <a:rPr lang="es-MX" sz="2000" dirty="0"/>
              <a:t> el módulo:</a:t>
            </a:r>
          </a:p>
        </p:txBody>
      </p:sp>
      <p:sp>
        <p:nvSpPr>
          <p:cNvPr id="11" name="CuadroTexto 10">
            <a:extLst>
              <a:ext uri="{FF2B5EF4-FFF2-40B4-BE49-F238E27FC236}">
                <a16:creationId xmlns:a16="http://schemas.microsoft.com/office/drawing/2014/main" id="{2F938FF1-6A0E-4201-A72E-E3484D4BFCD8}"/>
              </a:ext>
            </a:extLst>
          </p:cNvPr>
          <p:cNvSpPr txBox="1"/>
          <p:nvPr/>
        </p:nvSpPr>
        <p:spPr>
          <a:xfrm>
            <a:off x="499465" y="5762374"/>
            <a:ext cx="8017996" cy="646331"/>
          </a:xfrm>
          <a:prstGeom prst="rect">
            <a:avLst/>
          </a:prstGeom>
          <a:solidFill>
            <a:schemeClr val="accent2">
              <a:lumMod val="20000"/>
              <a:lumOff val="80000"/>
            </a:schemeClr>
          </a:solidFill>
        </p:spPr>
        <p:txBody>
          <a:bodyPr wrap="square">
            <a:spAutoFit/>
          </a:bodyPr>
          <a:lstStyle/>
          <a:p>
            <a:r>
              <a:rPr lang="es-MX" b="1" dirty="0"/>
              <a:t>A partir de esta clase se utiliza el módulo </a:t>
            </a:r>
            <a:r>
              <a:rPr lang="es-MX" b="1" dirty="0">
                <a:latin typeface="Consolas" panose="020B0609020204030204" pitchFamily="49" charset="0"/>
              </a:rPr>
              <a:t>math</a:t>
            </a:r>
            <a:r>
              <a:rPr lang="es-MX" b="1" dirty="0"/>
              <a:t>. </a:t>
            </a:r>
            <a:r>
              <a:rPr lang="es-MX" dirty="0"/>
              <a:t>El cálculo de raíces con </a:t>
            </a:r>
            <a:r>
              <a:rPr lang="es-MX" sz="1600" b="1" dirty="0">
                <a:latin typeface="Consolas" panose="020B0609020204030204" pitchFamily="49" charset="0"/>
              </a:rPr>
              <a:t>**0.5</a:t>
            </a:r>
            <a:r>
              <a:rPr lang="es-MX" dirty="0"/>
              <a:t> puede reemplazarse por </a:t>
            </a:r>
            <a:r>
              <a:rPr lang="es-MX" sz="1600" b="1" dirty="0" err="1">
                <a:latin typeface="Consolas" panose="020B0609020204030204" pitchFamily="49" charset="0"/>
              </a:rPr>
              <a:t>math.sqrt</a:t>
            </a:r>
            <a:r>
              <a:rPr lang="es-MX" sz="1600" b="1" dirty="0">
                <a:latin typeface="Consolas" panose="020B0609020204030204" pitchFamily="49" charset="0"/>
              </a:rPr>
              <a:t>()</a:t>
            </a:r>
            <a:r>
              <a:rPr lang="es-MX" dirty="0"/>
              <a:t>.</a:t>
            </a:r>
          </a:p>
        </p:txBody>
      </p:sp>
      <p:sp>
        <p:nvSpPr>
          <p:cNvPr id="8" name="CuadroTexto 7">
            <a:extLst>
              <a:ext uri="{FF2B5EF4-FFF2-40B4-BE49-F238E27FC236}">
                <a16:creationId xmlns:a16="http://schemas.microsoft.com/office/drawing/2014/main" id="{122CDAD8-667D-4368-87A4-DA845B4DBACE}"/>
              </a:ext>
            </a:extLst>
          </p:cNvPr>
          <p:cNvSpPr txBox="1"/>
          <p:nvPr/>
        </p:nvSpPr>
        <p:spPr>
          <a:xfrm>
            <a:off x="1969960" y="1689162"/>
            <a:ext cx="4618264" cy="1169551"/>
          </a:xfrm>
          <a:prstGeom prst="rect">
            <a:avLst/>
          </a:prstGeom>
          <a:noFill/>
          <a:ln>
            <a:solidFill>
              <a:schemeClr val="tx1"/>
            </a:solidFill>
          </a:ln>
        </p:spPr>
        <p:txBody>
          <a:bodyPr wrap="square">
            <a:spAutoFit/>
          </a:bodyPr>
          <a:lstStyle/>
          <a:p>
            <a:r>
              <a:rPr lang="es-CO" sz="1400" dirty="0">
                <a:latin typeface="Consolas" panose="020B0609020204030204" pitchFamily="49" charset="0"/>
              </a:rPr>
              <a:t>import math</a:t>
            </a:r>
          </a:p>
          <a:p>
            <a:endParaRPr lang="es-CO" sz="1400" dirty="0">
              <a:latin typeface="Consolas" panose="020B0609020204030204" pitchFamily="49" charset="0"/>
            </a:endParaRPr>
          </a:p>
          <a:p>
            <a:r>
              <a:rPr lang="es-CO" sz="1400" dirty="0">
                <a:latin typeface="Consolas" panose="020B0609020204030204" pitchFamily="49" charset="0"/>
              </a:rPr>
              <a:t>print(</a:t>
            </a:r>
            <a:r>
              <a:rPr lang="es-CO" sz="1400" dirty="0" err="1">
                <a:latin typeface="Consolas" panose="020B0609020204030204" pitchFamily="49" charset="0"/>
              </a:rPr>
              <a:t>math.sqrt</a:t>
            </a:r>
            <a:r>
              <a:rPr lang="es-CO" sz="1400" dirty="0">
                <a:latin typeface="Consolas" panose="020B0609020204030204" pitchFamily="49" charset="0"/>
              </a:rPr>
              <a:t>(25))     # 5.0</a:t>
            </a:r>
          </a:p>
          <a:p>
            <a:r>
              <a:rPr lang="es-CO" sz="1400" dirty="0">
                <a:latin typeface="Consolas" panose="020B0609020204030204" pitchFamily="49" charset="0"/>
              </a:rPr>
              <a:t>print(</a:t>
            </a:r>
            <a:r>
              <a:rPr lang="es-CO" sz="1400" dirty="0" err="1">
                <a:latin typeface="Consolas" panose="020B0609020204030204" pitchFamily="49" charset="0"/>
              </a:rPr>
              <a:t>math.pi</a:t>
            </a:r>
            <a:r>
              <a:rPr lang="es-CO" sz="1400" dirty="0">
                <a:latin typeface="Consolas" panose="020B0609020204030204" pitchFamily="49" charset="0"/>
              </a:rPr>
              <a:t>)           # 3.141592653589793</a:t>
            </a:r>
          </a:p>
          <a:p>
            <a:r>
              <a:rPr lang="es-CO" sz="1400" dirty="0">
                <a:latin typeface="Consolas" panose="020B0609020204030204" pitchFamily="49" charset="0"/>
              </a:rPr>
              <a:t>print(</a:t>
            </a:r>
            <a:r>
              <a:rPr lang="es-CO" sz="1400" dirty="0" err="1">
                <a:latin typeface="Consolas" panose="020B0609020204030204" pitchFamily="49" charset="0"/>
              </a:rPr>
              <a:t>math.factorial</a:t>
            </a:r>
            <a:r>
              <a:rPr lang="es-CO" sz="1400" dirty="0">
                <a:latin typeface="Consolas" panose="020B0609020204030204" pitchFamily="49" charset="0"/>
              </a:rPr>
              <a:t>(5)) # 120</a:t>
            </a:r>
          </a:p>
        </p:txBody>
      </p:sp>
      <p:sp>
        <p:nvSpPr>
          <p:cNvPr id="9" name="CuadroTexto 8">
            <a:hlinkClick r:id="rId2"/>
            <a:extLst>
              <a:ext uri="{FF2B5EF4-FFF2-40B4-BE49-F238E27FC236}">
                <a16:creationId xmlns:a16="http://schemas.microsoft.com/office/drawing/2014/main" id="{C803F855-2A55-4CFA-B4AE-BE265011794B}"/>
              </a:ext>
            </a:extLst>
          </p:cNvPr>
          <p:cNvSpPr txBox="1"/>
          <p:nvPr/>
        </p:nvSpPr>
        <p:spPr>
          <a:xfrm>
            <a:off x="3446849" y="2935977"/>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graphicFrame>
        <p:nvGraphicFramePr>
          <p:cNvPr id="4" name="Tabla 3">
            <a:extLst>
              <a:ext uri="{FF2B5EF4-FFF2-40B4-BE49-F238E27FC236}">
                <a16:creationId xmlns:a16="http://schemas.microsoft.com/office/drawing/2014/main" id="{ABF9996B-5EF3-408D-AB29-90D2C728EB29}"/>
              </a:ext>
            </a:extLst>
          </p:cNvPr>
          <p:cNvGraphicFramePr>
            <a:graphicFrameLocks noGrp="1"/>
          </p:cNvGraphicFramePr>
          <p:nvPr/>
        </p:nvGraphicFramePr>
        <p:xfrm>
          <a:off x="528840" y="3468887"/>
          <a:ext cx="7988621" cy="1584960"/>
        </p:xfrm>
        <a:graphic>
          <a:graphicData uri="http://schemas.openxmlformats.org/drawingml/2006/table">
            <a:tbl>
              <a:tblPr/>
              <a:tblGrid>
                <a:gridCol w="1968500">
                  <a:extLst>
                    <a:ext uri="{9D8B030D-6E8A-4147-A177-3AD203B41FA5}">
                      <a16:colId xmlns:a16="http://schemas.microsoft.com/office/drawing/2014/main" val="1830156451"/>
                    </a:ext>
                  </a:extLst>
                </a:gridCol>
                <a:gridCol w="1935876">
                  <a:extLst>
                    <a:ext uri="{9D8B030D-6E8A-4147-A177-3AD203B41FA5}">
                      <a16:colId xmlns:a16="http://schemas.microsoft.com/office/drawing/2014/main" val="3811805951"/>
                    </a:ext>
                  </a:extLst>
                </a:gridCol>
                <a:gridCol w="4084245">
                  <a:extLst>
                    <a:ext uri="{9D8B030D-6E8A-4147-A177-3AD203B41FA5}">
                      <a16:colId xmlns:a16="http://schemas.microsoft.com/office/drawing/2014/main" val="3474638647"/>
                    </a:ext>
                  </a:extLst>
                </a:gridCol>
              </a:tblGrid>
              <a:tr h="0">
                <a:tc>
                  <a:txBody>
                    <a:bodyPr/>
                    <a:lstStyle/>
                    <a:p>
                      <a:r>
                        <a:rPr lang="es-CO" sz="1600" b="1" dirty="0"/>
                        <a:t>Tipo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Ejemplo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¿Requiere importación?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51373211"/>
                  </a:ext>
                </a:extLst>
              </a:tr>
              <a:tr h="0">
                <a:tc>
                  <a:txBody>
                    <a:bodyPr/>
                    <a:lstStyle/>
                    <a:p>
                      <a:r>
                        <a:rPr lang="es-CO" sz="1600"/>
                        <a:t>Funciones integradas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print, round, abs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2345165"/>
                  </a:ext>
                </a:extLst>
              </a:tr>
              <a:tr h="0">
                <a:tc>
                  <a:txBody>
                    <a:bodyPr/>
                    <a:lstStyle/>
                    <a:p>
                      <a:r>
                        <a:rPr lang="es-CO" sz="1600"/>
                        <a:t>Biblioteca estándar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math, </a:t>
                      </a:r>
                      <a:r>
                        <a:rPr lang="es-CO" sz="1400" dirty="0" err="1">
                          <a:latin typeface="Consolas" panose="020B0609020204030204" pitchFamily="49" charset="0"/>
                        </a:rPr>
                        <a:t>random</a:t>
                      </a:r>
                      <a:endParaRPr lang="es-CO" sz="14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Sí, con </a:t>
                      </a:r>
                      <a:r>
                        <a:rPr lang="es-MX" sz="1400" dirty="0">
                          <a:latin typeface="Consolas" panose="020B0609020204030204" pitchFamily="49" charset="0"/>
                        </a:rPr>
                        <a:t>import</a:t>
                      </a:r>
                      <a:r>
                        <a:rPr lang="es-MX" sz="1600" dirty="0"/>
                        <a:t>; se incluyen con 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8262315"/>
                  </a:ext>
                </a:extLst>
              </a:tr>
              <a:tr h="0">
                <a:tc>
                  <a:txBody>
                    <a:bodyPr/>
                    <a:lstStyle/>
                    <a:p>
                      <a:r>
                        <a:rPr lang="es-CO" sz="1600"/>
                        <a:t>Paquetes externos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numpy, matplotlib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Sí, y además deben instalarse (Anaconda ya los incluye)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9518553"/>
                  </a:ext>
                </a:extLst>
              </a:tr>
            </a:tbl>
          </a:graphicData>
        </a:graphic>
      </p:graphicFrame>
    </p:spTree>
    <p:extLst>
      <p:ext uri="{BB962C8B-B14F-4D97-AF65-F5344CB8AC3E}">
        <p14:creationId xmlns:p14="http://schemas.microsoft.com/office/powerpoint/2010/main" val="26122587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Modulo </a:t>
            </a:r>
            <a:r>
              <a:rPr lang="es-MX" sz="3200" dirty="0">
                <a:latin typeface="Consolas" panose="020B0609020204030204" pitchFamily="49" charset="0"/>
              </a:rPr>
              <a:t>math</a:t>
            </a:r>
          </a:p>
        </p:txBody>
      </p:sp>
      <p:sp>
        <p:nvSpPr>
          <p:cNvPr id="13" name="12 Rectángulo"/>
          <p:cNvSpPr/>
          <p:nvPr/>
        </p:nvSpPr>
        <p:spPr>
          <a:xfrm>
            <a:off x="144639" y="764704"/>
            <a:ext cx="8835218" cy="5940088"/>
          </a:xfrm>
          <a:prstGeom prst="rect">
            <a:avLst/>
          </a:prstGeom>
        </p:spPr>
        <p:txBody>
          <a:bodyPr wrap="square">
            <a:spAutoFit/>
          </a:bodyPr>
          <a:lstStyle/>
          <a:p>
            <a:pPr marL="342900" indent="-342900" rtl="0">
              <a:buFont typeface="Arial" panose="020B0604020202020204" pitchFamily="34" charset="0"/>
              <a:buChar char="•"/>
            </a:pPr>
            <a:r>
              <a:rPr lang="es-MX" sz="2000" dirty="0"/>
              <a:t>El módulo math reúne funciones y constantes matemáticas de uso frecuente.</a:t>
            </a:r>
          </a:p>
          <a:p>
            <a:pPr marL="342900" indent="-342900" rtl="0">
              <a:buFont typeface="Arial" panose="020B0604020202020204" pitchFamily="34" charset="0"/>
              <a:buChar char="•"/>
            </a:pPr>
            <a:r>
              <a:rPr lang="es-MX" sz="2000" dirty="0"/>
              <a:t>Para utilizarlo se escribe import math al inicio del programa, y cada función se invoca con el prefijo math.</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Para consultar el módulo completo</a:t>
            </a:r>
            <a:r>
              <a:rPr lang="es-MX" sz="2000" dirty="0"/>
              <a:t>: </a:t>
            </a:r>
            <a:r>
              <a:rPr lang="es-MX" b="1" dirty="0">
                <a:latin typeface="Consolas" panose="020B0609020204030204" pitchFamily="49" charset="0"/>
              </a:rPr>
              <a:t>help(math)</a:t>
            </a:r>
            <a:r>
              <a:rPr lang="es-MX" sz="2000" dirty="0"/>
              <a:t> o la documentación oficial en español: </a:t>
            </a:r>
            <a:r>
              <a:rPr lang="es-MX" sz="2000" dirty="0">
                <a:hlinkClick r:id="rId2"/>
              </a:rPr>
              <a:t>https://docs.python.org/es/3/library/math.html</a:t>
            </a:r>
            <a:r>
              <a:rPr lang="es-MX" sz="2000" dirty="0"/>
              <a:t> </a:t>
            </a:r>
          </a:p>
        </p:txBody>
      </p:sp>
      <p:sp>
        <p:nvSpPr>
          <p:cNvPr id="11" name="CuadroTexto 10">
            <a:extLst>
              <a:ext uri="{FF2B5EF4-FFF2-40B4-BE49-F238E27FC236}">
                <a16:creationId xmlns:a16="http://schemas.microsoft.com/office/drawing/2014/main" id="{2F938FF1-6A0E-4201-A72E-E3484D4BFCD8}"/>
              </a:ext>
            </a:extLst>
          </p:cNvPr>
          <p:cNvSpPr txBox="1"/>
          <p:nvPr/>
        </p:nvSpPr>
        <p:spPr>
          <a:xfrm>
            <a:off x="420620" y="5157192"/>
            <a:ext cx="8395093" cy="646331"/>
          </a:xfrm>
          <a:prstGeom prst="rect">
            <a:avLst/>
          </a:prstGeom>
          <a:solidFill>
            <a:schemeClr val="accent2">
              <a:lumMod val="20000"/>
              <a:lumOff val="80000"/>
            </a:schemeClr>
          </a:solidFill>
        </p:spPr>
        <p:txBody>
          <a:bodyPr wrap="square">
            <a:spAutoFit/>
          </a:bodyPr>
          <a:lstStyle/>
          <a:p>
            <a:r>
              <a:rPr lang="es-MX" b="1" dirty="0"/>
              <a:t>Tip</a:t>
            </a:r>
            <a:r>
              <a:rPr lang="es-MX" dirty="0"/>
              <a:t>: Antes de escribir una función matemática, conviene revisar si ya existe en </a:t>
            </a:r>
            <a:r>
              <a:rPr lang="es-MX" sz="1600" b="1" dirty="0">
                <a:latin typeface="Consolas" panose="020B0609020204030204" pitchFamily="49" charset="0"/>
              </a:rPr>
              <a:t>math</a:t>
            </a:r>
            <a:r>
              <a:rPr lang="es-MX" dirty="0"/>
              <a:t>. Si existe, ya está escrita y probada.</a:t>
            </a:r>
          </a:p>
        </p:txBody>
      </p:sp>
      <p:graphicFrame>
        <p:nvGraphicFramePr>
          <p:cNvPr id="7" name="Tabla 6">
            <a:extLst>
              <a:ext uri="{FF2B5EF4-FFF2-40B4-BE49-F238E27FC236}">
                <a16:creationId xmlns:a16="http://schemas.microsoft.com/office/drawing/2014/main" id="{C9161D54-A33D-4B4C-AB4D-3586D6B8A937}"/>
              </a:ext>
            </a:extLst>
          </p:cNvPr>
          <p:cNvGraphicFramePr>
            <a:graphicFrameLocks noGrp="1"/>
          </p:cNvGraphicFramePr>
          <p:nvPr>
            <p:extLst>
              <p:ext uri="{D42A27DB-BD31-4B8C-83A1-F6EECF244321}">
                <p14:modId xmlns:p14="http://schemas.microsoft.com/office/powerpoint/2010/main" val="3625117818"/>
              </p:ext>
            </p:extLst>
          </p:nvPr>
        </p:nvGraphicFramePr>
        <p:xfrm>
          <a:off x="389108" y="1977600"/>
          <a:ext cx="8426606" cy="2963568"/>
        </p:xfrm>
        <a:graphic>
          <a:graphicData uri="http://schemas.openxmlformats.org/drawingml/2006/table">
            <a:tbl>
              <a:tblPr/>
              <a:tblGrid>
                <a:gridCol w="1875577">
                  <a:extLst>
                    <a:ext uri="{9D8B030D-6E8A-4147-A177-3AD203B41FA5}">
                      <a16:colId xmlns:a16="http://schemas.microsoft.com/office/drawing/2014/main" val="366241499"/>
                    </a:ext>
                  </a:extLst>
                </a:gridCol>
                <a:gridCol w="2811195">
                  <a:extLst>
                    <a:ext uri="{9D8B030D-6E8A-4147-A177-3AD203B41FA5}">
                      <a16:colId xmlns:a16="http://schemas.microsoft.com/office/drawing/2014/main" val="4014089571"/>
                    </a:ext>
                  </a:extLst>
                </a:gridCol>
                <a:gridCol w="1863199">
                  <a:extLst>
                    <a:ext uri="{9D8B030D-6E8A-4147-A177-3AD203B41FA5}">
                      <a16:colId xmlns:a16="http://schemas.microsoft.com/office/drawing/2014/main" val="3146445340"/>
                    </a:ext>
                  </a:extLst>
                </a:gridCol>
                <a:gridCol w="1876635">
                  <a:extLst>
                    <a:ext uri="{9D8B030D-6E8A-4147-A177-3AD203B41FA5}">
                      <a16:colId xmlns:a16="http://schemas.microsoft.com/office/drawing/2014/main" val="2212408144"/>
                    </a:ext>
                  </a:extLst>
                </a:gridCol>
              </a:tblGrid>
              <a:tr h="177935">
                <a:tc>
                  <a:txBody>
                    <a:bodyPr/>
                    <a:lstStyle/>
                    <a:p>
                      <a:r>
                        <a:rPr lang="es-CO" sz="1600" b="1" dirty="0"/>
                        <a:t>Función / constante</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Descripción</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Ejemplo</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Resultado</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4216505137"/>
                  </a:ext>
                </a:extLst>
              </a:tr>
              <a:tr h="177935">
                <a:tc>
                  <a:txBody>
                    <a:bodyPr/>
                    <a:lstStyle/>
                    <a:p>
                      <a:r>
                        <a:rPr lang="es-CO" sz="1400" dirty="0" err="1">
                          <a:latin typeface="Consolas" panose="020B0609020204030204" pitchFamily="49" charset="0"/>
                        </a:rPr>
                        <a:t>math.sqrt</a:t>
                      </a:r>
                      <a:r>
                        <a:rPr lang="es-CO" sz="1400" dirty="0">
                          <a:latin typeface="Consolas" panose="020B0609020204030204" pitchFamily="49" charset="0"/>
                        </a:rPr>
                        <a:t>(x)</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Retorna la raíz cuadrada de x</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math.sqrt</a:t>
                      </a:r>
                      <a:r>
                        <a:rPr lang="es-CO" sz="1400" dirty="0">
                          <a:latin typeface="Consolas" panose="020B0609020204030204" pitchFamily="49" charset="0"/>
                        </a:rPr>
                        <a:t>(16)</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4.0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3514493"/>
                  </a:ext>
                </a:extLst>
              </a:tr>
              <a:tr h="290323">
                <a:tc>
                  <a:txBody>
                    <a:bodyPr/>
                    <a:lstStyle/>
                    <a:p>
                      <a:r>
                        <a:rPr lang="es-CO" sz="1400" dirty="0" err="1">
                          <a:latin typeface="Consolas" panose="020B0609020204030204" pitchFamily="49" charset="0"/>
                        </a:rPr>
                        <a:t>math.pow</a:t>
                      </a:r>
                      <a:r>
                        <a:rPr lang="es-CO" sz="1400" dirty="0">
                          <a:latin typeface="Consolas" panose="020B0609020204030204" pitchFamily="49" charset="0"/>
                        </a:rPr>
                        <a:t>(x, y)</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Retorna x elevado a la y (resultado decimal)</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math.pow</a:t>
                      </a:r>
                      <a:r>
                        <a:rPr lang="es-CO" sz="1400" dirty="0">
                          <a:latin typeface="Consolas" panose="020B0609020204030204" pitchFamily="49" charset="0"/>
                        </a:rPr>
                        <a:t>(2, 10)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1024.0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9983985"/>
                  </a:ext>
                </a:extLst>
              </a:tr>
              <a:tr h="258871">
                <a:tc>
                  <a:txBody>
                    <a:bodyPr/>
                    <a:lstStyle/>
                    <a:p>
                      <a:r>
                        <a:rPr lang="es-CO" sz="1400" dirty="0" err="1">
                          <a:latin typeface="Consolas" panose="020B0609020204030204" pitchFamily="49" charset="0"/>
                        </a:rPr>
                        <a:t>math.factorial</a:t>
                      </a:r>
                      <a:r>
                        <a:rPr lang="es-CO" sz="1400" dirty="0">
                          <a:latin typeface="Consolas" panose="020B0609020204030204" pitchFamily="49" charset="0"/>
                        </a:rPr>
                        <a:t>(n)</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600" dirty="0"/>
                        <a:t>Retorna </a:t>
                      </a:r>
                      <a:r>
                        <a:rPr lang="pt-BR" sz="1600" dirty="0" err="1"/>
                        <a:t>el</a:t>
                      </a:r>
                      <a:r>
                        <a:rPr lang="pt-BR" sz="1600" dirty="0"/>
                        <a:t> </a:t>
                      </a:r>
                      <a:r>
                        <a:rPr lang="pt-BR" sz="1600" dirty="0" err="1"/>
                        <a:t>factorial</a:t>
                      </a:r>
                      <a:r>
                        <a:rPr lang="pt-BR" sz="1600" dirty="0"/>
                        <a:t> de n</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math.factorial</a:t>
                      </a:r>
                      <a:r>
                        <a:rPr lang="es-CO" sz="1400" dirty="0">
                          <a:latin typeface="Consolas" panose="020B0609020204030204" pitchFamily="49" charset="0"/>
                        </a:rPr>
                        <a:t>(5)</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120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5483439"/>
                  </a:ext>
                </a:extLst>
              </a:tr>
              <a:tr h="290323">
                <a:tc>
                  <a:txBody>
                    <a:bodyPr/>
                    <a:lstStyle/>
                    <a:p>
                      <a:r>
                        <a:rPr lang="fi-FI" sz="1400" dirty="0">
                          <a:latin typeface="Consolas" panose="020B0609020204030204" pitchFamily="49" charset="0"/>
                        </a:rPr>
                        <a:t>math.sin(x), </a:t>
                      </a:r>
                    </a:p>
                    <a:p>
                      <a:r>
                        <a:rPr lang="fi-FI" sz="1400" dirty="0">
                          <a:latin typeface="Consolas" panose="020B0609020204030204" pitchFamily="49" charset="0"/>
                        </a:rPr>
                        <a:t>math.cos(x)</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Retornan el seno y el coseno de x; x en </a:t>
                      </a:r>
                      <a:r>
                        <a:rPr lang="es-MX" sz="1600" b="1" dirty="0"/>
                        <a:t>radianes</a:t>
                      </a:r>
                      <a:endParaRPr lang="es-MX" sz="1600" dirty="0"/>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math.cos</a:t>
                      </a:r>
                      <a:r>
                        <a:rPr lang="es-CO" sz="1400" dirty="0">
                          <a:latin typeface="Consolas" panose="020B0609020204030204" pitchFamily="49" charset="0"/>
                        </a:rPr>
                        <a:t>(0)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1.0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3005808"/>
                  </a:ext>
                </a:extLst>
              </a:tr>
              <a:tr h="290323">
                <a:tc>
                  <a:txBody>
                    <a:bodyPr/>
                    <a:lstStyle/>
                    <a:p>
                      <a:r>
                        <a:rPr lang="es-CO" sz="1400" dirty="0" err="1">
                          <a:latin typeface="Consolas" panose="020B0609020204030204" pitchFamily="49" charset="0"/>
                        </a:rPr>
                        <a:t>math.radians</a:t>
                      </a:r>
                      <a:r>
                        <a:rPr lang="es-CO" sz="1400" dirty="0">
                          <a:latin typeface="Consolas" panose="020B0609020204030204" pitchFamily="49" charset="0"/>
                        </a:rPr>
                        <a:t>(g)</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Convierte un ángulo de grados a radianes</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math.radians</a:t>
                      </a:r>
                      <a:r>
                        <a:rPr lang="es-CO" sz="1400" dirty="0">
                          <a:latin typeface="Consolas" panose="020B0609020204030204" pitchFamily="49" charset="0"/>
                        </a:rPr>
                        <a:t>(180)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3.141592653589793</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5594604"/>
                  </a:ext>
                </a:extLst>
              </a:tr>
              <a:tr h="177935">
                <a:tc>
                  <a:txBody>
                    <a:bodyPr/>
                    <a:lstStyle/>
                    <a:p>
                      <a:r>
                        <a:rPr lang="es-CO" sz="1400" dirty="0" err="1">
                          <a:latin typeface="Consolas" panose="020B0609020204030204" pitchFamily="49" charset="0"/>
                        </a:rPr>
                        <a:t>math.pi</a:t>
                      </a:r>
                      <a:r>
                        <a:rPr lang="es-CO" sz="1400" dirty="0">
                          <a:latin typeface="Consolas" panose="020B0609020204030204" pitchFamily="49" charset="0"/>
                        </a:rPr>
                        <a:t>, </a:t>
                      </a:r>
                      <a:r>
                        <a:rPr lang="es-CO" sz="1400" dirty="0" err="1">
                          <a:latin typeface="Consolas" panose="020B0609020204030204" pitchFamily="49" charset="0"/>
                        </a:rPr>
                        <a:t>math.e</a:t>
                      </a:r>
                      <a:endParaRPr lang="es-CO" sz="1400" dirty="0">
                        <a:latin typeface="Consolas" panose="020B0609020204030204" pitchFamily="49" charset="0"/>
                      </a:endParaRP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Constantes </a:t>
                      </a:r>
                      <a:r>
                        <a:rPr lang="el-GR" sz="1600"/>
                        <a:t>π </a:t>
                      </a:r>
                      <a:r>
                        <a:rPr lang="es-CO" sz="1600"/>
                        <a:t>y </a:t>
                      </a:r>
                      <a:r>
                        <a:rPr lang="es-CO" sz="1600" i="1"/>
                        <a:t>e</a:t>
                      </a:r>
                      <a:endParaRPr lang="es-CO" sz="1600"/>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math.pi</a:t>
                      </a:r>
                      <a:endParaRPr lang="es-CO" sz="1400" dirty="0">
                        <a:latin typeface="Consolas" panose="020B0609020204030204" pitchFamily="49" charset="0"/>
                      </a:endParaRP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3.141592653589793</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291993"/>
                  </a:ext>
                </a:extLst>
              </a:tr>
            </a:tbl>
          </a:graphicData>
        </a:graphic>
      </p:graphicFrame>
    </p:spTree>
    <p:extLst>
      <p:ext uri="{BB962C8B-B14F-4D97-AF65-F5344CB8AC3E}">
        <p14:creationId xmlns:p14="http://schemas.microsoft.com/office/powerpoint/2010/main" val="10618964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Función propia frente a función de librería</a:t>
            </a:r>
            <a:endParaRPr lang="es-MX" sz="3200" dirty="0">
              <a:latin typeface="Consolas" panose="020B0609020204030204" pitchFamily="49" charset="0"/>
            </a:endParaRPr>
          </a:p>
        </p:txBody>
      </p:sp>
      <p:sp>
        <p:nvSpPr>
          <p:cNvPr id="13" name="12 Rectángulo"/>
          <p:cNvSpPr/>
          <p:nvPr/>
        </p:nvSpPr>
        <p:spPr>
          <a:xfrm>
            <a:off x="144639" y="764704"/>
            <a:ext cx="8835218" cy="5940088"/>
          </a:xfrm>
          <a:prstGeom prst="rect">
            <a:avLst/>
          </a:prstGeom>
        </p:spPr>
        <p:txBody>
          <a:bodyPr wrap="square">
            <a:spAutoFit/>
          </a:bodyPr>
          <a:lstStyle/>
          <a:p>
            <a:pPr marL="342900" indent="-342900" rtl="0">
              <a:buFont typeface="Arial" panose="020B0604020202020204" pitchFamily="34" charset="0"/>
              <a:buChar char="•"/>
            </a:pPr>
            <a:r>
              <a:rPr lang="es-MX" sz="2000" dirty="0"/>
              <a:t>Anteriormente se escribió la función </a:t>
            </a:r>
            <a:r>
              <a:rPr lang="es-MX" b="1" dirty="0">
                <a:latin typeface="Consolas" panose="020B0609020204030204" pitchFamily="49" charset="0"/>
              </a:rPr>
              <a:t>seno(x, n)</a:t>
            </a:r>
            <a:r>
              <a:rPr lang="es-MX" sz="2000" b="1" dirty="0"/>
              <a:t> </a:t>
            </a:r>
            <a:r>
              <a:rPr lang="es-MX" sz="2000" dirty="0"/>
              <a:t>mediante la serie de Taylor.</a:t>
            </a:r>
          </a:p>
          <a:p>
            <a:pPr marL="342900" indent="-342900" rtl="0">
              <a:buFont typeface="Arial" panose="020B0604020202020204" pitchFamily="34" charset="0"/>
              <a:buChar char="•"/>
            </a:pPr>
            <a:r>
              <a:rPr lang="es-MX" sz="2000" dirty="0"/>
              <a:t>El módulo math ofrece una función equivalente: </a:t>
            </a:r>
            <a:r>
              <a:rPr lang="es-MX" b="1" dirty="0" err="1">
                <a:latin typeface="Consolas" panose="020B0609020204030204" pitchFamily="49" charset="0"/>
              </a:rPr>
              <a:t>math.sin</a:t>
            </a:r>
            <a:r>
              <a:rPr lang="es-MX" b="1" dirty="0">
                <a:latin typeface="Consolas" panose="020B0609020204030204" pitchFamily="49" charset="0"/>
              </a:rPr>
              <a:t>(x)</a:t>
            </a:r>
            <a:r>
              <a:rPr lang="es-MX" sz="2000" dirty="0"/>
              <a:t>.</a:t>
            </a:r>
          </a:p>
          <a:p>
            <a:pPr marL="342900" indent="-342900" rtl="0">
              <a:buFont typeface="Arial" panose="020B0604020202020204" pitchFamily="34" charset="0"/>
              <a:buChar char="•"/>
            </a:pPr>
            <a:r>
              <a:rPr lang="es-MX" sz="2000" dirty="0"/>
              <a:t>¿Producen el mismo resultado?</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rtl="0"/>
            <a:r>
              <a:rPr lang="es-MX" sz="2000" b="1" dirty="0"/>
              <a:t>Salida en pantalla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dirty="0"/>
              <a:t>Ambas funciones producen el mismo resultado. La función de librería ya está escrita y probada, lo cual ahorra trabajo.</a:t>
            </a:r>
          </a:p>
          <a:p>
            <a:pPr marL="342900" indent="-342900" rtl="0">
              <a:buFont typeface="Arial" panose="020B0604020202020204" pitchFamily="34" charset="0"/>
              <a:buChar char="•"/>
            </a:pPr>
            <a:r>
              <a:rPr lang="es-MX" sz="2000" b="1" dirty="0"/>
              <a:t>¿Para qué se escribió entonces la función seno?</a:t>
            </a:r>
            <a:r>
              <a:rPr lang="es-MX" sz="2000" dirty="0"/>
              <a:t> Para comprender su funcionamiento interno. En un programa real se recomienda utilizar </a:t>
            </a:r>
            <a:r>
              <a:rPr lang="es-MX" b="1" dirty="0" err="1">
                <a:latin typeface="Consolas" panose="020B0609020204030204" pitchFamily="49" charset="0"/>
              </a:rPr>
              <a:t>math.sin</a:t>
            </a:r>
            <a:r>
              <a:rPr lang="es-MX" sz="2000" dirty="0"/>
              <a:t>.</a:t>
            </a:r>
          </a:p>
        </p:txBody>
      </p:sp>
      <p:sp>
        <p:nvSpPr>
          <p:cNvPr id="8" name="CuadroTexto 7">
            <a:extLst>
              <a:ext uri="{FF2B5EF4-FFF2-40B4-BE49-F238E27FC236}">
                <a16:creationId xmlns:a16="http://schemas.microsoft.com/office/drawing/2014/main" id="{5A2A1247-51AC-4DBF-95B7-BDDCB5AB1435}"/>
              </a:ext>
            </a:extLst>
          </p:cNvPr>
          <p:cNvSpPr txBox="1"/>
          <p:nvPr/>
        </p:nvSpPr>
        <p:spPr>
          <a:xfrm>
            <a:off x="683568" y="1844824"/>
            <a:ext cx="7776864" cy="2123658"/>
          </a:xfrm>
          <a:prstGeom prst="rect">
            <a:avLst/>
          </a:prstGeom>
          <a:noFill/>
          <a:ln>
            <a:solidFill>
              <a:schemeClr val="tx1"/>
            </a:solidFill>
          </a:ln>
        </p:spPr>
        <p:txBody>
          <a:bodyPr wrap="square">
            <a:spAutoFit/>
          </a:bodyPr>
          <a:lstStyle/>
          <a:p>
            <a:r>
              <a:rPr lang="es-CO" sz="1200" dirty="0">
                <a:latin typeface="Consolas" panose="020B0609020204030204" pitchFamily="49" charset="0"/>
              </a:rPr>
              <a:t>12  import math</a:t>
            </a:r>
          </a:p>
          <a:p>
            <a:r>
              <a:rPr lang="es-CO" sz="1200" dirty="0">
                <a:latin typeface="Consolas" panose="020B0609020204030204" pitchFamily="49" charset="0"/>
              </a:rPr>
              <a:t>    ...</a:t>
            </a:r>
          </a:p>
          <a:p>
            <a:r>
              <a:rPr lang="es-CO" sz="1200" dirty="0">
                <a:latin typeface="Consolas" panose="020B0609020204030204" pitchFamily="49" charset="0"/>
              </a:rPr>
              <a:t>22  </a:t>
            </a:r>
            <a:r>
              <a:rPr lang="es-CO" sz="1200" dirty="0" err="1">
                <a:latin typeface="Consolas" panose="020B0609020204030204" pitchFamily="49" charset="0"/>
              </a:rPr>
              <a:t>def</a:t>
            </a:r>
            <a:r>
              <a:rPr lang="es-CO" sz="1200" dirty="0">
                <a:latin typeface="Consolas" panose="020B0609020204030204" pitchFamily="49" charset="0"/>
              </a:rPr>
              <a:t> seno(x, n=10):</a:t>
            </a:r>
          </a:p>
          <a:p>
            <a:r>
              <a:rPr lang="es-CO" sz="1200" dirty="0">
                <a:latin typeface="Consolas" panose="020B0609020204030204" pitchFamily="49" charset="0"/>
              </a:rPr>
              <a:t>23      suma = 0</a:t>
            </a:r>
          </a:p>
          <a:p>
            <a:r>
              <a:rPr lang="es-CO" sz="1200" dirty="0">
                <a:latin typeface="Consolas" panose="020B0609020204030204" pitchFamily="49" charset="0"/>
              </a:rPr>
              <a:t>24      for k in range(n):</a:t>
            </a:r>
          </a:p>
          <a:p>
            <a:r>
              <a:rPr lang="es-CO" sz="1200" dirty="0">
                <a:latin typeface="Consolas" panose="020B0609020204030204" pitchFamily="49" charset="0"/>
              </a:rPr>
              <a:t>25          suma = suma + (-1)**k * x**(2*k + 1) / factorial(2*k + 1)</a:t>
            </a:r>
          </a:p>
          <a:p>
            <a:r>
              <a:rPr lang="es-CO" sz="1200" dirty="0">
                <a:latin typeface="Consolas" panose="020B0609020204030204" pitchFamily="49" charset="0"/>
              </a:rPr>
              <a:t>26      </a:t>
            </a:r>
            <a:r>
              <a:rPr lang="es-CO" sz="1200" dirty="0" err="1">
                <a:latin typeface="Consolas" panose="020B0609020204030204" pitchFamily="49" charset="0"/>
              </a:rPr>
              <a:t>return</a:t>
            </a:r>
            <a:r>
              <a:rPr lang="es-CO" sz="1200" dirty="0">
                <a:latin typeface="Consolas" panose="020B0609020204030204" pitchFamily="49" charset="0"/>
              </a:rPr>
              <a:t> suma</a:t>
            </a:r>
          </a:p>
          <a:p>
            <a:r>
              <a:rPr lang="es-CO" sz="1200" dirty="0">
                <a:latin typeface="Consolas" panose="020B0609020204030204" pitchFamily="49" charset="0"/>
              </a:rPr>
              <a:t>    ...</a:t>
            </a:r>
          </a:p>
          <a:p>
            <a:r>
              <a:rPr lang="es-CO" sz="1200" dirty="0">
                <a:latin typeface="Consolas" panose="020B0609020204030204" pitchFamily="49" charset="0"/>
              </a:rPr>
              <a:t>34  x = 1.0</a:t>
            </a:r>
          </a:p>
          <a:p>
            <a:r>
              <a:rPr lang="es-CO" sz="1200" dirty="0">
                <a:latin typeface="Consolas" panose="020B0609020204030204" pitchFamily="49" charset="0"/>
              </a:rPr>
              <a:t>35  print("</a:t>
            </a:r>
            <a:r>
              <a:rPr lang="es-CO" sz="1200" dirty="0" err="1">
                <a:latin typeface="Consolas" panose="020B0609020204030204" pitchFamily="49" charset="0"/>
              </a:rPr>
              <a:t>Funcion</a:t>
            </a:r>
            <a:r>
              <a:rPr lang="es-CO" sz="1200" dirty="0">
                <a:latin typeface="Consolas" panose="020B0609020204030204" pitchFamily="49" charset="0"/>
              </a:rPr>
              <a:t> propia:  seno(1.0)     =", seno(x))</a:t>
            </a:r>
          </a:p>
          <a:p>
            <a:r>
              <a:rPr lang="es-CO" sz="1200" dirty="0">
                <a:latin typeface="Consolas" panose="020B0609020204030204" pitchFamily="49" charset="0"/>
              </a:rPr>
              <a:t>36  print("</a:t>
            </a:r>
            <a:r>
              <a:rPr lang="es-CO" sz="1200" dirty="0" err="1">
                <a:latin typeface="Consolas" panose="020B0609020204030204" pitchFamily="49" charset="0"/>
              </a:rPr>
              <a:t>Libreria</a:t>
            </a:r>
            <a:r>
              <a:rPr lang="es-CO" sz="1200" dirty="0">
                <a:latin typeface="Consolas" panose="020B0609020204030204" pitchFamily="49" charset="0"/>
              </a:rPr>
              <a:t> math:   </a:t>
            </a:r>
            <a:r>
              <a:rPr lang="es-CO" sz="1200" dirty="0" err="1">
                <a:latin typeface="Consolas" panose="020B0609020204030204" pitchFamily="49" charset="0"/>
              </a:rPr>
              <a:t>math.sin</a:t>
            </a:r>
            <a:r>
              <a:rPr lang="es-CO" sz="1200" dirty="0">
                <a:latin typeface="Consolas" panose="020B0609020204030204" pitchFamily="49" charset="0"/>
              </a:rPr>
              <a:t>(1.0) =", </a:t>
            </a:r>
            <a:r>
              <a:rPr lang="es-CO" sz="1200" dirty="0" err="1">
                <a:latin typeface="Consolas" panose="020B0609020204030204" pitchFamily="49" charset="0"/>
              </a:rPr>
              <a:t>math.sin</a:t>
            </a:r>
            <a:r>
              <a:rPr lang="es-CO" sz="1200" dirty="0">
                <a:latin typeface="Consolas" panose="020B0609020204030204" pitchFamily="49" charset="0"/>
              </a:rPr>
              <a:t>(x))</a:t>
            </a:r>
          </a:p>
        </p:txBody>
      </p:sp>
      <p:sp>
        <p:nvSpPr>
          <p:cNvPr id="12" name="CuadroTexto 11">
            <a:extLst>
              <a:ext uri="{FF2B5EF4-FFF2-40B4-BE49-F238E27FC236}">
                <a16:creationId xmlns:a16="http://schemas.microsoft.com/office/drawing/2014/main" id="{B6553C42-1096-4681-877D-11CA717DB4FA}"/>
              </a:ext>
            </a:extLst>
          </p:cNvPr>
          <p:cNvSpPr txBox="1"/>
          <p:nvPr/>
        </p:nvSpPr>
        <p:spPr>
          <a:xfrm>
            <a:off x="683568" y="4644139"/>
            <a:ext cx="7776864" cy="461665"/>
          </a:xfrm>
          <a:prstGeom prst="rect">
            <a:avLst/>
          </a:prstGeom>
          <a:noFill/>
          <a:ln>
            <a:solidFill>
              <a:schemeClr val="tx1"/>
            </a:solidFill>
          </a:ln>
        </p:spPr>
        <p:txBody>
          <a:bodyPr wrap="square">
            <a:spAutoFit/>
          </a:bodyPr>
          <a:lstStyle/>
          <a:p>
            <a:r>
              <a:rPr lang="es-CO" sz="1200" dirty="0" err="1">
                <a:latin typeface="Consolas" panose="020B0609020204030204" pitchFamily="49" charset="0"/>
              </a:rPr>
              <a:t>Funcion</a:t>
            </a:r>
            <a:r>
              <a:rPr lang="es-CO" sz="1200" dirty="0">
                <a:latin typeface="Consolas" panose="020B0609020204030204" pitchFamily="49" charset="0"/>
              </a:rPr>
              <a:t> propia:  seno(1.0)     = 0.8414709848078965</a:t>
            </a:r>
          </a:p>
          <a:p>
            <a:r>
              <a:rPr lang="es-CO" sz="1200" dirty="0" err="1">
                <a:latin typeface="Consolas" panose="020B0609020204030204" pitchFamily="49" charset="0"/>
              </a:rPr>
              <a:t>Libreria</a:t>
            </a:r>
            <a:r>
              <a:rPr lang="es-CO" sz="1200" dirty="0">
                <a:latin typeface="Consolas" panose="020B0609020204030204" pitchFamily="49" charset="0"/>
              </a:rPr>
              <a:t> math:   </a:t>
            </a:r>
            <a:r>
              <a:rPr lang="es-CO" sz="1200" dirty="0" err="1">
                <a:latin typeface="Consolas" panose="020B0609020204030204" pitchFamily="49" charset="0"/>
              </a:rPr>
              <a:t>math.sin</a:t>
            </a:r>
            <a:r>
              <a:rPr lang="es-CO" sz="1200" dirty="0">
                <a:latin typeface="Consolas" panose="020B0609020204030204" pitchFamily="49" charset="0"/>
              </a:rPr>
              <a:t>(1.0) = 0.8414709848078965</a:t>
            </a:r>
          </a:p>
        </p:txBody>
      </p:sp>
    </p:spTree>
    <p:extLst>
      <p:ext uri="{BB962C8B-B14F-4D97-AF65-F5344CB8AC3E}">
        <p14:creationId xmlns:p14="http://schemas.microsoft.com/office/powerpoint/2010/main" val="10613267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Formas de importar</a:t>
            </a:r>
            <a:endParaRPr lang="es-MX" sz="3200" dirty="0">
              <a:latin typeface="Consolas" panose="020B0609020204030204" pitchFamily="49" charset="0"/>
            </a:endParaRPr>
          </a:p>
        </p:txBody>
      </p:sp>
      <p:sp>
        <p:nvSpPr>
          <p:cNvPr id="13" name="12 Rectángulo"/>
          <p:cNvSpPr/>
          <p:nvPr/>
        </p:nvSpPr>
        <p:spPr>
          <a:xfrm>
            <a:off x="144639" y="764704"/>
            <a:ext cx="8835218" cy="5324535"/>
          </a:xfrm>
          <a:prstGeom prst="rect">
            <a:avLst/>
          </a:prstGeom>
        </p:spPr>
        <p:txBody>
          <a:bodyPr wrap="square">
            <a:spAutoFit/>
          </a:bodyPr>
          <a:lstStyle/>
          <a:p>
            <a:pPr marL="342900" indent="-342900" rtl="0">
              <a:buFont typeface="Arial" panose="020B0604020202020204" pitchFamily="34" charset="0"/>
              <a:buChar char="•"/>
            </a:pPr>
            <a:r>
              <a:rPr lang="es-MX" sz="2000" dirty="0"/>
              <a:t>Un módulo puede importarse de varias formas. La elección afecta la manera de invocar sus funciones.</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rtl="0"/>
            <a:endParaRPr lang="es-MX" sz="2000" dirty="0"/>
          </a:p>
          <a:p>
            <a:pPr rtl="0"/>
            <a:r>
              <a:rPr lang="es-MX" sz="2000" b="1" dirty="0"/>
              <a:t>Ejemplo del riesgo de usar </a:t>
            </a:r>
            <a:r>
              <a:rPr lang="es-MX" sz="2000" b="1" dirty="0">
                <a:latin typeface="Consolas" panose="020B0609020204030204" pitchFamily="49" charset="0"/>
              </a:rPr>
              <a:t>*</a:t>
            </a:r>
            <a:r>
              <a:rPr lang="es-MX" sz="2000" dirty="0"/>
              <a:t>:</a:t>
            </a:r>
          </a:p>
          <a:p>
            <a:pPr rtl="0"/>
            <a:endParaRPr lang="es-MX" sz="2000" dirty="0"/>
          </a:p>
          <a:p>
            <a:pPr rtl="0"/>
            <a:endParaRPr lang="es-MX" sz="2000" dirty="0"/>
          </a:p>
          <a:p>
            <a:pPr rtl="0"/>
            <a:endParaRPr lang="es-MX" sz="2000" dirty="0"/>
          </a:p>
          <a:p>
            <a:pPr rtl="0"/>
            <a:endParaRPr lang="es-MX" sz="2000" dirty="0"/>
          </a:p>
          <a:p>
            <a:pPr rtl="0"/>
            <a:endParaRPr lang="es-MX" sz="2000" dirty="0"/>
          </a:p>
        </p:txBody>
      </p:sp>
      <p:sp>
        <p:nvSpPr>
          <p:cNvPr id="12" name="CuadroTexto 11">
            <a:extLst>
              <a:ext uri="{FF2B5EF4-FFF2-40B4-BE49-F238E27FC236}">
                <a16:creationId xmlns:a16="http://schemas.microsoft.com/office/drawing/2014/main" id="{B6553C42-1096-4681-877D-11CA717DB4FA}"/>
              </a:ext>
            </a:extLst>
          </p:cNvPr>
          <p:cNvSpPr txBox="1"/>
          <p:nvPr/>
        </p:nvSpPr>
        <p:spPr>
          <a:xfrm>
            <a:off x="594304" y="4575227"/>
            <a:ext cx="7776864" cy="646331"/>
          </a:xfrm>
          <a:prstGeom prst="rect">
            <a:avLst/>
          </a:prstGeom>
          <a:noFill/>
          <a:ln>
            <a:solidFill>
              <a:schemeClr val="tx1"/>
            </a:solidFill>
          </a:ln>
        </p:spPr>
        <p:txBody>
          <a:bodyPr wrap="square">
            <a:spAutoFit/>
          </a:bodyPr>
          <a:lstStyle/>
          <a:p>
            <a:r>
              <a:rPr lang="es-CO" sz="1200" dirty="0">
                <a:latin typeface="Consolas" panose="020B0609020204030204" pitchFamily="49" charset="0"/>
              </a:rPr>
              <a:t>print(</a:t>
            </a:r>
            <a:r>
              <a:rPr lang="es-CO" sz="1200" dirty="0" err="1">
                <a:latin typeface="Consolas" panose="020B0609020204030204" pitchFamily="49" charset="0"/>
              </a:rPr>
              <a:t>pow</a:t>
            </a:r>
            <a:r>
              <a:rPr lang="es-CO" sz="1200" dirty="0">
                <a:latin typeface="Consolas" panose="020B0609020204030204" pitchFamily="49" charset="0"/>
              </a:rPr>
              <a:t>(2, 3))     # 8      # función integrada </a:t>
            </a:r>
            <a:r>
              <a:rPr lang="es-CO" sz="1200" dirty="0" err="1">
                <a:latin typeface="Consolas" panose="020B0609020204030204" pitchFamily="49" charset="0"/>
              </a:rPr>
              <a:t>pow</a:t>
            </a:r>
            <a:endParaRPr lang="es-CO" sz="1200" dirty="0">
              <a:latin typeface="Consolas" panose="020B0609020204030204" pitchFamily="49" charset="0"/>
            </a:endParaRPr>
          </a:p>
          <a:p>
            <a:r>
              <a:rPr lang="es-CO" sz="1200" dirty="0">
                <a:latin typeface="Consolas" panose="020B0609020204030204" pitchFamily="49" charset="0"/>
              </a:rPr>
              <a:t>from math import *</a:t>
            </a:r>
          </a:p>
          <a:p>
            <a:r>
              <a:rPr lang="es-CO" sz="1200" dirty="0">
                <a:latin typeface="Consolas" panose="020B0609020204030204" pitchFamily="49" charset="0"/>
              </a:rPr>
              <a:t>print(</a:t>
            </a:r>
            <a:r>
              <a:rPr lang="es-CO" sz="1200" dirty="0" err="1">
                <a:latin typeface="Consolas" panose="020B0609020204030204" pitchFamily="49" charset="0"/>
              </a:rPr>
              <a:t>pow</a:t>
            </a:r>
            <a:r>
              <a:rPr lang="es-CO" sz="1200" dirty="0">
                <a:latin typeface="Consolas" panose="020B0609020204030204" pitchFamily="49" charset="0"/>
              </a:rPr>
              <a:t>(2, 3))     # 8.0    # ahora corresponde a </a:t>
            </a:r>
            <a:r>
              <a:rPr lang="es-CO" sz="1200" dirty="0" err="1">
                <a:latin typeface="Consolas" panose="020B0609020204030204" pitchFamily="49" charset="0"/>
              </a:rPr>
              <a:t>math.pow</a:t>
            </a:r>
            <a:r>
              <a:rPr lang="es-CO" sz="1200" dirty="0">
                <a:latin typeface="Consolas" panose="020B0609020204030204" pitchFamily="49" charset="0"/>
              </a:rPr>
              <a:t>, otra función</a:t>
            </a:r>
          </a:p>
        </p:txBody>
      </p:sp>
      <p:graphicFrame>
        <p:nvGraphicFramePr>
          <p:cNvPr id="2" name="Tabla 1">
            <a:extLst>
              <a:ext uri="{FF2B5EF4-FFF2-40B4-BE49-F238E27FC236}">
                <a16:creationId xmlns:a16="http://schemas.microsoft.com/office/drawing/2014/main" id="{E7A7F608-49D2-4AED-828C-EFE5E97EBB17}"/>
              </a:ext>
            </a:extLst>
          </p:cNvPr>
          <p:cNvGraphicFramePr>
            <a:graphicFrameLocks noGrp="1"/>
          </p:cNvGraphicFramePr>
          <p:nvPr>
            <p:extLst>
              <p:ext uri="{D42A27DB-BD31-4B8C-83A1-F6EECF244321}">
                <p14:modId xmlns:p14="http://schemas.microsoft.com/office/powerpoint/2010/main" val="1853902097"/>
              </p:ext>
            </p:extLst>
          </p:nvPr>
        </p:nvGraphicFramePr>
        <p:xfrm>
          <a:off x="594304" y="1539296"/>
          <a:ext cx="8221410" cy="2407920"/>
        </p:xfrm>
        <a:graphic>
          <a:graphicData uri="http://schemas.openxmlformats.org/drawingml/2006/table">
            <a:tbl>
              <a:tblPr/>
              <a:tblGrid>
                <a:gridCol w="2681552">
                  <a:extLst>
                    <a:ext uri="{9D8B030D-6E8A-4147-A177-3AD203B41FA5}">
                      <a16:colId xmlns:a16="http://schemas.microsoft.com/office/drawing/2014/main" val="2713354050"/>
                    </a:ext>
                  </a:extLst>
                </a:gridCol>
                <a:gridCol w="1512168">
                  <a:extLst>
                    <a:ext uri="{9D8B030D-6E8A-4147-A177-3AD203B41FA5}">
                      <a16:colId xmlns:a16="http://schemas.microsoft.com/office/drawing/2014/main" val="3512036864"/>
                    </a:ext>
                  </a:extLst>
                </a:gridCol>
                <a:gridCol w="4027690">
                  <a:extLst>
                    <a:ext uri="{9D8B030D-6E8A-4147-A177-3AD203B41FA5}">
                      <a16:colId xmlns:a16="http://schemas.microsoft.com/office/drawing/2014/main" val="2006434852"/>
                    </a:ext>
                  </a:extLst>
                </a:gridCol>
              </a:tblGrid>
              <a:tr h="0">
                <a:tc>
                  <a:txBody>
                    <a:bodyPr/>
                    <a:lstStyle/>
                    <a:p>
                      <a:r>
                        <a:rPr lang="es-CO" sz="1600" b="1"/>
                        <a:t>Forma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Uso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Recomendación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50687865"/>
                  </a:ext>
                </a:extLst>
              </a:tr>
              <a:tr h="0">
                <a:tc>
                  <a:txBody>
                    <a:bodyPr/>
                    <a:lstStyle/>
                    <a:p>
                      <a:r>
                        <a:rPr lang="es-CO" sz="1400" dirty="0">
                          <a:latin typeface="Consolas" panose="020B0609020204030204" pitchFamily="49" charset="0"/>
                        </a:rPr>
                        <a:t>import math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math.sqrt</a:t>
                      </a:r>
                      <a:r>
                        <a:rPr lang="es-CO" sz="1400" dirty="0">
                          <a:latin typeface="Consolas" panose="020B0609020204030204" pitchFamily="49" charset="0"/>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b="1" dirty="0"/>
                        <a:t>Recomendada:</a:t>
                      </a:r>
                      <a:r>
                        <a:rPr lang="es-MX" sz="1600" dirty="0"/>
                        <a:t> se identifica el origen de cada función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0284191"/>
                  </a:ext>
                </a:extLst>
              </a:tr>
              <a:tr h="0">
                <a:tc>
                  <a:txBody>
                    <a:bodyPr/>
                    <a:lstStyle/>
                    <a:p>
                      <a:r>
                        <a:rPr lang="en-US" sz="1400" dirty="0">
                          <a:latin typeface="Consolas" panose="020B0609020204030204" pitchFamily="49" charset="0"/>
                        </a:rPr>
                        <a:t>from math import sqrt, 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sqrt(25)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Útil cuando se usan pocas funciones con frecuencia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5809962"/>
                  </a:ext>
                </a:extLst>
              </a:tr>
              <a:tr h="0">
                <a:tc>
                  <a:txBody>
                    <a:bodyPr/>
                    <a:lstStyle/>
                    <a:p>
                      <a:r>
                        <a:rPr lang="es-CO" sz="1400" dirty="0">
                          <a:latin typeface="Consolas" panose="020B0609020204030204" pitchFamily="49" charset="0"/>
                        </a:rPr>
                        <a:t>import math as 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m.sqrt(25)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Útil para abreviar nombres largos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0031269"/>
                  </a:ext>
                </a:extLst>
              </a:tr>
              <a:tr h="0">
                <a:tc>
                  <a:txBody>
                    <a:bodyPr/>
                    <a:lstStyle/>
                    <a:p>
                      <a:r>
                        <a:rPr lang="es-CO" sz="1400" dirty="0">
                          <a:latin typeface="Consolas" panose="020B0609020204030204" pitchFamily="49" charset="0"/>
                        </a:rPr>
                        <a:t>from math import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sqrt</a:t>
                      </a:r>
                      <a:r>
                        <a:rPr lang="es-CO" sz="1400" dirty="0">
                          <a:latin typeface="Consolas" panose="020B0609020204030204" pitchFamily="49" charset="0"/>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a:t>
                      </a:r>
                      <a:r>
                        <a:rPr lang="es-MX" sz="1600" b="1" dirty="0">
                          <a:solidFill>
                            <a:schemeClr val="tx1"/>
                          </a:solidFill>
                        </a:rPr>
                        <a:t>No recomendada:</a:t>
                      </a:r>
                      <a:r>
                        <a:rPr lang="es-MX" sz="1600" dirty="0"/>
                        <a:t> importa todo y puede reemplazar funciones sin advertencia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7674437"/>
                  </a:ext>
                </a:extLst>
              </a:tr>
            </a:tbl>
          </a:graphicData>
        </a:graphic>
      </p:graphicFrame>
      <p:sp>
        <p:nvSpPr>
          <p:cNvPr id="9" name="CuadroTexto 8">
            <a:extLst>
              <a:ext uri="{FF2B5EF4-FFF2-40B4-BE49-F238E27FC236}">
                <a16:creationId xmlns:a16="http://schemas.microsoft.com/office/drawing/2014/main" id="{53D427ED-EB98-4BF3-BAA5-6F9D25D282F0}"/>
              </a:ext>
            </a:extLst>
          </p:cNvPr>
          <p:cNvSpPr txBox="1"/>
          <p:nvPr/>
        </p:nvSpPr>
        <p:spPr>
          <a:xfrm>
            <a:off x="420621" y="5553792"/>
            <a:ext cx="8395093" cy="646331"/>
          </a:xfrm>
          <a:prstGeom prst="rect">
            <a:avLst/>
          </a:prstGeom>
          <a:solidFill>
            <a:schemeClr val="accent2">
              <a:lumMod val="20000"/>
              <a:lumOff val="80000"/>
            </a:schemeClr>
          </a:solidFill>
        </p:spPr>
        <p:txBody>
          <a:bodyPr wrap="square">
            <a:spAutoFit/>
          </a:bodyPr>
          <a:lstStyle/>
          <a:p>
            <a:r>
              <a:rPr lang="es-MX" b="1" dirty="0"/>
              <a:t>Tip</a:t>
            </a:r>
            <a:r>
              <a:rPr lang="es-MX" dirty="0"/>
              <a:t>: Se recomienda </a:t>
            </a:r>
            <a:r>
              <a:rPr lang="es-MX" sz="1600" b="1" dirty="0">
                <a:latin typeface="Consolas" panose="020B0609020204030204" pitchFamily="49" charset="0"/>
              </a:rPr>
              <a:t>import math</a:t>
            </a:r>
            <a:r>
              <a:rPr lang="es-MX" dirty="0"/>
              <a:t>. El prefijo </a:t>
            </a:r>
            <a:r>
              <a:rPr lang="es-MX" sz="1600" b="1" dirty="0">
                <a:latin typeface="Consolas" panose="020B0609020204030204" pitchFamily="49" charset="0"/>
              </a:rPr>
              <a:t>math</a:t>
            </a:r>
            <a:r>
              <a:rPr lang="es-MX" dirty="0"/>
              <a:t> indica de dónde proviene cada función y evita confusiones con funciones del mismo nombre.</a:t>
            </a:r>
          </a:p>
        </p:txBody>
      </p:sp>
    </p:spTree>
    <p:extLst>
      <p:ext uri="{BB962C8B-B14F-4D97-AF65-F5344CB8AC3E}">
        <p14:creationId xmlns:p14="http://schemas.microsoft.com/office/powerpoint/2010/main" val="41404730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¿Cómo consultar una librería?</a:t>
            </a:r>
            <a:endParaRPr lang="es-MX" sz="3200" dirty="0">
              <a:latin typeface="Consolas" panose="020B0609020204030204" pitchFamily="49" charset="0"/>
            </a:endParaRPr>
          </a:p>
        </p:txBody>
      </p:sp>
      <p:sp>
        <p:nvSpPr>
          <p:cNvPr id="13" name="12 Rectángulo"/>
          <p:cNvSpPr/>
          <p:nvPr/>
        </p:nvSpPr>
        <p:spPr>
          <a:xfrm>
            <a:off x="144639" y="764704"/>
            <a:ext cx="8835218" cy="5109091"/>
          </a:xfrm>
          <a:prstGeom prst="rect">
            <a:avLst/>
          </a:prstGeom>
        </p:spPr>
        <p:txBody>
          <a:bodyPr wrap="square">
            <a:spAutoFit/>
          </a:bodyPr>
          <a:lstStyle/>
          <a:p>
            <a:pPr rtl="0"/>
            <a:r>
              <a:rPr lang="es-MX" sz="2000" dirty="0"/>
              <a:t>Para usar una función de librería </a:t>
            </a:r>
            <a:r>
              <a:rPr lang="es-MX" sz="2000" b="1" dirty="0"/>
              <a:t>no es necesario leer su código</a:t>
            </a:r>
            <a:r>
              <a:rPr lang="es-MX" sz="2000" dirty="0"/>
              <a:t>: basta con consultar su </a:t>
            </a:r>
            <a:r>
              <a:rPr lang="es-MX" sz="2000" b="1" dirty="0"/>
              <a:t>especificación</a:t>
            </a:r>
            <a:r>
              <a:rPr lang="es-MX" sz="2000" dirty="0"/>
              <a:t>.</a:t>
            </a:r>
          </a:p>
          <a:p>
            <a:pPr marL="457200" indent="-457200" rtl="0">
              <a:buFont typeface="+mj-lt"/>
              <a:buAutoNum type="arabicPeriod"/>
            </a:pPr>
            <a:r>
              <a:rPr lang="es-MX" sz="2000" b="1" dirty="0"/>
              <a:t>Con</a:t>
            </a:r>
            <a:r>
              <a:rPr lang="es-MX" sz="2000" dirty="0"/>
              <a:t> </a:t>
            </a:r>
            <a:r>
              <a:rPr lang="es-MX" b="1" dirty="0">
                <a:latin typeface="Consolas" panose="020B0609020204030204" pitchFamily="49" charset="0"/>
              </a:rPr>
              <a:t>help()</a:t>
            </a:r>
            <a:r>
              <a:rPr lang="es-MX" sz="2000" b="1" dirty="0"/>
              <a:t>, desde la consola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800100" lvl="1" indent="-342900">
              <a:buFont typeface="Arial" panose="020B0604020202020204" pitchFamily="34" charset="0"/>
              <a:buChar char="•"/>
            </a:pPr>
            <a:endParaRPr lang="es-MX" sz="1600" dirty="0"/>
          </a:p>
          <a:p>
            <a:pPr marL="800100" lvl="1" indent="-342900">
              <a:buFont typeface="Arial" panose="020B0604020202020204" pitchFamily="34" charset="0"/>
              <a:buChar char="•"/>
            </a:pPr>
            <a:r>
              <a:rPr lang="es-MX" dirty="0"/>
              <a:t>La especificación ya advertía que </a:t>
            </a:r>
            <a:r>
              <a:rPr lang="es-MX" sz="1600" b="1" dirty="0">
                <a:latin typeface="Consolas" panose="020B0609020204030204" pitchFamily="49" charset="0"/>
              </a:rPr>
              <a:t>x</a:t>
            </a:r>
            <a:r>
              <a:rPr lang="es-MX" dirty="0"/>
              <a:t> está en radianes (</a:t>
            </a:r>
            <a:r>
              <a:rPr lang="es-MX" sz="1600" b="1" dirty="0" err="1">
                <a:latin typeface="Consolas" panose="020B0609020204030204" pitchFamily="49" charset="0"/>
              </a:rPr>
              <a:t>measured</a:t>
            </a:r>
            <a:r>
              <a:rPr lang="es-MX" sz="1600" b="1" dirty="0">
                <a:latin typeface="Consolas" panose="020B0609020204030204" pitchFamily="49" charset="0"/>
              </a:rPr>
              <a:t> in </a:t>
            </a:r>
            <a:r>
              <a:rPr lang="es-MX" sz="1600" b="1" dirty="0" err="1">
                <a:latin typeface="Consolas" panose="020B0609020204030204" pitchFamily="49" charset="0"/>
              </a:rPr>
              <a:t>radians</a:t>
            </a:r>
            <a:r>
              <a:rPr lang="es-MX" dirty="0"/>
              <a:t>). Consultar </a:t>
            </a:r>
            <a:r>
              <a:rPr lang="es-MX" sz="1600" b="1" dirty="0">
                <a:latin typeface="Consolas" panose="020B0609020204030204" pitchFamily="49" charset="0"/>
              </a:rPr>
              <a:t>help()</a:t>
            </a:r>
            <a:r>
              <a:rPr lang="es-MX" dirty="0"/>
              <a:t> antes de usar una función evita errores como el de </a:t>
            </a:r>
            <a:r>
              <a:rPr lang="es-MX" sz="1600" dirty="0" err="1">
                <a:latin typeface="Consolas" panose="020B0609020204030204" pitchFamily="49" charset="0"/>
              </a:rPr>
              <a:t>math.sin</a:t>
            </a:r>
            <a:r>
              <a:rPr lang="es-MX" sz="1600" dirty="0">
                <a:latin typeface="Consolas" panose="020B0609020204030204" pitchFamily="49" charset="0"/>
              </a:rPr>
              <a:t>(30)</a:t>
            </a:r>
            <a:r>
              <a:rPr lang="es-MX" dirty="0"/>
              <a:t> al asumir el argumento en grados (30°).</a:t>
            </a:r>
          </a:p>
          <a:p>
            <a:pPr marL="800100" lvl="1" indent="-342900">
              <a:buFont typeface="Arial" panose="020B0604020202020204" pitchFamily="34" charset="0"/>
              <a:buChar char="•"/>
            </a:pPr>
            <a:r>
              <a:rPr lang="es-MX" sz="1600" b="1" dirty="0">
                <a:latin typeface="Consolas" panose="020B0609020204030204" pitchFamily="49" charset="0"/>
              </a:rPr>
              <a:t>help()</a:t>
            </a:r>
            <a:r>
              <a:rPr lang="es-MX" b="1" dirty="0"/>
              <a:t> funciona igual que con las funciones propias</a:t>
            </a:r>
            <a:r>
              <a:rPr lang="es-MX" dirty="0"/>
              <a:t>: la librería también tiene su </a:t>
            </a:r>
            <a:r>
              <a:rPr lang="es-MX" b="1" dirty="0" err="1"/>
              <a:t>docstring</a:t>
            </a:r>
            <a:r>
              <a:rPr lang="es-MX" dirty="0"/>
              <a:t>.</a:t>
            </a:r>
            <a:endParaRPr lang="es-MX" sz="2000" dirty="0"/>
          </a:p>
          <a:p>
            <a:pPr marL="457200" indent="-457200">
              <a:buFont typeface="+mj-lt"/>
              <a:buAutoNum type="arabicPeriod" startAt="2"/>
            </a:pPr>
            <a:r>
              <a:rPr lang="es-MX" sz="2000" b="1" dirty="0"/>
              <a:t>Con</a:t>
            </a:r>
            <a:r>
              <a:rPr lang="es-MX" sz="2000" dirty="0"/>
              <a:t> </a:t>
            </a:r>
            <a:r>
              <a:rPr lang="es-MX" sz="2000" b="1" dirty="0" err="1">
                <a:latin typeface="Consolas" panose="020B0609020204030204" pitchFamily="49" charset="0"/>
              </a:rPr>
              <a:t>dir</a:t>
            </a:r>
            <a:r>
              <a:rPr lang="es-MX" sz="2000" b="1" dirty="0">
                <a:latin typeface="Consolas" panose="020B0609020204030204" pitchFamily="49" charset="0"/>
              </a:rPr>
              <a:t>()</a:t>
            </a:r>
            <a:r>
              <a:rPr lang="es-MX" sz="2000" b="1" dirty="0"/>
              <a:t>, para ver que contiene el modulo</a:t>
            </a:r>
          </a:p>
          <a:p>
            <a:pPr marL="457200" indent="-457200">
              <a:buFont typeface="+mj-lt"/>
              <a:buAutoNum type="arabicPeriod" startAt="2"/>
            </a:pPr>
            <a:endParaRPr lang="es-MX" sz="2000" b="1" dirty="0"/>
          </a:p>
          <a:p>
            <a:pPr marL="457200" indent="-457200">
              <a:buFont typeface="+mj-lt"/>
              <a:buAutoNum type="arabicPeriod" startAt="2"/>
            </a:pPr>
            <a:endParaRPr lang="es-MX" sz="2000" b="1" dirty="0"/>
          </a:p>
          <a:p>
            <a:pPr marL="457200" indent="-457200">
              <a:buFont typeface="+mj-lt"/>
              <a:buAutoNum type="arabicPeriod" startAt="2"/>
            </a:pPr>
            <a:r>
              <a:rPr lang="es-MX" sz="2000" b="1" dirty="0"/>
              <a:t>Con la documentación oficial </a:t>
            </a:r>
            <a:r>
              <a:rPr lang="es-MX" sz="2000" dirty="0"/>
              <a:t>(</a:t>
            </a:r>
            <a:r>
              <a:rPr lang="es-MX" sz="2000" dirty="0">
                <a:hlinkClick r:id="rId2"/>
              </a:rPr>
              <a:t>link</a:t>
            </a:r>
            <a:r>
              <a:rPr lang="es-MX" sz="2000" dirty="0"/>
              <a:t>)</a:t>
            </a:r>
            <a:endParaRPr lang="es-MX" sz="2000" b="1" dirty="0"/>
          </a:p>
        </p:txBody>
      </p:sp>
      <p:sp>
        <p:nvSpPr>
          <p:cNvPr id="12" name="CuadroTexto 11">
            <a:extLst>
              <a:ext uri="{FF2B5EF4-FFF2-40B4-BE49-F238E27FC236}">
                <a16:creationId xmlns:a16="http://schemas.microsoft.com/office/drawing/2014/main" id="{B6553C42-1096-4681-877D-11CA717DB4FA}"/>
              </a:ext>
            </a:extLst>
          </p:cNvPr>
          <p:cNvSpPr txBox="1"/>
          <p:nvPr/>
        </p:nvSpPr>
        <p:spPr>
          <a:xfrm>
            <a:off x="683567" y="1844824"/>
            <a:ext cx="7344817" cy="1200329"/>
          </a:xfrm>
          <a:prstGeom prst="rect">
            <a:avLst/>
          </a:prstGeom>
          <a:noFill/>
          <a:ln>
            <a:solidFill>
              <a:schemeClr val="tx1"/>
            </a:solidFill>
          </a:ln>
        </p:spPr>
        <p:txBody>
          <a:bodyPr wrap="square">
            <a:spAutoFit/>
          </a:bodyPr>
          <a:lstStyle/>
          <a:p>
            <a:r>
              <a:rPr lang="en-US" sz="1200" dirty="0">
                <a:latin typeface="Consolas" panose="020B0609020204030204" pitchFamily="49" charset="0"/>
              </a:rPr>
              <a:t>&gt;&gt;&gt; import math</a:t>
            </a:r>
          </a:p>
          <a:p>
            <a:r>
              <a:rPr lang="en-US" sz="1200" dirty="0">
                <a:latin typeface="Consolas" panose="020B0609020204030204" pitchFamily="49" charset="0"/>
              </a:rPr>
              <a:t>&gt;&gt;&gt; help(</a:t>
            </a:r>
            <a:r>
              <a:rPr lang="en-US" sz="1200" dirty="0" err="1">
                <a:latin typeface="Consolas" panose="020B0609020204030204" pitchFamily="49" charset="0"/>
              </a:rPr>
              <a:t>math.sin</a:t>
            </a:r>
            <a:r>
              <a:rPr lang="en-US" sz="1200" dirty="0">
                <a:latin typeface="Consolas" panose="020B0609020204030204" pitchFamily="49" charset="0"/>
              </a:rPr>
              <a:t>)</a:t>
            </a:r>
          </a:p>
          <a:p>
            <a:r>
              <a:rPr lang="en-US" sz="1200" dirty="0">
                <a:latin typeface="Consolas" panose="020B0609020204030204" pitchFamily="49" charset="0"/>
              </a:rPr>
              <a:t>Help on built-in function sin in module math:</a:t>
            </a:r>
          </a:p>
          <a:p>
            <a:endParaRPr lang="en-US" sz="1200" dirty="0">
              <a:latin typeface="Consolas" panose="020B0609020204030204" pitchFamily="49" charset="0"/>
            </a:endParaRPr>
          </a:p>
          <a:p>
            <a:r>
              <a:rPr lang="en-US" sz="1200" dirty="0">
                <a:latin typeface="Consolas" panose="020B0609020204030204" pitchFamily="49" charset="0"/>
              </a:rPr>
              <a:t>sin(x, /)</a:t>
            </a:r>
          </a:p>
          <a:p>
            <a:r>
              <a:rPr lang="en-US" sz="1200" dirty="0">
                <a:latin typeface="Consolas" panose="020B0609020204030204" pitchFamily="49" charset="0"/>
              </a:rPr>
              <a:t>    Return the sine of x (measured in radians).</a:t>
            </a:r>
            <a:endParaRPr lang="es-CO" sz="1200" dirty="0">
              <a:latin typeface="Consolas" panose="020B0609020204030204" pitchFamily="49" charset="0"/>
            </a:endParaRPr>
          </a:p>
        </p:txBody>
      </p:sp>
      <p:sp>
        <p:nvSpPr>
          <p:cNvPr id="8" name="CuadroTexto 7">
            <a:extLst>
              <a:ext uri="{FF2B5EF4-FFF2-40B4-BE49-F238E27FC236}">
                <a16:creationId xmlns:a16="http://schemas.microsoft.com/office/drawing/2014/main" id="{C5BE1737-0191-4241-8213-7B097BBD6340}"/>
              </a:ext>
            </a:extLst>
          </p:cNvPr>
          <p:cNvSpPr txBox="1"/>
          <p:nvPr/>
        </p:nvSpPr>
        <p:spPr>
          <a:xfrm>
            <a:off x="692129" y="4941168"/>
            <a:ext cx="7344817" cy="461665"/>
          </a:xfrm>
          <a:prstGeom prst="rect">
            <a:avLst/>
          </a:prstGeom>
          <a:noFill/>
          <a:ln>
            <a:solidFill>
              <a:schemeClr val="tx1"/>
            </a:solidFill>
          </a:ln>
        </p:spPr>
        <p:txBody>
          <a:bodyPr wrap="square">
            <a:spAutoFit/>
          </a:bodyPr>
          <a:lstStyle/>
          <a:p>
            <a:r>
              <a:rPr lang="es-CO" sz="1200" dirty="0">
                <a:latin typeface="Consolas" panose="020B0609020204030204" pitchFamily="49" charset="0"/>
              </a:rPr>
              <a:t>&gt;&gt;&gt; </a:t>
            </a:r>
            <a:r>
              <a:rPr lang="es-CO" sz="1200" dirty="0" err="1">
                <a:latin typeface="Consolas" panose="020B0609020204030204" pitchFamily="49" charset="0"/>
              </a:rPr>
              <a:t>dir</a:t>
            </a:r>
            <a:r>
              <a:rPr lang="es-CO" sz="1200" dirty="0">
                <a:latin typeface="Consolas" panose="020B0609020204030204" pitchFamily="49" charset="0"/>
              </a:rPr>
              <a:t>(math)</a:t>
            </a:r>
          </a:p>
          <a:p>
            <a:r>
              <a:rPr lang="es-CO" sz="1200" dirty="0">
                <a:latin typeface="Consolas" panose="020B0609020204030204" pitchFamily="49" charset="0"/>
              </a:rPr>
              <a:t>[..., 'acos', '</a:t>
            </a:r>
            <a:r>
              <a:rPr lang="es-CO" sz="1200" dirty="0" err="1">
                <a:latin typeface="Consolas" panose="020B0609020204030204" pitchFamily="49" charset="0"/>
              </a:rPr>
              <a:t>acosh</a:t>
            </a:r>
            <a:r>
              <a:rPr lang="es-CO" sz="1200" dirty="0">
                <a:latin typeface="Consolas" panose="020B0609020204030204" pitchFamily="49" charset="0"/>
              </a:rPr>
              <a:t>', '</a:t>
            </a:r>
            <a:r>
              <a:rPr lang="es-CO" sz="1200" dirty="0" err="1">
                <a:latin typeface="Consolas" panose="020B0609020204030204" pitchFamily="49" charset="0"/>
              </a:rPr>
              <a:t>asin</a:t>
            </a:r>
            <a:r>
              <a:rPr lang="es-CO" sz="1200" dirty="0">
                <a:latin typeface="Consolas" panose="020B0609020204030204" pitchFamily="49" charset="0"/>
              </a:rPr>
              <a:t>', '</a:t>
            </a:r>
            <a:r>
              <a:rPr lang="es-CO" sz="1200" dirty="0" err="1">
                <a:latin typeface="Consolas" panose="020B0609020204030204" pitchFamily="49" charset="0"/>
              </a:rPr>
              <a:t>asinh</a:t>
            </a:r>
            <a:r>
              <a:rPr lang="es-CO" sz="1200" dirty="0">
                <a:latin typeface="Consolas" panose="020B0609020204030204" pitchFamily="49" charset="0"/>
              </a:rPr>
              <a:t>', 'atan', 'atan2', ..., 'cos', ...]</a:t>
            </a:r>
          </a:p>
        </p:txBody>
      </p:sp>
      <p:sp>
        <p:nvSpPr>
          <p:cNvPr id="10" name="CuadroTexto 9">
            <a:extLst>
              <a:ext uri="{FF2B5EF4-FFF2-40B4-BE49-F238E27FC236}">
                <a16:creationId xmlns:a16="http://schemas.microsoft.com/office/drawing/2014/main" id="{4A34A757-1C92-42AE-96EF-BCBD64564C6F}"/>
              </a:ext>
            </a:extLst>
          </p:cNvPr>
          <p:cNvSpPr txBox="1"/>
          <p:nvPr/>
        </p:nvSpPr>
        <p:spPr>
          <a:xfrm>
            <a:off x="154391" y="5948529"/>
            <a:ext cx="8835218" cy="369332"/>
          </a:xfrm>
          <a:prstGeom prst="rect">
            <a:avLst/>
          </a:prstGeom>
          <a:solidFill>
            <a:schemeClr val="accent2">
              <a:lumMod val="20000"/>
              <a:lumOff val="80000"/>
            </a:schemeClr>
          </a:solidFill>
        </p:spPr>
        <p:txBody>
          <a:bodyPr wrap="square">
            <a:spAutoFit/>
          </a:bodyPr>
          <a:lstStyle/>
          <a:p>
            <a:r>
              <a:rPr lang="es-MX" b="1" dirty="0"/>
              <a:t>Tip</a:t>
            </a:r>
            <a:r>
              <a:rPr lang="es-MX" dirty="0"/>
              <a:t>: Si </a:t>
            </a:r>
            <a:r>
              <a:rPr lang="es-MX" sz="1600" b="1" dirty="0">
                <a:latin typeface="Consolas" panose="020B0609020204030204" pitchFamily="49" charset="0"/>
              </a:rPr>
              <a:t>help()</a:t>
            </a:r>
            <a:r>
              <a:rPr lang="es-MX" dirty="0"/>
              <a:t> se abre en una pantalla aparte (en la terminal), se sale presionando la tecla </a:t>
            </a:r>
            <a:r>
              <a:rPr lang="es-MX" sz="1600" b="1" dirty="0">
                <a:latin typeface="Consolas" panose="020B0609020204030204" pitchFamily="49" charset="0"/>
              </a:rPr>
              <a:t>q</a:t>
            </a:r>
            <a:r>
              <a:rPr lang="es-MX" dirty="0"/>
              <a:t>.</a:t>
            </a:r>
          </a:p>
        </p:txBody>
      </p:sp>
    </p:spTree>
    <p:extLst>
      <p:ext uri="{BB962C8B-B14F-4D97-AF65-F5344CB8AC3E}">
        <p14:creationId xmlns:p14="http://schemas.microsoft.com/office/powerpoint/2010/main" val="5982866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¿Cómo consultar una librería?</a:t>
            </a:r>
            <a:endParaRPr lang="es-MX" sz="3200" dirty="0">
              <a:latin typeface="Consolas" panose="020B0609020204030204" pitchFamily="49" charset="0"/>
            </a:endParaRPr>
          </a:p>
        </p:txBody>
      </p:sp>
      <p:sp>
        <p:nvSpPr>
          <p:cNvPr id="13" name="12 Rectángulo"/>
          <p:cNvSpPr/>
          <p:nvPr/>
        </p:nvSpPr>
        <p:spPr>
          <a:xfrm>
            <a:off x="144639" y="764704"/>
            <a:ext cx="8835218" cy="400110"/>
          </a:xfrm>
          <a:prstGeom prst="rect">
            <a:avLst/>
          </a:prstGeom>
        </p:spPr>
        <p:txBody>
          <a:bodyPr wrap="square">
            <a:spAutoFit/>
          </a:bodyPr>
          <a:lstStyle/>
          <a:p>
            <a:pPr rtl="0"/>
            <a:r>
              <a:rPr lang="es-MX" sz="2000" dirty="0"/>
              <a:t>La siguiente tabla muestra una lista de errores típicos al usar librerías.</a:t>
            </a:r>
          </a:p>
        </p:txBody>
      </p:sp>
      <p:graphicFrame>
        <p:nvGraphicFramePr>
          <p:cNvPr id="4" name="Tabla 3">
            <a:extLst>
              <a:ext uri="{FF2B5EF4-FFF2-40B4-BE49-F238E27FC236}">
                <a16:creationId xmlns:a16="http://schemas.microsoft.com/office/drawing/2014/main" id="{E84F8733-6F0E-4F0E-AB0A-0335BF95B191}"/>
              </a:ext>
            </a:extLst>
          </p:cNvPr>
          <p:cNvGraphicFramePr>
            <a:graphicFrameLocks noGrp="1"/>
          </p:cNvGraphicFramePr>
          <p:nvPr>
            <p:extLst>
              <p:ext uri="{D42A27DB-BD31-4B8C-83A1-F6EECF244321}">
                <p14:modId xmlns:p14="http://schemas.microsoft.com/office/powerpoint/2010/main" val="2812230732"/>
              </p:ext>
            </p:extLst>
          </p:nvPr>
        </p:nvGraphicFramePr>
        <p:xfrm>
          <a:off x="251520" y="1268760"/>
          <a:ext cx="8506932" cy="3693252"/>
        </p:xfrm>
        <a:graphic>
          <a:graphicData uri="http://schemas.openxmlformats.org/drawingml/2006/table">
            <a:tbl>
              <a:tblPr/>
              <a:tblGrid>
                <a:gridCol w="2593274">
                  <a:extLst>
                    <a:ext uri="{9D8B030D-6E8A-4147-A177-3AD203B41FA5}">
                      <a16:colId xmlns:a16="http://schemas.microsoft.com/office/drawing/2014/main" val="2538264499"/>
                    </a:ext>
                  </a:extLst>
                </a:gridCol>
                <a:gridCol w="3078014">
                  <a:extLst>
                    <a:ext uri="{9D8B030D-6E8A-4147-A177-3AD203B41FA5}">
                      <a16:colId xmlns:a16="http://schemas.microsoft.com/office/drawing/2014/main" val="366224200"/>
                    </a:ext>
                  </a:extLst>
                </a:gridCol>
                <a:gridCol w="2835644">
                  <a:extLst>
                    <a:ext uri="{9D8B030D-6E8A-4147-A177-3AD203B41FA5}">
                      <a16:colId xmlns:a16="http://schemas.microsoft.com/office/drawing/2014/main" val="3228661944"/>
                    </a:ext>
                  </a:extLst>
                </a:gridCol>
              </a:tblGrid>
              <a:tr h="220296">
                <a:tc>
                  <a:txBody>
                    <a:bodyPr/>
                    <a:lstStyle/>
                    <a:p>
                      <a:r>
                        <a:rPr lang="es-CO" sz="1600" b="1"/>
                        <a:t>Código</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Error</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Causa</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688716366"/>
                  </a:ext>
                </a:extLst>
              </a:tr>
              <a:tr h="345043">
                <a:tc>
                  <a:txBody>
                    <a:bodyPr/>
                    <a:lstStyle/>
                    <a:p>
                      <a:r>
                        <a:rPr lang="es-CO" sz="1400" dirty="0">
                          <a:latin typeface="Consolas" panose="020B0609020204030204" pitchFamily="49" charset="0"/>
                        </a:rPr>
                        <a:t>x = </a:t>
                      </a:r>
                      <a:r>
                        <a:rPr lang="es-CO" sz="1400" dirty="0" err="1">
                          <a:latin typeface="Consolas" panose="020B0609020204030204" pitchFamily="49" charset="0"/>
                        </a:rPr>
                        <a:t>sqrt</a:t>
                      </a:r>
                      <a:r>
                        <a:rPr lang="es-CO" sz="1400" dirty="0">
                          <a:latin typeface="Consolas" panose="020B0609020204030204" pitchFamily="49" charset="0"/>
                        </a:rPr>
                        <a:t>(25)</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NameError</a:t>
                      </a:r>
                      <a:r>
                        <a:rPr lang="en-US" sz="1400" dirty="0">
                          <a:latin typeface="Consolas" panose="020B0609020204030204" pitchFamily="49" charset="0"/>
                        </a:rPr>
                        <a:t>: name 'sqrt' is not defined</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No se importó el módulo</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8430313"/>
                  </a:ext>
                </a:extLst>
              </a:tr>
              <a:tr h="345043">
                <a:tc>
                  <a:txBody>
                    <a:bodyPr/>
                    <a:lstStyle/>
                    <a:p>
                      <a:r>
                        <a:rPr lang="es-CO" sz="1400" dirty="0">
                          <a:latin typeface="Consolas" panose="020B0609020204030204" pitchFamily="49" charset="0"/>
                        </a:rPr>
                        <a:t>import math … </a:t>
                      </a:r>
                      <a:r>
                        <a:rPr lang="es-CO" sz="1400" dirty="0" err="1">
                          <a:latin typeface="Consolas" panose="020B0609020204030204" pitchFamily="49" charset="0"/>
                        </a:rPr>
                        <a:t>sqrt</a:t>
                      </a:r>
                      <a:r>
                        <a:rPr lang="es-CO" sz="1400" dirty="0">
                          <a:latin typeface="Consolas" panose="020B0609020204030204" pitchFamily="49" charset="0"/>
                        </a:rPr>
                        <a:t>(25)</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NameError</a:t>
                      </a:r>
                      <a:r>
                        <a:rPr lang="en-US" sz="1400" dirty="0">
                          <a:latin typeface="Consolas" panose="020B0609020204030204" pitchFamily="49" charset="0"/>
                        </a:rPr>
                        <a:t>: name 'sqrt' is not defined</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Falta el prefijo math.</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2009260"/>
                  </a:ext>
                </a:extLst>
              </a:tr>
              <a:tr h="346064">
                <a:tc>
                  <a:txBody>
                    <a:bodyPr/>
                    <a:lstStyle/>
                    <a:p>
                      <a:r>
                        <a:rPr lang="es-CO" sz="1400" dirty="0">
                          <a:latin typeface="Consolas" panose="020B0609020204030204" pitchFamily="49" charset="0"/>
                        </a:rPr>
                        <a:t>import </a:t>
                      </a:r>
                      <a:r>
                        <a:rPr lang="es-CO" sz="1400" dirty="0" err="1">
                          <a:latin typeface="Consolas" panose="020B0609020204030204" pitchFamily="49" charset="0"/>
                        </a:rPr>
                        <a:t>maths</a:t>
                      </a:r>
                      <a:endParaRPr lang="es-CO" sz="1400" dirty="0">
                        <a:latin typeface="Consolas" panose="020B0609020204030204" pitchFamily="49" charset="0"/>
                      </a:endParaRP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ModuleNotFoundError</a:t>
                      </a:r>
                      <a:r>
                        <a:rPr lang="en-US" sz="1400" dirty="0">
                          <a:latin typeface="Consolas" panose="020B0609020204030204" pitchFamily="49" charset="0"/>
                        </a:rPr>
                        <a:t>: No module named '</a:t>
                      </a:r>
                      <a:r>
                        <a:rPr lang="en-US" sz="1400" dirty="0" err="1">
                          <a:latin typeface="Consolas" panose="020B0609020204030204" pitchFamily="49" charset="0"/>
                        </a:rPr>
                        <a:t>maths</a:t>
                      </a:r>
                      <a:r>
                        <a:rPr lang="en-US" sz="1400" dirty="0">
                          <a:latin typeface="Consolas" panose="020B0609020204030204" pitchFamily="49" charset="0"/>
                        </a:rPr>
                        <a:t>'</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Nombre del módulo mal escrito</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5574775"/>
                  </a:ext>
                </a:extLst>
              </a:tr>
              <a:tr h="386626">
                <a:tc>
                  <a:txBody>
                    <a:bodyPr/>
                    <a:lstStyle/>
                    <a:p>
                      <a:r>
                        <a:rPr lang="es-CO" sz="1400" dirty="0" err="1">
                          <a:latin typeface="Consolas" panose="020B0609020204030204" pitchFamily="49" charset="0"/>
                        </a:rPr>
                        <a:t>math.Sqrt</a:t>
                      </a:r>
                      <a:r>
                        <a:rPr lang="es-CO" sz="1400" dirty="0">
                          <a:latin typeface="Consolas" panose="020B0609020204030204" pitchFamily="49" charset="0"/>
                        </a:rPr>
                        <a:t>(4)</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AttributeError</a:t>
                      </a:r>
                      <a:r>
                        <a:rPr lang="en-US" sz="1400" dirty="0">
                          <a:latin typeface="Consolas" panose="020B0609020204030204" pitchFamily="49" charset="0"/>
                        </a:rPr>
                        <a:t>: module 'math' has no attribute 'Sqrt'</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Python distingue mayúsculas de minúsculas</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7039871"/>
                  </a:ext>
                </a:extLst>
              </a:tr>
              <a:tr h="386626">
                <a:tc>
                  <a:txBody>
                    <a:bodyPr/>
                    <a:lstStyle/>
                    <a:p>
                      <a:r>
                        <a:rPr lang="es-CO" sz="1400" dirty="0" err="1">
                          <a:latin typeface="Consolas" panose="020B0609020204030204" pitchFamily="49" charset="0"/>
                        </a:rPr>
                        <a:t>math.sqrt</a:t>
                      </a:r>
                      <a:r>
                        <a:rPr lang="es-CO" sz="1400" dirty="0">
                          <a:latin typeface="Consolas" panose="020B0609020204030204" pitchFamily="49" charset="0"/>
                        </a:rPr>
                        <a:t>(-4)</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ValueError: math domain error</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Argumento fuera del dominio de la función</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4788896"/>
                  </a:ext>
                </a:extLst>
              </a:tr>
              <a:tr h="490581">
                <a:tc>
                  <a:txBody>
                    <a:bodyPr/>
                    <a:lstStyle/>
                    <a:p>
                      <a:r>
                        <a:rPr lang="es-CO" sz="1400" dirty="0" err="1">
                          <a:latin typeface="Consolas" panose="020B0609020204030204" pitchFamily="49" charset="0"/>
                        </a:rPr>
                        <a:t>math.factorial</a:t>
                      </a:r>
                      <a:r>
                        <a:rPr lang="es-CO" sz="1400" dirty="0">
                          <a:latin typeface="Consolas" panose="020B0609020204030204" pitchFamily="49" charset="0"/>
                        </a:rPr>
                        <a:t>(2.5)</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TypeError</a:t>
                      </a:r>
                      <a:r>
                        <a:rPr lang="en-US" sz="1400" dirty="0">
                          <a:latin typeface="Consolas" panose="020B0609020204030204" pitchFamily="49" charset="0"/>
                        </a:rPr>
                        <a:t>: 'float' object cannot be interpreted as an integer</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Tipo de argumento incorrecto</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1987873"/>
                  </a:ext>
                </a:extLst>
              </a:tr>
            </a:tbl>
          </a:graphicData>
        </a:graphic>
      </p:graphicFrame>
      <p:sp>
        <p:nvSpPr>
          <p:cNvPr id="14" name="CuadroTexto 13">
            <a:extLst>
              <a:ext uri="{FF2B5EF4-FFF2-40B4-BE49-F238E27FC236}">
                <a16:creationId xmlns:a16="http://schemas.microsoft.com/office/drawing/2014/main" id="{7C5D962F-8171-4D89-811A-08BD49BDD2DE}"/>
              </a:ext>
            </a:extLst>
          </p:cNvPr>
          <p:cNvSpPr txBox="1"/>
          <p:nvPr/>
        </p:nvSpPr>
        <p:spPr>
          <a:xfrm>
            <a:off x="251519" y="5561919"/>
            <a:ext cx="8728337" cy="923330"/>
          </a:xfrm>
          <a:prstGeom prst="rect">
            <a:avLst/>
          </a:prstGeom>
          <a:solidFill>
            <a:schemeClr val="accent2">
              <a:lumMod val="20000"/>
              <a:lumOff val="80000"/>
            </a:schemeClr>
          </a:solidFill>
        </p:spPr>
        <p:txBody>
          <a:bodyPr wrap="square">
            <a:spAutoFit/>
          </a:bodyPr>
          <a:lstStyle/>
          <a:p>
            <a:r>
              <a:rPr lang="es-CO" b="1" dirty="0"/>
              <a:t>⚠️ El error más peligroso es el que no muestra mensaje</a:t>
            </a:r>
            <a:r>
              <a:rPr lang="es-CO" dirty="0"/>
              <a:t>: </a:t>
            </a:r>
            <a:r>
              <a:rPr lang="es-CO" sz="1600" b="1" dirty="0" err="1">
                <a:latin typeface="Consolas" panose="020B0609020204030204" pitchFamily="49" charset="0"/>
              </a:rPr>
              <a:t>math.sin</a:t>
            </a:r>
            <a:r>
              <a:rPr lang="es-CO" sz="1600" b="1" dirty="0">
                <a:latin typeface="Consolas" panose="020B0609020204030204" pitchFamily="49" charset="0"/>
              </a:rPr>
              <a:t>(30)</a:t>
            </a:r>
            <a:r>
              <a:rPr lang="es-CO" dirty="0"/>
              <a:t> no produce error, pero el resultado es incorrecto porque se esperaban radianes. Python solo detecta errores de </a:t>
            </a:r>
            <a:r>
              <a:rPr lang="es-CO" b="1" dirty="0"/>
              <a:t>escritura</a:t>
            </a:r>
            <a:r>
              <a:rPr lang="es-CO" dirty="0"/>
              <a:t>, no de </a:t>
            </a:r>
            <a:r>
              <a:rPr lang="es-CO" b="1" dirty="0"/>
              <a:t>razonamiento</a:t>
            </a:r>
            <a:r>
              <a:rPr lang="es-CO" dirty="0"/>
              <a:t>. Para estos últimos sirven las pruebas (</a:t>
            </a:r>
            <a:r>
              <a:rPr lang="es-CO" sz="1600" b="1" dirty="0">
                <a:latin typeface="Consolas" panose="020B0609020204030204" pitchFamily="49" charset="0"/>
              </a:rPr>
              <a:t>assert</a:t>
            </a:r>
            <a:r>
              <a:rPr lang="es-CO" dirty="0"/>
              <a:t>).</a:t>
            </a:r>
          </a:p>
        </p:txBody>
      </p:sp>
    </p:spTree>
    <p:extLst>
      <p:ext uri="{BB962C8B-B14F-4D97-AF65-F5344CB8AC3E}">
        <p14:creationId xmlns:p14="http://schemas.microsoft.com/office/powerpoint/2010/main" val="31120719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Ejercicio de repaso: adivina el número</a:t>
            </a:r>
            <a:endParaRPr lang="es-MX" sz="3200" dirty="0">
              <a:latin typeface="Consolas" panose="020B0609020204030204" pitchFamily="49" charset="0"/>
            </a:endParaRPr>
          </a:p>
        </p:txBody>
      </p:sp>
      <p:sp>
        <p:nvSpPr>
          <p:cNvPr id="13" name="12 Rectángulo"/>
          <p:cNvSpPr/>
          <p:nvPr/>
        </p:nvSpPr>
        <p:spPr>
          <a:xfrm>
            <a:off x="144639" y="764704"/>
            <a:ext cx="8835218" cy="5940088"/>
          </a:xfrm>
          <a:prstGeom prst="rect">
            <a:avLst/>
          </a:prstGeom>
        </p:spPr>
        <p:txBody>
          <a:bodyPr wrap="square">
            <a:spAutoFit/>
          </a:bodyPr>
          <a:lstStyle/>
          <a:p>
            <a:pPr marL="342900" indent="-342900" rtl="0">
              <a:buFont typeface="Arial" panose="020B0604020202020204" pitchFamily="34" charset="0"/>
              <a:buChar char="•"/>
            </a:pPr>
            <a:r>
              <a:rPr lang="es-MX" sz="2000" dirty="0"/>
              <a:t>El programa elige un número entero al azar entre 1 y 100, y el usuario intenta adivinarlo con las pistas mayor o menor.</a:t>
            </a:r>
          </a:p>
          <a:p>
            <a:pPr marL="342900" indent="-342900" rtl="0">
              <a:buFont typeface="Arial" panose="020B0604020202020204" pitchFamily="34" charset="0"/>
              <a:buChar char="•"/>
            </a:pPr>
            <a:r>
              <a:rPr lang="es-MX" sz="2000" b="1" dirty="0"/>
              <a:t>Aplique el procedimiento completo</a:t>
            </a:r>
            <a:r>
              <a:rPr lang="es-MX" sz="2000" dirty="0"/>
              <a:t>: </a:t>
            </a:r>
          </a:p>
          <a:p>
            <a:pPr marL="914400" lvl="1" indent="-457200">
              <a:buFont typeface="+mj-lt"/>
              <a:buAutoNum type="arabicPeriod"/>
            </a:pPr>
            <a:r>
              <a:rPr lang="es-MX" sz="2000" dirty="0"/>
              <a:t>Entender</a:t>
            </a:r>
          </a:p>
          <a:p>
            <a:pPr marL="914400" lvl="1" indent="-457200">
              <a:buFont typeface="+mj-lt"/>
              <a:buAutoNum type="arabicPeriod"/>
            </a:pPr>
            <a:r>
              <a:rPr lang="es-MX" sz="2000" dirty="0"/>
              <a:t>diseñar (top-</a:t>
            </a:r>
            <a:r>
              <a:rPr lang="es-MX" sz="2000" dirty="0" err="1"/>
              <a:t>down</a:t>
            </a:r>
            <a:r>
              <a:rPr lang="es-MX" sz="2000" dirty="0"/>
              <a:t>)</a:t>
            </a:r>
          </a:p>
          <a:p>
            <a:pPr marL="914400" lvl="1" indent="-457200">
              <a:buFont typeface="+mj-lt"/>
              <a:buAutoNum type="arabicPeriod"/>
            </a:pPr>
            <a:r>
              <a:rPr lang="es-MX" sz="2000" dirty="0"/>
              <a:t>Especificar</a:t>
            </a:r>
          </a:p>
          <a:p>
            <a:pPr marL="914400" lvl="1" indent="-457200">
              <a:buFont typeface="+mj-lt"/>
              <a:buAutoNum type="arabicPeriod"/>
            </a:pPr>
            <a:r>
              <a:rPr lang="es-MX" sz="2000" dirty="0"/>
              <a:t>Implementar con stubs </a:t>
            </a:r>
          </a:p>
          <a:p>
            <a:pPr marL="914400" lvl="1" indent="-457200">
              <a:buFont typeface="+mj-lt"/>
              <a:buAutoNum type="arabicPeriod"/>
            </a:pPr>
            <a:r>
              <a:rPr lang="es-MX" sz="2000" dirty="0"/>
              <a:t>probar con </a:t>
            </a:r>
            <a:r>
              <a:rPr lang="es-MX" dirty="0" err="1">
                <a:latin typeface="Consolas" panose="020B0609020204030204" pitchFamily="49" charset="0"/>
              </a:rPr>
              <a:t>random.seed</a:t>
            </a:r>
            <a:r>
              <a:rPr lang="es-MX" dirty="0">
                <a:latin typeface="Consolas" panose="020B0609020204030204" pitchFamily="49" charset="0"/>
              </a:rPr>
              <a:t>()</a:t>
            </a:r>
            <a:r>
              <a:rPr lang="es-MX" sz="2000" dirty="0"/>
              <a:t>.</a:t>
            </a:r>
          </a:p>
          <a:p>
            <a:pPr marL="342900" indent="-342900" rtl="0">
              <a:buFont typeface="Arial" panose="020B0604020202020204" pitchFamily="34" charset="0"/>
              <a:buChar char="•"/>
            </a:pPr>
            <a:r>
              <a:rPr lang="es-MX" sz="2000" b="1" dirty="0"/>
              <a:t>Guía autocontenida</a:t>
            </a:r>
            <a:r>
              <a:rPr lang="es-MX" sz="2000" dirty="0"/>
              <a:t>: (</a:t>
            </a:r>
            <a:r>
              <a:rPr lang="es-MX" sz="2000" dirty="0">
                <a:hlinkClick r:id="rId2"/>
              </a:rPr>
              <a:t>link</a:t>
            </a:r>
            <a:r>
              <a:rPr lang="es-MX" sz="2000" dirty="0"/>
              <a:t>)</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p:txBody>
      </p:sp>
      <p:sp>
        <p:nvSpPr>
          <p:cNvPr id="12" name="CuadroTexto 11">
            <a:extLst>
              <a:ext uri="{FF2B5EF4-FFF2-40B4-BE49-F238E27FC236}">
                <a16:creationId xmlns:a16="http://schemas.microsoft.com/office/drawing/2014/main" id="{C4FB21AD-030D-441F-8D12-CC51AC50E49A}"/>
              </a:ext>
            </a:extLst>
          </p:cNvPr>
          <p:cNvSpPr txBox="1"/>
          <p:nvPr/>
        </p:nvSpPr>
        <p:spPr>
          <a:xfrm>
            <a:off x="290704" y="4005064"/>
            <a:ext cx="8389823" cy="1754326"/>
          </a:xfrm>
          <a:prstGeom prst="rect">
            <a:avLst/>
          </a:prstGeom>
          <a:solidFill>
            <a:schemeClr val="accent2">
              <a:lumMod val="20000"/>
              <a:lumOff val="80000"/>
            </a:schemeClr>
          </a:solidFill>
        </p:spPr>
        <p:txBody>
          <a:bodyPr wrap="square">
            <a:spAutoFit/>
          </a:bodyPr>
          <a:lstStyle/>
          <a:p>
            <a:r>
              <a:rPr lang="es-MX" dirty="0"/>
              <a:t>⚠️ </a:t>
            </a:r>
            <a:r>
              <a:rPr lang="es-MX" b="1" dirty="0"/>
              <a:t>Precaución</a:t>
            </a:r>
            <a:r>
              <a:rPr lang="es-MX" dirty="0"/>
              <a:t>: no nombre sus archivos </a:t>
            </a:r>
            <a:r>
              <a:rPr lang="es-MX" sz="1600" dirty="0">
                <a:latin typeface="Consolas" panose="020B0609020204030204" pitchFamily="49" charset="0"/>
              </a:rPr>
              <a:t>random.py</a:t>
            </a:r>
            <a:r>
              <a:rPr lang="es-MX" dirty="0"/>
              <a:t>. Si lo hace, </a:t>
            </a:r>
            <a:r>
              <a:rPr lang="es-MX" sz="1600" dirty="0">
                <a:latin typeface="Consolas" panose="020B0609020204030204" pitchFamily="49" charset="0"/>
              </a:rPr>
              <a:t>import random</a:t>
            </a:r>
            <a:r>
              <a:rPr lang="es-MX" dirty="0"/>
              <a:t> carga su propio archivo en lugar del módulo de Python, y aparece el error </a:t>
            </a:r>
            <a:r>
              <a:rPr lang="es-MX" sz="1600" dirty="0" err="1">
                <a:latin typeface="Consolas" panose="020B0609020204030204" pitchFamily="49" charset="0"/>
              </a:rPr>
              <a:t>AttributeError</a:t>
            </a:r>
            <a:r>
              <a:rPr lang="es-MX" sz="1600" dirty="0">
                <a:latin typeface="Consolas" panose="020B0609020204030204" pitchFamily="49" charset="0"/>
              </a:rPr>
              <a:t>: module 'random' has no </a:t>
            </a:r>
            <a:r>
              <a:rPr lang="es-MX" sz="1600" dirty="0" err="1">
                <a:latin typeface="Consolas" panose="020B0609020204030204" pitchFamily="49" charset="0"/>
              </a:rPr>
              <a:t>attribute</a:t>
            </a:r>
            <a:r>
              <a:rPr lang="es-MX" sz="1600" dirty="0">
                <a:latin typeface="Consolas" panose="020B0609020204030204" pitchFamily="49" charset="0"/>
              </a:rPr>
              <a:t> '</a:t>
            </a:r>
            <a:r>
              <a:rPr lang="es-MX" sz="1600" dirty="0" err="1">
                <a:latin typeface="Consolas" panose="020B0609020204030204" pitchFamily="49" charset="0"/>
              </a:rPr>
              <a:t>randint</a:t>
            </a:r>
            <a:r>
              <a:rPr lang="es-MX" sz="1600" dirty="0">
                <a:latin typeface="Consolas" panose="020B0609020204030204" pitchFamily="49" charset="0"/>
              </a:rPr>
              <a:t>’</a:t>
            </a:r>
            <a:r>
              <a:rPr lang="es-MX" dirty="0"/>
              <a:t>.</a:t>
            </a:r>
          </a:p>
          <a:p>
            <a:endParaRPr lang="es-MX" dirty="0"/>
          </a:p>
          <a:p>
            <a:r>
              <a:rPr lang="es-MX" b="1" dirty="0"/>
              <a:t>Importante</a:t>
            </a:r>
            <a:r>
              <a:rPr lang="es-MX" dirty="0"/>
              <a:t>: este ejercicio integra todo lo visto en la clase: funciones, especificación, pruebas, top-</a:t>
            </a:r>
            <a:r>
              <a:rPr lang="es-MX" dirty="0" err="1"/>
              <a:t>down</a:t>
            </a:r>
            <a:r>
              <a:rPr lang="es-MX" dirty="0"/>
              <a:t> y librerías.</a:t>
            </a:r>
            <a:endParaRPr lang="es-CO" dirty="0"/>
          </a:p>
        </p:txBody>
      </p:sp>
    </p:spTree>
    <p:extLst>
      <p:ext uri="{BB962C8B-B14F-4D97-AF65-F5344CB8AC3E}">
        <p14:creationId xmlns:p14="http://schemas.microsoft.com/office/powerpoint/2010/main" val="5139366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Dividir un programa en varios archivos</a:t>
            </a:r>
            <a:endParaRPr lang="es-MX" sz="3200" dirty="0">
              <a:latin typeface="Consolas" panose="020B0609020204030204" pitchFamily="49" charset="0"/>
            </a:endParaRPr>
          </a:p>
        </p:txBody>
      </p:sp>
      <p:sp>
        <p:nvSpPr>
          <p:cNvPr id="13" name="12 Rectángulo"/>
          <p:cNvSpPr/>
          <p:nvPr/>
        </p:nvSpPr>
        <p:spPr>
          <a:xfrm>
            <a:off x="144639" y="764704"/>
            <a:ext cx="8835218" cy="4093428"/>
          </a:xfrm>
          <a:prstGeom prst="rect">
            <a:avLst/>
          </a:prstGeom>
        </p:spPr>
        <p:txBody>
          <a:bodyPr wrap="square">
            <a:spAutoFit/>
          </a:bodyPr>
          <a:lstStyle/>
          <a:p>
            <a:pPr marL="342900" indent="-342900" rtl="0">
              <a:buFont typeface="Arial" panose="020B0604020202020204" pitchFamily="34" charset="0"/>
              <a:buChar char="•"/>
            </a:pPr>
            <a:r>
              <a:rPr lang="es-MX" sz="2000" dirty="0"/>
              <a:t>Un módulo es un archivo </a:t>
            </a:r>
            <a:r>
              <a:rPr lang="es-MX" sz="1600" b="1" dirty="0">
                <a:latin typeface="Consolas" panose="020B0609020204030204" pitchFamily="49" charset="0"/>
              </a:rPr>
              <a:t>.py</a:t>
            </a:r>
            <a:r>
              <a:rPr lang="es-MX" sz="2000" dirty="0"/>
              <a:t> cuyas funciones pueden usarse desde otro archivo.</a:t>
            </a:r>
          </a:p>
          <a:p>
            <a:pPr marL="342900" indent="-342900" rtl="0">
              <a:buFont typeface="Arial" panose="020B0604020202020204" pitchFamily="34" charset="0"/>
              <a:buChar char="•"/>
            </a:pPr>
            <a:r>
              <a:rPr lang="es-MX" sz="2000" dirty="0"/>
              <a:t>Se importa igual que </a:t>
            </a:r>
            <a:r>
              <a:rPr lang="es-MX" sz="1600" b="1" dirty="0">
                <a:latin typeface="Consolas" panose="020B0609020204030204" pitchFamily="49" charset="0"/>
              </a:rPr>
              <a:t>math</a:t>
            </a:r>
            <a:r>
              <a:rPr lang="es-MX" sz="2000" dirty="0"/>
              <a:t> o </a:t>
            </a:r>
            <a:r>
              <a:rPr lang="es-MX" sz="1600" b="1" dirty="0"/>
              <a:t>random</a:t>
            </a:r>
            <a:r>
              <a:rPr lang="es-MX" sz="2000" dirty="0"/>
              <a:t>, con el nombre del archivo sin la extensión </a:t>
            </a:r>
            <a:r>
              <a:rPr lang="es-MX" dirty="0">
                <a:latin typeface="Consolas" panose="020B0609020204030204" pitchFamily="49" charset="0"/>
              </a:rPr>
              <a:t>.py</a:t>
            </a:r>
            <a:r>
              <a:rPr lang="es-MX" sz="2000" dirty="0"/>
              <a:t>.</a:t>
            </a:r>
          </a:p>
          <a:p>
            <a:pPr marL="342900" indent="-342900" rtl="0">
              <a:buFont typeface="Arial" panose="020B0604020202020204" pitchFamily="34" charset="0"/>
              <a:buChar char="•"/>
            </a:pPr>
            <a:r>
              <a:rPr lang="es-MX" sz="2000" dirty="0"/>
              <a:t>Ambos archivos deben estar en la misma carpeta.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it-IT" sz="2000" b="1" dirty="0"/>
              <a:t>Archivo</a:t>
            </a:r>
            <a:r>
              <a:rPr lang="it-IT" sz="2000" dirty="0"/>
              <a:t>: </a:t>
            </a:r>
            <a:r>
              <a:rPr lang="it-IT" sz="1600" dirty="0">
                <a:latin typeface="Consolas" panose="020B0609020204030204" pitchFamily="49" charset="0"/>
              </a:rPr>
              <a:t>1_sin_guarda/main.py</a:t>
            </a:r>
            <a:endParaRPr lang="es-MX" dirty="0">
              <a:latin typeface="Consolas" panose="020B0609020204030204" pitchFamily="49" charset="0"/>
            </a:endParaRPr>
          </a:p>
        </p:txBody>
      </p:sp>
      <p:pic>
        <p:nvPicPr>
          <p:cNvPr id="3" name="Imagen 2">
            <a:extLst>
              <a:ext uri="{FF2B5EF4-FFF2-40B4-BE49-F238E27FC236}">
                <a16:creationId xmlns:a16="http://schemas.microsoft.com/office/drawing/2014/main" id="{12E834B2-98BD-4903-A580-3766123E57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640" y="2110025"/>
            <a:ext cx="6336704" cy="2183071"/>
          </a:xfrm>
          <a:prstGeom prst="rect">
            <a:avLst/>
          </a:prstGeom>
        </p:spPr>
      </p:pic>
      <p:sp>
        <p:nvSpPr>
          <p:cNvPr id="9" name="CuadroTexto 8">
            <a:extLst>
              <a:ext uri="{FF2B5EF4-FFF2-40B4-BE49-F238E27FC236}">
                <a16:creationId xmlns:a16="http://schemas.microsoft.com/office/drawing/2014/main" id="{CEC4C591-D670-4243-B7E9-14D4E839D6C7}"/>
              </a:ext>
            </a:extLst>
          </p:cNvPr>
          <p:cNvSpPr txBox="1"/>
          <p:nvPr/>
        </p:nvSpPr>
        <p:spPr>
          <a:xfrm>
            <a:off x="1907704" y="5086925"/>
            <a:ext cx="5688632" cy="646331"/>
          </a:xfrm>
          <a:prstGeom prst="rect">
            <a:avLst/>
          </a:prstGeom>
          <a:noFill/>
          <a:ln>
            <a:solidFill>
              <a:schemeClr val="tx1"/>
            </a:solidFill>
          </a:ln>
        </p:spPr>
        <p:txBody>
          <a:bodyPr wrap="square">
            <a:spAutoFit/>
          </a:bodyPr>
          <a:lstStyle/>
          <a:p>
            <a:r>
              <a:rPr lang="es-CO" sz="1200" dirty="0">
                <a:latin typeface="Consolas" panose="020B0609020204030204" pitchFamily="49" charset="0"/>
              </a:rPr>
              <a:t> 4  </a:t>
            </a:r>
            <a:r>
              <a:rPr lang="es-CO" sz="1200" dirty="0" err="1">
                <a:latin typeface="Consolas" panose="020B0609020204030204" pitchFamily="49" charset="0"/>
              </a:rPr>
              <a:t>import</a:t>
            </a:r>
            <a:r>
              <a:rPr lang="es-CO" sz="1200" dirty="0">
                <a:latin typeface="Consolas" panose="020B0609020204030204" pitchFamily="49" charset="0"/>
              </a:rPr>
              <a:t> conversiones</a:t>
            </a:r>
          </a:p>
          <a:p>
            <a:r>
              <a:rPr lang="es-CO" sz="1200" dirty="0">
                <a:latin typeface="Consolas" panose="020B0609020204030204" pitchFamily="49" charset="0"/>
              </a:rPr>
              <a:t>...</a:t>
            </a:r>
          </a:p>
          <a:p>
            <a:r>
              <a:rPr lang="es-CO" sz="1200" dirty="0">
                <a:latin typeface="Consolas" panose="020B0609020204030204" pitchFamily="49" charset="0"/>
              </a:rPr>
              <a:t>15          </a:t>
            </a:r>
            <a:r>
              <a:rPr lang="es-CO" sz="1200" dirty="0" err="1">
                <a:latin typeface="Consolas" panose="020B0609020204030204" pitchFamily="49" charset="0"/>
              </a:rPr>
              <a:t>temp_f</a:t>
            </a:r>
            <a:r>
              <a:rPr lang="es-CO" sz="1200" dirty="0">
                <a:latin typeface="Consolas" panose="020B0609020204030204" pitchFamily="49" charset="0"/>
              </a:rPr>
              <a:t> = </a:t>
            </a:r>
            <a:r>
              <a:rPr lang="es-CO" sz="1200" dirty="0" err="1">
                <a:latin typeface="Consolas" panose="020B0609020204030204" pitchFamily="49" charset="0"/>
              </a:rPr>
              <a:t>conversiones.celsius_a_fahrenheit</a:t>
            </a:r>
            <a:r>
              <a:rPr lang="es-CO" sz="1200" dirty="0">
                <a:latin typeface="Consolas" panose="020B0609020204030204" pitchFamily="49" charset="0"/>
              </a:rPr>
              <a:t>(</a:t>
            </a:r>
            <a:r>
              <a:rPr lang="es-CO" sz="1200" dirty="0" err="1">
                <a:latin typeface="Consolas" panose="020B0609020204030204" pitchFamily="49" charset="0"/>
              </a:rPr>
              <a:t>temp_c</a:t>
            </a:r>
            <a:r>
              <a:rPr lang="es-CO" sz="1200" dirty="0">
                <a:latin typeface="Consolas" panose="020B0609020204030204" pitchFamily="49" charset="0"/>
              </a:rPr>
              <a:t>)</a:t>
            </a:r>
          </a:p>
        </p:txBody>
      </p:sp>
      <p:sp>
        <p:nvSpPr>
          <p:cNvPr id="10" name="CuadroTexto 9">
            <a:extLst>
              <a:ext uri="{FF2B5EF4-FFF2-40B4-BE49-F238E27FC236}">
                <a16:creationId xmlns:a16="http://schemas.microsoft.com/office/drawing/2014/main" id="{71EF99D5-BFD2-4E0D-9096-B360583F1740}"/>
              </a:ext>
            </a:extLst>
          </p:cNvPr>
          <p:cNvSpPr txBox="1"/>
          <p:nvPr/>
        </p:nvSpPr>
        <p:spPr>
          <a:xfrm>
            <a:off x="56639" y="6023029"/>
            <a:ext cx="8979857" cy="646331"/>
          </a:xfrm>
          <a:prstGeom prst="rect">
            <a:avLst/>
          </a:prstGeom>
          <a:solidFill>
            <a:schemeClr val="bg2"/>
          </a:solidFill>
        </p:spPr>
        <p:txBody>
          <a:bodyPr wrap="square">
            <a:spAutoFit/>
          </a:bodyPr>
          <a:lstStyle/>
          <a:p>
            <a:r>
              <a:rPr lang="es-MX" dirty="0"/>
              <a:t>Para usar una función del módulo se escribe </a:t>
            </a:r>
            <a:r>
              <a:rPr lang="es-MX" sz="1600" b="1" dirty="0" err="1">
                <a:latin typeface="Consolas" panose="020B0609020204030204" pitchFamily="49" charset="0"/>
              </a:rPr>
              <a:t>nombre_del_módulo.nombre_de_la_función</a:t>
            </a:r>
            <a:r>
              <a:rPr lang="es-MX" sz="1600" b="1" dirty="0">
                <a:latin typeface="Consolas" panose="020B0609020204030204" pitchFamily="49" charset="0"/>
              </a:rPr>
              <a:t>(...)</a:t>
            </a:r>
            <a:r>
              <a:rPr lang="es-MX" dirty="0"/>
              <a:t>, de la misma forma que </a:t>
            </a:r>
            <a:r>
              <a:rPr lang="es-MX" sz="1600" b="1" dirty="0" err="1">
                <a:latin typeface="Consolas" panose="020B0609020204030204" pitchFamily="49" charset="0"/>
              </a:rPr>
              <a:t>math.sqrt</a:t>
            </a:r>
            <a:r>
              <a:rPr lang="es-MX" sz="1600" b="1" dirty="0">
                <a:latin typeface="Consolas" panose="020B0609020204030204" pitchFamily="49" charset="0"/>
              </a:rPr>
              <a:t>(...)</a:t>
            </a:r>
            <a:r>
              <a:rPr lang="es-MX" dirty="0"/>
              <a:t>. </a:t>
            </a:r>
            <a:endParaRPr lang="es-CO" dirty="0"/>
          </a:p>
        </p:txBody>
      </p:sp>
    </p:spTree>
    <p:extLst>
      <p:ext uri="{BB962C8B-B14F-4D97-AF65-F5344CB8AC3E}">
        <p14:creationId xmlns:p14="http://schemas.microsoft.com/office/powerpoint/2010/main" val="39774421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¿Qué ocurre al importar un módulo?</a:t>
            </a:r>
            <a:endParaRPr lang="es-MX" sz="3200" dirty="0">
              <a:latin typeface="Consolas" panose="020B0609020204030204" pitchFamily="49" charset="0"/>
            </a:endParaRPr>
          </a:p>
        </p:txBody>
      </p:sp>
      <p:sp>
        <p:nvSpPr>
          <p:cNvPr id="13" name="12 Rectángulo"/>
          <p:cNvSpPr/>
          <p:nvPr/>
        </p:nvSpPr>
        <p:spPr>
          <a:xfrm>
            <a:off x="144639" y="775732"/>
            <a:ext cx="8835218" cy="4093428"/>
          </a:xfrm>
          <a:prstGeom prst="rect">
            <a:avLst/>
          </a:prstGeom>
        </p:spPr>
        <p:txBody>
          <a:bodyPr wrap="square">
            <a:spAutoFit/>
          </a:bodyPr>
          <a:lstStyle/>
          <a:p>
            <a:pPr marL="342900" indent="-342900" rtl="0">
              <a:buFont typeface="Arial" panose="020B0604020202020204" pitchFamily="34" charset="0"/>
              <a:buChar char="•"/>
            </a:pPr>
            <a:r>
              <a:rPr lang="es-MX" b="1" dirty="0" err="1">
                <a:latin typeface="Consolas" panose="020B0609020204030204" pitchFamily="49" charset="0"/>
              </a:rPr>
              <a:t>import</a:t>
            </a:r>
            <a:r>
              <a:rPr lang="es-MX" b="1" dirty="0">
                <a:latin typeface="Consolas" panose="020B0609020204030204" pitchFamily="49" charset="0"/>
              </a:rPr>
              <a:t> conversiones</a:t>
            </a:r>
            <a:r>
              <a:rPr lang="es-MX" sz="2000" dirty="0"/>
              <a:t> </a:t>
            </a:r>
            <a:r>
              <a:rPr lang="es-MX" sz="2000" b="1" dirty="0"/>
              <a:t>ejecuta todo el archivo</a:t>
            </a:r>
            <a:r>
              <a:rPr lang="es-MX" sz="2000" dirty="0"/>
              <a:t> de arriba hacia abajo, no solo las definiciones </a:t>
            </a:r>
            <a:r>
              <a:rPr lang="es-MX" b="1" dirty="0">
                <a:latin typeface="Consolas" panose="020B0609020204030204" pitchFamily="49" charset="0"/>
              </a:rPr>
              <a:t>def</a:t>
            </a:r>
            <a:r>
              <a:rPr lang="es-MX" sz="2000" dirty="0"/>
              <a:t>.</a:t>
            </a:r>
          </a:p>
          <a:p>
            <a:pPr marL="342900" indent="-342900" rtl="0">
              <a:buFont typeface="Arial" panose="020B0604020202020204" pitchFamily="34" charset="0"/>
              <a:buChar char="•"/>
            </a:pPr>
            <a:r>
              <a:rPr lang="es-MX" sz="2000" dirty="0"/>
              <a:t>Si las pruebas están al final del módulo, también se ejecutan al importarlo.</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it-IT" sz="2000" b="1" dirty="0"/>
              <a:t>Archivo</a:t>
            </a:r>
            <a:r>
              <a:rPr lang="it-IT" sz="2000" dirty="0"/>
              <a:t>: </a:t>
            </a:r>
            <a:r>
              <a:rPr lang="it-IT" sz="1600" dirty="0">
                <a:latin typeface="Consolas" panose="020B0609020204030204" pitchFamily="49" charset="0"/>
              </a:rPr>
              <a:t>1_sin_guarda/conversiones.py</a:t>
            </a:r>
            <a:endParaRPr lang="es-MX" dirty="0">
              <a:latin typeface="Consolas" panose="020B0609020204030204" pitchFamily="49" charset="0"/>
            </a:endParaRPr>
          </a:p>
        </p:txBody>
      </p:sp>
      <p:sp>
        <p:nvSpPr>
          <p:cNvPr id="9" name="CuadroTexto 8">
            <a:extLst>
              <a:ext uri="{FF2B5EF4-FFF2-40B4-BE49-F238E27FC236}">
                <a16:creationId xmlns:a16="http://schemas.microsoft.com/office/drawing/2014/main" id="{CEC4C591-D670-4243-B7E9-14D4E839D6C7}"/>
              </a:ext>
            </a:extLst>
          </p:cNvPr>
          <p:cNvSpPr txBox="1"/>
          <p:nvPr/>
        </p:nvSpPr>
        <p:spPr>
          <a:xfrm>
            <a:off x="1907704" y="4892967"/>
            <a:ext cx="5688632" cy="1200329"/>
          </a:xfrm>
          <a:prstGeom prst="rect">
            <a:avLst/>
          </a:prstGeom>
          <a:noFill/>
          <a:ln>
            <a:solidFill>
              <a:schemeClr val="tx1"/>
            </a:solidFill>
          </a:ln>
        </p:spPr>
        <p:txBody>
          <a:bodyPr wrap="square">
            <a:spAutoFit/>
          </a:bodyPr>
          <a:lstStyle/>
          <a:p>
            <a:r>
              <a:rPr lang="es-CO" sz="1200" dirty="0">
                <a:latin typeface="Consolas" panose="020B0609020204030204" pitchFamily="49" charset="0"/>
              </a:rPr>
              <a:t>31  ############ Pruebas ##############</a:t>
            </a:r>
          </a:p>
          <a:p>
            <a:r>
              <a:rPr lang="es-CO" sz="1200" dirty="0">
                <a:latin typeface="Consolas" panose="020B0609020204030204" pitchFamily="49" charset="0"/>
              </a:rPr>
              <a:t>32  </a:t>
            </a:r>
            <a:r>
              <a:rPr lang="es-CO" sz="1200" dirty="0" err="1">
                <a:latin typeface="Consolas" panose="020B0609020204030204" pitchFamily="49" charset="0"/>
              </a:rPr>
              <a:t>assert</a:t>
            </a:r>
            <a:r>
              <a:rPr lang="es-CO" sz="1200" dirty="0">
                <a:latin typeface="Consolas" panose="020B0609020204030204" pitchFamily="49" charset="0"/>
              </a:rPr>
              <a:t> round(</a:t>
            </a:r>
            <a:r>
              <a:rPr lang="es-CO" sz="1200" dirty="0" err="1">
                <a:latin typeface="Consolas" panose="020B0609020204030204" pitchFamily="49" charset="0"/>
              </a:rPr>
              <a:t>celsius_a_fahrenheit</a:t>
            </a:r>
            <a:r>
              <a:rPr lang="es-CO" sz="1200" dirty="0">
                <a:latin typeface="Consolas" panose="020B0609020204030204" pitchFamily="49" charset="0"/>
              </a:rPr>
              <a:t>(100), 2) == 212.0</a:t>
            </a:r>
          </a:p>
          <a:p>
            <a:r>
              <a:rPr lang="es-CO" sz="1200" dirty="0">
                <a:latin typeface="Consolas" panose="020B0609020204030204" pitchFamily="49" charset="0"/>
              </a:rPr>
              <a:t>33  </a:t>
            </a:r>
            <a:r>
              <a:rPr lang="es-CO" sz="1200" dirty="0" err="1">
                <a:latin typeface="Consolas" panose="020B0609020204030204" pitchFamily="49" charset="0"/>
              </a:rPr>
              <a:t>assert</a:t>
            </a:r>
            <a:r>
              <a:rPr lang="es-CO" sz="1200" dirty="0">
                <a:latin typeface="Consolas" panose="020B0609020204030204" pitchFamily="49" charset="0"/>
              </a:rPr>
              <a:t> round(</a:t>
            </a:r>
            <a:r>
              <a:rPr lang="es-CO" sz="1200" dirty="0" err="1">
                <a:latin typeface="Consolas" panose="020B0609020204030204" pitchFamily="49" charset="0"/>
              </a:rPr>
              <a:t>celsius_a_fahrenheit</a:t>
            </a:r>
            <a:r>
              <a:rPr lang="es-CO" sz="1200" dirty="0">
                <a:latin typeface="Consolas" panose="020B0609020204030204" pitchFamily="49" charset="0"/>
              </a:rPr>
              <a:t>(0), 2) == 32.0</a:t>
            </a:r>
          </a:p>
          <a:p>
            <a:r>
              <a:rPr lang="es-CO" sz="1200" dirty="0">
                <a:latin typeface="Consolas" panose="020B0609020204030204" pitchFamily="49" charset="0"/>
              </a:rPr>
              <a:t>34  </a:t>
            </a:r>
            <a:r>
              <a:rPr lang="es-CO" sz="1200" dirty="0" err="1">
                <a:latin typeface="Consolas" panose="020B0609020204030204" pitchFamily="49" charset="0"/>
              </a:rPr>
              <a:t>assert</a:t>
            </a:r>
            <a:r>
              <a:rPr lang="es-CO" sz="1200" dirty="0">
                <a:latin typeface="Consolas" panose="020B0609020204030204" pitchFamily="49" charset="0"/>
              </a:rPr>
              <a:t> round(</a:t>
            </a:r>
            <a:r>
              <a:rPr lang="es-CO" sz="1200" dirty="0" err="1">
                <a:latin typeface="Consolas" panose="020B0609020204030204" pitchFamily="49" charset="0"/>
              </a:rPr>
              <a:t>celsius_a_kelvin</a:t>
            </a:r>
            <a:r>
              <a:rPr lang="es-CO" sz="1200" dirty="0">
                <a:latin typeface="Consolas" panose="020B0609020204030204" pitchFamily="49" charset="0"/>
              </a:rPr>
              <a:t>(25), 2) == 298.15</a:t>
            </a:r>
          </a:p>
          <a:p>
            <a:r>
              <a:rPr lang="es-CO" sz="1200" dirty="0">
                <a:latin typeface="Consolas" panose="020B0609020204030204" pitchFamily="49" charset="0"/>
              </a:rPr>
              <a:t>35  </a:t>
            </a:r>
            <a:r>
              <a:rPr lang="es-CO" sz="1200" dirty="0" err="1">
                <a:latin typeface="Consolas" panose="020B0609020204030204" pitchFamily="49" charset="0"/>
              </a:rPr>
              <a:t>assert</a:t>
            </a:r>
            <a:r>
              <a:rPr lang="es-CO" sz="1200" dirty="0">
                <a:latin typeface="Consolas" panose="020B0609020204030204" pitchFamily="49" charset="0"/>
              </a:rPr>
              <a:t> round(</a:t>
            </a:r>
            <a:r>
              <a:rPr lang="es-CO" sz="1200" dirty="0" err="1">
                <a:latin typeface="Consolas" panose="020B0609020204030204" pitchFamily="49" charset="0"/>
              </a:rPr>
              <a:t>celsius_a_kelvin</a:t>
            </a:r>
            <a:r>
              <a:rPr lang="es-CO" sz="1200" dirty="0">
                <a:latin typeface="Consolas" panose="020B0609020204030204" pitchFamily="49" charset="0"/>
              </a:rPr>
              <a:t>(-273.15), 2) == 0.0</a:t>
            </a:r>
          </a:p>
          <a:p>
            <a:r>
              <a:rPr lang="es-CO" sz="1200" dirty="0">
                <a:latin typeface="Consolas" panose="020B0609020204030204" pitchFamily="49" charset="0"/>
              </a:rPr>
              <a:t>36  print("Pruebas de conversiones: todas pasaron")</a:t>
            </a:r>
          </a:p>
        </p:txBody>
      </p:sp>
      <p:sp>
        <p:nvSpPr>
          <p:cNvPr id="10" name="CuadroTexto 9">
            <a:extLst>
              <a:ext uri="{FF2B5EF4-FFF2-40B4-BE49-F238E27FC236}">
                <a16:creationId xmlns:a16="http://schemas.microsoft.com/office/drawing/2014/main" id="{71EF99D5-BFD2-4E0D-9096-B360583F1740}"/>
              </a:ext>
            </a:extLst>
          </p:cNvPr>
          <p:cNvSpPr txBox="1"/>
          <p:nvPr/>
        </p:nvSpPr>
        <p:spPr>
          <a:xfrm>
            <a:off x="56639" y="6167045"/>
            <a:ext cx="8979857" cy="646331"/>
          </a:xfrm>
          <a:prstGeom prst="rect">
            <a:avLst/>
          </a:prstGeom>
          <a:solidFill>
            <a:schemeClr val="bg2"/>
          </a:solidFill>
        </p:spPr>
        <p:txBody>
          <a:bodyPr wrap="square">
            <a:spAutoFit/>
          </a:bodyPr>
          <a:lstStyle/>
          <a:p>
            <a:r>
              <a:rPr lang="es-MX" b="1" dirty="0"/>
              <a:t>Pregunta</a:t>
            </a:r>
            <a:r>
              <a:rPr lang="es-MX" dirty="0"/>
              <a:t>: ¿le interesa al usuario del menú ver el resultado de las pruebas? ¿Qué ocurriría si una de ellas fallara?</a:t>
            </a:r>
            <a:endParaRPr lang="es-CO" dirty="0"/>
          </a:p>
        </p:txBody>
      </p:sp>
      <p:pic>
        <p:nvPicPr>
          <p:cNvPr id="4" name="Imagen 3">
            <a:extLst>
              <a:ext uri="{FF2B5EF4-FFF2-40B4-BE49-F238E27FC236}">
                <a16:creationId xmlns:a16="http://schemas.microsoft.com/office/drawing/2014/main" id="{736C0B0D-4086-4F82-8773-6EBDB59BA4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3568" y="1772816"/>
            <a:ext cx="7352769" cy="2736304"/>
          </a:xfrm>
          <a:prstGeom prst="rect">
            <a:avLst/>
          </a:prstGeom>
        </p:spPr>
      </p:pic>
    </p:spTree>
    <p:extLst>
      <p:ext uri="{BB962C8B-B14F-4D97-AF65-F5344CB8AC3E}">
        <p14:creationId xmlns:p14="http://schemas.microsoft.com/office/powerpoint/2010/main" val="135514235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2800" dirty="0"/>
              <a:t>¿Cómo sabe un archivo si fue ejecutado o importado?</a:t>
            </a:r>
            <a:endParaRPr lang="es-MX" sz="2400" dirty="0">
              <a:latin typeface="Consolas" panose="020B0609020204030204" pitchFamily="49" charset="0"/>
            </a:endParaRPr>
          </a:p>
        </p:txBody>
      </p:sp>
      <p:sp>
        <p:nvSpPr>
          <p:cNvPr id="13" name="12 Rectángulo"/>
          <p:cNvSpPr/>
          <p:nvPr/>
        </p:nvSpPr>
        <p:spPr>
          <a:xfrm>
            <a:off x="144639" y="775732"/>
            <a:ext cx="8835218" cy="4955203"/>
          </a:xfrm>
          <a:prstGeom prst="rect">
            <a:avLst/>
          </a:prstGeom>
        </p:spPr>
        <p:txBody>
          <a:bodyPr wrap="square">
            <a:spAutoFit/>
          </a:bodyPr>
          <a:lstStyle/>
          <a:p>
            <a:pPr marL="342900" indent="-342900" rtl="0">
              <a:buFont typeface="Arial" panose="020B0604020202020204" pitchFamily="34" charset="0"/>
              <a:buChar char="•"/>
            </a:pPr>
            <a:r>
              <a:rPr lang="es-MX" sz="2000" dirty="0"/>
              <a:t>Python le asigna a cada archivo la variable especial </a:t>
            </a:r>
            <a:r>
              <a:rPr lang="es-MX" b="1" dirty="0">
                <a:latin typeface="Consolas" panose="020B0609020204030204" pitchFamily="49" charset="0"/>
              </a:rPr>
              <a:t>__name__</a:t>
            </a:r>
            <a:r>
              <a:rPr lang="es-MX" sz="2000" dirty="0"/>
              <a:t>:</a:t>
            </a:r>
          </a:p>
          <a:p>
            <a:pPr marL="800100" lvl="1" indent="-342900">
              <a:buFont typeface="Arial" panose="020B0604020202020204" pitchFamily="34" charset="0"/>
              <a:buChar char="•"/>
            </a:pPr>
            <a:r>
              <a:rPr lang="es-MX" sz="2000" dirty="0"/>
              <a:t>Vale </a:t>
            </a:r>
            <a:r>
              <a:rPr lang="es-MX" b="1" dirty="0">
                <a:latin typeface="Consolas" panose="020B0609020204030204" pitchFamily="49" charset="0"/>
              </a:rPr>
              <a:t>"__main__"</a:t>
            </a:r>
            <a:r>
              <a:rPr lang="es-MX" sz="2000" dirty="0"/>
              <a:t> si el archivo se ejecutó directamente.</a:t>
            </a:r>
          </a:p>
          <a:p>
            <a:pPr marL="800100" lvl="1" indent="-342900">
              <a:buFont typeface="Arial" panose="020B0604020202020204" pitchFamily="34" charset="0"/>
              <a:buChar char="•"/>
            </a:pPr>
            <a:r>
              <a:rPr lang="es-MX" sz="2000" dirty="0"/>
              <a:t>Vale el </a:t>
            </a:r>
            <a:r>
              <a:rPr lang="es-MX" sz="2000" b="1" dirty="0"/>
              <a:t>nombre del módulo</a:t>
            </a:r>
            <a:r>
              <a:rPr lang="es-MX" sz="2000" dirty="0"/>
              <a:t> (sin </a:t>
            </a:r>
            <a:r>
              <a:rPr lang="es-MX" b="1" dirty="0">
                <a:latin typeface="Consolas" panose="020B0609020204030204" pitchFamily="49" charset="0"/>
              </a:rPr>
              <a:t>.py</a:t>
            </a:r>
            <a:r>
              <a:rPr lang="es-MX" sz="2000" dirty="0"/>
              <a:t>) si el archivo fue importado.</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CO" sz="2000" b="1" dirty="0"/>
              <a:t>Archivo</a:t>
            </a:r>
            <a:r>
              <a:rPr lang="es-CO" sz="2000" dirty="0"/>
              <a:t>: </a:t>
            </a:r>
            <a:r>
              <a:rPr lang="es-CO" dirty="0">
                <a:latin typeface="Consolas" panose="020B0609020204030204" pitchFamily="49" charset="0"/>
              </a:rPr>
              <a:t>0_name/saludo.py</a:t>
            </a:r>
          </a:p>
          <a:p>
            <a:pPr marL="342900" indent="-342900" rtl="0">
              <a:buFont typeface="Arial" panose="020B0604020202020204" pitchFamily="34" charset="0"/>
              <a:buChar char="•"/>
            </a:pPr>
            <a:endParaRPr lang="es-CO" dirty="0">
              <a:latin typeface="Consolas" panose="020B0609020204030204" pitchFamily="49" charset="0"/>
            </a:endParaRPr>
          </a:p>
          <a:p>
            <a:pPr marL="342900" indent="-342900" rtl="0">
              <a:buFont typeface="Arial" panose="020B0604020202020204" pitchFamily="34" charset="0"/>
              <a:buChar char="•"/>
            </a:pPr>
            <a:endParaRPr lang="es-CO" dirty="0"/>
          </a:p>
          <a:p>
            <a:pPr marL="342900" indent="-342900">
              <a:buFont typeface="Arial" panose="020B0604020202020204" pitchFamily="34" charset="0"/>
              <a:buChar char="•"/>
            </a:pPr>
            <a:r>
              <a:rPr lang="es-CO" sz="2000" b="1" dirty="0"/>
              <a:t>Archivo</a:t>
            </a:r>
            <a:r>
              <a:rPr lang="es-CO" sz="2000" dirty="0"/>
              <a:t>: </a:t>
            </a:r>
            <a:r>
              <a:rPr lang="es-CO" dirty="0">
                <a:latin typeface="Consolas" panose="020B0609020204030204" pitchFamily="49" charset="0"/>
              </a:rPr>
              <a:t>0_name/principal.py</a:t>
            </a:r>
          </a:p>
          <a:p>
            <a:pPr marL="342900" indent="-342900" rtl="0">
              <a:buFont typeface="Arial" panose="020B0604020202020204" pitchFamily="34" charset="0"/>
              <a:buChar char="•"/>
            </a:pPr>
            <a:endParaRPr lang="es-CO" sz="2000" dirty="0"/>
          </a:p>
        </p:txBody>
      </p:sp>
      <p:sp>
        <p:nvSpPr>
          <p:cNvPr id="9" name="CuadroTexto 8">
            <a:extLst>
              <a:ext uri="{FF2B5EF4-FFF2-40B4-BE49-F238E27FC236}">
                <a16:creationId xmlns:a16="http://schemas.microsoft.com/office/drawing/2014/main" id="{CEC4C591-D670-4243-B7E9-14D4E839D6C7}"/>
              </a:ext>
            </a:extLst>
          </p:cNvPr>
          <p:cNvSpPr txBox="1"/>
          <p:nvPr/>
        </p:nvSpPr>
        <p:spPr>
          <a:xfrm>
            <a:off x="2366882" y="4606619"/>
            <a:ext cx="4770276" cy="276999"/>
          </a:xfrm>
          <a:prstGeom prst="rect">
            <a:avLst/>
          </a:prstGeom>
          <a:noFill/>
          <a:ln>
            <a:solidFill>
              <a:schemeClr val="tx1"/>
            </a:solidFill>
          </a:ln>
        </p:spPr>
        <p:txBody>
          <a:bodyPr wrap="square">
            <a:spAutoFit/>
          </a:bodyPr>
          <a:lstStyle/>
          <a:p>
            <a:r>
              <a:rPr lang="nl-NL" sz="1200" dirty="0">
                <a:latin typeface="Consolas" panose="020B0609020204030204" pitchFamily="49" charset="0"/>
              </a:rPr>
              <a:t>1  print("En saludo.py, __name__ vale:", __name__)</a:t>
            </a:r>
            <a:endParaRPr lang="es-CO" sz="1200" dirty="0">
              <a:latin typeface="Consolas" panose="020B0609020204030204" pitchFamily="49" charset="0"/>
            </a:endParaRPr>
          </a:p>
        </p:txBody>
      </p:sp>
      <p:sp>
        <p:nvSpPr>
          <p:cNvPr id="10" name="CuadroTexto 9">
            <a:extLst>
              <a:ext uri="{FF2B5EF4-FFF2-40B4-BE49-F238E27FC236}">
                <a16:creationId xmlns:a16="http://schemas.microsoft.com/office/drawing/2014/main" id="{71EF99D5-BFD2-4E0D-9096-B360583F1740}"/>
              </a:ext>
            </a:extLst>
          </p:cNvPr>
          <p:cNvSpPr txBox="1"/>
          <p:nvPr/>
        </p:nvSpPr>
        <p:spPr>
          <a:xfrm>
            <a:off x="56639" y="6444044"/>
            <a:ext cx="9045797" cy="369332"/>
          </a:xfrm>
          <a:prstGeom prst="rect">
            <a:avLst/>
          </a:prstGeom>
          <a:solidFill>
            <a:schemeClr val="bg2"/>
          </a:solidFill>
        </p:spPr>
        <p:txBody>
          <a:bodyPr wrap="square">
            <a:spAutoFit/>
          </a:bodyPr>
          <a:lstStyle/>
          <a:p>
            <a:r>
              <a:rPr lang="es-MX" b="1" dirty="0"/>
              <a:t>Idea clave</a:t>
            </a:r>
            <a:r>
              <a:rPr lang="es-MX" dirty="0"/>
              <a:t>: el mismo archivo </a:t>
            </a:r>
            <a:r>
              <a:rPr lang="es-MX" sz="1600" b="1" dirty="0">
                <a:latin typeface="Consolas" panose="020B0609020204030204" pitchFamily="49" charset="0"/>
              </a:rPr>
              <a:t>saludo.py</a:t>
            </a:r>
            <a:r>
              <a:rPr lang="es-MX" dirty="0"/>
              <a:t> imprime valores distintos según cómo se ejecute. </a:t>
            </a:r>
          </a:p>
        </p:txBody>
      </p:sp>
      <p:pic>
        <p:nvPicPr>
          <p:cNvPr id="3" name="Imagen 2">
            <a:extLst>
              <a:ext uri="{FF2B5EF4-FFF2-40B4-BE49-F238E27FC236}">
                <a16:creationId xmlns:a16="http://schemas.microsoft.com/office/drawing/2014/main" id="{3108AD38-D839-4488-A3CF-AA91A617BF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667" y="1772816"/>
            <a:ext cx="8708561" cy="2274335"/>
          </a:xfrm>
          <a:prstGeom prst="rect">
            <a:avLst/>
          </a:prstGeom>
        </p:spPr>
      </p:pic>
      <p:sp>
        <p:nvSpPr>
          <p:cNvPr id="15" name="CuadroTexto 14">
            <a:extLst>
              <a:ext uri="{FF2B5EF4-FFF2-40B4-BE49-F238E27FC236}">
                <a16:creationId xmlns:a16="http://schemas.microsoft.com/office/drawing/2014/main" id="{F74A0C38-9351-4A4D-B73C-952B2720623C}"/>
              </a:ext>
            </a:extLst>
          </p:cNvPr>
          <p:cNvSpPr txBox="1"/>
          <p:nvPr/>
        </p:nvSpPr>
        <p:spPr>
          <a:xfrm>
            <a:off x="2366882" y="5500102"/>
            <a:ext cx="4770276" cy="461665"/>
          </a:xfrm>
          <a:prstGeom prst="rect">
            <a:avLst/>
          </a:prstGeom>
          <a:noFill/>
          <a:ln>
            <a:solidFill>
              <a:schemeClr val="tx1"/>
            </a:solidFill>
          </a:ln>
        </p:spPr>
        <p:txBody>
          <a:bodyPr wrap="square">
            <a:spAutoFit/>
          </a:bodyPr>
          <a:lstStyle/>
          <a:p>
            <a:r>
              <a:rPr lang="nl-NL" sz="1200" dirty="0">
                <a:latin typeface="Consolas" panose="020B0609020204030204" pitchFamily="49" charset="0"/>
              </a:rPr>
              <a:t>1  import saludo</a:t>
            </a:r>
          </a:p>
          <a:p>
            <a:r>
              <a:rPr lang="nl-NL" sz="1200" dirty="0">
                <a:latin typeface="Consolas" panose="020B0609020204030204" pitchFamily="49" charset="0"/>
              </a:rPr>
              <a:t>2  print("En principal.py, __name__ vale:", __name__)</a:t>
            </a:r>
            <a:endParaRPr lang="es-CO" sz="1200" dirty="0">
              <a:latin typeface="Consolas" panose="020B0609020204030204" pitchFamily="49" charset="0"/>
            </a:endParaRPr>
          </a:p>
        </p:txBody>
      </p:sp>
    </p:spTree>
    <p:extLst>
      <p:ext uri="{BB962C8B-B14F-4D97-AF65-F5344CB8AC3E}">
        <p14:creationId xmlns:p14="http://schemas.microsoft.com/office/powerpoint/2010/main" val="19994871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600" dirty="0"/>
              <a:t>Opción 1: proteger las pruebas con la guarda</a:t>
            </a:r>
            <a:endParaRPr lang="es-MX" sz="3200" dirty="0">
              <a:latin typeface="Consolas" panose="020B0609020204030204" pitchFamily="49" charset="0"/>
            </a:endParaRPr>
          </a:p>
        </p:txBody>
      </p:sp>
      <p:sp>
        <p:nvSpPr>
          <p:cNvPr id="13" name="12 Rectángulo"/>
          <p:cNvSpPr/>
          <p:nvPr/>
        </p:nvSpPr>
        <p:spPr>
          <a:xfrm>
            <a:off x="144639" y="692696"/>
            <a:ext cx="8835218" cy="4093428"/>
          </a:xfrm>
          <a:prstGeom prst="rect">
            <a:avLst/>
          </a:prstGeom>
        </p:spPr>
        <p:txBody>
          <a:bodyPr wrap="square">
            <a:spAutoFit/>
          </a:bodyPr>
          <a:lstStyle/>
          <a:p>
            <a:pPr marL="342900" indent="-342900" rtl="0">
              <a:buFont typeface="Arial" panose="020B0604020202020204" pitchFamily="34" charset="0"/>
              <a:buChar char="•"/>
            </a:pPr>
            <a:r>
              <a:rPr lang="es-MX" sz="2000" dirty="0"/>
              <a:t>Las pruebas se colocan dentro de </a:t>
            </a:r>
            <a:r>
              <a:rPr lang="es-MX" b="1" dirty="0">
                <a:latin typeface="Consolas" panose="020B0609020204030204" pitchFamily="49" charset="0"/>
              </a:rPr>
              <a:t>if __name__ == "__main__":</a:t>
            </a:r>
            <a:r>
              <a:rPr lang="es-MX" sz="2000" dirty="0"/>
              <a:t>.</a:t>
            </a:r>
          </a:p>
          <a:p>
            <a:pPr marL="342900" indent="-342900" rtl="0">
              <a:buFont typeface="Arial" panose="020B0604020202020204" pitchFamily="34" charset="0"/>
              <a:buChar char="•"/>
            </a:pPr>
            <a:r>
              <a:rPr lang="es-MX" sz="2000" dirty="0"/>
              <a:t>Así solo se ejecutan cuando el módulo se corre directamente, y no cuando otro archivo lo importa.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a:buFont typeface="Arial" panose="020B0604020202020204" pitchFamily="34" charset="0"/>
              <a:buChar char="•"/>
            </a:pPr>
            <a:r>
              <a:rPr lang="es-CO" sz="2000" b="1" dirty="0"/>
              <a:t>Archivo</a:t>
            </a:r>
            <a:r>
              <a:rPr lang="es-CO" sz="2000" dirty="0"/>
              <a:t>: </a:t>
            </a:r>
            <a:r>
              <a:rPr lang="it-IT" dirty="0">
                <a:latin typeface="Consolas" panose="020B0609020204030204" pitchFamily="49" charset="0"/>
              </a:rPr>
              <a:t> 2_con_guarda/conversiones.py</a:t>
            </a:r>
            <a:endParaRPr lang="es-CO" sz="2000" dirty="0"/>
          </a:p>
        </p:txBody>
      </p:sp>
      <p:sp>
        <p:nvSpPr>
          <p:cNvPr id="10" name="CuadroTexto 9">
            <a:extLst>
              <a:ext uri="{FF2B5EF4-FFF2-40B4-BE49-F238E27FC236}">
                <a16:creationId xmlns:a16="http://schemas.microsoft.com/office/drawing/2014/main" id="{71EF99D5-BFD2-4E0D-9096-B360583F1740}"/>
              </a:ext>
            </a:extLst>
          </p:cNvPr>
          <p:cNvSpPr txBox="1"/>
          <p:nvPr/>
        </p:nvSpPr>
        <p:spPr>
          <a:xfrm>
            <a:off x="98203" y="6228601"/>
            <a:ext cx="9045797" cy="584775"/>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s-MX" sz="1600" b="1" dirty="0"/>
              <a:t>Ventaja</a:t>
            </a:r>
            <a:r>
              <a:rPr lang="es-MX" sz="1600" dirty="0"/>
              <a:t>: las pruebas quedan junto a las funciones que prueban. </a:t>
            </a:r>
          </a:p>
          <a:p>
            <a:pPr marL="285750" indent="-285750">
              <a:buFont typeface="Arial" panose="020B0604020202020204" pitchFamily="34" charset="0"/>
              <a:buChar char="•"/>
            </a:pPr>
            <a:r>
              <a:rPr lang="es-MX" sz="1600" b="1" dirty="0"/>
              <a:t>Desventaja</a:t>
            </a:r>
            <a:r>
              <a:rPr lang="es-MX" sz="1600" dirty="0"/>
              <a:t>: el módulo crece, porque funciones y pruebas comparten el mismo archivo.</a:t>
            </a:r>
          </a:p>
        </p:txBody>
      </p:sp>
      <p:sp>
        <p:nvSpPr>
          <p:cNvPr id="15" name="CuadroTexto 14">
            <a:extLst>
              <a:ext uri="{FF2B5EF4-FFF2-40B4-BE49-F238E27FC236}">
                <a16:creationId xmlns:a16="http://schemas.microsoft.com/office/drawing/2014/main" id="{F74A0C38-9351-4A4D-B73C-952B2720623C}"/>
              </a:ext>
            </a:extLst>
          </p:cNvPr>
          <p:cNvSpPr txBox="1"/>
          <p:nvPr/>
        </p:nvSpPr>
        <p:spPr>
          <a:xfrm>
            <a:off x="1403648" y="4725144"/>
            <a:ext cx="6336704" cy="1384995"/>
          </a:xfrm>
          <a:prstGeom prst="rect">
            <a:avLst/>
          </a:prstGeom>
          <a:noFill/>
          <a:ln>
            <a:solidFill>
              <a:schemeClr val="tx1"/>
            </a:solidFill>
          </a:ln>
        </p:spPr>
        <p:txBody>
          <a:bodyPr wrap="square">
            <a:spAutoFit/>
          </a:bodyPr>
          <a:lstStyle/>
          <a:p>
            <a:r>
              <a:rPr lang="nl-NL" sz="1200" dirty="0">
                <a:latin typeface="Consolas" panose="020B0609020204030204" pitchFamily="49" charset="0"/>
              </a:rPr>
              <a:t>31  ############ Pruebas ##############</a:t>
            </a:r>
          </a:p>
          <a:p>
            <a:r>
              <a:rPr lang="nl-NL" sz="1200" dirty="0">
                <a:latin typeface="Consolas" panose="020B0609020204030204" pitchFamily="49" charset="0"/>
              </a:rPr>
              <a:t>32  if __name__ == "__main__":</a:t>
            </a:r>
          </a:p>
          <a:p>
            <a:r>
              <a:rPr lang="nl-NL" sz="1200" dirty="0">
                <a:latin typeface="Consolas" panose="020B0609020204030204" pitchFamily="49" charset="0"/>
              </a:rPr>
              <a:t>33      assert round(celsius_a_fahrenheit(100), 2) == 212.0</a:t>
            </a:r>
          </a:p>
          <a:p>
            <a:r>
              <a:rPr lang="nl-NL" sz="1200" dirty="0">
                <a:latin typeface="Consolas" panose="020B0609020204030204" pitchFamily="49" charset="0"/>
              </a:rPr>
              <a:t>34      assert round(celsius_a_fahrenheit(0), 2) == 32.0</a:t>
            </a:r>
          </a:p>
          <a:p>
            <a:r>
              <a:rPr lang="nl-NL" sz="1200" dirty="0">
                <a:latin typeface="Consolas" panose="020B0609020204030204" pitchFamily="49" charset="0"/>
              </a:rPr>
              <a:t>35      assert round(celsius_a_kelvin(25), 2) == 298.15</a:t>
            </a:r>
          </a:p>
          <a:p>
            <a:r>
              <a:rPr lang="nl-NL" sz="1200" dirty="0">
                <a:latin typeface="Consolas" panose="020B0609020204030204" pitchFamily="49" charset="0"/>
              </a:rPr>
              <a:t>36      assert round(celsius_a_kelvin(-273.15), 2) == 0.0</a:t>
            </a:r>
          </a:p>
          <a:p>
            <a:r>
              <a:rPr lang="nl-NL" sz="1200" dirty="0">
                <a:latin typeface="Consolas" panose="020B0609020204030204" pitchFamily="49" charset="0"/>
              </a:rPr>
              <a:t>37      print("Pruebas de conversiones: todas pasaron")</a:t>
            </a:r>
            <a:endParaRPr lang="es-CO" sz="1200" dirty="0">
              <a:latin typeface="Consolas" panose="020B0609020204030204" pitchFamily="49" charset="0"/>
            </a:endParaRPr>
          </a:p>
        </p:txBody>
      </p:sp>
      <p:pic>
        <p:nvPicPr>
          <p:cNvPr id="4" name="Imagen 3">
            <a:extLst>
              <a:ext uri="{FF2B5EF4-FFF2-40B4-BE49-F238E27FC236}">
                <a16:creationId xmlns:a16="http://schemas.microsoft.com/office/drawing/2014/main" id="{A70BE533-2C5C-481C-A3E1-2A8747B70F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71600" y="1628800"/>
            <a:ext cx="7036327" cy="2705110"/>
          </a:xfrm>
          <a:prstGeom prst="rect">
            <a:avLst/>
          </a:prstGeom>
        </p:spPr>
      </p:pic>
    </p:spTree>
    <p:extLst>
      <p:ext uri="{BB962C8B-B14F-4D97-AF65-F5344CB8AC3E}">
        <p14:creationId xmlns:p14="http://schemas.microsoft.com/office/powerpoint/2010/main" val="26292790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600" dirty="0"/>
              <a:t>Opción 2: un archivo de pruebas aparte</a:t>
            </a:r>
            <a:endParaRPr lang="es-MX" sz="3200" dirty="0">
              <a:latin typeface="Consolas" panose="020B0609020204030204" pitchFamily="49" charset="0"/>
            </a:endParaRPr>
          </a:p>
        </p:txBody>
      </p:sp>
      <p:sp>
        <p:nvSpPr>
          <p:cNvPr id="13" name="12 Rectángulo"/>
          <p:cNvSpPr/>
          <p:nvPr/>
        </p:nvSpPr>
        <p:spPr>
          <a:xfrm>
            <a:off x="144638" y="692696"/>
            <a:ext cx="8854721" cy="4401205"/>
          </a:xfrm>
          <a:prstGeom prst="rect">
            <a:avLst/>
          </a:prstGeom>
        </p:spPr>
        <p:txBody>
          <a:bodyPr wrap="square">
            <a:spAutoFit/>
          </a:bodyPr>
          <a:lstStyle/>
          <a:p>
            <a:pPr marL="342900" indent="-342900" rtl="0">
              <a:buFont typeface="Arial" panose="020B0604020202020204" pitchFamily="34" charset="0"/>
              <a:buChar char="•"/>
            </a:pPr>
            <a:r>
              <a:rPr lang="es-MX" sz="2000" dirty="0"/>
              <a:t>Las pruebas se trasladan a un archivo propio, que importa el módulo igual que lo hace </a:t>
            </a:r>
            <a:r>
              <a:rPr lang="es-MX" b="1" dirty="0">
                <a:latin typeface="Consolas" panose="020B0609020204030204" pitchFamily="49" charset="0"/>
              </a:rPr>
              <a:t>main.py</a:t>
            </a:r>
            <a:r>
              <a:rPr lang="es-MX" sz="2000" dirty="0"/>
              <a:t>.</a:t>
            </a:r>
          </a:p>
          <a:p>
            <a:pPr marL="342900" indent="-342900" rtl="0">
              <a:buFont typeface="Arial" panose="020B0604020202020204" pitchFamily="34" charset="0"/>
              <a:buChar char="•"/>
            </a:pPr>
            <a:r>
              <a:rPr lang="es-MX" sz="2000" dirty="0"/>
              <a:t>La convención es nombrarlo </a:t>
            </a:r>
            <a:r>
              <a:rPr lang="es-MX" b="1" dirty="0">
                <a:latin typeface="Consolas" panose="020B0609020204030204" pitchFamily="49" charset="0"/>
              </a:rPr>
              <a:t>test_&lt;modulo&gt;.py</a:t>
            </a:r>
            <a:r>
              <a:rPr lang="es-MX" sz="2000" dirty="0"/>
              <a:t>. Herramientas como </a:t>
            </a:r>
            <a:r>
              <a:rPr lang="es-MX" b="1" dirty="0" err="1">
                <a:latin typeface="Consolas" panose="020B0609020204030204" pitchFamily="49" charset="0"/>
              </a:rPr>
              <a:t>pytest</a:t>
            </a:r>
            <a:r>
              <a:rPr lang="es-MX" sz="2000" dirty="0"/>
              <a:t> reconocen ese nombre.</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a:buFont typeface="Arial" panose="020B0604020202020204" pitchFamily="34" charset="0"/>
              <a:buChar char="•"/>
            </a:pPr>
            <a:endParaRPr lang="es-CO" sz="2000" b="1" dirty="0"/>
          </a:p>
          <a:p>
            <a:pPr marL="342900" indent="-342900">
              <a:buFont typeface="Arial" panose="020B0604020202020204" pitchFamily="34" charset="0"/>
              <a:buChar char="•"/>
            </a:pPr>
            <a:r>
              <a:rPr lang="es-CO" sz="2000" b="1" dirty="0"/>
              <a:t>Archivo</a:t>
            </a:r>
            <a:r>
              <a:rPr lang="es-CO" sz="2000" dirty="0"/>
              <a:t>: </a:t>
            </a:r>
            <a:r>
              <a:rPr lang="es-MX" dirty="0">
                <a:latin typeface="Consolas" panose="020B0609020204030204" pitchFamily="49" charset="0"/>
              </a:rPr>
              <a:t>3_archivo_pruebas/test_conversiones.py</a:t>
            </a:r>
            <a:endParaRPr lang="es-CO" sz="2000" dirty="0"/>
          </a:p>
        </p:txBody>
      </p:sp>
      <p:sp>
        <p:nvSpPr>
          <p:cNvPr id="15" name="CuadroTexto 14">
            <a:extLst>
              <a:ext uri="{FF2B5EF4-FFF2-40B4-BE49-F238E27FC236}">
                <a16:creationId xmlns:a16="http://schemas.microsoft.com/office/drawing/2014/main" id="{F74A0C38-9351-4A4D-B73C-952B2720623C}"/>
              </a:ext>
            </a:extLst>
          </p:cNvPr>
          <p:cNvSpPr txBox="1"/>
          <p:nvPr/>
        </p:nvSpPr>
        <p:spPr>
          <a:xfrm>
            <a:off x="1403648" y="5140349"/>
            <a:ext cx="6336704" cy="1384995"/>
          </a:xfrm>
          <a:prstGeom prst="rect">
            <a:avLst/>
          </a:prstGeom>
          <a:noFill/>
          <a:ln>
            <a:solidFill>
              <a:schemeClr val="tx1"/>
            </a:solidFill>
          </a:ln>
        </p:spPr>
        <p:txBody>
          <a:bodyPr wrap="square">
            <a:spAutoFit/>
          </a:bodyPr>
          <a:lstStyle/>
          <a:p>
            <a:r>
              <a:rPr lang="nl-NL" sz="1200" dirty="0">
                <a:latin typeface="Consolas" panose="020B0609020204030204" pitchFamily="49" charset="0"/>
              </a:rPr>
              <a:t> 4  import conversiones</a:t>
            </a:r>
          </a:p>
          <a:p>
            <a:r>
              <a:rPr lang="nl-NL" sz="1200" dirty="0">
                <a:latin typeface="Consolas" panose="020B0609020204030204" pitchFamily="49" charset="0"/>
              </a:rPr>
              <a:t> 5</a:t>
            </a:r>
          </a:p>
          <a:p>
            <a:r>
              <a:rPr lang="nl-NL" sz="1200" dirty="0">
                <a:latin typeface="Consolas" panose="020B0609020204030204" pitchFamily="49" charset="0"/>
              </a:rPr>
              <a:t> 6  assert round(conversiones.celsius_a_fahrenheit(100), 2) == 212.0</a:t>
            </a:r>
          </a:p>
          <a:p>
            <a:r>
              <a:rPr lang="nl-NL" sz="1200" dirty="0">
                <a:latin typeface="Consolas" panose="020B0609020204030204" pitchFamily="49" charset="0"/>
              </a:rPr>
              <a:t> 7  assert round(conversiones.celsius_a_fahrenheit(0), 2) == 32.0</a:t>
            </a:r>
          </a:p>
          <a:p>
            <a:r>
              <a:rPr lang="nl-NL" sz="1200" dirty="0">
                <a:latin typeface="Consolas" panose="020B0609020204030204" pitchFamily="49" charset="0"/>
              </a:rPr>
              <a:t> 8  assert round(conversiones.celsius_a_kelvin(25), 2) == 298.15</a:t>
            </a:r>
          </a:p>
          <a:p>
            <a:r>
              <a:rPr lang="nl-NL" sz="1200" dirty="0">
                <a:latin typeface="Consolas" panose="020B0609020204030204" pitchFamily="49" charset="0"/>
              </a:rPr>
              <a:t> 9  assert round(conversiones.celsius_a_kelvin(-273.15), 2) == 0.0</a:t>
            </a:r>
          </a:p>
          <a:p>
            <a:r>
              <a:rPr lang="nl-NL" sz="1200" dirty="0">
                <a:latin typeface="Consolas" panose="020B0609020204030204" pitchFamily="49" charset="0"/>
              </a:rPr>
              <a:t>10  print("Pruebas de conversiones: todas pasaron")</a:t>
            </a:r>
            <a:endParaRPr lang="es-CO" sz="1200" dirty="0">
              <a:latin typeface="Consolas" panose="020B0609020204030204" pitchFamily="49" charset="0"/>
            </a:endParaRPr>
          </a:p>
        </p:txBody>
      </p:sp>
      <p:pic>
        <p:nvPicPr>
          <p:cNvPr id="3" name="Imagen 2">
            <a:extLst>
              <a:ext uri="{FF2B5EF4-FFF2-40B4-BE49-F238E27FC236}">
                <a16:creationId xmlns:a16="http://schemas.microsoft.com/office/drawing/2014/main" id="{DAC65FEA-B45B-4CC6-A7AA-0C30F48364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871" y="1988840"/>
            <a:ext cx="8892480" cy="2540708"/>
          </a:xfrm>
          <a:prstGeom prst="rect">
            <a:avLst/>
          </a:prstGeom>
        </p:spPr>
      </p:pic>
    </p:spTree>
    <p:extLst>
      <p:ext uri="{BB962C8B-B14F-4D97-AF65-F5344CB8AC3E}">
        <p14:creationId xmlns:p14="http://schemas.microsoft.com/office/powerpoint/2010/main" val="20563261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600" dirty="0"/>
              <a:t>¿Dónde se ubican las pruebas? Comparación</a:t>
            </a:r>
            <a:endParaRPr lang="es-MX" sz="3200" dirty="0">
              <a:latin typeface="Consolas" panose="020B0609020204030204" pitchFamily="49" charset="0"/>
            </a:endParaRPr>
          </a:p>
        </p:txBody>
      </p:sp>
      <p:graphicFrame>
        <p:nvGraphicFramePr>
          <p:cNvPr id="2" name="Tabla 1">
            <a:extLst>
              <a:ext uri="{FF2B5EF4-FFF2-40B4-BE49-F238E27FC236}">
                <a16:creationId xmlns:a16="http://schemas.microsoft.com/office/drawing/2014/main" id="{91C78EF3-3138-4061-AF21-ACA4F97CD3A1}"/>
              </a:ext>
            </a:extLst>
          </p:cNvPr>
          <p:cNvGraphicFramePr>
            <a:graphicFrameLocks noGrp="1"/>
          </p:cNvGraphicFramePr>
          <p:nvPr>
            <p:extLst>
              <p:ext uri="{D42A27DB-BD31-4B8C-83A1-F6EECF244321}">
                <p14:modId xmlns:p14="http://schemas.microsoft.com/office/powerpoint/2010/main" val="4014140373"/>
              </p:ext>
            </p:extLst>
          </p:nvPr>
        </p:nvGraphicFramePr>
        <p:xfrm>
          <a:off x="395536" y="764704"/>
          <a:ext cx="8496944" cy="4308669"/>
        </p:xfrm>
        <a:graphic>
          <a:graphicData uri="http://schemas.openxmlformats.org/drawingml/2006/table">
            <a:tbl>
              <a:tblPr/>
              <a:tblGrid>
                <a:gridCol w="1670339">
                  <a:extLst>
                    <a:ext uri="{9D8B030D-6E8A-4147-A177-3AD203B41FA5}">
                      <a16:colId xmlns:a16="http://schemas.microsoft.com/office/drawing/2014/main" val="958968307"/>
                    </a:ext>
                  </a:extLst>
                </a:gridCol>
                <a:gridCol w="2178704">
                  <a:extLst>
                    <a:ext uri="{9D8B030D-6E8A-4147-A177-3AD203B41FA5}">
                      <a16:colId xmlns:a16="http://schemas.microsoft.com/office/drawing/2014/main" val="3782664435"/>
                    </a:ext>
                  </a:extLst>
                </a:gridCol>
                <a:gridCol w="2559669">
                  <a:extLst>
                    <a:ext uri="{9D8B030D-6E8A-4147-A177-3AD203B41FA5}">
                      <a16:colId xmlns:a16="http://schemas.microsoft.com/office/drawing/2014/main" val="4017312991"/>
                    </a:ext>
                  </a:extLst>
                </a:gridCol>
                <a:gridCol w="2088232">
                  <a:extLst>
                    <a:ext uri="{9D8B030D-6E8A-4147-A177-3AD203B41FA5}">
                      <a16:colId xmlns:a16="http://schemas.microsoft.com/office/drawing/2014/main" val="3073672876"/>
                    </a:ext>
                  </a:extLst>
                </a:gridCol>
              </a:tblGrid>
              <a:tr h="323901">
                <a:tc>
                  <a:txBody>
                    <a:bodyPr/>
                    <a:lstStyle/>
                    <a:p>
                      <a:endParaRPr lang="es-CO" sz="1600"/>
                    </a:p>
                  </a:txBody>
                  <a:tcPr marL="59607" marR="59607" marT="29804" marB="29804"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sz="1600" b="1" dirty="0"/>
                        <a:t>1. Sin guarda</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MX" sz="1600" b="1" dirty="0"/>
                        <a:t>2. Guarda en el módulo</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3. Archivo aparte</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773116605"/>
                  </a:ext>
                </a:extLst>
              </a:tr>
              <a:tr h="756835">
                <a:tc>
                  <a:txBody>
                    <a:bodyPr/>
                    <a:lstStyle/>
                    <a:p>
                      <a:r>
                        <a:rPr lang="es-CO" sz="1600" b="1" dirty="0"/>
                        <a:t>Ubicación de las pruebas</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dirty="0"/>
                        <a:t>Final de </a:t>
                      </a:r>
                      <a:r>
                        <a:rPr lang="es-CO" sz="1400" b="1" dirty="0">
                          <a:latin typeface="Consolas" panose="020B0609020204030204" pitchFamily="49" charset="0"/>
                        </a:rPr>
                        <a:t>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Final de conversiones.py, dentro de </a:t>
                      </a:r>
                      <a:r>
                        <a:rPr lang="es-CO" sz="1400" b="1" dirty="0" err="1">
                          <a:latin typeface="Consolas" panose="020B0609020204030204" pitchFamily="49" charset="0"/>
                        </a:rPr>
                        <a:t>if</a:t>
                      </a:r>
                      <a:r>
                        <a:rPr lang="es-CO" sz="1400" b="1" dirty="0">
                          <a:latin typeface="Consolas" panose="020B0609020204030204" pitchFamily="49" charset="0"/>
                        </a:rPr>
                        <a:t> __</a:t>
                      </a:r>
                      <a:r>
                        <a:rPr lang="es-CO" sz="1400" b="1" dirty="0" err="1">
                          <a:latin typeface="Consolas" panose="020B0609020204030204" pitchFamily="49" charset="0"/>
                        </a:rPr>
                        <a:t>name</a:t>
                      </a:r>
                      <a:r>
                        <a:rPr lang="es-CO" sz="1400" b="1" dirty="0">
                          <a:latin typeface="Consolas" panose="020B0609020204030204" pitchFamily="49" charset="0"/>
                        </a:rPr>
                        <a:t>__ == "__</a:t>
                      </a:r>
                      <a:r>
                        <a:rPr lang="es-CO" sz="1400" b="1" dirty="0" err="1">
                          <a:latin typeface="Consolas" panose="020B0609020204030204" pitchFamily="49" charset="0"/>
                        </a:rPr>
                        <a:t>main</a:t>
                      </a:r>
                      <a:r>
                        <a:rPr lang="es-CO" sz="1400" b="1" dirty="0">
                          <a:latin typeface="Consolas" panose="020B0609020204030204" pitchFamily="49" charset="0"/>
                        </a:rPr>
                        <a:t>__":</a:t>
                      </a:r>
                      <a:endParaRPr lang="es-CO" sz="1600" b="1" dirty="0">
                        <a:latin typeface="Consolas" panose="020B0609020204030204" pitchFamily="49" charset="0"/>
                      </a:endParaRP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b="1" dirty="0">
                          <a:latin typeface="Consolas" panose="020B0609020204030204" pitchFamily="49" charset="0"/>
                        </a:rPr>
                        <a:t>test_conversiones.py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8594796"/>
                  </a:ext>
                </a:extLst>
              </a:tr>
              <a:tr h="323901">
                <a:tc>
                  <a:txBody>
                    <a:bodyPr/>
                    <a:lstStyle/>
                    <a:p>
                      <a:r>
                        <a:rPr lang="es-CO" sz="1600" b="1" dirty="0"/>
                        <a:t>¿Se ejecutan al importar?</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dirty="0"/>
                        <a:t>❌ Sí (problema)</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 No</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 No</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5590049"/>
                  </a:ext>
                </a:extLst>
              </a:tr>
              <a:tr h="323901">
                <a:tc>
                  <a:txBody>
                    <a:bodyPr/>
                    <a:lstStyle/>
                    <a:p>
                      <a:r>
                        <a:rPr lang="es-MX" sz="1600" b="1" dirty="0"/>
                        <a:t>Cómo se ejecutan las pruebas</a:t>
                      </a:r>
                      <a:endParaRPr lang="es-MX"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400" b="1" dirty="0" err="1">
                          <a:latin typeface="Consolas" panose="020B0609020204030204" pitchFamily="49" charset="0"/>
                        </a:rPr>
                        <a:t>python</a:t>
                      </a:r>
                      <a:r>
                        <a:rPr lang="es-CO" sz="1400" b="1" dirty="0">
                          <a:latin typeface="Consolas" panose="020B0609020204030204" pitchFamily="49" charset="0"/>
                        </a:rPr>
                        <a:t> 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b="1" dirty="0" err="1">
                          <a:latin typeface="Consolas" panose="020B0609020204030204" pitchFamily="49" charset="0"/>
                        </a:rPr>
                        <a:t>python</a:t>
                      </a:r>
                      <a:r>
                        <a:rPr lang="es-CO" sz="1400" b="1" dirty="0">
                          <a:latin typeface="Consolas" panose="020B0609020204030204" pitchFamily="49" charset="0"/>
                        </a:rPr>
                        <a:t> 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b="1" dirty="0" err="1">
                          <a:latin typeface="Consolas" panose="020B0609020204030204" pitchFamily="49" charset="0"/>
                        </a:rPr>
                        <a:t>python</a:t>
                      </a:r>
                      <a:r>
                        <a:rPr lang="es-CO" sz="1400" b="1" dirty="0">
                          <a:latin typeface="Consolas" panose="020B0609020204030204" pitchFamily="49" charset="0"/>
                        </a:rPr>
                        <a:t> test_conversiones.py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3452463"/>
                  </a:ext>
                </a:extLst>
              </a:tr>
              <a:tr h="468212">
                <a:tc>
                  <a:txBody>
                    <a:bodyPr/>
                    <a:lstStyle/>
                    <a:p>
                      <a:r>
                        <a:rPr lang="es-CO" sz="1600" b="1" dirty="0"/>
                        <a:t>Ventaja</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MX" sz="1600"/>
                        <a:t>Ninguna frente a las otras dos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Pruebas junto a las funciones que prueban</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Módulo limpio: solo funciones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2582744"/>
                  </a:ext>
                </a:extLst>
              </a:tr>
              <a:tr h="612524">
                <a:tc>
                  <a:txBody>
                    <a:bodyPr/>
                    <a:lstStyle/>
                    <a:p>
                      <a:r>
                        <a:rPr lang="es-CO" sz="1600" b="1" dirty="0"/>
                        <a:t>Desventaja</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MX" sz="1600" dirty="0"/>
                        <a:t>Ensucia la salida del programa y puede detenerlo</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El módulo crece</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Un archivo más, y hay que escribir </a:t>
                      </a:r>
                      <a:r>
                        <a:rPr lang="es-MX" sz="1400" b="1" dirty="0">
                          <a:latin typeface="Consolas" panose="020B0609020204030204" pitchFamily="49" charset="0"/>
                        </a:rPr>
                        <a:t>conversiones</a:t>
                      </a:r>
                      <a:r>
                        <a:rPr lang="es-MX" sz="1600" dirty="0"/>
                        <a:t>. antes de cada función</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596853"/>
                  </a:ext>
                </a:extLst>
              </a:tr>
              <a:tr h="323901">
                <a:tc>
                  <a:txBody>
                    <a:bodyPr/>
                    <a:lstStyle/>
                    <a:p>
                      <a:r>
                        <a:rPr lang="es-CO" sz="1600" b="1" dirty="0"/>
                        <a:t>Conveniente para</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dirty="0"/>
                        <a:t>No se recomienda</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Módulos pequeños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Módulos con muchas pruebas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7076388"/>
                  </a:ext>
                </a:extLst>
              </a:tr>
            </a:tbl>
          </a:graphicData>
        </a:graphic>
      </p:graphicFrame>
      <p:sp>
        <p:nvSpPr>
          <p:cNvPr id="8" name="CuadroTexto 7">
            <a:extLst>
              <a:ext uri="{FF2B5EF4-FFF2-40B4-BE49-F238E27FC236}">
                <a16:creationId xmlns:a16="http://schemas.microsoft.com/office/drawing/2014/main" id="{1F4C7737-1236-44F9-840C-7EB47A030FDC}"/>
              </a:ext>
            </a:extLst>
          </p:cNvPr>
          <p:cNvSpPr txBox="1"/>
          <p:nvPr/>
        </p:nvSpPr>
        <p:spPr>
          <a:xfrm>
            <a:off x="179512" y="5229200"/>
            <a:ext cx="8819848" cy="830997"/>
          </a:xfrm>
          <a:prstGeom prst="rect">
            <a:avLst/>
          </a:prstGeom>
          <a:solidFill>
            <a:schemeClr val="accent6">
              <a:lumMod val="20000"/>
              <a:lumOff val="80000"/>
            </a:schemeClr>
          </a:solidFill>
        </p:spPr>
        <p:txBody>
          <a:bodyPr wrap="square">
            <a:spAutoFit/>
          </a:bodyPr>
          <a:lstStyle/>
          <a:p>
            <a:r>
              <a:rPr lang="es-CO" sz="1600" b="1" dirty="0"/>
              <a:t>Recomendación para este curso</a:t>
            </a:r>
            <a:r>
              <a:rPr lang="es-CO" sz="1600" dirty="0"/>
              <a:t>: se utiliza la guarda en el módulo mientras haya pocas pruebas. Cuando las pruebas crecen, se trasladan a </a:t>
            </a:r>
            <a:r>
              <a:rPr lang="es-CO" sz="1400" b="1" dirty="0">
                <a:latin typeface="Consolas" panose="020B0609020204030204" pitchFamily="49" charset="0"/>
              </a:rPr>
              <a:t>test_&lt;módulo&gt;.</a:t>
            </a:r>
            <a:r>
              <a:rPr lang="es-CO" sz="1400" b="1" dirty="0" err="1">
                <a:latin typeface="Consolas" panose="020B0609020204030204" pitchFamily="49" charset="0"/>
              </a:rPr>
              <a:t>py</a:t>
            </a:r>
            <a:r>
              <a:rPr lang="es-CO" sz="1600" dirty="0"/>
              <a:t>. En ambos casos, el programa principal (</a:t>
            </a:r>
            <a:r>
              <a:rPr lang="es-CO" sz="1400" b="1" dirty="0">
                <a:latin typeface="Consolas" panose="020B0609020204030204" pitchFamily="49" charset="0"/>
              </a:rPr>
              <a:t>main.py</a:t>
            </a:r>
            <a:r>
              <a:rPr lang="es-CO" sz="1600" dirty="0"/>
              <a:t>) nunca muestra las pruebas.</a:t>
            </a:r>
          </a:p>
        </p:txBody>
      </p:sp>
      <p:sp>
        <p:nvSpPr>
          <p:cNvPr id="9" name="CuadroTexto 8">
            <a:extLst>
              <a:ext uri="{FF2B5EF4-FFF2-40B4-BE49-F238E27FC236}">
                <a16:creationId xmlns:a16="http://schemas.microsoft.com/office/drawing/2014/main" id="{25C24812-7738-4097-A5C9-7B1D5571770F}"/>
              </a:ext>
            </a:extLst>
          </p:cNvPr>
          <p:cNvSpPr txBox="1"/>
          <p:nvPr/>
        </p:nvSpPr>
        <p:spPr>
          <a:xfrm>
            <a:off x="191522" y="6156593"/>
            <a:ext cx="8819848" cy="584775"/>
          </a:xfrm>
          <a:prstGeom prst="rect">
            <a:avLst/>
          </a:prstGeom>
          <a:solidFill>
            <a:schemeClr val="accent2">
              <a:lumMod val="20000"/>
              <a:lumOff val="80000"/>
            </a:schemeClr>
          </a:solidFill>
        </p:spPr>
        <p:txBody>
          <a:bodyPr wrap="square">
            <a:spAutoFit/>
          </a:bodyPr>
          <a:lstStyle/>
          <a:p>
            <a:r>
              <a:rPr lang="es-MX" sz="1600" b="1" dirty="0"/>
              <a:t>Tip</a:t>
            </a:r>
            <a:r>
              <a:rPr lang="es-MX" sz="1600" dirty="0"/>
              <a:t>: En la industria, las pruebas se escriben dentro de funciones </a:t>
            </a:r>
            <a:r>
              <a:rPr lang="es-MX" sz="1400" b="1" dirty="0">
                <a:latin typeface="Consolas" panose="020B0609020204030204" pitchFamily="49" charset="0"/>
              </a:rPr>
              <a:t>def test_...():</a:t>
            </a:r>
            <a:r>
              <a:rPr lang="es-MX" sz="1600" dirty="0"/>
              <a:t> y se ejecutan con la herramienta </a:t>
            </a:r>
            <a:r>
              <a:rPr lang="es-MX" sz="1400" b="1" dirty="0" err="1">
                <a:latin typeface="Consolas" panose="020B0609020204030204" pitchFamily="49" charset="0"/>
              </a:rPr>
              <a:t>pytest</a:t>
            </a:r>
            <a:r>
              <a:rPr lang="es-MX" sz="1600" dirty="0"/>
              <a:t>. Ver </a:t>
            </a:r>
            <a:r>
              <a:rPr lang="es-MX" sz="1600" b="1" dirty="0"/>
              <a:t>CS50P, </a:t>
            </a:r>
            <a:r>
              <a:rPr lang="es-MX" sz="1600" b="1" dirty="0" err="1"/>
              <a:t>Lecture</a:t>
            </a:r>
            <a:r>
              <a:rPr lang="es-MX" sz="1600" b="1" dirty="0"/>
              <a:t> 5</a:t>
            </a:r>
            <a:r>
              <a:rPr lang="es-MX" sz="1600" dirty="0"/>
              <a:t>: </a:t>
            </a:r>
            <a:r>
              <a:rPr lang="es-MX" sz="1600" b="1" dirty="0" err="1"/>
              <a:t>Unit</a:t>
            </a:r>
            <a:r>
              <a:rPr lang="es-MX" sz="1600" b="1" dirty="0"/>
              <a:t> </a:t>
            </a:r>
            <a:r>
              <a:rPr lang="es-MX" sz="1600" b="1" dirty="0" err="1"/>
              <a:t>Tests</a:t>
            </a:r>
            <a:r>
              <a:rPr lang="es-MX" sz="1600" b="1" dirty="0"/>
              <a:t> </a:t>
            </a:r>
            <a:r>
              <a:rPr lang="es-MX" sz="1600" dirty="0">
                <a:hlinkClick r:id="rId2"/>
              </a:rPr>
              <a:t>[notas]</a:t>
            </a:r>
            <a:r>
              <a:rPr lang="es-MX" sz="1600" dirty="0"/>
              <a:t> </a:t>
            </a:r>
            <a:r>
              <a:rPr lang="es-MX" sz="1600" dirty="0">
                <a:hlinkClick r:id="rId3"/>
              </a:rPr>
              <a:t>[video]</a:t>
            </a:r>
            <a:endParaRPr lang="es-CO" sz="1600" dirty="0"/>
          </a:p>
        </p:txBody>
      </p:sp>
    </p:spTree>
    <p:extLst>
      <p:ext uri="{BB962C8B-B14F-4D97-AF65-F5344CB8AC3E}">
        <p14:creationId xmlns:p14="http://schemas.microsoft.com/office/powerpoint/2010/main" val="1040624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2800" b="1" dirty="0">
                <a:latin typeface="Consolas" panose="020B0609020204030204" pitchFamily="49" charset="0"/>
              </a:rPr>
              <a:t>def main()</a:t>
            </a:r>
            <a:r>
              <a:rPr lang="es-MX" sz="3200" dirty="0"/>
              <a:t> y la guarda en el programa principal</a:t>
            </a:r>
            <a:endParaRPr lang="es-MX" sz="2800" dirty="0">
              <a:latin typeface="Consolas" panose="020B0609020204030204" pitchFamily="49" charset="0"/>
            </a:endParaRPr>
          </a:p>
        </p:txBody>
      </p:sp>
      <p:sp>
        <p:nvSpPr>
          <p:cNvPr id="9" name="CuadroTexto 8">
            <a:extLst>
              <a:ext uri="{FF2B5EF4-FFF2-40B4-BE49-F238E27FC236}">
                <a16:creationId xmlns:a16="http://schemas.microsoft.com/office/drawing/2014/main" id="{25C24812-7738-4097-A5C9-7B1D5571770F}"/>
              </a:ext>
            </a:extLst>
          </p:cNvPr>
          <p:cNvSpPr txBox="1"/>
          <p:nvPr/>
        </p:nvSpPr>
        <p:spPr>
          <a:xfrm>
            <a:off x="191522" y="5786100"/>
            <a:ext cx="8819848" cy="523220"/>
          </a:xfrm>
          <a:prstGeom prst="rect">
            <a:avLst/>
          </a:prstGeom>
          <a:solidFill>
            <a:schemeClr val="accent6">
              <a:lumMod val="20000"/>
              <a:lumOff val="80000"/>
            </a:schemeClr>
          </a:solidFill>
        </p:spPr>
        <p:txBody>
          <a:bodyPr wrap="square">
            <a:spAutoFit/>
          </a:bodyPr>
          <a:lstStyle/>
          <a:p>
            <a:r>
              <a:rPr lang="es-MX" sz="1400" dirty="0"/>
              <a:t>Convención: esta estructura (</a:t>
            </a:r>
            <a:r>
              <a:rPr lang="es-MX" sz="1200" b="1" dirty="0" err="1">
                <a:latin typeface="Consolas" panose="020B0609020204030204" pitchFamily="49" charset="0"/>
              </a:rPr>
              <a:t>import</a:t>
            </a:r>
            <a:r>
              <a:rPr lang="es-MX" sz="1400" b="1" dirty="0"/>
              <a:t> → funciones → </a:t>
            </a:r>
            <a:r>
              <a:rPr lang="es-MX" sz="1200" b="1" dirty="0">
                <a:latin typeface="Consolas" panose="020B0609020204030204" pitchFamily="49" charset="0"/>
              </a:rPr>
              <a:t>def main()</a:t>
            </a:r>
            <a:r>
              <a:rPr lang="es-MX" sz="1400" b="1" dirty="0"/>
              <a:t> → guarda</a:t>
            </a:r>
            <a:r>
              <a:rPr lang="es-MX" sz="1400" dirty="0"/>
              <a:t>) es la forma habitual de organizar un programa en Python. Se recomienda usarla en todos los programas de aquí en adelante.</a:t>
            </a:r>
            <a:endParaRPr lang="es-CO" sz="1400" dirty="0"/>
          </a:p>
        </p:txBody>
      </p:sp>
      <p:sp>
        <p:nvSpPr>
          <p:cNvPr id="6" name="12 Rectángulo">
            <a:extLst>
              <a:ext uri="{FF2B5EF4-FFF2-40B4-BE49-F238E27FC236}">
                <a16:creationId xmlns:a16="http://schemas.microsoft.com/office/drawing/2014/main" id="{AE954C63-B987-4F4B-926C-C0DEBF70C005}"/>
              </a:ext>
            </a:extLst>
          </p:cNvPr>
          <p:cNvSpPr/>
          <p:nvPr/>
        </p:nvSpPr>
        <p:spPr>
          <a:xfrm>
            <a:off x="144638" y="692696"/>
            <a:ext cx="8854721" cy="3477875"/>
          </a:xfrm>
          <a:prstGeom prst="rect">
            <a:avLst/>
          </a:prstGeom>
        </p:spPr>
        <p:txBody>
          <a:bodyPr wrap="square">
            <a:spAutoFit/>
          </a:bodyPr>
          <a:lstStyle/>
          <a:p>
            <a:pPr marL="342900" indent="-342900" rtl="0">
              <a:buFont typeface="Arial" panose="020B0604020202020204" pitchFamily="34" charset="0"/>
              <a:buChar char="•"/>
            </a:pPr>
            <a:r>
              <a:rPr lang="es-MX" sz="2000" dirty="0"/>
              <a:t>El código del programa principal se agrupa en una función llamada </a:t>
            </a:r>
            <a:r>
              <a:rPr lang="es-MX" b="1" dirty="0">
                <a:latin typeface="Consolas" panose="020B0609020204030204" pitchFamily="49" charset="0"/>
              </a:rPr>
              <a:t>main()</a:t>
            </a:r>
            <a:r>
              <a:rPr lang="es-MX" sz="2000" dirty="0"/>
              <a:t>.</a:t>
            </a:r>
          </a:p>
          <a:p>
            <a:pPr marL="342900" indent="-342900" rtl="0">
              <a:buFont typeface="Arial" panose="020B0604020202020204" pitchFamily="34" charset="0"/>
              <a:buChar char="•"/>
            </a:pPr>
            <a:r>
              <a:rPr lang="es-MX" sz="2000" dirty="0"/>
              <a:t>La llamada </a:t>
            </a:r>
            <a:r>
              <a:rPr lang="es-MX" b="1" dirty="0">
                <a:latin typeface="Consolas" panose="020B0609020204030204" pitchFamily="49" charset="0"/>
              </a:rPr>
              <a:t>main()</a:t>
            </a:r>
            <a:r>
              <a:rPr lang="es-MX" sz="2000" dirty="0"/>
              <a:t> se coloca dentro de </a:t>
            </a:r>
            <a:r>
              <a:rPr lang="es-MX" b="1" dirty="0">
                <a:latin typeface="Consolas" panose="020B0609020204030204" pitchFamily="49" charset="0"/>
              </a:rPr>
              <a:t>if __name__ == "__main__":</a:t>
            </a:r>
            <a:r>
              <a:rPr lang="es-MX" sz="2000" dirty="0"/>
              <a:t>.</a:t>
            </a:r>
          </a:p>
          <a:p>
            <a:pPr marL="342900" indent="-342900" rtl="0">
              <a:buFont typeface="Arial" panose="020B0604020202020204" pitchFamily="34" charset="0"/>
              <a:buChar char="•"/>
            </a:pPr>
            <a:r>
              <a:rPr lang="es-MX" sz="2000" dirty="0"/>
              <a:t>Así el programa solo arranca cuando el archivo se ejecuta directamente.</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a:buFont typeface="Arial" panose="020B0604020202020204" pitchFamily="34" charset="0"/>
              <a:buChar char="•"/>
            </a:pPr>
            <a:endParaRPr lang="es-CO" sz="2000" b="1" dirty="0"/>
          </a:p>
          <a:p>
            <a:pPr marL="342900" indent="-342900">
              <a:buFont typeface="Arial" panose="020B0604020202020204" pitchFamily="34" charset="0"/>
              <a:buChar char="•"/>
            </a:pPr>
            <a:endParaRPr lang="es-CO" sz="2000" b="1" dirty="0"/>
          </a:p>
          <a:p>
            <a:pPr marL="342900" indent="-342900">
              <a:buFont typeface="Arial" panose="020B0604020202020204" pitchFamily="34" charset="0"/>
              <a:buChar char="•"/>
            </a:pPr>
            <a:endParaRPr lang="es-CO" sz="2000" b="1" dirty="0"/>
          </a:p>
          <a:p>
            <a:pPr marL="342900" indent="-342900">
              <a:buFont typeface="Arial" panose="020B0604020202020204" pitchFamily="34" charset="0"/>
              <a:buChar char="•"/>
            </a:pPr>
            <a:r>
              <a:rPr lang="es-CO" sz="2000" b="1" dirty="0"/>
              <a:t>Archivo</a:t>
            </a:r>
            <a:r>
              <a:rPr lang="es-CO" sz="2000" dirty="0"/>
              <a:t>: </a:t>
            </a:r>
            <a:r>
              <a:rPr lang="es-MX" dirty="0">
                <a:latin typeface="Consolas" panose="020B0609020204030204" pitchFamily="49" charset="0"/>
              </a:rPr>
              <a:t>2_con_guarda/main.py</a:t>
            </a:r>
            <a:r>
              <a:rPr lang="es-MX" sz="2000" dirty="0"/>
              <a:t> (líneas 4–8 y 30–31)</a:t>
            </a:r>
            <a:endParaRPr lang="es-CO" sz="2000" dirty="0"/>
          </a:p>
        </p:txBody>
      </p:sp>
      <p:sp>
        <p:nvSpPr>
          <p:cNvPr id="10" name="CuadroTexto 9">
            <a:extLst>
              <a:ext uri="{FF2B5EF4-FFF2-40B4-BE49-F238E27FC236}">
                <a16:creationId xmlns:a16="http://schemas.microsoft.com/office/drawing/2014/main" id="{6CE94C09-2A1C-40F2-B844-E9571E920681}"/>
              </a:ext>
            </a:extLst>
          </p:cNvPr>
          <p:cNvSpPr txBox="1"/>
          <p:nvPr/>
        </p:nvSpPr>
        <p:spPr>
          <a:xfrm>
            <a:off x="1619672" y="4174228"/>
            <a:ext cx="5328592" cy="1569660"/>
          </a:xfrm>
          <a:prstGeom prst="rect">
            <a:avLst/>
          </a:prstGeom>
          <a:noFill/>
          <a:ln>
            <a:solidFill>
              <a:schemeClr val="tx1"/>
            </a:solidFill>
          </a:ln>
        </p:spPr>
        <p:txBody>
          <a:bodyPr wrap="square">
            <a:spAutoFit/>
          </a:bodyPr>
          <a:lstStyle/>
          <a:p>
            <a:r>
              <a:rPr lang="es-CO" sz="1200" dirty="0">
                <a:latin typeface="Consolas" panose="020B0609020204030204" pitchFamily="49" charset="0"/>
              </a:rPr>
              <a:t> 4  </a:t>
            </a:r>
            <a:r>
              <a:rPr lang="es-CO" sz="1200" dirty="0" err="1">
                <a:latin typeface="Consolas" panose="020B0609020204030204" pitchFamily="49" charset="0"/>
              </a:rPr>
              <a:t>import</a:t>
            </a:r>
            <a:r>
              <a:rPr lang="es-CO" sz="1200" dirty="0">
                <a:latin typeface="Consolas" panose="020B0609020204030204" pitchFamily="49" charset="0"/>
              </a:rPr>
              <a:t> conversiones</a:t>
            </a:r>
          </a:p>
          <a:p>
            <a:r>
              <a:rPr lang="es-CO" sz="1200" dirty="0">
                <a:latin typeface="Consolas" panose="020B0609020204030204" pitchFamily="49" charset="0"/>
              </a:rPr>
              <a:t> 5</a:t>
            </a:r>
          </a:p>
          <a:p>
            <a:r>
              <a:rPr lang="es-CO" sz="1200" dirty="0">
                <a:latin typeface="Consolas" panose="020B0609020204030204" pitchFamily="49" charset="0"/>
              </a:rPr>
              <a:t> 6</a:t>
            </a:r>
          </a:p>
          <a:p>
            <a:r>
              <a:rPr lang="es-CO" sz="1200" dirty="0">
                <a:latin typeface="Consolas" panose="020B0609020204030204" pitchFamily="49" charset="0"/>
              </a:rPr>
              <a:t> 7  </a:t>
            </a:r>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main</a:t>
            </a:r>
            <a:r>
              <a:rPr lang="es-CO" sz="1200" dirty="0">
                <a:latin typeface="Consolas" panose="020B0609020204030204" pitchFamily="49" charset="0"/>
              </a:rPr>
              <a:t>():</a:t>
            </a:r>
          </a:p>
          <a:p>
            <a:r>
              <a:rPr lang="es-CO" sz="1200" dirty="0">
                <a:latin typeface="Consolas" panose="020B0609020204030204" pitchFamily="49" charset="0"/>
              </a:rPr>
              <a:t> 8      print("Programa de </a:t>
            </a:r>
            <a:r>
              <a:rPr lang="es-CO" sz="1200" dirty="0" err="1">
                <a:latin typeface="Consolas" panose="020B0609020204030204" pitchFamily="49" charset="0"/>
              </a:rPr>
              <a:t>conversion</a:t>
            </a:r>
            <a:r>
              <a:rPr lang="es-CO" sz="1200" dirty="0">
                <a:latin typeface="Consolas" panose="020B0609020204030204" pitchFamily="49" charset="0"/>
              </a:rPr>
              <a:t> de °C a °F y </a:t>
            </a:r>
            <a:r>
              <a:rPr lang="es-CO" sz="1200" dirty="0" err="1">
                <a:latin typeface="Consolas" panose="020B0609020204030204" pitchFamily="49" charset="0"/>
              </a:rPr>
              <a:t>°K</a:t>
            </a:r>
            <a:r>
              <a:rPr lang="es-CO" sz="1200" dirty="0">
                <a:latin typeface="Consolas" panose="020B0609020204030204" pitchFamily="49" charset="0"/>
              </a:rPr>
              <a:t>")</a:t>
            </a:r>
          </a:p>
          <a:p>
            <a:r>
              <a:rPr lang="es-CO" sz="1200" dirty="0">
                <a:latin typeface="Consolas" panose="020B0609020204030204" pitchFamily="49" charset="0"/>
              </a:rPr>
              <a:t>...</a:t>
            </a:r>
          </a:p>
          <a:p>
            <a:r>
              <a:rPr lang="es-CO" sz="1200" dirty="0">
                <a:latin typeface="Consolas" panose="020B0609020204030204" pitchFamily="49" charset="0"/>
              </a:rPr>
              <a:t>30  </a:t>
            </a:r>
            <a:r>
              <a:rPr lang="es-CO" sz="1200" dirty="0" err="1">
                <a:latin typeface="Consolas" panose="020B0609020204030204" pitchFamily="49" charset="0"/>
              </a:rPr>
              <a:t>if</a:t>
            </a:r>
            <a:r>
              <a:rPr lang="es-CO" sz="1200" dirty="0">
                <a:latin typeface="Consolas" panose="020B0609020204030204" pitchFamily="49" charset="0"/>
              </a:rPr>
              <a:t> __</a:t>
            </a:r>
            <a:r>
              <a:rPr lang="es-CO" sz="1200" dirty="0" err="1">
                <a:latin typeface="Consolas" panose="020B0609020204030204" pitchFamily="49" charset="0"/>
              </a:rPr>
              <a:t>name</a:t>
            </a:r>
            <a:r>
              <a:rPr lang="es-CO" sz="1200" dirty="0">
                <a:latin typeface="Consolas" panose="020B0609020204030204" pitchFamily="49" charset="0"/>
              </a:rPr>
              <a:t>__ == "__</a:t>
            </a:r>
            <a:r>
              <a:rPr lang="es-CO" sz="1200" dirty="0" err="1">
                <a:latin typeface="Consolas" panose="020B0609020204030204" pitchFamily="49" charset="0"/>
              </a:rPr>
              <a:t>main</a:t>
            </a:r>
            <a:r>
              <a:rPr lang="es-CO" sz="1200" dirty="0">
                <a:latin typeface="Consolas" panose="020B0609020204030204" pitchFamily="49" charset="0"/>
              </a:rPr>
              <a:t>__":</a:t>
            </a:r>
          </a:p>
          <a:p>
            <a:r>
              <a:rPr lang="es-CO" sz="1200" dirty="0">
                <a:latin typeface="Consolas" panose="020B0609020204030204" pitchFamily="49" charset="0"/>
              </a:rPr>
              <a:t>31      </a:t>
            </a:r>
            <a:r>
              <a:rPr lang="es-CO" sz="1200" dirty="0" err="1">
                <a:latin typeface="Consolas" panose="020B0609020204030204" pitchFamily="49" charset="0"/>
              </a:rPr>
              <a:t>main</a:t>
            </a:r>
            <a:r>
              <a:rPr lang="es-CO" sz="1200" dirty="0">
                <a:latin typeface="Consolas" panose="020B0609020204030204" pitchFamily="49" charset="0"/>
              </a:rPr>
              <a:t>()</a:t>
            </a:r>
          </a:p>
        </p:txBody>
      </p:sp>
      <p:pic>
        <p:nvPicPr>
          <p:cNvPr id="7" name="Imagen 6">
            <a:extLst>
              <a:ext uri="{FF2B5EF4-FFF2-40B4-BE49-F238E27FC236}">
                <a16:creationId xmlns:a16="http://schemas.microsoft.com/office/drawing/2014/main" id="{96B949C7-38F6-49D4-80E1-FE9C088E9D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26437" y="1639000"/>
            <a:ext cx="5515062" cy="2150040"/>
          </a:xfrm>
          <a:prstGeom prst="rect">
            <a:avLst/>
          </a:prstGeom>
        </p:spPr>
      </p:pic>
      <p:sp>
        <p:nvSpPr>
          <p:cNvPr id="11" name="CuadroTexto 10">
            <a:extLst>
              <a:ext uri="{FF2B5EF4-FFF2-40B4-BE49-F238E27FC236}">
                <a16:creationId xmlns:a16="http://schemas.microsoft.com/office/drawing/2014/main" id="{688FC587-B925-4872-9176-CBAE616BD677}"/>
              </a:ext>
            </a:extLst>
          </p:cNvPr>
          <p:cNvSpPr txBox="1"/>
          <p:nvPr/>
        </p:nvSpPr>
        <p:spPr>
          <a:xfrm>
            <a:off x="177845" y="6361583"/>
            <a:ext cx="8819848" cy="307777"/>
          </a:xfrm>
          <a:prstGeom prst="rect">
            <a:avLst/>
          </a:prstGeom>
          <a:solidFill>
            <a:schemeClr val="accent2">
              <a:lumMod val="20000"/>
              <a:lumOff val="80000"/>
            </a:schemeClr>
          </a:solidFill>
        </p:spPr>
        <p:txBody>
          <a:bodyPr wrap="square">
            <a:spAutoFit/>
          </a:bodyPr>
          <a:lstStyle/>
          <a:p>
            <a:r>
              <a:rPr lang="es-MX" sz="1400" b="1" dirty="0"/>
              <a:t>Tip</a:t>
            </a:r>
            <a:r>
              <a:rPr lang="es-MX" sz="1400" dirty="0"/>
              <a:t>: ver </a:t>
            </a:r>
            <a:r>
              <a:rPr lang="es-MX" sz="1400" b="1" dirty="0"/>
              <a:t>CS50P, </a:t>
            </a:r>
            <a:r>
              <a:rPr lang="es-MX" sz="1400" b="1" dirty="0" err="1"/>
              <a:t>Lecture</a:t>
            </a:r>
            <a:r>
              <a:rPr lang="es-MX" sz="1400" b="1" dirty="0"/>
              <a:t> 4: </a:t>
            </a:r>
            <a:r>
              <a:rPr lang="es-MX" sz="1400" b="1" dirty="0" err="1"/>
              <a:t>Libraries</a:t>
            </a:r>
            <a:r>
              <a:rPr lang="es-MX" sz="1400" dirty="0"/>
              <a:t>, donde se usa la misma estructura con </a:t>
            </a:r>
            <a:r>
              <a:rPr lang="es-MX" sz="1200" dirty="0">
                <a:latin typeface="Consolas" panose="020B0609020204030204" pitchFamily="49" charset="0"/>
              </a:rPr>
              <a:t>def main()</a:t>
            </a:r>
            <a:r>
              <a:rPr lang="es-MX" sz="1400" dirty="0"/>
              <a:t> y la guarda. </a:t>
            </a:r>
            <a:r>
              <a:rPr lang="es-MX" sz="1400" dirty="0">
                <a:hlinkClick r:id="rId3"/>
              </a:rPr>
              <a:t>[notas]</a:t>
            </a:r>
            <a:r>
              <a:rPr lang="es-MX" sz="1400" dirty="0"/>
              <a:t> </a:t>
            </a:r>
            <a:r>
              <a:rPr lang="es-MX" sz="1400" dirty="0">
                <a:hlinkClick r:id="rId4"/>
              </a:rPr>
              <a:t>[video]</a:t>
            </a:r>
            <a:endParaRPr lang="es-MX" sz="1400" dirty="0"/>
          </a:p>
        </p:txBody>
      </p:sp>
    </p:spTree>
    <p:extLst>
      <p:ext uri="{BB962C8B-B14F-4D97-AF65-F5344CB8AC3E}">
        <p14:creationId xmlns:p14="http://schemas.microsoft.com/office/powerpoint/2010/main" val="3812501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 Errores frecuentes al trabajar con varios archivos</a:t>
            </a:r>
            <a:endParaRPr lang="es-MX" sz="2800" dirty="0">
              <a:latin typeface="Consolas" panose="020B0609020204030204" pitchFamily="49" charset="0"/>
            </a:endParaRPr>
          </a:p>
        </p:txBody>
      </p:sp>
      <p:sp>
        <p:nvSpPr>
          <p:cNvPr id="11" name="CuadroTexto 10">
            <a:extLst>
              <a:ext uri="{FF2B5EF4-FFF2-40B4-BE49-F238E27FC236}">
                <a16:creationId xmlns:a16="http://schemas.microsoft.com/office/drawing/2014/main" id="{688FC587-B925-4872-9176-CBAE616BD677}"/>
              </a:ext>
            </a:extLst>
          </p:cNvPr>
          <p:cNvSpPr txBox="1"/>
          <p:nvPr/>
        </p:nvSpPr>
        <p:spPr>
          <a:xfrm>
            <a:off x="185517" y="6218148"/>
            <a:ext cx="8819848" cy="523220"/>
          </a:xfrm>
          <a:prstGeom prst="rect">
            <a:avLst/>
          </a:prstGeom>
          <a:solidFill>
            <a:schemeClr val="bg2"/>
          </a:solidFill>
        </p:spPr>
        <p:txBody>
          <a:bodyPr wrap="square">
            <a:spAutoFit/>
          </a:bodyPr>
          <a:lstStyle/>
          <a:p>
            <a:r>
              <a:rPr lang="es-MX" sz="1400" b="1" dirty="0"/>
              <a:t>Nota</a:t>
            </a:r>
            <a:r>
              <a:rPr lang="es-MX" sz="1400" dirty="0"/>
              <a:t>: al importar un módulo propio aparece la carpeta </a:t>
            </a:r>
            <a:r>
              <a:rPr lang="es-MX" sz="1200" b="1" dirty="0">
                <a:latin typeface="Consolas" panose="020B0609020204030204" pitchFamily="49" charset="0"/>
              </a:rPr>
              <a:t>__</a:t>
            </a:r>
            <a:r>
              <a:rPr lang="es-MX" sz="1200" b="1" dirty="0" err="1">
                <a:latin typeface="Consolas" panose="020B0609020204030204" pitchFamily="49" charset="0"/>
              </a:rPr>
              <a:t>pycache</a:t>
            </a:r>
            <a:r>
              <a:rPr lang="es-MX" sz="1200" b="1" dirty="0">
                <a:latin typeface="Consolas" panose="020B0609020204030204" pitchFamily="49" charset="0"/>
              </a:rPr>
              <a:t>__/</a:t>
            </a:r>
            <a:r>
              <a:rPr lang="es-MX" sz="1400" dirty="0"/>
              <a:t>. Python la crea automáticamente para cargar el módulo más rápido. Puede ignorarse y no debe entregarse</a:t>
            </a:r>
          </a:p>
        </p:txBody>
      </p:sp>
      <p:pic>
        <p:nvPicPr>
          <p:cNvPr id="3" name="Imagen 2">
            <a:extLst>
              <a:ext uri="{FF2B5EF4-FFF2-40B4-BE49-F238E27FC236}">
                <a16:creationId xmlns:a16="http://schemas.microsoft.com/office/drawing/2014/main" id="{6B039576-56D2-4AF6-ABFE-4B7A4B1EEDF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3608" y="764704"/>
            <a:ext cx="6804248" cy="2665444"/>
          </a:xfrm>
          <a:prstGeom prst="rect">
            <a:avLst/>
          </a:prstGeom>
        </p:spPr>
      </p:pic>
      <p:graphicFrame>
        <p:nvGraphicFramePr>
          <p:cNvPr id="4" name="Tabla 3">
            <a:extLst>
              <a:ext uri="{FF2B5EF4-FFF2-40B4-BE49-F238E27FC236}">
                <a16:creationId xmlns:a16="http://schemas.microsoft.com/office/drawing/2014/main" id="{CD664005-D744-4A81-AAF8-3108A854EB5C}"/>
              </a:ext>
            </a:extLst>
          </p:cNvPr>
          <p:cNvGraphicFramePr>
            <a:graphicFrameLocks noGrp="1"/>
          </p:cNvGraphicFramePr>
          <p:nvPr>
            <p:extLst>
              <p:ext uri="{D42A27DB-BD31-4B8C-83A1-F6EECF244321}">
                <p14:modId xmlns:p14="http://schemas.microsoft.com/office/powerpoint/2010/main" val="2027698030"/>
              </p:ext>
            </p:extLst>
          </p:nvPr>
        </p:nvGraphicFramePr>
        <p:xfrm>
          <a:off x="396370" y="3501008"/>
          <a:ext cx="8530148" cy="2607852"/>
        </p:xfrm>
        <a:graphic>
          <a:graphicData uri="http://schemas.openxmlformats.org/drawingml/2006/table">
            <a:tbl>
              <a:tblPr/>
              <a:tblGrid>
                <a:gridCol w="3240359">
                  <a:extLst>
                    <a:ext uri="{9D8B030D-6E8A-4147-A177-3AD203B41FA5}">
                      <a16:colId xmlns:a16="http://schemas.microsoft.com/office/drawing/2014/main" val="3099165565"/>
                    </a:ext>
                  </a:extLst>
                </a:gridCol>
                <a:gridCol w="5289789">
                  <a:extLst>
                    <a:ext uri="{9D8B030D-6E8A-4147-A177-3AD203B41FA5}">
                      <a16:colId xmlns:a16="http://schemas.microsoft.com/office/drawing/2014/main" val="556112726"/>
                    </a:ext>
                  </a:extLst>
                </a:gridCol>
              </a:tblGrid>
              <a:tr h="309860">
                <a:tc>
                  <a:txBody>
                    <a:bodyPr/>
                    <a:lstStyle/>
                    <a:p>
                      <a:r>
                        <a:rPr lang="es-CO" sz="1600" b="1"/>
                        <a:t>Situación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Mensaje de 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024888355"/>
                  </a:ext>
                </a:extLst>
              </a:tr>
              <a:tr h="535212">
                <a:tc>
                  <a:txBody>
                    <a:bodyPr/>
                    <a:lstStyle/>
                    <a:p>
                      <a:r>
                        <a:rPr lang="es-MX" sz="1400" dirty="0">
                          <a:latin typeface="Consolas" panose="020B0609020204030204" pitchFamily="49" charset="0"/>
                        </a:rPr>
                        <a:t>main.py</a:t>
                      </a:r>
                      <a:r>
                        <a:rPr lang="es-MX" sz="1600" dirty="0"/>
                        <a:t> y </a:t>
                      </a:r>
                      <a:r>
                        <a:rPr lang="es-MX" sz="1400" dirty="0">
                          <a:latin typeface="Consolas" panose="020B0609020204030204" pitchFamily="49" charset="0"/>
                        </a:rPr>
                        <a:t>conversiones.py</a:t>
                      </a:r>
                      <a:r>
                        <a:rPr lang="es-MX" sz="1600" dirty="0"/>
                        <a:t> en carpetas distintas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ModuleNotFoundError: No module named 'conversiones'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57085462"/>
                  </a:ext>
                </a:extLst>
              </a:tr>
              <a:tr h="535212">
                <a:tc>
                  <a:txBody>
                    <a:bodyPr/>
                    <a:lstStyle/>
                    <a:p>
                      <a:r>
                        <a:rPr lang="es-CO" sz="1600" dirty="0"/>
                        <a:t>Escribir </a:t>
                      </a:r>
                      <a:r>
                        <a:rPr lang="es-CO" sz="1400" dirty="0" err="1">
                          <a:latin typeface="Consolas" panose="020B0609020204030204" pitchFamily="49" charset="0"/>
                        </a:rPr>
                        <a:t>import</a:t>
                      </a:r>
                      <a:r>
                        <a:rPr lang="es-CO" sz="1400" dirty="0">
                          <a:latin typeface="Consolas" panose="020B0609020204030204" pitchFamily="49" charset="0"/>
                        </a:rPr>
                        <a:t> conversiones.py</a:t>
                      </a:r>
                      <a:endParaRPr lang="es-CO" sz="16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ModuleNotFoundError</a:t>
                      </a:r>
                      <a:r>
                        <a:rPr lang="en-US" sz="1400" dirty="0">
                          <a:latin typeface="Consolas" panose="020B0609020204030204" pitchFamily="49" charset="0"/>
                        </a:rPr>
                        <a:t>: No module named 'conversiones.py'; '</a:t>
                      </a:r>
                      <a:r>
                        <a:rPr lang="en-US" sz="1400" dirty="0" err="1">
                          <a:latin typeface="Consolas" panose="020B0609020204030204" pitchFamily="49" charset="0"/>
                        </a:rPr>
                        <a:t>conversiones</a:t>
                      </a:r>
                      <a:r>
                        <a:rPr lang="en-US" sz="1400" dirty="0">
                          <a:latin typeface="Consolas" panose="020B0609020204030204" pitchFamily="49" charset="0"/>
                        </a:rPr>
                        <a:t>' is not a package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5574772"/>
                  </a:ext>
                </a:extLst>
              </a:tr>
              <a:tr h="535212">
                <a:tc>
                  <a:txBody>
                    <a:bodyPr/>
                    <a:lstStyle/>
                    <a:p>
                      <a:r>
                        <a:rPr lang="es-MX" sz="1600" dirty="0"/>
                        <a:t>Llamar </a:t>
                      </a:r>
                      <a:r>
                        <a:rPr lang="es-MX" sz="1400" dirty="0" err="1">
                          <a:latin typeface="Consolas" panose="020B0609020204030204" pitchFamily="49" charset="0"/>
                        </a:rPr>
                        <a:t>celsius_a_fahrenheit</a:t>
                      </a:r>
                      <a:r>
                        <a:rPr lang="es-MX" sz="1400" dirty="0">
                          <a:latin typeface="Consolas" panose="020B0609020204030204" pitchFamily="49" charset="0"/>
                        </a:rPr>
                        <a:t>(10)</a:t>
                      </a:r>
                      <a:r>
                        <a:rPr lang="es-MX" sz="1600" dirty="0"/>
                        <a:t> sin el prefijo conversiones.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NameError</a:t>
                      </a:r>
                      <a:r>
                        <a:rPr lang="en-US" sz="1400" dirty="0">
                          <a:latin typeface="Consolas" panose="020B0609020204030204" pitchFamily="49" charset="0"/>
                        </a:rPr>
                        <a:t>: name '</a:t>
                      </a:r>
                      <a:r>
                        <a:rPr lang="en-US" sz="1400" dirty="0" err="1">
                          <a:latin typeface="Consolas" panose="020B0609020204030204" pitchFamily="49" charset="0"/>
                        </a:rPr>
                        <a:t>celsius_a_fahrenheit</a:t>
                      </a:r>
                      <a:r>
                        <a:rPr lang="en-US" sz="1400" dirty="0">
                          <a:latin typeface="Consolas" panose="020B0609020204030204" pitchFamily="49" charset="0"/>
                        </a:rPr>
                        <a:t>' is not defined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6715900"/>
                  </a:ext>
                </a:extLst>
              </a:tr>
              <a:tr h="309860">
                <a:tc>
                  <a:txBody>
                    <a:bodyPr/>
                    <a:lstStyle/>
                    <a:p>
                      <a:r>
                        <a:rPr lang="es-CO" sz="1600" dirty="0"/>
                        <a:t>Nombrar un archivo propio </a:t>
                      </a:r>
                      <a:r>
                        <a:rPr lang="es-CO" sz="1400" dirty="0">
                          <a:latin typeface="Consolas" panose="020B0609020204030204" pitchFamily="49" charset="0"/>
                        </a:rPr>
                        <a:t>random.py</a:t>
                      </a:r>
                      <a:endParaRPr lang="es-CO" sz="16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Se oculta la librería estándar, pues Python importa el archivo propio en lugar del módulo random de la librería estándar.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439737"/>
                  </a:ext>
                </a:extLst>
              </a:tr>
            </a:tbl>
          </a:graphicData>
        </a:graphic>
      </p:graphicFrame>
    </p:spTree>
    <p:extLst>
      <p:ext uri="{BB962C8B-B14F-4D97-AF65-F5344CB8AC3E}">
        <p14:creationId xmlns:p14="http://schemas.microsoft.com/office/powerpoint/2010/main" val="21447863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600" dirty="0"/>
              <a:t>Resumen de la clase</a:t>
            </a:r>
          </a:p>
        </p:txBody>
      </p:sp>
      <p:sp>
        <p:nvSpPr>
          <p:cNvPr id="11" name="CuadroTexto 10">
            <a:extLst>
              <a:ext uri="{FF2B5EF4-FFF2-40B4-BE49-F238E27FC236}">
                <a16:creationId xmlns:a16="http://schemas.microsoft.com/office/drawing/2014/main" id="{688FC587-B925-4872-9176-CBAE616BD677}"/>
              </a:ext>
            </a:extLst>
          </p:cNvPr>
          <p:cNvSpPr txBox="1"/>
          <p:nvPr/>
        </p:nvSpPr>
        <p:spPr>
          <a:xfrm>
            <a:off x="251520" y="4580332"/>
            <a:ext cx="8640960" cy="646331"/>
          </a:xfrm>
          <a:prstGeom prst="rect">
            <a:avLst/>
          </a:prstGeom>
          <a:solidFill>
            <a:schemeClr val="bg2"/>
          </a:solidFill>
        </p:spPr>
        <p:txBody>
          <a:bodyPr wrap="square">
            <a:spAutoFit/>
          </a:bodyPr>
          <a:lstStyle/>
          <a:p>
            <a:r>
              <a:rPr lang="es-MX" b="1" dirty="0"/>
              <a:t>Importante</a:t>
            </a:r>
            <a:r>
              <a:rPr lang="es-MX" dirty="0"/>
              <a:t>: Una función bien diseñada tiene un nombre claro, una especificación, pruebas, y no depende de variables globales.</a:t>
            </a:r>
          </a:p>
        </p:txBody>
      </p:sp>
      <p:sp>
        <p:nvSpPr>
          <p:cNvPr id="6" name="12 Rectángulo">
            <a:extLst>
              <a:ext uri="{FF2B5EF4-FFF2-40B4-BE49-F238E27FC236}">
                <a16:creationId xmlns:a16="http://schemas.microsoft.com/office/drawing/2014/main" id="{A73AFEAC-B223-4D7F-B142-1E206A88BEB3}"/>
              </a:ext>
            </a:extLst>
          </p:cNvPr>
          <p:cNvSpPr/>
          <p:nvPr/>
        </p:nvSpPr>
        <p:spPr>
          <a:xfrm>
            <a:off x="144639" y="909650"/>
            <a:ext cx="8854721" cy="3170099"/>
          </a:xfrm>
          <a:prstGeom prst="rect">
            <a:avLst/>
          </a:prstGeom>
        </p:spPr>
        <p:txBody>
          <a:bodyPr wrap="square">
            <a:spAutoFit/>
          </a:bodyPr>
          <a:lstStyle/>
          <a:p>
            <a:pPr marL="457200" indent="-457200" rtl="0">
              <a:buFont typeface="+mj-lt"/>
              <a:buAutoNum type="arabicPeriod"/>
            </a:pPr>
            <a:r>
              <a:rPr lang="es-MX" sz="2000" b="1" dirty="0"/>
              <a:t>Funciones propias</a:t>
            </a:r>
            <a:r>
              <a:rPr lang="es-MX" sz="2000" dirty="0"/>
              <a:t>: se definen con </a:t>
            </a:r>
            <a:r>
              <a:rPr lang="es-MX" b="1" dirty="0">
                <a:latin typeface="Consolas" panose="020B0609020204030204" pitchFamily="49" charset="0"/>
              </a:rPr>
              <a:t>def</a:t>
            </a:r>
            <a:r>
              <a:rPr lang="es-MX" sz="2000" dirty="0"/>
              <a:t> y retornan con </a:t>
            </a:r>
            <a:r>
              <a:rPr lang="es-MX" b="1" dirty="0">
                <a:latin typeface="Consolas" panose="020B0609020204030204" pitchFamily="49" charset="0"/>
              </a:rPr>
              <a:t>return</a:t>
            </a:r>
            <a:r>
              <a:rPr lang="es-MX" sz="2000" dirty="0"/>
              <a:t>.</a:t>
            </a:r>
          </a:p>
          <a:p>
            <a:pPr marL="457200" indent="-457200" rtl="0">
              <a:buFont typeface="+mj-lt"/>
              <a:buAutoNum type="arabicPeriod"/>
            </a:pPr>
            <a:r>
              <a:rPr lang="es-MX" sz="2000" b="1" dirty="0"/>
              <a:t>Especificación</a:t>
            </a:r>
            <a:r>
              <a:rPr lang="es-MX" sz="2000" dirty="0"/>
              <a:t>: cada función lleva un </a:t>
            </a:r>
            <a:r>
              <a:rPr lang="es-MX" sz="2000" dirty="0" err="1"/>
              <a:t>docstring</a:t>
            </a:r>
            <a:r>
              <a:rPr lang="es-MX" sz="2000" dirty="0"/>
              <a:t> con </a:t>
            </a:r>
            <a:r>
              <a:rPr lang="es-MX" sz="2000" b="1" dirty="0"/>
              <a:t>supone </a:t>
            </a:r>
            <a:r>
              <a:rPr lang="es-MX" sz="2000" dirty="0"/>
              <a:t>y</a:t>
            </a:r>
            <a:r>
              <a:rPr lang="es-MX" sz="2000" b="1" dirty="0"/>
              <a:t> garantiza</a:t>
            </a:r>
            <a:r>
              <a:rPr lang="es-MX" sz="2000" dirty="0"/>
              <a:t>, que se consulta con </a:t>
            </a:r>
            <a:r>
              <a:rPr lang="es-MX" b="1" dirty="0" err="1">
                <a:latin typeface="Consolas" panose="020B0609020204030204" pitchFamily="49" charset="0"/>
              </a:rPr>
              <a:t>help</a:t>
            </a:r>
            <a:r>
              <a:rPr lang="es-MX" b="1" dirty="0">
                <a:latin typeface="Consolas" panose="020B0609020204030204" pitchFamily="49" charset="0"/>
              </a:rPr>
              <a:t>()</a:t>
            </a:r>
            <a:r>
              <a:rPr lang="es-MX" sz="2000" dirty="0"/>
              <a:t>.</a:t>
            </a:r>
          </a:p>
          <a:p>
            <a:pPr marL="457200" indent="-457200" rtl="0">
              <a:buFont typeface="+mj-lt"/>
              <a:buAutoNum type="arabicPeriod"/>
            </a:pPr>
            <a:r>
              <a:rPr lang="es-MX" sz="2000" b="1" dirty="0"/>
              <a:t>Pruebas</a:t>
            </a:r>
            <a:r>
              <a:rPr lang="es-MX" sz="2000" dirty="0"/>
              <a:t>: se escriben con </a:t>
            </a:r>
            <a:r>
              <a:rPr lang="es-MX" b="1" dirty="0" err="1">
                <a:latin typeface="Consolas" panose="020B0609020204030204" pitchFamily="49" charset="0"/>
              </a:rPr>
              <a:t>assert</a:t>
            </a:r>
            <a:r>
              <a:rPr lang="es-MX" sz="2000" dirty="0"/>
              <a:t>. Ejecutar un programa no es lo mismo que probarlo.</a:t>
            </a:r>
          </a:p>
          <a:p>
            <a:pPr marL="457200" indent="-457200" rtl="0">
              <a:buFont typeface="+mj-lt"/>
              <a:buAutoNum type="arabicPeriod"/>
            </a:pPr>
            <a:r>
              <a:rPr lang="es-MX" sz="2000" b="1" dirty="0"/>
              <a:t>Ámbito</a:t>
            </a:r>
            <a:r>
              <a:rPr lang="es-MX" sz="2000" dirty="0"/>
              <a:t>: las variables locales solo existen dentro de su función.</a:t>
            </a:r>
          </a:p>
          <a:p>
            <a:pPr marL="457200" indent="-457200" rtl="0">
              <a:buFont typeface="+mj-lt"/>
              <a:buAutoNum type="arabicPeriod"/>
            </a:pPr>
            <a:r>
              <a:rPr lang="es-MX" sz="2000" b="1" dirty="0"/>
              <a:t>Parámetros por defecto, y funciones que llaman a otras funciones</a:t>
            </a:r>
            <a:r>
              <a:rPr lang="es-MX" sz="2000" dirty="0"/>
              <a:t>.</a:t>
            </a:r>
          </a:p>
          <a:p>
            <a:pPr marL="457200" indent="-457200" rtl="0">
              <a:buFont typeface="+mj-lt"/>
              <a:buAutoNum type="arabicPeriod"/>
            </a:pPr>
            <a:r>
              <a:rPr lang="es-MX" sz="2000" b="1" dirty="0"/>
              <a:t>Diseño top-</a:t>
            </a:r>
            <a:r>
              <a:rPr lang="es-MX" sz="2000" b="1" dirty="0" err="1"/>
              <a:t>down</a:t>
            </a:r>
            <a:r>
              <a:rPr lang="es-MX" sz="2000" dirty="0"/>
              <a:t>: del problema general a funciones pequeñas, usando </a:t>
            </a:r>
            <a:r>
              <a:rPr lang="es-MX" sz="2000" dirty="0" err="1"/>
              <a:t>stubs</a:t>
            </a:r>
            <a:r>
              <a:rPr lang="es-MX" sz="2000" dirty="0"/>
              <a:t>.</a:t>
            </a:r>
          </a:p>
          <a:p>
            <a:pPr marL="457200" indent="-457200" rtl="0">
              <a:buFont typeface="+mj-lt"/>
              <a:buAutoNum type="arabicPeriod"/>
            </a:pPr>
            <a:r>
              <a:rPr lang="es-MX" sz="2000" b="1" dirty="0"/>
              <a:t>Librerías</a:t>
            </a:r>
            <a:r>
              <a:rPr lang="es-MX" sz="2000" dirty="0"/>
              <a:t>: funciones integradas, </a:t>
            </a:r>
            <a:r>
              <a:rPr lang="es-MX" b="1" dirty="0">
                <a:latin typeface="Consolas" panose="020B0609020204030204" pitchFamily="49" charset="0"/>
              </a:rPr>
              <a:t>math</a:t>
            </a:r>
            <a:r>
              <a:rPr lang="es-MX" sz="2000" dirty="0"/>
              <a:t> y </a:t>
            </a:r>
            <a:r>
              <a:rPr lang="es-MX" b="1" dirty="0">
                <a:latin typeface="Consolas" panose="020B0609020204030204" pitchFamily="49" charset="0"/>
              </a:rPr>
              <a:t>random</a:t>
            </a:r>
            <a:r>
              <a:rPr lang="es-MX" sz="2000" dirty="0"/>
              <a:t>.</a:t>
            </a:r>
          </a:p>
          <a:p>
            <a:pPr marL="457200" indent="-457200" rtl="0">
              <a:buFont typeface="+mj-lt"/>
              <a:buAutoNum type="arabicPeriod"/>
            </a:pPr>
            <a:r>
              <a:rPr lang="es-MX" sz="2000" b="1" dirty="0"/>
              <a:t>Módulos propios</a:t>
            </a:r>
            <a:r>
              <a:rPr lang="es-MX" sz="2000" dirty="0"/>
              <a:t>: </a:t>
            </a:r>
            <a:r>
              <a:rPr lang="es-MX" b="1" dirty="0" err="1">
                <a:latin typeface="Consolas" panose="020B0609020204030204" pitchFamily="49" charset="0"/>
              </a:rPr>
              <a:t>import</a:t>
            </a:r>
            <a:r>
              <a:rPr lang="es-MX" sz="2000" dirty="0"/>
              <a:t>, </a:t>
            </a:r>
            <a:r>
              <a:rPr lang="es-MX" b="1" dirty="0">
                <a:latin typeface="Consolas" panose="020B0609020204030204" pitchFamily="49" charset="0"/>
              </a:rPr>
              <a:t>__name__</a:t>
            </a:r>
            <a:r>
              <a:rPr lang="es-MX" sz="2000" dirty="0"/>
              <a:t>, y </a:t>
            </a:r>
            <a:r>
              <a:rPr lang="es-MX" b="1" dirty="0">
                <a:latin typeface="Consolas" panose="020B0609020204030204" pitchFamily="49" charset="0"/>
              </a:rPr>
              <a:t>def main()</a:t>
            </a:r>
            <a:r>
              <a:rPr lang="es-MX" sz="2000" dirty="0"/>
              <a:t> con la guarda.</a:t>
            </a:r>
            <a:endParaRPr lang="es-CO" sz="2000" dirty="0"/>
          </a:p>
        </p:txBody>
      </p:sp>
    </p:spTree>
    <p:extLst>
      <p:ext uri="{BB962C8B-B14F-4D97-AF65-F5344CB8AC3E}">
        <p14:creationId xmlns:p14="http://schemas.microsoft.com/office/powerpoint/2010/main" val="4787277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Un problema que todavía no se puede resolver bien</a:t>
            </a:r>
          </a:p>
        </p:txBody>
      </p:sp>
      <p:sp>
        <p:nvSpPr>
          <p:cNvPr id="11" name="CuadroTexto 10">
            <a:extLst>
              <a:ext uri="{FF2B5EF4-FFF2-40B4-BE49-F238E27FC236}">
                <a16:creationId xmlns:a16="http://schemas.microsoft.com/office/drawing/2014/main" id="{688FC587-B925-4872-9176-CBAE616BD677}"/>
              </a:ext>
            </a:extLst>
          </p:cNvPr>
          <p:cNvSpPr txBox="1"/>
          <p:nvPr/>
        </p:nvSpPr>
        <p:spPr>
          <a:xfrm>
            <a:off x="308007" y="5541382"/>
            <a:ext cx="8512465" cy="923330"/>
          </a:xfrm>
          <a:prstGeom prst="rect">
            <a:avLst/>
          </a:prstGeom>
          <a:solidFill>
            <a:schemeClr val="bg2"/>
          </a:solidFill>
        </p:spPr>
        <p:txBody>
          <a:bodyPr wrap="square">
            <a:spAutoFit/>
          </a:bodyPr>
          <a:lstStyle/>
          <a:p>
            <a:r>
              <a:rPr lang="es-MX" b="1" dirty="0"/>
              <a:t>Pregunta</a:t>
            </a:r>
            <a:r>
              <a:rPr lang="es-MX" dirty="0"/>
              <a:t>: El promedio solo se conoce después de leer todas las notas. ¿Cómo se compara cada nota con el promedio, si las anteriores ya se perdieron? ¿Qué pasaría si el curso tuviera 40 estudiantes y se usaran 40 variables?</a:t>
            </a:r>
          </a:p>
        </p:txBody>
      </p:sp>
      <p:sp>
        <p:nvSpPr>
          <p:cNvPr id="6" name="12 Rectángulo">
            <a:extLst>
              <a:ext uri="{FF2B5EF4-FFF2-40B4-BE49-F238E27FC236}">
                <a16:creationId xmlns:a16="http://schemas.microsoft.com/office/drawing/2014/main" id="{A73AFEAC-B223-4D7F-B142-1E206A88BEB3}"/>
              </a:ext>
            </a:extLst>
          </p:cNvPr>
          <p:cNvSpPr/>
          <p:nvPr/>
        </p:nvSpPr>
        <p:spPr>
          <a:xfrm>
            <a:off x="144639" y="692696"/>
            <a:ext cx="8854721" cy="4124206"/>
          </a:xfrm>
          <a:prstGeom prst="rect">
            <a:avLst/>
          </a:prstGeom>
        </p:spPr>
        <p:txBody>
          <a:bodyPr wrap="square">
            <a:spAutoFit/>
          </a:bodyPr>
          <a:lstStyle/>
          <a:p>
            <a:pPr rtl="0"/>
            <a:r>
              <a:rPr lang="es-MX" sz="2200" b="1" dirty="0"/>
              <a:t>Enunciado</a:t>
            </a:r>
            <a:r>
              <a:rPr lang="es-MX" sz="2200" dirty="0"/>
              <a:t>:</a:t>
            </a:r>
          </a:p>
          <a:p>
            <a:pPr rtl="0"/>
            <a:r>
              <a:rPr lang="es-MX" sz="2000" dirty="0"/>
              <a:t>Leer las notas de los estudiantes de un curso y mostrar </a:t>
            </a:r>
            <a:r>
              <a:rPr lang="es-MX" sz="2000" b="1" dirty="0"/>
              <a:t>cuántas notas son mayores que el promedio</a:t>
            </a:r>
            <a:r>
              <a:rPr lang="es-MX" sz="2000" dirty="0"/>
              <a:t>.</a:t>
            </a:r>
          </a:p>
          <a:p>
            <a:pPr marL="342900" indent="-342900" rtl="0">
              <a:buFont typeface="Arial" panose="020B0604020202020204" pitchFamily="34" charset="0"/>
              <a:buChar char="•"/>
            </a:pPr>
            <a:r>
              <a:rPr lang="es-MX" sz="2000" b="1" dirty="0"/>
              <a:t>Archivo</a:t>
            </a:r>
            <a:r>
              <a:rPr lang="es-MX" sz="2000" dirty="0"/>
              <a:t>: </a:t>
            </a:r>
            <a:r>
              <a:rPr lang="es-MX" dirty="0">
                <a:latin typeface="Consolas" panose="020B0609020204030204" pitchFamily="49" charset="0"/>
              </a:rPr>
              <a:t>notas_sin_arreglos.py</a:t>
            </a:r>
            <a:r>
              <a:rPr lang="es-MX" sz="2000" dirty="0"/>
              <a:t> (líneas 9–19)</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Salida</a:t>
            </a:r>
            <a:r>
              <a:rPr lang="es-MX" sz="2000" dirty="0"/>
              <a:t> (con 4 estudiantes: 3.0, 4.5, 2.0, 4.0):</a:t>
            </a:r>
          </a:p>
        </p:txBody>
      </p:sp>
      <p:sp>
        <p:nvSpPr>
          <p:cNvPr id="7" name="CuadroTexto 6">
            <a:extLst>
              <a:ext uri="{FF2B5EF4-FFF2-40B4-BE49-F238E27FC236}">
                <a16:creationId xmlns:a16="http://schemas.microsoft.com/office/drawing/2014/main" id="{41CE0D67-953B-4B33-BC21-F6E2079C93A0}"/>
              </a:ext>
            </a:extLst>
          </p:cNvPr>
          <p:cNvSpPr txBox="1"/>
          <p:nvPr/>
        </p:nvSpPr>
        <p:spPr>
          <a:xfrm>
            <a:off x="1043607" y="2097430"/>
            <a:ext cx="7056784" cy="2123658"/>
          </a:xfrm>
          <a:prstGeom prst="rect">
            <a:avLst/>
          </a:prstGeom>
          <a:noFill/>
          <a:ln>
            <a:solidFill>
              <a:schemeClr val="tx1"/>
            </a:solidFill>
          </a:ln>
        </p:spPr>
        <p:txBody>
          <a:bodyPr wrap="square">
            <a:spAutoFit/>
          </a:bodyPr>
          <a:lstStyle/>
          <a:p>
            <a:r>
              <a:rPr lang="es-CO" sz="1200" dirty="0">
                <a:latin typeface="Consolas" panose="020B0609020204030204" pitchFamily="49" charset="0"/>
              </a:rPr>
              <a:t> 9  </a:t>
            </a:r>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main</a:t>
            </a:r>
            <a:r>
              <a:rPr lang="es-CO" sz="1200" dirty="0">
                <a:latin typeface="Consolas" panose="020B0609020204030204" pitchFamily="49" charset="0"/>
              </a:rPr>
              <a:t>():</a:t>
            </a:r>
          </a:p>
          <a:p>
            <a:r>
              <a:rPr lang="es-CO" sz="1200" dirty="0">
                <a:latin typeface="Consolas" panose="020B0609020204030204" pitchFamily="49" charset="0"/>
              </a:rPr>
              <a:t>10      cantidad = </a:t>
            </a:r>
            <a:r>
              <a:rPr lang="es-CO" sz="1200" dirty="0" err="1">
                <a:latin typeface="Consolas" panose="020B0609020204030204" pitchFamily="49" charset="0"/>
              </a:rPr>
              <a:t>int</a:t>
            </a:r>
            <a:r>
              <a:rPr lang="es-CO" sz="1200" dirty="0">
                <a:latin typeface="Consolas" panose="020B0609020204030204" pitchFamily="49" charset="0"/>
              </a:rPr>
              <a:t>(input("Cantidad de estudiantes: "))</a:t>
            </a:r>
          </a:p>
          <a:p>
            <a:r>
              <a:rPr lang="es-CO" sz="1200" dirty="0">
                <a:latin typeface="Consolas" panose="020B0609020204030204" pitchFamily="49" charset="0"/>
              </a:rPr>
              <a:t>11      suma = 0.0</a:t>
            </a:r>
          </a:p>
          <a:p>
            <a:r>
              <a:rPr lang="es-CO" sz="1200" dirty="0">
                <a:latin typeface="Consolas" panose="020B0609020204030204" pitchFamily="49" charset="0"/>
              </a:rPr>
              <a:t>12      for i in range(cantidad):</a:t>
            </a:r>
          </a:p>
          <a:p>
            <a:r>
              <a:rPr lang="es-CO" sz="1200" dirty="0">
                <a:latin typeface="Consolas" panose="020B0609020204030204" pitchFamily="49" charset="0"/>
              </a:rPr>
              <a:t>13          nota = float(input(</a:t>
            </a:r>
            <a:r>
              <a:rPr lang="es-CO" sz="1200" dirty="0" err="1">
                <a:latin typeface="Consolas" panose="020B0609020204030204" pitchFamily="49" charset="0"/>
              </a:rPr>
              <a:t>f"Nota</a:t>
            </a:r>
            <a:r>
              <a:rPr lang="es-CO" sz="1200" dirty="0">
                <a:latin typeface="Consolas" panose="020B0609020204030204" pitchFamily="49" charset="0"/>
              </a:rPr>
              <a:t> del estudiante {i + 1}: "))</a:t>
            </a:r>
          </a:p>
          <a:p>
            <a:r>
              <a:rPr lang="es-CO" sz="1200" dirty="0">
                <a:latin typeface="Consolas" panose="020B0609020204030204" pitchFamily="49" charset="0"/>
              </a:rPr>
              <a:t>14          suma += nota</a:t>
            </a:r>
          </a:p>
          <a:p>
            <a:r>
              <a:rPr lang="es-CO" sz="1200" dirty="0">
                <a:latin typeface="Consolas" panose="020B0609020204030204" pitchFamily="49" charset="0"/>
              </a:rPr>
              <a:t>15      promedio = suma / cantidad</a:t>
            </a:r>
          </a:p>
          <a:p>
            <a:r>
              <a:rPr lang="es-CO" sz="1200" dirty="0">
                <a:latin typeface="Consolas" panose="020B0609020204030204" pitchFamily="49" charset="0"/>
              </a:rPr>
              <a:t>16      print(</a:t>
            </a:r>
            <a:r>
              <a:rPr lang="es-CO" sz="1200" dirty="0" err="1">
                <a:latin typeface="Consolas" panose="020B0609020204030204" pitchFamily="49" charset="0"/>
              </a:rPr>
              <a:t>f"Promedio</a:t>
            </a:r>
            <a:r>
              <a:rPr lang="es-CO" sz="1200" dirty="0">
                <a:latin typeface="Consolas" panose="020B0609020204030204" pitchFamily="49" charset="0"/>
              </a:rPr>
              <a:t> del curso: {promedio:.2f}")</a:t>
            </a:r>
          </a:p>
          <a:p>
            <a:r>
              <a:rPr lang="es-CO" sz="1200" dirty="0">
                <a:latin typeface="Consolas" panose="020B0609020204030204" pitchFamily="49" charset="0"/>
              </a:rPr>
              <a:t>17      # ¿Cuántas notas son mayores que el promedio?</a:t>
            </a:r>
          </a:p>
          <a:p>
            <a:r>
              <a:rPr lang="es-CO" sz="1200" dirty="0">
                <a:latin typeface="Consolas" panose="020B0609020204030204" pitchFamily="49" charset="0"/>
              </a:rPr>
              <a:t>18      # Problema: la variable nota solo conserva la última nota leída.</a:t>
            </a:r>
          </a:p>
          <a:p>
            <a:r>
              <a:rPr lang="es-CO" sz="1200" dirty="0">
                <a:latin typeface="Consolas" panose="020B0609020204030204" pitchFamily="49" charset="0"/>
              </a:rPr>
              <a:t>19      print(</a:t>
            </a:r>
            <a:r>
              <a:rPr lang="es-CO" sz="1200" dirty="0" err="1">
                <a:latin typeface="Consolas" panose="020B0609020204030204" pitchFamily="49" charset="0"/>
              </a:rPr>
              <a:t>f"Nota</a:t>
            </a:r>
            <a:r>
              <a:rPr lang="es-CO" sz="1200" dirty="0">
                <a:latin typeface="Consolas" panose="020B0609020204030204" pitchFamily="49" charset="0"/>
              </a:rPr>
              <a:t> guardada en la variable nota: {nota}")</a:t>
            </a:r>
          </a:p>
        </p:txBody>
      </p:sp>
      <p:sp>
        <p:nvSpPr>
          <p:cNvPr id="8" name="CuadroTexto 7">
            <a:extLst>
              <a:ext uri="{FF2B5EF4-FFF2-40B4-BE49-F238E27FC236}">
                <a16:creationId xmlns:a16="http://schemas.microsoft.com/office/drawing/2014/main" id="{5B10E6FD-9F29-438D-815C-B2E85E0B9B12}"/>
              </a:ext>
            </a:extLst>
          </p:cNvPr>
          <p:cNvSpPr txBox="1"/>
          <p:nvPr/>
        </p:nvSpPr>
        <p:spPr>
          <a:xfrm>
            <a:off x="1043607" y="4865680"/>
            <a:ext cx="7056784" cy="461665"/>
          </a:xfrm>
          <a:prstGeom prst="rect">
            <a:avLst/>
          </a:prstGeom>
          <a:noFill/>
          <a:ln>
            <a:solidFill>
              <a:schemeClr val="tx1"/>
            </a:solidFill>
          </a:ln>
        </p:spPr>
        <p:txBody>
          <a:bodyPr wrap="square">
            <a:spAutoFit/>
          </a:bodyPr>
          <a:lstStyle/>
          <a:p>
            <a:r>
              <a:rPr lang="es-MX" sz="1200" dirty="0">
                <a:latin typeface="Consolas" panose="020B0609020204030204" pitchFamily="49" charset="0"/>
              </a:rPr>
              <a:t>Promedio del curso: 3.38</a:t>
            </a:r>
          </a:p>
          <a:p>
            <a:r>
              <a:rPr lang="es-MX" sz="1200" dirty="0">
                <a:latin typeface="Consolas" panose="020B0609020204030204" pitchFamily="49" charset="0"/>
              </a:rPr>
              <a:t>Nota guardada en la variable nota: 4.0</a:t>
            </a:r>
            <a:endParaRPr lang="es-CO" sz="1200" dirty="0">
              <a:latin typeface="Consolas" panose="020B0609020204030204" pitchFamily="49" charset="0"/>
            </a:endParaRPr>
          </a:p>
        </p:txBody>
      </p:sp>
    </p:spTree>
    <p:extLst>
      <p:ext uri="{BB962C8B-B14F-4D97-AF65-F5344CB8AC3E}">
        <p14:creationId xmlns:p14="http://schemas.microsoft.com/office/powerpoint/2010/main" val="188786709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Próxima clase: arreglos (listas en Python)</a:t>
            </a:r>
          </a:p>
        </p:txBody>
      </p:sp>
      <p:sp>
        <p:nvSpPr>
          <p:cNvPr id="6" name="12 Rectángulo">
            <a:extLst>
              <a:ext uri="{FF2B5EF4-FFF2-40B4-BE49-F238E27FC236}">
                <a16:creationId xmlns:a16="http://schemas.microsoft.com/office/drawing/2014/main" id="{A73AFEAC-B223-4D7F-B142-1E206A88BEB3}"/>
              </a:ext>
            </a:extLst>
          </p:cNvPr>
          <p:cNvSpPr/>
          <p:nvPr/>
        </p:nvSpPr>
        <p:spPr>
          <a:xfrm>
            <a:off x="181774" y="911285"/>
            <a:ext cx="8854721" cy="1015663"/>
          </a:xfrm>
          <a:prstGeom prst="rect">
            <a:avLst/>
          </a:prstGeom>
        </p:spPr>
        <p:txBody>
          <a:bodyPr wrap="square">
            <a:spAutoFit/>
          </a:bodyPr>
          <a:lstStyle/>
          <a:p>
            <a:pPr marL="342900" indent="-342900" rtl="0">
              <a:buFont typeface="Arial" panose="020B0604020202020204" pitchFamily="34" charset="0"/>
              <a:buChar char="•"/>
            </a:pPr>
            <a:r>
              <a:rPr lang="es-MX" sz="2000" dirty="0"/>
              <a:t>Un arreglo es como una variable que guarda muchos valores, y a cada uno se accede por su posición.</a:t>
            </a:r>
          </a:p>
          <a:p>
            <a:pPr marL="342900" indent="-342900" rtl="0">
              <a:buFont typeface="Arial" panose="020B0604020202020204" pitchFamily="34" charset="0"/>
              <a:buChar char="•"/>
            </a:pPr>
            <a:r>
              <a:rPr lang="es-MX" sz="2000" dirty="0"/>
              <a:t>Las posiciones empiezan en 0.</a:t>
            </a:r>
          </a:p>
        </p:txBody>
      </p:sp>
      <p:pic>
        <p:nvPicPr>
          <p:cNvPr id="3" name="Imagen 2">
            <a:extLst>
              <a:ext uri="{FF2B5EF4-FFF2-40B4-BE49-F238E27FC236}">
                <a16:creationId xmlns:a16="http://schemas.microsoft.com/office/drawing/2014/main" id="{9E8A2A30-42A2-437D-8D64-422690A0DF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880" y="2488530"/>
            <a:ext cx="8618120" cy="1880939"/>
          </a:xfrm>
          <a:prstGeom prst="rect">
            <a:avLst/>
          </a:prstGeom>
        </p:spPr>
      </p:pic>
    </p:spTree>
    <p:extLst>
      <p:ext uri="{BB962C8B-B14F-4D97-AF65-F5344CB8AC3E}">
        <p14:creationId xmlns:p14="http://schemas.microsoft.com/office/powerpoint/2010/main" val="28761848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07504" y="23817"/>
            <a:ext cx="7886700" cy="812895"/>
          </a:xfrm>
        </p:spPr>
        <p:txBody>
          <a:bodyPr>
            <a:normAutofit/>
          </a:bodyPr>
          <a:lstStyle/>
          <a:p>
            <a:r>
              <a:rPr lang="en-US" sz="4000" dirty="0"/>
              <a:t>Referencias</a:t>
            </a:r>
          </a:p>
        </p:txBody>
      </p:sp>
      <p:sp>
        <p:nvSpPr>
          <p:cNvPr id="2" name="Content Placeholder 1"/>
          <p:cNvSpPr>
            <a:spLocks noGrp="1"/>
          </p:cNvSpPr>
          <p:nvPr>
            <p:ph idx="1"/>
          </p:nvPr>
        </p:nvSpPr>
        <p:spPr>
          <a:xfrm>
            <a:off x="179512" y="692696"/>
            <a:ext cx="8712968" cy="6048672"/>
          </a:xfrm>
        </p:spPr>
        <p:txBody>
          <a:bodyPr>
            <a:noAutofit/>
          </a:bodyPr>
          <a:lstStyle/>
          <a:p>
            <a:pPr rtl="0">
              <a:buFont typeface="Arial" panose="020B0604020202020204" pitchFamily="34" charset="0"/>
              <a:buChar char="•"/>
            </a:pPr>
            <a:r>
              <a:rPr lang="es-MX" sz="2000" dirty="0"/>
              <a:t>Aprender a Programar: Abstracción en programación. Concepto. Diseño top-</a:t>
            </a:r>
            <a:r>
              <a:rPr lang="es-MX" sz="2000" dirty="0" err="1"/>
              <a:t>down</a:t>
            </a:r>
            <a:r>
              <a:rPr lang="es-MX" sz="2000" dirty="0"/>
              <a:t> de algoritmos y programas. Ejemplos (CU00225A) </a:t>
            </a:r>
            <a:r>
              <a:rPr lang="es-MX" sz="2000" dirty="0">
                <a:hlinkClick r:id="rId2"/>
              </a:rPr>
              <a:t>https://www.aprenderaprogramar.com/index.php?option=com_content&amp;view=category&amp;id=36&amp;Itemid=60</a:t>
            </a:r>
            <a:r>
              <a:rPr lang="es-MX" sz="2000" dirty="0"/>
              <a:t>  </a:t>
            </a:r>
          </a:p>
          <a:p>
            <a:pPr rtl="0">
              <a:buFont typeface="Arial" panose="020B0604020202020204" pitchFamily="34" charset="0"/>
              <a:buChar char="•"/>
            </a:pPr>
            <a:r>
              <a:rPr lang="es-MX" sz="2000" dirty="0"/>
              <a:t>Stanford CS106A, </a:t>
            </a:r>
            <a:r>
              <a:rPr lang="es-MX" sz="2000" i="1" dirty="0"/>
              <a:t>Karel Reader</a:t>
            </a:r>
            <a:r>
              <a:rPr lang="es-MX" sz="2000" dirty="0"/>
              <a:t>, cap. 8: </a:t>
            </a:r>
            <a:r>
              <a:rPr lang="es-MX" sz="2000" i="1" dirty="0" err="1"/>
              <a:t>Stepwise</a:t>
            </a:r>
            <a:r>
              <a:rPr lang="es-MX" sz="2000" i="1" dirty="0"/>
              <a:t> </a:t>
            </a:r>
            <a:r>
              <a:rPr lang="es-MX" sz="2000" i="1" dirty="0" err="1"/>
              <a:t>Refinement</a:t>
            </a:r>
            <a:br>
              <a:rPr lang="es-MX" sz="2000" dirty="0"/>
            </a:br>
            <a:r>
              <a:rPr lang="es-MX" sz="2000" dirty="0">
                <a:hlinkClick r:id="rId3"/>
              </a:rPr>
              <a:t>https://compedu.stanford.edu/karel-reader/docs/python/en/chapter8.html</a:t>
            </a:r>
            <a:endParaRPr lang="es-MX" sz="2000" dirty="0"/>
          </a:p>
          <a:p>
            <a:pPr rtl="0">
              <a:buFont typeface="Arial" panose="020B0604020202020204" pitchFamily="34" charset="0"/>
              <a:buChar char="•"/>
            </a:pPr>
            <a:r>
              <a:rPr lang="es-MX" sz="2000" dirty="0"/>
              <a:t>Stanford CS106A, lección 3: </a:t>
            </a:r>
            <a:r>
              <a:rPr lang="es-MX" sz="2000" i="1" dirty="0" err="1"/>
              <a:t>Decomposition</a:t>
            </a:r>
            <a:br>
              <a:rPr lang="es-MX" sz="2000" dirty="0"/>
            </a:br>
            <a:r>
              <a:rPr lang="es-MX" sz="2000" dirty="0">
                <a:hlinkClick r:id="rId4"/>
              </a:rPr>
              <a:t>https://web.stanford.edu/class/archive/cs/cs106a/cs106a.1226/lectures/03-decomposition/3-Decomposition.pdf</a:t>
            </a:r>
            <a:endParaRPr lang="es-MX" sz="2000" dirty="0"/>
          </a:p>
          <a:p>
            <a:pPr rtl="0">
              <a:buFont typeface="Arial" panose="020B0604020202020204" pitchFamily="34" charset="0"/>
              <a:buChar char="•"/>
            </a:pPr>
            <a:r>
              <a:rPr lang="es-MX" sz="2000" dirty="0"/>
              <a:t>MIT 6.100L, lección 7: </a:t>
            </a:r>
            <a:r>
              <a:rPr lang="es-MX" sz="2000" i="1" dirty="0" err="1"/>
              <a:t>Decomposition</a:t>
            </a:r>
            <a:r>
              <a:rPr lang="es-MX" sz="2000" i="1" dirty="0"/>
              <a:t>, </a:t>
            </a:r>
            <a:r>
              <a:rPr lang="es-MX" sz="2000" i="1" dirty="0" err="1"/>
              <a:t>Abstraction</a:t>
            </a:r>
            <a:r>
              <a:rPr lang="es-MX" sz="2000" i="1" dirty="0"/>
              <a:t>, </a:t>
            </a:r>
            <a:r>
              <a:rPr lang="es-MX" sz="2000" i="1" dirty="0" err="1"/>
              <a:t>Functions</a:t>
            </a:r>
            <a:r>
              <a:rPr lang="es-MX" sz="2000" dirty="0"/>
              <a:t> (diapositivas)</a:t>
            </a:r>
            <a:br>
              <a:rPr lang="es-MX" sz="2000" dirty="0"/>
            </a:br>
            <a:r>
              <a:rPr lang="es-MX" sz="2000" dirty="0">
                <a:hlinkClick r:id="rId5"/>
              </a:rPr>
              <a:t>https://ocw.mit.edu/courses/6-100l-introduction-to-cs-and-programming-using-python-fall-2022/resources/mit6_100l_f22_lec07_pdf/</a:t>
            </a:r>
            <a:endParaRPr lang="es-MX" sz="2000" dirty="0"/>
          </a:p>
          <a:p>
            <a:pPr rtl="0">
              <a:buFont typeface="Arial" panose="020B0604020202020204" pitchFamily="34" charset="0"/>
              <a:buChar char="•"/>
            </a:pPr>
            <a:r>
              <a:rPr lang="es-MX" sz="2000" dirty="0"/>
              <a:t>MIT 6.100L, lección 7 (video)</a:t>
            </a:r>
            <a:br>
              <a:rPr lang="es-MX" sz="2000" dirty="0"/>
            </a:br>
            <a:r>
              <a:rPr lang="es-MX" sz="2000" dirty="0">
                <a:hlinkClick r:id="rId6"/>
              </a:rPr>
              <a:t>https://ocw.mit.edu/courses/6-100l-introduction-to-cs-and-programming-using-python-fall-2022/resources/6100l-lecture-7-multi_mp4/</a:t>
            </a:r>
            <a:endParaRPr lang="es-MX" sz="2000" dirty="0"/>
          </a:p>
          <a:p>
            <a:pPr rtl="0">
              <a:buFont typeface="Arial" panose="020B0604020202020204" pitchFamily="34" charset="0"/>
              <a:buChar char="•"/>
            </a:pPr>
            <a:r>
              <a:rPr lang="es-MX" sz="2000" dirty="0"/>
              <a:t>CS50P, lección 0: </a:t>
            </a:r>
            <a:r>
              <a:rPr lang="es-MX" sz="2000" i="1" dirty="0" err="1"/>
              <a:t>Functions</a:t>
            </a:r>
            <a:r>
              <a:rPr lang="es-MX" sz="2000" i="1" dirty="0"/>
              <a:t>, Variables</a:t>
            </a:r>
            <a:br>
              <a:rPr lang="es-MX" sz="2000" dirty="0"/>
            </a:br>
            <a:r>
              <a:rPr lang="es-MX" sz="2000" dirty="0">
                <a:hlinkClick r:id="rId7"/>
              </a:rPr>
              <a:t>https://cs50.harvard.edu/python/notes/0/</a:t>
            </a:r>
            <a:endParaRPr lang="es-MX" sz="2000" dirty="0"/>
          </a:p>
          <a:p>
            <a:pPr rtl="0"/>
            <a:r>
              <a:rPr lang="en-US" sz="2000" dirty="0"/>
              <a:t>Liang, Y. D. </a:t>
            </a:r>
            <a:r>
              <a:rPr lang="en-US" sz="2000" i="1" dirty="0"/>
              <a:t>Introduction to Programming Using Python</a:t>
            </a:r>
            <a:r>
              <a:rPr lang="en-US" sz="2000" dirty="0"/>
              <a:t>, §6.13 </a:t>
            </a:r>
            <a:r>
              <a:rPr lang="en-US" sz="2000" i="1" dirty="0"/>
              <a:t>Function Abstraction and Stepwise Refinement</a:t>
            </a:r>
            <a:endParaRPr lang="es-MX" sz="2000" dirty="0"/>
          </a:p>
        </p:txBody>
      </p:sp>
    </p:spTree>
    <p:extLst>
      <p:ext uri="{BB962C8B-B14F-4D97-AF65-F5344CB8AC3E}">
        <p14:creationId xmlns:p14="http://schemas.microsoft.com/office/powerpoint/2010/main" val="10231648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07504" y="23817"/>
            <a:ext cx="7886700" cy="812895"/>
          </a:xfrm>
        </p:spPr>
        <p:txBody>
          <a:bodyPr>
            <a:normAutofit/>
          </a:bodyPr>
          <a:lstStyle/>
          <a:p>
            <a:r>
              <a:rPr lang="en-US" sz="4000" dirty="0"/>
              <a:t>Referencias</a:t>
            </a:r>
          </a:p>
        </p:txBody>
      </p:sp>
      <p:sp>
        <p:nvSpPr>
          <p:cNvPr id="2" name="Content Placeholder 1"/>
          <p:cNvSpPr>
            <a:spLocks noGrp="1"/>
          </p:cNvSpPr>
          <p:nvPr>
            <p:ph idx="1"/>
          </p:nvPr>
        </p:nvSpPr>
        <p:spPr>
          <a:xfrm>
            <a:off x="218875" y="836712"/>
            <a:ext cx="8784976" cy="5832648"/>
          </a:xfrm>
        </p:spPr>
        <p:txBody>
          <a:bodyPr>
            <a:noAutofit/>
          </a:bodyPr>
          <a:lstStyle/>
          <a:p>
            <a:r>
              <a:rPr lang="es-CO" sz="1400" dirty="0">
                <a:hlinkClick r:id="rId2"/>
              </a:rPr>
              <a:t>https://ellibrodepython.com/</a:t>
            </a:r>
            <a:endParaRPr lang="es-CO" sz="1400" dirty="0"/>
          </a:p>
          <a:p>
            <a:r>
              <a:rPr lang="es-CO" sz="1400" dirty="0">
                <a:hlinkClick r:id="rId3"/>
              </a:rPr>
              <a:t>https://www.uvm.edu/~cbcafier/</a:t>
            </a:r>
            <a:endParaRPr lang="es-CO" sz="1400" dirty="0"/>
          </a:p>
          <a:p>
            <a:r>
              <a:rPr lang="es-CO" sz="1400" dirty="0">
                <a:hlinkClick r:id="rId4"/>
              </a:rPr>
              <a:t>https://realpython.com/</a:t>
            </a:r>
            <a:endParaRPr lang="es-CO" sz="1400" dirty="0"/>
          </a:p>
          <a:p>
            <a:r>
              <a:rPr lang="es-CO" sz="1400" dirty="0">
                <a:hlinkClick r:id="rId5"/>
              </a:rPr>
              <a:t>https://docs.python.org/es/3/tutorial/</a:t>
            </a:r>
            <a:endParaRPr lang="es-CO" sz="1400" dirty="0"/>
          </a:p>
          <a:p>
            <a:r>
              <a:rPr lang="es-CO" sz="1400" dirty="0">
                <a:hlinkClick r:id="rId6"/>
              </a:rPr>
              <a:t>https://python-course.eu/</a:t>
            </a:r>
            <a:endParaRPr lang="es-CO" sz="1400" dirty="0"/>
          </a:p>
          <a:p>
            <a:r>
              <a:rPr lang="es-CO" sz="1400" dirty="0">
                <a:hlinkClick r:id="rId7"/>
              </a:rPr>
              <a:t>https://www.teach.cs.toronto.edu/~csc110y/fall/notes/</a:t>
            </a:r>
            <a:endParaRPr lang="es-CO" sz="1400" dirty="0"/>
          </a:p>
          <a:p>
            <a:r>
              <a:rPr lang="es-CO" sz="1400" dirty="0">
                <a:hlinkClick r:id="rId8"/>
              </a:rPr>
              <a:t>https://realpython.com/defining-your-own-python-function/</a:t>
            </a:r>
            <a:r>
              <a:rPr lang="es-CO" sz="1400" dirty="0"/>
              <a:t>    </a:t>
            </a:r>
          </a:p>
          <a:p>
            <a:r>
              <a:rPr lang="es-CO" sz="1400" dirty="0">
                <a:hlinkClick r:id="rId9"/>
              </a:rPr>
              <a:t>https://realpython.com/python-built-in-functions/</a:t>
            </a:r>
            <a:endParaRPr lang="es-CO" sz="1400" dirty="0"/>
          </a:p>
          <a:p>
            <a:r>
              <a:rPr lang="es-CO" sz="1400" dirty="0">
                <a:hlinkClick r:id="rId10"/>
              </a:rPr>
              <a:t>https://realpython.com/ref/best-practices/functions/</a:t>
            </a:r>
            <a:r>
              <a:rPr lang="es-CO" sz="1400" dirty="0"/>
              <a:t> </a:t>
            </a:r>
          </a:p>
          <a:p>
            <a:r>
              <a:rPr lang="en-US" sz="1400" dirty="0">
                <a:hlinkClick r:id="rId11"/>
              </a:rPr>
              <a:t>https://realpython.com/python-while-loop/</a:t>
            </a:r>
            <a:endParaRPr lang="en-US" sz="1400" dirty="0"/>
          </a:p>
          <a:p>
            <a:r>
              <a:rPr lang="en-US" sz="1400" dirty="0">
                <a:hlinkClick r:id="rId12"/>
              </a:rPr>
              <a:t>https://realpython.com/ref/keywords/while/</a:t>
            </a:r>
            <a:r>
              <a:rPr lang="en-US" sz="1400" dirty="0"/>
              <a:t> </a:t>
            </a:r>
          </a:p>
          <a:p>
            <a:r>
              <a:rPr lang="en-US" sz="1400" dirty="0">
                <a:hlinkClick r:id="rId13"/>
              </a:rPr>
              <a:t>https://cs.stanford.edu/people/nick/py/</a:t>
            </a:r>
            <a:r>
              <a:rPr lang="en-US" sz="1400" dirty="0"/>
              <a:t> </a:t>
            </a:r>
          </a:p>
          <a:p>
            <a:r>
              <a:rPr lang="en-US" sz="1400" dirty="0">
                <a:hlinkClick r:id="rId7"/>
              </a:rPr>
              <a:t>https://www.teach.cs.toronto.edu/~csc110y/fall/notes/</a:t>
            </a:r>
            <a:r>
              <a:rPr lang="en-US" sz="1400" dirty="0"/>
              <a:t> </a:t>
            </a:r>
          </a:p>
          <a:p>
            <a:r>
              <a:rPr lang="en-US" sz="1400" dirty="0">
                <a:hlinkClick r:id="rId14"/>
              </a:rPr>
              <a:t>https://github.com/rjherrera/IIC1103/tree/master</a:t>
            </a:r>
            <a:r>
              <a:rPr lang="en-US" sz="1400" dirty="0"/>
              <a:t> </a:t>
            </a:r>
          </a:p>
          <a:p>
            <a:r>
              <a:rPr lang="en-US" sz="1400" dirty="0">
                <a:hlinkClick r:id="rId15"/>
              </a:rPr>
              <a:t>https://web.stanford.edu/class/cs106a/</a:t>
            </a:r>
            <a:r>
              <a:rPr lang="en-US" sz="1400" dirty="0"/>
              <a:t> </a:t>
            </a:r>
          </a:p>
          <a:p>
            <a:r>
              <a:rPr lang="en-US" sz="1400" dirty="0">
                <a:hlinkClick r:id="rId16"/>
              </a:rPr>
              <a:t>https://web.stanford.edu/class/cs106a/section/section1/section1.html</a:t>
            </a:r>
            <a:r>
              <a:rPr lang="en-US" sz="1400" dirty="0"/>
              <a:t> </a:t>
            </a:r>
          </a:p>
          <a:p>
            <a:r>
              <a:rPr lang="en-US" sz="1400" dirty="0">
                <a:hlinkClick r:id="rId17"/>
              </a:rPr>
              <a:t>https://compedu.stanford.edu/karel-reader/docs/python/en/intro.html</a:t>
            </a:r>
            <a:r>
              <a:rPr lang="en-US" sz="1400" dirty="0"/>
              <a:t> </a:t>
            </a:r>
          </a:p>
          <a:p>
            <a:r>
              <a:rPr lang="en-US" sz="1400" dirty="0">
                <a:hlinkClick r:id="rId18"/>
              </a:rPr>
              <a:t>https://es.wikipedia.org/wiki/Karel_el_Robot</a:t>
            </a:r>
            <a:r>
              <a:rPr lang="en-US" sz="1400" dirty="0"/>
              <a:t> </a:t>
            </a:r>
          </a:p>
        </p:txBody>
      </p:sp>
    </p:spTree>
    <p:extLst>
      <p:ext uri="{BB962C8B-B14F-4D97-AF65-F5344CB8AC3E}">
        <p14:creationId xmlns:p14="http://schemas.microsoft.com/office/powerpoint/2010/main" val="56886274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180617"/>
            <a:ext cx="8191822" cy="728103"/>
          </a:xfrm>
        </p:spPr>
        <p:txBody>
          <a:bodyPr/>
          <a:lstStyle/>
          <a:p>
            <a:r>
              <a:rPr lang="es-CO" dirty="0"/>
              <a:t>Eso es todo amigos</a:t>
            </a:r>
            <a:endParaRPr lang="en-US" dirty="0"/>
          </a:p>
        </p:txBody>
      </p:sp>
      <p:pic>
        <p:nvPicPr>
          <p:cNvPr id="4" name="Picture 4">
            <a:extLst>
              <a:ext uri="{FF2B5EF4-FFF2-40B4-BE49-F238E27FC236}">
                <a16:creationId xmlns:a16="http://schemas.microsoft.com/office/drawing/2014/main" id="{7F35EEF4-F126-467F-A5BB-259AA64991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11960" y="912200"/>
            <a:ext cx="4113633" cy="5868856"/>
          </a:xfrm>
          <a:prstGeom prst="rect">
            <a:avLst/>
          </a:prstGeom>
          <a:noFill/>
          <a:extLst>
            <a:ext uri="{909E8E84-426E-40DD-AFC4-6F175D3DCCD1}">
              <a14:hiddenFill xmlns:a14="http://schemas.microsoft.com/office/drawing/2010/main">
                <a:solidFill>
                  <a:srgbClr val="FFFFFF"/>
                </a:solidFill>
              </a14:hiddenFill>
            </a:ext>
          </a:extLst>
        </p:spPr>
      </p:pic>
      <p:sp>
        <p:nvSpPr>
          <p:cNvPr id="5" name="7 Rectángulo">
            <a:extLst>
              <a:ext uri="{FF2B5EF4-FFF2-40B4-BE49-F238E27FC236}">
                <a16:creationId xmlns:a16="http://schemas.microsoft.com/office/drawing/2014/main" id="{27C7AA4C-274E-4F17-B614-41C209AA98D3}"/>
              </a:ext>
            </a:extLst>
          </p:cNvPr>
          <p:cNvSpPr/>
          <p:nvPr/>
        </p:nvSpPr>
        <p:spPr>
          <a:xfrm>
            <a:off x="101021" y="6519446"/>
            <a:ext cx="3678892" cy="261610"/>
          </a:xfrm>
          <a:prstGeom prst="rect">
            <a:avLst/>
          </a:prstGeom>
        </p:spPr>
        <p:txBody>
          <a:bodyPr wrap="square">
            <a:spAutoFit/>
          </a:bodyPr>
          <a:lstStyle/>
          <a:p>
            <a:r>
              <a:rPr lang="es-CO" sz="1100" dirty="0">
                <a:hlinkClick r:id="rId3"/>
              </a:rPr>
              <a:t>https://phdcomics.com/comics/archive.php?comicid=1431</a:t>
            </a:r>
            <a:r>
              <a:rPr lang="es-CO" sz="1100" dirty="0"/>
              <a:t> </a:t>
            </a:r>
          </a:p>
        </p:txBody>
      </p:sp>
      <p:pic>
        <p:nvPicPr>
          <p:cNvPr id="2050" name="Picture 2" descr="Ouch Images – Browse 81,244 Stock Photos, Vectors, and Video | Adobe Stock">
            <a:extLst>
              <a:ext uri="{FF2B5EF4-FFF2-40B4-BE49-F238E27FC236}">
                <a16:creationId xmlns:a16="http://schemas.microsoft.com/office/drawing/2014/main" id="{190AEE93-FCB4-45D0-A740-34697C5E77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7451" y="2496793"/>
            <a:ext cx="3563955" cy="24345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4962735"/>
      </p:ext>
    </p:extLst>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17590</TotalTime>
  <Words>12674</Words>
  <Application>Microsoft Office PowerPoint</Application>
  <PresentationFormat>Presentación en pantalla (4:3)</PresentationFormat>
  <Paragraphs>1693</Paragraphs>
  <Slides>78</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78</vt:i4>
      </vt:variant>
    </vt:vector>
  </HeadingPairs>
  <TitlesOfParts>
    <vt:vector size="85" baseType="lpstr">
      <vt:lpstr>Arial</vt:lpstr>
      <vt:lpstr>Calibri</vt:lpstr>
      <vt:lpstr>Calibri Light</vt:lpstr>
      <vt:lpstr>Cambria Math</vt:lpstr>
      <vt:lpstr>Century Gothic</vt:lpstr>
      <vt:lpstr>Consolas</vt:lpstr>
      <vt:lpstr>Office Theme</vt:lpstr>
      <vt:lpstr>Lógica y Representación 1</vt:lpstr>
      <vt:lpstr>Método de Polya - Resumen</vt:lpstr>
      <vt:lpstr>Entrada, procesamiento y salida</vt:lpstr>
      <vt:lpstr>Arreglos unidimensionales</vt:lpstr>
      <vt:lpstr>Lo que ya se sabe de funciones</vt:lpstr>
      <vt:lpstr>Quién llama y qué recibe de vuelta</vt:lpstr>
      <vt:lpstr>Un programa en varios archivos</vt:lpstr>
      <vt:lpstr>El problema que quedó pendiente</vt:lpstr>
      <vt:lpstr>Posible solución: Una variable por nota </vt:lpstr>
      <vt:lpstr>Otro caso: Los empleados del señor Burns</vt:lpstr>
      <vt:lpstr>¿Qué es un arreglo?</vt:lpstr>
      <vt:lpstr>Partes de un arreglo</vt:lpstr>
      <vt:lpstr>Una variable frente a un arreglo</vt:lpstr>
      <vt:lpstr>La lista usada como arreglo</vt:lpstr>
      <vt:lpstr>Crear un arreglo</vt:lpstr>
      <vt:lpstr>Guardar y leer valores</vt:lpstr>
      <vt:lpstr>El índice puede ser una expresión</vt:lpstr>
      <vt:lpstr>La clave: el índice es una variable</vt:lpstr>
      <vt:lpstr>Llenar un arreglo</vt:lpstr>
      <vt:lpstr>Recorrer y mostrar</vt:lpstr>
      <vt:lpstr>Recorrer y acumular</vt:lpstr>
      <vt:lpstr>Cuidado con salirse del arreglo</vt:lpstr>
      <vt:lpstr>Otros recorridos</vt:lpstr>
      <vt:lpstr>Otros recorridos</vt:lpstr>
      <vt:lpstr>Comparar vecinos</vt:lpstr>
      <vt:lpstr>Asignar una lista no la copia</vt:lpstr>
      <vt:lpstr>Clonar una lista con un recorrido</vt:lpstr>
      <vt:lpstr>Clonar una lista con un recorrido</vt:lpstr>
      <vt:lpstr>Resumen: arreglos en pseudocódigo y Python</vt:lpstr>
      <vt:lpstr>Funciones con listas</vt:lpstr>
      <vt:lpstr>Caso 1: la función recibe una lista y devuelve un valor</vt:lpstr>
      <vt:lpstr>Caso 1: invocar la función con una lista</vt:lpstr>
      <vt:lpstr>Caso 1: probar la función</vt:lpstr>
      <vt:lpstr>Caso 2: la función devuelve una lista</vt:lpstr>
      <vt:lpstr>Caso 2: invocar la función</vt:lpstr>
      <vt:lpstr>Caso 3: la función modifica la lista que recibe</vt:lpstr>
      <vt:lpstr>Caso 3: invocar la función. ¿Por qué cambió la lista afuera?</vt:lpstr>
      <vt:lpstr>Caso 3: probar la función</vt:lpstr>
      <vt:lpstr>Resumen de los 3 casos</vt:lpstr>
      <vt:lpstr>Ámbito de las variables</vt:lpstr>
      <vt:lpstr>Variables globales: ¿Sí o No?</vt:lpstr>
      <vt:lpstr>Errores típicos de ámbito</vt:lpstr>
      <vt:lpstr>Formas de pasar argumentos</vt:lpstr>
      <vt:lpstr>Parámetros con valor por defecto</vt:lpstr>
      <vt:lpstr>Una función que llama a otra</vt:lpstr>
      <vt:lpstr>Resolución de problemas complejos</vt:lpstr>
      <vt:lpstr>El primer nivel: entrada, proceso y salida</vt:lpstr>
      <vt:lpstr>¿Hasta dónde dividir?</vt:lpstr>
      <vt:lpstr>¿Hasta dónde dividir?</vt:lpstr>
      <vt:lpstr>¿Cómo se construye? Top-down y bottom-up</vt:lpstr>
      <vt:lpstr>Top-down: Del planteamiento al código</vt:lpstr>
      <vt:lpstr>Construir de arriba hacia abajo: Los pasos</vt:lpstr>
      <vt:lpstr>Paso 1: esqueleto con stubs</vt:lpstr>
      <vt:lpstr>Paso 2: implementar y probar una función</vt:lpstr>
      <vt:lpstr>Parentesis: ¿Qué pasa si se prueba un stub?</vt:lpstr>
      <vt:lpstr>Paso 3: El programa terminado</vt:lpstr>
      <vt:lpstr>Funciones integradas</vt:lpstr>
      <vt:lpstr>Librerías: funciones que se deben importar</vt:lpstr>
      <vt:lpstr>Modulo math</vt:lpstr>
      <vt:lpstr>Función propia frente a función de librería</vt:lpstr>
      <vt:lpstr>Formas de importar</vt:lpstr>
      <vt:lpstr>¿Cómo consultar una librería?</vt:lpstr>
      <vt:lpstr>¿Cómo consultar una librería?</vt:lpstr>
      <vt:lpstr>Ejercicio de repaso: adivina el número</vt:lpstr>
      <vt:lpstr>Dividir un programa en varios archivos</vt:lpstr>
      <vt:lpstr>¿Qué ocurre al importar un módulo?</vt:lpstr>
      <vt:lpstr>¿Cómo sabe un archivo si fue ejecutado o importado?</vt:lpstr>
      <vt:lpstr>Opción 1: proteger las pruebas con la guarda</vt:lpstr>
      <vt:lpstr>Opción 2: un archivo de pruebas aparte</vt:lpstr>
      <vt:lpstr>¿Dónde se ubican las pruebas? Comparación</vt:lpstr>
      <vt:lpstr>def main() y la guarda en el programa principal</vt:lpstr>
      <vt:lpstr> Errores frecuentes al trabajar con varios archivos</vt:lpstr>
      <vt:lpstr>Resumen de la clase</vt:lpstr>
      <vt:lpstr>Un problema que todavía no se puede resolver bien</vt:lpstr>
      <vt:lpstr>Próxima clase: arreglos (listas en Python)</vt:lpstr>
      <vt:lpstr>Referencias</vt:lpstr>
      <vt:lpstr>Referencias</vt:lpstr>
      <vt:lpstr>Eso es todo amigos</vt:lpstr>
    </vt:vector>
  </TitlesOfParts>
  <Company>Universidad de Antioquia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del curso</dc:title>
  <dc:creator>Apoyo Administrativo Ingeniería</dc:creator>
  <cp:lastModifiedBy>HENRY ALBERTO ARCILA RAMIREZ</cp:lastModifiedBy>
  <cp:revision>324</cp:revision>
  <dcterms:created xsi:type="dcterms:W3CDTF">2015-03-12T20:27:20Z</dcterms:created>
  <dcterms:modified xsi:type="dcterms:W3CDTF">2026-10-19T03:05:59Z</dcterms:modified>
</cp:coreProperties>
</file>