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9" r:id="rId1"/>
  </p:sldMasterIdLst>
  <p:notesMasterIdLst>
    <p:notesMasterId r:id="rId53"/>
  </p:notesMasterIdLst>
  <p:sldIdLst>
    <p:sldId id="281" r:id="rId2"/>
    <p:sldId id="309" r:id="rId3"/>
    <p:sldId id="368" r:id="rId4"/>
    <p:sldId id="594" r:id="rId5"/>
    <p:sldId id="536" r:id="rId6"/>
    <p:sldId id="654" r:id="rId7"/>
    <p:sldId id="653" r:id="rId8"/>
    <p:sldId id="656" r:id="rId9"/>
    <p:sldId id="655" r:id="rId10"/>
    <p:sldId id="657" r:id="rId11"/>
    <p:sldId id="595" r:id="rId12"/>
    <p:sldId id="603" r:id="rId13"/>
    <p:sldId id="604" r:id="rId14"/>
    <p:sldId id="606" r:id="rId15"/>
    <p:sldId id="587" r:id="rId16"/>
    <p:sldId id="580" r:id="rId17"/>
    <p:sldId id="607" r:id="rId18"/>
    <p:sldId id="608" r:id="rId19"/>
    <p:sldId id="609" r:id="rId20"/>
    <p:sldId id="658" r:id="rId21"/>
    <p:sldId id="659" r:id="rId22"/>
    <p:sldId id="613" r:id="rId23"/>
    <p:sldId id="660" r:id="rId24"/>
    <p:sldId id="661" r:id="rId25"/>
    <p:sldId id="610" r:id="rId26"/>
    <p:sldId id="662" r:id="rId27"/>
    <p:sldId id="663" r:id="rId28"/>
    <p:sldId id="664" r:id="rId29"/>
    <p:sldId id="611" r:id="rId30"/>
    <p:sldId id="671" r:id="rId31"/>
    <p:sldId id="612" r:id="rId32"/>
    <p:sldId id="665" r:id="rId33"/>
    <p:sldId id="614" r:id="rId34"/>
    <p:sldId id="666" r:id="rId35"/>
    <p:sldId id="667" r:id="rId36"/>
    <p:sldId id="669" r:id="rId37"/>
    <p:sldId id="670" r:id="rId38"/>
    <p:sldId id="668" r:id="rId39"/>
    <p:sldId id="615" r:id="rId40"/>
    <p:sldId id="616" r:id="rId41"/>
    <p:sldId id="617" r:id="rId42"/>
    <p:sldId id="620" r:id="rId43"/>
    <p:sldId id="672" r:id="rId44"/>
    <p:sldId id="673" r:id="rId45"/>
    <p:sldId id="674" r:id="rId46"/>
    <p:sldId id="675" r:id="rId47"/>
    <p:sldId id="676" r:id="rId48"/>
    <p:sldId id="650" r:id="rId49"/>
    <p:sldId id="618" r:id="rId50"/>
    <p:sldId id="619" r:id="rId51"/>
    <p:sldId id="277" r:id="rId5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Estilo temático 2 - Énfasis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79" autoAdjust="0"/>
    <p:restoredTop sz="94291" autoAdjust="0"/>
  </p:normalViewPr>
  <p:slideViewPr>
    <p:cSldViewPr>
      <p:cViewPr varScale="1">
        <p:scale>
          <a:sx n="69" d="100"/>
          <a:sy n="69" d="100"/>
        </p:scale>
        <p:origin x="136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4617D2-EBA5-43D3-A846-ABD7019008A4}" type="doc">
      <dgm:prSet loTypeId="urn:microsoft.com/office/officeart/2005/8/layout/chevron2" loCatId="process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s-CO"/>
        </a:p>
      </dgm:t>
    </dgm:pt>
    <dgm:pt modelId="{0F6E169A-367E-48F6-8A0F-9538EF72E803}">
      <dgm:prSet phldrT="[Texto]" custT="1"/>
      <dgm:spPr/>
      <dgm:t>
        <a:bodyPr/>
        <a:lstStyle/>
        <a:p>
          <a:r>
            <a:rPr lang="es-CO" sz="1600" dirty="0">
              <a:latin typeface="Century Gothic" panose="020B0502020202020204" pitchFamily="34" charset="0"/>
            </a:rPr>
            <a:t>1</a:t>
          </a:r>
          <a:endParaRPr lang="es-CO" sz="1200" dirty="0">
            <a:latin typeface="Century Gothic" panose="020B0502020202020204" pitchFamily="34" charset="0"/>
          </a:endParaRPr>
        </a:p>
      </dgm:t>
    </dgm:pt>
    <dgm:pt modelId="{214810CF-0E9F-420E-9F44-94CA29248781}" type="parTrans" cxnId="{1D7BCF56-E33F-4A42-8129-E524DE8CA73C}">
      <dgm:prSet/>
      <dgm:spPr/>
      <dgm:t>
        <a:bodyPr/>
        <a:lstStyle/>
        <a:p>
          <a:endParaRPr lang="es-CO" sz="1600"/>
        </a:p>
      </dgm:t>
    </dgm:pt>
    <dgm:pt modelId="{9E3845BF-94AB-444E-AB21-A0DA1B4B1270}" type="sibTrans" cxnId="{1D7BCF56-E33F-4A42-8129-E524DE8CA73C}">
      <dgm:prSet/>
      <dgm:spPr/>
      <dgm:t>
        <a:bodyPr/>
        <a:lstStyle/>
        <a:p>
          <a:endParaRPr lang="es-CO" sz="1600"/>
        </a:p>
      </dgm:t>
    </dgm:pt>
    <dgm:pt modelId="{676AA4D5-22F4-47B3-B0E8-95C3D9C99480}">
      <dgm:prSet phldrT="[Texto]" custT="1"/>
      <dgm:spPr/>
      <dgm:t>
        <a:bodyPr/>
        <a:lstStyle/>
        <a:p>
          <a:pPr>
            <a:buNone/>
          </a:pPr>
          <a:r>
            <a:rPr lang="es-CO" sz="2000" dirty="0">
              <a:latin typeface="Century Gothic" panose="020B0502020202020204" pitchFamily="34" charset="0"/>
            </a:rPr>
            <a:t>Entender el problema</a:t>
          </a:r>
        </a:p>
      </dgm:t>
    </dgm:pt>
    <dgm:pt modelId="{65AE6963-95E3-417E-9DBC-C327427667A9}" type="parTrans" cxnId="{E402CAF0-5AAA-416F-BAF4-3854EF253EE5}">
      <dgm:prSet/>
      <dgm:spPr/>
      <dgm:t>
        <a:bodyPr/>
        <a:lstStyle/>
        <a:p>
          <a:endParaRPr lang="es-CO" sz="1600"/>
        </a:p>
      </dgm:t>
    </dgm:pt>
    <dgm:pt modelId="{BBDCCB86-71C3-422E-959C-8FA92A9124DF}" type="sibTrans" cxnId="{E402CAF0-5AAA-416F-BAF4-3854EF253EE5}">
      <dgm:prSet/>
      <dgm:spPr/>
      <dgm:t>
        <a:bodyPr/>
        <a:lstStyle/>
        <a:p>
          <a:endParaRPr lang="es-CO" sz="1600"/>
        </a:p>
      </dgm:t>
    </dgm:pt>
    <dgm:pt modelId="{9C3C57BE-AD01-47F6-9592-98EF2608A6EF}">
      <dgm:prSet phldrT="[Texto]" custT="1"/>
      <dgm:spPr/>
      <dgm:t>
        <a:bodyPr/>
        <a:lstStyle/>
        <a:p>
          <a:r>
            <a:rPr lang="es-CO" sz="1800" dirty="0">
              <a:latin typeface="Century Gothic" panose="020B0502020202020204" pitchFamily="34" charset="0"/>
            </a:rPr>
            <a:t>2</a:t>
          </a:r>
          <a:endParaRPr lang="es-CO" sz="2400" dirty="0">
            <a:latin typeface="Century Gothic" panose="020B0502020202020204" pitchFamily="34" charset="0"/>
          </a:endParaRPr>
        </a:p>
      </dgm:t>
    </dgm:pt>
    <dgm:pt modelId="{33D25418-EA10-4491-90C6-5683712BE055}" type="parTrans" cxnId="{FBB864E0-2027-4A45-B5D7-110F765EFD96}">
      <dgm:prSet/>
      <dgm:spPr/>
      <dgm:t>
        <a:bodyPr/>
        <a:lstStyle/>
        <a:p>
          <a:endParaRPr lang="es-CO" sz="1600"/>
        </a:p>
      </dgm:t>
    </dgm:pt>
    <dgm:pt modelId="{0019765E-5748-4647-85C8-6E8054C68086}" type="sibTrans" cxnId="{FBB864E0-2027-4A45-B5D7-110F765EFD96}">
      <dgm:prSet/>
      <dgm:spPr/>
      <dgm:t>
        <a:bodyPr/>
        <a:lstStyle/>
        <a:p>
          <a:endParaRPr lang="es-CO" sz="1600"/>
        </a:p>
      </dgm:t>
    </dgm:pt>
    <dgm:pt modelId="{C59A2A35-6BBC-4F81-BD74-40520AACD6AB}">
      <dgm:prSet phldrT="[Texto]"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Diseñar un plan</a:t>
          </a:r>
        </a:p>
      </dgm:t>
    </dgm:pt>
    <dgm:pt modelId="{EDE363E4-7EA3-41D2-8DB9-A0871D9DA325}" type="parTrans" cxnId="{3B1F784D-95DD-4194-A52D-9A5B55BC5BD7}">
      <dgm:prSet/>
      <dgm:spPr/>
      <dgm:t>
        <a:bodyPr/>
        <a:lstStyle/>
        <a:p>
          <a:endParaRPr lang="es-CO" sz="1600"/>
        </a:p>
      </dgm:t>
    </dgm:pt>
    <dgm:pt modelId="{C31DDF04-103F-4600-9F78-0BDCC0BF907B}" type="sibTrans" cxnId="{3B1F784D-95DD-4194-A52D-9A5B55BC5BD7}">
      <dgm:prSet/>
      <dgm:spPr/>
      <dgm:t>
        <a:bodyPr/>
        <a:lstStyle/>
        <a:p>
          <a:endParaRPr lang="es-CO" sz="1600"/>
        </a:p>
      </dgm:t>
    </dgm:pt>
    <dgm:pt modelId="{9AB424BA-7E8B-4D0B-8A3C-3748A54646B8}">
      <dgm:prSet phldrT="[Texto]" custT="1"/>
      <dgm:spPr/>
      <dgm:t>
        <a:bodyPr/>
        <a:lstStyle/>
        <a:p>
          <a:r>
            <a:rPr lang="es-CO" sz="2000" dirty="0">
              <a:latin typeface="Century Gothic" panose="020B0502020202020204" pitchFamily="34" charset="0"/>
            </a:rPr>
            <a:t>3</a:t>
          </a:r>
        </a:p>
      </dgm:t>
    </dgm:pt>
    <dgm:pt modelId="{E543BFA9-86DB-499C-8E83-B32D00A97FD8}" type="parTrans" cxnId="{9DB9632F-E2AC-48EE-840F-D6A88C411EEA}">
      <dgm:prSet/>
      <dgm:spPr/>
      <dgm:t>
        <a:bodyPr/>
        <a:lstStyle/>
        <a:p>
          <a:endParaRPr lang="es-CO" sz="1600"/>
        </a:p>
      </dgm:t>
    </dgm:pt>
    <dgm:pt modelId="{DDCD6E76-3560-4CAA-96A8-94ACFF130E9B}" type="sibTrans" cxnId="{9DB9632F-E2AC-48EE-840F-D6A88C411EEA}">
      <dgm:prSet/>
      <dgm:spPr/>
      <dgm:t>
        <a:bodyPr/>
        <a:lstStyle/>
        <a:p>
          <a:endParaRPr lang="es-CO" sz="1600"/>
        </a:p>
      </dgm:t>
    </dgm:pt>
    <dgm:pt modelId="{BEC04423-D6B7-4792-AEB9-C3D7F81A98AC}">
      <dgm:prSet phldrT="[Texto]"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Implementar el plan</a:t>
          </a:r>
        </a:p>
      </dgm:t>
    </dgm:pt>
    <dgm:pt modelId="{F135D138-85FF-4087-B751-5F159F842289}" type="parTrans" cxnId="{5B0A26F8-5ACB-43D3-A171-6C62CAD4E7BE}">
      <dgm:prSet/>
      <dgm:spPr/>
      <dgm:t>
        <a:bodyPr/>
        <a:lstStyle/>
        <a:p>
          <a:endParaRPr lang="es-CO" sz="1600"/>
        </a:p>
      </dgm:t>
    </dgm:pt>
    <dgm:pt modelId="{AB02689B-5109-4C4C-A9DD-EF332B395FC7}" type="sibTrans" cxnId="{5B0A26F8-5ACB-43D3-A171-6C62CAD4E7BE}">
      <dgm:prSet/>
      <dgm:spPr/>
      <dgm:t>
        <a:bodyPr/>
        <a:lstStyle/>
        <a:p>
          <a:endParaRPr lang="es-CO" sz="1600"/>
        </a:p>
      </dgm:t>
    </dgm:pt>
    <dgm:pt modelId="{6F3FB39C-3E1D-4D2D-849B-EA0299C466C8}">
      <dgm:prSet phldrT="[Texto]" custT="1"/>
      <dgm:spPr/>
      <dgm:t>
        <a:bodyPr/>
        <a:lstStyle/>
        <a:p>
          <a:r>
            <a:rPr lang="es-CO" sz="2000" dirty="0">
              <a:latin typeface="Century Gothic" panose="020B0502020202020204" pitchFamily="34" charset="0"/>
            </a:rPr>
            <a:t>4</a:t>
          </a:r>
        </a:p>
      </dgm:t>
    </dgm:pt>
    <dgm:pt modelId="{F344B892-AD67-4863-B1DB-FFEAC6AE3C6A}" type="parTrans" cxnId="{F85ACEEE-F8C0-443C-BAAF-021763D37073}">
      <dgm:prSet/>
      <dgm:spPr/>
      <dgm:t>
        <a:bodyPr/>
        <a:lstStyle/>
        <a:p>
          <a:endParaRPr lang="es-CO" sz="1600"/>
        </a:p>
      </dgm:t>
    </dgm:pt>
    <dgm:pt modelId="{2E86F725-3FD8-4480-8AF6-6A89E142D77A}" type="sibTrans" cxnId="{F85ACEEE-F8C0-443C-BAAF-021763D37073}">
      <dgm:prSet/>
      <dgm:spPr/>
      <dgm:t>
        <a:bodyPr/>
        <a:lstStyle/>
        <a:p>
          <a:endParaRPr lang="es-CO" sz="1600"/>
        </a:p>
      </dgm:t>
    </dgm:pt>
    <dgm:pt modelId="{DCCFDBD5-3BD5-4368-8E74-2BE430318114}">
      <dgm:prSet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Revisar el plan</a:t>
          </a:r>
        </a:p>
      </dgm:t>
    </dgm:pt>
    <dgm:pt modelId="{E9C3A1B1-6767-4D4A-B32D-4EDACFE1C0F4}" type="parTrans" cxnId="{95C514DE-3460-4712-B0CD-D954FE76DB64}">
      <dgm:prSet/>
      <dgm:spPr/>
      <dgm:t>
        <a:bodyPr/>
        <a:lstStyle/>
        <a:p>
          <a:endParaRPr lang="es-CO" sz="1600"/>
        </a:p>
      </dgm:t>
    </dgm:pt>
    <dgm:pt modelId="{159A55EA-C5B7-4F9E-8222-A763BEB4D99B}" type="sibTrans" cxnId="{95C514DE-3460-4712-B0CD-D954FE76DB64}">
      <dgm:prSet/>
      <dgm:spPr/>
      <dgm:t>
        <a:bodyPr/>
        <a:lstStyle/>
        <a:p>
          <a:endParaRPr lang="es-CO" sz="1600"/>
        </a:p>
      </dgm:t>
    </dgm:pt>
    <dgm:pt modelId="{C30EB98C-BF8E-47B5-A59F-A3E708D5551C}" type="pres">
      <dgm:prSet presAssocID="{234617D2-EBA5-43D3-A846-ABD7019008A4}" presName="linearFlow" presStyleCnt="0">
        <dgm:presLayoutVars>
          <dgm:dir/>
          <dgm:animLvl val="lvl"/>
          <dgm:resizeHandles val="exact"/>
        </dgm:presLayoutVars>
      </dgm:prSet>
      <dgm:spPr/>
    </dgm:pt>
    <dgm:pt modelId="{B5976899-2FC4-4A3E-891A-B74C8C23C8B5}" type="pres">
      <dgm:prSet presAssocID="{0F6E169A-367E-48F6-8A0F-9538EF72E803}" presName="composite" presStyleCnt="0"/>
      <dgm:spPr/>
    </dgm:pt>
    <dgm:pt modelId="{416A876F-5FA3-42F9-A923-4E2C334EF9BC}" type="pres">
      <dgm:prSet presAssocID="{0F6E169A-367E-48F6-8A0F-9538EF72E803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344A86B1-48E8-448F-9C6D-71580BFB5F83}" type="pres">
      <dgm:prSet presAssocID="{0F6E169A-367E-48F6-8A0F-9538EF72E803}" presName="descendantText" presStyleLbl="alignAcc1" presStyleIdx="0" presStyleCnt="4">
        <dgm:presLayoutVars>
          <dgm:bulletEnabled val="1"/>
        </dgm:presLayoutVars>
      </dgm:prSet>
      <dgm:spPr/>
    </dgm:pt>
    <dgm:pt modelId="{19B3EDEB-1CF9-4423-9037-F0221A01EBBA}" type="pres">
      <dgm:prSet presAssocID="{9E3845BF-94AB-444E-AB21-A0DA1B4B1270}" presName="sp" presStyleCnt="0"/>
      <dgm:spPr/>
    </dgm:pt>
    <dgm:pt modelId="{5D167E8C-136F-440C-8D10-651E4D964A72}" type="pres">
      <dgm:prSet presAssocID="{9C3C57BE-AD01-47F6-9592-98EF2608A6EF}" presName="composite" presStyleCnt="0"/>
      <dgm:spPr/>
    </dgm:pt>
    <dgm:pt modelId="{A651636C-CE47-4575-AA1E-AB00D80E941D}" type="pres">
      <dgm:prSet presAssocID="{9C3C57BE-AD01-47F6-9592-98EF2608A6EF}" presName="parentText" presStyleLbl="alignNode1" presStyleIdx="1" presStyleCnt="4" custLinFactNeighborY="0">
        <dgm:presLayoutVars>
          <dgm:chMax val="1"/>
          <dgm:bulletEnabled val="1"/>
        </dgm:presLayoutVars>
      </dgm:prSet>
      <dgm:spPr/>
    </dgm:pt>
    <dgm:pt modelId="{79B0DE70-0A03-4A6F-B31F-EC81EB5DF7EA}" type="pres">
      <dgm:prSet presAssocID="{9C3C57BE-AD01-47F6-9592-98EF2608A6EF}" presName="descendantText" presStyleLbl="alignAcc1" presStyleIdx="1" presStyleCnt="4">
        <dgm:presLayoutVars>
          <dgm:bulletEnabled val="1"/>
        </dgm:presLayoutVars>
      </dgm:prSet>
      <dgm:spPr/>
    </dgm:pt>
    <dgm:pt modelId="{5C2D5B77-4FD3-4BFC-B7C7-B69CFA47B819}" type="pres">
      <dgm:prSet presAssocID="{0019765E-5748-4647-85C8-6E8054C68086}" presName="sp" presStyleCnt="0"/>
      <dgm:spPr/>
    </dgm:pt>
    <dgm:pt modelId="{FD9C2F86-B450-49A0-8639-065AE676C080}" type="pres">
      <dgm:prSet presAssocID="{9AB424BA-7E8B-4D0B-8A3C-3748A54646B8}" presName="composite" presStyleCnt="0"/>
      <dgm:spPr/>
    </dgm:pt>
    <dgm:pt modelId="{2AA7B02C-023E-4537-897E-B54A048C8983}" type="pres">
      <dgm:prSet presAssocID="{9AB424BA-7E8B-4D0B-8A3C-3748A54646B8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15D3D31F-A831-4E62-ADE9-6ACE81331CDC}" type="pres">
      <dgm:prSet presAssocID="{9AB424BA-7E8B-4D0B-8A3C-3748A54646B8}" presName="descendantText" presStyleLbl="alignAcc1" presStyleIdx="2" presStyleCnt="4">
        <dgm:presLayoutVars>
          <dgm:bulletEnabled val="1"/>
        </dgm:presLayoutVars>
      </dgm:prSet>
      <dgm:spPr/>
    </dgm:pt>
    <dgm:pt modelId="{365F76A6-EF4F-41D1-B81D-BC3D7851A081}" type="pres">
      <dgm:prSet presAssocID="{DDCD6E76-3560-4CAA-96A8-94ACFF130E9B}" presName="sp" presStyleCnt="0"/>
      <dgm:spPr/>
    </dgm:pt>
    <dgm:pt modelId="{4DB00594-09F9-4225-B772-B1D52DAEEAB6}" type="pres">
      <dgm:prSet presAssocID="{6F3FB39C-3E1D-4D2D-849B-EA0299C466C8}" presName="composite" presStyleCnt="0"/>
      <dgm:spPr/>
    </dgm:pt>
    <dgm:pt modelId="{58E45CBE-DE64-4E4E-8AAA-D376465B2BEE}" type="pres">
      <dgm:prSet presAssocID="{6F3FB39C-3E1D-4D2D-849B-EA0299C466C8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C37D6712-7A35-4663-80F7-1B8FC410AF19}" type="pres">
      <dgm:prSet presAssocID="{6F3FB39C-3E1D-4D2D-849B-EA0299C466C8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D25A530A-E341-4BA7-8999-21A374D537D3}" type="presOf" srcId="{BEC04423-D6B7-4792-AEB9-C3D7F81A98AC}" destId="{15D3D31F-A831-4E62-ADE9-6ACE81331CDC}" srcOrd="0" destOrd="0" presId="urn:microsoft.com/office/officeart/2005/8/layout/chevron2"/>
    <dgm:cxn modelId="{0F63B510-A033-48E8-A5FD-87C76FF5A9D6}" type="presOf" srcId="{0F6E169A-367E-48F6-8A0F-9538EF72E803}" destId="{416A876F-5FA3-42F9-A923-4E2C334EF9BC}" srcOrd="0" destOrd="0" presId="urn:microsoft.com/office/officeart/2005/8/layout/chevron2"/>
    <dgm:cxn modelId="{09EB6217-24CA-4B61-90D2-9CF7E646FA43}" type="presOf" srcId="{234617D2-EBA5-43D3-A846-ABD7019008A4}" destId="{C30EB98C-BF8E-47B5-A59F-A3E708D5551C}" srcOrd="0" destOrd="0" presId="urn:microsoft.com/office/officeart/2005/8/layout/chevron2"/>
    <dgm:cxn modelId="{9DB9632F-E2AC-48EE-840F-D6A88C411EEA}" srcId="{234617D2-EBA5-43D3-A846-ABD7019008A4}" destId="{9AB424BA-7E8B-4D0B-8A3C-3748A54646B8}" srcOrd="2" destOrd="0" parTransId="{E543BFA9-86DB-499C-8E83-B32D00A97FD8}" sibTransId="{DDCD6E76-3560-4CAA-96A8-94ACFF130E9B}"/>
    <dgm:cxn modelId="{5C56243F-7D54-4FD5-BD45-EEAB6E9334A6}" type="presOf" srcId="{676AA4D5-22F4-47B3-B0E8-95C3D9C99480}" destId="{344A86B1-48E8-448F-9C6D-71580BFB5F83}" srcOrd="0" destOrd="0" presId="urn:microsoft.com/office/officeart/2005/8/layout/chevron2"/>
    <dgm:cxn modelId="{3EF6886C-4FCF-4899-8F48-98F458A380A4}" type="presOf" srcId="{DCCFDBD5-3BD5-4368-8E74-2BE430318114}" destId="{C37D6712-7A35-4663-80F7-1B8FC410AF19}" srcOrd="0" destOrd="0" presId="urn:microsoft.com/office/officeart/2005/8/layout/chevron2"/>
    <dgm:cxn modelId="{3B1F784D-95DD-4194-A52D-9A5B55BC5BD7}" srcId="{9C3C57BE-AD01-47F6-9592-98EF2608A6EF}" destId="{C59A2A35-6BBC-4F81-BD74-40520AACD6AB}" srcOrd="0" destOrd="0" parTransId="{EDE363E4-7EA3-41D2-8DB9-A0871D9DA325}" sibTransId="{C31DDF04-103F-4600-9F78-0BDCC0BF907B}"/>
    <dgm:cxn modelId="{1D7BCF56-E33F-4A42-8129-E524DE8CA73C}" srcId="{234617D2-EBA5-43D3-A846-ABD7019008A4}" destId="{0F6E169A-367E-48F6-8A0F-9538EF72E803}" srcOrd="0" destOrd="0" parTransId="{214810CF-0E9F-420E-9F44-94CA29248781}" sibTransId="{9E3845BF-94AB-444E-AB21-A0DA1B4B1270}"/>
    <dgm:cxn modelId="{E8354084-D26E-4270-954C-74C7F6A06793}" type="presOf" srcId="{C59A2A35-6BBC-4F81-BD74-40520AACD6AB}" destId="{79B0DE70-0A03-4A6F-B31F-EC81EB5DF7EA}" srcOrd="0" destOrd="0" presId="urn:microsoft.com/office/officeart/2005/8/layout/chevron2"/>
    <dgm:cxn modelId="{BF2B6EA9-3F5A-49C1-AF7E-EC921192B9DE}" type="presOf" srcId="{9C3C57BE-AD01-47F6-9592-98EF2608A6EF}" destId="{A651636C-CE47-4575-AA1E-AB00D80E941D}" srcOrd="0" destOrd="0" presId="urn:microsoft.com/office/officeart/2005/8/layout/chevron2"/>
    <dgm:cxn modelId="{95C514DE-3460-4712-B0CD-D954FE76DB64}" srcId="{6F3FB39C-3E1D-4D2D-849B-EA0299C466C8}" destId="{DCCFDBD5-3BD5-4368-8E74-2BE430318114}" srcOrd="0" destOrd="0" parTransId="{E9C3A1B1-6767-4D4A-B32D-4EDACFE1C0F4}" sibTransId="{159A55EA-C5B7-4F9E-8222-A763BEB4D99B}"/>
    <dgm:cxn modelId="{FBB864E0-2027-4A45-B5D7-110F765EFD96}" srcId="{234617D2-EBA5-43D3-A846-ABD7019008A4}" destId="{9C3C57BE-AD01-47F6-9592-98EF2608A6EF}" srcOrd="1" destOrd="0" parTransId="{33D25418-EA10-4491-90C6-5683712BE055}" sibTransId="{0019765E-5748-4647-85C8-6E8054C68086}"/>
    <dgm:cxn modelId="{448B48EB-E488-4909-82B4-2E61877F00AE}" type="presOf" srcId="{6F3FB39C-3E1D-4D2D-849B-EA0299C466C8}" destId="{58E45CBE-DE64-4E4E-8AAA-D376465B2BEE}" srcOrd="0" destOrd="0" presId="urn:microsoft.com/office/officeart/2005/8/layout/chevron2"/>
    <dgm:cxn modelId="{E644B3EB-418D-4B1A-83D6-8DCC10BE06E8}" type="presOf" srcId="{9AB424BA-7E8B-4D0B-8A3C-3748A54646B8}" destId="{2AA7B02C-023E-4537-897E-B54A048C8983}" srcOrd="0" destOrd="0" presId="urn:microsoft.com/office/officeart/2005/8/layout/chevron2"/>
    <dgm:cxn modelId="{F85ACEEE-F8C0-443C-BAAF-021763D37073}" srcId="{234617D2-EBA5-43D3-A846-ABD7019008A4}" destId="{6F3FB39C-3E1D-4D2D-849B-EA0299C466C8}" srcOrd="3" destOrd="0" parTransId="{F344B892-AD67-4863-B1DB-FFEAC6AE3C6A}" sibTransId="{2E86F725-3FD8-4480-8AF6-6A89E142D77A}"/>
    <dgm:cxn modelId="{E402CAF0-5AAA-416F-BAF4-3854EF253EE5}" srcId="{0F6E169A-367E-48F6-8A0F-9538EF72E803}" destId="{676AA4D5-22F4-47B3-B0E8-95C3D9C99480}" srcOrd="0" destOrd="0" parTransId="{65AE6963-95E3-417E-9DBC-C327427667A9}" sibTransId="{BBDCCB86-71C3-422E-959C-8FA92A9124DF}"/>
    <dgm:cxn modelId="{5B0A26F8-5ACB-43D3-A171-6C62CAD4E7BE}" srcId="{9AB424BA-7E8B-4D0B-8A3C-3748A54646B8}" destId="{BEC04423-D6B7-4792-AEB9-C3D7F81A98AC}" srcOrd="0" destOrd="0" parTransId="{F135D138-85FF-4087-B751-5F159F842289}" sibTransId="{AB02689B-5109-4C4C-A9DD-EF332B395FC7}"/>
    <dgm:cxn modelId="{AC4A8FF1-0B42-4570-ACB4-F62AD10AC7E7}" type="presParOf" srcId="{C30EB98C-BF8E-47B5-A59F-A3E708D5551C}" destId="{B5976899-2FC4-4A3E-891A-B74C8C23C8B5}" srcOrd="0" destOrd="0" presId="urn:microsoft.com/office/officeart/2005/8/layout/chevron2"/>
    <dgm:cxn modelId="{78437963-1AD6-4AA2-99FF-D3C136E6C1B9}" type="presParOf" srcId="{B5976899-2FC4-4A3E-891A-B74C8C23C8B5}" destId="{416A876F-5FA3-42F9-A923-4E2C334EF9BC}" srcOrd="0" destOrd="0" presId="urn:microsoft.com/office/officeart/2005/8/layout/chevron2"/>
    <dgm:cxn modelId="{E5BB8A76-3CEA-42DE-8EE6-7959F74B0BB9}" type="presParOf" srcId="{B5976899-2FC4-4A3E-891A-B74C8C23C8B5}" destId="{344A86B1-48E8-448F-9C6D-71580BFB5F83}" srcOrd="1" destOrd="0" presId="urn:microsoft.com/office/officeart/2005/8/layout/chevron2"/>
    <dgm:cxn modelId="{1409A561-56BE-41EC-823E-CEEC12A8CF50}" type="presParOf" srcId="{C30EB98C-BF8E-47B5-A59F-A3E708D5551C}" destId="{19B3EDEB-1CF9-4423-9037-F0221A01EBBA}" srcOrd="1" destOrd="0" presId="urn:microsoft.com/office/officeart/2005/8/layout/chevron2"/>
    <dgm:cxn modelId="{69FAE29B-8826-413D-A90D-E3D1914BB7C5}" type="presParOf" srcId="{C30EB98C-BF8E-47B5-A59F-A3E708D5551C}" destId="{5D167E8C-136F-440C-8D10-651E4D964A72}" srcOrd="2" destOrd="0" presId="urn:microsoft.com/office/officeart/2005/8/layout/chevron2"/>
    <dgm:cxn modelId="{26C5ECD3-BE74-4234-955C-82B823BF9F9B}" type="presParOf" srcId="{5D167E8C-136F-440C-8D10-651E4D964A72}" destId="{A651636C-CE47-4575-AA1E-AB00D80E941D}" srcOrd="0" destOrd="0" presId="urn:microsoft.com/office/officeart/2005/8/layout/chevron2"/>
    <dgm:cxn modelId="{BFF53C8A-F466-46C1-9066-7E1EB74CF072}" type="presParOf" srcId="{5D167E8C-136F-440C-8D10-651E4D964A72}" destId="{79B0DE70-0A03-4A6F-B31F-EC81EB5DF7EA}" srcOrd="1" destOrd="0" presId="urn:microsoft.com/office/officeart/2005/8/layout/chevron2"/>
    <dgm:cxn modelId="{530A7BC0-79AB-4546-A568-2187FF19F65D}" type="presParOf" srcId="{C30EB98C-BF8E-47B5-A59F-A3E708D5551C}" destId="{5C2D5B77-4FD3-4BFC-B7C7-B69CFA47B819}" srcOrd="3" destOrd="0" presId="urn:microsoft.com/office/officeart/2005/8/layout/chevron2"/>
    <dgm:cxn modelId="{BE3F6BE8-AEFA-4235-B54E-61907BC9372B}" type="presParOf" srcId="{C30EB98C-BF8E-47B5-A59F-A3E708D5551C}" destId="{FD9C2F86-B450-49A0-8639-065AE676C080}" srcOrd="4" destOrd="0" presId="urn:microsoft.com/office/officeart/2005/8/layout/chevron2"/>
    <dgm:cxn modelId="{2E20AF7C-4B60-47FB-B029-F81F1CE8FCB7}" type="presParOf" srcId="{FD9C2F86-B450-49A0-8639-065AE676C080}" destId="{2AA7B02C-023E-4537-897E-B54A048C8983}" srcOrd="0" destOrd="0" presId="urn:microsoft.com/office/officeart/2005/8/layout/chevron2"/>
    <dgm:cxn modelId="{0573D7AB-2C25-487B-B0E2-947295CA4BF1}" type="presParOf" srcId="{FD9C2F86-B450-49A0-8639-065AE676C080}" destId="{15D3D31F-A831-4E62-ADE9-6ACE81331CDC}" srcOrd="1" destOrd="0" presId="urn:microsoft.com/office/officeart/2005/8/layout/chevron2"/>
    <dgm:cxn modelId="{49FE4450-ED31-4DD4-95F8-F34D880718F4}" type="presParOf" srcId="{C30EB98C-BF8E-47B5-A59F-A3E708D5551C}" destId="{365F76A6-EF4F-41D1-B81D-BC3D7851A081}" srcOrd="5" destOrd="0" presId="urn:microsoft.com/office/officeart/2005/8/layout/chevron2"/>
    <dgm:cxn modelId="{D297B7B3-984B-4BEF-88CF-E8496B62D532}" type="presParOf" srcId="{C30EB98C-BF8E-47B5-A59F-A3E708D5551C}" destId="{4DB00594-09F9-4225-B772-B1D52DAEEAB6}" srcOrd="6" destOrd="0" presId="urn:microsoft.com/office/officeart/2005/8/layout/chevron2"/>
    <dgm:cxn modelId="{58E3F0DF-7BFD-4BEB-873F-CA02319F1E26}" type="presParOf" srcId="{4DB00594-09F9-4225-B772-B1D52DAEEAB6}" destId="{58E45CBE-DE64-4E4E-8AAA-D376465B2BEE}" srcOrd="0" destOrd="0" presId="urn:microsoft.com/office/officeart/2005/8/layout/chevron2"/>
    <dgm:cxn modelId="{C405AC97-4C54-4757-8651-AB11924A4B6F}" type="presParOf" srcId="{4DB00594-09F9-4225-B772-B1D52DAEEAB6}" destId="{C37D6712-7A35-4663-80F7-1B8FC410AF1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6A876F-5FA3-42F9-A923-4E2C334EF9BC}">
      <dsp:nvSpPr>
        <dsp:cNvPr id="0" name=""/>
        <dsp:cNvSpPr/>
      </dsp:nvSpPr>
      <dsp:spPr>
        <a:xfrm rot="5400000">
          <a:off x="-106543" y="109307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>
              <a:latin typeface="Century Gothic" panose="020B0502020202020204" pitchFamily="34" charset="0"/>
            </a:rPr>
            <a:t>1</a:t>
          </a:r>
          <a:endParaRPr lang="es-CO" sz="1200" kern="1200" dirty="0">
            <a:latin typeface="Century Gothic" panose="020B0502020202020204" pitchFamily="34" charset="0"/>
          </a:endParaRPr>
        </a:p>
      </dsp:txBody>
      <dsp:txXfrm rot="-5400000">
        <a:off x="0" y="251365"/>
        <a:ext cx="497202" cy="213086"/>
      </dsp:txXfrm>
    </dsp:sp>
    <dsp:sp modelId="{344A86B1-48E8-448F-9C6D-71580BFB5F83}">
      <dsp:nvSpPr>
        <dsp:cNvPr id="0" name=""/>
        <dsp:cNvSpPr/>
      </dsp:nvSpPr>
      <dsp:spPr>
        <a:xfrm rot="5400000">
          <a:off x="2825947" y="-2325981"/>
          <a:ext cx="461930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Entender el problema</a:t>
          </a:r>
        </a:p>
      </dsp:txBody>
      <dsp:txXfrm rot="-5400000">
        <a:off x="497202" y="25314"/>
        <a:ext cx="5096871" cy="416830"/>
      </dsp:txXfrm>
    </dsp:sp>
    <dsp:sp modelId="{A651636C-CE47-4575-AA1E-AB00D80E941D}">
      <dsp:nvSpPr>
        <dsp:cNvPr id="0" name=""/>
        <dsp:cNvSpPr/>
      </dsp:nvSpPr>
      <dsp:spPr>
        <a:xfrm rot="5400000">
          <a:off x="-106543" y="658631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252426"/>
                <a:satOff val="3301"/>
                <a:lumOff val="-40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52426"/>
                <a:satOff val="3301"/>
                <a:lumOff val="-40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52426"/>
                <a:satOff val="3301"/>
                <a:lumOff val="-40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252426"/>
              <a:satOff val="3301"/>
              <a:lumOff val="-40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>
              <a:latin typeface="Century Gothic" panose="020B0502020202020204" pitchFamily="34" charset="0"/>
            </a:rPr>
            <a:t>2</a:t>
          </a:r>
          <a:endParaRPr lang="es-CO" sz="2400" kern="1200" dirty="0">
            <a:latin typeface="Century Gothic" panose="020B0502020202020204" pitchFamily="34" charset="0"/>
          </a:endParaRPr>
        </a:p>
      </dsp:txBody>
      <dsp:txXfrm rot="-5400000">
        <a:off x="0" y="800689"/>
        <a:ext cx="497202" cy="213086"/>
      </dsp:txXfrm>
    </dsp:sp>
    <dsp:sp modelId="{79B0DE70-0A03-4A6F-B31F-EC81EB5DF7EA}">
      <dsp:nvSpPr>
        <dsp:cNvPr id="0" name=""/>
        <dsp:cNvSpPr/>
      </dsp:nvSpPr>
      <dsp:spPr>
        <a:xfrm rot="5400000">
          <a:off x="2826069" y="-1776779"/>
          <a:ext cx="461687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252426"/>
              <a:satOff val="3301"/>
              <a:lumOff val="-40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Diseñar un plan</a:t>
          </a:r>
        </a:p>
      </dsp:txBody>
      <dsp:txXfrm rot="-5400000">
        <a:off x="497202" y="574626"/>
        <a:ext cx="5096883" cy="416611"/>
      </dsp:txXfrm>
    </dsp:sp>
    <dsp:sp modelId="{2AA7B02C-023E-4537-897E-B54A048C8983}">
      <dsp:nvSpPr>
        <dsp:cNvPr id="0" name=""/>
        <dsp:cNvSpPr/>
      </dsp:nvSpPr>
      <dsp:spPr>
        <a:xfrm rot="5400000">
          <a:off x="-106543" y="1207954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504853"/>
                <a:satOff val="6602"/>
                <a:lumOff val="-81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04853"/>
                <a:satOff val="6602"/>
                <a:lumOff val="-81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04853"/>
                <a:satOff val="6602"/>
                <a:lumOff val="-81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504853"/>
              <a:satOff val="6602"/>
              <a:lumOff val="-81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3</a:t>
          </a:r>
        </a:p>
      </dsp:txBody>
      <dsp:txXfrm rot="-5400000">
        <a:off x="0" y="1350012"/>
        <a:ext cx="497202" cy="213086"/>
      </dsp:txXfrm>
    </dsp:sp>
    <dsp:sp modelId="{15D3D31F-A831-4E62-ADE9-6ACE81331CDC}">
      <dsp:nvSpPr>
        <dsp:cNvPr id="0" name=""/>
        <dsp:cNvSpPr/>
      </dsp:nvSpPr>
      <dsp:spPr>
        <a:xfrm rot="5400000">
          <a:off x="2826069" y="-1227455"/>
          <a:ext cx="461687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504853"/>
              <a:satOff val="6602"/>
              <a:lumOff val="-81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Implementar el plan</a:t>
          </a:r>
        </a:p>
      </dsp:txBody>
      <dsp:txXfrm rot="-5400000">
        <a:off x="497202" y="1123950"/>
        <a:ext cx="5096883" cy="416611"/>
      </dsp:txXfrm>
    </dsp:sp>
    <dsp:sp modelId="{58E45CBE-DE64-4E4E-8AAA-D376465B2BEE}">
      <dsp:nvSpPr>
        <dsp:cNvPr id="0" name=""/>
        <dsp:cNvSpPr/>
      </dsp:nvSpPr>
      <dsp:spPr>
        <a:xfrm rot="5400000">
          <a:off x="-106543" y="1757278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757279"/>
                <a:satOff val="9903"/>
                <a:lumOff val="-1215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757279"/>
                <a:satOff val="9903"/>
                <a:lumOff val="-1215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757279"/>
                <a:satOff val="9903"/>
                <a:lumOff val="-1215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757279"/>
              <a:satOff val="9903"/>
              <a:lumOff val="-121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4</a:t>
          </a:r>
        </a:p>
      </dsp:txBody>
      <dsp:txXfrm rot="-5400000">
        <a:off x="0" y="1899336"/>
        <a:ext cx="497202" cy="213086"/>
      </dsp:txXfrm>
    </dsp:sp>
    <dsp:sp modelId="{C37D6712-7A35-4663-80F7-1B8FC410AF19}">
      <dsp:nvSpPr>
        <dsp:cNvPr id="0" name=""/>
        <dsp:cNvSpPr/>
      </dsp:nvSpPr>
      <dsp:spPr>
        <a:xfrm rot="5400000">
          <a:off x="2826069" y="-678132"/>
          <a:ext cx="461687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757279"/>
              <a:satOff val="9903"/>
              <a:lumOff val="-121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Revisar el plan</a:t>
          </a:r>
        </a:p>
      </dsp:txBody>
      <dsp:txXfrm rot="-5400000">
        <a:off x="497202" y="1673273"/>
        <a:ext cx="5096883" cy="416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43A3E-55B9-4706-BA6E-9364B5247742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8B099-0CC4-41E8-A6BF-D10E445BFF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5684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E389-1891-4C1C-AE7B-96446A92669F}" type="datetime1">
              <a:rPr lang="es-CO" smtClean="0"/>
              <a:t>18/10/2026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6620888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7211-2E02-4E34-9D1C-742DBBA2E713}" type="datetime1">
              <a:rPr lang="es-CO" smtClean="0"/>
              <a:t>18/10/2026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1991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16AA-8F92-4F8D-9FF5-AE4F5F025475}" type="datetime1">
              <a:rPr lang="es-CO" smtClean="0"/>
              <a:t>18/10/2026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2149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2889A-C4A3-4C6C-A514-E9566A95FF0B}" type="datetime1">
              <a:rPr lang="es-CO" smtClean="0"/>
              <a:t>18/10/2026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1312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49B8-F78E-4015-8DD3-99AC842EEF5C}" type="datetime1">
              <a:rPr lang="es-CO" smtClean="0"/>
              <a:t>18/10/2026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385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E389-1891-4C1C-AE7B-96446A92669F}" type="datetime1">
              <a:rPr lang="es-CO" smtClean="0"/>
              <a:t>18/10/2026</a:t>
            </a:fld>
            <a:endParaRPr lang="es-C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8510513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5FDE-4F9B-4FF4-9D4F-6D3ED15F62CE}" type="datetime1">
              <a:rPr lang="es-CO" smtClean="0"/>
              <a:t>18/10/2026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683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392FA-6414-43D4-857F-1D16849F2AFB}" type="datetime1">
              <a:rPr lang="es-CO" smtClean="0"/>
              <a:t>18/10/2026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845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ADB1-43E6-4CC5-8BA6-A3F5A7E6EF55}" type="datetime1">
              <a:rPr lang="es-CO" smtClean="0"/>
              <a:t>18/10/2026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063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921E5-6957-4C84-BD80-156D13F58C59}" type="datetime1">
              <a:rPr lang="es-CO" smtClean="0"/>
              <a:t>18/10/2026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121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B61D7-E979-4A0B-B106-A9203ABD6AA5}" type="datetime1">
              <a:rPr lang="es-CO" smtClean="0"/>
              <a:t>18/10/2026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2539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7211-2E02-4E34-9D1C-742DBBA2E713}" type="datetime1">
              <a:rPr lang="es-CO" smtClean="0"/>
              <a:t>18/10/2026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6410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AE389-1891-4C1C-AE7B-96446A92669F}" type="datetime1">
              <a:rPr lang="es-CO" smtClean="0"/>
              <a:t>18/10/2026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43474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65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cs-comics.com/how-an-array-of-integers-gets-stored-in-memory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hyperlink" Target="https://pythontutor.com/visualize.html#code=d%20%3D%20%5B2,3,5%5D%0Aprint%28f%22d%5B0%5D%20%3D%20%7Bd%5B0%5D%7D%22%29%0Aprint%28f%22d%5B1%5D%20%3D%20%7Bd%5B1%5D%7D%22%29%0Aprint%28f%22d%5B2%5D%20%3D%20%7Bd%5B2%5D%7D%22%29&amp;curInstr=0&amp;mode=display&amp;origin=opt-frontend.js&amp;py=311" TargetMode="Externa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def%20celsius_a_fahrenheit%28temp_c%29%3A%0A%20%20%20%20%22%22%22%0A%20%20%20%20Convierte%20una%20temperatura%20de%20grados%20Celsius%20a%20grados%20Fahrenheit.%0A%0A%20%20%20%20Supone%3A%0A%20%20%20%20%20%20%20%20temp_c%20es%20un%20numero%20%28int%20o%20float%29%20mayor%20o%20igual%20a%20-273.15%0A%20%20%20%20%20%20%20%20%28el%20cero%20absoluto%29.%0A%20%20%20%20Garantiza%3A%0A%20%20%20%20%20%20%20%20Retorna%20la%20temperatura%20equivalente%20en%20grados%20Fahrenheit%20%28float%29.%0A%20%20%20%20%22%22%22%0A%20%20%20%20temp_f%20%3D%20%289%20/%205%29%20*%20temp_c%20%2B%2032%0A%20%20%20%20return%20temp_f%0A%0Atemp_c%20%3D%20float%28input%28%22Ingrese%20los%20%C2%B0C%3A%20%22%29%29%0Atemp_f%20%3D%20celsius_a_fahrenheit%28temp_c%29%0Aprint%28f%22%7Btemp_c%7D%20%C2%B0C%20%3D%20%7Btemp_f%3A.2f%7D%20%C2%B0F%22%29%0A&amp;curInstr=0&amp;mode=display&amp;origin=opt-frontend.js&amp;py=311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pythontutor.com/visualize.html#code=N%20%3D%204%0Anotas%20%3D%20%5B0.0%5D%20*%20N%20%20%20%20%23%204%20casillas,%20todas%20en%200.0%0Anotas%5B2%5D%20%3D%202.0%20%20%20%20%20%20%20%23%20se%20llega%20a%20la%20casilla%20por%20su%20posicion%0Aprint%28notas%29%20%20%20%20%20%20%20%20%20%23%20%5B0.0,%200.0,%202.0,%200.0%5D&amp;curInstr=0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N%20%3D%204%0Anotas%20%3D%20%5B0.0%5D%20*%20N%0Anotas%5B0%5D%20%3D%203.0%0A%0A%23%20Leer%3A%20el%20valor%20llega%20desde%20el%20teclado%0Anotas%5B1%5D%20%3D%20float%28input%28%22Nota%3A%20%22%29%29%0A%0A%23%20Mostrar%3A%20el%20valor%20sale%20a%20la%20pantalla%0Aprint%28notas%5B0%5D%29%0A%0A%23%20Copiar%20y%20usar%20en%20una%20expresion%0Aprimera%20%3D%20notas%5B0%5D%0Asuma%20%3D%20notas%5B0%5D%20%2B%20notas%5B1%5D%0Aprint%28%22Suma%3A%22,%20suma%29&amp;curInstr=0&amp;mode=display&amp;origin=opt-frontend.js&amp;py=311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pythontutor.com/visualize.html#code=A%20%3D%20%5B2%2C%205%2C%20-1%2C%200%2C%207%2C%2010%2C%2017%2C%20-3%5D%0AB%20%3D%20%5B0%2C%201%2C%2015%2C%20-8%2C%205%2C%207%2C%20-2%2C%200%5D%0A%0AB%5B2%5D%20%3D%20A%5B0%5D%20%2A%203%0AB%5B3%5D%20%3D%20B%5B3%5D%20%2B%20A%5B4%5D%0AB%5BA%5B3%5D%5D%20%3D%20A%5B5%5D%20%2F%2F%20B%5B1%5D%0AB%5BA%5B6%5D%20%25%20A%5B5%5D%5D%20%3D%20A%5BA%5B7%5D%20%2B%20A%5B5%5D%5D%20%2B%20B%5B2%5D%20%2A%20-3%0A%0Aprint%28B%29%0A&amp;cumulative=false&amp;curInstr=0&amp;heapPrimitives=nevernest&amp;mode=display&amp;origin=opt-frontend.js&amp;py=311&amp;rawInputLstJSON=%5B%5D&amp;textReferences=fals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notas%20%3D%20%5B3.0,%204.5,%202,%204.0%5D%0A%0AN%20%3D%204%0Aaprobo%20%3D%20%5BFalse%5D%20*%20N%0A%0Afor%20i%20in%20range%28N%29%3A%0A%20%20aprobo%5Bi%5D%20%3D%20notas%5Bi%5D%20%3E%3D%203.0%0A&amp;curInstr=0&amp;mode=display&amp;origin=opt-frontend.js&amp;py=311" TargetMode="External"/><Relationship Id="rId2" Type="http://schemas.openxmlformats.org/officeDocument/2006/relationships/hyperlink" Target="https://pythontutor.com/visualize.html#code=N%20%3D%204%0Anotas%20%3D%20%5B0.0%5D%20%2A%20N%0Afor%20i%20in%20range%28N%29%3A%0A%20%20%20%20notas%5Bi%5D%20%3D%20float%28input%28f%22Nota%20del%20estudiante%20%7Bi%20%2B%201%7D%3A%20%22%29%29%0Aprint%28notas%29%0A&amp;cumulative=false&amp;curInstr=0&amp;heapPrimitives=nevernest&amp;mode=display&amp;origin=opt-frontend.js&amp;py=311&amp;rawInputLstJSON=%5B%223.0%22%2C%20%224.5%22%2C%20%222.0%22%2C%20%224.0%22%5D&amp;textReferences=false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notas%20%3D%20%5B3.0%2C%204.5%2C%202.0%2C%204.0%5D%0Afor%20nota%20in%20notas%3A%0A%20%20%20%20print%28%22Nota%3A%22%2C%20nota%29%0A&amp;cumulative=false&amp;curInstr=0&amp;heapPrimitives=nevernest&amp;mode=display&amp;origin=opt-frontend.js&amp;py=311&amp;rawInputLstJSON=%5B%5D&amp;textReferences=false" TargetMode="External"/><Relationship Id="rId2" Type="http://schemas.openxmlformats.org/officeDocument/2006/relationships/hyperlink" Target="https://pythontutor.com/visualize.html#code=N%20%3D%204%0Anotas%20%3D%20%5B3.0%2C%204.5%2C%202.0%2C%204.0%5D%0Afor%20i%20in%20range%28N%29%3A%0A%20%20%20%20print%28f%22Posicion%20%7Bi%7D%3A%20%7Bnotas%5Bi%5D%7D%22%29%0A&amp;cumulative=false&amp;curInstr=0&amp;heapPrimitives=nevernest&amp;mode=display&amp;origin=opt-frontend.js&amp;py=311&amp;rawInputLstJSON=%5B%5D&amp;textReferences=false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tutor.com/visualize.html#code=notas%20%3D%20%5B3.0%2C%204.5%2C%202.0%2C%204.0%5D%0AN%20%3D%204%0Asuma%20%3D%200%0Afor%20i%20in%20range%28N%29%3A%0A%20%20%20%20suma%20%3D%20suma%20%2B%20notas%5Bi%5D%0Apromedio%20%3D%20suma%20%2F%20N%0Aprint%28f%22Promedio%3A%20%7Bpromedio%3A.2f%7D%22%29%0A&amp;cumulative=false&amp;curInstr=0&amp;heapPrimitives=nevernest&amp;mode=display&amp;origin=opt-frontend.js&amp;py=311&amp;rawInputLstJSON=%5B%5D&amp;textReferences=false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tutor.com/visualize.html#code=notas%20%3D%20%5B3.0%2C%204.5%2C%202.0%2C%204.0%5D%0AN%20%3D%204%0Afor%20i%20in%20range%28N%20%2B%201%29%3A%0A%20%20%20%20print%28notas%5Bi%5D%29%0A&amp;cumulative=false&amp;curInstr=0&amp;heapPrimitives=nevernest&amp;mode=display&amp;origin=opt-frontend.js&amp;py=311&amp;rawInputLstJSON=%5B%5D&amp;textReferences=false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tutor.com/visualize.html#code=notas%20%3D%20%5B3.0%2C%204.5%2C%202.0%2C%204.0%5D%0AN%20%3D%204%0Afor%20i%20in%20range%28N%20-%201%2C%20-1%2C%20-1%29%3A%0A%20%20%20%20print%28f%22Posicion%20%7Bi%7D%3A%20%7Bnotas%5Bi%5D%7D%22%29%0A&amp;cumulative=false&amp;curInstr=0&amp;heapPrimitives=nevernest&amp;mode=display&amp;origin=opt-frontend.js&amp;py=311&amp;rawInputLstJSON=%5B%5D&amp;textReferences=false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tutor.com/visualize.html#code=notas%20%3D%20%5B3.0%2C%204.5%2C%202.0%2C%204.0%5D%0AN%20%3D%204%0Afor%20i%20in%20range%28N%20-%201%29%3A%0A%20%20%20%20if%20notas%5Bi%20%2B%201%5D%20%3E%20notas%5Bi%5D%3A%0A%20%20%20%20%20%20%20%20print%28f%22De%20la%20evaluacion%20%7Bi%20%2B%201%7D%20a%20la%20%7Bi%20%2B%202%7D%3A%20sube%22%29%0A%20%20%20%20else%3A%0A%20%20%20%20%20%20%20%20print%28f%22De%20la%20evaluacion%20%7Bi%20%2B%201%7D%20a%20la%20%7Bi%20%2B%202%7D%3A%20baja%20o%20se%20mantiene%22%29%0A&amp;cumulative=false&amp;curInstr=0&amp;heapPrimitives=nevernest&amp;mode=display&amp;origin=opt-frontend.js&amp;py=311&amp;rawInputLstJSON=%5B%5D&amp;textReferences=false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notas%20%3D%20%5B3.0,%204.5,%202.0,%204.0%5D%0Acopia%20%3D%20notas%0Acopia%5B0%5D%20%3D%205.0%0A&amp;curInstr=0&amp;mode=display&amp;origin=opt-frontend.js&amp;py=311" TargetMode="External"/><Relationship Id="rId2" Type="http://schemas.openxmlformats.org/officeDocument/2006/relationships/hyperlink" Target="https://pythontutor.com/visualize.html#code=a%20%3D%203.0%0Ab%20%3D%20a%0Ab%20%3D%205.0%0A&amp;curInstr=0&amp;mode=display&amp;origin=opt-frontend.js&amp;py=31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pythontutor.com/visualize.html#code=notas%20%3D%20%5B3.0%2C%204.5%2C%202.0%2C%204.0%5D%0AN%20%3D%204%0Acopia%20%3D%20%5B0.0%5D%20%2A%20N%0Afor%20i%20in%20range%28N%29%3A%0A%20%20%20%20copia%5Bi%5D%20%3D%20notas%5Bi%5D%0Acopia%5B0%5D%20%3D%205.0%0Aprint%28%22notas%20%3D%22%2C%20notas%29%0Aprint%28%22copia%20%3D%22%2C%20copia%29%0A&amp;cumulative=false&amp;curInstr=0&amp;heapPrimitives=nevernest&amp;mode=display&amp;origin=opt-frontend.js&amp;py=311&amp;rawInputLstJSON=%5B%5D&amp;textReferences=false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notas%20%3D%20%5B3.0%2C%204.5%2C%202.0%2C%204.0%5D%0Acopia%20%3D%20notas%5B%3A%5D%0Acopia%5B0%5D%20%3D%205.0%0Aprint%28%22notas%20%3D%22%2C%20notas%29%0Aprint%28%22copia%20%3D%22%2C%20copia%29%0A&amp;cumulative=false&amp;curInstr=0&amp;heapPrimitives=nevernest&amp;mode=display&amp;origin=opt-frontend.js&amp;py=311&amp;rawInputLstJSON=%5B%5D&amp;textReferences=false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hontutor.com/visualize.html#code=notas%20%3D%20%5B3.0%2C%204.5%2C%202.0%2C%204.0%5D%0Acopia%20%3D%20list%28notas%29%0Acopia%5B0%5D%20%3D%205.0%0Aprint%28%22notas%20%3D%22%2C%20notas%29%0Aprint%28%22copia%20%3D%22%2C%20copia%29%0A&amp;cumulative=false&amp;curInstr=0&amp;heapPrimitives=nevernest&amp;mode=display&amp;origin=opt-frontend.js&amp;py=311&amp;rawInputLstJSON=%5B%5D&amp;textReferences=false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pythontutor.com/visualize.html#code=def%20calcular_promedio%28notas%29%3A%0A%20%20%20%20suma%20%3D%200%0A%20%20%20%20for%20i%20in%20range%28len%28notas%29%29%3A%0A%20%20%20%20%20%20%20%20suma%20%3D%20suma%20%2B%20notas%5Bi%5D%0A%20%20%20%20promedio%20%3D%20suma%20%2F%20len%28notas%29%0A%20%20%20%20return%20promedio%0A%0Alista_notas%20%3D%20%5B3.0%2C%204.5%2C%202.0%2C%204.0%5D%0Aprom%20%3D%20calcular_promedio%28lista_notas%29%0Aprint%28f%22Promedio%3A%20%7Bprom%3A.2f%7D%22%29%0A&amp;cumulative=false&amp;curInstr=0&amp;heapPrimitives=nevernest&amp;mode=display&amp;origin=opt-frontend.js&amp;py=311&amp;rawInputLstJSON=%5B%5D&amp;textReferences=false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pythontutor.com/visualize.html#code=def%20calcular_promedio%28notas%29%3A%0A%20%20%20%20suma%20%3D%200%0A%20%20%20%20for%20i%20in%20range%28len%28notas%29%29%3A%0A%20%20%20%20%20%20%20%20suma%20%3D%20suma%20%2B%20notas%5Bi%5D%0A%20%20%20%20promedio%20%3D%20suma%20%2F%20len%28notas%29%0A%20%20%20%20return%20promedio%0A%0Alista_notas%20%3D%20%5B3.0%2C%204.5%2C%202.0%2C%204.0%5D%0Aprom%20%3D%20calcular_promedio%28lista_notas%29%0Aprint%28f%22Promedio%3A%20%7Bprom%3A.2f%7D%22%29%0A&amp;cumulative=false&amp;curInstr=0&amp;heapPrimitives=nevernest&amp;mode=display&amp;origin=opt-frontend.js&amp;py=311&amp;rawInputLstJSON=%5B%5D&amp;textReferences=false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tutor.com/visualize.html#code=def%20calcular_promedio%28notas%29%3A%0A%20%20%20%20suma%20%3D%200%0A%20%20%20%20for%20i%20in%20range%28len%28notas%29%29%3A%0A%20%20%20%20%20%20%20%20suma%20%3D%20suma%20%2B%20notas%5Bi%5D%0A%20%20%20%20promedio%20%3D%20suma%20%2F%20len%28notas%29%0A%20%20%20%20return%20promedio%0A%0Aassert%20round%28calcular_promedio%28%5B3.0%2C%204.5%2C%202.0%2C%204.0%5D%29%2C%203%29%20%3D%3D%203.375%20%20%23%20tipico%0Aassert%20calcular_promedio%28%5B3.5%5D%29%20%3D%3D%203.5%20%20%20%20%20%20%20%20%20%20%20%20%20%20%20%20%20%20%20%20%20%20%20%20%20%20%20%20%20%20%23%20limite%0Aassert%20calcular_promedio%28%5B4.0%2C%204.0%2C%204.0%5D%29%20%3D%3D%204.0%20%20%20%20%20%20%20%20%20%20%20%20%20%20%20%20%20%20%20%20%23%20especial%0A%0Adatos%20%3D%20%5B3.0%2C%204.5%2C%202.0%2C%204.0%5D%0Acalcular_promedio%28datos%29%0Aassert%20datos%20%3D%3D%20%5B3.0%2C%204.5%2C%202.0%2C%204.0%5D%20%20%20%20%20%20%20%20%20%20%20%20%20%20%20%20%20%20%20%20%20%20%20%20%20%20%20%20%20%20%20%20%23%20no%20modifica%0A%0Aprint%28%22Todas%20las%20pruebas%20pasaron%22%29%0A&amp;cumulative=false&amp;curInstr=0&amp;heapPrimitives=nevernest&amp;mode=display&amp;origin=opt-frontend.js&amp;py=311&amp;rawInputLstJSON=%5B%5D&amp;textReferences=false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pythontutor.com/visualize.html#code=def%20leer_notas%28n%29%3A%0A%20%20%20%20notas%20%3D%20%5B0.0%5D%20%2A%20n%0A%20%20%20%20for%20i%20in%20range%28n%29%3A%0A%20%20%20%20%20%20%20%20notas%5Bi%5D%20%3D%20float%28input%28f%22Nota%20del%20estudiante%20%7Bi%20%2B%201%7D%3A%20%22%29%29%0A%20%20%20%20return%20notas%0A%0Alista_notas%20%3D%20leer_notas%284%29%0Aprint%28lista_notas%29%0A&amp;cumulative=false&amp;curInstr=0&amp;heapPrimitives=nevernest&amp;mode=display&amp;origin=opt-frontend.js&amp;py=311&amp;rawInputLstJSON=%5B%223.0%22%2C%20%224.5%22%2C%20%222.0%22%2C%20%224.0%22%5D&amp;textReferences=false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pythontutor.com/visualize.html#code=NOTA_MAXIMA%20%3D%205.0%0A%0Adef%20aplicar_bonificacion%28notas%2C%20puntos%29%3A%0A%20%20%20%20for%20i%20in%20range%28len%28notas%29%29%3A%0A%20%20%20%20%20%20%20%20notas%5Bi%5D%20%3D%20notas%5Bi%5D%20%2B%20puntos%0A%20%20%20%20%20%20%20%20if%20notas%5Bi%5D%20%3E%20NOTA_MAXIMA%3A%0A%20%20%20%20%20%20%20%20%20%20%20%20notas%5Bi%5D%20%3D%20NOTA_MAXIMA%0A%0Alista_notas%20%3D%20%5B3.0%2C%204.5%2C%202.0%2C%204.0%5D%0Aprint%28%22Antes%3A%20%20%22%2C%20lista_notas%29%0Aaplicar_bonificacion%28lista_notas%2C%200.5%29%0Aprint%28%22Despues%3A%22%2C%20lista_notas%29%0A&amp;cumulative=false&amp;curInstr=0&amp;heapPrimitives=nevernest&amp;mode=display&amp;origin=opt-frontend.js&amp;py=311&amp;rawInputLstJSON=%5B%5D&amp;textReferences=false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tutor.com/visualize.html#code=def%20calcular_promedio%28notas%29%3A%0A%20%20%20%20suma%20%3D%200%0A%20%20%20%20for%20i%20in%20range%28len%28notas%29%29%3A%0A%20%20%20%20%20%20%20%20suma%20%3D%20suma%20%2B%20notas%5Bi%5D%0A%20%20%20%20promedio%20%3D%20suma%20%2F%20len%28notas%29%0A%20%20%20%20return%20promedio%0A%0Aassert%20round%28calcular_promedio%28%5B3.0%2C%204.5%2C%202.0%2C%204.0%5D%29%2C%203%29%20%3D%3D%203.375%20%20%23%20tipico%0Aassert%20calcular_promedio%28%5B3.5%5D%29%20%3D%3D%203.5%20%20%20%20%20%20%20%20%20%20%20%20%20%20%20%20%20%20%20%20%20%20%20%20%20%20%20%20%20%20%23%20limite%0Aassert%20calcular_promedio%28%5B4.0%2C%204.0%2C%204.0%5D%29%20%3D%3D%204.0%20%20%20%20%20%20%20%20%20%20%20%20%20%20%20%20%20%20%20%20%23%20especial%0A%0Adatos%20%3D%20%5B3.0%2C%204.5%2C%202.0%2C%204.0%5D%0Acalcular_promedio%28datos%29%0Aassert%20datos%20%3D%3D%20%5B3.0%2C%204.5%2C%202.0%2C%204.0%5D%20%20%20%20%20%20%20%20%20%20%20%20%20%20%20%20%20%20%20%20%20%20%20%20%20%20%20%20%20%20%20%20%23%20no%20modifica%0A%0Aprint%28%22Todas%20las%20pruebas%20pasaron%22%29%0A&amp;cumulative=false&amp;curInstr=0&amp;heapPrimitives=nevernest&amp;mode=display&amp;origin=opt-frontend.js&amp;py=311&amp;rawInputLstJSON=%5B%5D&amp;textReferences=false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tutor.com/visualize.html#code=def%20contar_mayores_que%28notas%2C%20valor%29%3A%0A%20%20%20%20cantidad%20%3D%200%0A%20%20%20%20for%20i%20in%20range%28len%28notas%29%29%3A%0A%20%20%20%20%20%20%20%20if%20notas%5Bi%5D%20%3E%20valor%3A%0A%20%20%20%20%20%20%20%20%20%20%20%20cantidad%20%3D%20cantidad%20%2B%201%0A%20%20%20%20return%20cantidad%0A%0Alista_notas%20%3D%20%5B3.0%2C%204.5%2C%202.0%2C%204.0%5D%0Aprint%28contar_mayores_que%28lista_notas%2C%203.375%29%29%0A&amp;cumulative=false&amp;curInstr=0&amp;heapPrimitives=nevernest&amp;mode=display&amp;origin=opt-frontend.js&amp;py=311&amp;rawInputLstJSON=%5B%5D&amp;textReferences=false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tutor.com/visualize.html#code=def%20contar_mayores_que%28notas%2C%20valor%29%3A%0A%20%20%20%20cantidad%20%3D%200%0A%20%20%20%20for%20i%20in%20range%28len%28notas%29%29%3A%0A%20%20%20%20%20%20%20%20if%20notas%5Bi%5D%20%3E%20valor%3A%0A%20%20%20%20%20%20%20%20%20%20%20%20cantidad%20%3D%20cantidad%20%2B%201%0A%20%20%20%20return%20cantidad%0A%0Adef%20posiciones_mayores_que%28notas%2C%20valor%29%3A%0A%20%20%20%20cantidad%20%3D%20contar_mayores_que%28notas%2C%20valor%29%0A%20%20%20%20posiciones%20%3D%20%5B0%5D%20%2A%20cantidad%0A%20%20%20%20k%20%3D%200%0A%20%20%20%20for%20i%20in%20range%28len%28notas%29%29%3A%0A%20%20%20%20%20%20%20%20if%20notas%5Bi%5D%20%3E%20valor%3A%0A%20%20%20%20%20%20%20%20%20%20%20%20posiciones%5Bk%5D%20%3D%20i%0A%20%20%20%20%20%20%20%20%20%20%20%20k%20%3D%20k%20%2B%201%0A%20%20%20%20return%20posiciones%0A%0Alista_notas%20%3D%20%5B3.0%2C%204.5%2C%202.0%2C%204.0%5D%0Aprint%28posiciones_mayores_que%28lista_notas%2C%203.375%29%29%0A&amp;cumulative=false&amp;curInstr=0&amp;heapPrimitives=nevernest&amp;mode=display&amp;origin=opt-frontend.js&amp;py=311&amp;rawInputLstJSON=%5B%5D&amp;textReferences=false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cs50.harvard.edu/python/notes/2/" TargetMode="External"/><Relationship Id="rId2" Type="http://schemas.openxmlformats.org/officeDocument/2006/relationships/hyperlink" Target="https://cs50.harvard.edu/x/notes/2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thontutor.com/" TargetMode="External"/><Relationship Id="rId5" Type="http://schemas.openxmlformats.org/officeDocument/2006/relationships/hyperlink" Target="https://www.cs-comics.com/how-an-array-of-integers-gets-stored-in-memory/" TargetMode="External"/><Relationship Id="rId4" Type="http://schemas.openxmlformats.org/officeDocument/2006/relationships/hyperlink" Target="https://ocw.mit.edu/courses/6-100l-introduction-to-cs-and-programming-using-python-fall-2022/mit6_100l_f22_lec11.pdf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phdcomics.com/comics/archive.php?comicid=1431" TargetMode="External"/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909BB-6F92-48BA-A875-99E15D225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528" y="1122363"/>
            <a:ext cx="8568952" cy="2387600"/>
          </a:xfrm>
        </p:spPr>
        <p:txBody>
          <a:bodyPr/>
          <a:lstStyle/>
          <a:p>
            <a:r>
              <a:rPr lang="es-CO" dirty="0"/>
              <a:t>Lógica y Representación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9999BC-7CCA-4677-B2C4-E913A7AA1F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MX" sz="3200" b="1" dirty="0"/>
              <a:t>Arreglos unidimensionales</a:t>
            </a:r>
          </a:p>
          <a:p>
            <a:r>
              <a:rPr lang="es-CO" dirty="0"/>
              <a:t>Ingeniería de Sistemas</a:t>
            </a:r>
          </a:p>
          <a:p>
            <a:r>
              <a:rPr lang="es-CO" dirty="0"/>
              <a:t>Universidad de Antioquia</a:t>
            </a:r>
          </a:p>
        </p:txBody>
      </p:sp>
    </p:spTree>
    <p:extLst>
      <p:ext uri="{BB962C8B-B14F-4D97-AF65-F5344CB8AC3E}">
        <p14:creationId xmlns:p14="http://schemas.microsoft.com/office/powerpoint/2010/main" val="77409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51520" y="188640"/>
            <a:ext cx="8263830" cy="845334"/>
          </a:xfrm>
        </p:spPr>
        <p:txBody>
          <a:bodyPr>
            <a:normAutofit/>
          </a:bodyPr>
          <a:lstStyle/>
          <a:p>
            <a:r>
              <a:rPr lang="es-CO" sz="4000" dirty="0"/>
              <a:t>Método de Polya - Resumen</a:t>
            </a:r>
            <a:endParaRPr lang="en-US" sz="4000" dirty="0"/>
          </a:p>
        </p:txBody>
      </p:sp>
      <p:graphicFrame>
        <p:nvGraphicFramePr>
          <p:cNvPr id="6" name="13 Diagrama">
            <a:extLst>
              <a:ext uri="{FF2B5EF4-FFF2-40B4-BE49-F238E27FC236}">
                <a16:creationId xmlns:a16="http://schemas.microsoft.com/office/drawing/2014/main" id="{D0B70736-976D-4675-A33E-9F94643ADC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5553215"/>
              </p:ext>
            </p:extLst>
          </p:nvPr>
        </p:nvGraphicFramePr>
        <p:xfrm>
          <a:off x="3059832" y="4221088"/>
          <a:ext cx="5616624" cy="2363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3">
            <a:extLst>
              <a:ext uri="{FF2B5EF4-FFF2-40B4-BE49-F238E27FC236}">
                <a16:creationId xmlns:a16="http://schemas.microsoft.com/office/drawing/2014/main" id="{9C9BD4AC-3A6A-4FE1-A719-F0D832952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404101"/>
            <a:ext cx="2200014" cy="197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E6732E42-F6E4-4E10-A20E-82A4BE9E8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16" y="1223168"/>
            <a:ext cx="3214687" cy="241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5899AD60-028E-47EE-844F-916EBA585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811" y="1248925"/>
            <a:ext cx="2857500" cy="236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17 Flecha abajo">
            <a:extLst>
              <a:ext uri="{FF2B5EF4-FFF2-40B4-BE49-F238E27FC236}">
                <a16:creationId xmlns:a16="http://schemas.microsoft.com/office/drawing/2014/main" id="{656E38FA-A37E-460A-AF17-E0C304C611BF}"/>
              </a:ext>
            </a:extLst>
          </p:cNvPr>
          <p:cNvSpPr/>
          <p:nvPr/>
        </p:nvSpPr>
        <p:spPr>
          <a:xfrm rot="16200000">
            <a:off x="4400922" y="1973262"/>
            <a:ext cx="322262" cy="965200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  <p:sp>
        <p:nvSpPr>
          <p:cNvPr id="11" name="18 CuadroTexto">
            <a:extLst>
              <a:ext uri="{FF2B5EF4-FFF2-40B4-BE49-F238E27FC236}">
                <a16:creationId xmlns:a16="http://schemas.microsoft.com/office/drawing/2014/main" id="{B82BDCE9-7A82-42E8-98CF-353D30A777C0}"/>
              </a:ext>
            </a:extLst>
          </p:cNvPr>
          <p:cNvSpPr txBox="1"/>
          <p:nvPr/>
        </p:nvSpPr>
        <p:spPr>
          <a:xfrm>
            <a:off x="611560" y="3789040"/>
            <a:ext cx="3214688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CO" sz="2000" b="1" dirty="0"/>
              <a:t>PROBLEMA</a:t>
            </a:r>
            <a:endParaRPr lang="es-ES" sz="2000" dirty="0"/>
          </a:p>
        </p:txBody>
      </p:sp>
      <p:sp>
        <p:nvSpPr>
          <p:cNvPr id="12" name="19 CuadroTexto">
            <a:extLst>
              <a:ext uri="{FF2B5EF4-FFF2-40B4-BE49-F238E27FC236}">
                <a16:creationId xmlns:a16="http://schemas.microsoft.com/office/drawing/2014/main" id="{BFFC459E-C4D6-4371-ADA9-FB0FF4281118}"/>
              </a:ext>
            </a:extLst>
          </p:cNvPr>
          <p:cNvSpPr txBox="1"/>
          <p:nvPr/>
        </p:nvSpPr>
        <p:spPr>
          <a:xfrm>
            <a:off x="5148064" y="3752849"/>
            <a:ext cx="3214687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CO" sz="2000" b="1" dirty="0"/>
              <a:t>ALGORITMO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8404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467543" y="207926"/>
            <a:ext cx="7939037" cy="986803"/>
          </a:xfrm>
        </p:spPr>
        <p:txBody>
          <a:bodyPr/>
          <a:lstStyle/>
          <a:p>
            <a:r>
              <a:rPr lang="es-CO" sz="3200" dirty="0"/>
              <a:t>Entrada, procesamiento y salida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35471" y="1238602"/>
            <a:ext cx="7886700" cy="1729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200" dirty="0"/>
              <a:t>Los programas de computadora realizan estos tres pasos: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recibe la </a:t>
            </a:r>
            <a:r>
              <a:rPr lang="es-MX" sz="2000" b="1" dirty="0"/>
              <a:t>entrada</a:t>
            </a:r>
            <a:r>
              <a:rPr lang="es-MX" sz="2000" dirty="0"/>
              <a:t>.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realiza un </a:t>
            </a:r>
            <a:r>
              <a:rPr lang="es-MX" sz="2000" b="1" dirty="0"/>
              <a:t>proceso</a:t>
            </a:r>
            <a:r>
              <a:rPr lang="es-MX" sz="2000" dirty="0"/>
              <a:t> sobre la entrada.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genera la </a:t>
            </a:r>
            <a:r>
              <a:rPr lang="es-MX" sz="2000" b="1" dirty="0"/>
              <a:t>salida</a:t>
            </a:r>
            <a:endParaRPr lang="es-CO" sz="2000" b="1" dirty="0"/>
          </a:p>
        </p:txBody>
      </p:sp>
      <p:grpSp>
        <p:nvGrpSpPr>
          <p:cNvPr id="15" name="14 Grupo"/>
          <p:cNvGrpSpPr/>
          <p:nvPr/>
        </p:nvGrpSpPr>
        <p:grpSpPr>
          <a:xfrm>
            <a:off x="1589010" y="4102449"/>
            <a:ext cx="5715000" cy="838200"/>
            <a:chOff x="1676400" y="4495800"/>
            <a:chExt cx="5715000" cy="838200"/>
          </a:xfrm>
        </p:grpSpPr>
        <p:sp>
          <p:nvSpPr>
            <p:cNvPr id="10" name="9 Rectángulo"/>
            <p:cNvSpPr/>
            <p:nvPr/>
          </p:nvSpPr>
          <p:spPr>
            <a:xfrm>
              <a:off x="1676400" y="4648200"/>
              <a:ext cx="1447800" cy="5334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Inputs</a:t>
              </a:r>
              <a:endParaRPr lang="es-CO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10 Rectángulo"/>
            <p:cNvSpPr/>
            <p:nvPr/>
          </p:nvSpPr>
          <p:spPr>
            <a:xfrm>
              <a:off x="3810000" y="4495800"/>
              <a:ext cx="1447800" cy="838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400" b="1" dirty="0">
                  <a:latin typeface="Consolas" panose="020B0609020204030204" pitchFamily="49" charset="0"/>
                </a:rPr>
                <a:t>Process</a:t>
              </a:r>
              <a:endParaRPr lang="es-CO" b="1" dirty="0">
                <a:latin typeface="Consolas" panose="020B0609020204030204" pitchFamily="49" charset="0"/>
              </a:endParaRPr>
            </a:p>
          </p:txBody>
        </p:sp>
        <p:sp>
          <p:nvSpPr>
            <p:cNvPr id="12" name="11 Rectángulo"/>
            <p:cNvSpPr/>
            <p:nvPr/>
          </p:nvSpPr>
          <p:spPr>
            <a:xfrm>
              <a:off x="5943600" y="4648200"/>
              <a:ext cx="1447800" cy="5334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Outputs</a:t>
              </a:r>
              <a:endParaRPr lang="es-CO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12 Flecha derecha"/>
            <p:cNvSpPr/>
            <p:nvPr/>
          </p:nvSpPr>
          <p:spPr>
            <a:xfrm>
              <a:off x="3124200" y="4800600"/>
              <a:ext cx="685800" cy="2286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13 Flecha derecha"/>
            <p:cNvSpPr/>
            <p:nvPr/>
          </p:nvSpPr>
          <p:spPr>
            <a:xfrm>
              <a:off x="5257800" y="4800600"/>
              <a:ext cx="685800" cy="2286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pic>
        <p:nvPicPr>
          <p:cNvPr id="16" name="Picture 2" descr="http://www.jegsworks.com/lessons/computerbasics/lesson3/keyboard-white.png">
            <a:extLst>
              <a:ext uri="{FF2B5EF4-FFF2-40B4-BE49-F238E27FC236}">
                <a16:creationId xmlns:a16="http://schemas.microsoft.com/office/drawing/2014/main" id="{CA5F3EB8-A827-4D08-B3D4-BC8885661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116" y="3256265"/>
            <a:ext cx="1365108" cy="432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http://t2.gstatic.com/images?q=tbn:ANd9GcS51PGLkp34nPs-LewfkgAfjdZsyder21fNGFoRiZ_A6x7txo3e">
            <a:extLst>
              <a:ext uri="{FF2B5EF4-FFF2-40B4-BE49-F238E27FC236}">
                <a16:creationId xmlns:a16="http://schemas.microsoft.com/office/drawing/2014/main" id="{BB2AD59A-355A-4EC4-BD61-76D458710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382" y="3198200"/>
            <a:ext cx="841456" cy="690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Settings Icon, Gear Icon Vector, Gear Symbol Illustration. for Web Sites  Our Mobile. Stock Illustration - Illustration of business, wheel: 151065188">
            <a:extLst>
              <a:ext uri="{FF2B5EF4-FFF2-40B4-BE49-F238E27FC236}">
                <a16:creationId xmlns:a16="http://schemas.microsoft.com/office/drawing/2014/main" id="{AC519BCB-3AA9-4258-9707-83D241823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143" y="5159353"/>
            <a:ext cx="1007836" cy="100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452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9511" y="134971"/>
            <a:ext cx="8491661" cy="773749"/>
          </a:xfrm>
        </p:spPr>
        <p:txBody>
          <a:bodyPr/>
          <a:lstStyle/>
          <a:p>
            <a:r>
              <a:rPr lang="en-US" dirty="0"/>
              <a:t>Arreglos unidimensionales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9099121-892E-41E2-A7A2-4DD72F6F3B3B}"/>
              </a:ext>
            </a:extLst>
          </p:cNvPr>
          <p:cNvSpPr txBox="1"/>
          <p:nvPr/>
        </p:nvSpPr>
        <p:spPr>
          <a:xfrm>
            <a:off x="0" y="6396335"/>
            <a:ext cx="89644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Imagen: Chand John, </a:t>
            </a:r>
            <a:r>
              <a:rPr lang="en-US" sz="1100" b="1" dirty="0"/>
              <a:t>“How an Array of Integers Gets Stored in Memory”</a:t>
            </a:r>
            <a:r>
              <a:rPr lang="en-US" sz="1100" dirty="0"/>
              <a:t>, </a:t>
            </a:r>
            <a:r>
              <a:rPr lang="en-US" sz="1100" i="1" dirty="0"/>
              <a:t>CS Comics</a:t>
            </a:r>
            <a:r>
              <a:rPr lang="en-US" sz="1100" dirty="0"/>
              <a:t>, 2018. </a:t>
            </a:r>
            <a:r>
              <a:rPr lang="en-US" sz="1100" dirty="0">
                <a:hlinkClick r:id="rId2"/>
              </a:rPr>
              <a:t>https://www.cs-comics.com/how-an-array-of-integers-gets-stored-in-memory/</a:t>
            </a:r>
            <a:r>
              <a:rPr lang="en-US" sz="1100" dirty="0"/>
              <a:t> — © CS Comics. </a:t>
            </a:r>
            <a:r>
              <a:rPr lang="en-US" sz="1100" dirty="0" err="1"/>
              <a:t>Uso</a:t>
            </a:r>
            <a:r>
              <a:rPr lang="en-US" sz="1100" dirty="0"/>
              <a:t> con fines </a:t>
            </a:r>
            <a:r>
              <a:rPr lang="en-US" sz="1100" dirty="0" err="1"/>
              <a:t>educativos</a:t>
            </a:r>
            <a:r>
              <a:rPr lang="en-US" sz="1100" dirty="0"/>
              <a:t>.</a:t>
            </a:r>
            <a:endParaRPr lang="es-CO" sz="11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10A7442-FAEB-4359-B2CA-78F5F3994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1" y="1008880"/>
            <a:ext cx="4160696" cy="275239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F0B800AA-F780-4EC2-9B77-2BDDAB05E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768" y="1022851"/>
            <a:ext cx="4160696" cy="2766189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6AC2072B-6D64-473F-B2A8-65F71C602BCC}"/>
              </a:ext>
            </a:extLst>
          </p:cNvPr>
          <p:cNvSpPr txBox="1"/>
          <p:nvPr/>
        </p:nvSpPr>
        <p:spPr>
          <a:xfrm>
            <a:off x="395536" y="4365104"/>
            <a:ext cx="3321125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Consolas" panose="020B0609020204030204" pitchFamily="49" charset="0"/>
              </a:rPr>
              <a:t>d = [2,3,5]</a:t>
            </a:r>
          </a:p>
          <a:p>
            <a:r>
              <a:rPr lang="es-CO" sz="1600" dirty="0">
                <a:latin typeface="Consolas" panose="020B0609020204030204" pitchFamily="49" charset="0"/>
              </a:rPr>
              <a:t>print(f"d[0] = {d[0]}")</a:t>
            </a:r>
          </a:p>
          <a:p>
            <a:r>
              <a:rPr lang="es-CO" sz="1600" dirty="0">
                <a:latin typeface="Consolas" panose="020B0609020204030204" pitchFamily="49" charset="0"/>
              </a:rPr>
              <a:t>print(f"d[1] = {d[1]}")</a:t>
            </a:r>
          </a:p>
          <a:p>
            <a:r>
              <a:rPr lang="es-CO" sz="1600" dirty="0">
                <a:latin typeface="Consolas" panose="020B0609020204030204" pitchFamily="49" charset="0"/>
              </a:rPr>
              <a:t>print(f"d[2] = {d[2]}")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22F359A-71F4-4776-9831-F03FDA860B64}"/>
              </a:ext>
            </a:extLst>
          </p:cNvPr>
          <p:cNvSpPr txBox="1"/>
          <p:nvPr/>
        </p:nvSpPr>
        <p:spPr>
          <a:xfrm>
            <a:off x="1223855" y="5442322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5"/>
              </a:rPr>
              <a:t>Link simulación</a:t>
            </a:r>
            <a:endParaRPr lang="es-CO" sz="12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7E6FF20A-4B25-45E7-A500-8904DC38AE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914011"/>
            <a:ext cx="2970653" cy="239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291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62413" y="116632"/>
            <a:ext cx="8981587" cy="1215008"/>
          </a:xfrm>
        </p:spPr>
        <p:txBody>
          <a:bodyPr>
            <a:normAutofit/>
          </a:bodyPr>
          <a:lstStyle/>
          <a:p>
            <a:r>
              <a:rPr lang="es-CO" dirty="0"/>
              <a:t>Lo que ya se sabe de funciones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62413" y="4089588"/>
            <a:ext cx="38483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Una función se define con </a:t>
            </a:r>
            <a:r>
              <a:rPr lang="es-MX" sz="1400" b="1" dirty="0" err="1">
                <a:latin typeface="Consolas" panose="020B0609020204030204" pitchFamily="49" charset="0"/>
              </a:rPr>
              <a:t>def</a:t>
            </a:r>
            <a:r>
              <a:rPr lang="es-MX" sz="2000" dirty="0"/>
              <a:t> y entrega su resultado con </a:t>
            </a:r>
            <a:r>
              <a:rPr lang="es-MX" sz="1600" b="1" dirty="0">
                <a:latin typeface="Consolas" panose="020B0609020204030204" pitchFamily="49" charset="0"/>
              </a:rPr>
              <a:t>return</a:t>
            </a:r>
            <a:r>
              <a:rPr lang="es-MX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Su nombre empieza con un verbo y dice qué hace.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Su especificación (</a:t>
            </a:r>
            <a:r>
              <a:rPr lang="es-MX" sz="1600" b="1" dirty="0" err="1">
                <a:latin typeface="Consolas" panose="020B0609020204030204" pitchFamily="49" charset="0"/>
              </a:rPr>
              <a:t>docstring</a:t>
            </a:r>
            <a:r>
              <a:rPr lang="es-MX" sz="2000" dirty="0"/>
              <a:t>) dice qué supone y qué garantiza.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3178BE7-4304-4438-A611-8A6601C61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090" y="1257636"/>
            <a:ext cx="6660232" cy="1799210"/>
          </a:xfrm>
          <a:prstGeom prst="rect">
            <a:avLst/>
          </a:prstGeom>
        </p:spPr>
      </p:pic>
      <p:grpSp>
        <p:nvGrpSpPr>
          <p:cNvPr id="35" name="Grupo 34">
            <a:extLst>
              <a:ext uri="{FF2B5EF4-FFF2-40B4-BE49-F238E27FC236}">
                <a16:creationId xmlns:a16="http://schemas.microsoft.com/office/drawing/2014/main" id="{E3AAC5BF-3D97-489C-8577-FAB90A6AA4BC}"/>
              </a:ext>
            </a:extLst>
          </p:cNvPr>
          <p:cNvGrpSpPr/>
          <p:nvPr/>
        </p:nvGrpSpPr>
        <p:grpSpPr>
          <a:xfrm>
            <a:off x="4211960" y="3775680"/>
            <a:ext cx="4536504" cy="2965688"/>
            <a:chOff x="4211960" y="3284984"/>
            <a:chExt cx="4536504" cy="2965688"/>
          </a:xfrm>
        </p:grpSpPr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4382F8EB-5FFA-4CEE-B8C9-B6905A88F31B}"/>
                </a:ext>
              </a:extLst>
            </p:cNvPr>
            <p:cNvSpPr txBox="1"/>
            <p:nvPr/>
          </p:nvSpPr>
          <p:spPr>
            <a:xfrm>
              <a:off x="4211960" y="3573016"/>
              <a:ext cx="4536504" cy="2677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CO" sz="1200" b="0" dirty="0" err="1">
                  <a:effectLst/>
                  <a:latin typeface="Consolas" panose="020B0609020204030204" pitchFamily="49" charset="0"/>
                </a:rPr>
                <a:t>def</a:t>
              </a:r>
              <a:r>
                <a:rPr lang="es-CO" sz="1200" b="0" dirty="0">
                  <a:effectLst/>
                  <a:latin typeface="Consolas" panose="020B0609020204030204" pitchFamily="49" charset="0"/>
                </a:rPr>
                <a:t> </a:t>
              </a:r>
              <a:r>
                <a:rPr lang="es-CO" sz="1200" b="0" dirty="0" err="1">
                  <a:effectLst/>
                  <a:latin typeface="Consolas" panose="020B0609020204030204" pitchFamily="49" charset="0"/>
                </a:rPr>
                <a:t>celsius_a_fahrenheit</a:t>
              </a:r>
              <a:r>
                <a:rPr lang="es-CO" sz="1200" b="0" dirty="0">
                  <a:effectLst/>
                  <a:latin typeface="Consolas" panose="020B0609020204030204" pitchFamily="49" charset="0"/>
                </a:rPr>
                <a:t>(</a:t>
              </a:r>
              <a:r>
                <a:rPr lang="es-CO" sz="1200" b="0" dirty="0" err="1">
                  <a:effectLst/>
                  <a:latin typeface="Consolas" panose="020B0609020204030204" pitchFamily="49" charset="0"/>
                </a:rPr>
                <a:t>temp_c</a:t>
              </a:r>
              <a:r>
                <a:rPr lang="es-CO" sz="1200" b="0" dirty="0">
                  <a:effectLst/>
                  <a:latin typeface="Consolas" panose="020B0609020204030204" pitchFamily="49" charset="0"/>
                </a:rPr>
                <a:t>):</a:t>
              </a:r>
            </a:p>
            <a:p>
              <a:r>
                <a:rPr lang="es-CO" sz="1200" b="0" dirty="0">
                  <a:solidFill>
                    <a:srgbClr val="00B050"/>
                  </a:solidFill>
                  <a:effectLst/>
                  <a:latin typeface="Consolas" panose="020B0609020204030204" pitchFamily="49" charset="0"/>
                </a:rPr>
                <a:t>    """</a:t>
              </a:r>
            </a:p>
            <a:p>
              <a:r>
                <a:rPr lang="es-CO" sz="1200" b="0" dirty="0">
                  <a:solidFill>
                    <a:srgbClr val="00B050"/>
                  </a:solidFill>
                  <a:effectLst/>
                  <a:latin typeface="Consolas" panose="020B0609020204030204" pitchFamily="49" charset="0"/>
                </a:rPr>
                <a:t>    Convierte una temperatura de grados Celsius </a:t>
              </a:r>
            </a:p>
            <a:p>
              <a:r>
                <a:rPr lang="es-CO" sz="1200" dirty="0">
                  <a:solidFill>
                    <a:srgbClr val="00B050"/>
                  </a:solidFill>
                  <a:latin typeface="Consolas" panose="020B0609020204030204" pitchFamily="49" charset="0"/>
                </a:rPr>
                <a:t>    </a:t>
              </a:r>
              <a:r>
                <a:rPr lang="es-CO" sz="1200" b="0" dirty="0">
                  <a:solidFill>
                    <a:srgbClr val="00B050"/>
                  </a:solidFill>
                  <a:effectLst/>
                  <a:latin typeface="Consolas" panose="020B0609020204030204" pitchFamily="49" charset="0"/>
                </a:rPr>
                <a:t>a grados Fahrenheit.</a:t>
              </a:r>
            </a:p>
            <a:p>
              <a:br>
                <a:rPr lang="es-CO" sz="1200" b="0" dirty="0">
                  <a:solidFill>
                    <a:srgbClr val="00B050"/>
                  </a:solidFill>
                  <a:effectLst/>
                  <a:latin typeface="Consolas" panose="020B0609020204030204" pitchFamily="49" charset="0"/>
                </a:rPr>
              </a:br>
              <a:r>
                <a:rPr lang="es-CO" sz="1200" b="0" dirty="0">
                  <a:solidFill>
                    <a:srgbClr val="00B050"/>
                  </a:solidFill>
                  <a:effectLst/>
                  <a:latin typeface="Consolas" panose="020B0609020204030204" pitchFamily="49" charset="0"/>
                </a:rPr>
                <a:t>    Supone:</a:t>
              </a:r>
            </a:p>
            <a:p>
              <a:r>
                <a:rPr lang="es-CO" sz="1200" b="0" dirty="0">
                  <a:solidFill>
                    <a:srgbClr val="00B050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s-CO" sz="1200" b="0" dirty="0" err="1">
                  <a:solidFill>
                    <a:srgbClr val="00B050"/>
                  </a:solidFill>
                  <a:effectLst/>
                  <a:latin typeface="Consolas" panose="020B0609020204030204" pitchFamily="49" charset="0"/>
                </a:rPr>
                <a:t>temp_c</a:t>
              </a:r>
              <a:r>
                <a:rPr lang="es-CO" sz="1200" b="0" dirty="0">
                  <a:solidFill>
                    <a:srgbClr val="00B050"/>
                  </a:solidFill>
                  <a:effectLst/>
                  <a:latin typeface="Consolas" panose="020B0609020204030204" pitchFamily="49" charset="0"/>
                </a:rPr>
                <a:t> es un numero (</a:t>
              </a:r>
              <a:r>
                <a:rPr lang="es-CO" sz="1200" b="0" dirty="0" err="1">
                  <a:solidFill>
                    <a:srgbClr val="00B050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s-CO" sz="1200" b="0" dirty="0">
                  <a:solidFill>
                    <a:srgbClr val="00B050"/>
                  </a:solidFill>
                  <a:effectLst/>
                  <a:latin typeface="Consolas" panose="020B0609020204030204" pitchFamily="49" charset="0"/>
                </a:rPr>
                <a:t> o float) mayor </a:t>
              </a:r>
            </a:p>
            <a:p>
              <a:r>
                <a:rPr lang="es-CO" sz="1200" dirty="0">
                  <a:solidFill>
                    <a:srgbClr val="00B050"/>
                  </a:solidFill>
                  <a:latin typeface="Consolas" panose="020B0609020204030204" pitchFamily="49" charset="0"/>
                </a:rPr>
                <a:t>        </a:t>
              </a:r>
              <a:r>
                <a:rPr lang="es-CO" sz="1200" b="0" dirty="0">
                  <a:solidFill>
                    <a:srgbClr val="00B050"/>
                  </a:solidFill>
                  <a:effectLst/>
                  <a:latin typeface="Consolas" panose="020B0609020204030204" pitchFamily="49" charset="0"/>
                </a:rPr>
                <a:t>o igual a -273.15 (el cero absoluto).</a:t>
              </a:r>
            </a:p>
            <a:p>
              <a:r>
                <a:rPr lang="es-CO" sz="1200" b="0" dirty="0">
                  <a:solidFill>
                    <a:srgbClr val="00B050"/>
                  </a:solidFill>
                  <a:effectLst/>
                  <a:latin typeface="Consolas" panose="020B0609020204030204" pitchFamily="49" charset="0"/>
                </a:rPr>
                <a:t>    Garantiza:</a:t>
              </a:r>
            </a:p>
            <a:p>
              <a:r>
                <a:rPr lang="es-CO" sz="1200" b="0" dirty="0">
                  <a:solidFill>
                    <a:srgbClr val="00B050"/>
                  </a:solidFill>
                  <a:effectLst/>
                  <a:latin typeface="Consolas" panose="020B0609020204030204" pitchFamily="49" charset="0"/>
                </a:rPr>
                <a:t>        Retorna la temperatura equivalente en </a:t>
              </a:r>
            </a:p>
            <a:p>
              <a:r>
                <a:rPr lang="es-CO" sz="1200" dirty="0">
                  <a:solidFill>
                    <a:srgbClr val="00B050"/>
                  </a:solidFill>
                  <a:latin typeface="Consolas" panose="020B0609020204030204" pitchFamily="49" charset="0"/>
                </a:rPr>
                <a:t>        </a:t>
              </a:r>
              <a:r>
                <a:rPr lang="es-CO" sz="1200" b="0" dirty="0">
                  <a:solidFill>
                    <a:srgbClr val="00B050"/>
                  </a:solidFill>
                  <a:effectLst/>
                  <a:latin typeface="Consolas" panose="020B0609020204030204" pitchFamily="49" charset="0"/>
                </a:rPr>
                <a:t>grados Fahrenheit (float).</a:t>
              </a:r>
            </a:p>
            <a:p>
              <a:r>
                <a:rPr lang="es-CO" sz="1200" b="0" dirty="0">
                  <a:solidFill>
                    <a:srgbClr val="00B050"/>
                  </a:solidFill>
                  <a:effectLst/>
                  <a:latin typeface="Consolas" panose="020B0609020204030204" pitchFamily="49" charset="0"/>
                </a:rPr>
                <a:t>    """</a:t>
              </a:r>
            </a:p>
            <a:p>
              <a:r>
                <a:rPr lang="es-CO" sz="1200" b="0" dirty="0">
                  <a:effectLst/>
                  <a:latin typeface="Consolas" panose="020B0609020204030204" pitchFamily="49" charset="0"/>
                </a:rPr>
                <a:t>    </a:t>
              </a:r>
              <a:r>
                <a:rPr lang="es-CO" sz="1200" b="0" dirty="0" err="1">
                  <a:effectLst/>
                  <a:latin typeface="Consolas" panose="020B0609020204030204" pitchFamily="49" charset="0"/>
                </a:rPr>
                <a:t>temp_f</a:t>
              </a:r>
              <a:r>
                <a:rPr lang="es-CO" sz="1200" b="0" dirty="0">
                  <a:effectLst/>
                  <a:latin typeface="Consolas" panose="020B0609020204030204" pitchFamily="49" charset="0"/>
                </a:rPr>
                <a:t> = (9 / 5) * </a:t>
              </a:r>
              <a:r>
                <a:rPr lang="es-CO" sz="1200" b="0" dirty="0" err="1">
                  <a:effectLst/>
                  <a:latin typeface="Consolas" panose="020B0609020204030204" pitchFamily="49" charset="0"/>
                </a:rPr>
                <a:t>temp_c</a:t>
              </a:r>
              <a:r>
                <a:rPr lang="es-CO" sz="1200" b="0" dirty="0">
                  <a:effectLst/>
                  <a:latin typeface="Consolas" panose="020B0609020204030204" pitchFamily="49" charset="0"/>
                </a:rPr>
                <a:t> + 32</a:t>
              </a:r>
            </a:p>
            <a:p>
              <a:r>
                <a:rPr lang="es-CO" sz="1200" b="0" dirty="0">
                  <a:effectLst/>
                  <a:latin typeface="Consolas" panose="020B0609020204030204" pitchFamily="49" charset="0"/>
                </a:rPr>
                <a:t>    </a:t>
              </a:r>
              <a:r>
                <a:rPr lang="es-CO" sz="1200" b="0" dirty="0" err="1">
                  <a:effectLst/>
                  <a:latin typeface="Consolas" panose="020B0609020204030204" pitchFamily="49" charset="0"/>
                </a:rPr>
                <a:t>return</a:t>
              </a:r>
              <a:r>
                <a:rPr lang="es-CO" sz="1200" b="0" dirty="0">
                  <a:effectLst/>
                  <a:latin typeface="Consolas" panose="020B0609020204030204" pitchFamily="49" charset="0"/>
                </a:rPr>
                <a:t> </a:t>
              </a:r>
              <a:r>
                <a:rPr lang="es-CO" sz="1200" b="0" dirty="0" err="1">
                  <a:effectLst/>
                  <a:latin typeface="Consolas" panose="020B0609020204030204" pitchFamily="49" charset="0"/>
                </a:rPr>
                <a:t>temp_f</a:t>
              </a:r>
              <a:endParaRPr lang="es-CO" sz="1200" b="0" dirty="0"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1D0B6AD9-6925-4946-9E4B-BAE3CCDCEC42}"/>
                </a:ext>
              </a:extLst>
            </p:cNvPr>
            <p:cNvSpPr txBox="1"/>
            <p:nvPr/>
          </p:nvSpPr>
          <p:spPr>
            <a:xfrm>
              <a:off x="5420332" y="3284984"/>
              <a:ext cx="211975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1400" b="1" dirty="0">
                  <a:latin typeface="Consolas" panose="020B0609020204030204" pitchFamily="49" charset="0"/>
                </a:rPr>
                <a:t>conversiones.py</a:t>
              </a:r>
            </a:p>
          </p:txBody>
        </p:sp>
      </p:grp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BEED919-F522-4213-8131-928F019FE7B3}"/>
              </a:ext>
            </a:extLst>
          </p:cNvPr>
          <p:cNvSpPr txBox="1"/>
          <p:nvPr/>
        </p:nvSpPr>
        <p:spPr>
          <a:xfrm>
            <a:off x="332726" y="3259723"/>
            <a:ext cx="8640960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sz="1600" i="1" dirty="0"/>
              <a:t>“Quien usa la función solo necesita su nombre, qué recibe y qué devuelve: no necesita ver su código.”</a:t>
            </a:r>
            <a:endParaRPr lang="es-CO" sz="1600" i="1" dirty="0"/>
          </a:p>
        </p:txBody>
      </p:sp>
    </p:spTree>
    <p:extLst>
      <p:ext uri="{BB962C8B-B14F-4D97-AF65-F5344CB8AC3E}">
        <p14:creationId xmlns:p14="http://schemas.microsoft.com/office/powerpoint/2010/main" val="4108145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62413" y="116632"/>
            <a:ext cx="8981587" cy="1215008"/>
          </a:xfrm>
        </p:spPr>
        <p:txBody>
          <a:bodyPr>
            <a:normAutofit/>
          </a:bodyPr>
          <a:lstStyle/>
          <a:p>
            <a:r>
              <a:rPr lang="es-CO" dirty="0"/>
              <a:t>Quién llama y qué recibe de vuelta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0" y="6177498"/>
            <a:ext cx="9143999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sz="2000" dirty="0"/>
              <a:t>Definir una función no la ejecuta: se ejecuta cuando se la llama. La llamada le entrega </a:t>
            </a:r>
            <a:r>
              <a:rPr lang="es-MX" b="1" dirty="0" err="1">
                <a:latin typeface="Consolas" panose="020B0609020204030204" pitchFamily="49" charset="0"/>
              </a:rPr>
              <a:t>temp_c</a:t>
            </a:r>
            <a:r>
              <a:rPr lang="es-MX" sz="2000" dirty="0"/>
              <a:t> y recibe </a:t>
            </a:r>
            <a:r>
              <a:rPr lang="es-MX" b="1" dirty="0" err="1">
                <a:latin typeface="Consolas" panose="020B0609020204030204" pitchFamily="49" charset="0"/>
              </a:rPr>
              <a:t>temp_f</a:t>
            </a:r>
            <a:r>
              <a:rPr lang="es-MX" sz="2000" dirty="0"/>
              <a:t> con </a:t>
            </a:r>
            <a:r>
              <a:rPr lang="es-MX" b="1" dirty="0">
                <a:latin typeface="Consolas" panose="020B0609020204030204" pitchFamily="49" charset="0"/>
              </a:rPr>
              <a:t>return</a:t>
            </a:r>
            <a:r>
              <a:rPr lang="es-MX" sz="2000" dirty="0"/>
              <a:t>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0AE2315-E2CC-4E76-B336-471726308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24" y="1052736"/>
            <a:ext cx="6956152" cy="320842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BC65B04-C12A-4CE7-A96C-3B3D791D423C}"/>
              </a:ext>
            </a:extLst>
          </p:cNvPr>
          <p:cNvSpPr txBox="1"/>
          <p:nvPr/>
        </p:nvSpPr>
        <p:spPr>
          <a:xfrm>
            <a:off x="1561507" y="5816297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3"/>
              </a:rPr>
              <a:t>Link simulación</a:t>
            </a:r>
            <a:endParaRPr lang="es-CO" sz="12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C064295-EAAB-4E37-ABF7-8A1B848B8192}"/>
              </a:ext>
            </a:extLst>
          </p:cNvPr>
          <p:cNvSpPr txBox="1"/>
          <p:nvPr/>
        </p:nvSpPr>
        <p:spPr>
          <a:xfrm>
            <a:off x="429947" y="4420681"/>
            <a:ext cx="3927607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200" b="0" dirty="0" err="1">
                <a:effectLst/>
                <a:latin typeface="Consolas" panose="020B0609020204030204" pitchFamily="49" charset="0"/>
              </a:rPr>
              <a:t>def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 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celsius_a_fahrenheit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(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temp_c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s-CO" sz="1200" b="0" dirty="0">
                <a:effectLst/>
                <a:latin typeface="Consolas" panose="020B0609020204030204" pitchFamily="49" charset="0"/>
              </a:rPr>
              <a:t>    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temp_f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 = (9 / 5) * 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temp_c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 + 32</a:t>
            </a:r>
          </a:p>
          <a:p>
            <a:r>
              <a:rPr lang="es-CO" sz="1200" b="0" dirty="0">
                <a:effectLst/>
                <a:latin typeface="Consolas" panose="020B0609020204030204" pitchFamily="49" charset="0"/>
              </a:rPr>
              <a:t>    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return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 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temp_f</a:t>
            </a:r>
            <a:endParaRPr lang="es-CO" sz="1200" b="0" dirty="0">
              <a:effectLst/>
              <a:latin typeface="Consolas" panose="020B0609020204030204" pitchFamily="49" charset="0"/>
            </a:endParaRP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 err="1">
                <a:latin typeface="Consolas" panose="020B0609020204030204" pitchFamily="49" charset="0"/>
              </a:rPr>
              <a:t>temp_c</a:t>
            </a:r>
            <a:r>
              <a:rPr lang="es-CO" sz="1200" dirty="0">
                <a:latin typeface="Consolas" panose="020B0609020204030204" pitchFamily="49" charset="0"/>
              </a:rPr>
              <a:t> = float(input("Ingrese los °C: "))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temp_f</a:t>
            </a:r>
            <a:r>
              <a:rPr lang="es-CO" sz="1200" dirty="0">
                <a:latin typeface="Consolas" panose="020B0609020204030204" pitchFamily="49" charset="0"/>
              </a:rPr>
              <a:t> = </a:t>
            </a:r>
            <a:r>
              <a:rPr lang="es-CO" sz="1200" dirty="0" err="1">
                <a:latin typeface="Consolas" panose="020B0609020204030204" pitchFamily="49" charset="0"/>
              </a:rPr>
              <a:t>celsius_a_fahrenheit</a:t>
            </a:r>
            <a:r>
              <a:rPr lang="es-CO" sz="1200" dirty="0">
                <a:latin typeface="Consolas" panose="020B0609020204030204" pitchFamily="49" charset="0"/>
              </a:rPr>
              <a:t>(</a:t>
            </a:r>
            <a:r>
              <a:rPr lang="es-CO" sz="1200" dirty="0" err="1">
                <a:latin typeface="Consolas" panose="020B0609020204030204" pitchFamily="49" charset="0"/>
              </a:rPr>
              <a:t>temp_c</a:t>
            </a:r>
            <a:r>
              <a:rPr lang="es-CO" sz="1200" dirty="0">
                <a:latin typeface="Consolas" panose="020B0609020204030204" pitchFamily="49" charset="0"/>
              </a:rPr>
              <a:t>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print(f"{</a:t>
            </a:r>
            <a:r>
              <a:rPr lang="es-CO" sz="1200" dirty="0" err="1">
                <a:latin typeface="Consolas" panose="020B0609020204030204" pitchFamily="49" charset="0"/>
              </a:rPr>
              <a:t>temp_c</a:t>
            </a:r>
            <a:r>
              <a:rPr lang="es-CO" sz="1200" dirty="0">
                <a:latin typeface="Consolas" panose="020B0609020204030204" pitchFamily="49" charset="0"/>
              </a:rPr>
              <a:t>} °C = {temp_f:.2f} °F")</a:t>
            </a:r>
            <a:endParaRPr lang="es-CO" sz="1200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7F86403-7C6E-4715-A588-A761BD468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710" y="3789040"/>
            <a:ext cx="4618892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165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62413" y="116632"/>
            <a:ext cx="8981587" cy="1215008"/>
          </a:xfrm>
        </p:spPr>
        <p:txBody>
          <a:bodyPr>
            <a:normAutofit/>
          </a:bodyPr>
          <a:lstStyle/>
          <a:p>
            <a:r>
              <a:rPr lang="es-CO" dirty="0"/>
              <a:t>Un programa en varios archivos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0" y="5301208"/>
            <a:ext cx="9143999" cy="15388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sz="2000" b="1" dirty="0"/>
              <a:t>Recordemos la convención de trabajo</a:t>
            </a:r>
            <a:r>
              <a:rPr lang="es-MX" sz="2000" dirty="0"/>
              <a:t>: De aquí en adelante, los programas que usen funciones se organizan en 3 archivos (</a:t>
            </a:r>
            <a:r>
              <a:rPr lang="es-MX" sz="2000" b="1" dirty="0"/>
              <a:t>módulos</a:t>
            </a:r>
            <a:r>
              <a:rPr lang="es-MX" sz="2000" dirty="0"/>
              <a:t>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1" dirty="0"/>
              <a:t>Funciones</a:t>
            </a:r>
            <a:r>
              <a:rPr lang="es-MX" dirty="0"/>
              <a:t> (</a:t>
            </a:r>
            <a:r>
              <a:rPr lang="es-MX" sz="1600" b="1" dirty="0">
                <a:latin typeface="Consolas" panose="020B0609020204030204" pitchFamily="49" charset="0"/>
              </a:rPr>
              <a:t>conversiones.py</a:t>
            </a:r>
            <a:r>
              <a:rPr lang="es-MX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1" dirty="0"/>
              <a:t>Pruebas con </a:t>
            </a:r>
            <a:r>
              <a:rPr lang="es-MX" sz="1600" b="1" dirty="0" err="1">
                <a:latin typeface="Consolas" panose="020B0609020204030204" pitchFamily="49" charset="0"/>
              </a:rPr>
              <a:t>assert</a:t>
            </a:r>
            <a:r>
              <a:rPr lang="es-MX" dirty="0"/>
              <a:t> (</a:t>
            </a:r>
            <a:r>
              <a:rPr lang="es-MX" sz="1600" b="1" dirty="0">
                <a:latin typeface="Consolas" panose="020B0609020204030204" pitchFamily="49" charset="0"/>
              </a:rPr>
              <a:t>test_conversiones.py</a:t>
            </a:r>
            <a:r>
              <a:rPr lang="es-MX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1" dirty="0"/>
              <a:t>Programa principal</a:t>
            </a:r>
            <a:r>
              <a:rPr lang="es-MX" dirty="0"/>
              <a:t> (</a:t>
            </a:r>
            <a:r>
              <a:rPr lang="es-MX" sz="1600" b="1" dirty="0">
                <a:latin typeface="Consolas" panose="020B0609020204030204" pitchFamily="49" charset="0"/>
              </a:rPr>
              <a:t>main.py</a:t>
            </a:r>
            <a:r>
              <a:rPr lang="es-MX" dirty="0"/>
              <a:t>) con </a:t>
            </a:r>
            <a:r>
              <a:rPr lang="es-MX" sz="1600" b="1" dirty="0" err="1">
                <a:latin typeface="Consolas" panose="020B0609020204030204" pitchFamily="49" charset="0"/>
              </a:rPr>
              <a:t>def</a:t>
            </a:r>
            <a:r>
              <a:rPr lang="es-MX" sz="1600" b="1" dirty="0">
                <a:latin typeface="Consolas" panose="020B0609020204030204" pitchFamily="49" charset="0"/>
              </a:rPr>
              <a:t> main()</a:t>
            </a:r>
            <a:r>
              <a:rPr lang="es-MX" dirty="0"/>
              <a:t> y la guarda </a:t>
            </a:r>
            <a:r>
              <a:rPr lang="es-CO" sz="1600" b="1" dirty="0" err="1">
                <a:latin typeface="Consolas" panose="020B0609020204030204" pitchFamily="49" charset="0"/>
              </a:rPr>
              <a:t>if</a:t>
            </a:r>
            <a:r>
              <a:rPr lang="es-CO" sz="1600" b="1" dirty="0">
                <a:latin typeface="Consolas" panose="020B0609020204030204" pitchFamily="49" charset="0"/>
              </a:rPr>
              <a:t> __</a:t>
            </a:r>
            <a:r>
              <a:rPr lang="es-CO" sz="1600" b="1" dirty="0" err="1">
                <a:latin typeface="Consolas" panose="020B0609020204030204" pitchFamily="49" charset="0"/>
              </a:rPr>
              <a:t>name</a:t>
            </a:r>
            <a:r>
              <a:rPr lang="es-CO" sz="1600" b="1" dirty="0">
                <a:latin typeface="Consolas" panose="020B0609020204030204" pitchFamily="49" charset="0"/>
              </a:rPr>
              <a:t>__ == "__</a:t>
            </a:r>
            <a:r>
              <a:rPr lang="es-CO" sz="1600" b="1" dirty="0" err="1">
                <a:latin typeface="Consolas" panose="020B0609020204030204" pitchFamily="49" charset="0"/>
              </a:rPr>
              <a:t>main</a:t>
            </a:r>
            <a:r>
              <a:rPr lang="es-CO" sz="1600" b="1" dirty="0">
                <a:latin typeface="Consolas" panose="020B0609020204030204" pitchFamily="49" charset="0"/>
              </a:rPr>
              <a:t>__":</a:t>
            </a:r>
            <a:endParaRPr lang="es-MX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FF60526-8FEB-478A-BCCA-EF5DF80CF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052736"/>
            <a:ext cx="8535866" cy="2448272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04806B4A-384C-4563-BAA1-08B91B1A2FB9}"/>
              </a:ext>
            </a:extLst>
          </p:cNvPr>
          <p:cNvGrpSpPr/>
          <p:nvPr/>
        </p:nvGrpSpPr>
        <p:grpSpPr>
          <a:xfrm>
            <a:off x="423448" y="3717032"/>
            <a:ext cx="4157468" cy="1303990"/>
            <a:chOff x="3948973" y="3284689"/>
            <a:chExt cx="3795949" cy="1303990"/>
          </a:xfrm>
        </p:grpSpPr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73974851-AC40-436A-BF36-5D8979FD6A8E}"/>
                </a:ext>
              </a:extLst>
            </p:cNvPr>
            <p:cNvSpPr txBox="1"/>
            <p:nvPr/>
          </p:nvSpPr>
          <p:spPr>
            <a:xfrm>
              <a:off x="3948973" y="3573016"/>
              <a:ext cx="3795949" cy="10156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CO" sz="1200" b="0" dirty="0" err="1">
                  <a:effectLst/>
                  <a:latin typeface="Consolas" panose="020B0609020204030204" pitchFamily="49" charset="0"/>
                </a:rPr>
                <a:t>import</a:t>
              </a:r>
              <a:r>
                <a:rPr lang="es-CO" sz="1200" b="0" dirty="0">
                  <a:effectLst/>
                  <a:latin typeface="Consolas" panose="020B0609020204030204" pitchFamily="49" charset="0"/>
                </a:rPr>
                <a:t> conversiones</a:t>
              </a:r>
            </a:p>
            <a:p>
              <a:br>
                <a:rPr lang="es-CO" sz="1200" b="0" dirty="0">
                  <a:effectLst/>
                  <a:latin typeface="Consolas" panose="020B0609020204030204" pitchFamily="49" charset="0"/>
                </a:rPr>
              </a:br>
              <a:r>
                <a:rPr lang="es-CO" sz="1200" b="0" dirty="0" err="1">
                  <a:effectLst/>
                  <a:latin typeface="Consolas" panose="020B0609020204030204" pitchFamily="49" charset="0"/>
                </a:rPr>
                <a:t>assert</a:t>
              </a:r>
              <a:r>
                <a:rPr lang="es-CO" sz="1200" b="0" dirty="0">
                  <a:effectLst/>
                  <a:latin typeface="Consolas" panose="020B0609020204030204" pitchFamily="49" charset="0"/>
                </a:rPr>
                <a:t> ...</a:t>
              </a:r>
            </a:p>
            <a:p>
              <a:r>
                <a:rPr lang="es-CO" sz="1200" b="0" dirty="0">
                  <a:effectLst/>
                  <a:latin typeface="Consolas" panose="020B0609020204030204" pitchFamily="49" charset="0"/>
                </a:rPr>
                <a:t>...</a:t>
              </a:r>
            </a:p>
            <a:p>
              <a:r>
                <a:rPr lang="es-CO" sz="1200" b="0" dirty="0">
                  <a:effectLst/>
                  <a:latin typeface="Consolas" panose="020B0609020204030204" pitchFamily="49" charset="0"/>
                </a:rPr>
                <a:t>print("Pruebas de conversiones: todas pasaron")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CFDC075A-BBCA-42A8-BBF5-CA1B5A1DD99C}"/>
                </a:ext>
              </a:extLst>
            </p:cNvPr>
            <p:cNvSpPr txBox="1"/>
            <p:nvPr/>
          </p:nvSpPr>
          <p:spPr>
            <a:xfrm>
              <a:off x="4684651" y="3284689"/>
              <a:ext cx="211975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1400" b="1" dirty="0">
                  <a:latin typeface="Consolas" panose="020B0609020204030204" pitchFamily="49" charset="0"/>
                </a:rPr>
                <a:t>test_conversiones.py</a:t>
              </a: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3E7FC632-A011-43E1-9602-0500B88E1C1B}"/>
              </a:ext>
            </a:extLst>
          </p:cNvPr>
          <p:cNvGrpSpPr/>
          <p:nvPr/>
        </p:nvGrpSpPr>
        <p:grpSpPr>
          <a:xfrm>
            <a:off x="4743327" y="3740544"/>
            <a:ext cx="3933129" cy="1488656"/>
            <a:chOff x="3948973" y="3284689"/>
            <a:chExt cx="3591118" cy="1488656"/>
          </a:xfrm>
        </p:grpSpPr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B55EB806-96DB-44A5-8D41-68152547B41D}"/>
                </a:ext>
              </a:extLst>
            </p:cNvPr>
            <p:cNvSpPr txBox="1"/>
            <p:nvPr/>
          </p:nvSpPr>
          <p:spPr>
            <a:xfrm>
              <a:off x="3948973" y="3573016"/>
              <a:ext cx="3591118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CO" sz="1200" b="0" dirty="0" err="1">
                  <a:effectLst/>
                  <a:latin typeface="Consolas" panose="020B0609020204030204" pitchFamily="49" charset="0"/>
                </a:rPr>
                <a:t>import</a:t>
              </a:r>
              <a:r>
                <a:rPr lang="es-CO" sz="1200" b="0" dirty="0">
                  <a:effectLst/>
                  <a:latin typeface="Consolas" panose="020B0609020204030204" pitchFamily="49" charset="0"/>
                </a:rPr>
                <a:t> conversiones</a:t>
              </a:r>
            </a:p>
            <a:p>
              <a:br>
                <a:rPr lang="es-CO" sz="1200" b="0" dirty="0">
                  <a:effectLst/>
                  <a:latin typeface="Consolas" panose="020B0609020204030204" pitchFamily="49" charset="0"/>
                </a:rPr>
              </a:br>
              <a:r>
                <a:rPr lang="es-CO" sz="1200" b="0" dirty="0" err="1">
                  <a:effectLst/>
                  <a:latin typeface="Consolas" panose="020B0609020204030204" pitchFamily="49" charset="0"/>
                </a:rPr>
                <a:t>def</a:t>
              </a:r>
              <a:r>
                <a:rPr lang="es-CO" sz="1200" b="0" dirty="0">
                  <a:effectLst/>
                  <a:latin typeface="Consolas" panose="020B0609020204030204" pitchFamily="49" charset="0"/>
                </a:rPr>
                <a:t> </a:t>
              </a:r>
              <a:r>
                <a:rPr lang="es-CO" sz="1200" b="0" dirty="0" err="1">
                  <a:effectLst/>
                  <a:latin typeface="Consolas" panose="020B0609020204030204" pitchFamily="49" charset="0"/>
                </a:rPr>
                <a:t>main</a:t>
              </a:r>
              <a:r>
                <a:rPr lang="es-CO" sz="1200" b="0" dirty="0">
                  <a:effectLst/>
                  <a:latin typeface="Consolas" panose="020B0609020204030204" pitchFamily="49" charset="0"/>
                </a:rPr>
                <a:t>(): ... </a:t>
              </a:r>
            </a:p>
            <a:p>
              <a:endParaRPr lang="es-CO" sz="1200" dirty="0">
                <a:latin typeface="Consolas" panose="020B0609020204030204" pitchFamily="49" charset="0"/>
              </a:endParaRPr>
            </a:p>
            <a:p>
              <a:r>
                <a:rPr lang="es-CO" sz="1200" b="0" dirty="0" err="1">
                  <a:effectLst/>
                  <a:latin typeface="Consolas" panose="020B0609020204030204" pitchFamily="49" charset="0"/>
                </a:rPr>
                <a:t>if</a:t>
              </a:r>
              <a:r>
                <a:rPr lang="es-CO" sz="1200" b="0" dirty="0">
                  <a:effectLst/>
                  <a:latin typeface="Consolas" panose="020B0609020204030204" pitchFamily="49" charset="0"/>
                </a:rPr>
                <a:t> __</a:t>
              </a:r>
              <a:r>
                <a:rPr lang="es-CO" sz="1200" b="0" dirty="0" err="1">
                  <a:effectLst/>
                  <a:latin typeface="Consolas" panose="020B0609020204030204" pitchFamily="49" charset="0"/>
                </a:rPr>
                <a:t>name</a:t>
              </a:r>
              <a:r>
                <a:rPr lang="es-CO" sz="1200" b="0" dirty="0">
                  <a:effectLst/>
                  <a:latin typeface="Consolas" panose="020B0609020204030204" pitchFamily="49" charset="0"/>
                </a:rPr>
                <a:t>__ == "__</a:t>
              </a:r>
              <a:r>
                <a:rPr lang="es-CO" sz="1200" b="0" dirty="0" err="1">
                  <a:effectLst/>
                  <a:latin typeface="Consolas" panose="020B0609020204030204" pitchFamily="49" charset="0"/>
                </a:rPr>
                <a:t>main</a:t>
              </a:r>
              <a:r>
                <a:rPr lang="es-CO" sz="1200" b="0" dirty="0">
                  <a:effectLst/>
                  <a:latin typeface="Consolas" panose="020B0609020204030204" pitchFamily="49" charset="0"/>
                </a:rPr>
                <a:t>__":</a:t>
              </a:r>
            </a:p>
            <a:p>
              <a:r>
                <a:rPr lang="es-CO" sz="1200" b="0" dirty="0">
                  <a:effectLst/>
                  <a:latin typeface="Consolas" panose="020B0609020204030204" pitchFamily="49" charset="0"/>
                </a:rPr>
                <a:t>    </a:t>
              </a:r>
              <a:r>
                <a:rPr lang="es-CO" sz="1200" b="0" dirty="0" err="1">
                  <a:effectLst/>
                  <a:latin typeface="Consolas" panose="020B0609020204030204" pitchFamily="49" charset="0"/>
                </a:rPr>
                <a:t>main</a:t>
              </a:r>
              <a:r>
                <a:rPr lang="es-CO" sz="1200" b="0" dirty="0">
                  <a:effectLst/>
                  <a:latin typeface="Consolas" panose="020B0609020204030204" pitchFamily="49" charset="0"/>
                </a:rPr>
                <a:t>()</a:t>
              </a: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D5CB9242-BD11-4DF2-A0FE-DB2069665F2D}"/>
                </a:ext>
              </a:extLst>
            </p:cNvPr>
            <p:cNvSpPr txBox="1"/>
            <p:nvPr/>
          </p:nvSpPr>
          <p:spPr>
            <a:xfrm>
              <a:off x="4684651" y="3284689"/>
              <a:ext cx="211975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1400" b="1" dirty="0">
                  <a:latin typeface="Consolas" panose="020B0609020204030204" pitchFamily="49" charset="0"/>
                </a:rPr>
                <a:t>main.py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8472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23528" y="116632"/>
            <a:ext cx="8675832" cy="794653"/>
          </a:xfrm>
        </p:spPr>
        <p:txBody>
          <a:bodyPr>
            <a:noAutofit/>
          </a:bodyPr>
          <a:lstStyle/>
          <a:p>
            <a:r>
              <a:rPr lang="es-MX" sz="3200" dirty="0"/>
              <a:t>El problema que quedó pendiente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88FC587-B925-4872-9176-CBAE616BD677}"/>
              </a:ext>
            </a:extLst>
          </p:cNvPr>
          <p:cNvSpPr txBox="1"/>
          <p:nvPr/>
        </p:nvSpPr>
        <p:spPr>
          <a:xfrm>
            <a:off x="315766" y="5987652"/>
            <a:ext cx="8512465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s-MX" b="1" dirty="0"/>
              <a:t>Pregunta</a:t>
            </a:r>
            <a:r>
              <a:rPr lang="es-MX" dirty="0"/>
              <a:t>: El promedio solo se conoce después de leer todas las notas. ¿Cómo se compara cada nota con el promedio, si las anteriores ya se perdieron?</a:t>
            </a:r>
          </a:p>
        </p:txBody>
      </p:sp>
      <p:sp>
        <p:nvSpPr>
          <p:cNvPr id="6" name="12 Rectángulo">
            <a:extLst>
              <a:ext uri="{FF2B5EF4-FFF2-40B4-BE49-F238E27FC236}">
                <a16:creationId xmlns:a16="http://schemas.microsoft.com/office/drawing/2014/main" id="{A73AFEAC-B223-4D7F-B142-1E206A88BEB3}"/>
              </a:ext>
            </a:extLst>
          </p:cNvPr>
          <p:cNvSpPr/>
          <p:nvPr/>
        </p:nvSpPr>
        <p:spPr>
          <a:xfrm>
            <a:off x="144639" y="867484"/>
            <a:ext cx="885472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/>
              <a:t>Enunciado</a:t>
            </a:r>
            <a:r>
              <a:rPr lang="es-MX" sz="2000" dirty="0"/>
              <a:t>: Leer las notas de los estudiantes de un curso y mostrar </a:t>
            </a:r>
            <a:r>
              <a:rPr lang="es-MX" sz="2000" b="1" dirty="0"/>
              <a:t>cuántas notas son mayores que el promedio</a:t>
            </a:r>
            <a:r>
              <a:rPr lang="es-MX" sz="2000" dirty="0"/>
              <a:t>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Archivo</a:t>
            </a:r>
            <a:r>
              <a:rPr lang="es-MX" sz="2000" dirty="0"/>
              <a:t>: </a:t>
            </a:r>
            <a:r>
              <a:rPr lang="es-MX" dirty="0">
                <a:latin typeface="Consolas" panose="020B0609020204030204" pitchFamily="49" charset="0"/>
              </a:rPr>
              <a:t>notas_sin_arreglos.py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Salida</a:t>
            </a:r>
            <a:r>
              <a:rPr lang="es-MX" sz="2000" dirty="0"/>
              <a:t> (con 4 estudiantes: 3.0, 4.5, 2.0, 4.0):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CE0D67-953B-4B33-BC21-F6E2079C93A0}"/>
              </a:ext>
            </a:extLst>
          </p:cNvPr>
          <p:cNvSpPr txBox="1"/>
          <p:nvPr/>
        </p:nvSpPr>
        <p:spPr>
          <a:xfrm>
            <a:off x="687372" y="1953414"/>
            <a:ext cx="7056784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sz="1200" dirty="0" err="1">
                <a:latin typeface="Consolas" panose="020B0609020204030204" pitchFamily="49" charset="0"/>
              </a:rPr>
              <a:t>def</a:t>
            </a:r>
            <a:r>
              <a:rPr lang="es-MX" sz="1200" dirty="0">
                <a:latin typeface="Consolas" panose="020B0609020204030204" pitchFamily="49" charset="0"/>
              </a:rPr>
              <a:t> main():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cantidad = </a:t>
            </a:r>
            <a:r>
              <a:rPr lang="es-MX" sz="1200" dirty="0" err="1">
                <a:latin typeface="Consolas" panose="020B0609020204030204" pitchFamily="49" charset="0"/>
              </a:rPr>
              <a:t>int</a:t>
            </a:r>
            <a:r>
              <a:rPr lang="es-MX" sz="1200" dirty="0">
                <a:latin typeface="Consolas" panose="020B0609020204030204" pitchFamily="49" charset="0"/>
              </a:rPr>
              <a:t>(input("Cantidad de estudiantes: "))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suma = 0.0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latin typeface="Consolas" panose="020B0609020204030204" pitchFamily="49" charset="0"/>
              </a:rPr>
              <a:t>for</a:t>
            </a:r>
            <a:r>
              <a:rPr lang="es-MX" sz="1200" dirty="0">
                <a:latin typeface="Consolas" panose="020B0609020204030204" pitchFamily="49" charset="0"/>
              </a:rPr>
              <a:t> i in range(cantidad):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    nota = </a:t>
            </a:r>
            <a:r>
              <a:rPr lang="es-MX" sz="1200" dirty="0" err="1">
                <a:latin typeface="Consolas" panose="020B0609020204030204" pitchFamily="49" charset="0"/>
              </a:rPr>
              <a:t>float</a:t>
            </a:r>
            <a:r>
              <a:rPr lang="es-MX" sz="1200" dirty="0">
                <a:latin typeface="Consolas" panose="020B0609020204030204" pitchFamily="49" charset="0"/>
              </a:rPr>
              <a:t>(input(</a:t>
            </a:r>
            <a:r>
              <a:rPr lang="es-MX" sz="1200" dirty="0" err="1">
                <a:latin typeface="Consolas" panose="020B0609020204030204" pitchFamily="49" charset="0"/>
              </a:rPr>
              <a:t>f"Nota</a:t>
            </a:r>
            <a:r>
              <a:rPr lang="es-MX" sz="1200" dirty="0">
                <a:latin typeface="Consolas" panose="020B0609020204030204" pitchFamily="49" charset="0"/>
              </a:rPr>
              <a:t> del estudiante {i + 1}: "))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    suma += nota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promedio = suma / cantidad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print(</a:t>
            </a:r>
            <a:r>
              <a:rPr lang="es-MX" sz="1200" dirty="0" err="1">
                <a:latin typeface="Consolas" panose="020B0609020204030204" pitchFamily="49" charset="0"/>
              </a:rPr>
              <a:t>f"Promedio</a:t>
            </a:r>
            <a:r>
              <a:rPr lang="es-MX" sz="1200" dirty="0">
                <a:latin typeface="Consolas" panose="020B0609020204030204" pitchFamily="49" charset="0"/>
              </a:rPr>
              <a:t> del curso: {promedio:.2f}")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# ¿Cuántas notas son mayores que el promedio?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# Problema: la variable nota solo conserva la última nota leída.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print(</a:t>
            </a:r>
            <a:r>
              <a:rPr lang="es-MX" sz="1200" dirty="0" err="1">
                <a:latin typeface="Consolas" panose="020B0609020204030204" pitchFamily="49" charset="0"/>
              </a:rPr>
              <a:t>f"Nota</a:t>
            </a:r>
            <a:r>
              <a:rPr lang="es-MX" sz="1200" dirty="0">
                <a:latin typeface="Consolas" panose="020B0609020204030204" pitchFamily="49" charset="0"/>
              </a:rPr>
              <a:t> guardada en la variable nota: {nota}")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 err="1">
                <a:latin typeface="Consolas" panose="020B0609020204030204" pitchFamily="49" charset="0"/>
              </a:rPr>
              <a:t>if</a:t>
            </a:r>
            <a:r>
              <a:rPr lang="es-CO" sz="1200" dirty="0">
                <a:latin typeface="Consolas" panose="020B0609020204030204" pitchFamily="49" charset="0"/>
              </a:rPr>
              <a:t> __</a:t>
            </a:r>
            <a:r>
              <a:rPr lang="es-CO" sz="1200" dirty="0" err="1">
                <a:latin typeface="Consolas" panose="020B0609020204030204" pitchFamily="49" charset="0"/>
              </a:rPr>
              <a:t>name</a:t>
            </a:r>
            <a:r>
              <a:rPr lang="es-CO" sz="1200" dirty="0">
                <a:latin typeface="Consolas" panose="020B0609020204030204" pitchFamily="49" charset="0"/>
              </a:rPr>
              <a:t>__ == "__</a:t>
            </a:r>
            <a:r>
              <a:rPr lang="es-CO" sz="1200" dirty="0" err="1">
                <a:latin typeface="Consolas" panose="020B0609020204030204" pitchFamily="49" charset="0"/>
              </a:rPr>
              <a:t>main</a:t>
            </a:r>
            <a:r>
              <a:rPr lang="es-CO" sz="1200" dirty="0">
                <a:latin typeface="Consolas" panose="020B0609020204030204" pitchFamily="49" charset="0"/>
              </a:rPr>
              <a:t>__":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main</a:t>
            </a:r>
            <a:r>
              <a:rPr lang="es-CO" sz="1200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B10E6FD-9F29-438D-815C-B2E85E0B9B12}"/>
              </a:ext>
            </a:extLst>
          </p:cNvPr>
          <p:cNvSpPr txBox="1"/>
          <p:nvPr/>
        </p:nvSpPr>
        <p:spPr>
          <a:xfrm>
            <a:off x="677144" y="5373216"/>
            <a:ext cx="705678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Promedio del curso: 3.38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Nota guardada en la variable nota: 4.0</a:t>
            </a:r>
            <a:endParaRPr lang="es-CO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514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23528" y="116632"/>
            <a:ext cx="8675832" cy="794653"/>
          </a:xfrm>
        </p:spPr>
        <p:txBody>
          <a:bodyPr>
            <a:noAutofit/>
          </a:bodyPr>
          <a:lstStyle/>
          <a:p>
            <a:r>
              <a:rPr lang="es-MX" sz="3200" dirty="0"/>
              <a:t>Posible solución: Una variable por nota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88FC587-B925-4872-9176-CBAE616BD677}"/>
              </a:ext>
            </a:extLst>
          </p:cNvPr>
          <p:cNvSpPr txBox="1"/>
          <p:nvPr/>
        </p:nvSpPr>
        <p:spPr>
          <a:xfrm>
            <a:off x="128940" y="6165304"/>
            <a:ext cx="874008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b="1" dirty="0"/>
              <a:t>Observación</a:t>
            </a:r>
            <a:r>
              <a:rPr lang="es-MX" dirty="0"/>
              <a:t>: Si los datos se van a usar después de leerlos, hay que guardarlos todos.</a:t>
            </a:r>
          </a:p>
        </p:txBody>
      </p:sp>
      <p:sp>
        <p:nvSpPr>
          <p:cNvPr id="6" name="12 Rectángulo">
            <a:extLst>
              <a:ext uri="{FF2B5EF4-FFF2-40B4-BE49-F238E27FC236}">
                <a16:creationId xmlns:a16="http://schemas.microsoft.com/office/drawing/2014/main" id="{A73AFEAC-B223-4D7F-B142-1E206A88BEB3}"/>
              </a:ext>
            </a:extLst>
          </p:cNvPr>
          <p:cNvSpPr/>
          <p:nvPr/>
        </p:nvSpPr>
        <p:spPr>
          <a:xfrm>
            <a:off x="201960" y="673316"/>
            <a:ext cx="874008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/>
              <a:t>Pregunta</a:t>
            </a:r>
            <a:r>
              <a:rPr lang="es-MX" sz="2000" dirty="0"/>
              <a:t>: El promedio solo se conoce después de leer todas las notas. ¿Cómo se compara cada nota con el promedio, si las anteriores ya se perdieron?</a:t>
            </a:r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Con 4 estudiantes funciona.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Con 40 estudiantes serían 40 variables, 40 lecturas, una suma de 40 términos y 40 </a:t>
            </a:r>
            <a:r>
              <a:rPr lang="es-MX" b="1" dirty="0" err="1">
                <a:latin typeface="Consolas" panose="020B0609020204030204" pitchFamily="49" charset="0"/>
              </a:rPr>
              <a:t>if</a:t>
            </a:r>
            <a:r>
              <a:rPr lang="es-MX" sz="2000" dirty="0"/>
              <a:t>. Aunque es posible, deja de ser practico.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dirty="0"/>
              <a:t>No se puede usar un ciclo</a:t>
            </a:r>
            <a:r>
              <a:rPr lang="es-MX" sz="2000" dirty="0"/>
              <a:t>: cada variable tiene un nombre distinto.</a:t>
            </a:r>
            <a:endParaRPr lang="es-MX" sz="20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CE0D67-953B-4B33-BC21-F6E2079C93A0}"/>
              </a:ext>
            </a:extLst>
          </p:cNvPr>
          <p:cNvSpPr txBox="1"/>
          <p:nvPr/>
        </p:nvSpPr>
        <p:spPr>
          <a:xfrm>
            <a:off x="471471" y="1467969"/>
            <a:ext cx="4568588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nota1 = </a:t>
            </a:r>
            <a:r>
              <a:rPr lang="es-MX" sz="1200" dirty="0" err="1">
                <a:latin typeface="Consolas" panose="020B0609020204030204" pitchFamily="49" charset="0"/>
              </a:rPr>
              <a:t>float</a:t>
            </a:r>
            <a:r>
              <a:rPr lang="es-MX" sz="1200" dirty="0">
                <a:latin typeface="Consolas" panose="020B0609020204030204" pitchFamily="49" charset="0"/>
              </a:rPr>
              <a:t>(input("Nota 1: "))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nota2 = </a:t>
            </a:r>
            <a:r>
              <a:rPr lang="es-MX" sz="1200" dirty="0" err="1">
                <a:latin typeface="Consolas" panose="020B0609020204030204" pitchFamily="49" charset="0"/>
              </a:rPr>
              <a:t>float</a:t>
            </a:r>
            <a:r>
              <a:rPr lang="es-MX" sz="1200" dirty="0">
                <a:latin typeface="Consolas" panose="020B0609020204030204" pitchFamily="49" charset="0"/>
              </a:rPr>
              <a:t>(input("Nota 2: "))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nota3 = </a:t>
            </a:r>
            <a:r>
              <a:rPr lang="es-MX" sz="1200" dirty="0" err="1">
                <a:latin typeface="Consolas" panose="020B0609020204030204" pitchFamily="49" charset="0"/>
              </a:rPr>
              <a:t>float</a:t>
            </a:r>
            <a:r>
              <a:rPr lang="es-MX" sz="1200" dirty="0">
                <a:latin typeface="Consolas" panose="020B0609020204030204" pitchFamily="49" charset="0"/>
              </a:rPr>
              <a:t>(input("Nota 3: "))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nota4 = </a:t>
            </a:r>
            <a:r>
              <a:rPr lang="es-MX" sz="1200" dirty="0" err="1">
                <a:latin typeface="Consolas" panose="020B0609020204030204" pitchFamily="49" charset="0"/>
              </a:rPr>
              <a:t>float</a:t>
            </a:r>
            <a:r>
              <a:rPr lang="es-MX" sz="1200" dirty="0">
                <a:latin typeface="Consolas" panose="020B0609020204030204" pitchFamily="49" charset="0"/>
              </a:rPr>
              <a:t>(input("Nota 4: "))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promedio = (nota1 + nota2 + nota3 + nota4) / 4</a:t>
            </a:r>
          </a:p>
          <a:p>
            <a:endParaRPr lang="es-MX" sz="1200" dirty="0">
              <a:latin typeface="Consolas" panose="020B0609020204030204" pitchFamily="49" charset="0"/>
            </a:endParaRPr>
          </a:p>
          <a:p>
            <a:r>
              <a:rPr lang="es-MX" sz="1200" dirty="0">
                <a:latin typeface="Consolas" panose="020B0609020204030204" pitchFamily="49" charset="0"/>
              </a:rPr>
              <a:t>cantidad = 0</a:t>
            </a:r>
          </a:p>
          <a:p>
            <a:r>
              <a:rPr lang="es-MX" sz="1200" dirty="0" err="1">
                <a:latin typeface="Consolas" panose="020B0609020204030204" pitchFamily="49" charset="0"/>
              </a:rPr>
              <a:t>if</a:t>
            </a:r>
            <a:r>
              <a:rPr lang="es-MX" sz="1200" dirty="0">
                <a:latin typeface="Consolas" panose="020B0609020204030204" pitchFamily="49" charset="0"/>
              </a:rPr>
              <a:t> nota1 &gt; promedio: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cantidad = cantidad + 1</a:t>
            </a:r>
          </a:p>
          <a:p>
            <a:r>
              <a:rPr lang="es-MX" sz="1200" dirty="0" err="1">
                <a:latin typeface="Consolas" panose="020B0609020204030204" pitchFamily="49" charset="0"/>
              </a:rPr>
              <a:t>if</a:t>
            </a:r>
            <a:r>
              <a:rPr lang="es-MX" sz="1200" dirty="0">
                <a:latin typeface="Consolas" panose="020B0609020204030204" pitchFamily="49" charset="0"/>
              </a:rPr>
              <a:t> nota2 &gt; promedio: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cantidad = cantidad + 1</a:t>
            </a:r>
          </a:p>
          <a:p>
            <a:r>
              <a:rPr lang="es-MX" sz="1200" dirty="0" err="1">
                <a:latin typeface="Consolas" panose="020B0609020204030204" pitchFamily="49" charset="0"/>
              </a:rPr>
              <a:t>if</a:t>
            </a:r>
            <a:r>
              <a:rPr lang="es-MX" sz="1200" dirty="0">
                <a:latin typeface="Consolas" panose="020B0609020204030204" pitchFamily="49" charset="0"/>
              </a:rPr>
              <a:t> nota3 &gt; promedio: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cantidad = cantidad + 1</a:t>
            </a:r>
          </a:p>
          <a:p>
            <a:r>
              <a:rPr lang="es-MX" sz="1200" dirty="0" err="1">
                <a:latin typeface="Consolas" panose="020B0609020204030204" pitchFamily="49" charset="0"/>
              </a:rPr>
              <a:t>if</a:t>
            </a:r>
            <a:r>
              <a:rPr lang="es-MX" sz="1200" dirty="0">
                <a:latin typeface="Consolas" panose="020B0609020204030204" pitchFamily="49" charset="0"/>
              </a:rPr>
              <a:t> nota4 &gt; promedio: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cantidad = cantidad + 1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print("Notas mayores que el promedio:", cantidad)</a:t>
            </a:r>
            <a:endParaRPr lang="es-CO" sz="1200" dirty="0">
              <a:latin typeface="Consolas" panose="020B0609020204030204" pitchFamily="49" charset="0"/>
            </a:endParaRP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D78534C1-EADF-426B-92B5-AD3F99400C90}"/>
              </a:ext>
            </a:extLst>
          </p:cNvPr>
          <p:cNvGrpSpPr/>
          <p:nvPr/>
        </p:nvGrpSpPr>
        <p:grpSpPr>
          <a:xfrm>
            <a:off x="5441466" y="1383406"/>
            <a:ext cx="3231063" cy="3409024"/>
            <a:chOff x="5184342" y="1003043"/>
            <a:chExt cx="3231063" cy="3409024"/>
          </a:xfrm>
        </p:grpSpPr>
        <p:pic>
          <p:nvPicPr>
            <p:cNvPr id="5126" name="Picture 6" descr="THE SIMPSONS MILHOUSE VAN HOUTEN">
              <a:extLst>
                <a:ext uri="{FF2B5EF4-FFF2-40B4-BE49-F238E27FC236}">
                  <a16:creationId xmlns:a16="http://schemas.microsoft.com/office/drawing/2014/main" id="{26ECC2C2-042E-4A2A-9DC9-C17D5C61F5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56168" y="2999584"/>
              <a:ext cx="362676" cy="9570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8" name="Picture 8" descr="Lisa Simpson - Wikipedia">
              <a:extLst>
                <a:ext uri="{FF2B5EF4-FFF2-40B4-BE49-F238E27FC236}">
                  <a16:creationId xmlns:a16="http://schemas.microsoft.com/office/drawing/2014/main" id="{CB300537-AFC6-47CD-B984-70F7214416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30775" y="1294083"/>
              <a:ext cx="613462" cy="9959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36" name="Picture 16" descr="Personajes Amigos De Nelson De Los Simpson">
              <a:extLst>
                <a:ext uri="{FF2B5EF4-FFF2-40B4-BE49-F238E27FC236}">
                  <a16:creationId xmlns:a16="http://schemas.microsoft.com/office/drawing/2014/main" id="{94BAEBAF-D02A-4677-87BD-3A8FA1F0EE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5076" y="1003043"/>
              <a:ext cx="732797" cy="1197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38" name="Picture 18" descr="Bart Simpson - Wikipedia">
              <a:extLst>
                <a:ext uri="{FF2B5EF4-FFF2-40B4-BE49-F238E27FC236}">
                  <a16:creationId xmlns:a16="http://schemas.microsoft.com/office/drawing/2014/main" id="{CB6888E5-9CA0-4327-98D8-D7B1FDFCAC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62007" y="2865465"/>
              <a:ext cx="803612" cy="11973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53A21215-B051-4C6A-818A-5E60B78F7C74}"/>
                </a:ext>
              </a:extLst>
            </p:cNvPr>
            <p:cNvSpPr txBox="1"/>
            <p:nvPr/>
          </p:nvSpPr>
          <p:spPr>
            <a:xfrm>
              <a:off x="7671108" y="2353899"/>
              <a:ext cx="732797" cy="30777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b="1" dirty="0">
                  <a:latin typeface="Consolas" panose="020B0609020204030204" pitchFamily="49" charset="0"/>
                </a:rPr>
                <a:t>4.5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A220A9E6-C278-45EB-9BB5-C221B1F28831}"/>
                </a:ext>
              </a:extLst>
            </p:cNvPr>
            <p:cNvSpPr txBox="1"/>
            <p:nvPr/>
          </p:nvSpPr>
          <p:spPr>
            <a:xfrm>
              <a:off x="5945076" y="4062847"/>
              <a:ext cx="732797" cy="30777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b="1" dirty="0">
                  <a:latin typeface="Consolas" panose="020B0609020204030204" pitchFamily="49" charset="0"/>
                </a:rPr>
                <a:t>2.0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10921D35-0E45-48E6-894F-71A40E709A04}"/>
                </a:ext>
              </a:extLst>
            </p:cNvPr>
            <p:cNvSpPr txBox="1"/>
            <p:nvPr/>
          </p:nvSpPr>
          <p:spPr>
            <a:xfrm>
              <a:off x="5924953" y="2337879"/>
              <a:ext cx="732797" cy="30777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b="1" dirty="0">
                  <a:latin typeface="Consolas" panose="020B0609020204030204" pitchFamily="49" charset="0"/>
                </a:rPr>
                <a:t>3.0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32F6FDCC-995F-4C07-B9D7-EEF07EBF4B76}"/>
                </a:ext>
              </a:extLst>
            </p:cNvPr>
            <p:cNvSpPr txBox="1"/>
            <p:nvPr/>
          </p:nvSpPr>
          <p:spPr>
            <a:xfrm>
              <a:off x="7682608" y="4078235"/>
              <a:ext cx="732797" cy="30777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b="1" dirty="0">
                  <a:latin typeface="Consolas" panose="020B0609020204030204" pitchFamily="49" charset="0"/>
                </a:rPr>
                <a:t>4.0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7547C3BB-C407-4FC3-A856-BB6FBD960C39}"/>
                </a:ext>
              </a:extLst>
            </p:cNvPr>
            <p:cNvSpPr txBox="1"/>
            <p:nvPr/>
          </p:nvSpPr>
          <p:spPr>
            <a:xfrm>
              <a:off x="6935057" y="2353899"/>
              <a:ext cx="6815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>
                  <a:latin typeface="Consolas" panose="020B0609020204030204" pitchFamily="49" charset="0"/>
                </a:rPr>
                <a:t>nota2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9E70C570-0927-4731-9328-713DE63E05D2}"/>
                </a:ext>
              </a:extLst>
            </p:cNvPr>
            <p:cNvSpPr txBox="1"/>
            <p:nvPr/>
          </p:nvSpPr>
          <p:spPr>
            <a:xfrm>
              <a:off x="5184342" y="2337548"/>
              <a:ext cx="6815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>
                  <a:latin typeface="Consolas" panose="020B0609020204030204" pitchFamily="49" charset="0"/>
                </a:rPr>
                <a:t>nota1</a:t>
              </a: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6AEA968F-88B9-4C39-8E74-1032AD5EF053}"/>
                </a:ext>
              </a:extLst>
            </p:cNvPr>
            <p:cNvSpPr txBox="1"/>
            <p:nvPr/>
          </p:nvSpPr>
          <p:spPr>
            <a:xfrm>
              <a:off x="5243356" y="4093624"/>
              <a:ext cx="6815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>
                  <a:latin typeface="Consolas" panose="020B0609020204030204" pitchFamily="49" charset="0"/>
                </a:rPr>
                <a:t>nota3</a:t>
              </a: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635FE899-D82A-4C8F-978F-749754576CE3}"/>
                </a:ext>
              </a:extLst>
            </p:cNvPr>
            <p:cNvSpPr txBox="1"/>
            <p:nvPr/>
          </p:nvSpPr>
          <p:spPr>
            <a:xfrm>
              <a:off x="6938791" y="4104290"/>
              <a:ext cx="6815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>
                  <a:latin typeface="Consolas" panose="020B0609020204030204" pitchFamily="49" charset="0"/>
                </a:rPr>
                <a:t>nota4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8690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23528" y="116632"/>
            <a:ext cx="8675832" cy="794653"/>
          </a:xfrm>
        </p:spPr>
        <p:txBody>
          <a:bodyPr>
            <a:noAutofit/>
          </a:bodyPr>
          <a:lstStyle/>
          <a:p>
            <a:r>
              <a:rPr lang="es-MX" sz="3200" dirty="0"/>
              <a:t>Otro caso: Los empleados del señor Burns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88FC587-B925-4872-9176-CBAE616BD677}"/>
              </a:ext>
            </a:extLst>
          </p:cNvPr>
          <p:cNvSpPr txBox="1"/>
          <p:nvPr/>
        </p:nvSpPr>
        <p:spPr>
          <a:xfrm>
            <a:off x="201960" y="6032787"/>
            <a:ext cx="874008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s-MX" b="1" dirty="0"/>
              <a:t>Pregunta</a:t>
            </a:r>
            <a:r>
              <a:rPr lang="es-MX" dirty="0"/>
              <a:t>: ¿Existe una forma de guardar muchos valores bajo un solo nombre?</a:t>
            </a:r>
          </a:p>
        </p:txBody>
      </p:sp>
      <p:sp>
        <p:nvSpPr>
          <p:cNvPr id="6" name="12 Rectángulo">
            <a:extLst>
              <a:ext uri="{FF2B5EF4-FFF2-40B4-BE49-F238E27FC236}">
                <a16:creationId xmlns:a16="http://schemas.microsoft.com/office/drawing/2014/main" id="{A73AFEAC-B223-4D7F-B142-1E206A88BEB3}"/>
              </a:ext>
            </a:extLst>
          </p:cNvPr>
          <p:cNvSpPr/>
          <p:nvPr/>
        </p:nvSpPr>
        <p:spPr>
          <a:xfrm>
            <a:off x="107504" y="696753"/>
            <a:ext cx="894204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/>
              <a:t>Problema</a:t>
            </a:r>
            <a:r>
              <a:rPr lang="es-MX" sz="2000" dirty="0"/>
              <a:t>: El señor Burns quiere un programa que registre la identificación de cada empleado de la planta nuclear de Springfield.</a:t>
            </a:r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Cada empleado nuevo obliga a crear una variable nueva y a cambiar el programa.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¿Y si la planta tiene 500 empleados?</a:t>
            </a:r>
            <a:endParaRPr lang="es-MX" sz="20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CE0D67-953B-4B33-BC21-F6E2079C93A0}"/>
              </a:ext>
            </a:extLst>
          </p:cNvPr>
          <p:cNvSpPr txBox="1"/>
          <p:nvPr/>
        </p:nvSpPr>
        <p:spPr>
          <a:xfrm>
            <a:off x="3071326" y="3900138"/>
            <a:ext cx="4568588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sz="1200" dirty="0" err="1">
                <a:latin typeface="Consolas" panose="020B0609020204030204" pitchFamily="49" charset="0"/>
              </a:rPr>
              <a:t>id_lenny</a:t>
            </a:r>
            <a:r>
              <a:rPr lang="es-MX" sz="1200" dirty="0">
                <a:latin typeface="Consolas" panose="020B0609020204030204" pitchFamily="49" charset="0"/>
              </a:rPr>
              <a:t> = "001"</a:t>
            </a:r>
          </a:p>
          <a:p>
            <a:r>
              <a:rPr lang="es-MX" sz="1200" dirty="0" err="1">
                <a:latin typeface="Consolas" panose="020B0609020204030204" pitchFamily="49" charset="0"/>
              </a:rPr>
              <a:t>id_carl</a:t>
            </a:r>
            <a:r>
              <a:rPr lang="es-MX" sz="1200" dirty="0">
                <a:latin typeface="Consolas" panose="020B0609020204030204" pitchFamily="49" charset="0"/>
              </a:rPr>
              <a:t> = "002"</a:t>
            </a:r>
          </a:p>
          <a:p>
            <a:r>
              <a:rPr lang="es-MX" sz="1200" dirty="0" err="1">
                <a:latin typeface="Consolas" panose="020B0609020204030204" pitchFamily="49" charset="0"/>
              </a:rPr>
              <a:t>id_homero</a:t>
            </a:r>
            <a:r>
              <a:rPr lang="es-MX" sz="1200" dirty="0">
                <a:latin typeface="Consolas" panose="020B0609020204030204" pitchFamily="49" charset="0"/>
              </a:rPr>
              <a:t> = "003"</a:t>
            </a:r>
          </a:p>
          <a:p>
            <a:r>
              <a:rPr lang="es-MX" sz="1200" dirty="0" err="1">
                <a:latin typeface="Consolas" panose="020B0609020204030204" pitchFamily="49" charset="0"/>
              </a:rPr>
              <a:t>id_barney</a:t>
            </a:r>
            <a:r>
              <a:rPr lang="es-MX" sz="1200" dirty="0">
                <a:latin typeface="Consolas" panose="020B0609020204030204" pitchFamily="49" charset="0"/>
              </a:rPr>
              <a:t> = "004"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# ... y una variable más por cada empleado nuevo</a:t>
            </a:r>
            <a:endParaRPr lang="es-CO" sz="1200" dirty="0">
              <a:latin typeface="Consolas" panose="020B0609020204030204" pitchFamily="49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A3A4EA21-E3CC-43F7-B75C-8650CE49B477}"/>
              </a:ext>
            </a:extLst>
          </p:cNvPr>
          <p:cNvGrpSpPr/>
          <p:nvPr/>
        </p:nvGrpSpPr>
        <p:grpSpPr>
          <a:xfrm>
            <a:off x="4625092" y="2988944"/>
            <a:ext cx="1864664" cy="326050"/>
            <a:chOff x="4762136" y="2974627"/>
            <a:chExt cx="1864664" cy="326050"/>
          </a:xfrm>
        </p:grpSpPr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A220A9E6-C278-45EB-9BB5-C221B1F28831}"/>
                </a:ext>
              </a:extLst>
            </p:cNvPr>
            <p:cNvSpPr txBox="1"/>
            <p:nvPr/>
          </p:nvSpPr>
          <p:spPr>
            <a:xfrm>
              <a:off x="5894003" y="2974627"/>
              <a:ext cx="732797" cy="30777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b="1" dirty="0">
                  <a:latin typeface="Consolas" panose="020B0609020204030204" pitchFamily="49" charset="0"/>
                </a:rPr>
                <a:t>"003"</a:t>
              </a:r>
              <a:endParaRPr lang="es-CO" sz="1400" dirty="0">
                <a:latin typeface="Consolas" panose="020B0609020204030204" pitchFamily="49" charset="0"/>
              </a:endParaRP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7547C3BB-C407-4FC3-A856-BB6FBD960C39}"/>
                </a:ext>
              </a:extLst>
            </p:cNvPr>
            <p:cNvSpPr txBox="1"/>
            <p:nvPr/>
          </p:nvSpPr>
          <p:spPr>
            <a:xfrm>
              <a:off x="4762136" y="2992900"/>
              <a:ext cx="1079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CO" sz="1400" b="1" dirty="0">
                  <a:latin typeface="Consolas" panose="020B0609020204030204" pitchFamily="49" charset="0"/>
                </a:rPr>
                <a:t>id_homero</a:t>
              </a: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872EA827-54CB-4D92-8694-7DC6EA2C095B}"/>
              </a:ext>
            </a:extLst>
          </p:cNvPr>
          <p:cNvGrpSpPr/>
          <p:nvPr/>
        </p:nvGrpSpPr>
        <p:grpSpPr>
          <a:xfrm>
            <a:off x="251520" y="3009714"/>
            <a:ext cx="1769872" cy="307778"/>
            <a:chOff x="5145002" y="2718241"/>
            <a:chExt cx="1769872" cy="307778"/>
          </a:xfrm>
        </p:grpSpPr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10921D35-0E45-48E6-894F-71A40E709A04}"/>
                </a:ext>
              </a:extLst>
            </p:cNvPr>
            <p:cNvSpPr txBox="1"/>
            <p:nvPr/>
          </p:nvSpPr>
          <p:spPr>
            <a:xfrm>
              <a:off x="6182077" y="2718242"/>
              <a:ext cx="732797" cy="30777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b="1" dirty="0">
                  <a:latin typeface="Consolas" panose="020B0609020204030204" pitchFamily="49" charset="0"/>
                </a:rPr>
                <a:t>"001"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9E70C570-0927-4731-9328-713DE63E05D2}"/>
                </a:ext>
              </a:extLst>
            </p:cNvPr>
            <p:cNvSpPr txBox="1"/>
            <p:nvPr/>
          </p:nvSpPr>
          <p:spPr>
            <a:xfrm>
              <a:off x="5145002" y="2718241"/>
              <a:ext cx="9797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CO" sz="1400" b="1" dirty="0">
                  <a:latin typeface="Consolas" panose="020B0609020204030204" pitchFamily="49" charset="0"/>
                </a:rPr>
                <a:t>id_lenny</a:t>
              </a: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CDF03D06-2C7F-48E2-863F-43531EFB447B}"/>
              </a:ext>
            </a:extLst>
          </p:cNvPr>
          <p:cNvGrpSpPr/>
          <p:nvPr/>
        </p:nvGrpSpPr>
        <p:grpSpPr>
          <a:xfrm>
            <a:off x="6918735" y="2988944"/>
            <a:ext cx="1876166" cy="307777"/>
            <a:chOff x="7024650" y="2962123"/>
            <a:chExt cx="1876166" cy="307777"/>
          </a:xfrm>
        </p:grpSpPr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32F6FDCC-995F-4C07-B9D7-EEF07EBF4B76}"/>
                </a:ext>
              </a:extLst>
            </p:cNvPr>
            <p:cNvSpPr txBox="1"/>
            <p:nvPr/>
          </p:nvSpPr>
          <p:spPr>
            <a:xfrm>
              <a:off x="8168019" y="2962123"/>
              <a:ext cx="732797" cy="30777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b="1" dirty="0">
                  <a:latin typeface="Consolas" panose="020B0609020204030204" pitchFamily="49" charset="0"/>
                </a:rPr>
                <a:t>"004"</a:t>
              </a:r>
              <a:endParaRPr lang="es-CO" sz="1400" dirty="0">
                <a:latin typeface="Consolas" panose="020B0609020204030204" pitchFamily="49" charset="0"/>
              </a:endParaRP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635FE899-D82A-4C8F-978F-749754576CE3}"/>
                </a:ext>
              </a:extLst>
            </p:cNvPr>
            <p:cNvSpPr txBox="1"/>
            <p:nvPr/>
          </p:nvSpPr>
          <p:spPr>
            <a:xfrm>
              <a:off x="7024650" y="2962123"/>
              <a:ext cx="1079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CO" sz="1400" b="1" dirty="0">
                  <a:latin typeface="Consolas" panose="020B0609020204030204" pitchFamily="49" charset="0"/>
                </a:rPr>
                <a:t>id_barney</a:t>
              </a:r>
            </a:p>
          </p:txBody>
        </p:sp>
      </p:grpSp>
      <p:pic>
        <p:nvPicPr>
          <p:cNvPr id="29" name="Picture 2">
            <a:extLst>
              <a:ext uri="{FF2B5EF4-FFF2-40B4-BE49-F238E27FC236}">
                <a16:creationId xmlns:a16="http://schemas.microsoft.com/office/drawing/2014/main" id="{D8B0AA40-F01F-4435-8F55-3F154675C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6247" y="1526619"/>
            <a:ext cx="1007110" cy="1345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5">
            <a:extLst>
              <a:ext uri="{FF2B5EF4-FFF2-40B4-BE49-F238E27FC236}">
                <a16:creationId xmlns:a16="http://schemas.microsoft.com/office/drawing/2014/main" id="{22D74EB3-8711-448C-A22F-2A53C6778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606" y="1566604"/>
            <a:ext cx="1002542" cy="1354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3">
            <a:extLst>
              <a:ext uri="{FF2B5EF4-FFF2-40B4-BE49-F238E27FC236}">
                <a16:creationId xmlns:a16="http://schemas.microsoft.com/office/drawing/2014/main" id="{284C56CF-E489-4A76-970C-547BAEEF4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112" y="1484784"/>
            <a:ext cx="581025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4">
            <a:extLst>
              <a:ext uri="{FF2B5EF4-FFF2-40B4-BE49-F238E27FC236}">
                <a16:creationId xmlns:a16="http://schemas.microsoft.com/office/drawing/2014/main" id="{C15565FC-3DFF-4A07-95E9-ADF6C480B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326" y="1577842"/>
            <a:ext cx="529600" cy="1328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B668F505-3E1A-404E-853C-56522CD6DEC0}"/>
              </a:ext>
            </a:extLst>
          </p:cNvPr>
          <p:cNvGrpSpPr/>
          <p:nvPr/>
        </p:nvGrpSpPr>
        <p:grpSpPr>
          <a:xfrm>
            <a:off x="2414861" y="3009714"/>
            <a:ext cx="1707069" cy="312804"/>
            <a:chOff x="2662491" y="2974627"/>
            <a:chExt cx="1707069" cy="312804"/>
          </a:xfrm>
        </p:grpSpPr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53A21215-B051-4C6A-818A-5E60B78F7C74}"/>
                </a:ext>
              </a:extLst>
            </p:cNvPr>
            <p:cNvSpPr txBox="1"/>
            <p:nvPr/>
          </p:nvSpPr>
          <p:spPr>
            <a:xfrm>
              <a:off x="3636763" y="2979654"/>
              <a:ext cx="732797" cy="30777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b="1" dirty="0">
                  <a:latin typeface="Consolas" panose="020B0609020204030204" pitchFamily="49" charset="0"/>
                </a:rPr>
                <a:t>"002"</a:t>
              </a: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BC44F245-AA84-43AA-944E-096D274F0B18}"/>
                </a:ext>
              </a:extLst>
            </p:cNvPr>
            <p:cNvSpPr txBox="1"/>
            <p:nvPr/>
          </p:nvSpPr>
          <p:spPr>
            <a:xfrm>
              <a:off x="2662491" y="2974627"/>
              <a:ext cx="9162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CO" sz="1400" b="1" dirty="0">
                  <a:latin typeface="Consolas" panose="020B0609020204030204" pitchFamily="49" charset="0"/>
                </a:rPr>
                <a:t>id_carl</a:t>
              </a:r>
            </a:p>
          </p:txBody>
        </p:sp>
      </p:grpSp>
      <p:pic>
        <p:nvPicPr>
          <p:cNvPr id="34" name="Picture 5">
            <a:extLst>
              <a:ext uri="{FF2B5EF4-FFF2-40B4-BE49-F238E27FC236}">
                <a16:creationId xmlns:a16="http://schemas.microsoft.com/office/drawing/2014/main" id="{0711EAF0-EF20-4E62-87D4-52676D9E1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532" y="3527909"/>
            <a:ext cx="1289720" cy="161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6914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rmAutofit/>
          </a:bodyPr>
          <a:lstStyle/>
          <a:p>
            <a:r>
              <a:rPr lang="es-CO" dirty="0"/>
              <a:t>¿Qué es un arreglo?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29574" y="836712"/>
            <a:ext cx="847868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dirty="0"/>
              <a:t>Un </a:t>
            </a:r>
            <a:r>
              <a:rPr lang="es-MX" sz="2000" b="1" dirty="0"/>
              <a:t>arreglo</a:t>
            </a:r>
            <a:r>
              <a:rPr lang="es-MX" sz="2000" dirty="0"/>
              <a:t> es una variable que guarda muchos valores bajo un solo nombre: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Todos los valores son </a:t>
            </a:r>
            <a:r>
              <a:rPr lang="es-MX" sz="2000" b="1" dirty="0"/>
              <a:t>del mismo tipo</a:t>
            </a:r>
            <a:r>
              <a:rPr lang="es-MX" sz="2000" dirty="0"/>
              <a:t> (por ejemplo, todos reales).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Se guardan en casillas </a:t>
            </a:r>
            <a:r>
              <a:rPr lang="es-MX" sz="2000" b="1" dirty="0"/>
              <a:t>contiguas</a:t>
            </a:r>
            <a:r>
              <a:rPr lang="es-MX" sz="2000" dirty="0"/>
              <a:t> (una al lado de la otra) en la memoria.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Tiene un </a:t>
            </a:r>
            <a:r>
              <a:rPr lang="es-MX" sz="2000" b="1" dirty="0"/>
              <a:t>tamaño fijo</a:t>
            </a:r>
            <a:r>
              <a:rPr lang="es-MX" sz="2000" dirty="0"/>
              <a:t>: se decide al crearlo y no cambia.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A cada valor se llega por su </a:t>
            </a:r>
            <a:r>
              <a:rPr lang="es-MX" sz="2000" b="1" dirty="0"/>
              <a:t>posición</a:t>
            </a:r>
            <a:r>
              <a:rPr lang="es-MX" sz="2000" dirty="0"/>
              <a:t> o </a:t>
            </a:r>
            <a:r>
              <a:rPr lang="es-MX" sz="2000" b="1" dirty="0"/>
              <a:t>índice</a:t>
            </a:r>
            <a:r>
              <a:rPr lang="es-MX" sz="2000" dirty="0"/>
              <a:t>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99BE7CB-86E8-441B-B333-CDF47726C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492896"/>
            <a:ext cx="7855831" cy="3677540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B417B36D-AC17-42C7-BBDF-C09EA5A0072B}"/>
              </a:ext>
            </a:extLst>
          </p:cNvPr>
          <p:cNvSpPr txBox="1"/>
          <p:nvPr/>
        </p:nvSpPr>
        <p:spPr>
          <a:xfrm>
            <a:off x="500221" y="6372036"/>
            <a:ext cx="814355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CO" b="1" dirty="0"/>
              <a:t>En Python</a:t>
            </a:r>
            <a:r>
              <a:rPr lang="es-CO" dirty="0"/>
              <a:t>: un arreglo se escribe con una lista: </a:t>
            </a:r>
            <a:r>
              <a:rPr lang="es-CO" sz="1600" b="1" dirty="0">
                <a:latin typeface="Consolas" panose="020B0609020204030204" pitchFamily="49" charset="0"/>
              </a:rPr>
              <a:t>notas = [3.0, 4.5, 2.0, 4.0]</a:t>
            </a:r>
          </a:p>
        </p:txBody>
      </p:sp>
    </p:spTree>
    <p:extLst>
      <p:ext uri="{BB962C8B-B14F-4D97-AF65-F5344CB8AC3E}">
        <p14:creationId xmlns:p14="http://schemas.microsoft.com/office/powerpoint/2010/main" val="542168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rmAutofit/>
          </a:bodyPr>
          <a:lstStyle/>
          <a:p>
            <a:r>
              <a:rPr lang="es-CO" dirty="0"/>
              <a:t>Partes de un arreglo</a:t>
            </a:r>
            <a:endParaRPr lang="es-CO" dirty="0">
              <a:highlight>
                <a:srgbClr val="FFFF00"/>
              </a:highlight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251520" y="3789040"/>
            <a:ext cx="849694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Vocabulario</a:t>
            </a:r>
            <a:r>
              <a:rPr lang="es-MX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/>
              <a:t>Identificador</a:t>
            </a:r>
            <a:r>
              <a:rPr lang="es-MX" sz="2000" dirty="0"/>
              <a:t>: el nombre del arreglo, </a:t>
            </a:r>
            <a:r>
              <a:rPr lang="es-MX" b="1" dirty="0">
                <a:latin typeface="Consolas" panose="020B0609020204030204" pitchFamily="49" charset="0"/>
              </a:rPr>
              <a:t>notas</a:t>
            </a:r>
            <a:r>
              <a:rPr lang="es-MX" sz="20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/>
              <a:t>Elemento</a:t>
            </a:r>
            <a:r>
              <a:rPr lang="es-MX" sz="2000" dirty="0"/>
              <a:t>: cada valor guardado, por ejemplo </a:t>
            </a:r>
            <a:r>
              <a:rPr lang="es-MX" b="1" dirty="0">
                <a:latin typeface="Consolas" panose="020B0609020204030204" pitchFamily="49" charset="0"/>
              </a:rPr>
              <a:t>4.5</a:t>
            </a:r>
            <a:r>
              <a:rPr lang="es-MX" sz="20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/>
              <a:t>Índice o posición</a:t>
            </a:r>
            <a:r>
              <a:rPr lang="es-MX" sz="2000" dirty="0"/>
              <a:t>: el número de la casilla, en </a:t>
            </a:r>
            <a:r>
              <a:rPr lang="es-MX" b="1" dirty="0">
                <a:latin typeface="Consolas" panose="020B0609020204030204" pitchFamily="49" charset="0"/>
              </a:rPr>
              <a:t>notas[1]</a:t>
            </a:r>
            <a:r>
              <a:rPr lang="es-MX" sz="2000" dirty="0"/>
              <a:t> el índice es </a:t>
            </a:r>
            <a:r>
              <a:rPr lang="es-MX" b="1" dirty="0">
                <a:latin typeface="Consolas" panose="020B0609020204030204" pitchFamily="49" charset="0"/>
              </a:rPr>
              <a:t>1</a:t>
            </a:r>
            <a:r>
              <a:rPr lang="es-MX" sz="20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/>
              <a:t>Tamaño</a:t>
            </a:r>
            <a:r>
              <a:rPr lang="es-MX" sz="2000" dirty="0"/>
              <a:t>: cuántas casillas tiene, </a:t>
            </a:r>
            <a:r>
              <a:rPr lang="es-MX" b="1" dirty="0">
                <a:latin typeface="Consolas" panose="020B0609020204030204" pitchFamily="49" charset="0"/>
              </a:rPr>
              <a:t>4</a:t>
            </a:r>
            <a:r>
              <a:rPr lang="es-MX" sz="2000" dirty="0"/>
              <a:t>.</a:t>
            </a:r>
            <a:endParaRPr lang="es-MX" sz="2000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3C23EF2-1F9E-445A-ADEC-AFAADA16F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4" y="979822"/>
            <a:ext cx="8963892" cy="2576709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22E40AA6-9565-4588-B72C-8F496E535F9E}"/>
              </a:ext>
            </a:extLst>
          </p:cNvPr>
          <p:cNvSpPr txBox="1"/>
          <p:nvPr/>
        </p:nvSpPr>
        <p:spPr>
          <a:xfrm>
            <a:off x="201960" y="5693512"/>
            <a:ext cx="874008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b="1" dirty="0"/>
              <a:t>Observación</a:t>
            </a:r>
            <a:r>
              <a:rPr lang="es-MX" dirty="0"/>
              <a:t>: Las posiciones empiezan en </a:t>
            </a:r>
            <a:r>
              <a:rPr lang="es-MX" b="1" dirty="0">
                <a:latin typeface="Consolas" panose="020B0609020204030204" pitchFamily="49" charset="0"/>
              </a:rPr>
              <a:t>0</a:t>
            </a:r>
            <a:r>
              <a:rPr lang="es-MX" dirty="0"/>
              <a:t>. Si el arreglo tiene </a:t>
            </a:r>
            <a:r>
              <a:rPr lang="es-MX" b="1" dirty="0">
                <a:latin typeface="Consolas" panose="020B0609020204030204" pitchFamily="49" charset="0"/>
              </a:rPr>
              <a:t>N</a:t>
            </a:r>
            <a:r>
              <a:rPr lang="es-MX" dirty="0"/>
              <a:t> elementos, la última posición es </a:t>
            </a:r>
            <a:r>
              <a:rPr lang="es-MX" sz="1600" b="1" dirty="0">
                <a:latin typeface="Consolas" panose="020B0609020204030204" pitchFamily="49" charset="0"/>
              </a:rPr>
              <a:t>N - 1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5767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rmAutofit/>
          </a:bodyPr>
          <a:lstStyle/>
          <a:p>
            <a:r>
              <a:rPr lang="es-CO" dirty="0"/>
              <a:t>Una variable frente a un arreglo</a:t>
            </a:r>
            <a:endParaRPr lang="es-CO" dirty="0">
              <a:highlight>
                <a:srgbClr val="FFFF00"/>
              </a:highlight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125760" y="977427"/>
            <a:ext cx="889248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Una variable guarda un valor</a:t>
            </a:r>
            <a:r>
              <a:rPr lang="es-MX" sz="2000" dirty="0"/>
              <a:t>: al leer una nota nueva, la anterior se pierde.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Un arreglo guarda todos los valores</a:t>
            </a:r>
            <a:r>
              <a:rPr lang="es-MX" sz="2000" dirty="0"/>
              <a:t>: cada nota tiene su propia casilla.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Ventajas y desventajas de los arreglos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1FA32A4B-89BB-4B70-9E7E-340AD54B4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432236"/>
              </p:ext>
            </p:extLst>
          </p:nvPr>
        </p:nvGraphicFramePr>
        <p:xfrm>
          <a:off x="628650" y="4510523"/>
          <a:ext cx="7886700" cy="201168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3028914014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981203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Ventajas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Limitaciones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6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/>
                        <a:t>Muchos datos bajo un solo nombre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El tamaño es fijo: no crece ni se encoge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8280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/>
                        <a:t>Se recorren con un ciclo, sin importar cuántos datos sean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Todos los elementos deben ser del mismo tipo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146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dirty="0"/>
                        <a:t>Se llega a cualquier elemento directamente por su posición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Un arreglo muy grande ocupa mucha memoria, aunque no se use completo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2442010"/>
                  </a:ext>
                </a:extLst>
              </a:tr>
            </a:tbl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FAD93957-6528-4F09-9D84-27FF0B815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792" y="1921522"/>
            <a:ext cx="8044416" cy="161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624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rmAutofit/>
          </a:bodyPr>
          <a:lstStyle/>
          <a:p>
            <a:r>
              <a:rPr lang="es-CO" dirty="0"/>
              <a:t>La lista usada como arreglo</a:t>
            </a:r>
            <a:endParaRPr lang="es-CO" dirty="0">
              <a:solidFill>
                <a:schemeClr val="accent4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35496" y="908720"/>
            <a:ext cx="889248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Ya conocen las listas de Python. Una lista puede hacer </a:t>
            </a:r>
            <a:r>
              <a:rPr lang="es-MX" sz="2000" b="1" dirty="0"/>
              <a:t>más cosas</a:t>
            </a:r>
            <a:r>
              <a:rPr lang="es-MX" sz="2000" dirty="0"/>
              <a:t> que un arreglo. En este curso, por ahora, se usa </a:t>
            </a:r>
            <a:r>
              <a:rPr lang="es-MX" sz="2000" b="1" dirty="0"/>
              <a:t>como arreglo</a:t>
            </a:r>
            <a:r>
              <a:rPr lang="es-MX" sz="2000" dirty="0"/>
              <a:t>, con estas reglas: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Las listas traen sus propias operaciones, como </a:t>
            </a:r>
            <a:r>
              <a:rPr lang="es-MX" sz="1800" b="1" dirty="0">
                <a:latin typeface="Consolas" panose="020B0609020204030204" pitchFamily="49" charset="0"/>
              </a:rPr>
              <a:t>notas.append(5.0)</a:t>
            </a:r>
            <a:r>
              <a:rPr lang="es-MX" sz="2000" dirty="0"/>
              <a:t>. Son operaciones de objetos y se verán en </a:t>
            </a:r>
            <a:r>
              <a:rPr lang="es-MX" sz="2000" b="1" dirty="0"/>
              <a:t>Programación Orientada a Objetos</a:t>
            </a:r>
            <a:r>
              <a:rPr lang="es-MX" sz="2000" dirty="0"/>
              <a:t>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504B595-B2EE-4CC2-8807-AD51AFE47AF0}"/>
              </a:ext>
            </a:extLst>
          </p:cNvPr>
          <p:cNvSpPr txBox="1"/>
          <p:nvPr/>
        </p:nvSpPr>
        <p:spPr>
          <a:xfrm>
            <a:off x="2089668" y="5589240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2"/>
              </a:rPr>
              <a:t>Link simulación</a:t>
            </a:r>
            <a:endParaRPr lang="es-CO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CED2DA4-4450-4E35-83D5-227E5ADBD70A}"/>
              </a:ext>
            </a:extLst>
          </p:cNvPr>
          <p:cNvSpPr txBox="1"/>
          <p:nvPr/>
        </p:nvSpPr>
        <p:spPr>
          <a:xfrm>
            <a:off x="291058" y="4725144"/>
            <a:ext cx="511256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N = 4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notas = [0.0] * N  # 4 casillas, todas en 0.0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notas[2] = 2.0     # se llega a la casilla por su posicion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print(notas)       # [0.0, 0.0, 2.0, 0.0]</a:t>
            </a:r>
            <a:endParaRPr lang="es-CO" sz="12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DA3E4D4-9828-43F8-8EFC-CCE052BD8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96407"/>
              </p:ext>
            </p:extLst>
          </p:nvPr>
        </p:nvGraphicFramePr>
        <p:xfrm>
          <a:off x="467543" y="1597536"/>
          <a:ext cx="8280920" cy="2011680"/>
        </p:xfrm>
        <a:graphic>
          <a:graphicData uri="http://schemas.openxmlformats.org/drawingml/2006/table">
            <a:tbl>
              <a:tblPr/>
              <a:tblGrid>
                <a:gridCol w="4140460">
                  <a:extLst>
                    <a:ext uri="{9D8B030D-6E8A-4147-A177-3AD203B41FA5}">
                      <a16:colId xmlns:a16="http://schemas.microsoft.com/office/drawing/2014/main" val="1267361648"/>
                    </a:ext>
                  </a:extLst>
                </a:gridCol>
                <a:gridCol w="4140460">
                  <a:extLst>
                    <a:ext uri="{9D8B030D-6E8A-4147-A177-3AD203B41FA5}">
                      <a16:colId xmlns:a16="http://schemas.microsoft.com/office/drawing/2014/main" val="28236124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MX" b="1" dirty="0"/>
                        <a:t>La lista en Python permite…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b="1" dirty="0"/>
                        <a:t>Usada como arreglo, en este curso…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06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1800" dirty="0"/>
                        <a:t>Crecer y encogerse: </a:t>
                      </a:r>
                      <a:r>
                        <a:rPr lang="es-MX" sz="1600" b="1" dirty="0">
                          <a:latin typeface="Consolas" panose="020B0609020204030204" pitchFamily="49" charset="0"/>
                        </a:rPr>
                        <a:t>append()</a:t>
                      </a:r>
                      <a:r>
                        <a:rPr lang="es-MX" sz="1800" dirty="0"/>
                        <a:t>, </a:t>
                      </a:r>
                      <a:r>
                        <a:rPr lang="es-MX" sz="1600" b="1" dirty="0" err="1">
                          <a:latin typeface="Consolas" panose="020B0609020204030204" pitchFamily="49" charset="0"/>
                        </a:rPr>
                        <a:t>remove</a:t>
                      </a:r>
                      <a:r>
                        <a:rPr lang="es-MX" sz="1600" b="1" dirty="0">
                          <a:latin typeface="Consolas" panose="020B0609020204030204" pitchFamily="49" charset="0"/>
                        </a:rPr>
                        <a:t>()</a:t>
                      </a:r>
                      <a:endParaRPr lang="es-MX" sz="18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dirty="0"/>
                        <a:t>Tamaño fijo</a:t>
                      </a:r>
                      <a:r>
                        <a:rPr lang="es-MX" sz="1800" dirty="0"/>
                        <a:t>: se crea con </a:t>
                      </a:r>
                      <a:r>
                        <a:rPr lang="es-MX" sz="1600" b="1" dirty="0">
                          <a:latin typeface="Consolas" panose="020B0609020204030204" pitchFamily="49" charset="0"/>
                        </a:rPr>
                        <a:t>[0.0] * N</a:t>
                      </a:r>
                      <a:r>
                        <a:rPr lang="es-MX" sz="1800" dirty="0"/>
                        <a:t> y no cambia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2737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1800" dirty="0"/>
                        <a:t>Mezclar tipos: </a:t>
                      </a:r>
                      <a:r>
                        <a:rPr lang="es-MX" sz="1600" b="1" dirty="0">
                          <a:latin typeface="Consolas" panose="020B0609020204030204" pitchFamily="49" charset="0"/>
                        </a:rPr>
                        <a:t>[1, "oso", 2.5, True]</a:t>
                      </a:r>
                      <a:endParaRPr lang="es-MX" sz="18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dirty="0"/>
                        <a:t>Un solo tipo</a:t>
                      </a:r>
                      <a:r>
                        <a:rPr lang="es-MX" sz="1800" dirty="0"/>
                        <a:t>: todos reales, todos enteros, etc.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2092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800" dirty="0"/>
                        <a:t>Índices negativos: </a:t>
                      </a:r>
                      <a:r>
                        <a:rPr lang="es-CO" sz="1600" b="1" dirty="0">
                          <a:latin typeface="Consolas" panose="020B0609020204030204" pitchFamily="49" charset="0"/>
                        </a:rPr>
                        <a:t>notas[-1]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dirty="0"/>
                        <a:t>Acceso por posición</a:t>
                      </a:r>
                      <a:r>
                        <a:rPr lang="es-MX" sz="1800" dirty="0"/>
                        <a:t> de </a:t>
                      </a:r>
                      <a:r>
                        <a:rPr lang="es-MX" sz="1600" b="1" dirty="0"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s-MX" sz="1800" dirty="0"/>
                        <a:t> a </a:t>
                      </a:r>
                      <a:r>
                        <a:rPr lang="es-MX" sz="1600" b="1" dirty="0">
                          <a:latin typeface="Consolas" panose="020B0609020204030204" pitchFamily="49" charset="0"/>
                        </a:rPr>
                        <a:t>N - 1</a:t>
                      </a:r>
                      <a:endParaRPr lang="es-MX" sz="18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7690901"/>
                  </a:ext>
                </a:extLst>
              </a:tr>
            </a:tbl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C6135ED3-1B09-4353-92C9-016FC788D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198" y="4476145"/>
            <a:ext cx="3038475" cy="1666875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29092068-5AEA-45F5-9F17-6633FAE0C021}"/>
              </a:ext>
            </a:extLst>
          </p:cNvPr>
          <p:cNvSpPr txBox="1"/>
          <p:nvPr/>
        </p:nvSpPr>
        <p:spPr>
          <a:xfrm>
            <a:off x="116" y="6199514"/>
            <a:ext cx="9143999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CO" b="1" dirty="0"/>
              <a:t>Idea clave</a:t>
            </a:r>
            <a:r>
              <a:rPr lang="es-CO" dirty="0"/>
              <a:t>: En Python el arreglo se escribe con una lista, pero la disciplina del arreglo la pone el programador.</a:t>
            </a:r>
          </a:p>
        </p:txBody>
      </p:sp>
    </p:spTree>
    <p:extLst>
      <p:ext uri="{BB962C8B-B14F-4D97-AF65-F5344CB8AC3E}">
        <p14:creationId xmlns:p14="http://schemas.microsoft.com/office/powerpoint/2010/main" val="453345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720452"/>
          </a:xfrm>
        </p:spPr>
        <p:txBody>
          <a:bodyPr>
            <a:noAutofit/>
          </a:bodyPr>
          <a:lstStyle/>
          <a:p>
            <a:r>
              <a:rPr lang="es-MX" sz="3600" dirty="0"/>
              <a:t>Crear un arreglo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110836" y="5157192"/>
            <a:ext cx="887424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b="1" dirty="0">
                <a:latin typeface="Consolas" panose="020B0609020204030204" pitchFamily="49" charset="0"/>
              </a:rPr>
              <a:t>Arreglo(N)</a:t>
            </a:r>
            <a:r>
              <a:rPr lang="es-MX" sz="2000" dirty="0"/>
              <a:t> crea un arreglo con </a:t>
            </a:r>
            <a:r>
              <a:rPr lang="es-MX" b="1" dirty="0">
                <a:latin typeface="Consolas" panose="020B0609020204030204" pitchFamily="49" charset="0"/>
              </a:rPr>
              <a:t>N</a:t>
            </a:r>
            <a:r>
              <a:rPr lang="es-MX" sz="2000" dirty="0"/>
              <a:t> casillas. El tamaño se fija al crearlo.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En Python cada casilla necesita un valor inicial. Por eso </a:t>
            </a:r>
            <a:r>
              <a:rPr lang="es-MX" b="1" dirty="0">
                <a:latin typeface="Consolas" panose="020B0609020204030204" pitchFamily="49" charset="0"/>
              </a:rPr>
              <a:t>Arreglo(N)</a:t>
            </a:r>
            <a:r>
              <a:rPr lang="es-MX" sz="2000" dirty="0"/>
              <a:t> se escribe </a:t>
            </a:r>
            <a:r>
              <a:rPr lang="es-MX" b="1" dirty="0">
                <a:latin typeface="Consolas" panose="020B0609020204030204" pitchFamily="49" charset="0"/>
              </a:rPr>
              <a:t>[0.0] * N</a:t>
            </a:r>
            <a:r>
              <a:rPr lang="es-MX" sz="2000" dirty="0"/>
              <a:t>: el operador </a:t>
            </a:r>
            <a:r>
              <a:rPr lang="es-MX" b="1" dirty="0">
                <a:latin typeface="Consolas" panose="020B0609020204030204" pitchFamily="49" charset="0"/>
              </a:rPr>
              <a:t>*</a:t>
            </a:r>
            <a:r>
              <a:rPr lang="es-MX" sz="2000" dirty="0"/>
              <a:t> repite el valor y forma una lista con </a:t>
            </a:r>
            <a:r>
              <a:rPr lang="es-MX" b="1" dirty="0">
                <a:latin typeface="Consolas" panose="020B0609020204030204" pitchFamily="49" charset="0"/>
              </a:rPr>
              <a:t>N</a:t>
            </a:r>
            <a:r>
              <a:rPr lang="es-MX" sz="2000" dirty="0"/>
              <a:t> ceros. 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Si ya se conocen los valores, se crea e inicializa a la vez, escribiéndolos entre corchetes. El primer valor queda en la posición </a:t>
            </a:r>
            <a:r>
              <a:rPr lang="es-MX" b="1" dirty="0">
                <a:latin typeface="Consolas" panose="020B0609020204030204" pitchFamily="49" charset="0"/>
              </a:rPr>
              <a:t>0</a:t>
            </a:r>
            <a:r>
              <a:rPr lang="es-MX" sz="2000" dirty="0"/>
              <a:t>.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36E3886F-DB63-4A15-9BBA-5DCDDE7E9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360463"/>
              </p:ext>
            </p:extLst>
          </p:nvPr>
        </p:nvGraphicFramePr>
        <p:xfrm>
          <a:off x="438992" y="837084"/>
          <a:ext cx="8517533" cy="3078480"/>
        </p:xfrm>
        <a:graphic>
          <a:graphicData uri="http://schemas.openxmlformats.org/drawingml/2006/table">
            <a:tbl>
              <a:tblPr/>
              <a:tblGrid>
                <a:gridCol w="1872208">
                  <a:extLst>
                    <a:ext uri="{9D8B030D-6E8A-4147-A177-3AD203B41FA5}">
                      <a16:colId xmlns:a16="http://schemas.microsoft.com/office/drawing/2014/main" val="2043642934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520412853"/>
                    </a:ext>
                  </a:extLst>
                </a:gridCol>
                <a:gridCol w="3332957">
                  <a:extLst>
                    <a:ext uri="{9D8B030D-6E8A-4147-A177-3AD203B41FA5}">
                      <a16:colId xmlns:a16="http://schemas.microsoft.com/office/drawing/2014/main" val="3711841022"/>
                    </a:ext>
                  </a:extLst>
                </a:gridCol>
              </a:tblGrid>
              <a:tr h="345194">
                <a:tc>
                  <a:txBody>
                    <a:bodyPr/>
                    <a:lstStyle/>
                    <a:p>
                      <a:r>
                        <a:rPr lang="es-CO" b="1"/>
                        <a:t>Qué se hace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/>
                        <a:t>Pseudocódigo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903460"/>
                  </a:ext>
                </a:extLst>
              </a:tr>
              <a:tr h="345194">
                <a:tc>
                  <a:txBody>
                    <a:bodyPr/>
                    <a:lstStyle/>
                    <a:p>
                      <a:r>
                        <a:rPr lang="es-CO" b="1" dirty="0"/>
                        <a:t>Definir el tamaño</a:t>
                      </a:r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Consolas" panose="020B0609020204030204" pitchFamily="49" charset="0"/>
                        </a:rPr>
                        <a:t>N =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latin typeface="Consolas" panose="020B0609020204030204" pitchFamily="49" charset="0"/>
                        </a:rPr>
                        <a:t>N =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3483969"/>
                  </a:ext>
                </a:extLst>
              </a:tr>
              <a:tr h="604089">
                <a:tc>
                  <a:txBody>
                    <a:bodyPr/>
                    <a:lstStyle/>
                    <a:p>
                      <a:r>
                        <a:rPr lang="es-MX" b="1"/>
                        <a:t>Crear</a:t>
                      </a:r>
                      <a:r>
                        <a:rPr lang="es-MX"/>
                        <a:t> el arreglo con N casillas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Consolas" panose="020B0609020204030204" pitchFamily="49" charset="0"/>
                        </a:rPr>
                        <a:t>notas = Arreglo(N)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latin typeface="Consolas" panose="020B0609020204030204" pitchFamily="49" charset="0"/>
                        </a:rPr>
                        <a:t>notas = [0.0] *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9057102"/>
                  </a:ext>
                </a:extLst>
              </a:tr>
              <a:tr h="1006815">
                <a:tc>
                  <a:txBody>
                    <a:bodyPr/>
                    <a:lstStyle/>
                    <a:p>
                      <a:r>
                        <a:rPr lang="es-CO" b="1"/>
                        <a:t>Inicializar</a:t>
                      </a:r>
                      <a:r>
                        <a:rPr lang="es-CO"/>
                        <a:t> elemento por elemento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Consolas" panose="020B0609020204030204" pitchFamily="49" charset="0"/>
                        </a:rPr>
                        <a:t>notas[0] = 3.0</a:t>
                      </a:r>
                      <a:br>
                        <a:rPr lang="es-CO" sz="1600" b="1" dirty="0">
                          <a:latin typeface="Consolas" panose="020B0609020204030204" pitchFamily="49" charset="0"/>
                        </a:rPr>
                      </a:br>
                      <a:r>
                        <a:rPr lang="es-CO" sz="1600" b="1" dirty="0">
                          <a:latin typeface="Consolas" panose="020B0609020204030204" pitchFamily="49" charset="0"/>
                        </a:rPr>
                        <a:t>notas[1] = 4.5</a:t>
                      </a:r>
                      <a:br>
                        <a:rPr lang="es-CO" sz="1600" b="1" dirty="0">
                          <a:latin typeface="Consolas" panose="020B0609020204030204" pitchFamily="49" charset="0"/>
                        </a:rPr>
                      </a:br>
                      <a:r>
                        <a:rPr lang="es-CO" sz="1600" b="1" dirty="0">
                          <a:latin typeface="Consolas" panose="020B0609020204030204" pitchFamily="49" charset="0"/>
                        </a:rPr>
                        <a:t>notas[2] = 2.0</a:t>
                      </a:r>
                      <a:br>
                        <a:rPr lang="es-CO" sz="1600" b="1" dirty="0">
                          <a:latin typeface="Consolas" panose="020B0609020204030204" pitchFamily="49" charset="0"/>
                        </a:rPr>
                      </a:br>
                      <a:r>
                        <a:rPr lang="es-CO" sz="1600" b="1" dirty="0">
                          <a:latin typeface="Consolas" panose="020B0609020204030204" pitchFamily="49" charset="0"/>
                        </a:rPr>
                        <a:t>notas[3] = 4.0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Consolas" panose="020B0609020204030204" pitchFamily="49" charset="0"/>
                        </a:rPr>
                        <a:t>notas[0] = 3.0</a:t>
                      </a:r>
                      <a:br>
                        <a:rPr lang="es-CO" sz="1600" b="1" dirty="0">
                          <a:latin typeface="Consolas" panose="020B0609020204030204" pitchFamily="49" charset="0"/>
                        </a:rPr>
                      </a:br>
                      <a:r>
                        <a:rPr lang="es-CO" sz="1600" b="1" dirty="0">
                          <a:latin typeface="Consolas" panose="020B0609020204030204" pitchFamily="49" charset="0"/>
                        </a:rPr>
                        <a:t>notas[1] = 4.5</a:t>
                      </a:r>
                      <a:br>
                        <a:rPr lang="es-CO" sz="1600" b="1" dirty="0">
                          <a:latin typeface="Consolas" panose="020B0609020204030204" pitchFamily="49" charset="0"/>
                        </a:rPr>
                      </a:br>
                      <a:r>
                        <a:rPr lang="es-CO" sz="1600" b="1" dirty="0">
                          <a:latin typeface="Consolas" panose="020B0609020204030204" pitchFamily="49" charset="0"/>
                        </a:rPr>
                        <a:t>notas[2] = 2.0</a:t>
                      </a:r>
                      <a:br>
                        <a:rPr lang="es-CO" sz="1600" b="1" dirty="0">
                          <a:latin typeface="Consolas" panose="020B0609020204030204" pitchFamily="49" charset="0"/>
                        </a:rPr>
                      </a:br>
                      <a:r>
                        <a:rPr lang="es-CO" sz="1600" b="1" dirty="0">
                          <a:latin typeface="Consolas" panose="020B0609020204030204" pitchFamily="49" charset="0"/>
                        </a:rPr>
                        <a:t>notas[3] = 4.0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0579100"/>
                  </a:ext>
                </a:extLst>
              </a:tr>
              <a:tr h="604089">
                <a:tc>
                  <a:txBody>
                    <a:bodyPr/>
                    <a:lstStyle/>
                    <a:p>
                      <a:r>
                        <a:rPr lang="es-MX" b="1" dirty="0"/>
                        <a:t>Crear e inicializar</a:t>
                      </a:r>
                      <a:r>
                        <a:rPr lang="es-MX" dirty="0"/>
                        <a:t> a la vez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latin typeface="Consolas" panose="020B0609020204030204" pitchFamily="49" charset="0"/>
                        </a:rPr>
                        <a:t>notas = [3.0, 4.5, 2.0, 4.0]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Consolas" panose="020B0609020204030204" pitchFamily="49" charset="0"/>
                        </a:rPr>
                        <a:t>notas = [3.0, 4.5, 2.0, 4.0]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073164"/>
                  </a:ext>
                </a:extLst>
              </a:tr>
            </a:tbl>
          </a:graphicData>
        </a:graphic>
      </p:graphicFrame>
      <p:pic>
        <p:nvPicPr>
          <p:cNvPr id="27" name="Imagen 26">
            <a:extLst>
              <a:ext uri="{FF2B5EF4-FFF2-40B4-BE49-F238E27FC236}">
                <a16:creationId xmlns:a16="http://schemas.microsoft.com/office/drawing/2014/main" id="{77DB8326-B98C-444C-849D-C38EB66BC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3949582"/>
            <a:ext cx="5328592" cy="113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98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8714761" cy="710952"/>
          </a:xfrm>
        </p:spPr>
        <p:txBody>
          <a:bodyPr>
            <a:normAutofit/>
          </a:bodyPr>
          <a:lstStyle/>
          <a:p>
            <a:r>
              <a:rPr lang="es-CO" dirty="0"/>
              <a:t>Guardar y leer valores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45314" y="5445224"/>
            <a:ext cx="874716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b="1" dirty="0"/>
              <a:t>Cada casilla se usa como una variable normal</a:t>
            </a:r>
            <a:r>
              <a:rPr lang="es-MX" dirty="0"/>
              <a:t>: se lee, se muestra, se copia y se usa en expresiones.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dirty="0"/>
              <a:t>Solo cambian </a:t>
            </a:r>
            <a:r>
              <a:rPr lang="es-MX" sz="1600" b="1" dirty="0">
                <a:latin typeface="Consolas" panose="020B0609020204030204" pitchFamily="49" charset="0"/>
              </a:rPr>
              <a:t>Leer/Escribir</a:t>
            </a:r>
            <a:r>
              <a:rPr lang="es-MX" dirty="0"/>
              <a:t> por </a:t>
            </a:r>
            <a:r>
              <a:rPr lang="es-MX" sz="1600" b="1" dirty="0">
                <a:latin typeface="Consolas" panose="020B0609020204030204" pitchFamily="49" charset="0"/>
              </a:rPr>
              <a:t>input()/print()</a:t>
            </a:r>
            <a:r>
              <a:rPr lang="es-MX" dirty="0"/>
              <a:t>. El acceso con corchetes </a:t>
            </a:r>
            <a:r>
              <a:rPr lang="es-MX" sz="1600" b="1" dirty="0">
                <a:latin typeface="Consolas" panose="020B0609020204030204" pitchFamily="49" charset="0"/>
              </a:rPr>
              <a:t>notas[i]</a:t>
            </a:r>
            <a:r>
              <a:rPr lang="es-MX" dirty="0"/>
              <a:t> es igual en los dos.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849E2C4-5C7A-45A2-B678-E6F5BB304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641961"/>
              </p:ext>
            </p:extLst>
          </p:nvPr>
        </p:nvGraphicFramePr>
        <p:xfrm>
          <a:off x="251520" y="836712"/>
          <a:ext cx="8608554" cy="2682240"/>
        </p:xfrm>
        <a:graphic>
          <a:graphicData uri="http://schemas.openxmlformats.org/drawingml/2006/table">
            <a:tbl>
              <a:tblPr/>
              <a:tblGrid>
                <a:gridCol w="2304256">
                  <a:extLst>
                    <a:ext uri="{9D8B030D-6E8A-4147-A177-3AD203B41FA5}">
                      <a16:colId xmlns:a16="http://schemas.microsoft.com/office/drawing/2014/main" val="3752216682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3169562292"/>
                    </a:ext>
                  </a:extLst>
                </a:gridCol>
                <a:gridCol w="3495986">
                  <a:extLst>
                    <a:ext uri="{9D8B030D-6E8A-4147-A177-3AD203B41FA5}">
                      <a16:colId xmlns:a16="http://schemas.microsoft.com/office/drawing/2014/main" val="3382507934"/>
                    </a:ext>
                  </a:extLst>
                </a:gridCol>
              </a:tblGrid>
              <a:tr h="294578">
                <a:tc>
                  <a:txBody>
                    <a:bodyPr/>
                    <a:lstStyle/>
                    <a:p>
                      <a:r>
                        <a:rPr lang="es-CO" b="1" dirty="0"/>
                        <a:t>Qué se hace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/>
                        <a:t>Pseudocódigo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5453"/>
                  </a:ext>
                </a:extLst>
              </a:tr>
              <a:tr h="466415">
                <a:tc>
                  <a:txBody>
                    <a:bodyPr/>
                    <a:lstStyle/>
                    <a:p>
                      <a:r>
                        <a:rPr lang="es-MX" sz="1600" b="1" dirty="0"/>
                        <a:t>Leer</a:t>
                      </a:r>
                      <a:r>
                        <a:rPr lang="es-MX" sz="1600" dirty="0"/>
                        <a:t> desde el teclado y guardar en una casilla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Leer(notas[1])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notas[1] = float(input("Nota: "))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0090620"/>
                  </a:ext>
                </a:extLst>
              </a:tr>
              <a:tr h="466415">
                <a:tc>
                  <a:txBody>
                    <a:bodyPr/>
                    <a:lstStyle/>
                    <a:p>
                      <a:r>
                        <a:rPr lang="es-MX" sz="1600" b="1" dirty="0"/>
                        <a:t>Mostrar</a:t>
                      </a:r>
                      <a:r>
                        <a:rPr lang="es-MX" sz="1600" dirty="0"/>
                        <a:t> el valor de una casilla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Escribir(notas[0])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print(notas[0])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309415"/>
                  </a:ext>
                </a:extLst>
              </a:tr>
              <a:tr h="466415">
                <a:tc>
                  <a:txBody>
                    <a:bodyPr/>
                    <a:lstStyle/>
                    <a:p>
                      <a:r>
                        <a:rPr lang="es-MX" sz="1600" b="1"/>
                        <a:t>Copiar</a:t>
                      </a:r>
                      <a:r>
                        <a:rPr lang="es-MX" sz="1600"/>
                        <a:t> el valor de una casilla a una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primera = notas[0]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primera = notas[0]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5368886"/>
                  </a:ext>
                </a:extLst>
              </a:tr>
              <a:tr h="466415">
                <a:tc>
                  <a:txBody>
                    <a:bodyPr/>
                    <a:lstStyle/>
                    <a:p>
                      <a:r>
                        <a:rPr lang="es-MX" sz="1600" b="1" dirty="0"/>
                        <a:t>Usar</a:t>
                      </a:r>
                      <a:r>
                        <a:rPr lang="es-MX" sz="1600" dirty="0"/>
                        <a:t> las casillas en una expresión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latin typeface="Consolas" panose="020B0609020204030204" pitchFamily="49" charset="0"/>
                        </a:rPr>
                        <a:t>suma = notas[0] + notas[1]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suma = notas[0] + notas[1]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960726"/>
                  </a:ext>
                </a:extLst>
              </a:tr>
            </a:tbl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44FC717A-2406-4FAA-ACAD-707F9C8E17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55" y="3650197"/>
            <a:ext cx="4452601" cy="167360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6B1CC64-2E3D-4110-982D-F889ADD8EFEB}"/>
              </a:ext>
            </a:extLst>
          </p:cNvPr>
          <p:cNvSpPr txBox="1"/>
          <p:nvPr/>
        </p:nvSpPr>
        <p:spPr>
          <a:xfrm>
            <a:off x="5310336" y="3645024"/>
            <a:ext cx="336612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N = 4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notas = [0.0] * N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notas[0] = 3.0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notas[1] = </a:t>
            </a:r>
            <a:r>
              <a:rPr lang="es-MX" sz="1200" dirty="0" err="1">
                <a:latin typeface="Consolas" panose="020B0609020204030204" pitchFamily="49" charset="0"/>
              </a:rPr>
              <a:t>float</a:t>
            </a:r>
            <a:r>
              <a:rPr lang="es-MX" sz="1200" dirty="0">
                <a:latin typeface="Consolas" panose="020B0609020204030204" pitchFamily="49" charset="0"/>
              </a:rPr>
              <a:t>(input("Nota: "))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print(notas[0])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primera = notas[0]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suma = notas[0] + notas[1]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print("Suma:", suma)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5F4DAFA-547F-4156-BA9E-93A3F5361B0A}"/>
              </a:ext>
            </a:extLst>
          </p:cNvPr>
          <p:cNvSpPr txBox="1"/>
          <p:nvPr/>
        </p:nvSpPr>
        <p:spPr>
          <a:xfrm>
            <a:off x="6161153" y="5168225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3"/>
              </a:rPr>
              <a:t>Link simulación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242174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8714761" cy="710952"/>
          </a:xfrm>
        </p:spPr>
        <p:txBody>
          <a:bodyPr>
            <a:normAutofit/>
          </a:bodyPr>
          <a:lstStyle/>
          <a:p>
            <a:r>
              <a:rPr lang="es-MX" dirty="0"/>
              <a:t>El índice puede ser una expresión</a:t>
            </a:r>
            <a:endParaRPr lang="es-CO" dirty="0"/>
          </a:p>
        </p:txBody>
      </p:sp>
      <p:sp>
        <p:nvSpPr>
          <p:cNvPr id="13" name="12 Rectángulo"/>
          <p:cNvSpPr/>
          <p:nvPr/>
        </p:nvSpPr>
        <p:spPr>
          <a:xfrm>
            <a:off x="145314" y="881382"/>
            <a:ext cx="874716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dirty="0"/>
              <a:t>El índice puede ser cualquier expresión entera: </a:t>
            </a:r>
            <a:r>
              <a:rPr lang="es-MX" b="1" dirty="0">
                <a:latin typeface="Consolas" panose="020B0609020204030204" pitchFamily="49" charset="0"/>
              </a:rPr>
              <a:t>notas[i]</a:t>
            </a:r>
            <a:r>
              <a:rPr lang="es-MX" sz="2000" dirty="0"/>
              <a:t>, </a:t>
            </a:r>
            <a:r>
              <a:rPr lang="es-MX" b="1" dirty="0">
                <a:latin typeface="Consolas" panose="020B0609020204030204" pitchFamily="49" charset="0"/>
              </a:rPr>
              <a:t>notas[i + 1]</a:t>
            </a:r>
            <a:r>
              <a:rPr lang="es-MX" sz="2000" dirty="0"/>
              <a:t>, </a:t>
            </a:r>
            <a:r>
              <a:rPr lang="es-MX" b="1" dirty="0">
                <a:latin typeface="Consolas" panose="020B0609020204030204" pitchFamily="49" charset="0"/>
              </a:rPr>
              <a:t>notas[N - 1]</a:t>
            </a:r>
            <a:r>
              <a:rPr lang="es-MX" sz="2000" dirty="0"/>
              <a:t>, e incluso el valor de otro arreglo. En Python se escribe exactamente igual, así que el ejercicio se puede copiar tal cual y comprobar la respuesta.</a:t>
            </a:r>
          </a:p>
          <a:p>
            <a:pPr rtl="0"/>
            <a:endParaRPr lang="es-MX" sz="2000" dirty="0"/>
          </a:p>
          <a:p>
            <a:pPr rtl="0"/>
            <a:r>
              <a:rPr lang="es-MX" sz="2000" b="1" dirty="0"/>
              <a:t>Ejercicio</a:t>
            </a:r>
            <a:r>
              <a:rPr lang="es-MX" sz="2000" dirty="0"/>
              <a:t>: ¿Cómo queda el arreglo </a:t>
            </a:r>
            <a:r>
              <a:rPr lang="es-MX" sz="2000" b="1" dirty="0">
                <a:latin typeface="Consolas" panose="020B0609020204030204" pitchFamily="49" charset="0"/>
              </a:rPr>
              <a:t>B</a:t>
            </a:r>
            <a:r>
              <a:rPr lang="es-MX" sz="2000" dirty="0"/>
              <a:t> después de las siguientes instrucciones?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B0BA919B-10A9-4BE4-ADF7-9030EA22E215}"/>
              </a:ext>
            </a:extLst>
          </p:cNvPr>
          <p:cNvGrpSpPr/>
          <p:nvPr/>
        </p:nvGrpSpPr>
        <p:grpSpPr>
          <a:xfrm>
            <a:off x="2195736" y="2780928"/>
            <a:ext cx="4104456" cy="1661994"/>
            <a:chOff x="2123728" y="2780928"/>
            <a:chExt cx="4104456" cy="1661994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A136CE9E-9C08-4AE5-A6EA-D44D47C7EC89}"/>
                </a:ext>
              </a:extLst>
            </p:cNvPr>
            <p:cNvSpPr txBox="1"/>
            <p:nvPr/>
          </p:nvSpPr>
          <p:spPr>
            <a:xfrm>
              <a:off x="2123728" y="2780928"/>
              <a:ext cx="4104456" cy="13849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pt-BR" sz="1200" dirty="0">
                  <a:latin typeface="Consolas" panose="020B0609020204030204" pitchFamily="49" charset="0"/>
                </a:rPr>
                <a:t>A = [2, 5, -1, 0, 7, 10, 17, -3]</a:t>
              </a:r>
            </a:p>
            <a:p>
              <a:r>
                <a:rPr lang="pt-BR" sz="1200" dirty="0">
                  <a:latin typeface="Consolas" panose="020B0609020204030204" pitchFamily="49" charset="0"/>
                </a:rPr>
                <a:t>B = [0, 1, 15, -8, 5, 7, -2, 0]</a:t>
              </a:r>
            </a:p>
            <a:p>
              <a:endParaRPr lang="pt-BR" sz="1200" dirty="0">
                <a:latin typeface="Consolas" panose="020B0609020204030204" pitchFamily="49" charset="0"/>
              </a:endParaRPr>
            </a:p>
            <a:p>
              <a:r>
                <a:rPr lang="pt-BR" sz="1200" dirty="0">
                  <a:latin typeface="Consolas" panose="020B0609020204030204" pitchFamily="49" charset="0"/>
                </a:rPr>
                <a:t>B[2] = A[0] * 3</a:t>
              </a:r>
            </a:p>
            <a:p>
              <a:r>
                <a:rPr lang="pt-BR" sz="1200" dirty="0">
                  <a:latin typeface="Consolas" panose="020B0609020204030204" pitchFamily="49" charset="0"/>
                </a:rPr>
                <a:t>B[3] = B[3] + A[4]</a:t>
              </a:r>
            </a:p>
            <a:p>
              <a:r>
                <a:rPr lang="pt-BR" sz="1200" dirty="0">
                  <a:latin typeface="Consolas" panose="020B0609020204030204" pitchFamily="49" charset="0"/>
                </a:rPr>
                <a:t>B[A[3]] = A[5] // B[1]</a:t>
              </a:r>
            </a:p>
            <a:p>
              <a:r>
                <a:rPr lang="pt-BR" sz="1200" dirty="0">
                  <a:latin typeface="Consolas" panose="020B0609020204030204" pitchFamily="49" charset="0"/>
                </a:rPr>
                <a:t>B[A[6] % A[5]] = A[A[7] + A[5]] + B[2] * -3</a:t>
              </a:r>
              <a:endParaRPr lang="es-MX" sz="1200" dirty="0">
                <a:latin typeface="Consolas" panose="020B0609020204030204" pitchFamily="49" charset="0"/>
              </a:endParaRP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74B74EF3-3A42-45B6-823A-E1DB8D2C9712}"/>
                </a:ext>
              </a:extLst>
            </p:cNvPr>
            <p:cNvSpPr txBox="1"/>
            <p:nvPr/>
          </p:nvSpPr>
          <p:spPr>
            <a:xfrm>
              <a:off x="3347864" y="4165923"/>
              <a:ext cx="16644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200" dirty="0">
                  <a:hlinkClick r:id="rId2"/>
                </a:rPr>
                <a:t>Link simulación</a:t>
              </a:r>
              <a:endParaRPr lang="es-CO" sz="1200" dirty="0"/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67D27D9F-A56B-40A1-B9FE-74E448D17D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5013177"/>
            <a:ext cx="3528392" cy="110224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189E345-072F-4F93-A488-740CB07401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5013176"/>
            <a:ext cx="3528392" cy="1293943"/>
          </a:xfrm>
          <a:prstGeom prst="rect">
            <a:avLst/>
          </a:prstGeom>
        </p:spPr>
      </p:pic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B0EB54DA-9EA2-433F-8CD1-0D5D79A50AAC}"/>
              </a:ext>
            </a:extLst>
          </p:cNvPr>
          <p:cNvSpPr/>
          <p:nvPr/>
        </p:nvSpPr>
        <p:spPr>
          <a:xfrm>
            <a:off x="4211960" y="5373216"/>
            <a:ext cx="648072" cy="288032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8845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8714761" cy="710952"/>
          </a:xfrm>
        </p:spPr>
        <p:txBody>
          <a:bodyPr>
            <a:normAutofit/>
          </a:bodyPr>
          <a:lstStyle/>
          <a:p>
            <a:r>
              <a:rPr lang="es-MX" dirty="0"/>
              <a:t>La clave: el índice es una variable</a:t>
            </a:r>
            <a:endParaRPr lang="es-CO" dirty="0"/>
          </a:p>
        </p:txBody>
      </p:sp>
      <p:sp>
        <p:nvSpPr>
          <p:cNvPr id="13" name="12 Rectángulo"/>
          <p:cNvSpPr/>
          <p:nvPr/>
        </p:nvSpPr>
        <p:spPr>
          <a:xfrm>
            <a:off x="179512" y="764704"/>
            <a:ext cx="86085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200" b="1" dirty="0"/>
              <a:t>Antes y después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E678B52-92A4-4055-BCF8-C5FBCE36B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955526"/>
              </p:ext>
            </p:extLst>
          </p:nvPr>
        </p:nvGraphicFramePr>
        <p:xfrm>
          <a:off x="323528" y="1237496"/>
          <a:ext cx="8064896" cy="1615440"/>
        </p:xfrm>
        <a:graphic>
          <a:graphicData uri="http://schemas.openxmlformats.org/drawingml/2006/table">
            <a:tbl>
              <a:tblPr/>
              <a:tblGrid>
                <a:gridCol w="4392488">
                  <a:extLst>
                    <a:ext uri="{9D8B030D-6E8A-4147-A177-3AD203B41FA5}">
                      <a16:colId xmlns:a16="http://schemas.microsoft.com/office/drawing/2014/main" val="1590120610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3913879267"/>
                    </a:ext>
                  </a:extLst>
                </a:gridCol>
              </a:tblGrid>
              <a:tr h="121962">
                <a:tc>
                  <a:txBody>
                    <a:bodyPr/>
                    <a:lstStyle/>
                    <a:p>
                      <a:r>
                        <a:rPr lang="es-CO" sz="1600" b="1" dirty="0"/>
                        <a:t>Con índices fijos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b="1" dirty="0"/>
                        <a:t>Con el índice como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680041"/>
                  </a:ext>
                </a:extLst>
              </a:tr>
              <a:tr h="343712">
                <a:tc>
                  <a:txBody>
                    <a:bodyPr/>
                    <a:lstStyle/>
                    <a:p>
                      <a:r>
                        <a:rPr lang="es-CO" sz="1400" b="1" dirty="0">
                          <a:latin typeface="Consolas" panose="020B0609020204030204" pitchFamily="49" charset="0"/>
                        </a:rPr>
                        <a:t>notas[0] = float(input("Nota: "))</a:t>
                      </a:r>
                      <a:br>
                        <a:rPr lang="es-CO" sz="1400" b="1" dirty="0">
                          <a:latin typeface="Consolas" panose="020B0609020204030204" pitchFamily="49" charset="0"/>
                        </a:rPr>
                      </a:br>
                      <a:r>
                        <a:rPr lang="es-CO" sz="1400" b="1" dirty="0">
                          <a:latin typeface="Consolas" panose="020B0609020204030204" pitchFamily="49" charset="0"/>
                        </a:rPr>
                        <a:t>notas[1] = float(input("Nota: "))</a:t>
                      </a:r>
                      <a:br>
                        <a:rPr lang="es-CO" sz="1400" b="1" dirty="0">
                          <a:latin typeface="Consolas" panose="020B0609020204030204" pitchFamily="49" charset="0"/>
                        </a:rPr>
                      </a:br>
                      <a:r>
                        <a:rPr lang="es-CO" sz="1400" b="1" dirty="0">
                          <a:latin typeface="Consolas" panose="020B0609020204030204" pitchFamily="49" charset="0"/>
                        </a:rPr>
                        <a:t>notas[2] = float(input("Nota: "))</a:t>
                      </a:r>
                      <a:br>
                        <a:rPr lang="es-CO" sz="1400" b="1" dirty="0">
                          <a:latin typeface="Consolas" panose="020B0609020204030204" pitchFamily="49" charset="0"/>
                        </a:rPr>
                      </a:br>
                      <a:r>
                        <a:rPr lang="es-CO" sz="1400" b="1" dirty="0">
                          <a:latin typeface="Consolas" panose="020B0609020204030204" pitchFamily="49" charset="0"/>
                        </a:rPr>
                        <a:t>notas[3] = float(input("Nota: "))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b="1" dirty="0">
                          <a:latin typeface="Consolas" panose="020B0609020204030204" pitchFamily="49" charset="0"/>
                        </a:rPr>
                        <a:t>for i in range(N):</a:t>
                      </a:r>
                      <a:br>
                        <a:rPr lang="es-CO" sz="1400" b="1" dirty="0">
                          <a:latin typeface="Consolas" panose="020B0609020204030204" pitchFamily="49" charset="0"/>
                        </a:rPr>
                      </a:br>
                      <a:r>
                        <a:rPr lang="es-CO" sz="1400" b="1" dirty="0">
                          <a:latin typeface="Consolas" panose="020B0609020204030204" pitchFamily="49" charset="0"/>
                        </a:rPr>
                        <a:t>  notas[i] = float(input("Nota: "))</a:t>
                      </a:r>
                    </a:p>
                    <a:p>
                      <a:endParaRPr lang="es-CO" sz="1400" b="1" dirty="0">
                        <a:latin typeface="Consolas" panose="020B0609020204030204" pitchFamily="49" charset="0"/>
                      </a:endParaRPr>
                    </a:p>
                    <a:p>
                      <a:endParaRPr lang="es-CO" sz="14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7675559"/>
                  </a:ext>
                </a:extLst>
              </a:tr>
              <a:tr h="121962">
                <a:tc>
                  <a:txBody>
                    <a:bodyPr/>
                    <a:lstStyle/>
                    <a:p>
                      <a:r>
                        <a:rPr lang="es-MX" sz="1600"/>
                        <a:t>Una línea por casilla. Con 40 estudiantes, 40 líneas.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b="1" dirty="0"/>
                        <a:t>Una sola línea</a:t>
                      </a:r>
                      <a:r>
                        <a:rPr lang="es-MX" sz="1600" dirty="0"/>
                        <a:t> sirve para cualquier 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2373530"/>
                  </a:ext>
                </a:extLst>
              </a:tr>
            </a:tbl>
          </a:graphicData>
        </a:graphic>
      </p:graphicFrame>
      <p:sp>
        <p:nvSpPr>
          <p:cNvPr id="6" name="12 Rectángulo">
            <a:extLst>
              <a:ext uri="{FF2B5EF4-FFF2-40B4-BE49-F238E27FC236}">
                <a16:creationId xmlns:a16="http://schemas.microsoft.com/office/drawing/2014/main" id="{3CEE1589-E03B-4412-84B1-C4854604169F}"/>
              </a:ext>
            </a:extLst>
          </p:cNvPr>
          <p:cNvSpPr/>
          <p:nvPr/>
        </p:nvSpPr>
        <p:spPr>
          <a:xfrm>
            <a:off x="179512" y="3005078"/>
            <a:ext cx="8608556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El patrón que se repite en todo el bloque:</a:t>
            </a:r>
          </a:p>
          <a:p>
            <a:pPr rtl="0"/>
            <a:endParaRPr lang="es-MX" sz="2000" b="1" dirty="0"/>
          </a:p>
          <a:p>
            <a:pPr rtl="0"/>
            <a:endParaRPr lang="es-MX" sz="2000" b="1" dirty="0"/>
          </a:p>
          <a:p>
            <a:pPr rtl="0"/>
            <a:endParaRPr lang="es-MX" sz="2000" b="1" dirty="0"/>
          </a:p>
          <a:p>
            <a:pPr rtl="0"/>
            <a:endParaRPr lang="es-MX" sz="2000" b="1" dirty="0"/>
          </a:p>
          <a:p>
            <a:pPr rtl="0"/>
            <a:r>
              <a:rPr lang="es-MX" b="1" dirty="0"/>
              <a:t>Lo que se hace con este patrón</a:t>
            </a:r>
            <a:r>
              <a:rPr lang="es-MX" dirty="0"/>
              <a:t>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MX" b="1" dirty="0"/>
              <a:t>Llenar</a:t>
            </a:r>
            <a:r>
              <a:rPr lang="es-MX" dirty="0"/>
              <a:t>: </a:t>
            </a:r>
            <a:r>
              <a:rPr lang="es-MX" sz="1600" dirty="0">
                <a:latin typeface="Consolas" panose="020B0609020204030204" pitchFamily="49" charset="0"/>
              </a:rPr>
              <a:t>Leer(notas[i])</a:t>
            </a:r>
            <a:r>
              <a:rPr lang="es-CO" dirty="0"/>
              <a:t> o </a:t>
            </a:r>
            <a:r>
              <a:rPr lang="es-CO" sz="1600" dirty="0">
                <a:latin typeface="Consolas" panose="020B0609020204030204" pitchFamily="49" charset="0"/>
              </a:rPr>
              <a:t>notas[i] = expresión</a:t>
            </a:r>
            <a:endParaRPr lang="es-MX" dirty="0">
              <a:latin typeface="Consolas" panose="020B0609020204030204" pitchFamily="49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MX" b="1" dirty="0"/>
              <a:t>Mostrar</a:t>
            </a:r>
            <a:r>
              <a:rPr lang="es-MX" dirty="0"/>
              <a:t>: </a:t>
            </a:r>
            <a:r>
              <a:rPr lang="es-MX" sz="1600" dirty="0">
                <a:latin typeface="Consolas" panose="020B0609020204030204" pitchFamily="49" charset="0"/>
              </a:rPr>
              <a:t>Escribir(notas[i])</a:t>
            </a:r>
            <a:endParaRPr lang="es-MX" dirty="0">
              <a:latin typeface="Consolas" panose="020B0609020204030204" pitchFamily="49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MX" b="1" dirty="0"/>
              <a:t>Acumular</a:t>
            </a:r>
            <a:r>
              <a:rPr lang="es-MX" dirty="0"/>
              <a:t>: </a:t>
            </a:r>
            <a:r>
              <a:rPr lang="es-MX" sz="1600" dirty="0">
                <a:latin typeface="Consolas" panose="020B0609020204030204" pitchFamily="49" charset="0"/>
              </a:rPr>
              <a:t>suma = suma + notas[i]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MX" b="1" dirty="0"/>
              <a:t>Contar</a:t>
            </a:r>
            <a:r>
              <a:rPr lang="es-MX" dirty="0"/>
              <a:t>:</a:t>
            </a:r>
            <a:r>
              <a:rPr lang="es-MX" sz="1600" dirty="0"/>
              <a:t> </a:t>
            </a:r>
            <a:r>
              <a:rPr lang="es-MX" sz="1600" dirty="0">
                <a:latin typeface="Consolas" panose="020B0609020204030204" pitchFamily="49" charset="0"/>
              </a:rPr>
              <a:t>Si notas[i] &gt; x Entonces </a:t>
            </a:r>
            <a:r>
              <a:rPr lang="es-MX" sz="1600" dirty="0" err="1">
                <a:latin typeface="Consolas" panose="020B0609020204030204" pitchFamily="49" charset="0"/>
              </a:rPr>
              <a:t>cont</a:t>
            </a:r>
            <a:r>
              <a:rPr lang="es-MX" sz="1600" dirty="0">
                <a:latin typeface="Consolas" panose="020B0609020204030204" pitchFamily="49" charset="0"/>
              </a:rPr>
              <a:t> = </a:t>
            </a:r>
            <a:r>
              <a:rPr lang="es-MX" sz="1600" dirty="0" err="1">
                <a:latin typeface="Consolas" panose="020B0609020204030204" pitchFamily="49" charset="0"/>
              </a:rPr>
              <a:t>cont</a:t>
            </a:r>
            <a:r>
              <a:rPr lang="es-MX" sz="1600" dirty="0">
                <a:latin typeface="Consolas" panose="020B0609020204030204" pitchFamily="49" charset="0"/>
              </a:rPr>
              <a:t> + 1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MX" b="1" i="1" dirty="0"/>
              <a:t>Próxima clase</a:t>
            </a:r>
            <a:r>
              <a:rPr lang="es-MX" dirty="0"/>
              <a:t>: </a:t>
            </a:r>
            <a:r>
              <a:rPr lang="es-MX" i="1" dirty="0"/>
              <a:t>buscar el mayor, buscar un valor, intercambiar, ordenar.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39D4EB0-9C37-4781-B200-0641EB127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542576"/>
              </p:ext>
            </p:extLst>
          </p:nvPr>
        </p:nvGraphicFramePr>
        <p:xfrm>
          <a:off x="323528" y="3442320"/>
          <a:ext cx="8064896" cy="1066800"/>
        </p:xfrm>
        <a:graphic>
          <a:graphicData uri="http://schemas.openxmlformats.org/drawingml/2006/table">
            <a:tbl>
              <a:tblPr/>
              <a:tblGrid>
                <a:gridCol w="4032448">
                  <a:extLst>
                    <a:ext uri="{9D8B030D-6E8A-4147-A177-3AD203B41FA5}">
                      <a16:colId xmlns:a16="http://schemas.microsoft.com/office/drawing/2014/main" val="3108187173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20057900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600" b="1" dirty="0"/>
                        <a:t>Pseudocódigo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/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364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400" b="1" dirty="0">
                          <a:latin typeface="Consolas" panose="020B0609020204030204" pitchFamily="49" charset="0"/>
                        </a:rPr>
                        <a:t>Para (i = 0, N - 1, 1) Haga</a:t>
                      </a:r>
                      <a:br>
                        <a:rPr lang="pt-BR" sz="1400" b="1" dirty="0">
                          <a:latin typeface="Consolas" panose="020B0609020204030204" pitchFamily="49" charset="0"/>
                        </a:rPr>
                      </a:br>
                      <a:r>
                        <a:rPr lang="pt-BR" sz="1400" b="1" dirty="0">
                          <a:latin typeface="Consolas" panose="020B0609020204030204" pitchFamily="49" charset="0"/>
                        </a:rPr>
                        <a:t>  ... notas[i] ...</a:t>
                      </a:r>
                      <a:br>
                        <a:rPr lang="pt-BR" sz="1400" b="1" dirty="0">
                          <a:latin typeface="Consolas" panose="020B0609020204030204" pitchFamily="49" charset="0"/>
                        </a:rPr>
                      </a:br>
                      <a:r>
                        <a:rPr lang="pt-BR" sz="1400" b="1" dirty="0">
                          <a:latin typeface="Consolas" panose="020B0609020204030204" pitchFamily="49" charset="0"/>
                        </a:rPr>
                        <a:t>Fin_Para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b="1" dirty="0">
                          <a:latin typeface="Consolas" panose="020B0609020204030204" pitchFamily="49" charset="0"/>
                        </a:rPr>
                        <a:t>for i in range(N):</a:t>
                      </a:r>
                      <a:br>
                        <a:rPr lang="es-CO" sz="1400" b="1" dirty="0">
                          <a:latin typeface="Consolas" panose="020B0609020204030204" pitchFamily="49" charset="0"/>
                        </a:rPr>
                      </a:br>
                      <a:r>
                        <a:rPr lang="es-CO" sz="1400" b="1" dirty="0">
                          <a:latin typeface="Consolas" panose="020B0609020204030204" pitchFamily="49" charset="0"/>
                        </a:rPr>
                        <a:t>  ... notas[i] 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1569081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5ECA7D0B-7C75-4AA5-A950-1FBEA02DEBF8}"/>
              </a:ext>
            </a:extLst>
          </p:cNvPr>
          <p:cNvSpPr txBox="1"/>
          <p:nvPr/>
        </p:nvSpPr>
        <p:spPr>
          <a:xfrm>
            <a:off x="1" y="6239053"/>
            <a:ext cx="9144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CO" b="1" dirty="0"/>
              <a:t>Idea clave</a:t>
            </a:r>
            <a:r>
              <a:rPr lang="es-CO" dirty="0"/>
              <a:t>: “El verdadero beneficio de utilizar un arreglo está en su capacidad para usar una variable como un subíndice.” (Farrell, cap. 6)</a:t>
            </a:r>
          </a:p>
        </p:txBody>
      </p:sp>
    </p:spTree>
    <p:extLst>
      <p:ext uri="{BB962C8B-B14F-4D97-AF65-F5344CB8AC3E}">
        <p14:creationId xmlns:p14="http://schemas.microsoft.com/office/powerpoint/2010/main" val="1545986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8714761" cy="710952"/>
          </a:xfrm>
        </p:spPr>
        <p:txBody>
          <a:bodyPr>
            <a:normAutofit/>
          </a:bodyPr>
          <a:lstStyle/>
          <a:p>
            <a:r>
              <a:rPr lang="es-CO" dirty="0"/>
              <a:t>Llenar un arreglo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39908" y="836712"/>
            <a:ext cx="86085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Caso 1: </a:t>
            </a:r>
            <a:r>
              <a:rPr lang="es-MX" sz="2000" dirty="0"/>
              <a:t>El valor de cada uno de los elementos del arreglo se pasa por teclado.</a:t>
            </a:r>
          </a:p>
        </p:txBody>
      </p:sp>
      <p:sp>
        <p:nvSpPr>
          <p:cNvPr id="6" name="12 Rectángulo">
            <a:extLst>
              <a:ext uri="{FF2B5EF4-FFF2-40B4-BE49-F238E27FC236}">
                <a16:creationId xmlns:a16="http://schemas.microsoft.com/office/drawing/2014/main" id="{AB7BB788-B1FC-4EA3-AA86-A9AF9E515519}"/>
              </a:ext>
            </a:extLst>
          </p:cNvPr>
          <p:cNvSpPr/>
          <p:nvPr/>
        </p:nvSpPr>
        <p:spPr>
          <a:xfrm>
            <a:off x="179512" y="2996952"/>
            <a:ext cx="86085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Caso 2: </a:t>
            </a:r>
            <a:r>
              <a:rPr lang="es-CO" sz="2000" dirty="0"/>
              <a:t>El valor de cada uno de los elementos del arreglo proviene de una expresión. 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9B4DA04-B18B-4611-ACBD-0426F1742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945071"/>
              </p:ext>
            </p:extLst>
          </p:nvPr>
        </p:nvGraphicFramePr>
        <p:xfrm>
          <a:off x="251519" y="1268760"/>
          <a:ext cx="8608556" cy="1524000"/>
        </p:xfrm>
        <a:graphic>
          <a:graphicData uri="http://schemas.openxmlformats.org/drawingml/2006/table">
            <a:tbl>
              <a:tblPr/>
              <a:tblGrid>
                <a:gridCol w="4176465">
                  <a:extLst>
                    <a:ext uri="{9D8B030D-6E8A-4147-A177-3AD203B41FA5}">
                      <a16:colId xmlns:a16="http://schemas.microsoft.com/office/drawing/2014/main" val="1706694766"/>
                    </a:ext>
                  </a:extLst>
                </a:gridCol>
                <a:gridCol w="4432091">
                  <a:extLst>
                    <a:ext uri="{9D8B030D-6E8A-4147-A177-3AD203B41FA5}">
                      <a16:colId xmlns:a16="http://schemas.microsoft.com/office/drawing/2014/main" val="16765449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600" b="1" dirty="0"/>
                        <a:t>Pseudocódigo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/>
                        <a:t>Python (</a:t>
                      </a:r>
                      <a:r>
                        <a:rPr lang="es-CO" sz="1600" b="1" dirty="0">
                          <a:hlinkClick r:id="rId2"/>
                        </a:rPr>
                        <a:t>simulación</a:t>
                      </a:r>
                      <a:r>
                        <a:rPr lang="es-CO" sz="1600" b="1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471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N = 4</a:t>
                      </a:r>
                      <a:br>
                        <a:rPr lang="es-CO" sz="1200" dirty="0">
                          <a:latin typeface="Consolas" panose="020B0609020204030204" pitchFamily="49" charset="0"/>
                        </a:rPr>
                      </a:br>
                      <a:r>
                        <a:rPr lang="es-CO" sz="1200" dirty="0">
                          <a:latin typeface="Consolas" panose="020B0609020204030204" pitchFamily="49" charset="0"/>
                        </a:rPr>
                        <a:t>notas = Arreglo(N)</a:t>
                      </a:r>
                      <a:br>
                        <a:rPr lang="es-CO" sz="1200" dirty="0">
                          <a:latin typeface="Consolas" panose="020B0609020204030204" pitchFamily="49" charset="0"/>
                        </a:rPr>
                      </a:br>
                      <a:r>
                        <a:rPr lang="es-CO" sz="1200" dirty="0">
                          <a:latin typeface="Consolas" panose="020B0609020204030204" pitchFamily="49" charset="0"/>
                        </a:rPr>
                        <a:t>Para (i = 0, N - 1, 1) Haga</a:t>
                      </a:r>
                      <a:br>
                        <a:rPr lang="es-CO" sz="1200" dirty="0">
                          <a:latin typeface="Consolas" panose="020B0609020204030204" pitchFamily="49" charset="0"/>
                        </a:rPr>
                      </a:br>
                      <a:r>
                        <a:rPr lang="es-CO" sz="1200" dirty="0">
                          <a:latin typeface="Consolas" panose="020B0609020204030204" pitchFamily="49" charset="0"/>
                        </a:rPr>
                        <a:t>  Escribir("Nota del estudiante ", i + 1, ": ")</a:t>
                      </a:r>
                      <a:br>
                        <a:rPr lang="es-CO" sz="1200" dirty="0">
                          <a:latin typeface="Consolas" panose="020B0609020204030204" pitchFamily="49" charset="0"/>
                        </a:rPr>
                      </a:br>
                      <a:r>
                        <a:rPr lang="es-CO" sz="1200" dirty="0">
                          <a:latin typeface="Consolas" panose="020B0609020204030204" pitchFamily="49" charset="0"/>
                        </a:rPr>
                        <a:t>  Leer(notas[i])</a:t>
                      </a:r>
                      <a:br>
                        <a:rPr lang="es-CO" sz="1200" dirty="0">
                          <a:latin typeface="Consolas" panose="020B0609020204030204" pitchFamily="49" charset="0"/>
                        </a:rPr>
                      </a:b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Fin_Para</a:t>
                      </a:r>
                      <a:endParaRPr lang="es-CO" sz="12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Consolas" panose="020B0609020204030204" pitchFamily="49" charset="0"/>
                        </a:rPr>
                        <a:t>N = 4</a:t>
                      </a:r>
                      <a:br>
                        <a:rPr lang="pt-BR" sz="1200" dirty="0">
                          <a:latin typeface="Consolas" panose="020B0609020204030204" pitchFamily="49" charset="0"/>
                        </a:rPr>
                      </a:br>
                      <a:r>
                        <a:rPr lang="pt-BR" sz="1200" dirty="0">
                          <a:latin typeface="Consolas" panose="020B0609020204030204" pitchFamily="49" charset="0"/>
                        </a:rPr>
                        <a:t>notas = [0.0] * N</a:t>
                      </a:r>
                    </a:p>
                    <a:p>
                      <a:br>
                        <a:rPr lang="pt-BR" sz="1200" dirty="0">
                          <a:latin typeface="Consolas" panose="020B0609020204030204" pitchFamily="49" charset="0"/>
                        </a:rPr>
                      </a:br>
                      <a:r>
                        <a:rPr lang="pt-BR" sz="1200" dirty="0">
                          <a:latin typeface="Consolas" panose="020B0609020204030204" pitchFamily="49" charset="0"/>
                        </a:rPr>
                        <a:t>for i in range(N):</a:t>
                      </a:r>
                      <a:br>
                        <a:rPr lang="pt-BR" sz="1200" dirty="0">
                          <a:latin typeface="Consolas" panose="020B0609020204030204" pitchFamily="49" charset="0"/>
                        </a:rPr>
                      </a:br>
                      <a:r>
                        <a:rPr lang="pt-BR" sz="1200" dirty="0">
                          <a:latin typeface="Consolas" panose="020B0609020204030204" pitchFamily="49" charset="0"/>
                        </a:rPr>
                        <a:t>  notas[i] = </a:t>
                      </a:r>
                      <a:r>
                        <a:rPr lang="pt-BR" sz="1200" dirty="0" err="1">
                          <a:latin typeface="Consolas" panose="020B0609020204030204" pitchFamily="49" charset="0"/>
                        </a:rPr>
                        <a:t>float</a:t>
                      </a:r>
                      <a:r>
                        <a:rPr lang="pt-BR" sz="1200" dirty="0">
                          <a:latin typeface="Consolas" panose="020B0609020204030204" pitchFamily="49" charset="0"/>
                        </a:rPr>
                        <a:t>(input(</a:t>
                      </a:r>
                      <a:r>
                        <a:rPr lang="pt-BR" sz="1200" dirty="0" err="1">
                          <a:latin typeface="Consolas" panose="020B0609020204030204" pitchFamily="49" charset="0"/>
                        </a:rPr>
                        <a:t>f"Nota</a:t>
                      </a:r>
                      <a:r>
                        <a:rPr lang="pt-BR" sz="12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pt-BR" sz="1200" dirty="0" err="1">
                          <a:latin typeface="Consolas" panose="020B0609020204030204" pitchFamily="49" charset="0"/>
                        </a:rPr>
                        <a:t>del</a:t>
                      </a:r>
                      <a:r>
                        <a:rPr lang="pt-BR" sz="12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pt-BR" sz="1200" dirty="0" err="1">
                          <a:latin typeface="Consolas" panose="020B0609020204030204" pitchFamily="49" charset="0"/>
                        </a:rPr>
                        <a:t>estudiante</a:t>
                      </a:r>
                      <a:r>
                        <a:rPr lang="pt-BR" sz="1200" dirty="0">
                          <a:latin typeface="Consolas" panose="020B0609020204030204" pitchFamily="49" charset="0"/>
                        </a:rPr>
                        <a:t> </a:t>
                      </a:r>
                    </a:p>
                    <a:p>
                      <a:r>
                        <a:rPr lang="pt-BR" sz="1200" dirty="0">
                          <a:latin typeface="Consolas" panose="020B0609020204030204" pitchFamily="49" charset="0"/>
                        </a:rPr>
                        <a:t>                           {i + 1}: "))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3191429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21D1E346-0FEB-4B21-8973-725E86364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504157"/>
              </p:ext>
            </p:extLst>
          </p:nvPr>
        </p:nvGraphicFramePr>
        <p:xfrm>
          <a:off x="251520" y="3810352"/>
          <a:ext cx="8608556" cy="1706880"/>
        </p:xfrm>
        <a:graphic>
          <a:graphicData uri="http://schemas.openxmlformats.org/drawingml/2006/table">
            <a:tbl>
              <a:tblPr/>
              <a:tblGrid>
                <a:gridCol w="4176465">
                  <a:extLst>
                    <a:ext uri="{9D8B030D-6E8A-4147-A177-3AD203B41FA5}">
                      <a16:colId xmlns:a16="http://schemas.microsoft.com/office/drawing/2014/main" val="1706694766"/>
                    </a:ext>
                  </a:extLst>
                </a:gridCol>
                <a:gridCol w="4432091">
                  <a:extLst>
                    <a:ext uri="{9D8B030D-6E8A-4147-A177-3AD203B41FA5}">
                      <a16:colId xmlns:a16="http://schemas.microsoft.com/office/drawing/2014/main" val="16765449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600" b="1" dirty="0"/>
                        <a:t>Pseudocódigo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/>
                        <a:t>Python (</a:t>
                      </a:r>
                      <a:r>
                        <a:rPr lang="es-CO" sz="1600" b="1" dirty="0">
                          <a:hlinkClick r:id="rId3"/>
                        </a:rPr>
                        <a:t>simulación</a:t>
                      </a:r>
                      <a:r>
                        <a:rPr lang="es-CO" sz="1600" b="1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471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latin typeface="Consolas" panose="020B0609020204030204" pitchFamily="49" charset="0"/>
                        </a:rPr>
                        <a:t>notas = [3.0, 4.5, 2.0, 4.0]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latin typeface="Consolas" panose="020B0609020204030204" pitchFamily="49" charset="0"/>
                        </a:rPr>
                        <a:t>N = 4</a:t>
                      </a:r>
                    </a:p>
                    <a:p>
                      <a:r>
                        <a:rPr lang="pt-BR" sz="1200" dirty="0" err="1">
                          <a:latin typeface="Consolas" panose="020B0609020204030204" pitchFamily="49" charset="0"/>
                        </a:rPr>
                        <a:t>aprobo</a:t>
                      </a:r>
                      <a:r>
                        <a:rPr lang="pt-BR" sz="1200" dirty="0">
                          <a:latin typeface="Consolas" panose="020B0609020204030204" pitchFamily="49" charset="0"/>
                        </a:rPr>
                        <a:t> = [Falso, Falso, Falso, Falso]</a:t>
                      </a:r>
                    </a:p>
                    <a:p>
                      <a:endParaRPr lang="pt-BR" sz="12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pt-BR" sz="1200" dirty="0">
                          <a:latin typeface="Consolas" panose="020B0609020204030204" pitchFamily="49" charset="0"/>
                        </a:rPr>
                        <a:t>Para (i = 0, N - 1, 1) Haga</a:t>
                      </a:r>
                    </a:p>
                    <a:p>
                      <a:r>
                        <a:rPr lang="pt-BR" sz="12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pt-BR" sz="1200" dirty="0" err="1">
                          <a:latin typeface="Consolas" panose="020B0609020204030204" pitchFamily="49" charset="0"/>
                        </a:rPr>
                        <a:t>aprobo</a:t>
                      </a:r>
                      <a:r>
                        <a:rPr lang="pt-BR" sz="1200" dirty="0">
                          <a:latin typeface="Consolas" panose="020B0609020204030204" pitchFamily="49" charset="0"/>
                        </a:rPr>
                        <a:t>[i] = notas[i] &gt;= 3.0</a:t>
                      </a:r>
                    </a:p>
                    <a:p>
                      <a:r>
                        <a:rPr lang="pt-BR" sz="1200" dirty="0">
                          <a:latin typeface="Consolas" panose="020B0609020204030204" pitchFamily="49" charset="0"/>
                        </a:rPr>
                        <a:t>Fin_Para</a:t>
                      </a:r>
                      <a:endParaRPr lang="es-CO" sz="12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latin typeface="Consolas" panose="020B0609020204030204" pitchFamily="49" charset="0"/>
                        </a:rPr>
                        <a:t>notas = [3.0, 4.5, 2.0, 4.0]</a:t>
                      </a:r>
                    </a:p>
                    <a:p>
                      <a:endParaRPr lang="pt-BR" sz="12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pt-BR" sz="1200" dirty="0">
                          <a:latin typeface="Consolas" panose="020B0609020204030204" pitchFamily="49" charset="0"/>
                        </a:rPr>
                        <a:t>N = 4</a:t>
                      </a:r>
                      <a:br>
                        <a:rPr lang="pt-BR" sz="1200" dirty="0">
                          <a:latin typeface="Consolas" panose="020B0609020204030204" pitchFamily="49" charset="0"/>
                        </a:rPr>
                      </a:br>
                      <a:r>
                        <a:rPr lang="pt-BR" sz="1200" dirty="0" err="1">
                          <a:latin typeface="Consolas" panose="020B0609020204030204" pitchFamily="49" charset="0"/>
                        </a:rPr>
                        <a:t>aprobo</a:t>
                      </a:r>
                      <a:r>
                        <a:rPr lang="pt-BR" sz="1200" dirty="0">
                          <a:latin typeface="Consolas" panose="020B0609020204030204" pitchFamily="49" charset="0"/>
                        </a:rPr>
                        <a:t> = [False] * N</a:t>
                      </a:r>
                    </a:p>
                    <a:p>
                      <a:endParaRPr lang="pt-BR" sz="12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pt-BR" sz="1200" dirty="0">
                          <a:latin typeface="Consolas" panose="020B0609020204030204" pitchFamily="49" charset="0"/>
                        </a:rPr>
                        <a:t>for i in range(N):</a:t>
                      </a:r>
                    </a:p>
                    <a:p>
                      <a:r>
                        <a:rPr lang="pt-BR" sz="12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pt-BR" sz="1200" dirty="0" err="1">
                          <a:latin typeface="Consolas" panose="020B0609020204030204" pitchFamily="49" charset="0"/>
                        </a:rPr>
                        <a:t>aprobo</a:t>
                      </a:r>
                      <a:r>
                        <a:rPr lang="pt-BR" sz="1200" dirty="0">
                          <a:latin typeface="Consolas" panose="020B0609020204030204" pitchFamily="49" charset="0"/>
                        </a:rPr>
                        <a:t>[i] = notas[i] &gt;= 3.0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3191429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12A303B4-CE88-4706-AC50-BEAA89F02C52}"/>
              </a:ext>
            </a:extLst>
          </p:cNvPr>
          <p:cNvSpPr txBox="1"/>
          <p:nvPr/>
        </p:nvSpPr>
        <p:spPr>
          <a:xfrm>
            <a:off x="251518" y="5799508"/>
            <a:ext cx="8608556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sz="2000" b="1" dirty="0"/>
              <a:t>Idea clave:</a:t>
            </a:r>
            <a:r>
              <a:rPr lang="es-MX" sz="2000" dirty="0"/>
              <a:t> Llenar es darle un valor a cada casilla con un ciclo, y ese valor puede venir de leer o de calcular.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675955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8714761" cy="710952"/>
          </a:xfrm>
        </p:spPr>
        <p:txBody>
          <a:bodyPr>
            <a:normAutofit/>
          </a:bodyPr>
          <a:lstStyle/>
          <a:p>
            <a:r>
              <a:rPr lang="es-CO" dirty="0"/>
              <a:t>Recorrer y mostrar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39908" y="692696"/>
            <a:ext cx="860855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i="1" dirty="0"/>
              <a:t>Recorrer</a:t>
            </a:r>
            <a:r>
              <a:rPr lang="es-MX" sz="2000" dirty="0"/>
              <a:t> un arreglo es visitar sus casillas una por una. Mostrar su contenido es el recorrido más simple.</a:t>
            </a: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Caso 1 – Por índice</a:t>
            </a:r>
            <a:r>
              <a:rPr lang="es-MX" sz="2000" dirty="0"/>
              <a:t>:</a:t>
            </a:r>
            <a:r>
              <a:rPr lang="es-MX" sz="2000" b="1" dirty="0"/>
              <a:t> </a:t>
            </a:r>
            <a:r>
              <a:rPr lang="es-MX" sz="2000" dirty="0"/>
              <a:t>Se usa el índice </a:t>
            </a:r>
            <a:r>
              <a:rPr lang="es-MX" b="1" dirty="0">
                <a:latin typeface="Consolas" panose="020B0609020204030204" pitchFamily="49" charset="0"/>
              </a:rPr>
              <a:t>i</a:t>
            </a:r>
            <a:r>
              <a:rPr lang="es-MX" sz="2000" dirty="0"/>
              <a:t>.</a:t>
            </a:r>
          </a:p>
        </p:txBody>
      </p:sp>
      <p:sp>
        <p:nvSpPr>
          <p:cNvPr id="6" name="12 Rectángulo">
            <a:extLst>
              <a:ext uri="{FF2B5EF4-FFF2-40B4-BE49-F238E27FC236}">
                <a16:creationId xmlns:a16="http://schemas.microsoft.com/office/drawing/2014/main" id="{AB7BB788-B1FC-4EA3-AA86-A9AF9E515519}"/>
              </a:ext>
            </a:extLst>
          </p:cNvPr>
          <p:cNvSpPr/>
          <p:nvPr/>
        </p:nvSpPr>
        <p:spPr>
          <a:xfrm>
            <a:off x="179512" y="3153162"/>
            <a:ext cx="86085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Caso 2 – Por elemento</a:t>
            </a:r>
            <a:r>
              <a:rPr lang="es-MX" sz="2000" dirty="0"/>
              <a:t>:</a:t>
            </a:r>
            <a:r>
              <a:rPr lang="es-MX" sz="2000" b="1" dirty="0"/>
              <a:t> </a:t>
            </a:r>
            <a:r>
              <a:rPr lang="es-MX" sz="2000" dirty="0"/>
              <a:t>Se recibe cada elemento sin usar el índice. Existe en Python y en otros lenguajes (Java, C++), pero no en el pseudocódigo.</a:t>
            </a:r>
            <a:endParaRPr lang="es-CO" sz="20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57F5117-2590-45C9-A4CB-573558706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34902"/>
              </p:ext>
            </p:extLst>
          </p:nvPr>
        </p:nvGraphicFramePr>
        <p:xfrm>
          <a:off x="645740" y="1727840"/>
          <a:ext cx="7886700" cy="134112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348586111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6590034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600" b="1" dirty="0"/>
                        <a:t>Pseudocódigo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/>
                        <a:t>Python (</a:t>
                      </a:r>
                      <a:r>
                        <a:rPr lang="es-CO" sz="1600" b="1" dirty="0">
                          <a:hlinkClick r:id="rId2"/>
                        </a:rPr>
                        <a:t>simulación</a:t>
                      </a:r>
                      <a:r>
                        <a:rPr lang="es-CO" sz="1600" b="1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24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notas = [3.0, 4.5, 2.0, 4.0]</a:t>
                      </a:r>
                      <a:br>
                        <a:rPr lang="es-CO" sz="1200" dirty="0">
                          <a:latin typeface="Consolas" panose="020B0609020204030204" pitchFamily="49" charset="0"/>
                        </a:rPr>
                      </a:br>
                      <a:r>
                        <a:rPr lang="es-CO" sz="1200" dirty="0">
                          <a:latin typeface="Consolas" panose="020B0609020204030204" pitchFamily="49" charset="0"/>
                        </a:rPr>
                        <a:t>N = 4</a:t>
                      </a:r>
                      <a:br>
                        <a:rPr lang="es-CO" sz="1200" dirty="0">
                          <a:latin typeface="Consolas" panose="020B0609020204030204" pitchFamily="49" charset="0"/>
                        </a:rPr>
                      </a:br>
                      <a:r>
                        <a:rPr lang="es-CO" sz="1200" dirty="0">
                          <a:latin typeface="Consolas" panose="020B0609020204030204" pitchFamily="49" charset="0"/>
                        </a:rPr>
                        <a:t>Para (i = 0, N - 1, 1) Haga</a:t>
                      </a:r>
                      <a:br>
                        <a:rPr lang="es-CO" sz="1200" dirty="0">
                          <a:latin typeface="Consolas" panose="020B0609020204030204" pitchFamily="49" charset="0"/>
                        </a:rPr>
                      </a:br>
                      <a:r>
                        <a:rPr lang="es-CO" sz="1200" dirty="0">
                          <a:latin typeface="Consolas" panose="020B0609020204030204" pitchFamily="49" charset="0"/>
                        </a:rPr>
                        <a:t>  Escribir("Posición ", i, ": ", notas[i])</a:t>
                      </a:r>
                      <a:br>
                        <a:rPr lang="es-CO" sz="1200" dirty="0">
                          <a:latin typeface="Consolas" panose="020B0609020204030204" pitchFamily="49" charset="0"/>
                        </a:rPr>
                      </a:b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Fin_Para</a:t>
                      </a:r>
                      <a:endParaRPr lang="es-CO" sz="12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Consolas" panose="020B0609020204030204" pitchFamily="49" charset="0"/>
                        </a:rPr>
                        <a:t>notas = [3.0, 4.5, 2.0, 4.0]</a:t>
                      </a:r>
                      <a:br>
                        <a:rPr lang="pt-BR" sz="1200" dirty="0">
                          <a:latin typeface="Consolas" panose="020B0609020204030204" pitchFamily="49" charset="0"/>
                        </a:rPr>
                      </a:br>
                      <a:r>
                        <a:rPr lang="pt-BR" sz="1200" dirty="0">
                          <a:latin typeface="Consolas" panose="020B0609020204030204" pitchFamily="49" charset="0"/>
                        </a:rPr>
                        <a:t>N = 4</a:t>
                      </a:r>
                      <a:br>
                        <a:rPr lang="pt-BR" sz="1200" dirty="0">
                          <a:latin typeface="Consolas" panose="020B0609020204030204" pitchFamily="49" charset="0"/>
                        </a:rPr>
                      </a:br>
                      <a:r>
                        <a:rPr lang="pt-BR" sz="1200" dirty="0">
                          <a:latin typeface="Consolas" panose="020B0609020204030204" pitchFamily="49" charset="0"/>
                        </a:rPr>
                        <a:t>for i in range(N):</a:t>
                      </a:r>
                      <a:br>
                        <a:rPr lang="pt-BR" sz="1200" dirty="0">
                          <a:latin typeface="Consolas" panose="020B0609020204030204" pitchFamily="49" charset="0"/>
                        </a:rPr>
                      </a:br>
                      <a:r>
                        <a:rPr lang="pt-BR" sz="1200" dirty="0">
                          <a:latin typeface="Consolas" panose="020B0609020204030204" pitchFamily="49" charset="0"/>
                        </a:rPr>
                        <a:t>  print(f"Posicion {i}: {notas[i]}")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366887"/>
                  </a:ext>
                </a:extLst>
              </a:tr>
            </a:tbl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FD24A129-D8D4-4F3A-96B0-706B0E90B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662358"/>
              </p:ext>
            </p:extLst>
          </p:nvPr>
        </p:nvGraphicFramePr>
        <p:xfrm>
          <a:off x="645740" y="3926944"/>
          <a:ext cx="7886700" cy="115824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1668945825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886006610"/>
                    </a:ext>
                  </a:extLst>
                </a:gridCol>
              </a:tblGrid>
              <a:tr h="282461">
                <a:tc>
                  <a:txBody>
                    <a:bodyPr/>
                    <a:lstStyle/>
                    <a:p>
                      <a:r>
                        <a:rPr lang="es-CO" sz="1600" b="1" dirty="0"/>
                        <a:t>Python (</a:t>
                      </a:r>
                      <a:r>
                        <a:rPr lang="es-CO" sz="1600" b="1" dirty="0">
                          <a:hlinkClick r:id="rId3"/>
                        </a:rPr>
                        <a:t>simulación</a:t>
                      </a:r>
                      <a:r>
                        <a:rPr lang="es-CO" sz="1600" b="1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/>
                        <a:t>Salida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512179"/>
                  </a:ext>
                </a:extLst>
              </a:tr>
              <a:tr h="693311"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for nota in notas:</a:t>
                      </a:r>
                      <a:br>
                        <a:rPr lang="es-CO" sz="1200" dirty="0">
                          <a:latin typeface="Consolas" panose="020B0609020204030204" pitchFamily="49" charset="0"/>
                        </a:rPr>
                      </a:br>
                      <a:r>
                        <a:rPr lang="es-CO" sz="1200" dirty="0">
                          <a:latin typeface="Consolas" panose="020B0609020204030204" pitchFamily="49" charset="0"/>
                        </a:rPr>
                        <a:t>  print("Nota:", nota)</a:t>
                      </a:r>
                    </a:p>
                    <a:p>
                      <a:endParaRPr lang="es-CO" sz="1200" dirty="0">
                        <a:latin typeface="Consolas" panose="020B0609020204030204" pitchFamily="49" charset="0"/>
                      </a:endParaRPr>
                    </a:p>
                    <a:p>
                      <a:endParaRPr lang="es-CO" sz="12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Consolas" panose="020B0609020204030204" pitchFamily="49" charset="0"/>
                        </a:rPr>
                        <a:t>Nota: 3.0</a:t>
                      </a:r>
                      <a:br>
                        <a:rPr lang="it-IT" sz="1200" dirty="0">
                          <a:latin typeface="Consolas" panose="020B0609020204030204" pitchFamily="49" charset="0"/>
                        </a:rPr>
                      </a:br>
                      <a:r>
                        <a:rPr lang="it-IT" sz="1200" dirty="0">
                          <a:latin typeface="Consolas" panose="020B0609020204030204" pitchFamily="49" charset="0"/>
                        </a:rPr>
                        <a:t>Nota: 4.5</a:t>
                      </a:r>
                      <a:br>
                        <a:rPr lang="it-IT" sz="1200" dirty="0">
                          <a:latin typeface="Consolas" panose="020B0609020204030204" pitchFamily="49" charset="0"/>
                        </a:rPr>
                      </a:br>
                      <a:r>
                        <a:rPr lang="it-IT" sz="1200" dirty="0">
                          <a:latin typeface="Consolas" panose="020B0609020204030204" pitchFamily="49" charset="0"/>
                        </a:rPr>
                        <a:t>Nota: 2.0</a:t>
                      </a:r>
                      <a:br>
                        <a:rPr lang="it-IT" sz="1200" dirty="0">
                          <a:latin typeface="Consolas" panose="020B0609020204030204" pitchFamily="49" charset="0"/>
                        </a:rPr>
                      </a:br>
                      <a:r>
                        <a:rPr lang="it-IT" sz="1200" dirty="0">
                          <a:latin typeface="Consolas" panose="020B0609020204030204" pitchFamily="49" charset="0"/>
                        </a:rPr>
                        <a:t>Nota: 4.0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514826"/>
                  </a:ext>
                </a:extLst>
              </a:tr>
            </a:tbl>
          </a:graphicData>
        </a:graphic>
      </p:graphicFrame>
      <p:sp>
        <p:nvSpPr>
          <p:cNvPr id="11" name="12 Rectángulo">
            <a:extLst>
              <a:ext uri="{FF2B5EF4-FFF2-40B4-BE49-F238E27FC236}">
                <a16:creationId xmlns:a16="http://schemas.microsoft.com/office/drawing/2014/main" id="{06B5EDC1-33D3-4CA5-9545-FDC4BA042319}"/>
              </a:ext>
            </a:extLst>
          </p:cNvPr>
          <p:cNvSpPr/>
          <p:nvPr/>
        </p:nvSpPr>
        <p:spPr>
          <a:xfrm>
            <a:off x="251520" y="5120605"/>
            <a:ext cx="871476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Comparación: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Caso 1</a:t>
            </a:r>
            <a:r>
              <a:rPr lang="es-MX" sz="2000" dirty="0"/>
              <a:t>:</a:t>
            </a:r>
            <a:r>
              <a:rPr lang="es-MX" sz="2000" b="1" dirty="0"/>
              <a:t> </a:t>
            </a:r>
            <a:r>
              <a:rPr lang="es-MX" sz="2000" dirty="0"/>
              <a:t>se conoce la posición </a:t>
            </a:r>
            <a:r>
              <a:rPr lang="es-MX" b="1" dirty="0">
                <a:latin typeface="Consolas" panose="020B0609020204030204" pitchFamily="49" charset="0"/>
              </a:rPr>
              <a:t>i</a:t>
            </a:r>
            <a:r>
              <a:rPr lang="es-MX" sz="2000" dirty="0"/>
              <a:t>. Sirve para leer, modificar y saber dónde está cada dato.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Caso 2</a:t>
            </a:r>
            <a:r>
              <a:rPr lang="es-MX" sz="2000" dirty="0"/>
              <a:t>:</a:t>
            </a:r>
            <a:r>
              <a:rPr lang="es-MX" sz="2000" b="1" dirty="0"/>
              <a:t> </a:t>
            </a:r>
            <a:r>
              <a:rPr lang="es-MX" sz="2000" dirty="0"/>
              <a:t>se recibe cada valor directamente. Es más corto, pero no da la posición y solo sirve para leer los valores.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418853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8714761" cy="710952"/>
          </a:xfrm>
        </p:spPr>
        <p:txBody>
          <a:bodyPr>
            <a:normAutofit/>
          </a:bodyPr>
          <a:lstStyle/>
          <a:p>
            <a:r>
              <a:rPr lang="es-CO" dirty="0"/>
              <a:t>Recorrer y acumular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39908" y="692696"/>
            <a:ext cx="86085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i="1" dirty="0"/>
              <a:t>Recorrer</a:t>
            </a:r>
            <a:r>
              <a:rPr lang="es-MX" sz="2000" dirty="0"/>
              <a:t> un arreglo es visitar sus casillas una por una. En este caso, dentro del recorrido se realizó la actualización de un acumulador (</a:t>
            </a:r>
            <a:r>
              <a:rPr lang="es-MX" b="1" dirty="0">
                <a:latin typeface="Consolas" panose="020B0609020204030204" pitchFamily="49" charset="0"/>
              </a:rPr>
              <a:t>suma</a:t>
            </a:r>
            <a:r>
              <a:rPr lang="es-MX" sz="2000" dirty="0"/>
              <a:t>).</a:t>
            </a:r>
            <a:endParaRPr lang="es-MX" sz="2000" b="1" dirty="0"/>
          </a:p>
        </p:txBody>
      </p:sp>
      <p:sp>
        <p:nvSpPr>
          <p:cNvPr id="11" name="12 Rectángulo">
            <a:extLst>
              <a:ext uri="{FF2B5EF4-FFF2-40B4-BE49-F238E27FC236}">
                <a16:creationId xmlns:a16="http://schemas.microsoft.com/office/drawing/2014/main" id="{06B5EDC1-33D3-4CA5-9545-FDC4BA042319}"/>
              </a:ext>
            </a:extLst>
          </p:cNvPr>
          <p:cNvSpPr/>
          <p:nvPr/>
        </p:nvSpPr>
        <p:spPr>
          <a:xfrm>
            <a:off x="161534" y="3429000"/>
            <a:ext cx="28125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Prueba de escritorio</a:t>
            </a:r>
            <a:r>
              <a:rPr lang="es-MX" sz="2000" dirty="0"/>
              <a:t>: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207152C-2A19-4E17-91E2-F23F543C1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53294"/>
              </p:ext>
            </p:extLst>
          </p:nvPr>
        </p:nvGraphicFramePr>
        <p:xfrm>
          <a:off x="645740" y="1484784"/>
          <a:ext cx="7886700" cy="192024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4089834255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0244696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b="1" dirty="0"/>
                        <a:t>Pseudocódigo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Python (</a:t>
                      </a:r>
                      <a:r>
                        <a:rPr lang="es-CO" b="1" dirty="0">
                          <a:hlinkClick r:id="rId2"/>
                        </a:rPr>
                        <a:t>simulación</a:t>
                      </a:r>
                      <a:r>
                        <a:rPr lang="es-CO" b="1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425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notas = [3.0, 4.5, 2.0, 4.0]</a:t>
                      </a:r>
                      <a:br>
                        <a:rPr lang="es-CO" sz="1200" dirty="0">
                          <a:latin typeface="Consolas" panose="020B0609020204030204" pitchFamily="49" charset="0"/>
                        </a:rPr>
                      </a:br>
                      <a:r>
                        <a:rPr lang="es-CO" sz="1200" dirty="0">
                          <a:latin typeface="Consolas" panose="020B0609020204030204" pitchFamily="49" charset="0"/>
                        </a:rPr>
                        <a:t>N = 4</a:t>
                      </a:r>
                      <a:br>
                        <a:rPr lang="es-CO" sz="1200" dirty="0">
                          <a:latin typeface="Consolas" panose="020B0609020204030204" pitchFamily="49" charset="0"/>
                        </a:rPr>
                      </a:br>
                      <a:r>
                        <a:rPr lang="es-CO" sz="1200" dirty="0">
                          <a:latin typeface="Consolas" panose="020B0609020204030204" pitchFamily="49" charset="0"/>
                        </a:rPr>
                        <a:t>suma = 0</a:t>
                      </a:r>
                      <a:br>
                        <a:rPr lang="es-CO" sz="1200" dirty="0">
                          <a:latin typeface="Consolas" panose="020B0609020204030204" pitchFamily="49" charset="0"/>
                        </a:rPr>
                      </a:br>
                      <a:r>
                        <a:rPr lang="es-CO" sz="1200" dirty="0">
                          <a:latin typeface="Consolas" panose="020B0609020204030204" pitchFamily="49" charset="0"/>
                        </a:rPr>
                        <a:t>Para (i = 0, N - 1, 1) Haga</a:t>
                      </a:r>
                      <a:br>
                        <a:rPr lang="es-CO" sz="1200" dirty="0">
                          <a:latin typeface="Consolas" panose="020B0609020204030204" pitchFamily="49" charset="0"/>
                        </a:rPr>
                      </a:br>
                      <a:r>
                        <a:rPr lang="es-CO" sz="1200" dirty="0">
                          <a:latin typeface="Consolas" panose="020B0609020204030204" pitchFamily="49" charset="0"/>
                        </a:rPr>
                        <a:t>  suma = suma + notas[i]</a:t>
                      </a:r>
                      <a:br>
                        <a:rPr lang="es-CO" sz="1200" dirty="0">
                          <a:latin typeface="Consolas" panose="020B0609020204030204" pitchFamily="49" charset="0"/>
                        </a:rPr>
                      </a:br>
                      <a:r>
                        <a:rPr lang="es-CO" sz="1200" dirty="0">
                          <a:latin typeface="Consolas" panose="020B0609020204030204" pitchFamily="49" charset="0"/>
                        </a:rPr>
                        <a:t>Fin_Para</a:t>
                      </a:r>
                      <a:br>
                        <a:rPr lang="es-CO" sz="1200" dirty="0">
                          <a:latin typeface="Consolas" panose="020B0609020204030204" pitchFamily="49" charset="0"/>
                        </a:rPr>
                      </a:br>
                      <a:r>
                        <a:rPr lang="es-CO" sz="1200" dirty="0">
                          <a:latin typeface="Consolas" panose="020B0609020204030204" pitchFamily="49" charset="0"/>
                        </a:rPr>
                        <a:t>promedio = suma / N</a:t>
                      </a:r>
                      <a:br>
                        <a:rPr lang="es-CO" sz="1200" dirty="0">
                          <a:latin typeface="Consolas" panose="020B0609020204030204" pitchFamily="49" charset="0"/>
                        </a:rPr>
                      </a:br>
                      <a:r>
                        <a:rPr lang="es-CO" sz="1200" dirty="0">
                          <a:latin typeface="Consolas" panose="020B0609020204030204" pitchFamily="49" charset="0"/>
                        </a:rPr>
                        <a:t>Escribir("Promedio: ", promedio)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Consolas" panose="020B0609020204030204" pitchFamily="49" charset="0"/>
                        </a:rPr>
                        <a:t>notas = [3.0, 4.5, 2.0, 4.0]</a:t>
                      </a:r>
                      <a:br>
                        <a:rPr lang="pt-BR" sz="1200" dirty="0">
                          <a:latin typeface="Consolas" panose="020B0609020204030204" pitchFamily="49" charset="0"/>
                        </a:rPr>
                      </a:br>
                      <a:r>
                        <a:rPr lang="pt-BR" sz="1200" dirty="0">
                          <a:latin typeface="Consolas" panose="020B0609020204030204" pitchFamily="49" charset="0"/>
                        </a:rPr>
                        <a:t>N = 4</a:t>
                      </a:r>
                      <a:br>
                        <a:rPr lang="pt-BR" sz="1200" dirty="0">
                          <a:latin typeface="Consolas" panose="020B0609020204030204" pitchFamily="49" charset="0"/>
                        </a:rPr>
                      </a:br>
                      <a:r>
                        <a:rPr lang="pt-BR" sz="1200" dirty="0">
                          <a:latin typeface="Consolas" panose="020B0609020204030204" pitchFamily="49" charset="0"/>
                        </a:rPr>
                        <a:t>suma = 0</a:t>
                      </a:r>
                      <a:br>
                        <a:rPr lang="pt-BR" sz="1200" dirty="0">
                          <a:latin typeface="Consolas" panose="020B0609020204030204" pitchFamily="49" charset="0"/>
                        </a:rPr>
                      </a:br>
                      <a:r>
                        <a:rPr lang="pt-BR" sz="1200" dirty="0">
                          <a:latin typeface="Consolas" panose="020B0609020204030204" pitchFamily="49" charset="0"/>
                        </a:rPr>
                        <a:t>for i in range(N):</a:t>
                      </a:r>
                      <a:br>
                        <a:rPr lang="pt-BR" sz="1200" dirty="0">
                          <a:latin typeface="Consolas" panose="020B0609020204030204" pitchFamily="49" charset="0"/>
                        </a:rPr>
                      </a:br>
                      <a:r>
                        <a:rPr lang="pt-BR" sz="1200" dirty="0">
                          <a:latin typeface="Consolas" panose="020B0609020204030204" pitchFamily="49" charset="0"/>
                        </a:rPr>
                        <a:t>  suma = suma + notas[i]</a:t>
                      </a:r>
                      <a:br>
                        <a:rPr lang="pt-BR" sz="1200" dirty="0">
                          <a:latin typeface="Consolas" panose="020B0609020204030204" pitchFamily="49" charset="0"/>
                        </a:rPr>
                      </a:br>
                      <a:r>
                        <a:rPr lang="pt-BR" sz="1200" dirty="0" err="1">
                          <a:latin typeface="Consolas" panose="020B0609020204030204" pitchFamily="49" charset="0"/>
                        </a:rPr>
                        <a:t>promedio</a:t>
                      </a:r>
                      <a:r>
                        <a:rPr lang="pt-BR" sz="1200" dirty="0">
                          <a:latin typeface="Consolas" panose="020B0609020204030204" pitchFamily="49" charset="0"/>
                        </a:rPr>
                        <a:t> = suma / N</a:t>
                      </a:r>
                      <a:br>
                        <a:rPr lang="pt-BR" sz="1200" dirty="0">
                          <a:latin typeface="Consolas" panose="020B0609020204030204" pitchFamily="49" charset="0"/>
                        </a:rPr>
                      </a:br>
                      <a:r>
                        <a:rPr lang="pt-BR" sz="1200" dirty="0">
                          <a:latin typeface="Consolas" panose="020B0609020204030204" pitchFamily="49" charset="0"/>
                        </a:rPr>
                        <a:t>print(</a:t>
                      </a:r>
                      <a:r>
                        <a:rPr lang="pt-BR" sz="1200" dirty="0" err="1">
                          <a:latin typeface="Consolas" panose="020B0609020204030204" pitchFamily="49" charset="0"/>
                        </a:rPr>
                        <a:t>f"Promedio</a:t>
                      </a:r>
                      <a:r>
                        <a:rPr lang="pt-BR" sz="1200" dirty="0">
                          <a:latin typeface="Consolas" panose="020B0609020204030204" pitchFamily="49" charset="0"/>
                        </a:rPr>
                        <a:t>: {promedio:.2f}")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9256533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0E15588-1573-4467-B9C3-F09CE980A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448114"/>
              </p:ext>
            </p:extLst>
          </p:nvPr>
        </p:nvGraphicFramePr>
        <p:xfrm>
          <a:off x="755576" y="3865592"/>
          <a:ext cx="3247235" cy="2011680"/>
        </p:xfrm>
        <a:graphic>
          <a:graphicData uri="http://schemas.openxmlformats.org/drawingml/2006/table">
            <a:tbl>
              <a:tblPr/>
              <a:tblGrid>
                <a:gridCol w="1032115">
                  <a:extLst>
                    <a:ext uri="{9D8B030D-6E8A-4147-A177-3AD203B41FA5}">
                      <a16:colId xmlns:a16="http://schemas.microsoft.com/office/drawing/2014/main" val="747689366"/>
                    </a:ext>
                  </a:extLst>
                </a:gridCol>
                <a:gridCol w="1183005">
                  <a:extLst>
                    <a:ext uri="{9D8B030D-6E8A-4147-A177-3AD203B41FA5}">
                      <a16:colId xmlns:a16="http://schemas.microsoft.com/office/drawing/2014/main" val="3374178539"/>
                    </a:ext>
                  </a:extLst>
                </a:gridCol>
                <a:gridCol w="1032115">
                  <a:extLst>
                    <a:ext uri="{9D8B030D-6E8A-4147-A177-3AD203B41FA5}">
                      <a16:colId xmlns:a16="http://schemas.microsoft.com/office/drawing/2014/main" val="39709098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Consolas" panose="020B0609020204030204" pitchFamily="49" charset="0"/>
                        </a:rPr>
                        <a:t>i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Consolas" panose="020B0609020204030204" pitchFamily="49" charset="0"/>
                        </a:rPr>
                        <a:t>notas[i]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Consolas" panose="020B0609020204030204" pitchFamily="49" charset="0"/>
                        </a:rPr>
                        <a:t>suma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5953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757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3.0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3.0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567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4.5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7.5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268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9.5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48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4.0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13.5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1811924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4834FABB-41BB-4F30-A046-4197CBABA302}"/>
              </a:ext>
            </a:extLst>
          </p:cNvPr>
          <p:cNvSpPr txBox="1"/>
          <p:nvPr/>
        </p:nvSpPr>
        <p:spPr>
          <a:xfrm>
            <a:off x="0" y="5962054"/>
            <a:ext cx="9143999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b="1" dirty="0"/>
              <a:t>Idea clave:</a:t>
            </a:r>
            <a:r>
              <a:rPr lang="es-MX" dirty="0"/>
              <a:t> Como las notas quedan en el arreglo, después de calcular el promedio se pueden volver a recorrer. Eso era lo que faltaba para resolver el problema de la clase 10 (determinar cuántas notas son mayores que el promedio).</a:t>
            </a:r>
            <a:endParaRPr lang="es-CO" dirty="0"/>
          </a:p>
        </p:txBody>
      </p:sp>
      <p:sp>
        <p:nvSpPr>
          <p:cNvPr id="14" name="12 Rectángulo">
            <a:extLst>
              <a:ext uri="{FF2B5EF4-FFF2-40B4-BE49-F238E27FC236}">
                <a16:creationId xmlns:a16="http://schemas.microsoft.com/office/drawing/2014/main" id="{9BE09052-4001-4581-B10A-29607BACC821}"/>
              </a:ext>
            </a:extLst>
          </p:cNvPr>
          <p:cNvSpPr/>
          <p:nvPr/>
        </p:nvSpPr>
        <p:spPr>
          <a:xfrm>
            <a:off x="4444186" y="4021389"/>
            <a:ext cx="28125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Salida</a:t>
            </a:r>
            <a:r>
              <a:rPr lang="es-MX" sz="2000" dirty="0"/>
              <a:t>: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A9C4231-A67A-43E7-9C51-343AD8A1703E}"/>
              </a:ext>
            </a:extLst>
          </p:cNvPr>
          <p:cNvSpPr txBox="1"/>
          <p:nvPr/>
        </p:nvSpPr>
        <p:spPr>
          <a:xfrm>
            <a:off x="4552682" y="4571836"/>
            <a:ext cx="397975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>
                <a:latin typeface="Consolas" panose="020B0609020204030204" pitchFamily="49" charset="0"/>
              </a:rPr>
              <a:t>Promedio: 3.38</a:t>
            </a:r>
          </a:p>
        </p:txBody>
      </p:sp>
    </p:spTree>
    <p:extLst>
      <p:ext uri="{BB962C8B-B14F-4D97-AF65-F5344CB8AC3E}">
        <p14:creationId xmlns:p14="http://schemas.microsoft.com/office/powerpoint/2010/main" val="7701489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720452"/>
          </a:xfrm>
        </p:spPr>
        <p:txBody>
          <a:bodyPr>
            <a:noAutofit/>
          </a:bodyPr>
          <a:lstStyle/>
          <a:p>
            <a:r>
              <a:rPr lang="es-MX" sz="3600" dirty="0"/>
              <a:t>Cuidado con salirse del arreglo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125760" y="821025"/>
            <a:ext cx="889248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Antes y después</a:t>
            </a:r>
            <a:r>
              <a:rPr lang="es-MX" sz="2000" dirty="0"/>
              <a:t>: el mismo programa, mejor escrito.</a:t>
            </a:r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b="1" dirty="0"/>
          </a:p>
          <a:p>
            <a:pPr rtl="0"/>
            <a:r>
              <a:rPr lang="es-MX" sz="2000" b="1" dirty="0"/>
              <a:t>Salida en pantalla</a:t>
            </a:r>
            <a:r>
              <a:rPr lang="es-MX" sz="2000" dirty="0"/>
              <a:t>:</a:t>
            </a:r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MX" sz="2000" dirty="0"/>
              <a:t>Las posiciones válidas son </a:t>
            </a:r>
            <a:r>
              <a:rPr lang="es-MX" b="1" dirty="0">
                <a:latin typeface="Consolas" panose="020B0609020204030204" pitchFamily="49" charset="0"/>
              </a:rPr>
              <a:t>0</a:t>
            </a:r>
            <a:r>
              <a:rPr lang="es-MX" sz="2000" dirty="0"/>
              <a:t>, </a:t>
            </a:r>
            <a:r>
              <a:rPr lang="es-MX" b="1" dirty="0">
                <a:latin typeface="Consolas" panose="020B0609020204030204" pitchFamily="49" charset="0"/>
              </a:rPr>
              <a:t>1</a:t>
            </a:r>
            <a:r>
              <a:rPr lang="es-MX" sz="2000" dirty="0"/>
              <a:t>, </a:t>
            </a:r>
            <a:r>
              <a:rPr lang="es-MX" b="1" dirty="0">
                <a:latin typeface="Consolas" panose="020B0609020204030204" pitchFamily="49" charset="0"/>
              </a:rPr>
              <a:t>2</a:t>
            </a:r>
            <a:r>
              <a:rPr lang="es-MX" sz="2000" dirty="0"/>
              <a:t>, </a:t>
            </a:r>
            <a:r>
              <a:rPr lang="es-MX" b="1" dirty="0">
                <a:latin typeface="Consolas" panose="020B0609020204030204" pitchFamily="49" charset="0"/>
              </a:rPr>
              <a:t>3</a:t>
            </a:r>
            <a:r>
              <a:rPr lang="es-MX" sz="2000" dirty="0"/>
              <a:t>. En la última vuelta </a:t>
            </a:r>
            <a:r>
              <a:rPr lang="es-MX" b="1" dirty="0">
                <a:latin typeface="Consolas" panose="020B0609020204030204" pitchFamily="49" charset="0"/>
              </a:rPr>
              <a:t>i</a:t>
            </a:r>
            <a:r>
              <a:rPr lang="es-MX" sz="2000" dirty="0"/>
              <a:t> vale </a:t>
            </a:r>
            <a:r>
              <a:rPr lang="es-MX" b="1" dirty="0">
                <a:latin typeface="Consolas" panose="020B0609020204030204" pitchFamily="49" charset="0"/>
              </a:rPr>
              <a:t>4</a:t>
            </a:r>
            <a:r>
              <a:rPr lang="es-MX" sz="2000" dirty="0"/>
              <a:t>, y </a:t>
            </a:r>
            <a:r>
              <a:rPr lang="es-MX" b="1" dirty="0">
                <a:latin typeface="Consolas" panose="020B0609020204030204" pitchFamily="49" charset="0"/>
              </a:rPr>
              <a:t>notas[4]</a:t>
            </a:r>
            <a:r>
              <a:rPr lang="es-MX" sz="2000" dirty="0"/>
              <a:t> no existe.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MX" sz="2000" dirty="0"/>
              <a:t>Las primeras cuatro notas se muestran bien y el error aparece al final. </a:t>
            </a:r>
            <a:endParaRPr lang="es-MX" sz="24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8CA3F79-1F31-48C7-A52E-B6AB3137784F}"/>
              </a:ext>
            </a:extLst>
          </p:cNvPr>
          <p:cNvSpPr txBox="1"/>
          <p:nvPr/>
        </p:nvSpPr>
        <p:spPr>
          <a:xfrm>
            <a:off x="27709" y="6177498"/>
            <a:ext cx="9088582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sz="2000" b="1" dirty="0"/>
              <a:t>Importante</a:t>
            </a:r>
            <a:r>
              <a:rPr lang="es-MX" sz="2000" dirty="0"/>
              <a:t>: Un recorrido completo va de </a:t>
            </a:r>
            <a:r>
              <a:rPr lang="es-MX" b="1" dirty="0">
                <a:latin typeface="Consolas" panose="020B0609020204030204" pitchFamily="49" charset="0"/>
              </a:rPr>
              <a:t>0</a:t>
            </a:r>
            <a:r>
              <a:rPr lang="es-MX" sz="2000" dirty="0"/>
              <a:t> a </a:t>
            </a:r>
            <a:r>
              <a:rPr lang="es-MX" b="1" dirty="0">
                <a:latin typeface="Consolas" panose="020B0609020204030204" pitchFamily="49" charset="0"/>
              </a:rPr>
              <a:t>N - 1</a:t>
            </a:r>
            <a:r>
              <a:rPr lang="es-MX" sz="2000" dirty="0"/>
              <a:t>. El error típico es ir hasta </a:t>
            </a:r>
            <a:r>
              <a:rPr lang="es-MX" b="1" dirty="0">
                <a:latin typeface="Consolas" panose="020B0609020204030204" pitchFamily="49" charset="0"/>
              </a:rPr>
              <a:t>N</a:t>
            </a:r>
            <a:r>
              <a:rPr lang="es-MX" sz="2000" dirty="0"/>
              <a:t>: </a:t>
            </a:r>
            <a:r>
              <a:rPr lang="es-MX" b="1" dirty="0">
                <a:latin typeface="Consolas" panose="020B0609020204030204" pitchFamily="49" charset="0"/>
              </a:rPr>
              <a:t>range(N + 1)</a:t>
            </a:r>
            <a:r>
              <a:rPr lang="es-MX" sz="2000" dirty="0"/>
              <a:t> o </a:t>
            </a:r>
            <a:r>
              <a:rPr lang="es-MX" b="1" dirty="0">
                <a:latin typeface="Consolas" panose="020B0609020204030204" pitchFamily="49" charset="0"/>
              </a:rPr>
              <a:t>Para (i = 0, N, 1)</a:t>
            </a:r>
            <a:endParaRPr lang="es-CO" sz="2000" b="1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6CFE38D-7F46-47C5-88EB-AFAA046DD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221097"/>
              </p:ext>
            </p:extLst>
          </p:nvPr>
        </p:nvGraphicFramePr>
        <p:xfrm>
          <a:off x="628650" y="1392560"/>
          <a:ext cx="7886700" cy="167640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1941522935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2981016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Pseudocódigo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Python (</a:t>
                      </a:r>
                      <a:r>
                        <a:rPr lang="es-CO" b="1" dirty="0">
                          <a:hlinkClick r:id="rId2"/>
                        </a:rPr>
                        <a:t>simulación</a:t>
                      </a:r>
                      <a:r>
                        <a:rPr lang="es-CO" b="1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327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notas = [3.0, 4.5, 2.0, 4.0]</a:t>
                      </a:r>
                      <a:br>
                        <a:rPr lang="es-CO" sz="1600" dirty="0">
                          <a:latin typeface="Consolas" panose="020B0609020204030204" pitchFamily="49" charset="0"/>
                        </a:rPr>
                      </a:br>
                      <a:r>
                        <a:rPr lang="es-CO" sz="1600" dirty="0">
                          <a:latin typeface="Consolas" panose="020B0609020204030204" pitchFamily="49" charset="0"/>
                        </a:rPr>
                        <a:t>N = 4</a:t>
                      </a:r>
                      <a:br>
                        <a:rPr lang="es-CO" sz="1600" dirty="0">
                          <a:latin typeface="Consolas" panose="020B0609020204030204" pitchFamily="49" charset="0"/>
                        </a:rPr>
                      </a:br>
                      <a:r>
                        <a:rPr lang="es-CO" sz="1600" dirty="0">
                          <a:latin typeface="Consolas" panose="020B0609020204030204" pitchFamily="49" charset="0"/>
                        </a:rPr>
                        <a:t>Para (i = 0, N, 1) Haga</a:t>
                      </a:r>
                      <a:br>
                        <a:rPr lang="es-CO" sz="1600" dirty="0">
                          <a:latin typeface="Consolas" panose="020B0609020204030204" pitchFamily="49" charset="0"/>
                        </a:rPr>
                      </a:br>
                      <a:r>
                        <a:rPr lang="es-CO" sz="1600" dirty="0">
                          <a:latin typeface="Consolas" panose="020B0609020204030204" pitchFamily="49" charset="0"/>
                        </a:rPr>
                        <a:t>  Escribir(notas[i])</a:t>
                      </a:r>
                      <a:br>
                        <a:rPr lang="es-CO" sz="1600" dirty="0">
                          <a:latin typeface="Consolas" panose="020B0609020204030204" pitchFamily="49" charset="0"/>
                        </a:rPr>
                      </a:br>
                      <a:r>
                        <a:rPr lang="es-CO" sz="1600" dirty="0">
                          <a:latin typeface="Consolas" panose="020B0609020204030204" pitchFamily="49" charset="0"/>
                        </a:rPr>
                        <a:t>Fin_Para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notas = [3.0, 4.5, 2.0, 4.0]</a:t>
                      </a:r>
                      <a:br>
                        <a:rPr lang="es-CO" sz="1600" dirty="0">
                          <a:latin typeface="Consolas" panose="020B0609020204030204" pitchFamily="49" charset="0"/>
                        </a:rPr>
                      </a:br>
                      <a:r>
                        <a:rPr lang="es-CO" sz="1600" dirty="0">
                          <a:latin typeface="Consolas" panose="020B0609020204030204" pitchFamily="49" charset="0"/>
                        </a:rPr>
                        <a:t>N = 4</a:t>
                      </a:r>
                      <a:br>
                        <a:rPr lang="es-CO" sz="1600" dirty="0">
                          <a:latin typeface="Consolas" panose="020B0609020204030204" pitchFamily="49" charset="0"/>
                        </a:rPr>
                      </a:br>
                      <a:r>
                        <a:rPr lang="es-CO" sz="1600" dirty="0">
                          <a:latin typeface="Consolas" panose="020B0609020204030204" pitchFamily="49" charset="0"/>
                        </a:rPr>
                        <a:t>for i in range(N + 1):</a:t>
                      </a:r>
                      <a:br>
                        <a:rPr lang="es-CO" sz="1600" dirty="0">
                          <a:latin typeface="Consolas" panose="020B0609020204030204" pitchFamily="49" charset="0"/>
                        </a:rPr>
                      </a:br>
                      <a:r>
                        <a:rPr lang="es-CO" sz="1600" dirty="0">
                          <a:latin typeface="Consolas" panose="020B0609020204030204" pitchFamily="49" charset="0"/>
                        </a:rPr>
                        <a:t>  print(notas[i])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293713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F49894BC-3710-4D16-8AF0-8D70E7CD084F}"/>
              </a:ext>
            </a:extLst>
          </p:cNvPr>
          <p:cNvSpPr txBox="1"/>
          <p:nvPr/>
        </p:nvSpPr>
        <p:spPr>
          <a:xfrm>
            <a:off x="2152983" y="3717032"/>
            <a:ext cx="4579257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600" dirty="0">
                <a:latin typeface="Consolas" panose="020B0609020204030204" pitchFamily="49" charset="0"/>
              </a:rPr>
              <a:t>3.0</a:t>
            </a:r>
          </a:p>
          <a:p>
            <a:r>
              <a:rPr lang="es-CO" sz="1600" dirty="0">
                <a:latin typeface="Consolas" panose="020B0609020204030204" pitchFamily="49" charset="0"/>
              </a:rPr>
              <a:t>4.5</a:t>
            </a:r>
          </a:p>
          <a:p>
            <a:r>
              <a:rPr lang="es-CO" sz="1600" dirty="0">
                <a:latin typeface="Consolas" panose="020B0609020204030204" pitchFamily="49" charset="0"/>
              </a:rPr>
              <a:t>2.0</a:t>
            </a:r>
          </a:p>
          <a:p>
            <a:r>
              <a:rPr lang="es-CO" sz="1600" dirty="0">
                <a:latin typeface="Consolas" panose="020B0609020204030204" pitchFamily="49" charset="0"/>
              </a:rPr>
              <a:t>4.0</a:t>
            </a:r>
          </a:p>
          <a:p>
            <a:r>
              <a:rPr lang="es-CO" sz="1600" dirty="0">
                <a:solidFill>
                  <a:srgbClr val="FF0000"/>
                </a:solidFill>
                <a:latin typeface="Consolas" panose="020B0609020204030204" pitchFamily="49" charset="0"/>
              </a:rPr>
              <a:t>IndexError: list index out of range</a:t>
            </a:r>
          </a:p>
        </p:txBody>
      </p:sp>
    </p:spTree>
    <p:extLst>
      <p:ext uri="{BB962C8B-B14F-4D97-AF65-F5344CB8AC3E}">
        <p14:creationId xmlns:p14="http://schemas.microsoft.com/office/powerpoint/2010/main" val="1481247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720452"/>
          </a:xfrm>
        </p:spPr>
        <p:txBody>
          <a:bodyPr>
            <a:noAutofit/>
          </a:bodyPr>
          <a:lstStyle/>
          <a:p>
            <a:r>
              <a:rPr lang="es-MX" sz="3600" dirty="0"/>
              <a:t>Otros recorridos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125760" y="821025"/>
            <a:ext cx="889248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CO" sz="2000" b="1" dirty="0"/>
              <a:t>Recorrido en orden inverso:</a:t>
            </a:r>
            <a:endParaRPr lang="es-MX" sz="2000" b="1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b="1" dirty="0"/>
          </a:p>
          <a:p>
            <a:pPr rtl="0"/>
            <a:r>
              <a:rPr lang="es-MX" sz="2000" b="1" dirty="0"/>
              <a:t>Salida en pantalla</a:t>
            </a:r>
            <a:r>
              <a:rPr lang="es-MX" sz="2000" dirty="0"/>
              <a:t>:</a:t>
            </a:r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8CA3F79-1F31-48C7-A52E-B6AB3137784F}"/>
              </a:ext>
            </a:extLst>
          </p:cNvPr>
          <p:cNvSpPr txBox="1"/>
          <p:nvPr/>
        </p:nvSpPr>
        <p:spPr>
          <a:xfrm>
            <a:off x="251520" y="5196621"/>
            <a:ext cx="8496944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sz="2000" b="1" dirty="0"/>
              <a:t>Cuidado</a:t>
            </a:r>
            <a:r>
              <a:rPr lang="es-MX" sz="2000" dirty="0"/>
              <a:t>: en Python el límite es </a:t>
            </a:r>
            <a:r>
              <a:rPr lang="es-MX" b="1" dirty="0">
                <a:latin typeface="Consolas" panose="020B0609020204030204" pitchFamily="49" charset="0"/>
              </a:rPr>
              <a:t>-1</a:t>
            </a:r>
            <a:r>
              <a:rPr lang="es-MX" sz="2000" dirty="0"/>
              <a:t> y no </a:t>
            </a:r>
            <a:r>
              <a:rPr lang="es-MX" b="1" dirty="0">
                <a:latin typeface="Consolas" panose="020B0609020204030204" pitchFamily="49" charset="0"/>
              </a:rPr>
              <a:t>0</a:t>
            </a:r>
            <a:r>
              <a:rPr lang="es-MX" sz="2000" dirty="0"/>
              <a:t>, porque range no incluye el final. Con </a:t>
            </a:r>
            <a:r>
              <a:rPr lang="es-MX" b="1" dirty="0">
                <a:latin typeface="Consolas" panose="020B0609020204030204" pitchFamily="49" charset="0"/>
              </a:rPr>
              <a:t>range(N - 1, 0, -1)</a:t>
            </a:r>
            <a:r>
              <a:rPr lang="es-MX" sz="2000" dirty="0"/>
              <a:t> el ciclo da </a:t>
            </a:r>
            <a:r>
              <a:rPr lang="es-MX" b="1" dirty="0">
                <a:latin typeface="Consolas" panose="020B0609020204030204" pitchFamily="49" charset="0"/>
              </a:rPr>
              <a:t>3</a:t>
            </a:r>
            <a:r>
              <a:rPr lang="es-MX" sz="2000" dirty="0"/>
              <a:t>, </a:t>
            </a:r>
            <a:r>
              <a:rPr lang="es-MX" b="1" dirty="0">
                <a:latin typeface="Consolas" panose="020B0609020204030204" pitchFamily="49" charset="0"/>
              </a:rPr>
              <a:t>2</a:t>
            </a:r>
            <a:r>
              <a:rPr lang="es-MX" sz="2000" dirty="0"/>
              <a:t>, </a:t>
            </a:r>
            <a:r>
              <a:rPr lang="es-MX" b="1" dirty="0">
                <a:latin typeface="Consolas" panose="020B0609020204030204" pitchFamily="49" charset="0"/>
              </a:rPr>
              <a:t>1</a:t>
            </a:r>
            <a:r>
              <a:rPr lang="es-MX" sz="2000" dirty="0"/>
              <a:t> y se salta la posición </a:t>
            </a:r>
            <a:r>
              <a:rPr lang="es-MX" b="1" dirty="0">
                <a:latin typeface="Consolas" panose="020B0609020204030204" pitchFamily="49" charset="0"/>
              </a:rPr>
              <a:t>0</a:t>
            </a:r>
            <a:r>
              <a:rPr lang="es-MX" sz="2000" dirty="0"/>
              <a:t> sin dar error.</a:t>
            </a:r>
            <a:endParaRPr lang="es-CO" sz="2000" dirty="0">
              <a:latin typeface="Consolas" panose="020B0609020204030204" pitchFamily="49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49894BC-3710-4D16-8AF0-8D70E7CD084F}"/>
              </a:ext>
            </a:extLst>
          </p:cNvPr>
          <p:cNvSpPr txBox="1"/>
          <p:nvPr/>
        </p:nvSpPr>
        <p:spPr>
          <a:xfrm>
            <a:off x="2224991" y="3575918"/>
            <a:ext cx="4579257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sz="1600" dirty="0">
                <a:latin typeface="Consolas" panose="020B0609020204030204" pitchFamily="49" charset="0"/>
              </a:rPr>
              <a:t>Posicion 3: 4.0</a:t>
            </a:r>
          </a:p>
          <a:p>
            <a:r>
              <a:rPr lang="es-MX" sz="1600" dirty="0">
                <a:latin typeface="Consolas" panose="020B0609020204030204" pitchFamily="49" charset="0"/>
              </a:rPr>
              <a:t>Posicion 2: 2.0</a:t>
            </a:r>
          </a:p>
          <a:p>
            <a:r>
              <a:rPr lang="es-MX" sz="1600" dirty="0">
                <a:latin typeface="Consolas" panose="020B0609020204030204" pitchFamily="49" charset="0"/>
              </a:rPr>
              <a:t>Posicion 1: 4.5</a:t>
            </a:r>
          </a:p>
          <a:p>
            <a:r>
              <a:rPr lang="es-MX" sz="1600" dirty="0">
                <a:latin typeface="Consolas" panose="020B0609020204030204" pitchFamily="49" charset="0"/>
              </a:rPr>
              <a:t>Posicion 0: 3.0</a:t>
            </a:r>
            <a:endParaRPr lang="es-CO" sz="16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2744FA2-2147-45B8-9DA0-5A9568276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000678"/>
              </p:ext>
            </p:extLst>
          </p:nvPr>
        </p:nvGraphicFramePr>
        <p:xfrm>
          <a:off x="389959" y="1307436"/>
          <a:ext cx="8358505" cy="1524000"/>
        </p:xfrm>
        <a:graphic>
          <a:graphicData uri="http://schemas.openxmlformats.org/drawingml/2006/table">
            <a:tbl>
              <a:tblPr/>
              <a:tblGrid>
                <a:gridCol w="4415155">
                  <a:extLst>
                    <a:ext uri="{9D8B030D-6E8A-4147-A177-3AD203B41FA5}">
                      <a16:colId xmlns:a16="http://schemas.microsoft.com/office/drawing/2014/main" val="2897229085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068365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b="1" dirty="0"/>
                        <a:t>Pseudocódigo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Python (</a:t>
                      </a:r>
                      <a:r>
                        <a:rPr lang="es-CO" b="1" dirty="0">
                          <a:hlinkClick r:id="rId2"/>
                        </a:rPr>
                        <a:t>simulación</a:t>
                      </a:r>
                      <a:r>
                        <a:rPr lang="es-CO" b="1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854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notas = [3.0, 4.5, 2.0, 4.0]</a:t>
                      </a:r>
                      <a:br>
                        <a:rPr lang="es-CO" sz="1400" dirty="0">
                          <a:latin typeface="Consolas" panose="020B0609020204030204" pitchFamily="49" charset="0"/>
                        </a:rPr>
                      </a:br>
                      <a:r>
                        <a:rPr lang="es-CO" sz="1400" dirty="0">
                          <a:latin typeface="Consolas" panose="020B0609020204030204" pitchFamily="49" charset="0"/>
                        </a:rPr>
                        <a:t>N = 4</a:t>
                      </a:r>
                      <a:br>
                        <a:rPr lang="es-CO" sz="1400" dirty="0">
                          <a:latin typeface="Consolas" panose="020B0609020204030204" pitchFamily="49" charset="0"/>
                        </a:rPr>
                      </a:br>
                      <a:r>
                        <a:rPr lang="es-CO" sz="1400" dirty="0">
                          <a:latin typeface="Consolas" panose="020B0609020204030204" pitchFamily="49" charset="0"/>
                        </a:rPr>
                        <a:t>Para (i = N - 1, 0, -1) Haga</a:t>
                      </a:r>
                      <a:br>
                        <a:rPr lang="es-CO" sz="1400" dirty="0">
                          <a:latin typeface="Consolas" panose="020B0609020204030204" pitchFamily="49" charset="0"/>
                        </a:rPr>
                      </a:br>
                      <a:r>
                        <a:rPr lang="es-CO" sz="1400" dirty="0">
                          <a:latin typeface="Consolas" panose="020B0609020204030204" pitchFamily="49" charset="0"/>
                        </a:rPr>
                        <a:t>  Escribir("Posición ", i, ": ", notas[i])</a:t>
                      </a:r>
                      <a:br>
                        <a:rPr lang="es-CO" sz="1400" dirty="0">
                          <a:latin typeface="Consolas" panose="020B0609020204030204" pitchFamily="49" charset="0"/>
                        </a:rPr>
                      </a:br>
                      <a:r>
                        <a:rPr lang="es-CO" sz="1400" dirty="0">
                          <a:latin typeface="Consolas" panose="020B0609020204030204" pitchFamily="49" charset="0"/>
                        </a:rPr>
                        <a:t>Fin_Para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latin typeface="Consolas" panose="020B0609020204030204" pitchFamily="49" charset="0"/>
                        </a:rPr>
                        <a:t>notas = [3.0, 4.5, 2.0, 4.0]</a:t>
                      </a:r>
                      <a:br>
                        <a:rPr lang="pt-BR" sz="1400" dirty="0">
                          <a:latin typeface="Consolas" panose="020B0609020204030204" pitchFamily="49" charset="0"/>
                        </a:rPr>
                      </a:br>
                      <a:r>
                        <a:rPr lang="pt-BR" sz="1400" dirty="0">
                          <a:latin typeface="Consolas" panose="020B0609020204030204" pitchFamily="49" charset="0"/>
                        </a:rPr>
                        <a:t>N = 4</a:t>
                      </a:r>
                      <a:br>
                        <a:rPr lang="pt-BR" sz="1400" dirty="0">
                          <a:latin typeface="Consolas" panose="020B0609020204030204" pitchFamily="49" charset="0"/>
                        </a:rPr>
                      </a:br>
                      <a:r>
                        <a:rPr lang="pt-BR" sz="1400" dirty="0">
                          <a:latin typeface="Consolas" panose="020B0609020204030204" pitchFamily="49" charset="0"/>
                        </a:rPr>
                        <a:t>for i in range(N - 1, -1, -1):</a:t>
                      </a:r>
                      <a:br>
                        <a:rPr lang="pt-BR" sz="1400" dirty="0">
                          <a:latin typeface="Consolas" panose="020B0609020204030204" pitchFamily="49" charset="0"/>
                        </a:rPr>
                      </a:br>
                      <a:r>
                        <a:rPr lang="pt-BR" sz="1400" dirty="0">
                          <a:latin typeface="Consolas" panose="020B0609020204030204" pitchFamily="49" charset="0"/>
                        </a:rPr>
                        <a:t>  print(f"Posicion {i}: {notas[i]}")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487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8664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720452"/>
          </a:xfrm>
        </p:spPr>
        <p:txBody>
          <a:bodyPr>
            <a:noAutofit/>
          </a:bodyPr>
          <a:lstStyle/>
          <a:p>
            <a:r>
              <a:rPr lang="es-MX" sz="3600" dirty="0"/>
              <a:t>Otros recorridos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125760" y="821025"/>
            <a:ext cx="889248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Variantes del recorrido (solo cambian los valores de </a:t>
            </a:r>
            <a:r>
              <a:rPr lang="es-MX" b="1" dirty="0">
                <a:latin typeface="Consolas" panose="020B0609020204030204" pitchFamily="49" charset="0"/>
              </a:rPr>
              <a:t>i</a:t>
            </a:r>
            <a:r>
              <a:rPr lang="es-MX" sz="2000" b="1" dirty="0"/>
              <a:t>):</a:t>
            </a:r>
          </a:p>
          <a:p>
            <a:pPr rtl="0"/>
            <a:endParaRPr lang="es-CO" sz="2000" b="1" dirty="0"/>
          </a:p>
          <a:p>
            <a:pPr rtl="0"/>
            <a:endParaRPr lang="es-CO" sz="2000" b="1" dirty="0"/>
          </a:p>
          <a:p>
            <a:pPr rtl="0"/>
            <a:endParaRPr lang="es-CO" sz="2000" b="1" dirty="0"/>
          </a:p>
          <a:p>
            <a:pPr rtl="0"/>
            <a:endParaRPr lang="es-CO" sz="2000" b="1" dirty="0"/>
          </a:p>
          <a:p>
            <a:pPr rtl="0"/>
            <a:endParaRPr lang="es-CO" sz="2000" b="1" dirty="0"/>
          </a:p>
          <a:p>
            <a:pPr rtl="0"/>
            <a:endParaRPr lang="es-CO" sz="2000" b="1" dirty="0"/>
          </a:p>
          <a:p>
            <a:pPr rtl="0"/>
            <a:endParaRPr lang="es-CO" sz="2000" b="1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b="1" dirty="0"/>
          </a:p>
          <a:p>
            <a:pPr rtl="0"/>
            <a:r>
              <a:rPr lang="es-MX" sz="2000" b="1" dirty="0"/>
              <a:t>Hasta la penúltima</a:t>
            </a:r>
            <a:r>
              <a:rPr lang="es-MX" sz="2000" dirty="0"/>
              <a:t> sirve para comparar cada casilla con la siguiente (</a:t>
            </a:r>
            <a:r>
              <a:rPr lang="es-MX" dirty="0">
                <a:latin typeface="Consolas" panose="020B0609020204030204" pitchFamily="49" charset="0"/>
              </a:rPr>
              <a:t>notas[i]</a:t>
            </a:r>
            <a:r>
              <a:rPr lang="es-MX" sz="2000" dirty="0"/>
              <a:t> con </a:t>
            </a:r>
            <a:r>
              <a:rPr lang="es-MX" dirty="0">
                <a:latin typeface="Consolas" panose="020B0609020204030204" pitchFamily="49" charset="0"/>
              </a:rPr>
              <a:t>notas[i + 1]</a:t>
            </a:r>
            <a:r>
              <a:rPr lang="es-MX" sz="2000" dirty="0"/>
              <a:t>): así </a:t>
            </a:r>
            <a:r>
              <a:rPr lang="es-MX" dirty="0">
                <a:latin typeface="Consolas" panose="020B0609020204030204" pitchFamily="49" charset="0"/>
              </a:rPr>
              <a:t>i + 1</a:t>
            </a:r>
            <a:r>
              <a:rPr lang="es-MX" sz="2000" dirty="0"/>
              <a:t> nunca se sale del arreglo.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8CA3F79-1F31-48C7-A52E-B6AB3137784F}"/>
              </a:ext>
            </a:extLst>
          </p:cNvPr>
          <p:cNvSpPr txBox="1"/>
          <p:nvPr/>
        </p:nvSpPr>
        <p:spPr>
          <a:xfrm>
            <a:off x="251520" y="5589240"/>
            <a:ext cx="8496944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sz="2000" b="1" dirty="0"/>
              <a:t>Idea clave: </a:t>
            </a:r>
            <a:r>
              <a:rPr lang="es-MX" sz="2000" dirty="0"/>
              <a:t>Para cualquier recorrido hay que responder tres preguntas: desde dónde, hasta dónde y de a cuánto. Eso define </a:t>
            </a:r>
            <a:r>
              <a:rPr lang="es-MX" b="1" dirty="0">
                <a:latin typeface="Consolas" panose="020B0609020204030204" pitchFamily="49" charset="0"/>
              </a:rPr>
              <a:t>inicio</a:t>
            </a:r>
            <a:r>
              <a:rPr lang="es-MX" sz="2000" dirty="0"/>
              <a:t>, </a:t>
            </a:r>
            <a:r>
              <a:rPr lang="es-MX" b="1" dirty="0">
                <a:latin typeface="Consolas" panose="020B0609020204030204" pitchFamily="49" charset="0"/>
              </a:rPr>
              <a:t>fin</a:t>
            </a:r>
            <a:r>
              <a:rPr lang="es-MX" sz="2000" dirty="0"/>
              <a:t> y </a:t>
            </a:r>
            <a:r>
              <a:rPr lang="es-MX" b="1" dirty="0">
                <a:latin typeface="Consolas" panose="020B0609020204030204" pitchFamily="49" charset="0"/>
              </a:rPr>
              <a:t>paso</a:t>
            </a:r>
            <a:r>
              <a:rPr lang="es-MX" sz="2000" dirty="0"/>
              <a:t>.</a:t>
            </a:r>
            <a:endParaRPr lang="es-CO" sz="20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39509AB-DC1A-46A5-B9A1-315A791F66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218832"/>
              </p:ext>
            </p:extLst>
          </p:nvPr>
        </p:nvGraphicFramePr>
        <p:xfrm>
          <a:off x="251520" y="1389112"/>
          <a:ext cx="8372067" cy="3048000"/>
        </p:xfrm>
        <a:graphic>
          <a:graphicData uri="http://schemas.openxmlformats.org/drawingml/2006/table">
            <a:tbl>
              <a:tblPr/>
              <a:tblGrid>
                <a:gridCol w="1921490">
                  <a:extLst>
                    <a:ext uri="{9D8B030D-6E8A-4147-A177-3AD203B41FA5}">
                      <a16:colId xmlns:a16="http://schemas.microsoft.com/office/drawing/2014/main" val="1986676761"/>
                    </a:ext>
                  </a:extLst>
                </a:gridCol>
                <a:gridCol w="2538730">
                  <a:extLst>
                    <a:ext uri="{9D8B030D-6E8A-4147-A177-3AD203B41FA5}">
                      <a16:colId xmlns:a16="http://schemas.microsoft.com/office/drawing/2014/main" val="7852403"/>
                    </a:ext>
                  </a:extLst>
                </a:gridCol>
                <a:gridCol w="1949768">
                  <a:extLst>
                    <a:ext uri="{9D8B030D-6E8A-4147-A177-3AD203B41FA5}">
                      <a16:colId xmlns:a16="http://schemas.microsoft.com/office/drawing/2014/main" val="4074616702"/>
                    </a:ext>
                  </a:extLst>
                </a:gridCol>
                <a:gridCol w="1962079">
                  <a:extLst>
                    <a:ext uri="{9D8B030D-6E8A-4147-A177-3AD203B41FA5}">
                      <a16:colId xmlns:a16="http://schemas.microsoft.com/office/drawing/2014/main" val="30732664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b="1" dirty="0"/>
                        <a:t>Recorrido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/>
                        <a:t>Pseudocódigo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Posiciones (</a:t>
                      </a:r>
                      <a:r>
                        <a:rPr lang="es-CO" sz="1600" b="1" dirty="0">
                          <a:latin typeface="Consolas" panose="020B0609020204030204" pitchFamily="49" charset="0"/>
                        </a:rPr>
                        <a:t>N = 6</a:t>
                      </a:r>
                      <a:r>
                        <a:rPr lang="es-CO" b="1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503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dirty="0"/>
                        <a:t>Completo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Consolas" panose="020B0609020204030204" pitchFamily="49" charset="0"/>
                        </a:rPr>
                        <a:t>Para (i = 0, N - 1, 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range(N)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0, 1, 2, 3, 4, 5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8449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dirty="0"/>
                        <a:t>Inverso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Consolas" panose="020B0609020204030204" pitchFamily="49" charset="0"/>
                        </a:rPr>
                        <a:t>Para (i = N - 1, 0, -1)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Consolas" panose="020B0609020204030204" pitchFamily="49" charset="0"/>
                        </a:rPr>
                        <a:t>range(N - 1, -1, -1)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5, 4, 3, 2, 1, 0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775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dirty="0"/>
                        <a:t>Desde la segunda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latin typeface="Consolas" panose="020B0609020204030204" pitchFamily="49" charset="0"/>
                        </a:rPr>
                        <a:t>Para (i = 1, N - 1, 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latin typeface="Consolas" panose="020B0609020204030204" pitchFamily="49" charset="0"/>
                        </a:rPr>
                        <a:t>range(1,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1, 2, 3, 4, 5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876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dirty="0"/>
                        <a:t>Hasta la penúltima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latin typeface="Consolas" panose="020B0609020204030204" pitchFamily="49" charset="0"/>
                        </a:rPr>
                        <a:t>Para (i = 0, N - 2, 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latin typeface="Consolas" panose="020B0609020204030204" pitchFamily="49" charset="0"/>
                        </a:rPr>
                        <a:t>range(N - 1)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0, 1, 2, 3, 4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dirty="0"/>
                        <a:t>Posiciones pares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latin typeface="Consolas" panose="020B0609020204030204" pitchFamily="49" charset="0"/>
                        </a:rPr>
                        <a:t>Para (i = 0, N - 1, 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latin typeface="Consolas" panose="020B0609020204030204" pitchFamily="49" charset="0"/>
                        </a:rPr>
                        <a:t>range(0, N, 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0, 2, 4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2597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dirty="0"/>
                        <a:t>Posiciones impares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latin typeface="Consolas" panose="020B0609020204030204" pitchFamily="49" charset="0"/>
                        </a:rPr>
                        <a:t>Para (i = 1, N - 1, 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latin typeface="Consolas" panose="020B0609020204030204" pitchFamily="49" charset="0"/>
                        </a:rPr>
                        <a:t>range(1, N, 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1, 3, 5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8715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dirty="0"/>
                        <a:t>Primera mitad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Consolas" panose="020B0609020204030204" pitchFamily="49" charset="0"/>
                        </a:rPr>
                        <a:t>Para (i = 0, N // 2 - 1, 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latin typeface="Consolas" panose="020B0609020204030204" pitchFamily="49" charset="0"/>
                        </a:rPr>
                        <a:t>range(N // 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0, 1, 2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1108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dirty="0"/>
                        <a:t>Segunda mitad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Consolas" panose="020B0609020204030204" pitchFamily="49" charset="0"/>
                        </a:rPr>
                        <a:t>Para (i = N // 2, N - 1, 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latin typeface="Consolas" panose="020B0609020204030204" pitchFamily="49" charset="0"/>
                        </a:rPr>
                        <a:t>range(N // 2,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3, 4, 5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306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5074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720452"/>
          </a:xfrm>
        </p:spPr>
        <p:txBody>
          <a:bodyPr>
            <a:noAutofit/>
          </a:bodyPr>
          <a:lstStyle/>
          <a:p>
            <a:r>
              <a:rPr lang="es-MX" sz="3600" dirty="0"/>
              <a:t>Comparar vecinos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107504" y="776898"/>
            <a:ext cx="889248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En la tabla anterior aparece el recorrido </a:t>
            </a:r>
            <a:r>
              <a:rPr lang="es-MX" sz="2000" b="1" dirty="0"/>
              <a:t>“Hasta la penúltima”</a:t>
            </a:r>
            <a:r>
              <a:rPr lang="es-MX" sz="2000" dirty="0"/>
              <a:t>: </a:t>
            </a:r>
            <a:r>
              <a:rPr lang="es-MX" b="1" dirty="0">
                <a:latin typeface="Consolas" panose="020B0609020204030204" pitchFamily="49" charset="0"/>
              </a:rPr>
              <a:t>range(N - 1)</a:t>
            </a:r>
            <a:r>
              <a:rPr lang="es-MX" sz="2000" dirty="0"/>
              <a:t>. A continuación se muestra un caso de uso.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Problema</a:t>
            </a:r>
            <a:r>
              <a:rPr lang="es-MX" sz="2000" dirty="0"/>
              <a:t>: Un estudiante tuvo estas notas en sus cuatro evaluaciones, en orden: </a:t>
            </a:r>
            <a:r>
              <a:rPr lang="es-MX" b="1" dirty="0">
                <a:latin typeface="Consolas" panose="020B0609020204030204" pitchFamily="49" charset="0"/>
              </a:rPr>
              <a:t>notas = [3.0, 4.5, 2.0, 4.0]</a:t>
            </a:r>
            <a:r>
              <a:rPr lang="es-MX" sz="2000" dirty="0"/>
              <a:t>. ¿Su nota subió de una evaluación a la siguiente?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rtl="0"/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¿Por qué el ciclo llega solo hasta N - 2?</a:t>
            </a:r>
            <a:r>
              <a:rPr lang="es-MX" sz="2000" dirty="0"/>
              <a:t> Con 4 notas hay </a:t>
            </a:r>
            <a:r>
              <a:rPr lang="es-MX" sz="2000" b="1" dirty="0"/>
              <a:t>3 comparaciones</a:t>
            </a:r>
            <a:r>
              <a:rPr lang="es-MX" sz="2000" dirty="0"/>
              <a:t>. Si </a:t>
            </a:r>
            <a:r>
              <a:rPr lang="es-MX" b="1" dirty="0">
                <a:latin typeface="Consolas" panose="020B0609020204030204" pitchFamily="49" charset="0"/>
              </a:rPr>
              <a:t>i</a:t>
            </a:r>
            <a:r>
              <a:rPr lang="es-MX" sz="2000" dirty="0"/>
              <a:t> llegara a </a:t>
            </a:r>
            <a:r>
              <a:rPr lang="es-MX" b="1" dirty="0">
                <a:latin typeface="Consolas" panose="020B0609020204030204" pitchFamily="49" charset="0"/>
              </a:rPr>
              <a:t>3</a:t>
            </a:r>
            <a:r>
              <a:rPr lang="es-MX" sz="2000" dirty="0"/>
              <a:t>, se compararía </a:t>
            </a:r>
            <a:r>
              <a:rPr lang="es-MX" b="1" dirty="0">
                <a:latin typeface="Consolas" panose="020B0609020204030204" pitchFamily="49" charset="0"/>
              </a:rPr>
              <a:t>notas[3]</a:t>
            </a:r>
            <a:r>
              <a:rPr lang="es-MX" sz="2000" dirty="0"/>
              <a:t> con </a:t>
            </a:r>
            <a:r>
              <a:rPr lang="es-MX" b="1" dirty="0">
                <a:latin typeface="Consolas" panose="020B0609020204030204" pitchFamily="49" charset="0"/>
              </a:rPr>
              <a:t>notas[4]</a:t>
            </a:r>
            <a:r>
              <a:rPr lang="es-MX" sz="2000" dirty="0"/>
              <a:t>, que no existe </a:t>
            </a:r>
            <a:r>
              <a:rPr lang="es-MX" sz="2000" dirty="0">
                <a:sym typeface="Wingdings" panose="05000000000000000000" pitchFamily="2" charset="2"/>
              </a:rPr>
              <a:t></a:t>
            </a:r>
            <a:r>
              <a:rPr lang="es-MX" sz="2000" dirty="0"/>
              <a:t> </a:t>
            </a:r>
            <a:r>
              <a:rPr lang="es-MX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IndexError</a:t>
            </a:r>
            <a:r>
              <a:rPr lang="es-MX" sz="2000" dirty="0"/>
              <a:t>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2485980-D15E-407D-B183-1CE9FA809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011091"/>
              </p:ext>
            </p:extLst>
          </p:nvPr>
        </p:nvGraphicFramePr>
        <p:xfrm>
          <a:off x="645740" y="2558400"/>
          <a:ext cx="7886700" cy="237744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2308992647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8969794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Pseudocódigo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Python (</a:t>
                      </a:r>
                      <a:r>
                        <a:rPr lang="es-CO" b="1" dirty="0">
                          <a:hlinkClick r:id="rId2"/>
                        </a:rPr>
                        <a:t>simulación</a:t>
                      </a:r>
                      <a:r>
                        <a:rPr lang="es-CO" b="1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3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400" dirty="0">
                          <a:latin typeface="Consolas" panose="020B0609020204030204" pitchFamily="49" charset="0"/>
                        </a:rPr>
                        <a:t>notas = [3.0, 4.5, 2.0, 4.0]</a:t>
                      </a:r>
                    </a:p>
                    <a:p>
                      <a:r>
                        <a:rPr lang="pt-BR" sz="1400" dirty="0">
                          <a:latin typeface="Consolas" panose="020B0609020204030204" pitchFamily="49" charset="0"/>
                        </a:rPr>
                        <a:t>N = 4</a:t>
                      </a:r>
                      <a:endParaRPr lang="es-MX" sz="14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s-MX" sz="1400" dirty="0">
                          <a:latin typeface="Consolas" panose="020B0609020204030204" pitchFamily="49" charset="0"/>
                        </a:rPr>
                        <a:t>Para (i = 0, N - 2, 1) Haga</a:t>
                      </a:r>
                      <a:br>
                        <a:rPr lang="es-MX" sz="1400" dirty="0">
                          <a:latin typeface="Consolas" panose="020B0609020204030204" pitchFamily="49" charset="0"/>
                        </a:rPr>
                      </a:br>
                      <a:r>
                        <a:rPr lang="es-MX" sz="1400" dirty="0">
                          <a:latin typeface="Consolas" panose="020B0609020204030204" pitchFamily="49" charset="0"/>
                        </a:rPr>
                        <a:t>  Si notas[i + 1] &gt; notas[i] Entonces</a:t>
                      </a:r>
                      <a:br>
                        <a:rPr lang="es-MX" sz="1400" dirty="0">
                          <a:latin typeface="Consolas" panose="020B0609020204030204" pitchFamily="49" charset="0"/>
                        </a:rPr>
                      </a:br>
                      <a:r>
                        <a:rPr lang="es-MX" sz="1400" dirty="0">
                          <a:latin typeface="Consolas" panose="020B0609020204030204" pitchFamily="49" charset="0"/>
                        </a:rPr>
                        <a:t>    Escribir("Sube")</a:t>
                      </a:r>
                      <a:br>
                        <a:rPr lang="es-MX" sz="1400" dirty="0">
                          <a:latin typeface="Consolas" panose="020B0609020204030204" pitchFamily="49" charset="0"/>
                        </a:rPr>
                      </a:br>
                      <a:r>
                        <a:rPr lang="es-MX" sz="1400" dirty="0">
                          <a:latin typeface="Consolas" panose="020B0609020204030204" pitchFamily="49" charset="0"/>
                        </a:rPr>
                        <a:t>  Sino</a:t>
                      </a:r>
                      <a:br>
                        <a:rPr lang="es-MX" sz="1400" dirty="0">
                          <a:latin typeface="Consolas" panose="020B0609020204030204" pitchFamily="49" charset="0"/>
                        </a:rPr>
                      </a:br>
                      <a:r>
                        <a:rPr lang="es-MX" sz="1400" dirty="0">
                          <a:latin typeface="Consolas" panose="020B0609020204030204" pitchFamily="49" charset="0"/>
                        </a:rPr>
                        <a:t>    Escribir("Baja o se mantiene")</a:t>
                      </a:r>
                      <a:br>
                        <a:rPr lang="es-MX" sz="1400" dirty="0">
                          <a:latin typeface="Consolas" panose="020B0609020204030204" pitchFamily="49" charset="0"/>
                        </a:rPr>
                      </a:br>
                      <a:r>
                        <a:rPr lang="es-MX" sz="14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s-MX" sz="1400" dirty="0" err="1">
                          <a:latin typeface="Consolas" panose="020B0609020204030204" pitchFamily="49" charset="0"/>
                        </a:rPr>
                        <a:t>Fin_Si</a:t>
                      </a:r>
                      <a:br>
                        <a:rPr lang="es-MX" sz="1400" dirty="0">
                          <a:latin typeface="Consolas" panose="020B0609020204030204" pitchFamily="49" charset="0"/>
                        </a:rPr>
                      </a:br>
                      <a:r>
                        <a:rPr lang="es-MX" sz="1400" dirty="0" err="1">
                          <a:latin typeface="Consolas" panose="020B0609020204030204" pitchFamily="49" charset="0"/>
                        </a:rPr>
                        <a:t>Fin_Para</a:t>
                      </a:r>
                      <a:endParaRPr lang="es-MX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latin typeface="Consolas" panose="020B0609020204030204" pitchFamily="49" charset="0"/>
                        </a:rPr>
                        <a:t>notas = [3.0, 4.5, 2.0, 4.0]</a:t>
                      </a:r>
                    </a:p>
                    <a:p>
                      <a:r>
                        <a:rPr lang="pt-BR" sz="1400" dirty="0">
                          <a:latin typeface="Consolas" panose="020B0609020204030204" pitchFamily="49" charset="0"/>
                        </a:rPr>
                        <a:t>N = 4</a:t>
                      </a:r>
                      <a:endParaRPr lang="es-CO" sz="14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for i in range(N - 1):</a:t>
                      </a:r>
                      <a:br>
                        <a:rPr lang="es-CO" sz="1400" dirty="0">
                          <a:latin typeface="Consolas" panose="020B0609020204030204" pitchFamily="49" charset="0"/>
                        </a:rPr>
                      </a:br>
                      <a:r>
                        <a:rPr lang="es-CO" sz="14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 notas[i + 1] &gt; notas[i]:</a:t>
                      </a:r>
                      <a:br>
                        <a:rPr lang="es-CO" sz="1400" dirty="0">
                          <a:latin typeface="Consolas" panose="020B0609020204030204" pitchFamily="49" charset="0"/>
                        </a:rPr>
                      </a:br>
                      <a:r>
                        <a:rPr lang="es-CO" sz="1400" dirty="0">
                          <a:latin typeface="Consolas" panose="020B0609020204030204" pitchFamily="49" charset="0"/>
                        </a:rPr>
                        <a:t>    print("Sube")</a:t>
                      </a:r>
                      <a:br>
                        <a:rPr lang="es-CO" sz="1400" dirty="0">
                          <a:latin typeface="Consolas" panose="020B0609020204030204" pitchFamily="49" charset="0"/>
                        </a:rPr>
                      </a:br>
                      <a:r>
                        <a:rPr lang="es-CO" sz="14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else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:</a:t>
                      </a:r>
                      <a:br>
                        <a:rPr lang="es-CO" sz="1400" dirty="0">
                          <a:latin typeface="Consolas" panose="020B0609020204030204" pitchFamily="49" charset="0"/>
                        </a:rPr>
                      </a:br>
                      <a:r>
                        <a:rPr lang="es-CO" sz="1400" dirty="0">
                          <a:latin typeface="Consolas" panose="020B0609020204030204" pitchFamily="49" charset="0"/>
                        </a:rPr>
                        <a:t>    print("Baja o se mantiene")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40945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9CB00AA4-B7FB-42E6-8CC4-D69507C2BC00}"/>
              </a:ext>
            </a:extLst>
          </p:cNvPr>
          <p:cNvSpPr txBox="1"/>
          <p:nvPr/>
        </p:nvSpPr>
        <p:spPr>
          <a:xfrm>
            <a:off x="251520" y="5961474"/>
            <a:ext cx="8424935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CO" sz="2000" b="1" dirty="0"/>
              <a:t>Idea clave</a:t>
            </a:r>
            <a:r>
              <a:rPr lang="es-CO" sz="2000" dirty="0"/>
              <a:t>: Cuando el cuerpo usa </a:t>
            </a:r>
            <a:r>
              <a:rPr lang="es-CO" b="1" dirty="0">
                <a:latin typeface="Consolas" panose="020B0609020204030204" pitchFamily="49" charset="0"/>
              </a:rPr>
              <a:t>notas[i + 1]</a:t>
            </a:r>
            <a:r>
              <a:rPr lang="es-CO" sz="2000" dirty="0"/>
              <a:t>, el recorrido va hasta la penúltima posición.</a:t>
            </a:r>
          </a:p>
        </p:txBody>
      </p:sp>
    </p:spTree>
    <p:extLst>
      <p:ext uri="{BB962C8B-B14F-4D97-AF65-F5344CB8AC3E}">
        <p14:creationId xmlns:p14="http://schemas.microsoft.com/office/powerpoint/2010/main" val="3458386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720452"/>
          </a:xfrm>
        </p:spPr>
        <p:txBody>
          <a:bodyPr>
            <a:noAutofit/>
          </a:bodyPr>
          <a:lstStyle/>
          <a:p>
            <a:r>
              <a:rPr lang="es-MX" sz="3600" dirty="0"/>
              <a:t>Asignar una lista no la copia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107504" y="776898"/>
            <a:ext cx="889248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Con listas, </a:t>
            </a:r>
            <a:r>
              <a:rPr lang="es-MX" b="1" dirty="0">
                <a:latin typeface="Consolas" panose="020B0609020204030204" pitchFamily="49" charset="0"/>
              </a:rPr>
              <a:t>=</a:t>
            </a:r>
            <a:r>
              <a:rPr lang="es-MX" sz="2000" b="1" dirty="0"/>
              <a:t> no copia</a:t>
            </a:r>
            <a:r>
              <a:rPr lang="es-MX" sz="2000" dirty="0"/>
              <a:t>: </a:t>
            </a:r>
            <a:r>
              <a:rPr lang="es-MX" b="1" dirty="0">
                <a:latin typeface="Consolas" panose="020B0609020204030204" pitchFamily="49" charset="0"/>
              </a:rPr>
              <a:t>copia = notas</a:t>
            </a:r>
            <a:r>
              <a:rPr lang="es-MX" sz="2000" dirty="0"/>
              <a:t> le pone otro nombre (un </a:t>
            </a:r>
            <a:r>
              <a:rPr lang="es-MX" sz="2000" b="1" dirty="0"/>
              <a:t>alias</a:t>
            </a:r>
            <a:r>
              <a:rPr lang="es-MX" sz="2000" dirty="0"/>
              <a:t>) a la misma lista. Lo que se cambie con un nombre se ve con el otro.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rtl="0"/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A92D2F2-D51D-4A4D-B16D-4C5B122B4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945807"/>
              </p:ext>
            </p:extLst>
          </p:nvPr>
        </p:nvGraphicFramePr>
        <p:xfrm>
          <a:off x="933986" y="1552952"/>
          <a:ext cx="7342462" cy="2164080"/>
        </p:xfrm>
        <a:graphic>
          <a:graphicData uri="http://schemas.openxmlformats.org/drawingml/2006/table">
            <a:tbl>
              <a:tblPr/>
              <a:tblGrid>
                <a:gridCol w="1483678">
                  <a:extLst>
                    <a:ext uri="{9D8B030D-6E8A-4147-A177-3AD203B41FA5}">
                      <a16:colId xmlns:a16="http://schemas.microsoft.com/office/drawing/2014/main" val="3280203030"/>
                    </a:ext>
                  </a:extLst>
                </a:gridCol>
                <a:gridCol w="2690940">
                  <a:extLst>
                    <a:ext uri="{9D8B030D-6E8A-4147-A177-3AD203B41FA5}">
                      <a16:colId xmlns:a16="http://schemas.microsoft.com/office/drawing/2014/main" val="2563747310"/>
                    </a:ext>
                  </a:extLst>
                </a:gridCol>
                <a:gridCol w="3167844">
                  <a:extLst>
                    <a:ext uri="{9D8B030D-6E8A-4147-A177-3AD203B41FA5}">
                      <a16:colId xmlns:a16="http://schemas.microsoft.com/office/drawing/2014/main" val="14682316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CO" b="1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Con variables </a:t>
                      </a:r>
                      <a:r>
                        <a:rPr lang="es-CO" b="0" dirty="0"/>
                        <a:t>(</a:t>
                      </a:r>
                      <a:r>
                        <a:rPr lang="es-CO" b="0" dirty="0">
                          <a:hlinkClick r:id="rId2"/>
                        </a:rPr>
                        <a:t>simulación</a:t>
                      </a:r>
                      <a:r>
                        <a:rPr lang="es-CO" b="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Con listas </a:t>
                      </a:r>
                      <a:r>
                        <a:rPr lang="es-CO" b="0" dirty="0"/>
                        <a:t>(</a:t>
                      </a:r>
                      <a:r>
                        <a:rPr lang="es-CO" b="0" dirty="0">
                          <a:hlinkClick r:id="rId3"/>
                        </a:rPr>
                        <a:t>simulación</a:t>
                      </a:r>
                      <a:r>
                        <a:rPr lang="es-CO" b="0" dirty="0"/>
                        <a:t>)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943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b="1" dirty="0"/>
                        <a:t>Instrucciones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latin typeface="Consolas" panose="020B0609020204030204" pitchFamily="49" charset="0"/>
                        </a:rPr>
                        <a:t>a = 3.0</a:t>
                      </a:r>
                      <a:br>
                        <a:rPr lang="pt-BR" sz="1400" dirty="0">
                          <a:latin typeface="Consolas" panose="020B0609020204030204" pitchFamily="49" charset="0"/>
                        </a:rPr>
                      </a:br>
                      <a:r>
                        <a:rPr lang="pt-BR" sz="1400" dirty="0">
                          <a:latin typeface="Consolas" panose="020B0609020204030204" pitchFamily="49" charset="0"/>
                        </a:rPr>
                        <a:t>b = a</a:t>
                      </a:r>
                      <a:br>
                        <a:rPr lang="pt-BR" sz="1400" dirty="0">
                          <a:latin typeface="Consolas" panose="020B0609020204030204" pitchFamily="49" charset="0"/>
                        </a:rPr>
                      </a:br>
                      <a:r>
                        <a:rPr lang="pt-BR" sz="1400" dirty="0">
                          <a:latin typeface="Consolas" panose="020B0609020204030204" pitchFamily="49" charset="0"/>
                        </a:rPr>
                        <a:t>b = 5.0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Consolas" panose="020B0609020204030204" pitchFamily="49" charset="0"/>
                        </a:rPr>
                        <a:t>notas = [3.0, 4.5, 2.0, 4.0]</a:t>
                      </a:r>
                      <a:br>
                        <a:rPr lang="es-MX" sz="1400" dirty="0">
                          <a:latin typeface="Consolas" panose="020B0609020204030204" pitchFamily="49" charset="0"/>
                        </a:rPr>
                      </a:br>
                      <a:r>
                        <a:rPr lang="es-MX" sz="1400" dirty="0">
                          <a:latin typeface="Consolas" panose="020B0609020204030204" pitchFamily="49" charset="0"/>
                        </a:rPr>
                        <a:t>copia = notas</a:t>
                      </a:r>
                      <a:br>
                        <a:rPr lang="es-MX" sz="1400" dirty="0">
                          <a:latin typeface="Consolas" panose="020B0609020204030204" pitchFamily="49" charset="0"/>
                        </a:rPr>
                      </a:br>
                      <a:r>
                        <a:rPr lang="es-MX" sz="1400" dirty="0">
                          <a:latin typeface="Consolas" panose="020B0609020204030204" pitchFamily="49" charset="0"/>
                        </a:rPr>
                        <a:t>copia[0] = 5.0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8467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 dirty="0"/>
                        <a:t>Resultado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a = 3.0, b = 5.0</a:t>
                      </a:r>
                      <a:br>
                        <a:rPr lang="es-CO" sz="1400" dirty="0">
                          <a:latin typeface="Consolas" panose="020B0609020204030204" pitchFamily="49" charset="0"/>
                        </a:rPr>
                      </a:br>
                      <a:endParaRPr lang="es-CO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s-CO" b="1" dirty="0"/>
                        <a:t>a no cambió</a:t>
                      </a:r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Consolas" panose="020B0609020204030204" pitchFamily="49" charset="0"/>
                        </a:rPr>
                        <a:t>notas = [5.0, 4.5, 2.0, 4.0]</a:t>
                      </a:r>
                      <a:br>
                        <a:rPr lang="es-MX" sz="1400" dirty="0">
                          <a:latin typeface="Consolas" panose="020B0609020204030204" pitchFamily="49" charset="0"/>
                        </a:rPr>
                      </a:br>
                      <a:r>
                        <a:rPr lang="es-MX" sz="1400" dirty="0">
                          <a:latin typeface="Consolas" panose="020B0609020204030204" pitchFamily="49" charset="0"/>
                        </a:rPr>
                        <a:t>copia = [5.0, 4.5, 2.0, 4.0]</a:t>
                      </a:r>
                      <a:br>
                        <a:rPr lang="es-MX" sz="1400" dirty="0">
                          <a:latin typeface="Consolas" panose="020B0609020204030204" pitchFamily="49" charset="0"/>
                        </a:rPr>
                      </a:br>
                      <a:endParaRPr lang="es-MX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s-MX" b="1" dirty="0"/>
                        <a:t>¡notas también cambió!</a:t>
                      </a:r>
                      <a:endParaRPr lang="es-MX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0801942"/>
                  </a:ext>
                </a:extLst>
              </a:tr>
            </a:tbl>
          </a:graphicData>
        </a:graphic>
      </p:graphicFrame>
      <p:pic>
        <p:nvPicPr>
          <p:cNvPr id="16" name="Imagen 15">
            <a:extLst>
              <a:ext uri="{FF2B5EF4-FFF2-40B4-BE49-F238E27FC236}">
                <a16:creationId xmlns:a16="http://schemas.microsoft.com/office/drawing/2014/main" id="{2A00808F-6A57-4B2C-85E2-07E081FE11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047984"/>
            <a:ext cx="8748464" cy="247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609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720452"/>
          </a:xfrm>
        </p:spPr>
        <p:txBody>
          <a:bodyPr>
            <a:noAutofit/>
          </a:bodyPr>
          <a:lstStyle/>
          <a:p>
            <a:r>
              <a:rPr lang="es-MX" sz="3600" dirty="0"/>
              <a:t>Clonar una lista con un recorrido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107504" y="620688"/>
            <a:ext cx="88924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Clonar</a:t>
            </a:r>
            <a:r>
              <a:rPr lang="es-MX" sz="2000" dirty="0"/>
              <a:t>: crear una lista </a:t>
            </a:r>
            <a:r>
              <a:rPr lang="es-MX" sz="2000" b="1" dirty="0"/>
              <a:t>nueva</a:t>
            </a:r>
            <a:r>
              <a:rPr lang="es-MX" sz="2000" dirty="0"/>
              <a:t> y copiarle los valores </a:t>
            </a:r>
            <a:r>
              <a:rPr lang="es-MX" sz="2000" b="1" dirty="0"/>
              <a:t>casilla por casilla</a:t>
            </a:r>
            <a:r>
              <a:rPr lang="es-MX" sz="2000" dirty="0"/>
              <a:t>. Así cada nombre tiene su propia lista.</a:t>
            </a:r>
            <a:endParaRPr lang="es-MX" sz="2000" b="1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3D9016F-24A8-4035-B707-50D0506776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793510"/>
              </p:ext>
            </p:extLst>
          </p:nvPr>
        </p:nvGraphicFramePr>
        <p:xfrm>
          <a:off x="610394" y="1340768"/>
          <a:ext cx="8323904" cy="2590800"/>
        </p:xfrm>
        <a:graphic>
          <a:graphicData uri="http://schemas.openxmlformats.org/drawingml/2006/table">
            <a:tbl>
              <a:tblPr/>
              <a:tblGrid>
                <a:gridCol w="1606031">
                  <a:extLst>
                    <a:ext uri="{9D8B030D-6E8A-4147-A177-3AD203B41FA5}">
                      <a16:colId xmlns:a16="http://schemas.microsoft.com/office/drawing/2014/main" val="1407569086"/>
                    </a:ext>
                  </a:extLst>
                </a:gridCol>
                <a:gridCol w="3405505">
                  <a:extLst>
                    <a:ext uri="{9D8B030D-6E8A-4147-A177-3AD203B41FA5}">
                      <a16:colId xmlns:a16="http://schemas.microsoft.com/office/drawing/2014/main" val="2651136596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15827868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CO" b="1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Pseudocódigo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Python (</a:t>
                      </a:r>
                      <a:r>
                        <a:rPr lang="es-CO" b="1" dirty="0">
                          <a:hlinkClick r:id="rId2"/>
                        </a:rPr>
                        <a:t>simulación</a:t>
                      </a:r>
                      <a:r>
                        <a:rPr lang="es-CO" b="1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08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 dirty="0"/>
                        <a:t>Instrucciones</a:t>
                      </a:r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copia = Arreglo(N)</a:t>
                      </a:r>
                      <a:br>
                        <a:rPr lang="es-CO" sz="1400" dirty="0">
                          <a:latin typeface="Consolas" panose="020B0609020204030204" pitchFamily="49" charset="0"/>
                        </a:rPr>
                      </a:br>
                      <a:r>
                        <a:rPr lang="es-CO" sz="1400" dirty="0">
                          <a:latin typeface="Consolas" panose="020B0609020204030204" pitchFamily="49" charset="0"/>
                        </a:rPr>
                        <a:t>Para (i = 0, N - 1, 1) Haga</a:t>
                      </a:r>
                      <a:br>
                        <a:rPr lang="es-CO" sz="1400" dirty="0">
                          <a:latin typeface="Consolas" panose="020B0609020204030204" pitchFamily="49" charset="0"/>
                        </a:rPr>
                      </a:br>
                      <a:r>
                        <a:rPr lang="es-CO" sz="1400" dirty="0">
                          <a:latin typeface="Consolas" panose="020B0609020204030204" pitchFamily="49" charset="0"/>
                        </a:rPr>
                        <a:t>  copia[i] = notas[i]</a:t>
                      </a:r>
                      <a:br>
                        <a:rPr lang="es-CO" sz="1400" dirty="0">
                          <a:latin typeface="Consolas" panose="020B0609020204030204" pitchFamily="49" charset="0"/>
                        </a:rPr>
                      </a:br>
                      <a:r>
                        <a:rPr lang="es-CO" sz="1400" dirty="0">
                          <a:latin typeface="Consolas" panose="020B0609020204030204" pitchFamily="49" charset="0"/>
                        </a:rPr>
                        <a:t>Fin_Para</a:t>
                      </a:r>
                      <a:br>
                        <a:rPr lang="es-CO" sz="1400" dirty="0">
                          <a:latin typeface="Consolas" panose="020B0609020204030204" pitchFamily="49" charset="0"/>
                        </a:rPr>
                      </a:br>
                      <a:r>
                        <a:rPr lang="es-CO" sz="1400" dirty="0">
                          <a:latin typeface="Consolas" panose="020B0609020204030204" pitchFamily="49" charset="0"/>
                        </a:rPr>
                        <a:t>copia[0] = 5.0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>
                          <a:latin typeface="Consolas" panose="020B0609020204030204" pitchFamily="49" charset="0"/>
                        </a:rPr>
                        <a:t>copia = [0.0] * N</a:t>
                      </a:r>
                      <a:br>
                        <a:rPr lang="it-IT" sz="1400" dirty="0">
                          <a:latin typeface="Consolas" panose="020B0609020204030204" pitchFamily="49" charset="0"/>
                        </a:rPr>
                      </a:br>
                      <a:r>
                        <a:rPr lang="it-IT" sz="1400" dirty="0">
                          <a:latin typeface="Consolas" panose="020B0609020204030204" pitchFamily="49" charset="0"/>
                        </a:rPr>
                        <a:t>for i in range(N):</a:t>
                      </a:r>
                      <a:br>
                        <a:rPr lang="it-IT" sz="1400" dirty="0">
                          <a:latin typeface="Consolas" panose="020B0609020204030204" pitchFamily="49" charset="0"/>
                        </a:rPr>
                      </a:br>
                      <a:r>
                        <a:rPr lang="it-IT" sz="1400" dirty="0">
                          <a:latin typeface="Consolas" panose="020B0609020204030204" pitchFamily="49" charset="0"/>
                        </a:rPr>
                        <a:t>  copia[i] = notas[i]</a:t>
                      </a:r>
                      <a:br>
                        <a:rPr lang="it-IT" sz="1400" dirty="0">
                          <a:latin typeface="Consolas" panose="020B0609020204030204" pitchFamily="49" charset="0"/>
                        </a:rPr>
                      </a:br>
                      <a:r>
                        <a:rPr lang="it-IT" sz="1400" dirty="0">
                          <a:latin typeface="Consolas" panose="020B0609020204030204" pitchFamily="49" charset="0"/>
                        </a:rPr>
                        <a:t>copia[0] = 5.0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2709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 dirty="0"/>
                        <a:t>Resultado</a:t>
                      </a:r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Consolas" panose="020B0609020204030204" pitchFamily="49" charset="0"/>
                        </a:rPr>
                        <a:t>notas = [3.0, 4.5, 2.0, 4.0]</a:t>
                      </a:r>
                      <a:br>
                        <a:rPr lang="es-MX" sz="1400" dirty="0">
                          <a:latin typeface="Consolas" panose="020B0609020204030204" pitchFamily="49" charset="0"/>
                        </a:rPr>
                      </a:br>
                      <a:r>
                        <a:rPr lang="es-MX" sz="1400" dirty="0">
                          <a:latin typeface="Consolas" panose="020B0609020204030204" pitchFamily="49" charset="0"/>
                        </a:rPr>
                        <a:t>copia = [5.0, 4.5, 2.0, 4.0]</a:t>
                      </a:r>
                      <a:br>
                        <a:rPr lang="es-MX" dirty="0"/>
                      </a:br>
                      <a:endParaRPr lang="es-MX" dirty="0"/>
                    </a:p>
                    <a:p>
                      <a:r>
                        <a:rPr lang="es-MX" b="1" dirty="0"/>
                        <a:t>¡notas no cambió!</a:t>
                      </a:r>
                      <a:endParaRPr lang="es-MX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Consolas" panose="020B0609020204030204" pitchFamily="49" charset="0"/>
                        </a:rPr>
                        <a:t>notas = [3.0, 4.5, 2.0, 4.0]</a:t>
                      </a:r>
                      <a:br>
                        <a:rPr lang="es-MX" sz="1400" dirty="0">
                          <a:latin typeface="Consolas" panose="020B0609020204030204" pitchFamily="49" charset="0"/>
                        </a:rPr>
                      </a:br>
                      <a:r>
                        <a:rPr lang="es-MX" sz="1400" dirty="0">
                          <a:latin typeface="Consolas" panose="020B0609020204030204" pitchFamily="49" charset="0"/>
                        </a:rPr>
                        <a:t>copia = [5.0, 4.5, 2.0, 4.0]</a:t>
                      </a:r>
                      <a:br>
                        <a:rPr lang="es-MX" dirty="0"/>
                      </a:br>
                      <a:endParaRPr lang="es-MX" dirty="0"/>
                    </a:p>
                    <a:p>
                      <a:r>
                        <a:rPr lang="es-MX" b="1" dirty="0"/>
                        <a:t>¡notas no cambió!</a:t>
                      </a:r>
                      <a:endParaRPr lang="es-MX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9117714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9D47CF4D-A858-4047-B35A-435FF622DB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163" y="4005064"/>
            <a:ext cx="7513194" cy="281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3556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720452"/>
          </a:xfrm>
        </p:spPr>
        <p:txBody>
          <a:bodyPr>
            <a:noAutofit/>
          </a:bodyPr>
          <a:lstStyle/>
          <a:p>
            <a:r>
              <a:rPr lang="es-MX" sz="3600" dirty="0"/>
              <a:t>Clonar una lista con un recorrido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107504" y="776898"/>
            <a:ext cx="889248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Clonar</a:t>
            </a:r>
            <a:r>
              <a:rPr lang="es-MX" sz="2000" dirty="0"/>
              <a:t>: crear una lista </a:t>
            </a:r>
            <a:r>
              <a:rPr lang="es-MX" sz="2000" b="1" dirty="0"/>
              <a:t>nueva</a:t>
            </a:r>
            <a:r>
              <a:rPr lang="es-MX" sz="2000" dirty="0"/>
              <a:t> y copiarle los valores </a:t>
            </a:r>
            <a:r>
              <a:rPr lang="es-MX" sz="2000" b="1" dirty="0"/>
              <a:t>casilla por casilla</a:t>
            </a:r>
            <a:r>
              <a:rPr lang="es-MX" sz="2000" dirty="0"/>
              <a:t>. Así cada nombre tiene su propia lista.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rtl="0"/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9298FC6-60C1-4F18-A82F-B6BF408AF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74" y="3696690"/>
            <a:ext cx="7838571" cy="2768481"/>
          </a:xfrm>
          <a:prstGeom prst="rect">
            <a:avLst/>
          </a:prstGeom>
        </p:spPr>
      </p:pic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1E0F7AFB-FAAD-41B4-AFF6-147D97B84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258121"/>
              </p:ext>
            </p:extLst>
          </p:nvPr>
        </p:nvGraphicFramePr>
        <p:xfrm>
          <a:off x="251520" y="1485135"/>
          <a:ext cx="8568952" cy="2042160"/>
        </p:xfrm>
        <a:graphic>
          <a:graphicData uri="http://schemas.openxmlformats.org/drawingml/2006/table">
            <a:tbl>
              <a:tblPr/>
              <a:tblGrid>
                <a:gridCol w="1519348">
                  <a:extLst>
                    <a:ext uri="{9D8B030D-6E8A-4147-A177-3AD203B41FA5}">
                      <a16:colId xmlns:a16="http://schemas.microsoft.com/office/drawing/2014/main" val="3163102399"/>
                    </a:ext>
                  </a:extLst>
                </a:gridCol>
                <a:gridCol w="3524802">
                  <a:extLst>
                    <a:ext uri="{9D8B030D-6E8A-4147-A177-3AD203B41FA5}">
                      <a16:colId xmlns:a16="http://schemas.microsoft.com/office/drawing/2014/main" val="2880624150"/>
                    </a:ext>
                  </a:extLst>
                </a:gridCol>
                <a:gridCol w="3524802">
                  <a:extLst>
                    <a:ext uri="{9D8B030D-6E8A-4147-A177-3AD203B41FA5}">
                      <a16:colId xmlns:a16="http://schemas.microsoft.com/office/drawing/2014/main" val="41056518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notas[:] (</a:t>
                      </a:r>
                      <a:r>
                        <a:rPr lang="es-CO" b="1" dirty="0">
                          <a:hlinkClick r:id="rId3"/>
                        </a:rPr>
                        <a:t>simulación</a:t>
                      </a:r>
                      <a:r>
                        <a:rPr lang="es-CO" b="1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list(notas) (</a:t>
                      </a:r>
                      <a:r>
                        <a:rPr lang="es-CO" b="1" dirty="0">
                          <a:hlinkClick r:id="rId4"/>
                        </a:rPr>
                        <a:t>simulación</a:t>
                      </a:r>
                      <a:r>
                        <a:rPr lang="es-CO" b="1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314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 dirty="0"/>
                        <a:t>Instrucciones</a:t>
                      </a:r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Consolas" panose="020B0609020204030204" pitchFamily="49" charset="0"/>
                        </a:rPr>
                        <a:t>copia = notas[:]</a:t>
                      </a:r>
                      <a:br>
                        <a:rPr lang="es-MX" sz="1400" dirty="0">
                          <a:latin typeface="Consolas" panose="020B0609020204030204" pitchFamily="49" charset="0"/>
                        </a:rPr>
                      </a:br>
                      <a:r>
                        <a:rPr lang="es-MX" sz="1400" dirty="0">
                          <a:latin typeface="Consolas" panose="020B0609020204030204" pitchFamily="49" charset="0"/>
                        </a:rPr>
                        <a:t>copia[0] = 5.0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Consolas" panose="020B0609020204030204" pitchFamily="49" charset="0"/>
                        </a:rPr>
                        <a:t>copia = list(notas)</a:t>
                      </a:r>
                      <a:br>
                        <a:rPr lang="es-MX" sz="1400" dirty="0">
                          <a:latin typeface="Consolas" panose="020B0609020204030204" pitchFamily="49" charset="0"/>
                        </a:rPr>
                      </a:br>
                      <a:r>
                        <a:rPr lang="es-MX" sz="1400" dirty="0">
                          <a:latin typeface="Consolas" panose="020B0609020204030204" pitchFamily="49" charset="0"/>
                        </a:rPr>
                        <a:t>copia[0] = 5.0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5753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 dirty="0"/>
                        <a:t>Qué hace</a:t>
                      </a:r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Rebanada completa: toma las casillas </a:t>
                      </a:r>
                      <a:r>
                        <a:rPr lang="es-MX" b="1" dirty="0"/>
                        <a:t>desde el inicio hasta el final</a:t>
                      </a:r>
                      <a:endParaRPr lang="es-MX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Función que crea una lista </a:t>
                      </a:r>
                      <a:r>
                        <a:rPr lang="es-MX" b="1"/>
                        <a:t>nueva</a:t>
                      </a:r>
                      <a:r>
                        <a:rPr lang="es-MX"/>
                        <a:t> con los mismos valores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8849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 dirty="0"/>
                        <a:t>Resultado</a:t>
                      </a:r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>
                          <a:latin typeface="Consolas" panose="020B0609020204030204" pitchFamily="49" charset="0"/>
                        </a:rPr>
                        <a:t>notas = [3.0, 4.5, 2.0, 4.0]</a:t>
                      </a:r>
                      <a:br>
                        <a:rPr lang="es-MX" sz="1400">
                          <a:latin typeface="Consolas" panose="020B0609020204030204" pitchFamily="49" charset="0"/>
                        </a:rPr>
                      </a:br>
                      <a:r>
                        <a:rPr lang="es-MX" sz="1400">
                          <a:latin typeface="Consolas" panose="020B0609020204030204" pitchFamily="49" charset="0"/>
                        </a:rPr>
                        <a:t>copia = [5.0, 4.5, 2.0, 4.0]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Consolas" panose="020B0609020204030204" pitchFamily="49" charset="0"/>
                        </a:rPr>
                        <a:t>notas = [3.0, 4.5, 2.0, 4.0]</a:t>
                      </a:r>
                      <a:br>
                        <a:rPr lang="es-MX" sz="1400" dirty="0">
                          <a:latin typeface="Consolas" panose="020B0609020204030204" pitchFamily="49" charset="0"/>
                        </a:rPr>
                      </a:br>
                      <a:r>
                        <a:rPr lang="es-MX" sz="1400" dirty="0">
                          <a:latin typeface="Consolas" panose="020B0609020204030204" pitchFamily="49" charset="0"/>
                        </a:rPr>
                        <a:t>copia = [5.0, 4.5, 2.0, 4.0]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740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953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720452"/>
          </a:xfrm>
        </p:spPr>
        <p:txBody>
          <a:bodyPr>
            <a:noAutofit/>
          </a:bodyPr>
          <a:lstStyle/>
          <a:p>
            <a:r>
              <a:rPr lang="es-MX" sz="3600" dirty="0"/>
              <a:t>Resumen: arreglos en pseudocódigo y Python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323528" y="6167045"/>
            <a:ext cx="855639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rtl="0"/>
            <a:r>
              <a:rPr lang="es-MX" b="1" dirty="0"/>
              <a:t>Observación importante</a:t>
            </a:r>
            <a:r>
              <a:rPr lang="es-MX" dirty="0"/>
              <a:t>: Toda operación sobre un arreglo completo es un recorrido: un ciclo que hace algo con </a:t>
            </a:r>
            <a:r>
              <a:rPr lang="es-MX" sz="1600" b="1" dirty="0">
                <a:latin typeface="Consolas" panose="020B0609020204030204" pitchFamily="49" charset="0"/>
              </a:rPr>
              <a:t>A[i]</a:t>
            </a:r>
            <a:r>
              <a:rPr lang="es-MX" dirty="0"/>
              <a:t>, donde </a:t>
            </a:r>
            <a:r>
              <a:rPr lang="es-MX" sz="1600" b="1" dirty="0">
                <a:latin typeface="Consolas" panose="020B0609020204030204" pitchFamily="49" charset="0"/>
              </a:rPr>
              <a:t>i</a:t>
            </a:r>
            <a:r>
              <a:rPr lang="es-MX" dirty="0"/>
              <a:t> va desde un inicio, hasta un fin y de a un paso.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7AEA4F6-C3F9-44CE-A0DB-76F4DD9230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617766"/>
              </p:ext>
            </p:extLst>
          </p:nvPr>
        </p:nvGraphicFramePr>
        <p:xfrm>
          <a:off x="323528" y="836712"/>
          <a:ext cx="8556390" cy="5286879"/>
        </p:xfrm>
        <a:graphic>
          <a:graphicData uri="http://schemas.openxmlformats.org/drawingml/2006/table">
            <a:tbl>
              <a:tblPr/>
              <a:tblGrid>
                <a:gridCol w="2377168">
                  <a:extLst>
                    <a:ext uri="{9D8B030D-6E8A-4147-A177-3AD203B41FA5}">
                      <a16:colId xmlns:a16="http://schemas.microsoft.com/office/drawing/2014/main" val="3099772351"/>
                    </a:ext>
                  </a:extLst>
                </a:gridCol>
                <a:gridCol w="3018527">
                  <a:extLst>
                    <a:ext uri="{9D8B030D-6E8A-4147-A177-3AD203B41FA5}">
                      <a16:colId xmlns:a16="http://schemas.microsoft.com/office/drawing/2014/main" val="4218120789"/>
                    </a:ext>
                  </a:extLst>
                </a:gridCol>
                <a:gridCol w="3160695">
                  <a:extLst>
                    <a:ext uri="{9D8B030D-6E8A-4147-A177-3AD203B41FA5}">
                      <a16:colId xmlns:a16="http://schemas.microsoft.com/office/drawing/2014/main" val="2000627994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r>
                        <a:rPr lang="es-CO" sz="1600" b="1"/>
                        <a:t>Operación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/>
                        <a:t>Pseudocódigo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/>
                        <a:t>Python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16502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r>
                        <a:rPr lang="es-CO" sz="1600" b="1"/>
                        <a:t>Crear</a:t>
                      </a:r>
                      <a:r>
                        <a:rPr lang="es-CO" sz="1600"/>
                        <a:t> con N casillas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A = Arreglo(N)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A = [</a:t>
                      </a:r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valor_inicial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] * N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8863104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r>
                        <a:rPr lang="es-CO" sz="1600" b="1"/>
                        <a:t>Crear</a:t>
                      </a:r>
                      <a:r>
                        <a:rPr lang="es-CO" sz="1600"/>
                        <a:t> con valores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A = [v0, v1, v2]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A = [v0, v1, v2]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699784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r>
                        <a:rPr lang="es-CO" sz="1600" b="1"/>
                        <a:t>Guardar</a:t>
                      </a:r>
                      <a:r>
                        <a:rPr lang="es-CO" sz="1600"/>
                        <a:t> en una casilla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A[i] = expresión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latin typeface="Consolas" panose="020B0609020204030204" pitchFamily="49" charset="0"/>
                        </a:rPr>
                        <a:t>A[i] = expresión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7548765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r>
                        <a:rPr lang="es-CO" sz="1600" b="1"/>
                        <a:t>Leer</a:t>
                      </a:r>
                      <a:r>
                        <a:rPr lang="es-CO" sz="1600"/>
                        <a:t> desde el teclado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Leer(A[i])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latin typeface="Consolas" panose="020B0609020204030204" pitchFamily="49" charset="0"/>
                        </a:rPr>
                        <a:t>A[i] = float(input())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4495782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r>
                        <a:rPr lang="es-CO" sz="1600" b="1"/>
                        <a:t>Mostrar</a:t>
                      </a:r>
                      <a:r>
                        <a:rPr lang="es-CO" sz="1600"/>
                        <a:t> una casilla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Escribir(A[i])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print(A[i])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9946419"/>
                  </a:ext>
                </a:extLst>
              </a:tr>
              <a:tr h="821007">
                <a:tc>
                  <a:txBody>
                    <a:bodyPr/>
                    <a:lstStyle/>
                    <a:p>
                      <a:r>
                        <a:rPr lang="es-CO" sz="1600" b="1"/>
                        <a:t>Recorrer</a:t>
                      </a:r>
                      <a:r>
                        <a:rPr lang="es-CO" sz="1600"/>
                        <a:t> completo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latin typeface="Consolas" panose="020B0609020204030204" pitchFamily="49" charset="0"/>
                        </a:rPr>
                        <a:t>Para (i = 0, N - 1, 1) Haga</a:t>
                      </a:r>
                      <a:br>
                        <a:rPr lang="pt-BR" sz="1400" dirty="0">
                          <a:latin typeface="Consolas" panose="020B0609020204030204" pitchFamily="49" charset="0"/>
                        </a:rPr>
                      </a:br>
                      <a:r>
                        <a:rPr lang="pt-BR" sz="1400" dirty="0">
                          <a:latin typeface="Consolas" panose="020B0609020204030204" pitchFamily="49" charset="0"/>
                        </a:rPr>
                        <a:t>  ... A[i] ...</a:t>
                      </a:r>
                      <a:br>
                        <a:rPr lang="pt-BR" sz="1400" dirty="0">
                          <a:latin typeface="Consolas" panose="020B0609020204030204" pitchFamily="49" charset="0"/>
                        </a:rPr>
                      </a:br>
                      <a:r>
                        <a:rPr lang="pt-BR" sz="1400" dirty="0">
                          <a:latin typeface="Consolas" panose="020B0609020204030204" pitchFamily="49" charset="0"/>
                        </a:rPr>
                        <a:t>Fin_Para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for 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in range(N):</a:t>
                      </a:r>
                      <a:br>
                        <a:rPr lang="en-US" sz="1400" dirty="0">
                          <a:latin typeface="Consolas" panose="020B0609020204030204" pitchFamily="49" charset="0"/>
                        </a:rPr>
                      </a:br>
                      <a:r>
                        <a:rPr lang="en-US" sz="1400" dirty="0">
                          <a:latin typeface="Consolas" panose="020B0609020204030204" pitchFamily="49" charset="0"/>
                        </a:rPr>
                        <a:t>  ... A[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] ...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8939988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r>
                        <a:rPr lang="es-CO" sz="1600" b="1"/>
                        <a:t>Recorrer</a:t>
                      </a:r>
                      <a:r>
                        <a:rPr lang="es-CO" sz="1600"/>
                        <a:t> inverso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latin typeface="Consolas" panose="020B0609020204030204" pitchFamily="49" charset="0"/>
                        </a:rPr>
                        <a:t>Para (i = N - 1, 0, -1) Haga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for 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in range(N - 1, -1, -1):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974004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r>
                        <a:rPr lang="es-CO" sz="1600" b="1"/>
                        <a:t>Recorrer</a:t>
                      </a:r>
                      <a:r>
                        <a:rPr lang="es-CO" sz="1600"/>
                        <a:t> por elemento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—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latin typeface="Consolas" panose="020B0609020204030204" pitchFamily="49" charset="0"/>
                        </a:rPr>
                        <a:t>for x in A: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4751951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r>
                        <a:rPr lang="es-CO" sz="1600" b="1"/>
                        <a:t>Comparar</a:t>
                      </a:r>
                      <a:r>
                        <a:rPr lang="es-CO" sz="1600"/>
                        <a:t> con el vecino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latin typeface="Consolas" panose="020B0609020204030204" pitchFamily="49" charset="0"/>
                        </a:rPr>
                        <a:t>Para (i = 0, N - 2, 1) Haga</a:t>
                      </a:r>
                      <a:br>
                        <a:rPr lang="pt-BR" sz="1400" dirty="0">
                          <a:latin typeface="Consolas" panose="020B0609020204030204" pitchFamily="49" charset="0"/>
                        </a:rPr>
                      </a:br>
                      <a:r>
                        <a:rPr lang="pt-BR" sz="1400" dirty="0">
                          <a:latin typeface="Consolas" panose="020B0609020204030204" pitchFamily="49" charset="0"/>
                        </a:rPr>
                        <a:t>  ... A[i] ... A[i + 1] ...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for i in range(N - 1):</a:t>
                      </a:r>
                      <a:br>
                        <a:rPr lang="es-CO" sz="1400" dirty="0">
                          <a:latin typeface="Consolas" panose="020B0609020204030204" pitchFamily="49" charset="0"/>
                        </a:rPr>
                      </a:br>
                      <a:r>
                        <a:rPr lang="es-CO" sz="14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pt-BR" sz="1400" dirty="0">
                          <a:latin typeface="Consolas" panose="020B0609020204030204" pitchFamily="49" charset="0"/>
                        </a:rPr>
                        <a:t>...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 A[i] </a:t>
                      </a:r>
                      <a:r>
                        <a:rPr lang="pt-BR" sz="1400" dirty="0">
                          <a:latin typeface="Consolas" panose="020B0609020204030204" pitchFamily="49" charset="0"/>
                        </a:rPr>
                        <a:t>...</a:t>
                      </a:r>
                      <a:r>
                        <a:rPr lang="es-CO" sz="1400" dirty="0">
                          <a:latin typeface="Consolas" panose="020B0609020204030204" pitchFamily="49" charset="0"/>
                        </a:rPr>
                        <a:t> A[i + 1] </a:t>
                      </a:r>
                      <a:r>
                        <a:rPr lang="pt-BR" sz="1400" dirty="0">
                          <a:latin typeface="Consolas" panose="020B0609020204030204" pitchFamily="49" charset="0"/>
                        </a:rPr>
                        <a:t>...</a:t>
                      </a:r>
                      <a:endParaRPr lang="es-CO" sz="1400" dirty="0">
                        <a:latin typeface="Consolas" panose="020B0609020204030204" pitchFamily="49" charset="0"/>
                      </a:endParaRP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4085212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r>
                        <a:rPr lang="es-CO" sz="1600" b="1" dirty="0"/>
                        <a:t>Clonar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latin typeface="Consolas" panose="020B0609020204030204" pitchFamily="49" charset="0"/>
                        </a:rPr>
                        <a:t>B = Arreglo(N)</a:t>
                      </a:r>
                    </a:p>
                    <a:p>
                      <a:r>
                        <a:rPr lang="pt-BR" sz="1400" dirty="0">
                          <a:latin typeface="Consolas" panose="020B0609020204030204" pitchFamily="49" charset="0"/>
                        </a:rPr>
                        <a:t>Para (i = 0, N - 1, 1) Haga</a:t>
                      </a:r>
                    </a:p>
                    <a:p>
                      <a:r>
                        <a:rPr lang="pt-BR" sz="1400" dirty="0">
                          <a:latin typeface="Consolas" panose="020B0609020204030204" pitchFamily="49" charset="0"/>
                        </a:rPr>
                        <a:t>  B[i] = A[i]</a:t>
                      </a:r>
                    </a:p>
                    <a:p>
                      <a:r>
                        <a:rPr lang="pt-BR" sz="1400" dirty="0">
                          <a:latin typeface="Consolas" panose="020B0609020204030204" pitchFamily="49" charset="0"/>
                        </a:rPr>
                        <a:t>Fin_Para</a:t>
                      </a:r>
                      <a:endParaRPr lang="es-CO" sz="1400" dirty="0">
                        <a:latin typeface="Consolas" panose="020B0609020204030204" pitchFamily="49" charset="0"/>
                      </a:endParaRP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latin typeface="Consolas" panose="020B0609020204030204" pitchFamily="49" charset="0"/>
                        </a:rPr>
                        <a:t>B = A[:] o B = </a:t>
                      </a:r>
                      <a:r>
                        <a:rPr lang="pt-BR" sz="1400" dirty="0" err="1">
                          <a:latin typeface="Consolas" panose="020B0609020204030204" pitchFamily="49" charset="0"/>
                        </a:rPr>
                        <a:t>list</a:t>
                      </a:r>
                      <a:r>
                        <a:rPr lang="pt-BR" sz="1400" dirty="0">
                          <a:latin typeface="Consolas" panose="020B0609020204030204" pitchFamily="49" charset="0"/>
                        </a:rPr>
                        <a:t>(A)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7955094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r>
                        <a:rPr lang="es-CO" sz="1600" b="1" dirty="0"/>
                        <a:t>Último</a:t>
                      </a:r>
                      <a:r>
                        <a:rPr lang="es-CO" sz="1600" dirty="0"/>
                        <a:t> elemento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A[N - 1]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latin typeface="Consolas" panose="020B0609020204030204" pitchFamily="49" charset="0"/>
                        </a:rPr>
                        <a:t>A[N - 1] o A[-1]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1636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26077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7768" y="323392"/>
            <a:ext cx="8892480" cy="720452"/>
          </a:xfrm>
        </p:spPr>
        <p:txBody>
          <a:bodyPr>
            <a:noAutofit/>
          </a:bodyPr>
          <a:lstStyle/>
          <a:p>
            <a:r>
              <a:rPr lang="es-MX" sz="3200" dirty="0"/>
              <a:t>Funciones con listas</a:t>
            </a:r>
            <a:endParaRPr lang="es-CO" sz="3200" dirty="0"/>
          </a:p>
        </p:txBody>
      </p:sp>
      <p:sp>
        <p:nvSpPr>
          <p:cNvPr id="13" name="12 Rectángulo"/>
          <p:cNvSpPr/>
          <p:nvPr/>
        </p:nvSpPr>
        <p:spPr>
          <a:xfrm>
            <a:off x="223550" y="1043844"/>
            <a:ext cx="872268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dirty="0"/>
              <a:t>Una lista puede </a:t>
            </a:r>
            <a:r>
              <a:rPr lang="es-MX" sz="2000" b="1" dirty="0"/>
              <a:t>entrar</a:t>
            </a:r>
            <a:r>
              <a:rPr lang="es-MX" sz="2000" dirty="0"/>
              <a:t> a una función, </a:t>
            </a:r>
            <a:r>
              <a:rPr lang="es-MX" sz="2000" b="1" dirty="0"/>
              <a:t>salir</a:t>
            </a:r>
            <a:r>
              <a:rPr lang="es-MX" sz="2000" dirty="0"/>
              <a:t> de ella, o </a:t>
            </a:r>
            <a:r>
              <a:rPr lang="es-MX" sz="2000" b="1" dirty="0"/>
              <a:t>entrar y salir modificada</a:t>
            </a:r>
            <a:r>
              <a:rPr lang="es-MX" sz="2000" dirty="0"/>
              <a:t>. A continuación se va a analizar cada caso por separado:</a:t>
            </a:r>
            <a:endParaRPr lang="es-MX" sz="20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586EFF-7F6E-47D9-9C78-C7F38137F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803" y="1931344"/>
            <a:ext cx="8316409" cy="387798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C9AF9BD4-79BB-4BDD-8353-267B7D4946BD}"/>
              </a:ext>
            </a:extLst>
          </p:cNvPr>
          <p:cNvSpPr txBox="1"/>
          <p:nvPr/>
        </p:nvSpPr>
        <p:spPr>
          <a:xfrm>
            <a:off x="134888" y="6349942"/>
            <a:ext cx="887422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b="1" dirty="0"/>
              <a:t>Idea clave:</a:t>
            </a:r>
            <a:r>
              <a:rPr lang="es-MX" dirty="0"/>
              <a:t> Lo que distingue cada caso es </a:t>
            </a:r>
            <a:r>
              <a:rPr lang="es-MX" b="1" dirty="0"/>
              <a:t>qué entra, qué sale y si la lista cambia</a:t>
            </a:r>
            <a:r>
              <a:rPr lang="es-MX" dirty="0"/>
              <a:t>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967682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7768" y="323392"/>
            <a:ext cx="8892480" cy="720452"/>
          </a:xfrm>
        </p:spPr>
        <p:txBody>
          <a:bodyPr>
            <a:noAutofit/>
          </a:bodyPr>
          <a:lstStyle/>
          <a:p>
            <a:r>
              <a:rPr lang="es-MX" sz="3200" dirty="0"/>
              <a:t>Caso 1: la función recibe una lista y devuelve un valor</a:t>
            </a:r>
            <a:endParaRPr lang="es-CO" sz="3200" dirty="0"/>
          </a:p>
        </p:txBody>
      </p:sp>
      <p:sp>
        <p:nvSpPr>
          <p:cNvPr id="13" name="12 Rectángulo"/>
          <p:cNvSpPr/>
          <p:nvPr/>
        </p:nvSpPr>
        <p:spPr>
          <a:xfrm>
            <a:off x="223550" y="1043844"/>
            <a:ext cx="872268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La función recibe la</a:t>
            </a:r>
            <a:r>
              <a:rPr lang="es-MX" sz="2000" dirty="0"/>
              <a:t> </a:t>
            </a:r>
            <a:r>
              <a:rPr lang="es-MX" sz="2000" b="1" dirty="0"/>
              <a:t>lista completa como un solo parámetro</a:t>
            </a:r>
            <a:r>
              <a:rPr lang="es-MX" sz="2000" dirty="0"/>
              <a:t>: </a:t>
            </a:r>
            <a:r>
              <a:rPr lang="es-MX" b="1" dirty="0">
                <a:latin typeface="Consolas" panose="020B0609020204030204" pitchFamily="49" charset="0"/>
              </a:rPr>
              <a:t>notas</a:t>
            </a:r>
            <a:r>
              <a:rPr lang="es-MX" sz="2000" dirty="0"/>
              <a:t>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No conoce</a:t>
            </a:r>
            <a:r>
              <a:rPr lang="es-MX" sz="2000" dirty="0"/>
              <a:t> </a:t>
            </a:r>
            <a:r>
              <a:rPr lang="es-MX" b="1" dirty="0">
                <a:latin typeface="Consolas" panose="020B0609020204030204" pitchFamily="49" charset="0"/>
              </a:rPr>
              <a:t>N</a:t>
            </a:r>
            <a:r>
              <a:rPr lang="es-MX" sz="2000" dirty="0"/>
              <a:t>: con </a:t>
            </a:r>
            <a:r>
              <a:rPr lang="es-MX" b="1" dirty="0">
                <a:latin typeface="Consolas" panose="020B0609020204030204" pitchFamily="49" charset="0"/>
              </a:rPr>
              <a:t>len(notas)</a:t>
            </a:r>
            <a:r>
              <a:rPr lang="es-MX" sz="2000" dirty="0"/>
              <a:t> sabe cuántos elementos tiene, así sirve para listas de cualquier tamaño.</a:t>
            </a:r>
          </a:p>
          <a:p>
            <a:pPr rtl="0"/>
            <a:endParaRPr lang="es-MX" sz="2000" b="1" dirty="0"/>
          </a:p>
          <a:p>
            <a:pPr rtl="0"/>
            <a:r>
              <a:rPr lang="es-CO" sz="2000" b="1" dirty="0"/>
              <a:t>Definición</a:t>
            </a:r>
            <a:r>
              <a:rPr lang="es-CO" sz="2000" dirty="0"/>
              <a:t> (</a:t>
            </a:r>
            <a:r>
              <a:rPr lang="es-CO" sz="2000" dirty="0">
                <a:hlinkClick r:id="rId2"/>
              </a:rPr>
              <a:t>simulación</a:t>
            </a:r>
            <a:r>
              <a:rPr lang="es-CO" sz="2000" dirty="0"/>
              <a:t>):</a:t>
            </a:r>
            <a:endParaRPr lang="es-MX" sz="20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83DB4B9-95E5-4BAF-80DB-597DA250B962}"/>
              </a:ext>
            </a:extLst>
          </p:cNvPr>
          <p:cNvSpPr txBox="1"/>
          <p:nvPr/>
        </p:nvSpPr>
        <p:spPr>
          <a:xfrm>
            <a:off x="223550" y="4233072"/>
            <a:ext cx="6301358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sz="1200" dirty="0" err="1">
                <a:latin typeface="Consolas" panose="020B0609020204030204" pitchFamily="49" charset="0"/>
              </a:rPr>
              <a:t>def</a:t>
            </a:r>
            <a:r>
              <a:rPr lang="es-MX" sz="1200" dirty="0">
                <a:latin typeface="Consolas" panose="020B0609020204030204" pitchFamily="49" charset="0"/>
              </a:rPr>
              <a:t> </a:t>
            </a:r>
            <a:r>
              <a:rPr lang="es-MX" sz="1200" dirty="0" err="1">
                <a:latin typeface="Consolas" panose="020B0609020204030204" pitchFamily="49" charset="0"/>
              </a:rPr>
              <a:t>calcular_promedio</a:t>
            </a:r>
            <a:r>
              <a:rPr lang="es-MX" sz="1200" dirty="0">
                <a:latin typeface="Consolas" panose="020B0609020204030204" pitchFamily="49" charset="0"/>
              </a:rPr>
              <a:t>(notas):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"""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Supone: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notas es una lista de 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numeros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con al menos un elemento.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Garantiza: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Retorna el promedio de las notas (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float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). No modifica notas.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"""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suma = 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latin typeface="Consolas" panose="020B0609020204030204" pitchFamily="49" charset="0"/>
              </a:rPr>
              <a:t>for</a:t>
            </a:r>
            <a:r>
              <a:rPr lang="es-MX" sz="1200" dirty="0">
                <a:latin typeface="Consolas" panose="020B0609020204030204" pitchFamily="49" charset="0"/>
              </a:rPr>
              <a:t> i in range(len(notas)):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    suma = suma + notas[i]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promedio = suma / len(notas)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return promedio</a:t>
            </a:r>
            <a:endParaRPr lang="es-CO" sz="1200" dirty="0">
              <a:latin typeface="Consolas" panose="020B0609020204030204" pitchFamily="49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CAEC491-E518-4E1F-952F-870DF5E06E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709" y="2290278"/>
            <a:ext cx="6237291" cy="185052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342944E-812B-406F-A228-FBFEDB894EE5}"/>
              </a:ext>
            </a:extLst>
          </p:cNvPr>
          <p:cNvSpPr txBox="1"/>
          <p:nvPr/>
        </p:nvSpPr>
        <p:spPr>
          <a:xfrm>
            <a:off x="6804248" y="4941168"/>
            <a:ext cx="1919266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dirty="0"/>
              <a:t>El </a:t>
            </a:r>
            <a:r>
              <a:rPr lang="es-MX" b="1" dirty="0"/>
              <a:t>Garantiza</a:t>
            </a:r>
            <a:r>
              <a:rPr lang="es-MX" dirty="0"/>
              <a:t> dice </a:t>
            </a:r>
            <a:r>
              <a:rPr lang="es-MX" i="1" dirty="0"/>
              <a:t>“No modifica notas”</a:t>
            </a:r>
            <a:r>
              <a:rPr lang="es-MX" dirty="0"/>
              <a:t>: la función solo lee la lista.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773200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7768" y="323392"/>
            <a:ext cx="8892480" cy="720452"/>
          </a:xfrm>
        </p:spPr>
        <p:txBody>
          <a:bodyPr>
            <a:noAutofit/>
          </a:bodyPr>
          <a:lstStyle/>
          <a:p>
            <a:r>
              <a:rPr lang="es-MX" sz="3200" dirty="0"/>
              <a:t>Caso 1: invocar la función con una lista</a:t>
            </a:r>
            <a:endParaRPr lang="es-CO" sz="3200" dirty="0"/>
          </a:p>
        </p:txBody>
      </p:sp>
      <p:sp>
        <p:nvSpPr>
          <p:cNvPr id="13" name="12 Rectángulo"/>
          <p:cNvSpPr/>
          <p:nvPr/>
        </p:nvSpPr>
        <p:spPr>
          <a:xfrm>
            <a:off x="53752" y="1043844"/>
            <a:ext cx="903649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Al invocar se escribe solo el nombre de la lista</a:t>
            </a:r>
            <a:r>
              <a:rPr lang="es-MX" sz="2000" dirty="0"/>
              <a:t>: </a:t>
            </a:r>
            <a:r>
              <a:rPr lang="es-MX" b="1" dirty="0">
                <a:latin typeface="Consolas" panose="020B0609020204030204" pitchFamily="49" charset="0"/>
              </a:rPr>
              <a:t>calcular_promedio(lista_notas)</a:t>
            </a:r>
            <a:r>
              <a:rPr lang="es-MX" sz="2000" dirty="0"/>
              <a:t>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Adentro, el parámetro </a:t>
            </a:r>
            <a:r>
              <a:rPr lang="es-MX" b="1" dirty="0">
                <a:latin typeface="Consolas" panose="020B0609020204030204" pitchFamily="49" charset="0"/>
              </a:rPr>
              <a:t>notas</a:t>
            </a:r>
            <a:r>
              <a:rPr lang="es-MX" sz="2000" b="1" dirty="0"/>
              <a:t> es otro nombre para la misma lista</a:t>
            </a:r>
            <a:r>
              <a:rPr lang="es-MX" sz="2000" dirty="0"/>
              <a:t>: un </a:t>
            </a:r>
            <a:r>
              <a:rPr lang="es-MX" sz="2000" b="1" dirty="0"/>
              <a:t>alias</a:t>
            </a:r>
            <a:r>
              <a:rPr lang="es-MX" sz="2000" dirty="0"/>
              <a:t>. Como esta función solo lee, no hay efecto secundario.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rtl="0"/>
            <a:r>
              <a:rPr lang="es-CO" sz="2000" b="1" dirty="0"/>
              <a:t>Programa</a:t>
            </a:r>
            <a:r>
              <a:rPr lang="es-CO" sz="2000" dirty="0"/>
              <a:t> (</a:t>
            </a:r>
            <a:r>
              <a:rPr lang="es-CO" sz="2000" dirty="0">
                <a:hlinkClick r:id="rId2"/>
              </a:rPr>
              <a:t>simulación</a:t>
            </a:r>
            <a:r>
              <a:rPr lang="es-CO" sz="2000" dirty="0"/>
              <a:t>) y </a:t>
            </a:r>
            <a:r>
              <a:rPr lang="es-CO" sz="2000" b="1" dirty="0"/>
              <a:t>Salida</a:t>
            </a:r>
            <a:r>
              <a:rPr lang="es-CO" sz="2000" dirty="0"/>
              <a:t>: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AAC5224-36DA-4CD3-BD65-C64EC1C2A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724" y="2485742"/>
            <a:ext cx="7254552" cy="1886516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B158AAA3-2AE9-45E7-A15B-05261B722A8D}"/>
              </a:ext>
            </a:extLst>
          </p:cNvPr>
          <p:cNvGrpSpPr/>
          <p:nvPr/>
        </p:nvGrpSpPr>
        <p:grpSpPr>
          <a:xfrm>
            <a:off x="479044" y="4820959"/>
            <a:ext cx="4392488" cy="1200329"/>
            <a:chOff x="395536" y="5181870"/>
            <a:chExt cx="4392488" cy="1200329"/>
          </a:xfrm>
        </p:grpSpPr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D83DB4B9-95E5-4BAF-80DB-597DA250B962}"/>
                </a:ext>
              </a:extLst>
            </p:cNvPr>
            <p:cNvSpPr txBox="1"/>
            <p:nvPr/>
          </p:nvSpPr>
          <p:spPr>
            <a:xfrm>
              <a:off x="395536" y="5551202"/>
              <a:ext cx="4392488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s-MX" sz="1600" dirty="0" err="1">
                  <a:latin typeface="Consolas" panose="020B0609020204030204" pitchFamily="49" charset="0"/>
                </a:rPr>
                <a:t>lista_notas</a:t>
              </a:r>
              <a:r>
                <a:rPr lang="es-MX" sz="1600" dirty="0">
                  <a:latin typeface="Consolas" panose="020B0609020204030204" pitchFamily="49" charset="0"/>
                </a:rPr>
                <a:t> = [3.0, 4.5, 2.0, 4.0]</a:t>
              </a:r>
            </a:p>
            <a:p>
              <a:r>
                <a:rPr lang="es-MX" sz="1600" dirty="0" err="1">
                  <a:latin typeface="Consolas" panose="020B0609020204030204" pitchFamily="49" charset="0"/>
                </a:rPr>
                <a:t>prom</a:t>
              </a:r>
              <a:r>
                <a:rPr lang="es-MX" sz="1600" dirty="0">
                  <a:latin typeface="Consolas" panose="020B0609020204030204" pitchFamily="49" charset="0"/>
                </a:rPr>
                <a:t> = </a:t>
              </a:r>
              <a:r>
                <a:rPr lang="es-MX" sz="1600" dirty="0" err="1">
                  <a:latin typeface="Consolas" panose="020B0609020204030204" pitchFamily="49" charset="0"/>
                </a:rPr>
                <a:t>calcular_promedio</a:t>
              </a:r>
              <a:r>
                <a:rPr lang="es-MX" sz="1600" dirty="0">
                  <a:latin typeface="Consolas" panose="020B0609020204030204" pitchFamily="49" charset="0"/>
                </a:rPr>
                <a:t>(</a:t>
              </a:r>
              <a:r>
                <a:rPr lang="es-MX" sz="1600" dirty="0" err="1">
                  <a:latin typeface="Consolas" panose="020B0609020204030204" pitchFamily="49" charset="0"/>
                </a:rPr>
                <a:t>lista_notas</a:t>
              </a:r>
              <a:r>
                <a:rPr lang="es-MX" sz="1600" dirty="0">
                  <a:latin typeface="Consolas" panose="020B0609020204030204" pitchFamily="49" charset="0"/>
                </a:rPr>
                <a:t>)</a:t>
              </a:r>
            </a:p>
            <a:p>
              <a:r>
                <a:rPr lang="es-MX" sz="1600" dirty="0">
                  <a:latin typeface="Consolas" panose="020B0609020204030204" pitchFamily="49" charset="0"/>
                </a:rPr>
                <a:t>print(</a:t>
              </a:r>
              <a:r>
                <a:rPr lang="es-MX" sz="1600" dirty="0" err="1">
                  <a:latin typeface="Consolas" panose="020B0609020204030204" pitchFamily="49" charset="0"/>
                </a:rPr>
                <a:t>f"Promedio</a:t>
              </a:r>
              <a:r>
                <a:rPr lang="es-MX" sz="1600" dirty="0">
                  <a:latin typeface="Consolas" panose="020B0609020204030204" pitchFamily="49" charset="0"/>
                </a:rPr>
                <a:t>: {prom:.2f}")</a:t>
              </a:r>
              <a:endParaRPr lang="es-CO" sz="1600" dirty="0">
                <a:latin typeface="Consolas" panose="020B0609020204030204" pitchFamily="49" charset="0"/>
              </a:endParaRP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CF56D24B-40D9-41CA-ABED-D45E1BC37163}"/>
                </a:ext>
              </a:extLst>
            </p:cNvPr>
            <p:cNvSpPr txBox="1"/>
            <p:nvPr/>
          </p:nvSpPr>
          <p:spPr>
            <a:xfrm>
              <a:off x="1665176" y="5181870"/>
              <a:ext cx="212213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1800" b="1" dirty="0"/>
                <a:t>Código invocación</a:t>
              </a:r>
              <a:endParaRPr lang="es-CO" dirty="0"/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B062751E-C1F6-4679-8C1D-B24500DB7C3A}"/>
              </a:ext>
            </a:extLst>
          </p:cNvPr>
          <p:cNvGrpSpPr/>
          <p:nvPr/>
        </p:nvGrpSpPr>
        <p:grpSpPr>
          <a:xfrm>
            <a:off x="5572555" y="4990816"/>
            <a:ext cx="3092401" cy="742440"/>
            <a:chOff x="5292080" y="5393537"/>
            <a:chExt cx="3092401" cy="742440"/>
          </a:xfrm>
        </p:grpSpPr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FFBB13D0-A5A5-4F77-92E3-DD746E6EE6FA}"/>
                </a:ext>
              </a:extLst>
            </p:cNvPr>
            <p:cNvSpPr txBox="1"/>
            <p:nvPr/>
          </p:nvSpPr>
          <p:spPr>
            <a:xfrm>
              <a:off x="5292080" y="5797423"/>
              <a:ext cx="3092401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s-MX" sz="1600" dirty="0">
                  <a:latin typeface="Consolas" panose="020B0609020204030204" pitchFamily="49" charset="0"/>
                </a:rPr>
                <a:t>Promedio: 3.38</a:t>
              </a:r>
              <a:endParaRPr lang="es-CO" sz="1600" dirty="0">
                <a:latin typeface="Consolas" panose="020B0609020204030204" pitchFamily="49" charset="0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570FD75F-14BE-4FEC-B3BC-BB612F9BCB91}"/>
                </a:ext>
              </a:extLst>
            </p:cNvPr>
            <p:cNvSpPr txBox="1"/>
            <p:nvPr/>
          </p:nvSpPr>
          <p:spPr>
            <a:xfrm>
              <a:off x="5777210" y="5393537"/>
              <a:ext cx="212213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1800" b="1" dirty="0"/>
                <a:t>Salida en pantalla</a:t>
              </a:r>
              <a:endParaRPr lang="es-CO" dirty="0"/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D1DDB98-F25C-42DB-B3E6-4F0B4A970EF2}"/>
              </a:ext>
            </a:extLst>
          </p:cNvPr>
          <p:cNvSpPr txBox="1"/>
          <p:nvPr/>
        </p:nvSpPr>
        <p:spPr>
          <a:xfrm>
            <a:off x="0" y="6239053"/>
            <a:ext cx="9144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CO" b="1" dirty="0"/>
              <a:t>Observación importante</a:t>
            </a:r>
            <a:r>
              <a:rPr lang="es-CO" dirty="0"/>
              <a:t>: La misma función sirve para cualquier lista: </a:t>
            </a:r>
            <a:r>
              <a:rPr lang="es-CO" sz="1600" b="1" dirty="0">
                <a:latin typeface="Consolas" panose="020B0609020204030204" pitchFamily="49" charset="0"/>
              </a:rPr>
              <a:t>calcular_promedio([4.0, 3.5])</a:t>
            </a:r>
            <a:r>
              <a:rPr lang="es-CO" dirty="0"/>
              <a:t> devuelve </a:t>
            </a:r>
            <a:r>
              <a:rPr lang="es-CO" sz="1600" b="1" dirty="0">
                <a:latin typeface="Consolas" panose="020B0609020204030204" pitchFamily="49" charset="0"/>
              </a:rPr>
              <a:t>3.75</a:t>
            </a:r>
            <a:r>
              <a:rPr lang="es-C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4441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720452"/>
          </a:xfrm>
        </p:spPr>
        <p:txBody>
          <a:bodyPr>
            <a:noAutofit/>
          </a:bodyPr>
          <a:lstStyle/>
          <a:p>
            <a:r>
              <a:rPr lang="es-MX" sz="3600" dirty="0"/>
              <a:t>Caso 1: probar la función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269193" y="749017"/>
            <a:ext cx="864096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CO" sz="2000" b="1" dirty="0"/>
              <a:t>Pruebas</a:t>
            </a:r>
            <a:r>
              <a:rPr lang="es-CO" sz="2000" dirty="0"/>
              <a:t> (</a:t>
            </a:r>
            <a:r>
              <a:rPr lang="es-CO" sz="2000" dirty="0">
                <a:hlinkClick r:id="rId2"/>
              </a:rPr>
              <a:t>simulación</a:t>
            </a:r>
            <a:r>
              <a:rPr lang="es-CO" sz="2000" dirty="0"/>
              <a:t>):</a:t>
            </a:r>
          </a:p>
          <a:p>
            <a:pPr rtl="0"/>
            <a:endParaRPr lang="es-CO" sz="2000" b="1" dirty="0">
              <a:latin typeface="Consolas" panose="020B0609020204030204" pitchFamily="49" charset="0"/>
            </a:endParaRPr>
          </a:p>
          <a:p>
            <a:pPr rtl="0"/>
            <a:endParaRPr lang="es-CO" sz="2000" b="1" dirty="0">
              <a:latin typeface="Consolas" panose="020B0609020204030204" pitchFamily="49" charset="0"/>
            </a:endParaRPr>
          </a:p>
          <a:p>
            <a:pPr rtl="0"/>
            <a:endParaRPr lang="es-CO" sz="2000" b="1" dirty="0">
              <a:latin typeface="Consolas" panose="020B0609020204030204" pitchFamily="49" charset="0"/>
            </a:endParaRPr>
          </a:p>
          <a:p>
            <a:pPr rtl="0"/>
            <a:endParaRPr lang="es-CO" sz="2000" b="1" dirty="0">
              <a:latin typeface="Consolas" panose="020B0609020204030204" pitchFamily="49" charset="0"/>
            </a:endParaRPr>
          </a:p>
          <a:p>
            <a:pPr rtl="0"/>
            <a:endParaRPr lang="es-CO" sz="2000" b="1" dirty="0">
              <a:latin typeface="Consolas" panose="020B0609020204030204" pitchFamily="49" charset="0"/>
            </a:endParaRPr>
          </a:p>
          <a:p>
            <a:pPr rtl="0"/>
            <a:endParaRPr lang="es-CO" sz="2000" b="1" dirty="0">
              <a:latin typeface="Consolas" panose="020B0609020204030204" pitchFamily="49" charset="0"/>
            </a:endParaRPr>
          </a:p>
          <a:p>
            <a:pPr rtl="0"/>
            <a:endParaRPr lang="es-CO" sz="2000" b="1" dirty="0">
              <a:latin typeface="Consolas" panose="020B0609020204030204" pitchFamily="49" charset="0"/>
            </a:endParaRPr>
          </a:p>
          <a:p>
            <a:pPr rtl="0"/>
            <a:r>
              <a:rPr lang="es-MX" sz="2000" b="1" dirty="0"/>
              <a:t>Tabla de casos de prueba:</a:t>
            </a:r>
            <a:endParaRPr lang="es-MX" sz="2000" b="1" dirty="0">
              <a:latin typeface="Consolas" panose="020B0609020204030204" pitchFamily="49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6F819BF-8F43-40F3-8FDE-ED1EE531B97F}"/>
              </a:ext>
            </a:extLst>
          </p:cNvPr>
          <p:cNvSpPr txBox="1"/>
          <p:nvPr/>
        </p:nvSpPr>
        <p:spPr>
          <a:xfrm>
            <a:off x="377280" y="1196752"/>
            <a:ext cx="8416317" cy="18928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sz="1300" dirty="0" err="1">
                <a:latin typeface="Consolas" panose="020B0609020204030204" pitchFamily="49" charset="0"/>
              </a:rPr>
              <a:t>assert</a:t>
            </a:r>
            <a:r>
              <a:rPr lang="es-MX" sz="1300" dirty="0">
                <a:latin typeface="Consolas" panose="020B0609020204030204" pitchFamily="49" charset="0"/>
              </a:rPr>
              <a:t> round(calcular_promedio([3.0, 4.5, 2.0, 4.0]), 3) == 3.375   # </a:t>
            </a:r>
            <a:r>
              <a:rPr lang="es-MX" sz="1300" dirty="0" err="1">
                <a:latin typeface="Consolas" panose="020B0609020204030204" pitchFamily="49" charset="0"/>
              </a:rPr>
              <a:t>tipico</a:t>
            </a:r>
            <a:endParaRPr lang="es-MX" sz="1300" dirty="0">
              <a:latin typeface="Consolas" panose="020B0609020204030204" pitchFamily="49" charset="0"/>
            </a:endParaRPr>
          </a:p>
          <a:p>
            <a:r>
              <a:rPr lang="es-MX" sz="1300" dirty="0" err="1">
                <a:latin typeface="Consolas" panose="020B0609020204030204" pitchFamily="49" charset="0"/>
              </a:rPr>
              <a:t>assert</a:t>
            </a:r>
            <a:r>
              <a:rPr lang="es-MX" sz="1300" dirty="0">
                <a:latin typeface="Consolas" panose="020B0609020204030204" pitchFamily="49" charset="0"/>
              </a:rPr>
              <a:t> calcular_promedio([3.5]) == 3.5                              # limite</a:t>
            </a:r>
          </a:p>
          <a:p>
            <a:r>
              <a:rPr lang="es-MX" sz="1300" dirty="0" err="1">
                <a:latin typeface="Consolas" panose="020B0609020204030204" pitchFamily="49" charset="0"/>
              </a:rPr>
              <a:t>assert</a:t>
            </a:r>
            <a:r>
              <a:rPr lang="es-MX" sz="1300" dirty="0">
                <a:latin typeface="Consolas" panose="020B0609020204030204" pitchFamily="49" charset="0"/>
              </a:rPr>
              <a:t> calcular_promedio([4.0, 4.0, 4.0]) == 4.0                    # especial</a:t>
            </a:r>
          </a:p>
          <a:p>
            <a:endParaRPr lang="es-MX" sz="1300" dirty="0">
              <a:latin typeface="Consolas" panose="020B0609020204030204" pitchFamily="49" charset="0"/>
            </a:endParaRPr>
          </a:p>
          <a:p>
            <a:r>
              <a:rPr lang="es-MX" sz="1300" dirty="0">
                <a:latin typeface="Consolas" panose="020B0609020204030204" pitchFamily="49" charset="0"/>
              </a:rPr>
              <a:t>datos = [3.0, 4.5, 2.0, 4.0]</a:t>
            </a:r>
          </a:p>
          <a:p>
            <a:r>
              <a:rPr lang="es-MX" sz="1300" dirty="0">
                <a:latin typeface="Consolas" panose="020B0609020204030204" pitchFamily="49" charset="0"/>
              </a:rPr>
              <a:t>calcular_promedio(datos)</a:t>
            </a:r>
          </a:p>
          <a:p>
            <a:r>
              <a:rPr lang="es-MX" sz="1300" dirty="0" err="1">
                <a:latin typeface="Consolas" panose="020B0609020204030204" pitchFamily="49" charset="0"/>
              </a:rPr>
              <a:t>assert</a:t>
            </a:r>
            <a:r>
              <a:rPr lang="es-MX" sz="1300" dirty="0">
                <a:latin typeface="Consolas" panose="020B0609020204030204" pitchFamily="49" charset="0"/>
              </a:rPr>
              <a:t> datos == [3.0, 4.5, 2.0, 4.0]                                # no modifica</a:t>
            </a:r>
          </a:p>
          <a:p>
            <a:endParaRPr lang="es-MX" sz="1300" dirty="0">
              <a:latin typeface="Consolas" panose="020B0609020204030204" pitchFamily="49" charset="0"/>
            </a:endParaRPr>
          </a:p>
          <a:p>
            <a:r>
              <a:rPr lang="es-MX" sz="1300" dirty="0">
                <a:latin typeface="Consolas" panose="020B0609020204030204" pitchFamily="49" charset="0"/>
              </a:rPr>
              <a:t>print("Todas las pruebas pasaron")</a:t>
            </a:r>
            <a:endParaRPr lang="es-CO" sz="13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953BA8B-49A0-4EB1-8FE4-5587E90B6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666959"/>
              </p:ext>
            </p:extLst>
          </p:nvPr>
        </p:nvGraphicFramePr>
        <p:xfrm>
          <a:off x="385749" y="3611339"/>
          <a:ext cx="8407848" cy="2164080"/>
        </p:xfrm>
        <a:graphic>
          <a:graphicData uri="http://schemas.openxmlformats.org/drawingml/2006/table">
            <a:tbl>
              <a:tblPr/>
              <a:tblGrid>
                <a:gridCol w="1207046">
                  <a:extLst>
                    <a:ext uri="{9D8B030D-6E8A-4147-A177-3AD203B41FA5}">
                      <a16:colId xmlns:a16="http://schemas.microsoft.com/office/drawing/2014/main" val="396506013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3661545983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3996277007"/>
                    </a:ext>
                  </a:extLst>
                </a:gridCol>
                <a:gridCol w="2736306">
                  <a:extLst>
                    <a:ext uri="{9D8B030D-6E8A-4147-A177-3AD203B41FA5}">
                      <a16:colId xmlns:a16="http://schemas.microsoft.com/office/drawing/2014/main" val="1907996216"/>
                    </a:ext>
                  </a:extLst>
                </a:gridCol>
              </a:tblGrid>
              <a:tr h="317592">
                <a:tc>
                  <a:txBody>
                    <a:bodyPr/>
                    <a:lstStyle/>
                    <a:p>
                      <a:r>
                        <a:rPr lang="es-CO" sz="1600" b="1"/>
                        <a:t>Caso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/>
                        <a:t>Entrada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/>
                        <a:t>Resultado esperado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/>
                        <a:t>Por qué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588028"/>
                  </a:ext>
                </a:extLst>
              </a:tr>
              <a:tr h="317592">
                <a:tc>
                  <a:txBody>
                    <a:bodyPr/>
                    <a:lstStyle/>
                    <a:p>
                      <a:r>
                        <a:rPr lang="es-CO" sz="1600"/>
                        <a:t>Típico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[3.0, 4.5, 2.0, 4.0]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latin typeface="Consolas" panose="020B0609020204030204" pitchFamily="49" charset="0"/>
                        </a:rPr>
                        <a:t>3.375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El ejemplo de la clase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14408"/>
                  </a:ext>
                </a:extLst>
              </a:tr>
              <a:tr h="548567">
                <a:tc>
                  <a:txBody>
                    <a:bodyPr/>
                    <a:lstStyle/>
                    <a:p>
                      <a:r>
                        <a:rPr lang="es-CO" sz="1600"/>
                        <a:t>Límite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[3.5]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latin typeface="Consolas" panose="020B0609020204030204" pitchFamily="49" charset="0"/>
                        </a:rPr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/>
                        <a:t>La lista más corta que permite el </a:t>
                      </a:r>
                      <a:r>
                        <a:rPr lang="es-MX" sz="1600" b="1"/>
                        <a:t>Supone</a:t>
                      </a:r>
                      <a:endParaRPr lang="es-MX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64042"/>
                  </a:ext>
                </a:extLst>
              </a:tr>
              <a:tr h="548567">
                <a:tc>
                  <a:txBody>
                    <a:bodyPr/>
                    <a:lstStyle/>
                    <a:p>
                      <a:r>
                        <a:rPr lang="es-CO" sz="1600"/>
                        <a:t>Especial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[4.0, 4.0, 4.0]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4.0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/>
                        <a:t>Si todas son iguales, el promedio es ese valor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1247802"/>
                  </a:ext>
                </a:extLst>
              </a:tr>
              <a:tr h="317592">
                <a:tc>
                  <a:txBody>
                    <a:bodyPr/>
                    <a:lstStyle/>
                    <a:p>
                      <a:r>
                        <a:rPr lang="es-CO" sz="1600"/>
                        <a:t>Garantiza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datos antes y después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sin cambios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Verifica </a:t>
                      </a:r>
                      <a:r>
                        <a:rPr lang="es-CO" sz="1600" i="1" dirty="0"/>
                        <a:t>“No modifica notas”</a:t>
                      </a:r>
                      <a:endParaRPr lang="es-CO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3423529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FC2D1C7D-9AC5-4B30-95E4-1E70E98CA75C}"/>
              </a:ext>
            </a:extLst>
          </p:cNvPr>
          <p:cNvSpPr txBox="1"/>
          <p:nvPr/>
        </p:nvSpPr>
        <p:spPr>
          <a:xfrm>
            <a:off x="377280" y="5974014"/>
            <a:ext cx="8407848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b="1" dirty="0"/>
              <a:t>Idea clave:</a:t>
            </a:r>
            <a:r>
              <a:rPr lang="es-MX" dirty="0"/>
              <a:t> Probar una función también es comprobar su contrato: lo que </a:t>
            </a:r>
            <a:r>
              <a:rPr lang="es-MX" b="1" dirty="0"/>
              <a:t>devuelve</a:t>
            </a:r>
            <a:r>
              <a:rPr lang="es-MX" dirty="0"/>
              <a:t> y lo que </a:t>
            </a:r>
            <a:r>
              <a:rPr lang="es-MX" b="1" dirty="0"/>
              <a:t>no cambia</a:t>
            </a:r>
            <a:r>
              <a:rPr lang="es-MX" dirty="0"/>
              <a:t>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853262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7768" y="323392"/>
            <a:ext cx="8892480" cy="720452"/>
          </a:xfrm>
        </p:spPr>
        <p:txBody>
          <a:bodyPr>
            <a:noAutofit/>
          </a:bodyPr>
          <a:lstStyle/>
          <a:p>
            <a:r>
              <a:rPr lang="es-MX" sz="3200" dirty="0"/>
              <a:t>Caso 2: la función devuelve una lista</a:t>
            </a:r>
            <a:endParaRPr lang="es-CO" sz="3200" dirty="0"/>
          </a:p>
        </p:txBody>
      </p:sp>
      <p:sp>
        <p:nvSpPr>
          <p:cNvPr id="13" name="12 Rectángulo"/>
          <p:cNvSpPr/>
          <p:nvPr/>
        </p:nvSpPr>
        <p:spPr>
          <a:xfrm>
            <a:off x="223550" y="980728"/>
            <a:ext cx="872268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La función </a:t>
            </a:r>
            <a:r>
              <a:rPr lang="es-MX" sz="2000" b="1" dirty="0"/>
              <a:t>crea</a:t>
            </a:r>
            <a:r>
              <a:rPr lang="es-MX" sz="2000" dirty="0"/>
              <a:t> una lista nueva, la llena y la </a:t>
            </a:r>
            <a:r>
              <a:rPr lang="es-MX" sz="2000" b="1" dirty="0"/>
              <a:t>devuelve</a:t>
            </a:r>
            <a:r>
              <a:rPr lang="es-MX" sz="2000" dirty="0"/>
              <a:t> con </a:t>
            </a:r>
            <a:r>
              <a:rPr lang="es-MX" b="1" dirty="0">
                <a:latin typeface="Consolas" panose="020B0609020204030204" pitchFamily="49" charset="0"/>
              </a:rPr>
              <a:t>return</a:t>
            </a:r>
            <a:r>
              <a:rPr lang="es-MX" sz="2000" dirty="0"/>
              <a:t>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Recibe un número (</a:t>
            </a:r>
            <a:r>
              <a:rPr lang="es-MX" b="1" dirty="0">
                <a:latin typeface="Consolas" panose="020B0609020204030204" pitchFamily="49" charset="0"/>
              </a:rPr>
              <a:t>n</a:t>
            </a:r>
            <a:r>
              <a:rPr lang="es-MX" sz="2000" dirty="0"/>
              <a:t>, cuántas notas leer) y entrega una </a:t>
            </a:r>
            <a:r>
              <a:rPr lang="es-MX" sz="2000" b="1" dirty="0"/>
              <a:t>lista</a:t>
            </a:r>
            <a:r>
              <a:rPr lang="es-MX" sz="2000" dirty="0"/>
              <a:t>: es el inverso del Caso 1.</a:t>
            </a:r>
          </a:p>
          <a:p>
            <a:pPr rtl="0"/>
            <a:r>
              <a:rPr lang="es-CO" sz="2000" b="1" dirty="0"/>
              <a:t>Definición</a:t>
            </a:r>
            <a:r>
              <a:rPr lang="es-CO" sz="2000" dirty="0"/>
              <a:t>:</a:t>
            </a:r>
            <a:endParaRPr lang="es-MX" sz="20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83DB4B9-95E5-4BAF-80DB-597DA250B962}"/>
              </a:ext>
            </a:extLst>
          </p:cNvPr>
          <p:cNvSpPr txBox="1"/>
          <p:nvPr/>
        </p:nvSpPr>
        <p:spPr>
          <a:xfrm>
            <a:off x="223550" y="4233072"/>
            <a:ext cx="6301358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sz="1200" dirty="0" err="1">
                <a:latin typeface="Consolas" panose="020B0609020204030204" pitchFamily="49" charset="0"/>
              </a:rPr>
              <a:t>def</a:t>
            </a:r>
            <a:r>
              <a:rPr lang="es-MX" sz="1200" dirty="0">
                <a:latin typeface="Consolas" panose="020B0609020204030204" pitchFamily="49" charset="0"/>
              </a:rPr>
              <a:t> </a:t>
            </a:r>
            <a:r>
              <a:rPr lang="es-MX" sz="1200" dirty="0" err="1">
                <a:latin typeface="Consolas" panose="020B0609020204030204" pitchFamily="49" charset="0"/>
              </a:rPr>
              <a:t>leer_notas</a:t>
            </a:r>
            <a:r>
              <a:rPr lang="es-MX" sz="1200" dirty="0">
                <a:latin typeface="Consolas" panose="020B0609020204030204" pitchFamily="49" charset="0"/>
              </a:rPr>
              <a:t>(n):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"""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Supone: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n es un entero mayor que 0.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Garantiza: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Retorna una lista nueva con las n notas 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leidas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, en el orden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en que se escribieron.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"""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notas = [0.0] * n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latin typeface="Consolas" panose="020B0609020204030204" pitchFamily="49" charset="0"/>
              </a:rPr>
              <a:t>for</a:t>
            </a:r>
            <a:r>
              <a:rPr lang="es-MX" sz="1200" dirty="0">
                <a:latin typeface="Consolas" panose="020B0609020204030204" pitchFamily="49" charset="0"/>
              </a:rPr>
              <a:t> i in range(n):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    notas[i] = </a:t>
            </a:r>
            <a:r>
              <a:rPr lang="es-MX" sz="1200" dirty="0" err="1">
                <a:latin typeface="Consolas" panose="020B0609020204030204" pitchFamily="49" charset="0"/>
              </a:rPr>
              <a:t>float</a:t>
            </a:r>
            <a:r>
              <a:rPr lang="es-MX" sz="1200" dirty="0">
                <a:latin typeface="Consolas" panose="020B0609020204030204" pitchFamily="49" charset="0"/>
              </a:rPr>
              <a:t>(input(</a:t>
            </a:r>
            <a:r>
              <a:rPr lang="es-MX" sz="1200" dirty="0" err="1">
                <a:latin typeface="Consolas" panose="020B0609020204030204" pitchFamily="49" charset="0"/>
              </a:rPr>
              <a:t>f"Nota</a:t>
            </a:r>
            <a:r>
              <a:rPr lang="es-MX" sz="1200" dirty="0">
                <a:latin typeface="Consolas" panose="020B0609020204030204" pitchFamily="49" charset="0"/>
              </a:rPr>
              <a:t> del estudiante {i + 1}: "))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return notas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42944E-812B-406F-A228-FBFEDB894EE5}"/>
              </a:ext>
            </a:extLst>
          </p:cNvPr>
          <p:cNvSpPr txBox="1"/>
          <p:nvPr/>
        </p:nvSpPr>
        <p:spPr>
          <a:xfrm>
            <a:off x="6804248" y="4510071"/>
            <a:ext cx="1919266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b="1" dirty="0"/>
              <a:t>Aquí sí se usa </a:t>
            </a:r>
            <a:r>
              <a:rPr lang="es-MX" sz="1600" b="1" dirty="0">
                <a:latin typeface="Consolas" panose="020B0609020204030204" pitchFamily="49" charset="0"/>
              </a:rPr>
              <a:t>n</a:t>
            </a:r>
            <a:r>
              <a:rPr lang="es-MX" b="1" dirty="0"/>
              <a:t> en el range</a:t>
            </a:r>
            <a:r>
              <a:rPr lang="es-MX" dirty="0"/>
              <a:t>: la función recibe el tamaño porque la lista todavía no existe.</a:t>
            </a:r>
            <a:endParaRPr lang="es-CO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409CBDF-AD10-4561-90DF-D5084E22A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991" y="2060848"/>
            <a:ext cx="6644523" cy="199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6050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7768" y="323392"/>
            <a:ext cx="8892480" cy="720452"/>
          </a:xfrm>
        </p:spPr>
        <p:txBody>
          <a:bodyPr>
            <a:noAutofit/>
          </a:bodyPr>
          <a:lstStyle/>
          <a:p>
            <a:r>
              <a:rPr lang="es-MX" sz="3200" dirty="0"/>
              <a:t>Caso 2: invocar la función</a:t>
            </a:r>
            <a:endParaRPr lang="es-CO" sz="3200" dirty="0"/>
          </a:p>
        </p:txBody>
      </p:sp>
      <p:sp>
        <p:nvSpPr>
          <p:cNvPr id="13" name="12 Rectángulo"/>
          <p:cNvSpPr/>
          <p:nvPr/>
        </p:nvSpPr>
        <p:spPr>
          <a:xfrm>
            <a:off x="53752" y="1043844"/>
            <a:ext cx="90364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El resultado se guarda en una variable: </a:t>
            </a:r>
            <a:r>
              <a:rPr lang="es-MX" b="1" dirty="0">
                <a:latin typeface="Consolas" panose="020B0609020204030204" pitchFamily="49" charset="0"/>
              </a:rPr>
              <a:t>lista_notas = </a:t>
            </a:r>
            <a:r>
              <a:rPr lang="es-MX" b="1" dirty="0" err="1">
                <a:latin typeface="Consolas" panose="020B0609020204030204" pitchFamily="49" charset="0"/>
              </a:rPr>
              <a:t>leer_notas</a:t>
            </a:r>
            <a:r>
              <a:rPr lang="es-MX" b="1" dirty="0">
                <a:latin typeface="Consolas" panose="020B0609020204030204" pitchFamily="49" charset="0"/>
              </a:rPr>
              <a:t>(4)</a:t>
            </a:r>
            <a:r>
              <a:rPr lang="es-MX" sz="2000" dirty="0"/>
              <a:t>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La lista se creó </a:t>
            </a:r>
            <a:r>
              <a:rPr lang="es-MX" sz="2000" b="1" dirty="0"/>
              <a:t>dentro</a:t>
            </a:r>
            <a:r>
              <a:rPr lang="es-MX" sz="2000" dirty="0"/>
              <a:t> de la función, pero no se pierde: el </a:t>
            </a:r>
            <a:r>
              <a:rPr lang="es-MX" dirty="0">
                <a:latin typeface="Consolas" panose="020B0609020204030204" pitchFamily="49" charset="0"/>
              </a:rPr>
              <a:t>return</a:t>
            </a:r>
            <a:r>
              <a:rPr lang="es-MX" sz="2000" dirty="0"/>
              <a:t> la entrega afuera.</a:t>
            </a: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rtl="0"/>
            <a:r>
              <a:rPr lang="es-CO" sz="2000" b="1" dirty="0"/>
              <a:t>Programa</a:t>
            </a:r>
            <a:r>
              <a:rPr lang="es-CO" sz="2000" dirty="0"/>
              <a:t> (</a:t>
            </a:r>
            <a:r>
              <a:rPr lang="es-CO" sz="2000" dirty="0">
                <a:hlinkClick r:id="rId2"/>
              </a:rPr>
              <a:t>simulación</a:t>
            </a:r>
            <a:r>
              <a:rPr lang="es-CO" sz="2000" dirty="0"/>
              <a:t>) y </a:t>
            </a:r>
            <a:r>
              <a:rPr lang="es-CO" sz="2000" b="1" dirty="0"/>
              <a:t>Salida</a:t>
            </a:r>
            <a:r>
              <a:rPr lang="es-CO" sz="2000" dirty="0"/>
              <a:t>: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B158AAA3-2AE9-45E7-A15B-05261B722A8D}"/>
              </a:ext>
            </a:extLst>
          </p:cNvPr>
          <p:cNvGrpSpPr/>
          <p:nvPr/>
        </p:nvGrpSpPr>
        <p:grpSpPr>
          <a:xfrm>
            <a:off x="479044" y="4820959"/>
            <a:ext cx="4392488" cy="954107"/>
            <a:chOff x="395536" y="5181870"/>
            <a:chExt cx="4392488" cy="954107"/>
          </a:xfrm>
        </p:grpSpPr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D83DB4B9-95E5-4BAF-80DB-597DA250B962}"/>
                </a:ext>
              </a:extLst>
            </p:cNvPr>
            <p:cNvSpPr txBox="1"/>
            <p:nvPr/>
          </p:nvSpPr>
          <p:spPr>
            <a:xfrm>
              <a:off x="395536" y="5551202"/>
              <a:ext cx="4392488" cy="584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s-MX" sz="1600" dirty="0">
                  <a:latin typeface="Consolas" panose="020B0609020204030204" pitchFamily="49" charset="0"/>
                </a:rPr>
                <a:t>lista_notas = </a:t>
              </a:r>
              <a:r>
                <a:rPr lang="es-MX" sz="1600" dirty="0" err="1">
                  <a:latin typeface="Consolas" panose="020B0609020204030204" pitchFamily="49" charset="0"/>
                </a:rPr>
                <a:t>leer_notas</a:t>
              </a:r>
              <a:r>
                <a:rPr lang="es-MX" sz="1600" dirty="0">
                  <a:latin typeface="Consolas" panose="020B0609020204030204" pitchFamily="49" charset="0"/>
                </a:rPr>
                <a:t>(4)</a:t>
              </a:r>
            </a:p>
            <a:p>
              <a:r>
                <a:rPr lang="es-MX" sz="1600" dirty="0">
                  <a:latin typeface="Consolas" panose="020B0609020204030204" pitchFamily="49" charset="0"/>
                </a:rPr>
                <a:t>print(lista_notas)</a:t>
              </a:r>
              <a:endParaRPr lang="es-CO" sz="1600" dirty="0">
                <a:latin typeface="Consolas" panose="020B0609020204030204" pitchFamily="49" charset="0"/>
              </a:endParaRP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CF56D24B-40D9-41CA-ABED-D45E1BC37163}"/>
                </a:ext>
              </a:extLst>
            </p:cNvPr>
            <p:cNvSpPr txBox="1"/>
            <p:nvPr/>
          </p:nvSpPr>
          <p:spPr>
            <a:xfrm>
              <a:off x="1665176" y="5181870"/>
              <a:ext cx="212213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1800" b="1" dirty="0"/>
                <a:t>Código invocación</a:t>
              </a:r>
              <a:endParaRPr lang="es-CO" dirty="0"/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B062751E-C1F6-4679-8C1D-B24500DB7C3A}"/>
              </a:ext>
            </a:extLst>
          </p:cNvPr>
          <p:cNvGrpSpPr/>
          <p:nvPr/>
        </p:nvGrpSpPr>
        <p:grpSpPr>
          <a:xfrm>
            <a:off x="5572555" y="4236520"/>
            <a:ext cx="3092401" cy="1727325"/>
            <a:chOff x="5292080" y="5393537"/>
            <a:chExt cx="3092401" cy="1727325"/>
          </a:xfrm>
        </p:grpSpPr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FFBB13D0-A5A5-4F77-92E3-DD746E6EE6FA}"/>
                </a:ext>
              </a:extLst>
            </p:cNvPr>
            <p:cNvSpPr txBox="1"/>
            <p:nvPr/>
          </p:nvSpPr>
          <p:spPr>
            <a:xfrm>
              <a:off x="5292080" y="5797423"/>
              <a:ext cx="3092401" cy="13234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s-MX" sz="1600" dirty="0">
                  <a:latin typeface="Consolas" panose="020B0609020204030204" pitchFamily="49" charset="0"/>
                </a:rPr>
                <a:t>Nota del estudiante 1: 3.0</a:t>
              </a:r>
            </a:p>
            <a:p>
              <a:r>
                <a:rPr lang="es-MX" sz="1600" dirty="0">
                  <a:latin typeface="Consolas" panose="020B0609020204030204" pitchFamily="49" charset="0"/>
                </a:rPr>
                <a:t>Nota del estudiante 2: 4.5</a:t>
              </a:r>
            </a:p>
            <a:p>
              <a:r>
                <a:rPr lang="es-MX" sz="1600" dirty="0">
                  <a:latin typeface="Consolas" panose="020B0609020204030204" pitchFamily="49" charset="0"/>
                </a:rPr>
                <a:t>Nota del estudiante 3: 2.0</a:t>
              </a:r>
            </a:p>
            <a:p>
              <a:r>
                <a:rPr lang="es-MX" sz="1600" dirty="0">
                  <a:latin typeface="Consolas" panose="020B0609020204030204" pitchFamily="49" charset="0"/>
                </a:rPr>
                <a:t>Nota del estudiante 4: 4.0</a:t>
              </a:r>
            </a:p>
            <a:p>
              <a:r>
                <a:rPr lang="es-MX" sz="1600" dirty="0">
                  <a:latin typeface="Consolas" panose="020B0609020204030204" pitchFamily="49" charset="0"/>
                </a:rPr>
                <a:t>[3.0, 4.5, 2.0, 4.0]</a:t>
              </a:r>
              <a:endParaRPr lang="es-CO" sz="1600" dirty="0">
                <a:latin typeface="Consolas" panose="020B0609020204030204" pitchFamily="49" charset="0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570FD75F-14BE-4FEC-B3BC-BB612F9BCB91}"/>
                </a:ext>
              </a:extLst>
            </p:cNvPr>
            <p:cNvSpPr txBox="1"/>
            <p:nvPr/>
          </p:nvSpPr>
          <p:spPr>
            <a:xfrm>
              <a:off x="5777210" y="5393537"/>
              <a:ext cx="212213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1800" b="1" dirty="0"/>
                <a:t>Salida en pantalla</a:t>
              </a:r>
              <a:endParaRPr lang="es-CO" dirty="0"/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D1DDB98-F25C-42DB-B3E6-4F0B4A970EF2}"/>
              </a:ext>
            </a:extLst>
          </p:cNvPr>
          <p:cNvSpPr txBox="1"/>
          <p:nvPr/>
        </p:nvSpPr>
        <p:spPr>
          <a:xfrm>
            <a:off x="0" y="6239053"/>
            <a:ext cx="9144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b="1" dirty="0"/>
              <a:t>Observación: </a:t>
            </a:r>
            <a:r>
              <a:rPr lang="es-MX" sz="1600" b="1" dirty="0" err="1">
                <a:latin typeface="Consolas" panose="020B0609020204030204" pitchFamily="49" charset="0"/>
              </a:rPr>
              <a:t>leer_notas</a:t>
            </a:r>
            <a:r>
              <a:rPr lang="es-MX" dirty="0"/>
              <a:t> usa </a:t>
            </a:r>
            <a:r>
              <a:rPr lang="es-MX" sz="1600" b="1" dirty="0">
                <a:latin typeface="Consolas" panose="020B0609020204030204" pitchFamily="49" charset="0"/>
              </a:rPr>
              <a:t>input()</a:t>
            </a:r>
            <a:r>
              <a:rPr lang="es-MX" dirty="0"/>
              <a:t>, así que no se prueba con </a:t>
            </a:r>
            <a:r>
              <a:rPr lang="es-MX" sz="1600" b="1" dirty="0" err="1">
                <a:latin typeface="Consolas" panose="020B0609020204030204" pitchFamily="49" charset="0"/>
              </a:rPr>
              <a:t>assert</a:t>
            </a:r>
            <a:r>
              <a:rPr lang="es-MX" b="1" dirty="0"/>
              <a:t>.</a:t>
            </a:r>
            <a:r>
              <a:rPr lang="es-MX" dirty="0"/>
              <a:t> Recuerde que las funciones de entrada y salida se prueban ejecutando el programa.</a:t>
            </a: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37593DC-4205-4304-8954-E3D37EEC5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154065"/>
            <a:ext cx="7128792" cy="183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4053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7768" y="323392"/>
            <a:ext cx="8892480" cy="720452"/>
          </a:xfrm>
        </p:spPr>
        <p:txBody>
          <a:bodyPr>
            <a:noAutofit/>
          </a:bodyPr>
          <a:lstStyle/>
          <a:p>
            <a:r>
              <a:rPr lang="es-MX" sz="3200" dirty="0"/>
              <a:t>Caso 3: la función modifica la lista que recibe</a:t>
            </a:r>
            <a:endParaRPr lang="es-CO" sz="3200" dirty="0"/>
          </a:p>
        </p:txBody>
      </p:sp>
      <p:sp>
        <p:nvSpPr>
          <p:cNvPr id="13" name="12 Rectángulo"/>
          <p:cNvSpPr/>
          <p:nvPr/>
        </p:nvSpPr>
        <p:spPr>
          <a:xfrm>
            <a:off x="223550" y="980728"/>
            <a:ext cx="872268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La función </a:t>
            </a:r>
            <a:r>
              <a:rPr lang="es-MX" sz="2000" b="1" dirty="0"/>
              <a:t>cambia las casillas</a:t>
            </a:r>
            <a:r>
              <a:rPr lang="es-MX" sz="2000" dirty="0"/>
              <a:t> de la lista que recibe y </a:t>
            </a:r>
            <a:r>
              <a:rPr lang="es-MX" sz="2000" b="1" dirty="0"/>
              <a:t>no devuelve nada</a:t>
            </a:r>
            <a:r>
              <a:rPr lang="es-MX" sz="2000" dirty="0"/>
              <a:t>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Su </a:t>
            </a:r>
            <a:r>
              <a:rPr lang="es-MX" sz="2000" b="1" dirty="0"/>
              <a:t>Garantiza</a:t>
            </a:r>
            <a:r>
              <a:rPr lang="es-MX" sz="2000" dirty="0"/>
              <a:t> debe decirlo claramente: </a:t>
            </a:r>
            <a:r>
              <a:rPr lang="es-MX" sz="2000" b="1" dirty="0"/>
              <a:t>MODIFICA</a:t>
            </a:r>
            <a:r>
              <a:rPr lang="es-MX" sz="2000" dirty="0"/>
              <a:t> la lista.</a:t>
            </a:r>
          </a:p>
          <a:p>
            <a:pPr rtl="0"/>
            <a:endParaRPr lang="es-CO" sz="2000" b="1" dirty="0"/>
          </a:p>
          <a:p>
            <a:pPr rtl="0"/>
            <a:r>
              <a:rPr lang="es-CO" sz="2000" b="1" dirty="0"/>
              <a:t>Definición</a:t>
            </a:r>
            <a:r>
              <a:rPr lang="es-CO" sz="2000" dirty="0"/>
              <a:t>:</a:t>
            </a:r>
            <a:endParaRPr lang="es-MX" sz="20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83DB4B9-95E5-4BAF-80DB-597DA250B962}"/>
              </a:ext>
            </a:extLst>
          </p:cNvPr>
          <p:cNvSpPr txBox="1"/>
          <p:nvPr/>
        </p:nvSpPr>
        <p:spPr>
          <a:xfrm>
            <a:off x="223550" y="4048406"/>
            <a:ext cx="6301358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NOTA_MAXIMA = 5.0</a:t>
            </a:r>
          </a:p>
          <a:p>
            <a:endParaRPr lang="es-MX" sz="1200" dirty="0">
              <a:latin typeface="Consolas" panose="020B0609020204030204" pitchFamily="49" charset="0"/>
            </a:endParaRPr>
          </a:p>
          <a:p>
            <a:r>
              <a:rPr lang="es-MX" sz="1200" dirty="0" err="1">
                <a:latin typeface="Consolas" panose="020B0609020204030204" pitchFamily="49" charset="0"/>
              </a:rPr>
              <a:t>def</a:t>
            </a:r>
            <a:r>
              <a:rPr lang="es-MX" sz="1200" dirty="0">
                <a:latin typeface="Consolas" panose="020B0609020204030204" pitchFamily="49" charset="0"/>
              </a:rPr>
              <a:t> </a:t>
            </a:r>
            <a:r>
              <a:rPr lang="es-MX" sz="1200" dirty="0" err="1">
                <a:latin typeface="Consolas" panose="020B0609020204030204" pitchFamily="49" charset="0"/>
              </a:rPr>
              <a:t>aplicar_bonificacion</a:t>
            </a:r>
            <a:r>
              <a:rPr lang="es-MX" sz="1200" dirty="0">
                <a:latin typeface="Consolas" panose="020B0609020204030204" pitchFamily="49" charset="0"/>
              </a:rPr>
              <a:t>(notas, puntos):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"""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Supone: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notas es una lista de 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numeros</a:t>
            </a:r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entre 0.0 y 5.0, y puntos &gt;= 0.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Garantiza: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MODIFICA la lista notas: a cada nota le suma puntos, y si el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    resultado pasa de 5.0, la deja en 5.0. No retorna nada.</a:t>
            </a:r>
          </a:p>
          <a:p>
            <a:r>
              <a:rPr lang="es-MX" sz="1200" dirty="0">
                <a:solidFill>
                  <a:srgbClr val="00B050"/>
                </a:solidFill>
                <a:latin typeface="Consolas" panose="020B0609020204030204" pitchFamily="49" charset="0"/>
              </a:rPr>
              <a:t>    """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</a:t>
            </a:r>
            <a:r>
              <a:rPr lang="es-MX" sz="1200" dirty="0" err="1">
                <a:latin typeface="Consolas" panose="020B0609020204030204" pitchFamily="49" charset="0"/>
              </a:rPr>
              <a:t>for</a:t>
            </a:r>
            <a:r>
              <a:rPr lang="es-MX" sz="1200" dirty="0">
                <a:latin typeface="Consolas" panose="020B0609020204030204" pitchFamily="49" charset="0"/>
              </a:rPr>
              <a:t> i in range(len(notas)):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    notas[i] = notas[i] + puntos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    </a:t>
            </a:r>
            <a:r>
              <a:rPr lang="es-MX" sz="1200" dirty="0" err="1">
                <a:latin typeface="Consolas" panose="020B0609020204030204" pitchFamily="49" charset="0"/>
              </a:rPr>
              <a:t>if</a:t>
            </a:r>
            <a:r>
              <a:rPr lang="es-MX" sz="1200" dirty="0">
                <a:latin typeface="Consolas" panose="020B0609020204030204" pitchFamily="49" charset="0"/>
              </a:rPr>
              <a:t> notas[i] &gt; NOTA_MAXIMA: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          notas[i] = NOTA_MAXIMA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42944E-812B-406F-A228-FBFEDB894EE5}"/>
              </a:ext>
            </a:extLst>
          </p:cNvPr>
          <p:cNvSpPr txBox="1"/>
          <p:nvPr/>
        </p:nvSpPr>
        <p:spPr>
          <a:xfrm>
            <a:off x="6804248" y="4371571"/>
            <a:ext cx="1919266" cy="2031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dirty="0"/>
              <a:t>Compare el </a:t>
            </a:r>
            <a:r>
              <a:rPr lang="es-MX" b="1" dirty="0"/>
              <a:t>Garantiza</a:t>
            </a:r>
            <a:r>
              <a:rPr lang="es-MX" dirty="0"/>
              <a:t> con el del Caso 1: allá decía </a:t>
            </a:r>
            <a:r>
              <a:rPr lang="es-MX" i="1" dirty="0"/>
              <a:t>“No modifica notas”</a:t>
            </a:r>
            <a:r>
              <a:rPr lang="es-MX" dirty="0"/>
              <a:t>; aquí dice </a:t>
            </a:r>
            <a:r>
              <a:rPr lang="es-MX" b="1" i="1" dirty="0"/>
              <a:t>“MODIFICA”</a:t>
            </a:r>
            <a:r>
              <a:rPr lang="es-MX" dirty="0"/>
              <a:t>.</a:t>
            </a:r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007A412-5129-41FD-8AB6-168DC12BB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639" y="1848011"/>
            <a:ext cx="7142811" cy="214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051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7768" y="188640"/>
            <a:ext cx="8892480" cy="855204"/>
          </a:xfrm>
        </p:spPr>
        <p:txBody>
          <a:bodyPr>
            <a:noAutofit/>
          </a:bodyPr>
          <a:lstStyle/>
          <a:p>
            <a:r>
              <a:rPr lang="es-MX" sz="2800" dirty="0"/>
              <a:t>Caso 3: invocar la función. ¿Por qué cambió la lista afuera?</a:t>
            </a:r>
            <a:endParaRPr lang="es-CO" sz="2800" dirty="0"/>
          </a:p>
        </p:txBody>
      </p:sp>
      <p:sp>
        <p:nvSpPr>
          <p:cNvPr id="13" name="12 Rectángulo"/>
          <p:cNvSpPr/>
          <p:nvPr/>
        </p:nvSpPr>
        <p:spPr>
          <a:xfrm>
            <a:off x="53752" y="1043844"/>
            <a:ext cx="90364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La llamada no se asigna a ninguna variable, porque no hay </a:t>
            </a:r>
            <a:r>
              <a:rPr lang="es-MX" b="1" dirty="0">
                <a:latin typeface="Consolas" panose="020B0609020204030204" pitchFamily="49" charset="0"/>
              </a:rPr>
              <a:t>return</a:t>
            </a:r>
            <a:r>
              <a:rPr lang="es-MX" sz="2000" dirty="0"/>
              <a:t>: </a:t>
            </a:r>
            <a:r>
              <a:rPr lang="es-MX" b="1" dirty="0" err="1">
                <a:latin typeface="Consolas" panose="020B0609020204030204" pitchFamily="49" charset="0"/>
              </a:rPr>
              <a:t>aplicar_bonificacion</a:t>
            </a:r>
            <a:r>
              <a:rPr lang="es-MX" b="1" dirty="0">
                <a:latin typeface="Consolas" panose="020B0609020204030204" pitchFamily="49" charset="0"/>
              </a:rPr>
              <a:t>(lista_notas, 0.5)</a:t>
            </a:r>
            <a:r>
              <a:rPr lang="es-MX" sz="2000" dirty="0"/>
              <a:t>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Adentro, </a:t>
            </a:r>
            <a:r>
              <a:rPr lang="es-MX" b="1" dirty="0">
                <a:latin typeface="Consolas" panose="020B0609020204030204" pitchFamily="49" charset="0"/>
              </a:rPr>
              <a:t>notas</a:t>
            </a:r>
            <a:r>
              <a:rPr lang="es-MX" sz="2000" dirty="0"/>
              <a:t> es un alias de </a:t>
            </a:r>
            <a:r>
              <a:rPr lang="es-MX" b="1" dirty="0">
                <a:latin typeface="Consolas" panose="020B0609020204030204" pitchFamily="49" charset="0"/>
              </a:rPr>
              <a:t>lista_notas</a:t>
            </a:r>
            <a:r>
              <a:rPr lang="es-MX" sz="2000" dirty="0"/>
              <a:t> (Asignar una lista no la copia). Por eso lo que la función cambia en notas se ve afuera.</a:t>
            </a: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rtl="0"/>
            <a:endParaRPr lang="es-CO" sz="2000" b="1" dirty="0"/>
          </a:p>
          <a:p>
            <a:pPr rtl="0"/>
            <a:r>
              <a:rPr lang="es-CO" sz="2000" b="1" dirty="0"/>
              <a:t>Programa</a:t>
            </a:r>
            <a:r>
              <a:rPr lang="es-CO" sz="2000" dirty="0"/>
              <a:t> (</a:t>
            </a:r>
            <a:r>
              <a:rPr lang="es-CO" sz="2000" dirty="0">
                <a:hlinkClick r:id="rId2"/>
              </a:rPr>
              <a:t>simulación</a:t>
            </a:r>
            <a:r>
              <a:rPr lang="es-CO" sz="2000" dirty="0"/>
              <a:t>) y </a:t>
            </a:r>
            <a:r>
              <a:rPr lang="es-CO" sz="2000" b="1" dirty="0"/>
              <a:t>Salida</a:t>
            </a:r>
            <a:r>
              <a:rPr lang="es-CO" sz="2000" dirty="0"/>
              <a:t>: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B158AAA3-2AE9-45E7-A15B-05261B722A8D}"/>
              </a:ext>
            </a:extLst>
          </p:cNvPr>
          <p:cNvGrpSpPr/>
          <p:nvPr/>
        </p:nvGrpSpPr>
        <p:grpSpPr>
          <a:xfrm>
            <a:off x="479044" y="4489151"/>
            <a:ext cx="4452996" cy="1446550"/>
            <a:chOff x="395536" y="5181870"/>
            <a:chExt cx="4125631" cy="1446550"/>
          </a:xfrm>
        </p:grpSpPr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D83DB4B9-95E5-4BAF-80DB-597DA250B962}"/>
                </a:ext>
              </a:extLst>
            </p:cNvPr>
            <p:cNvSpPr txBox="1"/>
            <p:nvPr/>
          </p:nvSpPr>
          <p:spPr>
            <a:xfrm>
              <a:off x="395536" y="5551202"/>
              <a:ext cx="4125631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s-MX" sz="1600" dirty="0">
                  <a:latin typeface="Consolas" panose="020B0609020204030204" pitchFamily="49" charset="0"/>
                </a:rPr>
                <a:t>lista_notas = [3.0, 4.5, 2.0, 4.0]</a:t>
              </a:r>
            </a:p>
            <a:p>
              <a:r>
                <a:rPr lang="es-MX" sz="1600" dirty="0">
                  <a:latin typeface="Consolas" panose="020B0609020204030204" pitchFamily="49" charset="0"/>
                </a:rPr>
                <a:t>print("Antes: ", lista_notas)</a:t>
              </a:r>
            </a:p>
            <a:p>
              <a:r>
                <a:rPr lang="es-MX" sz="1600" dirty="0" err="1">
                  <a:latin typeface="Consolas" panose="020B0609020204030204" pitchFamily="49" charset="0"/>
                </a:rPr>
                <a:t>aplicar_bonificacion</a:t>
              </a:r>
              <a:r>
                <a:rPr lang="es-MX" sz="1600" dirty="0">
                  <a:latin typeface="Consolas" panose="020B0609020204030204" pitchFamily="49" charset="0"/>
                </a:rPr>
                <a:t>(lista_notas, 0.5)</a:t>
              </a:r>
            </a:p>
            <a:p>
              <a:r>
                <a:rPr lang="es-MX" sz="1600" dirty="0">
                  <a:latin typeface="Consolas" panose="020B0609020204030204" pitchFamily="49" charset="0"/>
                </a:rPr>
                <a:t>print("</a:t>
              </a:r>
              <a:r>
                <a:rPr lang="es-MX" sz="1600" dirty="0" err="1">
                  <a:latin typeface="Consolas" panose="020B0609020204030204" pitchFamily="49" charset="0"/>
                </a:rPr>
                <a:t>Despues</a:t>
              </a:r>
              <a:r>
                <a:rPr lang="es-MX" sz="1600" dirty="0">
                  <a:latin typeface="Consolas" panose="020B0609020204030204" pitchFamily="49" charset="0"/>
                </a:rPr>
                <a:t>:", lista_notas)</a:t>
              </a:r>
              <a:endParaRPr lang="es-CO" sz="1600" dirty="0">
                <a:latin typeface="Consolas" panose="020B0609020204030204" pitchFamily="49" charset="0"/>
              </a:endParaRP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CF56D24B-40D9-41CA-ABED-D45E1BC37163}"/>
                </a:ext>
              </a:extLst>
            </p:cNvPr>
            <p:cNvSpPr txBox="1"/>
            <p:nvPr/>
          </p:nvSpPr>
          <p:spPr>
            <a:xfrm>
              <a:off x="1665176" y="5181870"/>
              <a:ext cx="212213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1800" b="1" dirty="0"/>
                <a:t>Código invocación</a:t>
              </a:r>
              <a:endParaRPr lang="es-CO" dirty="0"/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B062751E-C1F6-4679-8C1D-B24500DB7C3A}"/>
              </a:ext>
            </a:extLst>
          </p:cNvPr>
          <p:cNvGrpSpPr/>
          <p:nvPr/>
        </p:nvGrpSpPr>
        <p:grpSpPr>
          <a:xfrm>
            <a:off x="5292080" y="4673817"/>
            <a:ext cx="3528391" cy="988661"/>
            <a:chOff x="5011605" y="5393537"/>
            <a:chExt cx="3528391" cy="988661"/>
          </a:xfrm>
        </p:grpSpPr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FFBB13D0-A5A5-4F77-92E3-DD746E6EE6FA}"/>
                </a:ext>
              </a:extLst>
            </p:cNvPr>
            <p:cNvSpPr txBox="1"/>
            <p:nvPr/>
          </p:nvSpPr>
          <p:spPr>
            <a:xfrm>
              <a:off x="5011605" y="5797423"/>
              <a:ext cx="3528391" cy="584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s-MX" sz="1600" dirty="0">
                  <a:latin typeface="Consolas" panose="020B0609020204030204" pitchFamily="49" charset="0"/>
                </a:rPr>
                <a:t>Antes:   [3.0, 4.5, 2.0, 4.0]</a:t>
              </a:r>
            </a:p>
            <a:p>
              <a:r>
                <a:rPr lang="es-MX" sz="1600" dirty="0" err="1">
                  <a:latin typeface="Consolas" panose="020B0609020204030204" pitchFamily="49" charset="0"/>
                </a:rPr>
                <a:t>Despues</a:t>
              </a:r>
              <a:r>
                <a:rPr lang="es-MX" sz="1600" dirty="0">
                  <a:latin typeface="Consolas" panose="020B0609020204030204" pitchFamily="49" charset="0"/>
                </a:rPr>
                <a:t>: [3.5, 5.0, 2.5, 4.5]</a:t>
              </a:r>
              <a:endParaRPr lang="es-CO" sz="1600" dirty="0">
                <a:latin typeface="Consolas" panose="020B0609020204030204" pitchFamily="49" charset="0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570FD75F-14BE-4FEC-B3BC-BB612F9BCB91}"/>
                </a:ext>
              </a:extLst>
            </p:cNvPr>
            <p:cNvSpPr txBox="1"/>
            <p:nvPr/>
          </p:nvSpPr>
          <p:spPr>
            <a:xfrm>
              <a:off x="5777210" y="5393537"/>
              <a:ext cx="212213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1800" b="1" dirty="0"/>
                <a:t>Salida en pantalla</a:t>
              </a:r>
              <a:endParaRPr lang="es-CO" dirty="0"/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D1DDB98-F25C-42DB-B3E6-4F0B4A970EF2}"/>
              </a:ext>
            </a:extLst>
          </p:cNvPr>
          <p:cNvSpPr txBox="1"/>
          <p:nvPr/>
        </p:nvSpPr>
        <p:spPr>
          <a:xfrm>
            <a:off x="0" y="6239053"/>
            <a:ext cx="9144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b="1" dirty="0"/>
              <a:t>Observación: </a:t>
            </a:r>
            <a:r>
              <a:rPr lang="es-MX" dirty="0"/>
              <a:t>Si no se quiere modificar la original, se pasa un clon: </a:t>
            </a:r>
            <a:r>
              <a:rPr lang="es-MX" sz="1600" b="1" dirty="0" err="1">
                <a:latin typeface="Consolas" panose="020B0609020204030204" pitchFamily="49" charset="0"/>
              </a:rPr>
              <a:t>aplicar_bonificacion</a:t>
            </a:r>
            <a:r>
              <a:rPr lang="es-MX" sz="1600" b="1" dirty="0">
                <a:latin typeface="Consolas" panose="020B0609020204030204" pitchFamily="49" charset="0"/>
              </a:rPr>
              <a:t>(lista_notas[:], 0.5)</a:t>
            </a:r>
            <a:r>
              <a:rPr lang="es-MX" dirty="0"/>
              <a:t>.</a:t>
            </a:r>
            <a:endParaRPr lang="es-CO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19EBD76-A6D3-4A05-BE83-1E12837A8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44" y="2349856"/>
            <a:ext cx="8109633" cy="180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8628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720452"/>
          </a:xfrm>
        </p:spPr>
        <p:txBody>
          <a:bodyPr>
            <a:noAutofit/>
          </a:bodyPr>
          <a:lstStyle/>
          <a:p>
            <a:r>
              <a:rPr lang="es-MX" sz="3600" dirty="0"/>
              <a:t>Caso 3: probar la función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269193" y="749017"/>
            <a:ext cx="864096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CO" sz="2000" b="1" dirty="0"/>
              <a:t>Pruebas</a:t>
            </a:r>
            <a:r>
              <a:rPr lang="es-CO" sz="2000" dirty="0"/>
              <a:t> (</a:t>
            </a:r>
            <a:r>
              <a:rPr lang="es-CO" sz="2000" dirty="0">
                <a:hlinkClick r:id="rId2"/>
              </a:rPr>
              <a:t>simulación</a:t>
            </a:r>
            <a:r>
              <a:rPr lang="es-CO" sz="2000" dirty="0"/>
              <a:t>):</a:t>
            </a:r>
          </a:p>
          <a:p>
            <a:pPr rtl="0"/>
            <a:endParaRPr lang="es-CO" sz="2000" dirty="0"/>
          </a:p>
          <a:p>
            <a:pPr rtl="0"/>
            <a:endParaRPr lang="es-CO" sz="2000" b="1" dirty="0">
              <a:latin typeface="Consolas" panose="020B0609020204030204" pitchFamily="49" charset="0"/>
            </a:endParaRPr>
          </a:p>
          <a:p>
            <a:pPr rtl="0"/>
            <a:endParaRPr lang="es-CO" sz="2000" b="1" dirty="0">
              <a:latin typeface="Consolas" panose="020B0609020204030204" pitchFamily="49" charset="0"/>
            </a:endParaRPr>
          </a:p>
          <a:p>
            <a:pPr rtl="0"/>
            <a:endParaRPr lang="es-CO" sz="2000" b="1" dirty="0">
              <a:latin typeface="Consolas" panose="020B0609020204030204" pitchFamily="49" charset="0"/>
            </a:endParaRPr>
          </a:p>
          <a:p>
            <a:pPr rtl="0"/>
            <a:endParaRPr lang="es-CO" sz="2000" b="1" dirty="0">
              <a:latin typeface="Consolas" panose="020B0609020204030204" pitchFamily="49" charset="0"/>
            </a:endParaRPr>
          </a:p>
          <a:p>
            <a:pPr rtl="0"/>
            <a:endParaRPr lang="es-CO" sz="2000" b="1" dirty="0">
              <a:latin typeface="Consolas" panose="020B0609020204030204" pitchFamily="49" charset="0"/>
            </a:endParaRPr>
          </a:p>
          <a:p>
            <a:pPr rtl="0"/>
            <a:endParaRPr lang="es-CO" sz="2000" b="1" dirty="0">
              <a:latin typeface="Consolas" panose="020B0609020204030204" pitchFamily="49" charset="0"/>
            </a:endParaRPr>
          </a:p>
          <a:p>
            <a:pPr rtl="0"/>
            <a:endParaRPr lang="es-CO" sz="2000" b="1" dirty="0">
              <a:latin typeface="Consolas" panose="020B0609020204030204" pitchFamily="49" charset="0"/>
            </a:endParaRPr>
          </a:p>
          <a:p>
            <a:pPr rtl="0"/>
            <a:r>
              <a:rPr lang="es-MX" sz="2000" b="1" dirty="0"/>
              <a:t>Tabla de casos de prueba:</a:t>
            </a:r>
            <a:endParaRPr lang="es-MX" sz="2000" b="1" dirty="0">
              <a:latin typeface="Consolas" panose="020B0609020204030204" pitchFamily="49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6F819BF-8F43-40F3-8FDE-ED1EE531B97F}"/>
              </a:ext>
            </a:extLst>
          </p:cNvPr>
          <p:cNvSpPr txBox="1"/>
          <p:nvPr/>
        </p:nvSpPr>
        <p:spPr>
          <a:xfrm>
            <a:off x="377280" y="1196752"/>
            <a:ext cx="8497527" cy="22929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sz="1300" dirty="0">
                <a:latin typeface="Consolas" panose="020B0609020204030204" pitchFamily="49" charset="0"/>
              </a:rPr>
              <a:t>datos = [3.0, 4.5, 2.0, 4.0]</a:t>
            </a:r>
          </a:p>
          <a:p>
            <a:r>
              <a:rPr lang="es-MX" sz="1300" dirty="0" err="1">
                <a:latin typeface="Consolas" panose="020B0609020204030204" pitchFamily="49" charset="0"/>
              </a:rPr>
              <a:t>aplicar_bonificacion</a:t>
            </a:r>
            <a:r>
              <a:rPr lang="es-MX" sz="1300" dirty="0">
                <a:latin typeface="Consolas" panose="020B0609020204030204" pitchFamily="49" charset="0"/>
              </a:rPr>
              <a:t>(datos, 0.5)</a:t>
            </a:r>
          </a:p>
          <a:p>
            <a:r>
              <a:rPr lang="es-MX" sz="1300" dirty="0" err="1">
                <a:latin typeface="Consolas" panose="020B0609020204030204" pitchFamily="49" charset="0"/>
              </a:rPr>
              <a:t>assert</a:t>
            </a:r>
            <a:r>
              <a:rPr lang="es-MX" sz="1300" dirty="0">
                <a:latin typeface="Consolas" panose="020B0609020204030204" pitchFamily="49" charset="0"/>
              </a:rPr>
              <a:t> datos == [3.5, 5.0, 2.5, 4.5]      # </a:t>
            </a:r>
            <a:r>
              <a:rPr lang="es-MX" sz="1300" dirty="0" err="1">
                <a:latin typeface="Consolas" panose="020B0609020204030204" pitchFamily="49" charset="0"/>
              </a:rPr>
              <a:t>tipico</a:t>
            </a:r>
            <a:r>
              <a:rPr lang="es-MX" sz="1300" dirty="0">
                <a:latin typeface="Consolas" panose="020B0609020204030204" pitchFamily="49" charset="0"/>
              </a:rPr>
              <a:t>; 4.5 + 0.5 = 5.0 (limite)</a:t>
            </a:r>
          </a:p>
          <a:p>
            <a:endParaRPr lang="es-MX" sz="1300" dirty="0">
              <a:latin typeface="Consolas" panose="020B0609020204030204" pitchFamily="49" charset="0"/>
            </a:endParaRPr>
          </a:p>
          <a:p>
            <a:r>
              <a:rPr lang="es-MX" sz="1300" dirty="0">
                <a:latin typeface="Consolas" panose="020B0609020204030204" pitchFamily="49" charset="0"/>
              </a:rPr>
              <a:t>datos = [4.8, 1.0]</a:t>
            </a:r>
          </a:p>
          <a:p>
            <a:r>
              <a:rPr lang="es-MX" sz="1300" dirty="0" err="1">
                <a:latin typeface="Consolas" panose="020B0609020204030204" pitchFamily="49" charset="0"/>
              </a:rPr>
              <a:t>aplicar_bonificacion</a:t>
            </a:r>
            <a:r>
              <a:rPr lang="es-MX" sz="1300" dirty="0">
                <a:latin typeface="Consolas" panose="020B0609020204030204" pitchFamily="49" charset="0"/>
              </a:rPr>
              <a:t>(datos, 0.5)</a:t>
            </a:r>
          </a:p>
          <a:p>
            <a:r>
              <a:rPr lang="es-MX" sz="1300" dirty="0" err="1">
                <a:latin typeface="Consolas" panose="020B0609020204030204" pitchFamily="49" charset="0"/>
              </a:rPr>
              <a:t>assert</a:t>
            </a:r>
            <a:r>
              <a:rPr lang="es-MX" sz="1300" dirty="0">
                <a:latin typeface="Consolas" panose="020B0609020204030204" pitchFamily="49" charset="0"/>
              </a:rPr>
              <a:t> datos == [5.0, 1.5]                # especial: 4.8 + 0.5 pasa de 5.0</a:t>
            </a:r>
          </a:p>
          <a:p>
            <a:endParaRPr lang="es-MX" sz="1300" dirty="0">
              <a:latin typeface="Consolas" panose="020B0609020204030204" pitchFamily="49" charset="0"/>
            </a:endParaRPr>
          </a:p>
          <a:p>
            <a:r>
              <a:rPr lang="es-MX" sz="1300" dirty="0">
                <a:latin typeface="Consolas" panose="020B0609020204030204" pitchFamily="49" charset="0"/>
              </a:rPr>
              <a:t>datos = [3.0, 4.5]</a:t>
            </a:r>
          </a:p>
          <a:p>
            <a:r>
              <a:rPr lang="es-MX" sz="1300" dirty="0" err="1">
                <a:latin typeface="Consolas" panose="020B0609020204030204" pitchFamily="49" charset="0"/>
              </a:rPr>
              <a:t>aplicar_bonificacion</a:t>
            </a:r>
            <a:r>
              <a:rPr lang="es-MX" sz="1300" dirty="0">
                <a:latin typeface="Consolas" panose="020B0609020204030204" pitchFamily="49" charset="0"/>
              </a:rPr>
              <a:t>(datos, 0)</a:t>
            </a:r>
          </a:p>
          <a:p>
            <a:r>
              <a:rPr lang="es-MX" sz="1300" dirty="0" err="1">
                <a:latin typeface="Consolas" panose="020B0609020204030204" pitchFamily="49" charset="0"/>
              </a:rPr>
              <a:t>assert</a:t>
            </a:r>
            <a:r>
              <a:rPr lang="es-MX" sz="1300" dirty="0">
                <a:latin typeface="Consolas" panose="020B0609020204030204" pitchFamily="49" charset="0"/>
              </a:rPr>
              <a:t> datos == [3.0, 4.5]                # sin </a:t>
            </a:r>
            <a:r>
              <a:rPr lang="es-MX" sz="1300" dirty="0" err="1">
                <a:latin typeface="Consolas" panose="020B0609020204030204" pitchFamily="49" charset="0"/>
              </a:rPr>
              <a:t>bonificacion</a:t>
            </a:r>
            <a:r>
              <a:rPr lang="es-MX" sz="1300" dirty="0">
                <a:latin typeface="Consolas" panose="020B0609020204030204" pitchFamily="49" charset="0"/>
              </a:rPr>
              <a:t> no cambia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C2D1C7D-9AC5-4B30-95E4-1E70E98CA75C}"/>
              </a:ext>
            </a:extLst>
          </p:cNvPr>
          <p:cNvSpPr txBox="1"/>
          <p:nvPr/>
        </p:nvSpPr>
        <p:spPr>
          <a:xfrm>
            <a:off x="277081" y="6095037"/>
            <a:ext cx="8633072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b="1" dirty="0"/>
              <a:t>Idea clave: </a:t>
            </a:r>
            <a:r>
              <a:rPr lang="es-MX" dirty="0"/>
              <a:t>Para probar una función que modifica una lista: llamar, y luego comparar la lista con </a:t>
            </a:r>
            <a:r>
              <a:rPr lang="es-MX" b="1" dirty="0">
                <a:latin typeface="Consolas" panose="020B0609020204030204" pitchFamily="49" charset="0"/>
              </a:rPr>
              <a:t>==</a:t>
            </a:r>
            <a:r>
              <a:rPr lang="es-MX" dirty="0"/>
              <a:t>.</a:t>
            </a:r>
            <a:endParaRPr lang="es-CO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9C50657-46CD-4F49-88D4-52AE44A0E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880015"/>
              </p:ext>
            </p:extLst>
          </p:nvPr>
        </p:nvGraphicFramePr>
        <p:xfrm>
          <a:off x="184378" y="3876640"/>
          <a:ext cx="8810589" cy="2072640"/>
        </p:xfrm>
        <a:graphic>
          <a:graphicData uri="http://schemas.openxmlformats.org/drawingml/2006/table">
            <a:tbl>
              <a:tblPr/>
              <a:tblGrid>
                <a:gridCol w="1133913">
                  <a:extLst>
                    <a:ext uri="{9D8B030D-6E8A-4147-A177-3AD203B41FA5}">
                      <a16:colId xmlns:a16="http://schemas.microsoft.com/office/drawing/2014/main" val="1493911740"/>
                    </a:ext>
                  </a:extLst>
                </a:gridCol>
                <a:gridCol w="1949768">
                  <a:extLst>
                    <a:ext uri="{9D8B030D-6E8A-4147-A177-3AD203B41FA5}">
                      <a16:colId xmlns:a16="http://schemas.microsoft.com/office/drawing/2014/main" val="3448097407"/>
                    </a:ext>
                  </a:extLst>
                </a:gridCol>
                <a:gridCol w="779679">
                  <a:extLst>
                    <a:ext uri="{9D8B030D-6E8A-4147-A177-3AD203B41FA5}">
                      <a16:colId xmlns:a16="http://schemas.microsoft.com/office/drawing/2014/main" val="4187034291"/>
                    </a:ext>
                  </a:extLst>
                </a:gridCol>
                <a:gridCol w="1949768">
                  <a:extLst>
                    <a:ext uri="{9D8B030D-6E8A-4147-A177-3AD203B41FA5}">
                      <a16:colId xmlns:a16="http://schemas.microsoft.com/office/drawing/2014/main" val="3806241179"/>
                    </a:ext>
                  </a:extLst>
                </a:gridCol>
                <a:gridCol w="2997461">
                  <a:extLst>
                    <a:ext uri="{9D8B030D-6E8A-4147-A177-3AD203B41FA5}">
                      <a16:colId xmlns:a16="http://schemas.microsoft.com/office/drawing/2014/main" val="1480651399"/>
                    </a:ext>
                  </a:extLst>
                </a:gridCol>
              </a:tblGrid>
              <a:tr h="278275">
                <a:tc>
                  <a:txBody>
                    <a:bodyPr/>
                    <a:lstStyle/>
                    <a:p>
                      <a:r>
                        <a:rPr lang="es-CO" sz="1600" b="1"/>
                        <a:t>Caso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/>
                        <a:t>Lista antes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/>
                        <a:t>puntos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/>
                        <a:t>Lista después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/>
                        <a:t>Por qué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699643"/>
                  </a:ext>
                </a:extLst>
              </a:tr>
              <a:tr h="480656">
                <a:tc>
                  <a:txBody>
                    <a:bodyPr/>
                    <a:lstStyle/>
                    <a:p>
                      <a:r>
                        <a:rPr lang="es-CO" sz="1600"/>
                        <a:t>Típico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[3.0, 4.5, 2.0, 4.0]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latin typeface="Consolas" panose="020B0609020204030204" pitchFamily="49" charset="0"/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latin typeface="Consolas" panose="020B0609020204030204" pitchFamily="49" charset="0"/>
                        </a:rPr>
                        <a:t>[3.5, 5.0, 2.5, 4.5]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/>
                        <a:t>El ejemplo de la clase. 4.5 + 0.5 llega </a:t>
                      </a:r>
                      <a:r>
                        <a:rPr lang="es-MX" sz="1600" b="1"/>
                        <a:t>justo</a:t>
                      </a:r>
                      <a:r>
                        <a:rPr lang="es-MX" sz="1600"/>
                        <a:t> a 5.0 (límite)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679982"/>
                  </a:ext>
                </a:extLst>
              </a:tr>
              <a:tr h="480656">
                <a:tc>
                  <a:txBody>
                    <a:bodyPr/>
                    <a:lstStyle/>
                    <a:p>
                      <a:r>
                        <a:rPr lang="es-CO" sz="1600"/>
                        <a:t>Especial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[4.8, 1.0]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[5.0, 1.5]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/>
                        <a:t>4.8 + 0.5 = 5.3 </a:t>
                      </a:r>
                      <a:r>
                        <a:rPr lang="es-MX" sz="1600" b="1"/>
                        <a:t>pasa</a:t>
                      </a:r>
                      <a:r>
                        <a:rPr lang="es-MX" sz="1600"/>
                        <a:t> de 5.0 y se recorta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7062768"/>
                  </a:ext>
                </a:extLst>
              </a:tr>
              <a:tr h="480656">
                <a:tc>
                  <a:txBody>
                    <a:bodyPr/>
                    <a:lstStyle/>
                    <a:p>
                      <a:r>
                        <a:rPr lang="es-CO" sz="1600"/>
                        <a:t>Sin cambio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[3.0, 4.5]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[3.0, 4.5]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Sin bonificación, la lista queda igual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7091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64963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720452"/>
          </a:xfrm>
        </p:spPr>
        <p:txBody>
          <a:bodyPr>
            <a:noAutofit/>
          </a:bodyPr>
          <a:lstStyle/>
          <a:p>
            <a:r>
              <a:rPr lang="es-MX" sz="3600" dirty="0"/>
              <a:t>Resumen de los 3 casos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251520" y="5666973"/>
            <a:ext cx="8640960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Idea clave:</a:t>
            </a:r>
            <a:r>
              <a:rPr lang="es-MX" sz="2000" dirty="0"/>
              <a:t> Si una función modifica la lista que recibe, su </a:t>
            </a:r>
            <a:r>
              <a:rPr lang="es-MX" sz="2000" b="1" dirty="0"/>
              <a:t>Garantiza</a:t>
            </a:r>
            <a:r>
              <a:rPr lang="es-MX" sz="2000" dirty="0"/>
              <a:t> debe decirlo, y para no perder la original se le pasa un </a:t>
            </a:r>
            <a:r>
              <a:rPr lang="es-MX" sz="2000" b="1" dirty="0"/>
              <a:t>clon</a:t>
            </a:r>
            <a:r>
              <a:rPr lang="es-MX" sz="2000" dirty="0"/>
              <a:t>.</a:t>
            </a:r>
            <a:endParaRPr lang="es-MX" sz="2000" b="1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31A2559-AE1F-4242-8D00-C038CA6D7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114939"/>
              </p:ext>
            </p:extLst>
          </p:nvPr>
        </p:nvGraphicFramePr>
        <p:xfrm>
          <a:off x="350122" y="1052736"/>
          <a:ext cx="8559824" cy="4351338"/>
        </p:xfrm>
        <a:graphic>
          <a:graphicData uri="http://schemas.openxmlformats.org/drawingml/2006/table">
            <a:tbl>
              <a:tblPr/>
              <a:tblGrid>
                <a:gridCol w="1737320">
                  <a:extLst>
                    <a:ext uri="{9D8B030D-6E8A-4147-A177-3AD203B41FA5}">
                      <a16:colId xmlns:a16="http://schemas.microsoft.com/office/drawing/2014/main" val="1362493764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3955142743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3934414259"/>
                    </a:ext>
                  </a:extLst>
                </a:gridCol>
                <a:gridCol w="2574032">
                  <a:extLst>
                    <a:ext uri="{9D8B030D-6E8A-4147-A177-3AD203B41FA5}">
                      <a16:colId xmlns:a16="http://schemas.microsoft.com/office/drawing/2014/main" val="3753656941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/>
                        <a:t>Caso 1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/>
                        <a:t>Caso 2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/>
                        <a:t>Caso 3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042115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r>
                        <a:rPr lang="es-CO" sz="1600" b="1" dirty="0"/>
                        <a:t>Ejemplo</a:t>
                      </a:r>
                      <a:endParaRPr lang="es-CO" sz="1600" dirty="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calcular_promedio(notas)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leer_notas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(n)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aplicar_bonificacion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(notas, </a:t>
                      </a:r>
                    </a:p>
                    <a:p>
                      <a:r>
                        <a:rPr lang="es-CO" sz="1200" dirty="0">
                          <a:latin typeface="Consolas" panose="020B0609020204030204" pitchFamily="49" charset="0"/>
                        </a:rPr>
                        <a:t>                     puntos)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1527607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r>
                        <a:rPr lang="es-CO" sz="1600" b="1" dirty="0"/>
                        <a:t>Entra</a:t>
                      </a:r>
                      <a:endParaRPr lang="es-CO" sz="1600" dirty="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una lista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un valor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/>
                        <a:t>una lista (y un valor)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866051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r>
                        <a:rPr lang="es-CO" sz="1600" b="1" dirty="0"/>
                        <a:t>Sale (</a:t>
                      </a:r>
                      <a:r>
                        <a:rPr lang="es-CO" sz="1400" b="1" dirty="0" err="1"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s-CO" sz="1600" b="1" dirty="0"/>
                        <a:t>)</a:t>
                      </a:r>
                      <a:endParaRPr lang="es-CO" sz="1600" dirty="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un valor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una lista </a:t>
                      </a:r>
                      <a:r>
                        <a:rPr lang="es-CO" sz="1600" b="1"/>
                        <a:t>nueva</a:t>
                      </a:r>
                      <a:endParaRPr lang="es-CO" sz="1600"/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nada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0453924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r>
                        <a:rPr lang="es-CO" sz="1600" b="1" dirty="0"/>
                        <a:t>¿Modifica la lista?</a:t>
                      </a:r>
                      <a:endParaRPr lang="es-CO" sz="1600" dirty="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No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— (la crea)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/>
                        <a:t>Sí</a:t>
                      </a:r>
                      <a:endParaRPr lang="es-CO" sz="1600" dirty="0"/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618151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r>
                        <a:rPr lang="es-CO" sz="1600" b="1" dirty="0"/>
                        <a:t>Garantiza dice</a:t>
                      </a:r>
                      <a:endParaRPr lang="es-CO" sz="1600" dirty="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i="1" dirty="0"/>
                        <a:t>“No modifica notas”</a:t>
                      </a:r>
                      <a:endParaRPr lang="es-CO" sz="1600" dirty="0"/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i="1" dirty="0"/>
                        <a:t>“Retorna una lista nueva”</a:t>
                      </a:r>
                      <a:endParaRPr lang="es-CO" sz="1600" dirty="0"/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i="1"/>
                        <a:t>“MODIFICA la lista”</a:t>
                      </a:r>
                      <a:endParaRPr lang="es-CO" sz="1600"/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1121545"/>
                  </a:ext>
                </a:extLst>
              </a:tr>
              <a:tr h="821007">
                <a:tc>
                  <a:txBody>
                    <a:bodyPr/>
                    <a:lstStyle/>
                    <a:p>
                      <a:r>
                        <a:rPr lang="es-CO" sz="1600" b="1" dirty="0"/>
                        <a:t>Se invoca</a:t>
                      </a:r>
                      <a:endParaRPr lang="es-CO" sz="1600" dirty="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latin typeface="Consolas" panose="020B0609020204030204" pitchFamily="49" charset="0"/>
                        </a:rPr>
                        <a:t>prom = calcular_promedio(lista_notas)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lista_notas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 = leer_notas(4)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aplicar_bonificacion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s-CO" sz="1200" dirty="0" err="1">
                          <a:latin typeface="Consolas" panose="020B0609020204030204" pitchFamily="49" charset="0"/>
                        </a:rPr>
                        <a:t>lista_notas</a:t>
                      </a:r>
                      <a:r>
                        <a:rPr lang="es-CO" sz="1200" dirty="0">
                          <a:latin typeface="Consolas" panose="020B0609020204030204" pitchFamily="49" charset="0"/>
                        </a:rPr>
                        <a:t>, 0.5)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6970774"/>
                  </a:ext>
                </a:extLst>
              </a:tr>
              <a:tr h="821007">
                <a:tc>
                  <a:txBody>
                    <a:bodyPr/>
                    <a:lstStyle/>
                    <a:p>
                      <a:r>
                        <a:rPr lang="es-CO" sz="1600" b="1" dirty="0"/>
                        <a:t>Se prueba</a:t>
                      </a:r>
                      <a:endParaRPr lang="es-CO" sz="1600" dirty="0"/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b="1" dirty="0" err="1">
                          <a:latin typeface="Consolas" panose="020B0609020204030204" pitchFamily="49" charset="0"/>
                        </a:rPr>
                        <a:t>assert</a:t>
                      </a:r>
                      <a:r>
                        <a:rPr lang="es-MX" sz="1600" dirty="0"/>
                        <a:t> sobre el valor que devuelve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Ejecutando el programa (usa </a:t>
                      </a:r>
                      <a:r>
                        <a:rPr lang="es-MX" sz="1400" b="1" dirty="0">
                          <a:latin typeface="Consolas" panose="020B0609020204030204" pitchFamily="49" charset="0"/>
                        </a:rPr>
                        <a:t>input</a:t>
                      </a:r>
                      <a:r>
                        <a:rPr lang="es-MX" sz="1600" dirty="0"/>
                        <a:t>)</a:t>
                      </a:r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Llamar y </a:t>
                      </a:r>
                      <a:r>
                        <a:rPr lang="es-CO" sz="1600" b="1" dirty="0"/>
                        <a:t>después revisa</a:t>
                      </a:r>
                      <a:endParaRPr lang="es-CO" sz="1600" dirty="0"/>
                    </a:p>
                  </a:txBody>
                  <a:tcPr marL="82101" marR="82101" marT="41050" marB="41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5976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96833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4016" y="116632"/>
            <a:ext cx="8999984" cy="720452"/>
          </a:xfrm>
        </p:spPr>
        <p:txBody>
          <a:bodyPr>
            <a:noAutofit/>
          </a:bodyPr>
          <a:lstStyle/>
          <a:p>
            <a:r>
              <a:rPr lang="es-MX" sz="3600" dirty="0"/>
              <a:t>Volviendo al problema (punto de partida)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144016" y="692696"/>
            <a:ext cx="889248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Enunciado (el que quedó pendiente en la clase 10):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rtl="0"/>
            <a:endParaRPr lang="es-MX" sz="2000" b="1" dirty="0"/>
          </a:p>
          <a:p>
            <a:pPr rtl="0"/>
            <a:endParaRPr lang="es-MX" sz="2000" b="1" dirty="0"/>
          </a:p>
          <a:p>
            <a:pPr rtl="0"/>
            <a:r>
              <a:rPr lang="es-MX" sz="2000" b="1" dirty="0"/>
              <a:t>Entender (</a:t>
            </a:r>
            <a:r>
              <a:rPr lang="es-MX" sz="2000" b="1" dirty="0" err="1"/>
              <a:t>Polya</a:t>
            </a:r>
            <a:r>
              <a:rPr lang="es-MX" sz="2000" b="1" dirty="0"/>
              <a:t>):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rtl="0"/>
            <a:endParaRPr lang="es-MX" sz="2000" b="1" dirty="0"/>
          </a:p>
          <a:p>
            <a:pPr rtl="0"/>
            <a:r>
              <a:rPr lang="es-MX" sz="2000" b="1" dirty="0"/>
              <a:t>¿Por qué no se podía en la clase 10?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El promedio solo se conoce después de leer todas las notas.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Con una sola variable </a:t>
            </a:r>
            <a:r>
              <a:rPr lang="es-MX" b="1" dirty="0">
                <a:latin typeface="Consolas" panose="020B0609020204030204" pitchFamily="49" charset="0"/>
              </a:rPr>
              <a:t>nota</a:t>
            </a:r>
            <a:r>
              <a:rPr lang="es-MX" sz="2000" dirty="0"/>
              <a:t>, al terminar de leer solo quedaba la última.</a:t>
            </a:r>
          </a:p>
          <a:p>
            <a:pPr rtl="0"/>
            <a:r>
              <a:rPr lang="es-MX" sz="2000" b="1" dirty="0"/>
              <a:t>¿Qué cambió?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Con un arreglo, las notas </a:t>
            </a:r>
            <a:r>
              <a:rPr lang="es-MX" sz="2000" b="1" dirty="0"/>
              <a:t>quedan guardadas</a:t>
            </a:r>
            <a:r>
              <a:rPr lang="es-MX" sz="2000" dirty="0"/>
              <a:t>: primero se calcula el promedio y después </a:t>
            </a:r>
            <a:r>
              <a:rPr lang="es-MX" sz="2000" b="1" dirty="0"/>
              <a:t>se recorren otra vez </a:t>
            </a:r>
            <a:r>
              <a:rPr lang="es-MX" sz="2000" dirty="0"/>
              <a:t>para compararlas.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43A5ECC-AFCC-42FC-B6A6-04366738C783}"/>
              </a:ext>
            </a:extLst>
          </p:cNvPr>
          <p:cNvSpPr txBox="1"/>
          <p:nvPr/>
        </p:nvSpPr>
        <p:spPr>
          <a:xfrm>
            <a:off x="502020" y="1126485"/>
            <a:ext cx="7992888" cy="70788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rtl="0"/>
            <a:r>
              <a:rPr lang="es-MX" sz="2000" dirty="0"/>
              <a:t>Leer las notas de los estudiantes de un curso y mostrar el promedio, cuántas notas son mayores que el promedio y en qué posiciones están.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19981C29-36BA-4070-8B8D-1D6B070B98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458561"/>
              </p:ext>
            </p:extLst>
          </p:nvPr>
        </p:nvGraphicFramePr>
        <p:xfrm>
          <a:off x="539552" y="2359144"/>
          <a:ext cx="7886700" cy="1645920"/>
        </p:xfrm>
        <a:graphic>
          <a:graphicData uri="http://schemas.openxmlformats.org/drawingml/2006/table">
            <a:tbl>
              <a:tblPr/>
              <a:tblGrid>
                <a:gridCol w="1980878">
                  <a:extLst>
                    <a:ext uri="{9D8B030D-6E8A-4147-A177-3AD203B41FA5}">
                      <a16:colId xmlns:a16="http://schemas.microsoft.com/office/drawing/2014/main" val="3108827671"/>
                    </a:ext>
                  </a:extLst>
                </a:gridCol>
                <a:gridCol w="5905822">
                  <a:extLst>
                    <a:ext uri="{9D8B030D-6E8A-4147-A177-3AD203B41FA5}">
                      <a16:colId xmlns:a16="http://schemas.microsoft.com/office/drawing/2014/main" val="27229425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b="1" dirty="0"/>
                        <a:t>Entradas</a:t>
                      </a:r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b="1" dirty="0">
                          <a:latin typeface="Consolas" panose="020B0609020204030204" pitchFamily="49" charset="0"/>
                        </a:rPr>
                        <a:t>n</a:t>
                      </a:r>
                      <a:r>
                        <a:rPr lang="es-MX" dirty="0"/>
                        <a:t> (cantidad de estudiantes) y las n notas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591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 dirty="0"/>
                        <a:t>Salidas</a:t>
                      </a:r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El promedio, cuántas notas son mayores que él y sus posiciones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4841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 dirty="0"/>
                        <a:t>Ejemplo</a:t>
                      </a:r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Notas </a:t>
                      </a:r>
                      <a:r>
                        <a:rPr lang="es-MX" sz="1600" b="1" dirty="0">
                          <a:latin typeface="Consolas" panose="020B0609020204030204" pitchFamily="49" charset="0"/>
                        </a:rPr>
                        <a:t>3.0, 4.5, 2.0, 4.0</a:t>
                      </a:r>
                      <a:r>
                        <a:rPr lang="es-MX" dirty="0"/>
                        <a:t> → promedio </a:t>
                      </a:r>
                      <a:r>
                        <a:rPr lang="es-MX" sz="1600" b="1" dirty="0">
                          <a:latin typeface="Consolas" panose="020B0609020204030204" pitchFamily="49" charset="0"/>
                        </a:rPr>
                        <a:t>3.38</a:t>
                      </a:r>
                      <a:r>
                        <a:rPr lang="es-MX" dirty="0"/>
                        <a:t>, </a:t>
                      </a:r>
                      <a:r>
                        <a:rPr lang="es-MX" sz="1600" b="1" dirty="0"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s-MX" dirty="0"/>
                        <a:t> notas mayores, en las posiciones </a:t>
                      </a:r>
                      <a:r>
                        <a:rPr lang="es-MX" sz="1600" dirty="0">
                          <a:latin typeface="Consolas" panose="020B0609020204030204" pitchFamily="49" charset="0"/>
                        </a:rPr>
                        <a:t>[1, 3]</a:t>
                      </a:r>
                      <a:endParaRPr lang="es-MX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2287747"/>
                  </a:ext>
                </a:extLst>
              </a:tr>
            </a:tbl>
          </a:graphicData>
        </a:graphic>
      </p:graphicFrame>
      <p:sp>
        <p:nvSpPr>
          <p:cNvPr id="19" name="CuadroTexto 18">
            <a:extLst>
              <a:ext uri="{FF2B5EF4-FFF2-40B4-BE49-F238E27FC236}">
                <a16:creationId xmlns:a16="http://schemas.microsoft.com/office/drawing/2014/main" id="{78FFFC2C-E88F-41F3-A37F-444BE5740055}"/>
              </a:ext>
            </a:extLst>
          </p:cNvPr>
          <p:cNvSpPr txBox="1"/>
          <p:nvPr/>
        </p:nvSpPr>
        <p:spPr>
          <a:xfrm>
            <a:off x="0" y="6177498"/>
            <a:ext cx="9144000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sz="2000" b="1" dirty="0"/>
              <a:t>Idea clave:</a:t>
            </a:r>
            <a:r>
              <a:rPr lang="es-MX" sz="2000" dirty="0"/>
              <a:t> Un arreglo permite </a:t>
            </a:r>
            <a:r>
              <a:rPr lang="es-MX" sz="2000" b="1" dirty="0"/>
              <a:t>recorrer los datos más de una vez</a:t>
            </a:r>
            <a:r>
              <a:rPr lang="es-MX" sz="2000" dirty="0"/>
              <a:t>. Eso es lo que este problema necesita.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9681641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0" y="116632"/>
            <a:ext cx="9144000" cy="720452"/>
          </a:xfrm>
        </p:spPr>
        <p:txBody>
          <a:bodyPr>
            <a:noAutofit/>
          </a:bodyPr>
          <a:lstStyle/>
          <a:p>
            <a:r>
              <a:rPr lang="es-MX" sz="3600" dirty="0"/>
              <a:t>Diseño top-</a:t>
            </a:r>
            <a:r>
              <a:rPr lang="es-MX" sz="3600" dirty="0" err="1"/>
              <a:t>down</a:t>
            </a:r>
            <a:r>
              <a:rPr lang="es-MX" sz="3600" dirty="0"/>
              <a:t>: ¿qué funciones necesitamos?</a:t>
            </a:r>
            <a:endParaRPr lang="es-CO" sz="36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6DADBC7-06F9-4F04-A6D1-FA8212F88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46" y="2437271"/>
            <a:ext cx="7463707" cy="3684212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D3F7A674-25AB-48E8-B790-83BB9E1D081F}"/>
              </a:ext>
            </a:extLst>
          </p:cNvPr>
          <p:cNvSpPr txBox="1"/>
          <p:nvPr/>
        </p:nvSpPr>
        <p:spPr>
          <a:xfrm>
            <a:off x="0" y="6177498"/>
            <a:ext cx="9144000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sz="2000" b="1" dirty="0"/>
              <a:t>Idea clave:</a:t>
            </a:r>
            <a:r>
              <a:rPr lang="es-MX" sz="2000" dirty="0"/>
              <a:t> Con </a:t>
            </a:r>
            <a:r>
              <a:rPr lang="es-MX" sz="2000" b="1" dirty="0"/>
              <a:t>top-</a:t>
            </a:r>
            <a:r>
              <a:rPr lang="es-MX" sz="2000" b="1" dirty="0" err="1"/>
              <a:t>down</a:t>
            </a:r>
            <a:r>
              <a:rPr lang="es-MX" sz="2000" dirty="0"/>
              <a:t>, el problema nuevo se arma en buena parte con funciones que ya están hechas y probadas.</a:t>
            </a:r>
            <a:endParaRPr lang="es-CO" sz="2000" dirty="0"/>
          </a:p>
        </p:txBody>
      </p:sp>
      <p:sp>
        <p:nvSpPr>
          <p:cNvPr id="22" name="12 Rectángulo">
            <a:extLst>
              <a:ext uri="{FF2B5EF4-FFF2-40B4-BE49-F238E27FC236}">
                <a16:creationId xmlns:a16="http://schemas.microsoft.com/office/drawing/2014/main" id="{8FC00759-0BCF-4362-8C49-9D478F691572}"/>
              </a:ext>
            </a:extLst>
          </p:cNvPr>
          <p:cNvSpPr/>
          <p:nvPr/>
        </p:nvSpPr>
        <p:spPr>
          <a:xfrm>
            <a:off x="0" y="736517"/>
            <a:ext cx="872771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El problema se divide en </a:t>
            </a:r>
            <a:r>
              <a:rPr lang="es-MX" sz="2000" b="1" dirty="0"/>
              <a:t>Entrada → Proceso → Salida</a:t>
            </a:r>
            <a:r>
              <a:rPr lang="es-MX" sz="2000" dirty="0"/>
              <a:t> (igual que en la clase 10).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Dos funciones ya existen</a:t>
            </a:r>
            <a:r>
              <a:rPr lang="es-MX" sz="2000" dirty="0"/>
              <a:t>: </a:t>
            </a:r>
            <a:r>
              <a:rPr lang="es-MX" b="1" dirty="0" err="1">
                <a:latin typeface="Consolas" panose="020B0609020204030204" pitchFamily="49" charset="0"/>
              </a:rPr>
              <a:t>leer_notas</a:t>
            </a:r>
            <a:r>
              <a:rPr lang="es-MX" sz="2000" dirty="0"/>
              <a:t> (Caso 2) y </a:t>
            </a:r>
            <a:r>
              <a:rPr lang="es-MX" b="1" dirty="0">
                <a:latin typeface="Consolas" panose="020B0609020204030204" pitchFamily="49" charset="0"/>
              </a:rPr>
              <a:t>calcular_promedio</a:t>
            </a:r>
            <a:r>
              <a:rPr lang="es-MX" sz="2000" dirty="0"/>
              <a:t> (Caso 1). Solo se reutilizan.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Faltan dos</a:t>
            </a:r>
            <a:r>
              <a:rPr lang="es-MX" sz="2000" dirty="0"/>
              <a:t>: </a:t>
            </a:r>
            <a:r>
              <a:rPr lang="es-MX" b="1" dirty="0" err="1">
                <a:latin typeface="Consolas" panose="020B0609020204030204" pitchFamily="49" charset="0"/>
              </a:rPr>
              <a:t>contar_mayores_que</a:t>
            </a:r>
            <a:r>
              <a:rPr lang="es-MX" sz="2000" dirty="0"/>
              <a:t> y </a:t>
            </a:r>
            <a:r>
              <a:rPr lang="es-MX" b="1" dirty="0" err="1">
                <a:latin typeface="Consolas" panose="020B0609020204030204" pitchFamily="49" charset="0"/>
              </a:rPr>
              <a:t>posiciones_mayores_que</a:t>
            </a:r>
            <a:r>
              <a:rPr lang="es-MX" sz="2000" dirty="0"/>
              <a:t>. La segunda usa a </a:t>
            </a:r>
            <a:r>
              <a:rPr lang="es-MX" sz="2000" b="1" dirty="0"/>
              <a:t>la primera.</a:t>
            </a:r>
          </a:p>
        </p:txBody>
      </p:sp>
    </p:spTree>
    <p:extLst>
      <p:ext uri="{BB962C8B-B14F-4D97-AF65-F5344CB8AC3E}">
        <p14:creationId xmlns:p14="http://schemas.microsoft.com/office/powerpoint/2010/main" val="23995770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08782" y="116632"/>
            <a:ext cx="8835218" cy="720452"/>
          </a:xfrm>
        </p:spPr>
        <p:txBody>
          <a:bodyPr>
            <a:noAutofit/>
          </a:bodyPr>
          <a:lstStyle/>
          <a:p>
            <a:r>
              <a:rPr lang="es-MX" sz="3600" dirty="0"/>
              <a:t>Especificación: </a:t>
            </a:r>
            <a:r>
              <a:rPr lang="es-MX" sz="3200" dirty="0" err="1">
                <a:latin typeface="Consolas" panose="020B0609020204030204" pitchFamily="49" charset="0"/>
              </a:rPr>
              <a:t>contar_mayores_que</a:t>
            </a:r>
            <a:endParaRPr lang="es-MX" sz="3200" dirty="0">
              <a:latin typeface="Consolas" panose="020B0609020204030204" pitchFamily="49" charset="0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154391" y="810692"/>
            <a:ext cx="861354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Antes de programar se escribe el </a:t>
            </a:r>
            <a:r>
              <a:rPr lang="es-MX" sz="2000" b="1" dirty="0"/>
              <a:t>contrato</a:t>
            </a:r>
            <a:r>
              <a:rPr lang="es-MX" sz="2000" dirty="0"/>
              <a:t>: qué supone y qué garantiza cada función.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La funcione </a:t>
            </a:r>
            <a:r>
              <a:rPr lang="es-MX" sz="2000" b="1" dirty="0"/>
              <a:t>recibe la lista y un valor</a:t>
            </a:r>
            <a:r>
              <a:rPr lang="es-MX" sz="2000" dirty="0"/>
              <a:t>, y </a:t>
            </a:r>
            <a:r>
              <a:rPr lang="es-MX" sz="2000" b="1" dirty="0"/>
              <a:t>no la modifica</a:t>
            </a:r>
            <a:r>
              <a:rPr lang="es-MX" sz="2000" dirty="0"/>
              <a:t> (Caso 1).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9016B5F-0537-4FB6-B4F5-41B8BAA7EF37}"/>
              </a:ext>
            </a:extLst>
          </p:cNvPr>
          <p:cNvSpPr txBox="1"/>
          <p:nvPr/>
        </p:nvSpPr>
        <p:spPr>
          <a:xfrm>
            <a:off x="12794" y="6146847"/>
            <a:ext cx="9131205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2000" b="1" dirty="0"/>
              <a:t>Idea clave</a:t>
            </a:r>
            <a:r>
              <a:rPr lang="es-MX" sz="2000" dirty="0"/>
              <a:t>: Se recibe </a:t>
            </a:r>
            <a:r>
              <a:rPr lang="es-MX" b="1" dirty="0">
                <a:latin typeface="Consolas" panose="020B0609020204030204" pitchFamily="49" charset="0"/>
              </a:rPr>
              <a:t>valor</a:t>
            </a:r>
            <a:r>
              <a:rPr lang="es-MX" sz="2000" dirty="0"/>
              <a:t> y no </a:t>
            </a:r>
            <a:r>
              <a:rPr lang="es-MX" b="1" dirty="0">
                <a:latin typeface="Consolas" panose="020B0609020204030204" pitchFamily="49" charset="0"/>
              </a:rPr>
              <a:t>promedio</a:t>
            </a:r>
            <a:r>
              <a:rPr lang="es-MX" sz="2000" dirty="0"/>
              <a:t>, así la función sirve para comparar con cualquier número, no solo con el promedio.</a:t>
            </a:r>
          </a:p>
        </p:txBody>
      </p:sp>
      <p:graphicFrame>
        <p:nvGraphicFramePr>
          <p:cNvPr id="10" name="Tabla 13">
            <a:extLst>
              <a:ext uri="{FF2B5EF4-FFF2-40B4-BE49-F238E27FC236}">
                <a16:creationId xmlns:a16="http://schemas.microsoft.com/office/drawing/2014/main" id="{78D12777-E414-426E-94A4-4D7897759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268526"/>
              </p:ext>
            </p:extLst>
          </p:nvPr>
        </p:nvGraphicFramePr>
        <p:xfrm>
          <a:off x="336858" y="4106768"/>
          <a:ext cx="8248608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48608">
                  <a:extLst>
                    <a:ext uri="{9D8B030D-6E8A-4147-A177-3AD203B41FA5}">
                      <a16:colId xmlns:a16="http://schemas.microsoft.com/office/drawing/2014/main" val="499056580"/>
                    </a:ext>
                  </a:extLst>
                </a:gridCol>
              </a:tblGrid>
              <a:tr h="187045">
                <a:tc>
                  <a:txBody>
                    <a:bodyPr/>
                    <a:lstStyle/>
                    <a:p>
                      <a:r>
                        <a:rPr lang="es-MX" sz="1200" dirty="0" err="1">
                          <a:latin typeface="Consolas" panose="020B0609020204030204" pitchFamily="49" charset="0"/>
                        </a:rPr>
                        <a:t>def</a:t>
                      </a:r>
                      <a:r>
                        <a:rPr lang="es-MX" sz="12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MX" sz="1200" dirty="0" err="1">
                          <a:latin typeface="Consolas" panose="020B0609020204030204" pitchFamily="49" charset="0"/>
                        </a:rPr>
                        <a:t>contar_mayores_que</a:t>
                      </a:r>
                      <a:r>
                        <a:rPr lang="es-MX" sz="1200" dirty="0">
                          <a:latin typeface="Consolas" panose="020B0609020204030204" pitchFamily="49" charset="0"/>
                        </a:rPr>
                        <a:t>(notas, valor):</a:t>
                      </a:r>
                    </a:p>
                    <a:p>
                      <a:r>
                        <a:rPr lang="es-MX" sz="120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s-MX" sz="12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"""</a:t>
                      </a:r>
                    </a:p>
                    <a:p>
                      <a:r>
                        <a:rPr lang="es-MX" sz="12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   Supone:</a:t>
                      </a:r>
                    </a:p>
                    <a:p>
                      <a:r>
                        <a:rPr lang="es-MX" sz="12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       notas es una lista de </a:t>
                      </a:r>
                      <a:r>
                        <a:rPr lang="es-MX" sz="1200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numeros</a:t>
                      </a:r>
                      <a:r>
                        <a:rPr lang="es-MX" sz="12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(puede estar </a:t>
                      </a:r>
                      <a:r>
                        <a:rPr lang="es-MX" sz="1200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vacia</a:t>
                      </a:r>
                      <a:r>
                        <a:rPr lang="es-MX" sz="12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) y valor es un numero.</a:t>
                      </a:r>
                    </a:p>
                    <a:p>
                      <a:r>
                        <a:rPr lang="es-MX" sz="12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   Garantiza:</a:t>
                      </a:r>
                    </a:p>
                    <a:p>
                      <a:r>
                        <a:rPr lang="es-MX" sz="12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       Retorna la cantidad de notas estrictamente mayores que valor (</a:t>
                      </a:r>
                      <a:r>
                        <a:rPr lang="es-MX" sz="1200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s-MX" sz="12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).</a:t>
                      </a:r>
                    </a:p>
                    <a:p>
                      <a:r>
                        <a:rPr lang="es-MX" sz="12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       No modifica notas.</a:t>
                      </a:r>
                    </a:p>
                    <a:p>
                      <a:r>
                        <a:rPr lang="es-MX" sz="12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   """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50"/>
                  </a:ext>
                </a:extLst>
              </a:tr>
            </a:tbl>
          </a:graphicData>
        </a:graphic>
      </p:graphicFrame>
      <p:pic>
        <p:nvPicPr>
          <p:cNvPr id="18" name="Imagen 17">
            <a:extLst>
              <a:ext uri="{FF2B5EF4-FFF2-40B4-BE49-F238E27FC236}">
                <a16:creationId xmlns:a16="http://schemas.microsoft.com/office/drawing/2014/main" id="{E41C767A-BB43-49EC-BA32-E470F981E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82" y="2179430"/>
            <a:ext cx="8248608" cy="163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3836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08782" y="116632"/>
            <a:ext cx="8835218" cy="720452"/>
          </a:xfrm>
        </p:spPr>
        <p:txBody>
          <a:bodyPr>
            <a:noAutofit/>
          </a:bodyPr>
          <a:lstStyle/>
          <a:p>
            <a:r>
              <a:rPr lang="es-MX" sz="3600" dirty="0"/>
              <a:t>Especificación: </a:t>
            </a:r>
            <a:r>
              <a:rPr lang="es-MX" sz="3200" dirty="0" err="1">
                <a:latin typeface="Consolas" panose="020B0609020204030204" pitchFamily="49" charset="0"/>
              </a:rPr>
              <a:t>posiciones_mayores_que</a:t>
            </a:r>
            <a:endParaRPr lang="es-MX" sz="3200" dirty="0">
              <a:latin typeface="Consolas" panose="020B0609020204030204" pitchFamily="49" charset="0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154391" y="810692"/>
            <a:ext cx="86135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Igual que la anterior, </a:t>
            </a:r>
            <a:r>
              <a:rPr lang="es-MX" sz="2000" b="1" dirty="0"/>
              <a:t>recibe la lista y un valor</a:t>
            </a:r>
            <a:r>
              <a:rPr lang="es-MX" sz="2000" dirty="0"/>
              <a:t> y </a:t>
            </a:r>
            <a:r>
              <a:rPr lang="es-MX" sz="2000" b="1" dirty="0"/>
              <a:t>no la modifica</a:t>
            </a:r>
            <a:r>
              <a:rPr lang="es-MX" sz="2000" dirty="0"/>
              <a:t>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Pero devuelve una </a:t>
            </a:r>
            <a:r>
              <a:rPr lang="es-MX" sz="2000" b="1" dirty="0"/>
              <a:t>lista nueva</a:t>
            </a:r>
            <a:r>
              <a:rPr lang="es-MX" sz="2000" dirty="0"/>
              <a:t> con las posiciones, en orden creciente.</a:t>
            </a:r>
          </a:p>
        </p:txBody>
      </p:sp>
      <p:graphicFrame>
        <p:nvGraphicFramePr>
          <p:cNvPr id="10" name="Tabla 13">
            <a:extLst>
              <a:ext uri="{FF2B5EF4-FFF2-40B4-BE49-F238E27FC236}">
                <a16:creationId xmlns:a16="http://schemas.microsoft.com/office/drawing/2014/main" id="{78D12777-E414-426E-94A4-4D7897759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971073"/>
              </p:ext>
            </p:extLst>
          </p:nvPr>
        </p:nvGraphicFramePr>
        <p:xfrm>
          <a:off x="414295" y="3787179"/>
          <a:ext cx="8248608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48608">
                  <a:extLst>
                    <a:ext uri="{9D8B030D-6E8A-4147-A177-3AD203B41FA5}">
                      <a16:colId xmlns:a16="http://schemas.microsoft.com/office/drawing/2014/main" val="499056580"/>
                    </a:ext>
                  </a:extLst>
                </a:gridCol>
              </a:tblGrid>
              <a:tr h="419391">
                <a:tc>
                  <a:txBody>
                    <a:bodyPr/>
                    <a:lstStyle/>
                    <a:p>
                      <a:r>
                        <a:rPr lang="es-MX" sz="1200" dirty="0" err="1">
                          <a:latin typeface="Consolas" panose="020B0609020204030204" pitchFamily="49" charset="0"/>
                        </a:rPr>
                        <a:t>def</a:t>
                      </a:r>
                      <a:r>
                        <a:rPr lang="es-MX" sz="12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MX" sz="1200" dirty="0" err="1">
                          <a:latin typeface="Consolas" panose="020B0609020204030204" pitchFamily="49" charset="0"/>
                        </a:rPr>
                        <a:t>posiciones_mayores_que</a:t>
                      </a:r>
                      <a:r>
                        <a:rPr lang="es-MX" sz="1200" dirty="0">
                          <a:latin typeface="Consolas" panose="020B0609020204030204" pitchFamily="49" charset="0"/>
                        </a:rPr>
                        <a:t>(notas, valor):</a:t>
                      </a:r>
                    </a:p>
                    <a:p>
                      <a:r>
                        <a:rPr lang="es-MX" sz="120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s-MX" sz="12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"""</a:t>
                      </a:r>
                    </a:p>
                    <a:p>
                      <a:r>
                        <a:rPr lang="es-MX" sz="12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   Supone:</a:t>
                      </a:r>
                    </a:p>
                    <a:p>
                      <a:r>
                        <a:rPr lang="es-MX" sz="12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       notas es una lista de </a:t>
                      </a:r>
                      <a:r>
                        <a:rPr lang="es-MX" sz="1200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numeros</a:t>
                      </a:r>
                      <a:r>
                        <a:rPr lang="es-MX" sz="12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(puede estar </a:t>
                      </a:r>
                      <a:r>
                        <a:rPr lang="es-MX" sz="1200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vacia</a:t>
                      </a:r>
                      <a:r>
                        <a:rPr lang="es-MX" sz="12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) y valor es un numero.</a:t>
                      </a:r>
                    </a:p>
                    <a:p>
                      <a:r>
                        <a:rPr lang="es-MX" sz="12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   Garantiza:</a:t>
                      </a:r>
                    </a:p>
                    <a:p>
                      <a:r>
                        <a:rPr lang="es-MX" sz="12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       Retorna una lista nueva con las posiciones (</a:t>
                      </a:r>
                      <a:r>
                        <a:rPr lang="es-MX" sz="1200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s-MX" sz="12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), en orden creciente,</a:t>
                      </a:r>
                    </a:p>
                    <a:p>
                      <a:r>
                        <a:rPr lang="es-MX" sz="12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       de las notas estrictamente mayores que valor. No modifica notas.</a:t>
                      </a:r>
                    </a:p>
                    <a:p>
                      <a:r>
                        <a:rPr lang="es-MX" sz="12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   """</a:t>
                      </a:r>
                      <a:endParaRPr lang="es-CO" sz="120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50"/>
                  </a:ext>
                </a:extLst>
              </a:tr>
            </a:tbl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7F4D0C9C-3558-4769-9D3C-0B6BAEA4B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96" y="2039838"/>
            <a:ext cx="8248608" cy="122608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C415D39-44E5-4587-A7CC-8B466C276D7E}"/>
              </a:ext>
            </a:extLst>
          </p:cNvPr>
          <p:cNvSpPr txBox="1"/>
          <p:nvPr/>
        </p:nvSpPr>
        <p:spPr>
          <a:xfrm>
            <a:off x="12794" y="6146847"/>
            <a:ext cx="9131205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2000" b="1" dirty="0"/>
              <a:t>Idea clave</a:t>
            </a:r>
            <a:r>
              <a:rPr lang="es-MX" sz="2000" dirty="0"/>
              <a:t>: </a:t>
            </a:r>
            <a:r>
              <a:rPr lang="es-MX" b="1" dirty="0" err="1">
                <a:latin typeface="Consolas" panose="020B0609020204030204" pitchFamily="49" charset="0"/>
              </a:rPr>
              <a:t>posiciones_mayores_que</a:t>
            </a:r>
            <a:r>
              <a:rPr lang="es-MX" sz="2000" dirty="0"/>
              <a:t> combina dos casos: recibe una lista (</a:t>
            </a:r>
            <a:r>
              <a:rPr lang="es-MX" sz="2000" b="1" dirty="0"/>
              <a:t>Caso 1</a:t>
            </a:r>
            <a:r>
              <a:rPr lang="es-MX" sz="2000" dirty="0"/>
              <a:t>) y devuelve una lista nueva (</a:t>
            </a:r>
            <a:r>
              <a:rPr lang="es-MX" sz="2000" b="1" dirty="0"/>
              <a:t>Caso 2</a:t>
            </a:r>
            <a:r>
              <a:rPr lang="es-MX" sz="20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2184406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08782" y="116632"/>
            <a:ext cx="8835218" cy="720452"/>
          </a:xfrm>
        </p:spPr>
        <p:txBody>
          <a:bodyPr>
            <a:noAutofit/>
          </a:bodyPr>
          <a:lstStyle/>
          <a:p>
            <a:r>
              <a:rPr lang="es-MX" sz="3600" dirty="0"/>
              <a:t>Implementación: </a:t>
            </a:r>
            <a:r>
              <a:rPr lang="es-MX" sz="3200" dirty="0">
                <a:latin typeface="Consolas" panose="020B0609020204030204" pitchFamily="49" charset="0"/>
              </a:rPr>
              <a:t>contar_mayores_que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54391" y="810692"/>
            <a:ext cx="8613543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Es el patrón </a:t>
            </a:r>
            <a:r>
              <a:rPr lang="es-MX" sz="2000" b="1" dirty="0"/>
              <a:t>contar</a:t>
            </a:r>
            <a:r>
              <a:rPr lang="es-MX" sz="2000" dirty="0"/>
              <a:t> de </a:t>
            </a:r>
            <a:r>
              <a:rPr lang="es-MX" sz="2000" i="1" dirty="0"/>
              <a:t>La clave</a:t>
            </a:r>
            <a:r>
              <a:rPr lang="es-MX" sz="2000" dirty="0"/>
              <a:t>: el </a:t>
            </a:r>
            <a:r>
              <a:rPr lang="es-MX" sz="2000" i="1" dirty="0"/>
              <a:t>índice es una variable</a:t>
            </a:r>
            <a:r>
              <a:rPr lang="es-MX" sz="2000" dirty="0"/>
              <a:t>, ahora dentro de una función.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Recorre con </a:t>
            </a:r>
            <a:r>
              <a:rPr lang="es-MX" b="1" dirty="0">
                <a:latin typeface="Consolas" panose="020B0609020204030204" pitchFamily="49" charset="0"/>
              </a:rPr>
              <a:t>range(len(notas))</a:t>
            </a:r>
            <a:r>
              <a:rPr lang="es-MX" sz="2000" dirty="0"/>
              <a:t> y cuenta las notas que cumplen la condición.</a:t>
            </a:r>
          </a:p>
          <a:p>
            <a:pPr rtl="0"/>
            <a:endParaRPr lang="es-CO" sz="2000" b="1" dirty="0"/>
          </a:p>
          <a:p>
            <a:pPr rtl="0"/>
            <a:r>
              <a:rPr lang="es-CO" sz="2000" b="1" dirty="0"/>
              <a:t>Código</a:t>
            </a:r>
            <a:r>
              <a:rPr lang="es-CO" sz="2000" dirty="0"/>
              <a:t> (</a:t>
            </a:r>
            <a:r>
              <a:rPr lang="es-CO" sz="2000" dirty="0">
                <a:hlinkClick r:id="rId2"/>
              </a:rPr>
              <a:t>simulación</a:t>
            </a:r>
            <a:r>
              <a:rPr lang="es-CO" sz="2000" dirty="0"/>
              <a:t>):</a:t>
            </a: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Prueba de escritorio con</a:t>
            </a:r>
            <a:r>
              <a:rPr lang="es-MX" sz="2000" dirty="0"/>
              <a:t> </a:t>
            </a:r>
            <a:r>
              <a:rPr lang="es-MX" b="1" dirty="0">
                <a:latin typeface="Consolas" panose="020B0609020204030204" pitchFamily="49" charset="0"/>
              </a:rPr>
              <a:t>notas = [3.0, 4.5, 2.0, 4.0]</a:t>
            </a:r>
            <a:r>
              <a:rPr lang="es-MX" sz="2000" b="1" dirty="0"/>
              <a:t> y </a:t>
            </a:r>
            <a:r>
              <a:rPr lang="es-MX" b="1" dirty="0">
                <a:latin typeface="Consolas" panose="020B0609020204030204" pitchFamily="49" charset="0"/>
              </a:rPr>
              <a:t>valor = 3.375</a:t>
            </a:r>
            <a:r>
              <a:rPr lang="es-MX" sz="2000" b="1" dirty="0"/>
              <a:t>:</a:t>
            </a:r>
          </a:p>
        </p:txBody>
      </p:sp>
      <p:graphicFrame>
        <p:nvGraphicFramePr>
          <p:cNvPr id="10" name="Tabla 13">
            <a:extLst>
              <a:ext uri="{FF2B5EF4-FFF2-40B4-BE49-F238E27FC236}">
                <a16:creationId xmlns:a16="http://schemas.microsoft.com/office/drawing/2014/main" id="{78D12777-E414-426E-94A4-4D7897759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123731"/>
              </p:ext>
            </p:extLst>
          </p:nvPr>
        </p:nvGraphicFramePr>
        <p:xfrm>
          <a:off x="376066" y="2543756"/>
          <a:ext cx="8248608" cy="118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48608">
                  <a:extLst>
                    <a:ext uri="{9D8B030D-6E8A-4147-A177-3AD203B41FA5}">
                      <a16:colId xmlns:a16="http://schemas.microsoft.com/office/drawing/2014/main" val="499056580"/>
                    </a:ext>
                  </a:extLst>
                </a:gridCol>
              </a:tblGrid>
              <a:tr h="285246">
                <a:tc>
                  <a:txBody>
                    <a:bodyPr/>
                    <a:lstStyle/>
                    <a:p>
                      <a:r>
                        <a:rPr lang="es-MX" sz="1200" dirty="0" err="1">
                          <a:latin typeface="Consolas" panose="020B0609020204030204" pitchFamily="49" charset="0"/>
                        </a:rPr>
                        <a:t>def</a:t>
                      </a:r>
                      <a:r>
                        <a:rPr lang="es-MX" sz="1200" dirty="0">
                          <a:latin typeface="Consolas" panose="020B0609020204030204" pitchFamily="49" charset="0"/>
                        </a:rPr>
                        <a:t> contar_mayores_que(notas, valor):</a:t>
                      </a:r>
                    </a:p>
                    <a:p>
                      <a:r>
                        <a:rPr lang="es-MX" sz="1200" dirty="0">
                          <a:latin typeface="Consolas" panose="020B0609020204030204" pitchFamily="49" charset="0"/>
                        </a:rPr>
                        <a:t>    cantidad = 0</a:t>
                      </a:r>
                    </a:p>
                    <a:p>
                      <a:r>
                        <a:rPr lang="es-MX" sz="120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s-MX" sz="1200" dirty="0" err="1"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s-MX" sz="1200" dirty="0">
                          <a:latin typeface="Consolas" panose="020B0609020204030204" pitchFamily="49" charset="0"/>
                        </a:rPr>
                        <a:t> i in range(len(notas)):</a:t>
                      </a:r>
                    </a:p>
                    <a:p>
                      <a:r>
                        <a:rPr lang="es-MX" sz="1200" dirty="0">
                          <a:latin typeface="Consolas" panose="020B0609020204030204" pitchFamily="49" charset="0"/>
                        </a:rPr>
                        <a:t>        </a:t>
                      </a:r>
                      <a:r>
                        <a:rPr lang="es-MX" sz="1200" dirty="0" err="1"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s-MX" sz="1200" dirty="0">
                          <a:latin typeface="Consolas" panose="020B0609020204030204" pitchFamily="49" charset="0"/>
                        </a:rPr>
                        <a:t> notas[i] &gt; valor:</a:t>
                      </a:r>
                    </a:p>
                    <a:p>
                      <a:r>
                        <a:rPr lang="es-MX" sz="1200" dirty="0">
                          <a:latin typeface="Consolas" panose="020B0609020204030204" pitchFamily="49" charset="0"/>
                        </a:rPr>
                        <a:t>            cantidad = cantidad + 1</a:t>
                      </a:r>
                    </a:p>
                    <a:p>
                      <a:r>
                        <a:rPr lang="es-MX" sz="1200" dirty="0">
                          <a:latin typeface="Consolas" panose="020B0609020204030204" pitchFamily="49" charset="0"/>
                        </a:rPr>
                        <a:t>    return cantidad</a:t>
                      </a:r>
                      <a:endParaRPr lang="es-MX" sz="120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50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FDAB221-005C-4012-A808-16FA184B7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207401"/>
              </p:ext>
            </p:extLst>
          </p:nvPr>
        </p:nvGraphicFramePr>
        <p:xfrm>
          <a:off x="557020" y="4365104"/>
          <a:ext cx="7886700" cy="2042160"/>
        </p:xfrm>
        <a:graphic>
          <a:graphicData uri="http://schemas.openxmlformats.org/drawingml/2006/table">
            <a:tbl>
              <a:tblPr/>
              <a:tblGrid>
                <a:gridCol w="1971675">
                  <a:extLst>
                    <a:ext uri="{9D8B030D-6E8A-4147-A177-3AD203B41FA5}">
                      <a16:colId xmlns:a16="http://schemas.microsoft.com/office/drawing/2014/main" val="3415375237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414102326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168664436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33998761"/>
                    </a:ext>
                  </a:extLst>
                </a:gridCol>
              </a:tblGrid>
              <a:tr h="287341">
                <a:tc>
                  <a:txBody>
                    <a:bodyPr/>
                    <a:lstStyle/>
                    <a:p>
                      <a:r>
                        <a:rPr lang="es-CO" b="1">
                          <a:latin typeface="Consolas" panose="020B0609020204030204" pitchFamily="49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latin typeface="Consolas" panose="020B0609020204030204" pitchFamily="49" charset="0"/>
                        </a:rPr>
                        <a:t>notas[i]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>
                          <a:latin typeface="Consolas" panose="020B0609020204030204" pitchFamily="49" charset="0"/>
                        </a:rPr>
                        <a:t>&gt; 3.375?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latin typeface="Consolas" panose="020B0609020204030204" pitchFamily="49" charset="0"/>
                        </a:rPr>
                        <a:t>cantidad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450143"/>
                  </a:ext>
                </a:extLst>
              </a:tr>
              <a:tr h="287341"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5620151"/>
                  </a:ext>
                </a:extLst>
              </a:tr>
              <a:tr h="287341"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3.0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3685085"/>
                  </a:ext>
                </a:extLst>
              </a:tr>
              <a:tr h="287341"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4.5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latin typeface="Consolas" panose="020B0609020204030204" pitchFamily="49" charset="0"/>
                        </a:rPr>
                        <a:t>sí</a:t>
                      </a:r>
                      <a:endParaRPr lang="es-CO" sz="160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3452632"/>
                  </a:ext>
                </a:extLst>
              </a:tr>
              <a:tr h="287341"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897754"/>
                  </a:ext>
                </a:extLst>
              </a:tr>
              <a:tr h="287341"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4.0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latin typeface="Consolas" panose="020B0609020204030204" pitchFamily="49" charset="0"/>
                        </a:rPr>
                        <a:t>sí</a:t>
                      </a:r>
                      <a:endParaRPr lang="es-CO" sz="160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71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54870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08782" y="116632"/>
            <a:ext cx="8835218" cy="720452"/>
          </a:xfrm>
        </p:spPr>
        <p:txBody>
          <a:bodyPr>
            <a:noAutofit/>
          </a:bodyPr>
          <a:lstStyle/>
          <a:p>
            <a:r>
              <a:rPr lang="es-MX" sz="3600" dirty="0"/>
              <a:t>Implementación: </a:t>
            </a:r>
            <a:r>
              <a:rPr lang="es-MX" sz="2800" dirty="0">
                <a:latin typeface="Consolas" panose="020B0609020204030204" pitchFamily="49" charset="0"/>
              </a:rPr>
              <a:t>posiciones_mayores_que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54391" y="810692"/>
            <a:ext cx="883521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Sin </a:t>
            </a:r>
            <a:r>
              <a:rPr lang="es-MX" b="1" dirty="0">
                <a:latin typeface="Consolas" panose="020B0609020204030204" pitchFamily="49" charset="0"/>
              </a:rPr>
              <a:t>append</a:t>
            </a:r>
            <a:r>
              <a:rPr lang="es-MX" sz="2000" dirty="0"/>
              <a:t>, primero hay que saber cuántas posiciones habrá para crear el arreglo del tamaño justo.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Se usan dos índices</a:t>
            </a:r>
            <a:r>
              <a:rPr lang="es-MX" sz="2000" dirty="0"/>
              <a:t>: </a:t>
            </a:r>
            <a:r>
              <a:rPr lang="es-MX" b="1" dirty="0">
                <a:latin typeface="Consolas" panose="020B0609020204030204" pitchFamily="49" charset="0"/>
              </a:rPr>
              <a:t>i</a:t>
            </a:r>
            <a:r>
              <a:rPr lang="es-MX" sz="2000" dirty="0"/>
              <a:t> recorre notas y </a:t>
            </a:r>
            <a:r>
              <a:rPr lang="es-MX" b="1" dirty="0">
                <a:latin typeface="Consolas" panose="020B0609020204030204" pitchFamily="49" charset="0"/>
              </a:rPr>
              <a:t>k</a:t>
            </a:r>
            <a:r>
              <a:rPr lang="es-MX" sz="2000" dirty="0"/>
              <a:t> marca la siguiente casilla libre de posiciones.</a:t>
            </a:r>
            <a:endParaRPr lang="es-CO" sz="2000" b="1" dirty="0"/>
          </a:p>
          <a:p>
            <a:pPr rtl="0"/>
            <a:r>
              <a:rPr lang="es-CO" sz="2000" b="1" dirty="0"/>
              <a:t>Código</a:t>
            </a:r>
            <a:r>
              <a:rPr lang="es-CO" sz="2000" dirty="0"/>
              <a:t> (</a:t>
            </a:r>
            <a:r>
              <a:rPr lang="es-CO" sz="2000" dirty="0">
                <a:hlinkClick r:id="rId2"/>
              </a:rPr>
              <a:t>simulación</a:t>
            </a:r>
            <a:r>
              <a:rPr lang="es-CO" sz="2000" dirty="0"/>
              <a:t>):</a:t>
            </a:r>
          </a:p>
          <a:p>
            <a:pPr rtl="0"/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Prueba de escritorio con los mismos datos</a:t>
            </a:r>
            <a:r>
              <a:rPr lang="es-MX" sz="2000" dirty="0"/>
              <a:t>:</a:t>
            </a:r>
            <a:endParaRPr lang="es-MX" sz="2000" b="1" dirty="0"/>
          </a:p>
        </p:txBody>
      </p:sp>
      <p:graphicFrame>
        <p:nvGraphicFramePr>
          <p:cNvPr id="10" name="Tabla 13">
            <a:extLst>
              <a:ext uri="{FF2B5EF4-FFF2-40B4-BE49-F238E27FC236}">
                <a16:creationId xmlns:a16="http://schemas.microsoft.com/office/drawing/2014/main" id="{78D12777-E414-426E-94A4-4D7897759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944618"/>
              </p:ext>
            </p:extLst>
          </p:nvPr>
        </p:nvGraphicFramePr>
        <p:xfrm>
          <a:off x="376066" y="2420888"/>
          <a:ext cx="8248608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48608">
                  <a:extLst>
                    <a:ext uri="{9D8B030D-6E8A-4147-A177-3AD203B41FA5}">
                      <a16:colId xmlns:a16="http://schemas.microsoft.com/office/drawing/2014/main" val="499056580"/>
                    </a:ext>
                  </a:extLst>
                </a:gridCol>
              </a:tblGrid>
              <a:tr h="285246">
                <a:tc>
                  <a:txBody>
                    <a:bodyPr/>
                    <a:lstStyle/>
                    <a:p>
                      <a:r>
                        <a:rPr lang="es-MX" sz="1200" dirty="0" err="1">
                          <a:latin typeface="Consolas" panose="020B0609020204030204" pitchFamily="49" charset="0"/>
                        </a:rPr>
                        <a:t>def</a:t>
                      </a:r>
                      <a:r>
                        <a:rPr lang="es-MX" sz="1200" dirty="0">
                          <a:latin typeface="Consolas" panose="020B0609020204030204" pitchFamily="49" charset="0"/>
                        </a:rPr>
                        <a:t> posiciones_mayores_que(notas, valor):</a:t>
                      </a:r>
                    </a:p>
                    <a:p>
                      <a:r>
                        <a:rPr lang="es-MX" sz="1200" dirty="0">
                          <a:latin typeface="Consolas" panose="020B0609020204030204" pitchFamily="49" charset="0"/>
                        </a:rPr>
                        <a:t>    cantidad = contar_mayores_que(notas, valor)    # 1. contar</a:t>
                      </a:r>
                    </a:p>
                    <a:p>
                      <a:r>
                        <a:rPr lang="es-MX" sz="1200" dirty="0">
                          <a:latin typeface="Consolas" panose="020B0609020204030204" pitchFamily="49" charset="0"/>
                        </a:rPr>
                        <a:t>    posiciones = [0] * cantidad                    # 2. crear del tamaño exacto</a:t>
                      </a:r>
                    </a:p>
                    <a:p>
                      <a:r>
                        <a:rPr lang="es-MX" sz="1200" dirty="0">
                          <a:latin typeface="Consolas" panose="020B0609020204030204" pitchFamily="49" charset="0"/>
                        </a:rPr>
                        <a:t>    k = 0                                          # 3. llenar</a:t>
                      </a:r>
                    </a:p>
                    <a:p>
                      <a:r>
                        <a:rPr lang="es-MX" sz="120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s-MX" sz="1200" dirty="0" err="1"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s-MX" sz="1200" dirty="0">
                          <a:latin typeface="Consolas" panose="020B0609020204030204" pitchFamily="49" charset="0"/>
                        </a:rPr>
                        <a:t> i in range(len(notas)):</a:t>
                      </a:r>
                    </a:p>
                    <a:p>
                      <a:r>
                        <a:rPr lang="es-MX" sz="1200" dirty="0">
                          <a:latin typeface="Consolas" panose="020B0609020204030204" pitchFamily="49" charset="0"/>
                        </a:rPr>
                        <a:t>        </a:t>
                      </a:r>
                      <a:r>
                        <a:rPr lang="es-MX" sz="1200" dirty="0" err="1"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s-MX" sz="1200" dirty="0">
                          <a:latin typeface="Consolas" panose="020B0609020204030204" pitchFamily="49" charset="0"/>
                        </a:rPr>
                        <a:t> notas[i] &gt; valor:</a:t>
                      </a:r>
                    </a:p>
                    <a:p>
                      <a:r>
                        <a:rPr lang="es-MX" sz="1200" dirty="0">
                          <a:latin typeface="Consolas" panose="020B0609020204030204" pitchFamily="49" charset="0"/>
                        </a:rPr>
                        <a:t>            posiciones[k] = i</a:t>
                      </a:r>
                    </a:p>
                    <a:p>
                      <a:r>
                        <a:rPr lang="es-MX" sz="1200" dirty="0">
                          <a:latin typeface="Consolas" panose="020B0609020204030204" pitchFamily="49" charset="0"/>
                        </a:rPr>
                        <a:t>            k = k + 1</a:t>
                      </a:r>
                    </a:p>
                    <a:p>
                      <a:r>
                        <a:rPr lang="es-MX" sz="1200" dirty="0">
                          <a:latin typeface="Consolas" panose="020B0609020204030204" pitchFamily="49" charset="0"/>
                        </a:rPr>
                        <a:t>    return posiciones</a:t>
                      </a:r>
                      <a:endParaRPr lang="es-MX" sz="120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050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12D7704-9253-471C-B208-782F9B938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095851"/>
              </p:ext>
            </p:extLst>
          </p:nvPr>
        </p:nvGraphicFramePr>
        <p:xfrm>
          <a:off x="628650" y="4596344"/>
          <a:ext cx="7886700" cy="2042160"/>
        </p:xfrm>
        <a:graphic>
          <a:graphicData uri="http://schemas.openxmlformats.org/drawingml/2006/table">
            <a:tbl>
              <a:tblPr/>
              <a:tblGrid>
                <a:gridCol w="1577340">
                  <a:extLst>
                    <a:ext uri="{9D8B030D-6E8A-4147-A177-3AD203B41FA5}">
                      <a16:colId xmlns:a16="http://schemas.microsoft.com/office/drawing/2014/main" val="344470255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852559043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06511835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468273756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723299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b="1">
                          <a:latin typeface="Consolas" panose="020B0609020204030204" pitchFamily="49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latin typeface="Consolas" panose="020B0609020204030204" pitchFamily="49" charset="0"/>
                        </a:rPr>
                        <a:t>notas[i]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>
                          <a:latin typeface="Consolas" panose="020B0609020204030204" pitchFamily="49" charset="0"/>
                        </a:rPr>
                        <a:t>&gt; 3.375?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>
                          <a:latin typeface="Consolas" panose="020B0609020204030204" pitchFamily="49" charset="0"/>
                        </a:rPr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latin typeface="Consolas" panose="020B0609020204030204" pitchFamily="49" charset="0"/>
                        </a:rPr>
                        <a:t>posiciones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615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[0, 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6394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3.0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[0, 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7820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4.5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latin typeface="Consolas" panose="020B0609020204030204" pitchFamily="49" charset="0"/>
                        </a:rPr>
                        <a:t>sí</a:t>
                      </a:r>
                      <a:endParaRPr lang="es-CO" sz="160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[1, 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664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[1, 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4321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4.0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latin typeface="Consolas" panose="020B0609020204030204" pitchFamily="49" charset="0"/>
                        </a:rPr>
                        <a:t>sí</a:t>
                      </a:r>
                      <a:endParaRPr lang="es-CO" sz="160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[1, 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3872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23622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08782" y="116632"/>
            <a:ext cx="8835218" cy="720452"/>
          </a:xfrm>
        </p:spPr>
        <p:txBody>
          <a:bodyPr>
            <a:noAutofit/>
          </a:bodyPr>
          <a:lstStyle/>
          <a:p>
            <a:r>
              <a:rPr lang="es-MX" sz="3600" dirty="0"/>
              <a:t>El programa completo: tres archivos</a:t>
            </a:r>
            <a:endParaRPr lang="es-MX" sz="2800" dirty="0">
              <a:latin typeface="Consolas" panose="020B0609020204030204" pitchFamily="49" charset="0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154391" y="810692"/>
            <a:ext cx="883521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b="1" dirty="0">
                <a:latin typeface="Consolas" panose="020B0609020204030204" pitchFamily="49" charset="0"/>
              </a:rPr>
              <a:t>notas.py</a:t>
            </a:r>
            <a:r>
              <a:rPr lang="es-MX" sz="2000" b="1" dirty="0"/>
              <a:t> tiene las cinco funciones</a:t>
            </a:r>
            <a:r>
              <a:rPr lang="es-MX" sz="2000" dirty="0"/>
              <a:t>: dos reutilizadas (Casos 1 y 2), dos nuevas y la de salida.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b="1" dirty="0">
                <a:latin typeface="Consolas" panose="020B0609020204030204" pitchFamily="49" charset="0"/>
              </a:rPr>
              <a:t>test_notas.py</a:t>
            </a:r>
            <a:r>
              <a:rPr lang="es-MX" dirty="0"/>
              <a:t> </a:t>
            </a:r>
            <a:r>
              <a:rPr lang="es-MX" sz="2000" dirty="0"/>
              <a:t>y </a:t>
            </a:r>
            <a:r>
              <a:rPr lang="es-MX" b="1" dirty="0">
                <a:latin typeface="Consolas" panose="020B0609020204030204" pitchFamily="49" charset="0"/>
              </a:rPr>
              <a:t>main.py</a:t>
            </a:r>
            <a:r>
              <a:rPr lang="es-MX" sz="2000" dirty="0"/>
              <a:t> importan el módulo. Las pruebas y el programa se ejecutan por separado.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4CE7E99-638B-4654-9E58-51B969A52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85" y="2425565"/>
            <a:ext cx="8362213" cy="265623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1CDF76A-1EFB-41F5-9338-86D10677526C}"/>
              </a:ext>
            </a:extLst>
          </p:cNvPr>
          <p:cNvSpPr txBox="1"/>
          <p:nvPr/>
        </p:nvSpPr>
        <p:spPr>
          <a:xfrm>
            <a:off x="12794" y="6146847"/>
            <a:ext cx="9131205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2000" b="1" dirty="0"/>
              <a:t>Idea clave: </a:t>
            </a:r>
            <a:r>
              <a:rPr lang="es-MX" sz="2000" dirty="0"/>
              <a:t>Es la misma organización del </a:t>
            </a:r>
            <a:r>
              <a:rPr lang="es-MX" sz="2000" b="1" dirty="0" err="1"/>
              <a:t>lab</a:t>
            </a:r>
            <a:r>
              <a:rPr lang="es-MX" sz="2000" b="1" dirty="0"/>
              <a:t> 4</a:t>
            </a:r>
            <a:r>
              <a:rPr lang="es-MX" sz="2000" dirty="0"/>
              <a:t>: </a:t>
            </a:r>
            <a:r>
              <a:rPr lang="es-MX" sz="2000" b="1" dirty="0"/>
              <a:t>funciones</a:t>
            </a:r>
            <a:r>
              <a:rPr lang="es-MX" sz="2000" dirty="0"/>
              <a:t>, </a:t>
            </a:r>
            <a:r>
              <a:rPr lang="es-MX" sz="2000" b="1" dirty="0"/>
              <a:t>pruebas</a:t>
            </a:r>
            <a:r>
              <a:rPr lang="es-MX" sz="2000" dirty="0"/>
              <a:t> y </a:t>
            </a:r>
            <a:r>
              <a:rPr lang="es-MX" sz="2000" b="1" dirty="0"/>
              <a:t>programa principal</a:t>
            </a:r>
            <a:r>
              <a:rPr lang="es-MX" sz="2000" dirty="0"/>
              <a:t>, cada uno en su archivo.</a:t>
            </a:r>
          </a:p>
        </p:txBody>
      </p:sp>
    </p:spTree>
    <p:extLst>
      <p:ext uri="{BB962C8B-B14F-4D97-AF65-F5344CB8AC3E}">
        <p14:creationId xmlns:p14="http://schemas.microsoft.com/office/powerpoint/2010/main" val="29558957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08782" y="116632"/>
            <a:ext cx="8835218" cy="720452"/>
          </a:xfrm>
        </p:spPr>
        <p:txBody>
          <a:bodyPr>
            <a:noAutofit/>
          </a:bodyPr>
          <a:lstStyle/>
          <a:p>
            <a:r>
              <a:rPr lang="es-MX" sz="3600" dirty="0"/>
              <a:t>El programa principal: </a:t>
            </a:r>
            <a:r>
              <a:rPr lang="es-MX" sz="3200" b="1" dirty="0">
                <a:latin typeface="Consolas" panose="020B0609020204030204" pitchFamily="49" charset="0"/>
              </a:rPr>
              <a:t>main.py</a:t>
            </a:r>
            <a:endParaRPr lang="es-MX" sz="2800" b="1" dirty="0">
              <a:latin typeface="Consolas" panose="020B0609020204030204" pitchFamily="49" charset="0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154391" y="810692"/>
            <a:ext cx="883521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El </a:t>
            </a:r>
            <a:r>
              <a:rPr lang="es-MX" b="1" dirty="0">
                <a:latin typeface="Consolas" panose="020B0609020204030204" pitchFamily="49" charset="0"/>
              </a:rPr>
              <a:t>while</a:t>
            </a:r>
            <a:r>
              <a:rPr lang="es-MX" sz="2000" dirty="0"/>
              <a:t> garantiza el Supone (</a:t>
            </a:r>
            <a:r>
              <a:rPr lang="es-MX" b="1" dirty="0">
                <a:latin typeface="Consolas" panose="020B0609020204030204" pitchFamily="49" charset="0"/>
              </a:rPr>
              <a:t>n &gt; 0</a:t>
            </a:r>
            <a:r>
              <a:rPr lang="es-MX" sz="2000" dirty="0"/>
              <a:t>) antes de llamar a las funciones.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Las cuatro últimas líneas de </a:t>
            </a:r>
            <a:r>
              <a:rPr lang="es-MX" b="1" dirty="0">
                <a:latin typeface="Consolas" panose="020B0609020204030204" pitchFamily="49" charset="0"/>
              </a:rPr>
              <a:t>main()</a:t>
            </a:r>
            <a:r>
              <a:rPr lang="es-MX" sz="2000" dirty="0"/>
              <a:t> son las hojas del </a:t>
            </a:r>
            <a:r>
              <a:rPr lang="es-MX" sz="2000" b="1" dirty="0"/>
              <a:t>árbol top-</a:t>
            </a:r>
            <a:r>
              <a:rPr lang="es-MX" sz="2000" b="1" dirty="0" err="1"/>
              <a:t>down</a:t>
            </a:r>
            <a:r>
              <a:rPr lang="es-MX" sz="2000" dirty="0"/>
              <a:t>, en el mismo orden.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Salida</a:t>
            </a:r>
            <a:r>
              <a:rPr lang="es-MX" sz="2000" dirty="0"/>
              <a:t>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1CDF76A-1EFB-41F5-9338-86D10677526C}"/>
              </a:ext>
            </a:extLst>
          </p:cNvPr>
          <p:cNvSpPr txBox="1"/>
          <p:nvPr/>
        </p:nvSpPr>
        <p:spPr>
          <a:xfrm>
            <a:off x="12794" y="6146847"/>
            <a:ext cx="9131205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2000" b="1" dirty="0"/>
              <a:t>Idea clave</a:t>
            </a:r>
            <a:r>
              <a:rPr lang="es-MX" sz="2000" dirty="0"/>
              <a:t>: </a:t>
            </a:r>
            <a:r>
              <a:rPr lang="es-MX" b="1" dirty="0">
                <a:latin typeface="Consolas" panose="020B0609020204030204" pitchFamily="49" charset="0"/>
              </a:rPr>
              <a:t>main()</a:t>
            </a:r>
            <a:r>
              <a:rPr lang="es-MX" sz="2000" dirty="0"/>
              <a:t> se lee como el árbol: </a:t>
            </a:r>
            <a:r>
              <a:rPr lang="es-MX" sz="2000" b="1" dirty="0"/>
              <a:t>leer → calcular → buscar → mostrar</a:t>
            </a:r>
            <a:r>
              <a:rPr lang="es-MX" sz="2000" dirty="0"/>
              <a:t>. El problema de la clase 10 quedó resuelto.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A3E034E-38DC-40D6-8501-67A7600CB579}"/>
              </a:ext>
            </a:extLst>
          </p:cNvPr>
          <p:cNvSpPr txBox="1"/>
          <p:nvPr/>
        </p:nvSpPr>
        <p:spPr>
          <a:xfrm>
            <a:off x="621935" y="1894827"/>
            <a:ext cx="8208912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 err="1">
                <a:latin typeface="Consolas" panose="020B0609020204030204" pitchFamily="49" charset="0"/>
              </a:rPr>
              <a:t>import</a:t>
            </a:r>
            <a:r>
              <a:rPr lang="es-CO" sz="1200" dirty="0">
                <a:latin typeface="Consolas" panose="020B0609020204030204" pitchFamily="49" charset="0"/>
              </a:rPr>
              <a:t> notas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 err="1">
                <a:latin typeface="Consolas" panose="020B0609020204030204" pitchFamily="49" charset="0"/>
              </a:rPr>
              <a:t>def</a:t>
            </a:r>
            <a:r>
              <a:rPr lang="es-CO" sz="1200" dirty="0">
                <a:latin typeface="Consolas" panose="020B0609020204030204" pitchFamily="49" charset="0"/>
              </a:rPr>
              <a:t> </a:t>
            </a:r>
            <a:r>
              <a:rPr lang="es-CO" sz="1200" dirty="0" err="1">
                <a:latin typeface="Consolas" panose="020B0609020204030204" pitchFamily="49" charset="0"/>
              </a:rPr>
              <a:t>main</a:t>
            </a:r>
            <a:r>
              <a:rPr lang="es-CO" sz="1200" dirty="0">
                <a:latin typeface="Consolas" panose="020B0609020204030204" pitchFamily="49" charset="0"/>
              </a:rPr>
              <a:t>():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print("Notas mayores que el promedio")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n = </a:t>
            </a:r>
            <a:r>
              <a:rPr lang="es-CO" sz="1200" dirty="0" err="1">
                <a:latin typeface="Consolas" panose="020B0609020204030204" pitchFamily="49" charset="0"/>
              </a:rPr>
              <a:t>int</a:t>
            </a:r>
            <a:r>
              <a:rPr lang="es-CO" sz="1200" dirty="0">
                <a:latin typeface="Consolas" panose="020B0609020204030204" pitchFamily="49" charset="0"/>
              </a:rPr>
              <a:t>(input("Cantidad de estudiantes: "))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while</a:t>
            </a:r>
            <a:r>
              <a:rPr lang="es-CO" sz="1200" dirty="0">
                <a:latin typeface="Consolas" panose="020B0609020204030204" pitchFamily="49" charset="0"/>
              </a:rPr>
              <a:t> n &lt;= 0: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print("ERROR: la cantidad debe ser mayor que 0")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n = </a:t>
            </a:r>
            <a:r>
              <a:rPr lang="es-CO" sz="1200" dirty="0" err="1">
                <a:latin typeface="Consolas" panose="020B0609020204030204" pitchFamily="49" charset="0"/>
              </a:rPr>
              <a:t>int</a:t>
            </a:r>
            <a:r>
              <a:rPr lang="es-CO" sz="1200" dirty="0">
                <a:latin typeface="Consolas" panose="020B0609020204030204" pitchFamily="49" charset="0"/>
              </a:rPr>
              <a:t>(input("Cantidad de estudiantes: "))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lista_notas</a:t>
            </a:r>
            <a:r>
              <a:rPr lang="es-CO" sz="1200" dirty="0">
                <a:latin typeface="Consolas" panose="020B0609020204030204" pitchFamily="49" charset="0"/>
              </a:rPr>
              <a:t> = </a:t>
            </a:r>
            <a:r>
              <a:rPr lang="es-CO" sz="1200" dirty="0" err="1">
                <a:latin typeface="Consolas" panose="020B0609020204030204" pitchFamily="49" charset="0"/>
              </a:rPr>
              <a:t>notas.leer_notas</a:t>
            </a:r>
            <a:r>
              <a:rPr lang="es-CO" sz="1200" dirty="0">
                <a:latin typeface="Consolas" panose="020B0609020204030204" pitchFamily="49" charset="0"/>
              </a:rPr>
              <a:t>(n)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promedio = </a:t>
            </a:r>
            <a:r>
              <a:rPr lang="es-CO" sz="1200" dirty="0" err="1">
                <a:latin typeface="Consolas" panose="020B0609020204030204" pitchFamily="49" charset="0"/>
              </a:rPr>
              <a:t>notas.calcular_promedio</a:t>
            </a:r>
            <a:r>
              <a:rPr lang="es-CO" sz="1200" dirty="0">
                <a:latin typeface="Consolas" panose="020B0609020204030204" pitchFamily="49" charset="0"/>
              </a:rPr>
              <a:t>(</a:t>
            </a:r>
            <a:r>
              <a:rPr lang="es-CO" sz="1200" dirty="0" err="1">
                <a:latin typeface="Consolas" panose="020B0609020204030204" pitchFamily="49" charset="0"/>
              </a:rPr>
              <a:t>lista_notas</a:t>
            </a:r>
            <a:r>
              <a:rPr lang="es-CO" sz="1200" dirty="0">
                <a:latin typeface="Consolas" panose="020B0609020204030204" pitchFamily="49" charset="0"/>
              </a:rPr>
              <a:t>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posiciones = </a:t>
            </a:r>
            <a:r>
              <a:rPr lang="es-CO" sz="1200" dirty="0" err="1">
                <a:latin typeface="Consolas" panose="020B0609020204030204" pitchFamily="49" charset="0"/>
              </a:rPr>
              <a:t>notas.posiciones_mayores_que</a:t>
            </a:r>
            <a:r>
              <a:rPr lang="es-CO" sz="1200" dirty="0">
                <a:latin typeface="Consolas" panose="020B0609020204030204" pitchFamily="49" charset="0"/>
              </a:rPr>
              <a:t>(</a:t>
            </a:r>
            <a:r>
              <a:rPr lang="es-CO" sz="1200" dirty="0" err="1">
                <a:latin typeface="Consolas" panose="020B0609020204030204" pitchFamily="49" charset="0"/>
              </a:rPr>
              <a:t>lista_notas</a:t>
            </a:r>
            <a:r>
              <a:rPr lang="es-CO" sz="1200" dirty="0">
                <a:latin typeface="Consolas" panose="020B0609020204030204" pitchFamily="49" charset="0"/>
              </a:rPr>
              <a:t>, promedio)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notas.mostrar_resultados</a:t>
            </a:r>
            <a:r>
              <a:rPr lang="es-CO" sz="1200" dirty="0">
                <a:latin typeface="Consolas" panose="020B0609020204030204" pitchFamily="49" charset="0"/>
              </a:rPr>
              <a:t>(promedio, posiciones)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 err="1">
                <a:latin typeface="Consolas" panose="020B0609020204030204" pitchFamily="49" charset="0"/>
              </a:rPr>
              <a:t>if</a:t>
            </a:r>
            <a:r>
              <a:rPr lang="es-CO" sz="1200" dirty="0">
                <a:latin typeface="Consolas" panose="020B0609020204030204" pitchFamily="49" charset="0"/>
              </a:rPr>
              <a:t> __</a:t>
            </a:r>
            <a:r>
              <a:rPr lang="es-CO" sz="1200" dirty="0" err="1">
                <a:latin typeface="Consolas" panose="020B0609020204030204" pitchFamily="49" charset="0"/>
              </a:rPr>
              <a:t>name</a:t>
            </a:r>
            <a:r>
              <a:rPr lang="es-CO" sz="1200" dirty="0">
                <a:latin typeface="Consolas" panose="020B0609020204030204" pitchFamily="49" charset="0"/>
              </a:rPr>
              <a:t>__ == "__</a:t>
            </a:r>
            <a:r>
              <a:rPr lang="es-CO" sz="1200" dirty="0" err="1">
                <a:latin typeface="Consolas" panose="020B0609020204030204" pitchFamily="49" charset="0"/>
              </a:rPr>
              <a:t>main</a:t>
            </a:r>
            <a:r>
              <a:rPr lang="es-CO" sz="1200" dirty="0">
                <a:latin typeface="Consolas" panose="020B0609020204030204" pitchFamily="49" charset="0"/>
              </a:rPr>
              <a:t>__":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main</a:t>
            </a:r>
            <a:r>
              <a:rPr lang="es-CO" sz="1200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66A2EDE-9347-4FA0-87BA-5B9B4CC9940E}"/>
              </a:ext>
            </a:extLst>
          </p:cNvPr>
          <p:cNvSpPr txBox="1"/>
          <p:nvPr/>
        </p:nvSpPr>
        <p:spPr>
          <a:xfrm>
            <a:off x="2271486" y="5199657"/>
            <a:ext cx="4601028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400" dirty="0">
                <a:latin typeface="Consolas" panose="020B0609020204030204" pitchFamily="49" charset="0"/>
              </a:rPr>
              <a:t>Promedio del curso: 3.38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Notas mayores que el promedio: 2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Posiciones: [1, 3]</a:t>
            </a:r>
          </a:p>
        </p:txBody>
      </p:sp>
    </p:spTree>
    <p:extLst>
      <p:ext uri="{BB962C8B-B14F-4D97-AF65-F5344CB8AC3E}">
        <p14:creationId xmlns:p14="http://schemas.microsoft.com/office/powerpoint/2010/main" val="11397084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23528" y="116632"/>
            <a:ext cx="8675832" cy="794653"/>
          </a:xfrm>
        </p:spPr>
        <p:txBody>
          <a:bodyPr>
            <a:noAutofit/>
          </a:bodyPr>
          <a:lstStyle/>
          <a:p>
            <a:r>
              <a:rPr lang="es-MX" sz="3600" dirty="0"/>
              <a:t>Resumen de la clase</a:t>
            </a:r>
          </a:p>
        </p:txBody>
      </p:sp>
      <p:sp>
        <p:nvSpPr>
          <p:cNvPr id="6" name="12 Rectángulo">
            <a:extLst>
              <a:ext uri="{FF2B5EF4-FFF2-40B4-BE49-F238E27FC236}">
                <a16:creationId xmlns:a16="http://schemas.microsoft.com/office/drawing/2014/main" id="{A73AFEAC-B223-4D7F-B142-1E206A88BEB3}"/>
              </a:ext>
            </a:extLst>
          </p:cNvPr>
          <p:cNvSpPr/>
          <p:nvPr/>
        </p:nvSpPr>
        <p:spPr>
          <a:xfrm>
            <a:off x="144639" y="909650"/>
            <a:ext cx="885472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rtl="0">
              <a:buFont typeface="+mj-lt"/>
              <a:buAutoNum type="arabicPeriod"/>
            </a:pPr>
            <a:r>
              <a:rPr lang="es-MX" sz="2000" dirty="0"/>
              <a:t>Cuando los datos se usan </a:t>
            </a:r>
            <a:r>
              <a:rPr lang="es-MX" sz="2000" b="1" dirty="0"/>
              <a:t>después</a:t>
            </a:r>
            <a:r>
              <a:rPr lang="es-MX" sz="2000" dirty="0"/>
              <a:t> de leerlos, hay que guardarlos todos: para eso sirven los </a:t>
            </a:r>
            <a:r>
              <a:rPr lang="es-MX" sz="2000" b="1" dirty="0"/>
              <a:t>arreglos</a:t>
            </a:r>
            <a:r>
              <a:rPr lang="es-MX" sz="2000" dirty="0"/>
              <a:t>.</a:t>
            </a:r>
          </a:p>
          <a:p>
            <a:pPr marL="457200" indent="-457200" rtl="0">
              <a:buFont typeface="+mj-lt"/>
              <a:buAutoNum type="arabicPeriod"/>
            </a:pPr>
            <a:r>
              <a:rPr lang="es-MX" sz="2000" dirty="0"/>
              <a:t>Un arreglo guarda muchos valores </a:t>
            </a:r>
            <a:r>
              <a:rPr lang="es-MX" sz="2000" b="1" dirty="0"/>
              <a:t>del mismo tipo</a:t>
            </a:r>
            <a:r>
              <a:rPr lang="es-MX" sz="2000" dirty="0"/>
              <a:t> bajo </a:t>
            </a:r>
            <a:r>
              <a:rPr lang="es-MX" sz="2000" b="1" dirty="0"/>
              <a:t>un solo nombre</a:t>
            </a:r>
            <a:r>
              <a:rPr lang="es-MX" sz="2000" dirty="0"/>
              <a:t>, con </a:t>
            </a:r>
            <a:r>
              <a:rPr lang="es-MX" sz="2000" b="1" dirty="0"/>
              <a:t>tamaño fijo</a:t>
            </a:r>
            <a:r>
              <a:rPr lang="es-MX" sz="2000" dirty="0"/>
              <a:t>. A cada elemento se llega por su </a:t>
            </a:r>
            <a:r>
              <a:rPr lang="es-MX" sz="2000" b="1" dirty="0"/>
              <a:t>índice</a:t>
            </a:r>
            <a:r>
              <a:rPr lang="es-MX" sz="2000" dirty="0"/>
              <a:t>, de </a:t>
            </a:r>
            <a:r>
              <a:rPr lang="es-MX" b="1" dirty="0">
                <a:latin typeface="Consolas" panose="020B0609020204030204" pitchFamily="49" charset="0"/>
              </a:rPr>
              <a:t>0</a:t>
            </a:r>
            <a:r>
              <a:rPr lang="es-MX" sz="2000" dirty="0"/>
              <a:t> a </a:t>
            </a:r>
            <a:r>
              <a:rPr lang="es-MX" b="1" dirty="0">
                <a:latin typeface="Consolas" panose="020B0609020204030204" pitchFamily="49" charset="0"/>
              </a:rPr>
              <a:t>N - 1</a:t>
            </a:r>
            <a:r>
              <a:rPr lang="es-MX" sz="2000" dirty="0"/>
              <a:t>.</a:t>
            </a:r>
          </a:p>
          <a:p>
            <a:pPr marL="457200" indent="-457200" rtl="0">
              <a:buFont typeface="+mj-lt"/>
              <a:buAutoNum type="arabicPeriod"/>
            </a:pPr>
            <a:r>
              <a:rPr lang="es-MX" sz="2000" dirty="0"/>
              <a:t>En Python el arreglo se escribe con una </a:t>
            </a:r>
            <a:r>
              <a:rPr lang="es-MX" sz="2000" b="1" dirty="0"/>
              <a:t>lista usada con reglas</a:t>
            </a:r>
            <a:r>
              <a:rPr lang="es-MX" sz="2000" dirty="0"/>
              <a:t>: </a:t>
            </a:r>
            <a:r>
              <a:rPr lang="es-MX" b="1" dirty="0">
                <a:latin typeface="Consolas" panose="020B0609020204030204" pitchFamily="49" charset="0"/>
              </a:rPr>
              <a:t>[0.0] * N</a:t>
            </a:r>
            <a:r>
              <a:rPr lang="es-MX" sz="2000" dirty="0"/>
              <a:t>, un solo tipo y acceso por posición.</a:t>
            </a:r>
          </a:p>
          <a:p>
            <a:pPr marL="457200" indent="-457200" rtl="0">
              <a:buFont typeface="+mj-lt"/>
              <a:buAutoNum type="arabicPeriod"/>
            </a:pPr>
            <a:r>
              <a:rPr lang="es-MX" sz="2000" dirty="0"/>
              <a:t>La clave es usar el </a:t>
            </a:r>
            <a:r>
              <a:rPr lang="es-MX" sz="2000" b="1" dirty="0"/>
              <a:t>índice como variable</a:t>
            </a:r>
            <a:r>
              <a:rPr lang="es-MX" sz="2000" dirty="0"/>
              <a:t> dentro de un ciclo: llenar, mostrar, acumular, contar y comparar son </a:t>
            </a:r>
            <a:r>
              <a:rPr lang="es-MX" sz="2000" b="1" dirty="0"/>
              <a:t>recorridos</a:t>
            </a:r>
            <a:r>
              <a:rPr lang="es-MX" sz="2000" dirty="0"/>
              <a:t>.</a:t>
            </a:r>
          </a:p>
          <a:p>
            <a:pPr marL="457200" indent="-457200" rtl="0">
              <a:buFont typeface="+mj-lt"/>
              <a:buAutoNum type="arabicPeriod"/>
            </a:pPr>
            <a:r>
              <a:rPr lang="es-MX" sz="2000" dirty="0"/>
              <a:t>Con listas, </a:t>
            </a:r>
            <a:r>
              <a:rPr lang="es-MX" sz="2000" b="1" dirty="0">
                <a:latin typeface="Consolas" panose="020B0609020204030204" pitchFamily="49" charset="0"/>
              </a:rPr>
              <a:t>=</a:t>
            </a:r>
            <a:r>
              <a:rPr lang="es-MX" sz="2000" dirty="0"/>
              <a:t> crea un </a:t>
            </a:r>
            <a:r>
              <a:rPr lang="es-MX" sz="2000" b="1" dirty="0"/>
              <a:t>alias</a:t>
            </a:r>
            <a:r>
              <a:rPr lang="es-MX" sz="2000" dirty="0"/>
              <a:t>, no una copia. Para copiar se </a:t>
            </a:r>
            <a:r>
              <a:rPr lang="es-MX" sz="2000" b="1" dirty="0"/>
              <a:t>clona</a:t>
            </a:r>
            <a:r>
              <a:rPr lang="es-MX" sz="2000" dirty="0"/>
              <a:t>: con un </a:t>
            </a:r>
            <a:r>
              <a:rPr lang="es-MX" sz="2000" b="1" dirty="0"/>
              <a:t>recorrido</a:t>
            </a:r>
            <a:r>
              <a:rPr lang="es-MX" sz="2000" dirty="0"/>
              <a:t>, con </a:t>
            </a:r>
            <a:r>
              <a:rPr lang="es-MX" b="1" dirty="0">
                <a:latin typeface="Consolas" panose="020B0609020204030204" pitchFamily="49" charset="0"/>
              </a:rPr>
              <a:t>[:]</a:t>
            </a:r>
            <a:r>
              <a:rPr lang="es-MX" sz="2000" dirty="0"/>
              <a:t> o con </a:t>
            </a:r>
            <a:r>
              <a:rPr lang="es-MX" b="1" dirty="0">
                <a:latin typeface="Consolas" panose="020B0609020204030204" pitchFamily="49" charset="0"/>
              </a:rPr>
              <a:t>list()</a:t>
            </a:r>
            <a:r>
              <a:rPr lang="es-MX" sz="2000" dirty="0"/>
              <a:t>.</a:t>
            </a:r>
          </a:p>
          <a:p>
            <a:pPr marL="457200" indent="-457200" rtl="0">
              <a:buFont typeface="+mj-lt"/>
              <a:buAutoNum type="arabicPeriod"/>
            </a:pPr>
            <a:r>
              <a:rPr lang="es-MX" sz="2000" dirty="0"/>
              <a:t>Una función puede </a:t>
            </a:r>
            <a:r>
              <a:rPr lang="es-MX" sz="2000" b="1" dirty="0"/>
              <a:t>recibir</a:t>
            </a:r>
            <a:r>
              <a:rPr lang="es-MX" sz="2000" dirty="0"/>
              <a:t> una lista, </a:t>
            </a:r>
            <a:r>
              <a:rPr lang="es-MX" sz="2000" b="1" dirty="0"/>
              <a:t>devolver</a:t>
            </a:r>
            <a:r>
              <a:rPr lang="es-MX" sz="2000" dirty="0"/>
              <a:t> una lista o </a:t>
            </a:r>
            <a:r>
              <a:rPr lang="es-MX" sz="2000" b="1" dirty="0"/>
              <a:t>modificar</a:t>
            </a:r>
            <a:r>
              <a:rPr lang="es-MX" sz="2000" dirty="0"/>
              <a:t> la que recibe. Si la modifica, su </a:t>
            </a:r>
            <a:r>
              <a:rPr lang="es-MX" sz="2000" b="1" dirty="0"/>
              <a:t>Garantiza</a:t>
            </a:r>
            <a:r>
              <a:rPr lang="es-MX" sz="2000" dirty="0"/>
              <a:t> debe decirlo.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4787277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08782" y="116632"/>
            <a:ext cx="8835218" cy="720452"/>
          </a:xfrm>
        </p:spPr>
        <p:txBody>
          <a:bodyPr>
            <a:noAutofit/>
          </a:bodyPr>
          <a:lstStyle/>
          <a:p>
            <a:r>
              <a:rPr lang="es-MX" sz="3200" dirty="0"/>
              <a:t>Un problema que todavía no se puede resolver bien</a:t>
            </a:r>
          </a:p>
        </p:txBody>
      </p:sp>
      <p:sp>
        <p:nvSpPr>
          <p:cNvPr id="16" name="12 Rectángulo">
            <a:extLst>
              <a:ext uri="{FF2B5EF4-FFF2-40B4-BE49-F238E27FC236}">
                <a16:creationId xmlns:a16="http://schemas.microsoft.com/office/drawing/2014/main" id="{0D429DA4-FB54-4DDC-82AA-1D447A3C4D76}"/>
              </a:ext>
            </a:extLst>
          </p:cNvPr>
          <p:cNvSpPr/>
          <p:nvPr/>
        </p:nvSpPr>
        <p:spPr>
          <a:xfrm>
            <a:off x="144639" y="909650"/>
            <a:ext cx="885472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Enunciado:</a:t>
            </a:r>
            <a:r>
              <a:rPr lang="es-MX" sz="2000" dirty="0"/>
              <a:t> Además de las notas, se tienen los </a:t>
            </a:r>
            <a:r>
              <a:rPr lang="es-MX" sz="2000" b="1" dirty="0"/>
              <a:t>nombres</a:t>
            </a:r>
            <a:r>
              <a:rPr lang="es-MX" sz="2000" dirty="0"/>
              <a:t> de los estudiantes. Mostrar </a:t>
            </a:r>
            <a:r>
              <a:rPr lang="es-MX" sz="2000" b="1" dirty="0"/>
              <a:t>quién</a:t>
            </a:r>
            <a:r>
              <a:rPr lang="es-MX" sz="2000" dirty="0"/>
              <a:t> sacó la mejor nota y el </a:t>
            </a:r>
            <a:r>
              <a:rPr lang="es-MX" sz="2000" b="1" dirty="0"/>
              <a:t>listado del curso ordenado</a:t>
            </a:r>
            <a:r>
              <a:rPr lang="es-MX" sz="2000" dirty="0"/>
              <a:t> de la nota mayor a la menor.</a:t>
            </a:r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dirty="0"/>
          </a:p>
          <a:p>
            <a:pPr rtl="0"/>
            <a:endParaRPr lang="es-MX" sz="2000" b="1" dirty="0"/>
          </a:p>
          <a:p>
            <a:pPr rtl="0"/>
            <a:endParaRPr lang="es-MX" sz="2000" b="1" dirty="0"/>
          </a:p>
          <a:p>
            <a:pPr rtl="0"/>
            <a:endParaRPr lang="es-MX" sz="2000" b="1" dirty="0"/>
          </a:p>
          <a:p>
            <a:pPr rtl="0"/>
            <a:endParaRPr lang="es-MX" sz="2000" b="1" dirty="0"/>
          </a:p>
          <a:p>
            <a:pPr rtl="0"/>
            <a:r>
              <a:rPr lang="es-MX" sz="2000" b="1" dirty="0"/>
              <a:t>Preguntas: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¿Cómo se sabe a quién pertenece cada nota?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¿Cómo se encuentra la </a:t>
            </a:r>
            <a:r>
              <a:rPr lang="es-MX" sz="2000" b="1" dirty="0"/>
              <a:t>mayor</a:t>
            </a:r>
            <a:r>
              <a:rPr lang="es-MX" sz="2000" dirty="0"/>
              <a:t> nota y </a:t>
            </a:r>
            <a:r>
              <a:rPr lang="es-MX" sz="2000" b="1" dirty="0"/>
              <a:t>dónde</a:t>
            </a:r>
            <a:r>
              <a:rPr lang="es-MX" sz="2000" dirty="0"/>
              <a:t> está?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Si se </a:t>
            </a:r>
            <a:r>
              <a:rPr lang="es-MX" sz="2000" b="1" dirty="0"/>
              <a:t>ordenan</a:t>
            </a:r>
            <a:r>
              <a:rPr lang="es-MX" sz="2000" dirty="0"/>
              <a:t> las notas, ¿cómo se mantiene cada nombre unido a su nota?</a:t>
            </a:r>
            <a:endParaRPr lang="es-CO" sz="2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8569025-8442-4981-BA5E-484154AC3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010885"/>
            <a:ext cx="6707720" cy="300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3194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08782" y="116632"/>
            <a:ext cx="8835218" cy="720452"/>
          </a:xfrm>
        </p:spPr>
        <p:txBody>
          <a:bodyPr>
            <a:noAutofit/>
          </a:bodyPr>
          <a:lstStyle/>
          <a:p>
            <a:r>
              <a:rPr lang="es-MX" sz="3600"/>
              <a:t>Referencias</a:t>
            </a:r>
            <a:endParaRPr lang="es-MX" sz="3600" dirty="0"/>
          </a:p>
        </p:txBody>
      </p:sp>
      <p:sp>
        <p:nvSpPr>
          <p:cNvPr id="13" name="12 Rectángulo"/>
          <p:cNvSpPr/>
          <p:nvPr/>
        </p:nvSpPr>
        <p:spPr>
          <a:xfrm>
            <a:off x="179512" y="692696"/>
            <a:ext cx="8835218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/>
              <a:t>Mera </a:t>
            </a:r>
            <a:r>
              <a:rPr lang="es-CO" sz="2000" dirty="0" err="1"/>
              <a:t>Banguero</a:t>
            </a:r>
            <a:r>
              <a:rPr lang="es-CO" sz="2000" dirty="0"/>
              <a:t>, C. A. </a:t>
            </a:r>
            <a:r>
              <a:rPr lang="es-CO" sz="2000" i="1" dirty="0"/>
              <a:t>Guía teórica 05: Arreglos unidimensionales</a:t>
            </a:r>
            <a:r>
              <a:rPr lang="es-CO" sz="2000" dirty="0"/>
              <a:t>. Lógica y Representación I, UdeA.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CO" sz="2000" dirty="0"/>
              <a:t>Harvard </a:t>
            </a:r>
            <a:r>
              <a:rPr lang="es-CO" sz="2000" b="1" dirty="0"/>
              <a:t>CS50x</a:t>
            </a:r>
            <a:r>
              <a:rPr lang="es-CO" sz="2000" dirty="0"/>
              <a:t>, </a:t>
            </a:r>
            <a:r>
              <a:rPr lang="es-CO" sz="2000" i="1" dirty="0" err="1"/>
              <a:t>Lecture</a:t>
            </a:r>
            <a:r>
              <a:rPr lang="es-CO" sz="2000" i="1" dirty="0"/>
              <a:t> 2: </a:t>
            </a:r>
            <a:r>
              <a:rPr lang="es-CO" sz="2000" i="1" dirty="0" err="1"/>
              <a:t>Arrays</a:t>
            </a:r>
            <a:r>
              <a:rPr lang="es-CO" sz="2000" dirty="0"/>
              <a:t>. </a:t>
            </a:r>
            <a:r>
              <a:rPr lang="es-CO" sz="2000" dirty="0">
                <a:hlinkClick r:id="rId2"/>
              </a:rPr>
              <a:t>https://cs50.harvard.edu/x/notes/2/</a:t>
            </a:r>
            <a:endParaRPr lang="es-CO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CO" sz="2000" dirty="0"/>
              <a:t>Harvard </a:t>
            </a:r>
            <a:r>
              <a:rPr lang="es-CO" sz="2000" b="1" dirty="0"/>
              <a:t>CS50P</a:t>
            </a:r>
            <a:r>
              <a:rPr lang="es-CO" sz="2000" dirty="0"/>
              <a:t>, </a:t>
            </a:r>
            <a:r>
              <a:rPr lang="es-CO" sz="2000" i="1" dirty="0" err="1"/>
              <a:t>Lecture</a:t>
            </a:r>
            <a:r>
              <a:rPr lang="es-CO" sz="2000" i="1" dirty="0"/>
              <a:t> 2: </a:t>
            </a:r>
            <a:r>
              <a:rPr lang="es-CO" sz="2000" i="1" dirty="0" err="1"/>
              <a:t>Loops</a:t>
            </a:r>
            <a:r>
              <a:rPr lang="es-CO" sz="2000" dirty="0"/>
              <a:t> (listas). </a:t>
            </a:r>
            <a:r>
              <a:rPr lang="es-CO" sz="2000" dirty="0">
                <a:hlinkClick r:id="rId3"/>
              </a:rPr>
              <a:t>https://cs50.harvard.edu/python/notes/2/</a:t>
            </a:r>
            <a:endParaRPr lang="es-CO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CO" sz="2000" dirty="0"/>
              <a:t>MIT </a:t>
            </a:r>
            <a:r>
              <a:rPr lang="es-CO" sz="2000" b="1" dirty="0"/>
              <a:t>6.100L</a:t>
            </a:r>
            <a:r>
              <a:rPr lang="es-CO" sz="2000" dirty="0"/>
              <a:t>, </a:t>
            </a:r>
            <a:r>
              <a:rPr lang="es-CO" sz="2000" i="1" dirty="0" err="1"/>
              <a:t>Lecture</a:t>
            </a:r>
            <a:r>
              <a:rPr lang="es-CO" sz="2000" i="1" dirty="0"/>
              <a:t> 11: </a:t>
            </a:r>
            <a:r>
              <a:rPr lang="es-CO" sz="2000" i="1" dirty="0" err="1"/>
              <a:t>Aliasing</a:t>
            </a:r>
            <a:r>
              <a:rPr lang="es-CO" sz="2000" i="1" dirty="0"/>
              <a:t> and </a:t>
            </a:r>
            <a:r>
              <a:rPr lang="es-CO" sz="2000" i="1" dirty="0" err="1"/>
              <a:t>Cloning</a:t>
            </a:r>
            <a:r>
              <a:rPr lang="es-CO" sz="2000" dirty="0"/>
              <a:t>. </a:t>
            </a:r>
            <a:r>
              <a:rPr lang="es-CO" sz="2000" dirty="0">
                <a:hlinkClick r:id="rId4"/>
              </a:rPr>
              <a:t>https://ocw.mit.edu/courses/6-100l-introduction-to-cs-and-programming-using-python-fall-2022/mit6_100l_f22_lec11.pdf</a:t>
            </a:r>
            <a:endParaRPr lang="es-CO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CO" sz="2000" dirty="0"/>
              <a:t>Farrell, J. </a:t>
            </a:r>
            <a:r>
              <a:rPr lang="es-CO" sz="2000" i="1" dirty="0"/>
              <a:t>Introducción a la programación: lógica y diseño</a:t>
            </a:r>
            <a:r>
              <a:rPr lang="es-CO" sz="2000" dirty="0"/>
              <a:t>, cap. 6: Arreglos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CO" sz="2000" dirty="0"/>
              <a:t>Chand John, </a:t>
            </a:r>
            <a:r>
              <a:rPr lang="es-CO" sz="2000" i="1" dirty="0" err="1"/>
              <a:t>How</a:t>
            </a:r>
            <a:r>
              <a:rPr lang="es-CO" sz="2000" i="1" dirty="0"/>
              <a:t> </a:t>
            </a:r>
            <a:r>
              <a:rPr lang="es-CO" sz="2000" i="1" dirty="0" err="1"/>
              <a:t>an</a:t>
            </a:r>
            <a:r>
              <a:rPr lang="es-CO" sz="2000" i="1" dirty="0"/>
              <a:t> Array of </a:t>
            </a:r>
            <a:r>
              <a:rPr lang="es-CO" sz="2000" i="1" dirty="0" err="1"/>
              <a:t>Integers</a:t>
            </a:r>
            <a:r>
              <a:rPr lang="es-CO" sz="2000" i="1" dirty="0"/>
              <a:t> </a:t>
            </a:r>
            <a:r>
              <a:rPr lang="es-CO" sz="2000" i="1" dirty="0" err="1"/>
              <a:t>Gets</a:t>
            </a:r>
            <a:r>
              <a:rPr lang="es-CO" sz="2000" i="1" dirty="0"/>
              <a:t> </a:t>
            </a:r>
            <a:r>
              <a:rPr lang="es-CO" sz="2000" i="1" dirty="0" err="1"/>
              <a:t>Stored</a:t>
            </a:r>
            <a:r>
              <a:rPr lang="es-CO" sz="2000" i="1" dirty="0"/>
              <a:t> in </a:t>
            </a:r>
            <a:r>
              <a:rPr lang="es-CO" sz="2000" i="1" dirty="0" err="1"/>
              <a:t>Memory</a:t>
            </a:r>
            <a:r>
              <a:rPr lang="es-CO" sz="2000" dirty="0"/>
              <a:t>, CS Comics, 2018. </a:t>
            </a:r>
            <a:r>
              <a:rPr lang="es-CO" sz="2000" dirty="0">
                <a:hlinkClick r:id="rId5"/>
              </a:rPr>
              <a:t>https://www.cs-comics.com/how-an-array-of-integers-gets-stored-in-memory/</a:t>
            </a:r>
            <a:endParaRPr lang="es-CO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CO" sz="2000" dirty="0"/>
              <a:t>Python Tutor. </a:t>
            </a:r>
            <a:r>
              <a:rPr lang="es-CO" sz="2000" dirty="0">
                <a:hlinkClick r:id="rId6"/>
              </a:rPr>
              <a:t>https://pythontutor.com</a:t>
            </a:r>
            <a:endParaRPr lang="es-CO" sz="2000" dirty="0"/>
          </a:p>
          <a:p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14760400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0617"/>
            <a:ext cx="8191822" cy="728103"/>
          </a:xfrm>
        </p:spPr>
        <p:txBody>
          <a:bodyPr/>
          <a:lstStyle/>
          <a:p>
            <a:r>
              <a:rPr lang="es-CO" dirty="0"/>
              <a:t>Eso es todo amigos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F35EEF4-F126-467F-A5BB-259AA6499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912200"/>
            <a:ext cx="4113633" cy="5868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7 Rectángulo">
            <a:extLst>
              <a:ext uri="{FF2B5EF4-FFF2-40B4-BE49-F238E27FC236}">
                <a16:creationId xmlns:a16="http://schemas.microsoft.com/office/drawing/2014/main" id="{27C7AA4C-274E-4F17-B614-41C209AA98D3}"/>
              </a:ext>
            </a:extLst>
          </p:cNvPr>
          <p:cNvSpPr/>
          <p:nvPr/>
        </p:nvSpPr>
        <p:spPr>
          <a:xfrm>
            <a:off x="101021" y="6519446"/>
            <a:ext cx="367889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100" dirty="0">
                <a:hlinkClick r:id="rId3"/>
              </a:rPr>
              <a:t>https://phdcomics.com/comics/archive.php?comicid=1431</a:t>
            </a:r>
            <a:r>
              <a:rPr lang="es-CO" sz="1100" dirty="0"/>
              <a:t> </a:t>
            </a:r>
          </a:p>
        </p:txBody>
      </p:sp>
      <p:pic>
        <p:nvPicPr>
          <p:cNvPr id="2050" name="Picture 2" descr="Ouch Images – Browse 81,244 Stock Photos, Vectors, and Video | Adobe Stock">
            <a:extLst>
              <a:ext uri="{FF2B5EF4-FFF2-40B4-BE49-F238E27FC236}">
                <a16:creationId xmlns:a16="http://schemas.microsoft.com/office/drawing/2014/main" id="{190AEE93-FCB4-45D0-A740-34697C5E7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51" y="2496793"/>
            <a:ext cx="3563955" cy="2434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4962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17665</TotalTime>
  <Words>8060</Words>
  <Application>Microsoft Office PowerPoint</Application>
  <PresentationFormat>Presentación en pantalla (4:3)</PresentationFormat>
  <Paragraphs>1059</Paragraphs>
  <Slides>51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51</vt:i4>
      </vt:variant>
    </vt:vector>
  </HeadingPairs>
  <TitlesOfParts>
    <vt:vector size="57" baseType="lpstr">
      <vt:lpstr>Arial</vt:lpstr>
      <vt:lpstr>Calibri</vt:lpstr>
      <vt:lpstr>Calibri Light</vt:lpstr>
      <vt:lpstr>Century Gothic</vt:lpstr>
      <vt:lpstr>Consolas</vt:lpstr>
      <vt:lpstr>Office Theme</vt:lpstr>
      <vt:lpstr>Lógica y Representación 1</vt:lpstr>
      <vt:lpstr>Método de Polya - Resumen</vt:lpstr>
      <vt:lpstr>Entrada, procesamiento y salida</vt:lpstr>
      <vt:lpstr>Arreglos unidimensionales</vt:lpstr>
      <vt:lpstr>Lo que ya se sabe de funciones</vt:lpstr>
      <vt:lpstr>Quién llama y qué recibe de vuelta</vt:lpstr>
      <vt:lpstr>Un programa en varios archivos</vt:lpstr>
      <vt:lpstr>El problema que quedó pendiente</vt:lpstr>
      <vt:lpstr>Posible solución: Una variable por nota </vt:lpstr>
      <vt:lpstr>Otro caso: Los empleados del señor Burns</vt:lpstr>
      <vt:lpstr>¿Qué es un arreglo?</vt:lpstr>
      <vt:lpstr>Partes de un arreglo</vt:lpstr>
      <vt:lpstr>Una variable frente a un arreglo</vt:lpstr>
      <vt:lpstr>La lista usada como arreglo</vt:lpstr>
      <vt:lpstr>Crear un arreglo</vt:lpstr>
      <vt:lpstr>Guardar y leer valores</vt:lpstr>
      <vt:lpstr>El índice puede ser una expresión</vt:lpstr>
      <vt:lpstr>La clave: el índice es una variable</vt:lpstr>
      <vt:lpstr>Llenar un arreglo</vt:lpstr>
      <vt:lpstr>Recorrer y mostrar</vt:lpstr>
      <vt:lpstr>Recorrer y acumular</vt:lpstr>
      <vt:lpstr>Cuidado con salirse del arreglo</vt:lpstr>
      <vt:lpstr>Otros recorridos</vt:lpstr>
      <vt:lpstr>Otros recorridos</vt:lpstr>
      <vt:lpstr>Comparar vecinos</vt:lpstr>
      <vt:lpstr>Asignar una lista no la copia</vt:lpstr>
      <vt:lpstr>Clonar una lista con un recorrido</vt:lpstr>
      <vt:lpstr>Clonar una lista con un recorrido</vt:lpstr>
      <vt:lpstr>Resumen: arreglos en pseudocódigo y Python</vt:lpstr>
      <vt:lpstr>Funciones con listas</vt:lpstr>
      <vt:lpstr>Caso 1: la función recibe una lista y devuelve un valor</vt:lpstr>
      <vt:lpstr>Caso 1: invocar la función con una lista</vt:lpstr>
      <vt:lpstr>Caso 1: probar la función</vt:lpstr>
      <vt:lpstr>Caso 2: la función devuelve una lista</vt:lpstr>
      <vt:lpstr>Caso 2: invocar la función</vt:lpstr>
      <vt:lpstr>Caso 3: la función modifica la lista que recibe</vt:lpstr>
      <vt:lpstr>Caso 3: invocar la función. ¿Por qué cambió la lista afuera?</vt:lpstr>
      <vt:lpstr>Caso 3: probar la función</vt:lpstr>
      <vt:lpstr>Resumen de los 3 casos</vt:lpstr>
      <vt:lpstr>Volviendo al problema (punto de partida)</vt:lpstr>
      <vt:lpstr>Diseño top-down: ¿qué funciones necesitamos?</vt:lpstr>
      <vt:lpstr>Especificación: contar_mayores_que</vt:lpstr>
      <vt:lpstr>Especificación: posiciones_mayores_que</vt:lpstr>
      <vt:lpstr>Implementación: contar_mayores_que</vt:lpstr>
      <vt:lpstr>Implementación: posiciones_mayores_que</vt:lpstr>
      <vt:lpstr>El programa completo: tres archivos</vt:lpstr>
      <vt:lpstr>El programa principal: main.py</vt:lpstr>
      <vt:lpstr>Resumen de la clase</vt:lpstr>
      <vt:lpstr>Un problema que todavía no se puede resolver bien</vt:lpstr>
      <vt:lpstr>Referencias</vt:lpstr>
      <vt:lpstr>Eso es todo amigos</vt:lpstr>
    </vt:vector>
  </TitlesOfParts>
  <Company>Universidad de Antioquia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del curso</dc:title>
  <dc:creator>Apoyo Administrativo Ingeniería</dc:creator>
  <cp:lastModifiedBy>HENRY ALBERTO ARCILA RAMIREZ</cp:lastModifiedBy>
  <cp:revision>334</cp:revision>
  <dcterms:created xsi:type="dcterms:W3CDTF">2015-03-12T20:27:20Z</dcterms:created>
  <dcterms:modified xsi:type="dcterms:W3CDTF">2026-10-19T04:25:30Z</dcterms:modified>
</cp:coreProperties>
</file>