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93"/>
  </p:notesMasterIdLst>
  <p:sldIdLst>
    <p:sldId id="281" r:id="rId2"/>
    <p:sldId id="309" r:id="rId3"/>
    <p:sldId id="368" r:id="rId4"/>
    <p:sldId id="405" r:id="rId5"/>
    <p:sldId id="427" r:id="rId6"/>
    <p:sldId id="349" r:id="rId7"/>
    <p:sldId id="350" r:id="rId8"/>
    <p:sldId id="428" r:id="rId9"/>
    <p:sldId id="468" r:id="rId10"/>
    <p:sldId id="469" r:id="rId11"/>
    <p:sldId id="412" r:id="rId12"/>
    <p:sldId id="470" r:id="rId13"/>
    <p:sldId id="472" r:id="rId14"/>
    <p:sldId id="471" r:id="rId15"/>
    <p:sldId id="433" r:id="rId16"/>
    <p:sldId id="474" r:id="rId17"/>
    <p:sldId id="475" r:id="rId18"/>
    <p:sldId id="476" r:id="rId19"/>
    <p:sldId id="473" r:id="rId20"/>
    <p:sldId id="477" r:id="rId21"/>
    <p:sldId id="435" r:id="rId22"/>
    <p:sldId id="351" r:id="rId23"/>
    <p:sldId id="478" r:id="rId24"/>
    <p:sldId id="479" r:id="rId25"/>
    <p:sldId id="430" r:id="rId26"/>
    <p:sldId id="431" r:id="rId27"/>
    <p:sldId id="416" r:id="rId28"/>
    <p:sldId id="417" r:id="rId29"/>
    <p:sldId id="438" r:id="rId30"/>
    <p:sldId id="437" r:id="rId31"/>
    <p:sldId id="480" r:id="rId32"/>
    <p:sldId id="481" r:id="rId33"/>
    <p:sldId id="436" r:id="rId34"/>
    <p:sldId id="482" r:id="rId35"/>
    <p:sldId id="483" r:id="rId36"/>
    <p:sldId id="484" r:id="rId37"/>
    <p:sldId id="439" r:id="rId38"/>
    <p:sldId id="485" r:id="rId39"/>
    <p:sldId id="486" r:id="rId40"/>
    <p:sldId id="487" r:id="rId41"/>
    <p:sldId id="488" r:id="rId42"/>
    <p:sldId id="489" r:id="rId43"/>
    <p:sldId id="490" r:id="rId44"/>
    <p:sldId id="491" r:id="rId45"/>
    <p:sldId id="492" r:id="rId46"/>
    <p:sldId id="493" r:id="rId47"/>
    <p:sldId id="359" r:id="rId48"/>
    <p:sldId id="494" r:id="rId49"/>
    <p:sldId id="495" r:id="rId50"/>
    <p:sldId id="496" r:id="rId51"/>
    <p:sldId id="497" r:id="rId52"/>
    <p:sldId id="440" r:id="rId53"/>
    <p:sldId id="498" r:id="rId54"/>
    <p:sldId id="500" r:id="rId55"/>
    <p:sldId id="499" r:id="rId56"/>
    <p:sldId id="418" r:id="rId57"/>
    <p:sldId id="519" r:id="rId58"/>
    <p:sldId id="504" r:id="rId59"/>
    <p:sldId id="502" r:id="rId60"/>
    <p:sldId id="503" r:id="rId61"/>
    <p:sldId id="501" r:id="rId62"/>
    <p:sldId id="506" r:id="rId63"/>
    <p:sldId id="515" r:id="rId64"/>
    <p:sldId id="505" r:id="rId65"/>
    <p:sldId id="507" r:id="rId66"/>
    <p:sldId id="508" r:id="rId67"/>
    <p:sldId id="509" r:id="rId68"/>
    <p:sldId id="510" r:id="rId69"/>
    <p:sldId id="511" r:id="rId70"/>
    <p:sldId id="513" r:id="rId71"/>
    <p:sldId id="516" r:id="rId72"/>
    <p:sldId id="512" r:id="rId73"/>
    <p:sldId id="533" r:id="rId74"/>
    <p:sldId id="520" r:id="rId75"/>
    <p:sldId id="521" r:id="rId76"/>
    <p:sldId id="522" r:id="rId77"/>
    <p:sldId id="523" r:id="rId78"/>
    <p:sldId id="525" r:id="rId79"/>
    <p:sldId id="524" r:id="rId80"/>
    <p:sldId id="526" r:id="rId81"/>
    <p:sldId id="527" r:id="rId82"/>
    <p:sldId id="528" r:id="rId83"/>
    <p:sldId id="529" r:id="rId84"/>
    <p:sldId id="530" r:id="rId85"/>
    <p:sldId id="531" r:id="rId86"/>
    <p:sldId id="532" r:id="rId87"/>
    <p:sldId id="517" r:id="rId88"/>
    <p:sldId id="401" r:id="rId89"/>
    <p:sldId id="518" r:id="rId90"/>
    <p:sldId id="310" r:id="rId91"/>
    <p:sldId id="277" r:id="rId9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291" autoAdjust="0"/>
  </p:normalViewPr>
  <p:slideViewPr>
    <p:cSldViewPr>
      <p:cViewPr varScale="1">
        <p:scale>
          <a:sx n="69" d="100"/>
          <a:sy n="69" d="100"/>
        </p:scale>
        <p:origin x="1368"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0597F3-5A77-42C5-A3BE-2278E7F238BC}" type="doc">
      <dgm:prSet loTypeId="urn:microsoft.com/office/officeart/2005/8/layout/hierarchy2" loCatId="hierarchy" qsTypeId="urn:microsoft.com/office/officeart/2005/8/quickstyle/simple4" qsCatId="simple" csTypeId="urn:microsoft.com/office/officeart/2005/8/colors/colorful2" csCatId="colorful" phldr="1"/>
      <dgm:spPr/>
      <dgm:t>
        <a:bodyPr/>
        <a:lstStyle/>
        <a:p>
          <a:endParaRPr lang="es-CO"/>
        </a:p>
      </dgm:t>
    </dgm:pt>
    <dgm:pt modelId="{59A3506E-67E5-4F7A-9B7E-1576BEDC34A3}">
      <dgm:prSet phldrT="[Texto]" custT="1"/>
      <dgm:spPr>
        <a:solidFill>
          <a:schemeClr val="tx1"/>
        </a:solidFill>
      </dgm:spPr>
      <dgm:t>
        <a:bodyPr/>
        <a:lstStyle/>
        <a:p>
          <a:r>
            <a:rPr lang="es-CO" sz="2000" b="1" dirty="0">
              <a:latin typeface="+mn-lt"/>
            </a:rPr>
            <a:t>Alternativas en los problemas de decisión lógica</a:t>
          </a:r>
        </a:p>
      </dgm:t>
    </dgm:pt>
    <dgm:pt modelId="{E20479EF-AE87-47E7-95B8-7079AFFBD0FD}" type="parTrans" cxnId="{539F31B7-EA4B-4A96-9594-A01E02E53A02}">
      <dgm:prSet/>
      <dgm:spPr/>
      <dgm:t>
        <a:bodyPr/>
        <a:lstStyle/>
        <a:p>
          <a:endParaRPr lang="es-CO"/>
        </a:p>
      </dgm:t>
    </dgm:pt>
    <dgm:pt modelId="{00FBE2A5-9907-4191-9EDB-ED7525BF77C3}" type="sibTrans" cxnId="{539F31B7-EA4B-4A96-9594-A01E02E53A02}">
      <dgm:prSet/>
      <dgm:spPr/>
      <dgm:t>
        <a:bodyPr/>
        <a:lstStyle/>
        <a:p>
          <a:endParaRPr lang="es-CO"/>
        </a:p>
      </dgm:t>
    </dgm:pt>
    <dgm:pt modelId="{09B6955E-10DC-4968-92CF-E1C9819E5605}">
      <dgm:prSet phldrT="[Texto]" custT="1"/>
      <dgm:spPr>
        <a:solidFill>
          <a:schemeClr val="bg1">
            <a:lumMod val="50000"/>
          </a:schemeClr>
        </a:solidFill>
      </dgm:spPr>
      <dgm:t>
        <a:bodyPr/>
        <a:lstStyle/>
        <a:p>
          <a:r>
            <a:rPr lang="es-CO" sz="2000" b="1" dirty="0">
              <a:latin typeface="+mn-lt"/>
            </a:rPr>
            <a:t>Alternativa simple</a:t>
          </a:r>
        </a:p>
      </dgm:t>
    </dgm:pt>
    <dgm:pt modelId="{A22B95DF-9FE8-420F-A458-0ABF9054DDA8}" type="parTrans" cxnId="{7C418AD0-8738-47DB-8D3B-051DD65C20D7}">
      <dgm:prSet/>
      <dgm:spPr>
        <a:ln>
          <a:solidFill>
            <a:schemeClr val="tx1"/>
          </a:solidFill>
        </a:ln>
      </dgm:spPr>
      <dgm:t>
        <a:bodyPr/>
        <a:lstStyle/>
        <a:p>
          <a:endParaRPr lang="es-CO"/>
        </a:p>
      </dgm:t>
    </dgm:pt>
    <dgm:pt modelId="{C73EB503-5E35-420A-9A21-59932CE19BD4}" type="sibTrans" cxnId="{7C418AD0-8738-47DB-8D3B-051DD65C20D7}">
      <dgm:prSet/>
      <dgm:spPr/>
      <dgm:t>
        <a:bodyPr/>
        <a:lstStyle/>
        <a:p>
          <a:endParaRPr lang="es-CO"/>
        </a:p>
      </dgm:t>
    </dgm:pt>
    <dgm:pt modelId="{26B2BE31-97EF-4625-B738-F0B479E24968}">
      <dgm:prSet phldrT="[Texto]" custT="1"/>
      <dgm:spPr>
        <a:solidFill>
          <a:schemeClr val="bg1">
            <a:lumMod val="50000"/>
          </a:schemeClr>
        </a:solidFill>
      </dgm:spPr>
      <dgm:t>
        <a:bodyPr/>
        <a:lstStyle/>
        <a:p>
          <a:r>
            <a:rPr lang="es-CO" sz="2000" b="1" dirty="0">
              <a:latin typeface="+mn-lt"/>
            </a:rPr>
            <a:t>Alternativa doble </a:t>
          </a:r>
        </a:p>
      </dgm:t>
    </dgm:pt>
    <dgm:pt modelId="{74C07CD9-03A2-472F-9D10-89398F18C5FF}" type="parTrans" cxnId="{775B1B90-AC05-4952-874D-D84AEBE82C7A}">
      <dgm:prSet/>
      <dgm:spPr>
        <a:ln>
          <a:solidFill>
            <a:schemeClr val="tx1"/>
          </a:solidFill>
        </a:ln>
      </dgm:spPr>
      <dgm:t>
        <a:bodyPr/>
        <a:lstStyle/>
        <a:p>
          <a:endParaRPr lang="es-CO"/>
        </a:p>
      </dgm:t>
    </dgm:pt>
    <dgm:pt modelId="{C86DC288-399D-4E73-8A61-65A8F1A51B41}" type="sibTrans" cxnId="{775B1B90-AC05-4952-874D-D84AEBE82C7A}">
      <dgm:prSet/>
      <dgm:spPr/>
      <dgm:t>
        <a:bodyPr/>
        <a:lstStyle/>
        <a:p>
          <a:endParaRPr lang="es-CO"/>
        </a:p>
      </dgm:t>
    </dgm:pt>
    <dgm:pt modelId="{AC0BF95D-CF9E-4F08-8A00-9697D100E9A3}">
      <dgm:prSet phldrT="[Texto]" custT="1"/>
      <dgm:spPr>
        <a:solidFill>
          <a:schemeClr val="bg1">
            <a:lumMod val="50000"/>
          </a:schemeClr>
        </a:solidFill>
      </dgm:spPr>
      <dgm:t>
        <a:bodyPr/>
        <a:lstStyle/>
        <a:p>
          <a:r>
            <a:rPr lang="es-CO" sz="2000" b="1" dirty="0">
              <a:latin typeface="+mn-lt"/>
            </a:rPr>
            <a:t>Alternativa múltiple</a:t>
          </a:r>
        </a:p>
      </dgm:t>
    </dgm:pt>
    <dgm:pt modelId="{26D5F77F-06A6-4CDE-AA21-49C84A02C9CD}" type="parTrans" cxnId="{12FDE830-DBE7-4150-B7E3-1300079CB587}">
      <dgm:prSet/>
      <dgm:spPr>
        <a:ln>
          <a:solidFill>
            <a:schemeClr val="tx1"/>
          </a:solidFill>
        </a:ln>
      </dgm:spPr>
      <dgm:t>
        <a:bodyPr/>
        <a:lstStyle/>
        <a:p>
          <a:endParaRPr lang="es-CO"/>
        </a:p>
      </dgm:t>
    </dgm:pt>
    <dgm:pt modelId="{F696B3B3-1931-4F06-B1CC-B83A675495DA}" type="sibTrans" cxnId="{12FDE830-DBE7-4150-B7E3-1300079CB587}">
      <dgm:prSet/>
      <dgm:spPr/>
      <dgm:t>
        <a:bodyPr/>
        <a:lstStyle/>
        <a:p>
          <a:endParaRPr lang="es-CO"/>
        </a:p>
      </dgm:t>
    </dgm:pt>
    <dgm:pt modelId="{9D9A0CA1-8164-4592-AEA4-35677C424757}" type="pres">
      <dgm:prSet presAssocID="{890597F3-5A77-42C5-A3BE-2278E7F238BC}" presName="diagram" presStyleCnt="0">
        <dgm:presLayoutVars>
          <dgm:chPref val="1"/>
          <dgm:dir/>
          <dgm:animOne val="branch"/>
          <dgm:animLvl val="lvl"/>
          <dgm:resizeHandles val="exact"/>
        </dgm:presLayoutVars>
      </dgm:prSet>
      <dgm:spPr/>
    </dgm:pt>
    <dgm:pt modelId="{2CCC041F-5372-4AC6-B4C5-74789650EAD3}" type="pres">
      <dgm:prSet presAssocID="{59A3506E-67E5-4F7A-9B7E-1576BEDC34A3}" presName="root1" presStyleCnt="0"/>
      <dgm:spPr/>
    </dgm:pt>
    <dgm:pt modelId="{1B46BF3C-CDFA-4359-A082-13BD84A6C0BB}" type="pres">
      <dgm:prSet presAssocID="{59A3506E-67E5-4F7A-9B7E-1576BEDC34A3}" presName="LevelOneTextNode" presStyleLbl="node0" presStyleIdx="0" presStyleCnt="1" custLinFactNeighborX="10461" custLinFactNeighborY="35">
        <dgm:presLayoutVars>
          <dgm:chPref val="3"/>
        </dgm:presLayoutVars>
      </dgm:prSet>
      <dgm:spPr/>
    </dgm:pt>
    <dgm:pt modelId="{B9A1D65E-4165-4AE7-8D64-4D3B729688D5}" type="pres">
      <dgm:prSet presAssocID="{59A3506E-67E5-4F7A-9B7E-1576BEDC34A3}" presName="level2hierChild" presStyleCnt="0"/>
      <dgm:spPr/>
    </dgm:pt>
    <dgm:pt modelId="{BB45BE9A-FF36-43D6-83C3-336A2E12976B}" type="pres">
      <dgm:prSet presAssocID="{A22B95DF-9FE8-420F-A458-0ABF9054DDA8}" presName="conn2-1" presStyleLbl="parChTrans1D2" presStyleIdx="0" presStyleCnt="3"/>
      <dgm:spPr/>
    </dgm:pt>
    <dgm:pt modelId="{FF1FABA0-D36A-4D54-B247-14BE9D94AEF0}" type="pres">
      <dgm:prSet presAssocID="{A22B95DF-9FE8-420F-A458-0ABF9054DDA8}" presName="connTx" presStyleLbl="parChTrans1D2" presStyleIdx="0" presStyleCnt="3"/>
      <dgm:spPr/>
    </dgm:pt>
    <dgm:pt modelId="{34C60CED-D817-49FB-B9BB-9118A6A363A3}" type="pres">
      <dgm:prSet presAssocID="{09B6955E-10DC-4968-92CF-E1C9819E5605}" presName="root2" presStyleCnt="0"/>
      <dgm:spPr/>
    </dgm:pt>
    <dgm:pt modelId="{DA0E9240-41B7-41B5-8F65-67C41791B0D9}" type="pres">
      <dgm:prSet presAssocID="{09B6955E-10DC-4968-92CF-E1C9819E5605}" presName="LevelTwoTextNode" presStyleLbl="node2" presStyleIdx="0" presStyleCnt="3" custScaleY="39270" custLinFactNeighborX="448" custLinFactNeighborY="-71206">
        <dgm:presLayoutVars>
          <dgm:chPref val="3"/>
        </dgm:presLayoutVars>
      </dgm:prSet>
      <dgm:spPr/>
    </dgm:pt>
    <dgm:pt modelId="{6693B9B5-72C6-4946-A026-DFCE5CC564BD}" type="pres">
      <dgm:prSet presAssocID="{09B6955E-10DC-4968-92CF-E1C9819E5605}" presName="level3hierChild" presStyleCnt="0"/>
      <dgm:spPr/>
    </dgm:pt>
    <dgm:pt modelId="{94DAD3F8-2DD3-4D49-BCA3-0AA4CEA5327E}" type="pres">
      <dgm:prSet presAssocID="{74C07CD9-03A2-472F-9D10-89398F18C5FF}" presName="conn2-1" presStyleLbl="parChTrans1D2" presStyleIdx="1" presStyleCnt="3"/>
      <dgm:spPr/>
    </dgm:pt>
    <dgm:pt modelId="{1992A5A9-39A4-43EF-B349-F3C4C172BA3E}" type="pres">
      <dgm:prSet presAssocID="{74C07CD9-03A2-472F-9D10-89398F18C5FF}" presName="connTx" presStyleLbl="parChTrans1D2" presStyleIdx="1" presStyleCnt="3"/>
      <dgm:spPr/>
    </dgm:pt>
    <dgm:pt modelId="{96C74287-B61F-407D-BFD4-4FCEB537C037}" type="pres">
      <dgm:prSet presAssocID="{26B2BE31-97EF-4625-B738-F0B479E24968}" presName="root2" presStyleCnt="0"/>
      <dgm:spPr/>
    </dgm:pt>
    <dgm:pt modelId="{FC825A99-0AF5-4BBD-A87F-DB1EBAD335DC}" type="pres">
      <dgm:prSet presAssocID="{26B2BE31-97EF-4625-B738-F0B479E24968}" presName="LevelTwoTextNode" presStyleLbl="node2" presStyleIdx="1" presStyleCnt="3" custScaleY="36559" custLinFactNeighborX="448" custLinFactNeighborY="-3217">
        <dgm:presLayoutVars>
          <dgm:chPref val="3"/>
        </dgm:presLayoutVars>
      </dgm:prSet>
      <dgm:spPr/>
    </dgm:pt>
    <dgm:pt modelId="{DA4EEE03-96FC-4895-961B-17A48177CF31}" type="pres">
      <dgm:prSet presAssocID="{26B2BE31-97EF-4625-B738-F0B479E24968}" presName="level3hierChild" presStyleCnt="0"/>
      <dgm:spPr/>
    </dgm:pt>
    <dgm:pt modelId="{CDABA905-00CC-4685-8E9D-590A386A3B8E}" type="pres">
      <dgm:prSet presAssocID="{26D5F77F-06A6-4CDE-AA21-49C84A02C9CD}" presName="conn2-1" presStyleLbl="parChTrans1D2" presStyleIdx="2" presStyleCnt="3"/>
      <dgm:spPr/>
    </dgm:pt>
    <dgm:pt modelId="{58636808-5F2B-4961-A006-BFF4D8EA13A6}" type="pres">
      <dgm:prSet presAssocID="{26D5F77F-06A6-4CDE-AA21-49C84A02C9CD}" presName="connTx" presStyleLbl="parChTrans1D2" presStyleIdx="2" presStyleCnt="3"/>
      <dgm:spPr/>
    </dgm:pt>
    <dgm:pt modelId="{EC0EA8B8-0BDD-4B34-AC1D-81C811C46B05}" type="pres">
      <dgm:prSet presAssocID="{AC0BF95D-CF9E-4F08-8A00-9697D100E9A3}" presName="root2" presStyleCnt="0"/>
      <dgm:spPr/>
    </dgm:pt>
    <dgm:pt modelId="{37AA57FA-6512-49C5-850D-0B5DBF1B5B11}" type="pres">
      <dgm:prSet presAssocID="{AC0BF95D-CF9E-4F08-8A00-9697D100E9A3}" presName="LevelTwoTextNode" presStyleLbl="node2" presStyleIdx="2" presStyleCnt="3" custScaleY="35024" custLinFactNeighborX="448" custLinFactNeighborY="62167">
        <dgm:presLayoutVars>
          <dgm:chPref val="3"/>
        </dgm:presLayoutVars>
      </dgm:prSet>
      <dgm:spPr/>
    </dgm:pt>
    <dgm:pt modelId="{E28AE99C-4D94-44FF-BB67-9F9102553C0D}" type="pres">
      <dgm:prSet presAssocID="{AC0BF95D-CF9E-4F08-8A00-9697D100E9A3}" presName="level3hierChild" presStyleCnt="0"/>
      <dgm:spPr/>
    </dgm:pt>
  </dgm:ptLst>
  <dgm:cxnLst>
    <dgm:cxn modelId="{FFB07015-A2EB-425F-8208-601748B08209}" type="presOf" srcId="{AC0BF95D-CF9E-4F08-8A00-9697D100E9A3}" destId="{37AA57FA-6512-49C5-850D-0B5DBF1B5B11}" srcOrd="0" destOrd="0" presId="urn:microsoft.com/office/officeart/2005/8/layout/hierarchy2"/>
    <dgm:cxn modelId="{85353B1F-E4BE-4B32-B2F6-BF8F608460EA}" type="presOf" srcId="{26D5F77F-06A6-4CDE-AA21-49C84A02C9CD}" destId="{CDABA905-00CC-4685-8E9D-590A386A3B8E}" srcOrd="0" destOrd="0" presId="urn:microsoft.com/office/officeart/2005/8/layout/hierarchy2"/>
    <dgm:cxn modelId="{790B8620-088D-42EB-9309-1BB7A5268110}" type="presOf" srcId="{890597F3-5A77-42C5-A3BE-2278E7F238BC}" destId="{9D9A0CA1-8164-4592-AEA4-35677C424757}" srcOrd="0" destOrd="0" presId="urn:microsoft.com/office/officeart/2005/8/layout/hierarchy2"/>
    <dgm:cxn modelId="{12FDE830-DBE7-4150-B7E3-1300079CB587}" srcId="{59A3506E-67E5-4F7A-9B7E-1576BEDC34A3}" destId="{AC0BF95D-CF9E-4F08-8A00-9697D100E9A3}" srcOrd="2" destOrd="0" parTransId="{26D5F77F-06A6-4CDE-AA21-49C84A02C9CD}" sibTransId="{F696B3B3-1931-4F06-B1CC-B83A675495DA}"/>
    <dgm:cxn modelId="{94C6B650-204B-43E1-B5A3-9BBFAC74926E}" type="presOf" srcId="{74C07CD9-03A2-472F-9D10-89398F18C5FF}" destId="{94DAD3F8-2DD3-4D49-BCA3-0AA4CEA5327E}" srcOrd="0" destOrd="0" presId="urn:microsoft.com/office/officeart/2005/8/layout/hierarchy2"/>
    <dgm:cxn modelId="{50966B51-4A03-41DC-8E24-DD10B43EF03C}" type="presOf" srcId="{26B2BE31-97EF-4625-B738-F0B479E24968}" destId="{FC825A99-0AF5-4BBD-A87F-DB1EBAD335DC}" srcOrd="0" destOrd="0" presId="urn:microsoft.com/office/officeart/2005/8/layout/hierarchy2"/>
    <dgm:cxn modelId="{D4899E52-E199-4ACD-8987-1B9E61AA99B8}" type="presOf" srcId="{A22B95DF-9FE8-420F-A458-0ABF9054DDA8}" destId="{BB45BE9A-FF36-43D6-83C3-336A2E12976B}" srcOrd="0" destOrd="0" presId="urn:microsoft.com/office/officeart/2005/8/layout/hierarchy2"/>
    <dgm:cxn modelId="{775B1B90-AC05-4952-874D-D84AEBE82C7A}" srcId="{59A3506E-67E5-4F7A-9B7E-1576BEDC34A3}" destId="{26B2BE31-97EF-4625-B738-F0B479E24968}" srcOrd="1" destOrd="0" parTransId="{74C07CD9-03A2-472F-9D10-89398F18C5FF}" sibTransId="{C86DC288-399D-4E73-8A61-65A8F1A51B41}"/>
    <dgm:cxn modelId="{01EC7294-CEEF-40F6-B633-67C82FEF8FA3}" type="presOf" srcId="{09B6955E-10DC-4968-92CF-E1C9819E5605}" destId="{DA0E9240-41B7-41B5-8F65-67C41791B0D9}" srcOrd="0" destOrd="0" presId="urn:microsoft.com/office/officeart/2005/8/layout/hierarchy2"/>
    <dgm:cxn modelId="{13FDBCAC-7318-474F-B507-7E4CAD879951}" type="presOf" srcId="{26D5F77F-06A6-4CDE-AA21-49C84A02C9CD}" destId="{58636808-5F2B-4961-A006-BFF4D8EA13A6}" srcOrd="1" destOrd="0" presId="urn:microsoft.com/office/officeart/2005/8/layout/hierarchy2"/>
    <dgm:cxn modelId="{539F31B7-EA4B-4A96-9594-A01E02E53A02}" srcId="{890597F3-5A77-42C5-A3BE-2278E7F238BC}" destId="{59A3506E-67E5-4F7A-9B7E-1576BEDC34A3}" srcOrd="0" destOrd="0" parTransId="{E20479EF-AE87-47E7-95B8-7079AFFBD0FD}" sibTransId="{00FBE2A5-9907-4191-9EDB-ED7525BF77C3}"/>
    <dgm:cxn modelId="{E160E5C4-0096-4C7F-BE97-005ED6DD2F13}" type="presOf" srcId="{59A3506E-67E5-4F7A-9B7E-1576BEDC34A3}" destId="{1B46BF3C-CDFA-4359-A082-13BD84A6C0BB}" srcOrd="0" destOrd="0" presId="urn:microsoft.com/office/officeart/2005/8/layout/hierarchy2"/>
    <dgm:cxn modelId="{7C418AD0-8738-47DB-8D3B-051DD65C20D7}" srcId="{59A3506E-67E5-4F7A-9B7E-1576BEDC34A3}" destId="{09B6955E-10DC-4968-92CF-E1C9819E5605}" srcOrd="0" destOrd="0" parTransId="{A22B95DF-9FE8-420F-A458-0ABF9054DDA8}" sibTransId="{C73EB503-5E35-420A-9A21-59932CE19BD4}"/>
    <dgm:cxn modelId="{E4AD93DF-6236-47C2-B398-9A40B78239C5}" type="presOf" srcId="{74C07CD9-03A2-472F-9D10-89398F18C5FF}" destId="{1992A5A9-39A4-43EF-B349-F3C4C172BA3E}" srcOrd="1" destOrd="0" presId="urn:microsoft.com/office/officeart/2005/8/layout/hierarchy2"/>
    <dgm:cxn modelId="{B3E5EDF1-37B8-40A2-AE86-7B7F70CDE7F5}" type="presOf" srcId="{A22B95DF-9FE8-420F-A458-0ABF9054DDA8}" destId="{FF1FABA0-D36A-4D54-B247-14BE9D94AEF0}" srcOrd="1" destOrd="0" presId="urn:microsoft.com/office/officeart/2005/8/layout/hierarchy2"/>
    <dgm:cxn modelId="{EA0EABD9-F3E7-4927-B22F-9E20CABC1353}" type="presParOf" srcId="{9D9A0CA1-8164-4592-AEA4-35677C424757}" destId="{2CCC041F-5372-4AC6-B4C5-74789650EAD3}" srcOrd="0" destOrd="0" presId="urn:microsoft.com/office/officeart/2005/8/layout/hierarchy2"/>
    <dgm:cxn modelId="{B7092B44-C017-4DB1-A5EC-3B2995489154}" type="presParOf" srcId="{2CCC041F-5372-4AC6-B4C5-74789650EAD3}" destId="{1B46BF3C-CDFA-4359-A082-13BD84A6C0BB}" srcOrd="0" destOrd="0" presId="urn:microsoft.com/office/officeart/2005/8/layout/hierarchy2"/>
    <dgm:cxn modelId="{5F3B3F5E-9133-4DE6-824A-A1610140E086}" type="presParOf" srcId="{2CCC041F-5372-4AC6-B4C5-74789650EAD3}" destId="{B9A1D65E-4165-4AE7-8D64-4D3B729688D5}" srcOrd="1" destOrd="0" presId="urn:microsoft.com/office/officeart/2005/8/layout/hierarchy2"/>
    <dgm:cxn modelId="{DF64F500-6617-464C-ADBF-2438D3BF07CF}" type="presParOf" srcId="{B9A1D65E-4165-4AE7-8D64-4D3B729688D5}" destId="{BB45BE9A-FF36-43D6-83C3-336A2E12976B}" srcOrd="0" destOrd="0" presId="urn:microsoft.com/office/officeart/2005/8/layout/hierarchy2"/>
    <dgm:cxn modelId="{C7A68622-CC87-445A-B084-57FDAC9C4668}" type="presParOf" srcId="{BB45BE9A-FF36-43D6-83C3-336A2E12976B}" destId="{FF1FABA0-D36A-4D54-B247-14BE9D94AEF0}" srcOrd="0" destOrd="0" presId="urn:microsoft.com/office/officeart/2005/8/layout/hierarchy2"/>
    <dgm:cxn modelId="{96DA79F2-FBFB-4FDF-88C2-7F7FCB8DBC72}" type="presParOf" srcId="{B9A1D65E-4165-4AE7-8D64-4D3B729688D5}" destId="{34C60CED-D817-49FB-B9BB-9118A6A363A3}" srcOrd="1" destOrd="0" presId="urn:microsoft.com/office/officeart/2005/8/layout/hierarchy2"/>
    <dgm:cxn modelId="{C7153360-373F-479F-9733-C14F874D6753}" type="presParOf" srcId="{34C60CED-D817-49FB-B9BB-9118A6A363A3}" destId="{DA0E9240-41B7-41B5-8F65-67C41791B0D9}" srcOrd="0" destOrd="0" presId="urn:microsoft.com/office/officeart/2005/8/layout/hierarchy2"/>
    <dgm:cxn modelId="{1AC1E39B-E666-46C5-BBDB-1BFA6AA98FCA}" type="presParOf" srcId="{34C60CED-D817-49FB-B9BB-9118A6A363A3}" destId="{6693B9B5-72C6-4946-A026-DFCE5CC564BD}" srcOrd="1" destOrd="0" presId="urn:microsoft.com/office/officeart/2005/8/layout/hierarchy2"/>
    <dgm:cxn modelId="{BD9A2782-44A7-4D10-89E2-6C85E5C06753}" type="presParOf" srcId="{B9A1D65E-4165-4AE7-8D64-4D3B729688D5}" destId="{94DAD3F8-2DD3-4D49-BCA3-0AA4CEA5327E}" srcOrd="2" destOrd="0" presId="urn:microsoft.com/office/officeart/2005/8/layout/hierarchy2"/>
    <dgm:cxn modelId="{19307C81-BE97-438B-9CBC-629DE5FEA912}" type="presParOf" srcId="{94DAD3F8-2DD3-4D49-BCA3-0AA4CEA5327E}" destId="{1992A5A9-39A4-43EF-B349-F3C4C172BA3E}" srcOrd="0" destOrd="0" presId="urn:microsoft.com/office/officeart/2005/8/layout/hierarchy2"/>
    <dgm:cxn modelId="{FA6A260E-BACB-4037-BEC7-FC28C486B655}" type="presParOf" srcId="{B9A1D65E-4165-4AE7-8D64-4D3B729688D5}" destId="{96C74287-B61F-407D-BFD4-4FCEB537C037}" srcOrd="3" destOrd="0" presId="urn:microsoft.com/office/officeart/2005/8/layout/hierarchy2"/>
    <dgm:cxn modelId="{F549FC22-1462-4B16-A05C-40A58B0F5542}" type="presParOf" srcId="{96C74287-B61F-407D-BFD4-4FCEB537C037}" destId="{FC825A99-0AF5-4BBD-A87F-DB1EBAD335DC}" srcOrd="0" destOrd="0" presId="urn:microsoft.com/office/officeart/2005/8/layout/hierarchy2"/>
    <dgm:cxn modelId="{D176BA43-AE67-4679-9654-5A7DA6CF6ABF}" type="presParOf" srcId="{96C74287-B61F-407D-BFD4-4FCEB537C037}" destId="{DA4EEE03-96FC-4895-961B-17A48177CF31}" srcOrd="1" destOrd="0" presId="urn:microsoft.com/office/officeart/2005/8/layout/hierarchy2"/>
    <dgm:cxn modelId="{9C570201-3161-47EB-8833-9912B39D4217}" type="presParOf" srcId="{B9A1D65E-4165-4AE7-8D64-4D3B729688D5}" destId="{CDABA905-00CC-4685-8E9D-590A386A3B8E}" srcOrd="4" destOrd="0" presId="urn:microsoft.com/office/officeart/2005/8/layout/hierarchy2"/>
    <dgm:cxn modelId="{2F8A09A8-7110-45C5-AB57-1A25DB2FCAA3}" type="presParOf" srcId="{CDABA905-00CC-4685-8E9D-590A386A3B8E}" destId="{58636808-5F2B-4961-A006-BFF4D8EA13A6}" srcOrd="0" destOrd="0" presId="urn:microsoft.com/office/officeart/2005/8/layout/hierarchy2"/>
    <dgm:cxn modelId="{78B88CD1-26BB-4F80-9760-9610949EA321}" type="presParOf" srcId="{B9A1D65E-4165-4AE7-8D64-4D3B729688D5}" destId="{EC0EA8B8-0BDD-4B34-AC1D-81C811C46B05}" srcOrd="5" destOrd="0" presId="urn:microsoft.com/office/officeart/2005/8/layout/hierarchy2"/>
    <dgm:cxn modelId="{ECF7E878-DBEE-4EF1-A933-0F8C0281BF82}" type="presParOf" srcId="{EC0EA8B8-0BDD-4B34-AC1D-81C811C46B05}" destId="{37AA57FA-6512-49C5-850D-0B5DBF1B5B11}" srcOrd="0" destOrd="0" presId="urn:microsoft.com/office/officeart/2005/8/layout/hierarchy2"/>
    <dgm:cxn modelId="{5D91536F-8CDB-4908-8028-139199733CEF}" type="presParOf" srcId="{EC0EA8B8-0BDD-4B34-AC1D-81C811C46B05}" destId="{E28AE99C-4D94-44FF-BB67-9F9102553C0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47C02D-BD1B-4B91-8CD2-0DD3F2845623}" type="doc">
      <dgm:prSet loTypeId="urn:microsoft.com/office/officeart/2005/8/layout/hierarchy2" loCatId="hierarchy" qsTypeId="urn:microsoft.com/office/officeart/2005/8/quickstyle/simple4" qsCatId="simple" csTypeId="urn:microsoft.com/office/officeart/2005/8/colors/colorful2" csCatId="colorful" phldr="1"/>
      <dgm:spPr/>
      <dgm:t>
        <a:bodyPr/>
        <a:lstStyle/>
        <a:p>
          <a:endParaRPr lang="es-ES"/>
        </a:p>
      </dgm:t>
    </dgm:pt>
    <dgm:pt modelId="{B3EBD8C4-D48A-4F55-918D-7C5C00D78B80}">
      <dgm:prSet phldrT="[Texto]" custT="1"/>
      <dgm:spPr>
        <a:solidFill>
          <a:schemeClr val="tx1"/>
        </a:solidFill>
      </dgm:spPr>
      <dgm:t>
        <a:bodyPr/>
        <a:lstStyle/>
        <a:p>
          <a:r>
            <a:rPr lang="es-CO" sz="2800" b="1" dirty="0">
              <a:latin typeface="+mn-lt"/>
            </a:rPr>
            <a:t>Problema</a:t>
          </a:r>
          <a:endParaRPr lang="es-ES" sz="3400" b="1" dirty="0">
            <a:latin typeface="+mn-lt"/>
          </a:endParaRPr>
        </a:p>
      </dgm:t>
    </dgm:pt>
    <dgm:pt modelId="{ECE69BB6-8893-4ADB-A7DC-A4C96EF68D88}" type="parTrans" cxnId="{3597BAC9-A761-4CBB-9F56-BC88E8F4E93D}">
      <dgm:prSet/>
      <dgm:spPr/>
      <dgm:t>
        <a:bodyPr/>
        <a:lstStyle/>
        <a:p>
          <a:endParaRPr lang="es-ES"/>
        </a:p>
      </dgm:t>
    </dgm:pt>
    <dgm:pt modelId="{CF097890-1E96-4185-9854-02CC2F7C822B}" type="sibTrans" cxnId="{3597BAC9-A761-4CBB-9F56-BC88E8F4E93D}">
      <dgm:prSet/>
      <dgm:spPr/>
      <dgm:t>
        <a:bodyPr/>
        <a:lstStyle/>
        <a:p>
          <a:endParaRPr lang="es-ES"/>
        </a:p>
      </dgm:t>
    </dgm:pt>
    <dgm:pt modelId="{757D63E9-72EA-40E9-8337-0721A7D1D3DF}">
      <dgm:prSet phldrT="[Texto]" custT="1"/>
      <dgm:spPr>
        <a:solidFill>
          <a:schemeClr val="bg1">
            <a:lumMod val="85000"/>
          </a:schemeClr>
        </a:solidFill>
      </dgm:spPr>
      <dgm:t>
        <a:bodyPr/>
        <a:lstStyle/>
        <a:p>
          <a:r>
            <a:rPr lang="es-CO" sz="2000" b="1" dirty="0">
              <a:solidFill>
                <a:schemeClr val="tx1"/>
              </a:solidFill>
              <a:latin typeface="+mn-lt"/>
            </a:rPr>
            <a:t>Numero conocido de iteraciones</a:t>
          </a:r>
          <a:endParaRPr lang="es-ES" sz="2000" b="1" dirty="0">
            <a:solidFill>
              <a:schemeClr val="tx1"/>
            </a:solidFill>
            <a:latin typeface="+mn-lt"/>
          </a:endParaRPr>
        </a:p>
      </dgm:t>
    </dgm:pt>
    <dgm:pt modelId="{6B6889AC-E9B8-4681-BC89-CFB66F9AA4D3}" type="parTrans" cxnId="{5DB6E2E0-9A1F-4468-9272-7F3C1AAB8B1A}">
      <dgm:prSet/>
      <dgm:spPr>
        <a:ln w="28575">
          <a:solidFill>
            <a:schemeClr val="tx1"/>
          </a:solidFill>
        </a:ln>
      </dgm:spPr>
      <dgm:t>
        <a:bodyPr/>
        <a:lstStyle/>
        <a:p>
          <a:endParaRPr lang="es-ES"/>
        </a:p>
      </dgm:t>
    </dgm:pt>
    <dgm:pt modelId="{7398225F-C6DB-4F1F-AE9D-21661D2CF758}" type="sibTrans" cxnId="{5DB6E2E0-9A1F-4468-9272-7F3C1AAB8B1A}">
      <dgm:prSet/>
      <dgm:spPr/>
      <dgm:t>
        <a:bodyPr/>
        <a:lstStyle/>
        <a:p>
          <a:endParaRPr lang="es-ES"/>
        </a:p>
      </dgm:t>
    </dgm:pt>
    <dgm:pt modelId="{894E9922-28E4-4F06-8996-94BA4C949792}">
      <dgm:prSet phldrT="[Texto]" custT="1"/>
      <dgm:spPr>
        <a:solidFill>
          <a:schemeClr val="bg1">
            <a:lumMod val="85000"/>
          </a:schemeClr>
        </a:solidFill>
      </dgm:spPr>
      <dgm:t>
        <a:bodyPr/>
        <a:lstStyle/>
        <a:p>
          <a:r>
            <a:rPr lang="es-CO" sz="1800" b="1" dirty="0">
              <a:solidFill>
                <a:schemeClr val="tx1"/>
              </a:solidFill>
              <a:latin typeface="+mn-lt"/>
            </a:rPr>
            <a:t>Numero desconocido de iteraciones</a:t>
          </a:r>
          <a:endParaRPr lang="es-ES" sz="1800" b="1" dirty="0">
            <a:solidFill>
              <a:schemeClr val="tx1"/>
            </a:solidFill>
            <a:latin typeface="+mn-lt"/>
          </a:endParaRPr>
        </a:p>
      </dgm:t>
    </dgm:pt>
    <dgm:pt modelId="{19D853E8-E2A8-4BDD-91FE-A99D8E9F7D61}" type="parTrans" cxnId="{9CAA8EB4-7A7B-4442-8858-DEBC50DCC73B}">
      <dgm:prSet/>
      <dgm:spPr>
        <a:ln w="28575">
          <a:solidFill>
            <a:schemeClr val="tx1"/>
          </a:solidFill>
        </a:ln>
      </dgm:spPr>
      <dgm:t>
        <a:bodyPr/>
        <a:lstStyle/>
        <a:p>
          <a:endParaRPr lang="es-ES"/>
        </a:p>
      </dgm:t>
    </dgm:pt>
    <dgm:pt modelId="{ABE83FC6-900A-42C2-B265-9C98AAB12DEC}" type="sibTrans" cxnId="{9CAA8EB4-7A7B-4442-8858-DEBC50DCC73B}">
      <dgm:prSet/>
      <dgm:spPr/>
      <dgm:t>
        <a:bodyPr/>
        <a:lstStyle/>
        <a:p>
          <a:endParaRPr lang="es-ES"/>
        </a:p>
      </dgm:t>
    </dgm:pt>
    <dgm:pt modelId="{5844A008-D31E-48D7-BAB2-8BAFA0AC2B88}" type="pres">
      <dgm:prSet presAssocID="{9247C02D-BD1B-4B91-8CD2-0DD3F2845623}" presName="diagram" presStyleCnt="0">
        <dgm:presLayoutVars>
          <dgm:chPref val="1"/>
          <dgm:dir/>
          <dgm:animOne val="branch"/>
          <dgm:animLvl val="lvl"/>
          <dgm:resizeHandles val="exact"/>
        </dgm:presLayoutVars>
      </dgm:prSet>
      <dgm:spPr/>
    </dgm:pt>
    <dgm:pt modelId="{9983C09B-C931-4DAC-AB3F-6CBA797C00C5}" type="pres">
      <dgm:prSet presAssocID="{B3EBD8C4-D48A-4F55-918D-7C5C00D78B80}" presName="root1" presStyleCnt="0"/>
      <dgm:spPr/>
    </dgm:pt>
    <dgm:pt modelId="{35D63F1C-B98A-40D4-8C23-89D708C42104}" type="pres">
      <dgm:prSet presAssocID="{B3EBD8C4-D48A-4F55-918D-7C5C00D78B80}" presName="LevelOneTextNode" presStyleLbl="node0" presStyleIdx="0" presStyleCnt="1" custScaleX="149364" custScaleY="128221" custLinFactNeighborX="-367" custLinFactNeighborY="0">
        <dgm:presLayoutVars>
          <dgm:chPref val="3"/>
        </dgm:presLayoutVars>
      </dgm:prSet>
      <dgm:spPr/>
    </dgm:pt>
    <dgm:pt modelId="{9C79C830-CD2F-49F6-A5FD-469521FAC3F5}" type="pres">
      <dgm:prSet presAssocID="{B3EBD8C4-D48A-4F55-918D-7C5C00D78B80}" presName="level2hierChild" presStyleCnt="0"/>
      <dgm:spPr/>
    </dgm:pt>
    <dgm:pt modelId="{13C10B4D-E7D7-41D0-B59F-1FA9CE87B815}" type="pres">
      <dgm:prSet presAssocID="{6B6889AC-E9B8-4681-BC89-CFB66F9AA4D3}" presName="conn2-1" presStyleLbl="parChTrans1D2" presStyleIdx="0" presStyleCnt="2"/>
      <dgm:spPr/>
    </dgm:pt>
    <dgm:pt modelId="{B778289B-0550-4DD4-9B17-A4C8EA14A1B9}" type="pres">
      <dgm:prSet presAssocID="{6B6889AC-E9B8-4681-BC89-CFB66F9AA4D3}" presName="connTx" presStyleLbl="parChTrans1D2" presStyleIdx="0" presStyleCnt="2"/>
      <dgm:spPr/>
    </dgm:pt>
    <dgm:pt modelId="{123909F1-A22A-4551-BFD0-952E57C75769}" type="pres">
      <dgm:prSet presAssocID="{757D63E9-72EA-40E9-8337-0721A7D1D3DF}" presName="root2" presStyleCnt="0"/>
      <dgm:spPr/>
    </dgm:pt>
    <dgm:pt modelId="{4B35AC99-90E7-4B60-9BD5-0A6380EA6925}" type="pres">
      <dgm:prSet presAssocID="{757D63E9-72EA-40E9-8337-0721A7D1D3DF}" presName="LevelTwoTextNode" presStyleLbl="node2" presStyleIdx="0" presStyleCnt="2" custScaleX="220753" custLinFactY="-74877" custLinFactNeighborX="7413" custLinFactNeighborY="-100000">
        <dgm:presLayoutVars>
          <dgm:chPref val="3"/>
        </dgm:presLayoutVars>
      </dgm:prSet>
      <dgm:spPr/>
    </dgm:pt>
    <dgm:pt modelId="{9488E638-CF59-4B3D-B2B8-A425CD012D5A}" type="pres">
      <dgm:prSet presAssocID="{757D63E9-72EA-40E9-8337-0721A7D1D3DF}" presName="level3hierChild" presStyleCnt="0"/>
      <dgm:spPr/>
    </dgm:pt>
    <dgm:pt modelId="{4CF9CF75-922A-4092-844D-244E2182771F}" type="pres">
      <dgm:prSet presAssocID="{19D853E8-E2A8-4BDD-91FE-A99D8E9F7D61}" presName="conn2-1" presStyleLbl="parChTrans1D2" presStyleIdx="1" presStyleCnt="2"/>
      <dgm:spPr/>
    </dgm:pt>
    <dgm:pt modelId="{6F5957E1-1869-4DC8-BDBD-7EE3DAA242FF}" type="pres">
      <dgm:prSet presAssocID="{19D853E8-E2A8-4BDD-91FE-A99D8E9F7D61}" presName="connTx" presStyleLbl="parChTrans1D2" presStyleIdx="1" presStyleCnt="2"/>
      <dgm:spPr/>
    </dgm:pt>
    <dgm:pt modelId="{B49992E2-195E-4328-A36B-420BE6745D0C}" type="pres">
      <dgm:prSet presAssocID="{894E9922-28E4-4F06-8996-94BA4C949792}" presName="root2" presStyleCnt="0"/>
      <dgm:spPr/>
    </dgm:pt>
    <dgm:pt modelId="{B7CF549A-50DC-430C-A2CF-5E73F102D3D6}" type="pres">
      <dgm:prSet presAssocID="{894E9922-28E4-4F06-8996-94BA4C949792}" presName="LevelTwoTextNode" presStyleLbl="node2" presStyleIdx="1" presStyleCnt="2" custScaleX="219264" custLinFactY="78139" custLinFactNeighborX="2512" custLinFactNeighborY="100000">
        <dgm:presLayoutVars>
          <dgm:chPref val="3"/>
        </dgm:presLayoutVars>
      </dgm:prSet>
      <dgm:spPr/>
    </dgm:pt>
    <dgm:pt modelId="{48663514-691F-4165-A064-BEB494098F2C}" type="pres">
      <dgm:prSet presAssocID="{894E9922-28E4-4F06-8996-94BA4C949792}" presName="level3hierChild" presStyleCnt="0"/>
      <dgm:spPr/>
    </dgm:pt>
  </dgm:ptLst>
  <dgm:cxnLst>
    <dgm:cxn modelId="{5A30F713-CCE7-4547-8555-673FB46CD584}" type="presOf" srcId="{6B6889AC-E9B8-4681-BC89-CFB66F9AA4D3}" destId="{13C10B4D-E7D7-41D0-B59F-1FA9CE87B815}" srcOrd="0" destOrd="0" presId="urn:microsoft.com/office/officeart/2005/8/layout/hierarchy2"/>
    <dgm:cxn modelId="{67A35A60-745C-4B69-98B8-E25891E5FC1D}" type="presOf" srcId="{9247C02D-BD1B-4B91-8CD2-0DD3F2845623}" destId="{5844A008-D31E-48D7-BAB2-8BAFA0AC2B88}" srcOrd="0" destOrd="0" presId="urn:microsoft.com/office/officeart/2005/8/layout/hierarchy2"/>
    <dgm:cxn modelId="{48F75061-8832-4E86-89B5-404BABE48C89}" type="presOf" srcId="{19D853E8-E2A8-4BDD-91FE-A99D8E9F7D61}" destId="{6F5957E1-1869-4DC8-BDBD-7EE3DAA242FF}" srcOrd="1" destOrd="0" presId="urn:microsoft.com/office/officeart/2005/8/layout/hierarchy2"/>
    <dgm:cxn modelId="{EBEFF061-ED74-49C3-B6C8-F82833BB72ED}" type="presOf" srcId="{B3EBD8C4-D48A-4F55-918D-7C5C00D78B80}" destId="{35D63F1C-B98A-40D4-8C23-89D708C42104}" srcOrd="0" destOrd="0" presId="urn:microsoft.com/office/officeart/2005/8/layout/hierarchy2"/>
    <dgm:cxn modelId="{C4CF6B76-6D72-49D8-B6A5-4A7425203AD2}" type="presOf" srcId="{894E9922-28E4-4F06-8996-94BA4C949792}" destId="{B7CF549A-50DC-430C-A2CF-5E73F102D3D6}" srcOrd="0" destOrd="0" presId="urn:microsoft.com/office/officeart/2005/8/layout/hierarchy2"/>
    <dgm:cxn modelId="{9CAA8EB4-7A7B-4442-8858-DEBC50DCC73B}" srcId="{B3EBD8C4-D48A-4F55-918D-7C5C00D78B80}" destId="{894E9922-28E4-4F06-8996-94BA4C949792}" srcOrd="1" destOrd="0" parTransId="{19D853E8-E2A8-4BDD-91FE-A99D8E9F7D61}" sibTransId="{ABE83FC6-900A-42C2-B265-9C98AAB12DEC}"/>
    <dgm:cxn modelId="{3597BAC9-A761-4CBB-9F56-BC88E8F4E93D}" srcId="{9247C02D-BD1B-4B91-8CD2-0DD3F2845623}" destId="{B3EBD8C4-D48A-4F55-918D-7C5C00D78B80}" srcOrd="0" destOrd="0" parTransId="{ECE69BB6-8893-4ADB-A7DC-A4C96EF68D88}" sibTransId="{CF097890-1E96-4185-9854-02CC2F7C822B}"/>
    <dgm:cxn modelId="{5DB6E2E0-9A1F-4468-9272-7F3C1AAB8B1A}" srcId="{B3EBD8C4-D48A-4F55-918D-7C5C00D78B80}" destId="{757D63E9-72EA-40E9-8337-0721A7D1D3DF}" srcOrd="0" destOrd="0" parTransId="{6B6889AC-E9B8-4681-BC89-CFB66F9AA4D3}" sibTransId="{7398225F-C6DB-4F1F-AE9D-21661D2CF758}"/>
    <dgm:cxn modelId="{97C04BEA-8FB0-493F-A194-36B00AB84AA0}" type="presOf" srcId="{19D853E8-E2A8-4BDD-91FE-A99D8E9F7D61}" destId="{4CF9CF75-922A-4092-844D-244E2182771F}" srcOrd="0" destOrd="0" presId="urn:microsoft.com/office/officeart/2005/8/layout/hierarchy2"/>
    <dgm:cxn modelId="{962FA8EE-151F-4236-B21E-EB6EA0E38231}" type="presOf" srcId="{757D63E9-72EA-40E9-8337-0721A7D1D3DF}" destId="{4B35AC99-90E7-4B60-9BD5-0A6380EA6925}" srcOrd="0" destOrd="0" presId="urn:microsoft.com/office/officeart/2005/8/layout/hierarchy2"/>
    <dgm:cxn modelId="{7932D2F7-2B27-47A0-907D-DBED10451B5C}" type="presOf" srcId="{6B6889AC-E9B8-4681-BC89-CFB66F9AA4D3}" destId="{B778289B-0550-4DD4-9B17-A4C8EA14A1B9}" srcOrd="1" destOrd="0" presId="urn:microsoft.com/office/officeart/2005/8/layout/hierarchy2"/>
    <dgm:cxn modelId="{F788B2FC-7C88-49A5-8DA4-53129BDFDC58}" type="presParOf" srcId="{5844A008-D31E-48D7-BAB2-8BAFA0AC2B88}" destId="{9983C09B-C931-4DAC-AB3F-6CBA797C00C5}" srcOrd="0" destOrd="0" presId="urn:microsoft.com/office/officeart/2005/8/layout/hierarchy2"/>
    <dgm:cxn modelId="{3BF5C118-2C03-473A-BBF5-0F3BBFFAC863}" type="presParOf" srcId="{9983C09B-C931-4DAC-AB3F-6CBA797C00C5}" destId="{35D63F1C-B98A-40D4-8C23-89D708C42104}" srcOrd="0" destOrd="0" presId="urn:microsoft.com/office/officeart/2005/8/layout/hierarchy2"/>
    <dgm:cxn modelId="{8FFCFDB4-B018-4325-B0C8-4208E7656067}" type="presParOf" srcId="{9983C09B-C931-4DAC-AB3F-6CBA797C00C5}" destId="{9C79C830-CD2F-49F6-A5FD-469521FAC3F5}" srcOrd="1" destOrd="0" presId="urn:microsoft.com/office/officeart/2005/8/layout/hierarchy2"/>
    <dgm:cxn modelId="{6CFE04AC-4C86-4FD7-994F-023C23F529DB}" type="presParOf" srcId="{9C79C830-CD2F-49F6-A5FD-469521FAC3F5}" destId="{13C10B4D-E7D7-41D0-B59F-1FA9CE87B815}" srcOrd="0" destOrd="0" presId="urn:microsoft.com/office/officeart/2005/8/layout/hierarchy2"/>
    <dgm:cxn modelId="{1FABE880-5B05-416D-BD72-9C91C9707A8B}" type="presParOf" srcId="{13C10B4D-E7D7-41D0-B59F-1FA9CE87B815}" destId="{B778289B-0550-4DD4-9B17-A4C8EA14A1B9}" srcOrd="0" destOrd="0" presId="urn:microsoft.com/office/officeart/2005/8/layout/hierarchy2"/>
    <dgm:cxn modelId="{86EEAFD0-285A-43DE-BB96-9DC031447B6F}" type="presParOf" srcId="{9C79C830-CD2F-49F6-A5FD-469521FAC3F5}" destId="{123909F1-A22A-4551-BFD0-952E57C75769}" srcOrd="1" destOrd="0" presId="urn:microsoft.com/office/officeart/2005/8/layout/hierarchy2"/>
    <dgm:cxn modelId="{392309A6-284A-4FA6-8D95-DE9CF8BF2530}" type="presParOf" srcId="{123909F1-A22A-4551-BFD0-952E57C75769}" destId="{4B35AC99-90E7-4B60-9BD5-0A6380EA6925}" srcOrd="0" destOrd="0" presId="urn:microsoft.com/office/officeart/2005/8/layout/hierarchy2"/>
    <dgm:cxn modelId="{779D0693-547D-4FB3-8A7C-A7E688C1C7E5}" type="presParOf" srcId="{123909F1-A22A-4551-BFD0-952E57C75769}" destId="{9488E638-CF59-4B3D-B2B8-A425CD012D5A}" srcOrd="1" destOrd="0" presId="urn:microsoft.com/office/officeart/2005/8/layout/hierarchy2"/>
    <dgm:cxn modelId="{27B0BC50-8FA2-4528-8CAE-D19922B9BD8C}" type="presParOf" srcId="{9C79C830-CD2F-49F6-A5FD-469521FAC3F5}" destId="{4CF9CF75-922A-4092-844D-244E2182771F}" srcOrd="2" destOrd="0" presId="urn:microsoft.com/office/officeart/2005/8/layout/hierarchy2"/>
    <dgm:cxn modelId="{4EAB51F6-F14F-4480-8841-723E0E99F947}" type="presParOf" srcId="{4CF9CF75-922A-4092-844D-244E2182771F}" destId="{6F5957E1-1869-4DC8-BDBD-7EE3DAA242FF}" srcOrd="0" destOrd="0" presId="urn:microsoft.com/office/officeart/2005/8/layout/hierarchy2"/>
    <dgm:cxn modelId="{AE55F6DF-EA30-4C5A-A510-654C3DF9499F}" type="presParOf" srcId="{9C79C830-CD2F-49F6-A5FD-469521FAC3F5}" destId="{B49992E2-195E-4328-A36B-420BE6745D0C}" srcOrd="3" destOrd="0" presId="urn:microsoft.com/office/officeart/2005/8/layout/hierarchy2"/>
    <dgm:cxn modelId="{B6D6BB47-7B22-426F-8FD9-72ED0C993583}" type="presParOf" srcId="{B49992E2-195E-4328-A36B-420BE6745D0C}" destId="{B7CF549A-50DC-430C-A2CF-5E73F102D3D6}" srcOrd="0" destOrd="0" presId="urn:microsoft.com/office/officeart/2005/8/layout/hierarchy2"/>
    <dgm:cxn modelId="{6434EF0B-7CDD-456B-9983-86F10C53E6BC}" type="presParOf" srcId="{B49992E2-195E-4328-A36B-420BE6745D0C}" destId="{48663514-691F-4165-A064-BEB494098F2C}"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06543" y="109307"/>
          <a:ext cx="710288" cy="49720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0" y="251365"/>
        <a:ext cx="497202" cy="213086"/>
      </dsp:txXfrm>
    </dsp:sp>
    <dsp:sp modelId="{344A86B1-48E8-448F-9C6D-71580BFB5F83}">
      <dsp:nvSpPr>
        <dsp:cNvPr id="0" name=""/>
        <dsp:cNvSpPr/>
      </dsp:nvSpPr>
      <dsp:spPr>
        <a:xfrm rot="5400000">
          <a:off x="2825947" y="-2325981"/>
          <a:ext cx="461930" cy="511942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497202" y="25314"/>
        <a:ext cx="5096871" cy="416830"/>
      </dsp:txXfrm>
    </dsp:sp>
    <dsp:sp modelId="{A651636C-CE47-4575-AA1E-AB00D80E941D}">
      <dsp:nvSpPr>
        <dsp:cNvPr id="0" name=""/>
        <dsp:cNvSpPr/>
      </dsp:nvSpPr>
      <dsp:spPr>
        <a:xfrm rot="5400000">
          <a:off x="-106543" y="658631"/>
          <a:ext cx="710288" cy="49720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0" y="800689"/>
        <a:ext cx="497202" cy="213086"/>
      </dsp:txXfrm>
    </dsp:sp>
    <dsp:sp modelId="{79B0DE70-0A03-4A6F-B31F-EC81EB5DF7EA}">
      <dsp:nvSpPr>
        <dsp:cNvPr id="0" name=""/>
        <dsp:cNvSpPr/>
      </dsp:nvSpPr>
      <dsp:spPr>
        <a:xfrm rot="5400000">
          <a:off x="2826069" y="-1776779"/>
          <a:ext cx="461687" cy="511942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497202" y="574626"/>
        <a:ext cx="5096883" cy="416611"/>
      </dsp:txXfrm>
    </dsp:sp>
    <dsp:sp modelId="{2AA7B02C-023E-4537-897E-B54A048C8983}">
      <dsp:nvSpPr>
        <dsp:cNvPr id="0" name=""/>
        <dsp:cNvSpPr/>
      </dsp:nvSpPr>
      <dsp:spPr>
        <a:xfrm rot="5400000">
          <a:off x="-106543" y="1207954"/>
          <a:ext cx="710288" cy="49720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0" y="1350012"/>
        <a:ext cx="497202" cy="213086"/>
      </dsp:txXfrm>
    </dsp:sp>
    <dsp:sp modelId="{15D3D31F-A831-4E62-ADE9-6ACE81331CDC}">
      <dsp:nvSpPr>
        <dsp:cNvPr id="0" name=""/>
        <dsp:cNvSpPr/>
      </dsp:nvSpPr>
      <dsp:spPr>
        <a:xfrm rot="5400000">
          <a:off x="2826069" y="-1227455"/>
          <a:ext cx="461687" cy="511942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497202" y="1123950"/>
        <a:ext cx="5096883" cy="416611"/>
      </dsp:txXfrm>
    </dsp:sp>
    <dsp:sp modelId="{58E45CBE-DE64-4E4E-8AAA-D376465B2BEE}">
      <dsp:nvSpPr>
        <dsp:cNvPr id="0" name=""/>
        <dsp:cNvSpPr/>
      </dsp:nvSpPr>
      <dsp:spPr>
        <a:xfrm rot="5400000">
          <a:off x="-106543" y="1757278"/>
          <a:ext cx="710288" cy="49720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0" y="1899336"/>
        <a:ext cx="497202" cy="213086"/>
      </dsp:txXfrm>
    </dsp:sp>
    <dsp:sp modelId="{C37D6712-7A35-4663-80F7-1B8FC410AF19}">
      <dsp:nvSpPr>
        <dsp:cNvPr id="0" name=""/>
        <dsp:cNvSpPr/>
      </dsp:nvSpPr>
      <dsp:spPr>
        <a:xfrm rot="5400000">
          <a:off x="2826069" y="-678132"/>
          <a:ext cx="461687" cy="511942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497202" y="1673273"/>
        <a:ext cx="5096883" cy="4166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6BF3C-CDFA-4359-A082-13BD84A6C0BB}">
      <dsp:nvSpPr>
        <dsp:cNvPr id="0" name=""/>
        <dsp:cNvSpPr/>
      </dsp:nvSpPr>
      <dsp:spPr>
        <a:xfrm>
          <a:off x="265709" y="1397444"/>
          <a:ext cx="2539999" cy="1269999"/>
        </a:xfrm>
        <a:prstGeom prst="roundRect">
          <a:avLst>
            <a:gd name="adj" fmla="val 1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Alternativas en los problemas de decisión lógica</a:t>
          </a:r>
        </a:p>
      </dsp:txBody>
      <dsp:txXfrm>
        <a:off x="302906" y="1434641"/>
        <a:ext cx="2465605" cy="1195605"/>
      </dsp:txXfrm>
    </dsp:sp>
    <dsp:sp modelId="{BB45BE9A-FF36-43D6-83C3-336A2E12976B}">
      <dsp:nvSpPr>
        <dsp:cNvPr id="0" name=""/>
        <dsp:cNvSpPr/>
      </dsp:nvSpPr>
      <dsp:spPr>
        <a:xfrm rot="17749945">
          <a:off x="2319916" y="1229413"/>
          <a:ext cx="1721875" cy="56250"/>
        </a:xfrm>
        <a:custGeom>
          <a:avLst/>
          <a:gdLst/>
          <a:ahLst/>
          <a:cxnLst/>
          <a:rect l="0" t="0" r="0" b="0"/>
          <a:pathLst>
            <a:path>
              <a:moveTo>
                <a:pt x="0" y="28125"/>
              </a:moveTo>
              <a:lnTo>
                <a:pt x="1721875" y="28125"/>
              </a:lnTo>
            </a:path>
          </a:pathLst>
        </a:custGeom>
        <a:no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CO" sz="600" kern="1200"/>
        </a:p>
      </dsp:txBody>
      <dsp:txXfrm>
        <a:off x="3137807" y="1214491"/>
        <a:ext cx="86093" cy="86093"/>
      </dsp:txXfrm>
    </dsp:sp>
    <dsp:sp modelId="{DA0E9240-41B7-41B5-8F65-67C41791B0D9}">
      <dsp:nvSpPr>
        <dsp:cNvPr id="0" name=""/>
        <dsp:cNvSpPr/>
      </dsp:nvSpPr>
      <dsp:spPr>
        <a:xfrm>
          <a:off x="3556000" y="233267"/>
          <a:ext cx="2539999" cy="498729"/>
        </a:xfrm>
        <a:prstGeom prst="roundRect">
          <a:avLst>
            <a:gd name="adj" fmla="val 10000"/>
          </a:avLst>
        </a:prstGeom>
        <a:solidFill>
          <a:schemeClr val="bg1">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 simple</a:t>
          </a:r>
        </a:p>
      </dsp:txBody>
      <dsp:txXfrm>
        <a:off x="3570607" y="247874"/>
        <a:ext cx="2510785" cy="469515"/>
      </dsp:txXfrm>
    </dsp:sp>
    <dsp:sp modelId="{94DAD3F8-2DD3-4D49-BCA3-0AA4CEA5327E}">
      <dsp:nvSpPr>
        <dsp:cNvPr id="0" name=""/>
        <dsp:cNvSpPr/>
      </dsp:nvSpPr>
      <dsp:spPr>
        <a:xfrm rot="21534312">
          <a:off x="2805640" y="1997150"/>
          <a:ext cx="750427" cy="56250"/>
        </a:xfrm>
        <a:custGeom>
          <a:avLst/>
          <a:gdLst/>
          <a:ahLst/>
          <a:cxnLst/>
          <a:rect l="0" t="0" r="0" b="0"/>
          <a:pathLst>
            <a:path>
              <a:moveTo>
                <a:pt x="0" y="28125"/>
              </a:moveTo>
              <a:lnTo>
                <a:pt x="750427" y="28125"/>
              </a:lnTo>
            </a:path>
          </a:pathLst>
        </a:custGeom>
        <a:no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3162094" y="2006514"/>
        <a:ext cx="37521" cy="37521"/>
      </dsp:txXfrm>
    </dsp:sp>
    <dsp:sp modelId="{FC825A99-0AF5-4BBD-A87F-DB1EBAD335DC}">
      <dsp:nvSpPr>
        <dsp:cNvPr id="0" name=""/>
        <dsp:cNvSpPr/>
      </dsp:nvSpPr>
      <dsp:spPr>
        <a:xfrm>
          <a:off x="3556000" y="1785956"/>
          <a:ext cx="2539999" cy="464299"/>
        </a:xfrm>
        <a:prstGeom prst="roundRect">
          <a:avLst>
            <a:gd name="adj" fmla="val 10000"/>
          </a:avLst>
        </a:prstGeom>
        <a:solidFill>
          <a:schemeClr val="bg1">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 doble </a:t>
          </a:r>
        </a:p>
      </dsp:txBody>
      <dsp:txXfrm>
        <a:off x="3569599" y="1799555"/>
        <a:ext cx="2512801" cy="437101"/>
      </dsp:txXfrm>
    </dsp:sp>
    <dsp:sp modelId="{CDABA905-00CC-4685-8E9D-590A386A3B8E}">
      <dsp:nvSpPr>
        <dsp:cNvPr id="0" name=""/>
        <dsp:cNvSpPr/>
      </dsp:nvSpPr>
      <dsp:spPr>
        <a:xfrm rot="3769132">
          <a:off x="2359617" y="2734864"/>
          <a:ext cx="1642474" cy="56250"/>
        </a:xfrm>
        <a:custGeom>
          <a:avLst/>
          <a:gdLst/>
          <a:ahLst/>
          <a:cxnLst/>
          <a:rect l="0" t="0" r="0" b="0"/>
          <a:pathLst>
            <a:path>
              <a:moveTo>
                <a:pt x="0" y="28125"/>
              </a:moveTo>
              <a:lnTo>
                <a:pt x="1642474" y="28125"/>
              </a:lnTo>
            </a:path>
          </a:pathLst>
        </a:custGeom>
        <a:no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3139792" y="2721927"/>
        <a:ext cx="82123" cy="82123"/>
      </dsp:txXfrm>
    </dsp:sp>
    <dsp:sp modelId="{37AA57FA-6512-49C5-850D-0B5DBF1B5B11}">
      <dsp:nvSpPr>
        <dsp:cNvPr id="0" name=""/>
        <dsp:cNvSpPr/>
      </dsp:nvSpPr>
      <dsp:spPr>
        <a:xfrm>
          <a:off x="3556000" y="3271132"/>
          <a:ext cx="2539999" cy="444804"/>
        </a:xfrm>
        <a:prstGeom prst="roundRect">
          <a:avLst>
            <a:gd name="adj" fmla="val 10000"/>
          </a:avLst>
        </a:prstGeom>
        <a:solidFill>
          <a:schemeClr val="bg1">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 múltiple</a:t>
          </a:r>
        </a:p>
      </dsp:txBody>
      <dsp:txXfrm>
        <a:off x="3569028" y="3284160"/>
        <a:ext cx="2513943" cy="4187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63F1C-B98A-40D4-8C23-89D708C42104}">
      <dsp:nvSpPr>
        <dsp:cNvPr id="0" name=""/>
        <dsp:cNvSpPr/>
      </dsp:nvSpPr>
      <dsp:spPr>
        <a:xfrm>
          <a:off x="0" y="1747437"/>
          <a:ext cx="2408769" cy="1033899"/>
        </a:xfrm>
        <a:prstGeom prst="roundRect">
          <a:avLst>
            <a:gd name="adj" fmla="val 1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CO" sz="2800" b="1" kern="1200" dirty="0">
              <a:latin typeface="+mn-lt"/>
            </a:rPr>
            <a:t>Problema</a:t>
          </a:r>
          <a:endParaRPr lang="es-ES" sz="3400" b="1" kern="1200" dirty="0">
            <a:latin typeface="+mn-lt"/>
          </a:endParaRPr>
        </a:p>
      </dsp:txBody>
      <dsp:txXfrm>
        <a:off x="30282" y="1777719"/>
        <a:ext cx="2348205" cy="973335"/>
      </dsp:txXfrm>
    </dsp:sp>
    <dsp:sp modelId="{13C10B4D-E7D7-41D0-B59F-1FA9CE87B815}">
      <dsp:nvSpPr>
        <dsp:cNvPr id="0" name=""/>
        <dsp:cNvSpPr/>
      </dsp:nvSpPr>
      <dsp:spPr>
        <a:xfrm rot="17364788">
          <a:off x="1750022" y="1317754"/>
          <a:ext cx="1973411" cy="32048"/>
        </a:xfrm>
        <a:custGeom>
          <a:avLst/>
          <a:gdLst/>
          <a:ahLst/>
          <a:cxnLst/>
          <a:rect l="0" t="0" r="0" b="0"/>
          <a:pathLst>
            <a:path>
              <a:moveTo>
                <a:pt x="0" y="16024"/>
              </a:moveTo>
              <a:lnTo>
                <a:pt x="1973411" y="16024"/>
              </a:lnTo>
            </a:path>
          </a:pathLst>
        </a:custGeom>
        <a:noFill/>
        <a:ln w="28575"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ES" sz="700" kern="1200"/>
        </a:p>
      </dsp:txBody>
      <dsp:txXfrm>
        <a:off x="2687393" y="1284443"/>
        <a:ext cx="98670" cy="98670"/>
      </dsp:txXfrm>
    </dsp:sp>
    <dsp:sp modelId="{4B35AC99-90E7-4B60-9BD5-0A6380EA6925}">
      <dsp:nvSpPr>
        <dsp:cNvPr id="0" name=""/>
        <dsp:cNvSpPr/>
      </dsp:nvSpPr>
      <dsp:spPr>
        <a:xfrm>
          <a:off x="3064687" y="0"/>
          <a:ext cx="3560048" cy="806342"/>
        </a:xfrm>
        <a:prstGeom prst="roundRect">
          <a:avLst>
            <a:gd name="adj" fmla="val 10000"/>
          </a:avLst>
        </a:prstGeom>
        <a:solidFill>
          <a:schemeClr val="bg1">
            <a:lumMod val="8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solidFill>
                <a:schemeClr val="tx1"/>
              </a:solidFill>
              <a:latin typeface="+mn-lt"/>
            </a:rPr>
            <a:t>Numero conocido de iteraciones</a:t>
          </a:r>
          <a:endParaRPr lang="es-ES" sz="2000" b="1" kern="1200" dirty="0">
            <a:solidFill>
              <a:schemeClr val="tx1"/>
            </a:solidFill>
            <a:latin typeface="+mn-lt"/>
          </a:endParaRPr>
        </a:p>
      </dsp:txBody>
      <dsp:txXfrm>
        <a:off x="3088304" y="23617"/>
        <a:ext cx="3512814" cy="759108"/>
      </dsp:txXfrm>
    </dsp:sp>
    <dsp:sp modelId="{4CF9CF75-922A-4092-844D-244E2182771F}">
      <dsp:nvSpPr>
        <dsp:cNvPr id="0" name=""/>
        <dsp:cNvSpPr/>
      </dsp:nvSpPr>
      <dsp:spPr>
        <a:xfrm rot="4195919">
          <a:off x="1757973" y="3178971"/>
          <a:ext cx="1981522" cy="32048"/>
        </a:xfrm>
        <a:custGeom>
          <a:avLst/>
          <a:gdLst/>
          <a:ahLst/>
          <a:cxnLst/>
          <a:rect l="0" t="0" r="0" b="0"/>
          <a:pathLst>
            <a:path>
              <a:moveTo>
                <a:pt x="0" y="16024"/>
              </a:moveTo>
              <a:lnTo>
                <a:pt x="1981522" y="16024"/>
              </a:lnTo>
            </a:path>
          </a:pathLst>
        </a:custGeom>
        <a:noFill/>
        <a:ln w="28575"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ES" sz="700" kern="1200"/>
        </a:p>
      </dsp:txBody>
      <dsp:txXfrm>
        <a:off x="2699196" y="3145457"/>
        <a:ext cx="99076" cy="99076"/>
      </dsp:txXfrm>
    </dsp:sp>
    <dsp:sp modelId="{B7CF549A-50DC-430C-A2CF-5E73F102D3D6}">
      <dsp:nvSpPr>
        <dsp:cNvPr id="0" name=""/>
        <dsp:cNvSpPr/>
      </dsp:nvSpPr>
      <dsp:spPr>
        <a:xfrm>
          <a:off x="3088700" y="3722432"/>
          <a:ext cx="3536035" cy="806342"/>
        </a:xfrm>
        <a:prstGeom prst="roundRect">
          <a:avLst>
            <a:gd name="adj" fmla="val 10000"/>
          </a:avLst>
        </a:prstGeom>
        <a:solidFill>
          <a:schemeClr val="bg1">
            <a:lumMod val="8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b="1" kern="1200" dirty="0">
              <a:solidFill>
                <a:schemeClr val="tx1"/>
              </a:solidFill>
              <a:latin typeface="+mn-lt"/>
            </a:rPr>
            <a:t>Numero desconocido de iteraciones</a:t>
          </a:r>
          <a:endParaRPr lang="es-ES" sz="1800" b="1" kern="1200" dirty="0">
            <a:solidFill>
              <a:schemeClr val="tx1"/>
            </a:solidFill>
            <a:latin typeface="+mn-lt"/>
          </a:endParaRPr>
        </a:p>
      </dsp:txBody>
      <dsp:txXfrm>
        <a:off x="3112317" y="3746049"/>
        <a:ext cx="3488801" cy="75910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943A3E-55B9-4706-BA6E-9364B5247742}" type="datetimeFigureOut">
              <a:rPr lang="es-CO" smtClean="0"/>
              <a:t>18/09/2026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8B099-0CC4-41E8-A6BF-D10E445BFF74}" type="slidenum">
              <a:rPr lang="es-CO" smtClean="0"/>
              <a:t>‹Nº›</a:t>
            </a:fld>
            <a:endParaRPr lang="es-CO"/>
          </a:p>
        </p:txBody>
      </p:sp>
    </p:spTree>
    <p:extLst>
      <p:ext uri="{BB962C8B-B14F-4D97-AF65-F5344CB8AC3E}">
        <p14:creationId xmlns:p14="http://schemas.microsoft.com/office/powerpoint/2010/main" val="1715684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FAE389-1891-4C1C-AE7B-96446A92669F}" type="datetime1">
              <a:rPr lang="es-CO" smtClean="0"/>
              <a:t>18/09/2026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13662088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197211-2E02-4E34-9D1C-742DBBA2E713}" type="datetime1">
              <a:rPr lang="es-CO" smtClean="0"/>
              <a:t>18/09/2026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51991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84A16AA-8F92-4F8D-9FF5-AE4F5F025475}" type="datetime1">
              <a:rPr lang="es-CO" smtClean="0"/>
              <a:t>18/09/2026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32149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A2889A-C4A3-4C6C-A514-E9566A95FF0B}" type="datetime1">
              <a:rPr lang="es-CO" smtClean="0"/>
              <a:t>18/09/2026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03131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FC549B8-F78E-4015-8DD3-99AC842EEF5C}" type="datetime1">
              <a:rPr lang="es-CO" smtClean="0"/>
              <a:t>18/09/2026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7385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8FAE389-1891-4C1C-AE7B-96446A92669F}" type="datetime1">
              <a:rPr lang="es-CO" smtClean="0"/>
              <a:t>18/09/2026</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20851051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75FDE-4F9B-4FF4-9D4F-6D3ED15F62CE}" type="datetime1">
              <a:rPr lang="es-CO" smtClean="0"/>
              <a:t>18/09/2026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72683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F392FA-6414-43D4-857F-1D16849F2AFB}" type="datetime1">
              <a:rPr lang="es-CO" smtClean="0"/>
              <a:t>18/09/2026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308845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2F1ADB1-43E6-4CC5-8BA6-A3F5A7E6EF55}" type="datetime1">
              <a:rPr lang="es-CO" smtClean="0"/>
              <a:t>18/09/2026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1530639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9921E5-6957-4C84-BD80-156D13F58C59}" type="datetime1">
              <a:rPr lang="es-CO" smtClean="0"/>
              <a:t>18/09/2026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77121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7BB61D7-E979-4A0B-B106-A9203ABD6AA5}" type="datetime1">
              <a:rPr lang="es-CO" smtClean="0"/>
              <a:t>18/09/2026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222539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dirty="0"/>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BC197211-2E02-4E34-9D1C-742DBBA2E713}" type="datetime1">
              <a:rPr lang="es-CO" smtClean="0"/>
              <a:t>18/09/2026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86410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AE389-1891-4C1C-AE7B-96446A92669F}" type="datetime1">
              <a:rPr lang="es-CO" smtClean="0"/>
              <a:t>18/09/2026</a:t>
            </a:fld>
            <a:endParaRPr lang="es-CO"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414347453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65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makecode.microbit.org/courses/csintro/conditionals/overview"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8.png"/><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s://es.wikipedia.org/wiki/A%C3%B1o_bisiesto"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pythontutor.com/visualize.html#code=%23%20Inicializacion%0Aflag_bisiesto%20%3D%200%0A%0A%23%20Entradas%0Ayear%20%3D%20int%28input%28%22Digite%20el%20a%C3%B1o%3A%20%22%29%29%0A%0A%23%20Proceso%0Aif%28year%25400%20%3D%3D%200%29%3A%0A%20%20%20%20flag_bisiesto%20%3D%201%0Aelse%3A%0A%20%20%20%20if%28year%25100%20%3D%3D%200%29%3A%0A%20%20%20%20%20%20%20%20if%28year%254%20%3D%3D%200%29%3A%0A%20%20%20%20%20%20%20%20%20%20%20%20flag_bisiesto%20%3D%201%0A%20%20%20%20%20%20%20%20%0A%23%20Salida%0Aif%20%28flag_bisiesto%20%3D%3D%201%29%3A%0A%20%20%20%20print%28f%22%7Byear%7D%20es%20bisiesto%22%29%0Aelse%3A%0A%20%20%20%20print%28f%22%7Byear%7D%20no%20es%20bisiesto%22%29&amp;curInstr=0&amp;mode=display&amp;origin=opt-frontend.js&amp;py=31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pythontutor.com/visualize.html#code=%23%20Entradas%0Ayear%20%3D%20int%28input%28%22Digite%20el%20a%C3%B1o%3A%20%22%29%29%0A%0A%23%20Proceso%20y%20salida%0Aif%28%28year%254%20%3D%3D%200%29%20and%20%0A%20%20%20%28year%25100%20!%3D%200%29%20or%20%28year%25400%20%3D%3D%200%29%29%3A%0A%20%20%20%20print%28year,%20%22es%20bisiesto%22%29%0Aelse%3A%0A%20%20%20%20print%28year,%20%22no%20es%20bisiesto%22%29&amp;curInstr=0&amp;mode=display&amp;origin=opt-frontend.js&amp;py=311"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pythontutor.com/visualize.html#code=N%20%3D%2010%0Ai%20%3D%201%0Awhile%20i%20%3C%3D%20N%3A%0A%20%20print%28i%29%0A%20%20i%20%3D%20i%20%2B%201&amp;curInstr=0&amp;mode=display&amp;origin=opt-frontend.js&amp;py=311"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pythontutor.com/visualize.html#code=num%20%3D%201%0Asuma%20%3D%200%0AN%20%3D%20int%28input%28'Ingrese%20la%20candidad%20de%20n%C3%BAmeros%20a%20sumar%3A%20'%29%29%0Awhile%20num%20%3C%3D%20N%3A%0A%20%20suma%20%3D%20suma%20%2B%20num%0A%20%20num%20%3D%20num%20%2B%201%0Aprint%28f%22La%20suma%20de%20los%20%7BN%7D%20primeros%20n%C3%BAmeros%20da%20%7Bsuma%7D%22%29%0A&amp;curInstr=0&amp;mode=display&amp;origin=opt-frontend.js&amp;py=311"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jpe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pythontutor.com/visualize.html#code=i%20%3D%201%0Afact%20%3D%201%0An%20%3D%20int%28input%28'Digite%20el%20numero%20%28%3E%3D%200%29%3A%20'%29%29%0Awhile%20i%20%3C%3D%20n%3A%0A%20%20fact%20%3D%20fact%20*%20i%0A%20%20i%20%3D%20i%20%2B%201%0Aprint%28f%22%7Bn%7D!%20%3D%20%7Bfact%7D%22%29%0A&amp;curInstr=0&amp;mode=display&amp;origin=opt-frontend.js&amp;py=311"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pythontutor.com/visualize.html#code=%23%20Inicializacion%0A%0Aflag_negativo%20%3D%200%20%23%20Bandera%20%280%20%3D%20positivo,%201%20%3D%20negativo%29%0A%0A%23%20Entrada%20de%20datos%0An%20%3D%20int%28input%28'Ingrese%20un%20n%C3%BAmero%20entero%20positivo%3A%20'%29%29%0Ai%20%3D%20n%20%20%20%23%20Iniciacion%20de%20la%20variable%20de%20control%20i%20%28contador%29%0A%0A%23%20Proceso%20y%20salida%20%28Impresion%20de%20la%20secuencia%20de%20n%C3%BAmeros%20enteros%20positivos%20y%20negativos%29%0Awhile%20i%20%3E%200%3A%0A%20%20%20%20%23%20Condicional%20para%20alternar%20el%20signo%0A%20%20%20%20if%20flag_negativo%20%3D%3D%201%3A%0A%20%20%20%20%20%20%20%20%23%20Numero%20negativo%0A%20%20%20%20%20%20%20%20num%20%3D%20-i%0A%20%20%20%20%20%20%20%20flag_negativo%20%3D%200%0A%20%20%20%20else%3A%0A%20%20%20%20%20%20%20%20%23%20Numero%20positivo%0A%20%20%20%20%20%20%20%20num%20%3D%20i%0A%20%20%20%20%20%20%20%20flag_negativo%20%3D%201%0A%20%20%20%20print%28num,%20end%20%3D%20'%20'%29%20%23%20Se%20imprime%20el%20numero%0A%20%20%20%20i%20%3D%20i%20-%201%20%20%23%20Actualizacion%20de%20la%20variable%20de%20control%0A&amp;curInstr=0&amp;mode=display&amp;origin=opt-frontend.js&amp;py=311"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pythontutor.com/visualize.html#code=%23%20Inicializacion%0A%0Aflag_negativo%20%3D%200%20%23%20Bandera%20%280%20%3D%20positivo,%201%20%3D%20negativo%29%0A%0A%23%20Entrada%20de%20datos%0An%20%3D%20int%28input%28'Ingrese%20un%20n%C3%BAmero%20entero%20positivo%3A%20'%29%29%0Anum%20%3D%20n%20%20%20%23%20Iniciacion%20de%20la%20variable%20de%20control%20num%20%28contador%29%0A%0A%23%20Proceso%20y%20salida%20%28Impresion%20de%20la%20secuencia%20de%20n%C3%BAmeros%20enteros%20positivos%20y%20negativos%29%0Awhile%20num%20%3E%200%3A%0A%20%20%20%20%23%20Condicional%20para%20alternar%20el%20signo%0A%20%20%20%20if%20flag_negativo%20%3D%3D%201%3A%20%20%20%20%20%20%20%20%0A%20%20%20%20%20%20%20%20print%28-num,%20end%20%3D%20'%20'%29%20%20%23%20Se%20imprime%20el%20numero%20negativo%0A%20%20%20%20%20%20%20%20flag_negativo%20%3D%200%0A%20%20%20%20else%3A%20%20%20%20%20%20%20%20%0A%20%20%20%20%20%20%20%20print%28num,%20end%20%3D%20'%20'%29%20%20%20%23%20Se%20imprime%20el%20numero%20positivo%0A%20%20%20%20%20%20%20%20flag_negativo%20%3D%201%20%20%20%20%20%20%0A%20%20%20%20num%20%3D%20num%20-%201%20%20%20%20%20%20%20%20%20%20%20%20%20%20%20%23%20Actualizacion%20de%20la%20variable%20de%20control%0A&amp;curInstr=0&amp;mode=display&amp;origin=opt-frontend.js&amp;py=311" TargetMode="External"/><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pythontutor.com/visualize.html#code=%23%20Inicializacion%0A%0Aflag_negativo%20%3D%20False%20%23%20Bandera%20%28False%20%3D%20positivo,%20True%20%3D%20negativo%29%0A%0A%23%20Entrada%20de%20datos%0An%20%3D%20int%28input%28'Ingrese%20un%20n%C3%BAmero%20entero%20positivo%3A%20'%29%29%0Anum%20%3D%20n%20%20%20%23%20Iniciacion%20de%20la%20variable%20de%20control%20num%20%28contador%29%0A%0A%23%20Proceso%20y%20salida%20%28Impresion%20de%20la%20secuencia%20de%20n%C3%BAmeros%20enteros%20positivos%20y%20negativos%29%0Awhile%20num%20%3E%200%3A%0A%20%20%20%20%23%20Condicional%20para%20alternar%20el%20signo%0A%20%20%20%20if%20flag_negativo%20%3D%3D%20True%3A%20%20%20%20%20%20%20%20%0A%20%20%20%20%20%20%20%20print%28-num,%20end%20%3D%20'%20'%29%20%20%23%20Se%20imprime%20el%20numero%20negativo%0A%20%20%20%20else%3A%20%20%20%20%20%20%20%20%0A%20%20%20%20%20%20%20%20print%28num,%20end%20%3D%20'%20'%29%20%20%20%23%20Se%20imprime%20el%20numero%20positivo%0A%0A%20%20%20%20flag_negativo%20%3D%20not%28flag_negativo%29%20%20%23%20Alternar%20el%20valor%20de%20la%20bandera%0A%20%20%20%20num%20%3D%20num%20-%201%20%20%20%20%20%20%20%20%20%20%20%20%20%20%20%20%20%20%20%20%20%20%20%23%20Actualizacion%20de%20la%20variable%20de%20control%0A&amp;curInstr=0&amp;mode=display&amp;origin=opt-frontend.js&amp;py=311" TargetMode="External"/><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pythontutor.com/visualize.html#code=%23%20Inicializacion%0A%0Ai%20%3D%200%20%23%20Contador%20%28empleado%20como%20exponente%29%0A%0A%23%20Entrada%20de%20datos%0An%20%3D%20int%28input%28'Ingrese%20un%20n%C3%BAmero%20entero%20positivo%3A%20'%29%29%0Anum%20%3D%20n%20%20%20%23%20Iniciacion%20de%20la%20variable%20de%20control%20num%20%28contador%29%0A%0A%23%20Proceso%20y%20salida%20%28Impresion%20de%20la%20secuencia%20de%20n%C3%BAmeros%20enteros%20positivos%20y%20negativos%29%0Awhile%20num%20%3E%200%3A%0A%20%20%20%20print%28%28-1%29**i*num,%20end%20%3D%20'%20'%29%20%20%20%23%20Se%20imprime%20el%20numero%0A%20%20%20%20i%20%3D%20i%20%2B%201%20%20%20%20%20%20%20%20%20%20%20%20%20%20%20%20%20%20%20%20%20%20%20%23%20Actualizacion%20del%20contador%20%28exponente%29%20%20%0A%20%20%20%20num%20%3D%20num%20-%201%20%20%20%20%20%20%20%20%20%20%20%20%20%20%20%20%20%20%20%23%20Actualizacion%20de%20la%20variable%20de%20control&amp;curInstr=0&amp;mode=display&amp;origin=opt-frontend.js&amp;py=311" TargetMode="External"/><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51.png"/><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pythontutor.com/visualize.html#code=VALOR_BUSCADO%20%3D%200%0Aencontrado%20%3D%20False%0Ai%20%3D%200%0A%0AN%20%3D%20int%28input%28'Ingrese%20el%20n%C3%BAmero%20de%20n%C3%BAmeros%3A%20'%29%29%0Awhile%20%28i%20%3C%20N%29%3A%0A%20%20%20%20i%20%2B%3D%201%20%20%20%23%20i%20%3D%20i%20%2B%201%0A%20%20%20%20num%20%3D%20int%28input%28f'Ingrese%20el%20n%C3%BAmero%20%7Bi%7D%3A%20'%29%29%20%20%20%20%0A%20%20%20%20if%20num%20%3D%3D%20VALOR_BUSCADO%3A%0A%20%20%20%20%20%20%20%20encontrado%20%3D%20True%20%20%20%20%20%20%20%20%0A%20%20%20%20%20%20%20%20break%20%20%23%20Instrucci%C3%B3n%20de%20ruptura%0A%0Aif%20encontrado%3A%0A%20%20%20%20print%28str%28VALOR_BUSCADO%29%20%2B%20%20%0A%20%20%20%20%20%20%20%20%20%20%22%20encontrado%20en%20la%20posici%C3%B3n%20%22%20%2B%20%20%0A%20%20%20%20%20%20%20%20%20%20str%28i%29%29%0Aelse%3A%0A%20%20%20%20print%28str%28VALOR_BUSCADO%29%20%2B%20%22%20no%20encontrado%22%29%0A%0A&amp;curInstr=0&amp;mode=display&amp;origin=opt-frontend.js&amp;py=311" TargetMode="External"/><Relationship Id="rId2" Type="http://schemas.openxmlformats.org/officeDocument/2006/relationships/hyperlink" Target="https://pythontutor.com/visualize.html#code=VALOR_BUSCADO%20%3D%200%0Aencontrado%20%3D%20False%0Ai%20%3D%200%0A%0AN%20%3D%20int%28input%28'Ingrese%20el%20n%C3%BAmero%20de%20n%C3%BAmeros%3A%20'%29%29%0Awhile%20%28%28i%20%3C%20N%29%20and%20%28not%28encontrado%29%29%29%3A%0A%20%20%20%20i%20%2B%3D%201%20%20%20%23%20i%20%3D%20i%20%2B%201%0A%20%20%20%20num%20%3D%20int%28input%28f'Ingrese%20el%20n%C3%BAmero%20%7Bi%7D%3A%20'%29%29%20%20%20%20%0A%20%20%20%20if%20num%20%3D%3D%20VALOR_BUSCADO%3A%0A%20%20%20%20%20%20%20%20encontrado%20%3D%20True%20%20%20%20%20%20%20%20%0A%0Aif%20encontrado%3A%0A%20%20%20%20print%28str%28VALOR_BUSCADO%29%20%2B%20%20%0A%20%20%20%20%20%20%20%20%20%20%22%20encontrado%20en%20la%20posici%C3%B3n%20%22%20%20%2B%0A%20%20%20%20%20%20%20%20%20%20str%28i%29%29%0Aelse%3A%0A%20%20%20%20print%28str%28VALOR_BUSCADO%29%20%2B%20%22%20no%20encontrado%22%29%0A&amp;curInstr=0&amp;mode=display&amp;origin=opt-frontend.js&amp;py=311"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hyperlink" Target="https://realpython.com/python-conditional-statements/" TargetMode="External"/><Relationship Id="rId13" Type="http://schemas.openxmlformats.org/officeDocument/2006/relationships/hyperlink" Target="https://realpython.com/ref/keywords/while/" TargetMode="External"/><Relationship Id="rId3" Type="http://schemas.openxmlformats.org/officeDocument/2006/relationships/hyperlink" Target="https://www.w3resource.com/index.php" TargetMode="External"/><Relationship Id="rId7" Type="http://schemas.openxmlformats.org/officeDocument/2006/relationships/hyperlink" Target="https://realpython.com/cheatsheets/python/" TargetMode="External"/><Relationship Id="rId12" Type="http://schemas.openxmlformats.org/officeDocument/2006/relationships/hyperlink" Target="https://realpython.com/python-while-loop/" TargetMode="External"/><Relationship Id="rId2" Type="http://schemas.openxmlformats.org/officeDocument/2006/relationships/hyperlink" Target="https://ellibrodepython.com/" TargetMode="External"/><Relationship Id="rId1" Type="http://schemas.openxmlformats.org/officeDocument/2006/relationships/slideLayout" Target="../slideLayouts/slideLayout2.xml"/><Relationship Id="rId6" Type="http://schemas.openxmlformats.org/officeDocument/2006/relationships/hyperlink" Target="https://python-course.eu/" TargetMode="External"/><Relationship Id="rId11" Type="http://schemas.openxmlformats.org/officeDocument/2006/relationships/hyperlink" Target="https://makecode.microbit.org/courses" TargetMode="External"/><Relationship Id="rId5" Type="http://schemas.openxmlformats.org/officeDocument/2006/relationships/hyperlink" Target="https://curriculumresources.edu.gh/wp-content/uploads/2025/01/" TargetMode="External"/><Relationship Id="rId10" Type="http://schemas.openxmlformats.org/officeDocument/2006/relationships/hyperlink" Target="https://makecode.microbit.org/courses/csintro" TargetMode="External"/><Relationship Id="rId4" Type="http://schemas.openxmlformats.org/officeDocument/2006/relationships/hyperlink" Target="https://realpython.com/" TargetMode="External"/><Relationship Id="rId9" Type="http://schemas.openxmlformats.org/officeDocument/2006/relationships/hyperlink" Target="https://realpython.com/ref/best-practices/conditionals/" TargetMode="External"/></Relationships>
</file>

<file path=ppt/slides/_rels/slide9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5909BB-6F92-48BA-A875-99E15D2253EC}"/>
              </a:ext>
            </a:extLst>
          </p:cNvPr>
          <p:cNvSpPr>
            <a:spLocks noGrp="1"/>
          </p:cNvSpPr>
          <p:nvPr>
            <p:ph type="ctrTitle"/>
          </p:nvPr>
        </p:nvSpPr>
        <p:spPr>
          <a:xfrm>
            <a:off x="323528" y="1122363"/>
            <a:ext cx="8568952" cy="2387600"/>
          </a:xfrm>
        </p:spPr>
        <p:txBody>
          <a:bodyPr/>
          <a:lstStyle/>
          <a:p>
            <a:r>
              <a:rPr lang="es-CO" dirty="0"/>
              <a:t>Lógica y Representación 1</a:t>
            </a:r>
          </a:p>
        </p:txBody>
      </p:sp>
      <p:sp>
        <p:nvSpPr>
          <p:cNvPr id="3" name="Subtítulo 2">
            <a:extLst>
              <a:ext uri="{FF2B5EF4-FFF2-40B4-BE49-F238E27FC236}">
                <a16:creationId xmlns:a16="http://schemas.microsoft.com/office/drawing/2014/main" id="{8A9999BC-7CCA-4677-B2C4-E913A7AA1FC0}"/>
              </a:ext>
            </a:extLst>
          </p:cNvPr>
          <p:cNvSpPr>
            <a:spLocks noGrp="1"/>
          </p:cNvSpPr>
          <p:nvPr>
            <p:ph type="subTitle" idx="1"/>
          </p:nvPr>
        </p:nvSpPr>
        <p:spPr/>
        <p:txBody>
          <a:bodyPr>
            <a:normAutofit/>
          </a:bodyPr>
          <a:lstStyle/>
          <a:p>
            <a:r>
              <a:rPr lang="es-CO" sz="3200" b="1" dirty="0"/>
              <a:t>Ciclos</a:t>
            </a:r>
          </a:p>
          <a:p>
            <a:r>
              <a:rPr lang="es-CO" dirty="0"/>
              <a:t>Ingeniería de Sistemas</a:t>
            </a:r>
          </a:p>
          <a:p>
            <a:r>
              <a:rPr lang="es-CO" dirty="0"/>
              <a:t>Universidad de Antioquia</a:t>
            </a:r>
          </a:p>
        </p:txBody>
      </p:sp>
    </p:spTree>
    <p:extLst>
      <p:ext uri="{BB962C8B-B14F-4D97-AF65-F5344CB8AC3E}">
        <p14:creationId xmlns:p14="http://schemas.microsoft.com/office/powerpoint/2010/main" val="77409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188640"/>
            <a:ext cx="8263830" cy="845334"/>
          </a:xfrm>
        </p:spPr>
        <p:txBody>
          <a:bodyPr>
            <a:normAutofit/>
          </a:bodyPr>
          <a:lstStyle/>
          <a:p>
            <a:r>
              <a:rPr lang="es-CO" sz="4000" dirty="0"/>
              <a:t>Método de Polya - Resumen</a:t>
            </a:r>
            <a:endParaRPr lang="en-US" sz="4000" dirty="0"/>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3245553215"/>
              </p:ext>
            </p:extLst>
          </p:nvPr>
        </p:nvGraphicFramePr>
        <p:xfrm>
          <a:off x="3059832" y="4221088"/>
          <a:ext cx="5616624" cy="2363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4404101"/>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E6732E42-F6E4-4E10-A20E-82A4BE9E85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016" y="1223168"/>
            <a:ext cx="3214687"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a:extLst>
              <a:ext uri="{FF2B5EF4-FFF2-40B4-BE49-F238E27FC236}">
                <a16:creationId xmlns:a16="http://schemas.microsoft.com/office/drawing/2014/main" id="{5899AD60-028E-47EE-844F-916EBA585E1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3811" y="1248925"/>
            <a:ext cx="2857500"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17 Flecha abajo">
            <a:extLst>
              <a:ext uri="{FF2B5EF4-FFF2-40B4-BE49-F238E27FC236}">
                <a16:creationId xmlns:a16="http://schemas.microsoft.com/office/drawing/2014/main" id="{656E38FA-A37E-460A-AF17-E0C304C611BF}"/>
              </a:ext>
            </a:extLst>
          </p:cNvPr>
          <p:cNvSpPr/>
          <p:nvPr/>
        </p:nvSpPr>
        <p:spPr>
          <a:xfrm rot="16200000">
            <a:off x="4400922" y="1973262"/>
            <a:ext cx="322262" cy="96520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CO"/>
          </a:p>
        </p:txBody>
      </p:sp>
      <p:sp>
        <p:nvSpPr>
          <p:cNvPr id="11" name="18 CuadroTexto">
            <a:extLst>
              <a:ext uri="{FF2B5EF4-FFF2-40B4-BE49-F238E27FC236}">
                <a16:creationId xmlns:a16="http://schemas.microsoft.com/office/drawing/2014/main" id="{B82BDCE9-7A82-42E8-98CF-353D30A777C0}"/>
              </a:ext>
            </a:extLst>
          </p:cNvPr>
          <p:cNvSpPr txBox="1"/>
          <p:nvPr/>
        </p:nvSpPr>
        <p:spPr>
          <a:xfrm>
            <a:off x="611560" y="3789040"/>
            <a:ext cx="3214688" cy="400110"/>
          </a:xfrm>
          <a:prstGeom prst="rect">
            <a:avLst/>
          </a:prstGeom>
          <a:noFill/>
        </p:spPr>
        <p:txBody>
          <a:bodyPr>
            <a:spAutoFit/>
          </a:bodyPr>
          <a:lstStyle/>
          <a:p>
            <a:pPr algn="ctr" fontAlgn="auto">
              <a:spcBef>
                <a:spcPts val="0"/>
              </a:spcBef>
              <a:spcAft>
                <a:spcPts val="0"/>
              </a:spcAft>
              <a:defRPr/>
            </a:pPr>
            <a:r>
              <a:rPr lang="es-CO" sz="2000" b="1" dirty="0"/>
              <a:t>PROBLEMA</a:t>
            </a:r>
            <a:endParaRPr lang="es-ES" sz="2000" dirty="0"/>
          </a:p>
        </p:txBody>
      </p:sp>
      <p:sp>
        <p:nvSpPr>
          <p:cNvPr id="12" name="19 CuadroTexto">
            <a:extLst>
              <a:ext uri="{FF2B5EF4-FFF2-40B4-BE49-F238E27FC236}">
                <a16:creationId xmlns:a16="http://schemas.microsoft.com/office/drawing/2014/main" id="{BFFC459E-C4D6-4371-ADA9-FB0FF4281118}"/>
              </a:ext>
            </a:extLst>
          </p:cNvPr>
          <p:cNvSpPr txBox="1"/>
          <p:nvPr/>
        </p:nvSpPr>
        <p:spPr>
          <a:xfrm>
            <a:off x="5148064" y="3752849"/>
            <a:ext cx="3214687" cy="400110"/>
          </a:xfrm>
          <a:prstGeom prst="rect">
            <a:avLst/>
          </a:prstGeom>
          <a:noFill/>
        </p:spPr>
        <p:txBody>
          <a:bodyPr>
            <a:spAutoFit/>
          </a:bodyPr>
          <a:lstStyle/>
          <a:p>
            <a:pPr algn="ctr" fontAlgn="auto">
              <a:spcBef>
                <a:spcPts val="0"/>
              </a:spcBef>
              <a:spcAft>
                <a:spcPts val="0"/>
              </a:spcAft>
              <a:defRPr/>
            </a:pPr>
            <a:r>
              <a:rPr lang="es-CO" sz="2000" b="1" dirty="0"/>
              <a:t>ALGORITMO</a:t>
            </a:r>
            <a:endParaRPr lang="es-ES" dirty="0"/>
          </a:p>
        </p:txBody>
      </p:sp>
    </p:spTree>
    <p:extLst>
      <p:ext uri="{BB962C8B-B14F-4D97-AF65-F5344CB8AC3E}">
        <p14:creationId xmlns:p14="http://schemas.microsoft.com/office/powerpoint/2010/main" val="3058404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467543" y="207926"/>
            <a:ext cx="7939037" cy="986803"/>
          </a:xfrm>
        </p:spPr>
        <p:txBody>
          <a:bodyPr/>
          <a:lstStyle/>
          <a:p>
            <a:r>
              <a:rPr lang="es-CO" sz="3200" dirty="0"/>
              <a:t>Entrada, procesamiento y salida</a:t>
            </a:r>
          </a:p>
        </p:txBody>
      </p:sp>
      <p:sp>
        <p:nvSpPr>
          <p:cNvPr id="2" name="1 Marcador de contenido"/>
          <p:cNvSpPr>
            <a:spLocks noGrp="1"/>
          </p:cNvSpPr>
          <p:nvPr>
            <p:ph idx="1"/>
          </p:nvPr>
        </p:nvSpPr>
        <p:spPr>
          <a:xfrm>
            <a:off x="435471" y="1238602"/>
            <a:ext cx="7886700" cy="1729296"/>
          </a:xfrm>
        </p:spPr>
        <p:txBody>
          <a:bodyPr>
            <a:normAutofit/>
          </a:bodyPr>
          <a:lstStyle/>
          <a:p>
            <a:pPr marL="0" indent="0">
              <a:buNone/>
            </a:pPr>
            <a:r>
              <a:rPr lang="es-MX" sz="2200" dirty="0"/>
              <a:t>Los programas de computadora realizan estos tres pasos:  </a:t>
            </a:r>
          </a:p>
          <a:p>
            <a:pPr marL="457200" indent="-457200">
              <a:buFont typeface="+mj-lt"/>
              <a:buAutoNum type="arabicPeriod"/>
            </a:pPr>
            <a:r>
              <a:rPr lang="es-MX" sz="2000" dirty="0"/>
              <a:t>Se recibe la </a:t>
            </a:r>
            <a:r>
              <a:rPr lang="es-MX" sz="2000" b="1" dirty="0"/>
              <a:t>entrada</a:t>
            </a:r>
            <a:r>
              <a:rPr lang="es-MX" sz="2000" dirty="0"/>
              <a:t>.  </a:t>
            </a:r>
          </a:p>
          <a:p>
            <a:pPr marL="457200" indent="-457200">
              <a:buFont typeface="+mj-lt"/>
              <a:buAutoNum type="arabicPeriod"/>
            </a:pPr>
            <a:r>
              <a:rPr lang="es-MX" sz="2000" dirty="0"/>
              <a:t>Se realiza un </a:t>
            </a:r>
            <a:r>
              <a:rPr lang="es-MX" sz="2000" b="1" dirty="0"/>
              <a:t>proceso</a:t>
            </a:r>
            <a:r>
              <a:rPr lang="es-MX" sz="2000" dirty="0"/>
              <a:t> sobre la entrada.  </a:t>
            </a:r>
          </a:p>
          <a:p>
            <a:pPr marL="457200" indent="-457200">
              <a:buFont typeface="+mj-lt"/>
              <a:buAutoNum type="arabicPeriod"/>
            </a:pPr>
            <a:r>
              <a:rPr lang="es-MX" sz="2000" dirty="0"/>
              <a:t>Se genera la </a:t>
            </a:r>
            <a:r>
              <a:rPr lang="es-MX" sz="2000" b="1" dirty="0"/>
              <a:t>salida</a:t>
            </a:r>
            <a:endParaRPr lang="es-CO" sz="2000" b="1" dirty="0"/>
          </a:p>
        </p:txBody>
      </p:sp>
      <p:grpSp>
        <p:nvGrpSpPr>
          <p:cNvPr id="15" name="14 Grupo"/>
          <p:cNvGrpSpPr/>
          <p:nvPr/>
        </p:nvGrpSpPr>
        <p:grpSpPr>
          <a:xfrm>
            <a:off x="1589010" y="4102449"/>
            <a:ext cx="5715000" cy="838200"/>
            <a:chOff x="1676400" y="4495800"/>
            <a:chExt cx="5715000" cy="838200"/>
          </a:xfrm>
        </p:grpSpPr>
        <p:sp>
          <p:nvSpPr>
            <p:cNvPr id="10" name="9 Rectángulo"/>
            <p:cNvSpPr/>
            <p:nvPr/>
          </p:nvSpPr>
          <p:spPr>
            <a:xfrm>
              <a:off x="1676400" y="4648200"/>
              <a:ext cx="1447800" cy="53340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Inputs</a:t>
              </a:r>
              <a:endParaRPr lang="es-CO" b="1" dirty="0">
                <a:solidFill>
                  <a:schemeClr val="tx1">
                    <a:lumMod val="50000"/>
                    <a:lumOff val="50000"/>
                  </a:schemeClr>
                </a:solidFill>
                <a:latin typeface="Consolas" panose="020B0609020204030204" pitchFamily="49" charset="0"/>
              </a:endParaRPr>
            </a:p>
          </p:txBody>
        </p:sp>
        <p:sp>
          <p:nvSpPr>
            <p:cNvPr id="11" name="10 Rectángulo"/>
            <p:cNvSpPr/>
            <p:nvPr/>
          </p:nvSpPr>
          <p:spPr>
            <a:xfrm>
              <a:off x="3810000" y="4495800"/>
              <a:ext cx="1447800"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b="1" dirty="0">
                  <a:latin typeface="Consolas" panose="020B0609020204030204" pitchFamily="49" charset="0"/>
                </a:rPr>
                <a:t>Process</a:t>
              </a:r>
              <a:endParaRPr lang="es-CO" b="1" dirty="0">
                <a:latin typeface="Consolas" panose="020B0609020204030204" pitchFamily="49" charset="0"/>
              </a:endParaRPr>
            </a:p>
          </p:txBody>
        </p:sp>
        <p:sp>
          <p:nvSpPr>
            <p:cNvPr id="12" name="11 Rectángulo"/>
            <p:cNvSpPr/>
            <p:nvPr/>
          </p:nvSpPr>
          <p:spPr>
            <a:xfrm>
              <a:off x="5943600" y="4648200"/>
              <a:ext cx="1447800" cy="53340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Outputs</a:t>
              </a:r>
              <a:endParaRPr lang="es-CO" sz="1600" b="1" dirty="0">
                <a:solidFill>
                  <a:schemeClr val="tx1">
                    <a:lumMod val="50000"/>
                    <a:lumOff val="50000"/>
                  </a:schemeClr>
                </a:solidFill>
                <a:latin typeface="Consolas" panose="020B0609020204030204" pitchFamily="49" charset="0"/>
              </a:endParaRPr>
            </a:p>
          </p:txBody>
        </p:sp>
        <p:sp>
          <p:nvSpPr>
            <p:cNvPr id="13" name="12 Flecha derecha"/>
            <p:cNvSpPr/>
            <p:nvPr/>
          </p:nvSpPr>
          <p:spPr>
            <a:xfrm>
              <a:off x="31242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13 Flecha derecha"/>
            <p:cNvSpPr/>
            <p:nvPr/>
          </p:nvSpPr>
          <p:spPr>
            <a:xfrm>
              <a:off x="52578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6" name="Picture 2" descr="http://www.jegsworks.com/lessons/computerbasics/lesson3/keyboard-white.png">
            <a:extLst>
              <a:ext uri="{FF2B5EF4-FFF2-40B4-BE49-F238E27FC236}">
                <a16:creationId xmlns:a16="http://schemas.microsoft.com/office/drawing/2014/main" id="{CA5F3EB8-A827-4D08-B3D4-BC88856617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0116" y="3256265"/>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http://t2.gstatic.com/images?q=tbn:ANd9GcS51PGLkp34nPs-LewfkgAfjdZsyder21fNGFoRiZ_A6x7txo3e">
            <a:extLst>
              <a:ext uri="{FF2B5EF4-FFF2-40B4-BE49-F238E27FC236}">
                <a16:creationId xmlns:a16="http://schemas.microsoft.com/office/drawing/2014/main" id="{BB2AD59A-355A-4EC4-BD61-76D458710B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9382" y="3198200"/>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AC519BCB-3AA9-4258-9707-83D241823F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3143" y="5159353"/>
            <a:ext cx="1007836" cy="1007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5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116632"/>
            <a:ext cx="8119814" cy="831626"/>
          </a:xfrm>
        </p:spPr>
        <p:txBody>
          <a:bodyPr>
            <a:normAutofit/>
          </a:bodyPr>
          <a:lstStyle/>
          <a:p>
            <a:r>
              <a:rPr lang="es-CO" sz="4000" dirty="0"/>
              <a:t>Tabla resumen</a:t>
            </a:r>
            <a:endParaRPr lang="en-US" sz="40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6" y="980728"/>
            <a:ext cx="7993607" cy="663501"/>
          </a:xfrm>
        </p:spPr>
        <p:txBody>
          <a:bodyPr>
            <a:normAutofit/>
          </a:bodyPr>
          <a:lstStyle/>
          <a:p>
            <a:pPr marL="0" indent="0">
              <a:buNone/>
            </a:pPr>
            <a:r>
              <a:rPr lang="es-MX" sz="2000" dirty="0"/>
              <a:t>La siguiente tabla muestra la representación equivalente de las piezas esenciales para construir código secuencial</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nvGraphicFramePr>
        <p:xfrm>
          <a:off x="466826" y="1700808"/>
          <a:ext cx="7993606" cy="4211320"/>
        </p:xfrm>
        <a:graphic>
          <a:graphicData uri="http://schemas.openxmlformats.org/drawingml/2006/table">
            <a:tbl>
              <a:tblPr firstRow="1" bandRow="1">
                <a:tableStyleId>{5940675A-B579-460E-94D1-54222C63F5DA}</a:tableStyleId>
              </a:tblPr>
              <a:tblGrid>
                <a:gridCol w="1517343">
                  <a:extLst>
                    <a:ext uri="{9D8B030D-6E8A-4147-A177-3AD203B41FA5}">
                      <a16:colId xmlns:a16="http://schemas.microsoft.com/office/drawing/2014/main" val="4002968547"/>
                    </a:ext>
                  </a:extLst>
                </a:gridCol>
                <a:gridCol w="2352911">
                  <a:extLst>
                    <a:ext uri="{9D8B030D-6E8A-4147-A177-3AD203B41FA5}">
                      <a16:colId xmlns:a16="http://schemas.microsoft.com/office/drawing/2014/main" val="2376140116"/>
                    </a:ext>
                  </a:extLst>
                </a:gridCol>
                <a:gridCol w="2061676">
                  <a:extLst>
                    <a:ext uri="{9D8B030D-6E8A-4147-A177-3AD203B41FA5}">
                      <a16:colId xmlns:a16="http://schemas.microsoft.com/office/drawing/2014/main" val="1317388859"/>
                    </a:ext>
                  </a:extLst>
                </a:gridCol>
                <a:gridCol w="2061676">
                  <a:extLst>
                    <a:ext uri="{9D8B030D-6E8A-4147-A177-3AD203B41FA5}">
                      <a16:colId xmlns:a16="http://schemas.microsoft.com/office/drawing/2014/main" val="1620986510"/>
                    </a:ext>
                  </a:extLst>
                </a:gridCol>
              </a:tblGrid>
              <a:tr h="370840">
                <a:tc>
                  <a:txBody>
                    <a:bodyPr/>
                    <a:lstStyle/>
                    <a:p>
                      <a:pPr algn="ctr"/>
                      <a:r>
                        <a:rPr lang="es-CO" b="1" dirty="0"/>
                        <a:t>Tipo</a:t>
                      </a:r>
                    </a:p>
                  </a:txBody>
                  <a:tcPr/>
                </a:tc>
                <a:tc>
                  <a:txBody>
                    <a:bodyPr/>
                    <a:lstStyle/>
                    <a:p>
                      <a:pPr algn="ctr"/>
                      <a:r>
                        <a:rPr lang="es-CO" b="1" dirty="0"/>
                        <a:t>Diagrama de bloques</a:t>
                      </a:r>
                    </a:p>
                  </a:txBody>
                  <a:tcPr/>
                </a:tc>
                <a:tc>
                  <a:txBody>
                    <a:bodyPr/>
                    <a:lstStyle/>
                    <a:p>
                      <a:pPr algn="ctr"/>
                      <a:r>
                        <a:rPr lang="es-CO" b="1" dirty="0"/>
                        <a:t>Pseudocordigo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Python</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tc>
                <a:tc>
                  <a:txBody>
                    <a:bodyPr/>
                    <a:lstStyle/>
                    <a:p>
                      <a:endParaRPr lang="es-CO" dirty="0"/>
                    </a:p>
                    <a:p>
                      <a:endParaRPr lang="es-CO" dirty="0"/>
                    </a:p>
                    <a:p>
                      <a:endParaRPr lang="es-CO" dirty="0"/>
                    </a:p>
                    <a:p>
                      <a:endParaRPr lang="es-CO" dirty="0"/>
                    </a:p>
                  </a:txBody>
                  <a:tcPr/>
                </a:tc>
                <a:tc>
                  <a:txBody>
                    <a:bodyPr/>
                    <a:lstStyle/>
                    <a:p>
                      <a:pPr algn="ctr"/>
                      <a:r>
                        <a:rPr lang="es-CO" sz="1400" dirty="0">
                          <a:latin typeface="Consolas" panose="020B0609020204030204" pitchFamily="49" charset="0"/>
                        </a:rPr>
                        <a:t>Leer(v1,v2,…)</a:t>
                      </a:r>
                    </a:p>
                  </a:txBody>
                  <a:tcPr anchor="ctr"/>
                </a:tc>
                <a:tc>
                  <a:txBody>
                    <a:bodyPr/>
                    <a:lstStyle/>
                    <a:p>
                      <a:pPr algn="ctr"/>
                      <a:r>
                        <a:rPr lang="es-CO" sz="1400" dirty="0">
                          <a:latin typeface="Consolas" panose="020B0609020204030204" pitchFamily="49" charset="0"/>
                        </a:rPr>
                        <a:t>v1 = input(...)</a:t>
                      </a:r>
                    </a:p>
                    <a:p>
                      <a:pPr algn="ctr"/>
                      <a:r>
                        <a:rPr lang="es-CO" sz="1400" dirty="0">
                          <a:latin typeface="Consolas" panose="020B0609020204030204" pitchFamily="49" charset="0"/>
                        </a:rPr>
                        <a:t>v2 = input(...)</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a:latin typeface="Consolas" panose="020B0609020204030204" pitchFamily="49" charset="0"/>
                        </a:rPr>
                        <a:t>Escribir(v1,v2,…)</a:t>
                      </a:r>
                    </a:p>
                    <a:p>
                      <a:pPr algn="ctr"/>
                      <a:endParaRPr lang="es-CO" sz="1400" dirty="0"/>
                    </a:p>
                  </a:txBody>
                  <a:tcPr anchor="ctr"/>
                </a:tc>
                <a:tc>
                  <a:txBody>
                    <a:bodyPr/>
                    <a:lstStyle/>
                    <a:p>
                      <a:pPr algn="ctr"/>
                      <a:r>
                        <a:rPr lang="es-CO" sz="1400" dirty="0">
                          <a:latin typeface="Consolas" panose="020B0609020204030204" pitchFamily="49" charset="0"/>
                        </a:rPr>
                        <a:t>print(v1,v2,…)</a:t>
                      </a:r>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tc>
                <a:tc>
                  <a:txBody>
                    <a:bodyPr/>
                    <a:lstStyle/>
                    <a:p>
                      <a:endParaRPr lang="es-CO" dirty="0"/>
                    </a:p>
                    <a:p>
                      <a:endParaRPr lang="es-CO" dirty="0"/>
                    </a:p>
                    <a:p>
                      <a:endParaRPr lang="es-CO" dirty="0"/>
                    </a:p>
                    <a:p>
                      <a:endParaRPr lang="es-CO" dirty="0"/>
                    </a:p>
                  </a:txBody>
                  <a:tcPr/>
                </a:tc>
                <a:tc>
                  <a:txBody>
                    <a:bodyPr/>
                    <a:lstStyle/>
                    <a:p>
                      <a:pPr algn="ctr"/>
                      <a:endParaRPr lang="es-CO"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a:latin typeface="Consolas" panose="020B0609020204030204" pitchFamily="49" charset="0"/>
                        </a:rPr>
                        <a:t>c = a + b</a:t>
                      </a:r>
                      <a:endParaRPr lang="es-CO" sz="1400" dirty="0"/>
                    </a:p>
                    <a:p>
                      <a:pPr algn="ctr"/>
                      <a:endParaRPr lang="es-CO" sz="1400" dirty="0"/>
                    </a:p>
                  </a:txBody>
                  <a:tcPr anchor="ctr"/>
                </a:tc>
                <a:tc>
                  <a:txBody>
                    <a:bodyPr/>
                    <a:lstStyle/>
                    <a:p>
                      <a:pPr algn="ctr"/>
                      <a:r>
                        <a:rPr lang="es-CO" sz="1400" dirty="0">
                          <a:latin typeface="Consolas" panose="020B0609020204030204" pitchFamily="49" charset="0"/>
                        </a:rPr>
                        <a:t>c = a + b</a:t>
                      </a:r>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2051722" y="2285936"/>
            <a:ext cx="2231500"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051722" y="3654088"/>
            <a:ext cx="2214917"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2461374" y="5019720"/>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c </a:t>
            </a:r>
            <a:r>
              <a:rPr lang="en-US" sz="1200" dirty="0">
                <a:latin typeface="Consolas" panose="020B0609020204030204" pitchFamily="49" charset="0"/>
                <a:sym typeface="Wingdings" panose="05000000000000000000" pitchFamily="2" charset="2"/>
              </a:rPr>
              <a:t> a + b</a:t>
            </a:r>
            <a:r>
              <a:rPr lang="en-US" sz="1200" dirty="0">
                <a:latin typeface="Consolas" panose="020B0609020204030204" pitchFamily="49" charset="0"/>
              </a:rPr>
              <a:t> </a:t>
            </a:r>
          </a:p>
        </p:txBody>
      </p:sp>
      <p:pic>
        <p:nvPicPr>
          <p:cNvPr id="8" name="Picture 2" descr="http://www.jegsworks.com/lessons/computerbasics/lesson3/keyboard-white.png">
            <a:extLst>
              <a:ext uri="{FF2B5EF4-FFF2-40B4-BE49-F238E27FC236}">
                <a16:creationId xmlns:a16="http://schemas.microsoft.com/office/drawing/2014/main" id="{D62F66DF-1E4D-4961-A500-E613E89785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510" y="2565896"/>
            <a:ext cx="1108159" cy="3509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t2.gstatic.com/images?q=tbn:ANd9GcS51PGLkp34nPs-LewfkgAfjdZsyder21fNGFoRiZ_A6x7txo3e">
            <a:extLst>
              <a:ext uri="{FF2B5EF4-FFF2-40B4-BE49-F238E27FC236}">
                <a16:creationId xmlns:a16="http://schemas.microsoft.com/office/drawing/2014/main" id="{1D582CE4-942A-4E2B-8410-CB4053B31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1465" y="3741286"/>
            <a:ext cx="716248" cy="587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53F8DCC6-0D98-4EEC-91B9-C840D74892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1465" y="5038329"/>
            <a:ext cx="728448" cy="728448"/>
          </a:xfrm>
          <a:prstGeom prst="rect">
            <a:avLst/>
          </a:prstGeom>
          <a:noFill/>
          <a:extLst>
            <a:ext uri="{909E8E84-426E-40DD-AFC4-6F175D3DCCD1}">
              <a14:hiddenFill xmlns:a14="http://schemas.microsoft.com/office/drawing/2010/main">
                <a:solidFill>
                  <a:srgbClr val="FFFFFF"/>
                </a:solidFill>
              </a14:hiddenFill>
            </a:ext>
          </a:extLst>
        </p:spPr>
      </p:pic>
      <p:sp>
        <p:nvSpPr>
          <p:cNvPr id="15" name="Marcador de contenido 8">
            <a:extLst>
              <a:ext uri="{FF2B5EF4-FFF2-40B4-BE49-F238E27FC236}">
                <a16:creationId xmlns:a16="http://schemas.microsoft.com/office/drawing/2014/main" id="{A781356A-A35A-48D6-BC89-058C09E8F029}"/>
              </a:ext>
            </a:extLst>
          </p:cNvPr>
          <p:cNvSpPr txBox="1">
            <a:spLocks/>
          </p:cNvSpPr>
          <p:nvPr/>
        </p:nvSpPr>
        <p:spPr>
          <a:xfrm>
            <a:off x="394817" y="6072698"/>
            <a:ext cx="8281640" cy="596662"/>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600" dirty="0"/>
              <a:t>En Python, </a:t>
            </a:r>
            <a:r>
              <a:rPr lang="es-MX" sz="1400" dirty="0">
                <a:solidFill>
                  <a:srgbClr val="C00000"/>
                </a:solidFill>
                <a:latin typeface="Consolas" panose="020B0609020204030204" pitchFamily="49" charset="0"/>
              </a:rPr>
              <a:t>input()</a:t>
            </a:r>
            <a:r>
              <a:rPr lang="es-MX" sz="1600" dirty="0"/>
              <a:t> siempre devuelve texto (</a:t>
            </a:r>
            <a:r>
              <a:rPr lang="es-MX" sz="1400" dirty="0">
                <a:solidFill>
                  <a:srgbClr val="C00000"/>
                </a:solidFill>
                <a:latin typeface="Consolas" panose="020B0609020204030204" pitchFamily="49" charset="0"/>
              </a:rPr>
              <a:t>str</a:t>
            </a:r>
            <a:r>
              <a:rPr lang="es-MX" sz="1600" dirty="0"/>
              <a:t>); si el valor se va a usar en una operación numérica, debe convertirse con </a:t>
            </a:r>
            <a:r>
              <a:rPr lang="es-MX" sz="1400" dirty="0" err="1">
                <a:solidFill>
                  <a:srgbClr val="C00000"/>
                </a:solidFill>
                <a:latin typeface="Consolas" panose="020B0609020204030204" pitchFamily="49" charset="0"/>
              </a:rPr>
              <a:t>int</a:t>
            </a:r>
            <a:r>
              <a:rPr lang="es-MX" sz="1400" dirty="0">
                <a:solidFill>
                  <a:srgbClr val="C00000"/>
                </a:solidFill>
                <a:latin typeface="Consolas" panose="020B0609020204030204" pitchFamily="49" charset="0"/>
              </a:rPr>
              <a:t>()</a:t>
            </a:r>
            <a:r>
              <a:rPr lang="es-MX" sz="1600" dirty="0"/>
              <a:t> o </a:t>
            </a:r>
            <a:r>
              <a:rPr lang="es-MX" sz="1400" dirty="0" err="1">
                <a:solidFill>
                  <a:srgbClr val="C00000"/>
                </a:solidFill>
                <a:latin typeface="Consolas" panose="020B0609020204030204" pitchFamily="49" charset="0"/>
              </a:rPr>
              <a:t>float</a:t>
            </a:r>
            <a:r>
              <a:rPr lang="es-MX" sz="1400" dirty="0">
                <a:solidFill>
                  <a:srgbClr val="C00000"/>
                </a:solidFill>
                <a:latin typeface="Consolas" panose="020B0609020204030204" pitchFamily="49" charset="0"/>
              </a:rPr>
              <a:t>()</a:t>
            </a:r>
            <a:r>
              <a:rPr lang="es-MX" sz="1600" dirty="0"/>
              <a:t> (por ejemplo: </a:t>
            </a:r>
            <a:r>
              <a:rPr lang="es-MX" sz="1400" dirty="0">
                <a:solidFill>
                  <a:srgbClr val="C00000"/>
                </a:solidFill>
                <a:latin typeface="Consolas" panose="020B0609020204030204" pitchFamily="49" charset="0"/>
              </a:rPr>
              <a:t>v1 = </a:t>
            </a:r>
            <a:r>
              <a:rPr lang="es-MX" sz="1400" dirty="0" err="1">
                <a:solidFill>
                  <a:srgbClr val="C00000"/>
                </a:solidFill>
                <a:latin typeface="Consolas" panose="020B0609020204030204" pitchFamily="49" charset="0"/>
              </a:rPr>
              <a:t>float</a:t>
            </a:r>
            <a:r>
              <a:rPr lang="es-MX" sz="1400" dirty="0">
                <a:solidFill>
                  <a:srgbClr val="C00000"/>
                </a:solidFill>
                <a:latin typeface="Consolas" panose="020B0609020204030204" pitchFamily="49" charset="0"/>
              </a:rPr>
              <a:t>(input(...))</a:t>
            </a:r>
            <a:r>
              <a:rPr lang="es-MX" sz="1600" dirty="0"/>
              <a:t>).</a:t>
            </a:r>
            <a:endParaRPr lang="es-CO" sz="1600" dirty="0"/>
          </a:p>
        </p:txBody>
      </p:sp>
    </p:spTree>
    <p:extLst>
      <p:ext uri="{BB962C8B-B14F-4D97-AF65-F5344CB8AC3E}">
        <p14:creationId xmlns:p14="http://schemas.microsoft.com/office/powerpoint/2010/main" val="1444131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116632"/>
            <a:ext cx="8119814" cy="831626"/>
          </a:xfrm>
        </p:spPr>
        <p:txBody>
          <a:bodyPr>
            <a:normAutofit/>
          </a:bodyPr>
          <a:lstStyle/>
          <a:p>
            <a:r>
              <a:rPr lang="es-CO" sz="4000" dirty="0"/>
              <a:t>Tabla resumen</a:t>
            </a:r>
            <a:endParaRPr lang="en-US" sz="40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7" y="908719"/>
            <a:ext cx="8569672" cy="644309"/>
          </a:xfrm>
        </p:spPr>
        <p:txBody>
          <a:bodyPr>
            <a:normAutofit/>
          </a:bodyPr>
          <a:lstStyle/>
          <a:p>
            <a:pPr marL="0" indent="0">
              <a:buNone/>
            </a:pPr>
            <a:r>
              <a:rPr lang="es-MX" sz="2000" dirty="0"/>
              <a:t>La siguiente tabla, agrega la nueva el nuevo bloque que permite implementar toma de decisiones en los programas.</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extLst>
              <p:ext uri="{D42A27DB-BD31-4B8C-83A1-F6EECF244321}">
                <p14:modId xmlns:p14="http://schemas.microsoft.com/office/powerpoint/2010/main" val="3350735739"/>
              </p:ext>
            </p:extLst>
          </p:nvPr>
        </p:nvGraphicFramePr>
        <p:xfrm>
          <a:off x="394816" y="1653416"/>
          <a:ext cx="8065615" cy="1559560"/>
        </p:xfrm>
        <a:graphic>
          <a:graphicData uri="http://schemas.openxmlformats.org/drawingml/2006/table">
            <a:tbl>
              <a:tblPr firstRow="1" bandRow="1">
                <a:tableStyleId>{5940675A-B579-460E-94D1-54222C63F5DA}</a:tableStyleId>
              </a:tblPr>
              <a:tblGrid>
                <a:gridCol w="3052305">
                  <a:extLst>
                    <a:ext uri="{9D8B030D-6E8A-4147-A177-3AD203B41FA5}">
                      <a16:colId xmlns:a16="http://schemas.microsoft.com/office/drawing/2014/main" val="2376140116"/>
                    </a:ext>
                  </a:extLst>
                </a:gridCol>
                <a:gridCol w="2615640">
                  <a:extLst>
                    <a:ext uri="{9D8B030D-6E8A-4147-A177-3AD203B41FA5}">
                      <a16:colId xmlns:a16="http://schemas.microsoft.com/office/drawing/2014/main" val="1317388859"/>
                    </a:ext>
                  </a:extLst>
                </a:gridCol>
                <a:gridCol w="2397670">
                  <a:extLst>
                    <a:ext uri="{9D8B030D-6E8A-4147-A177-3AD203B41FA5}">
                      <a16:colId xmlns:a16="http://schemas.microsoft.com/office/drawing/2014/main" val="1620986510"/>
                    </a:ext>
                  </a:extLst>
                </a:gridCol>
              </a:tblGrid>
              <a:tr h="370840">
                <a:tc>
                  <a:txBody>
                    <a:bodyPr/>
                    <a:lstStyle/>
                    <a:p>
                      <a:pPr algn="ctr"/>
                      <a:r>
                        <a:rPr lang="es-CO" b="1" dirty="0"/>
                        <a:t>Diagrama de bloques</a:t>
                      </a:r>
                    </a:p>
                  </a:txBody>
                  <a:tcPr/>
                </a:tc>
                <a:tc>
                  <a:txBody>
                    <a:bodyPr/>
                    <a:lstStyle/>
                    <a:p>
                      <a:pPr algn="ctr"/>
                      <a:r>
                        <a:rPr lang="es-CO" b="1" dirty="0"/>
                        <a:t>Pseudocordigo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Python</a:t>
                      </a:r>
                    </a:p>
                  </a:txBody>
                  <a:tcPr/>
                </a:tc>
                <a:extLst>
                  <a:ext uri="{0D108BD9-81ED-4DB2-BD59-A6C34878D82A}">
                    <a16:rowId xmlns:a16="http://schemas.microsoft.com/office/drawing/2014/main" val="3153662098"/>
                  </a:ext>
                </a:extLst>
              </a:tr>
              <a:tr h="370840">
                <a:tc>
                  <a:txBody>
                    <a:bodyPr/>
                    <a:lstStyle/>
                    <a:p>
                      <a:endParaRPr lang="es-CO" dirty="0"/>
                    </a:p>
                    <a:p>
                      <a:endParaRPr lang="es-CO" dirty="0"/>
                    </a:p>
                    <a:p>
                      <a:endParaRPr lang="es-CO" dirty="0"/>
                    </a:p>
                    <a:p>
                      <a:endParaRPr lang="es-CO" dirty="0"/>
                    </a:p>
                  </a:txBody>
                  <a:tcPr/>
                </a:tc>
                <a:tc>
                  <a:txBody>
                    <a:bodyPr/>
                    <a:lstStyle/>
                    <a:p>
                      <a:pPr indent="-57150"/>
                      <a:r>
                        <a:rPr lang="es-ES" sz="1200" dirty="0">
                          <a:solidFill>
                            <a:schemeClr val="tx1"/>
                          </a:solidFill>
                          <a:latin typeface="Consolas" panose="020B0609020204030204" pitchFamily="49" charset="0"/>
                        </a:rPr>
                        <a:t>Si (</a:t>
                      </a:r>
                      <a:r>
                        <a:rPr lang="es-ES" sz="1200" dirty="0" err="1">
                          <a:solidFill>
                            <a:schemeClr val="tx1"/>
                          </a:solidFill>
                          <a:latin typeface="Consolas" panose="020B0609020204030204" pitchFamily="49" charset="0"/>
                        </a:rPr>
                        <a:t>condicion</a:t>
                      </a:r>
                      <a:r>
                        <a:rPr lang="es-ES" sz="1200" dirty="0">
                          <a:solidFill>
                            <a:schemeClr val="tx1"/>
                          </a:solidFill>
                          <a:latin typeface="Consolas" panose="020B0609020204030204" pitchFamily="49" charset="0"/>
                        </a:rPr>
                        <a:t>) Entonces</a:t>
                      </a:r>
                    </a:p>
                    <a:p>
                      <a:pPr indent="-57150"/>
                      <a:r>
                        <a:rPr lang="es-ES" sz="1200" dirty="0">
                          <a:solidFill>
                            <a:schemeClr val="tx1"/>
                          </a:solidFill>
                          <a:latin typeface="Consolas" panose="020B0609020204030204" pitchFamily="49" charset="0"/>
                        </a:rPr>
                        <a:t>  instrucciones verdad</a:t>
                      </a:r>
                    </a:p>
                    <a:p>
                      <a:pPr indent="-57150"/>
                      <a:r>
                        <a:rPr lang="es-ES" sz="1200" dirty="0">
                          <a:solidFill>
                            <a:schemeClr val="tx1"/>
                          </a:solidFill>
                          <a:latin typeface="Consolas" panose="020B0609020204030204" pitchFamily="49" charset="0"/>
                        </a:rPr>
                        <a:t>Sino</a:t>
                      </a:r>
                    </a:p>
                    <a:p>
                      <a:pPr indent="-57150"/>
                      <a:r>
                        <a:rPr lang="es-ES" sz="1200" dirty="0">
                          <a:solidFill>
                            <a:schemeClr val="tx1"/>
                          </a:solidFill>
                          <a:latin typeface="Consolas" panose="020B0609020204030204" pitchFamily="49" charset="0"/>
                        </a:rPr>
                        <a:t>  instrucciones falsa</a:t>
                      </a:r>
                    </a:p>
                    <a:p>
                      <a:pPr indent="-57150"/>
                      <a:r>
                        <a:rPr lang="es-ES" sz="1200" dirty="0" err="1">
                          <a:solidFill>
                            <a:schemeClr val="tx1"/>
                          </a:solidFill>
                          <a:latin typeface="Consolas" panose="020B0609020204030204" pitchFamily="49" charset="0"/>
                        </a:rPr>
                        <a:t>Fin_Si</a:t>
                      </a:r>
                      <a:endParaRPr lang="es-CO" sz="1200" dirty="0">
                        <a:solidFill>
                          <a:schemeClr val="tx1"/>
                        </a:solidFill>
                        <a:latin typeface="Consolas" panose="020B0609020204030204" pitchFamily="49" charset="0"/>
                      </a:endParaRPr>
                    </a:p>
                  </a:txBody>
                  <a:tcPr anchor="ctr"/>
                </a:tc>
                <a:tc>
                  <a:txBody>
                    <a:bodyPr/>
                    <a:lstStyle/>
                    <a:p>
                      <a:pPr indent="-57150"/>
                      <a:r>
                        <a:rPr lang="es-ES" sz="1200" dirty="0" err="1">
                          <a:solidFill>
                            <a:schemeClr val="tx1"/>
                          </a:solidFill>
                          <a:latin typeface="Consolas" panose="020B0609020204030204" pitchFamily="49" charset="0"/>
                        </a:rPr>
                        <a:t>if</a:t>
                      </a:r>
                      <a:r>
                        <a:rPr lang="es-ES" sz="1200" dirty="0">
                          <a:solidFill>
                            <a:schemeClr val="tx1"/>
                          </a:solidFill>
                          <a:latin typeface="Consolas" panose="020B0609020204030204" pitchFamily="49" charset="0"/>
                        </a:rPr>
                        <a:t> (</a:t>
                      </a:r>
                      <a:r>
                        <a:rPr lang="es-ES" sz="1200" dirty="0" err="1">
                          <a:solidFill>
                            <a:schemeClr val="tx1"/>
                          </a:solidFill>
                          <a:latin typeface="Consolas" panose="020B0609020204030204" pitchFamily="49" charset="0"/>
                        </a:rPr>
                        <a:t>condicion</a:t>
                      </a:r>
                      <a:r>
                        <a:rPr lang="es-ES" sz="1200" dirty="0">
                          <a:solidFill>
                            <a:schemeClr val="tx1"/>
                          </a:solidFill>
                          <a:latin typeface="Consolas" panose="020B0609020204030204" pitchFamily="49" charset="0"/>
                        </a:rPr>
                        <a:t>):</a:t>
                      </a:r>
                    </a:p>
                    <a:p>
                      <a:pPr indent="-57150"/>
                      <a:r>
                        <a:rPr lang="es-ES" sz="1200" dirty="0">
                          <a:solidFill>
                            <a:schemeClr val="tx1"/>
                          </a:solidFill>
                          <a:latin typeface="Consolas" panose="020B0609020204030204" pitchFamily="49" charset="0"/>
                        </a:rPr>
                        <a:t>  instrucciones verdad</a:t>
                      </a:r>
                    </a:p>
                    <a:p>
                      <a:pPr indent="-57150"/>
                      <a:r>
                        <a:rPr lang="es-ES" sz="1200" dirty="0" err="1">
                          <a:solidFill>
                            <a:schemeClr val="tx1"/>
                          </a:solidFill>
                          <a:latin typeface="Consolas" panose="020B0609020204030204" pitchFamily="49" charset="0"/>
                        </a:rPr>
                        <a:t>else</a:t>
                      </a:r>
                      <a:r>
                        <a:rPr lang="es-ES" sz="1200" dirty="0">
                          <a:solidFill>
                            <a:schemeClr val="tx1"/>
                          </a:solidFill>
                          <a:latin typeface="Consolas" panose="020B0609020204030204" pitchFamily="49" charset="0"/>
                        </a:rPr>
                        <a:t>:</a:t>
                      </a:r>
                    </a:p>
                    <a:p>
                      <a:pPr indent="-57150"/>
                      <a:r>
                        <a:rPr lang="es-ES" sz="1200" dirty="0">
                          <a:solidFill>
                            <a:schemeClr val="tx1"/>
                          </a:solidFill>
                          <a:latin typeface="Consolas" panose="020B0609020204030204" pitchFamily="49" charset="0"/>
                        </a:rPr>
                        <a:t>  instrucciones falso</a:t>
                      </a:r>
                    </a:p>
                  </a:txBody>
                  <a:tcPr anchor="ctr"/>
                </a:tc>
                <a:extLst>
                  <a:ext uri="{0D108BD9-81ED-4DB2-BD59-A6C34878D82A}">
                    <a16:rowId xmlns:a16="http://schemas.microsoft.com/office/drawing/2014/main" val="2502274137"/>
                  </a:ext>
                </a:extLst>
              </a:tr>
            </a:tbl>
          </a:graphicData>
        </a:graphic>
      </p:graphicFrame>
      <p:grpSp>
        <p:nvGrpSpPr>
          <p:cNvPr id="16" name="Grupo 15">
            <a:extLst>
              <a:ext uri="{FF2B5EF4-FFF2-40B4-BE49-F238E27FC236}">
                <a16:creationId xmlns:a16="http://schemas.microsoft.com/office/drawing/2014/main" id="{3D9378DB-47BD-4E38-B9E2-60CC14868C14}"/>
              </a:ext>
            </a:extLst>
          </p:cNvPr>
          <p:cNvGrpSpPr/>
          <p:nvPr/>
        </p:nvGrpSpPr>
        <p:grpSpPr>
          <a:xfrm>
            <a:off x="467544" y="2111326"/>
            <a:ext cx="2876849" cy="957634"/>
            <a:chOff x="802903" y="2612529"/>
            <a:chExt cx="2876849" cy="957634"/>
          </a:xfrm>
        </p:grpSpPr>
        <p:sp>
          <p:nvSpPr>
            <p:cNvPr id="17" name="TextBox 75">
              <a:extLst>
                <a:ext uri="{FF2B5EF4-FFF2-40B4-BE49-F238E27FC236}">
                  <a16:creationId xmlns:a16="http://schemas.microsoft.com/office/drawing/2014/main" id="{3E386359-4887-48E6-A90C-AB0498055EA7}"/>
                </a:ext>
              </a:extLst>
            </p:cNvPr>
            <p:cNvSpPr txBox="1"/>
            <p:nvPr/>
          </p:nvSpPr>
          <p:spPr>
            <a:xfrm>
              <a:off x="3237955" y="2924944"/>
              <a:ext cx="427508"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8" name="TextBox 76">
              <a:extLst>
                <a:ext uri="{FF2B5EF4-FFF2-40B4-BE49-F238E27FC236}">
                  <a16:creationId xmlns:a16="http://schemas.microsoft.com/office/drawing/2014/main" id="{6CB5130F-2760-4686-95D3-9F6E662E0BDD}"/>
                </a:ext>
              </a:extLst>
            </p:cNvPr>
            <p:cNvSpPr txBox="1"/>
            <p:nvPr/>
          </p:nvSpPr>
          <p:spPr>
            <a:xfrm>
              <a:off x="918640" y="2924944"/>
              <a:ext cx="374527"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19" name="Flowchart: Decision 5">
              <a:extLst>
                <a:ext uri="{FF2B5EF4-FFF2-40B4-BE49-F238E27FC236}">
                  <a16:creationId xmlns:a16="http://schemas.microsoft.com/office/drawing/2014/main" id="{8130C2A4-8430-4415-AAF6-7D501E4C8CDD}"/>
                </a:ext>
              </a:extLst>
            </p:cNvPr>
            <p:cNvSpPr/>
            <p:nvPr/>
          </p:nvSpPr>
          <p:spPr>
            <a:xfrm>
              <a:off x="1315133" y="2977639"/>
              <a:ext cx="1852352"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Decision</a:t>
              </a:r>
            </a:p>
          </p:txBody>
        </p:sp>
        <p:grpSp>
          <p:nvGrpSpPr>
            <p:cNvPr id="20" name="40 Grupo">
              <a:extLst>
                <a:ext uri="{FF2B5EF4-FFF2-40B4-BE49-F238E27FC236}">
                  <a16:creationId xmlns:a16="http://schemas.microsoft.com/office/drawing/2014/main" id="{0AE61B74-EF32-4C9E-89B5-46136054B4E0}"/>
                </a:ext>
              </a:extLst>
            </p:cNvPr>
            <p:cNvGrpSpPr/>
            <p:nvPr/>
          </p:nvGrpSpPr>
          <p:grpSpPr>
            <a:xfrm>
              <a:off x="802903" y="3202855"/>
              <a:ext cx="528637" cy="367308"/>
              <a:chOff x="4631531" y="4280892"/>
              <a:chExt cx="528637" cy="367308"/>
            </a:xfrm>
          </p:grpSpPr>
          <p:cxnSp>
            <p:nvCxnSpPr>
              <p:cNvPr id="25" name="Straight Arrow Connector 18">
                <a:extLst>
                  <a:ext uri="{FF2B5EF4-FFF2-40B4-BE49-F238E27FC236}">
                    <a16:creationId xmlns:a16="http://schemas.microsoft.com/office/drawing/2014/main" id="{1595D196-89B8-4FA2-AA80-D2026FBBACD8}"/>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8">
                <a:extLst>
                  <a:ext uri="{FF2B5EF4-FFF2-40B4-BE49-F238E27FC236}">
                    <a16:creationId xmlns:a16="http://schemas.microsoft.com/office/drawing/2014/main" id="{AE31C54A-1503-407A-A3C8-0DF172701F4F}"/>
                  </a:ext>
                </a:extLst>
              </p:cNvPr>
              <p:cNvCxnSpPr/>
              <p:nvPr/>
            </p:nvCxnSpPr>
            <p:spPr>
              <a:xfrm flipH="1">
                <a:off x="4631531" y="4280892"/>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1" name="65 Grupo">
              <a:extLst>
                <a:ext uri="{FF2B5EF4-FFF2-40B4-BE49-F238E27FC236}">
                  <a16:creationId xmlns:a16="http://schemas.microsoft.com/office/drawing/2014/main" id="{C6B718B9-220F-439A-AC3D-01EC85F6E93B}"/>
                </a:ext>
              </a:extLst>
            </p:cNvPr>
            <p:cNvGrpSpPr/>
            <p:nvPr/>
          </p:nvGrpSpPr>
          <p:grpSpPr>
            <a:xfrm flipH="1">
              <a:off x="3146352" y="3203451"/>
              <a:ext cx="533400" cy="366712"/>
              <a:chOff x="4959846" y="4281488"/>
              <a:chExt cx="533400" cy="366712"/>
            </a:xfrm>
          </p:grpSpPr>
          <p:cxnSp>
            <p:nvCxnSpPr>
              <p:cNvPr id="23" name="Straight Arrow Connector 18">
                <a:extLst>
                  <a:ext uri="{FF2B5EF4-FFF2-40B4-BE49-F238E27FC236}">
                    <a16:creationId xmlns:a16="http://schemas.microsoft.com/office/drawing/2014/main" id="{484928C3-EB88-44C2-8AA5-9E1A9218AF85}"/>
                  </a:ext>
                </a:extLst>
              </p:cNvPr>
              <p:cNvCxnSpPr/>
              <p:nvPr/>
            </p:nvCxnSpPr>
            <p:spPr>
              <a:xfrm>
                <a:off x="4959846"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8">
                <a:extLst>
                  <a:ext uri="{FF2B5EF4-FFF2-40B4-BE49-F238E27FC236}">
                    <a16:creationId xmlns:a16="http://schemas.microsoft.com/office/drawing/2014/main" id="{1C4ED988-ED91-4723-9518-4FD7B1995577}"/>
                  </a:ext>
                </a:extLst>
              </p:cNvPr>
              <p:cNvCxnSpPr/>
              <p:nvPr/>
            </p:nvCxnSpPr>
            <p:spPr>
              <a:xfrm flipH="1">
                <a:off x="4964609" y="4281488"/>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Arrow Connector 18">
              <a:extLst>
                <a:ext uri="{FF2B5EF4-FFF2-40B4-BE49-F238E27FC236}">
                  <a16:creationId xmlns:a16="http://schemas.microsoft.com/office/drawing/2014/main" id="{E38D67C6-99FA-4E32-B5E5-CC717213D7C0}"/>
                </a:ext>
              </a:extLst>
            </p:cNvPr>
            <p:cNvCxnSpPr/>
            <p:nvPr/>
          </p:nvCxnSpPr>
          <p:spPr>
            <a:xfrm flipH="1">
              <a:off x="2241773" y="2612529"/>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27" name="Imagen 26">
            <a:extLst>
              <a:ext uri="{FF2B5EF4-FFF2-40B4-BE49-F238E27FC236}">
                <a16:creationId xmlns:a16="http://schemas.microsoft.com/office/drawing/2014/main" id="{3C0BA5DF-4993-4B02-A595-095E15B1A2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7316" y="4281506"/>
            <a:ext cx="1562788" cy="1448637"/>
          </a:xfrm>
          <a:prstGeom prst="rect">
            <a:avLst/>
          </a:prstGeom>
        </p:spPr>
      </p:pic>
      <p:pic>
        <p:nvPicPr>
          <p:cNvPr id="1026" name="Picture 2" descr="If-Then workflow">
            <a:extLst>
              <a:ext uri="{FF2B5EF4-FFF2-40B4-BE49-F238E27FC236}">
                <a16:creationId xmlns:a16="http://schemas.microsoft.com/office/drawing/2014/main" id="{2C25287B-29BF-47A8-8786-9EAF620BA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3406282"/>
            <a:ext cx="3286795" cy="2834861"/>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74D470D-37F8-4F20-A4E4-829A08FE1FD5}"/>
              </a:ext>
            </a:extLst>
          </p:cNvPr>
          <p:cNvSpPr txBox="1"/>
          <p:nvPr/>
        </p:nvSpPr>
        <p:spPr>
          <a:xfrm>
            <a:off x="4211960" y="6309320"/>
            <a:ext cx="2927276" cy="338554"/>
          </a:xfrm>
          <a:prstGeom prst="rect">
            <a:avLst/>
          </a:prstGeom>
          <a:noFill/>
        </p:spPr>
        <p:txBody>
          <a:bodyPr wrap="none" rtlCol="0">
            <a:spAutoFit/>
          </a:bodyPr>
          <a:lstStyle/>
          <a:p>
            <a:r>
              <a:rPr lang="es-CO" sz="1600" dirty="0"/>
              <a:t>Imagen tomada de </a:t>
            </a:r>
            <a:r>
              <a:rPr lang="es-CO" sz="1600" b="1" dirty="0"/>
              <a:t>CS Intro</a:t>
            </a:r>
            <a:r>
              <a:rPr lang="es-CO" sz="1600" dirty="0"/>
              <a:t> (</a:t>
            </a:r>
            <a:r>
              <a:rPr lang="es-CO" sz="1600" dirty="0">
                <a:hlinkClick r:id="rId4"/>
              </a:rPr>
              <a:t>link</a:t>
            </a:r>
            <a:r>
              <a:rPr lang="es-CO" sz="1600" dirty="0"/>
              <a:t>)</a:t>
            </a:r>
          </a:p>
        </p:txBody>
      </p:sp>
    </p:spTree>
    <p:extLst>
      <p:ext uri="{BB962C8B-B14F-4D97-AF65-F5344CB8AC3E}">
        <p14:creationId xmlns:p14="http://schemas.microsoft.com/office/powerpoint/2010/main" val="1483962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81484" y="252929"/>
            <a:ext cx="8576766" cy="1267245"/>
          </a:xfrm>
        </p:spPr>
        <p:txBody>
          <a:bodyPr>
            <a:normAutofit/>
          </a:bodyPr>
          <a:lstStyle/>
          <a:p>
            <a:r>
              <a:rPr lang="es-CO" sz="3600" dirty="0"/>
              <a:t>Casos en los problemas de decisión lógica</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6</a:t>
            </a:fld>
            <a:endParaRPr lang="en-US" dirty="0"/>
          </a:p>
        </p:txBody>
      </p:sp>
      <p:graphicFrame>
        <p:nvGraphicFramePr>
          <p:cNvPr id="7" name="6 Diagrama"/>
          <p:cNvGraphicFramePr/>
          <p:nvPr>
            <p:extLst>
              <p:ext uri="{D42A27DB-BD31-4B8C-83A1-F6EECF244321}">
                <p14:modId xmlns:p14="http://schemas.microsoft.com/office/powerpoint/2010/main" val="3190068776"/>
              </p:ext>
            </p:extLst>
          </p:nvPr>
        </p:nvGraphicFramePr>
        <p:xfrm>
          <a:off x="273844" y="2235552"/>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5125" y="3632994"/>
            <a:ext cx="214312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8781" y="1949619"/>
            <a:ext cx="2003811" cy="1362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0"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15125" y="4839802"/>
            <a:ext cx="2321183" cy="1765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Imagen 9">
            <a:extLst>
              <a:ext uri="{FF2B5EF4-FFF2-40B4-BE49-F238E27FC236}">
                <a16:creationId xmlns:a16="http://schemas.microsoft.com/office/drawing/2014/main" id="{A56CB6FA-B43E-40A5-ADB1-20CD5CDF8D2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64846" y="2066027"/>
            <a:ext cx="1470374" cy="1362973"/>
          </a:xfrm>
          <a:prstGeom prst="rect">
            <a:avLst/>
          </a:prstGeom>
        </p:spPr>
      </p:pic>
    </p:spTree>
    <p:extLst>
      <p:ext uri="{BB962C8B-B14F-4D97-AF65-F5344CB8AC3E}">
        <p14:creationId xmlns:p14="http://schemas.microsoft.com/office/powerpoint/2010/main" val="185327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89427" y="292891"/>
            <a:ext cx="8229600" cy="688648"/>
          </a:xfrm>
        </p:spPr>
        <p:txBody>
          <a:bodyPr>
            <a:normAutofit fontScale="90000"/>
          </a:bodyPr>
          <a:lstStyle/>
          <a:p>
            <a:r>
              <a:rPr lang="es-CO" dirty="0"/>
              <a:t>Alternativa simple</a:t>
            </a:r>
          </a:p>
        </p:txBody>
      </p:sp>
      <p:sp>
        <p:nvSpPr>
          <p:cNvPr id="13" name="12 Rectángulo"/>
          <p:cNvSpPr/>
          <p:nvPr/>
        </p:nvSpPr>
        <p:spPr>
          <a:xfrm>
            <a:off x="189427" y="977073"/>
            <a:ext cx="8517068" cy="430887"/>
          </a:xfrm>
          <a:prstGeom prst="rect">
            <a:avLst/>
          </a:prstGeom>
        </p:spPr>
        <p:txBody>
          <a:bodyPr wrap="square">
            <a:spAutoFit/>
          </a:bodyPr>
          <a:lstStyle/>
          <a:p>
            <a:r>
              <a:rPr lang="es-CO" altLang="es-CO" sz="2200" dirty="0"/>
              <a:t>En los problemas de este tipo la condición </a:t>
            </a:r>
            <a:r>
              <a:rPr lang="es-CO" altLang="es-CO" sz="2200" b="1" dirty="0">
                <a:solidFill>
                  <a:srgbClr val="C00000"/>
                </a:solidFill>
              </a:rPr>
              <a:t>falsa</a:t>
            </a:r>
            <a:r>
              <a:rPr lang="es-CO" altLang="es-CO" sz="2200" dirty="0"/>
              <a:t> no posee instrucciones.</a:t>
            </a:r>
            <a:endParaRPr lang="es-CO" sz="2200" dirty="0"/>
          </a:p>
        </p:txBody>
      </p:sp>
      <p:pic>
        <p:nvPicPr>
          <p:cNvPr id="1126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47" y="2243380"/>
            <a:ext cx="4814125" cy="32745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8" descr="http://t0.gstatic.com/images?q=tbn:ANd9GcQBQUfA-17F7VG9bKeqzV6MF0-Z-9iE_3GOSyV1UJYC9LTt32B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5014271"/>
            <a:ext cx="862480" cy="110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uadroTexto 7">
            <a:extLst>
              <a:ext uri="{FF2B5EF4-FFF2-40B4-BE49-F238E27FC236}">
                <a16:creationId xmlns:a16="http://schemas.microsoft.com/office/drawing/2014/main" id="{AC32FD90-4058-401D-982D-5EBFA6936A2A}"/>
              </a:ext>
            </a:extLst>
          </p:cNvPr>
          <p:cNvSpPr txBox="1"/>
          <p:nvPr/>
        </p:nvSpPr>
        <p:spPr>
          <a:xfrm>
            <a:off x="4861248" y="2341048"/>
            <a:ext cx="4102701" cy="738664"/>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instrucciones condicion verdadera</a:t>
            </a: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10" name="CuadroTexto 9">
            <a:extLst>
              <a:ext uri="{FF2B5EF4-FFF2-40B4-BE49-F238E27FC236}">
                <a16:creationId xmlns:a16="http://schemas.microsoft.com/office/drawing/2014/main" id="{CA87FB65-D4A5-4A74-BDD3-51E4F16B1B28}"/>
              </a:ext>
            </a:extLst>
          </p:cNvPr>
          <p:cNvSpPr txBox="1"/>
          <p:nvPr/>
        </p:nvSpPr>
        <p:spPr>
          <a:xfrm>
            <a:off x="5626858" y="1843270"/>
            <a:ext cx="2424161" cy="400110"/>
          </a:xfrm>
          <a:prstGeom prst="rect">
            <a:avLst/>
          </a:prstGeom>
          <a:noFill/>
        </p:spPr>
        <p:txBody>
          <a:bodyPr wrap="square" rtlCol="0">
            <a:spAutoFit/>
          </a:bodyPr>
          <a:lstStyle/>
          <a:p>
            <a:pPr algn="ctr"/>
            <a:r>
              <a:rPr lang="es-CO" sz="2000" b="1" dirty="0"/>
              <a:t>Pseudocódigo</a:t>
            </a:r>
          </a:p>
        </p:txBody>
      </p:sp>
      <p:sp>
        <p:nvSpPr>
          <p:cNvPr id="11" name="CuadroTexto 10">
            <a:extLst>
              <a:ext uri="{FF2B5EF4-FFF2-40B4-BE49-F238E27FC236}">
                <a16:creationId xmlns:a16="http://schemas.microsoft.com/office/drawing/2014/main" id="{F10E4D25-B8E6-4A9C-9AB4-C0347C3716F8}"/>
              </a:ext>
            </a:extLst>
          </p:cNvPr>
          <p:cNvSpPr txBox="1"/>
          <p:nvPr/>
        </p:nvSpPr>
        <p:spPr>
          <a:xfrm>
            <a:off x="5661758" y="3717032"/>
            <a:ext cx="2424161" cy="400110"/>
          </a:xfrm>
          <a:prstGeom prst="rect">
            <a:avLst/>
          </a:prstGeom>
          <a:noFill/>
        </p:spPr>
        <p:txBody>
          <a:bodyPr wrap="square" rtlCol="0">
            <a:spAutoFit/>
          </a:bodyPr>
          <a:lstStyle/>
          <a:p>
            <a:pPr algn="ctr"/>
            <a:r>
              <a:rPr lang="es-CO" sz="2000" b="1" dirty="0"/>
              <a:t>Python</a:t>
            </a:r>
          </a:p>
        </p:txBody>
      </p:sp>
      <p:sp>
        <p:nvSpPr>
          <p:cNvPr id="14" name="CuadroTexto 13">
            <a:extLst>
              <a:ext uri="{FF2B5EF4-FFF2-40B4-BE49-F238E27FC236}">
                <a16:creationId xmlns:a16="http://schemas.microsoft.com/office/drawing/2014/main" id="{873E636D-5469-4C08-BBB0-8DB2503F2CAF}"/>
              </a:ext>
            </a:extLst>
          </p:cNvPr>
          <p:cNvSpPr txBox="1"/>
          <p:nvPr/>
        </p:nvSpPr>
        <p:spPr>
          <a:xfrm>
            <a:off x="4907682" y="4207545"/>
            <a:ext cx="4102701" cy="52322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if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condicion verdadera</a:t>
            </a:r>
          </a:p>
        </p:txBody>
      </p:sp>
      <p:sp>
        <p:nvSpPr>
          <p:cNvPr id="15" name="CuadroTexto 14">
            <a:extLst>
              <a:ext uri="{FF2B5EF4-FFF2-40B4-BE49-F238E27FC236}">
                <a16:creationId xmlns:a16="http://schemas.microsoft.com/office/drawing/2014/main" id="{0FFE230E-C2E4-45A1-8069-85EE5BA8E8BE}"/>
              </a:ext>
            </a:extLst>
          </p:cNvPr>
          <p:cNvSpPr txBox="1"/>
          <p:nvPr/>
        </p:nvSpPr>
        <p:spPr>
          <a:xfrm>
            <a:off x="1609462" y="1892087"/>
            <a:ext cx="2424161" cy="400110"/>
          </a:xfrm>
          <a:prstGeom prst="rect">
            <a:avLst/>
          </a:prstGeom>
          <a:noFill/>
        </p:spPr>
        <p:txBody>
          <a:bodyPr wrap="square" rtlCol="0">
            <a:spAutoFit/>
          </a:bodyPr>
          <a:lstStyle/>
          <a:p>
            <a:pPr algn="ctr"/>
            <a:r>
              <a:rPr lang="es-CO" sz="2000" b="1" dirty="0"/>
              <a:t>Diagrama de flujo</a:t>
            </a:r>
          </a:p>
        </p:txBody>
      </p:sp>
    </p:spTree>
    <p:extLst>
      <p:ext uri="{BB962C8B-B14F-4D97-AF65-F5344CB8AC3E}">
        <p14:creationId xmlns:p14="http://schemas.microsoft.com/office/powerpoint/2010/main" val="946365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Alternativa doble</a:t>
            </a:r>
          </a:p>
        </p:txBody>
      </p:sp>
      <p:sp>
        <p:nvSpPr>
          <p:cNvPr id="13" name="12 Rectángulo"/>
          <p:cNvSpPr/>
          <p:nvPr/>
        </p:nvSpPr>
        <p:spPr>
          <a:xfrm>
            <a:off x="179513" y="921879"/>
            <a:ext cx="8796866" cy="707886"/>
          </a:xfrm>
          <a:prstGeom prst="rect">
            <a:avLst/>
          </a:prstGeom>
        </p:spPr>
        <p:txBody>
          <a:bodyPr wrap="square">
            <a:spAutoFit/>
          </a:bodyPr>
          <a:lstStyle/>
          <a:p>
            <a:r>
              <a:rPr lang="es-CO" altLang="es-CO" sz="2000" dirty="0"/>
              <a:t>En los problemas de este tipo, ambos casos (</a:t>
            </a:r>
            <a:r>
              <a:rPr lang="es-CO" altLang="es-CO" sz="2000" b="1" dirty="0">
                <a:solidFill>
                  <a:srgbClr val="C00000"/>
                </a:solidFill>
              </a:rPr>
              <a:t>Falso</a:t>
            </a:r>
            <a:r>
              <a:rPr lang="es-CO" altLang="es-CO" sz="2000" dirty="0"/>
              <a:t> y </a:t>
            </a:r>
            <a:r>
              <a:rPr lang="es-CO" altLang="es-CO" sz="2000" b="1" dirty="0">
                <a:solidFill>
                  <a:schemeClr val="accent2">
                    <a:lumMod val="75000"/>
                  </a:schemeClr>
                </a:solidFill>
              </a:rPr>
              <a:t>Verdadero</a:t>
            </a:r>
            <a:r>
              <a:rPr lang="es-CO" altLang="es-CO" sz="2000" dirty="0"/>
              <a:t>) poseen instrucciones asociadas.</a:t>
            </a:r>
            <a:endParaRPr lang="es-CO" sz="2000" dirty="0"/>
          </a:p>
        </p:txBody>
      </p:sp>
      <p:pic>
        <p:nvPicPr>
          <p:cNvPr id="10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695" y="1988840"/>
            <a:ext cx="4743505" cy="2934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uadroTexto 6">
            <a:extLst>
              <a:ext uri="{FF2B5EF4-FFF2-40B4-BE49-F238E27FC236}">
                <a16:creationId xmlns:a16="http://schemas.microsoft.com/office/drawing/2014/main" id="{ADCD1815-B299-412B-B0C7-515E157D83D8}"/>
              </a:ext>
            </a:extLst>
          </p:cNvPr>
          <p:cNvSpPr txBox="1"/>
          <p:nvPr/>
        </p:nvSpPr>
        <p:spPr>
          <a:xfrm>
            <a:off x="5220072" y="2268160"/>
            <a:ext cx="3742661" cy="1169551"/>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instrucciones condicion verdadera</a:t>
            </a:r>
          </a:p>
          <a:p>
            <a:pPr indent="-57150"/>
            <a:r>
              <a:rPr lang="es-ES" sz="1400" dirty="0">
                <a:solidFill>
                  <a:schemeClr val="accent4"/>
                </a:solidFill>
                <a:latin typeface="Consolas" panose="020B0609020204030204" pitchFamily="49" charset="0"/>
              </a:rPr>
              <a:t>Sino</a:t>
            </a:r>
          </a:p>
          <a:p>
            <a:pPr indent="-57150"/>
            <a:r>
              <a:rPr lang="es-ES" sz="1400" dirty="0">
                <a:solidFill>
                  <a:schemeClr val="accent5"/>
                </a:solidFill>
                <a:latin typeface="Consolas" panose="020B0609020204030204" pitchFamily="49" charset="0"/>
              </a:rPr>
              <a:t>  </a:t>
            </a:r>
            <a:r>
              <a:rPr lang="es-ES" sz="1400" dirty="0">
                <a:latin typeface="Consolas" panose="020B0609020204030204" pitchFamily="49" charset="0"/>
              </a:rPr>
              <a:t>instrucciones condición falsa</a:t>
            </a: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31EA861C-CD1C-4583-91F4-3A788EADC024}"/>
              </a:ext>
            </a:extLst>
          </p:cNvPr>
          <p:cNvSpPr txBox="1"/>
          <p:nvPr/>
        </p:nvSpPr>
        <p:spPr>
          <a:xfrm>
            <a:off x="5233717" y="4036875"/>
            <a:ext cx="3742661" cy="954107"/>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if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condicion verdadera</a:t>
            </a:r>
          </a:p>
          <a:p>
            <a:pPr indent="-57150"/>
            <a:r>
              <a:rPr lang="es-ES" sz="1400" dirty="0">
                <a:solidFill>
                  <a:schemeClr val="accent4"/>
                </a:solidFill>
                <a:latin typeface="Consolas" panose="020B0609020204030204" pitchFamily="49" charset="0"/>
              </a:rPr>
              <a:t>else:</a:t>
            </a:r>
          </a:p>
          <a:p>
            <a:pPr indent="-57150"/>
            <a:r>
              <a:rPr lang="es-ES" sz="1400" dirty="0">
                <a:solidFill>
                  <a:schemeClr val="accent5"/>
                </a:solidFill>
                <a:latin typeface="Consolas" panose="020B0609020204030204" pitchFamily="49" charset="0"/>
              </a:rPr>
              <a:t>  </a:t>
            </a:r>
            <a:r>
              <a:rPr lang="es-ES" sz="1400" dirty="0">
                <a:latin typeface="Consolas" panose="020B0609020204030204" pitchFamily="49" charset="0"/>
              </a:rPr>
              <a:t>instrucciones condición falsa</a:t>
            </a:r>
          </a:p>
        </p:txBody>
      </p:sp>
      <p:sp>
        <p:nvSpPr>
          <p:cNvPr id="9" name="CuadroTexto 8">
            <a:extLst>
              <a:ext uri="{FF2B5EF4-FFF2-40B4-BE49-F238E27FC236}">
                <a16:creationId xmlns:a16="http://schemas.microsoft.com/office/drawing/2014/main" id="{2CAD278B-B3C9-4233-A314-4192331BDF8A}"/>
              </a:ext>
            </a:extLst>
          </p:cNvPr>
          <p:cNvSpPr txBox="1"/>
          <p:nvPr/>
        </p:nvSpPr>
        <p:spPr>
          <a:xfrm>
            <a:off x="5625642" y="1770382"/>
            <a:ext cx="2424161" cy="400110"/>
          </a:xfrm>
          <a:prstGeom prst="rect">
            <a:avLst/>
          </a:prstGeom>
          <a:noFill/>
        </p:spPr>
        <p:txBody>
          <a:bodyPr wrap="square" rtlCol="0">
            <a:spAutoFit/>
          </a:bodyPr>
          <a:lstStyle/>
          <a:p>
            <a:pPr algn="ctr"/>
            <a:r>
              <a:rPr lang="es-CO" sz="2000" b="1" dirty="0"/>
              <a:t>Pseudocódigo</a:t>
            </a:r>
          </a:p>
        </p:txBody>
      </p:sp>
      <p:sp>
        <p:nvSpPr>
          <p:cNvPr id="10" name="CuadroTexto 9">
            <a:extLst>
              <a:ext uri="{FF2B5EF4-FFF2-40B4-BE49-F238E27FC236}">
                <a16:creationId xmlns:a16="http://schemas.microsoft.com/office/drawing/2014/main" id="{84C8790F-1E43-4459-99ED-5878BD3C40D4}"/>
              </a:ext>
            </a:extLst>
          </p:cNvPr>
          <p:cNvSpPr txBox="1"/>
          <p:nvPr/>
        </p:nvSpPr>
        <p:spPr>
          <a:xfrm>
            <a:off x="5660542" y="3612642"/>
            <a:ext cx="2424161" cy="400110"/>
          </a:xfrm>
          <a:prstGeom prst="rect">
            <a:avLst/>
          </a:prstGeom>
          <a:noFill/>
        </p:spPr>
        <p:txBody>
          <a:bodyPr wrap="square" rtlCol="0">
            <a:spAutoFit/>
          </a:bodyPr>
          <a:lstStyle/>
          <a:p>
            <a:pPr algn="ctr"/>
            <a:r>
              <a:rPr lang="es-CO" sz="2000" b="1" dirty="0"/>
              <a:t>Python</a:t>
            </a:r>
          </a:p>
        </p:txBody>
      </p:sp>
      <p:pic>
        <p:nvPicPr>
          <p:cNvPr id="11" name="Picture 4" descr="http://fc08.deviantart.net/fs46/f/2009/234/c/4/c49c0ed56535d564df12843469ecf56f.jpg">
            <a:extLst>
              <a:ext uri="{FF2B5EF4-FFF2-40B4-BE49-F238E27FC236}">
                <a16:creationId xmlns:a16="http://schemas.microsoft.com/office/drawing/2014/main" id="{F2646DE8-05CC-4E3C-AEA0-15FB072265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427" y="4437112"/>
            <a:ext cx="460643" cy="10928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images4.wikia.nocookie.net/__cb20111104190436/looneytunes/es/images/4/49/Gallo_Claudio.jpg">
            <a:extLst>
              <a:ext uri="{FF2B5EF4-FFF2-40B4-BE49-F238E27FC236}">
                <a16:creationId xmlns:a16="http://schemas.microsoft.com/office/drawing/2014/main" id="{B395B6A8-46AD-457F-BA38-D27F104C10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6776" y="4437112"/>
            <a:ext cx="1081248" cy="1066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63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Alternativa múltiple – Mismo criterio</a:t>
            </a:r>
          </a:p>
        </p:txBody>
      </p:sp>
      <p:pic>
        <p:nvPicPr>
          <p:cNvPr id="12" name="Imagen 11">
            <a:extLst>
              <a:ext uri="{FF2B5EF4-FFF2-40B4-BE49-F238E27FC236}">
                <a16:creationId xmlns:a16="http://schemas.microsoft.com/office/drawing/2014/main" id="{C2661223-A77C-4546-A1DB-3499A28DC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061" y="2348879"/>
            <a:ext cx="4808820" cy="3384263"/>
          </a:xfrm>
          <a:prstGeom prst="rect">
            <a:avLst/>
          </a:prstGeom>
        </p:spPr>
      </p:pic>
      <p:sp>
        <p:nvSpPr>
          <p:cNvPr id="6" name="12 Rectángulo">
            <a:extLst>
              <a:ext uri="{FF2B5EF4-FFF2-40B4-BE49-F238E27FC236}">
                <a16:creationId xmlns:a16="http://schemas.microsoft.com/office/drawing/2014/main" id="{8508C4C5-CBF9-4C17-AEB9-2B6B8EA367F8}"/>
              </a:ext>
            </a:extLst>
          </p:cNvPr>
          <p:cNvSpPr/>
          <p:nvPr/>
        </p:nvSpPr>
        <p:spPr>
          <a:xfrm>
            <a:off x="263061" y="836712"/>
            <a:ext cx="8443434" cy="707886"/>
          </a:xfrm>
          <a:prstGeom prst="rect">
            <a:avLst/>
          </a:prstGeom>
        </p:spPr>
        <p:txBody>
          <a:bodyPr wrap="square">
            <a:spAutoFit/>
          </a:bodyPr>
          <a:lstStyle/>
          <a:p>
            <a:r>
              <a:rPr lang="es-MX" sz="2000" dirty="0"/>
              <a:t>Veamos el caso en el que todas las condiciones evalúan el </a:t>
            </a:r>
            <a:r>
              <a:rPr lang="es-MX" sz="2000" b="1" dirty="0"/>
              <a:t>mismo criterio</a:t>
            </a:r>
            <a:r>
              <a:rPr lang="es-MX" sz="2000" dirty="0"/>
              <a:t>, por ejemplo, distintos rangos de una misma variable (como una escala de notas)</a:t>
            </a:r>
            <a:endParaRPr lang="es-CO" sz="2000" dirty="0"/>
          </a:p>
        </p:txBody>
      </p:sp>
      <p:sp>
        <p:nvSpPr>
          <p:cNvPr id="7" name="CuadroTexto 6">
            <a:extLst>
              <a:ext uri="{FF2B5EF4-FFF2-40B4-BE49-F238E27FC236}">
                <a16:creationId xmlns:a16="http://schemas.microsoft.com/office/drawing/2014/main" id="{7EF0C72B-D8A1-4E3E-9FCD-98E4B022325B}"/>
              </a:ext>
            </a:extLst>
          </p:cNvPr>
          <p:cNvSpPr txBox="1"/>
          <p:nvPr/>
        </p:nvSpPr>
        <p:spPr>
          <a:xfrm>
            <a:off x="5220072" y="1988840"/>
            <a:ext cx="3699295" cy="4185761"/>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condicion_1</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condicion_1 verdad</a:t>
            </a:r>
          </a:p>
          <a:p>
            <a:pPr indent="-57150"/>
            <a:r>
              <a:rPr lang="es-ES" sz="1400" dirty="0">
                <a:solidFill>
                  <a:schemeClr val="accent4"/>
                </a:solidFill>
                <a:latin typeface="Consolas" panose="020B0609020204030204" pitchFamily="49" charset="0"/>
              </a:rPr>
              <a:t>Sino</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condicion_2</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condicion_2 verdad</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condicion_3</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condicion_3 verdad</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condicion_n</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condicion_n verdad</a:t>
            </a:r>
          </a:p>
          <a:p>
            <a:pPr indent="-57150"/>
            <a:r>
              <a:rPr lang="es-ES" sz="1400" dirty="0">
                <a:solidFill>
                  <a:schemeClr val="accent4"/>
                </a:solidFill>
                <a:latin typeface="Consolas" panose="020B0609020204030204" pitchFamily="49" charset="0"/>
              </a:rPr>
              <a:t>      Sino</a:t>
            </a:r>
          </a:p>
          <a:p>
            <a:pPr indent="-57150"/>
            <a:r>
              <a:rPr lang="es-ES" sz="1400" dirty="0">
                <a:latin typeface="Consolas" panose="020B0609020204030204" pitchFamily="49" charset="0"/>
              </a:rPr>
              <a:t>        condicion_n falso</a:t>
            </a:r>
          </a:p>
          <a:p>
            <a:pPr indent="-57150"/>
            <a:r>
              <a:rPr lang="es-ES" sz="1400" dirty="0">
                <a:solidFill>
                  <a:schemeClr val="accent4"/>
                </a:solidFill>
                <a:latin typeface="Consolas" panose="020B0609020204030204" pitchFamily="49" charset="0"/>
              </a:rPr>
              <a:t>      Fin_Si</a:t>
            </a:r>
          </a:p>
          <a:p>
            <a:pPr indent="-57150"/>
            <a:r>
              <a:rPr lang="es-ES" sz="1400" dirty="0">
                <a:solidFill>
                  <a:schemeClr val="accent4"/>
                </a:solidFill>
                <a:latin typeface="Consolas" panose="020B0609020204030204" pitchFamily="49" charset="0"/>
              </a:rPr>
              <a:t>      ...</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    Fin_Si </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  Fin_Si</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0CE8C173-7707-48F4-A17E-7B72328AD3B5}"/>
              </a:ext>
            </a:extLst>
          </p:cNvPr>
          <p:cNvSpPr txBox="1"/>
          <p:nvPr/>
        </p:nvSpPr>
        <p:spPr>
          <a:xfrm>
            <a:off x="5524870" y="1573301"/>
            <a:ext cx="2424161" cy="400110"/>
          </a:xfrm>
          <a:prstGeom prst="rect">
            <a:avLst/>
          </a:prstGeom>
          <a:noFill/>
        </p:spPr>
        <p:txBody>
          <a:bodyPr wrap="square" rtlCol="0">
            <a:spAutoFit/>
          </a:bodyPr>
          <a:lstStyle/>
          <a:p>
            <a:pPr algn="ctr"/>
            <a:r>
              <a:rPr lang="es-CO" sz="2000" b="1" dirty="0"/>
              <a:t>Pseudocódigo</a:t>
            </a:r>
          </a:p>
        </p:txBody>
      </p:sp>
      <p:sp>
        <p:nvSpPr>
          <p:cNvPr id="9" name="CuadroTexto 8">
            <a:extLst>
              <a:ext uri="{FF2B5EF4-FFF2-40B4-BE49-F238E27FC236}">
                <a16:creationId xmlns:a16="http://schemas.microsoft.com/office/drawing/2014/main" id="{9B118BBB-98AA-4C68-B5A2-15748A12FB6E}"/>
              </a:ext>
            </a:extLst>
          </p:cNvPr>
          <p:cNvSpPr txBox="1"/>
          <p:nvPr/>
        </p:nvSpPr>
        <p:spPr>
          <a:xfrm>
            <a:off x="1455390" y="1604636"/>
            <a:ext cx="2424161" cy="400110"/>
          </a:xfrm>
          <a:prstGeom prst="rect">
            <a:avLst/>
          </a:prstGeom>
          <a:noFill/>
        </p:spPr>
        <p:txBody>
          <a:bodyPr wrap="square" rtlCol="0">
            <a:spAutoFit/>
          </a:bodyPr>
          <a:lstStyle/>
          <a:p>
            <a:pPr algn="ctr"/>
            <a:r>
              <a:rPr lang="es-CO" sz="2000" b="1" dirty="0"/>
              <a:t>Diagrama de flujo</a:t>
            </a:r>
          </a:p>
        </p:txBody>
      </p:sp>
    </p:spTree>
    <p:extLst>
      <p:ext uri="{BB962C8B-B14F-4D97-AF65-F5344CB8AC3E}">
        <p14:creationId xmlns:p14="http://schemas.microsoft.com/office/powerpoint/2010/main" val="1157519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0" y="223755"/>
            <a:ext cx="8269379" cy="628407"/>
          </a:xfrm>
        </p:spPr>
        <p:txBody>
          <a:bodyPr>
            <a:normAutofit fontScale="90000"/>
          </a:bodyPr>
          <a:lstStyle/>
          <a:p>
            <a:r>
              <a:rPr lang="es-CO" dirty="0"/>
              <a:t>Alternativa múltiple – Diferente criterio</a:t>
            </a:r>
          </a:p>
        </p:txBody>
      </p:sp>
      <p:sp>
        <p:nvSpPr>
          <p:cNvPr id="6" name="12 Rectángulo">
            <a:extLst>
              <a:ext uri="{FF2B5EF4-FFF2-40B4-BE49-F238E27FC236}">
                <a16:creationId xmlns:a16="http://schemas.microsoft.com/office/drawing/2014/main" id="{8508C4C5-CBF9-4C17-AEB9-2B6B8EA367F8}"/>
              </a:ext>
            </a:extLst>
          </p:cNvPr>
          <p:cNvSpPr/>
          <p:nvPr/>
        </p:nvSpPr>
        <p:spPr>
          <a:xfrm>
            <a:off x="263061" y="977073"/>
            <a:ext cx="8443434" cy="1015663"/>
          </a:xfrm>
          <a:prstGeom prst="rect">
            <a:avLst/>
          </a:prstGeom>
        </p:spPr>
        <p:txBody>
          <a:bodyPr wrap="square">
            <a:spAutoFit/>
          </a:bodyPr>
          <a:lstStyle/>
          <a:p>
            <a:r>
              <a:rPr lang="es-MX" sz="2000" dirty="0"/>
              <a:t>Veamos el caso en el que cada rama evalúa un </a:t>
            </a:r>
            <a:r>
              <a:rPr lang="es-MX" sz="2000" b="1" dirty="0"/>
              <a:t>criterio distinto</a:t>
            </a:r>
            <a:r>
              <a:rPr lang="es-MX" sz="2000" dirty="0"/>
              <a:t>, por ejemplo, un umbral que cambia según la decisión anterior (como el sexo y luego un límite de edad diferente para cada uno).</a:t>
            </a:r>
            <a:endParaRPr lang="es-CO" sz="2000" dirty="0"/>
          </a:p>
        </p:txBody>
      </p:sp>
      <p:sp>
        <p:nvSpPr>
          <p:cNvPr id="7" name="CuadroTexto 6">
            <a:extLst>
              <a:ext uri="{FF2B5EF4-FFF2-40B4-BE49-F238E27FC236}">
                <a16:creationId xmlns:a16="http://schemas.microsoft.com/office/drawing/2014/main" id="{7EF0C72B-D8A1-4E3E-9FCD-98E4B022325B}"/>
              </a:ext>
            </a:extLst>
          </p:cNvPr>
          <p:cNvSpPr txBox="1"/>
          <p:nvPr/>
        </p:nvSpPr>
        <p:spPr>
          <a:xfrm>
            <a:off x="5220072" y="2575677"/>
            <a:ext cx="3699295" cy="289310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condicion_1</a:t>
            </a:r>
            <a:r>
              <a:rPr lang="es-ES" sz="1400" dirty="0">
                <a:solidFill>
                  <a:schemeClr val="accent4"/>
                </a:solidFill>
                <a:latin typeface="Consolas" panose="020B0609020204030204" pitchFamily="49" charset="0"/>
              </a:rPr>
              <a:t>) Entonces</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condicion_3</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condicion_3a verdad</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a:t>
            </a:r>
            <a:r>
              <a:rPr lang="es-ES" sz="1400" dirty="0">
                <a:latin typeface="Consolas" panose="020B0609020204030204" pitchFamily="49" charset="0"/>
              </a:rPr>
              <a:t>condicion_3b </a:t>
            </a:r>
          </a:p>
          <a:p>
            <a:pPr indent="-57150"/>
            <a:r>
              <a:rPr lang="es-ES" sz="1400" dirty="0">
                <a:solidFill>
                  <a:schemeClr val="accent4"/>
                </a:solidFill>
                <a:latin typeface="Consolas" panose="020B0609020204030204" pitchFamily="49" charset="0"/>
              </a:rPr>
              <a:t>  Fin_Si</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Sino</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condicion_2</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condicion_2a</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a:t>
            </a:r>
            <a:r>
              <a:rPr lang="es-ES" sz="1400" dirty="0">
                <a:latin typeface="Consolas" panose="020B0609020204030204" pitchFamily="49" charset="0"/>
              </a:rPr>
              <a:t>condicion_2b</a:t>
            </a:r>
            <a:endParaRPr lang="es-ES" sz="1400" dirty="0">
              <a:solidFill>
                <a:schemeClr val="accent4"/>
              </a:solidFill>
              <a:latin typeface="Consolas" panose="020B0609020204030204" pitchFamily="49" charset="0"/>
            </a:endParaRPr>
          </a:p>
          <a:p>
            <a:pPr indent="-57150"/>
            <a:r>
              <a:rPr lang="es-ES" sz="1400" dirty="0">
                <a:solidFill>
                  <a:schemeClr val="accent4"/>
                </a:solidFill>
                <a:latin typeface="Consolas" panose="020B0609020204030204" pitchFamily="49" charset="0"/>
              </a:rPr>
              <a:t>  Fin_Si</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0CE8C173-7707-48F4-A17E-7B72328AD3B5}"/>
              </a:ext>
            </a:extLst>
          </p:cNvPr>
          <p:cNvSpPr txBox="1"/>
          <p:nvPr/>
        </p:nvSpPr>
        <p:spPr>
          <a:xfrm>
            <a:off x="5524870" y="2160138"/>
            <a:ext cx="2424161" cy="400110"/>
          </a:xfrm>
          <a:prstGeom prst="rect">
            <a:avLst/>
          </a:prstGeom>
          <a:noFill/>
        </p:spPr>
        <p:txBody>
          <a:bodyPr wrap="square" rtlCol="0">
            <a:spAutoFit/>
          </a:bodyPr>
          <a:lstStyle/>
          <a:p>
            <a:pPr algn="ctr"/>
            <a:r>
              <a:rPr lang="es-CO" sz="2000" b="1" dirty="0"/>
              <a:t>Pseudocódigo</a:t>
            </a:r>
          </a:p>
        </p:txBody>
      </p:sp>
      <p:sp>
        <p:nvSpPr>
          <p:cNvPr id="9" name="CuadroTexto 8">
            <a:extLst>
              <a:ext uri="{FF2B5EF4-FFF2-40B4-BE49-F238E27FC236}">
                <a16:creationId xmlns:a16="http://schemas.microsoft.com/office/drawing/2014/main" id="{9B118BBB-98AA-4C68-B5A2-15748A12FB6E}"/>
              </a:ext>
            </a:extLst>
          </p:cNvPr>
          <p:cNvSpPr txBox="1"/>
          <p:nvPr/>
        </p:nvSpPr>
        <p:spPr>
          <a:xfrm>
            <a:off x="1455390" y="2191473"/>
            <a:ext cx="2424161" cy="400110"/>
          </a:xfrm>
          <a:prstGeom prst="rect">
            <a:avLst/>
          </a:prstGeom>
          <a:noFill/>
        </p:spPr>
        <p:txBody>
          <a:bodyPr wrap="square" rtlCol="0">
            <a:spAutoFit/>
          </a:bodyPr>
          <a:lstStyle/>
          <a:p>
            <a:pPr algn="ctr"/>
            <a:r>
              <a:rPr lang="es-CO" sz="2000" b="1" dirty="0"/>
              <a:t>Diagrama de flujo</a:t>
            </a:r>
          </a:p>
        </p:txBody>
      </p:sp>
      <p:pic>
        <p:nvPicPr>
          <p:cNvPr id="10" name="Picture 3">
            <a:extLst>
              <a:ext uri="{FF2B5EF4-FFF2-40B4-BE49-F238E27FC236}">
                <a16:creationId xmlns:a16="http://schemas.microsoft.com/office/drawing/2014/main" id="{C047F0E5-EEF4-45FC-B86C-DAD924B135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84" y="2754971"/>
            <a:ext cx="4741172" cy="2906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8393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367890"/>
            <a:ext cx="8258294" cy="782960"/>
          </a:xfrm>
        </p:spPr>
        <p:txBody>
          <a:bodyPr>
            <a:normAutofit/>
          </a:bodyPr>
          <a:lstStyle/>
          <a:p>
            <a:r>
              <a:rPr lang="es-CO" sz="4000" dirty="0"/>
              <a:t>Ejemplo de repaso</a:t>
            </a:r>
          </a:p>
        </p:txBody>
      </p:sp>
      <p:sp>
        <p:nvSpPr>
          <p:cNvPr id="13" name="12 Rectángulo"/>
          <p:cNvSpPr/>
          <p:nvPr/>
        </p:nvSpPr>
        <p:spPr>
          <a:xfrm>
            <a:off x="246564" y="1150850"/>
            <a:ext cx="8501900" cy="1077218"/>
          </a:xfrm>
          <a:prstGeom prst="rect">
            <a:avLst/>
          </a:prstGeom>
        </p:spPr>
        <p:txBody>
          <a:bodyPr wrap="square">
            <a:spAutoFit/>
          </a:bodyPr>
          <a:lstStyle/>
          <a:p>
            <a:r>
              <a:rPr lang="es-CO" sz="2200" b="1" dirty="0"/>
              <a:t>Ejemplo – Año bisiesto:</a:t>
            </a:r>
            <a:endParaRPr lang="es-CO" sz="2400" b="1" dirty="0"/>
          </a:p>
          <a:p>
            <a:r>
              <a:rPr lang="es-CO" sz="2000" dirty="0"/>
              <a:t>Se requiere un algoritmo que al ser preguntado por un año cualquiera, diga si éste es un año </a:t>
            </a:r>
            <a:r>
              <a:rPr lang="es-CO" sz="2000" dirty="0">
                <a:hlinkClick r:id="rId2"/>
              </a:rPr>
              <a:t>bisiesto</a:t>
            </a:r>
            <a:r>
              <a:rPr lang="es-CO" sz="2000" dirty="0">
                <a:solidFill>
                  <a:schemeClr val="accent5"/>
                </a:solidFill>
              </a:rPr>
              <a:t> </a:t>
            </a:r>
            <a:r>
              <a:rPr lang="es-CO" sz="2000" dirty="0"/>
              <a:t>o no.</a:t>
            </a:r>
          </a:p>
        </p:txBody>
      </p:sp>
      <p:pic>
        <p:nvPicPr>
          <p:cNvPr id="6" name="Picture 2" descr="http://blogs.babycenter.com/wp-content/uploads/2012/02/Leap-Year.jpg">
            <a:extLst>
              <a:ext uri="{FF2B5EF4-FFF2-40B4-BE49-F238E27FC236}">
                <a16:creationId xmlns:a16="http://schemas.microsoft.com/office/drawing/2014/main" id="{F46D5F20-210F-4D35-BDA3-69AF86C124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680" y="2549539"/>
            <a:ext cx="3964523" cy="20483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a:extLst>
              <a:ext uri="{FF2B5EF4-FFF2-40B4-BE49-F238E27FC236}">
                <a16:creationId xmlns:a16="http://schemas.microsoft.com/office/drawing/2014/main" id="{FC7030CF-E60E-45A6-95C5-8EB7998034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8464" y="2730637"/>
            <a:ext cx="4297763" cy="1686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uadroTexto 7">
            <a:extLst>
              <a:ext uri="{FF2B5EF4-FFF2-40B4-BE49-F238E27FC236}">
                <a16:creationId xmlns:a16="http://schemas.microsoft.com/office/drawing/2014/main" id="{5EC20E60-233C-4470-944C-A510A13F08D1}"/>
              </a:ext>
            </a:extLst>
          </p:cNvPr>
          <p:cNvSpPr txBox="1"/>
          <p:nvPr/>
        </p:nvSpPr>
        <p:spPr>
          <a:xfrm>
            <a:off x="421680" y="5229200"/>
            <a:ext cx="8414547" cy="1138773"/>
          </a:xfrm>
          <a:prstGeom prst="rect">
            <a:avLst/>
          </a:prstGeom>
          <a:solidFill>
            <a:schemeClr val="bg2"/>
          </a:solidFill>
        </p:spPr>
        <p:txBody>
          <a:bodyPr wrap="square">
            <a:spAutoFit/>
          </a:bodyPr>
          <a:lstStyle/>
          <a:p>
            <a:r>
              <a:rPr lang="es-MX" dirty="0"/>
              <a:t>Un </a:t>
            </a:r>
            <a:r>
              <a:rPr lang="es-MX" b="1" dirty="0"/>
              <a:t>año bisiesto</a:t>
            </a:r>
            <a:r>
              <a:rPr lang="es-MX" dirty="0"/>
              <a:t> es el divisible entre 4, salvo que sea año secular —último de cada siglo, terminado en «00»—, en cuyo caso también ha de ser divisible entre 400.</a:t>
            </a:r>
          </a:p>
          <a:p>
            <a:endParaRPr lang="es-MX" dirty="0"/>
          </a:p>
          <a:p>
            <a:pPr algn="r"/>
            <a:r>
              <a:rPr lang="es-MX" sz="1400" dirty="0"/>
              <a:t>Para profundizar mas ver esto en </a:t>
            </a:r>
            <a:r>
              <a:rPr lang="es-MX" sz="1400" dirty="0">
                <a:hlinkClick r:id="rId2"/>
              </a:rPr>
              <a:t>wikipedia</a:t>
            </a:r>
            <a:endParaRPr lang="es-CO" sz="1400" dirty="0"/>
          </a:p>
        </p:txBody>
      </p:sp>
    </p:spTree>
    <p:extLst>
      <p:ext uri="{BB962C8B-B14F-4D97-AF65-F5344CB8AC3E}">
        <p14:creationId xmlns:p14="http://schemas.microsoft.com/office/powerpoint/2010/main" val="1739426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367890"/>
            <a:ext cx="8258294" cy="782960"/>
          </a:xfrm>
        </p:spPr>
        <p:txBody>
          <a:bodyPr>
            <a:normAutofit/>
          </a:bodyPr>
          <a:lstStyle/>
          <a:p>
            <a:r>
              <a:rPr lang="es-CO" sz="4000" dirty="0"/>
              <a:t>Ejemplo de repaso</a:t>
            </a:r>
          </a:p>
        </p:txBody>
      </p:sp>
      <p:sp>
        <p:nvSpPr>
          <p:cNvPr id="13" name="12 Rectángulo"/>
          <p:cNvSpPr/>
          <p:nvPr/>
        </p:nvSpPr>
        <p:spPr>
          <a:xfrm>
            <a:off x="246564" y="1150850"/>
            <a:ext cx="8640380" cy="1046440"/>
          </a:xfrm>
          <a:prstGeom prst="rect">
            <a:avLst/>
          </a:prstGeom>
        </p:spPr>
        <p:txBody>
          <a:bodyPr wrap="square">
            <a:spAutoFit/>
          </a:bodyPr>
          <a:lstStyle/>
          <a:p>
            <a:r>
              <a:rPr lang="es-CO" sz="2200" b="1" dirty="0"/>
              <a:t>Según la definición anterior para año bisiesto tenga en cuenta que:</a:t>
            </a:r>
            <a:endParaRPr lang="es-CO" sz="2400" b="1" dirty="0"/>
          </a:p>
          <a:p>
            <a:pPr marL="342900" indent="-342900">
              <a:buFont typeface="Arial" panose="020B0604020202020204" pitchFamily="34" charset="0"/>
              <a:buChar char="•"/>
            </a:pPr>
            <a:r>
              <a:rPr lang="es-CO" sz="2000" dirty="0"/>
              <a:t>Debe ser múltiplo de cuatro pero no multiplo de 100 (fin de siglo)</a:t>
            </a:r>
          </a:p>
          <a:p>
            <a:pPr marL="342900" indent="-342900">
              <a:buFont typeface="Arial" panose="020B0604020202020204" pitchFamily="34" charset="0"/>
              <a:buChar char="•"/>
            </a:pPr>
            <a:r>
              <a:rPr lang="es-CO" sz="2000" dirty="0"/>
              <a:t>Si es fin de siglo, también deber ser multiplo de 400.</a:t>
            </a:r>
          </a:p>
        </p:txBody>
      </p:sp>
      <p:pic>
        <p:nvPicPr>
          <p:cNvPr id="3" name="Imagen 2">
            <a:extLst>
              <a:ext uri="{FF2B5EF4-FFF2-40B4-BE49-F238E27FC236}">
                <a16:creationId xmlns:a16="http://schemas.microsoft.com/office/drawing/2014/main" id="{442A0907-79D3-42EE-AA5D-6E4B61360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2420888"/>
            <a:ext cx="5400600" cy="4064535"/>
          </a:xfrm>
          <a:prstGeom prst="rect">
            <a:avLst/>
          </a:prstGeom>
        </p:spPr>
      </p:pic>
      <p:graphicFrame>
        <p:nvGraphicFramePr>
          <p:cNvPr id="21" name="15 Tabla">
            <a:extLst>
              <a:ext uri="{FF2B5EF4-FFF2-40B4-BE49-F238E27FC236}">
                <a16:creationId xmlns:a16="http://schemas.microsoft.com/office/drawing/2014/main" id="{3D06853C-2E03-4EB4-AFC4-ACA9553064CF}"/>
              </a:ext>
            </a:extLst>
          </p:cNvPr>
          <p:cNvGraphicFramePr>
            <a:graphicFrameLocks noGrp="1"/>
          </p:cNvGraphicFramePr>
          <p:nvPr>
            <p:extLst>
              <p:ext uri="{D42A27DB-BD31-4B8C-83A1-F6EECF244321}">
                <p14:modId xmlns:p14="http://schemas.microsoft.com/office/powerpoint/2010/main" val="3860879851"/>
              </p:ext>
            </p:extLst>
          </p:nvPr>
        </p:nvGraphicFramePr>
        <p:xfrm>
          <a:off x="6516216" y="2420888"/>
          <a:ext cx="1772916" cy="1402080"/>
        </p:xfrm>
        <a:graphic>
          <a:graphicData uri="http://schemas.openxmlformats.org/drawingml/2006/table">
            <a:tbl>
              <a:tblPr firstRow="1" bandRow="1">
                <a:tableStyleId>{5940675A-B579-460E-94D1-54222C63F5DA}</a:tableStyleId>
              </a:tblPr>
              <a:tblGrid>
                <a:gridCol w="886458">
                  <a:extLst>
                    <a:ext uri="{9D8B030D-6E8A-4147-A177-3AD203B41FA5}">
                      <a16:colId xmlns:a16="http://schemas.microsoft.com/office/drawing/2014/main" val="20000"/>
                    </a:ext>
                  </a:extLst>
                </a:gridCol>
                <a:gridCol w="886458">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year</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Bisiesto</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2023</a:t>
                      </a:r>
                    </a:p>
                    <a:p>
                      <a:pPr marL="0" marR="0" indent="0" algn="ctr" defTabSz="914400" rtl="0" eaLnBrk="1" fontAlgn="auto" latinLnBrk="0" hangingPunct="1">
                        <a:lnSpc>
                          <a:spcPct val="100000"/>
                        </a:lnSpc>
                        <a:spcBef>
                          <a:spcPts val="0"/>
                        </a:spcBef>
                        <a:spcAft>
                          <a:spcPts val="0"/>
                        </a:spcAft>
                        <a:buClrTx/>
                        <a:buSzTx/>
                        <a:buFontTx/>
                        <a:buNone/>
                        <a:tabLst/>
                        <a:defRPr/>
                      </a:pPr>
                      <a:r>
                        <a:rPr lang="es-CO" sz="1600" b="0" dirty="0">
                          <a:solidFill>
                            <a:schemeClr val="tx1"/>
                          </a:solidFill>
                          <a:latin typeface="+mn-lt"/>
                          <a:cs typeface="Consolas" panose="020B0609020204030204" pitchFamily="49" charset="0"/>
                        </a:rPr>
                        <a:t>2024</a:t>
                      </a:r>
                    </a:p>
                    <a:p>
                      <a:pPr marL="0" marR="0" indent="0" algn="ctr" defTabSz="914400" rtl="0" eaLnBrk="1" fontAlgn="auto" latinLnBrk="0" hangingPunct="1">
                        <a:lnSpc>
                          <a:spcPct val="100000"/>
                        </a:lnSpc>
                        <a:spcBef>
                          <a:spcPts val="0"/>
                        </a:spcBef>
                        <a:spcAft>
                          <a:spcPts val="0"/>
                        </a:spcAft>
                        <a:buClrTx/>
                        <a:buSzTx/>
                        <a:buFontTx/>
                        <a:buNone/>
                        <a:tabLst/>
                        <a:defRPr/>
                      </a:pPr>
                      <a:r>
                        <a:rPr lang="es-CO" sz="1600" b="0" dirty="0">
                          <a:solidFill>
                            <a:schemeClr val="tx1"/>
                          </a:solidFill>
                          <a:latin typeface="+mn-lt"/>
                          <a:cs typeface="Consolas" panose="020B0609020204030204" pitchFamily="49" charset="0"/>
                        </a:rPr>
                        <a:t>1900</a:t>
                      </a:r>
                    </a:p>
                    <a:p>
                      <a:pPr marL="0" marR="0" indent="0" algn="ctr" defTabSz="914400" rtl="0" eaLnBrk="1" fontAlgn="auto" latinLnBrk="0" hangingPunct="1">
                        <a:lnSpc>
                          <a:spcPct val="100000"/>
                        </a:lnSpc>
                        <a:spcBef>
                          <a:spcPts val="0"/>
                        </a:spcBef>
                        <a:spcAft>
                          <a:spcPts val="0"/>
                        </a:spcAft>
                        <a:buClrTx/>
                        <a:buSzTx/>
                        <a:buFontTx/>
                        <a:buNone/>
                        <a:tabLst/>
                        <a:defRPr/>
                      </a:pPr>
                      <a:r>
                        <a:rPr lang="es-CO" sz="1600" b="0" dirty="0">
                          <a:solidFill>
                            <a:schemeClr val="tx1"/>
                          </a:solidFill>
                          <a:latin typeface="+mn-lt"/>
                          <a:cs typeface="Consolas" panose="020B0609020204030204" pitchFamily="49" charset="0"/>
                        </a:rPr>
                        <a:t>2000</a:t>
                      </a:r>
                    </a:p>
                  </a:txBody>
                  <a:tcPr/>
                </a:tc>
                <a:tc>
                  <a:txBody>
                    <a:bodyPr/>
                    <a:lstStyle/>
                    <a:p>
                      <a:pPr algn="ctr"/>
                      <a:r>
                        <a:rPr lang="es-CO" sz="1600" b="0" dirty="0">
                          <a:solidFill>
                            <a:schemeClr val="tx1"/>
                          </a:solidFill>
                          <a:latin typeface="+mn-lt"/>
                          <a:cs typeface="Consolas" panose="020B0609020204030204" pitchFamily="49" charset="0"/>
                        </a:rPr>
                        <a:t>No</a:t>
                      </a:r>
                    </a:p>
                    <a:p>
                      <a:pPr algn="ctr"/>
                      <a:r>
                        <a:rPr lang="es-CO" sz="1600" b="0" dirty="0">
                          <a:solidFill>
                            <a:schemeClr val="tx1"/>
                          </a:solidFill>
                          <a:latin typeface="+mn-lt"/>
                          <a:cs typeface="Consolas" panose="020B0609020204030204" pitchFamily="49" charset="0"/>
                        </a:rPr>
                        <a:t>Si</a:t>
                      </a:r>
                    </a:p>
                    <a:p>
                      <a:pPr algn="ctr"/>
                      <a:r>
                        <a:rPr lang="es-CO" sz="1600" b="0" dirty="0">
                          <a:solidFill>
                            <a:schemeClr val="tx1"/>
                          </a:solidFill>
                          <a:latin typeface="+mn-lt"/>
                          <a:cs typeface="Consolas" panose="020B0609020204030204" pitchFamily="49" charset="0"/>
                        </a:rPr>
                        <a:t>No</a:t>
                      </a:r>
                    </a:p>
                    <a:p>
                      <a:pPr algn="ctr"/>
                      <a:r>
                        <a:rPr lang="es-CO" sz="1600" b="0" dirty="0">
                          <a:solidFill>
                            <a:schemeClr val="tx1"/>
                          </a:solidFill>
                          <a:latin typeface="+mn-lt"/>
                          <a:cs typeface="Consolas" panose="020B0609020204030204" pitchFamily="49" charset="0"/>
                        </a:rPr>
                        <a:t>Si</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82603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367890"/>
            <a:ext cx="8258294" cy="782960"/>
          </a:xfrm>
        </p:spPr>
        <p:txBody>
          <a:bodyPr>
            <a:normAutofit/>
          </a:bodyPr>
          <a:lstStyle/>
          <a:p>
            <a:r>
              <a:rPr lang="es-CO" sz="4000" dirty="0"/>
              <a:t>Ejemplo de repaso</a:t>
            </a:r>
          </a:p>
        </p:txBody>
      </p:sp>
      <p:sp>
        <p:nvSpPr>
          <p:cNvPr id="13" name="12 Rectángulo"/>
          <p:cNvSpPr/>
          <p:nvPr/>
        </p:nvSpPr>
        <p:spPr>
          <a:xfrm>
            <a:off x="246564" y="1150850"/>
            <a:ext cx="8640380" cy="1046440"/>
          </a:xfrm>
          <a:prstGeom prst="rect">
            <a:avLst/>
          </a:prstGeom>
        </p:spPr>
        <p:txBody>
          <a:bodyPr wrap="square">
            <a:spAutoFit/>
          </a:bodyPr>
          <a:lstStyle/>
          <a:p>
            <a:r>
              <a:rPr lang="es-CO" sz="2200" b="1" dirty="0"/>
              <a:t>Según la definición anterior para año bisiesto tenga en cuenta que:</a:t>
            </a:r>
            <a:endParaRPr lang="es-CO" sz="2400" b="1" dirty="0"/>
          </a:p>
          <a:p>
            <a:pPr marL="342900" indent="-342900">
              <a:buFont typeface="Arial" panose="020B0604020202020204" pitchFamily="34" charset="0"/>
              <a:buChar char="•"/>
            </a:pPr>
            <a:r>
              <a:rPr lang="es-CO" sz="2000" dirty="0"/>
              <a:t>Debe ser múltiplo de cuatro pero no multiplo de 100 (fin de siglo)</a:t>
            </a:r>
          </a:p>
          <a:p>
            <a:pPr marL="342900" indent="-342900">
              <a:buFont typeface="Arial" panose="020B0604020202020204" pitchFamily="34" charset="0"/>
              <a:buChar char="•"/>
            </a:pPr>
            <a:r>
              <a:rPr lang="es-CO" sz="2000" dirty="0"/>
              <a:t>Si es fin de siglo, también deber ser multiplo de 400.</a:t>
            </a:r>
          </a:p>
        </p:txBody>
      </p:sp>
      <p:pic>
        <p:nvPicPr>
          <p:cNvPr id="4" name="Imagen 3">
            <a:extLst>
              <a:ext uri="{FF2B5EF4-FFF2-40B4-BE49-F238E27FC236}">
                <a16:creationId xmlns:a16="http://schemas.microsoft.com/office/drawing/2014/main" id="{2E99B0B8-55CB-43E4-A714-C0747A93D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3045508"/>
            <a:ext cx="4559828" cy="2903771"/>
          </a:xfrm>
          <a:prstGeom prst="rect">
            <a:avLst/>
          </a:prstGeom>
        </p:spPr>
      </p:pic>
      <p:graphicFrame>
        <p:nvGraphicFramePr>
          <p:cNvPr id="7" name="15 Tabla">
            <a:extLst>
              <a:ext uri="{FF2B5EF4-FFF2-40B4-BE49-F238E27FC236}">
                <a16:creationId xmlns:a16="http://schemas.microsoft.com/office/drawing/2014/main" id="{3386432F-1025-40B0-89F7-0C7A35CA5D6B}"/>
              </a:ext>
            </a:extLst>
          </p:cNvPr>
          <p:cNvGraphicFramePr>
            <a:graphicFrameLocks noGrp="1"/>
          </p:cNvGraphicFramePr>
          <p:nvPr>
            <p:extLst>
              <p:ext uri="{D42A27DB-BD31-4B8C-83A1-F6EECF244321}">
                <p14:modId xmlns:p14="http://schemas.microsoft.com/office/powerpoint/2010/main" val="3725003902"/>
              </p:ext>
            </p:extLst>
          </p:nvPr>
        </p:nvGraphicFramePr>
        <p:xfrm>
          <a:off x="6012160" y="2636912"/>
          <a:ext cx="1772916" cy="1402080"/>
        </p:xfrm>
        <a:graphic>
          <a:graphicData uri="http://schemas.openxmlformats.org/drawingml/2006/table">
            <a:tbl>
              <a:tblPr firstRow="1" bandRow="1">
                <a:tableStyleId>{5940675A-B579-460E-94D1-54222C63F5DA}</a:tableStyleId>
              </a:tblPr>
              <a:tblGrid>
                <a:gridCol w="886458">
                  <a:extLst>
                    <a:ext uri="{9D8B030D-6E8A-4147-A177-3AD203B41FA5}">
                      <a16:colId xmlns:a16="http://schemas.microsoft.com/office/drawing/2014/main" val="20000"/>
                    </a:ext>
                  </a:extLst>
                </a:gridCol>
                <a:gridCol w="886458">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year</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Bisiesto</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2023</a:t>
                      </a:r>
                    </a:p>
                    <a:p>
                      <a:pPr marL="0" marR="0" indent="0" algn="ctr" defTabSz="914400" rtl="0" eaLnBrk="1" fontAlgn="auto" latinLnBrk="0" hangingPunct="1">
                        <a:lnSpc>
                          <a:spcPct val="100000"/>
                        </a:lnSpc>
                        <a:spcBef>
                          <a:spcPts val="0"/>
                        </a:spcBef>
                        <a:spcAft>
                          <a:spcPts val="0"/>
                        </a:spcAft>
                        <a:buClrTx/>
                        <a:buSzTx/>
                        <a:buFontTx/>
                        <a:buNone/>
                        <a:tabLst/>
                        <a:defRPr/>
                      </a:pPr>
                      <a:r>
                        <a:rPr lang="es-CO" sz="1600" b="0" dirty="0">
                          <a:solidFill>
                            <a:schemeClr val="tx1"/>
                          </a:solidFill>
                          <a:latin typeface="+mn-lt"/>
                          <a:cs typeface="Consolas" panose="020B0609020204030204" pitchFamily="49" charset="0"/>
                        </a:rPr>
                        <a:t>2024</a:t>
                      </a:r>
                    </a:p>
                    <a:p>
                      <a:pPr marL="0" marR="0" indent="0" algn="ctr" defTabSz="914400" rtl="0" eaLnBrk="1" fontAlgn="auto" latinLnBrk="0" hangingPunct="1">
                        <a:lnSpc>
                          <a:spcPct val="100000"/>
                        </a:lnSpc>
                        <a:spcBef>
                          <a:spcPts val="0"/>
                        </a:spcBef>
                        <a:spcAft>
                          <a:spcPts val="0"/>
                        </a:spcAft>
                        <a:buClrTx/>
                        <a:buSzTx/>
                        <a:buFontTx/>
                        <a:buNone/>
                        <a:tabLst/>
                        <a:defRPr/>
                      </a:pPr>
                      <a:r>
                        <a:rPr lang="es-CO" sz="1600" b="0" dirty="0">
                          <a:solidFill>
                            <a:schemeClr val="tx1"/>
                          </a:solidFill>
                          <a:latin typeface="+mn-lt"/>
                          <a:cs typeface="Consolas" panose="020B0609020204030204" pitchFamily="49" charset="0"/>
                        </a:rPr>
                        <a:t>1900</a:t>
                      </a:r>
                    </a:p>
                    <a:p>
                      <a:pPr marL="0" marR="0" indent="0" algn="ctr" defTabSz="914400" rtl="0" eaLnBrk="1" fontAlgn="auto" latinLnBrk="0" hangingPunct="1">
                        <a:lnSpc>
                          <a:spcPct val="100000"/>
                        </a:lnSpc>
                        <a:spcBef>
                          <a:spcPts val="0"/>
                        </a:spcBef>
                        <a:spcAft>
                          <a:spcPts val="0"/>
                        </a:spcAft>
                        <a:buClrTx/>
                        <a:buSzTx/>
                        <a:buFontTx/>
                        <a:buNone/>
                        <a:tabLst/>
                        <a:defRPr/>
                      </a:pPr>
                      <a:r>
                        <a:rPr lang="es-CO" sz="1600" b="0" dirty="0">
                          <a:solidFill>
                            <a:schemeClr val="tx1"/>
                          </a:solidFill>
                          <a:latin typeface="+mn-lt"/>
                          <a:cs typeface="Consolas" panose="020B0609020204030204" pitchFamily="49" charset="0"/>
                        </a:rPr>
                        <a:t>2000</a:t>
                      </a:r>
                    </a:p>
                  </a:txBody>
                  <a:tcPr/>
                </a:tc>
                <a:tc>
                  <a:txBody>
                    <a:bodyPr/>
                    <a:lstStyle/>
                    <a:p>
                      <a:pPr algn="ctr"/>
                      <a:r>
                        <a:rPr lang="es-CO" sz="1600" b="0" dirty="0">
                          <a:solidFill>
                            <a:schemeClr val="tx1"/>
                          </a:solidFill>
                          <a:latin typeface="+mn-lt"/>
                          <a:cs typeface="Consolas" panose="020B0609020204030204" pitchFamily="49" charset="0"/>
                        </a:rPr>
                        <a:t>No</a:t>
                      </a:r>
                    </a:p>
                    <a:p>
                      <a:pPr algn="ctr"/>
                      <a:r>
                        <a:rPr lang="es-CO" sz="1600" b="0" dirty="0">
                          <a:solidFill>
                            <a:schemeClr val="tx1"/>
                          </a:solidFill>
                          <a:latin typeface="+mn-lt"/>
                          <a:cs typeface="Consolas" panose="020B0609020204030204" pitchFamily="49" charset="0"/>
                        </a:rPr>
                        <a:t>Si</a:t>
                      </a:r>
                    </a:p>
                    <a:p>
                      <a:pPr algn="ctr"/>
                      <a:r>
                        <a:rPr lang="es-CO" sz="1600" b="0" dirty="0">
                          <a:solidFill>
                            <a:schemeClr val="tx1"/>
                          </a:solidFill>
                          <a:latin typeface="+mn-lt"/>
                          <a:cs typeface="Consolas" panose="020B0609020204030204" pitchFamily="49" charset="0"/>
                        </a:rPr>
                        <a:t>No</a:t>
                      </a:r>
                    </a:p>
                    <a:p>
                      <a:pPr algn="ctr"/>
                      <a:r>
                        <a:rPr lang="es-CO" sz="1600" b="0" dirty="0">
                          <a:solidFill>
                            <a:schemeClr val="tx1"/>
                          </a:solidFill>
                          <a:latin typeface="+mn-lt"/>
                          <a:cs typeface="Consolas" panose="020B0609020204030204" pitchFamily="49" charset="0"/>
                        </a:rPr>
                        <a:t>Si</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69892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367890"/>
            <a:ext cx="8258294" cy="782960"/>
          </a:xfrm>
        </p:spPr>
        <p:txBody>
          <a:bodyPr>
            <a:normAutofit/>
          </a:bodyPr>
          <a:lstStyle/>
          <a:p>
            <a:r>
              <a:rPr lang="es-CO" sz="4000" dirty="0"/>
              <a:t>Ejemplo de repaso</a:t>
            </a:r>
          </a:p>
        </p:txBody>
      </p:sp>
      <p:sp>
        <p:nvSpPr>
          <p:cNvPr id="13" name="12 Rectángulo"/>
          <p:cNvSpPr/>
          <p:nvPr/>
        </p:nvSpPr>
        <p:spPr>
          <a:xfrm>
            <a:off x="257056" y="1056405"/>
            <a:ext cx="4963016" cy="430887"/>
          </a:xfrm>
          <a:prstGeom prst="rect">
            <a:avLst/>
          </a:prstGeom>
        </p:spPr>
        <p:txBody>
          <a:bodyPr wrap="square">
            <a:spAutoFit/>
          </a:bodyPr>
          <a:lstStyle/>
          <a:p>
            <a:r>
              <a:rPr lang="es-CO" sz="2200" b="1" dirty="0"/>
              <a:t>Ejemplo – Año bisiesto:</a:t>
            </a:r>
            <a:endParaRPr lang="es-CO" sz="2400" b="1" dirty="0"/>
          </a:p>
        </p:txBody>
      </p:sp>
      <p:sp>
        <p:nvSpPr>
          <p:cNvPr id="9" name="5 CuadroTexto">
            <a:extLst>
              <a:ext uri="{FF2B5EF4-FFF2-40B4-BE49-F238E27FC236}">
                <a16:creationId xmlns:a16="http://schemas.microsoft.com/office/drawing/2014/main" id="{0B2A65FF-B7DD-46E9-A314-E5CEBB3AC41C}"/>
              </a:ext>
            </a:extLst>
          </p:cNvPr>
          <p:cNvSpPr txBox="1"/>
          <p:nvPr/>
        </p:nvSpPr>
        <p:spPr>
          <a:xfrm>
            <a:off x="449919" y="3645024"/>
            <a:ext cx="3936284" cy="2646878"/>
          </a:xfrm>
          <a:prstGeom prst="rect">
            <a:avLst/>
          </a:prstGeom>
          <a:noFill/>
        </p:spPr>
        <p:txBody>
          <a:bodyPr wrap="square" rtlCol="0">
            <a:spAutoFit/>
          </a:bodyPr>
          <a:lstStyle/>
          <a:p>
            <a:r>
              <a:rPr lang="es-CO" b="1" dirty="0"/>
              <a:t>Datos de entrada: </a:t>
            </a:r>
          </a:p>
          <a:p>
            <a:pPr marL="285750" indent="-285750">
              <a:buFont typeface="Arial" panose="020B0604020202020204" pitchFamily="34" charset="0"/>
              <a:buChar char="•"/>
            </a:pPr>
            <a:r>
              <a:rPr lang="es-CO" sz="1600" dirty="0"/>
              <a:t>Año</a:t>
            </a:r>
          </a:p>
          <a:p>
            <a:r>
              <a:rPr lang="es-CO" b="1" dirty="0"/>
              <a:t>Datos de salida: </a:t>
            </a:r>
          </a:p>
          <a:p>
            <a:pPr marL="285750" indent="-285750">
              <a:buFont typeface="Arial" panose="020B0604020202020204" pitchFamily="34" charset="0"/>
              <a:buChar char="•"/>
            </a:pPr>
            <a:r>
              <a:rPr lang="es-CO" sz="1600" dirty="0"/>
              <a:t>Decir si el año es bisiesto o no</a:t>
            </a:r>
          </a:p>
          <a:p>
            <a:r>
              <a:rPr lang="es-CO" b="1" dirty="0"/>
              <a:t>Definición de variables:</a:t>
            </a:r>
          </a:p>
          <a:p>
            <a:pPr marL="285750" indent="-285750">
              <a:buFont typeface="Arial" panose="020B0604020202020204" pitchFamily="34" charset="0"/>
              <a:buChar char="•"/>
            </a:pPr>
            <a:r>
              <a:rPr lang="es-CO" sz="1600" b="1" dirty="0"/>
              <a:t>Entrada/salida</a:t>
            </a:r>
            <a:r>
              <a:rPr lang="es-CO" sz="1600" dirty="0"/>
              <a:t>:</a:t>
            </a:r>
          </a:p>
          <a:p>
            <a:pPr marL="800100" lvl="1" indent="-342900">
              <a:buFont typeface="Arial" pitchFamily="34" charset="0"/>
              <a:buChar char="•"/>
            </a:pPr>
            <a:r>
              <a:rPr lang="es-CO" sz="1600" b="1" dirty="0">
                <a:latin typeface="Consolas" panose="020B0609020204030204" pitchFamily="49" charset="0"/>
              </a:rPr>
              <a:t>year</a:t>
            </a:r>
            <a:r>
              <a:rPr lang="es-CO" sz="1600" b="1" dirty="0"/>
              <a:t>:</a:t>
            </a:r>
            <a:r>
              <a:rPr lang="es-CO" sz="1600" dirty="0"/>
              <a:t> Año.</a:t>
            </a:r>
          </a:p>
          <a:p>
            <a:pPr marL="342900" indent="-342900">
              <a:buFont typeface="Arial" pitchFamily="34" charset="0"/>
              <a:buChar char="•"/>
            </a:pPr>
            <a:r>
              <a:rPr lang="es-CO" sz="1600" b="1" dirty="0"/>
              <a:t>Auxiliares</a:t>
            </a:r>
            <a:r>
              <a:rPr lang="es-CO" sz="1600" dirty="0"/>
              <a:t>:</a:t>
            </a:r>
          </a:p>
          <a:p>
            <a:pPr marL="800100" lvl="1" indent="-342900">
              <a:buFont typeface="Arial" pitchFamily="34" charset="0"/>
              <a:buChar char="•"/>
            </a:pPr>
            <a:r>
              <a:rPr lang="es-CO" sz="1600" b="1" dirty="0" err="1">
                <a:latin typeface="Consolas" panose="020B0609020204030204" pitchFamily="49" charset="0"/>
              </a:rPr>
              <a:t>flag_bisiesto</a:t>
            </a:r>
            <a:r>
              <a:rPr lang="es-CO" sz="1600" b="1" dirty="0"/>
              <a:t>:</a:t>
            </a:r>
            <a:r>
              <a:rPr lang="es-CO" sz="1600" dirty="0"/>
              <a:t> Bandera que indica si el año es bisiesto o no.</a:t>
            </a:r>
          </a:p>
        </p:txBody>
      </p:sp>
      <p:grpSp>
        <p:nvGrpSpPr>
          <p:cNvPr id="11" name="Grupo 10">
            <a:extLst>
              <a:ext uri="{FF2B5EF4-FFF2-40B4-BE49-F238E27FC236}">
                <a16:creationId xmlns:a16="http://schemas.microsoft.com/office/drawing/2014/main" id="{1B9E6DDE-03AF-4CE3-B5EF-F221B57849C2}"/>
              </a:ext>
            </a:extLst>
          </p:cNvPr>
          <p:cNvGrpSpPr/>
          <p:nvPr/>
        </p:nvGrpSpPr>
        <p:grpSpPr>
          <a:xfrm>
            <a:off x="313187" y="1645422"/>
            <a:ext cx="8202163" cy="1060770"/>
            <a:chOff x="275676" y="1029668"/>
            <a:chExt cx="8202163" cy="1060770"/>
          </a:xfrm>
        </p:grpSpPr>
        <p:sp>
          <p:nvSpPr>
            <p:cNvPr id="12" name="1 Rectángulo">
              <a:extLst>
                <a:ext uri="{FF2B5EF4-FFF2-40B4-BE49-F238E27FC236}">
                  <a16:creationId xmlns:a16="http://schemas.microsoft.com/office/drawing/2014/main" id="{977D4A3E-8E0D-451F-A55A-89CA45D69BEB}"/>
                </a:ext>
              </a:extLst>
            </p:cNvPr>
            <p:cNvSpPr/>
            <p:nvPr/>
          </p:nvSpPr>
          <p:spPr>
            <a:xfrm>
              <a:off x="686305" y="1813439"/>
              <a:ext cx="524503"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year</a:t>
              </a:r>
            </a:p>
          </p:txBody>
        </p:sp>
        <p:grpSp>
          <p:nvGrpSpPr>
            <p:cNvPr id="14" name="5 Grupo">
              <a:extLst>
                <a:ext uri="{FF2B5EF4-FFF2-40B4-BE49-F238E27FC236}">
                  <a16:creationId xmlns:a16="http://schemas.microsoft.com/office/drawing/2014/main" id="{197D0742-A74B-4D81-9B0B-E5304B3671A2}"/>
                </a:ext>
              </a:extLst>
            </p:cNvPr>
            <p:cNvGrpSpPr/>
            <p:nvPr/>
          </p:nvGrpSpPr>
          <p:grpSpPr>
            <a:xfrm>
              <a:off x="275676" y="1029668"/>
              <a:ext cx="8202163" cy="783771"/>
              <a:chOff x="518399" y="1739458"/>
              <a:chExt cx="8202163" cy="783771"/>
            </a:xfrm>
          </p:grpSpPr>
          <p:sp>
            <p:nvSpPr>
              <p:cNvPr id="16" name="10 Rectángulo">
                <a:extLst>
                  <a:ext uri="{FF2B5EF4-FFF2-40B4-BE49-F238E27FC236}">
                    <a16:creationId xmlns:a16="http://schemas.microsoft.com/office/drawing/2014/main" id="{AE597682-9074-4604-AC01-31E1271487A6}"/>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7" name="11 Rectángulo">
                <a:extLst>
                  <a:ext uri="{FF2B5EF4-FFF2-40B4-BE49-F238E27FC236}">
                    <a16:creationId xmlns:a16="http://schemas.microsoft.com/office/drawing/2014/main" id="{FC629C3E-2398-4BD8-B27C-075C5BBB4A6B}"/>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8" name="13 Rectángulo">
                <a:extLst>
                  <a:ext uri="{FF2B5EF4-FFF2-40B4-BE49-F238E27FC236}">
                    <a16:creationId xmlns:a16="http://schemas.microsoft.com/office/drawing/2014/main" id="{0ACFC962-86F8-4F93-BE26-73F0AA54F10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9" name="14 Flecha derecha">
                <a:extLst>
                  <a:ext uri="{FF2B5EF4-FFF2-40B4-BE49-F238E27FC236}">
                    <a16:creationId xmlns:a16="http://schemas.microsoft.com/office/drawing/2014/main" id="{082F4FCC-F1F4-4B89-83FD-C7C7F593A7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21 Flecha derecha">
                <a:extLst>
                  <a:ext uri="{FF2B5EF4-FFF2-40B4-BE49-F238E27FC236}">
                    <a16:creationId xmlns:a16="http://schemas.microsoft.com/office/drawing/2014/main" id="{2B07C073-E6F1-4F41-8858-C1DDE0C85BF0}"/>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sp>
        <p:nvSpPr>
          <p:cNvPr id="21" name="1 Rectángulo">
            <a:extLst>
              <a:ext uri="{FF2B5EF4-FFF2-40B4-BE49-F238E27FC236}">
                <a16:creationId xmlns:a16="http://schemas.microsoft.com/office/drawing/2014/main" id="{37513ACB-577D-464A-AF6F-DF5B984DF420}"/>
              </a:ext>
            </a:extLst>
          </p:cNvPr>
          <p:cNvSpPr/>
          <p:nvPr/>
        </p:nvSpPr>
        <p:spPr>
          <a:xfrm>
            <a:off x="3358676" y="3086179"/>
            <a:ext cx="1289135"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flag_bisiesto</a:t>
            </a:r>
            <a:endParaRPr lang="es-CO" sz="1200" dirty="0">
              <a:latin typeface="Consolas" panose="020B0609020204030204" pitchFamily="49" charset="0"/>
              <a:cs typeface="Consolas" panose="020B0609020204030204" pitchFamily="49" charset="0"/>
            </a:endParaRPr>
          </a:p>
        </p:txBody>
      </p:sp>
      <p:sp>
        <p:nvSpPr>
          <p:cNvPr id="22" name="10 Rectángulo">
            <a:extLst>
              <a:ext uri="{FF2B5EF4-FFF2-40B4-BE49-F238E27FC236}">
                <a16:creationId xmlns:a16="http://schemas.microsoft.com/office/drawing/2014/main" id="{CFC9CE02-4586-4D98-8FE8-76098CCD9A02}"/>
              </a:ext>
            </a:extLst>
          </p:cNvPr>
          <p:cNvSpPr/>
          <p:nvPr/>
        </p:nvSpPr>
        <p:spPr>
          <a:xfrm>
            <a:off x="3311860" y="2563353"/>
            <a:ext cx="2520280"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Variables auxiliares</a:t>
            </a:r>
          </a:p>
        </p:txBody>
      </p:sp>
    </p:spTree>
    <p:extLst>
      <p:ext uri="{BB962C8B-B14F-4D97-AF65-F5344CB8AC3E}">
        <p14:creationId xmlns:p14="http://schemas.microsoft.com/office/powerpoint/2010/main" val="4282570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sz="4400" dirty="0"/>
              <a:t>Ejemplo de repaso</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209448" y="1732746"/>
            <a:ext cx="3354440" cy="400110"/>
          </a:xfrm>
          <a:prstGeom prst="rect">
            <a:avLst/>
          </a:prstGeom>
          <a:noFill/>
        </p:spPr>
        <p:txBody>
          <a:bodyPr wrap="square" rtlCol="0">
            <a:spAutoFit/>
          </a:bodyPr>
          <a:lstStyle/>
          <a:p>
            <a:r>
              <a:rPr lang="es-CO" sz="2000" b="1" dirty="0"/>
              <a:t>Pseudocódigo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337744" y="2300092"/>
            <a:ext cx="4184959" cy="3970318"/>
          </a:xfrm>
          <a:prstGeom prst="rect">
            <a:avLst/>
          </a:prstGeom>
          <a:noFill/>
          <a:ln>
            <a:solidFill>
              <a:schemeClr val="tx1"/>
            </a:solidFill>
          </a:ln>
        </p:spPr>
        <p:txBody>
          <a:bodyPr wrap="square" rtlCol="0">
            <a:spAutoFit/>
          </a:bodyPr>
          <a:lstStyle/>
          <a:p>
            <a:r>
              <a:rPr lang="es-MX" sz="1400" dirty="0">
                <a:latin typeface="Consolas" panose="020B0609020204030204" pitchFamily="49" charset="0"/>
              </a:rPr>
              <a:t>Inicio</a:t>
            </a:r>
          </a:p>
          <a:p>
            <a:r>
              <a:rPr lang="es-MX" sz="1400" dirty="0">
                <a:latin typeface="Consolas" panose="020B0609020204030204" pitchFamily="49" charset="0"/>
              </a:rPr>
              <a:t>  </a:t>
            </a:r>
            <a:r>
              <a:rPr lang="es-MX" sz="1400" dirty="0">
                <a:solidFill>
                  <a:srgbClr val="0070C0"/>
                </a:solidFill>
                <a:latin typeface="Consolas" panose="020B0609020204030204" pitchFamily="49" charset="0"/>
              </a:rPr>
              <a:t>flag_bisiesto = 0</a:t>
            </a:r>
          </a:p>
          <a:p>
            <a:r>
              <a:rPr lang="es-MX" sz="1400" dirty="0">
                <a:latin typeface="Consolas" panose="020B0609020204030204" pitchFamily="49" charset="0"/>
              </a:rPr>
              <a:t>  Leer(</a:t>
            </a:r>
            <a:r>
              <a:rPr lang="es-MX" sz="1400" dirty="0" err="1">
                <a:latin typeface="Consolas" panose="020B0609020204030204" pitchFamily="49" charset="0"/>
              </a:rPr>
              <a:t>year</a:t>
            </a:r>
            <a:r>
              <a:rPr lang="es-MX" sz="1400" dirty="0">
                <a:latin typeface="Consolas" panose="020B0609020204030204" pitchFamily="49" charset="0"/>
              </a:rPr>
              <a:t>) </a:t>
            </a:r>
          </a:p>
          <a:p>
            <a:r>
              <a:rPr lang="es-MX" sz="1400" dirty="0">
                <a:latin typeface="Consolas" panose="020B0609020204030204" pitchFamily="49" charset="0"/>
              </a:rPr>
              <a:t>  Si(year%400 == 0) Entonces    </a:t>
            </a:r>
          </a:p>
          <a:p>
            <a:r>
              <a:rPr lang="es-MX" sz="1400" dirty="0">
                <a:latin typeface="Consolas" panose="020B0609020204030204" pitchFamily="49" charset="0"/>
              </a:rPr>
              <a:t>    </a:t>
            </a:r>
            <a:r>
              <a:rPr lang="es-MX" sz="1400" dirty="0">
                <a:solidFill>
                  <a:srgbClr val="0070C0"/>
                </a:solidFill>
                <a:latin typeface="Consolas" panose="020B0609020204030204" pitchFamily="49" charset="0"/>
              </a:rPr>
              <a:t>flag_bisiesto = 1</a:t>
            </a:r>
          </a:p>
          <a:p>
            <a:r>
              <a:rPr lang="es-MX" sz="1400" dirty="0">
                <a:latin typeface="Consolas" panose="020B0609020204030204" pitchFamily="49" charset="0"/>
              </a:rPr>
              <a:t>  Sino</a:t>
            </a:r>
          </a:p>
          <a:p>
            <a:r>
              <a:rPr lang="es-MX" sz="1400" dirty="0">
                <a:latin typeface="Consolas" panose="020B0609020204030204" pitchFamily="49" charset="0"/>
              </a:rPr>
              <a:t>    Si(year%100 != 0) Entonces    </a:t>
            </a:r>
          </a:p>
          <a:p>
            <a:r>
              <a:rPr lang="es-MX" sz="1400" dirty="0">
                <a:latin typeface="Consolas" panose="020B0609020204030204" pitchFamily="49" charset="0"/>
              </a:rPr>
              <a:t>      Si(year%4 == 0) Entonces    </a:t>
            </a:r>
          </a:p>
          <a:p>
            <a:r>
              <a:rPr lang="es-MX" sz="1400" dirty="0">
                <a:latin typeface="Consolas" panose="020B0609020204030204" pitchFamily="49" charset="0"/>
              </a:rPr>
              <a:t>        </a:t>
            </a:r>
            <a:r>
              <a:rPr lang="es-MX" sz="1400" dirty="0">
                <a:solidFill>
                  <a:srgbClr val="0070C0"/>
                </a:solidFill>
                <a:latin typeface="Consolas" panose="020B0609020204030204" pitchFamily="49" charset="0"/>
              </a:rPr>
              <a:t>flag_bisiesto = 1</a:t>
            </a:r>
          </a:p>
          <a:p>
            <a:r>
              <a:rPr lang="es-MX" sz="1400" dirty="0">
                <a:latin typeface="Consolas" panose="020B0609020204030204" pitchFamily="49" charset="0"/>
              </a:rPr>
              <a:t>      </a:t>
            </a:r>
            <a:r>
              <a:rPr lang="es-MX" sz="1400" dirty="0" err="1">
                <a:latin typeface="Consolas" panose="020B0609020204030204" pitchFamily="49" charset="0"/>
              </a:rPr>
              <a:t>Fin_Si</a:t>
            </a:r>
            <a:endParaRPr lang="es-MX" sz="1400" dirty="0">
              <a:latin typeface="Consolas" panose="020B0609020204030204" pitchFamily="49" charset="0"/>
            </a:endParaRPr>
          </a:p>
          <a:p>
            <a:r>
              <a:rPr lang="es-MX" sz="1400" dirty="0">
                <a:latin typeface="Consolas" panose="020B0609020204030204" pitchFamily="49" charset="0"/>
              </a:rPr>
              <a:t>    </a:t>
            </a:r>
            <a:r>
              <a:rPr lang="es-MX" sz="1400" dirty="0" err="1">
                <a:latin typeface="Consolas" panose="020B0609020204030204" pitchFamily="49" charset="0"/>
              </a:rPr>
              <a:t>Fin_Si</a:t>
            </a:r>
            <a:r>
              <a:rPr lang="es-MX" sz="1400" dirty="0">
                <a:latin typeface="Consolas" panose="020B0609020204030204" pitchFamily="49" charset="0"/>
              </a:rPr>
              <a:t> </a:t>
            </a:r>
          </a:p>
          <a:p>
            <a:r>
              <a:rPr lang="es-MX" sz="1400" dirty="0">
                <a:latin typeface="Consolas" panose="020B0609020204030204" pitchFamily="49" charset="0"/>
              </a:rPr>
              <a:t>  </a:t>
            </a:r>
            <a:r>
              <a:rPr lang="es-MX" sz="1400" dirty="0" err="1">
                <a:latin typeface="Consolas" panose="020B0609020204030204" pitchFamily="49" charset="0"/>
              </a:rPr>
              <a:t>Fin_Si</a:t>
            </a:r>
            <a:endParaRPr lang="es-MX" sz="1400" dirty="0">
              <a:latin typeface="Consolas" panose="020B0609020204030204" pitchFamily="49" charset="0"/>
            </a:endParaRPr>
          </a:p>
          <a:p>
            <a:r>
              <a:rPr lang="es-MX" sz="1400" dirty="0">
                <a:latin typeface="Consolas" panose="020B0609020204030204" pitchFamily="49" charset="0"/>
              </a:rPr>
              <a:t>  Si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r>
              <a:rPr lang="es-MX" sz="1400" dirty="0">
                <a:latin typeface="Consolas" panose="020B0609020204030204" pitchFamily="49" charset="0"/>
              </a:rPr>
              <a:t>) Entonces</a:t>
            </a:r>
          </a:p>
          <a:p>
            <a:r>
              <a:rPr lang="es-MX" sz="1400" dirty="0">
                <a:latin typeface="Consolas" panose="020B0609020204030204" pitchFamily="49" charset="0"/>
              </a:rPr>
              <a:t>    Escribir(</a:t>
            </a:r>
            <a:r>
              <a:rPr lang="es-MX" sz="1400" dirty="0" err="1">
                <a:latin typeface="Consolas" panose="020B0609020204030204" pitchFamily="49" charset="0"/>
              </a:rPr>
              <a:t>year</a:t>
            </a:r>
            <a:r>
              <a:rPr lang="es-MX" sz="1400" dirty="0">
                <a:latin typeface="Consolas" panose="020B0609020204030204" pitchFamily="49" charset="0"/>
              </a:rPr>
              <a:t>, 'es bisiesto')</a:t>
            </a:r>
          </a:p>
          <a:p>
            <a:r>
              <a:rPr lang="es-MX" sz="1400" dirty="0">
                <a:latin typeface="Consolas" panose="020B0609020204030204" pitchFamily="49" charset="0"/>
              </a:rPr>
              <a:t>  Sino</a:t>
            </a:r>
          </a:p>
          <a:p>
            <a:r>
              <a:rPr lang="es-MX" sz="1400" dirty="0">
                <a:latin typeface="Consolas" panose="020B0609020204030204" pitchFamily="49" charset="0"/>
              </a:rPr>
              <a:t>    Escribir(</a:t>
            </a:r>
            <a:r>
              <a:rPr lang="es-MX" sz="1400" dirty="0" err="1">
                <a:latin typeface="Consolas" panose="020B0609020204030204" pitchFamily="49" charset="0"/>
              </a:rPr>
              <a:t>year</a:t>
            </a:r>
            <a:r>
              <a:rPr lang="es-MX" sz="1400" dirty="0">
                <a:latin typeface="Consolas" panose="020B0609020204030204" pitchFamily="49" charset="0"/>
              </a:rPr>
              <a:t>, 'no es bisiesto')</a:t>
            </a:r>
          </a:p>
          <a:p>
            <a:r>
              <a:rPr lang="es-MX" sz="1400" dirty="0">
                <a:latin typeface="Consolas" panose="020B0609020204030204" pitchFamily="49" charset="0"/>
              </a:rPr>
              <a:t>  </a:t>
            </a:r>
            <a:r>
              <a:rPr lang="es-MX" sz="1400" dirty="0" err="1">
                <a:latin typeface="Consolas" panose="020B0609020204030204" pitchFamily="49" charset="0"/>
              </a:rPr>
              <a:t>Fin_Si</a:t>
            </a:r>
            <a:endParaRPr lang="es-MX" sz="1400" dirty="0">
              <a:latin typeface="Consolas" panose="020B0609020204030204" pitchFamily="49" charset="0"/>
            </a:endParaRPr>
          </a:p>
          <a:p>
            <a:r>
              <a:rPr lang="es-MX" sz="1400" dirty="0">
                <a:latin typeface="Consolas" panose="020B0609020204030204" pitchFamily="49" charset="0"/>
              </a:rPr>
              <a:t>Fin</a:t>
            </a:r>
            <a:endParaRPr lang="es-CO" sz="1400" dirty="0">
              <a:latin typeface="Consolas" panose="020B0609020204030204" pitchFamily="49" charset="0"/>
            </a:endParaRPr>
          </a:p>
        </p:txBody>
      </p:sp>
      <p:sp>
        <p:nvSpPr>
          <p:cNvPr id="11" name="12 Rectángulo">
            <a:extLst>
              <a:ext uri="{FF2B5EF4-FFF2-40B4-BE49-F238E27FC236}">
                <a16:creationId xmlns:a16="http://schemas.microsoft.com/office/drawing/2014/main" id="{7DEB365B-4357-4755-AF03-B7EC2B6A592D}"/>
              </a:ext>
            </a:extLst>
          </p:cNvPr>
          <p:cNvSpPr/>
          <p:nvPr/>
        </p:nvSpPr>
        <p:spPr>
          <a:xfrm>
            <a:off x="202357" y="1202111"/>
            <a:ext cx="4963016" cy="430887"/>
          </a:xfrm>
          <a:prstGeom prst="rect">
            <a:avLst/>
          </a:prstGeom>
        </p:spPr>
        <p:txBody>
          <a:bodyPr wrap="square">
            <a:spAutoFit/>
          </a:bodyPr>
          <a:lstStyle/>
          <a:p>
            <a:r>
              <a:rPr lang="es-CO" sz="2200" b="1" dirty="0"/>
              <a:t>Ejemplo – Año bisiesto:</a:t>
            </a:r>
            <a:endParaRPr lang="es-CO" sz="2400" b="1" dirty="0"/>
          </a:p>
        </p:txBody>
      </p:sp>
      <p:pic>
        <p:nvPicPr>
          <p:cNvPr id="7" name="Imagen 6">
            <a:extLst>
              <a:ext uri="{FF2B5EF4-FFF2-40B4-BE49-F238E27FC236}">
                <a16:creationId xmlns:a16="http://schemas.microsoft.com/office/drawing/2014/main" id="{A283C042-4D76-4EDE-8DB4-1D8206C2EE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1049" y="188640"/>
            <a:ext cx="3687415" cy="6523887"/>
          </a:xfrm>
          <a:prstGeom prst="rect">
            <a:avLst/>
          </a:prstGeom>
        </p:spPr>
      </p:pic>
    </p:spTree>
    <p:extLst>
      <p:ext uri="{BB962C8B-B14F-4D97-AF65-F5344CB8AC3E}">
        <p14:creationId xmlns:p14="http://schemas.microsoft.com/office/powerpoint/2010/main" val="3171061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5531224" cy="710952"/>
          </a:xfrm>
        </p:spPr>
        <p:txBody>
          <a:bodyPr>
            <a:normAutofit/>
          </a:bodyPr>
          <a:lstStyle/>
          <a:p>
            <a:r>
              <a:rPr lang="es-CO" dirty="0"/>
              <a:t>Ejemplo de repaso</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23528" y="1656893"/>
            <a:ext cx="3354440" cy="400110"/>
          </a:xfrm>
          <a:prstGeom prst="rect">
            <a:avLst/>
          </a:prstGeom>
          <a:noFill/>
        </p:spPr>
        <p:txBody>
          <a:bodyPr wrap="square" rtlCol="0">
            <a:spAutoFit/>
          </a:bodyPr>
          <a:lstStyle/>
          <a:p>
            <a:r>
              <a:rPr lang="es-CO" sz="2000" b="1" dirty="0"/>
              <a:t>Pseudocódigo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323528" y="2070572"/>
            <a:ext cx="3842907" cy="3970318"/>
          </a:xfrm>
          <a:prstGeom prst="rect">
            <a:avLst/>
          </a:prstGeom>
          <a:noFill/>
          <a:ln>
            <a:solidFill>
              <a:schemeClr val="tx1"/>
            </a:solidFill>
          </a:ln>
        </p:spPr>
        <p:txBody>
          <a:bodyPr wrap="square" rtlCol="0">
            <a:spAutoFit/>
          </a:bodyPr>
          <a:lstStyle/>
          <a:p>
            <a:r>
              <a:rPr lang="es-MX" sz="1400" dirty="0">
                <a:latin typeface="Consolas" panose="020B0609020204030204" pitchFamily="49" charset="0"/>
              </a:rPr>
              <a:t>Inicio</a:t>
            </a:r>
          </a:p>
          <a:p>
            <a:r>
              <a:rPr lang="es-MX" sz="1400" dirty="0">
                <a:latin typeface="Consolas" panose="020B0609020204030204" pitchFamily="49" charset="0"/>
              </a:rPr>
              <a:t>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0</a:t>
            </a:r>
          </a:p>
          <a:p>
            <a:r>
              <a:rPr lang="es-MX" sz="1400" dirty="0">
                <a:latin typeface="Consolas" panose="020B0609020204030204" pitchFamily="49" charset="0"/>
              </a:rPr>
              <a:t>  Leer(</a:t>
            </a:r>
            <a:r>
              <a:rPr lang="es-MX" sz="1400" dirty="0" err="1">
                <a:latin typeface="Consolas" panose="020B0609020204030204" pitchFamily="49" charset="0"/>
              </a:rPr>
              <a:t>year</a:t>
            </a:r>
            <a:r>
              <a:rPr lang="es-MX" sz="1400" dirty="0">
                <a:latin typeface="Consolas" panose="020B0609020204030204" pitchFamily="49" charset="0"/>
              </a:rPr>
              <a:t>) </a:t>
            </a:r>
          </a:p>
          <a:p>
            <a:r>
              <a:rPr lang="es-MX" sz="1400" dirty="0">
                <a:latin typeface="Consolas" panose="020B0609020204030204" pitchFamily="49" charset="0"/>
              </a:rPr>
              <a:t>  Si(year%400 == 0) Entonces    </a:t>
            </a:r>
          </a:p>
          <a:p>
            <a:r>
              <a:rPr lang="es-MX" sz="1400" dirty="0">
                <a:latin typeface="Consolas" panose="020B0609020204030204" pitchFamily="49" charset="0"/>
              </a:rPr>
              <a:t>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p>
          <a:p>
            <a:r>
              <a:rPr lang="es-MX" sz="1400" dirty="0">
                <a:latin typeface="Consolas" panose="020B0609020204030204" pitchFamily="49" charset="0"/>
              </a:rPr>
              <a:t>  Sino</a:t>
            </a:r>
          </a:p>
          <a:p>
            <a:r>
              <a:rPr lang="es-MX" sz="1400" dirty="0">
                <a:latin typeface="Consolas" panose="020B0609020204030204" pitchFamily="49" charset="0"/>
              </a:rPr>
              <a:t>    Si(year%100 != 0) Entonces    </a:t>
            </a:r>
          </a:p>
          <a:p>
            <a:r>
              <a:rPr lang="es-MX" sz="1400" dirty="0">
                <a:latin typeface="Consolas" panose="020B0609020204030204" pitchFamily="49" charset="0"/>
              </a:rPr>
              <a:t>      Si(year%4 == 0) Entonces    </a:t>
            </a:r>
          </a:p>
          <a:p>
            <a:r>
              <a:rPr lang="es-MX" sz="1400" dirty="0">
                <a:latin typeface="Consolas" panose="020B0609020204030204" pitchFamily="49" charset="0"/>
              </a:rPr>
              <a:t>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p>
          <a:p>
            <a:r>
              <a:rPr lang="es-MX" sz="1400" dirty="0">
                <a:latin typeface="Consolas" panose="020B0609020204030204" pitchFamily="49" charset="0"/>
              </a:rPr>
              <a:t>      </a:t>
            </a:r>
            <a:r>
              <a:rPr lang="es-MX" sz="1400" dirty="0" err="1">
                <a:latin typeface="Consolas" panose="020B0609020204030204" pitchFamily="49" charset="0"/>
              </a:rPr>
              <a:t>Fin_Si</a:t>
            </a:r>
            <a:endParaRPr lang="es-MX" sz="1400" dirty="0">
              <a:latin typeface="Consolas" panose="020B0609020204030204" pitchFamily="49" charset="0"/>
            </a:endParaRPr>
          </a:p>
          <a:p>
            <a:r>
              <a:rPr lang="es-MX" sz="1400" dirty="0">
                <a:latin typeface="Consolas" panose="020B0609020204030204" pitchFamily="49" charset="0"/>
              </a:rPr>
              <a:t>    </a:t>
            </a:r>
            <a:r>
              <a:rPr lang="es-MX" sz="1400" dirty="0" err="1">
                <a:latin typeface="Consolas" panose="020B0609020204030204" pitchFamily="49" charset="0"/>
              </a:rPr>
              <a:t>Fin_Si</a:t>
            </a:r>
            <a:r>
              <a:rPr lang="es-MX" sz="1400" dirty="0">
                <a:latin typeface="Consolas" panose="020B0609020204030204" pitchFamily="49" charset="0"/>
              </a:rPr>
              <a:t> </a:t>
            </a:r>
          </a:p>
          <a:p>
            <a:r>
              <a:rPr lang="es-MX" sz="1400" dirty="0">
                <a:latin typeface="Consolas" panose="020B0609020204030204" pitchFamily="49" charset="0"/>
              </a:rPr>
              <a:t>  </a:t>
            </a:r>
            <a:r>
              <a:rPr lang="es-MX" sz="1400" dirty="0" err="1">
                <a:latin typeface="Consolas" panose="020B0609020204030204" pitchFamily="49" charset="0"/>
              </a:rPr>
              <a:t>Fin_Si</a:t>
            </a:r>
            <a:endParaRPr lang="es-MX" sz="1400" dirty="0">
              <a:latin typeface="Consolas" panose="020B0609020204030204" pitchFamily="49" charset="0"/>
            </a:endParaRPr>
          </a:p>
          <a:p>
            <a:r>
              <a:rPr lang="es-MX" sz="1400" dirty="0">
                <a:latin typeface="Consolas" panose="020B0609020204030204" pitchFamily="49" charset="0"/>
              </a:rPr>
              <a:t>  Si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r>
              <a:rPr lang="es-MX" sz="1400" dirty="0">
                <a:latin typeface="Consolas" panose="020B0609020204030204" pitchFamily="49" charset="0"/>
              </a:rPr>
              <a:t>) Entonces</a:t>
            </a:r>
          </a:p>
          <a:p>
            <a:r>
              <a:rPr lang="es-MX" sz="1400" dirty="0">
                <a:latin typeface="Consolas" panose="020B0609020204030204" pitchFamily="49" charset="0"/>
              </a:rPr>
              <a:t>    Escribir(</a:t>
            </a:r>
            <a:r>
              <a:rPr lang="es-MX" sz="1400" dirty="0" err="1">
                <a:latin typeface="Consolas" panose="020B0609020204030204" pitchFamily="49" charset="0"/>
              </a:rPr>
              <a:t>year</a:t>
            </a:r>
            <a:r>
              <a:rPr lang="es-MX" sz="1400" dirty="0">
                <a:latin typeface="Consolas" panose="020B0609020204030204" pitchFamily="49" charset="0"/>
              </a:rPr>
              <a:t>, 'es bisiesto')</a:t>
            </a:r>
          </a:p>
          <a:p>
            <a:r>
              <a:rPr lang="es-MX" sz="1400" dirty="0">
                <a:latin typeface="Consolas" panose="020B0609020204030204" pitchFamily="49" charset="0"/>
              </a:rPr>
              <a:t>  Sino</a:t>
            </a:r>
          </a:p>
          <a:p>
            <a:r>
              <a:rPr lang="es-MX" sz="1400" dirty="0">
                <a:latin typeface="Consolas" panose="020B0609020204030204" pitchFamily="49" charset="0"/>
              </a:rPr>
              <a:t>    Escribir(</a:t>
            </a:r>
            <a:r>
              <a:rPr lang="es-MX" sz="1400" dirty="0" err="1">
                <a:latin typeface="Consolas" panose="020B0609020204030204" pitchFamily="49" charset="0"/>
              </a:rPr>
              <a:t>year</a:t>
            </a:r>
            <a:r>
              <a:rPr lang="es-MX" sz="1400" dirty="0">
                <a:latin typeface="Consolas" panose="020B0609020204030204" pitchFamily="49" charset="0"/>
              </a:rPr>
              <a:t>, 'no es bisiesto')</a:t>
            </a:r>
          </a:p>
          <a:p>
            <a:r>
              <a:rPr lang="es-MX" sz="1400" dirty="0">
                <a:latin typeface="Consolas" panose="020B0609020204030204" pitchFamily="49" charset="0"/>
              </a:rPr>
              <a:t>  </a:t>
            </a:r>
            <a:r>
              <a:rPr lang="es-MX" sz="1400" dirty="0" err="1">
                <a:latin typeface="Consolas" panose="020B0609020204030204" pitchFamily="49" charset="0"/>
              </a:rPr>
              <a:t>Fin_Si</a:t>
            </a:r>
            <a:endParaRPr lang="es-MX" sz="1400" dirty="0">
              <a:latin typeface="Consolas" panose="020B0609020204030204" pitchFamily="49" charset="0"/>
            </a:endParaRPr>
          </a:p>
          <a:p>
            <a:r>
              <a:rPr lang="es-MX" sz="1400" dirty="0">
                <a:latin typeface="Consolas" panose="020B0609020204030204" pitchFamily="49" charset="0"/>
              </a:rPr>
              <a:t>Fin</a:t>
            </a:r>
            <a:endParaRPr lang="es-CO" sz="1400" dirty="0">
              <a:latin typeface="Consolas" panose="020B0609020204030204" pitchFamily="49" charset="0"/>
            </a:endParaRPr>
          </a:p>
        </p:txBody>
      </p:sp>
      <p:sp>
        <p:nvSpPr>
          <p:cNvPr id="11" name="12 Rectángulo">
            <a:extLst>
              <a:ext uri="{FF2B5EF4-FFF2-40B4-BE49-F238E27FC236}">
                <a16:creationId xmlns:a16="http://schemas.microsoft.com/office/drawing/2014/main" id="{7DEB365B-4357-4755-AF03-B7EC2B6A592D}"/>
              </a:ext>
            </a:extLst>
          </p:cNvPr>
          <p:cNvSpPr/>
          <p:nvPr/>
        </p:nvSpPr>
        <p:spPr>
          <a:xfrm>
            <a:off x="200156" y="1031814"/>
            <a:ext cx="4963016" cy="430887"/>
          </a:xfrm>
          <a:prstGeom prst="rect">
            <a:avLst/>
          </a:prstGeom>
        </p:spPr>
        <p:txBody>
          <a:bodyPr wrap="square">
            <a:spAutoFit/>
          </a:bodyPr>
          <a:lstStyle/>
          <a:p>
            <a:r>
              <a:rPr lang="es-CO" sz="2200" b="1" dirty="0"/>
              <a:t>Ejemplo – Año bisiesto:</a:t>
            </a:r>
            <a:endParaRPr lang="es-CO" sz="2400" b="1" dirty="0"/>
          </a:p>
        </p:txBody>
      </p:sp>
      <p:sp>
        <p:nvSpPr>
          <p:cNvPr id="7" name="CuadroTexto 6">
            <a:extLst>
              <a:ext uri="{FF2B5EF4-FFF2-40B4-BE49-F238E27FC236}">
                <a16:creationId xmlns:a16="http://schemas.microsoft.com/office/drawing/2014/main" id="{3B38D71D-9118-44C0-AC27-86A16EB30C6A}"/>
              </a:ext>
            </a:extLst>
          </p:cNvPr>
          <p:cNvSpPr txBox="1"/>
          <p:nvPr/>
        </p:nvSpPr>
        <p:spPr>
          <a:xfrm>
            <a:off x="4761541" y="1674944"/>
            <a:ext cx="3354440" cy="400110"/>
          </a:xfrm>
          <a:prstGeom prst="rect">
            <a:avLst/>
          </a:prstGeom>
          <a:noFill/>
        </p:spPr>
        <p:txBody>
          <a:bodyPr wrap="square" rtlCol="0">
            <a:spAutoFit/>
          </a:bodyPr>
          <a:lstStyle/>
          <a:p>
            <a:r>
              <a:rPr lang="es-CO" sz="2000" b="1" dirty="0"/>
              <a:t>Python</a:t>
            </a:r>
          </a:p>
        </p:txBody>
      </p:sp>
      <p:sp>
        <p:nvSpPr>
          <p:cNvPr id="8" name="CuadroTexto 7">
            <a:extLst>
              <a:ext uri="{FF2B5EF4-FFF2-40B4-BE49-F238E27FC236}">
                <a16:creationId xmlns:a16="http://schemas.microsoft.com/office/drawing/2014/main" id="{E3F028D3-8414-495A-B53C-7099A1597962}"/>
              </a:ext>
            </a:extLst>
          </p:cNvPr>
          <p:cNvSpPr txBox="1"/>
          <p:nvPr/>
        </p:nvSpPr>
        <p:spPr>
          <a:xfrm>
            <a:off x="4761541" y="2060848"/>
            <a:ext cx="3842907" cy="4185761"/>
          </a:xfrm>
          <a:prstGeom prst="rect">
            <a:avLst/>
          </a:prstGeom>
          <a:noFill/>
          <a:ln>
            <a:solidFill>
              <a:schemeClr val="tx1"/>
            </a:solidFill>
          </a:ln>
        </p:spPr>
        <p:txBody>
          <a:bodyPr wrap="square" rtlCol="0">
            <a:spAutoFit/>
          </a:bodyPr>
          <a:lstStyle/>
          <a:p>
            <a:r>
              <a:rPr lang="es-MX" sz="1400" dirty="0">
                <a:latin typeface="Consolas" panose="020B0609020204030204" pitchFamily="49" charset="0"/>
              </a:rPr>
              <a:t># Inicializacion</a:t>
            </a:r>
          </a:p>
          <a:p>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0</a:t>
            </a:r>
          </a:p>
          <a:p>
            <a:endParaRPr lang="es-MX" sz="1400" dirty="0">
              <a:latin typeface="Consolas" panose="020B0609020204030204" pitchFamily="49" charset="0"/>
            </a:endParaRPr>
          </a:p>
          <a:p>
            <a:r>
              <a:rPr lang="es-MX" sz="1400" dirty="0">
                <a:latin typeface="Consolas" panose="020B0609020204030204" pitchFamily="49" charset="0"/>
              </a:rPr>
              <a:t># Entradas</a:t>
            </a:r>
          </a:p>
          <a:p>
            <a:r>
              <a:rPr lang="es-MX" sz="1400" dirty="0" err="1">
                <a:latin typeface="Consolas" panose="020B0609020204030204" pitchFamily="49" charset="0"/>
              </a:rPr>
              <a:t>year</a:t>
            </a:r>
            <a:r>
              <a:rPr lang="es-MX" sz="1400" dirty="0">
                <a:latin typeface="Consolas" panose="020B0609020204030204" pitchFamily="49" charset="0"/>
              </a:rPr>
              <a:t> = </a:t>
            </a:r>
            <a:r>
              <a:rPr lang="es-MX" sz="1400" dirty="0" err="1">
                <a:latin typeface="Consolas" panose="020B0609020204030204" pitchFamily="49" charset="0"/>
              </a:rPr>
              <a:t>int</a:t>
            </a:r>
            <a:r>
              <a:rPr lang="es-MX" sz="1400" dirty="0">
                <a:latin typeface="Consolas" panose="020B0609020204030204" pitchFamily="49" charset="0"/>
              </a:rPr>
              <a:t>(input("Digite el año: "))</a:t>
            </a:r>
          </a:p>
          <a:p>
            <a:endParaRPr lang="es-MX" sz="1400" dirty="0">
              <a:latin typeface="Consolas" panose="020B0609020204030204" pitchFamily="49" charset="0"/>
            </a:endParaRPr>
          </a:p>
          <a:p>
            <a:r>
              <a:rPr lang="es-MX" sz="1400" dirty="0">
                <a:latin typeface="Consolas" panose="020B0609020204030204" pitchFamily="49" charset="0"/>
              </a:rPr>
              <a:t># Proceso</a:t>
            </a:r>
          </a:p>
          <a:p>
            <a:r>
              <a:rPr lang="es-MX" sz="1400" dirty="0" err="1">
                <a:latin typeface="Consolas" panose="020B0609020204030204" pitchFamily="49" charset="0"/>
              </a:rPr>
              <a:t>if</a:t>
            </a:r>
            <a:r>
              <a:rPr lang="es-MX" sz="1400" dirty="0">
                <a:latin typeface="Consolas" panose="020B0609020204030204" pitchFamily="49" charset="0"/>
              </a:rPr>
              <a:t>(year%400 == 0):</a:t>
            </a:r>
          </a:p>
          <a:p>
            <a:r>
              <a:rPr lang="es-MX" sz="1400" dirty="0">
                <a:latin typeface="Consolas" panose="020B0609020204030204" pitchFamily="49" charset="0"/>
              </a:rPr>
              <a:t>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p>
          <a:p>
            <a:r>
              <a:rPr lang="es-MX" sz="1400" dirty="0" err="1">
                <a:latin typeface="Consolas" panose="020B0609020204030204" pitchFamily="49" charset="0"/>
              </a:rPr>
              <a:t>else</a:t>
            </a:r>
            <a:r>
              <a:rPr lang="es-MX" sz="1400" dirty="0">
                <a:latin typeface="Consolas" panose="020B0609020204030204" pitchFamily="49" charset="0"/>
              </a:rPr>
              <a:t>:</a:t>
            </a:r>
          </a:p>
          <a:p>
            <a:r>
              <a:rPr lang="es-MX" sz="1400" dirty="0">
                <a:latin typeface="Consolas" panose="020B0609020204030204" pitchFamily="49" charset="0"/>
              </a:rPr>
              <a:t>    </a:t>
            </a:r>
            <a:r>
              <a:rPr lang="es-MX" sz="1400" dirty="0" err="1">
                <a:latin typeface="Consolas" panose="020B0609020204030204" pitchFamily="49" charset="0"/>
              </a:rPr>
              <a:t>if</a:t>
            </a:r>
            <a:r>
              <a:rPr lang="es-MX" sz="1400" dirty="0">
                <a:latin typeface="Consolas" panose="020B0609020204030204" pitchFamily="49" charset="0"/>
              </a:rPr>
              <a:t>(year%100 == 0):</a:t>
            </a:r>
          </a:p>
          <a:p>
            <a:r>
              <a:rPr lang="es-MX" sz="1400" dirty="0">
                <a:latin typeface="Consolas" panose="020B0609020204030204" pitchFamily="49" charset="0"/>
              </a:rPr>
              <a:t>        </a:t>
            </a:r>
            <a:r>
              <a:rPr lang="es-MX" sz="1400" dirty="0" err="1">
                <a:latin typeface="Consolas" panose="020B0609020204030204" pitchFamily="49" charset="0"/>
              </a:rPr>
              <a:t>if</a:t>
            </a:r>
            <a:r>
              <a:rPr lang="es-MX" sz="1400" dirty="0">
                <a:latin typeface="Consolas" panose="020B0609020204030204" pitchFamily="49" charset="0"/>
              </a:rPr>
              <a:t>(year%4 == 0):</a:t>
            </a:r>
          </a:p>
          <a:p>
            <a:r>
              <a:rPr lang="es-MX" sz="1400" dirty="0">
                <a:latin typeface="Consolas" panose="020B0609020204030204" pitchFamily="49" charset="0"/>
              </a:rPr>
              <a:t>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p>
          <a:p>
            <a:r>
              <a:rPr lang="es-MX" sz="1400" dirty="0">
                <a:latin typeface="Consolas" panose="020B0609020204030204" pitchFamily="49" charset="0"/>
              </a:rPr>
              <a:t>        </a:t>
            </a:r>
          </a:p>
          <a:p>
            <a:r>
              <a:rPr lang="es-MX" sz="1400" dirty="0">
                <a:latin typeface="Consolas" panose="020B0609020204030204" pitchFamily="49" charset="0"/>
              </a:rPr>
              <a:t># Salida</a:t>
            </a:r>
          </a:p>
          <a:p>
            <a:r>
              <a:rPr lang="es-MX" sz="1400" dirty="0" err="1">
                <a:latin typeface="Consolas" panose="020B0609020204030204" pitchFamily="49" charset="0"/>
              </a:rPr>
              <a:t>if</a:t>
            </a:r>
            <a:r>
              <a:rPr lang="es-MX" sz="1400" dirty="0">
                <a:latin typeface="Consolas" panose="020B0609020204030204" pitchFamily="49" charset="0"/>
              </a:rPr>
              <a:t> (</a:t>
            </a:r>
            <a:r>
              <a:rPr lang="es-MX" sz="1400" dirty="0" err="1">
                <a:solidFill>
                  <a:srgbClr val="0070C0"/>
                </a:solidFill>
                <a:latin typeface="Consolas" panose="020B0609020204030204" pitchFamily="49" charset="0"/>
              </a:rPr>
              <a:t>flag_bisiesto</a:t>
            </a:r>
            <a:r>
              <a:rPr lang="es-MX" sz="1400" dirty="0">
                <a:solidFill>
                  <a:srgbClr val="0070C0"/>
                </a:solidFill>
                <a:latin typeface="Consolas" panose="020B0609020204030204" pitchFamily="49" charset="0"/>
              </a:rPr>
              <a:t> == 1</a:t>
            </a:r>
            <a:r>
              <a:rPr lang="es-MX" sz="1400" dirty="0">
                <a:latin typeface="Consolas" panose="020B0609020204030204" pitchFamily="49" charset="0"/>
              </a:rPr>
              <a:t>):</a:t>
            </a:r>
          </a:p>
          <a:p>
            <a:r>
              <a:rPr lang="es-MX" sz="1400" dirty="0">
                <a:latin typeface="Consolas" panose="020B0609020204030204" pitchFamily="49" charset="0"/>
              </a:rPr>
              <a:t>    print(f"{</a:t>
            </a:r>
            <a:r>
              <a:rPr lang="es-MX" sz="1400" dirty="0" err="1">
                <a:latin typeface="Consolas" panose="020B0609020204030204" pitchFamily="49" charset="0"/>
              </a:rPr>
              <a:t>year</a:t>
            </a:r>
            <a:r>
              <a:rPr lang="es-MX" sz="1400" dirty="0">
                <a:latin typeface="Consolas" panose="020B0609020204030204" pitchFamily="49" charset="0"/>
              </a:rPr>
              <a:t>} es bisiesto")</a:t>
            </a:r>
          </a:p>
          <a:p>
            <a:r>
              <a:rPr lang="es-MX" sz="1400" dirty="0" err="1">
                <a:latin typeface="Consolas" panose="020B0609020204030204" pitchFamily="49" charset="0"/>
              </a:rPr>
              <a:t>else</a:t>
            </a:r>
            <a:r>
              <a:rPr lang="es-MX" sz="1400" dirty="0">
                <a:latin typeface="Consolas" panose="020B0609020204030204" pitchFamily="49" charset="0"/>
              </a:rPr>
              <a:t>:</a:t>
            </a:r>
          </a:p>
          <a:p>
            <a:r>
              <a:rPr lang="es-MX" sz="1400" dirty="0">
                <a:latin typeface="Consolas" panose="020B0609020204030204" pitchFamily="49" charset="0"/>
              </a:rPr>
              <a:t>    print(f"{</a:t>
            </a:r>
            <a:r>
              <a:rPr lang="es-MX" sz="1400" dirty="0" err="1">
                <a:latin typeface="Consolas" panose="020B0609020204030204" pitchFamily="49" charset="0"/>
              </a:rPr>
              <a:t>year</a:t>
            </a:r>
            <a:r>
              <a:rPr lang="es-MX" sz="1400" dirty="0">
                <a:latin typeface="Consolas" panose="020B0609020204030204" pitchFamily="49" charset="0"/>
              </a:rPr>
              <a:t>} no es bisiesto")</a:t>
            </a:r>
            <a:endParaRPr lang="es-CO" sz="1400" dirty="0">
              <a:latin typeface="Consolas" panose="020B0609020204030204" pitchFamily="49" charset="0"/>
            </a:endParaRPr>
          </a:p>
        </p:txBody>
      </p:sp>
      <p:sp>
        <p:nvSpPr>
          <p:cNvPr id="12" name="CuadroTexto 11">
            <a:extLst>
              <a:ext uri="{FF2B5EF4-FFF2-40B4-BE49-F238E27FC236}">
                <a16:creationId xmlns:a16="http://schemas.microsoft.com/office/drawing/2014/main" id="{38767C51-DD03-49C4-AA7C-E4A0F6B86FD8}"/>
              </a:ext>
            </a:extLst>
          </p:cNvPr>
          <p:cNvSpPr txBox="1"/>
          <p:nvPr/>
        </p:nvSpPr>
        <p:spPr>
          <a:xfrm>
            <a:off x="5929725" y="6279642"/>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Tree>
    <p:extLst>
      <p:ext uri="{BB962C8B-B14F-4D97-AF65-F5344CB8AC3E}">
        <p14:creationId xmlns:p14="http://schemas.microsoft.com/office/powerpoint/2010/main" val="800177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628650" y="188640"/>
            <a:ext cx="7886700" cy="1008113"/>
          </a:xfrm>
        </p:spPr>
        <p:txBody>
          <a:bodyPr>
            <a:normAutofit/>
          </a:bodyPr>
          <a:lstStyle/>
          <a:p>
            <a:r>
              <a:rPr lang="es-CO" dirty="0"/>
              <a:t>Variable bandera (flag)</a:t>
            </a:r>
            <a:endParaRPr lang="es-CO" dirty="0">
              <a:highlight>
                <a:srgbClr val="FFFF00"/>
              </a:highlight>
            </a:endParaRPr>
          </a:p>
        </p:txBody>
      </p:sp>
      <p:sp>
        <p:nvSpPr>
          <p:cNvPr id="2" name="Marcador de contenido 1">
            <a:extLst>
              <a:ext uri="{FF2B5EF4-FFF2-40B4-BE49-F238E27FC236}">
                <a16:creationId xmlns:a16="http://schemas.microsoft.com/office/drawing/2014/main" id="{6ED4F50C-42F7-4093-9F6B-86BEA972BB0C}"/>
              </a:ext>
            </a:extLst>
          </p:cNvPr>
          <p:cNvSpPr>
            <a:spLocks noGrp="1"/>
          </p:cNvSpPr>
          <p:nvPr>
            <p:ph idx="1"/>
          </p:nvPr>
        </p:nvSpPr>
        <p:spPr>
          <a:xfrm>
            <a:off x="323528" y="1253330"/>
            <a:ext cx="8496944" cy="5055989"/>
          </a:xfrm>
        </p:spPr>
        <p:txBody>
          <a:bodyPr>
            <a:normAutofit/>
          </a:bodyPr>
          <a:lstStyle/>
          <a:p>
            <a:r>
              <a:rPr lang="es-MX" sz="2000" b="1" dirty="0"/>
              <a:t>Una bandera</a:t>
            </a:r>
            <a:r>
              <a:rPr lang="es-MX" sz="2000" dirty="0"/>
              <a:t> (</a:t>
            </a:r>
            <a:r>
              <a:rPr lang="es-MX" sz="2000" b="1" dirty="0"/>
              <a:t>flag</a:t>
            </a:r>
            <a:r>
              <a:rPr lang="es-MX" sz="2000" dirty="0"/>
              <a:t>) es una variable que almacena un estado (</a:t>
            </a:r>
            <a:r>
              <a:rPr lang="es-MX" sz="2000" b="1" dirty="0">
                <a:latin typeface="Consolas" panose="020B0609020204030204" pitchFamily="49" charset="0"/>
              </a:rPr>
              <a:t>0/1</a:t>
            </a:r>
            <a:r>
              <a:rPr lang="es-MX" sz="2000" dirty="0"/>
              <a:t> o </a:t>
            </a:r>
            <a:r>
              <a:rPr lang="es-MX" sz="2000" b="1" dirty="0">
                <a:latin typeface="Consolas" panose="020B0609020204030204" pitchFamily="49" charset="0"/>
              </a:rPr>
              <a:t>Falso/Verdadero</a:t>
            </a:r>
            <a:r>
              <a:rPr lang="es-MX" sz="2000" dirty="0"/>
              <a:t>) para recordar si una condición se cumplió o no durante la ejecución.</a:t>
            </a:r>
          </a:p>
          <a:p>
            <a:r>
              <a:rPr lang="es-MX" sz="2000" dirty="0"/>
              <a:t>Funciona como un interruptor de luz o una bandera física: abajo (0) indica estado normal y arriba (1) señala que "algo ocurrió".</a:t>
            </a:r>
          </a:p>
          <a:p>
            <a:r>
              <a:rPr lang="es-MX" sz="2000" b="1" dirty="0"/>
              <a:t>Mecánica en el código</a:t>
            </a:r>
            <a:r>
              <a:rPr lang="es-MX" sz="2000" dirty="0"/>
              <a:t>:</a:t>
            </a:r>
          </a:p>
          <a:p>
            <a:pPr lvl="1"/>
            <a:r>
              <a:rPr lang="es-MX" sz="2000" b="1" dirty="0"/>
              <a:t>Inicializar</a:t>
            </a:r>
            <a:r>
              <a:rPr lang="es-MX" sz="2000" dirty="0"/>
              <a:t>: Nace con un valor por defecto (ej. </a:t>
            </a:r>
            <a:r>
              <a:rPr lang="es-MX" sz="1800" b="1" dirty="0">
                <a:latin typeface="Consolas" panose="020B0609020204030204" pitchFamily="49" charset="0"/>
              </a:rPr>
              <a:t>flag = 0</a:t>
            </a:r>
            <a:r>
              <a:rPr lang="es-MX" sz="2000" dirty="0"/>
              <a:t> se asume que no es bisiesto).</a:t>
            </a:r>
          </a:p>
          <a:p>
            <a:pPr lvl="1"/>
            <a:r>
              <a:rPr lang="es-MX" sz="2000" b="1" dirty="0"/>
              <a:t>Cambiar</a:t>
            </a:r>
            <a:r>
              <a:rPr lang="es-MX" sz="2000" dirty="0"/>
              <a:t>: Si el algoritmo detecta la excepción, la "levanta" (</a:t>
            </a:r>
            <a:r>
              <a:rPr lang="es-MX" sz="1800" b="1" dirty="0">
                <a:latin typeface="Consolas" panose="020B0609020204030204" pitchFamily="49" charset="0"/>
              </a:rPr>
              <a:t>flag = 1</a:t>
            </a:r>
            <a:r>
              <a:rPr lang="es-MX" sz="2000" dirty="0"/>
              <a:t>).</a:t>
            </a:r>
          </a:p>
          <a:p>
            <a:pPr lvl="1"/>
            <a:r>
              <a:rPr lang="es-MX" sz="2000" b="1" dirty="0"/>
              <a:t>Consultar</a:t>
            </a:r>
            <a:r>
              <a:rPr lang="es-MX" sz="2000" dirty="0"/>
              <a:t>: Al final, solo se evalúa la bandera para decidir qué mensaje mostrar.</a:t>
            </a:r>
          </a:p>
          <a:p>
            <a:r>
              <a:rPr lang="es-MX" sz="2000" dirty="0"/>
              <a:t>Si observa el código anterior, la ventaja de usar la bandera </a:t>
            </a:r>
            <a:r>
              <a:rPr lang="es-MX" sz="1800" b="1" dirty="0">
                <a:latin typeface="Consolas" panose="020B0609020204030204" pitchFamily="49" charset="0"/>
              </a:rPr>
              <a:t>flag_bisiesto</a:t>
            </a:r>
            <a:r>
              <a:rPr lang="es-MX" sz="2000" dirty="0"/>
              <a:t>, separa la evaluación lógica de la impresión de resultados, evitando repetir instrucciones de salida en cada bloque del código.</a:t>
            </a:r>
            <a:endParaRPr lang="es-CO" sz="2000" dirty="0"/>
          </a:p>
        </p:txBody>
      </p:sp>
    </p:spTree>
    <p:extLst>
      <p:ext uri="{BB962C8B-B14F-4D97-AF65-F5344CB8AC3E}">
        <p14:creationId xmlns:p14="http://schemas.microsoft.com/office/powerpoint/2010/main" val="3766890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367890"/>
            <a:ext cx="8258294" cy="782960"/>
          </a:xfrm>
        </p:spPr>
        <p:txBody>
          <a:bodyPr>
            <a:normAutofit/>
          </a:bodyPr>
          <a:lstStyle/>
          <a:p>
            <a:r>
              <a:rPr lang="es-CO" sz="4000" dirty="0"/>
              <a:t>Ejemplo de repaso</a:t>
            </a:r>
          </a:p>
        </p:txBody>
      </p:sp>
      <p:sp>
        <p:nvSpPr>
          <p:cNvPr id="13" name="12 Rectángulo"/>
          <p:cNvSpPr/>
          <p:nvPr/>
        </p:nvSpPr>
        <p:spPr>
          <a:xfrm>
            <a:off x="257056" y="1056405"/>
            <a:ext cx="4963016" cy="430887"/>
          </a:xfrm>
          <a:prstGeom prst="rect">
            <a:avLst/>
          </a:prstGeom>
        </p:spPr>
        <p:txBody>
          <a:bodyPr wrap="square">
            <a:spAutoFit/>
          </a:bodyPr>
          <a:lstStyle/>
          <a:p>
            <a:r>
              <a:rPr lang="es-CO" sz="2200" b="1" dirty="0"/>
              <a:t>Ejemplo – Año bisiesto:</a:t>
            </a:r>
            <a:endParaRPr lang="es-CO" sz="2400" b="1" dirty="0"/>
          </a:p>
        </p:txBody>
      </p:sp>
      <p:sp>
        <p:nvSpPr>
          <p:cNvPr id="9" name="5 CuadroTexto">
            <a:extLst>
              <a:ext uri="{FF2B5EF4-FFF2-40B4-BE49-F238E27FC236}">
                <a16:creationId xmlns:a16="http://schemas.microsoft.com/office/drawing/2014/main" id="{0B2A65FF-B7DD-46E9-A314-E5CEBB3AC41C}"/>
              </a:ext>
            </a:extLst>
          </p:cNvPr>
          <p:cNvSpPr txBox="1"/>
          <p:nvPr/>
        </p:nvSpPr>
        <p:spPr>
          <a:xfrm>
            <a:off x="431841" y="2923765"/>
            <a:ext cx="3936284" cy="1908215"/>
          </a:xfrm>
          <a:prstGeom prst="rect">
            <a:avLst/>
          </a:prstGeom>
          <a:noFill/>
        </p:spPr>
        <p:txBody>
          <a:bodyPr wrap="square" rtlCol="0">
            <a:spAutoFit/>
          </a:bodyPr>
          <a:lstStyle/>
          <a:p>
            <a:r>
              <a:rPr lang="es-CO" b="1" dirty="0"/>
              <a:t>Datos de entrada: </a:t>
            </a:r>
          </a:p>
          <a:p>
            <a:pPr marL="285750" indent="-285750">
              <a:buFont typeface="Arial" panose="020B0604020202020204" pitchFamily="34" charset="0"/>
              <a:buChar char="•"/>
            </a:pPr>
            <a:r>
              <a:rPr lang="es-CO" sz="1600" dirty="0"/>
              <a:t>Año</a:t>
            </a:r>
          </a:p>
          <a:p>
            <a:r>
              <a:rPr lang="es-CO" b="1" dirty="0"/>
              <a:t>Datos de salida: </a:t>
            </a:r>
          </a:p>
          <a:p>
            <a:pPr marL="285750" indent="-285750">
              <a:buFont typeface="Arial" panose="020B0604020202020204" pitchFamily="34" charset="0"/>
              <a:buChar char="•"/>
            </a:pPr>
            <a:r>
              <a:rPr lang="es-CO" sz="1600" dirty="0"/>
              <a:t>Decir si el año es bisiesto o no</a:t>
            </a:r>
          </a:p>
          <a:p>
            <a:r>
              <a:rPr lang="es-CO" b="1" dirty="0"/>
              <a:t>Definición de variables:</a:t>
            </a:r>
          </a:p>
          <a:p>
            <a:pPr marL="285750" indent="-285750">
              <a:buFont typeface="Arial" panose="020B0604020202020204" pitchFamily="34" charset="0"/>
              <a:buChar char="•"/>
            </a:pPr>
            <a:r>
              <a:rPr lang="es-CO" sz="1600" b="1" dirty="0"/>
              <a:t>Entrada/salida</a:t>
            </a:r>
            <a:r>
              <a:rPr lang="es-CO" sz="1600" dirty="0"/>
              <a:t>:</a:t>
            </a:r>
          </a:p>
          <a:p>
            <a:pPr marL="800100" lvl="1" indent="-342900">
              <a:buFont typeface="Arial" pitchFamily="34" charset="0"/>
              <a:buChar char="•"/>
            </a:pPr>
            <a:r>
              <a:rPr lang="es-CO" sz="1600" b="1" dirty="0">
                <a:latin typeface="Consolas" panose="020B0609020204030204" pitchFamily="49" charset="0"/>
              </a:rPr>
              <a:t>year</a:t>
            </a:r>
            <a:r>
              <a:rPr lang="es-CO" sz="1600" b="1" dirty="0"/>
              <a:t>:</a:t>
            </a:r>
            <a:r>
              <a:rPr lang="es-CO" sz="1600" dirty="0"/>
              <a:t> Año. </a:t>
            </a:r>
          </a:p>
        </p:txBody>
      </p:sp>
      <p:grpSp>
        <p:nvGrpSpPr>
          <p:cNvPr id="11" name="Grupo 10">
            <a:extLst>
              <a:ext uri="{FF2B5EF4-FFF2-40B4-BE49-F238E27FC236}">
                <a16:creationId xmlns:a16="http://schemas.microsoft.com/office/drawing/2014/main" id="{1B9E6DDE-03AF-4CE3-B5EF-F221B57849C2}"/>
              </a:ext>
            </a:extLst>
          </p:cNvPr>
          <p:cNvGrpSpPr/>
          <p:nvPr/>
        </p:nvGrpSpPr>
        <p:grpSpPr>
          <a:xfrm>
            <a:off x="313187" y="1645422"/>
            <a:ext cx="8202163" cy="1060770"/>
            <a:chOff x="275676" y="1029668"/>
            <a:chExt cx="8202163" cy="1060770"/>
          </a:xfrm>
        </p:grpSpPr>
        <p:sp>
          <p:nvSpPr>
            <p:cNvPr id="12" name="1 Rectángulo">
              <a:extLst>
                <a:ext uri="{FF2B5EF4-FFF2-40B4-BE49-F238E27FC236}">
                  <a16:creationId xmlns:a16="http://schemas.microsoft.com/office/drawing/2014/main" id="{977D4A3E-8E0D-451F-A55A-89CA45D69BEB}"/>
                </a:ext>
              </a:extLst>
            </p:cNvPr>
            <p:cNvSpPr/>
            <p:nvPr/>
          </p:nvSpPr>
          <p:spPr>
            <a:xfrm>
              <a:off x="686305" y="1813439"/>
              <a:ext cx="524503"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year</a:t>
              </a:r>
            </a:p>
          </p:txBody>
        </p:sp>
        <p:grpSp>
          <p:nvGrpSpPr>
            <p:cNvPr id="14" name="5 Grupo">
              <a:extLst>
                <a:ext uri="{FF2B5EF4-FFF2-40B4-BE49-F238E27FC236}">
                  <a16:creationId xmlns:a16="http://schemas.microsoft.com/office/drawing/2014/main" id="{197D0742-A74B-4D81-9B0B-E5304B3671A2}"/>
                </a:ext>
              </a:extLst>
            </p:cNvPr>
            <p:cNvGrpSpPr/>
            <p:nvPr/>
          </p:nvGrpSpPr>
          <p:grpSpPr>
            <a:xfrm>
              <a:off x="275676" y="1029668"/>
              <a:ext cx="8202163" cy="783771"/>
              <a:chOff x="518399" y="1739458"/>
              <a:chExt cx="8202163" cy="783771"/>
            </a:xfrm>
          </p:grpSpPr>
          <p:sp>
            <p:nvSpPr>
              <p:cNvPr id="16" name="10 Rectángulo">
                <a:extLst>
                  <a:ext uri="{FF2B5EF4-FFF2-40B4-BE49-F238E27FC236}">
                    <a16:creationId xmlns:a16="http://schemas.microsoft.com/office/drawing/2014/main" id="{AE597682-9074-4604-AC01-31E1271487A6}"/>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7" name="11 Rectángulo">
                <a:extLst>
                  <a:ext uri="{FF2B5EF4-FFF2-40B4-BE49-F238E27FC236}">
                    <a16:creationId xmlns:a16="http://schemas.microsoft.com/office/drawing/2014/main" id="{FC629C3E-2398-4BD8-B27C-075C5BBB4A6B}"/>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8" name="13 Rectángulo">
                <a:extLst>
                  <a:ext uri="{FF2B5EF4-FFF2-40B4-BE49-F238E27FC236}">
                    <a16:creationId xmlns:a16="http://schemas.microsoft.com/office/drawing/2014/main" id="{0ACFC962-86F8-4F93-BE26-73F0AA54F10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9" name="14 Flecha derecha">
                <a:extLst>
                  <a:ext uri="{FF2B5EF4-FFF2-40B4-BE49-F238E27FC236}">
                    <a16:creationId xmlns:a16="http://schemas.microsoft.com/office/drawing/2014/main" id="{082F4FCC-F1F4-4B89-83FD-C7C7F593A7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21 Flecha derecha">
                <a:extLst>
                  <a:ext uri="{FF2B5EF4-FFF2-40B4-BE49-F238E27FC236}">
                    <a16:creationId xmlns:a16="http://schemas.microsoft.com/office/drawing/2014/main" id="{2B07C073-E6F1-4F41-8858-C1DDE0C85BF0}"/>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spTree>
    <p:extLst>
      <p:ext uri="{BB962C8B-B14F-4D97-AF65-F5344CB8AC3E}">
        <p14:creationId xmlns:p14="http://schemas.microsoft.com/office/powerpoint/2010/main" val="1050435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Alternativa doble</a:t>
            </a:r>
          </a:p>
        </p:txBody>
      </p:sp>
      <p:sp>
        <p:nvSpPr>
          <p:cNvPr id="10" name="CuadroTexto 9">
            <a:extLst>
              <a:ext uri="{FF2B5EF4-FFF2-40B4-BE49-F238E27FC236}">
                <a16:creationId xmlns:a16="http://schemas.microsoft.com/office/drawing/2014/main" id="{44ADE36F-3836-40FC-AAE5-6014F5E19BE2}"/>
              </a:ext>
            </a:extLst>
          </p:cNvPr>
          <p:cNvSpPr txBox="1"/>
          <p:nvPr/>
        </p:nvSpPr>
        <p:spPr>
          <a:xfrm>
            <a:off x="210919" y="1388696"/>
            <a:ext cx="1800200" cy="400110"/>
          </a:xfrm>
          <a:prstGeom prst="rect">
            <a:avLst/>
          </a:prstGeom>
          <a:noFill/>
        </p:spPr>
        <p:txBody>
          <a:bodyPr wrap="square" rtlCol="0">
            <a:spAutoFit/>
          </a:bodyPr>
          <a:lstStyle/>
          <a:p>
            <a:r>
              <a:rPr lang="es-CO" sz="2000" b="1" dirty="0"/>
              <a:t>Pseudocódigo</a:t>
            </a:r>
          </a:p>
        </p:txBody>
      </p:sp>
      <p:pic>
        <p:nvPicPr>
          <p:cNvPr id="4" name="Imagen 3">
            <a:extLst>
              <a:ext uri="{FF2B5EF4-FFF2-40B4-BE49-F238E27FC236}">
                <a16:creationId xmlns:a16="http://schemas.microsoft.com/office/drawing/2014/main" id="{AAA28CDC-2605-4C4C-91AF-DBDB2B124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130" y="2325008"/>
            <a:ext cx="3880812" cy="3784034"/>
          </a:xfrm>
          <a:prstGeom prst="rect">
            <a:avLst/>
          </a:prstGeom>
        </p:spPr>
      </p:pic>
      <p:sp>
        <p:nvSpPr>
          <p:cNvPr id="9" name="CuadroTexto 8">
            <a:extLst>
              <a:ext uri="{FF2B5EF4-FFF2-40B4-BE49-F238E27FC236}">
                <a16:creationId xmlns:a16="http://schemas.microsoft.com/office/drawing/2014/main" id="{85173D9C-701A-43AB-93ED-F4FA75A9F8AB}"/>
              </a:ext>
            </a:extLst>
          </p:cNvPr>
          <p:cNvSpPr txBox="1"/>
          <p:nvPr/>
        </p:nvSpPr>
        <p:spPr>
          <a:xfrm>
            <a:off x="277034" y="3555306"/>
            <a:ext cx="4438982" cy="1323439"/>
          </a:xfrm>
          <a:prstGeom prst="rect">
            <a:avLst/>
          </a:prstGeom>
          <a:noFill/>
        </p:spPr>
        <p:txBody>
          <a:bodyPr wrap="square" rtlCol="0">
            <a:spAutoFit/>
          </a:bodyPr>
          <a:lstStyle/>
          <a:p>
            <a:r>
              <a:rPr lang="es-CO" sz="2000" dirty="0"/>
              <a:t>Note que el uso de conectores lógicos permitió decir en una sola condición cuanto un año es bisiesto, lo cual ahorro el uso de condicionales anidados.</a:t>
            </a:r>
          </a:p>
        </p:txBody>
      </p:sp>
      <p:sp>
        <p:nvSpPr>
          <p:cNvPr id="11" name="CuadroTexto 10">
            <a:extLst>
              <a:ext uri="{FF2B5EF4-FFF2-40B4-BE49-F238E27FC236}">
                <a16:creationId xmlns:a16="http://schemas.microsoft.com/office/drawing/2014/main" id="{5B2761C3-E6C0-4D5D-AC69-91C63CBBAAC7}"/>
              </a:ext>
            </a:extLst>
          </p:cNvPr>
          <p:cNvSpPr txBox="1"/>
          <p:nvPr/>
        </p:nvSpPr>
        <p:spPr>
          <a:xfrm>
            <a:off x="279058" y="1794590"/>
            <a:ext cx="5733102"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Leer(</a:t>
            </a:r>
            <a:r>
              <a:rPr lang="es-MX" sz="1200" dirty="0" err="1">
                <a:latin typeface="Consolas" panose="020B0609020204030204" pitchFamily="49" charset="0"/>
              </a:rPr>
              <a:t>year</a:t>
            </a:r>
            <a:r>
              <a:rPr lang="es-MX" sz="1200" dirty="0">
                <a:latin typeface="Consolas" panose="020B0609020204030204" pitchFamily="49" charset="0"/>
              </a:rPr>
              <a:t>) </a:t>
            </a:r>
          </a:p>
          <a:p>
            <a:r>
              <a:rPr lang="es-MX" sz="1200" dirty="0">
                <a:latin typeface="Consolas" panose="020B0609020204030204" pitchFamily="49" charset="0"/>
              </a:rPr>
              <a:t>  Si((year%4 == 0)and(year%100 != 0 </a:t>
            </a:r>
            <a:r>
              <a:rPr lang="es-MX" sz="1200" dirty="0" err="1">
                <a:latin typeface="Consolas" panose="020B0609020204030204" pitchFamily="49" charset="0"/>
              </a:rPr>
              <a:t>or</a:t>
            </a:r>
            <a:r>
              <a:rPr lang="es-MX" sz="1200" dirty="0">
                <a:latin typeface="Consolas" panose="020B0609020204030204" pitchFamily="49" charset="0"/>
              </a:rPr>
              <a:t> year%400 == 0)) Entonces    </a:t>
            </a:r>
          </a:p>
          <a:p>
            <a:r>
              <a:rPr lang="es-MX" sz="1200" dirty="0">
                <a:latin typeface="Consolas" panose="020B0609020204030204" pitchFamily="49" charset="0"/>
              </a:rPr>
              <a:t>    Escribir(</a:t>
            </a:r>
            <a:r>
              <a:rPr lang="es-MX" sz="1200" dirty="0" err="1">
                <a:latin typeface="Consolas" panose="020B0609020204030204" pitchFamily="49" charset="0"/>
              </a:rPr>
              <a:t>year</a:t>
            </a:r>
            <a:r>
              <a:rPr lang="es-MX" sz="1200" dirty="0">
                <a:latin typeface="Consolas" panose="020B0609020204030204" pitchFamily="49" charset="0"/>
              </a:rPr>
              <a:t>, 'es bisiesto’)</a:t>
            </a:r>
          </a:p>
          <a:p>
            <a:r>
              <a:rPr lang="es-MX" sz="1200" dirty="0">
                <a:latin typeface="Consolas" panose="020B0609020204030204" pitchFamily="49" charset="0"/>
              </a:rPr>
              <a:t>  Sino</a:t>
            </a:r>
          </a:p>
          <a:p>
            <a:r>
              <a:rPr lang="es-MX" sz="1200" dirty="0">
                <a:latin typeface="Consolas" panose="020B0609020204030204" pitchFamily="49" charset="0"/>
              </a:rPr>
              <a:t>    Escribir(</a:t>
            </a:r>
            <a:r>
              <a:rPr lang="es-MX" sz="1200" dirty="0" err="1">
                <a:latin typeface="Consolas" panose="020B0609020204030204" pitchFamily="49" charset="0"/>
              </a:rPr>
              <a:t>year</a:t>
            </a:r>
            <a:r>
              <a:rPr lang="es-MX" sz="1200" dirty="0">
                <a:latin typeface="Consolas" panose="020B0609020204030204" pitchFamily="49" charset="0"/>
              </a:rPr>
              <a:t>, 'no es bisiesto')</a:t>
            </a:r>
          </a:p>
          <a:p>
            <a:r>
              <a:rPr lang="es-MX" sz="1200" dirty="0">
                <a:latin typeface="Consolas" panose="020B0609020204030204" pitchFamily="49" charset="0"/>
              </a:rPr>
              <a:t>  </a:t>
            </a:r>
            <a:r>
              <a:rPr lang="es-MX" sz="1200" dirty="0" err="1">
                <a:latin typeface="Consolas" panose="020B0609020204030204" pitchFamily="49" charset="0"/>
              </a:rPr>
              <a:t>Fin_Si</a:t>
            </a:r>
            <a:endParaRPr lang="es-MX" sz="1200" dirty="0">
              <a:latin typeface="Consolas" panose="020B0609020204030204" pitchFamily="49" charset="0"/>
            </a:endParaRP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12" name="12 Rectángulo">
            <a:extLst>
              <a:ext uri="{FF2B5EF4-FFF2-40B4-BE49-F238E27FC236}">
                <a16:creationId xmlns:a16="http://schemas.microsoft.com/office/drawing/2014/main" id="{0487A58C-35A4-4336-8E4B-5E0FBE611B87}"/>
              </a:ext>
            </a:extLst>
          </p:cNvPr>
          <p:cNvSpPr/>
          <p:nvPr/>
        </p:nvSpPr>
        <p:spPr>
          <a:xfrm>
            <a:off x="192904" y="957809"/>
            <a:ext cx="4963016" cy="430887"/>
          </a:xfrm>
          <a:prstGeom prst="rect">
            <a:avLst/>
          </a:prstGeom>
        </p:spPr>
        <p:txBody>
          <a:bodyPr wrap="square">
            <a:spAutoFit/>
          </a:bodyPr>
          <a:lstStyle/>
          <a:p>
            <a:r>
              <a:rPr lang="es-CO" sz="2200" b="1" dirty="0"/>
              <a:t>Ejemplo – Año bisiesto:</a:t>
            </a:r>
            <a:endParaRPr lang="es-CO" sz="2400" b="1" dirty="0"/>
          </a:p>
        </p:txBody>
      </p:sp>
    </p:spTree>
    <p:extLst>
      <p:ext uri="{BB962C8B-B14F-4D97-AF65-F5344CB8AC3E}">
        <p14:creationId xmlns:p14="http://schemas.microsoft.com/office/powerpoint/2010/main" val="2797083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Alternativa doble</a:t>
            </a:r>
          </a:p>
        </p:txBody>
      </p:sp>
      <p:sp>
        <p:nvSpPr>
          <p:cNvPr id="10" name="CuadroTexto 9">
            <a:extLst>
              <a:ext uri="{FF2B5EF4-FFF2-40B4-BE49-F238E27FC236}">
                <a16:creationId xmlns:a16="http://schemas.microsoft.com/office/drawing/2014/main" id="{44ADE36F-3836-40FC-AAE5-6014F5E19BE2}"/>
              </a:ext>
            </a:extLst>
          </p:cNvPr>
          <p:cNvSpPr txBox="1"/>
          <p:nvPr/>
        </p:nvSpPr>
        <p:spPr>
          <a:xfrm>
            <a:off x="406167" y="1076790"/>
            <a:ext cx="1800200" cy="400110"/>
          </a:xfrm>
          <a:prstGeom prst="rect">
            <a:avLst/>
          </a:prstGeom>
          <a:noFill/>
        </p:spPr>
        <p:txBody>
          <a:bodyPr wrap="square" rtlCol="0">
            <a:spAutoFit/>
          </a:bodyPr>
          <a:lstStyle/>
          <a:p>
            <a:r>
              <a:rPr lang="es-CO" sz="2000" b="1" dirty="0"/>
              <a:t>Pseudocódigo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2464670" y="1211268"/>
            <a:ext cx="5635721"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Leer(</a:t>
            </a:r>
            <a:r>
              <a:rPr lang="es-MX" sz="1200" dirty="0" err="1">
                <a:latin typeface="Consolas" panose="020B0609020204030204" pitchFamily="49" charset="0"/>
              </a:rPr>
              <a:t>year</a:t>
            </a:r>
            <a:r>
              <a:rPr lang="es-MX" sz="1200" dirty="0">
                <a:latin typeface="Consolas" panose="020B0609020204030204" pitchFamily="49" charset="0"/>
              </a:rPr>
              <a:t>) </a:t>
            </a:r>
          </a:p>
          <a:p>
            <a:r>
              <a:rPr lang="es-MX" sz="1200" dirty="0">
                <a:latin typeface="Consolas" panose="020B0609020204030204" pitchFamily="49" charset="0"/>
              </a:rPr>
              <a:t>  Si((year%4 == 0)and(year%100 != 0 </a:t>
            </a:r>
            <a:r>
              <a:rPr lang="es-MX" sz="1200" dirty="0" err="1">
                <a:latin typeface="Consolas" panose="020B0609020204030204" pitchFamily="49" charset="0"/>
              </a:rPr>
              <a:t>or</a:t>
            </a:r>
            <a:r>
              <a:rPr lang="es-MX" sz="1200" dirty="0">
                <a:latin typeface="Consolas" panose="020B0609020204030204" pitchFamily="49" charset="0"/>
              </a:rPr>
              <a:t> year%400 == 0)) Entonces    </a:t>
            </a:r>
          </a:p>
          <a:p>
            <a:r>
              <a:rPr lang="es-MX" sz="1200" dirty="0">
                <a:latin typeface="Consolas" panose="020B0609020204030204" pitchFamily="49" charset="0"/>
              </a:rPr>
              <a:t>    Escribir(</a:t>
            </a:r>
            <a:r>
              <a:rPr lang="es-MX" sz="1200" dirty="0" err="1">
                <a:latin typeface="Consolas" panose="020B0609020204030204" pitchFamily="49" charset="0"/>
              </a:rPr>
              <a:t>year</a:t>
            </a:r>
            <a:r>
              <a:rPr lang="es-MX" sz="1200" dirty="0">
                <a:latin typeface="Consolas" panose="020B0609020204030204" pitchFamily="49" charset="0"/>
              </a:rPr>
              <a:t>, 'es bisiesto')</a:t>
            </a:r>
          </a:p>
          <a:p>
            <a:r>
              <a:rPr lang="es-MX" sz="1200" dirty="0">
                <a:latin typeface="Consolas" panose="020B0609020204030204" pitchFamily="49" charset="0"/>
              </a:rPr>
              <a:t>  Sino</a:t>
            </a:r>
          </a:p>
          <a:p>
            <a:r>
              <a:rPr lang="es-MX" sz="1200" dirty="0">
                <a:latin typeface="Consolas" panose="020B0609020204030204" pitchFamily="49" charset="0"/>
              </a:rPr>
              <a:t>    Escribir(</a:t>
            </a:r>
            <a:r>
              <a:rPr lang="es-MX" sz="1200" dirty="0" err="1">
                <a:latin typeface="Consolas" panose="020B0609020204030204" pitchFamily="49" charset="0"/>
              </a:rPr>
              <a:t>year</a:t>
            </a:r>
            <a:r>
              <a:rPr lang="es-MX" sz="1200" dirty="0">
                <a:latin typeface="Consolas" panose="020B0609020204030204" pitchFamily="49" charset="0"/>
              </a:rPr>
              <a:t>, 'no es bisiesto')</a:t>
            </a:r>
          </a:p>
          <a:p>
            <a:r>
              <a:rPr lang="es-MX" sz="1200" dirty="0">
                <a:latin typeface="Consolas" panose="020B0609020204030204" pitchFamily="49" charset="0"/>
              </a:rPr>
              <a:t>  </a:t>
            </a:r>
            <a:r>
              <a:rPr lang="es-MX" sz="1200" dirty="0" err="1">
                <a:latin typeface="Consolas" panose="020B0609020204030204" pitchFamily="49" charset="0"/>
              </a:rPr>
              <a:t>Fin_Si</a:t>
            </a:r>
            <a:endParaRPr lang="es-MX" sz="1200" dirty="0">
              <a:latin typeface="Consolas" panose="020B0609020204030204" pitchFamily="49" charset="0"/>
            </a:endParaRP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7" name="CuadroTexto 6">
            <a:extLst>
              <a:ext uri="{FF2B5EF4-FFF2-40B4-BE49-F238E27FC236}">
                <a16:creationId xmlns:a16="http://schemas.microsoft.com/office/drawing/2014/main" id="{1ED83759-1E37-495E-923D-539C70720DC2}"/>
              </a:ext>
            </a:extLst>
          </p:cNvPr>
          <p:cNvSpPr txBox="1"/>
          <p:nvPr/>
        </p:nvSpPr>
        <p:spPr>
          <a:xfrm>
            <a:off x="406167" y="3429000"/>
            <a:ext cx="1800200" cy="400110"/>
          </a:xfrm>
          <a:prstGeom prst="rect">
            <a:avLst/>
          </a:prstGeom>
          <a:noFill/>
        </p:spPr>
        <p:txBody>
          <a:bodyPr wrap="square" rtlCol="0">
            <a:spAutoFit/>
          </a:bodyPr>
          <a:lstStyle/>
          <a:p>
            <a:r>
              <a:rPr lang="es-CO" sz="2000" b="1" dirty="0"/>
              <a:t>Python</a:t>
            </a:r>
          </a:p>
        </p:txBody>
      </p:sp>
      <p:sp>
        <p:nvSpPr>
          <p:cNvPr id="8" name="CuadroTexto 7">
            <a:extLst>
              <a:ext uri="{FF2B5EF4-FFF2-40B4-BE49-F238E27FC236}">
                <a16:creationId xmlns:a16="http://schemas.microsoft.com/office/drawing/2014/main" id="{0563DCA0-04B4-46F5-A1EA-25596C900D04}"/>
              </a:ext>
            </a:extLst>
          </p:cNvPr>
          <p:cNvSpPr txBox="1"/>
          <p:nvPr/>
        </p:nvSpPr>
        <p:spPr>
          <a:xfrm>
            <a:off x="2464671" y="3472886"/>
            <a:ext cx="5635720" cy="1754326"/>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Entradas</a:t>
            </a:r>
          </a:p>
          <a:p>
            <a:r>
              <a:rPr lang="es-MX" sz="1200" dirty="0" err="1">
                <a:latin typeface="Consolas" panose="020B0609020204030204" pitchFamily="49" charset="0"/>
              </a:rPr>
              <a:t>year</a:t>
            </a:r>
            <a:r>
              <a:rPr lang="es-MX" sz="1200" dirty="0">
                <a:latin typeface="Consolas" panose="020B0609020204030204" pitchFamily="49" charset="0"/>
              </a:rPr>
              <a:t> = </a:t>
            </a:r>
            <a:r>
              <a:rPr lang="es-MX" sz="1200" dirty="0" err="1">
                <a:latin typeface="Consolas" panose="020B0609020204030204" pitchFamily="49" charset="0"/>
              </a:rPr>
              <a:t>int</a:t>
            </a:r>
            <a:r>
              <a:rPr lang="es-MX" sz="1200" dirty="0">
                <a:latin typeface="Consolas" panose="020B0609020204030204" pitchFamily="49" charset="0"/>
              </a:rPr>
              <a:t>(input("Digite el año: "))</a:t>
            </a:r>
          </a:p>
          <a:p>
            <a:endParaRPr lang="es-MX" sz="1200" dirty="0">
              <a:latin typeface="Consolas" panose="020B0609020204030204" pitchFamily="49" charset="0"/>
            </a:endParaRPr>
          </a:p>
          <a:p>
            <a:r>
              <a:rPr lang="es-MX" sz="1200" dirty="0">
                <a:latin typeface="Consolas" panose="020B0609020204030204" pitchFamily="49" charset="0"/>
              </a:rPr>
              <a:t># Proceso y salida</a:t>
            </a:r>
          </a:p>
          <a:p>
            <a:r>
              <a:rPr lang="es-MX" sz="1200" dirty="0" err="1">
                <a:latin typeface="Consolas" panose="020B0609020204030204" pitchFamily="49" charset="0"/>
              </a:rPr>
              <a:t>if</a:t>
            </a:r>
            <a:r>
              <a:rPr lang="es-MX" sz="1200" dirty="0">
                <a:latin typeface="Consolas" panose="020B0609020204030204" pitchFamily="49" charset="0"/>
              </a:rPr>
              <a:t>((year%4 == 0) and </a:t>
            </a:r>
          </a:p>
          <a:p>
            <a:r>
              <a:rPr lang="es-MX" sz="1200" dirty="0">
                <a:latin typeface="Consolas" panose="020B0609020204030204" pitchFamily="49" charset="0"/>
              </a:rPr>
              <a:t>   (year%100 != 0) </a:t>
            </a:r>
            <a:r>
              <a:rPr lang="es-MX" sz="1200" dirty="0" err="1">
                <a:latin typeface="Consolas" panose="020B0609020204030204" pitchFamily="49" charset="0"/>
              </a:rPr>
              <a:t>or</a:t>
            </a:r>
            <a:r>
              <a:rPr lang="es-MX" sz="1200" dirty="0">
                <a:latin typeface="Consolas" panose="020B0609020204030204" pitchFamily="49" charset="0"/>
              </a:rPr>
              <a:t> (year%400 == 0)):</a:t>
            </a:r>
          </a:p>
          <a:p>
            <a:r>
              <a:rPr lang="es-MX" sz="1200" dirty="0">
                <a:latin typeface="Consolas" panose="020B0609020204030204" pitchFamily="49" charset="0"/>
              </a:rPr>
              <a:t>    print(</a:t>
            </a:r>
            <a:r>
              <a:rPr lang="es-MX" sz="1200" dirty="0" err="1">
                <a:latin typeface="Consolas" panose="020B0609020204030204" pitchFamily="49" charset="0"/>
              </a:rPr>
              <a:t>year</a:t>
            </a:r>
            <a:r>
              <a:rPr lang="es-MX" sz="1200" dirty="0">
                <a:latin typeface="Consolas" panose="020B0609020204030204" pitchFamily="49" charset="0"/>
              </a:rPr>
              <a:t>, "es bisiesto")</a:t>
            </a:r>
          </a:p>
          <a:p>
            <a:r>
              <a:rPr lang="es-MX" sz="1200" dirty="0" err="1">
                <a:latin typeface="Consolas" panose="020B0609020204030204" pitchFamily="49" charset="0"/>
              </a:rPr>
              <a:t>else</a:t>
            </a:r>
            <a:r>
              <a:rPr lang="es-MX" sz="1200" dirty="0">
                <a:latin typeface="Consolas" panose="020B0609020204030204" pitchFamily="49" charset="0"/>
              </a:rPr>
              <a:t>:</a:t>
            </a:r>
          </a:p>
          <a:p>
            <a:r>
              <a:rPr lang="es-MX" sz="1200" dirty="0">
                <a:latin typeface="Consolas" panose="020B0609020204030204" pitchFamily="49" charset="0"/>
              </a:rPr>
              <a:t>    print(</a:t>
            </a:r>
            <a:r>
              <a:rPr lang="es-MX" sz="1200" dirty="0" err="1">
                <a:latin typeface="Consolas" panose="020B0609020204030204" pitchFamily="49" charset="0"/>
              </a:rPr>
              <a:t>year</a:t>
            </a:r>
            <a:r>
              <a:rPr lang="es-MX" sz="1200" dirty="0">
                <a:latin typeface="Consolas" panose="020B0609020204030204" pitchFamily="49" charset="0"/>
              </a:rPr>
              <a:t>, "no es bisiesto")</a:t>
            </a:r>
            <a:endParaRPr lang="es-CO" sz="1200" dirty="0">
              <a:latin typeface="Consolas" panose="020B0609020204030204" pitchFamily="49" charset="0"/>
            </a:endParaRPr>
          </a:p>
        </p:txBody>
      </p:sp>
      <p:sp>
        <p:nvSpPr>
          <p:cNvPr id="11" name="CuadroTexto 10">
            <a:extLst>
              <a:ext uri="{FF2B5EF4-FFF2-40B4-BE49-F238E27FC236}">
                <a16:creationId xmlns:a16="http://schemas.microsoft.com/office/drawing/2014/main" id="{2DCFD7BB-3279-4247-A6EA-21F9A311FDCA}"/>
              </a:ext>
            </a:extLst>
          </p:cNvPr>
          <p:cNvSpPr txBox="1"/>
          <p:nvPr/>
        </p:nvSpPr>
        <p:spPr>
          <a:xfrm>
            <a:off x="4378309" y="5257509"/>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Tree>
    <p:extLst>
      <p:ext uri="{BB962C8B-B14F-4D97-AF65-F5344CB8AC3E}">
        <p14:creationId xmlns:p14="http://schemas.microsoft.com/office/powerpoint/2010/main" val="1927569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09845" y="552481"/>
            <a:ext cx="7934563" cy="549746"/>
          </a:xfrm>
        </p:spPr>
        <p:txBody>
          <a:bodyPr>
            <a:normAutofit fontScale="90000"/>
          </a:bodyPr>
          <a:lstStyle/>
          <a:p>
            <a:r>
              <a:rPr lang="es-CO" dirty="0"/>
              <a:t>Ciclos</a:t>
            </a:r>
          </a:p>
        </p:txBody>
      </p:sp>
      <p:pic>
        <p:nvPicPr>
          <p:cNvPr id="13" name="Picture 2" descr="http://bartsblackboard.com/files/2010/04/the.simpsons.s20e21.jpg">
            <a:extLst>
              <a:ext uri="{FF2B5EF4-FFF2-40B4-BE49-F238E27FC236}">
                <a16:creationId xmlns:a16="http://schemas.microsoft.com/office/drawing/2014/main" id="{5036F255-FF37-4792-9665-9EE71CC72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84784"/>
            <a:ext cx="3960440" cy="223409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5F40F0EB-21B8-4DD2-BA92-90CCB9849735}"/>
              </a:ext>
            </a:extLst>
          </p:cNvPr>
          <p:cNvPicPr>
            <a:picLocks noChangeAspect="1"/>
          </p:cNvPicPr>
          <p:nvPr/>
        </p:nvPicPr>
        <p:blipFill>
          <a:blip r:embed="rId3"/>
          <a:stretch>
            <a:fillRect/>
          </a:stretch>
        </p:blipFill>
        <p:spPr>
          <a:xfrm>
            <a:off x="1014297" y="4509120"/>
            <a:ext cx="6525658" cy="2142591"/>
          </a:xfrm>
          <a:prstGeom prst="rect">
            <a:avLst/>
          </a:prstGeom>
        </p:spPr>
      </p:pic>
      <p:pic>
        <p:nvPicPr>
          <p:cNvPr id="2056" name="Picture 8" descr="Loop">
            <a:extLst>
              <a:ext uri="{FF2B5EF4-FFF2-40B4-BE49-F238E27FC236}">
                <a16:creationId xmlns:a16="http://schemas.microsoft.com/office/drawing/2014/main" id="{9A1FFD7C-2B46-4E12-9741-6FC5019F93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1232418"/>
            <a:ext cx="2181225"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503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Ciclos</a:t>
            </a:r>
          </a:p>
        </p:txBody>
      </p:sp>
      <p:sp>
        <p:nvSpPr>
          <p:cNvPr id="13" name="12 Rectángulo"/>
          <p:cNvSpPr/>
          <p:nvPr/>
        </p:nvSpPr>
        <p:spPr>
          <a:xfrm>
            <a:off x="179513" y="874455"/>
            <a:ext cx="8796866" cy="5016758"/>
          </a:xfrm>
          <a:prstGeom prst="rect">
            <a:avLst/>
          </a:prstGeom>
        </p:spPr>
        <p:txBody>
          <a:bodyPr wrap="square">
            <a:spAutoFit/>
          </a:bodyPr>
          <a:lstStyle/>
          <a:p>
            <a:r>
              <a:rPr lang="es-MX" altLang="es-CO" sz="2000" dirty="0"/>
              <a:t>Veamos como punto de partida los siguientes problemas:</a:t>
            </a:r>
          </a:p>
          <a:p>
            <a:pPr marL="457200" indent="-457200">
              <a:buFont typeface="Arial" panose="020B0604020202020204" pitchFamily="34" charset="0"/>
              <a:buChar char="•"/>
            </a:pPr>
            <a:r>
              <a:rPr lang="es-MX" altLang="es-CO" sz="2000" b="1" dirty="0"/>
              <a:t>Problema 1</a:t>
            </a:r>
            <a:r>
              <a:rPr lang="es-MX" altLang="es-CO" sz="2000" dirty="0"/>
              <a:t>: Hacer un programa que muestre los primeros 10 números en pantalla.</a:t>
            </a:r>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Arial" panose="020B0604020202020204" pitchFamily="34" charset="0"/>
              <a:buChar char="•"/>
            </a:pPr>
            <a:r>
              <a:rPr lang="es-MX" altLang="es-CO" sz="2000" b="1" dirty="0"/>
              <a:t>Problema 2</a:t>
            </a:r>
            <a:r>
              <a:rPr lang="es-MX" altLang="es-CO" sz="2000" dirty="0"/>
              <a:t>: Hacer un programa que muestre los primeros 100 números en pantalla.</a:t>
            </a:r>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a:p>
            <a:pPr marL="457200" indent="-457200">
              <a:buFont typeface="+mj-lt"/>
              <a:buAutoNum type="arabicPeriod"/>
            </a:pPr>
            <a:endParaRPr lang="es-MX" altLang="es-CO" sz="2000" dirty="0"/>
          </a:p>
        </p:txBody>
      </p:sp>
      <p:sp>
        <p:nvSpPr>
          <p:cNvPr id="6" name="CuadroTexto 5">
            <a:extLst>
              <a:ext uri="{FF2B5EF4-FFF2-40B4-BE49-F238E27FC236}">
                <a16:creationId xmlns:a16="http://schemas.microsoft.com/office/drawing/2014/main" id="{4ECCF8F5-6135-470C-999A-626988B36479}"/>
              </a:ext>
            </a:extLst>
          </p:cNvPr>
          <p:cNvSpPr txBox="1"/>
          <p:nvPr/>
        </p:nvSpPr>
        <p:spPr>
          <a:xfrm>
            <a:off x="1837108" y="2044586"/>
            <a:ext cx="5436959" cy="738664"/>
          </a:xfrm>
          <a:prstGeom prst="rect">
            <a:avLst/>
          </a:prstGeom>
          <a:noFill/>
          <a:ln>
            <a:solidFill>
              <a:schemeClr val="tx1"/>
            </a:solidFill>
          </a:ln>
        </p:spPr>
        <p:txBody>
          <a:bodyPr wrap="square" rtlCol="0">
            <a:spAutoFit/>
          </a:bodyPr>
          <a:lstStyle/>
          <a:p>
            <a:r>
              <a:rPr lang="es-MX" sz="1400" dirty="0">
                <a:latin typeface="Consolas" panose="020B0609020204030204" pitchFamily="49" charset="0"/>
              </a:rPr>
              <a:t>Inicio</a:t>
            </a:r>
          </a:p>
          <a:p>
            <a:r>
              <a:rPr lang="es-MX" sz="1400" dirty="0">
                <a:latin typeface="Consolas" panose="020B0609020204030204" pitchFamily="49" charset="0"/>
              </a:rPr>
              <a:t>  Escribir("1, 2, 3, 4, 5, 6, 7, 8, 9, 10") </a:t>
            </a:r>
          </a:p>
          <a:p>
            <a:r>
              <a:rPr lang="es-MX" sz="1400" dirty="0">
                <a:latin typeface="Consolas" panose="020B0609020204030204" pitchFamily="49" charset="0"/>
              </a:rPr>
              <a:t>Fin</a:t>
            </a:r>
            <a:endParaRPr lang="es-CO" sz="1400" dirty="0">
              <a:latin typeface="Consolas" panose="020B0609020204030204" pitchFamily="49" charset="0"/>
            </a:endParaRPr>
          </a:p>
        </p:txBody>
      </p:sp>
      <p:sp>
        <p:nvSpPr>
          <p:cNvPr id="8" name="CuadroTexto 7">
            <a:extLst>
              <a:ext uri="{FF2B5EF4-FFF2-40B4-BE49-F238E27FC236}">
                <a16:creationId xmlns:a16="http://schemas.microsoft.com/office/drawing/2014/main" id="{6B3E5831-EE69-4962-A3A9-7C5CD3B3126B}"/>
              </a:ext>
            </a:extLst>
          </p:cNvPr>
          <p:cNvSpPr txBox="1"/>
          <p:nvPr/>
        </p:nvSpPr>
        <p:spPr>
          <a:xfrm>
            <a:off x="1837109" y="3953381"/>
            <a:ext cx="5436960" cy="2677656"/>
          </a:xfrm>
          <a:prstGeom prst="rect">
            <a:avLst/>
          </a:prstGeom>
          <a:noFill/>
          <a:ln>
            <a:solidFill>
              <a:schemeClr val="tx1"/>
            </a:solidFill>
          </a:ln>
        </p:spPr>
        <p:txBody>
          <a:bodyPr wrap="square" rtlCol="0">
            <a:spAutoFit/>
          </a:bodyPr>
          <a:lstStyle/>
          <a:p>
            <a:r>
              <a:rPr lang="es-MX" sz="1400" dirty="0">
                <a:latin typeface="Consolas" panose="020B0609020204030204" pitchFamily="49" charset="0"/>
              </a:rPr>
              <a:t>Inicio</a:t>
            </a:r>
          </a:p>
          <a:p>
            <a:r>
              <a:rPr lang="es-MX" sz="1400" dirty="0">
                <a:latin typeface="Consolas" panose="020B0609020204030204" pitchFamily="49" charset="0"/>
              </a:rPr>
              <a:t>  Escribir("1, 2, 3, 4, 5, 6, 7, 8, 9, 10,  </a:t>
            </a:r>
          </a:p>
          <a:p>
            <a:r>
              <a:rPr lang="es-MX" sz="1400" dirty="0">
                <a:latin typeface="Consolas" panose="020B0609020204030204" pitchFamily="49" charset="0"/>
              </a:rPr>
              <a:t>            11, 12, 13, 14, 15, 16, 17, 18, 19, 20,  </a:t>
            </a:r>
          </a:p>
          <a:p>
            <a:r>
              <a:rPr lang="es-MX" sz="1400" dirty="0">
                <a:latin typeface="Consolas" panose="020B0609020204030204" pitchFamily="49" charset="0"/>
              </a:rPr>
              <a:t>            21, 22, 23, 24, 25, 26, 27, 28, 29, 30,  </a:t>
            </a:r>
          </a:p>
          <a:p>
            <a:r>
              <a:rPr lang="es-MX" sz="1400" dirty="0">
                <a:latin typeface="Consolas" panose="020B0609020204030204" pitchFamily="49" charset="0"/>
              </a:rPr>
              <a:t>            31, 32, 33, 34, 35, 36, 37, 38, 39, 40, </a:t>
            </a:r>
          </a:p>
          <a:p>
            <a:r>
              <a:rPr lang="es-MX" sz="1400" dirty="0">
                <a:latin typeface="Consolas" panose="020B0609020204030204" pitchFamily="49" charset="0"/>
              </a:rPr>
              <a:t>            41, 42, 43, 44, 45, 46, 47, 48, 49, 40,  </a:t>
            </a:r>
          </a:p>
          <a:p>
            <a:r>
              <a:rPr lang="es-MX" sz="1400" dirty="0">
                <a:latin typeface="Consolas" panose="020B0609020204030204" pitchFamily="49" charset="0"/>
              </a:rPr>
              <a:t>            51, 52, 53, 54, 55, 56, 57, 58, 59, 60,  </a:t>
            </a:r>
          </a:p>
          <a:p>
            <a:r>
              <a:rPr lang="es-MX" sz="1400" dirty="0">
                <a:latin typeface="Consolas" panose="020B0609020204030204" pitchFamily="49" charset="0"/>
              </a:rPr>
              <a:t>            61, 62, 63, 64, 65, 66, 67, 68, 69, 70,  </a:t>
            </a:r>
          </a:p>
          <a:p>
            <a:r>
              <a:rPr lang="es-MX" sz="1400" dirty="0">
                <a:latin typeface="Consolas" panose="020B0609020204030204" pitchFamily="49" charset="0"/>
              </a:rPr>
              <a:t>            71, 72, 73, 74, 75, 76, 77, 78, 79, 80,</a:t>
            </a:r>
          </a:p>
          <a:p>
            <a:r>
              <a:rPr lang="es-MX" sz="1400" dirty="0">
                <a:latin typeface="Consolas" panose="020B0609020204030204" pitchFamily="49" charset="0"/>
              </a:rPr>
              <a:t>            81, 82, 83, 84, 85, 86, 87, 88, 89, 90,</a:t>
            </a:r>
          </a:p>
          <a:p>
            <a:r>
              <a:rPr lang="es-MX" sz="1400" dirty="0">
                <a:latin typeface="Consolas" panose="020B0609020204030204" pitchFamily="49" charset="0"/>
              </a:rPr>
              <a:t>            91, 92, 93, 94, 95, 96, 97, 98, 99, 100") </a:t>
            </a:r>
          </a:p>
          <a:p>
            <a:r>
              <a:rPr lang="es-MX" sz="1400" dirty="0">
                <a:latin typeface="Consolas" panose="020B0609020204030204" pitchFamily="49" charset="0"/>
              </a:rPr>
              <a:t>Fin</a:t>
            </a:r>
            <a:endParaRPr lang="es-CO" sz="1400" dirty="0">
              <a:latin typeface="Consolas" panose="020B0609020204030204" pitchFamily="49" charset="0"/>
            </a:endParaRPr>
          </a:p>
        </p:txBody>
      </p:sp>
    </p:spTree>
    <p:extLst>
      <p:ext uri="{BB962C8B-B14F-4D97-AF65-F5344CB8AC3E}">
        <p14:creationId xmlns:p14="http://schemas.microsoft.com/office/powerpoint/2010/main" val="2082833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Ciclos</a:t>
            </a:r>
          </a:p>
        </p:txBody>
      </p:sp>
      <p:sp>
        <p:nvSpPr>
          <p:cNvPr id="13" name="12 Rectángulo"/>
          <p:cNvSpPr/>
          <p:nvPr/>
        </p:nvSpPr>
        <p:spPr>
          <a:xfrm>
            <a:off x="105504" y="830674"/>
            <a:ext cx="8796866" cy="1015663"/>
          </a:xfrm>
          <a:prstGeom prst="rect">
            <a:avLst/>
          </a:prstGeom>
        </p:spPr>
        <p:txBody>
          <a:bodyPr wrap="square">
            <a:spAutoFit/>
          </a:bodyPr>
          <a:lstStyle/>
          <a:p>
            <a:r>
              <a:rPr lang="es-MX" altLang="es-CO" sz="2000" dirty="0"/>
              <a:t>Veamos como punto de partida los siguientes problemas:</a:t>
            </a:r>
          </a:p>
          <a:p>
            <a:pPr marL="457200" indent="-457200">
              <a:buFont typeface="Arial" panose="020B0604020202020204" pitchFamily="34" charset="0"/>
              <a:buChar char="•"/>
            </a:pPr>
            <a:r>
              <a:rPr lang="es-MX" altLang="es-CO" sz="2000" b="1" dirty="0"/>
              <a:t>Problema 3</a:t>
            </a:r>
            <a:r>
              <a:rPr lang="es-MX" altLang="es-CO" sz="2000" dirty="0"/>
              <a:t>: Hacer un programa que muestre los primeros 1000 números en pantalla.</a:t>
            </a:r>
          </a:p>
        </p:txBody>
      </p:sp>
      <p:pic>
        <p:nvPicPr>
          <p:cNvPr id="3084" name="Picture 4" descr="El truco financiero que multiplica tus ganancias! 📈 — Blog de Fraccional.cl">
            <a:extLst>
              <a:ext uri="{FF2B5EF4-FFF2-40B4-BE49-F238E27FC236}">
                <a16:creationId xmlns:a16="http://schemas.microsoft.com/office/drawing/2014/main" id="{77956E78-B0F4-4180-A9F0-79AA36A3DF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718" y="3078089"/>
            <a:ext cx="3275860" cy="2520877"/>
          </a:xfrm>
          <a:prstGeom prst="rect">
            <a:avLst/>
          </a:prstGeom>
          <a:noFill/>
          <a:extLst>
            <a:ext uri="{909E8E84-426E-40DD-AFC4-6F175D3DCCD1}">
              <a14:hiddenFill xmlns:a14="http://schemas.microsoft.com/office/drawing/2010/main">
                <a:solidFill>
                  <a:srgbClr val="FFFFFF"/>
                </a:solidFill>
              </a14:hiddenFill>
            </a:ext>
          </a:extLst>
        </p:spPr>
      </p:pic>
      <p:sp>
        <p:nvSpPr>
          <p:cNvPr id="77" name="Flowchart: Data 6">
            <a:extLst>
              <a:ext uri="{FF2B5EF4-FFF2-40B4-BE49-F238E27FC236}">
                <a16:creationId xmlns:a16="http://schemas.microsoft.com/office/drawing/2014/main" id="{DF8D1192-5CEF-4F8B-8CB7-B7AA9250949B}"/>
              </a:ext>
            </a:extLst>
          </p:cNvPr>
          <p:cNvSpPr/>
          <p:nvPr/>
        </p:nvSpPr>
        <p:spPr>
          <a:xfrm>
            <a:off x="622014" y="2133568"/>
            <a:ext cx="2025794" cy="378706"/>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 v1,v2,…</a:t>
            </a:r>
          </a:p>
        </p:txBody>
      </p:sp>
      <p:sp>
        <p:nvSpPr>
          <p:cNvPr id="78" name="Flowchart: Data 6">
            <a:extLst>
              <a:ext uri="{FF2B5EF4-FFF2-40B4-BE49-F238E27FC236}">
                <a16:creationId xmlns:a16="http://schemas.microsoft.com/office/drawing/2014/main" id="{E71D3F94-7F70-4EB1-9DD0-01C3B66641FF}"/>
              </a:ext>
            </a:extLst>
          </p:cNvPr>
          <p:cNvSpPr/>
          <p:nvPr/>
        </p:nvSpPr>
        <p:spPr>
          <a:xfrm>
            <a:off x="3275856" y="2140767"/>
            <a:ext cx="2165184" cy="378706"/>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Print v1,v2,…</a:t>
            </a:r>
          </a:p>
        </p:txBody>
      </p:sp>
      <p:sp>
        <p:nvSpPr>
          <p:cNvPr id="79" name="Flowchart: Process 7">
            <a:extLst>
              <a:ext uri="{FF2B5EF4-FFF2-40B4-BE49-F238E27FC236}">
                <a16:creationId xmlns:a16="http://schemas.microsoft.com/office/drawing/2014/main" id="{E4466AFD-E2B1-4F80-AD6E-8479B1763B87}"/>
              </a:ext>
            </a:extLst>
          </p:cNvPr>
          <p:cNvSpPr/>
          <p:nvPr/>
        </p:nvSpPr>
        <p:spPr>
          <a:xfrm>
            <a:off x="6496194" y="2133568"/>
            <a:ext cx="1395611" cy="378706"/>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c </a:t>
            </a:r>
            <a:r>
              <a:rPr lang="en-US" sz="1200" dirty="0">
                <a:latin typeface="Consolas" panose="020B0609020204030204" pitchFamily="49" charset="0"/>
                <a:sym typeface="Wingdings" panose="05000000000000000000" pitchFamily="2" charset="2"/>
              </a:rPr>
              <a:t> a + b</a:t>
            </a:r>
            <a:r>
              <a:rPr lang="en-US" sz="1200" dirty="0">
                <a:latin typeface="Consolas" panose="020B0609020204030204" pitchFamily="49" charset="0"/>
              </a:rPr>
              <a:t> </a:t>
            </a:r>
          </a:p>
        </p:txBody>
      </p:sp>
      <p:grpSp>
        <p:nvGrpSpPr>
          <p:cNvPr id="80" name="5 Grupo">
            <a:extLst>
              <a:ext uri="{FF2B5EF4-FFF2-40B4-BE49-F238E27FC236}">
                <a16:creationId xmlns:a16="http://schemas.microsoft.com/office/drawing/2014/main" id="{1518AB2A-5717-48EE-8256-4E19D47E8BEB}"/>
              </a:ext>
            </a:extLst>
          </p:cNvPr>
          <p:cNvGrpSpPr/>
          <p:nvPr/>
        </p:nvGrpSpPr>
        <p:grpSpPr>
          <a:xfrm>
            <a:off x="4503937" y="3508970"/>
            <a:ext cx="3918518" cy="1502694"/>
            <a:chOff x="4870605" y="2743200"/>
            <a:chExt cx="3451172" cy="1323474"/>
          </a:xfrm>
        </p:grpSpPr>
        <p:sp>
          <p:nvSpPr>
            <p:cNvPr id="81" name="TextBox 75">
              <a:extLst>
                <a:ext uri="{FF2B5EF4-FFF2-40B4-BE49-F238E27FC236}">
                  <a16:creationId xmlns:a16="http://schemas.microsoft.com/office/drawing/2014/main" id="{67151D27-430C-498C-A0DF-DBE7BBE640B0}"/>
                </a:ext>
              </a:extLst>
            </p:cNvPr>
            <p:cNvSpPr txBox="1"/>
            <p:nvPr/>
          </p:nvSpPr>
          <p:spPr>
            <a:xfrm>
              <a:off x="7520367" y="2926102"/>
              <a:ext cx="419713" cy="230409"/>
            </a:xfrm>
            <a:prstGeom prst="rect">
              <a:avLst/>
            </a:prstGeom>
            <a:noFill/>
          </p:spPr>
          <p:txBody>
            <a:bodyPr wrap="square" rtlCol="0">
              <a:spAutoFit/>
            </a:bodyPr>
            <a:lstStyle/>
            <a:p>
              <a:pPr algn="ctr"/>
              <a:r>
                <a:rPr lang="en-US" sz="1050" dirty="0">
                  <a:latin typeface="Consolas" panose="020B0609020204030204" pitchFamily="49" charset="0"/>
                </a:rPr>
                <a:t>no</a:t>
              </a:r>
            </a:p>
          </p:txBody>
        </p:sp>
        <p:sp>
          <p:nvSpPr>
            <p:cNvPr id="82" name="Flowchart: Decision 40">
              <a:extLst>
                <a:ext uri="{FF2B5EF4-FFF2-40B4-BE49-F238E27FC236}">
                  <a16:creationId xmlns:a16="http://schemas.microsoft.com/office/drawing/2014/main" id="{E7BD9B1F-DDB4-4EB0-A822-88BE30CF42EC}"/>
                </a:ext>
              </a:extLst>
            </p:cNvPr>
            <p:cNvSpPr/>
            <p:nvPr/>
          </p:nvSpPr>
          <p:spPr>
            <a:xfrm>
              <a:off x="5698935" y="2895600"/>
              <a:ext cx="1890405"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condición</a:t>
              </a:r>
            </a:p>
          </p:txBody>
        </p:sp>
        <p:cxnSp>
          <p:nvCxnSpPr>
            <p:cNvPr id="83" name="Straight Arrow Connector 47">
              <a:extLst>
                <a:ext uri="{FF2B5EF4-FFF2-40B4-BE49-F238E27FC236}">
                  <a16:creationId xmlns:a16="http://schemas.microsoft.com/office/drawing/2014/main" id="{EF8AA042-0BE5-4FCD-8E97-F3F3C3312181}"/>
                </a:ext>
              </a:extLst>
            </p:cNvPr>
            <p:cNvCxnSpPr>
              <a:cxnSpLocks/>
              <a:endCxn id="82" idx="0"/>
            </p:cNvCxnSpPr>
            <p:nvPr/>
          </p:nvCxnSpPr>
          <p:spPr>
            <a:xfrm>
              <a:off x="6644138" y="2743200"/>
              <a:ext cx="0" cy="152400"/>
            </a:xfrm>
            <a:prstGeom prst="straightConnector1">
              <a:avLst/>
            </a:prstGeom>
            <a:ln>
              <a:solidFill>
                <a:schemeClr val="tx1">
                  <a:lumMod val="50000"/>
                  <a:lumOff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49">
              <a:extLst>
                <a:ext uri="{FF2B5EF4-FFF2-40B4-BE49-F238E27FC236}">
                  <a16:creationId xmlns:a16="http://schemas.microsoft.com/office/drawing/2014/main" id="{ADDE8B15-77B8-41BC-AAFB-0BCD4C6F0668}"/>
                </a:ext>
              </a:extLst>
            </p:cNvPr>
            <p:cNvCxnSpPr>
              <a:cxnSpLocks/>
            </p:cNvCxnSpPr>
            <p:nvPr/>
          </p:nvCxnSpPr>
          <p:spPr>
            <a:xfrm>
              <a:off x="7576311" y="3124198"/>
              <a:ext cx="25926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TextBox 76">
              <a:extLst>
                <a:ext uri="{FF2B5EF4-FFF2-40B4-BE49-F238E27FC236}">
                  <a16:creationId xmlns:a16="http://schemas.microsoft.com/office/drawing/2014/main" id="{20057C11-3E84-4C22-B7FD-D2CE4EAF34C4}"/>
                </a:ext>
              </a:extLst>
            </p:cNvPr>
            <p:cNvSpPr txBox="1"/>
            <p:nvPr/>
          </p:nvSpPr>
          <p:spPr>
            <a:xfrm>
              <a:off x="5181600" y="2895600"/>
              <a:ext cx="609600" cy="230409"/>
            </a:xfrm>
            <a:prstGeom prst="rect">
              <a:avLst/>
            </a:prstGeom>
            <a:noFill/>
          </p:spPr>
          <p:txBody>
            <a:bodyPr wrap="square" rtlCol="0">
              <a:spAutoFit/>
            </a:bodyPr>
            <a:lstStyle/>
            <a:p>
              <a:pPr algn="ctr"/>
              <a:r>
                <a:rPr lang="en-US" sz="1050" dirty="0">
                  <a:latin typeface="Consolas" panose="020B0609020204030204" pitchFamily="49" charset="0"/>
                </a:rPr>
                <a:t>yes</a:t>
              </a:r>
            </a:p>
          </p:txBody>
        </p:sp>
        <p:cxnSp>
          <p:nvCxnSpPr>
            <p:cNvPr id="86" name="Straight Arrow Connector 47">
              <a:extLst>
                <a:ext uri="{FF2B5EF4-FFF2-40B4-BE49-F238E27FC236}">
                  <a16:creationId xmlns:a16="http://schemas.microsoft.com/office/drawing/2014/main" id="{ACE767F2-9754-4902-8F8E-D99C120006F1}"/>
                </a:ext>
              </a:extLst>
            </p:cNvPr>
            <p:cNvCxnSpPr/>
            <p:nvPr/>
          </p:nvCxnSpPr>
          <p:spPr>
            <a:xfrm>
              <a:off x="7835126" y="3124199"/>
              <a:ext cx="0"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47">
              <a:extLst>
                <a:ext uri="{FF2B5EF4-FFF2-40B4-BE49-F238E27FC236}">
                  <a16:creationId xmlns:a16="http://schemas.microsoft.com/office/drawing/2014/main" id="{B1C23E03-ECDC-4BA6-B1B2-B54A75B04023}"/>
                </a:ext>
              </a:extLst>
            </p:cNvPr>
            <p:cNvCxnSpPr/>
            <p:nvPr/>
          </p:nvCxnSpPr>
          <p:spPr>
            <a:xfrm>
              <a:off x="5410200" y="3124200"/>
              <a:ext cx="0"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49">
              <a:extLst>
                <a:ext uri="{FF2B5EF4-FFF2-40B4-BE49-F238E27FC236}">
                  <a16:creationId xmlns:a16="http://schemas.microsoft.com/office/drawing/2014/main" id="{AAC2B6D7-639B-4DB4-A3A1-2BDFC57BC0E2}"/>
                </a:ext>
              </a:extLst>
            </p:cNvPr>
            <p:cNvCxnSpPr/>
            <p:nvPr/>
          </p:nvCxnSpPr>
          <p:spPr>
            <a:xfrm>
              <a:off x="5410200" y="3124200"/>
              <a:ext cx="38100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Flowchart: Process 42">
              <a:extLst>
                <a:ext uri="{FF2B5EF4-FFF2-40B4-BE49-F238E27FC236}">
                  <a16:creationId xmlns:a16="http://schemas.microsoft.com/office/drawing/2014/main" id="{83B20821-9A96-4F8F-9965-C0CB4C7D96F5}"/>
                </a:ext>
              </a:extLst>
            </p:cNvPr>
            <p:cNvSpPr/>
            <p:nvPr/>
          </p:nvSpPr>
          <p:spPr>
            <a:xfrm>
              <a:off x="4870605" y="3429000"/>
              <a:ext cx="10625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proceso 2</a:t>
              </a:r>
              <a:endParaRPr lang="en-US" sz="1400" dirty="0">
                <a:latin typeface="Consolas" panose="020B0609020204030204" pitchFamily="49" charset="0"/>
              </a:endParaRPr>
            </a:p>
          </p:txBody>
        </p:sp>
        <p:sp>
          <p:nvSpPr>
            <p:cNvPr id="90" name="Flowchart: Process 42">
              <a:extLst>
                <a:ext uri="{FF2B5EF4-FFF2-40B4-BE49-F238E27FC236}">
                  <a16:creationId xmlns:a16="http://schemas.microsoft.com/office/drawing/2014/main" id="{D20362A6-C94A-4949-A92C-AC006571E693}"/>
                </a:ext>
              </a:extLst>
            </p:cNvPr>
            <p:cNvSpPr/>
            <p:nvPr/>
          </p:nvSpPr>
          <p:spPr>
            <a:xfrm>
              <a:off x="7344547" y="3429000"/>
              <a:ext cx="977230"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proceso 1</a:t>
              </a:r>
            </a:p>
          </p:txBody>
        </p:sp>
        <p:cxnSp>
          <p:nvCxnSpPr>
            <p:cNvPr id="91" name="Straight Arrow Connector 49">
              <a:extLst>
                <a:ext uri="{FF2B5EF4-FFF2-40B4-BE49-F238E27FC236}">
                  <a16:creationId xmlns:a16="http://schemas.microsoft.com/office/drawing/2014/main" id="{5CE624A6-3EC2-475B-8347-FF97C5809E3D}"/>
                </a:ext>
              </a:extLst>
            </p:cNvPr>
            <p:cNvCxnSpPr/>
            <p:nvPr/>
          </p:nvCxnSpPr>
          <p:spPr>
            <a:xfrm flipV="1">
              <a:off x="5410200" y="3810000"/>
              <a:ext cx="0" cy="256674"/>
            </a:xfrm>
            <a:prstGeom prst="straightConnector1">
              <a:avLst/>
            </a:prstGeom>
            <a:ln>
              <a:solidFill>
                <a:schemeClr val="tx1">
                  <a:lumMod val="50000"/>
                  <a:lumOff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49">
              <a:extLst>
                <a:ext uri="{FF2B5EF4-FFF2-40B4-BE49-F238E27FC236}">
                  <a16:creationId xmlns:a16="http://schemas.microsoft.com/office/drawing/2014/main" id="{29D9F4FC-872D-48C4-AB2E-7C57771F7BF5}"/>
                </a:ext>
              </a:extLst>
            </p:cNvPr>
            <p:cNvCxnSpPr/>
            <p:nvPr/>
          </p:nvCxnSpPr>
          <p:spPr>
            <a:xfrm flipV="1">
              <a:off x="7848600" y="3810000"/>
              <a:ext cx="0" cy="256674"/>
            </a:xfrm>
            <a:prstGeom prst="straightConnector1">
              <a:avLst/>
            </a:prstGeom>
            <a:ln>
              <a:solidFill>
                <a:schemeClr val="tx1">
                  <a:lumMod val="50000"/>
                  <a:lumOff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4073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Ciclos</a:t>
            </a:r>
          </a:p>
        </p:txBody>
      </p:sp>
      <p:sp>
        <p:nvSpPr>
          <p:cNvPr id="13" name="12 Rectángulo"/>
          <p:cNvSpPr/>
          <p:nvPr/>
        </p:nvSpPr>
        <p:spPr>
          <a:xfrm>
            <a:off x="167622" y="859359"/>
            <a:ext cx="8796866" cy="1015663"/>
          </a:xfrm>
          <a:prstGeom prst="rect">
            <a:avLst/>
          </a:prstGeom>
          <a:solidFill>
            <a:schemeClr val="bg2"/>
          </a:solidFill>
        </p:spPr>
        <p:txBody>
          <a:bodyPr wrap="square">
            <a:spAutoFit/>
          </a:bodyPr>
          <a:lstStyle/>
          <a:p>
            <a:r>
              <a:rPr lang="es-MX" altLang="es-CO" sz="2000" b="1" dirty="0"/>
              <a:t>Conclusión</a:t>
            </a:r>
            <a:r>
              <a:rPr lang="es-MX" altLang="es-CO" sz="2000" dirty="0"/>
              <a:t>: Necesitamos una nueva estructura, conocida como </a:t>
            </a:r>
            <a:r>
              <a:rPr lang="es-MX" altLang="es-CO" sz="2000" b="1" dirty="0"/>
              <a:t>ciclo</a:t>
            </a:r>
            <a:r>
              <a:rPr lang="es-MX" altLang="es-CO" sz="2000" dirty="0"/>
              <a:t>, para aquellas situaciones donde un conjunto de instrucciones se llevan a cabo de manera repetitiva.</a:t>
            </a:r>
          </a:p>
        </p:txBody>
      </p:sp>
      <p:grpSp>
        <p:nvGrpSpPr>
          <p:cNvPr id="3083" name="Grupo 3082">
            <a:extLst>
              <a:ext uri="{FF2B5EF4-FFF2-40B4-BE49-F238E27FC236}">
                <a16:creationId xmlns:a16="http://schemas.microsoft.com/office/drawing/2014/main" id="{C810764E-FB20-4DB8-9B1A-99265189AD98}"/>
              </a:ext>
            </a:extLst>
          </p:cNvPr>
          <p:cNvGrpSpPr/>
          <p:nvPr/>
        </p:nvGrpSpPr>
        <p:grpSpPr>
          <a:xfrm>
            <a:off x="5435535" y="3844064"/>
            <a:ext cx="3445315" cy="2790181"/>
            <a:chOff x="5004048" y="2843063"/>
            <a:chExt cx="3445315" cy="2790181"/>
          </a:xfrm>
        </p:grpSpPr>
        <p:sp>
          <p:nvSpPr>
            <p:cNvPr id="9" name="TextBox 75">
              <a:extLst>
                <a:ext uri="{FF2B5EF4-FFF2-40B4-BE49-F238E27FC236}">
                  <a16:creationId xmlns:a16="http://schemas.microsoft.com/office/drawing/2014/main" id="{8A7D796D-597F-4A50-BE26-36479C3697BD}"/>
                </a:ext>
              </a:extLst>
            </p:cNvPr>
            <p:cNvSpPr txBox="1"/>
            <p:nvPr/>
          </p:nvSpPr>
          <p:spPr>
            <a:xfrm>
              <a:off x="7375373" y="3907169"/>
              <a:ext cx="692150" cy="261610"/>
            </a:xfrm>
            <a:prstGeom prst="rect">
              <a:avLst/>
            </a:prstGeom>
            <a:noFill/>
          </p:spPr>
          <p:txBody>
            <a:bodyPr wrap="square" rtlCol="0">
              <a:spAutoFit/>
            </a:bodyPr>
            <a:lstStyle/>
            <a:p>
              <a:pPr algn="ctr"/>
              <a:r>
                <a:rPr lang="en-US" sz="1050" dirty="0">
                  <a:latin typeface="Consolas" panose="020B0609020204030204" pitchFamily="49" charset="0"/>
                </a:rPr>
                <a:t>no</a:t>
              </a:r>
            </a:p>
          </p:txBody>
        </p:sp>
        <p:sp>
          <p:nvSpPr>
            <p:cNvPr id="10" name="Flowchart: Decision 40">
              <a:extLst>
                <a:ext uri="{FF2B5EF4-FFF2-40B4-BE49-F238E27FC236}">
                  <a16:creationId xmlns:a16="http://schemas.microsoft.com/office/drawing/2014/main" id="{ED3435A3-6F18-48C4-BAC7-7F4C74420980}"/>
                </a:ext>
              </a:extLst>
            </p:cNvPr>
            <p:cNvSpPr/>
            <p:nvPr/>
          </p:nvSpPr>
          <p:spPr>
            <a:xfrm>
              <a:off x="5339244" y="3916526"/>
              <a:ext cx="2222288" cy="519113"/>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condición</a:t>
              </a:r>
            </a:p>
          </p:txBody>
        </p:sp>
        <p:cxnSp>
          <p:nvCxnSpPr>
            <p:cNvPr id="11" name="Straight Arrow Connector 47">
              <a:extLst>
                <a:ext uri="{FF2B5EF4-FFF2-40B4-BE49-F238E27FC236}">
                  <a16:creationId xmlns:a16="http://schemas.microsoft.com/office/drawing/2014/main" id="{C4BDDA3F-1794-4EF0-B729-D202AEB2AC04}"/>
                </a:ext>
              </a:extLst>
            </p:cNvPr>
            <p:cNvCxnSpPr/>
            <p:nvPr/>
          </p:nvCxnSpPr>
          <p:spPr>
            <a:xfrm>
              <a:off x="6450388" y="3570496"/>
              <a:ext cx="0" cy="346075"/>
            </a:xfrm>
            <a:prstGeom prst="straightConnector1">
              <a:avLst/>
            </a:prstGeom>
            <a:ln>
              <a:solidFill>
                <a:schemeClr val="tx1">
                  <a:lumMod val="50000"/>
                  <a:lumOff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49">
              <a:extLst>
                <a:ext uri="{FF2B5EF4-FFF2-40B4-BE49-F238E27FC236}">
                  <a16:creationId xmlns:a16="http://schemas.microsoft.com/office/drawing/2014/main" id="{AB7D59B4-FAC9-4D43-9DF4-7E0E03DF076E}"/>
                </a:ext>
              </a:extLst>
            </p:cNvPr>
            <p:cNvCxnSpPr>
              <a:cxnSpLocks/>
            </p:cNvCxnSpPr>
            <p:nvPr/>
          </p:nvCxnSpPr>
          <p:spPr>
            <a:xfrm flipH="1">
              <a:off x="7548563" y="4176713"/>
              <a:ext cx="3357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76">
              <a:extLst>
                <a:ext uri="{FF2B5EF4-FFF2-40B4-BE49-F238E27FC236}">
                  <a16:creationId xmlns:a16="http://schemas.microsoft.com/office/drawing/2014/main" id="{940354D9-1FE4-4C23-B478-7CA9D8C87993}"/>
                </a:ext>
              </a:extLst>
            </p:cNvPr>
            <p:cNvSpPr txBox="1"/>
            <p:nvPr/>
          </p:nvSpPr>
          <p:spPr>
            <a:xfrm>
              <a:off x="6325499" y="4428825"/>
              <a:ext cx="575871" cy="261610"/>
            </a:xfrm>
            <a:prstGeom prst="rect">
              <a:avLst/>
            </a:prstGeom>
            <a:noFill/>
          </p:spPr>
          <p:txBody>
            <a:bodyPr wrap="square" rtlCol="0">
              <a:spAutoFit/>
            </a:bodyPr>
            <a:lstStyle/>
            <a:p>
              <a:pPr algn="ctr"/>
              <a:r>
                <a:rPr lang="en-US" sz="1050" dirty="0">
                  <a:latin typeface="Consolas" panose="020B0609020204030204" pitchFamily="49" charset="0"/>
                </a:rPr>
                <a:t>yes</a:t>
              </a:r>
            </a:p>
          </p:txBody>
        </p:sp>
        <p:cxnSp>
          <p:nvCxnSpPr>
            <p:cNvPr id="15" name="Straight Arrow Connector 47">
              <a:extLst>
                <a:ext uri="{FF2B5EF4-FFF2-40B4-BE49-F238E27FC236}">
                  <a16:creationId xmlns:a16="http://schemas.microsoft.com/office/drawing/2014/main" id="{EA23F05E-96B6-4D64-B90A-FE415F517C3F}"/>
                </a:ext>
              </a:extLst>
            </p:cNvPr>
            <p:cNvCxnSpPr/>
            <p:nvPr/>
          </p:nvCxnSpPr>
          <p:spPr>
            <a:xfrm>
              <a:off x="6450388" y="4430733"/>
              <a:ext cx="0" cy="346075"/>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Process 42">
              <a:extLst>
                <a:ext uri="{FF2B5EF4-FFF2-40B4-BE49-F238E27FC236}">
                  <a16:creationId xmlns:a16="http://schemas.microsoft.com/office/drawing/2014/main" id="{997DC150-6BF3-45F0-A500-7967BEB26571}"/>
                </a:ext>
              </a:extLst>
            </p:cNvPr>
            <p:cNvSpPr/>
            <p:nvPr/>
          </p:nvSpPr>
          <p:spPr>
            <a:xfrm>
              <a:off x="5894534" y="4776808"/>
              <a:ext cx="1109562" cy="432594"/>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proceso 2</a:t>
              </a:r>
              <a:endParaRPr lang="en-US" sz="1400" dirty="0">
                <a:latin typeface="Consolas" panose="020B0609020204030204" pitchFamily="49" charset="0"/>
              </a:endParaRPr>
            </a:p>
          </p:txBody>
        </p:sp>
        <p:sp>
          <p:nvSpPr>
            <p:cNvPr id="17" name="Flowchart: Process 42">
              <a:extLst>
                <a:ext uri="{FF2B5EF4-FFF2-40B4-BE49-F238E27FC236}">
                  <a16:creationId xmlns:a16="http://schemas.microsoft.com/office/drawing/2014/main" id="{0A811F59-D48A-410A-8B45-52B9F1CA4556}"/>
                </a:ext>
              </a:extLst>
            </p:cNvPr>
            <p:cNvSpPr/>
            <p:nvPr/>
          </p:nvSpPr>
          <p:spPr>
            <a:xfrm>
              <a:off x="5894534" y="3162407"/>
              <a:ext cx="1125737" cy="432594"/>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proceso 1</a:t>
              </a:r>
            </a:p>
          </p:txBody>
        </p:sp>
        <p:cxnSp>
          <p:nvCxnSpPr>
            <p:cNvPr id="18" name="Straight Arrow Connector 49">
              <a:extLst>
                <a:ext uri="{FF2B5EF4-FFF2-40B4-BE49-F238E27FC236}">
                  <a16:creationId xmlns:a16="http://schemas.microsoft.com/office/drawing/2014/main" id="{B3A20EDC-832B-4434-9D18-1879A403F848}"/>
                </a:ext>
              </a:extLst>
            </p:cNvPr>
            <p:cNvCxnSpPr/>
            <p:nvPr/>
          </p:nvCxnSpPr>
          <p:spPr>
            <a:xfrm flipV="1">
              <a:off x="6449315" y="5209402"/>
              <a:ext cx="0" cy="136947"/>
            </a:xfrm>
            <a:prstGeom prst="straightConnector1">
              <a:avLst/>
            </a:prstGeom>
            <a:ln>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47">
              <a:extLst>
                <a:ext uri="{FF2B5EF4-FFF2-40B4-BE49-F238E27FC236}">
                  <a16:creationId xmlns:a16="http://schemas.microsoft.com/office/drawing/2014/main" id="{161DABA1-0E78-4B3A-A240-41C2D1FE7AB8}"/>
                </a:ext>
              </a:extLst>
            </p:cNvPr>
            <p:cNvCxnSpPr>
              <a:cxnSpLocks/>
            </p:cNvCxnSpPr>
            <p:nvPr/>
          </p:nvCxnSpPr>
          <p:spPr>
            <a:xfrm>
              <a:off x="5010150" y="4174331"/>
              <a:ext cx="333961" cy="17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47">
              <a:extLst>
                <a:ext uri="{FF2B5EF4-FFF2-40B4-BE49-F238E27FC236}">
                  <a16:creationId xmlns:a16="http://schemas.microsoft.com/office/drawing/2014/main" id="{A35835E7-4ED4-4AEB-A1D9-197CF7547459}"/>
                </a:ext>
              </a:extLst>
            </p:cNvPr>
            <p:cNvCxnSpPr/>
            <p:nvPr/>
          </p:nvCxnSpPr>
          <p:spPr>
            <a:xfrm>
              <a:off x="6450388" y="2843063"/>
              <a:ext cx="0" cy="313473"/>
            </a:xfrm>
            <a:prstGeom prst="straightConnector1">
              <a:avLst/>
            </a:prstGeom>
            <a:ln>
              <a:solidFill>
                <a:schemeClr val="tx1">
                  <a:lumMod val="50000"/>
                  <a:lumOff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47">
              <a:extLst>
                <a:ext uri="{FF2B5EF4-FFF2-40B4-BE49-F238E27FC236}">
                  <a16:creationId xmlns:a16="http://schemas.microsoft.com/office/drawing/2014/main" id="{FD01BF5F-6D4F-4F7E-A837-782419B269A1}"/>
                </a:ext>
              </a:extLst>
            </p:cNvPr>
            <p:cNvCxnSpPr>
              <a:cxnSpLocks/>
            </p:cNvCxnSpPr>
            <p:nvPr/>
          </p:nvCxnSpPr>
          <p:spPr>
            <a:xfrm>
              <a:off x="7881363" y="4175939"/>
              <a:ext cx="1" cy="790293"/>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Process 42">
              <a:extLst>
                <a:ext uri="{FF2B5EF4-FFF2-40B4-BE49-F238E27FC236}">
                  <a16:creationId xmlns:a16="http://schemas.microsoft.com/office/drawing/2014/main" id="{61F1649D-03B8-441F-9597-2F391F982F2E}"/>
                </a:ext>
              </a:extLst>
            </p:cNvPr>
            <p:cNvSpPr/>
            <p:nvPr/>
          </p:nvSpPr>
          <p:spPr>
            <a:xfrm>
              <a:off x="7339802" y="4973392"/>
              <a:ext cx="1109561" cy="432594"/>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proceso 3</a:t>
              </a:r>
              <a:endParaRPr lang="en-US" sz="1400" dirty="0">
                <a:latin typeface="Consolas" panose="020B0609020204030204" pitchFamily="49" charset="0"/>
              </a:endParaRPr>
            </a:p>
          </p:txBody>
        </p:sp>
        <p:cxnSp>
          <p:nvCxnSpPr>
            <p:cNvPr id="23" name="Straight Arrow Connector 49">
              <a:extLst>
                <a:ext uri="{FF2B5EF4-FFF2-40B4-BE49-F238E27FC236}">
                  <a16:creationId xmlns:a16="http://schemas.microsoft.com/office/drawing/2014/main" id="{A1EFBF45-023D-44D8-B745-C744BB63EA63}"/>
                </a:ext>
              </a:extLst>
            </p:cNvPr>
            <p:cNvCxnSpPr/>
            <p:nvPr/>
          </p:nvCxnSpPr>
          <p:spPr>
            <a:xfrm flipV="1">
              <a:off x="7881363" y="5341812"/>
              <a:ext cx="0" cy="291432"/>
            </a:xfrm>
            <a:prstGeom prst="straightConnector1">
              <a:avLst/>
            </a:prstGeom>
            <a:ln>
              <a:solidFill>
                <a:schemeClr val="tx1">
                  <a:lumMod val="50000"/>
                  <a:lumOff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47">
              <a:extLst>
                <a:ext uri="{FF2B5EF4-FFF2-40B4-BE49-F238E27FC236}">
                  <a16:creationId xmlns:a16="http://schemas.microsoft.com/office/drawing/2014/main" id="{168DEA0B-940B-4AF6-AC28-6075A7C538EF}"/>
                </a:ext>
              </a:extLst>
            </p:cNvPr>
            <p:cNvCxnSpPr>
              <a:cxnSpLocks/>
            </p:cNvCxnSpPr>
            <p:nvPr/>
          </p:nvCxnSpPr>
          <p:spPr>
            <a:xfrm flipH="1">
              <a:off x="5011192" y="4178300"/>
              <a:ext cx="4486" cy="1163512"/>
            </a:xfrm>
            <a:prstGeom prst="straightConnector1">
              <a:avLst/>
            </a:prstGeom>
            <a:ln>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47">
              <a:extLst>
                <a:ext uri="{FF2B5EF4-FFF2-40B4-BE49-F238E27FC236}">
                  <a16:creationId xmlns:a16="http://schemas.microsoft.com/office/drawing/2014/main" id="{36EDF05F-69DF-49C8-B872-AF5A47966AAD}"/>
                </a:ext>
              </a:extLst>
            </p:cNvPr>
            <p:cNvCxnSpPr>
              <a:cxnSpLocks/>
            </p:cNvCxnSpPr>
            <p:nvPr/>
          </p:nvCxnSpPr>
          <p:spPr>
            <a:xfrm flipH="1">
              <a:off x="5004048" y="5346349"/>
              <a:ext cx="1445268"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3" name="5 Grupo">
            <a:extLst>
              <a:ext uri="{FF2B5EF4-FFF2-40B4-BE49-F238E27FC236}">
                <a16:creationId xmlns:a16="http://schemas.microsoft.com/office/drawing/2014/main" id="{68AF51CE-BA15-406F-9F69-9AADE19E3A54}"/>
              </a:ext>
            </a:extLst>
          </p:cNvPr>
          <p:cNvGrpSpPr/>
          <p:nvPr/>
        </p:nvGrpSpPr>
        <p:grpSpPr>
          <a:xfrm>
            <a:off x="4797727" y="2070322"/>
            <a:ext cx="3918518" cy="1502694"/>
            <a:chOff x="4870605" y="2743200"/>
            <a:chExt cx="3451172" cy="1323474"/>
          </a:xfrm>
        </p:grpSpPr>
        <p:sp>
          <p:nvSpPr>
            <p:cNvPr id="44" name="TextBox 75">
              <a:extLst>
                <a:ext uri="{FF2B5EF4-FFF2-40B4-BE49-F238E27FC236}">
                  <a16:creationId xmlns:a16="http://schemas.microsoft.com/office/drawing/2014/main" id="{CB88164C-21BF-41F9-8081-529C47FB92F9}"/>
                </a:ext>
              </a:extLst>
            </p:cNvPr>
            <p:cNvSpPr txBox="1"/>
            <p:nvPr/>
          </p:nvSpPr>
          <p:spPr>
            <a:xfrm>
              <a:off x="7520367" y="2926102"/>
              <a:ext cx="419713" cy="230409"/>
            </a:xfrm>
            <a:prstGeom prst="rect">
              <a:avLst/>
            </a:prstGeom>
            <a:noFill/>
          </p:spPr>
          <p:txBody>
            <a:bodyPr wrap="square" rtlCol="0">
              <a:spAutoFit/>
            </a:bodyPr>
            <a:lstStyle/>
            <a:p>
              <a:pPr algn="ctr"/>
              <a:r>
                <a:rPr lang="en-US" sz="1050" dirty="0">
                  <a:latin typeface="Consolas" panose="020B0609020204030204" pitchFamily="49" charset="0"/>
                </a:rPr>
                <a:t>no</a:t>
              </a:r>
            </a:p>
          </p:txBody>
        </p:sp>
        <p:sp>
          <p:nvSpPr>
            <p:cNvPr id="45" name="Flowchart: Decision 40">
              <a:extLst>
                <a:ext uri="{FF2B5EF4-FFF2-40B4-BE49-F238E27FC236}">
                  <a16:creationId xmlns:a16="http://schemas.microsoft.com/office/drawing/2014/main" id="{B6A76923-EAA9-41B1-8D59-BBE28FEC7B5E}"/>
                </a:ext>
              </a:extLst>
            </p:cNvPr>
            <p:cNvSpPr/>
            <p:nvPr/>
          </p:nvSpPr>
          <p:spPr>
            <a:xfrm>
              <a:off x="5698935" y="2895600"/>
              <a:ext cx="1890405"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condición</a:t>
              </a:r>
            </a:p>
          </p:txBody>
        </p:sp>
        <p:cxnSp>
          <p:nvCxnSpPr>
            <p:cNvPr id="46" name="Straight Arrow Connector 47">
              <a:extLst>
                <a:ext uri="{FF2B5EF4-FFF2-40B4-BE49-F238E27FC236}">
                  <a16:creationId xmlns:a16="http://schemas.microsoft.com/office/drawing/2014/main" id="{AEC61E83-C777-4F85-8D9B-B3083881E18A}"/>
                </a:ext>
              </a:extLst>
            </p:cNvPr>
            <p:cNvCxnSpPr>
              <a:cxnSpLocks/>
              <a:endCxn id="45" idx="0"/>
            </p:cNvCxnSpPr>
            <p:nvPr/>
          </p:nvCxnSpPr>
          <p:spPr>
            <a:xfrm>
              <a:off x="6644138" y="2743200"/>
              <a:ext cx="0" cy="152400"/>
            </a:xfrm>
            <a:prstGeom prst="straightConnector1">
              <a:avLst/>
            </a:prstGeom>
            <a:ln>
              <a:solidFill>
                <a:schemeClr val="tx1">
                  <a:lumMod val="50000"/>
                  <a:lumOff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9">
              <a:extLst>
                <a:ext uri="{FF2B5EF4-FFF2-40B4-BE49-F238E27FC236}">
                  <a16:creationId xmlns:a16="http://schemas.microsoft.com/office/drawing/2014/main" id="{19D39E42-AE1F-4C8B-8C67-DC157CFC069A}"/>
                </a:ext>
              </a:extLst>
            </p:cNvPr>
            <p:cNvCxnSpPr>
              <a:cxnSpLocks/>
            </p:cNvCxnSpPr>
            <p:nvPr/>
          </p:nvCxnSpPr>
          <p:spPr>
            <a:xfrm>
              <a:off x="7576311" y="3124198"/>
              <a:ext cx="25926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76">
              <a:extLst>
                <a:ext uri="{FF2B5EF4-FFF2-40B4-BE49-F238E27FC236}">
                  <a16:creationId xmlns:a16="http://schemas.microsoft.com/office/drawing/2014/main" id="{609C5D16-A421-4C97-9644-DE0E109F0EE1}"/>
                </a:ext>
              </a:extLst>
            </p:cNvPr>
            <p:cNvSpPr txBox="1"/>
            <p:nvPr/>
          </p:nvSpPr>
          <p:spPr>
            <a:xfrm>
              <a:off x="5181600" y="2895600"/>
              <a:ext cx="609600" cy="230409"/>
            </a:xfrm>
            <a:prstGeom prst="rect">
              <a:avLst/>
            </a:prstGeom>
            <a:noFill/>
          </p:spPr>
          <p:txBody>
            <a:bodyPr wrap="square" rtlCol="0">
              <a:spAutoFit/>
            </a:bodyPr>
            <a:lstStyle/>
            <a:p>
              <a:pPr algn="ctr"/>
              <a:r>
                <a:rPr lang="en-US" sz="1050" dirty="0">
                  <a:latin typeface="Consolas" panose="020B0609020204030204" pitchFamily="49" charset="0"/>
                </a:rPr>
                <a:t>yes</a:t>
              </a:r>
            </a:p>
          </p:txBody>
        </p:sp>
        <p:cxnSp>
          <p:nvCxnSpPr>
            <p:cNvPr id="49" name="Straight Arrow Connector 47">
              <a:extLst>
                <a:ext uri="{FF2B5EF4-FFF2-40B4-BE49-F238E27FC236}">
                  <a16:creationId xmlns:a16="http://schemas.microsoft.com/office/drawing/2014/main" id="{3B736596-A2E9-4F65-88BA-1D291892C2EB}"/>
                </a:ext>
              </a:extLst>
            </p:cNvPr>
            <p:cNvCxnSpPr/>
            <p:nvPr/>
          </p:nvCxnSpPr>
          <p:spPr>
            <a:xfrm>
              <a:off x="7835126" y="3124199"/>
              <a:ext cx="0"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7">
              <a:extLst>
                <a:ext uri="{FF2B5EF4-FFF2-40B4-BE49-F238E27FC236}">
                  <a16:creationId xmlns:a16="http://schemas.microsoft.com/office/drawing/2014/main" id="{337F407C-3D4B-4214-9CB9-FFACB5B28803}"/>
                </a:ext>
              </a:extLst>
            </p:cNvPr>
            <p:cNvCxnSpPr/>
            <p:nvPr/>
          </p:nvCxnSpPr>
          <p:spPr>
            <a:xfrm>
              <a:off x="5410200" y="3124200"/>
              <a:ext cx="0"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49">
              <a:extLst>
                <a:ext uri="{FF2B5EF4-FFF2-40B4-BE49-F238E27FC236}">
                  <a16:creationId xmlns:a16="http://schemas.microsoft.com/office/drawing/2014/main" id="{E01E53ED-210E-4326-B6F4-CE573287D893}"/>
                </a:ext>
              </a:extLst>
            </p:cNvPr>
            <p:cNvCxnSpPr/>
            <p:nvPr/>
          </p:nvCxnSpPr>
          <p:spPr>
            <a:xfrm>
              <a:off x="5410200" y="3124200"/>
              <a:ext cx="38100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Flowchart: Process 42">
              <a:extLst>
                <a:ext uri="{FF2B5EF4-FFF2-40B4-BE49-F238E27FC236}">
                  <a16:creationId xmlns:a16="http://schemas.microsoft.com/office/drawing/2014/main" id="{D5613DB6-23E6-4CEE-8592-A40BFAFDD0B1}"/>
                </a:ext>
              </a:extLst>
            </p:cNvPr>
            <p:cNvSpPr/>
            <p:nvPr/>
          </p:nvSpPr>
          <p:spPr>
            <a:xfrm>
              <a:off x="4870605" y="3429000"/>
              <a:ext cx="10625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proceso 2</a:t>
              </a:r>
              <a:endParaRPr lang="en-US" sz="1400" dirty="0">
                <a:latin typeface="Consolas" panose="020B0609020204030204" pitchFamily="49" charset="0"/>
              </a:endParaRPr>
            </a:p>
          </p:txBody>
        </p:sp>
        <p:sp>
          <p:nvSpPr>
            <p:cNvPr id="53" name="Flowchart: Process 42">
              <a:extLst>
                <a:ext uri="{FF2B5EF4-FFF2-40B4-BE49-F238E27FC236}">
                  <a16:creationId xmlns:a16="http://schemas.microsoft.com/office/drawing/2014/main" id="{25226963-050F-415B-A298-6BD66012A6AB}"/>
                </a:ext>
              </a:extLst>
            </p:cNvPr>
            <p:cNvSpPr/>
            <p:nvPr/>
          </p:nvSpPr>
          <p:spPr>
            <a:xfrm>
              <a:off x="7344547" y="3429000"/>
              <a:ext cx="977230"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proceso 1</a:t>
              </a:r>
            </a:p>
          </p:txBody>
        </p:sp>
        <p:cxnSp>
          <p:nvCxnSpPr>
            <p:cNvPr id="54" name="Straight Arrow Connector 49">
              <a:extLst>
                <a:ext uri="{FF2B5EF4-FFF2-40B4-BE49-F238E27FC236}">
                  <a16:creationId xmlns:a16="http://schemas.microsoft.com/office/drawing/2014/main" id="{77A8D584-80E5-418F-A6A3-963D28A55924}"/>
                </a:ext>
              </a:extLst>
            </p:cNvPr>
            <p:cNvCxnSpPr/>
            <p:nvPr/>
          </p:nvCxnSpPr>
          <p:spPr>
            <a:xfrm flipV="1">
              <a:off x="5410200" y="3810000"/>
              <a:ext cx="0" cy="256674"/>
            </a:xfrm>
            <a:prstGeom prst="straightConnector1">
              <a:avLst/>
            </a:prstGeom>
            <a:ln>
              <a:solidFill>
                <a:schemeClr val="tx1">
                  <a:lumMod val="50000"/>
                  <a:lumOff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49">
              <a:extLst>
                <a:ext uri="{FF2B5EF4-FFF2-40B4-BE49-F238E27FC236}">
                  <a16:creationId xmlns:a16="http://schemas.microsoft.com/office/drawing/2014/main" id="{576D51D6-9E4C-490F-A4C7-F33B9C1FB3E0}"/>
                </a:ext>
              </a:extLst>
            </p:cNvPr>
            <p:cNvCxnSpPr/>
            <p:nvPr/>
          </p:nvCxnSpPr>
          <p:spPr>
            <a:xfrm flipV="1">
              <a:off x="7848600" y="3810000"/>
              <a:ext cx="0" cy="256674"/>
            </a:xfrm>
            <a:prstGeom prst="straightConnector1">
              <a:avLst/>
            </a:prstGeom>
            <a:ln>
              <a:solidFill>
                <a:schemeClr val="tx1">
                  <a:lumMod val="50000"/>
                  <a:lumOff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35" name="Picture 2" descr="http://bartsblackboard.com/files/2010/04/the.simpsons.s20e21.jpg">
            <a:extLst>
              <a:ext uri="{FF2B5EF4-FFF2-40B4-BE49-F238E27FC236}">
                <a16:creationId xmlns:a16="http://schemas.microsoft.com/office/drawing/2014/main" id="{CBB15219-1C2F-4736-A2AA-F42D4BA131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221" y="2101287"/>
            <a:ext cx="2650941" cy="1495403"/>
          </a:xfrm>
          <a:prstGeom prst="rect">
            <a:avLst/>
          </a:prstGeom>
          <a:noFill/>
          <a:extLst>
            <a:ext uri="{909E8E84-426E-40DD-AFC4-6F175D3DCCD1}">
              <a14:hiddenFill xmlns:a14="http://schemas.microsoft.com/office/drawing/2010/main">
                <a:solidFill>
                  <a:srgbClr val="FFFFFF"/>
                </a:solidFill>
              </a14:hiddenFill>
            </a:ext>
          </a:extLst>
        </p:spPr>
      </p:pic>
      <p:pic>
        <p:nvPicPr>
          <p:cNvPr id="36" name="Imagen 35">
            <a:extLst>
              <a:ext uri="{FF2B5EF4-FFF2-40B4-BE49-F238E27FC236}">
                <a16:creationId xmlns:a16="http://schemas.microsoft.com/office/drawing/2014/main" id="{20E20CEE-BEA7-456C-AD4E-59C90FC00009}"/>
              </a:ext>
            </a:extLst>
          </p:cNvPr>
          <p:cNvPicPr>
            <a:picLocks noChangeAspect="1"/>
          </p:cNvPicPr>
          <p:nvPr/>
        </p:nvPicPr>
        <p:blipFill>
          <a:blip r:embed="rId3"/>
          <a:stretch>
            <a:fillRect/>
          </a:stretch>
        </p:blipFill>
        <p:spPr>
          <a:xfrm>
            <a:off x="561501" y="4781406"/>
            <a:ext cx="4353248" cy="1429316"/>
          </a:xfrm>
          <a:prstGeom prst="rect">
            <a:avLst/>
          </a:prstGeom>
        </p:spPr>
      </p:pic>
      <p:sp>
        <p:nvSpPr>
          <p:cNvPr id="2" name="Flecha: hacia abajo 1">
            <a:extLst>
              <a:ext uri="{FF2B5EF4-FFF2-40B4-BE49-F238E27FC236}">
                <a16:creationId xmlns:a16="http://schemas.microsoft.com/office/drawing/2014/main" id="{43ACCC37-3946-41AB-B531-5AB527B524C9}"/>
              </a:ext>
            </a:extLst>
          </p:cNvPr>
          <p:cNvSpPr/>
          <p:nvPr/>
        </p:nvSpPr>
        <p:spPr>
          <a:xfrm>
            <a:off x="2186443" y="3835105"/>
            <a:ext cx="541248" cy="707886"/>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502883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Ciclos</a:t>
            </a:r>
          </a:p>
        </p:txBody>
      </p:sp>
      <p:sp>
        <p:nvSpPr>
          <p:cNvPr id="6" name="12 Rectángulo">
            <a:extLst>
              <a:ext uri="{FF2B5EF4-FFF2-40B4-BE49-F238E27FC236}">
                <a16:creationId xmlns:a16="http://schemas.microsoft.com/office/drawing/2014/main" id="{8508C4C5-CBF9-4C17-AEB9-2B6B8EA367F8}"/>
              </a:ext>
            </a:extLst>
          </p:cNvPr>
          <p:cNvSpPr/>
          <p:nvPr/>
        </p:nvSpPr>
        <p:spPr>
          <a:xfrm>
            <a:off x="263061" y="884954"/>
            <a:ext cx="8443434" cy="707886"/>
          </a:xfrm>
          <a:prstGeom prst="rect">
            <a:avLst/>
          </a:prstGeom>
        </p:spPr>
        <p:txBody>
          <a:bodyPr wrap="square">
            <a:spAutoFit/>
          </a:bodyPr>
          <a:lstStyle/>
          <a:p>
            <a:pPr marL="342900" indent="-342900">
              <a:buFont typeface="Arial" panose="020B0604020202020204" pitchFamily="34" charset="0"/>
              <a:buChar char="•"/>
            </a:pPr>
            <a:r>
              <a:rPr lang="es-MX" sz="2000" dirty="0"/>
              <a:t>Un </a:t>
            </a:r>
            <a:r>
              <a:rPr lang="es-MX" sz="2000" b="1" dirty="0"/>
              <a:t>ciclo</a:t>
            </a:r>
            <a:r>
              <a:rPr lang="es-MX" sz="2000" dirty="0"/>
              <a:t> (bucle o iteración) es una estructura que repite un conjunto de instrucciones mientras se cumpla una condición.</a:t>
            </a:r>
            <a:endParaRPr lang="es-CO" sz="2000" dirty="0"/>
          </a:p>
        </p:txBody>
      </p:sp>
      <p:grpSp>
        <p:nvGrpSpPr>
          <p:cNvPr id="10" name="Grupo 9">
            <a:extLst>
              <a:ext uri="{FF2B5EF4-FFF2-40B4-BE49-F238E27FC236}">
                <a16:creationId xmlns:a16="http://schemas.microsoft.com/office/drawing/2014/main" id="{C493C3FD-9CCB-42CD-A6CC-EF5B6F5ECD3D}"/>
              </a:ext>
            </a:extLst>
          </p:cNvPr>
          <p:cNvGrpSpPr/>
          <p:nvPr/>
        </p:nvGrpSpPr>
        <p:grpSpPr>
          <a:xfrm>
            <a:off x="5468965" y="2581898"/>
            <a:ext cx="3063475" cy="2503286"/>
            <a:chOff x="5004048" y="2843063"/>
            <a:chExt cx="3063475" cy="2503286"/>
          </a:xfrm>
        </p:grpSpPr>
        <p:sp>
          <p:nvSpPr>
            <p:cNvPr id="11" name="TextBox 75">
              <a:extLst>
                <a:ext uri="{FF2B5EF4-FFF2-40B4-BE49-F238E27FC236}">
                  <a16:creationId xmlns:a16="http://schemas.microsoft.com/office/drawing/2014/main" id="{8CA5090F-363D-4978-948F-CF04F030816A}"/>
                </a:ext>
              </a:extLst>
            </p:cNvPr>
            <p:cNvSpPr txBox="1"/>
            <p:nvPr/>
          </p:nvSpPr>
          <p:spPr>
            <a:xfrm>
              <a:off x="7375373" y="3907169"/>
              <a:ext cx="692150" cy="261610"/>
            </a:xfrm>
            <a:prstGeom prst="rect">
              <a:avLst/>
            </a:prstGeom>
            <a:noFill/>
          </p:spPr>
          <p:txBody>
            <a:bodyPr wrap="square" rtlCol="0">
              <a:spAutoFit/>
            </a:bodyPr>
            <a:lstStyle/>
            <a:p>
              <a:pPr algn="ctr"/>
              <a:r>
                <a:rPr lang="en-US" sz="1050" dirty="0">
                  <a:latin typeface="Consolas" panose="020B0609020204030204" pitchFamily="49" charset="0"/>
                </a:rPr>
                <a:t>no</a:t>
              </a:r>
            </a:p>
          </p:txBody>
        </p:sp>
        <p:sp>
          <p:nvSpPr>
            <p:cNvPr id="13" name="Flowchart: Decision 40">
              <a:extLst>
                <a:ext uri="{FF2B5EF4-FFF2-40B4-BE49-F238E27FC236}">
                  <a16:creationId xmlns:a16="http://schemas.microsoft.com/office/drawing/2014/main" id="{89D35F81-5D98-4099-AA14-C534E074C0BC}"/>
                </a:ext>
              </a:extLst>
            </p:cNvPr>
            <p:cNvSpPr/>
            <p:nvPr/>
          </p:nvSpPr>
          <p:spPr>
            <a:xfrm>
              <a:off x="5339244" y="3916526"/>
              <a:ext cx="2222288" cy="519113"/>
            </a:xfrm>
            <a:prstGeom prst="flowChartDecisi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condición</a:t>
              </a:r>
            </a:p>
          </p:txBody>
        </p:sp>
        <p:cxnSp>
          <p:nvCxnSpPr>
            <p:cNvPr id="14" name="Straight Arrow Connector 47">
              <a:extLst>
                <a:ext uri="{FF2B5EF4-FFF2-40B4-BE49-F238E27FC236}">
                  <a16:creationId xmlns:a16="http://schemas.microsoft.com/office/drawing/2014/main" id="{6BE6B442-5DAD-4E41-AB0C-437431C74F0B}"/>
                </a:ext>
              </a:extLst>
            </p:cNvPr>
            <p:cNvCxnSpPr/>
            <p:nvPr/>
          </p:nvCxnSpPr>
          <p:spPr>
            <a:xfrm>
              <a:off x="6450388" y="3570496"/>
              <a:ext cx="0" cy="346075"/>
            </a:xfrm>
            <a:prstGeom prst="straightConnector1">
              <a:avLst/>
            </a:prstGeom>
            <a:ln>
              <a:solidFill>
                <a:schemeClr val="tx1">
                  <a:lumMod val="50000"/>
                  <a:lumOff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49">
              <a:extLst>
                <a:ext uri="{FF2B5EF4-FFF2-40B4-BE49-F238E27FC236}">
                  <a16:creationId xmlns:a16="http://schemas.microsoft.com/office/drawing/2014/main" id="{51A448FA-D77B-4F54-A842-F07EBF6C7AFE}"/>
                </a:ext>
              </a:extLst>
            </p:cNvPr>
            <p:cNvCxnSpPr>
              <a:cxnSpLocks/>
            </p:cNvCxnSpPr>
            <p:nvPr/>
          </p:nvCxnSpPr>
          <p:spPr>
            <a:xfrm flipH="1">
              <a:off x="7548563" y="4176713"/>
              <a:ext cx="3357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Box 76">
              <a:extLst>
                <a:ext uri="{FF2B5EF4-FFF2-40B4-BE49-F238E27FC236}">
                  <a16:creationId xmlns:a16="http://schemas.microsoft.com/office/drawing/2014/main" id="{E43FA420-C10C-41C2-97DE-47BC226341F6}"/>
                </a:ext>
              </a:extLst>
            </p:cNvPr>
            <p:cNvSpPr txBox="1"/>
            <p:nvPr/>
          </p:nvSpPr>
          <p:spPr>
            <a:xfrm>
              <a:off x="6325499" y="4428825"/>
              <a:ext cx="575871" cy="261610"/>
            </a:xfrm>
            <a:prstGeom prst="rect">
              <a:avLst/>
            </a:prstGeom>
            <a:noFill/>
          </p:spPr>
          <p:txBody>
            <a:bodyPr wrap="square" rtlCol="0">
              <a:spAutoFit/>
            </a:bodyPr>
            <a:lstStyle/>
            <a:p>
              <a:pPr algn="ctr"/>
              <a:r>
                <a:rPr lang="en-US" sz="1050" dirty="0">
                  <a:latin typeface="Consolas" panose="020B0609020204030204" pitchFamily="49" charset="0"/>
                </a:rPr>
                <a:t>yes</a:t>
              </a:r>
            </a:p>
          </p:txBody>
        </p:sp>
        <p:cxnSp>
          <p:nvCxnSpPr>
            <p:cNvPr id="17" name="Straight Arrow Connector 47">
              <a:extLst>
                <a:ext uri="{FF2B5EF4-FFF2-40B4-BE49-F238E27FC236}">
                  <a16:creationId xmlns:a16="http://schemas.microsoft.com/office/drawing/2014/main" id="{729AF809-0D15-485D-9CA9-1FA61FF44B83}"/>
                </a:ext>
              </a:extLst>
            </p:cNvPr>
            <p:cNvCxnSpPr/>
            <p:nvPr/>
          </p:nvCxnSpPr>
          <p:spPr>
            <a:xfrm>
              <a:off x="6450388" y="4430733"/>
              <a:ext cx="0" cy="346075"/>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Process 42">
              <a:extLst>
                <a:ext uri="{FF2B5EF4-FFF2-40B4-BE49-F238E27FC236}">
                  <a16:creationId xmlns:a16="http://schemas.microsoft.com/office/drawing/2014/main" id="{240A9118-D905-4956-BAE5-805B23BB674A}"/>
                </a:ext>
              </a:extLst>
            </p:cNvPr>
            <p:cNvSpPr/>
            <p:nvPr/>
          </p:nvSpPr>
          <p:spPr>
            <a:xfrm>
              <a:off x="5894534" y="4776808"/>
              <a:ext cx="1109562" cy="43259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Cuerpo</a:t>
              </a:r>
              <a:endParaRPr lang="en-US" sz="1400" dirty="0">
                <a:latin typeface="Consolas" panose="020B0609020204030204" pitchFamily="49" charset="0"/>
              </a:endParaRPr>
            </a:p>
          </p:txBody>
        </p:sp>
        <p:sp>
          <p:nvSpPr>
            <p:cNvPr id="19" name="Flowchart: Process 42">
              <a:extLst>
                <a:ext uri="{FF2B5EF4-FFF2-40B4-BE49-F238E27FC236}">
                  <a16:creationId xmlns:a16="http://schemas.microsoft.com/office/drawing/2014/main" id="{FD52C528-03C3-466F-ABD9-B12A86B7FF9A}"/>
                </a:ext>
              </a:extLst>
            </p:cNvPr>
            <p:cNvSpPr/>
            <p:nvPr/>
          </p:nvSpPr>
          <p:spPr>
            <a:xfrm>
              <a:off x="5604866" y="3158034"/>
              <a:ext cx="1688898" cy="432594"/>
            </a:xfrm>
            <a:prstGeom prst="flowChartProcess">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Initialization</a:t>
              </a:r>
            </a:p>
          </p:txBody>
        </p:sp>
        <p:cxnSp>
          <p:nvCxnSpPr>
            <p:cNvPr id="20" name="Straight Arrow Connector 49">
              <a:extLst>
                <a:ext uri="{FF2B5EF4-FFF2-40B4-BE49-F238E27FC236}">
                  <a16:creationId xmlns:a16="http://schemas.microsoft.com/office/drawing/2014/main" id="{1C01D11D-412F-4959-967B-AFBA64E5F00B}"/>
                </a:ext>
              </a:extLst>
            </p:cNvPr>
            <p:cNvCxnSpPr/>
            <p:nvPr/>
          </p:nvCxnSpPr>
          <p:spPr>
            <a:xfrm flipV="1">
              <a:off x="6449315" y="5209402"/>
              <a:ext cx="0" cy="136947"/>
            </a:xfrm>
            <a:prstGeom prst="straightConnector1">
              <a:avLst/>
            </a:prstGeom>
            <a:ln>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47">
              <a:extLst>
                <a:ext uri="{FF2B5EF4-FFF2-40B4-BE49-F238E27FC236}">
                  <a16:creationId xmlns:a16="http://schemas.microsoft.com/office/drawing/2014/main" id="{D8DE8B33-F6E4-43C2-A03A-BBA5CF37603A}"/>
                </a:ext>
              </a:extLst>
            </p:cNvPr>
            <p:cNvCxnSpPr>
              <a:cxnSpLocks/>
            </p:cNvCxnSpPr>
            <p:nvPr/>
          </p:nvCxnSpPr>
          <p:spPr>
            <a:xfrm>
              <a:off x="5010150" y="4174331"/>
              <a:ext cx="333961" cy="17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47">
              <a:extLst>
                <a:ext uri="{FF2B5EF4-FFF2-40B4-BE49-F238E27FC236}">
                  <a16:creationId xmlns:a16="http://schemas.microsoft.com/office/drawing/2014/main" id="{4CBEAD36-6453-4D93-9902-6E1C8E06D5BA}"/>
                </a:ext>
              </a:extLst>
            </p:cNvPr>
            <p:cNvCxnSpPr/>
            <p:nvPr/>
          </p:nvCxnSpPr>
          <p:spPr>
            <a:xfrm>
              <a:off x="6450388" y="2843063"/>
              <a:ext cx="0" cy="313473"/>
            </a:xfrm>
            <a:prstGeom prst="straightConnector1">
              <a:avLst/>
            </a:prstGeom>
            <a:ln>
              <a:solidFill>
                <a:schemeClr val="tx1">
                  <a:lumMod val="50000"/>
                  <a:lumOff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47">
              <a:extLst>
                <a:ext uri="{FF2B5EF4-FFF2-40B4-BE49-F238E27FC236}">
                  <a16:creationId xmlns:a16="http://schemas.microsoft.com/office/drawing/2014/main" id="{04360220-9938-4420-830C-0D6574AAD873}"/>
                </a:ext>
              </a:extLst>
            </p:cNvPr>
            <p:cNvCxnSpPr>
              <a:cxnSpLocks/>
            </p:cNvCxnSpPr>
            <p:nvPr/>
          </p:nvCxnSpPr>
          <p:spPr>
            <a:xfrm>
              <a:off x="7881363" y="4175939"/>
              <a:ext cx="1" cy="790293"/>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47">
              <a:extLst>
                <a:ext uri="{FF2B5EF4-FFF2-40B4-BE49-F238E27FC236}">
                  <a16:creationId xmlns:a16="http://schemas.microsoft.com/office/drawing/2014/main" id="{31FE8FAC-E285-4A48-9EB2-EDB31AAE784B}"/>
                </a:ext>
              </a:extLst>
            </p:cNvPr>
            <p:cNvCxnSpPr>
              <a:cxnSpLocks/>
            </p:cNvCxnSpPr>
            <p:nvPr/>
          </p:nvCxnSpPr>
          <p:spPr>
            <a:xfrm flipH="1">
              <a:off x="5011192" y="4178300"/>
              <a:ext cx="4486" cy="1163512"/>
            </a:xfrm>
            <a:prstGeom prst="straightConnector1">
              <a:avLst/>
            </a:prstGeom>
            <a:ln>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47">
              <a:extLst>
                <a:ext uri="{FF2B5EF4-FFF2-40B4-BE49-F238E27FC236}">
                  <a16:creationId xmlns:a16="http://schemas.microsoft.com/office/drawing/2014/main" id="{06A7B863-3BF8-479B-8460-4653CA3F253E}"/>
                </a:ext>
              </a:extLst>
            </p:cNvPr>
            <p:cNvCxnSpPr>
              <a:cxnSpLocks/>
            </p:cNvCxnSpPr>
            <p:nvPr/>
          </p:nvCxnSpPr>
          <p:spPr>
            <a:xfrm flipH="1">
              <a:off x="5004048" y="5346349"/>
              <a:ext cx="1445268"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8" name="12 Rectángulo">
            <a:extLst>
              <a:ext uri="{FF2B5EF4-FFF2-40B4-BE49-F238E27FC236}">
                <a16:creationId xmlns:a16="http://schemas.microsoft.com/office/drawing/2014/main" id="{CBA584A0-41C2-4FE2-84D1-B2D45048294D}"/>
              </a:ext>
            </a:extLst>
          </p:cNvPr>
          <p:cNvSpPr/>
          <p:nvPr/>
        </p:nvSpPr>
        <p:spPr>
          <a:xfrm>
            <a:off x="211297" y="1641110"/>
            <a:ext cx="4847721" cy="4708981"/>
          </a:xfrm>
          <a:prstGeom prst="rect">
            <a:avLst/>
          </a:prstGeom>
        </p:spPr>
        <p:txBody>
          <a:bodyPr wrap="square">
            <a:spAutoFit/>
          </a:bodyPr>
          <a:lstStyle/>
          <a:p>
            <a:pPr marL="342900" indent="-342900">
              <a:buFont typeface="Arial" panose="020B0604020202020204" pitchFamily="34" charset="0"/>
              <a:buChar char="•"/>
            </a:pPr>
            <a:r>
              <a:rPr lang="es-MX" sz="2000" dirty="0"/>
              <a:t>Para describir un ciclo se requieren los siguientes componentes :</a:t>
            </a:r>
          </a:p>
          <a:p>
            <a:pPr marL="800100" lvl="1" indent="-342900">
              <a:buFont typeface="Arial" panose="020B0604020202020204" pitchFamily="34" charset="0"/>
              <a:buChar char="•"/>
            </a:pPr>
            <a:r>
              <a:rPr lang="es-MX" sz="2000" b="1" dirty="0"/>
              <a:t>Inicialización</a:t>
            </a:r>
            <a:r>
              <a:rPr lang="es-MX" sz="2000" dirty="0"/>
              <a:t>: parte donde se establece el valor inicial de la variable de control, antes de que el ciclo arranque.</a:t>
            </a:r>
          </a:p>
          <a:p>
            <a:pPr marL="800100" lvl="1" indent="-342900">
              <a:buFont typeface="Arial" panose="020B0604020202020204" pitchFamily="34" charset="0"/>
              <a:buChar char="•"/>
            </a:pPr>
            <a:r>
              <a:rPr lang="es-MX" sz="2000" b="1" dirty="0"/>
              <a:t>Condición de control o parada</a:t>
            </a:r>
            <a:r>
              <a:rPr lang="es-MX" sz="2000" dirty="0"/>
              <a:t>: Expresión lógica evaluada en cada iteración. Si es verdadera, el ciclo continúa; si es falsa, se detiene</a:t>
            </a:r>
          </a:p>
          <a:p>
            <a:pPr marL="800100" lvl="1" indent="-342900">
              <a:buFont typeface="Arial" panose="020B0604020202020204" pitchFamily="34" charset="0"/>
              <a:buChar char="•"/>
            </a:pPr>
            <a:r>
              <a:rPr lang="es-CO" sz="2000" b="1" dirty="0"/>
              <a:t>Cuerpo del ciclo</a:t>
            </a:r>
            <a:r>
              <a:rPr lang="es-MX" sz="2000" dirty="0"/>
              <a:t>: Instrucciones que se ejecutan repetidamente. Incluye la modificación obligatoria de la variable de control para asegurar que el ciclo pueda terminar.</a:t>
            </a:r>
            <a:endParaRPr lang="es-CO" sz="2800" dirty="0"/>
          </a:p>
        </p:txBody>
      </p:sp>
    </p:spTree>
    <p:extLst>
      <p:ext uri="{BB962C8B-B14F-4D97-AF65-F5344CB8AC3E}">
        <p14:creationId xmlns:p14="http://schemas.microsoft.com/office/powerpoint/2010/main" val="1871566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0" y="223755"/>
            <a:ext cx="8269379" cy="628407"/>
          </a:xfrm>
        </p:spPr>
        <p:txBody>
          <a:bodyPr>
            <a:normAutofit fontScale="90000"/>
          </a:bodyPr>
          <a:lstStyle/>
          <a:p>
            <a:r>
              <a:rPr lang="es-CO" dirty="0"/>
              <a:t>Ciclos - Ejemplo 1</a:t>
            </a:r>
          </a:p>
        </p:txBody>
      </p:sp>
      <p:sp>
        <p:nvSpPr>
          <p:cNvPr id="6" name="12 Rectángulo">
            <a:extLst>
              <a:ext uri="{FF2B5EF4-FFF2-40B4-BE49-F238E27FC236}">
                <a16:creationId xmlns:a16="http://schemas.microsoft.com/office/drawing/2014/main" id="{8508C4C5-CBF9-4C17-AEB9-2B6B8EA367F8}"/>
              </a:ext>
            </a:extLst>
          </p:cNvPr>
          <p:cNvSpPr/>
          <p:nvPr/>
        </p:nvSpPr>
        <p:spPr>
          <a:xfrm>
            <a:off x="263060" y="852162"/>
            <a:ext cx="8617880" cy="1015663"/>
          </a:xfrm>
          <a:prstGeom prst="rect">
            <a:avLst/>
          </a:prstGeom>
        </p:spPr>
        <p:txBody>
          <a:bodyPr wrap="square">
            <a:spAutoFit/>
          </a:bodyPr>
          <a:lstStyle/>
          <a:p>
            <a:r>
              <a:rPr lang="es-MX" sz="2000" dirty="0"/>
              <a:t>Retomando el problema inicial de imprimir los N = 10 primeros números, el uso de ciclos permite solucionar fácilmente la cantidad de números a imprimir cambiando solo el valor de N. </a:t>
            </a:r>
            <a:endParaRPr lang="es-CO" sz="2000" dirty="0"/>
          </a:p>
        </p:txBody>
      </p:sp>
      <p:pic>
        <p:nvPicPr>
          <p:cNvPr id="3" name="Imagen 2">
            <a:extLst>
              <a:ext uri="{FF2B5EF4-FFF2-40B4-BE49-F238E27FC236}">
                <a16:creationId xmlns:a16="http://schemas.microsoft.com/office/drawing/2014/main" id="{387C4CC9-7280-4D5A-BC19-3F7984AE02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260099"/>
            <a:ext cx="2605670" cy="2173194"/>
          </a:xfrm>
          <a:prstGeom prst="rect">
            <a:avLst/>
          </a:prstGeom>
        </p:spPr>
      </p:pic>
      <p:sp>
        <p:nvSpPr>
          <p:cNvPr id="14" name="Flecha: hacia abajo 13">
            <a:extLst>
              <a:ext uri="{FF2B5EF4-FFF2-40B4-BE49-F238E27FC236}">
                <a16:creationId xmlns:a16="http://schemas.microsoft.com/office/drawing/2014/main" id="{A9AD41B1-900D-449B-B6AA-3FCB22232FA6}"/>
              </a:ext>
            </a:extLst>
          </p:cNvPr>
          <p:cNvSpPr/>
          <p:nvPr/>
        </p:nvSpPr>
        <p:spPr>
          <a:xfrm rot="16200000">
            <a:off x="3750550" y="3863845"/>
            <a:ext cx="423682" cy="100811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67" name="Grupo 66">
            <a:extLst>
              <a:ext uri="{FF2B5EF4-FFF2-40B4-BE49-F238E27FC236}">
                <a16:creationId xmlns:a16="http://schemas.microsoft.com/office/drawing/2014/main" id="{981390AE-6BA8-4E06-8A9F-4BC1E07967ED}"/>
              </a:ext>
            </a:extLst>
          </p:cNvPr>
          <p:cNvGrpSpPr/>
          <p:nvPr/>
        </p:nvGrpSpPr>
        <p:grpSpPr>
          <a:xfrm>
            <a:off x="4746607" y="1846578"/>
            <a:ext cx="4200189" cy="4750774"/>
            <a:chOff x="4427984" y="481854"/>
            <a:chExt cx="4200189" cy="4750774"/>
          </a:xfrm>
        </p:grpSpPr>
        <p:pic>
          <p:nvPicPr>
            <p:cNvPr id="68" name="Imagen 67">
              <a:extLst>
                <a:ext uri="{FF2B5EF4-FFF2-40B4-BE49-F238E27FC236}">
                  <a16:creationId xmlns:a16="http://schemas.microsoft.com/office/drawing/2014/main" id="{AAF42F27-8114-466C-9F89-AD5E8F3E3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9695" y="481854"/>
              <a:ext cx="2528478" cy="4750774"/>
            </a:xfrm>
            <a:prstGeom prst="rect">
              <a:avLst/>
            </a:prstGeom>
          </p:spPr>
        </p:pic>
        <p:grpSp>
          <p:nvGrpSpPr>
            <p:cNvPr id="69" name="Grupo 68">
              <a:extLst>
                <a:ext uri="{FF2B5EF4-FFF2-40B4-BE49-F238E27FC236}">
                  <a16:creationId xmlns:a16="http://schemas.microsoft.com/office/drawing/2014/main" id="{4C8BDEF8-0E62-48EB-80B5-9E93AACB0F7F}"/>
                </a:ext>
              </a:extLst>
            </p:cNvPr>
            <p:cNvGrpSpPr/>
            <p:nvPr/>
          </p:nvGrpSpPr>
          <p:grpSpPr>
            <a:xfrm>
              <a:off x="4427984" y="1700808"/>
              <a:ext cx="3647217" cy="2611373"/>
              <a:chOff x="3846925" y="3127038"/>
              <a:chExt cx="3647217" cy="2611373"/>
            </a:xfrm>
          </p:grpSpPr>
          <p:sp>
            <p:nvSpPr>
              <p:cNvPr id="70" name="CuadroTexto 69">
                <a:extLst>
                  <a:ext uri="{FF2B5EF4-FFF2-40B4-BE49-F238E27FC236}">
                    <a16:creationId xmlns:a16="http://schemas.microsoft.com/office/drawing/2014/main" id="{9FB9D9DC-9568-46AA-B061-1A166F16DFDC}"/>
                  </a:ext>
                </a:extLst>
              </p:cNvPr>
              <p:cNvSpPr txBox="1"/>
              <p:nvPr/>
            </p:nvSpPr>
            <p:spPr>
              <a:xfrm>
                <a:off x="4017749" y="3199570"/>
                <a:ext cx="1142557" cy="307777"/>
              </a:xfrm>
              <a:prstGeom prst="rect">
                <a:avLst/>
              </a:prstGeom>
              <a:noFill/>
            </p:spPr>
            <p:txBody>
              <a:bodyPr wrap="none" rtlCol="0">
                <a:spAutoFit/>
              </a:bodyPr>
              <a:lstStyle/>
              <a:p>
                <a:pPr algn="r"/>
                <a:r>
                  <a:rPr lang="es-CO" sz="1400" b="1" dirty="0">
                    <a:solidFill>
                      <a:schemeClr val="accent6"/>
                    </a:solidFill>
                  </a:rPr>
                  <a:t>Inicialización</a:t>
                </a:r>
              </a:p>
            </p:txBody>
          </p:sp>
          <p:sp>
            <p:nvSpPr>
              <p:cNvPr id="71" name="CuadroTexto 70">
                <a:extLst>
                  <a:ext uri="{FF2B5EF4-FFF2-40B4-BE49-F238E27FC236}">
                    <a16:creationId xmlns:a16="http://schemas.microsoft.com/office/drawing/2014/main" id="{CD420B9E-CF23-4802-8A53-7DBAC7F8BA06}"/>
                  </a:ext>
                </a:extLst>
              </p:cNvPr>
              <p:cNvSpPr txBox="1"/>
              <p:nvPr/>
            </p:nvSpPr>
            <p:spPr>
              <a:xfrm>
                <a:off x="3846925" y="3694346"/>
                <a:ext cx="1284998" cy="523220"/>
              </a:xfrm>
              <a:prstGeom prst="rect">
                <a:avLst/>
              </a:prstGeom>
              <a:noFill/>
            </p:spPr>
            <p:txBody>
              <a:bodyPr wrap="square" rtlCol="0">
                <a:spAutoFit/>
              </a:bodyPr>
              <a:lstStyle/>
              <a:p>
                <a:pPr algn="r"/>
                <a:r>
                  <a:rPr lang="es-CO" sz="1400" b="1" dirty="0">
                    <a:solidFill>
                      <a:srgbClr val="C00000"/>
                    </a:solidFill>
                  </a:rPr>
                  <a:t>Condición de</a:t>
                </a:r>
              </a:p>
              <a:p>
                <a:pPr algn="r"/>
                <a:r>
                  <a:rPr lang="es-CO" sz="1400" b="1" dirty="0">
                    <a:solidFill>
                      <a:srgbClr val="C00000"/>
                    </a:solidFill>
                  </a:rPr>
                  <a:t>control</a:t>
                </a:r>
              </a:p>
            </p:txBody>
          </p:sp>
          <p:sp>
            <p:nvSpPr>
              <p:cNvPr id="72" name="CuadroTexto 71">
                <a:extLst>
                  <a:ext uri="{FF2B5EF4-FFF2-40B4-BE49-F238E27FC236}">
                    <a16:creationId xmlns:a16="http://schemas.microsoft.com/office/drawing/2014/main" id="{07132349-E2D2-42D6-B3EF-FC83ED4B4DB5}"/>
                  </a:ext>
                </a:extLst>
              </p:cNvPr>
              <p:cNvSpPr txBox="1"/>
              <p:nvPr/>
            </p:nvSpPr>
            <p:spPr>
              <a:xfrm>
                <a:off x="4411843" y="4603406"/>
                <a:ext cx="721672" cy="307777"/>
              </a:xfrm>
              <a:prstGeom prst="rect">
                <a:avLst/>
              </a:prstGeom>
              <a:noFill/>
            </p:spPr>
            <p:txBody>
              <a:bodyPr wrap="none" rtlCol="0">
                <a:spAutoFit/>
              </a:bodyPr>
              <a:lstStyle/>
              <a:p>
                <a:pPr algn="r"/>
                <a:r>
                  <a:rPr lang="es-CO" sz="1400" b="1" dirty="0">
                    <a:solidFill>
                      <a:srgbClr val="00B050"/>
                    </a:solidFill>
                  </a:rPr>
                  <a:t>Cuerpo</a:t>
                </a:r>
              </a:p>
            </p:txBody>
          </p:sp>
          <p:sp>
            <p:nvSpPr>
              <p:cNvPr id="73" name="CuadroTexto 72">
                <a:extLst>
                  <a:ext uri="{FF2B5EF4-FFF2-40B4-BE49-F238E27FC236}">
                    <a16:creationId xmlns:a16="http://schemas.microsoft.com/office/drawing/2014/main" id="{F9A0752C-5183-432E-AEE7-3A0E3FBDF61D}"/>
                  </a:ext>
                </a:extLst>
              </p:cNvPr>
              <p:cNvSpPr txBox="1"/>
              <p:nvPr/>
            </p:nvSpPr>
            <p:spPr>
              <a:xfrm>
                <a:off x="3983890" y="5235014"/>
                <a:ext cx="1176219" cy="307777"/>
              </a:xfrm>
              <a:prstGeom prst="rect">
                <a:avLst/>
              </a:prstGeom>
              <a:noFill/>
            </p:spPr>
            <p:txBody>
              <a:bodyPr wrap="none" rtlCol="0">
                <a:spAutoFit/>
              </a:bodyPr>
              <a:lstStyle/>
              <a:p>
                <a:pPr algn="r"/>
                <a:r>
                  <a:rPr lang="es-CO" sz="1400" b="1" dirty="0">
                    <a:solidFill>
                      <a:srgbClr val="0070C0"/>
                    </a:solidFill>
                  </a:rPr>
                  <a:t>Actualización</a:t>
                </a:r>
              </a:p>
            </p:txBody>
          </p:sp>
          <p:sp>
            <p:nvSpPr>
              <p:cNvPr id="74" name="Rectángulo: esquinas redondeadas 73">
                <a:extLst>
                  <a:ext uri="{FF2B5EF4-FFF2-40B4-BE49-F238E27FC236}">
                    <a16:creationId xmlns:a16="http://schemas.microsoft.com/office/drawing/2014/main" id="{60D94335-2797-44F1-AEBE-3EACF92099CC}"/>
                  </a:ext>
                </a:extLst>
              </p:cNvPr>
              <p:cNvSpPr/>
              <p:nvPr/>
            </p:nvSpPr>
            <p:spPr>
              <a:xfrm>
                <a:off x="6369914" y="3127038"/>
                <a:ext cx="804189" cy="441960"/>
              </a:xfrm>
              <a:prstGeom prst="round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5" name="Conector recto de flecha 74">
                <a:extLst>
                  <a:ext uri="{FF2B5EF4-FFF2-40B4-BE49-F238E27FC236}">
                    <a16:creationId xmlns:a16="http://schemas.microsoft.com/office/drawing/2014/main" id="{885907DD-E7C6-489A-B82D-4CDE545BAD5B}"/>
                  </a:ext>
                </a:extLst>
              </p:cNvPr>
              <p:cNvCxnSpPr>
                <a:stCxn id="70" idx="3"/>
                <a:endCxn id="74" idx="1"/>
              </p:cNvCxnSpPr>
              <p:nvPr/>
            </p:nvCxnSpPr>
            <p:spPr>
              <a:xfrm flipV="1">
                <a:off x="5160306" y="3348018"/>
                <a:ext cx="1209608" cy="5441"/>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6" name="Rectángulo: esquinas redondeadas 75">
                <a:extLst>
                  <a:ext uri="{FF2B5EF4-FFF2-40B4-BE49-F238E27FC236}">
                    <a16:creationId xmlns:a16="http://schemas.microsoft.com/office/drawing/2014/main" id="{29E12B77-BEE7-4E54-9F6F-4F0465A7E024}"/>
                  </a:ext>
                </a:extLst>
              </p:cNvPr>
              <p:cNvSpPr/>
              <p:nvPr/>
            </p:nvSpPr>
            <p:spPr>
              <a:xfrm>
                <a:off x="6000623" y="3694346"/>
                <a:ext cx="1493519" cy="777240"/>
              </a:xfrm>
              <a:prstGeom prst="roundRect">
                <a:avLst>
                  <a:gd name="adj" fmla="val 1054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7" name="Conector recto de flecha 76">
                <a:extLst>
                  <a:ext uri="{FF2B5EF4-FFF2-40B4-BE49-F238E27FC236}">
                    <a16:creationId xmlns:a16="http://schemas.microsoft.com/office/drawing/2014/main" id="{8F7F534A-1510-44E5-AC45-19A9650DBDF8}"/>
                  </a:ext>
                </a:extLst>
              </p:cNvPr>
              <p:cNvCxnSpPr>
                <a:cxnSpLocks/>
                <a:stCxn id="71" idx="3"/>
              </p:cNvCxnSpPr>
              <p:nvPr/>
            </p:nvCxnSpPr>
            <p:spPr>
              <a:xfrm>
                <a:off x="5131923" y="3955956"/>
                <a:ext cx="864096"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8" name="Rectángulo: esquinas redondeadas 77">
                <a:extLst>
                  <a:ext uri="{FF2B5EF4-FFF2-40B4-BE49-F238E27FC236}">
                    <a16:creationId xmlns:a16="http://schemas.microsoft.com/office/drawing/2014/main" id="{050B2B81-B742-491B-A538-313B6593C635}"/>
                  </a:ext>
                </a:extLst>
              </p:cNvPr>
              <p:cNvSpPr/>
              <p:nvPr/>
            </p:nvSpPr>
            <p:spPr>
              <a:xfrm>
                <a:off x="6000623" y="4603406"/>
                <a:ext cx="1493519" cy="1135005"/>
              </a:xfrm>
              <a:prstGeom prst="roundRect">
                <a:avLst>
                  <a:gd name="adj" fmla="val 7883"/>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Rectángulo: esquinas redondeadas 78">
                <a:extLst>
                  <a:ext uri="{FF2B5EF4-FFF2-40B4-BE49-F238E27FC236}">
                    <a16:creationId xmlns:a16="http://schemas.microsoft.com/office/drawing/2014/main" id="{8FCEB6BF-0926-40E1-8F10-0DE766F1505F}"/>
                  </a:ext>
                </a:extLst>
              </p:cNvPr>
              <p:cNvSpPr/>
              <p:nvPr/>
            </p:nvSpPr>
            <p:spPr>
              <a:xfrm>
                <a:off x="6381459" y="5167258"/>
                <a:ext cx="804189" cy="441960"/>
              </a:xfrm>
              <a:prstGeom prst="roundRect">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0" name="Conector recto de flecha 79">
                <a:extLst>
                  <a:ext uri="{FF2B5EF4-FFF2-40B4-BE49-F238E27FC236}">
                    <a16:creationId xmlns:a16="http://schemas.microsoft.com/office/drawing/2014/main" id="{B6EE9B33-A92B-4BED-98EA-CAF64BC7E200}"/>
                  </a:ext>
                </a:extLst>
              </p:cNvPr>
              <p:cNvCxnSpPr>
                <a:cxnSpLocks/>
                <a:stCxn id="72" idx="3"/>
              </p:cNvCxnSpPr>
              <p:nvPr/>
            </p:nvCxnSpPr>
            <p:spPr>
              <a:xfrm>
                <a:off x="5133515" y="4757295"/>
                <a:ext cx="862504"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B7D3F1E3-8AD2-4ED9-B57E-7E1A5FF2A9CF}"/>
                  </a:ext>
                </a:extLst>
              </p:cNvPr>
              <p:cNvCxnSpPr>
                <a:cxnSpLocks/>
                <a:stCxn id="73" idx="3"/>
              </p:cNvCxnSpPr>
              <p:nvPr/>
            </p:nvCxnSpPr>
            <p:spPr>
              <a:xfrm>
                <a:off x="5160109" y="5388903"/>
                <a:ext cx="1212942" cy="372"/>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8073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276634"/>
            <a:ext cx="8131368" cy="782960"/>
          </a:xfrm>
        </p:spPr>
        <p:txBody>
          <a:bodyPr>
            <a:normAutofit/>
          </a:bodyPr>
          <a:lstStyle/>
          <a:p>
            <a:r>
              <a:rPr lang="es-CO" dirty="0"/>
              <a:t>Ciclos</a:t>
            </a:r>
          </a:p>
        </p:txBody>
      </p:sp>
      <p:sp>
        <p:nvSpPr>
          <p:cNvPr id="13" name="12 Rectángulo"/>
          <p:cNvSpPr/>
          <p:nvPr/>
        </p:nvSpPr>
        <p:spPr>
          <a:xfrm>
            <a:off x="265542" y="969739"/>
            <a:ext cx="8223168" cy="430887"/>
          </a:xfrm>
          <a:prstGeom prst="rect">
            <a:avLst/>
          </a:prstGeom>
        </p:spPr>
        <p:txBody>
          <a:bodyPr wrap="square">
            <a:spAutoFit/>
          </a:bodyPr>
          <a:lstStyle/>
          <a:p>
            <a:r>
              <a:rPr lang="es-CO" sz="2200" b="1" dirty="0"/>
              <a:t>Representación en pseudocódigo</a:t>
            </a:r>
          </a:p>
        </p:txBody>
      </p:sp>
      <p:sp>
        <p:nvSpPr>
          <p:cNvPr id="8" name="CuadroTexto 7">
            <a:extLst>
              <a:ext uri="{FF2B5EF4-FFF2-40B4-BE49-F238E27FC236}">
                <a16:creationId xmlns:a16="http://schemas.microsoft.com/office/drawing/2014/main" id="{791D7E60-39B9-4748-947F-38A8F97E2D1C}"/>
              </a:ext>
            </a:extLst>
          </p:cNvPr>
          <p:cNvSpPr txBox="1"/>
          <p:nvPr/>
        </p:nvSpPr>
        <p:spPr>
          <a:xfrm>
            <a:off x="4732404" y="2126578"/>
            <a:ext cx="3742661" cy="738664"/>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Mientras (</a:t>
            </a:r>
            <a:r>
              <a:rPr lang="es-ES" sz="1400" dirty="0">
                <a:solidFill>
                  <a:srgbClr val="C00000"/>
                </a:solidFill>
                <a:latin typeface="Consolas" panose="020B0609020204030204" pitchFamily="49" charset="0"/>
              </a:rPr>
              <a:t>condicion</a:t>
            </a:r>
            <a:r>
              <a:rPr lang="es-ES" sz="1400" dirty="0">
                <a:solidFill>
                  <a:schemeClr val="accent4"/>
                </a:solidFill>
                <a:latin typeface="Consolas" panose="020B0609020204030204" pitchFamily="49" charset="0"/>
              </a:rPr>
              <a:t>) Haga</a:t>
            </a:r>
          </a:p>
          <a:p>
            <a:pPr indent="-57150"/>
            <a:r>
              <a:rPr lang="es-ES" sz="1400" dirty="0">
                <a:latin typeface="Consolas" panose="020B0609020204030204" pitchFamily="49" charset="0"/>
              </a:rPr>
              <a:t>  instrucciones cuerpo</a:t>
            </a:r>
          </a:p>
          <a:p>
            <a:pPr indent="-57150"/>
            <a:r>
              <a:rPr lang="es-ES" sz="1400" dirty="0" err="1">
                <a:solidFill>
                  <a:schemeClr val="accent4"/>
                </a:solidFill>
                <a:latin typeface="Consolas" panose="020B0609020204030204" pitchFamily="49" charset="0"/>
              </a:rPr>
              <a:t>Fin_Mientras</a:t>
            </a:r>
            <a:endParaRPr lang="es-CO" sz="1400" dirty="0">
              <a:solidFill>
                <a:schemeClr val="accent4"/>
              </a:solidFill>
              <a:latin typeface="Consolas" panose="020B0609020204030204" pitchFamily="49" charset="0"/>
            </a:endParaRPr>
          </a:p>
        </p:txBody>
      </p:sp>
      <p:sp>
        <p:nvSpPr>
          <p:cNvPr id="9" name="CuadroTexto 8">
            <a:extLst>
              <a:ext uri="{FF2B5EF4-FFF2-40B4-BE49-F238E27FC236}">
                <a16:creationId xmlns:a16="http://schemas.microsoft.com/office/drawing/2014/main" id="{F8D1186C-BAA6-4BB7-8BDA-437F19BE7947}"/>
              </a:ext>
            </a:extLst>
          </p:cNvPr>
          <p:cNvSpPr txBox="1"/>
          <p:nvPr/>
        </p:nvSpPr>
        <p:spPr>
          <a:xfrm>
            <a:off x="4746049" y="3895293"/>
            <a:ext cx="3742661" cy="52322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while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cuerpo</a:t>
            </a:r>
          </a:p>
        </p:txBody>
      </p:sp>
      <p:sp>
        <p:nvSpPr>
          <p:cNvPr id="10" name="CuadroTexto 9">
            <a:extLst>
              <a:ext uri="{FF2B5EF4-FFF2-40B4-BE49-F238E27FC236}">
                <a16:creationId xmlns:a16="http://schemas.microsoft.com/office/drawing/2014/main" id="{23C017E7-0175-4F4C-9063-3C6EA1BA3C91}"/>
              </a:ext>
            </a:extLst>
          </p:cNvPr>
          <p:cNvSpPr txBox="1"/>
          <p:nvPr/>
        </p:nvSpPr>
        <p:spPr>
          <a:xfrm>
            <a:off x="5137974" y="1628800"/>
            <a:ext cx="2424161" cy="400110"/>
          </a:xfrm>
          <a:prstGeom prst="rect">
            <a:avLst/>
          </a:prstGeom>
          <a:noFill/>
        </p:spPr>
        <p:txBody>
          <a:bodyPr wrap="square" rtlCol="0">
            <a:spAutoFit/>
          </a:bodyPr>
          <a:lstStyle/>
          <a:p>
            <a:pPr algn="ctr"/>
            <a:r>
              <a:rPr lang="es-CO" sz="2000" b="1" dirty="0"/>
              <a:t>Pseudocódigo</a:t>
            </a:r>
          </a:p>
        </p:txBody>
      </p:sp>
      <p:sp>
        <p:nvSpPr>
          <p:cNvPr id="11" name="CuadroTexto 10">
            <a:extLst>
              <a:ext uri="{FF2B5EF4-FFF2-40B4-BE49-F238E27FC236}">
                <a16:creationId xmlns:a16="http://schemas.microsoft.com/office/drawing/2014/main" id="{F70CDB5E-01B0-44CF-BEA6-A41F1D5A02A9}"/>
              </a:ext>
            </a:extLst>
          </p:cNvPr>
          <p:cNvSpPr txBox="1"/>
          <p:nvPr/>
        </p:nvSpPr>
        <p:spPr>
          <a:xfrm>
            <a:off x="5172874" y="3471060"/>
            <a:ext cx="2424161" cy="400110"/>
          </a:xfrm>
          <a:prstGeom prst="rect">
            <a:avLst/>
          </a:prstGeom>
          <a:noFill/>
        </p:spPr>
        <p:txBody>
          <a:bodyPr wrap="square" rtlCol="0">
            <a:spAutoFit/>
          </a:bodyPr>
          <a:lstStyle/>
          <a:p>
            <a:pPr algn="ctr"/>
            <a:r>
              <a:rPr lang="es-CO" sz="2000" b="1" dirty="0"/>
              <a:t>Python</a:t>
            </a:r>
          </a:p>
        </p:txBody>
      </p:sp>
      <p:pic>
        <p:nvPicPr>
          <p:cNvPr id="3" name="Imagen 2">
            <a:extLst>
              <a:ext uri="{FF2B5EF4-FFF2-40B4-BE49-F238E27FC236}">
                <a16:creationId xmlns:a16="http://schemas.microsoft.com/office/drawing/2014/main" id="{1DDC4803-A744-4439-BB5C-A2B5E2F7C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1988840"/>
            <a:ext cx="2438400" cy="2819400"/>
          </a:xfrm>
          <a:prstGeom prst="rect">
            <a:avLst/>
          </a:prstGeom>
        </p:spPr>
      </p:pic>
      <p:sp>
        <p:nvSpPr>
          <p:cNvPr id="14" name="CuadroTexto 13">
            <a:extLst>
              <a:ext uri="{FF2B5EF4-FFF2-40B4-BE49-F238E27FC236}">
                <a16:creationId xmlns:a16="http://schemas.microsoft.com/office/drawing/2014/main" id="{CACE4E4F-A4E8-46E2-AB13-7E2ACF4519A0}"/>
              </a:ext>
            </a:extLst>
          </p:cNvPr>
          <p:cNvSpPr txBox="1"/>
          <p:nvPr/>
        </p:nvSpPr>
        <p:spPr>
          <a:xfrm>
            <a:off x="1338759" y="1556792"/>
            <a:ext cx="2424161" cy="400110"/>
          </a:xfrm>
          <a:prstGeom prst="rect">
            <a:avLst/>
          </a:prstGeom>
          <a:noFill/>
        </p:spPr>
        <p:txBody>
          <a:bodyPr wrap="square" rtlCol="0">
            <a:spAutoFit/>
          </a:bodyPr>
          <a:lstStyle/>
          <a:p>
            <a:pPr algn="ctr"/>
            <a:r>
              <a:rPr lang="es-CO" sz="2000" b="1" dirty="0"/>
              <a:t>Diagrama de flujo</a:t>
            </a:r>
          </a:p>
        </p:txBody>
      </p:sp>
      <p:sp>
        <p:nvSpPr>
          <p:cNvPr id="4" name="CuadroTexto 3">
            <a:extLst>
              <a:ext uri="{FF2B5EF4-FFF2-40B4-BE49-F238E27FC236}">
                <a16:creationId xmlns:a16="http://schemas.microsoft.com/office/drawing/2014/main" id="{463FC496-7EBC-4F9A-8C33-D4B8F5F43481}"/>
              </a:ext>
            </a:extLst>
          </p:cNvPr>
          <p:cNvSpPr txBox="1"/>
          <p:nvPr/>
        </p:nvSpPr>
        <p:spPr>
          <a:xfrm>
            <a:off x="281836" y="4888509"/>
            <a:ext cx="8610644" cy="1631216"/>
          </a:xfrm>
          <a:prstGeom prst="rect">
            <a:avLst/>
          </a:prstGeom>
          <a:solidFill>
            <a:schemeClr val="bg1">
              <a:lumMod val="95000"/>
            </a:schemeClr>
          </a:solidFill>
        </p:spPr>
        <p:txBody>
          <a:bodyPr wrap="square" rtlCol="0">
            <a:spAutoFit/>
          </a:bodyPr>
          <a:lstStyle/>
          <a:p>
            <a:r>
              <a:rPr lang="es-CO" sz="2000" b="1" dirty="0"/>
              <a:t>Observaciones importantes</a:t>
            </a:r>
            <a:r>
              <a:rPr lang="es-CO" sz="2000" dirty="0"/>
              <a:t>:</a:t>
            </a:r>
          </a:p>
          <a:p>
            <a:pPr marL="285750" indent="-285750">
              <a:buFont typeface="Arial" panose="020B0604020202020204" pitchFamily="34" charset="0"/>
              <a:buChar char="•"/>
            </a:pPr>
            <a:r>
              <a:rPr lang="es-CO" sz="2000" dirty="0"/>
              <a:t>Note que aunque la inicialización es importante para el ciclo, es previa a este (por eso no aparece).</a:t>
            </a:r>
          </a:p>
          <a:p>
            <a:pPr marL="285750" indent="-285750">
              <a:buFont typeface="Arial" panose="020B0604020202020204" pitchFamily="34" charset="0"/>
              <a:buChar char="•"/>
            </a:pPr>
            <a:r>
              <a:rPr lang="es-CO" sz="2000" dirty="0"/>
              <a:t>Dentro del cuerpo del ciclo están las instrucciones propias de lo que en este se debe realizar y la actualización de la variable de condición</a:t>
            </a:r>
          </a:p>
        </p:txBody>
      </p:sp>
    </p:spTree>
    <p:extLst>
      <p:ext uri="{BB962C8B-B14F-4D97-AF65-F5344CB8AC3E}">
        <p14:creationId xmlns:p14="http://schemas.microsoft.com/office/powerpoint/2010/main" val="2249832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16422" cy="710952"/>
          </a:xfrm>
        </p:spPr>
        <p:txBody>
          <a:bodyPr>
            <a:normAutofit/>
          </a:bodyPr>
          <a:lstStyle/>
          <a:p>
            <a:r>
              <a:rPr lang="es-CO" dirty="0"/>
              <a:t>Ciclos – Ejemplo 1</a:t>
            </a:r>
          </a:p>
        </p:txBody>
      </p:sp>
      <p:sp>
        <p:nvSpPr>
          <p:cNvPr id="32" name="CuadroTexto 31">
            <a:extLst>
              <a:ext uri="{FF2B5EF4-FFF2-40B4-BE49-F238E27FC236}">
                <a16:creationId xmlns:a16="http://schemas.microsoft.com/office/drawing/2014/main" id="{88238F3D-857F-4AB8-A25A-119ABDBDB707}"/>
              </a:ext>
            </a:extLst>
          </p:cNvPr>
          <p:cNvSpPr txBox="1"/>
          <p:nvPr/>
        </p:nvSpPr>
        <p:spPr>
          <a:xfrm>
            <a:off x="1442993" y="5058740"/>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10" name="CuadroTexto 9">
            <a:extLst>
              <a:ext uri="{FF2B5EF4-FFF2-40B4-BE49-F238E27FC236}">
                <a16:creationId xmlns:a16="http://schemas.microsoft.com/office/drawing/2014/main" id="{44ADE36F-3836-40FC-AAE5-6014F5E19BE2}"/>
              </a:ext>
            </a:extLst>
          </p:cNvPr>
          <p:cNvSpPr txBox="1"/>
          <p:nvPr/>
        </p:nvSpPr>
        <p:spPr>
          <a:xfrm>
            <a:off x="245481" y="1127339"/>
            <a:ext cx="3354440" cy="400110"/>
          </a:xfrm>
          <a:prstGeom prst="rect">
            <a:avLst/>
          </a:prstGeom>
          <a:noFill/>
        </p:spPr>
        <p:txBody>
          <a:bodyPr wrap="square" rtlCol="0">
            <a:spAutoFit/>
          </a:bodyPr>
          <a:lstStyle/>
          <a:p>
            <a:r>
              <a:rPr lang="es-CO" sz="2000" b="1" dirty="0"/>
              <a:t>Pseudocódigo</a:t>
            </a:r>
          </a:p>
        </p:txBody>
      </p:sp>
      <p:sp>
        <p:nvSpPr>
          <p:cNvPr id="12" name="CuadroTexto 11">
            <a:extLst>
              <a:ext uri="{FF2B5EF4-FFF2-40B4-BE49-F238E27FC236}">
                <a16:creationId xmlns:a16="http://schemas.microsoft.com/office/drawing/2014/main" id="{8ADAF5A1-1727-4804-B029-3B2CBBEFF9B9}"/>
              </a:ext>
            </a:extLst>
          </p:cNvPr>
          <p:cNvSpPr txBox="1"/>
          <p:nvPr/>
        </p:nvSpPr>
        <p:spPr>
          <a:xfrm>
            <a:off x="192904" y="3604954"/>
            <a:ext cx="2424161" cy="400110"/>
          </a:xfrm>
          <a:prstGeom prst="rect">
            <a:avLst/>
          </a:prstGeom>
          <a:noFill/>
        </p:spPr>
        <p:txBody>
          <a:bodyPr wrap="square" rtlCol="0">
            <a:spAutoFit/>
          </a:bodyPr>
          <a:lstStyle/>
          <a:p>
            <a:r>
              <a:rPr lang="es-CO" sz="2000" b="1" dirty="0"/>
              <a:t>Python</a:t>
            </a:r>
          </a:p>
        </p:txBody>
      </p:sp>
      <p:sp>
        <p:nvSpPr>
          <p:cNvPr id="16" name="CuadroTexto 15">
            <a:extLst>
              <a:ext uri="{FF2B5EF4-FFF2-40B4-BE49-F238E27FC236}">
                <a16:creationId xmlns:a16="http://schemas.microsoft.com/office/drawing/2014/main" id="{6D512794-C487-4E82-8BA4-1C5277571771}"/>
              </a:ext>
            </a:extLst>
          </p:cNvPr>
          <p:cNvSpPr txBox="1"/>
          <p:nvPr/>
        </p:nvSpPr>
        <p:spPr>
          <a:xfrm>
            <a:off x="279058" y="4005064"/>
            <a:ext cx="3873657" cy="1015663"/>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N = 10</a:t>
            </a:r>
          </a:p>
          <a:p>
            <a:r>
              <a:rPr lang="es-MX" sz="1200" dirty="0">
                <a:latin typeface="Consolas" panose="020B0609020204030204" pitchFamily="49" charset="0"/>
              </a:rPr>
              <a:t>i = 1</a:t>
            </a:r>
          </a:p>
          <a:p>
            <a:r>
              <a:rPr lang="es-MX" sz="1200" dirty="0">
                <a:solidFill>
                  <a:schemeClr val="accent5"/>
                </a:solidFill>
                <a:latin typeface="Consolas" panose="020B0609020204030204" pitchFamily="49" charset="0"/>
              </a:rPr>
              <a:t>while</a:t>
            </a:r>
            <a:r>
              <a:rPr lang="es-MX" sz="1200" dirty="0">
                <a:latin typeface="Consolas" panose="020B0609020204030204" pitchFamily="49" charset="0"/>
              </a:rPr>
              <a:t> i &lt;= N:</a:t>
            </a:r>
          </a:p>
          <a:p>
            <a:r>
              <a:rPr lang="es-MX" sz="1200" dirty="0">
                <a:solidFill>
                  <a:srgbClr val="00B050"/>
                </a:solidFill>
                <a:latin typeface="Consolas" panose="020B0609020204030204" pitchFamily="49" charset="0"/>
              </a:rPr>
              <a:t>  print(i)</a:t>
            </a:r>
          </a:p>
          <a:p>
            <a:r>
              <a:rPr lang="es-MX" sz="1200" dirty="0">
                <a:solidFill>
                  <a:srgbClr val="00B050"/>
                </a:solidFill>
                <a:latin typeface="Consolas" panose="020B0609020204030204" pitchFamily="49" charset="0"/>
              </a:rPr>
              <a:t>  i = i + 1</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279058" y="1550075"/>
            <a:ext cx="3873657"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 = 10</a:t>
            </a:r>
          </a:p>
          <a:p>
            <a:r>
              <a:rPr lang="es-MX" sz="1200" dirty="0">
                <a:latin typeface="Consolas" panose="020B0609020204030204" pitchFamily="49" charset="0"/>
              </a:rPr>
              <a:t>  i = 1</a:t>
            </a:r>
          </a:p>
          <a:p>
            <a:r>
              <a:rPr lang="es-MX" sz="1200" dirty="0">
                <a:latin typeface="Consolas" panose="020B0609020204030204" pitchFamily="49" charset="0"/>
              </a:rPr>
              <a:t>  </a:t>
            </a:r>
            <a:r>
              <a:rPr lang="es-MX" sz="1200" dirty="0">
                <a:solidFill>
                  <a:schemeClr val="accent5"/>
                </a:solidFill>
                <a:latin typeface="Consolas" panose="020B0609020204030204" pitchFamily="49" charset="0"/>
              </a:rPr>
              <a:t>Mientras</a:t>
            </a:r>
            <a:r>
              <a:rPr lang="es-MX" sz="1200" dirty="0">
                <a:latin typeface="Consolas" panose="020B0609020204030204" pitchFamily="49" charset="0"/>
              </a:rPr>
              <a:t> (i &lt;= N) </a:t>
            </a:r>
            <a:r>
              <a:rPr lang="es-MX" sz="1200" dirty="0">
                <a:solidFill>
                  <a:schemeClr val="accent5"/>
                </a:solidFill>
                <a:latin typeface="Consolas" panose="020B0609020204030204" pitchFamily="49" charset="0"/>
              </a:rPr>
              <a:t>Haga    </a:t>
            </a:r>
          </a:p>
          <a:p>
            <a:r>
              <a:rPr lang="es-MX" sz="1200" dirty="0">
                <a:solidFill>
                  <a:srgbClr val="00B050"/>
                </a:solidFill>
                <a:latin typeface="Consolas" panose="020B0609020204030204" pitchFamily="49" charset="0"/>
              </a:rPr>
              <a:t>    Escribir(i)</a:t>
            </a:r>
          </a:p>
          <a:p>
            <a:r>
              <a:rPr lang="es-MX" sz="1200" dirty="0">
                <a:solidFill>
                  <a:srgbClr val="00B050"/>
                </a:solidFill>
                <a:latin typeface="Consolas" panose="020B0609020204030204" pitchFamily="49" charset="0"/>
              </a:rPr>
              <a:t>    i = i + 1</a:t>
            </a:r>
          </a:p>
          <a:p>
            <a:r>
              <a:rPr lang="es-MX" sz="1200" dirty="0">
                <a:solidFill>
                  <a:srgbClr val="00B050"/>
                </a:solidFill>
                <a:latin typeface="Consolas" panose="020B0609020204030204" pitchFamily="49" charset="0"/>
              </a:rPr>
              <a:t>  </a:t>
            </a:r>
            <a:r>
              <a:rPr lang="es-MX" sz="1200" dirty="0">
                <a:solidFill>
                  <a:srgbClr val="C00000"/>
                </a:solidFill>
                <a:latin typeface="Consolas" panose="020B0609020204030204" pitchFamily="49" charset="0"/>
              </a:rPr>
              <a:t>Fin_Mientras</a:t>
            </a:r>
          </a:p>
          <a:p>
            <a:r>
              <a:rPr lang="es-MX" sz="1200" dirty="0">
                <a:latin typeface="Consolas" panose="020B0609020204030204" pitchFamily="49" charset="0"/>
              </a:rPr>
              <a:t>Fin</a:t>
            </a:r>
            <a:endParaRPr lang="es-CO" sz="1200" dirty="0">
              <a:latin typeface="Consolas" panose="020B0609020204030204" pitchFamily="49" charset="0"/>
            </a:endParaRPr>
          </a:p>
        </p:txBody>
      </p:sp>
      <p:grpSp>
        <p:nvGrpSpPr>
          <p:cNvPr id="8" name="Grupo 7">
            <a:extLst>
              <a:ext uri="{FF2B5EF4-FFF2-40B4-BE49-F238E27FC236}">
                <a16:creationId xmlns:a16="http://schemas.microsoft.com/office/drawing/2014/main" id="{ABF5C145-F0C1-42D5-A319-75A8E0702EB9}"/>
              </a:ext>
            </a:extLst>
          </p:cNvPr>
          <p:cNvGrpSpPr/>
          <p:nvPr/>
        </p:nvGrpSpPr>
        <p:grpSpPr>
          <a:xfrm>
            <a:off x="4716016" y="1127339"/>
            <a:ext cx="4200189" cy="4750774"/>
            <a:chOff x="4427984" y="481854"/>
            <a:chExt cx="4200189" cy="4750774"/>
          </a:xfrm>
        </p:grpSpPr>
        <p:pic>
          <p:nvPicPr>
            <p:cNvPr id="7" name="Imagen 6">
              <a:extLst>
                <a:ext uri="{FF2B5EF4-FFF2-40B4-BE49-F238E27FC236}">
                  <a16:creationId xmlns:a16="http://schemas.microsoft.com/office/drawing/2014/main" id="{AAEEF037-5CE3-404B-8761-0A19DFA2DF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9695" y="481854"/>
              <a:ext cx="2528478" cy="4750774"/>
            </a:xfrm>
            <a:prstGeom prst="rect">
              <a:avLst/>
            </a:prstGeom>
          </p:spPr>
        </p:pic>
        <p:grpSp>
          <p:nvGrpSpPr>
            <p:cNvPr id="27" name="Grupo 26">
              <a:extLst>
                <a:ext uri="{FF2B5EF4-FFF2-40B4-BE49-F238E27FC236}">
                  <a16:creationId xmlns:a16="http://schemas.microsoft.com/office/drawing/2014/main" id="{B1ACDE8E-989D-4223-8563-DEBBC5A94596}"/>
                </a:ext>
              </a:extLst>
            </p:cNvPr>
            <p:cNvGrpSpPr/>
            <p:nvPr/>
          </p:nvGrpSpPr>
          <p:grpSpPr>
            <a:xfrm>
              <a:off x="4427984" y="1700808"/>
              <a:ext cx="3647217" cy="2611373"/>
              <a:chOff x="3846925" y="3127038"/>
              <a:chExt cx="3647217" cy="2611373"/>
            </a:xfrm>
          </p:grpSpPr>
          <p:sp>
            <p:nvSpPr>
              <p:cNvPr id="28" name="CuadroTexto 27">
                <a:extLst>
                  <a:ext uri="{FF2B5EF4-FFF2-40B4-BE49-F238E27FC236}">
                    <a16:creationId xmlns:a16="http://schemas.microsoft.com/office/drawing/2014/main" id="{C3BC9D1D-6F27-4D39-B603-F4DDF4AF4F5C}"/>
                  </a:ext>
                </a:extLst>
              </p:cNvPr>
              <p:cNvSpPr txBox="1"/>
              <p:nvPr/>
            </p:nvSpPr>
            <p:spPr>
              <a:xfrm>
                <a:off x="4017749" y="3199570"/>
                <a:ext cx="1142557" cy="307777"/>
              </a:xfrm>
              <a:prstGeom prst="rect">
                <a:avLst/>
              </a:prstGeom>
              <a:noFill/>
            </p:spPr>
            <p:txBody>
              <a:bodyPr wrap="none" rtlCol="0">
                <a:spAutoFit/>
              </a:bodyPr>
              <a:lstStyle/>
              <a:p>
                <a:pPr algn="r"/>
                <a:r>
                  <a:rPr lang="es-CO" sz="1400" b="1" dirty="0">
                    <a:solidFill>
                      <a:schemeClr val="accent6"/>
                    </a:solidFill>
                  </a:rPr>
                  <a:t>Inicialización</a:t>
                </a:r>
              </a:p>
            </p:txBody>
          </p:sp>
          <p:sp>
            <p:nvSpPr>
              <p:cNvPr id="29" name="CuadroTexto 28">
                <a:extLst>
                  <a:ext uri="{FF2B5EF4-FFF2-40B4-BE49-F238E27FC236}">
                    <a16:creationId xmlns:a16="http://schemas.microsoft.com/office/drawing/2014/main" id="{DDAAD759-93BC-42B6-A77A-9E639F7311E3}"/>
                  </a:ext>
                </a:extLst>
              </p:cNvPr>
              <p:cNvSpPr txBox="1"/>
              <p:nvPr/>
            </p:nvSpPr>
            <p:spPr>
              <a:xfrm>
                <a:off x="3846925" y="3694346"/>
                <a:ext cx="1284998" cy="523220"/>
              </a:xfrm>
              <a:prstGeom prst="rect">
                <a:avLst/>
              </a:prstGeom>
              <a:noFill/>
            </p:spPr>
            <p:txBody>
              <a:bodyPr wrap="square" rtlCol="0">
                <a:spAutoFit/>
              </a:bodyPr>
              <a:lstStyle/>
              <a:p>
                <a:pPr algn="r"/>
                <a:r>
                  <a:rPr lang="es-CO" sz="1400" b="1" dirty="0">
                    <a:solidFill>
                      <a:srgbClr val="C00000"/>
                    </a:solidFill>
                  </a:rPr>
                  <a:t>Condición de</a:t>
                </a:r>
              </a:p>
              <a:p>
                <a:pPr algn="r"/>
                <a:r>
                  <a:rPr lang="es-CO" sz="1400" b="1" dirty="0">
                    <a:solidFill>
                      <a:srgbClr val="C00000"/>
                    </a:solidFill>
                  </a:rPr>
                  <a:t>control</a:t>
                </a:r>
              </a:p>
            </p:txBody>
          </p:sp>
          <p:sp>
            <p:nvSpPr>
              <p:cNvPr id="30" name="CuadroTexto 29">
                <a:extLst>
                  <a:ext uri="{FF2B5EF4-FFF2-40B4-BE49-F238E27FC236}">
                    <a16:creationId xmlns:a16="http://schemas.microsoft.com/office/drawing/2014/main" id="{F0F5A6CF-8DE7-4B36-B7D2-2555861AE64C}"/>
                  </a:ext>
                </a:extLst>
              </p:cNvPr>
              <p:cNvSpPr txBox="1"/>
              <p:nvPr/>
            </p:nvSpPr>
            <p:spPr>
              <a:xfrm>
                <a:off x="4411843" y="4603406"/>
                <a:ext cx="721672" cy="307777"/>
              </a:xfrm>
              <a:prstGeom prst="rect">
                <a:avLst/>
              </a:prstGeom>
              <a:noFill/>
            </p:spPr>
            <p:txBody>
              <a:bodyPr wrap="none" rtlCol="0">
                <a:spAutoFit/>
              </a:bodyPr>
              <a:lstStyle/>
              <a:p>
                <a:pPr algn="r"/>
                <a:r>
                  <a:rPr lang="es-CO" sz="1400" b="1" dirty="0">
                    <a:solidFill>
                      <a:srgbClr val="00B050"/>
                    </a:solidFill>
                  </a:rPr>
                  <a:t>Cuerpo</a:t>
                </a:r>
              </a:p>
            </p:txBody>
          </p:sp>
          <p:sp>
            <p:nvSpPr>
              <p:cNvPr id="31" name="CuadroTexto 30">
                <a:extLst>
                  <a:ext uri="{FF2B5EF4-FFF2-40B4-BE49-F238E27FC236}">
                    <a16:creationId xmlns:a16="http://schemas.microsoft.com/office/drawing/2014/main" id="{A6700988-CC05-48C3-A6F5-F6632E584BF6}"/>
                  </a:ext>
                </a:extLst>
              </p:cNvPr>
              <p:cNvSpPr txBox="1"/>
              <p:nvPr/>
            </p:nvSpPr>
            <p:spPr>
              <a:xfrm>
                <a:off x="3983890" y="5235014"/>
                <a:ext cx="1176219" cy="307777"/>
              </a:xfrm>
              <a:prstGeom prst="rect">
                <a:avLst/>
              </a:prstGeom>
              <a:noFill/>
            </p:spPr>
            <p:txBody>
              <a:bodyPr wrap="none" rtlCol="0">
                <a:spAutoFit/>
              </a:bodyPr>
              <a:lstStyle/>
              <a:p>
                <a:pPr algn="r"/>
                <a:r>
                  <a:rPr lang="es-CO" sz="1400" b="1" dirty="0">
                    <a:solidFill>
                      <a:srgbClr val="0070C0"/>
                    </a:solidFill>
                  </a:rPr>
                  <a:t>Actualización</a:t>
                </a:r>
              </a:p>
            </p:txBody>
          </p:sp>
          <p:sp>
            <p:nvSpPr>
              <p:cNvPr id="33" name="Rectángulo: esquinas redondeadas 32">
                <a:extLst>
                  <a:ext uri="{FF2B5EF4-FFF2-40B4-BE49-F238E27FC236}">
                    <a16:creationId xmlns:a16="http://schemas.microsoft.com/office/drawing/2014/main" id="{08B44DA2-45D0-4007-BBAE-26D3B76F40CC}"/>
                  </a:ext>
                </a:extLst>
              </p:cNvPr>
              <p:cNvSpPr/>
              <p:nvPr/>
            </p:nvSpPr>
            <p:spPr>
              <a:xfrm>
                <a:off x="6369914" y="3127038"/>
                <a:ext cx="804189" cy="441960"/>
              </a:xfrm>
              <a:prstGeom prst="round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4" name="Conector recto de flecha 33">
                <a:extLst>
                  <a:ext uri="{FF2B5EF4-FFF2-40B4-BE49-F238E27FC236}">
                    <a16:creationId xmlns:a16="http://schemas.microsoft.com/office/drawing/2014/main" id="{60F7C668-2274-4D52-A625-37B15105A05A}"/>
                  </a:ext>
                </a:extLst>
              </p:cNvPr>
              <p:cNvCxnSpPr>
                <a:stCxn id="28" idx="3"/>
                <a:endCxn id="33" idx="1"/>
              </p:cNvCxnSpPr>
              <p:nvPr/>
            </p:nvCxnSpPr>
            <p:spPr>
              <a:xfrm flipV="1">
                <a:off x="5160306" y="3348018"/>
                <a:ext cx="1209608" cy="5441"/>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5" name="Rectángulo: esquinas redondeadas 34">
                <a:extLst>
                  <a:ext uri="{FF2B5EF4-FFF2-40B4-BE49-F238E27FC236}">
                    <a16:creationId xmlns:a16="http://schemas.microsoft.com/office/drawing/2014/main" id="{138BC357-EE3A-4E7A-9934-449DDE36524B}"/>
                  </a:ext>
                </a:extLst>
              </p:cNvPr>
              <p:cNvSpPr/>
              <p:nvPr/>
            </p:nvSpPr>
            <p:spPr>
              <a:xfrm>
                <a:off x="6000623" y="3694346"/>
                <a:ext cx="1493519" cy="777240"/>
              </a:xfrm>
              <a:prstGeom prst="roundRect">
                <a:avLst>
                  <a:gd name="adj" fmla="val 1054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6" name="Conector recto de flecha 35">
                <a:extLst>
                  <a:ext uri="{FF2B5EF4-FFF2-40B4-BE49-F238E27FC236}">
                    <a16:creationId xmlns:a16="http://schemas.microsoft.com/office/drawing/2014/main" id="{F895C84B-FF41-44F5-8D95-6FDCF2B5AA9C}"/>
                  </a:ext>
                </a:extLst>
              </p:cNvPr>
              <p:cNvCxnSpPr>
                <a:cxnSpLocks/>
                <a:stCxn id="29" idx="3"/>
              </p:cNvCxnSpPr>
              <p:nvPr/>
            </p:nvCxnSpPr>
            <p:spPr>
              <a:xfrm>
                <a:off x="5131923" y="3955956"/>
                <a:ext cx="864096"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ángulo: esquinas redondeadas 36">
                <a:extLst>
                  <a:ext uri="{FF2B5EF4-FFF2-40B4-BE49-F238E27FC236}">
                    <a16:creationId xmlns:a16="http://schemas.microsoft.com/office/drawing/2014/main" id="{807C87D8-B4C2-43C2-959A-A2B40E42BFB6}"/>
                  </a:ext>
                </a:extLst>
              </p:cNvPr>
              <p:cNvSpPr/>
              <p:nvPr/>
            </p:nvSpPr>
            <p:spPr>
              <a:xfrm>
                <a:off x="6000623" y="4603406"/>
                <a:ext cx="1493519" cy="1135005"/>
              </a:xfrm>
              <a:prstGeom prst="roundRect">
                <a:avLst>
                  <a:gd name="adj" fmla="val 7883"/>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Rectángulo: esquinas redondeadas 37">
                <a:extLst>
                  <a:ext uri="{FF2B5EF4-FFF2-40B4-BE49-F238E27FC236}">
                    <a16:creationId xmlns:a16="http://schemas.microsoft.com/office/drawing/2014/main" id="{521866A8-28D8-49B9-B35C-E7DC333244A3}"/>
                  </a:ext>
                </a:extLst>
              </p:cNvPr>
              <p:cNvSpPr/>
              <p:nvPr/>
            </p:nvSpPr>
            <p:spPr>
              <a:xfrm>
                <a:off x="6381459" y="5167258"/>
                <a:ext cx="804189" cy="441960"/>
              </a:xfrm>
              <a:prstGeom prst="roundRect">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9" name="Conector recto de flecha 38">
                <a:extLst>
                  <a:ext uri="{FF2B5EF4-FFF2-40B4-BE49-F238E27FC236}">
                    <a16:creationId xmlns:a16="http://schemas.microsoft.com/office/drawing/2014/main" id="{0760256B-5073-413D-A19E-A8810D1F100E}"/>
                  </a:ext>
                </a:extLst>
              </p:cNvPr>
              <p:cNvCxnSpPr>
                <a:cxnSpLocks/>
                <a:stCxn id="30" idx="3"/>
              </p:cNvCxnSpPr>
              <p:nvPr/>
            </p:nvCxnSpPr>
            <p:spPr>
              <a:xfrm>
                <a:off x="5133515" y="4757295"/>
                <a:ext cx="862504"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31CA4F24-2AA8-4462-AB78-E0E05A3D8DA3}"/>
                  </a:ext>
                </a:extLst>
              </p:cNvPr>
              <p:cNvCxnSpPr>
                <a:cxnSpLocks/>
                <a:stCxn id="31" idx="3"/>
              </p:cNvCxnSpPr>
              <p:nvPr/>
            </p:nvCxnSpPr>
            <p:spPr>
              <a:xfrm>
                <a:off x="5160109" y="5388903"/>
                <a:ext cx="1212942" cy="372"/>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120220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242634" cy="710952"/>
          </a:xfrm>
        </p:spPr>
        <p:txBody>
          <a:bodyPr>
            <a:normAutofit/>
          </a:bodyPr>
          <a:lstStyle/>
          <a:p>
            <a:r>
              <a:rPr lang="es-CO" dirty="0"/>
              <a:t>Ciclos - Ejemplo 2</a:t>
            </a:r>
          </a:p>
        </p:txBody>
      </p:sp>
      <p:sp>
        <p:nvSpPr>
          <p:cNvPr id="6" name="12 Rectángulo">
            <a:extLst>
              <a:ext uri="{FF2B5EF4-FFF2-40B4-BE49-F238E27FC236}">
                <a16:creationId xmlns:a16="http://schemas.microsoft.com/office/drawing/2014/main" id="{B71A044D-FDAF-4433-A6DD-B24B4963D26D}"/>
              </a:ext>
            </a:extLst>
          </p:cNvPr>
          <p:cNvSpPr/>
          <p:nvPr/>
        </p:nvSpPr>
        <p:spPr>
          <a:xfrm>
            <a:off x="233375" y="991847"/>
            <a:ext cx="8734404"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sp>
        <p:nvSpPr>
          <p:cNvPr id="7" name="5 CuadroTexto">
            <a:extLst>
              <a:ext uri="{FF2B5EF4-FFF2-40B4-BE49-F238E27FC236}">
                <a16:creationId xmlns:a16="http://schemas.microsoft.com/office/drawing/2014/main" id="{4CE19DD7-9C01-4327-B958-36C27059A964}"/>
              </a:ext>
            </a:extLst>
          </p:cNvPr>
          <p:cNvSpPr txBox="1"/>
          <p:nvPr/>
        </p:nvSpPr>
        <p:spPr>
          <a:xfrm>
            <a:off x="216692" y="3530039"/>
            <a:ext cx="4016228" cy="3139321"/>
          </a:xfrm>
          <a:prstGeom prst="rect">
            <a:avLst/>
          </a:prstGeom>
          <a:noFill/>
        </p:spPr>
        <p:txBody>
          <a:bodyPr wrap="square" rtlCol="0">
            <a:spAutoFit/>
          </a:bodyPr>
          <a:lstStyle/>
          <a:p>
            <a:r>
              <a:rPr lang="es-CO" b="1" dirty="0"/>
              <a:t>Datos de entrada: </a:t>
            </a:r>
          </a:p>
          <a:p>
            <a:pPr marL="285750" indent="-285750">
              <a:buFont typeface="Arial" panose="020B0604020202020204" pitchFamily="34" charset="0"/>
              <a:buChar char="•"/>
            </a:pPr>
            <a:r>
              <a:rPr lang="es-CO" sz="1600" b="1" dirty="0"/>
              <a:t>Cantidad de números</a:t>
            </a:r>
            <a:endParaRPr lang="es-CO" sz="1600" dirty="0"/>
          </a:p>
          <a:p>
            <a:r>
              <a:rPr lang="es-CO" b="1" dirty="0"/>
              <a:t>Datos de salida: </a:t>
            </a:r>
          </a:p>
          <a:p>
            <a:pPr marL="285750" indent="-285750">
              <a:buFont typeface="Arial" panose="020B0604020202020204" pitchFamily="34" charset="0"/>
              <a:buChar char="•"/>
            </a:pPr>
            <a:r>
              <a:rPr lang="es-CO" sz="1600" b="1" dirty="0"/>
              <a:t>Suma de los números</a:t>
            </a:r>
            <a:endParaRPr lang="es-CO" sz="1600" dirty="0"/>
          </a:p>
          <a:p>
            <a:r>
              <a:rPr lang="es-CO" b="1" dirty="0"/>
              <a:t>Definición de variables:</a:t>
            </a:r>
          </a:p>
          <a:p>
            <a:pPr marL="285750" indent="-285750">
              <a:buFont typeface="Arial" panose="020B0604020202020204" pitchFamily="34" charset="0"/>
              <a:buChar char="•"/>
            </a:pPr>
            <a:r>
              <a:rPr lang="es-CO" sz="1600" b="1" dirty="0"/>
              <a:t>Entrada/salida</a:t>
            </a:r>
            <a:r>
              <a:rPr lang="es-CO" sz="1600" dirty="0"/>
              <a:t>:</a:t>
            </a:r>
          </a:p>
          <a:p>
            <a:pPr marL="800100" lvl="1" indent="-342900">
              <a:buFont typeface="Arial" pitchFamily="34" charset="0"/>
              <a:buChar char="•"/>
            </a:pPr>
            <a:r>
              <a:rPr lang="es-CO" sz="1600" b="1" dirty="0">
                <a:latin typeface="Consolas" panose="020B0609020204030204" pitchFamily="49" charset="0"/>
              </a:rPr>
              <a:t>N</a:t>
            </a:r>
            <a:r>
              <a:rPr lang="es-CO" sz="1600" b="1" dirty="0"/>
              <a:t>:</a:t>
            </a:r>
            <a:r>
              <a:rPr lang="es-CO" sz="1600" dirty="0"/>
              <a:t> Cantidad de números a sumar</a:t>
            </a:r>
          </a:p>
          <a:p>
            <a:pPr marL="800100" lvl="1" indent="-342900">
              <a:buFont typeface="Arial" pitchFamily="34" charset="0"/>
              <a:buChar char="•"/>
            </a:pPr>
            <a:r>
              <a:rPr lang="es-CO" sz="1600" b="1" dirty="0">
                <a:latin typeface="Consolas" panose="020B0609020204030204" pitchFamily="49" charset="0"/>
              </a:rPr>
              <a:t>suma</a:t>
            </a:r>
            <a:r>
              <a:rPr lang="es-CO" sz="1600" b="1" dirty="0"/>
              <a:t>:</a:t>
            </a:r>
            <a:r>
              <a:rPr lang="es-CO" sz="1600" dirty="0"/>
              <a:t> Suma de los números generados (</a:t>
            </a:r>
            <a:r>
              <a:rPr lang="es-CO" sz="1600" b="1" i="1" dirty="0"/>
              <a:t>acumulador</a:t>
            </a:r>
            <a:r>
              <a:rPr lang="es-CO" sz="1600" dirty="0"/>
              <a:t>).</a:t>
            </a:r>
          </a:p>
          <a:p>
            <a:pPr marL="342900" indent="-342900">
              <a:buFont typeface="Arial" pitchFamily="34" charset="0"/>
              <a:buChar char="•"/>
            </a:pPr>
            <a:r>
              <a:rPr lang="es-CO" sz="1600" b="1" dirty="0"/>
              <a:t>Variables auxiliares</a:t>
            </a:r>
            <a:r>
              <a:rPr lang="es-CO" sz="1600" dirty="0"/>
              <a:t>:</a:t>
            </a:r>
          </a:p>
          <a:p>
            <a:pPr marL="800100" lvl="1" indent="-342900">
              <a:buFont typeface="Arial" pitchFamily="34" charset="0"/>
              <a:buChar char="•"/>
            </a:pPr>
            <a:r>
              <a:rPr lang="es-CO" sz="1600" b="1" dirty="0">
                <a:latin typeface="Consolas" panose="020B0609020204030204" pitchFamily="49" charset="0"/>
              </a:rPr>
              <a:t>num</a:t>
            </a:r>
            <a:r>
              <a:rPr lang="es-CO" sz="1600" b="1" dirty="0"/>
              <a:t>:</a:t>
            </a:r>
            <a:r>
              <a:rPr lang="es-CO" sz="1600" dirty="0"/>
              <a:t> Numero entero generado (</a:t>
            </a:r>
            <a:r>
              <a:rPr lang="es-CO" sz="1600" b="1" i="1" dirty="0"/>
              <a:t>contador</a:t>
            </a:r>
            <a:r>
              <a:rPr lang="es-CO" sz="1600" dirty="0"/>
              <a:t>)</a:t>
            </a:r>
          </a:p>
        </p:txBody>
      </p:sp>
      <p:sp>
        <p:nvSpPr>
          <p:cNvPr id="8" name="1 Rectángulo">
            <a:extLst>
              <a:ext uri="{FF2B5EF4-FFF2-40B4-BE49-F238E27FC236}">
                <a16:creationId xmlns:a16="http://schemas.microsoft.com/office/drawing/2014/main" id="{D2CD4111-731B-484D-BD53-9DB44252CF1E}"/>
              </a:ext>
            </a:extLst>
          </p:cNvPr>
          <p:cNvSpPr/>
          <p:nvPr/>
        </p:nvSpPr>
        <p:spPr>
          <a:xfrm>
            <a:off x="4503876" y="3578820"/>
            <a:ext cx="4320298" cy="2154436"/>
          </a:xfrm>
          <a:prstGeom prst="rect">
            <a:avLst/>
          </a:prstGeom>
        </p:spPr>
        <p:txBody>
          <a:bodyPr wrap="square">
            <a:spAutoFit/>
          </a:bodyPr>
          <a:lstStyle/>
          <a:p>
            <a:r>
              <a:rPr lang="es-CO" b="1" dirty="0"/>
              <a:t>Proceso: </a:t>
            </a:r>
          </a:p>
          <a:p>
            <a:pPr marL="285750" indent="-285750">
              <a:buFont typeface="Arial" panose="020B0604020202020204" pitchFamily="34" charset="0"/>
              <a:buChar char="•"/>
            </a:pPr>
            <a:r>
              <a:rPr lang="es-CO" sz="1600" dirty="0"/>
              <a:t>Inicializar la suma en 0.</a:t>
            </a:r>
          </a:p>
          <a:p>
            <a:pPr marL="285750" indent="-285750">
              <a:buFont typeface="Arial" panose="020B0604020202020204" pitchFamily="34" charset="0"/>
              <a:buChar char="•"/>
            </a:pPr>
            <a:r>
              <a:rPr lang="es-CO" sz="1600" dirty="0"/>
              <a:t>Inicializar el número a generar (num) en 1.</a:t>
            </a:r>
          </a:p>
          <a:p>
            <a:pPr marL="285750" indent="-285750">
              <a:buFont typeface="Arial" panose="020B0604020202020204" pitchFamily="34" charset="0"/>
              <a:buChar char="•"/>
            </a:pPr>
            <a:r>
              <a:rPr lang="es-CO" sz="1600" dirty="0"/>
              <a:t>Repetir mientras num sea menor o igual que N:</a:t>
            </a:r>
          </a:p>
          <a:p>
            <a:pPr marL="742950" lvl="1" indent="-285750">
              <a:buFont typeface="Arial" panose="020B0604020202020204" pitchFamily="34" charset="0"/>
              <a:buChar char="•"/>
            </a:pPr>
            <a:r>
              <a:rPr lang="es-CO" sz="1600" dirty="0"/>
              <a:t>Acumular num en suma.</a:t>
            </a:r>
          </a:p>
          <a:p>
            <a:pPr marL="742950" lvl="1" indent="-285750">
              <a:buFont typeface="Arial" panose="020B0604020202020204" pitchFamily="34" charset="0"/>
              <a:buChar char="•"/>
            </a:pPr>
            <a:r>
              <a:rPr lang="es-CO" sz="1600" dirty="0"/>
              <a:t>Incrementar num en 1.</a:t>
            </a:r>
          </a:p>
          <a:p>
            <a:pPr marL="285750" indent="-285750">
              <a:buFont typeface="Arial" panose="020B0604020202020204" pitchFamily="34" charset="0"/>
              <a:buChar char="•"/>
            </a:pPr>
            <a:r>
              <a:rPr lang="es-CO" sz="1600" dirty="0"/>
              <a:t>Imprimir el resultado de la suma.</a:t>
            </a:r>
          </a:p>
        </p:txBody>
      </p:sp>
      <p:grpSp>
        <p:nvGrpSpPr>
          <p:cNvPr id="3" name="Grupo 2">
            <a:extLst>
              <a:ext uri="{FF2B5EF4-FFF2-40B4-BE49-F238E27FC236}">
                <a16:creationId xmlns:a16="http://schemas.microsoft.com/office/drawing/2014/main" id="{A460DBFE-9DB3-4BB1-A9F9-FD249863F334}"/>
              </a:ext>
            </a:extLst>
          </p:cNvPr>
          <p:cNvGrpSpPr/>
          <p:nvPr/>
        </p:nvGrpSpPr>
        <p:grpSpPr>
          <a:xfrm>
            <a:off x="233375" y="1865123"/>
            <a:ext cx="8202163" cy="1563877"/>
            <a:chOff x="233375" y="1772816"/>
            <a:chExt cx="8202163" cy="1563877"/>
          </a:xfrm>
        </p:grpSpPr>
        <p:sp>
          <p:nvSpPr>
            <p:cNvPr id="11" name="1 Rectángulo">
              <a:extLst>
                <a:ext uri="{FF2B5EF4-FFF2-40B4-BE49-F238E27FC236}">
                  <a16:creationId xmlns:a16="http://schemas.microsoft.com/office/drawing/2014/main" id="{540D413B-A7AD-4E15-B61E-07613CAC7654}"/>
                </a:ext>
              </a:extLst>
            </p:cNvPr>
            <p:cNvSpPr/>
            <p:nvPr/>
          </p:nvSpPr>
          <p:spPr>
            <a:xfrm>
              <a:off x="617506" y="2351925"/>
              <a:ext cx="269626"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a:t>
              </a:r>
            </a:p>
          </p:txBody>
        </p:sp>
        <p:grpSp>
          <p:nvGrpSpPr>
            <p:cNvPr id="12" name="5 Grupo">
              <a:extLst>
                <a:ext uri="{FF2B5EF4-FFF2-40B4-BE49-F238E27FC236}">
                  <a16:creationId xmlns:a16="http://schemas.microsoft.com/office/drawing/2014/main" id="{1A05BD67-E6A6-4634-8859-E8E1D90EE473}"/>
                </a:ext>
              </a:extLst>
            </p:cNvPr>
            <p:cNvGrpSpPr/>
            <p:nvPr/>
          </p:nvGrpSpPr>
          <p:grpSpPr>
            <a:xfrm>
              <a:off x="233375" y="1772816"/>
              <a:ext cx="8202163" cy="783771"/>
              <a:chOff x="518399" y="1739458"/>
              <a:chExt cx="8202163" cy="783771"/>
            </a:xfrm>
          </p:grpSpPr>
          <p:sp>
            <p:nvSpPr>
              <p:cNvPr id="14" name="10 Rectángulo">
                <a:extLst>
                  <a:ext uri="{FF2B5EF4-FFF2-40B4-BE49-F238E27FC236}">
                    <a16:creationId xmlns:a16="http://schemas.microsoft.com/office/drawing/2014/main" id="{76751F89-80A9-4606-AB8E-D70DD2115DB9}"/>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893EE330-1990-4874-A1E0-B9BAB3B05622}"/>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5ADD7646-714E-4102-82EA-E1712BF02482}"/>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8" name="14 Flecha derecha">
                <a:extLst>
                  <a:ext uri="{FF2B5EF4-FFF2-40B4-BE49-F238E27FC236}">
                    <a16:creationId xmlns:a16="http://schemas.microsoft.com/office/drawing/2014/main" id="{EA41A641-35E2-4726-8F69-9160C8BF5860}"/>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21 Flecha derecha">
                <a:extLst>
                  <a:ext uri="{FF2B5EF4-FFF2-40B4-BE49-F238E27FC236}">
                    <a16:creationId xmlns:a16="http://schemas.microsoft.com/office/drawing/2014/main" id="{C4ADF9AB-173D-4A2A-AFEA-BE316A3DF3B5}"/>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3" name="1 Rectángulo">
              <a:extLst>
                <a:ext uri="{FF2B5EF4-FFF2-40B4-BE49-F238E27FC236}">
                  <a16:creationId xmlns:a16="http://schemas.microsoft.com/office/drawing/2014/main" id="{BE35B936-32F4-4E5E-A11A-DE3552FBC249}"/>
                </a:ext>
              </a:extLst>
            </p:cNvPr>
            <p:cNvSpPr/>
            <p:nvPr/>
          </p:nvSpPr>
          <p:spPr>
            <a:xfrm>
              <a:off x="7500404" y="2363495"/>
              <a:ext cx="524503"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suma</a:t>
              </a:r>
            </a:p>
          </p:txBody>
        </p:sp>
        <p:sp>
          <p:nvSpPr>
            <p:cNvPr id="20" name="10 Rectángulo">
              <a:extLst>
                <a:ext uri="{FF2B5EF4-FFF2-40B4-BE49-F238E27FC236}">
                  <a16:creationId xmlns:a16="http://schemas.microsoft.com/office/drawing/2014/main" id="{26C90D08-6808-4DB4-9A83-4AE11393BE17}"/>
                </a:ext>
              </a:extLst>
            </p:cNvPr>
            <p:cNvSpPr/>
            <p:nvPr/>
          </p:nvSpPr>
          <p:spPr>
            <a:xfrm>
              <a:off x="3136637" y="2628009"/>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sp>
          <p:nvSpPr>
            <p:cNvPr id="21" name="1 Rectángulo">
              <a:extLst>
                <a:ext uri="{FF2B5EF4-FFF2-40B4-BE49-F238E27FC236}">
                  <a16:creationId xmlns:a16="http://schemas.microsoft.com/office/drawing/2014/main" id="{F80EB489-DED4-4574-86F0-F33DCB270A14}"/>
                </a:ext>
              </a:extLst>
            </p:cNvPr>
            <p:cNvSpPr/>
            <p:nvPr/>
          </p:nvSpPr>
          <p:spPr>
            <a:xfrm>
              <a:off x="3563888" y="3059694"/>
              <a:ext cx="439544"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num</a:t>
              </a:r>
            </a:p>
          </p:txBody>
        </p:sp>
      </p:grpSp>
    </p:spTree>
    <p:extLst>
      <p:ext uri="{BB962C8B-B14F-4D97-AF65-F5344CB8AC3E}">
        <p14:creationId xmlns:p14="http://schemas.microsoft.com/office/powerpoint/2010/main" val="983133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2</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15801" y="1730096"/>
            <a:ext cx="3354440" cy="400110"/>
          </a:xfrm>
          <a:prstGeom prst="rect">
            <a:avLst/>
          </a:prstGeom>
          <a:noFill/>
        </p:spPr>
        <p:txBody>
          <a:bodyPr wrap="square" rtlCol="0">
            <a:spAutoFit/>
          </a:bodyPr>
          <a:lstStyle/>
          <a:p>
            <a:r>
              <a:rPr lang="es-CO" sz="2000" b="1" dirty="0"/>
              <a:t>Pseudocódigo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387041" y="2138080"/>
            <a:ext cx="5121063"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num = 1</a:t>
            </a:r>
          </a:p>
          <a:p>
            <a:r>
              <a:rPr lang="es-MX" sz="1200" dirty="0">
                <a:latin typeface="Consolas" panose="020B0609020204030204" pitchFamily="49" charset="0"/>
              </a:rPr>
              <a:t>  suma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(num &lt;= N)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suma = suma + num </a:t>
            </a:r>
          </a:p>
          <a:p>
            <a:r>
              <a:rPr lang="es-MX" sz="1200" dirty="0">
                <a:solidFill>
                  <a:srgbClr val="00B050"/>
                </a:solidFill>
                <a:latin typeface="Consolas" panose="020B0609020204030204" pitchFamily="49" charset="0"/>
              </a:rPr>
              <a:t>     num = num + 1    </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  Escribir(suma)</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6" name="12 Rectángulo">
            <a:extLst>
              <a:ext uri="{FF2B5EF4-FFF2-40B4-BE49-F238E27FC236}">
                <a16:creationId xmlns:a16="http://schemas.microsoft.com/office/drawing/2014/main" id="{A81BD006-0862-4E9E-ABB8-6C85A0DDA55A}"/>
              </a:ext>
            </a:extLst>
          </p:cNvPr>
          <p:cNvSpPr/>
          <p:nvPr/>
        </p:nvSpPr>
        <p:spPr>
          <a:xfrm>
            <a:off x="197748" y="992922"/>
            <a:ext cx="8617880"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sp>
        <p:nvSpPr>
          <p:cNvPr id="9" name="CuadroTexto 8">
            <a:extLst>
              <a:ext uri="{FF2B5EF4-FFF2-40B4-BE49-F238E27FC236}">
                <a16:creationId xmlns:a16="http://schemas.microsoft.com/office/drawing/2014/main" id="{AB96154D-8C57-41FF-832A-5D4742A55E78}"/>
              </a:ext>
            </a:extLst>
          </p:cNvPr>
          <p:cNvSpPr txBox="1"/>
          <p:nvPr/>
        </p:nvSpPr>
        <p:spPr>
          <a:xfrm>
            <a:off x="315801" y="4284126"/>
            <a:ext cx="2424161" cy="400110"/>
          </a:xfrm>
          <a:prstGeom prst="rect">
            <a:avLst/>
          </a:prstGeom>
          <a:noFill/>
        </p:spPr>
        <p:txBody>
          <a:bodyPr wrap="square" rtlCol="0">
            <a:spAutoFit/>
          </a:bodyPr>
          <a:lstStyle/>
          <a:p>
            <a:r>
              <a:rPr lang="es-CO" sz="2000" b="1" dirty="0"/>
              <a:t>Python</a:t>
            </a:r>
          </a:p>
        </p:txBody>
      </p:sp>
      <p:sp>
        <p:nvSpPr>
          <p:cNvPr id="11" name="CuadroTexto 10">
            <a:extLst>
              <a:ext uri="{FF2B5EF4-FFF2-40B4-BE49-F238E27FC236}">
                <a16:creationId xmlns:a16="http://schemas.microsoft.com/office/drawing/2014/main" id="{1DC671ED-4724-4412-9F1A-D283A0901042}"/>
              </a:ext>
            </a:extLst>
          </p:cNvPr>
          <p:cNvSpPr txBox="1"/>
          <p:nvPr/>
        </p:nvSpPr>
        <p:spPr>
          <a:xfrm>
            <a:off x="367055" y="4692892"/>
            <a:ext cx="5141049"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num = 1</a:t>
            </a:r>
          </a:p>
          <a:p>
            <a:r>
              <a:rPr lang="es-MX" sz="1200" dirty="0">
                <a:latin typeface="Consolas" panose="020B0609020204030204" pitchFamily="49" charset="0"/>
              </a:rPr>
              <a:t>suma = 0</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(input('Ingrese la </a:t>
            </a:r>
            <a:r>
              <a:rPr lang="es-MX" sz="1200" dirty="0" err="1">
                <a:latin typeface="Consolas" panose="020B0609020204030204" pitchFamily="49" charset="0"/>
              </a:rPr>
              <a:t>candidad</a:t>
            </a:r>
            <a:r>
              <a:rPr lang="es-MX" sz="1200" dirty="0">
                <a:latin typeface="Consolas" panose="020B0609020204030204" pitchFamily="49" charset="0"/>
              </a:rPr>
              <a:t> de números a sumar: '))</a:t>
            </a:r>
          </a:p>
          <a:p>
            <a:r>
              <a:rPr lang="es-MX" sz="1200" dirty="0">
                <a:solidFill>
                  <a:schemeClr val="accent5"/>
                </a:solidFill>
                <a:latin typeface="Consolas" panose="020B0609020204030204" pitchFamily="49" charset="0"/>
              </a:rPr>
              <a:t>while</a:t>
            </a:r>
            <a:r>
              <a:rPr lang="es-MX" sz="1200" dirty="0">
                <a:latin typeface="Consolas" panose="020B0609020204030204" pitchFamily="49" charset="0"/>
              </a:rPr>
              <a:t> num &lt;= N:</a:t>
            </a:r>
          </a:p>
          <a:p>
            <a:r>
              <a:rPr lang="es-MX" sz="1200" dirty="0">
                <a:solidFill>
                  <a:srgbClr val="00B050"/>
                </a:solidFill>
                <a:latin typeface="Consolas" panose="020B0609020204030204" pitchFamily="49" charset="0"/>
              </a:rPr>
              <a:t>  suma = suma + num</a:t>
            </a:r>
          </a:p>
          <a:p>
            <a:r>
              <a:rPr lang="es-MX" sz="1200" dirty="0">
                <a:solidFill>
                  <a:srgbClr val="00B050"/>
                </a:solidFill>
                <a:latin typeface="Consolas" panose="020B0609020204030204" pitchFamily="49" charset="0"/>
              </a:rPr>
              <a:t>  num = num + 1</a:t>
            </a:r>
          </a:p>
          <a:p>
            <a:r>
              <a:rPr lang="es-MX" sz="1200" dirty="0">
                <a:latin typeface="Consolas" panose="020B0609020204030204" pitchFamily="49" charset="0"/>
              </a:rPr>
              <a:t>print(</a:t>
            </a:r>
            <a:r>
              <a:rPr lang="es-MX" sz="1200" dirty="0" err="1">
                <a:latin typeface="Consolas" panose="020B0609020204030204" pitchFamily="49" charset="0"/>
              </a:rPr>
              <a:t>f"La</a:t>
            </a:r>
            <a:r>
              <a:rPr lang="es-MX" sz="1200" dirty="0">
                <a:latin typeface="Consolas" panose="020B0609020204030204" pitchFamily="49" charset="0"/>
              </a:rPr>
              <a:t> suma de los {N} primeros números da {suma}")</a:t>
            </a:r>
          </a:p>
        </p:txBody>
      </p:sp>
      <p:pic>
        <p:nvPicPr>
          <p:cNvPr id="8" name="Imagen 7">
            <a:extLst>
              <a:ext uri="{FF2B5EF4-FFF2-40B4-BE49-F238E27FC236}">
                <a16:creationId xmlns:a16="http://schemas.microsoft.com/office/drawing/2014/main" id="{3F112761-7D0C-47F9-B9AA-291A9F32F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1709124"/>
            <a:ext cx="2066925" cy="4972050"/>
          </a:xfrm>
          <a:prstGeom prst="rect">
            <a:avLst/>
          </a:prstGeom>
        </p:spPr>
      </p:pic>
      <p:sp>
        <p:nvSpPr>
          <p:cNvPr id="13" name="CuadroTexto 12">
            <a:extLst>
              <a:ext uri="{FF2B5EF4-FFF2-40B4-BE49-F238E27FC236}">
                <a16:creationId xmlns:a16="http://schemas.microsoft.com/office/drawing/2014/main" id="{D94377BE-8448-451B-971E-F8E6F1652ECB}"/>
              </a:ext>
            </a:extLst>
          </p:cNvPr>
          <p:cNvSpPr txBox="1"/>
          <p:nvPr/>
        </p:nvSpPr>
        <p:spPr>
          <a:xfrm>
            <a:off x="2142924" y="6086543"/>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854889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2</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55285" y="3863883"/>
            <a:ext cx="3928683" cy="400110"/>
          </a:xfrm>
          <a:prstGeom prst="rect">
            <a:avLst/>
          </a:prstGeom>
          <a:noFill/>
        </p:spPr>
        <p:txBody>
          <a:bodyPr wrap="square" rtlCol="0">
            <a:spAutoFit/>
          </a:bodyPr>
          <a:lstStyle/>
          <a:p>
            <a:r>
              <a:rPr lang="es-CO" sz="2000" b="1" dirty="0"/>
              <a:t>Prueba de escritorio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355285" y="1844824"/>
            <a:ext cx="5121063"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num = 1</a:t>
            </a:r>
          </a:p>
          <a:p>
            <a:r>
              <a:rPr lang="es-MX" sz="1200" dirty="0">
                <a:latin typeface="Consolas" panose="020B0609020204030204" pitchFamily="49" charset="0"/>
              </a:rPr>
              <a:t>  suma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(num &lt;= N)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suma = suma + num </a:t>
            </a:r>
          </a:p>
          <a:p>
            <a:r>
              <a:rPr lang="es-MX" sz="1200" dirty="0">
                <a:solidFill>
                  <a:srgbClr val="00B050"/>
                </a:solidFill>
                <a:latin typeface="Consolas" panose="020B0609020204030204" pitchFamily="49" charset="0"/>
              </a:rPr>
              <a:t>     num = num + 1    </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  Escribir(suma)</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6" name="12 Rectángulo">
            <a:extLst>
              <a:ext uri="{FF2B5EF4-FFF2-40B4-BE49-F238E27FC236}">
                <a16:creationId xmlns:a16="http://schemas.microsoft.com/office/drawing/2014/main" id="{A81BD006-0862-4E9E-ABB8-6C85A0DDA55A}"/>
              </a:ext>
            </a:extLst>
          </p:cNvPr>
          <p:cNvSpPr/>
          <p:nvPr/>
        </p:nvSpPr>
        <p:spPr>
          <a:xfrm>
            <a:off x="197748" y="992922"/>
            <a:ext cx="8617880"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pic>
        <p:nvPicPr>
          <p:cNvPr id="8" name="Imagen 7">
            <a:extLst>
              <a:ext uri="{FF2B5EF4-FFF2-40B4-BE49-F238E27FC236}">
                <a16:creationId xmlns:a16="http://schemas.microsoft.com/office/drawing/2014/main" id="{3F112761-7D0C-47F9-B9AA-291A9F32F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1709124"/>
            <a:ext cx="2066925" cy="4972050"/>
          </a:xfrm>
          <a:prstGeom prst="rect">
            <a:avLst/>
          </a:prstGeom>
        </p:spPr>
      </p:pic>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2850590041"/>
              </p:ext>
            </p:extLst>
          </p:nvPr>
        </p:nvGraphicFramePr>
        <p:xfrm>
          <a:off x="611560" y="4591579"/>
          <a:ext cx="2304256" cy="914400"/>
        </p:xfrm>
        <a:graphic>
          <a:graphicData uri="http://schemas.openxmlformats.org/drawingml/2006/table">
            <a:tbl>
              <a:tblPr firstRow="1" bandRow="1">
                <a:tableStyleId>{5940675A-B579-460E-94D1-54222C63F5DA}</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suma</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0</a:t>
                      </a:r>
                    </a:p>
                    <a:p>
                      <a:pPr algn="ctr"/>
                      <a:r>
                        <a:rPr lang="es-CO" sz="1600" b="0" dirty="0">
                          <a:solidFill>
                            <a:schemeClr val="tx1"/>
                          </a:solidFill>
                          <a:latin typeface="+mn-lt"/>
                          <a:cs typeface="Consolas" panose="020B0609020204030204" pitchFamily="49" charset="0"/>
                        </a:rPr>
                        <a:t>4</a:t>
                      </a:r>
                    </a:p>
                  </a:txBody>
                  <a:tcPr/>
                </a:tc>
                <a:tc>
                  <a:txBody>
                    <a:bodyPr/>
                    <a:lstStyle/>
                    <a:p>
                      <a:pPr algn="ctr"/>
                      <a:r>
                        <a:rPr lang="es-CO" sz="1600" b="0" dirty="0">
                          <a:solidFill>
                            <a:schemeClr val="tx1"/>
                          </a:solidFill>
                          <a:latin typeface="+mn-lt"/>
                          <a:cs typeface="Consolas" panose="020B0609020204030204" pitchFamily="49" charset="0"/>
                        </a:rPr>
                        <a:t>0</a:t>
                      </a:r>
                    </a:p>
                    <a:p>
                      <a:pPr algn="ctr"/>
                      <a:r>
                        <a:rPr lang="es-CO" sz="1600" b="0" dirty="0">
                          <a:solidFill>
                            <a:schemeClr val="tx1"/>
                          </a:solidFill>
                          <a:latin typeface="+mn-lt"/>
                          <a:cs typeface="Consolas" panose="020B0609020204030204" pitchFamily="49" charset="0"/>
                        </a:rPr>
                        <a:t>10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3955155142"/>
              </p:ext>
            </p:extLst>
          </p:nvPr>
        </p:nvGraphicFramePr>
        <p:xfrm>
          <a:off x="3473226" y="4263993"/>
          <a:ext cx="2066924" cy="2133600"/>
        </p:xfrm>
        <a:graphic>
          <a:graphicData uri="http://schemas.openxmlformats.org/drawingml/2006/table">
            <a:tbl>
              <a:tblPr firstRow="1" bandRow="1">
                <a:tableStyleId>{5940675A-B579-460E-94D1-54222C63F5DA}</a:tableStyleId>
              </a:tblPr>
              <a:tblGrid>
                <a:gridCol w="503408">
                  <a:extLst>
                    <a:ext uri="{9D8B030D-6E8A-4147-A177-3AD203B41FA5}">
                      <a16:colId xmlns:a16="http://schemas.microsoft.com/office/drawing/2014/main" val="20001"/>
                    </a:ext>
                  </a:extLst>
                </a:gridCol>
                <a:gridCol w="781758">
                  <a:extLst>
                    <a:ext uri="{9D8B030D-6E8A-4147-A177-3AD203B41FA5}">
                      <a16:colId xmlns:a16="http://schemas.microsoft.com/office/drawing/2014/main" val="20003"/>
                    </a:ext>
                  </a:extLst>
                </a:gridCol>
                <a:gridCol w="781758">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suma</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88044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2</a:t>
            </a:r>
            <a:endParaRPr lang="es-CO" dirty="0">
              <a:highlight>
                <a:srgbClr val="FFFF00"/>
              </a:highlight>
            </a:endParaRPr>
          </a:p>
        </p:txBody>
      </p:sp>
      <p:sp>
        <p:nvSpPr>
          <p:cNvPr id="17" name="CuadroTexto 16">
            <a:extLst>
              <a:ext uri="{FF2B5EF4-FFF2-40B4-BE49-F238E27FC236}">
                <a16:creationId xmlns:a16="http://schemas.microsoft.com/office/drawing/2014/main" id="{7A914CF4-F8A8-42CA-85A0-78CC515CC447}"/>
              </a:ext>
            </a:extLst>
          </p:cNvPr>
          <p:cNvSpPr txBox="1"/>
          <p:nvPr/>
        </p:nvSpPr>
        <p:spPr>
          <a:xfrm>
            <a:off x="848891" y="1895335"/>
            <a:ext cx="3372456"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num = 1</a:t>
            </a:r>
          </a:p>
          <a:p>
            <a:r>
              <a:rPr lang="es-MX" sz="1200" dirty="0">
                <a:latin typeface="Consolas" panose="020B0609020204030204" pitchFamily="49" charset="0"/>
              </a:rPr>
              <a:t>  suma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(num &lt;= N)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suma = suma + num </a:t>
            </a:r>
          </a:p>
          <a:p>
            <a:r>
              <a:rPr lang="es-MX" sz="1200" dirty="0">
                <a:solidFill>
                  <a:srgbClr val="00B050"/>
                </a:solidFill>
                <a:latin typeface="Consolas" panose="020B0609020204030204" pitchFamily="49" charset="0"/>
              </a:rPr>
              <a:t>     num = num + 1    </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  Escribir(suma)</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6" name="12 Rectángulo">
            <a:extLst>
              <a:ext uri="{FF2B5EF4-FFF2-40B4-BE49-F238E27FC236}">
                <a16:creationId xmlns:a16="http://schemas.microsoft.com/office/drawing/2014/main" id="{A81BD006-0862-4E9E-ABB8-6C85A0DDA55A}"/>
              </a:ext>
            </a:extLst>
          </p:cNvPr>
          <p:cNvSpPr/>
          <p:nvPr/>
        </p:nvSpPr>
        <p:spPr>
          <a:xfrm>
            <a:off x="197748" y="992922"/>
            <a:ext cx="8617880"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1422450305"/>
              </p:ext>
            </p:extLst>
          </p:nvPr>
        </p:nvGraphicFramePr>
        <p:xfrm>
          <a:off x="879634" y="4845371"/>
          <a:ext cx="1535554" cy="727709"/>
        </p:xfrm>
        <a:graphic>
          <a:graphicData uri="http://schemas.openxmlformats.org/drawingml/2006/table">
            <a:tbl>
              <a:tblPr firstRow="1" bandRow="1">
                <a:tableStyleId>{5940675A-B579-460E-94D1-54222C63F5DA}</a:tableStyleId>
              </a:tblPr>
              <a:tblGrid>
                <a:gridCol w="767777">
                  <a:extLst>
                    <a:ext uri="{9D8B030D-6E8A-4147-A177-3AD203B41FA5}">
                      <a16:colId xmlns:a16="http://schemas.microsoft.com/office/drawing/2014/main" val="20000"/>
                    </a:ext>
                  </a:extLst>
                </a:gridCol>
                <a:gridCol w="767777">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suma</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4</a:t>
                      </a:r>
                    </a:p>
                  </a:txBody>
                  <a:tcPr/>
                </a:tc>
                <a:tc>
                  <a:txBody>
                    <a:bodyPr/>
                    <a:lstStyle/>
                    <a:p>
                      <a:pPr algn="ctr"/>
                      <a:r>
                        <a:rPr lang="es-CO" sz="1600" b="0" dirty="0">
                          <a:solidFill>
                            <a:schemeClr val="tx1"/>
                          </a:solidFill>
                          <a:latin typeface="+mn-lt"/>
                          <a:cs typeface="Consolas" panose="020B0609020204030204" pitchFamily="49" charset="0"/>
                        </a:rPr>
                        <a:t>10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3229338853"/>
              </p:ext>
            </p:extLst>
          </p:nvPr>
        </p:nvGraphicFramePr>
        <p:xfrm>
          <a:off x="3314783" y="4437112"/>
          <a:ext cx="2570981" cy="1889760"/>
        </p:xfrm>
        <a:graphic>
          <a:graphicData uri="http://schemas.openxmlformats.org/drawingml/2006/table">
            <a:tbl>
              <a:tblPr firstRow="1" bandRow="1">
                <a:tableStyleId>{5940675A-B579-460E-94D1-54222C63F5DA}</a:tableStyleId>
              </a:tblPr>
              <a:tblGrid>
                <a:gridCol w="626173">
                  <a:extLst>
                    <a:ext uri="{9D8B030D-6E8A-4147-A177-3AD203B41FA5}">
                      <a16:colId xmlns:a16="http://schemas.microsoft.com/office/drawing/2014/main" val="20001"/>
                    </a:ext>
                  </a:extLst>
                </a:gridCol>
                <a:gridCol w="972404">
                  <a:extLst>
                    <a:ext uri="{9D8B030D-6E8A-4147-A177-3AD203B41FA5}">
                      <a16:colId xmlns:a16="http://schemas.microsoft.com/office/drawing/2014/main" val="20003"/>
                    </a:ext>
                  </a:extLst>
                </a:gridCol>
                <a:gridCol w="972404">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suma</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r>
                        <a:rPr lang="es-MX" sz="1600" strike="sngStrike" dirty="0">
                          <a:solidFill>
                            <a:srgbClr val="FF0000"/>
                          </a:solidFill>
                          <a:latin typeface="Consolas" panose="020B0609020204030204" pitchFamily="49" charset="0"/>
                        </a:rPr>
                        <a:t>?</a:t>
                      </a:r>
                    </a:p>
                    <a:p>
                      <a:pPr algn="ctr"/>
                      <a:r>
                        <a:rPr lang="es-MX" sz="1600" dirty="0">
                          <a:highlight>
                            <a:srgbClr val="FFFF00"/>
                          </a:highlight>
                          <a:latin typeface="Consolas" panose="020B0609020204030204" pitchFamily="49" charset="0"/>
                        </a:rPr>
                        <a:t>4</a:t>
                      </a: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2</a:t>
                      </a:r>
                    </a:p>
                    <a:p>
                      <a:pPr algn="ctr"/>
                      <a:r>
                        <a:rPr lang="es-MX" sz="1600" strike="sngStrike" dirty="0">
                          <a:solidFill>
                            <a:srgbClr val="FF0000"/>
                          </a:solidFill>
                          <a:latin typeface="Consolas" panose="020B0609020204030204" pitchFamily="49" charset="0"/>
                        </a:rPr>
                        <a:t>3</a:t>
                      </a:r>
                    </a:p>
                    <a:p>
                      <a:pPr algn="ctr"/>
                      <a:r>
                        <a:rPr lang="es-MX" sz="1600" strike="sngStrike" dirty="0">
                          <a:solidFill>
                            <a:srgbClr val="FF0000"/>
                          </a:solidFill>
                          <a:latin typeface="Consolas" panose="020B0609020204030204" pitchFamily="49" charset="0"/>
                        </a:rPr>
                        <a:t>4</a:t>
                      </a:r>
                    </a:p>
                    <a:p>
                      <a:pPr algn="ctr"/>
                      <a:r>
                        <a:rPr lang="es-MX" sz="1600" dirty="0">
                          <a:highlight>
                            <a:srgbClr val="FFFF00"/>
                          </a:highlight>
                          <a:latin typeface="Consolas" panose="020B0609020204030204" pitchFamily="49" charset="0"/>
                        </a:rPr>
                        <a:t>5</a:t>
                      </a: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0</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3</a:t>
                      </a:r>
                    </a:p>
                    <a:p>
                      <a:pPr algn="ctr"/>
                      <a:r>
                        <a:rPr lang="es-MX" sz="1600" strike="sngStrike" dirty="0">
                          <a:solidFill>
                            <a:srgbClr val="FF0000"/>
                          </a:solidFill>
                          <a:latin typeface="Consolas" panose="020B0609020204030204" pitchFamily="49" charset="0"/>
                        </a:rPr>
                        <a:t>6</a:t>
                      </a:r>
                    </a:p>
                    <a:p>
                      <a:pPr algn="ctr"/>
                      <a:r>
                        <a:rPr lang="es-MX" sz="1600" dirty="0">
                          <a:highlight>
                            <a:srgbClr val="FFFF00"/>
                          </a:highlight>
                          <a:latin typeface="Consolas" panose="020B0609020204030204" pitchFamily="49" charset="0"/>
                        </a:rPr>
                        <a:t>10</a:t>
                      </a:r>
                      <a:endParaRPr lang="es-CO" sz="1600" dirty="0">
                        <a:highlight>
                          <a:srgbClr val="FFFF00"/>
                        </a:highlight>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cxnSp>
        <p:nvCxnSpPr>
          <p:cNvPr id="9" name="Conector recto de flecha 8">
            <a:extLst>
              <a:ext uri="{FF2B5EF4-FFF2-40B4-BE49-F238E27FC236}">
                <a16:creationId xmlns:a16="http://schemas.microsoft.com/office/drawing/2014/main" id="{2DA8ECEE-6E05-4652-9D7F-84B8B8A9161D}"/>
              </a:ext>
            </a:extLst>
          </p:cNvPr>
          <p:cNvCxnSpPr>
            <a:cxnSpLocks/>
          </p:cNvCxnSpPr>
          <p:nvPr/>
        </p:nvCxnSpPr>
        <p:spPr>
          <a:xfrm flipH="1">
            <a:off x="3683232" y="5072112"/>
            <a:ext cx="166711" cy="13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5F2148A5-F76C-47E0-A68B-05461CDC435B}"/>
              </a:ext>
            </a:extLst>
          </p:cNvPr>
          <p:cNvCxnSpPr>
            <a:cxnSpLocks/>
          </p:cNvCxnSpPr>
          <p:nvPr/>
        </p:nvCxnSpPr>
        <p:spPr>
          <a:xfrm flipV="1">
            <a:off x="5526343" y="6040315"/>
            <a:ext cx="172639" cy="1239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Imagen 13">
            <a:extLst>
              <a:ext uri="{FF2B5EF4-FFF2-40B4-BE49-F238E27FC236}">
                <a16:creationId xmlns:a16="http://schemas.microsoft.com/office/drawing/2014/main" id="{1FEF512E-1FFF-4728-BE48-BEE1214BE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1709124"/>
            <a:ext cx="2066925" cy="4972050"/>
          </a:xfrm>
          <a:prstGeom prst="rect">
            <a:avLst/>
          </a:prstGeom>
        </p:spPr>
      </p:pic>
      <p:sp>
        <p:nvSpPr>
          <p:cNvPr id="15" name="CuadroTexto 14">
            <a:extLst>
              <a:ext uri="{FF2B5EF4-FFF2-40B4-BE49-F238E27FC236}">
                <a16:creationId xmlns:a16="http://schemas.microsoft.com/office/drawing/2014/main" id="{C3CE6CDB-CE77-4EC4-964F-FED7381E74E2}"/>
              </a:ext>
            </a:extLst>
          </p:cNvPr>
          <p:cNvSpPr txBox="1"/>
          <p:nvPr/>
        </p:nvSpPr>
        <p:spPr>
          <a:xfrm>
            <a:off x="292664" y="3993040"/>
            <a:ext cx="3928683" cy="400110"/>
          </a:xfrm>
          <a:prstGeom prst="rect">
            <a:avLst/>
          </a:prstGeom>
          <a:noFill/>
        </p:spPr>
        <p:txBody>
          <a:bodyPr wrap="square" rtlCol="0">
            <a:spAutoFit/>
          </a:bodyPr>
          <a:lstStyle/>
          <a:p>
            <a:r>
              <a:rPr lang="es-CO" sz="2000" b="1" dirty="0"/>
              <a:t>Prueba de escritorio (solución)</a:t>
            </a:r>
          </a:p>
        </p:txBody>
      </p:sp>
    </p:spTree>
    <p:extLst>
      <p:ext uri="{BB962C8B-B14F-4D97-AF65-F5344CB8AC3E}">
        <p14:creationId xmlns:p14="http://schemas.microsoft.com/office/powerpoint/2010/main" val="3909609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555560" cy="710952"/>
          </a:xfrm>
        </p:spPr>
        <p:txBody>
          <a:bodyPr>
            <a:normAutofit/>
          </a:bodyPr>
          <a:lstStyle/>
          <a:p>
            <a:r>
              <a:rPr lang="es-CO" dirty="0"/>
              <a:t>Tipos de variables útiles en ciclos</a:t>
            </a:r>
          </a:p>
        </p:txBody>
      </p:sp>
      <p:sp>
        <p:nvSpPr>
          <p:cNvPr id="8" name="12 Rectángulo">
            <a:extLst>
              <a:ext uri="{FF2B5EF4-FFF2-40B4-BE49-F238E27FC236}">
                <a16:creationId xmlns:a16="http://schemas.microsoft.com/office/drawing/2014/main" id="{82A57857-FAA4-45DF-92AE-9DFBCBE367B3}"/>
              </a:ext>
            </a:extLst>
          </p:cNvPr>
          <p:cNvSpPr/>
          <p:nvPr/>
        </p:nvSpPr>
        <p:spPr>
          <a:xfrm>
            <a:off x="263060" y="971600"/>
            <a:ext cx="8617880" cy="5632311"/>
          </a:xfrm>
          <a:prstGeom prst="rect">
            <a:avLst/>
          </a:prstGeom>
        </p:spPr>
        <p:txBody>
          <a:bodyPr wrap="square">
            <a:spAutoFit/>
          </a:bodyPr>
          <a:lstStyle/>
          <a:p>
            <a:r>
              <a:rPr lang="es-MX" sz="2000" dirty="0"/>
              <a:t>Todo ciclo suele apoyarse en algunos tipos de variables que cumplen roles específicos:</a:t>
            </a:r>
          </a:p>
          <a:p>
            <a:pPr marL="342900" indent="-342900">
              <a:buFont typeface="Arial" panose="020B0604020202020204" pitchFamily="34" charset="0"/>
              <a:buChar char="•"/>
            </a:pPr>
            <a:r>
              <a:rPr lang="es-MX" sz="2000" b="1" dirty="0">
                <a:solidFill>
                  <a:schemeClr val="accent5"/>
                </a:solidFill>
              </a:rPr>
              <a:t>Variable de control</a:t>
            </a:r>
          </a:p>
          <a:p>
            <a:pPr marL="342900" indent="-342900">
              <a:buFont typeface="Arial" panose="020B0604020202020204" pitchFamily="34" charset="0"/>
              <a:buChar char="•"/>
            </a:pPr>
            <a:endParaRPr lang="es-MX" sz="2000" b="1" dirty="0">
              <a:solidFill>
                <a:srgbClr val="0070C0"/>
              </a:solidFill>
            </a:endParaRPr>
          </a:p>
          <a:p>
            <a:pPr marL="342900" indent="-342900">
              <a:buFont typeface="Arial" panose="020B0604020202020204" pitchFamily="34" charset="0"/>
              <a:buChar char="•"/>
            </a:pPr>
            <a:endParaRPr lang="es-MX" sz="2000" b="1" dirty="0">
              <a:solidFill>
                <a:srgbClr val="0070C0"/>
              </a:solidFill>
            </a:endParaRPr>
          </a:p>
          <a:p>
            <a:pPr marL="342900" indent="-342900">
              <a:buFont typeface="Arial" panose="020B0604020202020204" pitchFamily="34" charset="0"/>
              <a:buChar char="•"/>
            </a:pPr>
            <a:endParaRPr lang="es-MX" sz="2000" b="1" dirty="0">
              <a:solidFill>
                <a:srgbClr val="0070C0"/>
              </a:solidFill>
            </a:endParaRPr>
          </a:p>
          <a:p>
            <a:pPr marL="342900" indent="-342900">
              <a:buFont typeface="Arial" panose="020B0604020202020204" pitchFamily="34" charset="0"/>
              <a:buChar char="•"/>
            </a:pPr>
            <a:r>
              <a:rPr lang="es-MX" sz="2000" b="1" dirty="0">
                <a:solidFill>
                  <a:srgbClr val="0070C0"/>
                </a:solidFill>
              </a:rPr>
              <a:t>Contador</a:t>
            </a:r>
          </a:p>
          <a:p>
            <a:pPr marL="342900" indent="-342900">
              <a:buFont typeface="Arial" panose="020B0604020202020204" pitchFamily="34" charset="0"/>
              <a:buChar char="•"/>
            </a:pPr>
            <a:endParaRPr lang="es-MX" sz="2000" b="1" dirty="0">
              <a:solidFill>
                <a:srgbClr val="0070C0"/>
              </a:solidFill>
            </a:endParaRP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r>
              <a:rPr lang="es-MX" sz="2000" b="1" dirty="0">
                <a:solidFill>
                  <a:srgbClr val="00B050"/>
                </a:solidFill>
              </a:rPr>
              <a:t>Acumulador</a:t>
            </a: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endParaRPr lang="es-MX" sz="2000" b="1" dirty="0">
              <a:solidFill>
                <a:srgbClr val="00B050"/>
              </a:solidFill>
            </a:endParaRPr>
          </a:p>
          <a:p>
            <a:pPr marL="342900" indent="-342900">
              <a:buFont typeface="Arial" panose="020B0604020202020204" pitchFamily="34" charset="0"/>
              <a:buChar char="•"/>
            </a:pPr>
            <a:r>
              <a:rPr lang="es-MX" sz="2000" b="1" dirty="0"/>
              <a:t>Bandera</a:t>
            </a:r>
          </a:p>
          <a:p>
            <a:pPr marL="342900" indent="-342900">
              <a:buFont typeface="Arial" panose="020B0604020202020204" pitchFamily="34" charset="0"/>
              <a:buChar char="•"/>
            </a:pPr>
            <a:r>
              <a:rPr lang="es-MX" sz="2000" b="1" dirty="0"/>
              <a:t>Centinela</a:t>
            </a:r>
            <a:endParaRPr lang="es-CO" sz="2000" b="1" dirty="0"/>
          </a:p>
        </p:txBody>
      </p:sp>
      <p:grpSp>
        <p:nvGrpSpPr>
          <p:cNvPr id="40" name="Grupo 39">
            <a:extLst>
              <a:ext uri="{FF2B5EF4-FFF2-40B4-BE49-F238E27FC236}">
                <a16:creationId xmlns:a16="http://schemas.microsoft.com/office/drawing/2014/main" id="{38F090CD-9136-4E66-8615-99A9B89EB8F2}"/>
              </a:ext>
            </a:extLst>
          </p:cNvPr>
          <p:cNvGrpSpPr/>
          <p:nvPr/>
        </p:nvGrpSpPr>
        <p:grpSpPr>
          <a:xfrm>
            <a:off x="4788732" y="1620052"/>
            <a:ext cx="3743708" cy="4473244"/>
            <a:chOff x="4232092" y="1675121"/>
            <a:chExt cx="3743708" cy="4473244"/>
          </a:xfrm>
        </p:grpSpPr>
        <p:pic>
          <p:nvPicPr>
            <p:cNvPr id="4" name="Imagen 3">
              <a:extLst>
                <a:ext uri="{FF2B5EF4-FFF2-40B4-BE49-F238E27FC236}">
                  <a16:creationId xmlns:a16="http://schemas.microsoft.com/office/drawing/2014/main" id="{180D226A-9933-458F-9EB6-FF1B1DFDC2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6176" y="1675121"/>
              <a:ext cx="1819624" cy="4473244"/>
            </a:xfrm>
            <a:prstGeom prst="rect">
              <a:avLst/>
            </a:prstGeom>
          </p:spPr>
        </p:pic>
        <p:sp>
          <p:nvSpPr>
            <p:cNvPr id="11" name="CuadroTexto 10">
              <a:extLst>
                <a:ext uri="{FF2B5EF4-FFF2-40B4-BE49-F238E27FC236}">
                  <a16:creationId xmlns:a16="http://schemas.microsoft.com/office/drawing/2014/main" id="{7C589D2E-4D60-4432-A1A9-57B2D9D4E8D8}"/>
                </a:ext>
              </a:extLst>
            </p:cNvPr>
            <p:cNvSpPr txBox="1"/>
            <p:nvPr/>
          </p:nvSpPr>
          <p:spPr>
            <a:xfrm>
              <a:off x="4924740" y="4595415"/>
              <a:ext cx="986071" cy="307777"/>
            </a:xfrm>
            <a:prstGeom prst="rect">
              <a:avLst/>
            </a:prstGeom>
            <a:noFill/>
          </p:spPr>
          <p:txBody>
            <a:bodyPr wrap="square" rtlCol="0">
              <a:spAutoFit/>
            </a:bodyPr>
            <a:lstStyle/>
            <a:p>
              <a:pPr algn="r"/>
              <a:r>
                <a:rPr lang="es-CO" sz="1400" b="1" dirty="0">
                  <a:solidFill>
                    <a:srgbClr val="0070C0"/>
                  </a:solidFill>
                </a:rPr>
                <a:t>Contador</a:t>
              </a:r>
            </a:p>
          </p:txBody>
        </p:sp>
        <p:cxnSp>
          <p:nvCxnSpPr>
            <p:cNvPr id="13" name="Conector recto de flecha 12">
              <a:extLst>
                <a:ext uri="{FF2B5EF4-FFF2-40B4-BE49-F238E27FC236}">
                  <a16:creationId xmlns:a16="http://schemas.microsoft.com/office/drawing/2014/main" id="{1BEE7DCD-865C-4C63-B13B-C2018522787E}"/>
                </a:ext>
              </a:extLst>
            </p:cNvPr>
            <p:cNvCxnSpPr>
              <a:cxnSpLocks/>
              <a:stCxn id="11" idx="3"/>
              <a:endCxn id="17" idx="1"/>
            </p:cNvCxnSpPr>
            <p:nvPr/>
          </p:nvCxnSpPr>
          <p:spPr>
            <a:xfrm flipV="1">
              <a:off x="5910811" y="4748213"/>
              <a:ext cx="801139" cy="109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506CC0AF-E617-4CB4-8E77-8E007FD152CF}"/>
                </a:ext>
              </a:extLst>
            </p:cNvPr>
            <p:cNvSpPr txBox="1"/>
            <p:nvPr/>
          </p:nvSpPr>
          <p:spPr>
            <a:xfrm>
              <a:off x="4355976" y="3232635"/>
              <a:ext cx="1593513" cy="307777"/>
            </a:xfrm>
            <a:prstGeom prst="rect">
              <a:avLst/>
            </a:prstGeom>
            <a:noFill/>
          </p:spPr>
          <p:txBody>
            <a:bodyPr wrap="none" rtlCol="0">
              <a:spAutoFit/>
            </a:bodyPr>
            <a:lstStyle/>
            <a:p>
              <a:pPr algn="r"/>
              <a:r>
                <a:rPr lang="es-CO" sz="1400" b="1" dirty="0">
                  <a:solidFill>
                    <a:schemeClr val="accent5"/>
                  </a:solidFill>
                </a:rPr>
                <a:t>Variable de control</a:t>
              </a:r>
            </a:p>
          </p:txBody>
        </p:sp>
        <p:sp>
          <p:nvSpPr>
            <p:cNvPr id="15" name="CuadroTexto 14">
              <a:extLst>
                <a:ext uri="{FF2B5EF4-FFF2-40B4-BE49-F238E27FC236}">
                  <a16:creationId xmlns:a16="http://schemas.microsoft.com/office/drawing/2014/main" id="{FD8F46E0-9183-434F-87AF-2DAF9F38A6A1}"/>
                </a:ext>
              </a:extLst>
            </p:cNvPr>
            <p:cNvSpPr txBox="1"/>
            <p:nvPr/>
          </p:nvSpPr>
          <p:spPr>
            <a:xfrm>
              <a:off x="4814036" y="4094925"/>
              <a:ext cx="1096775" cy="307777"/>
            </a:xfrm>
            <a:prstGeom prst="rect">
              <a:avLst/>
            </a:prstGeom>
            <a:noFill/>
          </p:spPr>
          <p:txBody>
            <a:bodyPr wrap="none" rtlCol="0">
              <a:spAutoFit/>
            </a:bodyPr>
            <a:lstStyle/>
            <a:p>
              <a:pPr algn="r"/>
              <a:r>
                <a:rPr lang="es-CO" sz="1400" b="1" dirty="0">
                  <a:solidFill>
                    <a:srgbClr val="00B050"/>
                  </a:solidFill>
                </a:rPr>
                <a:t>Acumulador</a:t>
              </a:r>
            </a:p>
          </p:txBody>
        </p:sp>
        <p:sp>
          <p:nvSpPr>
            <p:cNvPr id="17" name="Rectángulo: esquinas redondeadas 16">
              <a:extLst>
                <a:ext uri="{FF2B5EF4-FFF2-40B4-BE49-F238E27FC236}">
                  <a16:creationId xmlns:a16="http://schemas.microsoft.com/office/drawing/2014/main" id="{CD357FAD-D6D2-410F-B59A-1795C6FDA7F3}"/>
                </a:ext>
              </a:extLst>
            </p:cNvPr>
            <p:cNvSpPr/>
            <p:nvPr/>
          </p:nvSpPr>
          <p:spPr>
            <a:xfrm>
              <a:off x="6711950" y="4669631"/>
              <a:ext cx="698501" cy="157163"/>
            </a:xfrm>
            <a:prstGeom prst="roundRect">
              <a:avLst>
                <a:gd name="adj" fmla="val 31818"/>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esquinas redondeadas 18">
              <a:extLst>
                <a:ext uri="{FF2B5EF4-FFF2-40B4-BE49-F238E27FC236}">
                  <a16:creationId xmlns:a16="http://schemas.microsoft.com/office/drawing/2014/main" id="{DAA2C668-53DC-4364-A0B1-D8C531393F8C}"/>
                </a:ext>
              </a:extLst>
            </p:cNvPr>
            <p:cNvSpPr/>
            <p:nvPr/>
          </p:nvSpPr>
          <p:spPr>
            <a:xfrm>
              <a:off x="6577013" y="4170232"/>
              <a:ext cx="971549" cy="157163"/>
            </a:xfrm>
            <a:prstGeom prst="roundRect">
              <a:avLst>
                <a:gd name="adj" fmla="val 31818"/>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0" name="Conector recto de flecha 19">
              <a:extLst>
                <a:ext uri="{FF2B5EF4-FFF2-40B4-BE49-F238E27FC236}">
                  <a16:creationId xmlns:a16="http://schemas.microsoft.com/office/drawing/2014/main" id="{765CD3D6-0EB0-4950-9D21-6269795CBC03}"/>
                </a:ext>
              </a:extLst>
            </p:cNvPr>
            <p:cNvCxnSpPr>
              <a:cxnSpLocks/>
              <a:stCxn id="15" idx="3"/>
              <a:endCxn id="19" idx="1"/>
            </p:cNvCxnSpPr>
            <p:nvPr/>
          </p:nvCxnSpPr>
          <p:spPr>
            <a:xfrm>
              <a:off x="5910811" y="4248814"/>
              <a:ext cx="666202"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Rectángulo: esquinas redondeadas 24">
              <a:extLst>
                <a:ext uri="{FF2B5EF4-FFF2-40B4-BE49-F238E27FC236}">
                  <a16:creationId xmlns:a16="http://schemas.microsoft.com/office/drawing/2014/main" id="{D33C7EAD-3D11-4023-B55E-E7DEB1A7C916}"/>
                </a:ext>
              </a:extLst>
            </p:cNvPr>
            <p:cNvSpPr/>
            <p:nvPr/>
          </p:nvSpPr>
          <p:spPr>
            <a:xfrm>
              <a:off x="6778141" y="3526146"/>
              <a:ext cx="565634" cy="174317"/>
            </a:xfrm>
            <a:prstGeom prst="roundRect">
              <a:avLst>
                <a:gd name="adj" fmla="val 5000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6" name="Conector recto de flecha 25">
              <a:extLst>
                <a:ext uri="{FF2B5EF4-FFF2-40B4-BE49-F238E27FC236}">
                  <a16:creationId xmlns:a16="http://schemas.microsoft.com/office/drawing/2014/main" id="{3B271A10-6BA6-4521-98E4-0600EA564659}"/>
                </a:ext>
              </a:extLst>
            </p:cNvPr>
            <p:cNvCxnSpPr>
              <a:cxnSpLocks/>
              <a:stCxn id="14" idx="3"/>
              <a:endCxn id="25" idx="1"/>
            </p:cNvCxnSpPr>
            <p:nvPr/>
          </p:nvCxnSpPr>
          <p:spPr>
            <a:xfrm>
              <a:off x="5949489" y="3386524"/>
              <a:ext cx="828652" cy="22678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96796358-AC6D-4103-9773-B1D6945E409C}"/>
                </a:ext>
              </a:extLst>
            </p:cNvPr>
            <p:cNvSpPr txBox="1"/>
            <p:nvPr/>
          </p:nvSpPr>
          <p:spPr>
            <a:xfrm>
              <a:off x="4232092" y="1941095"/>
              <a:ext cx="2079288" cy="307777"/>
            </a:xfrm>
            <a:prstGeom prst="rect">
              <a:avLst/>
            </a:prstGeom>
            <a:noFill/>
          </p:spPr>
          <p:txBody>
            <a:bodyPr wrap="none" rtlCol="0">
              <a:spAutoFit/>
            </a:bodyPr>
            <a:lstStyle/>
            <a:p>
              <a:pPr algn="r"/>
              <a:r>
                <a:rPr lang="es-CO" sz="1400" b="1" dirty="0">
                  <a:solidFill>
                    <a:schemeClr val="accent6"/>
                  </a:solidFill>
                </a:rPr>
                <a:t>Inicialización de variables</a:t>
              </a:r>
            </a:p>
          </p:txBody>
        </p:sp>
        <p:sp>
          <p:nvSpPr>
            <p:cNvPr id="34" name="Rectángulo: esquinas redondeadas 33">
              <a:extLst>
                <a:ext uri="{FF2B5EF4-FFF2-40B4-BE49-F238E27FC236}">
                  <a16:creationId xmlns:a16="http://schemas.microsoft.com/office/drawing/2014/main" id="{F6B9C72B-D77A-41B8-BAE1-0A0F0BF744ED}"/>
                </a:ext>
              </a:extLst>
            </p:cNvPr>
            <p:cNvSpPr/>
            <p:nvPr/>
          </p:nvSpPr>
          <p:spPr>
            <a:xfrm>
              <a:off x="6548438" y="2157413"/>
              <a:ext cx="1014412" cy="521894"/>
            </a:xfrm>
            <a:prstGeom prst="roundRect">
              <a:avLst>
                <a:gd name="adj" fmla="val 23967"/>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5" name="Conector recto de flecha 34">
              <a:extLst>
                <a:ext uri="{FF2B5EF4-FFF2-40B4-BE49-F238E27FC236}">
                  <a16:creationId xmlns:a16="http://schemas.microsoft.com/office/drawing/2014/main" id="{AA2F2260-FA0B-4A9F-8B0D-2DB7D1F355B1}"/>
                </a:ext>
              </a:extLst>
            </p:cNvPr>
            <p:cNvCxnSpPr>
              <a:cxnSpLocks/>
              <a:stCxn id="33" idx="3"/>
            </p:cNvCxnSpPr>
            <p:nvPr/>
          </p:nvCxnSpPr>
          <p:spPr>
            <a:xfrm>
              <a:off x="6311380" y="2094984"/>
              <a:ext cx="237058" cy="325904"/>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pic>
        <p:nvPicPr>
          <p:cNvPr id="43" name="Imagen 42">
            <a:extLst>
              <a:ext uri="{FF2B5EF4-FFF2-40B4-BE49-F238E27FC236}">
                <a16:creationId xmlns:a16="http://schemas.microsoft.com/office/drawing/2014/main" id="{A16BE9D5-5161-4BF1-9AF4-A90CD9AD6B30}"/>
              </a:ext>
            </a:extLst>
          </p:cNvPr>
          <p:cNvPicPr>
            <a:picLocks noChangeAspect="1"/>
          </p:cNvPicPr>
          <p:nvPr/>
        </p:nvPicPr>
        <p:blipFill>
          <a:blip r:embed="rId3"/>
          <a:stretch>
            <a:fillRect/>
          </a:stretch>
        </p:blipFill>
        <p:spPr>
          <a:xfrm>
            <a:off x="1718505" y="3429000"/>
            <a:ext cx="785662" cy="641881"/>
          </a:xfrm>
          <a:prstGeom prst="rect">
            <a:avLst/>
          </a:prstGeom>
        </p:spPr>
      </p:pic>
      <p:pic>
        <p:nvPicPr>
          <p:cNvPr id="47" name="Imagen 46">
            <a:extLst>
              <a:ext uri="{FF2B5EF4-FFF2-40B4-BE49-F238E27FC236}">
                <a16:creationId xmlns:a16="http://schemas.microsoft.com/office/drawing/2014/main" id="{19455900-C0CB-43F6-8342-8F6F035374E9}"/>
              </a:ext>
            </a:extLst>
          </p:cNvPr>
          <p:cNvPicPr>
            <a:picLocks noChangeAspect="1"/>
          </p:cNvPicPr>
          <p:nvPr/>
        </p:nvPicPr>
        <p:blipFill>
          <a:blip r:embed="rId4"/>
          <a:stretch>
            <a:fillRect/>
          </a:stretch>
        </p:blipFill>
        <p:spPr>
          <a:xfrm>
            <a:off x="1738201" y="4848123"/>
            <a:ext cx="901704" cy="922755"/>
          </a:xfrm>
          <a:prstGeom prst="rect">
            <a:avLst/>
          </a:prstGeom>
        </p:spPr>
      </p:pic>
      <p:pic>
        <p:nvPicPr>
          <p:cNvPr id="3078" name="Picture 6" descr="Gas Pump Icon Images – Browse 122,614 Stock Photos, Vectors, and Video |  Adobe Stock">
            <a:extLst>
              <a:ext uri="{FF2B5EF4-FFF2-40B4-BE49-F238E27FC236}">
                <a16:creationId xmlns:a16="http://schemas.microsoft.com/office/drawing/2014/main" id="{AAD5528F-5902-458D-93E4-25D15F73F35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0880" y="4900330"/>
            <a:ext cx="986070" cy="986070"/>
          </a:xfrm>
          <a:prstGeom prst="rect">
            <a:avLst/>
          </a:prstGeom>
          <a:noFill/>
          <a:extLst>
            <a:ext uri="{909E8E84-426E-40DD-AFC4-6F175D3DCCD1}">
              <a14:hiddenFill xmlns:a14="http://schemas.microsoft.com/office/drawing/2010/main">
                <a:solidFill>
                  <a:srgbClr val="FFFFFF"/>
                </a:solidFill>
              </a14:hiddenFill>
            </a:ext>
          </a:extLst>
        </p:spPr>
      </p:pic>
      <p:pic>
        <p:nvPicPr>
          <p:cNvPr id="49" name="Imagen 48">
            <a:extLst>
              <a:ext uri="{FF2B5EF4-FFF2-40B4-BE49-F238E27FC236}">
                <a16:creationId xmlns:a16="http://schemas.microsoft.com/office/drawing/2014/main" id="{75CD19A5-62CF-4C65-BC86-62BC8B92F154}"/>
              </a:ext>
            </a:extLst>
          </p:cNvPr>
          <p:cNvPicPr>
            <a:picLocks noChangeAspect="1"/>
          </p:cNvPicPr>
          <p:nvPr/>
        </p:nvPicPr>
        <p:blipFill>
          <a:blip r:embed="rId6"/>
          <a:stretch>
            <a:fillRect/>
          </a:stretch>
        </p:blipFill>
        <p:spPr>
          <a:xfrm>
            <a:off x="2864611" y="3276480"/>
            <a:ext cx="918608" cy="906339"/>
          </a:xfrm>
          <a:prstGeom prst="rect">
            <a:avLst/>
          </a:prstGeom>
        </p:spPr>
      </p:pic>
      <p:pic>
        <p:nvPicPr>
          <p:cNvPr id="3082" name="Picture 10" descr="Electric Flow Control Icons - Free SVG &amp; PNG Electric Flow Control ...">
            <a:extLst>
              <a:ext uri="{FF2B5EF4-FFF2-40B4-BE49-F238E27FC236}">
                <a16:creationId xmlns:a16="http://schemas.microsoft.com/office/drawing/2014/main" id="{DCF31117-BC3F-4CAF-AFD1-5B99B74299D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78981" y="2012353"/>
            <a:ext cx="698206" cy="698206"/>
          </a:xfrm>
          <a:prstGeom prst="rect">
            <a:avLst/>
          </a:prstGeom>
          <a:noFill/>
          <a:extLst>
            <a:ext uri="{909E8E84-426E-40DD-AFC4-6F175D3DCCD1}">
              <a14:hiddenFill xmlns:a14="http://schemas.microsoft.com/office/drawing/2010/main">
                <a:solidFill>
                  <a:srgbClr val="FFFFFF"/>
                </a:solidFill>
              </a14:hiddenFill>
            </a:ext>
          </a:extLst>
        </p:spPr>
      </p:pic>
      <p:pic>
        <p:nvPicPr>
          <p:cNvPr id="51" name="Imagen 50">
            <a:extLst>
              <a:ext uri="{FF2B5EF4-FFF2-40B4-BE49-F238E27FC236}">
                <a16:creationId xmlns:a16="http://schemas.microsoft.com/office/drawing/2014/main" id="{1997FA56-D9DE-443B-9921-F267F7409908}"/>
              </a:ext>
            </a:extLst>
          </p:cNvPr>
          <p:cNvPicPr>
            <a:picLocks noChangeAspect="1"/>
          </p:cNvPicPr>
          <p:nvPr/>
        </p:nvPicPr>
        <p:blipFill>
          <a:blip r:embed="rId8"/>
          <a:stretch>
            <a:fillRect/>
          </a:stretch>
        </p:blipFill>
        <p:spPr>
          <a:xfrm>
            <a:off x="2961359" y="1979319"/>
            <a:ext cx="786769" cy="786769"/>
          </a:xfrm>
          <a:prstGeom prst="rect">
            <a:avLst/>
          </a:prstGeom>
        </p:spPr>
      </p:pic>
    </p:spTree>
    <p:extLst>
      <p:ext uri="{BB962C8B-B14F-4D97-AF65-F5344CB8AC3E}">
        <p14:creationId xmlns:p14="http://schemas.microsoft.com/office/powerpoint/2010/main" val="567684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555560" cy="710952"/>
          </a:xfrm>
        </p:spPr>
        <p:txBody>
          <a:bodyPr>
            <a:normAutofit/>
          </a:bodyPr>
          <a:lstStyle/>
          <a:p>
            <a:r>
              <a:rPr lang="es-CO" dirty="0"/>
              <a:t>Variable de control</a:t>
            </a:r>
          </a:p>
        </p:txBody>
      </p:sp>
      <p:sp>
        <p:nvSpPr>
          <p:cNvPr id="8" name="12 Rectángulo">
            <a:extLst>
              <a:ext uri="{FF2B5EF4-FFF2-40B4-BE49-F238E27FC236}">
                <a16:creationId xmlns:a16="http://schemas.microsoft.com/office/drawing/2014/main" id="{82A57857-FAA4-45DF-92AE-9DFBCBE367B3}"/>
              </a:ext>
            </a:extLst>
          </p:cNvPr>
          <p:cNvSpPr/>
          <p:nvPr/>
        </p:nvSpPr>
        <p:spPr>
          <a:xfrm>
            <a:off x="159074" y="1014286"/>
            <a:ext cx="8820512" cy="5632311"/>
          </a:xfrm>
          <a:prstGeom prst="rect">
            <a:avLst/>
          </a:prstGeom>
        </p:spPr>
        <p:txBody>
          <a:bodyPr wrap="square">
            <a:spAutoFit/>
          </a:bodyPr>
          <a:lstStyle/>
          <a:p>
            <a:pPr marL="342900" indent="-342900">
              <a:buFont typeface="Arial" panose="020B0604020202020204" pitchFamily="34" charset="0"/>
              <a:buChar char="•"/>
            </a:pPr>
            <a:r>
              <a:rPr lang="es-MX" sz="2000" dirty="0"/>
              <a:t>Como previamente se menciono, es la variable que se evalúa en la condición del ciclo para decidir si continúa o se detiene.</a:t>
            </a:r>
          </a:p>
          <a:p>
            <a:pPr marL="342900" indent="-342900">
              <a:buFont typeface="Arial" panose="020B0604020202020204" pitchFamily="34" charset="0"/>
              <a:buChar char="•"/>
            </a:pPr>
            <a:r>
              <a:rPr lang="es-MX" sz="2000" dirty="0"/>
              <a:t>Debe inicializarse antes de entrar al ciclo y modificarse dentro del cuerpo, de forma que eventualmente la condición se vuelva falsa.</a:t>
            </a:r>
          </a:p>
          <a:p>
            <a:pPr marL="342900" indent="-342900">
              <a:buFont typeface="Arial" panose="020B0604020202020204" pitchFamily="34" charset="0"/>
              <a:buChar char="•"/>
            </a:pPr>
            <a:r>
              <a:rPr lang="es-MX" sz="2000" dirty="0"/>
              <a:t>En el ejemplo previo (ver pseudicodigo), </a:t>
            </a:r>
            <a:r>
              <a:rPr lang="es-MX" dirty="0">
                <a:solidFill>
                  <a:schemeClr val="accent5"/>
                </a:solidFill>
                <a:latin typeface="Consolas" panose="020B0609020204030204" pitchFamily="49" charset="0"/>
              </a:rPr>
              <a:t>num</a:t>
            </a:r>
            <a:r>
              <a:rPr lang="es-MX" sz="2000" dirty="0"/>
              <a:t> es la variable de control: aparece en la condición </a:t>
            </a:r>
            <a:r>
              <a:rPr lang="es-MX" dirty="0">
                <a:solidFill>
                  <a:schemeClr val="accent5"/>
                </a:solidFill>
                <a:latin typeface="Consolas" panose="020B0609020204030204" pitchFamily="49" charset="0"/>
              </a:rPr>
              <a:t>num &lt;= N</a:t>
            </a:r>
            <a:r>
              <a:rPr lang="es-MX" sz="2000" dirty="0"/>
              <a:t> y se actualiza con </a:t>
            </a:r>
            <a:r>
              <a:rPr lang="es-MX" dirty="0">
                <a:solidFill>
                  <a:schemeClr val="accent5"/>
                </a:solidFill>
                <a:latin typeface="Consolas" panose="020B0609020204030204" pitchFamily="49" charset="0"/>
              </a:rPr>
              <a:t>num = num + 1</a:t>
            </a:r>
            <a:r>
              <a:rPr lang="es-MX" sz="2000" dirty="0"/>
              <a:t>.</a:t>
            </a:r>
          </a:p>
          <a:p>
            <a:endParaRPr lang="es-MX" sz="2000" dirty="0"/>
          </a:p>
          <a:p>
            <a:endParaRPr lang="es-MX" sz="2000" b="1" dirty="0"/>
          </a:p>
          <a:p>
            <a:endParaRPr lang="es-MX" sz="2000" b="1" dirty="0"/>
          </a:p>
          <a:p>
            <a:endParaRPr lang="es-MX" sz="2000" b="1" dirty="0"/>
          </a:p>
          <a:p>
            <a:endParaRPr lang="es-MX" sz="2000" b="1" dirty="0"/>
          </a:p>
          <a:p>
            <a:endParaRPr lang="es-MX" sz="2000" b="1" dirty="0"/>
          </a:p>
          <a:p>
            <a:endParaRPr lang="es-MX" sz="2000" b="1" dirty="0"/>
          </a:p>
          <a:p>
            <a:endParaRPr lang="es-MX" sz="2000" b="1" dirty="0"/>
          </a:p>
          <a:p>
            <a:endParaRPr lang="es-MX" sz="2000" b="1" dirty="0"/>
          </a:p>
          <a:p>
            <a:r>
              <a:rPr lang="es-MX" sz="2000" b="1" dirty="0"/>
              <a:t>Nota</a:t>
            </a:r>
            <a:r>
              <a:rPr lang="es-MX" sz="2000" dirty="0"/>
              <a:t>: la variable de control frecuentemente toma la forma de un contador (cuando avanza en una cantidad fija), pero también puede ser una bandera booleana o depender de un centinela, según el tipo de ciclo.</a:t>
            </a:r>
            <a:endParaRPr lang="es-MX" sz="2000" b="1" dirty="0">
              <a:solidFill>
                <a:srgbClr val="0070C0"/>
              </a:solidFill>
            </a:endParaRPr>
          </a:p>
        </p:txBody>
      </p:sp>
      <p:pic>
        <p:nvPicPr>
          <p:cNvPr id="3082" name="Picture 10" descr="Electric Flow Control Icons - Free SVG &amp; PNG Electric Flow Control ...">
            <a:extLst>
              <a:ext uri="{FF2B5EF4-FFF2-40B4-BE49-F238E27FC236}">
                <a16:creationId xmlns:a16="http://schemas.microsoft.com/office/drawing/2014/main" id="{DCF31117-BC3F-4CAF-AFD1-5B99B74299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41735" y="3717031"/>
            <a:ext cx="1019774" cy="1019774"/>
          </a:xfrm>
          <a:prstGeom prst="rect">
            <a:avLst/>
          </a:prstGeom>
          <a:noFill/>
          <a:extLst>
            <a:ext uri="{909E8E84-426E-40DD-AFC4-6F175D3DCCD1}">
              <a14:hiddenFill xmlns:a14="http://schemas.microsoft.com/office/drawing/2010/main">
                <a:solidFill>
                  <a:srgbClr val="FFFFFF"/>
                </a:solidFill>
              </a14:hiddenFill>
            </a:ext>
          </a:extLst>
        </p:spPr>
      </p:pic>
      <p:pic>
        <p:nvPicPr>
          <p:cNvPr id="51" name="Imagen 50">
            <a:extLst>
              <a:ext uri="{FF2B5EF4-FFF2-40B4-BE49-F238E27FC236}">
                <a16:creationId xmlns:a16="http://schemas.microsoft.com/office/drawing/2014/main" id="{1997FA56-D9DE-443B-9921-F267F7409908}"/>
              </a:ext>
            </a:extLst>
          </p:cNvPr>
          <p:cNvPicPr>
            <a:picLocks noChangeAspect="1"/>
          </p:cNvPicPr>
          <p:nvPr/>
        </p:nvPicPr>
        <p:blipFill>
          <a:blip r:embed="rId3"/>
          <a:stretch>
            <a:fillRect/>
          </a:stretch>
        </p:blipFill>
        <p:spPr>
          <a:xfrm>
            <a:off x="7576651" y="3701520"/>
            <a:ext cx="1019774" cy="1019774"/>
          </a:xfrm>
          <a:prstGeom prst="rect">
            <a:avLst/>
          </a:prstGeom>
        </p:spPr>
      </p:pic>
      <p:sp>
        <p:nvSpPr>
          <p:cNvPr id="27" name="CuadroTexto 26">
            <a:extLst>
              <a:ext uri="{FF2B5EF4-FFF2-40B4-BE49-F238E27FC236}">
                <a16:creationId xmlns:a16="http://schemas.microsoft.com/office/drawing/2014/main" id="{52C6823C-DE38-49DF-A5FA-CF7CCEA772BC}"/>
              </a:ext>
            </a:extLst>
          </p:cNvPr>
          <p:cNvSpPr txBox="1"/>
          <p:nvPr/>
        </p:nvSpPr>
        <p:spPr>
          <a:xfrm>
            <a:off x="539551" y="3103534"/>
            <a:ext cx="5446683" cy="2246769"/>
          </a:xfrm>
          <a:prstGeom prst="rect">
            <a:avLst/>
          </a:prstGeom>
          <a:noFill/>
          <a:ln>
            <a:solidFill>
              <a:schemeClr val="tx1"/>
            </a:solidFill>
          </a:ln>
        </p:spPr>
        <p:txBody>
          <a:bodyPr wrap="square" rtlCol="0">
            <a:spAutoFit/>
          </a:bodyPr>
          <a:lstStyle/>
          <a:p>
            <a:r>
              <a:rPr lang="es-MX" sz="1400" dirty="0">
                <a:latin typeface="Consolas" panose="020B0609020204030204" pitchFamily="49" charset="0"/>
              </a:rPr>
              <a:t>Inicio</a:t>
            </a:r>
          </a:p>
          <a:p>
            <a:r>
              <a:rPr lang="es-MX" sz="1400" dirty="0">
                <a:latin typeface="Consolas" panose="020B0609020204030204" pitchFamily="49" charset="0"/>
              </a:rPr>
              <a:t>  num = 1                         </a:t>
            </a:r>
            <a:r>
              <a:rPr lang="es-MX" sz="1400" dirty="0">
                <a:solidFill>
                  <a:srgbClr val="7030A0"/>
                </a:solidFill>
                <a:latin typeface="Consolas" panose="020B0609020204030204" pitchFamily="49" charset="0"/>
              </a:rPr>
              <a:t># Inicializacion</a:t>
            </a:r>
          </a:p>
          <a:p>
            <a:r>
              <a:rPr lang="es-MX" sz="1400" dirty="0">
                <a:latin typeface="Consolas" panose="020B0609020204030204" pitchFamily="49" charset="0"/>
              </a:rPr>
              <a:t>  suma = 0</a:t>
            </a:r>
          </a:p>
          <a:p>
            <a:r>
              <a:rPr lang="es-MX" sz="1400" dirty="0">
                <a:latin typeface="Consolas" panose="020B0609020204030204" pitchFamily="49" charset="0"/>
              </a:rPr>
              <a:t>  Leer(N)</a:t>
            </a:r>
          </a:p>
          <a:p>
            <a:r>
              <a:rPr lang="es-MX" sz="1400" dirty="0">
                <a:solidFill>
                  <a:srgbClr val="C00000"/>
                </a:solidFill>
                <a:latin typeface="Consolas" panose="020B0609020204030204" pitchFamily="49" charset="0"/>
              </a:rPr>
              <a:t>  Mientras (num &lt;= N) Haga        </a:t>
            </a:r>
            <a:r>
              <a:rPr lang="es-MX" sz="1400" dirty="0">
                <a:solidFill>
                  <a:srgbClr val="7030A0"/>
                </a:solidFill>
                <a:latin typeface="Consolas" panose="020B0609020204030204" pitchFamily="49" charset="0"/>
              </a:rPr>
              <a:t># Comparación</a:t>
            </a:r>
            <a:endParaRPr lang="es-MX" sz="1400" dirty="0">
              <a:solidFill>
                <a:srgbClr val="C00000"/>
              </a:solidFill>
              <a:latin typeface="Consolas" panose="020B0609020204030204" pitchFamily="49" charset="0"/>
            </a:endParaRPr>
          </a:p>
          <a:p>
            <a:r>
              <a:rPr lang="es-MX" sz="1400" dirty="0">
                <a:solidFill>
                  <a:srgbClr val="C00000"/>
                </a:solidFill>
                <a:latin typeface="Consolas" panose="020B0609020204030204" pitchFamily="49" charset="0"/>
              </a:rPr>
              <a:t>     </a:t>
            </a:r>
            <a:r>
              <a:rPr lang="es-MX" sz="1400" dirty="0">
                <a:solidFill>
                  <a:srgbClr val="00B050"/>
                </a:solidFill>
                <a:latin typeface="Consolas" panose="020B0609020204030204" pitchFamily="49" charset="0"/>
              </a:rPr>
              <a:t>suma = suma + num </a:t>
            </a:r>
          </a:p>
          <a:p>
            <a:r>
              <a:rPr lang="es-MX" sz="1400" dirty="0">
                <a:solidFill>
                  <a:srgbClr val="00B050"/>
                </a:solidFill>
                <a:latin typeface="Consolas" panose="020B0609020204030204" pitchFamily="49" charset="0"/>
              </a:rPr>
              <a:t>     num = num + 1                </a:t>
            </a:r>
            <a:r>
              <a:rPr lang="es-MX" sz="1400" dirty="0">
                <a:solidFill>
                  <a:srgbClr val="7030A0"/>
                </a:solidFill>
                <a:latin typeface="Consolas" panose="020B0609020204030204" pitchFamily="49" charset="0"/>
              </a:rPr>
              <a:t># Actualización    </a:t>
            </a:r>
          </a:p>
          <a:p>
            <a:r>
              <a:rPr lang="es-MX" sz="1400" dirty="0">
                <a:solidFill>
                  <a:srgbClr val="C00000"/>
                </a:solidFill>
                <a:latin typeface="Consolas" panose="020B0609020204030204" pitchFamily="49" charset="0"/>
              </a:rPr>
              <a:t>  Fin_Mientras</a:t>
            </a:r>
          </a:p>
          <a:p>
            <a:r>
              <a:rPr lang="es-MX" sz="1400" dirty="0">
                <a:latin typeface="Consolas" panose="020B0609020204030204" pitchFamily="49" charset="0"/>
              </a:rPr>
              <a:t>  Escribir(suma)</a:t>
            </a:r>
          </a:p>
          <a:p>
            <a:r>
              <a:rPr lang="es-MX" sz="1400" dirty="0">
                <a:latin typeface="Consolas" panose="020B0609020204030204" pitchFamily="49" charset="0"/>
              </a:rPr>
              <a:t>Fin</a:t>
            </a:r>
            <a:endParaRPr lang="es-CO" sz="1400" dirty="0">
              <a:latin typeface="Consolas" panose="020B0609020204030204" pitchFamily="49" charset="0"/>
            </a:endParaRPr>
          </a:p>
        </p:txBody>
      </p:sp>
    </p:spTree>
    <p:extLst>
      <p:ext uri="{BB962C8B-B14F-4D97-AF65-F5344CB8AC3E}">
        <p14:creationId xmlns:p14="http://schemas.microsoft.com/office/powerpoint/2010/main" val="714933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555560" cy="710952"/>
          </a:xfrm>
        </p:spPr>
        <p:txBody>
          <a:bodyPr>
            <a:normAutofit/>
          </a:bodyPr>
          <a:lstStyle/>
          <a:p>
            <a:r>
              <a:rPr lang="es-CO" dirty="0"/>
              <a:t>Contador</a:t>
            </a:r>
          </a:p>
        </p:txBody>
      </p:sp>
      <p:sp>
        <p:nvSpPr>
          <p:cNvPr id="8" name="12 Rectángulo">
            <a:extLst>
              <a:ext uri="{FF2B5EF4-FFF2-40B4-BE49-F238E27FC236}">
                <a16:creationId xmlns:a16="http://schemas.microsoft.com/office/drawing/2014/main" id="{82A57857-FAA4-45DF-92AE-9DFBCBE367B3}"/>
              </a:ext>
            </a:extLst>
          </p:cNvPr>
          <p:cNvSpPr/>
          <p:nvPr/>
        </p:nvSpPr>
        <p:spPr>
          <a:xfrm>
            <a:off x="159074" y="1014286"/>
            <a:ext cx="8820512" cy="4401205"/>
          </a:xfrm>
          <a:prstGeom prst="rect">
            <a:avLst/>
          </a:prstGeom>
        </p:spPr>
        <p:txBody>
          <a:bodyPr wrap="square">
            <a:spAutoFit/>
          </a:bodyPr>
          <a:lstStyle/>
          <a:p>
            <a:pPr marL="342900" indent="-342900" rtl="0">
              <a:buFont typeface="Arial" panose="020B0604020202020204" pitchFamily="34" charset="0"/>
              <a:buChar char="•"/>
            </a:pPr>
            <a:r>
              <a:rPr lang="es-MX" sz="2000" dirty="0"/>
              <a:t>Un contador es variable numérica que sirve para contar cuántas veces se repite una acción o se cumple una condición.</a:t>
            </a:r>
          </a:p>
          <a:p>
            <a:pPr marL="342900" indent="-342900" rtl="0">
              <a:buFont typeface="Arial" panose="020B0604020202020204" pitchFamily="34" charset="0"/>
              <a:buChar char="•"/>
            </a:pPr>
            <a:r>
              <a:rPr lang="es-MX" sz="2000" dirty="0"/>
              <a:t>Debe inicializarse a un valor conocido antes de usarse.</a:t>
            </a:r>
          </a:p>
          <a:p>
            <a:pPr marL="342900" indent="-342900" rtl="0">
              <a:buFont typeface="Arial" panose="020B0604020202020204" pitchFamily="34" charset="0"/>
              <a:buChar char="•"/>
            </a:pPr>
            <a:r>
              <a:rPr lang="es-MX" sz="2000" dirty="0"/>
              <a:t>Su característica principal es que su valor se incrementa o decrementa sistemáticamente en una </a:t>
            </a:r>
            <a:r>
              <a:rPr lang="es-MX" sz="2000" b="1" dirty="0"/>
              <a:t>cantidad constante</a:t>
            </a:r>
            <a:r>
              <a:rPr lang="es-MX" sz="2000" dirty="0"/>
              <a:t>.</a:t>
            </a:r>
          </a:p>
          <a:p>
            <a:endParaRPr lang="es-MX" sz="2000" b="1" dirty="0"/>
          </a:p>
          <a:p>
            <a:endParaRPr lang="es-MX" sz="2000" b="1" dirty="0"/>
          </a:p>
          <a:p>
            <a:endParaRPr lang="es-MX" sz="2000" b="1" dirty="0"/>
          </a:p>
          <a:p>
            <a:pPr marL="342900" indent="-342900">
              <a:buFont typeface="Arial" panose="020B0604020202020204" pitchFamily="34" charset="0"/>
              <a:buChar char="•"/>
            </a:pPr>
            <a:r>
              <a:rPr lang="es-MX" sz="2000" b="1" dirty="0"/>
              <a:t>Ejemplos</a:t>
            </a:r>
            <a:r>
              <a:rPr lang="es-MX" sz="2000" dirty="0"/>
              <a:t>: </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num</a:t>
            </a:r>
            <a:r>
              <a:rPr lang="es-MX" dirty="0">
                <a:latin typeface="Consolas" panose="020B0609020204030204" pitchFamily="49" charset="0"/>
              </a:rPr>
              <a:t> = </a:t>
            </a:r>
            <a:r>
              <a:rPr lang="es-MX" dirty="0">
                <a:solidFill>
                  <a:srgbClr val="C00000"/>
                </a:solidFill>
                <a:latin typeface="Consolas" panose="020B0609020204030204" pitchFamily="49" charset="0"/>
              </a:rPr>
              <a:t>num</a:t>
            </a:r>
            <a:r>
              <a:rPr lang="es-MX" dirty="0">
                <a:latin typeface="Consolas" panose="020B0609020204030204" pitchFamily="49" charset="0"/>
              </a:rPr>
              <a:t> + 1 </a:t>
            </a:r>
            <a:r>
              <a:rPr lang="es-MX" sz="2000" dirty="0"/>
              <a:t>(Ejemplo anterior)</a:t>
            </a:r>
            <a:endParaRPr lang="es-MX" dirty="0"/>
          </a:p>
          <a:p>
            <a:pPr marL="800100" lvl="1" indent="-342900">
              <a:buFont typeface="Arial" panose="020B0604020202020204" pitchFamily="34" charset="0"/>
              <a:buChar char="•"/>
            </a:pPr>
            <a:r>
              <a:rPr lang="es-MX" dirty="0">
                <a:solidFill>
                  <a:srgbClr val="C00000"/>
                </a:solidFill>
                <a:latin typeface="Consolas" panose="020B0609020204030204" pitchFamily="49" charset="0"/>
              </a:rPr>
              <a:t>estudiantes</a:t>
            </a:r>
            <a:r>
              <a:rPr lang="es-MX" dirty="0">
                <a:latin typeface="Consolas" panose="020B0609020204030204" pitchFamily="49" charset="0"/>
              </a:rPr>
              <a:t> = </a:t>
            </a:r>
            <a:r>
              <a:rPr lang="es-MX" dirty="0">
                <a:solidFill>
                  <a:srgbClr val="C00000"/>
                </a:solidFill>
                <a:latin typeface="Consolas" panose="020B0609020204030204" pitchFamily="49" charset="0"/>
              </a:rPr>
              <a:t>estudiantes</a:t>
            </a:r>
            <a:r>
              <a:rPr lang="es-MX" dirty="0">
                <a:latin typeface="Consolas" panose="020B0609020204030204" pitchFamily="49" charset="0"/>
              </a:rPr>
              <a:t> + 1</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i</a:t>
            </a:r>
            <a:r>
              <a:rPr lang="es-MX" dirty="0">
                <a:latin typeface="Consolas" panose="020B0609020204030204" pitchFamily="49" charset="0"/>
              </a:rPr>
              <a:t> = </a:t>
            </a:r>
            <a:r>
              <a:rPr lang="es-MX" dirty="0">
                <a:solidFill>
                  <a:srgbClr val="C00000"/>
                </a:solidFill>
                <a:latin typeface="Consolas" panose="020B0609020204030204" pitchFamily="49" charset="0"/>
              </a:rPr>
              <a:t>i</a:t>
            </a:r>
            <a:r>
              <a:rPr lang="es-MX" dirty="0">
                <a:latin typeface="Consolas" panose="020B0609020204030204" pitchFamily="49" charset="0"/>
              </a:rPr>
              <a:t> + 1</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j</a:t>
            </a:r>
            <a:r>
              <a:rPr lang="es-MX" dirty="0">
                <a:latin typeface="Consolas" panose="020B0609020204030204" pitchFamily="49" charset="0"/>
              </a:rPr>
              <a:t> = </a:t>
            </a:r>
            <a:r>
              <a:rPr lang="es-MX" dirty="0">
                <a:solidFill>
                  <a:srgbClr val="C00000"/>
                </a:solidFill>
                <a:latin typeface="Consolas" panose="020B0609020204030204" pitchFamily="49" charset="0"/>
              </a:rPr>
              <a:t>j</a:t>
            </a:r>
            <a:r>
              <a:rPr lang="es-MX" dirty="0">
                <a:latin typeface="Consolas" panose="020B0609020204030204" pitchFamily="49" charset="0"/>
              </a:rPr>
              <a:t> – 1</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tiempo_espera</a:t>
            </a:r>
            <a:r>
              <a:rPr lang="es-MX" dirty="0">
                <a:latin typeface="Consolas" panose="020B0609020204030204" pitchFamily="49" charset="0"/>
              </a:rPr>
              <a:t> = </a:t>
            </a:r>
            <a:r>
              <a:rPr lang="es-MX" dirty="0">
                <a:solidFill>
                  <a:srgbClr val="C00000"/>
                </a:solidFill>
                <a:latin typeface="Consolas" panose="020B0609020204030204" pitchFamily="49" charset="0"/>
              </a:rPr>
              <a:t>tiempo_espera</a:t>
            </a:r>
            <a:r>
              <a:rPr lang="es-MX" dirty="0">
                <a:latin typeface="Consolas" panose="020B0609020204030204" pitchFamily="49" charset="0"/>
              </a:rPr>
              <a:t> - 1</a:t>
            </a:r>
            <a:endParaRPr lang="es-MX" sz="2000" dirty="0">
              <a:latin typeface="Consolas" panose="020B0609020204030204" pitchFamily="49" charset="0"/>
            </a:endParaRPr>
          </a:p>
        </p:txBody>
      </p:sp>
      <p:sp>
        <p:nvSpPr>
          <p:cNvPr id="7" name="CuadroTexto 6">
            <a:extLst>
              <a:ext uri="{FF2B5EF4-FFF2-40B4-BE49-F238E27FC236}">
                <a16:creationId xmlns:a16="http://schemas.microsoft.com/office/drawing/2014/main" id="{2E69FC9A-F848-441E-BC0A-582E0FD5ADDE}"/>
              </a:ext>
            </a:extLst>
          </p:cNvPr>
          <p:cNvSpPr txBox="1"/>
          <p:nvPr/>
        </p:nvSpPr>
        <p:spPr>
          <a:xfrm>
            <a:off x="2021372" y="2775942"/>
            <a:ext cx="4896544" cy="400110"/>
          </a:xfrm>
          <a:prstGeom prst="rect">
            <a:avLst/>
          </a:prstGeom>
          <a:noFill/>
          <a:ln>
            <a:solidFill>
              <a:schemeClr val="tx1"/>
            </a:solidFill>
          </a:ln>
        </p:spPr>
        <p:txBody>
          <a:bodyPr wrap="square" rtlCol="0">
            <a:spAutoFit/>
          </a:bodyPr>
          <a:lstStyle/>
          <a:p>
            <a:pPr algn="ctr"/>
            <a:r>
              <a:rPr lang="es-MX" sz="2000" b="1" dirty="0">
                <a:solidFill>
                  <a:schemeClr val="accent5"/>
                </a:solidFill>
                <a:latin typeface="Consolas" panose="020B0609020204030204" pitchFamily="49" charset="0"/>
              </a:rPr>
              <a:t>contador = contador + </a:t>
            </a:r>
            <a:r>
              <a:rPr lang="es-MX" sz="2000" b="1" dirty="0">
                <a:latin typeface="Consolas" panose="020B0609020204030204" pitchFamily="49" charset="0"/>
              </a:rPr>
              <a:t>CONSTANTE</a:t>
            </a:r>
            <a:endParaRPr lang="es-CO" sz="2000" b="1" dirty="0">
              <a:latin typeface="Consolas" panose="020B0609020204030204" pitchFamily="49" charset="0"/>
            </a:endParaRPr>
          </a:p>
        </p:txBody>
      </p:sp>
      <p:pic>
        <p:nvPicPr>
          <p:cNvPr id="9" name="Imagen 8">
            <a:extLst>
              <a:ext uri="{FF2B5EF4-FFF2-40B4-BE49-F238E27FC236}">
                <a16:creationId xmlns:a16="http://schemas.microsoft.com/office/drawing/2014/main" id="{9EA83D41-14A2-468F-AC2D-887181E23F5D}"/>
              </a:ext>
            </a:extLst>
          </p:cNvPr>
          <p:cNvPicPr>
            <a:picLocks noChangeAspect="1"/>
          </p:cNvPicPr>
          <p:nvPr/>
        </p:nvPicPr>
        <p:blipFill>
          <a:blip r:embed="rId2"/>
          <a:stretch>
            <a:fillRect/>
          </a:stretch>
        </p:blipFill>
        <p:spPr>
          <a:xfrm>
            <a:off x="6300192" y="3764717"/>
            <a:ext cx="1300021" cy="1062109"/>
          </a:xfrm>
          <a:prstGeom prst="rect">
            <a:avLst/>
          </a:prstGeom>
        </p:spPr>
      </p:pic>
      <p:pic>
        <p:nvPicPr>
          <p:cNvPr id="10" name="Imagen 9">
            <a:extLst>
              <a:ext uri="{FF2B5EF4-FFF2-40B4-BE49-F238E27FC236}">
                <a16:creationId xmlns:a16="http://schemas.microsoft.com/office/drawing/2014/main" id="{0E9AE615-7545-4A95-A907-050B408BDE28}"/>
              </a:ext>
            </a:extLst>
          </p:cNvPr>
          <p:cNvPicPr>
            <a:picLocks noChangeAspect="1"/>
          </p:cNvPicPr>
          <p:nvPr/>
        </p:nvPicPr>
        <p:blipFill>
          <a:blip r:embed="rId3"/>
          <a:stretch>
            <a:fillRect/>
          </a:stretch>
        </p:blipFill>
        <p:spPr>
          <a:xfrm>
            <a:off x="6300192" y="5257061"/>
            <a:ext cx="1259838" cy="1243012"/>
          </a:xfrm>
          <a:prstGeom prst="rect">
            <a:avLst/>
          </a:prstGeom>
        </p:spPr>
      </p:pic>
    </p:spTree>
    <p:extLst>
      <p:ext uri="{BB962C8B-B14F-4D97-AF65-F5344CB8AC3E}">
        <p14:creationId xmlns:p14="http://schemas.microsoft.com/office/powerpoint/2010/main" val="161166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555560" cy="710952"/>
          </a:xfrm>
        </p:spPr>
        <p:txBody>
          <a:bodyPr>
            <a:normAutofit/>
          </a:bodyPr>
          <a:lstStyle/>
          <a:p>
            <a:r>
              <a:rPr lang="es-CO" dirty="0"/>
              <a:t>Acumulador</a:t>
            </a:r>
          </a:p>
        </p:txBody>
      </p:sp>
      <p:sp>
        <p:nvSpPr>
          <p:cNvPr id="8" name="12 Rectángulo">
            <a:extLst>
              <a:ext uri="{FF2B5EF4-FFF2-40B4-BE49-F238E27FC236}">
                <a16:creationId xmlns:a16="http://schemas.microsoft.com/office/drawing/2014/main" id="{82A57857-FAA4-45DF-92AE-9DFBCBE367B3}"/>
              </a:ext>
            </a:extLst>
          </p:cNvPr>
          <p:cNvSpPr/>
          <p:nvPr/>
        </p:nvSpPr>
        <p:spPr>
          <a:xfrm>
            <a:off x="192904" y="1014286"/>
            <a:ext cx="8786682" cy="4832092"/>
          </a:xfrm>
          <a:prstGeom prst="rect">
            <a:avLst/>
          </a:prstGeom>
        </p:spPr>
        <p:txBody>
          <a:bodyPr wrap="square">
            <a:spAutoFit/>
          </a:bodyPr>
          <a:lstStyle/>
          <a:p>
            <a:pPr marL="342900" indent="-342900" rtl="0">
              <a:buFont typeface="Arial" panose="020B0604020202020204" pitchFamily="34" charset="0"/>
              <a:buChar char="•"/>
            </a:pPr>
            <a:r>
              <a:rPr lang="es-MX" sz="2000" dirty="0"/>
              <a:t>Un acumulador es variable que sirve para acumular (o totalizar) el resultado de una operación que se repite.</a:t>
            </a:r>
          </a:p>
          <a:p>
            <a:pPr marL="342900" indent="-342900" rtl="0">
              <a:buFont typeface="Arial" panose="020B0604020202020204" pitchFamily="34" charset="0"/>
              <a:buChar char="•"/>
            </a:pPr>
            <a:r>
              <a:rPr lang="es-MX" sz="2000" dirty="0"/>
              <a:t>Debe inicializarse a un valor conocido antes de usarse. Generalmente en 0 para sumas o 1 para productos.</a:t>
            </a:r>
          </a:p>
          <a:p>
            <a:pPr marL="342900" indent="-342900" rtl="0">
              <a:buFont typeface="Arial" panose="020B0604020202020204" pitchFamily="34" charset="0"/>
              <a:buChar char="•"/>
            </a:pPr>
            <a:r>
              <a:rPr lang="es-MX" sz="2000" dirty="0"/>
              <a:t>Se modifica en un valor </a:t>
            </a:r>
            <a:r>
              <a:rPr lang="es-MX" sz="2000" b="1" dirty="0"/>
              <a:t>variable</a:t>
            </a:r>
            <a:r>
              <a:rPr lang="es-MX" sz="2000" dirty="0"/>
              <a:t> (no constante) en cada iteración.</a:t>
            </a:r>
          </a:p>
          <a:p>
            <a:endParaRPr lang="es-MX" sz="2000" b="1" dirty="0"/>
          </a:p>
          <a:p>
            <a:endParaRPr lang="es-MX" sz="2000" b="1" dirty="0"/>
          </a:p>
          <a:p>
            <a:endParaRPr lang="es-MX" sz="2000" b="1" dirty="0"/>
          </a:p>
          <a:p>
            <a:endParaRPr lang="es-MX" sz="2000" b="1" dirty="0"/>
          </a:p>
          <a:p>
            <a:pPr marL="342900" indent="-342900">
              <a:buFont typeface="Arial" panose="020B0604020202020204" pitchFamily="34" charset="0"/>
              <a:buChar char="•"/>
            </a:pPr>
            <a:r>
              <a:rPr lang="es-MX" sz="2000" b="1" dirty="0"/>
              <a:t>Ejemplos</a:t>
            </a:r>
            <a:r>
              <a:rPr lang="es-MX" sz="2000" dirty="0"/>
              <a:t>: </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suma = suma + num </a:t>
            </a:r>
            <a:r>
              <a:rPr lang="es-MX" sz="1800" dirty="0"/>
              <a:t>(Ejemplo anterior)</a:t>
            </a:r>
            <a:endParaRPr lang="es-MX" dirty="0">
              <a:solidFill>
                <a:srgbClr val="C00000"/>
              </a:solidFill>
              <a:latin typeface="Consolas" panose="020B0609020204030204" pitchFamily="49" charset="0"/>
            </a:endParaRPr>
          </a:p>
          <a:p>
            <a:pPr marL="800100" lvl="1" indent="-342900">
              <a:buFont typeface="Arial" panose="020B0604020202020204" pitchFamily="34" charset="0"/>
              <a:buChar char="•"/>
            </a:pPr>
            <a:r>
              <a:rPr lang="es-MX" dirty="0">
                <a:solidFill>
                  <a:srgbClr val="C00000"/>
                </a:solidFill>
                <a:latin typeface="Consolas" panose="020B0609020204030204" pitchFamily="49" charset="0"/>
              </a:rPr>
              <a:t>ahorro</a:t>
            </a:r>
            <a:r>
              <a:rPr lang="es-MX" dirty="0">
                <a:latin typeface="Consolas" panose="020B0609020204030204" pitchFamily="49" charset="0"/>
              </a:rPr>
              <a:t> = </a:t>
            </a:r>
            <a:r>
              <a:rPr lang="es-MX" dirty="0">
                <a:solidFill>
                  <a:srgbClr val="C00000"/>
                </a:solidFill>
                <a:latin typeface="Consolas" panose="020B0609020204030204" pitchFamily="49" charset="0"/>
              </a:rPr>
              <a:t>ahorro</a:t>
            </a:r>
            <a:r>
              <a:rPr lang="es-MX" dirty="0">
                <a:latin typeface="Consolas" panose="020B0609020204030204" pitchFamily="49" charset="0"/>
              </a:rPr>
              <a:t> + dinero</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total_venta</a:t>
            </a:r>
            <a:r>
              <a:rPr lang="es-MX" dirty="0">
                <a:latin typeface="Consolas" panose="020B0609020204030204" pitchFamily="49" charset="0"/>
              </a:rPr>
              <a:t> = </a:t>
            </a:r>
            <a:r>
              <a:rPr lang="es-MX" dirty="0">
                <a:solidFill>
                  <a:srgbClr val="C00000"/>
                </a:solidFill>
                <a:latin typeface="Consolas" panose="020B0609020204030204" pitchFamily="49" charset="0"/>
              </a:rPr>
              <a:t>total_venta</a:t>
            </a:r>
            <a:r>
              <a:rPr lang="es-MX" dirty="0">
                <a:latin typeface="Consolas" panose="020B0609020204030204" pitchFamily="49" charset="0"/>
              </a:rPr>
              <a:t> + factura</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factorial</a:t>
            </a:r>
            <a:r>
              <a:rPr lang="es-MX" dirty="0">
                <a:latin typeface="Consolas" panose="020B0609020204030204" pitchFamily="49" charset="0"/>
              </a:rPr>
              <a:t> = </a:t>
            </a:r>
            <a:r>
              <a:rPr lang="es-MX" dirty="0">
                <a:solidFill>
                  <a:srgbClr val="C00000"/>
                </a:solidFill>
                <a:latin typeface="Consolas" panose="020B0609020204030204" pitchFamily="49" charset="0"/>
              </a:rPr>
              <a:t>factorial</a:t>
            </a:r>
            <a:r>
              <a:rPr lang="es-MX" dirty="0">
                <a:latin typeface="Consolas" panose="020B0609020204030204" pitchFamily="49" charset="0"/>
              </a:rPr>
              <a:t>*i</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j</a:t>
            </a:r>
            <a:r>
              <a:rPr lang="es-MX" dirty="0">
                <a:latin typeface="Consolas" panose="020B0609020204030204" pitchFamily="49" charset="0"/>
              </a:rPr>
              <a:t> = </a:t>
            </a:r>
            <a:r>
              <a:rPr lang="es-MX" dirty="0">
                <a:solidFill>
                  <a:srgbClr val="C00000"/>
                </a:solidFill>
                <a:latin typeface="Consolas" panose="020B0609020204030204" pitchFamily="49" charset="0"/>
              </a:rPr>
              <a:t>j</a:t>
            </a:r>
            <a:r>
              <a:rPr lang="es-MX" dirty="0">
                <a:latin typeface="Consolas" panose="020B0609020204030204" pitchFamily="49" charset="0"/>
              </a:rPr>
              <a:t> – 1</a:t>
            </a:r>
          </a:p>
          <a:p>
            <a:pPr marL="800100" lvl="1" indent="-342900">
              <a:buFont typeface="Arial" panose="020B0604020202020204" pitchFamily="34" charset="0"/>
              <a:buChar char="•"/>
            </a:pPr>
            <a:r>
              <a:rPr lang="es-MX" dirty="0">
                <a:solidFill>
                  <a:srgbClr val="C00000"/>
                </a:solidFill>
                <a:latin typeface="Consolas" panose="020B0609020204030204" pitchFamily="49" charset="0"/>
              </a:rPr>
              <a:t>saldo_favor</a:t>
            </a:r>
            <a:r>
              <a:rPr lang="es-MX" dirty="0">
                <a:latin typeface="Consolas" panose="020B0609020204030204" pitchFamily="49" charset="0"/>
              </a:rPr>
              <a:t> = </a:t>
            </a:r>
            <a:r>
              <a:rPr lang="es-MX" dirty="0">
                <a:solidFill>
                  <a:srgbClr val="C00000"/>
                </a:solidFill>
                <a:latin typeface="Consolas" panose="020B0609020204030204" pitchFamily="49" charset="0"/>
              </a:rPr>
              <a:t>saldo_favor</a:t>
            </a:r>
            <a:r>
              <a:rPr lang="es-MX" dirty="0">
                <a:latin typeface="Consolas" panose="020B0609020204030204" pitchFamily="49" charset="0"/>
              </a:rPr>
              <a:t> - gasto</a:t>
            </a:r>
            <a:endParaRPr lang="es-MX" sz="2000" dirty="0">
              <a:latin typeface="Consolas" panose="020B0609020204030204" pitchFamily="49" charset="0"/>
            </a:endParaRPr>
          </a:p>
        </p:txBody>
      </p:sp>
      <p:sp>
        <p:nvSpPr>
          <p:cNvPr id="7" name="CuadroTexto 6">
            <a:extLst>
              <a:ext uri="{FF2B5EF4-FFF2-40B4-BE49-F238E27FC236}">
                <a16:creationId xmlns:a16="http://schemas.microsoft.com/office/drawing/2014/main" id="{2E69FC9A-F848-441E-BC0A-582E0FD5ADDE}"/>
              </a:ext>
            </a:extLst>
          </p:cNvPr>
          <p:cNvSpPr txBox="1"/>
          <p:nvPr/>
        </p:nvSpPr>
        <p:spPr>
          <a:xfrm>
            <a:off x="1570999" y="3044818"/>
            <a:ext cx="5799370" cy="400110"/>
          </a:xfrm>
          <a:prstGeom prst="rect">
            <a:avLst/>
          </a:prstGeom>
          <a:noFill/>
          <a:ln>
            <a:solidFill>
              <a:schemeClr val="tx1"/>
            </a:solidFill>
          </a:ln>
        </p:spPr>
        <p:txBody>
          <a:bodyPr wrap="square" rtlCol="0">
            <a:spAutoFit/>
          </a:bodyPr>
          <a:lstStyle/>
          <a:p>
            <a:pPr algn="ctr"/>
            <a:r>
              <a:rPr lang="es-MX" sz="2000" b="1" dirty="0">
                <a:solidFill>
                  <a:schemeClr val="accent5"/>
                </a:solidFill>
                <a:latin typeface="Consolas" panose="020B0609020204030204" pitchFamily="49" charset="0"/>
              </a:rPr>
              <a:t>contador = contador </a:t>
            </a:r>
            <a:r>
              <a:rPr lang="es-MX" sz="2000" b="1" dirty="0">
                <a:latin typeface="Consolas" panose="020B0609020204030204" pitchFamily="49" charset="0"/>
              </a:rPr>
              <a:t>(operación)</a:t>
            </a:r>
            <a:r>
              <a:rPr lang="es-MX" sz="2000" b="1" dirty="0">
                <a:solidFill>
                  <a:schemeClr val="accent5"/>
                </a:solidFill>
                <a:latin typeface="Consolas" panose="020B0609020204030204" pitchFamily="49" charset="0"/>
              </a:rPr>
              <a:t> </a:t>
            </a:r>
            <a:r>
              <a:rPr lang="es-MX" sz="2000" b="1" dirty="0">
                <a:solidFill>
                  <a:srgbClr val="00B050"/>
                </a:solidFill>
                <a:latin typeface="Consolas" panose="020B0609020204030204" pitchFamily="49" charset="0"/>
              </a:rPr>
              <a:t>variable</a:t>
            </a:r>
            <a:endParaRPr lang="es-CO" sz="2000" b="1" dirty="0">
              <a:solidFill>
                <a:srgbClr val="00B050"/>
              </a:solidFill>
              <a:latin typeface="Consolas" panose="020B0609020204030204" pitchFamily="49" charset="0"/>
            </a:endParaRPr>
          </a:p>
        </p:txBody>
      </p:sp>
      <p:pic>
        <p:nvPicPr>
          <p:cNvPr id="11" name="Imagen 10">
            <a:extLst>
              <a:ext uri="{FF2B5EF4-FFF2-40B4-BE49-F238E27FC236}">
                <a16:creationId xmlns:a16="http://schemas.microsoft.com/office/drawing/2014/main" id="{AE927176-F5F7-40BF-B833-C60A52699C73}"/>
              </a:ext>
            </a:extLst>
          </p:cNvPr>
          <p:cNvPicPr>
            <a:picLocks noChangeAspect="1"/>
          </p:cNvPicPr>
          <p:nvPr/>
        </p:nvPicPr>
        <p:blipFill>
          <a:blip r:embed="rId2"/>
          <a:stretch>
            <a:fillRect/>
          </a:stretch>
        </p:blipFill>
        <p:spPr>
          <a:xfrm>
            <a:off x="6419728" y="3775912"/>
            <a:ext cx="1248615" cy="1277765"/>
          </a:xfrm>
          <a:prstGeom prst="rect">
            <a:avLst/>
          </a:prstGeom>
        </p:spPr>
      </p:pic>
      <p:pic>
        <p:nvPicPr>
          <p:cNvPr id="12" name="Picture 6" descr="Gas Pump Icon Images – Browse 122,614 Stock Photos, Vectors, and Video |  Adobe Stock">
            <a:extLst>
              <a:ext uri="{FF2B5EF4-FFF2-40B4-BE49-F238E27FC236}">
                <a16:creationId xmlns:a16="http://schemas.microsoft.com/office/drawing/2014/main" id="{5D97A2C4-4827-4661-905B-4DCCD37443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8318" y="5315536"/>
            <a:ext cx="1185398" cy="118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763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3</a:t>
            </a:r>
          </a:p>
        </p:txBody>
      </p:sp>
      <mc:AlternateContent xmlns:mc="http://schemas.openxmlformats.org/markup-compatibility/2006" xmlns:a14="http://schemas.microsoft.com/office/drawing/2010/main">
        <mc:Choice Requires="a14">
          <p:sp>
            <p:nvSpPr>
              <p:cNvPr id="7" name="12 Rectángulo">
                <a:extLst>
                  <a:ext uri="{FF2B5EF4-FFF2-40B4-BE49-F238E27FC236}">
                    <a16:creationId xmlns:a16="http://schemas.microsoft.com/office/drawing/2014/main" id="{31480163-1532-4B08-8163-9B8775D997E1}"/>
                  </a:ext>
                </a:extLst>
              </p:cNvPr>
              <p:cNvSpPr/>
              <p:nvPr/>
            </p:nvSpPr>
            <p:spPr>
              <a:xfrm>
                <a:off x="233375" y="991847"/>
                <a:ext cx="8659105" cy="1938992"/>
              </a:xfrm>
              <a:prstGeom prst="rect">
                <a:avLst/>
              </a:prstGeom>
            </p:spPr>
            <p:txBody>
              <a:bodyPr wrap="square">
                <a:spAutoFit/>
              </a:bodyPr>
              <a:lstStyle/>
              <a:p>
                <a:r>
                  <a:rPr lang="es-MX" sz="2000" dirty="0"/>
                  <a:t>Haga un programa que calcule el factorial de un número entero no negativo </a:t>
                </a:r>
                <a14:m>
                  <m:oMath xmlns:m="http://schemas.openxmlformats.org/officeDocument/2006/math">
                    <m:r>
                      <a:rPr lang="es-MX" sz="2000" b="0" i="1" smtClean="0">
                        <a:latin typeface="Cambria Math" panose="02040503050406030204" pitchFamily="18" charset="0"/>
                      </a:rPr>
                      <m:t>𝑛</m:t>
                    </m:r>
                  </m:oMath>
                </a14:m>
                <a:r>
                  <a:rPr lang="es-MX" sz="2000" dirty="0"/>
                  <a:t>.</a:t>
                </a:r>
              </a:p>
              <a:p>
                <a:endParaRPr lang="es-MX" sz="2000" dirty="0"/>
              </a:p>
              <a:p>
                <a:r>
                  <a:rPr lang="es-MX" sz="2000" dirty="0"/>
                  <a:t>Recuerde cuando </a:t>
                </a:r>
                <a14:m>
                  <m:oMath xmlns:m="http://schemas.openxmlformats.org/officeDocument/2006/math">
                    <m:r>
                      <a:rPr lang="es-MX" sz="2000" i="1">
                        <a:latin typeface="Cambria Math" panose="02040503050406030204" pitchFamily="18" charset="0"/>
                      </a:rPr>
                      <m:t>𝑛</m:t>
                    </m:r>
                    <m:r>
                      <a:rPr lang="es-MX" sz="2000" b="0" i="1" smtClean="0">
                        <a:latin typeface="Cambria Math" panose="02040503050406030204" pitchFamily="18" charset="0"/>
                      </a:rPr>
                      <m:t>=0</m:t>
                    </m:r>
                  </m:oMath>
                </a14:m>
                <a:r>
                  <a:rPr lang="es-MX" sz="2000" dirty="0"/>
                  <a:t>, </a:t>
                </a:r>
                <a14:m>
                  <m:oMath xmlns:m="http://schemas.openxmlformats.org/officeDocument/2006/math">
                    <m:r>
                      <a:rPr lang="es-MX" sz="2000" b="0" i="1" smtClean="0">
                        <a:latin typeface="Cambria Math" panose="02040503050406030204" pitchFamily="18" charset="0"/>
                      </a:rPr>
                      <m:t>0!=1</m:t>
                    </m:r>
                  </m:oMath>
                </a14:m>
                <a:r>
                  <a:rPr lang="es-MX" sz="2000" dirty="0"/>
                  <a:t>, y para cualquier otro valor el factorial esta dado por: </a:t>
                </a:r>
              </a:p>
              <a:p>
                <a:endParaRPr lang="es-MX" sz="2000" dirty="0"/>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𝑛</m:t>
                      </m:r>
                      <m:r>
                        <a:rPr lang="es-MX" sz="2000" b="0" i="1" smtClean="0">
                          <a:latin typeface="Cambria Math" panose="02040503050406030204" pitchFamily="18" charset="0"/>
                        </a:rPr>
                        <m:t>!=1×2×3×…×(</m:t>
                      </m:r>
                      <m:r>
                        <a:rPr lang="es-MX" sz="2000" b="0" i="1" smtClean="0">
                          <a:latin typeface="Cambria Math" panose="02040503050406030204" pitchFamily="18" charset="0"/>
                        </a:rPr>
                        <m:t>𝑛</m:t>
                      </m:r>
                      <m:r>
                        <a:rPr lang="es-MX" sz="2000" b="0" i="1" smtClean="0">
                          <a:latin typeface="Cambria Math" panose="02040503050406030204" pitchFamily="18" charset="0"/>
                        </a:rPr>
                        <m:t>−2)×(</m:t>
                      </m:r>
                      <m:r>
                        <a:rPr lang="es-MX" sz="2000" b="0" i="1" smtClean="0">
                          <a:latin typeface="Cambria Math" panose="02040503050406030204" pitchFamily="18" charset="0"/>
                        </a:rPr>
                        <m:t>𝑛</m:t>
                      </m:r>
                      <m:r>
                        <a:rPr lang="es-MX" sz="2000" b="0" i="1" smtClean="0">
                          <a:latin typeface="Cambria Math" panose="02040503050406030204" pitchFamily="18" charset="0"/>
                        </a:rPr>
                        <m:t>−1)×</m:t>
                      </m:r>
                      <m:r>
                        <a:rPr lang="es-MX" sz="2000" b="0" i="1" smtClean="0">
                          <a:latin typeface="Cambria Math" panose="02040503050406030204" pitchFamily="18" charset="0"/>
                        </a:rPr>
                        <m:t>𝑛</m:t>
                      </m:r>
                    </m:oMath>
                  </m:oMathPara>
                </a14:m>
                <a:endParaRPr lang="es-CO" sz="2000" dirty="0"/>
              </a:p>
            </p:txBody>
          </p:sp>
        </mc:Choice>
        <mc:Fallback xmlns="">
          <p:sp>
            <p:nvSpPr>
              <p:cNvPr id="7" name="12 Rectángulo">
                <a:extLst>
                  <a:ext uri="{FF2B5EF4-FFF2-40B4-BE49-F238E27FC236}">
                    <a16:creationId xmlns:a16="http://schemas.microsoft.com/office/drawing/2014/main" id="{31480163-1532-4B08-8163-9B8775D997E1}"/>
                  </a:ext>
                </a:extLst>
              </p:cNvPr>
              <p:cNvSpPr>
                <a:spLocks noRot="1" noChangeAspect="1" noMove="1" noResize="1" noEditPoints="1" noAdjustHandles="1" noChangeArrowheads="1" noChangeShapeType="1" noTextEdit="1"/>
              </p:cNvSpPr>
              <p:nvPr/>
            </p:nvSpPr>
            <p:spPr>
              <a:xfrm>
                <a:off x="233375" y="991847"/>
                <a:ext cx="8659105" cy="1938992"/>
              </a:xfrm>
              <a:prstGeom prst="rect">
                <a:avLst/>
              </a:prstGeom>
              <a:blipFill>
                <a:blip r:embed="rId2"/>
                <a:stretch>
                  <a:fillRect l="-704" t="-1887" b="-2201"/>
                </a:stretch>
              </a:blipFill>
            </p:spPr>
            <p:txBody>
              <a:bodyPr/>
              <a:lstStyle/>
              <a:p>
                <a:r>
                  <a:rPr lang="es-CO">
                    <a:noFill/>
                  </a:rPr>
                  <a:t> </a:t>
                </a:r>
              </a:p>
            </p:txBody>
          </p:sp>
        </mc:Fallback>
      </mc:AlternateContent>
    </p:spTree>
    <p:extLst>
      <p:ext uri="{BB962C8B-B14F-4D97-AF65-F5344CB8AC3E}">
        <p14:creationId xmlns:p14="http://schemas.microsoft.com/office/powerpoint/2010/main" val="2045714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242634" cy="710952"/>
          </a:xfrm>
        </p:spPr>
        <p:txBody>
          <a:bodyPr>
            <a:normAutofit/>
          </a:bodyPr>
          <a:lstStyle/>
          <a:p>
            <a:r>
              <a:rPr lang="es-CO" dirty="0"/>
              <a:t>Ciclos - Ejemplo 3</a:t>
            </a:r>
          </a:p>
        </p:txBody>
      </p:sp>
      <p:sp>
        <p:nvSpPr>
          <p:cNvPr id="7" name="5 CuadroTexto">
            <a:extLst>
              <a:ext uri="{FF2B5EF4-FFF2-40B4-BE49-F238E27FC236}">
                <a16:creationId xmlns:a16="http://schemas.microsoft.com/office/drawing/2014/main" id="{4CE19DD7-9C01-4327-B958-36C27059A964}"/>
              </a:ext>
            </a:extLst>
          </p:cNvPr>
          <p:cNvSpPr txBox="1"/>
          <p:nvPr/>
        </p:nvSpPr>
        <p:spPr>
          <a:xfrm>
            <a:off x="223758" y="2830868"/>
            <a:ext cx="4016228" cy="3631763"/>
          </a:xfrm>
          <a:prstGeom prst="rect">
            <a:avLst/>
          </a:prstGeom>
          <a:noFill/>
        </p:spPr>
        <p:txBody>
          <a:bodyPr wrap="square" rtlCol="0">
            <a:spAutoFit/>
          </a:bodyPr>
          <a:lstStyle/>
          <a:p>
            <a:r>
              <a:rPr lang="es-CO" b="1" dirty="0"/>
              <a:t>Datos de entrada: </a:t>
            </a:r>
          </a:p>
          <a:p>
            <a:pPr marL="285750" indent="-285750">
              <a:buFont typeface="Arial" panose="020B0604020202020204" pitchFamily="34" charset="0"/>
              <a:buChar char="•"/>
            </a:pPr>
            <a:r>
              <a:rPr lang="es-CO" sz="1600" b="1" dirty="0"/>
              <a:t>Numero al que se le calculara el factorial</a:t>
            </a:r>
            <a:endParaRPr lang="es-CO" sz="1600" dirty="0"/>
          </a:p>
          <a:p>
            <a:r>
              <a:rPr lang="es-CO" b="1" dirty="0"/>
              <a:t>Datos de salida: </a:t>
            </a:r>
          </a:p>
          <a:p>
            <a:pPr marL="285750" indent="-285750">
              <a:buFont typeface="Arial" panose="020B0604020202020204" pitchFamily="34" charset="0"/>
              <a:buChar char="•"/>
            </a:pPr>
            <a:r>
              <a:rPr lang="es-CO" sz="1600" b="1" dirty="0"/>
              <a:t>Factorial</a:t>
            </a:r>
            <a:endParaRPr lang="es-CO" sz="1600" dirty="0"/>
          </a:p>
          <a:p>
            <a:r>
              <a:rPr lang="es-CO" b="1" dirty="0"/>
              <a:t>Definición de variables:</a:t>
            </a:r>
          </a:p>
          <a:p>
            <a:pPr marL="285750" indent="-285750">
              <a:buFont typeface="Arial" panose="020B0604020202020204" pitchFamily="34" charset="0"/>
              <a:buChar char="•"/>
            </a:pPr>
            <a:r>
              <a:rPr lang="es-CO" sz="1600" b="1" dirty="0"/>
              <a:t>Entrada/salida</a:t>
            </a:r>
            <a:r>
              <a:rPr lang="es-CO" sz="1600" dirty="0"/>
              <a:t>:</a:t>
            </a:r>
          </a:p>
          <a:p>
            <a:pPr marL="800100" lvl="1" indent="-342900">
              <a:buFont typeface="Arial" pitchFamily="34" charset="0"/>
              <a:buChar char="•"/>
            </a:pPr>
            <a:r>
              <a:rPr lang="es-CO" sz="1600" b="1" dirty="0">
                <a:latin typeface="Consolas" panose="020B0609020204030204" pitchFamily="49" charset="0"/>
              </a:rPr>
              <a:t>n</a:t>
            </a:r>
            <a:r>
              <a:rPr lang="es-CO" sz="1600" b="1" dirty="0"/>
              <a:t>:</a:t>
            </a:r>
            <a:r>
              <a:rPr lang="es-CO" sz="1600" dirty="0"/>
              <a:t> Numero al que de le calculara el factorial</a:t>
            </a:r>
          </a:p>
          <a:p>
            <a:pPr marL="800100" lvl="1" indent="-342900">
              <a:buFont typeface="Arial" pitchFamily="34" charset="0"/>
              <a:buChar char="•"/>
            </a:pPr>
            <a:r>
              <a:rPr lang="es-CO" sz="1600" b="1" dirty="0">
                <a:latin typeface="Consolas" panose="020B0609020204030204" pitchFamily="49" charset="0"/>
              </a:rPr>
              <a:t>fact</a:t>
            </a:r>
            <a:r>
              <a:rPr lang="es-CO" sz="1600" b="1" dirty="0"/>
              <a:t>:</a:t>
            </a:r>
            <a:r>
              <a:rPr lang="es-CO" sz="1600" dirty="0"/>
              <a:t> factorial del numero (</a:t>
            </a:r>
            <a:r>
              <a:rPr lang="es-CO" sz="1600" b="1" i="1" dirty="0"/>
              <a:t>acumulador</a:t>
            </a:r>
            <a:r>
              <a:rPr lang="es-CO" sz="1600" dirty="0"/>
              <a:t>).</a:t>
            </a:r>
          </a:p>
          <a:p>
            <a:pPr marL="342900" indent="-342900">
              <a:buFont typeface="Arial" pitchFamily="34" charset="0"/>
              <a:buChar char="•"/>
            </a:pPr>
            <a:r>
              <a:rPr lang="es-CO" sz="1600" b="1" dirty="0"/>
              <a:t>Variables auxiliares</a:t>
            </a:r>
            <a:r>
              <a:rPr lang="es-CO" sz="1600" dirty="0"/>
              <a:t>:</a:t>
            </a:r>
          </a:p>
          <a:p>
            <a:pPr marL="800100" lvl="1" indent="-342900">
              <a:buFont typeface="Arial" pitchFamily="34" charset="0"/>
              <a:buChar char="•"/>
            </a:pPr>
            <a:r>
              <a:rPr lang="es-CO" sz="1600" b="1" dirty="0">
                <a:latin typeface="Consolas" panose="020B0609020204030204" pitchFamily="49" charset="0"/>
              </a:rPr>
              <a:t>i</a:t>
            </a:r>
            <a:r>
              <a:rPr lang="es-CO" sz="1600" b="1" dirty="0"/>
              <a:t>: </a:t>
            </a:r>
            <a:r>
              <a:rPr lang="es-CO" sz="1600" dirty="0"/>
              <a:t>Contador que recorre los valores desde 1 hasta n (para generar el i-</a:t>
            </a:r>
            <a:r>
              <a:rPr lang="es-CO" sz="1600" dirty="0" err="1"/>
              <a:t>esimo</a:t>
            </a:r>
            <a:r>
              <a:rPr lang="es-CO" sz="1600" dirty="0"/>
              <a:t> numero)</a:t>
            </a:r>
          </a:p>
        </p:txBody>
      </p:sp>
      <p:sp>
        <p:nvSpPr>
          <p:cNvPr id="8" name="1 Rectángulo">
            <a:extLst>
              <a:ext uri="{FF2B5EF4-FFF2-40B4-BE49-F238E27FC236}">
                <a16:creationId xmlns:a16="http://schemas.microsoft.com/office/drawing/2014/main" id="{D2CD4111-731B-484D-BD53-9DB44252CF1E}"/>
              </a:ext>
            </a:extLst>
          </p:cNvPr>
          <p:cNvSpPr/>
          <p:nvPr/>
        </p:nvSpPr>
        <p:spPr>
          <a:xfrm>
            <a:off x="4428194" y="2859433"/>
            <a:ext cx="4320298" cy="1846659"/>
          </a:xfrm>
          <a:prstGeom prst="rect">
            <a:avLst/>
          </a:prstGeom>
        </p:spPr>
        <p:txBody>
          <a:bodyPr wrap="square">
            <a:spAutoFit/>
          </a:bodyPr>
          <a:lstStyle/>
          <a:p>
            <a:r>
              <a:rPr lang="es-CO" b="1" dirty="0"/>
              <a:t>Proceso: </a:t>
            </a:r>
          </a:p>
          <a:p>
            <a:pPr marL="285750" indent="-285750">
              <a:buFont typeface="Arial" panose="020B0604020202020204" pitchFamily="34" charset="0"/>
              <a:buChar char="•"/>
            </a:pPr>
            <a:r>
              <a:rPr lang="es-CO" sz="1600" dirty="0"/>
              <a:t>Inicializar variables (i = 1, fac = 1)</a:t>
            </a:r>
          </a:p>
          <a:p>
            <a:pPr marL="285750" indent="-285750">
              <a:buFont typeface="Arial" panose="020B0604020202020204" pitchFamily="34" charset="0"/>
              <a:buChar char="•"/>
            </a:pPr>
            <a:r>
              <a:rPr lang="es-CO" sz="1600" dirty="0"/>
              <a:t>Solicitar el numero</a:t>
            </a:r>
          </a:p>
          <a:p>
            <a:pPr marL="285750" indent="-285750">
              <a:buFont typeface="Arial" panose="020B0604020202020204" pitchFamily="34" charset="0"/>
              <a:buChar char="•"/>
            </a:pPr>
            <a:r>
              <a:rPr lang="es-CO" sz="1600" dirty="0"/>
              <a:t>Repetir mientras </a:t>
            </a:r>
            <a:r>
              <a:rPr lang="es-CO" sz="1600" b="1" dirty="0"/>
              <a:t>i</a:t>
            </a:r>
            <a:r>
              <a:rPr lang="es-CO" sz="1600" dirty="0"/>
              <a:t> sea menor o igual que </a:t>
            </a:r>
            <a:r>
              <a:rPr lang="es-CO" sz="1600" b="1" dirty="0"/>
              <a:t>n</a:t>
            </a:r>
            <a:r>
              <a:rPr lang="es-CO" sz="1600" dirty="0"/>
              <a:t>:</a:t>
            </a:r>
          </a:p>
          <a:p>
            <a:pPr marL="742950" lvl="1" indent="-285750">
              <a:buFont typeface="Arial" panose="020B0604020202020204" pitchFamily="34" charset="0"/>
              <a:buChar char="•"/>
            </a:pPr>
            <a:r>
              <a:rPr lang="es-CO" sz="1600" dirty="0"/>
              <a:t>Calcular el factorial i-</a:t>
            </a:r>
            <a:r>
              <a:rPr lang="es-CO" sz="1600" dirty="0" err="1"/>
              <a:t>esimo</a:t>
            </a:r>
            <a:r>
              <a:rPr lang="es-CO" sz="1600" dirty="0"/>
              <a:t>.</a:t>
            </a:r>
          </a:p>
          <a:p>
            <a:pPr marL="742950" lvl="1" indent="-285750">
              <a:buFont typeface="Arial" panose="020B0604020202020204" pitchFamily="34" charset="0"/>
              <a:buChar char="•"/>
            </a:pPr>
            <a:r>
              <a:rPr lang="es-CO" sz="1600" dirty="0"/>
              <a:t>Incrementar i en 1.</a:t>
            </a:r>
          </a:p>
          <a:p>
            <a:pPr marL="285750" indent="-285750">
              <a:buFont typeface="Arial" panose="020B0604020202020204" pitchFamily="34" charset="0"/>
              <a:buChar char="•"/>
            </a:pPr>
            <a:r>
              <a:rPr lang="es-CO" sz="1600" dirty="0"/>
              <a:t>Imprimir el resultado del factorial.</a:t>
            </a:r>
          </a:p>
        </p:txBody>
      </p:sp>
      <p:grpSp>
        <p:nvGrpSpPr>
          <p:cNvPr id="3" name="Grupo 2">
            <a:extLst>
              <a:ext uri="{FF2B5EF4-FFF2-40B4-BE49-F238E27FC236}">
                <a16:creationId xmlns:a16="http://schemas.microsoft.com/office/drawing/2014/main" id="{A460DBFE-9DB3-4BB1-A9F9-FD249863F334}"/>
              </a:ext>
            </a:extLst>
          </p:cNvPr>
          <p:cNvGrpSpPr/>
          <p:nvPr/>
        </p:nvGrpSpPr>
        <p:grpSpPr>
          <a:xfrm>
            <a:off x="330277" y="1217051"/>
            <a:ext cx="8202163" cy="1563877"/>
            <a:chOff x="233375" y="1772816"/>
            <a:chExt cx="8202163" cy="1563877"/>
          </a:xfrm>
        </p:grpSpPr>
        <p:sp>
          <p:nvSpPr>
            <p:cNvPr id="11" name="1 Rectángulo">
              <a:extLst>
                <a:ext uri="{FF2B5EF4-FFF2-40B4-BE49-F238E27FC236}">
                  <a16:creationId xmlns:a16="http://schemas.microsoft.com/office/drawing/2014/main" id="{540D413B-A7AD-4E15-B61E-07613CAC7654}"/>
                </a:ext>
              </a:extLst>
            </p:cNvPr>
            <p:cNvSpPr/>
            <p:nvPr/>
          </p:nvSpPr>
          <p:spPr>
            <a:xfrm>
              <a:off x="617506" y="2351925"/>
              <a:ext cx="269626"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a:t>
              </a:r>
            </a:p>
          </p:txBody>
        </p:sp>
        <p:grpSp>
          <p:nvGrpSpPr>
            <p:cNvPr id="12" name="5 Grupo">
              <a:extLst>
                <a:ext uri="{FF2B5EF4-FFF2-40B4-BE49-F238E27FC236}">
                  <a16:creationId xmlns:a16="http://schemas.microsoft.com/office/drawing/2014/main" id="{1A05BD67-E6A6-4634-8859-E8E1D90EE473}"/>
                </a:ext>
              </a:extLst>
            </p:cNvPr>
            <p:cNvGrpSpPr/>
            <p:nvPr/>
          </p:nvGrpSpPr>
          <p:grpSpPr>
            <a:xfrm>
              <a:off x="233375" y="1772816"/>
              <a:ext cx="8202163" cy="783771"/>
              <a:chOff x="518399" y="1739458"/>
              <a:chExt cx="8202163" cy="783771"/>
            </a:xfrm>
          </p:grpSpPr>
          <p:sp>
            <p:nvSpPr>
              <p:cNvPr id="14" name="10 Rectángulo">
                <a:extLst>
                  <a:ext uri="{FF2B5EF4-FFF2-40B4-BE49-F238E27FC236}">
                    <a16:creationId xmlns:a16="http://schemas.microsoft.com/office/drawing/2014/main" id="{76751F89-80A9-4606-AB8E-D70DD2115DB9}"/>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893EE330-1990-4874-A1E0-B9BAB3B05622}"/>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5ADD7646-714E-4102-82EA-E1712BF02482}"/>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8" name="14 Flecha derecha">
                <a:extLst>
                  <a:ext uri="{FF2B5EF4-FFF2-40B4-BE49-F238E27FC236}">
                    <a16:creationId xmlns:a16="http://schemas.microsoft.com/office/drawing/2014/main" id="{EA41A641-35E2-4726-8F69-9160C8BF5860}"/>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21 Flecha derecha">
                <a:extLst>
                  <a:ext uri="{FF2B5EF4-FFF2-40B4-BE49-F238E27FC236}">
                    <a16:creationId xmlns:a16="http://schemas.microsoft.com/office/drawing/2014/main" id="{C4ADF9AB-173D-4A2A-AFEA-BE316A3DF3B5}"/>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3" name="1 Rectángulo">
              <a:extLst>
                <a:ext uri="{FF2B5EF4-FFF2-40B4-BE49-F238E27FC236}">
                  <a16:creationId xmlns:a16="http://schemas.microsoft.com/office/drawing/2014/main" id="{BE35B936-32F4-4E5E-A11A-DE3552FBC249}"/>
                </a:ext>
              </a:extLst>
            </p:cNvPr>
            <p:cNvSpPr/>
            <p:nvPr/>
          </p:nvSpPr>
          <p:spPr>
            <a:xfrm>
              <a:off x="7500404" y="2363495"/>
              <a:ext cx="524503"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fact</a:t>
              </a:r>
            </a:p>
          </p:txBody>
        </p:sp>
        <p:sp>
          <p:nvSpPr>
            <p:cNvPr id="20" name="10 Rectángulo">
              <a:extLst>
                <a:ext uri="{FF2B5EF4-FFF2-40B4-BE49-F238E27FC236}">
                  <a16:creationId xmlns:a16="http://schemas.microsoft.com/office/drawing/2014/main" id="{26C90D08-6808-4DB4-9A83-4AE11393BE17}"/>
                </a:ext>
              </a:extLst>
            </p:cNvPr>
            <p:cNvSpPr/>
            <p:nvPr/>
          </p:nvSpPr>
          <p:spPr>
            <a:xfrm>
              <a:off x="3136637" y="2628009"/>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sp>
          <p:nvSpPr>
            <p:cNvPr id="21" name="1 Rectángulo">
              <a:extLst>
                <a:ext uri="{FF2B5EF4-FFF2-40B4-BE49-F238E27FC236}">
                  <a16:creationId xmlns:a16="http://schemas.microsoft.com/office/drawing/2014/main" id="{F80EB489-DED4-4574-86F0-F33DCB270A14}"/>
                </a:ext>
              </a:extLst>
            </p:cNvPr>
            <p:cNvSpPr/>
            <p:nvPr/>
          </p:nvSpPr>
          <p:spPr>
            <a:xfrm>
              <a:off x="3563888" y="3059694"/>
              <a:ext cx="269626"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i</a:t>
              </a:r>
            </a:p>
          </p:txBody>
        </p:sp>
      </p:grpSp>
    </p:spTree>
    <p:extLst>
      <p:ext uri="{BB962C8B-B14F-4D97-AF65-F5344CB8AC3E}">
        <p14:creationId xmlns:p14="http://schemas.microsoft.com/office/powerpoint/2010/main" val="2936373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3</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295815" y="1206576"/>
            <a:ext cx="3354440" cy="400110"/>
          </a:xfrm>
          <a:prstGeom prst="rect">
            <a:avLst/>
          </a:prstGeom>
          <a:noFill/>
        </p:spPr>
        <p:txBody>
          <a:bodyPr wrap="square" rtlCol="0">
            <a:spAutoFit/>
          </a:bodyPr>
          <a:lstStyle/>
          <a:p>
            <a:r>
              <a:rPr lang="es-CO" sz="2000" b="1" dirty="0"/>
              <a:t>Pseudocódigo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367055" y="1614560"/>
            <a:ext cx="5121063"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i = 1</a:t>
            </a:r>
          </a:p>
          <a:p>
            <a:r>
              <a:rPr lang="es-MX" sz="1200" dirty="0">
                <a:latin typeface="Consolas" panose="020B0609020204030204" pitchFamily="49" charset="0"/>
              </a:rPr>
              <a:t>  fact = 1</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(i &lt;= n)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fact = fact * i </a:t>
            </a:r>
          </a:p>
          <a:p>
            <a:r>
              <a:rPr lang="es-MX" sz="1200" dirty="0">
                <a:solidFill>
                  <a:srgbClr val="00B050"/>
                </a:solidFill>
                <a:latin typeface="Consolas" panose="020B0609020204030204" pitchFamily="49" charset="0"/>
              </a:rPr>
              <a:t>     i = i + 1    </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  Escribir(n, '! = ',fact)</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9" name="CuadroTexto 8">
            <a:extLst>
              <a:ext uri="{FF2B5EF4-FFF2-40B4-BE49-F238E27FC236}">
                <a16:creationId xmlns:a16="http://schemas.microsoft.com/office/drawing/2014/main" id="{AB96154D-8C57-41FF-832A-5D4742A55E78}"/>
              </a:ext>
            </a:extLst>
          </p:cNvPr>
          <p:cNvSpPr txBox="1"/>
          <p:nvPr/>
        </p:nvSpPr>
        <p:spPr>
          <a:xfrm>
            <a:off x="278484" y="4028346"/>
            <a:ext cx="2424161" cy="400110"/>
          </a:xfrm>
          <a:prstGeom prst="rect">
            <a:avLst/>
          </a:prstGeom>
          <a:noFill/>
        </p:spPr>
        <p:txBody>
          <a:bodyPr wrap="square" rtlCol="0">
            <a:spAutoFit/>
          </a:bodyPr>
          <a:lstStyle/>
          <a:p>
            <a:r>
              <a:rPr lang="es-CO" sz="2000" b="1" dirty="0"/>
              <a:t>Python</a:t>
            </a:r>
          </a:p>
        </p:txBody>
      </p:sp>
      <p:sp>
        <p:nvSpPr>
          <p:cNvPr id="11" name="CuadroTexto 10">
            <a:extLst>
              <a:ext uri="{FF2B5EF4-FFF2-40B4-BE49-F238E27FC236}">
                <a16:creationId xmlns:a16="http://schemas.microsoft.com/office/drawing/2014/main" id="{1DC671ED-4724-4412-9F1A-D283A0901042}"/>
              </a:ext>
            </a:extLst>
          </p:cNvPr>
          <p:cNvSpPr txBox="1"/>
          <p:nvPr/>
        </p:nvSpPr>
        <p:spPr>
          <a:xfrm>
            <a:off x="329738" y="4437112"/>
            <a:ext cx="5141049"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1</a:t>
            </a:r>
          </a:p>
          <a:p>
            <a:r>
              <a:rPr lang="es-MX" sz="1200" dirty="0">
                <a:latin typeface="Consolas" panose="020B0609020204030204" pitchFamily="49" charset="0"/>
              </a:rPr>
              <a:t>fact = 1</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(input('Digite el numero (&gt;= 0): '))</a:t>
            </a:r>
          </a:p>
          <a:p>
            <a:r>
              <a:rPr lang="es-MX" sz="1200" dirty="0">
                <a:solidFill>
                  <a:schemeClr val="accent5"/>
                </a:solidFill>
                <a:latin typeface="Consolas" panose="020B0609020204030204" pitchFamily="49" charset="0"/>
              </a:rPr>
              <a:t>while</a:t>
            </a:r>
            <a:r>
              <a:rPr lang="es-MX" sz="1200" dirty="0">
                <a:latin typeface="Consolas" panose="020B0609020204030204" pitchFamily="49" charset="0"/>
              </a:rPr>
              <a:t> i &lt;= n:</a:t>
            </a:r>
          </a:p>
          <a:p>
            <a:r>
              <a:rPr lang="es-MX" sz="1200" dirty="0">
                <a:solidFill>
                  <a:srgbClr val="00B050"/>
                </a:solidFill>
                <a:latin typeface="Consolas" panose="020B0609020204030204" pitchFamily="49" charset="0"/>
              </a:rPr>
              <a:t>  fact = fact * i</a:t>
            </a:r>
          </a:p>
          <a:p>
            <a:r>
              <a:rPr lang="es-MX" sz="1200" dirty="0">
                <a:solidFill>
                  <a:srgbClr val="00B050"/>
                </a:solidFill>
                <a:latin typeface="Consolas" panose="020B0609020204030204" pitchFamily="49" charset="0"/>
              </a:rPr>
              <a:t>  i = i + 1</a:t>
            </a:r>
          </a:p>
          <a:p>
            <a:r>
              <a:rPr lang="es-MX" sz="1200" dirty="0">
                <a:latin typeface="Consolas" panose="020B0609020204030204" pitchFamily="49" charset="0"/>
              </a:rPr>
              <a:t>print(f"{n}! = {fact}")</a:t>
            </a:r>
          </a:p>
        </p:txBody>
      </p:sp>
      <p:pic>
        <p:nvPicPr>
          <p:cNvPr id="3" name="Imagen 2">
            <a:extLst>
              <a:ext uri="{FF2B5EF4-FFF2-40B4-BE49-F238E27FC236}">
                <a16:creationId xmlns:a16="http://schemas.microsoft.com/office/drawing/2014/main" id="{87E653DF-1326-4A17-A7DA-8CDDAA837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1378977"/>
            <a:ext cx="2057400" cy="5057775"/>
          </a:xfrm>
          <a:prstGeom prst="rect">
            <a:avLst/>
          </a:prstGeom>
        </p:spPr>
      </p:pic>
      <p:sp>
        <p:nvSpPr>
          <p:cNvPr id="12" name="CuadroTexto 11">
            <a:extLst>
              <a:ext uri="{FF2B5EF4-FFF2-40B4-BE49-F238E27FC236}">
                <a16:creationId xmlns:a16="http://schemas.microsoft.com/office/drawing/2014/main" id="{1326BCD4-B695-4C99-8637-6D8CD2F79D87}"/>
              </a:ext>
            </a:extLst>
          </p:cNvPr>
          <p:cNvSpPr txBox="1"/>
          <p:nvPr/>
        </p:nvSpPr>
        <p:spPr>
          <a:xfrm>
            <a:off x="2089315" y="5822107"/>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2770057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3</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55284" y="3498482"/>
            <a:ext cx="3928683" cy="400110"/>
          </a:xfrm>
          <a:prstGeom prst="rect">
            <a:avLst/>
          </a:prstGeom>
          <a:noFill/>
        </p:spPr>
        <p:txBody>
          <a:bodyPr wrap="square" rtlCol="0">
            <a:spAutoFit/>
          </a:bodyPr>
          <a:lstStyle/>
          <a:p>
            <a:r>
              <a:rPr lang="es-CO" sz="2000" b="1" dirty="0"/>
              <a:t>Prueba de escritorio</a:t>
            </a:r>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4057760978"/>
              </p:ext>
            </p:extLst>
          </p:nvPr>
        </p:nvGraphicFramePr>
        <p:xfrm>
          <a:off x="611560" y="4591579"/>
          <a:ext cx="2304256" cy="1158240"/>
        </p:xfrm>
        <a:graphic>
          <a:graphicData uri="http://schemas.openxmlformats.org/drawingml/2006/table">
            <a:tbl>
              <a:tblPr firstRow="1" bandRow="1">
                <a:tableStyleId>{5940675A-B579-460E-94D1-54222C63F5DA}</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factorial</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0</a:t>
                      </a:r>
                    </a:p>
                    <a:p>
                      <a:pPr algn="ctr"/>
                      <a:r>
                        <a:rPr lang="es-CO" sz="1600" b="0" dirty="0">
                          <a:solidFill>
                            <a:schemeClr val="tx1"/>
                          </a:solidFill>
                          <a:latin typeface="+mn-lt"/>
                          <a:cs typeface="Consolas" panose="020B0609020204030204" pitchFamily="49" charset="0"/>
                        </a:rPr>
                        <a:t>3</a:t>
                      </a:r>
                    </a:p>
                    <a:p>
                      <a:pPr algn="ctr"/>
                      <a:r>
                        <a:rPr lang="es-CO" sz="1600" b="0" dirty="0">
                          <a:solidFill>
                            <a:schemeClr val="tx1"/>
                          </a:solidFill>
                          <a:latin typeface="+mn-lt"/>
                          <a:cs typeface="Consolas" panose="020B0609020204030204" pitchFamily="49" charset="0"/>
                        </a:rPr>
                        <a:t>5</a:t>
                      </a:r>
                    </a:p>
                  </a:txBody>
                  <a:tcPr/>
                </a:tc>
                <a:tc>
                  <a:txBody>
                    <a:bodyPr/>
                    <a:lstStyle/>
                    <a:p>
                      <a:pPr algn="ctr"/>
                      <a:r>
                        <a:rPr lang="es-CO" sz="1600" b="0" dirty="0">
                          <a:solidFill>
                            <a:schemeClr val="tx1"/>
                          </a:solidFill>
                          <a:latin typeface="+mn-lt"/>
                          <a:cs typeface="Consolas" panose="020B0609020204030204" pitchFamily="49" charset="0"/>
                        </a:rPr>
                        <a:t>1</a:t>
                      </a:r>
                    </a:p>
                    <a:p>
                      <a:pPr algn="ctr"/>
                      <a:r>
                        <a:rPr lang="es-CO" sz="1600" b="0" dirty="0">
                          <a:solidFill>
                            <a:schemeClr val="tx1"/>
                          </a:solidFill>
                          <a:latin typeface="+mn-lt"/>
                          <a:cs typeface="Consolas" panose="020B0609020204030204" pitchFamily="49" charset="0"/>
                        </a:rPr>
                        <a:t>6</a:t>
                      </a:r>
                    </a:p>
                    <a:p>
                      <a:pPr algn="ctr"/>
                      <a:r>
                        <a:rPr lang="es-CO" sz="1600" b="0" dirty="0">
                          <a:solidFill>
                            <a:schemeClr val="tx1"/>
                          </a:solidFill>
                          <a:latin typeface="+mn-lt"/>
                          <a:cs typeface="Consolas" panose="020B0609020204030204" pitchFamily="49" charset="0"/>
                        </a:rPr>
                        <a:t>120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3157094009"/>
              </p:ext>
            </p:extLst>
          </p:nvPr>
        </p:nvGraphicFramePr>
        <p:xfrm>
          <a:off x="3473226" y="4263993"/>
          <a:ext cx="2066924" cy="2133600"/>
        </p:xfrm>
        <a:graphic>
          <a:graphicData uri="http://schemas.openxmlformats.org/drawingml/2006/table">
            <a:tbl>
              <a:tblPr firstRow="1" bandRow="1">
                <a:tableStyleId>{5940675A-B579-460E-94D1-54222C63F5DA}</a:tableStyleId>
              </a:tblPr>
              <a:tblGrid>
                <a:gridCol w="503408">
                  <a:extLst>
                    <a:ext uri="{9D8B030D-6E8A-4147-A177-3AD203B41FA5}">
                      <a16:colId xmlns:a16="http://schemas.microsoft.com/office/drawing/2014/main" val="20001"/>
                    </a:ext>
                  </a:extLst>
                </a:gridCol>
                <a:gridCol w="781758">
                  <a:extLst>
                    <a:ext uri="{9D8B030D-6E8A-4147-A177-3AD203B41FA5}">
                      <a16:colId xmlns:a16="http://schemas.microsoft.com/office/drawing/2014/main" val="20003"/>
                    </a:ext>
                  </a:extLst>
                </a:gridCol>
                <a:gridCol w="781758">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fact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9" name="Imagen 8">
            <a:extLst>
              <a:ext uri="{FF2B5EF4-FFF2-40B4-BE49-F238E27FC236}">
                <a16:creationId xmlns:a16="http://schemas.microsoft.com/office/drawing/2014/main" id="{EE6B3A4C-C923-41E3-A859-41A13D07D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1254928"/>
            <a:ext cx="2057400" cy="5057775"/>
          </a:xfrm>
          <a:prstGeom prst="rect">
            <a:avLst/>
          </a:prstGeom>
        </p:spPr>
      </p:pic>
      <p:sp>
        <p:nvSpPr>
          <p:cNvPr id="11" name="CuadroTexto 10">
            <a:extLst>
              <a:ext uri="{FF2B5EF4-FFF2-40B4-BE49-F238E27FC236}">
                <a16:creationId xmlns:a16="http://schemas.microsoft.com/office/drawing/2014/main" id="{E26969BE-3F89-4E07-BAE0-860AF93887D1}"/>
              </a:ext>
            </a:extLst>
          </p:cNvPr>
          <p:cNvSpPr txBox="1"/>
          <p:nvPr/>
        </p:nvSpPr>
        <p:spPr>
          <a:xfrm>
            <a:off x="355284" y="1108181"/>
            <a:ext cx="5121063"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i = 1</a:t>
            </a:r>
          </a:p>
          <a:p>
            <a:r>
              <a:rPr lang="es-MX" sz="1200" dirty="0">
                <a:latin typeface="Consolas" panose="020B0609020204030204" pitchFamily="49" charset="0"/>
              </a:rPr>
              <a:t>  fact = 1</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(i &lt;= n)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fact = fact * i </a:t>
            </a:r>
          </a:p>
          <a:p>
            <a:r>
              <a:rPr lang="es-MX" sz="1200" dirty="0">
                <a:solidFill>
                  <a:srgbClr val="00B050"/>
                </a:solidFill>
                <a:latin typeface="Consolas" panose="020B0609020204030204" pitchFamily="49" charset="0"/>
              </a:rPr>
              <a:t>     i = i + 1    </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  Escribir(n, '! = ',fact)</a:t>
            </a:r>
          </a:p>
          <a:p>
            <a:r>
              <a:rPr lang="es-MX" sz="1200" dirty="0">
                <a:latin typeface="Consolas" panose="020B0609020204030204" pitchFamily="49" charset="0"/>
              </a:rPr>
              <a:t>Fin</a:t>
            </a:r>
            <a:endParaRPr lang="es-CO" sz="1200" dirty="0">
              <a:latin typeface="Consolas" panose="020B0609020204030204" pitchFamily="49" charset="0"/>
            </a:endParaRPr>
          </a:p>
        </p:txBody>
      </p:sp>
    </p:spTree>
    <p:extLst>
      <p:ext uri="{BB962C8B-B14F-4D97-AF65-F5344CB8AC3E}">
        <p14:creationId xmlns:p14="http://schemas.microsoft.com/office/powerpoint/2010/main" val="1087117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3</a:t>
            </a:r>
            <a:endParaRPr lang="es-CO" dirty="0">
              <a:highlight>
                <a:srgbClr val="FFFF00"/>
              </a:highlight>
            </a:endParaRPr>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2930049267"/>
              </p:ext>
            </p:extLst>
          </p:nvPr>
        </p:nvGraphicFramePr>
        <p:xfrm>
          <a:off x="922868" y="4437112"/>
          <a:ext cx="1560899" cy="727709"/>
        </p:xfrm>
        <a:graphic>
          <a:graphicData uri="http://schemas.openxmlformats.org/drawingml/2006/table">
            <a:tbl>
              <a:tblPr firstRow="1" bandRow="1">
                <a:tableStyleId>{5940675A-B579-460E-94D1-54222C63F5DA}</a:tableStyleId>
              </a:tblPr>
              <a:tblGrid>
                <a:gridCol w="477562">
                  <a:extLst>
                    <a:ext uri="{9D8B030D-6E8A-4147-A177-3AD203B41FA5}">
                      <a16:colId xmlns:a16="http://schemas.microsoft.com/office/drawing/2014/main" val="20000"/>
                    </a:ext>
                  </a:extLst>
                </a:gridCol>
                <a:gridCol w="1083337">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factorial</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5</a:t>
                      </a:r>
                    </a:p>
                  </a:txBody>
                  <a:tcPr/>
                </a:tc>
                <a:tc>
                  <a:txBody>
                    <a:bodyPr/>
                    <a:lstStyle/>
                    <a:p>
                      <a:pPr algn="ctr"/>
                      <a:r>
                        <a:rPr lang="es-CO" sz="1600" b="0" dirty="0">
                          <a:solidFill>
                            <a:schemeClr val="tx1"/>
                          </a:solidFill>
                          <a:latin typeface="+mn-lt"/>
                          <a:cs typeface="Consolas" panose="020B0609020204030204" pitchFamily="49" charset="0"/>
                        </a:rPr>
                        <a:t>120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1684689968"/>
              </p:ext>
            </p:extLst>
          </p:nvPr>
        </p:nvGraphicFramePr>
        <p:xfrm>
          <a:off x="3314783" y="4437112"/>
          <a:ext cx="2570981" cy="2133600"/>
        </p:xfrm>
        <a:graphic>
          <a:graphicData uri="http://schemas.openxmlformats.org/drawingml/2006/table">
            <a:tbl>
              <a:tblPr firstRow="1" bandRow="1">
                <a:tableStyleId>{5940675A-B579-460E-94D1-54222C63F5DA}</a:tableStyleId>
              </a:tblPr>
              <a:tblGrid>
                <a:gridCol w="626173">
                  <a:extLst>
                    <a:ext uri="{9D8B030D-6E8A-4147-A177-3AD203B41FA5}">
                      <a16:colId xmlns:a16="http://schemas.microsoft.com/office/drawing/2014/main" val="20001"/>
                    </a:ext>
                  </a:extLst>
                </a:gridCol>
                <a:gridCol w="972404">
                  <a:extLst>
                    <a:ext uri="{9D8B030D-6E8A-4147-A177-3AD203B41FA5}">
                      <a16:colId xmlns:a16="http://schemas.microsoft.com/office/drawing/2014/main" val="20003"/>
                    </a:ext>
                  </a:extLst>
                </a:gridCol>
                <a:gridCol w="972404">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fact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r>
                        <a:rPr lang="es-MX" sz="1600" strike="sngStrike" dirty="0">
                          <a:solidFill>
                            <a:srgbClr val="FF0000"/>
                          </a:solidFill>
                          <a:latin typeface="Consolas" panose="020B0609020204030204" pitchFamily="49" charset="0"/>
                        </a:rPr>
                        <a:t>?</a:t>
                      </a:r>
                    </a:p>
                    <a:p>
                      <a:pPr algn="ctr"/>
                      <a:r>
                        <a:rPr lang="es-MX" sz="1600" dirty="0">
                          <a:highlight>
                            <a:srgbClr val="FFFF00"/>
                          </a:highlight>
                          <a:latin typeface="Consolas" panose="020B0609020204030204" pitchFamily="49" charset="0"/>
                        </a:rPr>
                        <a:t>5</a:t>
                      </a: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2</a:t>
                      </a:r>
                    </a:p>
                    <a:p>
                      <a:pPr algn="ctr"/>
                      <a:r>
                        <a:rPr lang="es-MX" sz="1600" strike="sngStrike" dirty="0">
                          <a:solidFill>
                            <a:srgbClr val="FF0000"/>
                          </a:solidFill>
                          <a:latin typeface="Consolas" panose="020B0609020204030204" pitchFamily="49" charset="0"/>
                        </a:rPr>
                        <a:t>3</a:t>
                      </a:r>
                    </a:p>
                    <a:p>
                      <a:pPr algn="ctr"/>
                      <a:r>
                        <a:rPr lang="es-MX" sz="1600" strike="sngStrike" dirty="0">
                          <a:solidFill>
                            <a:srgbClr val="FF0000"/>
                          </a:solidFill>
                          <a:latin typeface="Consolas" panose="020B0609020204030204" pitchFamily="49" charset="0"/>
                        </a:rPr>
                        <a:t>4</a:t>
                      </a:r>
                    </a:p>
                    <a:p>
                      <a:pPr algn="ctr"/>
                      <a:r>
                        <a:rPr lang="es-MX" sz="1600" u="none" strike="sngStrike" dirty="0">
                          <a:solidFill>
                            <a:srgbClr val="FF0000"/>
                          </a:solidFill>
                          <a:latin typeface="Consolas" panose="020B0609020204030204" pitchFamily="49" charset="0"/>
                        </a:rPr>
                        <a:t>5</a:t>
                      </a:r>
                      <a:endParaRPr lang="es-MX" sz="1600" u="none" strike="noStrike" dirty="0">
                        <a:solidFill>
                          <a:srgbClr val="FF0000"/>
                        </a:solidFill>
                        <a:latin typeface="Consolas" panose="020B0609020204030204" pitchFamily="49" charset="0"/>
                      </a:endParaRPr>
                    </a:p>
                    <a:p>
                      <a:pPr algn="ctr"/>
                      <a:r>
                        <a:rPr lang="es-MX" sz="1600" strike="noStrike" dirty="0">
                          <a:solidFill>
                            <a:schemeClr val="tx1"/>
                          </a:solidFill>
                          <a:latin typeface="Consolas" panose="020B0609020204030204" pitchFamily="49"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2</a:t>
                      </a:r>
                    </a:p>
                    <a:p>
                      <a:pPr algn="ctr"/>
                      <a:r>
                        <a:rPr lang="es-MX" sz="1600" strike="sngStrike" dirty="0">
                          <a:solidFill>
                            <a:srgbClr val="FF0000"/>
                          </a:solidFill>
                          <a:latin typeface="Consolas" panose="020B0609020204030204" pitchFamily="49" charset="0"/>
                        </a:rPr>
                        <a:t>6</a:t>
                      </a:r>
                    </a:p>
                    <a:p>
                      <a:pPr algn="ctr"/>
                      <a:r>
                        <a:rPr lang="es-MX" sz="1600" strike="sngStrike" dirty="0">
                          <a:solidFill>
                            <a:srgbClr val="FF0000"/>
                          </a:solidFill>
                          <a:latin typeface="Consolas" panose="020B0609020204030204" pitchFamily="49" charset="0"/>
                        </a:rPr>
                        <a:t>24</a:t>
                      </a:r>
                    </a:p>
                    <a:p>
                      <a:pPr algn="ctr"/>
                      <a:r>
                        <a:rPr lang="es-MX" sz="1600" strike="noStrike" dirty="0">
                          <a:solidFill>
                            <a:schemeClr val="tx1"/>
                          </a:solidFill>
                          <a:latin typeface="Consolas" panose="020B0609020204030204" pitchFamily="49" charset="0"/>
                        </a:rPr>
                        <a:t>120</a:t>
                      </a:r>
                    </a:p>
                    <a:p>
                      <a:pPr algn="ctr"/>
                      <a:endParaRPr lang="es-CO" sz="1600" dirty="0">
                        <a:highlight>
                          <a:srgbClr val="FFFF00"/>
                        </a:highlight>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cxnSp>
        <p:nvCxnSpPr>
          <p:cNvPr id="9" name="Conector recto de flecha 8">
            <a:extLst>
              <a:ext uri="{FF2B5EF4-FFF2-40B4-BE49-F238E27FC236}">
                <a16:creationId xmlns:a16="http://schemas.microsoft.com/office/drawing/2014/main" id="{2DA8ECEE-6E05-4652-9D7F-84B8B8A9161D}"/>
              </a:ext>
            </a:extLst>
          </p:cNvPr>
          <p:cNvCxnSpPr>
            <a:cxnSpLocks/>
          </p:cNvCxnSpPr>
          <p:nvPr/>
        </p:nvCxnSpPr>
        <p:spPr>
          <a:xfrm>
            <a:off x="3337601" y="5111750"/>
            <a:ext cx="198757" cy="1291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5F2148A5-F76C-47E0-A68B-05461CDC435B}"/>
              </a:ext>
            </a:extLst>
          </p:cNvPr>
          <p:cNvCxnSpPr>
            <a:cxnSpLocks/>
          </p:cNvCxnSpPr>
          <p:nvPr/>
        </p:nvCxnSpPr>
        <p:spPr>
          <a:xfrm flipV="1">
            <a:off x="5580112" y="6021288"/>
            <a:ext cx="172639" cy="1239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C3CE6CDB-CE77-4EC4-964F-FED7381E74E2}"/>
              </a:ext>
            </a:extLst>
          </p:cNvPr>
          <p:cNvSpPr txBox="1"/>
          <p:nvPr/>
        </p:nvSpPr>
        <p:spPr>
          <a:xfrm>
            <a:off x="388083" y="3670729"/>
            <a:ext cx="3928683" cy="400110"/>
          </a:xfrm>
          <a:prstGeom prst="rect">
            <a:avLst/>
          </a:prstGeom>
          <a:noFill/>
        </p:spPr>
        <p:txBody>
          <a:bodyPr wrap="square" rtlCol="0">
            <a:spAutoFit/>
          </a:bodyPr>
          <a:lstStyle/>
          <a:p>
            <a:r>
              <a:rPr lang="es-CO" sz="2000" b="1" dirty="0"/>
              <a:t>Prueba de escritorio (solución)</a:t>
            </a:r>
          </a:p>
        </p:txBody>
      </p:sp>
      <p:sp>
        <p:nvSpPr>
          <p:cNvPr id="16" name="CuadroTexto 15">
            <a:extLst>
              <a:ext uri="{FF2B5EF4-FFF2-40B4-BE49-F238E27FC236}">
                <a16:creationId xmlns:a16="http://schemas.microsoft.com/office/drawing/2014/main" id="{1FAEC720-2714-4FB1-9328-8FD2E1655FA8}"/>
              </a:ext>
            </a:extLst>
          </p:cNvPr>
          <p:cNvSpPr txBox="1"/>
          <p:nvPr/>
        </p:nvSpPr>
        <p:spPr>
          <a:xfrm>
            <a:off x="388083" y="1372969"/>
            <a:ext cx="4903997"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i = 1</a:t>
            </a:r>
          </a:p>
          <a:p>
            <a:r>
              <a:rPr lang="es-MX" sz="1200" dirty="0">
                <a:latin typeface="Consolas" panose="020B0609020204030204" pitchFamily="49" charset="0"/>
              </a:rPr>
              <a:t>  fact = 1</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(i &lt;= n)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fact = fact * i </a:t>
            </a:r>
          </a:p>
          <a:p>
            <a:r>
              <a:rPr lang="es-MX" sz="1200" dirty="0">
                <a:solidFill>
                  <a:srgbClr val="00B050"/>
                </a:solidFill>
                <a:latin typeface="Consolas" panose="020B0609020204030204" pitchFamily="49" charset="0"/>
              </a:rPr>
              <a:t>     i = i + 1    </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  Escribir(n, '! = ',fact)</a:t>
            </a:r>
          </a:p>
          <a:p>
            <a:r>
              <a:rPr lang="es-MX" sz="1200" dirty="0">
                <a:latin typeface="Consolas" panose="020B0609020204030204" pitchFamily="49" charset="0"/>
              </a:rPr>
              <a:t>Fin</a:t>
            </a:r>
            <a:endParaRPr lang="es-CO" sz="1200" dirty="0">
              <a:latin typeface="Consolas" panose="020B0609020204030204" pitchFamily="49" charset="0"/>
            </a:endParaRPr>
          </a:p>
        </p:txBody>
      </p:sp>
      <p:pic>
        <p:nvPicPr>
          <p:cNvPr id="18" name="Imagen 17">
            <a:extLst>
              <a:ext uri="{FF2B5EF4-FFF2-40B4-BE49-F238E27FC236}">
                <a16:creationId xmlns:a16="http://schemas.microsoft.com/office/drawing/2014/main" id="{DBF8629D-A6E3-4E92-B2C1-A5C6FB2723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200" y="783073"/>
            <a:ext cx="2057400" cy="5057775"/>
          </a:xfrm>
          <a:prstGeom prst="rect">
            <a:avLst/>
          </a:prstGeom>
        </p:spPr>
      </p:pic>
      <p:cxnSp>
        <p:nvCxnSpPr>
          <p:cNvPr id="19" name="Conector recto de flecha 18">
            <a:extLst>
              <a:ext uri="{FF2B5EF4-FFF2-40B4-BE49-F238E27FC236}">
                <a16:creationId xmlns:a16="http://schemas.microsoft.com/office/drawing/2014/main" id="{6C04725D-5C75-4B1C-936B-782EB0A4622D}"/>
              </a:ext>
            </a:extLst>
          </p:cNvPr>
          <p:cNvCxnSpPr>
            <a:cxnSpLocks/>
          </p:cNvCxnSpPr>
          <p:nvPr/>
        </p:nvCxnSpPr>
        <p:spPr>
          <a:xfrm flipV="1">
            <a:off x="3728473" y="5111750"/>
            <a:ext cx="170427" cy="1292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421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4</a:t>
            </a:r>
          </a:p>
        </p:txBody>
      </p:sp>
      <p:sp>
        <p:nvSpPr>
          <p:cNvPr id="7" name="12 Rectángulo">
            <a:extLst>
              <a:ext uri="{FF2B5EF4-FFF2-40B4-BE49-F238E27FC236}">
                <a16:creationId xmlns:a16="http://schemas.microsoft.com/office/drawing/2014/main" id="{31480163-1532-4B08-8163-9B8775D997E1}"/>
              </a:ext>
            </a:extLst>
          </p:cNvPr>
          <p:cNvSpPr/>
          <p:nvPr/>
        </p:nvSpPr>
        <p:spPr>
          <a:xfrm>
            <a:off x="233376" y="991847"/>
            <a:ext cx="4844841" cy="707886"/>
          </a:xfrm>
          <a:prstGeom prst="rect">
            <a:avLst/>
          </a:prstGeom>
        </p:spPr>
        <p:txBody>
          <a:bodyPr wrap="square">
            <a:spAutoFit/>
          </a:bodyPr>
          <a:lstStyle/>
          <a:p>
            <a:r>
              <a:rPr lang="es-MX" sz="2000" dirty="0"/>
              <a:t>Imprimir los números del n a 1 alternando el signo, por ejemplo: 6, -5, 4, -3, 2, -1.</a:t>
            </a:r>
          </a:p>
        </p:txBody>
      </p:sp>
      <p:grpSp>
        <p:nvGrpSpPr>
          <p:cNvPr id="2" name="Grupo 1">
            <a:extLst>
              <a:ext uri="{FF2B5EF4-FFF2-40B4-BE49-F238E27FC236}">
                <a16:creationId xmlns:a16="http://schemas.microsoft.com/office/drawing/2014/main" id="{86C193A2-14E5-423A-ADA7-79131C8CB496}"/>
              </a:ext>
            </a:extLst>
          </p:cNvPr>
          <p:cNvGrpSpPr/>
          <p:nvPr/>
        </p:nvGrpSpPr>
        <p:grpSpPr>
          <a:xfrm>
            <a:off x="233376" y="1844824"/>
            <a:ext cx="4885313" cy="1706572"/>
            <a:chOff x="192904" y="1851442"/>
            <a:chExt cx="4885313" cy="1706572"/>
          </a:xfrm>
        </p:grpSpPr>
        <p:sp>
          <p:nvSpPr>
            <p:cNvPr id="6" name="1 Rectángulo">
              <a:extLst>
                <a:ext uri="{FF2B5EF4-FFF2-40B4-BE49-F238E27FC236}">
                  <a16:creationId xmlns:a16="http://schemas.microsoft.com/office/drawing/2014/main" id="{4B0DCABA-F9B3-420E-B4D1-1A08A7B871CD}"/>
                </a:ext>
              </a:extLst>
            </p:cNvPr>
            <p:cNvSpPr/>
            <p:nvPr/>
          </p:nvSpPr>
          <p:spPr>
            <a:xfrm>
              <a:off x="532614" y="2430551"/>
              <a:ext cx="146759"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a:t>
              </a:r>
            </a:p>
          </p:txBody>
        </p:sp>
        <p:sp>
          <p:nvSpPr>
            <p:cNvPr id="12" name="10 Rectángulo">
              <a:extLst>
                <a:ext uri="{FF2B5EF4-FFF2-40B4-BE49-F238E27FC236}">
                  <a16:creationId xmlns:a16="http://schemas.microsoft.com/office/drawing/2014/main" id="{E8D17533-8D59-4DF4-A338-A75AC707E6A5}"/>
                </a:ext>
              </a:extLst>
            </p:cNvPr>
            <p:cNvSpPr/>
            <p:nvPr/>
          </p:nvSpPr>
          <p:spPr>
            <a:xfrm>
              <a:off x="192904" y="1991690"/>
              <a:ext cx="86313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3" name="11 Rectángulo">
              <a:extLst>
                <a:ext uri="{FF2B5EF4-FFF2-40B4-BE49-F238E27FC236}">
                  <a16:creationId xmlns:a16="http://schemas.microsoft.com/office/drawing/2014/main" id="{9C864B02-4D13-4FED-883C-8BE72E15D6D6}"/>
                </a:ext>
              </a:extLst>
            </p:cNvPr>
            <p:cNvSpPr/>
            <p:nvPr/>
          </p:nvSpPr>
          <p:spPr>
            <a:xfrm>
              <a:off x="1981210" y="1851442"/>
              <a:ext cx="1145689"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4" name="13 Rectángulo">
              <a:extLst>
                <a:ext uri="{FF2B5EF4-FFF2-40B4-BE49-F238E27FC236}">
                  <a16:creationId xmlns:a16="http://schemas.microsoft.com/office/drawing/2014/main" id="{45935C57-A247-484B-A005-2D0DA3146BDD}"/>
                </a:ext>
              </a:extLst>
            </p:cNvPr>
            <p:cNvSpPr/>
            <p:nvPr/>
          </p:nvSpPr>
          <p:spPr>
            <a:xfrm>
              <a:off x="4055514" y="1996586"/>
              <a:ext cx="102270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5" name="14 Flecha derecha">
              <a:extLst>
                <a:ext uri="{FF2B5EF4-FFF2-40B4-BE49-F238E27FC236}">
                  <a16:creationId xmlns:a16="http://schemas.microsoft.com/office/drawing/2014/main" id="{23E395DB-810A-40CF-88CF-B9173AED947B}"/>
                </a:ext>
              </a:extLst>
            </p:cNvPr>
            <p:cNvSpPr/>
            <p:nvPr/>
          </p:nvSpPr>
          <p:spPr>
            <a:xfrm>
              <a:off x="1049178" y="2150859"/>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21 Flecha derecha">
              <a:extLst>
                <a:ext uri="{FF2B5EF4-FFF2-40B4-BE49-F238E27FC236}">
                  <a16:creationId xmlns:a16="http://schemas.microsoft.com/office/drawing/2014/main" id="{93BC1988-84A4-4F4D-8851-FC7353A6173B}"/>
                </a:ext>
              </a:extLst>
            </p:cNvPr>
            <p:cNvSpPr/>
            <p:nvPr/>
          </p:nvSpPr>
          <p:spPr>
            <a:xfrm>
              <a:off x="3130888" y="2143602"/>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1 Rectángulo">
              <a:extLst>
                <a:ext uri="{FF2B5EF4-FFF2-40B4-BE49-F238E27FC236}">
                  <a16:creationId xmlns:a16="http://schemas.microsoft.com/office/drawing/2014/main" id="{A45329F4-DB33-4748-B206-11287C0829FA}"/>
                </a:ext>
              </a:extLst>
            </p:cNvPr>
            <p:cNvSpPr/>
            <p:nvPr/>
          </p:nvSpPr>
          <p:spPr>
            <a:xfrm>
              <a:off x="4343155" y="2437316"/>
              <a:ext cx="439544"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num</a:t>
              </a:r>
            </a:p>
          </p:txBody>
        </p:sp>
        <p:sp>
          <p:nvSpPr>
            <p:cNvPr id="10" name="10 Rectángulo">
              <a:extLst>
                <a:ext uri="{FF2B5EF4-FFF2-40B4-BE49-F238E27FC236}">
                  <a16:creationId xmlns:a16="http://schemas.microsoft.com/office/drawing/2014/main" id="{E60A337D-552B-4828-A95F-31769689D978}"/>
                </a:ext>
              </a:extLst>
            </p:cNvPr>
            <p:cNvSpPr/>
            <p:nvPr/>
          </p:nvSpPr>
          <p:spPr>
            <a:xfrm>
              <a:off x="1526830" y="2677991"/>
              <a:ext cx="2161989"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sp>
          <p:nvSpPr>
            <p:cNvPr id="11" name="1 Rectángulo">
              <a:extLst>
                <a:ext uri="{FF2B5EF4-FFF2-40B4-BE49-F238E27FC236}">
                  <a16:creationId xmlns:a16="http://schemas.microsoft.com/office/drawing/2014/main" id="{00EEBBE0-9334-4436-ADEF-44C68842B041}"/>
                </a:ext>
              </a:extLst>
            </p:cNvPr>
            <p:cNvSpPr/>
            <p:nvPr/>
          </p:nvSpPr>
          <p:spPr>
            <a:xfrm>
              <a:off x="1926987" y="3070840"/>
              <a:ext cx="1300518"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flag_negativo</a:t>
              </a:r>
            </a:p>
          </p:txBody>
        </p:sp>
        <p:sp>
          <p:nvSpPr>
            <p:cNvPr id="17" name="1 Rectángulo">
              <a:extLst>
                <a:ext uri="{FF2B5EF4-FFF2-40B4-BE49-F238E27FC236}">
                  <a16:creationId xmlns:a16="http://schemas.microsoft.com/office/drawing/2014/main" id="{BA20CE94-BD4D-42AF-8232-9B525C5800BD}"/>
                </a:ext>
              </a:extLst>
            </p:cNvPr>
            <p:cNvSpPr/>
            <p:nvPr/>
          </p:nvSpPr>
          <p:spPr>
            <a:xfrm>
              <a:off x="1926987" y="3281015"/>
              <a:ext cx="1139986"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grpSp>
      <p:sp>
        <p:nvSpPr>
          <p:cNvPr id="19" name="CuadroTexto 18">
            <a:extLst>
              <a:ext uri="{FF2B5EF4-FFF2-40B4-BE49-F238E27FC236}">
                <a16:creationId xmlns:a16="http://schemas.microsoft.com/office/drawing/2014/main" id="{B1DDFAA6-3667-4F39-9C7B-346F92D7DDD2}"/>
              </a:ext>
            </a:extLst>
          </p:cNvPr>
          <p:cNvSpPr txBox="1"/>
          <p:nvPr/>
        </p:nvSpPr>
        <p:spPr>
          <a:xfrm>
            <a:off x="251318" y="3550364"/>
            <a:ext cx="4903997" cy="304698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flag_negativo</a:t>
            </a:r>
            <a:r>
              <a:rPr lang="es-MX" sz="1200" dirty="0">
                <a:latin typeface="Consolas" panose="020B0609020204030204" pitchFamily="49" charset="0"/>
              </a:rPr>
              <a:t> = 0</a:t>
            </a:r>
          </a:p>
          <a:p>
            <a:r>
              <a:rPr lang="es-MX" sz="1200" dirty="0">
                <a:latin typeface="Consolas" panose="020B0609020204030204" pitchFamily="49" charset="0"/>
              </a:rPr>
              <a:t>  Leer(n)</a:t>
            </a:r>
          </a:p>
          <a:p>
            <a:r>
              <a:rPr lang="es-MX" sz="1200" dirty="0">
                <a:latin typeface="Consolas" panose="020B0609020204030204" pitchFamily="49" charset="0"/>
              </a:rPr>
              <a:t>  i = n</a:t>
            </a:r>
          </a:p>
          <a:p>
            <a:r>
              <a:rPr lang="es-MX" sz="1200" dirty="0">
                <a:solidFill>
                  <a:srgbClr val="C00000"/>
                </a:solidFill>
                <a:latin typeface="Consolas" panose="020B0609020204030204" pitchFamily="49" charset="0"/>
              </a:rPr>
              <a:t>  Mientras (i &gt; 0)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Si flag_negativo == 1 Entonces</a:t>
            </a:r>
          </a:p>
          <a:p>
            <a:r>
              <a:rPr lang="es-MX" sz="1200" dirty="0">
                <a:solidFill>
                  <a:srgbClr val="00B050"/>
                </a:solidFill>
                <a:latin typeface="Consolas" panose="020B0609020204030204" pitchFamily="49" charset="0"/>
              </a:rPr>
              <a:t>       num = -i</a:t>
            </a:r>
          </a:p>
          <a:p>
            <a:r>
              <a:rPr lang="es-MX" sz="1200" dirty="0">
                <a:solidFill>
                  <a:srgbClr val="00B050"/>
                </a:solidFill>
                <a:latin typeface="Consolas" panose="020B0609020204030204" pitchFamily="49" charset="0"/>
              </a:rPr>
              <a:t>       flag_negativo = 0</a:t>
            </a:r>
          </a:p>
          <a:p>
            <a:r>
              <a:rPr lang="es-MX" sz="1200" dirty="0">
                <a:solidFill>
                  <a:srgbClr val="00B050"/>
                </a:solidFill>
                <a:latin typeface="Consolas" panose="020B0609020204030204" pitchFamily="49" charset="0"/>
              </a:rPr>
              <a:t>     Sino</a:t>
            </a:r>
          </a:p>
          <a:p>
            <a:r>
              <a:rPr lang="es-MX" sz="1200" dirty="0">
                <a:solidFill>
                  <a:srgbClr val="00B050"/>
                </a:solidFill>
                <a:latin typeface="Consolas" panose="020B0609020204030204" pitchFamily="49" charset="0"/>
              </a:rPr>
              <a:t>       num = i</a:t>
            </a:r>
          </a:p>
          <a:p>
            <a:r>
              <a:rPr lang="es-MX" sz="1200" dirty="0">
                <a:solidFill>
                  <a:srgbClr val="00B050"/>
                </a:solidFill>
                <a:latin typeface="Consolas" panose="020B0609020204030204" pitchFamily="49" charset="0"/>
              </a:rPr>
              <a:t>       flag_negativo = 1    </a:t>
            </a:r>
          </a:p>
          <a:p>
            <a:r>
              <a:rPr lang="es-MX" sz="1200" dirty="0">
                <a:solidFill>
                  <a:srgbClr val="00B050"/>
                </a:solidFill>
                <a:latin typeface="Consolas" panose="020B0609020204030204" pitchFamily="49" charset="0"/>
              </a:rPr>
              <a:t>     Fin_Si</a:t>
            </a:r>
          </a:p>
          <a:p>
            <a:r>
              <a:rPr lang="es-MX" sz="1200" dirty="0">
                <a:solidFill>
                  <a:srgbClr val="00B050"/>
                </a:solidFill>
                <a:latin typeface="Consolas" panose="020B0609020204030204" pitchFamily="49" charset="0"/>
              </a:rPr>
              <a:t>     Escribir(num)</a:t>
            </a:r>
          </a:p>
          <a:p>
            <a:r>
              <a:rPr lang="es-MX" sz="1200" dirty="0">
                <a:solidFill>
                  <a:srgbClr val="00B050"/>
                </a:solidFill>
                <a:latin typeface="Consolas" panose="020B0609020204030204" pitchFamily="49" charset="0"/>
              </a:rPr>
              <a:t>     i = i - 1</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Fin</a:t>
            </a:r>
            <a:endParaRPr lang="es-CO" sz="1200" dirty="0">
              <a:latin typeface="Consolas" panose="020B0609020204030204" pitchFamily="49" charset="0"/>
            </a:endParaRPr>
          </a:p>
        </p:txBody>
      </p:sp>
      <p:pic>
        <p:nvPicPr>
          <p:cNvPr id="21" name="Imagen 20">
            <a:extLst>
              <a:ext uri="{FF2B5EF4-FFF2-40B4-BE49-F238E27FC236}">
                <a16:creationId xmlns:a16="http://schemas.microsoft.com/office/drawing/2014/main" id="{7A9910EE-3D2D-4A80-B2C7-89F998D56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366" y="342289"/>
            <a:ext cx="2882904" cy="6365064"/>
          </a:xfrm>
          <a:prstGeom prst="rect">
            <a:avLst/>
          </a:prstGeom>
        </p:spPr>
      </p:pic>
      <p:sp>
        <p:nvSpPr>
          <p:cNvPr id="22" name="CuadroTexto 21">
            <a:extLst>
              <a:ext uri="{FF2B5EF4-FFF2-40B4-BE49-F238E27FC236}">
                <a16:creationId xmlns:a16="http://schemas.microsoft.com/office/drawing/2014/main" id="{C71781E0-C46B-441A-883A-5CFC056CDCD7}"/>
              </a:ext>
            </a:extLst>
          </p:cNvPr>
          <p:cNvSpPr txBox="1"/>
          <p:nvPr/>
        </p:nvSpPr>
        <p:spPr>
          <a:xfrm>
            <a:off x="1821633" y="6568853"/>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2832659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4</a:t>
            </a:r>
          </a:p>
        </p:txBody>
      </p:sp>
      <p:sp>
        <p:nvSpPr>
          <p:cNvPr id="7" name="12 Rectángulo">
            <a:extLst>
              <a:ext uri="{FF2B5EF4-FFF2-40B4-BE49-F238E27FC236}">
                <a16:creationId xmlns:a16="http://schemas.microsoft.com/office/drawing/2014/main" id="{31480163-1532-4B08-8163-9B8775D997E1}"/>
              </a:ext>
            </a:extLst>
          </p:cNvPr>
          <p:cNvSpPr/>
          <p:nvPr/>
        </p:nvSpPr>
        <p:spPr>
          <a:xfrm>
            <a:off x="233376" y="991847"/>
            <a:ext cx="4844841" cy="707886"/>
          </a:xfrm>
          <a:prstGeom prst="rect">
            <a:avLst/>
          </a:prstGeom>
        </p:spPr>
        <p:txBody>
          <a:bodyPr wrap="square">
            <a:spAutoFit/>
          </a:bodyPr>
          <a:lstStyle/>
          <a:p>
            <a:r>
              <a:rPr lang="es-MX" sz="2000" dirty="0"/>
              <a:t>Imprimir los números del n a 1 alternando el signo, por ejemplo: 6, -5, 4, -3, 2, -1.</a:t>
            </a:r>
          </a:p>
        </p:txBody>
      </p:sp>
      <p:grpSp>
        <p:nvGrpSpPr>
          <p:cNvPr id="2" name="Grupo 1">
            <a:extLst>
              <a:ext uri="{FF2B5EF4-FFF2-40B4-BE49-F238E27FC236}">
                <a16:creationId xmlns:a16="http://schemas.microsoft.com/office/drawing/2014/main" id="{86C193A2-14E5-423A-ADA7-79131C8CB496}"/>
              </a:ext>
            </a:extLst>
          </p:cNvPr>
          <p:cNvGrpSpPr/>
          <p:nvPr/>
        </p:nvGrpSpPr>
        <p:grpSpPr>
          <a:xfrm>
            <a:off x="355261" y="1856749"/>
            <a:ext cx="4885313" cy="1496397"/>
            <a:chOff x="192904" y="1851442"/>
            <a:chExt cx="4885313" cy="1496397"/>
          </a:xfrm>
        </p:grpSpPr>
        <p:sp>
          <p:nvSpPr>
            <p:cNvPr id="6" name="1 Rectángulo">
              <a:extLst>
                <a:ext uri="{FF2B5EF4-FFF2-40B4-BE49-F238E27FC236}">
                  <a16:creationId xmlns:a16="http://schemas.microsoft.com/office/drawing/2014/main" id="{4B0DCABA-F9B3-420E-B4D1-1A08A7B871CD}"/>
                </a:ext>
              </a:extLst>
            </p:cNvPr>
            <p:cNvSpPr/>
            <p:nvPr/>
          </p:nvSpPr>
          <p:spPr>
            <a:xfrm>
              <a:off x="532614" y="2430551"/>
              <a:ext cx="146759"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a:t>
              </a:r>
            </a:p>
          </p:txBody>
        </p:sp>
        <p:sp>
          <p:nvSpPr>
            <p:cNvPr id="12" name="10 Rectángulo">
              <a:extLst>
                <a:ext uri="{FF2B5EF4-FFF2-40B4-BE49-F238E27FC236}">
                  <a16:creationId xmlns:a16="http://schemas.microsoft.com/office/drawing/2014/main" id="{E8D17533-8D59-4DF4-A338-A75AC707E6A5}"/>
                </a:ext>
              </a:extLst>
            </p:cNvPr>
            <p:cNvSpPr/>
            <p:nvPr/>
          </p:nvSpPr>
          <p:spPr>
            <a:xfrm>
              <a:off x="192904" y="1991690"/>
              <a:ext cx="86313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3" name="11 Rectángulo">
              <a:extLst>
                <a:ext uri="{FF2B5EF4-FFF2-40B4-BE49-F238E27FC236}">
                  <a16:creationId xmlns:a16="http://schemas.microsoft.com/office/drawing/2014/main" id="{9C864B02-4D13-4FED-883C-8BE72E15D6D6}"/>
                </a:ext>
              </a:extLst>
            </p:cNvPr>
            <p:cNvSpPr/>
            <p:nvPr/>
          </p:nvSpPr>
          <p:spPr>
            <a:xfrm>
              <a:off x="1981210" y="1851442"/>
              <a:ext cx="1145689"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4" name="13 Rectángulo">
              <a:extLst>
                <a:ext uri="{FF2B5EF4-FFF2-40B4-BE49-F238E27FC236}">
                  <a16:creationId xmlns:a16="http://schemas.microsoft.com/office/drawing/2014/main" id="{45935C57-A247-484B-A005-2D0DA3146BDD}"/>
                </a:ext>
              </a:extLst>
            </p:cNvPr>
            <p:cNvSpPr/>
            <p:nvPr/>
          </p:nvSpPr>
          <p:spPr>
            <a:xfrm>
              <a:off x="4055514" y="1996586"/>
              <a:ext cx="102270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5" name="14 Flecha derecha">
              <a:extLst>
                <a:ext uri="{FF2B5EF4-FFF2-40B4-BE49-F238E27FC236}">
                  <a16:creationId xmlns:a16="http://schemas.microsoft.com/office/drawing/2014/main" id="{23E395DB-810A-40CF-88CF-B9173AED947B}"/>
                </a:ext>
              </a:extLst>
            </p:cNvPr>
            <p:cNvSpPr/>
            <p:nvPr/>
          </p:nvSpPr>
          <p:spPr>
            <a:xfrm>
              <a:off x="1049178" y="2150859"/>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21 Flecha derecha">
              <a:extLst>
                <a:ext uri="{FF2B5EF4-FFF2-40B4-BE49-F238E27FC236}">
                  <a16:creationId xmlns:a16="http://schemas.microsoft.com/office/drawing/2014/main" id="{93BC1988-84A4-4F4D-8851-FC7353A6173B}"/>
                </a:ext>
              </a:extLst>
            </p:cNvPr>
            <p:cNvSpPr/>
            <p:nvPr/>
          </p:nvSpPr>
          <p:spPr>
            <a:xfrm>
              <a:off x="3130888" y="2143602"/>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1 Rectángulo">
              <a:extLst>
                <a:ext uri="{FF2B5EF4-FFF2-40B4-BE49-F238E27FC236}">
                  <a16:creationId xmlns:a16="http://schemas.microsoft.com/office/drawing/2014/main" id="{A45329F4-DB33-4748-B206-11287C0829FA}"/>
                </a:ext>
              </a:extLst>
            </p:cNvPr>
            <p:cNvSpPr/>
            <p:nvPr/>
          </p:nvSpPr>
          <p:spPr>
            <a:xfrm>
              <a:off x="4343155" y="2437316"/>
              <a:ext cx="439544"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num</a:t>
              </a:r>
            </a:p>
          </p:txBody>
        </p:sp>
        <p:sp>
          <p:nvSpPr>
            <p:cNvPr id="10" name="10 Rectángulo">
              <a:extLst>
                <a:ext uri="{FF2B5EF4-FFF2-40B4-BE49-F238E27FC236}">
                  <a16:creationId xmlns:a16="http://schemas.microsoft.com/office/drawing/2014/main" id="{E60A337D-552B-4828-A95F-31769689D978}"/>
                </a:ext>
              </a:extLst>
            </p:cNvPr>
            <p:cNvSpPr/>
            <p:nvPr/>
          </p:nvSpPr>
          <p:spPr>
            <a:xfrm>
              <a:off x="1526830" y="2677991"/>
              <a:ext cx="2161989"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sp>
          <p:nvSpPr>
            <p:cNvPr id="11" name="1 Rectángulo">
              <a:extLst>
                <a:ext uri="{FF2B5EF4-FFF2-40B4-BE49-F238E27FC236}">
                  <a16:creationId xmlns:a16="http://schemas.microsoft.com/office/drawing/2014/main" id="{00EEBBE0-9334-4436-ADEF-44C68842B041}"/>
                </a:ext>
              </a:extLst>
            </p:cNvPr>
            <p:cNvSpPr/>
            <p:nvPr/>
          </p:nvSpPr>
          <p:spPr>
            <a:xfrm>
              <a:off x="1926987" y="3070840"/>
              <a:ext cx="1300518"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flag_negativo</a:t>
              </a:r>
            </a:p>
          </p:txBody>
        </p:sp>
      </p:grpSp>
      <p:pic>
        <p:nvPicPr>
          <p:cNvPr id="4" name="Imagen 3">
            <a:extLst>
              <a:ext uri="{FF2B5EF4-FFF2-40B4-BE49-F238E27FC236}">
                <a16:creationId xmlns:a16="http://schemas.microsoft.com/office/drawing/2014/main" id="{3B2ACDF8-E194-4608-890E-66985C143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553" y="677885"/>
            <a:ext cx="2713928" cy="5991988"/>
          </a:xfrm>
          <a:prstGeom prst="rect">
            <a:avLst/>
          </a:prstGeom>
        </p:spPr>
      </p:pic>
      <p:sp>
        <p:nvSpPr>
          <p:cNvPr id="19" name="CuadroTexto 18">
            <a:extLst>
              <a:ext uri="{FF2B5EF4-FFF2-40B4-BE49-F238E27FC236}">
                <a16:creationId xmlns:a16="http://schemas.microsoft.com/office/drawing/2014/main" id="{91B946E5-D27E-4F6D-A48A-03110D11F194}"/>
              </a:ext>
            </a:extLst>
          </p:cNvPr>
          <p:cNvSpPr txBox="1"/>
          <p:nvPr/>
        </p:nvSpPr>
        <p:spPr>
          <a:xfrm>
            <a:off x="338177" y="3510162"/>
            <a:ext cx="4667751" cy="286232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flag_negativo = 0</a:t>
            </a:r>
          </a:p>
          <a:p>
            <a:r>
              <a:rPr lang="es-MX" sz="1200" dirty="0">
                <a:latin typeface="Consolas" panose="020B0609020204030204" pitchFamily="49" charset="0"/>
              </a:rPr>
              <a:t>  Leer(n)</a:t>
            </a:r>
          </a:p>
          <a:p>
            <a:r>
              <a:rPr lang="es-MX" sz="1200" dirty="0">
                <a:latin typeface="Consolas" panose="020B0609020204030204" pitchFamily="49" charset="0"/>
              </a:rPr>
              <a:t>  num = n</a:t>
            </a:r>
          </a:p>
          <a:p>
            <a:r>
              <a:rPr lang="es-MX" sz="1200" dirty="0">
                <a:solidFill>
                  <a:srgbClr val="C00000"/>
                </a:solidFill>
                <a:latin typeface="Consolas" panose="020B0609020204030204" pitchFamily="49" charset="0"/>
              </a:rPr>
              <a:t>  Mientras (num &gt; 0)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Si flag_negativo == 1 Entonces</a:t>
            </a:r>
          </a:p>
          <a:p>
            <a:r>
              <a:rPr lang="es-MX" sz="1200" dirty="0">
                <a:solidFill>
                  <a:srgbClr val="00B050"/>
                </a:solidFill>
                <a:latin typeface="Consolas" panose="020B0609020204030204" pitchFamily="49" charset="0"/>
              </a:rPr>
              <a:t>       flag_negativo = 0</a:t>
            </a:r>
          </a:p>
          <a:p>
            <a:r>
              <a:rPr lang="es-MX" sz="1200" dirty="0">
                <a:solidFill>
                  <a:srgbClr val="00B050"/>
                </a:solidFill>
                <a:latin typeface="Consolas" panose="020B0609020204030204" pitchFamily="49" charset="0"/>
              </a:rPr>
              <a:t>       Escribir(-num)</a:t>
            </a:r>
          </a:p>
          <a:p>
            <a:r>
              <a:rPr lang="es-MX" sz="1200" dirty="0">
                <a:solidFill>
                  <a:srgbClr val="00B050"/>
                </a:solidFill>
                <a:latin typeface="Consolas" panose="020B0609020204030204" pitchFamily="49" charset="0"/>
              </a:rPr>
              <a:t>     Sino</a:t>
            </a:r>
          </a:p>
          <a:p>
            <a:r>
              <a:rPr lang="es-MX" sz="1200" dirty="0">
                <a:solidFill>
                  <a:srgbClr val="00B050"/>
                </a:solidFill>
                <a:latin typeface="Consolas" panose="020B0609020204030204" pitchFamily="49" charset="0"/>
              </a:rPr>
              <a:t>       flag_negativo = 1    </a:t>
            </a:r>
          </a:p>
          <a:p>
            <a:r>
              <a:rPr lang="es-MX" sz="1200" dirty="0">
                <a:solidFill>
                  <a:srgbClr val="00B050"/>
                </a:solidFill>
                <a:latin typeface="Consolas" panose="020B0609020204030204" pitchFamily="49" charset="0"/>
              </a:rPr>
              <a:t>       Escribir(num)</a:t>
            </a:r>
          </a:p>
          <a:p>
            <a:r>
              <a:rPr lang="es-MX" sz="1200" dirty="0">
                <a:solidFill>
                  <a:srgbClr val="00B050"/>
                </a:solidFill>
                <a:latin typeface="Consolas" panose="020B0609020204030204" pitchFamily="49" charset="0"/>
              </a:rPr>
              <a:t>     Fin_Si</a:t>
            </a:r>
          </a:p>
          <a:p>
            <a:r>
              <a:rPr lang="es-MX" sz="1200" dirty="0">
                <a:solidFill>
                  <a:srgbClr val="00B050"/>
                </a:solidFill>
                <a:latin typeface="Consolas" panose="020B0609020204030204" pitchFamily="49" charset="0"/>
              </a:rPr>
              <a:t>     num = num - 1</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20" name="CuadroTexto 19">
            <a:extLst>
              <a:ext uri="{FF2B5EF4-FFF2-40B4-BE49-F238E27FC236}">
                <a16:creationId xmlns:a16="http://schemas.microsoft.com/office/drawing/2014/main" id="{95858280-8FC5-4A6F-9C85-B115B5FBB0CA}"/>
              </a:ext>
            </a:extLst>
          </p:cNvPr>
          <p:cNvSpPr txBox="1"/>
          <p:nvPr/>
        </p:nvSpPr>
        <p:spPr>
          <a:xfrm>
            <a:off x="1865663" y="6395462"/>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23525569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4</a:t>
            </a:r>
          </a:p>
        </p:txBody>
      </p:sp>
      <p:sp>
        <p:nvSpPr>
          <p:cNvPr id="7" name="12 Rectángulo">
            <a:extLst>
              <a:ext uri="{FF2B5EF4-FFF2-40B4-BE49-F238E27FC236}">
                <a16:creationId xmlns:a16="http://schemas.microsoft.com/office/drawing/2014/main" id="{31480163-1532-4B08-8163-9B8775D997E1}"/>
              </a:ext>
            </a:extLst>
          </p:cNvPr>
          <p:cNvSpPr/>
          <p:nvPr/>
        </p:nvSpPr>
        <p:spPr>
          <a:xfrm>
            <a:off x="233376" y="991847"/>
            <a:ext cx="4844841" cy="707886"/>
          </a:xfrm>
          <a:prstGeom prst="rect">
            <a:avLst/>
          </a:prstGeom>
        </p:spPr>
        <p:txBody>
          <a:bodyPr wrap="square">
            <a:spAutoFit/>
          </a:bodyPr>
          <a:lstStyle/>
          <a:p>
            <a:r>
              <a:rPr lang="es-MX" sz="2000" dirty="0"/>
              <a:t>Imprimir los números del n a 1 alternando el signo, por ejemplo: 6, -5, 4, -3, 2, -1.</a:t>
            </a:r>
          </a:p>
        </p:txBody>
      </p:sp>
      <p:grpSp>
        <p:nvGrpSpPr>
          <p:cNvPr id="2" name="Grupo 1">
            <a:extLst>
              <a:ext uri="{FF2B5EF4-FFF2-40B4-BE49-F238E27FC236}">
                <a16:creationId xmlns:a16="http://schemas.microsoft.com/office/drawing/2014/main" id="{86C193A2-14E5-423A-ADA7-79131C8CB496}"/>
              </a:ext>
            </a:extLst>
          </p:cNvPr>
          <p:cNvGrpSpPr/>
          <p:nvPr/>
        </p:nvGrpSpPr>
        <p:grpSpPr>
          <a:xfrm>
            <a:off x="192904" y="1851442"/>
            <a:ext cx="4885313" cy="1496397"/>
            <a:chOff x="192904" y="1851442"/>
            <a:chExt cx="4885313" cy="1496397"/>
          </a:xfrm>
        </p:grpSpPr>
        <p:sp>
          <p:nvSpPr>
            <p:cNvPr id="6" name="1 Rectángulo">
              <a:extLst>
                <a:ext uri="{FF2B5EF4-FFF2-40B4-BE49-F238E27FC236}">
                  <a16:creationId xmlns:a16="http://schemas.microsoft.com/office/drawing/2014/main" id="{4B0DCABA-F9B3-420E-B4D1-1A08A7B871CD}"/>
                </a:ext>
              </a:extLst>
            </p:cNvPr>
            <p:cNvSpPr/>
            <p:nvPr/>
          </p:nvSpPr>
          <p:spPr>
            <a:xfrm>
              <a:off x="532614" y="2430551"/>
              <a:ext cx="146759"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a:t>
              </a:r>
            </a:p>
          </p:txBody>
        </p:sp>
        <p:sp>
          <p:nvSpPr>
            <p:cNvPr id="12" name="10 Rectángulo">
              <a:extLst>
                <a:ext uri="{FF2B5EF4-FFF2-40B4-BE49-F238E27FC236}">
                  <a16:creationId xmlns:a16="http://schemas.microsoft.com/office/drawing/2014/main" id="{E8D17533-8D59-4DF4-A338-A75AC707E6A5}"/>
                </a:ext>
              </a:extLst>
            </p:cNvPr>
            <p:cNvSpPr/>
            <p:nvPr/>
          </p:nvSpPr>
          <p:spPr>
            <a:xfrm>
              <a:off x="192904" y="1991690"/>
              <a:ext cx="86313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3" name="11 Rectángulo">
              <a:extLst>
                <a:ext uri="{FF2B5EF4-FFF2-40B4-BE49-F238E27FC236}">
                  <a16:creationId xmlns:a16="http://schemas.microsoft.com/office/drawing/2014/main" id="{9C864B02-4D13-4FED-883C-8BE72E15D6D6}"/>
                </a:ext>
              </a:extLst>
            </p:cNvPr>
            <p:cNvSpPr/>
            <p:nvPr/>
          </p:nvSpPr>
          <p:spPr>
            <a:xfrm>
              <a:off x="1981210" y="1851442"/>
              <a:ext cx="1145689"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4" name="13 Rectángulo">
              <a:extLst>
                <a:ext uri="{FF2B5EF4-FFF2-40B4-BE49-F238E27FC236}">
                  <a16:creationId xmlns:a16="http://schemas.microsoft.com/office/drawing/2014/main" id="{45935C57-A247-484B-A005-2D0DA3146BDD}"/>
                </a:ext>
              </a:extLst>
            </p:cNvPr>
            <p:cNvSpPr/>
            <p:nvPr/>
          </p:nvSpPr>
          <p:spPr>
            <a:xfrm>
              <a:off x="4055514" y="1996586"/>
              <a:ext cx="102270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5" name="14 Flecha derecha">
              <a:extLst>
                <a:ext uri="{FF2B5EF4-FFF2-40B4-BE49-F238E27FC236}">
                  <a16:creationId xmlns:a16="http://schemas.microsoft.com/office/drawing/2014/main" id="{23E395DB-810A-40CF-88CF-B9173AED947B}"/>
                </a:ext>
              </a:extLst>
            </p:cNvPr>
            <p:cNvSpPr/>
            <p:nvPr/>
          </p:nvSpPr>
          <p:spPr>
            <a:xfrm>
              <a:off x="1049178" y="2150859"/>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21 Flecha derecha">
              <a:extLst>
                <a:ext uri="{FF2B5EF4-FFF2-40B4-BE49-F238E27FC236}">
                  <a16:creationId xmlns:a16="http://schemas.microsoft.com/office/drawing/2014/main" id="{93BC1988-84A4-4F4D-8851-FC7353A6173B}"/>
                </a:ext>
              </a:extLst>
            </p:cNvPr>
            <p:cNvSpPr/>
            <p:nvPr/>
          </p:nvSpPr>
          <p:spPr>
            <a:xfrm>
              <a:off x="3130888" y="2143602"/>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1 Rectángulo">
              <a:extLst>
                <a:ext uri="{FF2B5EF4-FFF2-40B4-BE49-F238E27FC236}">
                  <a16:creationId xmlns:a16="http://schemas.microsoft.com/office/drawing/2014/main" id="{A45329F4-DB33-4748-B206-11287C0829FA}"/>
                </a:ext>
              </a:extLst>
            </p:cNvPr>
            <p:cNvSpPr/>
            <p:nvPr/>
          </p:nvSpPr>
          <p:spPr>
            <a:xfrm>
              <a:off x="4343155" y="2437316"/>
              <a:ext cx="439544"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num</a:t>
              </a:r>
            </a:p>
          </p:txBody>
        </p:sp>
        <p:sp>
          <p:nvSpPr>
            <p:cNvPr id="10" name="10 Rectángulo">
              <a:extLst>
                <a:ext uri="{FF2B5EF4-FFF2-40B4-BE49-F238E27FC236}">
                  <a16:creationId xmlns:a16="http://schemas.microsoft.com/office/drawing/2014/main" id="{E60A337D-552B-4828-A95F-31769689D978}"/>
                </a:ext>
              </a:extLst>
            </p:cNvPr>
            <p:cNvSpPr/>
            <p:nvPr/>
          </p:nvSpPr>
          <p:spPr>
            <a:xfrm>
              <a:off x="1526830" y="2677991"/>
              <a:ext cx="2161989"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sp>
          <p:nvSpPr>
            <p:cNvPr id="11" name="1 Rectángulo">
              <a:extLst>
                <a:ext uri="{FF2B5EF4-FFF2-40B4-BE49-F238E27FC236}">
                  <a16:creationId xmlns:a16="http://schemas.microsoft.com/office/drawing/2014/main" id="{00EEBBE0-9334-4436-ADEF-44C68842B041}"/>
                </a:ext>
              </a:extLst>
            </p:cNvPr>
            <p:cNvSpPr/>
            <p:nvPr/>
          </p:nvSpPr>
          <p:spPr>
            <a:xfrm>
              <a:off x="1926987" y="3070840"/>
              <a:ext cx="1300518"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flag_negativo</a:t>
              </a:r>
            </a:p>
          </p:txBody>
        </p:sp>
      </p:grpSp>
      <p:pic>
        <p:nvPicPr>
          <p:cNvPr id="8" name="Imagen 7">
            <a:extLst>
              <a:ext uri="{FF2B5EF4-FFF2-40B4-BE49-F238E27FC236}">
                <a16:creationId xmlns:a16="http://schemas.microsoft.com/office/drawing/2014/main" id="{71E61542-4938-45ED-9430-12BBFF35F6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340" y="260648"/>
            <a:ext cx="3390900" cy="6486525"/>
          </a:xfrm>
          <a:prstGeom prst="rect">
            <a:avLst/>
          </a:prstGeom>
        </p:spPr>
      </p:pic>
      <p:sp>
        <p:nvSpPr>
          <p:cNvPr id="18" name="CuadroTexto 17">
            <a:extLst>
              <a:ext uri="{FF2B5EF4-FFF2-40B4-BE49-F238E27FC236}">
                <a16:creationId xmlns:a16="http://schemas.microsoft.com/office/drawing/2014/main" id="{6B16CDF7-DA13-4F14-9F27-6E37AA61E250}"/>
              </a:ext>
            </a:extLst>
          </p:cNvPr>
          <p:cNvSpPr txBox="1"/>
          <p:nvPr/>
        </p:nvSpPr>
        <p:spPr>
          <a:xfrm>
            <a:off x="321920" y="3613471"/>
            <a:ext cx="4667751" cy="2677656"/>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flag_negativo = False</a:t>
            </a:r>
          </a:p>
          <a:p>
            <a:r>
              <a:rPr lang="es-MX" sz="1200" dirty="0">
                <a:latin typeface="Consolas" panose="020B0609020204030204" pitchFamily="49" charset="0"/>
              </a:rPr>
              <a:t>  Leer(n)</a:t>
            </a:r>
          </a:p>
          <a:p>
            <a:r>
              <a:rPr lang="es-MX" sz="1200" dirty="0">
                <a:latin typeface="Consolas" panose="020B0609020204030204" pitchFamily="49" charset="0"/>
              </a:rPr>
              <a:t>  num = n</a:t>
            </a:r>
          </a:p>
          <a:p>
            <a:r>
              <a:rPr lang="es-MX" sz="1200" dirty="0">
                <a:solidFill>
                  <a:srgbClr val="C00000"/>
                </a:solidFill>
                <a:latin typeface="Consolas" panose="020B0609020204030204" pitchFamily="49" charset="0"/>
              </a:rPr>
              <a:t>  Mientras (num &gt; 0)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Si flag_negativo == True Entonces</a:t>
            </a:r>
          </a:p>
          <a:p>
            <a:r>
              <a:rPr lang="es-MX" sz="1200" dirty="0">
                <a:solidFill>
                  <a:srgbClr val="00B050"/>
                </a:solidFill>
                <a:latin typeface="Consolas" panose="020B0609020204030204" pitchFamily="49" charset="0"/>
              </a:rPr>
              <a:t>       Escribir(-num)</a:t>
            </a:r>
          </a:p>
          <a:p>
            <a:r>
              <a:rPr lang="es-MX" sz="1200" dirty="0">
                <a:solidFill>
                  <a:srgbClr val="00B050"/>
                </a:solidFill>
                <a:latin typeface="Consolas" panose="020B0609020204030204" pitchFamily="49" charset="0"/>
              </a:rPr>
              <a:t>     Sino</a:t>
            </a:r>
          </a:p>
          <a:p>
            <a:r>
              <a:rPr lang="es-MX" sz="1200" dirty="0">
                <a:solidFill>
                  <a:srgbClr val="00B050"/>
                </a:solidFill>
                <a:latin typeface="Consolas" panose="020B0609020204030204" pitchFamily="49" charset="0"/>
              </a:rPr>
              <a:t>       Escribir(num)</a:t>
            </a:r>
          </a:p>
          <a:p>
            <a:r>
              <a:rPr lang="es-MX" sz="1200" dirty="0">
                <a:solidFill>
                  <a:srgbClr val="00B050"/>
                </a:solidFill>
                <a:latin typeface="Consolas" panose="020B0609020204030204" pitchFamily="49" charset="0"/>
              </a:rPr>
              <a:t>     Fin_Si</a:t>
            </a:r>
          </a:p>
          <a:p>
            <a:r>
              <a:rPr lang="es-MX" sz="1200" dirty="0">
                <a:solidFill>
                  <a:srgbClr val="00B050"/>
                </a:solidFill>
                <a:latin typeface="Consolas" panose="020B0609020204030204" pitchFamily="49" charset="0"/>
              </a:rPr>
              <a:t>     flag_negativo = not(flag_negativo)    </a:t>
            </a:r>
          </a:p>
          <a:p>
            <a:r>
              <a:rPr lang="es-MX" sz="1200" dirty="0">
                <a:solidFill>
                  <a:srgbClr val="00B050"/>
                </a:solidFill>
                <a:latin typeface="Consolas" panose="020B0609020204030204" pitchFamily="49" charset="0"/>
              </a:rPr>
              <a:t>     num = num - 1</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19" name="CuadroTexto 18">
            <a:extLst>
              <a:ext uri="{FF2B5EF4-FFF2-40B4-BE49-F238E27FC236}">
                <a16:creationId xmlns:a16="http://schemas.microsoft.com/office/drawing/2014/main" id="{CE23A57C-9A47-4169-BB1E-07FE579D669C}"/>
              </a:ext>
            </a:extLst>
          </p:cNvPr>
          <p:cNvSpPr txBox="1"/>
          <p:nvPr/>
        </p:nvSpPr>
        <p:spPr>
          <a:xfrm>
            <a:off x="1834931" y="6336796"/>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3420420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4</a:t>
            </a:r>
          </a:p>
        </p:txBody>
      </p:sp>
      <p:sp>
        <p:nvSpPr>
          <p:cNvPr id="7" name="12 Rectángulo">
            <a:extLst>
              <a:ext uri="{FF2B5EF4-FFF2-40B4-BE49-F238E27FC236}">
                <a16:creationId xmlns:a16="http://schemas.microsoft.com/office/drawing/2014/main" id="{31480163-1532-4B08-8163-9B8775D997E1}"/>
              </a:ext>
            </a:extLst>
          </p:cNvPr>
          <p:cNvSpPr/>
          <p:nvPr/>
        </p:nvSpPr>
        <p:spPr>
          <a:xfrm>
            <a:off x="233376" y="991847"/>
            <a:ext cx="4844841" cy="707886"/>
          </a:xfrm>
          <a:prstGeom prst="rect">
            <a:avLst/>
          </a:prstGeom>
        </p:spPr>
        <p:txBody>
          <a:bodyPr wrap="square">
            <a:spAutoFit/>
          </a:bodyPr>
          <a:lstStyle/>
          <a:p>
            <a:r>
              <a:rPr lang="es-MX" sz="2000" dirty="0"/>
              <a:t>Imprimir los números del n a 1 alternando el signo, por ejemplo: 6, -5, 4, -3, 2, -1.</a:t>
            </a:r>
          </a:p>
        </p:txBody>
      </p:sp>
      <p:grpSp>
        <p:nvGrpSpPr>
          <p:cNvPr id="2" name="Grupo 1">
            <a:extLst>
              <a:ext uri="{FF2B5EF4-FFF2-40B4-BE49-F238E27FC236}">
                <a16:creationId xmlns:a16="http://schemas.microsoft.com/office/drawing/2014/main" id="{86C193A2-14E5-423A-ADA7-79131C8CB496}"/>
              </a:ext>
            </a:extLst>
          </p:cNvPr>
          <p:cNvGrpSpPr/>
          <p:nvPr/>
        </p:nvGrpSpPr>
        <p:grpSpPr>
          <a:xfrm>
            <a:off x="192904" y="1851442"/>
            <a:ext cx="4885313" cy="1463811"/>
            <a:chOff x="192904" y="1851442"/>
            <a:chExt cx="4885313" cy="1463811"/>
          </a:xfrm>
        </p:grpSpPr>
        <p:sp>
          <p:nvSpPr>
            <p:cNvPr id="6" name="1 Rectángulo">
              <a:extLst>
                <a:ext uri="{FF2B5EF4-FFF2-40B4-BE49-F238E27FC236}">
                  <a16:creationId xmlns:a16="http://schemas.microsoft.com/office/drawing/2014/main" id="{4B0DCABA-F9B3-420E-B4D1-1A08A7B871CD}"/>
                </a:ext>
              </a:extLst>
            </p:cNvPr>
            <p:cNvSpPr/>
            <p:nvPr/>
          </p:nvSpPr>
          <p:spPr>
            <a:xfrm>
              <a:off x="532614" y="2430551"/>
              <a:ext cx="146759"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a:t>
              </a:r>
            </a:p>
          </p:txBody>
        </p:sp>
        <p:sp>
          <p:nvSpPr>
            <p:cNvPr id="12" name="10 Rectángulo">
              <a:extLst>
                <a:ext uri="{FF2B5EF4-FFF2-40B4-BE49-F238E27FC236}">
                  <a16:creationId xmlns:a16="http://schemas.microsoft.com/office/drawing/2014/main" id="{E8D17533-8D59-4DF4-A338-A75AC707E6A5}"/>
                </a:ext>
              </a:extLst>
            </p:cNvPr>
            <p:cNvSpPr/>
            <p:nvPr/>
          </p:nvSpPr>
          <p:spPr>
            <a:xfrm>
              <a:off x="192904" y="1991690"/>
              <a:ext cx="86313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3" name="11 Rectángulo">
              <a:extLst>
                <a:ext uri="{FF2B5EF4-FFF2-40B4-BE49-F238E27FC236}">
                  <a16:creationId xmlns:a16="http://schemas.microsoft.com/office/drawing/2014/main" id="{9C864B02-4D13-4FED-883C-8BE72E15D6D6}"/>
                </a:ext>
              </a:extLst>
            </p:cNvPr>
            <p:cNvSpPr/>
            <p:nvPr/>
          </p:nvSpPr>
          <p:spPr>
            <a:xfrm>
              <a:off x="1981210" y="1851442"/>
              <a:ext cx="1145689"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4" name="13 Rectángulo">
              <a:extLst>
                <a:ext uri="{FF2B5EF4-FFF2-40B4-BE49-F238E27FC236}">
                  <a16:creationId xmlns:a16="http://schemas.microsoft.com/office/drawing/2014/main" id="{45935C57-A247-484B-A005-2D0DA3146BDD}"/>
                </a:ext>
              </a:extLst>
            </p:cNvPr>
            <p:cNvSpPr/>
            <p:nvPr/>
          </p:nvSpPr>
          <p:spPr>
            <a:xfrm>
              <a:off x="4055514" y="1996586"/>
              <a:ext cx="102270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5" name="14 Flecha derecha">
              <a:extLst>
                <a:ext uri="{FF2B5EF4-FFF2-40B4-BE49-F238E27FC236}">
                  <a16:creationId xmlns:a16="http://schemas.microsoft.com/office/drawing/2014/main" id="{23E395DB-810A-40CF-88CF-B9173AED947B}"/>
                </a:ext>
              </a:extLst>
            </p:cNvPr>
            <p:cNvSpPr/>
            <p:nvPr/>
          </p:nvSpPr>
          <p:spPr>
            <a:xfrm>
              <a:off x="1049178" y="2150859"/>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21 Flecha derecha">
              <a:extLst>
                <a:ext uri="{FF2B5EF4-FFF2-40B4-BE49-F238E27FC236}">
                  <a16:creationId xmlns:a16="http://schemas.microsoft.com/office/drawing/2014/main" id="{93BC1988-84A4-4F4D-8851-FC7353A6173B}"/>
                </a:ext>
              </a:extLst>
            </p:cNvPr>
            <p:cNvSpPr/>
            <p:nvPr/>
          </p:nvSpPr>
          <p:spPr>
            <a:xfrm>
              <a:off x="3130888" y="2143602"/>
              <a:ext cx="934896"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1 Rectángulo">
              <a:extLst>
                <a:ext uri="{FF2B5EF4-FFF2-40B4-BE49-F238E27FC236}">
                  <a16:creationId xmlns:a16="http://schemas.microsoft.com/office/drawing/2014/main" id="{A45329F4-DB33-4748-B206-11287C0829FA}"/>
                </a:ext>
              </a:extLst>
            </p:cNvPr>
            <p:cNvSpPr/>
            <p:nvPr/>
          </p:nvSpPr>
          <p:spPr>
            <a:xfrm>
              <a:off x="4343155" y="2437316"/>
              <a:ext cx="439544" cy="276999"/>
            </a:xfrm>
            <a:prstGeom prst="rect">
              <a:avLst/>
            </a:prstGeom>
          </p:spPr>
          <p:txBody>
            <a:bodyPr wrap="none">
              <a:spAutoFit/>
            </a:bodyPr>
            <a:lstStyle/>
            <a:p>
              <a:r>
                <a:rPr lang="es-CO" sz="1200" dirty="0">
                  <a:latin typeface="Consolas" panose="020B0609020204030204" pitchFamily="49" charset="0"/>
                  <a:cs typeface="Consolas" panose="020B0609020204030204" pitchFamily="49" charset="0"/>
                </a:rPr>
                <a:t>num</a:t>
              </a:r>
            </a:p>
          </p:txBody>
        </p:sp>
        <p:sp>
          <p:nvSpPr>
            <p:cNvPr id="10" name="10 Rectángulo">
              <a:extLst>
                <a:ext uri="{FF2B5EF4-FFF2-40B4-BE49-F238E27FC236}">
                  <a16:creationId xmlns:a16="http://schemas.microsoft.com/office/drawing/2014/main" id="{E60A337D-552B-4828-A95F-31769689D978}"/>
                </a:ext>
              </a:extLst>
            </p:cNvPr>
            <p:cNvSpPr/>
            <p:nvPr/>
          </p:nvSpPr>
          <p:spPr>
            <a:xfrm>
              <a:off x="1526830" y="2677991"/>
              <a:ext cx="2161989"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sp>
          <p:nvSpPr>
            <p:cNvPr id="17" name="1 Rectángulo">
              <a:extLst>
                <a:ext uri="{FF2B5EF4-FFF2-40B4-BE49-F238E27FC236}">
                  <a16:creationId xmlns:a16="http://schemas.microsoft.com/office/drawing/2014/main" id="{BA20CE94-BD4D-42AF-8232-9B525C5800BD}"/>
                </a:ext>
              </a:extLst>
            </p:cNvPr>
            <p:cNvSpPr/>
            <p:nvPr/>
          </p:nvSpPr>
          <p:spPr>
            <a:xfrm>
              <a:off x="1945373" y="3038254"/>
              <a:ext cx="1139986"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grpSp>
      <p:pic>
        <p:nvPicPr>
          <p:cNvPr id="4" name="Imagen 3">
            <a:extLst>
              <a:ext uri="{FF2B5EF4-FFF2-40B4-BE49-F238E27FC236}">
                <a16:creationId xmlns:a16="http://schemas.microsoft.com/office/drawing/2014/main" id="{933EEBA2-C11D-4CCB-9B73-7656C4E76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8642" y="376828"/>
            <a:ext cx="2535558" cy="6362372"/>
          </a:xfrm>
          <a:prstGeom prst="rect">
            <a:avLst/>
          </a:prstGeom>
        </p:spPr>
      </p:pic>
      <p:sp>
        <p:nvSpPr>
          <p:cNvPr id="20" name="CuadroTexto 19">
            <a:extLst>
              <a:ext uri="{FF2B5EF4-FFF2-40B4-BE49-F238E27FC236}">
                <a16:creationId xmlns:a16="http://schemas.microsoft.com/office/drawing/2014/main" id="{86E405FD-64ED-45D1-A62E-7ED613B9A88E}"/>
              </a:ext>
            </a:extLst>
          </p:cNvPr>
          <p:cNvSpPr txBox="1"/>
          <p:nvPr/>
        </p:nvSpPr>
        <p:spPr>
          <a:xfrm>
            <a:off x="338177" y="3692573"/>
            <a:ext cx="4667751" cy="193899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i = 0</a:t>
            </a:r>
          </a:p>
          <a:p>
            <a:r>
              <a:rPr lang="es-MX" sz="1200" dirty="0">
                <a:latin typeface="Consolas" panose="020B0609020204030204" pitchFamily="49" charset="0"/>
              </a:rPr>
              <a:t>  Leer(n)</a:t>
            </a:r>
          </a:p>
          <a:p>
            <a:r>
              <a:rPr lang="es-MX" sz="1200" dirty="0">
                <a:latin typeface="Consolas" panose="020B0609020204030204" pitchFamily="49" charset="0"/>
              </a:rPr>
              <a:t>  num = n</a:t>
            </a:r>
          </a:p>
          <a:p>
            <a:r>
              <a:rPr lang="es-MX" sz="1200" dirty="0">
                <a:solidFill>
                  <a:srgbClr val="C00000"/>
                </a:solidFill>
                <a:latin typeface="Consolas" panose="020B0609020204030204" pitchFamily="49" charset="0"/>
              </a:rPr>
              <a:t>  Mientras (num &gt; 0) Haga    </a:t>
            </a:r>
          </a:p>
          <a:p>
            <a:r>
              <a:rPr lang="es-MX" sz="1200" dirty="0">
                <a:solidFill>
                  <a:srgbClr val="00B050"/>
                </a:solidFill>
                <a:latin typeface="Consolas" panose="020B0609020204030204" pitchFamily="49" charset="0"/>
              </a:rPr>
              <a:t>     Escribir(((-1)**i)*num)</a:t>
            </a:r>
          </a:p>
          <a:p>
            <a:r>
              <a:rPr lang="es-MX" sz="1200" dirty="0">
                <a:solidFill>
                  <a:srgbClr val="00B050"/>
                </a:solidFill>
                <a:latin typeface="Consolas" panose="020B0609020204030204" pitchFamily="49" charset="0"/>
              </a:rPr>
              <a:t>     i = i + 1</a:t>
            </a:r>
          </a:p>
          <a:p>
            <a:r>
              <a:rPr lang="es-MX" sz="1200" dirty="0">
                <a:solidFill>
                  <a:srgbClr val="00B050"/>
                </a:solidFill>
                <a:latin typeface="Consolas" panose="020B0609020204030204" pitchFamily="49" charset="0"/>
              </a:rPr>
              <a:t>     num = num - 1</a:t>
            </a:r>
          </a:p>
          <a:p>
            <a:r>
              <a:rPr lang="es-MX" sz="1200" dirty="0">
                <a:solidFill>
                  <a:srgbClr val="C00000"/>
                </a:solidFill>
                <a:latin typeface="Consolas" panose="020B0609020204030204" pitchFamily="49" charset="0"/>
              </a:rPr>
              <a:t>  Fin_Mientras</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21" name="CuadroTexto 20">
            <a:extLst>
              <a:ext uri="{FF2B5EF4-FFF2-40B4-BE49-F238E27FC236}">
                <a16:creationId xmlns:a16="http://schemas.microsoft.com/office/drawing/2014/main" id="{55AD7D4C-04D4-41E5-B361-3A6D224B340E}"/>
              </a:ext>
            </a:extLst>
          </p:cNvPr>
          <p:cNvSpPr txBox="1"/>
          <p:nvPr/>
        </p:nvSpPr>
        <p:spPr>
          <a:xfrm>
            <a:off x="1899159" y="5631565"/>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3142081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5</a:t>
            </a:r>
          </a:p>
        </p:txBody>
      </p:sp>
      <p:sp>
        <p:nvSpPr>
          <p:cNvPr id="13" name="12 Rectángulo"/>
          <p:cNvSpPr/>
          <p:nvPr/>
        </p:nvSpPr>
        <p:spPr>
          <a:xfrm>
            <a:off x="145314" y="807401"/>
            <a:ext cx="8819174" cy="5632311"/>
          </a:xfrm>
          <a:prstGeom prst="rect">
            <a:avLst/>
          </a:prstGeom>
        </p:spPr>
        <p:txBody>
          <a:bodyPr wrap="square">
            <a:spAutoFit/>
          </a:bodyPr>
          <a:lstStyle/>
          <a:p>
            <a:r>
              <a:rPr lang="es-MX" sz="2000" dirty="0"/>
              <a:t>El señor Burns, como buen capitalista que es, decidió construir un cine en Springfield. El cine es pequeño: tiene capacidad para 8 puestos VIP (a $7000 cada uno) y 40 puestos normales (a $5000 cada uno).</a:t>
            </a:r>
          </a:p>
          <a:p>
            <a:endParaRPr lang="es-MX" sz="2000" dirty="0"/>
          </a:p>
          <a:p>
            <a:r>
              <a:rPr lang="es-MX" sz="2000" dirty="0"/>
              <a:t>Para cada función, el señor Burns no sabe de antemano cuántos clientes van a asistir — puede que se llenen todos los puestos, o que la venta se cierre antes con puestos disponibles. Desarrolle una aplicación que:</a:t>
            </a:r>
          </a:p>
          <a:p>
            <a:pPr marL="285750" indent="-285750">
              <a:buFont typeface="Arial" panose="020B0604020202020204" pitchFamily="34" charset="0"/>
              <a:buChar char="•"/>
            </a:pPr>
            <a:r>
              <a:rPr lang="es-MX" sz="2000" dirty="0"/>
              <a:t>Registre la venta de una boleta solicitando al cajero el tipo de puesto (VIP o normal), y repita este registro hasta que ocurra una de estas dos condiciones: se agoten los 48 puestos, o el cajero ingrese -1 como tipo de puesto para indicar que no hay más clientes y cerrar la venta.</a:t>
            </a:r>
          </a:p>
          <a:p>
            <a:pPr marL="285750" indent="-285750">
              <a:buFont typeface="Arial" panose="020B0604020202020204" pitchFamily="34" charset="0"/>
              <a:buChar char="•"/>
            </a:pPr>
            <a:r>
              <a:rPr lang="es-MX" sz="2000" dirty="0"/>
              <a:t>Si el tipo de puesto solicitado ya alcanzó su capacidad máxima, no contabilizar esa venta, informarlo al cajero, y volver a solicitar el tipo de puesto (sin que esto se interprete como el cierre de la venta)</a:t>
            </a:r>
          </a:p>
          <a:p>
            <a:pPr marL="285750" indent="-285750">
              <a:buFont typeface="Arial" panose="020B0604020202020204" pitchFamily="34" charset="0"/>
              <a:buChar char="•"/>
            </a:pPr>
            <a:r>
              <a:rPr lang="es-MX" sz="2000" dirty="0"/>
              <a:t>Obtener, para cada tipo de puesto, el total de asistentes y la ganancia obtenida.</a:t>
            </a:r>
          </a:p>
          <a:p>
            <a:pPr marL="285750" indent="-285750">
              <a:buFont typeface="Arial" panose="020B0604020202020204" pitchFamily="34" charset="0"/>
              <a:buChar char="•"/>
            </a:pPr>
            <a:r>
              <a:rPr lang="es-MX" sz="2000" dirty="0"/>
              <a:t>Cuando se cierre la venta de boletas para la función (por cualquiera de las dos condiciones anteriores), imprimir las estadísticas: totales y porcentajes de asistentes y de dinero recaudado, por tipo de entrada.</a:t>
            </a:r>
            <a:endParaRPr lang="es-CO" sz="2000" dirty="0"/>
          </a:p>
        </p:txBody>
      </p:sp>
    </p:spTree>
    <p:extLst>
      <p:ext uri="{BB962C8B-B14F-4D97-AF65-F5344CB8AC3E}">
        <p14:creationId xmlns:p14="http://schemas.microsoft.com/office/powerpoint/2010/main" val="27643488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5</a:t>
            </a:r>
          </a:p>
        </p:txBody>
      </p:sp>
      <p:grpSp>
        <p:nvGrpSpPr>
          <p:cNvPr id="29" name="27 Grupo">
            <a:extLst>
              <a:ext uri="{FF2B5EF4-FFF2-40B4-BE49-F238E27FC236}">
                <a16:creationId xmlns:a16="http://schemas.microsoft.com/office/drawing/2014/main" id="{19B00129-C57B-4599-977F-B511285429CE}"/>
              </a:ext>
            </a:extLst>
          </p:cNvPr>
          <p:cNvGrpSpPr>
            <a:grpSpLocks/>
          </p:cNvGrpSpPr>
          <p:nvPr/>
        </p:nvGrpSpPr>
        <p:grpSpPr bwMode="auto">
          <a:xfrm>
            <a:off x="4632712" y="4785146"/>
            <a:ext cx="2568575" cy="710247"/>
            <a:chOff x="4162928" y="5881089"/>
            <a:chExt cx="2569312" cy="709598"/>
          </a:xfrm>
        </p:grpSpPr>
        <p:sp>
          <p:nvSpPr>
            <p:cNvPr id="30" name="34 Rectángulo">
              <a:extLst>
                <a:ext uri="{FF2B5EF4-FFF2-40B4-BE49-F238E27FC236}">
                  <a16:creationId xmlns:a16="http://schemas.microsoft.com/office/drawing/2014/main" id="{EE9BE19E-C993-41A8-A932-A5461C78E623}"/>
                </a:ext>
              </a:extLst>
            </p:cNvPr>
            <p:cNvSpPr/>
            <p:nvPr/>
          </p:nvSpPr>
          <p:spPr>
            <a:xfrm>
              <a:off x="4162928" y="5915982"/>
              <a:ext cx="215962" cy="2379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1" name="35 Rectángulo">
              <a:extLst>
                <a:ext uri="{FF2B5EF4-FFF2-40B4-BE49-F238E27FC236}">
                  <a16:creationId xmlns:a16="http://schemas.microsoft.com/office/drawing/2014/main" id="{6AA62DE3-AE03-4E19-833D-40C8834CECE3}"/>
                </a:ext>
              </a:extLst>
            </p:cNvPr>
            <p:cNvSpPr/>
            <p:nvPr/>
          </p:nvSpPr>
          <p:spPr>
            <a:xfrm>
              <a:off x="4162928" y="6309323"/>
              <a:ext cx="215962" cy="2394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2" name="9 CuadroTexto">
              <a:extLst>
                <a:ext uri="{FF2B5EF4-FFF2-40B4-BE49-F238E27FC236}">
                  <a16:creationId xmlns:a16="http://schemas.microsoft.com/office/drawing/2014/main" id="{849CAE1D-7DE7-4974-B2F1-53EA215E8A6A}"/>
                </a:ext>
              </a:extLst>
            </p:cNvPr>
            <p:cNvSpPr txBox="1">
              <a:spLocks noChangeArrowheads="1"/>
            </p:cNvSpPr>
            <p:nvPr/>
          </p:nvSpPr>
          <p:spPr bwMode="auto">
            <a:xfrm>
              <a:off x="4553106" y="5881089"/>
              <a:ext cx="1872208"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VIP: </a:t>
              </a:r>
              <a:r>
                <a:rPr lang="es-CO" altLang="es-CO" sz="1600" dirty="0">
                  <a:latin typeface="Century Gothic" panose="020B0502020202020204" pitchFamily="34" charset="0"/>
                  <a:cs typeface="Courier New" pitchFamily="49" charset="0"/>
                </a:rPr>
                <a:t>$7000</a:t>
              </a:r>
            </a:p>
          </p:txBody>
        </p:sp>
        <p:sp>
          <p:nvSpPr>
            <p:cNvPr id="33" name="9 CuadroTexto">
              <a:extLst>
                <a:ext uri="{FF2B5EF4-FFF2-40B4-BE49-F238E27FC236}">
                  <a16:creationId xmlns:a16="http://schemas.microsoft.com/office/drawing/2014/main" id="{D2630175-4023-47BE-A5DC-4D5DA5EACB7A}"/>
                </a:ext>
              </a:extLst>
            </p:cNvPr>
            <p:cNvSpPr txBox="1">
              <a:spLocks noChangeArrowheads="1"/>
            </p:cNvSpPr>
            <p:nvPr/>
          </p:nvSpPr>
          <p:spPr bwMode="auto">
            <a:xfrm>
              <a:off x="4553106" y="6252442"/>
              <a:ext cx="2179134"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Normal: </a:t>
              </a:r>
              <a:r>
                <a:rPr lang="es-CO" altLang="es-CO" sz="1600" dirty="0">
                  <a:latin typeface="Century Gothic" panose="020B0502020202020204" pitchFamily="34" charset="0"/>
                  <a:cs typeface="Courier New" pitchFamily="49" charset="0"/>
                </a:rPr>
                <a:t>$5000</a:t>
              </a:r>
            </a:p>
          </p:txBody>
        </p:sp>
      </p:grpSp>
      <p:pic>
        <p:nvPicPr>
          <p:cNvPr id="34" name="Picture 2" descr="Springfield Googolplex Theatres | Simpsons Wiki | Fandom">
            <a:extLst>
              <a:ext uri="{FF2B5EF4-FFF2-40B4-BE49-F238E27FC236}">
                <a16:creationId xmlns:a16="http://schemas.microsoft.com/office/drawing/2014/main" id="{565E8F6B-584A-49B6-B876-7C4D110ED0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580" y="2021784"/>
            <a:ext cx="3149887" cy="2399915"/>
          </a:xfrm>
          <a:prstGeom prst="rect">
            <a:avLst/>
          </a:prstGeom>
          <a:noFill/>
          <a:extLst>
            <a:ext uri="{909E8E84-426E-40DD-AFC4-6F175D3DCCD1}">
              <a14:hiddenFill xmlns:a14="http://schemas.microsoft.com/office/drawing/2010/main">
                <a:solidFill>
                  <a:srgbClr val="FFFFFF"/>
                </a:solidFill>
              </a14:hiddenFill>
            </a:ext>
          </a:extLst>
        </p:spPr>
      </p:pic>
      <p:grpSp>
        <p:nvGrpSpPr>
          <p:cNvPr id="107" name="Grupo 106">
            <a:extLst>
              <a:ext uri="{FF2B5EF4-FFF2-40B4-BE49-F238E27FC236}">
                <a16:creationId xmlns:a16="http://schemas.microsoft.com/office/drawing/2014/main" id="{EE8AF934-40F8-458A-A131-0D006472F0AF}"/>
              </a:ext>
            </a:extLst>
          </p:cNvPr>
          <p:cNvGrpSpPr/>
          <p:nvPr/>
        </p:nvGrpSpPr>
        <p:grpSpPr>
          <a:xfrm>
            <a:off x="4595540" y="1789957"/>
            <a:ext cx="3627717" cy="2839996"/>
            <a:chOff x="4849271" y="2749244"/>
            <a:chExt cx="3627717" cy="2839996"/>
          </a:xfrm>
        </p:grpSpPr>
        <p:cxnSp>
          <p:nvCxnSpPr>
            <p:cNvPr id="11" name="16 Conector recto">
              <a:extLst>
                <a:ext uri="{FF2B5EF4-FFF2-40B4-BE49-F238E27FC236}">
                  <a16:creationId xmlns:a16="http://schemas.microsoft.com/office/drawing/2014/main" id="{449E2544-E219-4366-926F-AEE4F32CF55B}"/>
                </a:ext>
              </a:extLst>
            </p:cNvPr>
            <p:cNvCxnSpPr>
              <a:cxnSpLocks/>
            </p:cNvCxnSpPr>
            <p:nvPr/>
          </p:nvCxnSpPr>
          <p:spPr bwMode="auto">
            <a:xfrm>
              <a:off x="5667573" y="5589240"/>
              <a:ext cx="19664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upo 1">
              <a:extLst>
                <a:ext uri="{FF2B5EF4-FFF2-40B4-BE49-F238E27FC236}">
                  <a16:creationId xmlns:a16="http://schemas.microsoft.com/office/drawing/2014/main" id="{53D254EE-46A3-4D21-85AB-7783B4A7C2D8}"/>
                </a:ext>
              </a:extLst>
            </p:cNvPr>
            <p:cNvGrpSpPr/>
            <p:nvPr/>
          </p:nvGrpSpPr>
          <p:grpSpPr>
            <a:xfrm>
              <a:off x="4849271" y="2762210"/>
              <a:ext cx="1486368" cy="2493942"/>
              <a:chOff x="4849271" y="2762210"/>
              <a:chExt cx="1486368" cy="2493942"/>
            </a:xfrm>
          </p:grpSpPr>
          <p:grpSp>
            <p:nvGrpSpPr>
              <p:cNvPr id="7" name="22 Grupo">
                <a:extLst>
                  <a:ext uri="{FF2B5EF4-FFF2-40B4-BE49-F238E27FC236}">
                    <a16:creationId xmlns:a16="http://schemas.microsoft.com/office/drawing/2014/main" id="{E7A7E5FA-D6C8-4394-9828-470C4E79BE49}"/>
                  </a:ext>
                </a:extLst>
              </p:cNvPr>
              <p:cNvGrpSpPr>
                <a:grpSpLocks/>
              </p:cNvGrpSpPr>
              <p:nvPr/>
            </p:nvGrpSpPr>
            <p:grpSpPr bwMode="auto">
              <a:xfrm>
                <a:off x="4849271" y="3108318"/>
                <a:ext cx="1484312" cy="245107"/>
                <a:chOff x="1382440" y="4126387"/>
                <a:chExt cx="1484226" cy="245067"/>
              </a:xfrm>
            </p:grpSpPr>
            <p:sp>
              <p:nvSpPr>
                <p:cNvPr id="25" name="29 Rectángulo">
                  <a:extLst>
                    <a:ext uri="{FF2B5EF4-FFF2-40B4-BE49-F238E27FC236}">
                      <a16:creationId xmlns:a16="http://schemas.microsoft.com/office/drawing/2014/main" id="{02611C33-5F24-46B3-BD80-5EC34E2D3C9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6" name="30 Rectángulo">
                  <a:extLst>
                    <a:ext uri="{FF2B5EF4-FFF2-40B4-BE49-F238E27FC236}">
                      <a16:creationId xmlns:a16="http://schemas.microsoft.com/office/drawing/2014/main" id="{D1BE216B-CF27-4F6D-AE9E-385B6C9951E6}"/>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7" name="31 Rectángulo">
                  <a:extLst>
                    <a:ext uri="{FF2B5EF4-FFF2-40B4-BE49-F238E27FC236}">
                      <a16:creationId xmlns:a16="http://schemas.microsoft.com/office/drawing/2014/main" id="{1EC112B1-37C7-4DD0-8A1C-FDF1A7A6149D}"/>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8" name="32 Rectángulo">
                  <a:extLst>
                    <a:ext uri="{FF2B5EF4-FFF2-40B4-BE49-F238E27FC236}">
                      <a16:creationId xmlns:a16="http://schemas.microsoft.com/office/drawing/2014/main" id="{EB2C2A82-8191-4BF2-8F07-ADCAC3912AE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 name="23 Grupo">
                <a:extLst>
                  <a:ext uri="{FF2B5EF4-FFF2-40B4-BE49-F238E27FC236}">
                    <a16:creationId xmlns:a16="http://schemas.microsoft.com/office/drawing/2014/main" id="{C91A9263-45F1-4C98-887E-92915D26CBBB}"/>
                  </a:ext>
                </a:extLst>
              </p:cNvPr>
              <p:cNvGrpSpPr>
                <a:grpSpLocks/>
              </p:cNvGrpSpPr>
              <p:nvPr/>
            </p:nvGrpSpPr>
            <p:grpSpPr bwMode="auto">
              <a:xfrm>
                <a:off x="4849271" y="3502082"/>
                <a:ext cx="1484312" cy="245107"/>
                <a:chOff x="1382440" y="4520087"/>
                <a:chExt cx="1484226" cy="245067"/>
              </a:xfrm>
            </p:grpSpPr>
            <p:sp>
              <p:nvSpPr>
                <p:cNvPr id="21" name="25 Rectángulo">
                  <a:extLst>
                    <a:ext uri="{FF2B5EF4-FFF2-40B4-BE49-F238E27FC236}">
                      <a16:creationId xmlns:a16="http://schemas.microsoft.com/office/drawing/2014/main" id="{9F6496AF-942F-4C1E-9C80-394AE8C2B19F}"/>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2" name="26 Rectángulo">
                  <a:extLst>
                    <a:ext uri="{FF2B5EF4-FFF2-40B4-BE49-F238E27FC236}">
                      <a16:creationId xmlns:a16="http://schemas.microsoft.com/office/drawing/2014/main" id="{9470D467-73FD-4625-9018-63FE5DD0E294}"/>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3" name="27 Rectángulo">
                  <a:extLst>
                    <a:ext uri="{FF2B5EF4-FFF2-40B4-BE49-F238E27FC236}">
                      <a16:creationId xmlns:a16="http://schemas.microsoft.com/office/drawing/2014/main" id="{C3D58233-6983-4919-80E8-29720AA764F1}"/>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4" name="28 Rectángulo">
                  <a:extLst>
                    <a:ext uri="{FF2B5EF4-FFF2-40B4-BE49-F238E27FC236}">
                      <a16:creationId xmlns:a16="http://schemas.microsoft.com/office/drawing/2014/main" id="{1222B0B2-817A-495C-AC19-A84BB7CF42C0}"/>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 name="24 Grupo">
                <a:extLst>
                  <a:ext uri="{FF2B5EF4-FFF2-40B4-BE49-F238E27FC236}">
                    <a16:creationId xmlns:a16="http://schemas.microsoft.com/office/drawing/2014/main" id="{BED1F3EA-BFA2-4323-A258-C63F2FE12058}"/>
                  </a:ext>
                </a:extLst>
              </p:cNvPr>
              <p:cNvGrpSpPr>
                <a:grpSpLocks/>
              </p:cNvGrpSpPr>
              <p:nvPr/>
            </p:nvGrpSpPr>
            <p:grpSpPr bwMode="auto">
              <a:xfrm>
                <a:off x="4849271" y="3895847"/>
                <a:ext cx="1484312" cy="245107"/>
                <a:chOff x="1382440" y="4913787"/>
                <a:chExt cx="1484226" cy="245067"/>
              </a:xfrm>
            </p:grpSpPr>
            <p:sp>
              <p:nvSpPr>
                <p:cNvPr id="17" name="21 Rectángulo">
                  <a:extLst>
                    <a:ext uri="{FF2B5EF4-FFF2-40B4-BE49-F238E27FC236}">
                      <a16:creationId xmlns:a16="http://schemas.microsoft.com/office/drawing/2014/main" id="{8F3E7DEB-C5F4-4F1E-91C2-D43F00BB0D22}"/>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8" name="22 Rectángulo">
                  <a:extLst>
                    <a:ext uri="{FF2B5EF4-FFF2-40B4-BE49-F238E27FC236}">
                      <a16:creationId xmlns:a16="http://schemas.microsoft.com/office/drawing/2014/main" id="{6018BF0C-A1D0-43BF-BC52-73048076BDAC}"/>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9" name="23 Rectángulo">
                  <a:extLst>
                    <a:ext uri="{FF2B5EF4-FFF2-40B4-BE49-F238E27FC236}">
                      <a16:creationId xmlns:a16="http://schemas.microsoft.com/office/drawing/2014/main" id="{0A11C85F-B172-4B85-AB88-4417DA3E3772}"/>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0" name="24 Rectángulo">
                  <a:extLst>
                    <a:ext uri="{FF2B5EF4-FFF2-40B4-BE49-F238E27FC236}">
                      <a16:creationId xmlns:a16="http://schemas.microsoft.com/office/drawing/2014/main" id="{1AC2F307-A1CC-4E47-B75C-F994B0A3EAF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 name="25 Grupo">
                <a:extLst>
                  <a:ext uri="{FF2B5EF4-FFF2-40B4-BE49-F238E27FC236}">
                    <a16:creationId xmlns:a16="http://schemas.microsoft.com/office/drawing/2014/main" id="{D161696C-2691-42A9-8E3B-E74DDF410F5B}"/>
                  </a:ext>
                </a:extLst>
              </p:cNvPr>
              <p:cNvGrpSpPr>
                <a:grpSpLocks/>
              </p:cNvGrpSpPr>
              <p:nvPr/>
            </p:nvGrpSpPr>
            <p:grpSpPr bwMode="auto">
              <a:xfrm>
                <a:off x="4849271" y="4264207"/>
                <a:ext cx="1484312" cy="245107"/>
                <a:chOff x="1382440" y="5282087"/>
                <a:chExt cx="1484226" cy="245067"/>
              </a:xfrm>
            </p:grpSpPr>
            <p:sp>
              <p:nvSpPr>
                <p:cNvPr id="12" name="17 Rectángulo">
                  <a:extLst>
                    <a:ext uri="{FF2B5EF4-FFF2-40B4-BE49-F238E27FC236}">
                      <a16:creationId xmlns:a16="http://schemas.microsoft.com/office/drawing/2014/main" id="{4CC8F31C-A919-47DA-872B-B5D55B1D8601}"/>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4" name="18 Rectángulo">
                  <a:extLst>
                    <a:ext uri="{FF2B5EF4-FFF2-40B4-BE49-F238E27FC236}">
                      <a16:creationId xmlns:a16="http://schemas.microsoft.com/office/drawing/2014/main" id="{80968FD1-C455-49DC-8867-D33F288C18A0}"/>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5" name="19 Rectángulo">
                  <a:extLst>
                    <a:ext uri="{FF2B5EF4-FFF2-40B4-BE49-F238E27FC236}">
                      <a16:creationId xmlns:a16="http://schemas.microsoft.com/office/drawing/2014/main" id="{7851469E-C5B0-4475-8E61-1159C8A2C227}"/>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6" name="20 Rectángulo">
                  <a:extLst>
                    <a:ext uri="{FF2B5EF4-FFF2-40B4-BE49-F238E27FC236}">
                      <a16:creationId xmlns:a16="http://schemas.microsoft.com/office/drawing/2014/main" id="{4EA7D8D8-C5C1-4A44-BCAA-BB0609AA3E5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57" name="24 Grupo">
                <a:extLst>
                  <a:ext uri="{FF2B5EF4-FFF2-40B4-BE49-F238E27FC236}">
                    <a16:creationId xmlns:a16="http://schemas.microsoft.com/office/drawing/2014/main" id="{AF5B4835-6965-41A5-9BAA-90DCABABD656}"/>
                  </a:ext>
                </a:extLst>
              </p:cNvPr>
              <p:cNvGrpSpPr>
                <a:grpSpLocks/>
              </p:cNvGrpSpPr>
              <p:nvPr/>
            </p:nvGrpSpPr>
            <p:grpSpPr bwMode="auto">
              <a:xfrm>
                <a:off x="4849271" y="4642685"/>
                <a:ext cx="1484312" cy="245107"/>
                <a:chOff x="1382440" y="4913787"/>
                <a:chExt cx="1484226" cy="245067"/>
              </a:xfrm>
            </p:grpSpPr>
            <p:sp>
              <p:nvSpPr>
                <p:cNvPr id="58" name="21 Rectángulo">
                  <a:extLst>
                    <a:ext uri="{FF2B5EF4-FFF2-40B4-BE49-F238E27FC236}">
                      <a16:creationId xmlns:a16="http://schemas.microsoft.com/office/drawing/2014/main" id="{DA4FF977-50F0-4B9C-B2C8-1594FCEA39A4}"/>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59" name="22 Rectángulo">
                  <a:extLst>
                    <a:ext uri="{FF2B5EF4-FFF2-40B4-BE49-F238E27FC236}">
                      <a16:creationId xmlns:a16="http://schemas.microsoft.com/office/drawing/2014/main" id="{D0F5A12A-DD0E-458E-84F8-838B5868FC5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0" name="23 Rectángulo">
                  <a:extLst>
                    <a:ext uri="{FF2B5EF4-FFF2-40B4-BE49-F238E27FC236}">
                      <a16:creationId xmlns:a16="http://schemas.microsoft.com/office/drawing/2014/main" id="{925F1693-2D5A-4FC7-98DE-DC0355FAB0D6}"/>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1" name="24 Rectángulo">
                  <a:extLst>
                    <a:ext uri="{FF2B5EF4-FFF2-40B4-BE49-F238E27FC236}">
                      <a16:creationId xmlns:a16="http://schemas.microsoft.com/office/drawing/2014/main" id="{97D81016-31BE-4CDB-81A0-21C59AC1E33D}"/>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62" name="25 Grupo">
                <a:extLst>
                  <a:ext uri="{FF2B5EF4-FFF2-40B4-BE49-F238E27FC236}">
                    <a16:creationId xmlns:a16="http://schemas.microsoft.com/office/drawing/2014/main" id="{50E8B180-032B-426F-B72E-908977CF2495}"/>
                  </a:ext>
                </a:extLst>
              </p:cNvPr>
              <p:cNvGrpSpPr>
                <a:grpSpLocks/>
              </p:cNvGrpSpPr>
              <p:nvPr/>
            </p:nvGrpSpPr>
            <p:grpSpPr bwMode="auto">
              <a:xfrm>
                <a:off x="4849271" y="5011045"/>
                <a:ext cx="1484312" cy="245107"/>
                <a:chOff x="1382440" y="5282087"/>
                <a:chExt cx="1484226" cy="245067"/>
              </a:xfrm>
            </p:grpSpPr>
            <p:sp>
              <p:nvSpPr>
                <p:cNvPr id="63" name="17 Rectángulo">
                  <a:extLst>
                    <a:ext uri="{FF2B5EF4-FFF2-40B4-BE49-F238E27FC236}">
                      <a16:creationId xmlns:a16="http://schemas.microsoft.com/office/drawing/2014/main" id="{4A004076-922A-4B4B-97ED-7E528CCFEE63}"/>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4" name="18 Rectángulo">
                  <a:extLst>
                    <a:ext uri="{FF2B5EF4-FFF2-40B4-BE49-F238E27FC236}">
                      <a16:creationId xmlns:a16="http://schemas.microsoft.com/office/drawing/2014/main" id="{37F28F2F-541D-4E90-B129-AC73576CE0FE}"/>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5" name="19 Rectángulo">
                  <a:extLst>
                    <a:ext uri="{FF2B5EF4-FFF2-40B4-BE49-F238E27FC236}">
                      <a16:creationId xmlns:a16="http://schemas.microsoft.com/office/drawing/2014/main" id="{7DB28F5F-AC7A-4312-9FB8-85D8317CC5E9}"/>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6" name="20 Rectángulo">
                  <a:extLst>
                    <a:ext uri="{FF2B5EF4-FFF2-40B4-BE49-F238E27FC236}">
                      <a16:creationId xmlns:a16="http://schemas.microsoft.com/office/drawing/2014/main" id="{FA157933-AD1C-4E3F-9C52-ED5DCEA326F5}"/>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7" name="22 Grupo">
                <a:extLst>
                  <a:ext uri="{FF2B5EF4-FFF2-40B4-BE49-F238E27FC236}">
                    <a16:creationId xmlns:a16="http://schemas.microsoft.com/office/drawing/2014/main" id="{97A60F90-F928-4565-80DC-9E77C9BB941B}"/>
                  </a:ext>
                </a:extLst>
              </p:cNvPr>
              <p:cNvGrpSpPr>
                <a:grpSpLocks/>
              </p:cNvGrpSpPr>
              <p:nvPr/>
            </p:nvGrpSpPr>
            <p:grpSpPr bwMode="auto">
              <a:xfrm>
                <a:off x="4851327" y="2762210"/>
                <a:ext cx="1484312" cy="245107"/>
                <a:chOff x="1382440" y="4126387"/>
                <a:chExt cx="1484226" cy="245067"/>
              </a:xfrm>
            </p:grpSpPr>
            <p:sp>
              <p:nvSpPr>
                <p:cNvPr id="98" name="29 Rectángulo">
                  <a:extLst>
                    <a:ext uri="{FF2B5EF4-FFF2-40B4-BE49-F238E27FC236}">
                      <a16:creationId xmlns:a16="http://schemas.microsoft.com/office/drawing/2014/main" id="{454F219D-9BFA-46EA-BE4C-168148DD6AA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9" name="30 Rectángulo">
                  <a:extLst>
                    <a:ext uri="{FF2B5EF4-FFF2-40B4-BE49-F238E27FC236}">
                      <a16:creationId xmlns:a16="http://schemas.microsoft.com/office/drawing/2014/main" id="{288EBE5D-7BD9-475B-8332-8A50DAA77767}"/>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0" name="31 Rectángulo">
                  <a:extLst>
                    <a:ext uri="{FF2B5EF4-FFF2-40B4-BE49-F238E27FC236}">
                      <a16:creationId xmlns:a16="http://schemas.microsoft.com/office/drawing/2014/main" id="{064ED873-8542-4B80-A43E-2EECFA07221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1" name="32 Rectángulo">
                  <a:extLst>
                    <a:ext uri="{FF2B5EF4-FFF2-40B4-BE49-F238E27FC236}">
                      <a16:creationId xmlns:a16="http://schemas.microsoft.com/office/drawing/2014/main" id="{C262D529-9D1F-48D7-8B13-603DE13ACB4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nvGrpSpPr>
            <p:cNvPr id="3" name="Grupo 2">
              <a:extLst>
                <a:ext uri="{FF2B5EF4-FFF2-40B4-BE49-F238E27FC236}">
                  <a16:creationId xmlns:a16="http://schemas.microsoft.com/office/drawing/2014/main" id="{BBDD45B4-B800-4D07-9514-BAD698A09FE9}"/>
                </a:ext>
              </a:extLst>
            </p:cNvPr>
            <p:cNvGrpSpPr/>
            <p:nvPr/>
          </p:nvGrpSpPr>
          <p:grpSpPr>
            <a:xfrm>
              <a:off x="6976766" y="2749244"/>
              <a:ext cx="1500222" cy="2513069"/>
              <a:chOff x="6976766" y="2749244"/>
              <a:chExt cx="1500222" cy="2513069"/>
            </a:xfrm>
          </p:grpSpPr>
          <p:grpSp>
            <p:nvGrpSpPr>
              <p:cNvPr id="67" name="22 Grupo">
                <a:extLst>
                  <a:ext uri="{FF2B5EF4-FFF2-40B4-BE49-F238E27FC236}">
                    <a16:creationId xmlns:a16="http://schemas.microsoft.com/office/drawing/2014/main" id="{3AA75B20-7402-41D9-9816-BCC691BE3F99}"/>
                  </a:ext>
                </a:extLst>
              </p:cNvPr>
              <p:cNvGrpSpPr>
                <a:grpSpLocks/>
              </p:cNvGrpSpPr>
              <p:nvPr/>
            </p:nvGrpSpPr>
            <p:grpSpPr bwMode="auto">
              <a:xfrm>
                <a:off x="6976766" y="3114479"/>
                <a:ext cx="1484312" cy="245107"/>
                <a:chOff x="1382440" y="4126387"/>
                <a:chExt cx="1484226" cy="245067"/>
              </a:xfrm>
            </p:grpSpPr>
            <p:sp>
              <p:nvSpPr>
                <p:cNvPr id="68" name="29 Rectángulo">
                  <a:extLst>
                    <a:ext uri="{FF2B5EF4-FFF2-40B4-BE49-F238E27FC236}">
                      <a16:creationId xmlns:a16="http://schemas.microsoft.com/office/drawing/2014/main" id="{10515C08-41EB-4F9A-8FCE-2E9AE07A328C}"/>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9" name="30 Rectángulo">
                  <a:extLst>
                    <a:ext uri="{FF2B5EF4-FFF2-40B4-BE49-F238E27FC236}">
                      <a16:creationId xmlns:a16="http://schemas.microsoft.com/office/drawing/2014/main" id="{C6143AB5-A65B-4F4B-B6DA-32AC89FC0CEA}"/>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0" name="31 Rectángulo">
                  <a:extLst>
                    <a:ext uri="{FF2B5EF4-FFF2-40B4-BE49-F238E27FC236}">
                      <a16:creationId xmlns:a16="http://schemas.microsoft.com/office/drawing/2014/main" id="{F571AAA5-2903-48F7-B329-C021F703E852}"/>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1" name="32 Rectángulo">
                  <a:extLst>
                    <a:ext uri="{FF2B5EF4-FFF2-40B4-BE49-F238E27FC236}">
                      <a16:creationId xmlns:a16="http://schemas.microsoft.com/office/drawing/2014/main" id="{58829E0F-6079-42D5-A6D6-E4246D49458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2" name="23 Grupo">
                <a:extLst>
                  <a:ext uri="{FF2B5EF4-FFF2-40B4-BE49-F238E27FC236}">
                    <a16:creationId xmlns:a16="http://schemas.microsoft.com/office/drawing/2014/main" id="{95ACFCB4-1998-45EA-9966-464519F0C99A}"/>
                  </a:ext>
                </a:extLst>
              </p:cNvPr>
              <p:cNvGrpSpPr>
                <a:grpSpLocks/>
              </p:cNvGrpSpPr>
              <p:nvPr/>
            </p:nvGrpSpPr>
            <p:grpSpPr bwMode="auto">
              <a:xfrm>
                <a:off x="6976766" y="3508243"/>
                <a:ext cx="1484312" cy="245107"/>
                <a:chOff x="1382440" y="4520087"/>
                <a:chExt cx="1484226" cy="245067"/>
              </a:xfrm>
            </p:grpSpPr>
            <p:sp>
              <p:nvSpPr>
                <p:cNvPr id="73" name="25 Rectángulo">
                  <a:extLst>
                    <a:ext uri="{FF2B5EF4-FFF2-40B4-BE49-F238E27FC236}">
                      <a16:creationId xmlns:a16="http://schemas.microsoft.com/office/drawing/2014/main" id="{0C45C651-773A-40F4-BE25-B12F5AA7A97A}"/>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4" name="26 Rectángulo">
                  <a:extLst>
                    <a:ext uri="{FF2B5EF4-FFF2-40B4-BE49-F238E27FC236}">
                      <a16:creationId xmlns:a16="http://schemas.microsoft.com/office/drawing/2014/main" id="{BA57E17A-A220-454F-A507-B7A5AA2C0CA0}"/>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5" name="27 Rectángulo">
                  <a:extLst>
                    <a:ext uri="{FF2B5EF4-FFF2-40B4-BE49-F238E27FC236}">
                      <a16:creationId xmlns:a16="http://schemas.microsoft.com/office/drawing/2014/main" id="{0BA057CC-4512-4F95-B859-6E4D7B2204DB}"/>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6" name="28 Rectángulo">
                  <a:extLst>
                    <a:ext uri="{FF2B5EF4-FFF2-40B4-BE49-F238E27FC236}">
                      <a16:creationId xmlns:a16="http://schemas.microsoft.com/office/drawing/2014/main" id="{4EAD9913-6006-4A0B-8B40-D1E01D338C83}"/>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7" name="24 Grupo">
                <a:extLst>
                  <a:ext uri="{FF2B5EF4-FFF2-40B4-BE49-F238E27FC236}">
                    <a16:creationId xmlns:a16="http://schemas.microsoft.com/office/drawing/2014/main" id="{60317122-D782-49DC-BFA0-229EA39693F9}"/>
                  </a:ext>
                </a:extLst>
              </p:cNvPr>
              <p:cNvGrpSpPr>
                <a:grpSpLocks/>
              </p:cNvGrpSpPr>
              <p:nvPr/>
            </p:nvGrpSpPr>
            <p:grpSpPr bwMode="auto">
              <a:xfrm>
                <a:off x="6976766" y="3902008"/>
                <a:ext cx="1484312" cy="245107"/>
                <a:chOff x="1382440" y="4913787"/>
                <a:chExt cx="1484226" cy="245067"/>
              </a:xfrm>
            </p:grpSpPr>
            <p:sp>
              <p:nvSpPr>
                <p:cNvPr id="78" name="21 Rectángulo">
                  <a:extLst>
                    <a:ext uri="{FF2B5EF4-FFF2-40B4-BE49-F238E27FC236}">
                      <a16:creationId xmlns:a16="http://schemas.microsoft.com/office/drawing/2014/main" id="{A3E6717A-F034-4EE8-BF9B-2C7F0609556E}"/>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9" name="22 Rectángulo">
                  <a:extLst>
                    <a:ext uri="{FF2B5EF4-FFF2-40B4-BE49-F238E27FC236}">
                      <a16:creationId xmlns:a16="http://schemas.microsoft.com/office/drawing/2014/main" id="{18B2FFBF-34AB-4E27-A16F-A62375C5931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0" name="23 Rectángulo">
                  <a:extLst>
                    <a:ext uri="{FF2B5EF4-FFF2-40B4-BE49-F238E27FC236}">
                      <a16:creationId xmlns:a16="http://schemas.microsoft.com/office/drawing/2014/main" id="{D34C9232-7B7F-49FB-81E6-AEC46C27A8EE}"/>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1" name="24 Rectángulo">
                  <a:extLst>
                    <a:ext uri="{FF2B5EF4-FFF2-40B4-BE49-F238E27FC236}">
                      <a16:creationId xmlns:a16="http://schemas.microsoft.com/office/drawing/2014/main" id="{000C03B5-3CCE-46BB-AAD4-8DD3C7420A44}"/>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2" name="25 Grupo">
                <a:extLst>
                  <a:ext uri="{FF2B5EF4-FFF2-40B4-BE49-F238E27FC236}">
                    <a16:creationId xmlns:a16="http://schemas.microsoft.com/office/drawing/2014/main" id="{50C2D6F3-66C9-40D0-A866-55D30A2829B6}"/>
                  </a:ext>
                </a:extLst>
              </p:cNvPr>
              <p:cNvGrpSpPr>
                <a:grpSpLocks/>
              </p:cNvGrpSpPr>
              <p:nvPr/>
            </p:nvGrpSpPr>
            <p:grpSpPr bwMode="auto">
              <a:xfrm>
                <a:off x="6976766" y="4270368"/>
                <a:ext cx="1484312" cy="245107"/>
                <a:chOff x="1382440" y="5282087"/>
                <a:chExt cx="1484226" cy="245067"/>
              </a:xfrm>
            </p:grpSpPr>
            <p:sp>
              <p:nvSpPr>
                <p:cNvPr id="83" name="17 Rectángulo">
                  <a:extLst>
                    <a:ext uri="{FF2B5EF4-FFF2-40B4-BE49-F238E27FC236}">
                      <a16:creationId xmlns:a16="http://schemas.microsoft.com/office/drawing/2014/main" id="{1C2F7B02-5F53-4AD6-8B7B-8F416ECCE1CC}"/>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4" name="18 Rectángulo">
                  <a:extLst>
                    <a:ext uri="{FF2B5EF4-FFF2-40B4-BE49-F238E27FC236}">
                      <a16:creationId xmlns:a16="http://schemas.microsoft.com/office/drawing/2014/main" id="{5E5BF00A-4513-43D4-8141-F388F432E4A6}"/>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5" name="19 Rectángulo">
                  <a:extLst>
                    <a:ext uri="{FF2B5EF4-FFF2-40B4-BE49-F238E27FC236}">
                      <a16:creationId xmlns:a16="http://schemas.microsoft.com/office/drawing/2014/main" id="{05817F55-0D4F-48CD-B701-295341E63F16}"/>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6" name="20 Rectángulo">
                  <a:extLst>
                    <a:ext uri="{FF2B5EF4-FFF2-40B4-BE49-F238E27FC236}">
                      <a16:creationId xmlns:a16="http://schemas.microsoft.com/office/drawing/2014/main" id="{0C3564B3-321D-4B70-9E38-9630D15DAA2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7" name="24 Grupo">
                <a:extLst>
                  <a:ext uri="{FF2B5EF4-FFF2-40B4-BE49-F238E27FC236}">
                    <a16:creationId xmlns:a16="http://schemas.microsoft.com/office/drawing/2014/main" id="{2BCF8211-E811-4EA6-A16F-0F9D044CB03D}"/>
                  </a:ext>
                </a:extLst>
              </p:cNvPr>
              <p:cNvGrpSpPr>
                <a:grpSpLocks/>
              </p:cNvGrpSpPr>
              <p:nvPr/>
            </p:nvGrpSpPr>
            <p:grpSpPr bwMode="auto">
              <a:xfrm>
                <a:off x="6976766" y="4648846"/>
                <a:ext cx="1484312" cy="245107"/>
                <a:chOff x="1382440" y="4913787"/>
                <a:chExt cx="1484226" cy="245067"/>
              </a:xfrm>
            </p:grpSpPr>
            <p:sp>
              <p:nvSpPr>
                <p:cNvPr id="88" name="21 Rectángulo">
                  <a:extLst>
                    <a:ext uri="{FF2B5EF4-FFF2-40B4-BE49-F238E27FC236}">
                      <a16:creationId xmlns:a16="http://schemas.microsoft.com/office/drawing/2014/main" id="{9721B368-A6D4-4F66-9EED-317CA4AEE55A}"/>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9" name="22 Rectángulo">
                  <a:extLst>
                    <a:ext uri="{FF2B5EF4-FFF2-40B4-BE49-F238E27FC236}">
                      <a16:creationId xmlns:a16="http://schemas.microsoft.com/office/drawing/2014/main" id="{3566BA1B-ABEE-447E-9458-CE833109398D}"/>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0" name="23 Rectángulo">
                  <a:extLst>
                    <a:ext uri="{FF2B5EF4-FFF2-40B4-BE49-F238E27FC236}">
                      <a16:creationId xmlns:a16="http://schemas.microsoft.com/office/drawing/2014/main" id="{8D6C5A48-7769-49F2-94BC-00E313203445}"/>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1" name="24 Rectángulo">
                  <a:extLst>
                    <a:ext uri="{FF2B5EF4-FFF2-40B4-BE49-F238E27FC236}">
                      <a16:creationId xmlns:a16="http://schemas.microsoft.com/office/drawing/2014/main" id="{A1E79D00-3E00-40B9-9492-4E2AB145C18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2" name="25 Grupo">
                <a:extLst>
                  <a:ext uri="{FF2B5EF4-FFF2-40B4-BE49-F238E27FC236}">
                    <a16:creationId xmlns:a16="http://schemas.microsoft.com/office/drawing/2014/main" id="{4B637FDF-4BCE-43F2-9A5A-5401830E2D54}"/>
                  </a:ext>
                </a:extLst>
              </p:cNvPr>
              <p:cNvGrpSpPr>
                <a:grpSpLocks/>
              </p:cNvGrpSpPr>
              <p:nvPr/>
            </p:nvGrpSpPr>
            <p:grpSpPr bwMode="auto">
              <a:xfrm>
                <a:off x="6976766" y="5017206"/>
                <a:ext cx="1484312" cy="245107"/>
                <a:chOff x="1382440" y="5282087"/>
                <a:chExt cx="1484226" cy="245067"/>
              </a:xfrm>
            </p:grpSpPr>
            <p:sp>
              <p:nvSpPr>
                <p:cNvPr id="93" name="17 Rectángulo">
                  <a:extLst>
                    <a:ext uri="{FF2B5EF4-FFF2-40B4-BE49-F238E27FC236}">
                      <a16:creationId xmlns:a16="http://schemas.microsoft.com/office/drawing/2014/main" id="{0C52B9D8-CE28-4AE6-8FB3-BB11FEA0CC77}"/>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4" name="18 Rectángulo">
                  <a:extLst>
                    <a:ext uri="{FF2B5EF4-FFF2-40B4-BE49-F238E27FC236}">
                      <a16:creationId xmlns:a16="http://schemas.microsoft.com/office/drawing/2014/main" id="{832B4C4E-0CBA-41F7-AB5D-AE928FEED4C7}"/>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5" name="19 Rectángulo">
                  <a:extLst>
                    <a:ext uri="{FF2B5EF4-FFF2-40B4-BE49-F238E27FC236}">
                      <a16:creationId xmlns:a16="http://schemas.microsoft.com/office/drawing/2014/main" id="{BBB76572-2E68-4A51-812E-9A5D094F1571}"/>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6" name="20 Rectángulo">
                  <a:extLst>
                    <a:ext uri="{FF2B5EF4-FFF2-40B4-BE49-F238E27FC236}">
                      <a16:creationId xmlns:a16="http://schemas.microsoft.com/office/drawing/2014/main" id="{1622BB1F-2779-471B-B3C4-7AFEF3AC7CA1}"/>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2" name="22 Grupo">
                <a:extLst>
                  <a:ext uri="{FF2B5EF4-FFF2-40B4-BE49-F238E27FC236}">
                    <a16:creationId xmlns:a16="http://schemas.microsoft.com/office/drawing/2014/main" id="{37D5CF76-6A4F-4A39-8CB9-8F1A34186E56}"/>
                  </a:ext>
                </a:extLst>
              </p:cNvPr>
              <p:cNvGrpSpPr>
                <a:grpSpLocks/>
              </p:cNvGrpSpPr>
              <p:nvPr/>
            </p:nvGrpSpPr>
            <p:grpSpPr bwMode="auto">
              <a:xfrm>
                <a:off x="6992676" y="2749244"/>
                <a:ext cx="1484312" cy="245107"/>
                <a:chOff x="1382440" y="4126387"/>
                <a:chExt cx="1484226" cy="245067"/>
              </a:xfrm>
            </p:grpSpPr>
            <p:sp>
              <p:nvSpPr>
                <p:cNvPr id="103" name="29 Rectángulo">
                  <a:extLst>
                    <a:ext uri="{FF2B5EF4-FFF2-40B4-BE49-F238E27FC236}">
                      <a16:creationId xmlns:a16="http://schemas.microsoft.com/office/drawing/2014/main" id="{9167F321-E2E6-4A92-9AEC-A251556366E2}"/>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4" name="30 Rectángulo">
                  <a:extLst>
                    <a:ext uri="{FF2B5EF4-FFF2-40B4-BE49-F238E27FC236}">
                      <a16:creationId xmlns:a16="http://schemas.microsoft.com/office/drawing/2014/main" id="{734619E1-8110-4652-8CCE-D9254647554D}"/>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5" name="31 Rectángulo">
                  <a:extLst>
                    <a:ext uri="{FF2B5EF4-FFF2-40B4-BE49-F238E27FC236}">
                      <a16:creationId xmlns:a16="http://schemas.microsoft.com/office/drawing/2014/main" id="{8E0E7315-EDA8-45EC-8491-7AC77E77764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6" name="32 Rectángulo">
                  <a:extLst>
                    <a:ext uri="{FF2B5EF4-FFF2-40B4-BE49-F238E27FC236}">
                      <a16:creationId xmlns:a16="http://schemas.microsoft.com/office/drawing/2014/main" id="{760E5E13-5028-4BD1-910E-81B8251411E6}"/>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spTree>
    <p:extLst>
      <p:ext uri="{BB962C8B-B14F-4D97-AF65-F5344CB8AC3E}">
        <p14:creationId xmlns:p14="http://schemas.microsoft.com/office/powerpoint/2010/main" val="570103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5</a:t>
            </a:r>
          </a:p>
        </p:txBody>
      </p:sp>
      <p:grpSp>
        <p:nvGrpSpPr>
          <p:cNvPr id="29" name="27 Grupo">
            <a:extLst>
              <a:ext uri="{FF2B5EF4-FFF2-40B4-BE49-F238E27FC236}">
                <a16:creationId xmlns:a16="http://schemas.microsoft.com/office/drawing/2014/main" id="{19B00129-C57B-4599-977F-B511285429CE}"/>
              </a:ext>
            </a:extLst>
          </p:cNvPr>
          <p:cNvGrpSpPr>
            <a:grpSpLocks/>
          </p:cNvGrpSpPr>
          <p:nvPr/>
        </p:nvGrpSpPr>
        <p:grpSpPr bwMode="auto">
          <a:xfrm>
            <a:off x="4623041" y="4892988"/>
            <a:ext cx="2568575" cy="710247"/>
            <a:chOff x="4162928" y="5881089"/>
            <a:chExt cx="2569312" cy="709598"/>
          </a:xfrm>
        </p:grpSpPr>
        <p:sp>
          <p:nvSpPr>
            <p:cNvPr id="30" name="34 Rectángulo">
              <a:extLst>
                <a:ext uri="{FF2B5EF4-FFF2-40B4-BE49-F238E27FC236}">
                  <a16:creationId xmlns:a16="http://schemas.microsoft.com/office/drawing/2014/main" id="{EE9BE19E-C993-41A8-A932-A5461C78E623}"/>
                </a:ext>
              </a:extLst>
            </p:cNvPr>
            <p:cNvSpPr/>
            <p:nvPr/>
          </p:nvSpPr>
          <p:spPr>
            <a:xfrm>
              <a:off x="4162928" y="5915982"/>
              <a:ext cx="215962" cy="2379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1" name="35 Rectángulo">
              <a:extLst>
                <a:ext uri="{FF2B5EF4-FFF2-40B4-BE49-F238E27FC236}">
                  <a16:creationId xmlns:a16="http://schemas.microsoft.com/office/drawing/2014/main" id="{6AA62DE3-AE03-4E19-833D-40C8834CECE3}"/>
                </a:ext>
              </a:extLst>
            </p:cNvPr>
            <p:cNvSpPr/>
            <p:nvPr/>
          </p:nvSpPr>
          <p:spPr>
            <a:xfrm>
              <a:off x="4162928" y="6309323"/>
              <a:ext cx="215962" cy="2394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2" name="9 CuadroTexto">
              <a:extLst>
                <a:ext uri="{FF2B5EF4-FFF2-40B4-BE49-F238E27FC236}">
                  <a16:creationId xmlns:a16="http://schemas.microsoft.com/office/drawing/2014/main" id="{849CAE1D-7DE7-4974-B2F1-53EA215E8A6A}"/>
                </a:ext>
              </a:extLst>
            </p:cNvPr>
            <p:cNvSpPr txBox="1">
              <a:spLocks noChangeArrowheads="1"/>
            </p:cNvSpPr>
            <p:nvPr/>
          </p:nvSpPr>
          <p:spPr bwMode="auto">
            <a:xfrm>
              <a:off x="4553106" y="5881089"/>
              <a:ext cx="1872208"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VIP: </a:t>
              </a:r>
              <a:r>
                <a:rPr lang="es-CO" altLang="es-CO" sz="1600" dirty="0">
                  <a:latin typeface="Century Gothic" panose="020B0502020202020204" pitchFamily="34" charset="0"/>
                  <a:cs typeface="Courier New" pitchFamily="49" charset="0"/>
                </a:rPr>
                <a:t>$7000</a:t>
              </a:r>
            </a:p>
          </p:txBody>
        </p:sp>
        <p:sp>
          <p:nvSpPr>
            <p:cNvPr id="33" name="9 CuadroTexto">
              <a:extLst>
                <a:ext uri="{FF2B5EF4-FFF2-40B4-BE49-F238E27FC236}">
                  <a16:creationId xmlns:a16="http://schemas.microsoft.com/office/drawing/2014/main" id="{D2630175-4023-47BE-A5DC-4D5DA5EACB7A}"/>
                </a:ext>
              </a:extLst>
            </p:cNvPr>
            <p:cNvSpPr txBox="1">
              <a:spLocks noChangeArrowheads="1"/>
            </p:cNvSpPr>
            <p:nvPr/>
          </p:nvSpPr>
          <p:spPr bwMode="auto">
            <a:xfrm>
              <a:off x="4553106" y="6252442"/>
              <a:ext cx="2179134"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Normal: </a:t>
              </a:r>
              <a:r>
                <a:rPr lang="es-CO" altLang="es-CO" sz="1600" dirty="0">
                  <a:latin typeface="Century Gothic" panose="020B0502020202020204" pitchFamily="34" charset="0"/>
                  <a:cs typeface="Courier New" pitchFamily="49" charset="0"/>
                </a:rPr>
                <a:t>$5000</a:t>
              </a:r>
            </a:p>
          </p:txBody>
        </p:sp>
      </p:grpSp>
      <p:grpSp>
        <p:nvGrpSpPr>
          <p:cNvPr id="107" name="Grupo 106">
            <a:extLst>
              <a:ext uri="{FF2B5EF4-FFF2-40B4-BE49-F238E27FC236}">
                <a16:creationId xmlns:a16="http://schemas.microsoft.com/office/drawing/2014/main" id="{EE8AF934-40F8-458A-A131-0D006472F0AF}"/>
              </a:ext>
            </a:extLst>
          </p:cNvPr>
          <p:cNvGrpSpPr/>
          <p:nvPr/>
        </p:nvGrpSpPr>
        <p:grpSpPr>
          <a:xfrm>
            <a:off x="4595540" y="1789957"/>
            <a:ext cx="3627717" cy="2839996"/>
            <a:chOff x="4849271" y="2749244"/>
            <a:chExt cx="3627717" cy="2839996"/>
          </a:xfrm>
        </p:grpSpPr>
        <p:cxnSp>
          <p:nvCxnSpPr>
            <p:cNvPr id="11" name="16 Conector recto">
              <a:extLst>
                <a:ext uri="{FF2B5EF4-FFF2-40B4-BE49-F238E27FC236}">
                  <a16:creationId xmlns:a16="http://schemas.microsoft.com/office/drawing/2014/main" id="{449E2544-E219-4366-926F-AEE4F32CF55B}"/>
                </a:ext>
              </a:extLst>
            </p:cNvPr>
            <p:cNvCxnSpPr>
              <a:cxnSpLocks/>
            </p:cNvCxnSpPr>
            <p:nvPr/>
          </p:nvCxnSpPr>
          <p:spPr bwMode="auto">
            <a:xfrm>
              <a:off x="5667573" y="5589240"/>
              <a:ext cx="19664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upo 1">
              <a:extLst>
                <a:ext uri="{FF2B5EF4-FFF2-40B4-BE49-F238E27FC236}">
                  <a16:creationId xmlns:a16="http://schemas.microsoft.com/office/drawing/2014/main" id="{53D254EE-46A3-4D21-85AB-7783B4A7C2D8}"/>
                </a:ext>
              </a:extLst>
            </p:cNvPr>
            <p:cNvGrpSpPr/>
            <p:nvPr/>
          </p:nvGrpSpPr>
          <p:grpSpPr>
            <a:xfrm>
              <a:off x="4849271" y="2762210"/>
              <a:ext cx="1486368" cy="2493942"/>
              <a:chOff x="4849271" y="2762210"/>
              <a:chExt cx="1486368" cy="2493942"/>
            </a:xfrm>
          </p:grpSpPr>
          <p:grpSp>
            <p:nvGrpSpPr>
              <p:cNvPr id="7" name="22 Grupo">
                <a:extLst>
                  <a:ext uri="{FF2B5EF4-FFF2-40B4-BE49-F238E27FC236}">
                    <a16:creationId xmlns:a16="http://schemas.microsoft.com/office/drawing/2014/main" id="{E7A7E5FA-D6C8-4394-9828-470C4E79BE49}"/>
                  </a:ext>
                </a:extLst>
              </p:cNvPr>
              <p:cNvGrpSpPr>
                <a:grpSpLocks/>
              </p:cNvGrpSpPr>
              <p:nvPr/>
            </p:nvGrpSpPr>
            <p:grpSpPr bwMode="auto">
              <a:xfrm>
                <a:off x="4849271" y="3108318"/>
                <a:ext cx="1484312" cy="245107"/>
                <a:chOff x="1382440" y="4126387"/>
                <a:chExt cx="1484226" cy="245067"/>
              </a:xfrm>
            </p:grpSpPr>
            <p:sp>
              <p:nvSpPr>
                <p:cNvPr id="25" name="29 Rectángulo">
                  <a:extLst>
                    <a:ext uri="{FF2B5EF4-FFF2-40B4-BE49-F238E27FC236}">
                      <a16:creationId xmlns:a16="http://schemas.microsoft.com/office/drawing/2014/main" id="{02611C33-5F24-46B3-BD80-5EC34E2D3C9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6" name="30 Rectángulo">
                  <a:extLst>
                    <a:ext uri="{FF2B5EF4-FFF2-40B4-BE49-F238E27FC236}">
                      <a16:creationId xmlns:a16="http://schemas.microsoft.com/office/drawing/2014/main" id="{D1BE216B-CF27-4F6D-AE9E-385B6C9951E6}"/>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7" name="31 Rectángulo">
                  <a:extLst>
                    <a:ext uri="{FF2B5EF4-FFF2-40B4-BE49-F238E27FC236}">
                      <a16:creationId xmlns:a16="http://schemas.microsoft.com/office/drawing/2014/main" id="{1EC112B1-37C7-4DD0-8A1C-FDF1A7A6149D}"/>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8" name="32 Rectángulo">
                  <a:extLst>
                    <a:ext uri="{FF2B5EF4-FFF2-40B4-BE49-F238E27FC236}">
                      <a16:creationId xmlns:a16="http://schemas.microsoft.com/office/drawing/2014/main" id="{EB2C2A82-8191-4BF2-8F07-ADCAC3912AE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 name="23 Grupo">
                <a:extLst>
                  <a:ext uri="{FF2B5EF4-FFF2-40B4-BE49-F238E27FC236}">
                    <a16:creationId xmlns:a16="http://schemas.microsoft.com/office/drawing/2014/main" id="{C91A9263-45F1-4C98-887E-92915D26CBBB}"/>
                  </a:ext>
                </a:extLst>
              </p:cNvPr>
              <p:cNvGrpSpPr>
                <a:grpSpLocks/>
              </p:cNvGrpSpPr>
              <p:nvPr/>
            </p:nvGrpSpPr>
            <p:grpSpPr bwMode="auto">
              <a:xfrm>
                <a:off x="4849271" y="3502082"/>
                <a:ext cx="1484312" cy="245107"/>
                <a:chOff x="1382440" y="4520087"/>
                <a:chExt cx="1484226" cy="245067"/>
              </a:xfrm>
            </p:grpSpPr>
            <p:sp>
              <p:nvSpPr>
                <p:cNvPr id="21" name="25 Rectángulo">
                  <a:extLst>
                    <a:ext uri="{FF2B5EF4-FFF2-40B4-BE49-F238E27FC236}">
                      <a16:creationId xmlns:a16="http://schemas.microsoft.com/office/drawing/2014/main" id="{9F6496AF-942F-4C1E-9C80-394AE8C2B19F}"/>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2" name="26 Rectángulo">
                  <a:extLst>
                    <a:ext uri="{FF2B5EF4-FFF2-40B4-BE49-F238E27FC236}">
                      <a16:creationId xmlns:a16="http://schemas.microsoft.com/office/drawing/2014/main" id="{9470D467-73FD-4625-9018-63FE5DD0E294}"/>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3" name="27 Rectángulo">
                  <a:extLst>
                    <a:ext uri="{FF2B5EF4-FFF2-40B4-BE49-F238E27FC236}">
                      <a16:creationId xmlns:a16="http://schemas.microsoft.com/office/drawing/2014/main" id="{C3D58233-6983-4919-80E8-29720AA764F1}"/>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4" name="28 Rectángulo">
                  <a:extLst>
                    <a:ext uri="{FF2B5EF4-FFF2-40B4-BE49-F238E27FC236}">
                      <a16:creationId xmlns:a16="http://schemas.microsoft.com/office/drawing/2014/main" id="{1222B0B2-817A-495C-AC19-A84BB7CF42C0}"/>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 name="24 Grupo">
                <a:extLst>
                  <a:ext uri="{FF2B5EF4-FFF2-40B4-BE49-F238E27FC236}">
                    <a16:creationId xmlns:a16="http://schemas.microsoft.com/office/drawing/2014/main" id="{BED1F3EA-BFA2-4323-A258-C63F2FE12058}"/>
                  </a:ext>
                </a:extLst>
              </p:cNvPr>
              <p:cNvGrpSpPr>
                <a:grpSpLocks/>
              </p:cNvGrpSpPr>
              <p:nvPr/>
            </p:nvGrpSpPr>
            <p:grpSpPr bwMode="auto">
              <a:xfrm>
                <a:off x="4849271" y="3895847"/>
                <a:ext cx="1484312" cy="245107"/>
                <a:chOff x="1382440" y="4913787"/>
                <a:chExt cx="1484226" cy="245067"/>
              </a:xfrm>
            </p:grpSpPr>
            <p:sp>
              <p:nvSpPr>
                <p:cNvPr id="17" name="21 Rectángulo">
                  <a:extLst>
                    <a:ext uri="{FF2B5EF4-FFF2-40B4-BE49-F238E27FC236}">
                      <a16:creationId xmlns:a16="http://schemas.microsoft.com/office/drawing/2014/main" id="{8F3E7DEB-C5F4-4F1E-91C2-D43F00BB0D22}"/>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8" name="22 Rectángulo">
                  <a:extLst>
                    <a:ext uri="{FF2B5EF4-FFF2-40B4-BE49-F238E27FC236}">
                      <a16:creationId xmlns:a16="http://schemas.microsoft.com/office/drawing/2014/main" id="{6018BF0C-A1D0-43BF-BC52-73048076BDAC}"/>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9" name="23 Rectángulo">
                  <a:extLst>
                    <a:ext uri="{FF2B5EF4-FFF2-40B4-BE49-F238E27FC236}">
                      <a16:creationId xmlns:a16="http://schemas.microsoft.com/office/drawing/2014/main" id="{0A11C85F-B172-4B85-AB88-4417DA3E3772}"/>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0" name="24 Rectángulo">
                  <a:extLst>
                    <a:ext uri="{FF2B5EF4-FFF2-40B4-BE49-F238E27FC236}">
                      <a16:creationId xmlns:a16="http://schemas.microsoft.com/office/drawing/2014/main" id="{1AC2F307-A1CC-4E47-B75C-F994B0A3EAF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 name="25 Grupo">
                <a:extLst>
                  <a:ext uri="{FF2B5EF4-FFF2-40B4-BE49-F238E27FC236}">
                    <a16:creationId xmlns:a16="http://schemas.microsoft.com/office/drawing/2014/main" id="{D161696C-2691-42A9-8E3B-E74DDF410F5B}"/>
                  </a:ext>
                </a:extLst>
              </p:cNvPr>
              <p:cNvGrpSpPr>
                <a:grpSpLocks/>
              </p:cNvGrpSpPr>
              <p:nvPr/>
            </p:nvGrpSpPr>
            <p:grpSpPr bwMode="auto">
              <a:xfrm>
                <a:off x="4849271" y="4264207"/>
                <a:ext cx="1484312" cy="245107"/>
                <a:chOff x="1382440" y="5282087"/>
                <a:chExt cx="1484226" cy="245067"/>
              </a:xfrm>
            </p:grpSpPr>
            <p:sp>
              <p:nvSpPr>
                <p:cNvPr id="12" name="17 Rectángulo">
                  <a:extLst>
                    <a:ext uri="{FF2B5EF4-FFF2-40B4-BE49-F238E27FC236}">
                      <a16:creationId xmlns:a16="http://schemas.microsoft.com/office/drawing/2014/main" id="{4CC8F31C-A919-47DA-872B-B5D55B1D8601}"/>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4" name="18 Rectángulo">
                  <a:extLst>
                    <a:ext uri="{FF2B5EF4-FFF2-40B4-BE49-F238E27FC236}">
                      <a16:creationId xmlns:a16="http://schemas.microsoft.com/office/drawing/2014/main" id="{80968FD1-C455-49DC-8867-D33F288C18A0}"/>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5" name="19 Rectángulo">
                  <a:extLst>
                    <a:ext uri="{FF2B5EF4-FFF2-40B4-BE49-F238E27FC236}">
                      <a16:creationId xmlns:a16="http://schemas.microsoft.com/office/drawing/2014/main" id="{7851469E-C5B0-4475-8E61-1159C8A2C227}"/>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6" name="20 Rectángulo">
                  <a:extLst>
                    <a:ext uri="{FF2B5EF4-FFF2-40B4-BE49-F238E27FC236}">
                      <a16:creationId xmlns:a16="http://schemas.microsoft.com/office/drawing/2014/main" id="{4EA7D8D8-C5C1-4A44-BCAA-BB0609AA3E5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57" name="24 Grupo">
                <a:extLst>
                  <a:ext uri="{FF2B5EF4-FFF2-40B4-BE49-F238E27FC236}">
                    <a16:creationId xmlns:a16="http://schemas.microsoft.com/office/drawing/2014/main" id="{AF5B4835-6965-41A5-9BAA-90DCABABD656}"/>
                  </a:ext>
                </a:extLst>
              </p:cNvPr>
              <p:cNvGrpSpPr>
                <a:grpSpLocks/>
              </p:cNvGrpSpPr>
              <p:nvPr/>
            </p:nvGrpSpPr>
            <p:grpSpPr bwMode="auto">
              <a:xfrm>
                <a:off x="4849271" y="4642685"/>
                <a:ext cx="1484312" cy="245107"/>
                <a:chOff x="1382440" y="4913787"/>
                <a:chExt cx="1484226" cy="245067"/>
              </a:xfrm>
            </p:grpSpPr>
            <p:sp>
              <p:nvSpPr>
                <p:cNvPr id="58" name="21 Rectángulo">
                  <a:extLst>
                    <a:ext uri="{FF2B5EF4-FFF2-40B4-BE49-F238E27FC236}">
                      <a16:creationId xmlns:a16="http://schemas.microsoft.com/office/drawing/2014/main" id="{DA4FF977-50F0-4B9C-B2C8-1594FCEA39A4}"/>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59" name="22 Rectángulo">
                  <a:extLst>
                    <a:ext uri="{FF2B5EF4-FFF2-40B4-BE49-F238E27FC236}">
                      <a16:creationId xmlns:a16="http://schemas.microsoft.com/office/drawing/2014/main" id="{D0F5A12A-DD0E-458E-84F8-838B5868FC5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0" name="23 Rectángulo">
                  <a:extLst>
                    <a:ext uri="{FF2B5EF4-FFF2-40B4-BE49-F238E27FC236}">
                      <a16:creationId xmlns:a16="http://schemas.microsoft.com/office/drawing/2014/main" id="{925F1693-2D5A-4FC7-98DE-DC0355FAB0D6}"/>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1" name="24 Rectángulo">
                  <a:extLst>
                    <a:ext uri="{FF2B5EF4-FFF2-40B4-BE49-F238E27FC236}">
                      <a16:creationId xmlns:a16="http://schemas.microsoft.com/office/drawing/2014/main" id="{97D81016-31BE-4CDB-81A0-21C59AC1E33D}"/>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62" name="25 Grupo">
                <a:extLst>
                  <a:ext uri="{FF2B5EF4-FFF2-40B4-BE49-F238E27FC236}">
                    <a16:creationId xmlns:a16="http://schemas.microsoft.com/office/drawing/2014/main" id="{50E8B180-032B-426F-B72E-908977CF2495}"/>
                  </a:ext>
                </a:extLst>
              </p:cNvPr>
              <p:cNvGrpSpPr>
                <a:grpSpLocks/>
              </p:cNvGrpSpPr>
              <p:nvPr/>
            </p:nvGrpSpPr>
            <p:grpSpPr bwMode="auto">
              <a:xfrm>
                <a:off x="4849271" y="5011045"/>
                <a:ext cx="1484312" cy="245107"/>
                <a:chOff x="1382440" y="5282087"/>
                <a:chExt cx="1484226" cy="245067"/>
              </a:xfrm>
            </p:grpSpPr>
            <p:sp>
              <p:nvSpPr>
                <p:cNvPr id="63" name="17 Rectángulo">
                  <a:extLst>
                    <a:ext uri="{FF2B5EF4-FFF2-40B4-BE49-F238E27FC236}">
                      <a16:creationId xmlns:a16="http://schemas.microsoft.com/office/drawing/2014/main" id="{4A004076-922A-4B4B-97ED-7E528CCFEE63}"/>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4" name="18 Rectángulo">
                  <a:extLst>
                    <a:ext uri="{FF2B5EF4-FFF2-40B4-BE49-F238E27FC236}">
                      <a16:creationId xmlns:a16="http://schemas.microsoft.com/office/drawing/2014/main" id="{37F28F2F-541D-4E90-B129-AC73576CE0FE}"/>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5" name="19 Rectángulo">
                  <a:extLst>
                    <a:ext uri="{FF2B5EF4-FFF2-40B4-BE49-F238E27FC236}">
                      <a16:creationId xmlns:a16="http://schemas.microsoft.com/office/drawing/2014/main" id="{7DB28F5F-AC7A-4312-9FB8-85D8317CC5E9}"/>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6" name="20 Rectángulo">
                  <a:extLst>
                    <a:ext uri="{FF2B5EF4-FFF2-40B4-BE49-F238E27FC236}">
                      <a16:creationId xmlns:a16="http://schemas.microsoft.com/office/drawing/2014/main" id="{FA157933-AD1C-4E3F-9C52-ED5DCEA326F5}"/>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7" name="22 Grupo">
                <a:extLst>
                  <a:ext uri="{FF2B5EF4-FFF2-40B4-BE49-F238E27FC236}">
                    <a16:creationId xmlns:a16="http://schemas.microsoft.com/office/drawing/2014/main" id="{97A60F90-F928-4565-80DC-9E77C9BB941B}"/>
                  </a:ext>
                </a:extLst>
              </p:cNvPr>
              <p:cNvGrpSpPr>
                <a:grpSpLocks/>
              </p:cNvGrpSpPr>
              <p:nvPr/>
            </p:nvGrpSpPr>
            <p:grpSpPr bwMode="auto">
              <a:xfrm>
                <a:off x="4851327" y="2762210"/>
                <a:ext cx="1484312" cy="245107"/>
                <a:chOff x="1382440" y="4126387"/>
                <a:chExt cx="1484226" cy="245067"/>
              </a:xfrm>
            </p:grpSpPr>
            <p:sp>
              <p:nvSpPr>
                <p:cNvPr id="98" name="29 Rectángulo">
                  <a:extLst>
                    <a:ext uri="{FF2B5EF4-FFF2-40B4-BE49-F238E27FC236}">
                      <a16:creationId xmlns:a16="http://schemas.microsoft.com/office/drawing/2014/main" id="{454F219D-9BFA-46EA-BE4C-168148DD6AA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9" name="30 Rectángulo">
                  <a:extLst>
                    <a:ext uri="{FF2B5EF4-FFF2-40B4-BE49-F238E27FC236}">
                      <a16:creationId xmlns:a16="http://schemas.microsoft.com/office/drawing/2014/main" id="{288EBE5D-7BD9-475B-8332-8A50DAA77767}"/>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0" name="31 Rectángulo">
                  <a:extLst>
                    <a:ext uri="{FF2B5EF4-FFF2-40B4-BE49-F238E27FC236}">
                      <a16:creationId xmlns:a16="http://schemas.microsoft.com/office/drawing/2014/main" id="{064ED873-8542-4B80-A43E-2EECFA07221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1" name="32 Rectángulo">
                  <a:extLst>
                    <a:ext uri="{FF2B5EF4-FFF2-40B4-BE49-F238E27FC236}">
                      <a16:creationId xmlns:a16="http://schemas.microsoft.com/office/drawing/2014/main" id="{C262D529-9D1F-48D7-8B13-603DE13ACB4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nvGrpSpPr>
            <p:cNvPr id="3" name="Grupo 2">
              <a:extLst>
                <a:ext uri="{FF2B5EF4-FFF2-40B4-BE49-F238E27FC236}">
                  <a16:creationId xmlns:a16="http://schemas.microsoft.com/office/drawing/2014/main" id="{BBDD45B4-B800-4D07-9514-BAD698A09FE9}"/>
                </a:ext>
              </a:extLst>
            </p:cNvPr>
            <p:cNvGrpSpPr/>
            <p:nvPr/>
          </p:nvGrpSpPr>
          <p:grpSpPr>
            <a:xfrm>
              <a:off x="6976766" y="2749244"/>
              <a:ext cx="1500222" cy="2513069"/>
              <a:chOff x="6976766" y="2749244"/>
              <a:chExt cx="1500222" cy="2513069"/>
            </a:xfrm>
          </p:grpSpPr>
          <p:grpSp>
            <p:nvGrpSpPr>
              <p:cNvPr id="67" name="22 Grupo">
                <a:extLst>
                  <a:ext uri="{FF2B5EF4-FFF2-40B4-BE49-F238E27FC236}">
                    <a16:creationId xmlns:a16="http://schemas.microsoft.com/office/drawing/2014/main" id="{3AA75B20-7402-41D9-9816-BCC691BE3F99}"/>
                  </a:ext>
                </a:extLst>
              </p:cNvPr>
              <p:cNvGrpSpPr>
                <a:grpSpLocks/>
              </p:cNvGrpSpPr>
              <p:nvPr/>
            </p:nvGrpSpPr>
            <p:grpSpPr bwMode="auto">
              <a:xfrm>
                <a:off x="6976766" y="3114479"/>
                <a:ext cx="1484312" cy="245107"/>
                <a:chOff x="1382440" y="4126387"/>
                <a:chExt cx="1484226" cy="245067"/>
              </a:xfrm>
            </p:grpSpPr>
            <p:sp>
              <p:nvSpPr>
                <p:cNvPr id="68" name="29 Rectángulo">
                  <a:extLst>
                    <a:ext uri="{FF2B5EF4-FFF2-40B4-BE49-F238E27FC236}">
                      <a16:creationId xmlns:a16="http://schemas.microsoft.com/office/drawing/2014/main" id="{10515C08-41EB-4F9A-8FCE-2E9AE07A328C}"/>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9" name="30 Rectángulo">
                  <a:extLst>
                    <a:ext uri="{FF2B5EF4-FFF2-40B4-BE49-F238E27FC236}">
                      <a16:creationId xmlns:a16="http://schemas.microsoft.com/office/drawing/2014/main" id="{C6143AB5-A65B-4F4B-B6DA-32AC89FC0CEA}"/>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0" name="31 Rectángulo">
                  <a:extLst>
                    <a:ext uri="{FF2B5EF4-FFF2-40B4-BE49-F238E27FC236}">
                      <a16:creationId xmlns:a16="http://schemas.microsoft.com/office/drawing/2014/main" id="{F571AAA5-2903-48F7-B329-C021F703E852}"/>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1" name="32 Rectángulo">
                  <a:extLst>
                    <a:ext uri="{FF2B5EF4-FFF2-40B4-BE49-F238E27FC236}">
                      <a16:creationId xmlns:a16="http://schemas.microsoft.com/office/drawing/2014/main" id="{58829E0F-6079-42D5-A6D6-E4246D49458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2" name="23 Grupo">
                <a:extLst>
                  <a:ext uri="{FF2B5EF4-FFF2-40B4-BE49-F238E27FC236}">
                    <a16:creationId xmlns:a16="http://schemas.microsoft.com/office/drawing/2014/main" id="{95ACFCB4-1998-45EA-9966-464519F0C99A}"/>
                  </a:ext>
                </a:extLst>
              </p:cNvPr>
              <p:cNvGrpSpPr>
                <a:grpSpLocks/>
              </p:cNvGrpSpPr>
              <p:nvPr/>
            </p:nvGrpSpPr>
            <p:grpSpPr bwMode="auto">
              <a:xfrm>
                <a:off x="6976766" y="3508243"/>
                <a:ext cx="1484312" cy="245107"/>
                <a:chOff x="1382440" y="4520087"/>
                <a:chExt cx="1484226" cy="245067"/>
              </a:xfrm>
            </p:grpSpPr>
            <p:sp>
              <p:nvSpPr>
                <p:cNvPr id="73" name="25 Rectángulo">
                  <a:extLst>
                    <a:ext uri="{FF2B5EF4-FFF2-40B4-BE49-F238E27FC236}">
                      <a16:creationId xmlns:a16="http://schemas.microsoft.com/office/drawing/2014/main" id="{0C45C651-773A-40F4-BE25-B12F5AA7A97A}"/>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4" name="26 Rectángulo">
                  <a:extLst>
                    <a:ext uri="{FF2B5EF4-FFF2-40B4-BE49-F238E27FC236}">
                      <a16:creationId xmlns:a16="http://schemas.microsoft.com/office/drawing/2014/main" id="{BA57E17A-A220-454F-A507-B7A5AA2C0CA0}"/>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5" name="27 Rectángulo">
                  <a:extLst>
                    <a:ext uri="{FF2B5EF4-FFF2-40B4-BE49-F238E27FC236}">
                      <a16:creationId xmlns:a16="http://schemas.microsoft.com/office/drawing/2014/main" id="{0BA057CC-4512-4F95-B859-6E4D7B2204DB}"/>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6" name="28 Rectángulo">
                  <a:extLst>
                    <a:ext uri="{FF2B5EF4-FFF2-40B4-BE49-F238E27FC236}">
                      <a16:creationId xmlns:a16="http://schemas.microsoft.com/office/drawing/2014/main" id="{4EAD9913-6006-4A0B-8B40-D1E01D338C83}"/>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7" name="24 Grupo">
                <a:extLst>
                  <a:ext uri="{FF2B5EF4-FFF2-40B4-BE49-F238E27FC236}">
                    <a16:creationId xmlns:a16="http://schemas.microsoft.com/office/drawing/2014/main" id="{60317122-D782-49DC-BFA0-229EA39693F9}"/>
                  </a:ext>
                </a:extLst>
              </p:cNvPr>
              <p:cNvGrpSpPr>
                <a:grpSpLocks/>
              </p:cNvGrpSpPr>
              <p:nvPr/>
            </p:nvGrpSpPr>
            <p:grpSpPr bwMode="auto">
              <a:xfrm>
                <a:off x="6976766" y="3902008"/>
                <a:ext cx="1484312" cy="245107"/>
                <a:chOff x="1382440" y="4913787"/>
                <a:chExt cx="1484226" cy="245067"/>
              </a:xfrm>
            </p:grpSpPr>
            <p:sp>
              <p:nvSpPr>
                <p:cNvPr id="78" name="21 Rectángulo">
                  <a:extLst>
                    <a:ext uri="{FF2B5EF4-FFF2-40B4-BE49-F238E27FC236}">
                      <a16:creationId xmlns:a16="http://schemas.microsoft.com/office/drawing/2014/main" id="{A3E6717A-F034-4EE8-BF9B-2C7F0609556E}"/>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9" name="22 Rectángulo">
                  <a:extLst>
                    <a:ext uri="{FF2B5EF4-FFF2-40B4-BE49-F238E27FC236}">
                      <a16:creationId xmlns:a16="http://schemas.microsoft.com/office/drawing/2014/main" id="{18B2FFBF-34AB-4E27-A16F-A62375C5931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0" name="23 Rectángulo">
                  <a:extLst>
                    <a:ext uri="{FF2B5EF4-FFF2-40B4-BE49-F238E27FC236}">
                      <a16:creationId xmlns:a16="http://schemas.microsoft.com/office/drawing/2014/main" id="{D34C9232-7B7F-49FB-81E6-AEC46C27A8EE}"/>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1" name="24 Rectángulo">
                  <a:extLst>
                    <a:ext uri="{FF2B5EF4-FFF2-40B4-BE49-F238E27FC236}">
                      <a16:creationId xmlns:a16="http://schemas.microsoft.com/office/drawing/2014/main" id="{000C03B5-3CCE-46BB-AAD4-8DD3C7420A44}"/>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2" name="25 Grupo">
                <a:extLst>
                  <a:ext uri="{FF2B5EF4-FFF2-40B4-BE49-F238E27FC236}">
                    <a16:creationId xmlns:a16="http://schemas.microsoft.com/office/drawing/2014/main" id="{50C2D6F3-66C9-40D0-A866-55D30A2829B6}"/>
                  </a:ext>
                </a:extLst>
              </p:cNvPr>
              <p:cNvGrpSpPr>
                <a:grpSpLocks/>
              </p:cNvGrpSpPr>
              <p:nvPr/>
            </p:nvGrpSpPr>
            <p:grpSpPr bwMode="auto">
              <a:xfrm>
                <a:off x="6976766" y="4270368"/>
                <a:ext cx="1484312" cy="245107"/>
                <a:chOff x="1382440" y="5282087"/>
                <a:chExt cx="1484226" cy="245067"/>
              </a:xfrm>
            </p:grpSpPr>
            <p:sp>
              <p:nvSpPr>
                <p:cNvPr id="83" name="17 Rectángulo">
                  <a:extLst>
                    <a:ext uri="{FF2B5EF4-FFF2-40B4-BE49-F238E27FC236}">
                      <a16:creationId xmlns:a16="http://schemas.microsoft.com/office/drawing/2014/main" id="{1C2F7B02-5F53-4AD6-8B7B-8F416ECCE1CC}"/>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4" name="18 Rectángulo">
                  <a:extLst>
                    <a:ext uri="{FF2B5EF4-FFF2-40B4-BE49-F238E27FC236}">
                      <a16:creationId xmlns:a16="http://schemas.microsoft.com/office/drawing/2014/main" id="{5E5BF00A-4513-43D4-8141-F388F432E4A6}"/>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5" name="19 Rectángulo">
                  <a:extLst>
                    <a:ext uri="{FF2B5EF4-FFF2-40B4-BE49-F238E27FC236}">
                      <a16:creationId xmlns:a16="http://schemas.microsoft.com/office/drawing/2014/main" id="{05817F55-0D4F-48CD-B701-295341E63F16}"/>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6" name="20 Rectángulo">
                  <a:extLst>
                    <a:ext uri="{FF2B5EF4-FFF2-40B4-BE49-F238E27FC236}">
                      <a16:creationId xmlns:a16="http://schemas.microsoft.com/office/drawing/2014/main" id="{0C3564B3-321D-4B70-9E38-9630D15DAA2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7" name="24 Grupo">
                <a:extLst>
                  <a:ext uri="{FF2B5EF4-FFF2-40B4-BE49-F238E27FC236}">
                    <a16:creationId xmlns:a16="http://schemas.microsoft.com/office/drawing/2014/main" id="{2BCF8211-E811-4EA6-A16F-0F9D044CB03D}"/>
                  </a:ext>
                </a:extLst>
              </p:cNvPr>
              <p:cNvGrpSpPr>
                <a:grpSpLocks/>
              </p:cNvGrpSpPr>
              <p:nvPr/>
            </p:nvGrpSpPr>
            <p:grpSpPr bwMode="auto">
              <a:xfrm>
                <a:off x="6976766" y="4648846"/>
                <a:ext cx="1484312" cy="245107"/>
                <a:chOff x="1382440" y="4913787"/>
                <a:chExt cx="1484226" cy="245067"/>
              </a:xfrm>
            </p:grpSpPr>
            <p:sp>
              <p:nvSpPr>
                <p:cNvPr id="88" name="21 Rectángulo">
                  <a:extLst>
                    <a:ext uri="{FF2B5EF4-FFF2-40B4-BE49-F238E27FC236}">
                      <a16:creationId xmlns:a16="http://schemas.microsoft.com/office/drawing/2014/main" id="{9721B368-A6D4-4F66-9EED-317CA4AEE55A}"/>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9" name="22 Rectángulo">
                  <a:extLst>
                    <a:ext uri="{FF2B5EF4-FFF2-40B4-BE49-F238E27FC236}">
                      <a16:creationId xmlns:a16="http://schemas.microsoft.com/office/drawing/2014/main" id="{3566BA1B-ABEE-447E-9458-CE833109398D}"/>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0" name="23 Rectángulo">
                  <a:extLst>
                    <a:ext uri="{FF2B5EF4-FFF2-40B4-BE49-F238E27FC236}">
                      <a16:creationId xmlns:a16="http://schemas.microsoft.com/office/drawing/2014/main" id="{8D6C5A48-7769-49F2-94BC-00E313203445}"/>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1" name="24 Rectángulo">
                  <a:extLst>
                    <a:ext uri="{FF2B5EF4-FFF2-40B4-BE49-F238E27FC236}">
                      <a16:creationId xmlns:a16="http://schemas.microsoft.com/office/drawing/2014/main" id="{A1E79D00-3E00-40B9-9492-4E2AB145C18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2" name="25 Grupo">
                <a:extLst>
                  <a:ext uri="{FF2B5EF4-FFF2-40B4-BE49-F238E27FC236}">
                    <a16:creationId xmlns:a16="http://schemas.microsoft.com/office/drawing/2014/main" id="{4B637FDF-4BCE-43F2-9A5A-5401830E2D54}"/>
                  </a:ext>
                </a:extLst>
              </p:cNvPr>
              <p:cNvGrpSpPr>
                <a:grpSpLocks/>
              </p:cNvGrpSpPr>
              <p:nvPr/>
            </p:nvGrpSpPr>
            <p:grpSpPr bwMode="auto">
              <a:xfrm>
                <a:off x="6976766" y="5017206"/>
                <a:ext cx="1484312" cy="245107"/>
                <a:chOff x="1382440" y="5282087"/>
                <a:chExt cx="1484226" cy="245067"/>
              </a:xfrm>
            </p:grpSpPr>
            <p:sp>
              <p:nvSpPr>
                <p:cNvPr id="93" name="17 Rectángulo">
                  <a:extLst>
                    <a:ext uri="{FF2B5EF4-FFF2-40B4-BE49-F238E27FC236}">
                      <a16:creationId xmlns:a16="http://schemas.microsoft.com/office/drawing/2014/main" id="{0C52B9D8-CE28-4AE6-8FB3-BB11FEA0CC77}"/>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4" name="18 Rectángulo">
                  <a:extLst>
                    <a:ext uri="{FF2B5EF4-FFF2-40B4-BE49-F238E27FC236}">
                      <a16:creationId xmlns:a16="http://schemas.microsoft.com/office/drawing/2014/main" id="{832B4C4E-0CBA-41F7-AB5D-AE928FEED4C7}"/>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5" name="19 Rectángulo">
                  <a:extLst>
                    <a:ext uri="{FF2B5EF4-FFF2-40B4-BE49-F238E27FC236}">
                      <a16:creationId xmlns:a16="http://schemas.microsoft.com/office/drawing/2014/main" id="{BBB76572-2E68-4A51-812E-9A5D094F1571}"/>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6" name="20 Rectángulo">
                  <a:extLst>
                    <a:ext uri="{FF2B5EF4-FFF2-40B4-BE49-F238E27FC236}">
                      <a16:creationId xmlns:a16="http://schemas.microsoft.com/office/drawing/2014/main" id="{1622BB1F-2779-471B-B3C4-7AFEF3AC7CA1}"/>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2" name="22 Grupo">
                <a:extLst>
                  <a:ext uri="{FF2B5EF4-FFF2-40B4-BE49-F238E27FC236}">
                    <a16:creationId xmlns:a16="http://schemas.microsoft.com/office/drawing/2014/main" id="{37D5CF76-6A4F-4A39-8CB9-8F1A34186E56}"/>
                  </a:ext>
                </a:extLst>
              </p:cNvPr>
              <p:cNvGrpSpPr>
                <a:grpSpLocks/>
              </p:cNvGrpSpPr>
              <p:nvPr/>
            </p:nvGrpSpPr>
            <p:grpSpPr bwMode="auto">
              <a:xfrm>
                <a:off x="6992676" y="2749244"/>
                <a:ext cx="1484312" cy="245107"/>
                <a:chOff x="1382440" y="4126387"/>
                <a:chExt cx="1484226" cy="245067"/>
              </a:xfrm>
            </p:grpSpPr>
            <p:sp>
              <p:nvSpPr>
                <p:cNvPr id="103" name="29 Rectángulo">
                  <a:extLst>
                    <a:ext uri="{FF2B5EF4-FFF2-40B4-BE49-F238E27FC236}">
                      <a16:creationId xmlns:a16="http://schemas.microsoft.com/office/drawing/2014/main" id="{9167F321-E2E6-4A92-9AEC-A251556366E2}"/>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4" name="30 Rectángulo">
                  <a:extLst>
                    <a:ext uri="{FF2B5EF4-FFF2-40B4-BE49-F238E27FC236}">
                      <a16:creationId xmlns:a16="http://schemas.microsoft.com/office/drawing/2014/main" id="{734619E1-8110-4652-8CCE-D9254647554D}"/>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5" name="31 Rectángulo">
                  <a:extLst>
                    <a:ext uri="{FF2B5EF4-FFF2-40B4-BE49-F238E27FC236}">
                      <a16:creationId xmlns:a16="http://schemas.microsoft.com/office/drawing/2014/main" id="{8E0E7315-EDA8-45EC-8491-7AC77E77764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6" name="32 Rectángulo">
                  <a:extLst>
                    <a:ext uri="{FF2B5EF4-FFF2-40B4-BE49-F238E27FC236}">
                      <a16:creationId xmlns:a16="http://schemas.microsoft.com/office/drawing/2014/main" id="{760E5E13-5028-4BD1-910E-81B8251411E6}"/>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pic>
        <p:nvPicPr>
          <p:cNvPr id="108" name="Picture 5" descr="http://images.wikia.com/simpsons/images/a/ae/Lenny_Leonard.png">
            <a:extLst>
              <a:ext uri="{FF2B5EF4-FFF2-40B4-BE49-F238E27FC236}">
                <a16:creationId xmlns:a16="http://schemas.microsoft.com/office/drawing/2014/main" id="{0676ACA3-04D8-464C-B33C-F8708926A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850" y="3354818"/>
            <a:ext cx="4572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Picture 7" descr="http://images.wikia.com/simpsons/images/a/a9/Carl_Carlson.png">
            <a:extLst>
              <a:ext uri="{FF2B5EF4-FFF2-40B4-BE49-F238E27FC236}">
                <a16:creationId xmlns:a16="http://schemas.microsoft.com/office/drawing/2014/main" id="{6E1D3CC3-2242-4241-BDB7-C80C8B0F4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150" y="3389592"/>
            <a:ext cx="49212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 name="Picture 11" descr="http://images.wikia.com/simpsons/images/7/74/222px-Barney_Gumble.PNG">
            <a:extLst>
              <a:ext uri="{FF2B5EF4-FFF2-40B4-BE49-F238E27FC236}">
                <a16:creationId xmlns:a16="http://schemas.microsoft.com/office/drawing/2014/main" id="{F8226B2D-869D-4451-9855-202F713D6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389" y="1119899"/>
            <a:ext cx="676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Picture 15" descr="http://images.wikia.com/simpsons/images/8/84/Ned_Flanders.png">
            <a:extLst>
              <a:ext uri="{FF2B5EF4-FFF2-40B4-BE49-F238E27FC236}">
                <a16:creationId xmlns:a16="http://schemas.microsoft.com/office/drawing/2014/main" id="{054CEA8B-5F94-4A81-BA49-0EE2C57B99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02600" y="1181018"/>
            <a:ext cx="47307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2" descr="Springfield Googolplex Theatres | Simpsons Wiki | Fandom">
            <a:extLst>
              <a:ext uri="{FF2B5EF4-FFF2-40B4-BE49-F238E27FC236}">
                <a16:creationId xmlns:a16="http://schemas.microsoft.com/office/drawing/2014/main" id="{3651BBAA-BC20-49CF-ADC5-A34670AAE78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0271" y="1236151"/>
            <a:ext cx="3149887" cy="23999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3" name="Tabla 9">
            <a:extLst>
              <a:ext uri="{FF2B5EF4-FFF2-40B4-BE49-F238E27FC236}">
                <a16:creationId xmlns:a16="http://schemas.microsoft.com/office/drawing/2014/main" id="{5CB822C9-8DAB-4D50-85F7-6D4E3CDED162}"/>
              </a:ext>
            </a:extLst>
          </p:cNvPr>
          <p:cNvGraphicFramePr>
            <a:graphicFrameLocks noGrp="1"/>
          </p:cNvGraphicFramePr>
          <p:nvPr>
            <p:extLst>
              <p:ext uri="{D42A27DB-BD31-4B8C-83A1-F6EECF244321}">
                <p14:modId xmlns:p14="http://schemas.microsoft.com/office/powerpoint/2010/main" val="3901179457"/>
              </p:ext>
            </p:extLst>
          </p:nvPr>
        </p:nvGraphicFramePr>
        <p:xfrm>
          <a:off x="711849" y="4057919"/>
          <a:ext cx="2812983" cy="2225040"/>
        </p:xfrm>
        <a:graphic>
          <a:graphicData uri="http://schemas.openxmlformats.org/drawingml/2006/table">
            <a:tbl>
              <a:tblPr firstRow="1" bandRow="1">
                <a:tableStyleId>{5940675A-B579-460E-94D1-54222C63F5DA}</a:tableStyleId>
              </a:tblPr>
              <a:tblGrid>
                <a:gridCol w="1561338">
                  <a:extLst>
                    <a:ext uri="{9D8B030D-6E8A-4147-A177-3AD203B41FA5}">
                      <a16:colId xmlns:a16="http://schemas.microsoft.com/office/drawing/2014/main" val="1520359308"/>
                    </a:ext>
                  </a:extLst>
                </a:gridCol>
                <a:gridCol w="1251645">
                  <a:extLst>
                    <a:ext uri="{9D8B030D-6E8A-4147-A177-3AD203B41FA5}">
                      <a16:colId xmlns:a16="http://schemas.microsoft.com/office/drawing/2014/main" val="4218542073"/>
                    </a:ext>
                  </a:extLst>
                </a:gridCol>
              </a:tblGrid>
              <a:tr h="370840">
                <a:tc>
                  <a:txBody>
                    <a:bodyPr/>
                    <a:lstStyle/>
                    <a:p>
                      <a:r>
                        <a:rPr lang="es-MX" sz="1600" b="1" dirty="0">
                          <a:solidFill>
                            <a:schemeClr val="bg1"/>
                          </a:solidFill>
                          <a:latin typeface="+mn-lt"/>
                        </a:rPr>
                        <a:t>Puestos VIP</a:t>
                      </a:r>
                      <a:endParaRPr lang="es-CO" sz="1600" b="1" dirty="0">
                        <a:solidFill>
                          <a:schemeClr val="bg1"/>
                        </a:solidFill>
                        <a:latin typeface="+mn-lt"/>
                      </a:endParaRPr>
                    </a:p>
                  </a:txBody>
                  <a:tcPr>
                    <a:solidFill>
                      <a:schemeClr val="tx1"/>
                    </a:solidFill>
                  </a:tcPr>
                </a:tc>
                <a:tc>
                  <a:txBody>
                    <a:bodyPr/>
                    <a:lstStyle/>
                    <a:p>
                      <a:r>
                        <a:rPr lang="es-MX" sz="1600" dirty="0">
                          <a:latin typeface="+mn-lt"/>
                        </a:rPr>
                        <a:t>2</a:t>
                      </a:r>
                      <a:endParaRPr lang="es-CO" sz="1600" dirty="0">
                        <a:latin typeface="+mn-lt"/>
                      </a:endParaRPr>
                    </a:p>
                  </a:txBody>
                  <a:tcPr/>
                </a:tc>
                <a:extLst>
                  <a:ext uri="{0D108BD9-81ED-4DB2-BD59-A6C34878D82A}">
                    <a16:rowId xmlns:a16="http://schemas.microsoft.com/office/drawing/2014/main" val="1949968076"/>
                  </a:ext>
                </a:extLst>
              </a:tr>
              <a:tr h="370840">
                <a:tc>
                  <a:txBody>
                    <a:bodyPr/>
                    <a:lstStyle/>
                    <a:p>
                      <a:r>
                        <a:rPr lang="es-MX" sz="1600" b="1" dirty="0">
                          <a:solidFill>
                            <a:schemeClr val="bg1"/>
                          </a:solidFill>
                          <a:latin typeface="+mn-lt"/>
                        </a:rPr>
                        <a:t>Puestos Normal</a:t>
                      </a:r>
                      <a:endParaRPr lang="es-CO" sz="1600" b="1" dirty="0">
                        <a:solidFill>
                          <a:schemeClr val="bg1"/>
                        </a:solidFill>
                        <a:latin typeface="+mn-lt"/>
                      </a:endParaRPr>
                    </a:p>
                  </a:txBody>
                  <a:tcPr>
                    <a:solidFill>
                      <a:schemeClr val="tx1"/>
                    </a:solidFill>
                  </a:tcPr>
                </a:tc>
                <a:tc>
                  <a:txBody>
                    <a:bodyPr/>
                    <a:lstStyle/>
                    <a:p>
                      <a:r>
                        <a:rPr lang="es-MX" sz="1600" dirty="0">
                          <a:latin typeface="+mn-lt"/>
                        </a:rPr>
                        <a:t>2</a:t>
                      </a:r>
                      <a:endParaRPr lang="es-CO" sz="1600" dirty="0">
                        <a:latin typeface="+mn-lt"/>
                      </a:endParaRPr>
                    </a:p>
                  </a:txBody>
                  <a:tcPr/>
                </a:tc>
                <a:extLst>
                  <a:ext uri="{0D108BD9-81ED-4DB2-BD59-A6C34878D82A}">
                    <a16:rowId xmlns:a16="http://schemas.microsoft.com/office/drawing/2014/main" val="2422557555"/>
                  </a:ext>
                </a:extLst>
              </a:tr>
              <a:tr h="370840">
                <a:tc>
                  <a:txBody>
                    <a:bodyPr/>
                    <a:lstStyle/>
                    <a:p>
                      <a:r>
                        <a:rPr lang="es-MX" sz="1600" b="1" dirty="0">
                          <a:solidFill>
                            <a:schemeClr val="bg1"/>
                          </a:solidFill>
                          <a:latin typeface="+mn-lt"/>
                        </a:rPr>
                        <a:t>Total VIP</a:t>
                      </a:r>
                      <a:endParaRPr lang="es-CO" sz="1600" b="1" dirty="0">
                        <a:solidFill>
                          <a:schemeClr val="bg1"/>
                        </a:solidFill>
                        <a:latin typeface="+mn-lt"/>
                      </a:endParaRPr>
                    </a:p>
                  </a:txBody>
                  <a:tcPr>
                    <a:solidFill>
                      <a:schemeClr val="tx1"/>
                    </a:solidFill>
                  </a:tcPr>
                </a:tc>
                <a:tc>
                  <a:txBody>
                    <a:bodyPr/>
                    <a:lstStyle/>
                    <a:p>
                      <a:r>
                        <a:rPr lang="es-MX" sz="1600" dirty="0">
                          <a:latin typeface="+mn-lt"/>
                        </a:rPr>
                        <a:t>14000</a:t>
                      </a:r>
                      <a:endParaRPr lang="es-CO" sz="1600" dirty="0">
                        <a:latin typeface="+mn-lt"/>
                      </a:endParaRPr>
                    </a:p>
                  </a:txBody>
                  <a:tcPr/>
                </a:tc>
                <a:extLst>
                  <a:ext uri="{0D108BD9-81ED-4DB2-BD59-A6C34878D82A}">
                    <a16:rowId xmlns:a16="http://schemas.microsoft.com/office/drawing/2014/main" val="3537023589"/>
                  </a:ext>
                </a:extLst>
              </a:tr>
              <a:tr h="370840">
                <a:tc>
                  <a:txBody>
                    <a:bodyPr/>
                    <a:lstStyle/>
                    <a:p>
                      <a:r>
                        <a:rPr lang="es-MX" sz="1600" b="1" dirty="0">
                          <a:solidFill>
                            <a:schemeClr val="bg1"/>
                          </a:solidFill>
                          <a:latin typeface="+mn-lt"/>
                        </a:rPr>
                        <a:t>Total Normal</a:t>
                      </a:r>
                      <a:endParaRPr lang="es-CO" sz="1600" b="1" dirty="0">
                        <a:solidFill>
                          <a:schemeClr val="bg1"/>
                        </a:solidFill>
                        <a:latin typeface="+mn-lt"/>
                      </a:endParaRPr>
                    </a:p>
                  </a:txBody>
                  <a:tcPr>
                    <a:solidFill>
                      <a:schemeClr val="tx1"/>
                    </a:solidFill>
                  </a:tcPr>
                </a:tc>
                <a:tc>
                  <a:txBody>
                    <a:bodyPr/>
                    <a:lstStyle/>
                    <a:p>
                      <a:r>
                        <a:rPr lang="es-MX" sz="1600" dirty="0">
                          <a:latin typeface="+mn-lt"/>
                        </a:rPr>
                        <a:t>10000</a:t>
                      </a:r>
                      <a:endParaRPr lang="es-CO" sz="1600" dirty="0">
                        <a:latin typeface="+mn-lt"/>
                      </a:endParaRPr>
                    </a:p>
                  </a:txBody>
                  <a:tcPr/>
                </a:tc>
                <a:extLst>
                  <a:ext uri="{0D108BD9-81ED-4DB2-BD59-A6C34878D82A}">
                    <a16:rowId xmlns:a16="http://schemas.microsoft.com/office/drawing/2014/main" val="1335675678"/>
                  </a:ext>
                </a:extLst>
              </a:tr>
              <a:tr h="370840">
                <a:tc>
                  <a:txBody>
                    <a:bodyPr/>
                    <a:lstStyle/>
                    <a:p>
                      <a:r>
                        <a:rPr lang="es-MX" sz="1600" b="1" dirty="0">
                          <a:solidFill>
                            <a:schemeClr val="bg1"/>
                          </a:solidFill>
                          <a:latin typeface="+mn-lt"/>
                        </a:rPr>
                        <a:t>Asistentes</a:t>
                      </a:r>
                      <a:endParaRPr lang="es-CO" sz="1600" b="1" dirty="0">
                        <a:solidFill>
                          <a:schemeClr val="bg1"/>
                        </a:solidFill>
                        <a:latin typeface="+mn-lt"/>
                      </a:endParaRPr>
                    </a:p>
                  </a:txBody>
                  <a:tcPr>
                    <a:solidFill>
                      <a:schemeClr val="tx1"/>
                    </a:solidFill>
                  </a:tcPr>
                </a:tc>
                <a:tc>
                  <a:txBody>
                    <a:bodyPr/>
                    <a:lstStyle/>
                    <a:p>
                      <a:r>
                        <a:rPr lang="es-MX" sz="1600" dirty="0">
                          <a:latin typeface="+mn-lt"/>
                        </a:rPr>
                        <a:t>4</a:t>
                      </a:r>
                      <a:endParaRPr lang="es-CO" sz="1600" dirty="0">
                        <a:latin typeface="+mn-lt"/>
                      </a:endParaRPr>
                    </a:p>
                  </a:txBody>
                  <a:tcPr/>
                </a:tc>
                <a:extLst>
                  <a:ext uri="{0D108BD9-81ED-4DB2-BD59-A6C34878D82A}">
                    <a16:rowId xmlns:a16="http://schemas.microsoft.com/office/drawing/2014/main" val="2260238023"/>
                  </a:ext>
                </a:extLst>
              </a:tr>
              <a:tr h="370840">
                <a:tc>
                  <a:txBody>
                    <a:bodyPr/>
                    <a:lstStyle/>
                    <a:p>
                      <a:r>
                        <a:rPr lang="es-CO" sz="1600" b="1" dirty="0">
                          <a:solidFill>
                            <a:schemeClr val="bg1"/>
                          </a:solidFill>
                          <a:latin typeface="+mn-lt"/>
                        </a:rPr>
                        <a:t>Total</a:t>
                      </a:r>
                    </a:p>
                  </a:txBody>
                  <a:tcPr>
                    <a:solidFill>
                      <a:schemeClr val="tx1"/>
                    </a:solidFill>
                  </a:tcPr>
                </a:tc>
                <a:tc>
                  <a:txBody>
                    <a:bodyPr/>
                    <a:lstStyle/>
                    <a:p>
                      <a:r>
                        <a:rPr lang="es-CO" sz="1600" dirty="0">
                          <a:latin typeface="+mn-lt"/>
                        </a:rPr>
                        <a:t>24000</a:t>
                      </a:r>
                    </a:p>
                  </a:txBody>
                  <a:tcPr/>
                </a:tc>
                <a:extLst>
                  <a:ext uri="{0D108BD9-81ED-4DB2-BD59-A6C34878D82A}">
                    <a16:rowId xmlns:a16="http://schemas.microsoft.com/office/drawing/2014/main" val="2851172964"/>
                  </a:ext>
                </a:extLst>
              </a:tr>
            </a:tbl>
          </a:graphicData>
        </a:graphic>
      </p:graphicFrame>
    </p:spTree>
    <p:extLst>
      <p:ext uri="{BB962C8B-B14F-4D97-AF65-F5344CB8AC3E}">
        <p14:creationId xmlns:p14="http://schemas.microsoft.com/office/powerpoint/2010/main" val="62942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9"/>
                                        </p:tgtEl>
                                        <p:attrNameLst>
                                          <p:attrName>style.visibility</p:attrName>
                                        </p:attrNameLst>
                                      </p:cBhvr>
                                      <p:to>
                                        <p:strVal val="visible"/>
                                      </p:to>
                                    </p:set>
                                    <p:animEffect transition="in" filter="fade">
                                      <p:cBhvr>
                                        <p:cTn id="17" dur="500"/>
                                        <p:tgtEl>
                                          <p:spTgt spid="10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a:t>
            </a:r>
          </a:p>
        </p:txBody>
      </p:sp>
      <p:sp>
        <p:nvSpPr>
          <p:cNvPr id="13" name="12 Rectángulo"/>
          <p:cNvSpPr/>
          <p:nvPr/>
        </p:nvSpPr>
        <p:spPr>
          <a:xfrm>
            <a:off x="189321" y="831872"/>
            <a:ext cx="8819174" cy="2554545"/>
          </a:xfrm>
          <a:prstGeom prst="rect">
            <a:avLst/>
          </a:prstGeom>
        </p:spPr>
        <p:txBody>
          <a:bodyPr wrap="square">
            <a:spAutoFit/>
          </a:bodyPr>
          <a:lstStyle/>
          <a:p>
            <a:pPr marL="342900" indent="-342900">
              <a:buFont typeface="Arial" panose="020B0604020202020204" pitchFamily="34" charset="0"/>
              <a:buChar char="•"/>
            </a:pPr>
            <a:r>
              <a:rPr lang="es-MX" sz="2000" dirty="0"/>
              <a:t>El </a:t>
            </a:r>
            <a:r>
              <a:rPr lang="es-MX" sz="2000" b="1" dirty="0"/>
              <a:t>Ejemplo 5 </a:t>
            </a:r>
            <a:r>
              <a:rPr lang="es-MX" sz="2000" dirty="0"/>
              <a:t>es distinto a los ejemplos </a:t>
            </a:r>
            <a:r>
              <a:rPr lang="es-MX" sz="2000" b="1" dirty="0"/>
              <a:t>1</a:t>
            </a:r>
            <a:r>
              <a:rPr lang="es-MX" sz="2000" dirty="0"/>
              <a:t> a </a:t>
            </a:r>
            <a:r>
              <a:rPr lang="es-MX" sz="2000" b="1" dirty="0"/>
              <a:t>4</a:t>
            </a:r>
            <a:r>
              <a:rPr lang="es-MX" sz="2000" dirty="0"/>
              <a:t>: en aquellos, el número de repeticiones del ciclo era un dato conocido antes de empezar (N). En el caso del </a:t>
            </a:r>
            <a:r>
              <a:rPr lang="es-MX" sz="2000" b="1" dirty="0"/>
              <a:t>ejemplo 5</a:t>
            </a:r>
            <a:r>
              <a:rPr lang="es-MX" sz="2000" dirty="0"/>
              <a:t>, el vendedor de boletas del cine, no sabe de antemano cuántos clientes van a llegar a la función, así que tampoco se conoce con anticipación cuántas boletas se van a vender.</a:t>
            </a:r>
          </a:p>
          <a:p>
            <a:pPr marL="342900" indent="-342900">
              <a:buFont typeface="Arial" panose="020B0604020202020204" pitchFamily="34" charset="0"/>
              <a:buChar char="•"/>
            </a:pPr>
            <a:r>
              <a:rPr lang="es-MX" sz="2000" dirty="0"/>
              <a:t>Cuando el número de iteraciones no se conoce de antemano, no basta con contar hasta un valor fijo. Se necesita otra forma de decidir cuándo termina el ciclo. Para esto existen dos herramientas: las </a:t>
            </a:r>
            <a:r>
              <a:rPr lang="es-MX" sz="2000" b="1" dirty="0"/>
              <a:t>banderas</a:t>
            </a:r>
            <a:r>
              <a:rPr lang="es-MX" sz="2000" dirty="0"/>
              <a:t> (</a:t>
            </a:r>
            <a:r>
              <a:rPr lang="es-MX" sz="2000" b="1" dirty="0" err="1"/>
              <a:t>flags</a:t>
            </a:r>
            <a:r>
              <a:rPr lang="es-MX" sz="2000" dirty="0"/>
              <a:t>) y los </a:t>
            </a:r>
            <a:r>
              <a:rPr lang="es-MX" sz="2000" b="1" dirty="0"/>
              <a:t>centinelas</a:t>
            </a:r>
            <a:r>
              <a:rPr lang="es-MX" sz="2000" dirty="0"/>
              <a:t>.</a:t>
            </a:r>
          </a:p>
        </p:txBody>
      </p:sp>
      <p:pic>
        <p:nvPicPr>
          <p:cNvPr id="6" name="Imagen 5">
            <a:extLst>
              <a:ext uri="{FF2B5EF4-FFF2-40B4-BE49-F238E27FC236}">
                <a16:creationId xmlns:a16="http://schemas.microsoft.com/office/drawing/2014/main" id="{0FCEA5FA-34BA-402B-99EB-9474461EBC84}"/>
              </a:ext>
            </a:extLst>
          </p:cNvPr>
          <p:cNvPicPr>
            <a:picLocks noChangeAspect="1"/>
          </p:cNvPicPr>
          <p:nvPr/>
        </p:nvPicPr>
        <p:blipFill>
          <a:blip r:embed="rId2"/>
          <a:stretch>
            <a:fillRect/>
          </a:stretch>
        </p:blipFill>
        <p:spPr>
          <a:xfrm>
            <a:off x="1115616" y="3638128"/>
            <a:ext cx="3024336" cy="2268252"/>
          </a:xfrm>
          <a:prstGeom prst="rect">
            <a:avLst/>
          </a:prstGeom>
        </p:spPr>
      </p:pic>
      <p:pic>
        <p:nvPicPr>
          <p:cNvPr id="8" name="Picture 4" descr="Gil Gunderson | Simpson Wiki en Español | Fandom">
            <a:extLst>
              <a:ext uri="{FF2B5EF4-FFF2-40B4-BE49-F238E27FC236}">
                <a16:creationId xmlns:a16="http://schemas.microsoft.com/office/drawing/2014/main" id="{5580E839-E290-48C8-8480-0F656A7AC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50" y="3638128"/>
            <a:ext cx="3024336" cy="227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6415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71298" y="332656"/>
            <a:ext cx="8601404" cy="533287"/>
          </a:xfrm>
        </p:spPr>
        <p:txBody>
          <a:bodyPr>
            <a:normAutofit fontScale="90000"/>
          </a:bodyPr>
          <a:lstStyle/>
          <a:p>
            <a:r>
              <a:rPr lang="es-CO" dirty="0"/>
              <a:t>Tipos de problemas con ciclos</a:t>
            </a:r>
          </a:p>
        </p:txBody>
      </p:sp>
      <p:pic>
        <p:nvPicPr>
          <p:cNvPr id="10" name="Picture 4" descr="http://3.bp.blogspot.com/_EOdAsPHLkQ0/S5qvXVo5eqI/AAAAAAAAAEM/5KBvHW47KUQ/s320/tal+cual+2.jpg">
            <a:extLst>
              <a:ext uri="{FF2B5EF4-FFF2-40B4-BE49-F238E27FC236}">
                <a16:creationId xmlns:a16="http://schemas.microsoft.com/office/drawing/2014/main" id="{A4468EC4-E887-456B-BB14-C9C256658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3528" y="2924944"/>
            <a:ext cx="1584176" cy="20553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15 Diagrama">
            <a:extLst>
              <a:ext uri="{FF2B5EF4-FFF2-40B4-BE49-F238E27FC236}">
                <a16:creationId xmlns:a16="http://schemas.microsoft.com/office/drawing/2014/main" id="{BE7B43B0-4E5A-4774-9FEE-1182B37737DF}"/>
              </a:ext>
            </a:extLst>
          </p:cNvPr>
          <p:cNvGraphicFramePr/>
          <p:nvPr>
            <p:extLst>
              <p:ext uri="{D42A27DB-BD31-4B8C-83A1-F6EECF244321}">
                <p14:modId xmlns:p14="http://schemas.microsoft.com/office/powerpoint/2010/main" val="2967347725"/>
              </p:ext>
            </p:extLst>
          </p:nvPr>
        </p:nvGraphicFramePr>
        <p:xfrm>
          <a:off x="1907704" y="1636529"/>
          <a:ext cx="6624736" cy="4528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63164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19068" y="188640"/>
            <a:ext cx="8601404" cy="753972"/>
          </a:xfrm>
        </p:spPr>
        <p:txBody>
          <a:bodyPr>
            <a:normAutofit/>
          </a:bodyPr>
          <a:lstStyle/>
          <a:p>
            <a:r>
              <a:rPr lang="es-CO" dirty="0"/>
              <a:t>Tipos de problemas con ciclos</a:t>
            </a:r>
          </a:p>
        </p:txBody>
      </p:sp>
      <p:sp>
        <p:nvSpPr>
          <p:cNvPr id="7" name="12 Rectángulo">
            <a:extLst>
              <a:ext uri="{FF2B5EF4-FFF2-40B4-BE49-F238E27FC236}">
                <a16:creationId xmlns:a16="http://schemas.microsoft.com/office/drawing/2014/main" id="{3F9E8BEB-6201-4735-8193-9BDEE9DD5B46}"/>
              </a:ext>
            </a:extLst>
          </p:cNvPr>
          <p:cNvSpPr/>
          <p:nvPr/>
        </p:nvSpPr>
        <p:spPr>
          <a:xfrm>
            <a:off x="219068" y="1040172"/>
            <a:ext cx="8601404" cy="1938992"/>
          </a:xfrm>
          <a:prstGeom prst="rect">
            <a:avLst/>
          </a:prstGeom>
        </p:spPr>
        <p:txBody>
          <a:bodyPr wrap="square">
            <a:spAutoFit/>
          </a:bodyPr>
          <a:lstStyle/>
          <a:p>
            <a:r>
              <a:rPr lang="es-MX" altLang="es-CO" sz="2000" dirty="0"/>
              <a:t>Los problemas con ciclos se pueden clasificar en dos tipos: </a:t>
            </a:r>
          </a:p>
          <a:p>
            <a:pPr marL="457200" indent="-457200">
              <a:buFont typeface="+mj-lt"/>
              <a:buAutoNum type="arabicPeriod"/>
            </a:pPr>
            <a:r>
              <a:rPr lang="es-MX" altLang="es-CO" sz="2000" b="1" dirty="0"/>
              <a:t>Problemas con iteraciones conocidas</a:t>
            </a:r>
            <a:r>
              <a:rPr lang="es-MX" altLang="es-CO" sz="2000" dirty="0"/>
              <a:t>: En este caso, el numero de iteraciones es conocida. </a:t>
            </a:r>
          </a:p>
          <a:p>
            <a:pPr marL="914400" lvl="1" indent="-457200">
              <a:buFont typeface="Arial" panose="020B0604020202020204" pitchFamily="34" charset="0"/>
              <a:buChar char="•"/>
            </a:pPr>
            <a:r>
              <a:rPr lang="es-MX" altLang="es-CO" sz="2000" dirty="0"/>
              <a:t>Promedio de notas en un curso de Lógica y programación.</a:t>
            </a:r>
          </a:p>
          <a:p>
            <a:pPr marL="914400" lvl="1" indent="-457200">
              <a:buFont typeface="Arial" panose="020B0604020202020204" pitchFamily="34" charset="0"/>
              <a:buChar char="•"/>
            </a:pPr>
            <a:r>
              <a:rPr lang="es-MX" altLang="es-CO" sz="2000" dirty="0"/>
              <a:t>Promedio de temperatura de una cantidad conocida de tomas.</a:t>
            </a:r>
          </a:p>
          <a:p>
            <a:endParaRPr lang="es-MX" altLang="es-CO" sz="2000" dirty="0"/>
          </a:p>
        </p:txBody>
      </p:sp>
      <p:pic>
        <p:nvPicPr>
          <p:cNvPr id="11" name="Picture 2" descr="Seis tipos de estudiantes que aparecen en las redes sociales en exámenes |  F5 sección | EL MUNDO">
            <a:extLst>
              <a:ext uri="{FF2B5EF4-FFF2-40B4-BE49-F238E27FC236}">
                <a16:creationId xmlns:a16="http://schemas.microsoft.com/office/drawing/2014/main" id="{4947A50B-17F1-4A98-8876-E1FA2EA743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0845" y="3428999"/>
            <a:ext cx="3403343" cy="201622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lobal temp four institutions 1880-2020">
            <a:extLst>
              <a:ext uri="{FF2B5EF4-FFF2-40B4-BE49-F238E27FC236}">
                <a16:creationId xmlns:a16="http://schemas.microsoft.com/office/drawing/2014/main" id="{37953F70-9C2C-43CB-8BF9-0CC5712E9B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9813" y="3076724"/>
            <a:ext cx="4010659" cy="272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3150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19068" y="188640"/>
            <a:ext cx="8601404" cy="533287"/>
          </a:xfrm>
        </p:spPr>
        <p:txBody>
          <a:bodyPr>
            <a:normAutofit fontScale="90000"/>
          </a:bodyPr>
          <a:lstStyle/>
          <a:p>
            <a:r>
              <a:rPr lang="es-CO" dirty="0"/>
              <a:t>Tipos de problemas con ciclos</a:t>
            </a:r>
          </a:p>
        </p:txBody>
      </p:sp>
      <p:sp>
        <p:nvSpPr>
          <p:cNvPr id="7" name="12 Rectángulo">
            <a:extLst>
              <a:ext uri="{FF2B5EF4-FFF2-40B4-BE49-F238E27FC236}">
                <a16:creationId xmlns:a16="http://schemas.microsoft.com/office/drawing/2014/main" id="{3F9E8BEB-6201-4735-8193-9BDEE9DD5B46}"/>
              </a:ext>
            </a:extLst>
          </p:cNvPr>
          <p:cNvSpPr/>
          <p:nvPr/>
        </p:nvSpPr>
        <p:spPr>
          <a:xfrm>
            <a:off x="219068" y="833321"/>
            <a:ext cx="8601404" cy="2246769"/>
          </a:xfrm>
          <a:prstGeom prst="rect">
            <a:avLst/>
          </a:prstGeom>
        </p:spPr>
        <p:txBody>
          <a:bodyPr wrap="square">
            <a:spAutoFit/>
          </a:bodyPr>
          <a:lstStyle/>
          <a:p>
            <a:r>
              <a:rPr lang="es-MX" altLang="es-CO" sz="2000" dirty="0"/>
              <a:t>Los problemas con ciclos se pueden clasificar en dos tipos: </a:t>
            </a:r>
          </a:p>
          <a:p>
            <a:pPr marL="457200" indent="-457200">
              <a:buFont typeface="+mj-lt"/>
              <a:buAutoNum type="arabicPeriod" startAt="2"/>
            </a:pPr>
            <a:r>
              <a:rPr lang="es-MX" altLang="es-CO" sz="2000" b="1" dirty="0"/>
              <a:t>Problemas con numero de iteraciones desconocidas</a:t>
            </a:r>
            <a:r>
              <a:rPr lang="es-MX" altLang="es-CO" sz="2000" dirty="0"/>
              <a:t>: En estos problemas (como se menciono anteriormente), no se conocen el numero de iteraciones que el ciclo llevara a cabo. </a:t>
            </a:r>
          </a:p>
          <a:p>
            <a:pPr marL="914400" lvl="1" indent="-457200">
              <a:buFont typeface="Arial" panose="020B0604020202020204" pitchFamily="34" charset="0"/>
              <a:buChar char="•"/>
            </a:pPr>
            <a:r>
              <a:rPr lang="es-MX" altLang="es-CO" sz="2000" dirty="0"/>
              <a:t>Asistentes a una sala de cine para ver la función de las 10:00 PM.</a:t>
            </a:r>
          </a:p>
          <a:p>
            <a:pPr marL="914400" lvl="1" indent="-457200">
              <a:buFont typeface="Arial" panose="020B0604020202020204" pitchFamily="34" charset="0"/>
              <a:buChar char="•"/>
            </a:pPr>
            <a:r>
              <a:rPr lang="es-MX" altLang="es-CO" sz="2000" dirty="0"/>
              <a:t>Carros vendidos por Gil Gunderson en una jornada laborar.</a:t>
            </a:r>
          </a:p>
          <a:p>
            <a:endParaRPr lang="es-MX" altLang="es-CO" sz="2000" dirty="0"/>
          </a:p>
        </p:txBody>
      </p:sp>
      <p:pic>
        <p:nvPicPr>
          <p:cNvPr id="8" name="Picture 4" descr="Gil Gunderson | Simpson Wiki en Español | Fandom">
            <a:extLst>
              <a:ext uri="{FF2B5EF4-FFF2-40B4-BE49-F238E27FC236}">
                <a16:creationId xmlns:a16="http://schemas.microsoft.com/office/drawing/2014/main" id="{A0842D22-20BF-44E3-8535-CCA177B03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3404592"/>
            <a:ext cx="3164486" cy="23796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pringfield Googolplex Theatres | Simpsons Wiki | Fandom">
            <a:extLst>
              <a:ext uri="{FF2B5EF4-FFF2-40B4-BE49-F238E27FC236}">
                <a16:creationId xmlns:a16="http://schemas.microsoft.com/office/drawing/2014/main" id="{348C68E5-3B07-4A71-8B5D-F2A874CEED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3" y="3353562"/>
            <a:ext cx="3123347" cy="237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6022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6</a:t>
            </a:r>
          </a:p>
        </p:txBody>
      </p:sp>
      <p:sp>
        <p:nvSpPr>
          <p:cNvPr id="13" name="12 Rectángulo"/>
          <p:cNvSpPr/>
          <p:nvPr/>
        </p:nvSpPr>
        <p:spPr>
          <a:xfrm>
            <a:off x="145314" y="846114"/>
            <a:ext cx="8747165" cy="3785652"/>
          </a:xfrm>
          <a:prstGeom prst="rect">
            <a:avLst/>
          </a:prstGeom>
        </p:spPr>
        <p:txBody>
          <a:bodyPr wrap="square">
            <a:spAutoFit/>
          </a:bodyPr>
          <a:lstStyle/>
          <a:p>
            <a:pPr rtl="0"/>
            <a:r>
              <a:rPr lang="es-MX" sz="2000" dirty="0"/>
              <a:t>Hacer un programa que lea una cantidad desconocida de notas (valores decimales entre 0.0 y 5.0) de los estudiantes de un curso, una a una.</a:t>
            </a:r>
          </a:p>
          <a:p>
            <a:pPr rtl="0"/>
            <a:endParaRPr lang="es-MX" sz="2000" dirty="0"/>
          </a:p>
          <a:p>
            <a:pPr rtl="0"/>
            <a:r>
              <a:rPr lang="es-MX" sz="2000" dirty="0"/>
              <a:t>Considere que la nota mínima aprobatoria es 3.0: una nota es </a:t>
            </a:r>
            <a:r>
              <a:rPr lang="es-MX" sz="2000" b="1" dirty="0"/>
              <a:t>aprobada</a:t>
            </a:r>
            <a:r>
              <a:rPr lang="es-MX" sz="2000" dirty="0"/>
              <a:t> si es mayor o igual a 3.0, y </a:t>
            </a:r>
            <a:r>
              <a:rPr lang="es-MX" sz="2000" b="1" dirty="0"/>
              <a:t>reprobada</a:t>
            </a:r>
            <a:r>
              <a:rPr lang="es-MX" sz="2000" dirty="0"/>
              <a:t> si es menor a 3.0.</a:t>
            </a:r>
          </a:p>
          <a:p>
            <a:pPr rtl="0"/>
            <a:endParaRPr lang="es-MX" sz="2000" dirty="0"/>
          </a:p>
          <a:p>
            <a:pPr rtl="0"/>
            <a:r>
              <a:rPr lang="es-MX" sz="2000" dirty="0"/>
              <a:t>Al finalizar la lectura, el programa deberá entregar:</a:t>
            </a:r>
          </a:p>
          <a:p>
            <a:pPr marL="285750" indent="-285750" rtl="0">
              <a:buFont typeface="Arial" panose="020B0604020202020204" pitchFamily="34" charset="0"/>
              <a:buChar char="•"/>
            </a:pPr>
            <a:r>
              <a:rPr lang="es-MX" sz="2000" dirty="0"/>
              <a:t>El porcentaje de estudiantes aprobados.</a:t>
            </a:r>
          </a:p>
          <a:p>
            <a:pPr marL="285750" indent="-285750" rtl="0">
              <a:buFont typeface="Arial" panose="020B0604020202020204" pitchFamily="34" charset="0"/>
              <a:buChar char="•"/>
            </a:pPr>
            <a:r>
              <a:rPr lang="es-MX" sz="2000" dirty="0"/>
              <a:t>El porcentaje de estudiantes reprobados.</a:t>
            </a:r>
          </a:p>
          <a:p>
            <a:pPr marL="285750" indent="-285750" rtl="0">
              <a:buFont typeface="Arial" panose="020B0604020202020204" pitchFamily="34" charset="0"/>
              <a:buChar char="•"/>
            </a:pPr>
            <a:r>
              <a:rPr lang="es-MX" sz="2000" dirty="0"/>
              <a:t>El promedio de las notas aprobadas.</a:t>
            </a:r>
          </a:p>
          <a:p>
            <a:pPr marL="285750" indent="-285750" rtl="0">
              <a:buFont typeface="Arial" panose="020B0604020202020204" pitchFamily="34" charset="0"/>
              <a:buChar char="•"/>
            </a:pPr>
            <a:r>
              <a:rPr lang="es-MX" sz="2000" dirty="0"/>
              <a:t>El promedio de las notas reprobadas.</a:t>
            </a:r>
          </a:p>
          <a:p>
            <a:pPr marL="285750" indent="-285750" rtl="0">
              <a:buFont typeface="Arial" panose="020B0604020202020204" pitchFamily="34" charset="0"/>
              <a:buChar char="•"/>
            </a:pPr>
            <a:r>
              <a:rPr lang="es-MX" sz="2000" dirty="0"/>
              <a:t>El promedio de las notas del curso.</a:t>
            </a:r>
          </a:p>
        </p:txBody>
      </p:sp>
    </p:spTree>
    <p:extLst>
      <p:ext uri="{BB962C8B-B14F-4D97-AF65-F5344CB8AC3E}">
        <p14:creationId xmlns:p14="http://schemas.microsoft.com/office/powerpoint/2010/main" val="2029373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6</a:t>
            </a:r>
          </a:p>
        </p:txBody>
      </p:sp>
      <p:sp>
        <p:nvSpPr>
          <p:cNvPr id="4" name="5 CuadroTexto">
            <a:extLst>
              <a:ext uri="{FF2B5EF4-FFF2-40B4-BE49-F238E27FC236}">
                <a16:creationId xmlns:a16="http://schemas.microsoft.com/office/drawing/2014/main" id="{0AFF77B4-4060-4028-A473-CEFF63FFD241}"/>
              </a:ext>
            </a:extLst>
          </p:cNvPr>
          <p:cNvSpPr txBox="1"/>
          <p:nvPr/>
        </p:nvSpPr>
        <p:spPr>
          <a:xfrm>
            <a:off x="251520" y="2630578"/>
            <a:ext cx="4016228" cy="4062651"/>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Bandera que indica si hay estudiante</a:t>
            </a:r>
          </a:p>
          <a:p>
            <a:pPr marL="285750" indent="-285750">
              <a:buFont typeface="Arial" panose="020B0604020202020204" pitchFamily="34" charset="0"/>
              <a:buChar char="•"/>
            </a:pPr>
            <a:r>
              <a:rPr lang="es-CO" sz="1200" b="1" dirty="0"/>
              <a:t>Nota del estudiante</a:t>
            </a:r>
            <a:endParaRPr lang="es-CO" sz="1200" dirty="0"/>
          </a:p>
          <a:p>
            <a:r>
              <a:rPr lang="es-CO" sz="1400" b="1" dirty="0"/>
              <a:t>Datos de salida: </a:t>
            </a:r>
          </a:p>
          <a:p>
            <a:pPr marL="285750" indent="-285750">
              <a:buFont typeface="Arial" panose="020B0604020202020204" pitchFamily="34" charset="0"/>
              <a:buChar char="•"/>
            </a:pPr>
            <a:r>
              <a:rPr lang="es-CO" sz="1200" b="1" dirty="0"/>
              <a:t>Porcentaje de estudiantes que ganaron</a:t>
            </a:r>
          </a:p>
          <a:p>
            <a:pPr marL="285750" indent="-285750">
              <a:buFont typeface="Arial" panose="020B0604020202020204" pitchFamily="34" charset="0"/>
              <a:buChar char="•"/>
            </a:pPr>
            <a:r>
              <a:rPr lang="es-CO" sz="1200" b="1" dirty="0"/>
              <a:t>Porcentaje de estudiantes que perdieron</a:t>
            </a:r>
          </a:p>
          <a:p>
            <a:pPr marL="285750" indent="-285750">
              <a:buFont typeface="Arial" panose="020B0604020202020204" pitchFamily="34" charset="0"/>
              <a:buChar char="•"/>
            </a:pPr>
            <a:r>
              <a:rPr lang="es-CO" sz="1200" b="1" dirty="0"/>
              <a:t>Promedio de notas de los que ganaron</a:t>
            </a:r>
          </a:p>
          <a:p>
            <a:pPr marL="285750" indent="-285750">
              <a:buFont typeface="Arial" panose="020B0604020202020204" pitchFamily="34" charset="0"/>
              <a:buChar char="•"/>
            </a:pPr>
            <a:r>
              <a:rPr lang="es-CO" sz="1200" b="1" dirty="0"/>
              <a:t>Promedio de notas de los que perdieron</a:t>
            </a:r>
          </a:p>
          <a:p>
            <a:pPr marL="285750" indent="-285750">
              <a:buFont typeface="Arial" panose="020B0604020202020204" pitchFamily="34" charset="0"/>
              <a:buChar char="•"/>
            </a:pPr>
            <a:r>
              <a:rPr lang="es-CO" sz="1200" b="1" dirty="0"/>
              <a:t>Promedio de notas del curso.</a:t>
            </a:r>
          </a:p>
          <a:p>
            <a:r>
              <a:rPr lang="es-CO" sz="1400" b="1" dirty="0"/>
              <a:t>Definición de variables:</a:t>
            </a:r>
          </a:p>
          <a:p>
            <a:pPr marL="285750" indent="-285750">
              <a:buFont typeface="Arial" panose="020B0604020202020204" pitchFamily="34" charset="0"/>
              <a:buChar char="•"/>
            </a:pPr>
            <a:r>
              <a:rPr lang="es-CO" sz="1200" b="1" dirty="0"/>
              <a:t>Entrada/salida</a:t>
            </a:r>
            <a:r>
              <a:rPr lang="es-CO" sz="1200" dirty="0"/>
              <a:t>:</a:t>
            </a:r>
          </a:p>
          <a:p>
            <a:pPr marL="800100" lvl="1" indent="-342900">
              <a:buFont typeface="Arial" pitchFamily="34" charset="0"/>
              <a:buChar char="•"/>
            </a:pPr>
            <a:r>
              <a:rPr lang="es-CO" sz="1200" b="1" dirty="0">
                <a:latin typeface="Consolas" panose="020B0609020204030204" pitchFamily="49" charset="0"/>
              </a:rPr>
              <a:t>hay_estudiante</a:t>
            </a:r>
            <a:r>
              <a:rPr lang="es-CO" sz="1200" b="1" dirty="0"/>
              <a:t>:</a:t>
            </a:r>
            <a:r>
              <a:rPr lang="es-CO" sz="1200" dirty="0"/>
              <a:t> Bandera que indica si hay un estudiante por registrar</a:t>
            </a:r>
          </a:p>
          <a:p>
            <a:pPr marL="800100" lvl="1" indent="-342900">
              <a:buFont typeface="Arial" pitchFamily="34" charset="0"/>
              <a:buChar char="•"/>
            </a:pPr>
            <a:r>
              <a:rPr lang="es-CO" sz="1200" b="1" dirty="0">
                <a:latin typeface="Consolas" panose="020B0609020204030204" pitchFamily="49" charset="0"/>
              </a:rPr>
              <a:t>nota</a:t>
            </a:r>
            <a:r>
              <a:rPr lang="es-CO" sz="1200" b="1" dirty="0"/>
              <a:t>:</a:t>
            </a:r>
            <a:r>
              <a:rPr lang="es-CO" sz="1200" dirty="0"/>
              <a:t> Nota del estudiante.</a:t>
            </a:r>
          </a:p>
          <a:p>
            <a:pPr marL="800100" lvl="1" indent="-342900">
              <a:buFont typeface="Arial" pitchFamily="34" charset="0"/>
              <a:buChar char="•"/>
            </a:pPr>
            <a:r>
              <a:rPr lang="es-CO" sz="1200" b="1" dirty="0" err="1">
                <a:latin typeface="Consolas" panose="020B0609020204030204" pitchFamily="49" charset="0"/>
              </a:rPr>
              <a:t>p_ganadores</a:t>
            </a:r>
            <a:r>
              <a:rPr lang="es-CO" sz="1200" b="1" dirty="0"/>
              <a:t>:</a:t>
            </a:r>
            <a:r>
              <a:rPr lang="es-CO" sz="1200" dirty="0"/>
              <a:t> Porcentaje ganadores.</a:t>
            </a:r>
          </a:p>
          <a:p>
            <a:pPr marL="800100" lvl="1" indent="-342900">
              <a:buFont typeface="Arial" pitchFamily="34" charset="0"/>
              <a:buChar char="•"/>
            </a:pPr>
            <a:r>
              <a:rPr lang="es-CO" sz="1200" b="1" dirty="0" err="1">
                <a:latin typeface="Consolas" panose="020B0609020204030204" pitchFamily="49" charset="0"/>
              </a:rPr>
              <a:t>p_perdedores</a:t>
            </a:r>
            <a:r>
              <a:rPr lang="es-CO" sz="1200" b="1" dirty="0"/>
              <a:t>:</a:t>
            </a:r>
            <a:r>
              <a:rPr lang="es-CO" sz="1200" dirty="0"/>
              <a:t> Porcentaje perdedores.</a:t>
            </a:r>
          </a:p>
          <a:p>
            <a:pPr marL="800100" lvl="1" indent="-342900">
              <a:buFont typeface="Arial" pitchFamily="34" charset="0"/>
              <a:buChar char="•"/>
            </a:pPr>
            <a:r>
              <a:rPr lang="es-CO" sz="1200" b="1" dirty="0" err="1">
                <a:latin typeface="Consolas" panose="020B0609020204030204" pitchFamily="49" charset="0"/>
              </a:rPr>
              <a:t>prom_nota_reprobada</a:t>
            </a:r>
            <a:r>
              <a:rPr lang="es-CO" sz="1200" b="1" dirty="0"/>
              <a:t>:</a:t>
            </a:r>
            <a:r>
              <a:rPr lang="es-CO" sz="1200" dirty="0"/>
              <a:t> Promedio notas reprobadas.</a:t>
            </a:r>
          </a:p>
          <a:p>
            <a:pPr marL="800100" lvl="1" indent="-342900">
              <a:buFont typeface="Arial" pitchFamily="34" charset="0"/>
              <a:buChar char="•"/>
            </a:pPr>
            <a:r>
              <a:rPr lang="es-CO" sz="1200" b="1" dirty="0" err="1">
                <a:latin typeface="Consolas" panose="020B0609020204030204" pitchFamily="49" charset="0"/>
              </a:rPr>
              <a:t>prom_nota_aprobada</a:t>
            </a:r>
            <a:r>
              <a:rPr lang="es-CO" sz="1200" b="1" dirty="0"/>
              <a:t>:</a:t>
            </a:r>
            <a:r>
              <a:rPr lang="es-CO" sz="1200" dirty="0"/>
              <a:t> Promedio de notas aprobadas.</a:t>
            </a:r>
          </a:p>
          <a:p>
            <a:pPr marL="800100" lvl="1" indent="-342900">
              <a:buFont typeface="Arial" pitchFamily="34" charset="0"/>
              <a:buChar char="•"/>
            </a:pPr>
            <a:r>
              <a:rPr lang="es-CO" sz="1200" b="1" dirty="0" err="1">
                <a:latin typeface="Consolas" panose="020B0609020204030204" pitchFamily="49" charset="0"/>
              </a:rPr>
              <a:t>prom</a:t>
            </a:r>
            <a:r>
              <a:rPr lang="es-CO" sz="1200" b="1" dirty="0"/>
              <a:t>:</a:t>
            </a:r>
            <a:r>
              <a:rPr lang="es-CO" sz="1200" dirty="0"/>
              <a:t> Nota del estudiante</a:t>
            </a:r>
          </a:p>
        </p:txBody>
      </p:sp>
      <p:grpSp>
        <p:nvGrpSpPr>
          <p:cNvPr id="7" name="Grupo 6">
            <a:extLst>
              <a:ext uri="{FF2B5EF4-FFF2-40B4-BE49-F238E27FC236}">
                <a16:creationId xmlns:a16="http://schemas.microsoft.com/office/drawing/2014/main" id="{C5943E81-7B0B-4384-893B-081D1858AF5B}"/>
              </a:ext>
            </a:extLst>
          </p:cNvPr>
          <p:cNvGrpSpPr/>
          <p:nvPr/>
        </p:nvGrpSpPr>
        <p:grpSpPr>
          <a:xfrm>
            <a:off x="388239" y="1196752"/>
            <a:ext cx="8202163" cy="1353956"/>
            <a:chOff x="233375" y="1772816"/>
            <a:chExt cx="8202163" cy="1353956"/>
          </a:xfrm>
        </p:grpSpPr>
        <p:grpSp>
          <p:nvGrpSpPr>
            <p:cNvPr id="9" name="5 Grupo">
              <a:extLst>
                <a:ext uri="{FF2B5EF4-FFF2-40B4-BE49-F238E27FC236}">
                  <a16:creationId xmlns:a16="http://schemas.microsoft.com/office/drawing/2014/main" id="{8FE9501D-19B2-420E-8A81-14427FA16D0F}"/>
                </a:ext>
              </a:extLst>
            </p:cNvPr>
            <p:cNvGrpSpPr/>
            <p:nvPr/>
          </p:nvGrpSpPr>
          <p:grpSpPr>
            <a:xfrm>
              <a:off x="233375" y="1772816"/>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 name="10 Rectángulo">
              <a:extLst>
                <a:ext uri="{FF2B5EF4-FFF2-40B4-BE49-F238E27FC236}">
                  <a16:creationId xmlns:a16="http://schemas.microsoft.com/office/drawing/2014/main" id="{A599FC2C-8781-48C6-AFD4-F86EC2C1085F}"/>
                </a:ext>
              </a:extLst>
            </p:cNvPr>
            <p:cNvSpPr/>
            <p:nvPr/>
          </p:nvSpPr>
          <p:spPr>
            <a:xfrm>
              <a:off x="3136637" y="2628009"/>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grpSp>
      <p:sp>
        <p:nvSpPr>
          <p:cNvPr id="19" name="5 CuadroTexto">
            <a:extLst>
              <a:ext uri="{FF2B5EF4-FFF2-40B4-BE49-F238E27FC236}">
                <a16:creationId xmlns:a16="http://schemas.microsoft.com/office/drawing/2014/main" id="{1D7C1E8D-4FE2-4F9A-9CBA-F480756E5707}"/>
              </a:ext>
            </a:extLst>
          </p:cNvPr>
          <p:cNvSpPr txBox="1"/>
          <p:nvPr/>
        </p:nvSpPr>
        <p:spPr>
          <a:xfrm>
            <a:off x="4396594" y="2653792"/>
            <a:ext cx="4193807" cy="2523768"/>
          </a:xfrm>
          <a:prstGeom prst="rect">
            <a:avLst/>
          </a:prstGeom>
          <a:noFill/>
        </p:spPr>
        <p:txBody>
          <a:bodyPr wrap="square" rtlCol="0">
            <a:spAutoFit/>
          </a:bodyPr>
          <a:lstStyle/>
          <a:p>
            <a:r>
              <a:rPr lang="es-CO" sz="1400" b="1" dirty="0"/>
              <a:t>Definición de variables:</a:t>
            </a:r>
          </a:p>
          <a:p>
            <a:pPr marL="342900" indent="-342900">
              <a:buFont typeface="Arial" pitchFamily="34" charset="0"/>
              <a:buChar char="•"/>
            </a:pPr>
            <a:r>
              <a:rPr lang="es-CO" sz="1200" b="1" dirty="0"/>
              <a:t>Variables auxiliares</a:t>
            </a:r>
            <a:r>
              <a:rPr lang="es-CO" sz="1200" dirty="0"/>
              <a:t>:</a:t>
            </a:r>
          </a:p>
          <a:p>
            <a:pPr marL="800100" lvl="1" indent="-342900">
              <a:buFont typeface="Arial" pitchFamily="34" charset="0"/>
              <a:buChar char="•"/>
            </a:pPr>
            <a:r>
              <a:rPr lang="es-CO" sz="1200" b="1" dirty="0" err="1">
                <a:latin typeface="Consolas" panose="020B0609020204030204" pitchFamily="49" charset="0"/>
              </a:rPr>
              <a:t>notas_reprobadas</a:t>
            </a:r>
            <a:r>
              <a:rPr lang="es-CO" sz="1200" b="1" dirty="0"/>
              <a:t>:</a:t>
            </a:r>
            <a:r>
              <a:rPr lang="es-CO" sz="1200" dirty="0"/>
              <a:t> Numero de notas reprobadas (contador)</a:t>
            </a:r>
          </a:p>
          <a:p>
            <a:pPr marL="800100" lvl="1" indent="-342900">
              <a:buFont typeface="Arial" pitchFamily="34" charset="0"/>
              <a:buChar char="•"/>
            </a:pPr>
            <a:r>
              <a:rPr lang="es-CO" sz="1200" b="1" dirty="0" err="1">
                <a:latin typeface="Consolas" panose="020B0609020204030204" pitchFamily="49" charset="0"/>
              </a:rPr>
              <a:t>suma_reprobadas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notas_aprobadas</a:t>
            </a:r>
            <a:r>
              <a:rPr lang="es-CO" sz="1200" b="1" dirty="0"/>
              <a:t>:</a:t>
            </a:r>
            <a:r>
              <a:rPr lang="es-CO" sz="1200" dirty="0"/>
              <a:t> Numero de notas aprobadas (contador)</a:t>
            </a:r>
          </a:p>
          <a:p>
            <a:pPr marL="800100" lvl="1" indent="-342900">
              <a:buFont typeface="Arial" pitchFamily="34" charset="0"/>
              <a:buChar char="•"/>
            </a:pPr>
            <a:r>
              <a:rPr lang="es-CO" sz="1200" b="1" dirty="0" err="1">
                <a:latin typeface="Consolas" panose="020B0609020204030204" pitchFamily="49" charset="0"/>
              </a:rPr>
              <a:t>suma_aprobadas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num_notas</a:t>
            </a:r>
            <a:r>
              <a:rPr lang="es-CO" sz="1200" b="1" dirty="0"/>
              <a:t>:</a:t>
            </a:r>
            <a:r>
              <a:rPr lang="es-CO" sz="1200" dirty="0"/>
              <a:t> Numero de notas registradas.</a:t>
            </a:r>
          </a:p>
          <a:p>
            <a:pPr marL="800100" lvl="1" indent="-342900">
              <a:buFont typeface="Arial" pitchFamily="34" charset="0"/>
              <a:buChar char="•"/>
            </a:pPr>
            <a:r>
              <a:rPr lang="es-CO" sz="1200" b="1" dirty="0" err="1">
                <a:latin typeface="Consolas" panose="020B0609020204030204" pitchFamily="49" charset="0"/>
              </a:rPr>
              <a:t>suma_notas</a:t>
            </a:r>
            <a:r>
              <a:rPr lang="es-CO" sz="1200" b="1" dirty="0"/>
              <a:t>:</a:t>
            </a:r>
            <a:r>
              <a:rPr lang="es-CO" sz="1200" dirty="0"/>
              <a:t> Suma de las notas registradas.</a:t>
            </a:r>
          </a:p>
          <a:p>
            <a:pPr marL="800100" lvl="1" indent="-342900">
              <a:buFont typeface="Arial" pitchFamily="34" charset="0"/>
              <a:buChar char="•"/>
            </a:pPr>
            <a:endParaRPr lang="es-CO" sz="1200" dirty="0"/>
          </a:p>
        </p:txBody>
      </p:sp>
    </p:spTree>
    <p:extLst>
      <p:ext uri="{BB962C8B-B14F-4D97-AF65-F5344CB8AC3E}">
        <p14:creationId xmlns:p14="http://schemas.microsoft.com/office/powerpoint/2010/main" val="4363469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6</a:t>
            </a:r>
          </a:p>
        </p:txBody>
      </p:sp>
      <p:grpSp>
        <p:nvGrpSpPr>
          <p:cNvPr id="2" name="Grupo 1">
            <a:extLst>
              <a:ext uri="{FF2B5EF4-FFF2-40B4-BE49-F238E27FC236}">
                <a16:creationId xmlns:a16="http://schemas.microsoft.com/office/drawing/2014/main" id="{42121BD4-1753-4AE5-983B-5A26A45B380F}"/>
              </a:ext>
            </a:extLst>
          </p:cNvPr>
          <p:cNvGrpSpPr/>
          <p:nvPr/>
        </p:nvGrpSpPr>
        <p:grpSpPr>
          <a:xfrm>
            <a:off x="122269" y="1484784"/>
            <a:ext cx="8966864" cy="3689141"/>
            <a:chOff x="122269" y="1155110"/>
            <a:chExt cx="8966864" cy="3689141"/>
          </a:xfrm>
        </p:grpSpPr>
        <p:sp>
          <p:nvSpPr>
            <p:cNvPr id="8" name="1 Rectángulo">
              <a:extLst>
                <a:ext uri="{FF2B5EF4-FFF2-40B4-BE49-F238E27FC236}">
                  <a16:creationId xmlns:a16="http://schemas.microsoft.com/office/drawing/2014/main" id="{3053CE28-93EE-44FF-94E7-0BE3158A7A36}"/>
                </a:ext>
              </a:extLst>
            </p:cNvPr>
            <p:cNvSpPr/>
            <p:nvPr/>
          </p:nvSpPr>
          <p:spPr>
            <a:xfrm>
              <a:off x="447440" y="1786448"/>
              <a:ext cx="1374094"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hay_estudiante</a:t>
              </a:r>
            </a:p>
          </p:txBody>
        </p:sp>
        <p:grpSp>
          <p:nvGrpSpPr>
            <p:cNvPr id="9" name="5 Grupo">
              <a:extLst>
                <a:ext uri="{FF2B5EF4-FFF2-40B4-BE49-F238E27FC236}">
                  <a16:creationId xmlns:a16="http://schemas.microsoft.com/office/drawing/2014/main" id="{8FE9501D-19B2-420E-8A81-14427FA16D0F}"/>
                </a:ext>
              </a:extLst>
            </p:cNvPr>
            <p:cNvGrpSpPr/>
            <p:nvPr/>
          </p:nvGrpSpPr>
          <p:grpSpPr>
            <a:xfrm>
              <a:off x="122269" y="1155110"/>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0" name="1 Rectángulo">
              <a:extLst>
                <a:ext uri="{FF2B5EF4-FFF2-40B4-BE49-F238E27FC236}">
                  <a16:creationId xmlns:a16="http://schemas.microsoft.com/office/drawing/2014/main" id="{D1398223-11E8-42D2-AEF3-AD54D2C419C3}"/>
                </a:ext>
              </a:extLst>
            </p:cNvPr>
            <p:cNvSpPr/>
            <p:nvPr/>
          </p:nvSpPr>
          <p:spPr>
            <a:xfrm>
              <a:off x="7175891" y="1771538"/>
              <a:ext cx="1119217"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p_aprobaron</a:t>
              </a:r>
              <a:endParaRPr lang="es-CO" sz="1200" dirty="0">
                <a:latin typeface="Consolas" panose="020B0609020204030204" pitchFamily="49" charset="0"/>
                <a:cs typeface="Consolas" panose="020B0609020204030204" pitchFamily="49" charset="0"/>
              </a:endParaRPr>
            </a:p>
          </p:txBody>
        </p:sp>
        <p:sp>
          <p:nvSpPr>
            <p:cNvPr id="11" name="10 Rectángulo">
              <a:extLst>
                <a:ext uri="{FF2B5EF4-FFF2-40B4-BE49-F238E27FC236}">
                  <a16:creationId xmlns:a16="http://schemas.microsoft.com/office/drawing/2014/main" id="{A599FC2C-8781-48C6-AFD4-F86EC2C1085F}"/>
                </a:ext>
              </a:extLst>
            </p:cNvPr>
            <p:cNvSpPr/>
            <p:nvPr/>
          </p:nvSpPr>
          <p:spPr>
            <a:xfrm>
              <a:off x="3167758" y="2745541"/>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Variables auxiliares</a:t>
              </a:r>
            </a:p>
          </p:txBody>
        </p:sp>
        <p:sp>
          <p:nvSpPr>
            <p:cNvPr id="12" name="1 Rectángulo">
              <a:extLst>
                <a:ext uri="{FF2B5EF4-FFF2-40B4-BE49-F238E27FC236}">
                  <a16:creationId xmlns:a16="http://schemas.microsoft.com/office/drawing/2014/main" id="{C6B5573E-DBD7-4223-86BE-BEC503A9E92F}"/>
                </a:ext>
              </a:extLst>
            </p:cNvPr>
            <p:cNvSpPr/>
            <p:nvPr/>
          </p:nvSpPr>
          <p:spPr>
            <a:xfrm>
              <a:off x="3563888" y="3228197"/>
              <a:ext cx="1544012"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notas_reprobadas</a:t>
              </a:r>
              <a:endParaRPr lang="es-CO" sz="1200" dirty="0">
                <a:latin typeface="Consolas" panose="020B0609020204030204" pitchFamily="49" charset="0"/>
                <a:cs typeface="Consolas" panose="020B0609020204030204" pitchFamily="49" charset="0"/>
              </a:endParaRPr>
            </a:p>
          </p:txBody>
        </p:sp>
        <p:sp>
          <p:nvSpPr>
            <p:cNvPr id="20" name="1 Rectángulo">
              <a:extLst>
                <a:ext uri="{FF2B5EF4-FFF2-40B4-BE49-F238E27FC236}">
                  <a16:creationId xmlns:a16="http://schemas.microsoft.com/office/drawing/2014/main" id="{0C86435B-112B-4DBD-B639-6CE51F189FE3}"/>
                </a:ext>
              </a:extLst>
            </p:cNvPr>
            <p:cNvSpPr/>
            <p:nvPr/>
          </p:nvSpPr>
          <p:spPr>
            <a:xfrm>
              <a:off x="447440" y="2023344"/>
              <a:ext cx="524503"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a:t>
              </a:r>
            </a:p>
          </p:txBody>
        </p:sp>
        <p:sp>
          <p:nvSpPr>
            <p:cNvPr id="21" name="1 Rectángulo">
              <a:extLst>
                <a:ext uri="{FF2B5EF4-FFF2-40B4-BE49-F238E27FC236}">
                  <a16:creationId xmlns:a16="http://schemas.microsoft.com/office/drawing/2014/main" id="{3B2C50F9-587E-446F-83C8-BDF0086F3C88}"/>
                </a:ext>
              </a:extLst>
            </p:cNvPr>
            <p:cNvSpPr/>
            <p:nvPr/>
          </p:nvSpPr>
          <p:spPr>
            <a:xfrm>
              <a:off x="7164288" y="2259022"/>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prom_nota_reprobada</a:t>
              </a:r>
              <a:endParaRPr lang="es-CO" sz="1200" dirty="0">
                <a:latin typeface="Consolas" panose="020B0609020204030204" pitchFamily="49" charset="0"/>
                <a:cs typeface="Consolas" panose="020B0609020204030204" pitchFamily="49" charset="0"/>
              </a:endParaRPr>
            </a:p>
          </p:txBody>
        </p:sp>
        <p:sp>
          <p:nvSpPr>
            <p:cNvPr id="22" name="1 Rectángulo">
              <a:extLst>
                <a:ext uri="{FF2B5EF4-FFF2-40B4-BE49-F238E27FC236}">
                  <a16:creationId xmlns:a16="http://schemas.microsoft.com/office/drawing/2014/main" id="{24AAC88C-EDFD-4BDF-93B4-69386E31AA14}"/>
                </a:ext>
              </a:extLst>
            </p:cNvPr>
            <p:cNvSpPr/>
            <p:nvPr/>
          </p:nvSpPr>
          <p:spPr>
            <a:xfrm>
              <a:off x="7164288" y="2010010"/>
              <a:ext cx="1204176"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p_reprobaron</a:t>
              </a:r>
              <a:endParaRPr lang="es-CO" sz="1200" dirty="0">
                <a:latin typeface="Consolas" panose="020B0609020204030204" pitchFamily="49" charset="0"/>
                <a:cs typeface="Consolas" panose="020B0609020204030204" pitchFamily="49" charset="0"/>
              </a:endParaRPr>
            </a:p>
          </p:txBody>
        </p:sp>
        <p:sp>
          <p:nvSpPr>
            <p:cNvPr id="23" name="1 Rectángulo">
              <a:extLst>
                <a:ext uri="{FF2B5EF4-FFF2-40B4-BE49-F238E27FC236}">
                  <a16:creationId xmlns:a16="http://schemas.microsoft.com/office/drawing/2014/main" id="{03A24B10-0B74-4597-ABFC-A6C64FB4EC49}"/>
                </a:ext>
              </a:extLst>
            </p:cNvPr>
            <p:cNvSpPr/>
            <p:nvPr/>
          </p:nvSpPr>
          <p:spPr>
            <a:xfrm>
              <a:off x="7177953" y="2525481"/>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prom_nota_aprobada</a:t>
              </a:r>
              <a:endParaRPr lang="es-CO" sz="1200" dirty="0">
                <a:latin typeface="Consolas" panose="020B0609020204030204" pitchFamily="49" charset="0"/>
                <a:cs typeface="Consolas" panose="020B0609020204030204" pitchFamily="49" charset="0"/>
              </a:endParaRPr>
            </a:p>
          </p:txBody>
        </p:sp>
        <p:sp>
          <p:nvSpPr>
            <p:cNvPr id="24" name="1 Rectángulo">
              <a:extLst>
                <a:ext uri="{FF2B5EF4-FFF2-40B4-BE49-F238E27FC236}">
                  <a16:creationId xmlns:a16="http://schemas.microsoft.com/office/drawing/2014/main" id="{ACAAE8C9-A755-4A05-82D0-15B03F4A99D9}"/>
                </a:ext>
              </a:extLst>
            </p:cNvPr>
            <p:cNvSpPr/>
            <p:nvPr/>
          </p:nvSpPr>
          <p:spPr>
            <a:xfrm>
              <a:off x="7167676" y="2779496"/>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a:t>
              </a:r>
              <a:endParaRPr lang="es-CO" sz="1200" dirty="0">
                <a:latin typeface="Consolas" panose="020B0609020204030204" pitchFamily="49" charset="0"/>
                <a:cs typeface="Consolas" panose="020B0609020204030204" pitchFamily="49" charset="0"/>
              </a:endParaRPr>
            </a:p>
          </p:txBody>
        </p:sp>
        <p:sp>
          <p:nvSpPr>
            <p:cNvPr id="25" name="10 Rectángulo">
              <a:extLst>
                <a:ext uri="{FF2B5EF4-FFF2-40B4-BE49-F238E27FC236}">
                  <a16:creationId xmlns:a16="http://schemas.microsoft.com/office/drawing/2014/main" id="{28D00F6F-FEF1-4AC2-B61B-4F94924076AB}"/>
                </a:ext>
              </a:extLst>
            </p:cNvPr>
            <p:cNvSpPr/>
            <p:nvPr/>
          </p:nvSpPr>
          <p:spPr>
            <a:xfrm>
              <a:off x="3167757" y="2007992"/>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Constantes</a:t>
              </a:r>
            </a:p>
          </p:txBody>
        </p:sp>
        <p:sp>
          <p:nvSpPr>
            <p:cNvPr id="26" name="1 Rectángulo">
              <a:extLst>
                <a:ext uri="{FF2B5EF4-FFF2-40B4-BE49-F238E27FC236}">
                  <a16:creationId xmlns:a16="http://schemas.microsoft.com/office/drawing/2014/main" id="{2038A0DC-3DBE-4D08-B99D-C81A64192003}"/>
                </a:ext>
              </a:extLst>
            </p:cNvPr>
            <p:cNvSpPr/>
            <p:nvPr/>
          </p:nvSpPr>
          <p:spPr>
            <a:xfrm>
              <a:off x="3412382" y="2479595"/>
              <a:ext cx="2112186"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NOTA_MINIMA = 3.0</a:t>
              </a:r>
            </a:p>
          </p:txBody>
        </p:sp>
        <p:sp>
          <p:nvSpPr>
            <p:cNvPr id="27" name="1 Rectángulo">
              <a:extLst>
                <a:ext uri="{FF2B5EF4-FFF2-40B4-BE49-F238E27FC236}">
                  <a16:creationId xmlns:a16="http://schemas.microsoft.com/office/drawing/2014/main" id="{DD8EBF09-5B86-4E31-845E-25EE4E914911}"/>
                </a:ext>
              </a:extLst>
            </p:cNvPr>
            <p:cNvSpPr/>
            <p:nvPr/>
          </p:nvSpPr>
          <p:spPr>
            <a:xfrm>
              <a:off x="3563888" y="3483090"/>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notas_aprobadas</a:t>
              </a:r>
              <a:endParaRPr lang="es-CO" sz="1200" dirty="0">
                <a:latin typeface="Consolas" panose="020B0609020204030204" pitchFamily="49" charset="0"/>
                <a:cs typeface="Consolas" panose="020B0609020204030204" pitchFamily="49" charset="0"/>
              </a:endParaRPr>
            </a:p>
          </p:txBody>
        </p:sp>
        <p:sp>
          <p:nvSpPr>
            <p:cNvPr id="28" name="1 Rectángulo">
              <a:extLst>
                <a:ext uri="{FF2B5EF4-FFF2-40B4-BE49-F238E27FC236}">
                  <a16:creationId xmlns:a16="http://schemas.microsoft.com/office/drawing/2014/main" id="{40E934AA-0485-4C51-A363-779A0FA8C931}"/>
                </a:ext>
              </a:extLst>
            </p:cNvPr>
            <p:cNvSpPr/>
            <p:nvPr/>
          </p:nvSpPr>
          <p:spPr>
            <a:xfrm>
              <a:off x="3563888" y="3752626"/>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suma_reprobadas</a:t>
              </a:r>
              <a:endParaRPr lang="es-CO" sz="1200" dirty="0">
                <a:latin typeface="Consolas" panose="020B0609020204030204" pitchFamily="49" charset="0"/>
                <a:cs typeface="Consolas" panose="020B0609020204030204" pitchFamily="49" charset="0"/>
              </a:endParaRPr>
            </a:p>
          </p:txBody>
        </p:sp>
        <p:sp>
          <p:nvSpPr>
            <p:cNvPr id="29" name="1 Rectángulo">
              <a:extLst>
                <a:ext uri="{FF2B5EF4-FFF2-40B4-BE49-F238E27FC236}">
                  <a16:creationId xmlns:a16="http://schemas.microsoft.com/office/drawing/2014/main" id="{F3EAF573-8220-4313-80C9-F2BE1AF3C4FF}"/>
                </a:ext>
              </a:extLst>
            </p:cNvPr>
            <p:cNvSpPr/>
            <p:nvPr/>
          </p:nvSpPr>
          <p:spPr>
            <a:xfrm>
              <a:off x="3563888" y="4013105"/>
              <a:ext cx="137409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suma_aprobadas</a:t>
              </a:r>
              <a:endParaRPr lang="es-CO" sz="1200" dirty="0">
                <a:latin typeface="Consolas" panose="020B0609020204030204" pitchFamily="49" charset="0"/>
                <a:cs typeface="Consolas" panose="020B0609020204030204" pitchFamily="49" charset="0"/>
              </a:endParaRPr>
            </a:p>
          </p:txBody>
        </p:sp>
        <p:sp>
          <p:nvSpPr>
            <p:cNvPr id="30" name="1 Rectángulo">
              <a:extLst>
                <a:ext uri="{FF2B5EF4-FFF2-40B4-BE49-F238E27FC236}">
                  <a16:creationId xmlns:a16="http://schemas.microsoft.com/office/drawing/2014/main" id="{CD1C955F-F65D-4DA6-B23B-C422F3C2F58C}"/>
                </a:ext>
              </a:extLst>
            </p:cNvPr>
            <p:cNvSpPr/>
            <p:nvPr/>
          </p:nvSpPr>
          <p:spPr>
            <a:xfrm>
              <a:off x="3563888" y="4290253"/>
              <a:ext cx="1374094"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suma_notas</a:t>
              </a:r>
              <a:endParaRPr lang="es-CO" sz="1200" dirty="0">
                <a:latin typeface="Consolas" panose="020B0609020204030204" pitchFamily="49" charset="0"/>
                <a:cs typeface="Consolas" panose="020B0609020204030204" pitchFamily="49" charset="0"/>
              </a:endParaRPr>
            </a:p>
          </p:txBody>
        </p:sp>
        <p:sp>
          <p:nvSpPr>
            <p:cNvPr id="31" name="1 Rectángulo">
              <a:extLst>
                <a:ext uri="{FF2B5EF4-FFF2-40B4-BE49-F238E27FC236}">
                  <a16:creationId xmlns:a16="http://schemas.microsoft.com/office/drawing/2014/main" id="{E1B82EF1-9C69-4EC4-91FE-71238A4901B3}"/>
                </a:ext>
              </a:extLst>
            </p:cNvPr>
            <p:cNvSpPr/>
            <p:nvPr/>
          </p:nvSpPr>
          <p:spPr>
            <a:xfrm>
              <a:off x="3606368" y="4567252"/>
              <a:ext cx="1374094"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num_notas</a:t>
              </a:r>
              <a:endParaRPr lang="es-CO" sz="1200" dirty="0">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42263620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140272" y="767408"/>
            <a:ext cx="4659716" cy="5847755"/>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latin typeface="Consolas" panose="020B0609020204030204" pitchFamily="49" charset="0"/>
              </a:rPr>
              <a:t>  Leer(</a:t>
            </a:r>
            <a:r>
              <a:rPr lang="es-MX" sz="1100" dirty="0" err="1">
                <a:latin typeface="Consolas" panose="020B0609020204030204" pitchFamily="49" charset="0"/>
              </a:rPr>
              <a:t>hay_estudiante</a:t>
            </a:r>
            <a:r>
              <a:rPr lang="es-MX" sz="1100" dirty="0">
                <a:latin typeface="Consolas" panose="020B0609020204030204" pitchFamily="49" charset="0"/>
              </a:rPr>
              <a:t>)</a:t>
            </a:r>
          </a:p>
          <a:p>
            <a:r>
              <a:rPr lang="es-MX" sz="1100" dirty="0">
                <a:solidFill>
                  <a:srgbClr val="C00000"/>
                </a:solidFill>
                <a:latin typeface="Consolas" panose="020B0609020204030204" pitchFamily="49" charset="0"/>
              </a:rPr>
              <a:t>  Mientras (</a:t>
            </a:r>
            <a:r>
              <a:rPr lang="es-MX" sz="1100" dirty="0" err="1">
                <a:solidFill>
                  <a:srgbClr val="C00000"/>
                </a:solidFill>
                <a:latin typeface="Consolas" panose="020B0609020204030204" pitchFamily="49" charset="0"/>
              </a:rPr>
              <a:t>hay_estudiante</a:t>
            </a:r>
            <a:r>
              <a:rPr lang="es-MX" sz="1100" dirty="0">
                <a:solidFill>
                  <a:srgbClr val="C00000"/>
                </a:solidFill>
                <a:latin typeface="Consolas" panose="020B0609020204030204" pitchFamily="49" charset="0"/>
              </a:rPr>
              <a:t> == 's’) Haga    </a:t>
            </a:r>
          </a:p>
          <a:p>
            <a:r>
              <a:rPr lang="es-MX" sz="1100" dirty="0">
                <a:solidFill>
                  <a:srgbClr val="00B050"/>
                </a:solidFill>
                <a:latin typeface="Consolas" panose="020B0609020204030204" pitchFamily="49" charset="0"/>
              </a:rPr>
              <a:t>     Leer(nota)</a:t>
            </a:r>
          </a:p>
          <a:p>
            <a:r>
              <a:rPr lang="es-MX" sz="1100" dirty="0">
                <a:solidFill>
                  <a:srgbClr val="C00000"/>
                </a:solidFill>
                <a:latin typeface="Consolas" panose="020B0609020204030204" pitchFamily="49" charset="0"/>
              </a:rPr>
              <a:t>     </a:t>
            </a:r>
            <a:r>
              <a:rPr lang="es-MX" sz="1100" dirty="0">
                <a:solidFill>
                  <a:srgbClr val="00B050"/>
                </a:solidFill>
                <a:latin typeface="Consolas" panose="020B0609020204030204" pitchFamily="49" charset="0"/>
              </a:rPr>
              <a:t>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00B050"/>
                </a:solidFill>
                <a:latin typeface="Consolas" panose="020B0609020204030204" pitchFamily="49" charset="0"/>
              </a:rPr>
              <a:t>     Leer(</a:t>
            </a:r>
            <a:r>
              <a:rPr lang="es-MX" sz="1100" dirty="0" err="1">
                <a:solidFill>
                  <a:srgbClr val="00B050"/>
                </a:solidFill>
                <a:latin typeface="Consolas" panose="020B0609020204030204" pitchFamily="49" charset="0"/>
              </a:rPr>
              <a:t>hay_estudiante</a:t>
            </a:r>
            <a:r>
              <a:rPr lang="es-MX" sz="1100" dirty="0">
                <a:solidFill>
                  <a:srgbClr val="00B050"/>
                </a:solidFill>
                <a:latin typeface="Consolas" panose="020B0609020204030204" pitchFamily="49" charset="0"/>
              </a:rPr>
              <a:t>)</a:t>
            </a:r>
          </a:p>
          <a:p>
            <a:r>
              <a:rPr lang="es-MX" sz="1100" dirty="0">
                <a:solidFill>
                  <a:srgbClr val="C00000"/>
                </a:solidFill>
                <a:latin typeface="Consolas" panose="020B0609020204030204" pitchFamily="49" charset="0"/>
              </a:rPr>
              <a:t>  Fin_Mientras</a:t>
            </a:r>
          </a:p>
          <a:p>
            <a:r>
              <a:rPr lang="es-MX" sz="1100" dirty="0">
                <a:solidFill>
                  <a:srgbClr val="C00000"/>
                </a:solidFill>
                <a:latin typeface="Consolas" panose="020B0609020204030204" pitchFamily="49" charset="0"/>
              </a:rPr>
              <a:t>  </a:t>
            </a:r>
            <a:r>
              <a:rPr lang="es-MX" sz="1100" dirty="0" err="1">
                <a:latin typeface="Consolas" panose="020B0609020204030204" pitchFamily="49" charset="0"/>
              </a:rPr>
              <a:t>num_notas</a:t>
            </a:r>
            <a:r>
              <a:rPr lang="es-MX" sz="1100" dirty="0">
                <a:latin typeface="Consolas" panose="020B0609020204030204" pitchFamily="49" charset="0"/>
              </a:rPr>
              <a:t> = </a:t>
            </a:r>
            <a:r>
              <a:rPr lang="es-MX" sz="1100" dirty="0" err="1">
                <a:latin typeface="Consolas" panose="020B0609020204030204" pitchFamily="49" charset="0"/>
              </a:rPr>
              <a:t>notas_reprobadas</a:t>
            </a:r>
            <a:r>
              <a:rPr lang="es-MX" sz="1100" dirty="0">
                <a:latin typeface="Consolas" panose="020B0609020204030204" pitchFamily="49" charset="0"/>
              </a:rPr>
              <a:t> + </a:t>
            </a:r>
            <a:r>
              <a:rPr lang="es-MX" sz="1100" dirty="0" err="1">
                <a:latin typeface="Consolas" panose="020B0609020204030204" pitchFamily="49" charset="0"/>
              </a:rPr>
              <a:t>notas_aprobadas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a:solidFill>
                  <a:srgbClr val="0070C0"/>
                </a:solidFill>
                <a:latin typeface="Consolas" panose="020B0609020204030204" pitchFamily="49" charset="0"/>
              </a:rPr>
              <a:t>Si </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 == 0 Entonces</a:t>
            </a:r>
          </a:p>
          <a:p>
            <a:r>
              <a:rPr lang="es-MX" sz="1100" dirty="0">
                <a:solidFill>
                  <a:srgbClr val="0070C0"/>
                </a:solidFill>
                <a:latin typeface="Consolas" panose="020B0609020204030204" pitchFamily="49" charset="0"/>
              </a:rPr>
              <a:t>    Escribir("No hay estudiantes")</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notas_reprobadas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notas_aprobadas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suma_notas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2" name="4 Título">
            <a:extLst>
              <a:ext uri="{FF2B5EF4-FFF2-40B4-BE49-F238E27FC236}">
                <a16:creationId xmlns:a16="http://schemas.microsoft.com/office/drawing/2014/main" id="{2E9DD5D8-9F53-4E09-AF37-583F2BF7C1C4}"/>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6 - Bandera </a:t>
            </a:r>
          </a:p>
        </p:txBody>
      </p:sp>
      <p:sp>
        <p:nvSpPr>
          <p:cNvPr id="16" name="5 Rectángulo">
            <a:extLst>
              <a:ext uri="{FF2B5EF4-FFF2-40B4-BE49-F238E27FC236}">
                <a16:creationId xmlns:a16="http://schemas.microsoft.com/office/drawing/2014/main" id="{DA8FCDAF-5845-4C54-A2F7-5182CC7FAE75}"/>
              </a:ext>
            </a:extLst>
          </p:cNvPr>
          <p:cNvSpPr/>
          <p:nvPr/>
        </p:nvSpPr>
        <p:spPr>
          <a:xfrm>
            <a:off x="4979636" y="748147"/>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19" name="Tabla 9">
            <a:extLst>
              <a:ext uri="{FF2B5EF4-FFF2-40B4-BE49-F238E27FC236}">
                <a16:creationId xmlns:a16="http://schemas.microsoft.com/office/drawing/2014/main" id="{186ADA6E-E7C9-4484-B3F3-D2EB4305A20E}"/>
              </a:ext>
            </a:extLst>
          </p:cNvPr>
          <p:cNvGraphicFramePr>
            <a:graphicFrameLocks noGrp="1"/>
          </p:cNvGraphicFramePr>
          <p:nvPr>
            <p:extLst>
              <p:ext uri="{D42A27DB-BD31-4B8C-83A1-F6EECF244321}">
                <p14:modId xmlns:p14="http://schemas.microsoft.com/office/powerpoint/2010/main" val="1576550454"/>
              </p:ext>
            </p:extLst>
          </p:nvPr>
        </p:nvGraphicFramePr>
        <p:xfrm>
          <a:off x="5071421" y="1181003"/>
          <a:ext cx="3821060" cy="21611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20" name="5 Rectángulo">
            <a:extLst>
              <a:ext uri="{FF2B5EF4-FFF2-40B4-BE49-F238E27FC236}">
                <a16:creationId xmlns:a16="http://schemas.microsoft.com/office/drawing/2014/main" id="{8EB3B024-E1EB-4B71-8B0F-5ABB6F68DE6D}"/>
              </a:ext>
            </a:extLst>
          </p:cNvPr>
          <p:cNvSpPr/>
          <p:nvPr/>
        </p:nvSpPr>
        <p:spPr>
          <a:xfrm>
            <a:off x="4979636" y="3407636"/>
            <a:ext cx="2865514" cy="400110"/>
          </a:xfrm>
          <a:prstGeom prst="rect">
            <a:avLst/>
          </a:prstGeom>
        </p:spPr>
        <p:txBody>
          <a:bodyPr wrap="square">
            <a:spAutoFit/>
          </a:bodyPr>
          <a:lstStyle/>
          <a:p>
            <a:r>
              <a:rPr lang="es-CO" sz="2000" b="1" dirty="0"/>
              <a:t>Prueba de escritorio</a:t>
            </a:r>
            <a:endParaRPr lang="es-CO" sz="2000" dirty="0"/>
          </a:p>
        </p:txBody>
      </p:sp>
      <p:sp>
        <p:nvSpPr>
          <p:cNvPr id="21" name="5 Rectángulo">
            <a:extLst>
              <a:ext uri="{FF2B5EF4-FFF2-40B4-BE49-F238E27FC236}">
                <a16:creationId xmlns:a16="http://schemas.microsoft.com/office/drawing/2014/main" id="{81F11E5C-23DF-4E22-8261-A3525C7F4B06}"/>
              </a:ext>
            </a:extLst>
          </p:cNvPr>
          <p:cNvSpPr/>
          <p:nvPr/>
        </p:nvSpPr>
        <p:spPr>
          <a:xfrm>
            <a:off x="4979636" y="3807746"/>
            <a:ext cx="3912845" cy="523220"/>
          </a:xfrm>
          <a:prstGeom prst="rect">
            <a:avLst/>
          </a:prstGeom>
        </p:spPr>
        <p:txBody>
          <a:bodyPr wrap="square">
            <a:spAutoFit/>
          </a:bodyPr>
          <a:lstStyle/>
          <a:p>
            <a:r>
              <a:rPr lang="es-CO" sz="1400" dirty="0"/>
              <a:t>Realizar la prueba de escritorio para verificar que el algoritmo este bien planteado</a:t>
            </a:r>
          </a:p>
        </p:txBody>
      </p:sp>
      <p:sp>
        <p:nvSpPr>
          <p:cNvPr id="23" name="5 Rectángulo">
            <a:extLst>
              <a:ext uri="{FF2B5EF4-FFF2-40B4-BE49-F238E27FC236}">
                <a16:creationId xmlns:a16="http://schemas.microsoft.com/office/drawing/2014/main" id="{F951BB3C-AF74-4102-90D9-F06520DCFCEE}"/>
              </a:ext>
            </a:extLst>
          </p:cNvPr>
          <p:cNvSpPr/>
          <p:nvPr/>
        </p:nvSpPr>
        <p:spPr>
          <a:xfrm>
            <a:off x="5008930" y="5153777"/>
            <a:ext cx="3912845" cy="523220"/>
          </a:xfrm>
          <a:prstGeom prst="rect">
            <a:avLst/>
          </a:prstGeom>
          <a:solidFill>
            <a:schemeClr val="accent6">
              <a:lumMod val="20000"/>
              <a:lumOff val="80000"/>
            </a:schemeClr>
          </a:solidFill>
        </p:spPr>
        <p:txBody>
          <a:bodyPr wrap="square">
            <a:spAutoFit/>
          </a:bodyPr>
          <a:lstStyle/>
          <a:p>
            <a:r>
              <a:rPr lang="es-CO" sz="1400" b="1" dirty="0"/>
              <a:t>Nota</a:t>
            </a:r>
            <a:r>
              <a:rPr lang="es-CO" sz="1400" dirty="0"/>
              <a:t>: Este programa así como esta planeado tiene aun un bug grave. Encuéntrelo y corríjalo.</a:t>
            </a:r>
          </a:p>
        </p:txBody>
      </p:sp>
    </p:spTree>
    <p:extLst>
      <p:ext uri="{BB962C8B-B14F-4D97-AF65-F5344CB8AC3E}">
        <p14:creationId xmlns:p14="http://schemas.microsoft.com/office/powerpoint/2010/main" val="28174603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6 - Bandera</a:t>
            </a:r>
          </a:p>
        </p:txBody>
      </p:sp>
      <p:sp>
        <p:nvSpPr>
          <p:cNvPr id="5" name="5 Rectángulo">
            <a:extLst>
              <a:ext uri="{FF2B5EF4-FFF2-40B4-BE49-F238E27FC236}">
                <a16:creationId xmlns:a16="http://schemas.microsoft.com/office/drawing/2014/main" id="{CBC608E3-CA95-4AC3-95ED-5BCD63C2BBB0}"/>
              </a:ext>
            </a:extLst>
          </p:cNvPr>
          <p:cNvSpPr/>
          <p:nvPr/>
        </p:nvSpPr>
        <p:spPr>
          <a:xfrm>
            <a:off x="251520" y="782330"/>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15D5E856-E6AB-4779-BC05-11A7BF2EC367}"/>
              </a:ext>
            </a:extLst>
          </p:cNvPr>
          <p:cNvGraphicFramePr>
            <a:graphicFrameLocks noGrp="1"/>
          </p:cNvGraphicFramePr>
          <p:nvPr/>
        </p:nvGraphicFramePr>
        <p:xfrm>
          <a:off x="343305" y="1215186"/>
          <a:ext cx="3821060" cy="21611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12" name="5 Rectángulo">
            <a:extLst>
              <a:ext uri="{FF2B5EF4-FFF2-40B4-BE49-F238E27FC236}">
                <a16:creationId xmlns:a16="http://schemas.microsoft.com/office/drawing/2014/main" id="{EA948180-5CCD-477A-9904-BD40DFBEB57A}"/>
              </a:ext>
            </a:extLst>
          </p:cNvPr>
          <p:cNvSpPr/>
          <p:nvPr/>
        </p:nvSpPr>
        <p:spPr>
          <a:xfrm>
            <a:off x="4601910" y="1008001"/>
            <a:ext cx="2865514" cy="400110"/>
          </a:xfrm>
          <a:prstGeom prst="rect">
            <a:avLst/>
          </a:prstGeom>
        </p:spPr>
        <p:txBody>
          <a:bodyPr wrap="square">
            <a:spAutoFit/>
          </a:bodyPr>
          <a:lstStyle/>
          <a:p>
            <a:r>
              <a:rPr lang="es-CO" sz="2000" b="1" dirty="0"/>
              <a:t>Forma</a:t>
            </a:r>
            <a:endParaRPr lang="es-CO" sz="2000" dirty="0"/>
          </a:p>
        </p:txBody>
      </p:sp>
      <p:sp>
        <p:nvSpPr>
          <p:cNvPr id="13" name="CuadroTexto 12">
            <a:extLst>
              <a:ext uri="{FF2B5EF4-FFF2-40B4-BE49-F238E27FC236}">
                <a16:creationId xmlns:a16="http://schemas.microsoft.com/office/drawing/2014/main" id="{25FD1325-3B40-4799-863B-290DB4355F71}"/>
              </a:ext>
            </a:extLst>
          </p:cNvPr>
          <p:cNvSpPr txBox="1"/>
          <p:nvPr/>
        </p:nvSpPr>
        <p:spPr>
          <a:xfrm>
            <a:off x="4644008" y="1514101"/>
            <a:ext cx="3960440"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a:t>
            </a:r>
          </a:p>
          <a:p>
            <a:r>
              <a:rPr lang="es-MX" sz="1200" dirty="0">
                <a:latin typeface="Consolas" panose="020B0609020204030204" pitchFamily="49" charset="0"/>
              </a:rPr>
              <a:t>Leer(</a:t>
            </a:r>
            <a:r>
              <a:rPr lang="es-MX" sz="1200" dirty="0" err="1">
                <a:solidFill>
                  <a:srgbClr val="00B050"/>
                </a:solidFill>
                <a:latin typeface="Consolas" panose="020B0609020204030204" pitchFamily="49" charset="0"/>
              </a:rPr>
              <a:t>hay_estudiantes</a:t>
            </a:r>
            <a:r>
              <a:rPr lang="es-MX" sz="1200" dirty="0">
                <a:latin typeface="Consolas" panose="020B0609020204030204" pitchFamily="49" charset="0"/>
              </a:rPr>
              <a:t>) </a:t>
            </a:r>
          </a:p>
          <a:p>
            <a:r>
              <a:rPr lang="es-MX" sz="1200" dirty="0">
                <a:latin typeface="Consolas" panose="020B0609020204030204" pitchFamily="49" charset="0"/>
              </a:rPr>
              <a:t>Mientras (</a:t>
            </a:r>
            <a:r>
              <a:rPr lang="es-MX" sz="1200" dirty="0" err="1">
                <a:solidFill>
                  <a:srgbClr val="00B050"/>
                </a:solidFill>
                <a:latin typeface="Consolas" panose="020B0609020204030204" pitchFamily="49" charset="0"/>
              </a:rPr>
              <a:t>hay_estudiantes</a:t>
            </a:r>
            <a:r>
              <a:rPr lang="es-MX" sz="1200" dirty="0">
                <a:solidFill>
                  <a:srgbClr val="C00000"/>
                </a:solidFill>
                <a:latin typeface="Consolas" panose="020B0609020204030204" pitchFamily="49" charset="0"/>
              </a:rPr>
              <a:t> == 's'</a:t>
            </a:r>
            <a:r>
              <a:rPr lang="es-MX" sz="1200" dirty="0">
                <a:latin typeface="Consolas" panose="020B0609020204030204" pitchFamily="49" charset="0"/>
              </a:rPr>
              <a:t>) Haga</a:t>
            </a:r>
          </a:p>
          <a:p>
            <a:r>
              <a:rPr lang="es-MX" sz="1200" dirty="0">
                <a:latin typeface="Consolas" panose="020B0609020204030204" pitchFamily="49" charset="0"/>
              </a:rPr>
              <a:t>  Leer(nota)</a:t>
            </a:r>
          </a:p>
          <a:p>
            <a:r>
              <a:rPr lang="es-MX" sz="1200" dirty="0">
                <a:latin typeface="Consolas" panose="020B0609020204030204" pitchFamily="49" charset="0"/>
              </a:rPr>
              <a:t>  ...</a:t>
            </a:r>
          </a:p>
          <a:p>
            <a:r>
              <a:rPr lang="es-MX" sz="1200" dirty="0">
                <a:latin typeface="Consolas" panose="020B0609020204030204" pitchFamily="49" charset="0"/>
              </a:rPr>
              <a:t>  Leer(</a:t>
            </a:r>
            <a:r>
              <a:rPr lang="es-MX" sz="1200" dirty="0" err="1">
                <a:solidFill>
                  <a:srgbClr val="00B050"/>
                </a:solidFill>
                <a:latin typeface="Consolas" panose="020B0609020204030204" pitchFamily="49" charset="0"/>
              </a:rPr>
              <a:t>hay_est</a:t>
            </a:r>
            <a:r>
              <a:rPr lang="es-MX" sz="1200" dirty="0">
                <a:latin typeface="Consolas" panose="020B0609020204030204" pitchFamily="49" charset="0"/>
              </a:rPr>
              <a:t>)  </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4" name="5 Rectángulo">
            <a:extLst>
              <a:ext uri="{FF2B5EF4-FFF2-40B4-BE49-F238E27FC236}">
                <a16:creationId xmlns:a16="http://schemas.microsoft.com/office/drawing/2014/main" id="{30D9FF65-CD0A-4082-BE72-F5292077E8FA}"/>
              </a:ext>
            </a:extLst>
          </p:cNvPr>
          <p:cNvSpPr/>
          <p:nvPr/>
        </p:nvSpPr>
        <p:spPr>
          <a:xfrm>
            <a:off x="375120" y="4221088"/>
            <a:ext cx="1852431" cy="707886"/>
          </a:xfrm>
          <a:prstGeom prst="rect">
            <a:avLst/>
          </a:prstGeom>
        </p:spPr>
        <p:txBody>
          <a:bodyPr wrap="square">
            <a:spAutoFit/>
          </a:bodyPr>
          <a:lstStyle/>
          <a:p>
            <a:pPr algn="r"/>
            <a:r>
              <a:rPr lang="es-CO" sz="2000" b="1" dirty="0"/>
              <a:t>Resultado de ejecución</a:t>
            </a:r>
            <a:endParaRPr lang="es-CO" sz="2000" dirty="0"/>
          </a:p>
        </p:txBody>
      </p:sp>
      <p:sp>
        <p:nvSpPr>
          <p:cNvPr id="15" name="CuadroTexto 14">
            <a:extLst>
              <a:ext uri="{FF2B5EF4-FFF2-40B4-BE49-F238E27FC236}">
                <a16:creationId xmlns:a16="http://schemas.microsoft.com/office/drawing/2014/main" id="{DFCC8F17-3C0D-44B8-AAE1-786FF47669A3}"/>
              </a:ext>
            </a:extLst>
          </p:cNvPr>
          <p:cNvSpPr txBox="1"/>
          <p:nvPr/>
        </p:nvSpPr>
        <p:spPr>
          <a:xfrm>
            <a:off x="2700688" y="3529082"/>
            <a:ext cx="5919462" cy="304698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¿Hay estudiante? (s/n): s</a:t>
            </a:r>
          </a:p>
          <a:p>
            <a:r>
              <a:rPr lang="es-MX" sz="1200" dirty="0">
                <a:latin typeface="Consolas" panose="020B0609020204030204" pitchFamily="49" charset="0"/>
              </a:rPr>
              <a:t>Ingrese la nota del estudiante: 4</a:t>
            </a:r>
          </a:p>
          <a:p>
            <a:r>
              <a:rPr lang="es-MX" sz="1200" dirty="0">
                <a:latin typeface="Consolas" panose="020B0609020204030204" pitchFamily="49" charset="0"/>
              </a:rPr>
              <a:t>¿Hay estudiante? (s/n): s</a:t>
            </a:r>
          </a:p>
          <a:p>
            <a:r>
              <a:rPr lang="es-MX" sz="1200" dirty="0">
                <a:latin typeface="Consolas" panose="020B0609020204030204" pitchFamily="49" charset="0"/>
              </a:rPr>
              <a:t>Ingrese la nota del estudiante: 2.5</a:t>
            </a:r>
          </a:p>
          <a:p>
            <a:r>
              <a:rPr lang="es-MX" sz="1200" dirty="0">
                <a:latin typeface="Consolas" panose="020B0609020204030204" pitchFamily="49" charset="0"/>
              </a:rPr>
              <a:t>¿Hay estudiante? (s/n): s</a:t>
            </a:r>
          </a:p>
          <a:p>
            <a:r>
              <a:rPr lang="es-MX" sz="1200" dirty="0">
                <a:latin typeface="Consolas" panose="020B0609020204030204" pitchFamily="49" charset="0"/>
              </a:rPr>
              <a:t>Ingrese la nota del estudiante: 3.0</a:t>
            </a:r>
          </a:p>
          <a:p>
            <a:r>
              <a:rPr lang="es-MX" sz="1200" dirty="0">
                <a:latin typeface="Consolas" panose="020B0609020204030204" pitchFamily="49" charset="0"/>
              </a:rPr>
              <a:t>¿Hay estudiante? (s/n): s</a:t>
            </a:r>
          </a:p>
          <a:p>
            <a:r>
              <a:rPr lang="es-MX" sz="1200" dirty="0">
                <a:latin typeface="Consolas" panose="020B0609020204030204" pitchFamily="49" charset="0"/>
              </a:rPr>
              <a:t>Ingrese la nota del estudiante: 1.5</a:t>
            </a:r>
          </a:p>
          <a:p>
            <a:r>
              <a:rPr lang="es-MX" sz="1200" dirty="0">
                <a:latin typeface="Consolas" panose="020B0609020204030204" pitchFamily="49" charset="0"/>
              </a:rPr>
              <a:t>¿Hay estudiante? (s/n): s</a:t>
            </a:r>
          </a:p>
          <a:p>
            <a:r>
              <a:rPr lang="es-MX" sz="1200" dirty="0">
                <a:latin typeface="Consolas" panose="020B0609020204030204" pitchFamily="49" charset="0"/>
              </a:rPr>
              <a:t>Ingrese la nota del estudiante: 4.8</a:t>
            </a:r>
          </a:p>
          <a:p>
            <a:r>
              <a:rPr lang="es-MX" sz="1200" dirty="0">
                <a:latin typeface="Consolas" panose="020B0609020204030204" pitchFamily="49" charset="0"/>
              </a:rPr>
              <a:t>¿Hay estudiante? (s/n): n</a:t>
            </a:r>
          </a:p>
          <a:p>
            <a:r>
              <a:rPr lang="es-MX" sz="1200" dirty="0">
                <a:latin typeface="Consolas" panose="020B0609020204030204" pitchFamily="49" charset="0"/>
              </a:rPr>
              <a:t>Porcentaje de estudiantes que aprobaron: 60.0%</a:t>
            </a:r>
          </a:p>
          <a:p>
            <a:r>
              <a:rPr lang="es-MX" sz="1200" dirty="0">
                <a:latin typeface="Consolas" panose="020B0609020204030204" pitchFamily="49" charset="0"/>
              </a:rPr>
              <a:t>Porcentaje de estudiantes que reprobaron: 40.0%</a:t>
            </a:r>
          </a:p>
          <a:p>
            <a:r>
              <a:rPr lang="es-MX" sz="1200" dirty="0">
                <a:latin typeface="Consolas" panose="020B0609020204030204" pitchFamily="49" charset="0"/>
              </a:rPr>
              <a:t>Promedio de notas reprobadas: 2.0</a:t>
            </a:r>
          </a:p>
          <a:p>
            <a:r>
              <a:rPr lang="es-MX" sz="1200" dirty="0">
                <a:latin typeface="Consolas" panose="020B0609020204030204" pitchFamily="49" charset="0"/>
              </a:rPr>
              <a:t>Promedio de notas aprobadas: 3.9333333333333336</a:t>
            </a:r>
          </a:p>
          <a:p>
            <a:r>
              <a:rPr lang="es-MX" sz="1200" dirty="0">
                <a:latin typeface="Consolas" panose="020B0609020204030204" pitchFamily="49" charset="0"/>
              </a:rPr>
              <a:t>Promedio general de notas: 3.16</a:t>
            </a:r>
          </a:p>
        </p:txBody>
      </p:sp>
    </p:spTree>
    <p:extLst>
      <p:ext uri="{BB962C8B-B14F-4D97-AF65-F5344CB8AC3E}">
        <p14:creationId xmlns:p14="http://schemas.microsoft.com/office/powerpoint/2010/main" val="24825764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555560" cy="710952"/>
          </a:xfrm>
        </p:spPr>
        <p:txBody>
          <a:bodyPr>
            <a:normAutofit/>
          </a:bodyPr>
          <a:lstStyle/>
          <a:p>
            <a:r>
              <a:rPr lang="es-CO" dirty="0"/>
              <a:t>Bandera (flag)</a:t>
            </a:r>
          </a:p>
        </p:txBody>
      </p:sp>
      <p:sp>
        <p:nvSpPr>
          <p:cNvPr id="8" name="12 Rectángulo">
            <a:extLst>
              <a:ext uri="{FF2B5EF4-FFF2-40B4-BE49-F238E27FC236}">
                <a16:creationId xmlns:a16="http://schemas.microsoft.com/office/drawing/2014/main" id="{82A57857-FAA4-45DF-92AE-9DFBCBE367B3}"/>
              </a:ext>
            </a:extLst>
          </p:cNvPr>
          <p:cNvSpPr/>
          <p:nvPr/>
        </p:nvSpPr>
        <p:spPr>
          <a:xfrm>
            <a:off x="159074" y="1014286"/>
            <a:ext cx="8820512" cy="3323987"/>
          </a:xfrm>
          <a:prstGeom prst="rect">
            <a:avLst/>
          </a:prstGeom>
        </p:spPr>
        <p:txBody>
          <a:bodyPr wrap="square">
            <a:spAutoFit/>
          </a:bodyPr>
          <a:lstStyle/>
          <a:p>
            <a:pPr marL="342900" indent="-342900" rtl="0">
              <a:buFont typeface="Arial" panose="020B0604020202020204" pitchFamily="34" charset="0"/>
              <a:buChar char="•"/>
            </a:pPr>
            <a:r>
              <a:rPr lang="es-MX" sz="2000" dirty="0"/>
              <a:t>Es una variable que generalmente toma dos valores mutuamente excluyentes (por ejemplo, sí/no, encontrado/no encontrado).</a:t>
            </a:r>
          </a:p>
          <a:p>
            <a:pPr marL="342900" indent="-342900" rtl="0">
              <a:buFont typeface="Arial" panose="020B0604020202020204" pitchFamily="34" charset="0"/>
              <a:buChar char="•"/>
            </a:pPr>
            <a:r>
              <a:rPr lang="es-MX" sz="2000" dirty="0"/>
              <a:t>Al igual que el contador y el acumulador, debe inicializarse a un valor conocido antes de entrar al ciclo.</a:t>
            </a:r>
          </a:p>
          <a:p>
            <a:pPr marL="342900" indent="-342900" rtl="0">
              <a:buFont typeface="Arial" panose="020B0604020202020204" pitchFamily="34" charset="0"/>
              <a:buChar char="•"/>
            </a:pPr>
            <a:r>
              <a:rPr lang="es-MX" sz="2000" dirty="0"/>
              <a:t>Se usa de dos formas dentro de un ciclo:</a:t>
            </a:r>
          </a:p>
          <a:p>
            <a:pPr marL="800100" lvl="1" indent="-342900">
              <a:buFont typeface="Arial" panose="020B0604020202020204" pitchFamily="34" charset="0"/>
              <a:buChar char="•"/>
            </a:pPr>
            <a:r>
              <a:rPr lang="es-MX" b="1" dirty="0"/>
              <a:t>Como condición del ciclo</a:t>
            </a:r>
            <a:r>
              <a:rPr lang="es-MX" dirty="0"/>
              <a:t>, para decidir si sigue iterando o se detiene (La variable </a:t>
            </a:r>
            <a:r>
              <a:rPr lang="es-MX" sz="1600" dirty="0" err="1">
                <a:solidFill>
                  <a:srgbClr val="C00000"/>
                </a:solidFill>
                <a:latin typeface="Consolas" panose="020B0609020204030204" pitchFamily="49" charset="0"/>
              </a:rPr>
              <a:t>hay_estudiante</a:t>
            </a:r>
            <a:r>
              <a:rPr lang="es-MX" dirty="0"/>
              <a:t> del ejemplo 6 repite el ciclo mientras </a:t>
            </a:r>
            <a:r>
              <a:rPr lang="es-MX" sz="1600" dirty="0" err="1">
                <a:solidFill>
                  <a:srgbClr val="C00000"/>
                </a:solidFill>
                <a:latin typeface="Consolas" panose="020B0609020204030204" pitchFamily="49" charset="0"/>
              </a:rPr>
              <a:t>hay_estudiante</a:t>
            </a:r>
            <a:r>
              <a:rPr lang="es-MX" sz="1600" dirty="0">
                <a:solidFill>
                  <a:srgbClr val="C00000"/>
                </a:solidFill>
                <a:latin typeface="Consolas" panose="020B0609020204030204" pitchFamily="49" charset="0"/>
              </a:rPr>
              <a:t> == 's'</a:t>
            </a:r>
            <a:r>
              <a:rPr lang="es-MX" dirty="0"/>
              <a:t>).</a:t>
            </a:r>
          </a:p>
          <a:p>
            <a:pPr marL="800100" lvl="1" indent="-342900">
              <a:buFont typeface="Arial" panose="020B0604020202020204" pitchFamily="34" charset="0"/>
              <a:buChar char="•"/>
            </a:pPr>
            <a:r>
              <a:rPr lang="es-MX" b="1" dirty="0"/>
              <a:t>Como estado interno</a:t>
            </a:r>
            <a:r>
              <a:rPr lang="es-MX" dirty="0"/>
              <a:t>, para alternar o recordar una decisión dentro del cuerpo del ciclo, sin que necesariamente controle cuándo termina (variable </a:t>
            </a:r>
            <a:r>
              <a:rPr lang="es-MX" sz="1600" dirty="0">
                <a:solidFill>
                  <a:srgbClr val="C00000"/>
                </a:solidFill>
                <a:latin typeface="Consolas" panose="020B0609020204030204" pitchFamily="49" charset="0"/>
              </a:rPr>
              <a:t>flag_negativo </a:t>
            </a:r>
            <a:r>
              <a:rPr lang="es-MX" dirty="0"/>
              <a:t>del ejemplo 4 para alternar el signo en el ejemplo de la secuencia).</a:t>
            </a:r>
            <a:endParaRPr lang="es-MX" b="1" dirty="0"/>
          </a:p>
          <a:p>
            <a:pPr marL="342900" indent="-342900">
              <a:buFont typeface="Arial" panose="020B0604020202020204" pitchFamily="34" charset="0"/>
              <a:buChar char="•"/>
            </a:pPr>
            <a:r>
              <a:rPr lang="es-MX" sz="2000" dirty="0"/>
              <a:t>La siguiente tabla muestra valores típicos que puede tomar una bandera:</a:t>
            </a:r>
          </a:p>
        </p:txBody>
      </p:sp>
      <p:graphicFrame>
        <p:nvGraphicFramePr>
          <p:cNvPr id="2" name="Tabla 1">
            <a:extLst>
              <a:ext uri="{FF2B5EF4-FFF2-40B4-BE49-F238E27FC236}">
                <a16:creationId xmlns:a16="http://schemas.microsoft.com/office/drawing/2014/main" id="{BD8870FC-D2F2-4400-8C83-3D4420460822}"/>
              </a:ext>
            </a:extLst>
          </p:cNvPr>
          <p:cNvGraphicFramePr>
            <a:graphicFrameLocks noGrp="1"/>
          </p:cNvGraphicFramePr>
          <p:nvPr>
            <p:extLst>
              <p:ext uri="{D42A27DB-BD31-4B8C-83A1-F6EECF244321}">
                <p14:modId xmlns:p14="http://schemas.microsoft.com/office/powerpoint/2010/main" val="796824023"/>
              </p:ext>
            </p:extLst>
          </p:nvPr>
        </p:nvGraphicFramePr>
        <p:xfrm>
          <a:off x="1619672" y="4509120"/>
          <a:ext cx="6696744" cy="1859280"/>
        </p:xfrm>
        <a:graphic>
          <a:graphicData uri="http://schemas.openxmlformats.org/drawingml/2006/table">
            <a:tbl>
              <a:tblPr/>
              <a:tblGrid>
                <a:gridCol w="1656184">
                  <a:extLst>
                    <a:ext uri="{9D8B030D-6E8A-4147-A177-3AD203B41FA5}">
                      <a16:colId xmlns:a16="http://schemas.microsoft.com/office/drawing/2014/main" val="2859622574"/>
                    </a:ext>
                  </a:extLst>
                </a:gridCol>
                <a:gridCol w="5040560">
                  <a:extLst>
                    <a:ext uri="{9D8B030D-6E8A-4147-A177-3AD203B41FA5}">
                      <a16:colId xmlns:a16="http://schemas.microsoft.com/office/drawing/2014/main" val="1859945388"/>
                    </a:ext>
                  </a:extLst>
                </a:gridCol>
              </a:tblGrid>
              <a:tr h="0">
                <a:tc>
                  <a:txBody>
                    <a:bodyPr/>
                    <a:lstStyle/>
                    <a:p>
                      <a:r>
                        <a:rPr lang="es-CO" sz="2000" b="1" dirty="0">
                          <a:solidFill>
                            <a:schemeClr val="bg1"/>
                          </a:solidFill>
                        </a:rPr>
                        <a:t>Tipo de dato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sz="2000" b="1" dirty="0">
                          <a:solidFill>
                            <a:schemeClr val="bg1"/>
                          </a:solidFill>
                        </a:rPr>
                        <a:t>Posibles valores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744189180"/>
                  </a:ext>
                </a:extLst>
              </a:tr>
              <a:tr h="0">
                <a:tc>
                  <a:txBody>
                    <a:bodyPr/>
                    <a:lstStyle/>
                    <a:p>
                      <a:r>
                        <a:rPr lang="es-CO" sz="2000" b="1" dirty="0"/>
                        <a:t>Lógico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solidFill>
                            <a:srgbClr val="7030A0"/>
                          </a:solidFill>
                          <a:latin typeface="Consolas" panose="020B0609020204030204" pitchFamily="49" charset="0"/>
                        </a:rPr>
                        <a:t>True</a:t>
                      </a:r>
                      <a:r>
                        <a:rPr lang="es-CO" sz="2000" dirty="0"/>
                        <a:t> y </a:t>
                      </a:r>
                      <a:r>
                        <a:rPr lang="es-CO" sz="1800" kern="1200" dirty="0">
                          <a:solidFill>
                            <a:srgbClr val="7030A0"/>
                          </a:solidFill>
                          <a:latin typeface="Consolas" panose="020B0609020204030204" pitchFamily="49" charset="0"/>
                          <a:ea typeface="+mn-ea"/>
                          <a:cs typeface="+mn-cs"/>
                        </a:rPr>
                        <a:t>False</a:t>
                      </a:r>
                      <a:endParaRPr lang="es-CO" sz="2000" kern="1200" dirty="0">
                        <a:solidFill>
                          <a:srgbClr val="7030A0"/>
                        </a:solidFill>
                        <a:latin typeface="Consolas" panose="020B0609020204030204" pitchFamily="49"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6410066"/>
                  </a:ext>
                </a:extLst>
              </a:tr>
              <a:tr h="0">
                <a:tc>
                  <a:txBody>
                    <a:bodyPr/>
                    <a:lstStyle/>
                    <a:p>
                      <a:r>
                        <a:rPr lang="es-CO" sz="2000" b="1" dirty="0"/>
                        <a:t>Texto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800" dirty="0">
                          <a:solidFill>
                            <a:srgbClr val="0070C0"/>
                          </a:solidFill>
                          <a:latin typeface="Consolas" panose="020B0609020204030204" pitchFamily="49" charset="0"/>
                        </a:rPr>
                        <a:t>'S'</a:t>
                      </a:r>
                      <a:r>
                        <a:rPr lang="es-MX" sz="2000" dirty="0"/>
                        <a:t> y </a:t>
                      </a:r>
                      <a:r>
                        <a:rPr lang="es-MX" sz="1800" kern="1200" dirty="0">
                          <a:solidFill>
                            <a:srgbClr val="0070C0"/>
                          </a:solidFill>
                          <a:latin typeface="Consolas" panose="020B0609020204030204" pitchFamily="49" charset="0"/>
                          <a:ea typeface="+mn-ea"/>
                          <a:cs typeface="+mn-cs"/>
                        </a:rPr>
                        <a:t>'N'</a:t>
                      </a:r>
                      <a:r>
                        <a:rPr lang="es-MX" sz="2000" dirty="0"/>
                        <a:t>,</a:t>
                      </a:r>
                      <a:r>
                        <a:rPr lang="es-MX" sz="2000" kern="1200" dirty="0">
                          <a:solidFill>
                            <a:srgbClr val="0070C0"/>
                          </a:solidFill>
                          <a:latin typeface="Consolas" panose="020B0609020204030204" pitchFamily="49" charset="0"/>
                          <a:ea typeface="+mn-ea"/>
                          <a:cs typeface="+mn-cs"/>
                        </a:rPr>
                        <a:t> </a:t>
                      </a:r>
                      <a:r>
                        <a:rPr lang="es-MX" sz="1800" kern="1200" dirty="0">
                          <a:solidFill>
                            <a:srgbClr val="0070C0"/>
                          </a:solidFill>
                          <a:latin typeface="Consolas" panose="020B0609020204030204" pitchFamily="49" charset="0"/>
                          <a:ea typeface="+mn-ea"/>
                          <a:cs typeface="+mn-cs"/>
                        </a:rPr>
                        <a:t>'Sí'</a:t>
                      </a:r>
                      <a:r>
                        <a:rPr lang="es-MX" sz="2000" kern="1200" dirty="0">
                          <a:solidFill>
                            <a:schemeClr val="tx1"/>
                          </a:solidFill>
                          <a:latin typeface="+mn-lt"/>
                          <a:ea typeface="+mn-ea"/>
                          <a:cs typeface="+mn-cs"/>
                        </a:rPr>
                        <a:t> </a:t>
                      </a:r>
                      <a:r>
                        <a:rPr lang="es-MX" sz="2000" dirty="0"/>
                        <a:t>y </a:t>
                      </a:r>
                      <a:r>
                        <a:rPr lang="es-MX" sz="1800" kern="1200" dirty="0">
                          <a:solidFill>
                            <a:srgbClr val="0070C0"/>
                          </a:solidFill>
                          <a:latin typeface="Consolas" panose="020B0609020204030204" pitchFamily="49" charset="0"/>
                          <a:ea typeface="+mn-ea"/>
                          <a:cs typeface="+mn-cs"/>
                        </a:rPr>
                        <a:t>'No'</a:t>
                      </a:r>
                      <a:r>
                        <a:rPr lang="es-MX" sz="2000" dirty="0"/>
                        <a:t>, </a:t>
                      </a:r>
                      <a:r>
                        <a:rPr lang="es-MX" sz="1800" kern="1200" dirty="0">
                          <a:solidFill>
                            <a:srgbClr val="0070C0"/>
                          </a:solidFill>
                          <a:latin typeface="Consolas" panose="020B0609020204030204" pitchFamily="49" charset="0"/>
                          <a:ea typeface="+mn-ea"/>
                          <a:cs typeface="+mn-cs"/>
                        </a:rPr>
                        <a:t>'Encontrado'</a:t>
                      </a:r>
                      <a:r>
                        <a:rPr lang="es-MX" sz="2000" kern="1200" dirty="0">
                          <a:solidFill>
                            <a:srgbClr val="0070C0"/>
                          </a:solidFill>
                          <a:latin typeface="Consolas" panose="020B0609020204030204" pitchFamily="49" charset="0"/>
                          <a:ea typeface="+mn-ea"/>
                          <a:cs typeface="+mn-cs"/>
                        </a:rPr>
                        <a:t> </a:t>
                      </a:r>
                      <a:r>
                        <a:rPr lang="es-MX" sz="2000" dirty="0"/>
                        <a:t>y </a:t>
                      </a:r>
                      <a:r>
                        <a:rPr lang="es-MX" sz="1800" kern="1200" dirty="0">
                          <a:solidFill>
                            <a:srgbClr val="0070C0"/>
                          </a:solidFill>
                          <a:latin typeface="Consolas" panose="020B0609020204030204" pitchFamily="49" charset="0"/>
                          <a:ea typeface="+mn-ea"/>
                          <a:cs typeface="+mn-cs"/>
                        </a:rPr>
                        <a:t>'No encontrado'</a:t>
                      </a:r>
                      <a:endParaRPr lang="es-MX" sz="2000" kern="1200" dirty="0">
                        <a:solidFill>
                          <a:srgbClr val="0070C0"/>
                        </a:solidFill>
                        <a:latin typeface="Consolas" panose="020B0609020204030204" pitchFamily="49"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943256"/>
                  </a:ext>
                </a:extLst>
              </a:tr>
              <a:tr h="0">
                <a:tc>
                  <a:txBody>
                    <a:bodyPr/>
                    <a:lstStyle/>
                    <a:p>
                      <a:r>
                        <a:rPr lang="es-CO" sz="2000" b="1" dirty="0"/>
                        <a:t>Numérico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solidFill>
                            <a:srgbClr val="C00000"/>
                          </a:solidFill>
                          <a:latin typeface="Consolas" panose="020B0609020204030204" pitchFamily="49" charset="0"/>
                        </a:rPr>
                        <a:t>0</a:t>
                      </a:r>
                      <a:r>
                        <a:rPr lang="es-CO" sz="2000" dirty="0"/>
                        <a:t> y </a:t>
                      </a:r>
                      <a:r>
                        <a:rPr lang="es-CO" sz="1800" kern="1200" dirty="0">
                          <a:solidFill>
                            <a:srgbClr val="C00000"/>
                          </a:solidFill>
                          <a:latin typeface="Consolas" panose="020B0609020204030204" pitchFamily="49" charset="0"/>
                          <a:ea typeface="+mn-ea"/>
                          <a:cs typeface="+mn-cs"/>
                        </a:rPr>
                        <a:t>1</a:t>
                      </a:r>
                      <a:endParaRPr lang="es-CO" sz="2000" kern="1200" dirty="0">
                        <a:solidFill>
                          <a:srgbClr val="C00000"/>
                        </a:solidFill>
                        <a:latin typeface="Consolas" panose="020B0609020204030204" pitchFamily="49"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7229541"/>
                  </a:ext>
                </a:extLst>
              </a:tr>
            </a:tbl>
          </a:graphicData>
        </a:graphic>
      </p:graphicFrame>
    </p:spTree>
    <p:extLst>
      <p:ext uri="{BB962C8B-B14F-4D97-AF65-F5344CB8AC3E}">
        <p14:creationId xmlns:p14="http://schemas.microsoft.com/office/powerpoint/2010/main" val="2216491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6</a:t>
            </a:r>
          </a:p>
        </p:txBody>
      </p:sp>
      <p:sp>
        <p:nvSpPr>
          <p:cNvPr id="4" name="5 CuadroTexto">
            <a:extLst>
              <a:ext uri="{FF2B5EF4-FFF2-40B4-BE49-F238E27FC236}">
                <a16:creationId xmlns:a16="http://schemas.microsoft.com/office/drawing/2014/main" id="{0AFF77B4-4060-4028-A473-CEFF63FFD241}"/>
              </a:ext>
            </a:extLst>
          </p:cNvPr>
          <p:cNvSpPr txBox="1"/>
          <p:nvPr/>
        </p:nvSpPr>
        <p:spPr>
          <a:xfrm>
            <a:off x="251520" y="2630578"/>
            <a:ext cx="4016228" cy="3693319"/>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Nota del estudiante (centinela)</a:t>
            </a:r>
            <a:endParaRPr lang="es-CO" sz="1200" dirty="0"/>
          </a:p>
          <a:p>
            <a:r>
              <a:rPr lang="es-CO" sz="1400" b="1" dirty="0"/>
              <a:t>Datos de salida: </a:t>
            </a:r>
          </a:p>
          <a:p>
            <a:pPr marL="285750" indent="-285750">
              <a:buFont typeface="Arial" panose="020B0604020202020204" pitchFamily="34" charset="0"/>
              <a:buChar char="•"/>
            </a:pPr>
            <a:r>
              <a:rPr lang="es-CO" sz="1200" b="1" dirty="0"/>
              <a:t>Porcentaje de estudiantes que ganaron</a:t>
            </a:r>
          </a:p>
          <a:p>
            <a:pPr marL="285750" indent="-285750">
              <a:buFont typeface="Arial" panose="020B0604020202020204" pitchFamily="34" charset="0"/>
              <a:buChar char="•"/>
            </a:pPr>
            <a:r>
              <a:rPr lang="es-CO" sz="1200" b="1" dirty="0"/>
              <a:t>Porcentaje de estudiantes que perdieron</a:t>
            </a:r>
          </a:p>
          <a:p>
            <a:pPr marL="285750" indent="-285750">
              <a:buFont typeface="Arial" panose="020B0604020202020204" pitchFamily="34" charset="0"/>
              <a:buChar char="•"/>
            </a:pPr>
            <a:r>
              <a:rPr lang="es-CO" sz="1200" b="1" dirty="0"/>
              <a:t>Promedio de notas de los que ganaron</a:t>
            </a:r>
          </a:p>
          <a:p>
            <a:pPr marL="285750" indent="-285750">
              <a:buFont typeface="Arial" panose="020B0604020202020204" pitchFamily="34" charset="0"/>
              <a:buChar char="•"/>
            </a:pPr>
            <a:r>
              <a:rPr lang="es-CO" sz="1200" b="1" dirty="0"/>
              <a:t>Promedio de notas de los que perdieron</a:t>
            </a:r>
          </a:p>
          <a:p>
            <a:pPr marL="285750" indent="-285750">
              <a:buFont typeface="Arial" panose="020B0604020202020204" pitchFamily="34" charset="0"/>
              <a:buChar char="•"/>
            </a:pPr>
            <a:r>
              <a:rPr lang="es-CO" sz="1200" b="1" dirty="0"/>
              <a:t>Promedio de notas del curso.</a:t>
            </a:r>
          </a:p>
          <a:p>
            <a:r>
              <a:rPr lang="es-CO" sz="1400" b="1" dirty="0"/>
              <a:t>Definición de variables:</a:t>
            </a:r>
          </a:p>
          <a:p>
            <a:pPr marL="285750" indent="-285750">
              <a:buFont typeface="Arial" panose="020B0604020202020204" pitchFamily="34" charset="0"/>
              <a:buChar char="•"/>
            </a:pPr>
            <a:r>
              <a:rPr lang="es-CO" sz="1200" b="1" dirty="0"/>
              <a:t>Entrada/salida</a:t>
            </a:r>
            <a:r>
              <a:rPr lang="es-CO" sz="1200" dirty="0"/>
              <a:t>:</a:t>
            </a:r>
          </a:p>
          <a:p>
            <a:pPr marL="800100" lvl="1" indent="-342900">
              <a:buFont typeface="Arial" pitchFamily="34" charset="0"/>
              <a:buChar char="•"/>
            </a:pPr>
            <a:r>
              <a:rPr lang="es-CO" sz="1200" b="1" dirty="0">
                <a:latin typeface="Consolas" panose="020B0609020204030204" pitchFamily="49" charset="0"/>
              </a:rPr>
              <a:t>nota</a:t>
            </a:r>
            <a:r>
              <a:rPr lang="es-CO" sz="1200" b="1" dirty="0"/>
              <a:t>:</a:t>
            </a:r>
            <a:r>
              <a:rPr lang="es-CO" sz="1200" dirty="0"/>
              <a:t> Nota del estudiante (-1 significa que no hay mas notas).</a:t>
            </a:r>
          </a:p>
          <a:p>
            <a:pPr marL="800100" lvl="1" indent="-342900">
              <a:buFont typeface="Arial" pitchFamily="34" charset="0"/>
              <a:buChar char="•"/>
            </a:pPr>
            <a:r>
              <a:rPr lang="es-CO" sz="1200" b="1" dirty="0" err="1">
                <a:latin typeface="Consolas" panose="020B0609020204030204" pitchFamily="49" charset="0"/>
              </a:rPr>
              <a:t>p_ganadores</a:t>
            </a:r>
            <a:r>
              <a:rPr lang="es-CO" sz="1200" b="1" dirty="0"/>
              <a:t>:</a:t>
            </a:r>
            <a:r>
              <a:rPr lang="es-CO" sz="1200" dirty="0"/>
              <a:t> Porcentaje ganadores.</a:t>
            </a:r>
          </a:p>
          <a:p>
            <a:pPr marL="800100" lvl="1" indent="-342900">
              <a:buFont typeface="Arial" pitchFamily="34" charset="0"/>
              <a:buChar char="•"/>
            </a:pPr>
            <a:r>
              <a:rPr lang="es-CO" sz="1200" b="1" dirty="0" err="1">
                <a:latin typeface="Consolas" panose="020B0609020204030204" pitchFamily="49" charset="0"/>
              </a:rPr>
              <a:t>p_perdedores</a:t>
            </a:r>
            <a:r>
              <a:rPr lang="es-CO" sz="1200" b="1" dirty="0"/>
              <a:t>:</a:t>
            </a:r>
            <a:r>
              <a:rPr lang="es-CO" sz="1200" dirty="0"/>
              <a:t> Porcentaje perdedores.</a:t>
            </a:r>
          </a:p>
          <a:p>
            <a:pPr marL="800100" lvl="1" indent="-342900">
              <a:buFont typeface="Arial" pitchFamily="34" charset="0"/>
              <a:buChar char="•"/>
            </a:pPr>
            <a:r>
              <a:rPr lang="es-CO" sz="1200" b="1" dirty="0" err="1">
                <a:latin typeface="Consolas" panose="020B0609020204030204" pitchFamily="49" charset="0"/>
              </a:rPr>
              <a:t>prom_nota_reprobada</a:t>
            </a:r>
            <a:r>
              <a:rPr lang="es-CO" sz="1200" b="1" dirty="0"/>
              <a:t>:</a:t>
            </a:r>
            <a:r>
              <a:rPr lang="es-CO" sz="1200" dirty="0"/>
              <a:t> Promedio notas reprobadas.</a:t>
            </a:r>
          </a:p>
          <a:p>
            <a:pPr marL="800100" lvl="1" indent="-342900">
              <a:buFont typeface="Arial" pitchFamily="34" charset="0"/>
              <a:buChar char="•"/>
            </a:pPr>
            <a:r>
              <a:rPr lang="es-CO" sz="1200" b="1" dirty="0" err="1">
                <a:latin typeface="Consolas" panose="020B0609020204030204" pitchFamily="49" charset="0"/>
              </a:rPr>
              <a:t>prom_nota_aprobada</a:t>
            </a:r>
            <a:r>
              <a:rPr lang="es-CO" sz="1200" b="1" dirty="0"/>
              <a:t>:</a:t>
            </a:r>
            <a:r>
              <a:rPr lang="es-CO" sz="1200" dirty="0"/>
              <a:t> Promedio de notas aprobadas.</a:t>
            </a:r>
          </a:p>
          <a:p>
            <a:pPr marL="800100" lvl="1" indent="-342900">
              <a:buFont typeface="Arial" pitchFamily="34" charset="0"/>
              <a:buChar char="•"/>
            </a:pPr>
            <a:r>
              <a:rPr lang="es-CO" sz="1200" b="1" dirty="0" err="1">
                <a:latin typeface="Consolas" panose="020B0609020204030204" pitchFamily="49" charset="0"/>
              </a:rPr>
              <a:t>prom</a:t>
            </a:r>
            <a:r>
              <a:rPr lang="es-CO" sz="1200" b="1" dirty="0"/>
              <a:t>:</a:t>
            </a:r>
            <a:r>
              <a:rPr lang="es-CO" sz="1200" dirty="0"/>
              <a:t> Nota del estudiante</a:t>
            </a:r>
          </a:p>
        </p:txBody>
      </p:sp>
      <p:grpSp>
        <p:nvGrpSpPr>
          <p:cNvPr id="7" name="Grupo 6">
            <a:extLst>
              <a:ext uri="{FF2B5EF4-FFF2-40B4-BE49-F238E27FC236}">
                <a16:creationId xmlns:a16="http://schemas.microsoft.com/office/drawing/2014/main" id="{C5943E81-7B0B-4384-893B-081D1858AF5B}"/>
              </a:ext>
            </a:extLst>
          </p:cNvPr>
          <p:cNvGrpSpPr/>
          <p:nvPr/>
        </p:nvGrpSpPr>
        <p:grpSpPr>
          <a:xfrm>
            <a:off x="388239" y="1196752"/>
            <a:ext cx="8202163" cy="1353956"/>
            <a:chOff x="233375" y="1772816"/>
            <a:chExt cx="8202163" cy="1353956"/>
          </a:xfrm>
        </p:grpSpPr>
        <p:grpSp>
          <p:nvGrpSpPr>
            <p:cNvPr id="9" name="5 Grupo">
              <a:extLst>
                <a:ext uri="{FF2B5EF4-FFF2-40B4-BE49-F238E27FC236}">
                  <a16:creationId xmlns:a16="http://schemas.microsoft.com/office/drawing/2014/main" id="{8FE9501D-19B2-420E-8A81-14427FA16D0F}"/>
                </a:ext>
              </a:extLst>
            </p:cNvPr>
            <p:cNvGrpSpPr/>
            <p:nvPr/>
          </p:nvGrpSpPr>
          <p:grpSpPr>
            <a:xfrm>
              <a:off x="233375" y="1772816"/>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 name="10 Rectángulo">
              <a:extLst>
                <a:ext uri="{FF2B5EF4-FFF2-40B4-BE49-F238E27FC236}">
                  <a16:creationId xmlns:a16="http://schemas.microsoft.com/office/drawing/2014/main" id="{A599FC2C-8781-48C6-AFD4-F86EC2C1085F}"/>
                </a:ext>
              </a:extLst>
            </p:cNvPr>
            <p:cNvSpPr/>
            <p:nvPr/>
          </p:nvSpPr>
          <p:spPr>
            <a:xfrm>
              <a:off x="3136637" y="2628009"/>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grpSp>
      <p:sp>
        <p:nvSpPr>
          <p:cNvPr id="19" name="5 CuadroTexto">
            <a:extLst>
              <a:ext uri="{FF2B5EF4-FFF2-40B4-BE49-F238E27FC236}">
                <a16:creationId xmlns:a16="http://schemas.microsoft.com/office/drawing/2014/main" id="{1D7C1E8D-4FE2-4F9A-9CBA-F480756E5707}"/>
              </a:ext>
            </a:extLst>
          </p:cNvPr>
          <p:cNvSpPr txBox="1"/>
          <p:nvPr/>
        </p:nvSpPr>
        <p:spPr>
          <a:xfrm>
            <a:off x="4396594" y="2653792"/>
            <a:ext cx="4193807" cy="2523768"/>
          </a:xfrm>
          <a:prstGeom prst="rect">
            <a:avLst/>
          </a:prstGeom>
          <a:noFill/>
        </p:spPr>
        <p:txBody>
          <a:bodyPr wrap="square" rtlCol="0">
            <a:spAutoFit/>
          </a:bodyPr>
          <a:lstStyle/>
          <a:p>
            <a:r>
              <a:rPr lang="es-CO" sz="1400" b="1" dirty="0"/>
              <a:t>Definición de variables:</a:t>
            </a:r>
          </a:p>
          <a:p>
            <a:pPr marL="342900" indent="-342900">
              <a:buFont typeface="Arial" pitchFamily="34" charset="0"/>
              <a:buChar char="•"/>
            </a:pPr>
            <a:r>
              <a:rPr lang="es-CO" sz="1200" b="1" dirty="0"/>
              <a:t>Variables auxiliares</a:t>
            </a:r>
            <a:r>
              <a:rPr lang="es-CO" sz="1200" dirty="0"/>
              <a:t>:</a:t>
            </a:r>
          </a:p>
          <a:p>
            <a:pPr marL="800100" lvl="1" indent="-342900">
              <a:buFont typeface="Arial" pitchFamily="34" charset="0"/>
              <a:buChar char="•"/>
            </a:pPr>
            <a:r>
              <a:rPr lang="es-CO" sz="1200" b="1" dirty="0" err="1">
                <a:latin typeface="Consolas" panose="020B0609020204030204" pitchFamily="49" charset="0"/>
              </a:rPr>
              <a:t>notas_reprobadas</a:t>
            </a:r>
            <a:r>
              <a:rPr lang="es-CO" sz="1200" b="1" dirty="0"/>
              <a:t>:</a:t>
            </a:r>
            <a:r>
              <a:rPr lang="es-CO" sz="1200" dirty="0"/>
              <a:t> Numero de notas reprobadas (contador)</a:t>
            </a:r>
          </a:p>
          <a:p>
            <a:pPr marL="800100" lvl="1" indent="-342900">
              <a:buFont typeface="Arial" pitchFamily="34" charset="0"/>
              <a:buChar char="•"/>
            </a:pPr>
            <a:r>
              <a:rPr lang="es-CO" sz="1200" b="1" dirty="0" err="1">
                <a:latin typeface="Consolas" panose="020B0609020204030204" pitchFamily="49" charset="0"/>
              </a:rPr>
              <a:t>suma_reprobadas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notas_aprobadas</a:t>
            </a:r>
            <a:r>
              <a:rPr lang="es-CO" sz="1200" b="1" dirty="0"/>
              <a:t>:</a:t>
            </a:r>
            <a:r>
              <a:rPr lang="es-CO" sz="1200" dirty="0"/>
              <a:t> Numero de notas aprobadas (contador)</a:t>
            </a:r>
          </a:p>
          <a:p>
            <a:pPr marL="800100" lvl="1" indent="-342900">
              <a:buFont typeface="Arial" pitchFamily="34" charset="0"/>
              <a:buChar char="•"/>
            </a:pPr>
            <a:r>
              <a:rPr lang="es-CO" sz="1200" b="1" dirty="0" err="1">
                <a:latin typeface="Consolas" panose="020B0609020204030204" pitchFamily="49" charset="0"/>
              </a:rPr>
              <a:t>suma_aprobadas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num_notas</a:t>
            </a:r>
            <a:r>
              <a:rPr lang="es-CO" sz="1200" b="1" dirty="0"/>
              <a:t>:</a:t>
            </a:r>
            <a:r>
              <a:rPr lang="es-CO" sz="1200" dirty="0"/>
              <a:t> Numero de notas registradas.</a:t>
            </a:r>
          </a:p>
          <a:p>
            <a:pPr marL="800100" lvl="1" indent="-342900">
              <a:buFont typeface="Arial" pitchFamily="34" charset="0"/>
              <a:buChar char="•"/>
            </a:pPr>
            <a:r>
              <a:rPr lang="es-CO" sz="1200" b="1" dirty="0" err="1">
                <a:latin typeface="Consolas" panose="020B0609020204030204" pitchFamily="49" charset="0"/>
              </a:rPr>
              <a:t>suma_notas</a:t>
            </a:r>
            <a:r>
              <a:rPr lang="es-CO" sz="1200" b="1" dirty="0"/>
              <a:t>:</a:t>
            </a:r>
            <a:r>
              <a:rPr lang="es-CO" sz="1200" dirty="0"/>
              <a:t> Suma de las notas registradas.</a:t>
            </a:r>
          </a:p>
          <a:p>
            <a:pPr marL="800100" lvl="1" indent="-342900">
              <a:buFont typeface="Arial" pitchFamily="34" charset="0"/>
              <a:buChar char="•"/>
            </a:pPr>
            <a:endParaRPr lang="es-CO" sz="1200" dirty="0"/>
          </a:p>
        </p:txBody>
      </p:sp>
    </p:spTree>
    <p:extLst>
      <p:ext uri="{BB962C8B-B14F-4D97-AF65-F5344CB8AC3E}">
        <p14:creationId xmlns:p14="http://schemas.microsoft.com/office/powerpoint/2010/main" val="13450402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6</a:t>
            </a:r>
          </a:p>
        </p:txBody>
      </p:sp>
      <p:grpSp>
        <p:nvGrpSpPr>
          <p:cNvPr id="2" name="Grupo 1">
            <a:extLst>
              <a:ext uri="{FF2B5EF4-FFF2-40B4-BE49-F238E27FC236}">
                <a16:creationId xmlns:a16="http://schemas.microsoft.com/office/drawing/2014/main" id="{42121BD4-1753-4AE5-983B-5A26A45B380F}"/>
              </a:ext>
            </a:extLst>
          </p:cNvPr>
          <p:cNvGrpSpPr/>
          <p:nvPr/>
        </p:nvGrpSpPr>
        <p:grpSpPr>
          <a:xfrm>
            <a:off x="122269" y="1484784"/>
            <a:ext cx="8966864" cy="3689141"/>
            <a:chOff x="122269" y="1155110"/>
            <a:chExt cx="8966864" cy="3689141"/>
          </a:xfrm>
        </p:grpSpPr>
        <p:grpSp>
          <p:nvGrpSpPr>
            <p:cNvPr id="9" name="5 Grupo">
              <a:extLst>
                <a:ext uri="{FF2B5EF4-FFF2-40B4-BE49-F238E27FC236}">
                  <a16:creationId xmlns:a16="http://schemas.microsoft.com/office/drawing/2014/main" id="{8FE9501D-19B2-420E-8A81-14427FA16D0F}"/>
                </a:ext>
              </a:extLst>
            </p:cNvPr>
            <p:cNvGrpSpPr/>
            <p:nvPr/>
          </p:nvGrpSpPr>
          <p:grpSpPr>
            <a:xfrm>
              <a:off x="122269" y="1155110"/>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0" name="1 Rectángulo">
              <a:extLst>
                <a:ext uri="{FF2B5EF4-FFF2-40B4-BE49-F238E27FC236}">
                  <a16:creationId xmlns:a16="http://schemas.microsoft.com/office/drawing/2014/main" id="{D1398223-11E8-42D2-AEF3-AD54D2C419C3}"/>
                </a:ext>
              </a:extLst>
            </p:cNvPr>
            <p:cNvSpPr/>
            <p:nvPr/>
          </p:nvSpPr>
          <p:spPr>
            <a:xfrm>
              <a:off x="7175891" y="1771538"/>
              <a:ext cx="1119217"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p_aprobaron</a:t>
              </a:r>
              <a:endParaRPr lang="es-CO" sz="1200" dirty="0">
                <a:latin typeface="Consolas" panose="020B0609020204030204" pitchFamily="49" charset="0"/>
                <a:cs typeface="Consolas" panose="020B0609020204030204" pitchFamily="49" charset="0"/>
              </a:endParaRPr>
            </a:p>
          </p:txBody>
        </p:sp>
        <p:sp>
          <p:nvSpPr>
            <p:cNvPr id="11" name="10 Rectángulo">
              <a:extLst>
                <a:ext uri="{FF2B5EF4-FFF2-40B4-BE49-F238E27FC236}">
                  <a16:creationId xmlns:a16="http://schemas.microsoft.com/office/drawing/2014/main" id="{A599FC2C-8781-48C6-AFD4-F86EC2C1085F}"/>
                </a:ext>
              </a:extLst>
            </p:cNvPr>
            <p:cNvSpPr/>
            <p:nvPr/>
          </p:nvSpPr>
          <p:spPr>
            <a:xfrm>
              <a:off x="3167758" y="2745541"/>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Variables auxiliares</a:t>
              </a:r>
            </a:p>
          </p:txBody>
        </p:sp>
        <p:sp>
          <p:nvSpPr>
            <p:cNvPr id="12" name="1 Rectángulo">
              <a:extLst>
                <a:ext uri="{FF2B5EF4-FFF2-40B4-BE49-F238E27FC236}">
                  <a16:creationId xmlns:a16="http://schemas.microsoft.com/office/drawing/2014/main" id="{C6B5573E-DBD7-4223-86BE-BEC503A9E92F}"/>
                </a:ext>
              </a:extLst>
            </p:cNvPr>
            <p:cNvSpPr/>
            <p:nvPr/>
          </p:nvSpPr>
          <p:spPr>
            <a:xfrm>
              <a:off x="3563888" y="3228197"/>
              <a:ext cx="1544012"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notas_reprobadas</a:t>
              </a:r>
              <a:endParaRPr lang="es-CO" sz="1200" dirty="0">
                <a:latin typeface="Consolas" panose="020B0609020204030204" pitchFamily="49" charset="0"/>
                <a:cs typeface="Consolas" panose="020B0609020204030204" pitchFamily="49" charset="0"/>
              </a:endParaRPr>
            </a:p>
          </p:txBody>
        </p:sp>
        <p:sp>
          <p:nvSpPr>
            <p:cNvPr id="20" name="1 Rectángulo">
              <a:extLst>
                <a:ext uri="{FF2B5EF4-FFF2-40B4-BE49-F238E27FC236}">
                  <a16:creationId xmlns:a16="http://schemas.microsoft.com/office/drawing/2014/main" id="{0C86435B-112B-4DBD-B639-6CE51F189FE3}"/>
                </a:ext>
              </a:extLst>
            </p:cNvPr>
            <p:cNvSpPr/>
            <p:nvPr/>
          </p:nvSpPr>
          <p:spPr>
            <a:xfrm>
              <a:off x="513284" y="1759321"/>
              <a:ext cx="524503"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a:t>
              </a:r>
            </a:p>
          </p:txBody>
        </p:sp>
        <p:sp>
          <p:nvSpPr>
            <p:cNvPr id="21" name="1 Rectángulo">
              <a:extLst>
                <a:ext uri="{FF2B5EF4-FFF2-40B4-BE49-F238E27FC236}">
                  <a16:creationId xmlns:a16="http://schemas.microsoft.com/office/drawing/2014/main" id="{3B2C50F9-587E-446F-83C8-BDF0086F3C88}"/>
                </a:ext>
              </a:extLst>
            </p:cNvPr>
            <p:cNvSpPr/>
            <p:nvPr/>
          </p:nvSpPr>
          <p:spPr>
            <a:xfrm>
              <a:off x="7164288" y="2259022"/>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prom_nota_reprobada</a:t>
              </a:r>
              <a:endParaRPr lang="es-CO" sz="1200" dirty="0">
                <a:latin typeface="Consolas" panose="020B0609020204030204" pitchFamily="49" charset="0"/>
                <a:cs typeface="Consolas" panose="020B0609020204030204" pitchFamily="49" charset="0"/>
              </a:endParaRPr>
            </a:p>
          </p:txBody>
        </p:sp>
        <p:sp>
          <p:nvSpPr>
            <p:cNvPr id="22" name="1 Rectángulo">
              <a:extLst>
                <a:ext uri="{FF2B5EF4-FFF2-40B4-BE49-F238E27FC236}">
                  <a16:creationId xmlns:a16="http://schemas.microsoft.com/office/drawing/2014/main" id="{24AAC88C-EDFD-4BDF-93B4-69386E31AA14}"/>
                </a:ext>
              </a:extLst>
            </p:cNvPr>
            <p:cNvSpPr/>
            <p:nvPr/>
          </p:nvSpPr>
          <p:spPr>
            <a:xfrm>
              <a:off x="7164288" y="2010010"/>
              <a:ext cx="1204176"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p_reprobaron</a:t>
              </a:r>
              <a:endParaRPr lang="es-CO" sz="1200" dirty="0">
                <a:latin typeface="Consolas" panose="020B0609020204030204" pitchFamily="49" charset="0"/>
                <a:cs typeface="Consolas" panose="020B0609020204030204" pitchFamily="49" charset="0"/>
              </a:endParaRPr>
            </a:p>
          </p:txBody>
        </p:sp>
        <p:sp>
          <p:nvSpPr>
            <p:cNvPr id="23" name="1 Rectángulo">
              <a:extLst>
                <a:ext uri="{FF2B5EF4-FFF2-40B4-BE49-F238E27FC236}">
                  <a16:creationId xmlns:a16="http://schemas.microsoft.com/office/drawing/2014/main" id="{03A24B10-0B74-4597-ABFC-A6C64FB4EC49}"/>
                </a:ext>
              </a:extLst>
            </p:cNvPr>
            <p:cNvSpPr/>
            <p:nvPr/>
          </p:nvSpPr>
          <p:spPr>
            <a:xfrm>
              <a:off x="7177953" y="2525481"/>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prom_nota_aprobada</a:t>
              </a:r>
              <a:endParaRPr lang="es-CO" sz="1200" dirty="0">
                <a:latin typeface="Consolas" panose="020B0609020204030204" pitchFamily="49" charset="0"/>
                <a:cs typeface="Consolas" panose="020B0609020204030204" pitchFamily="49" charset="0"/>
              </a:endParaRPr>
            </a:p>
          </p:txBody>
        </p:sp>
        <p:sp>
          <p:nvSpPr>
            <p:cNvPr id="24" name="1 Rectángulo">
              <a:extLst>
                <a:ext uri="{FF2B5EF4-FFF2-40B4-BE49-F238E27FC236}">
                  <a16:creationId xmlns:a16="http://schemas.microsoft.com/office/drawing/2014/main" id="{ACAAE8C9-A755-4A05-82D0-15B03F4A99D9}"/>
                </a:ext>
              </a:extLst>
            </p:cNvPr>
            <p:cNvSpPr/>
            <p:nvPr/>
          </p:nvSpPr>
          <p:spPr>
            <a:xfrm>
              <a:off x="7167676" y="2779496"/>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a:t>
              </a:r>
              <a:endParaRPr lang="es-CO" sz="1200" dirty="0">
                <a:latin typeface="Consolas" panose="020B0609020204030204" pitchFamily="49" charset="0"/>
                <a:cs typeface="Consolas" panose="020B0609020204030204" pitchFamily="49" charset="0"/>
              </a:endParaRPr>
            </a:p>
          </p:txBody>
        </p:sp>
        <p:sp>
          <p:nvSpPr>
            <p:cNvPr id="25" name="10 Rectángulo">
              <a:extLst>
                <a:ext uri="{FF2B5EF4-FFF2-40B4-BE49-F238E27FC236}">
                  <a16:creationId xmlns:a16="http://schemas.microsoft.com/office/drawing/2014/main" id="{28D00F6F-FEF1-4AC2-B61B-4F94924076AB}"/>
                </a:ext>
              </a:extLst>
            </p:cNvPr>
            <p:cNvSpPr/>
            <p:nvPr/>
          </p:nvSpPr>
          <p:spPr>
            <a:xfrm>
              <a:off x="3167757" y="2007992"/>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Constantes</a:t>
              </a:r>
            </a:p>
          </p:txBody>
        </p:sp>
        <p:sp>
          <p:nvSpPr>
            <p:cNvPr id="26" name="1 Rectángulo">
              <a:extLst>
                <a:ext uri="{FF2B5EF4-FFF2-40B4-BE49-F238E27FC236}">
                  <a16:creationId xmlns:a16="http://schemas.microsoft.com/office/drawing/2014/main" id="{2038A0DC-3DBE-4D08-B99D-C81A64192003}"/>
                </a:ext>
              </a:extLst>
            </p:cNvPr>
            <p:cNvSpPr/>
            <p:nvPr/>
          </p:nvSpPr>
          <p:spPr>
            <a:xfrm>
              <a:off x="3412382" y="2479595"/>
              <a:ext cx="2112186"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NOTA_MINIMA = 3.0</a:t>
              </a:r>
            </a:p>
          </p:txBody>
        </p:sp>
        <p:sp>
          <p:nvSpPr>
            <p:cNvPr id="27" name="1 Rectángulo">
              <a:extLst>
                <a:ext uri="{FF2B5EF4-FFF2-40B4-BE49-F238E27FC236}">
                  <a16:creationId xmlns:a16="http://schemas.microsoft.com/office/drawing/2014/main" id="{DD8EBF09-5B86-4E31-845E-25EE4E914911}"/>
                </a:ext>
              </a:extLst>
            </p:cNvPr>
            <p:cNvSpPr/>
            <p:nvPr/>
          </p:nvSpPr>
          <p:spPr>
            <a:xfrm>
              <a:off x="3563888" y="3483090"/>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notas_aprobadas</a:t>
              </a:r>
              <a:endParaRPr lang="es-CO" sz="1200" dirty="0">
                <a:latin typeface="Consolas" panose="020B0609020204030204" pitchFamily="49" charset="0"/>
                <a:cs typeface="Consolas" panose="020B0609020204030204" pitchFamily="49" charset="0"/>
              </a:endParaRPr>
            </a:p>
          </p:txBody>
        </p:sp>
        <p:sp>
          <p:nvSpPr>
            <p:cNvPr id="28" name="1 Rectángulo">
              <a:extLst>
                <a:ext uri="{FF2B5EF4-FFF2-40B4-BE49-F238E27FC236}">
                  <a16:creationId xmlns:a16="http://schemas.microsoft.com/office/drawing/2014/main" id="{40E934AA-0485-4C51-A363-779A0FA8C931}"/>
                </a:ext>
              </a:extLst>
            </p:cNvPr>
            <p:cNvSpPr/>
            <p:nvPr/>
          </p:nvSpPr>
          <p:spPr>
            <a:xfrm>
              <a:off x="3563888" y="3752626"/>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suma_reprobadas</a:t>
              </a:r>
              <a:endParaRPr lang="es-CO" sz="1200" dirty="0">
                <a:latin typeface="Consolas" panose="020B0609020204030204" pitchFamily="49" charset="0"/>
                <a:cs typeface="Consolas" panose="020B0609020204030204" pitchFamily="49" charset="0"/>
              </a:endParaRPr>
            </a:p>
          </p:txBody>
        </p:sp>
        <p:sp>
          <p:nvSpPr>
            <p:cNvPr id="29" name="1 Rectángulo">
              <a:extLst>
                <a:ext uri="{FF2B5EF4-FFF2-40B4-BE49-F238E27FC236}">
                  <a16:creationId xmlns:a16="http://schemas.microsoft.com/office/drawing/2014/main" id="{F3EAF573-8220-4313-80C9-F2BE1AF3C4FF}"/>
                </a:ext>
              </a:extLst>
            </p:cNvPr>
            <p:cNvSpPr/>
            <p:nvPr/>
          </p:nvSpPr>
          <p:spPr>
            <a:xfrm>
              <a:off x="3563888" y="4013105"/>
              <a:ext cx="137409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suma_aprobadas</a:t>
              </a:r>
              <a:endParaRPr lang="es-CO" sz="1200" dirty="0">
                <a:latin typeface="Consolas" panose="020B0609020204030204" pitchFamily="49" charset="0"/>
                <a:cs typeface="Consolas" panose="020B0609020204030204" pitchFamily="49" charset="0"/>
              </a:endParaRPr>
            </a:p>
          </p:txBody>
        </p:sp>
        <p:sp>
          <p:nvSpPr>
            <p:cNvPr id="30" name="1 Rectángulo">
              <a:extLst>
                <a:ext uri="{FF2B5EF4-FFF2-40B4-BE49-F238E27FC236}">
                  <a16:creationId xmlns:a16="http://schemas.microsoft.com/office/drawing/2014/main" id="{CD1C955F-F65D-4DA6-B23B-C422F3C2F58C}"/>
                </a:ext>
              </a:extLst>
            </p:cNvPr>
            <p:cNvSpPr/>
            <p:nvPr/>
          </p:nvSpPr>
          <p:spPr>
            <a:xfrm>
              <a:off x="3563888" y="4290253"/>
              <a:ext cx="1374094"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suma_notas</a:t>
              </a:r>
              <a:endParaRPr lang="es-CO" sz="1200" dirty="0">
                <a:latin typeface="Consolas" panose="020B0609020204030204" pitchFamily="49" charset="0"/>
                <a:cs typeface="Consolas" panose="020B0609020204030204" pitchFamily="49" charset="0"/>
              </a:endParaRPr>
            </a:p>
          </p:txBody>
        </p:sp>
        <p:sp>
          <p:nvSpPr>
            <p:cNvPr id="31" name="1 Rectángulo">
              <a:extLst>
                <a:ext uri="{FF2B5EF4-FFF2-40B4-BE49-F238E27FC236}">
                  <a16:creationId xmlns:a16="http://schemas.microsoft.com/office/drawing/2014/main" id="{E1B82EF1-9C69-4EC4-91FE-71238A4901B3}"/>
                </a:ext>
              </a:extLst>
            </p:cNvPr>
            <p:cNvSpPr/>
            <p:nvPr/>
          </p:nvSpPr>
          <p:spPr>
            <a:xfrm>
              <a:off x="3606368" y="4567252"/>
              <a:ext cx="1374094"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num_notas</a:t>
              </a:r>
              <a:endParaRPr lang="es-CO" sz="1200" dirty="0">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33132488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107504" y="764704"/>
            <a:ext cx="4659716" cy="5509200"/>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latin typeface="Consolas" panose="020B0609020204030204" pitchFamily="49" charset="0"/>
              </a:rPr>
              <a:t>  Leer(nota)</a:t>
            </a:r>
          </a:p>
          <a:p>
            <a:r>
              <a:rPr lang="es-MX" sz="1100" dirty="0">
                <a:solidFill>
                  <a:srgbClr val="C00000"/>
                </a:solidFill>
                <a:latin typeface="Consolas" panose="020B0609020204030204" pitchFamily="49" charset="0"/>
              </a:rPr>
              <a:t>  Mientras (</a:t>
            </a:r>
            <a:r>
              <a:rPr lang="es-MX" sz="1100" dirty="0" err="1">
                <a:solidFill>
                  <a:srgbClr val="C00000"/>
                </a:solidFill>
                <a:latin typeface="Consolas" panose="020B0609020204030204" pitchFamily="49" charset="0"/>
              </a:rPr>
              <a:t>hay_estudiante</a:t>
            </a:r>
            <a:r>
              <a:rPr lang="es-MX" sz="1100" dirty="0">
                <a:solidFill>
                  <a:srgbClr val="C00000"/>
                </a:solidFill>
                <a:latin typeface="Consolas" panose="020B0609020204030204" pitchFamily="49" charset="0"/>
              </a:rPr>
              <a:t> != -1) Haga    </a:t>
            </a:r>
          </a:p>
          <a:p>
            <a:r>
              <a:rPr lang="es-MX" sz="1100" dirty="0">
                <a:solidFill>
                  <a:srgbClr val="00B050"/>
                </a:solidFill>
                <a:latin typeface="Consolas" panose="020B0609020204030204" pitchFamily="49" charset="0"/>
              </a:rPr>
              <a:t>    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00B050"/>
                </a:solidFill>
                <a:latin typeface="Consolas" panose="020B0609020204030204" pitchFamily="49" charset="0"/>
              </a:rPr>
              <a:t>     Leer(nota)</a:t>
            </a:r>
          </a:p>
          <a:p>
            <a:r>
              <a:rPr lang="es-MX" sz="1100" dirty="0">
                <a:solidFill>
                  <a:srgbClr val="C00000"/>
                </a:solidFill>
                <a:latin typeface="Consolas" panose="020B0609020204030204" pitchFamily="49" charset="0"/>
              </a:rPr>
              <a:t>  Fin_Mientras</a:t>
            </a:r>
          </a:p>
          <a:p>
            <a:r>
              <a:rPr lang="es-MX" sz="1100" dirty="0">
                <a:solidFill>
                  <a:srgbClr val="C00000"/>
                </a:solidFill>
                <a:latin typeface="Consolas" panose="020B0609020204030204" pitchFamily="49" charset="0"/>
              </a:rPr>
              <a:t>  </a:t>
            </a:r>
            <a:r>
              <a:rPr lang="es-MX" sz="1100" dirty="0" err="1">
                <a:latin typeface="Consolas" panose="020B0609020204030204" pitchFamily="49" charset="0"/>
              </a:rPr>
              <a:t>num_notas</a:t>
            </a:r>
            <a:r>
              <a:rPr lang="es-MX" sz="1100" dirty="0">
                <a:latin typeface="Consolas" panose="020B0609020204030204" pitchFamily="49" charset="0"/>
              </a:rPr>
              <a:t> = </a:t>
            </a:r>
            <a:r>
              <a:rPr lang="es-MX" sz="1100" dirty="0" err="1">
                <a:latin typeface="Consolas" panose="020B0609020204030204" pitchFamily="49" charset="0"/>
              </a:rPr>
              <a:t>notas_reprobadas</a:t>
            </a:r>
            <a:r>
              <a:rPr lang="es-MX" sz="1100" dirty="0">
                <a:latin typeface="Consolas" panose="020B0609020204030204" pitchFamily="49" charset="0"/>
              </a:rPr>
              <a:t> + </a:t>
            </a:r>
            <a:r>
              <a:rPr lang="es-MX" sz="1100" dirty="0" err="1">
                <a:latin typeface="Consolas" panose="020B0609020204030204" pitchFamily="49" charset="0"/>
              </a:rPr>
              <a:t>notas_aprobadas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a:solidFill>
                  <a:srgbClr val="0070C0"/>
                </a:solidFill>
                <a:latin typeface="Consolas" panose="020B0609020204030204" pitchFamily="49" charset="0"/>
              </a:rPr>
              <a:t>Si </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 == 0 Entonces</a:t>
            </a:r>
          </a:p>
          <a:p>
            <a:r>
              <a:rPr lang="es-MX" sz="1100" dirty="0">
                <a:solidFill>
                  <a:srgbClr val="0070C0"/>
                </a:solidFill>
                <a:latin typeface="Consolas" panose="020B0609020204030204" pitchFamily="49" charset="0"/>
              </a:rPr>
              <a:t>    Escribir("No hay estudiantes")</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notas_reprobadas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notas_aprobadas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suma_notas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pic>
        <p:nvPicPr>
          <p:cNvPr id="4" name="Imagen 3">
            <a:extLst>
              <a:ext uri="{FF2B5EF4-FFF2-40B4-BE49-F238E27FC236}">
                <a16:creationId xmlns:a16="http://schemas.microsoft.com/office/drawing/2014/main" id="{DABB1F07-5323-4DFE-A490-8A36CF9B9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024" y="614924"/>
            <a:ext cx="4293885" cy="6054436"/>
          </a:xfrm>
          <a:prstGeom prst="rect">
            <a:avLst/>
          </a:prstGeom>
        </p:spPr>
      </p:pic>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6 - Centinela</a:t>
            </a:r>
          </a:p>
        </p:txBody>
      </p:sp>
    </p:spTree>
    <p:extLst>
      <p:ext uri="{BB962C8B-B14F-4D97-AF65-F5344CB8AC3E}">
        <p14:creationId xmlns:p14="http://schemas.microsoft.com/office/powerpoint/2010/main" val="2331864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107504" y="764704"/>
            <a:ext cx="4659716" cy="5509200"/>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latin typeface="Consolas" panose="020B0609020204030204" pitchFamily="49" charset="0"/>
              </a:rPr>
              <a:t>  Leer(nota)</a:t>
            </a:r>
          </a:p>
          <a:p>
            <a:r>
              <a:rPr lang="es-MX" sz="1100" dirty="0">
                <a:solidFill>
                  <a:srgbClr val="C00000"/>
                </a:solidFill>
                <a:latin typeface="Consolas" panose="020B0609020204030204" pitchFamily="49" charset="0"/>
              </a:rPr>
              <a:t>  Mientras (</a:t>
            </a:r>
            <a:r>
              <a:rPr lang="es-MX" sz="1100" dirty="0" err="1">
                <a:solidFill>
                  <a:srgbClr val="C00000"/>
                </a:solidFill>
                <a:latin typeface="Consolas" panose="020B0609020204030204" pitchFamily="49" charset="0"/>
              </a:rPr>
              <a:t>hay_estudiante</a:t>
            </a:r>
            <a:r>
              <a:rPr lang="es-MX" sz="1100" dirty="0">
                <a:solidFill>
                  <a:srgbClr val="C00000"/>
                </a:solidFill>
                <a:latin typeface="Consolas" panose="020B0609020204030204" pitchFamily="49" charset="0"/>
              </a:rPr>
              <a:t> != -1) Haga    </a:t>
            </a:r>
          </a:p>
          <a:p>
            <a:r>
              <a:rPr lang="es-MX" sz="1100" dirty="0">
                <a:solidFill>
                  <a:srgbClr val="00B050"/>
                </a:solidFill>
                <a:latin typeface="Consolas" panose="020B0609020204030204" pitchFamily="49" charset="0"/>
              </a:rPr>
              <a:t>    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00B050"/>
                </a:solidFill>
                <a:latin typeface="Consolas" panose="020B0609020204030204" pitchFamily="49" charset="0"/>
              </a:rPr>
              <a:t>     Leer(nota)</a:t>
            </a:r>
          </a:p>
          <a:p>
            <a:r>
              <a:rPr lang="es-MX" sz="1100" dirty="0">
                <a:solidFill>
                  <a:srgbClr val="C00000"/>
                </a:solidFill>
                <a:latin typeface="Consolas" panose="020B0609020204030204" pitchFamily="49" charset="0"/>
              </a:rPr>
              <a:t>  Fin_Mientras</a:t>
            </a:r>
          </a:p>
          <a:p>
            <a:r>
              <a:rPr lang="es-MX" sz="1100" dirty="0">
                <a:solidFill>
                  <a:srgbClr val="C00000"/>
                </a:solidFill>
                <a:latin typeface="Consolas" panose="020B0609020204030204" pitchFamily="49" charset="0"/>
              </a:rPr>
              <a:t>  </a:t>
            </a:r>
            <a:r>
              <a:rPr lang="es-MX" sz="1100" dirty="0" err="1">
                <a:latin typeface="Consolas" panose="020B0609020204030204" pitchFamily="49" charset="0"/>
              </a:rPr>
              <a:t>num_notas</a:t>
            </a:r>
            <a:r>
              <a:rPr lang="es-MX" sz="1100" dirty="0">
                <a:latin typeface="Consolas" panose="020B0609020204030204" pitchFamily="49" charset="0"/>
              </a:rPr>
              <a:t> = </a:t>
            </a:r>
            <a:r>
              <a:rPr lang="es-MX" sz="1100" dirty="0" err="1">
                <a:latin typeface="Consolas" panose="020B0609020204030204" pitchFamily="49" charset="0"/>
              </a:rPr>
              <a:t>notas_reprobadas</a:t>
            </a:r>
            <a:r>
              <a:rPr lang="es-MX" sz="1100" dirty="0">
                <a:latin typeface="Consolas" panose="020B0609020204030204" pitchFamily="49" charset="0"/>
              </a:rPr>
              <a:t> + </a:t>
            </a:r>
            <a:r>
              <a:rPr lang="es-MX" sz="1100" dirty="0" err="1">
                <a:latin typeface="Consolas" panose="020B0609020204030204" pitchFamily="49" charset="0"/>
              </a:rPr>
              <a:t>notas_aprobadas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a:solidFill>
                  <a:srgbClr val="0070C0"/>
                </a:solidFill>
                <a:latin typeface="Consolas" panose="020B0609020204030204" pitchFamily="49" charset="0"/>
              </a:rPr>
              <a:t>Si </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 == 0 Entonces</a:t>
            </a:r>
          </a:p>
          <a:p>
            <a:r>
              <a:rPr lang="es-MX" sz="1100" dirty="0">
                <a:solidFill>
                  <a:srgbClr val="0070C0"/>
                </a:solidFill>
                <a:latin typeface="Consolas" panose="020B0609020204030204" pitchFamily="49" charset="0"/>
              </a:rPr>
              <a:t>    Escribir("No hay estudiantes")</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notas_reprobadas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notas_aprobadas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suma_notas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num_notas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6 - Centinela</a:t>
            </a:r>
          </a:p>
        </p:txBody>
      </p:sp>
      <p:sp>
        <p:nvSpPr>
          <p:cNvPr id="5" name="5 Rectángulo">
            <a:extLst>
              <a:ext uri="{FF2B5EF4-FFF2-40B4-BE49-F238E27FC236}">
                <a16:creationId xmlns:a16="http://schemas.microsoft.com/office/drawing/2014/main" id="{CBC608E3-CA95-4AC3-95ED-5BCD63C2BBB0}"/>
              </a:ext>
            </a:extLst>
          </p:cNvPr>
          <p:cNvSpPr/>
          <p:nvPr/>
        </p:nvSpPr>
        <p:spPr>
          <a:xfrm>
            <a:off x="4979636" y="748147"/>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15D5E856-E6AB-4779-BC05-11A7BF2EC367}"/>
              </a:ext>
            </a:extLst>
          </p:cNvPr>
          <p:cNvGraphicFramePr>
            <a:graphicFrameLocks noGrp="1"/>
          </p:cNvGraphicFramePr>
          <p:nvPr>
            <p:extLst>
              <p:ext uri="{D42A27DB-BD31-4B8C-83A1-F6EECF244321}">
                <p14:modId xmlns:p14="http://schemas.microsoft.com/office/powerpoint/2010/main" val="3293741501"/>
              </p:ext>
            </p:extLst>
          </p:nvPr>
        </p:nvGraphicFramePr>
        <p:xfrm>
          <a:off x="5071421" y="1181003"/>
          <a:ext cx="3821060" cy="21611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7" name="5 Rectángulo">
            <a:extLst>
              <a:ext uri="{FF2B5EF4-FFF2-40B4-BE49-F238E27FC236}">
                <a16:creationId xmlns:a16="http://schemas.microsoft.com/office/drawing/2014/main" id="{7B553160-2910-4697-AA16-207B91F29DCE}"/>
              </a:ext>
            </a:extLst>
          </p:cNvPr>
          <p:cNvSpPr/>
          <p:nvPr/>
        </p:nvSpPr>
        <p:spPr>
          <a:xfrm>
            <a:off x="4979636" y="3407636"/>
            <a:ext cx="2865514" cy="400110"/>
          </a:xfrm>
          <a:prstGeom prst="rect">
            <a:avLst/>
          </a:prstGeom>
        </p:spPr>
        <p:txBody>
          <a:bodyPr wrap="square">
            <a:spAutoFit/>
          </a:bodyPr>
          <a:lstStyle/>
          <a:p>
            <a:r>
              <a:rPr lang="es-CO" sz="2000" b="1" dirty="0"/>
              <a:t>Prueba de escritorio</a:t>
            </a:r>
            <a:endParaRPr lang="es-CO" sz="2000" dirty="0"/>
          </a:p>
        </p:txBody>
      </p:sp>
      <p:sp>
        <p:nvSpPr>
          <p:cNvPr id="8" name="5 Rectángulo">
            <a:extLst>
              <a:ext uri="{FF2B5EF4-FFF2-40B4-BE49-F238E27FC236}">
                <a16:creationId xmlns:a16="http://schemas.microsoft.com/office/drawing/2014/main" id="{D6427434-480E-41E7-99A4-B889B972476E}"/>
              </a:ext>
            </a:extLst>
          </p:cNvPr>
          <p:cNvSpPr/>
          <p:nvPr/>
        </p:nvSpPr>
        <p:spPr>
          <a:xfrm>
            <a:off x="4979636" y="3807746"/>
            <a:ext cx="3912845" cy="523220"/>
          </a:xfrm>
          <a:prstGeom prst="rect">
            <a:avLst/>
          </a:prstGeom>
        </p:spPr>
        <p:txBody>
          <a:bodyPr wrap="square">
            <a:spAutoFit/>
          </a:bodyPr>
          <a:lstStyle/>
          <a:p>
            <a:r>
              <a:rPr lang="es-CO" sz="1400" dirty="0"/>
              <a:t>Realizar la prueba de escritorio para verificar que el algoritmo este bien planteado</a:t>
            </a:r>
          </a:p>
        </p:txBody>
      </p:sp>
      <p:sp>
        <p:nvSpPr>
          <p:cNvPr id="11" name="5 Rectángulo">
            <a:extLst>
              <a:ext uri="{FF2B5EF4-FFF2-40B4-BE49-F238E27FC236}">
                <a16:creationId xmlns:a16="http://schemas.microsoft.com/office/drawing/2014/main" id="{A65D62B9-55BA-4668-A727-2D2AF3E1A1EE}"/>
              </a:ext>
            </a:extLst>
          </p:cNvPr>
          <p:cNvSpPr/>
          <p:nvPr/>
        </p:nvSpPr>
        <p:spPr>
          <a:xfrm>
            <a:off x="4979636" y="5054783"/>
            <a:ext cx="3912845" cy="523220"/>
          </a:xfrm>
          <a:prstGeom prst="rect">
            <a:avLst/>
          </a:prstGeom>
          <a:solidFill>
            <a:schemeClr val="accent6">
              <a:lumMod val="20000"/>
              <a:lumOff val="80000"/>
            </a:schemeClr>
          </a:solidFill>
        </p:spPr>
        <p:txBody>
          <a:bodyPr wrap="square">
            <a:spAutoFit/>
          </a:bodyPr>
          <a:lstStyle/>
          <a:p>
            <a:r>
              <a:rPr lang="es-CO" sz="1400" b="1" dirty="0"/>
              <a:t>Nota</a:t>
            </a:r>
            <a:r>
              <a:rPr lang="es-CO" sz="1400" dirty="0"/>
              <a:t>: Este programa así como esta planeado tiene aun un bug grave. Encuéntrelo y corríjalo.</a:t>
            </a:r>
          </a:p>
        </p:txBody>
      </p:sp>
    </p:spTree>
    <p:extLst>
      <p:ext uri="{BB962C8B-B14F-4D97-AF65-F5344CB8AC3E}">
        <p14:creationId xmlns:p14="http://schemas.microsoft.com/office/powerpoint/2010/main" val="8984370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4 Título">
            <a:extLst>
              <a:ext uri="{FF2B5EF4-FFF2-40B4-BE49-F238E27FC236}">
                <a16:creationId xmlns:a16="http://schemas.microsoft.com/office/drawing/2014/main" id="{2E9DD5D8-9F53-4E09-AF37-583F2BF7C1C4}"/>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6 - Centinela</a:t>
            </a:r>
          </a:p>
        </p:txBody>
      </p:sp>
      <p:sp>
        <p:nvSpPr>
          <p:cNvPr id="16" name="5 Rectángulo">
            <a:extLst>
              <a:ext uri="{FF2B5EF4-FFF2-40B4-BE49-F238E27FC236}">
                <a16:creationId xmlns:a16="http://schemas.microsoft.com/office/drawing/2014/main" id="{DA8FCDAF-5845-4C54-A2F7-5182CC7FAE75}"/>
              </a:ext>
            </a:extLst>
          </p:cNvPr>
          <p:cNvSpPr/>
          <p:nvPr/>
        </p:nvSpPr>
        <p:spPr>
          <a:xfrm>
            <a:off x="447767" y="830173"/>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19" name="Tabla 9">
            <a:extLst>
              <a:ext uri="{FF2B5EF4-FFF2-40B4-BE49-F238E27FC236}">
                <a16:creationId xmlns:a16="http://schemas.microsoft.com/office/drawing/2014/main" id="{186ADA6E-E7C9-4484-B3F3-D2EB4305A20E}"/>
              </a:ext>
            </a:extLst>
          </p:cNvPr>
          <p:cNvGraphicFramePr>
            <a:graphicFrameLocks noGrp="1"/>
          </p:cNvGraphicFramePr>
          <p:nvPr/>
        </p:nvGraphicFramePr>
        <p:xfrm>
          <a:off x="539552" y="1263029"/>
          <a:ext cx="3821060" cy="21611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10" name="5 Rectángulo">
            <a:extLst>
              <a:ext uri="{FF2B5EF4-FFF2-40B4-BE49-F238E27FC236}">
                <a16:creationId xmlns:a16="http://schemas.microsoft.com/office/drawing/2014/main" id="{9D07FD8B-FF76-4361-A0FC-C57928A01B0F}"/>
              </a:ext>
            </a:extLst>
          </p:cNvPr>
          <p:cNvSpPr/>
          <p:nvPr/>
        </p:nvSpPr>
        <p:spPr>
          <a:xfrm>
            <a:off x="5175858" y="997118"/>
            <a:ext cx="2865514" cy="400110"/>
          </a:xfrm>
          <a:prstGeom prst="rect">
            <a:avLst/>
          </a:prstGeom>
        </p:spPr>
        <p:txBody>
          <a:bodyPr wrap="square">
            <a:spAutoFit/>
          </a:bodyPr>
          <a:lstStyle/>
          <a:p>
            <a:r>
              <a:rPr lang="es-CO" sz="2000" b="1" dirty="0"/>
              <a:t>Forma</a:t>
            </a:r>
            <a:endParaRPr lang="es-CO" sz="2000" dirty="0"/>
          </a:p>
        </p:txBody>
      </p:sp>
      <p:sp>
        <p:nvSpPr>
          <p:cNvPr id="11" name="CuadroTexto 10">
            <a:extLst>
              <a:ext uri="{FF2B5EF4-FFF2-40B4-BE49-F238E27FC236}">
                <a16:creationId xmlns:a16="http://schemas.microsoft.com/office/drawing/2014/main" id="{91BE7D79-DE2C-45CC-8ABA-64687320A763}"/>
              </a:ext>
            </a:extLst>
          </p:cNvPr>
          <p:cNvSpPr txBox="1"/>
          <p:nvPr/>
        </p:nvSpPr>
        <p:spPr>
          <a:xfrm>
            <a:off x="5189000" y="1514101"/>
            <a:ext cx="2412776"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a:t>
            </a:r>
          </a:p>
          <a:p>
            <a:r>
              <a:rPr lang="es-MX" sz="1200" dirty="0">
                <a:latin typeface="Consolas" panose="020B0609020204030204" pitchFamily="49" charset="0"/>
              </a:rPr>
              <a:t>Leer(nota) </a:t>
            </a:r>
          </a:p>
          <a:p>
            <a:r>
              <a:rPr lang="es-MX" sz="1200" dirty="0">
                <a:latin typeface="Consolas" panose="020B0609020204030204" pitchFamily="49" charset="0"/>
              </a:rPr>
              <a:t>Mientras (</a:t>
            </a:r>
            <a:r>
              <a:rPr lang="es-MX" sz="1200" dirty="0">
                <a:solidFill>
                  <a:srgbClr val="C00000"/>
                </a:solidFill>
                <a:latin typeface="Consolas" panose="020B0609020204030204" pitchFamily="49" charset="0"/>
              </a:rPr>
              <a:t>nota != -1</a:t>
            </a:r>
            <a:r>
              <a:rPr lang="es-MX" sz="1200" dirty="0">
                <a:latin typeface="Consolas" panose="020B0609020204030204" pitchFamily="49" charset="0"/>
              </a:rPr>
              <a:t>) Haga </a:t>
            </a:r>
          </a:p>
          <a:p>
            <a:r>
              <a:rPr lang="es-MX" sz="1200" dirty="0">
                <a:latin typeface="Consolas" panose="020B0609020204030204" pitchFamily="49" charset="0"/>
              </a:rPr>
              <a:t>  ...</a:t>
            </a:r>
          </a:p>
          <a:p>
            <a:r>
              <a:rPr lang="es-MX" sz="1200" dirty="0">
                <a:latin typeface="Consolas" panose="020B0609020204030204" pitchFamily="49" charset="0"/>
              </a:rPr>
              <a:t>  Leer(nota) </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3" name="5 Rectángulo">
            <a:extLst>
              <a:ext uri="{FF2B5EF4-FFF2-40B4-BE49-F238E27FC236}">
                <a16:creationId xmlns:a16="http://schemas.microsoft.com/office/drawing/2014/main" id="{79F2C33C-B101-4352-A4D2-AC72CA217DA1}"/>
              </a:ext>
            </a:extLst>
          </p:cNvPr>
          <p:cNvSpPr/>
          <p:nvPr/>
        </p:nvSpPr>
        <p:spPr>
          <a:xfrm>
            <a:off x="3362669" y="3774239"/>
            <a:ext cx="2865514" cy="400110"/>
          </a:xfrm>
          <a:prstGeom prst="rect">
            <a:avLst/>
          </a:prstGeom>
        </p:spPr>
        <p:txBody>
          <a:bodyPr wrap="square">
            <a:spAutoFit/>
          </a:bodyPr>
          <a:lstStyle/>
          <a:p>
            <a:r>
              <a:rPr lang="es-CO" sz="2000" b="1" dirty="0"/>
              <a:t>Resultado de ejecución</a:t>
            </a:r>
            <a:endParaRPr lang="es-CO" sz="2000" dirty="0"/>
          </a:p>
        </p:txBody>
      </p:sp>
      <p:sp>
        <p:nvSpPr>
          <p:cNvPr id="14" name="CuadroTexto 13">
            <a:extLst>
              <a:ext uri="{FF2B5EF4-FFF2-40B4-BE49-F238E27FC236}">
                <a16:creationId xmlns:a16="http://schemas.microsoft.com/office/drawing/2014/main" id="{018BF9CB-BDC1-4B8C-9AFC-46BC16EF6995}"/>
              </a:ext>
            </a:extLst>
          </p:cNvPr>
          <p:cNvSpPr txBox="1"/>
          <p:nvPr/>
        </p:nvSpPr>
        <p:spPr>
          <a:xfrm>
            <a:off x="2324946" y="4222840"/>
            <a:ext cx="4968552" cy="212365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Ingrese la nota del estudiante (-1 para terminar): 4</a:t>
            </a:r>
          </a:p>
          <a:p>
            <a:r>
              <a:rPr lang="es-MX" sz="1200" dirty="0">
                <a:latin typeface="Consolas" panose="020B0609020204030204" pitchFamily="49" charset="0"/>
              </a:rPr>
              <a:t>Ingrese la nota del estudiante (-1 para terminar): 2.5</a:t>
            </a:r>
          </a:p>
          <a:p>
            <a:r>
              <a:rPr lang="es-MX" sz="1200" dirty="0">
                <a:latin typeface="Consolas" panose="020B0609020204030204" pitchFamily="49" charset="0"/>
              </a:rPr>
              <a:t>Ingrese la nota del estudiante (-1 para terminar): 3.0</a:t>
            </a:r>
          </a:p>
          <a:p>
            <a:r>
              <a:rPr lang="es-MX" sz="1200" dirty="0">
                <a:latin typeface="Consolas" panose="020B0609020204030204" pitchFamily="49" charset="0"/>
              </a:rPr>
              <a:t>Ingrese la nota del estudiante (-1 para terminar): 1.5</a:t>
            </a:r>
          </a:p>
          <a:p>
            <a:r>
              <a:rPr lang="es-MX" sz="1200" dirty="0">
                <a:latin typeface="Consolas" panose="020B0609020204030204" pitchFamily="49" charset="0"/>
              </a:rPr>
              <a:t>Ingrese la nota del estudiante (-1 para terminar): 4.8</a:t>
            </a:r>
          </a:p>
          <a:p>
            <a:r>
              <a:rPr lang="es-MX" sz="1200" dirty="0">
                <a:latin typeface="Consolas" panose="020B0609020204030204" pitchFamily="49" charset="0"/>
              </a:rPr>
              <a:t>Ingrese la nota del estudiante (-1 para terminar): -1</a:t>
            </a:r>
          </a:p>
          <a:p>
            <a:r>
              <a:rPr lang="es-MX" sz="1200" dirty="0">
                <a:latin typeface="Consolas" panose="020B0609020204030204" pitchFamily="49" charset="0"/>
              </a:rPr>
              <a:t>Porcentaje de estudiantes que aprobaron: 60.0%</a:t>
            </a:r>
          </a:p>
          <a:p>
            <a:r>
              <a:rPr lang="es-MX" sz="1200" dirty="0">
                <a:latin typeface="Consolas" panose="020B0609020204030204" pitchFamily="49" charset="0"/>
              </a:rPr>
              <a:t>Porcentaje de estudiantes que reprobaron: 40.0%</a:t>
            </a:r>
          </a:p>
          <a:p>
            <a:r>
              <a:rPr lang="es-MX" sz="1200" dirty="0">
                <a:latin typeface="Consolas" panose="020B0609020204030204" pitchFamily="49" charset="0"/>
              </a:rPr>
              <a:t>Promedio de notas reprobadas: 2.0</a:t>
            </a:r>
          </a:p>
          <a:p>
            <a:r>
              <a:rPr lang="es-MX" sz="1200" dirty="0">
                <a:latin typeface="Consolas" panose="020B0609020204030204" pitchFamily="49" charset="0"/>
              </a:rPr>
              <a:t>Promedio de notas aprobadas: 3.9333333333333336</a:t>
            </a:r>
          </a:p>
          <a:p>
            <a:r>
              <a:rPr lang="es-MX" sz="1200" dirty="0">
                <a:latin typeface="Consolas" panose="020B0609020204030204" pitchFamily="49" charset="0"/>
              </a:rPr>
              <a:t>Promedio general de notas: 3.16</a:t>
            </a:r>
          </a:p>
        </p:txBody>
      </p:sp>
    </p:spTree>
    <p:extLst>
      <p:ext uri="{BB962C8B-B14F-4D97-AF65-F5344CB8AC3E}">
        <p14:creationId xmlns:p14="http://schemas.microsoft.com/office/powerpoint/2010/main" val="16446976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555560" cy="710952"/>
          </a:xfrm>
        </p:spPr>
        <p:txBody>
          <a:bodyPr>
            <a:normAutofit/>
          </a:bodyPr>
          <a:lstStyle/>
          <a:p>
            <a:r>
              <a:rPr lang="es-CO" dirty="0"/>
              <a:t>Centinela</a:t>
            </a:r>
          </a:p>
        </p:txBody>
      </p:sp>
      <p:sp>
        <p:nvSpPr>
          <p:cNvPr id="8" name="12 Rectángulo">
            <a:extLst>
              <a:ext uri="{FF2B5EF4-FFF2-40B4-BE49-F238E27FC236}">
                <a16:creationId xmlns:a16="http://schemas.microsoft.com/office/drawing/2014/main" id="{82A57857-FAA4-45DF-92AE-9DFBCBE367B3}"/>
              </a:ext>
            </a:extLst>
          </p:cNvPr>
          <p:cNvSpPr/>
          <p:nvPr/>
        </p:nvSpPr>
        <p:spPr>
          <a:xfrm>
            <a:off x="159074" y="1014286"/>
            <a:ext cx="8820512" cy="2862322"/>
          </a:xfrm>
          <a:prstGeom prst="rect">
            <a:avLst/>
          </a:prstGeom>
        </p:spPr>
        <p:txBody>
          <a:bodyPr wrap="square">
            <a:spAutoFit/>
          </a:bodyPr>
          <a:lstStyle/>
          <a:p>
            <a:pPr marL="342900" indent="-342900" rtl="0">
              <a:buFont typeface="Arial" panose="020B0604020202020204" pitchFamily="34" charset="0"/>
              <a:buChar char="•"/>
            </a:pPr>
            <a:r>
              <a:rPr lang="es-MX" sz="2000" dirty="0"/>
              <a:t>Un centinela es un valor especial, mezclado dentro de los mismos datos de entrada, que se usa para indicar el fin de la lista de datos.</a:t>
            </a:r>
          </a:p>
          <a:p>
            <a:pPr marL="342900" indent="-342900" rtl="0">
              <a:buFont typeface="Arial" panose="020B0604020202020204" pitchFamily="34" charset="0"/>
              <a:buChar char="•"/>
            </a:pPr>
            <a:r>
              <a:rPr lang="es-MX" sz="2000" dirty="0"/>
              <a:t>Debe ser un valor que </a:t>
            </a:r>
            <a:r>
              <a:rPr lang="es-MX" sz="2000" b="1" dirty="0"/>
              <a:t>esté fuera del rango válido de los datos reales</a:t>
            </a:r>
            <a:r>
              <a:rPr lang="es-MX" sz="2000" dirty="0"/>
              <a:t>, para que nunca se confunda con un dato legítimo.</a:t>
            </a:r>
          </a:p>
          <a:p>
            <a:pPr marL="342900" indent="-342900" rtl="0">
              <a:buFont typeface="Arial" panose="020B0604020202020204" pitchFamily="34" charset="0"/>
              <a:buChar char="•"/>
            </a:pPr>
            <a:r>
              <a:rPr lang="es-MX" sz="2000" dirty="0"/>
              <a:t>Se usa directamente en la condición del ciclo, sin necesitar una variable adicional (a diferencia de la bandera).</a:t>
            </a:r>
          </a:p>
          <a:p>
            <a:pPr marL="342900" indent="-342900" rtl="0">
              <a:buFont typeface="Arial" panose="020B0604020202020204" pitchFamily="34" charset="0"/>
              <a:buChar char="•"/>
            </a:pPr>
            <a:r>
              <a:rPr lang="es-MX" sz="2000" b="1" dirty="0"/>
              <a:t>Recordando el ejemplo 6</a:t>
            </a:r>
            <a:r>
              <a:rPr lang="es-MX" sz="2000" dirty="0"/>
              <a:t>: como las notas van de 0.0 a 5.0, ningún valor real puede ser negativo (por eso -1 es un centinela seguro). El ciclo se controla directamente con la variable </a:t>
            </a:r>
            <a:r>
              <a:rPr lang="es-MX" b="1" dirty="0">
                <a:solidFill>
                  <a:srgbClr val="C00000"/>
                </a:solidFill>
                <a:latin typeface="Consolas" panose="020B0609020204030204" pitchFamily="49" charset="0"/>
              </a:rPr>
              <a:t>nota</a:t>
            </a:r>
            <a:r>
              <a:rPr lang="es-MX" sz="2000" dirty="0"/>
              <a:t>:</a:t>
            </a:r>
            <a:endParaRPr lang="es-MX" sz="2000" b="1" dirty="0"/>
          </a:p>
        </p:txBody>
      </p:sp>
      <p:sp>
        <p:nvSpPr>
          <p:cNvPr id="7" name="CuadroTexto 6">
            <a:extLst>
              <a:ext uri="{FF2B5EF4-FFF2-40B4-BE49-F238E27FC236}">
                <a16:creationId xmlns:a16="http://schemas.microsoft.com/office/drawing/2014/main" id="{2E69FC9A-F848-441E-BC0A-582E0FD5ADDE}"/>
              </a:ext>
            </a:extLst>
          </p:cNvPr>
          <p:cNvSpPr txBox="1"/>
          <p:nvPr/>
        </p:nvSpPr>
        <p:spPr>
          <a:xfrm>
            <a:off x="2130424" y="4149080"/>
            <a:ext cx="4680520" cy="2031325"/>
          </a:xfrm>
          <a:prstGeom prst="rect">
            <a:avLst/>
          </a:prstGeom>
          <a:noFill/>
          <a:ln>
            <a:solidFill>
              <a:schemeClr val="tx1"/>
            </a:solidFill>
          </a:ln>
        </p:spPr>
        <p:txBody>
          <a:bodyPr wrap="square" rtlCol="0">
            <a:spAutoFit/>
          </a:bodyPr>
          <a:lstStyle/>
          <a:p>
            <a:r>
              <a:rPr lang="es-MX" dirty="0">
                <a:latin typeface="Consolas" panose="020B0609020204030204" pitchFamily="49" charset="0"/>
              </a:rPr>
              <a:t>... </a:t>
            </a:r>
          </a:p>
          <a:p>
            <a:r>
              <a:rPr lang="es-MX" dirty="0">
                <a:solidFill>
                  <a:srgbClr val="00B050"/>
                </a:solidFill>
                <a:latin typeface="Consolas" panose="020B0609020204030204" pitchFamily="49" charset="0"/>
              </a:rPr>
              <a:t>Leer(nota)</a:t>
            </a:r>
            <a:r>
              <a:rPr lang="es-MX" dirty="0">
                <a:latin typeface="Consolas" panose="020B0609020204030204" pitchFamily="49" charset="0"/>
              </a:rPr>
              <a:t> </a:t>
            </a:r>
          </a:p>
          <a:p>
            <a:r>
              <a:rPr lang="es-MX" dirty="0">
                <a:latin typeface="Consolas" panose="020B0609020204030204" pitchFamily="49" charset="0"/>
              </a:rPr>
              <a:t>  Mientras (</a:t>
            </a:r>
            <a:r>
              <a:rPr lang="es-MX" dirty="0">
                <a:solidFill>
                  <a:srgbClr val="C00000"/>
                </a:solidFill>
                <a:latin typeface="Consolas" panose="020B0609020204030204" pitchFamily="49" charset="0"/>
              </a:rPr>
              <a:t>nota != -1</a:t>
            </a:r>
            <a:r>
              <a:rPr lang="es-MX" dirty="0">
                <a:latin typeface="Consolas" panose="020B0609020204030204" pitchFamily="49" charset="0"/>
              </a:rPr>
              <a:t>) Haga </a:t>
            </a:r>
          </a:p>
          <a:p>
            <a:r>
              <a:rPr lang="es-MX" dirty="0">
                <a:latin typeface="Consolas" panose="020B0609020204030204" pitchFamily="49" charset="0"/>
              </a:rPr>
              <a:t>  ...</a:t>
            </a:r>
          </a:p>
          <a:p>
            <a:r>
              <a:rPr lang="es-MX" dirty="0">
                <a:solidFill>
                  <a:srgbClr val="00B050"/>
                </a:solidFill>
                <a:latin typeface="Consolas" panose="020B0609020204030204" pitchFamily="49" charset="0"/>
              </a:rPr>
              <a:t>  Leer(nota)</a:t>
            </a:r>
            <a:r>
              <a:rPr lang="es-MX" dirty="0">
                <a:latin typeface="Consolas" panose="020B0609020204030204" pitchFamily="49" charset="0"/>
              </a:rPr>
              <a:t> </a:t>
            </a:r>
          </a:p>
          <a:p>
            <a:r>
              <a:rPr lang="es-MX" dirty="0">
                <a:latin typeface="Consolas" panose="020B0609020204030204" pitchFamily="49" charset="0"/>
              </a:rPr>
              <a:t>Fin_Mientras</a:t>
            </a:r>
          </a:p>
          <a:p>
            <a:r>
              <a:rPr lang="es-MX" dirty="0">
                <a:latin typeface="Consolas" panose="020B0609020204030204" pitchFamily="49" charset="0"/>
              </a:rPr>
              <a:t>...</a:t>
            </a:r>
          </a:p>
        </p:txBody>
      </p:sp>
    </p:spTree>
    <p:extLst>
      <p:ext uri="{BB962C8B-B14F-4D97-AF65-F5344CB8AC3E}">
        <p14:creationId xmlns:p14="http://schemas.microsoft.com/office/powerpoint/2010/main" val="20049764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7</a:t>
            </a:r>
          </a:p>
        </p:txBody>
      </p:sp>
      <p:sp>
        <p:nvSpPr>
          <p:cNvPr id="13" name="12 Rectángulo"/>
          <p:cNvSpPr/>
          <p:nvPr/>
        </p:nvSpPr>
        <p:spPr>
          <a:xfrm>
            <a:off x="145314" y="846114"/>
            <a:ext cx="8747165" cy="4093428"/>
          </a:xfrm>
          <a:prstGeom prst="rect">
            <a:avLst/>
          </a:prstGeom>
        </p:spPr>
        <p:txBody>
          <a:bodyPr wrap="square">
            <a:spAutoFit/>
          </a:bodyPr>
          <a:lstStyle/>
          <a:p>
            <a:pPr rtl="0"/>
            <a:r>
              <a:rPr lang="es-MX" sz="2000" dirty="0"/>
              <a:t>Hacer un programa que lea primero el número de estudiantes de un curso (</a:t>
            </a:r>
            <a:r>
              <a:rPr lang="es-MX" sz="2000" b="1" dirty="0"/>
              <a:t>N</a:t>
            </a:r>
            <a:r>
              <a:rPr lang="es-MX" sz="2000" dirty="0"/>
              <a:t>), y luego lea las </a:t>
            </a:r>
            <a:r>
              <a:rPr lang="es-MX" sz="2000" b="1" dirty="0"/>
              <a:t>N</a:t>
            </a:r>
            <a:r>
              <a:rPr lang="es-MX" sz="2000" dirty="0"/>
              <a:t> notas correspondientes (valores decimales entre 0.0 y 5.0), una a una.</a:t>
            </a:r>
          </a:p>
          <a:p>
            <a:pPr rtl="0"/>
            <a:endParaRPr lang="es-MX" sz="2000" dirty="0"/>
          </a:p>
          <a:p>
            <a:pPr rtl="0"/>
            <a:r>
              <a:rPr lang="es-MX" sz="2000" dirty="0"/>
              <a:t>Considere que la nota mínima aprobatoria es 3.0: una nota es aprobada si es mayor o igual a 3.0, y reprobada si es menor a 3.0.</a:t>
            </a:r>
          </a:p>
          <a:p>
            <a:pPr rtl="0"/>
            <a:endParaRPr lang="es-MX" sz="2000" dirty="0"/>
          </a:p>
          <a:p>
            <a:pPr rtl="0"/>
            <a:r>
              <a:rPr lang="es-MX" sz="2000" dirty="0"/>
              <a:t>Al finalizar la lectura, el programa deberá entregar:</a:t>
            </a:r>
          </a:p>
          <a:p>
            <a:pPr marL="342900" indent="-342900" rtl="0">
              <a:buFont typeface="Arial" panose="020B0604020202020204" pitchFamily="34" charset="0"/>
              <a:buChar char="•"/>
            </a:pPr>
            <a:r>
              <a:rPr lang="es-MX" sz="2000" dirty="0"/>
              <a:t>El porcentaje de estudiantes aprobados.</a:t>
            </a:r>
          </a:p>
          <a:p>
            <a:pPr marL="342900" indent="-342900" rtl="0">
              <a:buFont typeface="Arial" panose="020B0604020202020204" pitchFamily="34" charset="0"/>
              <a:buChar char="•"/>
            </a:pPr>
            <a:r>
              <a:rPr lang="es-MX" sz="2000" dirty="0"/>
              <a:t>El porcentaje de estudiantes reprobados.</a:t>
            </a:r>
          </a:p>
          <a:p>
            <a:pPr marL="342900" indent="-342900" rtl="0">
              <a:buFont typeface="Arial" panose="020B0604020202020204" pitchFamily="34" charset="0"/>
              <a:buChar char="•"/>
            </a:pPr>
            <a:r>
              <a:rPr lang="es-MX" sz="2000" dirty="0"/>
              <a:t>El promedio de las notas aprobadas.</a:t>
            </a:r>
          </a:p>
          <a:p>
            <a:pPr marL="342900" indent="-342900" rtl="0">
              <a:buFont typeface="Arial" panose="020B0604020202020204" pitchFamily="34" charset="0"/>
              <a:buChar char="•"/>
            </a:pPr>
            <a:r>
              <a:rPr lang="es-MX" sz="2000" dirty="0"/>
              <a:t>El promedio de las notas reprobadas.</a:t>
            </a:r>
          </a:p>
          <a:p>
            <a:pPr marL="342900" indent="-342900" rtl="0">
              <a:buFont typeface="Arial" panose="020B0604020202020204" pitchFamily="34" charset="0"/>
              <a:buChar char="•"/>
            </a:pPr>
            <a:r>
              <a:rPr lang="es-MX" sz="2000" dirty="0"/>
              <a:t>El promedio de las notas del curso.</a:t>
            </a:r>
          </a:p>
        </p:txBody>
      </p:sp>
    </p:spTree>
    <p:extLst>
      <p:ext uri="{BB962C8B-B14F-4D97-AF65-F5344CB8AC3E}">
        <p14:creationId xmlns:p14="http://schemas.microsoft.com/office/powerpoint/2010/main" val="4179445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7</a:t>
            </a:r>
          </a:p>
        </p:txBody>
      </p:sp>
      <p:sp>
        <p:nvSpPr>
          <p:cNvPr id="4" name="5 CuadroTexto">
            <a:extLst>
              <a:ext uri="{FF2B5EF4-FFF2-40B4-BE49-F238E27FC236}">
                <a16:creationId xmlns:a16="http://schemas.microsoft.com/office/drawing/2014/main" id="{0AFF77B4-4060-4028-A473-CEFF63FFD241}"/>
              </a:ext>
            </a:extLst>
          </p:cNvPr>
          <p:cNvSpPr txBox="1"/>
          <p:nvPr/>
        </p:nvSpPr>
        <p:spPr>
          <a:xfrm>
            <a:off x="251520" y="2630578"/>
            <a:ext cx="4016228" cy="4062651"/>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Cantidad de estudiantes</a:t>
            </a:r>
          </a:p>
          <a:p>
            <a:pPr marL="285750" indent="-285750">
              <a:buFont typeface="Arial" panose="020B0604020202020204" pitchFamily="34" charset="0"/>
              <a:buChar char="•"/>
            </a:pPr>
            <a:r>
              <a:rPr lang="es-CO" sz="1200" b="1" dirty="0"/>
              <a:t>Nota del estudiante</a:t>
            </a:r>
            <a:endParaRPr lang="es-CO" sz="1200" dirty="0"/>
          </a:p>
          <a:p>
            <a:r>
              <a:rPr lang="es-CO" sz="1400" b="1" dirty="0"/>
              <a:t>Datos de salida: </a:t>
            </a:r>
          </a:p>
          <a:p>
            <a:pPr marL="285750" indent="-285750">
              <a:buFont typeface="Arial" panose="020B0604020202020204" pitchFamily="34" charset="0"/>
              <a:buChar char="•"/>
            </a:pPr>
            <a:r>
              <a:rPr lang="es-CO" sz="1200" b="1" dirty="0"/>
              <a:t>Porcentaje de estudiantes que ganaron</a:t>
            </a:r>
          </a:p>
          <a:p>
            <a:pPr marL="285750" indent="-285750">
              <a:buFont typeface="Arial" panose="020B0604020202020204" pitchFamily="34" charset="0"/>
              <a:buChar char="•"/>
            </a:pPr>
            <a:r>
              <a:rPr lang="es-CO" sz="1200" b="1" dirty="0"/>
              <a:t>Porcentaje de estudiantes que perdieron</a:t>
            </a:r>
          </a:p>
          <a:p>
            <a:pPr marL="285750" indent="-285750">
              <a:buFont typeface="Arial" panose="020B0604020202020204" pitchFamily="34" charset="0"/>
              <a:buChar char="•"/>
            </a:pPr>
            <a:r>
              <a:rPr lang="es-CO" sz="1200" b="1" dirty="0"/>
              <a:t>Promedio de notas de los que ganaron</a:t>
            </a:r>
          </a:p>
          <a:p>
            <a:pPr marL="285750" indent="-285750">
              <a:buFont typeface="Arial" panose="020B0604020202020204" pitchFamily="34" charset="0"/>
              <a:buChar char="•"/>
            </a:pPr>
            <a:r>
              <a:rPr lang="es-CO" sz="1200" b="1" dirty="0"/>
              <a:t>Promedio de notas de los que perdieron</a:t>
            </a:r>
          </a:p>
          <a:p>
            <a:pPr marL="285750" indent="-285750">
              <a:buFont typeface="Arial" panose="020B0604020202020204" pitchFamily="34" charset="0"/>
              <a:buChar char="•"/>
            </a:pPr>
            <a:r>
              <a:rPr lang="es-CO" sz="1200" b="1" dirty="0"/>
              <a:t>Promedio de notas del curso.</a:t>
            </a:r>
          </a:p>
          <a:p>
            <a:r>
              <a:rPr lang="es-CO" sz="1400" b="1" dirty="0"/>
              <a:t>Definición de variables:</a:t>
            </a:r>
          </a:p>
          <a:p>
            <a:pPr marL="285750" indent="-285750">
              <a:buFont typeface="Arial" panose="020B0604020202020204" pitchFamily="34" charset="0"/>
              <a:buChar char="•"/>
            </a:pPr>
            <a:r>
              <a:rPr lang="es-CO" sz="1200" b="1" dirty="0"/>
              <a:t>Entrada/salida</a:t>
            </a:r>
            <a:r>
              <a:rPr lang="es-CO" sz="1200" dirty="0"/>
              <a:t>:</a:t>
            </a:r>
          </a:p>
          <a:p>
            <a:pPr marL="800100" lvl="1" indent="-342900">
              <a:buFont typeface="Arial" pitchFamily="34" charset="0"/>
              <a:buChar char="•"/>
            </a:pPr>
            <a:r>
              <a:rPr lang="es-CO" sz="1200" b="1" dirty="0">
                <a:latin typeface="Consolas" panose="020B0609020204030204" pitchFamily="49" charset="0"/>
              </a:rPr>
              <a:t>N</a:t>
            </a:r>
            <a:r>
              <a:rPr lang="es-CO" sz="1200" b="1" dirty="0"/>
              <a:t>:</a:t>
            </a:r>
            <a:r>
              <a:rPr lang="es-CO" sz="1200" dirty="0"/>
              <a:t> Numero de estudiantes</a:t>
            </a:r>
            <a:endParaRPr lang="es-CO" sz="1200" b="1" dirty="0">
              <a:latin typeface="Consolas" panose="020B0609020204030204" pitchFamily="49" charset="0"/>
            </a:endParaRPr>
          </a:p>
          <a:p>
            <a:pPr marL="800100" lvl="1" indent="-342900">
              <a:buFont typeface="Arial" pitchFamily="34" charset="0"/>
              <a:buChar char="•"/>
            </a:pPr>
            <a:r>
              <a:rPr lang="es-CO" sz="1200" b="1" dirty="0">
                <a:latin typeface="Consolas" panose="020B0609020204030204" pitchFamily="49" charset="0"/>
              </a:rPr>
              <a:t>nota</a:t>
            </a:r>
            <a:r>
              <a:rPr lang="es-CO" sz="1200" b="1" dirty="0"/>
              <a:t>:</a:t>
            </a:r>
            <a:r>
              <a:rPr lang="es-CO" sz="1200" dirty="0"/>
              <a:t> Nota del estudiante (-1 significa que no hay mas notas).</a:t>
            </a:r>
          </a:p>
          <a:p>
            <a:pPr marL="800100" lvl="1" indent="-342900">
              <a:buFont typeface="Arial" pitchFamily="34" charset="0"/>
              <a:buChar char="•"/>
            </a:pPr>
            <a:r>
              <a:rPr lang="es-CO" sz="1200" b="1" dirty="0" err="1">
                <a:latin typeface="Consolas" panose="020B0609020204030204" pitchFamily="49" charset="0"/>
              </a:rPr>
              <a:t>p_ganadores</a:t>
            </a:r>
            <a:r>
              <a:rPr lang="es-CO" sz="1200" b="1" dirty="0"/>
              <a:t>:</a:t>
            </a:r>
            <a:r>
              <a:rPr lang="es-CO" sz="1200" dirty="0"/>
              <a:t> Porcentaje ganadores.</a:t>
            </a:r>
          </a:p>
          <a:p>
            <a:pPr marL="800100" lvl="1" indent="-342900">
              <a:buFont typeface="Arial" pitchFamily="34" charset="0"/>
              <a:buChar char="•"/>
            </a:pPr>
            <a:r>
              <a:rPr lang="es-CO" sz="1200" b="1" dirty="0" err="1">
                <a:latin typeface="Consolas" panose="020B0609020204030204" pitchFamily="49" charset="0"/>
              </a:rPr>
              <a:t>p_perdedores</a:t>
            </a:r>
            <a:r>
              <a:rPr lang="es-CO" sz="1200" b="1" dirty="0"/>
              <a:t>:</a:t>
            </a:r>
            <a:r>
              <a:rPr lang="es-CO" sz="1200" dirty="0"/>
              <a:t> Porcentaje perdedores.</a:t>
            </a:r>
          </a:p>
          <a:p>
            <a:pPr marL="800100" lvl="1" indent="-342900">
              <a:buFont typeface="Arial" pitchFamily="34" charset="0"/>
              <a:buChar char="•"/>
            </a:pPr>
            <a:r>
              <a:rPr lang="es-CO" sz="1200" b="1" dirty="0" err="1">
                <a:latin typeface="Consolas" panose="020B0609020204030204" pitchFamily="49" charset="0"/>
              </a:rPr>
              <a:t>prom_nota_reprobada</a:t>
            </a:r>
            <a:r>
              <a:rPr lang="es-CO" sz="1200" b="1" dirty="0"/>
              <a:t>:</a:t>
            </a:r>
            <a:r>
              <a:rPr lang="es-CO" sz="1200" dirty="0"/>
              <a:t> Promedio notas reprobadas.</a:t>
            </a:r>
          </a:p>
          <a:p>
            <a:pPr marL="800100" lvl="1" indent="-342900">
              <a:buFont typeface="Arial" pitchFamily="34" charset="0"/>
              <a:buChar char="•"/>
            </a:pPr>
            <a:r>
              <a:rPr lang="es-CO" sz="1200" b="1" dirty="0" err="1">
                <a:latin typeface="Consolas" panose="020B0609020204030204" pitchFamily="49" charset="0"/>
              </a:rPr>
              <a:t>prom_nota_aprobada</a:t>
            </a:r>
            <a:r>
              <a:rPr lang="es-CO" sz="1200" b="1" dirty="0"/>
              <a:t>:</a:t>
            </a:r>
            <a:r>
              <a:rPr lang="es-CO" sz="1200" dirty="0"/>
              <a:t> Promedio de notas aprobadas.</a:t>
            </a:r>
          </a:p>
          <a:p>
            <a:pPr marL="800100" lvl="1" indent="-342900">
              <a:buFont typeface="Arial" pitchFamily="34" charset="0"/>
              <a:buChar char="•"/>
            </a:pPr>
            <a:r>
              <a:rPr lang="es-CO" sz="1200" b="1" dirty="0" err="1">
                <a:latin typeface="Consolas" panose="020B0609020204030204" pitchFamily="49" charset="0"/>
              </a:rPr>
              <a:t>prom</a:t>
            </a:r>
            <a:r>
              <a:rPr lang="es-CO" sz="1200" b="1" dirty="0"/>
              <a:t>:</a:t>
            </a:r>
            <a:r>
              <a:rPr lang="es-CO" sz="1200" dirty="0"/>
              <a:t> Nota del estudiante</a:t>
            </a:r>
          </a:p>
        </p:txBody>
      </p:sp>
      <p:grpSp>
        <p:nvGrpSpPr>
          <p:cNvPr id="7" name="Grupo 6">
            <a:extLst>
              <a:ext uri="{FF2B5EF4-FFF2-40B4-BE49-F238E27FC236}">
                <a16:creationId xmlns:a16="http://schemas.microsoft.com/office/drawing/2014/main" id="{C5943E81-7B0B-4384-893B-081D1858AF5B}"/>
              </a:ext>
            </a:extLst>
          </p:cNvPr>
          <p:cNvGrpSpPr/>
          <p:nvPr/>
        </p:nvGrpSpPr>
        <p:grpSpPr>
          <a:xfrm>
            <a:off x="388239" y="1196752"/>
            <a:ext cx="8202163" cy="1353956"/>
            <a:chOff x="233375" y="1772816"/>
            <a:chExt cx="8202163" cy="1353956"/>
          </a:xfrm>
        </p:grpSpPr>
        <p:grpSp>
          <p:nvGrpSpPr>
            <p:cNvPr id="9" name="5 Grupo">
              <a:extLst>
                <a:ext uri="{FF2B5EF4-FFF2-40B4-BE49-F238E27FC236}">
                  <a16:creationId xmlns:a16="http://schemas.microsoft.com/office/drawing/2014/main" id="{8FE9501D-19B2-420E-8A81-14427FA16D0F}"/>
                </a:ext>
              </a:extLst>
            </p:cNvPr>
            <p:cNvGrpSpPr/>
            <p:nvPr/>
          </p:nvGrpSpPr>
          <p:grpSpPr>
            <a:xfrm>
              <a:off x="233375" y="1772816"/>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 name="10 Rectángulo">
              <a:extLst>
                <a:ext uri="{FF2B5EF4-FFF2-40B4-BE49-F238E27FC236}">
                  <a16:creationId xmlns:a16="http://schemas.microsoft.com/office/drawing/2014/main" id="{A599FC2C-8781-48C6-AFD4-F86EC2C1085F}"/>
                </a:ext>
              </a:extLst>
            </p:cNvPr>
            <p:cNvSpPr/>
            <p:nvPr/>
          </p:nvSpPr>
          <p:spPr>
            <a:xfrm>
              <a:off x="3136637" y="2628009"/>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grpSp>
      <p:sp>
        <p:nvSpPr>
          <p:cNvPr id="19" name="5 CuadroTexto">
            <a:extLst>
              <a:ext uri="{FF2B5EF4-FFF2-40B4-BE49-F238E27FC236}">
                <a16:creationId xmlns:a16="http://schemas.microsoft.com/office/drawing/2014/main" id="{1D7C1E8D-4FE2-4F9A-9CBA-F480756E5707}"/>
              </a:ext>
            </a:extLst>
          </p:cNvPr>
          <p:cNvSpPr txBox="1"/>
          <p:nvPr/>
        </p:nvSpPr>
        <p:spPr>
          <a:xfrm>
            <a:off x="4396594" y="2653792"/>
            <a:ext cx="4193807" cy="2523768"/>
          </a:xfrm>
          <a:prstGeom prst="rect">
            <a:avLst/>
          </a:prstGeom>
          <a:noFill/>
        </p:spPr>
        <p:txBody>
          <a:bodyPr wrap="square" rtlCol="0">
            <a:spAutoFit/>
          </a:bodyPr>
          <a:lstStyle/>
          <a:p>
            <a:r>
              <a:rPr lang="es-CO" sz="1400" b="1" dirty="0"/>
              <a:t>Definición de variables:</a:t>
            </a:r>
          </a:p>
          <a:p>
            <a:pPr marL="342900" indent="-342900">
              <a:buFont typeface="Arial" pitchFamily="34" charset="0"/>
              <a:buChar char="•"/>
            </a:pPr>
            <a:r>
              <a:rPr lang="es-CO" sz="1200" b="1" dirty="0"/>
              <a:t>Variables auxiliares</a:t>
            </a:r>
            <a:r>
              <a:rPr lang="es-CO" sz="1200" dirty="0"/>
              <a:t>:</a:t>
            </a:r>
          </a:p>
          <a:p>
            <a:pPr marL="800100" lvl="1" indent="-342900">
              <a:buFont typeface="Arial" pitchFamily="34" charset="0"/>
              <a:buChar char="•"/>
            </a:pPr>
            <a:r>
              <a:rPr lang="es-CO" sz="1200" b="1" dirty="0">
                <a:latin typeface="Consolas" panose="020B0609020204030204" pitchFamily="49" charset="0"/>
              </a:rPr>
              <a:t>i</a:t>
            </a:r>
            <a:r>
              <a:rPr lang="es-CO" sz="1200" b="1" dirty="0"/>
              <a:t>:</a:t>
            </a:r>
            <a:r>
              <a:rPr lang="es-CO" sz="1200" dirty="0"/>
              <a:t> Contador asociado a la i-</a:t>
            </a:r>
            <a:r>
              <a:rPr lang="es-CO" sz="1200" dirty="0" err="1"/>
              <a:t>esima</a:t>
            </a:r>
            <a:r>
              <a:rPr lang="es-CO" sz="1200" dirty="0"/>
              <a:t> nota</a:t>
            </a:r>
            <a:endParaRPr lang="es-CO" sz="1200" b="1" dirty="0">
              <a:latin typeface="Consolas" panose="020B0609020204030204" pitchFamily="49" charset="0"/>
            </a:endParaRPr>
          </a:p>
          <a:p>
            <a:pPr marL="800100" lvl="1" indent="-342900">
              <a:buFont typeface="Arial" pitchFamily="34" charset="0"/>
              <a:buChar char="•"/>
            </a:pPr>
            <a:r>
              <a:rPr lang="es-CO" sz="1200" b="1" dirty="0" err="1">
                <a:latin typeface="Consolas" panose="020B0609020204030204" pitchFamily="49" charset="0"/>
              </a:rPr>
              <a:t>notas_reprobadas</a:t>
            </a:r>
            <a:r>
              <a:rPr lang="es-CO" sz="1200" b="1" dirty="0"/>
              <a:t>:</a:t>
            </a:r>
            <a:r>
              <a:rPr lang="es-CO" sz="1200" dirty="0"/>
              <a:t> Numero de notas reprobadas (contador)</a:t>
            </a:r>
          </a:p>
          <a:p>
            <a:pPr marL="800100" lvl="1" indent="-342900">
              <a:buFont typeface="Arial" pitchFamily="34" charset="0"/>
              <a:buChar char="•"/>
            </a:pPr>
            <a:r>
              <a:rPr lang="es-CO" sz="1200" b="1" dirty="0" err="1">
                <a:latin typeface="Consolas" panose="020B0609020204030204" pitchFamily="49" charset="0"/>
              </a:rPr>
              <a:t>suma_reprobadas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notas_aprobadas</a:t>
            </a:r>
            <a:r>
              <a:rPr lang="es-CO" sz="1200" b="1" dirty="0"/>
              <a:t>:</a:t>
            </a:r>
            <a:r>
              <a:rPr lang="es-CO" sz="1200" dirty="0"/>
              <a:t> Numero de notas aprobadas (contador)</a:t>
            </a:r>
          </a:p>
          <a:p>
            <a:pPr marL="800100" lvl="1" indent="-342900">
              <a:buFont typeface="Arial" pitchFamily="34" charset="0"/>
              <a:buChar char="•"/>
            </a:pPr>
            <a:r>
              <a:rPr lang="es-CO" sz="1200" b="1" dirty="0" err="1">
                <a:latin typeface="Consolas" panose="020B0609020204030204" pitchFamily="49" charset="0"/>
              </a:rPr>
              <a:t>suma_aprobadas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suma_notas</a:t>
            </a:r>
            <a:r>
              <a:rPr lang="es-CO" sz="1200" b="1" dirty="0"/>
              <a:t>:</a:t>
            </a:r>
            <a:r>
              <a:rPr lang="es-CO" sz="1200" dirty="0"/>
              <a:t> Suma de las notas registradas.</a:t>
            </a:r>
          </a:p>
          <a:p>
            <a:pPr marL="800100" lvl="1" indent="-342900">
              <a:buFont typeface="Arial" pitchFamily="34" charset="0"/>
              <a:buChar char="•"/>
            </a:pPr>
            <a:endParaRPr lang="es-CO" sz="1200" dirty="0"/>
          </a:p>
        </p:txBody>
      </p:sp>
    </p:spTree>
    <p:extLst>
      <p:ext uri="{BB962C8B-B14F-4D97-AF65-F5344CB8AC3E}">
        <p14:creationId xmlns:p14="http://schemas.microsoft.com/office/powerpoint/2010/main" val="19584341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7</a:t>
            </a:r>
          </a:p>
        </p:txBody>
      </p:sp>
      <p:grpSp>
        <p:nvGrpSpPr>
          <p:cNvPr id="2" name="Grupo 1">
            <a:extLst>
              <a:ext uri="{FF2B5EF4-FFF2-40B4-BE49-F238E27FC236}">
                <a16:creationId xmlns:a16="http://schemas.microsoft.com/office/drawing/2014/main" id="{42121BD4-1753-4AE5-983B-5A26A45B380F}"/>
              </a:ext>
            </a:extLst>
          </p:cNvPr>
          <p:cNvGrpSpPr/>
          <p:nvPr/>
        </p:nvGrpSpPr>
        <p:grpSpPr>
          <a:xfrm>
            <a:off x="122269" y="1484784"/>
            <a:ext cx="8966864" cy="3412142"/>
            <a:chOff x="122269" y="1155110"/>
            <a:chExt cx="8966864" cy="3412142"/>
          </a:xfrm>
        </p:grpSpPr>
        <p:grpSp>
          <p:nvGrpSpPr>
            <p:cNvPr id="9" name="5 Grupo">
              <a:extLst>
                <a:ext uri="{FF2B5EF4-FFF2-40B4-BE49-F238E27FC236}">
                  <a16:creationId xmlns:a16="http://schemas.microsoft.com/office/drawing/2014/main" id="{8FE9501D-19B2-420E-8A81-14427FA16D0F}"/>
                </a:ext>
              </a:extLst>
            </p:cNvPr>
            <p:cNvGrpSpPr/>
            <p:nvPr/>
          </p:nvGrpSpPr>
          <p:grpSpPr>
            <a:xfrm>
              <a:off x="122269" y="1155110"/>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0" name="1 Rectángulo">
              <a:extLst>
                <a:ext uri="{FF2B5EF4-FFF2-40B4-BE49-F238E27FC236}">
                  <a16:creationId xmlns:a16="http://schemas.microsoft.com/office/drawing/2014/main" id="{D1398223-11E8-42D2-AEF3-AD54D2C419C3}"/>
                </a:ext>
              </a:extLst>
            </p:cNvPr>
            <p:cNvSpPr/>
            <p:nvPr/>
          </p:nvSpPr>
          <p:spPr>
            <a:xfrm>
              <a:off x="7175891" y="1771538"/>
              <a:ext cx="1119217"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p_aprobaron</a:t>
              </a:r>
              <a:endParaRPr lang="es-CO" sz="1200" dirty="0">
                <a:latin typeface="Consolas" panose="020B0609020204030204" pitchFamily="49" charset="0"/>
                <a:cs typeface="Consolas" panose="020B0609020204030204" pitchFamily="49" charset="0"/>
              </a:endParaRPr>
            </a:p>
          </p:txBody>
        </p:sp>
        <p:sp>
          <p:nvSpPr>
            <p:cNvPr id="11" name="10 Rectángulo">
              <a:extLst>
                <a:ext uri="{FF2B5EF4-FFF2-40B4-BE49-F238E27FC236}">
                  <a16:creationId xmlns:a16="http://schemas.microsoft.com/office/drawing/2014/main" id="{A599FC2C-8781-48C6-AFD4-F86EC2C1085F}"/>
                </a:ext>
              </a:extLst>
            </p:cNvPr>
            <p:cNvSpPr/>
            <p:nvPr/>
          </p:nvSpPr>
          <p:spPr>
            <a:xfrm>
              <a:off x="3167758" y="2745541"/>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Variables auxiliares</a:t>
              </a:r>
            </a:p>
          </p:txBody>
        </p:sp>
        <p:sp>
          <p:nvSpPr>
            <p:cNvPr id="12" name="1 Rectángulo">
              <a:extLst>
                <a:ext uri="{FF2B5EF4-FFF2-40B4-BE49-F238E27FC236}">
                  <a16:creationId xmlns:a16="http://schemas.microsoft.com/office/drawing/2014/main" id="{C6B5573E-DBD7-4223-86BE-BEC503A9E92F}"/>
                </a:ext>
              </a:extLst>
            </p:cNvPr>
            <p:cNvSpPr/>
            <p:nvPr/>
          </p:nvSpPr>
          <p:spPr>
            <a:xfrm>
              <a:off x="3563888" y="3228197"/>
              <a:ext cx="1544012"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notas_reprobadas</a:t>
              </a:r>
              <a:endParaRPr lang="es-CO" sz="1200" dirty="0">
                <a:latin typeface="Consolas" panose="020B0609020204030204" pitchFamily="49" charset="0"/>
                <a:cs typeface="Consolas" panose="020B0609020204030204" pitchFamily="49" charset="0"/>
              </a:endParaRPr>
            </a:p>
          </p:txBody>
        </p:sp>
        <p:sp>
          <p:nvSpPr>
            <p:cNvPr id="20" name="1 Rectángulo">
              <a:extLst>
                <a:ext uri="{FF2B5EF4-FFF2-40B4-BE49-F238E27FC236}">
                  <a16:creationId xmlns:a16="http://schemas.microsoft.com/office/drawing/2014/main" id="{0C86435B-112B-4DBD-B639-6CE51F189FE3}"/>
                </a:ext>
              </a:extLst>
            </p:cNvPr>
            <p:cNvSpPr/>
            <p:nvPr/>
          </p:nvSpPr>
          <p:spPr>
            <a:xfrm>
              <a:off x="513284" y="1759321"/>
              <a:ext cx="524503"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a:t>
              </a:r>
            </a:p>
          </p:txBody>
        </p:sp>
        <p:sp>
          <p:nvSpPr>
            <p:cNvPr id="21" name="1 Rectángulo">
              <a:extLst>
                <a:ext uri="{FF2B5EF4-FFF2-40B4-BE49-F238E27FC236}">
                  <a16:creationId xmlns:a16="http://schemas.microsoft.com/office/drawing/2014/main" id="{3B2C50F9-587E-446F-83C8-BDF0086F3C88}"/>
                </a:ext>
              </a:extLst>
            </p:cNvPr>
            <p:cNvSpPr/>
            <p:nvPr/>
          </p:nvSpPr>
          <p:spPr>
            <a:xfrm>
              <a:off x="7164288" y="2259022"/>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prom_nota_reprobada</a:t>
              </a:r>
              <a:endParaRPr lang="es-CO" sz="1200" dirty="0">
                <a:latin typeface="Consolas" panose="020B0609020204030204" pitchFamily="49" charset="0"/>
                <a:cs typeface="Consolas" panose="020B0609020204030204" pitchFamily="49" charset="0"/>
              </a:endParaRPr>
            </a:p>
          </p:txBody>
        </p:sp>
        <p:sp>
          <p:nvSpPr>
            <p:cNvPr id="22" name="1 Rectángulo">
              <a:extLst>
                <a:ext uri="{FF2B5EF4-FFF2-40B4-BE49-F238E27FC236}">
                  <a16:creationId xmlns:a16="http://schemas.microsoft.com/office/drawing/2014/main" id="{24AAC88C-EDFD-4BDF-93B4-69386E31AA14}"/>
                </a:ext>
              </a:extLst>
            </p:cNvPr>
            <p:cNvSpPr/>
            <p:nvPr/>
          </p:nvSpPr>
          <p:spPr>
            <a:xfrm>
              <a:off x="7164288" y="2010010"/>
              <a:ext cx="1204176"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p_reprobaron</a:t>
              </a:r>
              <a:endParaRPr lang="es-CO" sz="1200" dirty="0">
                <a:latin typeface="Consolas" panose="020B0609020204030204" pitchFamily="49" charset="0"/>
                <a:cs typeface="Consolas" panose="020B0609020204030204" pitchFamily="49" charset="0"/>
              </a:endParaRPr>
            </a:p>
          </p:txBody>
        </p:sp>
        <p:sp>
          <p:nvSpPr>
            <p:cNvPr id="23" name="1 Rectángulo">
              <a:extLst>
                <a:ext uri="{FF2B5EF4-FFF2-40B4-BE49-F238E27FC236}">
                  <a16:creationId xmlns:a16="http://schemas.microsoft.com/office/drawing/2014/main" id="{03A24B10-0B74-4597-ABFC-A6C64FB4EC49}"/>
                </a:ext>
              </a:extLst>
            </p:cNvPr>
            <p:cNvSpPr/>
            <p:nvPr/>
          </p:nvSpPr>
          <p:spPr>
            <a:xfrm>
              <a:off x="7177953" y="2525481"/>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prom_nota_aprobada</a:t>
              </a:r>
              <a:endParaRPr lang="es-CO" sz="1200" dirty="0">
                <a:latin typeface="Consolas" panose="020B0609020204030204" pitchFamily="49" charset="0"/>
                <a:cs typeface="Consolas" panose="020B0609020204030204" pitchFamily="49" charset="0"/>
              </a:endParaRPr>
            </a:p>
          </p:txBody>
        </p:sp>
        <p:sp>
          <p:nvSpPr>
            <p:cNvPr id="24" name="1 Rectángulo">
              <a:extLst>
                <a:ext uri="{FF2B5EF4-FFF2-40B4-BE49-F238E27FC236}">
                  <a16:creationId xmlns:a16="http://schemas.microsoft.com/office/drawing/2014/main" id="{ACAAE8C9-A755-4A05-82D0-15B03F4A99D9}"/>
                </a:ext>
              </a:extLst>
            </p:cNvPr>
            <p:cNvSpPr/>
            <p:nvPr/>
          </p:nvSpPr>
          <p:spPr>
            <a:xfrm>
              <a:off x="7167676" y="2779496"/>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a:t>
              </a:r>
              <a:endParaRPr lang="es-CO" sz="1200" dirty="0">
                <a:latin typeface="Consolas" panose="020B0609020204030204" pitchFamily="49" charset="0"/>
                <a:cs typeface="Consolas" panose="020B0609020204030204" pitchFamily="49" charset="0"/>
              </a:endParaRPr>
            </a:p>
          </p:txBody>
        </p:sp>
        <p:sp>
          <p:nvSpPr>
            <p:cNvPr id="25" name="10 Rectángulo">
              <a:extLst>
                <a:ext uri="{FF2B5EF4-FFF2-40B4-BE49-F238E27FC236}">
                  <a16:creationId xmlns:a16="http://schemas.microsoft.com/office/drawing/2014/main" id="{28D00F6F-FEF1-4AC2-B61B-4F94924076AB}"/>
                </a:ext>
              </a:extLst>
            </p:cNvPr>
            <p:cNvSpPr/>
            <p:nvPr/>
          </p:nvSpPr>
          <p:spPr>
            <a:xfrm>
              <a:off x="3167757" y="2007992"/>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Constantes</a:t>
              </a:r>
            </a:p>
          </p:txBody>
        </p:sp>
        <p:sp>
          <p:nvSpPr>
            <p:cNvPr id="26" name="1 Rectángulo">
              <a:extLst>
                <a:ext uri="{FF2B5EF4-FFF2-40B4-BE49-F238E27FC236}">
                  <a16:creationId xmlns:a16="http://schemas.microsoft.com/office/drawing/2014/main" id="{2038A0DC-3DBE-4D08-B99D-C81A64192003}"/>
                </a:ext>
              </a:extLst>
            </p:cNvPr>
            <p:cNvSpPr/>
            <p:nvPr/>
          </p:nvSpPr>
          <p:spPr>
            <a:xfrm>
              <a:off x="3412382" y="2479595"/>
              <a:ext cx="2112186"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NOTA_MINIMA = 3.0</a:t>
              </a:r>
            </a:p>
          </p:txBody>
        </p:sp>
        <p:sp>
          <p:nvSpPr>
            <p:cNvPr id="27" name="1 Rectángulo">
              <a:extLst>
                <a:ext uri="{FF2B5EF4-FFF2-40B4-BE49-F238E27FC236}">
                  <a16:creationId xmlns:a16="http://schemas.microsoft.com/office/drawing/2014/main" id="{DD8EBF09-5B86-4E31-845E-25EE4E914911}"/>
                </a:ext>
              </a:extLst>
            </p:cNvPr>
            <p:cNvSpPr/>
            <p:nvPr/>
          </p:nvSpPr>
          <p:spPr>
            <a:xfrm>
              <a:off x="3563888" y="3483090"/>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notas_aprobadas</a:t>
              </a:r>
              <a:endParaRPr lang="es-CO" sz="1200" dirty="0">
                <a:latin typeface="Consolas" panose="020B0609020204030204" pitchFamily="49" charset="0"/>
                <a:cs typeface="Consolas" panose="020B0609020204030204" pitchFamily="49" charset="0"/>
              </a:endParaRPr>
            </a:p>
          </p:txBody>
        </p:sp>
        <p:sp>
          <p:nvSpPr>
            <p:cNvPr id="28" name="1 Rectángulo">
              <a:extLst>
                <a:ext uri="{FF2B5EF4-FFF2-40B4-BE49-F238E27FC236}">
                  <a16:creationId xmlns:a16="http://schemas.microsoft.com/office/drawing/2014/main" id="{40E934AA-0485-4C51-A363-779A0FA8C931}"/>
                </a:ext>
              </a:extLst>
            </p:cNvPr>
            <p:cNvSpPr/>
            <p:nvPr/>
          </p:nvSpPr>
          <p:spPr>
            <a:xfrm>
              <a:off x="3563888" y="3752626"/>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suma_reprobadas</a:t>
              </a:r>
              <a:endParaRPr lang="es-CO" sz="1200" dirty="0">
                <a:latin typeface="Consolas" panose="020B0609020204030204" pitchFamily="49" charset="0"/>
                <a:cs typeface="Consolas" panose="020B0609020204030204" pitchFamily="49" charset="0"/>
              </a:endParaRPr>
            </a:p>
          </p:txBody>
        </p:sp>
        <p:sp>
          <p:nvSpPr>
            <p:cNvPr id="29" name="1 Rectángulo">
              <a:extLst>
                <a:ext uri="{FF2B5EF4-FFF2-40B4-BE49-F238E27FC236}">
                  <a16:creationId xmlns:a16="http://schemas.microsoft.com/office/drawing/2014/main" id="{F3EAF573-8220-4313-80C9-F2BE1AF3C4FF}"/>
                </a:ext>
              </a:extLst>
            </p:cNvPr>
            <p:cNvSpPr/>
            <p:nvPr/>
          </p:nvSpPr>
          <p:spPr>
            <a:xfrm>
              <a:off x="3563888" y="4013105"/>
              <a:ext cx="137409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suma_aprobadas</a:t>
              </a:r>
              <a:endParaRPr lang="es-CO" sz="1200" dirty="0">
                <a:latin typeface="Consolas" panose="020B0609020204030204" pitchFamily="49" charset="0"/>
                <a:cs typeface="Consolas" panose="020B0609020204030204" pitchFamily="49" charset="0"/>
              </a:endParaRPr>
            </a:p>
          </p:txBody>
        </p:sp>
        <p:sp>
          <p:nvSpPr>
            <p:cNvPr id="30" name="1 Rectángulo">
              <a:extLst>
                <a:ext uri="{FF2B5EF4-FFF2-40B4-BE49-F238E27FC236}">
                  <a16:creationId xmlns:a16="http://schemas.microsoft.com/office/drawing/2014/main" id="{CD1C955F-F65D-4DA6-B23B-C422F3C2F58C}"/>
                </a:ext>
              </a:extLst>
            </p:cNvPr>
            <p:cNvSpPr/>
            <p:nvPr/>
          </p:nvSpPr>
          <p:spPr>
            <a:xfrm>
              <a:off x="3563888" y="4290253"/>
              <a:ext cx="1374094"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suma_notas</a:t>
              </a:r>
              <a:endParaRPr lang="es-CO" sz="1200" dirty="0">
                <a:latin typeface="Consolas" panose="020B0609020204030204" pitchFamily="49" charset="0"/>
                <a:cs typeface="Consolas" panose="020B0609020204030204" pitchFamily="49" charset="0"/>
              </a:endParaRPr>
            </a:p>
          </p:txBody>
        </p:sp>
      </p:grpSp>
      <p:sp>
        <p:nvSpPr>
          <p:cNvPr id="32" name="1 Rectángulo">
            <a:extLst>
              <a:ext uri="{FF2B5EF4-FFF2-40B4-BE49-F238E27FC236}">
                <a16:creationId xmlns:a16="http://schemas.microsoft.com/office/drawing/2014/main" id="{0A97BFA9-AEB9-454A-844E-D5AB7853D0B1}"/>
              </a:ext>
            </a:extLst>
          </p:cNvPr>
          <p:cNvSpPr/>
          <p:nvPr/>
        </p:nvSpPr>
        <p:spPr>
          <a:xfrm>
            <a:off x="513284" y="2310048"/>
            <a:ext cx="524503"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a:t>
            </a:r>
          </a:p>
        </p:txBody>
      </p:sp>
    </p:spTree>
    <p:extLst>
      <p:ext uri="{BB962C8B-B14F-4D97-AF65-F5344CB8AC3E}">
        <p14:creationId xmlns:p14="http://schemas.microsoft.com/office/powerpoint/2010/main" val="12578828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107504" y="764704"/>
            <a:ext cx="4659716" cy="5678478"/>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latin typeface="Consolas" panose="020B0609020204030204" pitchFamily="49" charset="0"/>
              </a:rPr>
              <a:t>  i = 0</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Mientras (i &lt; N) Haga    </a:t>
            </a:r>
          </a:p>
          <a:p>
            <a:r>
              <a:rPr lang="es-MX" sz="1100" dirty="0">
                <a:solidFill>
                  <a:srgbClr val="C00000"/>
                </a:solidFill>
                <a:latin typeface="Consolas" panose="020B0609020204030204" pitchFamily="49" charset="0"/>
              </a:rPr>
              <a:t>    Leer(nota) </a:t>
            </a:r>
          </a:p>
          <a:p>
            <a:r>
              <a:rPr lang="es-MX" sz="1100" dirty="0">
                <a:solidFill>
                  <a:srgbClr val="00B050"/>
                </a:solidFill>
                <a:latin typeface="Consolas" panose="020B0609020204030204" pitchFamily="49" charset="0"/>
              </a:rPr>
              <a:t>    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00B050"/>
                </a:solidFill>
                <a:latin typeface="Consolas" panose="020B0609020204030204" pitchFamily="49" charset="0"/>
              </a:rPr>
              <a:t>    </a:t>
            </a:r>
            <a:r>
              <a:rPr lang="es-MX" sz="1100" dirty="0">
                <a:solidFill>
                  <a:srgbClr val="C00000"/>
                </a:solidFill>
                <a:latin typeface="Consolas" panose="020B0609020204030204" pitchFamily="49" charset="0"/>
              </a:rPr>
              <a:t>i = i + 1</a:t>
            </a:r>
            <a:endParaRPr lang="es-MX" sz="1100" dirty="0">
              <a:solidFill>
                <a:srgbClr val="00B050"/>
              </a:solidFill>
              <a:latin typeface="Consolas" panose="020B0609020204030204" pitchFamily="49" charset="0"/>
            </a:endParaRPr>
          </a:p>
          <a:p>
            <a:r>
              <a:rPr lang="es-MX" sz="1100" dirty="0">
                <a:solidFill>
                  <a:srgbClr val="C00000"/>
                </a:solidFill>
                <a:latin typeface="Consolas" panose="020B0609020204030204" pitchFamily="49" charset="0"/>
              </a:rPr>
              <a:t>  Fin_Mientras</a:t>
            </a: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a:solidFill>
                  <a:srgbClr val="0070C0"/>
                </a:solidFill>
                <a:latin typeface="Consolas" panose="020B0609020204030204" pitchFamily="49" charset="0"/>
              </a:rPr>
              <a:t>Si N == 0 Entonces</a:t>
            </a:r>
          </a:p>
          <a:p>
            <a:r>
              <a:rPr lang="es-MX" sz="1100" dirty="0">
                <a:solidFill>
                  <a:srgbClr val="0070C0"/>
                </a:solidFill>
                <a:latin typeface="Consolas" panose="020B0609020204030204" pitchFamily="49" charset="0"/>
              </a:rPr>
              <a:t>    Escribir("No hay estudiantes")</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notas_aprobadas</a:t>
            </a:r>
            <a:r>
              <a:rPr lang="es-MX" sz="1100" dirty="0">
                <a:solidFill>
                  <a:srgbClr val="0070C0"/>
                </a:solidFill>
                <a:latin typeface="Consolas" panose="020B0609020204030204" pitchFamily="49" charset="0"/>
              </a:rPr>
              <a:t>/N)*100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notas_reprobadas</a:t>
            </a:r>
            <a:r>
              <a:rPr lang="es-MX" sz="1100" dirty="0">
                <a:solidFill>
                  <a:srgbClr val="0070C0"/>
                </a:solidFill>
                <a:latin typeface="Consolas" panose="020B0609020204030204" pitchFamily="49" charset="0"/>
              </a:rPr>
              <a:t>/N)*100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notas_reprobadas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notas_aprobadas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suma_notas</a:t>
            </a:r>
            <a:r>
              <a:rPr lang="es-MX" sz="1100" dirty="0">
                <a:solidFill>
                  <a:srgbClr val="0070C0"/>
                </a:solidFill>
                <a:latin typeface="Consolas" panose="020B0609020204030204" pitchFamily="49" charset="0"/>
              </a:rPr>
              <a:t>/N</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7</a:t>
            </a:r>
          </a:p>
        </p:txBody>
      </p:sp>
      <p:pic>
        <p:nvPicPr>
          <p:cNvPr id="3" name="Imagen 2">
            <a:extLst>
              <a:ext uri="{FF2B5EF4-FFF2-40B4-BE49-F238E27FC236}">
                <a16:creationId xmlns:a16="http://schemas.microsoft.com/office/drawing/2014/main" id="{7FFAD387-1A70-4A3E-94AD-53507F971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5236" y="444235"/>
            <a:ext cx="4183957" cy="6590605"/>
          </a:xfrm>
          <a:prstGeom prst="rect">
            <a:avLst/>
          </a:prstGeom>
        </p:spPr>
      </p:pic>
    </p:spTree>
    <p:extLst>
      <p:ext uri="{BB962C8B-B14F-4D97-AF65-F5344CB8AC3E}">
        <p14:creationId xmlns:p14="http://schemas.microsoft.com/office/powerpoint/2010/main" val="1702038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107504" y="764704"/>
            <a:ext cx="4659716" cy="5678478"/>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latin typeface="Consolas" panose="020B0609020204030204" pitchFamily="49" charset="0"/>
              </a:rPr>
              <a:t>  i = 0</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Mientras (i &lt; N) Haga    </a:t>
            </a:r>
          </a:p>
          <a:p>
            <a:r>
              <a:rPr lang="es-MX" sz="1100" dirty="0">
                <a:solidFill>
                  <a:srgbClr val="C00000"/>
                </a:solidFill>
                <a:latin typeface="Consolas" panose="020B0609020204030204" pitchFamily="49" charset="0"/>
              </a:rPr>
              <a:t>    Leer(nota) </a:t>
            </a:r>
          </a:p>
          <a:p>
            <a:r>
              <a:rPr lang="es-MX" sz="1100" dirty="0">
                <a:solidFill>
                  <a:srgbClr val="00B050"/>
                </a:solidFill>
                <a:latin typeface="Consolas" panose="020B0609020204030204" pitchFamily="49" charset="0"/>
              </a:rPr>
              <a:t>    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00B050"/>
                </a:solidFill>
                <a:latin typeface="Consolas" panose="020B0609020204030204" pitchFamily="49" charset="0"/>
              </a:rPr>
              <a:t>    </a:t>
            </a:r>
            <a:r>
              <a:rPr lang="es-MX" sz="1100" dirty="0">
                <a:solidFill>
                  <a:srgbClr val="C00000"/>
                </a:solidFill>
                <a:latin typeface="Consolas" panose="020B0609020204030204" pitchFamily="49" charset="0"/>
              </a:rPr>
              <a:t>i = i + 1</a:t>
            </a:r>
            <a:endParaRPr lang="es-MX" sz="1100" dirty="0">
              <a:solidFill>
                <a:srgbClr val="00B050"/>
              </a:solidFill>
              <a:latin typeface="Consolas" panose="020B0609020204030204" pitchFamily="49" charset="0"/>
            </a:endParaRPr>
          </a:p>
          <a:p>
            <a:r>
              <a:rPr lang="es-MX" sz="1100" dirty="0">
                <a:solidFill>
                  <a:srgbClr val="C00000"/>
                </a:solidFill>
                <a:latin typeface="Consolas" panose="020B0609020204030204" pitchFamily="49" charset="0"/>
              </a:rPr>
              <a:t>  Fin_Mientras</a:t>
            </a: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a:solidFill>
                  <a:srgbClr val="0070C0"/>
                </a:solidFill>
                <a:latin typeface="Consolas" panose="020B0609020204030204" pitchFamily="49" charset="0"/>
              </a:rPr>
              <a:t>Si N == 0 Entonces</a:t>
            </a:r>
          </a:p>
          <a:p>
            <a:r>
              <a:rPr lang="es-MX" sz="1100" dirty="0">
                <a:solidFill>
                  <a:srgbClr val="0070C0"/>
                </a:solidFill>
                <a:latin typeface="Consolas" panose="020B0609020204030204" pitchFamily="49" charset="0"/>
              </a:rPr>
              <a:t>    Escribir("No hay estudiantes")</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notas_aprobadas</a:t>
            </a:r>
            <a:r>
              <a:rPr lang="es-MX" sz="1100" dirty="0">
                <a:solidFill>
                  <a:srgbClr val="0070C0"/>
                </a:solidFill>
                <a:latin typeface="Consolas" panose="020B0609020204030204" pitchFamily="49" charset="0"/>
              </a:rPr>
              <a:t>/N)*100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notas_reprobadas</a:t>
            </a:r>
            <a:r>
              <a:rPr lang="es-MX" sz="1100" dirty="0">
                <a:solidFill>
                  <a:srgbClr val="0070C0"/>
                </a:solidFill>
                <a:latin typeface="Consolas" panose="020B0609020204030204" pitchFamily="49" charset="0"/>
              </a:rPr>
              <a:t>/N)*100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notas_reprobadas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notas_aprobadas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suma_notas</a:t>
            </a:r>
            <a:r>
              <a:rPr lang="es-MX" sz="1100" dirty="0">
                <a:solidFill>
                  <a:srgbClr val="0070C0"/>
                </a:solidFill>
                <a:latin typeface="Consolas" panose="020B0609020204030204" pitchFamily="49" charset="0"/>
              </a:rPr>
              <a:t>/N</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Escribir(</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7</a:t>
            </a:r>
          </a:p>
        </p:txBody>
      </p:sp>
      <p:sp>
        <p:nvSpPr>
          <p:cNvPr id="5" name="5 Rectángulo">
            <a:extLst>
              <a:ext uri="{FF2B5EF4-FFF2-40B4-BE49-F238E27FC236}">
                <a16:creationId xmlns:a16="http://schemas.microsoft.com/office/drawing/2014/main" id="{06D6ADF4-009E-42C9-93D7-ACCDE5E5538F}"/>
              </a:ext>
            </a:extLst>
          </p:cNvPr>
          <p:cNvSpPr/>
          <p:nvPr/>
        </p:nvSpPr>
        <p:spPr>
          <a:xfrm>
            <a:off x="4979636" y="748147"/>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A18D4279-D5A7-44DF-B5D1-7CB09A895120}"/>
              </a:ext>
            </a:extLst>
          </p:cNvPr>
          <p:cNvGraphicFramePr>
            <a:graphicFrameLocks noGrp="1"/>
          </p:cNvGraphicFramePr>
          <p:nvPr>
            <p:extLst>
              <p:ext uri="{D42A27DB-BD31-4B8C-83A1-F6EECF244321}">
                <p14:modId xmlns:p14="http://schemas.microsoft.com/office/powerpoint/2010/main" val="535875302"/>
              </p:ext>
            </p:extLst>
          </p:nvPr>
        </p:nvGraphicFramePr>
        <p:xfrm>
          <a:off x="5071421" y="1181003"/>
          <a:ext cx="3821060" cy="24680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CO" sz="1400" b="1" dirty="0">
                          <a:solidFill>
                            <a:schemeClr val="bg1"/>
                          </a:solidFill>
                          <a:latin typeface="+mn-lt"/>
                        </a:rPr>
                        <a:t>Numero de estudiantes</a:t>
                      </a:r>
                    </a:p>
                  </a:txBody>
                  <a:tcPr>
                    <a:solidFill>
                      <a:schemeClr val="tx1"/>
                    </a:solidFill>
                  </a:tcPr>
                </a:tc>
                <a:tc>
                  <a:txBody>
                    <a:bodyPr/>
                    <a:lstStyle/>
                    <a:p>
                      <a:r>
                        <a:rPr lang="es-CO" sz="1400" dirty="0">
                          <a:latin typeface="+mn-lt"/>
                        </a:rPr>
                        <a:t>5</a:t>
                      </a:r>
                    </a:p>
                  </a:txBody>
                  <a:tcPr/>
                </a:tc>
                <a:extLst>
                  <a:ext uri="{0D108BD9-81ED-4DB2-BD59-A6C34878D82A}">
                    <a16:rowId xmlns:a16="http://schemas.microsoft.com/office/drawing/2014/main" val="32264777"/>
                  </a:ext>
                </a:extLst>
              </a:tr>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7" name="5 Rectángulo">
            <a:extLst>
              <a:ext uri="{FF2B5EF4-FFF2-40B4-BE49-F238E27FC236}">
                <a16:creationId xmlns:a16="http://schemas.microsoft.com/office/drawing/2014/main" id="{00F0CF2A-B262-41B0-B4E9-5B653595AB12}"/>
              </a:ext>
            </a:extLst>
          </p:cNvPr>
          <p:cNvSpPr/>
          <p:nvPr/>
        </p:nvSpPr>
        <p:spPr>
          <a:xfrm>
            <a:off x="4979636" y="3820978"/>
            <a:ext cx="2865514" cy="400110"/>
          </a:xfrm>
          <a:prstGeom prst="rect">
            <a:avLst/>
          </a:prstGeom>
        </p:spPr>
        <p:txBody>
          <a:bodyPr wrap="square">
            <a:spAutoFit/>
          </a:bodyPr>
          <a:lstStyle/>
          <a:p>
            <a:r>
              <a:rPr lang="es-CO" sz="2000" b="1" dirty="0"/>
              <a:t>Prueba de escritorio</a:t>
            </a:r>
            <a:endParaRPr lang="es-CO" sz="2000" dirty="0"/>
          </a:p>
        </p:txBody>
      </p:sp>
      <p:sp>
        <p:nvSpPr>
          <p:cNvPr id="8" name="5 Rectángulo">
            <a:extLst>
              <a:ext uri="{FF2B5EF4-FFF2-40B4-BE49-F238E27FC236}">
                <a16:creationId xmlns:a16="http://schemas.microsoft.com/office/drawing/2014/main" id="{A1F958CD-90B1-4FD7-82AD-E6BF1E364483}"/>
              </a:ext>
            </a:extLst>
          </p:cNvPr>
          <p:cNvSpPr/>
          <p:nvPr/>
        </p:nvSpPr>
        <p:spPr>
          <a:xfrm>
            <a:off x="4979636" y="4221088"/>
            <a:ext cx="3912845" cy="523220"/>
          </a:xfrm>
          <a:prstGeom prst="rect">
            <a:avLst/>
          </a:prstGeom>
        </p:spPr>
        <p:txBody>
          <a:bodyPr wrap="square">
            <a:spAutoFit/>
          </a:bodyPr>
          <a:lstStyle/>
          <a:p>
            <a:r>
              <a:rPr lang="es-CO" sz="1400" dirty="0"/>
              <a:t>Realizar la prueba de escritorio para verificar que el algoritmo este bien planteado</a:t>
            </a:r>
          </a:p>
        </p:txBody>
      </p:sp>
      <p:sp>
        <p:nvSpPr>
          <p:cNvPr id="11" name="5 Rectángulo">
            <a:extLst>
              <a:ext uri="{FF2B5EF4-FFF2-40B4-BE49-F238E27FC236}">
                <a16:creationId xmlns:a16="http://schemas.microsoft.com/office/drawing/2014/main" id="{2F52C242-D544-42FF-85EB-E5833E015487}"/>
              </a:ext>
            </a:extLst>
          </p:cNvPr>
          <p:cNvSpPr/>
          <p:nvPr/>
        </p:nvSpPr>
        <p:spPr>
          <a:xfrm>
            <a:off x="4979636" y="5054783"/>
            <a:ext cx="3912845" cy="523220"/>
          </a:xfrm>
          <a:prstGeom prst="rect">
            <a:avLst/>
          </a:prstGeom>
          <a:solidFill>
            <a:schemeClr val="accent6">
              <a:lumMod val="20000"/>
              <a:lumOff val="80000"/>
            </a:schemeClr>
          </a:solidFill>
        </p:spPr>
        <p:txBody>
          <a:bodyPr wrap="square">
            <a:spAutoFit/>
          </a:bodyPr>
          <a:lstStyle/>
          <a:p>
            <a:r>
              <a:rPr lang="es-CO" sz="1400" b="1" dirty="0"/>
              <a:t>Nota</a:t>
            </a:r>
            <a:r>
              <a:rPr lang="es-CO" sz="1400" dirty="0"/>
              <a:t>: Este programa así como esta planeado tiene aun un bug grave. Encuéntrelo y corríjalo.</a:t>
            </a:r>
          </a:p>
        </p:txBody>
      </p:sp>
    </p:spTree>
    <p:extLst>
      <p:ext uri="{BB962C8B-B14F-4D97-AF65-F5344CB8AC3E}">
        <p14:creationId xmlns:p14="http://schemas.microsoft.com/office/powerpoint/2010/main" val="1977987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7</a:t>
            </a:r>
          </a:p>
        </p:txBody>
      </p:sp>
      <p:sp>
        <p:nvSpPr>
          <p:cNvPr id="5" name="5 Rectángulo">
            <a:extLst>
              <a:ext uri="{FF2B5EF4-FFF2-40B4-BE49-F238E27FC236}">
                <a16:creationId xmlns:a16="http://schemas.microsoft.com/office/drawing/2014/main" id="{06D6ADF4-009E-42C9-93D7-ACCDE5E5538F}"/>
              </a:ext>
            </a:extLst>
          </p:cNvPr>
          <p:cNvSpPr/>
          <p:nvPr/>
        </p:nvSpPr>
        <p:spPr>
          <a:xfrm>
            <a:off x="307555" y="1081632"/>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A18D4279-D5A7-44DF-B5D1-7CB09A895120}"/>
              </a:ext>
            </a:extLst>
          </p:cNvPr>
          <p:cNvGraphicFramePr>
            <a:graphicFrameLocks noGrp="1"/>
          </p:cNvGraphicFramePr>
          <p:nvPr>
            <p:extLst>
              <p:ext uri="{D42A27DB-BD31-4B8C-83A1-F6EECF244321}">
                <p14:modId xmlns:p14="http://schemas.microsoft.com/office/powerpoint/2010/main" val="162801974"/>
              </p:ext>
            </p:extLst>
          </p:nvPr>
        </p:nvGraphicFramePr>
        <p:xfrm>
          <a:off x="307555" y="1617347"/>
          <a:ext cx="3821060" cy="24680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CO" sz="1400" b="1" dirty="0">
                          <a:solidFill>
                            <a:schemeClr val="bg1"/>
                          </a:solidFill>
                          <a:latin typeface="+mn-lt"/>
                        </a:rPr>
                        <a:t>Numero de estudiantes</a:t>
                      </a:r>
                    </a:p>
                  </a:txBody>
                  <a:tcPr>
                    <a:solidFill>
                      <a:schemeClr val="tx1"/>
                    </a:solidFill>
                  </a:tcPr>
                </a:tc>
                <a:tc>
                  <a:txBody>
                    <a:bodyPr/>
                    <a:lstStyle/>
                    <a:p>
                      <a:r>
                        <a:rPr lang="es-CO" sz="1400" dirty="0">
                          <a:latin typeface="+mn-lt"/>
                        </a:rPr>
                        <a:t>5</a:t>
                      </a:r>
                    </a:p>
                  </a:txBody>
                  <a:tcPr/>
                </a:tc>
                <a:extLst>
                  <a:ext uri="{0D108BD9-81ED-4DB2-BD59-A6C34878D82A}">
                    <a16:rowId xmlns:a16="http://schemas.microsoft.com/office/drawing/2014/main" val="32264777"/>
                  </a:ext>
                </a:extLst>
              </a:tr>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7" name="5 Rectángulo">
            <a:extLst>
              <a:ext uri="{FF2B5EF4-FFF2-40B4-BE49-F238E27FC236}">
                <a16:creationId xmlns:a16="http://schemas.microsoft.com/office/drawing/2014/main" id="{00F0CF2A-B262-41B0-B4E9-5B653595AB12}"/>
              </a:ext>
            </a:extLst>
          </p:cNvPr>
          <p:cNvSpPr/>
          <p:nvPr/>
        </p:nvSpPr>
        <p:spPr>
          <a:xfrm>
            <a:off x="4427984" y="764704"/>
            <a:ext cx="2865514" cy="400110"/>
          </a:xfrm>
          <a:prstGeom prst="rect">
            <a:avLst/>
          </a:prstGeom>
        </p:spPr>
        <p:txBody>
          <a:bodyPr wrap="square">
            <a:spAutoFit/>
          </a:bodyPr>
          <a:lstStyle/>
          <a:p>
            <a:r>
              <a:rPr lang="es-CO" sz="2000" b="1" dirty="0"/>
              <a:t>Forma</a:t>
            </a:r>
            <a:endParaRPr lang="es-CO" sz="2000" dirty="0"/>
          </a:p>
        </p:txBody>
      </p:sp>
      <p:sp>
        <p:nvSpPr>
          <p:cNvPr id="12" name="CuadroTexto 11">
            <a:extLst>
              <a:ext uri="{FF2B5EF4-FFF2-40B4-BE49-F238E27FC236}">
                <a16:creationId xmlns:a16="http://schemas.microsoft.com/office/drawing/2014/main" id="{3619622E-7114-4B42-A618-FF70DCF16A05}"/>
              </a:ext>
            </a:extLst>
          </p:cNvPr>
          <p:cNvSpPr txBox="1"/>
          <p:nvPr/>
        </p:nvSpPr>
        <p:spPr>
          <a:xfrm>
            <a:off x="4441126" y="1281687"/>
            <a:ext cx="2412776"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 </a:t>
            </a:r>
          </a:p>
          <a:p>
            <a:r>
              <a:rPr lang="es-MX" sz="1200" dirty="0">
                <a:latin typeface="Consolas" panose="020B0609020204030204" pitchFamily="49" charset="0"/>
              </a:rPr>
              <a:t>... </a:t>
            </a:r>
          </a:p>
          <a:p>
            <a:r>
              <a:rPr lang="es-MX" sz="1200" dirty="0">
                <a:latin typeface="Consolas" panose="020B0609020204030204" pitchFamily="49" charset="0"/>
              </a:rPr>
              <a:t>Mientras (</a:t>
            </a:r>
            <a:r>
              <a:rPr lang="es-MX" sz="1200" dirty="0">
                <a:solidFill>
                  <a:srgbClr val="C00000"/>
                </a:solidFill>
                <a:latin typeface="Consolas" panose="020B0609020204030204" pitchFamily="49" charset="0"/>
              </a:rPr>
              <a:t>i &lt; N</a:t>
            </a:r>
            <a:r>
              <a:rPr lang="es-MX" sz="1200" dirty="0">
                <a:latin typeface="Consolas" panose="020B0609020204030204" pitchFamily="49" charset="0"/>
              </a:rPr>
              <a:t>) Haga </a:t>
            </a:r>
          </a:p>
          <a:p>
            <a:r>
              <a:rPr lang="es-MX" sz="1200" dirty="0">
                <a:latin typeface="Consolas" panose="020B0609020204030204" pitchFamily="49" charset="0"/>
              </a:rPr>
              <a:t>  Leer(nota) </a:t>
            </a:r>
          </a:p>
          <a:p>
            <a:r>
              <a:rPr lang="es-MX" sz="1200" dirty="0">
                <a:latin typeface="Consolas" panose="020B0609020204030204" pitchFamily="49" charset="0"/>
              </a:rPr>
              <a:t>  ...</a:t>
            </a:r>
          </a:p>
          <a:p>
            <a:r>
              <a:rPr lang="es-MX" sz="1200" dirty="0">
                <a:latin typeface="Consolas" panose="020B0609020204030204" pitchFamily="49" charset="0"/>
              </a:rPr>
              <a:t>  i = i + 1</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3" name="5 Rectángulo">
            <a:extLst>
              <a:ext uri="{FF2B5EF4-FFF2-40B4-BE49-F238E27FC236}">
                <a16:creationId xmlns:a16="http://schemas.microsoft.com/office/drawing/2014/main" id="{C11AB076-103C-40DC-A51B-C7937C998661}"/>
              </a:ext>
            </a:extLst>
          </p:cNvPr>
          <p:cNvSpPr/>
          <p:nvPr/>
        </p:nvSpPr>
        <p:spPr>
          <a:xfrm>
            <a:off x="4427984" y="3073197"/>
            <a:ext cx="2865514" cy="400110"/>
          </a:xfrm>
          <a:prstGeom prst="rect">
            <a:avLst/>
          </a:prstGeom>
        </p:spPr>
        <p:txBody>
          <a:bodyPr wrap="square">
            <a:spAutoFit/>
          </a:bodyPr>
          <a:lstStyle/>
          <a:p>
            <a:r>
              <a:rPr lang="es-CO" sz="2000" b="1" dirty="0"/>
              <a:t>Resultado de ejecución</a:t>
            </a:r>
            <a:endParaRPr lang="es-CO" sz="2000" dirty="0"/>
          </a:p>
        </p:txBody>
      </p:sp>
      <p:sp>
        <p:nvSpPr>
          <p:cNvPr id="14" name="CuadroTexto 13">
            <a:extLst>
              <a:ext uri="{FF2B5EF4-FFF2-40B4-BE49-F238E27FC236}">
                <a16:creationId xmlns:a16="http://schemas.microsoft.com/office/drawing/2014/main" id="{956D764A-A759-4830-8E6D-370A2063C3D7}"/>
              </a:ext>
            </a:extLst>
          </p:cNvPr>
          <p:cNvSpPr txBox="1"/>
          <p:nvPr/>
        </p:nvSpPr>
        <p:spPr>
          <a:xfrm>
            <a:off x="4427984" y="3677296"/>
            <a:ext cx="4283077" cy="212365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Ingrese el número de estudiantes: 5</a:t>
            </a:r>
          </a:p>
          <a:p>
            <a:r>
              <a:rPr lang="es-MX" sz="1200" dirty="0">
                <a:latin typeface="Consolas" panose="020B0609020204030204" pitchFamily="49" charset="0"/>
              </a:rPr>
              <a:t>Ingrese la nota del estudiante 1: 4</a:t>
            </a:r>
          </a:p>
          <a:p>
            <a:r>
              <a:rPr lang="es-MX" sz="1200" dirty="0">
                <a:latin typeface="Consolas" panose="020B0609020204030204" pitchFamily="49" charset="0"/>
              </a:rPr>
              <a:t>Ingrese la nota del estudiante 2: 2.5</a:t>
            </a:r>
          </a:p>
          <a:p>
            <a:r>
              <a:rPr lang="es-MX" sz="1200" dirty="0">
                <a:latin typeface="Consolas" panose="020B0609020204030204" pitchFamily="49" charset="0"/>
              </a:rPr>
              <a:t>Ingrese la nota del estudiante 3: 3.0</a:t>
            </a:r>
          </a:p>
          <a:p>
            <a:r>
              <a:rPr lang="es-MX" sz="1200" dirty="0">
                <a:latin typeface="Consolas" panose="020B0609020204030204" pitchFamily="49" charset="0"/>
              </a:rPr>
              <a:t>Ingrese la nota del estudiante 4: 1.5</a:t>
            </a:r>
          </a:p>
          <a:p>
            <a:r>
              <a:rPr lang="es-MX" sz="1200" dirty="0">
                <a:latin typeface="Consolas" panose="020B0609020204030204" pitchFamily="49" charset="0"/>
              </a:rPr>
              <a:t>Ingrese la nota del estudiante 5: 4.8</a:t>
            </a:r>
          </a:p>
          <a:p>
            <a:r>
              <a:rPr lang="es-MX" sz="1200" dirty="0">
                <a:latin typeface="Consolas" panose="020B0609020204030204" pitchFamily="49" charset="0"/>
              </a:rPr>
              <a:t>Porcentaje de estudiantes que aprobaron: 60.0%</a:t>
            </a:r>
          </a:p>
          <a:p>
            <a:r>
              <a:rPr lang="es-MX" sz="1200" dirty="0">
                <a:latin typeface="Consolas" panose="020B0609020204030204" pitchFamily="49" charset="0"/>
              </a:rPr>
              <a:t>Porcentaje de estudiantes que reprobaron: 40.0%</a:t>
            </a:r>
          </a:p>
          <a:p>
            <a:r>
              <a:rPr lang="es-MX" sz="1200" dirty="0">
                <a:latin typeface="Consolas" panose="020B0609020204030204" pitchFamily="49" charset="0"/>
              </a:rPr>
              <a:t>Promedio de notas reprobadas: 2.0</a:t>
            </a:r>
          </a:p>
          <a:p>
            <a:r>
              <a:rPr lang="es-MX" sz="1200" dirty="0">
                <a:latin typeface="Consolas" panose="020B0609020204030204" pitchFamily="49" charset="0"/>
              </a:rPr>
              <a:t>Promedio de notas aprobadas: 3.9333333333333336</a:t>
            </a:r>
          </a:p>
          <a:p>
            <a:r>
              <a:rPr lang="es-MX" sz="1200" dirty="0">
                <a:latin typeface="Consolas" panose="020B0609020204030204" pitchFamily="49" charset="0"/>
              </a:rPr>
              <a:t>Promedio general de notas: 3.16</a:t>
            </a:r>
          </a:p>
        </p:txBody>
      </p:sp>
    </p:spTree>
    <p:extLst>
      <p:ext uri="{BB962C8B-B14F-4D97-AF65-F5344CB8AC3E}">
        <p14:creationId xmlns:p14="http://schemas.microsoft.com/office/powerpoint/2010/main" val="32674874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8701428" cy="773749"/>
          </a:xfrm>
        </p:spPr>
        <p:txBody>
          <a:bodyPr>
            <a:normAutofit/>
          </a:bodyPr>
          <a:lstStyle/>
          <a:p>
            <a:r>
              <a:rPr lang="en-US" dirty="0"/>
              <a:t>Tipos de variables </a:t>
            </a:r>
            <a:r>
              <a:rPr lang="es-CO" dirty="0"/>
              <a:t>útiles</a:t>
            </a:r>
            <a:r>
              <a:rPr lang="en-US" dirty="0"/>
              <a:t> en los </a:t>
            </a:r>
            <a:r>
              <a:rPr lang="en-US" dirty="0" err="1"/>
              <a:t>ciclos</a:t>
            </a:r>
            <a:endParaRPr lang="en-US" dirty="0"/>
          </a:p>
        </p:txBody>
      </p:sp>
      <p:sp>
        <p:nvSpPr>
          <p:cNvPr id="23" name="12 Rectángulo">
            <a:extLst>
              <a:ext uri="{FF2B5EF4-FFF2-40B4-BE49-F238E27FC236}">
                <a16:creationId xmlns:a16="http://schemas.microsoft.com/office/drawing/2014/main" id="{7789A76E-CF65-4031-95FC-AF6BE5FC3D10}"/>
              </a:ext>
            </a:extLst>
          </p:cNvPr>
          <p:cNvSpPr/>
          <p:nvPr/>
        </p:nvSpPr>
        <p:spPr>
          <a:xfrm>
            <a:off x="263060" y="971600"/>
            <a:ext cx="8617880" cy="3785652"/>
          </a:xfrm>
          <a:prstGeom prst="rect">
            <a:avLst/>
          </a:prstGeom>
        </p:spPr>
        <p:txBody>
          <a:bodyPr wrap="square">
            <a:spAutoFit/>
          </a:bodyPr>
          <a:lstStyle/>
          <a:p>
            <a:r>
              <a:rPr lang="es-MX" sz="2000" dirty="0"/>
              <a:t>Todo ciclo suele apoyarse en algunos tipos de variables que cumplen roles específicos:</a:t>
            </a:r>
          </a:p>
          <a:p>
            <a:pPr marL="342900" indent="-342900">
              <a:buFont typeface="Arial" panose="020B0604020202020204" pitchFamily="34" charset="0"/>
              <a:buChar char="•"/>
            </a:pPr>
            <a:r>
              <a:rPr lang="es-MX" sz="2000" b="1" dirty="0"/>
              <a:t>Variable de control</a:t>
            </a:r>
            <a:r>
              <a:rPr lang="es-MX" sz="2000" dirty="0"/>
              <a:t>: se evalúa en la condición del ciclo para decidir si continúa o termina </a:t>
            </a:r>
          </a:p>
          <a:p>
            <a:pPr marL="342900" indent="-342900">
              <a:buFont typeface="Arial" panose="020B0604020202020204" pitchFamily="34" charset="0"/>
              <a:buChar char="•"/>
            </a:pPr>
            <a:r>
              <a:rPr lang="es-MX" sz="2000" b="1" dirty="0"/>
              <a:t>Contador</a:t>
            </a:r>
            <a:r>
              <a:rPr lang="es-MX" sz="2000" dirty="0"/>
              <a:t>: lleva la cuenta de repeticiones; se actualiza en una cantidad constante.</a:t>
            </a:r>
          </a:p>
          <a:p>
            <a:pPr marL="342900" indent="-342900">
              <a:buFont typeface="Arial" panose="020B0604020202020204" pitchFamily="34" charset="0"/>
              <a:buChar char="•"/>
            </a:pPr>
            <a:r>
              <a:rPr lang="es-MX" sz="2000" b="1" dirty="0"/>
              <a:t>Acumulador</a:t>
            </a:r>
            <a:r>
              <a:rPr lang="es-MX" sz="2000" dirty="0"/>
              <a:t>: acumula el resultado de una operación que se repite; se actualiza en un valor variable.</a:t>
            </a:r>
          </a:p>
          <a:p>
            <a:pPr marL="342900" indent="-342900">
              <a:buFont typeface="Arial" panose="020B0604020202020204" pitchFamily="34" charset="0"/>
              <a:buChar char="•"/>
            </a:pPr>
            <a:r>
              <a:rPr lang="es-MX" sz="2000" b="1" dirty="0"/>
              <a:t>Bandera</a:t>
            </a:r>
            <a:r>
              <a:rPr lang="es-MX" sz="2000" dirty="0"/>
              <a:t>: variable de dos valores excluyentes usada para controlar el ciclo o recordar un estado dentro de él.</a:t>
            </a:r>
          </a:p>
          <a:p>
            <a:pPr marL="342900" indent="-342900">
              <a:buFont typeface="Arial" panose="020B0604020202020204" pitchFamily="34" charset="0"/>
              <a:buChar char="•"/>
            </a:pPr>
            <a:r>
              <a:rPr lang="es-MX" sz="2000" b="1" dirty="0"/>
              <a:t>Centinela</a:t>
            </a:r>
            <a:r>
              <a:rPr lang="es-MX" sz="2000" dirty="0"/>
              <a:t>: valor especial, fuera del rango válido de los datos, que señala el fin de la entrada.</a:t>
            </a:r>
            <a:endParaRPr lang="es-CO" sz="2000" dirty="0"/>
          </a:p>
        </p:txBody>
      </p:sp>
    </p:spTree>
    <p:extLst>
      <p:ext uri="{BB962C8B-B14F-4D97-AF65-F5344CB8AC3E}">
        <p14:creationId xmlns:p14="http://schemas.microsoft.com/office/powerpoint/2010/main" val="28412754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7617582" cy="773749"/>
          </a:xfrm>
        </p:spPr>
        <p:txBody>
          <a:bodyPr/>
          <a:lstStyle/>
          <a:p>
            <a:r>
              <a:rPr lang="en-US" dirty="0"/>
              <a:t>Recapitulando lo visto</a:t>
            </a:r>
          </a:p>
        </p:txBody>
      </p:sp>
      <p:grpSp>
        <p:nvGrpSpPr>
          <p:cNvPr id="6" name="Grupo 5">
            <a:extLst>
              <a:ext uri="{FF2B5EF4-FFF2-40B4-BE49-F238E27FC236}">
                <a16:creationId xmlns:a16="http://schemas.microsoft.com/office/drawing/2014/main" id="{645D3D08-4B3C-4C18-B8C6-669D7CE9CF27}"/>
              </a:ext>
            </a:extLst>
          </p:cNvPr>
          <p:cNvGrpSpPr/>
          <p:nvPr/>
        </p:nvGrpSpPr>
        <p:grpSpPr>
          <a:xfrm>
            <a:off x="689991" y="1124744"/>
            <a:ext cx="7986465" cy="3527899"/>
            <a:chOff x="614553" y="996468"/>
            <a:chExt cx="7986465" cy="3527899"/>
          </a:xfrm>
        </p:grpSpPr>
        <p:sp>
          <p:nvSpPr>
            <p:cNvPr id="7" name="Rectángulo 6">
              <a:extLst>
                <a:ext uri="{FF2B5EF4-FFF2-40B4-BE49-F238E27FC236}">
                  <a16:creationId xmlns:a16="http://schemas.microsoft.com/office/drawing/2014/main" id="{17FF6CF8-A2C7-4534-B777-0480DC2C43FD}"/>
                </a:ext>
              </a:extLst>
            </p:cNvPr>
            <p:cNvSpPr/>
            <p:nvPr/>
          </p:nvSpPr>
          <p:spPr>
            <a:xfrm>
              <a:off x="3642527" y="996468"/>
              <a:ext cx="1871662" cy="80114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ysClr val="windowText" lastClr="000000"/>
                  </a:solidFill>
                  <a:latin typeface="Century Gothic" panose="020B0502020202020204" pitchFamily="34" charset="0"/>
                </a:rPr>
                <a:t>Tipos de ciclos</a:t>
              </a:r>
              <a:endParaRPr lang="es-CO" sz="2000" b="1" dirty="0">
                <a:solidFill>
                  <a:sysClr val="windowText" lastClr="000000"/>
                </a:solidFill>
                <a:latin typeface="Century Gothic" panose="020B0502020202020204" pitchFamily="34" charset="0"/>
              </a:endParaRPr>
            </a:p>
          </p:txBody>
        </p:sp>
        <p:sp>
          <p:nvSpPr>
            <p:cNvPr id="8" name="Rectángulo 7">
              <a:extLst>
                <a:ext uri="{FF2B5EF4-FFF2-40B4-BE49-F238E27FC236}">
                  <a16:creationId xmlns:a16="http://schemas.microsoft.com/office/drawing/2014/main" id="{9CA508EB-3624-4EAD-B04A-051BFD3BC767}"/>
                </a:ext>
              </a:extLst>
            </p:cNvPr>
            <p:cNvSpPr/>
            <p:nvPr/>
          </p:nvSpPr>
          <p:spPr>
            <a:xfrm>
              <a:off x="2057123" y="2248886"/>
              <a:ext cx="2092234" cy="70586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ysClr val="windowText" lastClr="000000"/>
                  </a:solidFill>
                  <a:latin typeface="Century Gothic" panose="020B0502020202020204" pitchFamily="34" charset="0"/>
                </a:rPr>
                <a:t>Iteración desconocidas</a:t>
              </a:r>
              <a:endParaRPr lang="es-CO" sz="2000" b="1" dirty="0">
                <a:solidFill>
                  <a:sysClr val="windowText" lastClr="000000"/>
                </a:solidFill>
                <a:latin typeface="Century Gothic" panose="020B0502020202020204" pitchFamily="34" charset="0"/>
              </a:endParaRPr>
            </a:p>
          </p:txBody>
        </p:sp>
        <p:sp>
          <p:nvSpPr>
            <p:cNvPr id="9" name="Rectángulo 8">
              <a:extLst>
                <a:ext uri="{FF2B5EF4-FFF2-40B4-BE49-F238E27FC236}">
                  <a16:creationId xmlns:a16="http://schemas.microsoft.com/office/drawing/2014/main" id="{9C04CFF0-15AE-46AD-8545-CA10432DFBC7}"/>
                </a:ext>
              </a:extLst>
            </p:cNvPr>
            <p:cNvSpPr/>
            <p:nvPr/>
          </p:nvSpPr>
          <p:spPr>
            <a:xfrm>
              <a:off x="6508784" y="2248887"/>
              <a:ext cx="2092234" cy="7058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ysClr val="windowText" lastClr="000000"/>
                  </a:solidFill>
                  <a:latin typeface="Century Gothic" panose="020B0502020202020204" pitchFamily="34" charset="0"/>
                </a:rPr>
                <a:t>Iteraciones conocidas</a:t>
              </a:r>
              <a:endParaRPr lang="es-CO" sz="2000" b="1" dirty="0">
                <a:solidFill>
                  <a:sysClr val="windowText" lastClr="000000"/>
                </a:solidFill>
                <a:latin typeface="Century Gothic" panose="020B0502020202020204" pitchFamily="34" charset="0"/>
              </a:endParaRPr>
            </a:p>
          </p:txBody>
        </p:sp>
        <p:grpSp>
          <p:nvGrpSpPr>
            <p:cNvPr id="10" name="Grupo 9">
              <a:extLst>
                <a:ext uri="{FF2B5EF4-FFF2-40B4-BE49-F238E27FC236}">
                  <a16:creationId xmlns:a16="http://schemas.microsoft.com/office/drawing/2014/main" id="{434EF194-3464-4FF9-AE5F-801860475EF7}"/>
                </a:ext>
              </a:extLst>
            </p:cNvPr>
            <p:cNvGrpSpPr/>
            <p:nvPr/>
          </p:nvGrpSpPr>
          <p:grpSpPr>
            <a:xfrm>
              <a:off x="3103241" y="1797614"/>
              <a:ext cx="4451659" cy="451273"/>
              <a:chOff x="4636088" y="2226292"/>
              <a:chExt cx="4451659" cy="451273"/>
            </a:xfrm>
          </p:grpSpPr>
          <p:cxnSp>
            <p:nvCxnSpPr>
              <p:cNvPr id="15" name="Conector: angular 14">
                <a:extLst>
                  <a:ext uri="{FF2B5EF4-FFF2-40B4-BE49-F238E27FC236}">
                    <a16:creationId xmlns:a16="http://schemas.microsoft.com/office/drawing/2014/main" id="{3F59C4E0-0B53-42D6-8730-893ACEB8422E}"/>
                  </a:ext>
                </a:extLst>
              </p:cNvPr>
              <p:cNvCxnSpPr>
                <a:cxnSpLocks/>
                <a:stCxn id="7" idx="2"/>
                <a:endCxn id="9" idx="0"/>
              </p:cNvCxnSpPr>
              <p:nvPr/>
            </p:nvCxnSpPr>
            <p:spPr>
              <a:xfrm rot="16200000" flipH="1">
                <a:off x="7373840" y="963657"/>
                <a:ext cx="451272" cy="2976543"/>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15">
                <a:extLst>
                  <a:ext uri="{FF2B5EF4-FFF2-40B4-BE49-F238E27FC236}">
                    <a16:creationId xmlns:a16="http://schemas.microsoft.com/office/drawing/2014/main" id="{4691D068-4A98-4040-A207-0FE3A9106C1D}"/>
                  </a:ext>
                </a:extLst>
              </p:cNvPr>
              <p:cNvCxnSpPr>
                <a:cxnSpLocks/>
                <a:stCxn id="7" idx="2"/>
                <a:endCxn id="8" idx="0"/>
              </p:cNvCxnSpPr>
              <p:nvPr/>
            </p:nvCxnSpPr>
            <p:spPr>
              <a:xfrm rot="5400000">
                <a:off x="5148011" y="1714369"/>
                <a:ext cx="451271" cy="147511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Rectángulo 10">
              <a:extLst>
                <a:ext uri="{FF2B5EF4-FFF2-40B4-BE49-F238E27FC236}">
                  <a16:creationId xmlns:a16="http://schemas.microsoft.com/office/drawing/2014/main" id="{1ED136B1-85F4-41B9-BB93-29C0E5EDC2CA}"/>
                </a:ext>
              </a:extLst>
            </p:cNvPr>
            <p:cNvSpPr/>
            <p:nvPr/>
          </p:nvSpPr>
          <p:spPr>
            <a:xfrm>
              <a:off x="614553" y="3722679"/>
              <a:ext cx="2092234" cy="8016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solidFill>
                    <a:sysClr val="windowText" lastClr="000000"/>
                  </a:solidFill>
                  <a:latin typeface="Century Gothic" panose="020B0502020202020204" pitchFamily="34" charset="0"/>
                </a:rPr>
                <a:t>Preguntar antes de cada iteración (uso de bandera)</a:t>
              </a:r>
              <a:endParaRPr lang="es-CO" sz="1600" b="1" dirty="0">
                <a:solidFill>
                  <a:sysClr val="windowText" lastClr="000000"/>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F7499249-A05E-40A5-8B3D-18F1995942AE}"/>
                </a:ext>
              </a:extLst>
            </p:cNvPr>
            <p:cNvSpPr/>
            <p:nvPr/>
          </p:nvSpPr>
          <p:spPr>
            <a:xfrm>
              <a:off x="3532240" y="3722679"/>
              <a:ext cx="2092234" cy="8016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solidFill>
                    <a:sysClr val="windowText" lastClr="000000"/>
                  </a:solidFill>
                  <a:latin typeface="Century Gothic" panose="020B0502020202020204" pitchFamily="34" charset="0"/>
                </a:rPr>
                <a:t>Usando registro centinela</a:t>
              </a:r>
              <a:endParaRPr lang="es-CO" sz="1600" b="1" dirty="0">
                <a:solidFill>
                  <a:sysClr val="windowText" lastClr="000000"/>
                </a:solidFill>
                <a:latin typeface="Century Gothic" panose="020B0502020202020204" pitchFamily="34" charset="0"/>
              </a:endParaRPr>
            </a:p>
          </p:txBody>
        </p:sp>
        <p:cxnSp>
          <p:nvCxnSpPr>
            <p:cNvPr id="13" name="Conector: angular 12">
              <a:extLst>
                <a:ext uri="{FF2B5EF4-FFF2-40B4-BE49-F238E27FC236}">
                  <a16:creationId xmlns:a16="http://schemas.microsoft.com/office/drawing/2014/main" id="{3F80EB01-383C-40DF-83C3-441DB3D1E0E9}"/>
                </a:ext>
              </a:extLst>
            </p:cNvPr>
            <p:cNvCxnSpPr>
              <a:cxnSpLocks/>
              <a:stCxn id="8" idx="2"/>
              <a:endCxn id="12" idx="0"/>
            </p:cNvCxnSpPr>
            <p:nvPr/>
          </p:nvCxnSpPr>
          <p:spPr>
            <a:xfrm rot="16200000" flipH="1">
              <a:off x="3456835" y="2601156"/>
              <a:ext cx="767927" cy="1475117"/>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angular 13">
              <a:extLst>
                <a:ext uri="{FF2B5EF4-FFF2-40B4-BE49-F238E27FC236}">
                  <a16:creationId xmlns:a16="http://schemas.microsoft.com/office/drawing/2014/main" id="{21B524B9-84F4-491B-AAC9-0AE576377AC4}"/>
                </a:ext>
              </a:extLst>
            </p:cNvPr>
            <p:cNvCxnSpPr>
              <a:cxnSpLocks/>
              <a:stCxn id="8" idx="2"/>
              <a:endCxn id="11" idx="0"/>
            </p:cNvCxnSpPr>
            <p:nvPr/>
          </p:nvCxnSpPr>
          <p:spPr>
            <a:xfrm rot="5400000">
              <a:off x="1997992" y="2617430"/>
              <a:ext cx="767927" cy="144257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CuadroTexto 16">
            <a:extLst>
              <a:ext uri="{FF2B5EF4-FFF2-40B4-BE49-F238E27FC236}">
                <a16:creationId xmlns:a16="http://schemas.microsoft.com/office/drawing/2014/main" id="{BD82673E-C4DA-45AC-97A5-D7F4C00FAD8A}"/>
              </a:ext>
            </a:extLst>
          </p:cNvPr>
          <p:cNvSpPr txBox="1"/>
          <p:nvPr/>
        </p:nvSpPr>
        <p:spPr>
          <a:xfrm>
            <a:off x="6423951" y="3232376"/>
            <a:ext cx="2412776"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 </a:t>
            </a:r>
          </a:p>
          <a:p>
            <a:r>
              <a:rPr lang="es-MX" sz="1200" dirty="0">
                <a:latin typeface="Consolas" panose="020B0609020204030204" pitchFamily="49" charset="0"/>
              </a:rPr>
              <a:t>... </a:t>
            </a:r>
          </a:p>
          <a:p>
            <a:r>
              <a:rPr lang="es-MX" sz="1200" dirty="0">
                <a:latin typeface="Consolas" panose="020B0609020204030204" pitchFamily="49" charset="0"/>
              </a:rPr>
              <a:t>Mientras (</a:t>
            </a:r>
            <a:r>
              <a:rPr lang="es-MX" sz="1200" dirty="0">
                <a:solidFill>
                  <a:srgbClr val="C00000"/>
                </a:solidFill>
                <a:latin typeface="Consolas" panose="020B0609020204030204" pitchFamily="49" charset="0"/>
              </a:rPr>
              <a:t>i &lt; N</a:t>
            </a:r>
            <a:r>
              <a:rPr lang="es-MX" sz="1200" dirty="0">
                <a:latin typeface="Consolas" panose="020B0609020204030204" pitchFamily="49" charset="0"/>
              </a:rPr>
              <a:t>) Haga </a:t>
            </a:r>
          </a:p>
          <a:p>
            <a:r>
              <a:rPr lang="es-MX" sz="1200" dirty="0">
                <a:latin typeface="Consolas" panose="020B0609020204030204" pitchFamily="49" charset="0"/>
              </a:rPr>
              <a:t>  Leer(nota) </a:t>
            </a:r>
          </a:p>
          <a:p>
            <a:r>
              <a:rPr lang="es-MX" sz="1200" dirty="0">
                <a:latin typeface="Consolas" panose="020B0609020204030204" pitchFamily="49" charset="0"/>
              </a:rPr>
              <a:t>  ...</a:t>
            </a:r>
          </a:p>
          <a:p>
            <a:r>
              <a:rPr lang="es-MX" sz="1200" dirty="0">
                <a:latin typeface="Consolas" panose="020B0609020204030204" pitchFamily="49" charset="0"/>
              </a:rPr>
              <a:t>  i = i + 1</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8" name="CuadroTexto 17">
            <a:extLst>
              <a:ext uri="{FF2B5EF4-FFF2-40B4-BE49-F238E27FC236}">
                <a16:creationId xmlns:a16="http://schemas.microsoft.com/office/drawing/2014/main" id="{848EAF0A-C0B4-45A5-A1A6-ABED1BAD1C4E}"/>
              </a:ext>
            </a:extLst>
          </p:cNvPr>
          <p:cNvSpPr txBox="1"/>
          <p:nvPr/>
        </p:nvSpPr>
        <p:spPr>
          <a:xfrm>
            <a:off x="3423511" y="4894368"/>
            <a:ext cx="2718556"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a:t>
            </a:r>
          </a:p>
          <a:p>
            <a:r>
              <a:rPr lang="es-MX" sz="1200" dirty="0">
                <a:latin typeface="Consolas" panose="020B0609020204030204" pitchFamily="49" charset="0"/>
              </a:rPr>
              <a:t>Leer(nota) </a:t>
            </a:r>
          </a:p>
          <a:p>
            <a:r>
              <a:rPr lang="es-MX" sz="1200" dirty="0">
                <a:latin typeface="Consolas" panose="020B0609020204030204" pitchFamily="49" charset="0"/>
              </a:rPr>
              <a:t>Mientras (</a:t>
            </a:r>
            <a:r>
              <a:rPr lang="es-MX" sz="1200" dirty="0">
                <a:solidFill>
                  <a:srgbClr val="C00000"/>
                </a:solidFill>
                <a:latin typeface="Consolas" panose="020B0609020204030204" pitchFamily="49" charset="0"/>
              </a:rPr>
              <a:t>nota != -1</a:t>
            </a:r>
            <a:r>
              <a:rPr lang="es-MX" sz="1200" dirty="0">
                <a:latin typeface="Consolas" panose="020B0609020204030204" pitchFamily="49" charset="0"/>
              </a:rPr>
              <a:t>) Haga </a:t>
            </a:r>
          </a:p>
          <a:p>
            <a:r>
              <a:rPr lang="es-MX" sz="1200" dirty="0">
                <a:latin typeface="Consolas" panose="020B0609020204030204" pitchFamily="49" charset="0"/>
              </a:rPr>
              <a:t>  ...</a:t>
            </a:r>
          </a:p>
          <a:p>
            <a:r>
              <a:rPr lang="es-MX" sz="1200" dirty="0">
                <a:latin typeface="Consolas" panose="020B0609020204030204" pitchFamily="49" charset="0"/>
              </a:rPr>
              <a:t>  Leer(nota) </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9" name="CuadroTexto 18">
            <a:extLst>
              <a:ext uri="{FF2B5EF4-FFF2-40B4-BE49-F238E27FC236}">
                <a16:creationId xmlns:a16="http://schemas.microsoft.com/office/drawing/2014/main" id="{12AEE7FC-91E3-4CCC-ABEF-C1E40A15FC5B}"/>
              </a:ext>
            </a:extLst>
          </p:cNvPr>
          <p:cNvSpPr txBox="1"/>
          <p:nvPr/>
        </p:nvSpPr>
        <p:spPr>
          <a:xfrm>
            <a:off x="149264" y="4802036"/>
            <a:ext cx="3078329"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a:t>
            </a:r>
          </a:p>
          <a:p>
            <a:r>
              <a:rPr lang="es-MX" sz="1200" dirty="0">
                <a:latin typeface="Consolas" panose="020B0609020204030204" pitchFamily="49" charset="0"/>
              </a:rPr>
              <a:t>Leer(</a:t>
            </a:r>
            <a:r>
              <a:rPr lang="es-MX" sz="1200" dirty="0" err="1">
                <a:solidFill>
                  <a:srgbClr val="00B050"/>
                </a:solidFill>
                <a:latin typeface="Consolas" panose="020B0609020204030204" pitchFamily="49" charset="0"/>
              </a:rPr>
              <a:t>hay_est</a:t>
            </a:r>
            <a:r>
              <a:rPr lang="es-MX" sz="1200" dirty="0">
                <a:latin typeface="Consolas" panose="020B0609020204030204" pitchFamily="49" charset="0"/>
              </a:rPr>
              <a:t>) </a:t>
            </a:r>
          </a:p>
          <a:p>
            <a:r>
              <a:rPr lang="es-MX" sz="1200" dirty="0">
                <a:latin typeface="Consolas" panose="020B0609020204030204" pitchFamily="49" charset="0"/>
              </a:rPr>
              <a:t>Mientras (</a:t>
            </a:r>
            <a:r>
              <a:rPr lang="es-MX" sz="1200" dirty="0" err="1">
                <a:solidFill>
                  <a:srgbClr val="00B050"/>
                </a:solidFill>
                <a:latin typeface="Consolas" panose="020B0609020204030204" pitchFamily="49" charset="0"/>
              </a:rPr>
              <a:t>hay_est</a:t>
            </a:r>
            <a:r>
              <a:rPr lang="es-MX" sz="1200" dirty="0">
                <a:solidFill>
                  <a:srgbClr val="C00000"/>
                </a:solidFill>
                <a:latin typeface="Consolas" panose="020B0609020204030204" pitchFamily="49" charset="0"/>
              </a:rPr>
              <a:t> == 's'</a:t>
            </a:r>
            <a:r>
              <a:rPr lang="es-MX" sz="1200" dirty="0">
                <a:latin typeface="Consolas" panose="020B0609020204030204" pitchFamily="49" charset="0"/>
              </a:rPr>
              <a:t>) Haga </a:t>
            </a:r>
          </a:p>
          <a:p>
            <a:r>
              <a:rPr lang="es-MX" sz="1200" dirty="0">
                <a:latin typeface="Consolas" panose="020B0609020204030204" pitchFamily="49" charset="0"/>
              </a:rPr>
              <a:t>  Leer(nota)</a:t>
            </a:r>
          </a:p>
          <a:p>
            <a:r>
              <a:rPr lang="es-MX" sz="1200" dirty="0">
                <a:latin typeface="Consolas" panose="020B0609020204030204" pitchFamily="49" charset="0"/>
              </a:rPr>
              <a:t>  ...</a:t>
            </a:r>
          </a:p>
          <a:p>
            <a:r>
              <a:rPr lang="es-MX" sz="1200" dirty="0">
                <a:latin typeface="Consolas" panose="020B0609020204030204" pitchFamily="49" charset="0"/>
              </a:rPr>
              <a:t>  Leer(</a:t>
            </a:r>
            <a:r>
              <a:rPr lang="es-MX" sz="1200" dirty="0" err="1">
                <a:solidFill>
                  <a:srgbClr val="00B050"/>
                </a:solidFill>
                <a:latin typeface="Consolas" panose="020B0609020204030204" pitchFamily="49" charset="0"/>
              </a:rPr>
              <a:t>hay_est</a:t>
            </a:r>
            <a:r>
              <a:rPr lang="es-MX" sz="1200" dirty="0">
                <a:latin typeface="Consolas" panose="020B0609020204030204" pitchFamily="49" charset="0"/>
              </a:rPr>
              <a:t>)  </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20" name="CuadroTexto 19">
            <a:extLst>
              <a:ext uri="{FF2B5EF4-FFF2-40B4-BE49-F238E27FC236}">
                <a16:creationId xmlns:a16="http://schemas.microsoft.com/office/drawing/2014/main" id="{FFECE630-2EAA-40E6-90C4-4687667E4BE1}"/>
              </a:ext>
            </a:extLst>
          </p:cNvPr>
          <p:cNvSpPr txBox="1"/>
          <p:nvPr/>
        </p:nvSpPr>
        <p:spPr>
          <a:xfrm>
            <a:off x="550585" y="6425753"/>
            <a:ext cx="2371046" cy="307777"/>
          </a:xfrm>
          <a:prstGeom prst="rect">
            <a:avLst/>
          </a:prstGeom>
          <a:noFill/>
        </p:spPr>
        <p:txBody>
          <a:bodyPr wrap="square" rtlCol="0">
            <a:spAutoFit/>
          </a:bodyPr>
          <a:lstStyle/>
          <a:p>
            <a:pPr algn="ctr"/>
            <a:r>
              <a:rPr lang="es-CO" sz="1400" b="1" dirty="0"/>
              <a:t>Ejemplo 6 (bandera)</a:t>
            </a:r>
          </a:p>
        </p:txBody>
      </p:sp>
      <p:sp>
        <p:nvSpPr>
          <p:cNvPr id="21" name="CuadroTexto 20">
            <a:extLst>
              <a:ext uri="{FF2B5EF4-FFF2-40B4-BE49-F238E27FC236}">
                <a16:creationId xmlns:a16="http://schemas.microsoft.com/office/drawing/2014/main" id="{A8A3F662-8EA5-4260-9C2D-FD8158C3C31A}"/>
              </a:ext>
            </a:extLst>
          </p:cNvPr>
          <p:cNvSpPr txBox="1"/>
          <p:nvPr/>
        </p:nvSpPr>
        <p:spPr>
          <a:xfrm>
            <a:off x="3528417" y="6296792"/>
            <a:ext cx="2371046" cy="307777"/>
          </a:xfrm>
          <a:prstGeom prst="rect">
            <a:avLst/>
          </a:prstGeom>
          <a:noFill/>
        </p:spPr>
        <p:txBody>
          <a:bodyPr wrap="square" rtlCol="0">
            <a:spAutoFit/>
          </a:bodyPr>
          <a:lstStyle/>
          <a:p>
            <a:pPr algn="ctr"/>
            <a:r>
              <a:rPr lang="es-CO" sz="1400" b="1" dirty="0"/>
              <a:t>Ejemplo 6 (centinela)</a:t>
            </a:r>
          </a:p>
        </p:txBody>
      </p:sp>
      <p:sp>
        <p:nvSpPr>
          <p:cNvPr id="22" name="CuadroTexto 21">
            <a:extLst>
              <a:ext uri="{FF2B5EF4-FFF2-40B4-BE49-F238E27FC236}">
                <a16:creationId xmlns:a16="http://schemas.microsoft.com/office/drawing/2014/main" id="{0CFA93E3-7604-4086-B003-8537C507A19C}"/>
              </a:ext>
            </a:extLst>
          </p:cNvPr>
          <p:cNvSpPr txBox="1"/>
          <p:nvPr/>
        </p:nvSpPr>
        <p:spPr>
          <a:xfrm>
            <a:off x="6423951" y="4888830"/>
            <a:ext cx="2371046" cy="307777"/>
          </a:xfrm>
          <a:prstGeom prst="rect">
            <a:avLst/>
          </a:prstGeom>
          <a:noFill/>
        </p:spPr>
        <p:txBody>
          <a:bodyPr wrap="square" rtlCol="0">
            <a:spAutoFit/>
          </a:bodyPr>
          <a:lstStyle/>
          <a:p>
            <a:pPr algn="ctr"/>
            <a:r>
              <a:rPr lang="es-CO" sz="1400" b="1" dirty="0"/>
              <a:t>Ejemplo 7</a:t>
            </a:r>
          </a:p>
        </p:txBody>
      </p:sp>
    </p:spTree>
    <p:extLst>
      <p:ext uri="{BB962C8B-B14F-4D97-AF65-F5344CB8AC3E}">
        <p14:creationId xmlns:p14="http://schemas.microsoft.com/office/powerpoint/2010/main" val="21754956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8701428" cy="773749"/>
          </a:xfrm>
        </p:spPr>
        <p:txBody>
          <a:bodyPr>
            <a:normAutofit/>
          </a:bodyPr>
          <a:lstStyle/>
          <a:p>
            <a:r>
              <a:rPr lang="es-MX" dirty="0"/>
              <a:t>Ciclos infinitos</a:t>
            </a:r>
            <a:endParaRPr lang="en-US" dirty="0"/>
          </a:p>
        </p:txBody>
      </p:sp>
      <p:sp>
        <p:nvSpPr>
          <p:cNvPr id="23" name="12 Rectángulo">
            <a:extLst>
              <a:ext uri="{FF2B5EF4-FFF2-40B4-BE49-F238E27FC236}">
                <a16:creationId xmlns:a16="http://schemas.microsoft.com/office/drawing/2014/main" id="{7789A76E-CF65-4031-95FC-AF6BE5FC3D10}"/>
              </a:ext>
            </a:extLst>
          </p:cNvPr>
          <p:cNvSpPr/>
          <p:nvPr/>
        </p:nvSpPr>
        <p:spPr>
          <a:xfrm>
            <a:off x="263060" y="971600"/>
            <a:ext cx="8617880" cy="2031325"/>
          </a:xfrm>
          <a:prstGeom prst="rect">
            <a:avLst/>
          </a:prstGeom>
        </p:spPr>
        <p:txBody>
          <a:bodyPr wrap="square">
            <a:spAutoFit/>
          </a:bodyPr>
          <a:lstStyle/>
          <a:p>
            <a:pPr marL="285750" indent="-285750">
              <a:buFont typeface="Arial" panose="020B0604020202020204" pitchFamily="34" charset="0"/>
              <a:buChar char="•"/>
            </a:pPr>
            <a:r>
              <a:rPr lang="es-MX" sz="1800" b="0" i="0" u="none" strike="noStrike" baseline="0" dirty="0"/>
              <a:t>Un ciclo infinito es aquel cuya condición nunca se vuelve falsa por sí sola.</a:t>
            </a:r>
          </a:p>
          <a:p>
            <a:pPr marL="285750" indent="-285750">
              <a:buFont typeface="Arial" panose="020B0604020202020204" pitchFamily="34" charset="0"/>
              <a:buChar char="•"/>
            </a:pPr>
            <a:r>
              <a:rPr lang="es-MX" sz="1800" b="0" i="0" u="none" strike="noStrike" baseline="0" dirty="0"/>
              <a:t>Puede ser un error de programación  (olvidó de la actualización de la variable de control) y hay que aprender a detectarlo.</a:t>
            </a:r>
          </a:p>
          <a:p>
            <a:pPr marL="285750" indent="-285750">
              <a:buFont typeface="Arial" panose="020B0604020202020204" pitchFamily="34" charset="0"/>
              <a:buChar char="•"/>
            </a:pPr>
            <a:r>
              <a:rPr lang="es-MX" sz="1800" b="0" i="0" u="none" strike="noStrike" baseline="0" dirty="0"/>
              <a:t>También puede ser intencional: cuando no existe una condición de parada natural para escribir desde el inicio del ciclo.</a:t>
            </a:r>
          </a:p>
          <a:p>
            <a:pPr marL="285750" indent="-285750">
              <a:buFont typeface="Arial" panose="020B0604020202020204" pitchFamily="34" charset="0"/>
              <a:buChar char="•"/>
            </a:pPr>
            <a:r>
              <a:rPr lang="es-MX" sz="1800" b="0" i="0" u="none" strike="noStrike" baseline="0" dirty="0"/>
              <a:t>Un ciclo infinito intencional solo funciona si existe una forma de detenerlo desde adentro (lo cual se resuelve mediante la ruptura de ciclos).</a:t>
            </a:r>
          </a:p>
        </p:txBody>
      </p:sp>
      <p:sp>
        <p:nvSpPr>
          <p:cNvPr id="4" name="CuadroTexto 3">
            <a:extLst>
              <a:ext uri="{FF2B5EF4-FFF2-40B4-BE49-F238E27FC236}">
                <a16:creationId xmlns:a16="http://schemas.microsoft.com/office/drawing/2014/main" id="{D0FAF317-9959-4EB1-B8E9-B7733EF086C6}"/>
              </a:ext>
            </a:extLst>
          </p:cNvPr>
          <p:cNvSpPr txBox="1"/>
          <p:nvPr/>
        </p:nvSpPr>
        <p:spPr>
          <a:xfrm>
            <a:off x="395536" y="3570401"/>
            <a:ext cx="4104456" cy="938719"/>
          </a:xfrm>
          <a:prstGeom prst="rect">
            <a:avLst/>
          </a:prstGeom>
          <a:noFill/>
          <a:ln>
            <a:solidFill>
              <a:schemeClr val="tx1"/>
            </a:solidFill>
          </a:ln>
        </p:spPr>
        <p:txBody>
          <a:bodyPr wrap="square">
            <a:spAutoFit/>
          </a:bodyPr>
          <a:lstStyle/>
          <a:p>
            <a:r>
              <a:rPr lang="es-MX" sz="1100" dirty="0">
                <a:latin typeface="Consolas" panose="020B0609020204030204" pitchFamily="49" charset="0"/>
              </a:rPr>
              <a:t>i = 0</a:t>
            </a:r>
          </a:p>
          <a:p>
            <a:r>
              <a:rPr lang="es-MX" sz="1100" dirty="0">
                <a:latin typeface="Consolas" panose="020B0609020204030204" pitchFamily="49" charset="0"/>
              </a:rPr>
              <a:t>Mientras (i &lt; 10) Haga</a:t>
            </a:r>
          </a:p>
          <a:p>
            <a:r>
              <a:rPr lang="es-MX" sz="1100" dirty="0">
                <a:latin typeface="Consolas" panose="020B0609020204030204" pitchFamily="49" charset="0"/>
              </a:rPr>
              <a:t>    Escribir(i)</a:t>
            </a:r>
          </a:p>
          <a:p>
            <a:r>
              <a:rPr lang="es-MX" sz="1100" dirty="0">
                <a:latin typeface="Consolas" panose="020B0609020204030204" pitchFamily="49" charset="0"/>
              </a:rPr>
              <a:t>    // Falta actualizar i -&gt; el ciclo nunca termina</a:t>
            </a:r>
          </a:p>
          <a:p>
            <a:r>
              <a:rPr lang="es-MX" sz="1100" dirty="0">
                <a:latin typeface="Consolas" panose="020B0609020204030204" pitchFamily="49" charset="0"/>
              </a:rPr>
              <a:t>Fin_Mientras</a:t>
            </a:r>
            <a:endParaRPr lang="es-CO" sz="1100" dirty="0">
              <a:solidFill>
                <a:srgbClr val="C00000"/>
              </a:solidFill>
              <a:latin typeface="Consolas" panose="020B0609020204030204" pitchFamily="49" charset="0"/>
            </a:endParaRPr>
          </a:p>
        </p:txBody>
      </p:sp>
      <p:sp>
        <p:nvSpPr>
          <p:cNvPr id="6" name="CuadroTexto 5">
            <a:extLst>
              <a:ext uri="{FF2B5EF4-FFF2-40B4-BE49-F238E27FC236}">
                <a16:creationId xmlns:a16="http://schemas.microsoft.com/office/drawing/2014/main" id="{867A9D60-B421-4011-9542-4D648A210952}"/>
              </a:ext>
            </a:extLst>
          </p:cNvPr>
          <p:cNvSpPr txBox="1"/>
          <p:nvPr/>
        </p:nvSpPr>
        <p:spPr>
          <a:xfrm>
            <a:off x="4788024" y="3573016"/>
            <a:ext cx="4104456" cy="769441"/>
          </a:xfrm>
          <a:prstGeom prst="rect">
            <a:avLst/>
          </a:prstGeom>
          <a:noFill/>
          <a:ln>
            <a:solidFill>
              <a:schemeClr val="tx1"/>
            </a:solidFill>
          </a:ln>
        </p:spPr>
        <p:txBody>
          <a:bodyPr wrap="square">
            <a:spAutoFit/>
          </a:bodyPr>
          <a:lstStyle/>
          <a:p>
            <a:r>
              <a:rPr lang="es-MX" sz="1100" dirty="0">
                <a:latin typeface="Consolas" panose="020B0609020204030204" pitchFamily="49" charset="0"/>
              </a:rPr>
              <a:t>Mientras (Verdadero) Haga</a:t>
            </a:r>
          </a:p>
          <a:p>
            <a:r>
              <a:rPr lang="es-MX" sz="1100" dirty="0">
                <a:latin typeface="Consolas" panose="020B0609020204030204" pitchFamily="49" charset="0"/>
              </a:rPr>
              <a:t>    Leer(dato)</a:t>
            </a:r>
          </a:p>
          <a:p>
            <a:r>
              <a:rPr lang="es-MX" sz="1100" dirty="0">
                <a:latin typeface="Consolas" panose="020B0609020204030204" pitchFamily="49" charset="0"/>
              </a:rPr>
              <a:t>    ...</a:t>
            </a:r>
          </a:p>
          <a:p>
            <a:r>
              <a:rPr lang="es-MX" sz="1100" dirty="0">
                <a:latin typeface="Consolas" panose="020B0609020204030204" pitchFamily="49" charset="0"/>
              </a:rPr>
              <a:t>Fin_Mientras</a:t>
            </a:r>
            <a:endParaRPr lang="es-CO" sz="1100" dirty="0">
              <a:solidFill>
                <a:srgbClr val="C00000"/>
              </a:solidFill>
              <a:latin typeface="Consolas" panose="020B0609020204030204" pitchFamily="49" charset="0"/>
            </a:endParaRPr>
          </a:p>
        </p:txBody>
      </p:sp>
      <p:sp>
        <p:nvSpPr>
          <p:cNvPr id="2" name="CuadroTexto 1">
            <a:extLst>
              <a:ext uri="{FF2B5EF4-FFF2-40B4-BE49-F238E27FC236}">
                <a16:creationId xmlns:a16="http://schemas.microsoft.com/office/drawing/2014/main" id="{E69098F6-2E96-411E-A4DA-E62475F733D8}"/>
              </a:ext>
            </a:extLst>
          </p:cNvPr>
          <p:cNvSpPr txBox="1"/>
          <p:nvPr/>
        </p:nvSpPr>
        <p:spPr>
          <a:xfrm flipH="1">
            <a:off x="1151619" y="3203684"/>
            <a:ext cx="2592289" cy="369332"/>
          </a:xfrm>
          <a:prstGeom prst="rect">
            <a:avLst/>
          </a:prstGeom>
          <a:noFill/>
        </p:spPr>
        <p:txBody>
          <a:bodyPr wrap="square" rtlCol="0">
            <a:spAutoFit/>
          </a:bodyPr>
          <a:lstStyle/>
          <a:p>
            <a:pPr algn="ctr"/>
            <a:r>
              <a:rPr lang="es-CO" b="1" dirty="0"/>
              <a:t>Ciclo infinito por error</a:t>
            </a:r>
          </a:p>
        </p:txBody>
      </p:sp>
      <p:sp>
        <p:nvSpPr>
          <p:cNvPr id="7" name="CuadroTexto 6">
            <a:extLst>
              <a:ext uri="{FF2B5EF4-FFF2-40B4-BE49-F238E27FC236}">
                <a16:creationId xmlns:a16="http://schemas.microsoft.com/office/drawing/2014/main" id="{222E647C-45D5-40C7-8D51-E2D58217CA81}"/>
              </a:ext>
            </a:extLst>
          </p:cNvPr>
          <p:cNvSpPr txBox="1"/>
          <p:nvPr/>
        </p:nvSpPr>
        <p:spPr>
          <a:xfrm flipH="1">
            <a:off x="5436095" y="3212976"/>
            <a:ext cx="2592289" cy="369332"/>
          </a:xfrm>
          <a:prstGeom prst="rect">
            <a:avLst/>
          </a:prstGeom>
          <a:noFill/>
        </p:spPr>
        <p:txBody>
          <a:bodyPr wrap="square" rtlCol="0">
            <a:spAutoFit/>
          </a:bodyPr>
          <a:lstStyle/>
          <a:p>
            <a:pPr algn="ctr"/>
            <a:r>
              <a:rPr lang="es-CO" b="1" dirty="0"/>
              <a:t>Ciclo infinito intencional</a:t>
            </a:r>
          </a:p>
        </p:txBody>
      </p:sp>
    </p:spTree>
    <p:extLst>
      <p:ext uri="{BB962C8B-B14F-4D97-AF65-F5344CB8AC3E}">
        <p14:creationId xmlns:p14="http://schemas.microsoft.com/office/powerpoint/2010/main" val="3509359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8701428" cy="773749"/>
          </a:xfrm>
        </p:spPr>
        <p:txBody>
          <a:bodyPr>
            <a:normAutofit/>
          </a:bodyPr>
          <a:lstStyle/>
          <a:p>
            <a:r>
              <a:rPr lang="es-MX" dirty="0"/>
              <a:t>Ruptura de ciclos</a:t>
            </a:r>
            <a:endParaRPr lang="en-US" dirty="0"/>
          </a:p>
        </p:txBody>
      </p:sp>
      <p:sp>
        <p:nvSpPr>
          <p:cNvPr id="23" name="12 Rectángulo">
            <a:extLst>
              <a:ext uri="{FF2B5EF4-FFF2-40B4-BE49-F238E27FC236}">
                <a16:creationId xmlns:a16="http://schemas.microsoft.com/office/drawing/2014/main" id="{7789A76E-CF65-4031-95FC-AF6BE5FC3D10}"/>
              </a:ext>
            </a:extLst>
          </p:cNvPr>
          <p:cNvSpPr/>
          <p:nvPr/>
        </p:nvSpPr>
        <p:spPr>
          <a:xfrm>
            <a:off x="263060" y="971600"/>
            <a:ext cx="8617880" cy="3970318"/>
          </a:xfrm>
          <a:prstGeom prst="rect">
            <a:avLst/>
          </a:prstGeom>
        </p:spPr>
        <p:txBody>
          <a:bodyPr wrap="square">
            <a:spAutoFit/>
          </a:bodyPr>
          <a:lstStyle/>
          <a:p>
            <a:r>
              <a:rPr lang="es-MX" sz="1800" b="0" i="0" u="none" strike="noStrike" baseline="0" dirty="0"/>
              <a:t>A veces conviene detener un ciclo antes de que termine "por las buenas", es decir, antes de que su condición se vuelva falsa de forma natural. Dos situaciones típicas:</a:t>
            </a:r>
          </a:p>
          <a:p>
            <a:pPr marL="285750" indent="-285750">
              <a:buFont typeface="Arial" panose="020B0604020202020204" pitchFamily="34" charset="0"/>
              <a:buChar char="•"/>
            </a:pPr>
            <a:r>
              <a:rPr lang="es-MX" sz="1800" b="0" i="0" u="none" strike="noStrike" baseline="0" dirty="0"/>
              <a:t>Ya se cumplió lo que se estaba buscando (por ejemplo, ya se encontró el elemento buscado y no tiene sentido seguir recorriendo lo que falta).</a:t>
            </a:r>
          </a:p>
          <a:p>
            <a:pPr marL="285750" indent="-285750">
              <a:buFont typeface="Arial" panose="020B0604020202020204" pitchFamily="34" charset="0"/>
              <a:buChar char="•"/>
            </a:pPr>
            <a:r>
              <a:rPr lang="es-MX" sz="1800" b="0" i="0" u="none" strike="noStrike" baseline="0" dirty="0"/>
              <a:t>Ocurre una situación excepcional que impide completar el número de repeticiones previsto de forma normal (por ejemplo, un dato inválido o un error).</a:t>
            </a:r>
          </a:p>
          <a:p>
            <a:pPr marL="285750" indent="-285750">
              <a:buFont typeface="Arial" panose="020B0604020202020204" pitchFamily="34" charset="0"/>
              <a:buChar char="•"/>
            </a:pPr>
            <a:endParaRPr lang="es-MX" sz="1800" b="0" i="0" u="none" strike="noStrike" baseline="0" dirty="0"/>
          </a:p>
          <a:p>
            <a:r>
              <a:rPr lang="es-MX" sz="1800" b="1" i="0" u="none" strike="noStrike" baseline="0" dirty="0"/>
              <a:t>¿Cómo se logra la ruptura?</a:t>
            </a:r>
          </a:p>
          <a:p>
            <a:pPr marL="285750" indent="-285750">
              <a:buFont typeface="Arial" panose="020B0604020202020204" pitchFamily="34" charset="0"/>
              <a:buChar char="•"/>
            </a:pPr>
            <a:endParaRPr lang="es-MX" sz="1800" b="0" i="0" u="none" strike="noStrike" baseline="0" dirty="0"/>
          </a:p>
          <a:p>
            <a:pPr marL="285750" indent="-285750">
              <a:buFont typeface="Arial" panose="020B0604020202020204" pitchFamily="34" charset="0"/>
              <a:buChar char="•"/>
            </a:pPr>
            <a:r>
              <a:rPr lang="es-MX" sz="1800" b="1" i="0" u="none" strike="noStrike" baseline="0" dirty="0"/>
              <a:t>Forma estructurada</a:t>
            </a:r>
            <a:r>
              <a:rPr lang="es-MX" sz="1800" b="0" i="0" u="none" strike="noStrike" baseline="0" dirty="0"/>
              <a:t>: se cambia el valor de la expresión lógica que controla el ciclo (por ejemplo, con una variable bandera) para que se vuelva falsa y el ciclo termine en su próxima evaluación.</a:t>
            </a:r>
          </a:p>
          <a:p>
            <a:pPr marL="285750" indent="-285750">
              <a:buFont typeface="Arial" panose="020B0604020202020204" pitchFamily="34" charset="0"/>
              <a:buChar char="•"/>
            </a:pPr>
            <a:r>
              <a:rPr lang="es-MX" sz="1800" b="1" i="0" u="none" strike="noStrike" baseline="0" dirty="0"/>
              <a:t>Forma directa</a:t>
            </a:r>
            <a:r>
              <a:rPr lang="es-MX" sz="1800" b="0" i="0" u="none" strike="noStrike" baseline="0" dirty="0"/>
              <a:t>: muchos lenguajes de programación ofrecen una instrucción especial, break, que interrumpe el ciclo de inmediato, sin esperar a que se reevalúe la condición.</a:t>
            </a:r>
            <a:endParaRPr lang="es-CO" sz="2000" dirty="0"/>
          </a:p>
        </p:txBody>
      </p:sp>
    </p:spTree>
    <p:extLst>
      <p:ext uri="{BB962C8B-B14F-4D97-AF65-F5344CB8AC3E}">
        <p14:creationId xmlns:p14="http://schemas.microsoft.com/office/powerpoint/2010/main" val="29019653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658934" cy="710952"/>
          </a:xfrm>
        </p:spPr>
        <p:txBody>
          <a:bodyPr>
            <a:normAutofit fontScale="90000"/>
          </a:bodyPr>
          <a:lstStyle/>
          <a:p>
            <a:r>
              <a:rPr lang="es-CO" dirty="0"/>
              <a:t>Ruptura de ciclos – Ejemplo 8</a:t>
            </a:r>
          </a:p>
        </p:txBody>
      </p:sp>
      <p:sp>
        <p:nvSpPr>
          <p:cNvPr id="13" name="12 Rectángulo"/>
          <p:cNvSpPr/>
          <p:nvPr/>
        </p:nvSpPr>
        <p:spPr>
          <a:xfrm>
            <a:off x="145314" y="846114"/>
            <a:ext cx="8747165" cy="646331"/>
          </a:xfrm>
          <a:prstGeom prst="rect">
            <a:avLst/>
          </a:prstGeom>
        </p:spPr>
        <p:txBody>
          <a:bodyPr wrap="square">
            <a:spAutoFit/>
          </a:bodyPr>
          <a:lstStyle/>
          <a:p>
            <a:pPr algn="l"/>
            <a:r>
              <a:rPr lang="es-MX" sz="1800" b="0" i="0" u="none" strike="noStrike" baseline="0" dirty="0"/>
              <a:t>Se tiene una serie de </a:t>
            </a:r>
            <a:r>
              <a:rPr lang="es-MX" sz="1800" b="1" i="0" u="none" strike="noStrike" baseline="0" dirty="0"/>
              <a:t>N</a:t>
            </a:r>
            <a:r>
              <a:rPr lang="es-MX" sz="1800" b="0" i="0" u="none" strike="noStrike" baseline="0" dirty="0"/>
              <a:t> números enteros. Se quiere saber si dentro de ellos existe, por lo</a:t>
            </a:r>
          </a:p>
          <a:p>
            <a:pPr algn="l"/>
            <a:r>
              <a:rPr lang="es-MX" sz="1800" b="0" i="0" u="none" strike="noStrike" baseline="0" dirty="0"/>
              <a:t>menos, uno cuyo valor sea cero.</a:t>
            </a:r>
            <a:endParaRPr lang="es-MX" sz="2000" dirty="0"/>
          </a:p>
        </p:txBody>
      </p:sp>
      <p:grpSp>
        <p:nvGrpSpPr>
          <p:cNvPr id="6" name="5 Grupo">
            <a:extLst>
              <a:ext uri="{FF2B5EF4-FFF2-40B4-BE49-F238E27FC236}">
                <a16:creationId xmlns:a16="http://schemas.microsoft.com/office/drawing/2014/main" id="{A1D2312A-E5AA-430D-95E3-073CE4C461A1}"/>
              </a:ext>
            </a:extLst>
          </p:cNvPr>
          <p:cNvGrpSpPr/>
          <p:nvPr/>
        </p:nvGrpSpPr>
        <p:grpSpPr>
          <a:xfrm>
            <a:off x="388239" y="1844824"/>
            <a:ext cx="8202163" cy="783771"/>
            <a:chOff x="518399" y="1739458"/>
            <a:chExt cx="8202163" cy="783771"/>
          </a:xfrm>
        </p:grpSpPr>
        <p:sp>
          <p:nvSpPr>
            <p:cNvPr id="8" name="10 Rectángulo">
              <a:extLst>
                <a:ext uri="{FF2B5EF4-FFF2-40B4-BE49-F238E27FC236}">
                  <a16:creationId xmlns:a16="http://schemas.microsoft.com/office/drawing/2014/main" id="{FCF15015-BA83-4B06-99A6-08AE20C7F278}"/>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9" name="11 Rectángulo">
              <a:extLst>
                <a:ext uri="{FF2B5EF4-FFF2-40B4-BE49-F238E27FC236}">
                  <a16:creationId xmlns:a16="http://schemas.microsoft.com/office/drawing/2014/main" id="{24D2346B-45C4-4EB1-AC4E-9F86B024ABB3}"/>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0" name="13 Rectángulo">
              <a:extLst>
                <a:ext uri="{FF2B5EF4-FFF2-40B4-BE49-F238E27FC236}">
                  <a16:creationId xmlns:a16="http://schemas.microsoft.com/office/drawing/2014/main" id="{8EB5C9FB-4010-499A-9DE2-CD6FFED74C8D}"/>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1" name="14 Flecha derecha">
              <a:extLst>
                <a:ext uri="{FF2B5EF4-FFF2-40B4-BE49-F238E27FC236}">
                  <a16:creationId xmlns:a16="http://schemas.microsoft.com/office/drawing/2014/main" id="{EFF73E3B-F9D7-440C-BF68-778BEE1CD315}"/>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21 Flecha derecha">
              <a:extLst>
                <a:ext uri="{FF2B5EF4-FFF2-40B4-BE49-F238E27FC236}">
                  <a16:creationId xmlns:a16="http://schemas.microsoft.com/office/drawing/2014/main" id="{F9345061-BCAA-40FE-9F6C-3E8876DC5571}"/>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22" name="5 CuadroTexto">
            <a:extLst>
              <a:ext uri="{FF2B5EF4-FFF2-40B4-BE49-F238E27FC236}">
                <a16:creationId xmlns:a16="http://schemas.microsoft.com/office/drawing/2014/main" id="{773597FB-1C24-4F3E-875F-AB061FF4E198}"/>
              </a:ext>
            </a:extLst>
          </p:cNvPr>
          <p:cNvSpPr txBox="1"/>
          <p:nvPr/>
        </p:nvSpPr>
        <p:spPr>
          <a:xfrm>
            <a:off x="251520" y="4093329"/>
            <a:ext cx="4016228" cy="2215991"/>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Cantidad de números</a:t>
            </a:r>
          </a:p>
          <a:p>
            <a:pPr marL="285750" indent="-285750">
              <a:buFont typeface="Arial" panose="020B0604020202020204" pitchFamily="34" charset="0"/>
              <a:buChar char="•"/>
            </a:pPr>
            <a:r>
              <a:rPr lang="es-CO" sz="1200" b="1" dirty="0"/>
              <a:t>Valor del numero ingresado</a:t>
            </a:r>
            <a:endParaRPr lang="es-CO" sz="1200" dirty="0"/>
          </a:p>
          <a:p>
            <a:r>
              <a:rPr lang="es-CO" sz="1400" b="1" dirty="0"/>
              <a:t>Datos de salida: </a:t>
            </a:r>
          </a:p>
          <a:p>
            <a:pPr marL="285750" indent="-285750">
              <a:buFont typeface="Arial" panose="020B0604020202020204" pitchFamily="34" charset="0"/>
              <a:buChar char="•"/>
            </a:pPr>
            <a:r>
              <a:rPr lang="es-CO" sz="1200" b="1" dirty="0"/>
              <a:t>Numero encontrado</a:t>
            </a:r>
          </a:p>
          <a:p>
            <a:r>
              <a:rPr lang="es-CO" sz="1400" b="1" dirty="0"/>
              <a:t>Definición de variables:</a:t>
            </a:r>
          </a:p>
          <a:p>
            <a:pPr marL="342900" indent="-342900">
              <a:buFont typeface="Arial" pitchFamily="34" charset="0"/>
              <a:buChar char="•"/>
            </a:pPr>
            <a:r>
              <a:rPr lang="es-CO" sz="1200" b="1" dirty="0">
                <a:latin typeface="Consolas" panose="020B0609020204030204" pitchFamily="49" charset="0"/>
              </a:rPr>
              <a:t>N</a:t>
            </a:r>
            <a:r>
              <a:rPr lang="es-CO" sz="1200" b="1" dirty="0"/>
              <a:t>:</a:t>
            </a:r>
            <a:r>
              <a:rPr lang="es-CO" sz="1200" dirty="0"/>
              <a:t> Cantidad de números</a:t>
            </a:r>
            <a:endParaRPr lang="es-CO" sz="1200" b="1" dirty="0">
              <a:latin typeface="Consolas" panose="020B0609020204030204" pitchFamily="49" charset="0"/>
            </a:endParaRPr>
          </a:p>
          <a:p>
            <a:pPr marL="342900" indent="-342900">
              <a:buFont typeface="Arial" pitchFamily="34" charset="0"/>
              <a:buChar char="•"/>
            </a:pPr>
            <a:r>
              <a:rPr lang="es-CO" sz="1200" b="1" dirty="0">
                <a:latin typeface="Consolas" panose="020B0609020204030204" pitchFamily="49" charset="0"/>
              </a:rPr>
              <a:t>num</a:t>
            </a:r>
            <a:r>
              <a:rPr lang="es-CO" sz="1200" b="1" dirty="0"/>
              <a:t>:</a:t>
            </a:r>
            <a:r>
              <a:rPr lang="es-CO" sz="1200" dirty="0"/>
              <a:t> Numero leído en la iteración i-</a:t>
            </a:r>
            <a:r>
              <a:rPr lang="es-CO" sz="1200" dirty="0" err="1"/>
              <a:t>esima</a:t>
            </a:r>
            <a:endParaRPr lang="es-CO" sz="1200" dirty="0"/>
          </a:p>
          <a:p>
            <a:pPr marL="342900" indent="-342900">
              <a:buFont typeface="Arial" pitchFamily="34" charset="0"/>
              <a:buChar char="•"/>
            </a:pPr>
            <a:r>
              <a:rPr lang="es-CO" sz="1200" b="1" dirty="0">
                <a:latin typeface="Consolas" panose="020B0609020204030204" pitchFamily="49" charset="0"/>
              </a:rPr>
              <a:t>encontrado</a:t>
            </a:r>
            <a:r>
              <a:rPr lang="es-CO" sz="1200" b="1" dirty="0"/>
              <a:t>:</a:t>
            </a:r>
            <a:r>
              <a:rPr lang="es-CO" sz="1200" dirty="0"/>
              <a:t> Bandera que indica que el número se encontró. Se inicializa en falso.</a:t>
            </a:r>
          </a:p>
          <a:p>
            <a:pPr marL="342900" indent="-342900">
              <a:buFont typeface="Arial" pitchFamily="34" charset="0"/>
              <a:buChar char="•"/>
            </a:pPr>
            <a:r>
              <a:rPr lang="es-CO" sz="1200" b="1" dirty="0">
                <a:latin typeface="Consolas" panose="020B0609020204030204" pitchFamily="49" charset="0"/>
              </a:rPr>
              <a:t>i</a:t>
            </a:r>
            <a:r>
              <a:rPr lang="es-CO" sz="1200" b="1" dirty="0"/>
              <a:t>:</a:t>
            </a:r>
            <a:r>
              <a:rPr lang="es-CO" sz="1200" dirty="0"/>
              <a:t> Variable de control del ciclo (contador).</a:t>
            </a:r>
          </a:p>
        </p:txBody>
      </p:sp>
      <p:grpSp>
        <p:nvGrpSpPr>
          <p:cNvPr id="2" name="Grupo 1">
            <a:extLst>
              <a:ext uri="{FF2B5EF4-FFF2-40B4-BE49-F238E27FC236}">
                <a16:creationId xmlns:a16="http://schemas.microsoft.com/office/drawing/2014/main" id="{8319015E-3F7F-4F01-AA80-B51C7DB11A1D}"/>
              </a:ext>
            </a:extLst>
          </p:cNvPr>
          <p:cNvGrpSpPr/>
          <p:nvPr/>
        </p:nvGrpSpPr>
        <p:grpSpPr>
          <a:xfrm>
            <a:off x="835049" y="2420888"/>
            <a:ext cx="640607" cy="565031"/>
            <a:chOff x="835049" y="2420888"/>
            <a:chExt cx="640607" cy="565031"/>
          </a:xfrm>
        </p:grpSpPr>
        <p:sp>
          <p:nvSpPr>
            <p:cNvPr id="23" name="1 Rectángulo">
              <a:extLst>
                <a:ext uri="{FF2B5EF4-FFF2-40B4-BE49-F238E27FC236}">
                  <a16:creationId xmlns:a16="http://schemas.microsoft.com/office/drawing/2014/main" id="{C87892F9-8946-461B-905F-4B6AF65CEF5C}"/>
                </a:ext>
              </a:extLst>
            </p:cNvPr>
            <p:cNvSpPr/>
            <p:nvPr/>
          </p:nvSpPr>
          <p:spPr>
            <a:xfrm>
              <a:off x="835049" y="2420888"/>
              <a:ext cx="64060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a:t>
              </a:r>
            </a:p>
          </p:txBody>
        </p:sp>
        <p:sp>
          <p:nvSpPr>
            <p:cNvPr id="24" name="1 Rectángulo">
              <a:extLst>
                <a:ext uri="{FF2B5EF4-FFF2-40B4-BE49-F238E27FC236}">
                  <a16:creationId xmlns:a16="http://schemas.microsoft.com/office/drawing/2014/main" id="{EEA87DAC-2F33-425F-B080-2509054A4309}"/>
                </a:ext>
              </a:extLst>
            </p:cNvPr>
            <p:cNvSpPr/>
            <p:nvPr/>
          </p:nvSpPr>
          <p:spPr>
            <a:xfrm>
              <a:off x="835049" y="2708920"/>
              <a:ext cx="64060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a:t>
              </a:r>
            </a:p>
          </p:txBody>
        </p:sp>
      </p:grpSp>
      <p:sp>
        <p:nvSpPr>
          <p:cNvPr id="26" name="1 Rectángulo">
            <a:extLst>
              <a:ext uri="{FF2B5EF4-FFF2-40B4-BE49-F238E27FC236}">
                <a16:creationId xmlns:a16="http://schemas.microsoft.com/office/drawing/2014/main" id="{EBACEDA2-FB3D-4A08-ACAB-F3A4DB841D25}"/>
              </a:ext>
            </a:extLst>
          </p:cNvPr>
          <p:cNvSpPr/>
          <p:nvPr/>
        </p:nvSpPr>
        <p:spPr>
          <a:xfrm>
            <a:off x="7496657" y="2575937"/>
            <a:ext cx="1093745"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Encontrado</a:t>
            </a:r>
          </a:p>
        </p:txBody>
      </p:sp>
      <p:sp>
        <p:nvSpPr>
          <p:cNvPr id="28" name="1 Rectángulo">
            <a:extLst>
              <a:ext uri="{FF2B5EF4-FFF2-40B4-BE49-F238E27FC236}">
                <a16:creationId xmlns:a16="http://schemas.microsoft.com/office/drawing/2014/main" id="{88650764-EF09-4F5A-95DB-F222A5C9FA27}"/>
              </a:ext>
            </a:extLst>
          </p:cNvPr>
          <p:cNvSpPr/>
          <p:nvPr/>
        </p:nvSpPr>
        <p:spPr>
          <a:xfrm>
            <a:off x="3563887" y="2873084"/>
            <a:ext cx="210485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VALOR_BUSCADO = 0</a:t>
            </a:r>
          </a:p>
        </p:txBody>
      </p:sp>
      <p:sp>
        <p:nvSpPr>
          <p:cNvPr id="29" name="1 Rectángulo">
            <a:extLst>
              <a:ext uri="{FF2B5EF4-FFF2-40B4-BE49-F238E27FC236}">
                <a16:creationId xmlns:a16="http://schemas.microsoft.com/office/drawing/2014/main" id="{6E044B12-E8DE-4EE6-8CC7-6B0DC89CABA1}"/>
              </a:ext>
            </a:extLst>
          </p:cNvPr>
          <p:cNvSpPr/>
          <p:nvPr/>
        </p:nvSpPr>
        <p:spPr>
          <a:xfrm>
            <a:off x="3563886" y="3150083"/>
            <a:ext cx="210485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 = 0</a:t>
            </a:r>
          </a:p>
        </p:txBody>
      </p:sp>
    </p:spTree>
    <p:extLst>
      <p:ext uri="{BB962C8B-B14F-4D97-AF65-F5344CB8AC3E}">
        <p14:creationId xmlns:p14="http://schemas.microsoft.com/office/powerpoint/2010/main" val="4705103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128307" y="1452840"/>
            <a:ext cx="4817765" cy="3416320"/>
          </a:xfrm>
          <a:prstGeom prst="rect">
            <a:avLst/>
          </a:prstGeom>
          <a:noFill/>
          <a:ln>
            <a:solidFill>
              <a:schemeClr val="tx1"/>
            </a:solidFill>
          </a:ln>
        </p:spPr>
        <p:txBody>
          <a:bodyPr wrap="square">
            <a:spAutoFit/>
          </a:bodyPr>
          <a:lstStyle/>
          <a:p>
            <a:r>
              <a:rPr lang="es-MX" sz="1200" dirty="0">
                <a:latin typeface="Consolas" panose="020B0609020204030204" pitchFamily="49" charset="0"/>
              </a:rPr>
              <a:t>Inicio</a:t>
            </a:r>
          </a:p>
          <a:p>
            <a:r>
              <a:rPr lang="es-MX" sz="1200" dirty="0">
                <a:latin typeface="Consolas" panose="020B0609020204030204" pitchFamily="49" charset="0"/>
              </a:rPr>
              <a:t>  VALOR_BUSCADO = 0</a:t>
            </a:r>
          </a:p>
          <a:p>
            <a:r>
              <a:rPr lang="es-MX" sz="1200" dirty="0">
                <a:latin typeface="Consolas" panose="020B0609020204030204" pitchFamily="49" charset="0"/>
              </a:rPr>
              <a:t>  encontrado = Falso</a:t>
            </a:r>
          </a:p>
          <a:p>
            <a:r>
              <a:rPr lang="es-MX" sz="1200" dirty="0">
                <a:latin typeface="Consolas" panose="020B0609020204030204" pitchFamily="49" charset="0"/>
              </a:rPr>
              <a:t>  i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Mientras ((i &lt; N) and (encontrado == Falso)) Haga    </a:t>
            </a:r>
          </a:p>
          <a:p>
            <a:r>
              <a:rPr lang="es-MX" sz="1200" dirty="0">
                <a:solidFill>
                  <a:srgbClr val="C00000"/>
                </a:solidFill>
                <a:latin typeface="Consolas" panose="020B0609020204030204" pitchFamily="49" charset="0"/>
              </a:rPr>
              <a:t>    Leer(num) </a:t>
            </a:r>
          </a:p>
          <a:p>
            <a:r>
              <a:rPr lang="es-MX" sz="1200" dirty="0">
                <a:solidFill>
                  <a:srgbClr val="C00000"/>
                </a:solidFill>
                <a:latin typeface="Consolas" panose="020B0609020204030204" pitchFamily="49" charset="0"/>
              </a:rPr>
              <a:t>    i = i + 1</a:t>
            </a:r>
          </a:p>
          <a:p>
            <a:r>
              <a:rPr lang="es-MX" sz="1200" dirty="0">
                <a:solidFill>
                  <a:srgbClr val="00B050"/>
                </a:solidFill>
                <a:latin typeface="Consolas" panose="020B0609020204030204" pitchFamily="49" charset="0"/>
              </a:rPr>
              <a:t>    Si num == VALOR_BUSCADO Entonces</a:t>
            </a:r>
          </a:p>
          <a:p>
            <a:r>
              <a:rPr lang="es-MX" sz="1200" dirty="0">
                <a:solidFill>
                  <a:srgbClr val="00B050"/>
                </a:solidFill>
                <a:latin typeface="Consolas" panose="020B0609020204030204" pitchFamily="49" charset="0"/>
              </a:rPr>
              <a:t>      encontrado = Verdadero</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Fin_Si</a:t>
            </a:r>
            <a:endParaRPr lang="es-MX" sz="1200" dirty="0">
              <a:solidFill>
                <a:srgbClr val="00B050"/>
              </a:solidFill>
              <a:latin typeface="Consolas" panose="020B0609020204030204" pitchFamily="49" charset="0"/>
            </a:endParaRP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Fin_Mientras</a:t>
            </a:r>
            <a:endParaRPr lang="es-MX" sz="1200" dirty="0">
              <a:solidFill>
                <a:srgbClr val="C00000"/>
              </a:solidFill>
              <a:latin typeface="Consolas" panose="020B0609020204030204" pitchFamily="49" charset="0"/>
            </a:endParaRPr>
          </a:p>
          <a:p>
            <a:r>
              <a:rPr lang="es-MX" sz="1200" dirty="0">
                <a:solidFill>
                  <a:srgbClr val="0070C0"/>
                </a:solidFill>
                <a:latin typeface="Consolas" panose="020B0609020204030204" pitchFamily="49" charset="0"/>
              </a:rPr>
              <a:t>  Si encontrado == Falso Entonces</a:t>
            </a:r>
          </a:p>
          <a:p>
            <a:r>
              <a:rPr lang="es-MX" sz="1200" dirty="0">
                <a:solidFill>
                  <a:srgbClr val="0070C0"/>
                </a:solidFill>
                <a:latin typeface="Consolas" panose="020B0609020204030204" pitchFamily="49" charset="0"/>
              </a:rPr>
              <a:t>    Escribir("Numero encontrado.")</a:t>
            </a:r>
          </a:p>
          <a:p>
            <a:r>
              <a:rPr lang="es-MX" sz="1200" dirty="0">
                <a:solidFill>
                  <a:srgbClr val="0070C0"/>
                </a:solidFill>
                <a:latin typeface="Consolas" panose="020B0609020204030204" pitchFamily="49" charset="0"/>
              </a:rPr>
              <a:t>  Sino</a:t>
            </a:r>
          </a:p>
          <a:p>
            <a:r>
              <a:rPr lang="es-MX" sz="1200" dirty="0">
                <a:solidFill>
                  <a:srgbClr val="0070C0"/>
                </a:solidFill>
                <a:latin typeface="Consolas" panose="020B0609020204030204" pitchFamily="49" charset="0"/>
              </a:rPr>
              <a:t>    Escribir("Numero no encontrado.")</a:t>
            </a:r>
          </a:p>
          <a:p>
            <a:r>
              <a:rPr lang="es-MX" sz="1200" dirty="0">
                <a:solidFill>
                  <a:srgbClr val="0070C0"/>
                </a:solidFill>
                <a:latin typeface="Consolas" panose="020B0609020204030204" pitchFamily="49" charset="0"/>
              </a:rPr>
              <a:t>  Fin_Si</a:t>
            </a:r>
          </a:p>
          <a:p>
            <a:r>
              <a:rPr lang="es-MX" sz="1200" dirty="0">
                <a:latin typeface="Consolas" panose="020B0609020204030204" pitchFamily="49" charset="0"/>
              </a:rPr>
              <a:t>Fin</a:t>
            </a:r>
            <a:endParaRPr lang="es-CO" sz="1200" dirty="0">
              <a:solidFill>
                <a:srgbClr val="C00000"/>
              </a:solidFill>
              <a:latin typeface="Consolas" panose="020B0609020204030204" pitchFamily="49" charset="0"/>
            </a:endParaRPr>
          </a:p>
        </p:txBody>
      </p:sp>
      <p:pic>
        <p:nvPicPr>
          <p:cNvPr id="4" name="Imagen 3">
            <a:extLst>
              <a:ext uri="{FF2B5EF4-FFF2-40B4-BE49-F238E27FC236}">
                <a16:creationId xmlns:a16="http://schemas.microsoft.com/office/drawing/2014/main" id="{7770B2BC-6CB5-4602-BC40-2017595ED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9390" y="116632"/>
            <a:ext cx="4121122" cy="6636327"/>
          </a:xfrm>
          <a:prstGeom prst="rect">
            <a:avLst/>
          </a:prstGeom>
        </p:spPr>
      </p:pic>
      <p:sp>
        <p:nvSpPr>
          <p:cNvPr id="7" name="4 Título">
            <a:extLst>
              <a:ext uri="{FF2B5EF4-FFF2-40B4-BE49-F238E27FC236}">
                <a16:creationId xmlns:a16="http://schemas.microsoft.com/office/drawing/2014/main" id="{D5C8F1B1-68F9-4A1E-8F32-3E3182834978}"/>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Ruptura de ciclos – Ejemplo 8</a:t>
            </a:r>
          </a:p>
        </p:txBody>
      </p:sp>
    </p:spTree>
    <p:extLst>
      <p:ext uri="{BB962C8B-B14F-4D97-AF65-F5344CB8AC3E}">
        <p14:creationId xmlns:p14="http://schemas.microsoft.com/office/powerpoint/2010/main" val="33783507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Ruptura de ciclos – Ejemplo 8</a:t>
            </a:r>
          </a:p>
        </p:txBody>
      </p:sp>
      <p:sp>
        <p:nvSpPr>
          <p:cNvPr id="5" name="5 Rectángulo">
            <a:extLst>
              <a:ext uri="{FF2B5EF4-FFF2-40B4-BE49-F238E27FC236}">
                <a16:creationId xmlns:a16="http://schemas.microsoft.com/office/drawing/2014/main" id="{06D6ADF4-009E-42C9-93D7-ACCDE5E5538F}"/>
              </a:ext>
            </a:extLst>
          </p:cNvPr>
          <p:cNvSpPr/>
          <p:nvPr/>
        </p:nvSpPr>
        <p:spPr>
          <a:xfrm>
            <a:off x="4786237" y="648906"/>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A18D4279-D5A7-44DF-B5D1-7CB09A895120}"/>
              </a:ext>
            </a:extLst>
          </p:cNvPr>
          <p:cNvGraphicFramePr>
            <a:graphicFrameLocks noGrp="1"/>
          </p:cNvGraphicFramePr>
          <p:nvPr>
            <p:extLst>
              <p:ext uri="{D42A27DB-BD31-4B8C-83A1-F6EECF244321}">
                <p14:modId xmlns:p14="http://schemas.microsoft.com/office/powerpoint/2010/main" val="1733224539"/>
              </p:ext>
            </p:extLst>
          </p:nvPr>
        </p:nvGraphicFramePr>
        <p:xfrm>
          <a:off x="4984247" y="1025503"/>
          <a:ext cx="3498810" cy="914400"/>
        </p:xfrm>
        <a:graphic>
          <a:graphicData uri="http://schemas.openxmlformats.org/drawingml/2006/table">
            <a:tbl>
              <a:tblPr firstRow="1" bandRow="1">
                <a:tableStyleId>{5940675A-B579-460E-94D1-54222C63F5DA}</a:tableStyleId>
              </a:tblPr>
              <a:tblGrid>
                <a:gridCol w="1787530">
                  <a:extLst>
                    <a:ext uri="{9D8B030D-6E8A-4147-A177-3AD203B41FA5}">
                      <a16:colId xmlns:a16="http://schemas.microsoft.com/office/drawing/2014/main" val="1520359308"/>
                    </a:ext>
                  </a:extLst>
                </a:gridCol>
                <a:gridCol w="1711280">
                  <a:extLst>
                    <a:ext uri="{9D8B030D-6E8A-4147-A177-3AD203B41FA5}">
                      <a16:colId xmlns:a16="http://schemas.microsoft.com/office/drawing/2014/main" val="4218542073"/>
                    </a:ext>
                  </a:extLst>
                </a:gridCol>
              </a:tblGrid>
              <a:tr h="211844">
                <a:tc>
                  <a:txBody>
                    <a:bodyPr/>
                    <a:lstStyle/>
                    <a:p>
                      <a:r>
                        <a:rPr lang="es-CO" sz="1400" b="1" dirty="0">
                          <a:solidFill>
                            <a:schemeClr val="bg1"/>
                          </a:solidFill>
                          <a:latin typeface="+mn-lt"/>
                        </a:rPr>
                        <a:t>Cantidad de números</a:t>
                      </a:r>
                    </a:p>
                  </a:txBody>
                  <a:tcPr>
                    <a:solidFill>
                      <a:schemeClr val="tx1"/>
                    </a:solidFill>
                  </a:tcPr>
                </a:tc>
                <a:tc>
                  <a:txBody>
                    <a:bodyPr/>
                    <a:lstStyle/>
                    <a:p>
                      <a:r>
                        <a:rPr lang="es-CO" sz="1400" dirty="0">
                          <a:latin typeface="+mn-lt"/>
                        </a:rPr>
                        <a:t>5</a:t>
                      </a:r>
                    </a:p>
                  </a:txBody>
                  <a:tcPr/>
                </a:tc>
                <a:extLst>
                  <a:ext uri="{0D108BD9-81ED-4DB2-BD59-A6C34878D82A}">
                    <a16:rowId xmlns:a16="http://schemas.microsoft.com/office/drawing/2014/main" val="32264777"/>
                  </a:ext>
                </a:extLst>
              </a:tr>
              <a:tr h="211844">
                <a:tc>
                  <a:txBody>
                    <a:bodyPr/>
                    <a:lstStyle/>
                    <a:p>
                      <a:r>
                        <a:rPr lang="es-MX" sz="1400" b="1" dirty="0">
                          <a:solidFill>
                            <a:schemeClr val="bg1"/>
                          </a:solidFill>
                          <a:latin typeface="+mn-lt"/>
                        </a:rPr>
                        <a:t>Números</a:t>
                      </a:r>
                      <a:endParaRPr lang="es-CO" sz="1400" b="1" dirty="0">
                        <a:solidFill>
                          <a:schemeClr val="bg1"/>
                        </a:solidFill>
                        <a:latin typeface="+mn-lt"/>
                      </a:endParaRPr>
                    </a:p>
                  </a:txBody>
                  <a:tcPr>
                    <a:solidFill>
                      <a:schemeClr val="tx1"/>
                    </a:solidFill>
                  </a:tcPr>
                </a:tc>
                <a:tc>
                  <a:txBody>
                    <a:bodyPr/>
                    <a:lstStyle/>
                    <a:p>
                      <a:r>
                        <a:rPr lang="es-CO" sz="1400" dirty="0"/>
                        <a:t>-10, 15, 20, 8, 2</a:t>
                      </a:r>
                      <a:endParaRPr lang="es-CO" sz="1400" dirty="0">
                        <a:latin typeface="+mn-lt"/>
                      </a:endParaRPr>
                    </a:p>
                  </a:txBody>
                  <a:tcPr/>
                </a:tc>
                <a:extLst>
                  <a:ext uri="{0D108BD9-81ED-4DB2-BD59-A6C34878D82A}">
                    <a16:rowId xmlns:a16="http://schemas.microsoft.com/office/drawing/2014/main" val="1949968076"/>
                  </a:ext>
                </a:extLst>
              </a:tr>
              <a:tr h="211844">
                <a:tc>
                  <a:txBody>
                    <a:bodyPr/>
                    <a:lstStyle/>
                    <a:p>
                      <a:r>
                        <a:rPr lang="es-MX" sz="1400" b="1" dirty="0">
                          <a:solidFill>
                            <a:schemeClr val="bg1"/>
                          </a:solidFill>
                          <a:latin typeface="+mn-lt"/>
                        </a:rPr>
                        <a:t>Encontrado</a:t>
                      </a:r>
                      <a:endParaRPr lang="es-CO" sz="1400" b="1" dirty="0">
                        <a:solidFill>
                          <a:schemeClr val="bg1"/>
                        </a:solidFill>
                        <a:latin typeface="+mn-lt"/>
                      </a:endParaRPr>
                    </a:p>
                  </a:txBody>
                  <a:tcPr>
                    <a:solidFill>
                      <a:schemeClr val="tx1"/>
                    </a:solidFill>
                  </a:tcPr>
                </a:tc>
                <a:tc>
                  <a:txBody>
                    <a:bodyPr/>
                    <a:lstStyle/>
                    <a:p>
                      <a:r>
                        <a:rPr lang="es-CO" sz="1400" dirty="0">
                          <a:latin typeface="+mn-lt"/>
                        </a:rPr>
                        <a:t>Falso</a:t>
                      </a:r>
                    </a:p>
                  </a:txBody>
                  <a:tcPr/>
                </a:tc>
                <a:extLst>
                  <a:ext uri="{0D108BD9-81ED-4DB2-BD59-A6C34878D82A}">
                    <a16:rowId xmlns:a16="http://schemas.microsoft.com/office/drawing/2014/main" val="2422557555"/>
                  </a:ext>
                </a:extLst>
              </a:tr>
            </a:tbl>
          </a:graphicData>
        </a:graphic>
      </p:graphicFrame>
      <p:sp>
        <p:nvSpPr>
          <p:cNvPr id="7" name="5 Rectángulo">
            <a:extLst>
              <a:ext uri="{FF2B5EF4-FFF2-40B4-BE49-F238E27FC236}">
                <a16:creationId xmlns:a16="http://schemas.microsoft.com/office/drawing/2014/main" id="{00F0CF2A-B262-41B0-B4E9-5B653595AB12}"/>
              </a:ext>
            </a:extLst>
          </p:cNvPr>
          <p:cNvSpPr/>
          <p:nvPr/>
        </p:nvSpPr>
        <p:spPr>
          <a:xfrm>
            <a:off x="4863002" y="2969719"/>
            <a:ext cx="2865514" cy="400110"/>
          </a:xfrm>
          <a:prstGeom prst="rect">
            <a:avLst/>
          </a:prstGeom>
        </p:spPr>
        <p:txBody>
          <a:bodyPr wrap="square">
            <a:spAutoFit/>
          </a:bodyPr>
          <a:lstStyle/>
          <a:p>
            <a:r>
              <a:rPr lang="es-CO" sz="2000" b="1" dirty="0"/>
              <a:t>Prueba de escritorio</a:t>
            </a:r>
            <a:endParaRPr lang="es-CO" sz="2000" dirty="0"/>
          </a:p>
        </p:txBody>
      </p:sp>
      <p:sp>
        <p:nvSpPr>
          <p:cNvPr id="8" name="5 Rectángulo">
            <a:extLst>
              <a:ext uri="{FF2B5EF4-FFF2-40B4-BE49-F238E27FC236}">
                <a16:creationId xmlns:a16="http://schemas.microsoft.com/office/drawing/2014/main" id="{A1F958CD-90B1-4FD7-82AD-E6BF1E364483}"/>
              </a:ext>
            </a:extLst>
          </p:cNvPr>
          <p:cNvSpPr/>
          <p:nvPr/>
        </p:nvSpPr>
        <p:spPr>
          <a:xfrm>
            <a:off x="4850191" y="3426929"/>
            <a:ext cx="3714835" cy="523220"/>
          </a:xfrm>
          <a:prstGeom prst="rect">
            <a:avLst/>
          </a:prstGeom>
        </p:spPr>
        <p:txBody>
          <a:bodyPr wrap="square">
            <a:spAutoFit/>
          </a:bodyPr>
          <a:lstStyle/>
          <a:p>
            <a:r>
              <a:rPr lang="es-CO" sz="1400" dirty="0"/>
              <a:t>Realizar la prueba de escritorio para verificar que el algoritmo este bien planteado</a:t>
            </a:r>
          </a:p>
        </p:txBody>
      </p:sp>
      <p:sp>
        <p:nvSpPr>
          <p:cNvPr id="12" name="CuadroTexto 11">
            <a:extLst>
              <a:ext uri="{FF2B5EF4-FFF2-40B4-BE49-F238E27FC236}">
                <a16:creationId xmlns:a16="http://schemas.microsoft.com/office/drawing/2014/main" id="{EAE60664-1461-4ECB-B0FF-1CF415CA3190}"/>
              </a:ext>
            </a:extLst>
          </p:cNvPr>
          <p:cNvSpPr txBox="1"/>
          <p:nvPr/>
        </p:nvSpPr>
        <p:spPr>
          <a:xfrm>
            <a:off x="124690" y="764704"/>
            <a:ext cx="4433455" cy="3139321"/>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VALOR_BUSCADO = 0</a:t>
            </a:r>
          </a:p>
          <a:p>
            <a:r>
              <a:rPr lang="es-MX" sz="1100" dirty="0">
                <a:latin typeface="Consolas" panose="020B0609020204030204" pitchFamily="49" charset="0"/>
              </a:rPr>
              <a:t>  encontrado = Falso</a:t>
            </a:r>
          </a:p>
          <a:p>
            <a:r>
              <a:rPr lang="es-MX" sz="1100" dirty="0">
                <a:latin typeface="Consolas" panose="020B0609020204030204" pitchFamily="49" charset="0"/>
              </a:rPr>
              <a:t>  i = 0</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Mientras ((i &lt; N) and (encontrado == Falso)) Haga    </a:t>
            </a:r>
          </a:p>
          <a:p>
            <a:r>
              <a:rPr lang="es-MX" sz="1100" dirty="0">
                <a:solidFill>
                  <a:srgbClr val="C00000"/>
                </a:solidFill>
                <a:latin typeface="Consolas" panose="020B0609020204030204" pitchFamily="49" charset="0"/>
              </a:rPr>
              <a:t>    Leer(num) </a:t>
            </a:r>
          </a:p>
          <a:p>
            <a:r>
              <a:rPr lang="es-MX" sz="1100" dirty="0">
                <a:solidFill>
                  <a:srgbClr val="C00000"/>
                </a:solidFill>
                <a:latin typeface="Consolas" panose="020B0609020204030204" pitchFamily="49" charset="0"/>
              </a:rPr>
              <a:t>    i = i + 1</a:t>
            </a:r>
          </a:p>
          <a:p>
            <a:r>
              <a:rPr lang="es-MX" sz="1100" dirty="0">
                <a:solidFill>
                  <a:srgbClr val="00B050"/>
                </a:solidFill>
                <a:latin typeface="Consolas" panose="020B0609020204030204" pitchFamily="49" charset="0"/>
              </a:rPr>
              <a:t>    Si num == VALOR_BUSCADO Entonces</a:t>
            </a:r>
          </a:p>
          <a:p>
            <a:r>
              <a:rPr lang="es-MX" sz="1100" dirty="0">
                <a:solidFill>
                  <a:srgbClr val="00B050"/>
                </a:solidFill>
                <a:latin typeface="Consolas" panose="020B0609020204030204" pitchFamily="49" charset="0"/>
              </a:rPr>
              <a:t>      encontrado = Verdadero</a:t>
            </a:r>
          </a:p>
          <a:p>
            <a:r>
              <a:rPr lang="es-MX" sz="1100" dirty="0">
                <a:solidFill>
                  <a:srgbClr val="00B050"/>
                </a:solidFill>
                <a:latin typeface="Consolas" panose="020B0609020204030204" pitchFamily="49" charset="0"/>
              </a:rPr>
              <a:t>    Fin_Si</a:t>
            </a:r>
          </a:p>
          <a:p>
            <a:r>
              <a:rPr lang="es-MX" sz="1100" dirty="0">
                <a:solidFill>
                  <a:srgbClr val="C00000"/>
                </a:solidFill>
                <a:latin typeface="Consolas" panose="020B0609020204030204" pitchFamily="49" charset="0"/>
              </a:rPr>
              <a:t>  Fin_Mientras</a:t>
            </a:r>
          </a:p>
          <a:p>
            <a:r>
              <a:rPr lang="es-MX" sz="1100" dirty="0">
                <a:solidFill>
                  <a:srgbClr val="0070C0"/>
                </a:solidFill>
                <a:latin typeface="Consolas" panose="020B0609020204030204" pitchFamily="49" charset="0"/>
              </a:rPr>
              <a:t>  Si encontrado == Verdadero Entonces</a:t>
            </a:r>
          </a:p>
          <a:p>
            <a:r>
              <a:rPr lang="es-MX" sz="1100" dirty="0">
                <a:solidFill>
                  <a:srgbClr val="0070C0"/>
                </a:solidFill>
                <a:latin typeface="Consolas" panose="020B0609020204030204" pitchFamily="49" charset="0"/>
              </a:rPr>
              <a:t>    Escribir("Numero encontrado.")</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Escribir("Numero no encontrado.")</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graphicFrame>
        <p:nvGraphicFramePr>
          <p:cNvPr id="13" name="Tabla 9">
            <a:extLst>
              <a:ext uri="{FF2B5EF4-FFF2-40B4-BE49-F238E27FC236}">
                <a16:creationId xmlns:a16="http://schemas.microsoft.com/office/drawing/2014/main" id="{7A8A880E-4441-4E7D-ACE7-DE041459BE81}"/>
              </a:ext>
            </a:extLst>
          </p:cNvPr>
          <p:cNvGraphicFramePr>
            <a:graphicFrameLocks noGrp="1"/>
          </p:cNvGraphicFramePr>
          <p:nvPr>
            <p:extLst>
              <p:ext uri="{D42A27DB-BD31-4B8C-83A1-F6EECF244321}">
                <p14:modId xmlns:p14="http://schemas.microsoft.com/office/powerpoint/2010/main" val="15803794"/>
              </p:ext>
            </p:extLst>
          </p:nvPr>
        </p:nvGraphicFramePr>
        <p:xfrm>
          <a:off x="4958204" y="2055319"/>
          <a:ext cx="3498810" cy="914400"/>
        </p:xfrm>
        <a:graphic>
          <a:graphicData uri="http://schemas.openxmlformats.org/drawingml/2006/table">
            <a:tbl>
              <a:tblPr firstRow="1" bandRow="1">
                <a:tableStyleId>{5940675A-B579-460E-94D1-54222C63F5DA}</a:tableStyleId>
              </a:tblPr>
              <a:tblGrid>
                <a:gridCol w="1787530">
                  <a:extLst>
                    <a:ext uri="{9D8B030D-6E8A-4147-A177-3AD203B41FA5}">
                      <a16:colId xmlns:a16="http://schemas.microsoft.com/office/drawing/2014/main" val="1520359308"/>
                    </a:ext>
                  </a:extLst>
                </a:gridCol>
                <a:gridCol w="1711280">
                  <a:extLst>
                    <a:ext uri="{9D8B030D-6E8A-4147-A177-3AD203B41FA5}">
                      <a16:colId xmlns:a16="http://schemas.microsoft.com/office/drawing/2014/main" val="4218542073"/>
                    </a:ext>
                  </a:extLst>
                </a:gridCol>
              </a:tblGrid>
              <a:tr h="211844">
                <a:tc>
                  <a:txBody>
                    <a:bodyPr/>
                    <a:lstStyle/>
                    <a:p>
                      <a:r>
                        <a:rPr lang="es-CO" sz="1400" b="1" dirty="0">
                          <a:solidFill>
                            <a:schemeClr val="bg1"/>
                          </a:solidFill>
                          <a:latin typeface="+mn-lt"/>
                        </a:rPr>
                        <a:t>Cantidad de números</a:t>
                      </a:r>
                    </a:p>
                  </a:txBody>
                  <a:tcPr>
                    <a:solidFill>
                      <a:schemeClr val="tx1"/>
                    </a:solidFill>
                  </a:tcPr>
                </a:tc>
                <a:tc>
                  <a:txBody>
                    <a:bodyPr/>
                    <a:lstStyle/>
                    <a:p>
                      <a:r>
                        <a:rPr lang="es-CO" sz="1400" dirty="0">
                          <a:latin typeface="+mn-lt"/>
                        </a:rPr>
                        <a:t>4</a:t>
                      </a:r>
                    </a:p>
                  </a:txBody>
                  <a:tcPr/>
                </a:tc>
                <a:extLst>
                  <a:ext uri="{0D108BD9-81ED-4DB2-BD59-A6C34878D82A}">
                    <a16:rowId xmlns:a16="http://schemas.microsoft.com/office/drawing/2014/main" val="32264777"/>
                  </a:ext>
                </a:extLst>
              </a:tr>
              <a:tr h="211844">
                <a:tc>
                  <a:txBody>
                    <a:bodyPr/>
                    <a:lstStyle/>
                    <a:p>
                      <a:r>
                        <a:rPr lang="es-MX" sz="1400" b="1" dirty="0">
                          <a:solidFill>
                            <a:schemeClr val="bg1"/>
                          </a:solidFill>
                          <a:latin typeface="+mn-lt"/>
                        </a:rPr>
                        <a:t>Números</a:t>
                      </a:r>
                      <a:endParaRPr lang="es-CO" sz="1400" b="1" dirty="0">
                        <a:solidFill>
                          <a:schemeClr val="bg1"/>
                        </a:solidFill>
                        <a:latin typeface="+mn-lt"/>
                      </a:endParaRPr>
                    </a:p>
                  </a:txBody>
                  <a:tcPr>
                    <a:solidFill>
                      <a:schemeClr val="tx1"/>
                    </a:solidFill>
                  </a:tcPr>
                </a:tc>
                <a:tc>
                  <a:txBody>
                    <a:bodyPr/>
                    <a:lstStyle/>
                    <a:p>
                      <a:r>
                        <a:rPr lang="es-CO" sz="1400" dirty="0"/>
                        <a:t>0, 13, 1, 8</a:t>
                      </a:r>
                      <a:endParaRPr lang="es-CO" sz="1400" dirty="0">
                        <a:latin typeface="+mn-lt"/>
                      </a:endParaRPr>
                    </a:p>
                  </a:txBody>
                  <a:tcPr/>
                </a:tc>
                <a:extLst>
                  <a:ext uri="{0D108BD9-81ED-4DB2-BD59-A6C34878D82A}">
                    <a16:rowId xmlns:a16="http://schemas.microsoft.com/office/drawing/2014/main" val="1949968076"/>
                  </a:ext>
                </a:extLst>
              </a:tr>
              <a:tr h="211844">
                <a:tc>
                  <a:txBody>
                    <a:bodyPr/>
                    <a:lstStyle/>
                    <a:p>
                      <a:r>
                        <a:rPr lang="es-MX" sz="1400" b="1" dirty="0">
                          <a:solidFill>
                            <a:schemeClr val="bg1"/>
                          </a:solidFill>
                          <a:latin typeface="+mn-lt"/>
                        </a:rPr>
                        <a:t>Encontrado</a:t>
                      </a:r>
                      <a:endParaRPr lang="es-CO" sz="1400" b="1" dirty="0">
                        <a:solidFill>
                          <a:schemeClr val="bg1"/>
                        </a:solidFill>
                        <a:latin typeface="+mn-lt"/>
                      </a:endParaRPr>
                    </a:p>
                  </a:txBody>
                  <a:tcPr>
                    <a:solidFill>
                      <a:schemeClr val="tx1"/>
                    </a:solidFill>
                  </a:tcPr>
                </a:tc>
                <a:tc>
                  <a:txBody>
                    <a:bodyPr/>
                    <a:lstStyle/>
                    <a:p>
                      <a:r>
                        <a:rPr lang="es-CO" sz="1400" dirty="0">
                          <a:latin typeface="+mn-lt"/>
                        </a:rPr>
                        <a:t>Verdadero</a:t>
                      </a:r>
                    </a:p>
                  </a:txBody>
                  <a:tcPr/>
                </a:tc>
                <a:extLst>
                  <a:ext uri="{0D108BD9-81ED-4DB2-BD59-A6C34878D82A}">
                    <a16:rowId xmlns:a16="http://schemas.microsoft.com/office/drawing/2014/main" val="2422557555"/>
                  </a:ext>
                </a:extLst>
              </a:tr>
            </a:tbl>
          </a:graphicData>
        </a:graphic>
      </p:graphicFrame>
    </p:spTree>
    <p:extLst>
      <p:ext uri="{BB962C8B-B14F-4D97-AF65-F5344CB8AC3E}">
        <p14:creationId xmlns:p14="http://schemas.microsoft.com/office/powerpoint/2010/main" val="11745978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Ruptura de ciclos – Ejemplo 8 (Comparación)</a:t>
            </a:r>
          </a:p>
        </p:txBody>
      </p:sp>
      <p:sp>
        <p:nvSpPr>
          <p:cNvPr id="12" name="CuadroTexto 11">
            <a:extLst>
              <a:ext uri="{FF2B5EF4-FFF2-40B4-BE49-F238E27FC236}">
                <a16:creationId xmlns:a16="http://schemas.microsoft.com/office/drawing/2014/main" id="{EAE60664-1461-4ECB-B0FF-1CF415CA3190}"/>
              </a:ext>
            </a:extLst>
          </p:cNvPr>
          <p:cNvSpPr txBox="1"/>
          <p:nvPr/>
        </p:nvSpPr>
        <p:spPr>
          <a:xfrm>
            <a:off x="539553" y="3429000"/>
            <a:ext cx="4406520" cy="3139321"/>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VALOR_BUSCADO = 0</a:t>
            </a:r>
          </a:p>
          <a:p>
            <a:r>
              <a:rPr lang="es-MX" sz="1100" dirty="0">
                <a:latin typeface="Consolas" panose="020B0609020204030204" pitchFamily="49" charset="0"/>
              </a:rPr>
              <a:t>  encontrado = Falso</a:t>
            </a:r>
          </a:p>
          <a:p>
            <a:r>
              <a:rPr lang="es-MX" sz="1100" dirty="0">
                <a:latin typeface="Consolas" panose="020B0609020204030204" pitchFamily="49" charset="0"/>
              </a:rPr>
              <a:t>  i = 0</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Mientras (</a:t>
            </a:r>
            <a:r>
              <a:rPr lang="es-MX" sz="1100" dirty="0">
                <a:solidFill>
                  <a:srgbClr val="C00000"/>
                </a:solidFill>
                <a:highlight>
                  <a:srgbClr val="FFFF00"/>
                </a:highlight>
                <a:latin typeface="Consolas" panose="020B0609020204030204" pitchFamily="49" charset="0"/>
              </a:rPr>
              <a:t>(i &lt; N) and (encontrado == Falso)</a:t>
            </a:r>
            <a:r>
              <a:rPr lang="es-MX" sz="1100" dirty="0">
                <a:solidFill>
                  <a:srgbClr val="C00000"/>
                </a:solidFill>
                <a:latin typeface="Consolas" panose="020B0609020204030204" pitchFamily="49" charset="0"/>
              </a:rPr>
              <a:t>) Haga    </a:t>
            </a:r>
          </a:p>
          <a:p>
            <a:r>
              <a:rPr lang="es-MX" sz="1100" dirty="0">
                <a:solidFill>
                  <a:srgbClr val="C00000"/>
                </a:solidFill>
                <a:latin typeface="Consolas" panose="020B0609020204030204" pitchFamily="49" charset="0"/>
              </a:rPr>
              <a:t>    Leer(num) </a:t>
            </a:r>
          </a:p>
          <a:p>
            <a:r>
              <a:rPr lang="es-MX" sz="1100" dirty="0">
                <a:solidFill>
                  <a:srgbClr val="C00000"/>
                </a:solidFill>
                <a:latin typeface="Consolas" panose="020B0609020204030204" pitchFamily="49" charset="0"/>
              </a:rPr>
              <a:t>    i = i + 1</a:t>
            </a:r>
          </a:p>
          <a:p>
            <a:r>
              <a:rPr lang="es-MX" sz="1100" dirty="0">
                <a:solidFill>
                  <a:srgbClr val="00B050"/>
                </a:solidFill>
                <a:latin typeface="Consolas" panose="020B0609020204030204" pitchFamily="49" charset="0"/>
              </a:rPr>
              <a:t>    Si num == VALOR_BUSCADO Entonces</a:t>
            </a:r>
          </a:p>
          <a:p>
            <a:r>
              <a:rPr lang="es-MX" sz="1100" dirty="0">
                <a:solidFill>
                  <a:srgbClr val="00B050"/>
                </a:solidFill>
                <a:latin typeface="Consolas" panose="020B0609020204030204" pitchFamily="49" charset="0"/>
              </a:rPr>
              <a:t>      encontrado = Verdadero</a:t>
            </a:r>
          </a:p>
          <a:p>
            <a:r>
              <a:rPr lang="es-MX" sz="1100" dirty="0">
                <a:solidFill>
                  <a:srgbClr val="00B050"/>
                </a:solidFill>
                <a:latin typeface="Consolas" panose="020B0609020204030204" pitchFamily="49" charset="0"/>
              </a:rPr>
              <a:t>    Fin_Si</a:t>
            </a:r>
          </a:p>
          <a:p>
            <a:r>
              <a:rPr lang="es-MX" sz="1100" dirty="0">
                <a:solidFill>
                  <a:srgbClr val="C00000"/>
                </a:solidFill>
                <a:latin typeface="Consolas" panose="020B0609020204030204" pitchFamily="49" charset="0"/>
              </a:rPr>
              <a:t>  Fin_Mientras</a:t>
            </a:r>
          </a:p>
          <a:p>
            <a:r>
              <a:rPr lang="es-MX" sz="1100" dirty="0">
                <a:solidFill>
                  <a:srgbClr val="0070C0"/>
                </a:solidFill>
                <a:latin typeface="Consolas" panose="020B0609020204030204" pitchFamily="49" charset="0"/>
              </a:rPr>
              <a:t>  Si encontrado == Verdadero Entonces</a:t>
            </a:r>
          </a:p>
          <a:p>
            <a:r>
              <a:rPr lang="es-MX" sz="1100" dirty="0">
                <a:solidFill>
                  <a:srgbClr val="0070C0"/>
                </a:solidFill>
                <a:latin typeface="Consolas" panose="020B0609020204030204" pitchFamily="49" charset="0"/>
              </a:rPr>
              <a:t>    Escribir("Numero encontrado.")</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Escribir("Numero no encontrado.")</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5" name="CuadroTexto 14">
            <a:extLst>
              <a:ext uri="{FF2B5EF4-FFF2-40B4-BE49-F238E27FC236}">
                <a16:creationId xmlns:a16="http://schemas.microsoft.com/office/drawing/2014/main" id="{5C401506-7BD0-4335-BFC4-D1667E8AB8ED}"/>
              </a:ext>
            </a:extLst>
          </p:cNvPr>
          <p:cNvSpPr txBox="1"/>
          <p:nvPr/>
        </p:nvSpPr>
        <p:spPr>
          <a:xfrm>
            <a:off x="5111086" y="3432770"/>
            <a:ext cx="3781394" cy="3308598"/>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VALOR_BUSCADO = 0</a:t>
            </a:r>
          </a:p>
          <a:p>
            <a:r>
              <a:rPr lang="es-MX" sz="1100" dirty="0">
                <a:latin typeface="Consolas" panose="020B0609020204030204" pitchFamily="49" charset="0"/>
              </a:rPr>
              <a:t>  encontrado = Falso</a:t>
            </a:r>
          </a:p>
          <a:p>
            <a:r>
              <a:rPr lang="es-MX" sz="1100" dirty="0">
                <a:latin typeface="Consolas" panose="020B0609020204030204" pitchFamily="49" charset="0"/>
              </a:rPr>
              <a:t>  i = 0</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Mientras (</a:t>
            </a:r>
            <a:r>
              <a:rPr lang="es-MX" sz="1100" dirty="0">
                <a:solidFill>
                  <a:srgbClr val="C00000"/>
                </a:solidFill>
                <a:highlight>
                  <a:srgbClr val="FFFF00"/>
                </a:highlight>
                <a:latin typeface="Consolas" panose="020B0609020204030204" pitchFamily="49" charset="0"/>
              </a:rPr>
              <a:t>(i &lt; N)</a:t>
            </a:r>
            <a:r>
              <a:rPr lang="es-MX" sz="1100" dirty="0">
                <a:solidFill>
                  <a:srgbClr val="C00000"/>
                </a:solidFill>
                <a:latin typeface="Consolas" panose="020B0609020204030204" pitchFamily="49" charset="0"/>
              </a:rPr>
              <a:t>) Haga    </a:t>
            </a:r>
          </a:p>
          <a:p>
            <a:r>
              <a:rPr lang="es-MX" sz="1100" dirty="0">
                <a:solidFill>
                  <a:srgbClr val="C00000"/>
                </a:solidFill>
                <a:latin typeface="Consolas" panose="020B0609020204030204" pitchFamily="49" charset="0"/>
              </a:rPr>
              <a:t>    Leer(num) </a:t>
            </a:r>
          </a:p>
          <a:p>
            <a:r>
              <a:rPr lang="es-MX" sz="1100" dirty="0">
                <a:solidFill>
                  <a:srgbClr val="C00000"/>
                </a:solidFill>
                <a:latin typeface="Consolas" panose="020B0609020204030204" pitchFamily="49" charset="0"/>
              </a:rPr>
              <a:t>    i = i + 1</a:t>
            </a:r>
          </a:p>
          <a:p>
            <a:r>
              <a:rPr lang="es-MX" sz="1100" dirty="0">
                <a:solidFill>
                  <a:srgbClr val="00B050"/>
                </a:solidFill>
                <a:latin typeface="Consolas" panose="020B0609020204030204" pitchFamily="49" charset="0"/>
              </a:rPr>
              <a:t>    Si num == VALOR_BUSCADO Entonces</a:t>
            </a:r>
          </a:p>
          <a:p>
            <a:r>
              <a:rPr lang="es-MX" sz="1100" dirty="0">
                <a:solidFill>
                  <a:srgbClr val="00B050"/>
                </a:solidFill>
                <a:latin typeface="Consolas" panose="020B0609020204030204" pitchFamily="49" charset="0"/>
              </a:rPr>
              <a:t>      encontrado = Verdadero</a:t>
            </a:r>
          </a:p>
          <a:p>
            <a:r>
              <a:rPr lang="es-MX" sz="1100" dirty="0">
                <a:solidFill>
                  <a:srgbClr val="00B050"/>
                </a:solidFill>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Romper</a:t>
            </a:r>
          </a:p>
          <a:p>
            <a:r>
              <a:rPr lang="es-MX" sz="1100" dirty="0">
                <a:solidFill>
                  <a:srgbClr val="00B050"/>
                </a:solidFill>
                <a:latin typeface="Consolas" panose="020B0609020204030204" pitchFamily="49" charset="0"/>
              </a:rPr>
              <a:t>    Fin_Si</a:t>
            </a:r>
          </a:p>
          <a:p>
            <a:r>
              <a:rPr lang="es-MX" sz="1100" dirty="0">
                <a:solidFill>
                  <a:srgbClr val="C00000"/>
                </a:solidFill>
                <a:latin typeface="Consolas" panose="020B0609020204030204" pitchFamily="49" charset="0"/>
              </a:rPr>
              <a:t>  Fin_Mientras</a:t>
            </a:r>
          </a:p>
          <a:p>
            <a:r>
              <a:rPr lang="es-MX" sz="1100" dirty="0">
                <a:solidFill>
                  <a:srgbClr val="0070C0"/>
                </a:solidFill>
                <a:latin typeface="Consolas" panose="020B0609020204030204" pitchFamily="49" charset="0"/>
              </a:rPr>
              <a:t>  Si encontrado == Verdadero Entonces</a:t>
            </a:r>
          </a:p>
          <a:p>
            <a:r>
              <a:rPr lang="es-MX" sz="1100" dirty="0">
                <a:solidFill>
                  <a:srgbClr val="0070C0"/>
                </a:solidFill>
                <a:latin typeface="Consolas" panose="020B0609020204030204" pitchFamily="49" charset="0"/>
              </a:rPr>
              <a:t>    Escribir("Numero encontrado.")</a:t>
            </a:r>
          </a:p>
          <a:p>
            <a:r>
              <a:rPr lang="es-MX" sz="1100" dirty="0">
                <a:solidFill>
                  <a:srgbClr val="0070C0"/>
                </a:solidFill>
                <a:latin typeface="Consolas" panose="020B0609020204030204" pitchFamily="49" charset="0"/>
              </a:rPr>
              <a:t>  Sino</a:t>
            </a:r>
          </a:p>
          <a:p>
            <a:r>
              <a:rPr lang="es-MX" sz="1100" dirty="0">
                <a:solidFill>
                  <a:srgbClr val="0070C0"/>
                </a:solidFill>
                <a:latin typeface="Consolas" panose="020B0609020204030204" pitchFamily="49" charset="0"/>
              </a:rPr>
              <a:t>    Escribir("Numero no encontrado.")</a:t>
            </a:r>
          </a:p>
          <a:p>
            <a:r>
              <a:rPr lang="es-MX" sz="1100" dirty="0">
                <a:solidFill>
                  <a:srgbClr val="0070C0"/>
                </a:solidFill>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638686"/>
            <a:ext cx="8747165" cy="2862322"/>
          </a:xfrm>
          <a:prstGeom prst="rect">
            <a:avLst/>
          </a:prstGeom>
        </p:spPr>
        <p:txBody>
          <a:bodyPr wrap="square">
            <a:spAutoFit/>
          </a:bodyPr>
          <a:lstStyle/>
          <a:p>
            <a:pPr algn="l"/>
            <a:r>
              <a:rPr lang="es-MX" sz="2000" b="0" i="0" u="none" strike="noStrike" baseline="0" dirty="0"/>
              <a:t>Las dos versiones resuelven el mismo problema y producen el mismo resultado.</a:t>
            </a:r>
          </a:p>
          <a:p>
            <a:pPr marL="285750" indent="-285750" algn="l">
              <a:buFont typeface="Arial" panose="020B0604020202020204" pitchFamily="34" charset="0"/>
              <a:buChar char="•"/>
            </a:pPr>
            <a:r>
              <a:rPr lang="es-MX" sz="2000" b="1" i="0" u="none" strike="noStrike" baseline="0" dirty="0"/>
              <a:t>Izquierda (forma estructurada)</a:t>
            </a:r>
            <a:r>
              <a:rPr lang="es-MX" sz="2000" b="0" i="0" u="none" strike="noStrike" baseline="0" dirty="0"/>
              <a:t>: el </a:t>
            </a:r>
            <a:r>
              <a:rPr lang="es-MX" sz="2000" b="1" i="0" u="none" strike="noStrike" baseline="0" dirty="0"/>
              <a:t>Mientras</a:t>
            </a:r>
            <a:r>
              <a:rPr lang="es-MX" sz="2000" b="0" i="0" u="none" strike="noStrike" baseline="0" dirty="0"/>
              <a:t> incluye </a:t>
            </a:r>
            <a:r>
              <a:rPr lang="es-MX" b="0" i="0" u="none" strike="noStrike" baseline="0" dirty="0">
                <a:solidFill>
                  <a:srgbClr val="C00000"/>
                </a:solidFill>
                <a:latin typeface="Consolas" panose="020B0609020204030204" pitchFamily="49" charset="0"/>
              </a:rPr>
              <a:t>encontrado == Falso</a:t>
            </a:r>
            <a:r>
              <a:rPr lang="es-MX" sz="2000" b="0" i="0" u="none" strike="noStrike" baseline="0" dirty="0"/>
              <a:t> en su condición — el ciclo se detiene solo, sin instrucciones adicionales en el cuerpo.</a:t>
            </a:r>
          </a:p>
          <a:p>
            <a:pPr marL="285750" indent="-285750" algn="l">
              <a:buFont typeface="Arial" panose="020B0604020202020204" pitchFamily="34" charset="0"/>
              <a:buChar char="•"/>
            </a:pPr>
            <a:r>
              <a:rPr lang="es-MX" sz="2000" b="1" i="0" u="none" strike="noStrike" baseline="0" dirty="0"/>
              <a:t>Derecha (con Romper)</a:t>
            </a:r>
            <a:r>
              <a:rPr lang="es-MX" sz="2000" b="0" i="0" u="none" strike="noStrike" baseline="0" dirty="0"/>
              <a:t>: el </a:t>
            </a:r>
            <a:r>
              <a:rPr lang="es-MX" sz="2000" b="1" i="0" u="none" strike="noStrike" baseline="0" dirty="0"/>
              <a:t>Mientras</a:t>
            </a:r>
            <a:r>
              <a:rPr lang="es-MX" sz="2000" b="0" i="0" u="none" strike="noStrike" baseline="0" dirty="0"/>
              <a:t> se simplifica a </a:t>
            </a:r>
            <a:r>
              <a:rPr lang="es-MX" b="0" i="0" u="none" strike="noStrike" baseline="0" dirty="0">
                <a:solidFill>
                  <a:srgbClr val="C00000"/>
                </a:solidFill>
                <a:latin typeface="Consolas" panose="020B0609020204030204" pitchFamily="49" charset="0"/>
              </a:rPr>
              <a:t>i &lt; N</a:t>
            </a:r>
            <a:r>
              <a:rPr lang="es-MX" sz="2000" b="0" i="0" u="none" strike="noStrike" baseline="0" dirty="0"/>
              <a:t>; la salida anticipada queda a cargo de </a:t>
            </a:r>
            <a:r>
              <a:rPr lang="es-MX" b="1" i="0" u="none" strike="noStrike" baseline="0" dirty="0">
                <a:solidFill>
                  <a:srgbClr val="C00000"/>
                </a:solidFill>
                <a:latin typeface="Consolas" panose="020B0609020204030204" pitchFamily="49" charset="0"/>
              </a:rPr>
              <a:t>Romper</a:t>
            </a:r>
            <a:r>
              <a:rPr lang="es-MX" sz="2000" b="0" i="0" u="none" strike="noStrike" baseline="0" dirty="0"/>
              <a:t>, que interrumpe el ciclo apenas se cumple la condición interna, sin esperar a que se reevalúe el encabezado.</a:t>
            </a:r>
          </a:p>
          <a:p>
            <a:pPr marL="285750" indent="-285750" algn="l">
              <a:buFont typeface="Arial" panose="020B0604020202020204" pitchFamily="34" charset="0"/>
              <a:buChar char="•"/>
            </a:pPr>
            <a:r>
              <a:rPr lang="es-MX" sz="2000" b="1" i="0" u="none" strike="noStrike" baseline="0" dirty="0"/>
              <a:t>La condición de parada no desaparece</a:t>
            </a:r>
            <a:r>
              <a:rPr lang="es-MX" sz="2000" dirty="0"/>
              <a:t> (</a:t>
            </a:r>
            <a:r>
              <a:rPr lang="es-MX" sz="2000" b="1" i="0" u="none" strike="noStrike" baseline="0" dirty="0"/>
              <a:t>se mueve</a:t>
            </a:r>
            <a:r>
              <a:rPr lang="es-MX" sz="2000" i="0" u="none" strike="noStrike" baseline="0" dirty="0"/>
              <a:t>)</a:t>
            </a:r>
            <a:r>
              <a:rPr lang="es-MX" sz="2000" b="0" i="0" u="none" strike="noStrike" baseline="0" dirty="0"/>
              <a:t>: de estar visible en el encabezado del ciclo, pasa a estar escondida dentro del cuerpo.</a:t>
            </a:r>
            <a:endParaRPr lang="es-MX" sz="2000" dirty="0"/>
          </a:p>
        </p:txBody>
      </p:sp>
    </p:spTree>
    <p:extLst>
      <p:ext uri="{BB962C8B-B14F-4D97-AF65-F5344CB8AC3E}">
        <p14:creationId xmlns:p14="http://schemas.microsoft.com/office/powerpoint/2010/main" val="2072263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Ruptura de ciclos – Ejemplo 8</a:t>
            </a:r>
          </a:p>
        </p:txBody>
      </p:sp>
      <p:sp>
        <p:nvSpPr>
          <p:cNvPr id="12" name="CuadroTexto 11">
            <a:extLst>
              <a:ext uri="{FF2B5EF4-FFF2-40B4-BE49-F238E27FC236}">
                <a16:creationId xmlns:a16="http://schemas.microsoft.com/office/drawing/2014/main" id="{EAE60664-1461-4ECB-B0FF-1CF415CA3190}"/>
              </a:ext>
            </a:extLst>
          </p:cNvPr>
          <p:cNvSpPr txBox="1"/>
          <p:nvPr/>
        </p:nvSpPr>
        <p:spPr>
          <a:xfrm>
            <a:off x="179513" y="2403172"/>
            <a:ext cx="4104456" cy="2970044"/>
          </a:xfrm>
          <a:prstGeom prst="rect">
            <a:avLst/>
          </a:prstGeom>
          <a:noFill/>
          <a:ln>
            <a:solidFill>
              <a:schemeClr val="tx1"/>
            </a:solidFill>
          </a:ln>
        </p:spPr>
        <p:txBody>
          <a:bodyPr wrap="square">
            <a:spAutoFit/>
          </a:bodyPr>
          <a:lstStyle/>
          <a:p>
            <a:r>
              <a:rPr lang="es-MX" sz="1100" dirty="0">
                <a:latin typeface="Consolas" panose="020B0609020204030204" pitchFamily="49" charset="0"/>
              </a:rPr>
              <a:t>VALOR_BUSCADO = 0</a:t>
            </a:r>
          </a:p>
          <a:p>
            <a:r>
              <a:rPr lang="es-MX" sz="1100" dirty="0">
                <a:latin typeface="Consolas" panose="020B0609020204030204" pitchFamily="49" charset="0"/>
              </a:rPr>
              <a:t>encontrado = False</a:t>
            </a:r>
          </a:p>
          <a:p>
            <a:r>
              <a:rPr lang="es-MX" sz="1100" dirty="0">
                <a:latin typeface="Consolas" panose="020B0609020204030204" pitchFamily="49" charset="0"/>
              </a:rPr>
              <a:t>i = 0</a:t>
            </a:r>
          </a:p>
          <a:p>
            <a:endParaRPr lang="es-MX" sz="1100" dirty="0">
              <a:latin typeface="Consolas" panose="020B0609020204030204" pitchFamily="49" charset="0"/>
            </a:endParaRPr>
          </a:p>
          <a:p>
            <a:r>
              <a:rPr lang="es-MX" sz="1100" dirty="0">
                <a:latin typeface="Consolas" panose="020B0609020204030204" pitchFamily="49" charset="0"/>
              </a:rPr>
              <a:t>N = </a:t>
            </a:r>
            <a:r>
              <a:rPr lang="es-MX" sz="1100" dirty="0" err="1">
                <a:latin typeface="Consolas" panose="020B0609020204030204" pitchFamily="49" charset="0"/>
              </a:rPr>
              <a:t>int</a:t>
            </a:r>
            <a:r>
              <a:rPr lang="es-MX" sz="1100" dirty="0">
                <a:latin typeface="Consolas" panose="020B0609020204030204" pitchFamily="49" charset="0"/>
              </a:rPr>
              <a:t>(input('Ingrese el número de números: '))</a:t>
            </a:r>
          </a:p>
          <a:p>
            <a:r>
              <a:rPr lang="es-MX" sz="1100" dirty="0" err="1">
                <a:latin typeface="Consolas" panose="020B0609020204030204" pitchFamily="49" charset="0"/>
              </a:rPr>
              <a:t>while</a:t>
            </a:r>
            <a:r>
              <a:rPr lang="es-MX" sz="1100" dirty="0">
                <a:latin typeface="Consolas" panose="020B0609020204030204" pitchFamily="49" charset="0"/>
              </a:rPr>
              <a:t> ((i &lt; N) and (</a:t>
            </a:r>
            <a:r>
              <a:rPr lang="es-MX" sz="1100" dirty="0" err="1">
                <a:latin typeface="Consolas" panose="020B0609020204030204" pitchFamily="49" charset="0"/>
              </a:rPr>
              <a:t>not</a:t>
            </a:r>
            <a:r>
              <a:rPr lang="es-MX" sz="1100" dirty="0">
                <a:latin typeface="Consolas" panose="020B0609020204030204" pitchFamily="49" charset="0"/>
              </a:rPr>
              <a:t>(encontrado))):</a:t>
            </a:r>
          </a:p>
          <a:p>
            <a:r>
              <a:rPr lang="es-MX" sz="1100" dirty="0">
                <a:latin typeface="Consolas" panose="020B0609020204030204" pitchFamily="49" charset="0"/>
              </a:rPr>
              <a:t>    i += 1   # i = i + 1</a:t>
            </a:r>
          </a:p>
          <a:p>
            <a:r>
              <a:rPr lang="es-MX" sz="1100" dirty="0">
                <a:latin typeface="Consolas" panose="020B0609020204030204" pitchFamily="49" charset="0"/>
              </a:rPr>
              <a:t>    num = </a:t>
            </a:r>
            <a:r>
              <a:rPr lang="es-MX" sz="1100" dirty="0" err="1">
                <a:latin typeface="Consolas" panose="020B0609020204030204" pitchFamily="49" charset="0"/>
              </a:rPr>
              <a:t>int</a:t>
            </a:r>
            <a:r>
              <a:rPr lang="es-MX" sz="1100" dirty="0">
                <a:latin typeface="Consolas" panose="020B0609020204030204" pitchFamily="49" charset="0"/>
              </a:rPr>
              <a:t>(input(</a:t>
            </a:r>
            <a:r>
              <a:rPr lang="es-MX" sz="1100" dirty="0" err="1">
                <a:latin typeface="Consolas" panose="020B0609020204030204" pitchFamily="49" charset="0"/>
              </a:rPr>
              <a:t>f'Ingrese</a:t>
            </a:r>
            <a:r>
              <a:rPr lang="es-MX" sz="1100" dirty="0">
                <a:latin typeface="Consolas" panose="020B0609020204030204" pitchFamily="49" charset="0"/>
              </a:rPr>
              <a:t> el número {i}: '))    </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num == VALOR_BUSCADO:</a:t>
            </a:r>
          </a:p>
          <a:p>
            <a:r>
              <a:rPr lang="es-MX" sz="1100" dirty="0">
                <a:latin typeface="Consolas" panose="020B0609020204030204" pitchFamily="49" charset="0"/>
              </a:rPr>
              <a:t>        encontrado = True        </a:t>
            </a:r>
          </a:p>
          <a:p>
            <a:endParaRPr lang="es-MX" sz="1100" dirty="0">
              <a:latin typeface="Consolas" panose="020B0609020204030204" pitchFamily="49" charset="0"/>
            </a:endParaRPr>
          </a:p>
          <a:p>
            <a:r>
              <a:rPr lang="es-MX" sz="1100" dirty="0" err="1">
                <a:latin typeface="Consolas" panose="020B0609020204030204" pitchFamily="49" charset="0"/>
              </a:rPr>
              <a:t>if</a:t>
            </a:r>
            <a:r>
              <a:rPr lang="es-MX" sz="1100" dirty="0">
                <a:latin typeface="Consolas" panose="020B0609020204030204" pitchFamily="49" charset="0"/>
              </a:rPr>
              <a:t> encontrado:</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str</a:t>
            </a:r>
            <a:r>
              <a:rPr lang="es-MX" sz="1100" dirty="0">
                <a:latin typeface="Consolas" panose="020B0609020204030204" pitchFamily="49" charset="0"/>
              </a:rPr>
              <a:t>(VALOR_BUSCADO) +  </a:t>
            </a:r>
          </a:p>
          <a:p>
            <a:r>
              <a:rPr lang="es-MX" sz="1100" dirty="0">
                <a:latin typeface="Consolas" panose="020B0609020204030204" pitchFamily="49" charset="0"/>
              </a:rPr>
              <a:t>          " encontrado en la posición " +  </a:t>
            </a:r>
          </a:p>
          <a:p>
            <a:r>
              <a:rPr lang="es-MX" sz="1100" dirty="0">
                <a:latin typeface="Consolas" panose="020B0609020204030204" pitchFamily="49" charset="0"/>
              </a:rPr>
              <a:t>          </a:t>
            </a:r>
            <a:r>
              <a:rPr lang="es-MX" sz="1100" dirty="0" err="1">
                <a:latin typeface="Consolas" panose="020B0609020204030204" pitchFamily="49" charset="0"/>
              </a:rPr>
              <a:t>str</a:t>
            </a:r>
            <a:r>
              <a:rPr lang="es-MX" sz="1100" dirty="0">
                <a:latin typeface="Consolas" panose="020B0609020204030204" pitchFamily="49" charset="0"/>
              </a:rPr>
              <a:t>(i))</a:t>
            </a:r>
          </a:p>
          <a:p>
            <a:r>
              <a:rPr lang="es-MX" sz="1100" dirty="0" err="1">
                <a:latin typeface="Consolas" panose="020B0609020204030204" pitchFamily="49" charset="0"/>
              </a:rPr>
              <a:t>else</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str</a:t>
            </a:r>
            <a:r>
              <a:rPr lang="es-MX" sz="1100" dirty="0">
                <a:latin typeface="Consolas" panose="020B0609020204030204" pitchFamily="49" charset="0"/>
              </a:rPr>
              <a:t>(VALOR_BUSCADO) + " no encontrado")</a:t>
            </a:r>
            <a:endParaRPr lang="es-CO" sz="1100" dirty="0">
              <a:solidFill>
                <a:srgbClr val="C00000"/>
              </a:solidFill>
              <a:latin typeface="Consolas" panose="020B0609020204030204" pitchFamily="49" charset="0"/>
            </a:endParaRPr>
          </a:p>
        </p:txBody>
      </p:sp>
      <p:sp>
        <p:nvSpPr>
          <p:cNvPr id="9" name="CuadroTexto 8">
            <a:extLst>
              <a:ext uri="{FF2B5EF4-FFF2-40B4-BE49-F238E27FC236}">
                <a16:creationId xmlns:a16="http://schemas.microsoft.com/office/drawing/2014/main" id="{945AA28E-3D1B-4DB0-8AFD-B159676DB71D}"/>
              </a:ext>
            </a:extLst>
          </p:cNvPr>
          <p:cNvSpPr txBox="1"/>
          <p:nvPr/>
        </p:nvSpPr>
        <p:spPr>
          <a:xfrm>
            <a:off x="4549048" y="2305903"/>
            <a:ext cx="4398137" cy="3139321"/>
          </a:xfrm>
          <a:prstGeom prst="rect">
            <a:avLst/>
          </a:prstGeom>
          <a:noFill/>
          <a:ln>
            <a:solidFill>
              <a:schemeClr val="tx1"/>
            </a:solidFill>
          </a:ln>
        </p:spPr>
        <p:txBody>
          <a:bodyPr wrap="square">
            <a:spAutoFit/>
          </a:bodyPr>
          <a:lstStyle/>
          <a:p>
            <a:r>
              <a:rPr lang="es-MX" sz="1100" dirty="0">
                <a:latin typeface="Consolas" panose="020B0609020204030204" pitchFamily="49" charset="0"/>
              </a:rPr>
              <a:t>VALOR_BUSCADO = 0</a:t>
            </a:r>
          </a:p>
          <a:p>
            <a:r>
              <a:rPr lang="es-MX" sz="1100" dirty="0">
                <a:latin typeface="Consolas" panose="020B0609020204030204" pitchFamily="49" charset="0"/>
              </a:rPr>
              <a:t>encontrado = False</a:t>
            </a:r>
          </a:p>
          <a:p>
            <a:r>
              <a:rPr lang="es-MX" sz="1100" dirty="0">
                <a:latin typeface="Consolas" panose="020B0609020204030204" pitchFamily="49" charset="0"/>
              </a:rPr>
              <a:t>i = 0</a:t>
            </a:r>
          </a:p>
          <a:p>
            <a:endParaRPr lang="es-MX" sz="1100" dirty="0">
              <a:latin typeface="Consolas" panose="020B0609020204030204" pitchFamily="49" charset="0"/>
            </a:endParaRPr>
          </a:p>
          <a:p>
            <a:r>
              <a:rPr lang="es-MX" sz="1100" dirty="0">
                <a:latin typeface="Consolas" panose="020B0609020204030204" pitchFamily="49" charset="0"/>
              </a:rPr>
              <a:t>N = </a:t>
            </a:r>
            <a:r>
              <a:rPr lang="es-MX" sz="1100" dirty="0" err="1">
                <a:latin typeface="Consolas" panose="020B0609020204030204" pitchFamily="49" charset="0"/>
              </a:rPr>
              <a:t>int</a:t>
            </a:r>
            <a:r>
              <a:rPr lang="es-MX" sz="1100" dirty="0">
                <a:latin typeface="Consolas" panose="020B0609020204030204" pitchFamily="49" charset="0"/>
              </a:rPr>
              <a:t>(input('Ingrese el número de números: '))</a:t>
            </a:r>
          </a:p>
          <a:p>
            <a:r>
              <a:rPr lang="es-MX" sz="1100" dirty="0" err="1">
                <a:latin typeface="Consolas" panose="020B0609020204030204" pitchFamily="49" charset="0"/>
              </a:rPr>
              <a:t>while</a:t>
            </a:r>
            <a:r>
              <a:rPr lang="es-MX" sz="1100" dirty="0">
                <a:latin typeface="Consolas" panose="020B0609020204030204" pitchFamily="49" charset="0"/>
              </a:rPr>
              <a:t> (i &lt; N):</a:t>
            </a:r>
          </a:p>
          <a:p>
            <a:r>
              <a:rPr lang="es-MX" sz="1100" dirty="0">
                <a:latin typeface="Consolas" panose="020B0609020204030204" pitchFamily="49" charset="0"/>
              </a:rPr>
              <a:t>    i += 1   # i = i + 1</a:t>
            </a:r>
          </a:p>
          <a:p>
            <a:r>
              <a:rPr lang="es-MX" sz="1100" dirty="0">
                <a:latin typeface="Consolas" panose="020B0609020204030204" pitchFamily="49" charset="0"/>
              </a:rPr>
              <a:t>    num = </a:t>
            </a:r>
            <a:r>
              <a:rPr lang="es-MX" sz="1100" dirty="0" err="1">
                <a:latin typeface="Consolas" panose="020B0609020204030204" pitchFamily="49" charset="0"/>
              </a:rPr>
              <a:t>int</a:t>
            </a:r>
            <a:r>
              <a:rPr lang="es-MX" sz="1100" dirty="0">
                <a:latin typeface="Consolas" panose="020B0609020204030204" pitchFamily="49" charset="0"/>
              </a:rPr>
              <a:t>(input(</a:t>
            </a:r>
            <a:r>
              <a:rPr lang="es-MX" sz="1100" dirty="0" err="1">
                <a:latin typeface="Consolas" panose="020B0609020204030204" pitchFamily="49" charset="0"/>
              </a:rPr>
              <a:t>f'Ingrese</a:t>
            </a:r>
            <a:r>
              <a:rPr lang="es-MX" sz="1100" dirty="0">
                <a:latin typeface="Consolas" panose="020B0609020204030204" pitchFamily="49" charset="0"/>
              </a:rPr>
              <a:t> el número {i}: '))    </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num == VALOR_BUSCADO:</a:t>
            </a:r>
          </a:p>
          <a:p>
            <a:r>
              <a:rPr lang="es-MX" sz="1100" dirty="0">
                <a:latin typeface="Consolas" panose="020B0609020204030204" pitchFamily="49" charset="0"/>
              </a:rPr>
              <a:t>        encontrado = True        </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break</a:t>
            </a:r>
            <a:r>
              <a:rPr lang="es-MX" sz="1100" dirty="0">
                <a:latin typeface="Consolas" panose="020B0609020204030204" pitchFamily="49" charset="0"/>
              </a:rPr>
              <a:t>  # Instrucción de ruptura</a:t>
            </a:r>
          </a:p>
          <a:p>
            <a:endParaRPr lang="es-MX" sz="1100" dirty="0">
              <a:latin typeface="Consolas" panose="020B0609020204030204" pitchFamily="49" charset="0"/>
            </a:endParaRPr>
          </a:p>
          <a:p>
            <a:r>
              <a:rPr lang="es-MX" sz="1100" dirty="0" err="1">
                <a:latin typeface="Consolas" panose="020B0609020204030204" pitchFamily="49" charset="0"/>
              </a:rPr>
              <a:t>if</a:t>
            </a:r>
            <a:r>
              <a:rPr lang="es-MX" sz="1100" dirty="0">
                <a:latin typeface="Consolas" panose="020B0609020204030204" pitchFamily="49" charset="0"/>
              </a:rPr>
              <a:t> encontrado:</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str</a:t>
            </a:r>
            <a:r>
              <a:rPr lang="es-MX" sz="1100" dirty="0">
                <a:latin typeface="Consolas" panose="020B0609020204030204" pitchFamily="49" charset="0"/>
              </a:rPr>
              <a:t>(VALOR_BUSCADO) +  </a:t>
            </a:r>
          </a:p>
          <a:p>
            <a:r>
              <a:rPr lang="es-MX" sz="1100" dirty="0">
                <a:latin typeface="Consolas" panose="020B0609020204030204" pitchFamily="49" charset="0"/>
              </a:rPr>
              <a:t>          " encontrado en la posición " +  </a:t>
            </a:r>
          </a:p>
          <a:p>
            <a:r>
              <a:rPr lang="es-MX" sz="1100" dirty="0">
                <a:latin typeface="Consolas" panose="020B0609020204030204" pitchFamily="49" charset="0"/>
              </a:rPr>
              <a:t>          </a:t>
            </a:r>
            <a:r>
              <a:rPr lang="es-MX" sz="1100" dirty="0" err="1">
                <a:latin typeface="Consolas" panose="020B0609020204030204" pitchFamily="49" charset="0"/>
              </a:rPr>
              <a:t>str</a:t>
            </a:r>
            <a:r>
              <a:rPr lang="es-MX" sz="1100" dirty="0">
                <a:latin typeface="Consolas" panose="020B0609020204030204" pitchFamily="49" charset="0"/>
              </a:rPr>
              <a:t>(i))</a:t>
            </a:r>
          </a:p>
          <a:p>
            <a:r>
              <a:rPr lang="es-MX" sz="1100" dirty="0" err="1">
                <a:latin typeface="Consolas" panose="020B0609020204030204" pitchFamily="49" charset="0"/>
              </a:rPr>
              <a:t>else</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str</a:t>
            </a:r>
            <a:r>
              <a:rPr lang="es-MX" sz="1100" dirty="0">
                <a:latin typeface="Consolas" panose="020B0609020204030204" pitchFamily="49" charset="0"/>
              </a:rPr>
              <a:t>(VALOR_BUSCADO) + " no encontrado")</a:t>
            </a:r>
            <a:endParaRPr lang="es-CO" sz="1100" dirty="0">
              <a:solidFill>
                <a:srgbClr val="C00000"/>
              </a:solidFill>
              <a:latin typeface="Consolas" panose="020B0609020204030204" pitchFamily="49" charset="0"/>
            </a:endParaRPr>
          </a:p>
        </p:txBody>
      </p:sp>
      <p:sp>
        <p:nvSpPr>
          <p:cNvPr id="11" name="12 Rectángulo">
            <a:extLst>
              <a:ext uri="{FF2B5EF4-FFF2-40B4-BE49-F238E27FC236}">
                <a16:creationId xmlns:a16="http://schemas.microsoft.com/office/drawing/2014/main" id="{0361FD08-29FF-45F4-8B19-D816F862F274}"/>
              </a:ext>
            </a:extLst>
          </p:cNvPr>
          <p:cNvSpPr/>
          <p:nvPr/>
        </p:nvSpPr>
        <p:spPr>
          <a:xfrm>
            <a:off x="145314" y="692696"/>
            <a:ext cx="8747165" cy="1323439"/>
          </a:xfrm>
          <a:prstGeom prst="rect">
            <a:avLst/>
          </a:prstGeom>
        </p:spPr>
        <p:txBody>
          <a:bodyPr wrap="square">
            <a:spAutoFit/>
          </a:bodyPr>
          <a:lstStyle/>
          <a:p>
            <a:pPr marL="285750" indent="-285750" algn="l">
              <a:buFont typeface="Arial" panose="020B0604020202020204" pitchFamily="34" charset="0"/>
              <a:buChar char="•"/>
            </a:pPr>
            <a:r>
              <a:rPr lang="es-MX" sz="2000" b="0" i="0" u="none" strike="noStrike" baseline="0" dirty="0"/>
              <a:t>La implementación en Python de ambas soluciones en pseudocódigo se muestran a continuación.</a:t>
            </a:r>
          </a:p>
          <a:p>
            <a:pPr marL="285750" indent="-285750" algn="l">
              <a:buFont typeface="Arial" panose="020B0604020202020204" pitchFamily="34" charset="0"/>
              <a:buChar char="•"/>
            </a:pPr>
            <a:r>
              <a:rPr lang="es-MX" sz="2000" dirty="0"/>
              <a:t>Note que el equivalente de la instrucción de nuestro seudocódigo </a:t>
            </a:r>
            <a:r>
              <a:rPr lang="es-MX" b="1" dirty="0">
                <a:solidFill>
                  <a:srgbClr val="C00000"/>
                </a:solidFill>
                <a:latin typeface="Consolas" panose="020B0609020204030204" pitchFamily="49" charset="0"/>
              </a:rPr>
              <a:t>Romper</a:t>
            </a:r>
            <a:r>
              <a:rPr lang="es-MX" sz="2000" dirty="0"/>
              <a:t> en Python es </a:t>
            </a:r>
            <a:r>
              <a:rPr lang="es-MX" b="1" dirty="0">
                <a:solidFill>
                  <a:srgbClr val="C00000"/>
                </a:solidFill>
                <a:latin typeface="Consolas" panose="020B0609020204030204" pitchFamily="49" charset="0"/>
              </a:rPr>
              <a:t>break</a:t>
            </a:r>
            <a:r>
              <a:rPr lang="es-MX" sz="2000" dirty="0"/>
              <a:t>.</a:t>
            </a:r>
            <a:endParaRPr lang="es-MX" sz="2000" b="0" i="0" u="none" strike="noStrike" baseline="0" dirty="0"/>
          </a:p>
        </p:txBody>
      </p:sp>
      <p:sp>
        <p:nvSpPr>
          <p:cNvPr id="2" name="CuadroTexto 1">
            <a:extLst>
              <a:ext uri="{FF2B5EF4-FFF2-40B4-BE49-F238E27FC236}">
                <a16:creationId xmlns:a16="http://schemas.microsoft.com/office/drawing/2014/main" id="{79D66A00-7EDD-4839-97BB-619D82B0548D}"/>
              </a:ext>
            </a:extLst>
          </p:cNvPr>
          <p:cNvSpPr txBox="1"/>
          <p:nvPr/>
        </p:nvSpPr>
        <p:spPr>
          <a:xfrm>
            <a:off x="1403649" y="5501760"/>
            <a:ext cx="1656184" cy="307777"/>
          </a:xfrm>
          <a:prstGeom prst="rect">
            <a:avLst/>
          </a:prstGeom>
          <a:noFill/>
        </p:spPr>
        <p:txBody>
          <a:bodyPr wrap="square" rtlCol="0">
            <a:spAutoFit/>
          </a:bodyPr>
          <a:lstStyle/>
          <a:p>
            <a:pPr algn="ctr"/>
            <a:r>
              <a:rPr lang="es-CO" sz="1400" dirty="0">
                <a:hlinkClick r:id="rId2"/>
              </a:rPr>
              <a:t>Link simulación</a:t>
            </a:r>
            <a:endParaRPr lang="es-CO" sz="1400" dirty="0"/>
          </a:p>
        </p:txBody>
      </p:sp>
      <p:sp>
        <p:nvSpPr>
          <p:cNvPr id="14" name="CuadroTexto 13">
            <a:extLst>
              <a:ext uri="{FF2B5EF4-FFF2-40B4-BE49-F238E27FC236}">
                <a16:creationId xmlns:a16="http://schemas.microsoft.com/office/drawing/2014/main" id="{7042EBC5-6610-436F-BE58-6B8B94C38041}"/>
              </a:ext>
            </a:extLst>
          </p:cNvPr>
          <p:cNvSpPr txBox="1"/>
          <p:nvPr/>
        </p:nvSpPr>
        <p:spPr>
          <a:xfrm>
            <a:off x="5796136" y="5501760"/>
            <a:ext cx="1656184" cy="307777"/>
          </a:xfrm>
          <a:prstGeom prst="rect">
            <a:avLst/>
          </a:prstGeom>
          <a:noFill/>
        </p:spPr>
        <p:txBody>
          <a:bodyPr wrap="square" rtlCol="0">
            <a:spAutoFit/>
          </a:bodyPr>
          <a:lstStyle/>
          <a:p>
            <a:pPr algn="ctr"/>
            <a:r>
              <a:rPr lang="es-CO" sz="1400" dirty="0">
                <a:hlinkClick r:id="rId3"/>
              </a:rPr>
              <a:t>Link simulación</a:t>
            </a:r>
            <a:endParaRPr lang="es-CO" sz="1400" dirty="0"/>
          </a:p>
        </p:txBody>
      </p:sp>
    </p:spTree>
    <p:extLst>
      <p:ext uri="{BB962C8B-B14F-4D97-AF65-F5344CB8AC3E}">
        <p14:creationId xmlns:p14="http://schemas.microsoft.com/office/powerpoint/2010/main" val="38663623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Ruptura de ciclos – Casos de uso comunes</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3170099"/>
          </a:xfrm>
          <a:prstGeom prst="rect">
            <a:avLst/>
          </a:prstGeom>
        </p:spPr>
        <p:txBody>
          <a:bodyPr wrap="square">
            <a:spAutoFit/>
          </a:bodyPr>
          <a:lstStyle/>
          <a:p>
            <a:pPr algn="l"/>
            <a:r>
              <a:rPr lang="es-MX" sz="2000" dirty="0"/>
              <a:t>A continuación, veremos varias situaciones típicas donde se puede aplicar la ruptura de ciclos:</a:t>
            </a:r>
          </a:p>
          <a:p>
            <a:pPr marL="285750" indent="-285750" algn="l">
              <a:buFont typeface="Arial" panose="020B0604020202020204" pitchFamily="34" charset="0"/>
              <a:buChar char="•"/>
            </a:pPr>
            <a:r>
              <a:rPr lang="es-MX" sz="2000" b="1" dirty="0"/>
              <a:t>Validación de datos de entrada</a:t>
            </a:r>
            <a:r>
              <a:rPr lang="es-MX" sz="2000" dirty="0"/>
              <a:t>: repetir hasta que el dato ingresado sea válido.</a:t>
            </a:r>
          </a:p>
          <a:p>
            <a:pPr marL="285750" indent="-285750" algn="l">
              <a:buFont typeface="Arial" panose="020B0604020202020204" pitchFamily="34" charset="0"/>
              <a:buChar char="•"/>
            </a:pPr>
            <a:r>
              <a:rPr lang="es-MX" sz="2000" b="1" dirty="0"/>
              <a:t>Menú interactivo</a:t>
            </a:r>
            <a:r>
              <a:rPr lang="es-MX" sz="2000" dirty="0"/>
              <a:t>: repetir hasta que el usuario decida salir.</a:t>
            </a:r>
          </a:p>
          <a:p>
            <a:pPr marL="285750" indent="-285750" algn="l">
              <a:buFont typeface="Arial" panose="020B0604020202020204" pitchFamily="34" charset="0"/>
              <a:buChar char="•"/>
            </a:pPr>
            <a:r>
              <a:rPr lang="es-MX" sz="2000" b="1" dirty="0"/>
              <a:t>Lectura hasta un centinela</a:t>
            </a:r>
            <a:r>
              <a:rPr lang="es-MX" sz="2000" dirty="0"/>
              <a:t>: procesar datos sin saber de antemano cuántos vendrán.</a:t>
            </a:r>
          </a:p>
          <a:p>
            <a:pPr marL="285750" indent="-285750" algn="l">
              <a:buFont typeface="Arial" panose="020B0604020202020204" pitchFamily="34" charset="0"/>
              <a:buChar char="•"/>
            </a:pPr>
            <a:r>
              <a:rPr lang="es-MX" sz="2000" b="1" dirty="0"/>
              <a:t>Detección de un error</a:t>
            </a:r>
            <a:r>
              <a:rPr lang="es-MX" sz="2000" dirty="0"/>
              <a:t>: detener el ciclo apenas aparece un dato inválido.</a:t>
            </a:r>
          </a:p>
          <a:p>
            <a:pPr marL="285750" indent="-285750" algn="l">
              <a:buFont typeface="Arial" panose="020B0604020202020204" pitchFamily="34" charset="0"/>
              <a:buChar char="•"/>
            </a:pPr>
            <a:r>
              <a:rPr lang="es-MX" sz="2000" b="1" dirty="0"/>
              <a:t>Límite de intentos</a:t>
            </a:r>
            <a:r>
              <a:rPr lang="es-MX" sz="2000" dirty="0"/>
              <a:t>: combinar dos motivos distintos para terminar (éxito o tope de intentos).</a:t>
            </a:r>
          </a:p>
          <a:p>
            <a:pPr marL="285750" indent="-285750" algn="l">
              <a:buFont typeface="Arial" panose="020B0604020202020204" pitchFamily="34" charset="0"/>
              <a:buChar char="•"/>
            </a:pPr>
            <a:r>
              <a:rPr lang="es-MX" sz="2000" b="1" dirty="0"/>
              <a:t>Ciclos anidados</a:t>
            </a:r>
            <a:r>
              <a:rPr lang="es-MX" sz="2000" dirty="0"/>
              <a:t>: Romper solo corta el ciclo inmediato que lo contiene.</a:t>
            </a:r>
          </a:p>
        </p:txBody>
      </p:sp>
    </p:spTree>
    <p:extLst>
      <p:ext uri="{BB962C8B-B14F-4D97-AF65-F5344CB8AC3E}">
        <p14:creationId xmlns:p14="http://schemas.microsoft.com/office/powerpoint/2010/main" val="17968595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Validación de datos de entrada</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1015663"/>
          </a:xfrm>
          <a:prstGeom prst="rect">
            <a:avLst/>
          </a:prstGeom>
        </p:spPr>
        <p:txBody>
          <a:bodyPr wrap="square">
            <a:spAutoFit/>
          </a:bodyPr>
          <a:lstStyle/>
          <a:p>
            <a:pPr marL="342900" indent="-342900" algn="l">
              <a:buFont typeface="Arial" panose="020B0604020202020204" pitchFamily="34" charset="0"/>
              <a:buChar char="•"/>
            </a:pPr>
            <a:r>
              <a:rPr lang="es-MX" sz="2000" dirty="0"/>
              <a:t>No se sabe cuántos intentos hará falta.</a:t>
            </a:r>
          </a:p>
          <a:p>
            <a:pPr marL="342900" indent="-342900" algn="l">
              <a:buFont typeface="Arial" panose="020B0604020202020204" pitchFamily="34" charset="0"/>
              <a:buChar char="•"/>
            </a:pPr>
            <a:r>
              <a:rPr lang="es-MX" b="1" dirty="0">
                <a:solidFill>
                  <a:srgbClr val="C00000"/>
                </a:solidFill>
                <a:latin typeface="Consolas" panose="020B0609020204030204" pitchFamily="49" charset="0"/>
              </a:rPr>
              <a:t>Romper</a:t>
            </a:r>
            <a:r>
              <a:rPr lang="es-MX" sz="2000" dirty="0"/>
              <a:t> decide, desde adentro, cuándo el dato ya es válido.</a:t>
            </a:r>
          </a:p>
          <a:p>
            <a:pPr marL="342900" indent="-342900" algn="l">
              <a:buFont typeface="Arial" panose="020B0604020202020204" pitchFamily="34" charset="0"/>
              <a:buChar char="•"/>
            </a:pPr>
            <a:r>
              <a:rPr lang="es-MX" sz="2000" dirty="0"/>
              <a:t>Evita inventar una condición inicial artificial en el </a:t>
            </a:r>
            <a:r>
              <a:rPr lang="es-MX" b="1" dirty="0">
                <a:latin typeface="Consolas" panose="020B0609020204030204" pitchFamily="49" charset="0"/>
              </a:rPr>
              <a:t>Mientras</a:t>
            </a:r>
            <a:r>
              <a:rPr lang="es-MX" sz="2000" dirty="0"/>
              <a:t>.</a:t>
            </a:r>
          </a:p>
        </p:txBody>
      </p:sp>
      <p:sp>
        <p:nvSpPr>
          <p:cNvPr id="4" name="CuadroTexto 3">
            <a:extLst>
              <a:ext uri="{FF2B5EF4-FFF2-40B4-BE49-F238E27FC236}">
                <a16:creationId xmlns:a16="http://schemas.microsoft.com/office/drawing/2014/main" id="{865C3854-3243-4B14-8C1B-3ACE5FAF64F6}"/>
              </a:ext>
            </a:extLst>
          </p:cNvPr>
          <p:cNvSpPr txBox="1"/>
          <p:nvPr/>
        </p:nvSpPr>
        <p:spPr>
          <a:xfrm>
            <a:off x="251520" y="1988840"/>
            <a:ext cx="4104456" cy="1954381"/>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Mientras (Verdadero) Haga</a:t>
            </a:r>
          </a:p>
          <a:p>
            <a:r>
              <a:rPr lang="es-MX" sz="1100" dirty="0">
                <a:latin typeface="Consolas" panose="020B0609020204030204" pitchFamily="49" charset="0"/>
              </a:rPr>
              <a:t>    Leer(edad)</a:t>
            </a:r>
          </a:p>
          <a:p>
            <a:r>
              <a:rPr lang="es-MX" sz="1100" dirty="0">
                <a:latin typeface="Consolas" panose="020B0609020204030204" pitchFamily="49" charset="0"/>
              </a:rPr>
              <a:t>    Si (edad &gt;= 0) and (edad &lt;= 120) Entonces</a:t>
            </a:r>
          </a:p>
          <a:p>
            <a:r>
              <a:rPr lang="es-MX" sz="1100" dirty="0">
                <a:latin typeface="Consolas" panose="020B0609020204030204" pitchFamily="49" charset="0"/>
              </a:rPr>
              <a:t>      Romper</a:t>
            </a:r>
          </a:p>
          <a:p>
            <a:r>
              <a:rPr lang="es-MX" sz="1100" dirty="0">
                <a:latin typeface="Consolas" panose="020B0609020204030204" pitchFamily="49" charset="0"/>
              </a:rPr>
              <a:t>    Sino</a:t>
            </a:r>
          </a:p>
          <a:p>
            <a:r>
              <a:rPr lang="es-MX" sz="1100" dirty="0">
                <a:latin typeface="Consolas" panose="020B0609020204030204" pitchFamily="49" charset="0"/>
              </a:rPr>
              <a:t>      Escribir("Edad invalida, intente de nuevo.")</a:t>
            </a:r>
          </a:p>
          <a:p>
            <a:r>
              <a:rPr lang="es-MX" sz="1100" dirty="0">
                <a:latin typeface="Consolas" panose="020B0609020204030204" pitchFamily="49" charset="0"/>
              </a:rPr>
              <a:t>    Fin_Si</a:t>
            </a:r>
          </a:p>
          <a:p>
            <a:r>
              <a:rPr lang="es-MX" sz="1100" dirty="0">
                <a:latin typeface="Consolas" panose="020B0609020204030204" pitchFamily="49" charset="0"/>
              </a:rPr>
              <a:t>  Fin_Mientras</a:t>
            </a:r>
          </a:p>
          <a:p>
            <a:r>
              <a:rPr lang="es-MX" sz="1100" dirty="0">
                <a:latin typeface="Consolas" panose="020B0609020204030204" pitchFamily="49" charset="0"/>
              </a:rPr>
              <a:t>  Escribir("Edad registrada: ", edad)</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5" name="CuadroTexto 4">
            <a:extLst>
              <a:ext uri="{FF2B5EF4-FFF2-40B4-BE49-F238E27FC236}">
                <a16:creationId xmlns:a16="http://schemas.microsoft.com/office/drawing/2014/main" id="{3EC75295-8688-47DE-93D9-B23FB8D860E0}"/>
              </a:ext>
            </a:extLst>
          </p:cNvPr>
          <p:cNvSpPr txBox="1"/>
          <p:nvPr/>
        </p:nvSpPr>
        <p:spPr>
          <a:xfrm>
            <a:off x="4716016" y="1988840"/>
            <a:ext cx="4104456" cy="1446550"/>
          </a:xfrm>
          <a:prstGeom prst="rect">
            <a:avLst/>
          </a:prstGeom>
          <a:noFill/>
          <a:ln>
            <a:solidFill>
              <a:schemeClr val="tx1"/>
            </a:solidFill>
          </a:ln>
        </p:spPr>
        <p:txBody>
          <a:bodyPr wrap="square">
            <a:spAutoFit/>
          </a:bodyPr>
          <a:lstStyle/>
          <a:p>
            <a:r>
              <a:rPr lang="es-MX" sz="1100" dirty="0" err="1">
                <a:latin typeface="Consolas" panose="020B0609020204030204" pitchFamily="49" charset="0"/>
              </a:rPr>
              <a:t>while</a:t>
            </a:r>
            <a:r>
              <a:rPr lang="es-MX" sz="1100" dirty="0">
                <a:latin typeface="Consolas" panose="020B0609020204030204" pitchFamily="49" charset="0"/>
              </a:rPr>
              <a:t> True:</a:t>
            </a:r>
          </a:p>
          <a:p>
            <a:r>
              <a:rPr lang="es-MX" sz="1100" dirty="0">
                <a:latin typeface="Consolas" panose="020B0609020204030204" pitchFamily="49" charset="0"/>
              </a:rPr>
              <a:t>    edad = </a:t>
            </a:r>
            <a:r>
              <a:rPr lang="es-MX" sz="1100" dirty="0" err="1">
                <a:latin typeface="Consolas" panose="020B0609020204030204" pitchFamily="49" charset="0"/>
              </a:rPr>
              <a:t>int</a:t>
            </a:r>
            <a:r>
              <a:rPr lang="es-MX" sz="1100" dirty="0">
                <a:latin typeface="Consolas" panose="020B0609020204030204" pitchFamily="49" charset="0"/>
              </a:rPr>
              <a:t>(input('Ingrese su edad: '))</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0 &lt;= edad &lt;= 120:</a:t>
            </a:r>
          </a:p>
          <a:p>
            <a:r>
              <a:rPr lang="es-MX" sz="1100" dirty="0">
                <a:latin typeface="Consolas" panose="020B0609020204030204" pitchFamily="49" charset="0"/>
              </a:rPr>
              <a:t>        break  # Instrucción de ruptura</a:t>
            </a:r>
          </a:p>
          <a:p>
            <a:r>
              <a:rPr lang="es-MX" sz="1100" dirty="0">
                <a:latin typeface="Consolas" panose="020B0609020204030204" pitchFamily="49" charset="0"/>
              </a:rPr>
              <a:t>    </a:t>
            </a:r>
            <a:r>
              <a:rPr lang="es-MX" sz="1100" dirty="0" err="1">
                <a:latin typeface="Consolas" panose="020B0609020204030204" pitchFamily="49" charset="0"/>
              </a:rPr>
              <a:t>else</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("Edad invalida, intente de nuevo.")</a:t>
            </a:r>
          </a:p>
          <a:p>
            <a:endParaRPr lang="es-MX" sz="1100" dirty="0">
              <a:latin typeface="Consolas" panose="020B0609020204030204" pitchFamily="49" charset="0"/>
            </a:endParaRPr>
          </a:p>
          <a:p>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f"Edad</a:t>
            </a:r>
            <a:r>
              <a:rPr lang="es-MX" sz="1100" dirty="0">
                <a:latin typeface="Consolas" panose="020B0609020204030204" pitchFamily="49" charset="0"/>
              </a:rPr>
              <a:t> registrada: {edad}")</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3979022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Menú interactivo</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1015663"/>
          </a:xfrm>
          <a:prstGeom prst="rect">
            <a:avLst/>
          </a:prstGeom>
        </p:spPr>
        <p:txBody>
          <a:bodyPr wrap="square">
            <a:spAutoFit/>
          </a:bodyPr>
          <a:lstStyle/>
          <a:p>
            <a:pPr marL="342900" indent="-342900" algn="l">
              <a:buFont typeface="Arial" panose="020B0604020202020204" pitchFamily="34" charset="0"/>
              <a:buChar char="•"/>
            </a:pPr>
            <a:r>
              <a:rPr lang="es-MX" sz="2000" dirty="0"/>
              <a:t>No hay condición natural para el encabezado del ciclo.</a:t>
            </a:r>
          </a:p>
          <a:p>
            <a:pPr marL="342900" indent="-342900" algn="l">
              <a:buFont typeface="Arial" panose="020B0604020202020204" pitchFamily="34" charset="0"/>
              <a:buChar char="•"/>
            </a:pPr>
            <a:r>
              <a:rPr lang="es-MX" b="1" dirty="0">
                <a:solidFill>
                  <a:srgbClr val="C00000"/>
                </a:solidFill>
                <a:latin typeface="Consolas" panose="020B0609020204030204" pitchFamily="49" charset="0"/>
              </a:rPr>
              <a:t>Romper</a:t>
            </a:r>
            <a:r>
              <a:rPr lang="es-MX" sz="2000" dirty="0"/>
              <a:t> corta justo donde el usuario elige "Salir".</a:t>
            </a:r>
          </a:p>
          <a:p>
            <a:pPr marL="342900" indent="-342900" algn="l">
              <a:buFont typeface="Arial" panose="020B0604020202020204" pitchFamily="34" charset="0"/>
              <a:buChar char="•"/>
            </a:pPr>
            <a:r>
              <a:rPr lang="es-MX" sz="2000" dirty="0"/>
              <a:t>Las demás opciones no interrumpen el ciclo.</a:t>
            </a:r>
          </a:p>
        </p:txBody>
      </p:sp>
      <p:sp>
        <p:nvSpPr>
          <p:cNvPr id="4" name="CuadroTexto 3">
            <a:extLst>
              <a:ext uri="{FF2B5EF4-FFF2-40B4-BE49-F238E27FC236}">
                <a16:creationId xmlns:a16="http://schemas.microsoft.com/office/drawing/2014/main" id="{865C3854-3243-4B14-8C1B-3ACE5FAF64F6}"/>
              </a:ext>
            </a:extLst>
          </p:cNvPr>
          <p:cNvSpPr txBox="1"/>
          <p:nvPr/>
        </p:nvSpPr>
        <p:spPr>
          <a:xfrm>
            <a:off x="251520" y="2060848"/>
            <a:ext cx="4104456" cy="3139321"/>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Mientras (Verdadero) Haga</a:t>
            </a:r>
          </a:p>
          <a:p>
            <a:r>
              <a:rPr lang="es-MX" sz="1100" dirty="0">
                <a:latin typeface="Consolas" panose="020B0609020204030204" pitchFamily="49" charset="0"/>
              </a:rPr>
              <a:t>    Escribir("1. Agregar")</a:t>
            </a:r>
          </a:p>
          <a:p>
            <a:r>
              <a:rPr lang="es-MX" sz="1100" dirty="0">
                <a:latin typeface="Consolas" panose="020B0609020204030204" pitchFamily="49" charset="0"/>
              </a:rPr>
              <a:t>    Escribir("2. Consultar")</a:t>
            </a:r>
          </a:p>
          <a:p>
            <a:r>
              <a:rPr lang="es-MX" sz="1100" dirty="0">
                <a:latin typeface="Consolas" panose="020B0609020204030204" pitchFamily="49" charset="0"/>
              </a:rPr>
              <a:t>    Escribir("3. Salir")</a:t>
            </a:r>
          </a:p>
          <a:p>
            <a:r>
              <a:rPr lang="es-MX" sz="1100" dirty="0">
                <a:latin typeface="Consolas" panose="020B0609020204030204" pitchFamily="49" charset="0"/>
              </a:rPr>
              <a:t>    Leer(</a:t>
            </a:r>
            <a:r>
              <a:rPr lang="es-MX" sz="1100" dirty="0" err="1">
                <a:latin typeface="Consolas" panose="020B0609020204030204" pitchFamily="49" charset="0"/>
              </a:rPr>
              <a:t>opcion</a:t>
            </a:r>
            <a:r>
              <a:rPr lang="es-MX" sz="1100" dirty="0">
                <a:latin typeface="Consolas" panose="020B0609020204030204" pitchFamily="49" charset="0"/>
              </a:rPr>
              <a:t>)</a:t>
            </a:r>
          </a:p>
          <a:p>
            <a:r>
              <a:rPr lang="es-MX" sz="1100" dirty="0">
                <a:latin typeface="Consolas" panose="020B0609020204030204" pitchFamily="49" charset="0"/>
              </a:rPr>
              <a:t>    Si </a:t>
            </a:r>
            <a:r>
              <a:rPr lang="es-MX" sz="1100" dirty="0" err="1">
                <a:latin typeface="Consolas" panose="020B0609020204030204" pitchFamily="49" charset="0"/>
              </a:rPr>
              <a:t>opcion</a:t>
            </a:r>
            <a:r>
              <a:rPr lang="es-MX" sz="1100" dirty="0">
                <a:latin typeface="Consolas" panose="020B0609020204030204" pitchFamily="49" charset="0"/>
              </a:rPr>
              <a:t> == 3 Entonces</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Romper</a:t>
            </a:r>
          </a:p>
          <a:p>
            <a:r>
              <a:rPr lang="es-MX" sz="1100" dirty="0">
                <a:latin typeface="Consolas" panose="020B0609020204030204" pitchFamily="49" charset="0"/>
              </a:rPr>
              <a:t>    Fin_Si</a:t>
            </a:r>
          </a:p>
          <a:p>
            <a:r>
              <a:rPr lang="es-MX" sz="1100" dirty="0">
                <a:latin typeface="Consolas" panose="020B0609020204030204" pitchFamily="49" charset="0"/>
              </a:rPr>
              <a:t>    Si </a:t>
            </a:r>
            <a:r>
              <a:rPr lang="es-MX" sz="1100" dirty="0" err="1">
                <a:latin typeface="Consolas" panose="020B0609020204030204" pitchFamily="49" charset="0"/>
              </a:rPr>
              <a:t>opcion</a:t>
            </a:r>
            <a:r>
              <a:rPr lang="es-MX" sz="1100" dirty="0">
                <a:latin typeface="Consolas" panose="020B0609020204030204" pitchFamily="49" charset="0"/>
              </a:rPr>
              <a:t> == 1 Entonces</a:t>
            </a:r>
          </a:p>
          <a:p>
            <a:r>
              <a:rPr lang="es-MX" sz="1100" dirty="0">
                <a:latin typeface="Consolas" panose="020B0609020204030204" pitchFamily="49" charset="0"/>
              </a:rPr>
              <a:t>      Escribir("Agregando...")</a:t>
            </a:r>
          </a:p>
          <a:p>
            <a:r>
              <a:rPr lang="es-MX" sz="1100" dirty="0">
                <a:latin typeface="Consolas" panose="020B0609020204030204" pitchFamily="49" charset="0"/>
              </a:rPr>
              <a:t>    Fin_Si</a:t>
            </a:r>
          </a:p>
          <a:p>
            <a:r>
              <a:rPr lang="es-MX" sz="1100" dirty="0">
                <a:latin typeface="Consolas" panose="020B0609020204030204" pitchFamily="49" charset="0"/>
              </a:rPr>
              <a:t>    Si </a:t>
            </a:r>
            <a:r>
              <a:rPr lang="es-MX" sz="1100" dirty="0" err="1">
                <a:latin typeface="Consolas" panose="020B0609020204030204" pitchFamily="49" charset="0"/>
              </a:rPr>
              <a:t>opcion</a:t>
            </a:r>
            <a:r>
              <a:rPr lang="es-MX" sz="1100" dirty="0">
                <a:latin typeface="Consolas" panose="020B0609020204030204" pitchFamily="49" charset="0"/>
              </a:rPr>
              <a:t> == 2 Entonces</a:t>
            </a:r>
          </a:p>
          <a:p>
            <a:r>
              <a:rPr lang="es-MX" sz="1100" dirty="0">
                <a:latin typeface="Consolas" panose="020B0609020204030204" pitchFamily="49" charset="0"/>
              </a:rPr>
              <a:t>      Escribir("Consultando...")</a:t>
            </a:r>
          </a:p>
          <a:p>
            <a:r>
              <a:rPr lang="es-MX" sz="1100" dirty="0">
                <a:latin typeface="Consolas" panose="020B0609020204030204" pitchFamily="49" charset="0"/>
              </a:rPr>
              <a:t>    Fin_Si</a:t>
            </a:r>
          </a:p>
          <a:p>
            <a:r>
              <a:rPr lang="es-MX" sz="1100" dirty="0">
                <a:latin typeface="Consolas" panose="020B0609020204030204" pitchFamily="49" charset="0"/>
              </a:rPr>
              <a:t>  Fin_Mientras</a:t>
            </a:r>
          </a:p>
          <a:p>
            <a:r>
              <a:rPr lang="es-MX" sz="1100" dirty="0">
                <a:latin typeface="Consolas" panose="020B0609020204030204" pitchFamily="49" charset="0"/>
              </a:rPr>
              <a:t>  Escribir("Programa finalizado.")</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5" name="CuadroTexto 4">
            <a:extLst>
              <a:ext uri="{FF2B5EF4-FFF2-40B4-BE49-F238E27FC236}">
                <a16:creationId xmlns:a16="http://schemas.microsoft.com/office/drawing/2014/main" id="{3EC75295-8688-47DE-93D9-B23FB8D860E0}"/>
              </a:ext>
            </a:extLst>
          </p:cNvPr>
          <p:cNvSpPr txBox="1"/>
          <p:nvPr/>
        </p:nvSpPr>
        <p:spPr>
          <a:xfrm>
            <a:off x="4716016" y="2060848"/>
            <a:ext cx="4104456" cy="2800767"/>
          </a:xfrm>
          <a:prstGeom prst="rect">
            <a:avLst/>
          </a:prstGeom>
          <a:noFill/>
          <a:ln>
            <a:solidFill>
              <a:schemeClr val="tx1"/>
            </a:solidFill>
          </a:ln>
        </p:spPr>
        <p:txBody>
          <a:bodyPr wrap="square">
            <a:spAutoFit/>
          </a:bodyPr>
          <a:lstStyle/>
          <a:p>
            <a:r>
              <a:rPr lang="es-MX" sz="1100" dirty="0" err="1">
                <a:latin typeface="Consolas" panose="020B0609020204030204" pitchFamily="49" charset="0"/>
              </a:rPr>
              <a:t>while</a:t>
            </a:r>
            <a:r>
              <a:rPr lang="es-MX" sz="1100" dirty="0">
                <a:latin typeface="Consolas" panose="020B0609020204030204" pitchFamily="49" charset="0"/>
              </a:rPr>
              <a:t> True:</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("1. Agregar")</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("2. Consultar")</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("3. Salir")</a:t>
            </a:r>
          </a:p>
          <a:p>
            <a:r>
              <a:rPr lang="es-MX" sz="1100" dirty="0">
                <a:latin typeface="Consolas" panose="020B0609020204030204" pitchFamily="49" charset="0"/>
              </a:rPr>
              <a:t>    </a:t>
            </a:r>
            <a:r>
              <a:rPr lang="es-MX" sz="1100" dirty="0" err="1">
                <a:latin typeface="Consolas" panose="020B0609020204030204" pitchFamily="49" charset="0"/>
              </a:rPr>
              <a:t>opcion</a:t>
            </a:r>
            <a:r>
              <a:rPr lang="es-MX" sz="1100" dirty="0">
                <a:latin typeface="Consolas" panose="020B0609020204030204" pitchFamily="49" charset="0"/>
              </a:rPr>
              <a:t> = </a:t>
            </a:r>
            <a:r>
              <a:rPr lang="es-MX" sz="1100" dirty="0" err="1">
                <a:latin typeface="Consolas" panose="020B0609020204030204" pitchFamily="49" charset="0"/>
              </a:rPr>
              <a:t>int</a:t>
            </a:r>
            <a:r>
              <a:rPr lang="es-MX" sz="1100" dirty="0">
                <a:latin typeface="Consolas" panose="020B0609020204030204" pitchFamily="49" charset="0"/>
              </a:rPr>
              <a:t>(input("Elija una </a:t>
            </a:r>
            <a:r>
              <a:rPr lang="es-MX" sz="1100" dirty="0" err="1">
                <a:latin typeface="Consolas" panose="020B0609020204030204" pitchFamily="49" charset="0"/>
              </a:rPr>
              <a:t>opcion</a:t>
            </a:r>
            <a:r>
              <a:rPr lang="es-MX" sz="1100" dirty="0">
                <a:latin typeface="Consolas" panose="020B0609020204030204" pitchFamily="49" charset="0"/>
              </a:rPr>
              <a:t>: "))</a:t>
            </a:r>
          </a:p>
          <a:p>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a:t>
            </a:r>
            <a:r>
              <a:rPr lang="es-MX" sz="1100" dirty="0" err="1">
                <a:latin typeface="Consolas" panose="020B0609020204030204" pitchFamily="49" charset="0"/>
              </a:rPr>
              <a:t>opcion</a:t>
            </a:r>
            <a:r>
              <a:rPr lang="es-MX" sz="1100" dirty="0">
                <a:latin typeface="Consolas" panose="020B0609020204030204" pitchFamily="49" charset="0"/>
              </a:rPr>
              <a:t> == 3:</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break</a:t>
            </a:r>
            <a:r>
              <a:rPr lang="es-MX" sz="1100" dirty="0">
                <a:latin typeface="Consolas" panose="020B0609020204030204" pitchFamily="49" charset="0"/>
              </a:rPr>
              <a:t>  # Instrucción de ruptura</a:t>
            </a:r>
          </a:p>
          <a:p>
            <a:r>
              <a:rPr lang="es-MX" sz="1100" dirty="0">
                <a:latin typeface="Consolas" panose="020B0609020204030204" pitchFamily="49" charset="0"/>
              </a:rPr>
              <a:t>    </a:t>
            </a:r>
            <a:r>
              <a:rPr lang="es-MX" sz="1100" dirty="0" err="1">
                <a:latin typeface="Consolas" panose="020B0609020204030204" pitchFamily="49" charset="0"/>
              </a:rPr>
              <a:t>elif</a:t>
            </a:r>
            <a:r>
              <a:rPr lang="es-MX" sz="1100" dirty="0">
                <a:latin typeface="Consolas" panose="020B0609020204030204" pitchFamily="49" charset="0"/>
              </a:rPr>
              <a:t> </a:t>
            </a:r>
            <a:r>
              <a:rPr lang="es-MX" sz="1100" dirty="0" err="1">
                <a:latin typeface="Consolas" panose="020B0609020204030204" pitchFamily="49" charset="0"/>
              </a:rPr>
              <a:t>opcion</a:t>
            </a:r>
            <a:r>
              <a:rPr lang="es-MX" sz="1100" dirty="0">
                <a:latin typeface="Consolas" panose="020B0609020204030204" pitchFamily="49" charset="0"/>
              </a:rPr>
              <a:t> == 1:</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("Agregando...")</a:t>
            </a:r>
          </a:p>
          <a:p>
            <a:r>
              <a:rPr lang="es-MX" sz="1100" dirty="0">
                <a:latin typeface="Consolas" panose="020B0609020204030204" pitchFamily="49" charset="0"/>
              </a:rPr>
              <a:t>    </a:t>
            </a:r>
            <a:r>
              <a:rPr lang="es-MX" sz="1100" dirty="0" err="1">
                <a:latin typeface="Consolas" panose="020B0609020204030204" pitchFamily="49" charset="0"/>
              </a:rPr>
              <a:t>elif</a:t>
            </a:r>
            <a:r>
              <a:rPr lang="es-MX" sz="1100" dirty="0">
                <a:latin typeface="Consolas" panose="020B0609020204030204" pitchFamily="49" charset="0"/>
              </a:rPr>
              <a:t> </a:t>
            </a:r>
            <a:r>
              <a:rPr lang="es-MX" sz="1100" dirty="0" err="1">
                <a:latin typeface="Consolas" panose="020B0609020204030204" pitchFamily="49" charset="0"/>
              </a:rPr>
              <a:t>opcion</a:t>
            </a:r>
            <a:r>
              <a:rPr lang="es-MX" sz="1100" dirty="0">
                <a:latin typeface="Consolas" panose="020B0609020204030204" pitchFamily="49" charset="0"/>
              </a:rPr>
              <a:t> == 2:</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("Consultando...")</a:t>
            </a:r>
          </a:p>
          <a:p>
            <a:r>
              <a:rPr lang="es-MX" sz="1100" dirty="0">
                <a:latin typeface="Consolas" panose="020B0609020204030204" pitchFamily="49" charset="0"/>
              </a:rPr>
              <a:t>    </a:t>
            </a:r>
            <a:r>
              <a:rPr lang="es-MX" sz="1100" dirty="0" err="1">
                <a:latin typeface="Consolas" panose="020B0609020204030204" pitchFamily="49" charset="0"/>
              </a:rPr>
              <a:t>else</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Opcion</a:t>
            </a:r>
            <a:r>
              <a:rPr lang="es-MX" sz="1100" dirty="0">
                <a:latin typeface="Consolas" panose="020B0609020204030204" pitchFamily="49" charset="0"/>
              </a:rPr>
              <a:t> invalida")</a:t>
            </a:r>
          </a:p>
          <a:p>
            <a:endParaRPr lang="es-MX" sz="1100" dirty="0">
              <a:latin typeface="Consolas" panose="020B0609020204030204" pitchFamily="49" charset="0"/>
            </a:endParaRPr>
          </a:p>
          <a:p>
            <a:r>
              <a:rPr lang="es-MX" sz="1100" dirty="0" err="1">
                <a:latin typeface="Consolas" panose="020B0609020204030204" pitchFamily="49" charset="0"/>
              </a:rPr>
              <a:t>print</a:t>
            </a:r>
            <a:r>
              <a:rPr lang="es-MX" sz="1100" dirty="0">
                <a:latin typeface="Consolas" panose="020B0609020204030204" pitchFamily="49" charset="0"/>
              </a:rPr>
              <a:t>("Programa finalizado.")</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4254358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Lectura hasta un centinela</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1015663"/>
          </a:xfrm>
          <a:prstGeom prst="rect">
            <a:avLst/>
          </a:prstGeom>
        </p:spPr>
        <p:txBody>
          <a:bodyPr wrap="square">
            <a:spAutoFit/>
          </a:bodyPr>
          <a:lstStyle/>
          <a:p>
            <a:pPr marL="342900" indent="-342900" algn="l">
              <a:buFont typeface="Arial" panose="020B0604020202020204" pitchFamily="34" charset="0"/>
              <a:buChar char="•"/>
            </a:pPr>
            <a:r>
              <a:rPr lang="es-MX" sz="2000" dirty="0"/>
              <a:t>No se sabe cuántos datos ingresará el usuario.</a:t>
            </a:r>
          </a:p>
          <a:p>
            <a:pPr marL="342900" indent="-342900" algn="l">
              <a:buFont typeface="Arial" panose="020B0604020202020204" pitchFamily="34" charset="0"/>
              <a:buChar char="•"/>
            </a:pPr>
            <a:r>
              <a:rPr lang="es-MX" b="1" dirty="0">
                <a:solidFill>
                  <a:srgbClr val="C00000"/>
                </a:solidFill>
                <a:latin typeface="Consolas" panose="020B0609020204030204" pitchFamily="49" charset="0"/>
              </a:rPr>
              <a:t>Romper</a:t>
            </a:r>
            <a:r>
              <a:rPr lang="es-MX" sz="2000" dirty="0"/>
              <a:t> actúa apenas aparece el centinela (-1).</a:t>
            </a:r>
          </a:p>
          <a:p>
            <a:pPr marL="342900" indent="-342900" algn="l">
              <a:buFont typeface="Arial" panose="020B0604020202020204" pitchFamily="34" charset="0"/>
              <a:buChar char="•"/>
            </a:pPr>
            <a:r>
              <a:rPr lang="es-MX" sz="2000" dirty="0"/>
              <a:t>Se rompe antes de sumarlo, para no contaminar el resultado.</a:t>
            </a:r>
          </a:p>
        </p:txBody>
      </p:sp>
      <p:sp>
        <p:nvSpPr>
          <p:cNvPr id="4" name="CuadroTexto 3">
            <a:extLst>
              <a:ext uri="{FF2B5EF4-FFF2-40B4-BE49-F238E27FC236}">
                <a16:creationId xmlns:a16="http://schemas.microsoft.com/office/drawing/2014/main" id="{865C3854-3243-4B14-8C1B-3ACE5FAF64F6}"/>
              </a:ext>
            </a:extLst>
          </p:cNvPr>
          <p:cNvSpPr txBox="1"/>
          <p:nvPr/>
        </p:nvSpPr>
        <p:spPr>
          <a:xfrm>
            <a:off x="251521" y="2060848"/>
            <a:ext cx="4032447" cy="1954381"/>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suma = 0</a:t>
            </a:r>
          </a:p>
          <a:p>
            <a:r>
              <a:rPr lang="es-MX" sz="1100" dirty="0">
                <a:latin typeface="Consolas" panose="020B0609020204030204" pitchFamily="49" charset="0"/>
              </a:rPr>
              <a:t>  Mientras (Verdadero) Haga</a:t>
            </a:r>
          </a:p>
          <a:p>
            <a:r>
              <a:rPr lang="es-MX" sz="1100" dirty="0">
                <a:latin typeface="Consolas" panose="020B0609020204030204" pitchFamily="49" charset="0"/>
              </a:rPr>
              <a:t>    Leer(numero)</a:t>
            </a:r>
          </a:p>
          <a:p>
            <a:r>
              <a:rPr lang="es-MX" sz="1100" dirty="0">
                <a:latin typeface="Consolas" panose="020B0609020204030204" pitchFamily="49" charset="0"/>
              </a:rPr>
              <a:t>    Si numero == -1 Entonces</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Romper</a:t>
            </a:r>
          </a:p>
          <a:p>
            <a:r>
              <a:rPr lang="es-MX" sz="1100" dirty="0">
                <a:latin typeface="Consolas" panose="020B0609020204030204" pitchFamily="49" charset="0"/>
              </a:rPr>
              <a:t>    Fin_Si</a:t>
            </a:r>
          </a:p>
          <a:p>
            <a:r>
              <a:rPr lang="es-MX" sz="1100" dirty="0">
                <a:latin typeface="Consolas" panose="020B0609020204030204" pitchFamily="49" charset="0"/>
              </a:rPr>
              <a:t>    suma = suma + numero</a:t>
            </a:r>
          </a:p>
          <a:p>
            <a:r>
              <a:rPr lang="es-MX" sz="1100" dirty="0">
                <a:latin typeface="Consolas" panose="020B0609020204030204" pitchFamily="49" charset="0"/>
              </a:rPr>
              <a:t>  Fin_Mientras</a:t>
            </a:r>
          </a:p>
          <a:p>
            <a:r>
              <a:rPr lang="es-MX" sz="1100" dirty="0">
                <a:latin typeface="Consolas" panose="020B0609020204030204" pitchFamily="49" charset="0"/>
              </a:rPr>
              <a:t>  Escribir("Suma total: ", suma)</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5" name="CuadroTexto 4">
            <a:extLst>
              <a:ext uri="{FF2B5EF4-FFF2-40B4-BE49-F238E27FC236}">
                <a16:creationId xmlns:a16="http://schemas.microsoft.com/office/drawing/2014/main" id="{3EC75295-8688-47DE-93D9-B23FB8D860E0}"/>
              </a:ext>
            </a:extLst>
          </p:cNvPr>
          <p:cNvSpPr txBox="1"/>
          <p:nvPr/>
        </p:nvSpPr>
        <p:spPr>
          <a:xfrm>
            <a:off x="4572000" y="2060848"/>
            <a:ext cx="4248471" cy="1615827"/>
          </a:xfrm>
          <a:prstGeom prst="rect">
            <a:avLst/>
          </a:prstGeom>
          <a:noFill/>
          <a:ln>
            <a:solidFill>
              <a:schemeClr val="tx1"/>
            </a:solidFill>
          </a:ln>
        </p:spPr>
        <p:txBody>
          <a:bodyPr wrap="square">
            <a:spAutoFit/>
          </a:bodyPr>
          <a:lstStyle/>
          <a:p>
            <a:r>
              <a:rPr lang="es-MX" sz="1100" dirty="0">
                <a:latin typeface="Consolas" panose="020B0609020204030204" pitchFamily="49" charset="0"/>
              </a:rPr>
              <a:t>suma = 0</a:t>
            </a:r>
          </a:p>
          <a:p>
            <a:r>
              <a:rPr lang="es-MX" sz="1100" dirty="0" err="1">
                <a:latin typeface="Consolas" panose="020B0609020204030204" pitchFamily="49" charset="0"/>
              </a:rPr>
              <a:t>while</a:t>
            </a:r>
            <a:r>
              <a:rPr lang="es-MX" sz="1100" dirty="0">
                <a:latin typeface="Consolas" panose="020B0609020204030204" pitchFamily="49" charset="0"/>
              </a:rPr>
              <a:t> True:</a:t>
            </a:r>
          </a:p>
          <a:p>
            <a:r>
              <a:rPr lang="es-MX" sz="1100" dirty="0">
                <a:latin typeface="Consolas" panose="020B0609020204030204" pitchFamily="49" charset="0"/>
              </a:rPr>
              <a:t>    numero = </a:t>
            </a:r>
            <a:r>
              <a:rPr lang="es-MX" sz="1100" dirty="0" err="1">
                <a:latin typeface="Consolas" panose="020B0609020204030204" pitchFamily="49" charset="0"/>
              </a:rPr>
              <a:t>int</a:t>
            </a:r>
            <a:r>
              <a:rPr lang="es-MX" sz="1100" dirty="0">
                <a:latin typeface="Consolas" panose="020B0609020204030204" pitchFamily="49" charset="0"/>
              </a:rPr>
              <a:t>(input('Ingrese un numero (-1 para terminar): '))</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numero == -1:</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break</a:t>
            </a:r>
            <a:r>
              <a:rPr lang="es-MX" sz="1100" dirty="0">
                <a:latin typeface="Consolas" panose="020B0609020204030204" pitchFamily="49" charset="0"/>
              </a:rPr>
              <a:t>  # Instrucción de ruptura</a:t>
            </a:r>
          </a:p>
          <a:p>
            <a:r>
              <a:rPr lang="es-MX" sz="1100" dirty="0">
                <a:latin typeface="Consolas" panose="020B0609020204030204" pitchFamily="49" charset="0"/>
              </a:rPr>
              <a:t>    suma = suma + numero</a:t>
            </a:r>
          </a:p>
          <a:p>
            <a:endParaRPr lang="es-MX" sz="1100" dirty="0">
              <a:latin typeface="Consolas" panose="020B0609020204030204" pitchFamily="49" charset="0"/>
            </a:endParaRPr>
          </a:p>
          <a:p>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f"Suma</a:t>
            </a:r>
            <a:r>
              <a:rPr lang="es-MX" sz="1100" dirty="0">
                <a:latin typeface="Consolas" panose="020B0609020204030204" pitchFamily="49" charset="0"/>
              </a:rPr>
              <a:t> total: {suma}")</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27953525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Detección de una condición de error</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1015663"/>
          </a:xfrm>
          <a:prstGeom prst="rect">
            <a:avLst/>
          </a:prstGeom>
        </p:spPr>
        <p:txBody>
          <a:bodyPr wrap="square">
            <a:spAutoFit/>
          </a:bodyPr>
          <a:lstStyle/>
          <a:p>
            <a:pPr marL="342900" indent="-342900" algn="l">
              <a:buFont typeface="Arial" panose="020B0604020202020204" pitchFamily="34" charset="0"/>
              <a:buChar char="•"/>
            </a:pPr>
            <a:r>
              <a:rPr lang="es-MX" sz="2000" dirty="0"/>
              <a:t>Un dato inválido invalida el resultado final.</a:t>
            </a:r>
          </a:p>
          <a:p>
            <a:pPr marL="342900" indent="-342900" algn="l">
              <a:buFont typeface="Arial" panose="020B0604020202020204" pitchFamily="34" charset="0"/>
              <a:buChar char="•"/>
            </a:pPr>
            <a:r>
              <a:rPr lang="es-MX" b="1" dirty="0">
                <a:solidFill>
                  <a:srgbClr val="C00000"/>
                </a:solidFill>
              </a:rPr>
              <a:t>Romper</a:t>
            </a:r>
            <a:r>
              <a:rPr lang="es-MX" sz="2000" dirty="0"/>
              <a:t> corta de inmediato, sin esperar el resto del ciclo.</a:t>
            </a:r>
          </a:p>
          <a:p>
            <a:pPr marL="342900" indent="-342900" algn="l">
              <a:buFont typeface="Arial" panose="020B0604020202020204" pitchFamily="34" charset="0"/>
              <a:buChar char="•"/>
            </a:pPr>
            <a:r>
              <a:rPr lang="es-MX" sz="2000" dirty="0"/>
              <a:t>La bandera solo registra que hubo error, no controla el ciclo.</a:t>
            </a:r>
          </a:p>
        </p:txBody>
      </p:sp>
      <p:sp>
        <p:nvSpPr>
          <p:cNvPr id="4" name="CuadroTexto 3">
            <a:extLst>
              <a:ext uri="{FF2B5EF4-FFF2-40B4-BE49-F238E27FC236}">
                <a16:creationId xmlns:a16="http://schemas.microsoft.com/office/drawing/2014/main" id="{865C3854-3243-4B14-8C1B-3ACE5FAF64F6}"/>
              </a:ext>
            </a:extLst>
          </p:cNvPr>
          <p:cNvSpPr txBox="1"/>
          <p:nvPr/>
        </p:nvSpPr>
        <p:spPr>
          <a:xfrm>
            <a:off x="251520" y="2060848"/>
            <a:ext cx="4104456" cy="3139321"/>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Leer(N)</a:t>
            </a:r>
          </a:p>
          <a:p>
            <a:r>
              <a:rPr lang="es-MX" sz="1100" dirty="0">
                <a:latin typeface="Consolas" panose="020B0609020204030204" pitchFamily="49" charset="0"/>
              </a:rPr>
              <a:t>  i = 0</a:t>
            </a:r>
          </a:p>
          <a:p>
            <a:r>
              <a:rPr lang="es-MX" sz="1100" dirty="0">
                <a:latin typeface="Consolas" panose="020B0609020204030204" pitchFamily="49" charset="0"/>
              </a:rPr>
              <a:t>  </a:t>
            </a:r>
            <a:r>
              <a:rPr lang="es-MX" sz="1100" dirty="0" err="1">
                <a:latin typeface="Consolas" panose="020B0609020204030204" pitchFamily="49" charset="0"/>
              </a:rPr>
              <a:t>huboError</a:t>
            </a:r>
            <a:r>
              <a:rPr lang="es-MX" sz="1100" dirty="0">
                <a:latin typeface="Consolas" panose="020B0609020204030204" pitchFamily="49" charset="0"/>
              </a:rPr>
              <a:t> = Falso</a:t>
            </a:r>
          </a:p>
          <a:p>
            <a:r>
              <a:rPr lang="es-MX" sz="1100" dirty="0">
                <a:latin typeface="Consolas" panose="020B0609020204030204" pitchFamily="49" charset="0"/>
              </a:rPr>
              <a:t>  Mientras (i &lt; N) Haga</a:t>
            </a:r>
          </a:p>
          <a:p>
            <a:r>
              <a:rPr lang="es-MX" sz="1100" dirty="0">
                <a:latin typeface="Consolas" panose="020B0609020204030204" pitchFamily="49" charset="0"/>
              </a:rPr>
              <a:t>    Leer(dato)</a:t>
            </a:r>
          </a:p>
          <a:p>
            <a:r>
              <a:rPr lang="es-MX" sz="1100" dirty="0">
                <a:latin typeface="Consolas" panose="020B0609020204030204" pitchFamily="49" charset="0"/>
              </a:rPr>
              <a:t>    Si dato &lt; 0 Entonces</a:t>
            </a:r>
          </a:p>
          <a:p>
            <a:r>
              <a:rPr lang="es-MX" sz="1100" dirty="0">
                <a:latin typeface="Consolas" panose="020B0609020204030204" pitchFamily="49" charset="0"/>
              </a:rPr>
              <a:t>      Escribir("Dato invalido en la </a:t>
            </a:r>
            <a:r>
              <a:rPr lang="es-MX" sz="1100" dirty="0" err="1">
                <a:latin typeface="Consolas" panose="020B0609020204030204" pitchFamily="49" charset="0"/>
              </a:rPr>
              <a:t>posicion</a:t>
            </a:r>
            <a:r>
              <a:rPr lang="es-MX" sz="1100" dirty="0">
                <a:latin typeface="Consolas" panose="020B0609020204030204" pitchFamily="49" charset="0"/>
              </a:rPr>
              <a:t> ", i)</a:t>
            </a:r>
          </a:p>
          <a:p>
            <a:r>
              <a:rPr lang="es-MX" sz="1100" dirty="0">
                <a:latin typeface="Consolas" panose="020B0609020204030204" pitchFamily="49" charset="0"/>
              </a:rPr>
              <a:t>      </a:t>
            </a:r>
            <a:r>
              <a:rPr lang="es-MX" sz="1100" dirty="0" err="1">
                <a:latin typeface="Consolas" panose="020B0609020204030204" pitchFamily="49" charset="0"/>
              </a:rPr>
              <a:t>huboError</a:t>
            </a:r>
            <a:r>
              <a:rPr lang="es-MX" sz="1100" dirty="0">
                <a:latin typeface="Consolas" panose="020B0609020204030204" pitchFamily="49" charset="0"/>
              </a:rPr>
              <a:t> = Verdadero</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Romper</a:t>
            </a:r>
          </a:p>
          <a:p>
            <a:r>
              <a:rPr lang="es-MX" sz="1100" dirty="0">
                <a:latin typeface="Consolas" panose="020B0609020204030204" pitchFamily="49" charset="0"/>
              </a:rPr>
              <a:t>    Fin_Si</a:t>
            </a:r>
          </a:p>
          <a:p>
            <a:r>
              <a:rPr lang="es-MX" sz="1100" dirty="0">
                <a:latin typeface="Consolas" panose="020B0609020204030204" pitchFamily="49" charset="0"/>
              </a:rPr>
              <a:t>    i = i + 1</a:t>
            </a:r>
          </a:p>
          <a:p>
            <a:r>
              <a:rPr lang="es-MX" sz="1100" dirty="0">
                <a:latin typeface="Consolas" panose="020B0609020204030204" pitchFamily="49" charset="0"/>
              </a:rPr>
              <a:t>  Fin_Mientras</a:t>
            </a:r>
          </a:p>
          <a:p>
            <a:r>
              <a:rPr lang="es-MX" sz="1100" dirty="0">
                <a:latin typeface="Consolas" panose="020B0609020204030204" pitchFamily="49" charset="0"/>
              </a:rPr>
              <a:t>  Si </a:t>
            </a:r>
            <a:r>
              <a:rPr lang="es-MX" sz="1100" dirty="0" err="1">
                <a:latin typeface="Consolas" panose="020B0609020204030204" pitchFamily="49" charset="0"/>
              </a:rPr>
              <a:t>huboError</a:t>
            </a:r>
            <a:r>
              <a:rPr lang="es-MX" sz="1100" dirty="0">
                <a:latin typeface="Consolas" panose="020B0609020204030204" pitchFamily="49" charset="0"/>
              </a:rPr>
              <a:t> == Falso Entonces</a:t>
            </a:r>
          </a:p>
          <a:p>
            <a:r>
              <a:rPr lang="es-MX" sz="1100" dirty="0">
                <a:latin typeface="Consolas" panose="020B0609020204030204" pitchFamily="49" charset="0"/>
              </a:rPr>
              <a:t>    Escribir("Todos los datos se procesaron correctamente.")</a:t>
            </a:r>
          </a:p>
          <a:p>
            <a:r>
              <a:rPr lang="es-MX" sz="1100" dirty="0">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5" name="CuadroTexto 4">
            <a:extLst>
              <a:ext uri="{FF2B5EF4-FFF2-40B4-BE49-F238E27FC236}">
                <a16:creationId xmlns:a16="http://schemas.microsoft.com/office/drawing/2014/main" id="{3EC75295-8688-47DE-93D9-B23FB8D860E0}"/>
              </a:ext>
            </a:extLst>
          </p:cNvPr>
          <p:cNvSpPr txBox="1"/>
          <p:nvPr/>
        </p:nvSpPr>
        <p:spPr>
          <a:xfrm>
            <a:off x="4716016" y="2060848"/>
            <a:ext cx="4104456" cy="2631490"/>
          </a:xfrm>
          <a:prstGeom prst="rect">
            <a:avLst/>
          </a:prstGeom>
          <a:noFill/>
          <a:ln>
            <a:solidFill>
              <a:schemeClr val="tx1"/>
            </a:solidFill>
          </a:ln>
        </p:spPr>
        <p:txBody>
          <a:bodyPr wrap="square">
            <a:spAutoFit/>
          </a:bodyPr>
          <a:lstStyle/>
          <a:p>
            <a:r>
              <a:rPr lang="es-MX" sz="1100" dirty="0">
                <a:latin typeface="Consolas" panose="020B0609020204030204" pitchFamily="49" charset="0"/>
              </a:rPr>
              <a:t>N = </a:t>
            </a:r>
            <a:r>
              <a:rPr lang="es-MX" sz="1100" dirty="0" err="1">
                <a:latin typeface="Consolas" panose="020B0609020204030204" pitchFamily="49" charset="0"/>
              </a:rPr>
              <a:t>int</a:t>
            </a:r>
            <a:r>
              <a:rPr lang="es-MX" sz="1100" dirty="0">
                <a:latin typeface="Consolas" panose="020B0609020204030204" pitchFamily="49" charset="0"/>
              </a:rPr>
              <a:t>(input('Cantidad de datos: '))</a:t>
            </a:r>
          </a:p>
          <a:p>
            <a:r>
              <a:rPr lang="es-MX" sz="1100" dirty="0">
                <a:latin typeface="Consolas" panose="020B0609020204030204" pitchFamily="49" charset="0"/>
              </a:rPr>
              <a:t>i = 0</a:t>
            </a:r>
          </a:p>
          <a:p>
            <a:r>
              <a:rPr lang="es-MX" sz="1100" dirty="0" err="1">
                <a:latin typeface="Consolas" panose="020B0609020204030204" pitchFamily="49" charset="0"/>
              </a:rPr>
              <a:t>huboError</a:t>
            </a:r>
            <a:r>
              <a:rPr lang="es-MX" sz="1100" dirty="0">
                <a:latin typeface="Consolas" panose="020B0609020204030204" pitchFamily="49" charset="0"/>
              </a:rPr>
              <a:t> = False</a:t>
            </a:r>
          </a:p>
          <a:p>
            <a:endParaRPr lang="es-MX" sz="1100" dirty="0">
              <a:latin typeface="Consolas" panose="020B0609020204030204" pitchFamily="49" charset="0"/>
            </a:endParaRPr>
          </a:p>
          <a:p>
            <a:r>
              <a:rPr lang="es-MX" sz="1100" dirty="0" err="1">
                <a:latin typeface="Consolas" panose="020B0609020204030204" pitchFamily="49" charset="0"/>
              </a:rPr>
              <a:t>while</a:t>
            </a:r>
            <a:r>
              <a:rPr lang="es-MX" sz="1100" dirty="0">
                <a:latin typeface="Consolas" panose="020B0609020204030204" pitchFamily="49" charset="0"/>
              </a:rPr>
              <a:t> i &lt; N:</a:t>
            </a:r>
          </a:p>
          <a:p>
            <a:r>
              <a:rPr lang="es-MX" sz="1100" dirty="0">
                <a:latin typeface="Consolas" panose="020B0609020204030204" pitchFamily="49" charset="0"/>
              </a:rPr>
              <a:t>    dato = </a:t>
            </a:r>
            <a:r>
              <a:rPr lang="es-MX" sz="1100" dirty="0" err="1">
                <a:latin typeface="Consolas" panose="020B0609020204030204" pitchFamily="49" charset="0"/>
              </a:rPr>
              <a:t>int</a:t>
            </a:r>
            <a:r>
              <a:rPr lang="es-MX" sz="1100" dirty="0">
                <a:latin typeface="Consolas" panose="020B0609020204030204" pitchFamily="49" charset="0"/>
              </a:rPr>
              <a:t>(input(</a:t>
            </a:r>
            <a:r>
              <a:rPr lang="es-MX" sz="1100" dirty="0" err="1">
                <a:latin typeface="Consolas" panose="020B0609020204030204" pitchFamily="49" charset="0"/>
              </a:rPr>
              <a:t>f'Ingrese</a:t>
            </a:r>
            <a:r>
              <a:rPr lang="es-MX" sz="1100" dirty="0">
                <a:latin typeface="Consolas" panose="020B0609020204030204" pitchFamily="49" charset="0"/>
              </a:rPr>
              <a:t> el dato {i}: '))</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dato &lt; 0:</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f"Dato</a:t>
            </a:r>
            <a:r>
              <a:rPr lang="es-MX" sz="1100" dirty="0">
                <a:latin typeface="Consolas" panose="020B0609020204030204" pitchFamily="49" charset="0"/>
              </a:rPr>
              <a:t> invalido en la </a:t>
            </a:r>
            <a:r>
              <a:rPr lang="es-MX" sz="1100" dirty="0" err="1">
                <a:latin typeface="Consolas" panose="020B0609020204030204" pitchFamily="49" charset="0"/>
              </a:rPr>
              <a:t>posicion</a:t>
            </a:r>
            <a:r>
              <a:rPr lang="es-MX" sz="1100" dirty="0">
                <a:latin typeface="Consolas" panose="020B0609020204030204" pitchFamily="49" charset="0"/>
              </a:rPr>
              <a:t> {i}")</a:t>
            </a:r>
          </a:p>
          <a:p>
            <a:r>
              <a:rPr lang="es-MX" sz="1100" dirty="0">
                <a:latin typeface="Consolas" panose="020B0609020204030204" pitchFamily="49" charset="0"/>
              </a:rPr>
              <a:t>        </a:t>
            </a:r>
            <a:r>
              <a:rPr lang="es-MX" sz="1100" dirty="0" err="1">
                <a:latin typeface="Consolas" panose="020B0609020204030204" pitchFamily="49" charset="0"/>
              </a:rPr>
              <a:t>huboError</a:t>
            </a:r>
            <a:r>
              <a:rPr lang="es-MX" sz="1100" dirty="0">
                <a:latin typeface="Consolas" panose="020B0609020204030204" pitchFamily="49" charset="0"/>
              </a:rPr>
              <a:t> = True</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break</a:t>
            </a:r>
            <a:r>
              <a:rPr lang="es-MX" sz="1100" dirty="0">
                <a:latin typeface="Consolas" panose="020B0609020204030204" pitchFamily="49" charset="0"/>
              </a:rPr>
              <a:t>  # Instrucción de ruptura</a:t>
            </a:r>
          </a:p>
          <a:p>
            <a:r>
              <a:rPr lang="es-MX" sz="1100" dirty="0">
                <a:latin typeface="Consolas" panose="020B0609020204030204" pitchFamily="49" charset="0"/>
              </a:rPr>
              <a:t>    i += 1</a:t>
            </a:r>
          </a:p>
          <a:p>
            <a:endParaRPr lang="es-MX" sz="1100" dirty="0">
              <a:latin typeface="Consolas" panose="020B0609020204030204" pitchFamily="49" charset="0"/>
            </a:endParaRPr>
          </a:p>
          <a:p>
            <a:r>
              <a:rPr lang="es-MX" sz="1100" dirty="0" err="1">
                <a:latin typeface="Consolas" panose="020B0609020204030204" pitchFamily="49" charset="0"/>
              </a:rPr>
              <a:t>if</a:t>
            </a:r>
            <a:r>
              <a:rPr lang="es-MX" sz="1100" dirty="0">
                <a:latin typeface="Consolas" panose="020B0609020204030204" pitchFamily="49" charset="0"/>
              </a:rPr>
              <a:t> </a:t>
            </a:r>
            <a:r>
              <a:rPr lang="es-MX" sz="1100" dirty="0" err="1">
                <a:latin typeface="Consolas" panose="020B0609020204030204" pitchFamily="49" charset="0"/>
              </a:rPr>
              <a:t>not</a:t>
            </a:r>
            <a:r>
              <a:rPr lang="es-MX" sz="1100" dirty="0">
                <a:latin typeface="Consolas" panose="020B0609020204030204" pitchFamily="49" charset="0"/>
              </a:rPr>
              <a:t> </a:t>
            </a:r>
            <a:r>
              <a:rPr lang="es-MX" sz="1100" dirty="0" err="1">
                <a:latin typeface="Consolas" panose="020B0609020204030204" pitchFamily="49" charset="0"/>
              </a:rPr>
              <a:t>huboError</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("Todos los datos se procesaron correctamente.")</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41664819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Limite de intentos</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1015663"/>
          </a:xfrm>
          <a:prstGeom prst="rect">
            <a:avLst/>
          </a:prstGeom>
        </p:spPr>
        <p:txBody>
          <a:bodyPr wrap="square">
            <a:spAutoFit/>
          </a:bodyPr>
          <a:lstStyle/>
          <a:p>
            <a:pPr marL="342900" indent="-342900" algn="l">
              <a:buFont typeface="Arial" panose="020B0604020202020204" pitchFamily="34" charset="0"/>
              <a:buChar char="•"/>
            </a:pPr>
            <a:r>
              <a:rPr lang="es-MX" sz="2000" dirty="0"/>
              <a:t>Dos motivos de parada: éxito o agotar intentos.</a:t>
            </a:r>
          </a:p>
          <a:p>
            <a:pPr marL="342900" indent="-342900" algn="l">
              <a:buFont typeface="Arial" panose="020B0604020202020204" pitchFamily="34" charset="0"/>
              <a:buChar char="•"/>
            </a:pPr>
            <a:r>
              <a:rPr lang="es-MX" b="1" dirty="0">
                <a:solidFill>
                  <a:srgbClr val="C00000"/>
                </a:solidFill>
                <a:latin typeface="Consolas" panose="020B0609020204030204" pitchFamily="49" charset="0"/>
              </a:rPr>
              <a:t>Romper</a:t>
            </a:r>
            <a:r>
              <a:rPr lang="es-MX" sz="2000" dirty="0"/>
              <a:t> controla el éxito (acertar la clave).</a:t>
            </a:r>
          </a:p>
          <a:p>
            <a:pPr marL="342900" indent="-342900" algn="l">
              <a:buFont typeface="Arial" panose="020B0604020202020204" pitchFamily="34" charset="0"/>
              <a:buChar char="•"/>
            </a:pPr>
            <a:r>
              <a:rPr lang="es-MX" sz="2000" dirty="0"/>
              <a:t>El </a:t>
            </a:r>
            <a:r>
              <a:rPr lang="es-MX" b="1" dirty="0">
                <a:latin typeface="Consolas" panose="020B0609020204030204" pitchFamily="49" charset="0"/>
              </a:rPr>
              <a:t>Mientras</a:t>
            </a:r>
            <a:r>
              <a:rPr lang="es-MX" sz="2000" dirty="0"/>
              <a:t> controla el fracaso (agotar intentos).</a:t>
            </a:r>
          </a:p>
        </p:txBody>
      </p:sp>
      <p:sp>
        <p:nvSpPr>
          <p:cNvPr id="4" name="CuadroTexto 3">
            <a:extLst>
              <a:ext uri="{FF2B5EF4-FFF2-40B4-BE49-F238E27FC236}">
                <a16:creationId xmlns:a16="http://schemas.microsoft.com/office/drawing/2014/main" id="{865C3854-3243-4B14-8C1B-3ACE5FAF64F6}"/>
              </a:ext>
            </a:extLst>
          </p:cNvPr>
          <p:cNvSpPr txBox="1"/>
          <p:nvPr/>
        </p:nvSpPr>
        <p:spPr>
          <a:xfrm>
            <a:off x="251520" y="2060848"/>
            <a:ext cx="4104456" cy="3308598"/>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intentos = 0</a:t>
            </a:r>
          </a:p>
          <a:p>
            <a:r>
              <a:rPr lang="es-MX" sz="1100" dirty="0">
                <a:latin typeface="Consolas" panose="020B0609020204030204" pitchFamily="49" charset="0"/>
              </a:rPr>
              <a:t>  correcta = Falso</a:t>
            </a:r>
          </a:p>
          <a:p>
            <a:r>
              <a:rPr lang="es-MX" sz="1100" dirty="0">
                <a:latin typeface="Consolas" panose="020B0609020204030204" pitchFamily="49" charset="0"/>
              </a:rPr>
              <a:t>  Mientras (intentos &lt; 3) Haga</a:t>
            </a:r>
          </a:p>
          <a:p>
            <a:r>
              <a:rPr lang="es-MX" sz="1100" dirty="0">
                <a:latin typeface="Consolas" panose="020B0609020204030204" pitchFamily="49" charset="0"/>
              </a:rPr>
              <a:t>    Leer(clave)</a:t>
            </a:r>
          </a:p>
          <a:p>
            <a:r>
              <a:rPr lang="es-MX" sz="1100" dirty="0">
                <a:latin typeface="Consolas" panose="020B0609020204030204" pitchFamily="49" charset="0"/>
              </a:rPr>
              <a:t>    Si clave == </a:t>
            </a:r>
            <a:r>
              <a:rPr lang="es-MX" sz="1100" dirty="0" err="1">
                <a:latin typeface="Consolas" panose="020B0609020204030204" pitchFamily="49" charset="0"/>
              </a:rPr>
              <a:t>claveReal</a:t>
            </a:r>
            <a:r>
              <a:rPr lang="es-MX" sz="1100" dirty="0">
                <a:latin typeface="Consolas" panose="020B0609020204030204" pitchFamily="49" charset="0"/>
              </a:rPr>
              <a:t> Entonces</a:t>
            </a:r>
          </a:p>
          <a:p>
            <a:r>
              <a:rPr lang="es-MX" sz="1100" dirty="0">
                <a:latin typeface="Consolas" panose="020B0609020204030204" pitchFamily="49" charset="0"/>
              </a:rPr>
              <a:t>      correcta = Verdadero</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Romper</a:t>
            </a:r>
          </a:p>
          <a:p>
            <a:r>
              <a:rPr lang="es-MX" sz="1100" dirty="0">
                <a:latin typeface="Consolas" panose="020B0609020204030204" pitchFamily="49" charset="0"/>
              </a:rPr>
              <a:t>    Fin_Si</a:t>
            </a:r>
          </a:p>
          <a:p>
            <a:r>
              <a:rPr lang="es-MX" sz="1100" dirty="0">
                <a:latin typeface="Consolas" panose="020B0609020204030204" pitchFamily="49" charset="0"/>
              </a:rPr>
              <a:t>    intentos = intentos + 1</a:t>
            </a:r>
          </a:p>
          <a:p>
            <a:r>
              <a:rPr lang="es-MX" sz="1100" dirty="0">
                <a:latin typeface="Consolas" panose="020B0609020204030204" pitchFamily="49" charset="0"/>
              </a:rPr>
              <a:t>    Escribir("Clave incorrecta, intento ", intentos, " de 3")</a:t>
            </a:r>
          </a:p>
          <a:p>
            <a:r>
              <a:rPr lang="es-MX" sz="1100" dirty="0">
                <a:latin typeface="Consolas" panose="020B0609020204030204" pitchFamily="49" charset="0"/>
              </a:rPr>
              <a:t>  Fin_Mientras</a:t>
            </a:r>
          </a:p>
          <a:p>
            <a:r>
              <a:rPr lang="es-MX" sz="1100" dirty="0">
                <a:latin typeface="Consolas" panose="020B0609020204030204" pitchFamily="49" charset="0"/>
              </a:rPr>
              <a:t>  Si correcta == Verdadero Entonces</a:t>
            </a:r>
          </a:p>
          <a:p>
            <a:r>
              <a:rPr lang="es-MX" sz="1100" dirty="0">
                <a:latin typeface="Consolas" panose="020B0609020204030204" pitchFamily="49" charset="0"/>
              </a:rPr>
              <a:t>    Escribir("Acceso concedido.")</a:t>
            </a:r>
          </a:p>
          <a:p>
            <a:r>
              <a:rPr lang="es-MX" sz="1100" dirty="0">
                <a:latin typeface="Consolas" panose="020B0609020204030204" pitchFamily="49" charset="0"/>
              </a:rPr>
              <a:t>  Sino</a:t>
            </a:r>
          </a:p>
          <a:p>
            <a:r>
              <a:rPr lang="es-MX" sz="1100" dirty="0">
                <a:latin typeface="Consolas" panose="020B0609020204030204" pitchFamily="49" charset="0"/>
              </a:rPr>
              <a:t>    Escribir("Acceso bloqueado.")</a:t>
            </a:r>
          </a:p>
          <a:p>
            <a:r>
              <a:rPr lang="es-MX" sz="1100" dirty="0">
                <a:latin typeface="Consolas" panose="020B0609020204030204" pitchFamily="49" charset="0"/>
              </a:rPr>
              <a:t>  Fin_Si</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5" name="CuadroTexto 4">
            <a:extLst>
              <a:ext uri="{FF2B5EF4-FFF2-40B4-BE49-F238E27FC236}">
                <a16:creationId xmlns:a16="http://schemas.microsoft.com/office/drawing/2014/main" id="{3EC75295-8688-47DE-93D9-B23FB8D860E0}"/>
              </a:ext>
            </a:extLst>
          </p:cNvPr>
          <p:cNvSpPr txBox="1"/>
          <p:nvPr/>
        </p:nvSpPr>
        <p:spPr>
          <a:xfrm>
            <a:off x="4716016" y="2060848"/>
            <a:ext cx="4104456" cy="2970044"/>
          </a:xfrm>
          <a:prstGeom prst="rect">
            <a:avLst/>
          </a:prstGeom>
          <a:noFill/>
          <a:ln>
            <a:solidFill>
              <a:schemeClr val="tx1"/>
            </a:solidFill>
          </a:ln>
        </p:spPr>
        <p:txBody>
          <a:bodyPr wrap="square">
            <a:spAutoFit/>
          </a:bodyPr>
          <a:lstStyle/>
          <a:p>
            <a:r>
              <a:rPr lang="es-MX" sz="1100" dirty="0">
                <a:latin typeface="Consolas" panose="020B0609020204030204" pitchFamily="49" charset="0"/>
              </a:rPr>
              <a:t>intentos = 0</a:t>
            </a:r>
          </a:p>
          <a:p>
            <a:r>
              <a:rPr lang="es-MX" sz="1100" dirty="0">
                <a:latin typeface="Consolas" panose="020B0609020204030204" pitchFamily="49" charset="0"/>
              </a:rPr>
              <a:t>correcta = False</a:t>
            </a:r>
          </a:p>
          <a:p>
            <a:r>
              <a:rPr lang="es-MX" sz="1100" dirty="0" err="1">
                <a:latin typeface="Consolas" panose="020B0609020204030204" pitchFamily="49" charset="0"/>
              </a:rPr>
              <a:t>clave_real</a:t>
            </a:r>
            <a:r>
              <a:rPr lang="es-MX" sz="1100" dirty="0">
                <a:latin typeface="Consolas" panose="020B0609020204030204" pitchFamily="49" charset="0"/>
              </a:rPr>
              <a:t> = "1234"</a:t>
            </a:r>
          </a:p>
          <a:p>
            <a:endParaRPr lang="es-MX" sz="1100" dirty="0">
              <a:latin typeface="Consolas" panose="020B0609020204030204" pitchFamily="49" charset="0"/>
            </a:endParaRPr>
          </a:p>
          <a:p>
            <a:r>
              <a:rPr lang="es-MX" sz="1100" dirty="0" err="1">
                <a:latin typeface="Consolas" panose="020B0609020204030204" pitchFamily="49" charset="0"/>
              </a:rPr>
              <a:t>while</a:t>
            </a:r>
            <a:r>
              <a:rPr lang="es-MX" sz="1100" dirty="0">
                <a:latin typeface="Consolas" panose="020B0609020204030204" pitchFamily="49" charset="0"/>
              </a:rPr>
              <a:t> intentos &lt; 3:</a:t>
            </a:r>
          </a:p>
          <a:p>
            <a:r>
              <a:rPr lang="es-MX" sz="1100" dirty="0">
                <a:latin typeface="Consolas" panose="020B0609020204030204" pitchFamily="49" charset="0"/>
              </a:rPr>
              <a:t>    clave = input('Ingrese su clave: ')</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clave == </a:t>
            </a:r>
            <a:r>
              <a:rPr lang="es-MX" sz="1100" dirty="0" err="1">
                <a:latin typeface="Consolas" panose="020B0609020204030204" pitchFamily="49" charset="0"/>
              </a:rPr>
              <a:t>clave_real</a:t>
            </a:r>
            <a:r>
              <a:rPr lang="es-MX" sz="1100" dirty="0">
                <a:latin typeface="Consolas" panose="020B0609020204030204" pitchFamily="49" charset="0"/>
              </a:rPr>
              <a:t>:</a:t>
            </a:r>
          </a:p>
          <a:p>
            <a:r>
              <a:rPr lang="es-MX" sz="1100" dirty="0">
                <a:latin typeface="Consolas" panose="020B0609020204030204" pitchFamily="49" charset="0"/>
              </a:rPr>
              <a:t>        correcta = True</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break</a:t>
            </a:r>
            <a:r>
              <a:rPr lang="es-MX" sz="1100" dirty="0">
                <a:latin typeface="Consolas" panose="020B0609020204030204" pitchFamily="49" charset="0"/>
              </a:rPr>
              <a:t>  # Instrucción de ruptura</a:t>
            </a:r>
          </a:p>
          <a:p>
            <a:r>
              <a:rPr lang="es-MX" sz="1100" dirty="0">
                <a:latin typeface="Consolas" panose="020B0609020204030204" pitchFamily="49" charset="0"/>
              </a:rPr>
              <a:t>    intentos += 1</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t>
            </a:r>
            <a:r>
              <a:rPr lang="es-MX" sz="1100" dirty="0" err="1">
                <a:latin typeface="Consolas" panose="020B0609020204030204" pitchFamily="49" charset="0"/>
              </a:rPr>
              <a:t>f"Clave</a:t>
            </a:r>
            <a:r>
              <a:rPr lang="es-MX" sz="1100" dirty="0">
                <a:latin typeface="Consolas" panose="020B0609020204030204" pitchFamily="49" charset="0"/>
              </a:rPr>
              <a:t> incorrecta, intento {intentos} de 3")</a:t>
            </a:r>
          </a:p>
          <a:p>
            <a:endParaRPr lang="es-MX" sz="1100" dirty="0">
              <a:latin typeface="Consolas" panose="020B0609020204030204" pitchFamily="49" charset="0"/>
            </a:endParaRPr>
          </a:p>
          <a:p>
            <a:r>
              <a:rPr lang="es-MX" sz="1100" dirty="0" err="1">
                <a:latin typeface="Consolas" panose="020B0609020204030204" pitchFamily="49" charset="0"/>
              </a:rPr>
              <a:t>if</a:t>
            </a:r>
            <a:r>
              <a:rPr lang="es-MX" sz="1100" dirty="0">
                <a:latin typeface="Consolas" panose="020B0609020204030204" pitchFamily="49" charset="0"/>
              </a:rPr>
              <a:t> correcta:</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("Acceso concedido.")</a:t>
            </a:r>
          </a:p>
          <a:p>
            <a:r>
              <a:rPr lang="es-MX" sz="1100" dirty="0" err="1">
                <a:latin typeface="Consolas" panose="020B0609020204030204" pitchFamily="49" charset="0"/>
              </a:rPr>
              <a:t>else</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("Acceso bloqueado.")</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9950624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anidados</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1015663"/>
          </a:xfrm>
          <a:prstGeom prst="rect">
            <a:avLst/>
          </a:prstGeom>
        </p:spPr>
        <p:txBody>
          <a:bodyPr wrap="square">
            <a:spAutoFit/>
          </a:bodyPr>
          <a:lstStyle/>
          <a:p>
            <a:pPr marL="342900" indent="-342900" algn="l">
              <a:buFont typeface="Arial" panose="020B0604020202020204" pitchFamily="34" charset="0"/>
              <a:buChar char="•"/>
            </a:pPr>
            <a:r>
              <a:rPr lang="es-MX" sz="2000" dirty="0"/>
              <a:t>Un solo divisor basta para descartar que sea primo.</a:t>
            </a:r>
          </a:p>
          <a:p>
            <a:pPr marL="342900" indent="-342900" algn="l">
              <a:buFont typeface="Arial" panose="020B0604020202020204" pitchFamily="34" charset="0"/>
              <a:buChar char="•"/>
            </a:pPr>
            <a:r>
              <a:rPr lang="es-MX" b="1" dirty="0">
                <a:solidFill>
                  <a:srgbClr val="C00000"/>
                </a:solidFill>
                <a:latin typeface="Consolas" panose="020B0609020204030204" pitchFamily="49" charset="0"/>
              </a:rPr>
              <a:t>Romper</a:t>
            </a:r>
            <a:r>
              <a:rPr lang="es-MX" sz="2000" dirty="0"/>
              <a:t> corta el ciclo interno de inmediato.</a:t>
            </a:r>
          </a:p>
          <a:p>
            <a:pPr marL="342900" indent="-342900" algn="l">
              <a:buFont typeface="Arial" panose="020B0604020202020204" pitchFamily="34" charset="0"/>
              <a:buChar char="•"/>
            </a:pPr>
            <a:r>
              <a:rPr lang="es-MX" sz="2000" dirty="0"/>
              <a:t>El ciclo externo no se ve afectado.</a:t>
            </a:r>
          </a:p>
        </p:txBody>
      </p:sp>
      <p:sp>
        <p:nvSpPr>
          <p:cNvPr id="4" name="CuadroTexto 3">
            <a:extLst>
              <a:ext uri="{FF2B5EF4-FFF2-40B4-BE49-F238E27FC236}">
                <a16:creationId xmlns:a16="http://schemas.microsoft.com/office/drawing/2014/main" id="{865C3854-3243-4B14-8C1B-3ACE5FAF64F6}"/>
              </a:ext>
            </a:extLst>
          </p:cNvPr>
          <p:cNvSpPr txBox="1"/>
          <p:nvPr/>
        </p:nvSpPr>
        <p:spPr>
          <a:xfrm>
            <a:off x="251520" y="2060848"/>
            <a:ext cx="4104456" cy="3308598"/>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Leer(n)</a:t>
            </a:r>
          </a:p>
          <a:p>
            <a:r>
              <a:rPr lang="es-MX" sz="1100" dirty="0">
                <a:latin typeface="Consolas" panose="020B0609020204030204" pitchFamily="49" charset="0"/>
              </a:rPr>
              <a:t>  numero = 2</a:t>
            </a:r>
          </a:p>
          <a:p>
            <a:r>
              <a:rPr lang="es-MX" sz="1100" dirty="0">
                <a:latin typeface="Consolas" panose="020B0609020204030204" pitchFamily="49" charset="0"/>
              </a:rPr>
              <a:t>  Mientras (numero &lt;= n) Haga</a:t>
            </a:r>
          </a:p>
          <a:p>
            <a:r>
              <a:rPr lang="es-MX" sz="1100" dirty="0">
                <a:latin typeface="Consolas" panose="020B0609020204030204" pitchFamily="49" charset="0"/>
              </a:rPr>
              <a:t>    </a:t>
            </a:r>
            <a:r>
              <a:rPr lang="es-MX" sz="1100" dirty="0" err="1">
                <a:latin typeface="Consolas" panose="020B0609020204030204" pitchFamily="49" charset="0"/>
              </a:rPr>
              <a:t>esPrimo</a:t>
            </a:r>
            <a:r>
              <a:rPr lang="es-MX" sz="1100" dirty="0">
                <a:latin typeface="Consolas" panose="020B0609020204030204" pitchFamily="49" charset="0"/>
              </a:rPr>
              <a:t> = Verdadero</a:t>
            </a:r>
          </a:p>
          <a:p>
            <a:r>
              <a:rPr lang="es-MX" sz="1100" dirty="0">
                <a:latin typeface="Consolas" panose="020B0609020204030204" pitchFamily="49" charset="0"/>
              </a:rPr>
              <a:t>    divisor = 2</a:t>
            </a:r>
          </a:p>
          <a:p>
            <a:r>
              <a:rPr lang="es-MX" sz="1100" dirty="0">
                <a:latin typeface="Consolas" panose="020B0609020204030204" pitchFamily="49" charset="0"/>
              </a:rPr>
              <a:t>    Mientras (divisor &lt; numero) Haga</a:t>
            </a:r>
          </a:p>
          <a:p>
            <a:r>
              <a:rPr lang="es-MX" sz="1100" dirty="0">
                <a:latin typeface="Consolas" panose="020B0609020204030204" pitchFamily="49" charset="0"/>
              </a:rPr>
              <a:t>      Si numero % divisor == 0 Entonces</a:t>
            </a:r>
          </a:p>
          <a:p>
            <a:r>
              <a:rPr lang="es-MX" sz="1100" dirty="0">
                <a:latin typeface="Consolas" panose="020B0609020204030204" pitchFamily="49" charset="0"/>
              </a:rPr>
              <a:t>        </a:t>
            </a:r>
            <a:r>
              <a:rPr lang="es-MX" sz="1100" dirty="0" err="1">
                <a:latin typeface="Consolas" panose="020B0609020204030204" pitchFamily="49" charset="0"/>
              </a:rPr>
              <a:t>esPrimo</a:t>
            </a:r>
            <a:r>
              <a:rPr lang="es-MX" sz="1100" dirty="0">
                <a:latin typeface="Consolas" panose="020B0609020204030204" pitchFamily="49" charset="0"/>
              </a:rPr>
              <a:t> = Falso</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Romper</a:t>
            </a:r>
          </a:p>
          <a:p>
            <a:r>
              <a:rPr lang="es-MX" sz="1100" dirty="0">
                <a:latin typeface="Consolas" panose="020B0609020204030204" pitchFamily="49" charset="0"/>
              </a:rPr>
              <a:t>      Fin_Si</a:t>
            </a:r>
          </a:p>
          <a:p>
            <a:r>
              <a:rPr lang="es-MX" sz="1100" dirty="0">
                <a:latin typeface="Consolas" panose="020B0609020204030204" pitchFamily="49" charset="0"/>
              </a:rPr>
              <a:t>      divisor = divisor + 1</a:t>
            </a:r>
          </a:p>
          <a:p>
            <a:r>
              <a:rPr lang="es-MX" sz="1100" dirty="0">
                <a:latin typeface="Consolas" panose="020B0609020204030204" pitchFamily="49" charset="0"/>
              </a:rPr>
              <a:t>    Fin_Mientras</a:t>
            </a:r>
          </a:p>
          <a:p>
            <a:r>
              <a:rPr lang="es-MX" sz="1100" dirty="0">
                <a:latin typeface="Consolas" panose="020B0609020204030204" pitchFamily="49" charset="0"/>
              </a:rPr>
              <a:t>    Si </a:t>
            </a:r>
            <a:r>
              <a:rPr lang="es-MX" sz="1100" dirty="0" err="1">
                <a:latin typeface="Consolas" panose="020B0609020204030204" pitchFamily="49" charset="0"/>
              </a:rPr>
              <a:t>esPrimo</a:t>
            </a:r>
            <a:r>
              <a:rPr lang="es-MX" sz="1100" dirty="0">
                <a:latin typeface="Consolas" panose="020B0609020204030204" pitchFamily="49" charset="0"/>
              </a:rPr>
              <a:t> == Verdadero Entonces</a:t>
            </a:r>
          </a:p>
          <a:p>
            <a:r>
              <a:rPr lang="es-MX" sz="1100" dirty="0">
                <a:latin typeface="Consolas" panose="020B0609020204030204" pitchFamily="49" charset="0"/>
              </a:rPr>
              <a:t>      Escribir(numero, " es primo")</a:t>
            </a:r>
          </a:p>
          <a:p>
            <a:r>
              <a:rPr lang="es-MX" sz="1100" dirty="0">
                <a:latin typeface="Consolas" panose="020B0609020204030204" pitchFamily="49" charset="0"/>
              </a:rPr>
              <a:t>    Fin_Si</a:t>
            </a:r>
          </a:p>
          <a:p>
            <a:r>
              <a:rPr lang="es-MX" sz="1100" dirty="0">
                <a:latin typeface="Consolas" panose="020B0609020204030204" pitchFamily="49" charset="0"/>
              </a:rPr>
              <a:t>    numero = numero + 1</a:t>
            </a:r>
          </a:p>
          <a:p>
            <a:r>
              <a:rPr lang="es-MX" sz="1100" dirty="0">
                <a:latin typeface="Consolas" panose="020B0609020204030204" pitchFamily="49" charset="0"/>
              </a:rPr>
              <a:t>  Fin_Mientras</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5" name="CuadroTexto 4">
            <a:extLst>
              <a:ext uri="{FF2B5EF4-FFF2-40B4-BE49-F238E27FC236}">
                <a16:creationId xmlns:a16="http://schemas.microsoft.com/office/drawing/2014/main" id="{3EC75295-8688-47DE-93D9-B23FB8D860E0}"/>
              </a:ext>
            </a:extLst>
          </p:cNvPr>
          <p:cNvSpPr txBox="1"/>
          <p:nvPr/>
        </p:nvSpPr>
        <p:spPr>
          <a:xfrm>
            <a:off x="4716016" y="2060848"/>
            <a:ext cx="4104456" cy="2462213"/>
          </a:xfrm>
          <a:prstGeom prst="rect">
            <a:avLst/>
          </a:prstGeom>
          <a:noFill/>
          <a:ln>
            <a:solidFill>
              <a:schemeClr val="tx1"/>
            </a:solidFill>
          </a:ln>
        </p:spPr>
        <p:txBody>
          <a:bodyPr wrap="square">
            <a:spAutoFit/>
          </a:bodyPr>
          <a:lstStyle/>
          <a:p>
            <a:r>
              <a:rPr lang="es-MX" sz="1100" dirty="0">
                <a:latin typeface="Consolas" panose="020B0609020204030204" pitchFamily="49" charset="0"/>
              </a:rPr>
              <a:t>n = </a:t>
            </a:r>
            <a:r>
              <a:rPr lang="es-MX" sz="1100" dirty="0" err="1">
                <a:latin typeface="Consolas" panose="020B0609020204030204" pitchFamily="49" charset="0"/>
              </a:rPr>
              <a:t>int</a:t>
            </a:r>
            <a:r>
              <a:rPr lang="es-MX" sz="1100" dirty="0">
                <a:latin typeface="Consolas" panose="020B0609020204030204" pitchFamily="49" charset="0"/>
              </a:rPr>
              <a:t>(input('Ingrese un limite: '))</a:t>
            </a:r>
          </a:p>
          <a:p>
            <a:endParaRPr lang="es-MX" sz="1100" dirty="0">
              <a:latin typeface="Consolas" panose="020B0609020204030204" pitchFamily="49" charset="0"/>
            </a:endParaRPr>
          </a:p>
          <a:p>
            <a:r>
              <a:rPr lang="es-MX" sz="1100" dirty="0" err="1">
                <a:latin typeface="Consolas" panose="020B0609020204030204" pitchFamily="49" charset="0"/>
              </a:rPr>
              <a:t>for</a:t>
            </a:r>
            <a:r>
              <a:rPr lang="es-MX" sz="1100" dirty="0">
                <a:latin typeface="Consolas" panose="020B0609020204030204" pitchFamily="49" charset="0"/>
              </a:rPr>
              <a:t> numero in </a:t>
            </a:r>
            <a:r>
              <a:rPr lang="es-MX" sz="1100" dirty="0" err="1">
                <a:latin typeface="Consolas" panose="020B0609020204030204" pitchFamily="49" charset="0"/>
              </a:rPr>
              <a:t>range</a:t>
            </a:r>
            <a:r>
              <a:rPr lang="es-MX" sz="1100" dirty="0">
                <a:latin typeface="Consolas" panose="020B0609020204030204" pitchFamily="49" charset="0"/>
              </a:rPr>
              <a:t>(2, n + 1):</a:t>
            </a:r>
          </a:p>
          <a:p>
            <a:r>
              <a:rPr lang="es-MX" sz="1100" dirty="0">
                <a:latin typeface="Consolas" panose="020B0609020204030204" pitchFamily="49" charset="0"/>
              </a:rPr>
              <a:t>    </a:t>
            </a:r>
            <a:r>
              <a:rPr lang="es-MX" sz="1100" dirty="0" err="1">
                <a:latin typeface="Consolas" panose="020B0609020204030204" pitchFamily="49" charset="0"/>
              </a:rPr>
              <a:t>esPrimo</a:t>
            </a:r>
            <a:r>
              <a:rPr lang="es-MX" sz="1100" dirty="0">
                <a:latin typeface="Consolas" panose="020B0609020204030204" pitchFamily="49" charset="0"/>
              </a:rPr>
              <a:t> = True</a:t>
            </a:r>
          </a:p>
          <a:p>
            <a:r>
              <a:rPr lang="es-MX" sz="1100" dirty="0">
                <a:latin typeface="Consolas" panose="020B0609020204030204" pitchFamily="49" charset="0"/>
              </a:rPr>
              <a:t>    divisor = 2</a:t>
            </a:r>
          </a:p>
          <a:p>
            <a:r>
              <a:rPr lang="es-MX" sz="1100" dirty="0">
                <a:latin typeface="Consolas" panose="020B0609020204030204" pitchFamily="49" charset="0"/>
              </a:rPr>
              <a:t>    </a:t>
            </a:r>
            <a:r>
              <a:rPr lang="es-MX" sz="1100" dirty="0" err="1">
                <a:latin typeface="Consolas" panose="020B0609020204030204" pitchFamily="49" charset="0"/>
              </a:rPr>
              <a:t>while</a:t>
            </a:r>
            <a:r>
              <a:rPr lang="es-MX" sz="1100" dirty="0">
                <a:latin typeface="Consolas" panose="020B0609020204030204" pitchFamily="49" charset="0"/>
              </a:rPr>
              <a:t> divisor &lt; numero:</a:t>
            </a: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numero % divisor == 0:</a:t>
            </a:r>
          </a:p>
          <a:p>
            <a:r>
              <a:rPr lang="es-MX" sz="1100" dirty="0">
                <a:latin typeface="Consolas" panose="020B0609020204030204" pitchFamily="49" charset="0"/>
              </a:rPr>
              <a:t>            </a:t>
            </a:r>
            <a:r>
              <a:rPr lang="es-MX" sz="1100" dirty="0" err="1">
                <a:latin typeface="Consolas" panose="020B0609020204030204" pitchFamily="49" charset="0"/>
              </a:rPr>
              <a:t>esPrimo</a:t>
            </a:r>
            <a:r>
              <a:rPr lang="es-MX" sz="1100" dirty="0">
                <a:latin typeface="Consolas" panose="020B0609020204030204" pitchFamily="49" charset="0"/>
              </a:rPr>
              <a:t> = False</a:t>
            </a:r>
          </a:p>
          <a:p>
            <a:r>
              <a:rPr lang="es-MX" sz="1100" dirty="0">
                <a:latin typeface="Consolas" panose="020B0609020204030204" pitchFamily="49" charset="0"/>
              </a:rPr>
              <a:t>            </a:t>
            </a:r>
            <a:r>
              <a:rPr lang="es-MX" sz="1100" dirty="0">
                <a:solidFill>
                  <a:srgbClr val="C00000"/>
                </a:solidFill>
                <a:highlight>
                  <a:srgbClr val="FFFF00"/>
                </a:highlight>
                <a:latin typeface="Consolas" panose="020B0609020204030204" pitchFamily="49" charset="0"/>
              </a:rPr>
              <a:t>break</a:t>
            </a:r>
            <a:r>
              <a:rPr lang="es-MX" sz="1100" dirty="0">
                <a:latin typeface="Consolas" panose="020B0609020204030204" pitchFamily="49" charset="0"/>
              </a:rPr>
              <a:t>  # Instrucción de ruptura (solo corta el ciclo interno)</a:t>
            </a:r>
          </a:p>
          <a:p>
            <a:r>
              <a:rPr lang="es-MX" sz="1100" dirty="0">
                <a:latin typeface="Consolas" panose="020B0609020204030204" pitchFamily="49" charset="0"/>
              </a:rPr>
              <a:t>        divisor += 1</a:t>
            </a:r>
          </a:p>
          <a:p>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if</a:t>
            </a:r>
            <a:r>
              <a:rPr lang="es-MX" sz="1100" dirty="0">
                <a:latin typeface="Consolas" panose="020B0609020204030204" pitchFamily="49" charset="0"/>
              </a:rPr>
              <a:t> </a:t>
            </a:r>
            <a:r>
              <a:rPr lang="es-MX" sz="1100" dirty="0" err="1">
                <a:latin typeface="Consolas" panose="020B0609020204030204" pitchFamily="49" charset="0"/>
              </a:rPr>
              <a:t>esPrimo</a:t>
            </a:r>
            <a:r>
              <a:rPr lang="es-MX" sz="1100" dirty="0">
                <a:latin typeface="Consolas" panose="020B0609020204030204" pitchFamily="49" charset="0"/>
              </a:rPr>
              <a:t>:</a:t>
            </a:r>
          </a:p>
          <a:p>
            <a:r>
              <a:rPr lang="es-MX" sz="1100" dirty="0">
                <a:latin typeface="Consolas" panose="020B0609020204030204" pitchFamily="49" charset="0"/>
              </a:rPr>
              <a:t>        </a:t>
            </a:r>
            <a:r>
              <a:rPr lang="es-MX" sz="1100" dirty="0" err="1">
                <a:latin typeface="Consolas" panose="020B0609020204030204" pitchFamily="49" charset="0"/>
              </a:rPr>
              <a:t>print</a:t>
            </a:r>
            <a:r>
              <a:rPr lang="es-MX" sz="1100" dirty="0">
                <a:latin typeface="Consolas" panose="020B0609020204030204" pitchFamily="49" charset="0"/>
              </a:rPr>
              <a:t>(f"{numero} es primo")</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28168518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35896" y="188640"/>
            <a:ext cx="8424936" cy="1116540"/>
          </a:xfrm>
        </p:spPr>
        <p:txBody>
          <a:bodyPr/>
          <a:lstStyle/>
          <a:p>
            <a:r>
              <a:rPr lang="en-US" dirty="0"/>
              <a:t>Proxima clase</a:t>
            </a:r>
          </a:p>
        </p:txBody>
      </p:sp>
      <p:sp>
        <p:nvSpPr>
          <p:cNvPr id="2" name="Content Placeholder 1"/>
          <p:cNvSpPr>
            <a:spLocks noGrp="1"/>
          </p:cNvSpPr>
          <p:nvPr>
            <p:ph idx="1"/>
          </p:nvPr>
        </p:nvSpPr>
        <p:spPr>
          <a:xfrm>
            <a:off x="359532" y="1337972"/>
            <a:ext cx="8424936" cy="4275856"/>
          </a:xfrm>
        </p:spPr>
        <p:txBody>
          <a:bodyPr>
            <a:normAutofit/>
          </a:bodyPr>
          <a:lstStyle/>
          <a:p>
            <a:pPr marL="400050" indent="-342900"/>
            <a:r>
              <a:rPr lang="es-CO" sz="2000" dirty="0"/>
              <a:t>Solución del ejemplo 5 (cine del señor Burns) aplicando los conceptos vistos en esta clase y los conceptos nuevos.</a:t>
            </a:r>
          </a:p>
          <a:p>
            <a:pPr marL="400050" indent="-342900"/>
            <a:r>
              <a:rPr lang="es-CO" sz="2000" dirty="0"/>
              <a:t>Estructura Haga.</a:t>
            </a:r>
          </a:p>
          <a:p>
            <a:pPr marL="400050" indent="-342900"/>
            <a:r>
              <a:rPr lang="es-CO" sz="2000" dirty="0"/>
              <a:t>Ejemplo serie Fibonacci.</a:t>
            </a:r>
          </a:p>
          <a:p>
            <a:pPr marL="400050" indent="-342900"/>
            <a:r>
              <a:rPr lang="es-CO" sz="2000" dirty="0"/>
              <a:t>Obteniendo valores extremos en ciclos.</a:t>
            </a:r>
          </a:p>
          <a:p>
            <a:pPr marL="400050" indent="-342900"/>
            <a:r>
              <a:rPr lang="es-CO" sz="2000" dirty="0"/>
              <a:t>Ciclos anidados.</a:t>
            </a:r>
          </a:p>
          <a:p>
            <a:pPr marL="400050" indent="-342900">
              <a:buAutoNum type="arabicPeriod" startAt="3"/>
            </a:pPr>
            <a:endParaRPr lang="es-CO" sz="2000" dirty="0"/>
          </a:p>
          <a:p>
            <a:pPr marL="400050" indent="-342900">
              <a:buAutoNum type="arabicPeriod" startAt="3"/>
            </a:pPr>
            <a:endParaRPr lang="es-ES" sz="2000" dirty="0"/>
          </a:p>
          <a:p>
            <a:pPr marL="514350" indent="-457200">
              <a:buFont typeface="+mj-lt"/>
              <a:buAutoNum type="arabicPeriod"/>
            </a:pPr>
            <a:endParaRPr lang="es-ES" sz="2000" dirty="0"/>
          </a:p>
          <a:p>
            <a:pPr marL="514350" indent="-457200">
              <a:buFont typeface="+mj-lt"/>
              <a:buAutoNum type="arabicPeriod"/>
            </a:pPr>
            <a:endParaRPr lang="es-ES" sz="2000" dirty="0"/>
          </a:p>
          <a:p>
            <a:pPr marL="57150" indent="0">
              <a:buNone/>
            </a:pPr>
            <a:endParaRPr lang="es-MX" sz="2000" i="1" dirty="0">
              <a:latin typeface="Cambria Math"/>
            </a:endParaRPr>
          </a:p>
        </p:txBody>
      </p:sp>
    </p:spTree>
    <p:extLst>
      <p:ext uri="{BB962C8B-B14F-4D97-AF65-F5344CB8AC3E}">
        <p14:creationId xmlns:p14="http://schemas.microsoft.com/office/powerpoint/2010/main" val="28492565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35896" y="188640"/>
            <a:ext cx="8424936" cy="1116540"/>
          </a:xfrm>
        </p:spPr>
        <p:txBody>
          <a:bodyPr/>
          <a:lstStyle/>
          <a:p>
            <a:r>
              <a:rPr lang="en-US" dirty="0"/>
              <a:t>Ejercicios de repaso</a:t>
            </a:r>
          </a:p>
        </p:txBody>
      </p:sp>
      <p:sp>
        <p:nvSpPr>
          <p:cNvPr id="2" name="Content Placeholder 1"/>
          <p:cNvSpPr>
            <a:spLocks noGrp="1"/>
          </p:cNvSpPr>
          <p:nvPr>
            <p:ph idx="1"/>
          </p:nvPr>
        </p:nvSpPr>
        <p:spPr>
          <a:xfrm>
            <a:off x="335896" y="1124744"/>
            <a:ext cx="8424936" cy="5638980"/>
          </a:xfrm>
        </p:spPr>
        <p:txBody>
          <a:bodyPr>
            <a:normAutofit fontScale="85000" lnSpcReduction="20000"/>
          </a:bodyPr>
          <a:lstStyle/>
          <a:p>
            <a:pPr marL="514350" indent="-457200">
              <a:buFont typeface="+mj-lt"/>
              <a:buAutoNum type="arabicPeriod"/>
            </a:pPr>
            <a:r>
              <a:rPr lang="es-MX" sz="2400" dirty="0"/>
              <a:t>Corrija el bug del ejemplo de las notas de clase (ejemplo 7).</a:t>
            </a:r>
          </a:p>
          <a:p>
            <a:pPr marL="514350" indent="-457200">
              <a:buFont typeface="+mj-lt"/>
              <a:buAutoNum type="arabicPeriod"/>
            </a:pPr>
            <a:r>
              <a:rPr lang="es-MX" sz="2400" dirty="0"/>
              <a:t>Para cada de los estudiantes de una universidad, donde cada uno cursa 4 materias se tienen los siguientes datos:</a:t>
            </a:r>
          </a:p>
          <a:p>
            <a:pPr marL="971550" lvl="1" indent="-457200"/>
            <a:r>
              <a:rPr lang="es-MX" dirty="0"/>
              <a:t>Código del estudiante.</a:t>
            </a:r>
          </a:p>
          <a:p>
            <a:pPr marL="971550" lvl="1" indent="-457200"/>
            <a:r>
              <a:rPr lang="es-MX" dirty="0"/>
              <a:t>Nota materia 1.</a:t>
            </a:r>
          </a:p>
          <a:p>
            <a:pPr marL="971550" lvl="1" indent="-457200"/>
            <a:r>
              <a:rPr lang="es-MX" dirty="0"/>
              <a:t>Nota materia 2.</a:t>
            </a:r>
          </a:p>
          <a:p>
            <a:pPr marL="971550" lvl="1" indent="-457200"/>
            <a:r>
              <a:rPr lang="es-MX" dirty="0"/>
              <a:t>Nota materia 3.</a:t>
            </a:r>
          </a:p>
          <a:p>
            <a:pPr marL="971550" lvl="1" indent="-457200"/>
            <a:r>
              <a:rPr lang="es-MX" dirty="0"/>
              <a:t>Nota materia 4.</a:t>
            </a:r>
          </a:p>
          <a:p>
            <a:pPr marL="514350" lvl="1" indent="0">
              <a:buNone/>
            </a:pPr>
            <a:r>
              <a:rPr lang="es-MX" dirty="0"/>
              <a:t>Hacer un algoritmo que encuentre y despliegue para cada estudiante el promedio crédito.</a:t>
            </a:r>
          </a:p>
          <a:p>
            <a:pPr marL="514350" indent="-457200">
              <a:buFont typeface="+mj-lt"/>
              <a:buAutoNum type="arabicPeriod"/>
            </a:pPr>
            <a:r>
              <a:rPr lang="es-CO" altLang="es-CO" sz="2400" dirty="0"/>
              <a:t>En un supermercado un ama de casa pone en su carrito los artículos que va tomando de los estantes. La señora quiere asegurarse de que el cajero le cobre bien lo que ella ha comprado; por lo cual cada vez que ella compra un articulo distinto le coloca un código numérico mayor que 0, anota la cantidad de artículos iguales y su precio y, determina cuanto dinero gastara en este articulo; a esto le suma lo que iría gastando en los demás artículos, hasta que decide que ya tomo lo que necesitaba. Hacer un algoritmo que le muestre a la señora el código del articulo, la cantidad de artículos de cada especie, el importe total por articulo y el importe total de la compra.</a:t>
            </a:r>
          </a:p>
          <a:p>
            <a:pPr marL="514350" indent="-457200">
              <a:buFont typeface="+mj-lt"/>
              <a:buAutoNum type="arabicPeriod"/>
            </a:pPr>
            <a:r>
              <a:rPr lang="es-ES" sz="2400" dirty="0"/>
              <a:t>Elabore un algoritmo que lea un numero entero n y que imprima todos los múltiplos de 3 hasta n.</a:t>
            </a:r>
            <a:endParaRPr lang="es-ES" sz="2000" dirty="0"/>
          </a:p>
          <a:p>
            <a:pPr marL="514350" indent="-457200">
              <a:buFont typeface="+mj-lt"/>
              <a:buAutoNum type="arabicPeriod"/>
            </a:pPr>
            <a:endParaRPr lang="es-ES" sz="2000" dirty="0"/>
          </a:p>
          <a:p>
            <a:pPr marL="514350" indent="-457200">
              <a:buFont typeface="+mj-lt"/>
              <a:buAutoNum type="arabicPeriod"/>
            </a:pPr>
            <a:endParaRPr lang="es-ES" sz="2000" dirty="0"/>
          </a:p>
          <a:p>
            <a:pPr marL="57150" indent="0">
              <a:buNone/>
            </a:pPr>
            <a:endParaRPr lang="es-MX" sz="2000" i="1" dirty="0">
              <a:latin typeface="Cambria Math"/>
            </a:endParaRPr>
          </a:p>
        </p:txBody>
      </p:sp>
    </p:spTree>
    <p:extLst>
      <p:ext uri="{BB962C8B-B14F-4D97-AF65-F5344CB8AC3E}">
        <p14:creationId xmlns:p14="http://schemas.microsoft.com/office/powerpoint/2010/main" val="23167576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35896" y="188640"/>
            <a:ext cx="8424936" cy="1116540"/>
          </a:xfrm>
        </p:spPr>
        <p:txBody>
          <a:bodyPr/>
          <a:lstStyle/>
          <a:p>
            <a:r>
              <a:rPr lang="en-US" dirty="0"/>
              <a:t>Ejercicios de repaso</a:t>
            </a:r>
          </a:p>
        </p:txBody>
      </p:sp>
      <p:sp>
        <p:nvSpPr>
          <p:cNvPr id="2" name="Content Placeholder 1"/>
          <p:cNvSpPr>
            <a:spLocks noGrp="1"/>
          </p:cNvSpPr>
          <p:nvPr>
            <p:ph idx="1"/>
          </p:nvPr>
        </p:nvSpPr>
        <p:spPr>
          <a:xfrm>
            <a:off x="406460" y="1124744"/>
            <a:ext cx="8424936" cy="5400600"/>
          </a:xfrm>
        </p:spPr>
        <p:txBody>
          <a:bodyPr>
            <a:normAutofit/>
          </a:bodyPr>
          <a:lstStyle/>
          <a:p>
            <a:pPr marL="514350" indent="-514350">
              <a:buFont typeface="+mj-lt"/>
              <a:buAutoNum type="arabicPeriod" startAt="4"/>
              <a:defRPr/>
            </a:pPr>
            <a:r>
              <a:rPr lang="es-ES" sz="2000" dirty="0"/>
              <a:t>Dados N valores, diseñe un algoritmo que haga el siguiente proceso:</a:t>
            </a:r>
          </a:p>
          <a:p>
            <a:pPr lvl="1">
              <a:defRPr/>
            </a:pPr>
            <a:r>
              <a:rPr lang="es-ES" sz="2000" dirty="0"/>
              <a:t>Si el valor es menor que cero, calcular su cubo.</a:t>
            </a:r>
          </a:p>
          <a:p>
            <a:pPr lvl="1">
              <a:defRPr/>
            </a:pPr>
            <a:r>
              <a:rPr lang="es-ES" sz="2000" dirty="0"/>
              <a:t>Si el valor esta entre 0 y 100, calcular su cuadrado.</a:t>
            </a:r>
          </a:p>
          <a:p>
            <a:pPr lvl="1">
              <a:defRPr/>
            </a:pPr>
            <a:r>
              <a:rPr lang="es-ES" sz="2000" dirty="0"/>
              <a:t>Si el valor esta entre 101 y 1000 calcular su raíz cuadrada.</a:t>
            </a:r>
          </a:p>
          <a:p>
            <a:pPr marL="457200" indent="-457200">
              <a:buFont typeface="+mj-lt"/>
              <a:buAutoNum type="arabicPeriod" startAt="6"/>
              <a:defRPr/>
            </a:pPr>
            <a:r>
              <a:rPr lang="es-MX" sz="2000" dirty="0"/>
              <a:t>Imprimir los primeros N números pares, empezando en 2 (2, 4, 6, ..., hasta el N-</a:t>
            </a:r>
            <a:r>
              <a:rPr lang="es-MX" sz="2000" dirty="0" err="1"/>
              <a:t>ésimo</a:t>
            </a:r>
            <a:r>
              <a:rPr lang="es-MX" sz="2000" dirty="0"/>
              <a:t> par).</a:t>
            </a:r>
          </a:p>
          <a:p>
            <a:pPr marL="457200" indent="-457200">
              <a:buFont typeface="+mj-lt"/>
              <a:buAutoNum type="arabicPeriod" startAt="6"/>
              <a:defRPr/>
            </a:pPr>
            <a:r>
              <a:rPr lang="es-MX" sz="2000" dirty="0"/>
              <a:t>Dado N, imprimir los números desde N hasta 1 en orden descendente.</a:t>
            </a:r>
          </a:p>
          <a:p>
            <a:pPr marL="457200" indent="-457200">
              <a:buFont typeface="+mj-lt"/>
              <a:buAutoNum type="arabicPeriod" startAt="6"/>
              <a:defRPr/>
            </a:pPr>
            <a:r>
              <a:rPr lang="es-MX" sz="2000" dirty="0"/>
              <a:t>Imprimir la sucesión 1, 4, 9, 16, ..., hasta el cuadrado del N-</a:t>
            </a:r>
            <a:r>
              <a:rPr lang="es-MX" sz="2000" dirty="0" err="1"/>
              <a:t>ésimo</a:t>
            </a:r>
            <a:r>
              <a:rPr lang="es-MX" sz="2000" dirty="0"/>
              <a:t> término.</a:t>
            </a:r>
          </a:p>
          <a:p>
            <a:pPr marL="457200" indent="-457200">
              <a:buFont typeface="+mj-lt"/>
              <a:buAutoNum type="arabicPeriod" startAt="6"/>
              <a:defRPr/>
            </a:pPr>
            <a:r>
              <a:rPr lang="es-MX" sz="2000" dirty="0"/>
              <a:t>Imprimir 2, -4, 6, -8, 10, -12, ... hasta N términos.</a:t>
            </a:r>
          </a:p>
          <a:p>
            <a:pPr marL="457200" indent="-457200">
              <a:buFont typeface="+mj-lt"/>
              <a:buAutoNum type="arabicPeriod" startAt="6"/>
              <a:defRPr/>
            </a:pPr>
            <a:r>
              <a:rPr lang="es-MX" sz="2000" dirty="0"/>
              <a:t>Dado un número M y un rango [A, B], imprimir todos los múltiplos de M que estén entre A y B.</a:t>
            </a:r>
          </a:p>
          <a:p>
            <a:pPr marL="457200" indent="-457200">
              <a:buFont typeface="+mj-lt"/>
              <a:buAutoNum type="arabicPeriod" startAt="6"/>
              <a:defRPr/>
            </a:pPr>
            <a:r>
              <a:rPr lang="es-MX" sz="2000" dirty="0"/>
              <a:t>Leer N números y, después de cada uno, imprimir el total acumulado hasta ese momento (no solo el total final).</a:t>
            </a:r>
            <a:endParaRPr lang="es-ES" sz="2000" dirty="0"/>
          </a:p>
          <a:p>
            <a:pPr marL="514350" indent="-457200">
              <a:buFont typeface="+mj-lt"/>
              <a:buAutoNum type="arabicPeriod" startAt="6"/>
            </a:pPr>
            <a:r>
              <a:rPr lang="es-MX" sz="2000" dirty="0"/>
              <a:t>Leer números hasta que el usuario ingrese -1, e imprimir cada número junto con la posición en la que fue ingresado (1º, 2º, 3º...).</a:t>
            </a:r>
            <a:endParaRPr lang="es-ES" sz="2000" dirty="0"/>
          </a:p>
          <a:p>
            <a:pPr marL="514350" indent="-457200">
              <a:buFont typeface="+mj-lt"/>
              <a:buAutoNum type="arabicPeriod" startAt="6"/>
            </a:pPr>
            <a:endParaRPr lang="es-ES" sz="2000" dirty="0"/>
          </a:p>
          <a:p>
            <a:pPr marL="57150" indent="0">
              <a:buNone/>
            </a:pPr>
            <a:endParaRPr lang="es-MX" sz="2000" i="1" dirty="0">
              <a:latin typeface="Cambria Math"/>
            </a:endParaRPr>
          </a:p>
        </p:txBody>
      </p:sp>
      <p:sp>
        <p:nvSpPr>
          <p:cNvPr id="4" name="Slide Number Placeholder 3"/>
          <p:cNvSpPr>
            <a:spLocks noGrp="1"/>
          </p:cNvSpPr>
          <p:nvPr>
            <p:ph type="sldNum" sz="quarter" idx="12"/>
          </p:nvPr>
        </p:nvSpPr>
        <p:spPr/>
        <p:txBody>
          <a:bodyPr/>
          <a:lstStyle/>
          <a:p>
            <a:fld id="{45F1CE28-A3C7-48DC-84A2-8FB08D6123C5}" type="slidenum">
              <a:rPr lang="en-US" smtClean="0"/>
              <a:pPr/>
              <a:t>89</a:t>
            </a:fld>
            <a:endParaRPr lang="en-US" dirty="0"/>
          </a:p>
        </p:txBody>
      </p:sp>
    </p:spTree>
    <p:extLst>
      <p:ext uri="{BB962C8B-B14F-4D97-AF65-F5344CB8AC3E}">
        <p14:creationId xmlns:p14="http://schemas.microsoft.com/office/powerpoint/2010/main" val="13219323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7504" y="23817"/>
            <a:ext cx="7886700" cy="812895"/>
          </a:xfrm>
        </p:spPr>
        <p:txBody>
          <a:bodyPr>
            <a:normAutofit/>
          </a:bodyPr>
          <a:lstStyle/>
          <a:p>
            <a:r>
              <a:rPr lang="en-US" sz="4000" dirty="0"/>
              <a:t>Referencias</a:t>
            </a:r>
          </a:p>
        </p:txBody>
      </p:sp>
      <p:sp>
        <p:nvSpPr>
          <p:cNvPr id="2" name="Content Placeholder 1"/>
          <p:cNvSpPr>
            <a:spLocks noGrp="1"/>
          </p:cNvSpPr>
          <p:nvPr>
            <p:ph idx="1"/>
          </p:nvPr>
        </p:nvSpPr>
        <p:spPr>
          <a:xfrm>
            <a:off x="251520" y="1088740"/>
            <a:ext cx="8424936" cy="4680520"/>
          </a:xfrm>
        </p:spPr>
        <p:txBody>
          <a:bodyPr>
            <a:normAutofit lnSpcReduction="10000"/>
          </a:bodyPr>
          <a:lstStyle/>
          <a:p>
            <a:pPr marL="457200" indent="-457200">
              <a:buFont typeface="+mj-lt"/>
              <a:buAutoNum type="arabicPeriod"/>
            </a:pPr>
            <a:r>
              <a:rPr lang="es-CO" sz="2000" dirty="0">
                <a:hlinkClick r:id="rId2"/>
              </a:rPr>
              <a:t>https://ellibrodepython.com/</a:t>
            </a:r>
            <a:endParaRPr lang="es-CO" sz="2000" dirty="0"/>
          </a:p>
          <a:p>
            <a:pPr marL="457200" indent="-457200">
              <a:buFont typeface="+mj-lt"/>
              <a:buAutoNum type="arabicPeriod"/>
            </a:pPr>
            <a:r>
              <a:rPr lang="es-CO" sz="2000" dirty="0">
                <a:hlinkClick r:id="rId3"/>
              </a:rPr>
              <a:t>https://www.w3resource.com/index.php</a:t>
            </a:r>
            <a:endParaRPr lang="es-CO" sz="2000" dirty="0"/>
          </a:p>
          <a:p>
            <a:pPr marL="457200" indent="-457200">
              <a:buFont typeface="+mj-lt"/>
              <a:buAutoNum type="arabicPeriod"/>
            </a:pPr>
            <a:r>
              <a:rPr lang="es-CO" sz="2000" dirty="0">
                <a:hlinkClick r:id="rId4"/>
              </a:rPr>
              <a:t>https://realpython.com/</a:t>
            </a:r>
            <a:endParaRPr lang="es-CO" sz="2000" dirty="0"/>
          </a:p>
          <a:p>
            <a:pPr marL="457200" indent="-457200">
              <a:buFont typeface="+mj-lt"/>
              <a:buAutoNum type="arabicPeriod"/>
            </a:pPr>
            <a:r>
              <a:rPr lang="es-CO" sz="2000" dirty="0">
                <a:hlinkClick r:id="rId5"/>
              </a:rPr>
              <a:t>https://curriculumresources.edu.gh/wp-content/uploads/2025/01/</a:t>
            </a:r>
            <a:endParaRPr lang="es-CO" sz="2000" dirty="0"/>
          </a:p>
          <a:p>
            <a:pPr marL="457200" indent="-457200">
              <a:buFont typeface="+mj-lt"/>
              <a:buAutoNum type="arabicPeriod"/>
            </a:pPr>
            <a:r>
              <a:rPr lang="es-CO" sz="2000" dirty="0">
                <a:hlinkClick r:id="rId6"/>
              </a:rPr>
              <a:t>https://python-course.eu/</a:t>
            </a:r>
            <a:endParaRPr lang="es-CO" sz="2000" dirty="0"/>
          </a:p>
          <a:p>
            <a:pPr marL="457200" indent="-457200">
              <a:buFont typeface="+mj-lt"/>
              <a:buAutoNum type="arabicPeriod"/>
            </a:pPr>
            <a:r>
              <a:rPr lang="es-CO" sz="2000" dirty="0">
                <a:hlinkClick r:id="rId7"/>
              </a:rPr>
              <a:t>https://realpython.com/cheatsheets/python/</a:t>
            </a:r>
            <a:endParaRPr lang="es-CO" sz="2000" dirty="0"/>
          </a:p>
          <a:p>
            <a:pPr marL="457200" indent="-457200">
              <a:buFont typeface="+mj-lt"/>
              <a:buAutoNum type="arabicPeriod"/>
            </a:pPr>
            <a:r>
              <a:rPr lang="es-CO" sz="2000" dirty="0">
                <a:hlinkClick r:id="rId8"/>
              </a:rPr>
              <a:t>https://realpython.com/python-conditional-statements/</a:t>
            </a:r>
            <a:endParaRPr lang="es-CO" sz="2000" dirty="0"/>
          </a:p>
          <a:p>
            <a:pPr marL="457200" indent="-457200">
              <a:buFont typeface="+mj-lt"/>
              <a:buAutoNum type="arabicPeriod"/>
            </a:pPr>
            <a:r>
              <a:rPr lang="es-CO" sz="2000" dirty="0">
                <a:hlinkClick r:id="rId9"/>
              </a:rPr>
              <a:t>https://realpython.com/ref/best-practices/conditionals/</a:t>
            </a:r>
            <a:r>
              <a:rPr lang="es-CO" sz="2000" dirty="0"/>
              <a:t>   </a:t>
            </a:r>
          </a:p>
          <a:p>
            <a:pPr marL="457200" indent="-457200">
              <a:buFont typeface="+mj-lt"/>
              <a:buAutoNum type="arabicPeriod"/>
            </a:pPr>
            <a:r>
              <a:rPr lang="es-CO" sz="2000" dirty="0">
                <a:hlinkClick r:id="rId10"/>
              </a:rPr>
              <a:t>https://makecode.microbit.org/courses/csintro</a:t>
            </a:r>
            <a:r>
              <a:rPr lang="es-CO" sz="2000" dirty="0"/>
              <a:t>   </a:t>
            </a:r>
          </a:p>
          <a:p>
            <a:pPr marL="457200" indent="-457200">
              <a:buFont typeface="+mj-lt"/>
              <a:buAutoNum type="arabicPeriod"/>
            </a:pPr>
            <a:r>
              <a:rPr lang="en-US" sz="2000" dirty="0">
                <a:hlinkClick r:id="rId11"/>
              </a:rPr>
              <a:t>https://makecode.microbit.org/courses</a:t>
            </a:r>
            <a:r>
              <a:rPr lang="en-US" sz="2000" dirty="0"/>
              <a:t> </a:t>
            </a:r>
          </a:p>
          <a:p>
            <a:pPr marL="457200" indent="-457200">
              <a:buFont typeface="+mj-lt"/>
              <a:buAutoNum type="arabicPeriod"/>
            </a:pPr>
            <a:r>
              <a:rPr lang="en-US" sz="2000" dirty="0">
                <a:hlinkClick r:id="rId12"/>
              </a:rPr>
              <a:t>https://realpython.com/python-while-loop/</a:t>
            </a:r>
            <a:endParaRPr lang="en-US" sz="2000" dirty="0"/>
          </a:p>
          <a:p>
            <a:pPr marL="457200" indent="-457200">
              <a:buFont typeface="+mj-lt"/>
              <a:buAutoNum type="arabicPeriod"/>
            </a:pPr>
            <a:r>
              <a:rPr lang="en-US" sz="2000" dirty="0">
                <a:hlinkClick r:id="rId13"/>
              </a:rPr>
              <a:t>https://realpython.com/ref/keywords/while/</a:t>
            </a:r>
            <a:r>
              <a:rPr lang="en-US" sz="2000" dirty="0"/>
              <a:t> </a:t>
            </a:r>
          </a:p>
        </p:txBody>
      </p:sp>
    </p:spTree>
    <p:extLst>
      <p:ext uri="{BB962C8B-B14F-4D97-AF65-F5344CB8AC3E}">
        <p14:creationId xmlns:p14="http://schemas.microsoft.com/office/powerpoint/2010/main" val="10231648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0617"/>
            <a:ext cx="8191822" cy="728103"/>
          </a:xfrm>
        </p:spPr>
        <p:txBody>
          <a:bodyPr/>
          <a:lstStyle/>
          <a:p>
            <a:r>
              <a:rPr lang="es-CO" dirty="0"/>
              <a:t>Eso es todo amigos</a:t>
            </a:r>
            <a:endParaRPr lang="en-US" dirty="0"/>
          </a:p>
        </p:txBody>
      </p:sp>
      <p:pic>
        <p:nvPicPr>
          <p:cNvPr id="4098" name="Picture 2" descr="xkcd: Tech Loops">
            <a:extLst>
              <a:ext uri="{FF2B5EF4-FFF2-40B4-BE49-F238E27FC236}">
                <a16:creationId xmlns:a16="http://schemas.microsoft.com/office/drawing/2014/main" id="{15C34D27-B685-4E8C-8A70-00C2D98E4A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678" y="1052736"/>
            <a:ext cx="6166644" cy="5473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96273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10479</TotalTime>
  <Words>11042</Words>
  <Application>Microsoft Office PowerPoint</Application>
  <PresentationFormat>Presentación en pantalla (4:3)</PresentationFormat>
  <Paragraphs>1848</Paragraphs>
  <Slides>91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91</vt:i4>
      </vt:variant>
    </vt:vector>
  </HeadingPairs>
  <TitlesOfParts>
    <vt:vector size="98" baseType="lpstr">
      <vt:lpstr>Arial</vt:lpstr>
      <vt:lpstr>Calibri</vt:lpstr>
      <vt:lpstr>Calibri Light</vt:lpstr>
      <vt:lpstr>Cambria Math</vt:lpstr>
      <vt:lpstr>Century Gothic</vt:lpstr>
      <vt:lpstr>Consolas</vt:lpstr>
      <vt:lpstr>Office Theme</vt:lpstr>
      <vt:lpstr>Lógica y Representación 1</vt:lpstr>
      <vt:lpstr>Método de Polya - Resumen</vt:lpstr>
      <vt:lpstr>Entrada, procesamiento y salida</vt:lpstr>
      <vt:lpstr>Tabla resumen</vt:lpstr>
      <vt:lpstr>Tabla resumen</vt:lpstr>
      <vt:lpstr>Casos en los problemas de decisión lógica</vt:lpstr>
      <vt:lpstr>Alternativa simple</vt:lpstr>
      <vt:lpstr>Alternativa doble</vt:lpstr>
      <vt:lpstr>Alternativa múltiple – Mismo criterio</vt:lpstr>
      <vt:lpstr>Alternativa múltiple – Diferente criterio</vt:lpstr>
      <vt:lpstr>Ejemplo de repaso</vt:lpstr>
      <vt:lpstr>Ejemplo de repaso</vt:lpstr>
      <vt:lpstr>Ejemplo de repaso</vt:lpstr>
      <vt:lpstr>Ejemplo de repaso</vt:lpstr>
      <vt:lpstr>Ejemplo de repaso</vt:lpstr>
      <vt:lpstr>Ejemplo de repaso</vt:lpstr>
      <vt:lpstr>Variable bandera (flag)</vt:lpstr>
      <vt:lpstr>Ejemplo de repaso</vt:lpstr>
      <vt:lpstr>Alternativa doble</vt:lpstr>
      <vt:lpstr>Alternativa doble</vt:lpstr>
      <vt:lpstr>Ciclos</vt:lpstr>
      <vt:lpstr>Ciclos</vt:lpstr>
      <vt:lpstr>Ciclos</vt:lpstr>
      <vt:lpstr>Ciclos</vt:lpstr>
      <vt:lpstr>Ciclos</vt:lpstr>
      <vt:lpstr>Ciclos - Ejemplo 1</vt:lpstr>
      <vt:lpstr>Ciclos</vt:lpstr>
      <vt:lpstr>Ciclos – Ejemplo 1</vt:lpstr>
      <vt:lpstr>Ciclos - Ejemplo 2</vt:lpstr>
      <vt:lpstr>Ciclos – Ejemplo 2</vt:lpstr>
      <vt:lpstr>Ciclos – Ejemplo 2</vt:lpstr>
      <vt:lpstr>Ciclos – Ejemplo 2</vt:lpstr>
      <vt:lpstr>Tipos de variables útiles en ciclos</vt:lpstr>
      <vt:lpstr>Variable de control</vt:lpstr>
      <vt:lpstr>Contador</vt:lpstr>
      <vt:lpstr>Acumulador</vt:lpstr>
      <vt:lpstr>Ciclos - Ejemplo 3</vt:lpstr>
      <vt:lpstr>Ciclos - Ejemplo 3</vt:lpstr>
      <vt:lpstr>Ciclos – Ejemplo 3</vt:lpstr>
      <vt:lpstr>Ciclos – Ejemplo 3</vt:lpstr>
      <vt:lpstr>Ciclos – Ejemplo 3</vt:lpstr>
      <vt:lpstr>Ciclos - Ejemplo 4</vt:lpstr>
      <vt:lpstr>Ciclos - Ejemplo 4</vt:lpstr>
      <vt:lpstr>Ciclos - Ejemplo 4</vt:lpstr>
      <vt:lpstr>Ciclos - Ejemplo 4</vt:lpstr>
      <vt:lpstr>Ciclos – Ejemplo 5</vt:lpstr>
      <vt:lpstr>Ciclos – Ejemplo 5</vt:lpstr>
      <vt:lpstr>Ciclos – Ejemplo 5</vt:lpstr>
      <vt:lpstr>Ciclos </vt:lpstr>
      <vt:lpstr>Tipos de problemas con ciclos</vt:lpstr>
      <vt:lpstr>Tipos de problemas con ciclos</vt:lpstr>
      <vt:lpstr>Tipos de problemas con ciclos</vt:lpstr>
      <vt:lpstr>Ciclos – Ejemplo 6</vt:lpstr>
      <vt:lpstr>Ciclos – Ejemplo 6</vt:lpstr>
      <vt:lpstr>Ciclos – Ejemplo 6</vt:lpstr>
      <vt:lpstr>Presentación de PowerPoint</vt:lpstr>
      <vt:lpstr>Presentación de PowerPoint</vt:lpstr>
      <vt:lpstr>Bandera (flag)</vt:lpstr>
      <vt:lpstr>Ciclos – Ejemplo 6</vt:lpstr>
      <vt:lpstr>Ciclos – Ejemplo 6</vt:lpstr>
      <vt:lpstr>Presentación de PowerPoint</vt:lpstr>
      <vt:lpstr>Presentación de PowerPoint</vt:lpstr>
      <vt:lpstr>Presentación de PowerPoint</vt:lpstr>
      <vt:lpstr>Centinela</vt:lpstr>
      <vt:lpstr>Ciclos – Ejemplo 7</vt:lpstr>
      <vt:lpstr>Ciclos – Ejemplo 7</vt:lpstr>
      <vt:lpstr>Ciclos – Ejemplo 7</vt:lpstr>
      <vt:lpstr>Presentación de PowerPoint</vt:lpstr>
      <vt:lpstr>Presentación de PowerPoint</vt:lpstr>
      <vt:lpstr>Presentación de PowerPoint</vt:lpstr>
      <vt:lpstr>Tipos de variables útiles en los ciclos</vt:lpstr>
      <vt:lpstr>Recapitulando lo visto</vt:lpstr>
      <vt:lpstr>Ciclos infinitos</vt:lpstr>
      <vt:lpstr>Ruptura de ciclos</vt:lpstr>
      <vt:lpstr>Ruptura de ciclos – Ejemplo 8</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Proxima clase</vt:lpstr>
      <vt:lpstr>Ejercicios de repaso</vt:lpstr>
      <vt:lpstr>Ejercicios de repaso</vt:lpstr>
      <vt:lpstr>Referencias</vt:lpstr>
      <vt:lpstr>Eso es todo amigos</vt:lpstr>
    </vt:vector>
  </TitlesOfParts>
  <Company>Universidad de Antioquia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curso</dc:title>
  <dc:creator>Apoyo Administrativo Ingeniería</dc:creator>
  <cp:lastModifiedBy>HENRY ALBERTO ARCILA RAMIREZ</cp:lastModifiedBy>
  <cp:revision>219</cp:revision>
  <dcterms:created xsi:type="dcterms:W3CDTF">2015-03-12T20:27:20Z</dcterms:created>
  <dcterms:modified xsi:type="dcterms:W3CDTF">2026-09-18T16:46:43Z</dcterms:modified>
</cp:coreProperties>
</file>