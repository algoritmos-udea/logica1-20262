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9" r:id="rId1"/>
  </p:sldMasterIdLst>
  <p:notesMasterIdLst>
    <p:notesMasterId r:id="rId64"/>
  </p:notesMasterIdLst>
  <p:sldIdLst>
    <p:sldId id="281" r:id="rId2"/>
    <p:sldId id="309" r:id="rId3"/>
    <p:sldId id="368" r:id="rId4"/>
    <p:sldId id="405" r:id="rId5"/>
    <p:sldId id="427" r:id="rId6"/>
    <p:sldId id="349" r:id="rId7"/>
    <p:sldId id="350" r:id="rId8"/>
    <p:sldId id="428" r:id="rId9"/>
    <p:sldId id="468" r:id="rId10"/>
    <p:sldId id="541" r:id="rId11"/>
    <p:sldId id="469" r:id="rId12"/>
    <p:sldId id="542" r:id="rId13"/>
    <p:sldId id="569" r:id="rId14"/>
    <p:sldId id="570" r:id="rId15"/>
    <p:sldId id="539" r:id="rId16"/>
    <p:sldId id="540" r:id="rId17"/>
    <p:sldId id="594" r:id="rId18"/>
    <p:sldId id="536" r:id="rId19"/>
    <p:sldId id="571" r:id="rId20"/>
    <p:sldId id="572" r:id="rId21"/>
    <p:sldId id="573" r:id="rId22"/>
    <p:sldId id="574" r:id="rId23"/>
    <p:sldId id="575" r:id="rId24"/>
    <p:sldId id="576" r:id="rId25"/>
    <p:sldId id="577" r:id="rId26"/>
    <p:sldId id="595" r:id="rId27"/>
    <p:sldId id="596" r:id="rId28"/>
    <p:sldId id="598" r:id="rId29"/>
    <p:sldId id="603" r:id="rId30"/>
    <p:sldId id="602" r:id="rId31"/>
    <p:sldId id="605" r:id="rId32"/>
    <p:sldId id="604" r:id="rId33"/>
    <p:sldId id="606" r:id="rId34"/>
    <p:sldId id="607" r:id="rId35"/>
    <p:sldId id="608" r:id="rId36"/>
    <p:sldId id="609" r:id="rId37"/>
    <p:sldId id="610" r:id="rId38"/>
    <p:sldId id="611" r:id="rId39"/>
    <p:sldId id="578" r:id="rId40"/>
    <p:sldId id="579" r:id="rId41"/>
    <p:sldId id="587" r:id="rId42"/>
    <p:sldId id="600" r:id="rId43"/>
    <p:sldId id="613" r:id="rId44"/>
    <p:sldId id="614" r:id="rId45"/>
    <p:sldId id="615" r:id="rId46"/>
    <p:sldId id="599" r:id="rId47"/>
    <p:sldId id="601" r:id="rId48"/>
    <p:sldId id="616" r:id="rId49"/>
    <p:sldId id="617" r:id="rId50"/>
    <p:sldId id="618" r:id="rId51"/>
    <p:sldId id="580" r:id="rId52"/>
    <p:sldId id="588" r:id="rId53"/>
    <p:sldId id="583" r:id="rId54"/>
    <p:sldId id="585" r:id="rId55"/>
    <p:sldId id="586" r:id="rId56"/>
    <p:sldId id="590" r:id="rId57"/>
    <p:sldId id="589" r:id="rId58"/>
    <p:sldId id="591" r:id="rId59"/>
    <p:sldId id="592" r:id="rId60"/>
    <p:sldId id="593" r:id="rId61"/>
    <p:sldId id="310" r:id="rId62"/>
    <p:sldId id="277" r:id="rId6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79" autoAdjust="0"/>
    <p:restoredTop sz="94291" autoAdjust="0"/>
  </p:normalViewPr>
  <p:slideViewPr>
    <p:cSldViewPr>
      <p:cViewPr>
        <p:scale>
          <a:sx n="75" d="100"/>
          <a:sy n="75" d="100"/>
        </p:scale>
        <p:origin x="1188" y="-1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4617D2-EBA5-43D3-A846-ABD7019008A4}" type="doc">
      <dgm:prSet loTypeId="urn:microsoft.com/office/officeart/2005/8/layout/chevron2" loCatId="process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s-CO"/>
        </a:p>
      </dgm:t>
    </dgm:pt>
    <dgm:pt modelId="{0F6E169A-367E-48F6-8A0F-9538EF72E803}">
      <dgm:prSet phldrT="[Texto]" custT="1"/>
      <dgm:spPr/>
      <dgm:t>
        <a:bodyPr/>
        <a:lstStyle/>
        <a:p>
          <a:r>
            <a:rPr lang="es-CO" sz="1600" dirty="0">
              <a:latin typeface="Century Gothic" panose="020B0502020202020204" pitchFamily="34" charset="0"/>
            </a:rPr>
            <a:t>1</a:t>
          </a:r>
          <a:endParaRPr lang="es-CO" sz="1200" dirty="0">
            <a:latin typeface="Century Gothic" panose="020B0502020202020204" pitchFamily="34" charset="0"/>
          </a:endParaRPr>
        </a:p>
      </dgm:t>
    </dgm:pt>
    <dgm:pt modelId="{214810CF-0E9F-420E-9F44-94CA29248781}" type="parTrans" cxnId="{1D7BCF56-E33F-4A42-8129-E524DE8CA73C}">
      <dgm:prSet/>
      <dgm:spPr/>
      <dgm:t>
        <a:bodyPr/>
        <a:lstStyle/>
        <a:p>
          <a:endParaRPr lang="es-CO" sz="1600"/>
        </a:p>
      </dgm:t>
    </dgm:pt>
    <dgm:pt modelId="{9E3845BF-94AB-444E-AB21-A0DA1B4B1270}" type="sibTrans" cxnId="{1D7BCF56-E33F-4A42-8129-E524DE8CA73C}">
      <dgm:prSet/>
      <dgm:spPr/>
      <dgm:t>
        <a:bodyPr/>
        <a:lstStyle/>
        <a:p>
          <a:endParaRPr lang="es-CO" sz="1600"/>
        </a:p>
      </dgm:t>
    </dgm:pt>
    <dgm:pt modelId="{676AA4D5-22F4-47B3-B0E8-95C3D9C99480}">
      <dgm:prSet phldrT="[Texto]" custT="1"/>
      <dgm:spPr/>
      <dgm:t>
        <a:bodyPr/>
        <a:lstStyle/>
        <a:p>
          <a:pPr>
            <a:buNone/>
          </a:pPr>
          <a:r>
            <a:rPr lang="es-CO" sz="2000" dirty="0">
              <a:latin typeface="Century Gothic" panose="020B0502020202020204" pitchFamily="34" charset="0"/>
            </a:rPr>
            <a:t>Entender el problema</a:t>
          </a:r>
        </a:p>
      </dgm:t>
    </dgm:pt>
    <dgm:pt modelId="{65AE6963-95E3-417E-9DBC-C327427667A9}" type="parTrans" cxnId="{E402CAF0-5AAA-416F-BAF4-3854EF253EE5}">
      <dgm:prSet/>
      <dgm:spPr/>
      <dgm:t>
        <a:bodyPr/>
        <a:lstStyle/>
        <a:p>
          <a:endParaRPr lang="es-CO" sz="1600"/>
        </a:p>
      </dgm:t>
    </dgm:pt>
    <dgm:pt modelId="{BBDCCB86-71C3-422E-959C-8FA92A9124DF}" type="sibTrans" cxnId="{E402CAF0-5AAA-416F-BAF4-3854EF253EE5}">
      <dgm:prSet/>
      <dgm:spPr/>
      <dgm:t>
        <a:bodyPr/>
        <a:lstStyle/>
        <a:p>
          <a:endParaRPr lang="es-CO" sz="1600"/>
        </a:p>
      </dgm:t>
    </dgm:pt>
    <dgm:pt modelId="{9C3C57BE-AD01-47F6-9592-98EF2608A6EF}">
      <dgm:prSet phldrT="[Texto]" custT="1"/>
      <dgm:spPr/>
      <dgm:t>
        <a:bodyPr/>
        <a:lstStyle/>
        <a:p>
          <a:r>
            <a:rPr lang="es-CO" sz="1800" dirty="0">
              <a:latin typeface="Century Gothic" panose="020B0502020202020204" pitchFamily="34" charset="0"/>
            </a:rPr>
            <a:t>2</a:t>
          </a:r>
          <a:endParaRPr lang="es-CO" sz="2400" dirty="0">
            <a:latin typeface="Century Gothic" panose="020B0502020202020204" pitchFamily="34" charset="0"/>
          </a:endParaRPr>
        </a:p>
      </dgm:t>
    </dgm:pt>
    <dgm:pt modelId="{33D25418-EA10-4491-90C6-5683712BE055}" type="parTrans" cxnId="{FBB864E0-2027-4A45-B5D7-110F765EFD96}">
      <dgm:prSet/>
      <dgm:spPr/>
      <dgm:t>
        <a:bodyPr/>
        <a:lstStyle/>
        <a:p>
          <a:endParaRPr lang="es-CO" sz="1600"/>
        </a:p>
      </dgm:t>
    </dgm:pt>
    <dgm:pt modelId="{0019765E-5748-4647-85C8-6E8054C68086}" type="sibTrans" cxnId="{FBB864E0-2027-4A45-B5D7-110F765EFD96}">
      <dgm:prSet/>
      <dgm:spPr/>
      <dgm:t>
        <a:bodyPr/>
        <a:lstStyle/>
        <a:p>
          <a:endParaRPr lang="es-CO" sz="1600"/>
        </a:p>
      </dgm:t>
    </dgm:pt>
    <dgm:pt modelId="{C59A2A35-6BBC-4F81-BD74-40520AACD6AB}">
      <dgm:prSet phldrT="[Texto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Diseñar un plan</a:t>
          </a:r>
        </a:p>
      </dgm:t>
    </dgm:pt>
    <dgm:pt modelId="{EDE363E4-7EA3-41D2-8DB9-A0871D9DA325}" type="parTrans" cxnId="{3B1F784D-95DD-4194-A52D-9A5B55BC5BD7}">
      <dgm:prSet/>
      <dgm:spPr/>
      <dgm:t>
        <a:bodyPr/>
        <a:lstStyle/>
        <a:p>
          <a:endParaRPr lang="es-CO" sz="1600"/>
        </a:p>
      </dgm:t>
    </dgm:pt>
    <dgm:pt modelId="{C31DDF04-103F-4600-9F78-0BDCC0BF907B}" type="sibTrans" cxnId="{3B1F784D-95DD-4194-A52D-9A5B55BC5BD7}">
      <dgm:prSet/>
      <dgm:spPr/>
      <dgm:t>
        <a:bodyPr/>
        <a:lstStyle/>
        <a:p>
          <a:endParaRPr lang="es-CO" sz="1600"/>
        </a:p>
      </dgm:t>
    </dgm:pt>
    <dgm:pt modelId="{9AB424BA-7E8B-4D0B-8A3C-3748A54646B8}">
      <dgm:prSet phldrT="[Texto]" custT="1"/>
      <dgm:spPr/>
      <dgm:t>
        <a:bodyPr/>
        <a:lstStyle/>
        <a:p>
          <a:r>
            <a:rPr lang="es-CO" sz="2000" dirty="0">
              <a:latin typeface="Century Gothic" panose="020B0502020202020204" pitchFamily="34" charset="0"/>
            </a:rPr>
            <a:t>3</a:t>
          </a:r>
        </a:p>
      </dgm:t>
    </dgm:pt>
    <dgm:pt modelId="{E543BFA9-86DB-499C-8E83-B32D00A97FD8}" type="parTrans" cxnId="{9DB9632F-E2AC-48EE-840F-D6A88C411EEA}">
      <dgm:prSet/>
      <dgm:spPr/>
      <dgm:t>
        <a:bodyPr/>
        <a:lstStyle/>
        <a:p>
          <a:endParaRPr lang="es-CO" sz="1600"/>
        </a:p>
      </dgm:t>
    </dgm:pt>
    <dgm:pt modelId="{DDCD6E76-3560-4CAA-96A8-94ACFF130E9B}" type="sibTrans" cxnId="{9DB9632F-E2AC-48EE-840F-D6A88C411EEA}">
      <dgm:prSet/>
      <dgm:spPr/>
      <dgm:t>
        <a:bodyPr/>
        <a:lstStyle/>
        <a:p>
          <a:endParaRPr lang="es-CO" sz="1600"/>
        </a:p>
      </dgm:t>
    </dgm:pt>
    <dgm:pt modelId="{BEC04423-D6B7-4792-AEB9-C3D7F81A98AC}">
      <dgm:prSet phldrT="[Texto]"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Implementar el plan</a:t>
          </a:r>
        </a:p>
      </dgm:t>
    </dgm:pt>
    <dgm:pt modelId="{F135D138-85FF-4087-B751-5F159F842289}" type="parTrans" cxnId="{5B0A26F8-5ACB-43D3-A171-6C62CAD4E7BE}">
      <dgm:prSet/>
      <dgm:spPr/>
      <dgm:t>
        <a:bodyPr/>
        <a:lstStyle/>
        <a:p>
          <a:endParaRPr lang="es-CO" sz="1600"/>
        </a:p>
      </dgm:t>
    </dgm:pt>
    <dgm:pt modelId="{AB02689B-5109-4C4C-A9DD-EF332B395FC7}" type="sibTrans" cxnId="{5B0A26F8-5ACB-43D3-A171-6C62CAD4E7BE}">
      <dgm:prSet/>
      <dgm:spPr/>
      <dgm:t>
        <a:bodyPr/>
        <a:lstStyle/>
        <a:p>
          <a:endParaRPr lang="es-CO" sz="1600"/>
        </a:p>
      </dgm:t>
    </dgm:pt>
    <dgm:pt modelId="{6F3FB39C-3E1D-4D2D-849B-EA0299C466C8}">
      <dgm:prSet phldrT="[Texto]" custT="1"/>
      <dgm:spPr/>
      <dgm:t>
        <a:bodyPr/>
        <a:lstStyle/>
        <a:p>
          <a:r>
            <a:rPr lang="es-CO" sz="2000" dirty="0">
              <a:latin typeface="Century Gothic" panose="020B0502020202020204" pitchFamily="34" charset="0"/>
            </a:rPr>
            <a:t>4</a:t>
          </a:r>
        </a:p>
      </dgm:t>
    </dgm:pt>
    <dgm:pt modelId="{F344B892-AD67-4863-B1DB-FFEAC6AE3C6A}" type="parTrans" cxnId="{F85ACEEE-F8C0-443C-BAAF-021763D37073}">
      <dgm:prSet/>
      <dgm:spPr/>
      <dgm:t>
        <a:bodyPr/>
        <a:lstStyle/>
        <a:p>
          <a:endParaRPr lang="es-CO" sz="1600"/>
        </a:p>
      </dgm:t>
    </dgm:pt>
    <dgm:pt modelId="{2E86F725-3FD8-4480-8AF6-6A89E142D77A}" type="sibTrans" cxnId="{F85ACEEE-F8C0-443C-BAAF-021763D37073}">
      <dgm:prSet/>
      <dgm:spPr/>
      <dgm:t>
        <a:bodyPr/>
        <a:lstStyle/>
        <a:p>
          <a:endParaRPr lang="es-CO" sz="1600"/>
        </a:p>
      </dgm:t>
    </dgm:pt>
    <dgm:pt modelId="{DCCFDBD5-3BD5-4368-8E74-2BE430318114}">
      <dgm:prSet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Revisar el plan</a:t>
          </a:r>
        </a:p>
      </dgm:t>
    </dgm:pt>
    <dgm:pt modelId="{E9C3A1B1-6767-4D4A-B32D-4EDACFE1C0F4}" type="parTrans" cxnId="{95C514DE-3460-4712-B0CD-D954FE76DB64}">
      <dgm:prSet/>
      <dgm:spPr/>
      <dgm:t>
        <a:bodyPr/>
        <a:lstStyle/>
        <a:p>
          <a:endParaRPr lang="es-CO" sz="1600"/>
        </a:p>
      </dgm:t>
    </dgm:pt>
    <dgm:pt modelId="{159A55EA-C5B7-4F9E-8222-A763BEB4D99B}" type="sibTrans" cxnId="{95C514DE-3460-4712-B0CD-D954FE76DB64}">
      <dgm:prSet/>
      <dgm:spPr/>
      <dgm:t>
        <a:bodyPr/>
        <a:lstStyle/>
        <a:p>
          <a:endParaRPr lang="es-CO" sz="1600"/>
        </a:p>
      </dgm:t>
    </dgm:pt>
    <dgm:pt modelId="{C30EB98C-BF8E-47B5-A59F-A3E708D5551C}" type="pres">
      <dgm:prSet presAssocID="{234617D2-EBA5-43D3-A846-ABD7019008A4}" presName="linearFlow" presStyleCnt="0">
        <dgm:presLayoutVars>
          <dgm:dir/>
          <dgm:animLvl val="lvl"/>
          <dgm:resizeHandles val="exact"/>
        </dgm:presLayoutVars>
      </dgm:prSet>
      <dgm:spPr/>
    </dgm:pt>
    <dgm:pt modelId="{B5976899-2FC4-4A3E-891A-B74C8C23C8B5}" type="pres">
      <dgm:prSet presAssocID="{0F6E169A-367E-48F6-8A0F-9538EF72E803}" presName="composite" presStyleCnt="0"/>
      <dgm:spPr/>
    </dgm:pt>
    <dgm:pt modelId="{416A876F-5FA3-42F9-A923-4E2C334EF9BC}" type="pres">
      <dgm:prSet presAssocID="{0F6E169A-367E-48F6-8A0F-9538EF72E803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344A86B1-48E8-448F-9C6D-71580BFB5F83}" type="pres">
      <dgm:prSet presAssocID="{0F6E169A-367E-48F6-8A0F-9538EF72E803}" presName="descendantText" presStyleLbl="alignAcc1" presStyleIdx="0" presStyleCnt="4">
        <dgm:presLayoutVars>
          <dgm:bulletEnabled val="1"/>
        </dgm:presLayoutVars>
      </dgm:prSet>
      <dgm:spPr/>
    </dgm:pt>
    <dgm:pt modelId="{19B3EDEB-1CF9-4423-9037-F0221A01EBBA}" type="pres">
      <dgm:prSet presAssocID="{9E3845BF-94AB-444E-AB21-A0DA1B4B1270}" presName="sp" presStyleCnt="0"/>
      <dgm:spPr/>
    </dgm:pt>
    <dgm:pt modelId="{5D167E8C-136F-440C-8D10-651E4D964A72}" type="pres">
      <dgm:prSet presAssocID="{9C3C57BE-AD01-47F6-9592-98EF2608A6EF}" presName="composite" presStyleCnt="0"/>
      <dgm:spPr/>
    </dgm:pt>
    <dgm:pt modelId="{A651636C-CE47-4575-AA1E-AB00D80E941D}" type="pres">
      <dgm:prSet presAssocID="{9C3C57BE-AD01-47F6-9592-98EF2608A6EF}" presName="parentText" presStyleLbl="alignNode1" presStyleIdx="1" presStyleCnt="4" custLinFactNeighborY="0">
        <dgm:presLayoutVars>
          <dgm:chMax val="1"/>
          <dgm:bulletEnabled val="1"/>
        </dgm:presLayoutVars>
      </dgm:prSet>
      <dgm:spPr/>
    </dgm:pt>
    <dgm:pt modelId="{79B0DE70-0A03-4A6F-B31F-EC81EB5DF7EA}" type="pres">
      <dgm:prSet presAssocID="{9C3C57BE-AD01-47F6-9592-98EF2608A6EF}" presName="descendantText" presStyleLbl="alignAcc1" presStyleIdx="1" presStyleCnt="4">
        <dgm:presLayoutVars>
          <dgm:bulletEnabled val="1"/>
        </dgm:presLayoutVars>
      </dgm:prSet>
      <dgm:spPr/>
    </dgm:pt>
    <dgm:pt modelId="{5C2D5B77-4FD3-4BFC-B7C7-B69CFA47B819}" type="pres">
      <dgm:prSet presAssocID="{0019765E-5748-4647-85C8-6E8054C68086}" presName="sp" presStyleCnt="0"/>
      <dgm:spPr/>
    </dgm:pt>
    <dgm:pt modelId="{FD9C2F86-B450-49A0-8639-065AE676C080}" type="pres">
      <dgm:prSet presAssocID="{9AB424BA-7E8B-4D0B-8A3C-3748A54646B8}" presName="composite" presStyleCnt="0"/>
      <dgm:spPr/>
    </dgm:pt>
    <dgm:pt modelId="{2AA7B02C-023E-4537-897E-B54A048C8983}" type="pres">
      <dgm:prSet presAssocID="{9AB424BA-7E8B-4D0B-8A3C-3748A54646B8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15D3D31F-A831-4E62-ADE9-6ACE81331CDC}" type="pres">
      <dgm:prSet presAssocID="{9AB424BA-7E8B-4D0B-8A3C-3748A54646B8}" presName="descendantText" presStyleLbl="alignAcc1" presStyleIdx="2" presStyleCnt="4">
        <dgm:presLayoutVars>
          <dgm:bulletEnabled val="1"/>
        </dgm:presLayoutVars>
      </dgm:prSet>
      <dgm:spPr/>
    </dgm:pt>
    <dgm:pt modelId="{365F76A6-EF4F-41D1-B81D-BC3D7851A081}" type="pres">
      <dgm:prSet presAssocID="{DDCD6E76-3560-4CAA-96A8-94ACFF130E9B}" presName="sp" presStyleCnt="0"/>
      <dgm:spPr/>
    </dgm:pt>
    <dgm:pt modelId="{4DB00594-09F9-4225-B772-B1D52DAEEAB6}" type="pres">
      <dgm:prSet presAssocID="{6F3FB39C-3E1D-4D2D-849B-EA0299C466C8}" presName="composite" presStyleCnt="0"/>
      <dgm:spPr/>
    </dgm:pt>
    <dgm:pt modelId="{58E45CBE-DE64-4E4E-8AAA-D376465B2BEE}" type="pres">
      <dgm:prSet presAssocID="{6F3FB39C-3E1D-4D2D-849B-EA0299C466C8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C37D6712-7A35-4663-80F7-1B8FC410AF19}" type="pres">
      <dgm:prSet presAssocID="{6F3FB39C-3E1D-4D2D-849B-EA0299C466C8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D25A530A-E341-4BA7-8999-21A374D537D3}" type="presOf" srcId="{BEC04423-D6B7-4792-AEB9-C3D7F81A98AC}" destId="{15D3D31F-A831-4E62-ADE9-6ACE81331CDC}" srcOrd="0" destOrd="0" presId="urn:microsoft.com/office/officeart/2005/8/layout/chevron2"/>
    <dgm:cxn modelId="{0F63B510-A033-48E8-A5FD-87C76FF5A9D6}" type="presOf" srcId="{0F6E169A-367E-48F6-8A0F-9538EF72E803}" destId="{416A876F-5FA3-42F9-A923-4E2C334EF9BC}" srcOrd="0" destOrd="0" presId="urn:microsoft.com/office/officeart/2005/8/layout/chevron2"/>
    <dgm:cxn modelId="{09EB6217-24CA-4B61-90D2-9CF7E646FA43}" type="presOf" srcId="{234617D2-EBA5-43D3-A846-ABD7019008A4}" destId="{C30EB98C-BF8E-47B5-A59F-A3E708D5551C}" srcOrd="0" destOrd="0" presId="urn:microsoft.com/office/officeart/2005/8/layout/chevron2"/>
    <dgm:cxn modelId="{9DB9632F-E2AC-48EE-840F-D6A88C411EEA}" srcId="{234617D2-EBA5-43D3-A846-ABD7019008A4}" destId="{9AB424BA-7E8B-4D0B-8A3C-3748A54646B8}" srcOrd="2" destOrd="0" parTransId="{E543BFA9-86DB-499C-8E83-B32D00A97FD8}" sibTransId="{DDCD6E76-3560-4CAA-96A8-94ACFF130E9B}"/>
    <dgm:cxn modelId="{5C56243F-7D54-4FD5-BD45-EEAB6E9334A6}" type="presOf" srcId="{676AA4D5-22F4-47B3-B0E8-95C3D9C99480}" destId="{344A86B1-48E8-448F-9C6D-71580BFB5F83}" srcOrd="0" destOrd="0" presId="urn:microsoft.com/office/officeart/2005/8/layout/chevron2"/>
    <dgm:cxn modelId="{3EF6886C-4FCF-4899-8F48-98F458A380A4}" type="presOf" srcId="{DCCFDBD5-3BD5-4368-8E74-2BE430318114}" destId="{C37D6712-7A35-4663-80F7-1B8FC410AF19}" srcOrd="0" destOrd="0" presId="urn:microsoft.com/office/officeart/2005/8/layout/chevron2"/>
    <dgm:cxn modelId="{3B1F784D-95DD-4194-A52D-9A5B55BC5BD7}" srcId="{9C3C57BE-AD01-47F6-9592-98EF2608A6EF}" destId="{C59A2A35-6BBC-4F81-BD74-40520AACD6AB}" srcOrd="0" destOrd="0" parTransId="{EDE363E4-7EA3-41D2-8DB9-A0871D9DA325}" sibTransId="{C31DDF04-103F-4600-9F78-0BDCC0BF907B}"/>
    <dgm:cxn modelId="{1D7BCF56-E33F-4A42-8129-E524DE8CA73C}" srcId="{234617D2-EBA5-43D3-A846-ABD7019008A4}" destId="{0F6E169A-367E-48F6-8A0F-9538EF72E803}" srcOrd="0" destOrd="0" parTransId="{214810CF-0E9F-420E-9F44-94CA29248781}" sibTransId="{9E3845BF-94AB-444E-AB21-A0DA1B4B1270}"/>
    <dgm:cxn modelId="{E8354084-D26E-4270-954C-74C7F6A06793}" type="presOf" srcId="{C59A2A35-6BBC-4F81-BD74-40520AACD6AB}" destId="{79B0DE70-0A03-4A6F-B31F-EC81EB5DF7EA}" srcOrd="0" destOrd="0" presId="urn:microsoft.com/office/officeart/2005/8/layout/chevron2"/>
    <dgm:cxn modelId="{BF2B6EA9-3F5A-49C1-AF7E-EC921192B9DE}" type="presOf" srcId="{9C3C57BE-AD01-47F6-9592-98EF2608A6EF}" destId="{A651636C-CE47-4575-AA1E-AB00D80E941D}" srcOrd="0" destOrd="0" presId="urn:microsoft.com/office/officeart/2005/8/layout/chevron2"/>
    <dgm:cxn modelId="{95C514DE-3460-4712-B0CD-D954FE76DB64}" srcId="{6F3FB39C-3E1D-4D2D-849B-EA0299C466C8}" destId="{DCCFDBD5-3BD5-4368-8E74-2BE430318114}" srcOrd="0" destOrd="0" parTransId="{E9C3A1B1-6767-4D4A-B32D-4EDACFE1C0F4}" sibTransId="{159A55EA-C5B7-4F9E-8222-A763BEB4D99B}"/>
    <dgm:cxn modelId="{FBB864E0-2027-4A45-B5D7-110F765EFD96}" srcId="{234617D2-EBA5-43D3-A846-ABD7019008A4}" destId="{9C3C57BE-AD01-47F6-9592-98EF2608A6EF}" srcOrd="1" destOrd="0" parTransId="{33D25418-EA10-4491-90C6-5683712BE055}" sibTransId="{0019765E-5748-4647-85C8-6E8054C68086}"/>
    <dgm:cxn modelId="{448B48EB-E488-4909-82B4-2E61877F00AE}" type="presOf" srcId="{6F3FB39C-3E1D-4D2D-849B-EA0299C466C8}" destId="{58E45CBE-DE64-4E4E-8AAA-D376465B2BEE}" srcOrd="0" destOrd="0" presId="urn:microsoft.com/office/officeart/2005/8/layout/chevron2"/>
    <dgm:cxn modelId="{E644B3EB-418D-4B1A-83D6-8DCC10BE06E8}" type="presOf" srcId="{9AB424BA-7E8B-4D0B-8A3C-3748A54646B8}" destId="{2AA7B02C-023E-4537-897E-B54A048C8983}" srcOrd="0" destOrd="0" presId="urn:microsoft.com/office/officeart/2005/8/layout/chevron2"/>
    <dgm:cxn modelId="{F85ACEEE-F8C0-443C-BAAF-021763D37073}" srcId="{234617D2-EBA5-43D3-A846-ABD7019008A4}" destId="{6F3FB39C-3E1D-4D2D-849B-EA0299C466C8}" srcOrd="3" destOrd="0" parTransId="{F344B892-AD67-4863-B1DB-FFEAC6AE3C6A}" sibTransId="{2E86F725-3FD8-4480-8AF6-6A89E142D77A}"/>
    <dgm:cxn modelId="{E402CAF0-5AAA-416F-BAF4-3854EF253EE5}" srcId="{0F6E169A-367E-48F6-8A0F-9538EF72E803}" destId="{676AA4D5-22F4-47B3-B0E8-95C3D9C99480}" srcOrd="0" destOrd="0" parTransId="{65AE6963-95E3-417E-9DBC-C327427667A9}" sibTransId="{BBDCCB86-71C3-422E-959C-8FA92A9124DF}"/>
    <dgm:cxn modelId="{5B0A26F8-5ACB-43D3-A171-6C62CAD4E7BE}" srcId="{9AB424BA-7E8B-4D0B-8A3C-3748A54646B8}" destId="{BEC04423-D6B7-4792-AEB9-C3D7F81A98AC}" srcOrd="0" destOrd="0" parTransId="{F135D138-85FF-4087-B751-5F159F842289}" sibTransId="{AB02689B-5109-4C4C-A9DD-EF332B395FC7}"/>
    <dgm:cxn modelId="{AC4A8FF1-0B42-4570-ACB4-F62AD10AC7E7}" type="presParOf" srcId="{C30EB98C-BF8E-47B5-A59F-A3E708D5551C}" destId="{B5976899-2FC4-4A3E-891A-B74C8C23C8B5}" srcOrd="0" destOrd="0" presId="urn:microsoft.com/office/officeart/2005/8/layout/chevron2"/>
    <dgm:cxn modelId="{78437963-1AD6-4AA2-99FF-D3C136E6C1B9}" type="presParOf" srcId="{B5976899-2FC4-4A3E-891A-B74C8C23C8B5}" destId="{416A876F-5FA3-42F9-A923-4E2C334EF9BC}" srcOrd="0" destOrd="0" presId="urn:microsoft.com/office/officeart/2005/8/layout/chevron2"/>
    <dgm:cxn modelId="{E5BB8A76-3CEA-42DE-8EE6-7959F74B0BB9}" type="presParOf" srcId="{B5976899-2FC4-4A3E-891A-B74C8C23C8B5}" destId="{344A86B1-48E8-448F-9C6D-71580BFB5F83}" srcOrd="1" destOrd="0" presId="urn:microsoft.com/office/officeart/2005/8/layout/chevron2"/>
    <dgm:cxn modelId="{1409A561-56BE-41EC-823E-CEEC12A8CF50}" type="presParOf" srcId="{C30EB98C-BF8E-47B5-A59F-A3E708D5551C}" destId="{19B3EDEB-1CF9-4423-9037-F0221A01EBBA}" srcOrd="1" destOrd="0" presId="urn:microsoft.com/office/officeart/2005/8/layout/chevron2"/>
    <dgm:cxn modelId="{69FAE29B-8826-413D-A90D-E3D1914BB7C5}" type="presParOf" srcId="{C30EB98C-BF8E-47B5-A59F-A3E708D5551C}" destId="{5D167E8C-136F-440C-8D10-651E4D964A72}" srcOrd="2" destOrd="0" presId="urn:microsoft.com/office/officeart/2005/8/layout/chevron2"/>
    <dgm:cxn modelId="{26C5ECD3-BE74-4234-955C-82B823BF9F9B}" type="presParOf" srcId="{5D167E8C-136F-440C-8D10-651E4D964A72}" destId="{A651636C-CE47-4575-AA1E-AB00D80E941D}" srcOrd="0" destOrd="0" presId="urn:microsoft.com/office/officeart/2005/8/layout/chevron2"/>
    <dgm:cxn modelId="{BFF53C8A-F466-46C1-9066-7E1EB74CF072}" type="presParOf" srcId="{5D167E8C-136F-440C-8D10-651E4D964A72}" destId="{79B0DE70-0A03-4A6F-B31F-EC81EB5DF7EA}" srcOrd="1" destOrd="0" presId="urn:microsoft.com/office/officeart/2005/8/layout/chevron2"/>
    <dgm:cxn modelId="{530A7BC0-79AB-4546-A568-2187FF19F65D}" type="presParOf" srcId="{C30EB98C-BF8E-47B5-A59F-A3E708D5551C}" destId="{5C2D5B77-4FD3-4BFC-B7C7-B69CFA47B819}" srcOrd="3" destOrd="0" presId="urn:microsoft.com/office/officeart/2005/8/layout/chevron2"/>
    <dgm:cxn modelId="{BE3F6BE8-AEFA-4235-B54E-61907BC9372B}" type="presParOf" srcId="{C30EB98C-BF8E-47B5-A59F-A3E708D5551C}" destId="{FD9C2F86-B450-49A0-8639-065AE676C080}" srcOrd="4" destOrd="0" presId="urn:microsoft.com/office/officeart/2005/8/layout/chevron2"/>
    <dgm:cxn modelId="{2E20AF7C-4B60-47FB-B029-F81F1CE8FCB7}" type="presParOf" srcId="{FD9C2F86-B450-49A0-8639-065AE676C080}" destId="{2AA7B02C-023E-4537-897E-B54A048C8983}" srcOrd="0" destOrd="0" presId="urn:microsoft.com/office/officeart/2005/8/layout/chevron2"/>
    <dgm:cxn modelId="{0573D7AB-2C25-487B-B0E2-947295CA4BF1}" type="presParOf" srcId="{FD9C2F86-B450-49A0-8639-065AE676C080}" destId="{15D3D31F-A831-4E62-ADE9-6ACE81331CDC}" srcOrd="1" destOrd="0" presId="urn:microsoft.com/office/officeart/2005/8/layout/chevron2"/>
    <dgm:cxn modelId="{49FE4450-ED31-4DD4-95F8-F34D880718F4}" type="presParOf" srcId="{C30EB98C-BF8E-47B5-A59F-A3E708D5551C}" destId="{365F76A6-EF4F-41D1-B81D-BC3D7851A081}" srcOrd="5" destOrd="0" presId="urn:microsoft.com/office/officeart/2005/8/layout/chevron2"/>
    <dgm:cxn modelId="{D297B7B3-984B-4BEF-88CF-E8496B62D532}" type="presParOf" srcId="{C30EB98C-BF8E-47B5-A59F-A3E708D5551C}" destId="{4DB00594-09F9-4225-B772-B1D52DAEEAB6}" srcOrd="6" destOrd="0" presId="urn:microsoft.com/office/officeart/2005/8/layout/chevron2"/>
    <dgm:cxn modelId="{58E3F0DF-7BFD-4BEB-873F-CA02319F1E26}" type="presParOf" srcId="{4DB00594-09F9-4225-B772-B1D52DAEEAB6}" destId="{58E45CBE-DE64-4E4E-8AAA-D376465B2BEE}" srcOrd="0" destOrd="0" presId="urn:microsoft.com/office/officeart/2005/8/layout/chevron2"/>
    <dgm:cxn modelId="{C405AC97-4C54-4757-8651-AB11924A4B6F}" type="presParOf" srcId="{4DB00594-09F9-4225-B772-B1D52DAEEAB6}" destId="{C37D6712-7A35-4663-80F7-1B8FC410AF1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0597F3-5A77-42C5-A3BE-2278E7F238BC}" type="doc">
      <dgm:prSet loTypeId="urn:microsoft.com/office/officeart/2005/8/layout/hierarchy2" loCatId="hierarchy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9A3506E-67E5-4F7A-9B7E-1576BEDC34A3}">
      <dgm:prSet phldrT="[Texto]" custT="1"/>
      <dgm:spPr>
        <a:solidFill>
          <a:schemeClr val="tx1"/>
        </a:solidFill>
      </dgm:spPr>
      <dgm:t>
        <a:bodyPr/>
        <a:lstStyle/>
        <a:p>
          <a:r>
            <a:rPr lang="es-CO" sz="2000" b="1" dirty="0">
              <a:latin typeface="+mn-lt"/>
            </a:rPr>
            <a:t>Alternativas en los problemas de decisión lógica</a:t>
          </a:r>
        </a:p>
      </dgm:t>
    </dgm:pt>
    <dgm:pt modelId="{E20479EF-AE87-47E7-95B8-7079AFFBD0FD}" type="parTrans" cxnId="{539F31B7-EA4B-4A96-9594-A01E02E53A02}">
      <dgm:prSet/>
      <dgm:spPr/>
      <dgm:t>
        <a:bodyPr/>
        <a:lstStyle/>
        <a:p>
          <a:endParaRPr lang="es-CO"/>
        </a:p>
      </dgm:t>
    </dgm:pt>
    <dgm:pt modelId="{00FBE2A5-9907-4191-9EDB-ED7525BF77C3}" type="sibTrans" cxnId="{539F31B7-EA4B-4A96-9594-A01E02E53A02}">
      <dgm:prSet/>
      <dgm:spPr/>
      <dgm:t>
        <a:bodyPr/>
        <a:lstStyle/>
        <a:p>
          <a:endParaRPr lang="es-CO"/>
        </a:p>
      </dgm:t>
    </dgm:pt>
    <dgm:pt modelId="{09B6955E-10DC-4968-92CF-E1C9819E5605}">
      <dgm:prSet phldrT="[Texto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s-CO" sz="2000" b="1" dirty="0">
              <a:latin typeface="+mn-lt"/>
            </a:rPr>
            <a:t>Alternativa simple</a:t>
          </a:r>
        </a:p>
      </dgm:t>
    </dgm:pt>
    <dgm:pt modelId="{A22B95DF-9FE8-420F-A458-0ABF9054DDA8}" type="parTrans" cxnId="{7C418AD0-8738-47DB-8D3B-051DD65C20D7}">
      <dgm:prSet/>
      <dgm:spPr>
        <a:ln>
          <a:solidFill>
            <a:schemeClr val="tx1"/>
          </a:solidFill>
        </a:ln>
      </dgm:spPr>
      <dgm:t>
        <a:bodyPr/>
        <a:lstStyle/>
        <a:p>
          <a:endParaRPr lang="es-CO"/>
        </a:p>
      </dgm:t>
    </dgm:pt>
    <dgm:pt modelId="{C73EB503-5E35-420A-9A21-59932CE19BD4}" type="sibTrans" cxnId="{7C418AD0-8738-47DB-8D3B-051DD65C20D7}">
      <dgm:prSet/>
      <dgm:spPr/>
      <dgm:t>
        <a:bodyPr/>
        <a:lstStyle/>
        <a:p>
          <a:endParaRPr lang="es-CO"/>
        </a:p>
      </dgm:t>
    </dgm:pt>
    <dgm:pt modelId="{26B2BE31-97EF-4625-B738-F0B479E24968}">
      <dgm:prSet phldrT="[Texto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s-CO" sz="2000" b="1" dirty="0">
              <a:latin typeface="+mn-lt"/>
            </a:rPr>
            <a:t>Alternativa doble </a:t>
          </a:r>
        </a:p>
      </dgm:t>
    </dgm:pt>
    <dgm:pt modelId="{74C07CD9-03A2-472F-9D10-89398F18C5FF}" type="parTrans" cxnId="{775B1B90-AC05-4952-874D-D84AEBE82C7A}">
      <dgm:prSet/>
      <dgm:spPr>
        <a:ln>
          <a:solidFill>
            <a:schemeClr val="tx1"/>
          </a:solidFill>
        </a:ln>
      </dgm:spPr>
      <dgm:t>
        <a:bodyPr/>
        <a:lstStyle/>
        <a:p>
          <a:endParaRPr lang="es-CO"/>
        </a:p>
      </dgm:t>
    </dgm:pt>
    <dgm:pt modelId="{C86DC288-399D-4E73-8A61-65A8F1A51B41}" type="sibTrans" cxnId="{775B1B90-AC05-4952-874D-D84AEBE82C7A}">
      <dgm:prSet/>
      <dgm:spPr/>
      <dgm:t>
        <a:bodyPr/>
        <a:lstStyle/>
        <a:p>
          <a:endParaRPr lang="es-CO"/>
        </a:p>
      </dgm:t>
    </dgm:pt>
    <dgm:pt modelId="{AC0BF95D-CF9E-4F08-8A00-9697D100E9A3}">
      <dgm:prSet phldrT="[Texto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s-CO" sz="2000" b="1" dirty="0">
              <a:latin typeface="+mn-lt"/>
            </a:rPr>
            <a:t>Alternativa múltiple</a:t>
          </a:r>
        </a:p>
      </dgm:t>
    </dgm:pt>
    <dgm:pt modelId="{26D5F77F-06A6-4CDE-AA21-49C84A02C9CD}" type="parTrans" cxnId="{12FDE830-DBE7-4150-B7E3-1300079CB587}">
      <dgm:prSet/>
      <dgm:spPr>
        <a:ln>
          <a:solidFill>
            <a:schemeClr val="tx1"/>
          </a:solidFill>
        </a:ln>
      </dgm:spPr>
      <dgm:t>
        <a:bodyPr/>
        <a:lstStyle/>
        <a:p>
          <a:endParaRPr lang="es-CO"/>
        </a:p>
      </dgm:t>
    </dgm:pt>
    <dgm:pt modelId="{F696B3B3-1931-4F06-B1CC-B83A675495DA}" type="sibTrans" cxnId="{12FDE830-DBE7-4150-B7E3-1300079CB587}">
      <dgm:prSet/>
      <dgm:spPr/>
      <dgm:t>
        <a:bodyPr/>
        <a:lstStyle/>
        <a:p>
          <a:endParaRPr lang="es-CO"/>
        </a:p>
      </dgm:t>
    </dgm:pt>
    <dgm:pt modelId="{9D9A0CA1-8164-4592-AEA4-35677C424757}" type="pres">
      <dgm:prSet presAssocID="{890597F3-5A77-42C5-A3BE-2278E7F238B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CCC041F-5372-4AC6-B4C5-74789650EAD3}" type="pres">
      <dgm:prSet presAssocID="{59A3506E-67E5-4F7A-9B7E-1576BEDC34A3}" presName="root1" presStyleCnt="0"/>
      <dgm:spPr/>
    </dgm:pt>
    <dgm:pt modelId="{1B46BF3C-CDFA-4359-A082-13BD84A6C0BB}" type="pres">
      <dgm:prSet presAssocID="{59A3506E-67E5-4F7A-9B7E-1576BEDC34A3}" presName="LevelOneTextNode" presStyleLbl="node0" presStyleIdx="0" presStyleCnt="1" custLinFactNeighborX="10461" custLinFactNeighborY="35">
        <dgm:presLayoutVars>
          <dgm:chPref val="3"/>
        </dgm:presLayoutVars>
      </dgm:prSet>
      <dgm:spPr/>
    </dgm:pt>
    <dgm:pt modelId="{B9A1D65E-4165-4AE7-8D64-4D3B729688D5}" type="pres">
      <dgm:prSet presAssocID="{59A3506E-67E5-4F7A-9B7E-1576BEDC34A3}" presName="level2hierChild" presStyleCnt="0"/>
      <dgm:spPr/>
    </dgm:pt>
    <dgm:pt modelId="{BB45BE9A-FF36-43D6-83C3-336A2E12976B}" type="pres">
      <dgm:prSet presAssocID="{A22B95DF-9FE8-420F-A458-0ABF9054DDA8}" presName="conn2-1" presStyleLbl="parChTrans1D2" presStyleIdx="0" presStyleCnt="3"/>
      <dgm:spPr/>
    </dgm:pt>
    <dgm:pt modelId="{FF1FABA0-D36A-4D54-B247-14BE9D94AEF0}" type="pres">
      <dgm:prSet presAssocID="{A22B95DF-9FE8-420F-A458-0ABF9054DDA8}" presName="connTx" presStyleLbl="parChTrans1D2" presStyleIdx="0" presStyleCnt="3"/>
      <dgm:spPr/>
    </dgm:pt>
    <dgm:pt modelId="{34C60CED-D817-49FB-B9BB-9118A6A363A3}" type="pres">
      <dgm:prSet presAssocID="{09B6955E-10DC-4968-92CF-E1C9819E5605}" presName="root2" presStyleCnt="0"/>
      <dgm:spPr/>
    </dgm:pt>
    <dgm:pt modelId="{DA0E9240-41B7-41B5-8F65-67C41791B0D9}" type="pres">
      <dgm:prSet presAssocID="{09B6955E-10DC-4968-92CF-E1C9819E5605}" presName="LevelTwoTextNode" presStyleLbl="node2" presStyleIdx="0" presStyleCnt="3" custScaleY="39270" custLinFactNeighborX="448" custLinFactNeighborY="-71206">
        <dgm:presLayoutVars>
          <dgm:chPref val="3"/>
        </dgm:presLayoutVars>
      </dgm:prSet>
      <dgm:spPr/>
    </dgm:pt>
    <dgm:pt modelId="{6693B9B5-72C6-4946-A026-DFCE5CC564BD}" type="pres">
      <dgm:prSet presAssocID="{09B6955E-10DC-4968-92CF-E1C9819E5605}" presName="level3hierChild" presStyleCnt="0"/>
      <dgm:spPr/>
    </dgm:pt>
    <dgm:pt modelId="{94DAD3F8-2DD3-4D49-BCA3-0AA4CEA5327E}" type="pres">
      <dgm:prSet presAssocID="{74C07CD9-03A2-472F-9D10-89398F18C5FF}" presName="conn2-1" presStyleLbl="parChTrans1D2" presStyleIdx="1" presStyleCnt="3"/>
      <dgm:spPr/>
    </dgm:pt>
    <dgm:pt modelId="{1992A5A9-39A4-43EF-B349-F3C4C172BA3E}" type="pres">
      <dgm:prSet presAssocID="{74C07CD9-03A2-472F-9D10-89398F18C5FF}" presName="connTx" presStyleLbl="parChTrans1D2" presStyleIdx="1" presStyleCnt="3"/>
      <dgm:spPr/>
    </dgm:pt>
    <dgm:pt modelId="{96C74287-B61F-407D-BFD4-4FCEB537C037}" type="pres">
      <dgm:prSet presAssocID="{26B2BE31-97EF-4625-B738-F0B479E24968}" presName="root2" presStyleCnt="0"/>
      <dgm:spPr/>
    </dgm:pt>
    <dgm:pt modelId="{FC825A99-0AF5-4BBD-A87F-DB1EBAD335DC}" type="pres">
      <dgm:prSet presAssocID="{26B2BE31-97EF-4625-B738-F0B479E24968}" presName="LevelTwoTextNode" presStyleLbl="node2" presStyleIdx="1" presStyleCnt="3" custScaleY="36559" custLinFactNeighborX="448" custLinFactNeighborY="-3217">
        <dgm:presLayoutVars>
          <dgm:chPref val="3"/>
        </dgm:presLayoutVars>
      </dgm:prSet>
      <dgm:spPr/>
    </dgm:pt>
    <dgm:pt modelId="{DA4EEE03-96FC-4895-961B-17A48177CF31}" type="pres">
      <dgm:prSet presAssocID="{26B2BE31-97EF-4625-B738-F0B479E24968}" presName="level3hierChild" presStyleCnt="0"/>
      <dgm:spPr/>
    </dgm:pt>
    <dgm:pt modelId="{CDABA905-00CC-4685-8E9D-590A386A3B8E}" type="pres">
      <dgm:prSet presAssocID="{26D5F77F-06A6-4CDE-AA21-49C84A02C9CD}" presName="conn2-1" presStyleLbl="parChTrans1D2" presStyleIdx="2" presStyleCnt="3"/>
      <dgm:spPr/>
    </dgm:pt>
    <dgm:pt modelId="{58636808-5F2B-4961-A006-BFF4D8EA13A6}" type="pres">
      <dgm:prSet presAssocID="{26D5F77F-06A6-4CDE-AA21-49C84A02C9CD}" presName="connTx" presStyleLbl="parChTrans1D2" presStyleIdx="2" presStyleCnt="3"/>
      <dgm:spPr/>
    </dgm:pt>
    <dgm:pt modelId="{EC0EA8B8-0BDD-4B34-AC1D-81C811C46B05}" type="pres">
      <dgm:prSet presAssocID="{AC0BF95D-CF9E-4F08-8A00-9697D100E9A3}" presName="root2" presStyleCnt="0"/>
      <dgm:spPr/>
    </dgm:pt>
    <dgm:pt modelId="{37AA57FA-6512-49C5-850D-0B5DBF1B5B11}" type="pres">
      <dgm:prSet presAssocID="{AC0BF95D-CF9E-4F08-8A00-9697D100E9A3}" presName="LevelTwoTextNode" presStyleLbl="node2" presStyleIdx="2" presStyleCnt="3" custScaleY="35024" custLinFactNeighborX="448" custLinFactNeighborY="62167">
        <dgm:presLayoutVars>
          <dgm:chPref val="3"/>
        </dgm:presLayoutVars>
      </dgm:prSet>
      <dgm:spPr/>
    </dgm:pt>
    <dgm:pt modelId="{E28AE99C-4D94-44FF-BB67-9F9102553C0D}" type="pres">
      <dgm:prSet presAssocID="{AC0BF95D-CF9E-4F08-8A00-9697D100E9A3}" presName="level3hierChild" presStyleCnt="0"/>
      <dgm:spPr/>
    </dgm:pt>
  </dgm:ptLst>
  <dgm:cxnLst>
    <dgm:cxn modelId="{FFB07015-A2EB-425F-8208-601748B08209}" type="presOf" srcId="{AC0BF95D-CF9E-4F08-8A00-9697D100E9A3}" destId="{37AA57FA-6512-49C5-850D-0B5DBF1B5B11}" srcOrd="0" destOrd="0" presId="urn:microsoft.com/office/officeart/2005/8/layout/hierarchy2"/>
    <dgm:cxn modelId="{85353B1F-E4BE-4B32-B2F6-BF8F608460EA}" type="presOf" srcId="{26D5F77F-06A6-4CDE-AA21-49C84A02C9CD}" destId="{CDABA905-00CC-4685-8E9D-590A386A3B8E}" srcOrd="0" destOrd="0" presId="urn:microsoft.com/office/officeart/2005/8/layout/hierarchy2"/>
    <dgm:cxn modelId="{790B8620-088D-42EB-9309-1BB7A5268110}" type="presOf" srcId="{890597F3-5A77-42C5-A3BE-2278E7F238BC}" destId="{9D9A0CA1-8164-4592-AEA4-35677C424757}" srcOrd="0" destOrd="0" presId="urn:microsoft.com/office/officeart/2005/8/layout/hierarchy2"/>
    <dgm:cxn modelId="{12FDE830-DBE7-4150-B7E3-1300079CB587}" srcId="{59A3506E-67E5-4F7A-9B7E-1576BEDC34A3}" destId="{AC0BF95D-CF9E-4F08-8A00-9697D100E9A3}" srcOrd="2" destOrd="0" parTransId="{26D5F77F-06A6-4CDE-AA21-49C84A02C9CD}" sibTransId="{F696B3B3-1931-4F06-B1CC-B83A675495DA}"/>
    <dgm:cxn modelId="{94C6B650-204B-43E1-B5A3-9BBFAC74926E}" type="presOf" srcId="{74C07CD9-03A2-472F-9D10-89398F18C5FF}" destId="{94DAD3F8-2DD3-4D49-BCA3-0AA4CEA5327E}" srcOrd="0" destOrd="0" presId="urn:microsoft.com/office/officeart/2005/8/layout/hierarchy2"/>
    <dgm:cxn modelId="{50966B51-4A03-41DC-8E24-DD10B43EF03C}" type="presOf" srcId="{26B2BE31-97EF-4625-B738-F0B479E24968}" destId="{FC825A99-0AF5-4BBD-A87F-DB1EBAD335DC}" srcOrd="0" destOrd="0" presId="urn:microsoft.com/office/officeart/2005/8/layout/hierarchy2"/>
    <dgm:cxn modelId="{D4899E52-E199-4ACD-8987-1B9E61AA99B8}" type="presOf" srcId="{A22B95DF-9FE8-420F-A458-0ABF9054DDA8}" destId="{BB45BE9A-FF36-43D6-83C3-336A2E12976B}" srcOrd="0" destOrd="0" presId="urn:microsoft.com/office/officeart/2005/8/layout/hierarchy2"/>
    <dgm:cxn modelId="{775B1B90-AC05-4952-874D-D84AEBE82C7A}" srcId="{59A3506E-67E5-4F7A-9B7E-1576BEDC34A3}" destId="{26B2BE31-97EF-4625-B738-F0B479E24968}" srcOrd="1" destOrd="0" parTransId="{74C07CD9-03A2-472F-9D10-89398F18C5FF}" sibTransId="{C86DC288-399D-4E73-8A61-65A8F1A51B41}"/>
    <dgm:cxn modelId="{01EC7294-CEEF-40F6-B633-67C82FEF8FA3}" type="presOf" srcId="{09B6955E-10DC-4968-92CF-E1C9819E5605}" destId="{DA0E9240-41B7-41B5-8F65-67C41791B0D9}" srcOrd="0" destOrd="0" presId="urn:microsoft.com/office/officeart/2005/8/layout/hierarchy2"/>
    <dgm:cxn modelId="{13FDBCAC-7318-474F-B507-7E4CAD879951}" type="presOf" srcId="{26D5F77F-06A6-4CDE-AA21-49C84A02C9CD}" destId="{58636808-5F2B-4961-A006-BFF4D8EA13A6}" srcOrd="1" destOrd="0" presId="urn:microsoft.com/office/officeart/2005/8/layout/hierarchy2"/>
    <dgm:cxn modelId="{539F31B7-EA4B-4A96-9594-A01E02E53A02}" srcId="{890597F3-5A77-42C5-A3BE-2278E7F238BC}" destId="{59A3506E-67E5-4F7A-9B7E-1576BEDC34A3}" srcOrd="0" destOrd="0" parTransId="{E20479EF-AE87-47E7-95B8-7079AFFBD0FD}" sibTransId="{00FBE2A5-9907-4191-9EDB-ED7525BF77C3}"/>
    <dgm:cxn modelId="{E160E5C4-0096-4C7F-BE97-005ED6DD2F13}" type="presOf" srcId="{59A3506E-67E5-4F7A-9B7E-1576BEDC34A3}" destId="{1B46BF3C-CDFA-4359-A082-13BD84A6C0BB}" srcOrd="0" destOrd="0" presId="urn:microsoft.com/office/officeart/2005/8/layout/hierarchy2"/>
    <dgm:cxn modelId="{7C418AD0-8738-47DB-8D3B-051DD65C20D7}" srcId="{59A3506E-67E5-4F7A-9B7E-1576BEDC34A3}" destId="{09B6955E-10DC-4968-92CF-E1C9819E5605}" srcOrd="0" destOrd="0" parTransId="{A22B95DF-9FE8-420F-A458-0ABF9054DDA8}" sibTransId="{C73EB503-5E35-420A-9A21-59932CE19BD4}"/>
    <dgm:cxn modelId="{E4AD93DF-6236-47C2-B398-9A40B78239C5}" type="presOf" srcId="{74C07CD9-03A2-472F-9D10-89398F18C5FF}" destId="{1992A5A9-39A4-43EF-B349-F3C4C172BA3E}" srcOrd="1" destOrd="0" presId="urn:microsoft.com/office/officeart/2005/8/layout/hierarchy2"/>
    <dgm:cxn modelId="{B3E5EDF1-37B8-40A2-AE86-7B7F70CDE7F5}" type="presOf" srcId="{A22B95DF-9FE8-420F-A458-0ABF9054DDA8}" destId="{FF1FABA0-D36A-4D54-B247-14BE9D94AEF0}" srcOrd="1" destOrd="0" presId="urn:microsoft.com/office/officeart/2005/8/layout/hierarchy2"/>
    <dgm:cxn modelId="{EA0EABD9-F3E7-4927-B22F-9E20CABC1353}" type="presParOf" srcId="{9D9A0CA1-8164-4592-AEA4-35677C424757}" destId="{2CCC041F-5372-4AC6-B4C5-74789650EAD3}" srcOrd="0" destOrd="0" presId="urn:microsoft.com/office/officeart/2005/8/layout/hierarchy2"/>
    <dgm:cxn modelId="{B7092B44-C017-4DB1-A5EC-3B2995489154}" type="presParOf" srcId="{2CCC041F-5372-4AC6-B4C5-74789650EAD3}" destId="{1B46BF3C-CDFA-4359-A082-13BD84A6C0BB}" srcOrd="0" destOrd="0" presId="urn:microsoft.com/office/officeart/2005/8/layout/hierarchy2"/>
    <dgm:cxn modelId="{5F3B3F5E-9133-4DE6-824A-A1610140E086}" type="presParOf" srcId="{2CCC041F-5372-4AC6-B4C5-74789650EAD3}" destId="{B9A1D65E-4165-4AE7-8D64-4D3B729688D5}" srcOrd="1" destOrd="0" presId="urn:microsoft.com/office/officeart/2005/8/layout/hierarchy2"/>
    <dgm:cxn modelId="{DF64F500-6617-464C-ADBF-2438D3BF07CF}" type="presParOf" srcId="{B9A1D65E-4165-4AE7-8D64-4D3B729688D5}" destId="{BB45BE9A-FF36-43D6-83C3-336A2E12976B}" srcOrd="0" destOrd="0" presId="urn:microsoft.com/office/officeart/2005/8/layout/hierarchy2"/>
    <dgm:cxn modelId="{C7A68622-CC87-445A-B084-57FDAC9C4668}" type="presParOf" srcId="{BB45BE9A-FF36-43D6-83C3-336A2E12976B}" destId="{FF1FABA0-D36A-4D54-B247-14BE9D94AEF0}" srcOrd="0" destOrd="0" presId="urn:microsoft.com/office/officeart/2005/8/layout/hierarchy2"/>
    <dgm:cxn modelId="{96DA79F2-FBFB-4FDF-88C2-7F7FCB8DBC72}" type="presParOf" srcId="{B9A1D65E-4165-4AE7-8D64-4D3B729688D5}" destId="{34C60CED-D817-49FB-B9BB-9118A6A363A3}" srcOrd="1" destOrd="0" presId="urn:microsoft.com/office/officeart/2005/8/layout/hierarchy2"/>
    <dgm:cxn modelId="{C7153360-373F-479F-9733-C14F874D6753}" type="presParOf" srcId="{34C60CED-D817-49FB-B9BB-9118A6A363A3}" destId="{DA0E9240-41B7-41B5-8F65-67C41791B0D9}" srcOrd="0" destOrd="0" presId="urn:microsoft.com/office/officeart/2005/8/layout/hierarchy2"/>
    <dgm:cxn modelId="{1AC1E39B-E666-46C5-BBDB-1BFA6AA98FCA}" type="presParOf" srcId="{34C60CED-D817-49FB-B9BB-9118A6A363A3}" destId="{6693B9B5-72C6-4946-A026-DFCE5CC564BD}" srcOrd="1" destOrd="0" presId="urn:microsoft.com/office/officeart/2005/8/layout/hierarchy2"/>
    <dgm:cxn modelId="{BD9A2782-44A7-4D10-89E2-6C85E5C06753}" type="presParOf" srcId="{B9A1D65E-4165-4AE7-8D64-4D3B729688D5}" destId="{94DAD3F8-2DD3-4D49-BCA3-0AA4CEA5327E}" srcOrd="2" destOrd="0" presId="urn:microsoft.com/office/officeart/2005/8/layout/hierarchy2"/>
    <dgm:cxn modelId="{19307C81-BE97-438B-9CBC-629DE5FEA912}" type="presParOf" srcId="{94DAD3F8-2DD3-4D49-BCA3-0AA4CEA5327E}" destId="{1992A5A9-39A4-43EF-B349-F3C4C172BA3E}" srcOrd="0" destOrd="0" presId="urn:microsoft.com/office/officeart/2005/8/layout/hierarchy2"/>
    <dgm:cxn modelId="{FA6A260E-BACB-4037-BEC7-FC28C486B655}" type="presParOf" srcId="{B9A1D65E-4165-4AE7-8D64-4D3B729688D5}" destId="{96C74287-B61F-407D-BFD4-4FCEB537C037}" srcOrd="3" destOrd="0" presId="urn:microsoft.com/office/officeart/2005/8/layout/hierarchy2"/>
    <dgm:cxn modelId="{F549FC22-1462-4B16-A05C-40A58B0F5542}" type="presParOf" srcId="{96C74287-B61F-407D-BFD4-4FCEB537C037}" destId="{FC825A99-0AF5-4BBD-A87F-DB1EBAD335DC}" srcOrd="0" destOrd="0" presId="urn:microsoft.com/office/officeart/2005/8/layout/hierarchy2"/>
    <dgm:cxn modelId="{D176BA43-AE67-4679-9654-5A7DA6CF6ABF}" type="presParOf" srcId="{96C74287-B61F-407D-BFD4-4FCEB537C037}" destId="{DA4EEE03-96FC-4895-961B-17A48177CF31}" srcOrd="1" destOrd="0" presId="urn:microsoft.com/office/officeart/2005/8/layout/hierarchy2"/>
    <dgm:cxn modelId="{9C570201-3161-47EB-8833-9912B39D4217}" type="presParOf" srcId="{B9A1D65E-4165-4AE7-8D64-4D3B729688D5}" destId="{CDABA905-00CC-4685-8E9D-590A386A3B8E}" srcOrd="4" destOrd="0" presId="urn:microsoft.com/office/officeart/2005/8/layout/hierarchy2"/>
    <dgm:cxn modelId="{2F8A09A8-7110-45C5-AB57-1A25DB2FCAA3}" type="presParOf" srcId="{CDABA905-00CC-4685-8E9D-590A386A3B8E}" destId="{58636808-5F2B-4961-A006-BFF4D8EA13A6}" srcOrd="0" destOrd="0" presId="urn:microsoft.com/office/officeart/2005/8/layout/hierarchy2"/>
    <dgm:cxn modelId="{78B88CD1-26BB-4F80-9760-9610949EA321}" type="presParOf" srcId="{B9A1D65E-4165-4AE7-8D64-4D3B729688D5}" destId="{EC0EA8B8-0BDD-4B34-AC1D-81C811C46B05}" srcOrd="5" destOrd="0" presId="urn:microsoft.com/office/officeart/2005/8/layout/hierarchy2"/>
    <dgm:cxn modelId="{ECF7E878-DBEE-4EF1-A933-0F8C0281BF82}" type="presParOf" srcId="{EC0EA8B8-0BDD-4B34-AC1D-81C811C46B05}" destId="{37AA57FA-6512-49C5-850D-0B5DBF1B5B11}" srcOrd="0" destOrd="0" presId="urn:microsoft.com/office/officeart/2005/8/layout/hierarchy2"/>
    <dgm:cxn modelId="{5D91536F-8CDB-4908-8028-139199733CEF}" type="presParOf" srcId="{EC0EA8B8-0BDD-4B34-AC1D-81C811C46B05}" destId="{E28AE99C-4D94-44FF-BB67-9F9102553C0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6A876F-5FA3-42F9-A923-4E2C334EF9BC}">
      <dsp:nvSpPr>
        <dsp:cNvPr id="0" name=""/>
        <dsp:cNvSpPr/>
      </dsp:nvSpPr>
      <dsp:spPr>
        <a:xfrm rot="5400000">
          <a:off x="-106543" y="109307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>
              <a:latin typeface="Century Gothic" panose="020B0502020202020204" pitchFamily="34" charset="0"/>
            </a:rPr>
            <a:t>1</a:t>
          </a:r>
          <a:endParaRPr lang="es-CO" sz="1200" kern="1200" dirty="0">
            <a:latin typeface="Century Gothic" panose="020B0502020202020204" pitchFamily="34" charset="0"/>
          </a:endParaRPr>
        </a:p>
      </dsp:txBody>
      <dsp:txXfrm rot="-5400000">
        <a:off x="0" y="251365"/>
        <a:ext cx="497202" cy="213086"/>
      </dsp:txXfrm>
    </dsp:sp>
    <dsp:sp modelId="{344A86B1-48E8-448F-9C6D-71580BFB5F83}">
      <dsp:nvSpPr>
        <dsp:cNvPr id="0" name=""/>
        <dsp:cNvSpPr/>
      </dsp:nvSpPr>
      <dsp:spPr>
        <a:xfrm rot="5400000">
          <a:off x="2825947" y="-2325981"/>
          <a:ext cx="461930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Entender el problema</a:t>
          </a:r>
        </a:p>
      </dsp:txBody>
      <dsp:txXfrm rot="-5400000">
        <a:off x="497202" y="25314"/>
        <a:ext cx="5096871" cy="416830"/>
      </dsp:txXfrm>
    </dsp:sp>
    <dsp:sp modelId="{A651636C-CE47-4575-AA1E-AB00D80E941D}">
      <dsp:nvSpPr>
        <dsp:cNvPr id="0" name=""/>
        <dsp:cNvSpPr/>
      </dsp:nvSpPr>
      <dsp:spPr>
        <a:xfrm rot="5400000">
          <a:off x="-106543" y="658631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252426"/>
                <a:satOff val="3301"/>
                <a:lumOff val="-40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52426"/>
                <a:satOff val="3301"/>
                <a:lumOff val="-40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52426"/>
                <a:satOff val="3301"/>
                <a:lumOff val="-40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252426"/>
              <a:satOff val="3301"/>
              <a:lumOff val="-40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latin typeface="Century Gothic" panose="020B0502020202020204" pitchFamily="34" charset="0"/>
            </a:rPr>
            <a:t>2</a:t>
          </a:r>
          <a:endParaRPr lang="es-CO" sz="2400" kern="1200" dirty="0">
            <a:latin typeface="Century Gothic" panose="020B0502020202020204" pitchFamily="34" charset="0"/>
          </a:endParaRPr>
        </a:p>
      </dsp:txBody>
      <dsp:txXfrm rot="-5400000">
        <a:off x="0" y="800689"/>
        <a:ext cx="497202" cy="213086"/>
      </dsp:txXfrm>
    </dsp:sp>
    <dsp:sp modelId="{79B0DE70-0A03-4A6F-B31F-EC81EB5DF7EA}">
      <dsp:nvSpPr>
        <dsp:cNvPr id="0" name=""/>
        <dsp:cNvSpPr/>
      </dsp:nvSpPr>
      <dsp:spPr>
        <a:xfrm rot="5400000">
          <a:off x="2826069" y="-1776779"/>
          <a:ext cx="461687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252426"/>
              <a:satOff val="3301"/>
              <a:lumOff val="-40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Diseñar un plan</a:t>
          </a:r>
        </a:p>
      </dsp:txBody>
      <dsp:txXfrm rot="-5400000">
        <a:off x="497202" y="574626"/>
        <a:ext cx="5096883" cy="416611"/>
      </dsp:txXfrm>
    </dsp:sp>
    <dsp:sp modelId="{2AA7B02C-023E-4537-897E-B54A048C8983}">
      <dsp:nvSpPr>
        <dsp:cNvPr id="0" name=""/>
        <dsp:cNvSpPr/>
      </dsp:nvSpPr>
      <dsp:spPr>
        <a:xfrm rot="5400000">
          <a:off x="-106543" y="1207954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504853"/>
                <a:satOff val="6602"/>
                <a:lumOff val="-81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04853"/>
                <a:satOff val="6602"/>
                <a:lumOff val="-81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04853"/>
                <a:satOff val="6602"/>
                <a:lumOff val="-81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504853"/>
              <a:satOff val="6602"/>
              <a:lumOff val="-81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3</a:t>
          </a:r>
        </a:p>
      </dsp:txBody>
      <dsp:txXfrm rot="-5400000">
        <a:off x="0" y="1350012"/>
        <a:ext cx="497202" cy="213086"/>
      </dsp:txXfrm>
    </dsp:sp>
    <dsp:sp modelId="{15D3D31F-A831-4E62-ADE9-6ACE81331CDC}">
      <dsp:nvSpPr>
        <dsp:cNvPr id="0" name=""/>
        <dsp:cNvSpPr/>
      </dsp:nvSpPr>
      <dsp:spPr>
        <a:xfrm rot="5400000">
          <a:off x="2826069" y="-1227455"/>
          <a:ext cx="461687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504853"/>
              <a:satOff val="6602"/>
              <a:lumOff val="-81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Implementar el plan</a:t>
          </a:r>
        </a:p>
      </dsp:txBody>
      <dsp:txXfrm rot="-5400000">
        <a:off x="497202" y="1123950"/>
        <a:ext cx="5096883" cy="416611"/>
      </dsp:txXfrm>
    </dsp:sp>
    <dsp:sp modelId="{58E45CBE-DE64-4E4E-8AAA-D376465B2BEE}">
      <dsp:nvSpPr>
        <dsp:cNvPr id="0" name=""/>
        <dsp:cNvSpPr/>
      </dsp:nvSpPr>
      <dsp:spPr>
        <a:xfrm rot="5400000">
          <a:off x="-106543" y="1757278"/>
          <a:ext cx="710288" cy="497202"/>
        </a:xfrm>
        <a:prstGeom prst="chevron">
          <a:avLst/>
        </a:prstGeom>
        <a:gradFill rotWithShape="0">
          <a:gsLst>
            <a:gs pos="0">
              <a:schemeClr val="accent3">
                <a:hueOff val="757279"/>
                <a:satOff val="9903"/>
                <a:lumOff val="-1215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757279"/>
                <a:satOff val="9903"/>
                <a:lumOff val="-1215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757279"/>
                <a:satOff val="9903"/>
                <a:lumOff val="-1215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757279"/>
              <a:satOff val="9903"/>
              <a:lumOff val="-121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dirty="0">
              <a:latin typeface="Century Gothic" panose="020B0502020202020204" pitchFamily="34" charset="0"/>
            </a:rPr>
            <a:t>4</a:t>
          </a:r>
        </a:p>
      </dsp:txBody>
      <dsp:txXfrm rot="-5400000">
        <a:off x="0" y="1899336"/>
        <a:ext cx="497202" cy="213086"/>
      </dsp:txXfrm>
    </dsp:sp>
    <dsp:sp modelId="{C37D6712-7A35-4663-80F7-1B8FC410AF19}">
      <dsp:nvSpPr>
        <dsp:cNvPr id="0" name=""/>
        <dsp:cNvSpPr/>
      </dsp:nvSpPr>
      <dsp:spPr>
        <a:xfrm rot="5400000">
          <a:off x="2826069" y="-678132"/>
          <a:ext cx="461687" cy="5119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757279"/>
              <a:satOff val="9903"/>
              <a:lumOff val="-121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O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 pitchFamily="34" charset="0"/>
              <a:ea typeface="+mn-ea"/>
              <a:cs typeface="+mn-cs"/>
            </a:rPr>
            <a:t>Revisar el plan</a:t>
          </a:r>
        </a:p>
      </dsp:txBody>
      <dsp:txXfrm rot="-5400000">
        <a:off x="497202" y="1673273"/>
        <a:ext cx="5096883" cy="4166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46BF3C-CDFA-4359-A082-13BD84A6C0BB}">
      <dsp:nvSpPr>
        <dsp:cNvPr id="0" name=""/>
        <dsp:cNvSpPr/>
      </dsp:nvSpPr>
      <dsp:spPr>
        <a:xfrm>
          <a:off x="265709" y="1397444"/>
          <a:ext cx="2539999" cy="1269999"/>
        </a:xfrm>
        <a:prstGeom prst="roundRect">
          <a:avLst>
            <a:gd name="adj" fmla="val 1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dirty="0">
              <a:latin typeface="+mn-lt"/>
            </a:rPr>
            <a:t>Alternativas en los problemas de decisión lógica</a:t>
          </a:r>
        </a:p>
      </dsp:txBody>
      <dsp:txXfrm>
        <a:off x="302906" y="1434641"/>
        <a:ext cx="2465605" cy="1195605"/>
      </dsp:txXfrm>
    </dsp:sp>
    <dsp:sp modelId="{BB45BE9A-FF36-43D6-83C3-336A2E12976B}">
      <dsp:nvSpPr>
        <dsp:cNvPr id="0" name=""/>
        <dsp:cNvSpPr/>
      </dsp:nvSpPr>
      <dsp:spPr>
        <a:xfrm rot="17749945">
          <a:off x="2319916" y="1229413"/>
          <a:ext cx="1721875" cy="56250"/>
        </a:xfrm>
        <a:custGeom>
          <a:avLst/>
          <a:gdLst/>
          <a:ahLst/>
          <a:cxnLst/>
          <a:rect l="0" t="0" r="0" b="0"/>
          <a:pathLst>
            <a:path>
              <a:moveTo>
                <a:pt x="0" y="28125"/>
              </a:moveTo>
              <a:lnTo>
                <a:pt x="1721875" y="28125"/>
              </a:lnTo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600" kern="1200"/>
        </a:p>
      </dsp:txBody>
      <dsp:txXfrm>
        <a:off x="3137807" y="1214491"/>
        <a:ext cx="86093" cy="86093"/>
      </dsp:txXfrm>
    </dsp:sp>
    <dsp:sp modelId="{DA0E9240-41B7-41B5-8F65-67C41791B0D9}">
      <dsp:nvSpPr>
        <dsp:cNvPr id="0" name=""/>
        <dsp:cNvSpPr/>
      </dsp:nvSpPr>
      <dsp:spPr>
        <a:xfrm>
          <a:off x="3556000" y="233267"/>
          <a:ext cx="2539999" cy="498729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dirty="0">
              <a:latin typeface="+mn-lt"/>
            </a:rPr>
            <a:t>Alternativa simple</a:t>
          </a:r>
        </a:p>
      </dsp:txBody>
      <dsp:txXfrm>
        <a:off x="3570607" y="247874"/>
        <a:ext cx="2510785" cy="469515"/>
      </dsp:txXfrm>
    </dsp:sp>
    <dsp:sp modelId="{94DAD3F8-2DD3-4D49-BCA3-0AA4CEA5327E}">
      <dsp:nvSpPr>
        <dsp:cNvPr id="0" name=""/>
        <dsp:cNvSpPr/>
      </dsp:nvSpPr>
      <dsp:spPr>
        <a:xfrm rot="21534312">
          <a:off x="2805640" y="1997150"/>
          <a:ext cx="750427" cy="56250"/>
        </a:xfrm>
        <a:custGeom>
          <a:avLst/>
          <a:gdLst/>
          <a:ahLst/>
          <a:cxnLst/>
          <a:rect l="0" t="0" r="0" b="0"/>
          <a:pathLst>
            <a:path>
              <a:moveTo>
                <a:pt x="0" y="28125"/>
              </a:moveTo>
              <a:lnTo>
                <a:pt x="750427" y="28125"/>
              </a:lnTo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/>
        </a:p>
      </dsp:txBody>
      <dsp:txXfrm>
        <a:off x="3162094" y="2006514"/>
        <a:ext cx="37521" cy="37521"/>
      </dsp:txXfrm>
    </dsp:sp>
    <dsp:sp modelId="{FC825A99-0AF5-4BBD-A87F-DB1EBAD335DC}">
      <dsp:nvSpPr>
        <dsp:cNvPr id="0" name=""/>
        <dsp:cNvSpPr/>
      </dsp:nvSpPr>
      <dsp:spPr>
        <a:xfrm>
          <a:off x="3556000" y="1785956"/>
          <a:ext cx="2539999" cy="464299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dirty="0">
              <a:latin typeface="+mn-lt"/>
            </a:rPr>
            <a:t>Alternativa doble </a:t>
          </a:r>
        </a:p>
      </dsp:txBody>
      <dsp:txXfrm>
        <a:off x="3569599" y="1799555"/>
        <a:ext cx="2512801" cy="437101"/>
      </dsp:txXfrm>
    </dsp:sp>
    <dsp:sp modelId="{CDABA905-00CC-4685-8E9D-590A386A3B8E}">
      <dsp:nvSpPr>
        <dsp:cNvPr id="0" name=""/>
        <dsp:cNvSpPr/>
      </dsp:nvSpPr>
      <dsp:spPr>
        <a:xfrm rot="3769132">
          <a:off x="2359617" y="2734864"/>
          <a:ext cx="1642474" cy="56250"/>
        </a:xfrm>
        <a:custGeom>
          <a:avLst/>
          <a:gdLst/>
          <a:ahLst/>
          <a:cxnLst/>
          <a:rect l="0" t="0" r="0" b="0"/>
          <a:pathLst>
            <a:path>
              <a:moveTo>
                <a:pt x="0" y="28125"/>
              </a:moveTo>
              <a:lnTo>
                <a:pt x="1642474" y="28125"/>
              </a:lnTo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/>
        </a:p>
      </dsp:txBody>
      <dsp:txXfrm>
        <a:off x="3139792" y="2721927"/>
        <a:ext cx="82123" cy="82123"/>
      </dsp:txXfrm>
    </dsp:sp>
    <dsp:sp modelId="{37AA57FA-6512-49C5-850D-0B5DBF1B5B11}">
      <dsp:nvSpPr>
        <dsp:cNvPr id="0" name=""/>
        <dsp:cNvSpPr/>
      </dsp:nvSpPr>
      <dsp:spPr>
        <a:xfrm>
          <a:off x="3556000" y="3271132"/>
          <a:ext cx="2539999" cy="444804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dirty="0">
              <a:latin typeface="+mn-lt"/>
            </a:rPr>
            <a:t>Alternativa múltiple</a:t>
          </a:r>
        </a:p>
      </dsp:txBody>
      <dsp:txXfrm>
        <a:off x="3569028" y="3284160"/>
        <a:ext cx="2513943" cy="4187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43A3E-55B9-4706-BA6E-9364B5247742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8B099-0CC4-41E8-A6BF-D10E445BFF7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5684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E389-1891-4C1C-AE7B-96446A92669F}" type="datetime1">
              <a:rPr lang="es-CO" smtClean="0"/>
              <a:t>4/10/2026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6620888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7211-2E02-4E34-9D1C-742DBBA2E713}" type="datetime1">
              <a:rPr lang="es-CO" smtClean="0"/>
              <a:t>4/10/2026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1991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16AA-8F92-4F8D-9FF5-AE4F5F025475}" type="datetime1">
              <a:rPr lang="es-CO" smtClean="0"/>
              <a:t>4/10/2026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2149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2889A-C4A3-4C6C-A514-E9566A95FF0B}" type="datetime1">
              <a:rPr lang="es-CO" smtClean="0"/>
              <a:t>4/10/2026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131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49B8-F78E-4015-8DD3-99AC842EEF5C}" type="datetime1">
              <a:rPr lang="es-CO" smtClean="0"/>
              <a:t>4/10/2026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385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AE389-1891-4C1C-AE7B-96446A92669F}" type="datetime1">
              <a:rPr lang="es-CO" smtClean="0"/>
              <a:t>4/10/2026</a:t>
            </a:fld>
            <a:endParaRPr lang="es-C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8510513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5FDE-4F9B-4FF4-9D4F-6D3ED15F62CE}" type="datetime1">
              <a:rPr lang="es-CO" smtClean="0"/>
              <a:t>4/10/2026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683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392FA-6414-43D4-857F-1D16849F2AFB}" type="datetime1">
              <a:rPr lang="es-CO" smtClean="0"/>
              <a:t>4/10/2026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845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ADB1-43E6-4CC5-8BA6-A3F5A7E6EF55}" type="datetime1">
              <a:rPr lang="es-CO" smtClean="0"/>
              <a:t>4/10/2026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063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921E5-6957-4C84-BD80-156D13F58C59}" type="datetime1">
              <a:rPr lang="es-CO" smtClean="0"/>
              <a:t>4/10/2026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121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B61D7-E979-4A0B-B106-A9203ABD6AA5}" type="datetime1">
              <a:rPr lang="es-CO" smtClean="0"/>
              <a:t>4/10/2026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2539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7211-2E02-4E34-9D1C-742DBBA2E713}" type="datetime1">
              <a:rPr lang="es-CO" smtClean="0"/>
              <a:t>4/10/2026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F11D6-2A43-477C-ACA3-F1025A79500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6410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AE389-1891-4C1C-AE7B-96446A92669F}" type="datetime1">
              <a:rPr lang="es-CO" smtClean="0"/>
              <a:t>4/10/2026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F11D6-2A43-477C-ACA3-F1025A79500F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4347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65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kecode.microbit.org/courses/csintro/conditionals/overview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8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hontutor.com/visualize.html#code=%23%20Entrada%20de%20datos%0Ac%20%3D%20float%28input%28%22Ingrese%20los%20%C2%B0C%3A%20%22%29%29%0A%0A%23%20Conversion%20%C2%B0C%20a%20%C2%B0F%0Af%20%3D%20%289.0/5%29*c%20%2B%2032%0A%0A%23%20Salida%0Aprint%28c,%22%C2%B0C%20%3D%22,f,%22%C2%B0F%22%29%0A&amp;curInstr=0&amp;mode=display&amp;origin=opt-frontend.js&amp;py=311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tutor.com/visualize.html#code=%23%20Constantes%0API%20%3D%203.1416%0A%0A%23%20Definicion%20de%20la%20funcion%0Adef%20calcular_area_circulo%28radio%29%3A%0A%20%20%20%20return%20PI%20*%20radio%20**%202%0A%20%20%20%20%0A%23%20Invocacion%0Aarea%20%3D%20calcular_area_circulo%285%29%0A%23%20Salida%20en%20pantalla%0Aprint%28f%22%7Barea%3A.2f%7D%22%29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tutor.com/visualize.html#code=PI%20%3D%203.1416%0A%0A%0Adef%20celsius_to_fahrenheit%28c%29%3A%0A%20%20%20%20return%20%289%20/%205%29%20*%20c%20%2B%2032%0A%0A%0Adef%20fahrenheit_to_celsius%28f%29%3A%0A%20%20%20%20return%20%28f%20-%2032%29%20*%205%20/%209%0A%0A%0Adef%20calcular_area_circulo%28radio%29%3A%0A%20%20%20%20return%20PI%20*%20radio%20**%202%0A%0A%0Adef%20calcular_area_rectangulo%28base,%20altura%29%3A%0A%20%20%20%20return%20base%20*%20altura%0A%0A%0Adef%20mostrar_menu%28%29%3A%0A%20%20%20%20print%28%22---%20%C3%81reas%20de%20figuras%20---%22%29%0A%0A%0Adef%20mostrar_area%28figura,%20area%29%3A%0A%20%20%20%20print%28f%22%C3%81rea%20del%20%7Bfigura%7D%3A%20%7Barea%3A.2f%7D%22%29%0A%0A%0A%23%20Invocaciones%0Amostrar_menu%28%29%20%20%20%20%20%20%20%20%20%20%20%20%20%20%20%20%20%20%20%20%20%20%20%20%20%20%20%20%20%20%20%20%20%20%20%20%20%20%20%20%20%20%20%20%20%20%20%23%201.%20sin%20argumentos,%20sin%20guardar%20nada%0A%0Atemp_f%20%3D%20celsius_to_fahrenheit%2825%29%20%20%20%20%20%20%20%20%20%20%20%20%20%20%20%20%20%20%20%20%20%20%20%20%20%20%20%23%202.%20se%20guarda%20el%20retorno%20%2877.0%29%0Aprint%28celsius_to_fahrenheit%28100%29%29%20%20%20%20%20%20%20%20%20%20%20%20%20%20%20%20%20%20%20%20%20%20%20%20%20%20%20%20%23%203.%20se%20usa%20directamente%20en%20print%20%28212.0%29%0Atemp_c%20%3D%20fahrenheit_to_celsius%28temp_f%29%20%20%20%20%20%20%20%20%20%20%20%20%20%20%20%20%20%20%20%20%20%20%20%23%204.%20el%20argumento%20es%20una%20variable%20%2825.0%29%0A%0Aarea%20%3D%20calcular_area_circulo%285%29%20%20%20%20%20%20%20%20%20%20%20%20%20%20%20%20%20%20%20%20%20%20%20%20%20%20%20%20%20%20%23%205.%20un%20argumento%20%2878.54%29%0Amostrar_area%28%22c%C3%ADrculo%22,%20area%29%20%20%20%20%20%20%20%20%20%20%20%20%20%20%20%20%20%20%20%20%20%20%20%20%20%20%20%20%20%20%20%20%23%206.%20dos%20argumentos,%20sin%20guardar%20nada%0Amostrar_area%28%22rect%C3%A1ngulo%22,%20calcular_area_rectangulo%284,%203%29%29%20%20%20%23%207.%20una%20llamada%20dentro%20de%20otra%0A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tutor.com/visualize.html#code=def%20calcular_area_rectangulo%28base,%20altura%29%3A%0A%20%20%20%20return%20base%20*%20altura%0A%0A%23%20Pruebas%20unitarias%0A%0A%23%20Sin%20mensaje%0Aassert%20calcular_area_rectangulo%284,%203%29%20%3D%3D%2012%0A%0A%23%20Con%20mensaje%0Aassert%20calcular_area_rectangulo%284,%203%29%20%3D%3D%2012,%20%22El%20%C3%A1rea%20de%204%20x%203%20debe%20ser%2012%22%0A%0A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tutor.com/visualize.html#code=def%20calcular_area_rectangulo%28base,%20altura%29%3A%0A%20%20%20%20return%20base%20*%20altura%0A%0A%23%20Pruebas%20unitarias%0A%0A%23%20Casos%20t%C3%ADpicos%0Aassert%20calcular_area_rectangulo%284,%203%29%20%3D%3D%2012%0Aassert%20calcular_area_rectangulo%282.5,%204%29%20%3D%3D%2010.0%0A%0A%23%20Casos%20l%C3%ADmite%0Aassert%20calcular_area_rectangulo%280,%205%29%20%3D%3D%200%0Aassert%20calcular_area_rectangulo%281,%201%29%20%3D%3D%201%0A%0A%23%20Caso%20especial%0Aassert%20calcular_area_rectangulo%28-4,%203%29%20%3D%3D%20-12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tutor.com/visualize.html#code=def%20calcular_area_rectangulo%28base,%20altura%29%3A%0A%20%20%20%20return%20base%20*%20altura%0A%0A%23%20Pruebas%20unitarias%0A%0A%23%20Tip%204%3A%20con%20par%C3%A9ntesis%20nunca%20falla%0Aassert%20%28calcular_area_rectangulo%284,%203%29%20%3D%3D%2013,%20%22mensaje%22%29%20%20%20%23%20no%20falla%0A%0A%23%20Sin%20par%C3%A9ntesis,%20s%C3%AD%20falla%0Aassert%20calcular_area_rectangulo%284,%203%29%20%3D%3D%2013,%20%22mensaje%22%20%20%20%20%20%23%20AssertionError&amp;curInstr=9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tutor.com/visualize.html#code=def%20calcular_area_rectangulo%28base,%20altura%29%3A%0A%20%20%20%20area%20%3D%20base%20%2B%20altura%0A%20%20%20%20return%20area%0A%0A%0Aassert%20calcular_area_rectangulo%282,%202%29%20%3D%3D%204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tutor.com/visualize.html#code=def%20calcular_area_rectangulo%28base,%20altura%29%3A%0A%20%20%20%20area%20%3D%20base%20%2B%20altura%0A%20%20%20%20return%20area%0A%0A%0Aassert%20calcular_area_rectangulo%282,%202%29%20%3D%3D%204%0Aassert%20calcular_area_rectangulo%284,%203%29%20%3D%3D%2012,%20%22El%20%C3%A1rea%20de%204%20x%203%20debe%20ser%2012%22&amp;curInstr=11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hontutor.com/visualize.html#code=%23%20Funcion%20%28Modulo%29%0Adef%20celcius_to_fahrenheit%28c%29%3A%0A%20%20%20%20f%20%3D%20%289.0/5%29*c%20%2B%2032%0A%20%20%20%20return%20f%0A%0A%23%20Entrada%20de%20datos%0Atemp_c%20%3D%20float%28input%28%22Ingrese%20los%20%C2%B0C%3A%20%22%29%29%0A%0A%23%20Invocacion%20de%20la%20funcion%0Atemp_f%20%3D%20celcius_to_fahrenheit%28temp_c%29%0A%0A%23%20Despliegue%20de%20resultados%0Aprint%28temp_c,%22%C2%B0C%20%3D%22,%20temp_f,%22%C2%B0F%22%29%0A&amp;curInstr=0&amp;mode=display&amp;origin=opt-frontend.js&amp;py=311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%23%20Alta%20cohesi%C3%B3n%3A%20una%20tarea%20por%20funci%C3%B3n%0Adef%20leer_nota%28mensaje%29%3A%0A%20%20%20%20return%20float%28input%28mensaje%29%29%0A%0A%0Adef%20calcular_promedio%28a,%20b%29%3A%0A%20%20%20%20return%20%28a%20%2B%20b%29%20/%202%0A%0A%0A%23%20Programa%20principal%0Anota1%20%3D%20leer_nota%28%22Nota%201%3A%20%22%29%0Anota2%20%3D%20leer_nota%28%22Nota%202%3A%20%22%29%0Aprint%28calcular_promedio%28nota1,%20nota2%29%29%0A%0A&amp;curInstr=0&amp;mode=display&amp;origin=opt-frontend.js&amp;py=311" TargetMode="External"/><Relationship Id="rId2" Type="http://schemas.openxmlformats.org/officeDocument/2006/relationships/hyperlink" Target="https://pythontutor.com/visualize.html#code=%23%20Baja%20cohesi%C3%B3n%3A%20lee,%20calcula%20y%20muestra%0Adef%20promedio_de_notas%28%29%3A%0A%20%20%20%20a%20%3D%20float%28input%28%22Nota%201%3A%20%22%29%29%0A%20%20%20%20b%20%3D%20float%28input%28%22Nota%202%3A%20%22%29%29%0A%20%20%20%20print%28%28a%20%2B%20b%29%20/%202%29%0A%0A%0A%23%20Programa%20principal%0Apromedio_de_notas%28%29%0A%0A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visualize.html#code=%23%20Funcion%20%28Modulo%29%0Adef%20celcius_to_fahrenheit%28c%29%3A%0A%20%20%20%20f%20%3D%20%289.0/5%29*c%20%2B%2032%0A%20%20%20%20return%20f%0A%0A%23%20Entrada%20de%20datos%0Atemp_c%20%3D%20float%28input%28%22Ingrese%20los%20%C2%B0C%3A%20%22%29%29%0A%0A%23%20Invocacion%20de%20la%20funcion%0Atemp_f%20%3D%20celcius_to_fahrenheit%28temp_c%29%0A%0A%23%20Despliegue%20de%20resultados%0Aprint%28temp_c,%22%C2%B0C%20%3D%22,%20temp_f,%22%C2%B0F%22%29%0A&amp;curInstr=0&amp;mode=display&amp;origin=opt-frontend.js&amp;py=311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hyperlink" Target="https://pythontutor.com/visualize.html#code=%23%20Entrada%20de%20datos%0Ac%20%3D%20float%28input%28%22Ingrese%20los%20%C2%B0C%3A%20%22%29%29%0A%0A%23%20Conversion%20%C2%B0C%20a%20%C2%B0F%0Af%20%3D%20%289.0/5%29*c%20%2B%2032%0A%0A%23%20Salida%0Aprint%28c,%22%C2%B0C%20%3D%22,f,%22%C2%B0F%22%29%0A&amp;curInstr=0&amp;mode=display&amp;origin=opt-frontend.js&amp;py=311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pythontutor.com/visualize.html#code=%23%20---------%20Constantes%20----------%0API%20%3D%203.1416%0A%0A%23%20----------%20Funciones%20----------%0Adef%20mostrar_menu%28%29%3A%0A%20%20%20%20print%28%22%5Cn---%20%C3%81reas%20de%20figuras%20---%22%29%0A%20%20%20%20print%28%221.%20C%C3%ADrculo%22%29%0A%20%20%20%20print%28%222.%20Rect%C3%A1ngulo%22%29%0A%20%20%20%20print%28%223.%20Tri%C3%A1ngulo%22%29%0A%20%20%20%20print%28%224.%20Salir%22%29%0A%0Adef%20leer_opcion%28%29%3A%0A%20%20%20%20opcion%20%3D%20input%28%22Opci%C3%B3n%3A%20%22%29%0A%20%20%20%20return%20opcion%0A%0Adef%20calcular_area_circulo%28radio%29%3A%0A%20%20%20%20area%20%3D%20PI%20*%20radio%20**%202%0A%20%20%20%20return%20area%0A%0Adef%20calcular_area_rectangulo%28base,%20altura%29%3A%0A%20%20%20%20area%20%3D%20base%20*%20altura%0A%20%20%20%20return%20area%0A%0Adef%20calcular_area_triangulo%28base,%20altura%29%3A%0A%20%20%20%20area%20%3D%20base%20*%20altura%20/%202%0A%20%20%20%20return%20area%0A%0Adef%20mostrar_area%28figura,%20area%29%3A%0A%20%20%20%20print%28f%22%C3%81rea%20del%20%7Bfigura%7D%3A%20%7Barea%3A.2f%7D%22%29%0A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pythontutor.com/visualize.html#code=%23%20---------%20Constantes%20----------%0API%20%3D%203.1416%0A%0A%23%20----------%20Funciones%20----------%0Adef%20mostrar_menu%28%29%3A%0A%20%20%20%20print%28%22%5Cn---%20%C3%81reas%20de%20figuras%20---%22%29%0A%20%20%20%20print%28%221.%20C%C3%ADrculo%22%29%0A%20%20%20%20print%28%222.%20Rect%C3%A1ngulo%22%29%0A%20%20%20%20print%28%223.%20Tri%C3%A1ngulo%22%29%0A%20%20%20%20print%28%224.%20Salir%22%29%0A%0Adef%20leer_opcion%28%29%3A%0A%20%20%20%20opcion%20%3D%20input%28%22Opci%C3%B3n%3A%20%22%29%0A%20%20%20%20return%20opcion%0A%0Adef%20calcular_area_circulo%28radio%29%3A%0A%20%20%20%20area%20%3D%20PI%20*%20radio%20**%202%0A%20%20%20%20return%20area%0A%0Adef%20calcular_area_rectangulo%28base,%20altura%29%3A%0A%20%20%20%20area%20%3D%20base%20*%20altura%0A%20%20%20%20return%20area%0A%0Adef%20calcular_area_triangulo%28base,%20altura%29%3A%0A%20%20%20%20area%20%3D%20base%20*%20altura%20/%202%0A%20%20%20%20return%20area%0A%0Adef%20mostrar_area%28figura,%20area%29%3A%0A%20%20%20%20print%28f%22%C3%81rea%20del%20%7Bfigura%7D%3A%20%7Barea%3A.2f%7D%22%29%0A%20%20%20%20%0A%23%20----------%20Pruebas%20----------%0A%23%20C%C3%ADrculo%0Aassert%20round%28calcular_area_circulo%285%29,%202%29%20%3D%3D%2078.54%0Aassert%20calcular_area_circulo%280%29%20%3D%3D%200%0A%0A%23%20Rect%C3%A1ngulo%0Aassert%20calcular_area_rectangulo%284,%203%29%20%3D%3D%2012%0Aassert%20calcular_area_rectangulo%280,%205%29%20%3D%3D%200%0A%0A%23%20Tri%C3%A1ngulo%0Aassert%20calcular_area_triangulo%286,%202%29%20%3D%3D%206%0Aassert%20calcular_area_triangulo%280,%205%29%20%3D%3D%200%0A&amp;curInstr=0&amp;mode=display&amp;origin=opt-frontend.js&amp;py=311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hyperlink" Target="https://realpython.com/defining-your-own-python-function/" TargetMode="External"/><Relationship Id="rId13" Type="http://schemas.openxmlformats.org/officeDocument/2006/relationships/hyperlink" Target="https://realpython.com/python-while-loop/" TargetMode="External"/><Relationship Id="rId3" Type="http://schemas.openxmlformats.org/officeDocument/2006/relationships/hyperlink" Target="https://www.w3resource.com/index.php" TargetMode="External"/><Relationship Id="rId7" Type="http://schemas.openxmlformats.org/officeDocument/2006/relationships/hyperlink" Target="https://realpython.com/cheatsheets/python/" TargetMode="External"/><Relationship Id="rId12" Type="http://schemas.openxmlformats.org/officeDocument/2006/relationships/hyperlink" Target="https://makecode.microbit.org/courses" TargetMode="External"/><Relationship Id="rId2" Type="http://schemas.openxmlformats.org/officeDocument/2006/relationships/hyperlink" Target="https://ellibrodepython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thon-course.eu/" TargetMode="External"/><Relationship Id="rId11" Type="http://schemas.openxmlformats.org/officeDocument/2006/relationships/hyperlink" Target="https://makecode.microbit.org/courses/csintro" TargetMode="External"/><Relationship Id="rId5" Type="http://schemas.openxmlformats.org/officeDocument/2006/relationships/hyperlink" Target="https://curriculumresources.edu.gh/wp-content/uploads/2025/01/" TargetMode="External"/><Relationship Id="rId15" Type="http://schemas.openxmlformats.org/officeDocument/2006/relationships/hyperlink" Target="https://cs.stanford.edu/people/nick/py/" TargetMode="External"/><Relationship Id="rId10" Type="http://schemas.openxmlformats.org/officeDocument/2006/relationships/hyperlink" Target="https://realpython.com/ref/best-practices/functions/" TargetMode="External"/><Relationship Id="rId4" Type="http://schemas.openxmlformats.org/officeDocument/2006/relationships/hyperlink" Target="https://realpython.com/" TargetMode="External"/><Relationship Id="rId9" Type="http://schemas.openxmlformats.org/officeDocument/2006/relationships/hyperlink" Target="https://realpython.com/python-built-in-functions/" TargetMode="External"/><Relationship Id="rId14" Type="http://schemas.openxmlformats.org/officeDocument/2006/relationships/hyperlink" Target="https://realpython.com/ref/keywords/while/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phdcomics.com/comics/archive.php?comicid=1431" TargetMode="External"/><Relationship Id="rId2" Type="http://schemas.openxmlformats.org/officeDocument/2006/relationships/image" Target="../media/image5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909BB-6F92-48BA-A875-99E15D225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8" y="1122363"/>
            <a:ext cx="8568952" cy="2387600"/>
          </a:xfrm>
        </p:spPr>
        <p:txBody>
          <a:bodyPr/>
          <a:lstStyle/>
          <a:p>
            <a:r>
              <a:rPr lang="es-CO" dirty="0"/>
              <a:t>Lógica y Representación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9999BC-7CCA-4677-B2C4-E913A7AA1F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O" sz="3200" b="1" dirty="0"/>
              <a:t>Funciones - Introducción</a:t>
            </a:r>
          </a:p>
          <a:p>
            <a:r>
              <a:rPr lang="es-CO" dirty="0"/>
              <a:t>Ingeniería de Sistemas</a:t>
            </a:r>
          </a:p>
          <a:p>
            <a:r>
              <a:rPr lang="es-CO" dirty="0"/>
              <a:t>Universidad de Antioquia</a:t>
            </a:r>
          </a:p>
        </p:txBody>
      </p:sp>
    </p:spTree>
    <p:extLst>
      <p:ext uri="{BB962C8B-B14F-4D97-AF65-F5344CB8AC3E}">
        <p14:creationId xmlns:p14="http://schemas.microsoft.com/office/powerpoint/2010/main" val="77409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51520" y="188640"/>
            <a:ext cx="8263830" cy="845334"/>
          </a:xfrm>
        </p:spPr>
        <p:txBody>
          <a:bodyPr>
            <a:normAutofit/>
          </a:bodyPr>
          <a:lstStyle/>
          <a:p>
            <a:r>
              <a:rPr lang="es-CO" sz="4000" dirty="0"/>
              <a:t>Método de Polya - Resumen</a:t>
            </a:r>
            <a:endParaRPr lang="en-US" sz="4000" dirty="0"/>
          </a:p>
        </p:txBody>
      </p:sp>
      <p:graphicFrame>
        <p:nvGraphicFramePr>
          <p:cNvPr id="6" name="13 Diagrama">
            <a:extLst>
              <a:ext uri="{FF2B5EF4-FFF2-40B4-BE49-F238E27FC236}">
                <a16:creationId xmlns:a16="http://schemas.microsoft.com/office/drawing/2014/main" id="{D0B70736-976D-4675-A33E-9F94643ADC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5553215"/>
              </p:ext>
            </p:extLst>
          </p:nvPr>
        </p:nvGraphicFramePr>
        <p:xfrm>
          <a:off x="3059832" y="4221088"/>
          <a:ext cx="5616624" cy="2363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3">
            <a:extLst>
              <a:ext uri="{FF2B5EF4-FFF2-40B4-BE49-F238E27FC236}">
                <a16:creationId xmlns:a16="http://schemas.microsoft.com/office/drawing/2014/main" id="{9C9BD4AC-3A6A-4FE1-A719-F0D832952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404101"/>
            <a:ext cx="2200014" cy="197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E6732E42-F6E4-4E10-A20E-82A4BE9E8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16" y="1223168"/>
            <a:ext cx="3214687" cy="241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5899AD60-028E-47EE-844F-916EBA585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811" y="1248925"/>
            <a:ext cx="2857500" cy="236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17 Flecha abajo">
            <a:extLst>
              <a:ext uri="{FF2B5EF4-FFF2-40B4-BE49-F238E27FC236}">
                <a16:creationId xmlns:a16="http://schemas.microsoft.com/office/drawing/2014/main" id="{656E38FA-A37E-460A-AF17-E0C304C611BF}"/>
              </a:ext>
            </a:extLst>
          </p:cNvPr>
          <p:cNvSpPr/>
          <p:nvPr/>
        </p:nvSpPr>
        <p:spPr>
          <a:xfrm rot="16200000">
            <a:off x="4400922" y="1973262"/>
            <a:ext cx="322262" cy="965200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  <p:sp>
        <p:nvSpPr>
          <p:cNvPr id="11" name="18 CuadroTexto">
            <a:extLst>
              <a:ext uri="{FF2B5EF4-FFF2-40B4-BE49-F238E27FC236}">
                <a16:creationId xmlns:a16="http://schemas.microsoft.com/office/drawing/2014/main" id="{B82BDCE9-7A82-42E8-98CF-353D30A777C0}"/>
              </a:ext>
            </a:extLst>
          </p:cNvPr>
          <p:cNvSpPr txBox="1"/>
          <p:nvPr/>
        </p:nvSpPr>
        <p:spPr>
          <a:xfrm>
            <a:off x="611560" y="3789040"/>
            <a:ext cx="3214688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CO" sz="2000" b="1" dirty="0"/>
              <a:t>PROBLEMA</a:t>
            </a:r>
            <a:endParaRPr lang="es-ES" sz="2000" dirty="0"/>
          </a:p>
        </p:txBody>
      </p:sp>
      <p:sp>
        <p:nvSpPr>
          <p:cNvPr id="12" name="19 CuadroTexto">
            <a:extLst>
              <a:ext uri="{FF2B5EF4-FFF2-40B4-BE49-F238E27FC236}">
                <a16:creationId xmlns:a16="http://schemas.microsoft.com/office/drawing/2014/main" id="{BFFC459E-C4D6-4371-ADA9-FB0FF4281118}"/>
              </a:ext>
            </a:extLst>
          </p:cNvPr>
          <p:cNvSpPr txBox="1"/>
          <p:nvPr/>
        </p:nvSpPr>
        <p:spPr>
          <a:xfrm>
            <a:off x="5148064" y="3752849"/>
            <a:ext cx="3214687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CO" sz="2000" b="1" dirty="0"/>
              <a:t>ALGORITMO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8404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467543" y="207926"/>
            <a:ext cx="7939037" cy="986803"/>
          </a:xfrm>
        </p:spPr>
        <p:txBody>
          <a:bodyPr/>
          <a:lstStyle/>
          <a:p>
            <a:r>
              <a:rPr lang="es-CO" sz="3200" dirty="0"/>
              <a:t>Entrada, procesamiento y salida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35471" y="1238602"/>
            <a:ext cx="7886700" cy="1729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200" dirty="0"/>
              <a:t>Los programas de computadora realizan estos tres pasos: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recibe la </a:t>
            </a:r>
            <a:r>
              <a:rPr lang="es-MX" sz="2000" b="1" dirty="0"/>
              <a:t>entrada</a:t>
            </a:r>
            <a:r>
              <a:rPr lang="es-MX" sz="2000" dirty="0"/>
              <a:t>.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realiza un </a:t>
            </a:r>
            <a:r>
              <a:rPr lang="es-MX" sz="2000" b="1" dirty="0"/>
              <a:t>proceso</a:t>
            </a:r>
            <a:r>
              <a:rPr lang="es-MX" sz="2000" dirty="0"/>
              <a:t> sobre la entrada. 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/>
              <a:t>Se genera la </a:t>
            </a:r>
            <a:r>
              <a:rPr lang="es-MX" sz="2000" b="1" dirty="0"/>
              <a:t>salida</a:t>
            </a:r>
            <a:endParaRPr lang="es-CO" sz="2000" b="1" dirty="0"/>
          </a:p>
        </p:txBody>
      </p:sp>
      <p:grpSp>
        <p:nvGrpSpPr>
          <p:cNvPr id="15" name="14 Grupo"/>
          <p:cNvGrpSpPr/>
          <p:nvPr/>
        </p:nvGrpSpPr>
        <p:grpSpPr>
          <a:xfrm>
            <a:off x="1589010" y="4102449"/>
            <a:ext cx="5715000" cy="838200"/>
            <a:chOff x="1676400" y="4495800"/>
            <a:chExt cx="5715000" cy="838200"/>
          </a:xfrm>
        </p:grpSpPr>
        <p:sp>
          <p:nvSpPr>
            <p:cNvPr id="10" name="9 Rectángulo"/>
            <p:cNvSpPr/>
            <p:nvPr/>
          </p:nvSpPr>
          <p:spPr>
            <a:xfrm>
              <a:off x="1676400" y="4648200"/>
              <a:ext cx="1447800" cy="5334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Inputs</a:t>
              </a:r>
              <a:endParaRPr lang="es-CO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10 Rectángulo"/>
            <p:cNvSpPr/>
            <p:nvPr/>
          </p:nvSpPr>
          <p:spPr>
            <a:xfrm>
              <a:off x="3810000" y="4495800"/>
              <a:ext cx="1447800" cy="838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400" b="1" dirty="0">
                  <a:latin typeface="Consolas" panose="020B0609020204030204" pitchFamily="49" charset="0"/>
                </a:rPr>
                <a:t>Process</a:t>
              </a:r>
              <a:endParaRPr lang="es-CO" b="1" dirty="0">
                <a:latin typeface="Consolas" panose="020B0609020204030204" pitchFamily="49" charset="0"/>
              </a:endParaRPr>
            </a:p>
          </p:txBody>
        </p:sp>
        <p:sp>
          <p:nvSpPr>
            <p:cNvPr id="12" name="11 Rectángulo"/>
            <p:cNvSpPr/>
            <p:nvPr/>
          </p:nvSpPr>
          <p:spPr>
            <a:xfrm>
              <a:off x="5943600" y="4648200"/>
              <a:ext cx="1447800" cy="5334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Outputs</a:t>
              </a:r>
              <a:endParaRPr lang="es-CO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12 Flecha derecha"/>
            <p:cNvSpPr/>
            <p:nvPr/>
          </p:nvSpPr>
          <p:spPr>
            <a:xfrm>
              <a:off x="3124200" y="4800600"/>
              <a:ext cx="685800" cy="2286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13 Flecha derecha"/>
            <p:cNvSpPr/>
            <p:nvPr/>
          </p:nvSpPr>
          <p:spPr>
            <a:xfrm>
              <a:off x="5257800" y="4800600"/>
              <a:ext cx="685800" cy="2286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pic>
        <p:nvPicPr>
          <p:cNvPr id="16" name="Picture 2" descr="http://www.jegsworks.com/lessons/computerbasics/lesson3/keyboard-white.png">
            <a:extLst>
              <a:ext uri="{FF2B5EF4-FFF2-40B4-BE49-F238E27FC236}">
                <a16:creationId xmlns:a16="http://schemas.microsoft.com/office/drawing/2014/main" id="{CA5F3EB8-A827-4D08-B3D4-BC8885661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116" y="3256265"/>
            <a:ext cx="1365108" cy="432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http://t2.gstatic.com/images?q=tbn:ANd9GcS51PGLkp34nPs-LewfkgAfjdZsyder21fNGFoRiZ_A6x7txo3e">
            <a:extLst>
              <a:ext uri="{FF2B5EF4-FFF2-40B4-BE49-F238E27FC236}">
                <a16:creationId xmlns:a16="http://schemas.microsoft.com/office/drawing/2014/main" id="{BB2AD59A-355A-4EC4-BD61-76D458710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382" y="3198200"/>
            <a:ext cx="841456" cy="690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Settings Icon, Gear Icon Vector, Gear Symbol Illustration. for Web Sites  Our Mobile. Stock Illustration - Illustration of business, wheel: 151065188">
            <a:extLst>
              <a:ext uri="{FF2B5EF4-FFF2-40B4-BE49-F238E27FC236}">
                <a16:creationId xmlns:a16="http://schemas.microsoft.com/office/drawing/2014/main" id="{AC519BCB-3AA9-4258-9707-83D241823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143" y="5159353"/>
            <a:ext cx="1007836" cy="100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52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95536" y="116632"/>
            <a:ext cx="8119814" cy="831626"/>
          </a:xfrm>
        </p:spPr>
        <p:txBody>
          <a:bodyPr>
            <a:normAutofit/>
          </a:bodyPr>
          <a:lstStyle/>
          <a:p>
            <a:r>
              <a:rPr lang="es-CO" sz="4000" dirty="0"/>
              <a:t>Tabla resumen</a:t>
            </a:r>
            <a:endParaRPr lang="en-US" sz="4000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1C890BBD-1444-4CB9-97D4-FDDC5F53D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816" y="980728"/>
            <a:ext cx="7993607" cy="6635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dirty="0"/>
              <a:t>La siguiente tabla muestra la representación equivalente de las piezas esenciales para construir código secuencial</a:t>
            </a:r>
            <a:endParaRPr lang="es-CO" sz="2000" dirty="0"/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1D2B5E36-52C4-42F4-8540-7CBD071455A5}"/>
              </a:ext>
            </a:extLst>
          </p:cNvPr>
          <p:cNvGraphicFramePr>
            <a:graphicFrameLocks noGrp="1"/>
          </p:cNvGraphicFramePr>
          <p:nvPr/>
        </p:nvGraphicFramePr>
        <p:xfrm>
          <a:off x="466826" y="1700808"/>
          <a:ext cx="7993606" cy="4211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7343">
                  <a:extLst>
                    <a:ext uri="{9D8B030D-6E8A-4147-A177-3AD203B41FA5}">
                      <a16:colId xmlns:a16="http://schemas.microsoft.com/office/drawing/2014/main" val="4002968547"/>
                    </a:ext>
                  </a:extLst>
                </a:gridCol>
                <a:gridCol w="2352911">
                  <a:extLst>
                    <a:ext uri="{9D8B030D-6E8A-4147-A177-3AD203B41FA5}">
                      <a16:colId xmlns:a16="http://schemas.microsoft.com/office/drawing/2014/main" val="2376140116"/>
                    </a:ext>
                  </a:extLst>
                </a:gridCol>
                <a:gridCol w="2061676">
                  <a:extLst>
                    <a:ext uri="{9D8B030D-6E8A-4147-A177-3AD203B41FA5}">
                      <a16:colId xmlns:a16="http://schemas.microsoft.com/office/drawing/2014/main" val="1317388859"/>
                    </a:ext>
                  </a:extLst>
                </a:gridCol>
                <a:gridCol w="2061676">
                  <a:extLst>
                    <a:ext uri="{9D8B030D-6E8A-4147-A177-3AD203B41FA5}">
                      <a16:colId xmlns:a16="http://schemas.microsoft.com/office/drawing/2014/main" val="16209865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Diagrama de bloques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Pseudocordigo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b="1" dirty="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662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Entrada</a:t>
                      </a:r>
                    </a:p>
                    <a:p>
                      <a:pPr algn="ctr"/>
                      <a:endParaRPr lang="es-CO" dirty="0"/>
                    </a:p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Leer(v1,v2,…)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v1 = input(...)</a:t>
                      </a:r>
                    </a:p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v2 = input(...)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227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Salida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Escribir(v1,v2,…)</a:t>
                      </a:r>
                    </a:p>
                    <a:p>
                      <a:pPr algn="ctr"/>
                      <a:endParaRPr lang="es-CO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print(v1,v2,…)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61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Proceso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1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Consolas" panose="020B0609020204030204" pitchFamily="49" charset="0"/>
                        </a:rPr>
                        <a:t>c = a + b</a:t>
                      </a:r>
                      <a:endParaRPr lang="es-CO" sz="1400" dirty="0"/>
                    </a:p>
                    <a:p>
                      <a:pPr algn="ctr"/>
                      <a:endParaRPr lang="es-CO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latin typeface="Consolas" panose="020B0609020204030204" pitchFamily="49" charset="0"/>
                        </a:rPr>
                        <a:t>c = a +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1907500"/>
                  </a:ext>
                </a:extLst>
              </a:tr>
            </a:tbl>
          </a:graphicData>
        </a:graphic>
      </p:graphicFrame>
      <p:sp>
        <p:nvSpPr>
          <p:cNvPr id="10" name="Flowchart: Data 6">
            <a:extLst>
              <a:ext uri="{FF2B5EF4-FFF2-40B4-BE49-F238E27FC236}">
                <a16:creationId xmlns:a16="http://schemas.microsoft.com/office/drawing/2014/main" id="{0844C778-9DE1-449B-B09C-237271C11B8A}"/>
              </a:ext>
            </a:extLst>
          </p:cNvPr>
          <p:cNvSpPr/>
          <p:nvPr/>
        </p:nvSpPr>
        <p:spPr>
          <a:xfrm>
            <a:off x="2051722" y="2285936"/>
            <a:ext cx="2231500" cy="715198"/>
          </a:xfrm>
          <a:prstGeom prst="flowChartInputOutpu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Read v1,v2,…</a:t>
            </a:r>
          </a:p>
        </p:txBody>
      </p:sp>
      <p:sp>
        <p:nvSpPr>
          <p:cNvPr id="11" name="Flowchart: Data 6">
            <a:extLst>
              <a:ext uri="{FF2B5EF4-FFF2-40B4-BE49-F238E27FC236}">
                <a16:creationId xmlns:a16="http://schemas.microsoft.com/office/drawing/2014/main" id="{9C39F37A-2A39-47E1-86A7-FAE0C0329172}"/>
              </a:ext>
            </a:extLst>
          </p:cNvPr>
          <p:cNvSpPr/>
          <p:nvPr/>
        </p:nvSpPr>
        <p:spPr>
          <a:xfrm>
            <a:off x="2051722" y="3654088"/>
            <a:ext cx="2214917" cy="715198"/>
          </a:xfrm>
          <a:prstGeom prst="flowChartInputOutpu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Print v1,v2,…</a:t>
            </a:r>
          </a:p>
        </p:txBody>
      </p:sp>
      <p:sp>
        <p:nvSpPr>
          <p:cNvPr id="12" name="Flowchart: Process 7">
            <a:extLst>
              <a:ext uri="{FF2B5EF4-FFF2-40B4-BE49-F238E27FC236}">
                <a16:creationId xmlns:a16="http://schemas.microsoft.com/office/drawing/2014/main" id="{6B08FC8C-52EF-4BF1-96B3-3C24D434D6C2}"/>
              </a:ext>
            </a:extLst>
          </p:cNvPr>
          <p:cNvSpPr/>
          <p:nvPr/>
        </p:nvSpPr>
        <p:spPr>
          <a:xfrm>
            <a:off x="2461374" y="5019720"/>
            <a:ext cx="1395611" cy="609600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c </a:t>
            </a:r>
            <a:r>
              <a:rPr lang="en-US" sz="1200" dirty="0">
                <a:latin typeface="Consolas" panose="020B0609020204030204" pitchFamily="49" charset="0"/>
                <a:sym typeface="Wingdings" panose="05000000000000000000" pitchFamily="2" charset="2"/>
              </a:rPr>
              <a:t> a + b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</a:p>
        </p:txBody>
      </p:sp>
      <p:pic>
        <p:nvPicPr>
          <p:cNvPr id="8" name="Picture 2" descr="http://www.jegsworks.com/lessons/computerbasics/lesson3/keyboard-white.png">
            <a:extLst>
              <a:ext uri="{FF2B5EF4-FFF2-40B4-BE49-F238E27FC236}">
                <a16:creationId xmlns:a16="http://schemas.microsoft.com/office/drawing/2014/main" id="{D62F66DF-1E4D-4961-A500-E613E8978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10" y="2565896"/>
            <a:ext cx="1108159" cy="350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ttp://t2.gstatic.com/images?q=tbn:ANd9GcS51PGLkp34nPs-LewfkgAfjdZsyder21fNGFoRiZ_A6x7txo3e">
            <a:extLst>
              <a:ext uri="{FF2B5EF4-FFF2-40B4-BE49-F238E27FC236}">
                <a16:creationId xmlns:a16="http://schemas.microsoft.com/office/drawing/2014/main" id="{1D582CE4-942A-4E2B-8410-CB4053B31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65" y="3741286"/>
            <a:ext cx="716248" cy="587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Settings Icon, Gear Icon Vector, Gear Symbol Illustration. for Web Sites  Our Mobile. Stock Illustration - Illustration of business, wheel: 151065188">
            <a:extLst>
              <a:ext uri="{FF2B5EF4-FFF2-40B4-BE49-F238E27FC236}">
                <a16:creationId xmlns:a16="http://schemas.microsoft.com/office/drawing/2014/main" id="{53F8DCC6-0D98-4EEC-91B9-C840D7489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65" y="5038329"/>
            <a:ext cx="728448" cy="72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Marcador de contenido 8">
            <a:extLst>
              <a:ext uri="{FF2B5EF4-FFF2-40B4-BE49-F238E27FC236}">
                <a16:creationId xmlns:a16="http://schemas.microsoft.com/office/drawing/2014/main" id="{A781356A-A35A-48D6-BC89-058C09E8F029}"/>
              </a:ext>
            </a:extLst>
          </p:cNvPr>
          <p:cNvSpPr txBox="1">
            <a:spLocks/>
          </p:cNvSpPr>
          <p:nvPr/>
        </p:nvSpPr>
        <p:spPr>
          <a:xfrm>
            <a:off x="394817" y="6072698"/>
            <a:ext cx="8281640" cy="59666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600" dirty="0"/>
              <a:t>En Python, 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input()</a:t>
            </a:r>
            <a:r>
              <a:rPr lang="es-MX" sz="1600" dirty="0"/>
              <a:t> siempre devuelve texto (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str</a:t>
            </a:r>
            <a:r>
              <a:rPr lang="es-MX" sz="1600" dirty="0"/>
              <a:t>); si el valor se va a usar en una operación numérica, debe convertirse con </a:t>
            </a:r>
            <a:r>
              <a:rPr lang="es-MX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  <a:r>
              <a:rPr lang="es-MX" sz="1600" dirty="0"/>
              <a:t> o </a:t>
            </a:r>
            <a:r>
              <a:rPr lang="es-MX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float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  <a:r>
              <a:rPr lang="es-MX" sz="1600" dirty="0"/>
              <a:t> (por ejemplo: 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v1 = </a:t>
            </a:r>
            <a:r>
              <a:rPr lang="es-MX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float</a:t>
            </a:r>
            <a:r>
              <a:rPr lang="es-MX" sz="1400" dirty="0">
                <a:solidFill>
                  <a:srgbClr val="C00000"/>
                </a:solidFill>
                <a:latin typeface="Consolas" panose="020B0609020204030204" pitchFamily="49" charset="0"/>
              </a:rPr>
              <a:t>(input(...))</a:t>
            </a:r>
            <a:r>
              <a:rPr lang="es-MX" sz="1600" dirty="0"/>
              <a:t>).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1444131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95536" y="116632"/>
            <a:ext cx="8119814" cy="831626"/>
          </a:xfrm>
        </p:spPr>
        <p:txBody>
          <a:bodyPr>
            <a:normAutofit/>
          </a:bodyPr>
          <a:lstStyle/>
          <a:p>
            <a:r>
              <a:rPr lang="es-CO" sz="4000" dirty="0"/>
              <a:t>Tabla resumen</a:t>
            </a:r>
            <a:endParaRPr lang="en-US" sz="4000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1C890BBD-1444-4CB9-97D4-FDDC5F53D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817" y="908719"/>
            <a:ext cx="8569672" cy="6443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dirty="0"/>
              <a:t>La siguiente tabla, agrega la nueva el nuevo bloque que permite implementar toma de decisiones en los programas.</a:t>
            </a:r>
            <a:endParaRPr lang="es-CO" sz="2000" dirty="0"/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1D2B5E36-52C4-42F4-8540-7CBD07145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735739"/>
              </p:ext>
            </p:extLst>
          </p:nvPr>
        </p:nvGraphicFramePr>
        <p:xfrm>
          <a:off x="394816" y="1653416"/>
          <a:ext cx="8065615" cy="1559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2305">
                  <a:extLst>
                    <a:ext uri="{9D8B030D-6E8A-4147-A177-3AD203B41FA5}">
                      <a16:colId xmlns:a16="http://schemas.microsoft.com/office/drawing/2014/main" val="2376140116"/>
                    </a:ext>
                  </a:extLst>
                </a:gridCol>
                <a:gridCol w="2615640">
                  <a:extLst>
                    <a:ext uri="{9D8B030D-6E8A-4147-A177-3AD203B41FA5}">
                      <a16:colId xmlns:a16="http://schemas.microsoft.com/office/drawing/2014/main" val="1317388859"/>
                    </a:ext>
                  </a:extLst>
                </a:gridCol>
                <a:gridCol w="2397670">
                  <a:extLst>
                    <a:ext uri="{9D8B030D-6E8A-4147-A177-3AD203B41FA5}">
                      <a16:colId xmlns:a16="http://schemas.microsoft.com/office/drawing/2014/main" val="16209865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Diagrama de bloques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Pseudocordigo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b="1" dirty="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662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-57150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Si (</a:t>
                      </a:r>
                      <a:r>
                        <a:rPr lang="es-ES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condicion</a:t>
                      </a:r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 Entonces</a:t>
                      </a:r>
                    </a:p>
                    <a:p>
                      <a:pPr indent="-57150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instrucciones verdad</a:t>
                      </a:r>
                    </a:p>
                    <a:p>
                      <a:pPr indent="-57150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Sino</a:t>
                      </a:r>
                    </a:p>
                    <a:p>
                      <a:pPr indent="-57150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instrucciones falsa</a:t>
                      </a:r>
                    </a:p>
                    <a:p>
                      <a:pPr indent="-57150"/>
                      <a:r>
                        <a:rPr lang="es-ES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Fin_Si</a:t>
                      </a:r>
                      <a:endParaRPr lang="es-CO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-57150"/>
                      <a:r>
                        <a:rPr lang="es-ES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s-ES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condicion</a:t>
                      </a:r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):</a:t>
                      </a:r>
                    </a:p>
                    <a:p>
                      <a:pPr indent="-57150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instrucciones verdad</a:t>
                      </a:r>
                    </a:p>
                    <a:p>
                      <a:pPr indent="-57150"/>
                      <a:r>
                        <a:rPr lang="es-ES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else</a:t>
                      </a:r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:</a:t>
                      </a:r>
                    </a:p>
                    <a:p>
                      <a:pPr indent="-57150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instrucciones 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2274137"/>
                  </a:ext>
                </a:extLst>
              </a:tr>
            </a:tbl>
          </a:graphicData>
        </a:graphic>
      </p:graphicFrame>
      <p:grpSp>
        <p:nvGrpSpPr>
          <p:cNvPr id="16" name="Grupo 15">
            <a:extLst>
              <a:ext uri="{FF2B5EF4-FFF2-40B4-BE49-F238E27FC236}">
                <a16:creationId xmlns:a16="http://schemas.microsoft.com/office/drawing/2014/main" id="{3D9378DB-47BD-4E38-B9E2-60CC14868C14}"/>
              </a:ext>
            </a:extLst>
          </p:cNvPr>
          <p:cNvGrpSpPr/>
          <p:nvPr/>
        </p:nvGrpSpPr>
        <p:grpSpPr>
          <a:xfrm>
            <a:off x="467544" y="2111326"/>
            <a:ext cx="2876849" cy="957634"/>
            <a:chOff x="802903" y="2612529"/>
            <a:chExt cx="2876849" cy="957634"/>
          </a:xfrm>
        </p:grpSpPr>
        <p:sp>
          <p:nvSpPr>
            <p:cNvPr id="17" name="TextBox 75">
              <a:extLst>
                <a:ext uri="{FF2B5EF4-FFF2-40B4-BE49-F238E27FC236}">
                  <a16:creationId xmlns:a16="http://schemas.microsoft.com/office/drawing/2014/main" id="{3E386359-4887-48E6-A90C-AB0498055EA7}"/>
                </a:ext>
              </a:extLst>
            </p:cNvPr>
            <p:cNvSpPr txBox="1"/>
            <p:nvPr/>
          </p:nvSpPr>
          <p:spPr>
            <a:xfrm>
              <a:off x="3237955" y="2924944"/>
              <a:ext cx="42750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Consolas" panose="020B0609020204030204" pitchFamily="49" charset="0"/>
                </a:rPr>
                <a:t>yes</a:t>
              </a:r>
            </a:p>
          </p:txBody>
        </p:sp>
        <p:sp>
          <p:nvSpPr>
            <p:cNvPr id="18" name="TextBox 76">
              <a:extLst>
                <a:ext uri="{FF2B5EF4-FFF2-40B4-BE49-F238E27FC236}">
                  <a16:creationId xmlns:a16="http://schemas.microsoft.com/office/drawing/2014/main" id="{6CB5130F-2760-4686-95D3-9F6E662E0BDD}"/>
                </a:ext>
              </a:extLst>
            </p:cNvPr>
            <p:cNvSpPr txBox="1"/>
            <p:nvPr/>
          </p:nvSpPr>
          <p:spPr>
            <a:xfrm>
              <a:off x="918640" y="2924944"/>
              <a:ext cx="3745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Consolas" panose="020B0609020204030204" pitchFamily="49" charset="0"/>
                </a:rPr>
                <a:t>no</a:t>
              </a:r>
            </a:p>
          </p:txBody>
        </p:sp>
        <p:sp>
          <p:nvSpPr>
            <p:cNvPr id="19" name="Flowchart: Decision 5">
              <a:extLst>
                <a:ext uri="{FF2B5EF4-FFF2-40B4-BE49-F238E27FC236}">
                  <a16:creationId xmlns:a16="http://schemas.microsoft.com/office/drawing/2014/main" id="{8130C2A4-8430-4415-AAF6-7D501E4C8CDD}"/>
                </a:ext>
              </a:extLst>
            </p:cNvPr>
            <p:cNvSpPr/>
            <p:nvPr/>
          </p:nvSpPr>
          <p:spPr>
            <a:xfrm>
              <a:off x="1315133" y="2977639"/>
              <a:ext cx="1852352" cy="457200"/>
            </a:xfrm>
            <a:prstGeom prst="flowChartDecision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nsolas" panose="020B0609020204030204" pitchFamily="49" charset="0"/>
                </a:rPr>
                <a:t>Decision</a:t>
              </a:r>
            </a:p>
          </p:txBody>
        </p:sp>
        <p:grpSp>
          <p:nvGrpSpPr>
            <p:cNvPr id="20" name="40 Grupo">
              <a:extLst>
                <a:ext uri="{FF2B5EF4-FFF2-40B4-BE49-F238E27FC236}">
                  <a16:creationId xmlns:a16="http://schemas.microsoft.com/office/drawing/2014/main" id="{0AE61B74-EF32-4C9E-89B5-46136054B4E0}"/>
                </a:ext>
              </a:extLst>
            </p:cNvPr>
            <p:cNvGrpSpPr/>
            <p:nvPr/>
          </p:nvGrpSpPr>
          <p:grpSpPr>
            <a:xfrm>
              <a:off x="802903" y="3202855"/>
              <a:ext cx="528637" cy="367308"/>
              <a:chOff x="4631531" y="4280892"/>
              <a:chExt cx="528637" cy="367308"/>
            </a:xfrm>
          </p:grpSpPr>
          <p:cxnSp>
            <p:nvCxnSpPr>
              <p:cNvPr id="25" name="Straight Arrow Connector 18">
                <a:extLst>
                  <a:ext uri="{FF2B5EF4-FFF2-40B4-BE49-F238E27FC236}">
                    <a16:creationId xmlns:a16="http://schemas.microsoft.com/office/drawing/2014/main" id="{1595D196-89B8-4FA2-AA80-D2026FBBACD8}"/>
                  </a:ext>
                </a:extLst>
              </p:cNvPr>
              <p:cNvCxnSpPr/>
              <p:nvPr/>
            </p:nvCxnSpPr>
            <p:spPr>
              <a:xfrm>
                <a:off x="4633913" y="4281488"/>
                <a:ext cx="4763" cy="366712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18">
                <a:extLst>
                  <a:ext uri="{FF2B5EF4-FFF2-40B4-BE49-F238E27FC236}">
                    <a16:creationId xmlns:a16="http://schemas.microsoft.com/office/drawing/2014/main" id="{AE31C54A-1503-407A-A3C8-0DF172701F4F}"/>
                  </a:ext>
                </a:extLst>
              </p:cNvPr>
              <p:cNvCxnSpPr/>
              <p:nvPr/>
            </p:nvCxnSpPr>
            <p:spPr>
              <a:xfrm flipH="1">
                <a:off x="4631531" y="4280892"/>
                <a:ext cx="528637" cy="0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65 Grupo">
              <a:extLst>
                <a:ext uri="{FF2B5EF4-FFF2-40B4-BE49-F238E27FC236}">
                  <a16:creationId xmlns:a16="http://schemas.microsoft.com/office/drawing/2014/main" id="{C6B718B9-220F-439A-AC3D-01EC85F6E93B}"/>
                </a:ext>
              </a:extLst>
            </p:cNvPr>
            <p:cNvGrpSpPr/>
            <p:nvPr/>
          </p:nvGrpSpPr>
          <p:grpSpPr>
            <a:xfrm flipH="1">
              <a:off x="3146352" y="3203451"/>
              <a:ext cx="533400" cy="366712"/>
              <a:chOff x="4959846" y="4281488"/>
              <a:chExt cx="533400" cy="366712"/>
            </a:xfrm>
          </p:grpSpPr>
          <p:cxnSp>
            <p:nvCxnSpPr>
              <p:cNvPr id="23" name="Straight Arrow Connector 18">
                <a:extLst>
                  <a:ext uri="{FF2B5EF4-FFF2-40B4-BE49-F238E27FC236}">
                    <a16:creationId xmlns:a16="http://schemas.microsoft.com/office/drawing/2014/main" id="{484928C3-EB88-44C2-8AA5-9E1A9218AF85}"/>
                  </a:ext>
                </a:extLst>
              </p:cNvPr>
              <p:cNvCxnSpPr/>
              <p:nvPr/>
            </p:nvCxnSpPr>
            <p:spPr>
              <a:xfrm>
                <a:off x="4959846" y="4281488"/>
                <a:ext cx="4763" cy="366712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18">
                <a:extLst>
                  <a:ext uri="{FF2B5EF4-FFF2-40B4-BE49-F238E27FC236}">
                    <a16:creationId xmlns:a16="http://schemas.microsoft.com/office/drawing/2014/main" id="{1C4ED988-ED91-4723-9518-4FD7B1995577}"/>
                  </a:ext>
                </a:extLst>
              </p:cNvPr>
              <p:cNvCxnSpPr/>
              <p:nvPr/>
            </p:nvCxnSpPr>
            <p:spPr>
              <a:xfrm flipH="1">
                <a:off x="4964609" y="4281488"/>
                <a:ext cx="528637" cy="0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Straight Arrow Connector 18">
              <a:extLst>
                <a:ext uri="{FF2B5EF4-FFF2-40B4-BE49-F238E27FC236}">
                  <a16:creationId xmlns:a16="http://schemas.microsoft.com/office/drawing/2014/main" id="{E38D67C6-99FA-4E32-B5E5-CC717213D7C0}"/>
                </a:ext>
              </a:extLst>
            </p:cNvPr>
            <p:cNvCxnSpPr/>
            <p:nvPr/>
          </p:nvCxnSpPr>
          <p:spPr>
            <a:xfrm flipH="1">
              <a:off x="2241773" y="2612529"/>
              <a:ext cx="4763" cy="366712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Imagen 26">
            <a:extLst>
              <a:ext uri="{FF2B5EF4-FFF2-40B4-BE49-F238E27FC236}">
                <a16:creationId xmlns:a16="http://schemas.microsoft.com/office/drawing/2014/main" id="{3C0BA5DF-4993-4B02-A595-095E15B1A2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316" y="4281506"/>
            <a:ext cx="1562788" cy="1448637"/>
          </a:xfrm>
          <a:prstGeom prst="rect">
            <a:avLst/>
          </a:prstGeom>
        </p:spPr>
      </p:pic>
      <p:pic>
        <p:nvPicPr>
          <p:cNvPr id="1026" name="Picture 2" descr="If-Then workflow">
            <a:extLst>
              <a:ext uri="{FF2B5EF4-FFF2-40B4-BE49-F238E27FC236}">
                <a16:creationId xmlns:a16="http://schemas.microsoft.com/office/drawing/2014/main" id="{2C25287B-29BF-47A8-8786-9EAF620BA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3406282"/>
            <a:ext cx="3286795" cy="2834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74D470D-37F8-4F20-A4E4-829A08FE1FD5}"/>
              </a:ext>
            </a:extLst>
          </p:cNvPr>
          <p:cNvSpPr txBox="1"/>
          <p:nvPr/>
        </p:nvSpPr>
        <p:spPr>
          <a:xfrm>
            <a:off x="4211960" y="6309320"/>
            <a:ext cx="29272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dirty="0"/>
              <a:t>Imagen tomada de </a:t>
            </a:r>
            <a:r>
              <a:rPr lang="es-CO" sz="1600" b="1" dirty="0"/>
              <a:t>CS Intro</a:t>
            </a:r>
            <a:r>
              <a:rPr lang="es-CO" sz="1600" dirty="0"/>
              <a:t> (</a:t>
            </a:r>
            <a:r>
              <a:rPr lang="es-CO" sz="1600" dirty="0">
                <a:hlinkClick r:id="rId4"/>
              </a:rPr>
              <a:t>link</a:t>
            </a:r>
            <a:r>
              <a:rPr lang="es-CO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83962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81484" y="252929"/>
            <a:ext cx="8576766" cy="1267245"/>
          </a:xfrm>
        </p:spPr>
        <p:txBody>
          <a:bodyPr>
            <a:normAutofit/>
          </a:bodyPr>
          <a:lstStyle/>
          <a:p>
            <a:r>
              <a:rPr lang="es-CO" sz="3600" dirty="0"/>
              <a:t>Casos en los problemas de decisión lógica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E28-A3C7-48DC-84A2-8FB08D6123C5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7" name="6 Diagrama"/>
          <p:cNvGraphicFramePr/>
          <p:nvPr>
            <p:extLst>
              <p:ext uri="{D42A27DB-BD31-4B8C-83A1-F6EECF244321}">
                <p14:modId xmlns:p14="http://schemas.microsoft.com/office/powerpoint/2010/main" val="3190068776"/>
              </p:ext>
            </p:extLst>
          </p:nvPr>
        </p:nvGraphicFramePr>
        <p:xfrm>
          <a:off x="273844" y="223555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25" y="3632994"/>
            <a:ext cx="2143125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781" y="1949619"/>
            <a:ext cx="2003811" cy="1362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25" y="4839802"/>
            <a:ext cx="2321183" cy="1765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56CB6FA-B43E-40A5-ADB1-20CD5CDF8D2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46" y="2066027"/>
            <a:ext cx="1470374" cy="136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270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89427" y="292891"/>
            <a:ext cx="8229600" cy="688648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simple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89427" y="977073"/>
            <a:ext cx="851706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altLang="es-CO" sz="2200" dirty="0"/>
              <a:t>En los problemas de este tipo la condición </a:t>
            </a:r>
            <a:r>
              <a:rPr lang="es-CO" altLang="es-CO" sz="2200" b="1" dirty="0">
                <a:solidFill>
                  <a:srgbClr val="C00000"/>
                </a:solidFill>
              </a:rPr>
              <a:t>falsa</a:t>
            </a:r>
            <a:r>
              <a:rPr lang="es-CO" altLang="es-CO" sz="2200" dirty="0"/>
              <a:t> no posee instrucciones.</a:t>
            </a:r>
            <a:endParaRPr lang="es-CO" sz="2200" dirty="0"/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7" y="2243380"/>
            <a:ext cx="4814125" cy="327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8" descr="http://t0.gstatic.com/images?q=tbn:ANd9GcQBQUfA-17F7VG9bKeqzV6MF0-Z-9iE_3GOSyV1UJYC9LTt32B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5014271"/>
            <a:ext cx="862480" cy="110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C32FD90-4058-401D-982D-5EBFA6936A2A}"/>
              </a:ext>
            </a:extLst>
          </p:cNvPr>
          <p:cNvSpPr txBox="1"/>
          <p:nvPr/>
        </p:nvSpPr>
        <p:spPr>
          <a:xfrm>
            <a:off x="4861248" y="2341048"/>
            <a:ext cx="4102701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instrucciones condicion verdadera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Fin_Si</a:t>
            </a:r>
            <a:endParaRPr lang="es-CO" sz="140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A87FB65-D4A5-4A74-BDD3-51E4F16B1B28}"/>
              </a:ext>
            </a:extLst>
          </p:cNvPr>
          <p:cNvSpPr txBox="1"/>
          <p:nvPr/>
        </p:nvSpPr>
        <p:spPr>
          <a:xfrm>
            <a:off x="5626858" y="1843270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Pseudocódigo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0E4D25-B8E6-4A9C-9AB4-C0347C3716F8}"/>
              </a:ext>
            </a:extLst>
          </p:cNvPr>
          <p:cNvSpPr txBox="1"/>
          <p:nvPr/>
        </p:nvSpPr>
        <p:spPr>
          <a:xfrm>
            <a:off x="5661758" y="3717032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Python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73E636D-5469-4C08-BBB0-8DB2503F2CAF}"/>
              </a:ext>
            </a:extLst>
          </p:cNvPr>
          <p:cNvSpPr txBox="1"/>
          <p:nvPr/>
        </p:nvSpPr>
        <p:spPr>
          <a:xfrm>
            <a:off x="4907682" y="4207545"/>
            <a:ext cx="410270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if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instrucciones condicion verdadera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FFE230E-C2E4-45A1-8069-85EE5BA8E8BE}"/>
              </a:ext>
            </a:extLst>
          </p:cNvPr>
          <p:cNvSpPr txBox="1"/>
          <p:nvPr/>
        </p:nvSpPr>
        <p:spPr>
          <a:xfrm>
            <a:off x="1609462" y="1892087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Diagrama de flujo</a:t>
            </a:r>
          </a:p>
        </p:txBody>
      </p:sp>
    </p:spTree>
    <p:extLst>
      <p:ext uri="{BB962C8B-B14F-4D97-AF65-F5344CB8AC3E}">
        <p14:creationId xmlns:p14="http://schemas.microsoft.com/office/powerpoint/2010/main" val="946365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63061" y="223755"/>
            <a:ext cx="8045354" cy="628407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doble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79513" y="921879"/>
            <a:ext cx="87968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altLang="es-CO" sz="2000" dirty="0"/>
              <a:t>En los problemas de este tipo, ambos casos (</a:t>
            </a:r>
            <a:r>
              <a:rPr lang="es-CO" altLang="es-CO" sz="2000" b="1" dirty="0">
                <a:solidFill>
                  <a:srgbClr val="C00000"/>
                </a:solidFill>
              </a:rPr>
              <a:t>Falso</a:t>
            </a:r>
            <a:r>
              <a:rPr lang="es-CO" altLang="es-CO" sz="2000" dirty="0"/>
              <a:t> y </a:t>
            </a:r>
            <a:r>
              <a:rPr lang="es-CO" altLang="es-CO" sz="2000" b="1" dirty="0">
                <a:solidFill>
                  <a:schemeClr val="accent2">
                    <a:lumMod val="75000"/>
                  </a:schemeClr>
                </a:solidFill>
              </a:rPr>
              <a:t>Verdadero</a:t>
            </a:r>
            <a:r>
              <a:rPr lang="es-CO" altLang="es-CO" sz="2000" dirty="0"/>
              <a:t>) poseen instrucciones asociadas.</a:t>
            </a:r>
            <a:endParaRPr lang="es-CO" sz="2000" dirty="0"/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695" y="1988840"/>
            <a:ext cx="4743505" cy="2934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DCD1815-B299-412B-B0C7-515E157D83D8}"/>
              </a:ext>
            </a:extLst>
          </p:cNvPr>
          <p:cNvSpPr txBox="1"/>
          <p:nvPr/>
        </p:nvSpPr>
        <p:spPr>
          <a:xfrm>
            <a:off x="5220072" y="2268160"/>
            <a:ext cx="3742661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instrucciones condicion verdadera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Sino</a:t>
            </a:r>
          </a:p>
          <a:p>
            <a:pPr indent="-57150"/>
            <a:r>
              <a:rPr lang="es-ES" sz="1400" dirty="0">
                <a:solidFill>
                  <a:schemeClr val="accent5"/>
                </a:solidFill>
                <a:latin typeface="Consolas" panose="020B0609020204030204" pitchFamily="49" charset="0"/>
              </a:rPr>
              <a:t>  </a:t>
            </a:r>
            <a:r>
              <a:rPr lang="es-ES" sz="1400" dirty="0">
                <a:latin typeface="Consolas" panose="020B0609020204030204" pitchFamily="49" charset="0"/>
              </a:rPr>
              <a:t>instrucciones condición falsa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Fin_Si</a:t>
            </a:r>
            <a:endParaRPr lang="es-CO" sz="140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1EA861C-CD1C-4583-91F4-3A788EADC024}"/>
              </a:ext>
            </a:extLst>
          </p:cNvPr>
          <p:cNvSpPr txBox="1"/>
          <p:nvPr/>
        </p:nvSpPr>
        <p:spPr>
          <a:xfrm>
            <a:off x="5233717" y="4036875"/>
            <a:ext cx="374266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if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instrucciones condicion verdadera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else:</a:t>
            </a:r>
          </a:p>
          <a:p>
            <a:pPr indent="-57150"/>
            <a:r>
              <a:rPr lang="es-ES" sz="1400" dirty="0">
                <a:solidFill>
                  <a:schemeClr val="accent5"/>
                </a:solidFill>
                <a:latin typeface="Consolas" panose="020B0609020204030204" pitchFamily="49" charset="0"/>
              </a:rPr>
              <a:t>  </a:t>
            </a:r>
            <a:r>
              <a:rPr lang="es-ES" sz="1400" dirty="0">
                <a:latin typeface="Consolas" panose="020B0609020204030204" pitchFamily="49" charset="0"/>
              </a:rPr>
              <a:t>instrucciones condición falsa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AD278B-B3C9-4233-A314-4192331BDF8A}"/>
              </a:ext>
            </a:extLst>
          </p:cNvPr>
          <p:cNvSpPr txBox="1"/>
          <p:nvPr/>
        </p:nvSpPr>
        <p:spPr>
          <a:xfrm>
            <a:off x="5625642" y="1770382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Pseudocódigo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4C8790F-1E43-4459-99ED-5878BD3C40D4}"/>
              </a:ext>
            </a:extLst>
          </p:cNvPr>
          <p:cNvSpPr txBox="1"/>
          <p:nvPr/>
        </p:nvSpPr>
        <p:spPr>
          <a:xfrm>
            <a:off x="5660542" y="3612642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Python</a:t>
            </a:r>
          </a:p>
        </p:txBody>
      </p:sp>
      <p:pic>
        <p:nvPicPr>
          <p:cNvPr id="11" name="Picture 4" descr="http://fc08.deviantart.net/fs46/f/2009/234/c/4/c49c0ed56535d564df12843469ecf56f.jpg">
            <a:extLst>
              <a:ext uri="{FF2B5EF4-FFF2-40B4-BE49-F238E27FC236}">
                <a16:creationId xmlns:a16="http://schemas.microsoft.com/office/drawing/2014/main" id="{F2646DE8-05CC-4E3C-AEA0-15FB07226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427" y="4437112"/>
            <a:ext cx="460643" cy="1092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http://images4.wikia.nocookie.net/__cb20111104190436/looneytunes/es/images/4/49/Gallo_Claudio.jpg">
            <a:extLst>
              <a:ext uri="{FF2B5EF4-FFF2-40B4-BE49-F238E27FC236}">
                <a16:creationId xmlns:a16="http://schemas.microsoft.com/office/drawing/2014/main" id="{B395B6A8-46AD-457F-BA38-D27F104C1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776" y="4437112"/>
            <a:ext cx="1081248" cy="106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633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63061" y="223755"/>
            <a:ext cx="8045354" cy="628407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múltiple – Mismo criterio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2661223-A77C-4546-A1DB-3499A28DC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61" y="2051550"/>
            <a:ext cx="4808820" cy="338426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EF0C72B-D8A1-4E3E-9FCD-98E4B022325B}"/>
              </a:ext>
            </a:extLst>
          </p:cNvPr>
          <p:cNvSpPr txBox="1"/>
          <p:nvPr/>
        </p:nvSpPr>
        <p:spPr>
          <a:xfrm>
            <a:off x="5220072" y="1691511"/>
            <a:ext cx="3699295" cy="41857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condicion_1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condicion_1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Sino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condicion_2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condicion_2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Sino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condicion_3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  condicion_3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Sino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...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    condicion_n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Sino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    condicion_n falso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Fin_Si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  ...</a:t>
            </a:r>
            <a:endParaRPr lang="es-ES" sz="1400" dirty="0">
              <a:latin typeface="Consolas" panose="020B0609020204030204" pitchFamily="49" charset="0"/>
            </a:endParaRP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Fin_Si </a:t>
            </a:r>
            <a:endParaRPr lang="es-ES" sz="1400" dirty="0">
              <a:latin typeface="Consolas" panose="020B0609020204030204" pitchFamily="49" charset="0"/>
            </a:endParaRP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Fin_Si</a:t>
            </a:r>
            <a:endParaRPr lang="es-ES" sz="1400" dirty="0">
              <a:latin typeface="Consolas" panose="020B0609020204030204" pitchFamily="49" charset="0"/>
            </a:endParaRP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Fin_Si</a:t>
            </a:r>
            <a:endParaRPr lang="es-CO" sz="140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CE8C173-7707-48F4-A17E-7B72328AD3B5}"/>
              </a:ext>
            </a:extLst>
          </p:cNvPr>
          <p:cNvSpPr txBox="1"/>
          <p:nvPr/>
        </p:nvSpPr>
        <p:spPr>
          <a:xfrm>
            <a:off x="5524870" y="1275972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Pseudocódigo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B118BBB-98AA-4C68-B5A2-15748A12FB6E}"/>
              </a:ext>
            </a:extLst>
          </p:cNvPr>
          <p:cNvSpPr txBox="1"/>
          <p:nvPr/>
        </p:nvSpPr>
        <p:spPr>
          <a:xfrm>
            <a:off x="1455390" y="1307307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Diagrama de flujo</a:t>
            </a:r>
          </a:p>
        </p:txBody>
      </p:sp>
    </p:spTree>
    <p:extLst>
      <p:ext uri="{BB962C8B-B14F-4D97-AF65-F5344CB8AC3E}">
        <p14:creationId xmlns:p14="http://schemas.microsoft.com/office/powerpoint/2010/main" val="1157519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63061" y="223755"/>
            <a:ext cx="8045354" cy="628407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múltiple – Mismo criterio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2661223-A77C-4546-A1DB-3499A28DC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35" y="2365757"/>
            <a:ext cx="4808820" cy="338426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EF0C72B-D8A1-4E3E-9FCD-98E4B022325B}"/>
              </a:ext>
            </a:extLst>
          </p:cNvPr>
          <p:cNvSpPr txBox="1"/>
          <p:nvPr/>
        </p:nvSpPr>
        <p:spPr>
          <a:xfrm>
            <a:off x="5220070" y="1380233"/>
            <a:ext cx="3699295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if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(</a:t>
            </a:r>
            <a:r>
              <a:rPr lang="es-ES" sz="12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condicion_1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200" dirty="0">
                <a:latin typeface="Consolas" panose="020B0609020204030204" pitchFamily="49" charset="0"/>
              </a:rPr>
              <a:t>  condicion_1 verdad</a:t>
            </a:r>
          </a:p>
          <a:p>
            <a:pPr indent="-57150"/>
            <a:r>
              <a:rPr lang="es-ES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else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:</a:t>
            </a:r>
          </a:p>
          <a:p>
            <a:pPr indent="-57150"/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ES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if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(</a:t>
            </a:r>
            <a:r>
              <a:rPr lang="es-ES" sz="12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condicion_2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200" dirty="0">
                <a:latin typeface="Consolas" panose="020B0609020204030204" pitchFamily="49" charset="0"/>
              </a:rPr>
              <a:t>    condicion_2 verdad</a:t>
            </a:r>
          </a:p>
          <a:p>
            <a:pPr indent="-57150"/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ES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else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:</a:t>
            </a:r>
          </a:p>
          <a:p>
            <a:pPr indent="-57150"/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ES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if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(</a:t>
            </a:r>
            <a:r>
              <a:rPr lang="es-ES" sz="12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condicion_3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200" dirty="0">
                <a:latin typeface="Consolas" panose="020B0609020204030204" pitchFamily="49" charset="0"/>
              </a:rPr>
              <a:t>      condicion_3 verdad</a:t>
            </a:r>
          </a:p>
          <a:p>
            <a:pPr indent="-57150"/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ES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else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:</a:t>
            </a:r>
          </a:p>
          <a:p>
            <a:pPr indent="-57150"/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  ...</a:t>
            </a:r>
          </a:p>
          <a:p>
            <a:pPr indent="-57150"/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  </a:t>
            </a:r>
            <a:r>
              <a:rPr lang="es-ES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if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(</a:t>
            </a:r>
            <a:r>
              <a:rPr lang="es-ES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condicion_n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200" dirty="0">
                <a:latin typeface="Consolas" panose="020B0609020204030204" pitchFamily="49" charset="0"/>
              </a:rPr>
              <a:t>        condicion_n verdad</a:t>
            </a:r>
          </a:p>
          <a:p>
            <a:pPr indent="-57150"/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    </a:t>
            </a:r>
            <a:r>
              <a:rPr lang="es-ES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else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:</a:t>
            </a:r>
          </a:p>
          <a:p>
            <a:pPr indent="-57150"/>
            <a:r>
              <a:rPr lang="es-ES" sz="1200" dirty="0">
                <a:latin typeface="Consolas" panose="020B0609020204030204" pitchFamily="49" charset="0"/>
              </a:rPr>
              <a:t>        </a:t>
            </a:r>
            <a:r>
              <a:rPr lang="es-ES" sz="1200" dirty="0" err="1">
                <a:latin typeface="Consolas" panose="020B0609020204030204" pitchFamily="49" charset="0"/>
              </a:rPr>
              <a:t>condicion_n</a:t>
            </a:r>
            <a:r>
              <a:rPr lang="es-ES" sz="1200" dirty="0">
                <a:latin typeface="Consolas" panose="020B0609020204030204" pitchFamily="49" charset="0"/>
              </a:rPr>
              <a:t> falso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CE8C173-7707-48F4-A17E-7B72328AD3B5}"/>
              </a:ext>
            </a:extLst>
          </p:cNvPr>
          <p:cNvSpPr txBox="1"/>
          <p:nvPr/>
        </p:nvSpPr>
        <p:spPr>
          <a:xfrm>
            <a:off x="5857638" y="852162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python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B118BBB-98AA-4C68-B5A2-15748A12FB6E}"/>
              </a:ext>
            </a:extLst>
          </p:cNvPr>
          <p:cNvSpPr txBox="1"/>
          <p:nvPr/>
        </p:nvSpPr>
        <p:spPr>
          <a:xfrm>
            <a:off x="1187624" y="1772816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Diagrama de flujo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B7763D3-EDA7-4736-A130-D3D6501B4BC6}"/>
              </a:ext>
            </a:extLst>
          </p:cNvPr>
          <p:cNvSpPr txBox="1"/>
          <p:nvPr/>
        </p:nvSpPr>
        <p:spPr>
          <a:xfrm>
            <a:off x="5249445" y="4415938"/>
            <a:ext cx="3699295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if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(</a:t>
            </a:r>
            <a:r>
              <a:rPr lang="es-ES" sz="12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condicion_1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200" dirty="0">
                <a:latin typeface="Consolas" panose="020B0609020204030204" pitchFamily="49" charset="0"/>
              </a:rPr>
              <a:t>  condicion_1 verdad</a:t>
            </a:r>
          </a:p>
          <a:p>
            <a:pPr indent="-57150"/>
            <a:r>
              <a:rPr lang="es-ES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elif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(</a:t>
            </a:r>
            <a:r>
              <a:rPr lang="es-ES" sz="12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condicion_2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200" dirty="0">
                <a:latin typeface="Consolas" panose="020B0609020204030204" pitchFamily="49" charset="0"/>
              </a:rPr>
              <a:t>  condicion_2 verdad</a:t>
            </a:r>
          </a:p>
          <a:p>
            <a:pPr indent="-57150"/>
            <a:r>
              <a:rPr lang="es-ES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elif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(</a:t>
            </a:r>
            <a:r>
              <a:rPr lang="es-ES" sz="12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condicion_3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200" dirty="0">
                <a:latin typeface="Consolas" panose="020B0609020204030204" pitchFamily="49" charset="0"/>
              </a:rPr>
              <a:t>  condicion_3 verdad</a:t>
            </a:r>
          </a:p>
          <a:p>
            <a:pPr indent="-57150"/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 ...</a:t>
            </a:r>
          </a:p>
          <a:p>
            <a:pPr indent="-57150"/>
            <a:r>
              <a:rPr lang="es-ES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elif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 (</a:t>
            </a:r>
            <a:r>
              <a:rPr lang="es-ES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condicion_n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200" dirty="0">
                <a:latin typeface="Consolas" panose="020B0609020204030204" pitchFamily="49" charset="0"/>
              </a:rPr>
              <a:t>  </a:t>
            </a:r>
            <a:r>
              <a:rPr lang="es-ES" sz="1200" dirty="0" err="1">
                <a:latin typeface="Consolas" panose="020B0609020204030204" pitchFamily="49" charset="0"/>
              </a:rPr>
              <a:t>condicion_n</a:t>
            </a:r>
            <a:r>
              <a:rPr lang="es-ES" sz="1200" dirty="0">
                <a:latin typeface="Consolas" panose="020B0609020204030204" pitchFamily="49" charset="0"/>
              </a:rPr>
              <a:t> verdad</a:t>
            </a:r>
          </a:p>
          <a:p>
            <a:pPr indent="-57150"/>
            <a:r>
              <a:rPr lang="es-ES" sz="12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else</a:t>
            </a:r>
            <a:r>
              <a:rPr lang="es-ES" sz="1200" dirty="0">
                <a:solidFill>
                  <a:schemeClr val="accent4"/>
                </a:solidFill>
                <a:latin typeface="Consolas" panose="020B0609020204030204" pitchFamily="49" charset="0"/>
              </a:rPr>
              <a:t>:</a:t>
            </a:r>
          </a:p>
          <a:p>
            <a:pPr indent="-57150"/>
            <a:r>
              <a:rPr lang="es-ES" sz="1200" dirty="0">
                <a:latin typeface="Consolas" panose="020B0609020204030204" pitchFamily="49" charset="0"/>
              </a:rPr>
              <a:t>  </a:t>
            </a:r>
            <a:r>
              <a:rPr lang="es-ES" sz="1200" dirty="0" err="1">
                <a:latin typeface="Consolas" panose="020B0609020204030204" pitchFamily="49" charset="0"/>
              </a:rPr>
              <a:t>condicion_n</a:t>
            </a:r>
            <a:r>
              <a:rPr lang="es-ES" sz="1200" dirty="0">
                <a:latin typeface="Consolas" panose="020B0609020204030204" pitchFamily="49" charset="0"/>
              </a:rPr>
              <a:t> falso</a:t>
            </a:r>
          </a:p>
        </p:txBody>
      </p:sp>
    </p:spTree>
    <p:extLst>
      <p:ext uri="{BB962C8B-B14F-4D97-AF65-F5344CB8AC3E}">
        <p14:creationId xmlns:p14="http://schemas.microsoft.com/office/powerpoint/2010/main" val="1642205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63060" y="223755"/>
            <a:ext cx="8269379" cy="628407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múltiple – Diferente criterio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EF0C72B-D8A1-4E3E-9FCD-98E4B022325B}"/>
              </a:ext>
            </a:extLst>
          </p:cNvPr>
          <p:cNvSpPr txBox="1"/>
          <p:nvPr/>
        </p:nvSpPr>
        <p:spPr>
          <a:xfrm>
            <a:off x="5215801" y="1556792"/>
            <a:ext cx="3699295" cy="2893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condicion_1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condicion_3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condicion_3a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Sino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ES" sz="1400" dirty="0">
                <a:latin typeface="Consolas" panose="020B0609020204030204" pitchFamily="49" charset="0"/>
              </a:rPr>
              <a:t>condicion_3b 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Fin_Si</a:t>
            </a:r>
            <a:endParaRPr lang="es-ES" sz="1400" dirty="0">
              <a:latin typeface="Consolas" panose="020B0609020204030204" pitchFamily="49" charset="0"/>
            </a:endParaRP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Sino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Si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condicion_2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Entonces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condicion_2a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Sino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ES" sz="1400" dirty="0">
                <a:latin typeface="Consolas" panose="020B0609020204030204" pitchFamily="49" charset="0"/>
              </a:rPr>
              <a:t>condicion_2b</a:t>
            </a:r>
            <a:endParaRPr lang="es-ES" sz="1400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Fin_Si</a:t>
            </a:r>
            <a:endParaRPr lang="es-ES" sz="1400" dirty="0">
              <a:latin typeface="Consolas" panose="020B0609020204030204" pitchFamily="49" charset="0"/>
            </a:endParaRP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Fin_Si</a:t>
            </a:r>
            <a:endParaRPr lang="es-CO" sz="140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CE8C173-7707-48F4-A17E-7B72328AD3B5}"/>
              </a:ext>
            </a:extLst>
          </p:cNvPr>
          <p:cNvSpPr txBox="1"/>
          <p:nvPr/>
        </p:nvSpPr>
        <p:spPr>
          <a:xfrm>
            <a:off x="5520599" y="1141253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Pseudocódigo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B118BBB-98AA-4C68-B5A2-15748A12FB6E}"/>
              </a:ext>
            </a:extLst>
          </p:cNvPr>
          <p:cNvSpPr txBox="1"/>
          <p:nvPr/>
        </p:nvSpPr>
        <p:spPr>
          <a:xfrm>
            <a:off x="1451119" y="1172588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Diagrama de flujo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C047F0E5-EEF4-45FC-B86C-DAD924B13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13" y="1736086"/>
            <a:ext cx="4741172" cy="2906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8393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63060" y="223755"/>
            <a:ext cx="8269379" cy="628407"/>
          </a:xfrm>
        </p:spPr>
        <p:txBody>
          <a:bodyPr>
            <a:normAutofit fontScale="90000"/>
          </a:bodyPr>
          <a:lstStyle/>
          <a:p>
            <a:r>
              <a:rPr lang="es-CO" dirty="0"/>
              <a:t>Alternativa múltiple – Diferente criterio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EF0C72B-D8A1-4E3E-9FCD-98E4B022325B}"/>
              </a:ext>
            </a:extLst>
          </p:cNvPr>
          <p:cNvSpPr txBox="1"/>
          <p:nvPr/>
        </p:nvSpPr>
        <p:spPr>
          <a:xfrm>
            <a:off x="5152092" y="2780928"/>
            <a:ext cx="3699295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if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condicion_1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if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condicion_3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condicion_3a verdad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else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: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ES" sz="1400" dirty="0">
                <a:latin typeface="Consolas" panose="020B0609020204030204" pitchFamily="49" charset="0"/>
              </a:rPr>
              <a:t>condicion_3b </a:t>
            </a:r>
          </a:p>
          <a:p>
            <a:pPr indent="-57150"/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else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: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if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condicion_2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  condicion_2a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else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:</a:t>
            </a:r>
          </a:p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s-ES" sz="1400" dirty="0">
                <a:latin typeface="Consolas" panose="020B0609020204030204" pitchFamily="49" charset="0"/>
              </a:rPr>
              <a:t>condicion_2b</a:t>
            </a:r>
            <a:endParaRPr lang="es-ES" sz="140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CE8C173-7707-48F4-A17E-7B72328AD3B5}"/>
              </a:ext>
            </a:extLst>
          </p:cNvPr>
          <p:cNvSpPr txBox="1"/>
          <p:nvPr/>
        </p:nvSpPr>
        <p:spPr>
          <a:xfrm>
            <a:off x="5789658" y="2137231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Python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B118BBB-98AA-4C68-B5A2-15748A12FB6E}"/>
              </a:ext>
            </a:extLst>
          </p:cNvPr>
          <p:cNvSpPr txBox="1"/>
          <p:nvPr/>
        </p:nvSpPr>
        <p:spPr>
          <a:xfrm>
            <a:off x="1619672" y="2137231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Diagrama de flujo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C047F0E5-EEF4-45FC-B86C-DAD924B13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13" y="2564904"/>
            <a:ext cx="4741172" cy="2906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4125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7056" y="276634"/>
            <a:ext cx="8131368" cy="782960"/>
          </a:xfrm>
        </p:spPr>
        <p:txBody>
          <a:bodyPr>
            <a:normAutofit/>
          </a:bodyPr>
          <a:lstStyle/>
          <a:p>
            <a:r>
              <a:rPr lang="es-CO" dirty="0"/>
              <a:t>Ciclo mientras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91D7E60-39B9-4748-947F-38A8F97E2D1C}"/>
              </a:ext>
            </a:extLst>
          </p:cNvPr>
          <p:cNvSpPr txBox="1"/>
          <p:nvPr/>
        </p:nvSpPr>
        <p:spPr>
          <a:xfrm>
            <a:off x="4732404" y="1694530"/>
            <a:ext cx="3742661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Mientras (</a:t>
            </a:r>
            <a:r>
              <a:rPr lang="es-ES" sz="1400" dirty="0">
                <a:solidFill>
                  <a:srgbClr val="C00000"/>
                </a:solidFill>
                <a:latin typeface="Consolas" panose="020B0609020204030204" pitchFamily="49" charset="0"/>
              </a:rPr>
              <a:t>condicion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Haga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instrucciones cuerpo</a:t>
            </a:r>
          </a:p>
          <a:p>
            <a:pPr indent="-57150"/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Fin_Mientras</a:t>
            </a:r>
            <a:endParaRPr lang="es-CO" sz="140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8D1186C-BAA6-4BB7-8BDA-437F19BE7947}"/>
              </a:ext>
            </a:extLst>
          </p:cNvPr>
          <p:cNvSpPr txBox="1"/>
          <p:nvPr/>
        </p:nvSpPr>
        <p:spPr>
          <a:xfrm>
            <a:off x="4746049" y="3463245"/>
            <a:ext cx="374266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while (</a:t>
            </a:r>
            <a:r>
              <a:rPr lang="es-E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condicion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instrucciones cuerpo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3C017E7-0175-4F4C-9063-3C6EA1BA3C91}"/>
              </a:ext>
            </a:extLst>
          </p:cNvPr>
          <p:cNvSpPr txBox="1"/>
          <p:nvPr/>
        </p:nvSpPr>
        <p:spPr>
          <a:xfrm>
            <a:off x="5137974" y="1196752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Pseudocódigo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70CDB5E-01B0-44CF-BEA6-A41F1D5A02A9}"/>
              </a:ext>
            </a:extLst>
          </p:cNvPr>
          <p:cNvSpPr txBox="1"/>
          <p:nvPr/>
        </p:nvSpPr>
        <p:spPr>
          <a:xfrm>
            <a:off x="5172874" y="3039012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Python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DC4803-A744-4439-BB5C-A2B5E2F7C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556792"/>
            <a:ext cx="2438400" cy="281940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CACE4E4F-A4E8-46E2-AB13-7E2ACF4519A0}"/>
              </a:ext>
            </a:extLst>
          </p:cNvPr>
          <p:cNvSpPr txBox="1"/>
          <p:nvPr/>
        </p:nvSpPr>
        <p:spPr>
          <a:xfrm>
            <a:off x="1338759" y="1124744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Diagrama de flujo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63FC496-7EBC-4F9A-8C33-D4B8F5F43481}"/>
              </a:ext>
            </a:extLst>
          </p:cNvPr>
          <p:cNvSpPr txBox="1"/>
          <p:nvPr/>
        </p:nvSpPr>
        <p:spPr>
          <a:xfrm>
            <a:off x="266678" y="4590635"/>
            <a:ext cx="8610644" cy="1631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2000" b="1" dirty="0"/>
              <a:t>Observaciones importantes</a:t>
            </a:r>
            <a:r>
              <a:rPr lang="es-CO" sz="20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Note que aunque la inicialización es importante para el ciclo, es previa a este (por eso no aparece).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Dentro del cuerpo del ciclo están las instrucciones propias de lo que en este se debe realizar y la actualización de la variable de condición</a:t>
            </a:r>
          </a:p>
        </p:txBody>
      </p:sp>
    </p:spTree>
    <p:extLst>
      <p:ext uri="{BB962C8B-B14F-4D97-AF65-F5344CB8AC3E}">
        <p14:creationId xmlns:p14="http://schemas.microsoft.com/office/powerpoint/2010/main" val="2642087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7056" y="276634"/>
            <a:ext cx="8131368" cy="782960"/>
          </a:xfrm>
        </p:spPr>
        <p:txBody>
          <a:bodyPr>
            <a:normAutofit/>
          </a:bodyPr>
          <a:lstStyle/>
          <a:p>
            <a:r>
              <a:rPr lang="es-CO" dirty="0"/>
              <a:t>Ciclo Para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91D7E60-39B9-4748-947F-38A8F97E2D1C}"/>
              </a:ext>
            </a:extLst>
          </p:cNvPr>
          <p:cNvSpPr txBox="1"/>
          <p:nvPr/>
        </p:nvSpPr>
        <p:spPr>
          <a:xfrm>
            <a:off x="3950455" y="1552979"/>
            <a:ext cx="494202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Para (</a:t>
            </a:r>
            <a:r>
              <a:rPr lang="es-ES" sz="1400" dirty="0">
                <a:solidFill>
                  <a:srgbClr val="C00000"/>
                </a:solidFill>
                <a:latin typeface="Consolas" panose="020B0609020204030204" pitchFamily="49" charset="0"/>
              </a:rPr>
              <a:t>vc = inicio, fin, actualizacion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 Haga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instrucciones cuerpo</a:t>
            </a:r>
          </a:p>
          <a:p>
            <a:pPr indent="-57150"/>
            <a:r>
              <a:rPr lang="es-ES" sz="1400" dirty="0" err="1">
                <a:solidFill>
                  <a:schemeClr val="accent4"/>
                </a:solidFill>
                <a:latin typeface="Consolas" panose="020B0609020204030204" pitchFamily="49" charset="0"/>
              </a:rPr>
              <a:t>Fin_Para</a:t>
            </a:r>
            <a:endParaRPr lang="es-CO" sz="140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8D1186C-BAA6-4BB7-8BDA-437F19BE7947}"/>
              </a:ext>
            </a:extLst>
          </p:cNvPr>
          <p:cNvSpPr txBox="1"/>
          <p:nvPr/>
        </p:nvSpPr>
        <p:spPr>
          <a:xfrm>
            <a:off x="3950455" y="2979110"/>
            <a:ext cx="494202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57150"/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for </a:t>
            </a:r>
            <a:r>
              <a:rPr lang="es-ES" sz="1400" dirty="0">
                <a:solidFill>
                  <a:srgbClr val="C00000"/>
                </a:solidFill>
                <a:latin typeface="Consolas" panose="020B0609020204030204" pitchFamily="49" charset="0"/>
              </a:rPr>
              <a:t>vc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in range(</a:t>
            </a:r>
            <a:r>
              <a:rPr lang="es-ES" sz="1400" dirty="0">
                <a:solidFill>
                  <a:srgbClr val="C00000"/>
                </a:solidFill>
                <a:latin typeface="Consolas" panose="020B0609020204030204" pitchFamily="49" charset="0"/>
              </a:rPr>
              <a:t>inicio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, </a:t>
            </a:r>
            <a:r>
              <a:rPr lang="es-ES" sz="1400" dirty="0">
                <a:solidFill>
                  <a:srgbClr val="C00000"/>
                </a:solidFill>
                <a:latin typeface="Consolas" panose="020B0609020204030204" pitchFamily="49" charset="0"/>
              </a:rPr>
              <a:t>fin +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 </a:t>
            </a:r>
            <a:r>
              <a:rPr lang="es-ES" sz="1400" dirty="0">
                <a:latin typeface="Consolas" panose="020B0609020204030204" pitchFamily="49" charset="0"/>
              </a:rPr>
              <a:t>1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, </a:t>
            </a:r>
            <a:r>
              <a:rPr lang="es-ES" sz="1400" dirty="0">
                <a:solidFill>
                  <a:srgbClr val="C00000"/>
                </a:solidFill>
                <a:latin typeface="Consolas" panose="020B0609020204030204" pitchFamily="49" charset="0"/>
              </a:rPr>
              <a:t>actualizacion</a:t>
            </a:r>
            <a:r>
              <a:rPr lang="es-ES" sz="1400" dirty="0">
                <a:solidFill>
                  <a:schemeClr val="accent4"/>
                </a:solidFill>
                <a:latin typeface="Consolas" panose="020B0609020204030204" pitchFamily="49" charset="0"/>
              </a:rPr>
              <a:t>):</a:t>
            </a:r>
          </a:p>
          <a:p>
            <a:pPr indent="-57150"/>
            <a:r>
              <a:rPr lang="es-ES" sz="1400" dirty="0">
                <a:latin typeface="Consolas" panose="020B0609020204030204" pitchFamily="49" charset="0"/>
              </a:rPr>
              <a:t>  instrucciones cuerpo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3C017E7-0175-4F4C-9063-3C6EA1BA3C91}"/>
              </a:ext>
            </a:extLst>
          </p:cNvPr>
          <p:cNvSpPr txBox="1"/>
          <p:nvPr/>
        </p:nvSpPr>
        <p:spPr>
          <a:xfrm>
            <a:off x="5211021" y="1052736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Pseudocódigo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70CDB5E-01B0-44CF-BEA6-A41F1D5A02A9}"/>
              </a:ext>
            </a:extLst>
          </p:cNvPr>
          <p:cNvSpPr txBox="1"/>
          <p:nvPr/>
        </p:nvSpPr>
        <p:spPr>
          <a:xfrm>
            <a:off x="5211021" y="2560583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Python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ACE4E4F-A4E8-46E2-AB13-7E2ACF4519A0}"/>
              </a:ext>
            </a:extLst>
          </p:cNvPr>
          <p:cNvSpPr txBox="1"/>
          <p:nvPr/>
        </p:nvSpPr>
        <p:spPr>
          <a:xfrm>
            <a:off x="874272" y="965244"/>
            <a:ext cx="24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Diagrama de flujo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63FC496-7EBC-4F9A-8C33-D4B8F5F43481}"/>
              </a:ext>
            </a:extLst>
          </p:cNvPr>
          <p:cNvSpPr txBox="1"/>
          <p:nvPr/>
        </p:nvSpPr>
        <p:spPr>
          <a:xfrm>
            <a:off x="122662" y="3735030"/>
            <a:ext cx="8898676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2000" b="1" dirty="0"/>
              <a:t>Observaciones importantes</a:t>
            </a:r>
            <a:r>
              <a:rPr lang="es-CO" sz="20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A diferencia del ciclo </a:t>
            </a:r>
            <a:r>
              <a:rPr lang="es-CO" b="1" dirty="0">
                <a:latin typeface="Consolas" panose="020B0609020204030204" pitchFamily="49" charset="0"/>
              </a:rPr>
              <a:t>Mientras</a:t>
            </a:r>
            <a:r>
              <a:rPr lang="es-CO" sz="2000" dirty="0"/>
              <a:t>, el ciclo </a:t>
            </a:r>
            <a:r>
              <a:rPr lang="es-CO" b="1" dirty="0">
                <a:latin typeface="Consolas" panose="020B0609020204030204" pitchFamily="49" charset="0"/>
              </a:rPr>
              <a:t>Para</a:t>
            </a:r>
            <a:r>
              <a:rPr lang="es-CO" sz="2000" b="1" dirty="0"/>
              <a:t> </a:t>
            </a:r>
            <a:r>
              <a:rPr lang="es-CO" sz="2000" dirty="0"/>
              <a:t>se caracteriza por que la inicialización, la condición de control (o parada) y la actualización de la variable de control (</a:t>
            </a:r>
            <a:r>
              <a:rPr lang="es-CO" b="1" dirty="0">
                <a:latin typeface="Consolas" panose="020B0609020204030204" pitchFamily="49" charset="0"/>
              </a:rPr>
              <a:t>VC</a:t>
            </a:r>
            <a:r>
              <a:rPr lang="es-CO" sz="2000" dirty="0"/>
              <a:t>) se definen en la cabecera del ciclo.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Lo anterior hace que la actualización sea un proceso automático, lo cual lo hace la opción mas apropiada para ciclos donde el numero de iteraciones es conocido.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En python la implementación del </a:t>
            </a:r>
            <a:r>
              <a:rPr lang="es-CO" b="1" dirty="0">
                <a:latin typeface="Consolas" panose="020B0609020204030204" pitchFamily="49" charset="0"/>
              </a:rPr>
              <a:t>Para</a:t>
            </a:r>
            <a:r>
              <a:rPr lang="es-CO" sz="2000" dirty="0"/>
              <a:t>, es diferente a la de lenguajes como C++ y Java, por lo que hay que tener en cuenta unos detalles adicionales que veremos luego. 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7351A35-0196-4D4A-98B3-FFF25A1FB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52" y="1322547"/>
            <a:ext cx="28194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1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9512" y="134971"/>
            <a:ext cx="8701428" cy="773749"/>
          </a:xfrm>
        </p:spPr>
        <p:txBody>
          <a:bodyPr>
            <a:normAutofit/>
          </a:bodyPr>
          <a:lstStyle/>
          <a:p>
            <a:r>
              <a:rPr lang="en-US" dirty="0"/>
              <a:t>Tipos de variables </a:t>
            </a:r>
            <a:r>
              <a:rPr lang="es-CO" dirty="0"/>
              <a:t>útiles</a:t>
            </a:r>
            <a:r>
              <a:rPr lang="en-US" dirty="0"/>
              <a:t> en los ciclos</a:t>
            </a:r>
          </a:p>
        </p:txBody>
      </p:sp>
      <p:sp>
        <p:nvSpPr>
          <p:cNvPr id="23" name="12 Rectángulo">
            <a:extLst>
              <a:ext uri="{FF2B5EF4-FFF2-40B4-BE49-F238E27FC236}">
                <a16:creationId xmlns:a16="http://schemas.microsoft.com/office/drawing/2014/main" id="{7789A76E-CF65-4031-95FC-AF6BE5FC3D10}"/>
              </a:ext>
            </a:extLst>
          </p:cNvPr>
          <p:cNvSpPr/>
          <p:nvPr/>
        </p:nvSpPr>
        <p:spPr>
          <a:xfrm>
            <a:off x="263060" y="971600"/>
            <a:ext cx="861788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dirty="0"/>
              <a:t>Todo ciclo suele apoyarse en algunos tipos de variables que cumplen roles específicos: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dirty="0"/>
              <a:t>Variable de control</a:t>
            </a:r>
            <a:r>
              <a:rPr lang="es-MX" sz="2000" dirty="0"/>
              <a:t>: se evalúa en la condición del ciclo para decidir si continúa o termina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dirty="0"/>
              <a:t>Contador</a:t>
            </a:r>
            <a:r>
              <a:rPr lang="es-MX" sz="2000" dirty="0"/>
              <a:t>: lleva la cuenta de repeticiones; se actualiza en una cantidad constante.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dirty="0"/>
              <a:t>Acumulador</a:t>
            </a:r>
            <a:r>
              <a:rPr lang="es-MX" sz="2000" dirty="0"/>
              <a:t>: acumula el resultado de una operación que se repite; se actualiza en un valor variable.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dirty="0"/>
              <a:t>Bandera</a:t>
            </a:r>
            <a:r>
              <a:rPr lang="es-MX" sz="2000" dirty="0"/>
              <a:t>: variable de dos valores excluyentes usada para controlar el ciclo o recordar un estado dentro de él.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dirty="0"/>
              <a:t>Centinela</a:t>
            </a:r>
            <a:r>
              <a:rPr lang="es-MX" sz="2000" dirty="0"/>
              <a:t>: valor especial, fuera del rango válido de los datos, que señala el fin de la entrada.</a:t>
            </a:r>
            <a:endParaRPr lang="es-CO"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628C91B-6B35-4CCA-9E5E-061F524BA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976" y="5148382"/>
            <a:ext cx="1038147" cy="106238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94643B5-DC67-4F7C-BC79-F0BA66776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333" y="5226403"/>
            <a:ext cx="918608" cy="906339"/>
          </a:xfrm>
          <a:prstGeom prst="rect">
            <a:avLst/>
          </a:prstGeom>
        </p:spPr>
      </p:pic>
      <p:pic>
        <p:nvPicPr>
          <p:cNvPr id="9" name="Picture 10" descr="Electric Flow Control Icons - Free SVG &amp; PNG Electric Flow Control ...">
            <a:extLst>
              <a:ext uri="{FF2B5EF4-FFF2-40B4-BE49-F238E27FC236}">
                <a16:creationId xmlns:a16="http://schemas.microsoft.com/office/drawing/2014/main" id="{274487F1-0748-4346-85E4-D33A532AD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58" y="5135038"/>
            <a:ext cx="918607" cy="91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15704D8-FD5A-49E7-8FBA-BE16A7AB07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3667" y="5158353"/>
            <a:ext cx="918608" cy="918608"/>
          </a:xfrm>
          <a:prstGeom prst="rect">
            <a:avLst/>
          </a:prstGeom>
        </p:spPr>
      </p:pic>
      <p:pic>
        <p:nvPicPr>
          <p:cNvPr id="1026" name="Picture 2" descr="Toggles Icon Stock Illustrations – 155 Toggles Icon Stock Illustrations,  Vectors &amp; Clipart - Dreamstime">
            <a:extLst>
              <a:ext uri="{FF2B5EF4-FFF2-40B4-BE49-F238E27FC236}">
                <a16:creationId xmlns:a16="http://schemas.microsoft.com/office/drawing/2014/main" id="{4E245C6B-0D14-4CF7-A0D9-8F4D1F141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5145066"/>
            <a:ext cx="1113555" cy="1028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211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9512" y="134971"/>
            <a:ext cx="7617582" cy="773749"/>
          </a:xfrm>
        </p:spPr>
        <p:txBody>
          <a:bodyPr/>
          <a:lstStyle/>
          <a:p>
            <a:r>
              <a:rPr lang="en-US" dirty="0"/>
              <a:t>Recapitulando lo visto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645D3D08-4B3C-4C18-B8C6-669D7CE9CF27}"/>
              </a:ext>
            </a:extLst>
          </p:cNvPr>
          <p:cNvGrpSpPr/>
          <p:nvPr/>
        </p:nvGrpSpPr>
        <p:grpSpPr>
          <a:xfrm>
            <a:off x="689991" y="1124744"/>
            <a:ext cx="7986465" cy="3527899"/>
            <a:chOff x="614553" y="996468"/>
            <a:chExt cx="7986465" cy="3527899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17FF6CF8-A2C7-4534-B777-0480DC2C43FD}"/>
                </a:ext>
              </a:extLst>
            </p:cNvPr>
            <p:cNvSpPr/>
            <p:nvPr/>
          </p:nvSpPr>
          <p:spPr>
            <a:xfrm>
              <a:off x="3642527" y="996468"/>
              <a:ext cx="1871662" cy="80114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000" b="1" dirty="0">
                  <a:solidFill>
                    <a:sysClr val="windowText" lastClr="000000"/>
                  </a:solidFill>
                  <a:latin typeface="Century Gothic" panose="020B0502020202020204" pitchFamily="34" charset="0"/>
                </a:rPr>
                <a:t>Tipos de ciclos</a:t>
              </a:r>
              <a:endParaRPr lang="es-CO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9CA508EB-3624-4EAD-B04A-051BFD3BC767}"/>
                </a:ext>
              </a:extLst>
            </p:cNvPr>
            <p:cNvSpPr/>
            <p:nvPr/>
          </p:nvSpPr>
          <p:spPr>
            <a:xfrm>
              <a:off x="2057123" y="2248886"/>
              <a:ext cx="2092234" cy="70586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000" b="1" dirty="0">
                  <a:solidFill>
                    <a:sysClr val="windowText" lastClr="000000"/>
                  </a:solidFill>
                  <a:latin typeface="Century Gothic" panose="020B0502020202020204" pitchFamily="34" charset="0"/>
                </a:rPr>
                <a:t>Iteración desconocidas</a:t>
              </a:r>
              <a:endParaRPr lang="es-CO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9C04CFF0-15AE-46AD-8545-CA10432DFBC7}"/>
                </a:ext>
              </a:extLst>
            </p:cNvPr>
            <p:cNvSpPr/>
            <p:nvPr/>
          </p:nvSpPr>
          <p:spPr>
            <a:xfrm>
              <a:off x="6508784" y="2248887"/>
              <a:ext cx="2092234" cy="70586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000" b="1" dirty="0">
                  <a:solidFill>
                    <a:sysClr val="windowText" lastClr="000000"/>
                  </a:solidFill>
                  <a:latin typeface="Century Gothic" panose="020B0502020202020204" pitchFamily="34" charset="0"/>
                </a:rPr>
                <a:t>Iteraciones conocidas</a:t>
              </a:r>
              <a:endParaRPr lang="es-CO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endParaRPr>
            </a:p>
          </p:txBody>
        </p: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434EF194-3464-4FF9-AE5F-801860475EF7}"/>
                </a:ext>
              </a:extLst>
            </p:cNvPr>
            <p:cNvGrpSpPr/>
            <p:nvPr/>
          </p:nvGrpSpPr>
          <p:grpSpPr>
            <a:xfrm>
              <a:off x="3103241" y="1797614"/>
              <a:ext cx="4451659" cy="451273"/>
              <a:chOff x="4636088" y="2226292"/>
              <a:chExt cx="4451659" cy="451273"/>
            </a:xfrm>
          </p:grpSpPr>
          <p:cxnSp>
            <p:nvCxnSpPr>
              <p:cNvPr id="15" name="Conector: angular 14">
                <a:extLst>
                  <a:ext uri="{FF2B5EF4-FFF2-40B4-BE49-F238E27FC236}">
                    <a16:creationId xmlns:a16="http://schemas.microsoft.com/office/drawing/2014/main" id="{3F59C4E0-0B53-42D6-8730-893ACEB8422E}"/>
                  </a:ext>
                </a:extLst>
              </p:cNvPr>
              <p:cNvCxnSpPr>
                <a:cxnSpLocks/>
                <a:stCxn id="7" idx="2"/>
                <a:endCxn id="9" idx="0"/>
              </p:cNvCxnSpPr>
              <p:nvPr/>
            </p:nvCxnSpPr>
            <p:spPr>
              <a:xfrm rot="16200000" flipH="1">
                <a:off x="7373840" y="963657"/>
                <a:ext cx="451272" cy="2976543"/>
              </a:xfrm>
              <a:prstGeom prst="bentConnector3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ector: angular 15">
                <a:extLst>
                  <a:ext uri="{FF2B5EF4-FFF2-40B4-BE49-F238E27FC236}">
                    <a16:creationId xmlns:a16="http://schemas.microsoft.com/office/drawing/2014/main" id="{4691D068-4A98-4040-A207-0FE3A9106C1D}"/>
                  </a:ext>
                </a:extLst>
              </p:cNvPr>
              <p:cNvCxnSpPr>
                <a:cxnSpLocks/>
                <a:stCxn id="7" idx="2"/>
                <a:endCxn id="8" idx="0"/>
              </p:cNvCxnSpPr>
              <p:nvPr/>
            </p:nvCxnSpPr>
            <p:spPr>
              <a:xfrm rot="5400000">
                <a:off x="5148011" y="1714369"/>
                <a:ext cx="451271" cy="1475118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ED136B1-85F4-41B9-BB93-29C0E5EDC2CA}"/>
                </a:ext>
              </a:extLst>
            </p:cNvPr>
            <p:cNvSpPr/>
            <p:nvPr/>
          </p:nvSpPr>
          <p:spPr>
            <a:xfrm>
              <a:off x="614553" y="3722679"/>
              <a:ext cx="2092234" cy="80168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b="1" dirty="0">
                  <a:solidFill>
                    <a:sysClr val="windowText" lastClr="000000"/>
                  </a:solidFill>
                  <a:latin typeface="Century Gothic" panose="020B0502020202020204" pitchFamily="34" charset="0"/>
                </a:rPr>
                <a:t>Preguntar antes de cada iteración (uso de bandera)</a:t>
              </a:r>
              <a:endParaRPr lang="es-CO" sz="1600" b="1" dirty="0">
                <a:solidFill>
                  <a:sysClr val="windowText" lastClr="000000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F7499249-A05E-40A5-8B3D-18F1995942AE}"/>
                </a:ext>
              </a:extLst>
            </p:cNvPr>
            <p:cNvSpPr/>
            <p:nvPr/>
          </p:nvSpPr>
          <p:spPr>
            <a:xfrm>
              <a:off x="3532240" y="3722679"/>
              <a:ext cx="2092234" cy="80168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b="1" dirty="0">
                  <a:solidFill>
                    <a:sysClr val="windowText" lastClr="000000"/>
                  </a:solidFill>
                  <a:latin typeface="Century Gothic" panose="020B0502020202020204" pitchFamily="34" charset="0"/>
                </a:rPr>
                <a:t>Usando registro centinela</a:t>
              </a:r>
              <a:endParaRPr lang="es-CO" sz="1600" b="1" dirty="0">
                <a:solidFill>
                  <a:sysClr val="windowText" lastClr="000000"/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13" name="Conector: angular 12">
              <a:extLst>
                <a:ext uri="{FF2B5EF4-FFF2-40B4-BE49-F238E27FC236}">
                  <a16:creationId xmlns:a16="http://schemas.microsoft.com/office/drawing/2014/main" id="{3F80EB01-383C-40DF-83C3-441DB3D1E0E9}"/>
                </a:ext>
              </a:extLst>
            </p:cNvPr>
            <p:cNvCxnSpPr>
              <a:cxnSpLocks/>
              <a:stCxn id="8" idx="2"/>
              <a:endCxn id="12" idx="0"/>
            </p:cNvCxnSpPr>
            <p:nvPr/>
          </p:nvCxnSpPr>
          <p:spPr>
            <a:xfrm rot="16200000" flipH="1">
              <a:off x="3456835" y="2601156"/>
              <a:ext cx="767927" cy="1475117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: angular 13">
              <a:extLst>
                <a:ext uri="{FF2B5EF4-FFF2-40B4-BE49-F238E27FC236}">
                  <a16:creationId xmlns:a16="http://schemas.microsoft.com/office/drawing/2014/main" id="{21B524B9-84F4-491B-AAC9-0AE576377AC4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 rot="5400000">
              <a:off x="1997992" y="2617430"/>
              <a:ext cx="767927" cy="1442570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D82673E-C4DA-45AC-97A5-D7F4C00FAD8A}"/>
              </a:ext>
            </a:extLst>
          </p:cNvPr>
          <p:cNvSpPr txBox="1"/>
          <p:nvPr/>
        </p:nvSpPr>
        <p:spPr>
          <a:xfrm>
            <a:off x="6423951" y="3232376"/>
            <a:ext cx="2412776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 = 0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...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Mientras (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i &lt; N</a:t>
            </a:r>
            <a:r>
              <a:rPr lang="es-MX" sz="1200" dirty="0">
                <a:latin typeface="Consolas" panose="020B0609020204030204" pitchFamily="49" charset="0"/>
              </a:rPr>
              <a:t>) Haga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Leer(nota)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...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i = i + 1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Fin_Mientras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48EAF0A-C0B4-45A5-A1A6-ABED1BAD1C4E}"/>
              </a:ext>
            </a:extLst>
          </p:cNvPr>
          <p:cNvSpPr txBox="1"/>
          <p:nvPr/>
        </p:nvSpPr>
        <p:spPr>
          <a:xfrm>
            <a:off x="3423511" y="4894368"/>
            <a:ext cx="2718556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...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Leer(nota)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Mientras (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nota != -1</a:t>
            </a:r>
            <a:r>
              <a:rPr lang="es-MX" sz="1200" dirty="0">
                <a:latin typeface="Consolas" panose="020B0609020204030204" pitchFamily="49" charset="0"/>
              </a:rPr>
              <a:t>) Haga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...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Leer(nota)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Fin_Mientras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2AEE7FC-91E3-4CCC-ABEF-C1E40A15FC5B}"/>
              </a:ext>
            </a:extLst>
          </p:cNvPr>
          <p:cNvSpPr txBox="1"/>
          <p:nvPr/>
        </p:nvSpPr>
        <p:spPr>
          <a:xfrm>
            <a:off x="149264" y="4802036"/>
            <a:ext cx="3078329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...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Leer(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hay_est</a:t>
            </a:r>
            <a:r>
              <a:rPr lang="es-MX" sz="1200" dirty="0">
                <a:latin typeface="Consolas" panose="020B0609020204030204" pitchFamily="49" charset="0"/>
              </a:rPr>
              <a:t>)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Mientras (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hay_est</a:t>
            </a:r>
            <a:r>
              <a:rPr lang="es-MX" sz="1200" dirty="0">
                <a:solidFill>
                  <a:srgbClr val="C00000"/>
                </a:solidFill>
                <a:latin typeface="Consolas" panose="020B0609020204030204" pitchFamily="49" charset="0"/>
              </a:rPr>
              <a:t> == 's'</a:t>
            </a:r>
            <a:r>
              <a:rPr lang="es-MX" sz="1200" dirty="0">
                <a:latin typeface="Consolas" panose="020B0609020204030204" pitchFamily="49" charset="0"/>
              </a:rPr>
              <a:t>) Haga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Leer(nota)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...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  Leer(</a:t>
            </a:r>
            <a:r>
              <a:rPr lang="es-MX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hay_est</a:t>
            </a:r>
            <a:r>
              <a:rPr lang="es-MX" sz="1200" dirty="0">
                <a:latin typeface="Consolas" panose="020B0609020204030204" pitchFamily="49" charset="0"/>
              </a:rPr>
              <a:t>)  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Fin_Mientras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631222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9511" y="134971"/>
            <a:ext cx="8491661" cy="773749"/>
          </a:xfrm>
        </p:spPr>
        <p:txBody>
          <a:bodyPr/>
          <a:lstStyle/>
          <a:p>
            <a:r>
              <a:rPr lang="en-US" dirty="0"/>
              <a:t>Introducción a las funciones</a:t>
            </a:r>
          </a:p>
        </p:txBody>
      </p:sp>
      <p:pic>
        <p:nvPicPr>
          <p:cNvPr id="10242" name="Picture 2" descr="xkcd: Random Number">
            <a:extLst>
              <a:ext uri="{FF2B5EF4-FFF2-40B4-BE49-F238E27FC236}">
                <a16:creationId xmlns:a16="http://schemas.microsoft.com/office/drawing/2014/main" id="{E72BF9ED-4146-4F5B-8782-1C211EBBF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8" y="1985392"/>
            <a:ext cx="4010022" cy="1443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xkcd: Dependency">
            <a:extLst>
              <a:ext uri="{FF2B5EF4-FFF2-40B4-BE49-F238E27FC236}">
                <a16:creationId xmlns:a16="http://schemas.microsoft.com/office/drawing/2014/main" id="{CC1A6EDE-9178-4C94-AE17-EDE25EDB0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340768"/>
            <a:ext cx="3667125" cy="465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291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62413" y="116632"/>
            <a:ext cx="8981587" cy="1215008"/>
          </a:xfrm>
        </p:spPr>
        <p:txBody>
          <a:bodyPr>
            <a:normAutofit fontScale="90000"/>
          </a:bodyPr>
          <a:lstStyle/>
          <a:p>
            <a:r>
              <a:rPr lang="es-CO" dirty="0"/>
              <a:t>Módulos, subrutinas, procedimientos, funciones o métodos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62413" y="1160165"/>
            <a:ext cx="881917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200" b="1" dirty="0"/>
              <a:t>Modulo</a:t>
            </a:r>
            <a:r>
              <a:rPr lang="es-MX" sz="2200" dirty="0"/>
              <a:t>: </a:t>
            </a:r>
            <a:r>
              <a:rPr lang="es-MX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Porción de código que realiza una tarea especifica.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También se conoce como: subrutina, procedimiento, función o método.</a:t>
            </a:r>
          </a:p>
          <a:p>
            <a:r>
              <a:rPr lang="es-MX" sz="2200" b="1" dirty="0"/>
              <a:t>Modularizar</a:t>
            </a:r>
            <a:r>
              <a:rPr lang="es-MX" sz="22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Dividir un programa grande en módulos.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A17E972-52FC-4940-90D8-B6DA6E948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64" y="2924944"/>
            <a:ext cx="1181080" cy="3096344"/>
          </a:xfrm>
          <a:prstGeom prst="rect">
            <a:avLst/>
          </a:prstGeom>
        </p:spPr>
      </p:pic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3FC34689-ACF1-4671-9408-C1A0823750FE}"/>
              </a:ext>
            </a:extLst>
          </p:cNvPr>
          <p:cNvSpPr/>
          <p:nvPr/>
        </p:nvSpPr>
        <p:spPr>
          <a:xfrm>
            <a:off x="2482022" y="4169224"/>
            <a:ext cx="1368152" cy="57606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b="1" dirty="0"/>
              <a:t>Modularizar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AC201415-31FD-434B-BF7D-680CFB497669}"/>
              </a:ext>
            </a:extLst>
          </p:cNvPr>
          <p:cNvGrpSpPr/>
          <p:nvPr/>
        </p:nvGrpSpPr>
        <p:grpSpPr>
          <a:xfrm>
            <a:off x="3995936" y="3059013"/>
            <a:ext cx="4279629" cy="2962275"/>
            <a:chOff x="4226392" y="3348208"/>
            <a:chExt cx="4279629" cy="2962275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A8EA4752-8445-4481-98F5-B3038E785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0746" y="3348208"/>
              <a:ext cx="4105275" cy="2962275"/>
            </a:xfrm>
            <a:prstGeom prst="rect">
              <a:avLst/>
            </a:prstGeom>
          </p:spPr>
        </p:pic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59DB943E-5A24-4972-8246-5C57BFE61194}"/>
                </a:ext>
              </a:extLst>
            </p:cNvPr>
            <p:cNvSpPr/>
            <p:nvPr/>
          </p:nvSpPr>
          <p:spPr>
            <a:xfrm>
              <a:off x="4294909" y="4546600"/>
              <a:ext cx="1743941" cy="520700"/>
            </a:xfrm>
            <a:prstGeom prst="roundRect">
              <a:avLst/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1CB328B-150B-4DF5-BA95-0DDDF814FB2E}"/>
                </a:ext>
              </a:extLst>
            </p:cNvPr>
            <p:cNvSpPr txBox="1"/>
            <p:nvPr/>
          </p:nvSpPr>
          <p:spPr>
            <a:xfrm>
              <a:off x="4226392" y="4304129"/>
              <a:ext cx="6912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200" b="1" dirty="0">
                  <a:solidFill>
                    <a:schemeClr val="accent6"/>
                  </a:solidFill>
                </a:rPr>
                <a:t>Modulo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8E73D17D-CAAB-4C7E-A044-9A406A840238}"/>
                </a:ext>
              </a:extLst>
            </p:cNvPr>
            <p:cNvSpPr txBox="1"/>
            <p:nvPr/>
          </p:nvSpPr>
          <p:spPr>
            <a:xfrm>
              <a:off x="6588224" y="3474423"/>
              <a:ext cx="103092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CO" sz="1200" b="1" dirty="0">
                  <a:solidFill>
                    <a:schemeClr val="bg1">
                      <a:lumMod val="50000"/>
                    </a:schemeClr>
                  </a:solidFill>
                </a:rPr>
                <a:t>Instrucciones</a:t>
              </a:r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E019AE7-A342-4F1B-B33F-1F47F2B8D248}"/>
              </a:ext>
            </a:extLst>
          </p:cNvPr>
          <p:cNvSpPr txBox="1"/>
          <p:nvPr/>
        </p:nvSpPr>
        <p:spPr>
          <a:xfrm>
            <a:off x="230993" y="6061576"/>
            <a:ext cx="3024336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100" dirty="0">
                <a:latin typeface="Consolas" panose="020B0609020204030204" pitchFamily="49" charset="0"/>
              </a:rPr>
              <a:t>c = float(input("Ingrese los °C: "))</a:t>
            </a:r>
          </a:p>
          <a:p>
            <a:r>
              <a:rPr lang="es-CO" sz="1100" dirty="0">
                <a:latin typeface="Consolas" panose="020B0609020204030204" pitchFamily="49" charset="0"/>
              </a:rPr>
              <a:t>f = (9.0/5)*c + 32</a:t>
            </a:r>
          </a:p>
          <a:p>
            <a:r>
              <a:rPr lang="es-CO" sz="1100" dirty="0">
                <a:latin typeface="Consolas" panose="020B0609020204030204" pitchFamily="49" charset="0"/>
              </a:rPr>
              <a:t>print(c,"°C =",f, "°F")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8E8B0EF-3BD5-4431-BD8A-978CEEB33C7A}"/>
              </a:ext>
            </a:extLst>
          </p:cNvPr>
          <p:cNvSpPr txBox="1"/>
          <p:nvPr/>
        </p:nvSpPr>
        <p:spPr>
          <a:xfrm>
            <a:off x="853502" y="6602868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4"/>
              </a:rPr>
              <a:t>Link simulación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108145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1215008"/>
          </a:xfrm>
        </p:spPr>
        <p:txBody>
          <a:bodyPr>
            <a:normAutofit/>
          </a:bodyPr>
          <a:lstStyle/>
          <a:p>
            <a:r>
              <a:rPr lang="es-CO" dirty="0"/>
              <a:t>Ventajas de la modularización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51520" y="1110442"/>
            <a:ext cx="881917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Proporciona abstracción.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Permite el trabajo simultaneo de múltiples programadores.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Permite el reuso de código.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Facilita la identifición de estructuras mas fácilmente.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38E0BD8-BA99-493A-BAD7-2AE2BF390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708920"/>
            <a:ext cx="3240360" cy="157317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8BB803D-6CFB-4AF4-9050-5FBE1FC2E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624" y="2708920"/>
            <a:ext cx="3830767" cy="151743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C2F8CAF-7D79-41BE-B798-E68B759A9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4661618"/>
            <a:ext cx="3240360" cy="142419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EF2F40FD-3617-4604-8F9B-762FC3D64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8777" y="4675266"/>
            <a:ext cx="3952460" cy="141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379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Abstracción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51520" y="947152"/>
            <a:ext cx="842493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Permite enfocarse en las propiedades importantes ignorando los detalles no esenciales.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Evita detalles de bajo nivel y usa un enfoque de alto nivel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Hace que tareas complejas parezcan simples.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Ejemplo</a:t>
            </a:r>
            <a:r>
              <a:rPr lang="es-MX" sz="2000" dirty="0"/>
              <a:t>: Lista de tareas pendientes (To Do List)</a:t>
            </a: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B0448D64-7860-409B-A682-B54897D7F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913379"/>
              </p:ext>
            </p:extLst>
          </p:nvPr>
        </p:nvGraphicFramePr>
        <p:xfrm>
          <a:off x="946473" y="3217461"/>
          <a:ext cx="2232248" cy="1686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965325740"/>
                    </a:ext>
                  </a:extLst>
                </a:gridCol>
              </a:tblGrid>
              <a:tr h="135449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solidFill>
                            <a:schemeClr val="bg1"/>
                          </a:solidFill>
                        </a:rPr>
                        <a:t>Con abstracción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13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s-CO" sz="1600" b="1" dirty="0">
                          <a:solidFill>
                            <a:srgbClr val="C00000"/>
                          </a:solidFill>
                        </a:rPr>
                        <a:t>Lavar la ropa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65983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s-MX" sz="1600" b="1" dirty="0">
                          <a:solidFill>
                            <a:schemeClr val="accent4"/>
                          </a:solidFill>
                        </a:rPr>
                        <a:t>Llamar a la abuela</a:t>
                      </a:r>
                      <a:endParaRPr lang="es-CO" sz="1600" b="1" dirty="0">
                        <a:solidFill>
                          <a:schemeClr val="accent4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9609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s-CO" sz="1600" b="1" dirty="0">
                          <a:solidFill>
                            <a:schemeClr val="accent2"/>
                          </a:solidFill>
                        </a:rPr>
                        <a:t>Empezar el trabajo final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091473"/>
                  </a:ext>
                </a:extLst>
              </a:tr>
            </a:tbl>
          </a:graphicData>
        </a:graphic>
      </p:graphicFrame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F3B08988-38C9-4B0F-966A-F64FCA2F6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151420"/>
              </p:ext>
            </p:extLst>
          </p:nvPr>
        </p:nvGraphicFramePr>
        <p:xfrm>
          <a:off x="5148064" y="2924944"/>
          <a:ext cx="3333700" cy="333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3700">
                  <a:extLst>
                    <a:ext uri="{9D8B030D-6E8A-4147-A177-3AD203B41FA5}">
                      <a16:colId xmlns:a16="http://schemas.microsoft.com/office/drawing/2014/main" val="2965325740"/>
                    </a:ext>
                  </a:extLst>
                </a:gridCol>
              </a:tblGrid>
              <a:tr h="262509"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solidFill>
                            <a:schemeClr val="bg1"/>
                          </a:solidFill>
                        </a:rPr>
                        <a:t>Sin abstracción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13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s-MX" sz="1600" dirty="0">
                          <a:solidFill>
                            <a:srgbClr val="C00000"/>
                          </a:solidFill>
                        </a:rPr>
                        <a:t>Recoger la canasta de ropa</a:t>
                      </a:r>
                      <a:endParaRPr lang="es-CO" sz="16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65983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s-MX" sz="1600" dirty="0">
                          <a:solidFill>
                            <a:srgbClr val="C00000"/>
                          </a:solidFill>
                        </a:rPr>
                        <a:t>Poner la canasta en el carro</a:t>
                      </a:r>
                      <a:endParaRPr lang="es-CO" sz="16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9609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s-CO" sz="1600" dirty="0">
                          <a:solidFill>
                            <a:srgbClr val="C00000"/>
                          </a:solidFill>
                        </a:rPr>
                        <a:t>Conducir hasta la lavandería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34091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s-MX" sz="1600" dirty="0">
                          <a:solidFill>
                            <a:srgbClr val="C00000"/>
                          </a:solidFill>
                        </a:rPr>
                        <a:t>Bajarse del carro con la canasta</a:t>
                      </a:r>
                      <a:endParaRPr lang="es-CO" sz="16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792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s-CO" sz="1600" dirty="0">
                          <a:solidFill>
                            <a:srgbClr val="C00000"/>
                          </a:solidFill>
                        </a:rPr>
                        <a:t>Entrar a la lavandería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5390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s-MX" sz="1600" dirty="0">
                          <a:solidFill>
                            <a:srgbClr val="C00000"/>
                          </a:solidFill>
                        </a:rPr>
                        <a:t>Dejar la canasta en el suelo</a:t>
                      </a:r>
                      <a:endParaRPr lang="es-CO" sz="16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01142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s-MX" sz="1600" dirty="0">
                          <a:solidFill>
                            <a:srgbClr val="C00000"/>
                          </a:solidFill>
                        </a:rPr>
                        <a:t>Buscar monedas para la lavadora</a:t>
                      </a:r>
                      <a:endParaRPr lang="es-CO" sz="16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1680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... y así sucesivamente.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5068095"/>
                  </a:ext>
                </a:extLst>
              </a:tr>
            </a:tbl>
          </a:graphicData>
        </a:graphic>
      </p:graphicFrame>
      <p:sp>
        <p:nvSpPr>
          <p:cNvPr id="3" name="Abrir llave 2">
            <a:extLst>
              <a:ext uri="{FF2B5EF4-FFF2-40B4-BE49-F238E27FC236}">
                <a16:creationId xmlns:a16="http://schemas.microsoft.com/office/drawing/2014/main" id="{EFE2911F-BB23-462C-96DD-A7764F780AA1}"/>
              </a:ext>
            </a:extLst>
          </p:cNvPr>
          <p:cNvSpPr/>
          <p:nvPr/>
        </p:nvSpPr>
        <p:spPr>
          <a:xfrm>
            <a:off x="4901704" y="3305096"/>
            <a:ext cx="123180" cy="2592288"/>
          </a:xfrm>
          <a:prstGeom prst="leftBrace">
            <a:avLst>
              <a:gd name="adj1" fmla="val 34541"/>
              <a:gd name="adj2" fmla="val 50000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Abrir llave 11">
            <a:extLst>
              <a:ext uri="{FF2B5EF4-FFF2-40B4-BE49-F238E27FC236}">
                <a16:creationId xmlns:a16="http://schemas.microsoft.com/office/drawing/2014/main" id="{AFABD951-A2C5-410E-A0BB-450A896772A7}"/>
              </a:ext>
            </a:extLst>
          </p:cNvPr>
          <p:cNvSpPr/>
          <p:nvPr/>
        </p:nvSpPr>
        <p:spPr>
          <a:xfrm flipH="1">
            <a:off x="3240311" y="3607877"/>
            <a:ext cx="123180" cy="426640"/>
          </a:xfrm>
          <a:prstGeom prst="leftBrace">
            <a:avLst>
              <a:gd name="adj1" fmla="val 34541"/>
              <a:gd name="adj2" fmla="val 50000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5FFD2E2B-0F5B-4448-8F3D-41F1C42F4E54}"/>
              </a:ext>
            </a:extLst>
          </p:cNvPr>
          <p:cNvCxnSpPr>
            <a:cxnSpLocks/>
          </p:cNvCxnSpPr>
          <p:nvPr/>
        </p:nvCxnSpPr>
        <p:spPr>
          <a:xfrm>
            <a:off x="3467100" y="3821530"/>
            <a:ext cx="1319213" cy="77628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4C6E467-E10E-48F1-991C-152A1DC26116}"/>
              </a:ext>
            </a:extLst>
          </p:cNvPr>
          <p:cNvSpPr txBox="1"/>
          <p:nvPr/>
        </p:nvSpPr>
        <p:spPr>
          <a:xfrm>
            <a:off x="45715" y="6470223"/>
            <a:ext cx="81619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Adaptado de</a:t>
            </a:r>
            <a:r>
              <a:rPr lang="en-US" sz="1400" dirty="0"/>
              <a:t>: Farrell, J. Programming Logic and Design, Introductory, 4th ed. Cengage.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2451010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Trabajo simultaneo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51520" y="947152"/>
            <a:ext cx="84249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Los proyectos de programación grandes pueden ser divididos en módulos.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Los módulos pueden ser escritos por diferentes programadores.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El tiempo de desarrollo se reduce significativamente.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31A64F8-273B-48D7-9323-CFFFD07F9B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522655"/>
            <a:ext cx="5339533" cy="300688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70D2931-9982-422E-901B-FE3AD6E04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240" y="2480406"/>
            <a:ext cx="1739115" cy="309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57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Reutilización y confiabilidad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51520" y="1697433"/>
            <a:ext cx="396044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Reutilización</a:t>
            </a:r>
            <a:r>
              <a:rPr lang="es-MX" sz="2000" dirty="0"/>
              <a:t>: capacidad de usar módulos en una variedad de aplicaciones.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Confiabilidad</a:t>
            </a:r>
            <a:r>
              <a:rPr lang="es-MX" sz="2000" dirty="0"/>
              <a:t>: garantía de que un módulo ha sido probado y ha demostrado funcionar correctamente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CAD38ED-1C4F-4CF0-B02D-4EBBB9BCF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701" y="1657695"/>
            <a:ext cx="4320482" cy="241339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3BD8CBB-A464-4F41-94BA-DAFF151D8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156" y="4226545"/>
            <a:ext cx="4320480" cy="2413394"/>
          </a:xfrm>
          <a:prstGeom prst="rect">
            <a:avLst/>
          </a:prstGeom>
        </p:spPr>
      </p:pic>
      <p:sp>
        <p:nvSpPr>
          <p:cNvPr id="10" name="12 Rectángulo">
            <a:extLst>
              <a:ext uri="{FF2B5EF4-FFF2-40B4-BE49-F238E27FC236}">
                <a16:creationId xmlns:a16="http://schemas.microsoft.com/office/drawing/2014/main" id="{E87468A7-8C11-41BC-BC2F-252EF00F2B64}"/>
              </a:ext>
            </a:extLst>
          </p:cNvPr>
          <p:cNvSpPr/>
          <p:nvPr/>
        </p:nvSpPr>
        <p:spPr>
          <a:xfrm>
            <a:off x="251520" y="949809"/>
            <a:ext cx="86409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dirty="0"/>
              <a:t>Al modularizar, es posible aprovechar código previamente creado para hacer nuevas cosas:</a:t>
            </a:r>
          </a:p>
        </p:txBody>
      </p:sp>
    </p:spTree>
    <p:extLst>
      <p:ext uri="{BB962C8B-B14F-4D97-AF65-F5344CB8AC3E}">
        <p14:creationId xmlns:p14="http://schemas.microsoft.com/office/powerpoint/2010/main" val="1459615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 fontScale="90000"/>
          </a:bodyPr>
          <a:lstStyle/>
          <a:p>
            <a:r>
              <a:rPr lang="es-CO" dirty="0"/>
              <a:t>Facilitando la identificación de estructuras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51520" y="839324"/>
            <a:ext cx="86409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MX" sz="2000" dirty="0"/>
              <a:t>Agrupar varias tareas en módulos puede facilitar que los programadores principiantes: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dirty="0"/>
              <a:t>Determinen si un programa es estructurado.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dirty="0"/>
              <a:t>Identifiquen las estructuras de un programa.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MX" sz="2000" dirty="0"/>
              <a:t>Los programadores experimentados modularizan por la abstracción, la facilidad para dividir el trabajo y la reutilización.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7759537-55CF-41B0-BEB6-98C2C269B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20" y="2852936"/>
            <a:ext cx="6948264" cy="388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269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Modularizando un programa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51520" y="908720"/>
            <a:ext cx="84249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La mayoría de los programas contienen un </a:t>
            </a:r>
            <a:r>
              <a:rPr lang="es-MX" sz="2000" b="1" dirty="0"/>
              <a:t>módulo principal</a:t>
            </a:r>
            <a:r>
              <a:rPr lang="es-MX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dirty="0"/>
              <a:t>Contiene la </a:t>
            </a:r>
            <a:r>
              <a:rPr lang="es-MX" sz="2000" b="1" dirty="0"/>
              <a:t>lógica principal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dirty="0"/>
              <a:t>Accede a otros módulos o subrutinas.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1F5A312-216E-4834-965F-E412A44DA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596" y="2060848"/>
            <a:ext cx="7524328" cy="420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864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Nombrando módulos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66924" y="828631"/>
            <a:ext cx="86255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Para nombrar módulos (funciones) se recomienda seguir las siguientes recomendaciones: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dirty="0"/>
              <a:t>El nombre debe ser de una sola palabra.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dirty="0"/>
              <a:t>El nombre debe ser significativo.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dirty="0"/>
              <a:t>Van seguidos de un par de paréntesis.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Ejemplo</a:t>
            </a:r>
            <a:r>
              <a:rPr lang="es-MX" sz="2000" dirty="0"/>
              <a:t>: Nombres válidos e inválidos para un módulo que calcula el salario bruto de un empleado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39FA8AA-0BE6-4AF0-91D5-82F66D04B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129868"/>
              </p:ext>
            </p:extLst>
          </p:nvPr>
        </p:nvGraphicFramePr>
        <p:xfrm>
          <a:off x="467544" y="3140968"/>
          <a:ext cx="8341034" cy="3383280"/>
        </p:xfrm>
        <a:graphic>
          <a:graphicData uri="http://schemas.openxmlformats.org/drawingml/2006/table">
            <a:tbl>
              <a:tblPr/>
              <a:tblGrid>
                <a:gridCol w="4756038">
                  <a:extLst>
                    <a:ext uri="{9D8B030D-6E8A-4147-A177-3AD203B41FA5}">
                      <a16:colId xmlns:a16="http://schemas.microsoft.com/office/drawing/2014/main" val="2578708731"/>
                    </a:ext>
                  </a:extLst>
                </a:gridCol>
                <a:gridCol w="3584996">
                  <a:extLst>
                    <a:ext uri="{9D8B030D-6E8A-4147-A177-3AD203B41FA5}">
                      <a16:colId xmlns:a16="http://schemas.microsoft.com/office/drawing/2014/main" val="403589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sz="1800" b="1" dirty="0">
                          <a:solidFill>
                            <a:schemeClr val="bg1"/>
                          </a:solidFill>
                        </a:rPr>
                        <a:t>Nombres sugeridos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dirty="0">
                          <a:solidFill>
                            <a:schemeClr val="bg1"/>
                          </a:solidFill>
                        </a:rPr>
                        <a:t>Comentarios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104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calcular_salario_bruto()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 dirty="0">
                          <a:solidFill>
                            <a:srgbClr val="00B050"/>
                          </a:solidFill>
                        </a:rPr>
                        <a:t>Bueno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1190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calcular_bruto()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dirty="0">
                          <a:solidFill>
                            <a:srgbClr val="00B050"/>
                          </a:solidFill>
                        </a:rPr>
                        <a:t>Bueno</a:t>
                      </a:r>
                      <a:r>
                        <a:rPr lang="es-MX" sz="1800" dirty="0"/>
                        <a:t>: la mayoría interpretaría "bruto" como abreviatura de "salario bruto"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472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cal_sal_br()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 dirty="0">
                          <a:solidFill>
                            <a:schemeClr val="accent6"/>
                          </a:solidFill>
                        </a:rPr>
                        <a:t>Válido</a:t>
                      </a:r>
                      <a:r>
                        <a:rPr lang="es-CO" sz="1800" dirty="0"/>
                        <a:t>, pero críptico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92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1600">
                          <a:latin typeface="Consolas" panose="020B0609020204030204" pitchFamily="49" charset="0"/>
                        </a:rPr>
                        <a:t>calcular_salario_bruto_para_un_empleado()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 dirty="0">
                          <a:solidFill>
                            <a:schemeClr val="accent6"/>
                          </a:solidFill>
                        </a:rPr>
                        <a:t>Válido</a:t>
                      </a:r>
                      <a:r>
                        <a:rPr lang="es-CO" sz="1800" dirty="0"/>
                        <a:t>, pero torpe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6738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>
                          <a:latin typeface="Consolas" panose="020B0609020204030204" pitchFamily="49" charset="0"/>
                        </a:rPr>
                        <a:t>calcular bruto()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dirty="0">
                          <a:solidFill>
                            <a:srgbClr val="FF0000"/>
                          </a:solidFill>
                        </a:rPr>
                        <a:t>No válido</a:t>
                      </a:r>
                      <a:r>
                        <a:rPr lang="es-MX" sz="1800" dirty="0"/>
                        <a:t>: contiene un espacio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682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calcularsalariobruto</a:t>
                      </a:r>
                      <a:r>
                        <a:rPr lang="es-CO" sz="1600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dirty="0">
                          <a:solidFill>
                            <a:schemeClr val="accent6"/>
                          </a:solidFill>
                        </a:rPr>
                        <a:t>Válido</a:t>
                      </a:r>
                      <a:r>
                        <a:rPr lang="es-MX" sz="1800" dirty="0"/>
                        <a:t>, pero difícil de leer sin separadores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819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92648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Funciones en Python - Definición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35496" y="775732"/>
            <a:ext cx="889248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Sintaxis</a:t>
            </a:r>
            <a:r>
              <a:rPr lang="es-MX" sz="2000" dirty="0"/>
              <a:t>: Una función se define mediante la palabra clave </a:t>
            </a:r>
            <a:r>
              <a:rPr lang="es-MX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def</a:t>
            </a:r>
            <a:r>
              <a:rPr lang="es-MX" sz="2000" dirty="0"/>
              <a:t> seguido del nombre del nombre y los parámetros entre paréntesis: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Donde</a:t>
            </a:r>
            <a:r>
              <a:rPr lang="es-MX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Nombre de la función</a:t>
            </a:r>
            <a:r>
              <a:rPr lang="es-MX" sz="2000" dirty="0"/>
              <a:t>: Identifica la función; con este se llama (invoca).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Parámetros</a:t>
            </a:r>
            <a:r>
              <a:rPr lang="es-MX" sz="2000" dirty="0"/>
              <a:t>: Lista de entradas de la función (puede estar vacía).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Cuerpo de la función</a:t>
            </a:r>
            <a:r>
              <a:rPr lang="es-MX" sz="2000" dirty="0"/>
              <a:t>: Conjunto de instrucciones que realizan la tarea (van indentadas).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1" dirty="0"/>
              <a:t>Importante</a:t>
            </a:r>
            <a:r>
              <a:rPr lang="es-MX" sz="2000" dirty="0"/>
              <a:t>: Definir una función no la ejecuta: solo se ejecuta cuando se la llama.</a:t>
            </a: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Diagrama de caja negra</a:t>
            </a:r>
            <a:r>
              <a:rPr lang="es-MX" sz="2000" dirty="0"/>
              <a:t>: Resume la interfaz de la función (entradas/salidas) sin entrar en los detalles internos.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12F26B2-715F-4699-9A5C-F8146CD83003}"/>
              </a:ext>
            </a:extLst>
          </p:cNvPr>
          <p:cNvSpPr txBox="1"/>
          <p:nvPr/>
        </p:nvSpPr>
        <p:spPr>
          <a:xfrm>
            <a:off x="637850" y="1620089"/>
            <a:ext cx="7966598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def</a:t>
            </a:r>
            <a:r>
              <a:rPr lang="es-CO" sz="1600" dirty="0">
                <a:latin typeface="Consolas" panose="020B0609020204030204" pitchFamily="49" charset="0"/>
              </a:rPr>
              <a:t> </a:t>
            </a:r>
            <a:r>
              <a:rPr lang="es-CO" sz="1600" b="1" dirty="0" err="1">
                <a:solidFill>
                  <a:schemeClr val="accent4"/>
                </a:solidFill>
                <a:latin typeface="Consolas" panose="020B0609020204030204" pitchFamily="49" charset="0"/>
              </a:rPr>
              <a:t>nombre_funcion</a:t>
            </a:r>
            <a:r>
              <a:rPr lang="es-CO" sz="1600" dirty="0">
                <a:latin typeface="Consolas" panose="020B0609020204030204" pitchFamily="49" charset="0"/>
              </a:rPr>
              <a:t>(param1, param2 ,... , paramN):</a:t>
            </a:r>
          </a:p>
          <a:p>
            <a:r>
              <a:rPr lang="es-CO" sz="1600" dirty="0">
                <a:latin typeface="Consolas" panose="020B0609020204030204" pitchFamily="49" charset="0"/>
              </a:rPr>
              <a:t>   cuerpo de la </a:t>
            </a:r>
            <a:r>
              <a:rPr lang="es-CO" sz="1600" dirty="0" err="1">
                <a:latin typeface="Consolas" panose="020B0609020204030204" pitchFamily="49" charset="0"/>
              </a:rPr>
              <a:t>funcion</a:t>
            </a:r>
            <a:r>
              <a:rPr lang="es-CO" sz="1600" dirty="0"/>
              <a:t>    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6A21C3D2-E1D7-4A23-8AAA-B6C6147D550F}"/>
              </a:ext>
            </a:extLst>
          </p:cNvPr>
          <p:cNvGrpSpPr/>
          <p:nvPr/>
        </p:nvGrpSpPr>
        <p:grpSpPr>
          <a:xfrm>
            <a:off x="2698566" y="4941168"/>
            <a:ext cx="4105682" cy="1728824"/>
            <a:chOff x="2266517" y="4833155"/>
            <a:chExt cx="4105682" cy="1728824"/>
          </a:xfrm>
        </p:grpSpPr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526A32AB-AAB4-40E6-82E9-48F798502151}"/>
                </a:ext>
              </a:extLst>
            </p:cNvPr>
            <p:cNvGrpSpPr/>
            <p:nvPr/>
          </p:nvGrpSpPr>
          <p:grpSpPr>
            <a:xfrm>
              <a:off x="2266517" y="4833155"/>
              <a:ext cx="4105682" cy="1728824"/>
              <a:chOff x="1259632" y="4422593"/>
              <a:chExt cx="4105682" cy="1728824"/>
            </a:xfrm>
          </p:grpSpPr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885A5536-1B4A-4234-9470-1BC461F4856B}"/>
                  </a:ext>
                </a:extLst>
              </p:cNvPr>
              <p:cNvSpPr/>
              <p:nvPr/>
            </p:nvSpPr>
            <p:spPr>
              <a:xfrm>
                <a:off x="1835695" y="4725142"/>
                <a:ext cx="3025564" cy="142627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>
                  <a:latin typeface="Consolas" panose="020B0609020204030204" pitchFamily="49" charset="0"/>
                </a:endParaRPr>
              </a:p>
            </p:txBody>
          </p:sp>
          <p:grpSp>
            <p:nvGrpSpPr>
              <p:cNvPr id="28" name="Grupo 27">
                <a:extLst>
                  <a:ext uri="{FF2B5EF4-FFF2-40B4-BE49-F238E27FC236}">
                    <a16:creationId xmlns:a16="http://schemas.microsoft.com/office/drawing/2014/main" id="{FBB823C4-005F-4AD6-8F85-452CBB2CAB22}"/>
                  </a:ext>
                </a:extLst>
              </p:cNvPr>
              <p:cNvGrpSpPr/>
              <p:nvPr/>
            </p:nvGrpSpPr>
            <p:grpSpPr>
              <a:xfrm>
                <a:off x="1907704" y="4849415"/>
                <a:ext cx="936104" cy="1171873"/>
                <a:chOff x="1907704" y="4849415"/>
                <a:chExt cx="936104" cy="1171873"/>
              </a:xfrm>
            </p:grpSpPr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5A0844C6-4D83-4F55-B714-F8A3F61FE922}"/>
                    </a:ext>
                  </a:extLst>
                </p:cNvPr>
                <p:cNvSpPr txBox="1"/>
                <p:nvPr/>
              </p:nvSpPr>
              <p:spPr>
                <a:xfrm>
                  <a:off x="1907704" y="4849415"/>
                  <a:ext cx="936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CO" sz="14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param1</a:t>
                  </a:r>
                </a:p>
              </p:txBody>
            </p:sp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7AA01238-0335-4645-A471-A5C08D15E324}"/>
                    </a:ext>
                  </a:extLst>
                </p:cNvPr>
                <p:cNvSpPr txBox="1"/>
                <p:nvPr/>
              </p:nvSpPr>
              <p:spPr>
                <a:xfrm>
                  <a:off x="1907704" y="5085184"/>
                  <a:ext cx="936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CO" sz="14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param2</a:t>
                  </a:r>
                </a:p>
              </p:txBody>
            </p:sp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A6A87880-39C9-4794-921F-E11A788E213C}"/>
                    </a:ext>
                  </a:extLst>
                </p:cNvPr>
                <p:cNvSpPr txBox="1"/>
                <p:nvPr/>
              </p:nvSpPr>
              <p:spPr>
                <a:xfrm>
                  <a:off x="1907704" y="5713511"/>
                  <a:ext cx="936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CO" sz="14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paramN</a:t>
                  </a:r>
                </a:p>
              </p:txBody>
            </p:sp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895A6DC3-8920-4D09-9ED6-DA7447DABE87}"/>
                    </a:ext>
                  </a:extLst>
                </p:cNvPr>
                <p:cNvSpPr txBox="1"/>
                <p:nvPr/>
              </p:nvSpPr>
              <p:spPr>
                <a:xfrm>
                  <a:off x="1907704" y="5373216"/>
                  <a:ext cx="9361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CO" sz="14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...</a:t>
                  </a:r>
                </a:p>
              </p:txBody>
            </p:sp>
          </p:grpSp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80EFA2FB-EE62-47C2-8AEF-9133601A0C62}"/>
                  </a:ext>
                </a:extLst>
              </p:cNvPr>
              <p:cNvSpPr txBox="1"/>
              <p:nvPr/>
            </p:nvSpPr>
            <p:spPr>
              <a:xfrm>
                <a:off x="2448377" y="4422593"/>
                <a:ext cx="1800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600" b="1" dirty="0">
                    <a:latin typeface="Consolas" panose="020B0609020204030204" pitchFamily="49" charset="0"/>
                  </a:rPr>
                  <a:t>nombre_funcion</a:t>
                </a:r>
              </a:p>
            </p:txBody>
          </p:sp>
          <p:cxnSp>
            <p:nvCxnSpPr>
              <p:cNvPr id="17" name="Conector recto de flecha 16">
                <a:extLst>
                  <a:ext uri="{FF2B5EF4-FFF2-40B4-BE49-F238E27FC236}">
                    <a16:creationId xmlns:a16="http://schemas.microsoft.com/office/drawing/2014/main" id="{3D74031A-DB78-4D32-A9B8-343EF5A828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31640" y="5013176"/>
                <a:ext cx="50405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ector recto de flecha 30">
                <a:extLst>
                  <a:ext uri="{FF2B5EF4-FFF2-40B4-BE49-F238E27FC236}">
                    <a16:creationId xmlns:a16="http://schemas.microsoft.com/office/drawing/2014/main" id="{7ADB8EA4-F2FE-499A-BCC6-451CA89DA6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31640" y="5264918"/>
                <a:ext cx="50405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recto de flecha 31">
                <a:extLst>
                  <a:ext uri="{FF2B5EF4-FFF2-40B4-BE49-F238E27FC236}">
                    <a16:creationId xmlns:a16="http://schemas.microsoft.com/office/drawing/2014/main" id="{3ADF198B-5E8B-422F-AA9B-9B8EA00A38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31641" y="5890989"/>
                <a:ext cx="50405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ector recto de flecha 36">
                <a:extLst>
                  <a:ext uri="{FF2B5EF4-FFF2-40B4-BE49-F238E27FC236}">
                    <a16:creationId xmlns:a16="http://schemas.microsoft.com/office/drawing/2014/main" id="{A9DFC71D-6F70-475A-A3FB-2E484EBDA3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1259" y="5445224"/>
                <a:ext cx="50405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D42DFA53-C35C-4A46-ACD8-AB66BC3ABFCB}"/>
                  </a:ext>
                </a:extLst>
              </p:cNvPr>
              <p:cNvSpPr txBox="1"/>
              <p:nvPr/>
            </p:nvSpPr>
            <p:spPr>
              <a:xfrm>
                <a:off x="1259632" y="5373216"/>
                <a:ext cx="61780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400" b="1" dirty="0">
                    <a:latin typeface="Consolas" panose="020B0609020204030204" pitchFamily="49" charset="0"/>
                  </a:rPr>
                  <a:t>...</a:t>
                </a:r>
              </a:p>
            </p:txBody>
          </p:sp>
        </p:grp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A66DCD7B-9755-4A3C-902E-CC052D311690}"/>
                </a:ext>
              </a:extLst>
            </p:cNvPr>
            <p:cNvSpPr txBox="1"/>
            <p:nvPr/>
          </p:nvSpPr>
          <p:spPr>
            <a:xfrm>
              <a:off x="4115974" y="5699348"/>
              <a:ext cx="1800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Valor de retorno </a:t>
              </a:r>
              <a:r>
                <a:rPr lang="es-CO" sz="1400" b="1" dirty="0">
                  <a:solidFill>
                    <a:srgbClr val="FFFF00"/>
                  </a:solidFill>
                  <a:latin typeface="Consolas" panose="020B0609020204030204" pitchFamily="49" charset="0"/>
                </a:rPr>
                <a:t>(opcional)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21689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260648"/>
            <a:ext cx="8892480" cy="864096"/>
          </a:xfrm>
        </p:spPr>
        <p:txBody>
          <a:bodyPr>
            <a:normAutofit fontScale="90000"/>
          </a:bodyPr>
          <a:lstStyle/>
          <a:p>
            <a:r>
              <a:rPr lang="es-CO" dirty="0"/>
              <a:t>Tipos de funciones según entradas y salidas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51520" y="1268760"/>
            <a:ext cx="866388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Caso 1</a:t>
            </a:r>
            <a:r>
              <a:rPr lang="es-MX" sz="2000" dirty="0"/>
              <a:t>: La función solo realiza una acción (mostrar el menú). No recibe ni entrega ningún valor.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12F26B2-715F-4699-9A5C-F8146CD83003}"/>
              </a:ext>
            </a:extLst>
          </p:cNvPr>
          <p:cNvSpPr txBox="1"/>
          <p:nvPr/>
        </p:nvSpPr>
        <p:spPr>
          <a:xfrm>
            <a:off x="1115615" y="2132856"/>
            <a:ext cx="4032449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dirty="0" err="1">
                <a:latin typeface="Consolas" panose="020B0609020204030204" pitchFamily="49" charset="0"/>
              </a:rPr>
              <a:t>def</a:t>
            </a:r>
            <a:r>
              <a:rPr lang="pt-BR" sz="1400" dirty="0">
                <a:latin typeface="Consolas" panose="020B0609020204030204" pitchFamily="49" charset="0"/>
              </a:rPr>
              <a:t> </a:t>
            </a:r>
            <a:r>
              <a:rPr lang="pt-BR" sz="1400" dirty="0" err="1">
                <a:latin typeface="Consolas" panose="020B0609020204030204" pitchFamily="49" charset="0"/>
              </a:rPr>
              <a:t>mostrar_menu</a:t>
            </a:r>
            <a:r>
              <a:rPr lang="pt-BR" sz="1400" dirty="0">
                <a:latin typeface="Consolas" panose="020B0609020204030204" pitchFamily="49" charset="0"/>
              </a:rPr>
              <a:t>():</a:t>
            </a:r>
          </a:p>
          <a:p>
            <a:r>
              <a:rPr lang="pt-BR" sz="1400" dirty="0">
                <a:latin typeface="Consolas" panose="020B0609020204030204" pitchFamily="49" charset="0"/>
              </a:rPr>
              <a:t>    print("\n--- Áreas de figuras ---")</a:t>
            </a:r>
          </a:p>
          <a:p>
            <a:r>
              <a:rPr lang="pt-BR" sz="1400" dirty="0">
                <a:latin typeface="Consolas" panose="020B0609020204030204" pitchFamily="49" charset="0"/>
              </a:rPr>
              <a:t>    print("1. Círculo")</a:t>
            </a:r>
          </a:p>
          <a:p>
            <a:r>
              <a:rPr lang="pt-BR" sz="1400" dirty="0">
                <a:latin typeface="Consolas" panose="020B0609020204030204" pitchFamily="49" charset="0"/>
              </a:rPr>
              <a:t>    print("2. </a:t>
            </a:r>
            <a:r>
              <a:rPr lang="pt-BR" sz="1400" dirty="0" err="1">
                <a:latin typeface="Consolas" panose="020B0609020204030204" pitchFamily="49" charset="0"/>
              </a:rPr>
              <a:t>Rectángulo</a:t>
            </a:r>
            <a:r>
              <a:rPr lang="pt-BR" sz="1400" dirty="0">
                <a:latin typeface="Consolas" panose="020B0609020204030204" pitchFamily="49" charset="0"/>
              </a:rPr>
              <a:t>")</a:t>
            </a:r>
          </a:p>
          <a:p>
            <a:r>
              <a:rPr lang="pt-BR" sz="1400" dirty="0">
                <a:latin typeface="Consolas" panose="020B0609020204030204" pitchFamily="49" charset="0"/>
              </a:rPr>
              <a:t>    print("3. </a:t>
            </a:r>
            <a:r>
              <a:rPr lang="pt-BR" sz="1400" dirty="0" err="1">
                <a:latin typeface="Consolas" panose="020B0609020204030204" pitchFamily="49" charset="0"/>
              </a:rPr>
              <a:t>Triángulo</a:t>
            </a:r>
            <a:r>
              <a:rPr lang="pt-BR" sz="1400" dirty="0">
                <a:latin typeface="Consolas" panose="020B0609020204030204" pitchFamily="49" charset="0"/>
              </a:rPr>
              <a:t>")</a:t>
            </a:r>
          </a:p>
          <a:p>
            <a:r>
              <a:rPr lang="pt-BR" sz="1400" dirty="0">
                <a:latin typeface="Consolas" panose="020B0609020204030204" pitchFamily="49" charset="0"/>
              </a:rPr>
              <a:t>    print("4. </a:t>
            </a:r>
            <a:r>
              <a:rPr lang="pt-BR" sz="1400" dirty="0" err="1">
                <a:latin typeface="Consolas" panose="020B0609020204030204" pitchFamily="49" charset="0"/>
              </a:rPr>
              <a:t>Salir</a:t>
            </a:r>
            <a:r>
              <a:rPr lang="pt-BR" sz="1400" dirty="0">
                <a:latin typeface="Consolas" panose="020B0609020204030204" pitchFamily="49" charset="0"/>
              </a:rPr>
              <a:t>")</a:t>
            </a: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526A32AB-AAB4-40E6-82E9-48F798502151}"/>
              </a:ext>
            </a:extLst>
          </p:cNvPr>
          <p:cNvGrpSpPr/>
          <p:nvPr/>
        </p:nvGrpSpPr>
        <p:grpSpPr>
          <a:xfrm>
            <a:off x="6084168" y="2215323"/>
            <a:ext cx="1872208" cy="1202649"/>
            <a:chOff x="1907704" y="4386590"/>
            <a:chExt cx="1872208" cy="1202649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885A5536-1B4A-4234-9470-1BC461F4856B}"/>
                </a:ext>
              </a:extLst>
            </p:cNvPr>
            <p:cNvSpPr/>
            <p:nvPr/>
          </p:nvSpPr>
          <p:spPr>
            <a:xfrm>
              <a:off x="1907704" y="4725143"/>
              <a:ext cx="1872208" cy="8640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latin typeface="Consolas" panose="020B0609020204030204" pitchFamily="49" charset="0"/>
              </a:endParaRP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80EFA2FB-EE62-47C2-8AEF-9133601A0C62}"/>
                </a:ext>
              </a:extLst>
            </p:cNvPr>
            <p:cNvSpPr txBox="1"/>
            <p:nvPr/>
          </p:nvSpPr>
          <p:spPr>
            <a:xfrm>
              <a:off x="1979712" y="4386590"/>
              <a:ext cx="1800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b="1" dirty="0">
                  <a:latin typeface="Consolas" panose="020B0609020204030204" pitchFamily="49" charset="0"/>
                </a:rPr>
                <a:t>mostrar_menu</a:t>
              </a:r>
            </a:p>
          </p:txBody>
        </p:sp>
      </p:grpSp>
      <p:sp>
        <p:nvSpPr>
          <p:cNvPr id="21" name="12 Rectángulo">
            <a:extLst>
              <a:ext uri="{FF2B5EF4-FFF2-40B4-BE49-F238E27FC236}">
                <a16:creationId xmlns:a16="http://schemas.microsoft.com/office/drawing/2014/main" id="{083A487E-DB36-40E8-9B2B-9E264DE2B1AD}"/>
              </a:ext>
            </a:extLst>
          </p:cNvPr>
          <p:cNvSpPr/>
          <p:nvPr/>
        </p:nvSpPr>
        <p:spPr>
          <a:xfrm>
            <a:off x="251520" y="3990543"/>
            <a:ext cx="866388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Caso 2</a:t>
            </a:r>
            <a:r>
              <a:rPr lang="es-MX" sz="2000" dirty="0"/>
              <a:t>: La función no recibe datos, pero entrega un valor con </a:t>
            </a:r>
            <a:r>
              <a:rPr lang="es-MX" b="1" dirty="0">
                <a:solidFill>
                  <a:srgbClr val="C00000"/>
                </a:solidFill>
                <a:latin typeface="Consolas" panose="020B0609020204030204" pitchFamily="49" charset="0"/>
              </a:rPr>
              <a:t>return</a:t>
            </a:r>
            <a:r>
              <a:rPr lang="es-MX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6BB45A1-9939-4EF0-8F1D-D5069D766842}"/>
              </a:ext>
            </a:extLst>
          </p:cNvPr>
          <p:cNvSpPr txBox="1"/>
          <p:nvPr/>
        </p:nvSpPr>
        <p:spPr>
          <a:xfrm>
            <a:off x="1043608" y="5052079"/>
            <a:ext cx="4032449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def </a:t>
            </a:r>
            <a:r>
              <a:rPr lang="en-US" sz="1400" dirty="0" err="1">
                <a:latin typeface="Consolas" panose="020B0609020204030204" pitchFamily="49" charset="0"/>
              </a:rPr>
              <a:t>leer_opcion</a:t>
            </a:r>
            <a:r>
              <a:rPr lang="en-US" sz="1400" dirty="0">
                <a:latin typeface="Consolas" panose="020B0609020204030204" pitchFamily="49" charset="0"/>
              </a:rPr>
              <a:t>():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latin typeface="Consolas" panose="020B0609020204030204" pitchFamily="49" charset="0"/>
              </a:rPr>
              <a:t>opcion</a:t>
            </a:r>
            <a:r>
              <a:rPr lang="en-US" sz="1400" dirty="0">
                <a:latin typeface="Consolas" panose="020B0609020204030204" pitchFamily="49" charset="0"/>
              </a:rPr>
              <a:t> = input("</a:t>
            </a:r>
            <a:r>
              <a:rPr lang="en-US" sz="1400" dirty="0" err="1">
                <a:latin typeface="Consolas" panose="020B0609020204030204" pitchFamily="49" charset="0"/>
              </a:rPr>
              <a:t>Opción</a:t>
            </a:r>
            <a:r>
              <a:rPr lang="en-US" sz="1400" dirty="0">
                <a:latin typeface="Consolas" panose="020B0609020204030204" pitchFamily="49" charset="0"/>
              </a:rPr>
              <a:t>: ")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return </a:t>
            </a:r>
            <a:r>
              <a:rPr lang="en-US" sz="1400" dirty="0" err="1">
                <a:latin typeface="Consolas" panose="020B0609020204030204" pitchFamily="49" charset="0"/>
              </a:rPr>
              <a:t>opc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endParaRPr lang="pt-BR" sz="1400" dirty="0">
              <a:latin typeface="Consolas" panose="020B0609020204030204" pitchFamily="49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0D2F8097-C950-40A3-AB66-9222AC468BAA}"/>
              </a:ext>
            </a:extLst>
          </p:cNvPr>
          <p:cNvGrpSpPr/>
          <p:nvPr/>
        </p:nvGrpSpPr>
        <p:grpSpPr>
          <a:xfrm>
            <a:off x="6084168" y="4660102"/>
            <a:ext cx="2376263" cy="1202649"/>
            <a:chOff x="5652120" y="4386591"/>
            <a:chExt cx="2376263" cy="1202649"/>
          </a:xfrm>
        </p:grpSpPr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C6CF508B-B0ED-4D8E-A6E4-0EDCB2C5DDAB}"/>
                </a:ext>
              </a:extLst>
            </p:cNvPr>
            <p:cNvGrpSpPr/>
            <p:nvPr/>
          </p:nvGrpSpPr>
          <p:grpSpPr>
            <a:xfrm>
              <a:off x="5652120" y="4386591"/>
              <a:ext cx="1872208" cy="1202649"/>
              <a:chOff x="1907704" y="4386590"/>
              <a:chExt cx="1872208" cy="1202649"/>
            </a:xfrm>
          </p:grpSpPr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36AD53B8-ACA4-4AF3-815C-26E04DAEF3D8}"/>
                  </a:ext>
                </a:extLst>
              </p:cNvPr>
              <p:cNvSpPr/>
              <p:nvPr/>
            </p:nvSpPr>
            <p:spPr>
              <a:xfrm>
                <a:off x="1907704" y="4725143"/>
                <a:ext cx="1872208" cy="8640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491945E4-4740-49C1-ABEF-52750E535D0D}"/>
                  </a:ext>
                </a:extLst>
              </p:cNvPr>
              <p:cNvSpPr txBox="1"/>
              <p:nvPr/>
            </p:nvSpPr>
            <p:spPr>
              <a:xfrm>
                <a:off x="1979712" y="4386590"/>
                <a:ext cx="1800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600" b="1" dirty="0">
                    <a:latin typeface="Consolas" panose="020B0609020204030204" pitchFamily="49" charset="0"/>
                  </a:rPr>
                  <a:t>leer_opcion</a:t>
                </a:r>
              </a:p>
            </p:txBody>
          </p:sp>
        </p:grp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378D1160-692A-4C39-B4D3-B561621FEB8E}"/>
                </a:ext>
              </a:extLst>
            </p:cNvPr>
            <p:cNvCxnSpPr>
              <a:cxnSpLocks/>
            </p:cNvCxnSpPr>
            <p:nvPr/>
          </p:nvCxnSpPr>
          <p:spPr>
            <a:xfrm>
              <a:off x="7524328" y="5157192"/>
              <a:ext cx="50405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0A4E910D-74A6-4FAA-8A23-3433EB2ED195}"/>
                </a:ext>
              </a:extLst>
            </p:cNvPr>
            <p:cNvSpPr txBox="1"/>
            <p:nvPr/>
          </p:nvSpPr>
          <p:spPr>
            <a:xfrm>
              <a:off x="6732239" y="4994011"/>
              <a:ext cx="7974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opcion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598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260648"/>
            <a:ext cx="8892480" cy="864096"/>
          </a:xfrm>
        </p:spPr>
        <p:txBody>
          <a:bodyPr>
            <a:normAutofit fontScale="90000"/>
          </a:bodyPr>
          <a:lstStyle/>
          <a:p>
            <a:r>
              <a:rPr lang="es-CO" dirty="0"/>
              <a:t>Tipos de funciones según entradas y salidas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51520" y="1268760"/>
            <a:ext cx="866388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Caso 3</a:t>
            </a:r>
            <a:r>
              <a:rPr lang="es-MX" sz="2000" dirty="0"/>
              <a:t>: La función recibe datos y entrega un valor con </a:t>
            </a:r>
            <a:r>
              <a:rPr lang="es-MX" b="1" dirty="0">
                <a:solidFill>
                  <a:srgbClr val="C00000"/>
                </a:solidFill>
                <a:latin typeface="Consolas" panose="020B0609020204030204" pitchFamily="49" charset="0"/>
              </a:rPr>
              <a:t>return</a:t>
            </a:r>
            <a:r>
              <a:rPr lang="es-MX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12F26B2-715F-4699-9A5C-F8146CD83003}"/>
              </a:ext>
            </a:extLst>
          </p:cNvPr>
          <p:cNvSpPr txBox="1"/>
          <p:nvPr/>
        </p:nvSpPr>
        <p:spPr>
          <a:xfrm>
            <a:off x="755576" y="2413332"/>
            <a:ext cx="4032449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def </a:t>
            </a:r>
            <a:r>
              <a:rPr lang="en-US" sz="1400" dirty="0" err="1">
                <a:latin typeface="Consolas" panose="020B0609020204030204" pitchFamily="49" charset="0"/>
              </a:rPr>
              <a:t>calcular_area_circulo</a:t>
            </a:r>
            <a:r>
              <a:rPr lang="en-US" sz="1400" dirty="0">
                <a:latin typeface="Consolas" panose="020B0609020204030204" pitchFamily="49" charset="0"/>
              </a:rPr>
              <a:t>(radio):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area = PI * radio ** 2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return area</a:t>
            </a:r>
            <a:endParaRPr lang="pt-BR" sz="1400" dirty="0">
              <a:latin typeface="Consolas" panose="020B0609020204030204" pitchFamily="49" charset="0"/>
            </a:endParaRPr>
          </a:p>
        </p:txBody>
      </p:sp>
      <p:sp>
        <p:nvSpPr>
          <p:cNvPr id="21" name="12 Rectángulo">
            <a:extLst>
              <a:ext uri="{FF2B5EF4-FFF2-40B4-BE49-F238E27FC236}">
                <a16:creationId xmlns:a16="http://schemas.microsoft.com/office/drawing/2014/main" id="{083A487E-DB36-40E8-9B2B-9E264DE2B1AD}"/>
              </a:ext>
            </a:extLst>
          </p:cNvPr>
          <p:cNvSpPr/>
          <p:nvPr/>
        </p:nvSpPr>
        <p:spPr>
          <a:xfrm>
            <a:off x="251520" y="3990543"/>
            <a:ext cx="866388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Caso 4</a:t>
            </a:r>
            <a:r>
              <a:rPr lang="es-MX" sz="2000" dirty="0"/>
              <a:t>: La función recibe datos pero no entrega ningún valor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b="1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6BB45A1-9939-4EF0-8F1D-D5069D766842}"/>
              </a:ext>
            </a:extLst>
          </p:cNvPr>
          <p:cNvSpPr txBox="1"/>
          <p:nvPr/>
        </p:nvSpPr>
        <p:spPr>
          <a:xfrm>
            <a:off x="755575" y="5169093"/>
            <a:ext cx="460851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def </a:t>
            </a:r>
            <a:r>
              <a:rPr lang="en-US" sz="1400" dirty="0" err="1">
                <a:latin typeface="Consolas" panose="020B0609020204030204" pitchFamily="49" charset="0"/>
              </a:rPr>
              <a:t>mostrar_area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figura</a:t>
            </a:r>
            <a:r>
              <a:rPr lang="en-US" sz="1400" dirty="0">
                <a:latin typeface="Consolas" panose="020B0609020204030204" pitchFamily="49" charset="0"/>
              </a:rPr>
              <a:t>, area):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print(</a:t>
            </a:r>
            <a:r>
              <a:rPr lang="en-US" sz="1400" dirty="0" err="1">
                <a:latin typeface="Consolas" panose="020B0609020204030204" pitchFamily="49" charset="0"/>
              </a:rPr>
              <a:t>f"Área</a:t>
            </a:r>
            <a:r>
              <a:rPr lang="en-US" sz="1400" dirty="0">
                <a:latin typeface="Consolas" panose="020B0609020204030204" pitchFamily="49" charset="0"/>
              </a:rPr>
              <a:t> del {</a:t>
            </a:r>
            <a:r>
              <a:rPr lang="en-US" sz="1400" dirty="0" err="1">
                <a:latin typeface="Consolas" panose="020B0609020204030204" pitchFamily="49" charset="0"/>
              </a:rPr>
              <a:t>figura</a:t>
            </a:r>
            <a:r>
              <a:rPr lang="en-US" sz="1400" dirty="0">
                <a:latin typeface="Consolas" panose="020B0609020204030204" pitchFamily="49" charset="0"/>
              </a:rPr>
              <a:t>}: {area:.2f}")</a:t>
            </a:r>
            <a:endParaRPr lang="pt-BR" sz="1400" dirty="0">
              <a:latin typeface="Consolas" panose="020B0609020204030204" pitchFamily="49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03CBCB81-D132-4B1B-82D3-AFEFD4E2C5AC}"/>
              </a:ext>
            </a:extLst>
          </p:cNvPr>
          <p:cNvGrpSpPr/>
          <p:nvPr/>
        </p:nvGrpSpPr>
        <p:grpSpPr>
          <a:xfrm>
            <a:off x="5652121" y="2076812"/>
            <a:ext cx="2880319" cy="1208172"/>
            <a:chOff x="5580112" y="2209800"/>
            <a:chExt cx="2880319" cy="1208172"/>
          </a:xfrm>
        </p:grpSpPr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526A32AB-AAB4-40E6-82E9-48F798502151}"/>
                </a:ext>
              </a:extLst>
            </p:cNvPr>
            <p:cNvGrpSpPr/>
            <p:nvPr/>
          </p:nvGrpSpPr>
          <p:grpSpPr>
            <a:xfrm>
              <a:off x="5652120" y="2209800"/>
              <a:ext cx="2664295" cy="1208172"/>
              <a:chOff x="1475656" y="4381067"/>
              <a:chExt cx="2664295" cy="1208172"/>
            </a:xfrm>
          </p:grpSpPr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885A5536-1B4A-4234-9470-1BC461F4856B}"/>
                  </a:ext>
                </a:extLst>
              </p:cNvPr>
              <p:cNvSpPr/>
              <p:nvPr/>
            </p:nvSpPr>
            <p:spPr>
              <a:xfrm>
                <a:off x="1907704" y="4725143"/>
                <a:ext cx="1872208" cy="8640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80EFA2FB-EE62-47C2-8AEF-9133601A0C62}"/>
                  </a:ext>
                </a:extLst>
              </p:cNvPr>
              <p:cNvSpPr txBox="1"/>
              <p:nvPr/>
            </p:nvSpPr>
            <p:spPr>
              <a:xfrm>
                <a:off x="1475656" y="4381067"/>
                <a:ext cx="266429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600" b="1" dirty="0">
                    <a:latin typeface="Consolas" panose="020B0609020204030204" pitchFamily="49" charset="0"/>
                  </a:rPr>
                  <a:t>calcular_area_circulo</a:t>
                </a:r>
              </a:p>
            </p:txBody>
          </p:sp>
        </p:grp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96C5C3CA-1CEC-42B1-B03B-8F9D4AF02089}"/>
                </a:ext>
              </a:extLst>
            </p:cNvPr>
            <p:cNvSpPr txBox="1"/>
            <p:nvPr/>
          </p:nvSpPr>
          <p:spPr>
            <a:xfrm>
              <a:off x="6084168" y="2833191"/>
              <a:ext cx="9361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radio</a:t>
              </a:r>
            </a:p>
          </p:txBody>
        </p: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230286CA-45B1-4F88-B264-EFD9A2936657}"/>
                </a:ext>
              </a:extLst>
            </p:cNvPr>
            <p:cNvCxnSpPr>
              <a:cxnSpLocks/>
            </p:cNvCxnSpPr>
            <p:nvPr/>
          </p:nvCxnSpPr>
          <p:spPr>
            <a:xfrm>
              <a:off x="5580112" y="2996952"/>
              <a:ext cx="50405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3DED36E9-EE76-4915-A15D-DBB661537A28}"/>
                </a:ext>
              </a:extLst>
            </p:cNvPr>
            <p:cNvCxnSpPr>
              <a:cxnSpLocks/>
            </p:cNvCxnSpPr>
            <p:nvPr/>
          </p:nvCxnSpPr>
          <p:spPr>
            <a:xfrm>
              <a:off x="7956376" y="2996952"/>
              <a:ext cx="50405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02556CFC-E36F-4CA9-9337-1BC0749DA77F}"/>
                </a:ext>
              </a:extLst>
            </p:cNvPr>
            <p:cNvSpPr txBox="1"/>
            <p:nvPr/>
          </p:nvSpPr>
          <p:spPr>
            <a:xfrm>
              <a:off x="7380311" y="2833886"/>
              <a:ext cx="6015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area</a:t>
              </a: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294FAB13-8253-48A6-80D3-2BF95A43CE28}"/>
              </a:ext>
            </a:extLst>
          </p:cNvPr>
          <p:cNvGrpSpPr/>
          <p:nvPr/>
        </p:nvGrpSpPr>
        <p:grpSpPr>
          <a:xfrm>
            <a:off x="6084167" y="4797152"/>
            <a:ext cx="2376265" cy="1202649"/>
            <a:chOff x="5292080" y="4660102"/>
            <a:chExt cx="2376265" cy="1202649"/>
          </a:xfrm>
        </p:grpSpPr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C6CF508B-B0ED-4D8E-A6E4-0EDCB2C5DDAB}"/>
                </a:ext>
              </a:extLst>
            </p:cNvPr>
            <p:cNvGrpSpPr/>
            <p:nvPr/>
          </p:nvGrpSpPr>
          <p:grpSpPr>
            <a:xfrm>
              <a:off x="5796137" y="4660102"/>
              <a:ext cx="1872208" cy="1202649"/>
              <a:chOff x="1907704" y="4386590"/>
              <a:chExt cx="1872208" cy="1202649"/>
            </a:xfrm>
          </p:grpSpPr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36AD53B8-ACA4-4AF3-815C-26E04DAEF3D8}"/>
                  </a:ext>
                </a:extLst>
              </p:cNvPr>
              <p:cNvSpPr/>
              <p:nvPr/>
            </p:nvSpPr>
            <p:spPr>
              <a:xfrm>
                <a:off x="1907704" y="4725143"/>
                <a:ext cx="1872208" cy="8640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491945E4-4740-49C1-ABEF-52750E535D0D}"/>
                  </a:ext>
                </a:extLst>
              </p:cNvPr>
              <p:cNvSpPr txBox="1"/>
              <p:nvPr/>
            </p:nvSpPr>
            <p:spPr>
              <a:xfrm>
                <a:off x="1979712" y="4386590"/>
                <a:ext cx="1800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600" b="1" dirty="0">
                    <a:latin typeface="Consolas" panose="020B0609020204030204" pitchFamily="49" charset="0"/>
                  </a:rPr>
                  <a:t>mostrar_area</a:t>
                </a:r>
              </a:p>
            </p:txBody>
          </p:sp>
        </p:grp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3A7AAE35-15BE-4CD9-8FD0-FDC7BA29FED6}"/>
                </a:ext>
              </a:extLst>
            </p:cNvPr>
            <p:cNvSpPr txBox="1"/>
            <p:nvPr/>
          </p:nvSpPr>
          <p:spPr>
            <a:xfrm>
              <a:off x="5796138" y="5113054"/>
              <a:ext cx="9361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figura</a:t>
              </a:r>
            </a:p>
          </p:txBody>
        </p:sp>
        <p:cxnSp>
          <p:nvCxnSpPr>
            <p:cNvPr id="28" name="Conector recto de flecha 27">
              <a:extLst>
                <a:ext uri="{FF2B5EF4-FFF2-40B4-BE49-F238E27FC236}">
                  <a16:creationId xmlns:a16="http://schemas.microsoft.com/office/drawing/2014/main" id="{CF6D1BE6-D282-4126-830B-C85B7F8CDE31}"/>
                </a:ext>
              </a:extLst>
            </p:cNvPr>
            <p:cNvCxnSpPr>
              <a:cxnSpLocks/>
            </p:cNvCxnSpPr>
            <p:nvPr/>
          </p:nvCxnSpPr>
          <p:spPr>
            <a:xfrm>
              <a:off x="5292082" y="5276815"/>
              <a:ext cx="50405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6893B71C-CC27-4BD9-A8AC-6723FBFEF77D}"/>
                </a:ext>
              </a:extLst>
            </p:cNvPr>
            <p:cNvSpPr txBox="1"/>
            <p:nvPr/>
          </p:nvSpPr>
          <p:spPr>
            <a:xfrm>
              <a:off x="5796136" y="5425479"/>
              <a:ext cx="9361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area</a:t>
              </a:r>
            </a:p>
          </p:txBody>
        </p: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06EAF5CA-7B97-4452-8CF3-58AD57EBD63F}"/>
                </a:ext>
              </a:extLst>
            </p:cNvPr>
            <p:cNvCxnSpPr>
              <a:cxnSpLocks/>
            </p:cNvCxnSpPr>
            <p:nvPr/>
          </p:nvCxnSpPr>
          <p:spPr>
            <a:xfrm>
              <a:off x="5292080" y="5589240"/>
              <a:ext cx="50405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48684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Funciones en Python - Invocación</a:t>
            </a:r>
            <a:endParaRPr lang="es-CO" dirty="0">
              <a:highlight>
                <a:srgbClr val="FFFF00"/>
              </a:highlight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35496" y="775732"/>
            <a:ext cx="889248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Invocar (llamar) una función</a:t>
            </a:r>
            <a:r>
              <a:rPr lang="es-MX" sz="2000" dirty="0"/>
              <a:t>: escribir su nombre con los argumentos entre paréntesis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Donde</a:t>
            </a:r>
            <a:r>
              <a:rPr lang="es-MX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Argumentos</a:t>
            </a:r>
            <a:r>
              <a:rPr lang="es-MX" sz="2000" dirty="0"/>
              <a:t>: los valores que se envían, y se asocian a los parámetros </a:t>
            </a:r>
            <a:r>
              <a:rPr lang="es-MX" sz="2000" b="1" dirty="0"/>
              <a:t>por posición</a:t>
            </a:r>
            <a:r>
              <a:rPr lang="es-MX" sz="2000" dirty="0"/>
              <a:t>. Pueden ser números, variables o expresiones.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dirty="0"/>
              <a:t>Si la función </a:t>
            </a:r>
            <a:r>
              <a:rPr lang="es-MX" sz="2000" b="1" dirty="0"/>
              <a:t>devuelve</a:t>
            </a:r>
            <a:r>
              <a:rPr lang="es-MX" sz="2000" dirty="0"/>
              <a:t> un valor, se guarda en una variable o se usa directamente. Si no devuelve nada, se la llama sola.</a:t>
            </a: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Ejemplo</a:t>
            </a:r>
            <a:r>
              <a:rPr lang="es-MX" sz="2000" dirty="0"/>
              <a:t>: Empleando la función </a:t>
            </a:r>
            <a:r>
              <a:rPr lang="en-US" dirty="0">
                <a:latin typeface="Consolas" panose="020B0609020204030204" pitchFamily="49" charset="0"/>
              </a:rPr>
              <a:t>calcular_area_circulo()</a:t>
            </a:r>
            <a:r>
              <a:rPr lang="es-MX" sz="2000" dirty="0"/>
              <a:t>, calcular el área de un circulo de radio 5 y llevar el resultado a una variable llamada área.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12F26B2-715F-4699-9A5C-F8146CD83003}"/>
              </a:ext>
            </a:extLst>
          </p:cNvPr>
          <p:cNvSpPr txBox="1"/>
          <p:nvPr/>
        </p:nvSpPr>
        <p:spPr>
          <a:xfrm>
            <a:off x="637850" y="1620089"/>
            <a:ext cx="79665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[variable =]</a:t>
            </a:r>
            <a:r>
              <a:rPr lang="es-CO" sz="1600" dirty="0">
                <a:latin typeface="Consolas" panose="020B0609020204030204" pitchFamily="49" charset="0"/>
              </a:rPr>
              <a:t> </a:t>
            </a:r>
            <a:r>
              <a:rPr lang="es-CO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nombre_funcion</a:t>
            </a:r>
            <a:r>
              <a:rPr lang="es-CO" sz="1600" dirty="0">
                <a:latin typeface="Consolas" panose="020B0609020204030204" pitchFamily="49" charset="0"/>
              </a:rPr>
              <a:t>(arg1, arg2 ,... , argN) </a:t>
            </a:r>
            <a:endParaRPr lang="es-CO" sz="16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DDAC6FD-540D-49DD-9B15-FE5084778602}"/>
              </a:ext>
            </a:extLst>
          </p:cNvPr>
          <p:cNvSpPr txBox="1"/>
          <p:nvPr/>
        </p:nvSpPr>
        <p:spPr>
          <a:xfrm>
            <a:off x="624886" y="5222796"/>
            <a:ext cx="345638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area = calcular_area_circulo(5)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2D5A0BB-3086-4539-92CC-AFE253D13B40}"/>
              </a:ext>
            </a:extLst>
          </p:cNvPr>
          <p:cNvSpPr txBox="1"/>
          <p:nvPr/>
        </p:nvSpPr>
        <p:spPr>
          <a:xfrm>
            <a:off x="1475656" y="5543270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2"/>
              </a:rPr>
              <a:t>Link simulación</a:t>
            </a:r>
            <a:endParaRPr lang="es-CO" sz="1200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8263D85-BC1F-4D23-8F73-61C9AB7D0F2C}"/>
              </a:ext>
            </a:extLst>
          </p:cNvPr>
          <p:cNvGrpSpPr/>
          <p:nvPr/>
        </p:nvGrpSpPr>
        <p:grpSpPr>
          <a:xfrm>
            <a:off x="4562996" y="4741108"/>
            <a:ext cx="3897436" cy="1208172"/>
            <a:chOff x="4274964" y="4633825"/>
            <a:chExt cx="3897436" cy="1208172"/>
          </a:xfrm>
        </p:grpSpPr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FD243F80-AB08-42CD-BAD9-A97C583AB140}"/>
                </a:ext>
              </a:extLst>
            </p:cNvPr>
            <p:cNvGrpSpPr/>
            <p:nvPr/>
          </p:nvGrpSpPr>
          <p:grpSpPr>
            <a:xfrm>
              <a:off x="4621149" y="4633825"/>
              <a:ext cx="3551251" cy="1208172"/>
              <a:chOff x="5580112" y="2209800"/>
              <a:chExt cx="3551251" cy="1208172"/>
            </a:xfrm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B4CC6C65-9575-444E-87C7-09C4B7F3ECEF}"/>
                  </a:ext>
                </a:extLst>
              </p:cNvPr>
              <p:cNvGrpSpPr/>
              <p:nvPr/>
            </p:nvGrpSpPr>
            <p:grpSpPr>
              <a:xfrm>
                <a:off x="5652120" y="2209800"/>
                <a:ext cx="2664295" cy="1208172"/>
                <a:chOff x="1475656" y="4381067"/>
                <a:chExt cx="2664295" cy="1208172"/>
              </a:xfrm>
            </p:grpSpPr>
            <p:sp>
              <p:nvSpPr>
                <p:cNvPr id="36" name="Rectángulo 35">
                  <a:extLst>
                    <a:ext uri="{FF2B5EF4-FFF2-40B4-BE49-F238E27FC236}">
                      <a16:creationId xmlns:a16="http://schemas.microsoft.com/office/drawing/2014/main" id="{E9F27DFC-E675-443E-978C-94D671CEB4A8}"/>
                    </a:ext>
                  </a:extLst>
                </p:cNvPr>
                <p:cNvSpPr/>
                <p:nvPr/>
              </p:nvSpPr>
              <p:spPr>
                <a:xfrm>
                  <a:off x="1907704" y="4725143"/>
                  <a:ext cx="1872208" cy="86409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3949B2B6-F058-41EF-9A4F-FDA68CD9E51D}"/>
                    </a:ext>
                  </a:extLst>
                </p:cNvPr>
                <p:cNvSpPr txBox="1"/>
                <p:nvPr/>
              </p:nvSpPr>
              <p:spPr>
                <a:xfrm>
                  <a:off x="1475656" y="4381067"/>
                  <a:ext cx="266429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CO" sz="1600" b="1" dirty="0">
                      <a:latin typeface="Consolas" panose="020B0609020204030204" pitchFamily="49" charset="0"/>
                    </a:rPr>
                    <a:t>calcular_area_circulo</a:t>
                  </a:r>
                </a:p>
              </p:txBody>
            </p:sp>
          </p:grpSp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B41B8A90-1403-4B85-9628-8F46BC6D6388}"/>
                  </a:ext>
                </a:extLst>
              </p:cNvPr>
              <p:cNvSpPr txBox="1"/>
              <p:nvPr/>
            </p:nvSpPr>
            <p:spPr>
              <a:xfrm>
                <a:off x="6084168" y="2833191"/>
                <a:ext cx="936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400" b="1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radio</a:t>
                </a:r>
              </a:p>
            </p:txBody>
          </p:sp>
          <p:cxnSp>
            <p:nvCxnSpPr>
              <p:cNvPr id="29" name="Conector recto de flecha 28">
                <a:extLst>
                  <a:ext uri="{FF2B5EF4-FFF2-40B4-BE49-F238E27FC236}">
                    <a16:creationId xmlns:a16="http://schemas.microsoft.com/office/drawing/2014/main" id="{4414AB27-5373-49ED-BBF2-12EDBE36EA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0112" y="2996952"/>
                <a:ext cx="50405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cto de flecha 33">
                <a:extLst>
                  <a:ext uri="{FF2B5EF4-FFF2-40B4-BE49-F238E27FC236}">
                    <a16:creationId xmlns:a16="http://schemas.microsoft.com/office/drawing/2014/main" id="{21A46C83-0EEC-4590-AF10-4BA8F1977E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56376" y="2996952"/>
                <a:ext cx="50405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DE3E412D-75A6-4C6C-B858-D9FADFB4E461}"/>
                  </a:ext>
                </a:extLst>
              </p:cNvPr>
              <p:cNvSpPr txBox="1"/>
              <p:nvPr/>
            </p:nvSpPr>
            <p:spPr>
              <a:xfrm>
                <a:off x="8409056" y="2833886"/>
                <a:ext cx="72230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400" b="1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78.54</a:t>
                </a:r>
              </a:p>
            </p:txBody>
          </p:sp>
        </p:grp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A09235B9-3D35-4BD6-9EFE-42E67ED6DEB6}"/>
                </a:ext>
              </a:extLst>
            </p:cNvPr>
            <p:cNvSpPr txBox="1"/>
            <p:nvPr/>
          </p:nvSpPr>
          <p:spPr>
            <a:xfrm>
              <a:off x="4274964" y="5256909"/>
              <a:ext cx="4541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b="1" dirty="0">
                  <a:latin typeface="Consolas" panose="020B0609020204030204" pitchFamily="49" charset="0"/>
                </a:rPr>
                <a:t>5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A159285A-E84B-4F1C-AF15-3A271229A4DE}"/>
                </a:ext>
              </a:extLst>
            </p:cNvPr>
            <p:cNvSpPr txBox="1"/>
            <p:nvPr/>
          </p:nvSpPr>
          <p:spPr>
            <a:xfrm>
              <a:off x="6442745" y="5258603"/>
              <a:ext cx="6419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area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57672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Trabajando con funciones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348432" y="908720"/>
            <a:ext cx="85440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/>
              <a:t>Parte 1: </a:t>
            </a:r>
            <a:r>
              <a:rPr lang="es-MX" sz="2000" dirty="0"/>
              <a:t>Definición de funciones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922670A2-9CEB-40C1-B426-1CB679D8D8D2}"/>
              </a:ext>
            </a:extLst>
          </p:cNvPr>
          <p:cNvSpPr txBox="1"/>
          <p:nvPr/>
        </p:nvSpPr>
        <p:spPr>
          <a:xfrm>
            <a:off x="474192" y="1330162"/>
            <a:ext cx="4097808" cy="5078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Consolas" panose="020B0609020204030204" pitchFamily="49" charset="0"/>
              </a:rPr>
              <a:t>PI = 3.1416</a:t>
            </a:r>
          </a:p>
          <a:p>
            <a:endParaRPr lang="pt-BR" sz="1200" dirty="0">
              <a:latin typeface="Consolas" panose="020B0609020204030204" pitchFamily="49" charset="0"/>
            </a:endParaRPr>
          </a:p>
          <a:p>
            <a:endParaRPr lang="pt-BR" sz="1200" dirty="0">
              <a:latin typeface="Consolas" panose="020B0609020204030204" pitchFamily="49" charset="0"/>
            </a:endParaRPr>
          </a:p>
          <a:p>
            <a:r>
              <a:rPr lang="pt-BR" sz="1200" dirty="0" err="1">
                <a:latin typeface="Consolas" panose="020B0609020204030204" pitchFamily="49" charset="0"/>
              </a:rPr>
              <a:t>def</a:t>
            </a:r>
            <a:r>
              <a:rPr lang="pt-BR" sz="1200" dirty="0">
                <a:latin typeface="Consolas" panose="020B0609020204030204" pitchFamily="49" charset="0"/>
              </a:rPr>
              <a:t> </a:t>
            </a:r>
            <a:r>
              <a:rPr lang="pt-BR" sz="1200" dirty="0" err="1">
                <a:latin typeface="Consolas" panose="020B0609020204030204" pitchFamily="49" charset="0"/>
              </a:rPr>
              <a:t>celsius_to_fahrenheit</a:t>
            </a:r>
            <a:r>
              <a:rPr lang="pt-BR" sz="1200" dirty="0">
                <a:latin typeface="Consolas" panose="020B0609020204030204" pitchFamily="49" charset="0"/>
              </a:rPr>
              <a:t>(c):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    </a:t>
            </a:r>
            <a:r>
              <a:rPr lang="pt-BR" sz="1200" dirty="0" err="1">
                <a:latin typeface="Consolas" panose="020B0609020204030204" pitchFamily="49" charset="0"/>
              </a:rPr>
              <a:t>return</a:t>
            </a:r>
            <a:r>
              <a:rPr lang="pt-BR" sz="1200" dirty="0">
                <a:latin typeface="Consolas" panose="020B0609020204030204" pitchFamily="49" charset="0"/>
              </a:rPr>
              <a:t> (9 / 5) * c + 32</a:t>
            </a:r>
          </a:p>
          <a:p>
            <a:endParaRPr lang="pt-BR" sz="1200" dirty="0">
              <a:latin typeface="Consolas" panose="020B0609020204030204" pitchFamily="49" charset="0"/>
            </a:endParaRPr>
          </a:p>
          <a:p>
            <a:endParaRPr lang="pt-BR" sz="1200" dirty="0">
              <a:latin typeface="Consolas" panose="020B0609020204030204" pitchFamily="49" charset="0"/>
            </a:endParaRPr>
          </a:p>
          <a:p>
            <a:r>
              <a:rPr lang="pt-BR" sz="1200" dirty="0" err="1">
                <a:latin typeface="Consolas" panose="020B0609020204030204" pitchFamily="49" charset="0"/>
              </a:rPr>
              <a:t>def</a:t>
            </a:r>
            <a:r>
              <a:rPr lang="pt-BR" sz="1200" dirty="0">
                <a:latin typeface="Consolas" panose="020B0609020204030204" pitchFamily="49" charset="0"/>
              </a:rPr>
              <a:t> </a:t>
            </a:r>
            <a:r>
              <a:rPr lang="pt-BR" sz="1200" dirty="0" err="1">
                <a:latin typeface="Consolas" panose="020B0609020204030204" pitchFamily="49" charset="0"/>
              </a:rPr>
              <a:t>fahrenheit_to_celsius</a:t>
            </a:r>
            <a:r>
              <a:rPr lang="pt-BR" sz="1200" dirty="0">
                <a:latin typeface="Consolas" panose="020B0609020204030204" pitchFamily="49" charset="0"/>
              </a:rPr>
              <a:t>(f):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    </a:t>
            </a:r>
            <a:r>
              <a:rPr lang="pt-BR" sz="1200" dirty="0" err="1">
                <a:latin typeface="Consolas" panose="020B0609020204030204" pitchFamily="49" charset="0"/>
              </a:rPr>
              <a:t>return</a:t>
            </a:r>
            <a:r>
              <a:rPr lang="pt-BR" sz="1200" dirty="0">
                <a:latin typeface="Consolas" panose="020B0609020204030204" pitchFamily="49" charset="0"/>
              </a:rPr>
              <a:t> (f - 32) * 5 / 9</a:t>
            </a:r>
          </a:p>
          <a:p>
            <a:endParaRPr lang="pt-BR" sz="1200" dirty="0">
              <a:latin typeface="Consolas" panose="020B0609020204030204" pitchFamily="49" charset="0"/>
            </a:endParaRPr>
          </a:p>
          <a:p>
            <a:endParaRPr lang="pt-BR" sz="1200" dirty="0">
              <a:latin typeface="Consolas" panose="020B0609020204030204" pitchFamily="49" charset="0"/>
            </a:endParaRPr>
          </a:p>
          <a:p>
            <a:r>
              <a:rPr lang="pt-BR" sz="1200" dirty="0" err="1">
                <a:latin typeface="Consolas" panose="020B0609020204030204" pitchFamily="49" charset="0"/>
              </a:rPr>
              <a:t>def</a:t>
            </a:r>
            <a:r>
              <a:rPr lang="pt-BR" sz="1200" dirty="0">
                <a:latin typeface="Consolas" panose="020B0609020204030204" pitchFamily="49" charset="0"/>
              </a:rPr>
              <a:t> </a:t>
            </a:r>
            <a:r>
              <a:rPr lang="pt-BR" sz="1200" dirty="0" err="1">
                <a:latin typeface="Consolas" panose="020B0609020204030204" pitchFamily="49" charset="0"/>
              </a:rPr>
              <a:t>calcular_area_circulo</a:t>
            </a:r>
            <a:r>
              <a:rPr lang="pt-BR" sz="1200" dirty="0">
                <a:latin typeface="Consolas" panose="020B0609020204030204" pitchFamily="49" charset="0"/>
              </a:rPr>
              <a:t>(radio):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    </a:t>
            </a:r>
            <a:r>
              <a:rPr lang="pt-BR" sz="1200" dirty="0" err="1">
                <a:latin typeface="Consolas" panose="020B0609020204030204" pitchFamily="49" charset="0"/>
              </a:rPr>
              <a:t>return</a:t>
            </a:r>
            <a:r>
              <a:rPr lang="pt-BR" sz="1200" dirty="0">
                <a:latin typeface="Consolas" panose="020B0609020204030204" pitchFamily="49" charset="0"/>
              </a:rPr>
              <a:t> PI * radio ** 2</a:t>
            </a:r>
          </a:p>
          <a:p>
            <a:endParaRPr lang="pt-BR" sz="1200" dirty="0">
              <a:latin typeface="Consolas" panose="020B0609020204030204" pitchFamily="49" charset="0"/>
            </a:endParaRPr>
          </a:p>
          <a:p>
            <a:endParaRPr lang="pt-BR" sz="1200" dirty="0">
              <a:latin typeface="Consolas" panose="020B0609020204030204" pitchFamily="49" charset="0"/>
            </a:endParaRPr>
          </a:p>
          <a:p>
            <a:r>
              <a:rPr lang="pt-BR" sz="1200" dirty="0" err="1">
                <a:latin typeface="Consolas" panose="020B0609020204030204" pitchFamily="49" charset="0"/>
              </a:rPr>
              <a:t>def</a:t>
            </a:r>
            <a:r>
              <a:rPr lang="pt-BR" sz="1200" dirty="0">
                <a:latin typeface="Consolas" panose="020B0609020204030204" pitchFamily="49" charset="0"/>
              </a:rPr>
              <a:t> calcular_area_rectangulo(base, altura):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    </a:t>
            </a:r>
            <a:r>
              <a:rPr lang="pt-BR" sz="1200" dirty="0" err="1">
                <a:latin typeface="Consolas" panose="020B0609020204030204" pitchFamily="49" charset="0"/>
              </a:rPr>
              <a:t>return</a:t>
            </a:r>
            <a:r>
              <a:rPr lang="pt-BR" sz="1200" dirty="0">
                <a:latin typeface="Consolas" panose="020B0609020204030204" pitchFamily="49" charset="0"/>
              </a:rPr>
              <a:t> base * altura</a:t>
            </a:r>
          </a:p>
          <a:p>
            <a:endParaRPr lang="pt-BR" sz="1200" dirty="0">
              <a:latin typeface="Consolas" panose="020B0609020204030204" pitchFamily="49" charset="0"/>
            </a:endParaRPr>
          </a:p>
          <a:p>
            <a:endParaRPr lang="pt-BR" sz="1200" dirty="0">
              <a:latin typeface="Consolas" panose="020B0609020204030204" pitchFamily="49" charset="0"/>
            </a:endParaRPr>
          </a:p>
          <a:p>
            <a:r>
              <a:rPr lang="pt-BR" sz="1200" dirty="0" err="1">
                <a:latin typeface="Consolas" panose="020B0609020204030204" pitchFamily="49" charset="0"/>
              </a:rPr>
              <a:t>def</a:t>
            </a:r>
            <a:r>
              <a:rPr lang="pt-BR" sz="1200" dirty="0">
                <a:latin typeface="Consolas" panose="020B0609020204030204" pitchFamily="49" charset="0"/>
              </a:rPr>
              <a:t> </a:t>
            </a:r>
            <a:r>
              <a:rPr lang="pt-BR" sz="1200" dirty="0" err="1">
                <a:latin typeface="Consolas" panose="020B0609020204030204" pitchFamily="49" charset="0"/>
              </a:rPr>
              <a:t>mostrar_menu</a:t>
            </a:r>
            <a:r>
              <a:rPr lang="pt-BR" sz="1200" dirty="0">
                <a:latin typeface="Consolas" panose="020B0609020204030204" pitchFamily="49" charset="0"/>
              </a:rPr>
              <a:t>():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    print("--- Áreas de figuras ---")</a:t>
            </a:r>
          </a:p>
          <a:p>
            <a:endParaRPr lang="pt-BR" sz="1200" dirty="0">
              <a:latin typeface="Consolas" panose="020B0609020204030204" pitchFamily="49" charset="0"/>
            </a:endParaRPr>
          </a:p>
          <a:p>
            <a:endParaRPr lang="pt-BR" sz="1200" dirty="0">
              <a:latin typeface="Consolas" panose="020B0609020204030204" pitchFamily="49" charset="0"/>
            </a:endParaRPr>
          </a:p>
          <a:p>
            <a:r>
              <a:rPr lang="pt-BR" sz="1200" dirty="0" err="1">
                <a:latin typeface="Consolas" panose="020B0609020204030204" pitchFamily="49" charset="0"/>
              </a:rPr>
              <a:t>def</a:t>
            </a:r>
            <a:r>
              <a:rPr lang="pt-BR" sz="1200" dirty="0">
                <a:latin typeface="Consolas" panose="020B0609020204030204" pitchFamily="49" charset="0"/>
              </a:rPr>
              <a:t> </a:t>
            </a:r>
            <a:r>
              <a:rPr lang="pt-BR" sz="1200" dirty="0" err="1">
                <a:latin typeface="Consolas" panose="020B0609020204030204" pitchFamily="49" charset="0"/>
              </a:rPr>
              <a:t>mostrar_area</a:t>
            </a:r>
            <a:r>
              <a:rPr lang="pt-BR" sz="1200" dirty="0">
                <a:latin typeface="Consolas" panose="020B0609020204030204" pitchFamily="49" charset="0"/>
              </a:rPr>
              <a:t>(figura, </a:t>
            </a:r>
            <a:r>
              <a:rPr lang="pt-BR" sz="1200" dirty="0" err="1">
                <a:latin typeface="Consolas" panose="020B0609020204030204" pitchFamily="49" charset="0"/>
              </a:rPr>
              <a:t>area</a:t>
            </a:r>
            <a:r>
              <a:rPr lang="pt-BR" sz="1200" dirty="0">
                <a:latin typeface="Consolas" panose="020B0609020204030204" pitchFamily="49" charset="0"/>
              </a:rPr>
              <a:t>):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    print(</a:t>
            </a:r>
            <a:r>
              <a:rPr lang="pt-BR" sz="1200" dirty="0" err="1">
                <a:latin typeface="Consolas" panose="020B0609020204030204" pitchFamily="49" charset="0"/>
              </a:rPr>
              <a:t>f"Área</a:t>
            </a:r>
            <a:r>
              <a:rPr lang="pt-BR" sz="1200" dirty="0">
                <a:latin typeface="Consolas" panose="020B0609020204030204" pitchFamily="49" charset="0"/>
              </a:rPr>
              <a:t> </a:t>
            </a:r>
            <a:r>
              <a:rPr lang="pt-BR" sz="1200" dirty="0" err="1">
                <a:latin typeface="Consolas" panose="020B0609020204030204" pitchFamily="49" charset="0"/>
              </a:rPr>
              <a:t>del</a:t>
            </a:r>
            <a:r>
              <a:rPr lang="pt-BR" sz="1200" dirty="0">
                <a:latin typeface="Consolas" panose="020B0609020204030204" pitchFamily="49" charset="0"/>
              </a:rPr>
              <a:t> {figura}: {area:.2f}")</a:t>
            </a:r>
          </a:p>
          <a:p>
            <a:endParaRPr lang="pt-BR" sz="1200" dirty="0">
              <a:latin typeface="Consolas" panose="020B0609020204030204" pitchFamily="49" charset="0"/>
            </a:endParaRPr>
          </a:p>
          <a:p>
            <a:r>
              <a:rPr lang="pt-BR" sz="1200" dirty="0">
                <a:latin typeface="Consolas" panose="020B0609020204030204" pitchFamily="49" charset="0"/>
              </a:rPr>
              <a:t>...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01CD8D0-BB37-4F8A-9C25-6B0D9DCEA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770" y="3248636"/>
            <a:ext cx="2359530" cy="4571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C926298-ABCC-402B-83D8-DCDC41131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827" y="4059060"/>
            <a:ext cx="2377473" cy="40011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745243D-5F2C-496E-BABF-4664BFA84A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770" y="1617345"/>
            <a:ext cx="2359530" cy="45715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B776D83-B31E-48A1-BEA2-50ACDF5152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770" y="2438212"/>
            <a:ext cx="2359530" cy="45715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7DDA910-BB8F-4D21-A80A-58B31A4AC3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825" y="5520758"/>
            <a:ext cx="2363783" cy="428522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03974D3D-A13E-4E88-B15B-B0B5C490C2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827" y="4775703"/>
            <a:ext cx="2363781" cy="42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83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Trabajando con funciones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51520" y="966788"/>
            <a:ext cx="88924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/>
              <a:t>Parte 2</a:t>
            </a:r>
            <a:r>
              <a:rPr lang="es-MX" sz="2000" dirty="0"/>
              <a:t>: Invocación de las funciones.</a:t>
            </a:r>
            <a:endParaRPr lang="es-MX" sz="2000" b="1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922670A2-9CEB-40C1-B426-1CB679D8D8D2}"/>
              </a:ext>
            </a:extLst>
          </p:cNvPr>
          <p:cNvSpPr txBox="1"/>
          <p:nvPr/>
        </p:nvSpPr>
        <p:spPr>
          <a:xfrm>
            <a:off x="336228" y="1450490"/>
            <a:ext cx="8556252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Consolas" panose="020B0609020204030204" pitchFamily="49" charset="0"/>
              </a:rPr>
              <a:t>...</a:t>
            </a:r>
          </a:p>
          <a:p>
            <a:endParaRPr lang="pt-BR" sz="1200" dirty="0">
              <a:latin typeface="Consolas" panose="020B0609020204030204" pitchFamily="49" charset="0"/>
            </a:endParaRPr>
          </a:p>
          <a:p>
            <a:r>
              <a:rPr lang="pt-BR" sz="1200" dirty="0">
                <a:latin typeface="Consolas" panose="020B0609020204030204" pitchFamily="49" charset="0"/>
              </a:rPr>
              <a:t># </a:t>
            </a:r>
            <a:r>
              <a:rPr lang="pt-BR" sz="1200" dirty="0" err="1">
                <a:latin typeface="Consolas" panose="020B0609020204030204" pitchFamily="49" charset="0"/>
              </a:rPr>
              <a:t>Invocaciones</a:t>
            </a:r>
            <a:endParaRPr lang="pt-BR" sz="1200" dirty="0">
              <a:latin typeface="Consolas" panose="020B0609020204030204" pitchFamily="49" charset="0"/>
            </a:endParaRPr>
          </a:p>
          <a:p>
            <a:r>
              <a:rPr lang="pt-BR" sz="1200" dirty="0" err="1">
                <a:latin typeface="Consolas" panose="020B0609020204030204" pitchFamily="49" charset="0"/>
              </a:rPr>
              <a:t>mostrar_menu</a:t>
            </a:r>
            <a:r>
              <a:rPr lang="pt-BR" sz="1200" dirty="0">
                <a:latin typeface="Consolas" panose="020B0609020204030204" pitchFamily="49" charset="0"/>
              </a:rPr>
              <a:t>()                                        # 1. </a:t>
            </a:r>
            <a:r>
              <a:rPr lang="pt-BR" sz="1200" dirty="0" err="1">
                <a:latin typeface="Consolas" panose="020B0609020204030204" pitchFamily="49" charset="0"/>
              </a:rPr>
              <a:t>sin</a:t>
            </a:r>
            <a:r>
              <a:rPr lang="pt-BR" sz="1200" dirty="0">
                <a:latin typeface="Consolas" panose="020B0609020204030204" pitchFamily="49" charset="0"/>
              </a:rPr>
              <a:t> argumentos, </a:t>
            </a:r>
            <a:r>
              <a:rPr lang="pt-BR" sz="1200" dirty="0" err="1">
                <a:latin typeface="Consolas" panose="020B0609020204030204" pitchFamily="49" charset="0"/>
              </a:rPr>
              <a:t>sin</a:t>
            </a:r>
            <a:r>
              <a:rPr lang="pt-BR" sz="1200" dirty="0">
                <a:latin typeface="Consolas" panose="020B0609020204030204" pitchFamily="49" charset="0"/>
              </a:rPr>
              <a:t> guardar nada</a:t>
            </a:r>
          </a:p>
          <a:p>
            <a:endParaRPr lang="pt-BR" sz="1200" dirty="0">
              <a:latin typeface="Consolas" panose="020B0609020204030204" pitchFamily="49" charset="0"/>
            </a:endParaRPr>
          </a:p>
          <a:p>
            <a:r>
              <a:rPr lang="pt-BR" sz="1200" dirty="0" err="1">
                <a:latin typeface="Consolas" panose="020B0609020204030204" pitchFamily="49" charset="0"/>
              </a:rPr>
              <a:t>temp_f</a:t>
            </a:r>
            <a:r>
              <a:rPr lang="pt-BR" sz="1200" dirty="0">
                <a:latin typeface="Consolas" panose="020B0609020204030204" pitchFamily="49" charset="0"/>
              </a:rPr>
              <a:t> = </a:t>
            </a:r>
            <a:r>
              <a:rPr lang="pt-BR" sz="1200" dirty="0" err="1">
                <a:latin typeface="Consolas" panose="020B0609020204030204" pitchFamily="49" charset="0"/>
              </a:rPr>
              <a:t>celsius_to_fahrenheit</a:t>
            </a:r>
            <a:r>
              <a:rPr lang="pt-BR" sz="1200" dirty="0">
                <a:latin typeface="Consolas" panose="020B0609020204030204" pitchFamily="49" charset="0"/>
              </a:rPr>
              <a:t>(25)                    # 2. se guarda </a:t>
            </a:r>
            <a:r>
              <a:rPr lang="pt-BR" sz="1200" dirty="0" err="1">
                <a:latin typeface="Consolas" panose="020B0609020204030204" pitchFamily="49" charset="0"/>
              </a:rPr>
              <a:t>el</a:t>
            </a:r>
            <a:r>
              <a:rPr lang="pt-BR" sz="1200" dirty="0">
                <a:latin typeface="Consolas" panose="020B0609020204030204" pitchFamily="49" charset="0"/>
              </a:rPr>
              <a:t> retorno (77.0)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print(</a:t>
            </a:r>
            <a:r>
              <a:rPr lang="pt-BR" sz="1200" dirty="0" err="1">
                <a:latin typeface="Consolas" panose="020B0609020204030204" pitchFamily="49" charset="0"/>
              </a:rPr>
              <a:t>celsius_to_fahrenheit</a:t>
            </a:r>
            <a:r>
              <a:rPr lang="pt-BR" sz="1200" dirty="0">
                <a:latin typeface="Consolas" panose="020B0609020204030204" pitchFamily="49" charset="0"/>
              </a:rPr>
              <a:t>(100))                     # 3. se usa </a:t>
            </a:r>
            <a:r>
              <a:rPr lang="pt-BR" sz="1200" dirty="0" err="1">
                <a:latin typeface="Consolas" panose="020B0609020204030204" pitchFamily="49" charset="0"/>
              </a:rPr>
              <a:t>directamente</a:t>
            </a:r>
            <a:r>
              <a:rPr lang="pt-BR" sz="1200" dirty="0">
                <a:latin typeface="Consolas" panose="020B0609020204030204" pitchFamily="49" charset="0"/>
              </a:rPr>
              <a:t> </a:t>
            </a:r>
            <a:r>
              <a:rPr lang="pt-BR" sz="1200" dirty="0" err="1">
                <a:latin typeface="Consolas" panose="020B0609020204030204" pitchFamily="49" charset="0"/>
              </a:rPr>
              <a:t>en</a:t>
            </a:r>
            <a:r>
              <a:rPr lang="pt-BR" sz="1200" dirty="0">
                <a:latin typeface="Consolas" panose="020B0609020204030204" pitchFamily="49" charset="0"/>
              </a:rPr>
              <a:t> print (212.0)</a:t>
            </a:r>
          </a:p>
          <a:p>
            <a:r>
              <a:rPr lang="pt-BR" sz="1200" dirty="0" err="1">
                <a:latin typeface="Consolas" panose="020B0609020204030204" pitchFamily="49" charset="0"/>
              </a:rPr>
              <a:t>temp_c</a:t>
            </a:r>
            <a:r>
              <a:rPr lang="pt-BR" sz="1200" dirty="0">
                <a:latin typeface="Consolas" panose="020B0609020204030204" pitchFamily="49" charset="0"/>
              </a:rPr>
              <a:t> = </a:t>
            </a:r>
            <a:r>
              <a:rPr lang="pt-BR" sz="1200" dirty="0" err="1">
                <a:latin typeface="Consolas" panose="020B0609020204030204" pitchFamily="49" charset="0"/>
              </a:rPr>
              <a:t>fahrenheit_to_celsius</a:t>
            </a:r>
            <a:r>
              <a:rPr lang="pt-BR" sz="1200" dirty="0">
                <a:latin typeface="Consolas" panose="020B0609020204030204" pitchFamily="49" charset="0"/>
              </a:rPr>
              <a:t>(</a:t>
            </a:r>
            <a:r>
              <a:rPr lang="pt-BR" sz="1200" dirty="0" err="1">
                <a:latin typeface="Consolas" panose="020B0609020204030204" pitchFamily="49" charset="0"/>
              </a:rPr>
              <a:t>temp_f</a:t>
            </a:r>
            <a:r>
              <a:rPr lang="pt-BR" sz="1200" dirty="0">
                <a:latin typeface="Consolas" panose="020B0609020204030204" pitchFamily="49" charset="0"/>
              </a:rPr>
              <a:t>)                # 4. </a:t>
            </a:r>
            <a:r>
              <a:rPr lang="pt-BR" sz="1200" dirty="0" err="1">
                <a:latin typeface="Consolas" panose="020B0609020204030204" pitchFamily="49" charset="0"/>
              </a:rPr>
              <a:t>el</a:t>
            </a:r>
            <a:r>
              <a:rPr lang="pt-BR" sz="1200" dirty="0">
                <a:latin typeface="Consolas" panose="020B0609020204030204" pitchFamily="49" charset="0"/>
              </a:rPr>
              <a:t> argumento es una </a:t>
            </a:r>
            <a:r>
              <a:rPr lang="pt-BR" sz="1200" dirty="0" err="1">
                <a:latin typeface="Consolas" panose="020B0609020204030204" pitchFamily="49" charset="0"/>
              </a:rPr>
              <a:t>variable</a:t>
            </a:r>
            <a:r>
              <a:rPr lang="pt-BR" sz="1200" dirty="0">
                <a:latin typeface="Consolas" panose="020B0609020204030204" pitchFamily="49" charset="0"/>
              </a:rPr>
              <a:t> (25.0)</a:t>
            </a:r>
          </a:p>
          <a:p>
            <a:endParaRPr lang="pt-BR" sz="1200" dirty="0">
              <a:latin typeface="Consolas" panose="020B0609020204030204" pitchFamily="49" charset="0"/>
            </a:endParaRPr>
          </a:p>
          <a:p>
            <a:r>
              <a:rPr lang="pt-BR" sz="1200" dirty="0" err="1">
                <a:latin typeface="Consolas" panose="020B0609020204030204" pitchFamily="49" charset="0"/>
              </a:rPr>
              <a:t>area</a:t>
            </a:r>
            <a:r>
              <a:rPr lang="pt-BR" sz="1200" dirty="0">
                <a:latin typeface="Consolas" panose="020B0609020204030204" pitchFamily="49" charset="0"/>
              </a:rPr>
              <a:t> = </a:t>
            </a:r>
            <a:r>
              <a:rPr lang="pt-BR" sz="1200" dirty="0" err="1">
                <a:latin typeface="Consolas" panose="020B0609020204030204" pitchFamily="49" charset="0"/>
              </a:rPr>
              <a:t>calcular_area_circulo</a:t>
            </a:r>
            <a:r>
              <a:rPr lang="pt-BR" sz="1200" dirty="0">
                <a:latin typeface="Consolas" panose="020B0609020204030204" pitchFamily="49" charset="0"/>
              </a:rPr>
              <a:t>(5)                       # 5. </a:t>
            </a:r>
            <a:r>
              <a:rPr lang="pt-BR" sz="1200" dirty="0" err="1">
                <a:latin typeface="Consolas" panose="020B0609020204030204" pitchFamily="49" charset="0"/>
              </a:rPr>
              <a:t>un</a:t>
            </a:r>
            <a:r>
              <a:rPr lang="pt-BR" sz="1200" dirty="0">
                <a:latin typeface="Consolas" panose="020B0609020204030204" pitchFamily="49" charset="0"/>
              </a:rPr>
              <a:t> argumento (78.54)</a:t>
            </a:r>
          </a:p>
          <a:p>
            <a:r>
              <a:rPr lang="pt-BR" sz="1200" dirty="0" err="1">
                <a:latin typeface="Consolas" panose="020B0609020204030204" pitchFamily="49" charset="0"/>
              </a:rPr>
              <a:t>mostrar_area</a:t>
            </a:r>
            <a:r>
              <a:rPr lang="pt-BR" sz="1200" dirty="0">
                <a:latin typeface="Consolas" panose="020B0609020204030204" pitchFamily="49" charset="0"/>
              </a:rPr>
              <a:t>("círculo", </a:t>
            </a:r>
            <a:r>
              <a:rPr lang="pt-BR" sz="1200" dirty="0" err="1">
                <a:latin typeface="Consolas" panose="020B0609020204030204" pitchFamily="49" charset="0"/>
              </a:rPr>
              <a:t>area</a:t>
            </a:r>
            <a:r>
              <a:rPr lang="pt-BR" sz="1200" dirty="0">
                <a:latin typeface="Consolas" panose="020B0609020204030204" pitchFamily="49" charset="0"/>
              </a:rPr>
              <a:t>)                         # 6. dos argumentos, </a:t>
            </a:r>
            <a:r>
              <a:rPr lang="pt-BR" sz="1200" dirty="0" err="1">
                <a:latin typeface="Consolas" panose="020B0609020204030204" pitchFamily="49" charset="0"/>
              </a:rPr>
              <a:t>sin</a:t>
            </a:r>
            <a:r>
              <a:rPr lang="pt-BR" sz="1200" dirty="0">
                <a:latin typeface="Consolas" panose="020B0609020204030204" pitchFamily="49" charset="0"/>
              </a:rPr>
              <a:t> guardar nada</a:t>
            </a:r>
          </a:p>
          <a:p>
            <a:r>
              <a:rPr lang="pt-BR" sz="1200" dirty="0" err="1">
                <a:latin typeface="Consolas" panose="020B0609020204030204" pitchFamily="49" charset="0"/>
              </a:rPr>
              <a:t>mostrar_area</a:t>
            </a:r>
            <a:r>
              <a:rPr lang="pt-BR" sz="1200" dirty="0">
                <a:latin typeface="Consolas" panose="020B0609020204030204" pitchFamily="49" charset="0"/>
              </a:rPr>
              <a:t>("</a:t>
            </a:r>
            <a:r>
              <a:rPr lang="pt-BR" sz="1200" dirty="0" err="1">
                <a:latin typeface="Consolas" panose="020B0609020204030204" pitchFamily="49" charset="0"/>
              </a:rPr>
              <a:t>rectángulo</a:t>
            </a:r>
            <a:r>
              <a:rPr lang="pt-BR" sz="1200" dirty="0">
                <a:latin typeface="Consolas" panose="020B0609020204030204" pitchFamily="49" charset="0"/>
              </a:rPr>
              <a:t>", calcular_area_rectangulo(4, 3))   # 7. una </a:t>
            </a:r>
            <a:r>
              <a:rPr lang="pt-BR" sz="1200" dirty="0" err="1">
                <a:latin typeface="Consolas" panose="020B0609020204030204" pitchFamily="49" charset="0"/>
              </a:rPr>
              <a:t>llamada</a:t>
            </a:r>
            <a:r>
              <a:rPr lang="pt-BR" sz="1200" dirty="0">
                <a:latin typeface="Consolas" panose="020B0609020204030204" pitchFamily="49" charset="0"/>
              </a:rPr>
              <a:t> dentro de </a:t>
            </a:r>
            <a:r>
              <a:rPr lang="pt-BR" sz="1200" dirty="0" err="1">
                <a:latin typeface="Consolas" panose="020B0609020204030204" pitchFamily="49" charset="0"/>
              </a:rPr>
              <a:t>otra</a:t>
            </a:r>
            <a:endParaRPr lang="pt-BR" sz="1200" dirty="0">
              <a:latin typeface="Consolas" panose="020B0609020204030204" pitchFamily="49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FEE459E-E2A7-4861-A657-5658D64ECEA6}"/>
              </a:ext>
            </a:extLst>
          </p:cNvPr>
          <p:cNvSpPr txBox="1"/>
          <p:nvPr/>
        </p:nvSpPr>
        <p:spPr>
          <a:xfrm>
            <a:off x="4427984" y="4944070"/>
            <a:ext cx="4139952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600" dirty="0">
                <a:latin typeface="Consolas" panose="020B0609020204030204" pitchFamily="49" charset="0"/>
              </a:rPr>
              <a:t>--- Áreas de figuras ---</a:t>
            </a:r>
          </a:p>
          <a:p>
            <a:r>
              <a:rPr lang="es-CO" sz="1600" dirty="0">
                <a:latin typeface="Consolas" panose="020B0609020204030204" pitchFamily="49" charset="0"/>
              </a:rPr>
              <a:t>212.0</a:t>
            </a:r>
          </a:p>
          <a:p>
            <a:r>
              <a:rPr lang="es-CO" sz="1600" dirty="0">
                <a:latin typeface="Consolas" panose="020B0609020204030204" pitchFamily="49" charset="0"/>
              </a:rPr>
              <a:t>Área del círculo: 78.54</a:t>
            </a:r>
          </a:p>
          <a:p>
            <a:r>
              <a:rPr lang="es-CO" sz="1600" dirty="0">
                <a:latin typeface="Consolas" panose="020B0609020204030204" pitchFamily="49" charset="0"/>
              </a:rPr>
              <a:t>Área del rectángulo: 12.00</a:t>
            </a:r>
          </a:p>
        </p:txBody>
      </p:sp>
      <p:sp>
        <p:nvSpPr>
          <p:cNvPr id="7" name="12 Rectángulo">
            <a:extLst>
              <a:ext uri="{FF2B5EF4-FFF2-40B4-BE49-F238E27FC236}">
                <a16:creationId xmlns:a16="http://schemas.microsoft.com/office/drawing/2014/main" id="{C38F8478-32BE-458C-ADC2-8E2C0C2FA8F3}"/>
              </a:ext>
            </a:extLst>
          </p:cNvPr>
          <p:cNvSpPr/>
          <p:nvPr/>
        </p:nvSpPr>
        <p:spPr>
          <a:xfrm>
            <a:off x="336228" y="4037002"/>
            <a:ext cx="8556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/>
              <a:t>Resultado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FD481A2-292A-4DA0-8DC8-8C2482C71D92}"/>
              </a:ext>
            </a:extLst>
          </p:cNvPr>
          <p:cNvSpPr txBox="1"/>
          <p:nvPr/>
        </p:nvSpPr>
        <p:spPr>
          <a:xfrm>
            <a:off x="3782111" y="3760003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2"/>
              </a:rPr>
              <a:t>Link simulación</a:t>
            </a:r>
            <a:endParaRPr lang="es-CO" sz="1200" dirty="0"/>
          </a:p>
        </p:txBody>
      </p:sp>
      <p:graphicFrame>
        <p:nvGraphicFramePr>
          <p:cNvPr id="4" name="Tabla 8">
            <a:extLst>
              <a:ext uri="{FF2B5EF4-FFF2-40B4-BE49-F238E27FC236}">
                <a16:creationId xmlns:a16="http://schemas.microsoft.com/office/drawing/2014/main" id="{CFD71E27-B0B7-47AD-A81B-90BFA4A94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675683"/>
              </p:ext>
            </p:extLst>
          </p:nvPr>
        </p:nvGraphicFramePr>
        <p:xfrm>
          <a:off x="1475656" y="5071843"/>
          <a:ext cx="195776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8880">
                  <a:extLst>
                    <a:ext uri="{9D8B030D-6E8A-4147-A177-3AD203B41FA5}">
                      <a16:colId xmlns:a16="http://schemas.microsoft.com/office/drawing/2014/main" val="760182856"/>
                    </a:ext>
                  </a:extLst>
                </a:gridCol>
                <a:gridCol w="978880">
                  <a:extLst>
                    <a:ext uri="{9D8B030D-6E8A-4147-A177-3AD203B41FA5}">
                      <a16:colId xmlns:a16="http://schemas.microsoft.com/office/drawing/2014/main" val="35405804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temp_f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77.0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573667"/>
                  </a:ext>
                </a:extLst>
              </a:tr>
            </a:tbl>
          </a:graphicData>
        </a:graphic>
      </p:graphicFrame>
      <p:graphicFrame>
        <p:nvGraphicFramePr>
          <p:cNvPr id="11" name="Tabla 8">
            <a:extLst>
              <a:ext uri="{FF2B5EF4-FFF2-40B4-BE49-F238E27FC236}">
                <a16:creationId xmlns:a16="http://schemas.microsoft.com/office/drawing/2014/main" id="{B65F38E3-0EF8-4010-8584-B2E00EC6F9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063574"/>
              </p:ext>
            </p:extLst>
          </p:nvPr>
        </p:nvGraphicFramePr>
        <p:xfrm>
          <a:off x="1475656" y="5497332"/>
          <a:ext cx="195776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8880">
                  <a:extLst>
                    <a:ext uri="{9D8B030D-6E8A-4147-A177-3AD203B41FA5}">
                      <a16:colId xmlns:a16="http://schemas.microsoft.com/office/drawing/2014/main" val="760182856"/>
                    </a:ext>
                  </a:extLst>
                </a:gridCol>
                <a:gridCol w="978880">
                  <a:extLst>
                    <a:ext uri="{9D8B030D-6E8A-4147-A177-3AD203B41FA5}">
                      <a16:colId xmlns:a16="http://schemas.microsoft.com/office/drawing/2014/main" val="35405804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temp_c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25.0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573667"/>
                  </a:ext>
                </a:extLst>
              </a:tr>
            </a:tbl>
          </a:graphicData>
        </a:graphic>
      </p:graphicFrame>
      <p:graphicFrame>
        <p:nvGraphicFramePr>
          <p:cNvPr id="12" name="Tabla 8">
            <a:extLst>
              <a:ext uri="{FF2B5EF4-FFF2-40B4-BE49-F238E27FC236}">
                <a16:creationId xmlns:a16="http://schemas.microsoft.com/office/drawing/2014/main" id="{8D02ECD0-048F-4161-9BCD-D2319D65D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586301"/>
              </p:ext>
            </p:extLst>
          </p:nvPr>
        </p:nvGraphicFramePr>
        <p:xfrm>
          <a:off x="1475656" y="5922821"/>
          <a:ext cx="195776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8880">
                  <a:extLst>
                    <a:ext uri="{9D8B030D-6E8A-4147-A177-3AD203B41FA5}">
                      <a16:colId xmlns:a16="http://schemas.microsoft.com/office/drawing/2014/main" val="760182856"/>
                    </a:ext>
                  </a:extLst>
                </a:gridCol>
                <a:gridCol w="978880">
                  <a:extLst>
                    <a:ext uri="{9D8B030D-6E8A-4147-A177-3AD203B41FA5}">
                      <a16:colId xmlns:a16="http://schemas.microsoft.com/office/drawing/2014/main" val="35405804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area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78.54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573667"/>
                  </a:ext>
                </a:extLst>
              </a:tr>
            </a:tbl>
          </a:graphicData>
        </a:graphic>
      </p:graphicFrame>
      <p:graphicFrame>
        <p:nvGraphicFramePr>
          <p:cNvPr id="14" name="Tabla 8">
            <a:extLst>
              <a:ext uri="{FF2B5EF4-FFF2-40B4-BE49-F238E27FC236}">
                <a16:creationId xmlns:a16="http://schemas.microsoft.com/office/drawing/2014/main" id="{6F702281-A6D2-44B9-9E1A-640923D90E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003427"/>
              </p:ext>
            </p:extLst>
          </p:nvPr>
        </p:nvGraphicFramePr>
        <p:xfrm>
          <a:off x="1475656" y="4646354"/>
          <a:ext cx="195776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8880">
                  <a:extLst>
                    <a:ext uri="{9D8B030D-6E8A-4147-A177-3AD203B41FA5}">
                      <a16:colId xmlns:a16="http://schemas.microsoft.com/office/drawing/2014/main" val="760182856"/>
                    </a:ext>
                  </a:extLst>
                </a:gridCol>
                <a:gridCol w="978880">
                  <a:extLst>
                    <a:ext uri="{9D8B030D-6E8A-4147-A177-3AD203B41FA5}">
                      <a16:colId xmlns:a16="http://schemas.microsoft.com/office/drawing/2014/main" val="35405804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PI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Consolas" panose="020B0609020204030204" pitchFamily="49" charset="0"/>
                        </a:rPr>
                        <a:t>3.1416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573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34364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Probar una función</a:t>
            </a:r>
            <a:endParaRPr lang="es-CO" dirty="0">
              <a:highlight>
                <a:srgbClr val="FFFF00"/>
              </a:highlight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35496" y="908720"/>
            <a:ext cx="889248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Prueba unitaria</a:t>
            </a:r>
            <a:r>
              <a:rPr lang="es-MX" sz="2000" dirty="0"/>
              <a:t>: verificar una función de forma aislada, con varios casos de uso.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Cada </a:t>
            </a:r>
            <a:r>
              <a:rPr lang="es-MX" sz="2000" b="1" dirty="0"/>
              <a:t>caso de prueba</a:t>
            </a:r>
            <a:r>
              <a:rPr lang="es-MX" sz="2000" dirty="0"/>
              <a:t> compara el resultado </a:t>
            </a:r>
            <a:r>
              <a:rPr lang="es-MX" sz="2000" b="1" dirty="0"/>
              <a:t>esperado</a:t>
            </a:r>
            <a:r>
              <a:rPr lang="es-MX" sz="2000" dirty="0"/>
              <a:t> con el </a:t>
            </a:r>
            <a:r>
              <a:rPr lang="es-MX" sz="2000" b="1" dirty="0"/>
              <a:t>obtenido</a:t>
            </a:r>
            <a:r>
              <a:rPr lang="es-MX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Integración</a:t>
            </a:r>
            <a:r>
              <a:rPr lang="es-MX" sz="2000" dirty="0"/>
              <a:t>: proceso de combinar las funciones ya desarrolladas en el programa completo (menú, lectura de datos y ciclo principal).</a:t>
            </a:r>
            <a:endParaRPr lang="es-MX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¿Por qué es importante probar antes de integrar?</a:t>
            </a:r>
            <a:r>
              <a:rPr lang="es-MX" sz="2000" dirty="0"/>
              <a:t>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s-MX" sz="2000" dirty="0"/>
              <a:t>Si una función falla de forma aislada, el error se encuentra en ella.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s-MX" sz="2000" dirty="0"/>
              <a:t>Si falla dentro del programa completo, el origen puede estar en la función, en la lectura de datos o en el menú, y localizarlo resulta más costoso.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s-MX" sz="2000" dirty="0"/>
              <a:t>Una función verificada puede reutilizarse con confianza.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99B6162-7446-4A75-B376-D8527CA07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60512"/>
              </p:ext>
            </p:extLst>
          </p:nvPr>
        </p:nvGraphicFramePr>
        <p:xfrm>
          <a:off x="402362" y="4005064"/>
          <a:ext cx="8339275" cy="2011680"/>
        </p:xfrm>
        <a:graphic>
          <a:graphicData uri="http://schemas.openxmlformats.org/drawingml/2006/table">
            <a:tbl>
              <a:tblPr/>
              <a:tblGrid>
                <a:gridCol w="1512898">
                  <a:extLst>
                    <a:ext uri="{9D8B030D-6E8A-4147-A177-3AD203B41FA5}">
                      <a16:colId xmlns:a16="http://schemas.microsoft.com/office/drawing/2014/main" val="3339494124"/>
                    </a:ext>
                  </a:extLst>
                </a:gridCol>
                <a:gridCol w="1810900">
                  <a:extLst>
                    <a:ext uri="{9D8B030D-6E8A-4147-A177-3AD203B41FA5}">
                      <a16:colId xmlns:a16="http://schemas.microsoft.com/office/drawing/2014/main" val="906659216"/>
                    </a:ext>
                  </a:extLst>
                </a:gridCol>
                <a:gridCol w="5015477">
                  <a:extLst>
                    <a:ext uri="{9D8B030D-6E8A-4147-A177-3AD203B41FA5}">
                      <a16:colId xmlns:a16="http://schemas.microsoft.com/office/drawing/2014/main" val="324765120"/>
                    </a:ext>
                  </a:extLst>
                </a:gridCol>
              </a:tblGrid>
              <a:tr h="183419"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Tipo de caso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>
                          <a:solidFill>
                            <a:schemeClr val="bg1"/>
                          </a:solidFill>
                        </a:rPr>
                        <a:t>Qué prueba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Ejemplo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602877"/>
                  </a:ext>
                </a:extLst>
              </a:tr>
              <a:tr h="320983">
                <a:tc>
                  <a:txBody>
                    <a:bodyPr/>
                    <a:lstStyle/>
                    <a:p>
                      <a:r>
                        <a:rPr lang="es-CO" b="1"/>
                        <a:t>Típico</a:t>
                      </a:r>
                      <a:endParaRPr lang="es-CO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Uso habitual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calcular_area_rectangulo</a:t>
                      </a:r>
                      <a:r>
                        <a:rPr lang="es-CO" sz="1600" dirty="0">
                          <a:latin typeface="Consolas" panose="020B0609020204030204" pitchFamily="49" charset="0"/>
                        </a:rPr>
                        <a:t>(4, 3) → 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979995"/>
                  </a:ext>
                </a:extLst>
              </a:tr>
              <a:tr h="320983">
                <a:tc>
                  <a:txBody>
                    <a:bodyPr/>
                    <a:lstStyle/>
                    <a:p>
                      <a:r>
                        <a:rPr lang="es-CO" b="1"/>
                        <a:t>Límite</a:t>
                      </a:r>
                      <a:endParaRPr lang="es-CO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Valores extremos del rango válido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 err="1">
                          <a:latin typeface="Consolas" panose="020B0609020204030204" pitchFamily="49" charset="0"/>
                        </a:rPr>
                        <a:t>calcular_area_rectangulo</a:t>
                      </a:r>
                      <a:r>
                        <a:rPr lang="es-CO" sz="1600" dirty="0">
                          <a:latin typeface="Consolas" panose="020B0609020204030204" pitchFamily="49" charset="0"/>
                        </a:rPr>
                        <a:t>(0, 5) →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7258389"/>
                  </a:ext>
                </a:extLst>
              </a:tr>
              <a:tr h="377370">
                <a:tc>
                  <a:txBody>
                    <a:bodyPr/>
                    <a:lstStyle/>
                    <a:p>
                      <a:r>
                        <a:rPr lang="es-CO" b="1" dirty="0"/>
                        <a:t>Especial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Valores atípicos o inválidos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 err="1">
                          <a:latin typeface="Consolas" panose="020B0609020204030204" pitchFamily="49" charset="0"/>
                        </a:rPr>
                        <a:t>calcular_area_rectangulo</a:t>
                      </a:r>
                      <a:r>
                        <a:rPr lang="es-MX" sz="1600" dirty="0">
                          <a:latin typeface="Consolas" panose="020B0609020204030204" pitchFamily="49" charset="0"/>
                        </a:rPr>
                        <a:t>(-4, 3) → -12</a:t>
                      </a:r>
                      <a:r>
                        <a:rPr lang="es-MX" dirty="0"/>
                        <a:t>, que la función no rechaza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957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6240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Pruebas con </a:t>
            </a:r>
            <a:r>
              <a:rPr lang="es-CO" sz="4000" dirty="0">
                <a:solidFill>
                  <a:schemeClr val="accent4"/>
                </a:solidFill>
                <a:latin typeface="Consolas" panose="020B0609020204030204" pitchFamily="49" charset="0"/>
              </a:rPr>
              <a:t>assert</a:t>
            </a:r>
            <a:endParaRPr lang="es-CO" dirty="0">
              <a:solidFill>
                <a:schemeClr val="accent4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35496" y="836712"/>
            <a:ext cx="889248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Sintaxis</a:t>
            </a:r>
            <a:r>
              <a:rPr lang="es-MX" sz="2000" dirty="0"/>
              <a:t>: Una verificación se escribe con la palabra clave </a:t>
            </a:r>
            <a:r>
              <a:rPr lang="es-MX" b="1" dirty="0">
                <a:solidFill>
                  <a:schemeClr val="accent4"/>
                </a:solidFill>
                <a:latin typeface="Consolas" panose="020B0609020204030204" pitchFamily="49" charset="0"/>
              </a:rPr>
              <a:t>assert</a:t>
            </a:r>
            <a:r>
              <a:rPr lang="es-MX" sz="2000" dirty="0"/>
              <a:t>, seguida de una condición y,  opcionalmente, un mensaje: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Donde</a:t>
            </a:r>
            <a:r>
              <a:rPr lang="es-MX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Condición</a:t>
            </a:r>
            <a:r>
              <a:rPr lang="es-MX" sz="2000" dirty="0"/>
              <a:t>: expresión que debe ser verdadera, normalmente la comparación </a:t>
            </a:r>
            <a:r>
              <a:rPr lang="es-MX" b="1" dirty="0">
                <a:solidFill>
                  <a:srgbClr val="00B050"/>
                </a:solidFill>
                <a:latin typeface="Consolas" panose="020B0609020204030204" pitchFamily="49" charset="0"/>
              </a:rPr>
              <a:t>llamada == </a:t>
            </a:r>
            <a:r>
              <a:rPr lang="es-MX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resultado_esperado</a:t>
            </a:r>
            <a:r>
              <a:rPr lang="es-MX" sz="20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Mensaje (opcional)</a:t>
            </a:r>
            <a:r>
              <a:rPr lang="es-MX" sz="2000" dirty="0"/>
              <a:t>: texto que se muestra si la condición es falsa.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Si la condición se cumple</a:t>
            </a:r>
            <a:r>
              <a:rPr lang="es-MX" sz="2000" dirty="0"/>
              <a:t>, el programa continúa sin mostrar nada.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Si no se cumple</a:t>
            </a:r>
            <a:r>
              <a:rPr lang="es-MX" sz="2000" dirty="0"/>
              <a:t>, Python lanza </a:t>
            </a:r>
            <a:r>
              <a:rPr lang="es-MX" b="1" dirty="0" err="1">
                <a:latin typeface="Consolas" panose="020B0609020204030204" pitchFamily="49" charset="0"/>
              </a:rPr>
              <a:t>AssertionError</a:t>
            </a:r>
            <a:r>
              <a:rPr lang="es-MX" sz="2000" dirty="0"/>
              <a:t> e indica la línea que falló o muestra el mensaje (en caso de que este se haya definido).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3E20402-0003-480B-BF9B-6B30BB7DB54E}"/>
              </a:ext>
            </a:extLst>
          </p:cNvPr>
          <p:cNvSpPr txBox="1"/>
          <p:nvPr/>
        </p:nvSpPr>
        <p:spPr>
          <a:xfrm>
            <a:off x="588701" y="1700808"/>
            <a:ext cx="79665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assert</a:t>
            </a:r>
            <a:r>
              <a:rPr lang="es-CO" sz="1600" dirty="0">
                <a:latin typeface="Consolas" panose="020B0609020204030204" pitchFamily="49" charset="0"/>
              </a:rPr>
              <a:t> </a:t>
            </a:r>
            <a:r>
              <a:rPr lang="es-CO" sz="1600" b="1" dirty="0">
                <a:solidFill>
                  <a:srgbClr val="00B050"/>
                </a:solidFill>
                <a:latin typeface="Consolas" panose="020B0609020204030204" pitchFamily="49" charset="0"/>
              </a:rPr>
              <a:t>condición </a:t>
            </a:r>
            <a:r>
              <a:rPr lang="es-CO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[, "Mensaje opcional"]</a:t>
            </a:r>
            <a:endParaRPr lang="es-CO" sz="1600" b="1" dirty="0">
              <a:solidFill>
                <a:srgbClr val="C0000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B923442-2F95-4D91-85F2-1BCEF4294321}"/>
              </a:ext>
            </a:extLst>
          </p:cNvPr>
          <p:cNvSpPr txBox="1"/>
          <p:nvPr/>
        </p:nvSpPr>
        <p:spPr>
          <a:xfrm>
            <a:off x="797898" y="4581128"/>
            <a:ext cx="7799723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# Sin mensaje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assert </a:t>
            </a:r>
            <a:r>
              <a:rPr lang="es-CO" sz="1200" dirty="0" err="1">
                <a:latin typeface="Consolas" panose="020B0609020204030204" pitchFamily="49" charset="0"/>
              </a:rPr>
              <a:t>calcular_area_rectangulo</a:t>
            </a:r>
            <a:r>
              <a:rPr lang="es-CO" sz="1200" dirty="0">
                <a:latin typeface="Consolas" panose="020B0609020204030204" pitchFamily="49" charset="0"/>
              </a:rPr>
              <a:t>(4, 3) == 12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# Con mensaje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assert </a:t>
            </a:r>
            <a:r>
              <a:rPr lang="es-CO" sz="1200" dirty="0" err="1">
                <a:latin typeface="Consolas" panose="020B0609020204030204" pitchFamily="49" charset="0"/>
              </a:rPr>
              <a:t>calcular_area_rectangulo</a:t>
            </a:r>
            <a:r>
              <a:rPr lang="es-CO" sz="1200" dirty="0">
                <a:latin typeface="Consolas" panose="020B0609020204030204" pitchFamily="49" charset="0"/>
              </a:rPr>
              <a:t>(4, 3) == 12, "El área de 4 x 3 debe ser 12"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504B595-B2EE-4CC2-8807-AD51AFE47AF0}"/>
              </a:ext>
            </a:extLst>
          </p:cNvPr>
          <p:cNvSpPr txBox="1"/>
          <p:nvPr/>
        </p:nvSpPr>
        <p:spPr>
          <a:xfrm>
            <a:off x="3649493" y="5589240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2"/>
              </a:rPr>
              <a:t>Link simulación</a:t>
            </a:r>
            <a:endParaRPr lang="es-CO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CED2DA4-4450-4E35-83D5-227E5ADBD70A}"/>
              </a:ext>
            </a:extLst>
          </p:cNvPr>
          <p:cNvSpPr txBox="1"/>
          <p:nvPr/>
        </p:nvSpPr>
        <p:spPr>
          <a:xfrm>
            <a:off x="827584" y="6237312"/>
            <a:ext cx="779972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s-CO" sz="1200" dirty="0">
              <a:latin typeface="Consolas" panose="020B0609020204030204" pitchFamily="49" charset="0"/>
            </a:endParaRPr>
          </a:p>
          <a:p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A5A6189-AD64-4BF6-97E5-0EAA0ADC6C7D}"/>
              </a:ext>
            </a:extLst>
          </p:cNvPr>
          <p:cNvSpPr txBox="1"/>
          <p:nvPr/>
        </p:nvSpPr>
        <p:spPr>
          <a:xfrm>
            <a:off x="771010" y="5960313"/>
            <a:ext cx="3656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 dirty="0"/>
              <a:t>Salida en pantalla </a:t>
            </a:r>
            <a:r>
              <a:rPr lang="es-CO" sz="1400" dirty="0"/>
              <a:t>(Vacía – Todo salió bien)</a:t>
            </a:r>
          </a:p>
        </p:txBody>
      </p:sp>
    </p:spTree>
    <p:extLst>
      <p:ext uri="{BB962C8B-B14F-4D97-AF65-F5344CB8AC3E}">
        <p14:creationId xmlns:p14="http://schemas.microsoft.com/office/powerpoint/2010/main" val="4533458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14149"/>
          </a:xfrm>
        </p:spPr>
        <p:txBody>
          <a:bodyPr>
            <a:normAutofit/>
          </a:bodyPr>
          <a:lstStyle/>
          <a:p>
            <a:r>
              <a:rPr lang="es-CO" dirty="0"/>
              <a:t>Pruebas con </a:t>
            </a:r>
            <a:r>
              <a:rPr lang="es-CO" sz="4000" dirty="0">
                <a:solidFill>
                  <a:schemeClr val="accent4"/>
                </a:solidFill>
                <a:latin typeface="Consolas" panose="020B0609020204030204" pitchFamily="49" charset="0"/>
              </a:rPr>
              <a:t>assert</a:t>
            </a:r>
            <a:r>
              <a:rPr lang="es-CO" dirty="0"/>
              <a:t>: casos y tips</a:t>
            </a:r>
            <a:endParaRPr lang="es-CO" dirty="0">
              <a:solidFill>
                <a:schemeClr val="accent4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35496" y="802447"/>
            <a:ext cx="889248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/>
              <a:t>Tips importantes</a:t>
            </a:r>
            <a:r>
              <a:rPr lang="es-MX" sz="20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2000" b="1" dirty="0"/>
              <a:t>Una condición por </a:t>
            </a:r>
            <a:r>
              <a:rPr lang="es-MX" b="1" dirty="0">
                <a:solidFill>
                  <a:schemeClr val="accent4"/>
                </a:solidFill>
                <a:latin typeface="Consolas" panose="020B0609020204030204" pitchFamily="49" charset="0"/>
              </a:rPr>
              <a:t>assert</a:t>
            </a:r>
            <a:r>
              <a:rPr lang="es-MX" sz="2000" dirty="0"/>
              <a:t>: Si se agrupan varias con </a:t>
            </a:r>
            <a:r>
              <a:rPr lang="es-MX" b="1" dirty="0">
                <a:latin typeface="Consolas" panose="020B0609020204030204" pitchFamily="49" charset="0"/>
              </a:rPr>
              <a:t>and</a:t>
            </a:r>
            <a:r>
              <a:rPr lang="es-MX" sz="2000" dirty="0"/>
              <a:t>, al fallar no se sabe cuál causó el error.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2000" b="1" dirty="0"/>
              <a:t>Primero el valor obtenido, después el esperado</a:t>
            </a:r>
            <a:r>
              <a:rPr lang="es-MX" sz="2000" dirty="0"/>
              <a:t>: </a:t>
            </a:r>
            <a:r>
              <a:rPr lang="es-MX" b="1" dirty="0">
                <a:solidFill>
                  <a:srgbClr val="00B050"/>
                </a:solidFill>
                <a:latin typeface="Consolas" panose="020B0609020204030204" pitchFamily="49" charset="0"/>
              </a:rPr>
              <a:t>llamada == esperado</a:t>
            </a:r>
            <a:r>
              <a:rPr lang="es-MX" sz="2000" dirty="0"/>
              <a:t>. Mantener el orden en todas las pruebas evita confusiones.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2000" b="1" dirty="0"/>
              <a:t>No compare decimales con </a:t>
            </a:r>
            <a:r>
              <a:rPr lang="es-MX" b="1" dirty="0">
                <a:latin typeface="Consolas" panose="020B0609020204030204" pitchFamily="49" charset="0"/>
              </a:rPr>
              <a:t>==</a:t>
            </a:r>
            <a:r>
              <a:rPr lang="es-MX" sz="2000" dirty="0"/>
              <a:t>: </a:t>
            </a:r>
            <a:r>
              <a:rPr lang="es-MX" b="1" dirty="0">
                <a:latin typeface="Consolas" panose="020B0609020204030204" pitchFamily="49" charset="0"/>
              </a:rPr>
              <a:t>0.1 + 0.2 == 0.3</a:t>
            </a:r>
            <a:r>
              <a:rPr lang="es-MX" sz="2000" dirty="0"/>
              <a:t> da </a:t>
            </a:r>
            <a:r>
              <a:rPr lang="es-MX" b="1" dirty="0">
                <a:latin typeface="Consolas" panose="020B0609020204030204" pitchFamily="49" charset="0"/>
              </a:rPr>
              <a:t>False</a:t>
            </a:r>
            <a:r>
              <a:rPr lang="es-MX" sz="2000" dirty="0"/>
              <a:t>. Para decimales se recomienda usar la función </a:t>
            </a:r>
            <a:r>
              <a:rPr lang="es-MX" b="1" dirty="0">
                <a:latin typeface="Consolas" panose="020B0609020204030204" pitchFamily="49" charset="0"/>
              </a:rPr>
              <a:t>round</a:t>
            </a:r>
            <a:r>
              <a:rPr lang="es-MX" sz="2000" dirty="0"/>
              <a:t>. Por ejemplo: </a:t>
            </a:r>
            <a:r>
              <a:rPr lang="es-MX" b="1" dirty="0">
                <a:solidFill>
                  <a:srgbClr val="00B050"/>
                </a:solidFill>
                <a:latin typeface="Consolas" panose="020B0609020204030204" pitchFamily="49" charset="0"/>
              </a:rPr>
              <a:t>round(resultado, 2) == esperado</a:t>
            </a:r>
            <a:r>
              <a:rPr lang="es-MX" sz="2000" dirty="0"/>
              <a:t>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B923442-2F95-4D91-85F2-1BCEF4294321}"/>
              </a:ext>
            </a:extLst>
          </p:cNvPr>
          <p:cNvSpPr txBox="1"/>
          <p:nvPr/>
        </p:nvSpPr>
        <p:spPr>
          <a:xfrm>
            <a:off x="539552" y="3823305"/>
            <a:ext cx="4361595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# Casos típicos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assert </a:t>
            </a:r>
            <a:r>
              <a:rPr lang="es-CO" sz="1200" dirty="0" err="1">
                <a:latin typeface="Consolas" panose="020B0609020204030204" pitchFamily="49" charset="0"/>
              </a:rPr>
              <a:t>calcular_area_rectangulo</a:t>
            </a:r>
            <a:r>
              <a:rPr lang="es-CO" sz="1200" dirty="0">
                <a:latin typeface="Consolas" panose="020B0609020204030204" pitchFamily="49" charset="0"/>
              </a:rPr>
              <a:t>(4, 3) == 12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assert </a:t>
            </a:r>
            <a:r>
              <a:rPr lang="es-CO" sz="1200" dirty="0" err="1">
                <a:latin typeface="Consolas" panose="020B0609020204030204" pitchFamily="49" charset="0"/>
              </a:rPr>
              <a:t>calcular_area_rectangulo</a:t>
            </a:r>
            <a:r>
              <a:rPr lang="es-CO" sz="1200" dirty="0">
                <a:latin typeface="Consolas" panose="020B0609020204030204" pitchFamily="49" charset="0"/>
              </a:rPr>
              <a:t>(2.5, 4) == 10.0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# Casos límite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assert </a:t>
            </a:r>
            <a:r>
              <a:rPr lang="es-CO" sz="1200" dirty="0" err="1">
                <a:latin typeface="Consolas" panose="020B0609020204030204" pitchFamily="49" charset="0"/>
              </a:rPr>
              <a:t>calcular_area_rectangulo</a:t>
            </a:r>
            <a:r>
              <a:rPr lang="es-CO" sz="1200" dirty="0">
                <a:latin typeface="Consolas" panose="020B0609020204030204" pitchFamily="49" charset="0"/>
              </a:rPr>
              <a:t>(0, 5) == 0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assert </a:t>
            </a:r>
            <a:r>
              <a:rPr lang="es-CO" sz="1200" dirty="0" err="1">
                <a:latin typeface="Consolas" panose="020B0609020204030204" pitchFamily="49" charset="0"/>
              </a:rPr>
              <a:t>calcular_area_rectangulo</a:t>
            </a:r>
            <a:r>
              <a:rPr lang="es-CO" sz="1200" dirty="0">
                <a:latin typeface="Consolas" panose="020B0609020204030204" pitchFamily="49" charset="0"/>
              </a:rPr>
              <a:t>(1, 1) == 1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# Caso especial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assert </a:t>
            </a:r>
            <a:r>
              <a:rPr lang="es-CO" sz="1200" dirty="0" err="1">
                <a:latin typeface="Consolas" panose="020B0609020204030204" pitchFamily="49" charset="0"/>
              </a:rPr>
              <a:t>calcular_area_rectangulo</a:t>
            </a:r>
            <a:r>
              <a:rPr lang="es-CO" sz="1200" dirty="0">
                <a:latin typeface="Consolas" panose="020B0609020204030204" pitchFamily="49" charset="0"/>
              </a:rPr>
              <a:t>(-4, 3) == -12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E3712E9-2519-47B7-BEAF-ABD8C5C7A93C}"/>
              </a:ext>
            </a:extLst>
          </p:cNvPr>
          <p:cNvSpPr txBox="1"/>
          <p:nvPr/>
        </p:nvSpPr>
        <p:spPr>
          <a:xfrm>
            <a:off x="5148064" y="3429000"/>
            <a:ext cx="3656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 dirty="0"/>
              <a:t>Salida en pantalla </a:t>
            </a:r>
            <a:r>
              <a:rPr lang="es-CO" sz="1400" dirty="0"/>
              <a:t>(Vacía – Todo salió bien)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41BB3D2-218E-4263-A6BF-CA3C7FEAE869}"/>
              </a:ext>
            </a:extLst>
          </p:cNvPr>
          <p:cNvSpPr txBox="1"/>
          <p:nvPr/>
        </p:nvSpPr>
        <p:spPr>
          <a:xfrm>
            <a:off x="5236929" y="3823305"/>
            <a:ext cx="3479243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s-CO" sz="1200" dirty="0">
              <a:latin typeface="Consolas" panose="020B0609020204030204" pitchFamily="49" charset="0"/>
            </a:endParaRPr>
          </a:p>
          <a:p>
            <a:endParaRPr lang="es-CO" sz="1200" dirty="0">
              <a:latin typeface="Consolas" panose="020B0609020204030204" pitchFamily="49" charset="0"/>
            </a:endParaRPr>
          </a:p>
          <a:p>
            <a:endParaRPr lang="es-CO" sz="1200" dirty="0">
              <a:latin typeface="Consolas" panose="020B0609020204030204" pitchFamily="49" charset="0"/>
            </a:endParaRPr>
          </a:p>
          <a:p>
            <a:endParaRPr lang="es-CO" sz="1200" dirty="0">
              <a:latin typeface="Consolas" panose="020B0609020204030204" pitchFamily="49" charset="0"/>
            </a:endParaRPr>
          </a:p>
          <a:p>
            <a:endParaRPr lang="es-CO" sz="1200" dirty="0">
              <a:latin typeface="Consolas" panose="020B0609020204030204" pitchFamily="49" charset="0"/>
            </a:endParaRPr>
          </a:p>
          <a:p>
            <a:endParaRPr lang="es-CO" sz="1200" dirty="0">
              <a:latin typeface="Consolas" panose="020B0609020204030204" pitchFamily="49" charset="0"/>
            </a:endParaRPr>
          </a:p>
          <a:p>
            <a:endParaRPr lang="es-CO" sz="1200" dirty="0">
              <a:latin typeface="Consolas" panose="020B0609020204030204" pitchFamily="49" charset="0"/>
            </a:endParaRPr>
          </a:p>
          <a:p>
            <a:endParaRPr lang="es-CO" sz="1200" dirty="0">
              <a:latin typeface="Consolas" panose="020B0609020204030204" pitchFamily="49" charset="0"/>
            </a:endParaRPr>
          </a:p>
          <a:p>
            <a:endParaRPr lang="es-CO" sz="1200" dirty="0">
              <a:latin typeface="Consolas" panose="020B0609020204030204" pitchFamily="49" charset="0"/>
            </a:endParaRPr>
          </a:p>
          <a:p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CC59049-8605-4155-A6A5-08A4BB16ADC7}"/>
              </a:ext>
            </a:extLst>
          </p:cNvPr>
          <p:cNvSpPr txBox="1"/>
          <p:nvPr/>
        </p:nvSpPr>
        <p:spPr>
          <a:xfrm>
            <a:off x="1888106" y="5762297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2"/>
              </a:rPr>
              <a:t>Link simulación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1499220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14149"/>
          </a:xfrm>
        </p:spPr>
        <p:txBody>
          <a:bodyPr>
            <a:normAutofit/>
          </a:bodyPr>
          <a:lstStyle/>
          <a:p>
            <a:r>
              <a:rPr lang="es-CO" dirty="0"/>
              <a:t>Pruebas con </a:t>
            </a:r>
            <a:r>
              <a:rPr lang="es-CO" sz="4000" dirty="0">
                <a:solidFill>
                  <a:schemeClr val="accent4"/>
                </a:solidFill>
                <a:latin typeface="Consolas" panose="020B0609020204030204" pitchFamily="49" charset="0"/>
              </a:rPr>
              <a:t>assert</a:t>
            </a:r>
            <a:r>
              <a:rPr lang="es-CO" dirty="0"/>
              <a:t>: casos y tips</a:t>
            </a:r>
            <a:endParaRPr lang="es-CO" dirty="0">
              <a:solidFill>
                <a:schemeClr val="accent4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125760" y="894525"/>
            <a:ext cx="889248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/>
              <a:t>Tips importantes</a:t>
            </a:r>
            <a:r>
              <a:rPr lang="es-MX" sz="2000" dirty="0"/>
              <a:t>: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s-MX" sz="2000" b="1" dirty="0"/>
              <a:t>No escriba el assert entre paréntesis con coma</a:t>
            </a:r>
            <a:r>
              <a:rPr lang="es-MX" sz="2000" dirty="0"/>
              <a:t>: </a:t>
            </a:r>
            <a:r>
              <a:rPr lang="es-MX" b="1" dirty="0">
                <a:solidFill>
                  <a:schemeClr val="accent4"/>
                </a:solidFill>
                <a:latin typeface="Consolas" panose="020B0609020204030204" pitchFamily="49" charset="0"/>
              </a:rPr>
              <a:t>assert</a:t>
            </a:r>
            <a:r>
              <a:rPr lang="es-MX" b="1" dirty="0">
                <a:latin typeface="Consolas" panose="020B0609020204030204" pitchFamily="49" charset="0"/>
              </a:rPr>
              <a:t> (</a:t>
            </a:r>
            <a:r>
              <a:rPr lang="es-MX" b="1" dirty="0" err="1">
                <a:latin typeface="Consolas" panose="020B0609020204030204" pitchFamily="49" charset="0"/>
              </a:rPr>
              <a:t>condicion</a:t>
            </a:r>
            <a:r>
              <a:rPr lang="es-MX" b="1" dirty="0">
                <a:latin typeface="Consolas" panose="020B0609020204030204" pitchFamily="49" charset="0"/>
              </a:rPr>
              <a:t>, "mensaje")</a:t>
            </a:r>
            <a:r>
              <a:rPr lang="es-MX" sz="2000" dirty="0"/>
              <a:t> nunca falla, porque Python lo interpreta como una tupla no vacía. Python avisa con un </a:t>
            </a:r>
            <a:r>
              <a:rPr lang="es-MX" b="1" dirty="0" err="1">
                <a:latin typeface="Consolas" panose="020B0609020204030204" pitchFamily="49" charset="0"/>
              </a:rPr>
              <a:t>SyntaxWarning</a:t>
            </a:r>
            <a:r>
              <a:rPr lang="es-MX" sz="2000" dirty="0"/>
              <a:t>.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s-MX" sz="2000" b="1" dirty="0"/>
              <a:t>Solo pruebe con funciones que devuelvan un valor</a:t>
            </a:r>
            <a:r>
              <a:rPr lang="es-MX" sz="2000" dirty="0"/>
              <a:t>: </a:t>
            </a:r>
            <a:r>
              <a:rPr lang="es-MX" b="1" dirty="0" err="1">
                <a:latin typeface="Consolas" panose="020B0609020204030204" pitchFamily="49" charset="0"/>
              </a:rPr>
              <a:t>mostrar_menu</a:t>
            </a:r>
            <a:r>
              <a:rPr lang="es-MX" b="1" dirty="0">
                <a:latin typeface="Consolas" panose="020B0609020204030204" pitchFamily="49" charset="0"/>
              </a:rPr>
              <a:t>()</a:t>
            </a:r>
            <a:r>
              <a:rPr lang="es-MX" sz="2000" dirty="0"/>
              <a:t> y </a:t>
            </a:r>
            <a:r>
              <a:rPr lang="es-MX" b="1" dirty="0" err="1">
                <a:latin typeface="Consolas" panose="020B0609020204030204" pitchFamily="49" charset="0"/>
              </a:rPr>
              <a:t>mostrar_area</a:t>
            </a:r>
            <a:r>
              <a:rPr lang="es-MX" b="1" dirty="0">
                <a:latin typeface="Consolas" panose="020B0609020204030204" pitchFamily="49" charset="0"/>
              </a:rPr>
              <a:t>()</a:t>
            </a:r>
            <a:r>
              <a:rPr lang="es-MX" sz="2000" dirty="0"/>
              <a:t> imprimen, y un assert no comprueba lo que sale en pantalla.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s-MX" b="1" dirty="0">
                <a:solidFill>
                  <a:schemeClr val="accent4"/>
                </a:solidFill>
                <a:latin typeface="Consolas" panose="020B0609020204030204" pitchFamily="49" charset="0"/>
              </a:rPr>
              <a:t>assert</a:t>
            </a:r>
            <a:r>
              <a:rPr lang="es-MX" sz="2000" b="1" dirty="0"/>
              <a:t> es para probar el programa, no para validar lo que escribe el usuario</a:t>
            </a:r>
            <a:r>
              <a:rPr lang="es-MX" sz="2000" dirty="0"/>
              <a:t>: Si se ejecuta Python con la opción </a:t>
            </a:r>
            <a:r>
              <a:rPr lang="es-MX" b="1" dirty="0">
                <a:latin typeface="Consolas" panose="020B0609020204030204" pitchFamily="49" charset="0"/>
              </a:rPr>
              <a:t>–O</a:t>
            </a:r>
            <a:r>
              <a:rPr lang="es-MX" sz="2000" b="1" dirty="0"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(</a:t>
            </a:r>
            <a:r>
              <a:rPr lang="es-MX" b="1" dirty="0">
                <a:latin typeface="Consolas" panose="020B0609020204030204" pitchFamily="49" charset="0"/>
              </a:rPr>
              <a:t>python –O programa.py</a:t>
            </a:r>
            <a:r>
              <a:rPr lang="es-MX" dirty="0">
                <a:latin typeface="Consolas" panose="020B0609020204030204" pitchFamily="49" charset="0"/>
              </a:rPr>
              <a:t>)</a:t>
            </a:r>
            <a:r>
              <a:rPr lang="es-MX" sz="2000" dirty="0"/>
              <a:t>, los </a:t>
            </a:r>
            <a:r>
              <a:rPr lang="es-MX" b="1" dirty="0">
                <a:solidFill>
                  <a:schemeClr val="accent4"/>
                </a:solidFill>
                <a:latin typeface="Consolas" panose="020B0609020204030204" pitchFamily="49" charset="0"/>
              </a:rPr>
              <a:t>assert</a:t>
            </a:r>
            <a:r>
              <a:rPr lang="es-MX" sz="2000" dirty="0"/>
              <a:t> se ignoran. Los datos de entrada se validan con condicionales.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63AF639-18A5-4BB0-8A6E-FD33F4DE8BC0}"/>
              </a:ext>
            </a:extLst>
          </p:cNvPr>
          <p:cNvSpPr txBox="1"/>
          <p:nvPr/>
        </p:nvSpPr>
        <p:spPr>
          <a:xfrm>
            <a:off x="686349" y="3989132"/>
            <a:ext cx="7702075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400" dirty="0">
                <a:latin typeface="Consolas" panose="020B0609020204030204" pitchFamily="49" charset="0"/>
              </a:rPr>
              <a:t># Tip 4: con paréntesis nunca falla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assert (</a:t>
            </a:r>
            <a:r>
              <a:rPr lang="es-CO" sz="1400" dirty="0" err="1">
                <a:latin typeface="Consolas" panose="020B0609020204030204" pitchFamily="49" charset="0"/>
              </a:rPr>
              <a:t>calcular_area_rectangulo</a:t>
            </a:r>
            <a:r>
              <a:rPr lang="es-CO" sz="1400" dirty="0">
                <a:latin typeface="Consolas" panose="020B0609020204030204" pitchFamily="49" charset="0"/>
              </a:rPr>
              <a:t>(4, 3) == 13, "mensaje")   # no falla</a:t>
            </a:r>
          </a:p>
          <a:p>
            <a:endParaRPr lang="es-CO" sz="1400" dirty="0">
              <a:latin typeface="Consolas" panose="020B0609020204030204" pitchFamily="49" charset="0"/>
            </a:endParaRPr>
          </a:p>
          <a:p>
            <a:r>
              <a:rPr lang="es-CO" sz="1400" dirty="0">
                <a:latin typeface="Consolas" panose="020B0609020204030204" pitchFamily="49" charset="0"/>
              </a:rPr>
              <a:t># Sin paréntesis, sí falla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assert </a:t>
            </a:r>
            <a:r>
              <a:rPr lang="es-CO" sz="1400" dirty="0" err="1">
                <a:latin typeface="Consolas" panose="020B0609020204030204" pitchFamily="49" charset="0"/>
              </a:rPr>
              <a:t>calcular_area_rectangulo</a:t>
            </a:r>
            <a:r>
              <a:rPr lang="es-CO" sz="1400" dirty="0">
                <a:latin typeface="Consolas" panose="020B0609020204030204" pitchFamily="49" charset="0"/>
              </a:rPr>
              <a:t>(4, 3) == 13, "mensaje"     # </a:t>
            </a:r>
            <a:r>
              <a:rPr lang="es-CO" sz="1400" dirty="0" err="1">
                <a:latin typeface="Consolas" panose="020B0609020204030204" pitchFamily="49" charset="0"/>
              </a:rPr>
              <a:t>AssertionError</a:t>
            </a:r>
            <a:endParaRPr lang="es-CO" sz="1400" dirty="0">
              <a:latin typeface="Consolas" panose="020B0609020204030204" pitchFamily="49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4F6E66A-F36E-4988-AAEA-4A82056DB1C9}"/>
              </a:ext>
            </a:extLst>
          </p:cNvPr>
          <p:cNvSpPr txBox="1"/>
          <p:nvPr/>
        </p:nvSpPr>
        <p:spPr>
          <a:xfrm>
            <a:off x="647700" y="5499228"/>
            <a:ext cx="3656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 dirty="0"/>
              <a:t>Salida en pantalla</a:t>
            </a:r>
            <a:endParaRPr lang="es-CO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6541084-821D-4F08-9728-574213FCAA16}"/>
              </a:ext>
            </a:extLst>
          </p:cNvPr>
          <p:cNvSpPr txBox="1"/>
          <p:nvPr/>
        </p:nvSpPr>
        <p:spPr>
          <a:xfrm>
            <a:off x="706564" y="5807005"/>
            <a:ext cx="768186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SyntaxWarning</a:t>
            </a:r>
            <a:r>
              <a:rPr lang="en-US" sz="1200" dirty="0">
                <a:latin typeface="Consolas" panose="020B0609020204030204" pitchFamily="49" charset="0"/>
              </a:rPr>
              <a:t>: assertion is always true, perhaps remove parentheses?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...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AssertionError</a:t>
            </a:r>
            <a:r>
              <a:rPr lang="en-US" sz="1200" dirty="0">
                <a:latin typeface="Consolas" panose="020B0609020204030204" pitchFamily="49" charset="0"/>
              </a:rPr>
              <a:t>: </a:t>
            </a:r>
            <a:r>
              <a:rPr lang="en-US" sz="1200" dirty="0" err="1">
                <a:latin typeface="Consolas" panose="020B0609020204030204" pitchFamily="49" charset="0"/>
              </a:rPr>
              <a:t>mensaje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631AA7B-7342-4EE0-A01A-A6B71349E05B}"/>
              </a:ext>
            </a:extLst>
          </p:cNvPr>
          <p:cNvSpPr txBox="1"/>
          <p:nvPr/>
        </p:nvSpPr>
        <p:spPr>
          <a:xfrm>
            <a:off x="3833696" y="5190883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2"/>
              </a:rPr>
              <a:t>Link simulación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1874065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14149"/>
          </a:xfrm>
        </p:spPr>
        <p:txBody>
          <a:bodyPr>
            <a:normAutofit/>
          </a:bodyPr>
          <a:lstStyle/>
          <a:p>
            <a:r>
              <a:rPr lang="es-CO" dirty="0"/>
              <a:t>¿Está bien esta función?</a:t>
            </a:r>
            <a:endParaRPr lang="es-CO" dirty="0">
              <a:solidFill>
                <a:schemeClr val="accent4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125760" y="894525"/>
            <a:ext cx="855069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dirty="0"/>
              <a:t>Supóngase que al codificarse la función </a:t>
            </a:r>
            <a:r>
              <a:rPr lang="es-MX" b="1" dirty="0">
                <a:latin typeface="Consolas" panose="020B0609020204030204" pitchFamily="49" charset="0"/>
              </a:rPr>
              <a:t>calcular_area_rectangulo</a:t>
            </a:r>
            <a:r>
              <a:rPr lang="es-MX" sz="2000" dirty="0"/>
              <a:t> quedo escrita de la siguiente manera:</a:t>
            </a:r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r>
              <a:rPr lang="es-MX" sz="2000" b="1" dirty="0"/>
              <a:t>Preguntas</a:t>
            </a:r>
            <a:r>
              <a:rPr lang="es-MX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¿Sale algo?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¿Con esto es suficiente para estar tranquilo?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63AF639-18A5-4BB0-8A6E-FD33F4DE8BC0}"/>
              </a:ext>
            </a:extLst>
          </p:cNvPr>
          <p:cNvSpPr txBox="1"/>
          <p:nvPr/>
        </p:nvSpPr>
        <p:spPr>
          <a:xfrm>
            <a:off x="550068" y="1793187"/>
            <a:ext cx="7702075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400" dirty="0" err="1">
                <a:latin typeface="Consolas" panose="020B0609020204030204" pitchFamily="49" charset="0"/>
              </a:rPr>
              <a:t>def</a:t>
            </a:r>
            <a:r>
              <a:rPr lang="es-CO" sz="1400" dirty="0">
                <a:latin typeface="Consolas" panose="020B0609020204030204" pitchFamily="49" charset="0"/>
              </a:rPr>
              <a:t> </a:t>
            </a:r>
            <a:r>
              <a:rPr lang="es-CO" sz="1400" dirty="0" err="1">
                <a:latin typeface="Consolas" panose="020B0609020204030204" pitchFamily="49" charset="0"/>
              </a:rPr>
              <a:t>calcular_area_rectangulo</a:t>
            </a:r>
            <a:r>
              <a:rPr lang="es-CO" sz="1400" dirty="0">
                <a:latin typeface="Consolas" panose="020B0609020204030204" pitchFamily="49" charset="0"/>
              </a:rPr>
              <a:t>(base, altura):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area = base + altura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return area</a:t>
            </a:r>
          </a:p>
          <a:p>
            <a:endParaRPr lang="es-CO" sz="1400" dirty="0">
              <a:latin typeface="Consolas" panose="020B0609020204030204" pitchFamily="49" charset="0"/>
            </a:endParaRPr>
          </a:p>
          <a:p>
            <a:endParaRPr lang="es-CO" sz="1400" dirty="0">
              <a:latin typeface="Consolas" panose="020B0609020204030204" pitchFamily="49" charset="0"/>
            </a:endParaRPr>
          </a:p>
          <a:p>
            <a:r>
              <a:rPr lang="es-CO" sz="1400" dirty="0">
                <a:latin typeface="Consolas" panose="020B0609020204030204" pitchFamily="49" charset="0"/>
              </a:rPr>
              <a:t>assert </a:t>
            </a:r>
            <a:r>
              <a:rPr lang="es-CO" sz="1400" dirty="0" err="1">
                <a:latin typeface="Consolas" panose="020B0609020204030204" pitchFamily="49" charset="0"/>
              </a:rPr>
              <a:t>calcular_area_rectangulo</a:t>
            </a:r>
            <a:r>
              <a:rPr lang="es-CO" sz="1400" dirty="0">
                <a:latin typeface="Consolas" panose="020B0609020204030204" pitchFamily="49" charset="0"/>
              </a:rPr>
              <a:t>(2, 2) == 4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631AA7B-7342-4EE0-A01A-A6B71349E05B}"/>
              </a:ext>
            </a:extLst>
          </p:cNvPr>
          <p:cNvSpPr txBox="1"/>
          <p:nvPr/>
        </p:nvSpPr>
        <p:spPr>
          <a:xfrm>
            <a:off x="3568863" y="3262946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2"/>
              </a:rPr>
              <a:t>Link simulación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5289535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14149"/>
          </a:xfrm>
        </p:spPr>
        <p:txBody>
          <a:bodyPr>
            <a:normAutofit/>
          </a:bodyPr>
          <a:lstStyle/>
          <a:p>
            <a:r>
              <a:rPr lang="es-CO" dirty="0"/>
              <a:t>¿Está bien esta función?</a:t>
            </a:r>
            <a:endParaRPr lang="es-CO" dirty="0">
              <a:solidFill>
                <a:schemeClr val="accent4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125760" y="894525"/>
            <a:ext cx="876672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dirty="0"/>
              <a:t>Supóngase que al codificarse la función </a:t>
            </a:r>
            <a:r>
              <a:rPr lang="es-MX" b="1" dirty="0">
                <a:latin typeface="Consolas" panose="020B0609020204030204" pitchFamily="49" charset="0"/>
              </a:rPr>
              <a:t>calcular_area_rectangulo</a:t>
            </a:r>
            <a:r>
              <a:rPr lang="es-MX" sz="2000" dirty="0"/>
              <a:t> quedo escrita de la siguiente manera:</a:t>
            </a:r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b="1" dirty="0"/>
          </a:p>
          <a:p>
            <a:endParaRPr lang="es-MX" sz="2000" b="1" dirty="0"/>
          </a:p>
          <a:p>
            <a:endParaRPr lang="es-MX" sz="2000" b="1" dirty="0"/>
          </a:p>
          <a:p>
            <a:r>
              <a:rPr lang="es-MX" sz="2000" b="1" dirty="0"/>
              <a:t>Preguntas</a:t>
            </a:r>
            <a:r>
              <a:rPr lang="es-MX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¿Sale algo?, ¿A qué se debe?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¿Si hay errores, como se corregirían?</a:t>
            </a:r>
          </a:p>
          <a:p>
            <a:endParaRPr lang="es-MX" sz="2000" dirty="0"/>
          </a:p>
          <a:p>
            <a:r>
              <a:rPr lang="es-MX" sz="2000" b="1" dirty="0"/>
              <a:t>Moraleja:</a:t>
            </a:r>
            <a:r>
              <a:rPr lang="es-MX" sz="2000" dirty="0"/>
              <a:t> un solo caso puede dar falsa confianza. Varios casos, de distintos tipos, permiten descubrir el error.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63AF639-18A5-4BB0-8A6E-FD33F4DE8BC0}"/>
              </a:ext>
            </a:extLst>
          </p:cNvPr>
          <p:cNvSpPr txBox="1"/>
          <p:nvPr/>
        </p:nvSpPr>
        <p:spPr>
          <a:xfrm>
            <a:off x="550068" y="1628800"/>
            <a:ext cx="7702075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400" dirty="0" err="1">
                <a:latin typeface="Consolas" panose="020B0609020204030204" pitchFamily="49" charset="0"/>
              </a:rPr>
              <a:t>def</a:t>
            </a:r>
            <a:r>
              <a:rPr lang="es-CO" sz="1400" dirty="0">
                <a:latin typeface="Consolas" panose="020B0609020204030204" pitchFamily="49" charset="0"/>
              </a:rPr>
              <a:t> </a:t>
            </a:r>
            <a:r>
              <a:rPr lang="es-CO" sz="1400" dirty="0" err="1">
                <a:latin typeface="Consolas" panose="020B0609020204030204" pitchFamily="49" charset="0"/>
              </a:rPr>
              <a:t>calcular_area_rectangulo</a:t>
            </a:r>
            <a:r>
              <a:rPr lang="es-CO" sz="1400" dirty="0">
                <a:latin typeface="Consolas" panose="020B0609020204030204" pitchFamily="49" charset="0"/>
              </a:rPr>
              <a:t>(base, altura):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area = base + altura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return area</a:t>
            </a:r>
          </a:p>
          <a:p>
            <a:endParaRPr lang="es-CO" sz="1400" dirty="0">
              <a:latin typeface="Consolas" panose="020B0609020204030204" pitchFamily="49" charset="0"/>
            </a:endParaRPr>
          </a:p>
          <a:p>
            <a:endParaRPr lang="es-CO" sz="1400" dirty="0">
              <a:latin typeface="Consolas" panose="020B0609020204030204" pitchFamily="49" charset="0"/>
            </a:endParaRPr>
          </a:p>
          <a:p>
            <a:r>
              <a:rPr lang="es-CO" sz="1400" dirty="0">
                <a:latin typeface="Consolas" panose="020B0609020204030204" pitchFamily="49" charset="0"/>
              </a:rPr>
              <a:t>assert </a:t>
            </a:r>
            <a:r>
              <a:rPr lang="es-CO" sz="1400" dirty="0" err="1">
                <a:latin typeface="Consolas" panose="020B0609020204030204" pitchFamily="49" charset="0"/>
              </a:rPr>
              <a:t>calcular_area_rectangulo</a:t>
            </a:r>
            <a:r>
              <a:rPr lang="es-CO" sz="1400" dirty="0">
                <a:latin typeface="Consolas" panose="020B0609020204030204" pitchFamily="49" charset="0"/>
              </a:rPr>
              <a:t>(2, 2) == 4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assert </a:t>
            </a:r>
            <a:r>
              <a:rPr lang="es-CO" sz="1400" dirty="0" err="1">
                <a:latin typeface="Consolas" panose="020B0609020204030204" pitchFamily="49" charset="0"/>
              </a:rPr>
              <a:t>calcular_area_rectangulo</a:t>
            </a:r>
            <a:r>
              <a:rPr lang="es-CO" sz="1400" dirty="0">
                <a:latin typeface="Consolas" panose="020B0609020204030204" pitchFamily="49" charset="0"/>
              </a:rPr>
              <a:t>(4, 3) == 12, "El área de 4 x 3 debe ser 12"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631AA7B-7342-4EE0-A01A-A6B71349E05B}"/>
              </a:ext>
            </a:extLst>
          </p:cNvPr>
          <p:cNvSpPr txBox="1"/>
          <p:nvPr/>
        </p:nvSpPr>
        <p:spPr>
          <a:xfrm>
            <a:off x="3568862" y="3212976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2"/>
              </a:rPr>
              <a:t>Link simulación</a:t>
            </a:r>
            <a:endParaRPr lang="es-CO" sz="12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284929C-E811-491B-960D-4F8CEB02F47D}"/>
              </a:ext>
            </a:extLst>
          </p:cNvPr>
          <p:cNvSpPr txBox="1"/>
          <p:nvPr/>
        </p:nvSpPr>
        <p:spPr>
          <a:xfrm>
            <a:off x="503684" y="3501008"/>
            <a:ext cx="3656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 dirty="0"/>
              <a:t>Salida en pantalla</a:t>
            </a:r>
            <a:endParaRPr lang="es-CO" sz="1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036264F-A5FB-4949-AED5-45E3C0062BE9}"/>
              </a:ext>
            </a:extLst>
          </p:cNvPr>
          <p:cNvSpPr txBox="1"/>
          <p:nvPr/>
        </p:nvSpPr>
        <p:spPr>
          <a:xfrm>
            <a:off x="562548" y="3789040"/>
            <a:ext cx="768186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Traceback (most recent call last):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...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AssertionError</a:t>
            </a:r>
            <a:r>
              <a:rPr lang="en-US" sz="1400" dirty="0">
                <a:latin typeface="Consolas" panose="020B0609020204030204" pitchFamily="49" charset="0"/>
              </a:rPr>
              <a:t>: El </a:t>
            </a:r>
            <a:r>
              <a:rPr lang="en-US" sz="1400" dirty="0" err="1">
                <a:latin typeface="Consolas" panose="020B0609020204030204" pitchFamily="49" charset="0"/>
              </a:rPr>
              <a:t>área</a:t>
            </a:r>
            <a:r>
              <a:rPr lang="en-US" sz="1400" dirty="0">
                <a:latin typeface="Consolas" panose="020B0609020204030204" pitchFamily="49" charset="0"/>
              </a:rPr>
              <a:t> de 4 x 3 debe ser 12</a:t>
            </a:r>
            <a:endParaRPr lang="es-CO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0276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25760" y="116632"/>
            <a:ext cx="9018240" cy="814149"/>
          </a:xfrm>
        </p:spPr>
        <p:txBody>
          <a:bodyPr>
            <a:noAutofit/>
          </a:bodyPr>
          <a:lstStyle/>
          <a:p>
            <a:r>
              <a:rPr lang="es-MX" sz="3600" dirty="0"/>
              <a:t>Tipos de funciones: Resumen</a:t>
            </a:r>
            <a:endParaRPr lang="es-CO" sz="3600" dirty="0">
              <a:solidFill>
                <a:schemeClr val="accent4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125760" y="836712"/>
            <a:ext cx="8766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/>
              <a:t>Tipos de funciones según parámetros y retorno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84AC3FF-9908-427A-ACA9-5D1FEBA75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31297"/>
              </p:ext>
            </p:extLst>
          </p:nvPr>
        </p:nvGraphicFramePr>
        <p:xfrm>
          <a:off x="83355" y="1294171"/>
          <a:ext cx="8910736" cy="4876800"/>
        </p:xfrm>
        <a:graphic>
          <a:graphicData uri="http://schemas.openxmlformats.org/drawingml/2006/table">
            <a:tbl>
              <a:tblPr/>
              <a:tblGrid>
                <a:gridCol w="1709936">
                  <a:extLst>
                    <a:ext uri="{9D8B030D-6E8A-4147-A177-3AD203B41FA5}">
                      <a16:colId xmlns:a16="http://schemas.microsoft.com/office/drawing/2014/main" val="1354017783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4076079680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7808409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O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No devuelve un valor</a:t>
                      </a:r>
                      <a:endParaRPr lang="es-CO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Devuelve un valor (return)</a:t>
                      </a:r>
                      <a:endParaRPr lang="es-CO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230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Sin parámetros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latin typeface="Consolas" panose="020B0609020204030204" pitchFamily="49" charset="0"/>
                        </a:rPr>
                        <a:t>mostrar_menu()</a:t>
                      </a:r>
                      <a:br>
                        <a:rPr lang="es-CO" sz="1600" b="1" dirty="0">
                          <a:latin typeface="Consolas" panose="020B0609020204030204" pitchFamily="49" charset="0"/>
                        </a:rPr>
                      </a:br>
                      <a:endParaRPr lang="es-CO" sz="1600" b="1" dirty="0">
                        <a:latin typeface="Consolas" panose="020B0609020204030204" pitchFamily="49" charset="0"/>
                      </a:endParaRPr>
                    </a:p>
                    <a:p>
                      <a:pPr algn="ctr"/>
                      <a:r>
                        <a:rPr lang="es-CO" b="1" i="1" dirty="0"/>
                        <a:t>Caso 1</a:t>
                      </a:r>
                    </a:p>
                    <a:p>
                      <a:endParaRPr lang="es-CO" i="1" dirty="0"/>
                    </a:p>
                    <a:p>
                      <a:endParaRPr lang="es-CO" i="1" dirty="0"/>
                    </a:p>
                    <a:p>
                      <a:endParaRPr lang="es-CO" i="1" dirty="0"/>
                    </a:p>
                    <a:p>
                      <a:endParaRPr lang="es-CO" i="1" dirty="0"/>
                    </a:p>
                    <a:p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leer_opcion()</a:t>
                      </a:r>
                      <a:br>
                        <a:rPr lang="es-CO" b="1" dirty="0"/>
                      </a:br>
                      <a:endParaRPr lang="es-CO" b="1" dirty="0"/>
                    </a:p>
                    <a:p>
                      <a:pPr algn="ctr"/>
                      <a:r>
                        <a:rPr lang="es-CO" b="1" i="1" dirty="0"/>
                        <a:t>Caso 2</a:t>
                      </a:r>
                    </a:p>
                    <a:p>
                      <a:endParaRPr lang="es-CO" i="1" dirty="0"/>
                    </a:p>
                    <a:p>
                      <a:endParaRPr lang="es-CO" i="1" dirty="0"/>
                    </a:p>
                    <a:p>
                      <a:endParaRPr lang="es-CO" i="1" dirty="0"/>
                    </a:p>
                    <a:p>
                      <a:endParaRPr lang="es-CO" i="1" dirty="0"/>
                    </a:p>
                    <a:p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20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Con parámetros</a:t>
                      </a:r>
                      <a:endParaRPr lang="es-CO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mostrar_area(figura, area)</a:t>
                      </a:r>
                      <a:br>
                        <a:rPr lang="it-IT" b="1" dirty="0"/>
                      </a:br>
                      <a:endParaRPr lang="it-IT" b="1" dirty="0"/>
                    </a:p>
                    <a:p>
                      <a:pPr algn="ctr"/>
                      <a:r>
                        <a:rPr lang="it-IT" b="1" i="1" dirty="0"/>
                        <a:t>Caso 4</a:t>
                      </a:r>
                      <a:endParaRPr lang="it-IT" i="1" dirty="0"/>
                    </a:p>
                    <a:p>
                      <a:endParaRPr lang="it-IT" i="1" dirty="0"/>
                    </a:p>
                    <a:p>
                      <a:endParaRPr lang="it-IT" i="1" dirty="0"/>
                    </a:p>
                    <a:p>
                      <a:endParaRPr lang="it-IT" i="1" dirty="0"/>
                    </a:p>
                    <a:p>
                      <a:endParaRPr lang="it-IT" i="1" dirty="0"/>
                    </a:p>
                    <a:p>
                      <a:endParaRPr lang="it-IT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calcular_area_circulo(radio)</a:t>
                      </a:r>
                      <a:br>
                        <a:rPr lang="pt-BR" b="1" dirty="0"/>
                      </a:br>
                      <a:endParaRPr lang="pt-BR" b="1" dirty="0"/>
                    </a:p>
                    <a:p>
                      <a:pPr algn="ctr"/>
                      <a:r>
                        <a:rPr lang="pt-BR" b="1" i="1" dirty="0"/>
                        <a:t>Caso 3</a:t>
                      </a:r>
                      <a:endParaRPr lang="pt-BR" i="1" dirty="0"/>
                    </a:p>
                    <a:p>
                      <a:endParaRPr lang="pt-BR" i="1" dirty="0"/>
                    </a:p>
                    <a:p>
                      <a:endParaRPr lang="pt-BR" i="1" dirty="0"/>
                    </a:p>
                    <a:p>
                      <a:endParaRPr lang="pt-BR" i="1" dirty="0"/>
                    </a:p>
                    <a:p>
                      <a:endParaRPr lang="pt-BR" i="1" dirty="0"/>
                    </a:p>
                    <a:p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4272447"/>
                  </a:ext>
                </a:extLst>
              </a:tr>
            </a:tbl>
          </a:graphicData>
        </a:graphic>
      </p:graphicFrame>
      <p:grpSp>
        <p:nvGrpSpPr>
          <p:cNvPr id="9" name="Grupo 8">
            <a:extLst>
              <a:ext uri="{FF2B5EF4-FFF2-40B4-BE49-F238E27FC236}">
                <a16:creationId xmlns:a16="http://schemas.microsoft.com/office/drawing/2014/main" id="{3272EB18-BD7B-42A8-A6AA-3A3064463504}"/>
              </a:ext>
            </a:extLst>
          </p:cNvPr>
          <p:cNvGrpSpPr/>
          <p:nvPr/>
        </p:nvGrpSpPr>
        <p:grpSpPr>
          <a:xfrm>
            <a:off x="2627784" y="2492896"/>
            <a:ext cx="1872208" cy="1202649"/>
            <a:chOff x="1907704" y="4386590"/>
            <a:chExt cx="1872208" cy="1202649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1DD93BD-A1F4-4E64-8B93-ECA99FFD487C}"/>
                </a:ext>
              </a:extLst>
            </p:cNvPr>
            <p:cNvSpPr/>
            <p:nvPr/>
          </p:nvSpPr>
          <p:spPr>
            <a:xfrm>
              <a:off x="1907704" y="4725143"/>
              <a:ext cx="1872208" cy="8640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latin typeface="Consolas" panose="020B0609020204030204" pitchFamily="49" charset="0"/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45077312-6352-4B76-B5FC-F3F709D9D311}"/>
                </a:ext>
              </a:extLst>
            </p:cNvPr>
            <p:cNvSpPr txBox="1"/>
            <p:nvPr/>
          </p:nvSpPr>
          <p:spPr>
            <a:xfrm>
              <a:off x="1979712" y="4386590"/>
              <a:ext cx="1800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b="1" dirty="0">
                  <a:latin typeface="Consolas" panose="020B0609020204030204" pitchFamily="49" charset="0"/>
                </a:rPr>
                <a:t>mostrar_menu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32BA5310-73D6-4CF9-BFE7-00A85ABC6F54}"/>
              </a:ext>
            </a:extLst>
          </p:cNvPr>
          <p:cNvGrpSpPr/>
          <p:nvPr/>
        </p:nvGrpSpPr>
        <p:grpSpPr>
          <a:xfrm>
            <a:off x="6228185" y="2492896"/>
            <a:ext cx="2376263" cy="1202649"/>
            <a:chOff x="5652120" y="4386591"/>
            <a:chExt cx="2376263" cy="1202649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91D6D242-FF03-4F70-9BFE-8E5B63B14C8C}"/>
                </a:ext>
              </a:extLst>
            </p:cNvPr>
            <p:cNvGrpSpPr/>
            <p:nvPr/>
          </p:nvGrpSpPr>
          <p:grpSpPr>
            <a:xfrm>
              <a:off x="5652120" y="4386591"/>
              <a:ext cx="1872208" cy="1202649"/>
              <a:chOff x="1907704" y="4386590"/>
              <a:chExt cx="1872208" cy="1202649"/>
            </a:xfrm>
          </p:grpSpPr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E6F12D95-BBB8-4145-824C-3394828778C0}"/>
                  </a:ext>
                </a:extLst>
              </p:cNvPr>
              <p:cNvSpPr/>
              <p:nvPr/>
            </p:nvSpPr>
            <p:spPr>
              <a:xfrm>
                <a:off x="1907704" y="4725143"/>
                <a:ext cx="1872208" cy="8640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2EA4AF8E-A6D9-4430-BE23-344A59708357}"/>
                  </a:ext>
                </a:extLst>
              </p:cNvPr>
              <p:cNvSpPr txBox="1"/>
              <p:nvPr/>
            </p:nvSpPr>
            <p:spPr>
              <a:xfrm>
                <a:off x="1979712" y="4386590"/>
                <a:ext cx="1800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600" b="1" dirty="0">
                    <a:latin typeface="Consolas" panose="020B0609020204030204" pitchFamily="49" charset="0"/>
                  </a:rPr>
                  <a:t>leer_opcion</a:t>
                </a:r>
              </a:p>
            </p:txBody>
          </p:sp>
        </p:grp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4FBC3E58-3C75-49A7-AC13-0B53D2D6CA1A}"/>
                </a:ext>
              </a:extLst>
            </p:cNvPr>
            <p:cNvCxnSpPr>
              <a:cxnSpLocks/>
            </p:cNvCxnSpPr>
            <p:nvPr/>
          </p:nvCxnSpPr>
          <p:spPr>
            <a:xfrm>
              <a:off x="7524328" y="5157192"/>
              <a:ext cx="50405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A4B62886-192C-46D2-8F2E-1694C9DF106D}"/>
                </a:ext>
              </a:extLst>
            </p:cNvPr>
            <p:cNvSpPr txBox="1"/>
            <p:nvPr/>
          </p:nvSpPr>
          <p:spPr>
            <a:xfrm>
              <a:off x="6732240" y="4978329"/>
              <a:ext cx="7974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opcion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CC5FEC18-A084-465C-BD50-3F3CFF586386}"/>
              </a:ext>
            </a:extLst>
          </p:cNvPr>
          <p:cNvGrpSpPr/>
          <p:nvPr/>
        </p:nvGrpSpPr>
        <p:grpSpPr>
          <a:xfrm>
            <a:off x="5724129" y="4725144"/>
            <a:ext cx="2880319" cy="1208172"/>
            <a:chOff x="5580112" y="2209800"/>
            <a:chExt cx="2880319" cy="1208172"/>
          </a:xfrm>
        </p:grpSpPr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1BE68903-896C-4089-A357-4F7C7687B139}"/>
                </a:ext>
              </a:extLst>
            </p:cNvPr>
            <p:cNvGrpSpPr/>
            <p:nvPr/>
          </p:nvGrpSpPr>
          <p:grpSpPr>
            <a:xfrm>
              <a:off x="5652120" y="2209800"/>
              <a:ext cx="2664295" cy="1208172"/>
              <a:chOff x="1475656" y="4381067"/>
              <a:chExt cx="2664295" cy="1208172"/>
            </a:xfrm>
          </p:grpSpPr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B0787B46-EBA3-47BD-84D3-DDC93B4F0178}"/>
                  </a:ext>
                </a:extLst>
              </p:cNvPr>
              <p:cNvSpPr/>
              <p:nvPr/>
            </p:nvSpPr>
            <p:spPr>
              <a:xfrm>
                <a:off x="1907704" y="4725143"/>
                <a:ext cx="1872208" cy="8640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2972E77F-4C90-4BD1-9F61-A8E4EB73FDD7}"/>
                  </a:ext>
                </a:extLst>
              </p:cNvPr>
              <p:cNvSpPr txBox="1"/>
              <p:nvPr/>
            </p:nvSpPr>
            <p:spPr>
              <a:xfrm>
                <a:off x="1475656" y="4381067"/>
                <a:ext cx="266429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600" b="1" dirty="0">
                    <a:latin typeface="Consolas" panose="020B0609020204030204" pitchFamily="49" charset="0"/>
                  </a:rPr>
                  <a:t>calcular_area_circulo</a:t>
                </a:r>
              </a:p>
            </p:txBody>
          </p:sp>
        </p:grp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37621276-3533-4BC2-BD3D-523B471813BF}"/>
                </a:ext>
              </a:extLst>
            </p:cNvPr>
            <p:cNvSpPr txBox="1"/>
            <p:nvPr/>
          </p:nvSpPr>
          <p:spPr>
            <a:xfrm>
              <a:off x="6084168" y="2833191"/>
              <a:ext cx="9361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radio</a:t>
              </a:r>
            </a:p>
          </p:txBody>
        </p:sp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DA15AC9F-A3BB-4378-AF3C-D12805E39B93}"/>
                </a:ext>
              </a:extLst>
            </p:cNvPr>
            <p:cNvCxnSpPr>
              <a:cxnSpLocks/>
            </p:cNvCxnSpPr>
            <p:nvPr/>
          </p:nvCxnSpPr>
          <p:spPr>
            <a:xfrm>
              <a:off x="5580112" y="2996952"/>
              <a:ext cx="50405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298A20C8-4861-4740-830D-02F600F582B1}"/>
                </a:ext>
              </a:extLst>
            </p:cNvPr>
            <p:cNvCxnSpPr>
              <a:cxnSpLocks/>
            </p:cNvCxnSpPr>
            <p:nvPr/>
          </p:nvCxnSpPr>
          <p:spPr>
            <a:xfrm>
              <a:off x="7956376" y="2996952"/>
              <a:ext cx="50405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A677618A-4595-45C5-AC99-B773F2C899A3}"/>
                </a:ext>
              </a:extLst>
            </p:cNvPr>
            <p:cNvSpPr txBox="1"/>
            <p:nvPr/>
          </p:nvSpPr>
          <p:spPr>
            <a:xfrm>
              <a:off x="7354783" y="2817573"/>
              <a:ext cx="6015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area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8B13E1E9-40D6-40D2-AE54-78BF6ACEDBCF}"/>
              </a:ext>
            </a:extLst>
          </p:cNvPr>
          <p:cNvGrpSpPr/>
          <p:nvPr/>
        </p:nvGrpSpPr>
        <p:grpSpPr>
          <a:xfrm>
            <a:off x="2217191" y="4725144"/>
            <a:ext cx="2376265" cy="1202649"/>
            <a:chOff x="5292080" y="4660102"/>
            <a:chExt cx="2376265" cy="1202649"/>
          </a:xfrm>
        </p:grpSpPr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C2F40CC0-6348-4928-9665-86C223BA57A2}"/>
                </a:ext>
              </a:extLst>
            </p:cNvPr>
            <p:cNvGrpSpPr/>
            <p:nvPr/>
          </p:nvGrpSpPr>
          <p:grpSpPr>
            <a:xfrm>
              <a:off x="5796137" y="4660102"/>
              <a:ext cx="1872208" cy="1202649"/>
              <a:chOff x="1907704" y="4386590"/>
              <a:chExt cx="1872208" cy="1202649"/>
            </a:xfrm>
          </p:grpSpPr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5B7A3485-130A-4F41-9743-1833EC59DF4D}"/>
                  </a:ext>
                </a:extLst>
              </p:cNvPr>
              <p:cNvSpPr/>
              <p:nvPr/>
            </p:nvSpPr>
            <p:spPr>
              <a:xfrm>
                <a:off x="1907704" y="4725143"/>
                <a:ext cx="1872208" cy="8640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61B6F661-0338-4079-9832-54F28BE43E80}"/>
                  </a:ext>
                </a:extLst>
              </p:cNvPr>
              <p:cNvSpPr txBox="1"/>
              <p:nvPr/>
            </p:nvSpPr>
            <p:spPr>
              <a:xfrm>
                <a:off x="1979712" y="4386590"/>
                <a:ext cx="1800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600" b="1" dirty="0">
                    <a:latin typeface="Consolas" panose="020B0609020204030204" pitchFamily="49" charset="0"/>
                  </a:rPr>
                  <a:t>mostrar_area</a:t>
                </a:r>
              </a:p>
            </p:txBody>
          </p:sp>
        </p:grp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25C6B97D-ACD0-4E9B-AE6F-A50267E8F6F8}"/>
                </a:ext>
              </a:extLst>
            </p:cNvPr>
            <p:cNvSpPr txBox="1"/>
            <p:nvPr/>
          </p:nvSpPr>
          <p:spPr>
            <a:xfrm>
              <a:off x="5796138" y="5113054"/>
              <a:ext cx="9361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figura</a:t>
              </a:r>
            </a:p>
          </p:txBody>
        </p: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DE8C2492-1922-44B3-B69B-E54C89870F61}"/>
                </a:ext>
              </a:extLst>
            </p:cNvPr>
            <p:cNvCxnSpPr>
              <a:cxnSpLocks/>
            </p:cNvCxnSpPr>
            <p:nvPr/>
          </p:nvCxnSpPr>
          <p:spPr>
            <a:xfrm>
              <a:off x="5292082" y="5276815"/>
              <a:ext cx="50405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9E62B5BD-07C9-4731-AF52-1181C8EA1D3A}"/>
                </a:ext>
              </a:extLst>
            </p:cNvPr>
            <p:cNvSpPr txBox="1"/>
            <p:nvPr/>
          </p:nvSpPr>
          <p:spPr>
            <a:xfrm>
              <a:off x="5796136" y="5425479"/>
              <a:ext cx="9361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area</a:t>
              </a:r>
            </a:p>
          </p:txBody>
        </p: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16D9C881-2CB5-4CD9-8E71-3D0986F87D8A}"/>
                </a:ext>
              </a:extLst>
            </p:cNvPr>
            <p:cNvCxnSpPr>
              <a:cxnSpLocks/>
            </p:cNvCxnSpPr>
            <p:nvPr/>
          </p:nvCxnSpPr>
          <p:spPr>
            <a:xfrm>
              <a:off x="5292080" y="5589240"/>
              <a:ext cx="50405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981261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rmAutofit/>
          </a:bodyPr>
          <a:lstStyle/>
          <a:p>
            <a:r>
              <a:rPr lang="es-CO" dirty="0"/>
              <a:t>Función llamadora y función llamada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51520" y="836712"/>
            <a:ext cx="874466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Llamar (invocar) una función: </a:t>
            </a:r>
            <a:r>
              <a:rPr lang="es-MX" sz="2000" dirty="0"/>
              <a:t>ejecutarla escribiendo su nombre con los datos que recibe, por ejemplo: </a:t>
            </a:r>
            <a:r>
              <a:rPr lang="es-MX" dirty="0">
                <a:latin typeface="Consolas" panose="020B0609020204030204" pitchFamily="49" charset="0"/>
              </a:rPr>
              <a:t>temp_f = celsius_to_fahrenheit(</a:t>
            </a:r>
            <a:r>
              <a:rPr lang="es-MX" dirty="0" err="1">
                <a:latin typeface="Consolas" panose="020B0609020204030204" pitchFamily="49" charset="0"/>
              </a:rPr>
              <a:t>temp_c</a:t>
            </a:r>
            <a:r>
              <a:rPr lang="es-MX" dirty="0">
                <a:latin typeface="Consolas" panose="020B0609020204030204" pitchFamily="49" charset="0"/>
              </a:rPr>
              <a:t>)</a:t>
            </a:r>
            <a:r>
              <a:rPr lang="es-MX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Función llamadora</a:t>
            </a:r>
            <a:r>
              <a:rPr lang="es-MX" sz="2000" dirty="0"/>
              <a:t>: la que usa (llama a) otra función.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/>
              <a:t>Función llamada</a:t>
            </a:r>
            <a:r>
              <a:rPr lang="es-MX" sz="2000" dirty="0"/>
              <a:t>: la que es usada por otra.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Flujo de ejecución de un programa con funciones: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dirty="0"/>
              <a:t>Al llamar a una función, el control pasa a esta (función llamada)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dirty="0"/>
              <a:t>Al terminar (</a:t>
            </a:r>
            <a:r>
              <a:rPr lang="es-MX" b="1" dirty="0">
                <a:latin typeface="Consolas" panose="020B0609020204030204" pitchFamily="49" charset="0"/>
              </a:rPr>
              <a:t>return</a:t>
            </a:r>
            <a:r>
              <a:rPr lang="es-MX" sz="2000" dirty="0"/>
              <a:t>), el control vuelve a quien la llamó (función llamadora).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A4A2B12D-A6E3-4D1D-8E12-F24D06AE4A42}"/>
              </a:ext>
            </a:extLst>
          </p:cNvPr>
          <p:cNvGrpSpPr/>
          <p:nvPr/>
        </p:nvGrpSpPr>
        <p:grpSpPr>
          <a:xfrm>
            <a:off x="3983103" y="3374112"/>
            <a:ext cx="4989893" cy="3300784"/>
            <a:chOff x="2326919" y="3044240"/>
            <a:chExt cx="4989893" cy="3300784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84ACCE3F-2C96-4945-B249-C148F49DD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26919" y="3176672"/>
              <a:ext cx="1731897" cy="3168352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49425F4D-D3B4-491C-AC5E-535903364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35512" y="3101008"/>
              <a:ext cx="2781300" cy="3200400"/>
            </a:xfrm>
            <a:prstGeom prst="rect">
              <a:avLst/>
            </a:prstGeom>
          </p:spPr>
        </p:pic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725CDE1B-55E0-44CA-A6C6-2B52A5ED3310}"/>
                </a:ext>
              </a:extLst>
            </p:cNvPr>
            <p:cNvCxnSpPr>
              <a:cxnSpLocks/>
            </p:cNvCxnSpPr>
            <p:nvPr/>
          </p:nvCxnSpPr>
          <p:spPr>
            <a:xfrm>
              <a:off x="4046396" y="3044240"/>
              <a:ext cx="0" cy="1408112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B21056E4-AD01-401C-96FD-FB9EEDCF1595}"/>
                </a:ext>
              </a:extLst>
            </p:cNvPr>
            <p:cNvCxnSpPr>
              <a:cxnSpLocks/>
            </p:cNvCxnSpPr>
            <p:nvPr/>
          </p:nvCxnSpPr>
          <p:spPr>
            <a:xfrm>
              <a:off x="4054016" y="5177160"/>
              <a:ext cx="0" cy="792088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0B4A21D3-37ED-4446-99B9-F4E4FABA4C1B}"/>
                </a:ext>
              </a:extLst>
            </p:cNvPr>
            <p:cNvCxnSpPr>
              <a:cxnSpLocks/>
            </p:cNvCxnSpPr>
            <p:nvPr/>
          </p:nvCxnSpPr>
          <p:spPr>
            <a:xfrm>
              <a:off x="4860032" y="3669680"/>
              <a:ext cx="0" cy="1955564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DDB0493C-6809-4031-848E-3F5CD816B0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4016" y="3683000"/>
              <a:ext cx="797384" cy="77408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A7BC31B7-3D48-43F2-B041-8E04A600F672}"/>
                </a:ext>
              </a:extLst>
            </p:cNvPr>
            <p:cNvCxnSpPr>
              <a:cxnSpLocks/>
            </p:cNvCxnSpPr>
            <p:nvPr/>
          </p:nvCxnSpPr>
          <p:spPr>
            <a:xfrm>
              <a:off x="4058816" y="5187360"/>
              <a:ext cx="798934" cy="42604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8E9F37C-B981-4093-8DF4-8801C24DE113}"/>
              </a:ext>
            </a:extLst>
          </p:cNvPr>
          <p:cNvSpPr txBox="1"/>
          <p:nvPr/>
        </p:nvSpPr>
        <p:spPr>
          <a:xfrm>
            <a:off x="140980" y="3979460"/>
            <a:ext cx="367934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def </a:t>
            </a:r>
            <a:r>
              <a:rPr lang="es-CO" sz="1200" dirty="0" err="1">
                <a:latin typeface="Consolas" panose="020B0609020204030204" pitchFamily="49" charset="0"/>
              </a:rPr>
              <a:t>celcius_to_fahrenheit</a:t>
            </a:r>
            <a:r>
              <a:rPr lang="es-CO" sz="1200" dirty="0">
                <a:latin typeface="Consolas" panose="020B0609020204030204" pitchFamily="49" charset="0"/>
              </a:rPr>
              <a:t>(c):   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f = (9/5)*c + 32   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return f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 err="1">
                <a:latin typeface="Consolas" panose="020B0609020204030204" pitchFamily="49" charset="0"/>
              </a:rPr>
              <a:t>temp_c</a:t>
            </a:r>
            <a:r>
              <a:rPr lang="es-CO" sz="1200" dirty="0">
                <a:latin typeface="Consolas" panose="020B0609020204030204" pitchFamily="49" charset="0"/>
              </a:rPr>
              <a:t> = float(input("Ingrese los °C: "))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temp_f</a:t>
            </a:r>
            <a:r>
              <a:rPr lang="es-CO" sz="1200" dirty="0">
                <a:latin typeface="Consolas" panose="020B0609020204030204" pitchFamily="49" charset="0"/>
              </a:rPr>
              <a:t> = </a:t>
            </a:r>
            <a:r>
              <a:rPr lang="es-CO" sz="1200" dirty="0" err="1">
                <a:latin typeface="Consolas" panose="020B0609020204030204" pitchFamily="49" charset="0"/>
              </a:rPr>
              <a:t>celcius_to_fahrenheit</a:t>
            </a:r>
            <a:r>
              <a:rPr lang="es-CO" sz="1200" dirty="0">
                <a:latin typeface="Consolas" panose="020B0609020204030204" pitchFamily="49" charset="0"/>
              </a:rPr>
              <a:t>(</a:t>
            </a:r>
            <a:r>
              <a:rPr lang="es-CO" sz="1200" dirty="0" err="1">
                <a:latin typeface="Consolas" panose="020B0609020204030204" pitchFamily="49" charset="0"/>
              </a:rPr>
              <a:t>temp_c</a:t>
            </a:r>
            <a:r>
              <a:rPr lang="es-CO" sz="1200" dirty="0">
                <a:latin typeface="Consolas" panose="020B0609020204030204" pitchFamily="49" charset="0"/>
              </a:rPr>
              <a:t>)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print(</a:t>
            </a:r>
            <a:r>
              <a:rPr lang="es-CO" sz="1200" dirty="0" err="1">
                <a:latin typeface="Consolas" panose="020B0609020204030204" pitchFamily="49" charset="0"/>
              </a:rPr>
              <a:t>temp_c,"°C</a:t>
            </a:r>
            <a:r>
              <a:rPr lang="es-CO" sz="1200" dirty="0">
                <a:latin typeface="Consolas" panose="020B0609020204030204" pitchFamily="49" charset="0"/>
              </a:rPr>
              <a:t> =", </a:t>
            </a:r>
            <a:r>
              <a:rPr lang="es-CO" sz="1200" dirty="0" err="1">
                <a:latin typeface="Consolas" panose="020B0609020204030204" pitchFamily="49" charset="0"/>
              </a:rPr>
              <a:t>temp_f,"°F</a:t>
            </a:r>
            <a:r>
              <a:rPr lang="es-CO" sz="1200" dirty="0">
                <a:latin typeface="Consolas" panose="020B0609020204030204" pitchFamily="49" charset="0"/>
              </a:rPr>
              <a:t>")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200698E-4B8D-45CE-8E9A-A4C8C98E6761}"/>
              </a:ext>
            </a:extLst>
          </p:cNvPr>
          <p:cNvSpPr txBox="1"/>
          <p:nvPr/>
        </p:nvSpPr>
        <p:spPr>
          <a:xfrm>
            <a:off x="1223685" y="5549358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4"/>
              </a:rPr>
              <a:t>Link simulación</a:t>
            </a:r>
            <a:endParaRPr lang="es-CO" sz="1200" dirty="0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0D602DCE-1068-459A-BDCB-DBA07068EC0F}"/>
              </a:ext>
            </a:extLst>
          </p:cNvPr>
          <p:cNvSpPr/>
          <p:nvPr/>
        </p:nvSpPr>
        <p:spPr>
          <a:xfrm>
            <a:off x="5767123" y="3356992"/>
            <a:ext cx="326752" cy="319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1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A33388ED-CD24-43CA-884E-E34421422799}"/>
              </a:ext>
            </a:extLst>
          </p:cNvPr>
          <p:cNvSpPr/>
          <p:nvPr/>
        </p:nvSpPr>
        <p:spPr>
          <a:xfrm>
            <a:off x="6616637" y="4080512"/>
            <a:ext cx="326752" cy="319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9F46A86F-0FB3-4CEC-B6F8-899F26C6955A}"/>
              </a:ext>
            </a:extLst>
          </p:cNvPr>
          <p:cNvSpPr/>
          <p:nvPr/>
        </p:nvSpPr>
        <p:spPr>
          <a:xfrm>
            <a:off x="5782140" y="5762744"/>
            <a:ext cx="326752" cy="319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605870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864096"/>
          </a:xfrm>
        </p:spPr>
        <p:txBody>
          <a:bodyPr>
            <a:noAutofit/>
          </a:bodyPr>
          <a:lstStyle/>
          <a:p>
            <a:r>
              <a:rPr lang="es-MX" sz="3600" dirty="0"/>
              <a:t>Cohesión funcional: una función, una tarea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14908" y="837084"/>
            <a:ext cx="887757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Saber cuándo dividir una función en otras es un arte, pero hay una guía.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Cohesión funcional</a:t>
            </a:r>
            <a:r>
              <a:rPr lang="es-MX" sz="2000" dirty="0"/>
              <a:t>: las instrucciones de una función contribuyen a </a:t>
            </a:r>
            <a:r>
              <a:rPr lang="es-MX" sz="2000" b="1" dirty="0"/>
              <a:t>una sola tarea</a:t>
            </a:r>
            <a:r>
              <a:rPr lang="es-MX" sz="2000" dirty="0"/>
              <a:t>. Es la buena práctica.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Regla práctica</a:t>
            </a:r>
            <a:r>
              <a:rPr lang="es-MX" sz="2000" dirty="0"/>
              <a:t>: si para describir lo que hace una función tiene que enlazar varias acciones con "y" (lee </a:t>
            </a:r>
            <a:r>
              <a:rPr lang="es-MX" sz="2000" b="1" dirty="0"/>
              <a:t>y</a:t>
            </a:r>
            <a:r>
              <a:rPr lang="es-MX" sz="2000" dirty="0"/>
              <a:t> calcula </a:t>
            </a:r>
            <a:r>
              <a:rPr lang="es-MX" sz="2000" b="1" dirty="0"/>
              <a:t>y</a:t>
            </a:r>
            <a:r>
              <a:rPr lang="es-MX" sz="2000" dirty="0"/>
              <a:t> muestra), probablemente son varias funciones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4E7742F-9933-410E-8568-CF4892FF2EC3}"/>
              </a:ext>
            </a:extLst>
          </p:cNvPr>
          <p:cNvSpPr txBox="1"/>
          <p:nvPr/>
        </p:nvSpPr>
        <p:spPr>
          <a:xfrm>
            <a:off x="368771" y="3645024"/>
            <a:ext cx="4084923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400" dirty="0">
                <a:latin typeface="Consolas" panose="020B0609020204030204" pitchFamily="49" charset="0"/>
              </a:rPr>
              <a:t># Baja cohesión: lee, calcula y muestra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def promedio_de_notas():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a = float(input("Nota 1: "))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b = float(input("Nota 2: "))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print((a + b) / 2)</a:t>
            </a:r>
          </a:p>
          <a:p>
            <a:endParaRPr lang="es-CO" sz="1400" dirty="0">
              <a:latin typeface="Consolas" panose="020B0609020204030204" pitchFamily="49" charset="0"/>
            </a:endParaRPr>
          </a:p>
          <a:p>
            <a:r>
              <a:rPr lang="es-CO" sz="1400" dirty="0">
                <a:latin typeface="Consolas" panose="020B0609020204030204" pitchFamily="49" charset="0"/>
              </a:rPr>
              <a:t># Programa principal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promedio_de_notas()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9D3A9E5-10B9-435A-B47C-FF33E09D3BF0}"/>
              </a:ext>
            </a:extLst>
          </p:cNvPr>
          <p:cNvSpPr txBox="1"/>
          <p:nvPr/>
        </p:nvSpPr>
        <p:spPr>
          <a:xfrm>
            <a:off x="4716020" y="3343260"/>
            <a:ext cx="4176460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400" dirty="0">
                <a:latin typeface="Consolas" panose="020B0609020204030204" pitchFamily="49" charset="0"/>
              </a:rPr>
              <a:t># Alta cohesión: una tarea por función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def leer_nota(mensaje):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return float(input(mensaje))</a:t>
            </a:r>
          </a:p>
          <a:p>
            <a:endParaRPr lang="es-CO" sz="1400" dirty="0">
              <a:latin typeface="Consolas" panose="020B0609020204030204" pitchFamily="49" charset="0"/>
            </a:endParaRPr>
          </a:p>
          <a:p>
            <a:r>
              <a:rPr lang="es-CO" sz="1400" dirty="0">
                <a:latin typeface="Consolas" panose="020B0609020204030204" pitchFamily="49" charset="0"/>
              </a:rPr>
              <a:t>def calcular_promedio(a, b):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    return (a + b) / 2</a:t>
            </a:r>
          </a:p>
          <a:p>
            <a:endParaRPr lang="es-CO" sz="1400" dirty="0">
              <a:latin typeface="Consolas" panose="020B0609020204030204" pitchFamily="49" charset="0"/>
            </a:endParaRPr>
          </a:p>
          <a:p>
            <a:r>
              <a:rPr lang="es-CO" sz="1400" dirty="0">
                <a:latin typeface="Consolas" panose="020B0609020204030204" pitchFamily="49" charset="0"/>
              </a:rPr>
              <a:t># Programa principal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nota1 = leer_nota("Nota 1: ")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nota2 = leer_nota("Nota 2: ")</a:t>
            </a:r>
          </a:p>
          <a:p>
            <a:r>
              <a:rPr lang="es-CO" sz="1400" dirty="0">
                <a:latin typeface="Consolas" panose="020B0609020204030204" pitchFamily="49" charset="0"/>
              </a:rPr>
              <a:t>print(calcular_promedio(nota1, nota2))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E0EAD59-74EF-4BD0-9383-47B812DC4F85}"/>
              </a:ext>
            </a:extLst>
          </p:cNvPr>
          <p:cNvSpPr txBox="1"/>
          <p:nvPr/>
        </p:nvSpPr>
        <p:spPr>
          <a:xfrm>
            <a:off x="1578989" y="5676349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2"/>
              </a:rPr>
              <a:t>Link simulación</a:t>
            </a:r>
            <a:endParaRPr lang="es-CO" sz="12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23D68BE-8F1C-4378-8BC2-401D5FB6FB48}"/>
              </a:ext>
            </a:extLst>
          </p:cNvPr>
          <p:cNvSpPr txBox="1"/>
          <p:nvPr/>
        </p:nvSpPr>
        <p:spPr>
          <a:xfrm>
            <a:off x="5992531" y="5844759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3"/>
              </a:rPr>
              <a:t>Link simulación</a:t>
            </a:r>
            <a:endParaRPr lang="es-CO" sz="12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AAF1297-99B4-4F68-A05E-6A252FE73C71}"/>
              </a:ext>
            </a:extLst>
          </p:cNvPr>
          <p:cNvSpPr txBox="1"/>
          <p:nvPr/>
        </p:nvSpPr>
        <p:spPr>
          <a:xfrm>
            <a:off x="683568" y="2735610"/>
            <a:ext cx="3065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Código con baja cohesión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254AF6C-461E-4DD6-B710-3F8B69DBA573}"/>
              </a:ext>
            </a:extLst>
          </p:cNvPr>
          <p:cNvSpPr txBox="1"/>
          <p:nvPr/>
        </p:nvSpPr>
        <p:spPr>
          <a:xfrm>
            <a:off x="5292080" y="2735610"/>
            <a:ext cx="3065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Código con alta cohesión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5985E8F-D712-4EA5-8C92-ED5F969970FA}"/>
              </a:ext>
            </a:extLst>
          </p:cNvPr>
          <p:cNvSpPr txBox="1"/>
          <p:nvPr/>
        </p:nvSpPr>
        <p:spPr>
          <a:xfrm>
            <a:off x="89756" y="6581001"/>
            <a:ext cx="89644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Adaptado de: Farrell, J. </a:t>
            </a:r>
            <a:r>
              <a:rPr lang="es-CO" sz="1200" dirty="0" err="1"/>
              <a:t>Programming</a:t>
            </a:r>
            <a:r>
              <a:rPr lang="es-CO" sz="1200" dirty="0"/>
              <a:t> </a:t>
            </a:r>
            <a:r>
              <a:rPr lang="es-CO" sz="1200" dirty="0" err="1"/>
              <a:t>Logic</a:t>
            </a:r>
            <a:r>
              <a:rPr lang="es-CO" sz="1200" dirty="0"/>
              <a:t> and </a:t>
            </a:r>
            <a:r>
              <a:rPr lang="es-CO" sz="1200" dirty="0" err="1"/>
              <a:t>Design</a:t>
            </a:r>
            <a:r>
              <a:rPr lang="es-CO" sz="1200" dirty="0"/>
              <a:t>, </a:t>
            </a:r>
            <a:r>
              <a:rPr lang="es-CO" sz="1200" dirty="0" err="1"/>
              <a:t>Introductory</a:t>
            </a:r>
            <a:r>
              <a:rPr lang="es-CO" sz="1200" dirty="0"/>
              <a:t>, 4th ed. Cengage.</a:t>
            </a:r>
          </a:p>
        </p:txBody>
      </p:sp>
    </p:spTree>
    <p:extLst>
      <p:ext uri="{BB962C8B-B14F-4D97-AF65-F5344CB8AC3E}">
        <p14:creationId xmlns:p14="http://schemas.microsoft.com/office/powerpoint/2010/main" val="37497039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720452"/>
          </a:xfrm>
        </p:spPr>
        <p:txBody>
          <a:bodyPr>
            <a:noAutofit/>
          </a:bodyPr>
          <a:lstStyle/>
          <a:p>
            <a:r>
              <a:rPr lang="es-MX" sz="3600" dirty="0"/>
              <a:t>Comparación</a:t>
            </a:r>
            <a:endParaRPr lang="es-CO" sz="3600" dirty="0"/>
          </a:p>
        </p:txBody>
      </p:sp>
      <p:sp>
        <p:nvSpPr>
          <p:cNvPr id="13" name="12 Rectángulo"/>
          <p:cNvSpPr/>
          <p:nvPr/>
        </p:nvSpPr>
        <p:spPr>
          <a:xfrm>
            <a:off x="14908" y="734497"/>
            <a:ext cx="88775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A continuación, se muestra la comparación entre trabajar un programa </a:t>
            </a:r>
            <a:r>
              <a:rPr lang="es-MX" sz="2000" b="1" dirty="0"/>
              <a:t>sin módulos</a:t>
            </a:r>
            <a:r>
              <a:rPr lang="es-MX" sz="2000" dirty="0"/>
              <a:t> y </a:t>
            </a:r>
            <a:r>
              <a:rPr lang="es-MX" sz="2000" b="1" dirty="0"/>
              <a:t>con módulos</a:t>
            </a:r>
            <a:r>
              <a:rPr lang="es-MX" sz="2000" dirty="0"/>
              <a:t>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4E7742F-9933-410E-8568-CF4892FF2EC3}"/>
              </a:ext>
            </a:extLst>
          </p:cNvPr>
          <p:cNvSpPr txBox="1"/>
          <p:nvPr/>
        </p:nvSpPr>
        <p:spPr>
          <a:xfrm>
            <a:off x="817032" y="5014674"/>
            <a:ext cx="373171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temp_c = float(input("Ingrese los °C: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temp_f = (9 / 5) * temp_c + 32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print(f"{temp_c} °C = {temp_f} °F")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9D3A9E5-10B9-435A-B47C-FF33E09D3BF0}"/>
              </a:ext>
            </a:extLst>
          </p:cNvPr>
          <p:cNvSpPr txBox="1"/>
          <p:nvPr/>
        </p:nvSpPr>
        <p:spPr>
          <a:xfrm>
            <a:off x="5004047" y="4843026"/>
            <a:ext cx="3973141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def celsius_a_fahrenheit(c):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f = (9 / 5) * c + 32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return f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 err="1">
                <a:latin typeface="Consolas" panose="020B0609020204030204" pitchFamily="49" charset="0"/>
              </a:rPr>
              <a:t>temp_c</a:t>
            </a:r>
            <a:r>
              <a:rPr lang="es-CO" sz="1200" dirty="0">
                <a:latin typeface="Consolas" panose="020B0609020204030204" pitchFamily="49" charset="0"/>
              </a:rPr>
              <a:t> = float(input("Ingrese los °C: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temp_f = celsius_a_fahrenheit(temp_c)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print(f"{temp_c} °C = {temp_f} °F")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1F74F2E-D109-4A9F-BDC1-7BF69D50A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7801" y="1657190"/>
            <a:ext cx="1130177" cy="296289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931D628-38BC-47DA-B491-68B66A45CB27}"/>
              </a:ext>
            </a:extLst>
          </p:cNvPr>
          <p:cNvSpPr txBox="1"/>
          <p:nvPr/>
        </p:nvSpPr>
        <p:spPr>
          <a:xfrm>
            <a:off x="6158373" y="6581001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3"/>
              </a:rPr>
              <a:t>Link simulación</a:t>
            </a:r>
            <a:endParaRPr lang="es-CO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2F01911-5379-4765-924D-EAFBD9E37780}"/>
              </a:ext>
            </a:extLst>
          </p:cNvPr>
          <p:cNvSpPr txBox="1"/>
          <p:nvPr/>
        </p:nvSpPr>
        <p:spPr>
          <a:xfrm>
            <a:off x="1850647" y="5720189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4"/>
              </a:rPr>
              <a:t>Link simulación</a:t>
            </a:r>
            <a:endParaRPr lang="es-CO" sz="1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32A3AC6-B5F8-419D-9A24-50D2863E17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875" y="1550248"/>
            <a:ext cx="1765483" cy="32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983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243110" cy="710952"/>
          </a:xfrm>
        </p:spPr>
        <p:txBody>
          <a:bodyPr>
            <a:normAutofit/>
          </a:bodyPr>
          <a:lstStyle/>
          <a:p>
            <a:r>
              <a:rPr lang="es-CO" dirty="0"/>
              <a:t>Análisis – Ejemplo área de figuras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12 Rectángulo"/>
              <p:cNvSpPr/>
              <p:nvPr/>
            </p:nvSpPr>
            <p:spPr>
              <a:xfrm>
                <a:off x="145314" y="1610211"/>
                <a:ext cx="8853372" cy="45550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rtl="0"/>
                <a:r>
                  <a:rPr lang="es-MX" sz="2000" b="1" dirty="0"/>
                  <a:t>Enunciado</a:t>
                </a:r>
                <a:endParaRPr lang="es-MX" sz="2000" dirty="0"/>
              </a:p>
              <a:p>
                <a:pPr rtl="0"/>
                <a:r>
                  <a:rPr lang="es-MX" dirty="0"/>
                  <a:t>Hacer un programa que muestre un menú para calcular el área de diferentes figuras geométricas:</a:t>
                </a:r>
              </a:p>
              <a:p>
                <a:pPr marL="457200" indent="-457200" rtl="0">
                  <a:buFont typeface="+mj-lt"/>
                  <a:buAutoNum type="arabicPeriod"/>
                </a:pPr>
                <a:r>
                  <a:rPr lang="es-MX" dirty="0"/>
                  <a:t>Círculo</a:t>
                </a:r>
              </a:p>
              <a:p>
                <a:pPr marL="457200" indent="-457200" rtl="0">
                  <a:buFont typeface="+mj-lt"/>
                  <a:buAutoNum type="arabicPeriod"/>
                </a:pPr>
                <a:r>
                  <a:rPr lang="es-MX" dirty="0"/>
                  <a:t>Rectángulo</a:t>
                </a:r>
              </a:p>
              <a:p>
                <a:pPr marL="457200" indent="-457200" rtl="0">
                  <a:buFont typeface="+mj-lt"/>
                  <a:buAutoNum type="arabicPeriod"/>
                </a:pPr>
                <a:r>
                  <a:rPr lang="es-MX" dirty="0"/>
                  <a:t>Triángulo</a:t>
                </a:r>
              </a:p>
              <a:p>
                <a:pPr marL="457200" indent="-457200" rtl="0">
                  <a:buFont typeface="+mj-lt"/>
                  <a:buAutoNum type="arabicPeriod"/>
                </a:pPr>
                <a:r>
                  <a:rPr lang="es-MX" dirty="0"/>
                  <a:t>Salir</a:t>
                </a:r>
              </a:p>
              <a:p>
                <a:pPr rtl="0"/>
                <a:endParaRPr lang="es-MX" dirty="0"/>
              </a:p>
              <a:p>
                <a:pPr rtl="0"/>
                <a:r>
                  <a:rPr lang="es-MX" dirty="0"/>
                  <a:t>Según la opción elegida, el programa debe:</a:t>
                </a:r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r>
                  <a:rPr lang="es-MX" b="1" dirty="0"/>
                  <a:t>Círculo</a:t>
                </a:r>
                <a:r>
                  <a:rPr lang="es-MX" dirty="0"/>
                  <a:t>: pedir el radio y calcular el área como </a:t>
                </a: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 · 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𝑟𝑎𝑑𝑖𝑜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es-MX" dirty="0"/>
                  <a:t> (use </a:t>
                </a: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 = 3.1416</m:t>
                    </m:r>
                  </m:oMath>
                </a14:m>
                <a:r>
                  <a:rPr lang="es-MX" dirty="0"/>
                  <a:t>).</a:t>
                </a:r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r>
                  <a:rPr lang="es-MX" b="1" dirty="0"/>
                  <a:t>Rectángulo</a:t>
                </a:r>
                <a:r>
                  <a:rPr lang="es-MX" dirty="0"/>
                  <a:t>: pedir la base y la altura, y calcular el área como </a:t>
                </a: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𝑏𝑎𝑠𝑒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 · 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𝑎𝑙𝑡𝑢𝑟𝑎</m:t>
                    </m:r>
                  </m:oMath>
                </a14:m>
                <a:r>
                  <a:rPr lang="es-MX" dirty="0"/>
                  <a:t>.</a:t>
                </a:r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r>
                  <a:rPr lang="es-MX" b="1" dirty="0"/>
                  <a:t>Triángulo</a:t>
                </a:r>
                <a:r>
                  <a:rPr lang="es-MX" dirty="0"/>
                  <a:t>: pedir la base y la altura, y calcular el área como </a:t>
                </a: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𝑏𝑎𝑠𝑒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 · 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𝑎𝑙𝑡𝑢𝑟𝑎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) / 2</m:t>
                    </m:r>
                  </m:oMath>
                </a14:m>
                <a:r>
                  <a:rPr lang="es-MX" dirty="0"/>
                  <a:t>.</a:t>
                </a:r>
              </a:p>
              <a:p>
                <a:pPr rtl="0"/>
                <a:endParaRPr lang="es-MX" dirty="0"/>
              </a:p>
              <a:p>
                <a:pPr rtl="0"/>
                <a:r>
                  <a:rPr lang="es-MX" dirty="0"/>
                  <a:t>Después de cada cálculo, el programa debe mostrar el área con dos decimales y volver a presentar el menú. Si se digita una opción que no está en el menú, debe informarlo y volver a preguntar. El programa termina únicamente cuando se elige la opción 4.</a:t>
                </a:r>
              </a:p>
            </p:txBody>
          </p:sp>
        </mc:Choice>
        <mc:Fallback>
          <p:sp>
            <p:nvSpPr>
              <p:cNvPr id="13" name="12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314" y="1610211"/>
                <a:ext cx="8853372" cy="4555093"/>
              </a:xfrm>
              <a:prstGeom prst="rect">
                <a:avLst/>
              </a:prstGeom>
              <a:blipFill>
                <a:blip r:embed="rId2"/>
                <a:stretch>
                  <a:fillRect l="-758" t="-669" b="-120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0A603635-C719-4C5B-8D47-47A929F581EE}"/>
              </a:ext>
            </a:extLst>
          </p:cNvPr>
          <p:cNvSpPr txBox="1"/>
          <p:nvPr/>
        </p:nvSpPr>
        <p:spPr>
          <a:xfrm>
            <a:off x="1115616" y="940658"/>
            <a:ext cx="6912768" cy="40011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s-MX" sz="2000" b="1" dirty="0"/>
              <a:t>Análisis</a:t>
            </a:r>
            <a:r>
              <a:rPr lang="es-MX" sz="2000" dirty="0"/>
              <a:t> ▸ </a:t>
            </a:r>
            <a:r>
              <a:rPr lang="es-MX" sz="2000" b="1" dirty="0"/>
              <a:t>Diseño ▸ Codificación ▸ Pruebas ▸ Integración</a:t>
            </a:r>
            <a:endParaRPr lang="es-CO" sz="2000" b="1" dirty="0"/>
          </a:p>
        </p:txBody>
      </p:sp>
    </p:spTree>
    <p:extLst>
      <p:ext uri="{BB962C8B-B14F-4D97-AF65-F5344CB8AC3E}">
        <p14:creationId xmlns:p14="http://schemas.microsoft.com/office/powerpoint/2010/main" val="22200144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243110" cy="710952"/>
          </a:xfrm>
        </p:spPr>
        <p:txBody>
          <a:bodyPr>
            <a:normAutofit/>
          </a:bodyPr>
          <a:lstStyle/>
          <a:p>
            <a:r>
              <a:rPr lang="es-CO" dirty="0"/>
              <a:t>Análisis – Ejemplo área de figuras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45314" y="692696"/>
            <a:ext cx="885337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Entradas, proceso y salidas</a:t>
            </a:r>
          </a:p>
          <a:p>
            <a:pPr rtl="0"/>
            <a:endParaRPr lang="es-MX" sz="2000" b="1" dirty="0"/>
          </a:p>
          <a:p>
            <a:pPr rtl="0"/>
            <a:endParaRPr lang="es-MX" sz="2000" b="1" dirty="0"/>
          </a:p>
          <a:p>
            <a:pPr rtl="0"/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Punto de partida</a:t>
            </a:r>
            <a:r>
              <a:rPr lang="es-MX" sz="2000" dirty="0"/>
              <a:t>: ¿Qué datos entran y qué datos deben salir?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El programa se ejecuta de manera repetitiva de modo que en cada vuelta del ciclo se muestra el menú y se lee la opción, hasta que se elige la 4.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A603635-C719-4C5B-8D47-47A929F581EE}"/>
              </a:ext>
            </a:extLst>
          </p:cNvPr>
          <p:cNvSpPr txBox="1"/>
          <p:nvPr/>
        </p:nvSpPr>
        <p:spPr>
          <a:xfrm>
            <a:off x="1115616" y="1340768"/>
            <a:ext cx="6912768" cy="40011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solidFill>
                  <a:schemeClr val="accent4"/>
                </a:solidFill>
              </a:rPr>
              <a:t>Análisis</a:t>
            </a:r>
            <a:r>
              <a:rPr lang="es-MX" sz="2000" dirty="0"/>
              <a:t> ▸ Diseño ▸ Codificación ▸ Pruebas ▸ Integración</a:t>
            </a:r>
            <a:endParaRPr lang="es-CO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0A3EEA72-DA46-4C6B-AAA0-98CEE556FB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5004074"/>
                  </p:ext>
                </p:extLst>
              </p:nvPr>
            </p:nvGraphicFramePr>
            <p:xfrm>
              <a:off x="395536" y="2558008"/>
              <a:ext cx="8191823" cy="2743200"/>
            </p:xfrm>
            <a:graphic>
              <a:graphicData uri="http://schemas.openxmlformats.org/drawingml/2006/table">
                <a:tbl>
                  <a:tblPr/>
                  <a:tblGrid>
                    <a:gridCol w="1726403">
                      <a:extLst>
                        <a:ext uri="{9D8B030D-6E8A-4147-A177-3AD203B41FA5}">
                          <a16:colId xmlns:a16="http://schemas.microsoft.com/office/drawing/2014/main" val="4023765101"/>
                        </a:ext>
                      </a:extLst>
                    </a:gridCol>
                    <a:gridCol w="2155140">
                      <a:extLst>
                        <a:ext uri="{9D8B030D-6E8A-4147-A177-3AD203B41FA5}">
                          <a16:colId xmlns:a16="http://schemas.microsoft.com/office/drawing/2014/main" val="1333574731"/>
                        </a:ext>
                      </a:extLst>
                    </a:gridCol>
                    <a:gridCol w="2155140">
                      <a:extLst>
                        <a:ext uri="{9D8B030D-6E8A-4147-A177-3AD203B41FA5}">
                          <a16:colId xmlns:a16="http://schemas.microsoft.com/office/drawing/2014/main" val="1942254523"/>
                        </a:ext>
                      </a:extLst>
                    </a:gridCol>
                    <a:gridCol w="2155140">
                      <a:extLst>
                        <a:ext uri="{9D8B030D-6E8A-4147-A177-3AD203B41FA5}">
                          <a16:colId xmlns:a16="http://schemas.microsoft.com/office/drawing/2014/main" val="319329372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600" b="1">
                              <a:solidFill>
                                <a:schemeClr val="bg1"/>
                              </a:solidFill>
                            </a:rPr>
                            <a:t>Opción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solidFill>
                                <a:schemeClr val="bg1"/>
                              </a:solidFill>
                            </a:rPr>
                            <a:t>Entradas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solidFill>
                                <a:schemeClr val="bg1"/>
                              </a:solidFill>
                            </a:rPr>
                            <a:t>Proceso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solidFill>
                                <a:schemeClr val="bg1"/>
                              </a:solidFill>
                            </a:rPr>
                            <a:t>Salida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366037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600" dirty="0"/>
                            <a:t>Círculo (1)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CO" sz="1400" i="1" dirty="0" smtClean="0">
                                    <a:latin typeface="Cambria Math" panose="02040503050406030204" pitchFamily="18" charset="0"/>
                                  </a:rPr>
                                  <m:t>𝑟𝑎𝑑𝑖𝑜</m:t>
                                </m:r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l-GR" sz="1400" i="1" dirty="0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l-GR" sz="1400" i="1" dirty="0" smtClean="0">
                                    <a:latin typeface="Cambria Math" panose="02040503050406030204" pitchFamily="18" charset="0"/>
                                  </a:rPr>
                                  <m:t> · </m:t>
                                </m:r>
                                <m:r>
                                  <a:rPr lang="es-CO" sz="1400" i="1" dirty="0">
                                    <a:latin typeface="Cambria Math" panose="02040503050406030204" pitchFamily="18" charset="0"/>
                                  </a:rPr>
                                  <m:t>𝑟𝑎𝑑𝑖𝑜</m:t>
                                </m:r>
                                <m:r>
                                  <a:rPr lang="es-CO" sz="1400" i="1" dirty="0">
                                    <a:latin typeface="Cambria Math" panose="02040503050406030204" pitchFamily="18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600"/>
                            <a:t>Área del círculo, con dos decimales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5756665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600"/>
                            <a:t>Rectángulo (2)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CO" sz="1400" i="1" smtClean="0">
                                    <a:latin typeface="Cambria Math" panose="02040503050406030204" pitchFamily="18" charset="0"/>
                                  </a:rPr>
                                  <m:t>𝑏𝑎𝑠𝑒</m:t>
                                </m:r>
                                <m:r>
                                  <a:rPr lang="es-CO" sz="140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s-CO" sz="1400" i="1" smtClean="0">
                                    <a:latin typeface="Cambria Math" panose="02040503050406030204" pitchFamily="18" charset="0"/>
                                  </a:rPr>
                                  <m:t>𝑎𝑙𝑡𝑢𝑟𝑎</m:t>
                                </m:r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CO" sz="1400" i="1" smtClean="0">
                                    <a:latin typeface="Cambria Math" panose="02040503050406030204" pitchFamily="18" charset="0"/>
                                  </a:rPr>
                                  <m:t>𝑏𝑎𝑠𝑒</m:t>
                                </m:r>
                                <m:r>
                                  <a:rPr lang="es-CO" sz="1400" i="1" smtClean="0">
                                    <a:latin typeface="Cambria Math" panose="02040503050406030204" pitchFamily="18" charset="0"/>
                                  </a:rPr>
                                  <m:t> · </m:t>
                                </m:r>
                                <m:r>
                                  <a:rPr lang="es-CO" sz="1400" i="1" smtClean="0">
                                    <a:latin typeface="Cambria Math" panose="02040503050406030204" pitchFamily="18" charset="0"/>
                                  </a:rPr>
                                  <m:t>𝑎𝑙𝑡𝑢𝑟𝑎</m:t>
                                </m:r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600"/>
                            <a:t>Área del rectángulo, con dos decimales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226530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600"/>
                            <a:t>Triángulo (3)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CO" sz="1400" i="1" smtClean="0">
                                    <a:latin typeface="Cambria Math" panose="02040503050406030204" pitchFamily="18" charset="0"/>
                                  </a:rPr>
                                  <m:t>𝑏𝑎𝑠𝑒</m:t>
                                </m:r>
                                <m:r>
                                  <a:rPr lang="es-CO" sz="140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s-CO" sz="1400" i="1" smtClean="0">
                                    <a:latin typeface="Cambria Math" panose="02040503050406030204" pitchFamily="18" charset="0"/>
                                  </a:rPr>
                                  <m:t>𝑎𝑙𝑡𝑢𝑟𝑎</m:t>
                                </m:r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CO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s-CO" sz="14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CO" sz="1400" i="1" dirty="0" smtClean="0">
                                            <a:latin typeface="Cambria Math" panose="02040503050406030204" pitchFamily="18" charset="0"/>
                                          </a:rPr>
                                          <m:t>𝑏𝑎𝑠𝑒</m:t>
                                        </m:r>
                                        <m:r>
                                          <a:rPr lang="es-CO" sz="1400" i="1" dirty="0" smtClean="0">
                                            <a:latin typeface="Cambria Math" panose="02040503050406030204" pitchFamily="18" charset="0"/>
                                          </a:rPr>
                                          <m:t> · </m:t>
                                        </m:r>
                                        <m:r>
                                          <a:rPr lang="es-CO" sz="1400" i="1" dirty="0" smtClean="0">
                                            <a:latin typeface="Cambria Math" panose="02040503050406030204" pitchFamily="18" charset="0"/>
                                          </a:rPr>
                                          <m:t>𝑎𝑙𝑡𝑢𝑟𝑎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s-MX" sz="1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600"/>
                            <a:t>Área del triángulo, con dos decimales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33589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600"/>
                            <a:t>Salir (4)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/>
                            <a:t>ninguna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/>
                            <a:t>terminar el programa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/>
                            <a:t>ninguna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66913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600" dirty="0"/>
                            <a:t>Otra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/>
                            <a:t>ninguna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/>
                            <a:t>informar el error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dirty="0"/>
                            <a:t>"Opción no válida"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811472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0A3EEA72-DA46-4C6B-AAA0-98CEE556FB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5004074"/>
                  </p:ext>
                </p:extLst>
              </p:nvPr>
            </p:nvGraphicFramePr>
            <p:xfrm>
              <a:off x="395536" y="2558008"/>
              <a:ext cx="8191823" cy="2743200"/>
            </p:xfrm>
            <a:graphic>
              <a:graphicData uri="http://schemas.openxmlformats.org/drawingml/2006/table">
                <a:tbl>
                  <a:tblPr/>
                  <a:tblGrid>
                    <a:gridCol w="1726403">
                      <a:extLst>
                        <a:ext uri="{9D8B030D-6E8A-4147-A177-3AD203B41FA5}">
                          <a16:colId xmlns:a16="http://schemas.microsoft.com/office/drawing/2014/main" val="4023765101"/>
                        </a:ext>
                      </a:extLst>
                    </a:gridCol>
                    <a:gridCol w="2155140">
                      <a:extLst>
                        <a:ext uri="{9D8B030D-6E8A-4147-A177-3AD203B41FA5}">
                          <a16:colId xmlns:a16="http://schemas.microsoft.com/office/drawing/2014/main" val="1333574731"/>
                        </a:ext>
                      </a:extLst>
                    </a:gridCol>
                    <a:gridCol w="2155140">
                      <a:extLst>
                        <a:ext uri="{9D8B030D-6E8A-4147-A177-3AD203B41FA5}">
                          <a16:colId xmlns:a16="http://schemas.microsoft.com/office/drawing/2014/main" val="1942254523"/>
                        </a:ext>
                      </a:extLst>
                    </a:gridCol>
                    <a:gridCol w="2155140">
                      <a:extLst>
                        <a:ext uri="{9D8B030D-6E8A-4147-A177-3AD203B41FA5}">
                          <a16:colId xmlns:a16="http://schemas.microsoft.com/office/drawing/2014/main" val="3193293729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r>
                            <a:rPr lang="es-CO" sz="1600" b="1">
                              <a:solidFill>
                                <a:schemeClr val="bg1"/>
                              </a:solidFill>
                            </a:rPr>
                            <a:t>Opción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solidFill>
                                <a:schemeClr val="bg1"/>
                              </a:solidFill>
                            </a:rPr>
                            <a:t>Entradas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solidFill>
                                <a:schemeClr val="bg1"/>
                              </a:solidFill>
                            </a:rPr>
                            <a:t>Proceso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solidFill>
                                <a:schemeClr val="bg1"/>
                              </a:solidFill>
                            </a:rPr>
                            <a:t>Salida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366037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s-CO" sz="1600" dirty="0"/>
                            <a:t>Círculo (1)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226" t="-60000" r="-200565" b="-33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0226" t="-60000" r="-100565" b="-33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600"/>
                            <a:t>Área del círculo, con dos decimales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57566651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s-CO" sz="1600"/>
                            <a:t>Rectángulo (2)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226" t="-158333" r="-200565" b="-227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0226" t="-158333" r="-100565" b="-227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600"/>
                            <a:t>Área del rectángulo, con dos decimales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2265301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s-CO" sz="1600"/>
                            <a:t>Triángulo (3)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226" t="-261053" r="-200565" b="-12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0226" t="-261053" r="-100565" b="-12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600"/>
                            <a:t>Área del triángulo, con dos decimales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335894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s-CO" sz="1600"/>
                            <a:t>Salir (4)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/>
                            <a:t>ninguna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/>
                            <a:t>terminar el programa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/>
                            <a:t>ninguna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66913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s-CO" sz="1600" dirty="0"/>
                            <a:t>Otra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/>
                            <a:t>ninguna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/>
                            <a:t>informar el error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dirty="0"/>
                            <a:t>"Opción no válida"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8114722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987789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243110" cy="710952"/>
          </a:xfrm>
        </p:spPr>
        <p:txBody>
          <a:bodyPr>
            <a:normAutofit/>
          </a:bodyPr>
          <a:lstStyle/>
          <a:p>
            <a:r>
              <a:rPr lang="es-CO" dirty="0"/>
              <a:t>Análisis – Ejemplo área de figuras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45314" y="764704"/>
            <a:ext cx="885337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Resultado</a:t>
            </a:r>
          </a:p>
          <a:p>
            <a:pPr rtl="0"/>
            <a:endParaRPr lang="es-MX" sz="2000" b="1" dirty="0"/>
          </a:p>
          <a:p>
            <a:pPr rtl="0"/>
            <a:endParaRPr lang="es-MX" sz="2000" b="1" dirty="0"/>
          </a:p>
          <a:p>
            <a:pPr rtl="0"/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Punto de partida</a:t>
            </a:r>
            <a:r>
              <a:rPr lang="es-MX" sz="2000" dirty="0"/>
              <a:t>: ¿Qué resultado debe dar el programa para unos datos conocidos?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Esta tabla se convierte después en los assert en la etapa de pruebas.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A603635-C719-4C5B-8D47-47A929F581EE}"/>
              </a:ext>
            </a:extLst>
          </p:cNvPr>
          <p:cNvSpPr txBox="1"/>
          <p:nvPr/>
        </p:nvSpPr>
        <p:spPr>
          <a:xfrm>
            <a:off x="1115616" y="1340768"/>
            <a:ext cx="6912768" cy="40011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solidFill>
                  <a:schemeClr val="accent4"/>
                </a:solidFill>
              </a:rPr>
              <a:t>Análisis</a:t>
            </a:r>
            <a:r>
              <a:rPr lang="es-MX" sz="2000" dirty="0"/>
              <a:t> ▸ Diseño ▸ Codificación ▸ Pruebas ▸ Integración</a:t>
            </a:r>
            <a:endParaRPr lang="es-CO" sz="2000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88372C4-A774-4531-8603-421A32F0B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371867"/>
              </p:ext>
            </p:extLst>
          </p:nvPr>
        </p:nvGraphicFramePr>
        <p:xfrm>
          <a:off x="450444" y="2807176"/>
          <a:ext cx="8243111" cy="2926080"/>
        </p:xfrm>
        <a:graphic>
          <a:graphicData uri="http://schemas.openxmlformats.org/drawingml/2006/table">
            <a:tbl>
              <a:tblPr/>
              <a:tblGrid>
                <a:gridCol w="1499229">
                  <a:extLst>
                    <a:ext uri="{9D8B030D-6E8A-4147-A177-3AD203B41FA5}">
                      <a16:colId xmlns:a16="http://schemas.microsoft.com/office/drawing/2014/main" val="699217068"/>
                    </a:ext>
                  </a:extLst>
                </a:gridCol>
                <a:gridCol w="2262287">
                  <a:extLst>
                    <a:ext uri="{9D8B030D-6E8A-4147-A177-3AD203B41FA5}">
                      <a16:colId xmlns:a16="http://schemas.microsoft.com/office/drawing/2014/main" val="3337529694"/>
                    </a:ext>
                  </a:extLst>
                </a:gridCol>
                <a:gridCol w="2982366">
                  <a:extLst>
                    <a:ext uri="{9D8B030D-6E8A-4147-A177-3AD203B41FA5}">
                      <a16:colId xmlns:a16="http://schemas.microsoft.com/office/drawing/2014/main" val="1710579891"/>
                    </a:ext>
                  </a:extLst>
                </a:gridCol>
                <a:gridCol w="1499229">
                  <a:extLst>
                    <a:ext uri="{9D8B030D-6E8A-4147-A177-3AD203B41FA5}">
                      <a16:colId xmlns:a16="http://schemas.microsoft.com/office/drawing/2014/main" val="20171863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chemeClr val="bg1"/>
                          </a:solidFill>
                        </a:rPr>
                        <a:t>Opción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chemeClr val="bg1"/>
                          </a:solidFill>
                        </a:rPr>
                        <a:t>Datos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chemeClr val="bg1"/>
                          </a:solidFill>
                        </a:rPr>
                        <a:t>Resultado esperado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>
                          <a:solidFill>
                            <a:schemeClr val="bg1"/>
                          </a:solidFill>
                        </a:rPr>
                        <a:t>Tipo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383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/>
                        <a:t>Círculo 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radio =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78.54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típico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40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/>
                        <a:t>Círculo 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latin typeface="Consolas" panose="020B0609020204030204" pitchFamily="49" charset="0"/>
                        </a:rPr>
                        <a:t>radio =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latin typeface="Consolas" panose="020B0609020204030204" pitchFamily="49" charset="0"/>
                        </a:rPr>
                        <a:t>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límite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5028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/>
                        <a:t>Rectángulo (2)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latin typeface="Consolas" panose="020B0609020204030204" pitchFamily="49" charset="0"/>
                        </a:rPr>
                        <a:t>base = 4, altura =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12.00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típico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26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/>
                        <a:t>Rectángulo (2)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latin typeface="Consolas" panose="020B0609020204030204" pitchFamily="49" charset="0"/>
                        </a:rPr>
                        <a:t>base = 0, altura =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límite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286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/>
                        <a:t>Triángulo (3)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latin typeface="Consolas" panose="020B0609020204030204" pitchFamily="49" charset="0"/>
                        </a:rPr>
                        <a:t>base = 6, altura =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6.00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típico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147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/>
                        <a:t>Triángulo (3)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>
                          <a:latin typeface="Consolas" panose="020B0609020204030204" pitchFamily="49" charset="0"/>
                        </a:rPr>
                        <a:t>base = 0, altura =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límite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461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—</a:t>
                      </a:r>
                      <a:endParaRPr lang="es-CO" sz="16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Consolas" panose="020B0609020204030204" pitchFamily="49" charset="0"/>
                        </a:rPr>
                        <a:t>"Opción no válida"</a:t>
                      </a:r>
                      <a:r>
                        <a:rPr lang="es-MX" sz="1600" dirty="0"/>
                        <a:t> y se vuelve a mostrar el menú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especial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7204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35421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243110" cy="710952"/>
          </a:xfrm>
        </p:spPr>
        <p:txBody>
          <a:bodyPr>
            <a:normAutofit/>
          </a:bodyPr>
          <a:lstStyle/>
          <a:p>
            <a:r>
              <a:rPr lang="es-CO" dirty="0"/>
              <a:t>Diseño – Ejemplo área de figuras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45314" y="764704"/>
            <a:ext cx="885337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De tareas a funciones</a:t>
            </a:r>
          </a:p>
          <a:p>
            <a:pPr rtl="0"/>
            <a:endParaRPr lang="es-MX" sz="2000" b="1" dirty="0"/>
          </a:p>
          <a:p>
            <a:pPr rtl="0"/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Punto de partida</a:t>
            </a:r>
            <a:r>
              <a:rPr lang="es-MX" sz="2000" dirty="0"/>
              <a:t>: ¿Qué tareas hay en el programa y cómo las dividimos en funciones?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Criterio</a:t>
            </a:r>
            <a:r>
              <a:rPr lang="es-MX" sz="2000" dirty="0"/>
              <a:t>: Una función, una tarea (cohesión funcional)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A603635-C719-4C5B-8D47-47A929F581EE}"/>
              </a:ext>
            </a:extLst>
          </p:cNvPr>
          <p:cNvSpPr txBox="1"/>
          <p:nvPr/>
        </p:nvSpPr>
        <p:spPr>
          <a:xfrm>
            <a:off x="1115616" y="1372706"/>
            <a:ext cx="6912768" cy="40011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s-MX" sz="2000" dirty="0"/>
              <a:t>Análisis ▸ </a:t>
            </a:r>
            <a:r>
              <a:rPr lang="es-MX" sz="2000" b="1" dirty="0">
                <a:solidFill>
                  <a:schemeClr val="accent4"/>
                </a:solidFill>
              </a:rPr>
              <a:t>Diseño</a:t>
            </a:r>
            <a:r>
              <a:rPr lang="es-MX" sz="2000" dirty="0"/>
              <a:t> ▸ Codificación ▸ Pruebas ▸ Integración</a:t>
            </a:r>
            <a:endParaRPr lang="es-CO" sz="20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A227159-6F2D-4EDD-9F0C-E088DFA6B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245250"/>
              </p:ext>
            </p:extLst>
          </p:nvPr>
        </p:nvGraphicFramePr>
        <p:xfrm>
          <a:off x="437541" y="3068960"/>
          <a:ext cx="8382931" cy="3686451"/>
        </p:xfrm>
        <a:graphic>
          <a:graphicData uri="http://schemas.openxmlformats.org/drawingml/2006/table">
            <a:tbl>
              <a:tblPr/>
              <a:tblGrid>
                <a:gridCol w="2808311">
                  <a:extLst>
                    <a:ext uri="{9D8B030D-6E8A-4147-A177-3AD203B41FA5}">
                      <a16:colId xmlns:a16="http://schemas.microsoft.com/office/drawing/2014/main" val="3487888541"/>
                    </a:ext>
                  </a:extLst>
                </a:gridCol>
                <a:gridCol w="2627985">
                  <a:extLst>
                    <a:ext uri="{9D8B030D-6E8A-4147-A177-3AD203B41FA5}">
                      <a16:colId xmlns:a16="http://schemas.microsoft.com/office/drawing/2014/main" val="514553275"/>
                    </a:ext>
                  </a:extLst>
                </a:gridCol>
                <a:gridCol w="1140141">
                  <a:extLst>
                    <a:ext uri="{9D8B030D-6E8A-4147-A177-3AD203B41FA5}">
                      <a16:colId xmlns:a16="http://schemas.microsoft.com/office/drawing/2014/main" val="1277629096"/>
                    </a:ext>
                  </a:extLst>
                </a:gridCol>
                <a:gridCol w="894435">
                  <a:extLst>
                    <a:ext uri="{9D8B030D-6E8A-4147-A177-3AD203B41FA5}">
                      <a16:colId xmlns:a16="http://schemas.microsoft.com/office/drawing/2014/main" val="990760529"/>
                    </a:ext>
                  </a:extLst>
                </a:gridCol>
                <a:gridCol w="912059">
                  <a:extLst>
                    <a:ext uri="{9D8B030D-6E8A-4147-A177-3AD203B41FA5}">
                      <a16:colId xmlns:a16="http://schemas.microsoft.com/office/drawing/2014/main" val="1207181128"/>
                    </a:ext>
                  </a:extLst>
                </a:gridCol>
              </a:tblGrid>
              <a:tr h="275583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chemeClr val="bg1"/>
                          </a:solidFill>
                        </a:rPr>
                        <a:t>Tarea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>
                          <a:solidFill>
                            <a:schemeClr val="bg1"/>
                          </a:solidFill>
                        </a:rPr>
                        <a:t>Función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chemeClr val="bg1"/>
                          </a:solidFill>
                        </a:rPr>
                        <a:t>Parámetros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chemeClr val="bg1"/>
                          </a:solidFill>
                        </a:rPr>
                        <a:t>Retorno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>
                          <a:solidFill>
                            <a:schemeClr val="bg1"/>
                          </a:solidFill>
                        </a:rPr>
                        <a:t>Caso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276824"/>
                  </a:ext>
                </a:extLst>
              </a:tr>
              <a:tr h="482270">
                <a:tc>
                  <a:txBody>
                    <a:bodyPr/>
                    <a:lstStyle/>
                    <a:p>
                      <a:r>
                        <a:rPr lang="es-CO" sz="1600" dirty="0"/>
                        <a:t>Mostrar el menú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mostrar_menu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ninguno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nada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1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779973"/>
                  </a:ext>
                </a:extLst>
              </a:tr>
              <a:tr h="275583">
                <a:tc>
                  <a:txBody>
                    <a:bodyPr/>
                    <a:lstStyle/>
                    <a:p>
                      <a:r>
                        <a:rPr lang="es-CO" sz="1600"/>
                        <a:t>Leer la opción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leer_opcion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ninguno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opcion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2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610924"/>
                  </a:ext>
                </a:extLst>
              </a:tr>
              <a:tr h="688957">
                <a:tc>
                  <a:txBody>
                    <a:bodyPr/>
                    <a:lstStyle/>
                    <a:p>
                      <a:r>
                        <a:rPr lang="es-MX" sz="1600"/>
                        <a:t>Calcular el área del círculo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calcular_area_circulo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radio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area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3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5889967"/>
                  </a:ext>
                </a:extLst>
              </a:tr>
              <a:tr h="688957">
                <a:tc>
                  <a:txBody>
                    <a:bodyPr/>
                    <a:lstStyle/>
                    <a:p>
                      <a:r>
                        <a:rPr lang="es-MX" sz="1600"/>
                        <a:t>Calcular el área del rectángulo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calcular_area_rectangulo</a:t>
                      </a:r>
                      <a:endParaRPr lang="es-CO" sz="1400" dirty="0">
                        <a:latin typeface="Consolas" panose="020B0609020204030204" pitchFamily="49" charset="0"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base, altura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area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3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98882"/>
                  </a:ext>
                </a:extLst>
              </a:tr>
              <a:tr h="688957">
                <a:tc>
                  <a:txBody>
                    <a:bodyPr/>
                    <a:lstStyle/>
                    <a:p>
                      <a:r>
                        <a:rPr lang="es-MX" sz="1600"/>
                        <a:t>Calcular el área del triángulo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calcular_area_triangulo</a:t>
                      </a:r>
                      <a:endParaRPr lang="es-CO" sz="1400" dirty="0">
                        <a:latin typeface="Consolas" panose="020B0609020204030204" pitchFamily="49" charset="0"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base, altura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area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3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910729"/>
                  </a:ext>
                </a:extLst>
              </a:tr>
              <a:tr h="482270">
                <a:tc>
                  <a:txBody>
                    <a:bodyPr/>
                    <a:lstStyle/>
                    <a:p>
                      <a:r>
                        <a:rPr lang="es-CO" sz="1600" dirty="0"/>
                        <a:t>Mostrar el área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 err="1">
                          <a:latin typeface="Consolas" panose="020B0609020204030204" pitchFamily="49" charset="0"/>
                        </a:rPr>
                        <a:t>mostrar_area</a:t>
                      </a:r>
                      <a:endParaRPr lang="es-CO" sz="1400" dirty="0">
                        <a:latin typeface="Consolas" panose="020B0609020204030204" pitchFamily="49" charset="0"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figura, area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Consolas" panose="020B0609020204030204" pitchFamily="49" charset="0"/>
                        </a:rPr>
                        <a:t>nada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4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2079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97938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243110" cy="710952"/>
          </a:xfrm>
        </p:spPr>
        <p:txBody>
          <a:bodyPr>
            <a:normAutofit fontScale="90000"/>
          </a:bodyPr>
          <a:lstStyle/>
          <a:p>
            <a:r>
              <a:rPr lang="es-CO" dirty="0"/>
              <a:t>Codificación – Ejemplo area de figuras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45314" y="1372706"/>
            <a:ext cx="88533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Funciones</a:t>
            </a:r>
            <a:endParaRPr lang="es-MX"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189444-D0B3-4EC6-B12B-07FC6F77DE92}"/>
              </a:ext>
            </a:extLst>
          </p:cNvPr>
          <p:cNvSpPr txBox="1"/>
          <p:nvPr/>
        </p:nvSpPr>
        <p:spPr>
          <a:xfrm>
            <a:off x="467544" y="2148246"/>
            <a:ext cx="366112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200" dirty="0" err="1">
                <a:latin typeface="Consolas" panose="020B0609020204030204" pitchFamily="49" charset="0"/>
              </a:rPr>
              <a:t>def</a:t>
            </a:r>
            <a:r>
              <a:rPr lang="pt-BR" sz="1200" dirty="0">
                <a:latin typeface="Consolas" panose="020B0609020204030204" pitchFamily="49" charset="0"/>
              </a:rPr>
              <a:t> </a:t>
            </a:r>
            <a:r>
              <a:rPr lang="pt-BR" sz="1200" dirty="0" err="1">
                <a:latin typeface="Consolas" panose="020B0609020204030204" pitchFamily="49" charset="0"/>
              </a:rPr>
              <a:t>mostrar_menu</a:t>
            </a:r>
            <a:r>
              <a:rPr lang="pt-BR" sz="1200" dirty="0">
                <a:latin typeface="Consolas" panose="020B0609020204030204" pitchFamily="49" charset="0"/>
              </a:rPr>
              <a:t>():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    print("\n--- Áreas de figuras ---")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    print("1. Círculo")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    print("2. </a:t>
            </a:r>
            <a:r>
              <a:rPr lang="pt-BR" sz="1200" dirty="0" err="1">
                <a:latin typeface="Consolas" panose="020B0609020204030204" pitchFamily="49" charset="0"/>
              </a:rPr>
              <a:t>Rectángulo</a:t>
            </a:r>
            <a:r>
              <a:rPr lang="pt-BR" sz="1200" dirty="0">
                <a:latin typeface="Consolas" panose="020B0609020204030204" pitchFamily="49" charset="0"/>
              </a:rPr>
              <a:t>")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    print("3. </a:t>
            </a:r>
            <a:r>
              <a:rPr lang="pt-BR" sz="1200" dirty="0" err="1">
                <a:latin typeface="Consolas" panose="020B0609020204030204" pitchFamily="49" charset="0"/>
              </a:rPr>
              <a:t>Triángulo</a:t>
            </a:r>
            <a:r>
              <a:rPr lang="pt-BR" sz="1200" dirty="0">
                <a:latin typeface="Consolas" panose="020B0609020204030204" pitchFamily="49" charset="0"/>
              </a:rPr>
              <a:t>")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    print("4. </a:t>
            </a:r>
            <a:r>
              <a:rPr lang="pt-BR" sz="1200" dirty="0" err="1">
                <a:latin typeface="Consolas" panose="020B0609020204030204" pitchFamily="49" charset="0"/>
              </a:rPr>
              <a:t>Salir</a:t>
            </a:r>
            <a:r>
              <a:rPr lang="pt-BR" sz="1200" dirty="0">
                <a:latin typeface="Consolas" panose="020B0609020204030204" pitchFamily="49" charset="0"/>
              </a:rPr>
              <a:t>")</a:t>
            </a:r>
            <a:endParaRPr lang="es-CO" sz="1200" dirty="0">
              <a:latin typeface="Consolas" panose="020B0609020204030204" pitchFamily="49" charset="0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C63A8E9B-82B9-4770-93B5-7D154CEF20FC}"/>
              </a:ext>
            </a:extLst>
          </p:cNvPr>
          <p:cNvGrpSpPr/>
          <p:nvPr/>
        </p:nvGrpSpPr>
        <p:grpSpPr>
          <a:xfrm>
            <a:off x="5652120" y="2009820"/>
            <a:ext cx="1872208" cy="1202649"/>
            <a:chOff x="1907704" y="4386590"/>
            <a:chExt cx="1872208" cy="1202649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04578CA4-65E3-4B01-9DA0-992868B2C601}"/>
                </a:ext>
              </a:extLst>
            </p:cNvPr>
            <p:cNvSpPr/>
            <p:nvPr/>
          </p:nvSpPr>
          <p:spPr>
            <a:xfrm>
              <a:off x="1907704" y="4725143"/>
              <a:ext cx="1872208" cy="8640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latin typeface="Consolas" panose="020B0609020204030204" pitchFamily="49" charset="0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653730FF-95BB-48D6-9FE8-0E90E337AD0E}"/>
                </a:ext>
              </a:extLst>
            </p:cNvPr>
            <p:cNvSpPr txBox="1"/>
            <p:nvPr/>
          </p:nvSpPr>
          <p:spPr>
            <a:xfrm>
              <a:off x="1979712" y="4386590"/>
              <a:ext cx="1800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b="1" dirty="0">
                  <a:latin typeface="Consolas" panose="020B0609020204030204" pitchFamily="49" charset="0"/>
                </a:rPr>
                <a:t>mostrar_menu</a:t>
              </a: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06F39A92-6DAC-446B-B35C-652A6C309FEC}"/>
              </a:ext>
            </a:extLst>
          </p:cNvPr>
          <p:cNvSpPr txBox="1"/>
          <p:nvPr/>
        </p:nvSpPr>
        <p:spPr>
          <a:xfrm>
            <a:off x="467543" y="4088143"/>
            <a:ext cx="366112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200" dirty="0" err="1">
                <a:latin typeface="Consolas" panose="020B0609020204030204" pitchFamily="49" charset="0"/>
              </a:rPr>
              <a:t>def</a:t>
            </a:r>
            <a:r>
              <a:rPr lang="pt-BR" sz="1200" dirty="0">
                <a:latin typeface="Consolas" panose="020B0609020204030204" pitchFamily="49" charset="0"/>
              </a:rPr>
              <a:t> </a:t>
            </a:r>
            <a:r>
              <a:rPr lang="pt-BR" sz="1200" dirty="0" err="1">
                <a:latin typeface="Consolas" panose="020B0609020204030204" pitchFamily="49" charset="0"/>
              </a:rPr>
              <a:t>leer_opcion</a:t>
            </a:r>
            <a:r>
              <a:rPr lang="pt-BR" sz="1200" dirty="0">
                <a:latin typeface="Consolas" panose="020B0609020204030204" pitchFamily="49" charset="0"/>
              </a:rPr>
              <a:t>():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    </a:t>
            </a:r>
            <a:r>
              <a:rPr lang="pt-BR" sz="1200" dirty="0" err="1">
                <a:latin typeface="Consolas" panose="020B0609020204030204" pitchFamily="49" charset="0"/>
              </a:rPr>
              <a:t>opcion</a:t>
            </a:r>
            <a:r>
              <a:rPr lang="pt-BR" sz="1200" dirty="0">
                <a:latin typeface="Consolas" panose="020B0609020204030204" pitchFamily="49" charset="0"/>
              </a:rPr>
              <a:t> = input("</a:t>
            </a:r>
            <a:r>
              <a:rPr lang="pt-BR" sz="1200" dirty="0" err="1">
                <a:latin typeface="Consolas" panose="020B0609020204030204" pitchFamily="49" charset="0"/>
              </a:rPr>
              <a:t>Opción</a:t>
            </a:r>
            <a:r>
              <a:rPr lang="pt-BR" sz="1200" dirty="0">
                <a:latin typeface="Consolas" panose="020B0609020204030204" pitchFamily="49" charset="0"/>
              </a:rPr>
              <a:t>: ")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    </a:t>
            </a:r>
            <a:r>
              <a:rPr lang="pt-BR" sz="1200" dirty="0" err="1">
                <a:latin typeface="Consolas" panose="020B0609020204030204" pitchFamily="49" charset="0"/>
              </a:rPr>
              <a:t>return</a:t>
            </a:r>
            <a:r>
              <a:rPr lang="pt-BR" sz="1200" dirty="0">
                <a:latin typeface="Consolas" panose="020B0609020204030204" pitchFamily="49" charset="0"/>
              </a:rPr>
              <a:t> </a:t>
            </a:r>
            <a:r>
              <a:rPr lang="pt-BR" sz="1200" dirty="0" err="1">
                <a:latin typeface="Consolas" panose="020B0609020204030204" pitchFamily="49" charset="0"/>
              </a:rPr>
              <a:t>opcion</a:t>
            </a:r>
            <a:endParaRPr lang="es-CO" sz="1200" dirty="0">
              <a:latin typeface="Consolas" panose="020B0609020204030204" pitchFamily="49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016E39AD-E261-4EFA-B1D8-0B4524A5F82A}"/>
              </a:ext>
            </a:extLst>
          </p:cNvPr>
          <p:cNvGrpSpPr/>
          <p:nvPr/>
        </p:nvGrpSpPr>
        <p:grpSpPr>
          <a:xfrm>
            <a:off x="5652120" y="3738519"/>
            <a:ext cx="2376263" cy="1202649"/>
            <a:chOff x="5652120" y="4386591"/>
            <a:chExt cx="2376263" cy="1202649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7401A357-E4C8-4E8F-AF3F-11CE2C4F3BED}"/>
                </a:ext>
              </a:extLst>
            </p:cNvPr>
            <p:cNvGrpSpPr/>
            <p:nvPr/>
          </p:nvGrpSpPr>
          <p:grpSpPr>
            <a:xfrm>
              <a:off x="5652120" y="4386591"/>
              <a:ext cx="1872208" cy="1202649"/>
              <a:chOff x="1907704" y="4386590"/>
              <a:chExt cx="1872208" cy="1202649"/>
            </a:xfrm>
          </p:grpSpPr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483BC3B5-B711-42C9-9BC1-505EC9BB95F3}"/>
                  </a:ext>
                </a:extLst>
              </p:cNvPr>
              <p:cNvSpPr/>
              <p:nvPr/>
            </p:nvSpPr>
            <p:spPr>
              <a:xfrm>
                <a:off x="1907704" y="4725143"/>
                <a:ext cx="1872208" cy="8640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BF46E62F-A72D-467D-A23B-2E47BE0B638F}"/>
                  </a:ext>
                </a:extLst>
              </p:cNvPr>
              <p:cNvSpPr txBox="1"/>
              <p:nvPr/>
            </p:nvSpPr>
            <p:spPr>
              <a:xfrm>
                <a:off x="1979712" y="4386590"/>
                <a:ext cx="1800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600" b="1" dirty="0">
                    <a:latin typeface="Consolas" panose="020B0609020204030204" pitchFamily="49" charset="0"/>
                  </a:rPr>
                  <a:t>leer_opcion</a:t>
                </a:r>
              </a:p>
            </p:txBody>
          </p:sp>
        </p:grpSp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B2BF1026-B037-4055-A414-F948BFB47091}"/>
                </a:ext>
              </a:extLst>
            </p:cNvPr>
            <p:cNvCxnSpPr>
              <a:cxnSpLocks/>
            </p:cNvCxnSpPr>
            <p:nvPr/>
          </p:nvCxnSpPr>
          <p:spPr>
            <a:xfrm>
              <a:off x="7524328" y="5157192"/>
              <a:ext cx="50405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D542486C-0C41-4060-A68C-3933DF240B23}"/>
                </a:ext>
              </a:extLst>
            </p:cNvPr>
            <p:cNvSpPr txBox="1"/>
            <p:nvPr/>
          </p:nvSpPr>
          <p:spPr>
            <a:xfrm>
              <a:off x="6726899" y="4987014"/>
              <a:ext cx="7974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opcion</a:t>
              </a:r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AB99A86-49BD-4C9B-9C53-58343DF7ECDD}"/>
              </a:ext>
            </a:extLst>
          </p:cNvPr>
          <p:cNvSpPr txBox="1"/>
          <p:nvPr/>
        </p:nvSpPr>
        <p:spPr>
          <a:xfrm>
            <a:off x="496143" y="5581689"/>
            <a:ext cx="3661121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PI = 3.1416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def calcular_area_circulo(radio):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area = PI * radio ** 2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return area</a:t>
            </a:r>
            <a:endParaRPr lang="es-CO" sz="1200" dirty="0">
              <a:latin typeface="Consolas" panose="020B0609020204030204" pitchFamily="49" charset="0"/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188F2191-47FB-4FCF-B65C-51015DD39ADF}"/>
              </a:ext>
            </a:extLst>
          </p:cNvPr>
          <p:cNvGrpSpPr/>
          <p:nvPr/>
        </p:nvGrpSpPr>
        <p:grpSpPr>
          <a:xfrm>
            <a:off x="5148064" y="5461188"/>
            <a:ext cx="2880319" cy="1208172"/>
            <a:chOff x="5580112" y="2209800"/>
            <a:chExt cx="2880319" cy="1208172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6A62F450-DEFA-46DC-B7FD-D6780BDB06F0}"/>
                </a:ext>
              </a:extLst>
            </p:cNvPr>
            <p:cNvGrpSpPr/>
            <p:nvPr/>
          </p:nvGrpSpPr>
          <p:grpSpPr>
            <a:xfrm>
              <a:off x="5652120" y="2209800"/>
              <a:ext cx="2664295" cy="1208172"/>
              <a:chOff x="1475656" y="4381067"/>
              <a:chExt cx="2664295" cy="1208172"/>
            </a:xfrm>
          </p:grpSpPr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69B9E1A9-CA67-47A2-B1E6-46A064B62F8C}"/>
                  </a:ext>
                </a:extLst>
              </p:cNvPr>
              <p:cNvSpPr/>
              <p:nvPr/>
            </p:nvSpPr>
            <p:spPr>
              <a:xfrm>
                <a:off x="1907704" y="4725143"/>
                <a:ext cx="1872208" cy="8640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4A1B0CAB-C3C0-4EC3-A6A7-70CF78F47368}"/>
                  </a:ext>
                </a:extLst>
              </p:cNvPr>
              <p:cNvSpPr txBox="1"/>
              <p:nvPr/>
            </p:nvSpPr>
            <p:spPr>
              <a:xfrm>
                <a:off x="1475656" y="4381067"/>
                <a:ext cx="266429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600" b="1" dirty="0">
                    <a:latin typeface="Consolas" panose="020B0609020204030204" pitchFamily="49" charset="0"/>
                  </a:rPr>
                  <a:t>calcular_area_circulo</a:t>
                </a:r>
              </a:p>
            </p:txBody>
          </p:sp>
        </p:grp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18AAD425-2C2F-421F-AE42-5157F1103A03}"/>
                </a:ext>
              </a:extLst>
            </p:cNvPr>
            <p:cNvSpPr txBox="1"/>
            <p:nvPr/>
          </p:nvSpPr>
          <p:spPr>
            <a:xfrm>
              <a:off x="6084168" y="2833191"/>
              <a:ext cx="9361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radio</a:t>
              </a:r>
            </a:p>
          </p:txBody>
        </p:sp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A3265A4E-87F8-4DC5-A4AC-AFF7C6D74B84}"/>
                </a:ext>
              </a:extLst>
            </p:cNvPr>
            <p:cNvCxnSpPr>
              <a:cxnSpLocks/>
            </p:cNvCxnSpPr>
            <p:nvPr/>
          </p:nvCxnSpPr>
          <p:spPr>
            <a:xfrm>
              <a:off x="5580112" y="2996952"/>
              <a:ext cx="50405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E6FC3BBB-466C-4A13-9C1A-31C5117AEFD5}"/>
                </a:ext>
              </a:extLst>
            </p:cNvPr>
            <p:cNvCxnSpPr>
              <a:cxnSpLocks/>
            </p:cNvCxnSpPr>
            <p:nvPr/>
          </p:nvCxnSpPr>
          <p:spPr>
            <a:xfrm>
              <a:off x="7956376" y="2996952"/>
              <a:ext cx="50405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E20A259C-24ED-44DA-BDB0-E44C578CDAE3}"/>
                </a:ext>
              </a:extLst>
            </p:cNvPr>
            <p:cNvSpPr txBox="1"/>
            <p:nvPr/>
          </p:nvSpPr>
          <p:spPr>
            <a:xfrm>
              <a:off x="7328937" y="2834800"/>
              <a:ext cx="6015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area</a:t>
              </a:r>
            </a:p>
          </p:txBody>
        </p:sp>
      </p:grp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470EF63-E31B-4BFB-B18A-E4353B26354E}"/>
              </a:ext>
            </a:extLst>
          </p:cNvPr>
          <p:cNvSpPr txBox="1"/>
          <p:nvPr/>
        </p:nvSpPr>
        <p:spPr>
          <a:xfrm>
            <a:off x="1115616" y="908720"/>
            <a:ext cx="6912768" cy="40011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s-MX" sz="2000" dirty="0"/>
              <a:t>Análisis ▸ Diseño ▸ </a:t>
            </a:r>
            <a:r>
              <a:rPr lang="es-MX" sz="2000" b="1" dirty="0">
                <a:solidFill>
                  <a:schemeClr val="accent4"/>
                </a:solidFill>
              </a:rPr>
              <a:t>Codificación</a:t>
            </a:r>
            <a:r>
              <a:rPr lang="es-MX" sz="2000" dirty="0"/>
              <a:t> ▸ Pruebas ▸ Integración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8501815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243110" cy="710952"/>
          </a:xfrm>
        </p:spPr>
        <p:txBody>
          <a:bodyPr>
            <a:normAutofit fontScale="90000"/>
          </a:bodyPr>
          <a:lstStyle/>
          <a:p>
            <a:r>
              <a:rPr lang="es-CO" dirty="0"/>
              <a:t>Codificación – Ejemplo area de figuras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45314" y="1444714"/>
            <a:ext cx="88533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Funciones</a:t>
            </a:r>
            <a:endParaRPr lang="es-MX"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189444-D0B3-4EC6-B12B-07FC6F77DE92}"/>
              </a:ext>
            </a:extLst>
          </p:cNvPr>
          <p:cNvSpPr txBox="1"/>
          <p:nvPr/>
        </p:nvSpPr>
        <p:spPr>
          <a:xfrm>
            <a:off x="467544" y="2240442"/>
            <a:ext cx="410445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200" dirty="0" err="1">
                <a:latin typeface="Consolas" panose="020B0609020204030204" pitchFamily="49" charset="0"/>
              </a:rPr>
              <a:t>def</a:t>
            </a:r>
            <a:r>
              <a:rPr lang="pt-BR" sz="1200" dirty="0">
                <a:latin typeface="Consolas" panose="020B0609020204030204" pitchFamily="49" charset="0"/>
              </a:rPr>
              <a:t> </a:t>
            </a:r>
            <a:r>
              <a:rPr lang="pt-BR" sz="1200" dirty="0" err="1">
                <a:latin typeface="Consolas" panose="020B0609020204030204" pitchFamily="49" charset="0"/>
              </a:rPr>
              <a:t>calcular_area_rectangulo</a:t>
            </a:r>
            <a:r>
              <a:rPr lang="pt-BR" sz="1200" dirty="0">
                <a:latin typeface="Consolas" panose="020B0609020204030204" pitchFamily="49" charset="0"/>
              </a:rPr>
              <a:t>(base, altura):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    </a:t>
            </a:r>
            <a:r>
              <a:rPr lang="pt-BR" sz="1200" dirty="0" err="1">
                <a:latin typeface="Consolas" panose="020B0609020204030204" pitchFamily="49" charset="0"/>
              </a:rPr>
              <a:t>area</a:t>
            </a:r>
            <a:r>
              <a:rPr lang="pt-BR" sz="1200" dirty="0">
                <a:latin typeface="Consolas" panose="020B0609020204030204" pitchFamily="49" charset="0"/>
              </a:rPr>
              <a:t> = base * altura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    </a:t>
            </a:r>
            <a:r>
              <a:rPr lang="pt-BR" sz="1200" dirty="0" err="1">
                <a:latin typeface="Consolas" panose="020B0609020204030204" pitchFamily="49" charset="0"/>
              </a:rPr>
              <a:t>return</a:t>
            </a:r>
            <a:r>
              <a:rPr lang="pt-BR" sz="1200" dirty="0">
                <a:latin typeface="Consolas" panose="020B0609020204030204" pitchFamily="49" charset="0"/>
              </a:rPr>
              <a:t> </a:t>
            </a:r>
            <a:r>
              <a:rPr lang="pt-BR" sz="1200" dirty="0" err="1">
                <a:latin typeface="Consolas" panose="020B0609020204030204" pitchFamily="49" charset="0"/>
              </a:rPr>
              <a:t>area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6F39A92-6DAC-446B-B35C-652A6C309FEC}"/>
              </a:ext>
            </a:extLst>
          </p:cNvPr>
          <p:cNvSpPr txBox="1"/>
          <p:nvPr/>
        </p:nvSpPr>
        <p:spPr>
          <a:xfrm>
            <a:off x="467544" y="3941308"/>
            <a:ext cx="409911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200" dirty="0" err="1">
                <a:latin typeface="Consolas" panose="020B0609020204030204" pitchFamily="49" charset="0"/>
              </a:rPr>
              <a:t>def</a:t>
            </a:r>
            <a:r>
              <a:rPr lang="pt-BR" sz="1200" dirty="0">
                <a:latin typeface="Consolas" panose="020B0609020204030204" pitchFamily="49" charset="0"/>
              </a:rPr>
              <a:t> </a:t>
            </a:r>
            <a:r>
              <a:rPr lang="pt-BR" sz="1200" dirty="0" err="1">
                <a:latin typeface="Consolas" panose="020B0609020204030204" pitchFamily="49" charset="0"/>
              </a:rPr>
              <a:t>calcular_area_triangulo</a:t>
            </a:r>
            <a:r>
              <a:rPr lang="pt-BR" sz="1200" dirty="0">
                <a:latin typeface="Consolas" panose="020B0609020204030204" pitchFamily="49" charset="0"/>
              </a:rPr>
              <a:t>(base, altura):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    </a:t>
            </a:r>
            <a:r>
              <a:rPr lang="pt-BR" sz="1200" dirty="0" err="1">
                <a:latin typeface="Consolas" panose="020B0609020204030204" pitchFamily="49" charset="0"/>
              </a:rPr>
              <a:t>area</a:t>
            </a:r>
            <a:r>
              <a:rPr lang="pt-BR" sz="1200" dirty="0">
                <a:latin typeface="Consolas" panose="020B0609020204030204" pitchFamily="49" charset="0"/>
              </a:rPr>
              <a:t> = base * altura / 2</a:t>
            </a:r>
          </a:p>
          <a:p>
            <a:r>
              <a:rPr lang="pt-BR" sz="1200" dirty="0">
                <a:latin typeface="Consolas" panose="020B0609020204030204" pitchFamily="49" charset="0"/>
              </a:rPr>
              <a:t>    </a:t>
            </a:r>
            <a:r>
              <a:rPr lang="pt-BR" sz="1200" dirty="0" err="1">
                <a:latin typeface="Consolas" panose="020B0609020204030204" pitchFamily="49" charset="0"/>
              </a:rPr>
              <a:t>return</a:t>
            </a:r>
            <a:r>
              <a:rPr lang="pt-BR" sz="1200" dirty="0">
                <a:latin typeface="Consolas" panose="020B0609020204030204" pitchFamily="49" charset="0"/>
              </a:rPr>
              <a:t> </a:t>
            </a:r>
            <a:r>
              <a:rPr lang="pt-BR" sz="1200" dirty="0" err="1">
                <a:latin typeface="Consolas" panose="020B0609020204030204" pitchFamily="49" charset="0"/>
              </a:rPr>
              <a:t>area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AB99A86-49BD-4C9B-9C53-58343DF7ECDD}"/>
              </a:ext>
            </a:extLst>
          </p:cNvPr>
          <p:cNvSpPr txBox="1"/>
          <p:nvPr/>
        </p:nvSpPr>
        <p:spPr>
          <a:xfrm>
            <a:off x="496143" y="5745893"/>
            <a:ext cx="407051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def </a:t>
            </a:r>
            <a:r>
              <a:rPr lang="en-US" sz="1200" dirty="0" err="1">
                <a:latin typeface="Consolas" panose="020B0609020204030204" pitchFamily="49" charset="0"/>
              </a:rPr>
              <a:t>mostrar_area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figura</a:t>
            </a:r>
            <a:r>
              <a:rPr lang="en-US" sz="1200" dirty="0">
                <a:latin typeface="Consolas" panose="020B0609020204030204" pitchFamily="49" charset="0"/>
              </a:rPr>
              <a:t>, area):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print(</a:t>
            </a:r>
            <a:r>
              <a:rPr lang="en-US" sz="1200" dirty="0" err="1">
                <a:latin typeface="Consolas" panose="020B0609020204030204" pitchFamily="49" charset="0"/>
              </a:rPr>
              <a:t>f"Área</a:t>
            </a:r>
            <a:r>
              <a:rPr lang="en-US" sz="1200" dirty="0">
                <a:latin typeface="Consolas" panose="020B0609020204030204" pitchFamily="49" charset="0"/>
              </a:rPr>
              <a:t> del {</a:t>
            </a:r>
            <a:r>
              <a:rPr lang="en-US" sz="1200" dirty="0" err="1">
                <a:latin typeface="Consolas" panose="020B0609020204030204" pitchFamily="49" charset="0"/>
              </a:rPr>
              <a:t>figura</a:t>
            </a:r>
            <a:r>
              <a:rPr lang="en-US" sz="1200" dirty="0">
                <a:latin typeface="Consolas" panose="020B0609020204030204" pitchFamily="49" charset="0"/>
              </a:rPr>
              <a:t>}: {area:.2f}")</a:t>
            </a:r>
            <a:endParaRPr lang="es-CO" sz="1200" dirty="0">
              <a:latin typeface="Consolas" panose="020B0609020204030204" pitchFamily="49" charset="0"/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188F2191-47FB-4FCF-B65C-51015DD39ADF}"/>
              </a:ext>
            </a:extLst>
          </p:cNvPr>
          <p:cNvGrpSpPr/>
          <p:nvPr/>
        </p:nvGrpSpPr>
        <p:grpSpPr>
          <a:xfrm>
            <a:off x="5580112" y="5245164"/>
            <a:ext cx="2880319" cy="1208172"/>
            <a:chOff x="5580112" y="2209800"/>
            <a:chExt cx="2880319" cy="1208172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6A62F450-DEFA-46DC-B7FD-D6780BDB06F0}"/>
                </a:ext>
              </a:extLst>
            </p:cNvPr>
            <p:cNvGrpSpPr/>
            <p:nvPr/>
          </p:nvGrpSpPr>
          <p:grpSpPr>
            <a:xfrm>
              <a:off x="6084167" y="2209800"/>
              <a:ext cx="1872209" cy="1208172"/>
              <a:chOff x="1907703" y="4381067"/>
              <a:chExt cx="1872209" cy="1208172"/>
            </a:xfrm>
          </p:grpSpPr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69B9E1A9-CA67-47A2-B1E6-46A064B62F8C}"/>
                  </a:ext>
                </a:extLst>
              </p:cNvPr>
              <p:cNvSpPr/>
              <p:nvPr/>
            </p:nvSpPr>
            <p:spPr>
              <a:xfrm>
                <a:off x="1907704" y="4725143"/>
                <a:ext cx="1872208" cy="86409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4A1B0CAB-C3C0-4EC3-A6A7-70CF78F47368}"/>
                  </a:ext>
                </a:extLst>
              </p:cNvPr>
              <p:cNvSpPr txBox="1"/>
              <p:nvPr/>
            </p:nvSpPr>
            <p:spPr>
              <a:xfrm>
                <a:off x="1907703" y="4381067"/>
                <a:ext cx="184782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600" b="1" dirty="0">
                    <a:latin typeface="Consolas" panose="020B0609020204030204" pitchFamily="49" charset="0"/>
                  </a:rPr>
                  <a:t>mostrar_area</a:t>
                </a:r>
              </a:p>
            </p:txBody>
          </p:sp>
        </p:grp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18AAD425-2C2F-421F-AE42-5157F1103A03}"/>
                </a:ext>
              </a:extLst>
            </p:cNvPr>
            <p:cNvSpPr txBox="1"/>
            <p:nvPr/>
          </p:nvSpPr>
          <p:spPr>
            <a:xfrm>
              <a:off x="6084168" y="2833191"/>
              <a:ext cx="9361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radio</a:t>
              </a:r>
            </a:p>
          </p:txBody>
        </p:sp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A3265A4E-87F8-4DC5-A4AC-AFF7C6D74B84}"/>
                </a:ext>
              </a:extLst>
            </p:cNvPr>
            <p:cNvCxnSpPr>
              <a:cxnSpLocks/>
            </p:cNvCxnSpPr>
            <p:nvPr/>
          </p:nvCxnSpPr>
          <p:spPr>
            <a:xfrm>
              <a:off x="5580112" y="2996952"/>
              <a:ext cx="50405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E6FC3BBB-466C-4A13-9C1A-31C5117AEFD5}"/>
                </a:ext>
              </a:extLst>
            </p:cNvPr>
            <p:cNvCxnSpPr>
              <a:cxnSpLocks/>
            </p:cNvCxnSpPr>
            <p:nvPr/>
          </p:nvCxnSpPr>
          <p:spPr>
            <a:xfrm>
              <a:off x="7956376" y="2996952"/>
              <a:ext cx="50405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E20A259C-24ED-44DA-BDB0-E44C578CDAE3}"/>
                </a:ext>
              </a:extLst>
            </p:cNvPr>
            <p:cNvSpPr txBox="1"/>
            <p:nvPr/>
          </p:nvSpPr>
          <p:spPr>
            <a:xfrm>
              <a:off x="7282458" y="2833886"/>
              <a:ext cx="6015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area</a:t>
              </a: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2C4CC053-F8E5-4C72-B5FC-06409BA0150A}"/>
              </a:ext>
            </a:extLst>
          </p:cNvPr>
          <p:cNvGrpSpPr/>
          <p:nvPr/>
        </p:nvGrpSpPr>
        <p:grpSpPr>
          <a:xfrm>
            <a:off x="5580112" y="1826717"/>
            <a:ext cx="2927854" cy="1202649"/>
            <a:chOff x="4932040" y="1598056"/>
            <a:chExt cx="2927854" cy="1202649"/>
          </a:xfrm>
        </p:grpSpPr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7EA01AAB-7668-436B-B5F3-BC38443EB8AC}"/>
                </a:ext>
              </a:extLst>
            </p:cNvPr>
            <p:cNvGrpSpPr/>
            <p:nvPr/>
          </p:nvGrpSpPr>
          <p:grpSpPr>
            <a:xfrm>
              <a:off x="4932040" y="1598056"/>
              <a:ext cx="2902008" cy="1202649"/>
              <a:chOff x="5244546" y="4660102"/>
              <a:chExt cx="2902008" cy="1202649"/>
            </a:xfrm>
          </p:grpSpPr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40451339-A889-47F3-BEB5-23E9F48CD3B5}"/>
                  </a:ext>
                </a:extLst>
              </p:cNvPr>
              <p:cNvGrpSpPr/>
              <p:nvPr/>
            </p:nvGrpSpPr>
            <p:grpSpPr>
              <a:xfrm>
                <a:off x="5244546" y="4660102"/>
                <a:ext cx="2902008" cy="1202649"/>
                <a:chOff x="1356113" y="4386590"/>
                <a:chExt cx="2902008" cy="1202649"/>
              </a:xfrm>
            </p:grpSpPr>
            <p:sp>
              <p:nvSpPr>
                <p:cNvPr id="32" name="Rectángulo 31">
                  <a:extLst>
                    <a:ext uri="{FF2B5EF4-FFF2-40B4-BE49-F238E27FC236}">
                      <a16:creationId xmlns:a16="http://schemas.microsoft.com/office/drawing/2014/main" id="{3EA09FB8-00A3-4C1B-A931-E49A7FAF8B10}"/>
                    </a:ext>
                  </a:extLst>
                </p:cNvPr>
                <p:cNvSpPr/>
                <p:nvPr/>
              </p:nvSpPr>
              <p:spPr>
                <a:xfrm>
                  <a:off x="1907704" y="4725143"/>
                  <a:ext cx="1872208" cy="86409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EFB1D037-ECCD-45FE-9F12-C1532A2C8E0C}"/>
                    </a:ext>
                  </a:extLst>
                </p:cNvPr>
                <p:cNvSpPr txBox="1"/>
                <p:nvPr/>
              </p:nvSpPr>
              <p:spPr>
                <a:xfrm>
                  <a:off x="1356113" y="4386590"/>
                  <a:ext cx="290200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600" b="1" dirty="0">
                      <a:latin typeface="Consolas" panose="020B0609020204030204" pitchFamily="49" charset="0"/>
                    </a:rPr>
                    <a:t>calcular_area_rectangulo</a:t>
                  </a:r>
                  <a:endParaRPr lang="es-CO" sz="1600" b="1" dirty="0">
                    <a:latin typeface="Consolas" panose="020B0609020204030204" pitchFamily="49" charset="0"/>
                  </a:endParaRPr>
                </a:p>
              </p:txBody>
            </p:sp>
          </p:grpSp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5574B871-DA11-4827-80C7-D5848466DC5C}"/>
                  </a:ext>
                </a:extLst>
              </p:cNvPr>
              <p:cNvSpPr txBox="1"/>
              <p:nvPr/>
            </p:nvSpPr>
            <p:spPr>
              <a:xfrm>
                <a:off x="5796138" y="5113054"/>
                <a:ext cx="936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400" b="1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base</a:t>
                </a:r>
              </a:p>
            </p:txBody>
          </p:sp>
          <p:cxnSp>
            <p:nvCxnSpPr>
              <p:cNvPr id="29" name="Conector recto de flecha 28">
                <a:extLst>
                  <a:ext uri="{FF2B5EF4-FFF2-40B4-BE49-F238E27FC236}">
                    <a16:creationId xmlns:a16="http://schemas.microsoft.com/office/drawing/2014/main" id="{A1BAF464-AA08-4449-81D8-A2C5744BA2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92082" y="5276815"/>
                <a:ext cx="50405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7A44DE78-98DA-418F-A2FA-3F6FD99252E3}"/>
                  </a:ext>
                </a:extLst>
              </p:cNvPr>
              <p:cNvSpPr txBox="1"/>
              <p:nvPr/>
            </p:nvSpPr>
            <p:spPr>
              <a:xfrm>
                <a:off x="5796136" y="5425479"/>
                <a:ext cx="936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400" b="1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altura</a:t>
                </a:r>
              </a:p>
            </p:txBody>
          </p:sp>
          <p:cxnSp>
            <p:nvCxnSpPr>
              <p:cNvPr id="31" name="Conector recto de flecha 30">
                <a:extLst>
                  <a:ext uri="{FF2B5EF4-FFF2-40B4-BE49-F238E27FC236}">
                    <a16:creationId xmlns:a16="http://schemas.microsoft.com/office/drawing/2014/main" id="{605CC77E-FA91-477A-A36D-C1463E0A4C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92080" y="5589240"/>
                <a:ext cx="50405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D7B70764-A61C-4423-B27B-CEB53000C234}"/>
                </a:ext>
              </a:extLst>
            </p:cNvPr>
            <p:cNvCxnSpPr>
              <a:cxnSpLocks/>
            </p:cNvCxnSpPr>
            <p:nvPr/>
          </p:nvCxnSpPr>
          <p:spPr>
            <a:xfrm>
              <a:off x="7355839" y="2358785"/>
              <a:ext cx="50405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7EFE0758-A5DB-42B2-81B5-004E970333CC}"/>
                </a:ext>
              </a:extLst>
            </p:cNvPr>
            <p:cNvSpPr txBox="1"/>
            <p:nvPr/>
          </p:nvSpPr>
          <p:spPr>
            <a:xfrm>
              <a:off x="6705477" y="2193908"/>
              <a:ext cx="6015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area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21627196-3B96-462E-8E70-4C630320DC5B}"/>
              </a:ext>
            </a:extLst>
          </p:cNvPr>
          <p:cNvGrpSpPr/>
          <p:nvPr/>
        </p:nvGrpSpPr>
        <p:grpSpPr>
          <a:xfrm>
            <a:off x="5580112" y="3535132"/>
            <a:ext cx="2927854" cy="1202649"/>
            <a:chOff x="4932040" y="1598056"/>
            <a:chExt cx="2927854" cy="1202649"/>
          </a:xfrm>
        </p:grpSpPr>
        <p:grpSp>
          <p:nvGrpSpPr>
            <p:cNvPr id="37" name="Grupo 36">
              <a:extLst>
                <a:ext uri="{FF2B5EF4-FFF2-40B4-BE49-F238E27FC236}">
                  <a16:creationId xmlns:a16="http://schemas.microsoft.com/office/drawing/2014/main" id="{01269C69-B87A-4CB1-920F-8338DD4B7CA0}"/>
                </a:ext>
              </a:extLst>
            </p:cNvPr>
            <p:cNvGrpSpPr/>
            <p:nvPr/>
          </p:nvGrpSpPr>
          <p:grpSpPr>
            <a:xfrm>
              <a:off x="4932040" y="1598056"/>
              <a:ext cx="2902008" cy="1202649"/>
              <a:chOff x="5244546" y="4660102"/>
              <a:chExt cx="2902008" cy="1202649"/>
            </a:xfrm>
          </p:grpSpPr>
          <p:grpSp>
            <p:nvGrpSpPr>
              <p:cNvPr id="40" name="Grupo 39">
                <a:extLst>
                  <a:ext uri="{FF2B5EF4-FFF2-40B4-BE49-F238E27FC236}">
                    <a16:creationId xmlns:a16="http://schemas.microsoft.com/office/drawing/2014/main" id="{E3EA2ACD-2857-45BF-9B43-1AEBAE8A0189}"/>
                  </a:ext>
                </a:extLst>
              </p:cNvPr>
              <p:cNvGrpSpPr/>
              <p:nvPr/>
            </p:nvGrpSpPr>
            <p:grpSpPr>
              <a:xfrm>
                <a:off x="5244546" y="4660102"/>
                <a:ext cx="2902008" cy="1202649"/>
                <a:chOff x="1356113" y="4386590"/>
                <a:chExt cx="2902008" cy="1202649"/>
              </a:xfrm>
            </p:grpSpPr>
            <p:sp>
              <p:nvSpPr>
                <p:cNvPr id="45" name="Rectángulo 44">
                  <a:extLst>
                    <a:ext uri="{FF2B5EF4-FFF2-40B4-BE49-F238E27FC236}">
                      <a16:creationId xmlns:a16="http://schemas.microsoft.com/office/drawing/2014/main" id="{A2D7834E-727D-4752-914C-598025B73F11}"/>
                    </a:ext>
                  </a:extLst>
                </p:cNvPr>
                <p:cNvSpPr/>
                <p:nvPr/>
              </p:nvSpPr>
              <p:spPr>
                <a:xfrm>
                  <a:off x="1907704" y="4725143"/>
                  <a:ext cx="1872208" cy="86409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1F7DCD5F-3BFC-496A-B86E-782A103BE0F6}"/>
                    </a:ext>
                  </a:extLst>
                </p:cNvPr>
                <p:cNvSpPr txBox="1"/>
                <p:nvPr/>
              </p:nvSpPr>
              <p:spPr>
                <a:xfrm>
                  <a:off x="1356113" y="4386590"/>
                  <a:ext cx="290200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600" b="1" dirty="0">
                      <a:latin typeface="Consolas" panose="020B0609020204030204" pitchFamily="49" charset="0"/>
                    </a:rPr>
                    <a:t>calcular_area_triangulo</a:t>
                  </a:r>
                  <a:endParaRPr lang="es-CO" sz="1600" b="1" dirty="0">
                    <a:latin typeface="Consolas" panose="020B0609020204030204" pitchFamily="49" charset="0"/>
                  </a:endParaRPr>
                </a:p>
              </p:txBody>
            </p:sp>
          </p:grp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108E2F25-503C-4F1B-8F37-4B293D833739}"/>
                  </a:ext>
                </a:extLst>
              </p:cNvPr>
              <p:cNvSpPr txBox="1"/>
              <p:nvPr/>
            </p:nvSpPr>
            <p:spPr>
              <a:xfrm>
                <a:off x="5796138" y="5113054"/>
                <a:ext cx="936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400" b="1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base</a:t>
                </a:r>
              </a:p>
            </p:txBody>
          </p:sp>
          <p:cxnSp>
            <p:nvCxnSpPr>
              <p:cNvPr id="42" name="Conector recto de flecha 41">
                <a:extLst>
                  <a:ext uri="{FF2B5EF4-FFF2-40B4-BE49-F238E27FC236}">
                    <a16:creationId xmlns:a16="http://schemas.microsoft.com/office/drawing/2014/main" id="{327C9770-5210-4A5B-8BAD-8A35B0991F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92082" y="5276815"/>
                <a:ext cx="50405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2E6842D5-9292-4B2C-B0FD-DDC2F4397FB0}"/>
                  </a:ext>
                </a:extLst>
              </p:cNvPr>
              <p:cNvSpPr txBox="1"/>
              <p:nvPr/>
            </p:nvSpPr>
            <p:spPr>
              <a:xfrm>
                <a:off x="5796136" y="5425479"/>
                <a:ext cx="936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400" b="1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altura</a:t>
                </a:r>
              </a:p>
            </p:txBody>
          </p:sp>
          <p:cxnSp>
            <p:nvCxnSpPr>
              <p:cNvPr id="44" name="Conector recto de flecha 43">
                <a:extLst>
                  <a:ext uri="{FF2B5EF4-FFF2-40B4-BE49-F238E27FC236}">
                    <a16:creationId xmlns:a16="http://schemas.microsoft.com/office/drawing/2014/main" id="{BE013F77-555A-4DE2-BEA9-CC7834994E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92080" y="5589240"/>
                <a:ext cx="50405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8" name="Conector recto de flecha 37">
              <a:extLst>
                <a:ext uri="{FF2B5EF4-FFF2-40B4-BE49-F238E27FC236}">
                  <a16:creationId xmlns:a16="http://schemas.microsoft.com/office/drawing/2014/main" id="{A5BC8A76-C88F-4D88-B991-DA10576CD6A2}"/>
                </a:ext>
              </a:extLst>
            </p:cNvPr>
            <p:cNvCxnSpPr>
              <a:cxnSpLocks/>
            </p:cNvCxnSpPr>
            <p:nvPr/>
          </p:nvCxnSpPr>
          <p:spPr>
            <a:xfrm>
              <a:off x="7355839" y="2358785"/>
              <a:ext cx="50405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D1256832-9B84-4155-9504-567BD5037CF7}"/>
                </a:ext>
              </a:extLst>
            </p:cNvPr>
            <p:cNvSpPr txBox="1"/>
            <p:nvPr/>
          </p:nvSpPr>
          <p:spPr>
            <a:xfrm>
              <a:off x="6682328" y="2191222"/>
              <a:ext cx="6015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area</a:t>
              </a:r>
            </a:p>
          </p:txBody>
        </p:sp>
      </p:grpSp>
      <p:sp>
        <p:nvSpPr>
          <p:cNvPr id="47" name="CuadroTexto 46">
            <a:extLst>
              <a:ext uri="{FF2B5EF4-FFF2-40B4-BE49-F238E27FC236}">
                <a16:creationId xmlns:a16="http://schemas.microsoft.com/office/drawing/2014/main" id="{1673D67A-B0B2-439E-B1C2-0792E0C1860C}"/>
              </a:ext>
            </a:extLst>
          </p:cNvPr>
          <p:cNvSpPr txBox="1"/>
          <p:nvPr/>
        </p:nvSpPr>
        <p:spPr>
          <a:xfrm>
            <a:off x="1115616" y="908720"/>
            <a:ext cx="6912768" cy="40011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s-MX" sz="2000" dirty="0"/>
              <a:t>Análisis ▸ Diseño ▸ </a:t>
            </a:r>
            <a:r>
              <a:rPr lang="es-MX" sz="2000" b="1" dirty="0">
                <a:solidFill>
                  <a:schemeClr val="accent4"/>
                </a:solidFill>
              </a:rPr>
              <a:t>Codificación</a:t>
            </a:r>
            <a:r>
              <a:rPr lang="es-MX" sz="2000" dirty="0"/>
              <a:t> ▸ Pruebas ▸ Integración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3460390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243110" cy="710952"/>
          </a:xfrm>
        </p:spPr>
        <p:txBody>
          <a:bodyPr>
            <a:normAutofit fontScale="90000"/>
          </a:bodyPr>
          <a:lstStyle/>
          <a:p>
            <a:r>
              <a:rPr lang="es-CO" dirty="0"/>
              <a:t>Codificación – Ejemplo area de figuras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45314" y="1444714"/>
            <a:ext cx="88533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Archivo</a:t>
            </a:r>
            <a:r>
              <a:rPr lang="es-MX" sz="2000" dirty="0"/>
              <a:t>: areas.py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Paso 1</a:t>
            </a:r>
            <a:r>
              <a:rPr lang="es-MX" sz="2000" dirty="0"/>
              <a:t>: Reunimos todas las funciones en un solo archivo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1673D67A-B0B2-439E-B1C2-0792E0C1860C}"/>
              </a:ext>
            </a:extLst>
          </p:cNvPr>
          <p:cNvSpPr txBox="1"/>
          <p:nvPr/>
        </p:nvSpPr>
        <p:spPr>
          <a:xfrm>
            <a:off x="1115616" y="908720"/>
            <a:ext cx="6912768" cy="40011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s-MX" sz="2000" dirty="0"/>
              <a:t>Análisis ▸ Diseño ▸ </a:t>
            </a:r>
            <a:r>
              <a:rPr lang="es-MX" sz="2000" b="1" dirty="0">
                <a:solidFill>
                  <a:schemeClr val="accent4"/>
                </a:solidFill>
              </a:rPr>
              <a:t>Codificación</a:t>
            </a:r>
            <a:r>
              <a:rPr lang="es-MX" sz="2000" dirty="0"/>
              <a:t> ▸ Pruebas ▸ Integración</a:t>
            </a:r>
            <a:endParaRPr lang="es-CO" sz="20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CC777D4-5396-49B9-9B66-C2A431834862}"/>
              </a:ext>
            </a:extLst>
          </p:cNvPr>
          <p:cNvSpPr txBox="1"/>
          <p:nvPr/>
        </p:nvSpPr>
        <p:spPr>
          <a:xfrm>
            <a:off x="323528" y="2443424"/>
            <a:ext cx="4104456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# --------- Constantes ----------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PI = 3.1416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# ---------- Funciones ----------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def</a:t>
            </a:r>
            <a:r>
              <a:rPr lang="es-CO" sz="1200" dirty="0">
                <a:latin typeface="Consolas" panose="020B0609020204030204" pitchFamily="49" charset="0"/>
              </a:rPr>
              <a:t> mostrar_menu():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print</a:t>
            </a:r>
            <a:r>
              <a:rPr lang="es-CO" sz="1200" dirty="0">
                <a:latin typeface="Consolas" panose="020B0609020204030204" pitchFamily="49" charset="0"/>
              </a:rPr>
              <a:t>("\n--- Áreas de figuras ---")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print</a:t>
            </a:r>
            <a:r>
              <a:rPr lang="es-CO" sz="1200" dirty="0">
                <a:latin typeface="Consolas" panose="020B0609020204030204" pitchFamily="49" charset="0"/>
              </a:rPr>
              <a:t>("1. Círculo")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print</a:t>
            </a:r>
            <a:r>
              <a:rPr lang="es-CO" sz="1200" dirty="0">
                <a:latin typeface="Consolas" panose="020B0609020204030204" pitchFamily="49" charset="0"/>
              </a:rPr>
              <a:t>("2. Rectángulo")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print</a:t>
            </a:r>
            <a:r>
              <a:rPr lang="es-CO" sz="1200" dirty="0">
                <a:latin typeface="Consolas" panose="020B0609020204030204" pitchFamily="49" charset="0"/>
              </a:rPr>
              <a:t>("3. Triángulo")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print</a:t>
            </a:r>
            <a:r>
              <a:rPr lang="es-CO" sz="1200" dirty="0">
                <a:latin typeface="Consolas" panose="020B0609020204030204" pitchFamily="49" charset="0"/>
              </a:rPr>
              <a:t>("4. Salir")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 err="1">
                <a:latin typeface="Consolas" panose="020B0609020204030204" pitchFamily="49" charset="0"/>
              </a:rPr>
              <a:t>def</a:t>
            </a:r>
            <a:r>
              <a:rPr lang="es-CO" sz="1200" dirty="0">
                <a:latin typeface="Consolas" panose="020B0609020204030204" pitchFamily="49" charset="0"/>
              </a:rPr>
              <a:t> leer_opcion():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opcion = input("Opción: ")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return opcion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 err="1">
                <a:latin typeface="Consolas" panose="020B0609020204030204" pitchFamily="49" charset="0"/>
              </a:rPr>
              <a:t>def</a:t>
            </a:r>
            <a:r>
              <a:rPr lang="es-CO" sz="1200" dirty="0">
                <a:latin typeface="Consolas" panose="020B0609020204030204" pitchFamily="49" charset="0"/>
              </a:rPr>
              <a:t> calcular_area_circulo(radio):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area = PI * radio ** 2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return area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 err="1">
                <a:latin typeface="Consolas" panose="020B0609020204030204" pitchFamily="49" charset="0"/>
              </a:rPr>
              <a:t>def</a:t>
            </a:r>
            <a:r>
              <a:rPr lang="es-CO" sz="1200" dirty="0">
                <a:latin typeface="Consolas" panose="020B0609020204030204" pitchFamily="49" charset="0"/>
              </a:rPr>
              <a:t> </a:t>
            </a:r>
            <a:r>
              <a:rPr lang="es-CO" sz="1200" dirty="0" err="1">
                <a:latin typeface="Consolas" panose="020B0609020204030204" pitchFamily="49" charset="0"/>
              </a:rPr>
              <a:t>calcular_area_rectangulo</a:t>
            </a:r>
            <a:r>
              <a:rPr lang="es-CO" sz="1200" dirty="0">
                <a:latin typeface="Consolas" panose="020B0609020204030204" pitchFamily="49" charset="0"/>
              </a:rPr>
              <a:t>(base, altura):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area = base * altura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return area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004BD31C-CB40-49B2-8659-7FF1532B5103}"/>
              </a:ext>
            </a:extLst>
          </p:cNvPr>
          <p:cNvSpPr txBox="1"/>
          <p:nvPr/>
        </p:nvSpPr>
        <p:spPr>
          <a:xfrm>
            <a:off x="4606198" y="2443424"/>
            <a:ext cx="410445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 err="1">
                <a:latin typeface="Consolas" panose="020B0609020204030204" pitchFamily="49" charset="0"/>
              </a:rPr>
              <a:t>def</a:t>
            </a:r>
            <a:r>
              <a:rPr lang="es-CO" sz="1200" dirty="0">
                <a:latin typeface="Consolas" panose="020B0609020204030204" pitchFamily="49" charset="0"/>
              </a:rPr>
              <a:t> </a:t>
            </a:r>
            <a:r>
              <a:rPr lang="es-CO" sz="1200" dirty="0" err="1">
                <a:latin typeface="Consolas" panose="020B0609020204030204" pitchFamily="49" charset="0"/>
              </a:rPr>
              <a:t>calcular_area_triangulo</a:t>
            </a:r>
            <a:r>
              <a:rPr lang="es-CO" sz="1200" dirty="0">
                <a:latin typeface="Consolas" panose="020B0609020204030204" pitchFamily="49" charset="0"/>
              </a:rPr>
              <a:t>(base, altura):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area = base * altura / 2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return area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 err="1">
                <a:latin typeface="Consolas" panose="020B0609020204030204" pitchFamily="49" charset="0"/>
              </a:rPr>
              <a:t>def</a:t>
            </a:r>
            <a:r>
              <a:rPr lang="es-CO" sz="1200" dirty="0">
                <a:latin typeface="Consolas" panose="020B0609020204030204" pitchFamily="49" charset="0"/>
              </a:rPr>
              <a:t> mostrar_area(figura, area):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print</a:t>
            </a:r>
            <a:r>
              <a:rPr lang="es-CO" sz="1200" dirty="0">
                <a:latin typeface="Consolas" panose="020B0609020204030204" pitchFamily="49" charset="0"/>
              </a:rPr>
              <a:t>(</a:t>
            </a:r>
            <a:r>
              <a:rPr lang="es-CO" sz="1200" dirty="0" err="1">
                <a:latin typeface="Consolas" panose="020B0609020204030204" pitchFamily="49" charset="0"/>
              </a:rPr>
              <a:t>f"Área</a:t>
            </a:r>
            <a:r>
              <a:rPr lang="es-CO" sz="1200" dirty="0">
                <a:latin typeface="Consolas" panose="020B0609020204030204" pitchFamily="49" charset="0"/>
              </a:rPr>
              <a:t> del {figura}: {area:.2f}")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8E232D6-2F53-4065-AB5B-F305C8D983DB}"/>
              </a:ext>
            </a:extLst>
          </p:cNvPr>
          <p:cNvSpPr txBox="1"/>
          <p:nvPr/>
        </p:nvSpPr>
        <p:spPr>
          <a:xfrm>
            <a:off x="5826183" y="3717032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2"/>
              </a:rPr>
              <a:t>Link simulación</a:t>
            </a:r>
            <a:endParaRPr lang="es-CO" sz="1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F871A10-5587-4CCE-A7D0-75F8D48AE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516" y="4280433"/>
            <a:ext cx="3819138" cy="222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0599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243110" cy="710952"/>
          </a:xfrm>
        </p:spPr>
        <p:txBody>
          <a:bodyPr>
            <a:normAutofit/>
          </a:bodyPr>
          <a:lstStyle/>
          <a:p>
            <a:r>
              <a:rPr lang="es-CO" dirty="0"/>
              <a:t>Pruebas – Ejemplo area de figuras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45314" y="1444714"/>
            <a:ext cx="88533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Archivo</a:t>
            </a:r>
            <a:r>
              <a:rPr lang="es-MX" sz="2000" dirty="0"/>
              <a:t>: areas.py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Paso 2</a:t>
            </a:r>
            <a:r>
              <a:rPr lang="es-MX" sz="2000" dirty="0"/>
              <a:t>: Agregamos las pruebas de las funciones de cálculo.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1673D67A-B0B2-439E-B1C2-0792E0C1860C}"/>
              </a:ext>
            </a:extLst>
          </p:cNvPr>
          <p:cNvSpPr txBox="1"/>
          <p:nvPr/>
        </p:nvSpPr>
        <p:spPr>
          <a:xfrm>
            <a:off x="1115616" y="908720"/>
            <a:ext cx="6912768" cy="40011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s-MX" sz="2000" dirty="0"/>
              <a:t>Análisis ▸ Diseño ▸ Codificación ▸ </a:t>
            </a:r>
            <a:r>
              <a:rPr lang="es-MX" sz="2000" b="1" dirty="0">
                <a:solidFill>
                  <a:schemeClr val="accent4"/>
                </a:solidFill>
              </a:rPr>
              <a:t>Pruebas</a:t>
            </a:r>
            <a:r>
              <a:rPr lang="es-MX" sz="2000" dirty="0"/>
              <a:t> ▸ Integración</a:t>
            </a:r>
            <a:endParaRPr lang="es-CO" sz="20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CC777D4-5396-49B9-9B66-C2A431834862}"/>
              </a:ext>
            </a:extLst>
          </p:cNvPr>
          <p:cNvSpPr txBox="1"/>
          <p:nvPr/>
        </p:nvSpPr>
        <p:spPr>
          <a:xfrm>
            <a:off x="323527" y="2309444"/>
            <a:ext cx="4413574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# ---------- Constantes ----------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# ---------- Funciones ----------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# ... (sin cambios)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# ---------- Pruebas ----------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# Círculo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assert round(calcular_area_circulo(5), 2) == 78.54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assert calcular_area_circulo(0) == 0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# Rectángulo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assert </a:t>
            </a:r>
            <a:r>
              <a:rPr lang="es-CO" sz="1200" dirty="0" err="1">
                <a:latin typeface="Consolas" panose="020B0609020204030204" pitchFamily="49" charset="0"/>
              </a:rPr>
              <a:t>calcular_area_rectangulo</a:t>
            </a:r>
            <a:r>
              <a:rPr lang="es-CO" sz="1200" dirty="0">
                <a:latin typeface="Consolas" panose="020B0609020204030204" pitchFamily="49" charset="0"/>
              </a:rPr>
              <a:t>(4, 3) == 12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assert </a:t>
            </a:r>
            <a:r>
              <a:rPr lang="es-CO" sz="1200" dirty="0" err="1">
                <a:latin typeface="Consolas" panose="020B0609020204030204" pitchFamily="49" charset="0"/>
              </a:rPr>
              <a:t>calcular_area_rectangulo</a:t>
            </a:r>
            <a:r>
              <a:rPr lang="es-CO" sz="1200" dirty="0">
                <a:latin typeface="Consolas" panose="020B0609020204030204" pitchFamily="49" charset="0"/>
              </a:rPr>
              <a:t>(0, 5) == 0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# Triángulo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assert </a:t>
            </a:r>
            <a:r>
              <a:rPr lang="es-CO" sz="1200" dirty="0" err="1">
                <a:latin typeface="Consolas" panose="020B0609020204030204" pitchFamily="49" charset="0"/>
              </a:rPr>
              <a:t>calcular_area_triangulo</a:t>
            </a:r>
            <a:r>
              <a:rPr lang="es-CO" sz="1200" dirty="0">
                <a:latin typeface="Consolas" panose="020B0609020204030204" pitchFamily="49" charset="0"/>
              </a:rPr>
              <a:t>(6, 2) == 6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assert </a:t>
            </a:r>
            <a:r>
              <a:rPr lang="es-CO" sz="1200" dirty="0" err="1">
                <a:latin typeface="Consolas" panose="020B0609020204030204" pitchFamily="49" charset="0"/>
              </a:rPr>
              <a:t>calcular_area_triangulo</a:t>
            </a:r>
            <a:r>
              <a:rPr lang="es-CO" sz="1200" dirty="0">
                <a:latin typeface="Consolas" panose="020B0609020204030204" pitchFamily="49" charset="0"/>
              </a:rPr>
              <a:t>(0, 5) == 0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8E232D6-2F53-4065-AB5B-F305C8D983DB}"/>
              </a:ext>
            </a:extLst>
          </p:cNvPr>
          <p:cNvSpPr txBox="1"/>
          <p:nvPr/>
        </p:nvSpPr>
        <p:spPr>
          <a:xfrm>
            <a:off x="1698071" y="5372606"/>
            <a:ext cx="1664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hlinkClick r:id="rId2"/>
              </a:rPr>
              <a:t>Link simulación</a:t>
            </a:r>
            <a:endParaRPr lang="es-CO" sz="1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F871A10-5587-4CCE-A7D0-75F8D48AE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174" y="2721346"/>
            <a:ext cx="3819138" cy="222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136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243110" cy="710952"/>
          </a:xfrm>
        </p:spPr>
        <p:txBody>
          <a:bodyPr>
            <a:normAutofit fontScale="90000"/>
          </a:bodyPr>
          <a:lstStyle/>
          <a:p>
            <a:r>
              <a:rPr lang="es-CO" dirty="0"/>
              <a:t>Integración – Ejemplo area de figuras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45314" y="1196752"/>
            <a:ext cx="51467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b="1" dirty="0"/>
              <a:t>Archivo</a:t>
            </a:r>
            <a:r>
              <a:rPr lang="es-MX" sz="2000" dirty="0"/>
              <a:t>: areas.py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b="1" dirty="0"/>
              <a:t>Paso 3</a:t>
            </a:r>
            <a:r>
              <a:rPr lang="es-MX" sz="2000" dirty="0"/>
              <a:t>: Integramos las funciones en el programa principal.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1673D67A-B0B2-439E-B1C2-0792E0C1860C}"/>
              </a:ext>
            </a:extLst>
          </p:cNvPr>
          <p:cNvSpPr txBox="1"/>
          <p:nvPr/>
        </p:nvSpPr>
        <p:spPr>
          <a:xfrm>
            <a:off x="1115616" y="836712"/>
            <a:ext cx="6912768" cy="40011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s-MX" sz="2000" dirty="0"/>
              <a:t>Análisis ▸ Diseño ▸ Codificación ▸ Pruebas ▸ </a:t>
            </a:r>
            <a:r>
              <a:rPr lang="es-MX" sz="2000" b="1" dirty="0">
                <a:solidFill>
                  <a:schemeClr val="accent4"/>
                </a:solidFill>
              </a:rPr>
              <a:t>Integración</a:t>
            </a:r>
            <a:endParaRPr lang="es-CO" sz="2000" b="1" dirty="0">
              <a:solidFill>
                <a:schemeClr val="accent4"/>
              </a:solidFill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CC777D4-5396-49B9-9B66-C2A431834862}"/>
              </a:ext>
            </a:extLst>
          </p:cNvPr>
          <p:cNvSpPr txBox="1"/>
          <p:nvPr/>
        </p:nvSpPr>
        <p:spPr>
          <a:xfrm>
            <a:off x="431651" y="2217053"/>
            <a:ext cx="4788421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# ... (sin cambios)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# ---------- Programa principal ----------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opcion = ""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while</a:t>
            </a:r>
            <a:r>
              <a:rPr lang="es-CO" sz="1200" dirty="0">
                <a:latin typeface="Consolas" panose="020B0609020204030204" pitchFamily="49" charset="0"/>
              </a:rPr>
              <a:t> opcion != "4":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mostrar_menu()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opcion = leer_opcion()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if</a:t>
            </a:r>
            <a:r>
              <a:rPr lang="es-CO" sz="1200" dirty="0">
                <a:latin typeface="Consolas" panose="020B0609020204030204" pitchFamily="49" charset="0"/>
              </a:rPr>
              <a:t> opcion == "1":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radio = </a:t>
            </a:r>
            <a:r>
              <a:rPr lang="es-CO" sz="1200" dirty="0" err="1">
                <a:latin typeface="Consolas" panose="020B0609020204030204" pitchFamily="49" charset="0"/>
              </a:rPr>
              <a:t>float</a:t>
            </a:r>
            <a:r>
              <a:rPr lang="es-CO" sz="1200" dirty="0">
                <a:latin typeface="Consolas" panose="020B0609020204030204" pitchFamily="49" charset="0"/>
              </a:rPr>
              <a:t>(input("Radio: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area = calcular_area_circulo(radio)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mostrar_area("círculo", area)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elif</a:t>
            </a:r>
            <a:r>
              <a:rPr lang="es-CO" sz="1200" dirty="0">
                <a:latin typeface="Consolas" panose="020B0609020204030204" pitchFamily="49" charset="0"/>
              </a:rPr>
              <a:t> opcion == "2":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base = </a:t>
            </a:r>
            <a:r>
              <a:rPr lang="es-CO" sz="1200" dirty="0" err="1">
                <a:latin typeface="Consolas" panose="020B0609020204030204" pitchFamily="49" charset="0"/>
              </a:rPr>
              <a:t>float</a:t>
            </a:r>
            <a:r>
              <a:rPr lang="es-CO" sz="1200" dirty="0">
                <a:latin typeface="Consolas" panose="020B0609020204030204" pitchFamily="49" charset="0"/>
              </a:rPr>
              <a:t>(input("Base: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altura = </a:t>
            </a:r>
            <a:r>
              <a:rPr lang="es-CO" sz="1200" dirty="0" err="1">
                <a:latin typeface="Consolas" panose="020B0609020204030204" pitchFamily="49" charset="0"/>
              </a:rPr>
              <a:t>float</a:t>
            </a:r>
            <a:r>
              <a:rPr lang="es-CO" sz="1200" dirty="0">
                <a:latin typeface="Consolas" panose="020B0609020204030204" pitchFamily="49" charset="0"/>
              </a:rPr>
              <a:t>(input("Altura: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area = </a:t>
            </a:r>
            <a:r>
              <a:rPr lang="es-CO" sz="1200" dirty="0" err="1">
                <a:latin typeface="Consolas" panose="020B0609020204030204" pitchFamily="49" charset="0"/>
              </a:rPr>
              <a:t>calcular_area_rectangulo</a:t>
            </a:r>
            <a:r>
              <a:rPr lang="es-CO" sz="1200" dirty="0">
                <a:latin typeface="Consolas" panose="020B0609020204030204" pitchFamily="49" charset="0"/>
              </a:rPr>
              <a:t>(base, altura)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mostrar_area("rectángulo", area)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elif</a:t>
            </a:r>
            <a:r>
              <a:rPr lang="es-CO" sz="1200" dirty="0">
                <a:latin typeface="Consolas" panose="020B0609020204030204" pitchFamily="49" charset="0"/>
              </a:rPr>
              <a:t> opcion == "3":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base = </a:t>
            </a:r>
            <a:r>
              <a:rPr lang="es-CO" sz="1200" dirty="0" err="1">
                <a:latin typeface="Consolas" panose="020B0609020204030204" pitchFamily="49" charset="0"/>
              </a:rPr>
              <a:t>float</a:t>
            </a:r>
            <a:r>
              <a:rPr lang="es-CO" sz="1200" dirty="0">
                <a:latin typeface="Consolas" panose="020B0609020204030204" pitchFamily="49" charset="0"/>
              </a:rPr>
              <a:t>(input("Base: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altura = </a:t>
            </a:r>
            <a:r>
              <a:rPr lang="es-CO" sz="1200" dirty="0" err="1">
                <a:latin typeface="Consolas" panose="020B0609020204030204" pitchFamily="49" charset="0"/>
              </a:rPr>
              <a:t>float</a:t>
            </a:r>
            <a:r>
              <a:rPr lang="es-CO" sz="1200" dirty="0">
                <a:latin typeface="Consolas" panose="020B0609020204030204" pitchFamily="49" charset="0"/>
              </a:rPr>
              <a:t>(input("Altura: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area = </a:t>
            </a:r>
            <a:r>
              <a:rPr lang="es-CO" sz="1200" dirty="0" err="1">
                <a:latin typeface="Consolas" panose="020B0609020204030204" pitchFamily="49" charset="0"/>
              </a:rPr>
              <a:t>calcular_area_triangulo</a:t>
            </a:r>
            <a:r>
              <a:rPr lang="es-CO" sz="1200" dirty="0">
                <a:latin typeface="Consolas" panose="020B0609020204030204" pitchFamily="49" charset="0"/>
              </a:rPr>
              <a:t>(base, altura)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mostrar_area("triángulo", area)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elif</a:t>
            </a:r>
            <a:r>
              <a:rPr lang="es-CO" sz="1200" dirty="0">
                <a:latin typeface="Consolas" panose="020B0609020204030204" pitchFamily="49" charset="0"/>
              </a:rPr>
              <a:t> opcion != "4":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</a:t>
            </a:r>
            <a:r>
              <a:rPr lang="es-CO" sz="1200" dirty="0" err="1">
                <a:latin typeface="Consolas" panose="020B0609020204030204" pitchFamily="49" charset="0"/>
              </a:rPr>
              <a:t>print</a:t>
            </a:r>
            <a:r>
              <a:rPr lang="es-CO" sz="1200" dirty="0">
                <a:latin typeface="Consolas" panose="020B0609020204030204" pitchFamily="49" charset="0"/>
              </a:rPr>
              <a:t>("Opción no válida")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32E5072-B2CC-47A3-9F66-AD3935DE5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022" y="1340768"/>
            <a:ext cx="3309442" cy="545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704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145314" y="135162"/>
            <a:ext cx="8243110" cy="710952"/>
          </a:xfrm>
        </p:spPr>
        <p:txBody>
          <a:bodyPr>
            <a:normAutofit/>
          </a:bodyPr>
          <a:lstStyle/>
          <a:p>
            <a:r>
              <a:rPr lang="es-CO" dirty="0"/>
              <a:t>Análisis – Ejemplo calificaciones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45314" y="846114"/>
            <a:ext cx="8747165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s-MX" sz="2000" dirty="0"/>
              <a:t>Hacer un programa que lea primero el número de estudiantes de un curso (</a:t>
            </a:r>
            <a:r>
              <a:rPr lang="es-MX" sz="2000" b="1" dirty="0"/>
              <a:t>N</a:t>
            </a:r>
            <a:r>
              <a:rPr lang="es-MX" sz="2000" dirty="0"/>
              <a:t>), y luego lea las </a:t>
            </a:r>
            <a:r>
              <a:rPr lang="es-MX" sz="2000" b="1" dirty="0"/>
              <a:t>N</a:t>
            </a:r>
            <a:r>
              <a:rPr lang="es-MX" sz="2000" dirty="0"/>
              <a:t> notas correspondientes (valores decimales entre 0.0 y 5.0), una a una.</a:t>
            </a:r>
          </a:p>
          <a:p>
            <a:pPr rtl="0"/>
            <a:endParaRPr lang="es-MX" sz="2000" dirty="0"/>
          </a:p>
          <a:p>
            <a:pPr rtl="0"/>
            <a:r>
              <a:rPr lang="es-MX" sz="2000" dirty="0"/>
              <a:t>Considere que la nota mínima aprobatoria es 3.0: una nota es aprobada si es mayor o igual a 3.0, y reprobada si es menor a 3.0.</a:t>
            </a:r>
          </a:p>
          <a:p>
            <a:pPr rtl="0"/>
            <a:endParaRPr lang="es-MX" sz="2000" dirty="0"/>
          </a:p>
          <a:p>
            <a:pPr rtl="0"/>
            <a:r>
              <a:rPr lang="es-MX" sz="2000" dirty="0"/>
              <a:t>Al finalizar la lectura, el programa deberá entregar: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El porcentaje de estudiantes aprobados.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El porcentaje de estudiantes reprobados.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El promedio de las notas aprobadas.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El promedio de las notas reprobadas.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MX" sz="2000" dirty="0"/>
              <a:t>El promedio de las notas del curso.</a:t>
            </a:r>
          </a:p>
        </p:txBody>
      </p:sp>
    </p:spTree>
    <p:extLst>
      <p:ext uri="{BB962C8B-B14F-4D97-AF65-F5344CB8AC3E}">
        <p14:creationId xmlns:p14="http://schemas.microsoft.com/office/powerpoint/2010/main" val="12421746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 Título">
            <a:extLst>
              <a:ext uri="{FF2B5EF4-FFF2-40B4-BE49-F238E27FC236}">
                <a16:creationId xmlns:a16="http://schemas.microsoft.com/office/drawing/2014/main" id="{AE7AE4FE-857D-48EA-8C2E-EFF7E2B785AF}"/>
              </a:ext>
            </a:extLst>
          </p:cNvPr>
          <p:cNvSpPr txBox="1">
            <a:spLocks/>
          </p:cNvSpPr>
          <p:nvPr/>
        </p:nvSpPr>
        <p:spPr>
          <a:xfrm>
            <a:off x="107504" y="179147"/>
            <a:ext cx="3528392" cy="1809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/>
              <a:t>Ejemplo </a:t>
            </a:r>
          </a:p>
          <a:p>
            <a:r>
              <a:rPr lang="es-CO" sz="4000" dirty="0"/>
              <a:t>Calificaciones (No modular)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AB871F0-E093-48E7-A1B9-7D54B9D42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190" y="78079"/>
            <a:ext cx="5434314" cy="675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6280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 Título">
            <a:extLst>
              <a:ext uri="{FF2B5EF4-FFF2-40B4-BE49-F238E27FC236}">
                <a16:creationId xmlns:a16="http://schemas.microsoft.com/office/drawing/2014/main" id="{AE7AE4FE-857D-48EA-8C2E-EFF7E2B785AF}"/>
              </a:ext>
            </a:extLst>
          </p:cNvPr>
          <p:cNvSpPr txBox="1">
            <a:spLocks/>
          </p:cNvSpPr>
          <p:nvPr/>
        </p:nvSpPr>
        <p:spPr>
          <a:xfrm>
            <a:off x="107504" y="84114"/>
            <a:ext cx="6153447" cy="6788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/>
              <a:t>Ejemplo calificaciones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79E8B5D-AC59-4BB7-B228-6E0412664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03" y="731200"/>
            <a:ext cx="3401426" cy="32589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8136558-4DB9-472F-B72C-F3B7E28C5F25}"/>
              </a:ext>
            </a:extLst>
          </p:cNvPr>
          <p:cNvSpPr txBox="1"/>
          <p:nvPr/>
        </p:nvSpPr>
        <p:spPr>
          <a:xfrm>
            <a:off x="251520" y="4065452"/>
            <a:ext cx="3960439" cy="2708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000" dirty="0">
                <a:latin typeface="Consolas" panose="020B0609020204030204" pitchFamily="49" charset="0"/>
              </a:rPr>
              <a:t>NOTA_MINIMA = 3.0</a:t>
            </a:r>
          </a:p>
          <a:p>
            <a:r>
              <a:rPr lang="es-MX" sz="1000" dirty="0" err="1">
                <a:latin typeface="Consolas" panose="020B0609020204030204" pitchFamily="49" charset="0"/>
              </a:rPr>
              <a:t>notas_reprobadas</a:t>
            </a:r>
            <a:r>
              <a:rPr lang="es-MX" sz="1000" dirty="0">
                <a:latin typeface="Consolas" panose="020B0609020204030204" pitchFamily="49" charset="0"/>
              </a:rPr>
              <a:t> = 0</a:t>
            </a:r>
          </a:p>
          <a:p>
            <a:r>
              <a:rPr lang="es-MX" sz="1000" dirty="0" err="1">
                <a:latin typeface="Consolas" panose="020B0609020204030204" pitchFamily="49" charset="0"/>
              </a:rPr>
              <a:t>notas_aprobadas</a:t>
            </a:r>
            <a:r>
              <a:rPr lang="es-MX" sz="1000" dirty="0">
                <a:latin typeface="Consolas" panose="020B0609020204030204" pitchFamily="49" charset="0"/>
              </a:rPr>
              <a:t> = 0</a:t>
            </a:r>
          </a:p>
          <a:p>
            <a:r>
              <a:rPr lang="es-MX" sz="1000" dirty="0" err="1">
                <a:latin typeface="Consolas" panose="020B0609020204030204" pitchFamily="49" charset="0"/>
              </a:rPr>
              <a:t>suma_reprobadas</a:t>
            </a:r>
            <a:r>
              <a:rPr lang="es-MX" sz="1000" dirty="0">
                <a:latin typeface="Consolas" panose="020B0609020204030204" pitchFamily="49" charset="0"/>
              </a:rPr>
              <a:t> = 0</a:t>
            </a:r>
          </a:p>
          <a:p>
            <a:r>
              <a:rPr lang="es-MX" sz="1000" dirty="0" err="1">
                <a:latin typeface="Consolas" panose="020B0609020204030204" pitchFamily="49" charset="0"/>
              </a:rPr>
              <a:t>suma_aprobadas</a:t>
            </a:r>
            <a:r>
              <a:rPr lang="es-MX" sz="1000" dirty="0">
                <a:latin typeface="Consolas" panose="020B0609020204030204" pitchFamily="49" charset="0"/>
              </a:rPr>
              <a:t> = 0</a:t>
            </a:r>
          </a:p>
          <a:p>
            <a:r>
              <a:rPr lang="es-MX" sz="1000" b="0" dirty="0">
                <a:effectLst/>
                <a:latin typeface="Consolas" panose="020B0609020204030204" pitchFamily="49" charset="0"/>
              </a:rPr>
              <a:t>N = </a:t>
            </a:r>
            <a:r>
              <a:rPr lang="es-MX" sz="1000" b="0" dirty="0" err="1">
                <a:effectLst/>
                <a:latin typeface="Consolas" panose="020B0609020204030204" pitchFamily="49" charset="0"/>
              </a:rPr>
              <a:t>int</a:t>
            </a:r>
            <a:r>
              <a:rPr lang="es-MX" sz="1000" b="0" dirty="0">
                <a:effectLst/>
                <a:latin typeface="Consolas" panose="020B0609020204030204" pitchFamily="49" charset="0"/>
              </a:rPr>
              <a:t>(input('Ingrese el número de estudiantes: '))</a:t>
            </a:r>
          </a:p>
          <a:p>
            <a:r>
              <a:rPr lang="es-MX" sz="1000" dirty="0">
                <a:solidFill>
                  <a:srgbClr val="C00000"/>
                </a:solidFill>
                <a:latin typeface="Consolas" panose="020B0609020204030204" pitchFamily="49" charset="0"/>
              </a:rPr>
              <a:t>for i in range(N):</a:t>
            </a:r>
          </a:p>
          <a:p>
            <a:r>
              <a:rPr lang="es-MX" sz="1000" dirty="0">
                <a:solidFill>
                  <a:srgbClr val="C00000"/>
                </a:solidFill>
                <a:latin typeface="Consolas" panose="020B0609020204030204" pitchFamily="49" charset="0"/>
              </a:rPr>
              <a:t>  nota = </a:t>
            </a:r>
            <a:r>
              <a:rPr lang="es-MX" sz="1000" dirty="0" err="1">
                <a:solidFill>
                  <a:srgbClr val="C00000"/>
                </a:solidFill>
                <a:latin typeface="Consolas" panose="020B0609020204030204" pitchFamily="49" charset="0"/>
              </a:rPr>
              <a:t>float</a:t>
            </a:r>
            <a:r>
              <a:rPr lang="es-MX" sz="1000" dirty="0">
                <a:solidFill>
                  <a:srgbClr val="C00000"/>
                </a:solidFill>
                <a:latin typeface="Consolas" panose="020B0609020204030204" pitchFamily="49" charset="0"/>
              </a:rPr>
              <a:t>(input('Ingrese la nota: '))</a:t>
            </a:r>
          </a:p>
          <a:p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if</a:t>
            </a:r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nota &gt;= NOTA_MINIMA:</a:t>
            </a:r>
          </a:p>
          <a:p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s-MX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notas_aprobadas</a:t>
            </a:r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= </a:t>
            </a:r>
            <a:r>
              <a:rPr lang="es-MX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notas_aprobadas</a:t>
            </a:r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+ 1</a:t>
            </a:r>
          </a:p>
          <a:p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s-MX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suma_aprobadas</a:t>
            </a:r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= </a:t>
            </a:r>
            <a:r>
              <a:rPr lang="es-MX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suma_aprobadas</a:t>
            </a:r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+ nota</a:t>
            </a:r>
          </a:p>
          <a:p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else</a:t>
            </a:r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s-MX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notas_reprobadas</a:t>
            </a:r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= </a:t>
            </a:r>
            <a:r>
              <a:rPr lang="es-MX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notas_reprobadas</a:t>
            </a:r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+ 1</a:t>
            </a:r>
          </a:p>
          <a:p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s-MX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suma_reprobadas</a:t>
            </a:r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= </a:t>
            </a:r>
            <a:r>
              <a:rPr lang="es-MX" sz="1000" dirty="0" err="1">
                <a:solidFill>
                  <a:srgbClr val="00B050"/>
                </a:solidFill>
                <a:latin typeface="Consolas" panose="020B0609020204030204" pitchFamily="49" charset="0"/>
              </a:rPr>
              <a:t>suma_reprobadas</a:t>
            </a:r>
            <a:r>
              <a:rPr lang="es-MX" sz="1000" dirty="0">
                <a:solidFill>
                  <a:srgbClr val="00B050"/>
                </a:solidFill>
                <a:latin typeface="Consolas" panose="020B0609020204030204" pitchFamily="49" charset="0"/>
              </a:rPr>
              <a:t> + nota</a:t>
            </a:r>
          </a:p>
          <a:p>
            <a:r>
              <a:rPr lang="es-MX" sz="1000" dirty="0">
                <a:latin typeface="Consolas" panose="020B0609020204030204" pitchFamily="49" charset="0"/>
              </a:rPr>
              <a:t>  </a:t>
            </a:r>
            <a:r>
              <a:rPr lang="es-MX" sz="1000" dirty="0" err="1">
                <a:latin typeface="Consolas" panose="020B0609020204030204" pitchFamily="49" charset="0"/>
              </a:rPr>
              <a:t>suma_notas</a:t>
            </a:r>
            <a:r>
              <a:rPr lang="es-MX" sz="1000" dirty="0">
                <a:latin typeface="Consolas" panose="020B0609020204030204" pitchFamily="49" charset="0"/>
              </a:rPr>
              <a:t> = </a:t>
            </a:r>
            <a:r>
              <a:rPr lang="es-MX" sz="1000" dirty="0" err="1">
                <a:latin typeface="Consolas" panose="020B0609020204030204" pitchFamily="49" charset="0"/>
              </a:rPr>
              <a:t>suma_reprobadas</a:t>
            </a:r>
            <a:r>
              <a:rPr lang="es-MX" sz="1000" dirty="0">
                <a:latin typeface="Consolas" panose="020B0609020204030204" pitchFamily="49" charset="0"/>
              </a:rPr>
              <a:t> + </a:t>
            </a:r>
            <a:r>
              <a:rPr lang="es-MX" sz="1000" dirty="0" err="1">
                <a:latin typeface="Consolas" panose="020B0609020204030204" pitchFamily="49" charset="0"/>
              </a:rPr>
              <a:t>suma_aprobadas</a:t>
            </a:r>
            <a:endParaRPr lang="es-MX" sz="1000" dirty="0">
              <a:latin typeface="Consolas" panose="020B0609020204030204" pitchFamily="49" charset="0"/>
            </a:endParaRPr>
          </a:p>
          <a:p>
            <a:r>
              <a:rPr lang="es-MX" sz="1000" dirty="0">
                <a:latin typeface="Consolas" panose="020B0609020204030204" pitchFamily="49" charset="0"/>
              </a:rPr>
              <a:t>  </a:t>
            </a:r>
            <a:r>
              <a:rPr lang="es-MX" sz="1000" dirty="0" err="1">
                <a:latin typeface="Consolas" panose="020B0609020204030204" pitchFamily="49" charset="0"/>
              </a:rPr>
              <a:t>total_notas</a:t>
            </a:r>
            <a:r>
              <a:rPr lang="es-MX" sz="1000" dirty="0">
                <a:latin typeface="Consolas" panose="020B0609020204030204" pitchFamily="49" charset="0"/>
              </a:rPr>
              <a:t> = </a:t>
            </a:r>
            <a:r>
              <a:rPr lang="es-MX" sz="1000" dirty="0" err="1">
                <a:latin typeface="Consolas" panose="020B0609020204030204" pitchFamily="49" charset="0"/>
              </a:rPr>
              <a:t>notas_aprobadas</a:t>
            </a:r>
            <a:r>
              <a:rPr lang="es-MX" sz="1000" dirty="0">
                <a:latin typeface="Consolas" panose="020B0609020204030204" pitchFamily="49" charset="0"/>
              </a:rPr>
              <a:t> + </a:t>
            </a:r>
            <a:r>
              <a:rPr lang="es-MX" sz="1000" dirty="0" err="1">
                <a:latin typeface="Consolas" panose="020B0609020204030204" pitchFamily="49" charset="0"/>
              </a:rPr>
              <a:t>notas_reprobadas</a:t>
            </a:r>
            <a:endParaRPr lang="es-MX" sz="1000" dirty="0">
              <a:latin typeface="Consolas" panose="020B0609020204030204" pitchFamily="49" charset="0"/>
            </a:endParaRPr>
          </a:p>
          <a:p>
            <a:r>
              <a:rPr lang="es-MX" sz="1000" dirty="0">
                <a:latin typeface="Consolas" panose="020B0609020204030204" pitchFamily="49" charset="0"/>
              </a:rPr>
              <a:t>  ...</a:t>
            </a:r>
            <a:endParaRPr lang="es-CO" sz="10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0A47657-76C0-4D49-850C-08D3AEF578F5}"/>
              </a:ext>
            </a:extLst>
          </p:cNvPr>
          <p:cNvSpPr txBox="1"/>
          <p:nvPr/>
        </p:nvSpPr>
        <p:spPr>
          <a:xfrm>
            <a:off x="4692450" y="3429000"/>
            <a:ext cx="4264320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000" dirty="0">
                <a:latin typeface="Consolas" panose="020B0609020204030204" pitchFamily="49" charset="0"/>
              </a:rPr>
              <a:t>...</a:t>
            </a:r>
          </a:p>
          <a:p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total_notas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== 0:</a:t>
            </a:r>
          </a:p>
          <a:p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("No hay estudiantes")</a:t>
            </a:r>
          </a:p>
          <a:p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p_aprobaron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= (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notas_aprobadas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/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total_notas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)*100</a:t>
            </a:r>
          </a:p>
          <a:p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p_reprobaron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= (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notas_reprobadas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/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total_notas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)*100</a:t>
            </a:r>
          </a:p>
          <a:p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if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(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notas_aprobadas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== 0):</a:t>
            </a:r>
          </a:p>
          <a:p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prom_nota_reprobada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=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suma_reprobadas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/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notas_reprobadas</a:t>
            </a:r>
            <a:endParaRPr lang="es-MX" sz="10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prom_nota_aprobada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= 0</a:t>
            </a:r>
          </a:p>
          <a:p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elif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(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notas_reprobadas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== 0):</a:t>
            </a:r>
          </a:p>
          <a:p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prom_nota_aprobada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=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suma_aprobadas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/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notas_aprobadas</a:t>
            </a:r>
            <a:endParaRPr lang="es-MX" sz="10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prom_nota_reprobada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= 0</a:t>
            </a:r>
          </a:p>
          <a:p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else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prom_nota_reprobada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=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suma_reprobadas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/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notas_reprobadas</a:t>
            </a:r>
            <a:endParaRPr lang="es-MX" sz="10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prom_nota_aprobada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 = 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suma_aprobadas</a:t>
            </a:r>
            <a:r>
              <a:rPr lang="es-MX" sz="1000" dirty="0">
                <a:solidFill>
                  <a:schemeClr val="accent6"/>
                </a:solidFill>
                <a:latin typeface="Consolas" panose="020B0609020204030204" pitchFamily="49" charset="0"/>
              </a:rPr>
              <a:t>/</a:t>
            </a:r>
            <a:r>
              <a:rPr lang="es-MX" sz="1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notas_aprobadas</a:t>
            </a:r>
            <a:endParaRPr lang="es-MX" sz="10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prom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=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suma_notas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/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total_notas</a:t>
            </a:r>
            <a:endParaRPr lang="es-MX" sz="1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f"Porcentaje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aprobados: {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p_aprobaron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}%")</a:t>
            </a:r>
          </a:p>
          <a:p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f"Porcentaje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reprobados: {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p_reprobaron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}%")</a:t>
            </a:r>
          </a:p>
          <a:p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f"Promedio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reprobados: {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prom_nota_reprobada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}")</a:t>
            </a:r>
          </a:p>
          <a:p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f"Promedio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aprobadas: {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prom_nota_aprobada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}")</a:t>
            </a:r>
          </a:p>
          <a:p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f"Promedio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 de notas: {</a:t>
            </a:r>
            <a:r>
              <a:rPr lang="es-MX" sz="1000" dirty="0" err="1">
                <a:solidFill>
                  <a:srgbClr val="0070C0"/>
                </a:solidFill>
                <a:latin typeface="Consolas" panose="020B0609020204030204" pitchFamily="49" charset="0"/>
              </a:rPr>
              <a:t>prom</a:t>
            </a:r>
            <a:r>
              <a:rPr lang="es-MX" sz="1000" dirty="0">
                <a:solidFill>
                  <a:srgbClr val="0070C0"/>
                </a:solidFill>
                <a:latin typeface="Consolas" panose="020B0609020204030204" pitchFamily="49" charset="0"/>
              </a:rPr>
              <a:t>}") 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30DE02D-97C8-4CCD-B10A-CBF723769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450" y="681162"/>
            <a:ext cx="4264320" cy="266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3608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 Título">
            <a:extLst>
              <a:ext uri="{FF2B5EF4-FFF2-40B4-BE49-F238E27FC236}">
                <a16:creationId xmlns:a16="http://schemas.microsoft.com/office/drawing/2014/main" id="{AE7AE4FE-857D-48EA-8C2E-EFF7E2B785AF}"/>
              </a:ext>
            </a:extLst>
          </p:cNvPr>
          <p:cNvSpPr txBox="1">
            <a:spLocks/>
          </p:cNvSpPr>
          <p:nvPr/>
        </p:nvSpPr>
        <p:spPr>
          <a:xfrm>
            <a:off x="74737" y="44624"/>
            <a:ext cx="4183902" cy="6788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/>
              <a:t>Ejemplo calificaciones</a:t>
            </a:r>
          </a:p>
        </p:txBody>
      </p:sp>
      <p:sp>
        <p:nvSpPr>
          <p:cNvPr id="5" name="5 Rectángulo">
            <a:extLst>
              <a:ext uri="{FF2B5EF4-FFF2-40B4-BE49-F238E27FC236}">
                <a16:creationId xmlns:a16="http://schemas.microsoft.com/office/drawing/2014/main" id="{06D6ADF4-009E-42C9-93D7-ACCDE5E5538F}"/>
              </a:ext>
            </a:extLst>
          </p:cNvPr>
          <p:cNvSpPr/>
          <p:nvPr/>
        </p:nvSpPr>
        <p:spPr>
          <a:xfrm>
            <a:off x="179512" y="748147"/>
            <a:ext cx="24970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/>
              <a:t>Resultados esperados</a:t>
            </a:r>
            <a:endParaRPr lang="es-CO" sz="2000" dirty="0"/>
          </a:p>
        </p:txBody>
      </p:sp>
      <p:graphicFrame>
        <p:nvGraphicFramePr>
          <p:cNvPr id="6" name="Tabla 9">
            <a:extLst>
              <a:ext uri="{FF2B5EF4-FFF2-40B4-BE49-F238E27FC236}">
                <a16:creationId xmlns:a16="http://schemas.microsoft.com/office/drawing/2014/main" id="{A18D4279-D5A7-44DF-B5D1-7CB09A895120}"/>
              </a:ext>
            </a:extLst>
          </p:cNvPr>
          <p:cNvGraphicFramePr>
            <a:graphicFrameLocks noGrp="1"/>
          </p:cNvGraphicFramePr>
          <p:nvPr/>
        </p:nvGraphicFramePr>
        <p:xfrm>
          <a:off x="271297" y="1181003"/>
          <a:ext cx="3821060" cy="2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2867">
                  <a:extLst>
                    <a:ext uri="{9D8B030D-6E8A-4147-A177-3AD203B41FA5}">
                      <a16:colId xmlns:a16="http://schemas.microsoft.com/office/drawing/2014/main" val="1520359308"/>
                    </a:ext>
                  </a:extLst>
                </a:gridCol>
                <a:gridCol w="1728193">
                  <a:extLst>
                    <a:ext uri="{9D8B030D-6E8A-4147-A177-3AD203B41FA5}">
                      <a16:colId xmlns:a16="http://schemas.microsoft.com/office/drawing/2014/main" val="4218542073"/>
                    </a:ext>
                  </a:extLst>
                </a:gridCol>
              </a:tblGrid>
              <a:tr h="306900">
                <a:tc>
                  <a:txBody>
                    <a:bodyPr/>
                    <a:lstStyle/>
                    <a:p>
                      <a:r>
                        <a:rPr lang="es-CO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Numero de estudiantes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+mn-lt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4777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Notas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4.0, 2.5, 3.0, 1.5, 4.8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968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Aprobaron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+mn-lt"/>
                        </a:rPr>
                        <a:t>(3) 60%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557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Reprobaron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+mn-lt"/>
                        </a:rPr>
                        <a:t>(2) 40%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2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Promedio nota aprobada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3.93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675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Promedio nota reprobada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+mn-lt"/>
                        </a:rPr>
                        <a:t>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638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Promedio general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3.16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238023"/>
                  </a:ext>
                </a:extLst>
              </a:tr>
            </a:tbl>
          </a:graphicData>
        </a:graphic>
      </p:graphicFrame>
      <p:sp>
        <p:nvSpPr>
          <p:cNvPr id="7" name="5 Rectángulo">
            <a:extLst>
              <a:ext uri="{FF2B5EF4-FFF2-40B4-BE49-F238E27FC236}">
                <a16:creationId xmlns:a16="http://schemas.microsoft.com/office/drawing/2014/main" id="{00F0CF2A-B262-41B0-B4E9-5B653595AB12}"/>
              </a:ext>
            </a:extLst>
          </p:cNvPr>
          <p:cNvSpPr/>
          <p:nvPr/>
        </p:nvSpPr>
        <p:spPr>
          <a:xfrm>
            <a:off x="179512" y="3820978"/>
            <a:ext cx="28655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Prueba de escritorio</a:t>
            </a:r>
            <a:endParaRPr lang="es-CO" sz="2000" dirty="0"/>
          </a:p>
        </p:txBody>
      </p:sp>
      <p:sp>
        <p:nvSpPr>
          <p:cNvPr id="8" name="5 Rectángulo">
            <a:extLst>
              <a:ext uri="{FF2B5EF4-FFF2-40B4-BE49-F238E27FC236}">
                <a16:creationId xmlns:a16="http://schemas.microsoft.com/office/drawing/2014/main" id="{A1F958CD-90B1-4FD7-82AD-E6BF1E364483}"/>
              </a:ext>
            </a:extLst>
          </p:cNvPr>
          <p:cNvSpPr/>
          <p:nvPr/>
        </p:nvSpPr>
        <p:spPr>
          <a:xfrm>
            <a:off x="179512" y="4221088"/>
            <a:ext cx="39128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Realizar la prueba de escritorio para verificar que el algoritmo este bien planteado</a:t>
            </a:r>
          </a:p>
        </p:txBody>
      </p:sp>
      <p:sp>
        <p:nvSpPr>
          <p:cNvPr id="11" name="5 Rectángulo">
            <a:extLst>
              <a:ext uri="{FF2B5EF4-FFF2-40B4-BE49-F238E27FC236}">
                <a16:creationId xmlns:a16="http://schemas.microsoft.com/office/drawing/2014/main" id="{2F52C242-D544-42FF-85EB-E5833E015487}"/>
              </a:ext>
            </a:extLst>
          </p:cNvPr>
          <p:cNvSpPr/>
          <p:nvPr/>
        </p:nvSpPr>
        <p:spPr>
          <a:xfrm>
            <a:off x="179512" y="5054783"/>
            <a:ext cx="3912845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CO" sz="1400" b="1" dirty="0"/>
              <a:t>Nota</a:t>
            </a:r>
            <a:r>
              <a:rPr lang="es-CO" sz="1400" dirty="0"/>
              <a:t>: Este programa así como esta planeado tiene aun un bug grave. Encuéntrelo y corríjalo.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078200F-C20A-48A2-859B-D0169CD03165}"/>
              </a:ext>
            </a:extLst>
          </p:cNvPr>
          <p:cNvSpPr txBox="1"/>
          <p:nvPr/>
        </p:nvSpPr>
        <p:spPr>
          <a:xfrm>
            <a:off x="4258639" y="332656"/>
            <a:ext cx="4777857" cy="6186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sz="1100" dirty="0">
                <a:latin typeface="Consolas" panose="020B0609020204030204" pitchFamily="49" charset="0"/>
              </a:rPr>
              <a:t>NOTA_MINIMA = 3.0</a:t>
            </a:r>
          </a:p>
          <a:p>
            <a:r>
              <a:rPr lang="es-MX" sz="1100" dirty="0" err="1">
                <a:latin typeface="Consolas" panose="020B0609020204030204" pitchFamily="49" charset="0"/>
              </a:rPr>
              <a:t>notas_reprobadas</a:t>
            </a:r>
            <a:r>
              <a:rPr lang="es-MX" sz="1100" dirty="0">
                <a:latin typeface="Consolas" panose="020B0609020204030204" pitchFamily="49" charset="0"/>
              </a:rPr>
              <a:t> = 0</a:t>
            </a:r>
          </a:p>
          <a:p>
            <a:r>
              <a:rPr lang="es-MX" sz="1100" dirty="0" err="1">
                <a:latin typeface="Consolas" panose="020B0609020204030204" pitchFamily="49" charset="0"/>
              </a:rPr>
              <a:t>notas_aprobadas</a:t>
            </a:r>
            <a:r>
              <a:rPr lang="es-MX" sz="1100" dirty="0">
                <a:latin typeface="Consolas" panose="020B0609020204030204" pitchFamily="49" charset="0"/>
              </a:rPr>
              <a:t> = 0</a:t>
            </a:r>
          </a:p>
          <a:p>
            <a:r>
              <a:rPr lang="es-MX" sz="1100" dirty="0" err="1">
                <a:latin typeface="Consolas" panose="020B0609020204030204" pitchFamily="49" charset="0"/>
              </a:rPr>
              <a:t>suma_reprobadas</a:t>
            </a:r>
            <a:r>
              <a:rPr lang="es-MX" sz="1100" dirty="0">
                <a:latin typeface="Consolas" panose="020B0609020204030204" pitchFamily="49" charset="0"/>
              </a:rPr>
              <a:t> = 0</a:t>
            </a:r>
          </a:p>
          <a:p>
            <a:r>
              <a:rPr lang="es-MX" sz="1100" dirty="0" err="1">
                <a:latin typeface="Consolas" panose="020B0609020204030204" pitchFamily="49" charset="0"/>
              </a:rPr>
              <a:t>suma_aprobadas</a:t>
            </a:r>
            <a:r>
              <a:rPr lang="es-MX" sz="1100" dirty="0">
                <a:latin typeface="Consolas" panose="020B0609020204030204" pitchFamily="49" charset="0"/>
              </a:rPr>
              <a:t> = 0</a:t>
            </a:r>
          </a:p>
          <a:p>
            <a:r>
              <a:rPr lang="es-MX" sz="1100" b="0" dirty="0">
                <a:effectLst/>
                <a:latin typeface="Consolas" panose="020B0609020204030204" pitchFamily="49" charset="0"/>
              </a:rPr>
              <a:t>N = </a:t>
            </a:r>
            <a:r>
              <a:rPr lang="es-MX" sz="1100" b="0" dirty="0" err="1">
                <a:effectLst/>
                <a:latin typeface="Consolas" panose="020B0609020204030204" pitchFamily="49" charset="0"/>
              </a:rPr>
              <a:t>int</a:t>
            </a:r>
            <a:r>
              <a:rPr lang="es-MX" sz="1100" b="0" dirty="0">
                <a:effectLst/>
                <a:latin typeface="Consolas" panose="020B0609020204030204" pitchFamily="49" charset="0"/>
              </a:rPr>
              <a:t>(input('Ingrese el número de estudiantes: '))</a:t>
            </a:r>
          </a:p>
          <a:p>
            <a:r>
              <a:rPr lang="es-MX" sz="1100" dirty="0">
                <a:solidFill>
                  <a:srgbClr val="C00000"/>
                </a:solidFill>
                <a:latin typeface="Consolas" panose="020B0609020204030204" pitchFamily="49" charset="0"/>
              </a:rPr>
              <a:t>for i in range(N):</a:t>
            </a:r>
          </a:p>
          <a:p>
            <a:r>
              <a:rPr lang="es-MX" sz="1100" dirty="0">
                <a:solidFill>
                  <a:srgbClr val="C00000"/>
                </a:solidFill>
                <a:latin typeface="Consolas" panose="020B0609020204030204" pitchFamily="49" charset="0"/>
              </a:rPr>
              <a:t>  nota = </a:t>
            </a:r>
            <a:r>
              <a:rPr lang="es-MX" sz="1100" dirty="0" err="1">
                <a:solidFill>
                  <a:srgbClr val="C00000"/>
                </a:solidFill>
                <a:latin typeface="Consolas" panose="020B0609020204030204" pitchFamily="49" charset="0"/>
              </a:rPr>
              <a:t>float</a:t>
            </a:r>
            <a:r>
              <a:rPr lang="es-MX" sz="1100" dirty="0">
                <a:solidFill>
                  <a:srgbClr val="C00000"/>
                </a:solidFill>
                <a:latin typeface="Consolas" panose="020B0609020204030204" pitchFamily="49" charset="0"/>
              </a:rPr>
              <a:t>(input('Ingrese la nota: '))</a:t>
            </a:r>
          </a:p>
          <a:p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if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nota &gt;= NOTA_MINIMA:</a:t>
            </a:r>
          </a:p>
          <a:p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notas_aprobadas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= 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notas_aprobadas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+ 1</a:t>
            </a:r>
          </a:p>
          <a:p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suma_aprobadas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= 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suma_aprobadas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+ nota</a:t>
            </a:r>
          </a:p>
          <a:p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else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notas_reprobadas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= 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notas_reprobadas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+ 1</a:t>
            </a:r>
          </a:p>
          <a:p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suma_reprobadas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= </a:t>
            </a:r>
            <a:r>
              <a:rPr lang="es-MX" sz="1100" dirty="0" err="1">
                <a:solidFill>
                  <a:srgbClr val="00B050"/>
                </a:solidFill>
                <a:latin typeface="Consolas" panose="020B0609020204030204" pitchFamily="49" charset="0"/>
              </a:rPr>
              <a:t>suma_reprobadas</a:t>
            </a:r>
            <a:r>
              <a:rPr lang="es-MX" sz="1100" dirty="0">
                <a:solidFill>
                  <a:srgbClr val="00B050"/>
                </a:solidFill>
                <a:latin typeface="Consolas" panose="020B0609020204030204" pitchFamily="49" charset="0"/>
              </a:rPr>
              <a:t> + nota</a:t>
            </a:r>
          </a:p>
          <a:p>
            <a:r>
              <a:rPr lang="es-MX" sz="1100" dirty="0">
                <a:latin typeface="Consolas" panose="020B0609020204030204" pitchFamily="49" charset="0"/>
              </a:rPr>
              <a:t>  </a:t>
            </a:r>
            <a:r>
              <a:rPr lang="es-MX" sz="1100" dirty="0" err="1">
                <a:latin typeface="Consolas" panose="020B0609020204030204" pitchFamily="49" charset="0"/>
              </a:rPr>
              <a:t>suma_notas</a:t>
            </a:r>
            <a:r>
              <a:rPr lang="es-MX" sz="1100" dirty="0">
                <a:latin typeface="Consolas" panose="020B0609020204030204" pitchFamily="49" charset="0"/>
              </a:rPr>
              <a:t> = </a:t>
            </a:r>
            <a:r>
              <a:rPr lang="es-MX" sz="1100" dirty="0" err="1">
                <a:latin typeface="Consolas" panose="020B0609020204030204" pitchFamily="49" charset="0"/>
              </a:rPr>
              <a:t>suma_reprobadas</a:t>
            </a:r>
            <a:r>
              <a:rPr lang="es-MX" sz="1100" dirty="0">
                <a:latin typeface="Consolas" panose="020B0609020204030204" pitchFamily="49" charset="0"/>
              </a:rPr>
              <a:t> + </a:t>
            </a:r>
            <a:r>
              <a:rPr lang="es-MX" sz="1100" dirty="0" err="1">
                <a:latin typeface="Consolas" panose="020B0609020204030204" pitchFamily="49" charset="0"/>
              </a:rPr>
              <a:t>suma_aprobadas</a:t>
            </a:r>
            <a:endParaRPr lang="es-MX" sz="1100" dirty="0">
              <a:latin typeface="Consolas" panose="020B0609020204030204" pitchFamily="49" charset="0"/>
            </a:endParaRPr>
          </a:p>
          <a:p>
            <a:r>
              <a:rPr lang="es-MX" sz="1100" dirty="0">
                <a:latin typeface="Consolas" panose="020B0609020204030204" pitchFamily="49" charset="0"/>
              </a:rPr>
              <a:t>  </a:t>
            </a:r>
            <a:r>
              <a:rPr lang="es-MX" sz="1100" dirty="0" err="1">
                <a:latin typeface="Consolas" panose="020B0609020204030204" pitchFamily="49" charset="0"/>
              </a:rPr>
              <a:t>total_notas</a:t>
            </a:r>
            <a:r>
              <a:rPr lang="es-MX" sz="1100" dirty="0">
                <a:latin typeface="Consolas" panose="020B0609020204030204" pitchFamily="49" charset="0"/>
              </a:rPr>
              <a:t> = </a:t>
            </a:r>
            <a:r>
              <a:rPr lang="es-MX" sz="1100" dirty="0" err="1">
                <a:latin typeface="Consolas" panose="020B0609020204030204" pitchFamily="49" charset="0"/>
              </a:rPr>
              <a:t>notas_aprobadas</a:t>
            </a:r>
            <a:r>
              <a:rPr lang="es-MX" sz="1100" dirty="0">
                <a:latin typeface="Consolas" panose="020B0609020204030204" pitchFamily="49" charset="0"/>
              </a:rPr>
              <a:t> + </a:t>
            </a:r>
            <a:r>
              <a:rPr lang="es-MX" sz="1100" dirty="0" err="1">
                <a:latin typeface="Consolas" panose="020B0609020204030204" pitchFamily="49" charset="0"/>
              </a:rPr>
              <a:t>notas_reprobadas</a:t>
            </a:r>
            <a:endParaRPr lang="es-MX" sz="1100" dirty="0">
              <a:latin typeface="Consolas" panose="020B0609020204030204" pitchFamily="49" charset="0"/>
            </a:endParaRPr>
          </a:p>
          <a:p>
            <a:r>
              <a:rPr lang="es-MX" sz="1100" dirty="0"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total_notas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== 0:</a:t>
            </a:r>
          </a:p>
          <a:p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("No hay estudiantes")</a:t>
            </a:r>
          </a:p>
          <a:p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p_aprobaron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= (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notas_aprobadas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/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total_notas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)*100</a:t>
            </a:r>
          </a:p>
          <a:p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p_reprobaron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= (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notas_reprobadas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/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total_notas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)*100</a:t>
            </a:r>
          </a:p>
          <a:p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if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(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notas_aprobadas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== 0):</a:t>
            </a:r>
          </a:p>
          <a:p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prom_nota_reprobada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=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suma_reprobadas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/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notas_reprobadas</a:t>
            </a:r>
            <a:endParaRPr lang="es-MX" sz="11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prom_nota_aprobada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= 0</a:t>
            </a:r>
          </a:p>
          <a:p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elif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(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notas_reprobadas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== 0):</a:t>
            </a:r>
          </a:p>
          <a:p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prom_nota_aprobada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=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suma_aprobadas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/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notas_aprobadas</a:t>
            </a:r>
            <a:endParaRPr lang="es-MX" sz="11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prom_nota_reprobada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= 0</a:t>
            </a:r>
          </a:p>
          <a:p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else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prom_nota_reprobada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=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suma_reprobadas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/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notas_reprobadas</a:t>
            </a:r>
            <a:endParaRPr lang="es-MX" sz="11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  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prom_nota_aprobada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 = 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suma_aprobadas</a:t>
            </a:r>
            <a:r>
              <a:rPr lang="es-MX" sz="1100" dirty="0">
                <a:solidFill>
                  <a:schemeClr val="accent6"/>
                </a:solidFill>
                <a:latin typeface="Consolas" panose="020B0609020204030204" pitchFamily="49" charset="0"/>
              </a:rPr>
              <a:t>/</a:t>
            </a:r>
            <a:r>
              <a:rPr lang="es-MX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notas_aprobadas</a:t>
            </a:r>
            <a:endParaRPr lang="es-MX" sz="11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prom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=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suma_notas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/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total_notas</a:t>
            </a:r>
            <a:endParaRPr lang="es-MX" sz="11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f"Porcentaje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aprobados: {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p_aprobaron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}%")</a:t>
            </a:r>
          </a:p>
          <a:p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f"Porcentaje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reprobados: {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p_reprobaron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}%")</a:t>
            </a:r>
          </a:p>
          <a:p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f"Promedio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reprobados: {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prom_nota_reprobada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}")</a:t>
            </a:r>
          </a:p>
          <a:p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f"Promedio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aprobadas: {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prom_nota_aprobada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}")</a:t>
            </a:r>
          </a:p>
          <a:p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 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f"Promedio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 de notas: {</a:t>
            </a:r>
            <a:r>
              <a:rPr lang="es-MX" sz="1100" dirty="0" err="1">
                <a:solidFill>
                  <a:srgbClr val="0070C0"/>
                </a:solidFill>
                <a:latin typeface="Consolas" panose="020B0609020204030204" pitchFamily="49" charset="0"/>
              </a:rPr>
              <a:t>prom</a:t>
            </a:r>
            <a:r>
              <a:rPr lang="es-MX" sz="1100" dirty="0">
                <a:solidFill>
                  <a:srgbClr val="0070C0"/>
                </a:solidFill>
                <a:latin typeface="Consolas" panose="020B0609020204030204" pitchFamily="49" charset="0"/>
              </a:rPr>
              <a:t>}") </a:t>
            </a:r>
          </a:p>
        </p:txBody>
      </p:sp>
    </p:spTree>
    <p:extLst>
      <p:ext uri="{BB962C8B-B14F-4D97-AF65-F5344CB8AC3E}">
        <p14:creationId xmlns:p14="http://schemas.microsoft.com/office/powerpoint/2010/main" val="1899869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 Título">
            <a:extLst>
              <a:ext uri="{FF2B5EF4-FFF2-40B4-BE49-F238E27FC236}">
                <a16:creationId xmlns:a16="http://schemas.microsoft.com/office/drawing/2014/main" id="{AE7AE4FE-857D-48EA-8C2E-EFF7E2B785AF}"/>
              </a:ext>
            </a:extLst>
          </p:cNvPr>
          <p:cNvSpPr txBox="1">
            <a:spLocks/>
          </p:cNvSpPr>
          <p:nvPr/>
        </p:nvSpPr>
        <p:spPr>
          <a:xfrm>
            <a:off x="74736" y="85895"/>
            <a:ext cx="6153447" cy="6788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/>
              <a:t>Ejemplo calificaciones</a:t>
            </a:r>
          </a:p>
        </p:txBody>
      </p:sp>
      <p:sp>
        <p:nvSpPr>
          <p:cNvPr id="5" name="5 Rectángulo">
            <a:extLst>
              <a:ext uri="{FF2B5EF4-FFF2-40B4-BE49-F238E27FC236}">
                <a16:creationId xmlns:a16="http://schemas.microsoft.com/office/drawing/2014/main" id="{06D6ADF4-009E-42C9-93D7-ACCDE5E5538F}"/>
              </a:ext>
            </a:extLst>
          </p:cNvPr>
          <p:cNvSpPr/>
          <p:nvPr/>
        </p:nvSpPr>
        <p:spPr>
          <a:xfrm>
            <a:off x="307555" y="1081632"/>
            <a:ext cx="24970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/>
              <a:t>Resultados esperados</a:t>
            </a:r>
            <a:endParaRPr lang="es-CO" sz="2000" dirty="0"/>
          </a:p>
        </p:txBody>
      </p:sp>
      <p:graphicFrame>
        <p:nvGraphicFramePr>
          <p:cNvPr id="6" name="Tabla 9">
            <a:extLst>
              <a:ext uri="{FF2B5EF4-FFF2-40B4-BE49-F238E27FC236}">
                <a16:creationId xmlns:a16="http://schemas.microsoft.com/office/drawing/2014/main" id="{A18D4279-D5A7-44DF-B5D1-7CB09A895120}"/>
              </a:ext>
            </a:extLst>
          </p:cNvPr>
          <p:cNvGraphicFramePr>
            <a:graphicFrameLocks noGrp="1"/>
          </p:cNvGraphicFramePr>
          <p:nvPr/>
        </p:nvGraphicFramePr>
        <p:xfrm>
          <a:off x="307555" y="1617347"/>
          <a:ext cx="3821060" cy="2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2867">
                  <a:extLst>
                    <a:ext uri="{9D8B030D-6E8A-4147-A177-3AD203B41FA5}">
                      <a16:colId xmlns:a16="http://schemas.microsoft.com/office/drawing/2014/main" val="1520359308"/>
                    </a:ext>
                  </a:extLst>
                </a:gridCol>
                <a:gridCol w="1728193">
                  <a:extLst>
                    <a:ext uri="{9D8B030D-6E8A-4147-A177-3AD203B41FA5}">
                      <a16:colId xmlns:a16="http://schemas.microsoft.com/office/drawing/2014/main" val="4218542073"/>
                    </a:ext>
                  </a:extLst>
                </a:gridCol>
              </a:tblGrid>
              <a:tr h="306900">
                <a:tc>
                  <a:txBody>
                    <a:bodyPr/>
                    <a:lstStyle/>
                    <a:p>
                      <a:r>
                        <a:rPr lang="es-CO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Numero de estudiantes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+mn-lt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4777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Notas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4.0, 2.5, 3.0, 1.5, 4.8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968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Aprobaron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+mn-lt"/>
                        </a:rPr>
                        <a:t>(3) 60%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557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Reprobaron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+mn-lt"/>
                        </a:rPr>
                        <a:t>(2) 40%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2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Promedio nota aprobada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3.93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675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Promedio nota reprobada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+mn-lt"/>
                        </a:rPr>
                        <a:t>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638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Promedio general</a:t>
                      </a:r>
                      <a:endParaRPr lang="es-CO" sz="1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3.16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238023"/>
                  </a:ext>
                </a:extLst>
              </a:tr>
            </a:tbl>
          </a:graphicData>
        </a:graphic>
      </p:graphicFrame>
      <p:sp>
        <p:nvSpPr>
          <p:cNvPr id="13" name="5 Rectángulo">
            <a:extLst>
              <a:ext uri="{FF2B5EF4-FFF2-40B4-BE49-F238E27FC236}">
                <a16:creationId xmlns:a16="http://schemas.microsoft.com/office/drawing/2014/main" id="{C11AB076-103C-40DC-A51B-C7937C998661}"/>
              </a:ext>
            </a:extLst>
          </p:cNvPr>
          <p:cNvSpPr/>
          <p:nvPr/>
        </p:nvSpPr>
        <p:spPr>
          <a:xfrm>
            <a:off x="4355976" y="1055201"/>
            <a:ext cx="28655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/>
              <a:t>Resultado de ejecución</a:t>
            </a:r>
            <a:endParaRPr lang="es-CO" sz="20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D764A-A759-4830-8E6D-370A2063C3D7}"/>
              </a:ext>
            </a:extLst>
          </p:cNvPr>
          <p:cNvSpPr txBox="1"/>
          <p:nvPr/>
        </p:nvSpPr>
        <p:spPr>
          <a:xfrm>
            <a:off x="4355976" y="1659300"/>
            <a:ext cx="4283077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Consolas" panose="020B0609020204030204" pitchFamily="49" charset="0"/>
              </a:rPr>
              <a:t>Ingrese el número de estudiantes: 5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Ingrese la nota del estudiante 1: 4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Ingrese la nota del estudiante 2: 2.5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Ingrese la nota del estudiante 3: 3.0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Ingrese la nota del estudiante 4: 1.5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Ingrese la nota del estudiante 5: 4.8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Porcentaje de estudiantes que aprobaron: 60.0%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Porcentaje de estudiantes que reprobaron: 40.0%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Promedio de notas reprobadas: 2.0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Promedio de notas aprobadas: 3.9333333333333336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Promedio general de notas: 3.16</a:t>
            </a:r>
          </a:p>
        </p:txBody>
      </p:sp>
    </p:spTree>
    <p:extLst>
      <p:ext uri="{BB962C8B-B14F-4D97-AF65-F5344CB8AC3E}">
        <p14:creationId xmlns:p14="http://schemas.microsoft.com/office/powerpoint/2010/main" val="20917224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 Título">
            <a:extLst>
              <a:ext uri="{FF2B5EF4-FFF2-40B4-BE49-F238E27FC236}">
                <a16:creationId xmlns:a16="http://schemas.microsoft.com/office/drawing/2014/main" id="{AE7AE4FE-857D-48EA-8C2E-EFF7E2B785AF}"/>
              </a:ext>
            </a:extLst>
          </p:cNvPr>
          <p:cNvSpPr txBox="1">
            <a:spLocks/>
          </p:cNvSpPr>
          <p:nvPr/>
        </p:nvSpPr>
        <p:spPr>
          <a:xfrm>
            <a:off x="107504" y="179147"/>
            <a:ext cx="9145016" cy="657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/>
              <a:t>Ejemplo Calificaciones (Modular)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2AB03FC-1822-4DAB-9611-CC0D527F2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114" y="748053"/>
            <a:ext cx="4314599" cy="589537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A90F7A8-4DA2-4B67-A533-E7179F9B647D}"/>
              </a:ext>
            </a:extLst>
          </p:cNvPr>
          <p:cNvSpPr txBox="1"/>
          <p:nvPr/>
        </p:nvSpPr>
        <p:spPr>
          <a:xfrm>
            <a:off x="307212" y="1576696"/>
            <a:ext cx="4207095" cy="4339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latin typeface="Consolas" panose="020B0609020204030204" pitchFamily="49" charset="0"/>
              </a:rPr>
              <a:t># Programa principal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est_aprob</a:t>
            </a:r>
            <a:r>
              <a:rPr lang="es-CO" sz="1200" dirty="0">
                <a:latin typeface="Consolas" panose="020B0609020204030204" pitchFamily="49" charset="0"/>
              </a:rPr>
              <a:t> = 0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est_reprob</a:t>
            </a:r>
            <a:r>
              <a:rPr lang="es-CO" sz="1200" dirty="0">
                <a:latin typeface="Consolas" panose="020B0609020204030204" pitchFamily="49" charset="0"/>
              </a:rPr>
              <a:t> = 0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suma_aprob</a:t>
            </a:r>
            <a:r>
              <a:rPr lang="es-CO" sz="1200" dirty="0">
                <a:latin typeface="Consolas" panose="020B0609020204030204" pitchFamily="49" charset="0"/>
              </a:rPr>
              <a:t> = 0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suma_reprob</a:t>
            </a:r>
            <a:r>
              <a:rPr lang="es-CO" sz="1200" dirty="0">
                <a:latin typeface="Consolas" panose="020B0609020204030204" pitchFamily="49" charset="0"/>
              </a:rPr>
              <a:t> = 0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N = </a:t>
            </a:r>
            <a:r>
              <a:rPr lang="es-CO" sz="1200" dirty="0" err="1">
                <a:latin typeface="Consolas" panose="020B0609020204030204" pitchFamily="49" charset="0"/>
              </a:rPr>
              <a:t>int</a:t>
            </a:r>
            <a:r>
              <a:rPr lang="es-CO" sz="1200" dirty="0">
                <a:latin typeface="Consolas" panose="020B0609020204030204" pitchFamily="49" charset="0"/>
              </a:rPr>
              <a:t>(input("Número de estudiantes: "))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for</a:t>
            </a:r>
            <a:r>
              <a:rPr lang="es-CO" sz="1200" dirty="0">
                <a:latin typeface="Consolas" panose="020B0609020204030204" pitchFamily="49" charset="0"/>
              </a:rPr>
              <a:t> i in </a:t>
            </a:r>
            <a:r>
              <a:rPr lang="es-CO" sz="1200" dirty="0" err="1">
                <a:latin typeface="Consolas" panose="020B0609020204030204" pitchFamily="49" charset="0"/>
              </a:rPr>
              <a:t>range</a:t>
            </a:r>
            <a:r>
              <a:rPr lang="es-CO" sz="1200" dirty="0">
                <a:latin typeface="Consolas" panose="020B0609020204030204" pitchFamily="49" charset="0"/>
              </a:rPr>
              <a:t>(N):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nota = float(input("- Digite la nota: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if</a:t>
            </a:r>
            <a:r>
              <a:rPr lang="es-CO" sz="1200" dirty="0">
                <a:latin typeface="Consolas" panose="020B0609020204030204" pitchFamily="49" charset="0"/>
              </a:rPr>
              <a:t> 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es_nota_aprobatoria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(nota, NOTA_MINIMA)</a:t>
            </a:r>
            <a:r>
              <a:rPr lang="es-CO" sz="1200" dirty="0">
                <a:latin typeface="Consolas" panose="020B0609020204030204" pitchFamily="49" charset="0"/>
              </a:rPr>
              <a:t>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</a:t>
            </a:r>
            <a:r>
              <a:rPr lang="es-CO" sz="1200" dirty="0" err="1">
                <a:latin typeface="Consolas" panose="020B0609020204030204" pitchFamily="49" charset="0"/>
              </a:rPr>
              <a:t>est_aprob</a:t>
            </a:r>
            <a:r>
              <a:rPr lang="es-CO" sz="1200" dirty="0">
                <a:latin typeface="Consolas" panose="020B0609020204030204" pitchFamily="49" charset="0"/>
              </a:rPr>
              <a:t> += 1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</a:t>
            </a:r>
            <a:r>
              <a:rPr lang="es-CO" sz="1200" dirty="0" err="1">
                <a:latin typeface="Consolas" panose="020B0609020204030204" pitchFamily="49" charset="0"/>
              </a:rPr>
              <a:t>suma_aprob</a:t>
            </a:r>
            <a:r>
              <a:rPr lang="es-CO" sz="1200" dirty="0">
                <a:latin typeface="Consolas" panose="020B0609020204030204" pitchFamily="49" charset="0"/>
              </a:rPr>
              <a:t> += nota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else</a:t>
            </a:r>
            <a:r>
              <a:rPr lang="es-CO" sz="1200" dirty="0">
                <a:latin typeface="Consolas" panose="020B0609020204030204" pitchFamily="49" charset="0"/>
              </a:rPr>
              <a:t>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</a:t>
            </a:r>
            <a:r>
              <a:rPr lang="es-CO" sz="1200" dirty="0" err="1">
                <a:latin typeface="Consolas" panose="020B0609020204030204" pitchFamily="49" charset="0"/>
              </a:rPr>
              <a:t>est_reprob</a:t>
            </a:r>
            <a:r>
              <a:rPr lang="es-CO" sz="1200" dirty="0">
                <a:latin typeface="Consolas" panose="020B0609020204030204" pitchFamily="49" charset="0"/>
              </a:rPr>
              <a:t> += 1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</a:t>
            </a:r>
            <a:r>
              <a:rPr lang="es-CO" sz="1200" dirty="0" err="1">
                <a:latin typeface="Consolas" panose="020B0609020204030204" pitchFamily="49" charset="0"/>
              </a:rPr>
              <a:t>suma_reprob</a:t>
            </a:r>
            <a:r>
              <a:rPr lang="es-CO" sz="1200" dirty="0">
                <a:latin typeface="Consolas" panose="020B0609020204030204" pitchFamily="49" charset="0"/>
              </a:rPr>
              <a:t> += nota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 err="1">
                <a:latin typeface="Consolas" panose="020B0609020204030204" pitchFamily="49" charset="0"/>
              </a:rPr>
              <a:t>if</a:t>
            </a:r>
            <a:r>
              <a:rPr lang="es-CO" sz="1200" dirty="0">
                <a:latin typeface="Consolas" panose="020B0609020204030204" pitchFamily="49" charset="0"/>
              </a:rPr>
              <a:t> N &lt;= 0: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print("No hay estudiantes")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else</a:t>
            </a:r>
            <a:r>
              <a:rPr lang="es-CO" sz="1200" dirty="0">
                <a:latin typeface="Consolas" panose="020B0609020204030204" pitchFamily="49" charset="0"/>
              </a:rPr>
              <a:t>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imprimir_reporte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est_aprob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, 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             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est_reprob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es-CO" sz="1200" dirty="0">
                <a:latin typeface="Consolas" panose="020B0609020204030204" pitchFamily="49" charset="0"/>
              </a:rPr>
              <a:t>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             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suma_aprob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es-CO" sz="1200" dirty="0">
                <a:latin typeface="Consolas" panose="020B0609020204030204" pitchFamily="49" charset="0"/>
              </a:rPr>
              <a:t>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             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suma_reprob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4EC006-7B26-4ECF-B9C8-5119D8804E35}"/>
              </a:ext>
            </a:extLst>
          </p:cNvPr>
          <p:cNvSpPr txBox="1"/>
          <p:nvPr/>
        </p:nvSpPr>
        <p:spPr>
          <a:xfrm>
            <a:off x="307212" y="980728"/>
            <a:ext cx="2896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Programa principal</a:t>
            </a:r>
          </a:p>
        </p:txBody>
      </p:sp>
    </p:spTree>
    <p:extLst>
      <p:ext uri="{BB962C8B-B14F-4D97-AF65-F5344CB8AC3E}">
        <p14:creationId xmlns:p14="http://schemas.microsoft.com/office/powerpoint/2010/main" val="42495913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 Título">
            <a:extLst>
              <a:ext uri="{FF2B5EF4-FFF2-40B4-BE49-F238E27FC236}">
                <a16:creationId xmlns:a16="http://schemas.microsoft.com/office/drawing/2014/main" id="{AE7AE4FE-857D-48EA-8C2E-EFF7E2B785AF}"/>
              </a:ext>
            </a:extLst>
          </p:cNvPr>
          <p:cNvSpPr txBox="1">
            <a:spLocks/>
          </p:cNvSpPr>
          <p:nvPr/>
        </p:nvSpPr>
        <p:spPr>
          <a:xfrm>
            <a:off x="107504" y="179147"/>
            <a:ext cx="9145016" cy="657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/>
              <a:t>Ejemplo Calificaciones (Modular)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A90F7A8-4DA2-4B67-A533-E7179F9B647D}"/>
              </a:ext>
            </a:extLst>
          </p:cNvPr>
          <p:cNvSpPr txBox="1"/>
          <p:nvPr/>
        </p:nvSpPr>
        <p:spPr>
          <a:xfrm>
            <a:off x="4697872" y="1988840"/>
            <a:ext cx="392443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it-IT" sz="1200" dirty="0">
                <a:latin typeface="Consolas" panose="020B0609020204030204" pitchFamily="49" charset="0"/>
              </a:rPr>
              <a:t>def es_nota_aprobatoria(nota, nota_minima):  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aprob = nota &gt;= nota_minima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</a:t>
            </a:r>
            <a:r>
              <a:rPr lang="it-IT" sz="1200" dirty="0">
                <a:solidFill>
                  <a:schemeClr val="accent4"/>
                </a:solidFill>
                <a:latin typeface="Consolas" panose="020B0609020204030204" pitchFamily="49" charset="0"/>
              </a:rPr>
              <a:t>return</a:t>
            </a:r>
            <a:r>
              <a:rPr lang="it-IT" sz="1200" dirty="0">
                <a:latin typeface="Consolas" panose="020B0609020204030204" pitchFamily="49" charset="0"/>
              </a:rPr>
              <a:t> aprob</a:t>
            </a:r>
            <a:endParaRPr lang="es-CO" sz="1200" dirty="0">
              <a:latin typeface="Consolas" panose="020B0609020204030204" pitchFamily="49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FFABFA7-5763-4763-8B21-C0ABD2B25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58" y="1700808"/>
            <a:ext cx="3762375" cy="32004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9FB6817-04E9-4EEE-A5AB-ED6A232718F5}"/>
              </a:ext>
            </a:extLst>
          </p:cNvPr>
          <p:cNvSpPr txBox="1"/>
          <p:nvPr/>
        </p:nvSpPr>
        <p:spPr>
          <a:xfrm>
            <a:off x="539552" y="1012666"/>
            <a:ext cx="3762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Modulo </a:t>
            </a:r>
            <a:r>
              <a:rPr lang="es-CO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es_nota_aprobatoria</a:t>
            </a:r>
            <a:r>
              <a:rPr lang="es-CO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()</a:t>
            </a:r>
            <a:endParaRPr lang="es-CO" sz="2000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5083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 Título">
            <a:extLst>
              <a:ext uri="{FF2B5EF4-FFF2-40B4-BE49-F238E27FC236}">
                <a16:creationId xmlns:a16="http://schemas.microsoft.com/office/drawing/2014/main" id="{AE7AE4FE-857D-48EA-8C2E-EFF7E2B785AF}"/>
              </a:ext>
            </a:extLst>
          </p:cNvPr>
          <p:cNvSpPr txBox="1">
            <a:spLocks/>
          </p:cNvSpPr>
          <p:nvPr/>
        </p:nvSpPr>
        <p:spPr>
          <a:xfrm>
            <a:off x="107504" y="179147"/>
            <a:ext cx="9145016" cy="657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/>
              <a:t>Ejemplo Calificaciones (Modular)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A90F7A8-4DA2-4B67-A533-E7179F9B647D}"/>
              </a:ext>
            </a:extLst>
          </p:cNvPr>
          <p:cNvSpPr txBox="1"/>
          <p:nvPr/>
        </p:nvSpPr>
        <p:spPr>
          <a:xfrm>
            <a:off x="4689513" y="1844824"/>
            <a:ext cx="392443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it-IT" sz="1200" dirty="0">
                <a:latin typeface="Consolas" panose="020B0609020204030204" pitchFamily="49" charset="0"/>
              </a:rPr>
              <a:t>def calcular_promedio(suma, cantidad):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if cantidad == 0:    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prom = 0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else: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prom = suma/cantidad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</a:t>
            </a:r>
            <a:r>
              <a:rPr lang="it-IT" sz="1200" dirty="0">
                <a:solidFill>
                  <a:schemeClr val="accent4"/>
                </a:solidFill>
                <a:latin typeface="Consolas" panose="020B0609020204030204" pitchFamily="49" charset="0"/>
              </a:rPr>
              <a:t>return</a:t>
            </a:r>
            <a:r>
              <a:rPr lang="it-IT" sz="1200" dirty="0">
                <a:latin typeface="Consolas" panose="020B0609020204030204" pitchFamily="49" charset="0"/>
              </a:rPr>
              <a:t> prom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9FB6817-04E9-4EEE-A5AB-ED6A232718F5}"/>
              </a:ext>
            </a:extLst>
          </p:cNvPr>
          <p:cNvSpPr txBox="1"/>
          <p:nvPr/>
        </p:nvSpPr>
        <p:spPr>
          <a:xfrm>
            <a:off x="539552" y="1012666"/>
            <a:ext cx="3762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Modulo </a:t>
            </a:r>
            <a:r>
              <a:rPr lang="es-CO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calcular_promedio()</a:t>
            </a:r>
            <a:endParaRPr lang="es-CO" sz="2000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5EE2A4A-6F18-4BB5-87D5-BD93837D2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64" y="1588730"/>
            <a:ext cx="376237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722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 Título">
            <a:extLst>
              <a:ext uri="{FF2B5EF4-FFF2-40B4-BE49-F238E27FC236}">
                <a16:creationId xmlns:a16="http://schemas.microsoft.com/office/drawing/2014/main" id="{AE7AE4FE-857D-48EA-8C2E-EFF7E2B785AF}"/>
              </a:ext>
            </a:extLst>
          </p:cNvPr>
          <p:cNvSpPr txBox="1">
            <a:spLocks/>
          </p:cNvSpPr>
          <p:nvPr/>
        </p:nvSpPr>
        <p:spPr>
          <a:xfrm>
            <a:off x="107504" y="179147"/>
            <a:ext cx="9145016" cy="657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/>
              <a:t>Ejemplo Calificaciones (Modular)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A90F7A8-4DA2-4B67-A533-E7179F9B647D}"/>
              </a:ext>
            </a:extLst>
          </p:cNvPr>
          <p:cNvSpPr txBox="1"/>
          <p:nvPr/>
        </p:nvSpPr>
        <p:spPr>
          <a:xfrm>
            <a:off x="3921201" y="2090172"/>
            <a:ext cx="5120355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it-IT" sz="1200" dirty="0">
                <a:latin typeface="Consolas" panose="020B0609020204030204" pitchFamily="49" charset="0"/>
              </a:rPr>
              <a:t>def imprimir_reporte(est_aprob, est_reprob,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         suma_aprob, suma_reprob):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total = est_aprob + est_reprob 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print(f"Ganaron: {est_aprob}")    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print(f"Perdieron: {est_reprob}")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prom_abrob =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calcular_promedio(suma_aprob,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                    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est_aprob)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prom_reprob =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calcular_promedio(suma_reprob,</a:t>
            </a:r>
            <a:r>
              <a:rPr lang="it-IT" sz="1200" dirty="0">
                <a:latin typeface="Consolas" panose="020B0609020204030204" pitchFamily="49" charset="0"/>
              </a:rPr>
              <a:t>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                     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est_reprob)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prom_curso =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calcular_promedio(suma_aprob + suma_reprob,</a:t>
            </a:r>
            <a:r>
              <a:rPr lang="it-IT" sz="1200" dirty="0">
                <a:latin typeface="Consolas" panose="020B0609020204030204" pitchFamily="49" charset="0"/>
              </a:rPr>
              <a:t>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                   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 total)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print(f"Prom aprob: {prom_aprob:.2f}")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print(f"Prom reprob: {prom_reprob:.2f}")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print(f"Prom nota: {prom_curso:.2f}") </a:t>
            </a:r>
            <a:endParaRPr lang="es-CO" sz="1200" dirty="0">
              <a:latin typeface="Consolas" panose="020B06090202040302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9FB6817-04E9-4EEE-A5AB-ED6A232718F5}"/>
              </a:ext>
            </a:extLst>
          </p:cNvPr>
          <p:cNvSpPr txBox="1"/>
          <p:nvPr/>
        </p:nvSpPr>
        <p:spPr>
          <a:xfrm>
            <a:off x="539552" y="1012666"/>
            <a:ext cx="3762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Modulo </a:t>
            </a:r>
            <a:r>
              <a:rPr lang="es-CO" sz="20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imprimir</a:t>
            </a:r>
            <a:r>
              <a:rPr lang="es-CO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_reporte</a:t>
            </a:r>
            <a:r>
              <a:rPr lang="es-CO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()</a:t>
            </a:r>
            <a:endParaRPr lang="es-CO" sz="2000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56485E3-22BB-415F-8C94-8444FF07B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700808"/>
            <a:ext cx="3735587" cy="466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2710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 Título">
            <a:extLst>
              <a:ext uri="{FF2B5EF4-FFF2-40B4-BE49-F238E27FC236}">
                <a16:creationId xmlns:a16="http://schemas.microsoft.com/office/drawing/2014/main" id="{AE7AE4FE-857D-48EA-8C2E-EFF7E2B785AF}"/>
              </a:ext>
            </a:extLst>
          </p:cNvPr>
          <p:cNvSpPr txBox="1">
            <a:spLocks/>
          </p:cNvSpPr>
          <p:nvPr/>
        </p:nvSpPr>
        <p:spPr>
          <a:xfrm>
            <a:off x="107504" y="179147"/>
            <a:ext cx="9145016" cy="657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/>
              <a:t>Ejemplo Calificaciones (Modular)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A90F7A8-4DA2-4B67-A533-E7179F9B647D}"/>
              </a:ext>
            </a:extLst>
          </p:cNvPr>
          <p:cNvSpPr txBox="1"/>
          <p:nvPr/>
        </p:nvSpPr>
        <p:spPr>
          <a:xfrm>
            <a:off x="4563740" y="1154942"/>
            <a:ext cx="4311148" cy="4339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es-CO" sz="120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------------- </a:t>
            </a:r>
            <a:r>
              <a:rPr lang="es-CO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Programa principal </a:t>
            </a:r>
            <a:r>
              <a:rPr lang="es-CO" sz="120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-------------</a:t>
            </a:r>
            <a:endParaRPr lang="es-CO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s-CO" sz="1200" dirty="0" err="1">
                <a:latin typeface="Consolas" panose="020B0609020204030204" pitchFamily="49" charset="0"/>
              </a:rPr>
              <a:t>est_aprob</a:t>
            </a:r>
            <a:r>
              <a:rPr lang="es-CO" sz="1200" dirty="0">
                <a:latin typeface="Consolas" panose="020B0609020204030204" pitchFamily="49" charset="0"/>
              </a:rPr>
              <a:t> = 0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est_reprob</a:t>
            </a:r>
            <a:r>
              <a:rPr lang="es-CO" sz="1200" dirty="0">
                <a:latin typeface="Consolas" panose="020B0609020204030204" pitchFamily="49" charset="0"/>
              </a:rPr>
              <a:t> = 0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suma_aprob</a:t>
            </a:r>
            <a:r>
              <a:rPr lang="es-CO" sz="1200" dirty="0">
                <a:latin typeface="Consolas" panose="020B0609020204030204" pitchFamily="49" charset="0"/>
              </a:rPr>
              <a:t> = 0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suma_reprob</a:t>
            </a:r>
            <a:r>
              <a:rPr lang="es-CO" sz="1200" dirty="0">
                <a:latin typeface="Consolas" panose="020B0609020204030204" pitchFamily="49" charset="0"/>
              </a:rPr>
              <a:t> = 0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latin typeface="Consolas" panose="020B0609020204030204" pitchFamily="49" charset="0"/>
              </a:rPr>
              <a:t>N = </a:t>
            </a:r>
            <a:r>
              <a:rPr lang="es-CO" sz="1200" dirty="0" err="1">
                <a:latin typeface="Consolas" panose="020B0609020204030204" pitchFamily="49" charset="0"/>
              </a:rPr>
              <a:t>int</a:t>
            </a:r>
            <a:r>
              <a:rPr lang="es-CO" sz="1200" dirty="0">
                <a:latin typeface="Consolas" panose="020B0609020204030204" pitchFamily="49" charset="0"/>
              </a:rPr>
              <a:t>(input("Número de estudiantes: "))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for</a:t>
            </a:r>
            <a:r>
              <a:rPr lang="es-CO" sz="1200" dirty="0">
                <a:latin typeface="Consolas" panose="020B0609020204030204" pitchFamily="49" charset="0"/>
              </a:rPr>
              <a:t> i in </a:t>
            </a:r>
            <a:r>
              <a:rPr lang="es-CO" sz="1200" dirty="0" err="1">
                <a:latin typeface="Consolas" panose="020B0609020204030204" pitchFamily="49" charset="0"/>
              </a:rPr>
              <a:t>range</a:t>
            </a:r>
            <a:r>
              <a:rPr lang="es-CO" sz="1200" dirty="0">
                <a:latin typeface="Consolas" panose="020B0609020204030204" pitchFamily="49" charset="0"/>
              </a:rPr>
              <a:t>(N):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nota = float(input("- Digite la nota: "))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if</a:t>
            </a:r>
            <a:r>
              <a:rPr lang="es-CO" sz="1200" dirty="0">
                <a:latin typeface="Consolas" panose="020B0609020204030204" pitchFamily="49" charset="0"/>
              </a:rPr>
              <a:t> 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es_nota_aprobatoria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(nota, NOTA_MINIMA)</a:t>
            </a:r>
            <a:r>
              <a:rPr lang="es-CO" sz="1200" dirty="0">
                <a:latin typeface="Consolas" panose="020B0609020204030204" pitchFamily="49" charset="0"/>
              </a:rPr>
              <a:t>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</a:t>
            </a:r>
            <a:r>
              <a:rPr lang="es-CO" sz="1200" dirty="0" err="1">
                <a:latin typeface="Consolas" panose="020B0609020204030204" pitchFamily="49" charset="0"/>
              </a:rPr>
              <a:t>est_aprob</a:t>
            </a:r>
            <a:r>
              <a:rPr lang="es-CO" sz="1200" dirty="0">
                <a:latin typeface="Consolas" panose="020B0609020204030204" pitchFamily="49" charset="0"/>
              </a:rPr>
              <a:t> += 1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</a:t>
            </a:r>
            <a:r>
              <a:rPr lang="es-CO" sz="1200" dirty="0" err="1">
                <a:latin typeface="Consolas" panose="020B0609020204030204" pitchFamily="49" charset="0"/>
              </a:rPr>
              <a:t>suma_aprob</a:t>
            </a:r>
            <a:r>
              <a:rPr lang="es-CO" sz="1200" dirty="0">
                <a:latin typeface="Consolas" panose="020B0609020204030204" pitchFamily="49" charset="0"/>
              </a:rPr>
              <a:t> += nota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latin typeface="Consolas" panose="020B0609020204030204" pitchFamily="49" charset="0"/>
              </a:rPr>
              <a:t>else</a:t>
            </a:r>
            <a:r>
              <a:rPr lang="es-CO" sz="1200" dirty="0">
                <a:latin typeface="Consolas" panose="020B0609020204030204" pitchFamily="49" charset="0"/>
              </a:rPr>
              <a:t>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</a:t>
            </a:r>
            <a:r>
              <a:rPr lang="es-CO" sz="1200" dirty="0" err="1">
                <a:latin typeface="Consolas" panose="020B0609020204030204" pitchFamily="49" charset="0"/>
              </a:rPr>
              <a:t>est_reprob</a:t>
            </a:r>
            <a:r>
              <a:rPr lang="es-CO" sz="1200" dirty="0">
                <a:latin typeface="Consolas" panose="020B0609020204030204" pitchFamily="49" charset="0"/>
              </a:rPr>
              <a:t> += 1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</a:t>
            </a:r>
            <a:r>
              <a:rPr lang="es-CO" sz="1200" dirty="0" err="1">
                <a:latin typeface="Consolas" panose="020B0609020204030204" pitchFamily="49" charset="0"/>
              </a:rPr>
              <a:t>suma_reprob</a:t>
            </a:r>
            <a:r>
              <a:rPr lang="es-CO" sz="1200" dirty="0">
                <a:latin typeface="Consolas" panose="020B0609020204030204" pitchFamily="49" charset="0"/>
              </a:rPr>
              <a:t> += nota</a:t>
            </a:r>
          </a:p>
          <a:p>
            <a:endParaRPr lang="es-CO" sz="1200" dirty="0">
              <a:latin typeface="Consolas" panose="020B0609020204030204" pitchFamily="49" charset="0"/>
            </a:endParaRPr>
          </a:p>
          <a:p>
            <a:r>
              <a:rPr lang="es-CO" sz="1200" dirty="0" err="1">
                <a:latin typeface="Consolas" panose="020B0609020204030204" pitchFamily="49" charset="0"/>
              </a:rPr>
              <a:t>if</a:t>
            </a:r>
            <a:r>
              <a:rPr lang="es-CO" sz="1200" dirty="0">
                <a:latin typeface="Consolas" panose="020B0609020204030204" pitchFamily="49" charset="0"/>
              </a:rPr>
              <a:t> N &lt;= 0: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print("No hay estudiantes")</a:t>
            </a:r>
          </a:p>
          <a:p>
            <a:r>
              <a:rPr lang="es-CO" sz="1200" dirty="0" err="1">
                <a:latin typeface="Consolas" panose="020B0609020204030204" pitchFamily="49" charset="0"/>
              </a:rPr>
              <a:t>else</a:t>
            </a:r>
            <a:r>
              <a:rPr lang="es-CO" sz="1200" dirty="0">
                <a:latin typeface="Consolas" panose="020B0609020204030204" pitchFamily="49" charset="0"/>
              </a:rPr>
              <a:t>: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imprimir_reporte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est_aprob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, 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             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est_reprob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es-CO" sz="1200" dirty="0">
                <a:latin typeface="Consolas" panose="020B0609020204030204" pitchFamily="49" charset="0"/>
              </a:rPr>
              <a:t>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             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suma_aprob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es-CO" sz="1200" dirty="0">
                <a:latin typeface="Consolas" panose="020B0609020204030204" pitchFamily="49" charset="0"/>
              </a:rPr>
              <a:t> 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                     </a:t>
            </a:r>
            <a:r>
              <a:rPr lang="es-CO" sz="1200" dirty="0" err="1">
                <a:highlight>
                  <a:srgbClr val="FFFF00"/>
                </a:highlight>
                <a:latin typeface="Consolas" panose="020B0609020204030204" pitchFamily="49" charset="0"/>
              </a:rPr>
              <a:t>suma_reprob</a:t>
            </a:r>
            <a:r>
              <a:rPr lang="es-CO" sz="12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4EC006-7B26-4ECF-B9C8-5119D8804E35}"/>
              </a:ext>
            </a:extLst>
          </p:cNvPr>
          <p:cNvSpPr txBox="1"/>
          <p:nvPr/>
        </p:nvSpPr>
        <p:spPr>
          <a:xfrm>
            <a:off x="107504" y="754832"/>
            <a:ext cx="2896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Codigo completo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2AADDA1-73B3-4510-AEF1-D76E556AB09E}"/>
              </a:ext>
            </a:extLst>
          </p:cNvPr>
          <p:cNvSpPr txBox="1"/>
          <p:nvPr/>
        </p:nvSpPr>
        <p:spPr>
          <a:xfrm>
            <a:off x="179512" y="1124744"/>
            <a:ext cx="4120772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20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# Constante</a:t>
            </a:r>
            <a:r>
              <a:rPr lang="es-CO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s</a:t>
            </a:r>
          </a:p>
          <a:p>
            <a:r>
              <a:rPr lang="es-CO" sz="1200" dirty="0">
                <a:latin typeface="Consolas" panose="020B0609020204030204" pitchFamily="49" charset="0"/>
              </a:rPr>
              <a:t>NOTA_MINIMA = </a:t>
            </a:r>
            <a:r>
              <a:rPr lang="es-CO" sz="12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3.0</a:t>
            </a:r>
          </a:p>
          <a:p>
            <a:endParaRPr lang="it-IT" sz="1200" dirty="0">
              <a:latin typeface="Consolas" panose="020B0609020204030204" pitchFamily="49" charset="0"/>
            </a:endParaRPr>
          </a:p>
          <a:p>
            <a:r>
              <a:rPr lang="es-CO" sz="120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#  ------------- </a:t>
            </a:r>
            <a:r>
              <a:rPr lang="es-MX" sz="120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Funciones </a:t>
            </a:r>
            <a:r>
              <a:rPr lang="es-CO" sz="120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-------------</a:t>
            </a:r>
            <a:endParaRPr lang="it-IT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it-IT" sz="1200" dirty="0">
                <a:latin typeface="Consolas" panose="020B0609020204030204" pitchFamily="49" charset="0"/>
              </a:rPr>
              <a:t>def es_nota_aprobatoria(nota, nota_minima):  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aprob = nota &gt;= nota_minima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</a:t>
            </a:r>
            <a:r>
              <a:rPr lang="it-IT" sz="1200" dirty="0">
                <a:solidFill>
                  <a:schemeClr val="accent4"/>
                </a:solidFill>
                <a:latin typeface="Consolas" panose="020B0609020204030204" pitchFamily="49" charset="0"/>
              </a:rPr>
              <a:t>return</a:t>
            </a:r>
            <a:r>
              <a:rPr lang="it-IT" sz="1200" dirty="0">
                <a:latin typeface="Consolas" panose="020B0609020204030204" pitchFamily="49" charset="0"/>
              </a:rPr>
              <a:t> aprob</a:t>
            </a:r>
            <a:endParaRPr lang="es-CO" sz="1200" dirty="0">
              <a:latin typeface="Consolas" panose="020B0609020204030204" pitchFamily="49" charset="0"/>
            </a:endParaRPr>
          </a:p>
          <a:p>
            <a:endParaRPr lang="it-IT" sz="1200" dirty="0">
              <a:latin typeface="Consolas" panose="020B0609020204030204" pitchFamily="49" charset="0"/>
            </a:endParaRPr>
          </a:p>
          <a:p>
            <a:r>
              <a:rPr lang="it-IT" sz="1200" dirty="0">
                <a:latin typeface="Consolas" panose="020B0609020204030204" pitchFamily="49" charset="0"/>
              </a:rPr>
              <a:t>def calcular_promedio(suma, cantidad):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if cantidad == 0:    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prom = 0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else: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prom = suma/cantidad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</a:t>
            </a:r>
            <a:r>
              <a:rPr lang="it-IT" sz="1200" dirty="0">
                <a:solidFill>
                  <a:schemeClr val="accent4"/>
                </a:solidFill>
                <a:latin typeface="Consolas" panose="020B0609020204030204" pitchFamily="49" charset="0"/>
              </a:rPr>
              <a:t>return</a:t>
            </a:r>
            <a:r>
              <a:rPr lang="it-IT" sz="1200" dirty="0">
                <a:latin typeface="Consolas" panose="020B0609020204030204" pitchFamily="49" charset="0"/>
              </a:rPr>
              <a:t> prom</a:t>
            </a:r>
            <a:endParaRPr lang="es-CO" sz="1200" dirty="0">
              <a:latin typeface="Consolas" panose="020B0609020204030204" pitchFamily="49" charset="0"/>
            </a:endParaRPr>
          </a:p>
          <a:p>
            <a:endParaRPr lang="it-IT" sz="1200" dirty="0">
              <a:latin typeface="Consolas" panose="020B0609020204030204" pitchFamily="49" charset="0"/>
            </a:endParaRPr>
          </a:p>
          <a:p>
            <a:r>
              <a:rPr lang="it-IT" sz="1200" dirty="0">
                <a:latin typeface="Consolas" panose="020B0609020204030204" pitchFamily="49" charset="0"/>
              </a:rPr>
              <a:t>def imprimir_reporte(est_aprob, est_reprob,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         suma_aprob, suma_reprob):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total = est_aprob + est_reprob 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print(f"Ganaron: {est_aprob}")    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print(f"Perdieron: {est_reprob}")   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prom_abrob =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calcular_promedio(suma_aprob,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                    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est_aprob)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prom_reprob =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calcular_promedio(suma_reprob,</a:t>
            </a:r>
            <a:r>
              <a:rPr lang="it-IT" sz="1200" dirty="0">
                <a:latin typeface="Consolas" panose="020B0609020204030204" pitchFamily="49" charset="0"/>
              </a:rPr>
              <a:t>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                     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est_reprob)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prom_curso =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calcular_promedio(suma_aprob +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                    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suma_reprob,</a:t>
            </a:r>
            <a:r>
              <a:rPr lang="it-IT" sz="1200" dirty="0">
                <a:latin typeface="Consolas" panose="020B0609020204030204" pitchFamily="49" charset="0"/>
              </a:rPr>
              <a:t>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                     </a:t>
            </a:r>
            <a:r>
              <a:rPr lang="it-IT" sz="1200" dirty="0">
                <a:highlight>
                  <a:srgbClr val="FFFF00"/>
                </a:highlight>
                <a:latin typeface="Consolas" panose="020B0609020204030204" pitchFamily="49" charset="0"/>
              </a:rPr>
              <a:t>total)</a:t>
            </a:r>
            <a:r>
              <a:rPr lang="it-IT" sz="1200" dirty="0">
                <a:latin typeface="Consolas" panose="020B0609020204030204" pitchFamily="49" charset="0"/>
              </a:rPr>
              <a:t>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print(f"Prom aprob: {prom_aprob:.2f}")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print(f"Prom reprob: {prom_reprob:.2f}") 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print(f"Prom nota: {prom_curso:.2f}")</a:t>
            </a:r>
            <a:endParaRPr lang="es-CO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6418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7504" y="23817"/>
            <a:ext cx="7886700" cy="812895"/>
          </a:xfrm>
        </p:spPr>
        <p:txBody>
          <a:bodyPr>
            <a:normAutofit/>
          </a:bodyPr>
          <a:lstStyle/>
          <a:p>
            <a:r>
              <a:rPr lang="en-US" sz="4000" dirty="0"/>
              <a:t>Referencias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1520" y="1088740"/>
            <a:ext cx="8424936" cy="5148572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2"/>
              </a:rPr>
              <a:t>https://ellibrodepython.com/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3"/>
              </a:rPr>
              <a:t>https://www.w3resource.com/index.php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4"/>
              </a:rPr>
              <a:t>https://realpython.com/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5"/>
              </a:rPr>
              <a:t>https://curriculumresources.edu.gh/wp-content/uploads/2025/01/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6"/>
              </a:rPr>
              <a:t>https://python-course.eu/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7"/>
              </a:rPr>
              <a:t>https://realpython.com/cheatsheets/python/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8"/>
              </a:rPr>
              <a:t>https://realpython.com/defining-your-own-python-function/</a:t>
            </a:r>
            <a:r>
              <a:rPr lang="es-CO" sz="2000" dirty="0"/>
              <a:t>    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9"/>
              </a:rPr>
              <a:t>https://realpython.com/python-built-in-functions/</a:t>
            </a:r>
            <a:endParaRPr lang="es-CO" sz="2000" dirty="0"/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10"/>
              </a:rPr>
              <a:t>https://realpython.com/ref/best-practices/functions/</a:t>
            </a:r>
            <a:r>
              <a:rPr lang="es-CO" sz="20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000" dirty="0">
                <a:hlinkClick r:id="rId11"/>
              </a:rPr>
              <a:t>https://makecode.microbit.org/courses/csintro</a:t>
            </a:r>
            <a:r>
              <a:rPr lang="es-CO" sz="2000" dirty="0"/>
              <a:t> 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hlinkClick r:id="rId12"/>
              </a:rPr>
              <a:t>https://makecode.microbit.org/courses</a:t>
            </a:r>
            <a:r>
              <a:rPr lang="en-US" sz="20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hlinkClick r:id="rId13"/>
              </a:rPr>
              <a:t>https://realpython.com/python-while-loop/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hlinkClick r:id="rId14"/>
              </a:rPr>
              <a:t>https://realpython.com/ref/keywords/while/</a:t>
            </a:r>
            <a:r>
              <a:rPr lang="en-US" sz="20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hlinkClick r:id="rId15"/>
              </a:rPr>
              <a:t>https://cs.stanford.edu/people/nick/py/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31648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0617"/>
            <a:ext cx="8191822" cy="728103"/>
          </a:xfrm>
        </p:spPr>
        <p:txBody>
          <a:bodyPr/>
          <a:lstStyle/>
          <a:p>
            <a:r>
              <a:rPr lang="es-CO" dirty="0"/>
              <a:t>Eso es todo amigos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F35EEF4-F126-467F-A5BB-259AA6499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912200"/>
            <a:ext cx="4113633" cy="5868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7 Rectángulo">
            <a:extLst>
              <a:ext uri="{FF2B5EF4-FFF2-40B4-BE49-F238E27FC236}">
                <a16:creationId xmlns:a16="http://schemas.microsoft.com/office/drawing/2014/main" id="{27C7AA4C-274E-4F17-B614-41C209AA98D3}"/>
              </a:ext>
            </a:extLst>
          </p:cNvPr>
          <p:cNvSpPr/>
          <p:nvPr/>
        </p:nvSpPr>
        <p:spPr>
          <a:xfrm>
            <a:off x="101021" y="6519446"/>
            <a:ext cx="367889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100" dirty="0">
                <a:hlinkClick r:id="rId3"/>
              </a:rPr>
              <a:t>https://phdcomics.com/comics/archive.php?comicid=1431</a:t>
            </a:r>
            <a:r>
              <a:rPr lang="es-CO" sz="1100" dirty="0"/>
              <a:t> </a:t>
            </a:r>
          </a:p>
        </p:txBody>
      </p:sp>
      <p:pic>
        <p:nvPicPr>
          <p:cNvPr id="2050" name="Picture 2" descr="Ouch Images – Browse 81,244 Stock Photos, Vectors, and Video | Adobe Stock">
            <a:extLst>
              <a:ext uri="{FF2B5EF4-FFF2-40B4-BE49-F238E27FC236}">
                <a16:creationId xmlns:a16="http://schemas.microsoft.com/office/drawing/2014/main" id="{190AEE93-FCB4-45D0-A740-34697C5E7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51" y="2496793"/>
            <a:ext cx="3563955" cy="2434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4962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15403</TotalTime>
  <Words>7237</Words>
  <Application>Microsoft Office PowerPoint</Application>
  <PresentationFormat>Presentación en pantalla (4:3)</PresentationFormat>
  <Paragraphs>1221</Paragraphs>
  <Slides>62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62</vt:i4>
      </vt:variant>
    </vt:vector>
  </HeadingPairs>
  <TitlesOfParts>
    <vt:vector size="71" baseType="lpstr">
      <vt:lpstr>Arial</vt:lpstr>
      <vt:lpstr>Calibri</vt:lpstr>
      <vt:lpstr>Calibri Light</vt:lpstr>
      <vt:lpstr>Cambria Math</vt:lpstr>
      <vt:lpstr>Century Gothic</vt:lpstr>
      <vt:lpstr>Consolas</vt:lpstr>
      <vt:lpstr>Courier New</vt:lpstr>
      <vt:lpstr>Wingdings</vt:lpstr>
      <vt:lpstr>Office Theme</vt:lpstr>
      <vt:lpstr>Lógica y Representación 1</vt:lpstr>
      <vt:lpstr>Método de Polya - Resumen</vt:lpstr>
      <vt:lpstr>Entrada, procesamiento y salida</vt:lpstr>
      <vt:lpstr>Tabla resumen</vt:lpstr>
      <vt:lpstr>Tabla resumen</vt:lpstr>
      <vt:lpstr>Casos en los problemas de decisión lógica</vt:lpstr>
      <vt:lpstr>Alternativa simple</vt:lpstr>
      <vt:lpstr>Alternativa doble</vt:lpstr>
      <vt:lpstr>Alternativa múltiple – Mismo criterio</vt:lpstr>
      <vt:lpstr>Alternativa múltiple – Mismo criterio</vt:lpstr>
      <vt:lpstr>Alternativa múltiple – Diferente criterio</vt:lpstr>
      <vt:lpstr>Alternativa múltiple – Diferente criterio</vt:lpstr>
      <vt:lpstr>Ciclo mientras</vt:lpstr>
      <vt:lpstr>Ciclo Para</vt:lpstr>
      <vt:lpstr>Tipos de variables útiles en los ciclos</vt:lpstr>
      <vt:lpstr>Recapitulando lo visto</vt:lpstr>
      <vt:lpstr>Introducción a las funciones</vt:lpstr>
      <vt:lpstr>Módulos, subrutinas, procedimientos, funciones o métodos</vt:lpstr>
      <vt:lpstr>Ventajas de la modularización</vt:lpstr>
      <vt:lpstr>Abstracción</vt:lpstr>
      <vt:lpstr>Trabajo simultaneo</vt:lpstr>
      <vt:lpstr>Reutilización y confiabilidad</vt:lpstr>
      <vt:lpstr>Facilitando la identificación de estructuras</vt:lpstr>
      <vt:lpstr>Modularizando un programa</vt:lpstr>
      <vt:lpstr>Nombrando módulos</vt:lpstr>
      <vt:lpstr>Funciones en Python - Definición</vt:lpstr>
      <vt:lpstr>Tipos de funciones según entradas y salidas</vt:lpstr>
      <vt:lpstr>Tipos de funciones según entradas y salidas</vt:lpstr>
      <vt:lpstr>Funciones en Python - Invocación</vt:lpstr>
      <vt:lpstr>Trabajando con funciones</vt:lpstr>
      <vt:lpstr>Trabajando con funciones</vt:lpstr>
      <vt:lpstr>Probar una función</vt:lpstr>
      <vt:lpstr>Pruebas con assert</vt:lpstr>
      <vt:lpstr>Pruebas con assert: casos y tips</vt:lpstr>
      <vt:lpstr>Pruebas con assert: casos y tips</vt:lpstr>
      <vt:lpstr>¿Está bien esta función?</vt:lpstr>
      <vt:lpstr>¿Está bien esta función?</vt:lpstr>
      <vt:lpstr>Tipos de funciones: Resumen</vt:lpstr>
      <vt:lpstr>Función llamadora y función llamada</vt:lpstr>
      <vt:lpstr>Cohesión funcional: una función, una tarea</vt:lpstr>
      <vt:lpstr>Comparación</vt:lpstr>
      <vt:lpstr>Análisis – Ejemplo área de figuras</vt:lpstr>
      <vt:lpstr>Análisis – Ejemplo área de figuras</vt:lpstr>
      <vt:lpstr>Análisis – Ejemplo área de figuras</vt:lpstr>
      <vt:lpstr>Diseño – Ejemplo área de figuras</vt:lpstr>
      <vt:lpstr>Codificación – Ejemplo area de figuras</vt:lpstr>
      <vt:lpstr>Codificación – Ejemplo area de figuras</vt:lpstr>
      <vt:lpstr>Codificación – Ejemplo area de figuras</vt:lpstr>
      <vt:lpstr>Pruebas – Ejemplo area de figuras</vt:lpstr>
      <vt:lpstr>Integración – Ejemplo area de figuras</vt:lpstr>
      <vt:lpstr>Análisis – Ejemplo calificaciones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Referencias</vt:lpstr>
      <vt:lpstr>Eso es todo amigos</vt:lpstr>
    </vt:vector>
  </TitlesOfParts>
  <Company>Universidad de Antioquia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del curso</dc:title>
  <dc:creator>Apoyo Administrativo Ingeniería</dc:creator>
  <cp:lastModifiedBy>HENRY ALBERTO ARCILA RAMIREZ</cp:lastModifiedBy>
  <cp:revision>278</cp:revision>
  <dcterms:created xsi:type="dcterms:W3CDTF">2015-03-12T20:27:20Z</dcterms:created>
  <dcterms:modified xsi:type="dcterms:W3CDTF">2026-10-06T03:37:16Z</dcterms:modified>
</cp:coreProperties>
</file>