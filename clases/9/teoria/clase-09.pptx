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99" r:id="rId1"/>
  </p:sldMasterIdLst>
  <p:notesMasterIdLst>
    <p:notesMasterId r:id="rId42"/>
  </p:notesMasterIdLst>
  <p:sldIdLst>
    <p:sldId id="281" r:id="rId2"/>
    <p:sldId id="309" r:id="rId3"/>
    <p:sldId id="368" r:id="rId4"/>
    <p:sldId id="405" r:id="rId5"/>
    <p:sldId id="427" r:id="rId6"/>
    <p:sldId id="349" r:id="rId7"/>
    <p:sldId id="350" r:id="rId8"/>
    <p:sldId id="428" r:id="rId9"/>
    <p:sldId id="468" r:id="rId10"/>
    <p:sldId id="541" r:id="rId11"/>
    <p:sldId id="469" r:id="rId12"/>
    <p:sldId id="542" r:id="rId13"/>
    <p:sldId id="569" r:id="rId14"/>
    <p:sldId id="570" r:id="rId15"/>
    <p:sldId id="539" r:id="rId16"/>
    <p:sldId id="540" r:id="rId17"/>
    <p:sldId id="594" r:id="rId18"/>
    <p:sldId id="536" r:id="rId19"/>
    <p:sldId id="571" r:id="rId20"/>
    <p:sldId id="572" r:id="rId21"/>
    <p:sldId id="573" r:id="rId22"/>
    <p:sldId id="574" r:id="rId23"/>
    <p:sldId id="575" r:id="rId24"/>
    <p:sldId id="576" r:id="rId25"/>
    <p:sldId id="577" r:id="rId26"/>
    <p:sldId id="578" r:id="rId27"/>
    <p:sldId id="579" r:id="rId28"/>
    <p:sldId id="587" r:id="rId29"/>
    <p:sldId id="580" r:id="rId30"/>
    <p:sldId id="588" r:id="rId31"/>
    <p:sldId id="583" r:id="rId32"/>
    <p:sldId id="585" r:id="rId33"/>
    <p:sldId id="586" r:id="rId34"/>
    <p:sldId id="590" r:id="rId35"/>
    <p:sldId id="589" r:id="rId36"/>
    <p:sldId id="591" r:id="rId37"/>
    <p:sldId id="592" r:id="rId38"/>
    <p:sldId id="593" r:id="rId39"/>
    <p:sldId id="310" r:id="rId40"/>
    <p:sldId id="277" r:id="rId4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EC20E35-A176-4012-BC5E-935CFFF8708E}" styleName="Estilo medio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779" autoAdjust="0"/>
    <p:restoredTop sz="94291" autoAdjust="0"/>
  </p:normalViewPr>
  <p:slideViewPr>
    <p:cSldViewPr>
      <p:cViewPr>
        <p:scale>
          <a:sx n="75" d="100"/>
          <a:sy n="75" d="100"/>
        </p:scale>
        <p:origin x="1188" y="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34617D2-EBA5-43D3-A846-ABD7019008A4}" type="doc">
      <dgm:prSet loTypeId="urn:microsoft.com/office/officeart/2005/8/layout/chevron2" loCatId="process" qsTypeId="urn:microsoft.com/office/officeart/2005/8/quickstyle/simple4" qsCatId="simple" csTypeId="urn:microsoft.com/office/officeart/2005/8/colors/colorful3" csCatId="colorful" phldr="1"/>
      <dgm:spPr/>
      <dgm:t>
        <a:bodyPr/>
        <a:lstStyle/>
        <a:p>
          <a:endParaRPr lang="es-CO"/>
        </a:p>
      </dgm:t>
    </dgm:pt>
    <dgm:pt modelId="{0F6E169A-367E-48F6-8A0F-9538EF72E803}">
      <dgm:prSet phldrT="[Texto]" custT="1"/>
      <dgm:spPr/>
      <dgm:t>
        <a:bodyPr/>
        <a:lstStyle/>
        <a:p>
          <a:r>
            <a:rPr lang="es-CO" sz="1600" dirty="0">
              <a:latin typeface="Century Gothic" panose="020B0502020202020204" pitchFamily="34" charset="0"/>
            </a:rPr>
            <a:t>1</a:t>
          </a:r>
          <a:endParaRPr lang="es-CO" sz="1200" dirty="0">
            <a:latin typeface="Century Gothic" panose="020B0502020202020204" pitchFamily="34" charset="0"/>
          </a:endParaRPr>
        </a:p>
      </dgm:t>
    </dgm:pt>
    <dgm:pt modelId="{214810CF-0E9F-420E-9F44-94CA29248781}" type="parTrans" cxnId="{1D7BCF56-E33F-4A42-8129-E524DE8CA73C}">
      <dgm:prSet/>
      <dgm:spPr/>
      <dgm:t>
        <a:bodyPr/>
        <a:lstStyle/>
        <a:p>
          <a:endParaRPr lang="es-CO" sz="1600"/>
        </a:p>
      </dgm:t>
    </dgm:pt>
    <dgm:pt modelId="{9E3845BF-94AB-444E-AB21-A0DA1B4B1270}" type="sibTrans" cxnId="{1D7BCF56-E33F-4A42-8129-E524DE8CA73C}">
      <dgm:prSet/>
      <dgm:spPr/>
      <dgm:t>
        <a:bodyPr/>
        <a:lstStyle/>
        <a:p>
          <a:endParaRPr lang="es-CO" sz="1600"/>
        </a:p>
      </dgm:t>
    </dgm:pt>
    <dgm:pt modelId="{676AA4D5-22F4-47B3-B0E8-95C3D9C99480}">
      <dgm:prSet phldrT="[Texto]" custT="1"/>
      <dgm:spPr/>
      <dgm:t>
        <a:bodyPr/>
        <a:lstStyle/>
        <a:p>
          <a:pPr>
            <a:buNone/>
          </a:pPr>
          <a:r>
            <a:rPr lang="es-CO" sz="2000" dirty="0">
              <a:latin typeface="Century Gothic" panose="020B0502020202020204" pitchFamily="34" charset="0"/>
            </a:rPr>
            <a:t>Entender el problema</a:t>
          </a:r>
        </a:p>
      </dgm:t>
    </dgm:pt>
    <dgm:pt modelId="{65AE6963-95E3-417E-9DBC-C327427667A9}" type="parTrans" cxnId="{E402CAF0-5AAA-416F-BAF4-3854EF253EE5}">
      <dgm:prSet/>
      <dgm:spPr/>
      <dgm:t>
        <a:bodyPr/>
        <a:lstStyle/>
        <a:p>
          <a:endParaRPr lang="es-CO" sz="1600"/>
        </a:p>
      </dgm:t>
    </dgm:pt>
    <dgm:pt modelId="{BBDCCB86-71C3-422E-959C-8FA92A9124DF}" type="sibTrans" cxnId="{E402CAF0-5AAA-416F-BAF4-3854EF253EE5}">
      <dgm:prSet/>
      <dgm:spPr/>
      <dgm:t>
        <a:bodyPr/>
        <a:lstStyle/>
        <a:p>
          <a:endParaRPr lang="es-CO" sz="1600"/>
        </a:p>
      </dgm:t>
    </dgm:pt>
    <dgm:pt modelId="{9C3C57BE-AD01-47F6-9592-98EF2608A6EF}">
      <dgm:prSet phldrT="[Texto]" custT="1"/>
      <dgm:spPr/>
      <dgm:t>
        <a:bodyPr/>
        <a:lstStyle/>
        <a:p>
          <a:r>
            <a:rPr lang="es-CO" sz="1800" dirty="0">
              <a:latin typeface="Century Gothic" panose="020B0502020202020204" pitchFamily="34" charset="0"/>
            </a:rPr>
            <a:t>2</a:t>
          </a:r>
          <a:endParaRPr lang="es-CO" sz="2400" dirty="0">
            <a:latin typeface="Century Gothic" panose="020B0502020202020204" pitchFamily="34" charset="0"/>
          </a:endParaRPr>
        </a:p>
      </dgm:t>
    </dgm:pt>
    <dgm:pt modelId="{33D25418-EA10-4491-90C6-5683712BE055}" type="parTrans" cxnId="{FBB864E0-2027-4A45-B5D7-110F765EFD96}">
      <dgm:prSet/>
      <dgm:spPr/>
      <dgm:t>
        <a:bodyPr/>
        <a:lstStyle/>
        <a:p>
          <a:endParaRPr lang="es-CO" sz="1600"/>
        </a:p>
      </dgm:t>
    </dgm:pt>
    <dgm:pt modelId="{0019765E-5748-4647-85C8-6E8054C68086}" type="sibTrans" cxnId="{FBB864E0-2027-4A45-B5D7-110F765EFD96}">
      <dgm:prSet/>
      <dgm:spPr/>
      <dgm:t>
        <a:bodyPr/>
        <a:lstStyle/>
        <a:p>
          <a:endParaRPr lang="es-CO" sz="1600"/>
        </a:p>
      </dgm:t>
    </dgm:pt>
    <dgm:pt modelId="{C59A2A35-6BBC-4F81-BD74-40520AACD6AB}">
      <dgm:prSet phldrT="[Texto]" custT="1"/>
      <dgm:spPr/>
      <dgm:t>
        <a:bodyPr/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s-CO" sz="20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 pitchFamily="34" charset="0"/>
              <a:ea typeface="+mn-ea"/>
              <a:cs typeface="+mn-cs"/>
            </a:rPr>
            <a:t>Diseñar un plan</a:t>
          </a:r>
        </a:p>
      </dgm:t>
    </dgm:pt>
    <dgm:pt modelId="{EDE363E4-7EA3-41D2-8DB9-A0871D9DA325}" type="parTrans" cxnId="{3B1F784D-95DD-4194-A52D-9A5B55BC5BD7}">
      <dgm:prSet/>
      <dgm:spPr/>
      <dgm:t>
        <a:bodyPr/>
        <a:lstStyle/>
        <a:p>
          <a:endParaRPr lang="es-CO" sz="1600"/>
        </a:p>
      </dgm:t>
    </dgm:pt>
    <dgm:pt modelId="{C31DDF04-103F-4600-9F78-0BDCC0BF907B}" type="sibTrans" cxnId="{3B1F784D-95DD-4194-A52D-9A5B55BC5BD7}">
      <dgm:prSet/>
      <dgm:spPr/>
      <dgm:t>
        <a:bodyPr/>
        <a:lstStyle/>
        <a:p>
          <a:endParaRPr lang="es-CO" sz="1600"/>
        </a:p>
      </dgm:t>
    </dgm:pt>
    <dgm:pt modelId="{9AB424BA-7E8B-4D0B-8A3C-3748A54646B8}">
      <dgm:prSet phldrT="[Texto]" custT="1"/>
      <dgm:spPr/>
      <dgm:t>
        <a:bodyPr/>
        <a:lstStyle/>
        <a:p>
          <a:r>
            <a:rPr lang="es-CO" sz="2000" dirty="0">
              <a:latin typeface="Century Gothic" panose="020B0502020202020204" pitchFamily="34" charset="0"/>
            </a:rPr>
            <a:t>3</a:t>
          </a:r>
        </a:p>
      </dgm:t>
    </dgm:pt>
    <dgm:pt modelId="{E543BFA9-86DB-499C-8E83-B32D00A97FD8}" type="parTrans" cxnId="{9DB9632F-E2AC-48EE-840F-D6A88C411EEA}">
      <dgm:prSet/>
      <dgm:spPr/>
      <dgm:t>
        <a:bodyPr/>
        <a:lstStyle/>
        <a:p>
          <a:endParaRPr lang="es-CO" sz="1600"/>
        </a:p>
      </dgm:t>
    </dgm:pt>
    <dgm:pt modelId="{DDCD6E76-3560-4CAA-96A8-94ACFF130E9B}" type="sibTrans" cxnId="{9DB9632F-E2AC-48EE-840F-D6A88C411EEA}">
      <dgm:prSet/>
      <dgm:spPr/>
      <dgm:t>
        <a:bodyPr/>
        <a:lstStyle/>
        <a:p>
          <a:endParaRPr lang="es-CO" sz="1600"/>
        </a:p>
      </dgm:t>
    </dgm:pt>
    <dgm:pt modelId="{BEC04423-D6B7-4792-AEB9-C3D7F81A98AC}">
      <dgm:prSet phldrT="[Texto]" custT="1"/>
      <dgm:spPr/>
      <dgm:t>
        <a:bodyPr/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s-CO" sz="20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 pitchFamily="34" charset="0"/>
              <a:ea typeface="+mn-ea"/>
              <a:cs typeface="+mn-cs"/>
            </a:rPr>
            <a:t>Implementar el plan</a:t>
          </a:r>
        </a:p>
      </dgm:t>
    </dgm:pt>
    <dgm:pt modelId="{F135D138-85FF-4087-B751-5F159F842289}" type="parTrans" cxnId="{5B0A26F8-5ACB-43D3-A171-6C62CAD4E7BE}">
      <dgm:prSet/>
      <dgm:spPr/>
      <dgm:t>
        <a:bodyPr/>
        <a:lstStyle/>
        <a:p>
          <a:endParaRPr lang="es-CO" sz="1600"/>
        </a:p>
      </dgm:t>
    </dgm:pt>
    <dgm:pt modelId="{AB02689B-5109-4C4C-A9DD-EF332B395FC7}" type="sibTrans" cxnId="{5B0A26F8-5ACB-43D3-A171-6C62CAD4E7BE}">
      <dgm:prSet/>
      <dgm:spPr/>
      <dgm:t>
        <a:bodyPr/>
        <a:lstStyle/>
        <a:p>
          <a:endParaRPr lang="es-CO" sz="1600"/>
        </a:p>
      </dgm:t>
    </dgm:pt>
    <dgm:pt modelId="{6F3FB39C-3E1D-4D2D-849B-EA0299C466C8}">
      <dgm:prSet phldrT="[Texto]" custT="1"/>
      <dgm:spPr/>
      <dgm:t>
        <a:bodyPr/>
        <a:lstStyle/>
        <a:p>
          <a:r>
            <a:rPr lang="es-CO" sz="2000" dirty="0">
              <a:latin typeface="Century Gothic" panose="020B0502020202020204" pitchFamily="34" charset="0"/>
            </a:rPr>
            <a:t>4</a:t>
          </a:r>
        </a:p>
      </dgm:t>
    </dgm:pt>
    <dgm:pt modelId="{F344B892-AD67-4863-B1DB-FFEAC6AE3C6A}" type="parTrans" cxnId="{F85ACEEE-F8C0-443C-BAAF-021763D37073}">
      <dgm:prSet/>
      <dgm:spPr/>
      <dgm:t>
        <a:bodyPr/>
        <a:lstStyle/>
        <a:p>
          <a:endParaRPr lang="es-CO" sz="1600"/>
        </a:p>
      </dgm:t>
    </dgm:pt>
    <dgm:pt modelId="{2E86F725-3FD8-4480-8AF6-6A89E142D77A}" type="sibTrans" cxnId="{F85ACEEE-F8C0-443C-BAAF-021763D37073}">
      <dgm:prSet/>
      <dgm:spPr/>
      <dgm:t>
        <a:bodyPr/>
        <a:lstStyle/>
        <a:p>
          <a:endParaRPr lang="es-CO" sz="1600"/>
        </a:p>
      </dgm:t>
    </dgm:pt>
    <dgm:pt modelId="{DCCFDBD5-3BD5-4368-8E74-2BE430318114}">
      <dgm:prSet custT="1"/>
      <dgm:spPr/>
      <dgm:t>
        <a:bodyPr/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s-CO" sz="20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 pitchFamily="34" charset="0"/>
              <a:ea typeface="+mn-ea"/>
              <a:cs typeface="+mn-cs"/>
            </a:rPr>
            <a:t>Revisar el plan</a:t>
          </a:r>
        </a:p>
      </dgm:t>
    </dgm:pt>
    <dgm:pt modelId="{E9C3A1B1-6767-4D4A-B32D-4EDACFE1C0F4}" type="parTrans" cxnId="{95C514DE-3460-4712-B0CD-D954FE76DB64}">
      <dgm:prSet/>
      <dgm:spPr/>
      <dgm:t>
        <a:bodyPr/>
        <a:lstStyle/>
        <a:p>
          <a:endParaRPr lang="es-CO" sz="1600"/>
        </a:p>
      </dgm:t>
    </dgm:pt>
    <dgm:pt modelId="{159A55EA-C5B7-4F9E-8222-A763BEB4D99B}" type="sibTrans" cxnId="{95C514DE-3460-4712-B0CD-D954FE76DB64}">
      <dgm:prSet/>
      <dgm:spPr/>
      <dgm:t>
        <a:bodyPr/>
        <a:lstStyle/>
        <a:p>
          <a:endParaRPr lang="es-CO" sz="1600"/>
        </a:p>
      </dgm:t>
    </dgm:pt>
    <dgm:pt modelId="{C30EB98C-BF8E-47B5-A59F-A3E708D5551C}" type="pres">
      <dgm:prSet presAssocID="{234617D2-EBA5-43D3-A846-ABD7019008A4}" presName="linearFlow" presStyleCnt="0">
        <dgm:presLayoutVars>
          <dgm:dir/>
          <dgm:animLvl val="lvl"/>
          <dgm:resizeHandles val="exact"/>
        </dgm:presLayoutVars>
      </dgm:prSet>
      <dgm:spPr/>
    </dgm:pt>
    <dgm:pt modelId="{B5976899-2FC4-4A3E-891A-B74C8C23C8B5}" type="pres">
      <dgm:prSet presAssocID="{0F6E169A-367E-48F6-8A0F-9538EF72E803}" presName="composite" presStyleCnt="0"/>
      <dgm:spPr/>
    </dgm:pt>
    <dgm:pt modelId="{416A876F-5FA3-42F9-A923-4E2C334EF9BC}" type="pres">
      <dgm:prSet presAssocID="{0F6E169A-367E-48F6-8A0F-9538EF72E803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344A86B1-48E8-448F-9C6D-71580BFB5F83}" type="pres">
      <dgm:prSet presAssocID="{0F6E169A-367E-48F6-8A0F-9538EF72E803}" presName="descendantText" presStyleLbl="alignAcc1" presStyleIdx="0" presStyleCnt="4">
        <dgm:presLayoutVars>
          <dgm:bulletEnabled val="1"/>
        </dgm:presLayoutVars>
      </dgm:prSet>
      <dgm:spPr/>
    </dgm:pt>
    <dgm:pt modelId="{19B3EDEB-1CF9-4423-9037-F0221A01EBBA}" type="pres">
      <dgm:prSet presAssocID="{9E3845BF-94AB-444E-AB21-A0DA1B4B1270}" presName="sp" presStyleCnt="0"/>
      <dgm:spPr/>
    </dgm:pt>
    <dgm:pt modelId="{5D167E8C-136F-440C-8D10-651E4D964A72}" type="pres">
      <dgm:prSet presAssocID="{9C3C57BE-AD01-47F6-9592-98EF2608A6EF}" presName="composite" presStyleCnt="0"/>
      <dgm:spPr/>
    </dgm:pt>
    <dgm:pt modelId="{A651636C-CE47-4575-AA1E-AB00D80E941D}" type="pres">
      <dgm:prSet presAssocID="{9C3C57BE-AD01-47F6-9592-98EF2608A6EF}" presName="parentText" presStyleLbl="alignNode1" presStyleIdx="1" presStyleCnt="4" custLinFactNeighborY="0">
        <dgm:presLayoutVars>
          <dgm:chMax val="1"/>
          <dgm:bulletEnabled val="1"/>
        </dgm:presLayoutVars>
      </dgm:prSet>
      <dgm:spPr/>
    </dgm:pt>
    <dgm:pt modelId="{79B0DE70-0A03-4A6F-B31F-EC81EB5DF7EA}" type="pres">
      <dgm:prSet presAssocID="{9C3C57BE-AD01-47F6-9592-98EF2608A6EF}" presName="descendantText" presStyleLbl="alignAcc1" presStyleIdx="1" presStyleCnt="4">
        <dgm:presLayoutVars>
          <dgm:bulletEnabled val="1"/>
        </dgm:presLayoutVars>
      </dgm:prSet>
      <dgm:spPr/>
    </dgm:pt>
    <dgm:pt modelId="{5C2D5B77-4FD3-4BFC-B7C7-B69CFA47B819}" type="pres">
      <dgm:prSet presAssocID="{0019765E-5748-4647-85C8-6E8054C68086}" presName="sp" presStyleCnt="0"/>
      <dgm:spPr/>
    </dgm:pt>
    <dgm:pt modelId="{FD9C2F86-B450-49A0-8639-065AE676C080}" type="pres">
      <dgm:prSet presAssocID="{9AB424BA-7E8B-4D0B-8A3C-3748A54646B8}" presName="composite" presStyleCnt="0"/>
      <dgm:spPr/>
    </dgm:pt>
    <dgm:pt modelId="{2AA7B02C-023E-4537-897E-B54A048C8983}" type="pres">
      <dgm:prSet presAssocID="{9AB424BA-7E8B-4D0B-8A3C-3748A54646B8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15D3D31F-A831-4E62-ADE9-6ACE81331CDC}" type="pres">
      <dgm:prSet presAssocID="{9AB424BA-7E8B-4D0B-8A3C-3748A54646B8}" presName="descendantText" presStyleLbl="alignAcc1" presStyleIdx="2" presStyleCnt="4">
        <dgm:presLayoutVars>
          <dgm:bulletEnabled val="1"/>
        </dgm:presLayoutVars>
      </dgm:prSet>
      <dgm:spPr/>
    </dgm:pt>
    <dgm:pt modelId="{365F76A6-EF4F-41D1-B81D-BC3D7851A081}" type="pres">
      <dgm:prSet presAssocID="{DDCD6E76-3560-4CAA-96A8-94ACFF130E9B}" presName="sp" presStyleCnt="0"/>
      <dgm:spPr/>
    </dgm:pt>
    <dgm:pt modelId="{4DB00594-09F9-4225-B772-B1D52DAEEAB6}" type="pres">
      <dgm:prSet presAssocID="{6F3FB39C-3E1D-4D2D-849B-EA0299C466C8}" presName="composite" presStyleCnt="0"/>
      <dgm:spPr/>
    </dgm:pt>
    <dgm:pt modelId="{58E45CBE-DE64-4E4E-8AAA-D376465B2BEE}" type="pres">
      <dgm:prSet presAssocID="{6F3FB39C-3E1D-4D2D-849B-EA0299C466C8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C37D6712-7A35-4663-80F7-1B8FC410AF19}" type="pres">
      <dgm:prSet presAssocID="{6F3FB39C-3E1D-4D2D-849B-EA0299C466C8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D25A530A-E341-4BA7-8999-21A374D537D3}" type="presOf" srcId="{BEC04423-D6B7-4792-AEB9-C3D7F81A98AC}" destId="{15D3D31F-A831-4E62-ADE9-6ACE81331CDC}" srcOrd="0" destOrd="0" presId="urn:microsoft.com/office/officeart/2005/8/layout/chevron2"/>
    <dgm:cxn modelId="{0F63B510-A033-48E8-A5FD-87C76FF5A9D6}" type="presOf" srcId="{0F6E169A-367E-48F6-8A0F-9538EF72E803}" destId="{416A876F-5FA3-42F9-A923-4E2C334EF9BC}" srcOrd="0" destOrd="0" presId="urn:microsoft.com/office/officeart/2005/8/layout/chevron2"/>
    <dgm:cxn modelId="{09EB6217-24CA-4B61-90D2-9CF7E646FA43}" type="presOf" srcId="{234617D2-EBA5-43D3-A846-ABD7019008A4}" destId="{C30EB98C-BF8E-47B5-A59F-A3E708D5551C}" srcOrd="0" destOrd="0" presId="urn:microsoft.com/office/officeart/2005/8/layout/chevron2"/>
    <dgm:cxn modelId="{9DB9632F-E2AC-48EE-840F-D6A88C411EEA}" srcId="{234617D2-EBA5-43D3-A846-ABD7019008A4}" destId="{9AB424BA-7E8B-4D0B-8A3C-3748A54646B8}" srcOrd="2" destOrd="0" parTransId="{E543BFA9-86DB-499C-8E83-B32D00A97FD8}" sibTransId="{DDCD6E76-3560-4CAA-96A8-94ACFF130E9B}"/>
    <dgm:cxn modelId="{5C56243F-7D54-4FD5-BD45-EEAB6E9334A6}" type="presOf" srcId="{676AA4D5-22F4-47B3-B0E8-95C3D9C99480}" destId="{344A86B1-48E8-448F-9C6D-71580BFB5F83}" srcOrd="0" destOrd="0" presId="urn:microsoft.com/office/officeart/2005/8/layout/chevron2"/>
    <dgm:cxn modelId="{3EF6886C-4FCF-4899-8F48-98F458A380A4}" type="presOf" srcId="{DCCFDBD5-3BD5-4368-8E74-2BE430318114}" destId="{C37D6712-7A35-4663-80F7-1B8FC410AF19}" srcOrd="0" destOrd="0" presId="urn:microsoft.com/office/officeart/2005/8/layout/chevron2"/>
    <dgm:cxn modelId="{3B1F784D-95DD-4194-A52D-9A5B55BC5BD7}" srcId="{9C3C57BE-AD01-47F6-9592-98EF2608A6EF}" destId="{C59A2A35-6BBC-4F81-BD74-40520AACD6AB}" srcOrd="0" destOrd="0" parTransId="{EDE363E4-7EA3-41D2-8DB9-A0871D9DA325}" sibTransId="{C31DDF04-103F-4600-9F78-0BDCC0BF907B}"/>
    <dgm:cxn modelId="{1D7BCF56-E33F-4A42-8129-E524DE8CA73C}" srcId="{234617D2-EBA5-43D3-A846-ABD7019008A4}" destId="{0F6E169A-367E-48F6-8A0F-9538EF72E803}" srcOrd="0" destOrd="0" parTransId="{214810CF-0E9F-420E-9F44-94CA29248781}" sibTransId="{9E3845BF-94AB-444E-AB21-A0DA1B4B1270}"/>
    <dgm:cxn modelId="{E8354084-D26E-4270-954C-74C7F6A06793}" type="presOf" srcId="{C59A2A35-6BBC-4F81-BD74-40520AACD6AB}" destId="{79B0DE70-0A03-4A6F-B31F-EC81EB5DF7EA}" srcOrd="0" destOrd="0" presId="urn:microsoft.com/office/officeart/2005/8/layout/chevron2"/>
    <dgm:cxn modelId="{BF2B6EA9-3F5A-49C1-AF7E-EC921192B9DE}" type="presOf" srcId="{9C3C57BE-AD01-47F6-9592-98EF2608A6EF}" destId="{A651636C-CE47-4575-AA1E-AB00D80E941D}" srcOrd="0" destOrd="0" presId="urn:microsoft.com/office/officeart/2005/8/layout/chevron2"/>
    <dgm:cxn modelId="{95C514DE-3460-4712-B0CD-D954FE76DB64}" srcId="{6F3FB39C-3E1D-4D2D-849B-EA0299C466C8}" destId="{DCCFDBD5-3BD5-4368-8E74-2BE430318114}" srcOrd="0" destOrd="0" parTransId="{E9C3A1B1-6767-4D4A-B32D-4EDACFE1C0F4}" sibTransId="{159A55EA-C5B7-4F9E-8222-A763BEB4D99B}"/>
    <dgm:cxn modelId="{FBB864E0-2027-4A45-B5D7-110F765EFD96}" srcId="{234617D2-EBA5-43D3-A846-ABD7019008A4}" destId="{9C3C57BE-AD01-47F6-9592-98EF2608A6EF}" srcOrd="1" destOrd="0" parTransId="{33D25418-EA10-4491-90C6-5683712BE055}" sibTransId="{0019765E-5748-4647-85C8-6E8054C68086}"/>
    <dgm:cxn modelId="{448B48EB-E488-4909-82B4-2E61877F00AE}" type="presOf" srcId="{6F3FB39C-3E1D-4D2D-849B-EA0299C466C8}" destId="{58E45CBE-DE64-4E4E-8AAA-D376465B2BEE}" srcOrd="0" destOrd="0" presId="urn:microsoft.com/office/officeart/2005/8/layout/chevron2"/>
    <dgm:cxn modelId="{E644B3EB-418D-4B1A-83D6-8DCC10BE06E8}" type="presOf" srcId="{9AB424BA-7E8B-4D0B-8A3C-3748A54646B8}" destId="{2AA7B02C-023E-4537-897E-B54A048C8983}" srcOrd="0" destOrd="0" presId="urn:microsoft.com/office/officeart/2005/8/layout/chevron2"/>
    <dgm:cxn modelId="{F85ACEEE-F8C0-443C-BAAF-021763D37073}" srcId="{234617D2-EBA5-43D3-A846-ABD7019008A4}" destId="{6F3FB39C-3E1D-4D2D-849B-EA0299C466C8}" srcOrd="3" destOrd="0" parTransId="{F344B892-AD67-4863-B1DB-FFEAC6AE3C6A}" sibTransId="{2E86F725-3FD8-4480-8AF6-6A89E142D77A}"/>
    <dgm:cxn modelId="{E402CAF0-5AAA-416F-BAF4-3854EF253EE5}" srcId="{0F6E169A-367E-48F6-8A0F-9538EF72E803}" destId="{676AA4D5-22F4-47B3-B0E8-95C3D9C99480}" srcOrd="0" destOrd="0" parTransId="{65AE6963-95E3-417E-9DBC-C327427667A9}" sibTransId="{BBDCCB86-71C3-422E-959C-8FA92A9124DF}"/>
    <dgm:cxn modelId="{5B0A26F8-5ACB-43D3-A171-6C62CAD4E7BE}" srcId="{9AB424BA-7E8B-4D0B-8A3C-3748A54646B8}" destId="{BEC04423-D6B7-4792-AEB9-C3D7F81A98AC}" srcOrd="0" destOrd="0" parTransId="{F135D138-85FF-4087-B751-5F159F842289}" sibTransId="{AB02689B-5109-4C4C-A9DD-EF332B395FC7}"/>
    <dgm:cxn modelId="{AC4A8FF1-0B42-4570-ACB4-F62AD10AC7E7}" type="presParOf" srcId="{C30EB98C-BF8E-47B5-A59F-A3E708D5551C}" destId="{B5976899-2FC4-4A3E-891A-B74C8C23C8B5}" srcOrd="0" destOrd="0" presId="urn:microsoft.com/office/officeart/2005/8/layout/chevron2"/>
    <dgm:cxn modelId="{78437963-1AD6-4AA2-99FF-D3C136E6C1B9}" type="presParOf" srcId="{B5976899-2FC4-4A3E-891A-B74C8C23C8B5}" destId="{416A876F-5FA3-42F9-A923-4E2C334EF9BC}" srcOrd="0" destOrd="0" presId="urn:microsoft.com/office/officeart/2005/8/layout/chevron2"/>
    <dgm:cxn modelId="{E5BB8A76-3CEA-42DE-8EE6-7959F74B0BB9}" type="presParOf" srcId="{B5976899-2FC4-4A3E-891A-B74C8C23C8B5}" destId="{344A86B1-48E8-448F-9C6D-71580BFB5F83}" srcOrd="1" destOrd="0" presId="urn:microsoft.com/office/officeart/2005/8/layout/chevron2"/>
    <dgm:cxn modelId="{1409A561-56BE-41EC-823E-CEEC12A8CF50}" type="presParOf" srcId="{C30EB98C-BF8E-47B5-A59F-A3E708D5551C}" destId="{19B3EDEB-1CF9-4423-9037-F0221A01EBBA}" srcOrd="1" destOrd="0" presId="urn:microsoft.com/office/officeart/2005/8/layout/chevron2"/>
    <dgm:cxn modelId="{69FAE29B-8826-413D-A90D-E3D1914BB7C5}" type="presParOf" srcId="{C30EB98C-BF8E-47B5-A59F-A3E708D5551C}" destId="{5D167E8C-136F-440C-8D10-651E4D964A72}" srcOrd="2" destOrd="0" presId="urn:microsoft.com/office/officeart/2005/8/layout/chevron2"/>
    <dgm:cxn modelId="{26C5ECD3-BE74-4234-955C-82B823BF9F9B}" type="presParOf" srcId="{5D167E8C-136F-440C-8D10-651E4D964A72}" destId="{A651636C-CE47-4575-AA1E-AB00D80E941D}" srcOrd="0" destOrd="0" presId="urn:microsoft.com/office/officeart/2005/8/layout/chevron2"/>
    <dgm:cxn modelId="{BFF53C8A-F466-46C1-9066-7E1EB74CF072}" type="presParOf" srcId="{5D167E8C-136F-440C-8D10-651E4D964A72}" destId="{79B0DE70-0A03-4A6F-B31F-EC81EB5DF7EA}" srcOrd="1" destOrd="0" presId="urn:microsoft.com/office/officeart/2005/8/layout/chevron2"/>
    <dgm:cxn modelId="{530A7BC0-79AB-4546-A568-2187FF19F65D}" type="presParOf" srcId="{C30EB98C-BF8E-47B5-A59F-A3E708D5551C}" destId="{5C2D5B77-4FD3-4BFC-B7C7-B69CFA47B819}" srcOrd="3" destOrd="0" presId="urn:microsoft.com/office/officeart/2005/8/layout/chevron2"/>
    <dgm:cxn modelId="{BE3F6BE8-AEFA-4235-B54E-61907BC9372B}" type="presParOf" srcId="{C30EB98C-BF8E-47B5-A59F-A3E708D5551C}" destId="{FD9C2F86-B450-49A0-8639-065AE676C080}" srcOrd="4" destOrd="0" presId="urn:microsoft.com/office/officeart/2005/8/layout/chevron2"/>
    <dgm:cxn modelId="{2E20AF7C-4B60-47FB-B029-F81F1CE8FCB7}" type="presParOf" srcId="{FD9C2F86-B450-49A0-8639-065AE676C080}" destId="{2AA7B02C-023E-4537-897E-B54A048C8983}" srcOrd="0" destOrd="0" presId="urn:microsoft.com/office/officeart/2005/8/layout/chevron2"/>
    <dgm:cxn modelId="{0573D7AB-2C25-487B-B0E2-947295CA4BF1}" type="presParOf" srcId="{FD9C2F86-B450-49A0-8639-065AE676C080}" destId="{15D3D31F-A831-4E62-ADE9-6ACE81331CDC}" srcOrd="1" destOrd="0" presId="urn:microsoft.com/office/officeart/2005/8/layout/chevron2"/>
    <dgm:cxn modelId="{49FE4450-ED31-4DD4-95F8-F34D880718F4}" type="presParOf" srcId="{C30EB98C-BF8E-47B5-A59F-A3E708D5551C}" destId="{365F76A6-EF4F-41D1-B81D-BC3D7851A081}" srcOrd="5" destOrd="0" presId="urn:microsoft.com/office/officeart/2005/8/layout/chevron2"/>
    <dgm:cxn modelId="{D297B7B3-984B-4BEF-88CF-E8496B62D532}" type="presParOf" srcId="{C30EB98C-BF8E-47B5-A59F-A3E708D5551C}" destId="{4DB00594-09F9-4225-B772-B1D52DAEEAB6}" srcOrd="6" destOrd="0" presId="urn:microsoft.com/office/officeart/2005/8/layout/chevron2"/>
    <dgm:cxn modelId="{58E3F0DF-7BFD-4BEB-873F-CA02319F1E26}" type="presParOf" srcId="{4DB00594-09F9-4225-B772-B1D52DAEEAB6}" destId="{58E45CBE-DE64-4E4E-8AAA-D376465B2BEE}" srcOrd="0" destOrd="0" presId="urn:microsoft.com/office/officeart/2005/8/layout/chevron2"/>
    <dgm:cxn modelId="{C405AC97-4C54-4757-8651-AB11924A4B6F}" type="presParOf" srcId="{4DB00594-09F9-4225-B772-B1D52DAEEAB6}" destId="{C37D6712-7A35-4663-80F7-1B8FC410AF19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90597F3-5A77-42C5-A3BE-2278E7F238BC}" type="doc">
      <dgm:prSet loTypeId="urn:microsoft.com/office/officeart/2005/8/layout/hierarchy2" loCatId="hierarchy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s-CO"/>
        </a:p>
      </dgm:t>
    </dgm:pt>
    <dgm:pt modelId="{59A3506E-67E5-4F7A-9B7E-1576BEDC34A3}">
      <dgm:prSet phldrT="[Texto]" custT="1"/>
      <dgm:spPr>
        <a:solidFill>
          <a:schemeClr val="tx1"/>
        </a:solidFill>
      </dgm:spPr>
      <dgm:t>
        <a:bodyPr/>
        <a:lstStyle/>
        <a:p>
          <a:r>
            <a:rPr lang="es-CO" sz="2000" b="1" dirty="0">
              <a:latin typeface="+mn-lt"/>
            </a:rPr>
            <a:t>Alternativas en los problemas de decisión lógica</a:t>
          </a:r>
        </a:p>
      </dgm:t>
    </dgm:pt>
    <dgm:pt modelId="{E20479EF-AE87-47E7-95B8-7079AFFBD0FD}" type="parTrans" cxnId="{539F31B7-EA4B-4A96-9594-A01E02E53A02}">
      <dgm:prSet/>
      <dgm:spPr/>
      <dgm:t>
        <a:bodyPr/>
        <a:lstStyle/>
        <a:p>
          <a:endParaRPr lang="es-CO"/>
        </a:p>
      </dgm:t>
    </dgm:pt>
    <dgm:pt modelId="{00FBE2A5-9907-4191-9EDB-ED7525BF77C3}" type="sibTrans" cxnId="{539F31B7-EA4B-4A96-9594-A01E02E53A02}">
      <dgm:prSet/>
      <dgm:spPr/>
      <dgm:t>
        <a:bodyPr/>
        <a:lstStyle/>
        <a:p>
          <a:endParaRPr lang="es-CO"/>
        </a:p>
      </dgm:t>
    </dgm:pt>
    <dgm:pt modelId="{09B6955E-10DC-4968-92CF-E1C9819E5605}">
      <dgm:prSet phldrT="[Texto]" custT="1"/>
      <dgm:spPr>
        <a:solidFill>
          <a:schemeClr val="bg1">
            <a:lumMod val="50000"/>
          </a:schemeClr>
        </a:solidFill>
      </dgm:spPr>
      <dgm:t>
        <a:bodyPr/>
        <a:lstStyle/>
        <a:p>
          <a:r>
            <a:rPr lang="es-CO" sz="2000" b="1" dirty="0">
              <a:latin typeface="+mn-lt"/>
            </a:rPr>
            <a:t>Alternativa simple</a:t>
          </a:r>
        </a:p>
      </dgm:t>
    </dgm:pt>
    <dgm:pt modelId="{A22B95DF-9FE8-420F-A458-0ABF9054DDA8}" type="parTrans" cxnId="{7C418AD0-8738-47DB-8D3B-051DD65C20D7}">
      <dgm:prSet/>
      <dgm:spPr>
        <a:ln>
          <a:solidFill>
            <a:schemeClr val="tx1"/>
          </a:solidFill>
        </a:ln>
      </dgm:spPr>
      <dgm:t>
        <a:bodyPr/>
        <a:lstStyle/>
        <a:p>
          <a:endParaRPr lang="es-CO"/>
        </a:p>
      </dgm:t>
    </dgm:pt>
    <dgm:pt modelId="{C73EB503-5E35-420A-9A21-59932CE19BD4}" type="sibTrans" cxnId="{7C418AD0-8738-47DB-8D3B-051DD65C20D7}">
      <dgm:prSet/>
      <dgm:spPr/>
      <dgm:t>
        <a:bodyPr/>
        <a:lstStyle/>
        <a:p>
          <a:endParaRPr lang="es-CO"/>
        </a:p>
      </dgm:t>
    </dgm:pt>
    <dgm:pt modelId="{26B2BE31-97EF-4625-B738-F0B479E24968}">
      <dgm:prSet phldrT="[Texto]" custT="1"/>
      <dgm:spPr>
        <a:solidFill>
          <a:schemeClr val="bg1">
            <a:lumMod val="50000"/>
          </a:schemeClr>
        </a:solidFill>
      </dgm:spPr>
      <dgm:t>
        <a:bodyPr/>
        <a:lstStyle/>
        <a:p>
          <a:r>
            <a:rPr lang="es-CO" sz="2000" b="1" dirty="0">
              <a:latin typeface="+mn-lt"/>
            </a:rPr>
            <a:t>Alternativa doble </a:t>
          </a:r>
        </a:p>
      </dgm:t>
    </dgm:pt>
    <dgm:pt modelId="{74C07CD9-03A2-472F-9D10-89398F18C5FF}" type="parTrans" cxnId="{775B1B90-AC05-4952-874D-D84AEBE82C7A}">
      <dgm:prSet/>
      <dgm:spPr>
        <a:ln>
          <a:solidFill>
            <a:schemeClr val="tx1"/>
          </a:solidFill>
        </a:ln>
      </dgm:spPr>
      <dgm:t>
        <a:bodyPr/>
        <a:lstStyle/>
        <a:p>
          <a:endParaRPr lang="es-CO"/>
        </a:p>
      </dgm:t>
    </dgm:pt>
    <dgm:pt modelId="{C86DC288-399D-4E73-8A61-65A8F1A51B41}" type="sibTrans" cxnId="{775B1B90-AC05-4952-874D-D84AEBE82C7A}">
      <dgm:prSet/>
      <dgm:spPr/>
      <dgm:t>
        <a:bodyPr/>
        <a:lstStyle/>
        <a:p>
          <a:endParaRPr lang="es-CO"/>
        </a:p>
      </dgm:t>
    </dgm:pt>
    <dgm:pt modelId="{AC0BF95D-CF9E-4F08-8A00-9697D100E9A3}">
      <dgm:prSet phldrT="[Texto]" custT="1"/>
      <dgm:spPr>
        <a:solidFill>
          <a:schemeClr val="bg1">
            <a:lumMod val="50000"/>
          </a:schemeClr>
        </a:solidFill>
      </dgm:spPr>
      <dgm:t>
        <a:bodyPr/>
        <a:lstStyle/>
        <a:p>
          <a:r>
            <a:rPr lang="es-CO" sz="2000" b="1" dirty="0">
              <a:latin typeface="+mn-lt"/>
            </a:rPr>
            <a:t>Alternativa múltiple</a:t>
          </a:r>
        </a:p>
      </dgm:t>
    </dgm:pt>
    <dgm:pt modelId="{26D5F77F-06A6-4CDE-AA21-49C84A02C9CD}" type="parTrans" cxnId="{12FDE830-DBE7-4150-B7E3-1300079CB587}">
      <dgm:prSet/>
      <dgm:spPr>
        <a:ln>
          <a:solidFill>
            <a:schemeClr val="tx1"/>
          </a:solidFill>
        </a:ln>
      </dgm:spPr>
      <dgm:t>
        <a:bodyPr/>
        <a:lstStyle/>
        <a:p>
          <a:endParaRPr lang="es-CO"/>
        </a:p>
      </dgm:t>
    </dgm:pt>
    <dgm:pt modelId="{F696B3B3-1931-4F06-B1CC-B83A675495DA}" type="sibTrans" cxnId="{12FDE830-DBE7-4150-B7E3-1300079CB587}">
      <dgm:prSet/>
      <dgm:spPr/>
      <dgm:t>
        <a:bodyPr/>
        <a:lstStyle/>
        <a:p>
          <a:endParaRPr lang="es-CO"/>
        </a:p>
      </dgm:t>
    </dgm:pt>
    <dgm:pt modelId="{9D9A0CA1-8164-4592-AEA4-35677C424757}" type="pres">
      <dgm:prSet presAssocID="{890597F3-5A77-42C5-A3BE-2278E7F238BC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2CCC041F-5372-4AC6-B4C5-74789650EAD3}" type="pres">
      <dgm:prSet presAssocID="{59A3506E-67E5-4F7A-9B7E-1576BEDC34A3}" presName="root1" presStyleCnt="0"/>
      <dgm:spPr/>
    </dgm:pt>
    <dgm:pt modelId="{1B46BF3C-CDFA-4359-A082-13BD84A6C0BB}" type="pres">
      <dgm:prSet presAssocID="{59A3506E-67E5-4F7A-9B7E-1576BEDC34A3}" presName="LevelOneTextNode" presStyleLbl="node0" presStyleIdx="0" presStyleCnt="1" custLinFactNeighborX="10461" custLinFactNeighborY="35">
        <dgm:presLayoutVars>
          <dgm:chPref val="3"/>
        </dgm:presLayoutVars>
      </dgm:prSet>
      <dgm:spPr/>
    </dgm:pt>
    <dgm:pt modelId="{B9A1D65E-4165-4AE7-8D64-4D3B729688D5}" type="pres">
      <dgm:prSet presAssocID="{59A3506E-67E5-4F7A-9B7E-1576BEDC34A3}" presName="level2hierChild" presStyleCnt="0"/>
      <dgm:spPr/>
    </dgm:pt>
    <dgm:pt modelId="{BB45BE9A-FF36-43D6-83C3-336A2E12976B}" type="pres">
      <dgm:prSet presAssocID="{A22B95DF-9FE8-420F-A458-0ABF9054DDA8}" presName="conn2-1" presStyleLbl="parChTrans1D2" presStyleIdx="0" presStyleCnt="3"/>
      <dgm:spPr/>
    </dgm:pt>
    <dgm:pt modelId="{FF1FABA0-D36A-4D54-B247-14BE9D94AEF0}" type="pres">
      <dgm:prSet presAssocID="{A22B95DF-9FE8-420F-A458-0ABF9054DDA8}" presName="connTx" presStyleLbl="parChTrans1D2" presStyleIdx="0" presStyleCnt="3"/>
      <dgm:spPr/>
    </dgm:pt>
    <dgm:pt modelId="{34C60CED-D817-49FB-B9BB-9118A6A363A3}" type="pres">
      <dgm:prSet presAssocID="{09B6955E-10DC-4968-92CF-E1C9819E5605}" presName="root2" presStyleCnt="0"/>
      <dgm:spPr/>
    </dgm:pt>
    <dgm:pt modelId="{DA0E9240-41B7-41B5-8F65-67C41791B0D9}" type="pres">
      <dgm:prSet presAssocID="{09B6955E-10DC-4968-92CF-E1C9819E5605}" presName="LevelTwoTextNode" presStyleLbl="node2" presStyleIdx="0" presStyleCnt="3" custScaleY="39270" custLinFactNeighborX="448" custLinFactNeighborY="-71206">
        <dgm:presLayoutVars>
          <dgm:chPref val="3"/>
        </dgm:presLayoutVars>
      </dgm:prSet>
      <dgm:spPr/>
    </dgm:pt>
    <dgm:pt modelId="{6693B9B5-72C6-4946-A026-DFCE5CC564BD}" type="pres">
      <dgm:prSet presAssocID="{09B6955E-10DC-4968-92CF-E1C9819E5605}" presName="level3hierChild" presStyleCnt="0"/>
      <dgm:spPr/>
    </dgm:pt>
    <dgm:pt modelId="{94DAD3F8-2DD3-4D49-BCA3-0AA4CEA5327E}" type="pres">
      <dgm:prSet presAssocID="{74C07CD9-03A2-472F-9D10-89398F18C5FF}" presName="conn2-1" presStyleLbl="parChTrans1D2" presStyleIdx="1" presStyleCnt="3"/>
      <dgm:spPr/>
    </dgm:pt>
    <dgm:pt modelId="{1992A5A9-39A4-43EF-B349-F3C4C172BA3E}" type="pres">
      <dgm:prSet presAssocID="{74C07CD9-03A2-472F-9D10-89398F18C5FF}" presName="connTx" presStyleLbl="parChTrans1D2" presStyleIdx="1" presStyleCnt="3"/>
      <dgm:spPr/>
    </dgm:pt>
    <dgm:pt modelId="{96C74287-B61F-407D-BFD4-4FCEB537C037}" type="pres">
      <dgm:prSet presAssocID="{26B2BE31-97EF-4625-B738-F0B479E24968}" presName="root2" presStyleCnt="0"/>
      <dgm:spPr/>
    </dgm:pt>
    <dgm:pt modelId="{FC825A99-0AF5-4BBD-A87F-DB1EBAD335DC}" type="pres">
      <dgm:prSet presAssocID="{26B2BE31-97EF-4625-B738-F0B479E24968}" presName="LevelTwoTextNode" presStyleLbl="node2" presStyleIdx="1" presStyleCnt="3" custScaleY="36559" custLinFactNeighborX="448" custLinFactNeighborY="-3217">
        <dgm:presLayoutVars>
          <dgm:chPref val="3"/>
        </dgm:presLayoutVars>
      </dgm:prSet>
      <dgm:spPr/>
    </dgm:pt>
    <dgm:pt modelId="{DA4EEE03-96FC-4895-961B-17A48177CF31}" type="pres">
      <dgm:prSet presAssocID="{26B2BE31-97EF-4625-B738-F0B479E24968}" presName="level3hierChild" presStyleCnt="0"/>
      <dgm:spPr/>
    </dgm:pt>
    <dgm:pt modelId="{CDABA905-00CC-4685-8E9D-590A386A3B8E}" type="pres">
      <dgm:prSet presAssocID="{26D5F77F-06A6-4CDE-AA21-49C84A02C9CD}" presName="conn2-1" presStyleLbl="parChTrans1D2" presStyleIdx="2" presStyleCnt="3"/>
      <dgm:spPr/>
    </dgm:pt>
    <dgm:pt modelId="{58636808-5F2B-4961-A006-BFF4D8EA13A6}" type="pres">
      <dgm:prSet presAssocID="{26D5F77F-06A6-4CDE-AA21-49C84A02C9CD}" presName="connTx" presStyleLbl="parChTrans1D2" presStyleIdx="2" presStyleCnt="3"/>
      <dgm:spPr/>
    </dgm:pt>
    <dgm:pt modelId="{EC0EA8B8-0BDD-4B34-AC1D-81C811C46B05}" type="pres">
      <dgm:prSet presAssocID="{AC0BF95D-CF9E-4F08-8A00-9697D100E9A3}" presName="root2" presStyleCnt="0"/>
      <dgm:spPr/>
    </dgm:pt>
    <dgm:pt modelId="{37AA57FA-6512-49C5-850D-0B5DBF1B5B11}" type="pres">
      <dgm:prSet presAssocID="{AC0BF95D-CF9E-4F08-8A00-9697D100E9A3}" presName="LevelTwoTextNode" presStyleLbl="node2" presStyleIdx="2" presStyleCnt="3" custScaleY="35024" custLinFactNeighborX="448" custLinFactNeighborY="62167">
        <dgm:presLayoutVars>
          <dgm:chPref val="3"/>
        </dgm:presLayoutVars>
      </dgm:prSet>
      <dgm:spPr/>
    </dgm:pt>
    <dgm:pt modelId="{E28AE99C-4D94-44FF-BB67-9F9102553C0D}" type="pres">
      <dgm:prSet presAssocID="{AC0BF95D-CF9E-4F08-8A00-9697D100E9A3}" presName="level3hierChild" presStyleCnt="0"/>
      <dgm:spPr/>
    </dgm:pt>
  </dgm:ptLst>
  <dgm:cxnLst>
    <dgm:cxn modelId="{FFB07015-A2EB-425F-8208-601748B08209}" type="presOf" srcId="{AC0BF95D-CF9E-4F08-8A00-9697D100E9A3}" destId="{37AA57FA-6512-49C5-850D-0B5DBF1B5B11}" srcOrd="0" destOrd="0" presId="urn:microsoft.com/office/officeart/2005/8/layout/hierarchy2"/>
    <dgm:cxn modelId="{85353B1F-E4BE-4B32-B2F6-BF8F608460EA}" type="presOf" srcId="{26D5F77F-06A6-4CDE-AA21-49C84A02C9CD}" destId="{CDABA905-00CC-4685-8E9D-590A386A3B8E}" srcOrd="0" destOrd="0" presId="urn:microsoft.com/office/officeart/2005/8/layout/hierarchy2"/>
    <dgm:cxn modelId="{790B8620-088D-42EB-9309-1BB7A5268110}" type="presOf" srcId="{890597F3-5A77-42C5-A3BE-2278E7F238BC}" destId="{9D9A0CA1-8164-4592-AEA4-35677C424757}" srcOrd="0" destOrd="0" presId="urn:microsoft.com/office/officeart/2005/8/layout/hierarchy2"/>
    <dgm:cxn modelId="{12FDE830-DBE7-4150-B7E3-1300079CB587}" srcId="{59A3506E-67E5-4F7A-9B7E-1576BEDC34A3}" destId="{AC0BF95D-CF9E-4F08-8A00-9697D100E9A3}" srcOrd="2" destOrd="0" parTransId="{26D5F77F-06A6-4CDE-AA21-49C84A02C9CD}" sibTransId="{F696B3B3-1931-4F06-B1CC-B83A675495DA}"/>
    <dgm:cxn modelId="{94C6B650-204B-43E1-B5A3-9BBFAC74926E}" type="presOf" srcId="{74C07CD9-03A2-472F-9D10-89398F18C5FF}" destId="{94DAD3F8-2DD3-4D49-BCA3-0AA4CEA5327E}" srcOrd="0" destOrd="0" presId="urn:microsoft.com/office/officeart/2005/8/layout/hierarchy2"/>
    <dgm:cxn modelId="{50966B51-4A03-41DC-8E24-DD10B43EF03C}" type="presOf" srcId="{26B2BE31-97EF-4625-B738-F0B479E24968}" destId="{FC825A99-0AF5-4BBD-A87F-DB1EBAD335DC}" srcOrd="0" destOrd="0" presId="urn:microsoft.com/office/officeart/2005/8/layout/hierarchy2"/>
    <dgm:cxn modelId="{D4899E52-E199-4ACD-8987-1B9E61AA99B8}" type="presOf" srcId="{A22B95DF-9FE8-420F-A458-0ABF9054DDA8}" destId="{BB45BE9A-FF36-43D6-83C3-336A2E12976B}" srcOrd="0" destOrd="0" presId="urn:microsoft.com/office/officeart/2005/8/layout/hierarchy2"/>
    <dgm:cxn modelId="{775B1B90-AC05-4952-874D-D84AEBE82C7A}" srcId="{59A3506E-67E5-4F7A-9B7E-1576BEDC34A3}" destId="{26B2BE31-97EF-4625-B738-F0B479E24968}" srcOrd="1" destOrd="0" parTransId="{74C07CD9-03A2-472F-9D10-89398F18C5FF}" sibTransId="{C86DC288-399D-4E73-8A61-65A8F1A51B41}"/>
    <dgm:cxn modelId="{01EC7294-CEEF-40F6-B633-67C82FEF8FA3}" type="presOf" srcId="{09B6955E-10DC-4968-92CF-E1C9819E5605}" destId="{DA0E9240-41B7-41B5-8F65-67C41791B0D9}" srcOrd="0" destOrd="0" presId="urn:microsoft.com/office/officeart/2005/8/layout/hierarchy2"/>
    <dgm:cxn modelId="{13FDBCAC-7318-474F-B507-7E4CAD879951}" type="presOf" srcId="{26D5F77F-06A6-4CDE-AA21-49C84A02C9CD}" destId="{58636808-5F2B-4961-A006-BFF4D8EA13A6}" srcOrd="1" destOrd="0" presId="urn:microsoft.com/office/officeart/2005/8/layout/hierarchy2"/>
    <dgm:cxn modelId="{539F31B7-EA4B-4A96-9594-A01E02E53A02}" srcId="{890597F3-5A77-42C5-A3BE-2278E7F238BC}" destId="{59A3506E-67E5-4F7A-9B7E-1576BEDC34A3}" srcOrd="0" destOrd="0" parTransId="{E20479EF-AE87-47E7-95B8-7079AFFBD0FD}" sibTransId="{00FBE2A5-9907-4191-9EDB-ED7525BF77C3}"/>
    <dgm:cxn modelId="{E160E5C4-0096-4C7F-BE97-005ED6DD2F13}" type="presOf" srcId="{59A3506E-67E5-4F7A-9B7E-1576BEDC34A3}" destId="{1B46BF3C-CDFA-4359-A082-13BD84A6C0BB}" srcOrd="0" destOrd="0" presId="urn:microsoft.com/office/officeart/2005/8/layout/hierarchy2"/>
    <dgm:cxn modelId="{7C418AD0-8738-47DB-8D3B-051DD65C20D7}" srcId="{59A3506E-67E5-4F7A-9B7E-1576BEDC34A3}" destId="{09B6955E-10DC-4968-92CF-E1C9819E5605}" srcOrd="0" destOrd="0" parTransId="{A22B95DF-9FE8-420F-A458-0ABF9054DDA8}" sibTransId="{C73EB503-5E35-420A-9A21-59932CE19BD4}"/>
    <dgm:cxn modelId="{E4AD93DF-6236-47C2-B398-9A40B78239C5}" type="presOf" srcId="{74C07CD9-03A2-472F-9D10-89398F18C5FF}" destId="{1992A5A9-39A4-43EF-B349-F3C4C172BA3E}" srcOrd="1" destOrd="0" presId="urn:microsoft.com/office/officeart/2005/8/layout/hierarchy2"/>
    <dgm:cxn modelId="{B3E5EDF1-37B8-40A2-AE86-7B7F70CDE7F5}" type="presOf" srcId="{A22B95DF-9FE8-420F-A458-0ABF9054DDA8}" destId="{FF1FABA0-D36A-4D54-B247-14BE9D94AEF0}" srcOrd="1" destOrd="0" presId="urn:microsoft.com/office/officeart/2005/8/layout/hierarchy2"/>
    <dgm:cxn modelId="{EA0EABD9-F3E7-4927-B22F-9E20CABC1353}" type="presParOf" srcId="{9D9A0CA1-8164-4592-AEA4-35677C424757}" destId="{2CCC041F-5372-4AC6-B4C5-74789650EAD3}" srcOrd="0" destOrd="0" presId="urn:microsoft.com/office/officeart/2005/8/layout/hierarchy2"/>
    <dgm:cxn modelId="{B7092B44-C017-4DB1-A5EC-3B2995489154}" type="presParOf" srcId="{2CCC041F-5372-4AC6-B4C5-74789650EAD3}" destId="{1B46BF3C-CDFA-4359-A082-13BD84A6C0BB}" srcOrd="0" destOrd="0" presId="urn:microsoft.com/office/officeart/2005/8/layout/hierarchy2"/>
    <dgm:cxn modelId="{5F3B3F5E-9133-4DE6-824A-A1610140E086}" type="presParOf" srcId="{2CCC041F-5372-4AC6-B4C5-74789650EAD3}" destId="{B9A1D65E-4165-4AE7-8D64-4D3B729688D5}" srcOrd="1" destOrd="0" presId="urn:microsoft.com/office/officeart/2005/8/layout/hierarchy2"/>
    <dgm:cxn modelId="{DF64F500-6617-464C-ADBF-2438D3BF07CF}" type="presParOf" srcId="{B9A1D65E-4165-4AE7-8D64-4D3B729688D5}" destId="{BB45BE9A-FF36-43D6-83C3-336A2E12976B}" srcOrd="0" destOrd="0" presId="urn:microsoft.com/office/officeart/2005/8/layout/hierarchy2"/>
    <dgm:cxn modelId="{C7A68622-CC87-445A-B084-57FDAC9C4668}" type="presParOf" srcId="{BB45BE9A-FF36-43D6-83C3-336A2E12976B}" destId="{FF1FABA0-D36A-4D54-B247-14BE9D94AEF0}" srcOrd="0" destOrd="0" presId="urn:microsoft.com/office/officeart/2005/8/layout/hierarchy2"/>
    <dgm:cxn modelId="{96DA79F2-FBFB-4FDF-88C2-7F7FCB8DBC72}" type="presParOf" srcId="{B9A1D65E-4165-4AE7-8D64-4D3B729688D5}" destId="{34C60CED-D817-49FB-B9BB-9118A6A363A3}" srcOrd="1" destOrd="0" presId="urn:microsoft.com/office/officeart/2005/8/layout/hierarchy2"/>
    <dgm:cxn modelId="{C7153360-373F-479F-9733-C14F874D6753}" type="presParOf" srcId="{34C60CED-D817-49FB-B9BB-9118A6A363A3}" destId="{DA0E9240-41B7-41B5-8F65-67C41791B0D9}" srcOrd="0" destOrd="0" presId="urn:microsoft.com/office/officeart/2005/8/layout/hierarchy2"/>
    <dgm:cxn modelId="{1AC1E39B-E666-46C5-BBDB-1BFA6AA98FCA}" type="presParOf" srcId="{34C60CED-D817-49FB-B9BB-9118A6A363A3}" destId="{6693B9B5-72C6-4946-A026-DFCE5CC564BD}" srcOrd="1" destOrd="0" presId="urn:microsoft.com/office/officeart/2005/8/layout/hierarchy2"/>
    <dgm:cxn modelId="{BD9A2782-44A7-4D10-89E2-6C85E5C06753}" type="presParOf" srcId="{B9A1D65E-4165-4AE7-8D64-4D3B729688D5}" destId="{94DAD3F8-2DD3-4D49-BCA3-0AA4CEA5327E}" srcOrd="2" destOrd="0" presId="urn:microsoft.com/office/officeart/2005/8/layout/hierarchy2"/>
    <dgm:cxn modelId="{19307C81-BE97-438B-9CBC-629DE5FEA912}" type="presParOf" srcId="{94DAD3F8-2DD3-4D49-BCA3-0AA4CEA5327E}" destId="{1992A5A9-39A4-43EF-B349-F3C4C172BA3E}" srcOrd="0" destOrd="0" presId="urn:microsoft.com/office/officeart/2005/8/layout/hierarchy2"/>
    <dgm:cxn modelId="{FA6A260E-BACB-4037-BEC7-FC28C486B655}" type="presParOf" srcId="{B9A1D65E-4165-4AE7-8D64-4D3B729688D5}" destId="{96C74287-B61F-407D-BFD4-4FCEB537C037}" srcOrd="3" destOrd="0" presId="urn:microsoft.com/office/officeart/2005/8/layout/hierarchy2"/>
    <dgm:cxn modelId="{F549FC22-1462-4B16-A05C-40A58B0F5542}" type="presParOf" srcId="{96C74287-B61F-407D-BFD4-4FCEB537C037}" destId="{FC825A99-0AF5-4BBD-A87F-DB1EBAD335DC}" srcOrd="0" destOrd="0" presId="urn:microsoft.com/office/officeart/2005/8/layout/hierarchy2"/>
    <dgm:cxn modelId="{D176BA43-AE67-4679-9654-5A7DA6CF6ABF}" type="presParOf" srcId="{96C74287-B61F-407D-BFD4-4FCEB537C037}" destId="{DA4EEE03-96FC-4895-961B-17A48177CF31}" srcOrd="1" destOrd="0" presId="urn:microsoft.com/office/officeart/2005/8/layout/hierarchy2"/>
    <dgm:cxn modelId="{9C570201-3161-47EB-8833-9912B39D4217}" type="presParOf" srcId="{B9A1D65E-4165-4AE7-8D64-4D3B729688D5}" destId="{CDABA905-00CC-4685-8E9D-590A386A3B8E}" srcOrd="4" destOrd="0" presId="urn:microsoft.com/office/officeart/2005/8/layout/hierarchy2"/>
    <dgm:cxn modelId="{2F8A09A8-7110-45C5-AB57-1A25DB2FCAA3}" type="presParOf" srcId="{CDABA905-00CC-4685-8E9D-590A386A3B8E}" destId="{58636808-5F2B-4961-A006-BFF4D8EA13A6}" srcOrd="0" destOrd="0" presId="urn:microsoft.com/office/officeart/2005/8/layout/hierarchy2"/>
    <dgm:cxn modelId="{78B88CD1-26BB-4F80-9760-9610949EA321}" type="presParOf" srcId="{B9A1D65E-4165-4AE7-8D64-4D3B729688D5}" destId="{EC0EA8B8-0BDD-4B34-AC1D-81C811C46B05}" srcOrd="5" destOrd="0" presId="urn:microsoft.com/office/officeart/2005/8/layout/hierarchy2"/>
    <dgm:cxn modelId="{ECF7E878-DBEE-4EF1-A933-0F8C0281BF82}" type="presParOf" srcId="{EC0EA8B8-0BDD-4B34-AC1D-81C811C46B05}" destId="{37AA57FA-6512-49C5-850D-0B5DBF1B5B11}" srcOrd="0" destOrd="0" presId="urn:microsoft.com/office/officeart/2005/8/layout/hierarchy2"/>
    <dgm:cxn modelId="{5D91536F-8CDB-4908-8028-139199733CEF}" type="presParOf" srcId="{EC0EA8B8-0BDD-4B34-AC1D-81C811C46B05}" destId="{E28AE99C-4D94-44FF-BB67-9F9102553C0D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16A876F-5FA3-42F9-A923-4E2C334EF9BC}">
      <dsp:nvSpPr>
        <dsp:cNvPr id="0" name=""/>
        <dsp:cNvSpPr/>
      </dsp:nvSpPr>
      <dsp:spPr>
        <a:xfrm rot="5400000">
          <a:off x="-106543" y="109307"/>
          <a:ext cx="710288" cy="497202"/>
        </a:xfrm>
        <a:prstGeom prst="chevron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1600" kern="1200" dirty="0">
              <a:latin typeface="Century Gothic" panose="020B0502020202020204" pitchFamily="34" charset="0"/>
            </a:rPr>
            <a:t>1</a:t>
          </a:r>
          <a:endParaRPr lang="es-CO" sz="1200" kern="1200" dirty="0">
            <a:latin typeface="Century Gothic" panose="020B0502020202020204" pitchFamily="34" charset="0"/>
          </a:endParaRPr>
        </a:p>
      </dsp:txBody>
      <dsp:txXfrm rot="-5400000">
        <a:off x="0" y="251365"/>
        <a:ext cx="497202" cy="213086"/>
      </dsp:txXfrm>
    </dsp:sp>
    <dsp:sp modelId="{344A86B1-48E8-448F-9C6D-71580BFB5F83}">
      <dsp:nvSpPr>
        <dsp:cNvPr id="0" name=""/>
        <dsp:cNvSpPr/>
      </dsp:nvSpPr>
      <dsp:spPr>
        <a:xfrm rot="5400000">
          <a:off x="2825947" y="-2325981"/>
          <a:ext cx="461930" cy="5119421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12700" rIns="12700" bIns="12700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s-CO" sz="2000" kern="1200" dirty="0">
              <a:latin typeface="Century Gothic" panose="020B0502020202020204" pitchFamily="34" charset="0"/>
            </a:rPr>
            <a:t>Entender el problema</a:t>
          </a:r>
        </a:p>
      </dsp:txBody>
      <dsp:txXfrm rot="-5400000">
        <a:off x="497202" y="25314"/>
        <a:ext cx="5096871" cy="416830"/>
      </dsp:txXfrm>
    </dsp:sp>
    <dsp:sp modelId="{A651636C-CE47-4575-AA1E-AB00D80E941D}">
      <dsp:nvSpPr>
        <dsp:cNvPr id="0" name=""/>
        <dsp:cNvSpPr/>
      </dsp:nvSpPr>
      <dsp:spPr>
        <a:xfrm rot="5400000">
          <a:off x="-106543" y="658631"/>
          <a:ext cx="710288" cy="497202"/>
        </a:xfrm>
        <a:prstGeom prst="chevron">
          <a:avLst/>
        </a:prstGeom>
        <a:gradFill rotWithShape="0">
          <a:gsLst>
            <a:gs pos="0">
              <a:schemeClr val="accent3">
                <a:hueOff val="252426"/>
                <a:satOff val="3301"/>
                <a:lumOff val="-4052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252426"/>
                <a:satOff val="3301"/>
                <a:lumOff val="-4052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252426"/>
                <a:satOff val="3301"/>
                <a:lumOff val="-4052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3">
              <a:hueOff val="252426"/>
              <a:satOff val="3301"/>
              <a:lumOff val="-4052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1800" kern="1200" dirty="0">
              <a:latin typeface="Century Gothic" panose="020B0502020202020204" pitchFamily="34" charset="0"/>
            </a:rPr>
            <a:t>2</a:t>
          </a:r>
          <a:endParaRPr lang="es-CO" sz="2400" kern="1200" dirty="0">
            <a:latin typeface="Century Gothic" panose="020B0502020202020204" pitchFamily="34" charset="0"/>
          </a:endParaRPr>
        </a:p>
      </dsp:txBody>
      <dsp:txXfrm rot="-5400000">
        <a:off x="0" y="800689"/>
        <a:ext cx="497202" cy="213086"/>
      </dsp:txXfrm>
    </dsp:sp>
    <dsp:sp modelId="{79B0DE70-0A03-4A6F-B31F-EC81EB5DF7EA}">
      <dsp:nvSpPr>
        <dsp:cNvPr id="0" name=""/>
        <dsp:cNvSpPr/>
      </dsp:nvSpPr>
      <dsp:spPr>
        <a:xfrm rot="5400000">
          <a:off x="2826069" y="-1776779"/>
          <a:ext cx="461687" cy="5119421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3">
              <a:hueOff val="252426"/>
              <a:satOff val="3301"/>
              <a:lumOff val="-4052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12700" rIns="12700" bIns="12700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s-CO" sz="20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 pitchFamily="34" charset="0"/>
              <a:ea typeface="+mn-ea"/>
              <a:cs typeface="+mn-cs"/>
            </a:rPr>
            <a:t>Diseñar un plan</a:t>
          </a:r>
        </a:p>
      </dsp:txBody>
      <dsp:txXfrm rot="-5400000">
        <a:off x="497202" y="574626"/>
        <a:ext cx="5096883" cy="416611"/>
      </dsp:txXfrm>
    </dsp:sp>
    <dsp:sp modelId="{2AA7B02C-023E-4537-897E-B54A048C8983}">
      <dsp:nvSpPr>
        <dsp:cNvPr id="0" name=""/>
        <dsp:cNvSpPr/>
      </dsp:nvSpPr>
      <dsp:spPr>
        <a:xfrm rot="5400000">
          <a:off x="-106543" y="1207954"/>
          <a:ext cx="710288" cy="497202"/>
        </a:xfrm>
        <a:prstGeom prst="chevron">
          <a:avLst/>
        </a:prstGeom>
        <a:gradFill rotWithShape="0">
          <a:gsLst>
            <a:gs pos="0">
              <a:schemeClr val="accent3">
                <a:hueOff val="504853"/>
                <a:satOff val="6602"/>
                <a:lumOff val="-810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504853"/>
                <a:satOff val="6602"/>
                <a:lumOff val="-810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504853"/>
                <a:satOff val="6602"/>
                <a:lumOff val="-810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3">
              <a:hueOff val="504853"/>
              <a:satOff val="6602"/>
              <a:lumOff val="-8104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2000" kern="1200" dirty="0">
              <a:latin typeface="Century Gothic" panose="020B0502020202020204" pitchFamily="34" charset="0"/>
            </a:rPr>
            <a:t>3</a:t>
          </a:r>
        </a:p>
      </dsp:txBody>
      <dsp:txXfrm rot="-5400000">
        <a:off x="0" y="1350012"/>
        <a:ext cx="497202" cy="213086"/>
      </dsp:txXfrm>
    </dsp:sp>
    <dsp:sp modelId="{15D3D31F-A831-4E62-ADE9-6ACE81331CDC}">
      <dsp:nvSpPr>
        <dsp:cNvPr id="0" name=""/>
        <dsp:cNvSpPr/>
      </dsp:nvSpPr>
      <dsp:spPr>
        <a:xfrm rot="5400000">
          <a:off x="2826069" y="-1227455"/>
          <a:ext cx="461687" cy="5119421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3">
              <a:hueOff val="504853"/>
              <a:satOff val="6602"/>
              <a:lumOff val="-8104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12700" rIns="12700" bIns="12700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s-CO" sz="20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 pitchFamily="34" charset="0"/>
              <a:ea typeface="+mn-ea"/>
              <a:cs typeface="+mn-cs"/>
            </a:rPr>
            <a:t>Implementar el plan</a:t>
          </a:r>
        </a:p>
      </dsp:txBody>
      <dsp:txXfrm rot="-5400000">
        <a:off x="497202" y="1123950"/>
        <a:ext cx="5096883" cy="416611"/>
      </dsp:txXfrm>
    </dsp:sp>
    <dsp:sp modelId="{58E45CBE-DE64-4E4E-8AAA-D376465B2BEE}">
      <dsp:nvSpPr>
        <dsp:cNvPr id="0" name=""/>
        <dsp:cNvSpPr/>
      </dsp:nvSpPr>
      <dsp:spPr>
        <a:xfrm rot="5400000">
          <a:off x="-106543" y="1757278"/>
          <a:ext cx="710288" cy="497202"/>
        </a:xfrm>
        <a:prstGeom prst="chevron">
          <a:avLst/>
        </a:prstGeom>
        <a:gradFill rotWithShape="0">
          <a:gsLst>
            <a:gs pos="0">
              <a:schemeClr val="accent3">
                <a:hueOff val="757279"/>
                <a:satOff val="9903"/>
                <a:lumOff val="-12156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757279"/>
                <a:satOff val="9903"/>
                <a:lumOff val="-12156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757279"/>
                <a:satOff val="9903"/>
                <a:lumOff val="-12156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3">
              <a:hueOff val="757279"/>
              <a:satOff val="9903"/>
              <a:lumOff val="-12156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2000" kern="1200" dirty="0">
              <a:latin typeface="Century Gothic" panose="020B0502020202020204" pitchFamily="34" charset="0"/>
            </a:rPr>
            <a:t>4</a:t>
          </a:r>
        </a:p>
      </dsp:txBody>
      <dsp:txXfrm rot="-5400000">
        <a:off x="0" y="1899336"/>
        <a:ext cx="497202" cy="213086"/>
      </dsp:txXfrm>
    </dsp:sp>
    <dsp:sp modelId="{C37D6712-7A35-4663-80F7-1B8FC410AF19}">
      <dsp:nvSpPr>
        <dsp:cNvPr id="0" name=""/>
        <dsp:cNvSpPr/>
      </dsp:nvSpPr>
      <dsp:spPr>
        <a:xfrm rot="5400000">
          <a:off x="2826069" y="-678132"/>
          <a:ext cx="461687" cy="5119421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3">
              <a:hueOff val="757279"/>
              <a:satOff val="9903"/>
              <a:lumOff val="-12156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12700" rIns="12700" bIns="12700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s-CO" sz="20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 pitchFamily="34" charset="0"/>
              <a:ea typeface="+mn-ea"/>
              <a:cs typeface="+mn-cs"/>
            </a:rPr>
            <a:t>Revisar el plan</a:t>
          </a:r>
        </a:p>
      </dsp:txBody>
      <dsp:txXfrm rot="-5400000">
        <a:off x="497202" y="1673273"/>
        <a:ext cx="5096883" cy="41661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B46BF3C-CDFA-4359-A082-13BD84A6C0BB}">
      <dsp:nvSpPr>
        <dsp:cNvPr id="0" name=""/>
        <dsp:cNvSpPr/>
      </dsp:nvSpPr>
      <dsp:spPr>
        <a:xfrm>
          <a:off x="265709" y="1397444"/>
          <a:ext cx="2539999" cy="1269999"/>
        </a:xfrm>
        <a:prstGeom prst="roundRect">
          <a:avLst>
            <a:gd name="adj" fmla="val 10000"/>
          </a:avLst>
        </a:prstGeom>
        <a:solidFill>
          <a:schemeClr val="tx1"/>
        </a:soli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2000" b="1" kern="1200" dirty="0">
              <a:latin typeface="+mn-lt"/>
            </a:rPr>
            <a:t>Alternativas en los problemas de decisión lógica</a:t>
          </a:r>
        </a:p>
      </dsp:txBody>
      <dsp:txXfrm>
        <a:off x="302906" y="1434641"/>
        <a:ext cx="2465605" cy="1195605"/>
      </dsp:txXfrm>
    </dsp:sp>
    <dsp:sp modelId="{BB45BE9A-FF36-43D6-83C3-336A2E12976B}">
      <dsp:nvSpPr>
        <dsp:cNvPr id="0" name=""/>
        <dsp:cNvSpPr/>
      </dsp:nvSpPr>
      <dsp:spPr>
        <a:xfrm rot="17749945">
          <a:off x="2319916" y="1229413"/>
          <a:ext cx="1721875" cy="56250"/>
        </a:xfrm>
        <a:custGeom>
          <a:avLst/>
          <a:gdLst/>
          <a:ahLst/>
          <a:cxnLst/>
          <a:rect l="0" t="0" r="0" b="0"/>
          <a:pathLst>
            <a:path>
              <a:moveTo>
                <a:pt x="0" y="28125"/>
              </a:moveTo>
              <a:lnTo>
                <a:pt x="1721875" y="28125"/>
              </a:lnTo>
            </a:path>
          </a:pathLst>
        </a:custGeom>
        <a:noFill/>
        <a:ln w="6350" cap="flat" cmpd="sng" algn="ctr">
          <a:solidFill>
            <a:schemeClr val="tx1"/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CO" sz="600" kern="1200"/>
        </a:p>
      </dsp:txBody>
      <dsp:txXfrm>
        <a:off x="3137807" y="1214491"/>
        <a:ext cx="86093" cy="86093"/>
      </dsp:txXfrm>
    </dsp:sp>
    <dsp:sp modelId="{DA0E9240-41B7-41B5-8F65-67C41791B0D9}">
      <dsp:nvSpPr>
        <dsp:cNvPr id="0" name=""/>
        <dsp:cNvSpPr/>
      </dsp:nvSpPr>
      <dsp:spPr>
        <a:xfrm>
          <a:off x="3556000" y="233267"/>
          <a:ext cx="2539999" cy="498729"/>
        </a:xfrm>
        <a:prstGeom prst="roundRect">
          <a:avLst>
            <a:gd name="adj" fmla="val 10000"/>
          </a:avLst>
        </a:prstGeom>
        <a:solidFill>
          <a:schemeClr val="bg1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2000" b="1" kern="1200" dirty="0">
              <a:latin typeface="+mn-lt"/>
            </a:rPr>
            <a:t>Alternativa simple</a:t>
          </a:r>
        </a:p>
      </dsp:txBody>
      <dsp:txXfrm>
        <a:off x="3570607" y="247874"/>
        <a:ext cx="2510785" cy="469515"/>
      </dsp:txXfrm>
    </dsp:sp>
    <dsp:sp modelId="{94DAD3F8-2DD3-4D49-BCA3-0AA4CEA5327E}">
      <dsp:nvSpPr>
        <dsp:cNvPr id="0" name=""/>
        <dsp:cNvSpPr/>
      </dsp:nvSpPr>
      <dsp:spPr>
        <a:xfrm rot="21534312">
          <a:off x="2805640" y="1997150"/>
          <a:ext cx="750427" cy="56250"/>
        </a:xfrm>
        <a:custGeom>
          <a:avLst/>
          <a:gdLst/>
          <a:ahLst/>
          <a:cxnLst/>
          <a:rect l="0" t="0" r="0" b="0"/>
          <a:pathLst>
            <a:path>
              <a:moveTo>
                <a:pt x="0" y="28125"/>
              </a:moveTo>
              <a:lnTo>
                <a:pt x="750427" y="28125"/>
              </a:lnTo>
            </a:path>
          </a:pathLst>
        </a:custGeom>
        <a:noFill/>
        <a:ln w="6350" cap="flat" cmpd="sng" algn="ctr">
          <a:solidFill>
            <a:schemeClr val="tx1"/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CO" sz="500" kern="1200"/>
        </a:p>
      </dsp:txBody>
      <dsp:txXfrm>
        <a:off x="3162094" y="2006514"/>
        <a:ext cx="37521" cy="37521"/>
      </dsp:txXfrm>
    </dsp:sp>
    <dsp:sp modelId="{FC825A99-0AF5-4BBD-A87F-DB1EBAD335DC}">
      <dsp:nvSpPr>
        <dsp:cNvPr id="0" name=""/>
        <dsp:cNvSpPr/>
      </dsp:nvSpPr>
      <dsp:spPr>
        <a:xfrm>
          <a:off x="3556000" y="1785956"/>
          <a:ext cx="2539999" cy="464299"/>
        </a:xfrm>
        <a:prstGeom prst="roundRect">
          <a:avLst>
            <a:gd name="adj" fmla="val 10000"/>
          </a:avLst>
        </a:prstGeom>
        <a:solidFill>
          <a:schemeClr val="bg1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2000" b="1" kern="1200" dirty="0">
              <a:latin typeface="+mn-lt"/>
            </a:rPr>
            <a:t>Alternativa doble </a:t>
          </a:r>
        </a:p>
      </dsp:txBody>
      <dsp:txXfrm>
        <a:off x="3569599" y="1799555"/>
        <a:ext cx="2512801" cy="437101"/>
      </dsp:txXfrm>
    </dsp:sp>
    <dsp:sp modelId="{CDABA905-00CC-4685-8E9D-590A386A3B8E}">
      <dsp:nvSpPr>
        <dsp:cNvPr id="0" name=""/>
        <dsp:cNvSpPr/>
      </dsp:nvSpPr>
      <dsp:spPr>
        <a:xfrm rot="3769132">
          <a:off x="2359617" y="2734864"/>
          <a:ext cx="1642474" cy="56250"/>
        </a:xfrm>
        <a:custGeom>
          <a:avLst/>
          <a:gdLst/>
          <a:ahLst/>
          <a:cxnLst/>
          <a:rect l="0" t="0" r="0" b="0"/>
          <a:pathLst>
            <a:path>
              <a:moveTo>
                <a:pt x="0" y="28125"/>
              </a:moveTo>
              <a:lnTo>
                <a:pt x="1642474" y="28125"/>
              </a:lnTo>
            </a:path>
          </a:pathLst>
        </a:custGeom>
        <a:noFill/>
        <a:ln w="6350" cap="flat" cmpd="sng" algn="ctr">
          <a:solidFill>
            <a:schemeClr val="tx1"/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CO" sz="500" kern="1200"/>
        </a:p>
      </dsp:txBody>
      <dsp:txXfrm>
        <a:off x="3139792" y="2721927"/>
        <a:ext cx="82123" cy="82123"/>
      </dsp:txXfrm>
    </dsp:sp>
    <dsp:sp modelId="{37AA57FA-6512-49C5-850D-0B5DBF1B5B11}">
      <dsp:nvSpPr>
        <dsp:cNvPr id="0" name=""/>
        <dsp:cNvSpPr/>
      </dsp:nvSpPr>
      <dsp:spPr>
        <a:xfrm>
          <a:off x="3556000" y="3271132"/>
          <a:ext cx="2539999" cy="444804"/>
        </a:xfrm>
        <a:prstGeom prst="roundRect">
          <a:avLst>
            <a:gd name="adj" fmla="val 10000"/>
          </a:avLst>
        </a:prstGeom>
        <a:solidFill>
          <a:schemeClr val="bg1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2000" b="1" kern="1200" dirty="0">
              <a:latin typeface="+mn-lt"/>
            </a:rPr>
            <a:t>Alternativa múltiple</a:t>
          </a:r>
        </a:p>
      </dsp:txBody>
      <dsp:txXfrm>
        <a:off x="3569028" y="3284160"/>
        <a:ext cx="2513943" cy="41874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2 Marcador de fecha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943A3E-55B9-4706-BA6E-9364B5247742}" type="datetimeFigureOut">
              <a:rPr lang="es-CO" smtClean="0"/>
              <a:t>27/09/2026</a:t>
            </a:fld>
            <a:endParaRPr lang="es-CO"/>
          </a:p>
        </p:txBody>
      </p:sp>
      <p:sp>
        <p:nvSpPr>
          <p:cNvPr id="4" name="3 Marcador de 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4 Marcador de 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08B099-0CC4-41E8-A6BF-D10E445BFF7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7156844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AE389-1891-4C1C-AE7B-96446A92669F}" type="datetime1">
              <a:rPr lang="es-CO" smtClean="0"/>
              <a:t>27/09/2026</a:t>
            </a:fld>
            <a:endParaRPr lang="es-CO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pPr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366208883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97211-2E02-4E34-9D1C-742DBBA2E713}" type="datetime1">
              <a:rPr lang="es-CO" smtClean="0"/>
              <a:t>27/09/2026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5199187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4A16AA-8F92-4F8D-9FF5-AE4F5F025475}" type="datetime1">
              <a:rPr lang="es-CO" smtClean="0"/>
              <a:t>27/09/2026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4321495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A2889A-C4A3-4C6C-A514-E9566A95FF0B}" type="datetime1">
              <a:rPr lang="es-CO" smtClean="0"/>
              <a:t>27/09/2026</a:t>
            </a:fld>
            <a:endParaRPr lang="es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0313126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C549B8-F78E-4015-8DD3-99AC842EEF5C}" type="datetime1">
              <a:rPr lang="es-CO" smtClean="0"/>
              <a:t>27/09/2026</a:t>
            </a:fld>
            <a:endParaRPr lang="es-CO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473852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AE389-1891-4C1C-AE7B-96446A92669F}" type="datetime1">
              <a:rPr lang="es-CO" smtClean="0"/>
              <a:t>27/09/2026</a:t>
            </a:fld>
            <a:endParaRPr lang="es-CO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pPr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085105137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375FDE-4F9B-4FF4-9D4F-6D3ED15F62CE}" type="datetime1">
              <a:rPr lang="es-CO" smtClean="0"/>
              <a:t>27/09/2026</a:t>
            </a:fld>
            <a:endParaRPr lang="es-CO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726837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F392FA-6414-43D4-857F-1D16849F2AFB}" type="datetime1">
              <a:rPr lang="es-CO" smtClean="0"/>
              <a:t>27/09/2026</a:t>
            </a:fld>
            <a:endParaRPr lang="es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884527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1ADB1-43E6-4CC5-8BA6-A3F5A7E6EF55}" type="datetime1">
              <a:rPr lang="es-CO" smtClean="0"/>
              <a:t>27/09/2026</a:t>
            </a:fld>
            <a:endParaRPr lang="es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5306390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9921E5-6957-4C84-BD80-156D13F58C59}" type="datetime1">
              <a:rPr lang="es-CO" smtClean="0"/>
              <a:t>27/09/2026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771218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B61D7-E979-4A0B-B106-A9203ABD6AA5}" type="datetime1">
              <a:rPr lang="es-CO" smtClean="0"/>
              <a:t>27/09/2026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2225396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97211-2E02-4E34-9D1C-742DBBA2E713}" type="datetime1">
              <a:rPr lang="es-CO" smtClean="0"/>
              <a:t>27/09/2026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8641032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FAE389-1891-4C1C-AE7B-96446A92669F}" type="datetime1">
              <a:rPr lang="es-CO" smtClean="0"/>
              <a:t>27/09/2026</a:t>
            </a:fld>
            <a:endParaRPr lang="es-CO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DF11D6-2A43-477C-ACA3-F1025A79500F}" type="slidenum">
              <a:rPr lang="es-CO" smtClean="0"/>
              <a:pPr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41434745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65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diagramLayout" Target="../diagrams/layout1.xml"/><Relationship Id="rId7" Type="http://schemas.openxmlformats.org/officeDocument/2006/relationships/image" Target="../media/image1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makecode.microbit.org/courses/csintro/conditionals/overview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diagramLayout" Target="../diagrams/layout2.xml"/><Relationship Id="rId7" Type="http://schemas.openxmlformats.org/officeDocument/2006/relationships/image" Target="../media/image10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10" Type="http://schemas.openxmlformats.org/officeDocument/2006/relationships/image" Target="../media/image8.png"/><Relationship Id="rId4" Type="http://schemas.openxmlformats.org/officeDocument/2006/relationships/diagramQuickStyle" Target="../diagrams/quickStyle2.xml"/><Relationship Id="rId9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jpe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jpe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ythontutor.com/visualize.html#code=%23%20Entrada%20de%20datos%0Ac%20%3D%20float%28input%28%22Ingrese%20los%20%C2%B0C%3A%20%22%29%29%0A%0A%23%20Conversion%20%C2%B0C%20a%20%C2%B0F%0Af%20%3D%20%289.0/5%29*c%20%2B%2032%0A%0A%23%20Salida%0Aprint%28c,%22%C2%B0C%20%3D%22,f,%22%C2%B0F%22%29%0A&amp;curInstr=0&amp;mode=display&amp;origin=opt-frontend.js&amp;py=311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ythontutor.com/visualize.html#code=%23%20Funcion%20%28Modulo%29%0Adef%20celcius_to_fahrenheit%28c%29%3A%0A%20%20%20%20f%20%3D%20%289.0/5%29*c%20%2B%2032%0A%20%20%20%20return%20f%0A%0A%23%20Entrada%20de%20datos%0Atemp_c%20%3D%20float%28input%28%22Ingrese%20los%20%C2%B0C%3A%20%22%29%29%0A%0A%23%20Invocacion%20de%20la%20funcion%0Atemp_f%20%3D%20celcius_to_fahrenheit%28temp_c%29%0A%0A%23%20Despliegue%20de%20resultados%0Aprint%28temp_c,%22%C2%B0C%20%3D%22,%20temp_f,%22%C2%B0F%22%29%0A&amp;curInstr=0&amp;mode=display&amp;origin=opt-frontend.js&amp;py=311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pythontutor.com/visualize.html#code=%23%20Alta%20cohesi%C3%B3n%3A%20una%20tarea%20por%20funci%C3%B3n%0Adef%20leer_nota%28mensaje%29%3A%0A%20%20%20%20return%20float%28input%28mensaje%29%29%0A%0A%0Adef%20calcular_promedio%28a,%20b%29%3A%0A%20%20%20%20return%20%28a%20%2B%20b%29%20/%202%0A%0A%0A%23%20Programa%20principal%0Anota1%20%3D%20leer_nota%28%22Nota%201%3A%20%22%29%0Anota2%20%3D%20leer_nota%28%22Nota%202%3A%20%22%29%0Aprint%28calcular_promedio%28nota1,%20nota2%29%29%0A%0A&amp;curInstr=0&amp;mode=display&amp;origin=opt-frontend.js&amp;py=311" TargetMode="External"/><Relationship Id="rId2" Type="http://schemas.openxmlformats.org/officeDocument/2006/relationships/hyperlink" Target="https://pythontutor.com/visualize.html#code=%23%20Baja%20cohesi%C3%B3n%3A%20lee,%20calcula%20y%20muestra%0Adef%20promedio_de_notas%28%29%3A%0A%20%20%20%20a%20%3D%20float%28input%28%22Nota%201%3A%20%22%29%29%0A%20%20%20%20b%20%3D%20float%28input%28%22Nota%202%3A%20%22%29%29%0A%20%20%20%20print%28%28a%20%2B%20b%29%20/%202%29%0A%0A%0A%23%20Programa%20principal%0Apromedio_de_notas%28%29%0A%0A&amp;curInstr=0&amp;mode=display&amp;origin=opt-frontend.js&amp;py=311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pythontutor.com/visualize.html#code=%23%20Funcion%20%28Modulo%29%0Adef%20celcius_to_fahrenheit%28c%29%3A%0A%20%20%20%20f%20%3D%20%289.0/5%29*c%20%2B%2032%0A%20%20%20%20return%20f%0A%0A%23%20Entrada%20de%20datos%0Atemp_c%20%3D%20float%28input%28%22Ingrese%20los%20%C2%B0C%3A%20%22%29%29%0A%0A%23%20Invocacion%20de%20la%20funcion%0Atemp_f%20%3D%20celcius_to_fahrenheit%28temp_c%29%0A%0A%23%20Despliegue%20de%20resultados%0Aprint%28temp_c,%22%C2%B0C%20%3D%22,%20temp_f,%22%C2%B0F%22%29%0A&amp;curInstr=0&amp;mode=display&amp;origin=opt-frontend.js&amp;py=311" TargetMode="External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png"/><Relationship Id="rId4" Type="http://schemas.openxmlformats.org/officeDocument/2006/relationships/hyperlink" Target="https://pythontutor.com/visualize.html#code=%23%20Entrada%20de%20datos%0Ac%20%3D%20float%28input%28%22Ingrese%20los%20%C2%B0C%3A%20%22%29%29%0A%0A%23%20Conversion%20%C2%B0C%20a%20%C2%B0F%0Af%20%3D%20%289.0/5%29*c%20%2B%2032%0A%0A%23%20Salida%0Aprint%28c,%22%C2%B0C%20%3D%22,f,%22%C2%B0F%22%29%0A&amp;curInstr=0&amp;mode=display&amp;origin=opt-frontend.js&amp;py=311" TargetMode="Externa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hyperlink" Target="https://realpython.com/defining-your-own-python-function/" TargetMode="External"/><Relationship Id="rId13" Type="http://schemas.openxmlformats.org/officeDocument/2006/relationships/hyperlink" Target="https://realpython.com/python-while-loop/" TargetMode="External"/><Relationship Id="rId3" Type="http://schemas.openxmlformats.org/officeDocument/2006/relationships/hyperlink" Target="https://www.w3resource.com/index.php" TargetMode="External"/><Relationship Id="rId7" Type="http://schemas.openxmlformats.org/officeDocument/2006/relationships/hyperlink" Target="https://realpython.com/cheatsheets/python/" TargetMode="External"/><Relationship Id="rId12" Type="http://schemas.openxmlformats.org/officeDocument/2006/relationships/hyperlink" Target="https://makecode.microbit.org/courses" TargetMode="External"/><Relationship Id="rId2" Type="http://schemas.openxmlformats.org/officeDocument/2006/relationships/hyperlink" Target="https://ellibrodepython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python-course.eu/" TargetMode="External"/><Relationship Id="rId11" Type="http://schemas.openxmlformats.org/officeDocument/2006/relationships/hyperlink" Target="https://makecode.microbit.org/courses/csintro" TargetMode="External"/><Relationship Id="rId5" Type="http://schemas.openxmlformats.org/officeDocument/2006/relationships/hyperlink" Target="https://curriculumresources.edu.gh/wp-content/uploads/2025/01/" TargetMode="External"/><Relationship Id="rId15" Type="http://schemas.openxmlformats.org/officeDocument/2006/relationships/hyperlink" Target="https://cs.stanford.edu/people/nick/py/" TargetMode="External"/><Relationship Id="rId10" Type="http://schemas.openxmlformats.org/officeDocument/2006/relationships/hyperlink" Target="https://realpython.com/ref/best-practices/functions/" TargetMode="External"/><Relationship Id="rId4" Type="http://schemas.openxmlformats.org/officeDocument/2006/relationships/hyperlink" Target="https://realpython.com/" TargetMode="External"/><Relationship Id="rId9" Type="http://schemas.openxmlformats.org/officeDocument/2006/relationships/hyperlink" Target="https://realpython.com/python-built-in-functions/" TargetMode="External"/><Relationship Id="rId14" Type="http://schemas.openxmlformats.org/officeDocument/2006/relationships/hyperlink" Target="https://realpython.com/ref/keywords/while/" TargetMode="Externa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phdcomics.com/comics/archive.php?comicid=1431" TargetMode="External"/><Relationship Id="rId2" Type="http://schemas.openxmlformats.org/officeDocument/2006/relationships/image" Target="../media/image49.gi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5909BB-6F92-48BA-A875-99E15D2253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3528" y="1122363"/>
            <a:ext cx="8568952" cy="2387600"/>
          </a:xfrm>
        </p:spPr>
        <p:txBody>
          <a:bodyPr/>
          <a:lstStyle/>
          <a:p>
            <a:r>
              <a:rPr lang="es-CO" dirty="0"/>
              <a:t>Lógica y Representación 1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A9999BC-7CCA-4677-B2C4-E913A7AA1FC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s-CO" sz="3200" b="1" dirty="0"/>
              <a:t>Funciones - Introducción</a:t>
            </a:r>
          </a:p>
          <a:p>
            <a:r>
              <a:rPr lang="es-CO" dirty="0"/>
              <a:t>Ingeniería de Sistemas</a:t>
            </a:r>
          </a:p>
          <a:p>
            <a:r>
              <a:rPr lang="es-CO" dirty="0"/>
              <a:t>Universidad de Antioquia</a:t>
            </a:r>
          </a:p>
        </p:txBody>
      </p:sp>
    </p:spTree>
    <p:extLst>
      <p:ext uri="{BB962C8B-B14F-4D97-AF65-F5344CB8AC3E}">
        <p14:creationId xmlns:p14="http://schemas.microsoft.com/office/powerpoint/2010/main" val="7740975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251520" y="188640"/>
            <a:ext cx="8263830" cy="845334"/>
          </a:xfrm>
        </p:spPr>
        <p:txBody>
          <a:bodyPr>
            <a:normAutofit/>
          </a:bodyPr>
          <a:lstStyle/>
          <a:p>
            <a:r>
              <a:rPr lang="es-CO" sz="4000" dirty="0"/>
              <a:t>Método de Polya - Resumen</a:t>
            </a:r>
            <a:endParaRPr lang="en-US" sz="4000" dirty="0"/>
          </a:p>
        </p:txBody>
      </p:sp>
      <p:graphicFrame>
        <p:nvGraphicFramePr>
          <p:cNvPr id="6" name="13 Diagrama">
            <a:extLst>
              <a:ext uri="{FF2B5EF4-FFF2-40B4-BE49-F238E27FC236}">
                <a16:creationId xmlns:a16="http://schemas.microsoft.com/office/drawing/2014/main" id="{D0B70736-976D-4675-A33E-9F94643ADC4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45553215"/>
              </p:ext>
            </p:extLst>
          </p:nvPr>
        </p:nvGraphicFramePr>
        <p:xfrm>
          <a:off x="3059832" y="4221088"/>
          <a:ext cx="5616624" cy="23637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7" name="Picture 3">
            <a:extLst>
              <a:ext uri="{FF2B5EF4-FFF2-40B4-BE49-F238E27FC236}">
                <a16:creationId xmlns:a16="http://schemas.microsoft.com/office/drawing/2014/main" id="{9C9BD4AC-3A6A-4FE1-A719-F0D8329520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44" y="4404101"/>
            <a:ext cx="2200014" cy="19772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2">
            <a:extLst>
              <a:ext uri="{FF2B5EF4-FFF2-40B4-BE49-F238E27FC236}">
                <a16:creationId xmlns:a16="http://schemas.microsoft.com/office/drawing/2014/main" id="{E6732E42-F6E4-4E10-A20E-82A4BE9E85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016" y="1223168"/>
            <a:ext cx="3214687" cy="2411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3">
            <a:extLst>
              <a:ext uri="{FF2B5EF4-FFF2-40B4-BE49-F238E27FC236}">
                <a16:creationId xmlns:a16="http://schemas.microsoft.com/office/drawing/2014/main" id="{5899AD60-028E-47EE-844F-916EBA585E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13811" y="1248925"/>
            <a:ext cx="2857500" cy="2363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17 Flecha abajo">
            <a:extLst>
              <a:ext uri="{FF2B5EF4-FFF2-40B4-BE49-F238E27FC236}">
                <a16:creationId xmlns:a16="http://schemas.microsoft.com/office/drawing/2014/main" id="{656E38FA-A37E-460A-AF17-E0C304C611BF}"/>
              </a:ext>
            </a:extLst>
          </p:cNvPr>
          <p:cNvSpPr/>
          <p:nvPr/>
        </p:nvSpPr>
        <p:spPr>
          <a:xfrm rot="16200000">
            <a:off x="4400922" y="1973262"/>
            <a:ext cx="322262" cy="965200"/>
          </a:xfrm>
          <a:prstGeom prst="downArrow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s-CO"/>
          </a:p>
        </p:txBody>
      </p:sp>
      <p:sp>
        <p:nvSpPr>
          <p:cNvPr id="11" name="18 CuadroTexto">
            <a:extLst>
              <a:ext uri="{FF2B5EF4-FFF2-40B4-BE49-F238E27FC236}">
                <a16:creationId xmlns:a16="http://schemas.microsoft.com/office/drawing/2014/main" id="{B82BDCE9-7A82-42E8-98CF-353D30A777C0}"/>
              </a:ext>
            </a:extLst>
          </p:cNvPr>
          <p:cNvSpPr txBox="1"/>
          <p:nvPr/>
        </p:nvSpPr>
        <p:spPr>
          <a:xfrm>
            <a:off x="611560" y="3789040"/>
            <a:ext cx="3214688" cy="40011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s-CO" sz="2000" b="1" dirty="0"/>
              <a:t>PROBLEMA</a:t>
            </a:r>
            <a:endParaRPr lang="es-ES" sz="2000" dirty="0"/>
          </a:p>
        </p:txBody>
      </p:sp>
      <p:sp>
        <p:nvSpPr>
          <p:cNvPr id="12" name="19 CuadroTexto">
            <a:extLst>
              <a:ext uri="{FF2B5EF4-FFF2-40B4-BE49-F238E27FC236}">
                <a16:creationId xmlns:a16="http://schemas.microsoft.com/office/drawing/2014/main" id="{BFFC459E-C4D6-4371-ADA9-FB0FF4281118}"/>
              </a:ext>
            </a:extLst>
          </p:cNvPr>
          <p:cNvSpPr txBox="1"/>
          <p:nvPr/>
        </p:nvSpPr>
        <p:spPr>
          <a:xfrm>
            <a:off x="5148064" y="3752849"/>
            <a:ext cx="3214687" cy="40011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s-CO" sz="2000" b="1" dirty="0"/>
              <a:t>ALGORITMO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0584041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467543" y="207926"/>
            <a:ext cx="7939037" cy="986803"/>
          </a:xfrm>
        </p:spPr>
        <p:txBody>
          <a:bodyPr/>
          <a:lstStyle/>
          <a:p>
            <a:r>
              <a:rPr lang="es-CO" sz="3200" dirty="0"/>
              <a:t>Entrada, procesamiento y salida</a:t>
            </a:r>
          </a:p>
        </p:txBody>
      </p:sp>
      <p:sp>
        <p:nvSpPr>
          <p:cNvPr id="2" name="1 Marcador de contenido"/>
          <p:cNvSpPr>
            <a:spLocks noGrp="1"/>
          </p:cNvSpPr>
          <p:nvPr>
            <p:ph idx="1"/>
          </p:nvPr>
        </p:nvSpPr>
        <p:spPr>
          <a:xfrm>
            <a:off x="435471" y="1238602"/>
            <a:ext cx="7886700" cy="17292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sz="2200" dirty="0"/>
              <a:t>Los programas de computadora realizan estos tres pasos:  </a:t>
            </a:r>
          </a:p>
          <a:p>
            <a:pPr marL="457200" indent="-457200">
              <a:buFont typeface="+mj-lt"/>
              <a:buAutoNum type="arabicPeriod"/>
            </a:pPr>
            <a:r>
              <a:rPr lang="es-MX" sz="2000" dirty="0"/>
              <a:t>Se recibe la </a:t>
            </a:r>
            <a:r>
              <a:rPr lang="es-MX" sz="2000" b="1" dirty="0"/>
              <a:t>entrada</a:t>
            </a:r>
            <a:r>
              <a:rPr lang="es-MX" sz="2000" dirty="0"/>
              <a:t>.  </a:t>
            </a:r>
          </a:p>
          <a:p>
            <a:pPr marL="457200" indent="-457200">
              <a:buFont typeface="+mj-lt"/>
              <a:buAutoNum type="arabicPeriod"/>
            </a:pPr>
            <a:r>
              <a:rPr lang="es-MX" sz="2000" dirty="0"/>
              <a:t>Se realiza un </a:t>
            </a:r>
            <a:r>
              <a:rPr lang="es-MX" sz="2000" b="1" dirty="0"/>
              <a:t>proceso</a:t>
            </a:r>
            <a:r>
              <a:rPr lang="es-MX" sz="2000" dirty="0"/>
              <a:t> sobre la entrada.  </a:t>
            </a:r>
          </a:p>
          <a:p>
            <a:pPr marL="457200" indent="-457200">
              <a:buFont typeface="+mj-lt"/>
              <a:buAutoNum type="arabicPeriod"/>
            </a:pPr>
            <a:r>
              <a:rPr lang="es-MX" sz="2000" dirty="0"/>
              <a:t>Se genera la </a:t>
            </a:r>
            <a:r>
              <a:rPr lang="es-MX" sz="2000" b="1" dirty="0"/>
              <a:t>salida</a:t>
            </a:r>
            <a:endParaRPr lang="es-CO" sz="2000" b="1" dirty="0"/>
          </a:p>
        </p:txBody>
      </p:sp>
      <p:grpSp>
        <p:nvGrpSpPr>
          <p:cNvPr id="15" name="14 Grupo"/>
          <p:cNvGrpSpPr/>
          <p:nvPr/>
        </p:nvGrpSpPr>
        <p:grpSpPr>
          <a:xfrm>
            <a:off x="1589010" y="4102449"/>
            <a:ext cx="5715000" cy="838200"/>
            <a:chOff x="1676400" y="4495800"/>
            <a:chExt cx="5715000" cy="838200"/>
          </a:xfrm>
        </p:grpSpPr>
        <p:sp>
          <p:nvSpPr>
            <p:cNvPr id="10" name="9 Rectángulo"/>
            <p:cNvSpPr/>
            <p:nvPr/>
          </p:nvSpPr>
          <p:spPr>
            <a:xfrm>
              <a:off x="1676400" y="4648200"/>
              <a:ext cx="1447800" cy="533400"/>
            </a:xfrm>
            <a:prstGeom prst="rect">
              <a:avLst/>
            </a:prstGeom>
            <a:noFill/>
            <a:ln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sz="2000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onsolas" panose="020B0609020204030204" pitchFamily="49" charset="0"/>
                </a:rPr>
                <a:t>Inputs</a:t>
              </a:r>
              <a:endParaRPr lang="es-CO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1" name="10 Rectángulo"/>
            <p:cNvSpPr/>
            <p:nvPr/>
          </p:nvSpPr>
          <p:spPr>
            <a:xfrm>
              <a:off x="3810000" y="4495800"/>
              <a:ext cx="1447800" cy="8382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sz="2400" b="1" dirty="0">
                  <a:latin typeface="Consolas" panose="020B0609020204030204" pitchFamily="49" charset="0"/>
                </a:rPr>
                <a:t>Process</a:t>
              </a:r>
              <a:endParaRPr lang="es-CO" b="1" dirty="0">
                <a:latin typeface="Consolas" panose="020B0609020204030204" pitchFamily="49" charset="0"/>
              </a:endParaRPr>
            </a:p>
          </p:txBody>
        </p:sp>
        <p:sp>
          <p:nvSpPr>
            <p:cNvPr id="12" name="11 Rectángulo"/>
            <p:cNvSpPr/>
            <p:nvPr/>
          </p:nvSpPr>
          <p:spPr>
            <a:xfrm>
              <a:off x="5943600" y="4648200"/>
              <a:ext cx="1447800" cy="533400"/>
            </a:xfrm>
            <a:prstGeom prst="rect">
              <a:avLst/>
            </a:prstGeom>
            <a:noFill/>
            <a:ln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sz="2000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onsolas" panose="020B0609020204030204" pitchFamily="49" charset="0"/>
                </a:rPr>
                <a:t>Outputs</a:t>
              </a:r>
              <a:endParaRPr lang="es-CO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3" name="12 Flecha derecha"/>
            <p:cNvSpPr/>
            <p:nvPr/>
          </p:nvSpPr>
          <p:spPr>
            <a:xfrm>
              <a:off x="3124200" y="4800600"/>
              <a:ext cx="685800" cy="228600"/>
            </a:xfrm>
            <a:prstGeom prst="rightArrow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14" name="13 Flecha derecha"/>
            <p:cNvSpPr/>
            <p:nvPr/>
          </p:nvSpPr>
          <p:spPr>
            <a:xfrm>
              <a:off x="5257800" y="4800600"/>
              <a:ext cx="685800" cy="228600"/>
            </a:xfrm>
            <a:prstGeom prst="rightArrow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</p:grpSp>
      <p:pic>
        <p:nvPicPr>
          <p:cNvPr id="16" name="Picture 2" descr="http://www.jegsworks.com/lessons/computerbasics/lesson3/keyboard-white.png">
            <a:extLst>
              <a:ext uri="{FF2B5EF4-FFF2-40B4-BE49-F238E27FC236}">
                <a16:creationId xmlns:a16="http://schemas.microsoft.com/office/drawing/2014/main" id="{CA5F3EB8-A827-4D08-B3D4-BC88856617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0116" y="3256265"/>
            <a:ext cx="1365108" cy="4322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http://t2.gstatic.com/images?q=tbn:ANd9GcS51PGLkp34nPs-LewfkgAfjdZsyder21fNGFoRiZ_A6x7txo3e">
            <a:extLst>
              <a:ext uri="{FF2B5EF4-FFF2-40B4-BE49-F238E27FC236}">
                <a16:creationId xmlns:a16="http://schemas.microsoft.com/office/drawing/2014/main" id="{BB2AD59A-355A-4EC4-BD61-76D458710B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9382" y="3198200"/>
            <a:ext cx="841456" cy="6900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2" descr="Settings Icon, Gear Icon Vector, Gear Symbol Illustration. for Web Sites  Our Mobile. Stock Illustration - Illustration of business, wheel: 151065188">
            <a:extLst>
              <a:ext uri="{FF2B5EF4-FFF2-40B4-BE49-F238E27FC236}">
                <a16:creationId xmlns:a16="http://schemas.microsoft.com/office/drawing/2014/main" id="{AC519BCB-3AA9-4258-9707-83D241823F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3143" y="5159353"/>
            <a:ext cx="1007836" cy="10078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64529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395536" y="116632"/>
            <a:ext cx="8119814" cy="831626"/>
          </a:xfrm>
        </p:spPr>
        <p:txBody>
          <a:bodyPr>
            <a:normAutofit/>
          </a:bodyPr>
          <a:lstStyle/>
          <a:p>
            <a:r>
              <a:rPr lang="es-CO" sz="4000" dirty="0"/>
              <a:t>Tabla resumen</a:t>
            </a:r>
            <a:endParaRPr lang="en-US" sz="4000" dirty="0"/>
          </a:p>
        </p:txBody>
      </p:sp>
      <p:sp>
        <p:nvSpPr>
          <p:cNvPr id="9" name="Marcador de contenido 8">
            <a:extLst>
              <a:ext uri="{FF2B5EF4-FFF2-40B4-BE49-F238E27FC236}">
                <a16:creationId xmlns:a16="http://schemas.microsoft.com/office/drawing/2014/main" id="{1C890BBD-1444-4CB9-97D4-FDDC5F53D6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4816" y="980728"/>
            <a:ext cx="7993607" cy="6635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sz="2000" dirty="0"/>
              <a:t>La siguiente tabla muestra la representación equivalente de las piezas esenciales para construir código secuencial</a:t>
            </a:r>
            <a:endParaRPr lang="es-CO" sz="2000" dirty="0"/>
          </a:p>
        </p:txBody>
      </p:sp>
      <p:graphicFrame>
        <p:nvGraphicFramePr>
          <p:cNvPr id="2" name="Tabla 2">
            <a:extLst>
              <a:ext uri="{FF2B5EF4-FFF2-40B4-BE49-F238E27FC236}">
                <a16:creationId xmlns:a16="http://schemas.microsoft.com/office/drawing/2014/main" id="{1D2B5E36-52C4-42F4-8540-7CBD071455A5}"/>
              </a:ext>
            </a:extLst>
          </p:cNvPr>
          <p:cNvGraphicFramePr>
            <a:graphicFrameLocks noGrp="1"/>
          </p:cNvGraphicFramePr>
          <p:nvPr/>
        </p:nvGraphicFramePr>
        <p:xfrm>
          <a:off x="466826" y="1700808"/>
          <a:ext cx="7993606" cy="42113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17343">
                  <a:extLst>
                    <a:ext uri="{9D8B030D-6E8A-4147-A177-3AD203B41FA5}">
                      <a16:colId xmlns:a16="http://schemas.microsoft.com/office/drawing/2014/main" val="4002968547"/>
                    </a:ext>
                  </a:extLst>
                </a:gridCol>
                <a:gridCol w="2352911">
                  <a:extLst>
                    <a:ext uri="{9D8B030D-6E8A-4147-A177-3AD203B41FA5}">
                      <a16:colId xmlns:a16="http://schemas.microsoft.com/office/drawing/2014/main" val="2376140116"/>
                    </a:ext>
                  </a:extLst>
                </a:gridCol>
                <a:gridCol w="2061676">
                  <a:extLst>
                    <a:ext uri="{9D8B030D-6E8A-4147-A177-3AD203B41FA5}">
                      <a16:colId xmlns:a16="http://schemas.microsoft.com/office/drawing/2014/main" val="1317388859"/>
                    </a:ext>
                  </a:extLst>
                </a:gridCol>
                <a:gridCol w="2061676">
                  <a:extLst>
                    <a:ext uri="{9D8B030D-6E8A-4147-A177-3AD203B41FA5}">
                      <a16:colId xmlns:a16="http://schemas.microsoft.com/office/drawing/2014/main" val="16209865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b="1" dirty="0"/>
                        <a:t>Tipo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b="1" dirty="0"/>
                        <a:t>Diagrama de bloques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b="1" dirty="0"/>
                        <a:t>Pseudocordigo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b="1" dirty="0"/>
                        <a:t>Python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36620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dirty="0"/>
                        <a:t>Entrada</a:t>
                      </a:r>
                    </a:p>
                    <a:p>
                      <a:pPr algn="ctr"/>
                      <a:endParaRPr lang="es-CO" dirty="0"/>
                    </a:p>
                    <a:p>
                      <a:pPr algn="ctr"/>
                      <a:endParaRPr lang="es-CO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CO" dirty="0"/>
                    </a:p>
                    <a:p>
                      <a:endParaRPr lang="es-CO" dirty="0"/>
                    </a:p>
                    <a:p>
                      <a:endParaRPr lang="es-CO" dirty="0"/>
                    </a:p>
                    <a:p>
                      <a:endParaRPr lang="es-CO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>
                          <a:latin typeface="Consolas" panose="020B0609020204030204" pitchFamily="49" charset="0"/>
                        </a:rPr>
                        <a:t>Leer(v1,v2,…)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>
                          <a:latin typeface="Consolas" panose="020B0609020204030204" pitchFamily="49" charset="0"/>
                        </a:rPr>
                        <a:t>v1 = input(...)</a:t>
                      </a:r>
                    </a:p>
                    <a:p>
                      <a:pPr algn="ctr"/>
                      <a:r>
                        <a:rPr lang="es-CO" sz="1400" dirty="0">
                          <a:latin typeface="Consolas" panose="020B0609020204030204" pitchFamily="49" charset="0"/>
                        </a:rPr>
                        <a:t>v2 = input(...)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022741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dirty="0"/>
                        <a:t>Salida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CO" dirty="0"/>
                    </a:p>
                    <a:p>
                      <a:endParaRPr lang="es-CO" dirty="0"/>
                    </a:p>
                    <a:p>
                      <a:endParaRPr lang="es-CO" dirty="0"/>
                    </a:p>
                    <a:p>
                      <a:endParaRPr lang="es-CO" dirty="0"/>
                    </a:p>
                    <a:p>
                      <a:endParaRPr lang="es-CO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400" dirty="0">
                          <a:latin typeface="Consolas" panose="020B0609020204030204" pitchFamily="49" charset="0"/>
                        </a:rPr>
                        <a:t>Escribir(v1,v2,…)</a:t>
                      </a:r>
                    </a:p>
                    <a:p>
                      <a:pPr algn="ctr"/>
                      <a:endParaRPr lang="es-CO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>
                          <a:latin typeface="Consolas" panose="020B0609020204030204" pitchFamily="49" charset="0"/>
                        </a:rPr>
                        <a:t>print(v1,v2,…)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9618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dirty="0"/>
                        <a:t>Proceso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CO" dirty="0"/>
                    </a:p>
                    <a:p>
                      <a:endParaRPr lang="es-CO" dirty="0"/>
                    </a:p>
                    <a:p>
                      <a:endParaRPr lang="es-CO" dirty="0"/>
                    </a:p>
                    <a:p>
                      <a:endParaRPr lang="es-CO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CO" sz="140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400" dirty="0">
                          <a:latin typeface="Consolas" panose="020B0609020204030204" pitchFamily="49" charset="0"/>
                        </a:rPr>
                        <a:t>c = a + b</a:t>
                      </a:r>
                      <a:endParaRPr lang="es-CO" sz="1400" dirty="0"/>
                    </a:p>
                    <a:p>
                      <a:pPr algn="ctr"/>
                      <a:endParaRPr lang="es-CO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>
                          <a:latin typeface="Consolas" panose="020B0609020204030204" pitchFamily="49" charset="0"/>
                        </a:rPr>
                        <a:t>c = a + b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1907500"/>
                  </a:ext>
                </a:extLst>
              </a:tr>
            </a:tbl>
          </a:graphicData>
        </a:graphic>
      </p:graphicFrame>
      <p:sp>
        <p:nvSpPr>
          <p:cNvPr id="10" name="Flowchart: Data 6">
            <a:extLst>
              <a:ext uri="{FF2B5EF4-FFF2-40B4-BE49-F238E27FC236}">
                <a16:creationId xmlns:a16="http://schemas.microsoft.com/office/drawing/2014/main" id="{0844C778-9DE1-449B-B09C-237271C11B8A}"/>
              </a:ext>
            </a:extLst>
          </p:cNvPr>
          <p:cNvSpPr/>
          <p:nvPr/>
        </p:nvSpPr>
        <p:spPr>
          <a:xfrm>
            <a:off x="2051722" y="2285936"/>
            <a:ext cx="2231500" cy="715198"/>
          </a:xfrm>
          <a:prstGeom prst="flowChartInputOutpu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Consolas" panose="020B0609020204030204" pitchFamily="49" charset="0"/>
              </a:rPr>
              <a:t>Read v1,v2,…</a:t>
            </a:r>
          </a:p>
        </p:txBody>
      </p:sp>
      <p:sp>
        <p:nvSpPr>
          <p:cNvPr id="11" name="Flowchart: Data 6">
            <a:extLst>
              <a:ext uri="{FF2B5EF4-FFF2-40B4-BE49-F238E27FC236}">
                <a16:creationId xmlns:a16="http://schemas.microsoft.com/office/drawing/2014/main" id="{9C39F37A-2A39-47E1-86A7-FAE0C0329172}"/>
              </a:ext>
            </a:extLst>
          </p:cNvPr>
          <p:cNvSpPr/>
          <p:nvPr/>
        </p:nvSpPr>
        <p:spPr>
          <a:xfrm>
            <a:off x="2051722" y="3654088"/>
            <a:ext cx="2214917" cy="715198"/>
          </a:xfrm>
          <a:prstGeom prst="flowChartInputOutpu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Consolas" panose="020B0609020204030204" pitchFamily="49" charset="0"/>
              </a:rPr>
              <a:t>Print v1,v2,…</a:t>
            </a:r>
          </a:p>
        </p:txBody>
      </p:sp>
      <p:sp>
        <p:nvSpPr>
          <p:cNvPr id="12" name="Flowchart: Process 7">
            <a:extLst>
              <a:ext uri="{FF2B5EF4-FFF2-40B4-BE49-F238E27FC236}">
                <a16:creationId xmlns:a16="http://schemas.microsoft.com/office/drawing/2014/main" id="{6B08FC8C-52EF-4BF1-96B3-3C24D434D6C2}"/>
              </a:ext>
            </a:extLst>
          </p:cNvPr>
          <p:cNvSpPr/>
          <p:nvPr/>
        </p:nvSpPr>
        <p:spPr>
          <a:xfrm>
            <a:off x="2461374" y="5019720"/>
            <a:ext cx="1395611" cy="609600"/>
          </a:xfrm>
          <a:prstGeom prst="flowChartProcess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Consolas" panose="020B0609020204030204" pitchFamily="49" charset="0"/>
              </a:rPr>
              <a:t>c </a:t>
            </a:r>
            <a:r>
              <a:rPr lang="en-US" sz="1200" dirty="0">
                <a:latin typeface="Consolas" panose="020B0609020204030204" pitchFamily="49" charset="0"/>
                <a:sym typeface="Wingdings" panose="05000000000000000000" pitchFamily="2" charset="2"/>
              </a:rPr>
              <a:t> a + b</a:t>
            </a:r>
            <a:r>
              <a:rPr lang="en-US" sz="1200" dirty="0">
                <a:latin typeface="Consolas" panose="020B0609020204030204" pitchFamily="49" charset="0"/>
              </a:rPr>
              <a:t> </a:t>
            </a:r>
          </a:p>
        </p:txBody>
      </p:sp>
      <p:pic>
        <p:nvPicPr>
          <p:cNvPr id="8" name="Picture 2" descr="http://www.jegsworks.com/lessons/computerbasics/lesson3/keyboard-white.png">
            <a:extLst>
              <a:ext uri="{FF2B5EF4-FFF2-40B4-BE49-F238E27FC236}">
                <a16:creationId xmlns:a16="http://schemas.microsoft.com/office/drawing/2014/main" id="{D62F66DF-1E4D-4961-A500-E613E89785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5510" y="2565896"/>
            <a:ext cx="1108159" cy="350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2" descr="http://t2.gstatic.com/images?q=tbn:ANd9GcS51PGLkp34nPs-LewfkgAfjdZsyder21fNGFoRiZ_A6x7txo3e">
            <a:extLst>
              <a:ext uri="{FF2B5EF4-FFF2-40B4-BE49-F238E27FC236}">
                <a16:creationId xmlns:a16="http://schemas.microsoft.com/office/drawing/2014/main" id="{1D582CE4-942A-4E2B-8410-CB4053B31A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65" y="3741286"/>
            <a:ext cx="716248" cy="587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Settings Icon, Gear Icon Vector, Gear Symbol Illustration. for Web Sites  Our Mobile. Stock Illustration - Illustration of business, wheel: 151065188">
            <a:extLst>
              <a:ext uri="{FF2B5EF4-FFF2-40B4-BE49-F238E27FC236}">
                <a16:creationId xmlns:a16="http://schemas.microsoft.com/office/drawing/2014/main" id="{53F8DCC6-0D98-4EEC-91B9-C840D74892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65" y="5038329"/>
            <a:ext cx="728448" cy="728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Marcador de contenido 8">
            <a:extLst>
              <a:ext uri="{FF2B5EF4-FFF2-40B4-BE49-F238E27FC236}">
                <a16:creationId xmlns:a16="http://schemas.microsoft.com/office/drawing/2014/main" id="{A781356A-A35A-48D6-BC89-058C09E8F029}"/>
              </a:ext>
            </a:extLst>
          </p:cNvPr>
          <p:cNvSpPr txBox="1">
            <a:spLocks/>
          </p:cNvSpPr>
          <p:nvPr/>
        </p:nvSpPr>
        <p:spPr>
          <a:xfrm>
            <a:off x="394817" y="6072698"/>
            <a:ext cx="8281640" cy="596662"/>
          </a:xfrm>
          <a:prstGeom prst="rect">
            <a:avLst/>
          </a:prstGeom>
          <a:solidFill>
            <a:schemeClr val="bg2"/>
          </a:solidFill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MX" sz="1600" dirty="0"/>
              <a:t>En Python, </a:t>
            </a:r>
            <a:r>
              <a:rPr lang="es-MX" sz="1400" dirty="0">
                <a:solidFill>
                  <a:srgbClr val="C00000"/>
                </a:solidFill>
                <a:latin typeface="Consolas" panose="020B0609020204030204" pitchFamily="49" charset="0"/>
              </a:rPr>
              <a:t>input()</a:t>
            </a:r>
            <a:r>
              <a:rPr lang="es-MX" sz="1600" dirty="0"/>
              <a:t> siempre devuelve texto (</a:t>
            </a:r>
            <a:r>
              <a:rPr lang="es-MX" sz="1400" dirty="0">
                <a:solidFill>
                  <a:srgbClr val="C00000"/>
                </a:solidFill>
                <a:latin typeface="Consolas" panose="020B0609020204030204" pitchFamily="49" charset="0"/>
              </a:rPr>
              <a:t>str</a:t>
            </a:r>
            <a:r>
              <a:rPr lang="es-MX" sz="1600" dirty="0"/>
              <a:t>); si el valor se va a usar en una operación numérica, debe convertirse con </a:t>
            </a:r>
            <a:r>
              <a:rPr lang="es-MX" sz="1400" dirty="0" err="1">
                <a:solidFill>
                  <a:srgbClr val="C00000"/>
                </a:solidFill>
                <a:latin typeface="Consolas" panose="020B0609020204030204" pitchFamily="49" charset="0"/>
              </a:rPr>
              <a:t>int</a:t>
            </a:r>
            <a:r>
              <a:rPr lang="es-MX" sz="1400" dirty="0">
                <a:solidFill>
                  <a:srgbClr val="C00000"/>
                </a:solidFill>
                <a:latin typeface="Consolas" panose="020B0609020204030204" pitchFamily="49" charset="0"/>
              </a:rPr>
              <a:t>()</a:t>
            </a:r>
            <a:r>
              <a:rPr lang="es-MX" sz="1600" dirty="0"/>
              <a:t> o </a:t>
            </a:r>
            <a:r>
              <a:rPr lang="es-MX" sz="1400" dirty="0" err="1">
                <a:solidFill>
                  <a:srgbClr val="C00000"/>
                </a:solidFill>
                <a:latin typeface="Consolas" panose="020B0609020204030204" pitchFamily="49" charset="0"/>
              </a:rPr>
              <a:t>float</a:t>
            </a:r>
            <a:r>
              <a:rPr lang="es-MX" sz="1400" dirty="0">
                <a:solidFill>
                  <a:srgbClr val="C00000"/>
                </a:solidFill>
                <a:latin typeface="Consolas" panose="020B0609020204030204" pitchFamily="49" charset="0"/>
              </a:rPr>
              <a:t>()</a:t>
            </a:r>
            <a:r>
              <a:rPr lang="es-MX" sz="1600" dirty="0"/>
              <a:t> (por ejemplo: </a:t>
            </a:r>
            <a:r>
              <a:rPr lang="es-MX" sz="1400" dirty="0">
                <a:solidFill>
                  <a:srgbClr val="C00000"/>
                </a:solidFill>
                <a:latin typeface="Consolas" panose="020B0609020204030204" pitchFamily="49" charset="0"/>
              </a:rPr>
              <a:t>v1 = </a:t>
            </a:r>
            <a:r>
              <a:rPr lang="es-MX" sz="1400" dirty="0" err="1">
                <a:solidFill>
                  <a:srgbClr val="C00000"/>
                </a:solidFill>
                <a:latin typeface="Consolas" panose="020B0609020204030204" pitchFamily="49" charset="0"/>
              </a:rPr>
              <a:t>float</a:t>
            </a:r>
            <a:r>
              <a:rPr lang="es-MX" sz="1400" dirty="0">
                <a:solidFill>
                  <a:srgbClr val="C00000"/>
                </a:solidFill>
                <a:latin typeface="Consolas" panose="020B0609020204030204" pitchFamily="49" charset="0"/>
              </a:rPr>
              <a:t>(input(...))</a:t>
            </a:r>
            <a:r>
              <a:rPr lang="es-MX" sz="1600" dirty="0"/>
              <a:t>).</a:t>
            </a:r>
            <a:endParaRPr lang="es-CO" sz="1600" dirty="0"/>
          </a:p>
        </p:txBody>
      </p:sp>
    </p:spTree>
    <p:extLst>
      <p:ext uri="{BB962C8B-B14F-4D97-AF65-F5344CB8AC3E}">
        <p14:creationId xmlns:p14="http://schemas.microsoft.com/office/powerpoint/2010/main" val="14441316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395536" y="116632"/>
            <a:ext cx="8119814" cy="831626"/>
          </a:xfrm>
        </p:spPr>
        <p:txBody>
          <a:bodyPr>
            <a:normAutofit/>
          </a:bodyPr>
          <a:lstStyle/>
          <a:p>
            <a:r>
              <a:rPr lang="es-CO" sz="4000" dirty="0"/>
              <a:t>Tabla resumen</a:t>
            </a:r>
            <a:endParaRPr lang="en-US" sz="4000" dirty="0"/>
          </a:p>
        </p:txBody>
      </p:sp>
      <p:sp>
        <p:nvSpPr>
          <p:cNvPr id="9" name="Marcador de contenido 8">
            <a:extLst>
              <a:ext uri="{FF2B5EF4-FFF2-40B4-BE49-F238E27FC236}">
                <a16:creationId xmlns:a16="http://schemas.microsoft.com/office/drawing/2014/main" id="{1C890BBD-1444-4CB9-97D4-FDDC5F53D6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4817" y="908719"/>
            <a:ext cx="8569672" cy="6443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sz="2000" dirty="0"/>
              <a:t>La siguiente tabla, agrega la nueva el nuevo bloque que permite implementar toma de decisiones en los programas.</a:t>
            </a:r>
            <a:endParaRPr lang="es-CO" sz="2000" dirty="0"/>
          </a:p>
        </p:txBody>
      </p:sp>
      <p:graphicFrame>
        <p:nvGraphicFramePr>
          <p:cNvPr id="2" name="Tabla 2">
            <a:extLst>
              <a:ext uri="{FF2B5EF4-FFF2-40B4-BE49-F238E27FC236}">
                <a16:creationId xmlns:a16="http://schemas.microsoft.com/office/drawing/2014/main" id="{1D2B5E36-52C4-42F4-8540-7CBD071455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0735739"/>
              </p:ext>
            </p:extLst>
          </p:nvPr>
        </p:nvGraphicFramePr>
        <p:xfrm>
          <a:off x="394816" y="1653416"/>
          <a:ext cx="8065615" cy="15595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52305">
                  <a:extLst>
                    <a:ext uri="{9D8B030D-6E8A-4147-A177-3AD203B41FA5}">
                      <a16:colId xmlns:a16="http://schemas.microsoft.com/office/drawing/2014/main" val="2376140116"/>
                    </a:ext>
                  </a:extLst>
                </a:gridCol>
                <a:gridCol w="2615640">
                  <a:extLst>
                    <a:ext uri="{9D8B030D-6E8A-4147-A177-3AD203B41FA5}">
                      <a16:colId xmlns:a16="http://schemas.microsoft.com/office/drawing/2014/main" val="1317388859"/>
                    </a:ext>
                  </a:extLst>
                </a:gridCol>
                <a:gridCol w="2397670">
                  <a:extLst>
                    <a:ext uri="{9D8B030D-6E8A-4147-A177-3AD203B41FA5}">
                      <a16:colId xmlns:a16="http://schemas.microsoft.com/office/drawing/2014/main" val="16209865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b="1" dirty="0"/>
                        <a:t>Diagrama de bloques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b="1" dirty="0"/>
                        <a:t>Pseudocordigo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b="1" dirty="0"/>
                        <a:t>Python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36620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s-CO" dirty="0"/>
                    </a:p>
                    <a:p>
                      <a:endParaRPr lang="es-CO" dirty="0"/>
                    </a:p>
                    <a:p>
                      <a:endParaRPr lang="es-CO" dirty="0"/>
                    </a:p>
                    <a:p>
                      <a:endParaRPr lang="es-CO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indent="-57150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Si (</a:t>
                      </a:r>
                      <a:r>
                        <a:rPr lang="es-ES" sz="12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condicion</a:t>
                      </a:r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) Entonces</a:t>
                      </a:r>
                    </a:p>
                    <a:p>
                      <a:pPr indent="-57150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  instrucciones verdad</a:t>
                      </a:r>
                    </a:p>
                    <a:p>
                      <a:pPr indent="-57150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Sino</a:t>
                      </a:r>
                    </a:p>
                    <a:p>
                      <a:pPr indent="-57150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  instrucciones falsa</a:t>
                      </a:r>
                    </a:p>
                    <a:p>
                      <a:pPr indent="-57150"/>
                      <a:r>
                        <a:rPr lang="es-ES" sz="12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Fin_Si</a:t>
                      </a:r>
                      <a:endParaRPr lang="es-CO" sz="120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indent="-57150"/>
                      <a:r>
                        <a:rPr lang="es-ES" sz="12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es-ES" sz="12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condicion</a:t>
                      </a:r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):</a:t>
                      </a:r>
                    </a:p>
                    <a:p>
                      <a:pPr indent="-57150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  instrucciones verdad</a:t>
                      </a:r>
                    </a:p>
                    <a:p>
                      <a:pPr indent="-57150"/>
                      <a:r>
                        <a:rPr lang="es-ES" sz="12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else</a:t>
                      </a:r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:</a:t>
                      </a:r>
                    </a:p>
                    <a:p>
                      <a:pPr indent="-57150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  instrucciones 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02274137"/>
                  </a:ext>
                </a:extLst>
              </a:tr>
            </a:tbl>
          </a:graphicData>
        </a:graphic>
      </p:graphicFrame>
      <p:grpSp>
        <p:nvGrpSpPr>
          <p:cNvPr id="16" name="Grupo 15">
            <a:extLst>
              <a:ext uri="{FF2B5EF4-FFF2-40B4-BE49-F238E27FC236}">
                <a16:creationId xmlns:a16="http://schemas.microsoft.com/office/drawing/2014/main" id="{3D9378DB-47BD-4E38-B9E2-60CC14868C14}"/>
              </a:ext>
            </a:extLst>
          </p:cNvPr>
          <p:cNvGrpSpPr/>
          <p:nvPr/>
        </p:nvGrpSpPr>
        <p:grpSpPr>
          <a:xfrm>
            <a:off x="467544" y="2111326"/>
            <a:ext cx="2876849" cy="957634"/>
            <a:chOff x="802903" y="2612529"/>
            <a:chExt cx="2876849" cy="957634"/>
          </a:xfrm>
        </p:grpSpPr>
        <p:sp>
          <p:nvSpPr>
            <p:cNvPr id="17" name="TextBox 75">
              <a:extLst>
                <a:ext uri="{FF2B5EF4-FFF2-40B4-BE49-F238E27FC236}">
                  <a16:creationId xmlns:a16="http://schemas.microsoft.com/office/drawing/2014/main" id="{3E386359-4887-48E6-A90C-AB0498055EA7}"/>
                </a:ext>
              </a:extLst>
            </p:cNvPr>
            <p:cNvSpPr txBox="1"/>
            <p:nvPr/>
          </p:nvSpPr>
          <p:spPr>
            <a:xfrm>
              <a:off x="3237955" y="2924944"/>
              <a:ext cx="42750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latin typeface="Consolas" panose="020B0609020204030204" pitchFamily="49" charset="0"/>
                </a:rPr>
                <a:t>yes</a:t>
              </a:r>
            </a:p>
          </p:txBody>
        </p:sp>
        <p:sp>
          <p:nvSpPr>
            <p:cNvPr id="18" name="TextBox 76">
              <a:extLst>
                <a:ext uri="{FF2B5EF4-FFF2-40B4-BE49-F238E27FC236}">
                  <a16:creationId xmlns:a16="http://schemas.microsoft.com/office/drawing/2014/main" id="{6CB5130F-2760-4686-95D3-9F6E662E0BDD}"/>
                </a:ext>
              </a:extLst>
            </p:cNvPr>
            <p:cNvSpPr txBox="1"/>
            <p:nvPr/>
          </p:nvSpPr>
          <p:spPr>
            <a:xfrm>
              <a:off x="918640" y="2924944"/>
              <a:ext cx="374527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latin typeface="Consolas" panose="020B0609020204030204" pitchFamily="49" charset="0"/>
                </a:rPr>
                <a:t>no</a:t>
              </a:r>
            </a:p>
          </p:txBody>
        </p:sp>
        <p:sp>
          <p:nvSpPr>
            <p:cNvPr id="19" name="Flowchart: Decision 5">
              <a:extLst>
                <a:ext uri="{FF2B5EF4-FFF2-40B4-BE49-F238E27FC236}">
                  <a16:creationId xmlns:a16="http://schemas.microsoft.com/office/drawing/2014/main" id="{8130C2A4-8430-4415-AAF6-7D501E4C8CDD}"/>
                </a:ext>
              </a:extLst>
            </p:cNvPr>
            <p:cNvSpPr/>
            <p:nvPr/>
          </p:nvSpPr>
          <p:spPr>
            <a:xfrm>
              <a:off x="1315133" y="2977639"/>
              <a:ext cx="1852352" cy="457200"/>
            </a:xfrm>
            <a:prstGeom prst="flowChartDecision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atin typeface="Consolas" panose="020B0609020204030204" pitchFamily="49" charset="0"/>
                </a:rPr>
                <a:t>Decision</a:t>
              </a:r>
            </a:p>
          </p:txBody>
        </p:sp>
        <p:grpSp>
          <p:nvGrpSpPr>
            <p:cNvPr id="20" name="40 Grupo">
              <a:extLst>
                <a:ext uri="{FF2B5EF4-FFF2-40B4-BE49-F238E27FC236}">
                  <a16:creationId xmlns:a16="http://schemas.microsoft.com/office/drawing/2014/main" id="{0AE61B74-EF32-4C9E-89B5-46136054B4E0}"/>
                </a:ext>
              </a:extLst>
            </p:cNvPr>
            <p:cNvGrpSpPr/>
            <p:nvPr/>
          </p:nvGrpSpPr>
          <p:grpSpPr>
            <a:xfrm>
              <a:off x="802903" y="3202855"/>
              <a:ext cx="528637" cy="367308"/>
              <a:chOff x="4631531" y="4280892"/>
              <a:chExt cx="528637" cy="367308"/>
            </a:xfrm>
          </p:grpSpPr>
          <p:cxnSp>
            <p:nvCxnSpPr>
              <p:cNvPr id="25" name="Straight Arrow Connector 18">
                <a:extLst>
                  <a:ext uri="{FF2B5EF4-FFF2-40B4-BE49-F238E27FC236}">
                    <a16:creationId xmlns:a16="http://schemas.microsoft.com/office/drawing/2014/main" id="{1595D196-89B8-4FA2-AA80-D2026FBBACD8}"/>
                  </a:ext>
                </a:extLst>
              </p:cNvPr>
              <p:cNvCxnSpPr/>
              <p:nvPr/>
            </p:nvCxnSpPr>
            <p:spPr>
              <a:xfrm>
                <a:off x="4633913" y="4281488"/>
                <a:ext cx="4763" cy="366712"/>
              </a:xfrm>
              <a:prstGeom prst="straightConnector1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Arrow Connector 18">
                <a:extLst>
                  <a:ext uri="{FF2B5EF4-FFF2-40B4-BE49-F238E27FC236}">
                    <a16:creationId xmlns:a16="http://schemas.microsoft.com/office/drawing/2014/main" id="{AE31C54A-1503-407A-A3C8-0DF172701F4F}"/>
                  </a:ext>
                </a:extLst>
              </p:cNvPr>
              <p:cNvCxnSpPr/>
              <p:nvPr/>
            </p:nvCxnSpPr>
            <p:spPr>
              <a:xfrm flipH="1">
                <a:off x="4631531" y="4280892"/>
                <a:ext cx="528637" cy="0"/>
              </a:xfrm>
              <a:prstGeom prst="straightConnector1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65 Grupo">
              <a:extLst>
                <a:ext uri="{FF2B5EF4-FFF2-40B4-BE49-F238E27FC236}">
                  <a16:creationId xmlns:a16="http://schemas.microsoft.com/office/drawing/2014/main" id="{C6B718B9-220F-439A-AC3D-01EC85F6E93B}"/>
                </a:ext>
              </a:extLst>
            </p:cNvPr>
            <p:cNvGrpSpPr/>
            <p:nvPr/>
          </p:nvGrpSpPr>
          <p:grpSpPr>
            <a:xfrm flipH="1">
              <a:off x="3146352" y="3203451"/>
              <a:ext cx="533400" cy="366712"/>
              <a:chOff x="4959846" y="4281488"/>
              <a:chExt cx="533400" cy="366712"/>
            </a:xfrm>
          </p:grpSpPr>
          <p:cxnSp>
            <p:nvCxnSpPr>
              <p:cNvPr id="23" name="Straight Arrow Connector 18">
                <a:extLst>
                  <a:ext uri="{FF2B5EF4-FFF2-40B4-BE49-F238E27FC236}">
                    <a16:creationId xmlns:a16="http://schemas.microsoft.com/office/drawing/2014/main" id="{484928C3-EB88-44C2-8AA5-9E1A9218AF85}"/>
                  </a:ext>
                </a:extLst>
              </p:cNvPr>
              <p:cNvCxnSpPr/>
              <p:nvPr/>
            </p:nvCxnSpPr>
            <p:spPr>
              <a:xfrm>
                <a:off x="4959846" y="4281488"/>
                <a:ext cx="4763" cy="366712"/>
              </a:xfrm>
              <a:prstGeom prst="straightConnector1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18">
                <a:extLst>
                  <a:ext uri="{FF2B5EF4-FFF2-40B4-BE49-F238E27FC236}">
                    <a16:creationId xmlns:a16="http://schemas.microsoft.com/office/drawing/2014/main" id="{1C4ED988-ED91-4723-9518-4FD7B1995577}"/>
                  </a:ext>
                </a:extLst>
              </p:cNvPr>
              <p:cNvCxnSpPr/>
              <p:nvPr/>
            </p:nvCxnSpPr>
            <p:spPr>
              <a:xfrm flipH="1">
                <a:off x="4964609" y="4281488"/>
                <a:ext cx="528637" cy="0"/>
              </a:xfrm>
              <a:prstGeom prst="straightConnector1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2" name="Straight Arrow Connector 18">
              <a:extLst>
                <a:ext uri="{FF2B5EF4-FFF2-40B4-BE49-F238E27FC236}">
                  <a16:creationId xmlns:a16="http://schemas.microsoft.com/office/drawing/2014/main" id="{E38D67C6-99FA-4E32-B5E5-CC717213D7C0}"/>
                </a:ext>
              </a:extLst>
            </p:cNvPr>
            <p:cNvCxnSpPr/>
            <p:nvPr/>
          </p:nvCxnSpPr>
          <p:spPr>
            <a:xfrm flipH="1">
              <a:off x="2241773" y="2612529"/>
              <a:ext cx="4763" cy="366712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7" name="Imagen 26">
            <a:extLst>
              <a:ext uri="{FF2B5EF4-FFF2-40B4-BE49-F238E27FC236}">
                <a16:creationId xmlns:a16="http://schemas.microsoft.com/office/drawing/2014/main" id="{3C0BA5DF-4993-4B02-A595-095E15B1A2C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7316" y="4281506"/>
            <a:ext cx="1562788" cy="1448637"/>
          </a:xfrm>
          <a:prstGeom prst="rect">
            <a:avLst/>
          </a:prstGeom>
        </p:spPr>
      </p:pic>
      <p:pic>
        <p:nvPicPr>
          <p:cNvPr id="1026" name="Picture 2" descr="If-Then workflow">
            <a:extLst>
              <a:ext uri="{FF2B5EF4-FFF2-40B4-BE49-F238E27FC236}">
                <a16:creationId xmlns:a16="http://schemas.microsoft.com/office/drawing/2014/main" id="{2C25287B-29BF-47A8-8786-9EAF620BA9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9952" y="3406282"/>
            <a:ext cx="3286795" cy="28348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F74D470D-37F8-4F20-A4E4-829A08FE1FD5}"/>
              </a:ext>
            </a:extLst>
          </p:cNvPr>
          <p:cNvSpPr txBox="1"/>
          <p:nvPr/>
        </p:nvSpPr>
        <p:spPr>
          <a:xfrm>
            <a:off x="4211960" y="6309320"/>
            <a:ext cx="29272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1600" dirty="0"/>
              <a:t>Imagen tomada de </a:t>
            </a:r>
            <a:r>
              <a:rPr lang="es-CO" sz="1600" b="1" dirty="0"/>
              <a:t>CS Intro</a:t>
            </a:r>
            <a:r>
              <a:rPr lang="es-CO" sz="1600" dirty="0"/>
              <a:t> (</a:t>
            </a:r>
            <a:r>
              <a:rPr lang="es-CO" sz="1600" dirty="0">
                <a:hlinkClick r:id="rId4"/>
              </a:rPr>
              <a:t>link</a:t>
            </a:r>
            <a:r>
              <a:rPr lang="es-CO" sz="16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4839628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81484" y="252929"/>
            <a:ext cx="8576766" cy="1267245"/>
          </a:xfrm>
        </p:spPr>
        <p:txBody>
          <a:bodyPr>
            <a:normAutofit/>
          </a:bodyPr>
          <a:lstStyle/>
          <a:p>
            <a:r>
              <a:rPr lang="es-CO" sz="3600" dirty="0"/>
              <a:t>Casos en los problemas de decisión lógica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1CE28-A3C7-48DC-84A2-8FB08D6123C5}" type="slidenum">
              <a:rPr lang="en-US" smtClean="0"/>
              <a:pPr/>
              <a:t>6</a:t>
            </a:fld>
            <a:endParaRPr lang="en-US" dirty="0"/>
          </a:p>
        </p:txBody>
      </p:sp>
      <p:graphicFrame>
        <p:nvGraphicFramePr>
          <p:cNvPr id="7" name="6 Diagrama"/>
          <p:cNvGraphicFramePr/>
          <p:nvPr>
            <p:extLst>
              <p:ext uri="{D42A27DB-BD31-4B8C-83A1-F6EECF244321}">
                <p14:modId xmlns:p14="http://schemas.microsoft.com/office/powerpoint/2010/main" val="3190068776"/>
              </p:ext>
            </p:extLst>
          </p:nvPr>
        </p:nvGraphicFramePr>
        <p:xfrm>
          <a:off x="273844" y="2235552"/>
          <a:ext cx="60960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1" name="Picture 7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5125" y="3632994"/>
            <a:ext cx="2143125" cy="1163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289" name="Picture 1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8781" y="1949619"/>
            <a:ext cx="2003811" cy="13629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290" name="Picture 2"/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5125" y="4839802"/>
            <a:ext cx="2321183" cy="17652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A56CB6FA-B43E-40A5-ADB1-20CD5CDF8D2A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846" y="2066027"/>
            <a:ext cx="1470374" cy="1362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32702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189427" y="292891"/>
            <a:ext cx="8229600" cy="688648"/>
          </a:xfrm>
        </p:spPr>
        <p:txBody>
          <a:bodyPr>
            <a:normAutofit fontScale="90000"/>
          </a:bodyPr>
          <a:lstStyle/>
          <a:p>
            <a:r>
              <a:rPr lang="es-CO" dirty="0"/>
              <a:t>Alternativa simple</a:t>
            </a:r>
          </a:p>
        </p:txBody>
      </p:sp>
      <p:sp>
        <p:nvSpPr>
          <p:cNvPr id="13" name="12 Rectángulo"/>
          <p:cNvSpPr/>
          <p:nvPr/>
        </p:nvSpPr>
        <p:spPr>
          <a:xfrm>
            <a:off x="189427" y="977073"/>
            <a:ext cx="8517068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CO" altLang="es-CO" sz="2200" dirty="0"/>
              <a:t>En los problemas de este tipo la condición </a:t>
            </a:r>
            <a:r>
              <a:rPr lang="es-CO" altLang="es-CO" sz="2200" b="1" dirty="0">
                <a:solidFill>
                  <a:srgbClr val="C00000"/>
                </a:solidFill>
              </a:rPr>
              <a:t>falsa</a:t>
            </a:r>
            <a:r>
              <a:rPr lang="es-CO" altLang="es-CO" sz="2200" dirty="0"/>
              <a:t> no posee instrucciones.</a:t>
            </a:r>
            <a:endParaRPr lang="es-CO" sz="2200" dirty="0"/>
          </a:p>
        </p:txBody>
      </p:sp>
      <p:pic>
        <p:nvPicPr>
          <p:cNvPr id="11265" name="Picture 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47" y="2243380"/>
            <a:ext cx="4814125" cy="32745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" name="Picture 8" descr="http://t0.gstatic.com/images?q=tbn:ANd9GcQBQUfA-17F7VG9bKeqzV6MF0-Z-9iE_3GOSyV1UJYC9LTt32BL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576" y="5014271"/>
            <a:ext cx="862480" cy="11014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AC32FD90-4058-401D-982D-5EBFA6936A2A}"/>
              </a:ext>
            </a:extLst>
          </p:cNvPr>
          <p:cNvSpPr txBox="1"/>
          <p:nvPr/>
        </p:nvSpPr>
        <p:spPr>
          <a:xfrm>
            <a:off x="4861248" y="2341048"/>
            <a:ext cx="4102701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indent="-57150"/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Si (</a:t>
            </a:r>
            <a:r>
              <a:rPr lang="es-ES" sz="1400" dirty="0">
                <a:solidFill>
                  <a:schemeClr val="accent6"/>
                </a:solidFill>
                <a:latin typeface="Consolas" panose="020B0609020204030204" pitchFamily="49" charset="0"/>
              </a:rPr>
              <a:t>condicion</a:t>
            </a:r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) Entonces</a:t>
            </a:r>
          </a:p>
          <a:p>
            <a:pPr indent="-57150"/>
            <a:r>
              <a:rPr lang="es-ES" sz="1400" dirty="0">
                <a:latin typeface="Consolas" panose="020B0609020204030204" pitchFamily="49" charset="0"/>
              </a:rPr>
              <a:t>  instrucciones condicion verdadera</a:t>
            </a:r>
          </a:p>
          <a:p>
            <a:pPr indent="-57150"/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Fin_Si</a:t>
            </a:r>
            <a:endParaRPr lang="es-CO" sz="1400" dirty="0">
              <a:solidFill>
                <a:schemeClr val="accent4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CA87FB65-D4A5-4A74-BDD3-51E4F16B1B28}"/>
              </a:ext>
            </a:extLst>
          </p:cNvPr>
          <p:cNvSpPr txBox="1"/>
          <p:nvPr/>
        </p:nvSpPr>
        <p:spPr>
          <a:xfrm>
            <a:off x="5626858" y="1843270"/>
            <a:ext cx="24241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2000" b="1" dirty="0"/>
              <a:t>Pseudocódigo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F10E4D25-B8E6-4A9C-9AB4-C0347C3716F8}"/>
              </a:ext>
            </a:extLst>
          </p:cNvPr>
          <p:cNvSpPr txBox="1"/>
          <p:nvPr/>
        </p:nvSpPr>
        <p:spPr>
          <a:xfrm>
            <a:off x="5661758" y="3717032"/>
            <a:ext cx="24241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2000" b="1" dirty="0"/>
              <a:t>Python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73E636D-5469-4C08-BBB0-8DB2503F2CAF}"/>
              </a:ext>
            </a:extLst>
          </p:cNvPr>
          <p:cNvSpPr txBox="1"/>
          <p:nvPr/>
        </p:nvSpPr>
        <p:spPr>
          <a:xfrm>
            <a:off x="4907682" y="4207545"/>
            <a:ext cx="410270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indent="-57150"/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if (</a:t>
            </a:r>
            <a:r>
              <a:rPr lang="es-ES" sz="1400" dirty="0">
                <a:solidFill>
                  <a:schemeClr val="accent6"/>
                </a:solidFill>
                <a:latin typeface="Consolas" panose="020B0609020204030204" pitchFamily="49" charset="0"/>
              </a:rPr>
              <a:t>condicion</a:t>
            </a:r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):</a:t>
            </a:r>
          </a:p>
          <a:p>
            <a:pPr indent="-57150"/>
            <a:r>
              <a:rPr lang="es-ES" sz="1400" dirty="0">
                <a:latin typeface="Consolas" panose="020B0609020204030204" pitchFamily="49" charset="0"/>
              </a:rPr>
              <a:t>  instrucciones condicion verdadera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0FFE230E-C2E4-45A1-8069-85EE5BA8E8BE}"/>
              </a:ext>
            </a:extLst>
          </p:cNvPr>
          <p:cNvSpPr txBox="1"/>
          <p:nvPr/>
        </p:nvSpPr>
        <p:spPr>
          <a:xfrm>
            <a:off x="1609462" y="1892087"/>
            <a:ext cx="24241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2000" b="1" dirty="0"/>
              <a:t>Diagrama de flujo</a:t>
            </a:r>
          </a:p>
        </p:txBody>
      </p:sp>
    </p:spTree>
    <p:extLst>
      <p:ext uri="{BB962C8B-B14F-4D97-AF65-F5344CB8AC3E}">
        <p14:creationId xmlns:p14="http://schemas.microsoft.com/office/powerpoint/2010/main" val="9463655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63061" y="223755"/>
            <a:ext cx="8045354" cy="628407"/>
          </a:xfrm>
        </p:spPr>
        <p:txBody>
          <a:bodyPr>
            <a:normAutofit fontScale="90000"/>
          </a:bodyPr>
          <a:lstStyle/>
          <a:p>
            <a:r>
              <a:rPr lang="es-CO" dirty="0"/>
              <a:t>Alternativa doble</a:t>
            </a:r>
          </a:p>
        </p:txBody>
      </p:sp>
      <p:sp>
        <p:nvSpPr>
          <p:cNvPr id="13" name="12 Rectángulo"/>
          <p:cNvSpPr/>
          <p:nvPr/>
        </p:nvSpPr>
        <p:spPr>
          <a:xfrm>
            <a:off x="179513" y="921879"/>
            <a:ext cx="87968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CO" altLang="es-CO" sz="2000" dirty="0"/>
              <a:t>En los problemas de este tipo, ambos casos (</a:t>
            </a:r>
            <a:r>
              <a:rPr lang="es-CO" altLang="es-CO" sz="2000" b="1" dirty="0">
                <a:solidFill>
                  <a:srgbClr val="C00000"/>
                </a:solidFill>
              </a:rPr>
              <a:t>Falso</a:t>
            </a:r>
            <a:r>
              <a:rPr lang="es-CO" altLang="es-CO" sz="2000" dirty="0"/>
              <a:t> y </a:t>
            </a:r>
            <a:r>
              <a:rPr lang="es-CO" altLang="es-CO" sz="2000" b="1" dirty="0">
                <a:solidFill>
                  <a:schemeClr val="accent2">
                    <a:lumMod val="75000"/>
                  </a:schemeClr>
                </a:solidFill>
              </a:rPr>
              <a:t>Verdadero</a:t>
            </a:r>
            <a:r>
              <a:rPr lang="es-CO" altLang="es-CO" sz="2000" dirty="0"/>
              <a:t>) poseen instrucciones asociadas.</a:t>
            </a:r>
            <a:endParaRPr lang="es-CO" sz="2000" dirty="0"/>
          </a:p>
        </p:txBody>
      </p:sp>
      <p:pic>
        <p:nvPicPr>
          <p:cNvPr id="10245" name="Picture 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695" y="1988840"/>
            <a:ext cx="4743505" cy="29349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ADCD1815-B299-412B-B0C7-515E157D83D8}"/>
              </a:ext>
            </a:extLst>
          </p:cNvPr>
          <p:cNvSpPr txBox="1"/>
          <p:nvPr/>
        </p:nvSpPr>
        <p:spPr>
          <a:xfrm>
            <a:off x="5220072" y="2268160"/>
            <a:ext cx="3742661" cy="11695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indent="-57150"/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Si (</a:t>
            </a:r>
            <a:r>
              <a:rPr lang="es-ES" sz="1400" dirty="0">
                <a:solidFill>
                  <a:schemeClr val="accent6"/>
                </a:solidFill>
                <a:latin typeface="Consolas" panose="020B0609020204030204" pitchFamily="49" charset="0"/>
              </a:rPr>
              <a:t>condicion</a:t>
            </a:r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) Entonces</a:t>
            </a:r>
          </a:p>
          <a:p>
            <a:pPr indent="-57150"/>
            <a:r>
              <a:rPr lang="es-ES" sz="1400" dirty="0">
                <a:latin typeface="Consolas" panose="020B0609020204030204" pitchFamily="49" charset="0"/>
              </a:rPr>
              <a:t>  instrucciones condicion verdadera</a:t>
            </a:r>
          </a:p>
          <a:p>
            <a:pPr indent="-57150"/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Sino</a:t>
            </a:r>
          </a:p>
          <a:p>
            <a:pPr indent="-57150"/>
            <a:r>
              <a:rPr lang="es-ES" sz="1400" dirty="0">
                <a:solidFill>
                  <a:schemeClr val="accent5"/>
                </a:solidFill>
                <a:latin typeface="Consolas" panose="020B0609020204030204" pitchFamily="49" charset="0"/>
              </a:rPr>
              <a:t>  </a:t>
            </a:r>
            <a:r>
              <a:rPr lang="es-ES" sz="1400" dirty="0">
                <a:latin typeface="Consolas" panose="020B0609020204030204" pitchFamily="49" charset="0"/>
              </a:rPr>
              <a:t>instrucciones condición falsa</a:t>
            </a:r>
          </a:p>
          <a:p>
            <a:pPr indent="-57150"/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Fin_Si</a:t>
            </a:r>
            <a:endParaRPr lang="es-CO" sz="1400" dirty="0">
              <a:solidFill>
                <a:schemeClr val="accent4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1EA861C-CD1C-4583-91F4-3A788EADC024}"/>
              </a:ext>
            </a:extLst>
          </p:cNvPr>
          <p:cNvSpPr txBox="1"/>
          <p:nvPr/>
        </p:nvSpPr>
        <p:spPr>
          <a:xfrm>
            <a:off x="5233717" y="4036875"/>
            <a:ext cx="3742661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indent="-57150"/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if (</a:t>
            </a:r>
            <a:r>
              <a:rPr lang="es-ES" sz="1400" dirty="0">
                <a:solidFill>
                  <a:schemeClr val="accent6"/>
                </a:solidFill>
                <a:latin typeface="Consolas" panose="020B0609020204030204" pitchFamily="49" charset="0"/>
              </a:rPr>
              <a:t>condicion</a:t>
            </a:r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):</a:t>
            </a:r>
          </a:p>
          <a:p>
            <a:pPr indent="-57150"/>
            <a:r>
              <a:rPr lang="es-ES" sz="1400" dirty="0">
                <a:latin typeface="Consolas" panose="020B0609020204030204" pitchFamily="49" charset="0"/>
              </a:rPr>
              <a:t>  instrucciones condicion verdadera</a:t>
            </a:r>
          </a:p>
          <a:p>
            <a:pPr indent="-57150"/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else:</a:t>
            </a:r>
          </a:p>
          <a:p>
            <a:pPr indent="-57150"/>
            <a:r>
              <a:rPr lang="es-ES" sz="1400" dirty="0">
                <a:solidFill>
                  <a:schemeClr val="accent5"/>
                </a:solidFill>
                <a:latin typeface="Consolas" panose="020B0609020204030204" pitchFamily="49" charset="0"/>
              </a:rPr>
              <a:t>  </a:t>
            </a:r>
            <a:r>
              <a:rPr lang="es-ES" sz="1400" dirty="0">
                <a:latin typeface="Consolas" panose="020B0609020204030204" pitchFamily="49" charset="0"/>
              </a:rPr>
              <a:t>instrucciones condición falsa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2CAD278B-B3C9-4233-A314-4192331BDF8A}"/>
              </a:ext>
            </a:extLst>
          </p:cNvPr>
          <p:cNvSpPr txBox="1"/>
          <p:nvPr/>
        </p:nvSpPr>
        <p:spPr>
          <a:xfrm>
            <a:off x="5625642" y="1770382"/>
            <a:ext cx="24241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2000" b="1" dirty="0"/>
              <a:t>Pseudocódigo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84C8790F-1E43-4459-99ED-5878BD3C40D4}"/>
              </a:ext>
            </a:extLst>
          </p:cNvPr>
          <p:cNvSpPr txBox="1"/>
          <p:nvPr/>
        </p:nvSpPr>
        <p:spPr>
          <a:xfrm>
            <a:off x="5660542" y="3612642"/>
            <a:ext cx="24241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2000" b="1" dirty="0"/>
              <a:t>Python</a:t>
            </a:r>
          </a:p>
        </p:txBody>
      </p:sp>
      <p:pic>
        <p:nvPicPr>
          <p:cNvPr id="11" name="Picture 4" descr="http://fc08.deviantart.net/fs46/f/2009/234/c/4/c49c0ed56535d564df12843469ecf56f.jpg">
            <a:extLst>
              <a:ext uri="{FF2B5EF4-FFF2-40B4-BE49-F238E27FC236}">
                <a16:creationId xmlns:a16="http://schemas.microsoft.com/office/drawing/2014/main" id="{F2646DE8-05CC-4E3C-AEA0-15FB072265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7427" y="4437112"/>
            <a:ext cx="460643" cy="10928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http://images4.wikia.nocookie.net/__cb20111104190436/looneytunes/es/images/4/49/Gallo_Claudio.jpg">
            <a:extLst>
              <a:ext uri="{FF2B5EF4-FFF2-40B4-BE49-F238E27FC236}">
                <a16:creationId xmlns:a16="http://schemas.microsoft.com/office/drawing/2014/main" id="{B395B6A8-46AD-457F-BA38-D27F104C10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6776" y="4437112"/>
            <a:ext cx="1081248" cy="1066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776331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63061" y="223755"/>
            <a:ext cx="8045354" cy="628407"/>
          </a:xfrm>
        </p:spPr>
        <p:txBody>
          <a:bodyPr>
            <a:normAutofit fontScale="90000"/>
          </a:bodyPr>
          <a:lstStyle/>
          <a:p>
            <a:r>
              <a:rPr lang="es-CO" dirty="0"/>
              <a:t>Alternativa múltiple – Mismo criterio</a:t>
            </a: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C2661223-A77C-4546-A1DB-3499A28DCF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061" y="2051550"/>
            <a:ext cx="4808820" cy="3384263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7EF0C72B-D8A1-4E3E-9FCD-98E4B022325B}"/>
              </a:ext>
            </a:extLst>
          </p:cNvPr>
          <p:cNvSpPr txBox="1"/>
          <p:nvPr/>
        </p:nvSpPr>
        <p:spPr>
          <a:xfrm>
            <a:off x="5220072" y="1691511"/>
            <a:ext cx="3699295" cy="418576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indent="-57150"/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Si (</a:t>
            </a:r>
            <a:r>
              <a:rPr lang="es-ES" sz="1400" dirty="0">
                <a:solidFill>
                  <a:schemeClr val="accent6"/>
                </a:solidFill>
                <a:latin typeface="Consolas" panose="020B0609020204030204" pitchFamily="49" charset="0"/>
              </a:rPr>
              <a:t>condicion_1</a:t>
            </a:r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) Entonces</a:t>
            </a:r>
          </a:p>
          <a:p>
            <a:pPr indent="-57150"/>
            <a:r>
              <a:rPr lang="es-ES" sz="1400" dirty="0">
                <a:latin typeface="Consolas" panose="020B0609020204030204" pitchFamily="49" charset="0"/>
              </a:rPr>
              <a:t>  condicion_1 verdad</a:t>
            </a:r>
          </a:p>
          <a:p>
            <a:pPr indent="-57150"/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Sino</a:t>
            </a:r>
          </a:p>
          <a:p>
            <a:pPr indent="-57150"/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  Si (</a:t>
            </a:r>
            <a:r>
              <a:rPr lang="es-ES" sz="1400" dirty="0">
                <a:solidFill>
                  <a:schemeClr val="accent6"/>
                </a:solidFill>
                <a:latin typeface="Consolas" panose="020B0609020204030204" pitchFamily="49" charset="0"/>
              </a:rPr>
              <a:t>condicion_2</a:t>
            </a:r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) Entonces</a:t>
            </a:r>
          </a:p>
          <a:p>
            <a:pPr indent="-57150"/>
            <a:r>
              <a:rPr lang="es-ES" sz="1400" dirty="0">
                <a:latin typeface="Consolas" panose="020B0609020204030204" pitchFamily="49" charset="0"/>
              </a:rPr>
              <a:t>    condicion_2 verdad</a:t>
            </a:r>
          </a:p>
          <a:p>
            <a:pPr indent="-57150"/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  Sino</a:t>
            </a:r>
          </a:p>
          <a:p>
            <a:pPr indent="-57150"/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    Si (</a:t>
            </a:r>
            <a:r>
              <a:rPr lang="es-ES" sz="1400" dirty="0">
                <a:solidFill>
                  <a:schemeClr val="accent6"/>
                </a:solidFill>
                <a:latin typeface="Consolas" panose="020B0609020204030204" pitchFamily="49" charset="0"/>
              </a:rPr>
              <a:t>condicion_3</a:t>
            </a:r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) Entonces</a:t>
            </a:r>
          </a:p>
          <a:p>
            <a:pPr indent="-57150"/>
            <a:r>
              <a:rPr lang="es-ES" sz="1400" dirty="0">
                <a:latin typeface="Consolas" panose="020B0609020204030204" pitchFamily="49" charset="0"/>
              </a:rPr>
              <a:t>      condicion_3 verdad</a:t>
            </a:r>
          </a:p>
          <a:p>
            <a:pPr indent="-57150"/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    Sino</a:t>
            </a:r>
          </a:p>
          <a:p>
            <a:pPr indent="-57150"/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      ...</a:t>
            </a:r>
          </a:p>
          <a:p>
            <a:pPr indent="-57150"/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      Si (</a:t>
            </a:r>
            <a:r>
              <a:rPr lang="es-ES" sz="1400" dirty="0">
                <a:solidFill>
                  <a:schemeClr val="accent6"/>
                </a:solidFill>
                <a:latin typeface="Consolas" panose="020B0609020204030204" pitchFamily="49" charset="0"/>
              </a:rPr>
              <a:t>condicion_n</a:t>
            </a:r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) Entonces</a:t>
            </a:r>
          </a:p>
          <a:p>
            <a:pPr indent="-57150"/>
            <a:r>
              <a:rPr lang="es-ES" sz="1400" dirty="0">
                <a:latin typeface="Consolas" panose="020B0609020204030204" pitchFamily="49" charset="0"/>
              </a:rPr>
              <a:t>        condicion_n verdad</a:t>
            </a:r>
          </a:p>
          <a:p>
            <a:pPr indent="-57150"/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      Sino</a:t>
            </a:r>
          </a:p>
          <a:p>
            <a:pPr indent="-57150"/>
            <a:r>
              <a:rPr lang="es-ES" sz="1400" dirty="0">
                <a:latin typeface="Consolas" panose="020B0609020204030204" pitchFamily="49" charset="0"/>
              </a:rPr>
              <a:t>        condicion_n falso</a:t>
            </a:r>
          </a:p>
          <a:p>
            <a:pPr indent="-57150"/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      Fin_Si</a:t>
            </a:r>
          </a:p>
          <a:p>
            <a:pPr indent="-57150"/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      ...</a:t>
            </a:r>
            <a:endParaRPr lang="es-ES" sz="1400" dirty="0">
              <a:latin typeface="Consolas" panose="020B0609020204030204" pitchFamily="49" charset="0"/>
            </a:endParaRPr>
          </a:p>
          <a:p>
            <a:pPr indent="-57150"/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    Fin_Si </a:t>
            </a:r>
            <a:endParaRPr lang="es-ES" sz="1400" dirty="0">
              <a:latin typeface="Consolas" panose="020B0609020204030204" pitchFamily="49" charset="0"/>
            </a:endParaRPr>
          </a:p>
          <a:p>
            <a:pPr indent="-57150"/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  Fin_Si</a:t>
            </a:r>
            <a:endParaRPr lang="es-ES" sz="1400" dirty="0">
              <a:latin typeface="Consolas" panose="020B0609020204030204" pitchFamily="49" charset="0"/>
            </a:endParaRPr>
          </a:p>
          <a:p>
            <a:pPr indent="-57150"/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Fin_Si</a:t>
            </a:r>
            <a:endParaRPr lang="es-CO" sz="1400" dirty="0">
              <a:solidFill>
                <a:schemeClr val="accent4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0CE8C173-7707-48F4-A17E-7B72328AD3B5}"/>
              </a:ext>
            </a:extLst>
          </p:cNvPr>
          <p:cNvSpPr txBox="1"/>
          <p:nvPr/>
        </p:nvSpPr>
        <p:spPr>
          <a:xfrm>
            <a:off x="5524870" y="1275972"/>
            <a:ext cx="24241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2000" b="1" dirty="0"/>
              <a:t>Pseudocódigo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9B118BBB-98AA-4C68-B5A2-15748A12FB6E}"/>
              </a:ext>
            </a:extLst>
          </p:cNvPr>
          <p:cNvSpPr txBox="1"/>
          <p:nvPr/>
        </p:nvSpPr>
        <p:spPr>
          <a:xfrm>
            <a:off x="1455390" y="1307307"/>
            <a:ext cx="24241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2000" b="1" dirty="0"/>
              <a:t>Diagrama de flujo</a:t>
            </a:r>
          </a:p>
        </p:txBody>
      </p:sp>
    </p:spTree>
    <p:extLst>
      <p:ext uri="{BB962C8B-B14F-4D97-AF65-F5344CB8AC3E}">
        <p14:creationId xmlns:p14="http://schemas.microsoft.com/office/powerpoint/2010/main" val="11575196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63061" y="223755"/>
            <a:ext cx="8045354" cy="628407"/>
          </a:xfrm>
        </p:spPr>
        <p:txBody>
          <a:bodyPr>
            <a:normAutofit fontScale="90000"/>
          </a:bodyPr>
          <a:lstStyle/>
          <a:p>
            <a:r>
              <a:rPr lang="es-CO" dirty="0"/>
              <a:t>Alternativa múltiple – Mismo criterio</a:t>
            </a: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C2661223-A77C-4546-A1DB-3499A28DCF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635" y="2365757"/>
            <a:ext cx="4808820" cy="3384263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7EF0C72B-D8A1-4E3E-9FCD-98E4B022325B}"/>
              </a:ext>
            </a:extLst>
          </p:cNvPr>
          <p:cNvSpPr txBox="1"/>
          <p:nvPr/>
        </p:nvSpPr>
        <p:spPr>
          <a:xfrm>
            <a:off x="5220070" y="1380233"/>
            <a:ext cx="3699295" cy="26776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indent="-57150"/>
            <a:r>
              <a:rPr lang="es-ES" sz="1200" dirty="0" err="1">
                <a:solidFill>
                  <a:schemeClr val="accent4"/>
                </a:solidFill>
                <a:latin typeface="Consolas" panose="020B0609020204030204" pitchFamily="49" charset="0"/>
              </a:rPr>
              <a:t>if</a:t>
            </a:r>
            <a:r>
              <a:rPr lang="es-ES" sz="1200" dirty="0">
                <a:solidFill>
                  <a:schemeClr val="accent4"/>
                </a:solidFill>
                <a:latin typeface="Consolas" panose="020B0609020204030204" pitchFamily="49" charset="0"/>
              </a:rPr>
              <a:t> (</a:t>
            </a:r>
            <a:r>
              <a:rPr lang="es-ES" sz="1200" dirty="0">
                <a:solidFill>
                  <a:schemeClr val="accent6"/>
                </a:solidFill>
                <a:latin typeface="Consolas" panose="020B0609020204030204" pitchFamily="49" charset="0"/>
              </a:rPr>
              <a:t>condicion_1</a:t>
            </a:r>
            <a:r>
              <a:rPr lang="es-ES" sz="1200" dirty="0">
                <a:solidFill>
                  <a:schemeClr val="accent4"/>
                </a:solidFill>
                <a:latin typeface="Consolas" panose="020B0609020204030204" pitchFamily="49" charset="0"/>
              </a:rPr>
              <a:t>):</a:t>
            </a:r>
          </a:p>
          <a:p>
            <a:pPr indent="-57150"/>
            <a:r>
              <a:rPr lang="es-ES" sz="1200" dirty="0">
                <a:latin typeface="Consolas" panose="020B0609020204030204" pitchFamily="49" charset="0"/>
              </a:rPr>
              <a:t>  condicion_1 verdad</a:t>
            </a:r>
          </a:p>
          <a:p>
            <a:pPr indent="-57150"/>
            <a:r>
              <a:rPr lang="es-ES" sz="1200" dirty="0" err="1">
                <a:solidFill>
                  <a:schemeClr val="accent4"/>
                </a:solidFill>
                <a:latin typeface="Consolas" panose="020B0609020204030204" pitchFamily="49" charset="0"/>
              </a:rPr>
              <a:t>else</a:t>
            </a:r>
            <a:r>
              <a:rPr lang="es-ES" sz="1200" dirty="0">
                <a:solidFill>
                  <a:schemeClr val="accent4"/>
                </a:solidFill>
                <a:latin typeface="Consolas" panose="020B0609020204030204" pitchFamily="49" charset="0"/>
              </a:rPr>
              <a:t>:</a:t>
            </a:r>
          </a:p>
          <a:p>
            <a:pPr indent="-57150"/>
            <a:r>
              <a:rPr lang="es-ES" sz="1200" dirty="0">
                <a:solidFill>
                  <a:schemeClr val="accent4"/>
                </a:solidFill>
                <a:latin typeface="Consolas" panose="020B0609020204030204" pitchFamily="49" charset="0"/>
              </a:rPr>
              <a:t>  </a:t>
            </a:r>
            <a:r>
              <a:rPr lang="es-ES" sz="1200" dirty="0" err="1">
                <a:solidFill>
                  <a:schemeClr val="accent4"/>
                </a:solidFill>
                <a:latin typeface="Consolas" panose="020B0609020204030204" pitchFamily="49" charset="0"/>
              </a:rPr>
              <a:t>if</a:t>
            </a:r>
            <a:r>
              <a:rPr lang="es-ES" sz="1200" dirty="0">
                <a:solidFill>
                  <a:schemeClr val="accent4"/>
                </a:solidFill>
                <a:latin typeface="Consolas" panose="020B0609020204030204" pitchFamily="49" charset="0"/>
              </a:rPr>
              <a:t> (</a:t>
            </a:r>
            <a:r>
              <a:rPr lang="es-ES" sz="1200" dirty="0">
                <a:solidFill>
                  <a:schemeClr val="accent6"/>
                </a:solidFill>
                <a:latin typeface="Consolas" panose="020B0609020204030204" pitchFamily="49" charset="0"/>
              </a:rPr>
              <a:t>condicion_2</a:t>
            </a:r>
            <a:r>
              <a:rPr lang="es-ES" sz="1200" dirty="0">
                <a:solidFill>
                  <a:schemeClr val="accent4"/>
                </a:solidFill>
                <a:latin typeface="Consolas" panose="020B0609020204030204" pitchFamily="49" charset="0"/>
              </a:rPr>
              <a:t>):</a:t>
            </a:r>
          </a:p>
          <a:p>
            <a:pPr indent="-57150"/>
            <a:r>
              <a:rPr lang="es-ES" sz="1200" dirty="0">
                <a:latin typeface="Consolas" panose="020B0609020204030204" pitchFamily="49" charset="0"/>
              </a:rPr>
              <a:t>    condicion_2 verdad</a:t>
            </a:r>
          </a:p>
          <a:p>
            <a:pPr indent="-57150"/>
            <a:r>
              <a:rPr lang="es-ES" sz="1200" dirty="0">
                <a:solidFill>
                  <a:schemeClr val="accent4"/>
                </a:solidFill>
                <a:latin typeface="Consolas" panose="020B0609020204030204" pitchFamily="49" charset="0"/>
              </a:rPr>
              <a:t>  </a:t>
            </a:r>
            <a:r>
              <a:rPr lang="es-ES" sz="1200" dirty="0" err="1">
                <a:solidFill>
                  <a:schemeClr val="accent4"/>
                </a:solidFill>
                <a:latin typeface="Consolas" panose="020B0609020204030204" pitchFamily="49" charset="0"/>
              </a:rPr>
              <a:t>else</a:t>
            </a:r>
            <a:r>
              <a:rPr lang="es-ES" sz="1200" dirty="0">
                <a:solidFill>
                  <a:schemeClr val="accent4"/>
                </a:solidFill>
                <a:latin typeface="Consolas" panose="020B0609020204030204" pitchFamily="49" charset="0"/>
              </a:rPr>
              <a:t>:</a:t>
            </a:r>
          </a:p>
          <a:p>
            <a:pPr indent="-57150"/>
            <a:r>
              <a:rPr lang="es-ES" sz="1200" dirty="0">
                <a:solidFill>
                  <a:schemeClr val="accent4"/>
                </a:solidFill>
                <a:latin typeface="Consolas" panose="020B0609020204030204" pitchFamily="49" charset="0"/>
              </a:rPr>
              <a:t>    </a:t>
            </a:r>
            <a:r>
              <a:rPr lang="es-ES" sz="1200" dirty="0" err="1">
                <a:solidFill>
                  <a:schemeClr val="accent4"/>
                </a:solidFill>
                <a:latin typeface="Consolas" panose="020B0609020204030204" pitchFamily="49" charset="0"/>
              </a:rPr>
              <a:t>if</a:t>
            </a:r>
            <a:r>
              <a:rPr lang="es-ES" sz="1200" dirty="0">
                <a:solidFill>
                  <a:schemeClr val="accent4"/>
                </a:solidFill>
                <a:latin typeface="Consolas" panose="020B0609020204030204" pitchFamily="49" charset="0"/>
              </a:rPr>
              <a:t> (</a:t>
            </a:r>
            <a:r>
              <a:rPr lang="es-ES" sz="1200" dirty="0">
                <a:solidFill>
                  <a:schemeClr val="accent6"/>
                </a:solidFill>
                <a:latin typeface="Consolas" panose="020B0609020204030204" pitchFamily="49" charset="0"/>
              </a:rPr>
              <a:t>condicion_3</a:t>
            </a:r>
            <a:r>
              <a:rPr lang="es-ES" sz="1200" dirty="0">
                <a:solidFill>
                  <a:schemeClr val="accent4"/>
                </a:solidFill>
                <a:latin typeface="Consolas" panose="020B0609020204030204" pitchFamily="49" charset="0"/>
              </a:rPr>
              <a:t>):</a:t>
            </a:r>
          </a:p>
          <a:p>
            <a:pPr indent="-57150"/>
            <a:r>
              <a:rPr lang="es-ES" sz="1200" dirty="0">
                <a:latin typeface="Consolas" panose="020B0609020204030204" pitchFamily="49" charset="0"/>
              </a:rPr>
              <a:t>      condicion_3 verdad</a:t>
            </a:r>
          </a:p>
          <a:p>
            <a:pPr indent="-57150"/>
            <a:r>
              <a:rPr lang="es-ES" sz="1200" dirty="0">
                <a:solidFill>
                  <a:schemeClr val="accent4"/>
                </a:solidFill>
                <a:latin typeface="Consolas" panose="020B0609020204030204" pitchFamily="49" charset="0"/>
              </a:rPr>
              <a:t>    </a:t>
            </a:r>
            <a:r>
              <a:rPr lang="es-ES" sz="1200" dirty="0" err="1">
                <a:solidFill>
                  <a:schemeClr val="accent4"/>
                </a:solidFill>
                <a:latin typeface="Consolas" panose="020B0609020204030204" pitchFamily="49" charset="0"/>
              </a:rPr>
              <a:t>else</a:t>
            </a:r>
            <a:r>
              <a:rPr lang="es-ES" sz="1200" dirty="0">
                <a:solidFill>
                  <a:schemeClr val="accent4"/>
                </a:solidFill>
                <a:latin typeface="Consolas" panose="020B0609020204030204" pitchFamily="49" charset="0"/>
              </a:rPr>
              <a:t>:</a:t>
            </a:r>
          </a:p>
          <a:p>
            <a:pPr indent="-57150"/>
            <a:r>
              <a:rPr lang="es-ES" sz="1200" dirty="0">
                <a:solidFill>
                  <a:schemeClr val="accent4"/>
                </a:solidFill>
                <a:latin typeface="Consolas" panose="020B0609020204030204" pitchFamily="49" charset="0"/>
              </a:rPr>
              <a:t>      ...</a:t>
            </a:r>
          </a:p>
          <a:p>
            <a:pPr indent="-57150"/>
            <a:r>
              <a:rPr lang="es-ES" sz="1200" dirty="0">
                <a:solidFill>
                  <a:schemeClr val="accent4"/>
                </a:solidFill>
                <a:latin typeface="Consolas" panose="020B0609020204030204" pitchFamily="49" charset="0"/>
              </a:rPr>
              <a:t>      </a:t>
            </a:r>
            <a:r>
              <a:rPr lang="es-ES" sz="1200" dirty="0" err="1">
                <a:solidFill>
                  <a:schemeClr val="accent4"/>
                </a:solidFill>
                <a:latin typeface="Consolas" panose="020B0609020204030204" pitchFamily="49" charset="0"/>
              </a:rPr>
              <a:t>if</a:t>
            </a:r>
            <a:r>
              <a:rPr lang="es-ES" sz="1200" dirty="0">
                <a:solidFill>
                  <a:schemeClr val="accent4"/>
                </a:solidFill>
                <a:latin typeface="Consolas" panose="020B0609020204030204" pitchFamily="49" charset="0"/>
              </a:rPr>
              <a:t> (</a:t>
            </a:r>
            <a:r>
              <a:rPr lang="es-ES" sz="1200" dirty="0" err="1">
                <a:solidFill>
                  <a:schemeClr val="accent6"/>
                </a:solidFill>
                <a:latin typeface="Consolas" panose="020B0609020204030204" pitchFamily="49" charset="0"/>
              </a:rPr>
              <a:t>condicion_n</a:t>
            </a:r>
            <a:r>
              <a:rPr lang="es-ES" sz="1200" dirty="0">
                <a:solidFill>
                  <a:schemeClr val="accent4"/>
                </a:solidFill>
                <a:latin typeface="Consolas" panose="020B0609020204030204" pitchFamily="49" charset="0"/>
              </a:rPr>
              <a:t>):</a:t>
            </a:r>
          </a:p>
          <a:p>
            <a:pPr indent="-57150"/>
            <a:r>
              <a:rPr lang="es-ES" sz="1200" dirty="0">
                <a:latin typeface="Consolas" panose="020B0609020204030204" pitchFamily="49" charset="0"/>
              </a:rPr>
              <a:t>        condicion_n verdad</a:t>
            </a:r>
          </a:p>
          <a:p>
            <a:pPr indent="-57150"/>
            <a:r>
              <a:rPr lang="es-ES" sz="1200" dirty="0">
                <a:solidFill>
                  <a:schemeClr val="accent4"/>
                </a:solidFill>
                <a:latin typeface="Consolas" panose="020B0609020204030204" pitchFamily="49" charset="0"/>
              </a:rPr>
              <a:t>      </a:t>
            </a:r>
            <a:r>
              <a:rPr lang="es-ES" sz="1200" dirty="0" err="1">
                <a:solidFill>
                  <a:schemeClr val="accent4"/>
                </a:solidFill>
                <a:latin typeface="Consolas" panose="020B0609020204030204" pitchFamily="49" charset="0"/>
              </a:rPr>
              <a:t>else</a:t>
            </a:r>
            <a:r>
              <a:rPr lang="es-ES" sz="1200" dirty="0">
                <a:solidFill>
                  <a:schemeClr val="accent4"/>
                </a:solidFill>
                <a:latin typeface="Consolas" panose="020B0609020204030204" pitchFamily="49" charset="0"/>
              </a:rPr>
              <a:t>:</a:t>
            </a:r>
          </a:p>
          <a:p>
            <a:pPr indent="-57150"/>
            <a:r>
              <a:rPr lang="es-ES" sz="1200" dirty="0">
                <a:latin typeface="Consolas" panose="020B0609020204030204" pitchFamily="49" charset="0"/>
              </a:rPr>
              <a:t>        </a:t>
            </a:r>
            <a:r>
              <a:rPr lang="es-ES" sz="1200" dirty="0" err="1">
                <a:latin typeface="Consolas" panose="020B0609020204030204" pitchFamily="49" charset="0"/>
              </a:rPr>
              <a:t>condicion_n</a:t>
            </a:r>
            <a:r>
              <a:rPr lang="es-ES" sz="1200" dirty="0">
                <a:latin typeface="Consolas" panose="020B0609020204030204" pitchFamily="49" charset="0"/>
              </a:rPr>
              <a:t> falso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0CE8C173-7707-48F4-A17E-7B72328AD3B5}"/>
              </a:ext>
            </a:extLst>
          </p:cNvPr>
          <p:cNvSpPr txBox="1"/>
          <p:nvPr/>
        </p:nvSpPr>
        <p:spPr>
          <a:xfrm>
            <a:off x="5857638" y="852162"/>
            <a:ext cx="24241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2000" b="1" dirty="0"/>
              <a:t>python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9B118BBB-98AA-4C68-B5A2-15748A12FB6E}"/>
              </a:ext>
            </a:extLst>
          </p:cNvPr>
          <p:cNvSpPr txBox="1"/>
          <p:nvPr/>
        </p:nvSpPr>
        <p:spPr>
          <a:xfrm>
            <a:off x="1187624" y="1772816"/>
            <a:ext cx="24241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2000" b="1" dirty="0"/>
              <a:t>Diagrama de flujo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DB7763D3-EDA7-4736-A130-D3D6501B4BC6}"/>
              </a:ext>
            </a:extLst>
          </p:cNvPr>
          <p:cNvSpPr txBox="1"/>
          <p:nvPr/>
        </p:nvSpPr>
        <p:spPr>
          <a:xfrm>
            <a:off x="5249445" y="4415938"/>
            <a:ext cx="3699295" cy="21236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indent="-57150"/>
            <a:r>
              <a:rPr lang="es-ES" sz="1200" dirty="0" err="1">
                <a:solidFill>
                  <a:schemeClr val="accent4"/>
                </a:solidFill>
                <a:latin typeface="Consolas" panose="020B0609020204030204" pitchFamily="49" charset="0"/>
              </a:rPr>
              <a:t>if</a:t>
            </a:r>
            <a:r>
              <a:rPr lang="es-ES" sz="1200" dirty="0">
                <a:solidFill>
                  <a:schemeClr val="accent4"/>
                </a:solidFill>
                <a:latin typeface="Consolas" panose="020B0609020204030204" pitchFamily="49" charset="0"/>
              </a:rPr>
              <a:t> (</a:t>
            </a:r>
            <a:r>
              <a:rPr lang="es-ES" sz="1200" dirty="0">
                <a:solidFill>
                  <a:schemeClr val="accent6"/>
                </a:solidFill>
                <a:latin typeface="Consolas" panose="020B0609020204030204" pitchFamily="49" charset="0"/>
              </a:rPr>
              <a:t>condicion_1</a:t>
            </a:r>
            <a:r>
              <a:rPr lang="es-ES" sz="1200" dirty="0">
                <a:solidFill>
                  <a:schemeClr val="accent4"/>
                </a:solidFill>
                <a:latin typeface="Consolas" panose="020B0609020204030204" pitchFamily="49" charset="0"/>
              </a:rPr>
              <a:t>):</a:t>
            </a:r>
          </a:p>
          <a:p>
            <a:pPr indent="-57150"/>
            <a:r>
              <a:rPr lang="es-ES" sz="1200" dirty="0">
                <a:latin typeface="Consolas" panose="020B0609020204030204" pitchFamily="49" charset="0"/>
              </a:rPr>
              <a:t>  condicion_1 verdad</a:t>
            </a:r>
          </a:p>
          <a:p>
            <a:pPr indent="-57150"/>
            <a:r>
              <a:rPr lang="es-ES" sz="1200" dirty="0" err="1">
                <a:solidFill>
                  <a:schemeClr val="accent4"/>
                </a:solidFill>
                <a:latin typeface="Consolas" panose="020B0609020204030204" pitchFamily="49" charset="0"/>
              </a:rPr>
              <a:t>elif</a:t>
            </a:r>
            <a:r>
              <a:rPr lang="es-ES" sz="1200" dirty="0">
                <a:solidFill>
                  <a:schemeClr val="accent4"/>
                </a:solidFill>
                <a:latin typeface="Consolas" panose="020B0609020204030204" pitchFamily="49" charset="0"/>
              </a:rPr>
              <a:t> (</a:t>
            </a:r>
            <a:r>
              <a:rPr lang="es-ES" sz="1200" dirty="0">
                <a:solidFill>
                  <a:schemeClr val="accent6"/>
                </a:solidFill>
                <a:latin typeface="Consolas" panose="020B0609020204030204" pitchFamily="49" charset="0"/>
              </a:rPr>
              <a:t>condicion_2</a:t>
            </a:r>
            <a:r>
              <a:rPr lang="es-ES" sz="1200" dirty="0">
                <a:solidFill>
                  <a:schemeClr val="accent4"/>
                </a:solidFill>
                <a:latin typeface="Consolas" panose="020B0609020204030204" pitchFamily="49" charset="0"/>
              </a:rPr>
              <a:t>):</a:t>
            </a:r>
          </a:p>
          <a:p>
            <a:pPr indent="-57150"/>
            <a:r>
              <a:rPr lang="es-ES" sz="1200" dirty="0">
                <a:latin typeface="Consolas" panose="020B0609020204030204" pitchFamily="49" charset="0"/>
              </a:rPr>
              <a:t>  condicion_2 verdad</a:t>
            </a:r>
          </a:p>
          <a:p>
            <a:pPr indent="-57150"/>
            <a:r>
              <a:rPr lang="es-ES" sz="1200" dirty="0" err="1">
                <a:solidFill>
                  <a:schemeClr val="accent4"/>
                </a:solidFill>
                <a:latin typeface="Consolas" panose="020B0609020204030204" pitchFamily="49" charset="0"/>
              </a:rPr>
              <a:t>elif</a:t>
            </a:r>
            <a:r>
              <a:rPr lang="es-ES" sz="1200" dirty="0">
                <a:solidFill>
                  <a:schemeClr val="accent4"/>
                </a:solidFill>
                <a:latin typeface="Consolas" panose="020B0609020204030204" pitchFamily="49" charset="0"/>
              </a:rPr>
              <a:t> (</a:t>
            </a:r>
            <a:r>
              <a:rPr lang="es-ES" sz="1200" dirty="0">
                <a:solidFill>
                  <a:schemeClr val="accent6"/>
                </a:solidFill>
                <a:latin typeface="Consolas" panose="020B0609020204030204" pitchFamily="49" charset="0"/>
              </a:rPr>
              <a:t>condicion_3</a:t>
            </a:r>
            <a:r>
              <a:rPr lang="es-ES" sz="1200" dirty="0">
                <a:solidFill>
                  <a:schemeClr val="accent4"/>
                </a:solidFill>
                <a:latin typeface="Consolas" panose="020B0609020204030204" pitchFamily="49" charset="0"/>
              </a:rPr>
              <a:t>):</a:t>
            </a:r>
          </a:p>
          <a:p>
            <a:pPr indent="-57150"/>
            <a:r>
              <a:rPr lang="es-ES" sz="1200" dirty="0">
                <a:latin typeface="Consolas" panose="020B0609020204030204" pitchFamily="49" charset="0"/>
              </a:rPr>
              <a:t>  condicion_3 verdad</a:t>
            </a:r>
          </a:p>
          <a:p>
            <a:pPr indent="-57150"/>
            <a:r>
              <a:rPr lang="es-ES" sz="1200" dirty="0">
                <a:solidFill>
                  <a:schemeClr val="accent4"/>
                </a:solidFill>
                <a:latin typeface="Consolas" panose="020B0609020204030204" pitchFamily="49" charset="0"/>
              </a:rPr>
              <a:t>  ...</a:t>
            </a:r>
          </a:p>
          <a:p>
            <a:pPr indent="-57150"/>
            <a:r>
              <a:rPr lang="es-ES" sz="1200" dirty="0" err="1">
                <a:solidFill>
                  <a:schemeClr val="accent4"/>
                </a:solidFill>
                <a:latin typeface="Consolas" panose="020B0609020204030204" pitchFamily="49" charset="0"/>
              </a:rPr>
              <a:t>elif</a:t>
            </a:r>
            <a:r>
              <a:rPr lang="es-ES" sz="1200" dirty="0">
                <a:solidFill>
                  <a:schemeClr val="accent4"/>
                </a:solidFill>
                <a:latin typeface="Consolas" panose="020B0609020204030204" pitchFamily="49" charset="0"/>
              </a:rPr>
              <a:t> (</a:t>
            </a:r>
            <a:r>
              <a:rPr lang="es-ES" sz="1200" dirty="0" err="1">
                <a:solidFill>
                  <a:schemeClr val="accent6"/>
                </a:solidFill>
                <a:latin typeface="Consolas" panose="020B0609020204030204" pitchFamily="49" charset="0"/>
              </a:rPr>
              <a:t>condicion_n</a:t>
            </a:r>
            <a:r>
              <a:rPr lang="es-ES" sz="1200" dirty="0">
                <a:solidFill>
                  <a:schemeClr val="accent4"/>
                </a:solidFill>
                <a:latin typeface="Consolas" panose="020B0609020204030204" pitchFamily="49" charset="0"/>
              </a:rPr>
              <a:t>):</a:t>
            </a:r>
          </a:p>
          <a:p>
            <a:pPr indent="-57150"/>
            <a:r>
              <a:rPr lang="es-ES" sz="1200" dirty="0">
                <a:latin typeface="Consolas" panose="020B0609020204030204" pitchFamily="49" charset="0"/>
              </a:rPr>
              <a:t>  </a:t>
            </a:r>
            <a:r>
              <a:rPr lang="es-ES" sz="1200" dirty="0" err="1">
                <a:latin typeface="Consolas" panose="020B0609020204030204" pitchFamily="49" charset="0"/>
              </a:rPr>
              <a:t>condicion_n</a:t>
            </a:r>
            <a:r>
              <a:rPr lang="es-ES" sz="1200" dirty="0">
                <a:latin typeface="Consolas" panose="020B0609020204030204" pitchFamily="49" charset="0"/>
              </a:rPr>
              <a:t> verdad</a:t>
            </a:r>
          </a:p>
          <a:p>
            <a:pPr indent="-57150"/>
            <a:r>
              <a:rPr lang="es-ES" sz="1200" dirty="0" err="1">
                <a:solidFill>
                  <a:schemeClr val="accent4"/>
                </a:solidFill>
                <a:latin typeface="Consolas" panose="020B0609020204030204" pitchFamily="49" charset="0"/>
              </a:rPr>
              <a:t>else</a:t>
            </a:r>
            <a:r>
              <a:rPr lang="es-ES" sz="1200" dirty="0">
                <a:solidFill>
                  <a:schemeClr val="accent4"/>
                </a:solidFill>
                <a:latin typeface="Consolas" panose="020B0609020204030204" pitchFamily="49" charset="0"/>
              </a:rPr>
              <a:t>:</a:t>
            </a:r>
          </a:p>
          <a:p>
            <a:pPr indent="-57150"/>
            <a:r>
              <a:rPr lang="es-ES" sz="1200" dirty="0">
                <a:latin typeface="Consolas" panose="020B0609020204030204" pitchFamily="49" charset="0"/>
              </a:rPr>
              <a:t>  </a:t>
            </a:r>
            <a:r>
              <a:rPr lang="es-ES" sz="1200" dirty="0" err="1">
                <a:latin typeface="Consolas" panose="020B0609020204030204" pitchFamily="49" charset="0"/>
              </a:rPr>
              <a:t>condicion_n</a:t>
            </a:r>
            <a:r>
              <a:rPr lang="es-ES" sz="1200" dirty="0">
                <a:latin typeface="Consolas" panose="020B0609020204030204" pitchFamily="49" charset="0"/>
              </a:rPr>
              <a:t> falso</a:t>
            </a:r>
          </a:p>
        </p:txBody>
      </p:sp>
    </p:spTree>
    <p:extLst>
      <p:ext uri="{BB962C8B-B14F-4D97-AF65-F5344CB8AC3E}">
        <p14:creationId xmlns:p14="http://schemas.microsoft.com/office/powerpoint/2010/main" val="16422051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63060" y="223755"/>
            <a:ext cx="8269379" cy="628407"/>
          </a:xfrm>
        </p:spPr>
        <p:txBody>
          <a:bodyPr>
            <a:normAutofit fontScale="90000"/>
          </a:bodyPr>
          <a:lstStyle/>
          <a:p>
            <a:r>
              <a:rPr lang="es-CO" dirty="0"/>
              <a:t>Alternativa múltiple – Diferente criterio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EF0C72B-D8A1-4E3E-9FCD-98E4B022325B}"/>
              </a:ext>
            </a:extLst>
          </p:cNvPr>
          <p:cNvSpPr txBox="1"/>
          <p:nvPr/>
        </p:nvSpPr>
        <p:spPr>
          <a:xfrm>
            <a:off x="5215801" y="1556792"/>
            <a:ext cx="3699295" cy="28931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indent="-57150"/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Si (</a:t>
            </a:r>
            <a:r>
              <a:rPr lang="es-ES" sz="1400" dirty="0">
                <a:solidFill>
                  <a:schemeClr val="accent6"/>
                </a:solidFill>
                <a:latin typeface="Consolas" panose="020B0609020204030204" pitchFamily="49" charset="0"/>
              </a:rPr>
              <a:t>condicion_1</a:t>
            </a:r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) Entonces</a:t>
            </a:r>
          </a:p>
          <a:p>
            <a:pPr indent="-57150"/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  Si (</a:t>
            </a:r>
            <a:r>
              <a:rPr lang="es-ES" sz="1400" dirty="0">
                <a:solidFill>
                  <a:schemeClr val="accent6"/>
                </a:solidFill>
                <a:latin typeface="Consolas" panose="020B0609020204030204" pitchFamily="49" charset="0"/>
              </a:rPr>
              <a:t>condicion_3</a:t>
            </a:r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) Entonces</a:t>
            </a:r>
          </a:p>
          <a:p>
            <a:pPr indent="-57150"/>
            <a:r>
              <a:rPr lang="es-ES" sz="1400" dirty="0">
                <a:latin typeface="Consolas" panose="020B0609020204030204" pitchFamily="49" charset="0"/>
              </a:rPr>
              <a:t>    condicion_3a verdad</a:t>
            </a:r>
          </a:p>
          <a:p>
            <a:pPr indent="-57150"/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  Sino</a:t>
            </a:r>
          </a:p>
          <a:p>
            <a:pPr indent="-57150"/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    </a:t>
            </a:r>
            <a:r>
              <a:rPr lang="es-ES" sz="1400" dirty="0">
                <a:latin typeface="Consolas" panose="020B0609020204030204" pitchFamily="49" charset="0"/>
              </a:rPr>
              <a:t>condicion_3b </a:t>
            </a:r>
          </a:p>
          <a:p>
            <a:pPr indent="-57150"/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  Fin_Si</a:t>
            </a:r>
            <a:endParaRPr lang="es-ES" sz="1400" dirty="0">
              <a:latin typeface="Consolas" panose="020B0609020204030204" pitchFamily="49" charset="0"/>
            </a:endParaRPr>
          </a:p>
          <a:p>
            <a:pPr indent="-57150"/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Sino</a:t>
            </a:r>
          </a:p>
          <a:p>
            <a:pPr indent="-57150"/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  Si (</a:t>
            </a:r>
            <a:r>
              <a:rPr lang="es-ES" sz="1400" dirty="0">
                <a:solidFill>
                  <a:schemeClr val="accent6"/>
                </a:solidFill>
                <a:latin typeface="Consolas" panose="020B0609020204030204" pitchFamily="49" charset="0"/>
              </a:rPr>
              <a:t>condicion_2</a:t>
            </a:r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) Entonces</a:t>
            </a:r>
          </a:p>
          <a:p>
            <a:pPr indent="-57150"/>
            <a:r>
              <a:rPr lang="es-ES" sz="1400" dirty="0">
                <a:latin typeface="Consolas" panose="020B0609020204030204" pitchFamily="49" charset="0"/>
              </a:rPr>
              <a:t>    condicion_2a</a:t>
            </a:r>
          </a:p>
          <a:p>
            <a:pPr indent="-57150"/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  Sino</a:t>
            </a:r>
          </a:p>
          <a:p>
            <a:pPr indent="-57150"/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    </a:t>
            </a:r>
            <a:r>
              <a:rPr lang="es-ES" sz="1400" dirty="0">
                <a:latin typeface="Consolas" panose="020B0609020204030204" pitchFamily="49" charset="0"/>
              </a:rPr>
              <a:t>condicion_2b</a:t>
            </a:r>
            <a:endParaRPr lang="es-ES" sz="1400" dirty="0">
              <a:solidFill>
                <a:schemeClr val="accent4"/>
              </a:solidFill>
              <a:latin typeface="Consolas" panose="020B0609020204030204" pitchFamily="49" charset="0"/>
            </a:endParaRPr>
          </a:p>
          <a:p>
            <a:pPr indent="-57150"/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  Fin_Si</a:t>
            </a:r>
            <a:endParaRPr lang="es-ES" sz="1400" dirty="0">
              <a:latin typeface="Consolas" panose="020B0609020204030204" pitchFamily="49" charset="0"/>
            </a:endParaRPr>
          </a:p>
          <a:p>
            <a:pPr indent="-57150"/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Fin_Si</a:t>
            </a:r>
            <a:endParaRPr lang="es-CO" sz="1400" dirty="0">
              <a:solidFill>
                <a:schemeClr val="accent4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0CE8C173-7707-48F4-A17E-7B72328AD3B5}"/>
              </a:ext>
            </a:extLst>
          </p:cNvPr>
          <p:cNvSpPr txBox="1"/>
          <p:nvPr/>
        </p:nvSpPr>
        <p:spPr>
          <a:xfrm>
            <a:off x="5520599" y="1141253"/>
            <a:ext cx="24241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2000" b="1" dirty="0"/>
              <a:t>Pseudocódigo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9B118BBB-98AA-4C68-B5A2-15748A12FB6E}"/>
              </a:ext>
            </a:extLst>
          </p:cNvPr>
          <p:cNvSpPr txBox="1"/>
          <p:nvPr/>
        </p:nvSpPr>
        <p:spPr>
          <a:xfrm>
            <a:off x="1451119" y="1172588"/>
            <a:ext cx="24241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2000" b="1" dirty="0"/>
              <a:t>Diagrama de flujo</a:t>
            </a:r>
          </a:p>
        </p:txBody>
      </p:sp>
      <p:pic>
        <p:nvPicPr>
          <p:cNvPr id="10" name="Picture 3">
            <a:extLst>
              <a:ext uri="{FF2B5EF4-FFF2-40B4-BE49-F238E27FC236}">
                <a16:creationId xmlns:a16="http://schemas.microsoft.com/office/drawing/2014/main" id="{C047F0E5-EEF4-45FC-B86C-DAD924B135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613" y="1736086"/>
            <a:ext cx="4741172" cy="29062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7083933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63060" y="223755"/>
            <a:ext cx="8269379" cy="628407"/>
          </a:xfrm>
        </p:spPr>
        <p:txBody>
          <a:bodyPr>
            <a:normAutofit fontScale="90000"/>
          </a:bodyPr>
          <a:lstStyle/>
          <a:p>
            <a:r>
              <a:rPr lang="es-CO" dirty="0"/>
              <a:t>Alternativa múltiple – Diferente criterio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EF0C72B-D8A1-4E3E-9FCD-98E4B022325B}"/>
              </a:ext>
            </a:extLst>
          </p:cNvPr>
          <p:cNvSpPr txBox="1"/>
          <p:nvPr/>
        </p:nvSpPr>
        <p:spPr>
          <a:xfrm>
            <a:off x="5152092" y="2780928"/>
            <a:ext cx="3699295" cy="224676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indent="-57150"/>
            <a:r>
              <a:rPr lang="es-ES" sz="1400" dirty="0" err="1">
                <a:solidFill>
                  <a:schemeClr val="accent4"/>
                </a:solidFill>
                <a:latin typeface="Consolas" panose="020B0609020204030204" pitchFamily="49" charset="0"/>
              </a:rPr>
              <a:t>if</a:t>
            </a:r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 (</a:t>
            </a:r>
            <a:r>
              <a:rPr lang="es-ES" sz="1400" dirty="0">
                <a:solidFill>
                  <a:schemeClr val="accent6"/>
                </a:solidFill>
                <a:latin typeface="Consolas" panose="020B0609020204030204" pitchFamily="49" charset="0"/>
              </a:rPr>
              <a:t>condicion_1</a:t>
            </a:r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):</a:t>
            </a:r>
          </a:p>
          <a:p>
            <a:pPr indent="-57150"/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  </a:t>
            </a:r>
            <a:r>
              <a:rPr lang="es-ES" sz="1400" dirty="0" err="1">
                <a:solidFill>
                  <a:schemeClr val="accent4"/>
                </a:solidFill>
                <a:latin typeface="Consolas" panose="020B0609020204030204" pitchFamily="49" charset="0"/>
              </a:rPr>
              <a:t>if</a:t>
            </a:r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 (</a:t>
            </a:r>
            <a:r>
              <a:rPr lang="es-ES" sz="1400" dirty="0">
                <a:solidFill>
                  <a:schemeClr val="accent6"/>
                </a:solidFill>
                <a:latin typeface="Consolas" panose="020B0609020204030204" pitchFamily="49" charset="0"/>
              </a:rPr>
              <a:t>condicion_3</a:t>
            </a:r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):</a:t>
            </a:r>
          </a:p>
          <a:p>
            <a:pPr indent="-57150"/>
            <a:r>
              <a:rPr lang="es-ES" sz="1400" dirty="0">
                <a:latin typeface="Consolas" panose="020B0609020204030204" pitchFamily="49" charset="0"/>
              </a:rPr>
              <a:t>    condicion_3a verdad</a:t>
            </a:r>
          </a:p>
          <a:p>
            <a:pPr indent="-57150"/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  </a:t>
            </a:r>
            <a:r>
              <a:rPr lang="es-ES" sz="1400" dirty="0" err="1">
                <a:solidFill>
                  <a:schemeClr val="accent4"/>
                </a:solidFill>
                <a:latin typeface="Consolas" panose="020B0609020204030204" pitchFamily="49" charset="0"/>
              </a:rPr>
              <a:t>else</a:t>
            </a:r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:</a:t>
            </a:r>
          </a:p>
          <a:p>
            <a:pPr indent="-57150"/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    </a:t>
            </a:r>
            <a:r>
              <a:rPr lang="es-ES" sz="1400" dirty="0">
                <a:latin typeface="Consolas" panose="020B0609020204030204" pitchFamily="49" charset="0"/>
              </a:rPr>
              <a:t>condicion_3b </a:t>
            </a:r>
          </a:p>
          <a:p>
            <a:pPr indent="-57150"/>
            <a:r>
              <a:rPr lang="es-ES" sz="1400" dirty="0" err="1">
                <a:solidFill>
                  <a:schemeClr val="accent4"/>
                </a:solidFill>
                <a:latin typeface="Consolas" panose="020B0609020204030204" pitchFamily="49" charset="0"/>
              </a:rPr>
              <a:t>else</a:t>
            </a:r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:</a:t>
            </a:r>
          </a:p>
          <a:p>
            <a:pPr indent="-57150"/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  </a:t>
            </a:r>
            <a:r>
              <a:rPr lang="es-ES" sz="1400" dirty="0" err="1">
                <a:solidFill>
                  <a:schemeClr val="accent4"/>
                </a:solidFill>
                <a:latin typeface="Consolas" panose="020B0609020204030204" pitchFamily="49" charset="0"/>
              </a:rPr>
              <a:t>if</a:t>
            </a:r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 (</a:t>
            </a:r>
            <a:r>
              <a:rPr lang="es-ES" sz="1400" dirty="0">
                <a:solidFill>
                  <a:schemeClr val="accent6"/>
                </a:solidFill>
                <a:latin typeface="Consolas" panose="020B0609020204030204" pitchFamily="49" charset="0"/>
              </a:rPr>
              <a:t>condicion_2</a:t>
            </a:r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):</a:t>
            </a:r>
          </a:p>
          <a:p>
            <a:pPr indent="-57150"/>
            <a:r>
              <a:rPr lang="es-ES" sz="1400" dirty="0">
                <a:latin typeface="Consolas" panose="020B0609020204030204" pitchFamily="49" charset="0"/>
              </a:rPr>
              <a:t>    condicion_2a</a:t>
            </a:r>
          </a:p>
          <a:p>
            <a:pPr indent="-57150"/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  </a:t>
            </a:r>
            <a:r>
              <a:rPr lang="es-ES" sz="1400" dirty="0" err="1">
                <a:solidFill>
                  <a:schemeClr val="accent4"/>
                </a:solidFill>
                <a:latin typeface="Consolas" panose="020B0609020204030204" pitchFamily="49" charset="0"/>
              </a:rPr>
              <a:t>else</a:t>
            </a:r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:</a:t>
            </a:r>
          </a:p>
          <a:p>
            <a:pPr indent="-57150"/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    </a:t>
            </a:r>
            <a:r>
              <a:rPr lang="es-ES" sz="1400" dirty="0">
                <a:latin typeface="Consolas" panose="020B0609020204030204" pitchFamily="49" charset="0"/>
              </a:rPr>
              <a:t>condicion_2b</a:t>
            </a:r>
            <a:endParaRPr lang="es-ES" sz="1400" dirty="0">
              <a:solidFill>
                <a:schemeClr val="accent4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0CE8C173-7707-48F4-A17E-7B72328AD3B5}"/>
              </a:ext>
            </a:extLst>
          </p:cNvPr>
          <p:cNvSpPr txBox="1"/>
          <p:nvPr/>
        </p:nvSpPr>
        <p:spPr>
          <a:xfrm>
            <a:off x="5789658" y="2137231"/>
            <a:ext cx="24241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2000" b="1" dirty="0"/>
              <a:t>Python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9B118BBB-98AA-4C68-B5A2-15748A12FB6E}"/>
              </a:ext>
            </a:extLst>
          </p:cNvPr>
          <p:cNvSpPr txBox="1"/>
          <p:nvPr/>
        </p:nvSpPr>
        <p:spPr>
          <a:xfrm>
            <a:off x="1619672" y="2137231"/>
            <a:ext cx="24241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2000" b="1" dirty="0"/>
              <a:t>Diagrama de flujo</a:t>
            </a:r>
          </a:p>
        </p:txBody>
      </p:sp>
      <p:pic>
        <p:nvPicPr>
          <p:cNvPr id="10" name="Picture 3">
            <a:extLst>
              <a:ext uri="{FF2B5EF4-FFF2-40B4-BE49-F238E27FC236}">
                <a16:creationId xmlns:a16="http://schemas.microsoft.com/office/drawing/2014/main" id="{C047F0E5-EEF4-45FC-B86C-DAD924B135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613" y="2564904"/>
            <a:ext cx="4741172" cy="29062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8241253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57056" y="276634"/>
            <a:ext cx="8131368" cy="782960"/>
          </a:xfrm>
        </p:spPr>
        <p:txBody>
          <a:bodyPr>
            <a:normAutofit/>
          </a:bodyPr>
          <a:lstStyle/>
          <a:p>
            <a:r>
              <a:rPr lang="es-CO" dirty="0"/>
              <a:t>Ciclo mientras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91D7E60-39B9-4748-947F-38A8F97E2D1C}"/>
              </a:ext>
            </a:extLst>
          </p:cNvPr>
          <p:cNvSpPr txBox="1"/>
          <p:nvPr/>
        </p:nvSpPr>
        <p:spPr>
          <a:xfrm>
            <a:off x="4732404" y="1694530"/>
            <a:ext cx="3742661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indent="-57150"/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Mientras (</a:t>
            </a:r>
            <a:r>
              <a:rPr lang="es-ES" sz="1400" dirty="0">
                <a:solidFill>
                  <a:srgbClr val="C00000"/>
                </a:solidFill>
                <a:latin typeface="Consolas" panose="020B0609020204030204" pitchFamily="49" charset="0"/>
              </a:rPr>
              <a:t>condicion</a:t>
            </a:r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) Haga</a:t>
            </a:r>
          </a:p>
          <a:p>
            <a:pPr indent="-57150"/>
            <a:r>
              <a:rPr lang="es-ES" sz="1400" dirty="0">
                <a:latin typeface="Consolas" panose="020B0609020204030204" pitchFamily="49" charset="0"/>
              </a:rPr>
              <a:t>  instrucciones cuerpo</a:t>
            </a:r>
          </a:p>
          <a:p>
            <a:pPr indent="-57150"/>
            <a:r>
              <a:rPr lang="es-ES" sz="1400" dirty="0" err="1">
                <a:solidFill>
                  <a:schemeClr val="accent4"/>
                </a:solidFill>
                <a:latin typeface="Consolas" panose="020B0609020204030204" pitchFamily="49" charset="0"/>
              </a:rPr>
              <a:t>Fin_Mientras</a:t>
            </a:r>
            <a:endParaRPr lang="es-CO" sz="1400" dirty="0">
              <a:solidFill>
                <a:schemeClr val="accent4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F8D1186C-BAA6-4BB7-8BDA-437F19BE7947}"/>
              </a:ext>
            </a:extLst>
          </p:cNvPr>
          <p:cNvSpPr txBox="1"/>
          <p:nvPr/>
        </p:nvSpPr>
        <p:spPr>
          <a:xfrm>
            <a:off x="4746049" y="3463245"/>
            <a:ext cx="374266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indent="-57150"/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while (</a:t>
            </a:r>
            <a:r>
              <a:rPr lang="es-ES" sz="1400" dirty="0">
                <a:solidFill>
                  <a:schemeClr val="accent6"/>
                </a:solidFill>
                <a:latin typeface="Consolas" panose="020B0609020204030204" pitchFamily="49" charset="0"/>
              </a:rPr>
              <a:t>condicion</a:t>
            </a:r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):</a:t>
            </a:r>
          </a:p>
          <a:p>
            <a:pPr indent="-57150"/>
            <a:r>
              <a:rPr lang="es-ES" sz="1400" dirty="0">
                <a:latin typeface="Consolas" panose="020B0609020204030204" pitchFamily="49" charset="0"/>
              </a:rPr>
              <a:t>  instrucciones cuerpo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23C017E7-0175-4F4C-9063-3C6EA1BA3C91}"/>
              </a:ext>
            </a:extLst>
          </p:cNvPr>
          <p:cNvSpPr txBox="1"/>
          <p:nvPr/>
        </p:nvSpPr>
        <p:spPr>
          <a:xfrm>
            <a:off x="5137974" y="1196752"/>
            <a:ext cx="24241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2000" b="1" dirty="0"/>
              <a:t>Pseudocódigo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F70CDB5E-01B0-44CF-BEA6-A41F1D5A02A9}"/>
              </a:ext>
            </a:extLst>
          </p:cNvPr>
          <p:cNvSpPr txBox="1"/>
          <p:nvPr/>
        </p:nvSpPr>
        <p:spPr>
          <a:xfrm>
            <a:off x="5172874" y="3039012"/>
            <a:ext cx="24241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2000" b="1" dirty="0"/>
              <a:t>Python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DDC4803-A744-4439-BB5C-A2B5E2F7C7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1640" y="1556792"/>
            <a:ext cx="2438400" cy="2819400"/>
          </a:xfrm>
          <a:prstGeom prst="rect">
            <a:avLst/>
          </a:prstGeom>
        </p:spPr>
      </p:pic>
      <p:sp>
        <p:nvSpPr>
          <p:cNvPr id="14" name="CuadroTexto 13">
            <a:extLst>
              <a:ext uri="{FF2B5EF4-FFF2-40B4-BE49-F238E27FC236}">
                <a16:creationId xmlns:a16="http://schemas.microsoft.com/office/drawing/2014/main" id="{CACE4E4F-A4E8-46E2-AB13-7E2ACF4519A0}"/>
              </a:ext>
            </a:extLst>
          </p:cNvPr>
          <p:cNvSpPr txBox="1"/>
          <p:nvPr/>
        </p:nvSpPr>
        <p:spPr>
          <a:xfrm>
            <a:off x="1338759" y="1124744"/>
            <a:ext cx="24241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2000" b="1" dirty="0"/>
              <a:t>Diagrama de flujo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463FC496-7EBC-4F9A-8C33-D4B8F5F43481}"/>
              </a:ext>
            </a:extLst>
          </p:cNvPr>
          <p:cNvSpPr txBox="1"/>
          <p:nvPr/>
        </p:nvSpPr>
        <p:spPr>
          <a:xfrm>
            <a:off x="266678" y="4590635"/>
            <a:ext cx="8610644" cy="163121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s-CO" sz="2000" b="1" dirty="0"/>
              <a:t>Observaciones importantes</a:t>
            </a:r>
            <a:r>
              <a:rPr lang="es-CO" sz="2000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sz="2000" dirty="0"/>
              <a:t>Note que aunque la inicialización es importante para el ciclo, es previa a este (por eso no aparece).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sz="2000" dirty="0"/>
              <a:t>Dentro del cuerpo del ciclo están las instrucciones propias de lo que en este se debe realizar y la actualización de la variable de condición</a:t>
            </a:r>
          </a:p>
        </p:txBody>
      </p:sp>
    </p:spTree>
    <p:extLst>
      <p:ext uri="{BB962C8B-B14F-4D97-AF65-F5344CB8AC3E}">
        <p14:creationId xmlns:p14="http://schemas.microsoft.com/office/powerpoint/2010/main" val="26420879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57056" y="276634"/>
            <a:ext cx="8131368" cy="782960"/>
          </a:xfrm>
        </p:spPr>
        <p:txBody>
          <a:bodyPr>
            <a:normAutofit/>
          </a:bodyPr>
          <a:lstStyle/>
          <a:p>
            <a:r>
              <a:rPr lang="es-CO" dirty="0"/>
              <a:t>Ciclo Para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91D7E60-39B9-4748-947F-38A8F97E2D1C}"/>
              </a:ext>
            </a:extLst>
          </p:cNvPr>
          <p:cNvSpPr txBox="1"/>
          <p:nvPr/>
        </p:nvSpPr>
        <p:spPr>
          <a:xfrm>
            <a:off x="3950455" y="1552979"/>
            <a:ext cx="4942025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indent="-57150"/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Para (</a:t>
            </a:r>
            <a:r>
              <a:rPr lang="es-ES" sz="1400" dirty="0">
                <a:solidFill>
                  <a:srgbClr val="C00000"/>
                </a:solidFill>
                <a:latin typeface="Consolas" panose="020B0609020204030204" pitchFamily="49" charset="0"/>
              </a:rPr>
              <a:t>vc = inicio, fin, actualizacion</a:t>
            </a:r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) Haga</a:t>
            </a:r>
          </a:p>
          <a:p>
            <a:pPr indent="-57150"/>
            <a:r>
              <a:rPr lang="es-ES" sz="1400" dirty="0">
                <a:latin typeface="Consolas" panose="020B0609020204030204" pitchFamily="49" charset="0"/>
              </a:rPr>
              <a:t>  instrucciones cuerpo</a:t>
            </a:r>
          </a:p>
          <a:p>
            <a:pPr indent="-57150"/>
            <a:r>
              <a:rPr lang="es-ES" sz="1400" dirty="0" err="1">
                <a:solidFill>
                  <a:schemeClr val="accent4"/>
                </a:solidFill>
                <a:latin typeface="Consolas" panose="020B0609020204030204" pitchFamily="49" charset="0"/>
              </a:rPr>
              <a:t>Fin_Para</a:t>
            </a:r>
            <a:endParaRPr lang="es-CO" sz="1400" dirty="0">
              <a:solidFill>
                <a:schemeClr val="accent4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F8D1186C-BAA6-4BB7-8BDA-437F19BE7947}"/>
              </a:ext>
            </a:extLst>
          </p:cNvPr>
          <p:cNvSpPr txBox="1"/>
          <p:nvPr/>
        </p:nvSpPr>
        <p:spPr>
          <a:xfrm>
            <a:off x="3950455" y="2979110"/>
            <a:ext cx="494202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indent="-57150"/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for </a:t>
            </a:r>
            <a:r>
              <a:rPr lang="es-ES" sz="1400" dirty="0">
                <a:solidFill>
                  <a:srgbClr val="C00000"/>
                </a:solidFill>
                <a:latin typeface="Consolas" panose="020B0609020204030204" pitchFamily="49" charset="0"/>
              </a:rPr>
              <a:t>vc</a:t>
            </a:r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 in range(</a:t>
            </a:r>
            <a:r>
              <a:rPr lang="es-ES" sz="1400" dirty="0">
                <a:solidFill>
                  <a:srgbClr val="C00000"/>
                </a:solidFill>
                <a:latin typeface="Consolas" panose="020B0609020204030204" pitchFamily="49" charset="0"/>
              </a:rPr>
              <a:t>inicio</a:t>
            </a:r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, </a:t>
            </a:r>
            <a:r>
              <a:rPr lang="es-ES" sz="1400" dirty="0">
                <a:solidFill>
                  <a:srgbClr val="C00000"/>
                </a:solidFill>
                <a:latin typeface="Consolas" panose="020B0609020204030204" pitchFamily="49" charset="0"/>
              </a:rPr>
              <a:t>fin +</a:t>
            </a:r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 </a:t>
            </a:r>
            <a:r>
              <a:rPr lang="es-ES" sz="1400" dirty="0">
                <a:latin typeface="Consolas" panose="020B0609020204030204" pitchFamily="49" charset="0"/>
              </a:rPr>
              <a:t>1</a:t>
            </a:r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, </a:t>
            </a:r>
            <a:r>
              <a:rPr lang="es-ES" sz="1400" dirty="0">
                <a:solidFill>
                  <a:srgbClr val="C00000"/>
                </a:solidFill>
                <a:latin typeface="Consolas" panose="020B0609020204030204" pitchFamily="49" charset="0"/>
              </a:rPr>
              <a:t>actualizacion</a:t>
            </a:r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):</a:t>
            </a:r>
          </a:p>
          <a:p>
            <a:pPr indent="-57150"/>
            <a:r>
              <a:rPr lang="es-ES" sz="1400" dirty="0">
                <a:latin typeface="Consolas" panose="020B0609020204030204" pitchFamily="49" charset="0"/>
              </a:rPr>
              <a:t>  instrucciones cuerpo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23C017E7-0175-4F4C-9063-3C6EA1BA3C91}"/>
              </a:ext>
            </a:extLst>
          </p:cNvPr>
          <p:cNvSpPr txBox="1"/>
          <p:nvPr/>
        </p:nvSpPr>
        <p:spPr>
          <a:xfrm>
            <a:off x="5211021" y="1052736"/>
            <a:ext cx="24241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2000" b="1" dirty="0"/>
              <a:t>Pseudocódigo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F70CDB5E-01B0-44CF-BEA6-A41F1D5A02A9}"/>
              </a:ext>
            </a:extLst>
          </p:cNvPr>
          <p:cNvSpPr txBox="1"/>
          <p:nvPr/>
        </p:nvSpPr>
        <p:spPr>
          <a:xfrm>
            <a:off x="5211021" y="2560583"/>
            <a:ext cx="24241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2000" b="1" dirty="0"/>
              <a:t>Python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CACE4E4F-A4E8-46E2-AB13-7E2ACF4519A0}"/>
              </a:ext>
            </a:extLst>
          </p:cNvPr>
          <p:cNvSpPr txBox="1"/>
          <p:nvPr/>
        </p:nvSpPr>
        <p:spPr>
          <a:xfrm>
            <a:off x="874272" y="965244"/>
            <a:ext cx="24241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2000" b="1" dirty="0"/>
              <a:t>Diagrama de flujo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463FC496-7EBC-4F9A-8C33-D4B8F5F43481}"/>
              </a:ext>
            </a:extLst>
          </p:cNvPr>
          <p:cNvSpPr txBox="1"/>
          <p:nvPr/>
        </p:nvSpPr>
        <p:spPr>
          <a:xfrm>
            <a:off x="122662" y="3735030"/>
            <a:ext cx="8898676" cy="286232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s-CO" sz="2000" b="1" dirty="0"/>
              <a:t>Observaciones importantes</a:t>
            </a:r>
            <a:r>
              <a:rPr lang="es-CO" sz="2000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sz="2000" dirty="0"/>
              <a:t>A diferencia del ciclo </a:t>
            </a:r>
            <a:r>
              <a:rPr lang="es-CO" b="1" dirty="0">
                <a:latin typeface="Consolas" panose="020B0609020204030204" pitchFamily="49" charset="0"/>
              </a:rPr>
              <a:t>Mientras</a:t>
            </a:r>
            <a:r>
              <a:rPr lang="es-CO" sz="2000" dirty="0"/>
              <a:t>, el ciclo </a:t>
            </a:r>
            <a:r>
              <a:rPr lang="es-CO" b="1" dirty="0">
                <a:latin typeface="Consolas" panose="020B0609020204030204" pitchFamily="49" charset="0"/>
              </a:rPr>
              <a:t>Para</a:t>
            </a:r>
            <a:r>
              <a:rPr lang="es-CO" sz="2000" b="1" dirty="0"/>
              <a:t> </a:t>
            </a:r>
            <a:r>
              <a:rPr lang="es-CO" sz="2000" dirty="0"/>
              <a:t>se caracteriza por que la inicialización, la condición de control (o parada) y la actualización de la variable de control (</a:t>
            </a:r>
            <a:r>
              <a:rPr lang="es-CO" b="1" dirty="0">
                <a:latin typeface="Consolas" panose="020B0609020204030204" pitchFamily="49" charset="0"/>
              </a:rPr>
              <a:t>VC</a:t>
            </a:r>
            <a:r>
              <a:rPr lang="es-CO" sz="2000" dirty="0"/>
              <a:t>) se definen en la cabecera del ciclo.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sz="2000" dirty="0"/>
              <a:t>Lo anterior hace que la actualización sea un proceso automático, lo cual lo hace la opción mas apropiada para ciclos donde el numero de iteraciones es conocido.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sz="2000" dirty="0"/>
              <a:t>En python la implementación del </a:t>
            </a:r>
            <a:r>
              <a:rPr lang="es-CO" b="1" dirty="0">
                <a:latin typeface="Consolas" panose="020B0609020204030204" pitchFamily="49" charset="0"/>
              </a:rPr>
              <a:t>Para</a:t>
            </a:r>
            <a:r>
              <a:rPr lang="es-CO" sz="2000" dirty="0"/>
              <a:t>, es diferente a la de lenguajes como C++ y Java, por lo que hay que tener en cuenta unos detalles adicionales que veremos luego. </a:t>
            </a: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D7351A35-0196-4D4A-98B3-FFF25A1FBF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652" y="1322547"/>
            <a:ext cx="2819400" cy="2247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9719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179512" y="134971"/>
            <a:ext cx="8701428" cy="773749"/>
          </a:xfrm>
        </p:spPr>
        <p:txBody>
          <a:bodyPr>
            <a:normAutofit/>
          </a:bodyPr>
          <a:lstStyle/>
          <a:p>
            <a:r>
              <a:rPr lang="en-US" dirty="0"/>
              <a:t>Tipos de variables </a:t>
            </a:r>
            <a:r>
              <a:rPr lang="es-CO" dirty="0"/>
              <a:t>útiles</a:t>
            </a:r>
            <a:r>
              <a:rPr lang="en-US" dirty="0"/>
              <a:t> en los ciclos</a:t>
            </a:r>
          </a:p>
        </p:txBody>
      </p:sp>
      <p:sp>
        <p:nvSpPr>
          <p:cNvPr id="23" name="12 Rectángulo">
            <a:extLst>
              <a:ext uri="{FF2B5EF4-FFF2-40B4-BE49-F238E27FC236}">
                <a16:creationId xmlns:a16="http://schemas.microsoft.com/office/drawing/2014/main" id="{7789A76E-CF65-4031-95FC-AF6BE5FC3D10}"/>
              </a:ext>
            </a:extLst>
          </p:cNvPr>
          <p:cNvSpPr/>
          <p:nvPr/>
        </p:nvSpPr>
        <p:spPr>
          <a:xfrm>
            <a:off x="263060" y="971600"/>
            <a:ext cx="8617880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MX" sz="2000" dirty="0"/>
              <a:t>Todo ciclo suele apoyarse en algunos tipos de variables que cumplen roles específicos: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MX" sz="2000" b="1" dirty="0"/>
              <a:t>Variable de control</a:t>
            </a:r>
            <a:r>
              <a:rPr lang="es-MX" sz="2000" dirty="0"/>
              <a:t>: se evalúa en la condición del ciclo para decidir si continúa o termina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MX" sz="2000" b="1" dirty="0"/>
              <a:t>Contador</a:t>
            </a:r>
            <a:r>
              <a:rPr lang="es-MX" sz="2000" dirty="0"/>
              <a:t>: lleva la cuenta de repeticiones; se actualiza en una cantidad constante.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MX" sz="2000" b="1" dirty="0"/>
              <a:t>Acumulador</a:t>
            </a:r>
            <a:r>
              <a:rPr lang="es-MX" sz="2000" dirty="0"/>
              <a:t>: acumula el resultado de una operación que se repite; se actualiza en un valor variable.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MX" sz="2000" b="1" dirty="0"/>
              <a:t>Bandera</a:t>
            </a:r>
            <a:r>
              <a:rPr lang="es-MX" sz="2000" dirty="0"/>
              <a:t>: variable de dos valores excluyentes usada para controlar el ciclo o recordar un estado dentro de él.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MX" sz="2000" b="1" dirty="0"/>
              <a:t>Centinela</a:t>
            </a:r>
            <a:r>
              <a:rPr lang="es-MX" sz="2000" dirty="0"/>
              <a:t>: valor especial, fuera del rango válido de los datos, que señala el fin de la entrada.</a:t>
            </a:r>
            <a:endParaRPr lang="es-CO" sz="200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C628C91B-6B35-4CCA-9E5E-061F524BA4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8976" y="5148382"/>
            <a:ext cx="1038147" cy="1062383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694643B5-DC67-4F7C-BC79-F0BA667769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38333" y="5226403"/>
            <a:ext cx="918608" cy="906339"/>
          </a:xfrm>
          <a:prstGeom prst="rect">
            <a:avLst/>
          </a:prstGeom>
        </p:spPr>
      </p:pic>
      <p:pic>
        <p:nvPicPr>
          <p:cNvPr id="9" name="Picture 10" descr="Electric Flow Control Icons - Free SVG &amp; PNG Electric Flow Control ...">
            <a:extLst>
              <a:ext uri="{FF2B5EF4-FFF2-40B4-BE49-F238E27FC236}">
                <a16:creationId xmlns:a16="http://schemas.microsoft.com/office/drawing/2014/main" id="{274487F1-0748-4346-85E4-D33A532AD6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158" y="5135038"/>
            <a:ext cx="918607" cy="9186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615704D8-FD5A-49E7-8FBA-BE16A7AB07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3667" y="5158353"/>
            <a:ext cx="918608" cy="918608"/>
          </a:xfrm>
          <a:prstGeom prst="rect">
            <a:avLst/>
          </a:prstGeom>
        </p:spPr>
      </p:pic>
      <p:pic>
        <p:nvPicPr>
          <p:cNvPr id="1026" name="Picture 2" descr="Toggles Icon Stock Illustrations – 155 Toggles Icon Stock Illustrations,  Vectors &amp; Clipart - Dreamstime">
            <a:extLst>
              <a:ext uri="{FF2B5EF4-FFF2-40B4-BE49-F238E27FC236}">
                <a16:creationId xmlns:a16="http://schemas.microsoft.com/office/drawing/2014/main" id="{4E245C6B-0D14-4CF7-A0D9-8F4D1F1418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4328" y="5145066"/>
            <a:ext cx="1113555" cy="10285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552112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179512" y="134971"/>
            <a:ext cx="7617582" cy="773749"/>
          </a:xfrm>
        </p:spPr>
        <p:txBody>
          <a:bodyPr/>
          <a:lstStyle/>
          <a:p>
            <a:r>
              <a:rPr lang="en-US" dirty="0"/>
              <a:t>Recapitulando lo visto</a:t>
            </a:r>
          </a:p>
        </p:txBody>
      </p:sp>
      <p:grpSp>
        <p:nvGrpSpPr>
          <p:cNvPr id="6" name="Grupo 5">
            <a:extLst>
              <a:ext uri="{FF2B5EF4-FFF2-40B4-BE49-F238E27FC236}">
                <a16:creationId xmlns:a16="http://schemas.microsoft.com/office/drawing/2014/main" id="{645D3D08-4B3C-4C18-B8C6-669D7CE9CF27}"/>
              </a:ext>
            </a:extLst>
          </p:cNvPr>
          <p:cNvGrpSpPr/>
          <p:nvPr/>
        </p:nvGrpSpPr>
        <p:grpSpPr>
          <a:xfrm>
            <a:off x="689991" y="1124744"/>
            <a:ext cx="7986465" cy="3527899"/>
            <a:chOff x="614553" y="996468"/>
            <a:chExt cx="7986465" cy="3527899"/>
          </a:xfrm>
        </p:grpSpPr>
        <p:sp>
          <p:nvSpPr>
            <p:cNvPr id="7" name="Rectángulo 6">
              <a:extLst>
                <a:ext uri="{FF2B5EF4-FFF2-40B4-BE49-F238E27FC236}">
                  <a16:creationId xmlns:a16="http://schemas.microsoft.com/office/drawing/2014/main" id="{17FF6CF8-A2C7-4534-B777-0480DC2C43FD}"/>
                </a:ext>
              </a:extLst>
            </p:cNvPr>
            <p:cNvSpPr/>
            <p:nvPr/>
          </p:nvSpPr>
          <p:spPr>
            <a:xfrm>
              <a:off x="3642527" y="996468"/>
              <a:ext cx="1871662" cy="801147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sz="2000" b="1" dirty="0">
                  <a:solidFill>
                    <a:sysClr val="windowText" lastClr="000000"/>
                  </a:solidFill>
                  <a:latin typeface="Century Gothic" panose="020B0502020202020204" pitchFamily="34" charset="0"/>
                </a:rPr>
                <a:t>Tipos de ciclos</a:t>
              </a:r>
              <a:endParaRPr lang="es-CO" sz="2000" b="1" dirty="0">
                <a:solidFill>
                  <a:sysClr val="windowText" lastClr="000000"/>
                </a:solidFill>
                <a:latin typeface="Century Gothic" panose="020B0502020202020204" pitchFamily="34" charset="0"/>
              </a:endParaRPr>
            </a:p>
          </p:txBody>
        </p:sp>
        <p:sp>
          <p:nvSpPr>
            <p:cNvPr id="8" name="Rectángulo 7">
              <a:extLst>
                <a:ext uri="{FF2B5EF4-FFF2-40B4-BE49-F238E27FC236}">
                  <a16:creationId xmlns:a16="http://schemas.microsoft.com/office/drawing/2014/main" id="{9CA508EB-3624-4EAD-B04A-051BFD3BC767}"/>
                </a:ext>
              </a:extLst>
            </p:cNvPr>
            <p:cNvSpPr/>
            <p:nvPr/>
          </p:nvSpPr>
          <p:spPr>
            <a:xfrm>
              <a:off x="2057123" y="2248886"/>
              <a:ext cx="2092234" cy="70586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sz="2000" b="1" dirty="0">
                  <a:solidFill>
                    <a:sysClr val="windowText" lastClr="000000"/>
                  </a:solidFill>
                  <a:latin typeface="Century Gothic" panose="020B0502020202020204" pitchFamily="34" charset="0"/>
                </a:rPr>
                <a:t>Iteración desconocidas</a:t>
              </a:r>
              <a:endParaRPr lang="es-CO" sz="2000" b="1" dirty="0">
                <a:solidFill>
                  <a:sysClr val="windowText" lastClr="000000"/>
                </a:solidFill>
                <a:latin typeface="Century Gothic" panose="020B0502020202020204" pitchFamily="34" charset="0"/>
              </a:endParaRPr>
            </a:p>
          </p:txBody>
        </p:sp>
        <p:sp>
          <p:nvSpPr>
            <p:cNvPr id="9" name="Rectángulo 8">
              <a:extLst>
                <a:ext uri="{FF2B5EF4-FFF2-40B4-BE49-F238E27FC236}">
                  <a16:creationId xmlns:a16="http://schemas.microsoft.com/office/drawing/2014/main" id="{9C04CFF0-15AE-46AD-8545-CA10432DFBC7}"/>
                </a:ext>
              </a:extLst>
            </p:cNvPr>
            <p:cNvSpPr/>
            <p:nvPr/>
          </p:nvSpPr>
          <p:spPr>
            <a:xfrm>
              <a:off x="6508784" y="2248887"/>
              <a:ext cx="2092234" cy="705865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sz="2000" b="1" dirty="0">
                  <a:solidFill>
                    <a:sysClr val="windowText" lastClr="000000"/>
                  </a:solidFill>
                  <a:latin typeface="Century Gothic" panose="020B0502020202020204" pitchFamily="34" charset="0"/>
                </a:rPr>
                <a:t>Iteraciones conocidas</a:t>
              </a:r>
              <a:endParaRPr lang="es-CO" sz="2000" b="1" dirty="0">
                <a:solidFill>
                  <a:sysClr val="windowText" lastClr="000000"/>
                </a:solidFill>
                <a:latin typeface="Century Gothic" panose="020B0502020202020204" pitchFamily="34" charset="0"/>
              </a:endParaRPr>
            </a:p>
          </p:txBody>
        </p:sp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434EF194-3464-4FF9-AE5F-801860475EF7}"/>
                </a:ext>
              </a:extLst>
            </p:cNvPr>
            <p:cNvGrpSpPr/>
            <p:nvPr/>
          </p:nvGrpSpPr>
          <p:grpSpPr>
            <a:xfrm>
              <a:off x="3103241" y="1797614"/>
              <a:ext cx="4451659" cy="451273"/>
              <a:chOff x="4636088" y="2226292"/>
              <a:chExt cx="4451659" cy="451273"/>
            </a:xfrm>
          </p:grpSpPr>
          <p:cxnSp>
            <p:nvCxnSpPr>
              <p:cNvPr id="15" name="Conector: angular 14">
                <a:extLst>
                  <a:ext uri="{FF2B5EF4-FFF2-40B4-BE49-F238E27FC236}">
                    <a16:creationId xmlns:a16="http://schemas.microsoft.com/office/drawing/2014/main" id="{3F59C4E0-0B53-42D6-8730-893ACEB8422E}"/>
                  </a:ext>
                </a:extLst>
              </p:cNvPr>
              <p:cNvCxnSpPr>
                <a:cxnSpLocks/>
                <a:stCxn id="7" idx="2"/>
                <a:endCxn id="9" idx="0"/>
              </p:cNvCxnSpPr>
              <p:nvPr/>
            </p:nvCxnSpPr>
            <p:spPr>
              <a:xfrm rot="16200000" flipH="1">
                <a:off x="7373840" y="963657"/>
                <a:ext cx="451272" cy="2976543"/>
              </a:xfrm>
              <a:prstGeom prst="bentConnector3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Conector: angular 15">
                <a:extLst>
                  <a:ext uri="{FF2B5EF4-FFF2-40B4-BE49-F238E27FC236}">
                    <a16:creationId xmlns:a16="http://schemas.microsoft.com/office/drawing/2014/main" id="{4691D068-4A98-4040-A207-0FE3A9106C1D}"/>
                  </a:ext>
                </a:extLst>
              </p:cNvPr>
              <p:cNvCxnSpPr>
                <a:cxnSpLocks/>
                <a:stCxn id="7" idx="2"/>
                <a:endCxn id="8" idx="0"/>
              </p:cNvCxnSpPr>
              <p:nvPr/>
            </p:nvCxnSpPr>
            <p:spPr>
              <a:xfrm rot="5400000">
                <a:off x="5148011" y="1714369"/>
                <a:ext cx="451271" cy="1475118"/>
              </a:xfrm>
              <a:prstGeom prst="bentConnector3">
                <a:avLst>
                  <a:gd name="adj1" fmla="val 50000"/>
                </a:avLst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1ED136B1-85F4-41B9-BB93-29C0E5EDC2CA}"/>
                </a:ext>
              </a:extLst>
            </p:cNvPr>
            <p:cNvSpPr/>
            <p:nvPr/>
          </p:nvSpPr>
          <p:spPr>
            <a:xfrm>
              <a:off x="614553" y="3722679"/>
              <a:ext cx="2092234" cy="801688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sz="1600" b="1" dirty="0">
                  <a:solidFill>
                    <a:sysClr val="windowText" lastClr="000000"/>
                  </a:solidFill>
                  <a:latin typeface="Century Gothic" panose="020B0502020202020204" pitchFamily="34" charset="0"/>
                </a:rPr>
                <a:t>Preguntar antes de cada iteración (uso de bandera)</a:t>
              </a:r>
              <a:endParaRPr lang="es-CO" sz="1600" b="1" dirty="0">
                <a:solidFill>
                  <a:sysClr val="windowText" lastClr="000000"/>
                </a:solidFill>
                <a:latin typeface="Century Gothic" panose="020B0502020202020204" pitchFamily="34" charset="0"/>
              </a:endParaRPr>
            </a:p>
          </p:txBody>
        </p:sp>
        <p:sp>
          <p:nvSpPr>
            <p:cNvPr id="12" name="Rectángulo 11">
              <a:extLst>
                <a:ext uri="{FF2B5EF4-FFF2-40B4-BE49-F238E27FC236}">
                  <a16:creationId xmlns:a16="http://schemas.microsoft.com/office/drawing/2014/main" id="{F7499249-A05E-40A5-8B3D-18F1995942AE}"/>
                </a:ext>
              </a:extLst>
            </p:cNvPr>
            <p:cNvSpPr/>
            <p:nvPr/>
          </p:nvSpPr>
          <p:spPr>
            <a:xfrm>
              <a:off x="3532240" y="3722679"/>
              <a:ext cx="2092234" cy="801688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sz="1600" b="1" dirty="0">
                  <a:solidFill>
                    <a:sysClr val="windowText" lastClr="000000"/>
                  </a:solidFill>
                  <a:latin typeface="Century Gothic" panose="020B0502020202020204" pitchFamily="34" charset="0"/>
                </a:rPr>
                <a:t>Usando registro centinela</a:t>
              </a:r>
              <a:endParaRPr lang="es-CO" sz="1600" b="1" dirty="0">
                <a:solidFill>
                  <a:sysClr val="windowText" lastClr="000000"/>
                </a:solidFill>
                <a:latin typeface="Century Gothic" panose="020B0502020202020204" pitchFamily="34" charset="0"/>
              </a:endParaRPr>
            </a:p>
          </p:txBody>
        </p:sp>
        <p:cxnSp>
          <p:nvCxnSpPr>
            <p:cNvPr id="13" name="Conector: angular 12">
              <a:extLst>
                <a:ext uri="{FF2B5EF4-FFF2-40B4-BE49-F238E27FC236}">
                  <a16:creationId xmlns:a16="http://schemas.microsoft.com/office/drawing/2014/main" id="{3F80EB01-383C-40DF-83C3-441DB3D1E0E9}"/>
                </a:ext>
              </a:extLst>
            </p:cNvPr>
            <p:cNvCxnSpPr>
              <a:cxnSpLocks/>
              <a:stCxn id="8" idx="2"/>
              <a:endCxn id="12" idx="0"/>
            </p:cNvCxnSpPr>
            <p:nvPr/>
          </p:nvCxnSpPr>
          <p:spPr>
            <a:xfrm rot="16200000" flipH="1">
              <a:off x="3456835" y="2601156"/>
              <a:ext cx="767927" cy="1475117"/>
            </a:xfrm>
            <a:prstGeom prst="bentConnector3">
              <a:avLst>
                <a:gd name="adj1" fmla="val 50000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: angular 13">
              <a:extLst>
                <a:ext uri="{FF2B5EF4-FFF2-40B4-BE49-F238E27FC236}">
                  <a16:creationId xmlns:a16="http://schemas.microsoft.com/office/drawing/2014/main" id="{21B524B9-84F4-491B-AAC9-0AE576377AC4}"/>
                </a:ext>
              </a:extLst>
            </p:cNvPr>
            <p:cNvCxnSpPr>
              <a:cxnSpLocks/>
              <a:stCxn id="8" idx="2"/>
              <a:endCxn id="11" idx="0"/>
            </p:cNvCxnSpPr>
            <p:nvPr/>
          </p:nvCxnSpPr>
          <p:spPr>
            <a:xfrm rot="5400000">
              <a:off x="1997992" y="2617430"/>
              <a:ext cx="767927" cy="1442570"/>
            </a:xfrm>
            <a:prstGeom prst="bentConnector3">
              <a:avLst>
                <a:gd name="adj1" fmla="val 50000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CuadroTexto 16">
            <a:extLst>
              <a:ext uri="{FF2B5EF4-FFF2-40B4-BE49-F238E27FC236}">
                <a16:creationId xmlns:a16="http://schemas.microsoft.com/office/drawing/2014/main" id="{BD82673E-C4DA-45AC-97A5-D7F4C00FAD8A}"/>
              </a:ext>
            </a:extLst>
          </p:cNvPr>
          <p:cNvSpPr txBox="1"/>
          <p:nvPr/>
        </p:nvSpPr>
        <p:spPr>
          <a:xfrm>
            <a:off x="6423951" y="3232376"/>
            <a:ext cx="2412776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s-MX" sz="1200" dirty="0">
                <a:latin typeface="Consolas" panose="020B0609020204030204" pitchFamily="49" charset="0"/>
              </a:rPr>
              <a:t>i = 0 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... 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Mientras (</a:t>
            </a:r>
            <a:r>
              <a:rPr lang="es-MX" sz="1200" dirty="0">
                <a:solidFill>
                  <a:srgbClr val="C00000"/>
                </a:solidFill>
                <a:latin typeface="Consolas" panose="020B0609020204030204" pitchFamily="49" charset="0"/>
              </a:rPr>
              <a:t>i &lt; N</a:t>
            </a:r>
            <a:r>
              <a:rPr lang="es-MX" sz="1200" dirty="0">
                <a:latin typeface="Consolas" panose="020B0609020204030204" pitchFamily="49" charset="0"/>
              </a:rPr>
              <a:t>) Haga 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Leer(nota) 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...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i = i + 1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Fin_Mientras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...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848EAF0A-C0B4-45A5-A1A6-ABED1BAD1C4E}"/>
              </a:ext>
            </a:extLst>
          </p:cNvPr>
          <p:cNvSpPr txBox="1"/>
          <p:nvPr/>
        </p:nvSpPr>
        <p:spPr>
          <a:xfrm>
            <a:off x="3423511" y="4894368"/>
            <a:ext cx="2718556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s-MX" sz="1200" dirty="0">
                <a:latin typeface="Consolas" panose="020B0609020204030204" pitchFamily="49" charset="0"/>
              </a:rPr>
              <a:t>... 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Leer(nota) 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Mientras (</a:t>
            </a:r>
            <a:r>
              <a:rPr lang="es-MX" sz="1200" dirty="0">
                <a:solidFill>
                  <a:srgbClr val="C00000"/>
                </a:solidFill>
                <a:latin typeface="Consolas" panose="020B0609020204030204" pitchFamily="49" charset="0"/>
              </a:rPr>
              <a:t>nota != -1</a:t>
            </a:r>
            <a:r>
              <a:rPr lang="es-MX" sz="1200" dirty="0">
                <a:latin typeface="Consolas" panose="020B0609020204030204" pitchFamily="49" charset="0"/>
              </a:rPr>
              <a:t>) Haga 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...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Leer(nota) 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Fin_Mientras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...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12AEE7FC-91E3-4CCC-ABEF-C1E40A15FC5B}"/>
              </a:ext>
            </a:extLst>
          </p:cNvPr>
          <p:cNvSpPr txBox="1"/>
          <p:nvPr/>
        </p:nvSpPr>
        <p:spPr>
          <a:xfrm>
            <a:off x="149264" y="4802036"/>
            <a:ext cx="3078329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s-MX" sz="1200" dirty="0">
                <a:latin typeface="Consolas" panose="020B0609020204030204" pitchFamily="49" charset="0"/>
              </a:rPr>
              <a:t>... 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Leer(</a:t>
            </a:r>
            <a:r>
              <a:rPr lang="es-MX" sz="1200" dirty="0" err="1">
                <a:solidFill>
                  <a:srgbClr val="00B050"/>
                </a:solidFill>
                <a:latin typeface="Consolas" panose="020B0609020204030204" pitchFamily="49" charset="0"/>
              </a:rPr>
              <a:t>hay_est</a:t>
            </a:r>
            <a:r>
              <a:rPr lang="es-MX" sz="1200" dirty="0">
                <a:latin typeface="Consolas" panose="020B0609020204030204" pitchFamily="49" charset="0"/>
              </a:rPr>
              <a:t>) 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Mientras (</a:t>
            </a:r>
            <a:r>
              <a:rPr lang="es-MX" sz="1200" dirty="0" err="1">
                <a:solidFill>
                  <a:srgbClr val="00B050"/>
                </a:solidFill>
                <a:latin typeface="Consolas" panose="020B0609020204030204" pitchFamily="49" charset="0"/>
              </a:rPr>
              <a:t>hay_est</a:t>
            </a:r>
            <a:r>
              <a:rPr lang="es-MX" sz="1200" dirty="0">
                <a:solidFill>
                  <a:srgbClr val="C00000"/>
                </a:solidFill>
                <a:latin typeface="Consolas" panose="020B0609020204030204" pitchFamily="49" charset="0"/>
              </a:rPr>
              <a:t> == 's'</a:t>
            </a:r>
            <a:r>
              <a:rPr lang="es-MX" sz="1200" dirty="0">
                <a:latin typeface="Consolas" panose="020B0609020204030204" pitchFamily="49" charset="0"/>
              </a:rPr>
              <a:t>) Haga 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Leer(nota)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...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Leer(</a:t>
            </a:r>
            <a:r>
              <a:rPr lang="es-MX" sz="1200" dirty="0" err="1">
                <a:solidFill>
                  <a:srgbClr val="00B050"/>
                </a:solidFill>
                <a:latin typeface="Consolas" panose="020B0609020204030204" pitchFamily="49" charset="0"/>
              </a:rPr>
              <a:t>hay_est</a:t>
            </a:r>
            <a:r>
              <a:rPr lang="es-MX" sz="1200" dirty="0">
                <a:latin typeface="Consolas" panose="020B0609020204030204" pitchFamily="49" charset="0"/>
              </a:rPr>
              <a:t>)  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Fin_Mientras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36312221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179511" y="134971"/>
            <a:ext cx="8491661" cy="773749"/>
          </a:xfrm>
        </p:spPr>
        <p:txBody>
          <a:bodyPr/>
          <a:lstStyle/>
          <a:p>
            <a:r>
              <a:rPr lang="en-US" dirty="0"/>
              <a:t>Introducción a las funciones</a:t>
            </a:r>
          </a:p>
        </p:txBody>
      </p:sp>
      <p:pic>
        <p:nvPicPr>
          <p:cNvPr id="10242" name="Picture 2" descr="xkcd: Random Number">
            <a:extLst>
              <a:ext uri="{FF2B5EF4-FFF2-40B4-BE49-F238E27FC236}">
                <a16:creationId xmlns:a16="http://schemas.microsoft.com/office/drawing/2014/main" id="{E72BF9ED-4146-4F5B-8782-1C211EBBF4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978" y="1985392"/>
            <a:ext cx="4010022" cy="1443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6" name="Picture 6" descr="xkcd: Dependency">
            <a:extLst>
              <a:ext uri="{FF2B5EF4-FFF2-40B4-BE49-F238E27FC236}">
                <a16:creationId xmlns:a16="http://schemas.microsoft.com/office/drawing/2014/main" id="{CC1A6EDE-9178-4C94-AE17-EDE25EDB07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4048" y="1340768"/>
            <a:ext cx="3667125" cy="4657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482915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162413" y="116632"/>
            <a:ext cx="8981587" cy="1215008"/>
          </a:xfrm>
        </p:spPr>
        <p:txBody>
          <a:bodyPr>
            <a:normAutofit fontScale="90000"/>
          </a:bodyPr>
          <a:lstStyle/>
          <a:p>
            <a:r>
              <a:rPr lang="es-CO" dirty="0"/>
              <a:t>Módulos, subrutinas, procedimientos, funciones o métodos</a:t>
            </a:r>
          </a:p>
        </p:txBody>
      </p:sp>
      <p:sp>
        <p:nvSpPr>
          <p:cNvPr id="13" name="12 Rectángulo"/>
          <p:cNvSpPr/>
          <p:nvPr/>
        </p:nvSpPr>
        <p:spPr>
          <a:xfrm>
            <a:off x="162413" y="1160165"/>
            <a:ext cx="8819174" cy="169277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MX" sz="2200" b="1" dirty="0"/>
              <a:t>Modulo</a:t>
            </a:r>
            <a:r>
              <a:rPr lang="es-MX" sz="2200" dirty="0"/>
              <a:t>: </a:t>
            </a:r>
            <a:r>
              <a:rPr lang="es-MX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dirty="0"/>
              <a:t>Porción de código que realiza una tarea especifica.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dirty="0"/>
              <a:t>También se conoce como: subrutina, procedimiento, función o método.</a:t>
            </a:r>
          </a:p>
          <a:p>
            <a:r>
              <a:rPr lang="es-MX" sz="2200" b="1" dirty="0"/>
              <a:t>Modularizar</a:t>
            </a:r>
            <a:r>
              <a:rPr lang="es-MX" sz="2200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dirty="0"/>
              <a:t>Dividir un programa grande en módulos.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A17E972-52FC-4940-90D8-B6DA6E9481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664" y="2924944"/>
            <a:ext cx="1181080" cy="3096344"/>
          </a:xfrm>
          <a:prstGeom prst="rect">
            <a:avLst/>
          </a:prstGeom>
        </p:spPr>
      </p:pic>
      <p:sp>
        <p:nvSpPr>
          <p:cNvPr id="7" name="Flecha: a la derecha 6">
            <a:extLst>
              <a:ext uri="{FF2B5EF4-FFF2-40B4-BE49-F238E27FC236}">
                <a16:creationId xmlns:a16="http://schemas.microsoft.com/office/drawing/2014/main" id="{3FC34689-ACF1-4671-9408-C1A0823750FE}"/>
              </a:ext>
            </a:extLst>
          </p:cNvPr>
          <p:cNvSpPr/>
          <p:nvPr/>
        </p:nvSpPr>
        <p:spPr>
          <a:xfrm>
            <a:off x="2482022" y="4169224"/>
            <a:ext cx="1368152" cy="576064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600" b="1" dirty="0"/>
              <a:t>Modularizar</a:t>
            </a:r>
          </a:p>
        </p:txBody>
      </p:sp>
      <p:grpSp>
        <p:nvGrpSpPr>
          <p:cNvPr id="12" name="Grupo 11">
            <a:extLst>
              <a:ext uri="{FF2B5EF4-FFF2-40B4-BE49-F238E27FC236}">
                <a16:creationId xmlns:a16="http://schemas.microsoft.com/office/drawing/2014/main" id="{AC201415-31FD-434B-BF7D-680CFB497669}"/>
              </a:ext>
            </a:extLst>
          </p:cNvPr>
          <p:cNvGrpSpPr/>
          <p:nvPr/>
        </p:nvGrpSpPr>
        <p:grpSpPr>
          <a:xfrm>
            <a:off x="3995936" y="3059013"/>
            <a:ext cx="4279629" cy="2962275"/>
            <a:chOff x="4226392" y="3348208"/>
            <a:chExt cx="4279629" cy="2962275"/>
          </a:xfrm>
        </p:grpSpPr>
        <p:pic>
          <p:nvPicPr>
            <p:cNvPr id="6" name="Imagen 5">
              <a:extLst>
                <a:ext uri="{FF2B5EF4-FFF2-40B4-BE49-F238E27FC236}">
                  <a16:creationId xmlns:a16="http://schemas.microsoft.com/office/drawing/2014/main" id="{A8EA4752-8445-4481-98F5-B3038E7852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00746" y="3348208"/>
              <a:ext cx="4105275" cy="2962275"/>
            </a:xfrm>
            <a:prstGeom prst="rect">
              <a:avLst/>
            </a:prstGeom>
          </p:spPr>
        </p:pic>
        <p:sp>
          <p:nvSpPr>
            <p:cNvPr id="8" name="Rectángulo: esquinas redondeadas 7">
              <a:extLst>
                <a:ext uri="{FF2B5EF4-FFF2-40B4-BE49-F238E27FC236}">
                  <a16:creationId xmlns:a16="http://schemas.microsoft.com/office/drawing/2014/main" id="{59DB943E-5A24-4972-8246-5C57BFE61194}"/>
                </a:ext>
              </a:extLst>
            </p:cNvPr>
            <p:cNvSpPr/>
            <p:nvPr/>
          </p:nvSpPr>
          <p:spPr>
            <a:xfrm>
              <a:off x="4294909" y="4546600"/>
              <a:ext cx="1743941" cy="520700"/>
            </a:xfrm>
            <a:prstGeom prst="roundRect">
              <a:avLst/>
            </a:prstGeom>
            <a:noFill/>
            <a:ln w="19050">
              <a:solidFill>
                <a:schemeClr val="accent6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9" name="CuadroTexto 8">
              <a:extLst>
                <a:ext uri="{FF2B5EF4-FFF2-40B4-BE49-F238E27FC236}">
                  <a16:creationId xmlns:a16="http://schemas.microsoft.com/office/drawing/2014/main" id="{11CB328B-150B-4DF5-BA95-0DDDF814FB2E}"/>
                </a:ext>
              </a:extLst>
            </p:cNvPr>
            <p:cNvSpPr txBox="1"/>
            <p:nvPr/>
          </p:nvSpPr>
          <p:spPr>
            <a:xfrm>
              <a:off x="4226392" y="4304129"/>
              <a:ext cx="69121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200" b="1" dirty="0">
                  <a:solidFill>
                    <a:schemeClr val="accent6"/>
                  </a:solidFill>
                </a:rPr>
                <a:t>Modulo</a:t>
              </a:r>
            </a:p>
          </p:txBody>
        </p:sp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8E73D17D-CAAB-4C7E-A044-9A406A840238}"/>
                </a:ext>
              </a:extLst>
            </p:cNvPr>
            <p:cNvSpPr txBox="1"/>
            <p:nvPr/>
          </p:nvSpPr>
          <p:spPr>
            <a:xfrm>
              <a:off x="6588224" y="3474423"/>
              <a:ext cx="103092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s-CO" sz="1200" b="1" dirty="0">
                  <a:solidFill>
                    <a:schemeClr val="bg1">
                      <a:lumMod val="50000"/>
                    </a:schemeClr>
                  </a:solidFill>
                </a:rPr>
                <a:t>Instrucciones</a:t>
              </a:r>
            </a:p>
          </p:txBody>
        </p:sp>
      </p:grpSp>
      <p:sp>
        <p:nvSpPr>
          <p:cNvPr id="16" name="CuadroTexto 15">
            <a:extLst>
              <a:ext uri="{FF2B5EF4-FFF2-40B4-BE49-F238E27FC236}">
                <a16:creationId xmlns:a16="http://schemas.microsoft.com/office/drawing/2014/main" id="{8E019AE7-A342-4F1B-B33F-1F47F2B8D248}"/>
              </a:ext>
            </a:extLst>
          </p:cNvPr>
          <p:cNvSpPr txBox="1"/>
          <p:nvPr/>
        </p:nvSpPr>
        <p:spPr>
          <a:xfrm>
            <a:off x="230993" y="6061576"/>
            <a:ext cx="3024336" cy="6001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CO" sz="1100" dirty="0">
                <a:latin typeface="Consolas" panose="020B0609020204030204" pitchFamily="49" charset="0"/>
              </a:rPr>
              <a:t>c = float(input("Ingrese los °C: "))</a:t>
            </a:r>
          </a:p>
          <a:p>
            <a:r>
              <a:rPr lang="es-CO" sz="1100" dirty="0">
                <a:latin typeface="Consolas" panose="020B0609020204030204" pitchFamily="49" charset="0"/>
              </a:rPr>
              <a:t>f = (9.0/5)*c + 32</a:t>
            </a:r>
          </a:p>
          <a:p>
            <a:r>
              <a:rPr lang="es-CO" sz="1100" dirty="0">
                <a:latin typeface="Consolas" panose="020B0609020204030204" pitchFamily="49" charset="0"/>
              </a:rPr>
              <a:t>print(c,"°C =",f, "°F")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E8E8B0EF-3BD5-4431-BD8A-978CEEB33C7A}"/>
              </a:ext>
            </a:extLst>
          </p:cNvPr>
          <p:cNvSpPr txBox="1"/>
          <p:nvPr/>
        </p:nvSpPr>
        <p:spPr>
          <a:xfrm>
            <a:off x="853502" y="6602868"/>
            <a:ext cx="16644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hlinkClick r:id="rId4"/>
              </a:rPr>
              <a:t>Link simulación</a:t>
            </a:r>
            <a:endParaRPr lang="es-CO" sz="1200" dirty="0"/>
          </a:p>
        </p:txBody>
      </p:sp>
    </p:spTree>
    <p:extLst>
      <p:ext uri="{BB962C8B-B14F-4D97-AF65-F5344CB8AC3E}">
        <p14:creationId xmlns:p14="http://schemas.microsoft.com/office/powerpoint/2010/main" val="41081458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51520" y="116632"/>
            <a:ext cx="8892480" cy="1215008"/>
          </a:xfrm>
        </p:spPr>
        <p:txBody>
          <a:bodyPr>
            <a:normAutofit/>
          </a:bodyPr>
          <a:lstStyle/>
          <a:p>
            <a:r>
              <a:rPr lang="es-CO" dirty="0"/>
              <a:t>Ventajas de la modularización</a:t>
            </a:r>
          </a:p>
        </p:txBody>
      </p:sp>
      <p:sp>
        <p:nvSpPr>
          <p:cNvPr id="13" name="12 Rectángulo"/>
          <p:cNvSpPr/>
          <p:nvPr/>
        </p:nvSpPr>
        <p:spPr>
          <a:xfrm>
            <a:off x="251520" y="1110442"/>
            <a:ext cx="8819174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dirty="0"/>
              <a:t>Proporciona abstracción.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dirty="0"/>
              <a:t>Permite el trabajo simultaneo de múltiples programadores.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dirty="0"/>
              <a:t>Permite el reuso de código.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dirty="0"/>
              <a:t>Facilita la identifición de estructuras mas fácilmente.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38E0BD8-BA99-493A-BAD7-2AE2BF3904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552" y="2708920"/>
            <a:ext cx="3240360" cy="1573173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08BB803D-6CFB-4AF4-9050-5FBE1FC2E8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9624" y="2708920"/>
            <a:ext cx="3830767" cy="1517430"/>
          </a:xfrm>
          <a:prstGeom prst="rect">
            <a:avLst/>
          </a:prstGeom>
        </p:spPr>
      </p:pic>
      <p:pic>
        <p:nvPicPr>
          <p:cNvPr id="18" name="Imagen 17">
            <a:extLst>
              <a:ext uri="{FF2B5EF4-FFF2-40B4-BE49-F238E27FC236}">
                <a16:creationId xmlns:a16="http://schemas.microsoft.com/office/drawing/2014/main" id="{BC2F8CAF-7D79-41BE-B798-E68B759A9C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552" y="4661618"/>
            <a:ext cx="3240360" cy="1424191"/>
          </a:xfrm>
          <a:prstGeom prst="rect">
            <a:avLst/>
          </a:prstGeom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EF2F40FD-3617-4604-8F9B-762FC3D64A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8777" y="4675266"/>
            <a:ext cx="3952460" cy="1410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93796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51520" y="116632"/>
            <a:ext cx="8892480" cy="864096"/>
          </a:xfrm>
        </p:spPr>
        <p:txBody>
          <a:bodyPr>
            <a:normAutofit/>
          </a:bodyPr>
          <a:lstStyle/>
          <a:p>
            <a:r>
              <a:rPr lang="es-CO" dirty="0"/>
              <a:t>Abstracción</a:t>
            </a:r>
          </a:p>
        </p:txBody>
      </p:sp>
      <p:sp>
        <p:nvSpPr>
          <p:cNvPr id="13" name="12 Rectángulo"/>
          <p:cNvSpPr/>
          <p:nvPr/>
        </p:nvSpPr>
        <p:spPr>
          <a:xfrm>
            <a:off x="251520" y="947152"/>
            <a:ext cx="8424936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dirty="0"/>
              <a:t>Permite enfocarse en las propiedades importantes ignorando los detalles no esenciales.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dirty="0"/>
              <a:t>Evita detalles de bajo nivel y usa un enfoque de alto nivel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dirty="0"/>
              <a:t>Hace que tareas complejas parezcan simples.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b="1" dirty="0"/>
              <a:t>Ejemplo</a:t>
            </a:r>
            <a:r>
              <a:rPr lang="es-MX" sz="2000" dirty="0"/>
              <a:t>: Lista de tareas pendientes (To Do List)</a:t>
            </a:r>
          </a:p>
        </p:txBody>
      </p:sp>
      <p:graphicFrame>
        <p:nvGraphicFramePr>
          <p:cNvPr id="2" name="Tabla 2">
            <a:extLst>
              <a:ext uri="{FF2B5EF4-FFF2-40B4-BE49-F238E27FC236}">
                <a16:creationId xmlns:a16="http://schemas.microsoft.com/office/drawing/2014/main" id="{B0448D64-7860-409B-A682-B54897D7F1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6913379"/>
              </p:ext>
            </p:extLst>
          </p:nvPr>
        </p:nvGraphicFramePr>
        <p:xfrm>
          <a:off x="946473" y="3217461"/>
          <a:ext cx="2232248" cy="1686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32248">
                  <a:extLst>
                    <a:ext uri="{9D8B030D-6E8A-4147-A177-3AD203B41FA5}">
                      <a16:colId xmlns:a16="http://schemas.microsoft.com/office/drawing/2014/main" val="2965325740"/>
                    </a:ext>
                  </a:extLst>
                </a:gridCol>
              </a:tblGrid>
              <a:tr h="135449">
                <a:tc>
                  <a:txBody>
                    <a:bodyPr/>
                    <a:lstStyle/>
                    <a:p>
                      <a:pPr algn="ctr"/>
                      <a:r>
                        <a:rPr lang="es-CO" sz="1800" b="1" dirty="0">
                          <a:solidFill>
                            <a:schemeClr val="bg1"/>
                          </a:solidFill>
                        </a:rPr>
                        <a:t>Con abstracción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6137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ü"/>
                      </a:pPr>
                      <a:r>
                        <a:rPr lang="es-CO" sz="1600" b="1" dirty="0">
                          <a:solidFill>
                            <a:srgbClr val="C00000"/>
                          </a:solidFill>
                        </a:rPr>
                        <a:t>Lavar la ropa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2659833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ü"/>
                      </a:pPr>
                      <a:r>
                        <a:rPr lang="es-MX" sz="1600" b="1" dirty="0">
                          <a:solidFill>
                            <a:schemeClr val="accent4"/>
                          </a:solidFill>
                        </a:rPr>
                        <a:t>Llamar a la abuela</a:t>
                      </a:r>
                      <a:endParaRPr lang="es-CO" sz="1600" b="1" dirty="0">
                        <a:solidFill>
                          <a:schemeClr val="accent4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4960908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ü"/>
                      </a:pPr>
                      <a:r>
                        <a:rPr lang="es-CO" sz="1600" b="1" dirty="0">
                          <a:solidFill>
                            <a:schemeClr val="accent2"/>
                          </a:solidFill>
                        </a:rPr>
                        <a:t>Empezar el trabajo final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34091473"/>
                  </a:ext>
                </a:extLst>
              </a:tr>
            </a:tbl>
          </a:graphicData>
        </a:graphic>
      </p:graphicFrame>
      <p:graphicFrame>
        <p:nvGraphicFramePr>
          <p:cNvPr id="9" name="Tabla 2">
            <a:extLst>
              <a:ext uri="{FF2B5EF4-FFF2-40B4-BE49-F238E27FC236}">
                <a16:creationId xmlns:a16="http://schemas.microsoft.com/office/drawing/2014/main" id="{F3B08988-38C9-4B0F-966A-F64FCA2F6D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4151420"/>
              </p:ext>
            </p:extLst>
          </p:nvPr>
        </p:nvGraphicFramePr>
        <p:xfrm>
          <a:off x="5148064" y="2924944"/>
          <a:ext cx="3333700" cy="33324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333700">
                  <a:extLst>
                    <a:ext uri="{9D8B030D-6E8A-4147-A177-3AD203B41FA5}">
                      <a16:colId xmlns:a16="http://schemas.microsoft.com/office/drawing/2014/main" val="2965325740"/>
                    </a:ext>
                  </a:extLst>
                </a:gridCol>
              </a:tblGrid>
              <a:tr h="262509">
                <a:tc>
                  <a:txBody>
                    <a:bodyPr/>
                    <a:lstStyle/>
                    <a:p>
                      <a:pPr algn="ctr"/>
                      <a:r>
                        <a:rPr lang="es-CO" sz="1800" b="1" dirty="0">
                          <a:solidFill>
                            <a:schemeClr val="bg1"/>
                          </a:solidFill>
                        </a:rPr>
                        <a:t>Sin abstracción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6137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s-MX" sz="1600" dirty="0">
                          <a:solidFill>
                            <a:srgbClr val="C00000"/>
                          </a:solidFill>
                        </a:rPr>
                        <a:t>Recoger la canasta de ropa</a:t>
                      </a:r>
                      <a:endParaRPr lang="es-CO" sz="16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2659833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s-MX" sz="1600" dirty="0">
                          <a:solidFill>
                            <a:srgbClr val="C00000"/>
                          </a:solidFill>
                        </a:rPr>
                        <a:t>Poner la canasta en el carro</a:t>
                      </a:r>
                      <a:endParaRPr lang="es-CO" sz="16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4960908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s-CO" sz="1600" dirty="0">
                          <a:solidFill>
                            <a:srgbClr val="C00000"/>
                          </a:solidFill>
                        </a:rPr>
                        <a:t>Conducir hasta la lavandería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7340914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s-MX" sz="1600" dirty="0">
                          <a:solidFill>
                            <a:srgbClr val="C00000"/>
                          </a:solidFill>
                        </a:rPr>
                        <a:t>Bajarse del carro con la canasta</a:t>
                      </a:r>
                      <a:endParaRPr lang="es-CO" sz="16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67923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s-CO" sz="1600" dirty="0">
                          <a:solidFill>
                            <a:srgbClr val="C00000"/>
                          </a:solidFill>
                        </a:rPr>
                        <a:t>Entrar a la lavandería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4539028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s-MX" sz="1600" dirty="0">
                          <a:solidFill>
                            <a:srgbClr val="C00000"/>
                          </a:solidFill>
                        </a:rPr>
                        <a:t>Dejar la canasta en el suelo</a:t>
                      </a:r>
                      <a:endParaRPr lang="es-CO" sz="16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4011427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s-MX" sz="1600" dirty="0">
                          <a:solidFill>
                            <a:srgbClr val="C00000"/>
                          </a:solidFill>
                        </a:rPr>
                        <a:t>Buscar monedas para la lavadora</a:t>
                      </a:r>
                      <a:endParaRPr lang="es-CO" sz="16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6168056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es-CO" sz="1600" dirty="0">
                          <a:solidFill>
                            <a:schemeClr val="tx1"/>
                          </a:solidFill>
                        </a:rPr>
                        <a:t>... y así sucesivamente.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45068095"/>
                  </a:ext>
                </a:extLst>
              </a:tr>
            </a:tbl>
          </a:graphicData>
        </a:graphic>
      </p:graphicFrame>
      <p:sp>
        <p:nvSpPr>
          <p:cNvPr id="3" name="Abrir llave 2">
            <a:extLst>
              <a:ext uri="{FF2B5EF4-FFF2-40B4-BE49-F238E27FC236}">
                <a16:creationId xmlns:a16="http://schemas.microsoft.com/office/drawing/2014/main" id="{EFE2911F-BB23-462C-96DD-A7764F780AA1}"/>
              </a:ext>
            </a:extLst>
          </p:cNvPr>
          <p:cNvSpPr/>
          <p:nvPr/>
        </p:nvSpPr>
        <p:spPr>
          <a:xfrm>
            <a:off x="4901704" y="3305096"/>
            <a:ext cx="123180" cy="2592288"/>
          </a:xfrm>
          <a:prstGeom prst="leftBrace">
            <a:avLst>
              <a:gd name="adj1" fmla="val 34541"/>
              <a:gd name="adj2" fmla="val 50000"/>
            </a:avLst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2" name="Abrir llave 11">
            <a:extLst>
              <a:ext uri="{FF2B5EF4-FFF2-40B4-BE49-F238E27FC236}">
                <a16:creationId xmlns:a16="http://schemas.microsoft.com/office/drawing/2014/main" id="{AFABD951-A2C5-410E-A0BB-450A896772A7}"/>
              </a:ext>
            </a:extLst>
          </p:cNvPr>
          <p:cNvSpPr/>
          <p:nvPr/>
        </p:nvSpPr>
        <p:spPr>
          <a:xfrm flipH="1">
            <a:off x="3240311" y="3607877"/>
            <a:ext cx="123180" cy="426640"/>
          </a:xfrm>
          <a:prstGeom prst="leftBrace">
            <a:avLst>
              <a:gd name="adj1" fmla="val 34541"/>
              <a:gd name="adj2" fmla="val 50000"/>
            </a:avLst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5FFD2E2B-0F5B-4448-8F3D-41F1C42F4E54}"/>
              </a:ext>
            </a:extLst>
          </p:cNvPr>
          <p:cNvCxnSpPr>
            <a:cxnSpLocks/>
          </p:cNvCxnSpPr>
          <p:nvPr/>
        </p:nvCxnSpPr>
        <p:spPr>
          <a:xfrm>
            <a:off x="3467100" y="3821530"/>
            <a:ext cx="1319213" cy="776287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CuadroTexto 27">
            <a:extLst>
              <a:ext uri="{FF2B5EF4-FFF2-40B4-BE49-F238E27FC236}">
                <a16:creationId xmlns:a16="http://schemas.microsoft.com/office/drawing/2014/main" id="{84C6E467-E10E-48F1-991C-152A1DC26116}"/>
              </a:ext>
            </a:extLst>
          </p:cNvPr>
          <p:cNvSpPr txBox="1"/>
          <p:nvPr/>
        </p:nvSpPr>
        <p:spPr>
          <a:xfrm>
            <a:off x="45715" y="6470223"/>
            <a:ext cx="816198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Adaptado de</a:t>
            </a:r>
            <a:r>
              <a:rPr lang="en-US" sz="1400" dirty="0"/>
              <a:t>: Farrell, J. Programming Logic and Design, Introductory, 4th ed. Cengage.</a:t>
            </a:r>
            <a:endParaRPr lang="es-CO" sz="1400" dirty="0"/>
          </a:p>
        </p:txBody>
      </p:sp>
    </p:spTree>
    <p:extLst>
      <p:ext uri="{BB962C8B-B14F-4D97-AF65-F5344CB8AC3E}">
        <p14:creationId xmlns:p14="http://schemas.microsoft.com/office/powerpoint/2010/main" val="24510107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51520" y="116632"/>
            <a:ext cx="8892480" cy="864096"/>
          </a:xfrm>
        </p:spPr>
        <p:txBody>
          <a:bodyPr>
            <a:normAutofit/>
          </a:bodyPr>
          <a:lstStyle/>
          <a:p>
            <a:r>
              <a:rPr lang="es-CO" dirty="0"/>
              <a:t>Trabajo simultaneo</a:t>
            </a:r>
          </a:p>
        </p:txBody>
      </p:sp>
      <p:sp>
        <p:nvSpPr>
          <p:cNvPr id="13" name="12 Rectángulo"/>
          <p:cNvSpPr/>
          <p:nvPr/>
        </p:nvSpPr>
        <p:spPr>
          <a:xfrm>
            <a:off x="251520" y="947152"/>
            <a:ext cx="8424936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dirty="0"/>
              <a:t>Los proyectos de programación grandes pueden ser divididos en módulos.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dirty="0"/>
              <a:t>Los módulos pueden ser escritos por diferentes programadores.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dirty="0"/>
              <a:t>El tiempo de desarrollo se reduce significativamente.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131A64F8-273B-48D7-9323-CFFFD07F9B0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584" y="2522655"/>
            <a:ext cx="5339533" cy="3006883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170D2931-9982-422E-901B-FE3AD6E044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2240" y="2480406"/>
            <a:ext cx="1739115" cy="3091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7575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51520" y="116632"/>
            <a:ext cx="8892480" cy="864096"/>
          </a:xfrm>
        </p:spPr>
        <p:txBody>
          <a:bodyPr>
            <a:normAutofit/>
          </a:bodyPr>
          <a:lstStyle/>
          <a:p>
            <a:r>
              <a:rPr lang="es-CO" dirty="0"/>
              <a:t>Reutilización y confiabilidad</a:t>
            </a:r>
          </a:p>
        </p:txBody>
      </p:sp>
      <p:sp>
        <p:nvSpPr>
          <p:cNvPr id="13" name="12 Rectángulo"/>
          <p:cNvSpPr/>
          <p:nvPr/>
        </p:nvSpPr>
        <p:spPr>
          <a:xfrm>
            <a:off x="251520" y="1697433"/>
            <a:ext cx="3960440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b="1" dirty="0"/>
              <a:t>Reutilización</a:t>
            </a:r>
            <a:r>
              <a:rPr lang="es-MX" sz="2000" dirty="0"/>
              <a:t>: capacidad de usar módulos en una variedad de aplicaciones.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b="1" dirty="0"/>
              <a:t>Confiabilidad</a:t>
            </a:r>
            <a:r>
              <a:rPr lang="es-MX" sz="2000" dirty="0"/>
              <a:t>: garantía de que un módulo ha sido probado y ha demostrado funcionar correctamente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CAD38ED-1C4F-4CF0-B02D-4EBBB9BCF0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8701" y="1657695"/>
            <a:ext cx="4320482" cy="2413394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E3BD8CBB-A464-4F41-94BA-DAFF151D80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8156" y="4226545"/>
            <a:ext cx="4320480" cy="2413394"/>
          </a:xfrm>
          <a:prstGeom prst="rect">
            <a:avLst/>
          </a:prstGeom>
        </p:spPr>
      </p:pic>
      <p:sp>
        <p:nvSpPr>
          <p:cNvPr id="10" name="12 Rectángulo">
            <a:extLst>
              <a:ext uri="{FF2B5EF4-FFF2-40B4-BE49-F238E27FC236}">
                <a16:creationId xmlns:a16="http://schemas.microsoft.com/office/drawing/2014/main" id="{E87468A7-8C11-41BC-BC2F-252EF00F2B64}"/>
              </a:ext>
            </a:extLst>
          </p:cNvPr>
          <p:cNvSpPr/>
          <p:nvPr/>
        </p:nvSpPr>
        <p:spPr>
          <a:xfrm>
            <a:off x="251520" y="949809"/>
            <a:ext cx="864096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MX" sz="2000" dirty="0"/>
              <a:t>Al modularizar, es posible aprovechar código previamente creado para hacer nuevas cosas:</a:t>
            </a:r>
          </a:p>
        </p:txBody>
      </p:sp>
    </p:spTree>
    <p:extLst>
      <p:ext uri="{BB962C8B-B14F-4D97-AF65-F5344CB8AC3E}">
        <p14:creationId xmlns:p14="http://schemas.microsoft.com/office/powerpoint/2010/main" val="14596155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51520" y="116632"/>
            <a:ext cx="8892480" cy="864096"/>
          </a:xfrm>
        </p:spPr>
        <p:txBody>
          <a:bodyPr>
            <a:normAutofit fontScale="90000"/>
          </a:bodyPr>
          <a:lstStyle/>
          <a:p>
            <a:r>
              <a:rPr lang="es-CO" dirty="0"/>
              <a:t>Facilitando la identificación de estructuras</a:t>
            </a:r>
          </a:p>
        </p:txBody>
      </p:sp>
      <p:sp>
        <p:nvSpPr>
          <p:cNvPr id="13" name="12 Rectángulo"/>
          <p:cNvSpPr/>
          <p:nvPr/>
        </p:nvSpPr>
        <p:spPr>
          <a:xfrm>
            <a:off x="251520" y="839324"/>
            <a:ext cx="8640960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rtl="0">
              <a:buFont typeface="Arial" panose="020B0604020202020204" pitchFamily="34" charset="0"/>
              <a:buChar char="•"/>
            </a:pPr>
            <a:r>
              <a:rPr lang="es-MX" sz="2000" dirty="0"/>
              <a:t>Agrupar varias tareas en módulos puede facilitar que los programadores principiantes: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MX" sz="2000" dirty="0"/>
              <a:t>Determinen si un programa es estructurado.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MX" sz="2000" dirty="0"/>
              <a:t>Identifiquen las estructuras de un programa.</a:t>
            </a:r>
          </a:p>
          <a:p>
            <a:pPr marL="285750" indent="-285750" rtl="0">
              <a:buFont typeface="Arial" panose="020B0604020202020204" pitchFamily="34" charset="0"/>
              <a:buChar char="•"/>
            </a:pPr>
            <a:r>
              <a:rPr lang="es-MX" sz="2000" dirty="0"/>
              <a:t>Los programadores experimentados modularizan por la abstracción, la facilidad para dividir el trabajo y la reutilización.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D7759537-55CF-41B0-BEB6-98C2C269BD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120" y="2852936"/>
            <a:ext cx="6948264" cy="3881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2696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51520" y="116632"/>
            <a:ext cx="8892480" cy="864096"/>
          </a:xfrm>
        </p:spPr>
        <p:txBody>
          <a:bodyPr>
            <a:normAutofit/>
          </a:bodyPr>
          <a:lstStyle/>
          <a:p>
            <a:r>
              <a:rPr lang="es-CO" dirty="0"/>
              <a:t>Modularizando un programa</a:t>
            </a:r>
          </a:p>
        </p:txBody>
      </p:sp>
      <p:sp>
        <p:nvSpPr>
          <p:cNvPr id="13" name="12 Rectángulo"/>
          <p:cNvSpPr/>
          <p:nvPr/>
        </p:nvSpPr>
        <p:spPr>
          <a:xfrm>
            <a:off x="251520" y="908720"/>
            <a:ext cx="8424936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dirty="0"/>
              <a:t>La mayoría de los programas contienen un </a:t>
            </a:r>
            <a:r>
              <a:rPr lang="es-MX" sz="2000" b="1" dirty="0"/>
              <a:t>módulo principal</a:t>
            </a:r>
            <a:r>
              <a:rPr lang="es-MX" sz="2000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MX" sz="2000" dirty="0"/>
              <a:t>Contiene la </a:t>
            </a:r>
            <a:r>
              <a:rPr lang="es-MX" sz="2000" b="1" dirty="0"/>
              <a:t>lógica principal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MX" sz="2000" dirty="0"/>
              <a:t>Accede a otros módulos o subrutinas.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1F5A312-216E-4834-965F-E412A44DA7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596" y="2060848"/>
            <a:ext cx="7524328" cy="4203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08642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51520" y="116632"/>
            <a:ext cx="8892480" cy="864096"/>
          </a:xfrm>
        </p:spPr>
        <p:txBody>
          <a:bodyPr>
            <a:normAutofit/>
          </a:bodyPr>
          <a:lstStyle/>
          <a:p>
            <a:r>
              <a:rPr lang="es-CO" dirty="0"/>
              <a:t>Nombrando módulos</a:t>
            </a:r>
          </a:p>
        </p:txBody>
      </p:sp>
      <p:sp>
        <p:nvSpPr>
          <p:cNvPr id="13" name="12 Rectángulo"/>
          <p:cNvSpPr/>
          <p:nvPr/>
        </p:nvSpPr>
        <p:spPr>
          <a:xfrm>
            <a:off x="266924" y="828631"/>
            <a:ext cx="8625556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dirty="0"/>
              <a:t>Para nombrar módulos (funciones) se recomienda seguir las siguientes recomendaciones: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MX" sz="2000" dirty="0"/>
              <a:t>El nombre debe ser de una sola palabra.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MX" sz="2000" dirty="0"/>
              <a:t>El nombre debe ser significativo.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MX" sz="2000" dirty="0"/>
              <a:t>Van seguidos de un par de paréntesis.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b="1" dirty="0"/>
              <a:t>Ejemplo</a:t>
            </a:r>
            <a:r>
              <a:rPr lang="es-MX" sz="2000" dirty="0"/>
              <a:t>: Nombres válidos e inválidos para un módulo que calcula el salario bruto de un empleado</a:t>
            </a: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A39FA8AA-0BE6-4AF0-91D5-82F66D04B4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2129868"/>
              </p:ext>
            </p:extLst>
          </p:nvPr>
        </p:nvGraphicFramePr>
        <p:xfrm>
          <a:off x="467544" y="3140968"/>
          <a:ext cx="8341034" cy="3383280"/>
        </p:xfrm>
        <a:graphic>
          <a:graphicData uri="http://schemas.openxmlformats.org/drawingml/2006/table">
            <a:tbl>
              <a:tblPr/>
              <a:tblGrid>
                <a:gridCol w="4756038">
                  <a:extLst>
                    <a:ext uri="{9D8B030D-6E8A-4147-A177-3AD203B41FA5}">
                      <a16:colId xmlns:a16="http://schemas.microsoft.com/office/drawing/2014/main" val="2578708731"/>
                    </a:ext>
                  </a:extLst>
                </a:gridCol>
                <a:gridCol w="3584996">
                  <a:extLst>
                    <a:ext uri="{9D8B030D-6E8A-4147-A177-3AD203B41FA5}">
                      <a16:colId xmlns:a16="http://schemas.microsoft.com/office/drawing/2014/main" val="40358916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s-MX" sz="1800" b="1" dirty="0">
                          <a:solidFill>
                            <a:schemeClr val="bg1"/>
                          </a:solidFill>
                        </a:rPr>
                        <a:t>Nombres sugeridos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800" b="1" dirty="0">
                          <a:solidFill>
                            <a:schemeClr val="bg1"/>
                          </a:solidFill>
                        </a:rPr>
                        <a:t>Comentarios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410498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600">
                          <a:latin typeface="Consolas" panose="020B0609020204030204" pitchFamily="49" charset="0"/>
                        </a:rPr>
                        <a:t>calcular_salario_bruto()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800" b="1" dirty="0">
                          <a:solidFill>
                            <a:srgbClr val="00B050"/>
                          </a:solidFill>
                        </a:rPr>
                        <a:t>Bueno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3119011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600" dirty="0">
                          <a:latin typeface="Consolas" panose="020B0609020204030204" pitchFamily="49" charset="0"/>
                        </a:rPr>
                        <a:t>calcular_bruto()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MX" sz="1800" b="1" dirty="0">
                          <a:solidFill>
                            <a:srgbClr val="00B050"/>
                          </a:solidFill>
                        </a:rPr>
                        <a:t>Bueno</a:t>
                      </a:r>
                      <a:r>
                        <a:rPr lang="es-MX" sz="1800" dirty="0"/>
                        <a:t>: la mayoría interpretaría "bruto" como abreviatura de "salario bruto"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9847246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600">
                          <a:latin typeface="Consolas" panose="020B0609020204030204" pitchFamily="49" charset="0"/>
                        </a:rPr>
                        <a:t>cal_sal_br()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800" b="1" dirty="0">
                          <a:solidFill>
                            <a:schemeClr val="accent6"/>
                          </a:solidFill>
                        </a:rPr>
                        <a:t>Válido</a:t>
                      </a:r>
                      <a:r>
                        <a:rPr lang="es-CO" sz="1800" dirty="0"/>
                        <a:t>, pero críptico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539238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1600">
                          <a:latin typeface="Consolas" panose="020B0609020204030204" pitchFamily="49" charset="0"/>
                        </a:rPr>
                        <a:t>calcular_salario_bruto_para_un_empleado()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800" b="1" dirty="0">
                          <a:solidFill>
                            <a:schemeClr val="accent6"/>
                          </a:solidFill>
                        </a:rPr>
                        <a:t>Válido</a:t>
                      </a:r>
                      <a:r>
                        <a:rPr lang="es-CO" sz="1800" dirty="0"/>
                        <a:t>, pero torpe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673884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600">
                          <a:latin typeface="Consolas" panose="020B0609020204030204" pitchFamily="49" charset="0"/>
                        </a:rPr>
                        <a:t>calcular bruto()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MX" sz="1800" b="1" dirty="0">
                          <a:solidFill>
                            <a:srgbClr val="FF0000"/>
                          </a:solidFill>
                        </a:rPr>
                        <a:t>No válido</a:t>
                      </a:r>
                      <a:r>
                        <a:rPr lang="es-MX" sz="1800" dirty="0"/>
                        <a:t>: contiene un espacio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168233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600" dirty="0" err="1">
                          <a:latin typeface="Consolas" panose="020B0609020204030204" pitchFamily="49" charset="0"/>
                        </a:rPr>
                        <a:t>calcularsalariobruto</a:t>
                      </a:r>
                      <a:r>
                        <a:rPr lang="es-CO" sz="1600" dirty="0">
                          <a:latin typeface="Consolas" panose="020B0609020204030204" pitchFamily="49" charset="0"/>
                        </a:rPr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MX" sz="1800" b="1" dirty="0">
                          <a:solidFill>
                            <a:schemeClr val="accent6"/>
                          </a:solidFill>
                        </a:rPr>
                        <a:t>Válido</a:t>
                      </a:r>
                      <a:r>
                        <a:rPr lang="es-MX" sz="1800" dirty="0"/>
                        <a:t>, pero difícil de leer sin separadores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048194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192648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51520" y="116632"/>
            <a:ext cx="8892480" cy="864096"/>
          </a:xfrm>
        </p:spPr>
        <p:txBody>
          <a:bodyPr>
            <a:normAutofit/>
          </a:bodyPr>
          <a:lstStyle/>
          <a:p>
            <a:r>
              <a:rPr lang="es-CO" dirty="0"/>
              <a:t>Función llamadora y función llamada</a:t>
            </a:r>
          </a:p>
        </p:txBody>
      </p:sp>
      <p:sp>
        <p:nvSpPr>
          <p:cNvPr id="13" name="12 Rectángulo"/>
          <p:cNvSpPr/>
          <p:nvPr/>
        </p:nvSpPr>
        <p:spPr>
          <a:xfrm>
            <a:off x="228328" y="913944"/>
            <a:ext cx="8664152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b="1" dirty="0"/>
              <a:t>Función llamadora</a:t>
            </a:r>
            <a:r>
              <a:rPr lang="es-MX" sz="2000" dirty="0"/>
              <a:t>: la que usa (llama a) otra función.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b="1" dirty="0"/>
              <a:t>Función llamada</a:t>
            </a:r>
            <a:r>
              <a:rPr lang="es-MX" sz="2000" dirty="0"/>
              <a:t>: la que es usada por otra.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dirty="0"/>
              <a:t>Flujo de ejecución de un programa con funciones: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MX" sz="2000" dirty="0"/>
              <a:t>Al llamar a una función, el control pasa a esta (función llamada)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MX" sz="2000" dirty="0"/>
              <a:t>Al terminar (</a:t>
            </a:r>
            <a:r>
              <a:rPr lang="es-MX" b="1" dirty="0">
                <a:latin typeface="Consolas" panose="020B0609020204030204" pitchFamily="49" charset="0"/>
              </a:rPr>
              <a:t>return</a:t>
            </a:r>
            <a:r>
              <a:rPr lang="es-MX" sz="2000" dirty="0"/>
              <a:t>), el control vuelve a quien la llamó (función llamadora).</a:t>
            </a:r>
          </a:p>
        </p:txBody>
      </p:sp>
      <p:grpSp>
        <p:nvGrpSpPr>
          <p:cNvPr id="25" name="Grupo 24">
            <a:extLst>
              <a:ext uri="{FF2B5EF4-FFF2-40B4-BE49-F238E27FC236}">
                <a16:creationId xmlns:a16="http://schemas.microsoft.com/office/drawing/2014/main" id="{A4A2B12D-A6E3-4D1D-8E12-F24D06AE4A42}"/>
              </a:ext>
            </a:extLst>
          </p:cNvPr>
          <p:cNvGrpSpPr/>
          <p:nvPr/>
        </p:nvGrpSpPr>
        <p:grpSpPr>
          <a:xfrm>
            <a:off x="3983103" y="3084200"/>
            <a:ext cx="4989893" cy="3300784"/>
            <a:chOff x="2326919" y="3044240"/>
            <a:chExt cx="4989893" cy="3300784"/>
          </a:xfrm>
        </p:grpSpPr>
        <p:pic>
          <p:nvPicPr>
            <p:cNvPr id="6" name="Imagen 5">
              <a:extLst>
                <a:ext uri="{FF2B5EF4-FFF2-40B4-BE49-F238E27FC236}">
                  <a16:creationId xmlns:a16="http://schemas.microsoft.com/office/drawing/2014/main" id="{84ACCE3F-2C96-4945-B249-C148F49DDF4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26919" y="3176672"/>
              <a:ext cx="1731897" cy="3168352"/>
            </a:xfrm>
            <a:prstGeom prst="rect">
              <a:avLst/>
            </a:prstGeom>
          </p:spPr>
        </p:pic>
        <p:pic>
          <p:nvPicPr>
            <p:cNvPr id="8" name="Imagen 7">
              <a:extLst>
                <a:ext uri="{FF2B5EF4-FFF2-40B4-BE49-F238E27FC236}">
                  <a16:creationId xmlns:a16="http://schemas.microsoft.com/office/drawing/2014/main" id="{49425F4D-D3B4-491C-AC5E-5359033640F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35512" y="3101008"/>
              <a:ext cx="2781300" cy="3200400"/>
            </a:xfrm>
            <a:prstGeom prst="rect">
              <a:avLst/>
            </a:prstGeom>
          </p:spPr>
        </p:pic>
        <p:cxnSp>
          <p:nvCxnSpPr>
            <p:cNvPr id="10" name="Conector recto de flecha 9">
              <a:extLst>
                <a:ext uri="{FF2B5EF4-FFF2-40B4-BE49-F238E27FC236}">
                  <a16:creationId xmlns:a16="http://schemas.microsoft.com/office/drawing/2014/main" id="{725CDE1B-55E0-44CA-A6C6-2B52A5ED3310}"/>
                </a:ext>
              </a:extLst>
            </p:cNvPr>
            <p:cNvCxnSpPr>
              <a:cxnSpLocks/>
            </p:cNvCxnSpPr>
            <p:nvPr/>
          </p:nvCxnSpPr>
          <p:spPr>
            <a:xfrm>
              <a:off x="4046396" y="3044240"/>
              <a:ext cx="0" cy="1408112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recto de flecha 13">
              <a:extLst>
                <a:ext uri="{FF2B5EF4-FFF2-40B4-BE49-F238E27FC236}">
                  <a16:creationId xmlns:a16="http://schemas.microsoft.com/office/drawing/2014/main" id="{B21056E4-AD01-401C-96FD-FB9EEDCF1595}"/>
                </a:ext>
              </a:extLst>
            </p:cNvPr>
            <p:cNvCxnSpPr>
              <a:cxnSpLocks/>
            </p:cNvCxnSpPr>
            <p:nvPr/>
          </p:nvCxnSpPr>
          <p:spPr>
            <a:xfrm>
              <a:off x="4054016" y="5177160"/>
              <a:ext cx="0" cy="792088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recto de flecha 14">
              <a:extLst>
                <a:ext uri="{FF2B5EF4-FFF2-40B4-BE49-F238E27FC236}">
                  <a16:creationId xmlns:a16="http://schemas.microsoft.com/office/drawing/2014/main" id="{0B4A21D3-37ED-4446-99B9-F4E4FABA4C1B}"/>
                </a:ext>
              </a:extLst>
            </p:cNvPr>
            <p:cNvCxnSpPr>
              <a:cxnSpLocks/>
            </p:cNvCxnSpPr>
            <p:nvPr/>
          </p:nvCxnSpPr>
          <p:spPr>
            <a:xfrm>
              <a:off x="4860032" y="3669680"/>
              <a:ext cx="0" cy="1955564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recto 17">
              <a:extLst>
                <a:ext uri="{FF2B5EF4-FFF2-40B4-BE49-F238E27FC236}">
                  <a16:creationId xmlns:a16="http://schemas.microsoft.com/office/drawing/2014/main" id="{DDB0493C-6809-4031-848E-3F5CD816B0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4016" y="3683000"/>
              <a:ext cx="797384" cy="77408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recto 20">
              <a:extLst>
                <a:ext uri="{FF2B5EF4-FFF2-40B4-BE49-F238E27FC236}">
                  <a16:creationId xmlns:a16="http://schemas.microsoft.com/office/drawing/2014/main" id="{A7BC31B7-3D48-43F2-B041-8E04A600F672}"/>
                </a:ext>
              </a:extLst>
            </p:cNvPr>
            <p:cNvCxnSpPr>
              <a:cxnSpLocks/>
            </p:cNvCxnSpPr>
            <p:nvPr/>
          </p:nvCxnSpPr>
          <p:spPr>
            <a:xfrm>
              <a:off x="4058816" y="5187360"/>
              <a:ext cx="798934" cy="42604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CuadroTexto 25">
            <a:extLst>
              <a:ext uri="{FF2B5EF4-FFF2-40B4-BE49-F238E27FC236}">
                <a16:creationId xmlns:a16="http://schemas.microsoft.com/office/drawing/2014/main" id="{18E9F37C-B981-4093-8DF4-8801C24DE113}"/>
              </a:ext>
            </a:extLst>
          </p:cNvPr>
          <p:cNvSpPr txBox="1"/>
          <p:nvPr/>
        </p:nvSpPr>
        <p:spPr>
          <a:xfrm>
            <a:off x="140980" y="3689548"/>
            <a:ext cx="3679340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CO" sz="1200" dirty="0">
                <a:latin typeface="Consolas" panose="020B0609020204030204" pitchFamily="49" charset="0"/>
              </a:rPr>
              <a:t>def </a:t>
            </a:r>
            <a:r>
              <a:rPr lang="es-CO" sz="1200" dirty="0" err="1">
                <a:latin typeface="Consolas" panose="020B0609020204030204" pitchFamily="49" charset="0"/>
              </a:rPr>
              <a:t>celcius_to_fahrenheit</a:t>
            </a:r>
            <a:r>
              <a:rPr lang="es-CO" sz="1200" dirty="0">
                <a:latin typeface="Consolas" panose="020B0609020204030204" pitchFamily="49" charset="0"/>
              </a:rPr>
              <a:t>(c):    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  f = (9.0/5)*c + 32    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  return f</a:t>
            </a:r>
          </a:p>
          <a:p>
            <a:endParaRPr lang="es-CO" sz="1200" dirty="0">
              <a:latin typeface="Consolas" panose="020B0609020204030204" pitchFamily="49" charset="0"/>
            </a:endParaRPr>
          </a:p>
          <a:p>
            <a:r>
              <a:rPr lang="es-CO" sz="1200" dirty="0" err="1">
                <a:latin typeface="Consolas" panose="020B0609020204030204" pitchFamily="49" charset="0"/>
              </a:rPr>
              <a:t>temp_c</a:t>
            </a:r>
            <a:r>
              <a:rPr lang="es-CO" sz="1200" dirty="0">
                <a:latin typeface="Consolas" panose="020B0609020204030204" pitchFamily="49" charset="0"/>
              </a:rPr>
              <a:t> = float(input("Ingrese los °C: "))</a:t>
            </a:r>
          </a:p>
          <a:p>
            <a:r>
              <a:rPr lang="es-CO" sz="1200" dirty="0" err="1">
                <a:latin typeface="Consolas" panose="020B0609020204030204" pitchFamily="49" charset="0"/>
              </a:rPr>
              <a:t>temp_f</a:t>
            </a:r>
            <a:r>
              <a:rPr lang="es-CO" sz="1200" dirty="0">
                <a:latin typeface="Consolas" panose="020B0609020204030204" pitchFamily="49" charset="0"/>
              </a:rPr>
              <a:t> = </a:t>
            </a:r>
            <a:r>
              <a:rPr lang="es-CO" sz="1200" dirty="0" err="1">
                <a:latin typeface="Consolas" panose="020B0609020204030204" pitchFamily="49" charset="0"/>
              </a:rPr>
              <a:t>celcius_to_fahrenheit</a:t>
            </a:r>
            <a:r>
              <a:rPr lang="es-CO" sz="1200" dirty="0">
                <a:latin typeface="Consolas" panose="020B0609020204030204" pitchFamily="49" charset="0"/>
              </a:rPr>
              <a:t>(</a:t>
            </a:r>
            <a:r>
              <a:rPr lang="es-CO" sz="1200" dirty="0" err="1">
                <a:latin typeface="Consolas" panose="020B0609020204030204" pitchFamily="49" charset="0"/>
              </a:rPr>
              <a:t>temp_c</a:t>
            </a:r>
            <a:r>
              <a:rPr lang="es-CO" sz="1200" dirty="0">
                <a:latin typeface="Consolas" panose="020B0609020204030204" pitchFamily="49" charset="0"/>
              </a:rPr>
              <a:t>)</a:t>
            </a:r>
          </a:p>
          <a:p>
            <a:endParaRPr lang="es-CO" sz="1200" dirty="0">
              <a:latin typeface="Consolas" panose="020B0609020204030204" pitchFamily="49" charset="0"/>
            </a:endParaRPr>
          </a:p>
          <a:p>
            <a:r>
              <a:rPr lang="es-CO" sz="1200" dirty="0">
                <a:latin typeface="Consolas" panose="020B0609020204030204" pitchFamily="49" charset="0"/>
              </a:rPr>
              <a:t>print(</a:t>
            </a:r>
            <a:r>
              <a:rPr lang="es-CO" sz="1200" dirty="0" err="1">
                <a:latin typeface="Consolas" panose="020B0609020204030204" pitchFamily="49" charset="0"/>
              </a:rPr>
              <a:t>temp_c,"°C</a:t>
            </a:r>
            <a:r>
              <a:rPr lang="es-CO" sz="1200" dirty="0">
                <a:latin typeface="Consolas" panose="020B0609020204030204" pitchFamily="49" charset="0"/>
              </a:rPr>
              <a:t> =", </a:t>
            </a:r>
            <a:r>
              <a:rPr lang="es-CO" sz="1200" dirty="0" err="1">
                <a:latin typeface="Consolas" panose="020B0609020204030204" pitchFamily="49" charset="0"/>
              </a:rPr>
              <a:t>temp_f,"°F</a:t>
            </a:r>
            <a:r>
              <a:rPr lang="es-CO" sz="1200" dirty="0">
                <a:latin typeface="Consolas" panose="020B0609020204030204" pitchFamily="49" charset="0"/>
              </a:rPr>
              <a:t>")</a:t>
            </a: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C200698E-4B8D-45CE-8E9A-A4C8C98E6761}"/>
              </a:ext>
            </a:extLst>
          </p:cNvPr>
          <p:cNvSpPr txBox="1"/>
          <p:nvPr/>
        </p:nvSpPr>
        <p:spPr>
          <a:xfrm>
            <a:off x="1223685" y="5259446"/>
            <a:ext cx="16644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hlinkClick r:id="rId4"/>
              </a:rPr>
              <a:t>Link simulación</a:t>
            </a:r>
            <a:endParaRPr lang="es-CO" sz="1200" dirty="0"/>
          </a:p>
        </p:txBody>
      </p:sp>
      <p:sp>
        <p:nvSpPr>
          <p:cNvPr id="34" name="Elipse 33">
            <a:extLst>
              <a:ext uri="{FF2B5EF4-FFF2-40B4-BE49-F238E27FC236}">
                <a16:creationId xmlns:a16="http://schemas.microsoft.com/office/drawing/2014/main" id="{0D602DCE-1068-459A-BDCB-DBA07068EC0F}"/>
              </a:ext>
            </a:extLst>
          </p:cNvPr>
          <p:cNvSpPr/>
          <p:nvPr/>
        </p:nvSpPr>
        <p:spPr>
          <a:xfrm>
            <a:off x="5767123" y="3067080"/>
            <a:ext cx="326752" cy="319400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dirty="0"/>
              <a:t>1</a:t>
            </a:r>
          </a:p>
        </p:txBody>
      </p:sp>
      <p:sp>
        <p:nvSpPr>
          <p:cNvPr id="35" name="Elipse 34">
            <a:extLst>
              <a:ext uri="{FF2B5EF4-FFF2-40B4-BE49-F238E27FC236}">
                <a16:creationId xmlns:a16="http://schemas.microsoft.com/office/drawing/2014/main" id="{A33388ED-CD24-43CA-884E-E34421422799}"/>
              </a:ext>
            </a:extLst>
          </p:cNvPr>
          <p:cNvSpPr/>
          <p:nvPr/>
        </p:nvSpPr>
        <p:spPr>
          <a:xfrm>
            <a:off x="6616637" y="3790600"/>
            <a:ext cx="326752" cy="319400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dirty="0"/>
              <a:t>2</a:t>
            </a:r>
          </a:p>
        </p:txBody>
      </p:sp>
      <p:sp>
        <p:nvSpPr>
          <p:cNvPr id="36" name="Elipse 35">
            <a:extLst>
              <a:ext uri="{FF2B5EF4-FFF2-40B4-BE49-F238E27FC236}">
                <a16:creationId xmlns:a16="http://schemas.microsoft.com/office/drawing/2014/main" id="{9F46A86F-0FB3-4CEC-B6F8-899F26C6955A}"/>
              </a:ext>
            </a:extLst>
          </p:cNvPr>
          <p:cNvSpPr/>
          <p:nvPr/>
        </p:nvSpPr>
        <p:spPr>
          <a:xfrm>
            <a:off x="5782140" y="5472832"/>
            <a:ext cx="326752" cy="319400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26058701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51520" y="116632"/>
            <a:ext cx="8892480" cy="864096"/>
          </a:xfrm>
        </p:spPr>
        <p:txBody>
          <a:bodyPr>
            <a:noAutofit/>
          </a:bodyPr>
          <a:lstStyle/>
          <a:p>
            <a:r>
              <a:rPr lang="es-MX" sz="3600" dirty="0"/>
              <a:t>Cohesión funcional: una función, una tarea</a:t>
            </a:r>
            <a:endParaRPr lang="es-CO" sz="3600" dirty="0"/>
          </a:p>
        </p:txBody>
      </p:sp>
      <p:sp>
        <p:nvSpPr>
          <p:cNvPr id="13" name="12 Rectángulo"/>
          <p:cNvSpPr/>
          <p:nvPr/>
        </p:nvSpPr>
        <p:spPr>
          <a:xfrm>
            <a:off x="14908" y="837084"/>
            <a:ext cx="8877572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dirty="0"/>
              <a:t>Saber cuándo dividir una función en otras es un arte, pero hay una guía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b="1" dirty="0"/>
              <a:t>Buena práctica</a:t>
            </a:r>
            <a:r>
              <a:rPr lang="es-MX" sz="2000" dirty="0"/>
              <a:t>: reunir en una función las instrucciones que contribuyen a </a:t>
            </a:r>
            <a:r>
              <a:rPr lang="es-MX" sz="2000" b="1" dirty="0"/>
              <a:t>una sola tarea</a:t>
            </a: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b="1" dirty="0"/>
              <a:t>Cohesión funcional</a:t>
            </a:r>
            <a:r>
              <a:rPr lang="es-MX" sz="2000" dirty="0"/>
              <a:t>: grado en que las instrucciones de una función contribuyen a la misma tarea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b="1" dirty="0"/>
              <a:t>Regla práctica</a:t>
            </a:r>
            <a:r>
              <a:rPr lang="es-MX" sz="2000" dirty="0"/>
              <a:t>: si para describir lo que hace una función necesita usar la palabra "</a:t>
            </a:r>
            <a:r>
              <a:rPr lang="es-MX" sz="2000" b="1" i="1" dirty="0"/>
              <a:t>y</a:t>
            </a:r>
            <a:r>
              <a:rPr lang="es-MX" sz="2000" dirty="0"/>
              <a:t>", probablemente son varias funciones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84E7742F-9933-410E-8568-CF4892FF2EC3}"/>
              </a:ext>
            </a:extLst>
          </p:cNvPr>
          <p:cNvSpPr txBox="1"/>
          <p:nvPr/>
        </p:nvSpPr>
        <p:spPr>
          <a:xfrm>
            <a:off x="368771" y="3645024"/>
            <a:ext cx="4084923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CO" sz="1400" dirty="0">
                <a:latin typeface="Consolas" panose="020B0609020204030204" pitchFamily="49" charset="0"/>
              </a:rPr>
              <a:t># Baja cohesión: lee, calcula y muestra</a:t>
            </a:r>
          </a:p>
          <a:p>
            <a:r>
              <a:rPr lang="es-CO" sz="1400" dirty="0">
                <a:latin typeface="Consolas" panose="020B0609020204030204" pitchFamily="49" charset="0"/>
              </a:rPr>
              <a:t>def promedio_de_notas():</a:t>
            </a:r>
          </a:p>
          <a:p>
            <a:r>
              <a:rPr lang="es-CO" sz="1400" dirty="0">
                <a:latin typeface="Consolas" panose="020B0609020204030204" pitchFamily="49" charset="0"/>
              </a:rPr>
              <a:t>    a = float(input("Nota 1: "))</a:t>
            </a:r>
          </a:p>
          <a:p>
            <a:r>
              <a:rPr lang="es-CO" sz="1400" dirty="0">
                <a:latin typeface="Consolas" panose="020B0609020204030204" pitchFamily="49" charset="0"/>
              </a:rPr>
              <a:t>    b = float(input("Nota 2: "))</a:t>
            </a:r>
          </a:p>
          <a:p>
            <a:r>
              <a:rPr lang="es-CO" sz="1400" dirty="0">
                <a:latin typeface="Consolas" panose="020B0609020204030204" pitchFamily="49" charset="0"/>
              </a:rPr>
              <a:t>    print((a + b) / 2)</a:t>
            </a:r>
          </a:p>
          <a:p>
            <a:endParaRPr lang="es-CO" sz="1400" dirty="0">
              <a:latin typeface="Consolas" panose="020B0609020204030204" pitchFamily="49" charset="0"/>
            </a:endParaRPr>
          </a:p>
          <a:p>
            <a:endParaRPr lang="es-CO" sz="1400" dirty="0">
              <a:latin typeface="Consolas" panose="020B0609020204030204" pitchFamily="49" charset="0"/>
            </a:endParaRPr>
          </a:p>
          <a:p>
            <a:r>
              <a:rPr lang="es-CO" sz="1400" dirty="0">
                <a:latin typeface="Consolas" panose="020B0609020204030204" pitchFamily="49" charset="0"/>
              </a:rPr>
              <a:t># Programa principal</a:t>
            </a:r>
          </a:p>
          <a:p>
            <a:r>
              <a:rPr lang="es-CO" sz="1400" dirty="0">
                <a:latin typeface="Consolas" panose="020B0609020204030204" pitchFamily="49" charset="0"/>
              </a:rPr>
              <a:t>promedio_de_notas()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99D3A9E5-10B9-435A-B47C-FF33E09D3BF0}"/>
              </a:ext>
            </a:extLst>
          </p:cNvPr>
          <p:cNvSpPr txBox="1"/>
          <p:nvPr/>
        </p:nvSpPr>
        <p:spPr>
          <a:xfrm>
            <a:off x="4716020" y="3343260"/>
            <a:ext cx="4176460" cy="26776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CO" sz="1400" dirty="0">
                <a:latin typeface="Consolas" panose="020B0609020204030204" pitchFamily="49" charset="0"/>
              </a:rPr>
              <a:t># Alta cohesión: una tarea por función</a:t>
            </a:r>
          </a:p>
          <a:p>
            <a:r>
              <a:rPr lang="es-CO" sz="1400" dirty="0">
                <a:latin typeface="Consolas" panose="020B0609020204030204" pitchFamily="49" charset="0"/>
              </a:rPr>
              <a:t>def leer_nota(mensaje):</a:t>
            </a:r>
          </a:p>
          <a:p>
            <a:r>
              <a:rPr lang="es-CO" sz="1400" dirty="0">
                <a:latin typeface="Consolas" panose="020B0609020204030204" pitchFamily="49" charset="0"/>
              </a:rPr>
              <a:t>    return float(input(mensaje))</a:t>
            </a:r>
          </a:p>
          <a:p>
            <a:endParaRPr lang="es-CO" sz="1400" dirty="0">
              <a:latin typeface="Consolas" panose="020B0609020204030204" pitchFamily="49" charset="0"/>
            </a:endParaRPr>
          </a:p>
          <a:p>
            <a:r>
              <a:rPr lang="es-CO" sz="1400" dirty="0">
                <a:latin typeface="Consolas" panose="020B0609020204030204" pitchFamily="49" charset="0"/>
              </a:rPr>
              <a:t>def calcular_promedio(a, b):</a:t>
            </a:r>
          </a:p>
          <a:p>
            <a:r>
              <a:rPr lang="es-CO" sz="1400" dirty="0">
                <a:latin typeface="Consolas" panose="020B0609020204030204" pitchFamily="49" charset="0"/>
              </a:rPr>
              <a:t>    return (a + b) / 2</a:t>
            </a:r>
          </a:p>
          <a:p>
            <a:endParaRPr lang="es-CO" sz="1400" dirty="0">
              <a:latin typeface="Consolas" panose="020B0609020204030204" pitchFamily="49" charset="0"/>
            </a:endParaRPr>
          </a:p>
          <a:p>
            <a:endParaRPr lang="es-CO" sz="1400" dirty="0">
              <a:latin typeface="Consolas" panose="020B0609020204030204" pitchFamily="49" charset="0"/>
            </a:endParaRPr>
          </a:p>
          <a:p>
            <a:r>
              <a:rPr lang="es-CO" sz="1400" dirty="0">
                <a:latin typeface="Consolas" panose="020B0609020204030204" pitchFamily="49" charset="0"/>
              </a:rPr>
              <a:t># Programa principal</a:t>
            </a:r>
          </a:p>
          <a:p>
            <a:r>
              <a:rPr lang="es-CO" sz="1400" dirty="0">
                <a:latin typeface="Consolas" panose="020B0609020204030204" pitchFamily="49" charset="0"/>
              </a:rPr>
              <a:t>nota1 = leer_nota("Nota 1: ")</a:t>
            </a:r>
          </a:p>
          <a:p>
            <a:r>
              <a:rPr lang="es-CO" sz="1400" dirty="0">
                <a:latin typeface="Consolas" panose="020B0609020204030204" pitchFamily="49" charset="0"/>
              </a:rPr>
              <a:t>nota2 = leer_nota("Nota 2: ")</a:t>
            </a:r>
          </a:p>
          <a:p>
            <a:r>
              <a:rPr lang="es-CO" sz="1400" dirty="0">
                <a:latin typeface="Consolas" panose="020B0609020204030204" pitchFamily="49" charset="0"/>
              </a:rPr>
              <a:t>print(calcular_promedio(nota1, nota2))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3E0EAD59-74EF-4BD0-9383-47B812DC4F85}"/>
              </a:ext>
            </a:extLst>
          </p:cNvPr>
          <p:cNvSpPr txBox="1"/>
          <p:nvPr/>
        </p:nvSpPr>
        <p:spPr>
          <a:xfrm>
            <a:off x="1578989" y="5676349"/>
            <a:ext cx="16644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hlinkClick r:id="rId2"/>
              </a:rPr>
              <a:t>Link simulación</a:t>
            </a:r>
            <a:endParaRPr lang="es-CO" sz="1200" dirty="0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A23D68BE-8F1C-4378-8BC2-401D5FB6FB48}"/>
              </a:ext>
            </a:extLst>
          </p:cNvPr>
          <p:cNvSpPr txBox="1"/>
          <p:nvPr/>
        </p:nvSpPr>
        <p:spPr>
          <a:xfrm>
            <a:off x="5972007" y="6141823"/>
            <a:ext cx="16644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hlinkClick r:id="rId3"/>
              </a:rPr>
              <a:t>Link simulación</a:t>
            </a:r>
            <a:endParaRPr lang="es-CO" sz="1200" dirty="0"/>
          </a:p>
        </p:txBody>
      </p:sp>
    </p:spTree>
    <p:extLst>
      <p:ext uri="{BB962C8B-B14F-4D97-AF65-F5344CB8AC3E}">
        <p14:creationId xmlns:p14="http://schemas.microsoft.com/office/powerpoint/2010/main" val="37497039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51520" y="116632"/>
            <a:ext cx="8892480" cy="720452"/>
          </a:xfrm>
        </p:spPr>
        <p:txBody>
          <a:bodyPr>
            <a:noAutofit/>
          </a:bodyPr>
          <a:lstStyle/>
          <a:p>
            <a:r>
              <a:rPr lang="es-MX" sz="3600" dirty="0"/>
              <a:t>Comparación</a:t>
            </a:r>
            <a:endParaRPr lang="es-CO" sz="3600" dirty="0"/>
          </a:p>
        </p:txBody>
      </p:sp>
      <p:sp>
        <p:nvSpPr>
          <p:cNvPr id="13" name="12 Rectángulo"/>
          <p:cNvSpPr/>
          <p:nvPr/>
        </p:nvSpPr>
        <p:spPr>
          <a:xfrm>
            <a:off x="14908" y="734497"/>
            <a:ext cx="887757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dirty="0"/>
              <a:t>A continuación, se muestra la comparación entre trabajar un programa </a:t>
            </a:r>
            <a:r>
              <a:rPr lang="es-MX" sz="2000" b="1" dirty="0"/>
              <a:t>sin módulos</a:t>
            </a:r>
            <a:r>
              <a:rPr lang="es-MX" sz="2000" dirty="0"/>
              <a:t> y </a:t>
            </a:r>
            <a:r>
              <a:rPr lang="es-MX" sz="2000" b="1" dirty="0"/>
              <a:t>con módulos</a:t>
            </a:r>
            <a:r>
              <a:rPr lang="es-MX" sz="2000" dirty="0"/>
              <a:t>.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84E7742F-9933-410E-8568-CF4892FF2EC3}"/>
              </a:ext>
            </a:extLst>
          </p:cNvPr>
          <p:cNvSpPr txBox="1"/>
          <p:nvPr/>
        </p:nvSpPr>
        <p:spPr>
          <a:xfrm>
            <a:off x="817032" y="5014674"/>
            <a:ext cx="3731716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CO" sz="1200" dirty="0">
                <a:latin typeface="Consolas" panose="020B0609020204030204" pitchFamily="49" charset="0"/>
              </a:rPr>
              <a:t>temp_c = float(input("Ingrese los °C: "))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temp_f = (9 / 5) * temp_c + 32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print(f"{temp_c} °C = {temp_f} °F")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99D3A9E5-10B9-435A-B47C-FF33E09D3BF0}"/>
              </a:ext>
            </a:extLst>
          </p:cNvPr>
          <p:cNvSpPr txBox="1"/>
          <p:nvPr/>
        </p:nvSpPr>
        <p:spPr>
          <a:xfrm>
            <a:off x="5004047" y="4843026"/>
            <a:ext cx="3973141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CO" sz="1200" dirty="0">
                <a:latin typeface="Consolas" panose="020B0609020204030204" pitchFamily="49" charset="0"/>
              </a:rPr>
              <a:t>def celsius_a_fahrenheit(c):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    f = (9 / 5) * c + 32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    return f</a:t>
            </a:r>
          </a:p>
          <a:p>
            <a:endParaRPr lang="es-CO" sz="1200" dirty="0">
              <a:latin typeface="Consolas" panose="020B0609020204030204" pitchFamily="49" charset="0"/>
            </a:endParaRPr>
          </a:p>
          <a:p>
            <a:endParaRPr lang="es-CO" sz="1200" dirty="0">
              <a:latin typeface="Consolas" panose="020B0609020204030204" pitchFamily="49" charset="0"/>
            </a:endParaRPr>
          </a:p>
          <a:p>
            <a:r>
              <a:rPr lang="es-CO" sz="1200" dirty="0">
                <a:latin typeface="Consolas" panose="020B0609020204030204" pitchFamily="49" charset="0"/>
              </a:rPr>
              <a:t>temp_c = float(input("Ingrese los °C: "))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temp_f = celsius_a_fahrenheit(temp_c)</a:t>
            </a:r>
          </a:p>
          <a:p>
            <a:endParaRPr lang="es-CO" sz="1200" dirty="0">
              <a:latin typeface="Consolas" panose="020B0609020204030204" pitchFamily="49" charset="0"/>
            </a:endParaRPr>
          </a:p>
          <a:p>
            <a:r>
              <a:rPr lang="es-CO" sz="1200" dirty="0">
                <a:latin typeface="Consolas" panose="020B0609020204030204" pitchFamily="49" charset="0"/>
              </a:rPr>
              <a:t>print(f"{temp_c} °C = {temp_f} °F")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11F74F2E-D109-4A9F-BDC1-7BF69D50A1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7801" y="1657190"/>
            <a:ext cx="1130177" cy="2962893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0931D628-38BC-47DA-B491-68B66A45CB27}"/>
              </a:ext>
            </a:extLst>
          </p:cNvPr>
          <p:cNvSpPr txBox="1"/>
          <p:nvPr/>
        </p:nvSpPr>
        <p:spPr>
          <a:xfrm>
            <a:off x="6158373" y="6581001"/>
            <a:ext cx="16644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hlinkClick r:id="rId3"/>
              </a:rPr>
              <a:t>Link simulación</a:t>
            </a:r>
            <a:endParaRPr lang="es-CO" sz="1200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32F01911-5379-4765-924D-EAFBD9E37780}"/>
              </a:ext>
            </a:extLst>
          </p:cNvPr>
          <p:cNvSpPr txBox="1"/>
          <p:nvPr/>
        </p:nvSpPr>
        <p:spPr>
          <a:xfrm>
            <a:off x="1850647" y="5720189"/>
            <a:ext cx="16644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hlinkClick r:id="rId4"/>
              </a:rPr>
              <a:t>Link simulación</a:t>
            </a:r>
            <a:endParaRPr lang="es-CO" sz="120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32A3AC6-B5F8-419D-9A24-50D2863E17F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7875" y="1550248"/>
            <a:ext cx="1765483" cy="3229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58983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145314" y="135162"/>
            <a:ext cx="8243110" cy="710952"/>
          </a:xfrm>
        </p:spPr>
        <p:txBody>
          <a:bodyPr>
            <a:normAutofit/>
          </a:bodyPr>
          <a:lstStyle/>
          <a:p>
            <a:r>
              <a:rPr lang="es-CO" dirty="0"/>
              <a:t>Análisis – Ejemplo calificaciones</a:t>
            </a:r>
          </a:p>
        </p:txBody>
      </p:sp>
      <p:sp>
        <p:nvSpPr>
          <p:cNvPr id="13" name="12 Rectángulo"/>
          <p:cNvSpPr/>
          <p:nvPr/>
        </p:nvSpPr>
        <p:spPr>
          <a:xfrm>
            <a:off x="145314" y="846114"/>
            <a:ext cx="8747165" cy="40934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rtl="0"/>
            <a:r>
              <a:rPr lang="es-MX" sz="2000" dirty="0"/>
              <a:t>Hacer un programa que lea primero el número de estudiantes de un curso (</a:t>
            </a:r>
            <a:r>
              <a:rPr lang="es-MX" sz="2000" b="1" dirty="0"/>
              <a:t>N</a:t>
            </a:r>
            <a:r>
              <a:rPr lang="es-MX" sz="2000" dirty="0"/>
              <a:t>), y luego lea las </a:t>
            </a:r>
            <a:r>
              <a:rPr lang="es-MX" sz="2000" b="1" dirty="0"/>
              <a:t>N</a:t>
            </a:r>
            <a:r>
              <a:rPr lang="es-MX" sz="2000" dirty="0"/>
              <a:t> notas correspondientes (valores decimales entre 0.0 y 5.0), una a una.</a:t>
            </a:r>
          </a:p>
          <a:p>
            <a:pPr rtl="0"/>
            <a:endParaRPr lang="es-MX" sz="2000" dirty="0"/>
          </a:p>
          <a:p>
            <a:pPr rtl="0"/>
            <a:r>
              <a:rPr lang="es-MX" sz="2000" dirty="0"/>
              <a:t>Considere que la nota mínima aprobatoria es 3.0: una nota es aprobada si es mayor o igual a 3.0, y reprobada si es menor a 3.0.</a:t>
            </a:r>
          </a:p>
          <a:p>
            <a:pPr rtl="0"/>
            <a:endParaRPr lang="es-MX" sz="2000" dirty="0"/>
          </a:p>
          <a:p>
            <a:pPr rtl="0"/>
            <a:r>
              <a:rPr lang="es-MX" sz="2000" dirty="0"/>
              <a:t>Al finalizar la lectura, el programa deberá entregar: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dirty="0"/>
              <a:t>El porcentaje de estudiantes aprobados.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dirty="0"/>
              <a:t>El porcentaje de estudiantes reprobados.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dirty="0"/>
              <a:t>El promedio de las notas aprobadas.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dirty="0"/>
              <a:t>El promedio de las notas reprobadas.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dirty="0"/>
              <a:t>El promedio de las notas del curso.</a:t>
            </a:r>
          </a:p>
        </p:txBody>
      </p:sp>
    </p:spTree>
    <p:extLst>
      <p:ext uri="{BB962C8B-B14F-4D97-AF65-F5344CB8AC3E}">
        <p14:creationId xmlns:p14="http://schemas.microsoft.com/office/powerpoint/2010/main" val="124217467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4 Título">
            <a:extLst>
              <a:ext uri="{FF2B5EF4-FFF2-40B4-BE49-F238E27FC236}">
                <a16:creationId xmlns:a16="http://schemas.microsoft.com/office/drawing/2014/main" id="{AE7AE4FE-857D-48EA-8C2E-EFF7E2B785AF}"/>
              </a:ext>
            </a:extLst>
          </p:cNvPr>
          <p:cNvSpPr txBox="1">
            <a:spLocks/>
          </p:cNvSpPr>
          <p:nvPr/>
        </p:nvSpPr>
        <p:spPr>
          <a:xfrm>
            <a:off x="107504" y="179147"/>
            <a:ext cx="3528392" cy="18096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000" dirty="0"/>
              <a:t>Ejemplo </a:t>
            </a:r>
          </a:p>
          <a:p>
            <a:r>
              <a:rPr lang="es-CO" sz="4000" dirty="0"/>
              <a:t>Calificaciones (No modular)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4AB871F0-E093-48E7-A1B9-7D54B9D42F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74190" y="78079"/>
            <a:ext cx="5434314" cy="6755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46280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4 Título">
            <a:extLst>
              <a:ext uri="{FF2B5EF4-FFF2-40B4-BE49-F238E27FC236}">
                <a16:creationId xmlns:a16="http://schemas.microsoft.com/office/drawing/2014/main" id="{AE7AE4FE-857D-48EA-8C2E-EFF7E2B785AF}"/>
              </a:ext>
            </a:extLst>
          </p:cNvPr>
          <p:cNvSpPr txBox="1">
            <a:spLocks/>
          </p:cNvSpPr>
          <p:nvPr/>
        </p:nvSpPr>
        <p:spPr>
          <a:xfrm>
            <a:off x="107504" y="84114"/>
            <a:ext cx="6153447" cy="6788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000" dirty="0"/>
              <a:t>Ejemplo calificaciones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79E8B5D-AC59-4BB7-B228-6E04126644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503" y="731200"/>
            <a:ext cx="3401426" cy="3258909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88136558-4DB9-472F-B72C-F3B7E28C5F25}"/>
              </a:ext>
            </a:extLst>
          </p:cNvPr>
          <p:cNvSpPr txBox="1"/>
          <p:nvPr/>
        </p:nvSpPr>
        <p:spPr>
          <a:xfrm>
            <a:off x="251520" y="4065452"/>
            <a:ext cx="3960439" cy="27084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MX" sz="1000" dirty="0">
                <a:latin typeface="Consolas" panose="020B0609020204030204" pitchFamily="49" charset="0"/>
              </a:rPr>
              <a:t>NOTA_MINIMA = 3.0</a:t>
            </a:r>
          </a:p>
          <a:p>
            <a:r>
              <a:rPr lang="es-MX" sz="1000" dirty="0" err="1">
                <a:latin typeface="Consolas" panose="020B0609020204030204" pitchFamily="49" charset="0"/>
              </a:rPr>
              <a:t>notas_reprobadas</a:t>
            </a:r>
            <a:r>
              <a:rPr lang="es-MX" sz="1000" dirty="0">
                <a:latin typeface="Consolas" panose="020B0609020204030204" pitchFamily="49" charset="0"/>
              </a:rPr>
              <a:t> = 0</a:t>
            </a:r>
          </a:p>
          <a:p>
            <a:r>
              <a:rPr lang="es-MX" sz="1000" dirty="0" err="1">
                <a:latin typeface="Consolas" panose="020B0609020204030204" pitchFamily="49" charset="0"/>
              </a:rPr>
              <a:t>notas_aprobadas</a:t>
            </a:r>
            <a:r>
              <a:rPr lang="es-MX" sz="1000" dirty="0">
                <a:latin typeface="Consolas" panose="020B0609020204030204" pitchFamily="49" charset="0"/>
              </a:rPr>
              <a:t> = 0</a:t>
            </a:r>
          </a:p>
          <a:p>
            <a:r>
              <a:rPr lang="es-MX" sz="1000" dirty="0" err="1">
                <a:latin typeface="Consolas" panose="020B0609020204030204" pitchFamily="49" charset="0"/>
              </a:rPr>
              <a:t>suma_reprobadas</a:t>
            </a:r>
            <a:r>
              <a:rPr lang="es-MX" sz="1000" dirty="0">
                <a:latin typeface="Consolas" panose="020B0609020204030204" pitchFamily="49" charset="0"/>
              </a:rPr>
              <a:t> = 0</a:t>
            </a:r>
          </a:p>
          <a:p>
            <a:r>
              <a:rPr lang="es-MX" sz="1000" dirty="0" err="1">
                <a:latin typeface="Consolas" panose="020B0609020204030204" pitchFamily="49" charset="0"/>
              </a:rPr>
              <a:t>suma_aprobadas</a:t>
            </a:r>
            <a:r>
              <a:rPr lang="es-MX" sz="1000" dirty="0">
                <a:latin typeface="Consolas" panose="020B0609020204030204" pitchFamily="49" charset="0"/>
              </a:rPr>
              <a:t> = 0</a:t>
            </a:r>
          </a:p>
          <a:p>
            <a:r>
              <a:rPr lang="es-MX" sz="1000" b="0" dirty="0">
                <a:effectLst/>
                <a:latin typeface="Consolas" panose="020B0609020204030204" pitchFamily="49" charset="0"/>
              </a:rPr>
              <a:t>N = </a:t>
            </a:r>
            <a:r>
              <a:rPr lang="es-MX" sz="1000" b="0" dirty="0" err="1">
                <a:effectLst/>
                <a:latin typeface="Consolas" panose="020B0609020204030204" pitchFamily="49" charset="0"/>
              </a:rPr>
              <a:t>int</a:t>
            </a:r>
            <a:r>
              <a:rPr lang="es-MX" sz="1000" b="0" dirty="0">
                <a:effectLst/>
                <a:latin typeface="Consolas" panose="020B0609020204030204" pitchFamily="49" charset="0"/>
              </a:rPr>
              <a:t>(input('Ingrese el número de estudiantes: '))</a:t>
            </a:r>
          </a:p>
          <a:p>
            <a:r>
              <a:rPr lang="es-MX" sz="1000" dirty="0">
                <a:solidFill>
                  <a:srgbClr val="C00000"/>
                </a:solidFill>
                <a:latin typeface="Consolas" panose="020B0609020204030204" pitchFamily="49" charset="0"/>
              </a:rPr>
              <a:t>for i in range(N):</a:t>
            </a:r>
          </a:p>
          <a:p>
            <a:r>
              <a:rPr lang="es-MX" sz="1000" dirty="0">
                <a:solidFill>
                  <a:srgbClr val="C00000"/>
                </a:solidFill>
                <a:latin typeface="Consolas" panose="020B0609020204030204" pitchFamily="49" charset="0"/>
              </a:rPr>
              <a:t>  nota = </a:t>
            </a:r>
            <a:r>
              <a:rPr lang="es-MX" sz="1000" dirty="0" err="1">
                <a:solidFill>
                  <a:srgbClr val="C00000"/>
                </a:solidFill>
                <a:latin typeface="Consolas" panose="020B0609020204030204" pitchFamily="49" charset="0"/>
              </a:rPr>
              <a:t>float</a:t>
            </a:r>
            <a:r>
              <a:rPr lang="es-MX" sz="1000" dirty="0">
                <a:solidFill>
                  <a:srgbClr val="C00000"/>
                </a:solidFill>
                <a:latin typeface="Consolas" panose="020B0609020204030204" pitchFamily="49" charset="0"/>
              </a:rPr>
              <a:t>(input('Ingrese la nota: '))</a:t>
            </a:r>
          </a:p>
          <a:p>
            <a:r>
              <a:rPr lang="es-MX" sz="1000" dirty="0">
                <a:solidFill>
                  <a:srgbClr val="00B050"/>
                </a:solidFill>
                <a:latin typeface="Consolas" panose="020B0609020204030204" pitchFamily="49" charset="0"/>
              </a:rPr>
              <a:t>  </a:t>
            </a:r>
            <a:r>
              <a:rPr lang="es-MX" sz="1000" dirty="0" err="1">
                <a:solidFill>
                  <a:srgbClr val="00B050"/>
                </a:solidFill>
                <a:latin typeface="Consolas" panose="020B0609020204030204" pitchFamily="49" charset="0"/>
              </a:rPr>
              <a:t>if</a:t>
            </a:r>
            <a:r>
              <a:rPr lang="es-MX" sz="1000" dirty="0">
                <a:solidFill>
                  <a:srgbClr val="00B050"/>
                </a:solidFill>
                <a:latin typeface="Consolas" panose="020B0609020204030204" pitchFamily="49" charset="0"/>
              </a:rPr>
              <a:t> nota &gt;= NOTA_MINIMA:</a:t>
            </a:r>
          </a:p>
          <a:p>
            <a:r>
              <a:rPr lang="es-MX" sz="1000" dirty="0">
                <a:solidFill>
                  <a:srgbClr val="00B050"/>
                </a:solidFill>
                <a:latin typeface="Consolas" panose="020B0609020204030204" pitchFamily="49" charset="0"/>
              </a:rPr>
              <a:t>    </a:t>
            </a:r>
            <a:r>
              <a:rPr lang="es-MX" sz="1000" dirty="0" err="1">
                <a:solidFill>
                  <a:srgbClr val="00B050"/>
                </a:solidFill>
                <a:latin typeface="Consolas" panose="020B0609020204030204" pitchFamily="49" charset="0"/>
              </a:rPr>
              <a:t>notas_aprobadas</a:t>
            </a:r>
            <a:r>
              <a:rPr lang="es-MX" sz="1000" dirty="0">
                <a:solidFill>
                  <a:srgbClr val="00B050"/>
                </a:solidFill>
                <a:latin typeface="Consolas" panose="020B0609020204030204" pitchFamily="49" charset="0"/>
              </a:rPr>
              <a:t> = </a:t>
            </a:r>
            <a:r>
              <a:rPr lang="es-MX" sz="1000" dirty="0" err="1">
                <a:solidFill>
                  <a:srgbClr val="00B050"/>
                </a:solidFill>
                <a:latin typeface="Consolas" panose="020B0609020204030204" pitchFamily="49" charset="0"/>
              </a:rPr>
              <a:t>notas_aprobadas</a:t>
            </a:r>
            <a:r>
              <a:rPr lang="es-MX" sz="1000" dirty="0">
                <a:solidFill>
                  <a:srgbClr val="00B050"/>
                </a:solidFill>
                <a:latin typeface="Consolas" panose="020B0609020204030204" pitchFamily="49" charset="0"/>
              </a:rPr>
              <a:t> + 1</a:t>
            </a:r>
          </a:p>
          <a:p>
            <a:r>
              <a:rPr lang="es-MX" sz="1000" dirty="0">
                <a:solidFill>
                  <a:srgbClr val="00B050"/>
                </a:solidFill>
                <a:latin typeface="Consolas" panose="020B0609020204030204" pitchFamily="49" charset="0"/>
              </a:rPr>
              <a:t>    </a:t>
            </a:r>
            <a:r>
              <a:rPr lang="es-MX" sz="1000" dirty="0" err="1">
                <a:solidFill>
                  <a:srgbClr val="00B050"/>
                </a:solidFill>
                <a:latin typeface="Consolas" panose="020B0609020204030204" pitchFamily="49" charset="0"/>
              </a:rPr>
              <a:t>suma_aprobadas</a:t>
            </a:r>
            <a:r>
              <a:rPr lang="es-MX" sz="1000" dirty="0">
                <a:solidFill>
                  <a:srgbClr val="00B050"/>
                </a:solidFill>
                <a:latin typeface="Consolas" panose="020B0609020204030204" pitchFamily="49" charset="0"/>
              </a:rPr>
              <a:t> = </a:t>
            </a:r>
            <a:r>
              <a:rPr lang="es-MX" sz="1000" dirty="0" err="1">
                <a:solidFill>
                  <a:srgbClr val="00B050"/>
                </a:solidFill>
                <a:latin typeface="Consolas" panose="020B0609020204030204" pitchFamily="49" charset="0"/>
              </a:rPr>
              <a:t>suma_aprobadas</a:t>
            </a:r>
            <a:r>
              <a:rPr lang="es-MX" sz="1000" dirty="0">
                <a:solidFill>
                  <a:srgbClr val="00B050"/>
                </a:solidFill>
                <a:latin typeface="Consolas" panose="020B0609020204030204" pitchFamily="49" charset="0"/>
              </a:rPr>
              <a:t> + nota</a:t>
            </a:r>
          </a:p>
          <a:p>
            <a:r>
              <a:rPr lang="es-MX" sz="1000" dirty="0">
                <a:solidFill>
                  <a:srgbClr val="00B050"/>
                </a:solidFill>
                <a:latin typeface="Consolas" panose="020B0609020204030204" pitchFamily="49" charset="0"/>
              </a:rPr>
              <a:t>  </a:t>
            </a:r>
            <a:r>
              <a:rPr lang="es-MX" sz="1000" dirty="0" err="1">
                <a:solidFill>
                  <a:srgbClr val="00B050"/>
                </a:solidFill>
                <a:latin typeface="Consolas" panose="020B0609020204030204" pitchFamily="49" charset="0"/>
              </a:rPr>
              <a:t>else</a:t>
            </a:r>
            <a:r>
              <a:rPr lang="es-MX" sz="1000" dirty="0">
                <a:solidFill>
                  <a:srgbClr val="00B050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s-MX" sz="1000" dirty="0">
                <a:solidFill>
                  <a:srgbClr val="00B050"/>
                </a:solidFill>
                <a:latin typeface="Consolas" panose="020B0609020204030204" pitchFamily="49" charset="0"/>
              </a:rPr>
              <a:t>    </a:t>
            </a:r>
            <a:r>
              <a:rPr lang="es-MX" sz="1000" dirty="0" err="1">
                <a:solidFill>
                  <a:srgbClr val="00B050"/>
                </a:solidFill>
                <a:latin typeface="Consolas" panose="020B0609020204030204" pitchFamily="49" charset="0"/>
              </a:rPr>
              <a:t>notas_reprobadas</a:t>
            </a:r>
            <a:r>
              <a:rPr lang="es-MX" sz="1000" dirty="0">
                <a:solidFill>
                  <a:srgbClr val="00B050"/>
                </a:solidFill>
                <a:latin typeface="Consolas" panose="020B0609020204030204" pitchFamily="49" charset="0"/>
              </a:rPr>
              <a:t> = </a:t>
            </a:r>
            <a:r>
              <a:rPr lang="es-MX" sz="1000" dirty="0" err="1">
                <a:solidFill>
                  <a:srgbClr val="00B050"/>
                </a:solidFill>
                <a:latin typeface="Consolas" panose="020B0609020204030204" pitchFamily="49" charset="0"/>
              </a:rPr>
              <a:t>notas_reprobadas</a:t>
            </a:r>
            <a:r>
              <a:rPr lang="es-MX" sz="1000" dirty="0">
                <a:solidFill>
                  <a:srgbClr val="00B050"/>
                </a:solidFill>
                <a:latin typeface="Consolas" panose="020B0609020204030204" pitchFamily="49" charset="0"/>
              </a:rPr>
              <a:t> + 1</a:t>
            </a:r>
          </a:p>
          <a:p>
            <a:r>
              <a:rPr lang="es-MX" sz="1000" dirty="0">
                <a:solidFill>
                  <a:srgbClr val="00B050"/>
                </a:solidFill>
                <a:latin typeface="Consolas" panose="020B0609020204030204" pitchFamily="49" charset="0"/>
              </a:rPr>
              <a:t>    </a:t>
            </a:r>
            <a:r>
              <a:rPr lang="es-MX" sz="1000" dirty="0" err="1">
                <a:solidFill>
                  <a:srgbClr val="00B050"/>
                </a:solidFill>
                <a:latin typeface="Consolas" panose="020B0609020204030204" pitchFamily="49" charset="0"/>
              </a:rPr>
              <a:t>suma_reprobadas</a:t>
            </a:r>
            <a:r>
              <a:rPr lang="es-MX" sz="1000" dirty="0">
                <a:solidFill>
                  <a:srgbClr val="00B050"/>
                </a:solidFill>
                <a:latin typeface="Consolas" panose="020B0609020204030204" pitchFamily="49" charset="0"/>
              </a:rPr>
              <a:t> = </a:t>
            </a:r>
            <a:r>
              <a:rPr lang="es-MX" sz="1000" dirty="0" err="1">
                <a:solidFill>
                  <a:srgbClr val="00B050"/>
                </a:solidFill>
                <a:latin typeface="Consolas" panose="020B0609020204030204" pitchFamily="49" charset="0"/>
              </a:rPr>
              <a:t>suma_reprobadas</a:t>
            </a:r>
            <a:r>
              <a:rPr lang="es-MX" sz="1000" dirty="0">
                <a:solidFill>
                  <a:srgbClr val="00B050"/>
                </a:solidFill>
                <a:latin typeface="Consolas" panose="020B0609020204030204" pitchFamily="49" charset="0"/>
              </a:rPr>
              <a:t> + nota</a:t>
            </a:r>
          </a:p>
          <a:p>
            <a:r>
              <a:rPr lang="es-MX" sz="1000" dirty="0">
                <a:latin typeface="Consolas" panose="020B0609020204030204" pitchFamily="49" charset="0"/>
              </a:rPr>
              <a:t>  </a:t>
            </a:r>
            <a:r>
              <a:rPr lang="es-MX" sz="1000" dirty="0" err="1">
                <a:latin typeface="Consolas" panose="020B0609020204030204" pitchFamily="49" charset="0"/>
              </a:rPr>
              <a:t>suma_notas</a:t>
            </a:r>
            <a:r>
              <a:rPr lang="es-MX" sz="1000" dirty="0">
                <a:latin typeface="Consolas" panose="020B0609020204030204" pitchFamily="49" charset="0"/>
              </a:rPr>
              <a:t> = </a:t>
            </a:r>
            <a:r>
              <a:rPr lang="es-MX" sz="1000" dirty="0" err="1">
                <a:latin typeface="Consolas" panose="020B0609020204030204" pitchFamily="49" charset="0"/>
              </a:rPr>
              <a:t>suma_reprobadas</a:t>
            </a:r>
            <a:r>
              <a:rPr lang="es-MX" sz="1000" dirty="0">
                <a:latin typeface="Consolas" panose="020B0609020204030204" pitchFamily="49" charset="0"/>
              </a:rPr>
              <a:t> + </a:t>
            </a:r>
            <a:r>
              <a:rPr lang="es-MX" sz="1000" dirty="0" err="1">
                <a:latin typeface="Consolas" panose="020B0609020204030204" pitchFamily="49" charset="0"/>
              </a:rPr>
              <a:t>suma_aprobadas</a:t>
            </a:r>
            <a:endParaRPr lang="es-MX" sz="1000" dirty="0">
              <a:latin typeface="Consolas" panose="020B0609020204030204" pitchFamily="49" charset="0"/>
            </a:endParaRPr>
          </a:p>
          <a:p>
            <a:r>
              <a:rPr lang="es-MX" sz="1000" dirty="0">
                <a:latin typeface="Consolas" panose="020B0609020204030204" pitchFamily="49" charset="0"/>
              </a:rPr>
              <a:t>  </a:t>
            </a:r>
            <a:r>
              <a:rPr lang="es-MX" sz="1000" dirty="0" err="1">
                <a:latin typeface="Consolas" panose="020B0609020204030204" pitchFamily="49" charset="0"/>
              </a:rPr>
              <a:t>total_notas</a:t>
            </a:r>
            <a:r>
              <a:rPr lang="es-MX" sz="1000" dirty="0">
                <a:latin typeface="Consolas" panose="020B0609020204030204" pitchFamily="49" charset="0"/>
              </a:rPr>
              <a:t> = </a:t>
            </a:r>
            <a:r>
              <a:rPr lang="es-MX" sz="1000" dirty="0" err="1">
                <a:latin typeface="Consolas" panose="020B0609020204030204" pitchFamily="49" charset="0"/>
              </a:rPr>
              <a:t>notas_aprobadas</a:t>
            </a:r>
            <a:r>
              <a:rPr lang="es-MX" sz="1000" dirty="0">
                <a:latin typeface="Consolas" panose="020B0609020204030204" pitchFamily="49" charset="0"/>
              </a:rPr>
              <a:t> + </a:t>
            </a:r>
            <a:r>
              <a:rPr lang="es-MX" sz="1000" dirty="0" err="1">
                <a:latin typeface="Consolas" panose="020B0609020204030204" pitchFamily="49" charset="0"/>
              </a:rPr>
              <a:t>notas_reprobadas</a:t>
            </a:r>
            <a:endParaRPr lang="es-MX" sz="1000" dirty="0">
              <a:latin typeface="Consolas" panose="020B0609020204030204" pitchFamily="49" charset="0"/>
            </a:endParaRPr>
          </a:p>
          <a:p>
            <a:r>
              <a:rPr lang="es-MX" sz="1000" dirty="0">
                <a:latin typeface="Consolas" panose="020B0609020204030204" pitchFamily="49" charset="0"/>
              </a:rPr>
              <a:t>  ...</a:t>
            </a:r>
            <a:endParaRPr lang="es-CO" sz="1000" dirty="0">
              <a:solidFill>
                <a:srgbClr val="C00000"/>
              </a:solidFill>
              <a:latin typeface="Consolas" panose="020B0609020204030204" pitchFamily="49" charset="0"/>
            </a:endParaRP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A0A47657-76C0-4D49-850C-08D3AEF578F5}"/>
              </a:ext>
            </a:extLst>
          </p:cNvPr>
          <p:cNvSpPr txBox="1"/>
          <p:nvPr/>
        </p:nvSpPr>
        <p:spPr>
          <a:xfrm>
            <a:off x="4692450" y="3429000"/>
            <a:ext cx="4264320" cy="33239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MX" sz="1000" dirty="0">
                <a:latin typeface="Consolas" panose="020B0609020204030204" pitchFamily="49" charset="0"/>
              </a:rPr>
              <a:t>...</a:t>
            </a:r>
          </a:p>
          <a:p>
            <a:r>
              <a:rPr lang="es-MX" sz="1000" dirty="0" err="1">
                <a:solidFill>
                  <a:srgbClr val="0070C0"/>
                </a:solidFill>
                <a:latin typeface="Consolas" panose="020B0609020204030204" pitchFamily="49" charset="0"/>
              </a:rPr>
              <a:t>if</a:t>
            </a:r>
            <a:r>
              <a:rPr lang="es-MX" sz="1000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es-MX" sz="1000" dirty="0" err="1">
                <a:solidFill>
                  <a:srgbClr val="0070C0"/>
                </a:solidFill>
                <a:latin typeface="Consolas" panose="020B0609020204030204" pitchFamily="49" charset="0"/>
              </a:rPr>
              <a:t>total_notas</a:t>
            </a:r>
            <a:r>
              <a:rPr lang="es-MX" sz="1000" dirty="0">
                <a:solidFill>
                  <a:srgbClr val="0070C0"/>
                </a:solidFill>
                <a:latin typeface="Consolas" panose="020B0609020204030204" pitchFamily="49" charset="0"/>
              </a:rPr>
              <a:t> == 0:</a:t>
            </a:r>
          </a:p>
          <a:p>
            <a:r>
              <a:rPr lang="es-MX" sz="1000" dirty="0">
                <a:solidFill>
                  <a:srgbClr val="0070C0"/>
                </a:solidFill>
                <a:latin typeface="Consolas" panose="020B0609020204030204" pitchFamily="49" charset="0"/>
              </a:rPr>
              <a:t>  </a:t>
            </a:r>
            <a:r>
              <a:rPr lang="es-MX" sz="1000" dirty="0" err="1">
                <a:solidFill>
                  <a:srgbClr val="0070C0"/>
                </a:solidFill>
                <a:latin typeface="Consolas" panose="020B0609020204030204" pitchFamily="49" charset="0"/>
              </a:rPr>
              <a:t>print</a:t>
            </a:r>
            <a:r>
              <a:rPr lang="es-MX" sz="1000" dirty="0">
                <a:solidFill>
                  <a:srgbClr val="0070C0"/>
                </a:solidFill>
                <a:latin typeface="Consolas" panose="020B0609020204030204" pitchFamily="49" charset="0"/>
              </a:rPr>
              <a:t>("No hay estudiantes")</a:t>
            </a:r>
          </a:p>
          <a:p>
            <a:r>
              <a:rPr lang="es-MX" sz="1000" dirty="0" err="1">
                <a:solidFill>
                  <a:srgbClr val="0070C0"/>
                </a:solidFill>
                <a:latin typeface="Consolas" panose="020B0609020204030204" pitchFamily="49" charset="0"/>
              </a:rPr>
              <a:t>else</a:t>
            </a:r>
            <a:r>
              <a:rPr lang="es-MX" sz="1000" dirty="0">
                <a:solidFill>
                  <a:srgbClr val="0070C0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s-MX" sz="1000" dirty="0">
                <a:solidFill>
                  <a:srgbClr val="0070C0"/>
                </a:solidFill>
                <a:latin typeface="Consolas" panose="020B0609020204030204" pitchFamily="49" charset="0"/>
              </a:rPr>
              <a:t>  </a:t>
            </a:r>
            <a:r>
              <a:rPr lang="es-MX" sz="1000" dirty="0" err="1">
                <a:solidFill>
                  <a:srgbClr val="0070C0"/>
                </a:solidFill>
                <a:latin typeface="Consolas" panose="020B0609020204030204" pitchFamily="49" charset="0"/>
              </a:rPr>
              <a:t>p_aprobaron</a:t>
            </a:r>
            <a:r>
              <a:rPr lang="es-MX" sz="1000" dirty="0">
                <a:solidFill>
                  <a:srgbClr val="0070C0"/>
                </a:solidFill>
                <a:latin typeface="Consolas" panose="020B0609020204030204" pitchFamily="49" charset="0"/>
              </a:rPr>
              <a:t> = (</a:t>
            </a:r>
            <a:r>
              <a:rPr lang="es-MX" sz="1000" dirty="0" err="1">
                <a:solidFill>
                  <a:srgbClr val="0070C0"/>
                </a:solidFill>
                <a:latin typeface="Consolas" panose="020B0609020204030204" pitchFamily="49" charset="0"/>
              </a:rPr>
              <a:t>notas_aprobadas</a:t>
            </a:r>
            <a:r>
              <a:rPr lang="es-MX" sz="1000" dirty="0">
                <a:solidFill>
                  <a:srgbClr val="0070C0"/>
                </a:solidFill>
                <a:latin typeface="Consolas" panose="020B0609020204030204" pitchFamily="49" charset="0"/>
              </a:rPr>
              <a:t>/</a:t>
            </a:r>
            <a:r>
              <a:rPr lang="es-MX" sz="1000" dirty="0" err="1">
                <a:solidFill>
                  <a:srgbClr val="0070C0"/>
                </a:solidFill>
                <a:latin typeface="Consolas" panose="020B0609020204030204" pitchFamily="49" charset="0"/>
              </a:rPr>
              <a:t>total_notas</a:t>
            </a:r>
            <a:r>
              <a:rPr lang="es-MX" sz="1000" dirty="0">
                <a:solidFill>
                  <a:srgbClr val="0070C0"/>
                </a:solidFill>
                <a:latin typeface="Consolas" panose="020B0609020204030204" pitchFamily="49" charset="0"/>
              </a:rPr>
              <a:t>)*100</a:t>
            </a:r>
          </a:p>
          <a:p>
            <a:r>
              <a:rPr lang="es-MX" sz="1000" dirty="0">
                <a:solidFill>
                  <a:srgbClr val="0070C0"/>
                </a:solidFill>
                <a:latin typeface="Consolas" panose="020B0609020204030204" pitchFamily="49" charset="0"/>
              </a:rPr>
              <a:t>  </a:t>
            </a:r>
            <a:r>
              <a:rPr lang="es-MX" sz="1000" dirty="0" err="1">
                <a:solidFill>
                  <a:srgbClr val="0070C0"/>
                </a:solidFill>
                <a:latin typeface="Consolas" panose="020B0609020204030204" pitchFamily="49" charset="0"/>
              </a:rPr>
              <a:t>p_reprobaron</a:t>
            </a:r>
            <a:r>
              <a:rPr lang="es-MX" sz="1000" dirty="0">
                <a:solidFill>
                  <a:srgbClr val="0070C0"/>
                </a:solidFill>
                <a:latin typeface="Consolas" panose="020B0609020204030204" pitchFamily="49" charset="0"/>
              </a:rPr>
              <a:t> = (</a:t>
            </a:r>
            <a:r>
              <a:rPr lang="es-MX" sz="1000" dirty="0" err="1">
                <a:solidFill>
                  <a:srgbClr val="0070C0"/>
                </a:solidFill>
                <a:latin typeface="Consolas" panose="020B0609020204030204" pitchFamily="49" charset="0"/>
              </a:rPr>
              <a:t>notas_reprobadas</a:t>
            </a:r>
            <a:r>
              <a:rPr lang="es-MX" sz="1000" dirty="0">
                <a:solidFill>
                  <a:srgbClr val="0070C0"/>
                </a:solidFill>
                <a:latin typeface="Consolas" panose="020B0609020204030204" pitchFamily="49" charset="0"/>
              </a:rPr>
              <a:t>/</a:t>
            </a:r>
            <a:r>
              <a:rPr lang="es-MX" sz="1000" dirty="0" err="1">
                <a:solidFill>
                  <a:srgbClr val="0070C0"/>
                </a:solidFill>
                <a:latin typeface="Consolas" panose="020B0609020204030204" pitchFamily="49" charset="0"/>
              </a:rPr>
              <a:t>total_notas</a:t>
            </a:r>
            <a:r>
              <a:rPr lang="es-MX" sz="1000" dirty="0">
                <a:solidFill>
                  <a:srgbClr val="0070C0"/>
                </a:solidFill>
                <a:latin typeface="Consolas" panose="020B0609020204030204" pitchFamily="49" charset="0"/>
              </a:rPr>
              <a:t>)*100</a:t>
            </a:r>
          </a:p>
          <a:p>
            <a:r>
              <a:rPr lang="es-MX" sz="1000" dirty="0">
                <a:solidFill>
                  <a:srgbClr val="0070C0"/>
                </a:solidFill>
                <a:latin typeface="Consolas" panose="020B0609020204030204" pitchFamily="49" charset="0"/>
              </a:rPr>
              <a:t>  </a:t>
            </a:r>
            <a:r>
              <a:rPr lang="es-MX" sz="1000" dirty="0" err="1">
                <a:solidFill>
                  <a:schemeClr val="accent6"/>
                </a:solidFill>
                <a:latin typeface="Consolas" panose="020B0609020204030204" pitchFamily="49" charset="0"/>
              </a:rPr>
              <a:t>if</a:t>
            </a:r>
            <a:r>
              <a:rPr lang="es-MX" sz="1000" dirty="0">
                <a:solidFill>
                  <a:schemeClr val="accent6"/>
                </a:solidFill>
                <a:latin typeface="Consolas" panose="020B0609020204030204" pitchFamily="49" charset="0"/>
              </a:rPr>
              <a:t> (</a:t>
            </a:r>
            <a:r>
              <a:rPr lang="es-MX" sz="1000" dirty="0" err="1">
                <a:solidFill>
                  <a:schemeClr val="accent6"/>
                </a:solidFill>
                <a:latin typeface="Consolas" panose="020B0609020204030204" pitchFamily="49" charset="0"/>
              </a:rPr>
              <a:t>notas_aprobadas</a:t>
            </a:r>
            <a:r>
              <a:rPr lang="es-MX" sz="1000" dirty="0">
                <a:solidFill>
                  <a:schemeClr val="accent6"/>
                </a:solidFill>
                <a:latin typeface="Consolas" panose="020B0609020204030204" pitchFamily="49" charset="0"/>
              </a:rPr>
              <a:t> == 0):</a:t>
            </a:r>
          </a:p>
          <a:p>
            <a:r>
              <a:rPr lang="es-MX" sz="1000" dirty="0">
                <a:solidFill>
                  <a:schemeClr val="accent6"/>
                </a:solidFill>
                <a:latin typeface="Consolas" panose="020B0609020204030204" pitchFamily="49" charset="0"/>
              </a:rPr>
              <a:t>    </a:t>
            </a:r>
            <a:r>
              <a:rPr lang="es-MX" sz="1000" dirty="0" err="1">
                <a:solidFill>
                  <a:schemeClr val="accent6"/>
                </a:solidFill>
                <a:latin typeface="Consolas" panose="020B0609020204030204" pitchFamily="49" charset="0"/>
              </a:rPr>
              <a:t>prom_nota_reprobada</a:t>
            </a:r>
            <a:r>
              <a:rPr lang="es-MX" sz="1000" dirty="0">
                <a:solidFill>
                  <a:schemeClr val="accent6"/>
                </a:solidFill>
                <a:latin typeface="Consolas" panose="020B0609020204030204" pitchFamily="49" charset="0"/>
              </a:rPr>
              <a:t> = </a:t>
            </a:r>
            <a:r>
              <a:rPr lang="es-MX" sz="1000" dirty="0" err="1">
                <a:solidFill>
                  <a:schemeClr val="accent6"/>
                </a:solidFill>
                <a:latin typeface="Consolas" panose="020B0609020204030204" pitchFamily="49" charset="0"/>
              </a:rPr>
              <a:t>suma_reprobadas</a:t>
            </a:r>
            <a:r>
              <a:rPr lang="es-MX" sz="1000" dirty="0">
                <a:solidFill>
                  <a:schemeClr val="accent6"/>
                </a:solidFill>
                <a:latin typeface="Consolas" panose="020B0609020204030204" pitchFamily="49" charset="0"/>
              </a:rPr>
              <a:t>/</a:t>
            </a:r>
            <a:r>
              <a:rPr lang="es-MX" sz="1000" dirty="0" err="1">
                <a:solidFill>
                  <a:schemeClr val="accent6"/>
                </a:solidFill>
                <a:latin typeface="Consolas" panose="020B0609020204030204" pitchFamily="49" charset="0"/>
              </a:rPr>
              <a:t>notas_reprobadas</a:t>
            </a:r>
            <a:endParaRPr lang="es-MX" sz="1000" dirty="0">
              <a:solidFill>
                <a:schemeClr val="accent6"/>
              </a:solidFill>
              <a:latin typeface="Consolas" panose="020B0609020204030204" pitchFamily="49" charset="0"/>
            </a:endParaRPr>
          </a:p>
          <a:p>
            <a:r>
              <a:rPr lang="es-MX" sz="1000" dirty="0">
                <a:solidFill>
                  <a:schemeClr val="accent6"/>
                </a:solidFill>
                <a:latin typeface="Consolas" panose="020B0609020204030204" pitchFamily="49" charset="0"/>
              </a:rPr>
              <a:t>    </a:t>
            </a:r>
            <a:r>
              <a:rPr lang="es-MX" sz="1000" dirty="0" err="1">
                <a:solidFill>
                  <a:schemeClr val="accent6"/>
                </a:solidFill>
                <a:latin typeface="Consolas" panose="020B0609020204030204" pitchFamily="49" charset="0"/>
              </a:rPr>
              <a:t>prom_nota_aprobada</a:t>
            </a:r>
            <a:r>
              <a:rPr lang="es-MX" sz="1000" dirty="0">
                <a:solidFill>
                  <a:schemeClr val="accent6"/>
                </a:solidFill>
                <a:latin typeface="Consolas" panose="020B0609020204030204" pitchFamily="49" charset="0"/>
              </a:rPr>
              <a:t> = 0</a:t>
            </a:r>
          </a:p>
          <a:p>
            <a:r>
              <a:rPr lang="es-MX" sz="1000" dirty="0">
                <a:solidFill>
                  <a:schemeClr val="accent6"/>
                </a:solidFill>
                <a:latin typeface="Consolas" panose="020B0609020204030204" pitchFamily="49" charset="0"/>
              </a:rPr>
              <a:t>  </a:t>
            </a:r>
            <a:r>
              <a:rPr lang="es-MX" sz="1000" dirty="0" err="1">
                <a:solidFill>
                  <a:schemeClr val="accent6"/>
                </a:solidFill>
                <a:latin typeface="Consolas" panose="020B0609020204030204" pitchFamily="49" charset="0"/>
              </a:rPr>
              <a:t>elif</a:t>
            </a:r>
            <a:r>
              <a:rPr lang="es-MX" sz="1000" dirty="0">
                <a:solidFill>
                  <a:schemeClr val="accent6"/>
                </a:solidFill>
                <a:latin typeface="Consolas" panose="020B0609020204030204" pitchFamily="49" charset="0"/>
              </a:rPr>
              <a:t> (</a:t>
            </a:r>
            <a:r>
              <a:rPr lang="es-MX" sz="1000" dirty="0" err="1">
                <a:solidFill>
                  <a:schemeClr val="accent6"/>
                </a:solidFill>
                <a:latin typeface="Consolas" panose="020B0609020204030204" pitchFamily="49" charset="0"/>
              </a:rPr>
              <a:t>notas_reprobadas</a:t>
            </a:r>
            <a:r>
              <a:rPr lang="es-MX" sz="1000" dirty="0">
                <a:solidFill>
                  <a:schemeClr val="accent6"/>
                </a:solidFill>
                <a:latin typeface="Consolas" panose="020B0609020204030204" pitchFamily="49" charset="0"/>
              </a:rPr>
              <a:t> == 0):</a:t>
            </a:r>
          </a:p>
          <a:p>
            <a:r>
              <a:rPr lang="es-MX" sz="1000" dirty="0">
                <a:solidFill>
                  <a:schemeClr val="accent6"/>
                </a:solidFill>
                <a:latin typeface="Consolas" panose="020B0609020204030204" pitchFamily="49" charset="0"/>
              </a:rPr>
              <a:t>    </a:t>
            </a:r>
            <a:r>
              <a:rPr lang="es-MX" sz="1000" dirty="0" err="1">
                <a:solidFill>
                  <a:schemeClr val="accent6"/>
                </a:solidFill>
                <a:latin typeface="Consolas" panose="020B0609020204030204" pitchFamily="49" charset="0"/>
              </a:rPr>
              <a:t>prom_nota_aprobada</a:t>
            </a:r>
            <a:r>
              <a:rPr lang="es-MX" sz="1000" dirty="0">
                <a:solidFill>
                  <a:schemeClr val="accent6"/>
                </a:solidFill>
                <a:latin typeface="Consolas" panose="020B0609020204030204" pitchFamily="49" charset="0"/>
              </a:rPr>
              <a:t> = </a:t>
            </a:r>
            <a:r>
              <a:rPr lang="es-MX" sz="1000" dirty="0" err="1">
                <a:solidFill>
                  <a:schemeClr val="accent6"/>
                </a:solidFill>
                <a:latin typeface="Consolas" panose="020B0609020204030204" pitchFamily="49" charset="0"/>
              </a:rPr>
              <a:t>suma_aprobadas</a:t>
            </a:r>
            <a:r>
              <a:rPr lang="es-MX" sz="1000" dirty="0">
                <a:solidFill>
                  <a:schemeClr val="accent6"/>
                </a:solidFill>
                <a:latin typeface="Consolas" panose="020B0609020204030204" pitchFamily="49" charset="0"/>
              </a:rPr>
              <a:t>/</a:t>
            </a:r>
            <a:r>
              <a:rPr lang="es-MX" sz="1000" dirty="0" err="1">
                <a:solidFill>
                  <a:schemeClr val="accent6"/>
                </a:solidFill>
                <a:latin typeface="Consolas" panose="020B0609020204030204" pitchFamily="49" charset="0"/>
              </a:rPr>
              <a:t>notas_aprobadas</a:t>
            </a:r>
            <a:endParaRPr lang="es-MX" sz="1000" dirty="0">
              <a:solidFill>
                <a:schemeClr val="accent6"/>
              </a:solidFill>
              <a:latin typeface="Consolas" panose="020B0609020204030204" pitchFamily="49" charset="0"/>
            </a:endParaRPr>
          </a:p>
          <a:p>
            <a:r>
              <a:rPr lang="es-MX" sz="1000" dirty="0">
                <a:solidFill>
                  <a:schemeClr val="accent6"/>
                </a:solidFill>
                <a:latin typeface="Consolas" panose="020B0609020204030204" pitchFamily="49" charset="0"/>
              </a:rPr>
              <a:t>    </a:t>
            </a:r>
            <a:r>
              <a:rPr lang="es-MX" sz="1000" dirty="0" err="1">
                <a:solidFill>
                  <a:schemeClr val="accent6"/>
                </a:solidFill>
                <a:latin typeface="Consolas" panose="020B0609020204030204" pitchFamily="49" charset="0"/>
              </a:rPr>
              <a:t>prom_nota_reprobada</a:t>
            </a:r>
            <a:r>
              <a:rPr lang="es-MX" sz="1000" dirty="0">
                <a:solidFill>
                  <a:schemeClr val="accent6"/>
                </a:solidFill>
                <a:latin typeface="Consolas" panose="020B0609020204030204" pitchFamily="49" charset="0"/>
              </a:rPr>
              <a:t> = 0</a:t>
            </a:r>
          </a:p>
          <a:p>
            <a:r>
              <a:rPr lang="es-MX" sz="1000" dirty="0">
                <a:solidFill>
                  <a:schemeClr val="accent6"/>
                </a:solidFill>
                <a:latin typeface="Consolas" panose="020B0609020204030204" pitchFamily="49" charset="0"/>
              </a:rPr>
              <a:t>  </a:t>
            </a:r>
            <a:r>
              <a:rPr lang="es-MX" sz="1000" dirty="0" err="1">
                <a:solidFill>
                  <a:schemeClr val="accent6"/>
                </a:solidFill>
                <a:latin typeface="Consolas" panose="020B0609020204030204" pitchFamily="49" charset="0"/>
              </a:rPr>
              <a:t>else</a:t>
            </a:r>
            <a:r>
              <a:rPr lang="es-MX" sz="1000" dirty="0">
                <a:solidFill>
                  <a:schemeClr val="accent6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s-MX" sz="1000" dirty="0">
                <a:solidFill>
                  <a:schemeClr val="accent6"/>
                </a:solidFill>
                <a:latin typeface="Consolas" panose="020B0609020204030204" pitchFamily="49" charset="0"/>
              </a:rPr>
              <a:t>    </a:t>
            </a:r>
            <a:r>
              <a:rPr lang="es-MX" sz="1000" dirty="0" err="1">
                <a:solidFill>
                  <a:schemeClr val="accent6"/>
                </a:solidFill>
                <a:latin typeface="Consolas" panose="020B0609020204030204" pitchFamily="49" charset="0"/>
              </a:rPr>
              <a:t>prom_nota_reprobada</a:t>
            </a:r>
            <a:r>
              <a:rPr lang="es-MX" sz="1000" dirty="0">
                <a:solidFill>
                  <a:schemeClr val="accent6"/>
                </a:solidFill>
                <a:latin typeface="Consolas" panose="020B0609020204030204" pitchFamily="49" charset="0"/>
              </a:rPr>
              <a:t> = </a:t>
            </a:r>
            <a:r>
              <a:rPr lang="es-MX" sz="1000" dirty="0" err="1">
                <a:solidFill>
                  <a:schemeClr val="accent6"/>
                </a:solidFill>
                <a:latin typeface="Consolas" panose="020B0609020204030204" pitchFamily="49" charset="0"/>
              </a:rPr>
              <a:t>suma_reprobadas</a:t>
            </a:r>
            <a:r>
              <a:rPr lang="es-MX" sz="1000" dirty="0">
                <a:solidFill>
                  <a:schemeClr val="accent6"/>
                </a:solidFill>
                <a:latin typeface="Consolas" panose="020B0609020204030204" pitchFamily="49" charset="0"/>
              </a:rPr>
              <a:t>/</a:t>
            </a:r>
            <a:r>
              <a:rPr lang="es-MX" sz="1000" dirty="0" err="1">
                <a:solidFill>
                  <a:schemeClr val="accent6"/>
                </a:solidFill>
                <a:latin typeface="Consolas" panose="020B0609020204030204" pitchFamily="49" charset="0"/>
              </a:rPr>
              <a:t>notas_reprobadas</a:t>
            </a:r>
            <a:endParaRPr lang="es-MX" sz="1000" dirty="0">
              <a:solidFill>
                <a:schemeClr val="accent6"/>
              </a:solidFill>
              <a:latin typeface="Consolas" panose="020B0609020204030204" pitchFamily="49" charset="0"/>
            </a:endParaRPr>
          </a:p>
          <a:p>
            <a:r>
              <a:rPr lang="es-MX" sz="1000" dirty="0">
                <a:solidFill>
                  <a:schemeClr val="accent6"/>
                </a:solidFill>
                <a:latin typeface="Consolas" panose="020B0609020204030204" pitchFamily="49" charset="0"/>
              </a:rPr>
              <a:t>    </a:t>
            </a:r>
            <a:r>
              <a:rPr lang="es-MX" sz="1000" dirty="0" err="1">
                <a:solidFill>
                  <a:schemeClr val="accent6"/>
                </a:solidFill>
                <a:latin typeface="Consolas" panose="020B0609020204030204" pitchFamily="49" charset="0"/>
              </a:rPr>
              <a:t>prom_nota_aprobada</a:t>
            </a:r>
            <a:r>
              <a:rPr lang="es-MX" sz="1000" dirty="0">
                <a:solidFill>
                  <a:schemeClr val="accent6"/>
                </a:solidFill>
                <a:latin typeface="Consolas" panose="020B0609020204030204" pitchFamily="49" charset="0"/>
              </a:rPr>
              <a:t> = </a:t>
            </a:r>
            <a:r>
              <a:rPr lang="es-MX" sz="1000" dirty="0" err="1">
                <a:solidFill>
                  <a:schemeClr val="accent6"/>
                </a:solidFill>
                <a:latin typeface="Consolas" panose="020B0609020204030204" pitchFamily="49" charset="0"/>
              </a:rPr>
              <a:t>suma_aprobadas</a:t>
            </a:r>
            <a:r>
              <a:rPr lang="es-MX" sz="1000" dirty="0">
                <a:solidFill>
                  <a:schemeClr val="accent6"/>
                </a:solidFill>
                <a:latin typeface="Consolas" panose="020B0609020204030204" pitchFamily="49" charset="0"/>
              </a:rPr>
              <a:t>/</a:t>
            </a:r>
            <a:r>
              <a:rPr lang="es-MX" sz="1000" dirty="0" err="1">
                <a:solidFill>
                  <a:schemeClr val="accent6"/>
                </a:solidFill>
                <a:latin typeface="Consolas" panose="020B0609020204030204" pitchFamily="49" charset="0"/>
              </a:rPr>
              <a:t>notas_aprobadas</a:t>
            </a:r>
            <a:endParaRPr lang="es-MX" sz="1000" dirty="0">
              <a:solidFill>
                <a:schemeClr val="accent6"/>
              </a:solidFill>
              <a:latin typeface="Consolas" panose="020B0609020204030204" pitchFamily="49" charset="0"/>
            </a:endParaRPr>
          </a:p>
          <a:p>
            <a:r>
              <a:rPr lang="es-MX" sz="1000" dirty="0">
                <a:solidFill>
                  <a:srgbClr val="0070C0"/>
                </a:solidFill>
                <a:latin typeface="Consolas" panose="020B0609020204030204" pitchFamily="49" charset="0"/>
              </a:rPr>
              <a:t>  </a:t>
            </a:r>
            <a:r>
              <a:rPr lang="es-MX" sz="1000" dirty="0" err="1">
                <a:solidFill>
                  <a:srgbClr val="0070C0"/>
                </a:solidFill>
                <a:latin typeface="Consolas" panose="020B0609020204030204" pitchFamily="49" charset="0"/>
              </a:rPr>
              <a:t>prom</a:t>
            </a:r>
            <a:r>
              <a:rPr lang="es-MX" sz="1000" dirty="0">
                <a:solidFill>
                  <a:srgbClr val="0070C0"/>
                </a:solidFill>
                <a:latin typeface="Consolas" panose="020B0609020204030204" pitchFamily="49" charset="0"/>
              </a:rPr>
              <a:t> = </a:t>
            </a:r>
            <a:r>
              <a:rPr lang="es-MX" sz="1000" dirty="0" err="1">
                <a:solidFill>
                  <a:srgbClr val="0070C0"/>
                </a:solidFill>
                <a:latin typeface="Consolas" panose="020B0609020204030204" pitchFamily="49" charset="0"/>
              </a:rPr>
              <a:t>suma_notas</a:t>
            </a:r>
            <a:r>
              <a:rPr lang="es-MX" sz="1000" dirty="0">
                <a:solidFill>
                  <a:srgbClr val="0070C0"/>
                </a:solidFill>
                <a:latin typeface="Consolas" panose="020B0609020204030204" pitchFamily="49" charset="0"/>
              </a:rPr>
              <a:t>/</a:t>
            </a:r>
            <a:r>
              <a:rPr lang="es-MX" sz="1000" dirty="0" err="1">
                <a:solidFill>
                  <a:srgbClr val="0070C0"/>
                </a:solidFill>
                <a:latin typeface="Consolas" panose="020B0609020204030204" pitchFamily="49" charset="0"/>
              </a:rPr>
              <a:t>total_notas</a:t>
            </a:r>
            <a:endParaRPr lang="es-MX" sz="1000" dirty="0">
              <a:solidFill>
                <a:srgbClr val="0070C0"/>
              </a:solidFill>
              <a:latin typeface="Consolas" panose="020B0609020204030204" pitchFamily="49" charset="0"/>
            </a:endParaRPr>
          </a:p>
          <a:p>
            <a:r>
              <a:rPr lang="es-MX" sz="1000" dirty="0">
                <a:solidFill>
                  <a:srgbClr val="0070C0"/>
                </a:solidFill>
                <a:latin typeface="Consolas" panose="020B0609020204030204" pitchFamily="49" charset="0"/>
              </a:rPr>
              <a:t>  </a:t>
            </a:r>
            <a:r>
              <a:rPr lang="es-MX" sz="1000" dirty="0" err="1">
                <a:solidFill>
                  <a:srgbClr val="0070C0"/>
                </a:solidFill>
                <a:latin typeface="Consolas" panose="020B0609020204030204" pitchFamily="49" charset="0"/>
              </a:rPr>
              <a:t>print</a:t>
            </a:r>
            <a:r>
              <a:rPr lang="es-MX" sz="10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s-MX" sz="1000" dirty="0" err="1">
                <a:solidFill>
                  <a:srgbClr val="0070C0"/>
                </a:solidFill>
                <a:latin typeface="Consolas" panose="020B0609020204030204" pitchFamily="49" charset="0"/>
              </a:rPr>
              <a:t>f"Porcentaje</a:t>
            </a:r>
            <a:r>
              <a:rPr lang="es-MX" sz="1000" dirty="0">
                <a:solidFill>
                  <a:srgbClr val="0070C0"/>
                </a:solidFill>
                <a:latin typeface="Consolas" panose="020B0609020204030204" pitchFamily="49" charset="0"/>
              </a:rPr>
              <a:t> aprobados: {</a:t>
            </a:r>
            <a:r>
              <a:rPr lang="es-MX" sz="1000" dirty="0" err="1">
                <a:solidFill>
                  <a:srgbClr val="0070C0"/>
                </a:solidFill>
                <a:latin typeface="Consolas" panose="020B0609020204030204" pitchFamily="49" charset="0"/>
              </a:rPr>
              <a:t>p_aprobaron</a:t>
            </a:r>
            <a:r>
              <a:rPr lang="es-MX" sz="1000" dirty="0">
                <a:solidFill>
                  <a:srgbClr val="0070C0"/>
                </a:solidFill>
                <a:latin typeface="Consolas" panose="020B0609020204030204" pitchFamily="49" charset="0"/>
              </a:rPr>
              <a:t>}%")</a:t>
            </a:r>
          </a:p>
          <a:p>
            <a:r>
              <a:rPr lang="es-MX" sz="1000" dirty="0">
                <a:solidFill>
                  <a:srgbClr val="0070C0"/>
                </a:solidFill>
                <a:latin typeface="Consolas" panose="020B0609020204030204" pitchFamily="49" charset="0"/>
              </a:rPr>
              <a:t>  </a:t>
            </a:r>
            <a:r>
              <a:rPr lang="es-MX" sz="1000" dirty="0" err="1">
                <a:solidFill>
                  <a:srgbClr val="0070C0"/>
                </a:solidFill>
                <a:latin typeface="Consolas" panose="020B0609020204030204" pitchFamily="49" charset="0"/>
              </a:rPr>
              <a:t>print</a:t>
            </a:r>
            <a:r>
              <a:rPr lang="es-MX" sz="10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s-MX" sz="1000" dirty="0" err="1">
                <a:solidFill>
                  <a:srgbClr val="0070C0"/>
                </a:solidFill>
                <a:latin typeface="Consolas" panose="020B0609020204030204" pitchFamily="49" charset="0"/>
              </a:rPr>
              <a:t>f"Porcentaje</a:t>
            </a:r>
            <a:r>
              <a:rPr lang="es-MX" sz="1000" dirty="0">
                <a:solidFill>
                  <a:srgbClr val="0070C0"/>
                </a:solidFill>
                <a:latin typeface="Consolas" panose="020B0609020204030204" pitchFamily="49" charset="0"/>
              </a:rPr>
              <a:t> reprobados: {</a:t>
            </a:r>
            <a:r>
              <a:rPr lang="es-MX" sz="1000" dirty="0" err="1">
                <a:solidFill>
                  <a:srgbClr val="0070C0"/>
                </a:solidFill>
                <a:latin typeface="Consolas" panose="020B0609020204030204" pitchFamily="49" charset="0"/>
              </a:rPr>
              <a:t>p_reprobaron</a:t>
            </a:r>
            <a:r>
              <a:rPr lang="es-MX" sz="1000" dirty="0">
                <a:solidFill>
                  <a:srgbClr val="0070C0"/>
                </a:solidFill>
                <a:latin typeface="Consolas" panose="020B0609020204030204" pitchFamily="49" charset="0"/>
              </a:rPr>
              <a:t>}%")</a:t>
            </a:r>
          </a:p>
          <a:p>
            <a:r>
              <a:rPr lang="es-MX" sz="1000" dirty="0">
                <a:solidFill>
                  <a:srgbClr val="0070C0"/>
                </a:solidFill>
                <a:latin typeface="Consolas" panose="020B0609020204030204" pitchFamily="49" charset="0"/>
              </a:rPr>
              <a:t>  </a:t>
            </a:r>
            <a:r>
              <a:rPr lang="es-MX" sz="1000" dirty="0" err="1">
                <a:solidFill>
                  <a:srgbClr val="0070C0"/>
                </a:solidFill>
                <a:latin typeface="Consolas" panose="020B0609020204030204" pitchFamily="49" charset="0"/>
              </a:rPr>
              <a:t>print</a:t>
            </a:r>
            <a:r>
              <a:rPr lang="es-MX" sz="10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s-MX" sz="1000" dirty="0" err="1">
                <a:solidFill>
                  <a:srgbClr val="0070C0"/>
                </a:solidFill>
                <a:latin typeface="Consolas" panose="020B0609020204030204" pitchFamily="49" charset="0"/>
              </a:rPr>
              <a:t>f"Promedio</a:t>
            </a:r>
            <a:r>
              <a:rPr lang="es-MX" sz="1000" dirty="0">
                <a:solidFill>
                  <a:srgbClr val="0070C0"/>
                </a:solidFill>
                <a:latin typeface="Consolas" panose="020B0609020204030204" pitchFamily="49" charset="0"/>
              </a:rPr>
              <a:t> reprobados: {</a:t>
            </a:r>
            <a:r>
              <a:rPr lang="es-MX" sz="1000" dirty="0" err="1">
                <a:solidFill>
                  <a:srgbClr val="0070C0"/>
                </a:solidFill>
                <a:latin typeface="Consolas" panose="020B0609020204030204" pitchFamily="49" charset="0"/>
              </a:rPr>
              <a:t>prom_nota_reprobada</a:t>
            </a:r>
            <a:r>
              <a:rPr lang="es-MX" sz="1000" dirty="0">
                <a:solidFill>
                  <a:srgbClr val="0070C0"/>
                </a:solidFill>
                <a:latin typeface="Consolas" panose="020B0609020204030204" pitchFamily="49" charset="0"/>
              </a:rPr>
              <a:t>}")</a:t>
            </a:r>
          </a:p>
          <a:p>
            <a:r>
              <a:rPr lang="es-MX" sz="1000" dirty="0">
                <a:solidFill>
                  <a:srgbClr val="0070C0"/>
                </a:solidFill>
                <a:latin typeface="Consolas" panose="020B0609020204030204" pitchFamily="49" charset="0"/>
              </a:rPr>
              <a:t>  </a:t>
            </a:r>
            <a:r>
              <a:rPr lang="es-MX" sz="1000" dirty="0" err="1">
                <a:solidFill>
                  <a:srgbClr val="0070C0"/>
                </a:solidFill>
                <a:latin typeface="Consolas" panose="020B0609020204030204" pitchFamily="49" charset="0"/>
              </a:rPr>
              <a:t>print</a:t>
            </a:r>
            <a:r>
              <a:rPr lang="es-MX" sz="10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s-MX" sz="1000" dirty="0" err="1">
                <a:solidFill>
                  <a:srgbClr val="0070C0"/>
                </a:solidFill>
                <a:latin typeface="Consolas" panose="020B0609020204030204" pitchFamily="49" charset="0"/>
              </a:rPr>
              <a:t>f"Promedio</a:t>
            </a:r>
            <a:r>
              <a:rPr lang="es-MX" sz="1000" dirty="0">
                <a:solidFill>
                  <a:srgbClr val="0070C0"/>
                </a:solidFill>
                <a:latin typeface="Consolas" panose="020B0609020204030204" pitchFamily="49" charset="0"/>
              </a:rPr>
              <a:t> aprobadas: {</a:t>
            </a:r>
            <a:r>
              <a:rPr lang="es-MX" sz="1000" dirty="0" err="1">
                <a:solidFill>
                  <a:srgbClr val="0070C0"/>
                </a:solidFill>
                <a:latin typeface="Consolas" panose="020B0609020204030204" pitchFamily="49" charset="0"/>
              </a:rPr>
              <a:t>prom_nota_aprobada</a:t>
            </a:r>
            <a:r>
              <a:rPr lang="es-MX" sz="1000" dirty="0">
                <a:solidFill>
                  <a:srgbClr val="0070C0"/>
                </a:solidFill>
                <a:latin typeface="Consolas" panose="020B0609020204030204" pitchFamily="49" charset="0"/>
              </a:rPr>
              <a:t>}")</a:t>
            </a:r>
          </a:p>
          <a:p>
            <a:r>
              <a:rPr lang="es-MX" sz="1000" dirty="0">
                <a:solidFill>
                  <a:srgbClr val="0070C0"/>
                </a:solidFill>
                <a:latin typeface="Consolas" panose="020B0609020204030204" pitchFamily="49" charset="0"/>
              </a:rPr>
              <a:t>  </a:t>
            </a:r>
            <a:r>
              <a:rPr lang="es-MX" sz="1000" dirty="0" err="1">
                <a:solidFill>
                  <a:srgbClr val="0070C0"/>
                </a:solidFill>
                <a:latin typeface="Consolas" panose="020B0609020204030204" pitchFamily="49" charset="0"/>
              </a:rPr>
              <a:t>print</a:t>
            </a:r>
            <a:r>
              <a:rPr lang="es-MX" sz="10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s-MX" sz="1000" dirty="0" err="1">
                <a:solidFill>
                  <a:srgbClr val="0070C0"/>
                </a:solidFill>
                <a:latin typeface="Consolas" panose="020B0609020204030204" pitchFamily="49" charset="0"/>
              </a:rPr>
              <a:t>f"Promedio</a:t>
            </a:r>
            <a:r>
              <a:rPr lang="es-MX" sz="1000" dirty="0">
                <a:solidFill>
                  <a:srgbClr val="0070C0"/>
                </a:solidFill>
                <a:latin typeface="Consolas" panose="020B0609020204030204" pitchFamily="49" charset="0"/>
              </a:rPr>
              <a:t> de notas: {</a:t>
            </a:r>
            <a:r>
              <a:rPr lang="es-MX" sz="1000" dirty="0" err="1">
                <a:solidFill>
                  <a:srgbClr val="0070C0"/>
                </a:solidFill>
                <a:latin typeface="Consolas" panose="020B0609020204030204" pitchFamily="49" charset="0"/>
              </a:rPr>
              <a:t>prom</a:t>
            </a:r>
            <a:r>
              <a:rPr lang="es-MX" sz="1000" dirty="0">
                <a:solidFill>
                  <a:srgbClr val="0070C0"/>
                </a:solidFill>
                <a:latin typeface="Consolas" panose="020B0609020204030204" pitchFamily="49" charset="0"/>
              </a:rPr>
              <a:t>}") </a:t>
            </a: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C30DE02D-97C8-4CCD-B10A-CBF7237694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2450" y="681162"/>
            <a:ext cx="4264320" cy="2664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936081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4 Título">
            <a:extLst>
              <a:ext uri="{FF2B5EF4-FFF2-40B4-BE49-F238E27FC236}">
                <a16:creationId xmlns:a16="http://schemas.microsoft.com/office/drawing/2014/main" id="{AE7AE4FE-857D-48EA-8C2E-EFF7E2B785AF}"/>
              </a:ext>
            </a:extLst>
          </p:cNvPr>
          <p:cNvSpPr txBox="1">
            <a:spLocks/>
          </p:cNvSpPr>
          <p:nvPr/>
        </p:nvSpPr>
        <p:spPr>
          <a:xfrm>
            <a:off x="74737" y="44624"/>
            <a:ext cx="4183902" cy="6788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000" dirty="0"/>
              <a:t>Ejemplo calificaciones</a:t>
            </a:r>
          </a:p>
        </p:txBody>
      </p:sp>
      <p:sp>
        <p:nvSpPr>
          <p:cNvPr id="5" name="5 Rectángulo">
            <a:extLst>
              <a:ext uri="{FF2B5EF4-FFF2-40B4-BE49-F238E27FC236}">
                <a16:creationId xmlns:a16="http://schemas.microsoft.com/office/drawing/2014/main" id="{06D6ADF4-009E-42C9-93D7-ACCDE5E5538F}"/>
              </a:ext>
            </a:extLst>
          </p:cNvPr>
          <p:cNvSpPr/>
          <p:nvPr/>
        </p:nvSpPr>
        <p:spPr>
          <a:xfrm>
            <a:off x="179512" y="748147"/>
            <a:ext cx="249709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CO" sz="2000" b="1" dirty="0"/>
              <a:t>Resultados esperados</a:t>
            </a:r>
            <a:endParaRPr lang="es-CO" sz="2000" dirty="0"/>
          </a:p>
        </p:txBody>
      </p:sp>
      <p:graphicFrame>
        <p:nvGraphicFramePr>
          <p:cNvPr id="6" name="Tabla 9">
            <a:extLst>
              <a:ext uri="{FF2B5EF4-FFF2-40B4-BE49-F238E27FC236}">
                <a16:creationId xmlns:a16="http://schemas.microsoft.com/office/drawing/2014/main" id="{A18D4279-D5A7-44DF-B5D1-7CB09A895120}"/>
              </a:ext>
            </a:extLst>
          </p:cNvPr>
          <p:cNvGraphicFramePr>
            <a:graphicFrameLocks noGrp="1"/>
          </p:cNvGraphicFramePr>
          <p:nvPr/>
        </p:nvGraphicFramePr>
        <p:xfrm>
          <a:off x="271297" y="1181003"/>
          <a:ext cx="3821060" cy="246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92867">
                  <a:extLst>
                    <a:ext uri="{9D8B030D-6E8A-4147-A177-3AD203B41FA5}">
                      <a16:colId xmlns:a16="http://schemas.microsoft.com/office/drawing/2014/main" val="1520359308"/>
                    </a:ext>
                  </a:extLst>
                </a:gridCol>
                <a:gridCol w="1728193">
                  <a:extLst>
                    <a:ext uri="{9D8B030D-6E8A-4147-A177-3AD203B41FA5}">
                      <a16:colId xmlns:a16="http://schemas.microsoft.com/office/drawing/2014/main" val="4218542073"/>
                    </a:ext>
                  </a:extLst>
                </a:gridCol>
              </a:tblGrid>
              <a:tr h="306900">
                <a:tc>
                  <a:txBody>
                    <a:bodyPr/>
                    <a:lstStyle/>
                    <a:p>
                      <a:r>
                        <a:rPr lang="es-CO" sz="1400" b="1" dirty="0">
                          <a:solidFill>
                            <a:schemeClr val="bg1"/>
                          </a:solidFill>
                          <a:latin typeface="+mn-lt"/>
                        </a:rPr>
                        <a:t>Numero de estudiantes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400" dirty="0">
                          <a:latin typeface="+mn-lt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64777"/>
                  </a:ext>
                </a:extLst>
              </a:tr>
              <a:tr h="306900">
                <a:tc>
                  <a:txBody>
                    <a:bodyPr/>
                    <a:lstStyle/>
                    <a:p>
                      <a:r>
                        <a:rPr lang="es-MX" sz="1400" b="1" dirty="0">
                          <a:solidFill>
                            <a:schemeClr val="bg1"/>
                          </a:solidFill>
                          <a:latin typeface="+mn-lt"/>
                        </a:rPr>
                        <a:t>Notas</a:t>
                      </a:r>
                      <a:endParaRPr lang="es-CO" sz="14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400" dirty="0"/>
                        <a:t>4.0, 2.5, 3.0, 1.5, 4.8</a:t>
                      </a:r>
                      <a:endParaRPr lang="es-CO" sz="140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99680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sz="1400" b="1" dirty="0">
                          <a:solidFill>
                            <a:schemeClr val="bg1"/>
                          </a:solidFill>
                          <a:latin typeface="+mn-lt"/>
                        </a:rPr>
                        <a:t>Aprobaron</a:t>
                      </a:r>
                      <a:endParaRPr lang="es-CO" sz="14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400" dirty="0">
                          <a:latin typeface="+mn-lt"/>
                        </a:rPr>
                        <a:t>(3) 60%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25575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sz="1400" b="1" dirty="0">
                          <a:solidFill>
                            <a:schemeClr val="bg1"/>
                          </a:solidFill>
                          <a:latin typeface="+mn-lt"/>
                        </a:rPr>
                        <a:t>Reprobaron</a:t>
                      </a:r>
                      <a:endParaRPr lang="es-CO" sz="14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400" dirty="0">
                          <a:latin typeface="+mn-lt"/>
                        </a:rPr>
                        <a:t>(2) 40%</a:t>
                      </a:r>
                      <a:endParaRPr lang="es-CO" sz="140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70235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sz="1400" b="1" dirty="0">
                          <a:solidFill>
                            <a:schemeClr val="bg1"/>
                          </a:solidFill>
                          <a:latin typeface="+mn-lt"/>
                        </a:rPr>
                        <a:t>Promedio nota aprobada</a:t>
                      </a:r>
                      <a:endParaRPr lang="es-CO" sz="14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400" dirty="0"/>
                        <a:t>3.93</a:t>
                      </a:r>
                      <a:endParaRPr lang="es-CO" sz="140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56756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400" b="1" dirty="0">
                          <a:solidFill>
                            <a:schemeClr val="bg1"/>
                          </a:solidFill>
                          <a:latin typeface="+mn-lt"/>
                        </a:rPr>
                        <a:t>Promedio nota reprobada</a:t>
                      </a:r>
                      <a:endParaRPr lang="es-CO" sz="14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400" dirty="0">
                          <a:latin typeface="+mn-lt"/>
                        </a:rPr>
                        <a:t>2.0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6380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sz="1400" b="1" dirty="0">
                          <a:solidFill>
                            <a:schemeClr val="bg1"/>
                          </a:solidFill>
                          <a:latin typeface="+mn-lt"/>
                        </a:rPr>
                        <a:t>Promedio general</a:t>
                      </a:r>
                      <a:endParaRPr lang="es-CO" sz="14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400" dirty="0"/>
                        <a:t>3.16</a:t>
                      </a:r>
                      <a:endParaRPr lang="es-CO" sz="140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0238023"/>
                  </a:ext>
                </a:extLst>
              </a:tr>
            </a:tbl>
          </a:graphicData>
        </a:graphic>
      </p:graphicFrame>
      <p:sp>
        <p:nvSpPr>
          <p:cNvPr id="7" name="5 Rectángulo">
            <a:extLst>
              <a:ext uri="{FF2B5EF4-FFF2-40B4-BE49-F238E27FC236}">
                <a16:creationId xmlns:a16="http://schemas.microsoft.com/office/drawing/2014/main" id="{00F0CF2A-B262-41B0-B4E9-5B653595AB12}"/>
              </a:ext>
            </a:extLst>
          </p:cNvPr>
          <p:cNvSpPr/>
          <p:nvPr/>
        </p:nvSpPr>
        <p:spPr>
          <a:xfrm>
            <a:off x="179512" y="3820978"/>
            <a:ext cx="286551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CO" sz="2000" b="1" dirty="0"/>
              <a:t>Prueba de escritorio</a:t>
            </a:r>
            <a:endParaRPr lang="es-CO" sz="2000" dirty="0"/>
          </a:p>
        </p:txBody>
      </p:sp>
      <p:sp>
        <p:nvSpPr>
          <p:cNvPr id="8" name="5 Rectángulo">
            <a:extLst>
              <a:ext uri="{FF2B5EF4-FFF2-40B4-BE49-F238E27FC236}">
                <a16:creationId xmlns:a16="http://schemas.microsoft.com/office/drawing/2014/main" id="{A1F958CD-90B1-4FD7-82AD-E6BF1E364483}"/>
              </a:ext>
            </a:extLst>
          </p:cNvPr>
          <p:cNvSpPr/>
          <p:nvPr/>
        </p:nvSpPr>
        <p:spPr>
          <a:xfrm>
            <a:off x="179512" y="4221088"/>
            <a:ext cx="3912845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CO" sz="1400" dirty="0"/>
              <a:t>Realizar la prueba de escritorio para verificar que el algoritmo este bien planteado</a:t>
            </a:r>
          </a:p>
        </p:txBody>
      </p:sp>
      <p:sp>
        <p:nvSpPr>
          <p:cNvPr id="11" name="5 Rectángulo">
            <a:extLst>
              <a:ext uri="{FF2B5EF4-FFF2-40B4-BE49-F238E27FC236}">
                <a16:creationId xmlns:a16="http://schemas.microsoft.com/office/drawing/2014/main" id="{2F52C242-D544-42FF-85EB-E5833E015487}"/>
              </a:ext>
            </a:extLst>
          </p:cNvPr>
          <p:cNvSpPr/>
          <p:nvPr/>
        </p:nvSpPr>
        <p:spPr>
          <a:xfrm>
            <a:off x="179512" y="5054783"/>
            <a:ext cx="3912845" cy="5232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s-CO" sz="1400" b="1" dirty="0"/>
              <a:t>Nota</a:t>
            </a:r>
            <a:r>
              <a:rPr lang="es-CO" sz="1400" dirty="0"/>
              <a:t>: Este programa así como esta planeado tiene aun un bug grave. Encuéntrelo y corríjalo.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B078200F-C20A-48A2-859B-D0169CD03165}"/>
              </a:ext>
            </a:extLst>
          </p:cNvPr>
          <p:cNvSpPr txBox="1"/>
          <p:nvPr/>
        </p:nvSpPr>
        <p:spPr>
          <a:xfrm>
            <a:off x="4258639" y="332656"/>
            <a:ext cx="4777857" cy="61863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MX" sz="1100" dirty="0">
                <a:latin typeface="Consolas" panose="020B0609020204030204" pitchFamily="49" charset="0"/>
              </a:rPr>
              <a:t>NOTA_MINIMA = 3.0</a:t>
            </a:r>
          </a:p>
          <a:p>
            <a:r>
              <a:rPr lang="es-MX" sz="1100" dirty="0" err="1">
                <a:latin typeface="Consolas" panose="020B0609020204030204" pitchFamily="49" charset="0"/>
              </a:rPr>
              <a:t>notas_reprobadas</a:t>
            </a:r>
            <a:r>
              <a:rPr lang="es-MX" sz="1100" dirty="0">
                <a:latin typeface="Consolas" panose="020B0609020204030204" pitchFamily="49" charset="0"/>
              </a:rPr>
              <a:t> = 0</a:t>
            </a:r>
          </a:p>
          <a:p>
            <a:r>
              <a:rPr lang="es-MX" sz="1100" dirty="0" err="1">
                <a:latin typeface="Consolas" panose="020B0609020204030204" pitchFamily="49" charset="0"/>
              </a:rPr>
              <a:t>notas_aprobadas</a:t>
            </a:r>
            <a:r>
              <a:rPr lang="es-MX" sz="1100" dirty="0">
                <a:latin typeface="Consolas" panose="020B0609020204030204" pitchFamily="49" charset="0"/>
              </a:rPr>
              <a:t> = 0</a:t>
            </a:r>
          </a:p>
          <a:p>
            <a:r>
              <a:rPr lang="es-MX" sz="1100" dirty="0" err="1">
                <a:latin typeface="Consolas" panose="020B0609020204030204" pitchFamily="49" charset="0"/>
              </a:rPr>
              <a:t>suma_reprobadas</a:t>
            </a:r>
            <a:r>
              <a:rPr lang="es-MX" sz="1100" dirty="0">
                <a:latin typeface="Consolas" panose="020B0609020204030204" pitchFamily="49" charset="0"/>
              </a:rPr>
              <a:t> = 0</a:t>
            </a:r>
          </a:p>
          <a:p>
            <a:r>
              <a:rPr lang="es-MX" sz="1100" dirty="0" err="1">
                <a:latin typeface="Consolas" panose="020B0609020204030204" pitchFamily="49" charset="0"/>
              </a:rPr>
              <a:t>suma_aprobadas</a:t>
            </a:r>
            <a:r>
              <a:rPr lang="es-MX" sz="1100" dirty="0">
                <a:latin typeface="Consolas" panose="020B0609020204030204" pitchFamily="49" charset="0"/>
              </a:rPr>
              <a:t> = 0</a:t>
            </a:r>
          </a:p>
          <a:p>
            <a:r>
              <a:rPr lang="es-MX" sz="1100" b="0" dirty="0">
                <a:effectLst/>
                <a:latin typeface="Consolas" panose="020B0609020204030204" pitchFamily="49" charset="0"/>
              </a:rPr>
              <a:t>N = </a:t>
            </a:r>
            <a:r>
              <a:rPr lang="es-MX" sz="1100" b="0" dirty="0" err="1">
                <a:effectLst/>
                <a:latin typeface="Consolas" panose="020B0609020204030204" pitchFamily="49" charset="0"/>
              </a:rPr>
              <a:t>int</a:t>
            </a:r>
            <a:r>
              <a:rPr lang="es-MX" sz="1100" b="0" dirty="0">
                <a:effectLst/>
                <a:latin typeface="Consolas" panose="020B0609020204030204" pitchFamily="49" charset="0"/>
              </a:rPr>
              <a:t>(input('Ingrese el número de estudiantes: '))</a:t>
            </a:r>
          </a:p>
          <a:p>
            <a:r>
              <a:rPr lang="es-MX" sz="1100" dirty="0">
                <a:solidFill>
                  <a:srgbClr val="C00000"/>
                </a:solidFill>
                <a:latin typeface="Consolas" panose="020B0609020204030204" pitchFamily="49" charset="0"/>
              </a:rPr>
              <a:t>for i in range(N):</a:t>
            </a:r>
          </a:p>
          <a:p>
            <a:r>
              <a:rPr lang="es-MX" sz="1100" dirty="0">
                <a:solidFill>
                  <a:srgbClr val="C00000"/>
                </a:solidFill>
                <a:latin typeface="Consolas" panose="020B0609020204030204" pitchFamily="49" charset="0"/>
              </a:rPr>
              <a:t>  nota = </a:t>
            </a:r>
            <a:r>
              <a:rPr lang="es-MX" sz="1100" dirty="0" err="1">
                <a:solidFill>
                  <a:srgbClr val="C00000"/>
                </a:solidFill>
                <a:latin typeface="Consolas" panose="020B0609020204030204" pitchFamily="49" charset="0"/>
              </a:rPr>
              <a:t>float</a:t>
            </a:r>
            <a:r>
              <a:rPr lang="es-MX" sz="1100" dirty="0">
                <a:solidFill>
                  <a:srgbClr val="C00000"/>
                </a:solidFill>
                <a:latin typeface="Consolas" panose="020B0609020204030204" pitchFamily="49" charset="0"/>
              </a:rPr>
              <a:t>(input('Ingrese la nota: '))</a:t>
            </a:r>
          </a:p>
          <a:p>
            <a:r>
              <a:rPr lang="es-MX" sz="1100" dirty="0">
                <a:solidFill>
                  <a:srgbClr val="00B050"/>
                </a:solidFill>
                <a:latin typeface="Consolas" panose="020B0609020204030204" pitchFamily="49" charset="0"/>
              </a:rPr>
              <a:t>  </a:t>
            </a:r>
            <a:r>
              <a:rPr lang="es-MX" sz="1100" dirty="0" err="1">
                <a:solidFill>
                  <a:srgbClr val="00B050"/>
                </a:solidFill>
                <a:latin typeface="Consolas" panose="020B0609020204030204" pitchFamily="49" charset="0"/>
              </a:rPr>
              <a:t>if</a:t>
            </a:r>
            <a:r>
              <a:rPr lang="es-MX" sz="1100" dirty="0">
                <a:solidFill>
                  <a:srgbClr val="00B050"/>
                </a:solidFill>
                <a:latin typeface="Consolas" panose="020B0609020204030204" pitchFamily="49" charset="0"/>
              </a:rPr>
              <a:t> nota &gt;= NOTA_MINIMA:</a:t>
            </a:r>
          </a:p>
          <a:p>
            <a:r>
              <a:rPr lang="es-MX" sz="1100" dirty="0">
                <a:solidFill>
                  <a:srgbClr val="00B050"/>
                </a:solidFill>
                <a:latin typeface="Consolas" panose="020B0609020204030204" pitchFamily="49" charset="0"/>
              </a:rPr>
              <a:t>    </a:t>
            </a:r>
            <a:r>
              <a:rPr lang="es-MX" sz="1100" dirty="0" err="1">
                <a:solidFill>
                  <a:srgbClr val="00B050"/>
                </a:solidFill>
                <a:latin typeface="Consolas" panose="020B0609020204030204" pitchFamily="49" charset="0"/>
              </a:rPr>
              <a:t>notas_aprobadas</a:t>
            </a:r>
            <a:r>
              <a:rPr lang="es-MX" sz="1100" dirty="0">
                <a:solidFill>
                  <a:srgbClr val="00B050"/>
                </a:solidFill>
                <a:latin typeface="Consolas" panose="020B0609020204030204" pitchFamily="49" charset="0"/>
              </a:rPr>
              <a:t> = </a:t>
            </a:r>
            <a:r>
              <a:rPr lang="es-MX" sz="1100" dirty="0" err="1">
                <a:solidFill>
                  <a:srgbClr val="00B050"/>
                </a:solidFill>
                <a:latin typeface="Consolas" panose="020B0609020204030204" pitchFamily="49" charset="0"/>
              </a:rPr>
              <a:t>notas_aprobadas</a:t>
            </a:r>
            <a:r>
              <a:rPr lang="es-MX" sz="1100" dirty="0">
                <a:solidFill>
                  <a:srgbClr val="00B050"/>
                </a:solidFill>
                <a:latin typeface="Consolas" panose="020B0609020204030204" pitchFamily="49" charset="0"/>
              </a:rPr>
              <a:t> + 1</a:t>
            </a:r>
          </a:p>
          <a:p>
            <a:r>
              <a:rPr lang="es-MX" sz="1100" dirty="0">
                <a:solidFill>
                  <a:srgbClr val="00B050"/>
                </a:solidFill>
                <a:latin typeface="Consolas" panose="020B0609020204030204" pitchFamily="49" charset="0"/>
              </a:rPr>
              <a:t>    </a:t>
            </a:r>
            <a:r>
              <a:rPr lang="es-MX" sz="1100" dirty="0" err="1">
                <a:solidFill>
                  <a:srgbClr val="00B050"/>
                </a:solidFill>
                <a:latin typeface="Consolas" panose="020B0609020204030204" pitchFamily="49" charset="0"/>
              </a:rPr>
              <a:t>suma_aprobadas</a:t>
            </a:r>
            <a:r>
              <a:rPr lang="es-MX" sz="1100" dirty="0">
                <a:solidFill>
                  <a:srgbClr val="00B050"/>
                </a:solidFill>
                <a:latin typeface="Consolas" panose="020B0609020204030204" pitchFamily="49" charset="0"/>
              </a:rPr>
              <a:t> = </a:t>
            </a:r>
            <a:r>
              <a:rPr lang="es-MX" sz="1100" dirty="0" err="1">
                <a:solidFill>
                  <a:srgbClr val="00B050"/>
                </a:solidFill>
                <a:latin typeface="Consolas" panose="020B0609020204030204" pitchFamily="49" charset="0"/>
              </a:rPr>
              <a:t>suma_aprobadas</a:t>
            </a:r>
            <a:r>
              <a:rPr lang="es-MX" sz="1100" dirty="0">
                <a:solidFill>
                  <a:srgbClr val="00B050"/>
                </a:solidFill>
                <a:latin typeface="Consolas" panose="020B0609020204030204" pitchFamily="49" charset="0"/>
              </a:rPr>
              <a:t> + nota</a:t>
            </a:r>
          </a:p>
          <a:p>
            <a:r>
              <a:rPr lang="es-MX" sz="1100" dirty="0">
                <a:solidFill>
                  <a:srgbClr val="00B050"/>
                </a:solidFill>
                <a:latin typeface="Consolas" panose="020B0609020204030204" pitchFamily="49" charset="0"/>
              </a:rPr>
              <a:t>  </a:t>
            </a:r>
            <a:r>
              <a:rPr lang="es-MX" sz="1100" dirty="0" err="1">
                <a:solidFill>
                  <a:srgbClr val="00B050"/>
                </a:solidFill>
                <a:latin typeface="Consolas" panose="020B0609020204030204" pitchFamily="49" charset="0"/>
              </a:rPr>
              <a:t>else</a:t>
            </a:r>
            <a:r>
              <a:rPr lang="es-MX" sz="1100" dirty="0">
                <a:solidFill>
                  <a:srgbClr val="00B050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s-MX" sz="1100" dirty="0">
                <a:solidFill>
                  <a:srgbClr val="00B050"/>
                </a:solidFill>
                <a:latin typeface="Consolas" panose="020B0609020204030204" pitchFamily="49" charset="0"/>
              </a:rPr>
              <a:t>    </a:t>
            </a:r>
            <a:r>
              <a:rPr lang="es-MX" sz="1100" dirty="0" err="1">
                <a:solidFill>
                  <a:srgbClr val="00B050"/>
                </a:solidFill>
                <a:latin typeface="Consolas" panose="020B0609020204030204" pitchFamily="49" charset="0"/>
              </a:rPr>
              <a:t>notas_reprobadas</a:t>
            </a:r>
            <a:r>
              <a:rPr lang="es-MX" sz="1100" dirty="0">
                <a:solidFill>
                  <a:srgbClr val="00B050"/>
                </a:solidFill>
                <a:latin typeface="Consolas" panose="020B0609020204030204" pitchFamily="49" charset="0"/>
              </a:rPr>
              <a:t> = </a:t>
            </a:r>
            <a:r>
              <a:rPr lang="es-MX" sz="1100" dirty="0" err="1">
                <a:solidFill>
                  <a:srgbClr val="00B050"/>
                </a:solidFill>
                <a:latin typeface="Consolas" panose="020B0609020204030204" pitchFamily="49" charset="0"/>
              </a:rPr>
              <a:t>notas_reprobadas</a:t>
            </a:r>
            <a:r>
              <a:rPr lang="es-MX" sz="1100" dirty="0">
                <a:solidFill>
                  <a:srgbClr val="00B050"/>
                </a:solidFill>
                <a:latin typeface="Consolas" panose="020B0609020204030204" pitchFamily="49" charset="0"/>
              </a:rPr>
              <a:t> + 1</a:t>
            </a:r>
          </a:p>
          <a:p>
            <a:r>
              <a:rPr lang="es-MX" sz="1100" dirty="0">
                <a:solidFill>
                  <a:srgbClr val="00B050"/>
                </a:solidFill>
                <a:latin typeface="Consolas" panose="020B0609020204030204" pitchFamily="49" charset="0"/>
              </a:rPr>
              <a:t>    </a:t>
            </a:r>
            <a:r>
              <a:rPr lang="es-MX" sz="1100" dirty="0" err="1">
                <a:solidFill>
                  <a:srgbClr val="00B050"/>
                </a:solidFill>
                <a:latin typeface="Consolas" panose="020B0609020204030204" pitchFamily="49" charset="0"/>
              </a:rPr>
              <a:t>suma_reprobadas</a:t>
            </a:r>
            <a:r>
              <a:rPr lang="es-MX" sz="1100" dirty="0">
                <a:solidFill>
                  <a:srgbClr val="00B050"/>
                </a:solidFill>
                <a:latin typeface="Consolas" panose="020B0609020204030204" pitchFamily="49" charset="0"/>
              </a:rPr>
              <a:t> = </a:t>
            </a:r>
            <a:r>
              <a:rPr lang="es-MX" sz="1100" dirty="0" err="1">
                <a:solidFill>
                  <a:srgbClr val="00B050"/>
                </a:solidFill>
                <a:latin typeface="Consolas" panose="020B0609020204030204" pitchFamily="49" charset="0"/>
              </a:rPr>
              <a:t>suma_reprobadas</a:t>
            </a:r>
            <a:r>
              <a:rPr lang="es-MX" sz="1100" dirty="0">
                <a:solidFill>
                  <a:srgbClr val="00B050"/>
                </a:solidFill>
                <a:latin typeface="Consolas" panose="020B0609020204030204" pitchFamily="49" charset="0"/>
              </a:rPr>
              <a:t> + nota</a:t>
            </a:r>
          </a:p>
          <a:p>
            <a:r>
              <a:rPr lang="es-MX" sz="1100" dirty="0">
                <a:latin typeface="Consolas" panose="020B0609020204030204" pitchFamily="49" charset="0"/>
              </a:rPr>
              <a:t>  </a:t>
            </a:r>
            <a:r>
              <a:rPr lang="es-MX" sz="1100" dirty="0" err="1">
                <a:latin typeface="Consolas" panose="020B0609020204030204" pitchFamily="49" charset="0"/>
              </a:rPr>
              <a:t>suma_notas</a:t>
            </a:r>
            <a:r>
              <a:rPr lang="es-MX" sz="1100" dirty="0">
                <a:latin typeface="Consolas" panose="020B0609020204030204" pitchFamily="49" charset="0"/>
              </a:rPr>
              <a:t> = </a:t>
            </a:r>
            <a:r>
              <a:rPr lang="es-MX" sz="1100" dirty="0" err="1">
                <a:latin typeface="Consolas" panose="020B0609020204030204" pitchFamily="49" charset="0"/>
              </a:rPr>
              <a:t>suma_reprobadas</a:t>
            </a:r>
            <a:r>
              <a:rPr lang="es-MX" sz="1100" dirty="0">
                <a:latin typeface="Consolas" panose="020B0609020204030204" pitchFamily="49" charset="0"/>
              </a:rPr>
              <a:t> + </a:t>
            </a:r>
            <a:r>
              <a:rPr lang="es-MX" sz="1100" dirty="0" err="1">
                <a:latin typeface="Consolas" panose="020B0609020204030204" pitchFamily="49" charset="0"/>
              </a:rPr>
              <a:t>suma_aprobadas</a:t>
            </a:r>
            <a:endParaRPr lang="es-MX" sz="1100" dirty="0">
              <a:latin typeface="Consolas" panose="020B0609020204030204" pitchFamily="49" charset="0"/>
            </a:endParaRPr>
          </a:p>
          <a:p>
            <a:r>
              <a:rPr lang="es-MX" sz="1100" dirty="0">
                <a:latin typeface="Consolas" panose="020B0609020204030204" pitchFamily="49" charset="0"/>
              </a:rPr>
              <a:t>  </a:t>
            </a:r>
            <a:r>
              <a:rPr lang="es-MX" sz="1100" dirty="0" err="1">
                <a:latin typeface="Consolas" panose="020B0609020204030204" pitchFamily="49" charset="0"/>
              </a:rPr>
              <a:t>total_notas</a:t>
            </a:r>
            <a:r>
              <a:rPr lang="es-MX" sz="1100" dirty="0">
                <a:latin typeface="Consolas" panose="020B0609020204030204" pitchFamily="49" charset="0"/>
              </a:rPr>
              <a:t> = </a:t>
            </a:r>
            <a:r>
              <a:rPr lang="es-MX" sz="1100" dirty="0" err="1">
                <a:latin typeface="Consolas" panose="020B0609020204030204" pitchFamily="49" charset="0"/>
              </a:rPr>
              <a:t>notas_aprobadas</a:t>
            </a:r>
            <a:r>
              <a:rPr lang="es-MX" sz="1100" dirty="0">
                <a:latin typeface="Consolas" panose="020B0609020204030204" pitchFamily="49" charset="0"/>
              </a:rPr>
              <a:t> + </a:t>
            </a:r>
            <a:r>
              <a:rPr lang="es-MX" sz="1100" dirty="0" err="1">
                <a:latin typeface="Consolas" panose="020B0609020204030204" pitchFamily="49" charset="0"/>
              </a:rPr>
              <a:t>notas_reprobadas</a:t>
            </a:r>
            <a:endParaRPr lang="es-MX" sz="1100" dirty="0">
              <a:latin typeface="Consolas" panose="020B0609020204030204" pitchFamily="49" charset="0"/>
            </a:endParaRPr>
          </a:p>
          <a:p>
            <a:r>
              <a:rPr lang="es-MX" sz="1100" dirty="0">
                <a:latin typeface="Consolas" panose="020B0609020204030204" pitchFamily="49" charset="0"/>
              </a:rPr>
              <a:t>  </a:t>
            </a:r>
            <a:r>
              <a:rPr lang="es-MX" sz="1100" dirty="0" err="1">
                <a:solidFill>
                  <a:srgbClr val="0070C0"/>
                </a:solidFill>
                <a:latin typeface="Consolas" panose="020B0609020204030204" pitchFamily="49" charset="0"/>
              </a:rPr>
              <a:t>if</a:t>
            </a:r>
            <a:r>
              <a:rPr lang="es-MX" sz="1100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es-MX" sz="1100" dirty="0" err="1">
                <a:solidFill>
                  <a:srgbClr val="0070C0"/>
                </a:solidFill>
                <a:latin typeface="Consolas" panose="020B0609020204030204" pitchFamily="49" charset="0"/>
              </a:rPr>
              <a:t>total_notas</a:t>
            </a:r>
            <a:r>
              <a:rPr lang="es-MX" sz="1100" dirty="0">
                <a:solidFill>
                  <a:srgbClr val="0070C0"/>
                </a:solidFill>
                <a:latin typeface="Consolas" panose="020B0609020204030204" pitchFamily="49" charset="0"/>
              </a:rPr>
              <a:t> == 0:</a:t>
            </a:r>
          </a:p>
          <a:p>
            <a:r>
              <a:rPr lang="es-MX" sz="1100" dirty="0">
                <a:solidFill>
                  <a:srgbClr val="0070C0"/>
                </a:solidFill>
                <a:latin typeface="Consolas" panose="020B0609020204030204" pitchFamily="49" charset="0"/>
              </a:rPr>
              <a:t>  </a:t>
            </a:r>
            <a:r>
              <a:rPr lang="es-MX" sz="1100" dirty="0" err="1">
                <a:solidFill>
                  <a:srgbClr val="0070C0"/>
                </a:solidFill>
                <a:latin typeface="Consolas" panose="020B0609020204030204" pitchFamily="49" charset="0"/>
              </a:rPr>
              <a:t>print</a:t>
            </a:r>
            <a:r>
              <a:rPr lang="es-MX" sz="1100" dirty="0">
                <a:solidFill>
                  <a:srgbClr val="0070C0"/>
                </a:solidFill>
                <a:latin typeface="Consolas" panose="020B0609020204030204" pitchFamily="49" charset="0"/>
              </a:rPr>
              <a:t>("No hay estudiantes")</a:t>
            </a:r>
          </a:p>
          <a:p>
            <a:r>
              <a:rPr lang="es-MX" sz="1100" dirty="0" err="1">
                <a:solidFill>
                  <a:srgbClr val="0070C0"/>
                </a:solidFill>
                <a:latin typeface="Consolas" panose="020B0609020204030204" pitchFamily="49" charset="0"/>
              </a:rPr>
              <a:t>else</a:t>
            </a:r>
            <a:r>
              <a:rPr lang="es-MX" sz="1100" dirty="0">
                <a:solidFill>
                  <a:srgbClr val="0070C0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s-MX" sz="1100" dirty="0">
                <a:solidFill>
                  <a:srgbClr val="0070C0"/>
                </a:solidFill>
                <a:latin typeface="Consolas" panose="020B0609020204030204" pitchFamily="49" charset="0"/>
              </a:rPr>
              <a:t>  </a:t>
            </a:r>
            <a:r>
              <a:rPr lang="es-MX" sz="1100" dirty="0" err="1">
                <a:solidFill>
                  <a:srgbClr val="0070C0"/>
                </a:solidFill>
                <a:latin typeface="Consolas" panose="020B0609020204030204" pitchFamily="49" charset="0"/>
              </a:rPr>
              <a:t>p_aprobaron</a:t>
            </a:r>
            <a:r>
              <a:rPr lang="es-MX" sz="1100" dirty="0">
                <a:solidFill>
                  <a:srgbClr val="0070C0"/>
                </a:solidFill>
                <a:latin typeface="Consolas" panose="020B0609020204030204" pitchFamily="49" charset="0"/>
              </a:rPr>
              <a:t> = (</a:t>
            </a:r>
            <a:r>
              <a:rPr lang="es-MX" sz="1100" dirty="0" err="1">
                <a:solidFill>
                  <a:srgbClr val="0070C0"/>
                </a:solidFill>
                <a:latin typeface="Consolas" panose="020B0609020204030204" pitchFamily="49" charset="0"/>
              </a:rPr>
              <a:t>notas_aprobadas</a:t>
            </a:r>
            <a:r>
              <a:rPr lang="es-MX" sz="1100" dirty="0">
                <a:solidFill>
                  <a:srgbClr val="0070C0"/>
                </a:solidFill>
                <a:latin typeface="Consolas" panose="020B0609020204030204" pitchFamily="49" charset="0"/>
              </a:rPr>
              <a:t>/</a:t>
            </a:r>
            <a:r>
              <a:rPr lang="es-MX" sz="1100" dirty="0" err="1">
                <a:solidFill>
                  <a:srgbClr val="0070C0"/>
                </a:solidFill>
                <a:latin typeface="Consolas" panose="020B0609020204030204" pitchFamily="49" charset="0"/>
              </a:rPr>
              <a:t>total_notas</a:t>
            </a:r>
            <a:r>
              <a:rPr lang="es-MX" sz="1100" dirty="0">
                <a:solidFill>
                  <a:srgbClr val="0070C0"/>
                </a:solidFill>
                <a:latin typeface="Consolas" panose="020B0609020204030204" pitchFamily="49" charset="0"/>
              </a:rPr>
              <a:t>)*100</a:t>
            </a:r>
          </a:p>
          <a:p>
            <a:r>
              <a:rPr lang="es-MX" sz="1100" dirty="0">
                <a:solidFill>
                  <a:srgbClr val="0070C0"/>
                </a:solidFill>
                <a:latin typeface="Consolas" panose="020B0609020204030204" pitchFamily="49" charset="0"/>
              </a:rPr>
              <a:t>  </a:t>
            </a:r>
            <a:r>
              <a:rPr lang="es-MX" sz="1100" dirty="0" err="1">
                <a:solidFill>
                  <a:srgbClr val="0070C0"/>
                </a:solidFill>
                <a:latin typeface="Consolas" panose="020B0609020204030204" pitchFamily="49" charset="0"/>
              </a:rPr>
              <a:t>p_reprobaron</a:t>
            </a:r>
            <a:r>
              <a:rPr lang="es-MX" sz="1100" dirty="0">
                <a:solidFill>
                  <a:srgbClr val="0070C0"/>
                </a:solidFill>
                <a:latin typeface="Consolas" panose="020B0609020204030204" pitchFamily="49" charset="0"/>
              </a:rPr>
              <a:t> = (</a:t>
            </a:r>
            <a:r>
              <a:rPr lang="es-MX" sz="1100" dirty="0" err="1">
                <a:solidFill>
                  <a:srgbClr val="0070C0"/>
                </a:solidFill>
                <a:latin typeface="Consolas" panose="020B0609020204030204" pitchFamily="49" charset="0"/>
              </a:rPr>
              <a:t>notas_reprobadas</a:t>
            </a:r>
            <a:r>
              <a:rPr lang="es-MX" sz="1100" dirty="0">
                <a:solidFill>
                  <a:srgbClr val="0070C0"/>
                </a:solidFill>
                <a:latin typeface="Consolas" panose="020B0609020204030204" pitchFamily="49" charset="0"/>
              </a:rPr>
              <a:t>/</a:t>
            </a:r>
            <a:r>
              <a:rPr lang="es-MX" sz="1100" dirty="0" err="1">
                <a:solidFill>
                  <a:srgbClr val="0070C0"/>
                </a:solidFill>
                <a:latin typeface="Consolas" panose="020B0609020204030204" pitchFamily="49" charset="0"/>
              </a:rPr>
              <a:t>total_notas</a:t>
            </a:r>
            <a:r>
              <a:rPr lang="es-MX" sz="1100" dirty="0">
                <a:solidFill>
                  <a:srgbClr val="0070C0"/>
                </a:solidFill>
                <a:latin typeface="Consolas" panose="020B0609020204030204" pitchFamily="49" charset="0"/>
              </a:rPr>
              <a:t>)*100</a:t>
            </a:r>
          </a:p>
          <a:p>
            <a:r>
              <a:rPr lang="es-MX" sz="1100" dirty="0">
                <a:solidFill>
                  <a:srgbClr val="0070C0"/>
                </a:solidFill>
                <a:latin typeface="Consolas" panose="020B0609020204030204" pitchFamily="49" charset="0"/>
              </a:rPr>
              <a:t>  </a:t>
            </a:r>
            <a:r>
              <a:rPr lang="es-MX" sz="1100" dirty="0" err="1">
                <a:solidFill>
                  <a:schemeClr val="accent6"/>
                </a:solidFill>
                <a:latin typeface="Consolas" panose="020B0609020204030204" pitchFamily="49" charset="0"/>
              </a:rPr>
              <a:t>if</a:t>
            </a:r>
            <a:r>
              <a:rPr lang="es-MX" sz="1100" dirty="0">
                <a:solidFill>
                  <a:schemeClr val="accent6"/>
                </a:solidFill>
                <a:latin typeface="Consolas" panose="020B0609020204030204" pitchFamily="49" charset="0"/>
              </a:rPr>
              <a:t> (</a:t>
            </a:r>
            <a:r>
              <a:rPr lang="es-MX" sz="1100" dirty="0" err="1">
                <a:solidFill>
                  <a:schemeClr val="accent6"/>
                </a:solidFill>
                <a:latin typeface="Consolas" panose="020B0609020204030204" pitchFamily="49" charset="0"/>
              </a:rPr>
              <a:t>notas_aprobadas</a:t>
            </a:r>
            <a:r>
              <a:rPr lang="es-MX" sz="1100" dirty="0">
                <a:solidFill>
                  <a:schemeClr val="accent6"/>
                </a:solidFill>
                <a:latin typeface="Consolas" panose="020B0609020204030204" pitchFamily="49" charset="0"/>
              </a:rPr>
              <a:t> == 0):</a:t>
            </a:r>
          </a:p>
          <a:p>
            <a:r>
              <a:rPr lang="es-MX" sz="1100" dirty="0">
                <a:solidFill>
                  <a:schemeClr val="accent6"/>
                </a:solidFill>
                <a:latin typeface="Consolas" panose="020B0609020204030204" pitchFamily="49" charset="0"/>
              </a:rPr>
              <a:t>    </a:t>
            </a:r>
            <a:r>
              <a:rPr lang="es-MX" sz="1100" dirty="0" err="1">
                <a:solidFill>
                  <a:schemeClr val="accent6"/>
                </a:solidFill>
                <a:latin typeface="Consolas" panose="020B0609020204030204" pitchFamily="49" charset="0"/>
              </a:rPr>
              <a:t>prom_nota_reprobada</a:t>
            </a:r>
            <a:r>
              <a:rPr lang="es-MX" sz="1100" dirty="0">
                <a:solidFill>
                  <a:schemeClr val="accent6"/>
                </a:solidFill>
                <a:latin typeface="Consolas" panose="020B0609020204030204" pitchFamily="49" charset="0"/>
              </a:rPr>
              <a:t> = </a:t>
            </a:r>
            <a:r>
              <a:rPr lang="es-MX" sz="1100" dirty="0" err="1">
                <a:solidFill>
                  <a:schemeClr val="accent6"/>
                </a:solidFill>
                <a:latin typeface="Consolas" panose="020B0609020204030204" pitchFamily="49" charset="0"/>
              </a:rPr>
              <a:t>suma_reprobadas</a:t>
            </a:r>
            <a:r>
              <a:rPr lang="es-MX" sz="1100" dirty="0">
                <a:solidFill>
                  <a:schemeClr val="accent6"/>
                </a:solidFill>
                <a:latin typeface="Consolas" panose="020B0609020204030204" pitchFamily="49" charset="0"/>
              </a:rPr>
              <a:t>/</a:t>
            </a:r>
            <a:r>
              <a:rPr lang="es-MX" sz="1100" dirty="0" err="1">
                <a:solidFill>
                  <a:schemeClr val="accent6"/>
                </a:solidFill>
                <a:latin typeface="Consolas" panose="020B0609020204030204" pitchFamily="49" charset="0"/>
              </a:rPr>
              <a:t>notas_reprobadas</a:t>
            </a:r>
            <a:endParaRPr lang="es-MX" sz="1100" dirty="0">
              <a:solidFill>
                <a:schemeClr val="accent6"/>
              </a:solidFill>
              <a:latin typeface="Consolas" panose="020B0609020204030204" pitchFamily="49" charset="0"/>
            </a:endParaRPr>
          </a:p>
          <a:p>
            <a:r>
              <a:rPr lang="es-MX" sz="1100" dirty="0">
                <a:solidFill>
                  <a:schemeClr val="accent6"/>
                </a:solidFill>
                <a:latin typeface="Consolas" panose="020B0609020204030204" pitchFamily="49" charset="0"/>
              </a:rPr>
              <a:t>    </a:t>
            </a:r>
            <a:r>
              <a:rPr lang="es-MX" sz="1100" dirty="0" err="1">
                <a:solidFill>
                  <a:schemeClr val="accent6"/>
                </a:solidFill>
                <a:latin typeface="Consolas" panose="020B0609020204030204" pitchFamily="49" charset="0"/>
              </a:rPr>
              <a:t>prom_nota_aprobada</a:t>
            </a:r>
            <a:r>
              <a:rPr lang="es-MX" sz="1100" dirty="0">
                <a:solidFill>
                  <a:schemeClr val="accent6"/>
                </a:solidFill>
                <a:latin typeface="Consolas" panose="020B0609020204030204" pitchFamily="49" charset="0"/>
              </a:rPr>
              <a:t> = 0</a:t>
            </a:r>
          </a:p>
          <a:p>
            <a:r>
              <a:rPr lang="es-MX" sz="1100" dirty="0">
                <a:solidFill>
                  <a:schemeClr val="accent6"/>
                </a:solidFill>
                <a:latin typeface="Consolas" panose="020B0609020204030204" pitchFamily="49" charset="0"/>
              </a:rPr>
              <a:t>  </a:t>
            </a:r>
            <a:r>
              <a:rPr lang="es-MX" sz="1100" dirty="0" err="1">
                <a:solidFill>
                  <a:schemeClr val="accent6"/>
                </a:solidFill>
                <a:latin typeface="Consolas" panose="020B0609020204030204" pitchFamily="49" charset="0"/>
              </a:rPr>
              <a:t>elif</a:t>
            </a:r>
            <a:r>
              <a:rPr lang="es-MX" sz="1100" dirty="0">
                <a:solidFill>
                  <a:schemeClr val="accent6"/>
                </a:solidFill>
                <a:latin typeface="Consolas" panose="020B0609020204030204" pitchFamily="49" charset="0"/>
              </a:rPr>
              <a:t> (</a:t>
            </a:r>
            <a:r>
              <a:rPr lang="es-MX" sz="1100" dirty="0" err="1">
                <a:solidFill>
                  <a:schemeClr val="accent6"/>
                </a:solidFill>
                <a:latin typeface="Consolas" panose="020B0609020204030204" pitchFamily="49" charset="0"/>
              </a:rPr>
              <a:t>notas_reprobadas</a:t>
            </a:r>
            <a:r>
              <a:rPr lang="es-MX" sz="1100" dirty="0">
                <a:solidFill>
                  <a:schemeClr val="accent6"/>
                </a:solidFill>
                <a:latin typeface="Consolas" panose="020B0609020204030204" pitchFamily="49" charset="0"/>
              </a:rPr>
              <a:t> == 0):</a:t>
            </a:r>
          </a:p>
          <a:p>
            <a:r>
              <a:rPr lang="es-MX" sz="1100" dirty="0">
                <a:solidFill>
                  <a:schemeClr val="accent6"/>
                </a:solidFill>
                <a:latin typeface="Consolas" panose="020B0609020204030204" pitchFamily="49" charset="0"/>
              </a:rPr>
              <a:t>    </a:t>
            </a:r>
            <a:r>
              <a:rPr lang="es-MX" sz="1100" dirty="0" err="1">
                <a:solidFill>
                  <a:schemeClr val="accent6"/>
                </a:solidFill>
                <a:latin typeface="Consolas" panose="020B0609020204030204" pitchFamily="49" charset="0"/>
              </a:rPr>
              <a:t>prom_nota_aprobada</a:t>
            </a:r>
            <a:r>
              <a:rPr lang="es-MX" sz="1100" dirty="0">
                <a:solidFill>
                  <a:schemeClr val="accent6"/>
                </a:solidFill>
                <a:latin typeface="Consolas" panose="020B0609020204030204" pitchFamily="49" charset="0"/>
              </a:rPr>
              <a:t> = </a:t>
            </a:r>
            <a:r>
              <a:rPr lang="es-MX" sz="1100" dirty="0" err="1">
                <a:solidFill>
                  <a:schemeClr val="accent6"/>
                </a:solidFill>
                <a:latin typeface="Consolas" panose="020B0609020204030204" pitchFamily="49" charset="0"/>
              </a:rPr>
              <a:t>suma_aprobadas</a:t>
            </a:r>
            <a:r>
              <a:rPr lang="es-MX" sz="1100" dirty="0">
                <a:solidFill>
                  <a:schemeClr val="accent6"/>
                </a:solidFill>
                <a:latin typeface="Consolas" panose="020B0609020204030204" pitchFamily="49" charset="0"/>
              </a:rPr>
              <a:t>/</a:t>
            </a:r>
            <a:r>
              <a:rPr lang="es-MX" sz="1100" dirty="0" err="1">
                <a:solidFill>
                  <a:schemeClr val="accent6"/>
                </a:solidFill>
                <a:latin typeface="Consolas" panose="020B0609020204030204" pitchFamily="49" charset="0"/>
              </a:rPr>
              <a:t>notas_aprobadas</a:t>
            </a:r>
            <a:endParaRPr lang="es-MX" sz="1100" dirty="0">
              <a:solidFill>
                <a:schemeClr val="accent6"/>
              </a:solidFill>
              <a:latin typeface="Consolas" panose="020B0609020204030204" pitchFamily="49" charset="0"/>
            </a:endParaRPr>
          </a:p>
          <a:p>
            <a:r>
              <a:rPr lang="es-MX" sz="1100" dirty="0">
                <a:solidFill>
                  <a:schemeClr val="accent6"/>
                </a:solidFill>
                <a:latin typeface="Consolas" panose="020B0609020204030204" pitchFamily="49" charset="0"/>
              </a:rPr>
              <a:t>    </a:t>
            </a:r>
            <a:r>
              <a:rPr lang="es-MX" sz="1100" dirty="0" err="1">
                <a:solidFill>
                  <a:schemeClr val="accent6"/>
                </a:solidFill>
                <a:latin typeface="Consolas" panose="020B0609020204030204" pitchFamily="49" charset="0"/>
              </a:rPr>
              <a:t>prom_nota_reprobada</a:t>
            </a:r>
            <a:r>
              <a:rPr lang="es-MX" sz="1100" dirty="0">
                <a:solidFill>
                  <a:schemeClr val="accent6"/>
                </a:solidFill>
                <a:latin typeface="Consolas" panose="020B0609020204030204" pitchFamily="49" charset="0"/>
              </a:rPr>
              <a:t> = 0</a:t>
            </a:r>
          </a:p>
          <a:p>
            <a:r>
              <a:rPr lang="es-MX" sz="1100" dirty="0">
                <a:solidFill>
                  <a:schemeClr val="accent6"/>
                </a:solidFill>
                <a:latin typeface="Consolas" panose="020B0609020204030204" pitchFamily="49" charset="0"/>
              </a:rPr>
              <a:t>  </a:t>
            </a:r>
            <a:r>
              <a:rPr lang="es-MX" sz="1100" dirty="0" err="1">
                <a:solidFill>
                  <a:schemeClr val="accent6"/>
                </a:solidFill>
                <a:latin typeface="Consolas" panose="020B0609020204030204" pitchFamily="49" charset="0"/>
              </a:rPr>
              <a:t>else</a:t>
            </a:r>
            <a:r>
              <a:rPr lang="es-MX" sz="1100" dirty="0">
                <a:solidFill>
                  <a:schemeClr val="accent6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s-MX" sz="1100" dirty="0">
                <a:solidFill>
                  <a:schemeClr val="accent6"/>
                </a:solidFill>
                <a:latin typeface="Consolas" panose="020B0609020204030204" pitchFamily="49" charset="0"/>
              </a:rPr>
              <a:t>    </a:t>
            </a:r>
            <a:r>
              <a:rPr lang="es-MX" sz="1100" dirty="0" err="1">
                <a:solidFill>
                  <a:schemeClr val="accent6"/>
                </a:solidFill>
                <a:latin typeface="Consolas" panose="020B0609020204030204" pitchFamily="49" charset="0"/>
              </a:rPr>
              <a:t>prom_nota_reprobada</a:t>
            </a:r>
            <a:r>
              <a:rPr lang="es-MX" sz="1100" dirty="0">
                <a:solidFill>
                  <a:schemeClr val="accent6"/>
                </a:solidFill>
                <a:latin typeface="Consolas" panose="020B0609020204030204" pitchFamily="49" charset="0"/>
              </a:rPr>
              <a:t> = </a:t>
            </a:r>
            <a:r>
              <a:rPr lang="es-MX" sz="1100" dirty="0" err="1">
                <a:solidFill>
                  <a:schemeClr val="accent6"/>
                </a:solidFill>
                <a:latin typeface="Consolas" panose="020B0609020204030204" pitchFamily="49" charset="0"/>
              </a:rPr>
              <a:t>suma_reprobadas</a:t>
            </a:r>
            <a:r>
              <a:rPr lang="es-MX" sz="1100" dirty="0">
                <a:solidFill>
                  <a:schemeClr val="accent6"/>
                </a:solidFill>
                <a:latin typeface="Consolas" panose="020B0609020204030204" pitchFamily="49" charset="0"/>
              </a:rPr>
              <a:t>/</a:t>
            </a:r>
            <a:r>
              <a:rPr lang="es-MX" sz="1100" dirty="0" err="1">
                <a:solidFill>
                  <a:schemeClr val="accent6"/>
                </a:solidFill>
                <a:latin typeface="Consolas" panose="020B0609020204030204" pitchFamily="49" charset="0"/>
              </a:rPr>
              <a:t>notas_reprobadas</a:t>
            </a:r>
            <a:endParaRPr lang="es-MX" sz="1100" dirty="0">
              <a:solidFill>
                <a:schemeClr val="accent6"/>
              </a:solidFill>
              <a:latin typeface="Consolas" panose="020B0609020204030204" pitchFamily="49" charset="0"/>
            </a:endParaRPr>
          </a:p>
          <a:p>
            <a:r>
              <a:rPr lang="es-MX" sz="1100" dirty="0">
                <a:solidFill>
                  <a:schemeClr val="accent6"/>
                </a:solidFill>
                <a:latin typeface="Consolas" panose="020B0609020204030204" pitchFamily="49" charset="0"/>
              </a:rPr>
              <a:t>    </a:t>
            </a:r>
            <a:r>
              <a:rPr lang="es-MX" sz="1100" dirty="0" err="1">
                <a:solidFill>
                  <a:schemeClr val="accent6"/>
                </a:solidFill>
                <a:latin typeface="Consolas" panose="020B0609020204030204" pitchFamily="49" charset="0"/>
              </a:rPr>
              <a:t>prom_nota_aprobada</a:t>
            </a:r>
            <a:r>
              <a:rPr lang="es-MX" sz="1100" dirty="0">
                <a:solidFill>
                  <a:schemeClr val="accent6"/>
                </a:solidFill>
                <a:latin typeface="Consolas" panose="020B0609020204030204" pitchFamily="49" charset="0"/>
              </a:rPr>
              <a:t> = </a:t>
            </a:r>
            <a:r>
              <a:rPr lang="es-MX" sz="1100" dirty="0" err="1">
                <a:solidFill>
                  <a:schemeClr val="accent6"/>
                </a:solidFill>
                <a:latin typeface="Consolas" panose="020B0609020204030204" pitchFamily="49" charset="0"/>
              </a:rPr>
              <a:t>suma_aprobadas</a:t>
            </a:r>
            <a:r>
              <a:rPr lang="es-MX" sz="1100" dirty="0">
                <a:solidFill>
                  <a:schemeClr val="accent6"/>
                </a:solidFill>
                <a:latin typeface="Consolas" panose="020B0609020204030204" pitchFamily="49" charset="0"/>
              </a:rPr>
              <a:t>/</a:t>
            </a:r>
            <a:r>
              <a:rPr lang="es-MX" sz="1100" dirty="0" err="1">
                <a:solidFill>
                  <a:schemeClr val="accent6"/>
                </a:solidFill>
                <a:latin typeface="Consolas" panose="020B0609020204030204" pitchFamily="49" charset="0"/>
              </a:rPr>
              <a:t>notas_aprobadas</a:t>
            </a:r>
            <a:endParaRPr lang="es-MX" sz="1100" dirty="0">
              <a:solidFill>
                <a:schemeClr val="accent6"/>
              </a:solidFill>
              <a:latin typeface="Consolas" panose="020B0609020204030204" pitchFamily="49" charset="0"/>
            </a:endParaRPr>
          </a:p>
          <a:p>
            <a:r>
              <a:rPr lang="es-MX" sz="1100" dirty="0">
                <a:solidFill>
                  <a:srgbClr val="0070C0"/>
                </a:solidFill>
                <a:latin typeface="Consolas" panose="020B0609020204030204" pitchFamily="49" charset="0"/>
              </a:rPr>
              <a:t>  </a:t>
            </a:r>
            <a:r>
              <a:rPr lang="es-MX" sz="1100" dirty="0" err="1">
                <a:solidFill>
                  <a:srgbClr val="0070C0"/>
                </a:solidFill>
                <a:latin typeface="Consolas" panose="020B0609020204030204" pitchFamily="49" charset="0"/>
              </a:rPr>
              <a:t>prom</a:t>
            </a:r>
            <a:r>
              <a:rPr lang="es-MX" sz="1100" dirty="0">
                <a:solidFill>
                  <a:srgbClr val="0070C0"/>
                </a:solidFill>
                <a:latin typeface="Consolas" panose="020B0609020204030204" pitchFamily="49" charset="0"/>
              </a:rPr>
              <a:t> = </a:t>
            </a:r>
            <a:r>
              <a:rPr lang="es-MX" sz="1100" dirty="0" err="1">
                <a:solidFill>
                  <a:srgbClr val="0070C0"/>
                </a:solidFill>
                <a:latin typeface="Consolas" panose="020B0609020204030204" pitchFamily="49" charset="0"/>
              </a:rPr>
              <a:t>suma_notas</a:t>
            </a:r>
            <a:r>
              <a:rPr lang="es-MX" sz="1100" dirty="0">
                <a:solidFill>
                  <a:srgbClr val="0070C0"/>
                </a:solidFill>
                <a:latin typeface="Consolas" panose="020B0609020204030204" pitchFamily="49" charset="0"/>
              </a:rPr>
              <a:t>/</a:t>
            </a:r>
            <a:r>
              <a:rPr lang="es-MX" sz="1100" dirty="0" err="1">
                <a:solidFill>
                  <a:srgbClr val="0070C0"/>
                </a:solidFill>
                <a:latin typeface="Consolas" panose="020B0609020204030204" pitchFamily="49" charset="0"/>
              </a:rPr>
              <a:t>total_notas</a:t>
            </a:r>
            <a:endParaRPr lang="es-MX" sz="1100" dirty="0">
              <a:solidFill>
                <a:srgbClr val="0070C0"/>
              </a:solidFill>
              <a:latin typeface="Consolas" panose="020B0609020204030204" pitchFamily="49" charset="0"/>
            </a:endParaRPr>
          </a:p>
          <a:p>
            <a:r>
              <a:rPr lang="es-MX" sz="1100" dirty="0">
                <a:solidFill>
                  <a:srgbClr val="0070C0"/>
                </a:solidFill>
                <a:latin typeface="Consolas" panose="020B0609020204030204" pitchFamily="49" charset="0"/>
              </a:rPr>
              <a:t>  </a:t>
            </a:r>
            <a:r>
              <a:rPr lang="es-MX" sz="1100" dirty="0" err="1">
                <a:solidFill>
                  <a:srgbClr val="0070C0"/>
                </a:solidFill>
                <a:latin typeface="Consolas" panose="020B0609020204030204" pitchFamily="49" charset="0"/>
              </a:rPr>
              <a:t>print</a:t>
            </a:r>
            <a:r>
              <a:rPr lang="es-MX" sz="11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s-MX" sz="1100" dirty="0" err="1">
                <a:solidFill>
                  <a:srgbClr val="0070C0"/>
                </a:solidFill>
                <a:latin typeface="Consolas" panose="020B0609020204030204" pitchFamily="49" charset="0"/>
              </a:rPr>
              <a:t>f"Porcentaje</a:t>
            </a:r>
            <a:r>
              <a:rPr lang="es-MX" sz="1100" dirty="0">
                <a:solidFill>
                  <a:srgbClr val="0070C0"/>
                </a:solidFill>
                <a:latin typeface="Consolas" panose="020B0609020204030204" pitchFamily="49" charset="0"/>
              </a:rPr>
              <a:t> aprobados: {</a:t>
            </a:r>
            <a:r>
              <a:rPr lang="es-MX" sz="1100" dirty="0" err="1">
                <a:solidFill>
                  <a:srgbClr val="0070C0"/>
                </a:solidFill>
                <a:latin typeface="Consolas" panose="020B0609020204030204" pitchFamily="49" charset="0"/>
              </a:rPr>
              <a:t>p_aprobaron</a:t>
            </a:r>
            <a:r>
              <a:rPr lang="es-MX" sz="1100" dirty="0">
                <a:solidFill>
                  <a:srgbClr val="0070C0"/>
                </a:solidFill>
                <a:latin typeface="Consolas" panose="020B0609020204030204" pitchFamily="49" charset="0"/>
              </a:rPr>
              <a:t>}%")</a:t>
            </a:r>
          </a:p>
          <a:p>
            <a:r>
              <a:rPr lang="es-MX" sz="1100" dirty="0">
                <a:solidFill>
                  <a:srgbClr val="0070C0"/>
                </a:solidFill>
                <a:latin typeface="Consolas" panose="020B0609020204030204" pitchFamily="49" charset="0"/>
              </a:rPr>
              <a:t>  </a:t>
            </a:r>
            <a:r>
              <a:rPr lang="es-MX" sz="1100" dirty="0" err="1">
                <a:solidFill>
                  <a:srgbClr val="0070C0"/>
                </a:solidFill>
                <a:latin typeface="Consolas" panose="020B0609020204030204" pitchFamily="49" charset="0"/>
              </a:rPr>
              <a:t>print</a:t>
            </a:r>
            <a:r>
              <a:rPr lang="es-MX" sz="11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s-MX" sz="1100" dirty="0" err="1">
                <a:solidFill>
                  <a:srgbClr val="0070C0"/>
                </a:solidFill>
                <a:latin typeface="Consolas" panose="020B0609020204030204" pitchFamily="49" charset="0"/>
              </a:rPr>
              <a:t>f"Porcentaje</a:t>
            </a:r>
            <a:r>
              <a:rPr lang="es-MX" sz="1100" dirty="0">
                <a:solidFill>
                  <a:srgbClr val="0070C0"/>
                </a:solidFill>
                <a:latin typeface="Consolas" panose="020B0609020204030204" pitchFamily="49" charset="0"/>
              </a:rPr>
              <a:t> reprobados: {</a:t>
            </a:r>
            <a:r>
              <a:rPr lang="es-MX" sz="1100" dirty="0" err="1">
                <a:solidFill>
                  <a:srgbClr val="0070C0"/>
                </a:solidFill>
                <a:latin typeface="Consolas" panose="020B0609020204030204" pitchFamily="49" charset="0"/>
              </a:rPr>
              <a:t>p_reprobaron</a:t>
            </a:r>
            <a:r>
              <a:rPr lang="es-MX" sz="1100" dirty="0">
                <a:solidFill>
                  <a:srgbClr val="0070C0"/>
                </a:solidFill>
                <a:latin typeface="Consolas" panose="020B0609020204030204" pitchFamily="49" charset="0"/>
              </a:rPr>
              <a:t>}%")</a:t>
            </a:r>
          </a:p>
          <a:p>
            <a:r>
              <a:rPr lang="es-MX" sz="1100" dirty="0">
                <a:solidFill>
                  <a:srgbClr val="0070C0"/>
                </a:solidFill>
                <a:latin typeface="Consolas" panose="020B0609020204030204" pitchFamily="49" charset="0"/>
              </a:rPr>
              <a:t>  </a:t>
            </a:r>
            <a:r>
              <a:rPr lang="es-MX" sz="1100" dirty="0" err="1">
                <a:solidFill>
                  <a:srgbClr val="0070C0"/>
                </a:solidFill>
                <a:latin typeface="Consolas" panose="020B0609020204030204" pitchFamily="49" charset="0"/>
              </a:rPr>
              <a:t>print</a:t>
            </a:r>
            <a:r>
              <a:rPr lang="es-MX" sz="11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s-MX" sz="1100" dirty="0" err="1">
                <a:solidFill>
                  <a:srgbClr val="0070C0"/>
                </a:solidFill>
                <a:latin typeface="Consolas" panose="020B0609020204030204" pitchFamily="49" charset="0"/>
              </a:rPr>
              <a:t>f"Promedio</a:t>
            </a:r>
            <a:r>
              <a:rPr lang="es-MX" sz="1100" dirty="0">
                <a:solidFill>
                  <a:srgbClr val="0070C0"/>
                </a:solidFill>
                <a:latin typeface="Consolas" panose="020B0609020204030204" pitchFamily="49" charset="0"/>
              </a:rPr>
              <a:t> reprobados: {</a:t>
            </a:r>
            <a:r>
              <a:rPr lang="es-MX" sz="1100" dirty="0" err="1">
                <a:solidFill>
                  <a:srgbClr val="0070C0"/>
                </a:solidFill>
                <a:latin typeface="Consolas" panose="020B0609020204030204" pitchFamily="49" charset="0"/>
              </a:rPr>
              <a:t>prom_nota_reprobada</a:t>
            </a:r>
            <a:r>
              <a:rPr lang="es-MX" sz="1100" dirty="0">
                <a:solidFill>
                  <a:srgbClr val="0070C0"/>
                </a:solidFill>
                <a:latin typeface="Consolas" panose="020B0609020204030204" pitchFamily="49" charset="0"/>
              </a:rPr>
              <a:t>}")</a:t>
            </a:r>
          </a:p>
          <a:p>
            <a:r>
              <a:rPr lang="es-MX" sz="1100" dirty="0">
                <a:solidFill>
                  <a:srgbClr val="0070C0"/>
                </a:solidFill>
                <a:latin typeface="Consolas" panose="020B0609020204030204" pitchFamily="49" charset="0"/>
              </a:rPr>
              <a:t>  </a:t>
            </a:r>
            <a:r>
              <a:rPr lang="es-MX" sz="1100" dirty="0" err="1">
                <a:solidFill>
                  <a:srgbClr val="0070C0"/>
                </a:solidFill>
                <a:latin typeface="Consolas" panose="020B0609020204030204" pitchFamily="49" charset="0"/>
              </a:rPr>
              <a:t>print</a:t>
            </a:r>
            <a:r>
              <a:rPr lang="es-MX" sz="11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s-MX" sz="1100" dirty="0" err="1">
                <a:solidFill>
                  <a:srgbClr val="0070C0"/>
                </a:solidFill>
                <a:latin typeface="Consolas" panose="020B0609020204030204" pitchFamily="49" charset="0"/>
              </a:rPr>
              <a:t>f"Promedio</a:t>
            </a:r>
            <a:r>
              <a:rPr lang="es-MX" sz="1100" dirty="0">
                <a:solidFill>
                  <a:srgbClr val="0070C0"/>
                </a:solidFill>
                <a:latin typeface="Consolas" panose="020B0609020204030204" pitchFamily="49" charset="0"/>
              </a:rPr>
              <a:t> aprobadas: {</a:t>
            </a:r>
            <a:r>
              <a:rPr lang="es-MX" sz="1100" dirty="0" err="1">
                <a:solidFill>
                  <a:srgbClr val="0070C0"/>
                </a:solidFill>
                <a:latin typeface="Consolas" panose="020B0609020204030204" pitchFamily="49" charset="0"/>
              </a:rPr>
              <a:t>prom_nota_aprobada</a:t>
            </a:r>
            <a:r>
              <a:rPr lang="es-MX" sz="1100" dirty="0">
                <a:solidFill>
                  <a:srgbClr val="0070C0"/>
                </a:solidFill>
                <a:latin typeface="Consolas" panose="020B0609020204030204" pitchFamily="49" charset="0"/>
              </a:rPr>
              <a:t>}")</a:t>
            </a:r>
          </a:p>
          <a:p>
            <a:r>
              <a:rPr lang="es-MX" sz="1100" dirty="0">
                <a:solidFill>
                  <a:srgbClr val="0070C0"/>
                </a:solidFill>
                <a:latin typeface="Consolas" panose="020B0609020204030204" pitchFamily="49" charset="0"/>
              </a:rPr>
              <a:t>  </a:t>
            </a:r>
            <a:r>
              <a:rPr lang="es-MX" sz="1100" dirty="0" err="1">
                <a:solidFill>
                  <a:srgbClr val="0070C0"/>
                </a:solidFill>
                <a:latin typeface="Consolas" panose="020B0609020204030204" pitchFamily="49" charset="0"/>
              </a:rPr>
              <a:t>print</a:t>
            </a:r>
            <a:r>
              <a:rPr lang="es-MX" sz="11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s-MX" sz="1100" dirty="0" err="1">
                <a:solidFill>
                  <a:srgbClr val="0070C0"/>
                </a:solidFill>
                <a:latin typeface="Consolas" panose="020B0609020204030204" pitchFamily="49" charset="0"/>
              </a:rPr>
              <a:t>f"Promedio</a:t>
            </a:r>
            <a:r>
              <a:rPr lang="es-MX" sz="1100" dirty="0">
                <a:solidFill>
                  <a:srgbClr val="0070C0"/>
                </a:solidFill>
                <a:latin typeface="Consolas" panose="020B0609020204030204" pitchFamily="49" charset="0"/>
              </a:rPr>
              <a:t> de notas: {</a:t>
            </a:r>
            <a:r>
              <a:rPr lang="es-MX" sz="1100" dirty="0" err="1">
                <a:solidFill>
                  <a:srgbClr val="0070C0"/>
                </a:solidFill>
                <a:latin typeface="Consolas" panose="020B0609020204030204" pitchFamily="49" charset="0"/>
              </a:rPr>
              <a:t>prom</a:t>
            </a:r>
            <a:r>
              <a:rPr lang="es-MX" sz="1100" dirty="0">
                <a:solidFill>
                  <a:srgbClr val="0070C0"/>
                </a:solidFill>
                <a:latin typeface="Consolas" panose="020B0609020204030204" pitchFamily="49" charset="0"/>
              </a:rPr>
              <a:t>}") </a:t>
            </a:r>
          </a:p>
        </p:txBody>
      </p:sp>
    </p:spTree>
    <p:extLst>
      <p:ext uri="{BB962C8B-B14F-4D97-AF65-F5344CB8AC3E}">
        <p14:creationId xmlns:p14="http://schemas.microsoft.com/office/powerpoint/2010/main" val="18998690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4 Título">
            <a:extLst>
              <a:ext uri="{FF2B5EF4-FFF2-40B4-BE49-F238E27FC236}">
                <a16:creationId xmlns:a16="http://schemas.microsoft.com/office/drawing/2014/main" id="{AE7AE4FE-857D-48EA-8C2E-EFF7E2B785AF}"/>
              </a:ext>
            </a:extLst>
          </p:cNvPr>
          <p:cNvSpPr txBox="1">
            <a:spLocks/>
          </p:cNvSpPr>
          <p:nvPr/>
        </p:nvSpPr>
        <p:spPr>
          <a:xfrm>
            <a:off x="74736" y="85895"/>
            <a:ext cx="6153447" cy="6788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000" dirty="0"/>
              <a:t>Ejemplo calificaciones</a:t>
            </a:r>
          </a:p>
        </p:txBody>
      </p:sp>
      <p:sp>
        <p:nvSpPr>
          <p:cNvPr id="5" name="5 Rectángulo">
            <a:extLst>
              <a:ext uri="{FF2B5EF4-FFF2-40B4-BE49-F238E27FC236}">
                <a16:creationId xmlns:a16="http://schemas.microsoft.com/office/drawing/2014/main" id="{06D6ADF4-009E-42C9-93D7-ACCDE5E5538F}"/>
              </a:ext>
            </a:extLst>
          </p:cNvPr>
          <p:cNvSpPr/>
          <p:nvPr/>
        </p:nvSpPr>
        <p:spPr>
          <a:xfrm>
            <a:off x="307555" y="1081632"/>
            <a:ext cx="249709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CO" sz="2000" b="1" dirty="0"/>
              <a:t>Resultados esperados</a:t>
            </a:r>
            <a:endParaRPr lang="es-CO" sz="2000" dirty="0"/>
          </a:p>
        </p:txBody>
      </p:sp>
      <p:graphicFrame>
        <p:nvGraphicFramePr>
          <p:cNvPr id="6" name="Tabla 9">
            <a:extLst>
              <a:ext uri="{FF2B5EF4-FFF2-40B4-BE49-F238E27FC236}">
                <a16:creationId xmlns:a16="http://schemas.microsoft.com/office/drawing/2014/main" id="{A18D4279-D5A7-44DF-B5D1-7CB09A895120}"/>
              </a:ext>
            </a:extLst>
          </p:cNvPr>
          <p:cNvGraphicFramePr>
            <a:graphicFrameLocks noGrp="1"/>
          </p:cNvGraphicFramePr>
          <p:nvPr/>
        </p:nvGraphicFramePr>
        <p:xfrm>
          <a:off x="307555" y="1617347"/>
          <a:ext cx="3821060" cy="246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92867">
                  <a:extLst>
                    <a:ext uri="{9D8B030D-6E8A-4147-A177-3AD203B41FA5}">
                      <a16:colId xmlns:a16="http://schemas.microsoft.com/office/drawing/2014/main" val="1520359308"/>
                    </a:ext>
                  </a:extLst>
                </a:gridCol>
                <a:gridCol w="1728193">
                  <a:extLst>
                    <a:ext uri="{9D8B030D-6E8A-4147-A177-3AD203B41FA5}">
                      <a16:colId xmlns:a16="http://schemas.microsoft.com/office/drawing/2014/main" val="4218542073"/>
                    </a:ext>
                  </a:extLst>
                </a:gridCol>
              </a:tblGrid>
              <a:tr h="306900">
                <a:tc>
                  <a:txBody>
                    <a:bodyPr/>
                    <a:lstStyle/>
                    <a:p>
                      <a:r>
                        <a:rPr lang="es-CO" sz="1400" b="1" dirty="0">
                          <a:solidFill>
                            <a:schemeClr val="bg1"/>
                          </a:solidFill>
                          <a:latin typeface="+mn-lt"/>
                        </a:rPr>
                        <a:t>Numero de estudiantes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400" dirty="0">
                          <a:latin typeface="+mn-lt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64777"/>
                  </a:ext>
                </a:extLst>
              </a:tr>
              <a:tr h="306900">
                <a:tc>
                  <a:txBody>
                    <a:bodyPr/>
                    <a:lstStyle/>
                    <a:p>
                      <a:r>
                        <a:rPr lang="es-MX" sz="1400" b="1" dirty="0">
                          <a:solidFill>
                            <a:schemeClr val="bg1"/>
                          </a:solidFill>
                          <a:latin typeface="+mn-lt"/>
                        </a:rPr>
                        <a:t>Notas</a:t>
                      </a:r>
                      <a:endParaRPr lang="es-CO" sz="14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400" dirty="0"/>
                        <a:t>4.0, 2.5, 3.0, 1.5, 4.8</a:t>
                      </a:r>
                      <a:endParaRPr lang="es-CO" sz="140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99680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sz="1400" b="1" dirty="0">
                          <a:solidFill>
                            <a:schemeClr val="bg1"/>
                          </a:solidFill>
                          <a:latin typeface="+mn-lt"/>
                        </a:rPr>
                        <a:t>Aprobaron</a:t>
                      </a:r>
                      <a:endParaRPr lang="es-CO" sz="14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400" dirty="0">
                          <a:latin typeface="+mn-lt"/>
                        </a:rPr>
                        <a:t>(3) 60%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25575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sz="1400" b="1" dirty="0">
                          <a:solidFill>
                            <a:schemeClr val="bg1"/>
                          </a:solidFill>
                          <a:latin typeface="+mn-lt"/>
                        </a:rPr>
                        <a:t>Reprobaron</a:t>
                      </a:r>
                      <a:endParaRPr lang="es-CO" sz="14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400" dirty="0">
                          <a:latin typeface="+mn-lt"/>
                        </a:rPr>
                        <a:t>(2) 40%</a:t>
                      </a:r>
                      <a:endParaRPr lang="es-CO" sz="140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70235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sz="1400" b="1" dirty="0">
                          <a:solidFill>
                            <a:schemeClr val="bg1"/>
                          </a:solidFill>
                          <a:latin typeface="+mn-lt"/>
                        </a:rPr>
                        <a:t>Promedio nota aprobada</a:t>
                      </a:r>
                      <a:endParaRPr lang="es-CO" sz="14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400" dirty="0"/>
                        <a:t>3.93</a:t>
                      </a:r>
                      <a:endParaRPr lang="es-CO" sz="140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56756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400" b="1" dirty="0">
                          <a:solidFill>
                            <a:schemeClr val="bg1"/>
                          </a:solidFill>
                          <a:latin typeface="+mn-lt"/>
                        </a:rPr>
                        <a:t>Promedio nota reprobada</a:t>
                      </a:r>
                      <a:endParaRPr lang="es-CO" sz="14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400" dirty="0">
                          <a:latin typeface="+mn-lt"/>
                        </a:rPr>
                        <a:t>2.0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6380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sz="1400" b="1" dirty="0">
                          <a:solidFill>
                            <a:schemeClr val="bg1"/>
                          </a:solidFill>
                          <a:latin typeface="+mn-lt"/>
                        </a:rPr>
                        <a:t>Promedio general</a:t>
                      </a:r>
                      <a:endParaRPr lang="es-CO" sz="1400" b="1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400" dirty="0"/>
                        <a:t>3.16</a:t>
                      </a:r>
                      <a:endParaRPr lang="es-CO" sz="140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0238023"/>
                  </a:ext>
                </a:extLst>
              </a:tr>
            </a:tbl>
          </a:graphicData>
        </a:graphic>
      </p:graphicFrame>
      <p:sp>
        <p:nvSpPr>
          <p:cNvPr id="13" name="5 Rectángulo">
            <a:extLst>
              <a:ext uri="{FF2B5EF4-FFF2-40B4-BE49-F238E27FC236}">
                <a16:creationId xmlns:a16="http://schemas.microsoft.com/office/drawing/2014/main" id="{C11AB076-103C-40DC-A51B-C7937C998661}"/>
              </a:ext>
            </a:extLst>
          </p:cNvPr>
          <p:cNvSpPr/>
          <p:nvPr/>
        </p:nvSpPr>
        <p:spPr>
          <a:xfrm>
            <a:off x="4355976" y="1055201"/>
            <a:ext cx="286551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CO" sz="2000" b="1" dirty="0"/>
              <a:t>Resultado de ejecución</a:t>
            </a:r>
            <a:endParaRPr lang="es-CO" sz="2000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956D764A-A759-4830-8E6D-370A2063C3D7}"/>
              </a:ext>
            </a:extLst>
          </p:cNvPr>
          <p:cNvSpPr txBox="1"/>
          <p:nvPr/>
        </p:nvSpPr>
        <p:spPr>
          <a:xfrm>
            <a:off x="4355976" y="1659300"/>
            <a:ext cx="4283077" cy="21236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s-MX" sz="1200" dirty="0">
                <a:latin typeface="Consolas" panose="020B0609020204030204" pitchFamily="49" charset="0"/>
              </a:rPr>
              <a:t>Ingrese el número de estudiantes: 5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Ingrese la nota del estudiante 1: 4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Ingrese la nota del estudiante 2: 2.5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Ingrese la nota del estudiante 3: 3.0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Ingrese la nota del estudiante 4: 1.5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Ingrese la nota del estudiante 5: 4.8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Porcentaje de estudiantes que aprobaron: 60.0%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Porcentaje de estudiantes que reprobaron: 40.0%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Promedio de notas reprobadas: 2.0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Promedio de notas aprobadas: 3.9333333333333336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Promedio general de notas: 3.16</a:t>
            </a:r>
          </a:p>
        </p:txBody>
      </p:sp>
    </p:spTree>
    <p:extLst>
      <p:ext uri="{BB962C8B-B14F-4D97-AF65-F5344CB8AC3E}">
        <p14:creationId xmlns:p14="http://schemas.microsoft.com/office/powerpoint/2010/main" val="20917224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4 Título">
            <a:extLst>
              <a:ext uri="{FF2B5EF4-FFF2-40B4-BE49-F238E27FC236}">
                <a16:creationId xmlns:a16="http://schemas.microsoft.com/office/drawing/2014/main" id="{AE7AE4FE-857D-48EA-8C2E-EFF7E2B785AF}"/>
              </a:ext>
            </a:extLst>
          </p:cNvPr>
          <p:cNvSpPr txBox="1">
            <a:spLocks/>
          </p:cNvSpPr>
          <p:nvPr/>
        </p:nvSpPr>
        <p:spPr>
          <a:xfrm>
            <a:off x="107504" y="179147"/>
            <a:ext cx="9145016" cy="6575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000" dirty="0"/>
              <a:t>Ejemplo Calificaciones (Modular)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2AB03FC-1822-4DAB-9611-CC0D527F29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6114" y="748053"/>
            <a:ext cx="4314599" cy="5895379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CA90F7A8-4DA2-4B67-A533-E7179F9B647D}"/>
              </a:ext>
            </a:extLst>
          </p:cNvPr>
          <p:cNvSpPr txBox="1"/>
          <p:nvPr/>
        </p:nvSpPr>
        <p:spPr>
          <a:xfrm>
            <a:off x="307212" y="1576696"/>
            <a:ext cx="4207095" cy="43396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CO" sz="1200" dirty="0">
                <a:latin typeface="Consolas" panose="020B0609020204030204" pitchFamily="49" charset="0"/>
              </a:rPr>
              <a:t># Programa principal</a:t>
            </a:r>
          </a:p>
          <a:p>
            <a:r>
              <a:rPr lang="es-CO" sz="1200" dirty="0" err="1">
                <a:latin typeface="Consolas" panose="020B0609020204030204" pitchFamily="49" charset="0"/>
              </a:rPr>
              <a:t>est_aprob</a:t>
            </a:r>
            <a:r>
              <a:rPr lang="es-CO" sz="1200" dirty="0">
                <a:latin typeface="Consolas" panose="020B0609020204030204" pitchFamily="49" charset="0"/>
              </a:rPr>
              <a:t> = 0</a:t>
            </a:r>
          </a:p>
          <a:p>
            <a:r>
              <a:rPr lang="es-CO" sz="1200" dirty="0" err="1">
                <a:latin typeface="Consolas" panose="020B0609020204030204" pitchFamily="49" charset="0"/>
              </a:rPr>
              <a:t>est_reprob</a:t>
            </a:r>
            <a:r>
              <a:rPr lang="es-CO" sz="1200" dirty="0">
                <a:latin typeface="Consolas" panose="020B0609020204030204" pitchFamily="49" charset="0"/>
              </a:rPr>
              <a:t> = 0</a:t>
            </a:r>
          </a:p>
          <a:p>
            <a:r>
              <a:rPr lang="es-CO" sz="1200" dirty="0" err="1">
                <a:latin typeface="Consolas" panose="020B0609020204030204" pitchFamily="49" charset="0"/>
              </a:rPr>
              <a:t>suma_aprob</a:t>
            </a:r>
            <a:r>
              <a:rPr lang="es-CO" sz="1200" dirty="0">
                <a:latin typeface="Consolas" panose="020B0609020204030204" pitchFamily="49" charset="0"/>
              </a:rPr>
              <a:t> = 0</a:t>
            </a:r>
          </a:p>
          <a:p>
            <a:r>
              <a:rPr lang="es-CO" sz="1200" dirty="0" err="1">
                <a:latin typeface="Consolas" panose="020B0609020204030204" pitchFamily="49" charset="0"/>
              </a:rPr>
              <a:t>suma_reprob</a:t>
            </a:r>
            <a:r>
              <a:rPr lang="es-CO" sz="1200" dirty="0">
                <a:latin typeface="Consolas" panose="020B0609020204030204" pitchFamily="49" charset="0"/>
              </a:rPr>
              <a:t> = 0</a:t>
            </a:r>
          </a:p>
          <a:p>
            <a:endParaRPr lang="es-CO" sz="1200" dirty="0">
              <a:latin typeface="Consolas" panose="020B0609020204030204" pitchFamily="49" charset="0"/>
            </a:endParaRPr>
          </a:p>
          <a:p>
            <a:r>
              <a:rPr lang="es-CO" sz="1200" dirty="0">
                <a:latin typeface="Consolas" panose="020B0609020204030204" pitchFamily="49" charset="0"/>
              </a:rPr>
              <a:t>N = </a:t>
            </a:r>
            <a:r>
              <a:rPr lang="es-CO" sz="1200" dirty="0" err="1">
                <a:latin typeface="Consolas" panose="020B0609020204030204" pitchFamily="49" charset="0"/>
              </a:rPr>
              <a:t>int</a:t>
            </a:r>
            <a:r>
              <a:rPr lang="es-CO" sz="1200" dirty="0">
                <a:latin typeface="Consolas" panose="020B0609020204030204" pitchFamily="49" charset="0"/>
              </a:rPr>
              <a:t>(input("Número de estudiantes: "))</a:t>
            </a:r>
          </a:p>
          <a:p>
            <a:r>
              <a:rPr lang="es-CO" sz="1200" dirty="0" err="1">
                <a:latin typeface="Consolas" panose="020B0609020204030204" pitchFamily="49" charset="0"/>
              </a:rPr>
              <a:t>for</a:t>
            </a:r>
            <a:r>
              <a:rPr lang="es-CO" sz="1200" dirty="0">
                <a:latin typeface="Consolas" panose="020B0609020204030204" pitchFamily="49" charset="0"/>
              </a:rPr>
              <a:t> i in </a:t>
            </a:r>
            <a:r>
              <a:rPr lang="es-CO" sz="1200" dirty="0" err="1">
                <a:latin typeface="Consolas" panose="020B0609020204030204" pitchFamily="49" charset="0"/>
              </a:rPr>
              <a:t>range</a:t>
            </a:r>
            <a:r>
              <a:rPr lang="es-CO" sz="1200" dirty="0">
                <a:latin typeface="Consolas" panose="020B0609020204030204" pitchFamily="49" charset="0"/>
              </a:rPr>
              <a:t>(N):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    nota = float(input("- Digite la nota: "))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    </a:t>
            </a:r>
            <a:r>
              <a:rPr lang="es-CO" sz="1200" dirty="0" err="1">
                <a:latin typeface="Consolas" panose="020B0609020204030204" pitchFamily="49" charset="0"/>
              </a:rPr>
              <a:t>if</a:t>
            </a:r>
            <a:r>
              <a:rPr lang="es-CO" sz="1200" dirty="0">
                <a:latin typeface="Consolas" panose="020B0609020204030204" pitchFamily="49" charset="0"/>
              </a:rPr>
              <a:t> </a:t>
            </a:r>
            <a:r>
              <a:rPr lang="es-CO" sz="1200" dirty="0" err="1">
                <a:highlight>
                  <a:srgbClr val="FFFF00"/>
                </a:highlight>
                <a:latin typeface="Consolas" panose="020B0609020204030204" pitchFamily="49" charset="0"/>
              </a:rPr>
              <a:t>es_nota_aprobatoria</a:t>
            </a:r>
            <a:r>
              <a:rPr lang="es-CO" sz="1200" dirty="0">
                <a:highlight>
                  <a:srgbClr val="FFFF00"/>
                </a:highlight>
                <a:latin typeface="Consolas" panose="020B0609020204030204" pitchFamily="49" charset="0"/>
              </a:rPr>
              <a:t>(nota, NOTA_MINIMA)</a:t>
            </a:r>
            <a:r>
              <a:rPr lang="es-CO" sz="1200" dirty="0">
                <a:latin typeface="Consolas" panose="020B0609020204030204" pitchFamily="49" charset="0"/>
              </a:rPr>
              <a:t>: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        </a:t>
            </a:r>
            <a:r>
              <a:rPr lang="es-CO" sz="1200" dirty="0" err="1">
                <a:latin typeface="Consolas" panose="020B0609020204030204" pitchFamily="49" charset="0"/>
              </a:rPr>
              <a:t>est_aprob</a:t>
            </a:r>
            <a:r>
              <a:rPr lang="es-CO" sz="1200" dirty="0">
                <a:latin typeface="Consolas" panose="020B0609020204030204" pitchFamily="49" charset="0"/>
              </a:rPr>
              <a:t> += 1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        </a:t>
            </a:r>
            <a:r>
              <a:rPr lang="es-CO" sz="1200" dirty="0" err="1">
                <a:latin typeface="Consolas" panose="020B0609020204030204" pitchFamily="49" charset="0"/>
              </a:rPr>
              <a:t>suma_aprob</a:t>
            </a:r>
            <a:r>
              <a:rPr lang="es-CO" sz="1200" dirty="0">
                <a:latin typeface="Consolas" panose="020B0609020204030204" pitchFamily="49" charset="0"/>
              </a:rPr>
              <a:t> += nota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    </a:t>
            </a:r>
            <a:r>
              <a:rPr lang="es-CO" sz="1200" dirty="0" err="1">
                <a:latin typeface="Consolas" panose="020B0609020204030204" pitchFamily="49" charset="0"/>
              </a:rPr>
              <a:t>else</a:t>
            </a:r>
            <a:r>
              <a:rPr lang="es-CO" sz="1200" dirty="0">
                <a:latin typeface="Consolas" panose="020B0609020204030204" pitchFamily="49" charset="0"/>
              </a:rPr>
              <a:t>: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        </a:t>
            </a:r>
            <a:r>
              <a:rPr lang="es-CO" sz="1200" dirty="0" err="1">
                <a:latin typeface="Consolas" panose="020B0609020204030204" pitchFamily="49" charset="0"/>
              </a:rPr>
              <a:t>est_reprob</a:t>
            </a:r>
            <a:r>
              <a:rPr lang="es-CO" sz="1200" dirty="0">
                <a:latin typeface="Consolas" panose="020B0609020204030204" pitchFamily="49" charset="0"/>
              </a:rPr>
              <a:t> += 1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        </a:t>
            </a:r>
            <a:r>
              <a:rPr lang="es-CO" sz="1200" dirty="0" err="1">
                <a:latin typeface="Consolas" panose="020B0609020204030204" pitchFamily="49" charset="0"/>
              </a:rPr>
              <a:t>suma_reprob</a:t>
            </a:r>
            <a:r>
              <a:rPr lang="es-CO" sz="1200" dirty="0">
                <a:latin typeface="Consolas" panose="020B0609020204030204" pitchFamily="49" charset="0"/>
              </a:rPr>
              <a:t> += nota</a:t>
            </a:r>
          </a:p>
          <a:p>
            <a:endParaRPr lang="es-CO" sz="1200" dirty="0">
              <a:latin typeface="Consolas" panose="020B0609020204030204" pitchFamily="49" charset="0"/>
            </a:endParaRPr>
          </a:p>
          <a:p>
            <a:r>
              <a:rPr lang="es-CO" sz="1200" dirty="0" err="1">
                <a:latin typeface="Consolas" panose="020B0609020204030204" pitchFamily="49" charset="0"/>
              </a:rPr>
              <a:t>if</a:t>
            </a:r>
            <a:r>
              <a:rPr lang="es-CO" sz="1200" dirty="0">
                <a:latin typeface="Consolas" panose="020B0609020204030204" pitchFamily="49" charset="0"/>
              </a:rPr>
              <a:t> N &lt;= 0: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    print("No hay estudiantes")</a:t>
            </a:r>
          </a:p>
          <a:p>
            <a:r>
              <a:rPr lang="es-CO" sz="1200" dirty="0" err="1">
                <a:latin typeface="Consolas" panose="020B0609020204030204" pitchFamily="49" charset="0"/>
              </a:rPr>
              <a:t>else</a:t>
            </a:r>
            <a:r>
              <a:rPr lang="es-CO" sz="1200" dirty="0">
                <a:latin typeface="Consolas" panose="020B0609020204030204" pitchFamily="49" charset="0"/>
              </a:rPr>
              <a:t>: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    </a:t>
            </a:r>
            <a:r>
              <a:rPr lang="es-CO" sz="1200" dirty="0" err="1">
                <a:highlight>
                  <a:srgbClr val="FFFF00"/>
                </a:highlight>
                <a:latin typeface="Consolas" panose="020B0609020204030204" pitchFamily="49" charset="0"/>
              </a:rPr>
              <a:t>imprimir_reporte</a:t>
            </a:r>
            <a:r>
              <a:rPr lang="es-CO" sz="1200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s-CO" sz="1200" dirty="0" err="1">
                <a:highlight>
                  <a:srgbClr val="FFFF00"/>
                </a:highlight>
                <a:latin typeface="Consolas" panose="020B0609020204030204" pitchFamily="49" charset="0"/>
              </a:rPr>
              <a:t>est_aprob</a:t>
            </a:r>
            <a:r>
              <a:rPr lang="es-CO" sz="1200" dirty="0">
                <a:highlight>
                  <a:srgbClr val="FFFF00"/>
                </a:highlight>
                <a:latin typeface="Consolas" panose="020B0609020204030204" pitchFamily="49" charset="0"/>
              </a:rPr>
              <a:t>,  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                     </a:t>
            </a:r>
            <a:r>
              <a:rPr lang="es-CO" sz="1200" dirty="0" err="1">
                <a:highlight>
                  <a:srgbClr val="FFFF00"/>
                </a:highlight>
                <a:latin typeface="Consolas" panose="020B0609020204030204" pitchFamily="49" charset="0"/>
              </a:rPr>
              <a:t>est_reprob</a:t>
            </a:r>
            <a:r>
              <a:rPr lang="es-CO" sz="1200" dirty="0">
                <a:highlight>
                  <a:srgbClr val="FFFF00"/>
                </a:highlight>
                <a:latin typeface="Consolas" panose="020B0609020204030204" pitchFamily="49" charset="0"/>
              </a:rPr>
              <a:t>,</a:t>
            </a:r>
            <a:r>
              <a:rPr lang="es-CO" sz="1200" dirty="0">
                <a:latin typeface="Consolas" panose="020B0609020204030204" pitchFamily="49" charset="0"/>
              </a:rPr>
              <a:t> 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                     </a:t>
            </a:r>
            <a:r>
              <a:rPr lang="es-CO" sz="1200" dirty="0" err="1">
                <a:highlight>
                  <a:srgbClr val="FFFF00"/>
                </a:highlight>
                <a:latin typeface="Consolas" panose="020B0609020204030204" pitchFamily="49" charset="0"/>
              </a:rPr>
              <a:t>suma_aprob</a:t>
            </a:r>
            <a:r>
              <a:rPr lang="es-CO" sz="1200" dirty="0">
                <a:highlight>
                  <a:srgbClr val="FFFF00"/>
                </a:highlight>
                <a:latin typeface="Consolas" panose="020B0609020204030204" pitchFamily="49" charset="0"/>
              </a:rPr>
              <a:t>,</a:t>
            </a:r>
            <a:r>
              <a:rPr lang="es-CO" sz="1200" dirty="0">
                <a:latin typeface="Consolas" panose="020B0609020204030204" pitchFamily="49" charset="0"/>
              </a:rPr>
              <a:t> 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                     </a:t>
            </a:r>
            <a:r>
              <a:rPr lang="es-CO" sz="1200" dirty="0" err="1">
                <a:highlight>
                  <a:srgbClr val="FFFF00"/>
                </a:highlight>
                <a:latin typeface="Consolas" panose="020B0609020204030204" pitchFamily="49" charset="0"/>
              </a:rPr>
              <a:t>suma_reprob</a:t>
            </a:r>
            <a:r>
              <a:rPr lang="es-CO" sz="1200" dirty="0"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D04EC006-7B26-4ECF-B9C8-5119D8804E35}"/>
              </a:ext>
            </a:extLst>
          </p:cNvPr>
          <p:cNvSpPr txBox="1"/>
          <p:nvPr/>
        </p:nvSpPr>
        <p:spPr>
          <a:xfrm>
            <a:off x="307212" y="980728"/>
            <a:ext cx="2896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000" b="1" dirty="0"/>
              <a:t>Programa principal</a:t>
            </a:r>
          </a:p>
        </p:txBody>
      </p:sp>
    </p:spTree>
    <p:extLst>
      <p:ext uri="{BB962C8B-B14F-4D97-AF65-F5344CB8AC3E}">
        <p14:creationId xmlns:p14="http://schemas.microsoft.com/office/powerpoint/2010/main" val="424959130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4 Título">
            <a:extLst>
              <a:ext uri="{FF2B5EF4-FFF2-40B4-BE49-F238E27FC236}">
                <a16:creationId xmlns:a16="http://schemas.microsoft.com/office/drawing/2014/main" id="{AE7AE4FE-857D-48EA-8C2E-EFF7E2B785AF}"/>
              </a:ext>
            </a:extLst>
          </p:cNvPr>
          <p:cNvSpPr txBox="1">
            <a:spLocks/>
          </p:cNvSpPr>
          <p:nvPr/>
        </p:nvSpPr>
        <p:spPr>
          <a:xfrm>
            <a:off x="107504" y="179147"/>
            <a:ext cx="9145016" cy="6575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000" dirty="0"/>
              <a:t>Ejemplo Calificaciones (Modular)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A90F7A8-4DA2-4B67-A533-E7179F9B647D}"/>
              </a:ext>
            </a:extLst>
          </p:cNvPr>
          <p:cNvSpPr txBox="1"/>
          <p:nvPr/>
        </p:nvSpPr>
        <p:spPr>
          <a:xfrm>
            <a:off x="4697872" y="1988840"/>
            <a:ext cx="3924436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it-IT" sz="1200" dirty="0">
                <a:latin typeface="Consolas" panose="020B0609020204030204" pitchFamily="49" charset="0"/>
              </a:rPr>
              <a:t>def es_nota_aprobatoria(nota, nota_minima):      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aprob = nota &gt;= nota_minima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</a:t>
            </a:r>
            <a:r>
              <a:rPr lang="it-IT" sz="1200" dirty="0">
                <a:solidFill>
                  <a:schemeClr val="accent4"/>
                </a:solidFill>
                <a:latin typeface="Consolas" panose="020B0609020204030204" pitchFamily="49" charset="0"/>
              </a:rPr>
              <a:t>return</a:t>
            </a:r>
            <a:r>
              <a:rPr lang="it-IT" sz="1200" dirty="0">
                <a:latin typeface="Consolas" panose="020B0609020204030204" pitchFamily="49" charset="0"/>
              </a:rPr>
              <a:t> aprob</a:t>
            </a:r>
            <a:endParaRPr lang="es-CO" sz="1200" dirty="0">
              <a:latin typeface="Consolas" panose="020B0609020204030204" pitchFamily="49" charset="0"/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DFFABFA7-5763-4763-8B21-C0ABD2B257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858" y="1700808"/>
            <a:ext cx="3762375" cy="3200400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99FB6817-04E9-4EEE-A5AB-ED6A232718F5}"/>
              </a:ext>
            </a:extLst>
          </p:cNvPr>
          <p:cNvSpPr txBox="1"/>
          <p:nvPr/>
        </p:nvSpPr>
        <p:spPr>
          <a:xfrm>
            <a:off x="539552" y="1012666"/>
            <a:ext cx="37623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000" b="1" dirty="0"/>
              <a:t>Modulo </a:t>
            </a:r>
            <a:r>
              <a:rPr lang="es-CO" b="1" dirty="0" err="1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es_nota_aprobatoria</a:t>
            </a:r>
            <a:r>
              <a:rPr lang="es-CO" b="1" dirty="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()</a:t>
            </a:r>
            <a:endParaRPr lang="es-CO" sz="2000" b="1" dirty="0">
              <a:solidFill>
                <a:schemeClr val="accent2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350830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4 Título">
            <a:extLst>
              <a:ext uri="{FF2B5EF4-FFF2-40B4-BE49-F238E27FC236}">
                <a16:creationId xmlns:a16="http://schemas.microsoft.com/office/drawing/2014/main" id="{AE7AE4FE-857D-48EA-8C2E-EFF7E2B785AF}"/>
              </a:ext>
            </a:extLst>
          </p:cNvPr>
          <p:cNvSpPr txBox="1">
            <a:spLocks/>
          </p:cNvSpPr>
          <p:nvPr/>
        </p:nvSpPr>
        <p:spPr>
          <a:xfrm>
            <a:off x="107504" y="179147"/>
            <a:ext cx="9145016" cy="6575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000" dirty="0"/>
              <a:t>Ejemplo Calificaciones (Modular)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A90F7A8-4DA2-4B67-A533-E7179F9B647D}"/>
              </a:ext>
            </a:extLst>
          </p:cNvPr>
          <p:cNvSpPr txBox="1"/>
          <p:nvPr/>
        </p:nvSpPr>
        <p:spPr>
          <a:xfrm>
            <a:off x="4689513" y="1844824"/>
            <a:ext cx="3924436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it-IT" sz="1200" dirty="0">
                <a:latin typeface="Consolas" panose="020B0609020204030204" pitchFamily="49" charset="0"/>
              </a:rPr>
              <a:t>def calcular_promedio(suma, cantidad):   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if cantidad == 0:        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  prom = 0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else: 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  prom = suma/cantidad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</a:t>
            </a:r>
            <a:r>
              <a:rPr lang="it-IT" sz="1200" dirty="0">
                <a:solidFill>
                  <a:schemeClr val="accent4"/>
                </a:solidFill>
                <a:latin typeface="Consolas" panose="020B0609020204030204" pitchFamily="49" charset="0"/>
              </a:rPr>
              <a:t>return</a:t>
            </a:r>
            <a:r>
              <a:rPr lang="it-IT" sz="1200" dirty="0">
                <a:latin typeface="Consolas" panose="020B0609020204030204" pitchFamily="49" charset="0"/>
              </a:rPr>
              <a:t> prom</a:t>
            </a:r>
            <a:endParaRPr lang="es-CO" sz="1200" dirty="0">
              <a:latin typeface="Consolas" panose="020B0609020204030204" pitchFamily="49" charset="0"/>
            </a:endParaRP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99FB6817-04E9-4EEE-A5AB-ED6A232718F5}"/>
              </a:ext>
            </a:extLst>
          </p:cNvPr>
          <p:cNvSpPr txBox="1"/>
          <p:nvPr/>
        </p:nvSpPr>
        <p:spPr>
          <a:xfrm>
            <a:off x="539552" y="1012666"/>
            <a:ext cx="37623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000" b="1" dirty="0"/>
              <a:t>Modulo </a:t>
            </a:r>
            <a:r>
              <a:rPr lang="es-CO" b="1" dirty="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calcular_promedio()</a:t>
            </a:r>
            <a:endParaRPr lang="es-CO" sz="2000" b="1" dirty="0">
              <a:solidFill>
                <a:schemeClr val="accent2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C5EE2A4A-6F18-4BB5-87D5-BD93837D2A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564" y="1588730"/>
            <a:ext cx="3762375" cy="320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97222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4 Título">
            <a:extLst>
              <a:ext uri="{FF2B5EF4-FFF2-40B4-BE49-F238E27FC236}">
                <a16:creationId xmlns:a16="http://schemas.microsoft.com/office/drawing/2014/main" id="{AE7AE4FE-857D-48EA-8C2E-EFF7E2B785AF}"/>
              </a:ext>
            </a:extLst>
          </p:cNvPr>
          <p:cNvSpPr txBox="1">
            <a:spLocks/>
          </p:cNvSpPr>
          <p:nvPr/>
        </p:nvSpPr>
        <p:spPr>
          <a:xfrm>
            <a:off x="107504" y="179147"/>
            <a:ext cx="9145016" cy="6575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000" dirty="0"/>
              <a:t>Ejemplo Calificaciones (Modular)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A90F7A8-4DA2-4B67-A533-E7179F9B647D}"/>
              </a:ext>
            </a:extLst>
          </p:cNvPr>
          <p:cNvSpPr txBox="1"/>
          <p:nvPr/>
        </p:nvSpPr>
        <p:spPr>
          <a:xfrm>
            <a:off x="3921201" y="2090172"/>
            <a:ext cx="5120355" cy="26776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it-IT" sz="1200" dirty="0">
                <a:latin typeface="Consolas" panose="020B0609020204030204" pitchFamily="49" charset="0"/>
              </a:rPr>
              <a:t>def imprimir_reporte(est_aprob, est_reprob,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                   suma_aprob, suma_reprob):    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total = est_aprob + est_reprob     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print(f"Ganaron: {est_aprob}")        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print(f"Perdieron: {est_reprob}")    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prom_abrob = </a:t>
            </a:r>
            <a:r>
              <a:rPr lang="it-IT" sz="1200" dirty="0">
                <a:highlight>
                  <a:srgbClr val="FFFF00"/>
                </a:highlight>
                <a:latin typeface="Consolas" panose="020B0609020204030204" pitchFamily="49" charset="0"/>
              </a:rPr>
              <a:t>calcular_promedio(suma_aprob, 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                               </a:t>
            </a:r>
            <a:r>
              <a:rPr lang="it-IT" sz="1200" dirty="0">
                <a:highlight>
                  <a:srgbClr val="FFFF00"/>
                </a:highlight>
                <a:latin typeface="Consolas" panose="020B0609020204030204" pitchFamily="49" charset="0"/>
              </a:rPr>
              <a:t>est_aprob)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prom_reprob = </a:t>
            </a:r>
            <a:r>
              <a:rPr lang="it-IT" sz="1200" dirty="0">
                <a:highlight>
                  <a:srgbClr val="FFFF00"/>
                </a:highlight>
                <a:latin typeface="Consolas" panose="020B0609020204030204" pitchFamily="49" charset="0"/>
              </a:rPr>
              <a:t>calcular_promedio(suma_reprob,</a:t>
            </a:r>
            <a:r>
              <a:rPr lang="it-IT" sz="1200" dirty="0">
                <a:latin typeface="Consolas" panose="020B0609020204030204" pitchFamily="49" charset="0"/>
              </a:rPr>
              <a:t> 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                                </a:t>
            </a:r>
            <a:r>
              <a:rPr lang="it-IT" sz="1200" dirty="0">
                <a:highlight>
                  <a:srgbClr val="FFFF00"/>
                </a:highlight>
                <a:latin typeface="Consolas" panose="020B0609020204030204" pitchFamily="49" charset="0"/>
              </a:rPr>
              <a:t>est_reprob)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prom_curso = </a:t>
            </a:r>
            <a:r>
              <a:rPr lang="it-IT" sz="1200" dirty="0">
                <a:highlight>
                  <a:srgbClr val="FFFF00"/>
                </a:highlight>
                <a:latin typeface="Consolas" panose="020B0609020204030204" pitchFamily="49" charset="0"/>
              </a:rPr>
              <a:t>calcular_promedio(suma_aprob + suma_reprob,</a:t>
            </a:r>
            <a:r>
              <a:rPr lang="it-IT" sz="1200" dirty="0">
                <a:latin typeface="Consolas" panose="020B0609020204030204" pitchFamily="49" charset="0"/>
              </a:rPr>
              <a:t> 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                              </a:t>
            </a:r>
            <a:r>
              <a:rPr lang="it-IT" sz="1200" dirty="0">
                <a:highlight>
                  <a:srgbClr val="FFFF00"/>
                </a:highlight>
                <a:latin typeface="Consolas" panose="020B0609020204030204" pitchFamily="49" charset="0"/>
              </a:rPr>
              <a:t> total)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print(f"Prom aprob: {prom_aprob:.2f}")    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print(f"Prom reprob: {prom_reprob:.2f}")    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print(f"Prom nota: {prom_curso:.2f}") </a:t>
            </a:r>
            <a:endParaRPr lang="es-CO" sz="1200" dirty="0">
              <a:latin typeface="Consolas" panose="020B0609020204030204" pitchFamily="49" charset="0"/>
            </a:endParaRP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99FB6817-04E9-4EEE-A5AB-ED6A232718F5}"/>
              </a:ext>
            </a:extLst>
          </p:cNvPr>
          <p:cNvSpPr txBox="1"/>
          <p:nvPr/>
        </p:nvSpPr>
        <p:spPr>
          <a:xfrm>
            <a:off x="539552" y="1012666"/>
            <a:ext cx="37623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000" b="1" dirty="0"/>
              <a:t>Modulo </a:t>
            </a:r>
            <a:r>
              <a:rPr lang="es-CO" sz="2000" b="1" dirty="0" err="1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imprimir</a:t>
            </a:r>
            <a:r>
              <a:rPr lang="es-CO" b="1" dirty="0" err="1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_reporte</a:t>
            </a:r>
            <a:r>
              <a:rPr lang="es-CO" b="1" dirty="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()</a:t>
            </a:r>
            <a:endParaRPr lang="es-CO" sz="2000" b="1" dirty="0">
              <a:solidFill>
                <a:schemeClr val="accent2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C56485E3-22BB-415F-8C94-8444FF07B7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04" y="1700808"/>
            <a:ext cx="3735587" cy="4661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127104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4 Título">
            <a:extLst>
              <a:ext uri="{FF2B5EF4-FFF2-40B4-BE49-F238E27FC236}">
                <a16:creationId xmlns:a16="http://schemas.microsoft.com/office/drawing/2014/main" id="{AE7AE4FE-857D-48EA-8C2E-EFF7E2B785AF}"/>
              </a:ext>
            </a:extLst>
          </p:cNvPr>
          <p:cNvSpPr txBox="1">
            <a:spLocks/>
          </p:cNvSpPr>
          <p:nvPr/>
        </p:nvSpPr>
        <p:spPr>
          <a:xfrm>
            <a:off x="107504" y="179147"/>
            <a:ext cx="9145016" cy="6575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000" dirty="0"/>
              <a:t>Ejemplo Calificaciones (Modular)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A90F7A8-4DA2-4B67-A533-E7179F9B647D}"/>
              </a:ext>
            </a:extLst>
          </p:cNvPr>
          <p:cNvSpPr txBox="1"/>
          <p:nvPr/>
        </p:nvSpPr>
        <p:spPr>
          <a:xfrm>
            <a:off x="4563740" y="1154942"/>
            <a:ext cx="4311148" cy="43396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CO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s-CO" sz="120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------------- </a:t>
            </a:r>
            <a:r>
              <a:rPr lang="es-CO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Programa principal </a:t>
            </a:r>
            <a:r>
              <a:rPr lang="es-CO" sz="120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-------------</a:t>
            </a:r>
            <a:endParaRPr lang="es-CO" sz="12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r>
              <a:rPr lang="es-CO" sz="1200" dirty="0" err="1">
                <a:latin typeface="Consolas" panose="020B0609020204030204" pitchFamily="49" charset="0"/>
              </a:rPr>
              <a:t>est_aprob</a:t>
            </a:r>
            <a:r>
              <a:rPr lang="es-CO" sz="1200" dirty="0">
                <a:latin typeface="Consolas" panose="020B0609020204030204" pitchFamily="49" charset="0"/>
              </a:rPr>
              <a:t> = 0</a:t>
            </a:r>
          </a:p>
          <a:p>
            <a:r>
              <a:rPr lang="es-CO" sz="1200" dirty="0" err="1">
                <a:latin typeface="Consolas" panose="020B0609020204030204" pitchFamily="49" charset="0"/>
              </a:rPr>
              <a:t>est_reprob</a:t>
            </a:r>
            <a:r>
              <a:rPr lang="es-CO" sz="1200" dirty="0">
                <a:latin typeface="Consolas" panose="020B0609020204030204" pitchFamily="49" charset="0"/>
              </a:rPr>
              <a:t> = 0</a:t>
            </a:r>
          </a:p>
          <a:p>
            <a:r>
              <a:rPr lang="es-CO" sz="1200" dirty="0" err="1">
                <a:latin typeface="Consolas" panose="020B0609020204030204" pitchFamily="49" charset="0"/>
              </a:rPr>
              <a:t>suma_aprob</a:t>
            </a:r>
            <a:r>
              <a:rPr lang="es-CO" sz="1200" dirty="0">
                <a:latin typeface="Consolas" panose="020B0609020204030204" pitchFamily="49" charset="0"/>
              </a:rPr>
              <a:t> = 0</a:t>
            </a:r>
          </a:p>
          <a:p>
            <a:r>
              <a:rPr lang="es-CO" sz="1200" dirty="0" err="1">
                <a:latin typeface="Consolas" panose="020B0609020204030204" pitchFamily="49" charset="0"/>
              </a:rPr>
              <a:t>suma_reprob</a:t>
            </a:r>
            <a:r>
              <a:rPr lang="es-CO" sz="1200" dirty="0">
                <a:latin typeface="Consolas" panose="020B0609020204030204" pitchFamily="49" charset="0"/>
              </a:rPr>
              <a:t> = 0</a:t>
            </a:r>
          </a:p>
          <a:p>
            <a:endParaRPr lang="es-CO" sz="1200" dirty="0">
              <a:latin typeface="Consolas" panose="020B0609020204030204" pitchFamily="49" charset="0"/>
            </a:endParaRPr>
          </a:p>
          <a:p>
            <a:r>
              <a:rPr lang="es-CO" sz="1200" dirty="0">
                <a:latin typeface="Consolas" panose="020B0609020204030204" pitchFamily="49" charset="0"/>
              </a:rPr>
              <a:t>N = </a:t>
            </a:r>
            <a:r>
              <a:rPr lang="es-CO" sz="1200" dirty="0" err="1">
                <a:latin typeface="Consolas" panose="020B0609020204030204" pitchFamily="49" charset="0"/>
              </a:rPr>
              <a:t>int</a:t>
            </a:r>
            <a:r>
              <a:rPr lang="es-CO" sz="1200" dirty="0">
                <a:latin typeface="Consolas" panose="020B0609020204030204" pitchFamily="49" charset="0"/>
              </a:rPr>
              <a:t>(input("Número de estudiantes: "))</a:t>
            </a:r>
          </a:p>
          <a:p>
            <a:r>
              <a:rPr lang="es-CO" sz="1200" dirty="0" err="1">
                <a:latin typeface="Consolas" panose="020B0609020204030204" pitchFamily="49" charset="0"/>
              </a:rPr>
              <a:t>for</a:t>
            </a:r>
            <a:r>
              <a:rPr lang="es-CO" sz="1200" dirty="0">
                <a:latin typeface="Consolas" panose="020B0609020204030204" pitchFamily="49" charset="0"/>
              </a:rPr>
              <a:t> i in </a:t>
            </a:r>
            <a:r>
              <a:rPr lang="es-CO" sz="1200" dirty="0" err="1">
                <a:latin typeface="Consolas" panose="020B0609020204030204" pitchFamily="49" charset="0"/>
              </a:rPr>
              <a:t>range</a:t>
            </a:r>
            <a:r>
              <a:rPr lang="es-CO" sz="1200" dirty="0">
                <a:latin typeface="Consolas" panose="020B0609020204030204" pitchFamily="49" charset="0"/>
              </a:rPr>
              <a:t>(N):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    nota = float(input("- Digite la nota: "))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    </a:t>
            </a:r>
            <a:r>
              <a:rPr lang="es-CO" sz="1200" dirty="0" err="1">
                <a:latin typeface="Consolas" panose="020B0609020204030204" pitchFamily="49" charset="0"/>
              </a:rPr>
              <a:t>if</a:t>
            </a:r>
            <a:r>
              <a:rPr lang="es-CO" sz="1200" dirty="0">
                <a:latin typeface="Consolas" panose="020B0609020204030204" pitchFamily="49" charset="0"/>
              </a:rPr>
              <a:t> </a:t>
            </a:r>
            <a:r>
              <a:rPr lang="es-CO" sz="1200" dirty="0" err="1">
                <a:highlight>
                  <a:srgbClr val="FFFF00"/>
                </a:highlight>
                <a:latin typeface="Consolas" panose="020B0609020204030204" pitchFamily="49" charset="0"/>
              </a:rPr>
              <a:t>es_nota_aprobatoria</a:t>
            </a:r>
            <a:r>
              <a:rPr lang="es-CO" sz="1200" dirty="0">
                <a:highlight>
                  <a:srgbClr val="FFFF00"/>
                </a:highlight>
                <a:latin typeface="Consolas" panose="020B0609020204030204" pitchFamily="49" charset="0"/>
              </a:rPr>
              <a:t>(nota, NOTA_MINIMA)</a:t>
            </a:r>
            <a:r>
              <a:rPr lang="es-CO" sz="1200" dirty="0">
                <a:latin typeface="Consolas" panose="020B0609020204030204" pitchFamily="49" charset="0"/>
              </a:rPr>
              <a:t>: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        </a:t>
            </a:r>
            <a:r>
              <a:rPr lang="es-CO" sz="1200" dirty="0" err="1">
                <a:latin typeface="Consolas" panose="020B0609020204030204" pitchFamily="49" charset="0"/>
              </a:rPr>
              <a:t>est_aprob</a:t>
            </a:r>
            <a:r>
              <a:rPr lang="es-CO" sz="1200" dirty="0">
                <a:latin typeface="Consolas" panose="020B0609020204030204" pitchFamily="49" charset="0"/>
              </a:rPr>
              <a:t> += 1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        </a:t>
            </a:r>
            <a:r>
              <a:rPr lang="es-CO" sz="1200" dirty="0" err="1">
                <a:latin typeface="Consolas" panose="020B0609020204030204" pitchFamily="49" charset="0"/>
              </a:rPr>
              <a:t>suma_aprob</a:t>
            </a:r>
            <a:r>
              <a:rPr lang="es-CO" sz="1200" dirty="0">
                <a:latin typeface="Consolas" panose="020B0609020204030204" pitchFamily="49" charset="0"/>
              </a:rPr>
              <a:t> += nota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    </a:t>
            </a:r>
            <a:r>
              <a:rPr lang="es-CO" sz="1200" dirty="0" err="1">
                <a:latin typeface="Consolas" panose="020B0609020204030204" pitchFamily="49" charset="0"/>
              </a:rPr>
              <a:t>else</a:t>
            </a:r>
            <a:r>
              <a:rPr lang="es-CO" sz="1200" dirty="0">
                <a:latin typeface="Consolas" panose="020B0609020204030204" pitchFamily="49" charset="0"/>
              </a:rPr>
              <a:t>: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        </a:t>
            </a:r>
            <a:r>
              <a:rPr lang="es-CO" sz="1200" dirty="0" err="1">
                <a:latin typeface="Consolas" panose="020B0609020204030204" pitchFamily="49" charset="0"/>
              </a:rPr>
              <a:t>est_reprob</a:t>
            </a:r>
            <a:r>
              <a:rPr lang="es-CO" sz="1200" dirty="0">
                <a:latin typeface="Consolas" panose="020B0609020204030204" pitchFamily="49" charset="0"/>
              </a:rPr>
              <a:t> += 1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        </a:t>
            </a:r>
            <a:r>
              <a:rPr lang="es-CO" sz="1200" dirty="0" err="1">
                <a:latin typeface="Consolas" panose="020B0609020204030204" pitchFamily="49" charset="0"/>
              </a:rPr>
              <a:t>suma_reprob</a:t>
            </a:r>
            <a:r>
              <a:rPr lang="es-CO" sz="1200" dirty="0">
                <a:latin typeface="Consolas" panose="020B0609020204030204" pitchFamily="49" charset="0"/>
              </a:rPr>
              <a:t> += nota</a:t>
            </a:r>
          </a:p>
          <a:p>
            <a:endParaRPr lang="es-CO" sz="1200" dirty="0">
              <a:latin typeface="Consolas" panose="020B0609020204030204" pitchFamily="49" charset="0"/>
            </a:endParaRPr>
          </a:p>
          <a:p>
            <a:r>
              <a:rPr lang="es-CO" sz="1200" dirty="0" err="1">
                <a:latin typeface="Consolas" panose="020B0609020204030204" pitchFamily="49" charset="0"/>
              </a:rPr>
              <a:t>if</a:t>
            </a:r>
            <a:r>
              <a:rPr lang="es-CO" sz="1200" dirty="0">
                <a:latin typeface="Consolas" panose="020B0609020204030204" pitchFamily="49" charset="0"/>
              </a:rPr>
              <a:t> N &lt;= 0: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    print("No hay estudiantes")</a:t>
            </a:r>
          </a:p>
          <a:p>
            <a:r>
              <a:rPr lang="es-CO" sz="1200" dirty="0" err="1">
                <a:latin typeface="Consolas" panose="020B0609020204030204" pitchFamily="49" charset="0"/>
              </a:rPr>
              <a:t>else</a:t>
            </a:r>
            <a:r>
              <a:rPr lang="es-CO" sz="1200" dirty="0">
                <a:latin typeface="Consolas" panose="020B0609020204030204" pitchFamily="49" charset="0"/>
              </a:rPr>
              <a:t>: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    </a:t>
            </a:r>
            <a:r>
              <a:rPr lang="es-CO" sz="1200" dirty="0" err="1">
                <a:highlight>
                  <a:srgbClr val="FFFF00"/>
                </a:highlight>
                <a:latin typeface="Consolas" panose="020B0609020204030204" pitchFamily="49" charset="0"/>
              </a:rPr>
              <a:t>imprimir_reporte</a:t>
            </a:r>
            <a:r>
              <a:rPr lang="es-CO" sz="1200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s-CO" sz="1200" dirty="0" err="1">
                <a:highlight>
                  <a:srgbClr val="FFFF00"/>
                </a:highlight>
                <a:latin typeface="Consolas" panose="020B0609020204030204" pitchFamily="49" charset="0"/>
              </a:rPr>
              <a:t>est_aprob</a:t>
            </a:r>
            <a:r>
              <a:rPr lang="es-CO" sz="1200" dirty="0">
                <a:highlight>
                  <a:srgbClr val="FFFF00"/>
                </a:highlight>
                <a:latin typeface="Consolas" panose="020B0609020204030204" pitchFamily="49" charset="0"/>
              </a:rPr>
              <a:t>,  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                     </a:t>
            </a:r>
            <a:r>
              <a:rPr lang="es-CO" sz="1200" dirty="0" err="1">
                <a:highlight>
                  <a:srgbClr val="FFFF00"/>
                </a:highlight>
                <a:latin typeface="Consolas" panose="020B0609020204030204" pitchFamily="49" charset="0"/>
              </a:rPr>
              <a:t>est_reprob</a:t>
            </a:r>
            <a:r>
              <a:rPr lang="es-CO" sz="1200" dirty="0">
                <a:highlight>
                  <a:srgbClr val="FFFF00"/>
                </a:highlight>
                <a:latin typeface="Consolas" panose="020B0609020204030204" pitchFamily="49" charset="0"/>
              </a:rPr>
              <a:t>,</a:t>
            </a:r>
            <a:r>
              <a:rPr lang="es-CO" sz="1200" dirty="0">
                <a:latin typeface="Consolas" panose="020B0609020204030204" pitchFamily="49" charset="0"/>
              </a:rPr>
              <a:t> 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                     </a:t>
            </a:r>
            <a:r>
              <a:rPr lang="es-CO" sz="1200" dirty="0" err="1">
                <a:highlight>
                  <a:srgbClr val="FFFF00"/>
                </a:highlight>
                <a:latin typeface="Consolas" panose="020B0609020204030204" pitchFamily="49" charset="0"/>
              </a:rPr>
              <a:t>suma_aprob</a:t>
            </a:r>
            <a:r>
              <a:rPr lang="es-CO" sz="1200" dirty="0">
                <a:highlight>
                  <a:srgbClr val="FFFF00"/>
                </a:highlight>
                <a:latin typeface="Consolas" panose="020B0609020204030204" pitchFamily="49" charset="0"/>
              </a:rPr>
              <a:t>,</a:t>
            </a:r>
            <a:r>
              <a:rPr lang="es-CO" sz="1200" dirty="0">
                <a:latin typeface="Consolas" panose="020B0609020204030204" pitchFamily="49" charset="0"/>
              </a:rPr>
              <a:t> 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                     </a:t>
            </a:r>
            <a:r>
              <a:rPr lang="es-CO" sz="1200" dirty="0" err="1">
                <a:highlight>
                  <a:srgbClr val="FFFF00"/>
                </a:highlight>
                <a:latin typeface="Consolas" panose="020B0609020204030204" pitchFamily="49" charset="0"/>
              </a:rPr>
              <a:t>suma_reprob</a:t>
            </a:r>
            <a:r>
              <a:rPr lang="es-CO" sz="1200" dirty="0"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D04EC006-7B26-4ECF-B9C8-5119D8804E35}"/>
              </a:ext>
            </a:extLst>
          </p:cNvPr>
          <p:cNvSpPr txBox="1"/>
          <p:nvPr/>
        </p:nvSpPr>
        <p:spPr>
          <a:xfrm>
            <a:off x="107504" y="754832"/>
            <a:ext cx="2896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000" b="1" dirty="0"/>
              <a:t>Codigo completo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C2AADDA1-73B3-4510-AEF1-D76E556AB09E}"/>
              </a:ext>
            </a:extLst>
          </p:cNvPr>
          <p:cNvSpPr txBox="1"/>
          <p:nvPr/>
        </p:nvSpPr>
        <p:spPr>
          <a:xfrm>
            <a:off x="179512" y="1124744"/>
            <a:ext cx="4120772" cy="563231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CO" sz="120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# Constante</a:t>
            </a:r>
            <a:r>
              <a:rPr lang="es-CO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NOTA_MINIMA = </a:t>
            </a:r>
            <a:r>
              <a:rPr lang="es-CO" sz="120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3.0</a:t>
            </a:r>
          </a:p>
          <a:p>
            <a:endParaRPr lang="it-IT" sz="1200" dirty="0">
              <a:latin typeface="Consolas" panose="020B0609020204030204" pitchFamily="49" charset="0"/>
            </a:endParaRPr>
          </a:p>
          <a:p>
            <a:r>
              <a:rPr lang="es-CO" sz="120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#  ------------- </a:t>
            </a:r>
            <a:r>
              <a:rPr lang="es-MX" sz="120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Funciones </a:t>
            </a:r>
            <a:r>
              <a:rPr lang="es-CO" sz="120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-------------</a:t>
            </a:r>
            <a:endParaRPr lang="it-IT" sz="12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r>
              <a:rPr lang="it-IT" sz="1200" dirty="0">
                <a:latin typeface="Consolas" panose="020B0609020204030204" pitchFamily="49" charset="0"/>
              </a:rPr>
              <a:t>def es_nota_aprobatoria(nota, nota_minima):      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aprob = nota &gt;= nota_minima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</a:t>
            </a:r>
            <a:r>
              <a:rPr lang="it-IT" sz="1200" dirty="0">
                <a:solidFill>
                  <a:schemeClr val="accent4"/>
                </a:solidFill>
                <a:latin typeface="Consolas" panose="020B0609020204030204" pitchFamily="49" charset="0"/>
              </a:rPr>
              <a:t>return</a:t>
            </a:r>
            <a:r>
              <a:rPr lang="it-IT" sz="1200" dirty="0">
                <a:latin typeface="Consolas" panose="020B0609020204030204" pitchFamily="49" charset="0"/>
              </a:rPr>
              <a:t> aprob</a:t>
            </a:r>
            <a:endParaRPr lang="es-CO" sz="1200" dirty="0">
              <a:latin typeface="Consolas" panose="020B0609020204030204" pitchFamily="49" charset="0"/>
            </a:endParaRPr>
          </a:p>
          <a:p>
            <a:endParaRPr lang="it-IT" sz="1200" dirty="0">
              <a:latin typeface="Consolas" panose="020B0609020204030204" pitchFamily="49" charset="0"/>
            </a:endParaRPr>
          </a:p>
          <a:p>
            <a:r>
              <a:rPr lang="it-IT" sz="1200" dirty="0">
                <a:latin typeface="Consolas" panose="020B0609020204030204" pitchFamily="49" charset="0"/>
              </a:rPr>
              <a:t>def calcular_promedio(suma, cantidad):   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if cantidad == 0:        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  prom = 0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else: 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  prom = suma/cantidad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</a:t>
            </a:r>
            <a:r>
              <a:rPr lang="it-IT" sz="1200" dirty="0">
                <a:solidFill>
                  <a:schemeClr val="accent4"/>
                </a:solidFill>
                <a:latin typeface="Consolas" panose="020B0609020204030204" pitchFamily="49" charset="0"/>
              </a:rPr>
              <a:t>return</a:t>
            </a:r>
            <a:r>
              <a:rPr lang="it-IT" sz="1200" dirty="0">
                <a:latin typeface="Consolas" panose="020B0609020204030204" pitchFamily="49" charset="0"/>
              </a:rPr>
              <a:t> prom</a:t>
            </a:r>
            <a:endParaRPr lang="es-CO" sz="1200" dirty="0">
              <a:latin typeface="Consolas" panose="020B0609020204030204" pitchFamily="49" charset="0"/>
            </a:endParaRPr>
          </a:p>
          <a:p>
            <a:endParaRPr lang="it-IT" sz="1200" dirty="0">
              <a:latin typeface="Consolas" panose="020B0609020204030204" pitchFamily="49" charset="0"/>
            </a:endParaRPr>
          </a:p>
          <a:p>
            <a:r>
              <a:rPr lang="it-IT" sz="1200" dirty="0">
                <a:latin typeface="Consolas" panose="020B0609020204030204" pitchFamily="49" charset="0"/>
              </a:rPr>
              <a:t>def imprimir_reporte(est_aprob, est_reprob,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                   suma_aprob, suma_reprob): 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total = est_aprob + est_reprob     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print(f"Ganaron: {est_aprob}")        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print(f"Perdieron: {est_reprob}")    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prom_abrob = </a:t>
            </a:r>
            <a:r>
              <a:rPr lang="it-IT" sz="1200" dirty="0">
                <a:highlight>
                  <a:srgbClr val="FFFF00"/>
                </a:highlight>
                <a:latin typeface="Consolas" panose="020B0609020204030204" pitchFamily="49" charset="0"/>
              </a:rPr>
              <a:t>calcular_promedio(suma_aprob, 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                               </a:t>
            </a:r>
            <a:r>
              <a:rPr lang="it-IT" sz="1200" dirty="0">
                <a:highlight>
                  <a:srgbClr val="FFFF00"/>
                </a:highlight>
                <a:latin typeface="Consolas" panose="020B0609020204030204" pitchFamily="49" charset="0"/>
              </a:rPr>
              <a:t>est_aprob)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prom_reprob = </a:t>
            </a:r>
            <a:r>
              <a:rPr lang="it-IT" sz="1200" dirty="0">
                <a:highlight>
                  <a:srgbClr val="FFFF00"/>
                </a:highlight>
                <a:latin typeface="Consolas" panose="020B0609020204030204" pitchFamily="49" charset="0"/>
              </a:rPr>
              <a:t>calcular_promedio(suma_reprob,</a:t>
            </a:r>
            <a:r>
              <a:rPr lang="it-IT" sz="1200" dirty="0">
                <a:latin typeface="Consolas" panose="020B0609020204030204" pitchFamily="49" charset="0"/>
              </a:rPr>
              <a:t> 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                                </a:t>
            </a:r>
            <a:r>
              <a:rPr lang="it-IT" sz="1200" dirty="0">
                <a:highlight>
                  <a:srgbClr val="FFFF00"/>
                </a:highlight>
                <a:latin typeface="Consolas" panose="020B0609020204030204" pitchFamily="49" charset="0"/>
              </a:rPr>
              <a:t>est_reprob)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prom_curso = </a:t>
            </a:r>
            <a:r>
              <a:rPr lang="it-IT" sz="1200" dirty="0">
                <a:highlight>
                  <a:srgbClr val="FFFF00"/>
                </a:highlight>
                <a:latin typeface="Consolas" panose="020B0609020204030204" pitchFamily="49" charset="0"/>
              </a:rPr>
              <a:t>calcular_promedio(suma_aprob +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                               </a:t>
            </a:r>
            <a:r>
              <a:rPr lang="it-IT" sz="1200" dirty="0">
                <a:highlight>
                  <a:srgbClr val="FFFF00"/>
                </a:highlight>
                <a:latin typeface="Consolas" panose="020B0609020204030204" pitchFamily="49" charset="0"/>
              </a:rPr>
              <a:t>suma_reprob,</a:t>
            </a:r>
            <a:r>
              <a:rPr lang="it-IT" sz="1200" dirty="0">
                <a:latin typeface="Consolas" panose="020B0609020204030204" pitchFamily="49" charset="0"/>
              </a:rPr>
              <a:t> 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                               </a:t>
            </a:r>
            <a:r>
              <a:rPr lang="it-IT" sz="1200" dirty="0">
                <a:highlight>
                  <a:srgbClr val="FFFF00"/>
                </a:highlight>
                <a:latin typeface="Consolas" panose="020B0609020204030204" pitchFamily="49" charset="0"/>
              </a:rPr>
              <a:t>total)</a:t>
            </a:r>
            <a:r>
              <a:rPr lang="it-IT" sz="1200" dirty="0">
                <a:latin typeface="Consolas" panose="020B0609020204030204" pitchFamily="49" charset="0"/>
              </a:rPr>
              <a:t> 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print(f"Prom aprob: {prom_aprob:.2f}") 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print(f"Prom reprob: {prom_reprob:.2f}") 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print(f"Prom nota: {prom_curso:.2f}")</a:t>
            </a:r>
            <a:endParaRPr lang="es-CO" sz="12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564189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107504" y="23817"/>
            <a:ext cx="7886700" cy="812895"/>
          </a:xfrm>
        </p:spPr>
        <p:txBody>
          <a:bodyPr>
            <a:normAutofit/>
          </a:bodyPr>
          <a:lstStyle/>
          <a:p>
            <a:r>
              <a:rPr lang="en-US" sz="4000" dirty="0"/>
              <a:t>Referencias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51520" y="1088740"/>
            <a:ext cx="8424936" cy="5148572"/>
          </a:xfrm>
        </p:spPr>
        <p:txBody>
          <a:bodyPr>
            <a:normAutofit fontScale="92500" lnSpcReduction="10000"/>
          </a:bodyPr>
          <a:lstStyle/>
          <a:p>
            <a:pPr marL="457200" indent="-457200">
              <a:buFont typeface="+mj-lt"/>
              <a:buAutoNum type="arabicPeriod"/>
            </a:pPr>
            <a:r>
              <a:rPr lang="es-CO" sz="2000" dirty="0">
                <a:hlinkClick r:id="rId2"/>
              </a:rPr>
              <a:t>https://ellibrodepython.com/</a:t>
            </a:r>
            <a:endParaRPr lang="es-CO" sz="2000" dirty="0"/>
          </a:p>
          <a:p>
            <a:pPr marL="457200" indent="-457200">
              <a:buFont typeface="+mj-lt"/>
              <a:buAutoNum type="arabicPeriod"/>
            </a:pPr>
            <a:r>
              <a:rPr lang="es-CO" sz="2000" dirty="0">
                <a:hlinkClick r:id="rId3"/>
              </a:rPr>
              <a:t>https://www.w3resource.com/index.php</a:t>
            </a:r>
            <a:endParaRPr lang="es-CO" sz="2000" dirty="0"/>
          </a:p>
          <a:p>
            <a:pPr marL="457200" indent="-457200">
              <a:buFont typeface="+mj-lt"/>
              <a:buAutoNum type="arabicPeriod"/>
            </a:pPr>
            <a:r>
              <a:rPr lang="es-CO" sz="2000" dirty="0">
                <a:hlinkClick r:id="rId4"/>
              </a:rPr>
              <a:t>https://realpython.com/</a:t>
            </a:r>
            <a:endParaRPr lang="es-CO" sz="2000" dirty="0"/>
          </a:p>
          <a:p>
            <a:pPr marL="457200" indent="-457200">
              <a:buFont typeface="+mj-lt"/>
              <a:buAutoNum type="arabicPeriod"/>
            </a:pPr>
            <a:r>
              <a:rPr lang="es-CO" sz="2000" dirty="0">
                <a:hlinkClick r:id="rId5"/>
              </a:rPr>
              <a:t>https://curriculumresources.edu.gh/wp-content/uploads/2025/01/</a:t>
            </a:r>
            <a:endParaRPr lang="es-CO" sz="2000" dirty="0"/>
          </a:p>
          <a:p>
            <a:pPr marL="457200" indent="-457200">
              <a:buFont typeface="+mj-lt"/>
              <a:buAutoNum type="arabicPeriod"/>
            </a:pPr>
            <a:r>
              <a:rPr lang="es-CO" sz="2000" dirty="0">
                <a:hlinkClick r:id="rId6"/>
              </a:rPr>
              <a:t>https://python-course.eu/</a:t>
            </a:r>
            <a:endParaRPr lang="es-CO" sz="2000" dirty="0"/>
          </a:p>
          <a:p>
            <a:pPr marL="457200" indent="-457200">
              <a:buFont typeface="+mj-lt"/>
              <a:buAutoNum type="arabicPeriod"/>
            </a:pPr>
            <a:r>
              <a:rPr lang="es-CO" sz="2000" dirty="0">
                <a:hlinkClick r:id="rId7"/>
              </a:rPr>
              <a:t>https://realpython.com/cheatsheets/python/</a:t>
            </a:r>
            <a:endParaRPr lang="es-CO" sz="2000" dirty="0"/>
          </a:p>
          <a:p>
            <a:pPr marL="457200" indent="-457200">
              <a:buFont typeface="+mj-lt"/>
              <a:buAutoNum type="arabicPeriod"/>
            </a:pPr>
            <a:r>
              <a:rPr lang="es-CO" sz="2000" dirty="0">
                <a:hlinkClick r:id="rId8"/>
              </a:rPr>
              <a:t>https://realpython.com/defining-your-own-python-function/</a:t>
            </a:r>
            <a:r>
              <a:rPr lang="es-CO" sz="2000" dirty="0"/>
              <a:t>    </a:t>
            </a:r>
          </a:p>
          <a:p>
            <a:pPr marL="457200" indent="-457200">
              <a:buFont typeface="+mj-lt"/>
              <a:buAutoNum type="arabicPeriod"/>
            </a:pPr>
            <a:r>
              <a:rPr lang="es-CO" sz="2000" dirty="0">
                <a:hlinkClick r:id="rId9"/>
              </a:rPr>
              <a:t>https://realpython.com/python-built-in-functions/</a:t>
            </a:r>
            <a:endParaRPr lang="es-CO" sz="2000" dirty="0"/>
          </a:p>
          <a:p>
            <a:pPr marL="457200" indent="-457200">
              <a:buFont typeface="+mj-lt"/>
              <a:buAutoNum type="arabicPeriod"/>
            </a:pPr>
            <a:r>
              <a:rPr lang="es-CO" sz="2000" dirty="0">
                <a:hlinkClick r:id="rId10"/>
              </a:rPr>
              <a:t>https://realpython.com/ref/best-practices/functions/</a:t>
            </a:r>
            <a:r>
              <a:rPr lang="es-CO" sz="2000" dirty="0"/>
              <a:t> </a:t>
            </a:r>
          </a:p>
          <a:p>
            <a:pPr marL="457200" indent="-457200">
              <a:buFont typeface="+mj-lt"/>
              <a:buAutoNum type="arabicPeriod"/>
            </a:pPr>
            <a:r>
              <a:rPr lang="es-CO" sz="2000" dirty="0">
                <a:hlinkClick r:id="rId11"/>
              </a:rPr>
              <a:t>https://makecode.microbit.org/courses/csintro</a:t>
            </a:r>
            <a:r>
              <a:rPr lang="es-CO" sz="2000" dirty="0"/>
              <a:t>  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>
                <a:hlinkClick r:id="rId12"/>
              </a:rPr>
              <a:t>https://makecode.microbit.org/courses</a:t>
            </a:r>
            <a:r>
              <a:rPr lang="en-US" sz="2000" dirty="0"/>
              <a:t>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>
                <a:hlinkClick r:id="rId13"/>
              </a:rPr>
              <a:t>https://realpython.com/python-while-loop/</a:t>
            </a:r>
            <a:endParaRPr lang="en-US" sz="2000" dirty="0"/>
          </a:p>
          <a:p>
            <a:pPr marL="457200" indent="-457200">
              <a:buFont typeface="+mj-lt"/>
              <a:buAutoNum type="arabicPeriod"/>
            </a:pPr>
            <a:r>
              <a:rPr lang="en-US" sz="2000" dirty="0">
                <a:hlinkClick r:id="rId14"/>
              </a:rPr>
              <a:t>https://realpython.com/ref/keywords/while/</a:t>
            </a:r>
            <a:r>
              <a:rPr lang="en-US" sz="2000" dirty="0"/>
              <a:t>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>
                <a:hlinkClick r:id="rId15"/>
              </a:rPr>
              <a:t>https://cs.stanford.edu/people/nick/py/</a:t>
            </a:r>
            <a:r>
              <a:rPr lang="en-US" sz="2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2316485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3528" y="180617"/>
            <a:ext cx="8191822" cy="728103"/>
          </a:xfrm>
        </p:spPr>
        <p:txBody>
          <a:bodyPr/>
          <a:lstStyle/>
          <a:p>
            <a:r>
              <a:rPr lang="es-CO" dirty="0"/>
              <a:t>Eso es todo amigos</a:t>
            </a:r>
            <a:endParaRPr lang="en-US" dirty="0"/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7F35EEF4-F126-467F-A5BB-259AA64991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11960" y="912200"/>
            <a:ext cx="4113633" cy="58688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7 Rectángulo">
            <a:extLst>
              <a:ext uri="{FF2B5EF4-FFF2-40B4-BE49-F238E27FC236}">
                <a16:creationId xmlns:a16="http://schemas.microsoft.com/office/drawing/2014/main" id="{27C7AA4C-274E-4F17-B614-41C209AA98D3}"/>
              </a:ext>
            </a:extLst>
          </p:cNvPr>
          <p:cNvSpPr/>
          <p:nvPr/>
        </p:nvSpPr>
        <p:spPr>
          <a:xfrm>
            <a:off x="101021" y="6519446"/>
            <a:ext cx="3678892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CO" sz="1100" dirty="0">
                <a:hlinkClick r:id="rId3"/>
              </a:rPr>
              <a:t>https://phdcomics.com/comics/archive.php?comicid=1431</a:t>
            </a:r>
            <a:r>
              <a:rPr lang="es-CO" sz="1100" dirty="0"/>
              <a:t> </a:t>
            </a:r>
          </a:p>
        </p:txBody>
      </p:sp>
      <p:pic>
        <p:nvPicPr>
          <p:cNvPr id="2050" name="Picture 2" descr="Ouch Images – Browse 81,244 Stock Photos, Vectors, and Video | Adobe Stock">
            <a:extLst>
              <a:ext uri="{FF2B5EF4-FFF2-40B4-BE49-F238E27FC236}">
                <a16:creationId xmlns:a16="http://schemas.microsoft.com/office/drawing/2014/main" id="{190AEE93-FCB4-45D0-A740-34697C5E77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451" y="2496793"/>
            <a:ext cx="3563955" cy="24345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249627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13663</TotalTime>
  <Words>4063</Words>
  <Application>Microsoft Office PowerPoint</Application>
  <PresentationFormat>Presentación en pantalla (4:3)</PresentationFormat>
  <Paragraphs>643</Paragraphs>
  <Slides>40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40</vt:i4>
      </vt:variant>
    </vt:vector>
  </HeadingPairs>
  <TitlesOfParts>
    <vt:vector size="47" baseType="lpstr">
      <vt:lpstr>Arial</vt:lpstr>
      <vt:lpstr>Calibri</vt:lpstr>
      <vt:lpstr>Calibri Light</vt:lpstr>
      <vt:lpstr>Century Gothic</vt:lpstr>
      <vt:lpstr>Consolas</vt:lpstr>
      <vt:lpstr>Wingdings</vt:lpstr>
      <vt:lpstr>Office Theme</vt:lpstr>
      <vt:lpstr>Lógica y Representación 1</vt:lpstr>
      <vt:lpstr>Método de Polya - Resumen</vt:lpstr>
      <vt:lpstr>Entrada, procesamiento y salida</vt:lpstr>
      <vt:lpstr>Tabla resumen</vt:lpstr>
      <vt:lpstr>Tabla resumen</vt:lpstr>
      <vt:lpstr>Casos en los problemas de decisión lógica</vt:lpstr>
      <vt:lpstr>Alternativa simple</vt:lpstr>
      <vt:lpstr>Alternativa doble</vt:lpstr>
      <vt:lpstr>Alternativa múltiple – Mismo criterio</vt:lpstr>
      <vt:lpstr>Alternativa múltiple – Mismo criterio</vt:lpstr>
      <vt:lpstr>Alternativa múltiple – Diferente criterio</vt:lpstr>
      <vt:lpstr>Alternativa múltiple – Diferente criterio</vt:lpstr>
      <vt:lpstr>Ciclo mientras</vt:lpstr>
      <vt:lpstr>Ciclo Para</vt:lpstr>
      <vt:lpstr>Tipos de variables útiles en los ciclos</vt:lpstr>
      <vt:lpstr>Recapitulando lo visto</vt:lpstr>
      <vt:lpstr>Introducción a las funciones</vt:lpstr>
      <vt:lpstr>Módulos, subrutinas, procedimientos, funciones o métodos</vt:lpstr>
      <vt:lpstr>Ventajas de la modularización</vt:lpstr>
      <vt:lpstr>Abstracción</vt:lpstr>
      <vt:lpstr>Trabajo simultaneo</vt:lpstr>
      <vt:lpstr>Reutilización y confiabilidad</vt:lpstr>
      <vt:lpstr>Facilitando la identificación de estructuras</vt:lpstr>
      <vt:lpstr>Modularizando un programa</vt:lpstr>
      <vt:lpstr>Nombrando módulos</vt:lpstr>
      <vt:lpstr>Función llamadora y función llamada</vt:lpstr>
      <vt:lpstr>Cohesión funcional: una función, una tarea</vt:lpstr>
      <vt:lpstr>Comparación</vt:lpstr>
      <vt:lpstr>Análisis – Ejemplo calificaciones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Referencias</vt:lpstr>
      <vt:lpstr>Eso es todo amigos</vt:lpstr>
    </vt:vector>
  </TitlesOfParts>
  <Company>Universidad de Antioquia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del curso</dc:title>
  <dc:creator>Apoyo Administrativo Ingeniería</dc:creator>
  <cp:lastModifiedBy>HENRY ALBERTO ARCILA RAMIREZ</cp:lastModifiedBy>
  <cp:revision>257</cp:revision>
  <dcterms:created xsi:type="dcterms:W3CDTF">2015-03-12T20:27:20Z</dcterms:created>
  <dcterms:modified xsi:type="dcterms:W3CDTF">2026-09-28T17:57:20Z</dcterms:modified>
</cp:coreProperties>
</file>