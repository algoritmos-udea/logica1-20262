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9" r:id="rId1"/>
  </p:sldMasterIdLst>
  <p:notesMasterIdLst>
    <p:notesMasterId r:id="rId56"/>
  </p:notesMasterIdLst>
  <p:sldIdLst>
    <p:sldId id="281" r:id="rId2"/>
    <p:sldId id="309" r:id="rId3"/>
    <p:sldId id="404" r:id="rId4"/>
    <p:sldId id="368" r:id="rId5"/>
    <p:sldId id="405" r:id="rId6"/>
    <p:sldId id="306" r:id="rId7"/>
    <p:sldId id="396" r:id="rId8"/>
    <p:sldId id="408" r:id="rId9"/>
    <p:sldId id="409" r:id="rId10"/>
    <p:sldId id="407" r:id="rId11"/>
    <p:sldId id="406" r:id="rId12"/>
    <p:sldId id="380" r:id="rId13"/>
    <p:sldId id="384" r:id="rId14"/>
    <p:sldId id="382" r:id="rId15"/>
    <p:sldId id="410" r:id="rId16"/>
    <p:sldId id="381" r:id="rId17"/>
    <p:sldId id="387" r:id="rId18"/>
    <p:sldId id="383" r:id="rId19"/>
    <p:sldId id="342" r:id="rId20"/>
    <p:sldId id="341" r:id="rId21"/>
    <p:sldId id="425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412" r:id="rId30"/>
    <p:sldId id="413" r:id="rId31"/>
    <p:sldId id="414" r:id="rId32"/>
    <p:sldId id="357" r:id="rId33"/>
    <p:sldId id="356" r:id="rId34"/>
    <p:sldId id="354" r:id="rId35"/>
    <p:sldId id="391" r:id="rId36"/>
    <p:sldId id="358" r:id="rId37"/>
    <p:sldId id="351" r:id="rId38"/>
    <p:sldId id="416" r:id="rId39"/>
    <p:sldId id="417" r:id="rId40"/>
    <p:sldId id="359" r:id="rId41"/>
    <p:sldId id="418" r:id="rId42"/>
    <p:sldId id="361" r:id="rId43"/>
    <p:sldId id="419" r:id="rId44"/>
    <p:sldId id="420" r:id="rId45"/>
    <p:sldId id="421" r:id="rId46"/>
    <p:sldId id="362" r:id="rId47"/>
    <p:sldId id="363" r:id="rId48"/>
    <p:sldId id="426" r:id="rId49"/>
    <p:sldId id="364" r:id="rId50"/>
    <p:sldId id="422" r:id="rId51"/>
    <p:sldId id="395" r:id="rId52"/>
    <p:sldId id="423" r:id="rId53"/>
    <p:sldId id="310" r:id="rId54"/>
    <p:sldId id="277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9" autoAdjust="0"/>
    <p:restoredTop sz="94684" autoAdjust="0"/>
  </p:normalViewPr>
  <p:slideViewPr>
    <p:cSldViewPr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4617D2-EBA5-43D3-A846-ABD7019008A4}" type="doc">
      <dgm:prSet loTypeId="urn:microsoft.com/office/officeart/2005/8/layout/chevron2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s-CO"/>
        </a:p>
      </dgm:t>
    </dgm:pt>
    <dgm:pt modelId="{0F6E169A-367E-48F6-8A0F-9538EF72E803}">
      <dgm:prSet phldrT="[Texto]" custT="1"/>
      <dgm:spPr/>
      <dgm:t>
        <a:bodyPr/>
        <a:lstStyle/>
        <a:p>
          <a:r>
            <a:rPr lang="es-CO" sz="1600" dirty="0">
              <a:latin typeface="Century Gothic" panose="020B0502020202020204" pitchFamily="34" charset="0"/>
            </a:rPr>
            <a:t>1</a:t>
          </a:r>
          <a:endParaRPr lang="es-CO" sz="1200" dirty="0">
            <a:latin typeface="Century Gothic" panose="020B0502020202020204" pitchFamily="34" charset="0"/>
          </a:endParaRPr>
        </a:p>
      </dgm:t>
    </dgm:pt>
    <dgm:pt modelId="{214810CF-0E9F-420E-9F44-94CA29248781}" type="parTrans" cxnId="{1D7BCF56-E33F-4A42-8129-E524DE8CA73C}">
      <dgm:prSet/>
      <dgm:spPr/>
      <dgm:t>
        <a:bodyPr/>
        <a:lstStyle/>
        <a:p>
          <a:endParaRPr lang="es-CO" sz="1600"/>
        </a:p>
      </dgm:t>
    </dgm:pt>
    <dgm:pt modelId="{9E3845BF-94AB-444E-AB21-A0DA1B4B1270}" type="sibTrans" cxnId="{1D7BCF56-E33F-4A42-8129-E524DE8CA73C}">
      <dgm:prSet/>
      <dgm:spPr/>
      <dgm:t>
        <a:bodyPr/>
        <a:lstStyle/>
        <a:p>
          <a:endParaRPr lang="es-CO" sz="1600"/>
        </a:p>
      </dgm:t>
    </dgm:pt>
    <dgm:pt modelId="{676AA4D5-22F4-47B3-B0E8-95C3D9C99480}">
      <dgm:prSet phldrT="[Texto]" custT="1"/>
      <dgm:spPr/>
      <dgm:t>
        <a:bodyPr/>
        <a:lstStyle/>
        <a:p>
          <a:pPr>
            <a:buNone/>
          </a:pPr>
          <a:r>
            <a:rPr lang="es-CO" sz="2000" dirty="0">
              <a:latin typeface="Century Gothic" panose="020B0502020202020204" pitchFamily="34" charset="0"/>
            </a:rPr>
            <a:t>Entender el problema</a:t>
          </a:r>
        </a:p>
      </dgm:t>
    </dgm:pt>
    <dgm:pt modelId="{65AE6963-95E3-417E-9DBC-C327427667A9}" type="parTrans" cxnId="{E402CAF0-5AAA-416F-BAF4-3854EF253EE5}">
      <dgm:prSet/>
      <dgm:spPr/>
      <dgm:t>
        <a:bodyPr/>
        <a:lstStyle/>
        <a:p>
          <a:endParaRPr lang="es-CO" sz="1600"/>
        </a:p>
      </dgm:t>
    </dgm:pt>
    <dgm:pt modelId="{BBDCCB86-71C3-422E-959C-8FA92A9124DF}" type="sibTrans" cxnId="{E402CAF0-5AAA-416F-BAF4-3854EF253EE5}">
      <dgm:prSet/>
      <dgm:spPr/>
      <dgm:t>
        <a:bodyPr/>
        <a:lstStyle/>
        <a:p>
          <a:endParaRPr lang="es-CO" sz="1600"/>
        </a:p>
      </dgm:t>
    </dgm:pt>
    <dgm:pt modelId="{9C3C57BE-AD01-47F6-9592-98EF2608A6EF}">
      <dgm:prSet phldrT="[Texto]" custT="1"/>
      <dgm:spPr/>
      <dgm:t>
        <a:bodyPr/>
        <a:lstStyle/>
        <a:p>
          <a:r>
            <a:rPr lang="es-CO" sz="1800" dirty="0">
              <a:latin typeface="Century Gothic" panose="020B0502020202020204" pitchFamily="34" charset="0"/>
            </a:rPr>
            <a:t>2</a:t>
          </a:r>
          <a:endParaRPr lang="es-CO" sz="2400" dirty="0">
            <a:latin typeface="Century Gothic" panose="020B0502020202020204" pitchFamily="34" charset="0"/>
          </a:endParaRPr>
        </a:p>
      </dgm:t>
    </dgm:pt>
    <dgm:pt modelId="{33D25418-EA10-4491-90C6-5683712BE055}" type="parTrans" cxnId="{FBB864E0-2027-4A45-B5D7-110F765EFD96}">
      <dgm:prSet/>
      <dgm:spPr/>
      <dgm:t>
        <a:bodyPr/>
        <a:lstStyle/>
        <a:p>
          <a:endParaRPr lang="es-CO" sz="1600"/>
        </a:p>
      </dgm:t>
    </dgm:pt>
    <dgm:pt modelId="{0019765E-5748-4647-85C8-6E8054C68086}" type="sibTrans" cxnId="{FBB864E0-2027-4A45-B5D7-110F765EFD96}">
      <dgm:prSet/>
      <dgm:spPr/>
      <dgm:t>
        <a:bodyPr/>
        <a:lstStyle/>
        <a:p>
          <a:endParaRPr lang="es-CO" sz="1600"/>
        </a:p>
      </dgm:t>
    </dgm:pt>
    <dgm:pt modelId="{C59A2A35-6BBC-4F81-BD74-40520AACD6AB}">
      <dgm:prSet phldrT="[Texto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Diseñar un plan</a:t>
          </a:r>
        </a:p>
      </dgm:t>
    </dgm:pt>
    <dgm:pt modelId="{EDE363E4-7EA3-41D2-8DB9-A0871D9DA325}" type="parTrans" cxnId="{3B1F784D-95DD-4194-A52D-9A5B55BC5BD7}">
      <dgm:prSet/>
      <dgm:spPr/>
      <dgm:t>
        <a:bodyPr/>
        <a:lstStyle/>
        <a:p>
          <a:endParaRPr lang="es-CO" sz="1600"/>
        </a:p>
      </dgm:t>
    </dgm:pt>
    <dgm:pt modelId="{C31DDF04-103F-4600-9F78-0BDCC0BF907B}" type="sibTrans" cxnId="{3B1F784D-95DD-4194-A52D-9A5B55BC5BD7}">
      <dgm:prSet/>
      <dgm:spPr/>
      <dgm:t>
        <a:bodyPr/>
        <a:lstStyle/>
        <a:p>
          <a:endParaRPr lang="es-CO" sz="1600"/>
        </a:p>
      </dgm:t>
    </dgm:pt>
    <dgm:pt modelId="{9AB424BA-7E8B-4D0B-8A3C-3748A54646B8}">
      <dgm:prSet phldrT="[Texto]" custT="1"/>
      <dgm:spPr/>
      <dgm:t>
        <a:bodyPr/>
        <a:lstStyle/>
        <a:p>
          <a:r>
            <a:rPr lang="es-CO" sz="2000" dirty="0">
              <a:latin typeface="Century Gothic" panose="020B0502020202020204" pitchFamily="34" charset="0"/>
            </a:rPr>
            <a:t>3</a:t>
          </a:r>
        </a:p>
      </dgm:t>
    </dgm:pt>
    <dgm:pt modelId="{E543BFA9-86DB-499C-8E83-B32D00A97FD8}" type="parTrans" cxnId="{9DB9632F-E2AC-48EE-840F-D6A88C411EEA}">
      <dgm:prSet/>
      <dgm:spPr/>
      <dgm:t>
        <a:bodyPr/>
        <a:lstStyle/>
        <a:p>
          <a:endParaRPr lang="es-CO" sz="1600"/>
        </a:p>
      </dgm:t>
    </dgm:pt>
    <dgm:pt modelId="{DDCD6E76-3560-4CAA-96A8-94ACFF130E9B}" type="sibTrans" cxnId="{9DB9632F-E2AC-48EE-840F-D6A88C411EEA}">
      <dgm:prSet/>
      <dgm:spPr/>
      <dgm:t>
        <a:bodyPr/>
        <a:lstStyle/>
        <a:p>
          <a:endParaRPr lang="es-CO" sz="1600"/>
        </a:p>
      </dgm:t>
    </dgm:pt>
    <dgm:pt modelId="{BEC04423-D6B7-4792-AEB9-C3D7F81A98AC}">
      <dgm:prSet phldrT="[Texto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Implementar el plan</a:t>
          </a:r>
        </a:p>
      </dgm:t>
    </dgm:pt>
    <dgm:pt modelId="{F135D138-85FF-4087-B751-5F159F842289}" type="parTrans" cxnId="{5B0A26F8-5ACB-43D3-A171-6C62CAD4E7BE}">
      <dgm:prSet/>
      <dgm:spPr/>
      <dgm:t>
        <a:bodyPr/>
        <a:lstStyle/>
        <a:p>
          <a:endParaRPr lang="es-CO" sz="1600"/>
        </a:p>
      </dgm:t>
    </dgm:pt>
    <dgm:pt modelId="{AB02689B-5109-4C4C-A9DD-EF332B395FC7}" type="sibTrans" cxnId="{5B0A26F8-5ACB-43D3-A171-6C62CAD4E7BE}">
      <dgm:prSet/>
      <dgm:spPr/>
      <dgm:t>
        <a:bodyPr/>
        <a:lstStyle/>
        <a:p>
          <a:endParaRPr lang="es-CO" sz="1600"/>
        </a:p>
      </dgm:t>
    </dgm:pt>
    <dgm:pt modelId="{6F3FB39C-3E1D-4D2D-849B-EA0299C466C8}">
      <dgm:prSet phldrT="[Texto]" custT="1"/>
      <dgm:spPr/>
      <dgm:t>
        <a:bodyPr/>
        <a:lstStyle/>
        <a:p>
          <a:r>
            <a:rPr lang="es-CO" sz="2000" dirty="0">
              <a:latin typeface="Century Gothic" panose="020B0502020202020204" pitchFamily="34" charset="0"/>
            </a:rPr>
            <a:t>4</a:t>
          </a:r>
        </a:p>
      </dgm:t>
    </dgm:pt>
    <dgm:pt modelId="{F344B892-AD67-4863-B1DB-FFEAC6AE3C6A}" type="parTrans" cxnId="{F85ACEEE-F8C0-443C-BAAF-021763D37073}">
      <dgm:prSet/>
      <dgm:spPr/>
      <dgm:t>
        <a:bodyPr/>
        <a:lstStyle/>
        <a:p>
          <a:endParaRPr lang="es-CO" sz="1600"/>
        </a:p>
      </dgm:t>
    </dgm:pt>
    <dgm:pt modelId="{2E86F725-3FD8-4480-8AF6-6A89E142D77A}" type="sibTrans" cxnId="{F85ACEEE-F8C0-443C-BAAF-021763D37073}">
      <dgm:prSet/>
      <dgm:spPr/>
      <dgm:t>
        <a:bodyPr/>
        <a:lstStyle/>
        <a:p>
          <a:endParaRPr lang="es-CO" sz="1600"/>
        </a:p>
      </dgm:t>
    </dgm:pt>
    <dgm:pt modelId="{DCCFDBD5-3BD5-4368-8E74-2BE430318114}">
      <dgm:prSet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Revisar el plan</a:t>
          </a:r>
        </a:p>
      </dgm:t>
    </dgm:pt>
    <dgm:pt modelId="{E9C3A1B1-6767-4D4A-B32D-4EDACFE1C0F4}" type="parTrans" cxnId="{95C514DE-3460-4712-B0CD-D954FE76DB64}">
      <dgm:prSet/>
      <dgm:spPr/>
      <dgm:t>
        <a:bodyPr/>
        <a:lstStyle/>
        <a:p>
          <a:endParaRPr lang="es-CO" sz="1600"/>
        </a:p>
      </dgm:t>
    </dgm:pt>
    <dgm:pt modelId="{159A55EA-C5B7-4F9E-8222-A763BEB4D99B}" type="sibTrans" cxnId="{95C514DE-3460-4712-B0CD-D954FE76DB64}">
      <dgm:prSet/>
      <dgm:spPr/>
      <dgm:t>
        <a:bodyPr/>
        <a:lstStyle/>
        <a:p>
          <a:endParaRPr lang="es-CO" sz="1600"/>
        </a:p>
      </dgm:t>
    </dgm:pt>
    <dgm:pt modelId="{C30EB98C-BF8E-47B5-A59F-A3E708D5551C}" type="pres">
      <dgm:prSet presAssocID="{234617D2-EBA5-43D3-A846-ABD7019008A4}" presName="linearFlow" presStyleCnt="0">
        <dgm:presLayoutVars>
          <dgm:dir/>
          <dgm:animLvl val="lvl"/>
          <dgm:resizeHandles val="exact"/>
        </dgm:presLayoutVars>
      </dgm:prSet>
      <dgm:spPr/>
    </dgm:pt>
    <dgm:pt modelId="{B5976899-2FC4-4A3E-891A-B74C8C23C8B5}" type="pres">
      <dgm:prSet presAssocID="{0F6E169A-367E-48F6-8A0F-9538EF72E803}" presName="composite" presStyleCnt="0"/>
      <dgm:spPr/>
    </dgm:pt>
    <dgm:pt modelId="{416A876F-5FA3-42F9-A923-4E2C334EF9BC}" type="pres">
      <dgm:prSet presAssocID="{0F6E169A-367E-48F6-8A0F-9538EF72E803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344A86B1-48E8-448F-9C6D-71580BFB5F83}" type="pres">
      <dgm:prSet presAssocID="{0F6E169A-367E-48F6-8A0F-9538EF72E803}" presName="descendantText" presStyleLbl="alignAcc1" presStyleIdx="0" presStyleCnt="4">
        <dgm:presLayoutVars>
          <dgm:bulletEnabled val="1"/>
        </dgm:presLayoutVars>
      </dgm:prSet>
      <dgm:spPr/>
    </dgm:pt>
    <dgm:pt modelId="{19B3EDEB-1CF9-4423-9037-F0221A01EBBA}" type="pres">
      <dgm:prSet presAssocID="{9E3845BF-94AB-444E-AB21-A0DA1B4B1270}" presName="sp" presStyleCnt="0"/>
      <dgm:spPr/>
    </dgm:pt>
    <dgm:pt modelId="{5D167E8C-136F-440C-8D10-651E4D964A72}" type="pres">
      <dgm:prSet presAssocID="{9C3C57BE-AD01-47F6-9592-98EF2608A6EF}" presName="composite" presStyleCnt="0"/>
      <dgm:spPr/>
    </dgm:pt>
    <dgm:pt modelId="{A651636C-CE47-4575-AA1E-AB00D80E941D}" type="pres">
      <dgm:prSet presAssocID="{9C3C57BE-AD01-47F6-9592-98EF2608A6EF}" presName="parentText" presStyleLbl="alignNode1" presStyleIdx="1" presStyleCnt="4" custLinFactNeighborY="0">
        <dgm:presLayoutVars>
          <dgm:chMax val="1"/>
          <dgm:bulletEnabled val="1"/>
        </dgm:presLayoutVars>
      </dgm:prSet>
      <dgm:spPr/>
    </dgm:pt>
    <dgm:pt modelId="{79B0DE70-0A03-4A6F-B31F-EC81EB5DF7EA}" type="pres">
      <dgm:prSet presAssocID="{9C3C57BE-AD01-47F6-9592-98EF2608A6EF}" presName="descendantText" presStyleLbl="alignAcc1" presStyleIdx="1" presStyleCnt="4">
        <dgm:presLayoutVars>
          <dgm:bulletEnabled val="1"/>
        </dgm:presLayoutVars>
      </dgm:prSet>
      <dgm:spPr/>
    </dgm:pt>
    <dgm:pt modelId="{5C2D5B77-4FD3-4BFC-B7C7-B69CFA47B819}" type="pres">
      <dgm:prSet presAssocID="{0019765E-5748-4647-85C8-6E8054C68086}" presName="sp" presStyleCnt="0"/>
      <dgm:spPr/>
    </dgm:pt>
    <dgm:pt modelId="{FD9C2F86-B450-49A0-8639-065AE676C080}" type="pres">
      <dgm:prSet presAssocID="{9AB424BA-7E8B-4D0B-8A3C-3748A54646B8}" presName="composite" presStyleCnt="0"/>
      <dgm:spPr/>
    </dgm:pt>
    <dgm:pt modelId="{2AA7B02C-023E-4537-897E-B54A048C8983}" type="pres">
      <dgm:prSet presAssocID="{9AB424BA-7E8B-4D0B-8A3C-3748A54646B8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15D3D31F-A831-4E62-ADE9-6ACE81331CDC}" type="pres">
      <dgm:prSet presAssocID="{9AB424BA-7E8B-4D0B-8A3C-3748A54646B8}" presName="descendantText" presStyleLbl="alignAcc1" presStyleIdx="2" presStyleCnt="4">
        <dgm:presLayoutVars>
          <dgm:bulletEnabled val="1"/>
        </dgm:presLayoutVars>
      </dgm:prSet>
      <dgm:spPr/>
    </dgm:pt>
    <dgm:pt modelId="{365F76A6-EF4F-41D1-B81D-BC3D7851A081}" type="pres">
      <dgm:prSet presAssocID="{DDCD6E76-3560-4CAA-96A8-94ACFF130E9B}" presName="sp" presStyleCnt="0"/>
      <dgm:spPr/>
    </dgm:pt>
    <dgm:pt modelId="{4DB00594-09F9-4225-B772-B1D52DAEEAB6}" type="pres">
      <dgm:prSet presAssocID="{6F3FB39C-3E1D-4D2D-849B-EA0299C466C8}" presName="composite" presStyleCnt="0"/>
      <dgm:spPr/>
    </dgm:pt>
    <dgm:pt modelId="{58E45CBE-DE64-4E4E-8AAA-D376465B2BEE}" type="pres">
      <dgm:prSet presAssocID="{6F3FB39C-3E1D-4D2D-849B-EA0299C466C8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C37D6712-7A35-4663-80F7-1B8FC410AF19}" type="pres">
      <dgm:prSet presAssocID="{6F3FB39C-3E1D-4D2D-849B-EA0299C466C8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D25A530A-E341-4BA7-8999-21A374D537D3}" type="presOf" srcId="{BEC04423-D6B7-4792-AEB9-C3D7F81A98AC}" destId="{15D3D31F-A831-4E62-ADE9-6ACE81331CDC}" srcOrd="0" destOrd="0" presId="urn:microsoft.com/office/officeart/2005/8/layout/chevron2"/>
    <dgm:cxn modelId="{0F63B510-A033-48E8-A5FD-87C76FF5A9D6}" type="presOf" srcId="{0F6E169A-367E-48F6-8A0F-9538EF72E803}" destId="{416A876F-5FA3-42F9-A923-4E2C334EF9BC}" srcOrd="0" destOrd="0" presId="urn:microsoft.com/office/officeart/2005/8/layout/chevron2"/>
    <dgm:cxn modelId="{09EB6217-24CA-4B61-90D2-9CF7E646FA43}" type="presOf" srcId="{234617D2-EBA5-43D3-A846-ABD7019008A4}" destId="{C30EB98C-BF8E-47B5-A59F-A3E708D5551C}" srcOrd="0" destOrd="0" presId="urn:microsoft.com/office/officeart/2005/8/layout/chevron2"/>
    <dgm:cxn modelId="{9DB9632F-E2AC-48EE-840F-D6A88C411EEA}" srcId="{234617D2-EBA5-43D3-A846-ABD7019008A4}" destId="{9AB424BA-7E8B-4D0B-8A3C-3748A54646B8}" srcOrd="2" destOrd="0" parTransId="{E543BFA9-86DB-499C-8E83-B32D00A97FD8}" sibTransId="{DDCD6E76-3560-4CAA-96A8-94ACFF130E9B}"/>
    <dgm:cxn modelId="{5C56243F-7D54-4FD5-BD45-EEAB6E9334A6}" type="presOf" srcId="{676AA4D5-22F4-47B3-B0E8-95C3D9C99480}" destId="{344A86B1-48E8-448F-9C6D-71580BFB5F83}" srcOrd="0" destOrd="0" presId="urn:microsoft.com/office/officeart/2005/8/layout/chevron2"/>
    <dgm:cxn modelId="{3EF6886C-4FCF-4899-8F48-98F458A380A4}" type="presOf" srcId="{DCCFDBD5-3BD5-4368-8E74-2BE430318114}" destId="{C37D6712-7A35-4663-80F7-1B8FC410AF19}" srcOrd="0" destOrd="0" presId="urn:microsoft.com/office/officeart/2005/8/layout/chevron2"/>
    <dgm:cxn modelId="{3B1F784D-95DD-4194-A52D-9A5B55BC5BD7}" srcId="{9C3C57BE-AD01-47F6-9592-98EF2608A6EF}" destId="{C59A2A35-6BBC-4F81-BD74-40520AACD6AB}" srcOrd="0" destOrd="0" parTransId="{EDE363E4-7EA3-41D2-8DB9-A0871D9DA325}" sibTransId="{C31DDF04-103F-4600-9F78-0BDCC0BF907B}"/>
    <dgm:cxn modelId="{1D7BCF56-E33F-4A42-8129-E524DE8CA73C}" srcId="{234617D2-EBA5-43D3-A846-ABD7019008A4}" destId="{0F6E169A-367E-48F6-8A0F-9538EF72E803}" srcOrd="0" destOrd="0" parTransId="{214810CF-0E9F-420E-9F44-94CA29248781}" sibTransId="{9E3845BF-94AB-444E-AB21-A0DA1B4B1270}"/>
    <dgm:cxn modelId="{E8354084-D26E-4270-954C-74C7F6A06793}" type="presOf" srcId="{C59A2A35-6BBC-4F81-BD74-40520AACD6AB}" destId="{79B0DE70-0A03-4A6F-B31F-EC81EB5DF7EA}" srcOrd="0" destOrd="0" presId="urn:microsoft.com/office/officeart/2005/8/layout/chevron2"/>
    <dgm:cxn modelId="{BF2B6EA9-3F5A-49C1-AF7E-EC921192B9DE}" type="presOf" srcId="{9C3C57BE-AD01-47F6-9592-98EF2608A6EF}" destId="{A651636C-CE47-4575-AA1E-AB00D80E941D}" srcOrd="0" destOrd="0" presId="urn:microsoft.com/office/officeart/2005/8/layout/chevron2"/>
    <dgm:cxn modelId="{95C514DE-3460-4712-B0CD-D954FE76DB64}" srcId="{6F3FB39C-3E1D-4D2D-849B-EA0299C466C8}" destId="{DCCFDBD5-3BD5-4368-8E74-2BE430318114}" srcOrd="0" destOrd="0" parTransId="{E9C3A1B1-6767-4D4A-B32D-4EDACFE1C0F4}" sibTransId="{159A55EA-C5B7-4F9E-8222-A763BEB4D99B}"/>
    <dgm:cxn modelId="{FBB864E0-2027-4A45-B5D7-110F765EFD96}" srcId="{234617D2-EBA5-43D3-A846-ABD7019008A4}" destId="{9C3C57BE-AD01-47F6-9592-98EF2608A6EF}" srcOrd="1" destOrd="0" parTransId="{33D25418-EA10-4491-90C6-5683712BE055}" sibTransId="{0019765E-5748-4647-85C8-6E8054C68086}"/>
    <dgm:cxn modelId="{448B48EB-E488-4909-82B4-2E61877F00AE}" type="presOf" srcId="{6F3FB39C-3E1D-4D2D-849B-EA0299C466C8}" destId="{58E45CBE-DE64-4E4E-8AAA-D376465B2BEE}" srcOrd="0" destOrd="0" presId="urn:microsoft.com/office/officeart/2005/8/layout/chevron2"/>
    <dgm:cxn modelId="{E644B3EB-418D-4B1A-83D6-8DCC10BE06E8}" type="presOf" srcId="{9AB424BA-7E8B-4D0B-8A3C-3748A54646B8}" destId="{2AA7B02C-023E-4537-897E-B54A048C8983}" srcOrd="0" destOrd="0" presId="urn:microsoft.com/office/officeart/2005/8/layout/chevron2"/>
    <dgm:cxn modelId="{F85ACEEE-F8C0-443C-BAAF-021763D37073}" srcId="{234617D2-EBA5-43D3-A846-ABD7019008A4}" destId="{6F3FB39C-3E1D-4D2D-849B-EA0299C466C8}" srcOrd="3" destOrd="0" parTransId="{F344B892-AD67-4863-B1DB-FFEAC6AE3C6A}" sibTransId="{2E86F725-3FD8-4480-8AF6-6A89E142D77A}"/>
    <dgm:cxn modelId="{E402CAF0-5AAA-416F-BAF4-3854EF253EE5}" srcId="{0F6E169A-367E-48F6-8A0F-9538EF72E803}" destId="{676AA4D5-22F4-47B3-B0E8-95C3D9C99480}" srcOrd="0" destOrd="0" parTransId="{65AE6963-95E3-417E-9DBC-C327427667A9}" sibTransId="{BBDCCB86-71C3-422E-959C-8FA92A9124DF}"/>
    <dgm:cxn modelId="{5B0A26F8-5ACB-43D3-A171-6C62CAD4E7BE}" srcId="{9AB424BA-7E8B-4D0B-8A3C-3748A54646B8}" destId="{BEC04423-D6B7-4792-AEB9-C3D7F81A98AC}" srcOrd="0" destOrd="0" parTransId="{F135D138-85FF-4087-B751-5F159F842289}" sibTransId="{AB02689B-5109-4C4C-A9DD-EF332B395FC7}"/>
    <dgm:cxn modelId="{AC4A8FF1-0B42-4570-ACB4-F62AD10AC7E7}" type="presParOf" srcId="{C30EB98C-BF8E-47B5-A59F-A3E708D5551C}" destId="{B5976899-2FC4-4A3E-891A-B74C8C23C8B5}" srcOrd="0" destOrd="0" presId="urn:microsoft.com/office/officeart/2005/8/layout/chevron2"/>
    <dgm:cxn modelId="{78437963-1AD6-4AA2-99FF-D3C136E6C1B9}" type="presParOf" srcId="{B5976899-2FC4-4A3E-891A-B74C8C23C8B5}" destId="{416A876F-5FA3-42F9-A923-4E2C334EF9BC}" srcOrd="0" destOrd="0" presId="urn:microsoft.com/office/officeart/2005/8/layout/chevron2"/>
    <dgm:cxn modelId="{E5BB8A76-3CEA-42DE-8EE6-7959F74B0BB9}" type="presParOf" srcId="{B5976899-2FC4-4A3E-891A-B74C8C23C8B5}" destId="{344A86B1-48E8-448F-9C6D-71580BFB5F83}" srcOrd="1" destOrd="0" presId="urn:microsoft.com/office/officeart/2005/8/layout/chevron2"/>
    <dgm:cxn modelId="{1409A561-56BE-41EC-823E-CEEC12A8CF50}" type="presParOf" srcId="{C30EB98C-BF8E-47B5-A59F-A3E708D5551C}" destId="{19B3EDEB-1CF9-4423-9037-F0221A01EBBA}" srcOrd="1" destOrd="0" presId="urn:microsoft.com/office/officeart/2005/8/layout/chevron2"/>
    <dgm:cxn modelId="{69FAE29B-8826-413D-A90D-E3D1914BB7C5}" type="presParOf" srcId="{C30EB98C-BF8E-47B5-A59F-A3E708D5551C}" destId="{5D167E8C-136F-440C-8D10-651E4D964A72}" srcOrd="2" destOrd="0" presId="urn:microsoft.com/office/officeart/2005/8/layout/chevron2"/>
    <dgm:cxn modelId="{26C5ECD3-BE74-4234-955C-82B823BF9F9B}" type="presParOf" srcId="{5D167E8C-136F-440C-8D10-651E4D964A72}" destId="{A651636C-CE47-4575-AA1E-AB00D80E941D}" srcOrd="0" destOrd="0" presId="urn:microsoft.com/office/officeart/2005/8/layout/chevron2"/>
    <dgm:cxn modelId="{BFF53C8A-F466-46C1-9066-7E1EB74CF072}" type="presParOf" srcId="{5D167E8C-136F-440C-8D10-651E4D964A72}" destId="{79B0DE70-0A03-4A6F-B31F-EC81EB5DF7EA}" srcOrd="1" destOrd="0" presId="urn:microsoft.com/office/officeart/2005/8/layout/chevron2"/>
    <dgm:cxn modelId="{530A7BC0-79AB-4546-A568-2187FF19F65D}" type="presParOf" srcId="{C30EB98C-BF8E-47B5-A59F-A3E708D5551C}" destId="{5C2D5B77-4FD3-4BFC-B7C7-B69CFA47B819}" srcOrd="3" destOrd="0" presId="urn:microsoft.com/office/officeart/2005/8/layout/chevron2"/>
    <dgm:cxn modelId="{BE3F6BE8-AEFA-4235-B54E-61907BC9372B}" type="presParOf" srcId="{C30EB98C-BF8E-47B5-A59F-A3E708D5551C}" destId="{FD9C2F86-B450-49A0-8639-065AE676C080}" srcOrd="4" destOrd="0" presId="urn:microsoft.com/office/officeart/2005/8/layout/chevron2"/>
    <dgm:cxn modelId="{2E20AF7C-4B60-47FB-B029-F81F1CE8FCB7}" type="presParOf" srcId="{FD9C2F86-B450-49A0-8639-065AE676C080}" destId="{2AA7B02C-023E-4537-897E-B54A048C8983}" srcOrd="0" destOrd="0" presId="urn:microsoft.com/office/officeart/2005/8/layout/chevron2"/>
    <dgm:cxn modelId="{0573D7AB-2C25-487B-B0E2-947295CA4BF1}" type="presParOf" srcId="{FD9C2F86-B450-49A0-8639-065AE676C080}" destId="{15D3D31F-A831-4E62-ADE9-6ACE81331CDC}" srcOrd="1" destOrd="0" presId="urn:microsoft.com/office/officeart/2005/8/layout/chevron2"/>
    <dgm:cxn modelId="{49FE4450-ED31-4DD4-95F8-F34D880718F4}" type="presParOf" srcId="{C30EB98C-BF8E-47B5-A59F-A3E708D5551C}" destId="{365F76A6-EF4F-41D1-B81D-BC3D7851A081}" srcOrd="5" destOrd="0" presId="urn:microsoft.com/office/officeart/2005/8/layout/chevron2"/>
    <dgm:cxn modelId="{D297B7B3-984B-4BEF-88CF-E8496B62D532}" type="presParOf" srcId="{C30EB98C-BF8E-47B5-A59F-A3E708D5551C}" destId="{4DB00594-09F9-4225-B772-B1D52DAEEAB6}" srcOrd="6" destOrd="0" presId="urn:microsoft.com/office/officeart/2005/8/layout/chevron2"/>
    <dgm:cxn modelId="{58E3F0DF-7BFD-4BEB-873F-CA02319F1E26}" type="presParOf" srcId="{4DB00594-09F9-4225-B772-B1D52DAEEAB6}" destId="{58E45CBE-DE64-4E4E-8AAA-D376465B2BEE}" srcOrd="0" destOrd="0" presId="urn:microsoft.com/office/officeart/2005/8/layout/chevron2"/>
    <dgm:cxn modelId="{C405AC97-4C54-4757-8651-AB11924A4B6F}" type="presParOf" srcId="{4DB00594-09F9-4225-B772-B1D52DAEEAB6}" destId="{C37D6712-7A35-4663-80F7-1B8FC410AF1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0597F3-5A77-42C5-A3BE-2278E7F238BC}" type="doc">
      <dgm:prSet loTypeId="urn:microsoft.com/office/officeart/2005/8/layout/hierarchy2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9A3506E-67E5-4F7A-9B7E-1576BEDC34A3}">
      <dgm:prSet phldrT="[Texto]" custT="1"/>
      <dgm:spPr>
        <a:solidFill>
          <a:schemeClr val="tx1"/>
        </a:solidFill>
      </dgm:spPr>
      <dgm:t>
        <a:bodyPr/>
        <a:lstStyle/>
        <a:p>
          <a:r>
            <a:rPr lang="es-CO" sz="2000" b="1" dirty="0">
              <a:latin typeface="+mn-lt"/>
            </a:rPr>
            <a:t>Alternativas en los problemas de decisión lógica</a:t>
          </a:r>
        </a:p>
      </dgm:t>
    </dgm:pt>
    <dgm:pt modelId="{E20479EF-AE87-47E7-95B8-7079AFFBD0FD}" type="parTrans" cxnId="{539F31B7-EA4B-4A96-9594-A01E02E53A02}">
      <dgm:prSet/>
      <dgm:spPr/>
      <dgm:t>
        <a:bodyPr/>
        <a:lstStyle/>
        <a:p>
          <a:endParaRPr lang="es-CO"/>
        </a:p>
      </dgm:t>
    </dgm:pt>
    <dgm:pt modelId="{00FBE2A5-9907-4191-9EDB-ED7525BF77C3}" type="sibTrans" cxnId="{539F31B7-EA4B-4A96-9594-A01E02E53A02}">
      <dgm:prSet/>
      <dgm:spPr/>
      <dgm:t>
        <a:bodyPr/>
        <a:lstStyle/>
        <a:p>
          <a:endParaRPr lang="es-CO"/>
        </a:p>
      </dgm:t>
    </dgm:pt>
    <dgm:pt modelId="{09B6955E-10DC-4968-92CF-E1C9819E5605}">
      <dgm:prSet phldrT="[Texto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s-CO" sz="2000" b="1" dirty="0">
              <a:latin typeface="+mn-lt"/>
            </a:rPr>
            <a:t>Alternativa simple</a:t>
          </a:r>
        </a:p>
      </dgm:t>
    </dgm:pt>
    <dgm:pt modelId="{A22B95DF-9FE8-420F-A458-0ABF9054DDA8}" type="parTrans" cxnId="{7C418AD0-8738-47DB-8D3B-051DD65C20D7}">
      <dgm:prSet/>
      <dgm:spPr>
        <a:ln>
          <a:solidFill>
            <a:schemeClr val="tx1"/>
          </a:solidFill>
        </a:ln>
      </dgm:spPr>
      <dgm:t>
        <a:bodyPr/>
        <a:lstStyle/>
        <a:p>
          <a:endParaRPr lang="es-CO"/>
        </a:p>
      </dgm:t>
    </dgm:pt>
    <dgm:pt modelId="{C73EB503-5E35-420A-9A21-59932CE19BD4}" type="sibTrans" cxnId="{7C418AD0-8738-47DB-8D3B-051DD65C20D7}">
      <dgm:prSet/>
      <dgm:spPr/>
      <dgm:t>
        <a:bodyPr/>
        <a:lstStyle/>
        <a:p>
          <a:endParaRPr lang="es-CO"/>
        </a:p>
      </dgm:t>
    </dgm:pt>
    <dgm:pt modelId="{26B2BE31-97EF-4625-B738-F0B479E24968}">
      <dgm:prSet phldrT="[Texto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s-CO" sz="2000" b="1" dirty="0">
              <a:latin typeface="+mn-lt"/>
            </a:rPr>
            <a:t>Alternativa doble </a:t>
          </a:r>
        </a:p>
      </dgm:t>
    </dgm:pt>
    <dgm:pt modelId="{74C07CD9-03A2-472F-9D10-89398F18C5FF}" type="parTrans" cxnId="{775B1B90-AC05-4952-874D-D84AEBE82C7A}">
      <dgm:prSet/>
      <dgm:spPr>
        <a:ln>
          <a:solidFill>
            <a:schemeClr val="tx1"/>
          </a:solidFill>
        </a:ln>
      </dgm:spPr>
      <dgm:t>
        <a:bodyPr/>
        <a:lstStyle/>
        <a:p>
          <a:endParaRPr lang="es-CO"/>
        </a:p>
      </dgm:t>
    </dgm:pt>
    <dgm:pt modelId="{C86DC288-399D-4E73-8A61-65A8F1A51B41}" type="sibTrans" cxnId="{775B1B90-AC05-4952-874D-D84AEBE82C7A}">
      <dgm:prSet/>
      <dgm:spPr/>
      <dgm:t>
        <a:bodyPr/>
        <a:lstStyle/>
        <a:p>
          <a:endParaRPr lang="es-CO"/>
        </a:p>
      </dgm:t>
    </dgm:pt>
    <dgm:pt modelId="{AC0BF95D-CF9E-4F08-8A00-9697D100E9A3}">
      <dgm:prSet phldrT="[Texto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s-CO" sz="2000" b="1" dirty="0">
              <a:latin typeface="+mn-lt"/>
            </a:rPr>
            <a:t>Alternativa múltiple</a:t>
          </a:r>
        </a:p>
      </dgm:t>
    </dgm:pt>
    <dgm:pt modelId="{26D5F77F-06A6-4CDE-AA21-49C84A02C9CD}" type="parTrans" cxnId="{12FDE830-DBE7-4150-B7E3-1300079CB587}">
      <dgm:prSet/>
      <dgm:spPr>
        <a:ln>
          <a:solidFill>
            <a:schemeClr val="tx1"/>
          </a:solidFill>
        </a:ln>
      </dgm:spPr>
      <dgm:t>
        <a:bodyPr/>
        <a:lstStyle/>
        <a:p>
          <a:endParaRPr lang="es-CO"/>
        </a:p>
      </dgm:t>
    </dgm:pt>
    <dgm:pt modelId="{F696B3B3-1931-4F06-B1CC-B83A675495DA}" type="sibTrans" cxnId="{12FDE830-DBE7-4150-B7E3-1300079CB587}">
      <dgm:prSet/>
      <dgm:spPr/>
      <dgm:t>
        <a:bodyPr/>
        <a:lstStyle/>
        <a:p>
          <a:endParaRPr lang="es-CO"/>
        </a:p>
      </dgm:t>
    </dgm:pt>
    <dgm:pt modelId="{9D9A0CA1-8164-4592-AEA4-35677C424757}" type="pres">
      <dgm:prSet presAssocID="{890597F3-5A77-42C5-A3BE-2278E7F238B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CCC041F-5372-4AC6-B4C5-74789650EAD3}" type="pres">
      <dgm:prSet presAssocID="{59A3506E-67E5-4F7A-9B7E-1576BEDC34A3}" presName="root1" presStyleCnt="0"/>
      <dgm:spPr/>
    </dgm:pt>
    <dgm:pt modelId="{1B46BF3C-CDFA-4359-A082-13BD84A6C0BB}" type="pres">
      <dgm:prSet presAssocID="{59A3506E-67E5-4F7A-9B7E-1576BEDC34A3}" presName="LevelOneTextNode" presStyleLbl="node0" presStyleIdx="0" presStyleCnt="1" custLinFactNeighborX="10461" custLinFactNeighborY="35">
        <dgm:presLayoutVars>
          <dgm:chPref val="3"/>
        </dgm:presLayoutVars>
      </dgm:prSet>
      <dgm:spPr/>
    </dgm:pt>
    <dgm:pt modelId="{B9A1D65E-4165-4AE7-8D64-4D3B729688D5}" type="pres">
      <dgm:prSet presAssocID="{59A3506E-67E5-4F7A-9B7E-1576BEDC34A3}" presName="level2hierChild" presStyleCnt="0"/>
      <dgm:spPr/>
    </dgm:pt>
    <dgm:pt modelId="{BB45BE9A-FF36-43D6-83C3-336A2E12976B}" type="pres">
      <dgm:prSet presAssocID="{A22B95DF-9FE8-420F-A458-0ABF9054DDA8}" presName="conn2-1" presStyleLbl="parChTrans1D2" presStyleIdx="0" presStyleCnt="3"/>
      <dgm:spPr/>
    </dgm:pt>
    <dgm:pt modelId="{FF1FABA0-D36A-4D54-B247-14BE9D94AEF0}" type="pres">
      <dgm:prSet presAssocID="{A22B95DF-9FE8-420F-A458-0ABF9054DDA8}" presName="connTx" presStyleLbl="parChTrans1D2" presStyleIdx="0" presStyleCnt="3"/>
      <dgm:spPr/>
    </dgm:pt>
    <dgm:pt modelId="{34C60CED-D817-49FB-B9BB-9118A6A363A3}" type="pres">
      <dgm:prSet presAssocID="{09B6955E-10DC-4968-92CF-E1C9819E5605}" presName="root2" presStyleCnt="0"/>
      <dgm:spPr/>
    </dgm:pt>
    <dgm:pt modelId="{DA0E9240-41B7-41B5-8F65-67C41791B0D9}" type="pres">
      <dgm:prSet presAssocID="{09B6955E-10DC-4968-92CF-E1C9819E5605}" presName="LevelTwoTextNode" presStyleLbl="node2" presStyleIdx="0" presStyleCnt="3" custScaleY="39270" custLinFactNeighborX="448" custLinFactNeighborY="-71206">
        <dgm:presLayoutVars>
          <dgm:chPref val="3"/>
        </dgm:presLayoutVars>
      </dgm:prSet>
      <dgm:spPr/>
    </dgm:pt>
    <dgm:pt modelId="{6693B9B5-72C6-4946-A026-DFCE5CC564BD}" type="pres">
      <dgm:prSet presAssocID="{09B6955E-10DC-4968-92CF-E1C9819E5605}" presName="level3hierChild" presStyleCnt="0"/>
      <dgm:spPr/>
    </dgm:pt>
    <dgm:pt modelId="{94DAD3F8-2DD3-4D49-BCA3-0AA4CEA5327E}" type="pres">
      <dgm:prSet presAssocID="{74C07CD9-03A2-472F-9D10-89398F18C5FF}" presName="conn2-1" presStyleLbl="parChTrans1D2" presStyleIdx="1" presStyleCnt="3"/>
      <dgm:spPr/>
    </dgm:pt>
    <dgm:pt modelId="{1992A5A9-39A4-43EF-B349-F3C4C172BA3E}" type="pres">
      <dgm:prSet presAssocID="{74C07CD9-03A2-472F-9D10-89398F18C5FF}" presName="connTx" presStyleLbl="parChTrans1D2" presStyleIdx="1" presStyleCnt="3"/>
      <dgm:spPr/>
    </dgm:pt>
    <dgm:pt modelId="{96C74287-B61F-407D-BFD4-4FCEB537C037}" type="pres">
      <dgm:prSet presAssocID="{26B2BE31-97EF-4625-B738-F0B479E24968}" presName="root2" presStyleCnt="0"/>
      <dgm:spPr/>
    </dgm:pt>
    <dgm:pt modelId="{FC825A99-0AF5-4BBD-A87F-DB1EBAD335DC}" type="pres">
      <dgm:prSet presAssocID="{26B2BE31-97EF-4625-B738-F0B479E24968}" presName="LevelTwoTextNode" presStyleLbl="node2" presStyleIdx="1" presStyleCnt="3" custScaleY="36559" custLinFactNeighborX="448" custLinFactNeighborY="-3217">
        <dgm:presLayoutVars>
          <dgm:chPref val="3"/>
        </dgm:presLayoutVars>
      </dgm:prSet>
      <dgm:spPr/>
    </dgm:pt>
    <dgm:pt modelId="{DA4EEE03-96FC-4895-961B-17A48177CF31}" type="pres">
      <dgm:prSet presAssocID="{26B2BE31-97EF-4625-B738-F0B479E24968}" presName="level3hierChild" presStyleCnt="0"/>
      <dgm:spPr/>
    </dgm:pt>
    <dgm:pt modelId="{CDABA905-00CC-4685-8E9D-590A386A3B8E}" type="pres">
      <dgm:prSet presAssocID="{26D5F77F-06A6-4CDE-AA21-49C84A02C9CD}" presName="conn2-1" presStyleLbl="parChTrans1D2" presStyleIdx="2" presStyleCnt="3"/>
      <dgm:spPr/>
    </dgm:pt>
    <dgm:pt modelId="{58636808-5F2B-4961-A006-BFF4D8EA13A6}" type="pres">
      <dgm:prSet presAssocID="{26D5F77F-06A6-4CDE-AA21-49C84A02C9CD}" presName="connTx" presStyleLbl="parChTrans1D2" presStyleIdx="2" presStyleCnt="3"/>
      <dgm:spPr/>
    </dgm:pt>
    <dgm:pt modelId="{EC0EA8B8-0BDD-4B34-AC1D-81C811C46B05}" type="pres">
      <dgm:prSet presAssocID="{AC0BF95D-CF9E-4F08-8A00-9697D100E9A3}" presName="root2" presStyleCnt="0"/>
      <dgm:spPr/>
    </dgm:pt>
    <dgm:pt modelId="{37AA57FA-6512-49C5-850D-0B5DBF1B5B11}" type="pres">
      <dgm:prSet presAssocID="{AC0BF95D-CF9E-4F08-8A00-9697D100E9A3}" presName="LevelTwoTextNode" presStyleLbl="node2" presStyleIdx="2" presStyleCnt="3" custScaleY="35024" custLinFactNeighborX="448" custLinFactNeighborY="62167">
        <dgm:presLayoutVars>
          <dgm:chPref val="3"/>
        </dgm:presLayoutVars>
      </dgm:prSet>
      <dgm:spPr/>
    </dgm:pt>
    <dgm:pt modelId="{E28AE99C-4D94-44FF-BB67-9F9102553C0D}" type="pres">
      <dgm:prSet presAssocID="{AC0BF95D-CF9E-4F08-8A00-9697D100E9A3}" presName="level3hierChild" presStyleCnt="0"/>
      <dgm:spPr/>
    </dgm:pt>
  </dgm:ptLst>
  <dgm:cxnLst>
    <dgm:cxn modelId="{FFB07015-A2EB-425F-8208-601748B08209}" type="presOf" srcId="{AC0BF95D-CF9E-4F08-8A00-9697D100E9A3}" destId="{37AA57FA-6512-49C5-850D-0B5DBF1B5B11}" srcOrd="0" destOrd="0" presId="urn:microsoft.com/office/officeart/2005/8/layout/hierarchy2"/>
    <dgm:cxn modelId="{85353B1F-E4BE-4B32-B2F6-BF8F608460EA}" type="presOf" srcId="{26D5F77F-06A6-4CDE-AA21-49C84A02C9CD}" destId="{CDABA905-00CC-4685-8E9D-590A386A3B8E}" srcOrd="0" destOrd="0" presId="urn:microsoft.com/office/officeart/2005/8/layout/hierarchy2"/>
    <dgm:cxn modelId="{790B8620-088D-42EB-9309-1BB7A5268110}" type="presOf" srcId="{890597F3-5A77-42C5-A3BE-2278E7F238BC}" destId="{9D9A0CA1-8164-4592-AEA4-35677C424757}" srcOrd="0" destOrd="0" presId="urn:microsoft.com/office/officeart/2005/8/layout/hierarchy2"/>
    <dgm:cxn modelId="{12FDE830-DBE7-4150-B7E3-1300079CB587}" srcId="{59A3506E-67E5-4F7A-9B7E-1576BEDC34A3}" destId="{AC0BF95D-CF9E-4F08-8A00-9697D100E9A3}" srcOrd="2" destOrd="0" parTransId="{26D5F77F-06A6-4CDE-AA21-49C84A02C9CD}" sibTransId="{F696B3B3-1931-4F06-B1CC-B83A675495DA}"/>
    <dgm:cxn modelId="{94C6B650-204B-43E1-B5A3-9BBFAC74926E}" type="presOf" srcId="{74C07CD9-03A2-472F-9D10-89398F18C5FF}" destId="{94DAD3F8-2DD3-4D49-BCA3-0AA4CEA5327E}" srcOrd="0" destOrd="0" presId="urn:microsoft.com/office/officeart/2005/8/layout/hierarchy2"/>
    <dgm:cxn modelId="{50966B51-4A03-41DC-8E24-DD10B43EF03C}" type="presOf" srcId="{26B2BE31-97EF-4625-B738-F0B479E24968}" destId="{FC825A99-0AF5-4BBD-A87F-DB1EBAD335DC}" srcOrd="0" destOrd="0" presId="urn:microsoft.com/office/officeart/2005/8/layout/hierarchy2"/>
    <dgm:cxn modelId="{D4899E52-E199-4ACD-8987-1B9E61AA99B8}" type="presOf" srcId="{A22B95DF-9FE8-420F-A458-0ABF9054DDA8}" destId="{BB45BE9A-FF36-43D6-83C3-336A2E12976B}" srcOrd="0" destOrd="0" presId="urn:microsoft.com/office/officeart/2005/8/layout/hierarchy2"/>
    <dgm:cxn modelId="{775B1B90-AC05-4952-874D-D84AEBE82C7A}" srcId="{59A3506E-67E5-4F7A-9B7E-1576BEDC34A3}" destId="{26B2BE31-97EF-4625-B738-F0B479E24968}" srcOrd="1" destOrd="0" parTransId="{74C07CD9-03A2-472F-9D10-89398F18C5FF}" sibTransId="{C86DC288-399D-4E73-8A61-65A8F1A51B41}"/>
    <dgm:cxn modelId="{01EC7294-CEEF-40F6-B633-67C82FEF8FA3}" type="presOf" srcId="{09B6955E-10DC-4968-92CF-E1C9819E5605}" destId="{DA0E9240-41B7-41B5-8F65-67C41791B0D9}" srcOrd="0" destOrd="0" presId="urn:microsoft.com/office/officeart/2005/8/layout/hierarchy2"/>
    <dgm:cxn modelId="{13FDBCAC-7318-474F-B507-7E4CAD879951}" type="presOf" srcId="{26D5F77F-06A6-4CDE-AA21-49C84A02C9CD}" destId="{58636808-5F2B-4961-A006-BFF4D8EA13A6}" srcOrd="1" destOrd="0" presId="urn:microsoft.com/office/officeart/2005/8/layout/hierarchy2"/>
    <dgm:cxn modelId="{539F31B7-EA4B-4A96-9594-A01E02E53A02}" srcId="{890597F3-5A77-42C5-A3BE-2278E7F238BC}" destId="{59A3506E-67E5-4F7A-9B7E-1576BEDC34A3}" srcOrd="0" destOrd="0" parTransId="{E20479EF-AE87-47E7-95B8-7079AFFBD0FD}" sibTransId="{00FBE2A5-9907-4191-9EDB-ED7525BF77C3}"/>
    <dgm:cxn modelId="{E160E5C4-0096-4C7F-BE97-005ED6DD2F13}" type="presOf" srcId="{59A3506E-67E5-4F7A-9B7E-1576BEDC34A3}" destId="{1B46BF3C-CDFA-4359-A082-13BD84A6C0BB}" srcOrd="0" destOrd="0" presId="urn:microsoft.com/office/officeart/2005/8/layout/hierarchy2"/>
    <dgm:cxn modelId="{7C418AD0-8738-47DB-8D3B-051DD65C20D7}" srcId="{59A3506E-67E5-4F7A-9B7E-1576BEDC34A3}" destId="{09B6955E-10DC-4968-92CF-E1C9819E5605}" srcOrd="0" destOrd="0" parTransId="{A22B95DF-9FE8-420F-A458-0ABF9054DDA8}" sibTransId="{C73EB503-5E35-420A-9A21-59932CE19BD4}"/>
    <dgm:cxn modelId="{E4AD93DF-6236-47C2-B398-9A40B78239C5}" type="presOf" srcId="{74C07CD9-03A2-472F-9D10-89398F18C5FF}" destId="{1992A5A9-39A4-43EF-B349-F3C4C172BA3E}" srcOrd="1" destOrd="0" presId="urn:microsoft.com/office/officeart/2005/8/layout/hierarchy2"/>
    <dgm:cxn modelId="{B3E5EDF1-37B8-40A2-AE86-7B7F70CDE7F5}" type="presOf" srcId="{A22B95DF-9FE8-420F-A458-0ABF9054DDA8}" destId="{FF1FABA0-D36A-4D54-B247-14BE9D94AEF0}" srcOrd="1" destOrd="0" presId="urn:microsoft.com/office/officeart/2005/8/layout/hierarchy2"/>
    <dgm:cxn modelId="{EA0EABD9-F3E7-4927-B22F-9E20CABC1353}" type="presParOf" srcId="{9D9A0CA1-8164-4592-AEA4-35677C424757}" destId="{2CCC041F-5372-4AC6-B4C5-74789650EAD3}" srcOrd="0" destOrd="0" presId="urn:microsoft.com/office/officeart/2005/8/layout/hierarchy2"/>
    <dgm:cxn modelId="{B7092B44-C017-4DB1-A5EC-3B2995489154}" type="presParOf" srcId="{2CCC041F-5372-4AC6-B4C5-74789650EAD3}" destId="{1B46BF3C-CDFA-4359-A082-13BD84A6C0BB}" srcOrd="0" destOrd="0" presId="urn:microsoft.com/office/officeart/2005/8/layout/hierarchy2"/>
    <dgm:cxn modelId="{5F3B3F5E-9133-4DE6-824A-A1610140E086}" type="presParOf" srcId="{2CCC041F-5372-4AC6-B4C5-74789650EAD3}" destId="{B9A1D65E-4165-4AE7-8D64-4D3B729688D5}" srcOrd="1" destOrd="0" presId="urn:microsoft.com/office/officeart/2005/8/layout/hierarchy2"/>
    <dgm:cxn modelId="{DF64F500-6617-464C-ADBF-2438D3BF07CF}" type="presParOf" srcId="{B9A1D65E-4165-4AE7-8D64-4D3B729688D5}" destId="{BB45BE9A-FF36-43D6-83C3-336A2E12976B}" srcOrd="0" destOrd="0" presId="urn:microsoft.com/office/officeart/2005/8/layout/hierarchy2"/>
    <dgm:cxn modelId="{C7A68622-CC87-445A-B084-57FDAC9C4668}" type="presParOf" srcId="{BB45BE9A-FF36-43D6-83C3-336A2E12976B}" destId="{FF1FABA0-D36A-4D54-B247-14BE9D94AEF0}" srcOrd="0" destOrd="0" presId="urn:microsoft.com/office/officeart/2005/8/layout/hierarchy2"/>
    <dgm:cxn modelId="{96DA79F2-FBFB-4FDF-88C2-7F7FCB8DBC72}" type="presParOf" srcId="{B9A1D65E-4165-4AE7-8D64-4D3B729688D5}" destId="{34C60CED-D817-49FB-B9BB-9118A6A363A3}" srcOrd="1" destOrd="0" presId="urn:microsoft.com/office/officeart/2005/8/layout/hierarchy2"/>
    <dgm:cxn modelId="{C7153360-373F-479F-9733-C14F874D6753}" type="presParOf" srcId="{34C60CED-D817-49FB-B9BB-9118A6A363A3}" destId="{DA0E9240-41B7-41B5-8F65-67C41791B0D9}" srcOrd="0" destOrd="0" presId="urn:microsoft.com/office/officeart/2005/8/layout/hierarchy2"/>
    <dgm:cxn modelId="{1AC1E39B-E666-46C5-BBDB-1BFA6AA98FCA}" type="presParOf" srcId="{34C60CED-D817-49FB-B9BB-9118A6A363A3}" destId="{6693B9B5-72C6-4946-A026-DFCE5CC564BD}" srcOrd="1" destOrd="0" presId="urn:microsoft.com/office/officeart/2005/8/layout/hierarchy2"/>
    <dgm:cxn modelId="{BD9A2782-44A7-4D10-89E2-6C85E5C06753}" type="presParOf" srcId="{B9A1D65E-4165-4AE7-8D64-4D3B729688D5}" destId="{94DAD3F8-2DD3-4D49-BCA3-0AA4CEA5327E}" srcOrd="2" destOrd="0" presId="urn:microsoft.com/office/officeart/2005/8/layout/hierarchy2"/>
    <dgm:cxn modelId="{19307C81-BE97-438B-9CBC-629DE5FEA912}" type="presParOf" srcId="{94DAD3F8-2DD3-4D49-BCA3-0AA4CEA5327E}" destId="{1992A5A9-39A4-43EF-B349-F3C4C172BA3E}" srcOrd="0" destOrd="0" presId="urn:microsoft.com/office/officeart/2005/8/layout/hierarchy2"/>
    <dgm:cxn modelId="{FA6A260E-BACB-4037-BEC7-FC28C486B655}" type="presParOf" srcId="{B9A1D65E-4165-4AE7-8D64-4D3B729688D5}" destId="{96C74287-B61F-407D-BFD4-4FCEB537C037}" srcOrd="3" destOrd="0" presId="urn:microsoft.com/office/officeart/2005/8/layout/hierarchy2"/>
    <dgm:cxn modelId="{F549FC22-1462-4B16-A05C-40A58B0F5542}" type="presParOf" srcId="{96C74287-B61F-407D-BFD4-4FCEB537C037}" destId="{FC825A99-0AF5-4BBD-A87F-DB1EBAD335DC}" srcOrd="0" destOrd="0" presId="urn:microsoft.com/office/officeart/2005/8/layout/hierarchy2"/>
    <dgm:cxn modelId="{D176BA43-AE67-4679-9654-5A7DA6CF6ABF}" type="presParOf" srcId="{96C74287-B61F-407D-BFD4-4FCEB537C037}" destId="{DA4EEE03-96FC-4895-961B-17A48177CF31}" srcOrd="1" destOrd="0" presId="urn:microsoft.com/office/officeart/2005/8/layout/hierarchy2"/>
    <dgm:cxn modelId="{9C570201-3161-47EB-8833-9912B39D4217}" type="presParOf" srcId="{B9A1D65E-4165-4AE7-8D64-4D3B729688D5}" destId="{CDABA905-00CC-4685-8E9D-590A386A3B8E}" srcOrd="4" destOrd="0" presId="urn:microsoft.com/office/officeart/2005/8/layout/hierarchy2"/>
    <dgm:cxn modelId="{2F8A09A8-7110-45C5-AB57-1A25DB2FCAA3}" type="presParOf" srcId="{CDABA905-00CC-4685-8E9D-590A386A3B8E}" destId="{58636808-5F2B-4961-A006-BFF4D8EA13A6}" srcOrd="0" destOrd="0" presId="urn:microsoft.com/office/officeart/2005/8/layout/hierarchy2"/>
    <dgm:cxn modelId="{78B88CD1-26BB-4F80-9760-9610949EA321}" type="presParOf" srcId="{B9A1D65E-4165-4AE7-8D64-4D3B729688D5}" destId="{EC0EA8B8-0BDD-4B34-AC1D-81C811C46B05}" srcOrd="5" destOrd="0" presId="urn:microsoft.com/office/officeart/2005/8/layout/hierarchy2"/>
    <dgm:cxn modelId="{ECF7E878-DBEE-4EF1-A933-0F8C0281BF82}" type="presParOf" srcId="{EC0EA8B8-0BDD-4B34-AC1D-81C811C46B05}" destId="{37AA57FA-6512-49C5-850D-0B5DBF1B5B11}" srcOrd="0" destOrd="0" presId="urn:microsoft.com/office/officeart/2005/8/layout/hierarchy2"/>
    <dgm:cxn modelId="{5D91536F-8CDB-4908-8028-139199733CEF}" type="presParOf" srcId="{EC0EA8B8-0BDD-4B34-AC1D-81C811C46B05}" destId="{E28AE99C-4D94-44FF-BB67-9F9102553C0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6A876F-5FA3-42F9-A923-4E2C334EF9BC}">
      <dsp:nvSpPr>
        <dsp:cNvPr id="0" name=""/>
        <dsp:cNvSpPr/>
      </dsp:nvSpPr>
      <dsp:spPr>
        <a:xfrm rot="5400000">
          <a:off x="-106543" y="109307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latin typeface="Century Gothic" panose="020B0502020202020204" pitchFamily="34" charset="0"/>
            </a:rPr>
            <a:t>1</a:t>
          </a:r>
          <a:endParaRPr lang="es-CO" sz="1200" kern="1200" dirty="0">
            <a:latin typeface="Century Gothic" panose="020B0502020202020204" pitchFamily="34" charset="0"/>
          </a:endParaRPr>
        </a:p>
      </dsp:txBody>
      <dsp:txXfrm rot="-5400000">
        <a:off x="0" y="251365"/>
        <a:ext cx="497202" cy="213086"/>
      </dsp:txXfrm>
    </dsp:sp>
    <dsp:sp modelId="{344A86B1-48E8-448F-9C6D-71580BFB5F83}">
      <dsp:nvSpPr>
        <dsp:cNvPr id="0" name=""/>
        <dsp:cNvSpPr/>
      </dsp:nvSpPr>
      <dsp:spPr>
        <a:xfrm rot="5400000">
          <a:off x="2825947" y="-2325981"/>
          <a:ext cx="461930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Entender el problema</a:t>
          </a:r>
        </a:p>
      </dsp:txBody>
      <dsp:txXfrm rot="-5400000">
        <a:off x="497202" y="25314"/>
        <a:ext cx="5096871" cy="416830"/>
      </dsp:txXfrm>
    </dsp:sp>
    <dsp:sp modelId="{A651636C-CE47-4575-AA1E-AB00D80E941D}">
      <dsp:nvSpPr>
        <dsp:cNvPr id="0" name=""/>
        <dsp:cNvSpPr/>
      </dsp:nvSpPr>
      <dsp:spPr>
        <a:xfrm rot="5400000">
          <a:off x="-106543" y="658631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252426"/>
                <a:satOff val="3301"/>
                <a:lumOff val="-40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52426"/>
                <a:satOff val="3301"/>
                <a:lumOff val="-40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52426"/>
                <a:satOff val="3301"/>
                <a:lumOff val="-40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252426"/>
              <a:satOff val="3301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latin typeface="Century Gothic" panose="020B0502020202020204" pitchFamily="34" charset="0"/>
            </a:rPr>
            <a:t>2</a:t>
          </a:r>
          <a:endParaRPr lang="es-CO" sz="2400" kern="1200" dirty="0">
            <a:latin typeface="Century Gothic" panose="020B0502020202020204" pitchFamily="34" charset="0"/>
          </a:endParaRPr>
        </a:p>
      </dsp:txBody>
      <dsp:txXfrm rot="-5400000">
        <a:off x="0" y="800689"/>
        <a:ext cx="497202" cy="213086"/>
      </dsp:txXfrm>
    </dsp:sp>
    <dsp:sp modelId="{79B0DE70-0A03-4A6F-B31F-EC81EB5DF7EA}">
      <dsp:nvSpPr>
        <dsp:cNvPr id="0" name=""/>
        <dsp:cNvSpPr/>
      </dsp:nvSpPr>
      <dsp:spPr>
        <a:xfrm rot="5400000">
          <a:off x="2826069" y="-1776779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252426"/>
              <a:satOff val="3301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Diseñar un plan</a:t>
          </a:r>
        </a:p>
      </dsp:txBody>
      <dsp:txXfrm rot="-5400000">
        <a:off x="497202" y="574626"/>
        <a:ext cx="5096883" cy="416611"/>
      </dsp:txXfrm>
    </dsp:sp>
    <dsp:sp modelId="{2AA7B02C-023E-4537-897E-B54A048C8983}">
      <dsp:nvSpPr>
        <dsp:cNvPr id="0" name=""/>
        <dsp:cNvSpPr/>
      </dsp:nvSpPr>
      <dsp:spPr>
        <a:xfrm rot="5400000">
          <a:off x="-106543" y="1207954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504853"/>
                <a:satOff val="6602"/>
                <a:lumOff val="-81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04853"/>
                <a:satOff val="6602"/>
                <a:lumOff val="-81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04853"/>
                <a:satOff val="6602"/>
                <a:lumOff val="-81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504853"/>
              <a:satOff val="6602"/>
              <a:lumOff val="-81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3</a:t>
          </a:r>
        </a:p>
      </dsp:txBody>
      <dsp:txXfrm rot="-5400000">
        <a:off x="0" y="1350012"/>
        <a:ext cx="497202" cy="213086"/>
      </dsp:txXfrm>
    </dsp:sp>
    <dsp:sp modelId="{15D3D31F-A831-4E62-ADE9-6ACE81331CDC}">
      <dsp:nvSpPr>
        <dsp:cNvPr id="0" name=""/>
        <dsp:cNvSpPr/>
      </dsp:nvSpPr>
      <dsp:spPr>
        <a:xfrm rot="5400000">
          <a:off x="2826069" y="-1227455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504853"/>
              <a:satOff val="6602"/>
              <a:lumOff val="-81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Implementar el plan</a:t>
          </a:r>
        </a:p>
      </dsp:txBody>
      <dsp:txXfrm rot="-5400000">
        <a:off x="497202" y="1123950"/>
        <a:ext cx="5096883" cy="416611"/>
      </dsp:txXfrm>
    </dsp:sp>
    <dsp:sp modelId="{58E45CBE-DE64-4E4E-8AAA-D376465B2BEE}">
      <dsp:nvSpPr>
        <dsp:cNvPr id="0" name=""/>
        <dsp:cNvSpPr/>
      </dsp:nvSpPr>
      <dsp:spPr>
        <a:xfrm rot="5400000">
          <a:off x="-106543" y="1757278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757279"/>
                <a:satOff val="9903"/>
                <a:lumOff val="-1215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757279"/>
                <a:satOff val="9903"/>
                <a:lumOff val="-1215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757279"/>
                <a:satOff val="9903"/>
                <a:lumOff val="-1215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4</a:t>
          </a:r>
        </a:p>
      </dsp:txBody>
      <dsp:txXfrm rot="-5400000">
        <a:off x="0" y="1899336"/>
        <a:ext cx="497202" cy="213086"/>
      </dsp:txXfrm>
    </dsp:sp>
    <dsp:sp modelId="{C37D6712-7A35-4663-80F7-1B8FC410AF19}">
      <dsp:nvSpPr>
        <dsp:cNvPr id="0" name=""/>
        <dsp:cNvSpPr/>
      </dsp:nvSpPr>
      <dsp:spPr>
        <a:xfrm rot="5400000">
          <a:off x="2826069" y="-678132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Revisar el plan</a:t>
          </a:r>
        </a:p>
      </dsp:txBody>
      <dsp:txXfrm rot="-5400000">
        <a:off x="497202" y="1673273"/>
        <a:ext cx="5096883" cy="416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46BF3C-CDFA-4359-A082-13BD84A6C0BB}">
      <dsp:nvSpPr>
        <dsp:cNvPr id="0" name=""/>
        <dsp:cNvSpPr/>
      </dsp:nvSpPr>
      <dsp:spPr>
        <a:xfrm>
          <a:off x="265709" y="1397444"/>
          <a:ext cx="2539999" cy="1269999"/>
        </a:xfrm>
        <a:prstGeom prst="roundRect">
          <a:avLst>
            <a:gd name="adj" fmla="val 1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>
              <a:latin typeface="+mn-lt"/>
            </a:rPr>
            <a:t>Alternativas en los problemas de decisión lógica</a:t>
          </a:r>
        </a:p>
      </dsp:txBody>
      <dsp:txXfrm>
        <a:off x="302906" y="1434641"/>
        <a:ext cx="2465605" cy="1195605"/>
      </dsp:txXfrm>
    </dsp:sp>
    <dsp:sp modelId="{BB45BE9A-FF36-43D6-83C3-336A2E12976B}">
      <dsp:nvSpPr>
        <dsp:cNvPr id="0" name=""/>
        <dsp:cNvSpPr/>
      </dsp:nvSpPr>
      <dsp:spPr>
        <a:xfrm rot="17749945">
          <a:off x="2319916" y="1229413"/>
          <a:ext cx="1721875" cy="56250"/>
        </a:xfrm>
        <a:custGeom>
          <a:avLst/>
          <a:gdLst/>
          <a:ahLst/>
          <a:cxnLst/>
          <a:rect l="0" t="0" r="0" b="0"/>
          <a:pathLst>
            <a:path>
              <a:moveTo>
                <a:pt x="0" y="28125"/>
              </a:moveTo>
              <a:lnTo>
                <a:pt x="1721875" y="28125"/>
              </a:lnTo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600" kern="1200"/>
        </a:p>
      </dsp:txBody>
      <dsp:txXfrm>
        <a:off x="3137807" y="1214491"/>
        <a:ext cx="86093" cy="86093"/>
      </dsp:txXfrm>
    </dsp:sp>
    <dsp:sp modelId="{DA0E9240-41B7-41B5-8F65-67C41791B0D9}">
      <dsp:nvSpPr>
        <dsp:cNvPr id="0" name=""/>
        <dsp:cNvSpPr/>
      </dsp:nvSpPr>
      <dsp:spPr>
        <a:xfrm>
          <a:off x="3556000" y="233267"/>
          <a:ext cx="2539999" cy="498729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>
              <a:latin typeface="+mn-lt"/>
            </a:rPr>
            <a:t>Alternativa simple</a:t>
          </a:r>
        </a:p>
      </dsp:txBody>
      <dsp:txXfrm>
        <a:off x="3570607" y="247874"/>
        <a:ext cx="2510785" cy="469515"/>
      </dsp:txXfrm>
    </dsp:sp>
    <dsp:sp modelId="{94DAD3F8-2DD3-4D49-BCA3-0AA4CEA5327E}">
      <dsp:nvSpPr>
        <dsp:cNvPr id="0" name=""/>
        <dsp:cNvSpPr/>
      </dsp:nvSpPr>
      <dsp:spPr>
        <a:xfrm rot="21534312">
          <a:off x="2805640" y="1997150"/>
          <a:ext cx="750427" cy="56250"/>
        </a:xfrm>
        <a:custGeom>
          <a:avLst/>
          <a:gdLst/>
          <a:ahLst/>
          <a:cxnLst/>
          <a:rect l="0" t="0" r="0" b="0"/>
          <a:pathLst>
            <a:path>
              <a:moveTo>
                <a:pt x="0" y="28125"/>
              </a:moveTo>
              <a:lnTo>
                <a:pt x="750427" y="28125"/>
              </a:lnTo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/>
        </a:p>
      </dsp:txBody>
      <dsp:txXfrm>
        <a:off x="3162094" y="2006514"/>
        <a:ext cx="37521" cy="37521"/>
      </dsp:txXfrm>
    </dsp:sp>
    <dsp:sp modelId="{FC825A99-0AF5-4BBD-A87F-DB1EBAD335DC}">
      <dsp:nvSpPr>
        <dsp:cNvPr id="0" name=""/>
        <dsp:cNvSpPr/>
      </dsp:nvSpPr>
      <dsp:spPr>
        <a:xfrm>
          <a:off x="3556000" y="1785956"/>
          <a:ext cx="2539999" cy="464299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>
              <a:latin typeface="+mn-lt"/>
            </a:rPr>
            <a:t>Alternativa doble </a:t>
          </a:r>
        </a:p>
      </dsp:txBody>
      <dsp:txXfrm>
        <a:off x="3569599" y="1799555"/>
        <a:ext cx="2512801" cy="437101"/>
      </dsp:txXfrm>
    </dsp:sp>
    <dsp:sp modelId="{CDABA905-00CC-4685-8E9D-590A386A3B8E}">
      <dsp:nvSpPr>
        <dsp:cNvPr id="0" name=""/>
        <dsp:cNvSpPr/>
      </dsp:nvSpPr>
      <dsp:spPr>
        <a:xfrm rot="3769132">
          <a:off x="2359617" y="2734864"/>
          <a:ext cx="1642474" cy="56250"/>
        </a:xfrm>
        <a:custGeom>
          <a:avLst/>
          <a:gdLst/>
          <a:ahLst/>
          <a:cxnLst/>
          <a:rect l="0" t="0" r="0" b="0"/>
          <a:pathLst>
            <a:path>
              <a:moveTo>
                <a:pt x="0" y="28125"/>
              </a:moveTo>
              <a:lnTo>
                <a:pt x="1642474" y="28125"/>
              </a:lnTo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/>
        </a:p>
      </dsp:txBody>
      <dsp:txXfrm>
        <a:off x="3139792" y="2721927"/>
        <a:ext cx="82123" cy="82123"/>
      </dsp:txXfrm>
    </dsp:sp>
    <dsp:sp modelId="{37AA57FA-6512-49C5-850D-0B5DBF1B5B11}">
      <dsp:nvSpPr>
        <dsp:cNvPr id="0" name=""/>
        <dsp:cNvSpPr/>
      </dsp:nvSpPr>
      <dsp:spPr>
        <a:xfrm>
          <a:off x="3556000" y="3271132"/>
          <a:ext cx="2539999" cy="444804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>
              <a:latin typeface="+mn-lt"/>
            </a:rPr>
            <a:t>Alternativa múltiple</a:t>
          </a:r>
        </a:p>
      </dsp:txBody>
      <dsp:txXfrm>
        <a:off x="3569028" y="3284160"/>
        <a:ext cx="2513943" cy="4187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43A3E-55B9-4706-BA6E-9364B5247742}" type="datetimeFigureOut">
              <a:rPr lang="es-CO" smtClean="0"/>
              <a:t>23/08/2026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B099-0CC4-41E8-A6BF-D10E445BFF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568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B099-0CC4-41E8-A6BF-D10E445BFF74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5197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B099-0CC4-41E8-A6BF-D10E445BFF74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4517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ttps://programacionpython.wordpress.com/2008/07/06/dia-10-operadores-aritmeticos-parte-2/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8B099-0CC4-41E8-A6BF-D10E445BFF74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475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8B099-0CC4-41E8-A6BF-D10E445BFF74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2039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23/08/2026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6620888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23/08/2026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1991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16AA-8F92-4F8D-9FF5-AE4F5F025475}" type="datetime1">
              <a:rPr lang="es-CO" smtClean="0"/>
              <a:t>23/08/2026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2149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2889A-C4A3-4C6C-A514-E9566A95FF0B}" type="datetime1">
              <a:rPr lang="es-CO" smtClean="0"/>
              <a:t>23/08/2026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131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49B8-F78E-4015-8DD3-99AC842EEF5C}" type="datetime1">
              <a:rPr lang="es-CO" smtClean="0"/>
              <a:t>23/08/2026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385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23/08/2026</a:t>
            </a:fld>
            <a:endParaRPr lang="es-C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8510513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5FDE-4F9B-4FF4-9D4F-6D3ED15F62CE}" type="datetime1">
              <a:rPr lang="es-CO" smtClean="0"/>
              <a:t>23/08/2026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683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392FA-6414-43D4-857F-1D16849F2AFB}" type="datetime1">
              <a:rPr lang="es-CO" smtClean="0"/>
              <a:t>23/08/2026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845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ADB1-43E6-4CC5-8BA6-A3F5A7E6EF55}" type="datetime1">
              <a:rPr lang="es-CO" smtClean="0"/>
              <a:t>23/08/2026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063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21E5-6957-4C84-BD80-156D13F58C59}" type="datetime1">
              <a:rPr lang="es-CO" smtClean="0"/>
              <a:t>23/08/2026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121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B61D7-E979-4A0B-B106-A9203ABD6AA5}" type="datetime1">
              <a:rPr lang="es-CO" smtClean="0"/>
              <a:t>23/08/2026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2539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23/08/2026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6410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E389-1891-4C1C-AE7B-96446A92669F}" type="datetime1">
              <a:rPr lang="es-CO" smtClean="0"/>
              <a:t>23/08/2026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4347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65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hontutor.com/visualize.html#code=%23%20Inicializaci%C3%B3n%20de%20variables%0API%20%3D%203.14%0A%0A%23%20Entrada%20de%20datos%0Aradio%20%3D%20float%28input%28%22Ingrese%20el%20radio%20del%20c%C3%ADrculo%3A%20%22%29%29%0A%0A%23%20Calculo%20del%20area%0Aarea%20%3D%20PI%20*%20radio%20**%202%0A%0A%23%20Despligue%20del%20area%0Aprint%28f%22El%20area%20del%20c%C3%ADrculo%20de%20radio%20%7Bradio%7D%20es%3A%20%7Barea%7D%22%29%0A&amp;curInstr=0&amp;mode=display&amp;origin=opt-frontend.js&amp;py=311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youtube.com/watch?v=7MAeSbiLRP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s.wikipedia.org/wiki/La_puerta_angosta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pythontutor.com/visualize.html#code=angulo%20%3D%2090%0Aif%28angulo%20%3D%3D%2090%29%3A%20%0A%20%20print%28%22El%20angulo%20es%20recto%22%29%0Aelse%3A%20%20%0A%20%20print%28%22El%20angulo%20no%20es%20recto%22%29&amp;curInstr=0&amp;mode=display&amp;origin=opt-frontend.js&amp;py=3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pythontutor.com/visualize.html#code=T%20%3D%2010%0Aif%20T%20%3E%20100%3A%20%0A%20%20%20%20print%28%22Por%20encima%20del%20punto%20de%20ebullici%C3%B3n%20del%20agua%22%29%0Aelse%3A%20%20%0A%20%20%20%20print%28%22Por%20debajo%20del%20punto%20de%20ebullici%C3%B3n%20del%20agua%22%29%0A&amp;cumulative=false&amp;curInstr=0&amp;heapPrimitives=nevernest&amp;mode=display&amp;origin=opt-frontend.js&amp;py=3&amp;rawInputLstJSON=%5B%5D&amp;textReferences=false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pythontutor.com/visualize.html#code=%23%20Ensaye%20con%20difententes%20valores%20para%20X,%20Y%20y%20Z%0AX%20%3D%2010%0AY%20%3D%205%0AZ%20%3D%203%0A%0Aif%20%28%28X%20%3E%20Y%29%20and%20%28Z%20%3C%2020%29%29%3A%20%0A%20%20%20%20P%20%3D%20int%28input%28%22P%20%3D%20%22%29%29%0A&amp;cumulative=false&amp;curInstr=0&amp;heapPrimitives=nevernest&amp;mode=display&amp;origin=opt-frontend.js&amp;py=3&amp;rawInputLstJSON=%5B%223%22%5D&amp;textReferences=false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%23%20Ensaye%20con%20difententes%20valores%20para%20X,%20Y%20y%20Z%0Ad%20%3D%2025%0A%0Aif%20%28%28d%20%3E%3D%2020%29%20and%20%28d%20%3C%3D%2035%29%29%3A%20%0A%20%20%20%20t%20%3D%20int%28input%28%22Digite%20el%20tiempo%22%29%29%0A&amp;cumulative=false&amp;curInstr=0&amp;heapPrimitives=nevernest&amp;mode=display&amp;origin=opt-frontend.js&amp;py=3&amp;rawInputLstJSON=%5B%5D&amp;textReferences=false" TargetMode="External"/><Relationship Id="rId2" Type="http://schemas.openxmlformats.org/officeDocument/2006/relationships/hyperlink" Target="https://pythontutor.com/visualize.html#code=%23%20Ensaye%20con%20difententes%20valores%20para%20X,%20Y%20y%20Z%0Ad%20%3D%2025%0A%0Aif%20%28%2020%20%3C%3D%20d%20%3C%3D%2035%29%3A%20%0A%20%20%20%20t%20%3D%20int%28input%28%22Digite%20el%20tiempo%22%29%29%0A&amp;cumulative=false&amp;curInstr=0&amp;heapPrimitives=nevernest&amp;mode=display&amp;origin=opt-frontend.js&amp;py=3&amp;rawInputLstJSON=%5B%5D&amp;textReferences=fals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2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15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pythontutor.com/visualize.html#code=PRECIO_HOMBRE%20%3D%2010000%0APRECIO_MUJER%20%3D%20PRECIO_HOMBRE%20/%202%20%20%20%23%20la%20mitad%20del%20precio%20de%20los%20hombres%0Aentrada%20%3D%20PRECIO_HOMBRE%0A%0Asex%20%3D%20input%28'Digite%20el%20sexo%20%28F/M%29%3A%20'%29%0Aif%20sex%20%3D%3D%20'F'%3A%0A%20%20%20%20entrada%20%3D%20PRECIO_MUJER%0Aprint%28f'Valor%20de%20la%20entrada%3A%20%24%7Bentrada%7D'%29%0A%0A%22%22%22%0Aprint%28'Valor%20de%20la%20entrada%3A%20%24',%20entrada,%20sep%20%3D%20''%29%0Aprint%28'Valor%20de%20la%20entrada%3A%20%24'%20%2B%20str%28entrada%29%29%0A%22%22%22%0A&amp;curInstr=0&amp;mode=display&amp;origin=opt-frontend.js&amp;py=3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pythontutor.com/visualize.html#code=SALARIO_MIN%20%3D%2020000000%0Asubsidio%20%3D%200%0AID%20%3D%20input%28%22Digite%20la%20cedula%3A%20%22%29%0Asal_base%20%3D%20int%28input%28%22Digite%20el%20salario%20base%3A%20%22%29%29%0Aif%28sal_base%20%3C%20SALARIO_MIN%29%3A%0A%20%20%20%20subsidio%20%3D%200.3*sal_base%0Asal_neto%20%3D%20sal_base%20%2B%20subsidio%0Aprint%28ID%20%2B%20'%20le%20corresponde%20como%20pago%20%24',%20%5C%0A%20%20%20%20%20%20sal_neto,%20end%20%3D%20%22%22%29%0A&amp;curInstr=0&amp;mode=display&amp;origin=opt-frontend.js&amp;py=3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pythontutor.com/visualize.html#code=PRECIO_HOMBRE%20%3D%2010000%0APRECIO_MUJER%20%3D%20PRECIO_HOMBRE%20/%202%0A%0Asex%20%3D%20input%28'Digite%20el%20sexo%20%28F/M%29%3A%20'%29%0A%0Aif%20sex%20%3D%3D%20'F'%3A%0A%20%20valor_entrada%20%3D%20PRECIO_MUJER%0Aelse%3A%0A%20%20valor_entrada%20%3D%20PRECIO_HOMBRE%0A%0Aprint%28f'Valor%20de%20la%20entrada%3A%20%24%7Bvalor_entrada%7D'%29%0A&amp;curInstr=0&amp;mode=display&amp;origin=opt-frontend.js&amp;py=3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pythontutor.com/visualize.html#code=SALARIO_MIN%20%3D%2020000000%0AID%20%3D%20input%28%22Digite%20la%20cedula%3A%20%22%29%0Asal_base%20%3D%20int%28input%28%22Digite%20el%20salario%20base%3A%20%22%29%29%0Aif%28sal_base%20%3C%20SALARIO_MIN%29%3A%0A%20%20%20%20subsidio%20%3D%200.3*sal_base%0Aelse%3A%0A%20%20%20%20subsidio%20%3D%200%0Asal_neto%20%3D%20sal_base%20%2B%20subsidio%0Aprint%28ID%20%2B%20'%20le%20corresponde%20como%20pago%20%24',%20%5C%0A%20%20%20%20%20%20sal_neto,%20end%20%3D%20%22%22%29%0A&amp;curInstr=0&amp;mode=display&amp;origin=opt-frontend.js&amp;py=3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ythontutor.com/visualize.html#code=PRECIO_HOMBRE%20%3D%2010000%0APRECIO_MUJER%20%3D%20PRECIO_HOMBRE%20/%202%0A%0Asex%20%3D%20input%28'Digite%20el%20sexo%20%28F/M%29%3A%20'%29%0A%0Aif%20sex%20%3D%3D%20'F'%3A%0A%20%20valor_entrada%20%3D%20PRECIO_MUJER%0Aelse%3A%0A%20%20valor_entrada%20%3D%20PRECIO_HOMBRE%0A%0Aprint%28f'Valor%20de%20la%20entrada%3A%20%24%7Bvalor_entrada%7D'%29%0A&amp;curInstr=0&amp;mode=display&amp;origin=opt-frontend.js&amp;py=3" TargetMode="External"/><Relationship Id="rId4" Type="http://schemas.openxmlformats.org/officeDocument/2006/relationships/hyperlink" Target="https://pythontutor.com/visualize.html#code=PRECIO_HOMBRE%20%3D%2010000%0APRECIO_MUJER%20%3D%20PRECIO_HOMBRE%20/%202%20%20%20%23%20la%20mitad%20del%20precio%20de%20los%20hombres%0Aentrada%20%3D%20PRECIO_HOMBRE%0A%0Asex%20%3D%20input%28'Digite%20el%20sexo%20%28F/M%29%3A%20'%29%0Aif%20sex%20%3D%3D%20'F'%3A%0A%20%20%20%20entrada%20%3D%20PRECIO_MUJER%0Aprint%28f'Valor%20de%20la%20entrada%3A%20%24%7Bentrada%7D'%29%0A%0A%22%22%22%0Aprint%28'Valor%20de%20la%20entrada%3A%20%24',%20entrada,%20sep%20%3D%20''%29%0Aprint%28'Valor%20de%20la%20entrada%3A%20%24'%20%2B%20str%28entrada%29%29%0A%22%22%22%0A&amp;curInstr=0&amp;mode=display&amp;origin=opt-frontend.js&amp;py=3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SALARIO_MIN%20%3D%2020000000%0AID%20%3D%20input%28%22Digite%20la%20cedula%3A%20%22%29%0Asal_base%20%3D%20int%28input%28%22Digite%20el%20salario%20base%3A%20%22%29%29%0Aif%28sal_base%20%3C%20SALARIO_MIN%29%3A%0A%20%20%20%20subsidio%20%3D%200.3*sal_base%0Aelse%3A%0A%20%20%20%20subsidio%20%3D%200%0Asal_neto%20%3D%20sal_base%20%2B%20subsidio%0Aprint%28ID%20%2B%20'%20le%20corresponde%20como%20pago%20%24',%20%5C%0A%20%20%20%20%20%20sal_neto,%20end%20%3D%20%22%22%29%0A&amp;curInstr=0&amp;mode=display&amp;origin=opt-frontend.js&amp;py=3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ythontutor.com/visualize.html#code=SALARIO_MIN%20%3D%2020000000%0Asubsidio%20%3D%200%0AID%20%3D%20input%28%22Digite%20la%20cedula%3A%20%22%29%0Asal_base%20%3D%20int%28input%28%22Digite%20el%20salario%20base%3A%20%22%29%29%0Aif%28sal_base%20%3C%20SALARIO_MIN%29%3A%0A%20%20%20%20subsidio%20%3D%200.3*sal_base%0Asal_neto%20%3D%20sal_base%20%2B%20subsidio%0Aprint%28ID%20%2B%20'%20le%20corresponde%20como%20pago%20%24',%20%5C%0A%20%20%20%20%20%20sal_neto,%20end%20%3D%20%22%22%29%0A&amp;curInstr=0&amp;mode=display&amp;origin=opt-frontend.js&amp;py=3" TargetMode="External"/><Relationship Id="rId4" Type="http://schemas.openxmlformats.org/officeDocument/2006/relationships/image" Target="../media/image3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pythontutor.com/visualize.html#code=MAYORIA_EDAD%20%3D%2018%0Aedad%20%3D%20int%28input%28%22Digite%20la%20edad%3A%20%22%29%29%0Aif%28edad%20%3E%3D%2018%29%3A%0A%20%20print%28%22Usted%20es%20mayor%20de%20edad%22%29%0Aelse%3A%0A%20%20print%28%22Usted%20es%20menor%20de%20edad%22%29%0A&amp;curInstr=0&amp;mode=display&amp;origin=opt-frontend.js&amp;py=3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num1%20%3D%20int%28input%28%22Digite%20el%20primer%20numero%3A%20%22%29%29%0Anum2%20%3D%20int%28input%28%22Digite%20el%20segundo%20numero%3A%20%22%29%29%0Aif%28num1%25num2%20%3D%3D%200%29%3A%20%20%20%20%0A%20%20print%28f%22%7Bnum2%7D%20es%20divisor%20de%20%7Bnum1%7D%22%29%0Aelse%3A%20%20%20%20%0A%20%20print%28f%22%7Bnum2%7D%20no%20es%20divisor%20de%20%7Bnum1%7D%22%29%0A&amp;curInstr=0&amp;mode=display&amp;origin=opt-frontend.js&amp;py=3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s://realpython.com/python-conditional-statements/" TargetMode="External"/><Relationship Id="rId3" Type="http://schemas.openxmlformats.org/officeDocument/2006/relationships/hyperlink" Target="https://www.w3resource.com/index.php" TargetMode="External"/><Relationship Id="rId7" Type="http://schemas.openxmlformats.org/officeDocument/2006/relationships/hyperlink" Target="https://realpython.com/cheatsheets/python/" TargetMode="External"/><Relationship Id="rId2" Type="http://schemas.openxmlformats.org/officeDocument/2006/relationships/hyperlink" Target="https://ellibrodepython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-course.eu/" TargetMode="External"/><Relationship Id="rId5" Type="http://schemas.openxmlformats.org/officeDocument/2006/relationships/hyperlink" Target="https://curriculumresources.edu.gh/wp-content/uploads/2025/01/" TargetMode="External"/><Relationship Id="rId4" Type="http://schemas.openxmlformats.org/officeDocument/2006/relationships/hyperlink" Target="https://realpython.com/" TargetMode="External"/><Relationship Id="rId9" Type="http://schemas.openxmlformats.org/officeDocument/2006/relationships/hyperlink" Target="https://realpython.com/ref/best-practices/conditionals/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909BB-6F92-48BA-A875-99E15D225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1122363"/>
            <a:ext cx="8568952" cy="2387600"/>
          </a:xfrm>
        </p:spPr>
        <p:txBody>
          <a:bodyPr/>
          <a:lstStyle/>
          <a:p>
            <a:r>
              <a:rPr lang="es-CO" dirty="0"/>
              <a:t>Lógica y Representación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9999BC-7CCA-4677-B2C4-E913A7AA1F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O" sz="3200" b="1" dirty="0"/>
              <a:t>Condicionales</a:t>
            </a:r>
          </a:p>
          <a:p>
            <a:r>
              <a:rPr lang="es-CO" dirty="0"/>
              <a:t>Ingeniería de Sistemas</a:t>
            </a:r>
          </a:p>
          <a:p>
            <a:r>
              <a:rPr lang="es-CO" dirty="0"/>
              <a:t>Universidad de Antioquia</a:t>
            </a:r>
          </a:p>
        </p:txBody>
      </p:sp>
    </p:spTree>
    <p:extLst>
      <p:ext uri="{BB962C8B-B14F-4D97-AF65-F5344CB8AC3E}">
        <p14:creationId xmlns:p14="http://schemas.microsoft.com/office/powerpoint/2010/main" val="77409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51520" y="188640"/>
            <a:ext cx="8263830" cy="845334"/>
          </a:xfrm>
        </p:spPr>
        <p:txBody>
          <a:bodyPr>
            <a:normAutofit/>
          </a:bodyPr>
          <a:lstStyle/>
          <a:p>
            <a:r>
              <a:rPr lang="es-CO" sz="4000" dirty="0"/>
              <a:t>Método de Polya - Resumen</a:t>
            </a:r>
            <a:endParaRPr lang="en-US" sz="4000" dirty="0"/>
          </a:p>
        </p:txBody>
      </p:sp>
      <p:graphicFrame>
        <p:nvGraphicFramePr>
          <p:cNvPr id="6" name="13 Diagrama">
            <a:extLst>
              <a:ext uri="{FF2B5EF4-FFF2-40B4-BE49-F238E27FC236}">
                <a16:creationId xmlns:a16="http://schemas.microsoft.com/office/drawing/2014/main" id="{D0B70736-976D-4675-A33E-9F94643ADC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5553215"/>
              </p:ext>
            </p:extLst>
          </p:nvPr>
        </p:nvGraphicFramePr>
        <p:xfrm>
          <a:off x="3059832" y="4221088"/>
          <a:ext cx="5616624" cy="2363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3">
            <a:extLst>
              <a:ext uri="{FF2B5EF4-FFF2-40B4-BE49-F238E27FC236}">
                <a16:creationId xmlns:a16="http://schemas.microsoft.com/office/drawing/2014/main" id="{9C9BD4AC-3A6A-4FE1-A719-F0D832952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404101"/>
            <a:ext cx="2200014" cy="197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E6732E42-F6E4-4E10-A20E-82A4BE9E8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16" y="1223168"/>
            <a:ext cx="3214687" cy="241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5899AD60-028E-47EE-844F-916EBA585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811" y="1248925"/>
            <a:ext cx="2857500" cy="236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17 Flecha abajo">
            <a:extLst>
              <a:ext uri="{FF2B5EF4-FFF2-40B4-BE49-F238E27FC236}">
                <a16:creationId xmlns:a16="http://schemas.microsoft.com/office/drawing/2014/main" id="{656E38FA-A37E-460A-AF17-E0C304C611BF}"/>
              </a:ext>
            </a:extLst>
          </p:cNvPr>
          <p:cNvSpPr/>
          <p:nvPr/>
        </p:nvSpPr>
        <p:spPr>
          <a:xfrm rot="16200000">
            <a:off x="4400922" y="1973262"/>
            <a:ext cx="322262" cy="965200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  <p:sp>
        <p:nvSpPr>
          <p:cNvPr id="11" name="18 CuadroTexto">
            <a:extLst>
              <a:ext uri="{FF2B5EF4-FFF2-40B4-BE49-F238E27FC236}">
                <a16:creationId xmlns:a16="http://schemas.microsoft.com/office/drawing/2014/main" id="{B82BDCE9-7A82-42E8-98CF-353D30A777C0}"/>
              </a:ext>
            </a:extLst>
          </p:cNvPr>
          <p:cNvSpPr txBox="1"/>
          <p:nvPr/>
        </p:nvSpPr>
        <p:spPr>
          <a:xfrm>
            <a:off x="611560" y="3789040"/>
            <a:ext cx="3214688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CO" sz="2000" b="1" dirty="0"/>
              <a:t>PROBLEMA</a:t>
            </a:r>
            <a:endParaRPr lang="es-ES" sz="2000" dirty="0"/>
          </a:p>
        </p:txBody>
      </p:sp>
      <p:sp>
        <p:nvSpPr>
          <p:cNvPr id="12" name="19 CuadroTexto">
            <a:extLst>
              <a:ext uri="{FF2B5EF4-FFF2-40B4-BE49-F238E27FC236}">
                <a16:creationId xmlns:a16="http://schemas.microsoft.com/office/drawing/2014/main" id="{BFFC459E-C4D6-4371-ADA9-FB0FF4281118}"/>
              </a:ext>
            </a:extLst>
          </p:cNvPr>
          <p:cNvSpPr txBox="1"/>
          <p:nvPr/>
        </p:nvSpPr>
        <p:spPr>
          <a:xfrm>
            <a:off x="5148064" y="3752849"/>
            <a:ext cx="3214687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CO" sz="2000" b="1" dirty="0"/>
              <a:t>ALGORITMO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8404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467543" y="207926"/>
            <a:ext cx="7939037" cy="986803"/>
          </a:xfrm>
        </p:spPr>
        <p:txBody>
          <a:bodyPr>
            <a:normAutofit/>
          </a:bodyPr>
          <a:lstStyle/>
          <a:p>
            <a:r>
              <a:rPr lang="es-CO" sz="4000" dirty="0"/>
              <a:t>Tipos de datos</a:t>
            </a:r>
          </a:p>
        </p:txBody>
      </p:sp>
      <p:sp>
        <p:nvSpPr>
          <p:cNvPr id="94" name="20 Rectángulo">
            <a:extLst>
              <a:ext uri="{FF2B5EF4-FFF2-40B4-BE49-F238E27FC236}">
                <a16:creationId xmlns:a16="http://schemas.microsoft.com/office/drawing/2014/main" id="{A096846F-3438-4C77-86FA-4FD6A23B76CE}"/>
              </a:ext>
            </a:extLst>
          </p:cNvPr>
          <p:cNvSpPr/>
          <p:nvPr/>
        </p:nvSpPr>
        <p:spPr>
          <a:xfrm>
            <a:off x="3986743" y="1584972"/>
            <a:ext cx="11705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Datos</a:t>
            </a:r>
            <a:endParaRPr lang="es-CO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95" name="22 Rectángulo">
            <a:extLst>
              <a:ext uri="{FF2B5EF4-FFF2-40B4-BE49-F238E27FC236}">
                <a16:creationId xmlns:a16="http://schemas.microsoft.com/office/drawing/2014/main" id="{CF4BF38B-9BAD-4CED-BA6E-95786B5EFBDC}"/>
              </a:ext>
            </a:extLst>
          </p:cNvPr>
          <p:cNvSpPr/>
          <p:nvPr/>
        </p:nvSpPr>
        <p:spPr>
          <a:xfrm>
            <a:off x="6387417" y="1237242"/>
            <a:ext cx="15953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Constantes</a:t>
            </a:r>
            <a:endParaRPr lang="es-CO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6" name="23 Rectángulo">
            <a:extLst>
              <a:ext uri="{FF2B5EF4-FFF2-40B4-BE49-F238E27FC236}">
                <a16:creationId xmlns:a16="http://schemas.microsoft.com/office/drawing/2014/main" id="{BB4C86C8-6506-4603-8188-AD8F171B99AF}"/>
              </a:ext>
            </a:extLst>
          </p:cNvPr>
          <p:cNvSpPr/>
          <p:nvPr/>
        </p:nvSpPr>
        <p:spPr>
          <a:xfrm>
            <a:off x="6449209" y="2115678"/>
            <a:ext cx="14542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Variables</a:t>
            </a:r>
            <a:endParaRPr lang="es-CO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7" name="20 Rectángulo">
            <a:extLst>
              <a:ext uri="{FF2B5EF4-FFF2-40B4-BE49-F238E27FC236}">
                <a16:creationId xmlns:a16="http://schemas.microsoft.com/office/drawing/2014/main" id="{5AC16F66-9801-4FA2-9DBA-51A815EBAF02}"/>
              </a:ext>
            </a:extLst>
          </p:cNvPr>
          <p:cNvSpPr/>
          <p:nvPr/>
        </p:nvSpPr>
        <p:spPr>
          <a:xfrm>
            <a:off x="1243544" y="3845800"/>
            <a:ext cx="14542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Numéricas</a:t>
            </a:r>
            <a:endParaRPr lang="es-CO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20 Rectángulo">
            <a:extLst>
              <a:ext uri="{FF2B5EF4-FFF2-40B4-BE49-F238E27FC236}">
                <a16:creationId xmlns:a16="http://schemas.microsoft.com/office/drawing/2014/main" id="{C0250611-66C4-4052-B011-A6555F313DC7}"/>
              </a:ext>
            </a:extLst>
          </p:cNvPr>
          <p:cNvSpPr/>
          <p:nvPr/>
        </p:nvSpPr>
        <p:spPr>
          <a:xfrm>
            <a:off x="3986743" y="3836922"/>
            <a:ext cx="11721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Lógicas</a:t>
            </a:r>
            <a:endParaRPr lang="es-CO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20 Rectángulo">
            <a:extLst>
              <a:ext uri="{FF2B5EF4-FFF2-40B4-BE49-F238E27FC236}">
                <a16:creationId xmlns:a16="http://schemas.microsoft.com/office/drawing/2014/main" id="{7FC2CFE3-EC8B-4DD6-BA08-6D8933CF2918}"/>
              </a:ext>
            </a:extLst>
          </p:cNvPr>
          <p:cNvSpPr/>
          <p:nvPr/>
        </p:nvSpPr>
        <p:spPr>
          <a:xfrm>
            <a:off x="5868144" y="3807767"/>
            <a:ext cx="20185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>
                <a:solidFill>
                  <a:schemeClr val="accent6"/>
                </a:solidFill>
                <a:latin typeface="Consolas" panose="020B0609020204030204" pitchFamily="49" charset="0"/>
              </a:rPr>
              <a:t>Alfanuméricas</a:t>
            </a:r>
            <a:endParaRPr lang="es-CO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100" name="20 Rectángulo">
            <a:extLst>
              <a:ext uri="{FF2B5EF4-FFF2-40B4-BE49-F238E27FC236}">
                <a16:creationId xmlns:a16="http://schemas.microsoft.com/office/drawing/2014/main" id="{550D1A5A-7AFE-4DB9-A612-FE0E19807FE6}"/>
              </a:ext>
            </a:extLst>
          </p:cNvPr>
          <p:cNvSpPr/>
          <p:nvPr/>
        </p:nvSpPr>
        <p:spPr>
          <a:xfrm>
            <a:off x="531903" y="5333146"/>
            <a:ext cx="11721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Enteros</a:t>
            </a:r>
            <a:endParaRPr lang="es-CO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101" name="20 Rectángulo">
            <a:extLst>
              <a:ext uri="{FF2B5EF4-FFF2-40B4-BE49-F238E27FC236}">
                <a16:creationId xmlns:a16="http://schemas.microsoft.com/office/drawing/2014/main" id="{DC67C832-060F-4D04-864C-598F346A110F}"/>
              </a:ext>
            </a:extLst>
          </p:cNvPr>
          <p:cNvSpPr/>
          <p:nvPr/>
        </p:nvSpPr>
        <p:spPr>
          <a:xfrm>
            <a:off x="2265213" y="5333146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Reales</a:t>
            </a:r>
            <a:endParaRPr lang="es-CO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20 Rectángulo">
            <a:extLst>
              <a:ext uri="{FF2B5EF4-FFF2-40B4-BE49-F238E27FC236}">
                <a16:creationId xmlns:a16="http://schemas.microsoft.com/office/drawing/2014/main" id="{FD1813BC-F91F-4E9B-B86A-F5E97A43CD3C}"/>
              </a:ext>
            </a:extLst>
          </p:cNvPr>
          <p:cNvSpPr/>
          <p:nvPr/>
        </p:nvSpPr>
        <p:spPr>
          <a:xfrm>
            <a:off x="3827434" y="5366663"/>
            <a:ext cx="14542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Booleanas</a:t>
            </a:r>
            <a:endParaRPr lang="es-CO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103" name="20 Rectángulo">
            <a:extLst>
              <a:ext uri="{FF2B5EF4-FFF2-40B4-BE49-F238E27FC236}">
                <a16:creationId xmlns:a16="http://schemas.microsoft.com/office/drawing/2014/main" id="{B79A8C91-AD90-4BE2-9CD0-156F025C81FE}"/>
              </a:ext>
            </a:extLst>
          </p:cNvPr>
          <p:cNvSpPr/>
          <p:nvPr/>
        </p:nvSpPr>
        <p:spPr>
          <a:xfrm>
            <a:off x="5394161" y="5355517"/>
            <a:ext cx="13131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>
                <a:solidFill>
                  <a:schemeClr val="accent6"/>
                </a:solidFill>
                <a:latin typeface="Consolas" panose="020B0609020204030204" pitchFamily="49" charset="0"/>
              </a:rPr>
              <a:t>Carácter</a:t>
            </a:r>
            <a:endParaRPr lang="es-CO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104" name="20 Rectángulo">
            <a:extLst>
              <a:ext uri="{FF2B5EF4-FFF2-40B4-BE49-F238E27FC236}">
                <a16:creationId xmlns:a16="http://schemas.microsoft.com/office/drawing/2014/main" id="{48EE939B-C224-4A41-A438-0D1A99A6450B}"/>
              </a:ext>
            </a:extLst>
          </p:cNvPr>
          <p:cNvSpPr/>
          <p:nvPr/>
        </p:nvSpPr>
        <p:spPr>
          <a:xfrm>
            <a:off x="7229632" y="5342243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>
                <a:solidFill>
                  <a:schemeClr val="accent6"/>
                </a:solidFill>
                <a:latin typeface="Consolas" panose="020B0609020204030204" pitchFamily="49" charset="0"/>
              </a:rPr>
              <a:t>Cadena</a:t>
            </a:r>
            <a:endParaRPr lang="es-CO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55D80EED-E1EE-479D-978F-FFF8D452A0BC}"/>
              </a:ext>
            </a:extLst>
          </p:cNvPr>
          <p:cNvGrpSpPr/>
          <p:nvPr/>
        </p:nvGrpSpPr>
        <p:grpSpPr>
          <a:xfrm>
            <a:off x="5143794" y="1423572"/>
            <a:ext cx="1192678" cy="894221"/>
            <a:chOff x="5239300" y="2038253"/>
            <a:chExt cx="1192678" cy="894221"/>
          </a:xfrm>
        </p:grpSpPr>
        <p:cxnSp>
          <p:nvCxnSpPr>
            <p:cNvPr id="106" name="28 Conector recto de flecha">
              <a:extLst>
                <a:ext uri="{FF2B5EF4-FFF2-40B4-BE49-F238E27FC236}">
                  <a16:creationId xmlns:a16="http://schemas.microsoft.com/office/drawing/2014/main" id="{75F29BFF-CB88-44AF-ABE9-273A05DA290F}"/>
                </a:ext>
              </a:extLst>
            </p:cNvPr>
            <p:cNvCxnSpPr>
              <a:cxnSpLocks/>
            </p:cNvCxnSpPr>
            <p:nvPr/>
          </p:nvCxnSpPr>
          <p:spPr>
            <a:xfrm>
              <a:off x="5643636" y="2038253"/>
              <a:ext cx="78834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28 Conector recto de flecha">
              <a:extLst>
                <a:ext uri="{FF2B5EF4-FFF2-40B4-BE49-F238E27FC236}">
                  <a16:creationId xmlns:a16="http://schemas.microsoft.com/office/drawing/2014/main" id="{F8FDBDD8-ECEE-458A-9BA6-7BB9C202C64B}"/>
                </a:ext>
              </a:extLst>
            </p:cNvPr>
            <p:cNvCxnSpPr>
              <a:cxnSpLocks/>
            </p:cNvCxnSpPr>
            <p:nvPr/>
          </p:nvCxnSpPr>
          <p:spPr>
            <a:xfrm>
              <a:off x="5640249" y="2932474"/>
              <a:ext cx="78834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ector recto 107">
              <a:extLst>
                <a:ext uri="{FF2B5EF4-FFF2-40B4-BE49-F238E27FC236}">
                  <a16:creationId xmlns:a16="http://schemas.microsoft.com/office/drawing/2014/main" id="{B57BED10-25BB-491B-8BE7-88D0486A7BE2}"/>
                </a:ext>
              </a:extLst>
            </p:cNvPr>
            <p:cNvCxnSpPr/>
            <p:nvPr/>
          </p:nvCxnSpPr>
          <p:spPr>
            <a:xfrm>
              <a:off x="5640249" y="2038253"/>
              <a:ext cx="0" cy="89216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ector recto 108">
              <a:extLst>
                <a:ext uri="{FF2B5EF4-FFF2-40B4-BE49-F238E27FC236}">
                  <a16:creationId xmlns:a16="http://schemas.microsoft.com/office/drawing/2014/main" id="{8274D273-2866-4ACD-B543-32018D6C0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9300" y="2484333"/>
              <a:ext cx="400949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1" name="28 Conector recto de flecha">
            <a:extLst>
              <a:ext uri="{FF2B5EF4-FFF2-40B4-BE49-F238E27FC236}">
                <a16:creationId xmlns:a16="http://schemas.microsoft.com/office/drawing/2014/main" id="{7C1434E0-B3EC-4146-9D10-23ECC667E60B}"/>
              </a:ext>
            </a:extLst>
          </p:cNvPr>
          <p:cNvCxnSpPr>
            <a:cxnSpLocks/>
            <a:stCxn id="94" idx="2"/>
            <a:endCxn id="98" idx="0"/>
          </p:cNvCxnSpPr>
          <p:nvPr/>
        </p:nvCxnSpPr>
        <p:spPr>
          <a:xfrm>
            <a:off x="4572000" y="2108192"/>
            <a:ext cx="801" cy="172873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28 Conector recto de flecha">
            <a:extLst>
              <a:ext uri="{FF2B5EF4-FFF2-40B4-BE49-F238E27FC236}">
                <a16:creationId xmlns:a16="http://schemas.microsoft.com/office/drawing/2014/main" id="{4C8C2859-8F4F-4321-A71C-E687047C4B5D}"/>
              </a:ext>
            </a:extLst>
          </p:cNvPr>
          <p:cNvCxnSpPr>
            <a:cxnSpLocks/>
            <a:endCxn id="97" idx="0"/>
          </p:cNvCxnSpPr>
          <p:nvPr/>
        </p:nvCxnSpPr>
        <p:spPr>
          <a:xfrm>
            <a:off x="1970666" y="3314924"/>
            <a:ext cx="0" cy="53087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28 Conector recto de flecha">
            <a:extLst>
              <a:ext uri="{FF2B5EF4-FFF2-40B4-BE49-F238E27FC236}">
                <a16:creationId xmlns:a16="http://schemas.microsoft.com/office/drawing/2014/main" id="{DC800D34-19F6-461F-9066-B8AB7B81AEC7}"/>
              </a:ext>
            </a:extLst>
          </p:cNvPr>
          <p:cNvCxnSpPr>
            <a:cxnSpLocks/>
            <a:endCxn id="99" idx="0"/>
          </p:cNvCxnSpPr>
          <p:nvPr/>
        </p:nvCxnSpPr>
        <p:spPr>
          <a:xfrm>
            <a:off x="6877050" y="3327400"/>
            <a:ext cx="345" cy="48036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73675F1C-1AC8-457C-9BAB-64583941FAEC}"/>
              </a:ext>
            </a:extLst>
          </p:cNvPr>
          <p:cNvCxnSpPr>
            <a:cxnSpLocks/>
          </p:cNvCxnSpPr>
          <p:nvPr/>
        </p:nvCxnSpPr>
        <p:spPr>
          <a:xfrm flipH="1" flipV="1">
            <a:off x="1965960" y="3323569"/>
            <a:ext cx="4913144" cy="36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28 Conector recto de flecha">
            <a:extLst>
              <a:ext uri="{FF2B5EF4-FFF2-40B4-BE49-F238E27FC236}">
                <a16:creationId xmlns:a16="http://schemas.microsoft.com/office/drawing/2014/main" id="{6D112693-1348-4D70-85C9-E7B1463232D0}"/>
              </a:ext>
            </a:extLst>
          </p:cNvPr>
          <p:cNvCxnSpPr>
            <a:cxnSpLocks/>
          </p:cNvCxnSpPr>
          <p:nvPr/>
        </p:nvCxnSpPr>
        <p:spPr>
          <a:xfrm flipH="1">
            <a:off x="4564380" y="4293096"/>
            <a:ext cx="5276" cy="1056195"/>
          </a:xfrm>
          <a:prstGeom prst="straightConnector1">
            <a:avLst/>
          </a:prstGeom>
          <a:ln w="28575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2B6E00DD-1FCC-4B2D-8933-2FE7A4BE2340}"/>
              </a:ext>
            </a:extLst>
          </p:cNvPr>
          <p:cNvGrpSpPr/>
          <p:nvPr/>
        </p:nvGrpSpPr>
        <p:grpSpPr>
          <a:xfrm>
            <a:off x="1117962" y="4296857"/>
            <a:ext cx="1687184" cy="1051529"/>
            <a:chOff x="1117962" y="4849084"/>
            <a:chExt cx="1687184" cy="1051529"/>
          </a:xfrm>
        </p:grpSpPr>
        <p:cxnSp>
          <p:nvCxnSpPr>
            <p:cNvPr id="117" name="28 Conector recto de flecha">
              <a:extLst>
                <a:ext uri="{FF2B5EF4-FFF2-40B4-BE49-F238E27FC236}">
                  <a16:creationId xmlns:a16="http://schemas.microsoft.com/office/drawing/2014/main" id="{816BC0DF-205A-4A52-9116-381BEFDB89EC}"/>
                </a:ext>
              </a:extLst>
            </p:cNvPr>
            <p:cNvCxnSpPr>
              <a:cxnSpLocks/>
            </p:cNvCxnSpPr>
            <p:nvPr/>
          </p:nvCxnSpPr>
          <p:spPr>
            <a:xfrm>
              <a:off x="2797526" y="5314357"/>
              <a:ext cx="0" cy="586256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28 Conector recto de flecha">
              <a:extLst>
                <a:ext uri="{FF2B5EF4-FFF2-40B4-BE49-F238E27FC236}">
                  <a16:creationId xmlns:a16="http://schemas.microsoft.com/office/drawing/2014/main" id="{27A81779-4944-4BD9-8DB2-CF8B7F38AC4F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01" y="5313522"/>
              <a:ext cx="0" cy="586256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ector recto 118">
              <a:extLst>
                <a:ext uri="{FF2B5EF4-FFF2-40B4-BE49-F238E27FC236}">
                  <a16:creationId xmlns:a16="http://schemas.microsoft.com/office/drawing/2014/main" id="{D10FB6E8-6AED-4DC4-9241-438151B8AE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962" y="5327343"/>
              <a:ext cx="1687184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ector recto 119">
              <a:extLst>
                <a:ext uri="{FF2B5EF4-FFF2-40B4-BE49-F238E27FC236}">
                  <a16:creationId xmlns:a16="http://schemas.microsoft.com/office/drawing/2014/main" id="{3A2932B2-F81A-4D31-8CAD-C6D28195D0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0666" y="4849084"/>
              <a:ext cx="0" cy="478259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Grupo 120">
            <a:extLst>
              <a:ext uri="{FF2B5EF4-FFF2-40B4-BE49-F238E27FC236}">
                <a16:creationId xmlns:a16="http://schemas.microsoft.com/office/drawing/2014/main" id="{140C5907-1B51-4CC6-82F1-B1145F55D9B4}"/>
              </a:ext>
            </a:extLst>
          </p:cNvPr>
          <p:cNvGrpSpPr/>
          <p:nvPr/>
        </p:nvGrpSpPr>
        <p:grpSpPr>
          <a:xfrm>
            <a:off x="6035512" y="4293096"/>
            <a:ext cx="1687184" cy="1051529"/>
            <a:chOff x="1117962" y="4849084"/>
            <a:chExt cx="1687184" cy="1051529"/>
          </a:xfrm>
        </p:grpSpPr>
        <p:cxnSp>
          <p:nvCxnSpPr>
            <p:cNvPr id="122" name="28 Conector recto de flecha">
              <a:extLst>
                <a:ext uri="{FF2B5EF4-FFF2-40B4-BE49-F238E27FC236}">
                  <a16:creationId xmlns:a16="http://schemas.microsoft.com/office/drawing/2014/main" id="{C1FF61F8-5752-40E2-8E31-A859EFE6EC96}"/>
                </a:ext>
              </a:extLst>
            </p:cNvPr>
            <p:cNvCxnSpPr>
              <a:cxnSpLocks/>
            </p:cNvCxnSpPr>
            <p:nvPr/>
          </p:nvCxnSpPr>
          <p:spPr>
            <a:xfrm>
              <a:off x="2797526" y="5314357"/>
              <a:ext cx="0" cy="586256"/>
            </a:xfrm>
            <a:prstGeom prst="straightConnector1">
              <a:avLst/>
            </a:prstGeom>
            <a:ln w="28575">
              <a:solidFill>
                <a:schemeClr val="accent6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28 Conector recto de flecha">
              <a:extLst>
                <a:ext uri="{FF2B5EF4-FFF2-40B4-BE49-F238E27FC236}">
                  <a16:creationId xmlns:a16="http://schemas.microsoft.com/office/drawing/2014/main" id="{F3B8BFC0-D335-4C86-8B6C-15431CABBA7C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01" y="5313522"/>
              <a:ext cx="0" cy="586256"/>
            </a:xfrm>
            <a:prstGeom prst="straightConnector1">
              <a:avLst/>
            </a:prstGeom>
            <a:ln w="28575">
              <a:solidFill>
                <a:schemeClr val="accent6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ector recto 123">
              <a:extLst>
                <a:ext uri="{FF2B5EF4-FFF2-40B4-BE49-F238E27FC236}">
                  <a16:creationId xmlns:a16="http://schemas.microsoft.com/office/drawing/2014/main" id="{9C9B65B4-F33E-4D3C-A802-516C670A1D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962" y="5327343"/>
              <a:ext cx="1687184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ector recto 124">
              <a:extLst>
                <a:ext uri="{FF2B5EF4-FFF2-40B4-BE49-F238E27FC236}">
                  <a16:creationId xmlns:a16="http://schemas.microsoft.com/office/drawing/2014/main" id="{8FF9C277-29D5-4A2A-A772-1D34923D70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0666" y="4849084"/>
              <a:ext cx="0" cy="478259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6159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467543" y="207926"/>
            <a:ext cx="7939037" cy="986803"/>
          </a:xfrm>
        </p:spPr>
        <p:txBody>
          <a:bodyPr/>
          <a:lstStyle/>
          <a:p>
            <a:r>
              <a:rPr lang="es-CO" sz="3200" dirty="0"/>
              <a:t>Entrada, procesamiento y salida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35471" y="1238602"/>
            <a:ext cx="7886700" cy="1729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200" dirty="0"/>
              <a:t>Los programas de computadora realizan estos tres pasos: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recibe la </a:t>
            </a:r>
            <a:r>
              <a:rPr lang="es-MX" sz="2000" b="1" dirty="0"/>
              <a:t>entrada</a:t>
            </a:r>
            <a:r>
              <a:rPr lang="es-MX" sz="2000" dirty="0"/>
              <a:t>.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realiza un </a:t>
            </a:r>
            <a:r>
              <a:rPr lang="es-MX" sz="2000" b="1" dirty="0"/>
              <a:t>proceso</a:t>
            </a:r>
            <a:r>
              <a:rPr lang="es-MX" sz="2000" dirty="0"/>
              <a:t> sobre la entrada.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genera la </a:t>
            </a:r>
            <a:r>
              <a:rPr lang="es-MX" sz="2000" b="1" dirty="0"/>
              <a:t>salida</a:t>
            </a:r>
            <a:endParaRPr lang="es-CO" sz="2000" b="1" dirty="0"/>
          </a:p>
        </p:txBody>
      </p:sp>
      <p:grpSp>
        <p:nvGrpSpPr>
          <p:cNvPr id="15" name="14 Grupo"/>
          <p:cNvGrpSpPr/>
          <p:nvPr/>
        </p:nvGrpSpPr>
        <p:grpSpPr>
          <a:xfrm>
            <a:off x="1589010" y="4102449"/>
            <a:ext cx="5715000" cy="838200"/>
            <a:chOff x="1676400" y="4495800"/>
            <a:chExt cx="5715000" cy="838200"/>
          </a:xfrm>
        </p:grpSpPr>
        <p:sp>
          <p:nvSpPr>
            <p:cNvPr id="10" name="9 Rectángulo"/>
            <p:cNvSpPr/>
            <p:nvPr/>
          </p:nvSpPr>
          <p:spPr>
            <a:xfrm>
              <a:off x="1676400" y="4648200"/>
              <a:ext cx="1447800" cy="5334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Inputs</a:t>
              </a:r>
              <a:endParaRPr lang="es-CO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10 Rectángulo"/>
            <p:cNvSpPr/>
            <p:nvPr/>
          </p:nvSpPr>
          <p:spPr>
            <a:xfrm>
              <a:off x="3810000" y="4495800"/>
              <a:ext cx="1447800" cy="838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400" b="1" dirty="0">
                  <a:latin typeface="Consolas" panose="020B0609020204030204" pitchFamily="49" charset="0"/>
                </a:rPr>
                <a:t>Process</a:t>
              </a:r>
              <a:endParaRPr lang="es-CO" b="1" dirty="0">
                <a:latin typeface="Consolas" panose="020B0609020204030204" pitchFamily="49" charset="0"/>
              </a:endParaRPr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5943600" y="4648200"/>
              <a:ext cx="1447800" cy="5334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Outputs</a:t>
              </a:r>
              <a:endParaRPr lang="es-CO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12 Flecha derecha"/>
            <p:cNvSpPr/>
            <p:nvPr/>
          </p:nvSpPr>
          <p:spPr>
            <a:xfrm>
              <a:off x="3124200" y="4800600"/>
              <a:ext cx="685800" cy="228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13 Flecha derecha"/>
            <p:cNvSpPr/>
            <p:nvPr/>
          </p:nvSpPr>
          <p:spPr>
            <a:xfrm>
              <a:off x="5257800" y="4800600"/>
              <a:ext cx="685800" cy="228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pic>
        <p:nvPicPr>
          <p:cNvPr id="16" name="Picture 2" descr="http://www.jegsworks.com/lessons/computerbasics/lesson3/keyboard-white.png">
            <a:extLst>
              <a:ext uri="{FF2B5EF4-FFF2-40B4-BE49-F238E27FC236}">
                <a16:creationId xmlns:a16="http://schemas.microsoft.com/office/drawing/2014/main" id="{CA5F3EB8-A827-4D08-B3D4-BC8885661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116" y="3256265"/>
            <a:ext cx="1365108" cy="43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://t2.gstatic.com/images?q=tbn:ANd9GcS51PGLkp34nPs-LewfkgAfjdZsyder21fNGFoRiZ_A6x7txo3e">
            <a:extLst>
              <a:ext uri="{FF2B5EF4-FFF2-40B4-BE49-F238E27FC236}">
                <a16:creationId xmlns:a16="http://schemas.microsoft.com/office/drawing/2014/main" id="{BB2AD59A-355A-4EC4-BD61-76D458710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382" y="3198200"/>
            <a:ext cx="841456" cy="690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Settings Icon, Gear Icon Vector, Gear Symbol Illustration. for Web Sites  Our Mobile. Stock Illustration - Illustration of business, wheel: 151065188">
            <a:extLst>
              <a:ext uri="{FF2B5EF4-FFF2-40B4-BE49-F238E27FC236}">
                <a16:creationId xmlns:a16="http://schemas.microsoft.com/office/drawing/2014/main" id="{AC519BCB-3AA9-4258-9707-83D241823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143" y="5159353"/>
            <a:ext cx="1007836" cy="100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52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5536" y="116632"/>
            <a:ext cx="8119814" cy="831626"/>
          </a:xfrm>
        </p:spPr>
        <p:txBody>
          <a:bodyPr>
            <a:normAutofit/>
          </a:bodyPr>
          <a:lstStyle/>
          <a:p>
            <a:r>
              <a:rPr lang="es-CO" sz="4000" dirty="0"/>
              <a:t>Tabla resumen</a:t>
            </a:r>
            <a:endParaRPr lang="en-US" sz="4000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1C890BBD-1444-4CB9-97D4-FDDC5F53D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16" y="980728"/>
            <a:ext cx="7993607" cy="6635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/>
              <a:t>La siguiente tabla muestra la representación equivalente de las piezas esenciales para construir código secuencial</a:t>
            </a:r>
            <a:endParaRPr lang="es-CO" sz="2000" dirty="0"/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1D2B5E36-52C4-42F4-8540-7CBD071455A5}"/>
              </a:ext>
            </a:extLst>
          </p:cNvPr>
          <p:cNvGraphicFramePr>
            <a:graphicFrameLocks noGrp="1"/>
          </p:cNvGraphicFramePr>
          <p:nvPr/>
        </p:nvGraphicFramePr>
        <p:xfrm>
          <a:off x="466826" y="1700808"/>
          <a:ext cx="7993606" cy="4211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7343">
                  <a:extLst>
                    <a:ext uri="{9D8B030D-6E8A-4147-A177-3AD203B41FA5}">
                      <a16:colId xmlns:a16="http://schemas.microsoft.com/office/drawing/2014/main" val="4002968547"/>
                    </a:ext>
                  </a:extLst>
                </a:gridCol>
                <a:gridCol w="2352911">
                  <a:extLst>
                    <a:ext uri="{9D8B030D-6E8A-4147-A177-3AD203B41FA5}">
                      <a16:colId xmlns:a16="http://schemas.microsoft.com/office/drawing/2014/main" val="2376140116"/>
                    </a:ext>
                  </a:extLst>
                </a:gridCol>
                <a:gridCol w="2061676">
                  <a:extLst>
                    <a:ext uri="{9D8B030D-6E8A-4147-A177-3AD203B41FA5}">
                      <a16:colId xmlns:a16="http://schemas.microsoft.com/office/drawing/2014/main" val="1317388859"/>
                    </a:ext>
                  </a:extLst>
                </a:gridCol>
                <a:gridCol w="2061676">
                  <a:extLst>
                    <a:ext uri="{9D8B030D-6E8A-4147-A177-3AD203B41FA5}">
                      <a16:colId xmlns:a16="http://schemas.microsoft.com/office/drawing/2014/main" val="1620986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Diagrama de bloques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Pseudocordigo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b="1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66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Entrada</a:t>
                      </a:r>
                    </a:p>
                    <a:p>
                      <a:pPr algn="ctr"/>
                      <a:endParaRPr lang="es-CO" dirty="0"/>
                    </a:p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Leer(v1,v2,…)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v1 = input(...)</a:t>
                      </a:r>
                    </a:p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v2 = input(...)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227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Salida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Escribir(v1,v2,…)</a:t>
                      </a:r>
                    </a:p>
                    <a:p>
                      <a:pPr algn="ctr"/>
                      <a:endParaRPr lang="es-CO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print(v1,v2,…)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61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Proceso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c = a + b</a:t>
                      </a:r>
                      <a:endParaRPr lang="es-CO" sz="1400" dirty="0"/>
                    </a:p>
                    <a:p>
                      <a:pPr algn="ctr"/>
                      <a:endParaRPr lang="es-CO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c = a +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1907500"/>
                  </a:ext>
                </a:extLst>
              </a:tr>
            </a:tbl>
          </a:graphicData>
        </a:graphic>
      </p:graphicFrame>
      <p:sp>
        <p:nvSpPr>
          <p:cNvPr id="10" name="Flowchart: Data 6">
            <a:extLst>
              <a:ext uri="{FF2B5EF4-FFF2-40B4-BE49-F238E27FC236}">
                <a16:creationId xmlns:a16="http://schemas.microsoft.com/office/drawing/2014/main" id="{0844C778-9DE1-449B-B09C-237271C11B8A}"/>
              </a:ext>
            </a:extLst>
          </p:cNvPr>
          <p:cNvSpPr/>
          <p:nvPr/>
        </p:nvSpPr>
        <p:spPr>
          <a:xfrm>
            <a:off x="2051722" y="2285936"/>
            <a:ext cx="2231500" cy="715198"/>
          </a:xfrm>
          <a:prstGeom prst="flowChartInputOutpu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Read v1,v2,…</a:t>
            </a:r>
          </a:p>
        </p:txBody>
      </p:sp>
      <p:sp>
        <p:nvSpPr>
          <p:cNvPr id="11" name="Flowchart: Data 6">
            <a:extLst>
              <a:ext uri="{FF2B5EF4-FFF2-40B4-BE49-F238E27FC236}">
                <a16:creationId xmlns:a16="http://schemas.microsoft.com/office/drawing/2014/main" id="{9C39F37A-2A39-47E1-86A7-FAE0C0329172}"/>
              </a:ext>
            </a:extLst>
          </p:cNvPr>
          <p:cNvSpPr/>
          <p:nvPr/>
        </p:nvSpPr>
        <p:spPr>
          <a:xfrm>
            <a:off x="2051722" y="3654088"/>
            <a:ext cx="2214917" cy="715198"/>
          </a:xfrm>
          <a:prstGeom prst="flowChartInputOutpu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Print v1,v2,…</a:t>
            </a:r>
          </a:p>
        </p:txBody>
      </p:sp>
      <p:sp>
        <p:nvSpPr>
          <p:cNvPr id="12" name="Flowchart: Process 7">
            <a:extLst>
              <a:ext uri="{FF2B5EF4-FFF2-40B4-BE49-F238E27FC236}">
                <a16:creationId xmlns:a16="http://schemas.microsoft.com/office/drawing/2014/main" id="{6B08FC8C-52EF-4BF1-96B3-3C24D434D6C2}"/>
              </a:ext>
            </a:extLst>
          </p:cNvPr>
          <p:cNvSpPr/>
          <p:nvPr/>
        </p:nvSpPr>
        <p:spPr>
          <a:xfrm>
            <a:off x="2461374" y="5019720"/>
            <a:ext cx="1395611" cy="609600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c </a:t>
            </a:r>
            <a:r>
              <a:rPr lang="en-US" sz="1200" dirty="0">
                <a:latin typeface="Consolas" panose="020B0609020204030204" pitchFamily="49" charset="0"/>
                <a:sym typeface="Wingdings" panose="05000000000000000000" pitchFamily="2" charset="2"/>
              </a:rPr>
              <a:t> a + b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</a:p>
        </p:txBody>
      </p:sp>
      <p:pic>
        <p:nvPicPr>
          <p:cNvPr id="8" name="Picture 2" descr="http://www.jegsworks.com/lessons/computerbasics/lesson3/keyboard-white.png">
            <a:extLst>
              <a:ext uri="{FF2B5EF4-FFF2-40B4-BE49-F238E27FC236}">
                <a16:creationId xmlns:a16="http://schemas.microsoft.com/office/drawing/2014/main" id="{D62F66DF-1E4D-4961-A500-E613E8978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10" y="2565896"/>
            <a:ext cx="1108159" cy="350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://t2.gstatic.com/images?q=tbn:ANd9GcS51PGLkp34nPs-LewfkgAfjdZsyder21fNGFoRiZ_A6x7txo3e">
            <a:extLst>
              <a:ext uri="{FF2B5EF4-FFF2-40B4-BE49-F238E27FC236}">
                <a16:creationId xmlns:a16="http://schemas.microsoft.com/office/drawing/2014/main" id="{1D582CE4-942A-4E2B-8410-CB4053B31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65" y="3741286"/>
            <a:ext cx="716248" cy="58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Settings Icon, Gear Icon Vector, Gear Symbol Illustration. for Web Sites  Our Mobile. Stock Illustration - Illustration of business, wheel: 151065188">
            <a:extLst>
              <a:ext uri="{FF2B5EF4-FFF2-40B4-BE49-F238E27FC236}">
                <a16:creationId xmlns:a16="http://schemas.microsoft.com/office/drawing/2014/main" id="{53F8DCC6-0D98-4EEC-91B9-C840D7489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65" y="5038329"/>
            <a:ext cx="728448" cy="72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Marcador de contenido 8">
            <a:extLst>
              <a:ext uri="{FF2B5EF4-FFF2-40B4-BE49-F238E27FC236}">
                <a16:creationId xmlns:a16="http://schemas.microsoft.com/office/drawing/2014/main" id="{A781356A-A35A-48D6-BC89-058C09E8F029}"/>
              </a:ext>
            </a:extLst>
          </p:cNvPr>
          <p:cNvSpPr txBox="1">
            <a:spLocks/>
          </p:cNvSpPr>
          <p:nvPr/>
        </p:nvSpPr>
        <p:spPr>
          <a:xfrm>
            <a:off x="394817" y="6072698"/>
            <a:ext cx="8281640" cy="59666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600" dirty="0"/>
              <a:t>En Python, 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input()</a:t>
            </a:r>
            <a:r>
              <a:rPr lang="es-MX" sz="1600" dirty="0"/>
              <a:t> siempre devuelve texto (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str</a:t>
            </a:r>
            <a:r>
              <a:rPr lang="es-MX" sz="1600" dirty="0"/>
              <a:t>); si el valor se va a usar en una operación numérica, debe convertirse con </a:t>
            </a:r>
            <a:r>
              <a:rPr lang="es-MX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s-MX" sz="1600" dirty="0"/>
              <a:t> o </a:t>
            </a:r>
            <a:r>
              <a:rPr lang="es-MX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float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s-MX" sz="1600" dirty="0"/>
              <a:t> (por ejemplo: 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v1 = </a:t>
            </a:r>
            <a:r>
              <a:rPr lang="es-MX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float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(input(...))</a:t>
            </a:r>
            <a:r>
              <a:rPr lang="es-MX" sz="1600" dirty="0"/>
              <a:t>).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144413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467543" y="207926"/>
            <a:ext cx="7939037" cy="986803"/>
          </a:xfrm>
        </p:spPr>
        <p:txBody>
          <a:bodyPr>
            <a:normAutofit/>
          </a:bodyPr>
          <a:lstStyle/>
          <a:p>
            <a:r>
              <a:rPr lang="es-CO" sz="4000" dirty="0"/>
              <a:t>Diseño de programas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67543" y="1194729"/>
            <a:ext cx="7886700" cy="3530415"/>
          </a:xfrm>
        </p:spPr>
        <p:txBody>
          <a:bodyPr>
            <a:normAutofit/>
          </a:bodyPr>
          <a:lstStyle/>
          <a:p>
            <a:r>
              <a:rPr lang="es-MX" sz="2200" dirty="0"/>
              <a:t>Los programas deben diseñarse cuidadosamente antes de ser escritos. Durante el proceso de diseño, los programadores utilizan herramientas como pseudocódigo y diagramas de flujo para crear modelos de los programas.</a:t>
            </a:r>
          </a:p>
          <a:p>
            <a:r>
              <a:rPr lang="es-MX" sz="2200" b="1" dirty="0"/>
              <a:t>El ciclo de desarrollo de un programa</a:t>
            </a:r>
            <a:r>
              <a:rPr lang="es-MX" sz="2200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MX" sz="2000" dirty="0"/>
              <a:t>Diseñar el programa  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MX" sz="2000" dirty="0"/>
              <a:t>Escribir el código  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MX" sz="2000" dirty="0"/>
              <a:t>Corregir errores de sintaxis  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MX" sz="2000" dirty="0"/>
              <a:t>Probar el programa  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MX" sz="2000" dirty="0"/>
              <a:t>Corregir errores de lógica </a:t>
            </a:r>
            <a:endParaRPr lang="es-CO" sz="2000" dirty="0"/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EF728DB1-F1C4-4655-B50D-CB75E7B5B005}"/>
              </a:ext>
            </a:extLst>
          </p:cNvPr>
          <p:cNvGrpSpPr/>
          <p:nvPr/>
        </p:nvGrpSpPr>
        <p:grpSpPr>
          <a:xfrm>
            <a:off x="784837" y="5243566"/>
            <a:ext cx="7304447" cy="839410"/>
            <a:chOff x="858501" y="5239359"/>
            <a:chExt cx="7304447" cy="839410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38E10274-8389-4071-9E34-CDB0D36DF010}"/>
                </a:ext>
              </a:extLst>
            </p:cNvPr>
            <p:cNvSpPr txBox="1"/>
            <p:nvPr/>
          </p:nvSpPr>
          <p:spPr>
            <a:xfrm>
              <a:off x="858501" y="5359755"/>
              <a:ext cx="1111041" cy="58477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/>
                <a:t>Diseñar el programa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4B91F96-F769-4FF0-96C3-5DADA0BDDC45}"/>
                </a:ext>
              </a:extLst>
            </p:cNvPr>
            <p:cNvSpPr txBox="1"/>
            <p:nvPr/>
          </p:nvSpPr>
          <p:spPr>
            <a:xfrm>
              <a:off x="2360082" y="5359755"/>
              <a:ext cx="1069952" cy="5847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/>
                <a:t>Escribir el código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BBC821E7-9E9B-482D-9F20-4158803603D8}"/>
                </a:ext>
              </a:extLst>
            </p:cNvPr>
            <p:cNvSpPr txBox="1"/>
            <p:nvPr/>
          </p:nvSpPr>
          <p:spPr>
            <a:xfrm>
              <a:off x="3820574" y="5239359"/>
              <a:ext cx="1148136" cy="83099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/>
                <a:t>Corregir errores de sintaxis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18460779-4C3F-44D2-8DE8-DAA6D622E60D}"/>
                </a:ext>
              </a:extLst>
            </p:cNvPr>
            <p:cNvSpPr txBox="1"/>
            <p:nvPr/>
          </p:nvSpPr>
          <p:spPr>
            <a:xfrm>
              <a:off x="5359250" y="5359755"/>
              <a:ext cx="1142676" cy="58477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/>
                <a:t>Probar el programa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ED2F98BD-FCD6-40E1-BED3-FA4935908392}"/>
                </a:ext>
              </a:extLst>
            </p:cNvPr>
            <p:cNvSpPr txBox="1"/>
            <p:nvPr/>
          </p:nvSpPr>
          <p:spPr>
            <a:xfrm>
              <a:off x="7020272" y="5247772"/>
              <a:ext cx="1142676" cy="83099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/>
                <a:t>Corregir errores de lógica</a:t>
              </a:r>
            </a:p>
          </p:txBody>
        </p: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CB607D4B-5242-43C6-8ED1-E5996D49A2A4}"/>
                </a:ext>
              </a:extLst>
            </p:cNvPr>
            <p:cNvCxnSpPr>
              <a:stCxn id="6" idx="3"/>
              <a:endCxn id="20" idx="1"/>
            </p:cNvCxnSpPr>
            <p:nvPr/>
          </p:nvCxnSpPr>
          <p:spPr>
            <a:xfrm>
              <a:off x="1969542" y="5652143"/>
              <a:ext cx="39054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194CB7FD-B91E-44F5-9A89-49A42C907AFE}"/>
                </a:ext>
              </a:extLst>
            </p:cNvPr>
            <p:cNvCxnSpPr>
              <a:cxnSpLocks/>
              <a:stCxn id="20" idx="3"/>
              <a:endCxn id="21" idx="1"/>
            </p:cNvCxnSpPr>
            <p:nvPr/>
          </p:nvCxnSpPr>
          <p:spPr>
            <a:xfrm>
              <a:off x="3430034" y="5652143"/>
              <a:ext cx="390540" cy="27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AF274584-7C30-45DB-8441-1EF230FF75D8}"/>
                </a:ext>
              </a:extLst>
            </p:cNvPr>
            <p:cNvCxnSpPr>
              <a:cxnSpLocks/>
              <a:stCxn id="21" idx="3"/>
              <a:endCxn id="22" idx="1"/>
            </p:cNvCxnSpPr>
            <p:nvPr/>
          </p:nvCxnSpPr>
          <p:spPr>
            <a:xfrm flipV="1">
              <a:off x="4968710" y="5652143"/>
              <a:ext cx="390540" cy="27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54BE1790-9A0F-4F22-8353-FB82A27D6234}"/>
                </a:ext>
              </a:extLst>
            </p:cNvPr>
            <p:cNvCxnSpPr>
              <a:cxnSpLocks/>
              <a:stCxn id="22" idx="3"/>
              <a:endCxn id="23" idx="1"/>
            </p:cNvCxnSpPr>
            <p:nvPr/>
          </p:nvCxnSpPr>
          <p:spPr>
            <a:xfrm>
              <a:off x="6501926" y="5652143"/>
              <a:ext cx="518346" cy="1112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: angular 32">
              <a:extLst>
                <a:ext uri="{FF2B5EF4-FFF2-40B4-BE49-F238E27FC236}">
                  <a16:creationId xmlns:a16="http://schemas.microsoft.com/office/drawing/2014/main" id="{02A0B1D9-D210-4CBC-9036-EABDB36FDDE8}"/>
                </a:ext>
              </a:extLst>
            </p:cNvPr>
            <p:cNvCxnSpPr>
              <a:cxnSpLocks/>
              <a:stCxn id="23" idx="3"/>
              <a:endCxn id="6" idx="1"/>
            </p:cNvCxnSpPr>
            <p:nvPr/>
          </p:nvCxnSpPr>
          <p:spPr>
            <a:xfrm flipH="1" flipV="1">
              <a:off x="858501" y="5652143"/>
              <a:ext cx="7304447" cy="11128"/>
            </a:xfrm>
            <a:prstGeom prst="bentConnector5">
              <a:avLst>
                <a:gd name="adj1" fmla="val -3130"/>
                <a:gd name="adj2" fmla="val -7222331"/>
                <a:gd name="adj3" fmla="val 10313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Imagen 36">
            <a:extLst>
              <a:ext uri="{FF2B5EF4-FFF2-40B4-BE49-F238E27FC236}">
                <a16:creationId xmlns:a16="http://schemas.microsoft.com/office/drawing/2014/main" id="{27947F90-AFF8-4348-BF05-96797BBCC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391" y="4865641"/>
            <a:ext cx="424133" cy="43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14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59840" y="188640"/>
            <a:ext cx="7886700" cy="1116540"/>
          </a:xfrm>
        </p:spPr>
        <p:txBody>
          <a:bodyPr>
            <a:normAutofit/>
          </a:bodyPr>
          <a:lstStyle/>
          <a:p>
            <a:r>
              <a:rPr lang="es-CO" sz="4000" dirty="0"/>
              <a:t>Codificación de algoritmos en Python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359840" y="1124744"/>
            <a:ext cx="8352605" cy="477101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200" b="1" dirty="0">
                <a:solidFill>
                  <a:srgbClr val="FF0000"/>
                </a:solidFill>
              </a:rPr>
              <a:t>Ejemplo</a:t>
            </a:r>
            <a:r>
              <a:rPr lang="es-CO" sz="2200" dirty="0">
                <a:solidFill>
                  <a:srgbClr val="FF0000"/>
                </a:solidFill>
              </a:rPr>
              <a:t>:</a:t>
            </a:r>
            <a:r>
              <a:rPr lang="es-CO" sz="2200" dirty="0"/>
              <a:t> </a:t>
            </a:r>
            <a:r>
              <a:rPr lang="es-MX" sz="2200" dirty="0"/>
              <a:t>Hacer un algoritmo que calcule el área de un circulo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C7EC286-1529-429A-96DF-A7244848F368}"/>
              </a:ext>
            </a:extLst>
          </p:cNvPr>
          <p:cNvSpPr txBox="1"/>
          <p:nvPr/>
        </p:nvSpPr>
        <p:spPr>
          <a:xfrm>
            <a:off x="467544" y="1772816"/>
            <a:ext cx="5287042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b="0" dirty="0">
                <a:effectLst/>
                <a:latin typeface="Consolas" panose="020B0609020204030204" pitchFamily="49" charset="0"/>
              </a:rPr>
              <a:t># Inicialización de variables</a:t>
            </a:r>
          </a:p>
          <a:p>
            <a:r>
              <a:rPr lang="es-CO" sz="1200" b="0" dirty="0">
                <a:effectLst/>
                <a:latin typeface="Consolas" panose="020B0609020204030204" pitchFamily="49" charset="0"/>
              </a:rPr>
              <a:t>PI = 3.14</a:t>
            </a:r>
          </a:p>
          <a:p>
            <a:br>
              <a:rPr lang="es-CO" sz="1200" b="0" dirty="0">
                <a:effectLst/>
                <a:latin typeface="Consolas" panose="020B0609020204030204" pitchFamily="49" charset="0"/>
              </a:rPr>
            </a:br>
            <a:r>
              <a:rPr lang="es-CO" sz="1200" b="0" dirty="0">
                <a:effectLst/>
                <a:latin typeface="Consolas" panose="020B0609020204030204" pitchFamily="49" charset="0"/>
              </a:rPr>
              <a:t># Entrada de datos</a:t>
            </a:r>
          </a:p>
          <a:p>
            <a:r>
              <a:rPr lang="es-CO" sz="1200" b="0" dirty="0">
                <a:effectLst/>
                <a:latin typeface="Consolas" panose="020B0609020204030204" pitchFamily="49" charset="0"/>
              </a:rPr>
              <a:t>radio =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float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(input("Ingrese el radio del círculo: "))</a:t>
            </a:r>
          </a:p>
          <a:p>
            <a:br>
              <a:rPr lang="es-CO" sz="1200" b="0" dirty="0">
                <a:effectLst/>
                <a:latin typeface="Consolas" panose="020B0609020204030204" pitchFamily="49" charset="0"/>
              </a:rPr>
            </a:br>
            <a:r>
              <a:rPr lang="es-CO" sz="1200" b="0" dirty="0">
                <a:effectLst/>
                <a:latin typeface="Consolas" panose="020B0609020204030204" pitchFamily="49" charset="0"/>
              </a:rPr>
              <a:t># Calculo del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area</a:t>
            </a:r>
            <a:endParaRPr lang="es-CO" sz="1200" b="0" dirty="0">
              <a:effectLst/>
              <a:latin typeface="Consolas" panose="020B0609020204030204" pitchFamily="49" charset="0"/>
            </a:endParaRPr>
          </a:p>
          <a:p>
            <a:r>
              <a:rPr lang="es-CO" sz="1200" b="0" dirty="0" err="1">
                <a:effectLst/>
                <a:latin typeface="Consolas" panose="020B0609020204030204" pitchFamily="49" charset="0"/>
              </a:rPr>
              <a:t>area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 = PI * radio ** 2</a:t>
            </a:r>
          </a:p>
          <a:p>
            <a:br>
              <a:rPr lang="es-CO" sz="1200" b="0" dirty="0">
                <a:effectLst/>
                <a:latin typeface="Consolas" panose="020B0609020204030204" pitchFamily="49" charset="0"/>
              </a:rPr>
            </a:br>
            <a:r>
              <a:rPr lang="es-CO" sz="1200" b="0" dirty="0">
                <a:effectLst/>
                <a:latin typeface="Consolas" panose="020B0609020204030204" pitchFamily="49" charset="0"/>
              </a:rPr>
              <a:t>#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Despligue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 del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area</a:t>
            </a:r>
            <a:endParaRPr lang="es-CO" sz="1200" b="0" dirty="0">
              <a:effectLst/>
              <a:latin typeface="Consolas" panose="020B0609020204030204" pitchFamily="49" charset="0"/>
            </a:endParaRPr>
          </a:p>
          <a:p>
            <a:r>
              <a:rPr lang="es-CO" sz="1200" b="0" dirty="0">
                <a:effectLst/>
                <a:latin typeface="Consolas" panose="020B0609020204030204" pitchFamily="49" charset="0"/>
              </a:rPr>
              <a:t>print(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f"El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area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 del círculo de radio {radio} es: {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area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}")</a:t>
            </a:r>
          </a:p>
        </p:txBody>
      </p:sp>
      <p:graphicFrame>
        <p:nvGraphicFramePr>
          <p:cNvPr id="18" name="Tabla 5">
            <a:extLst>
              <a:ext uri="{FF2B5EF4-FFF2-40B4-BE49-F238E27FC236}">
                <a16:creationId xmlns:a16="http://schemas.microsoft.com/office/drawing/2014/main" id="{4F88E115-89BB-4FAA-AADC-9A1384013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546523"/>
              </p:ext>
            </p:extLst>
          </p:nvPr>
        </p:nvGraphicFramePr>
        <p:xfrm>
          <a:off x="467544" y="4465841"/>
          <a:ext cx="2448858" cy="1219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08698">
                  <a:extLst>
                    <a:ext uri="{9D8B030D-6E8A-4147-A177-3AD203B41FA5}">
                      <a16:colId xmlns:a16="http://schemas.microsoft.com/office/drawing/2014/main" val="101718729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468495707"/>
                    </a:ext>
                  </a:extLst>
                </a:gridCol>
              </a:tblGrid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+mn-lt"/>
                        </a:rPr>
                        <a:t>Entradas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Salidas</a:t>
                      </a:r>
                      <a:endParaRPr lang="es-CO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68271"/>
                  </a:ext>
                </a:extLst>
              </a:tr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radio</a:t>
                      </a:r>
                      <a:endParaRPr lang="es-CO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area</a:t>
                      </a:r>
                      <a:endParaRPr lang="es-CO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789806"/>
                  </a:ext>
                </a:extLst>
              </a:tr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400" strike="noStrike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314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237131"/>
                  </a:ext>
                </a:extLst>
              </a:tr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400" strike="noStrike" dirty="0"/>
                        <a:t>2.6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21.226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889482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C3AF9C73-1CC7-4CC1-8832-1B2E89EBC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4123653"/>
            <a:ext cx="5044704" cy="254570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EEBE094-7C5B-4A22-AA27-17C629AEE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935" y="2636912"/>
            <a:ext cx="424133" cy="434123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ECE89B1A-3987-40A4-A405-09AE065DADD3}"/>
              </a:ext>
            </a:extLst>
          </p:cNvPr>
          <p:cNvSpPr txBox="1"/>
          <p:nvPr/>
        </p:nvSpPr>
        <p:spPr>
          <a:xfrm>
            <a:off x="2715021" y="3888613"/>
            <a:ext cx="7920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dirty="0">
                <a:hlinkClick r:id="rId4"/>
              </a:rPr>
              <a:t>link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600398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85700" y="232736"/>
            <a:ext cx="7886700" cy="675984"/>
          </a:xfrm>
        </p:spPr>
        <p:txBody>
          <a:bodyPr>
            <a:normAutofit/>
          </a:bodyPr>
          <a:lstStyle/>
          <a:p>
            <a:r>
              <a:rPr lang="es-CO" sz="4000" dirty="0"/>
              <a:t>Operadores aritméticos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227955" y="1024824"/>
            <a:ext cx="8448501" cy="6759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sz="2200" dirty="0"/>
              <a:t>Los operadores aritméticos toman los valores numéricos como sus operandos y devuelve un solo valor numérico. </a:t>
            </a:r>
          </a:p>
        </p:txBody>
      </p:sp>
      <p:graphicFrame>
        <p:nvGraphicFramePr>
          <p:cNvPr id="22" name="21 Tabla"/>
          <p:cNvGraphicFramePr>
            <a:graphicFrameLocks noGrp="1"/>
          </p:cNvGraphicFramePr>
          <p:nvPr/>
        </p:nvGraphicFramePr>
        <p:xfrm>
          <a:off x="738100" y="2137161"/>
          <a:ext cx="7667799" cy="29921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0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1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6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Operador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Nombre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Ejemplo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Resultado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Suma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+ 3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Resta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7 –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Multiplicación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3*5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División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8/5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1.6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//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División entera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8//3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Modulo</a:t>
                      </a:r>
                      <a:r>
                        <a:rPr lang="es-CO" sz="1800" baseline="0" dirty="0"/>
                        <a:t> (Residuo)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15%7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** ó ^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Potencia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2**3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654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07504" y="227698"/>
            <a:ext cx="7886700" cy="648488"/>
          </a:xfrm>
        </p:spPr>
        <p:txBody>
          <a:bodyPr>
            <a:normAutofit/>
          </a:bodyPr>
          <a:lstStyle/>
          <a:p>
            <a:r>
              <a:rPr lang="es-CO" sz="4000" dirty="0"/>
              <a:t>Operadores relacionales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107504" y="941130"/>
            <a:ext cx="8229600" cy="6484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sz="2200" dirty="0"/>
              <a:t>Un operador relacional compara sus operandos y devuelve un valor lógico (booleano) basado en si la comparación es verdad o no. </a:t>
            </a:r>
          </a:p>
        </p:txBody>
      </p:sp>
      <p:graphicFrame>
        <p:nvGraphicFramePr>
          <p:cNvPr id="22" name="21 Tabla"/>
          <p:cNvGraphicFramePr>
            <a:graphicFrameLocks noGrp="1"/>
          </p:cNvGraphicFramePr>
          <p:nvPr/>
        </p:nvGraphicFramePr>
        <p:xfrm>
          <a:off x="539552" y="1948912"/>
          <a:ext cx="7667799" cy="2621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0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1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6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Operador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Nombre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Ejemplo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Resultado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Mayor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1 &gt; 3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&gt;=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Mayor</a:t>
                      </a:r>
                      <a:r>
                        <a:rPr lang="es-CO" sz="1600" baseline="0" dirty="0"/>
                        <a:t> o igual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 &gt;= 1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&lt;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Menor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-5 &lt; 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&lt;=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Menor</a:t>
                      </a:r>
                      <a:r>
                        <a:rPr lang="es-CO" sz="1600" baseline="0" dirty="0"/>
                        <a:t> o igual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3 &lt;=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!=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Diferente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13</a:t>
                      </a:r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 != 4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==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Igual</a:t>
                      </a:r>
                      <a:r>
                        <a:rPr lang="es-CO" sz="1600" baseline="0" dirty="0"/>
                        <a:t> (Comparación)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0 ==</a:t>
                      </a:r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 1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5116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29224" y="222206"/>
            <a:ext cx="7886700" cy="704893"/>
          </a:xfrm>
        </p:spPr>
        <p:txBody>
          <a:bodyPr>
            <a:normAutofit/>
          </a:bodyPr>
          <a:lstStyle/>
          <a:p>
            <a:r>
              <a:rPr lang="es-CO" sz="4000" dirty="0"/>
              <a:t>Operadores lógicos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256110" y="1008352"/>
            <a:ext cx="8517632" cy="1370989"/>
          </a:xfrm>
        </p:spPr>
        <p:txBody>
          <a:bodyPr>
            <a:noAutofit/>
          </a:bodyPr>
          <a:lstStyle/>
          <a:p>
            <a:r>
              <a:rPr lang="es-CO" sz="2200" dirty="0"/>
              <a:t>Un operador lógico toma dos operandos lógicos cada uno de los cuales es un valor true (V) o false (F) y devuelve un valor true (V) o false (F).</a:t>
            </a:r>
          </a:p>
          <a:p>
            <a:r>
              <a:rPr lang="es-CO" sz="2200" dirty="0"/>
              <a:t>Un operador lógico se utiliza para combinar múltiples comparaciones en una expresión condicional. </a:t>
            </a:r>
          </a:p>
          <a:p>
            <a:endParaRPr lang="es-CO" sz="2200" dirty="0"/>
          </a:p>
        </p:txBody>
      </p:sp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021194"/>
              </p:ext>
            </p:extLst>
          </p:nvPr>
        </p:nvGraphicFramePr>
        <p:xfrm>
          <a:off x="559949" y="3140968"/>
          <a:ext cx="1584176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x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not(x)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90913"/>
              </p:ext>
            </p:extLst>
          </p:nvPr>
        </p:nvGraphicFramePr>
        <p:xfrm>
          <a:off x="2915816" y="3140968"/>
          <a:ext cx="2376263" cy="1818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89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x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y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x and</a:t>
                      </a:r>
                      <a:r>
                        <a:rPr lang="es-CO" sz="1600" baseline="0" dirty="0"/>
                        <a:t> y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1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29744"/>
              </p:ext>
            </p:extLst>
          </p:nvPr>
        </p:nvGraphicFramePr>
        <p:xfrm>
          <a:off x="5897402" y="3140146"/>
          <a:ext cx="2376263" cy="180320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89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68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x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y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x or</a:t>
                      </a:r>
                      <a:r>
                        <a:rPr lang="es-CO" sz="1600" baseline="0" dirty="0"/>
                        <a:t> y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882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8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8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8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5 Rectángulo"/>
          <p:cNvSpPr/>
          <p:nvPr/>
        </p:nvSpPr>
        <p:spPr>
          <a:xfrm>
            <a:off x="1098685" y="2732504"/>
            <a:ext cx="5004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600" b="1" dirty="0" err="1">
                <a:latin typeface="Century Gothic" panose="020B0502020202020204" pitchFamily="34" charset="0"/>
              </a:rPr>
              <a:t>not</a:t>
            </a:r>
            <a:endParaRPr lang="es-CO" sz="1600" b="1" dirty="0">
              <a:latin typeface="Century Gothic" panose="020B0502020202020204" pitchFamily="34" charset="0"/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805628" y="2736076"/>
            <a:ext cx="5966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600" b="1" dirty="0">
                <a:latin typeface="Century Gothic" panose="020B0502020202020204" pitchFamily="34" charset="0"/>
              </a:rPr>
              <a:t>and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6873777" y="2736076"/>
            <a:ext cx="3818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600" b="1" dirty="0" err="1">
                <a:latin typeface="Century Gothic" panose="020B0502020202020204" pitchFamily="34" charset="0"/>
              </a:rPr>
              <a:t>or</a:t>
            </a:r>
            <a:endParaRPr lang="es-CO" sz="1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781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03518" y="116632"/>
            <a:ext cx="8229600" cy="809827"/>
          </a:xfrm>
        </p:spPr>
        <p:txBody>
          <a:bodyPr>
            <a:normAutofit/>
          </a:bodyPr>
          <a:lstStyle/>
          <a:p>
            <a:r>
              <a:rPr lang="es-CO" sz="4000" dirty="0"/>
              <a:t>Reglas de prioridad y asociatividad</a:t>
            </a:r>
          </a:p>
        </p:txBody>
      </p:sp>
      <p:sp>
        <p:nvSpPr>
          <p:cNvPr id="7" name="6 Marcador de contenido"/>
          <p:cNvSpPr>
            <a:spLocks noGrp="1"/>
          </p:cNvSpPr>
          <p:nvPr>
            <p:ph idx="1"/>
          </p:nvPr>
        </p:nvSpPr>
        <p:spPr>
          <a:xfrm>
            <a:off x="171448" y="908720"/>
            <a:ext cx="8769033" cy="6480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sz="2200" dirty="0"/>
              <a:t>Cuando concurren en una misma expresión diferentes tipos de operadores se llevan a cabo las reglas de prioridad y asociatividad.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6" name="5 Tabla">
            <a:extLst>
              <a:ext uri="{FF2B5EF4-FFF2-40B4-BE49-F238E27FC236}">
                <a16:creationId xmlns:a16="http://schemas.microsoft.com/office/drawing/2014/main" id="{9086FDFB-1C8F-49DD-87EB-7FFAA909FF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716689"/>
              </p:ext>
            </p:extLst>
          </p:nvPr>
        </p:nvGraphicFramePr>
        <p:xfrm>
          <a:off x="368333" y="1700808"/>
          <a:ext cx="8407333" cy="37338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70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7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Prioridad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Operadores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Asociatividad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1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()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Adentro</a:t>
                      </a:r>
                      <a:r>
                        <a:rPr lang="es-CO" sz="1800" baseline="0" dirty="0"/>
                        <a:t> </a:t>
                      </a:r>
                      <a:r>
                        <a:rPr lang="es-CO" sz="1800" baseline="0" dirty="0">
                          <a:sym typeface="Wingdings" panose="05000000000000000000" pitchFamily="2" charset="2"/>
                        </a:rPr>
                        <a:t> Afuera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**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D </a:t>
                      </a:r>
                      <a:r>
                        <a:rPr lang="es-CO" sz="16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+ (unitario), - (unitario)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D </a:t>
                      </a:r>
                      <a:r>
                        <a:rPr lang="es-CO" sz="16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*,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/, //, %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D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+, - (binarios)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D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&gt;, &gt;=, &lt;, &lt;=, !=, ==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D (encadenados)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not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D </a:t>
                      </a:r>
                      <a:r>
                        <a:rPr lang="es-CO" sz="16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I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170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D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D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086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53303" y="224190"/>
            <a:ext cx="7886700" cy="722986"/>
          </a:xfrm>
        </p:spPr>
        <p:txBody>
          <a:bodyPr>
            <a:normAutofit/>
          </a:bodyPr>
          <a:lstStyle/>
          <a:p>
            <a:r>
              <a:rPr lang="es-CO" sz="4000" dirty="0"/>
              <a:t>Prueba de Escritorio</a:t>
            </a:r>
          </a:p>
        </p:txBody>
      </p:sp>
      <p:sp>
        <p:nvSpPr>
          <p:cNvPr id="4" name="3 Rectángulo"/>
          <p:cNvSpPr/>
          <p:nvPr/>
        </p:nvSpPr>
        <p:spPr>
          <a:xfrm>
            <a:off x="5693269" y="4509120"/>
            <a:ext cx="3271219" cy="244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000" dirty="0"/>
              <a:t>Fuente: </a:t>
            </a:r>
            <a:r>
              <a:rPr lang="es-CO" sz="1000" dirty="0">
                <a:hlinkClick r:id="rId2"/>
              </a:rPr>
              <a:t>https://www.youtube.com/watch?v=7MAeSbiLRPo</a:t>
            </a:r>
            <a:r>
              <a:rPr lang="es-CO" sz="1000" dirty="0"/>
              <a:t>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1" y="2668264"/>
            <a:ext cx="2803541" cy="1825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http://www.dreamincode.net/forums/uploads/monthly_12_2011/post-573105-13230370299459.jpg">
            <a:extLst>
              <a:ext uri="{FF2B5EF4-FFF2-40B4-BE49-F238E27FC236}">
                <a16:creationId xmlns:a16="http://schemas.microsoft.com/office/drawing/2014/main" id="{CD955118-C44D-4902-99E3-1FD9A07E8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77" y="1124744"/>
            <a:ext cx="5363135" cy="463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38127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997" y="260648"/>
            <a:ext cx="7886700" cy="720080"/>
          </a:xfrm>
        </p:spPr>
        <p:txBody>
          <a:bodyPr>
            <a:normAutofit/>
          </a:bodyPr>
          <a:lstStyle/>
          <a:p>
            <a:r>
              <a:rPr lang="es-CO" sz="4000" dirty="0"/>
              <a:t>Prueba de Escritorio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52736"/>
            <a:ext cx="2408177" cy="519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FFCC8AA-B74C-4A36-B3E9-CFE5FAA9D4FC}"/>
              </a:ext>
            </a:extLst>
          </p:cNvPr>
          <p:cNvSpPr txBox="1"/>
          <p:nvPr/>
        </p:nvSpPr>
        <p:spPr>
          <a:xfrm>
            <a:off x="2483768" y="980728"/>
            <a:ext cx="64622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/>
              <a:t>Ejemplo:</a:t>
            </a:r>
          </a:p>
          <a:p>
            <a:pPr indent="-57150"/>
            <a:r>
              <a:rPr lang="es-CO" sz="2000" dirty="0"/>
              <a:t>Dado el diagrama de flujo de la figura, hacer la prueba de escritorio y a partir de esta determinar los valores finales de las variables y la salida en pantalla. Suponga que los valores ingresados por el usuario son </a:t>
            </a:r>
            <a:r>
              <a:rPr lang="es-CO" dirty="0">
                <a:latin typeface="Consolas" panose="020B0609020204030204" pitchFamily="49" charset="0"/>
              </a:rPr>
              <a:t>x = 10</a:t>
            </a:r>
            <a:r>
              <a:rPr lang="es-CO" sz="2000" dirty="0"/>
              <a:t>, </a:t>
            </a:r>
            <a:r>
              <a:rPr lang="es-CO" dirty="0">
                <a:latin typeface="Consolas" panose="020B0609020204030204" pitchFamily="49" charset="0"/>
              </a:rPr>
              <a:t>y = 5</a:t>
            </a:r>
            <a:r>
              <a:rPr lang="es-CO" sz="2000" dirty="0"/>
              <a:t> y </a:t>
            </a:r>
            <a:r>
              <a:rPr lang="es-CO" dirty="0">
                <a:latin typeface="Consolas" panose="020B0609020204030204" pitchFamily="49" charset="0"/>
              </a:rPr>
              <a:t>z = 4</a:t>
            </a:r>
            <a:r>
              <a:rPr lang="es-CO" sz="2000" dirty="0"/>
              <a:t>.</a:t>
            </a:r>
          </a:p>
          <a:p>
            <a:pPr indent="-57150"/>
            <a:endParaRPr lang="es-CO" sz="2000" dirty="0"/>
          </a:p>
          <a:p>
            <a:pPr indent="-57150"/>
            <a:r>
              <a:rPr lang="es-CO" sz="2000" b="1" dirty="0"/>
              <a:t>Variables:</a:t>
            </a:r>
            <a:r>
              <a:rPr lang="es-CO" sz="2000" dirty="0"/>
              <a:t> </a:t>
            </a:r>
            <a:r>
              <a:rPr lang="es-CO" dirty="0">
                <a:latin typeface="Consolas" panose="020B0609020204030204" pitchFamily="49" charset="0"/>
              </a:rPr>
              <a:t>x</a:t>
            </a:r>
            <a:r>
              <a:rPr lang="es-CO" sz="2000" dirty="0"/>
              <a:t>, </a:t>
            </a:r>
            <a:r>
              <a:rPr lang="es-CO" dirty="0">
                <a:latin typeface="Consolas" panose="020B0609020204030204" pitchFamily="49" charset="0"/>
              </a:rPr>
              <a:t>y</a:t>
            </a:r>
            <a:r>
              <a:rPr lang="es-CO" sz="2000" dirty="0"/>
              <a:t>, </a:t>
            </a:r>
            <a:r>
              <a:rPr lang="es-CO" dirty="0">
                <a:latin typeface="Consolas" panose="020B0609020204030204" pitchFamily="49" charset="0"/>
              </a:rPr>
              <a:t>z</a:t>
            </a:r>
            <a:endParaRPr lang="es-CO" sz="2000" dirty="0">
              <a:latin typeface="Consolas" panose="020B0609020204030204" pitchFamily="49" charset="0"/>
            </a:endParaRPr>
          </a:p>
          <a:p>
            <a:pPr indent="-57150"/>
            <a:endParaRPr lang="es-CO" sz="2000" dirty="0"/>
          </a:p>
          <a:p>
            <a:pPr indent="-57150"/>
            <a:r>
              <a:rPr lang="es-CO" sz="2000" b="1" dirty="0"/>
              <a:t>Tabla para la prueba de escritorio:</a:t>
            </a:r>
            <a:endParaRPr lang="es-CO" sz="2000" dirty="0"/>
          </a:p>
        </p:txBody>
      </p:sp>
      <p:graphicFrame>
        <p:nvGraphicFramePr>
          <p:cNvPr id="10" name="6 Tabla">
            <a:extLst>
              <a:ext uri="{FF2B5EF4-FFF2-40B4-BE49-F238E27FC236}">
                <a16:creationId xmlns:a16="http://schemas.microsoft.com/office/drawing/2014/main" id="{042C4704-B8E7-4BE5-AFD3-E0DEA5F8A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827475"/>
              </p:ext>
            </p:extLst>
          </p:nvPr>
        </p:nvGraphicFramePr>
        <p:xfrm>
          <a:off x="3851920" y="3957672"/>
          <a:ext cx="3456384" cy="101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s-CO" sz="18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sz="18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sz="18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41 Tabla">
            <a:extLst>
              <a:ext uri="{FF2B5EF4-FFF2-40B4-BE49-F238E27FC236}">
                <a16:creationId xmlns:a16="http://schemas.microsoft.com/office/drawing/2014/main" id="{24A1697D-8FE7-42E1-B3BC-06C5DD0ED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772678"/>
              </p:ext>
            </p:extLst>
          </p:nvPr>
        </p:nvGraphicFramePr>
        <p:xfrm>
          <a:off x="2810092" y="5257120"/>
          <a:ext cx="2952328" cy="1442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Variable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Valor</a:t>
                      </a:r>
                      <a:r>
                        <a:rPr lang="es-CO" sz="1800" b="1" baseline="0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 final</a:t>
                      </a:r>
                      <a:endParaRPr lang="es-CO" sz="1800" b="1" dirty="0">
                        <a:solidFill>
                          <a:schemeClr val="bg1"/>
                        </a:solidFill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316.26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296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" name="Grupo 6">
            <a:extLst>
              <a:ext uri="{FF2B5EF4-FFF2-40B4-BE49-F238E27FC236}">
                <a16:creationId xmlns:a16="http://schemas.microsoft.com/office/drawing/2014/main" id="{9B5DFDE6-19C1-451B-9D48-FE6036F496A3}"/>
              </a:ext>
            </a:extLst>
          </p:cNvPr>
          <p:cNvGrpSpPr/>
          <p:nvPr/>
        </p:nvGrpSpPr>
        <p:grpSpPr>
          <a:xfrm>
            <a:off x="6516218" y="5268092"/>
            <a:ext cx="1703166" cy="1401268"/>
            <a:chOff x="3815498" y="5154272"/>
            <a:chExt cx="1703166" cy="1401268"/>
          </a:xfrm>
        </p:grpSpPr>
        <p:pic>
          <p:nvPicPr>
            <p:cNvPr id="9" name="Picture 4" descr="http://thyroidtx.com/wp-content/uploads/2012/09/computer-monitor-blank-md.png">
              <a:extLst>
                <a:ext uri="{FF2B5EF4-FFF2-40B4-BE49-F238E27FC236}">
                  <a16:creationId xmlns:a16="http://schemas.microsoft.com/office/drawing/2014/main" id="{93370FE4-A7B9-4ACC-96AC-85260B5BB0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5498" y="5154272"/>
              <a:ext cx="1703166" cy="14012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44 Rectángulo">
              <a:extLst>
                <a:ext uri="{FF2B5EF4-FFF2-40B4-BE49-F238E27FC236}">
                  <a16:creationId xmlns:a16="http://schemas.microsoft.com/office/drawing/2014/main" id="{BDF298C7-F652-4DF0-8D16-2F767636366D}"/>
                </a:ext>
              </a:extLst>
            </p:cNvPr>
            <p:cNvSpPr/>
            <p:nvPr/>
          </p:nvSpPr>
          <p:spPr>
            <a:xfrm>
              <a:off x="3929209" y="5593296"/>
              <a:ext cx="149271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CO" sz="11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316.26, 7.5, 17.5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955114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7908" y="296227"/>
            <a:ext cx="8463272" cy="646787"/>
          </a:xfrm>
        </p:spPr>
        <p:txBody>
          <a:bodyPr>
            <a:normAutofit fontScale="90000"/>
          </a:bodyPr>
          <a:lstStyle/>
          <a:p>
            <a:r>
              <a:rPr lang="es-CO" dirty="0"/>
              <a:t>Prueba de Escritorio</a:t>
            </a:r>
          </a:p>
        </p:txBody>
      </p:sp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481305"/>
              </p:ext>
            </p:extLst>
          </p:nvPr>
        </p:nvGraphicFramePr>
        <p:xfrm>
          <a:off x="5724129" y="1403244"/>
          <a:ext cx="2736303" cy="1409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0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?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strike="noStrike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strike="noStrike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0" strike="noStrike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strike="noStrike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strike="noStrike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316.26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17.5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8 Rectángulo"/>
          <p:cNvSpPr/>
          <p:nvPr/>
        </p:nvSpPr>
        <p:spPr>
          <a:xfrm>
            <a:off x="2810092" y="3317177"/>
            <a:ext cx="283025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b="1" dirty="0"/>
              <a:t>Valores finales de las variables</a:t>
            </a:r>
            <a:endParaRPr lang="es-CO" b="1" dirty="0"/>
          </a:p>
        </p:txBody>
      </p:sp>
      <p:graphicFrame>
        <p:nvGraphicFramePr>
          <p:cNvPr id="42" name="4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670278"/>
              </p:ext>
            </p:extLst>
          </p:nvPr>
        </p:nvGraphicFramePr>
        <p:xfrm>
          <a:off x="2810092" y="4191898"/>
          <a:ext cx="2952328" cy="1442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Variable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Valor</a:t>
                      </a:r>
                      <a:r>
                        <a:rPr lang="es-CO" sz="1800" b="1" baseline="0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 final</a:t>
                      </a:r>
                      <a:endParaRPr lang="es-CO" sz="1800" b="1" dirty="0">
                        <a:solidFill>
                          <a:schemeClr val="bg1"/>
                        </a:solidFill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316.26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296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" name="42 Rectángulo"/>
          <p:cNvSpPr/>
          <p:nvPr/>
        </p:nvSpPr>
        <p:spPr>
          <a:xfrm>
            <a:off x="6341420" y="3418669"/>
            <a:ext cx="20697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000" b="1" dirty="0"/>
              <a:t>Salida en pantalla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486CDC8-21AD-433A-85F6-380F923335F8}"/>
              </a:ext>
            </a:extLst>
          </p:cNvPr>
          <p:cNvGrpSpPr/>
          <p:nvPr/>
        </p:nvGrpSpPr>
        <p:grpSpPr>
          <a:xfrm>
            <a:off x="6516218" y="4202870"/>
            <a:ext cx="1703166" cy="1401268"/>
            <a:chOff x="3815498" y="5154272"/>
            <a:chExt cx="1703166" cy="1401268"/>
          </a:xfrm>
        </p:grpSpPr>
        <p:pic>
          <p:nvPicPr>
            <p:cNvPr id="44" name="Picture 4" descr="http://thyroidtx.com/wp-content/uploads/2012/09/computer-monitor-blank-md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5498" y="5154272"/>
              <a:ext cx="1703166" cy="14012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44 Rectángulo"/>
            <p:cNvSpPr/>
            <p:nvPr/>
          </p:nvSpPr>
          <p:spPr>
            <a:xfrm>
              <a:off x="3929209" y="5593296"/>
              <a:ext cx="149271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CO" sz="11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316.26, 7.5, 17.5</a:t>
              </a:r>
            </a:p>
          </p:txBody>
        </p:sp>
      </p:grpSp>
      <p:pic>
        <p:nvPicPr>
          <p:cNvPr id="22" name="Picture 2">
            <a:extLst>
              <a:ext uri="{FF2B5EF4-FFF2-40B4-BE49-F238E27FC236}">
                <a16:creationId xmlns:a16="http://schemas.microsoft.com/office/drawing/2014/main" id="{71F1EE75-822A-4158-9844-2697DDAD9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184" y="953302"/>
            <a:ext cx="2414600" cy="5212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42 Rectángulo">
            <a:extLst>
              <a:ext uri="{FF2B5EF4-FFF2-40B4-BE49-F238E27FC236}">
                <a16:creationId xmlns:a16="http://schemas.microsoft.com/office/drawing/2014/main" id="{77DF858A-1A7E-4F55-A5E1-BE3932DC0747}"/>
              </a:ext>
            </a:extLst>
          </p:cNvPr>
          <p:cNvSpPr/>
          <p:nvPr/>
        </p:nvSpPr>
        <p:spPr>
          <a:xfrm>
            <a:off x="2859253" y="1844824"/>
            <a:ext cx="2414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2000" b="1" dirty="0"/>
              <a:t>Solución de la prueba de escritorio</a:t>
            </a:r>
            <a:endParaRPr lang="es-CO" sz="2000" b="1" dirty="0"/>
          </a:p>
        </p:txBody>
      </p:sp>
      <p:cxnSp>
        <p:nvCxnSpPr>
          <p:cNvPr id="28" name="7 Conector recto">
            <a:extLst>
              <a:ext uri="{FF2B5EF4-FFF2-40B4-BE49-F238E27FC236}">
                <a16:creationId xmlns:a16="http://schemas.microsoft.com/office/drawing/2014/main" id="{0975A855-8DCA-470D-A9A0-1D93BDEAB3DF}"/>
              </a:ext>
            </a:extLst>
          </p:cNvPr>
          <p:cNvCxnSpPr/>
          <p:nvPr/>
        </p:nvCxnSpPr>
        <p:spPr>
          <a:xfrm flipV="1">
            <a:off x="5995114" y="1840128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7 Conector recto">
            <a:extLst>
              <a:ext uri="{FF2B5EF4-FFF2-40B4-BE49-F238E27FC236}">
                <a16:creationId xmlns:a16="http://schemas.microsoft.com/office/drawing/2014/main" id="{148C0E3E-96FB-47DC-AAA9-237E8914CCE2}"/>
              </a:ext>
            </a:extLst>
          </p:cNvPr>
          <p:cNvCxnSpPr/>
          <p:nvPr/>
        </p:nvCxnSpPr>
        <p:spPr>
          <a:xfrm flipV="1">
            <a:off x="6927003" y="1842626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7 Conector recto">
            <a:extLst>
              <a:ext uri="{FF2B5EF4-FFF2-40B4-BE49-F238E27FC236}">
                <a16:creationId xmlns:a16="http://schemas.microsoft.com/office/drawing/2014/main" id="{163E73E7-D042-46E3-875E-5E543E4C2BB6}"/>
              </a:ext>
            </a:extLst>
          </p:cNvPr>
          <p:cNvCxnSpPr/>
          <p:nvPr/>
        </p:nvCxnSpPr>
        <p:spPr>
          <a:xfrm flipV="1">
            <a:off x="7871382" y="1827636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7 Conector recto">
            <a:extLst>
              <a:ext uri="{FF2B5EF4-FFF2-40B4-BE49-F238E27FC236}">
                <a16:creationId xmlns:a16="http://schemas.microsoft.com/office/drawing/2014/main" id="{66ECC62D-1A53-419E-96E8-9ECD4EC23B81}"/>
              </a:ext>
            </a:extLst>
          </p:cNvPr>
          <p:cNvCxnSpPr/>
          <p:nvPr/>
        </p:nvCxnSpPr>
        <p:spPr>
          <a:xfrm flipV="1">
            <a:off x="6030090" y="2174908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7 Conector recto">
            <a:extLst>
              <a:ext uri="{FF2B5EF4-FFF2-40B4-BE49-F238E27FC236}">
                <a16:creationId xmlns:a16="http://schemas.microsoft.com/office/drawing/2014/main" id="{FD02103D-8A63-47F6-A751-8A63433218AE}"/>
              </a:ext>
            </a:extLst>
          </p:cNvPr>
          <p:cNvCxnSpPr/>
          <p:nvPr/>
        </p:nvCxnSpPr>
        <p:spPr>
          <a:xfrm flipV="1">
            <a:off x="6946988" y="2207387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7 Conector recto">
            <a:extLst>
              <a:ext uri="{FF2B5EF4-FFF2-40B4-BE49-F238E27FC236}">
                <a16:creationId xmlns:a16="http://schemas.microsoft.com/office/drawing/2014/main" id="{3A6CB1F5-EC6C-45EC-ADE0-9B863EEA394D}"/>
              </a:ext>
            </a:extLst>
          </p:cNvPr>
          <p:cNvCxnSpPr/>
          <p:nvPr/>
        </p:nvCxnSpPr>
        <p:spPr>
          <a:xfrm flipV="1">
            <a:off x="7863886" y="2207387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28 Conector recto">
            <a:extLst>
              <a:ext uri="{FF2B5EF4-FFF2-40B4-BE49-F238E27FC236}">
                <a16:creationId xmlns:a16="http://schemas.microsoft.com/office/drawing/2014/main" id="{E852DDB3-411E-480C-9742-2AA230146BE3}"/>
              </a:ext>
            </a:extLst>
          </p:cNvPr>
          <p:cNvCxnSpPr/>
          <p:nvPr/>
        </p:nvCxnSpPr>
        <p:spPr>
          <a:xfrm flipV="1">
            <a:off x="6385016" y="2364923"/>
            <a:ext cx="216024" cy="166473"/>
          </a:xfrm>
          <a:prstGeom prst="line">
            <a:avLst/>
          </a:prstGeom>
          <a:ln w="28575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28 Conector recto">
            <a:extLst>
              <a:ext uri="{FF2B5EF4-FFF2-40B4-BE49-F238E27FC236}">
                <a16:creationId xmlns:a16="http://schemas.microsoft.com/office/drawing/2014/main" id="{19C0EEC9-3E79-4AF0-9944-DCFEC0321544}"/>
              </a:ext>
            </a:extLst>
          </p:cNvPr>
          <p:cNvCxnSpPr/>
          <p:nvPr/>
        </p:nvCxnSpPr>
        <p:spPr>
          <a:xfrm flipV="1">
            <a:off x="7314712" y="2360026"/>
            <a:ext cx="216024" cy="166473"/>
          </a:xfrm>
          <a:prstGeom prst="line">
            <a:avLst/>
          </a:prstGeom>
          <a:ln w="28575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28 Conector recto">
            <a:extLst>
              <a:ext uri="{FF2B5EF4-FFF2-40B4-BE49-F238E27FC236}">
                <a16:creationId xmlns:a16="http://schemas.microsoft.com/office/drawing/2014/main" id="{75AB8727-9939-4156-9090-B21E8D4E9CE2}"/>
              </a:ext>
            </a:extLst>
          </p:cNvPr>
          <p:cNvCxnSpPr/>
          <p:nvPr/>
        </p:nvCxnSpPr>
        <p:spPr>
          <a:xfrm flipV="1">
            <a:off x="8244408" y="2360026"/>
            <a:ext cx="216024" cy="166473"/>
          </a:xfrm>
          <a:prstGeom prst="line">
            <a:avLst/>
          </a:prstGeom>
          <a:ln w="28575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8 Conector recto">
            <a:extLst>
              <a:ext uri="{FF2B5EF4-FFF2-40B4-BE49-F238E27FC236}">
                <a16:creationId xmlns:a16="http://schemas.microsoft.com/office/drawing/2014/main" id="{BAF5E872-6552-4D9D-A514-4D52C1B00558}"/>
              </a:ext>
            </a:extLst>
          </p:cNvPr>
          <p:cNvCxnSpPr>
            <a:cxnSpLocks/>
          </p:cNvCxnSpPr>
          <p:nvPr/>
        </p:nvCxnSpPr>
        <p:spPr>
          <a:xfrm>
            <a:off x="5803900" y="2032000"/>
            <a:ext cx="213719" cy="189036"/>
          </a:xfrm>
          <a:prstGeom prst="line">
            <a:avLst/>
          </a:prstGeom>
          <a:ln w="28575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8 Conector recto">
            <a:extLst>
              <a:ext uri="{FF2B5EF4-FFF2-40B4-BE49-F238E27FC236}">
                <a16:creationId xmlns:a16="http://schemas.microsoft.com/office/drawing/2014/main" id="{D11BE863-D68B-4821-B10C-055210053B99}"/>
              </a:ext>
            </a:extLst>
          </p:cNvPr>
          <p:cNvCxnSpPr>
            <a:cxnSpLocks/>
          </p:cNvCxnSpPr>
          <p:nvPr/>
        </p:nvCxnSpPr>
        <p:spPr>
          <a:xfrm>
            <a:off x="6733269" y="2050800"/>
            <a:ext cx="213719" cy="189036"/>
          </a:xfrm>
          <a:prstGeom prst="line">
            <a:avLst/>
          </a:prstGeom>
          <a:ln w="28575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8 Conector recto">
            <a:extLst>
              <a:ext uri="{FF2B5EF4-FFF2-40B4-BE49-F238E27FC236}">
                <a16:creationId xmlns:a16="http://schemas.microsoft.com/office/drawing/2014/main" id="{56DCCB5A-A2CA-457C-989F-F48BF4E4CB67}"/>
              </a:ext>
            </a:extLst>
          </p:cNvPr>
          <p:cNvCxnSpPr>
            <a:cxnSpLocks/>
          </p:cNvCxnSpPr>
          <p:nvPr/>
        </p:nvCxnSpPr>
        <p:spPr>
          <a:xfrm>
            <a:off x="7623346" y="2021559"/>
            <a:ext cx="213719" cy="189036"/>
          </a:xfrm>
          <a:prstGeom prst="line">
            <a:avLst/>
          </a:prstGeom>
          <a:ln w="28575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17753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7908" y="296227"/>
            <a:ext cx="8463272" cy="646787"/>
          </a:xfrm>
        </p:spPr>
        <p:txBody>
          <a:bodyPr>
            <a:normAutofit fontScale="90000"/>
          </a:bodyPr>
          <a:lstStyle/>
          <a:p>
            <a:r>
              <a:rPr lang="es-CO" dirty="0"/>
              <a:t>Nuevo bloque - Condición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C8CAD2-11EA-4E02-81F7-F33AB9778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8299" y="1495817"/>
            <a:ext cx="2976483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1F6C0939-A95A-4A87-BAA0-8CD8D96A26C1}"/>
              </a:ext>
            </a:extLst>
          </p:cNvPr>
          <p:cNvGrpSpPr/>
          <p:nvPr/>
        </p:nvGrpSpPr>
        <p:grpSpPr>
          <a:xfrm>
            <a:off x="905518" y="3800073"/>
            <a:ext cx="3200400" cy="957634"/>
            <a:chOff x="805285" y="2612529"/>
            <a:chExt cx="3200400" cy="957634"/>
          </a:xfrm>
        </p:grpSpPr>
        <p:sp>
          <p:nvSpPr>
            <p:cNvPr id="25" name="TextBox 75">
              <a:extLst>
                <a:ext uri="{FF2B5EF4-FFF2-40B4-BE49-F238E27FC236}">
                  <a16:creationId xmlns:a16="http://schemas.microsoft.com/office/drawing/2014/main" id="{ACDBA610-BF5F-4096-9B79-46DA7575F957}"/>
                </a:ext>
              </a:extLst>
            </p:cNvPr>
            <p:cNvSpPr txBox="1"/>
            <p:nvPr/>
          </p:nvSpPr>
          <p:spPr>
            <a:xfrm>
              <a:off x="3563888" y="2924944"/>
              <a:ext cx="4275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Consolas" panose="020B0609020204030204" pitchFamily="49" charset="0"/>
                </a:rPr>
                <a:t>yes</a:t>
              </a:r>
            </a:p>
          </p:txBody>
        </p:sp>
        <p:sp>
          <p:nvSpPr>
            <p:cNvPr id="26" name="TextBox 76">
              <a:extLst>
                <a:ext uri="{FF2B5EF4-FFF2-40B4-BE49-F238E27FC236}">
                  <a16:creationId xmlns:a16="http://schemas.microsoft.com/office/drawing/2014/main" id="{493AE25A-01F8-4DAE-9983-612875B3897B}"/>
                </a:ext>
              </a:extLst>
            </p:cNvPr>
            <p:cNvSpPr txBox="1"/>
            <p:nvPr/>
          </p:nvSpPr>
          <p:spPr>
            <a:xfrm>
              <a:off x="918640" y="2924944"/>
              <a:ext cx="3745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Consolas" panose="020B0609020204030204" pitchFamily="49" charset="0"/>
                </a:rPr>
                <a:t>no</a:t>
              </a:r>
            </a:p>
          </p:txBody>
        </p:sp>
        <p:sp>
          <p:nvSpPr>
            <p:cNvPr id="27" name="Flowchart: Decision 5">
              <a:extLst>
                <a:ext uri="{FF2B5EF4-FFF2-40B4-BE49-F238E27FC236}">
                  <a16:creationId xmlns:a16="http://schemas.microsoft.com/office/drawing/2014/main" id="{1A344C75-4AFB-4733-AC34-07B7CCA2C040}"/>
                </a:ext>
              </a:extLst>
            </p:cNvPr>
            <p:cNvSpPr/>
            <p:nvPr/>
          </p:nvSpPr>
          <p:spPr>
            <a:xfrm>
              <a:off x="1315133" y="2977639"/>
              <a:ext cx="2180704" cy="457200"/>
            </a:xfrm>
            <a:prstGeom prst="flowChartDecision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</a:rPr>
                <a:t>Decision</a:t>
              </a:r>
            </a:p>
          </p:txBody>
        </p:sp>
        <p:grpSp>
          <p:nvGrpSpPr>
            <p:cNvPr id="31" name="40 Grupo">
              <a:extLst>
                <a:ext uri="{FF2B5EF4-FFF2-40B4-BE49-F238E27FC236}">
                  <a16:creationId xmlns:a16="http://schemas.microsoft.com/office/drawing/2014/main" id="{ED00CD7F-262F-44AE-8520-1A8C18CFD1F5}"/>
                </a:ext>
              </a:extLst>
            </p:cNvPr>
            <p:cNvGrpSpPr/>
            <p:nvPr/>
          </p:nvGrpSpPr>
          <p:grpSpPr>
            <a:xfrm>
              <a:off x="805285" y="3203451"/>
              <a:ext cx="528637" cy="366712"/>
              <a:chOff x="4633913" y="4281488"/>
              <a:chExt cx="528637" cy="366712"/>
            </a:xfrm>
          </p:grpSpPr>
          <p:cxnSp>
            <p:nvCxnSpPr>
              <p:cNvPr id="36" name="Straight Arrow Connector 18">
                <a:extLst>
                  <a:ext uri="{FF2B5EF4-FFF2-40B4-BE49-F238E27FC236}">
                    <a16:creationId xmlns:a16="http://schemas.microsoft.com/office/drawing/2014/main" id="{890707C7-44F1-4977-AD71-D355F7091637}"/>
                  </a:ext>
                </a:extLst>
              </p:cNvPr>
              <p:cNvCxnSpPr/>
              <p:nvPr/>
            </p:nvCxnSpPr>
            <p:spPr>
              <a:xfrm>
                <a:off x="4633913" y="4281488"/>
                <a:ext cx="4763" cy="366712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18">
                <a:extLst>
                  <a:ext uri="{FF2B5EF4-FFF2-40B4-BE49-F238E27FC236}">
                    <a16:creationId xmlns:a16="http://schemas.microsoft.com/office/drawing/2014/main" id="{902A4BF3-2727-4678-A197-B36729A6B09B}"/>
                  </a:ext>
                </a:extLst>
              </p:cNvPr>
              <p:cNvCxnSpPr/>
              <p:nvPr/>
            </p:nvCxnSpPr>
            <p:spPr>
              <a:xfrm flipH="1">
                <a:off x="4633913" y="4286250"/>
                <a:ext cx="528637" cy="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65 Grupo">
              <a:extLst>
                <a:ext uri="{FF2B5EF4-FFF2-40B4-BE49-F238E27FC236}">
                  <a16:creationId xmlns:a16="http://schemas.microsoft.com/office/drawing/2014/main" id="{CC1A88B7-98D3-4928-A9D9-52D51C603F44}"/>
                </a:ext>
              </a:extLst>
            </p:cNvPr>
            <p:cNvGrpSpPr/>
            <p:nvPr/>
          </p:nvGrpSpPr>
          <p:grpSpPr>
            <a:xfrm flipH="1">
              <a:off x="3472285" y="3203451"/>
              <a:ext cx="533400" cy="366712"/>
              <a:chOff x="4633913" y="4281488"/>
              <a:chExt cx="533400" cy="366712"/>
            </a:xfrm>
          </p:grpSpPr>
          <p:cxnSp>
            <p:nvCxnSpPr>
              <p:cNvPr id="33" name="Straight Arrow Connector 18">
                <a:extLst>
                  <a:ext uri="{FF2B5EF4-FFF2-40B4-BE49-F238E27FC236}">
                    <a16:creationId xmlns:a16="http://schemas.microsoft.com/office/drawing/2014/main" id="{3F8FB21E-B6FA-40DF-A2BD-F60BC04AF598}"/>
                  </a:ext>
                </a:extLst>
              </p:cNvPr>
              <p:cNvCxnSpPr/>
              <p:nvPr/>
            </p:nvCxnSpPr>
            <p:spPr>
              <a:xfrm>
                <a:off x="4633913" y="4281488"/>
                <a:ext cx="4763" cy="366712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18">
                <a:extLst>
                  <a:ext uri="{FF2B5EF4-FFF2-40B4-BE49-F238E27FC236}">
                    <a16:creationId xmlns:a16="http://schemas.microsoft.com/office/drawing/2014/main" id="{291A9FDC-E4AF-41FE-8D6E-CC5B96A9E0D3}"/>
                  </a:ext>
                </a:extLst>
              </p:cNvPr>
              <p:cNvCxnSpPr/>
              <p:nvPr/>
            </p:nvCxnSpPr>
            <p:spPr>
              <a:xfrm flipH="1">
                <a:off x="4638676" y="4281488"/>
                <a:ext cx="528637" cy="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" name="Straight Arrow Connector 18">
              <a:extLst>
                <a:ext uri="{FF2B5EF4-FFF2-40B4-BE49-F238E27FC236}">
                  <a16:creationId xmlns:a16="http://schemas.microsoft.com/office/drawing/2014/main" id="{5176BE96-EA96-41A9-88ED-0F8D691D1656}"/>
                </a:ext>
              </a:extLst>
            </p:cNvPr>
            <p:cNvCxnSpPr/>
            <p:nvPr/>
          </p:nvCxnSpPr>
          <p:spPr>
            <a:xfrm flipH="1">
              <a:off x="2403104" y="2612529"/>
              <a:ext cx="4763" cy="36671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Imagen 38">
            <a:extLst>
              <a:ext uri="{FF2B5EF4-FFF2-40B4-BE49-F238E27FC236}">
                <a16:creationId xmlns:a16="http://schemas.microsoft.com/office/drawing/2014/main" id="{6B02A38C-63FE-4504-8695-4508873B60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162" y="2337771"/>
            <a:ext cx="1188349" cy="1101548"/>
          </a:xfrm>
          <a:prstGeom prst="rect">
            <a:avLst/>
          </a:prstGeom>
        </p:spPr>
      </p:pic>
      <p:sp>
        <p:nvSpPr>
          <p:cNvPr id="40" name="CuadroTexto 39">
            <a:extLst>
              <a:ext uri="{FF2B5EF4-FFF2-40B4-BE49-F238E27FC236}">
                <a16:creationId xmlns:a16="http://schemas.microsoft.com/office/drawing/2014/main" id="{8FFD4CE4-FBED-4BC4-9E30-AF36979A59C2}"/>
              </a:ext>
            </a:extLst>
          </p:cNvPr>
          <p:cNvSpPr txBox="1"/>
          <p:nvPr/>
        </p:nvSpPr>
        <p:spPr>
          <a:xfrm>
            <a:off x="5058299" y="5240233"/>
            <a:ext cx="29764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200" b="1" dirty="0"/>
              <a:t>Obra</a:t>
            </a:r>
            <a:r>
              <a:rPr lang="es-CO" sz="1200" dirty="0"/>
              <a:t>: La puerta angosta (</a:t>
            </a:r>
            <a:r>
              <a:rPr lang="es-CO" sz="1200" dirty="0">
                <a:hlinkClick r:id="rId4"/>
              </a:rPr>
              <a:t>link</a:t>
            </a:r>
            <a:r>
              <a:rPr lang="es-CO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362424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5496" y="188640"/>
            <a:ext cx="8512362" cy="666070"/>
          </a:xfrm>
        </p:spPr>
        <p:txBody>
          <a:bodyPr>
            <a:normAutofit fontScale="90000"/>
          </a:bodyPr>
          <a:lstStyle/>
          <a:p>
            <a:r>
              <a:rPr lang="es-CO" dirty="0"/>
              <a:t>Prueba de Escritorio</a:t>
            </a:r>
          </a:p>
        </p:txBody>
      </p:sp>
      <p:sp>
        <p:nvSpPr>
          <p:cNvPr id="4" name="3 Rectángulo"/>
          <p:cNvSpPr/>
          <p:nvPr/>
        </p:nvSpPr>
        <p:spPr>
          <a:xfrm>
            <a:off x="50800" y="953581"/>
            <a:ext cx="4902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Ejemplo:</a:t>
            </a:r>
          </a:p>
          <a:p>
            <a:pPr indent="-57150"/>
            <a:r>
              <a:rPr lang="es-CO" sz="2000" dirty="0"/>
              <a:t>Dado el diagrama de flujo de la figura, hacer la prueba de escritorio y a partir de esta determinar los valores finales de las variables y la salida en pantalla.</a:t>
            </a:r>
          </a:p>
          <a:p>
            <a:pPr indent="-57150"/>
            <a:endParaRPr lang="es-CO" sz="2000" dirty="0"/>
          </a:p>
          <a:p>
            <a:pPr indent="-57150"/>
            <a:r>
              <a:rPr lang="es-CO" sz="2000" b="1" dirty="0"/>
              <a:t>Variables:</a:t>
            </a:r>
            <a:r>
              <a:rPr lang="es-CO" sz="2000" dirty="0"/>
              <a:t> </a:t>
            </a:r>
            <a:r>
              <a:rPr lang="es-CO" dirty="0">
                <a:latin typeface="Consolas" panose="020B0609020204030204" pitchFamily="49" charset="0"/>
              </a:rPr>
              <a:t>i</a:t>
            </a:r>
            <a:r>
              <a:rPr lang="es-CO" sz="2000" dirty="0"/>
              <a:t>, </a:t>
            </a:r>
            <a:r>
              <a:rPr lang="es-CO" dirty="0">
                <a:latin typeface="Consolas" panose="020B0609020204030204" pitchFamily="49" charset="0"/>
              </a:rPr>
              <a:t>a</a:t>
            </a:r>
            <a:r>
              <a:rPr lang="es-CO" sz="2000" dirty="0"/>
              <a:t>, </a:t>
            </a:r>
            <a:r>
              <a:rPr lang="es-CO" dirty="0">
                <a:latin typeface="Consolas" panose="020B0609020204030204" pitchFamily="49" charset="0"/>
              </a:rPr>
              <a:t>b</a:t>
            </a:r>
          </a:p>
          <a:p>
            <a:pPr indent="-57150"/>
            <a:endParaRPr lang="es-CO" sz="2000" dirty="0"/>
          </a:p>
          <a:p>
            <a:pPr indent="-57150"/>
            <a:r>
              <a:rPr lang="es-CO" sz="2000" b="1" dirty="0"/>
              <a:t>Tabla para la prueba de escritorio:</a:t>
            </a:r>
            <a:r>
              <a:rPr lang="es-CO" sz="2000" dirty="0"/>
              <a:t> </a:t>
            </a:r>
          </a:p>
        </p:txBody>
      </p:sp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066501"/>
              </p:ext>
            </p:extLst>
          </p:nvPr>
        </p:nvGraphicFramePr>
        <p:xfrm>
          <a:off x="773708" y="3815903"/>
          <a:ext cx="3456384" cy="101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s-CO" sz="18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O" sz="18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O" sz="18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099" name="Picture 3" descr="C:\Users\tigarto\Downloads\ejemplo_prueba_escritorio (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830" y="697315"/>
            <a:ext cx="4070674" cy="546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5 Tabla">
            <a:extLst>
              <a:ext uri="{FF2B5EF4-FFF2-40B4-BE49-F238E27FC236}">
                <a16:creationId xmlns:a16="http://schemas.microsoft.com/office/drawing/2014/main" id="{D5A83AE4-AA42-4FA9-8CAB-6EFE705D9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861636"/>
              </p:ext>
            </p:extLst>
          </p:nvPr>
        </p:nvGraphicFramePr>
        <p:xfrm>
          <a:off x="245385" y="5165279"/>
          <a:ext cx="248511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1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923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Variable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Valor</a:t>
                      </a:r>
                      <a:r>
                        <a:rPr lang="es-CO" sz="1800" b="1" baseline="0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 final</a:t>
                      </a:r>
                      <a:endParaRPr lang="es-CO" sz="1800" b="1" dirty="0">
                        <a:solidFill>
                          <a:schemeClr val="bg1"/>
                        </a:solidFill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923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923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287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" name="Grupo 7">
            <a:extLst>
              <a:ext uri="{FF2B5EF4-FFF2-40B4-BE49-F238E27FC236}">
                <a16:creationId xmlns:a16="http://schemas.microsoft.com/office/drawing/2014/main" id="{AE5902EE-732E-49F9-BDCE-DEE668B71058}"/>
              </a:ext>
            </a:extLst>
          </p:cNvPr>
          <p:cNvGrpSpPr/>
          <p:nvPr/>
        </p:nvGrpSpPr>
        <p:grpSpPr>
          <a:xfrm>
            <a:off x="3131840" y="5246569"/>
            <a:ext cx="1635012" cy="1209019"/>
            <a:chOff x="1187624" y="4585378"/>
            <a:chExt cx="1967590" cy="1618821"/>
          </a:xfrm>
        </p:grpSpPr>
        <p:pic>
          <p:nvPicPr>
            <p:cNvPr id="9" name="Picture 4" descr="http://thyroidtx.com/wp-content/uploads/2012/09/computer-monitor-blank-md.png">
              <a:extLst>
                <a:ext uri="{FF2B5EF4-FFF2-40B4-BE49-F238E27FC236}">
                  <a16:creationId xmlns:a16="http://schemas.microsoft.com/office/drawing/2014/main" id="{28935C24-5F55-49A0-A3A7-B6E3D1E5AB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4585378"/>
              <a:ext cx="1967590" cy="1618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29 Rectángulo">
              <a:extLst>
                <a:ext uri="{FF2B5EF4-FFF2-40B4-BE49-F238E27FC236}">
                  <a16:creationId xmlns:a16="http://schemas.microsoft.com/office/drawing/2014/main" id="{91902ED0-AB53-4442-BD89-9E2DE925456A}"/>
                </a:ext>
              </a:extLst>
            </p:cNvPr>
            <p:cNvSpPr/>
            <p:nvPr/>
          </p:nvSpPr>
          <p:spPr>
            <a:xfrm>
              <a:off x="1681541" y="5065156"/>
              <a:ext cx="97975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4, -8,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047913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6181" y="334493"/>
            <a:ext cx="8536112" cy="718243"/>
          </a:xfrm>
        </p:spPr>
        <p:txBody>
          <a:bodyPr>
            <a:normAutofit/>
          </a:bodyPr>
          <a:lstStyle/>
          <a:p>
            <a:r>
              <a:rPr lang="es-CO" dirty="0"/>
              <a:t>Prueba de Escritorio</a:t>
            </a:r>
          </a:p>
        </p:txBody>
      </p:sp>
      <p:pic>
        <p:nvPicPr>
          <p:cNvPr id="4099" name="Picture 3" descr="C:\Users\tigarto\Downloads\ejemplo_prueba_escritorio (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0929" y="1124744"/>
            <a:ext cx="4101364" cy="5507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287288"/>
              </p:ext>
            </p:extLst>
          </p:nvPr>
        </p:nvGraphicFramePr>
        <p:xfrm>
          <a:off x="401363" y="1844824"/>
          <a:ext cx="3456384" cy="4194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?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8" name="7 Conector recto"/>
          <p:cNvCxnSpPr/>
          <p:nvPr/>
        </p:nvCxnSpPr>
        <p:spPr>
          <a:xfrm flipV="1">
            <a:off x="805240" y="2261411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flipV="1">
            <a:off x="1985539" y="2268305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3137667" y="2275925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flipV="1">
            <a:off x="805240" y="2623179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flipV="1">
            <a:off x="1985539" y="2623179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flipV="1">
            <a:off x="3137667" y="2623179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805240" y="2964265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flipV="1">
            <a:off x="805240" y="3329299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flipV="1">
            <a:off x="805240" y="3670747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flipV="1">
            <a:off x="826649" y="4011833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flipV="1">
            <a:off x="826649" y="4352919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flipV="1">
            <a:off x="1985539" y="2964265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flipV="1">
            <a:off x="1985539" y="3329299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 flipV="1">
            <a:off x="3137667" y="2974787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 flipV="1">
            <a:off x="3137667" y="3340909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 flipV="1">
            <a:off x="3137667" y="3670747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 flipV="1">
            <a:off x="3137667" y="4011833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 flipV="1">
            <a:off x="3137667" y="4352919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 flipV="1">
            <a:off x="3137667" y="4694005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 flipV="1">
            <a:off x="3175023" y="5035091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 flipV="1">
            <a:off x="3175023" y="5445224"/>
            <a:ext cx="304800" cy="1886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 flipV="1">
            <a:off x="1057137" y="4571848"/>
            <a:ext cx="216024" cy="166473"/>
          </a:xfrm>
          <a:prstGeom prst="line">
            <a:avLst/>
          </a:prstGeom>
          <a:ln w="28575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 flipV="1">
            <a:off x="2200137" y="3524098"/>
            <a:ext cx="216024" cy="166473"/>
          </a:xfrm>
          <a:prstGeom prst="line">
            <a:avLst/>
          </a:prstGeom>
          <a:ln w="28575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"/>
          <p:cNvCxnSpPr/>
          <p:nvPr/>
        </p:nvCxnSpPr>
        <p:spPr>
          <a:xfrm flipV="1">
            <a:off x="3412987" y="5613248"/>
            <a:ext cx="216024" cy="166473"/>
          </a:xfrm>
          <a:prstGeom prst="line">
            <a:avLst/>
          </a:prstGeom>
          <a:ln w="28575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90232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5528" y="292678"/>
            <a:ext cx="8419495" cy="646331"/>
          </a:xfrm>
        </p:spPr>
        <p:txBody>
          <a:bodyPr>
            <a:normAutofit fontScale="90000"/>
          </a:bodyPr>
          <a:lstStyle/>
          <a:p>
            <a:r>
              <a:rPr lang="es-CO" dirty="0"/>
              <a:t>Prueba de Escritorio</a:t>
            </a:r>
          </a:p>
        </p:txBody>
      </p:sp>
      <p:pic>
        <p:nvPicPr>
          <p:cNvPr id="5123" name="Picture 3" descr="C:\Users\tigarto\Downloads\ejemplo_prueba_escritorio (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571" y="1293538"/>
            <a:ext cx="4096453" cy="5501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225529" y="1052736"/>
            <a:ext cx="33419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Resultados:</a:t>
            </a:r>
          </a:p>
          <a:p>
            <a:r>
              <a:rPr lang="es-CO" sz="2000" dirty="0"/>
              <a:t>Valores finales de las variables</a:t>
            </a:r>
            <a:endParaRPr lang="es-CO" dirty="0">
              <a:solidFill>
                <a:schemeClr val="accent1"/>
              </a:solidFill>
            </a:endParaRPr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901143"/>
              </p:ext>
            </p:extLst>
          </p:nvPr>
        </p:nvGraphicFramePr>
        <p:xfrm>
          <a:off x="699370" y="2060848"/>
          <a:ext cx="2952328" cy="1508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20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Variable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Valor</a:t>
                      </a:r>
                      <a:r>
                        <a:rPr lang="es-CO" sz="2000" b="1" baseline="0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 final</a:t>
                      </a:r>
                      <a:endParaRPr lang="es-CO" sz="2000" b="1" dirty="0">
                        <a:solidFill>
                          <a:schemeClr val="bg1"/>
                        </a:solidFill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7 Rectángulo"/>
          <p:cNvSpPr/>
          <p:nvPr/>
        </p:nvSpPr>
        <p:spPr>
          <a:xfrm>
            <a:off x="257824" y="3938203"/>
            <a:ext cx="20697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Salida en pantalla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39DDEB59-26FE-436E-870C-92C6081570D1}"/>
              </a:ext>
            </a:extLst>
          </p:cNvPr>
          <p:cNvGrpSpPr/>
          <p:nvPr/>
        </p:nvGrpSpPr>
        <p:grpSpPr>
          <a:xfrm>
            <a:off x="1168718" y="4509120"/>
            <a:ext cx="1967590" cy="1618821"/>
            <a:chOff x="1187624" y="4585378"/>
            <a:chExt cx="1967590" cy="1618821"/>
          </a:xfrm>
        </p:grpSpPr>
        <p:pic>
          <p:nvPicPr>
            <p:cNvPr id="6148" name="Picture 4" descr="http://thyroidtx.com/wp-content/uploads/2012/09/computer-monitor-blank-md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4585378"/>
              <a:ext cx="1967590" cy="1618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29 Rectángulo"/>
            <p:cNvSpPr/>
            <p:nvPr/>
          </p:nvSpPr>
          <p:spPr>
            <a:xfrm>
              <a:off x="1648029" y="5085184"/>
              <a:ext cx="97975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4, -8,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509466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n 55">
            <a:extLst>
              <a:ext uri="{FF2B5EF4-FFF2-40B4-BE49-F238E27FC236}">
                <a16:creationId xmlns:a16="http://schemas.microsoft.com/office/drawing/2014/main" id="{BC2213F1-D2B4-4E93-AB50-1886A42BF3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375" y="3714099"/>
            <a:ext cx="406765" cy="377053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212052"/>
          </a:xfrm>
        </p:spPr>
        <p:txBody>
          <a:bodyPr>
            <a:normAutofit/>
          </a:bodyPr>
          <a:lstStyle/>
          <a:p>
            <a:pPr algn="ctr"/>
            <a:r>
              <a:rPr lang="es-CO" sz="4000" dirty="0"/>
              <a:t>Condicionales</a:t>
            </a:r>
            <a:endParaRPr lang="en-US" sz="5400" dirty="0"/>
          </a:p>
        </p:txBody>
      </p:sp>
      <p:sp>
        <p:nvSpPr>
          <p:cNvPr id="22" name="TextBox 75">
            <a:extLst>
              <a:ext uri="{FF2B5EF4-FFF2-40B4-BE49-F238E27FC236}">
                <a16:creationId xmlns:a16="http://schemas.microsoft.com/office/drawing/2014/main" id="{10E0A3D1-31D4-4989-876E-B3E2A6DFE9F5}"/>
              </a:ext>
            </a:extLst>
          </p:cNvPr>
          <p:cNvSpPr txBox="1"/>
          <p:nvPr/>
        </p:nvSpPr>
        <p:spPr>
          <a:xfrm>
            <a:off x="2691923" y="4083271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onsolas" panose="020B0609020204030204" pitchFamily="49" charset="0"/>
              </a:rPr>
              <a:t>yes</a:t>
            </a:r>
          </a:p>
        </p:txBody>
      </p:sp>
      <p:sp>
        <p:nvSpPr>
          <p:cNvPr id="23" name="Flowchart: Decision 5">
            <a:extLst>
              <a:ext uri="{FF2B5EF4-FFF2-40B4-BE49-F238E27FC236}">
                <a16:creationId xmlns:a16="http://schemas.microsoft.com/office/drawing/2014/main" id="{725E3CCE-8824-4A7E-8DB1-82A6D7895359}"/>
              </a:ext>
            </a:extLst>
          </p:cNvPr>
          <p:cNvSpPr/>
          <p:nvPr/>
        </p:nvSpPr>
        <p:spPr>
          <a:xfrm>
            <a:off x="515947" y="4095146"/>
            <a:ext cx="2180704" cy="457200"/>
          </a:xfrm>
          <a:prstGeom prst="flowChartDecisi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</a:rPr>
              <a:t>Decision</a:t>
            </a:r>
          </a:p>
        </p:txBody>
      </p:sp>
      <p:sp>
        <p:nvSpPr>
          <p:cNvPr id="24" name="Flowchart: Data 6">
            <a:extLst>
              <a:ext uri="{FF2B5EF4-FFF2-40B4-BE49-F238E27FC236}">
                <a16:creationId xmlns:a16="http://schemas.microsoft.com/office/drawing/2014/main" id="{A924F680-A556-496C-8BCA-A3D53A4BC7DC}"/>
              </a:ext>
            </a:extLst>
          </p:cNvPr>
          <p:cNvSpPr/>
          <p:nvPr/>
        </p:nvSpPr>
        <p:spPr>
          <a:xfrm>
            <a:off x="604848" y="2204864"/>
            <a:ext cx="2013856" cy="381000"/>
          </a:xfrm>
          <a:prstGeom prst="flowChartInputOutpu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</a:rPr>
              <a:t>Read/Print</a:t>
            </a:r>
          </a:p>
        </p:txBody>
      </p:sp>
      <p:sp>
        <p:nvSpPr>
          <p:cNvPr id="25" name="Flowchart: Process 7">
            <a:extLst>
              <a:ext uri="{FF2B5EF4-FFF2-40B4-BE49-F238E27FC236}">
                <a16:creationId xmlns:a16="http://schemas.microsoft.com/office/drawing/2014/main" id="{030BBF68-F42E-4FAB-A584-4C6537BD297B}"/>
              </a:ext>
            </a:extLst>
          </p:cNvPr>
          <p:cNvSpPr/>
          <p:nvPr/>
        </p:nvSpPr>
        <p:spPr>
          <a:xfrm>
            <a:off x="1074747" y="3035424"/>
            <a:ext cx="1066800" cy="609600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</a:rPr>
              <a:t>Process</a:t>
            </a:r>
          </a:p>
        </p:txBody>
      </p:sp>
      <p:sp>
        <p:nvSpPr>
          <p:cNvPr id="26" name="Flowchart: Terminator 8">
            <a:extLst>
              <a:ext uri="{FF2B5EF4-FFF2-40B4-BE49-F238E27FC236}">
                <a16:creationId xmlns:a16="http://schemas.microsoft.com/office/drawing/2014/main" id="{1D89B48F-65A1-49FA-B6EE-AF5E5C1421C5}"/>
              </a:ext>
            </a:extLst>
          </p:cNvPr>
          <p:cNvSpPr/>
          <p:nvPr/>
        </p:nvSpPr>
        <p:spPr>
          <a:xfrm>
            <a:off x="1808172" y="5530533"/>
            <a:ext cx="1066800" cy="304800"/>
          </a:xfrm>
          <a:prstGeom prst="flowChartTermina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/>
              <a:t>Finish</a:t>
            </a:r>
            <a:endParaRPr lang="en-US" sz="1400" dirty="0"/>
          </a:p>
        </p:txBody>
      </p:sp>
      <p:sp>
        <p:nvSpPr>
          <p:cNvPr id="27" name="Flowchart: Terminator 9">
            <a:extLst>
              <a:ext uri="{FF2B5EF4-FFF2-40B4-BE49-F238E27FC236}">
                <a16:creationId xmlns:a16="http://schemas.microsoft.com/office/drawing/2014/main" id="{5B971020-8A80-4312-BB48-A564296C92A8}"/>
              </a:ext>
            </a:extLst>
          </p:cNvPr>
          <p:cNvSpPr/>
          <p:nvPr/>
        </p:nvSpPr>
        <p:spPr>
          <a:xfrm>
            <a:off x="1074747" y="1556792"/>
            <a:ext cx="1066800" cy="304800"/>
          </a:xfrm>
          <a:prstGeom prst="flowChartTermina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latin typeface="Consolas" panose="020B0609020204030204" pitchFamily="49" charset="0"/>
              </a:rPr>
              <a:t>Start</a:t>
            </a:r>
            <a:endParaRPr lang="en-US" sz="1400" dirty="0">
              <a:latin typeface="Consolas" panose="020B0609020204030204" pitchFamily="49" charset="0"/>
            </a:endParaRPr>
          </a:p>
        </p:txBody>
      </p:sp>
      <p:cxnSp>
        <p:nvCxnSpPr>
          <p:cNvPr id="28" name="Straight Arrow Connector 11">
            <a:extLst>
              <a:ext uri="{FF2B5EF4-FFF2-40B4-BE49-F238E27FC236}">
                <a16:creationId xmlns:a16="http://schemas.microsoft.com/office/drawing/2014/main" id="{3355EFA7-6666-46E0-B46F-E657A172B1E5}"/>
              </a:ext>
            </a:extLst>
          </p:cNvPr>
          <p:cNvCxnSpPr>
            <a:stCxn id="27" idx="2"/>
            <a:endCxn id="24" idx="1"/>
          </p:cNvCxnSpPr>
          <p:nvPr/>
        </p:nvCxnSpPr>
        <p:spPr>
          <a:xfrm>
            <a:off x="1608147" y="1861592"/>
            <a:ext cx="3629" cy="34327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96898BAD-35AE-4F98-832E-A8C847CD074C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1608147" y="2585864"/>
            <a:ext cx="3629" cy="44956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15">
            <a:extLst>
              <a:ext uri="{FF2B5EF4-FFF2-40B4-BE49-F238E27FC236}">
                <a16:creationId xmlns:a16="http://schemas.microsoft.com/office/drawing/2014/main" id="{34C8E88B-26CF-40F6-B2BB-47873EDD508B}"/>
              </a:ext>
            </a:extLst>
          </p:cNvPr>
          <p:cNvCxnSpPr>
            <a:stCxn id="25" idx="2"/>
            <a:endCxn id="23" idx="0"/>
          </p:cNvCxnSpPr>
          <p:nvPr/>
        </p:nvCxnSpPr>
        <p:spPr>
          <a:xfrm flipH="1">
            <a:off x="1606299" y="3645024"/>
            <a:ext cx="1848" cy="4501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18">
            <a:extLst>
              <a:ext uri="{FF2B5EF4-FFF2-40B4-BE49-F238E27FC236}">
                <a16:creationId xmlns:a16="http://schemas.microsoft.com/office/drawing/2014/main" id="{3542C5EB-C251-49D1-B30E-AC1B61B1DDCC}"/>
              </a:ext>
            </a:extLst>
          </p:cNvPr>
          <p:cNvCxnSpPr>
            <a:stCxn id="23" idx="2"/>
            <a:endCxn id="33" idx="1"/>
          </p:cNvCxnSpPr>
          <p:nvPr/>
        </p:nvCxnSpPr>
        <p:spPr>
          <a:xfrm flipH="1">
            <a:off x="1601797" y="4552346"/>
            <a:ext cx="4502" cy="2286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21">
            <a:extLst>
              <a:ext uri="{FF2B5EF4-FFF2-40B4-BE49-F238E27FC236}">
                <a16:creationId xmlns:a16="http://schemas.microsoft.com/office/drawing/2014/main" id="{32CE09E4-9BD3-4F3C-9196-601606BF7350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2696651" y="4323746"/>
            <a:ext cx="816496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Data 34">
            <a:extLst>
              <a:ext uri="{FF2B5EF4-FFF2-40B4-BE49-F238E27FC236}">
                <a16:creationId xmlns:a16="http://schemas.microsoft.com/office/drawing/2014/main" id="{735BE593-A008-4E3F-9DC8-58DC582F0E41}"/>
              </a:ext>
            </a:extLst>
          </p:cNvPr>
          <p:cNvSpPr/>
          <p:nvPr/>
        </p:nvSpPr>
        <p:spPr>
          <a:xfrm>
            <a:off x="642947" y="4780946"/>
            <a:ext cx="1917700" cy="381000"/>
          </a:xfrm>
          <a:prstGeom prst="flowChartInputOutpu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Read/Print</a:t>
            </a:r>
          </a:p>
        </p:txBody>
      </p:sp>
      <p:cxnSp>
        <p:nvCxnSpPr>
          <p:cNvPr id="34" name="Straight Arrow Connector 37">
            <a:extLst>
              <a:ext uri="{FF2B5EF4-FFF2-40B4-BE49-F238E27FC236}">
                <a16:creationId xmlns:a16="http://schemas.microsoft.com/office/drawing/2014/main" id="{B5CFA0E8-2228-4275-9494-F309158F2E12}"/>
              </a:ext>
            </a:extLst>
          </p:cNvPr>
          <p:cNvCxnSpPr>
            <a:endCxn id="26" idx="0"/>
          </p:cNvCxnSpPr>
          <p:nvPr/>
        </p:nvCxnSpPr>
        <p:spPr>
          <a:xfrm>
            <a:off x="2341572" y="5346239"/>
            <a:ext cx="0" cy="18429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76">
            <a:extLst>
              <a:ext uri="{FF2B5EF4-FFF2-40B4-BE49-F238E27FC236}">
                <a16:creationId xmlns:a16="http://schemas.microsoft.com/office/drawing/2014/main" id="{9F4CF524-B888-4B8B-8D80-F1A8E3E87675}"/>
              </a:ext>
            </a:extLst>
          </p:cNvPr>
          <p:cNvSpPr txBox="1"/>
          <p:nvPr/>
        </p:nvSpPr>
        <p:spPr>
          <a:xfrm>
            <a:off x="1627602" y="4509120"/>
            <a:ext cx="3521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onsolas" panose="020B0609020204030204" pitchFamily="49" charset="0"/>
              </a:rPr>
              <a:t>no</a:t>
            </a:r>
          </a:p>
        </p:txBody>
      </p:sp>
      <p:cxnSp>
        <p:nvCxnSpPr>
          <p:cNvPr id="36" name="Straight Arrow Connector 18">
            <a:extLst>
              <a:ext uri="{FF2B5EF4-FFF2-40B4-BE49-F238E27FC236}">
                <a16:creationId xmlns:a16="http://schemas.microsoft.com/office/drawing/2014/main" id="{182B4EBD-8385-4A8F-8D7D-343EDA02FC89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3514725" y="4324350"/>
            <a:ext cx="8401" cy="47421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ata 34">
            <a:extLst>
              <a:ext uri="{FF2B5EF4-FFF2-40B4-BE49-F238E27FC236}">
                <a16:creationId xmlns:a16="http://schemas.microsoft.com/office/drawing/2014/main" id="{CF6E595E-DBB0-45C4-AF61-6DE97D4CF1FE}"/>
              </a:ext>
            </a:extLst>
          </p:cNvPr>
          <p:cNvSpPr/>
          <p:nvPr/>
        </p:nvSpPr>
        <p:spPr>
          <a:xfrm>
            <a:off x="2560648" y="4798567"/>
            <a:ext cx="1924956" cy="381000"/>
          </a:xfrm>
          <a:prstGeom prst="flowChartInputOutpu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Read/Print</a:t>
            </a:r>
          </a:p>
        </p:txBody>
      </p:sp>
      <p:cxnSp>
        <p:nvCxnSpPr>
          <p:cNvPr id="38" name="Straight Arrow Connector 21">
            <a:extLst>
              <a:ext uri="{FF2B5EF4-FFF2-40B4-BE49-F238E27FC236}">
                <a16:creationId xmlns:a16="http://schemas.microsoft.com/office/drawing/2014/main" id="{72A58F05-2519-4777-A706-4BCB252A9853}"/>
              </a:ext>
            </a:extLst>
          </p:cNvPr>
          <p:cNvCxnSpPr/>
          <p:nvPr/>
        </p:nvCxnSpPr>
        <p:spPr>
          <a:xfrm>
            <a:off x="1608147" y="5346239"/>
            <a:ext cx="19050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18">
            <a:extLst>
              <a:ext uri="{FF2B5EF4-FFF2-40B4-BE49-F238E27FC236}">
                <a16:creationId xmlns:a16="http://schemas.microsoft.com/office/drawing/2014/main" id="{07DCD519-467A-475C-AAAC-6047B6903DCE}"/>
              </a:ext>
            </a:extLst>
          </p:cNvPr>
          <p:cNvCxnSpPr>
            <a:stCxn id="33" idx="4"/>
          </p:cNvCxnSpPr>
          <p:nvPr/>
        </p:nvCxnSpPr>
        <p:spPr>
          <a:xfrm>
            <a:off x="1601797" y="5161946"/>
            <a:ext cx="6350" cy="18429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18">
            <a:extLst>
              <a:ext uri="{FF2B5EF4-FFF2-40B4-BE49-F238E27FC236}">
                <a16:creationId xmlns:a16="http://schemas.microsoft.com/office/drawing/2014/main" id="{A16029E4-DAEE-4A97-B9B4-31452D60625B}"/>
              </a:ext>
            </a:extLst>
          </p:cNvPr>
          <p:cNvCxnSpPr/>
          <p:nvPr/>
        </p:nvCxnSpPr>
        <p:spPr>
          <a:xfrm>
            <a:off x="3513147" y="5161946"/>
            <a:ext cx="0" cy="18429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upo 53">
            <a:extLst>
              <a:ext uri="{FF2B5EF4-FFF2-40B4-BE49-F238E27FC236}">
                <a16:creationId xmlns:a16="http://schemas.microsoft.com/office/drawing/2014/main" id="{E4D02FE0-4476-4E4B-B1B0-7EC14150D54C}"/>
              </a:ext>
            </a:extLst>
          </p:cNvPr>
          <p:cNvGrpSpPr/>
          <p:nvPr/>
        </p:nvGrpSpPr>
        <p:grpSpPr>
          <a:xfrm>
            <a:off x="4686171" y="3554521"/>
            <a:ext cx="3829179" cy="1200820"/>
            <a:chOff x="4708396" y="2758299"/>
            <a:chExt cx="3829179" cy="1200820"/>
          </a:xfrm>
        </p:grpSpPr>
        <p:grpSp>
          <p:nvGrpSpPr>
            <p:cNvPr id="10" name="9 Grupo"/>
            <p:cNvGrpSpPr/>
            <p:nvPr/>
          </p:nvGrpSpPr>
          <p:grpSpPr>
            <a:xfrm>
              <a:off x="4708396" y="2986899"/>
              <a:ext cx="3829179" cy="972220"/>
              <a:chOff x="4625968" y="4055676"/>
              <a:chExt cx="3193997" cy="580765"/>
            </a:xfrm>
          </p:grpSpPr>
          <p:sp>
            <p:nvSpPr>
              <p:cNvPr id="12" name="TextBox 75"/>
              <p:cNvSpPr txBox="1"/>
              <p:nvPr/>
            </p:nvSpPr>
            <p:spPr>
              <a:xfrm>
                <a:off x="7391566" y="4143894"/>
                <a:ext cx="333571" cy="147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Consolas" panose="020B0609020204030204" pitchFamily="49" charset="0"/>
                  </a:rPr>
                  <a:t>yes</a:t>
                </a:r>
              </a:p>
            </p:txBody>
          </p:sp>
          <p:sp>
            <p:nvSpPr>
              <p:cNvPr id="13" name="TextBox 76"/>
              <p:cNvSpPr txBox="1"/>
              <p:nvPr/>
            </p:nvSpPr>
            <p:spPr>
              <a:xfrm>
                <a:off x="4812513" y="4132026"/>
                <a:ext cx="309283" cy="147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Consolas" panose="020B0609020204030204" pitchFamily="49" charset="0"/>
                  </a:rPr>
                  <a:t>no</a:t>
                </a:r>
              </a:p>
            </p:txBody>
          </p:sp>
          <p:sp>
            <p:nvSpPr>
              <p:cNvPr id="14" name="Flowchart: Decision 5"/>
              <p:cNvSpPr/>
              <p:nvPr/>
            </p:nvSpPr>
            <p:spPr>
              <a:xfrm>
                <a:off x="5143761" y="4055676"/>
                <a:ext cx="2180704" cy="457200"/>
              </a:xfrm>
              <a:prstGeom prst="flowChartDecision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</a:rPr>
                  <a:t>Decision</a:t>
                </a:r>
              </a:p>
            </p:txBody>
          </p:sp>
          <p:grpSp>
            <p:nvGrpSpPr>
              <p:cNvPr id="15" name="14 Grupo"/>
              <p:cNvGrpSpPr/>
              <p:nvPr/>
            </p:nvGrpSpPr>
            <p:grpSpPr>
              <a:xfrm>
                <a:off x="4625968" y="4281006"/>
                <a:ext cx="528637" cy="355435"/>
                <a:chOff x="4625968" y="4281006"/>
                <a:chExt cx="528637" cy="355435"/>
              </a:xfrm>
            </p:grpSpPr>
            <p:cxnSp>
              <p:nvCxnSpPr>
                <p:cNvPr id="19" name="Straight Arrow Connector 18"/>
                <p:cNvCxnSpPr>
                  <a:cxnSpLocks/>
                </p:cNvCxnSpPr>
                <p:nvPr/>
              </p:nvCxnSpPr>
              <p:spPr>
                <a:xfrm>
                  <a:off x="4626503" y="4281006"/>
                  <a:ext cx="0" cy="355435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8"/>
                <p:cNvCxnSpPr/>
                <p:nvPr/>
              </p:nvCxnSpPr>
              <p:spPr>
                <a:xfrm flipH="1">
                  <a:off x="4625968" y="4284334"/>
                  <a:ext cx="52863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15 Grupo"/>
              <p:cNvGrpSpPr/>
              <p:nvPr/>
            </p:nvGrpSpPr>
            <p:grpSpPr>
              <a:xfrm flipH="1">
                <a:off x="7312562" y="4281837"/>
                <a:ext cx="507403" cy="354604"/>
                <a:chOff x="4648261" y="4281837"/>
                <a:chExt cx="507403" cy="354604"/>
              </a:xfrm>
            </p:grpSpPr>
            <p:cxnSp>
              <p:nvCxnSpPr>
                <p:cNvPr id="17" name="Straight Arrow Connector 18"/>
                <p:cNvCxnSpPr>
                  <a:cxnSpLocks/>
                </p:cNvCxnSpPr>
                <p:nvPr/>
              </p:nvCxnSpPr>
              <p:spPr>
                <a:xfrm>
                  <a:off x="4650911" y="4281837"/>
                  <a:ext cx="2065" cy="35460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Arrow Connector 18"/>
                <p:cNvCxnSpPr>
                  <a:cxnSpLocks/>
                </p:cNvCxnSpPr>
                <p:nvPr/>
              </p:nvCxnSpPr>
              <p:spPr>
                <a:xfrm flipH="1" flipV="1">
                  <a:off x="4648261" y="4281837"/>
                  <a:ext cx="507403" cy="100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7" name="Straight Arrow Connector 15">
              <a:extLst>
                <a:ext uri="{FF2B5EF4-FFF2-40B4-BE49-F238E27FC236}">
                  <a16:creationId xmlns:a16="http://schemas.microsoft.com/office/drawing/2014/main" id="{6FD0FB07-1D13-4A5F-B129-23F030A2B6D1}"/>
                </a:ext>
              </a:extLst>
            </p:cNvPr>
            <p:cNvCxnSpPr/>
            <p:nvPr/>
          </p:nvCxnSpPr>
          <p:spPr>
            <a:xfrm flipH="1">
              <a:off x="6636349" y="2758299"/>
              <a:ext cx="1848" cy="2286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Imagen 54">
            <a:extLst>
              <a:ext uri="{FF2B5EF4-FFF2-40B4-BE49-F238E27FC236}">
                <a16:creationId xmlns:a16="http://schemas.microsoft.com/office/drawing/2014/main" id="{6D49D125-1271-43CF-B36F-19B9978E2B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948" y="2228246"/>
            <a:ext cx="1188349" cy="110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77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528442" y="280812"/>
            <a:ext cx="7464818" cy="656295"/>
          </a:xfrm>
        </p:spPr>
        <p:txBody>
          <a:bodyPr>
            <a:normAutofit fontScale="90000"/>
          </a:bodyPr>
          <a:lstStyle/>
          <a:p>
            <a:r>
              <a:rPr lang="es-CO" dirty="0"/>
              <a:t>Condicionales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251520" y="1050746"/>
            <a:ext cx="8463949" cy="10933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000" dirty="0"/>
              <a:t>Sirven para representar </a:t>
            </a:r>
            <a:r>
              <a:rPr lang="es-ES" sz="2000" b="1" dirty="0"/>
              <a:t>alternativas de ejecución</a:t>
            </a:r>
            <a:r>
              <a:rPr lang="es-ES" sz="2000" dirty="0"/>
              <a:t>, es decir, que se haga una cosa u otra dependiendo del valor de una condición (expresión lógica cuyo valor puede ser </a:t>
            </a:r>
            <a:r>
              <a:rPr lang="es-ES" sz="1800" b="1" dirty="0">
                <a:solidFill>
                  <a:srgbClr val="C00000"/>
                </a:solidFill>
                <a:latin typeface="Consolas" panose="020B0609020204030204" pitchFamily="49" charset="0"/>
              </a:rPr>
              <a:t>Falso</a:t>
            </a:r>
            <a:r>
              <a:rPr lang="es-ES" sz="2000" dirty="0"/>
              <a:t> o </a:t>
            </a:r>
            <a:r>
              <a:rPr lang="es-ES" sz="18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Verdadero</a:t>
            </a:r>
            <a:r>
              <a:rPr lang="es-ES" sz="2000" dirty="0"/>
              <a:t>).</a:t>
            </a:r>
          </a:p>
        </p:txBody>
      </p:sp>
      <p:grpSp>
        <p:nvGrpSpPr>
          <p:cNvPr id="6" name="5 Grupo"/>
          <p:cNvGrpSpPr/>
          <p:nvPr/>
        </p:nvGrpSpPr>
        <p:grpSpPr>
          <a:xfrm>
            <a:off x="4860032" y="2656499"/>
            <a:ext cx="4152900" cy="1502694"/>
            <a:chOff x="4800600" y="2743200"/>
            <a:chExt cx="3657600" cy="1323474"/>
          </a:xfrm>
        </p:grpSpPr>
        <p:sp>
          <p:nvSpPr>
            <p:cNvPr id="7" name="TextBox 75"/>
            <p:cNvSpPr txBox="1"/>
            <p:nvPr/>
          </p:nvSpPr>
          <p:spPr>
            <a:xfrm>
              <a:off x="7467600" y="2895600"/>
              <a:ext cx="609600" cy="230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onsolas" panose="020B0609020204030204" pitchFamily="49" charset="0"/>
                </a:rPr>
                <a:t>no</a:t>
              </a:r>
            </a:p>
          </p:txBody>
        </p:sp>
        <p:sp>
          <p:nvSpPr>
            <p:cNvPr id="8" name="Flowchart: Decision 40"/>
            <p:cNvSpPr/>
            <p:nvPr/>
          </p:nvSpPr>
          <p:spPr>
            <a:xfrm>
              <a:off x="5448300" y="2895600"/>
              <a:ext cx="2343150" cy="457200"/>
            </a:xfrm>
            <a:prstGeom prst="flowChartDecision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latin typeface="Consolas" panose="020B0609020204030204" pitchFamily="49" charset="0"/>
                </a:rPr>
                <a:t>condicion</a:t>
              </a:r>
              <a:endParaRPr lang="en-US" sz="1400" dirty="0">
                <a:latin typeface="Consolas" panose="020B0609020204030204" pitchFamily="49" charset="0"/>
              </a:endParaRPr>
            </a:p>
          </p:txBody>
        </p:sp>
        <p:cxnSp>
          <p:nvCxnSpPr>
            <p:cNvPr id="12" name="Straight Arrow Connector 47"/>
            <p:cNvCxnSpPr>
              <a:endCxn id="8" idx="0"/>
            </p:cNvCxnSpPr>
            <p:nvPr/>
          </p:nvCxnSpPr>
          <p:spPr>
            <a:xfrm>
              <a:off x="6619875" y="2743200"/>
              <a:ext cx="0" cy="15240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49"/>
            <p:cNvCxnSpPr>
              <a:stCxn id="8" idx="3"/>
            </p:cNvCxnSpPr>
            <p:nvPr/>
          </p:nvCxnSpPr>
          <p:spPr>
            <a:xfrm>
              <a:off x="7791450" y="3124200"/>
              <a:ext cx="57150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76"/>
            <p:cNvSpPr txBox="1"/>
            <p:nvPr/>
          </p:nvSpPr>
          <p:spPr>
            <a:xfrm>
              <a:off x="5181600" y="2895600"/>
              <a:ext cx="609600" cy="230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onsolas" panose="020B0609020204030204" pitchFamily="49" charset="0"/>
                </a:rPr>
                <a:t>yes</a:t>
              </a:r>
            </a:p>
          </p:txBody>
        </p:sp>
        <p:cxnSp>
          <p:nvCxnSpPr>
            <p:cNvPr id="19" name="Straight Arrow Connector 47"/>
            <p:cNvCxnSpPr/>
            <p:nvPr/>
          </p:nvCxnSpPr>
          <p:spPr>
            <a:xfrm>
              <a:off x="7848600" y="312420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47"/>
            <p:cNvCxnSpPr/>
            <p:nvPr/>
          </p:nvCxnSpPr>
          <p:spPr>
            <a:xfrm>
              <a:off x="5410200" y="312420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49"/>
            <p:cNvCxnSpPr/>
            <p:nvPr/>
          </p:nvCxnSpPr>
          <p:spPr>
            <a:xfrm>
              <a:off x="5410200" y="312420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Flowchart: Process 42"/>
            <p:cNvSpPr/>
            <p:nvPr/>
          </p:nvSpPr>
          <p:spPr>
            <a:xfrm>
              <a:off x="4800600" y="3429000"/>
              <a:ext cx="1295400" cy="389174"/>
            </a:xfrm>
            <a:prstGeom prst="flowChartProcess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sym typeface="Wingdings" pitchFamily="2" charset="2"/>
                </a:rPr>
                <a:t>Instrucciones</a:t>
              </a:r>
            </a:p>
            <a:p>
              <a:pPr algn="ctr"/>
              <a:r>
                <a:rPr lang="en-US" sz="1400" dirty="0">
                  <a:latin typeface="Consolas" panose="020B0609020204030204" pitchFamily="49" charset="0"/>
                  <a:sym typeface="Wingdings" pitchFamily="2" charset="2"/>
                </a:rPr>
                <a:t>verdadero</a:t>
              </a:r>
              <a:endParaRPr lang="en-US" sz="1400" dirty="0">
                <a:latin typeface="Consolas" panose="020B0609020204030204" pitchFamily="49" charset="0"/>
              </a:endParaRPr>
            </a:p>
          </p:txBody>
        </p:sp>
        <p:sp>
          <p:nvSpPr>
            <p:cNvPr id="23" name="Flowchart: Process 42"/>
            <p:cNvSpPr/>
            <p:nvPr/>
          </p:nvSpPr>
          <p:spPr>
            <a:xfrm>
              <a:off x="7162800" y="3429000"/>
              <a:ext cx="1295400" cy="381000"/>
            </a:xfrm>
            <a:prstGeom prst="flowChartProcess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</a:rPr>
                <a:t>Instrucciones falso</a:t>
              </a:r>
            </a:p>
          </p:txBody>
        </p:sp>
        <p:cxnSp>
          <p:nvCxnSpPr>
            <p:cNvPr id="25" name="Straight Arrow Connector 49"/>
            <p:cNvCxnSpPr/>
            <p:nvPr/>
          </p:nvCxnSpPr>
          <p:spPr>
            <a:xfrm flipV="1">
              <a:off x="5410200" y="3810000"/>
              <a:ext cx="0" cy="256674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49"/>
            <p:cNvCxnSpPr/>
            <p:nvPr/>
          </p:nvCxnSpPr>
          <p:spPr>
            <a:xfrm flipV="1">
              <a:off x="7848600" y="3810000"/>
              <a:ext cx="0" cy="256674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B0FAFAC-4627-42AD-9CD1-A2406D93D7A2}"/>
              </a:ext>
            </a:extLst>
          </p:cNvPr>
          <p:cNvSpPr txBox="1"/>
          <p:nvPr/>
        </p:nvSpPr>
        <p:spPr>
          <a:xfrm>
            <a:off x="367148" y="2656499"/>
            <a:ext cx="4102701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condicion verdadera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Sino</a:t>
            </a:r>
          </a:p>
          <a:p>
            <a:pPr indent="-57150"/>
            <a:r>
              <a:rPr lang="es-ES" sz="1400" dirty="0">
                <a:solidFill>
                  <a:schemeClr val="accent5"/>
                </a:solidFill>
                <a:latin typeface="Consolas" panose="020B0609020204030204" pitchFamily="49" charset="0"/>
              </a:rPr>
              <a:t>  </a:t>
            </a:r>
            <a:r>
              <a:rPr lang="es-ES" sz="1400" dirty="0">
                <a:latin typeface="Consolas" panose="020B0609020204030204" pitchFamily="49" charset="0"/>
              </a:rPr>
              <a:t>instrucciones condición falsa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Fin_Si</a:t>
            </a:r>
            <a:endParaRPr lang="es-CO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pic>
        <p:nvPicPr>
          <p:cNvPr id="27" name="Picture 4" descr="http://fc08.deviantart.net/fs46/f/2009/234/c/4/c49c0ed56535d564df12843469ecf56f.jpg">
            <a:extLst>
              <a:ext uri="{FF2B5EF4-FFF2-40B4-BE49-F238E27FC236}">
                <a16:creationId xmlns:a16="http://schemas.microsoft.com/office/drawing/2014/main" id="{FBB00DD9-6847-42C9-A4D4-8BE08BBEB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626" y="4425214"/>
            <a:ext cx="447976" cy="1062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http://images4.wikia.nocookie.net/__cb20111104190436/looneytunes/es/images/4/49/Gallo_Claudio.jpg">
            <a:extLst>
              <a:ext uri="{FF2B5EF4-FFF2-40B4-BE49-F238E27FC236}">
                <a16:creationId xmlns:a16="http://schemas.microsoft.com/office/drawing/2014/main" id="{A14585E1-E568-4EC9-8FFA-66DF33820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197" y="4586698"/>
            <a:ext cx="972272" cy="959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BDACD490-295D-4284-98E6-FE08BDE00136}"/>
              </a:ext>
            </a:extLst>
          </p:cNvPr>
          <p:cNvSpPr txBox="1"/>
          <p:nvPr/>
        </p:nvSpPr>
        <p:spPr>
          <a:xfrm>
            <a:off x="380793" y="4425214"/>
            <a:ext cx="410270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if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condicion verdadera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else:</a:t>
            </a:r>
          </a:p>
          <a:p>
            <a:pPr indent="-57150"/>
            <a:r>
              <a:rPr lang="es-ES" sz="1400" dirty="0">
                <a:solidFill>
                  <a:schemeClr val="accent5"/>
                </a:solidFill>
                <a:latin typeface="Consolas" panose="020B0609020204030204" pitchFamily="49" charset="0"/>
              </a:rPr>
              <a:t>  </a:t>
            </a:r>
            <a:r>
              <a:rPr lang="es-ES" sz="1400" dirty="0">
                <a:latin typeface="Consolas" panose="020B0609020204030204" pitchFamily="49" charset="0"/>
              </a:rPr>
              <a:t>instrucciones condición falsa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7B8A654-C28C-4332-BD53-BCEBC9BE4602}"/>
              </a:ext>
            </a:extLst>
          </p:cNvPr>
          <p:cNvSpPr txBox="1"/>
          <p:nvPr/>
        </p:nvSpPr>
        <p:spPr>
          <a:xfrm>
            <a:off x="5688115" y="2129823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Diagrama de flujo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2B22E46-E39C-4372-8B1E-C8CD64F22447}"/>
              </a:ext>
            </a:extLst>
          </p:cNvPr>
          <p:cNvSpPr txBox="1"/>
          <p:nvPr/>
        </p:nvSpPr>
        <p:spPr>
          <a:xfrm>
            <a:off x="1132758" y="2158721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3DECA85-7672-4833-A1BE-92456D2A17A0}"/>
              </a:ext>
            </a:extLst>
          </p:cNvPr>
          <p:cNvSpPr txBox="1"/>
          <p:nvPr/>
        </p:nvSpPr>
        <p:spPr>
          <a:xfrm>
            <a:off x="1167658" y="4000981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663105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528442" y="280812"/>
            <a:ext cx="7464818" cy="656295"/>
          </a:xfrm>
        </p:spPr>
        <p:txBody>
          <a:bodyPr>
            <a:normAutofit fontScale="90000"/>
          </a:bodyPr>
          <a:lstStyle/>
          <a:p>
            <a:r>
              <a:rPr lang="es-CO" dirty="0"/>
              <a:t>Sobre la condición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251520" y="1050746"/>
            <a:ext cx="8640960" cy="4250462"/>
          </a:xfrm>
        </p:spPr>
        <p:txBody>
          <a:bodyPr>
            <a:noAutofit/>
          </a:bodyPr>
          <a:lstStyle/>
          <a:p>
            <a:r>
              <a:rPr lang="es-MX" sz="2200" dirty="0"/>
              <a:t>Una condición es una </a:t>
            </a:r>
            <a:r>
              <a:rPr lang="es-MX" sz="2200" b="1" dirty="0"/>
              <a:t>expresión lógica</a:t>
            </a:r>
            <a:r>
              <a:rPr lang="es-MX" sz="2200" dirty="0"/>
              <a:t> que puede ser falsa o verdadera, y se construye mediante el uso de operadores:</a:t>
            </a:r>
          </a:p>
          <a:p>
            <a:pPr lvl="1"/>
            <a:r>
              <a:rPr lang="es-MX" sz="2000" b="1" dirty="0"/>
              <a:t>Relacionales</a:t>
            </a:r>
            <a:r>
              <a:rPr lang="es-MX" sz="2000" dirty="0"/>
              <a:t>: 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==</a:t>
            </a:r>
            <a:r>
              <a:rPr lang="es-MX" sz="2000" dirty="0"/>
              <a:t>, 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!=</a:t>
            </a:r>
            <a:r>
              <a:rPr lang="es-MX" sz="2000" dirty="0"/>
              <a:t>, 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&lt;</a:t>
            </a:r>
            <a:r>
              <a:rPr lang="es-MX" sz="2000" dirty="0"/>
              <a:t>, 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&gt;</a:t>
            </a:r>
            <a:r>
              <a:rPr lang="es-MX" sz="2000" dirty="0"/>
              <a:t>, 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&lt;=</a:t>
            </a:r>
            <a:r>
              <a:rPr lang="es-MX" sz="2000" dirty="0"/>
              <a:t>, 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&gt;=</a:t>
            </a:r>
          </a:p>
          <a:p>
            <a:pPr lvl="1"/>
            <a:r>
              <a:rPr lang="es-MX" sz="2000" b="1" dirty="0"/>
              <a:t>Lógicos</a:t>
            </a:r>
            <a:r>
              <a:rPr lang="es-MX" sz="2000" dirty="0"/>
              <a:t>: 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not</a:t>
            </a:r>
            <a:r>
              <a:rPr lang="es-MX" sz="2000" dirty="0"/>
              <a:t>, 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and</a:t>
            </a:r>
            <a:r>
              <a:rPr lang="es-MX" sz="2000" dirty="0"/>
              <a:t>, 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or</a:t>
            </a:r>
          </a:p>
          <a:p>
            <a:r>
              <a:rPr lang="es-MX" sz="2200" dirty="0"/>
              <a:t>La condición puede ser:</a:t>
            </a:r>
          </a:p>
          <a:p>
            <a:pPr lvl="1"/>
            <a:r>
              <a:rPr lang="es-MX" sz="2000" b="1" dirty="0"/>
              <a:t>Simple</a:t>
            </a:r>
            <a:r>
              <a:rPr lang="es-MX" sz="2000" dirty="0"/>
              <a:t>: formada por una sola expresión relacional.</a:t>
            </a:r>
          </a:p>
          <a:p>
            <a:pPr lvl="1"/>
            <a:r>
              <a:rPr lang="es-MX" sz="2000" b="1" dirty="0"/>
              <a:t>Compuesta</a:t>
            </a:r>
            <a:r>
              <a:rPr lang="es-MX" sz="2000" dirty="0"/>
              <a:t>: combina, mediante operadores lógicos, dos o más condiciones simples.</a:t>
            </a:r>
          </a:p>
          <a:p>
            <a:r>
              <a:rPr lang="es-MX" sz="2200" dirty="0"/>
              <a:t>En Python es posible escribir comparaciones encadenadas como </a:t>
            </a:r>
            <a:r>
              <a:rPr lang="es-MX" sz="2000" dirty="0">
                <a:solidFill>
                  <a:srgbClr val="C00000"/>
                </a:solidFill>
                <a:latin typeface="Consolas" panose="020B0609020204030204" pitchFamily="49" charset="0"/>
              </a:rPr>
              <a:t>20 &lt;= distancia &lt;= 35</a:t>
            </a:r>
            <a:r>
              <a:rPr lang="es-MX" sz="2200" dirty="0"/>
              <a:t>, que equivalen a </a:t>
            </a:r>
            <a:r>
              <a:rPr lang="es-MX" sz="2000" dirty="0">
                <a:solidFill>
                  <a:srgbClr val="C00000"/>
                </a:solidFill>
                <a:latin typeface="Consolas" panose="020B0609020204030204" pitchFamily="49" charset="0"/>
              </a:rPr>
              <a:t>distancia &gt;= 20 and distancia &lt;= 35</a:t>
            </a:r>
            <a:r>
              <a:rPr lang="es-MX" sz="2200" dirty="0"/>
              <a:t>, pero de forma más compacta y cercana a la notación matemática.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899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52701" y="332656"/>
            <a:ext cx="4866256" cy="648072"/>
          </a:xfrm>
        </p:spPr>
        <p:txBody>
          <a:bodyPr>
            <a:normAutofit fontScale="90000"/>
          </a:bodyPr>
          <a:lstStyle/>
          <a:p>
            <a:r>
              <a:rPr lang="es-CO" dirty="0"/>
              <a:t>Condicionales</a:t>
            </a:r>
          </a:p>
        </p:txBody>
      </p:sp>
      <p:sp>
        <p:nvSpPr>
          <p:cNvPr id="3" name="2 Rectángulo"/>
          <p:cNvSpPr/>
          <p:nvPr/>
        </p:nvSpPr>
        <p:spPr>
          <a:xfrm>
            <a:off x="352700" y="1124744"/>
            <a:ext cx="8438599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Ejemplos:</a:t>
            </a:r>
            <a:endParaRPr lang="es-CO" sz="2000" dirty="0"/>
          </a:p>
          <a:p>
            <a:r>
              <a:rPr lang="es-CO" sz="2000" dirty="0"/>
              <a:t>Escribir las sentencias condicionales apropiadas para cada uno de los siguiente casos.</a:t>
            </a:r>
          </a:p>
          <a:p>
            <a:pPr marL="457200" indent="-457200">
              <a:buFont typeface="+mj-lt"/>
              <a:buAutoNum type="arabicPeriod"/>
            </a:pPr>
            <a:r>
              <a:rPr lang="es-CO" dirty="0"/>
              <a:t>Si un ángulo es igual a 90°, escribir el “ángulo es recto”; sino imprimir “el ángulo no es recto”.</a:t>
            </a:r>
          </a:p>
          <a:p>
            <a:pPr marL="457200" indent="-457200">
              <a:buFont typeface="+mj-lt"/>
              <a:buAutoNum type="arabicPeriod"/>
            </a:pPr>
            <a:r>
              <a:rPr lang="es-CO" altLang="es-CO" dirty="0"/>
              <a:t>Si la temperatura es superior a 100 °C visualizar el mensaje: “Por encima del punto de ebullición del agua” sino visualizar el mensaje “Por debajo del punto de ebullición del agua”.</a:t>
            </a:r>
          </a:p>
          <a:p>
            <a:pPr marL="457200" indent="-457200">
              <a:buFont typeface="+mj-lt"/>
              <a:buAutoNum type="arabicPeriod"/>
            </a:pPr>
            <a:r>
              <a:rPr lang="es-CO" altLang="es-CO" dirty="0"/>
              <a:t>Si X mayor que Y, y Z menor que 20 leer un valor para P.</a:t>
            </a:r>
          </a:p>
          <a:p>
            <a:pPr marL="457200" indent="-457200">
              <a:buFont typeface="+mj-lt"/>
              <a:buAutoNum type="arabicPeriod"/>
            </a:pPr>
            <a:r>
              <a:rPr lang="es-CO" altLang="es-CO" dirty="0"/>
              <a:t>Si la distancia se encuentra entre 20 y 35 incluidos estos, leer un valor para un tiempo.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05353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82588" y="259898"/>
            <a:ext cx="8264428" cy="614105"/>
          </a:xfrm>
        </p:spPr>
        <p:txBody>
          <a:bodyPr>
            <a:normAutofit fontScale="90000"/>
          </a:bodyPr>
          <a:lstStyle/>
          <a:p>
            <a:r>
              <a:rPr lang="es-CO" dirty="0"/>
              <a:t>Condicionales</a:t>
            </a:r>
          </a:p>
        </p:txBody>
      </p:sp>
      <p:sp>
        <p:nvSpPr>
          <p:cNvPr id="3" name="2 Rectángulo"/>
          <p:cNvSpPr/>
          <p:nvPr/>
        </p:nvSpPr>
        <p:spPr>
          <a:xfrm>
            <a:off x="364147" y="869762"/>
            <a:ext cx="825148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Ejemplo 1 - solución:</a:t>
            </a:r>
            <a:r>
              <a:rPr lang="es-CO" sz="2000" b="1" dirty="0">
                <a:solidFill>
                  <a:srgbClr val="FF0000"/>
                </a:solidFill>
              </a:rPr>
              <a:t> </a:t>
            </a:r>
            <a:r>
              <a:rPr lang="es-CO" dirty="0"/>
              <a:t>Si un ángulo es igual a 90°, escribir el “ángulo es recto”; sino imprimir “el ángulo no es recto”.</a:t>
            </a:r>
          </a:p>
        </p:txBody>
      </p:sp>
      <p:sp>
        <p:nvSpPr>
          <p:cNvPr id="2" name="1 Rectángulo"/>
          <p:cNvSpPr/>
          <p:nvPr/>
        </p:nvSpPr>
        <p:spPr>
          <a:xfrm>
            <a:off x="416882" y="1643444"/>
            <a:ext cx="19367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/>
              <a:t>Variables: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/>
              <a:t>Angulo</a:t>
            </a:r>
            <a:r>
              <a:rPr lang="es-CO" dirty="0"/>
              <a:t>: </a:t>
            </a:r>
            <a:r>
              <a:rPr lang="es-CO" sz="1600" dirty="0">
                <a:latin typeface="Consolas" panose="020B0609020204030204" pitchFamily="49" charset="0"/>
              </a:rPr>
              <a:t>angulo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E99A4B-76E0-4511-A346-DD7DCFE81B9F}"/>
              </a:ext>
            </a:extLst>
          </p:cNvPr>
          <p:cNvSpPr txBox="1"/>
          <p:nvPr/>
        </p:nvSpPr>
        <p:spPr>
          <a:xfrm>
            <a:off x="5003556" y="4869160"/>
            <a:ext cx="3776293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dirty="0">
                <a:latin typeface="Consolas" panose="020B0609020204030204" pitchFamily="49" charset="0"/>
              </a:rPr>
              <a:t>if angulo == 90: 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print("El angulo es recto")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else:  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print("El angulo no es recto")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20734CB-979A-47AE-A1F6-E7B0D64ECD72}"/>
              </a:ext>
            </a:extLst>
          </p:cNvPr>
          <p:cNvSpPr txBox="1"/>
          <p:nvPr/>
        </p:nvSpPr>
        <p:spPr>
          <a:xfrm>
            <a:off x="6118811" y="5961504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2"/>
              </a:rPr>
              <a:t>Link de ejecución</a:t>
            </a:r>
            <a:endParaRPr lang="es-CO" sz="1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7A7BB71-5FCF-4F1E-BAD2-48D78CF9D7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621" y="1802874"/>
            <a:ext cx="4754857" cy="254955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F3ED8EA-3CE9-4D1C-A9D0-73C5550D12AB}"/>
              </a:ext>
            </a:extLst>
          </p:cNvPr>
          <p:cNvSpPr txBox="1"/>
          <p:nvPr/>
        </p:nvSpPr>
        <p:spPr>
          <a:xfrm>
            <a:off x="491147" y="4872062"/>
            <a:ext cx="4080853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dirty="0">
                <a:latin typeface="Consolas" panose="020B0609020204030204" pitchFamily="49" charset="0"/>
              </a:rPr>
              <a:t>Si angulo == 90 Entonces: 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Escribir("El angulo es recto")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Sino  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Escribir("El angulo no es recto")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Fin_Si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2FCD7F1-B206-47A3-B66B-4B8963BAF566}"/>
              </a:ext>
            </a:extLst>
          </p:cNvPr>
          <p:cNvSpPr txBox="1"/>
          <p:nvPr/>
        </p:nvSpPr>
        <p:spPr>
          <a:xfrm>
            <a:off x="1141550" y="4469050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495F766-926B-4E77-9CE2-A73D503D9D33}"/>
              </a:ext>
            </a:extLst>
          </p:cNvPr>
          <p:cNvSpPr txBox="1"/>
          <p:nvPr/>
        </p:nvSpPr>
        <p:spPr>
          <a:xfrm>
            <a:off x="5679621" y="4516176"/>
            <a:ext cx="242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Python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FD80150-9248-42CE-B7CE-D6F48C2E6149}"/>
              </a:ext>
            </a:extLst>
          </p:cNvPr>
          <p:cNvSpPr txBox="1"/>
          <p:nvPr/>
        </p:nvSpPr>
        <p:spPr>
          <a:xfrm>
            <a:off x="5129968" y="1413302"/>
            <a:ext cx="242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Diagrama de flujo</a:t>
            </a:r>
          </a:p>
        </p:txBody>
      </p:sp>
    </p:spTree>
    <p:extLst>
      <p:ext uri="{BB962C8B-B14F-4D97-AF65-F5344CB8AC3E}">
        <p14:creationId xmlns:p14="http://schemas.microsoft.com/office/powerpoint/2010/main" val="3879975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83724" y="204351"/>
            <a:ext cx="8464739" cy="629733"/>
          </a:xfrm>
        </p:spPr>
        <p:txBody>
          <a:bodyPr>
            <a:normAutofit fontScale="90000"/>
          </a:bodyPr>
          <a:lstStyle/>
          <a:p>
            <a:r>
              <a:rPr lang="es-CO" dirty="0"/>
              <a:t>Condicionales</a:t>
            </a:r>
          </a:p>
        </p:txBody>
      </p:sp>
      <p:sp>
        <p:nvSpPr>
          <p:cNvPr id="9" name="8 Rectángulo"/>
          <p:cNvSpPr/>
          <p:nvPr/>
        </p:nvSpPr>
        <p:spPr>
          <a:xfrm>
            <a:off x="107504" y="1744027"/>
            <a:ext cx="21231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/>
              <a:t>Variables</a:t>
            </a:r>
            <a:r>
              <a:rPr lang="es-CO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/>
              <a:t>Temperatura</a:t>
            </a:r>
            <a:r>
              <a:rPr lang="es-CO" dirty="0"/>
              <a:t>: </a:t>
            </a:r>
            <a:r>
              <a:rPr lang="es-CO" sz="1600" dirty="0"/>
              <a:t>T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D7F0831-14B0-4251-A275-B40031790274}"/>
              </a:ext>
            </a:extLst>
          </p:cNvPr>
          <p:cNvSpPr txBox="1"/>
          <p:nvPr/>
        </p:nvSpPr>
        <p:spPr>
          <a:xfrm>
            <a:off x="3987801" y="4730183"/>
            <a:ext cx="50927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if T &gt; 100: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print("Por encima del punto de ebullición del agua")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else: 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print("Por debajo del punto de ebullición del agua")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2CCDB-5715-4E6D-A866-E82CC2AE0C13}"/>
              </a:ext>
            </a:extLst>
          </p:cNvPr>
          <p:cNvSpPr txBox="1"/>
          <p:nvPr/>
        </p:nvSpPr>
        <p:spPr>
          <a:xfrm>
            <a:off x="5685056" y="5600273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2"/>
              </a:rPr>
              <a:t>Link de ejecución</a:t>
            </a:r>
            <a:endParaRPr lang="es-CO" sz="1200" dirty="0"/>
          </a:p>
        </p:txBody>
      </p:sp>
      <p:sp>
        <p:nvSpPr>
          <p:cNvPr id="10" name="2 Rectángulo">
            <a:extLst>
              <a:ext uri="{FF2B5EF4-FFF2-40B4-BE49-F238E27FC236}">
                <a16:creationId xmlns:a16="http://schemas.microsoft.com/office/drawing/2014/main" id="{2698DF47-7AC1-4366-88D1-3C3F776CAE9B}"/>
              </a:ext>
            </a:extLst>
          </p:cNvPr>
          <p:cNvSpPr/>
          <p:nvPr/>
        </p:nvSpPr>
        <p:spPr>
          <a:xfrm>
            <a:off x="107505" y="718842"/>
            <a:ext cx="88569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Ejemplo 2 - solución: </a:t>
            </a:r>
            <a:r>
              <a:rPr lang="es-CO" altLang="es-CO" dirty="0"/>
              <a:t>Si la temperatura es superior a 100 °C visualizar el mensaje: “Por encima del punto de ebullición del agua” sino visualizar el mensaje “Por debajo del punto de ebullición del agua”.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A43F8D5-0B00-4F42-AFDF-51821533B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3163227"/>
            <a:ext cx="3740846" cy="200583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3D2A9CD-2801-4F92-89BB-222C501565FA}"/>
              </a:ext>
            </a:extLst>
          </p:cNvPr>
          <p:cNvSpPr txBox="1"/>
          <p:nvPr/>
        </p:nvSpPr>
        <p:spPr>
          <a:xfrm>
            <a:off x="3987800" y="3171074"/>
            <a:ext cx="509270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Si (T &gt; 100) Entonces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Escribir("Por encima del punto de ebullición del agua")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Sino 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Escribir("Por debajo del punto de ebullición del agua")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Fin_Si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891A11F-2037-49A7-ADC0-EBF18FD66B4B}"/>
              </a:ext>
            </a:extLst>
          </p:cNvPr>
          <p:cNvSpPr txBox="1"/>
          <p:nvPr/>
        </p:nvSpPr>
        <p:spPr>
          <a:xfrm>
            <a:off x="5322069" y="2699003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5B50D68-0DDF-4FEC-896F-AEA2988FCF8A}"/>
              </a:ext>
            </a:extLst>
          </p:cNvPr>
          <p:cNvSpPr txBox="1"/>
          <p:nvPr/>
        </p:nvSpPr>
        <p:spPr>
          <a:xfrm>
            <a:off x="5322069" y="4288890"/>
            <a:ext cx="242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Python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49E4740-4F13-4EB3-B46B-4C1EFC846DE6}"/>
              </a:ext>
            </a:extLst>
          </p:cNvPr>
          <p:cNvSpPr txBox="1"/>
          <p:nvPr/>
        </p:nvSpPr>
        <p:spPr>
          <a:xfrm>
            <a:off x="765846" y="2661050"/>
            <a:ext cx="242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Diagrama de flujo</a:t>
            </a:r>
          </a:p>
        </p:txBody>
      </p:sp>
    </p:spTree>
    <p:extLst>
      <p:ext uri="{BB962C8B-B14F-4D97-AF65-F5344CB8AC3E}">
        <p14:creationId xmlns:p14="http://schemas.microsoft.com/office/powerpoint/2010/main" val="2374746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01156" y="260648"/>
            <a:ext cx="8314194" cy="677108"/>
          </a:xfrm>
        </p:spPr>
        <p:txBody>
          <a:bodyPr>
            <a:normAutofit fontScale="90000"/>
          </a:bodyPr>
          <a:lstStyle/>
          <a:p>
            <a:r>
              <a:rPr lang="es-CO" dirty="0"/>
              <a:t>Condicionales</a:t>
            </a:r>
          </a:p>
        </p:txBody>
      </p:sp>
      <p:sp>
        <p:nvSpPr>
          <p:cNvPr id="3" name="2 Rectángulo"/>
          <p:cNvSpPr/>
          <p:nvPr/>
        </p:nvSpPr>
        <p:spPr>
          <a:xfrm>
            <a:off x="201156" y="991728"/>
            <a:ext cx="78278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Ejemplo 3 - solución: </a:t>
            </a:r>
            <a:r>
              <a:rPr lang="es-CO" altLang="es-CO" dirty="0"/>
              <a:t>Si X mayor que Y, y Z menor que 20 leer un valor para P.</a:t>
            </a:r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400050" y="1479479"/>
            <a:ext cx="1122487" cy="13542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/>
              <a:t>Variables</a:t>
            </a:r>
            <a:r>
              <a:rPr lang="es-CO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P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6D320AB-C254-4C93-B6E3-292AF048A361}"/>
              </a:ext>
            </a:extLst>
          </p:cNvPr>
          <p:cNvSpPr txBox="1"/>
          <p:nvPr/>
        </p:nvSpPr>
        <p:spPr>
          <a:xfrm>
            <a:off x="404012" y="4911219"/>
            <a:ext cx="373990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if ((X &gt; Y) and (Z &lt; 20)): 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P = int(input("P = "))</a:t>
            </a:r>
            <a:endParaRPr lang="es-CO" sz="1400" dirty="0">
              <a:latin typeface="Consolas" panose="020B0609020204030204" pitchFamily="49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67E3724-C96D-4666-8EF7-C9DBC6411F08}"/>
              </a:ext>
            </a:extLst>
          </p:cNvPr>
          <p:cNvSpPr txBox="1"/>
          <p:nvPr/>
        </p:nvSpPr>
        <p:spPr>
          <a:xfrm>
            <a:off x="1331640" y="5471024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latin typeface="Century Gothic" panose="020B0502020202020204" pitchFamily="34" charset="0"/>
                <a:hlinkClick r:id="rId2"/>
              </a:rPr>
              <a:t>Link de ejecución</a:t>
            </a:r>
            <a:endParaRPr lang="es-CO" sz="1200" dirty="0">
              <a:latin typeface="Century Gothic" panose="020B0502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E5AF35F-3728-4C10-BC1A-EA3931D4F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432" y="2543401"/>
            <a:ext cx="3343275" cy="225742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AB99C1B-86B7-4A61-8F5B-0365EB082CC2}"/>
              </a:ext>
            </a:extLst>
          </p:cNvPr>
          <p:cNvSpPr txBox="1"/>
          <p:nvPr/>
        </p:nvSpPr>
        <p:spPr>
          <a:xfrm>
            <a:off x="400050" y="3284984"/>
            <a:ext cx="3739902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Si ((X &gt; Y) and (Z &lt; 20)) Entonces 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Leer(P)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Fin_si</a:t>
            </a:r>
            <a:endParaRPr lang="es-CO" sz="1400" dirty="0">
              <a:latin typeface="Consolas" panose="020B0609020204030204" pitchFamily="49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D2B6E51-ACDA-42FE-858D-676FE1995979}"/>
              </a:ext>
            </a:extLst>
          </p:cNvPr>
          <p:cNvSpPr txBox="1"/>
          <p:nvPr/>
        </p:nvSpPr>
        <p:spPr>
          <a:xfrm>
            <a:off x="961293" y="290065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390730E-F666-4DF9-9AB0-E99285540EE4}"/>
              </a:ext>
            </a:extLst>
          </p:cNvPr>
          <p:cNvSpPr txBox="1"/>
          <p:nvPr/>
        </p:nvSpPr>
        <p:spPr>
          <a:xfrm>
            <a:off x="961293" y="4533732"/>
            <a:ext cx="242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Python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1DFDC19-DFAB-4BBF-917E-B5740883DB17}"/>
              </a:ext>
            </a:extLst>
          </p:cNvPr>
          <p:cNvSpPr txBox="1"/>
          <p:nvPr/>
        </p:nvSpPr>
        <p:spPr>
          <a:xfrm>
            <a:off x="5524607" y="2031806"/>
            <a:ext cx="242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Diagrama de flujo</a:t>
            </a:r>
          </a:p>
        </p:txBody>
      </p:sp>
    </p:spTree>
    <p:extLst>
      <p:ext uri="{BB962C8B-B14F-4D97-AF65-F5344CB8AC3E}">
        <p14:creationId xmlns:p14="http://schemas.microsoft.com/office/powerpoint/2010/main" val="35746463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2640" y="252698"/>
            <a:ext cx="7886700" cy="663583"/>
          </a:xfrm>
        </p:spPr>
        <p:txBody>
          <a:bodyPr>
            <a:normAutofit fontScale="90000"/>
          </a:bodyPr>
          <a:lstStyle/>
          <a:p>
            <a:r>
              <a:rPr lang="es-CO" dirty="0"/>
              <a:t>Condicionales</a:t>
            </a:r>
          </a:p>
        </p:txBody>
      </p:sp>
      <p:sp>
        <p:nvSpPr>
          <p:cNvPr id="3" name="2 Rectángulo"/>
          <p:cNvSpPr/>
          <p:nvPr/>
        </p:nvSpPr>
        <p:spPr>
          <a:xfrm>
            <a:off x="192640" y="921004"/>
            <a:ext cx="855582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Ejemplo 4 - solución: </a:t>
            </a:r>
            <a:r>
              <a:rPr lang="es-CO" altLang="es-CO" dirty="0"/>
              <a:t>Si la distancia se encuentra entre 20 y 35 incluidos estos, leer un valor para un tiempo.</a:t>
            </a:r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192640" y="1631524"/>
            <a:ext cx="19310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/>
              <a:t>Variables</a:t>
            </a:r>
            <a:r>
              <a:rPr lang="es-CO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/>
              <a:t>Distancia</a:t>
            </a:r>
            <a:r>
              <a:rPr lang="es-CO" dirty="0"/>
              <a:t>:</a:t>
            </a:r>
            <a:r>
              <a:rPr lang="es-CO" sz="1600" dirty="0"/>
              <a:t> </a:t>
            </a:r>
            <a:r>
              <a:rPr lang="es-CO" sz="1600" dirty="0">
                <a:latin typeface="Consolas" panose="020B0609020204030204" pitchFamily="49" charset="0"/>
              </a:rPr>
              <a:t>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/>
              <a:t>Tiempo</a:t>
            </a:r>
            <a:r>
              <a:rPr lang="es-CO" dirty="0"/>
              <a:t>: </a:t>
            </a:r>
            <a:r>
              <a:rPr lang="es-CO" sz="1600" dirty="0">
                <a:latin typeface="Consolas" panose="020B0609020204030204" pitchFamily="49" charset="0"/>
              </a:rPr>
              <a:t>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B6BDE68-2B2B-4788-BAFD-AE52AC7A7E72}"/>
              </a:ext>
            </a:extLst>
          </p:cNvPr>
          <p:cNvSpPr txBox="1"/>
          <p:nvPr/>
        </p:nvSpPr>
        <p:spPr>
          <a:xfrm>
            <a:off x="4355976" y="5384494"/>
            <a:ext cx="4521285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if (20 &lt;= d &lt;= 35):    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t = int(input("Digite el tiempo: "))</a:t>
            </a:r>
            <a:endParaRPr lang="es-CO" sz="1600" dirty="0">
              <a:latin typeface="Consolas" panose="020B0609020204030204" pitchFamily="49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3515E18-24C5-4219-AC04-AF35482970AF}"/>
              </a:ext>
            </a:extLst>
          </p:cNvPr>
          <p:cNvSpPr txBox="1"/>
          <p:nvPr/>
        </p:nvSpPr>
        <p:spPr>
          <a:xfrm>
            <a:off x="5807368" y="6023569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latin typeface="Century Gothic" panose="020B0502020202020204" pitchFamily="34" charset="0"/>
                <a:hlinkClick r:id="rId2"/>
              </a:rPr>
              <a:t>Link de ejecución</a:t>
            </a:r>
            <a:endParaRPr lang="es-CO" sz="1200" dirty="0">
              <a:latin typeface="Century Gothic" panose="020B0502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5CC8B75-9737-4221-A8EC-2F01E10ADB88}"/>
              </a:ext>
            </a:extLst>
          </p:cNvPr>
          <p:cNvSpPr txBox="1"/>
          <p:nvPr/>
        </p:nvSpPr>
        <p:spPr>
          <a:xfrm>
            <a:off x="4355976" y="3974807"/>
            <a:ext cx="4521285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if ((d &gt;= 20)and(d &lt;= 35)):    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t = int(input("Digite el tiempo: "))</a:t>
            </a:r>
            <a:endParaRPr lang="es-CO" sz="1600" dirty="0"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33FED58-9B61-4384-A8D4-7B2B5A8F5A83}"/>
              </a:ext>
            </a:extLst>
          </p:cNvPr>
          <p:cNvSpPr txBox="1"/>
          <p:nvPr/>
        </p:nvSpPr>
        <p:spPr>
          <a:xfrm>
            <a:off x="4355976" y="3573016"/>
            <a:ext cx="1973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Python - Forma 1</a:t>
            </a:r>
            <a:r>
              <a:rPr lang="es-CO" dirty="0"/>
              <a:t>: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9845487-B044-463C-BB98-E7F1AD66E8AF}"/>
              </a:ext>
            </a:extLst>
          </p:cNvPr>
          <p:cNvSpPr txBox="1"/>
          <p:nvPr/>
        </p:nvSpPr>
        <p:spPr>
          <a:xfrm>
            <a:off x="4347840" y="5006287"/>
            <a:ext cx="2203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Python - Forma 2</a:t>
            </a:r>
            <a:r>
              <a:rPr lang="es-CO" dirty="0"/>
              <a:t>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27D1085-D43F-4209-8A7D-68F69E276092}"/>
              </a:ext>
            </a:extLst>
          </p:cNvPr>
          <p:cNvSpPr txBox="1"/>
          <p:nvPr/>
        </p:nvSpPr>
        <p:spPr>
          <a:xfrm>
            <a:off x="5806264" y="4630371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latin typeface="Century Gothic" panose="020B0502020202020204" pitchFamily="34" charset="0"/>
                <a:hlinkClick r:id="rId3"/>
              </a:rPr>
              <a:t>Link de ejecución</a:t>
            </a:r>
            <a:endParaRPr lang="es-CO" sz="1200" dirty="0">
              <a:latin typeface="Century Gothic" panose="020B0502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EBD681A-EED1-4D86-AE34-066F1196F7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" y="3112846"/>
            <a:ext cx="3648075" cy="2257425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54A18CAB-5ACB-44F4-A856-C944B63125B9}"/>
              </a:ext>
            </a:extLst>
          </p:cNvPr>
          <p:cNvSpPr txBox="1"/>
          <p:nvPr/>
        </p:nvSpPr>
        <p:spPr>
          <a:xfrm>
            <a:off x="1259632" y="2650530"/>
            <a:ext cx="1973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Diagrama de flujo</a:t>
            </a:r>
            <a:endParaRPr lang="es-CO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39D1F0C-30E5-46E3-AC6E-6F59CDCD1615}"/>
              </a:ext>
            </a:extLst>
          </p:cNvPr>
          <p:cNvSpPr txBox="1"/>
          <p:nvPr/>
        </p:nvSpPr>
        <p:spPr>
          <a:xfrm>
            <a:off x="4355976" y="2464218"/>
            <a:ext cx="452128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Si ((d &gt;= 20)and(d &lt;= 35)) Entonces    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t = int(input("Digite el tiempo: "))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Fin_Si</a:t>
            </a:r>
            <a:endParaRPr lang="es-CO" sz="1600" dirty="0">
              <a:latin typeface="Consolas" panose="020B0609020204030204" pitchFamily="49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7132E2C-9D6E-480F-AC87-8E5A1C0A63FA}"/>
              </a:ext>
            </a:extLst>
          </p:cNvPr>
          <p:cNvSpPr txBox="1"/>
          <p:nvPr/>
        </p:nvSpPr>
        <p:spPr>
          <a:xfrm>
            <a:off x="4347840" y="2024097"/>
            <a:ext cx="1973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Pseudocódigo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43107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81484" y="252929"/>
            <a:ext cx="8576766" cy="1267245"/>
          </a:xfrm>
        </p:spPr>
        <p:txBody>
          <a:bodyPr>
            <a:normAutofit/>
          </a:bodyPr>
          <a:lstStyle/>
          <a:p>
            <a:r>
              <a:rPr lang="es-CO" sz="3600" dirty="0"/>
              <a:t>Casos en los problemas de decisión lógica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7" name="6 Diagrama"/>
          <p:cNvGraphicFramePr/>
          <p:nvPr>
            <p:extLst>
              <p:ext uri="{D42A27DB-BD31-4B8C-83A1-F6EECF244321}">
                <p14:modId xmlns:p14="http://schemas.microsoft.com/office/powerpoint/2010/main" val="3190068776"/>
              </p:ext>
            </p:extLst>
          </p:nvPr>
        </p:nvGraphicFramePr>
        <p:xfrm>
          <a:off x="273844" y="223555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25" y="3632994"/>
            <a:ext cx="2143125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781" y="1949619"/>
            <a:ext cx="2003811" cy="1362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25" y="4839802"/>
            <a:ext cx="2321183" cy="1765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56CB6FA-B43E-40A5-ADB1-20CD5CDF8D2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46" y="2066027"/>
            <a:ext cx="1470374" cy="136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270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89427" y="292891"/>
            <a:ext cx="8229600" cy="688648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simple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89427" y="977073"/>
            <a:ext cx="851706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altLang="es-CO" sz="2200" dirty="0"/>
              <a:t>En los problemas de este tipo la condición </a:t>
            </a:r>
            <a:r>
              <a:rPr lang="es-CO" altLang="es-CO" sz="2200" b="1" dirty="0">
                <a:solidFill>
                  <a:srgbClr val="C00000"/>
                </a:solidFill>
              </a:rPr>
              <a:t>falsa</a:t>
            </a:r>
            <a:r>
              <a:rPr lang="es-CO" altLang="es-CO" sz="2200" dirty="0"/>
              <a:t> no posee instrucciones.</a:t>
            </a:r>
            <a:endParaRPr lang="es-CO" sz="2200" dirty="0"/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7" y="2243380"/>
            <a:ext cx="4814125" cy="327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8" descr="http://t0.gstatic.com/images?q=tbn:ANd9GcQBQUfA-17F7VG9bKeqzV6MF0-Z-9iE_3GOSyV1UJYC9LTt32B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014271"/>
            <a:ext cx="862480" cy="110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C32FD90-4058-401D-982D-5EBFA6936A2A}"/>
              </a:ext>
            </a:extLst>
          </p:cNvPr>
          <p:cNvSpPr txBox="1"/>
          <p:nvPr/>
        </p:nvSpPr>
        <p:spPr>
          <a:xfrm>
            <a:off x="4861248" y="2341048"/>
            <a:ext cx="4102701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condicion verdadera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Fin_Si</a:t>
            </a:r>
            <a:endParaRPr lang="es-CO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A87FB65-D4A5-4A74-BDD3-51E4F16B1B28}"/>
              </a:ext>
            </a:extLst>
          </p:cNvPr>
          <p:cNvSpPr txBox="1"/>
          <p:nvPr/>
        </p:nvSpPr>
        <p:spPr>
          <a:xfrm>
            <a:off x="5626858" y="1843270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0E4D25-B8E6-4A9C-9AB4-C0347C3716F8}"/>
              </a:ext>
            </a:extLst>
          </p:cNvPr>
          <p:cNvSpPr txBox="1"/>
          <p:nvPr/>
        </p:nvSpPr>
        <p:spPr>
          <a:xfrm>
            <a:off x="5661758" y="371703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Python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73E636D-5469-4C08-BBB0-8DB2503F2CAF}"/>
              </a:ext>
            </a:extLst>
          </p:cNvPr>
          <p:cNvSpPr txBox="1"/>
          <p:nvPr/>
        </p:nvSpPr>
        <p:spPr>
          <a:xfrm>
            <a:off x="4907682" y="4207545"/>
            <a:ext cx="410270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if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condicion verdadera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FFE230E-C2E4-45A1-8069-85EE5BA8E8BE}"/>
              </a:ext>
            </a:extLst>
          </p:cNvPr>
          <p:cNvSpPr txBox="1"/>
          <p:nvPr/>
        </p:nvSpPr>
        <p:spPr>
          <a:xfrm>
            <a:off x="1609462" y="1892087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Diagrama de flujo</a:t>
            </a:r>
          </a:p>
        </p:txBody>
      </p:sp>
    </p:spTree>
    <p:extLst>
      <p:ext uri="{BB962C8B-B14F-4D97-AF65-F5344CB8AC3E}">
        <p14:creationId xmlns:p14="http://schemas.microsoft.com/office/powerpoint/2010/main" val="9463655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7056" y="367890"/>
            <a:ext cx="8258294" cy="782960"/>
          </a:xfrm>
        </p:spPr>
        <p:txBody>
          <a:bodyPr>
            <a:normAutofit/>
          </a:bodyPr>
          <a:lstStyle/>
          <a:p>
            <a:r>
              <a:rPr lang="es-CO" sz="4000" dirty="0"/>
              <a:t>Alternativa simple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46564" y="1150850"/>
            <a:ext cx="850190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Ejemplo 1:</a:t>
            </a:r>
            <a:r>
              <a:rPr lang="es-CO" sz="2400" b="1" dirty="0"/>
              <a:t> </a:t>
            </a:r>
          </a:p>
          <a:p>
            <a:r>
              <a:rPr lang="es-CO" sz="2000" dirty="0"/>
              <a:t>Moe con el fin de incentivar su negocio organizo una noche de solos y solas. Los precios que fijo fueron de $10000 para los hombres y de la mitad de este valor para las mujeres. Hacer un programa que de acuerdo al sexo de la persona que asista muestre el precio de la entrada al bar de Moe.</a:t>
            </a:r>
          </a:p>
        </p:txBody>
      </p:sp>
      <p:pic>
        <p:nvPicPr>
          <p:cNvPr id="2050" name="Picture 2" descr="Moe&amp;#39;s Bar | Pub, Funny pictures, The simpsons">
            <a:extLst>
              <a:ext uri="{FF2B5EF4-FFF2-40B4-BE49-F238E27FC236}">
                <a16:creationId xmlns:a16="http://schemas.microsoft.com/office/drawing/2014/main" id="{8089C2F7-1CC9-419C-8E50-9FFB41C9C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451" y="3429000"/>
            <a:ext cx="3470125" cy="260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426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85193" y="237166"/>
            <a:ext cx="8107443" cy="710952"/>
          </a:xfrm>
        </p:spPr>
        <p:txBody>
          <a:bodyPr>
            <a:normAutofit/>
          </a:bodyPr>
          <a:lstStyle/>
          <a:p>
            <a:r>
              <a:rPr lang="es-CO" sz="4000" dirty="0"/>
              <a:t>Alternativa simple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313184" y="917518"/>
            <a:ext cx="865130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Ejemplo1 - solución: </a:t>
            </a:r>
            <a:r>
              <a:rPr lang="es-CO" dirty="0"/>
              <a:t>Moe con el fin de incentivar su negocio organizo una noche de solos y solas. Los precios que fijo fueron de </a:t>
            </a:r>
            <a:r>
              <a:rPr lang="es-CO" dirty="0">
                <a:highlight>
                  <a:srgbClr val="C0C0C0"/>
                </a:highlight>
              </a:rPr>
              <a:t>$10000 para los hombres</a:t>
            </a:r>
            <a:r>
              <a:rPr lang="es-CO" dirty="0"/>
              <a:t> y de </a:t>
            </a:r>
            <a:r>
              <a:rPr lang="es-CO" dirty="0">
                <a:highlight>
                  <a:srgbClr val="C0C0C0"/>
                </a:highlight>
              </a:rPr>
              <a:t>la mitad de este valor para las mujeres</a:t>
            </a:r>
            <a:r>
              <a:rPr lang="es-CO" dirty="0"/>
              <a:t>. Hacer un programa que de acuerdo al </a:t>
            </a:r>
            <a:r>
              <a:rPr lang="es-CO" b="1" dirty="0">
                <a:highlight>
                  <a:srgbClr val="FFFF00"/>
                </a:highlight>
              </a:rPr>
              <a:t>sexo</a:t>
            </a:r>
            <a:r>
              <a:rPr lang="es-CO" dirty="0"/>
              <a:t> de la persona que asista muestre el </a:t>
            </a:r>
            <a:r>
              <a:rPr lang="es-CO" b="1" dirty="0">
                <a:highlight>
                  <a:srgbClr val="FFFF00"/>
                </a:highlight>
              </a:rPr>
              <a:t>precio de la entrada</a:t>
            </a:r>
            <a:r>
              <a:rPr lang="es-CO" b="1" dirty="0"/>
              <a:t> </a:t>
            </a:r>
            <a:r>
              <a:rPr lang="es-CO" dirty="0"/>
              <a:t>al bar de Moe.</a:t>
            </a:r>
            <a:endParaRPr lang="es-CO" sz="2000" dirty="0"/>
          </a:p>
        </p:txBody>
      </p:sp>
      <p:sp>
        <p:nvSpPr>
          <p:cNvPr id="9" name="5 CuadroTexto"/>
          <p:cNvSpPr txBox="1"/>
          <p:nvPr/>
        </p:nvSpPr>
        <p:spPr>
          <a:xfrm>
            <a:off x="378845" y="2172064"/>
            <a:ext cx="452048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Datos de entrada: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Sexo</a:t>
            </a:r>
          </a:p>
          <a:p>
            <a:r>
              <a:rPr lang="es-CO" b="1" dirty="0"/>
              <a:t>Datos de salida: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Valor de la entrada</a:t>
            </a:r>
          </a:p>
          <a:p>
            <a:r>
              <a:rPr lang="es-CO" b="1" dirty="0"/>
              <a:t>Definición de variables: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b="1" dirty="0"/>
              <a:t>Entrada/salida: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s-CO" sz="1600" b="1" dirty="0">
                <a:latin typeface="Consolas" panose="020B0609020204030204" pitchFamily="49" charset="0"/>
              </a:rPr>
              <a:t>sex</a:t>
            </a:r>
            <a:r>
              <a:rPr lang="es-CO" sz="1600" dirty="0"/>
              <a:t>: Sexo de la persona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s-CO" sz="1600" b="1" dirty="0">
                <a:latin typeface="Consolas" panose="020B0609020204030204" pitchFamily="49" charset="0"/>
              </a:rPr>
              <a:t>valor_entrada</a:t>
            </a:r>
            <a:r>
              <a:rPr lang="es-CO" sz="1600" dirty="0"/>
              <a:t>: Valor de la entrada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b="1" dirty="0"/>
              <a:t>Constantes: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s-CO" sz="1600" b="1" dirty="0">
                <a:latin typeface="Consolas" panose="020B0609020204030204" pitchFamily="49" charset="0"/>
              </a:rPr>
              <a:t>PRECIO_HOMBRE</a:t>
            </a:r>
            <a:r>
              <a:rPr lang="es-CO" sz="1600" dirty="0"/>
              <a:t>: Valor entrada hombre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s-CO" sz="1600" b="1" dirty="0">
                <a:latin typeface="Consolas" panose="020B0609020204030204" pitchFamily="49" charset="0"/>
              </a:rPr>
              <a:t>PRECIO_MUJER</a:t>
            </a:r>
            <a:r>
              <a:rPr lang="es-CO" sz="1600" dirty="0"/>
              <a:t>: Valor entrada mujer</a:t>
            </a:r>
          </a:p>
        </p:txBody>
      </p:sp>
      <p:pic>
        <p:nvPicPr>
          <p:cNvPr id="17" name="Picture 2" descr="El bar de Moe y Los Simpsons: el impresionante mural en Córdoba que es  viral | Vía Córdoba">
            <a:extLst>
              <a:ext uri="{FF2B5EF4-FFF2-40B4-BE49-F238E27FC236}">
                <a16:creationId xmlns:a16="http://schemas.microsoft.com/office/drawing/2014/main" id="{E83844F4-EDA4-47E9-B82A-0777EC338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516383"/>
            <a:ext cx="3807684" cy="21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E357B2C4-57BF-4DD7-B32D-6C2EA350C11E}"/>
              </a:ext>
            </a:extLst>
          </p:cNvPr>
          <p:cNvGrpSpPr/>
          <p:nvPr/>
        </p:nvGrpSpPr>
        <p:grpSpPr>
          <a:xfrm>
            <a:off x="1311344" y="5144789"/>
            <a:ext cx="6717040" cy="1524571"/>
            <a:chOff x="1213480" y="5156711"/>
            <a:chExt cx="6717040" cy="152457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F9EEB839-196F-4A18-BBEC-BC8B3B7C61D8}"/>
                </a:ext>
              </a:extLst>
            </p:cNvPr>
            <p:cNvGrpSpPr/>
            <p:nvPr/>
          </p:nvGrpSpPr>
          <p:grpSpPr>
            <a:xfrm>
              <a:off x="1213480" y="5156711"/>
              <a:ext cx="6717040" cy="907736"/>
              <a:chOff x="1045631" y="5397247"/>
              <a:chExt cx="6717040" cy="907736"/>
            </a:xfrm>
          </p:grpSpPr>
          <p:sp>
            <p:nvSpPr>
              <p:cNvPr id="7" name="1 Rectángulo">
                <a:extLst>
                  <a:ext uri="{FF2B5EF4-FFF2-40B4-BE49-F238E27FC236}">
                    <a16:creationId xmlns:a16="http://schemas.microsoft.com/office/drawing/2014/main" id="{263EC2D0-8A43-440A-A157-8C8AFD2A8C98}"/>
                  </a:ext>
                </a:extLst>
              </p:cNvPr>
              <p:cNvSpPr/>
              <p:nvPr/>
            </p:nvSpPr>
            <p:spPr>
              <a:xfrm>
                <a:off x="1475853" y="6027984"/>
                <a:ext cx="439544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sex</a:t>
                </a:r>
              </a:p>
            </p:txBody>
          </p:sp>
          <p:sp>
            <p:nvSpPr>
              <p:cNvPr id="8" name="20 Rectángulo">
                <a:extLst>
                  <a:ext uri="{FF2B5EF4-FFF2-40B4-BE49-F238E27FC236}">
                    <a16:creationId xmlns:a16="http://schemas.microsoft.com/office/drawing/2014/main" id="{726FDB4C-0C76-413A-8BE8-15F5B6401750}"/>
                  </a:ext>
                </a:extLst>
              </p:cNvPr>
              <p:cNvSpPr/>
              <p:nvPr/>
            </p:nvSpPr>
            <p:spPr>
              <a:xfrm>
                <a:off x="6473536" y="6015063"/>
                <a:ext cx="128913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valor_entrada</a:t>
                </a:r>
              </a:p>
            </p:txBody>
          </p:sp>
          <p:grpSp>
            <p:nvGrpSpPr>
              <p:cNvPr id="10" name="5 Grupo">
                <a:extLst>
                  <a:ext uri="{FF2B5EF4-FFF2-40B4-BE49-F238E27FC236}">
                    <a16:creationId xmlns:a16="http://schemas.microsoft.com/office/drawing/2014/main" id="{E4280D24-5E31-46EF-AE91-74E4FDCE2D70}"/>
                  </a:ext>
                </a:extLst>
              </p:cNvPr>
              <p:cNvGrpSpPr/>
              <p:nvPr/>
            </p:nvGrpSpPr>
            <p:grpSpPr>
              <a:xfrm>
                <a:off x="1045631" y="5397247"/>
                <a:ext cx="6702297" cy="783771"/>
                <a:chOff x="1268833" y="1739458"/>
                <a:chExt cx="6702297" cy="783771"/>
              </a:xfrm>
            </p:grpSpPr>
            <p:sp>
              <p:nvSpPr>
                <p:cNvPr id="11" name="10 Rectángulo">
                  <a:extLst>
                    <a:ext uri="{FF2B5EF4-FFF2-40B4-BE49-F238E27FC236}">
                      <a16:creationId xmlns:a16="http://schemas.microsoft.com/office/drawing/2014/main" id="{9CFFEA15-ED3F-4A03-8DDC-F7B3DDB93B5F}"/>
                    </a:ext>
                  </a:extLst>
                </p:cNvPr>
                <p:cNvSpPr/>
                <p:nvPr/>
              </p:nvSpPr>
              <p:spPr>
                <a:xfrm>
                  <a:off x="1268833" y="1881961"/>
                  <a:ext cx="1345763" cy="498763"/>
                </a:xfrm>
                <a:prstGeom prst="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CO" b="1" dirty="0">
                      <a:solidFill>
                        <a:schemeClr val="tx1"/>
                      </a:solidFill>
                    </a:rPr>
                    <a:t>Inputs</a:t>
                  </a:r>
                </a:p>
              </p:txBody>
            </p:sp>
            <p:sp>
              <p:nvSpPr>
                <p:cNvPr id="12" name="11 Rectángulo">
                  <a:extLst>
                    <a:ext uri="{FF2B5EF4-FFF2-40B4-BE49-F238E27FC236}">
                      <a16:creationId xmlns:a16="http://schemas.microsoft.com/office/drawing/2014/main" id="{CB0479F9-ED11-499B-80D0-DBB078D6FC4F}"/>
                    </a:ext>
                  </a:extLst>
                </p:cNvPr>
                <p:cNvSpPr/>
                <p:nvPr/>
              </p:nvSpPr>
              <p:spPr>
                <a:xfrm>
                  <a:off x="3563888" y="1739458"/>
                  <a:ext cx="2104858" cy="783771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CO" b="1" dirty="0"/>
                    <a:t>Process</a:t>
                  </a:r>
                </a:p>
              </p:txBody>
            </p:sp>
            <p:sp>
              <p:nvSpPr>
                <p:cNvPr id="14" name="13 Rectángulo">
                  <a:extLst>
                    <a:ext uri="{FF2B5EF4-FFF2-40B4-BE49-F238E27FC236}">
                      <a16:creationId xmlns:a16="http://schemas.microsoft.com/office/drawing/2014/main" id="{5E9F3C39-E1AF-4421-812A-A8BFF259453E}"/>
                    </a:ext>
                  </a:extLst>
                </p:cNvPr>
                <p:cNvSpPr/>
                <p:nvPr/>
              </p:nvSpPr>
              <p:spPr>
                <a:xfrm>
                  <a:off x="6625367" y="1855863"/>
                  <a:ext cx="1345763" cy="498763"/>
                </a:xfrm>
                <a:prstGeom prst="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CO" b="1" dirty="0">
                      <a:solidFill>
                        <a:schemeClr val="tx1"/>
                      </a:solidFill>
                    </a:rPr>
                    <a:t>Outputs</a:t>
                  </a:r>
                </a:p>
              </p:txBody>
            </p:sp>
            <p:sp>
              <p:nvSpPr>
                <p:cNvPr id="15" name="14 Flecha derecha">
                  <a:extLst>
                    <a:ext uri="{FF2B5EF4-FFF2-40B4-BE49-F238E27FC236}">
                      <a16:creationId xmlns:a16="http://schemas.microsoft.com/office/drawing/2014/main" id="{00D4A4D7-7FB9-4906-9B90-6370C7AD60C7}"/>
                    </a:ext>
                  </a:extLst>
                </p:cNvPr>
                <p:cNvSpPr/>
                <p:nvPr/>
              </p:nvSpPr>
              <p:spPr>
                <a:xfrm>
                  <a:off x="2614596" y="2031618"/>
                  <a:ext cx="954554" cy="221013"/>
                </a:xfrm>
                <a:prstGeom prst="rightArrow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16" name="21 Flecha derecha">
                  <a:extLst>
                    <a:ext uri="{FF2B5EF4-FFF2-40B4-BE49-F238E27FC236}">
                      <a16:creationId xmlns:a16="http://schemas.microsoft.com/office/drawing/2014/main" id="{633ECD28-C8CB-46F5-838E-F32D96BCE760}"/>
                    </a:ext>
                  </a:extLst>
                </p:cNvPr>
                <p:cNvSpPr/>
                <p:nvPr/>
              </p:nvSpPr>
              <p:spPr>
                <a:xfrm>
                  <a:off x="5676075" y="2031618"/>
                  <a:ext cx="941963" cy="213756"/>
                </a:xfrm>
                <a:prstGeom prst="rightArrow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</p:grpSp>
        </p:grpSp>
        <p:sp>
          <p:nvSpPr>
            <p:cNvPr id="18" name="10 Rectángulo">
              <a:extLst>
                <a:ext uri="{FF2B5EF4-FFF2-40B4-BE49-F238E27FC236}">
                  <a16:creationId xmlns:a16="http://schemas.microsoft.com/office/drawing/2014/main" id="{DDD0327F-5029-4B28-9F0B-910BA7EFE7CA}"/>
                </a:ext>
              </a:extLst>
            </p:cNvPr>
            <p:cNvSpPr/>
            <p:nvPr/>
          </p:nvSpPr>
          <p:spPr>
            <a:xfrm>
              <a:off x="3455699" y="5866292"/>
              <a:ext cx="1345763" cy="498763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CO" b="1" dirty="0">
                  <a:solidFill>
                    <a:schemeClr val="tx1"/>
                  </a:solidFill>
                </a:rPr>
                <a:t>Constantes</a:t>
              </a:r>
            </a:p>
          </p:txBody>
        </p:sp>
        <p:sp>
          <p:nvSpPr>
            <p:cNvPr id="19" name="1 Rectángulo">
              <a:extLst>
                <a:ext uri="{FF2B5EF4-FFF2-40B4-BE49-F238E27FC236}">
                  <a16:creationId xmlns:a16="http://schemas.microsoft.com/office/drawing/2014/main" id="{756115B7-52EE-47F7-9D6F-0A8B1F435EB9}"/>
                </a:ext>
              </a:extLst>
            </p:cNvPr>
            <p:cNvSpPr/>
            <p:nvPr/>
          </p:nvSpPr>
          <p:spPr>
            <a:xfrm>
              <a:off x="3455699" y="6250395"/>
              <a:ext cx="2492990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sz="1100" dirty="0">
                  <a:latin typeface="Consolas" panose="020B0609020204030204" pitchFamily="49" charset="0"/>
                </a:rPr>
                <a:t>PRECIO_HOMBRE = 10000</a:t>
              </a:r>
            </a:p>
            <a:p>
              <a:r>
                <a:rPr lang="es-CO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PRECIO_MUJER = </a:t>
              </a:r>
              <a:r>
                <a:rPr lang="es-CO" sz="1100" dirty="0">
                  <a:latin typeface="Consolas" panose="020B0609020204030204" pitchFamily="49" charset="0"/>
                </a:rPr>
                <a:t>PRECIO_HOMBRE/</a:t>
              </a:r>
              <a:r>
                <a:rPr lang="es-CO" sz="1100" dirty="0">
                  <a:effectLst/>
                  <a:latin typeface="Consolas" panose="020B0609020204030204" pitchFamily="49" charset="0"/>
                </a:rPr>
                <a:t>2</a:t>
              </a:r>
              <a:endParaRPr lang="es-CO" sz="11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26207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34643" y="351335"/>
            <a:ext cx="5102314" cy="710952"/>
          </a:xfrm>
        </p:spPr>
        <p:txBody>
          <a:bodyPr>
            <a:normAutofit/>
          </a:bodyPr>
          <a:lstStyle/>
          <a:p>
            <a:r>
              <a:rPr lang="es-CO" dirty="0"/>
              <a:t>Alternativa simple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871FDBA-6852-407C-9136-519E6A6AE7CF}"/>
              </a:ext>
            </a:extLst>
          </p:cNvPr>
          <p:cNvSpPr txBox="1"/>
          <p:nvPr/>
        </p:nvSpPr>
        <p:spPr>
          <a:xfrm>
            <a:off x="234641" y="4077072"/>
            <a:ext cx="4840859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PRECIO_HOMBRE = 10000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PRECIO_MUJER = PRECIO_HOMBRE / 2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valor_entrada = PRECIO_HOMBRE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sex = input('Digite el sexo (F/M): ')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if</a:t>
            </a:r>
            <a:r>
              <a:rPr lang="es-MX" sz="1200" dirty="0">
                <a:latin typeface="Consolas" panose="020B0609020204030204" pitchFamily="49" charset="0"/>
              </a:rPr>
              <a:t> sex == 'F':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valor_entrada = PRECIO_MUJER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print</a:t>
            </a:r>
            <a:r>
              <a:rPr lang="es-MX" sz="1200" dirty="0">
                <a:latin typeface="Consolas" panose="020B0609020204030204" pitchFamily="49" charset="0"/>
              </a:rPr>
              <a:t>(f'Valor de la entrada: ${valor_entrada}')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8238F3D-857F-4AB8-A25A-119ABDBDB707}"/>
              </a:ext>
            </a:extLst>
          </p:cNvPr>
          <p:cNvSpPr txBox="1"/>
          <p:nvPr/>
        </p:nvSpPr>
        <p:spPr>
          <a:xfrm>
            <a:off x="1882177" y="5569835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2"/>
              </a:rPr>
              <a:t>Link de ejecución</a:t>
            </a:r>
            <a:endParaRPr lang="es-CO" sz="1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684D388-80A3-44CA-A7FD-D2392EF7376A}"/>
              </a:ext>
            </a:extLst>
          </p:cNvPr>
          <p:cNvSpPr txBox="1"/>
          <p:nvPr/>
        </p:nvSpPr>
        <p:spPr>
          <a:xfrm>
            <a:off x="234641" y="1397675"/>
            <a:ext cx="481995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PRECIO_HOMBRE = 10000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PRECIO_MUJER = PRECIO_HOMBRE/2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valor_entrada = PRECIO_HOMBRE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Leer(sex)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Si (sex == 'F') Entonces   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valor_entrada = PRECIO_MUJER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Escribir(valor_entrada)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8B5F151-AF6D-4747-9409-8A193871E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885" y="807020"/>
            <a:ext cx="3422082" cy="540883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076AC16-7946-43AA-964D-640E50389065}"/>
              </a:ext>
            </a:extLst>
          </p:cNvPr>
          <p:cNvSpPr txBox="1"/>
          <p:nvPr/>
        </p:nvSpPr>
        <p:spPr>
          <a:xfrm>
            <a:off x="137440" y="997565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Pseudocódigo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540367B-B00B-4326-B731-D87F0A696ADF}"/>
              </a:ext>
            </a:extLst>
          </p:cNvPr>
          <p:cNvSpPr txBox="1"/>
          <p:nvPr/>
        </p:nvSpPr>
        <p:spPr>
          <a:xfrm>
            <a:off x="173432" y="3656666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22415323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23878" y="110169"/>
            <a:ext cx="8452578" cy="782960"/>
          </a:xfrm>
        </p:spPr>
        <p:txBody>
          <a:bodyPr>
            <a:normAutofit/>
          </a:bodyPr>
          <a:lstStyle/>
          <a:p>
            <a:r>
              <a:rPr lang="es-CO" dirty="0"/>
              <a:t>Alternativa simple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23878" y="893129"/>
            <a:ext cx="8696244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Ejemplo 2:</a:t>
            </a:r>
          </a:p>
          <a:p>
            <a:r>
              <a:rPr lang="es-CO" sz="2000" dirty="0"/>
              <a:t>En una empresa le dan a los empleados un subsidio de transporte si el sueldo base de estos es menor que el salario mínimo ($2000000), este subsidio es el 30% del sueldo base. Hacer un algoritmo que calcule el salario neto de un empleado (sueldo base mas prestaciones si el empleado tiene derecho a estas). Los datos de entrada son la cedula y el sueldo base.</a:t>
            </a:r>
            <a:endParaRPr lang="es-CO" sz="2400" dirty="0"/>
          </a:p>
        </p:txBody>
      </p:sp>
      <p:pic>
        <p:nvPicPr>
          <p:cNvPr id="15362" name="Picture 2" descr="http://www.hungerculture.com/wp-content/uploads/2014/02/simpsons-visa-copa-mundo-futbo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308865"/>
            <a:ext cx="4039840" cy="269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7136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7637" y="215471"/>
            <a:ext cx="4680520" cy="566936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simple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65992" y="1006440"/>
            <a:ext cx="889071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Ejemplos - solución: </a:t>
            </a:r>
            <a:r>
              <a:rPr lang="es-CO" sz="2000" dirty="0"/>
              <a:t>En una empresa le dan a los empleados un </a:t>
            </a:r>
            <a:r>
              <a:rPr lang="es-CO" sz="2000" b="1" dirty="0">
                <a:highlight>
                  <a:srgbClr val="FFFF00"/>
                </a:highlight>
              </a:rPr>
              <a:t>subsidio</a:t>
            </a:r>
            <a:r>
              <a:rPr lang="es-CO" sz="2000" dirty="0">
                <a:highlight>
                  <a:srgbClr val="FFFF00"/>
                </a:highlight>
              </a:rPr>
              <a:t> </a:t>
            </a:r>
            <a:r>
              <a:rPr lang="es-CO" sz="2000" b="1" dirty="0">
                <a:highlight>
                  <a:srgbClr val="FFFF00"/>
                </a:highlight>
              </a:rPr>
              <a:t>de transporte</a:t>
            </a:r>
            <a:r>
              <a:rPr lang="es-CO" sz="2000" dirty="0"/>
              <a:t> si el </a:t>
            </a:r>
            <a:r>
              <a:rPr lang="es-CO" sz="2000" b="1" dirty="0">
                <a:highlight>
                  <a:srgbClr val="FFFF00"/>
                </a:highlight>
              </a:rPr>
              <a:t>sueldo base</a:t>
            </a:r>
            <a:r>
              <a:rPr lang="es-CO" sz="2000" dirty="0"/>
              <a:t> </a:t>
            </a:r>
            <a:r>
              <a:rPr lang="es-CO" sz="2000" b="1" dirty="0"/>
              <a:t>de estos </a:t>
            </a:r>
            <a:r>
              <a:rPr lang="es-CO" sz="2000" u="sng" dirty="0">
                <a:solidFill>
                  <a:schemeClr val="accent2">
                    <a:lumMod val="75000"/>
                  </a:schemeClr>
                </a:solidFill>
              </a:rPr>
              <a:t>es menor que el salario mínimo ($2000000)</a:t>
            </a:r>
            <a:r>
              <a:rPr lang="es-CO" sz="2000" dirty="0"/>
              <a:t>, este subsidio es el </a:t>
            </a:r>
            <a:r>
              <a:rPr lang="es-CO" sz="2000" u="sng" dirty="0"/>
              <a:t>30% del sueldo base</a:t>
            </a:r>
            <a:r>
              <a:rPr lang="es-CO" sz="2000" dirty="0"/>
              <a:t>. Hacer un algoritmo que calcule el </a:t>
            </a:r>
            <a:r>
              <a:rPr lang="es-CO" sz="2000" b="1" dirty="0">
                <a:highlight>
                  <a:srgbClr val="FFFF00"/>
                </a:highlight>
              </a:rPr>
              <a:t>salario neto</a:t>
            </a:r>
            <a:r>
              <a:rPr lang="es-CO" sz="2000" b="1" dirty="0"/>
              <a:t> </a:t>
            </a:r>
            <a:r>
              <a:rPr lang="es-CO" sz="2000" dirty="0"/>
              <a:t>de un empleado (sueldo base mas prestaciones si el empleado tiene derecho a estas). Los datos de entrada son la </a:t>
            </a:r>
            <a:r>
              <a:rPr lang="es-CO" sz="2000" b="1" dirty="0">
                <a:highlight>
                  <a:srgbClr val="FFFF00"/>
                </a:highlight>
              </a:rPr>
              <a:t>cedula</a:t>
            </a:r>
            <a:r>
              <a:rPr lang="es-CO" sz="2000" dirty="0"/>
              <a:t> y el </a:t>
            </a:r>
            <a:r>
              <a:rPr lang="es-CO" sz="2000" b="1" dirty="0">
                <a:highlight>
                  <a:srgbClr val="FFFF00"/>
                </a:highlight>
              </a:rPr>
              <a:t>sueldo base</a:t>
            </a:r>
            <a:r>
              <a:rPr lang="es-CO" sz="2000" dirty="0"/>
              <a:t>.</a:t>
            </a:r>
            <a:endParaRPr lang="es-CO" sz="2400" dirty="0"/>
          </a:p>
        </p:txBody>
      </p:sp>
      <p:sp>
        <p:nvSpPr>
          <p:cNvPr id="9" name="5 CuadroTexto"/>
          <p:cNvSpPr txBox="1"/>
          <p:nvPr/>
        </p:nvSpPr>
        <p:spPr>
          <a:xfrm>
            <a:off x="144908" y="2708920"/>
            <a:ext cx="4368775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Datos de entrada: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Cedula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Sueldo base</a:t>
            </a:r>
          </a:p>
          <a:p>
            <a:r>
              <a:rPr lang="es-CO" b="1" dirty="0"/>
              <a:t>Datos de salida:</a:t>
            </a:r>
            <a:r>
              <a:rPr lang="es-CO" sz="1600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Salario neto</a:t>
            </a:r>
          </a:p>
          <a:p>
            <a:r>
              <a:rPr lang="es-CO" b="1" dirty="0"/>
              <a:t>Definición de variables: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b="1" dirty="0"/>
              <a:t>Entrada/salida: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s-CO" sz="1600" b="1" dirty="0"/>
              <a:t>ID</a:t>
            </a:r>
            <a:r>
              <a:rPr lang="es-CO" sz="1600" dirty="0"/>
              <a:t>: Cedula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s-CO" sz="1600" b="1" dirty="0"/>
              <a:t>sal_base</a:t>
            </a:r>
            <a:r>
              <a:rPr lang="es-CO" sz="1600" dirty="0"/>
              <a:t>: Sueldo base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s-CO" sz="1600" b="1" dirty="0" err="1"/>
              <a:t>sal_neto</a:t>
            </a:r>
            <a:r>
              <a:rPr lang="es-CO" sz="1600" dirty="0"/>
              <a:t>: Salario neto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b="1" dirty="0"/>
              <a:t>Auxiliares: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s-CO" sz="1600" b="1" dirty="0">
                <a:latin typeface="Consolas" panose="020B0609020204030204" pitchFamily="49" charset="0"/>
              </a:rPr>
              <a:t>subsidio</a:t>
            </a:r>
            <a:r>
              <a:rPr lang="es-CO" sz="1600" dirty="0"/>
              <a:t>: Subsidio de transporte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b="1" dirty="0"/>
              <a:t>Constantes: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s-CO" sz="1600" b="1" dirty="0">
                <a:latin typeface="Consolas" panose="020B0609020204030204" pitchFamily="49" charset="0"/>
              </a:rPr>
              <a:t>SALARIO_MIN</a:t>
            </a:r>
            <a:r>
              <a:rPr lang="es-CO" sz="1600" dirty="0"/>
              <a:t>: Salario mínimo (2000000)</a:t>
            </a:r>
          </a:p>
        </p:txBody>
      </p:sp>
      <p:sp>
        <p:nvSpPr>
          <p:cNvPr id="2" name="1 Rectángulo"/>
          <p:cNvSpPr/>
          <p:nvPr/>
        </p:nvSpPr>
        <p:spPr>
          <a:xfrm>
            <a:off x="4630318" y="2708920"/>
            <a:ext cx="410445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/>
              <a:t>Proceso: 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/>
              <a:t>Comparar sueldo base con salario mínimo.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/>
              <a:t>De acuerdo a la comparación recalcular salario neto.</a:t>
            </a:r>
            <a:endParaRPr lang="es-CO" sz="1600" i="1" dirty="0"/>
          </a:p>
        </p:txBody>
      </p:sp>
    </p:spTree>
    <p:extLst>
      <p:ext uri="{BB962C8B-B14F-4D97-AF65-F5344CB8AC3E}">
        <p14:creationId xmlns:p14="http://schemas.microsoft.com/office/powerpoint/2010/main" val="36917093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14015" y="439063"/>
            <a:ext cx="4511597" cy="568529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simple</a:t>
            </a:r>
          </a:p>
        </p:txBody>
      </p:sp>
      <p:pic>
        <p:nvPicPr>
          <p:cNvPr id="23" name="Picture 2" descr="http://www.hungerculture.com/wp-content/uploads/2014/02/simpsons-visa-copa-mundo-futbo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986" y="3571552"/>
            <a:ext cx="3538364" cy="235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6" name="1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653960"/>
              </p:ext>
            </p:extLst>
          </p:nvPr>
        </p:nvGraphicFramePr>
        <p:xfrm>
          <a:off x="790782" y="4390492"/>
          <a:ext cx="3464703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4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7195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ID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sal_base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salNeto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29"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"0000"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"0001"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1000000</a:t>
                      </a:r>
                    </a:p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3000000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1300000</a:t>
                      </a:r>
                    </a:p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3000000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314015" y="3754936"/>
            <a:ext cx="23716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/>
              <a:t>Resultados esperados: </a:t>
            </a:r>
            <a:endParaRPr lang="es-CO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4513A08-D924-4C67-8D04-E19E6B9B1BC2}"/>
              </a:ext>
            </a:extLst>
          </p:cNvPr>
          <p:cNvGrpSpPr/>
          <p:nvPr/>
        </p:nvGrpSpPr>
        <p:grpSpPr>
          <a:xfrm>
            <a:off x="506904" y="1124744"/>
            <a:ext cx="8202163" cy="2241988"/>
            <a:chOff x="506904" y="1052736"/>
            <a:chExt cx="8202163" cy="2241988"/>
          </a:xfrm>
        </p:grpSpPr>
        <p:sp>
          <p:nvSpPr>
            <p:cNvPr id="2" name="1 Rectángulo"/>
            <p:cNvSpPr/>
            <p:nvPr/>
          </p:nvSpPr>
          <p:spPr>
            <a:xfrm>
              <a:off x="805015" y="1833404"/>
              <a:ext cx="86433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ID</a:t>
              </a:r>
            </a:p>
            <a:p>
              <a:r>
                <a:rPr lang="es-CO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sal_base</a:t>
              </a:r>
            </a:p>
          </p:txBody>
        </p:sp>
        <p:sp>
          <p:nvSpPr>
            <p:cNvPr id="21" name="20 Rectángulo"/>
            <p:cNvSpPr/>
            <p:nvPr/>
          </p:nvSpPr>
          <p:spPr>
            <a:xfrm>
              <a:off x="7545213" y="1709901"/>
              <a:ext cx="86433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sz="12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sal_neto</a:t>
              </a:r>
              <a:endParaRPr lang="es-CO" sz="1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6" name="5 Grupo"/>
            <p:cNvGrpSpPr/>
            <p:nvPr/>
          </p:nvGrpSpPr>
          <p:grpSpPr>
            <a:xfrm>
              <a:off x="506904" y="1052736"/>
              <a:ext cx="8202163" cy="783771"/>
              <a:chOff x="518399" y="1739458"/>
              <a:chExt cx="8202163" cy="783771"/>
            </a:xfrm>
          </p:grpSpPr>
          <p:sp>
            <p:nvSpPr>
              <p:cNvPr id="11" name="10 Rectángulo"/>
              <p:cNvSpPr/>
              <p:nvPr/>
            </p:nvSpPr>
            <p:spPr>
              <a:xfrm>
                <a:off x="518399" y="1879706"/>
                <a:ext cx="1345763" cy="498763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b="1" dirty="0">
                    <a:solidFill>
                      <a:schemeClr val="tx1"/>
                    </a:solidFill>
                  </a:rPr>
                  <a:t>Inputs</a:t>
                </a:r>
              </a:p>
            </p:txBody>
          </p:sp>
          <p:sp>
            <p:nvSpPr>
              <p:cNvPr id="12" name="11 Rectángulo"/>
              <p:cNvSpPr/>
              <p:nvPr/>
            </p:nvSpPr>
            <p:spPr>
              <a:xfrm>
                <a:off x="3563888" y="1739458"/>
                <a:ext cx="2104858" cy="78377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b="1" dirty="0"/>
                  <a:t>Process</a:t>
                </a:r>
              </a:p>
            </p:txBody>
          </p:sp>
          <p:sp>
            <p:nvSpPr>
              <p:cNvPr id="14" name="13 Rectángulo"/>
              <p:cNvSpPr/>
              <p:nvPr/>
            </p:nvSpPr>
            <p:spPr>
              <a:xfrm>
                <a:off x="7374799" y="1884602"/>
                <a:ext cx="1345763" cy="498763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b="1" dirty="0">
                    <a:solidFill>
                      <a:schemeClr val="tx1"/>
                    </a:solidFill>
                  </a:rPr>
                  <a:t>Outputs</a:t>
                </a:r>
              </a:p>
            </p:txBody>
          </p:sp>
          <p:sp>
            <p:nvSpPr>
              <p:cNvPr id="15" name="14 Flecha derecha"/>
              <p:cNvSpPr/>
              <p:nvPr/>
            </p:nvSpPr>
            <p:spPr>
              <a:xfrm>
                <a:off x="1851561" y="2038875"/>
                <a:ext cx="1717589" cy="213756"/>
              </a:xfrm>
              <a:prstGeom prst="rightArrow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2" name="21 Flecha derecha"/>
              <p:cNvSpPr/>
              <p:nvPr/>
            </p:nvSpPr>
            <p:spPr>
              <a:xfrm>
                <a:off x="5676075" y="2031618"/>
                <a:ext cx="1717589" cy="213756"/>
              </a:xfrm>
              <a:prstGeom prst="rightArrow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37C7E3E8-5272-4823-90A0-99EFC08CB617}"/>
                </a:ext>
              </a:extLst>
            </p:cNvPr>
            <p:cNvGrpSpPr/>
            <p:nvPr/>
          </p:nvGrpSpPr>
          <p:grpSpPr>
            <a:xfrm>
              <a:off x="3450428" y="1750429"/>
              <a:ext cx="2920365" cy="1544295"/>
              <a:chOff x="3450428" y="1750429"/>
              <a:chExt cx="2920365" cy="1544295"/>
            </a:xfrm>
          </p:grpSpPr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99192743-7879-4C99-A10E-FEBDB5BAB3DB}"/>
                  </a:ext>
                </a:extLst>
              </p:cNvPr>
              <p:cNvGrpSpPr/>
              <p:nvPr/>
            </p:nvGrpSpPr>
            <p:grpSpPr>
              <a:xfrm>
                <a:off x="3492425" y="1750429"/>
                <a:ext cx="2172155" cy="691988"/>
                <a:chOff x="3492425" y="1750429"/>
                <a:chExt cx="2172155" cy="691988"/>
              </a:xfrm>
            </p:grpSpPr>
            <p:sp>
              <p:nvSpPr>
                <p:cNvPr id="17" name="10 Rectángulo">
                  <a:extLst>
                    <a:ext uri="{FF2B5EF4-FFF2-40B4-BE49-F238E27FC236}">
                      <a16:creationId xmlns:a16="http://schemas.microsoft.com/office/drawing/2014/main" id="{C3D85E55-84B5-4536-8CAB-84671E91E279}"/>
                    </a:ext>
                  </a:extLst>
                </p:cNvPr>
                <p:cNvSpPr/>
                <p:nvPr/>
              </p:nvSpPr>
              <p:spPr>
                <a:xfrm>
                  <a:off x="3492425" y="1750429"/>
                  <a:ext cx="1345763" cy="498763"/>
                </a:xfrm>
                <a:prstGeom prst="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s-CO" b="1" dirty="0">
                      <a:solidFill>
                        <a:schemeClr val="tx1"/>
                      </a:solidFill>
                    </a:rPr>
                    <a:t>Constantes</a:t>
                  </a:r>
                </a:p>
              </p:txBody>
            </p:sp>
            <p:sp>
              <p:nvSpPr>
                <p:cNvPr id="18" name="2 Rectángulo">
                  <a:extLst>
                    <a:ext uri="{FF2B5EF4-FFF2-40B4-BE49-F238E27FC236}">
                      <a16:creationId xmlns:a16="http://schemas.microsoft.com/office/drawing/2014/main" id="{789800FC-9044-46C5-81E7-5E8C3E4E2069}"/>
                    </a:ext>
                  </a:extLst>
                </p:cNvPr>
                <p:cNvSpPr/>
                <p:nvPr/>
              </p:nvSpPr>
              <p:spPr>
                <a:xfrm>
                  <a:off x="3695771" y="2165418"/>
                  <a:ext cx="1968809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CO" sz="1200" dirty="0">
                      <a:latin typeface="Consolas" panose="020B0609020204030204" pitchFamily="49" charset="0"/>
                      <a:cs typeface="Consolas" panose="020B0609020204030204" pitchFamily="49" charset="0"/>
                      <a:sym typeface="Wingdings" panose="05000000000000000000" pitchFamily="2" charset="2"/>
                    </a:rPr>
                    <a:t>SALARIO_MIN = 2000000</a:t>
                  </a:r>
                  <a:endParaRPr lang="es-CO" sz="12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p:grpSp>
          <p:grpSp>
            <p:nvGrpSpPr>
              <p:cNvPr id="8" name="Grupo 7">
                <a:extLst>
                  <a:ext uri="{FF2B5EF4-FFF2-40B4-BE49-F238E27FC236}">
                    <a16:creationId xmlns:a16="http://schemas.microsoft.com/office/drawing/2014/main" id="{A13B2414-1C54-4CC1-B121-3DFFCD8C19C8}"/>
                  </a:ext>
                </a:extLst>
              </p:cNvPr>
              <p:cNvGrpSpPr/>
              <p:nvPr/>
            </p:nvGrpSpPr>
            <p:grpSpPr>
              <a:xfrm>
                <a:off x="3450428" y="2448164"/>
                <a:ext cx="2920365" cy="846560"/>
                <a:chOff x="3450428" y="2448164"/>
                <a:chExt cx="2920365" cy="846560"/>
              </a:xfrm>
            </p:grpSpPr>
            <p:sp>
              <p:nvSpPr>
                <p:cNvPr id="3" name="2 Rectángulo"/>
                <p:cNvSpPr/>
                <p:nvPr/>
              </p:nvSpPr>
              <p:spPr>
                <a:xfrm>
                  <a:off x="3552393" y="2833059"/>
                  <a:ext cx="281840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CO" sz="12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subsidio </a:t>
                  </a:r>
                  <a:r>
                    <a:rPr lang="es-CO" sz="1200" dirty="0">
                      <a:latin typeface="Consolas" panose="020B0609020204030204" pitchFamily="49" charset="0"/>
                      <a:cs typeface="Consolas" panose="020B0609020204030204" pitchFamily="49" charset="0"/>
                      <a:sym typeface="Wingdings" panose="05000000000000000000" pitchFamily="2" charset="2"/>
                    </a:rPr>
                    <a:t>= 0.3*sal_base</a:t>
                  </a:r>
                </a:p>
                <a:p>
                  <a:r>
                    <a:rPr lang="es-CO" sz="12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sal_neto </a:t>
                  </a:r>
                  <a:r>
                    <a:rPr lang="es-CO" sz="1200" dirty="0">
                      <a:latin typeface="Consolas" panose="020B0609020204030204" pitchFamily="49" charset="0"/>
                      <a:cs typeface="Consolas" panose="020B0609020204030204" pitchFamily="49" charset="0"/>
                      <a:sym typeface="Wingdings" panose="05000000000000000000" pitchFamily="2" charset="2"/>
                    </a:rPr>
                    <a:t>= </a:t>
                  </a:r>
                  <a:r>
                    <a:rPr lang="es-CO" sz="12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sal_base + subsidio</a:t>
                  </a:r>
                  <a:endParaRPr lang="es-CO" sz="1200" dirty="0">
                    <a:latin typeface="Consolas" panose="020B0609020204030204" pitchFamily="49" charset="0"/>
                    <a:cs typeface="Consolas" panose="020B0609020204030204" pitchFamily="49" charset="0"/>
                    <a:sym typeface="Wingdings" panose="05000000000000000000" pitchFamily="2" charset="2"/>
                  </a:endParaRPr>
                </a:p>
              </p:txBody>
            </p:sp>
            <p:sp>
              <p:nvSpPr>
                <p:cNvPr id="19" name="10 Rectángulo">
                  <a:extLst>
                    <a:ext uri="{FF2B5EF4-FFF2-40B4-BE49-F238E27FC236}">
                      <a16:creationId xmlns:a16="http://schemas.microsoft.com/office/drawing/2014/main" id="{401DFC1B-B48B-4F67-9998-04A73DA1BEE2}"/>
                    </a:ext>
                  </a:extLst>
                </p:cNvPr>
                <p:cNvSpPr/>
                <p:nvPr/>
              </p:nvSpPr>
              <p:spPr>
                <a:xfrm>
                  <a:off x="3450428" y="2448164"/>
                  <a:ext cx="2206311" cy="498763"/>
                </a:xfrm>
                <a:prstGeom prst="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s-CO" b="1" dirty="0">
                      <a:solidFill>
                        <a:schemeClr val="tx1"/>
                      </a:solidFill>
                    </a:rPr>
                    <a:t>Variables auxiliares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655285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59232" y="332656"/>
            <a:ext cx="5006498" cy="638944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simple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D5528B2-E035-463C-9AC5-FAF67301AAAC}"/>
              </a:ext>
            </a:extLst>
          </p:cNvPr>
          <p:cNvSpPr txBox="1"/>
          <p:nvPr/>
        </p:nvSpPr>
        <p:spPr>
          <a:xfrm>
            <a:off x="254608" y="4155081"/>
            <a:ext cx="4986531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SALARIO_MIN = 2000000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subsidio = 0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ID = input("Digite la cedula: ")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sal_base = int(input("Digite el salario base: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if(sal_base &lt; SALARIO_MIN):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subsidio = 0.3*sal_base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sal_neto = sal_base + subsidio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print(ID + ' le corresponde como pago $', \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sal_neto, </a:t>
            </a:r>
            <a:r>
              <a:rPr lang="es-CO" sz="1200" dirty="0" err="1">
                <a:latin typeface="Consolas" panose="020B0609020204030204" pitchFamily="49" charset="0"/>
              </a:rPr>
              <a:t>end</a:t>
            </a:r>
            <a:r>
              <a:rPr lang="es-CO" sz="1200" dirty="0">
                <a:latin typeface="Consolas" panose="020B0609020204030204" pitchFamily="49" charset="0"/>
              </a:rPr>
              <a:t> = "")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67AE092-2B08-4397-9FC9-857AA2B3FA4A}"/>
              </a:ext>
            </a:extLst>
          </p:cNvPr>
          <p:cNvSpPr txBox="1"/>
          <p:nvPr/>
        </p:nvSpPr>
        <p:spPr>
          <a:xfrm>
            <a:off x="1974980" y="5977111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2"/>
              </a:rPr>
              <a:t>Link de ejecución</a:t>
            </a:r>
            <a:endParaRPr lang="es-CO" sz="1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12D9A00-50B7-4CCB-9834-0E318E6E7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494253"/>
            <a:ext cx="3218461" cy="569215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B623DA0-1408-4936-BD1E-E9BE40A3C677}"/>
              </a:ext>
            </a:extLst>
          </p:cNvPr>
          <p:cNvSpPr txBox="1"/>
          <p:nvPr/>
        </p:nvSpPr>
        <p:spPr>
          <a:xfrm>
            <a:off x="234641" y="1397675"/>
            <a:ext cx="5006498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SALARIO_MIN = 2000000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subsidio = 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Leer(ID)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Leer(sal_base)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Si (sal_base &lt; SALARIO_MIN) Entonces   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subsidio = 0.3*sal_base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sal_neto = sal_base + subsidio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Escribir(ID, sal_neto)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53E91A0-6606-4785-88DA-9CD7061BCB5B}"/>
              </a:ext>
            </a:extLst>
          </p:cNvPr>
          <p:cNvSpPr txBox="1"/>
          <p:nvPr/>
        </p:nvSpPr>
        <p:spPr>
          <a:xfrm>
            <a:off x="137440" y="997565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Pseudocódigo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FBD4BD5-A16B-4060-A3B2-8C13FC37A63D}"/>
              </a:ext>
            </a:extLst>
          </p:cNvPr>
          <p:cNvSpPr txBox="1"/>
          <p:nvPr/>
        </p:nvSpPr>
        <p:spPr>
          <a:xfrm>
            <a:off x="230282" y="3687267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20499670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9845" y="552481"/>
            <a:ext cx="4262155" cy="549746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simple</a:t>
            </a:r>
          </a:p>
        </p:txBody>
      </p:sp>
      <p:graphicFrame>
        <p:nvGraphicFramePr>
          <p:cNvPr id="6" name="8 Tabla">
            <a:extLst>
              <a:ext uri="{FF2B5EF4-FFF2-40B4-BE49-F238E27FC236}">
                <a16:creationId xmlns:a16="http://schemas.microsoft.com/office/drawing/2014/main" id="{B39B7AD8-AE9C-441C-B094-98EFEB7B3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977806"/>
              </p:ext>
            </p:extLst>
          </p:nvPr>
        </p:nvGraphicFramePr>
        <p:xfrm>
          <a:off x="417435" y="3737571"/>
          <a:ext cx="4761837" cy="19025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5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sal_base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subsidio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sal_neto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15 Tabla">
            <a:extLst>
              <a:ext uri="{FF2B5EF4-FFF2-40B4-BE49-F238E27FC236}">
                <a16:creationId xmlns:a16="http://schemas.microsoft.com/office/drawing/2014/main" id="{B42F7A3E-5D1B-4938-B6F4-9C27C815F7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698237"/>
              </p:ext>
            </p:extLst>
          </p:nvPr>
        </p:nvGraphicFramePr>
        <p:xfrm>
          <a:off x="862660" y="1960116"/>
          <a:ext cx="3376923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5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862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ID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sal_base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salNeto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61"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"0000"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"0001"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1000000</a:t>
                      </a:r>
                    </a:p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3000000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1300000</a:t>
                      </a:r>
                    </a:p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3000000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5 Rectángulo">
            <a:extLst>
              <a:ext uri="{FF2B5EF4-FFF2-40B4-BE49-F238E27FC236}">
                <a16:creationId xmlns:a16="http://schemas.microsoft.com/office/drawing/2014/main" id="{7C7FAF62-909D-4A12-B524-43FF1A0D03BB}"/>
              </a:ext>
            </a:extLst>
          </p:cNvPr>
          <p:cNvSpPr/>
          <p:nvPr/>
        </p:nvSpPr>
        <p:spPr>
          <a:xfrm>
            <a:off x="342097" y="3050495"/>
            <a:ext cx="24648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Prueba de escritorio: </a:t>
            </a:r>
            <a:endParaRPr lang="es-CO" sz="2000" dirty="0"/>
          </a:p>
        </p:txBody>
      </p:sp>
      <p:sp>
        <p:nvSpPr>
          <p:cNvPr id="9" name="5 Rectángulo">
            <a:extLst>
              <a:ext uri="{FF2B5EF4-FFF2-40B4-BE49-F238E27FC236}">
                <a16:creationId xmlns:a16="http://schemas.microsoft.com/office/drawing/2014/main" id="{A58A6956-9453-428B-A369-CF584B0BF308}"/>
              </a:ext>
            </a:extLst>
          </p:cNvPr>
          <p:cNvSpPr/>
          <p:nvPr/>
        </p:nvSpPr>
        <p:spPr>
          <a:xfrm>
            <a:off x="309845" y="1412159"/>
            <a:ext cx="24970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Resultados esperados</a:t>
            </a:r>
            <a:endParaRPr lang="es-CO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71E138-1626-41B5-A5BE-1466E783F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494253"/>
            <a:ext cx="3218461" cy="569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869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63061" y="223755"/>
            <a:ext cx="8045354" cy="62840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doble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79513" y="921879"/>
            <a:ext cx="87968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altLang="es-CO" sz="2000" dirty="0"/>
              <a:t>En los problemas de este tipo, ambos casos (</a:t>
            </a:r>
            <a:r>
              <a:rPr lang="es-CO" altLang="es-CO" sz="2000" b="1" dirty="0">
                <a:solidFill>
                  <a:srgbClr val="C00000"/>
                </a:solidFill>
              </a:rPr>
              <a:t>Falso</a:t>
            </a:r>
            <a:r>
              <a:rPr lang="es-CO" altLang="es-CO" sz="2000" dirty="0"/>
              <a:t> y </a:t>
            </a:r>
            <a:r>
              <a:rPr lang="es-CO" altLang="es-CO" sz="2000" b="1" dirty="0">
                <a:solidFill>
                  <a:schemeClr val="accent2">
                    <a:lumMod val="75000"/>
                  </a:schemeClr>
                </a:solidFill>
              </a:rPr>
              <a:t>Verdadero</a:t>
            </a:r>
            <a:r>
              <a:rPr lang="es-CO" altLang="es-CO" sz="2000" dirty="0"/>
              <a:t>) poseen instrucciones asociadas.</a:t>
            </a:r>
            <a:endParaRPr lang="es-CO" sz="2000" dirty="0"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695" y="2170493"/>
            <a:ext cx="4743505" cy="2934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DCD1815-B299-412B-B0C7-515E157D83D8}"/>
              </a:ext>
            </a:extLst>
          </p:cNvPr>
          <p:cNvSpPr txBox="1"/>
          <p:nvPr/>
        </p:nvSpPr>
        <p:spPr>
          <a:xfrm>
            <a:off x="5220072" y="2268160"/>
            <a:ext cx="3742661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condicion verdadera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Sino</a:t>
            </a:r>
          </a:p>
          <a:p>
            <a:pPr indent="-57150"/>
            <a:r>
              <a:rPr lang="es-ES" sz="1400" dirty="0">
                <a:solidFill>
                  <a:schemeClr val="accent5"/>
                </a:solidFill>
                <a:latin typeface="Consolas" panose="020B0609020204030204" pitchFamily="49" charset="0"/>
              </a:rPr>
              <a:t>  </a:t>
            </a:r>
            <a:r>
              <a:rPr lang="es-ES" sz="1400" dirty="0">
                <a:latin typeface="Consolas" panose="020B0609020204030204" pitchFamily="49" charset="0"/>
              </a:rPr>
              <a:t>instrucciones condición falsa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Fin_Si</a:t>
            </a:r>
            <a:endParaRPr lang="es-CO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1EA861C-CD1C-4583-91F4-3A788EADC024}"/>
              </a:ext>
            </a:extLst>
          </p:cNvPr>
          <p:cNvSpPr txBox="1"/>
          <p:nvPr/>
        </p:nvSpPr>
        <p:spPr>
          <a:xfrm>
            <a:off x="5233717" y="4036875"/>
            <a:ext cx="374266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if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condicion verdadera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else:</a:t>
            </a:r>
          </a:p>
          <a:p>
            <a:pPr indent="-57150"/>
            <a:r>
              <a:rPr lang="es-ES" sz="1400" dirty="0">
                <a:solidFill>
                  <a:schemeClr val="accent5"/>
                </a:solidFill>
                <a:latin typeface="Consolas" panose="020B0609020204030204" pitchFamily="49" charset="0"/>
              </a:rPr>
              <a:t>  </a:t>
            </a:r>
            <a:r>
              <a:rPr lang="es-ES" sz="1400" dirty="0">
                <a:latin typeface="Consolas" panose="020B0609020204030204" pitchFamily="49" charset="0"/>
              </a:rPr>
              <a:t>instrucciones condición falsa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AD278B-B3C9-4233-A314-4192331BDF8A}"/>
              </a:ext>
            </a:extLst>
          </p:cNvPr>
          <p:cNvSpPr txBox="1"/>
          <p:nvPr/>
        </p:nvSpPr>
        <p:spPr>
          <a:xfrm>
            <a:off x="5625642" y="177038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4C8790F-1E43-4459-99ED-5878BD3C40D4}"/>
              </a:ext>
            </a:extLst>
          </p:cNvPr>
          <p:cNvSpPr txBox="1"/>
          <p:nvPr/>
        </p:nvSpPr>
        <p:spPr>
          <a:xfrm>
            <a:off x="5660542" y="361264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20828335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7056" y="276634"/>
            <a:ext cx="8131368" cy="782960"/>
          </a:xfrm>
        </p:spPr>
        <p:txBody>
          <a:bodyPr>
            <a:normAutofit/>
          </a:bodyPr>
          <a:lstStyle/>
          <a:p>
            <a:r>
              <a:rPr lang="es-CO" dirty="0"/>
              <a:t>Alternativa doble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65542" y="969739"/>
            <a:ext cx="8223168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Ejemplo 1 (Alternativa doble): </a:t>
            </a:r>
          </a:p>
          <a:p>
            <a:r>
              <a:rPr lang="es-CO" sz="2000" dirty="0"/>
              <a:t>Moe con el fin de incentivar su negocio organizo una noche de solos y solas. Los precios que fijo fueron de $10000 para los hombres y de la mitad de este valor para las mujeres. Hacer un programa que de acuerdo al sexo de la persona que asista muestre el precio de la entrada al bar de Moe.</a:t>
            </a:r>
          </a:p>
          <a:p>
            <a:endParaRPr lang="es-CO" sz="2400" dirty="0"/>
          </a:p>
          <a:p>
            <a:r>
              <a:rPr lang="es-CO" sz="2000" b="1" dirty="0"/>
              <a:t>Nota</a:t>
            </a:r>
            <a:r>
              <a:rPr lang="es-CO" sz="2000" dirty="0"/>
              <a:t>: Resuelva este ejercicio empleando la </a:t>
            </a:r>
            <a:r>
              <a:rPr lang="es-CO" sz="2000" b="1" dirty="0"/>
              <a:t>alternativa doble</a:t>
            </a:r>
            <a:endParaRPr lang="es-CO" sz="2000" dirty="0"/>
          </a:p>
        </p:txBody>
      </p:sp>
      <p:pic>
        <p:nvPicPr>
          <p:cNvPr id="2050" name="Picture 2" descr="Moe&amp;#39;s Bar | Pub, Funny pictures, The simpsons">
            <a:extLst>
              <a:ext uri="{FF2B5EF4-FFF2-40B4-BE49-F238E27FC236}">
                <a16:creationId xmlns:a16="http://schemas.microsoft.com/office/drawing/2014/main" id="{8089C2F7-1CC9-419C-8E50-9FFB41C9C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590385"/>
            <a:ext cx="3278956" cy="245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El bar de Moe y Los Simpsons: el impresionante mural en Córdoba que es  viral | Vía Córdoba">
            <a:extLst>
              <a:ext uri="{FF2B5EF4-FFF2-40B4-BE49-F238E27FC236}">
                <a16:creationId xmlns:a16="http://schemas.microsoft.com/office/drawing/2014/main" id="{6C8324B4-3680-493F-A2E7-CF07516E7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386" y="3751728"/>
            <a:ext cx="3807684" cy="21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8320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2904" y="260648"/>
            <a:ext cx="4958298" cy="710952"/>
          </a:xfrm>
        </p:spPr>
        <p:txBody>
          <a:bodyPr>
            <a:normAutofit/>
          </a:bodyPr>
          <a:lstStyle/>
          <a:p>
            <a:r>
              <a:rPr lang="es-CO" dirty="0"/>
              <a:t>Alternativa doble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8238F3D-857F-4AB8-A25A-119ABDBDB707}"/>
              </a:ext>
            </a:extLst>
          </p:cNvPr>
          <p:cNvSpPr txBox="1"/>
          <p:nvPr/>
        </p:nvSpPr>
        <p:spPr>
          <a:xfrm>
            <a:off x="1598644" y="5812532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2"/>
              </a:rPr>
              <a:t>Link de ejecución</a:t>
            </a:r>
            <a:endParaRPr lang="es-CO" sz="1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3E57EB-643A-4646-8FC2-BFE14A34FE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776" y="1485900"/>
            <a:ext cx="4255712" cy="446513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4ADE36F-3836-40FC-AAE5-6014F5E19BE2}"/>
              </a:ext>
            </a:extLst>
          </p:cNvPr>
          <p:cNvSpPr txBox="1"/>
          <p:nvPr/>
        </p:nvSpPr>
        <p:spPr>
          <a:xfrm>
            <a:off x="245481" y="1127339"/>
            <a:ext cx="3354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Pseudocódigo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ADAF5A1-1727-4804-B029-3B2CBBEFF9B9}"/>
              </a:ext>
            </a:extLst>
          </p:cNvPr>
          <p:cNvSpPr txBox="1"/>
          <p:nvPr/>
        </p:nvSpPr>
        <p:spPr>
          <a:xfrm>
            <a:off x="179512" y="382936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Python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D512794-C487-4E82-8BA4-1C5277571771}"/>
              </a:ext>
            </a:extLst>
          </p:cNvPr>
          <p:cNvSpPr txBox="1"/>
          <p:nvPr/>
        </p:nvSpPr>
        <p:spPr>
          <a:xfrm>
            <a:off x="279058" y="4229472"/>
            <a:ext cx="4184959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PRECIO_HOMBRE = 10000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PRECIO_MUJER = PRECIO_HOMBRE / 2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sex = input('Digite el sexo (F/M): ')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if</a:t>
            </a:r>
            <a:r>
              <a:rPr lang="es-MX" sz="1200" dirty="0">
                <a:latin typeface="Consolas" panose="020B0609020204030204" pitchFamily="49" charset="0"/>
              </a:rPr>
              <a:t> sex == 'F':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valor_entrada = PRECIO_MUJER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else</a:t>
            </a:r>
            <a:r>
              <a:rPr lang="es-MX" sz="1200" dirty="0">
                <a:latin typeface="Consolas" panose="020B0609020204030204" pitchFamily="49" charset="0"/>
              </a:rPr>
              <a:t>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valor_entrada = PRECIO_HOMBRE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print</a:t>
            </a:r>
            <a:r>
              <a:rPr lang="es-MX" sz="1200" dirty="0">
                <a:latin typeface="Consolas" panose="020B0609020204030204" pitchFamily="49" charset="0"/>
              </a:rPr>
              <a:t>(f'Valor de la entrada: ${valor_entrada}')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A914CF4-F8A8-42CA-85A0-78CC515CC447}"/>
              </a:ext>
            </a:extLst>
          </p:cNvPr>
          <p:cNvSpPr txBox="1"/>
          <p:nvPr/>
        </p:nvSpPr>
        <p:spPr>
          <a:xfrm>
            <a:off x="279058" y="1550075"/>
            <a:ext cx="4184959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PRECIO_HOMBRE = 10000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PRECIO_MUJER = PRECIO_HOMBRE/2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Leer(sex)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Si (sex == 'F') Entonces   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valor_entrada = PRECIO_MUJER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Sino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valor_entrada = PRECIO_HOMBRE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Escribir(valor_entrada)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2201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4450226" cy="710952"/>
          </a:xfrm>
        </p:spPr>
        <p:txBody>
          <a:bodyPr>
            <a:normAutofit/>
          </a:bodyPr>
          <a:lstStyle/>
          <a:p>
            <a:r>
              <a:rPr lang="es-CO" dirty="0"/>
              <a:t>Alternativa doble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45314" y="853506"/>
            <a:ext cx="839357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Ejemplo 2 (Alternativa doble): </a:t>
            </a:r>
            <a:endParaRPr lang="es-CO" sz="2200" dirty="0"/>
          </a:p>
          <a:p>
            <a:r>
              <a:rPr lang="es-CO" sz="2000" dirty="0"/>
              <a:t>En una empresa le dan a los empleados un subsidio de transporte si el sueldo base de estos es menor que el salario mínimo, este subsidio es el 30% del sueldo base. Hacer un algoritmo que calcule el salario neto de un empleado (sueldo base mas prestaciones si el empleado tiene derecho a estas). Los datos de entrada son la cedula y el sueldo base.</a:t>
            </a:r>
          </a:p>
          <a:p>
            <a:endParaRPr lang="es-CO" sz="2000" b="1" dirty="0"/>
          </a:p>
          <a:p>
            <a:r>
              <a:rPr lang="es-CO" sz="2000" b="1" dirty="0"/>
              <a:t>Nota</a:t>
            </a:r>
            <a:r>
              <a:rPr lang="es-CO" sz="2000" dirty="0"/>
              <a:t>: Resuelva este ejercicio empleando la </a:t>
            </a:r>
            <a:r>
              <a:rPr lang="es-CO" sz="2000" b="1" dirty="0"/>
              <a:t>alternativa doble</a:t>
            </a:r>
          </a:p>
        </p:txBody>
      </p:sp>
      <p:pic>
        <p:nvPicPr>
          <p:cNvPr id="15362" name="Picture 2" descr="http://www.hungerculture.com/wp-content/uploads/2014/02/simpsons-visa-copa-mundo-futbo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5" y="4168346"/>
            <a:ext cx="3301825" cy="2199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1038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19068" y="188640"/>
            <a:ext cx="4376968" cy="53328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doble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668372-4694-4B60-B0BC-28D4202766C0}"/>
              </a:ext>
            </a:extLst>
          </p:cNvPr>
          <p:cNvSpPr txBox="1"/>
          <p:nvPr/>
        </p:nvSpPr>
        <p:spPr>
          <a:xfrm>
            <a:off x="1764459" y="6320353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2"/>
              </a:rPr>
              <a:t>Link de ejecución</a:t>
            </a:r>
            <a:endParaRPr lang="es-CO" sz="1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B9C2D51-ED11-49FC-A332-62B06361F6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789855"/>
            <a:ext cx="3797323" cy="551946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EB46DA0-4F51-4B8C-933C-B01FC5FF0D7D}"/>
              </a:ext>
            </a:extLst>
          </p:cNvPr>
          <p:cNvSpPr txBox="1"/>
          <p:nvPr/>
        </p:nvSpPr>
        <p:spPr>
          <a:xfrm>
            <a:off x="254608" y="4356839"/>
            <a:ext cx="4605424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SALARIO_MIN = 20000000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ID = input("Digite la cedula: ")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sal_base = int(input("Digite el salario base: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if(sal_base &lt; SALARIO_MIN):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subsidio = 0.3*sal_base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else: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subsidio = 0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sal_neto = sal_base + subsidio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print(ID + ' le corresponde como pago $', \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sal_neto, </a:t>
            </a:r>
            <a:r>
              <a:rPr lang="es-CO" sz="1200" dirty="0" err="1">
                <a:latin typeface="Consolas" panose="020B0609020204030204" pitchFamily="49" charset="0"/>
              </a:rPr>
              <a:t>end</a:t>
            </a:r>
            <a:r>
              <a:rPr lang="es-CO" sz="1200" dirty="0">
                <a:latin typeface="Consolas" panose="020B0609020204030204" pitchFamily="49" charset="0"/>
              </a:rPr>
              <a:t> = "")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730F102-247A-4813-B6F0-6F9379C78991}"/>
              </a:ext>
            </a:extLst>
          </p:cNvPr>
          <p:cNvSpPr txBox="1"/>
          <p:nvPr/>
        </p:nvSpPr>
        <p:spPr>
          <a:xfrm>
            <a:off x="234640" y="1408708"/>
            <a:ext cx="4605424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SALARIO_MIN = 2000000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Leer(ID)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Leer(sal_base)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Si (sal_base &lt; 2000000) Entonces   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subsidio = 0.3*sal_base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Sino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subsidio = 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sal_neto = sal_base + subsidio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Escribir(ID, sal_neto)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EC71DC3-2147-4F3E-8D06-CC40DAA61A13}"/>
              </a:ext>
            </a:extLst>
          </p:cNvPr>
          <p:cNvSpPr txBox="1"/>
          <p:nvPr/>
        </p:nvSpPr>
        <p:spPr>
          <a:xfrm>
            <a:off x="231416" y="3898218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Python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6A0177D-132B-4E54-B277-B58115171191}"/>
              </a:ext>
            </a:extLst>
          </p:cNvPr>
          <p:cNvSpPr txBox="1"/>
          <p:nvPr/>
        </p:nvSpPr>
        <p:spPr>
          <a:xfrm>
            <a:off x="219068" y="1025634"/>
            <a:ext cx="3354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Pseudocódigo</a:t>
            </a:r>
          </a:p>
        </p:txBody>
      </p:sp>
    </p:spTree>
    <p:extLst>
      <p:ext uri="{BB962C8B-B14F-4D97-AF65-F5344CB8AC3E}">
        <p14:creationId xmlns:p14="http://schemas.microsoft.com/office/powerpoint/2010/main" val="28174603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34950" y="379145"/>
            <a:ext cx="5370693" cy="53328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doble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52BDBA4-8EB0-42F2-B175-84A2C20DA33D}"/>
              </a:ext>
            </a:extLst>
          </p:cNvPr>
          <p:cNvSpPr txBox="1"/>
          <p:nvPr/>
        </p:nvSpPr>
        <p:spPr>
          <a:xfrm>
            <a:off x="4803233" y="2348880"/>
            <a:ext cx="4089401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600" dirty="0">
                <a:latin typeface="Consolas" panose="020B0609020204030204" pitchFamily="49" charset="0"/>
              </a:rPr>
              <a:t>  SALARIO_MIN = 2000000</a:t>
            </a:r>
          </a:p>
          <a:p>
            <a:r>
              <a:rPr lang="es-MX" sz="1600" dirty="0">
                <a:latin typeface="Consolas" panose="020B0609020204030204" pitchFamily="49" charset="0"/>
              </a:rPr>
              <a:t>  Leer(ID)</a:t>
            </a:r>
          </a:p>
          <a:p>
            <a:r>
              <a:rPr lang="es-MX" sz="1600" dirty="0">
                <a:latin typeface="Consolas" panose="020B0609020204030204" pitchFamily="49" charset="0"/>
              </a:rPr>
              <a:t>  Leer(sal_base)</a:t>
            </a:r>
          </a:p>
          <a:p>
            <a:r>
              <a:rPr lang="es-MX" sz="1600" dirty="0">
                <a:latin typeface="Consolas" panose="020B0609020204030204" pitchFamily="49" charset="0"/>
              </a:rPr>
              <a:t>  Si (sal_base &lt; 2000000) Entonces    </a:t>
            </a:r>
          </a:p>
          <a:p>
            <a:r>
              <a:rPr lang="es-MX" sz="1600" dirty="0">
                <a:latin typeface="Consolas" panose="020B0609020204030204" pitchFamily="49" charset="0"/>
              </a:rPr>
              <a:t>    subsidio = 0.3*sal_base</a:t>
            </a:r>
          </a:p>
          <a:p>
            <a:r>
              <a:rPr lang="es-MX" sz="1600" dirty="0">
                <a:latin typeface="Consolas" panose="020B0609020204030204" pitchFamily="49" charset="0"/>
              </a:rPr>
              <a:t>  Sino</a:t>
            </a:r>
          </a:p>
          <a:p>
            <a:r>
              <a:rPr lang="es-MX" sz="1600" dirty="0">
                <a:latin typeface="Consolas" panose="020B0609020204030204" pitchFamily="49" charset="0"/>
              </a:rPr>
              <a:t>    subsidio = 0</a:t>
            </a:r>
          </a:p>
          <a:p>
            <a:r>
              <a:rPr lang="es-MX" sz="1600" dirty="0">
                <a:latin typeface="Consolas" panose="020B0609020204030204" pitchFamily="49" charset="0"/>
              </a:rPr>
              <a:t>  Fin_Si</a:t>
            </a:r>
          </a:p>
          <a:p>
            <a:r>
              <a:rPr lang="es-MX" sz="1600" dirty="0">
                <a:latin typeface="Consolas" panose="020B0609020204030204" pitchFamily="49" charset="0"/>
              </a:rPr>
              <a:t>  sal_neto = sal_base + subsidio</a:t>
            </a:r>
          </a:p>
          <a:p>
            <a:r>
              <a:rPr lang="es-MX" sz="1600" dirty="0">
                <a:latin typeface="Consolas" panose="020B0609020204030204" pitchFamily="49" charset="0"/>
              </a:rPr>
              <a:t>  Escribir(ID, sal_neto)</a:t>
            </a:r>
          </a:p>
          <a:p>
            <a:r>
              <a:rPr lang="es-MX" sz="1600" dirty="0">
                <a:latin typeface="Consolas" panose="020B0609020204030204" pitchFamily="49" charset="0"/>
              </a:rPr>
              <a:t>Fin</a:t>
            </a:r>
            <a:endParaRPr lang="es-CO" sz="1600" dirty="0">
              <a:latin typeface="Consolas" panose="020B0609020204030204" pitchFamily="49" charset="0"/>
            </a:endParaRPr>
          </a:p>
        </p:txBody>
      </p:sp>
      <p:graphicFrame>
        <p:nvGraphicFramePr>
          <p:cNvPr id="13" name="8 Tabla">
            <a:extLst>
              <a:ext uri="{FF2B5EF4-FFF2-40B4-BE49-F238E27FC236}">
                <a16:creationId xmlns:a16="http://schemas.microsoft.com/office/drawing/2014/main" id="{2FB72256-919E-4D04-9A12-A3F523377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514365"/>
              </p:ext>
            </p:extLst>
          </p:nvPr>
        </p:nvGraphicFramePr>
        <p:xfrm>
          <a:off x="295816" y="3737571"/>
          <a:ext cx="4217988" cy="19025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9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8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sal_base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subsidio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sal_neto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15 Tabla">
            <a:extLst>
              <a:ext uri="{FF2B5EF4-FFF2-40B4-BE49-F238E27FC236}">
                <a16:creationId xmlns:a16="http://schemas.microsoft.com/office/drawing/2014/main" id="{758A3D73-3EE1-471E-AF57-3AA0153A2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96177"/>
              </p:ext>
            </p:extLst>
          </p:nvPr>
        </p:nvGraphicFramePr>
        <p:xfrm>
          <a:off x="862660" y="1960116"/>
          <a:ext cx="3376923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5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862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ID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sal_base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sal_neto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61"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"0000"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"0001"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1000000</a:t>
                      </a:r>
                    </a:p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3000000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1300000</a:t>
                      </a:r>
                    </a:p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3000000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5 Rectángulo">
            <a:extLst>
              <a:ext uri="{FF2B5EF4-FFF2-40B4-BE49-F238E27FC236}">
                <a16:creationId xmlns:a16="http://schemas.microsoft.com/office/drawing/2014/main" id="{A531B423-1658-4F79-9F17-C30A61B661C4}"/>
              </a:ext>
            </a:extLst>
          </p:cNvPr>
          <p:cNvSpPr/>
          <p:nvPr/>
        </p:nvSpPr>
        <p:spPr>
          <a:xfrm>
            <a:off x="342097" y="3050495"/>
            <a:ext cx="24648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Prueba de escritorio: </a:t>
            </a:r>
            <a:endParaRPr lang="es-CO" sz="2000" dirty="0"/>
          </a:p>
        </p:txBody>
      </p:sp>
      <p:sp>
        <p:nvSpPr>
          <p:cNvPr id="16" name="5 Rectángulo">
            <a:extLst>
              <a:ext uri="{FF2B5EF4-FFF2-40B4-BE49-F238E27FC236}">
                <a16:creationId xmlns:a16="http://schemas.microsoft.com/office/drawing/2014/main" id="{C3FBFC8C-F1EF-4C4B-8038-32E2C48EFDDB}"/>
              </a:ext>
            </a:extLst>
          </p:cNvPr>
          <p:cNvSpPr/>
          <p:nvPr/>
        </p:nvSpPr>
        <p:spPr>
          <a:xfrm>
            <a:off x="309845" y="1412159"/>
            <a:ext cx="24970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Resultados esperados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4115464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23528" y="303425"/>
            <a:ext cx="8320317" cy="533287"/>
          </a:xfrm>
        </p:spPr>
        <p:txBody>
          <a:bodyPr>
            <a:normAutofit fontScale="90000"/>
          </a:bodyPr>
          <a:lstStyle/>
          <a:p>
            <a:r>
              <a:rPr lang="es-MX" dirty="0"/>
              <a:t>Comparaciones – Solución ejemplo 1</a:t>
            </a:r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CD90BF5-C199-483C-B9F5-A9025BB94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908720"/>
            <a:ext cx="3422082" cy="540883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A789082-0E6E-4A4C-B6CE-9B9231D8D6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80571"/>
            <a:ext cx="4255712" cy="4465132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CA240B3-5064-4BCB-87D5-DACCD95D000C}"/>
              </a:ext>
            </a:extLst>
          </p:cNvPr>
          <p:cNvSpPr txBox="1"/>
          <p:nvPr/>
        </p:nvSpPr>
        <p:spPr>
          <a:xfrm>
            <a:off x="1948140" y="6317555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4"/>
              </a:rPr>
              <a:t>Link de ejecución</a:t>
            </a:r>
            <a:endParaRPr lang="es-CO" sz="12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D203AC4-4CFA-4AE7-AC3F-C7198BB31109}"/>
              </a:ext>
            </a:extLst>
          </p:cNvPr>
          <p:cNvSpPr txBox="1"/>
          <p:nvPr/>
        </p:nvSpPr>
        <p:spPr>
          <a:xfrm>
            <a:off x="5926963" y="6277576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5"/>
              </a:rPr>
              <a:t>Link de ejecución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9339699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5033" y="118342"/>
            <a:ext cx="8320317" cy="533287"/>
          </a:xfrm>
        </p:spPr>
        <p:txBody>
          <a:bodyPr>
            <a:normAutofit fontScale="90000"/>
          </a:bodyPr>
          <a:lstStyle/>
          <a:p>
            <a:r>
              <a:rPr lang="es-MX" dirty="0"/>
              <a:t>Comparaciones – Solución ejemplo 2</a:t>
            </a:r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532CBA-6119-4B97-A9DD-7E8B6E077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718" y="984268"/>
            <a:ext cx="3510762" cy="5102945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0A75AD0-F9B9-409A-9F1A-3E78D273B825}"/>
              </a:ext>
            </a:extLst>
          </p:cNvPr>
          <p:cNvSpPr txBox="1"/>
          <p:nvPr/>
        </p:nvSpPr>
        <p:spPr>
          <a:xfrm>
            <a:off x="6058545" y="6261806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3"/>
              </a:rPr>
              <a:t>Link de ejecución</a:t>
            </a:r>
            <a:endParaRPr lang="es-CO" sz="12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E77D53F-97C3-4197-9697-B92E4A4964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922945"/>
            <a:ext cx="2954658" cy="5225592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08B991DE-7A67-4AAE-8466-8D2950FDB381}"/>
              </a:ext>
            </a:extLst>
          </p:cNvPr>
          <p:cNvSpPr txBox="1"/>
          <p:nvPr/>
        </p:nvSpPr>
        <p:spPr>
          <a:xfrm>
            <a:off x="1835696" y="6283164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5"/>
              </a:rPr>
              <a:t>Link de ejecución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1534283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9512" y="495822"/>
            <a:ext cx="7617582" cy="773749"/>
          </a:xfrm>
        </p:spPr>
        <p:txBody>
          <a:bodyPr/>
          <a:lstStyle/>
          <a:p>
            <a:r>
              <a:rPr lang="en-US" dirty="0"/>
              <a:t>Ejemplos de repaso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269571"/>
            <a:ext cx="8424936" cy="1439349"/>
          </a:xfrm>
        </p:spPr>
        <p:txBody>
          <a:bodyPr>
            <a:normAutofit/>
          </a:bodyPr>
          <a:lstStyle/>
          <a:p>
            <a:pPr marL="514350" indent="-457200">
              <a:buFont typeface="+mj-lt"/>
              <a:buAutoNum type="arabicPeriod"/>
            </a:pPr>
            <a:r>
              <a:rPr lang="es-CO" sz="2000" dirty="0"/>
              <a:t>Hacer un programa que verifique si un usuario dado es mayor o menor de edad.</a:t>
            </a:r>
          </a:p>
          <a:p>
            <a:pPr marL="514350" indent="-457200">
              <a:buFont typeface="+mj-lt"/>
              <a:buAutoNum type="arabicPeriod"/>
            </a:pPr>
            <a:r>
              <a:rPr lang="es-MX" sz="2000" dirty="0"/>
              <a:t>Realizar un algoritmo que determine si de dos números por teclado, el segundo es divisor del primero.</a:t>
            </a:r>
          </a:p>
          <a:p>
            <a:pPr marL="514350" indent="-457200">
              <a:buFont typeface="+mj-lt"/>
              <a:buAutoNum type="arabicPeriod"/>
            </a:pPr>
            <a:endParaRPr lang="es-CO" sz="2000" dirty="0"/>
          </a:p>
          <a:p>
            <a:pPr marL="514350" indent="-457200">
              <a:buFont typeface="+mj-lt"/>
              <a:buAutoNum type="arabicPeriod"/>
            </a:pPr>
            <a:endParaRPr lang="es-MX" sz="2200" i="1" dirty="0"/>
          </a:p>
        </p:txBody>
      </p:sp>
    </p:spTree>
    <p:extLst>
      <p:ext uri="{BB962C8B-B14F-4D97-AF65-F5344CB8AC3E}">
        <p14:creationId xmlns:p14="http://schemas.microsoft.com/office/powerpoint/2010/main" val="19539588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36938" y="331992"/>
            <a:ext cx="8049988" cy="815195"/>
          </a:xfrm>
        </p:spPr>
        <p:txBody>
          <a:bodyPr>
            <a:normAutofit/>
          </a:bodyPr>
          <a:lstStyle/>
          <a:p>
            <a:r>
              <a:rPr lang="es-CO" dirty="0"/>
              <a:t>Ejemplos de repaso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92182" y="980728"/>
            <a:ext cx="82231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Ejemplo 1 - Solución: </a:t>
            </a:r>
            <a:r>
              <a:rPr lang="es-CO" sz="2000" dirty="0"/>
              <a:t>Hacer un programa que verifique si un usuario dado es mayor o menor de edad.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292182" y="1688614"/>
            <a:ext cx="804998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Datos de entrada: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Edad</a:t>
            </a:r>
          </a:p>
          <a:p>
            <a:r>
              <a:rPr lang="es-CO" b="1" dirty="0"/>
              <a:t>Datos de salida: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El programa solo imprimirá si el sujeto es mayor o menor de edad</a:t>
            </a:r>
          </a:p>
          <a:p>
            <a:r>
              <a:rPr lang="es-CO" sz="1600" b="1" dirty="0"/>
              <a:t>Definición de variables</a:t>
            </a:r>
            <a:r>
              <a:rPr lang="es-CO" sz="16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b="1" dirty="0"/>
              <a:t>Entrada/salida</a:t>
            </a:r>
            <a:r>
              <a:rPr lang="es-CO" sz="1600" dirty="0"/>
              <a:t>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s-CO" sz="1600" b="1" dirty="0">
                <a:latin typeface="Consolas" panose="020B0609020204030204" pitchFamily="49" charset="0"/>
              </a:rPr>
              <a:t>Edad</a:t>
            </a:r>
            <a:r>
              <a:rPr lang="es-CO" sz="1600" i="1" dirty="0"/>
              <a:t>: </a:t>
            </a:r>
            <a:r>
              <a:rPr lang="es-CO" sz="1600" dirty="0"/>
              <a:t>Edad del usuario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46E7D51-C8A5-4F03-86F7-0E89B48A675A}"/>
              </a:ext>
            </a:extLst>
          </p:cNvPr>
          <p:cNvGrpSpPr/>
          <p:nvPr/>
        </p:nvGrpSpPr>
        <p:grpSpPr>
          <a:xfrm>
            <a:off x="470918" y="3984017"/>
            <a:ext cx="8202163" cy="1821247"/>
            <a:chOff x="470918" y="3717032"/>
            <a:chExt cx="8202163" cy="1821247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D0AC7BA5-94BC-470F-B80B-6CE72F564F3F}"/>
                </a:ext>
              </a:extLst>
            </p:cNvPr>
            <p:cNvGrpSpPr/>
            <p:nvPr/>
          </p:nvGrpSpPr>
          <p:grpSpPr>
            <a:xfrm>
              <a:off x="470918" y="3717032"/>
              <a:ext cx="8202163" cy="1389681"/>
              <a:chOff x="506904" y="1052736"/>
              <a:chExt cx="8202163" cy="1389681"/>
            </a:xfrm>
          </p:grpSpPr>
          <p:sp>
            <p:nvSpPr>
              <p:cNvPr id="9" name="1 Rectángulo">
                <a:extLst>
                  <a:ext uri="{FF2B5EF4-FFF2-40B4-BE49-F238E27FC236}">
                    <a16:creationId xmlns:a16="http://schemas.microsoft.com/office/drawing/2014/main" id="{1EE73EC1-1F43-4824-9C75-B61168EA3A1F}"/>
                  </a:ext>
                </a:extLst>
              </p:cNvPr>
              <p:cNvSpPr/>
              <p:nvPr/>
            </p:nvSpPr>
            <p:spPr>
              <a:xfrm>
                <a:off x="805015" y="1833404"/>
                <a:ext cx="52450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edad</a:t>
                </a:r>
              </a:p>
            </p:txBody>
          </p:sp>
          <p:grpSp>
            <p:nvGrpSpPr>
              <p:cNvPr id="11" name="5 Grupo">
                <a:extLst>
                  <a:ext uri="{FF2B5EF4-FFF2-40B4-BE49-F238E27FC236}">
                    <a16:creationId xmlns:a16="http://schemas.microsoft.com/office/drawing/2014/main" id="{2C0E2FF6-3BD9-4B00-B52A-AB3D30170F48}"/>
                  </a:ext>
                </a:extLst>
              </p:cNvPr>
              <p:cNvGrpSpPr/>
              <p:nvPr/>
            </p:nvGrpSpPr>
            <p:grpSpPr>
              <a:xfrm>
                <a:off x="506904" y="1052736"/>
                <a:ext cx="8202163" cy="783771"/>
                <a:chOff x="518399" y="1739458"/>
                <a:chExt cx="8202163" cy="783771"/>
              </a:xfrm>
            </p:grpSpPr>
            <p:sp>
              <p:nvSpPr>
                <p:cNvPr id="20" name="10 Rectángulo">
                  <a:extLst>
                    <a:ext uri="{FF2B5EF4-FFF2-40B4-BE49-F238E27FC236}">
                      <a16:creationId xmlns:a16="http://schemas.microsoft.com/office/drawing/2014/main" id="{636D8F71-3809-4E11-B4CB-AFB305739561}"/>
                    </a:ext>
                  </a:extLst>
                </p:cNvPr>
                <p:cNvSpPr/>
                <p:nvPr/>
              </p:nvSpPr>
              <p:spPr>
                <a:xfrm>
                  <a:off x="518399" y="1879706"/>
                  <a:ext cx="1345763" cy="498763"/>
                </a:xfrm>
                <a:prstGeom prst="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CO" b="1" dirty="0">
                      <a:solidFill>
                        <a:schemeClr val="tx1"/>
                      </a:solidFill>
                    </a:rPr>
                    <a:t>Inputs</a:t>
                  </a:r>
                </a:p>
              </p:txBody>
            </p:sp>
            <p:sp>
              <p:nvSpPr>
                <p:cNvPr id="21" name="11 Rectángulo">
                  <a:extLst>
                    <a:ext uri="{FF2B5EF4-FFF2-40B4-BE49-F238E27FC236}">
                      <a16:creationId xmlns:a16="http://schemas.microsoft.com/office/drawing/2014/main" id="{3121F921-397B-4234-9AB5-050CB449BA30}"/>
                    </a:ext>
                  </a:extLst>
                </p:cNvPr>
                <p:cNvSpPr/>
                <p:nvPr/>
              </p:nvSpPr>
              <p:spPr>
                <a:xfrm>
                  <a:off x="3563888" y="1739458"/>
                  <a:ext cx="2104858" cy="783771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CO" b="1" dirty="0"/>
                    <a:t>Process</a:t>
                  </a:r>
                </a:p>
              </p:txBody>
            </p:sp>
            <p:sp>
              <p:nvSpPr>
                <p:cNvPr id="22" name="13 Rectángulo">
                  <a:extLst>
                    <a:ext uri="{FF2B5EF4-FFF2-40B4-BE49-F238E27FC236}">
                      <a16:creationId xmlns:a16="http://schemas.microsoft.com/office/drawing/2014/main" id="{5281274C-3B41-4C98-B089-EAAE7F0A395E}"/>
                    </a:ext>
                  </a:extLst>
                </p:cNvPr>
                <p:cNvSpPr/>
                <p:nvPr/>
              </p:nvSpPr>
              <p:spPr>
                <a:xfrm>
                  <a:off x="7374799" y="1884602"/>
                  <a:ext cx="1345763" cy="498763"/>
                </a:xfrm>
                <a:prstGeom prst="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CO" b="1" dirty="0">
                      <a:solidFill>
                        <a:schemeClr val="tx1"/>
                      </a:solidFill>
                    </a:rPr>
                    <a:t>Outputs</a:t>
                  </a:r>
                </a:p>
              </p:txBody>
            </p:sp>
            <p:sp>
              <p:nvSpPr>
                <p:cNvPr id="23" name="14 Flecha derecha">
                  <a:extLst>
                    <a:ext uri="{FF2B5EF4-FFF2-40B4-BE49-F238E27FC236}">
                      <a16:creationId xmlns:a16="http://schemas.microsoft.com/office/drawing/2014/main" id="{3CE7AE2E-8671-4E63-B39D-ED92609FC9F2}"/>
                    </a:ext>
                  </a:extLst>
                </p:cNvPr>
                <p:cNvSpPr/>
                <p:nvPr/>
              </p:nvSpPr>
              <p:spPr>
                <a:xfrm>
                  <a:off x="1851561" y="2038875"/>
                  <a:ext cx="1717589" cy="213756"/>
                </a:xfrm>
                <a:prstGeom prst="rightArrow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24" name="21 Flecha derecha">
                  <a:extLst>
                    <a:ext uri="{FF2B5EF4-FFF2-40B4-BE49-F238E27FC236}">
                      <a16:creationId xmlns:a16="http://schemas.microsoft.com/office/drawing/2014/main" id="{066F7626-BF03-47A4-BC70-5BA25B167CDF}"/>
                    </a:ext>
                  </a:extLst>
                </p:cNvPr>
                <p:cNvSpPr/>
                <p:nvPr/>
              </p:nvSpPr>
              <p:spPr>
                <a:xfrm>
                  <a:off x="5676075" y="2031618"/>
                  <a:ext cx="1717589" cy="213756"/>
                </a:xfrm>
                <a:prstGeom prst="rightArrow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</p:grpSp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30B09FE1-9A1B-4178-9663-4E3F8CE3FC43}"/>
                  </a:ext>
                </a:extLst>
              </p:cNvPr>
              <p:cNvGrpSpPr/>
              <p:nvPr/>
            </p:nvGrpSpPr>
            <p:grpSpPr>
              <a:xfrm>
                <a:off x="3492425" y="1750429"/>
                <a:ext cx="1832318" cy="691988"/>
                <a:chOff x="3492425" y="1750429"/>
                <a:chExt cx="1832318" cy="691988"/>
              </a:xfrm>
            </p:grpSpPr>
            <p:sp>
              <p:nvSpPr>
                <p:cNvPr id="18" name="10 Rectángulo">
                  <a:extLst>
                    <a:ext uri="{FF2B5EF4-FFF2-40B4-BE49-F238E27FC236}">
                      <a16:creationId xmlns:a16="http://schemas.microsoft.com/office/drawing/2014/main" id="{7705CC80-CC7B-4A5D-8ECE-2991EFA25DC7}"/>
                    </a:ext>
                  </a:extLst>
                </p:cNvPr>
                <p:cNvSpPr/>
                <p:nvPr/>
              </p:nvSpPr>
              <p:spPr>
                <a:xfrm>
                  <a:off x="3492425" y="1750429"/>
                  <a:ext cx="1345763" cy="498763"/>
                </a:xfrm>
                <a:prstGeom prst="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s-CO" b="1" dirty="0">
                      <a:solidFill>
                        <a:schemeClr val="tx1"/>
                      </a:solidFill>
                    </a:rPr>
                    <a:t>Constantes</a:t>
                  </a:r>
                </a:p>
              </p:txBody>
            </p:sp>
            <p:sp>
              <p:nvSpPr>
                <p:cNvPr id="19" name="2 Rectángulo">
                  <a:extLst>
                    <a:ext uri="{FF2B5EF4-FFF2-40B4-BE49-F238E27FC236}">
                      <a16:creationId xmlns:a16="http://schemas.microsoft.com/office/drawing/2014/main" id="{70528A68-CDE1-4EFA-8F7A-71A73A9A3DC7}"/>
                    </a:ext>
                  </a:extLst>
                </p:cNvPr>
                <p:cNvSpPr/>
                <p:nvPr/>
              </p:nvSpPr>
              <p:spPr>
                <a:xfrm>
                  <a:off x="3695771" y="2165418"/>
                  <a:ext cx="1628972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CO" sz="1200" dirty="0">
                      <a:latin typeface="Consolas" panose="020B0609020204030204" pitchFamily="49" charset="0"/>
                      <a:cs typeface="Consolas" panose="020B0609020204030204" pitchFamily="49" charset="0"/>
                      <a:sym typeface="Wingdings" panose="05000000000000000000" pitchFamily="2" charset="2"/>
                    </a:rPr>
                    <a:t>MAYORIA_EDAD = 18</a:t>
                  </a:r>
                  <a:endParaRPr lang="es-CO" sz="12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p:grpSp>
        </p:grpSp>
        <p:pic>
          <p:nvPicPr>
            <p:cNvPr id="25" name="Picture 2" descr="http://t2.gstatic.com/images?q=tbn:ANd9GcS51PGLkp34nPs-LewfkgAfjdZsyder21fNGFoRiZ_A6x7txo3e">
              <a:extLst>
                <a:ext uri="{FF2B5EF4-FFF2-40B4-BE49-F238E27FC236}">
                  <a16:creationId xmlns:a16="http://schemas.microsoft.com/office/drawing/2014/main" id="{D4512D34-2F40-49C1-80E0-AEF1188AD9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7440" y="4636199"/>
              <a:ext cx="1099984" cy="902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1541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46156" y="308477"/>
            <a:ext cx="5045924" cy="864096"/>
          </a:xfrm>
        </p:spPr>
        <p:txBody>
          <a:bodyPr>
            <a:normAutofit/>
          </a:bodyPr>
          <a:lstStyle/>
          <a:p>
            <a:r>
              <a:rPr lang="es-CO" dirty="0"/>
              <a:t>Alternativa doble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876F568-A9CA-4F02-955D-DA8ED8FD20E4}"/>
              </a:ext>
            </a:extLst>
          </p:cNvPr>
          <p:cNvSpPr txBox="1"/>
          <p:nvPr/>
        </p:nvSpPr>
        <p:spPr>
          <a:xfrm>
            <a:off x="302771" y="4309153"/>
            <a:ext cx="3980821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400" dirty="0">
                <a:latin typeface="Consolas" panose="020B0609020204030204" pitchFamily="49" charset="0"/>
              </a:rPr>
              <a:t>MAYORIA_EDAD = 18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edad = int(input("Digite la edad: "))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if(edad &gt;= </a:t>
            </a:r>
            <a:r>
              <a:rPr lang="es-MX" sz="1400" dirty="0">
                <a:latin typeface="Consolas" panose="020B0609020204030204" pitchFamily="49" charset="0"/>
              </a:rPr>
              <a:t>MAYORIA_EDAD</a:t>
            </a:r>
            <a:r>
              <a:rPr lang="es-CO" sz="1400" dirty="0">
                <a:latin typeface="Consolas" panose="020B0609020204030204" pitchFamily="49" charset="0"/>
              </a:rPr>
              <a:t>):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print("Usted es mayor de edad")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else: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print("Usted es menor de edad")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DB95A3C-2A67-4D85-BB85-D507AAA03143}"/>
              </a:ext>
            </a:extLst>
          </p:cNvPr>
          <p:cNvSpPr txBox="1"/>
          <p:nvPr/>
        </p:nvSpPr>
        <p:spPr>
          <a:xfrm>
            <a:off x="1520288" y="5773011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2"/>
              </a:rPr>
              <a:t>Link de ejecución</a:t>
            </a:r>
            <a:endParaRPr lang="es-CO" sz="1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103D3B-EF57-492C-9E0E-63F78D099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410" y="1786937"/>
            <a:ext cx="3743762" cy="3907211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8C139410-A358-4972-877A-E8028C72C93D}"/>
              </a:ext>
            </a:extLst>
          </p:cNvPr>
          <p:cNvSpPr txBox="1"/>
          <p:nvPr/>
        </p:nvSpPr>
        <p:spPr>
          <a:xfrm>
            <a:off x="263520" y="1543306"/>
            <a:ext cx="4020072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MAYORIA_EDAD = 18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Leer(edad)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Si (edad &gt;= MAYORIA_EDAD) Entonces    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  Escribir(</a:t>
            </a:r>
            <a:r>
              <a:rPr lang="es-CO" sz="1400" dirty="0">
                <a:latin typeface="Consolas" panose="020B0609020204030204" pitchFamily="49" charset="0"/>
              </a:rPr>
              <a:t>'Usted es mayor de edad'</a:t>
            </a:r>
            <a:r>
              <a:rPr lang="es-MX" sz="14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Sino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  Escribir(</a:t>
            </a:r>
            <a:r>
              <a:rPr lang="es-CO" sz="1400" dirty="0">
                <a:latin typeface="Consolas" panose="020B0609020204030204" pitchFamily="49" charset="0"/>
              </a:rPr>
              <a:t>'Usted es menor de edad'</a:t>
            </a:r>
            <a:r>
              <a:rPr lang="es-MX" sz="14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Fin_Si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Fin</a:t>
            </a:r>
            <a:endParaRPr lang="es-CO" sz="1400" dirty="0">
              <a:latin typeface="Consolas" panose="020B0609020204030204" pitchFamily="49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7E49333-1E3B-45AC-9272-881F7B6AB8CE}"/>
              </a:ext>
            </a:extLst>
          </p:cNvPr>
          <p:cNvSpPr txBox="1"/>
          <p:nvPr/>
        </p:nvSpPr>
        <p:spPr>
          <a:xfrm>
            <a:off x="279455" y="3811131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Python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F2921A1-1612-4D29-A0FD-743D47B30A5A}"/>
              </a:ext>
            </a:extLst>
          </p:cNvPr>
          <p:cNvSpPr txBox="1"/>
          <p:nvPr/>
        </p:nvSpPr>
        <p:spPr>
          <a:xfrm>
            <a:off x="219068" y="1164418"/>
            <a:ext cx="3354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Pseudocódigo</a:t>
            </a:r>
          </a:p>
        </p:txBody>
      </p:sp>
    </p:spTree>
    <p:extLst>
      <p:ext uri="{BB962C8B-B14F-4D97-AF65-F5344CB8AC3E}">
        <p14:creationId xmlns:p14="http://schemas.microsoft.com/office/powerpoint/2010/main" val="8692532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46156" y="308477"/>
            <a:ext cx="5045924" cy="864096"/>
          </a:xfrm>
        </p:spPr>
        <p:txBody>
          <a:bodyPr>
            <a:normAutofit/>
          </a:bodyPr>
          <a:lstStyle/>
          <a:p>
            <a:r>
              <a:rPr lang="es-CO" dirty="0"/>
              <a:t>Alternativa doble</a:t>
            </a:r>
          </a:p>
        </p:txBody>
      </p:sp>
      <p:graphicFrame>
        <p:nvGraphicFramePr>
          <p:cNvPr id="9" name="21 Tabla">
            <a:extLst>
              <a:ext uri="{FF2B5EF4-FFF2-40B4-BE49-F238E27FC236}">
                <a16:creationId xmlns:a16="http://schemas.microsoft.com/office/drawing/2014/main" id="{8EE8B4BE-DDEC-4428-8EC4-753D5CF98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040278"/>
              </p:ext>
            </p:extLst>
          </p:nvPr>
        </p:nvGraphicFramePr>
        <p:xfrm>
          <a:off x="1419443" y="1972907"/>
          <a:ext cx="269935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143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edad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Salida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774"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>
                          <a:latin typeface="+mn-lt"/>
                          <a:cs typeface="Consolas" panose="020B0609020204030204" pitchFamily="49" charset="0"/>
                        </a:rPr>
                        <a:t>18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="0" dirty="0">
                          <a:latin typeface="+mn-lt"/>
                          <a:cs typeface="Consolas" panose="020B0609020204030204" pitchFamily="49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>
                          <a:latin typeface="+mn-lt"/>
                          <a:cs typeface="Consolas" panose="020B0609020204030204" pitchFamily="49" charset="0"/>
                        </a:rPr>
                        <a:t>Mayor de edad</a:t>
                      </a:r>
                    </a:p>
                    <a:p>
                      <a:pPr algn="ctr"/>
                      <a:r>
                        <a:rPr lang="es-CO" sz="1400" b="0" dirty="0">
                          <a:latin typeface="+mn-lt"/>
                          <a:cs typeface="Consolas" panose="020B0609020204030204" pitchFamily="49" charset="0"/>
                        </a:rPr>
                        <a:t>Menor de edad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5 Rectángulo">
            <a:extLst>
              <a:ext uri="{FF2B5EF4-FFF2-40B4-BE49-F238E27FC236}">
                <a16:creationId xmlns:a16="http://schemas.microsoft.com/office/drawing/2014/main" id="{5B8F968D-CFD2-4A37-AC74-1FFF58C39656}"/>
              </a:ext>
            </a:extLst>
          </p:cNvPr>
          <p:cNvSpPr/>
          <p:nvPr/>
        </p:nvSpPr>
        <p:spPr>
          <a:xfrm>
            <a:off x="283782" y="3028890"/>
            <a:ext cx="24536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Prueba de escritorio</a:t>
            </a:r>
            <a:endParaRPr lang="es-CO" sz="2000" dirty="0"/>
          </a:p>
        </p:txBody>
      </p:sp>
      <p:graphicFrame>
        <p:nvGraphicFramePr>
          <p:cNvPr id="11" name="7 Tabla">
            <a:extLst>
              <a:ext uri="{FF2B5EF4-FFF2-40B4-BE49-F238E27FC236}">
                <a16:creationId xmlns:a16="http://schemas.microsoft.com/office/drawing/2014/main" id="{C375F44B-F660-4E61-A0BC-B511C1B3E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277208"/>
              </p:ext>
            </p:extLst>
          </p:nvPr>
        </p:nvGraphicFramePr>
        <p:xfrm>
          <a:off x="1565908" y="3698178"/>
          <a:ext cx="2061292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0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161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edad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Salida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161">
                <a:tc>
                  <a:txBody>
                    <a:bodyPr/>
                    <a:lstStyle/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16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400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BA1D2FB6-C610-4A75-9611-BA72868FAD91}"/>
              </a:ext>
            </a:extLst>
          </p:cNvPr>
          <p:cNvSpPr txBox="1"/>
          <p:nvPr/>
        </p:nvSpPr>
        <p:spPr>
          <a:xfrm>
            <a:off x="4572000" y="2213282"/>
            <a:ext cx="4020072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MAYORIA_EDAD = 18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Leer(edad)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Si (edad &gt;= MAYORIA_EDAD) Entonces    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  Escribir(</a:t>
            </a:r>
            <a:r>
              <a:rPr lang="es-CO" sz="1400" dirty="0">
                <a:latin typeface="Consolas" panose="020B0609020204030204" pitchFamily="49" charset="0"/>
              </a:rPr>
              <a:t>'Usted es mayor de edad'</a:t>
            </a:r>
            <a:r>
              <a:rPr lang="es-MX" sz="14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Sino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  Escribir(</a:t>
            </a:r>
            <a:r>
              <a:rPr lang="es-CO" sz="1400" dirty="0">
                <a:latin typeface="Consolas" panose="020B0609020204030204" pitchFamily="49" charset="0"/>
              </a:rPr>
              <a:t>'Usted es menor de edad'</a:t>
            </a:r>
            <a:r>
              <a:rPr lang="es-MX" sz="14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Fin_Si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Fin</a:t>
            </a:r>
            <a:endParaRPr lang="es-CO" sz="1400" dirty="0">
              <a:latin typeface="Consolas" panose="020B0609020204030204" pitchFamily="49" charset="0"/>
            </a:endParaRPr>
          </a:p>
        </p:txBody>
      </p:sp>
      <p:sp>
        <p:nvSpPr>
          <p:cNvPr id="14" name="5 Rectángulo">
            <a:extLst>
              <a:ext uri="{FF2B5EF4-FFF2-40B4-BE49-F238E27FC236}">
                <a16:creationId xmlns:a16="http://schemas.microsoft.com/office/drawing/2014/main" id="{2821633F-CFBB-449E-93BF-7DE7B27FA686}"/>
              </a:ext>
            </a:extLst>
          </p:cNvPr>
          <p:cNvSpPr/>
          <p:nvPr/>
        </p:nvSpPr>
        <p:spPr>
          <a:xfrm>
            <a:off x="309845" y="1412159"/>
            <a:ext cx="24970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Resultados esperados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7525444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17337" y="215764"/>
            <a:ext cx="8229600" cy="652637"/>
          </a:xfrm>
        </p:spPr>
        <p:txBody>
          <a:bodyPr>
            <a:normAutofit fontScale="90000"/>
          </a:bodyPr>
          <a:lstStyle/>
          <a:p>
            <a:r>
              <a:rPr lang="es-MX" dirty="0"/>
              <a:t>Ejemplos de repaso</a:t>
            </a:r>
            <a:endParaRPr lang="es-CO" dirty="0"/>
          </a:p>
        </p:txBody>
      </p:sp>
      <p:sp>
        <p:nvSpPr>
          <p:cNvPr id="13" name="12 Rectángulo"/>
          <p:cNvSpPr/>
          <p:nvPr/>
        </p:nvSpPr>
        <p:spPr>
          <a:xfrm>
            <a:off x="143977" y="890717"/>
            <a:ext cx="851647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Ejemplo 2 - Solución: </a:t>
            </a:r>
            <a:r>
              <a:rPr lang="es-CO" sz="2000" dirty="0"/>
              <a:t>Realizar un algoritmo que averigüe si de dos números por teclado el segundo es divisor del primero.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172081" y="1597006"/>
            <a:ext cx="87203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Datos de entrada: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Numero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Numero 2</a:t>
            </a:r>
          </a:p>
          <a:p>
            <a:r>
              <a:rPr lang="es-CO" b="1" dirty="0"/>
              <a:t>Datos de salida: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Imprime un mensaje que indica que el numero 2 es divisor del numero 1 o lo contrario.</a:t>
            </a:r>
          </a:p>
          <a:p>
            <a:r>
              <a:rPr lang="es-CO" sz="1600" b="1" dirty="0"/>
              <a:t>Definición de variables</a:t>
            </a:r>
            <a:r>
              <a:rPr lang="es-CO" sz="16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Entrada/salida: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s-CO" sz="1600" b="1" dirty="0"/>
              <a:t>num1</a:t>
            </a:r>
            <a:r>
              <a:rPr lang="es-CO" sz="1600" i="1" dirty="0"/>
              <a:t>: </a:t>
            </a:r>
            <a:r>
              <a:rPr lang="es-CO" sz="1600" dirty="0"/>
              <a:t>Numero 1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s-CO" sz="1600" b="1" dirty="0"/>
              <a:t>num2</a:t>
            </a:r>
            <a:r>
              <a:rPr lang="es-CO" sz="1600" i="1" dirty="0"/>
              <a:t>: </a:t>
            </a:r>
            <a:r>
              <a:rPr lang="es-CO" sz="1600" dirty="0"/>
              <a:t>Numero 2</a:t>
            </a:r>
          </a:p>
          <a:p>
            <a:r>
              <a:rPr lang="es-CO" b="1" dirty="0"/>
              <a:t>Proceso</a:t>
            </a:r>
            <a:r>
              <a:rPr lang="es-CO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Un numero es divisor de otro si su residuo es </a:t>
            </a:r>
            <a:r>
              <a:rPr lang="es-CO" sz="1600" b="1" dirty="0">
                <a:latin typeface="Consolas" panose="020B0609020204030204" pitchFamily="49" charset="0"/>
              </a:rPr>
              <a:t>0</a:t>
            </a:r>
            <a:r>
              <a:rPr lang="es-CO" sz="1600" dirty="0"/>
              <a:t>. Para este caso </a:t>
            </a:r>
            <a:r>
              <a:rPr lang="es-CO" sz="1600" b="1" dirty="0"/>
              <a:t>num2</a:t>
            </a:r>
            <a:r>
              <a:rPr lang="es-CO" sz="1600" dirty="0"/>
              <a:t> divisor de </a:t>
            </a:r>
            <a:r>
              <a:rPr lang="es-CO" sz="1600" b="1" dirty="0">
                <a:latin typeface="Consolas" panose="020B0609020204030204" pitchFamily="49" charset="0"/>
              </a:rPr>
              <a:t>num1</a:t>
            </a:r>
            <a:r>
              <a:rPr lang="es-CO" sz="1600" dirty="0"/>
              <a:t> si </a:t>
            </a:r>
            <a:r>
              <a:rPr lang="es-CO" sz="1600" b="1" dirty="0">
                <a:latin typeface="Consolas" panose="020B0609020204030204" pitchFamily="49" charset="0"/>
              </a:rPr>
              <a:t>num1%num2==0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A9EEE4E3-8253-497B-A69E-65C5EE3D1165}"/>
              </a:ext>
            </a:extLst>
          </p:cNvPr>
          <p:cNvGrpSpPr/>
          <p:nvPr/>
        </p:nvGrpSpPr>
        <p:grpSpPr>
          <a:xfrm>
            <a:off x="551166" y="4651643"/>
            <a:ext cx="8202163" cy="1755567"/>
            <a:chOff x="470918" y="3717032"/>
            <a:chExt cx="8202163" cy="1755567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2EC73EAB-E2DD-49E9-B17C-35E993644E11}"/>
                </a:ext>
              </a:extLst>
            </p:cNvPr>
            <p:cNvGrpSpPr/>
            <p:nvPr/>
          </p:nvGrpSpPr>
          <p:grpSpPr>
            <a:xfrm>
              <a:off x="470918" y="3717032"/>
              <a:ext cx="8202163" cy="1242333"/>
              <a:chOff x="506904" y="1052736"/>
              <a:chExt cx="8202163" cy="1242333"/>
            </a:xfrm>
          </p:grpSpPr>
          <p:sp>
            <p:nvSpPr>
              <p:cNvPr id="11" name="1 Rectángulo">
                <a:extLst>
                  <a:ext uri="{FF2B5EF4-FFF2-40B4-BE49-F238E27FC236}">
                    <a16:creationId xmlns:a16="http://schemas.microsoft.com/office/drawing/2014/main" id="{E5F2519E-2687-4321-A7EB-AEC5A71F5CD3}"/>
                  </a:ext>
                </a:extLst>
              </p:cNvPr>
              <p:cNvSpPr/>
              <p:nvPr/>
            </p:nvSpPr>
            <p:spPr>
              <a:xfrm>
                <a:off x="805015" y="1833404"/>
                <a:ext cx="5245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num1</a:t>
                </a:r>
              </a:p>
              <a:p>
                <a:r>
                  <a:rPr lang="es-CO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num2</a:t>
                </a:r>
              </a:p>
            </p:txBody>
          </p:sp>
          <p:grpSp>
            <p:nvGrpSpPr>
              <p:cNvPr id="12" name="5 Grupo">
                <a:extLst>
                  <a:ext uri="{FF2B5EF4-FFF2-40B4-BE49-F238E27FC236}">
                    <a16:creationId xmlns:a16="http://schemas.microsoft.com/office/drawing/2014/main" id="{190E768C-AD97-4ECF-B45D-0C723F844F7F}"/>
                  </a:ext>
                </a:extLst>
              </p:cNvPr>
              <p:cNvGrpSpPr/>
              <p:nvPr/>
            </p:nvGrpSpPr>
            <p:grpSpPr>
              <a:xfrm>
                <a:off x="506904" y="1052736"/>
                <a:ext cx="8202163" cy="783771"/>
                <a:chOff x="518399" y="1739458"/>
                <a:chExt cx="8202163" cy="783771"/>
              </a:xfrm>
            </p:grpSpPr>
            <p:sp>
              <p:nvSpPr>
                <p:cNvPr id="17" name="10 Rectángulo">
                  <a:extLst>
                    <a:ext uri="{FF2B5EF4-FFF2-40B4-BE49-F238E27FC236}">
                      <a16:creationId xmlns:a16="http://schemas.microsoft.com/office/drawing/2014/main" id="{A9F47A3E-5539-4946-AD8A-8196024EE0CF}"/>
                    </a:ext>
                  </a:extLst>
                </p:cNvPr>
                <p:cNvSpPr/>
                <p:nvPr/>
              </p:nvSpPr>
              <p:spPr>
                <a:xfrm>
                  <a:off x="518399" y="1879706"/>
                  <a:ext cx="1345763" cy="498763"/>
                </a:xfrm>
                <a:prstGeom prst="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CO" b="1" dirty="0">
                      <a:solidFill>
                        <a:schemeClr val="tx1"/>
                      </a:solidFill>
                    </a:rPr>
                    <a:t>Inputs</a:t>
                  </a:r>
                </a:p>
              </p:txBody>
            </p:sp>
            <p:sp>
              <p:nvSpPr>
                <p:cNvPr id="18" name="11 Rectángulo">
                  <a:extLst>
                    <a:ext uri="{FF2B5EF4-FFF2-40B4-BE49-F238E27FC236}">
                      <a16:creationId xmlns:a16="http://schemas.microsoft.com/office/drawing/2014/main" id="{A5835B90-8D65-41EE-9F66-088E7E77DD87}"/>
                    </a:ext>
                  </a:extLst>
                </p:cNvPr>
                <p:cNvSpPr/>
                <p:nvPr/>
              </p:nvSpPr>
              <p:spPr>
                <a:xfrm>
                  <a:off x="3563888" y="1739458"/>
                  <a:ext cx="2104858" cy="783771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CO" b="1" dirty="0"/>
                    <a:t>Process</a:t>
                  </a:r>
                </a:p>
              </p:txBody>
            </p:sp>
            <p:sp>
              <p:nvSpPr>
                <p:cNvPr id="19" name="13 Rectángulo">
                  <a:extLst>
                    <a:ext uri="{FF2B5EF4-FFF2-40B4-BE49-F238E27FC236}">
                      <a16:creationId xmlns:a16="http://schemas.microsoft.com/office/drawing/2014/main" id="{C605FDEA-FC40-4D7A-81C3-C371F7BCA52C}"/>
                    </a:ext>
                  </a:extLst>
                </p:cNvPr>
                <p:cNvSpPr/>
                <p:nvPr/>
              </p:nvSpPr>
              <p:spPr>
                <a:xfrm>
                  <a:off x="7374799" y="1884602"/>
                  <a:ext cx="1345763" cy="498763"/>
                </a:xfrm>
                <a:prstGeom prst="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CO" b="1" dirty="0">
                      <a:solidFill>
                        <a:schemeClr val="tx1"/>
                      </a:solidFill>
                    </a:rPr>
                    <a:t>Outputs</a:t>
                  </a:r>
                </a:p>
              </p:txBody>
            </p:sp>
            <p:sp>
              <p:nvSpPr>
                <p:cNvPr id="20" name="14 Flecha derecha">
                  <a:extLst>
                    <a:ext uri="{FF2B5EF4-FFF2-40B4-BE49-F238E27FC236}">
                      <a16:creationId xmlns:a16="http://schemas.microsoft.com/office/drawing/2014/main" id="{E10E6A64-7D80-4B03-8DD1-F6AD6BC86625}"/>
                    </a:ext>
                  </a:extLst>
                </p:cNvPr>
                <p:cNvSpPr/>
                <p:nvPr/>
              </p:nvSpPr>
              <p:spPr>
                <a:xfrm>
                  <a:off x="1851561" y="2038875"/>
                  <a:ext cx="1717589" cy="213756"/>
                </a:xfrm>
                <a:prstGeom prst="rightArrow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21" name="21 Flecha derecha">
                  <a:extLst>
                    <a:ext uri="{FF2B5EF4-FFF2-40B4-BE49-F238E27FC236}">
                      <a16:creationId xmlns:a16="http://schemas.microsoft.com/office/drawing/2014/main" id="{E44A9B91-EA90-496F-BD06-073D3198EC8B}"/>
                    </a:ext>
                  </a:extLst>
                </p:cNvPr>
                <p:cNvSpPr/>
                <p:nvPr/>
              </p:nvSpPr>
              <p:spPr>
                <a:xfrm>
                  <a:off x="5676075" y="2031618"/>
                  <a:ext cx="1717589" cy="213756"/>
                </a:xfrm>
                <a:prstGeom prst="rightArrow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</p:grpSp>
        </p:grpSp>
        <p:pic>
          <p:nvPicPr>
            <p:cNvPr id="9" name="Picture 2" descr="http://t2.gstatic.com/images?q=tbn:ANd9GcS51PGLkp34nPs-LewfkgAfjdZsyder21fNGFoRiZ_A6x7txo3e">
              <a:extLst>
                <a:ext uri="{FF2B5EF4-FFF2-40B4-BE49-F238E27FC236}">
                  <a16:creationId xmlns:a16="http://schemas.microsoft.com/office/drawing/2014/main" id="{9CEC6424-91B9-4DB2-8BBE-F553549EFB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8167" y="4430424"/>
              <a:ext cx="1270814" cy="1042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5045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60865" y="260648"/>
            <a:ext cx="4302007" cy="811660"/>
          </a:xfrm>
        </p:spPr>
        <p:txBody>
          <a:bodyPr>
            <a:normAutofit fontScale="90000"/>
          </a:bodyPr>
          <a:lstStyle/>
          <a:p>
            <a:r>
              <a:rPr lang="es-CO" dirty="0"/>
              <a:t>Ejemplos de repaso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0C5E9F-9879-4FEC-B11F-19F19652F17D}"/>
              </a:ext>
            </a:extLst>
          </p:cNvPr>
          <p:cNvSpPr txBox="1"/>
          <p:nvPr/>
        </p:nvSpPr>
        <p:spPr>
          <a:xfrm>
            <a:off x="288845" y="4445762"/>
            <a:ext cx="482453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num1 = int(input("Digite el primer numero: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num2 = int(input("Digite el segundo numero: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if(num1%num2 == 0):   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print(f"{num2} es divisor de {num1}")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else:   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print(f"{num2} no es divisor de {num1}")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FB72E41-9B30-49CA-B91D-D122EAC3D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543" y="1788610"/>
            <a:ext cx="3652904" cy="328077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90EDE0B-86C5-4BBF-A666-D311140FCCFC}"/>
              </a:ext>
            </a:extLst>
          </p:cNvPr>
          <p:cNvSpPr txBox="1"/>
          <p:nvPr/>
        </p:nvSpPr>
        <p:spPr>
          <a:xfrm>
            <a:off x="260865" y="1974205"/>
            <a:ext cx="4469463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Leer(num1,num2)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Si (num1%num2 == 0) Entonces   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Escribir(num2, </a:t>
            </a:r>
            <a:r>
              <a:rPr lang="es-CO" sz="1200" dirty="0">
                <a:latin typeface="Consolas" panose="020B0609020204030204" pitchFamily="49" charset="0"/>
              </a:rPr>
              <a:t>" es divisor de ", num1</a:t>
            </a:r>
            <a:r>
              <a:rPr lang="es-MX" sz="12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Sino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Escribir(num2, </a:t>
            </a:r>
            <a:r>
              <a:rPr lang="es-CO" sz="1200" dirty="0">
                <a:latin typeface="Consolas" panose="020B0609020204030204" pitchFamily="49" charset="0"/>
              </a:rPr>
              <a:t>" no es divisor de ", num1</a:t>
            </a:r>
            <a:r>
              <a:rPr lang="es-MX" sz="12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93D80C1-DA17-41DB-9925-E3AC6846D2B8}"/>
              </a:ext>
            </a:extLst>
          </p:cNvPr>
          <p:cNvSpPr txBox="1"/>
          <p:nvPr/>
        </p:nvSpPr>
        <p:spPr>
          <a:xfrm>
            <a:off x="261461" y="404565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Python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3F12BE1-B4B8-4C22-B32A-416FFB433B4B}"/>
              </a:ext>
            </a:extLst>
          </p:cNvPr>
          <p:cNvSpPr txBox="1"/>
          <p:nvPr/>
        </p:nvSpPr>
        <p:spPr>
          <a:xfrm>
            <a:off x="288845" y="1446029"/>
            <a:ext cx="3354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Pseudocódigo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EC59115-FE50-4381-A73A-04C968B707A5}"/>
              </a:ext>
            </a:extLst>
          </p:cNvPr>
          <p:cNvSpPr txBox="1"/>
          <p:nvPr/>
        </p:nvSpPr>
        <p:spPr>
          <a:xfrm>
            <a:off x="1722703" y="5769202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3"/>
              </a:rPr>
              <a:t>Link de ejecución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3954725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27445" y="308332"/>
            <a:ext cx="4320478" cy="754326"/>
          </a:xfrm>
        </p:spPr>
        <p:txBody>
          <a:bodyPr>
            <a:normAutofit fontScale="90000"/>
          </a:bodyPr>
          <a:lstStyle/>
          <a:p>
            <a:r>
              <a:rPr lang="es-MX" dirty="0"/>
              <a:t>Ejemplos de repaso</a:t>
            </a:r>
            <a:endParaRPr lang="es-CO" dirty="0"/>
          </a:p>
        </p:txBody>
      </p:sp>
      <p:sp>
        <p:nvSpPr>
          <p:cNvPr id="6" name="5 Rectángulo"/>
          <p:cNvSpPr/>
          <p:nvPr/>
        </p:nvSpPr>
        <p:spPr>
          <a:xfrm>
            <a:off x="237169" y="3378172"/>
            <a:ext cx="39604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Prueba de escritorio: </a:t>
            </a:r>
            <a:endParaRPr lang="es-CO" sz="2000" dirty="0"/>
          </a:p>
        </p:txBody>
      </p:sp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518101"/>
              </p:ext>
            </p:extLst>
          </p:nvPr>
        </p:nvGraphicFramePr>
        <p:xfrm>
          <a:off x="309846" y="4060460"/>
          <a:ext cx="3500598" cy="10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4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num1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num2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Salida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600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600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" name="2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226632"/>
              </p:ext>
            </p:extLst>
          </p:nvPr>
        </p:nvGraphicFramePr>
        <p:xfrm>
          <a:off x="404886" y="2043399"/>
          <a:ext cx="3405557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9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791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num1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num2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Salida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273"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>
                          <a:latin typeface="+mn-lt"/>
                          <a:cs typeface="Consolas" panose="020B0609020204030204" pitchFamily="49" charset="0"/>
                        </a:rPr>
                        <a:t>24</a:t>
                      </a:r>
                    </a:p>
                    <a:p>
                      <a:pPr algn="ctr"/>
                      <a:r>
                        <a:rPr lang="es-CO" sz="1400" b="0" dirty="0">
                          <a:latin typeface="+mn-lt"/>
                          <a:cs typeface="Consolas" panose="020B0609020204030204" pitchFamily="49" charset="0"/>
                        </a:rPr>
                        <a:t>13</a:t>
                      </a:r>
                    </a:p>
                    <a:p>
                      <a:pPr algn="ctr"/>
                      <a:r>
                        <a:rPr lang="es-CO" sz="14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="0" dirty="0">
                          <a:latin typeface="+mn-lt"/>
                          <a:cs typeface="Consolas" panose="020B0609020204030204" pitchFamily="49" charset="0"/>
                        </a:rPr>
                        <a:t>6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="0" dirty="0">
                          <a:latin typeface="+mn-lt"/>
                          <a:cs typeface="Consolas" panose="020B0609020204030204" pitchFamily="49" charset="0"/>
                        </a:rPr>
                        <a:t>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="0" dirty="0">
                          <a:latin typeface="+mn-lt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>
                          <a:latin typeface="+mn-lt"/>
                          <a:cs typeface="Consolas" panose="020B0609020204030204" pitchFamily="49" charset="0"/>
                        </a:rPr>
                        <a:t>6 es divisor</a:t>
                      </a:r>
                      <a:r>
                        <a:rPr lang="es-CO" sz="1400" b="0" baseline="0" dirty="0">
                          <a:latin typeface="+mn-lt"/>
                          <a:cs typeface="Consolas" panose="020B0609020204030204" pitchFamily="49" charset="0"/>
                        </a:rPr>
                        <a:t> de 24</a:t>
                      </a:r>
                    </a:p>
                    <a:p>
                      <a:pPr algn="ctr"/>
                      <a:r>
                        <a:rPr lang="es-CO" sz="1400" b="0" dirty="0">
                          <a:latin typeface="+mn-lt"/>
                          <a:cs typeface="Consolas" panose="020B0609020204030204" pitchFamily="49" charset="0"/>
                        </a:rPr>
                        <a:t>5 no es divisor</a:t>
                      </a:r>
                      <a:r>
                        <a:rPr lang="es-CO" sz="1400" b="0" baseline="0" dirty="0">
                          <a:latin typeface="+mn-lt"/>
                          <a:cs typeface="Consolas" panose="020B0609020204030204" pitchFamily="49" charset="0"/>
                        </a:rPr>
                        <a:t> de 13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="0" dirty="0">
                          <a:latin typeface="+mn-lt"/>
                          <a:cs typeface="Consolas" panose="020B0609020204030204" pitchFamily="49" charset="0"/>
                        </a:rPr>
                        <a:t>4 es divisor</a:t>
                      </a:r>
                      <a:r>
                        <a:rPr lang="es-CO" sz="1400" b="0" baseline="0" dirty="0">
                          <a:latin typeface="+mn-lt"/>
                          <a:cs typeface="Consolas" panose="020B0609020204030204" pitchFamily="49" charset="0"/>
                        </a:rPr>
                        <a:t> de 0</a:t>
                      </a:r>
                      <a:endParaRPr lang="es-CO" sz="1400" b="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5 Rectángulo">
            <a:extLst>
              <a:ext uri="{FF2B5EF4-FFF2-40B4-BE49-F238E27FC236}">
                <a16:creationId xmlns:a16="http://schemas.microsoft.com/office/drawing/2014/main" id="{A451B82A-DC0A-42AC-AEE7-B29489132969}"/>
              </a:ext>
            </a:extLst>
          </p:cNvPr>
          <p:cNvSpPr/>
          <p:nvPr/>
        </p:nvSpPr>
        <p:spPr>
          <a:xfrm>
            <a:off x="309845" y="1412159"/>
            <a:ext cx="24970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Resultados esperados</a:t>
            </a:r>
            <a:endParaRPr lang="es-CO" sz="20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C47D11B-9C9C-46B3-9E19-E7EF557FF386}"/>
              </a:ext>
            </a:extLst>
          </p:cNvPr>
          <p:cNvSpPr txBox="1"/>
          <p:nvPr/>
        </p:nvSpPr>
        <p:spPr>
          <a:xfrm>
            <a:off x="4152900" y="2670286"/>
            <a:ext cx="4761128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Leer(num1,num2)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Si (num1%num2 == 0) Entonces    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  Escribir(num2, </a:t>
            </a:r>
            <a:r>
              <a:rPr lang="es-CO" sz="1400" dirty="0">
                <a:latin typeface="Consolas" panose="020B0609020204030204" pitchFamily="49" charset="0"/>
              </a:rPr>
              <a:t>" es divisor de ", num1</a:t>
            </a:r>
            <a:r>
              <a:rPr lang="es-MX" sz="14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Sino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  Escribir(num2, </a:t>
            </a:r>
            <a:r>
              <a:rPr lang="es-CO" sz="1400" dirty="0">
                <a:latin typeface="Consolas" panose="020B0609020204030204" pitchFamily="49" charset="0"/>
              </a:rPr>
              <a:t>" no es divisor de ", num1</a:t>
            </a:r>
            <a:r>
              <a:rPr lang="es-MX" sz="14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  Fin_Si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Fin</a:t>
            </a:r>
            <a:endParaRPr lang="es-CO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787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9512" y="332656"/>
            <a:ext cx="5544616" cy="792088"/>
          </a:xfrm>
        </p:spPr>
        <p:txBody>
          <a:bodyPr>
            <a:normAutofit/>
          </a:bodyPr>
          <a:lstStyle/>
          <a:p>
            <a:r>
              <a:rPr lang="en-US" dirty="0"/>
              <a:t>Ejercicios de repaso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24744"/>
                <a:ext cx="8784976" cy="5400599"/>
              </a:xfrm>
            </p:spPr>
            <p:txBody>
              <a:bodyPr>
                <a:noAutofit/>
              </a:bodyPr>
              <a:lstStyle/>
              <a:p>
                <a:pPr marL="514350" indent="-457200">
                  <a:buFont typeface="+mj-lt"/>
                  <a:buAutoNum type="arabicPeriod"/>
                </a:pPr>
                <a:r>
                  <a:rPr lang="es-MX" sz="1800" dirty="0"/>
                  <a:t>Escribir un programa que solicite al usuario introducir dos números distintos. Si el primer número introducido es mayor que el segundo número, el programa debe imprimir el mensaje </a:t>
                </a:r>
                <a:r>
                  <a:rPr lang="es-MX" sz="1800" b="1" dirty="0"/>
                  <a:t>El primer número es el mayor</a:t>
                </a:r>
                <a:r>
                  <a:rPr lang="es-MX" sz="1800" dirty="0"/>
                  <a:t>, en caso contrario el programa debe imprimir el mensaje </a:t>
                </a:r>
                <a:r>
                  <a:rPr lang="es-MX" sz="1800" b="1" dirty="0"/>
                  <a:t>El primer número es el más pequeño</a:t>
                </a:r>
                <a:r>
                  <a:rPr lang="es-MX" sz="1800" dirty="0"/>
                  <a:t>.</a:t>
                </a:r>
              </a:p>
              <a:p>
                <a:pPr marL="514350" indent="-457200">
                  <a:buFont typeface="+mj-lt"/>
                  <a:buAutoNum type="arabicPeriod"/>
                </a:pPr>
                <a:r>
                  <a:rPr lang="es-MX" sz="1800" dirty="0"/>
                  <a:t>Calcular la raíz cuadrada de un número y escribir su resultado. Recuerde que a un numero negativo no se le puede sacar raíz cuadrada. </a:t>
                </a:r>
              </a:p>
              <a:p>
                <a:pPr marL="514350" indent="-457200">
                  <a:buFont typeface="+mj-lt"/>
                  <a:buAutoNum type="arabicPeriod"/>
                </a:pPr>
                <a:r>
                  <a:rPr lang="es-CO" sz="1800" dirty="0"/>
                  <a:t>Hacer un programa que calcule el valor de la siguiente función:</a:t>
                </a:r>
              </a:p>
              <a:p>
                <a:pPr marL="514350" indent="-457200">
                  <a:buFont typeface="+mj-lt"/>
                  <a:buAutoNum type="arabicPeriod"/>
                </a:pPr>
                <a:endParaRPr lang="es-MX" sz="1800" dirty="0"/>
              </a:p>
              <a:p>
                <a:pPr marL="571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brk m:alnAt="7"/>
                                      </m:r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</a:rPr>
                                      <m:t>para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≤0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brk m:alnAt="7"/>
                                      </m:r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</a:rPr>
                                      <m:t>para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&gt;0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s-MX" sz="1800" dirty="0"/>
              </a:p>
              <a:p>
                <a:pPr marL="400050" indent="-342900">
                  <a:buAutoNum type="arabicPeriod" startAt="4"/>
                </a:pPr>
                <a:r>
                  <a:rPr lang="es-CO" sz="1800" dirty="0"/>
                  <a:t>Hacer un programa que solicite </a:t>
                </a:r>
                <a:r>
                  <a:rPr lang="es-CO" sz="1800"/>
                  <a:t>dos números </a:t>
                </a:r>
                <a:r>
                  <a:rPr lang="es-CO" sz="1800" dirty="0"/>
                  <a:t>de tal manera que si el primero es mayor que el primero, los deje igual; y si el segundo es mayor que el primero, los intercambie.</a:t>
                </a:r>
              </a:p>
              <a:p>
                <a:pPr marL="400050" indent="-342900">
                  <a:buAutoNum type="arabicPeriod" startAt="4"/>
                </a:pPr>
                <a:r>
                  <a:rPr lang="es-MX" sz="1800" dirty="0"/>
                  <a:t>Determinar el precio del billete de ida y vuelta en avión, conociendo la distancia a recorrer y sabiendo que si el número de días de estancia es superior a 7 y la distancia superior a 800 km el billete tiene una reducción del 30 por 100. El precio por km es de 2.5 euros.</a:t>
                </a:r>
              </a:p>
              <a:p>
                <a:pPr marL="514350" indent="-457200">
                  <a:buFont typeface="+mj-lt"/>
                  <a:buAutoNum type="arabicPeriod"/>
                </a:pPr>
                <a:endParaRPr lang="es-ES" sz="1800" dirty="0"/>
              </a:p>
              <a:p>
                <a:pPr marL="514350" indent="-457200">
                  <a:buFont typeface="+mj-lt"/>
                  <a:buAutoNum type="arabicPeriod"/>
                </a:pPr>
                <a:endParaRPr lang="es-ES" sz="1800" dirty="0"/>
              </a:p>
              <a:p>
                <a:pPr marL="57150" indent="0">
                  <a:buNone/>
                </a:pPr>
                <a:endParaRPr lang="es-MX" sz="1800" i="1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24744"/>
                <a:ext cx="8784976" cy="5400599"/>
              </a:xfrm>
              <a:blipFill>
                <a:blip r:embed="rId2"/>
                <a:stretch>
                  <a:fillRect t="-113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57206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7504" y="23817"/>
            <a:ext cx="7886700" cy="740887"/>
          </a:xfrm>
        </p:spPr>
        <p:txBody>
          <a:bodyPr/>
          <a:lstStyle/>
          <a:p>
            <a:r>
              <a:rPr lang="en-US" sz="2800" dirty="0"/>
              <a:t>Referencias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1520" y="764704"/>
            <a:ext cx="8424936" cy="288032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2"/>
              </a:rPr>
              <a:t>https://ellibrodepython.com/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3"/>
              </a:rPr>
              <a:t>https://www.w3resource.com/index.php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4"/>
              </a:rPr>
              <a:t>https://realpython.com/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5"/>
              </a:rPr>
              <a:t>https://curriculumresources.edu.gh/wp-content/uploads/2025/01/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6"/>
              </a:rPr>
              <a:t>https://python-course.eu/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7"/>
              </a:rPr>
              <a:t>https://realpython.com/cheatsheets/python/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8"/>
              </a:rPr>
              <a:t>https://realpython.com/python-conditional-statements/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9"/>
              </a:rPr>
              <a:t>https://realpython.com/ref/best-practices/conditionals/</a:t>
            </a:r>
            <a:r>
              <a:rPr lang="es-CO" sz="2000" dirty="0"/>
              <a:t>   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231648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0616"/>
            <a:ext cx="7886700" cy="1325563"/>
          </a:xfrm>
        </p:spPr>
        <p:txBody>
          <a:bodyPr/>
          <a:lstStyle/>
          <a:p>
            <a:r>
              <a:rPr lang="es-CO" dirty="0"/>
              <a:t>Eso es todo amigos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EB7A35A-8457-40AD-9684-4D3760089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628800"/>
            <a:ext cx="5616624" cy="4212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4962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3569</TotalTime>
  <Words>4098</Words>
  <Application>Microsoft Office PowerPoint</Application>
  <PresentationFormat>Presentación en pantalla (4:3)</PresentationFormat>
  <Paragraphs>864</Paragraphs>
  <Slides>54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62" baseType="lpstr">
      <vt:lpstr>Arial</vt:lpstr>
      <vt:lpstr>Calibri</vt:lpstr>
      <vt:lpstr>Calibri Light</vt:lpstr>
      <vt:lpstr>Cambria Math</vt:lpstr>
      <vt:lpstr>Century Gothic</vt:lpstr>
      <vt:lpstr>Consolas</vt:lpstr>
      <vt:lpstr>Wingdings</vt:lpstr>
      <vt:lpstr>Office Theme</vt:lpstr>
      <vt:lpstr>Lógica y Representación 1</vt:lpstr>
      <vt:lpstr>Método de Polya - Resumen</vt:lpstr>
      <vt:lpstr>Tipos de datos</vt:lpstr>
      <vt:lpstr>Entrada, procesamiento y salida</vt:lpstr>
      <vt:lpstr>Tabla resumen</vt:lpstr>
      <vt:lpstr>Diseño de programas</vt:lpstr>
      <vt:lpstr>Codificación de algoritmos en Python</vt:lpstr>
      <vt:lpstr>Operadores aritméticos</vt:lpstr>
      <vt:lpstr>Operadores relacionales</vt:lpstr>
      <vt:lpstr>Operadores lógicos</vt:lpstr>
      <vt:lpstr>Reglas de prioridad y asociatividad</vt:lpstr>
      <vt:lpstr>Prueba de Escritorio</vt:lpstr>
      <vt:lpstr>Prueba de Escritorio</vt:lpstr>
      <vt:lpstr>Prueba de Escritorio</vt:lpstr>
      <vt:lpstr>Nuevo bloque - Condición</vt:lpstr>
      <vt:lpstr>Prueba de Escritorio</vt:lpstr>
      <vt:lpstr>Prueba de Escritorio</vt:lpstr>
      <vt:lpstr>Prueba de Escritorio</vt:lpstr>
      <vt:lpstr>Condicionales</vt:lpstr>
      <vt:lpstr>Condicionales</vt:lpstr>
      <vt:lpstr>Sobre la condición</vt:lpstr>
      <vt:lpstr>Condicionales</vt:lpstr>
      <vt:lpstr>Condicionales</vt:lpstr>
      <vt:lpstr>Condicionales</vt:lpstr>
      <vt:lpstr>Condicionales</vt:lpstr>
      <vt:lpstr>Condicionales</vt:lpstr>
      <vt:lpstr>Casos en los problemas de decisión lógica</vt:lpstr>
      <vt:lpstr>Alternativa simple</vt:lpstr>
      <vt:lpstr>Alternativa simple</vt:lpstr>
      <vt:lpstr>Alternativa simple</vt:lpstr>
      <vt:lpstr>Alternativa simple</vt:lpstr>
      <vt:lpstr>Alternativa simple</vt:lpstr>
      <vt:lpstr>Alternativa simple</vt:lpstr>
      <vt:lpstr>Alternativa simple</vt:lpstr>
      <vt:lpstr>Alternativa simple</vt:lpstr>
      <vt:lpstr>Alternativa simple</vt:lpstr>
      <vt:lpstr>Alternativa doble</vt:lpstr>
      <vt:lpstr>Alternativa doble</vt:lpstr>
      <vt:lpstr>Alternativa doble</vt:lpstr>
      <vt:lpstr>Alternativa doble</vt:lpstr>
      <vt:lpstr>Alternativa doble</vt:lpstr>
      <vt:lpstr>Alternativa doble</vt:lpstr>
      <vt:lpstr>Comparaciones – Solución ejemplo 1</vt:lpstr>
      <vt:lpstr>Comparaciones – Solución ejemplo 2</vt:lpstr>
      <vt:lpstr>Ejemplos de repaso</vt:lpstr>
      <vt:lpstr>Ejemplos de repaso</vt:lpstr>
      <vt:lpstr>Alternativa doble</vt:lpstr>
      <vt:lpstr>Alternativa doble</vt:lpstr>
      <vt:lpstr>Ejemplos de repaso</vt:lpstr>
      <vt:lpstr>Ejemplos de repaso</vt:lpstr>
      <vt:lpstr>Ejemplos de repaso</vt:lpstr>
      <vt:lpstr>Ejercicios de repaso</vt:lpstr>
      <vt:lpstr>Referencias</vt:lpstr>
      <vt:lpstr>Eso es todo amigos</vt:lpstr>
    </vt:vector>
  </TitlesOfParts>
  <Company>Universidad de Antioquia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del curso</dc:title>
  <dc:creator>Apoyo Administrativo Ingeniería</dc:creator>
  <cp:lastModifiedBy>HENRY ALBERTO ARCILA RAMIREZ</cp:lastModifiedBy>
  <cp:revision>110</cp:revision>
  <dcterms:created xsi:type="dcterms:W3CDTF">2015-03-12T20:27:20Z</dcterms:created>
  <dcterms:modified xsi:type="dcterms:W3CDTF">2026-08-24T03:28:30Z</dcterms:modified>
</cp:coreProperties>
</file>