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99" r:id="rId1"/>
  </p:sldMasterIdLst>
  <p:notesMasterIdLst>
    <p:notesMasterId r:id="rId56"/>
  </p:notesMasterIdLst>
  <p:sldIdLst>
    <p:sldId id="281" r:id="rId2"/>
    <p:sldId id="309" r:id="rId3"/>
    <p:sldId id="404" r:id="rId4"/>
    <p:sldId id="368" r:id="rId5"/>
    <p:sldId id="405" r:id="rId6"/>
    <p:sldId id="306" r:id="rId7"/>
    <p:sldId id="396" r:id="rId8"/>
    <p:sldId id="408" r:id="rId9"/>
    <p:sldId id="409" r:id="rId10"/>
    <p:sldId id="407" r:id="rId11"/>
    <p:sldId id="406" r:id="rId12"/>
    <p:sldId id="380" r:id="rId13"/>
    <p:sldId id="384" r:id="rId14"/>
    <p:sldId id="382" r:id="rId15"/>
    <p:sldId id="410" r:id="rId16"/>
    <p:sldId id="381" r:id="rId17"/>
    <p:sldId id="387" r:id="rId18"/>
    <p:sldId id="383" r:id="rId19"/>
    <p:sldId id="342" r:id="rId20"/>
    <p:sldId id="341" r:id="rId21"/>
    <p:sldId id="425" r:id="rId22"/>
    <p:sldId id="344" r:id="rId23"/>
    <p:sldId id="345" r:id="rId24"/>
    <p:sldId id="346" r:id="rId25"/>
    <p:sldId id="347" r:id="rId26"/>
    <p:sldId id="348" r:id="rId27"/>
    <p:sldId id="349" r:id="rId28"/>
    <p:sldId id="350" r:id="rId29"/>
    <p:sldId id="412" r:id="rId30"/>
    <p:sldId id="413" r:id="rId31"/>
    <p:sldId id="414" r:id="rId32"/>
    <p:sldId id="357" r:id="rId33"/>
    <p:sldId id="356" r:id="rId34"/>
    <p:sldId id="354" r:id="rId35"/>
    <p:sldId id="391" r:id="rId36"/>
    <p:sldId id="358" r:id="rId37"/>
    <p:sldId id="351" r:id="rId38"/>
    <p:sldId id="416" r:id="rId39"/>
    <p:sldId id="417" r:id="rId40"/>
    <p:sldId id="359" r:id="rId41"/>
    <p:sldId id="418" r:id="rId42"/>
    <p:sldId id="361" r:id="rId43"/>
    <p:sldId id="419" r:id="rId44"/>
    <p:sldId id="420" r:id="rId45"/>
    <p:sldId id="421" r:id="rId46"/>
    <p:sldId id="362" r:id="rId47"/>
    <p:sldId id="363" r:id="rId48"/>
    <p:sldId id="426" r:id="rId49"/>
    <p:sldId id="364" r:id="rId50"/>
    <p:sldId id="422" r:id="rId51"/>
    <p:sldId id="395" r:id="rId52"/>
    <p:sldId id="423" r:id="rId53"/>
    <p:sldId id="310" r:id="rId54"/>
    <p:sldId id="277" r:id="rId5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Sin estilo, cuadrícula de la tabla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7E9639D4-E3E2-4D34-9284-5A2195B3D0D7}" styleName="Estilo claro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8EC20E35-A176-4012-BC5E-935CFFF8708E}" styleName="Estilo medio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39" autoAdjust="0"/>
    <p:restoredTop sz="94684" autoAdjust="0"/>
  </p:normalViewPr>
  <p:slideViewPr>
    <p:cSldViewPr>
      <p:cViewPr>
        <p:scale>
          <a:sx n="75" d="100"/>
          <a:sy n="75" d="100"/>
        </p:scale>
        <p:origin x="1152" y="-96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viewProps" Target="viewProps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theme" Target="theme/theme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presProps" Target="presProps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tableStyles" Target="tableStyle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3">
  <dgm:title val=""/>
  <dgm:desc val=""/>
  <dgm:catLst>
    <dgm:cat type="colorful" pri="103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3"/>
      <a:schemeClr val="accent4"/>
    </dgm:fillClrLst>
    <dgm:linClrLst>
      <a:schemeClr val="accent3"/>
      <a:schemeClr val="accent4"/>
    </dgm:linClrLst>
    <dgm:effectClrLst/>
    <dgm:txLinClrLst/>
    <dgm:txFillClrLst/>
    <dgm:txEffectClrLst/>
  </dgm:styleLbl>
  <dgm:styleLbl name="ln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3">
        <a:alpha val="50000"/>
      </a:schemeClr>
      <a:schemeClr val="accent4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3">
        <a:tint val="50000"/>
      </a:schemeClr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3"/>
      <a:schemeClr val="accent4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234617D2-EBA5-43D3-A846-ABD7019008A4}" type="doc">
      <dgm:prSet loTypeId="urn:microsoft.com/office/officeart/2005/8/layout/chevron2" loCatId="process" qsTypeId="urn:microsoft.com/office/officeart/2005/8/quickstyle/simple4" qsCatId="simple" csTypeId="urn:microsoft.com/office/officeart/2005/8/colors/colorful3" csCatId="colorful" phldr="1"/>
      <dgm:spPr/>
      <dgm:t>
        <a:bodyPr/>
        <a:lstStyle/>
        <a:p>
          <a:endParaRPr lang="es-CO"/>
        </a:p>
      </dgm:t>
    </dgm:pt>
    <dgm:pt modelId="{0F6E169A-367E-48F6-8A0F-9538EF72E803}">
      <dgm:prSet phldrT="[Texto]" custT="1"/>
      <dgm:spPr/>
      <dgm:t>
        <a:bodyPr/>
        <a:lstStyle/>
        <a:p>
          <a:r>
            <a:rPr lang="es-CO" sz="1600" dirty="0">
              <a:latin typeface="Century Gothic" panose="020B0502020202020204" pitchFamily="34" charset="0"/>
            </a:rPr>
            <a:t>1</a:t>
          </a:r>
          <a:endParaRPr lang="es-CO" sz="1200" dirty="0">
            <a:latin typeface="Century Gothic" panose="020B0502020202020204" pitchFamily="34" charset="0"/>
          </a:endParaRPr>
        </a:p>
      </dgm:t>
    </dgm:pt>
    <dgm:pt modelId="{214810CF-0E9F-420E-9F44-94CA29248781}" type="parTrans" cxnId="{1D7BCF56-E33F-4A42-8129-E524DE8CA73C}">
      <dgm:prSet/>
      <dgm:spPr/>
      <dgm:t>
        <a:bodyPr/>
        <a:lstStyle/>
        <a:p>
          <a:endParaRPr lang="es-CO" sz="1600"/>
        </a:p>
      </dgm:t>
    </dgm:pt>
    <dgm:pt modelId="{9E3845BF-94AB-444E-AB21-A0DA1B4B1270}" type="sibTrans" cxnId="{1D7BCF56-E33F-4A42-8129-E524DE8CA73C}">
      <dgm:prSet/>
      <dgm:spPr/>
      <dgm:t>
        <a:bodyPr/>
        <a:lstStyle/>
        <a:p>
          <a:endParaRPr lang="es-CO" sz="1600"/>
        </a:p>
      </dgm:t>
    </dgm:pt>
    <dgm:pt modelId="{676AA4D5-22F4-47B3-B0E8-95C3D9C99480}">
      <dgm:prSet phldrT="[Texto]" custT="1"/>
      <dgm:spPr/>
      <dgm:t>
        <a:bodyPr/>
        <a:lstStyle/>
        <a:p>
          <a:pPr>
            <a:buNone/>
          </a:pPr>
          <a:r>
            <a:rPr lang="es-CO" sz="2000" dirty="0">
              <a:latin typeface="Century Gothic" panose="020B0502020202020204" pitchFamily="34" charset="0"/>
            </a:rPr>
            <a:t>Entender el problema</a:t>
          </a:r>
        </a:p>
      </dgm:t>
    </dgm:pt>
    <dgm:pt modelId="{65AE6963-95E3-417E-9DBC-C327427667A9}" type="parTrans" cxnId="{E402CAF0-5AAA-416F-BAF4-3854EF253EE5}">
      <dgm:prSet/>
      <dgm:spPr/>
      <dgm:t>
        <a:bodyPr/>
        <a:lstStyle/>
        <a:p>
          <a:endParaRPr lang="es-CO" sz="1600"/>
        </a:p>
      </dgm:t>
    </dgm:pt>
    <dgm:pt modelId="{BBDCCB86-71C3-422E-959C-8FA92A9124DF}" type="sibTrans" cxnId="{E402CAF0-5AAA-416F-BAF4-3854EF253EE5}">
      <dgm:prSet/>
      <dgm:spPr/>
      <dgm:t>
        <a:bodyPr/>
        <a:lstStyle/>
        <a:p>
          <a:endParaRPr lang="es-CO" sz="1600"/>
        </a:p>
      </dgm:t>
    </dgm:pt>
    <dgm:pt modelId="{9C3C57BE-AD01-47F6-9592-98EF2608A6EF}">
      <dgm:prSet phldrT="[Texto]" custT="1"/>
      <dgm:spPr/>
      <dgm:t>
        <a:bodyPr/>
        <a:lstStyle/>
        <a:p>
          <a:r>
            <a:rPr lang="es-CO" sz="1800" dirty="0">
              <a:latin typeface="Century Gothic" panose="020B0502020202020204" pitchFamily="34" charset="0"/>
            </a:rPr>
            <a:t>2</a:t>
          </a:r>
          <a:endParaRPr lang="es-CO" sz="2400" dirty="0">
            <a:latin typeface="Century Gothic" panose="020B0502020202020204" pitchFamily="34" charset="0"/>
          </a:endParaRPr>
        </a:p>
      </dgm:t>
    </dgm:pt>
    <dgm:pt modelId="{33D25418-EA10-4491-90C6-5683712BE055}" type="parTrans" cxnId="{FBB864E0-2027-4A45-B5D7-110F765EFD96}">
      <dgm:prSet/>
      <dgm:spPr/>
      <dgm:t>
        <a:bodyPr/>
        <a:lstStyle/>
        <a:p>
          <a:endParaRPr lang="es-CO" sz="1600"/>
        </a:p>
      </dgm:t>
    </dgm:pt>
    <dgm:pt modelId="{0019765E-5748-4647-85C8-6E8054C68086}" type="sibTrans" cxnId="{FBB864E0-2027-4A45-B5D7-110F765EFD96}">
      <dgm:prSet/>
      <dgm:spPr/>
      <dgm:t>
        <a:bodyPr/>
        <a:lstStyle/>
        <a:p>
          <a:endParaRPr lang="es-CO" sz="1600"/>
        </a:p>
      </dgm:t>
    </dgm:pt>
    <dgm:pt modelId="{C59A2A35-6BBC-4F81-BD74-40520AACD6AB}">
      <dgm:prSet phldrT="[Texto]" custT="1"/>
      <dgm:spPr/>
      <dgm:t>
        <a:bodyPr/>
        <a:lstStyle/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s-CO" sz="2000" kern="1200" dirty="0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Century Gothic" panose="020B0502020202020204" pitchFamily="34" charset="0"/>
              <a:ea typeface="+mn-ea"/>
              <a:cs typeface="+mn-cs"/>
            </a:rPr>
            <a:t>Diseñar un plan</a:t>
          </a:r>
        </a:p>
      </dgm:t>
    </dgm:pt>
    <dgm:pt modelId="{EDE363E4-7EA3-41D2-8DB9-A0871D9DA325}" type="parTrans" cxnId="{3B1F784D-95DD-4194-A52D-9A5B55BC5BD7}">
      <dgm:prSet/>
      <dgm:spPr/>
      <dgm:t>
        <a:bodyPr/>
        <a:lstStyle/>
        <a:p>
          <a:endParaRPr lang="es-CO" sz="1600"/>
        </a:p>
      </dgm:t>
    </dgm:pt>
    <dgm:pt modelId="{C31DDF04-103F-4600-9F78-0BDCC0BF907B}" type="sibTrans" cxnId="{3B1F784D-95DD-4194-A52D-9A5B55BC5BD7}">
      <dgm:prSet/>
      <dgm:spPr/>
      <dgm:t>
        <a:bodyPr/>
        <a:lstStyle/>
        <a:p>
          <a:endParaRPr lang="es-CO" sz="1600"/>
        </a:p>
      </dgm:t>
    </dgm:pt>
    <dgm:pt modelId="{9AB424BA-7E8B-4D0B-8A3C-3748A54646B8}">
      <dgm:prSet phldrT="[Texto]" custT="1"/>
      <dgm:spPr/>
      <dgm:t>
        <a:bodyPr/>
        <a:lstStyle/>
        <a:p>
          <a:r>
            <a:rPr lang="es-CO" sz="2000" dirty="0">
              <a:latin typeface="Century Gothic" panose="020B0502020202020204" pitchFamily="34" charset="0"/>
            </a:rPr>
            <a:t>3</a:t>
          </a:r>
        </a:p>
      </dgm:t>
    </dgm:pt>
    <dgm:pt modelId="{E543BFA9-86DB-499C-8E83-B32D00A97FD8}" type="parTrans" cxnId="{9DB9632F-E2AC-48EE-840F-D6A88C411EEA}">
      <dgm:prSet/>
      <dgm:spPr/>
      <dgm:t>
        <a:bodyPr/>
        <a:lstStyle/>
        <a:p>
          <a:endParaRPr lang="es-CO" sz="1600"/>
        </a:p>
      </dgm:t>
    </dgm:pt>
    <dgm:pt modelId="{DDCD6E76-3560-4CAA-96A8-94ACFF130E9B}" type="sibTrans" cxnId="{9DB9632F-E2AC-48EE-840F-D6A88C411EEA}">
      <dgm:prSet/>
      <dgm:spPr/>
      <dgm:t>
        <a:bodyPr/>
        <a:lstStyle/>
        <a:p>
          <a:endParaRPr lang="es-CO" sz="1600"/>
        </a:p>
      </dgm:t>
    </dgm:pt>
    <dgm:pt modelId="{BEC04423-D6B7-4792-AEB9-C3D7F81A98AC}">
      <dgm:prSet phldrT="[Texto]" custT="1"/>
      <dgm:spPr/>
      <dgm:t>
        <a:bodyPr/>
        <a:lstStyle/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s-CO" sz="2000" kern="1200" dirty="0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Century Gothic" panose="020B0502020202020204" pitchFamily="34" charset="0"/>
              <a:ea typeface="+mn-ea"/>
              <a:cs typeface="+mn-cs"/>
            </a:rPr>
            <a:t>Implementar el plan</a:t>
          </a:r>
        </a:p>
      </dgm:t>
    </dgm:pt>
    <dgm:pt modelId="{F135D138-85FF-4087-B751-5F159F842289}" type="parTrans" cxnId="{5B0A26F8-5ACB-43D3-A171-6C62CAD4E7BE}">
      <dgm:prSet/>
      <dgm:spPr/>
      <dgm:t>
        <a:bodyPr/>
        <a:lstStyle/>
        <a:p>
          <a:endParaRPr lang="es-CO" sz="1600"/>
        </a:p>
      </dgm:t>
    </dgm:pt>
    <dgm:pt modelId="{AB02689B-5109-4C4C-A9DD-EF332B395FC7}" type="sibTrans" cxnId="{5B0A26F8-5ACB-43D3-A171-6C62CAD4E7BE}">
      <dgm:prSet/>
      <dgm:spPr/>
      <dgm:t>
        <a:bodyPr/>
        <a:lstStyle/>
        <a:p>
          <a:endParaRPr lang="es-CO" sz="1600"/>
        </a:p>
      </dgm:t>
    </dgm:pt>
    <dgm:pt modelId="{6F3FB39C-3E1D-4D2D-849B-EA0299C466C8}">
      <dgm:prSet phldrT="[Texto]" custT="1"/>
      <dgm:spPr/>
      <dgm:t>
        <a:bodyPr/>
        <a:lstStyle/>
        <a:p>
          <a:r>
            <a:rPr lang="es-CO" sz="2000" dirty="0">
              <a:latin typeface="Century Gothic" panose="020B0502020202020204" pitchFamily="34" charset="0"/>
            </a:rPr>
            <a:t>4</a:t>
          </a:r>
        </a:p>
      </dgm:t>
    </dgm:pt>
    <dgm:pt modelId="{F344B892-AD67-4863-B1DB-FFEAC6AE3C6A}" type="parTrans" cxnId="{F85ACEEE-F8C0-443C-BAAF-021763D37073}">
      <dgm:prSet/>
      <dgm:spPr/>
      <dgm:t>
        <a:bodyPr/>
        <a:lstStyle/>
        <a:p>
          <a:endParaRPr lang="es-CO" sz="1600"/>
        </a:p>
      </dgm:t>
    </dgm:pt>
    <dgm:pt modelId="{2E86F725-3FD8-4480-8AF6-6A89E142D77A}" type="sibTrans" cxnId="{F85ACEEE-F8C0-443C-BAAF-021763D37073}">
      <dgm:prSet/>
      <dgm:spPr/>
      <dgm:t>
        <a:bodyPr/>
        <a:lstStyle/>
        <a:p>
          <a:endParaRPr lang="es-CO" sz="1600"/>
        </a:p>
      </dgm:t>
    </dgm:pt>
    <dgm:pt modelId="{DCCFDBD5-3BD5-4368-8E74-2BE430318114}">
      <dgm:prSet custT="1"/>
      <dgm:spPr/>
      <dgm:t>
        <a:bodyPr/>
        <a:lstStyle/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s-CO" sz="2000" kern="1200" dirty="0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Century Gothic" panose="020B0502020202020204" pitchFamily="34" charset="0"/>
              <a:ea typeface="+mn-ea"/>
              <a:cs typeface="+mn-cs"/>
            </a:rPr>
            <a:t>Revisar el plan</a:t>
          </a:r>
        </a:p>
      </dgm:t>
    </dgm:pt>
    <dgm:pt modelId="{E9C3A1B1-6767-4D4A-B32D-4EDACFE1C0F4}" type="parTrans" cxnId="{95C514DE-3460-4712-B0CD-D954FE76DB64}">
      <dgm:prSet/>
      <dgm:spPr/>
      <dgm:t>
        <a:bodyPr/>
        <a:lstStyle/>
        <a:p>
          <a:endParaRPr lang="es-CO" sz="1600"/>
        </a:p>
      </dgm:t>
    </dgm:pt>
    <dgm:pt modelId="{159A55EA-C5B7-4F9E-8222-A763BEB4D99B}" type="sibTrans" cxnId="{95C514DE-3460-4712-B0CD-D954FE76DB64}">
      <dgm:prSet/>
      <dgm:spPr/>
      <dgm:t>
        <a:bodyPr/>
        <a:lstStyle/>
        <a:p>
          <a:endParaRPr lang="es-CO" sz="1600"/>
        </a:p>
      </dgm:t>
    </dgm:pt>
    <dgm:pt modelId="{C30EB98C-BF8E-47B5-A59F-A3E708D5551C}" type="pres">
      <dgm:prSet presAssocID="{234617D2-EBA5-43D3-A846-ABD7019008A4}" presName="linearFlow" presStyleCnt="0">
        <dgm:presLayoutVars>
          <dgm:dir/>
          <dgm:animLvl val="lvl"/>
          <dgm:resizeHandles val="exact"/>
        </dgm:presLayoutVars>
      </dgm:prSet>
      <dgm:spPr/>
    </dgm:pt>
    <dgm:pt modelId="{B5976899-2FC4-4A3E-891A-B74C8C23C8B5}" type="pres">
      <dgm:prSet presAssocID="{0F6E169A-367E-48F6-8A0F-9538EF72E803}" presName="composite" presStyleCnt="0"/>
      <dgm:spPr/>
    </dgm:pt>
    <dgm:pt modelId="{416A876F-5FA3-42F9-A923-4E2C334EF9BC}" type="pres">
      <dgm:prSet presAssocID="{0F6E169A-367E-48F6-8A0F-9538EF72E803}" presName="parentText" presStyleLbl="alignNode1" presStyleIdx="0" presStyleCnt="4">
        <dgm:presLayoutVars>
          <dgm:chMax val="1"/>
          <dgm:bulletEnabled val="1"/>
        </dgm:presLayoutVars>
      </dgm:prSet>
      <dgm:spPr/>
    </dgm:pt>
    <dgm:pt modelId="{344A86B1-48E8-448F-9C6D-71580BFB5F83}" type="pres">
      <dgm:prSet presAssocID="{0F6E169A-367E-48F6-8A0F-9538EF72E803}" presName="descendantText" presStyleLbl="alignAcc1" presStyleIdx="0" presStyleCnt="4">
        <dgm:presLayoutVars>
          <dgm:bulletEnabled val="1"/>
        </dgm:presLayoutVars>
      </dgm:prSet>
      <dgm:spPr/>
    </dgm:pt>
    <dgm:pt modelId="{19B3EDEB-1CF9-4423-9037-F0221A01EBBA}" type="pres">
      <dgm:prSet presAssocID="{9E3845BF-94AB-444E-AB21-A0DA1B4B1270}" presName="sp" presStyleCnt="0"/>
      <dgm:spPr/>
    </dgm:pt>
    <dgm:pt modelId="{5D167E8C-136F-440C-8D10-651E4D964A72}" type="pres">
      <dgm:prSet presAssocID="{9C3C57BE-AD01-47F6-9592-98EF2608A6EF}" presName="composite" presStyleCnt="0"/>
      <dgm:spPr/>
    </dgm:pt>
    <dgm:pt modelId="{A651636C-CE47-4575-AA1E-AB00D80E941D}" type="pres">
      <dgm:prSet presAssocID="{9C3C57BE-AD01-47F6-9592-98EF2608A6EF}" presName="parentText" presStyleLbl="alignNode1" presStyleIdx="1" presStyleCnt="4" custLinFactNeighborY="0">
        <dgm:presLayoutVars>
          <dgm:chMax val="1"/>
          <dgm:bulletEnabled val="1"/>
        </dgm:presLayoutVars>
      </dgm:prSet>
      <dgm:spPr/>
    </dgm:pt>
    <dgm:pt modelId="{79B0DE70-0A03-4A6F-B31F-EC81EB5DF7EA}" type="pres">
      <dgm:prSet presAssocID="{9C3C57BE-AD01-47F6-9592-98EF2608A6EF}" presName="descendantText" presStyleLbl="alignAcc1" presStyleIdx="1" presStyleCnt="4">
        <dgm:presLayoutVars>
          <dgm:bulletEnabled val="1"/>
        </dgm:presLayoutVars>
      </dgm:prSet>
      <dgm:spPr/>
    </dgm:pt>
    <dgm:pt modelId="{5C2D5B77-4FD3-4BFC-B7C7-B69CFA47B819}" type="pres">
      <dgm:prSet presAssocID="{0019765E-5748-4647-85C8-6E8054C68086}" presName="sp" presStyleCnt="0"/>
      <dgm:spPr/>
    </dgm:pt>
    <dgm:pt modelId="{FD9C2F86-B450-49A0-8639-065AE676C080}" type="pres">
      <dgm:prSet presAssocID="{9AB424BA-7E8B-4D0B-8A3C-3748A54646B8}" presName="composite" presStyleCnt="0"/>
      <dgm:spPr/>
    </dgm:pt>
    <dgm:pt modelId="{2AA7B02C-023E-4537-897E-B54A048C8983}" type="pres">
      <dgm:prSet presAssocID="{9AB424BA-7E8B-4D0B-8A3C-3748A54646B8}" presName="parentText" presStyleLbl="alignNode1" presStyleIdx="2" presStyleCnt="4">
        <dgm:presLayoutVars>
          <dgm:chMax val="1"/>
          <dgm:bulletEnabled val="1"/>
        </dgm:presLayoutVars>
      </dgm:prSet>
      <dgm:spPr/>
    </dgm:pt>
    <dgm:pt modelId="{15D3D31F-A831-4E62-ADE9-6ACE81331CDC}" type="pres">
      <dgm:prSet presAssocID="{9AB424BA-7E8B-4D0B-8A3C-3748A54646B8}" presName="descendantText" presStyleLbl="alignAcc1" presStyleIdx="2" presStyleCnt="4">
        <dgm:presLayoutVars>
          <dgm:bulletEnabled val="1"/>
        </dgm:presLayoutVars>
      </dgm:prSet>
      <dgm:spPr/>
    </dgm:pt>
    <dgm:pt modelId="{365F76A6-EF4F-41D1-B81D-BC3D7851A081}" type="pres">
      <dgm:prSet presAssocID="{DDCD6E76-3560-4CAA-96A8-94ACFF130E9B}" presName="sp" presStyleCnt="0"/>
      <dgm:spPr/>
    </dgm:pt>
    <dgm:pt modelId="{4DB00594-09F9-4225-B772-B1D52DAEEAB6}" type="pres">
      <dgm:prSet presAssocID="{6F3FB39C-3E1D-4D2D-849B-EA0299C466C8}" presName="composite" presStyleCnt="0"/>
      <dgm:spPr/>
    </dgm:pt>
    <dgm:pt modelId="{58E45CBE-DE64-4E4E-8AAA-D376465B2BEE}" type="pres">
      <dgm:prSet presAssocID="{6F3FB39C-3E1D-4D2D-849B-EA0299C466C8}" presName="parentText" presStyleLbl="alignNode1" presStyleIdx="3" presStyleCnt="4">
        <dgm:presLayoutVars>
          <dgm:chMax val="1"/>
          <dgm:bulletEnabled val="1"/>
        </dgm:presLayoutVars>
      </dgm:prSet>
      <dgm:spPr/>
    </dgm:pt>
    <dgm:pt modelId="{C37D6712-7A35-4663-80F7-1B8FC410AF19}" type="pres">
      <dgm:prSet presAssocID="{6F3FB39C-3E1D-4D2D-849B-EA0299C466C8}" presName="descendantText" presStyleLbl="alignAcc1" presStyleIdx="3" presStyleCnt="4">
        <dgm:presLayoutVars>
          <dgm:bulletEnabled val="1"/>
        </dgm:presLayoutVars>
      </dgm:prSet>
      <dgm:spPr/>
    </dgm:pt>
  </dgm:ptLst>
  <dgm:cxnLst>
    <dgm:cxn modelId="{D25A530A-E341-4BA7-8999-21A374D537D3}" type="presOf" srcId="{BEC04423-D6B7-4792-AEB9-C3D7F81A98AC}" destId="{15D3D31F-A831-4E62-ADE9-6ACE81331CDC}" srcOrd="0" destOrd="0" presId="urn:microsoft.com/office/officeart/2005/8/layout/chevron2"/>
    <dgm:cxn modelId="{0F63B510-A033-48E8-A5FD-87C76FF5A9D6}" type="presOf" srcId="{0F6E169A-367E-48F6-8A0F-9538EF72E803}" destId="{416A876F-5FA3-42F9-A923-4E2C334EF9BC}" srcOrd="0" destOrd="0" presId="urn:microsoft.com/office/officeart/2005/8/layout/chevron2"/>
    <dgm:cxn modelId="{09EB6217-24CA-4B61-90D2-9CF7E646FA43}" type="presOf" srcId="{234617D2-EBA5-43D3-A846-ABD7019008A4}" destId="{C30EB98C-BF8E-47B5-A59F-A3E708D5551C}" srcOrd="0" destOrd="0" presId="urn:microsoft.com/office/officeart/2005/8/layout/chevron2"/>
    <dgm:cxn modelId="{9DB9632F-E2AC-48EE-840F-D6A88C411EEA}" srcId="{234617D2-EBA5-43D3-A846-ABD7019008A4}" destId="{9AB424BA-7E8B-4D0B-8A3C-3748A54646B8}" srcOrd="2" destOrd="0" parTransId="{E543BFA9-86DB-499C-8E83-B32D00A97FD8}" sibTransId="{DDCD6E76-3560-4CAA-96A8-94ACFF130E9B}"/>
    <dgm:cxn modelId="{5C56243F-7D54-4FD5-BD45-EEAB6E9334A6}" type="presOf" srcId="{676AA4D5-22F4-47B3-B0E8-95C3D9C99480}" destId="{344A86B1-48E8-448F-9C6D-71580BFB5F83}" srcOrd="0" destOrd="0" presId="urn:microsoft.com/office/officeart/2005/8/layout/chevron2"/>
    <dgm:cxn modelId="{3EF6886C-4FCF-4899-8F48-98F458A380A4}" type="presOf" srcId="{DCCFDBD5-3BD5-4368-8E74-2BE430318114}" destId="{C37D6712-7A35-4663-80F7-1B8FC410AF19}" srcOrd="0" destOrd="0" presId="urn:microsoft.com/office/officeart/2005/8/layout/chevron2"/>
    <dgm:cxn modelId="{3B1F784D-95DD-4194-A52D-9A5B55BC5BD7}" srcId="{9C3C57BE-AD01-47F6-9592-98EF2608A6EF}" destId="{C59A2A35-6BBC-4F81-BD74-40520AACD6AB}" srcOrd="0" destOrd="0" parTransId="{EDE363E4-7EA3-41D2-8DB9-A0871D9DA325}" sibTransId="{C31DDF04-103F-4600-9F78-0BDCC0BF907B}"/>
    <dgm:cxn modelId="{1D7BCF56-E33F-4A42-8129-E524DE8CA73C}" srcId="{234617D2-EBA5-43D3-A846-ABD7019008A4}" destId="{0F6E169A-367E-48F6-8A0F-9538EF72E803}" srcOrd="0" destOrd="0" parTransId="{214810CF-0E9F-420E-9F44-94CA29248781}" sibTransId="{9E3845BF-94AB-444E-AB21-A0DA1B4B1270}"/>
    <dgm:cxn modelId="{E8354084-D26E-4270-954C-74C7F6A06793}" type="presOf" srcId="{C59A2A35-6BBC-4F81-BD74-40520AACD6AB}" destId="{79B0DE70-0A03-4A6F-B31F-EC81EB5DF7EA}" srcOrd="0" destOrd="0" presId="urn:microsoft.com/office/officeart/2005/8/layout/chevron2"/>
    <dgm:cxn modelId="{BF2B6EA9-3F5A-49C1-AF7E-EC921192B9DE}" type="presOf" srcId="{9C3C57BE-AD01-47F6-9592-98EF2608A6EF}" destId="{A651636C-CE47-4575-AA1E-AB00D80E941D}" srcOrd="0" destOrd="0" presId="urn:microsoft.com/office/officeart/2005/8/layout/chevron2"/>
    <dgm:cxn modelId="{95C514DE-3460-4712-B0CD-D954FE76DB64}" srcId="{6F3FB39C-3E1D-4D2D-849B-EA0299C466C8}" destId="{DCCFDBD5-3BD5-4368-8E74-2BE430318114}" srcOrd="0" destOrd="0" parTransId="{E9C3A1B1-6767-4D4A-B32D-4EDACFE1C0F4}" sibTransId="{159A55EA-C5B7-4F9E-8222-A763BEB4D99B}"/>
    <dgm:cxn modelId="{FBB864E0-2027-4A45-B5D7-110F765EFD96}" srcId="{234617D2-EBA5-43D3-A846-ABD7019008A4}" destId="{9C3C57BE-AD01-47F6-9592-98EF2608A6EF}" srcOrd="1" destOrd="0" parTransId="{33D25418-EA10-4491-90C6-5683712BE055}" sibTransId="{0019765E-5748-4647-85C8-6E8054C68086}"/>
    <dgm:cxn modelId="{448B48EB-E488-4909-82B4-2E61877F00AE}" type="presOf" srcId="{6F3FB39C-3E1D-4D2D-849B-EA0299C466C8}" destId="{58E45CBE-DE64-4E4E-8AAA-D376465B2BEE}" srcOrd="0" destOrd="0" presId="urn:microsoft.com/office/officeart/2005/8/layout/chevron2"/>
    <dgm:cxn modelId="{E644B3EB-418D-4B1A-83D6-8DCC10BE06E8}" type="presOf" srcId="{9AB424BA-7E8B-4D0B-8A3C-3748A54646B8}" destId="{2AA7B02C-023E-4537-897E-B54A048C8983}" srcOrd="0" destOrd="0" presId="urn:microsoft.com/office/officeart/2005/8/layout/chevron2"/>
    <dgm:cxn modelId="{F85ACEEE-F8C0-443C-BAAF-021763D37073}" srcId="{234617D2-EBA5-43D3-A846-ABD7019008A4}" destId="{6F3FB39C-3E1D-4D2D-849B-EA0299C466C8}" srcOrd="3" destOrd="0" parTransId="{F344B892-AD67-4863-B1DB-FFEAC6AE3C6A}" sibTransId="{2E86F725-3FD8-4480-8AF6-6A89E142D77A}"/>
    <dgm:cxn modelId="{E402CAF0-5AAA-416F-BAF4-3854EF253EE5}" srcId="{0F6E169A-367E-48F6-8A0F-9538EF72E803}" destId="{676AA4D5-22F4-47B3-B0E8-95C3D9C99480}" srcOrd="0" destOrd="0" parTransId="{65AE6963-95E3-417E-9DBC-C327427667A9}" sibTransId="{BBDCCB86-71C3-422E-959C-8FA92A9124DF}"/>
    <dgm:cxn modelId="{5B0A26F8-5ACB-43D3-A171-6C62CAD4E7BE}" srcId="{9AB424BA-7E8B-4D0B-8A3C-3748A54646B8}" destId="{BEC04423-D6B7-4792-AEB9-C3D7F81A98AC}" srcOrd="0" destOrd="0" parTransId="{F135D138-85FF-4087-B751-5F159F842289}" sibTransId="{AB02689B-5109-4C4C-A9DD-EF332B395FC7}"/>
    <dgm:cxn modelId="{AC4A8FF1-0B42-4570-ACB4-F62AD10AC7E7}" type="presParOf" srcId="{C30EB98C-BF8E-47B5-A59F-A3E708D5551C}" destId="{B5976899-2FC4-4A3E-891A-B74C8C23C8B5}" srcOrd="0" destOrd="0" presId="urn:microsoft.com/office/officeart/2005/8/layout/chevron2"/>
    <dgm:cxn modelId="{78437963-1AD6-4AA2-99FF-D3C136E6C1B9}" type="presParOf" srcId="{B5976899-2FC4-4A3E-891A-B74C8C23C8B5}" destId="{416A876F-5FA3-42F9-A923-4E2C334EF9BC}" srcOrd="0" destOrd="0" presId="urn:microsoft.com/office/officeart/2005/8/layout/chevron2"/>
    <dgm:cxn modelId="{E5BB8A76-3CEA-42DE-8EE6-7959F74B0BB9}" type="presParOf" srcId="{B5976899-2FC4-4A3E-891A-B74C8C23C8B5}" destId="{344A86B1-48E8-448F-9C6D-71580BFB5F83}" srcOrd="1" destOrd="0" presId="urn:microsoft.com/office/officeart/2005/8/layout/chevron2"/>
    <dgm:cxn modelId="{1409A561-56BE-41EC-823E-CEEC12A8CF50}" type="presParOf" srcId="{C30EB98C-BF8E-47B5-A59F-A3E708D5551C}" destId="{19B3EDEB-1CF9-4423-9037-F0221A01EBBA}" srcOrd="1" destOrd="0" presId="urn:microsoft.com/office/officeart/2005/8/layout/chevron2"/>
    <dgm:cxn modelId="{69FAE29B-8826-413D-A90D-E3D1914BB7C5}" type="presParOf" srcId="{C30EB98C-BF8E-47B5-A59F-A3E708D5551C}" destId="{5D167E8C-136F-440C-8D10-651E4D964A72}" srcOrd="2" destOrd="0" presId="urn:microsoft.com/office/officeart/2005/8/layout/chevron2"/>
    <dgm:cxn modelId="{26C5ECD3-BE74-4234-955C-82B823BF9F9B}" type="presParOf" srcId="{5D167E8C-136F-440C-8D10-651E4D964A72}" destId="{A651636C-CE47-4575-AA1E-AB00D80E941D}" srcOrd="0" destOrd="0" presId="urn:microsoft.com/office/officeart/2005/8/layout/chevron2"/>
    <dgm:cxn modelId="{BFF53C8A-F466-46C1-9066-7E1EB74CF072}" type="presParOf" srcId="{5D167E8C-136F-440C-8D10-651E4D964A72}" destId="{79B0DE70-0A03-4A6F-B31F-EC81EB5DF7EA}" srcOrd="1" destOrd="0" presId="urn:microsoft.com/office/officeart/2005/8/layout/chevron2"/>
    <dgm:cxn modelId="{530A7BC0-79AB-4546-A568-2187FF19F65D}" type="presParOf" srcId="{C30EB98C-BF8E-47B5-A59F-A3E708D5551C}" destId="{5C2D5B77-4FD3-4BFC-B7C7-B69CFA47B819}" srcOrd="3" destOrd="0" presId="urn:microsoft.com/office/officeart/2005/8/layout/chevron2"/>
    <dgm:cxn modelId="{BE3F6BE8-AEFA-4235-B54E-61907BC9372B}" type="presParOf" srcId="{C30EB98C-BF8E-47B5-A59F-A3E708D5551C}" destId="{FD9C2F86-B450-49A0-8639-065AE676C080}" srcOrd="4" destOrd="0" presId="urn:microsoft.com/office/officeart/2005/8/layout/chevron2"/>
    <dgm:cxn modelId="{2E20AF7C-4B60-47FB-B029-F81F1CE8FCB7}" type="presParOf" srcId="{FD9C2F86-B450-49A0-8639-065AE676C080}" destId="{2AA7B02C-023E-4537-897E-B54A048C8983}" srcOrd="0" destOrd="0" presId="urn:microsoft.com/office/officeart/2005/8/layout/chevron2"/>
    <dgm:cxn modelId="{0573D7AB-2C25-487B-B0E2-947295CA4BF1}" type="presParOf" srcId="{FD9C2F86-B450-49A0-8639-065AE676C080}" destId="{15D3D31F-A831-4E62-ADE9-6ACE81331CDC}" srcOrd="1" destOrd="0" presId="urn:microsoft.com/office/officeart/2005/8/layout/chevron2"/>
    <dgm:cxn modelId="{49FE4450-ED31-4DD4-95F8-F34D880718F4}" type="presParOf" srcId="{C30EB98C-BF8E-47B5-A59F-A3E708D5551C}" destId="{365F76A6-EF4F-41D1-B81D-BC3D7851A081}" srcOrd="5" destOrd="0" presId="urn:microsoft.com/office/officeart/2005/8/layout/chevron2"/>
    <dgm:cxn modelId="{D297B7B3-984B-4BEF-88CF-E8496B62D532}" type="presParOf" srcId="{C30EB98C-BF8E-47B5-A59F-A3E708D5551C}" destId="{4DB00594-09F9-4225-B772-B1D52DAEEAB6}" srcOrd="6" destOrd="0" presId="urn:microsoft.com/office/officeart/2005/8/layout/chevron2"/>
    <dgm:cxn modelId="{58E3F0DF-7BFD-4BEB-873F-CA02319F1E26}" type="presParOf" srcId="{4DB00594-09F9-4225-B772-B1D52DAEEAB6}" destId="{58E45CBE-DE64-4E4E-8AAA-D376465B2BEE}" srcOrd="0" destOrd="0" presId="urn:microsoft.com/office/officeart/2005/8/layout/chevron2"/>
    <dgm:cxn modelId="{C405AC97-4C54-4757-8651-AB11924A4B6F}" type="presParOf" srcId="{4DB00594-09F9-4225-B772-B1D52DAEEAB6}" destId="{C37D6712-7A35-4663-80F7-1B8FC410AF19}" srcOrd="1" destOrd="0" presId="urn:microsoft.com/office/officeart/2005/8/layout/chevron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890597F3-5A77-42C5-A3BE-2278E7F238BC}" type="doc">
      <dgm:prSet loTypeId="urn:microsoft.com/office/officeart/2005/8/layout/hierarchy2" loCatId="hierarchy" qsTypeId="urn:microsoft.com/office/officeart/2005/8/quickstyle/simple4" qsCatId="simple" csTypeId="urn:microsoft.com/office/officeart/2005/8/colors/colorful2" csCatId="colorful" phldr="1"/>
      <dgm:spPr/>
      <dgm:t>
        <a:bodyPr/>
        <a:lstStyle/>
        <a:p>
          <a:endParaRPr lang="es-CO"/>
        </a:p>
      </dgm:t>
    </dgm:pt>
    <dgm:pt modelId="{59A3506E-67E5-4F7A-9B7E-1576BEDC34A3}">
      <dgm:prSet phldrT="[Texto]" custT="1"/>
      <dgm:spPr>
        <a:solidFill>
          <a:schemeClr val="tx1"/>
        </a:solidFill>
      </dgm:spPr>
      <dgm:t>
        <a:bodyPr/>
        <a:lstStyle/>
        <a:p>
          <a:r>
            <a:rPr lang="es-CO" sz="2000" b="1" dirty="0">
              <a:latin typeface="+mn-lt"/>
            </a:rPr>
            <a:t>Alternativas en los problemas de decisión lógica</a:t>
          </a:r>
        </a:p>
      </dgm:t>
    </dgm:pt>
    <dgm:pt modelId="{E20479EF-AE87-47E7-95B8-7079AFFBD0FD}" type="parTrans" cxnId="{539F31B7-EA4B-4A96-9594-A01E02E53A02}">
      <dgm:prSet/>
      <dgm:spPr/>
      <dgm:t>
        <a:bodyPr/>
        <a:lstStyle/>
        <a:p>
          <a:endParaRPr lang="es-CO"/>
        </a:p>
      </dgm:t>
    </dgm:pt>
    <dgm:pt modelId="{00FBE2A5-9907-4191-9EDB-ED7525BF77C3}" type="sibTrans" cxnId="{539F31B7-EA4B-4A96-9594-A01E02E53A02}">
      <dgm:prSet/>
      <dgm:spPr/>
      <dgm:t>
        <a:bodyPr/>
        <a:lstStyle/>
        <a:p>
          <a:endParaRPr lang="es-CO"/>
        </a:p>
      </dgm:t>
    </dgm:pt>
    <dgm:pt modelId="{09B6955E-10DC-4968-92CF-E1C9819E5605}">
      <dgm:prSet phldrT="[Texto]" custT="1"/>
      <dgm:spPr>
        <a:solidFill>
          <a:schemeClr val="bg1">
            <a:lumMod val="50000"/>
          </a:schemeClr>
        </a:solidFill>
      </dgm:spPr>
      <dgm:t>
        <a:bodyPr/>
        <a:lstStyle/>
        <a:p>
          <a:r>
            <a:rPr lang="es-CO" sz="2000" b="1" dirty="0">
              <a:latin typeface="+mn-lt"/>
            </a:rPr>
            <a:t>Alternativa simple</a:t>
          </a:r>
        </a:p>
      </dgm:t>
    </dgm:pt>
    <dgm:pt modelId="{A22B95DF-9FE8-420F-A458-0ABF9054DDA8}" type="parTrans" cxnId="{7C418AD0-8738-47DB-8D3B-051DD65C20D7}">
      <dgm:prSet/>
      <dgm:spPr>
        <a:ln>
          <a:solidFill>
            <a:schemeClr val="tx1"/>
          </a:solidFill>
        </a:ln>
      </dgm:spPr>
      <dgm:t>
        <a:bodyPr/>
        <a:lstStyle/>
        <a:p>
          <a:endParaRPr lang="es-CO"/>
        </a:p>
      </dgm:t>
    </dgm:pt>
    <dgm:pt modelId="{C73EB503-5E35-420A-9A21-59932CE19BD4}" type="sibTrans" cxnId="{7C418AD0-8738-47DB-8D3B-051DD65C20D7}">
      <dgm:prSet/>
      <dgm:spPr/>
      <dgm:t>
        <a:bodyPr/>
        <a:lstStyle/>
        <a:p>
          <a:endParaRPr lang="es-CO"/>
        </a:p>
      </dgm:t>
    </dgm:pt>
    <dgm:pt modelId="{26B2BE31-97EF-4625-B738-F0B479E24968}">
      <dgm:prSet phldrT="[Texto]" custT="1"/>
      <dgm:spPr>
        <a:solidFill>
          <a:schemeClr val="bg1">
            <a:lumMod val="50000"/>
          </a:schemeClr>
        </a:solidFill>
      </dgm:spPr>
      <dgm:t>
        <a:bodyPr/>
        <a:lstStyle/>
        <a:p>
          <a:r>
            <a:rPr lang="es-CO" sz="2000" b="1" dirty="0">
              <a:latin typeface="+mn-lt"/>
            </a:rPr>
            <a:t>Alternativa doble </a:t>
          </a:r>
        </a:p>
      </dgm:t>
    </dgm:pt>
    <dgm:pt modelId="{74C07CD9-03A2-472F-9D10-89398F18C5FF}" type="parTrans" cxnId="{775B1B90-AC05-4952-874D-D84AEBE82C7A}">
      <dgm:prSet/>
      <dgm:spPr>
        <a:ln>
          <a:solidFill>
            <a:schemeClr val="tx1"/>
          </a:solidFill>
        </a:ln>
      </dgm:spPr>
      <dgm:t>
        <a:bodyPr/>
        <a:lstStyle/>
        <a:p>
          <a:endParaRPr lang="es-CO"/>
        </a:p>
      </dgm:t>
    </dgm:pt>
    <dgm:pt modelId="{C86DC288-399D-4E73-8A61-65A8F1A51B41}" type="sibTrans" cxnId="{775B1B90-AC05-4952-874D-D84AEBE82C7A}">
      <dgm:prSet/>
      <dgm:spPr/>
      <dgm:t>
        <a:bodyPr/>
        <a:lstStyle/>
        <a:p>
          <a:endParaRPr lang="es-CO"/>
        </a:p>
      </dgm:t>
    </dgm:pt>
    <dgm:pt modelId="{AC0BF95D-CF9E-4F08-8A00-9697D100E9A3}">
      <dgm:prSet phldrT="[Texto]" custT="1"/>
      <dgm:spPr>
        <a:solidFill>
          <a:schemeClr val="bg1">
            <a:lumMod val="50000"/>
          </a:schemeClr>
        </a:solidFill>
      </dgm:spPr>
      <dgm:t>
        <a:bodyPr/>
        <a:lstStyle/>
        <a:p>
          <a:r>
            <a:rPr lang="es-CO" sz="2000" b="1" dirty="0">
              <a:latin typeface="+mn-lt"/>
            </a:rPr>
            <a:t>Alternativa múltiple</a:t>
          </a:r>
        </a:p>
      </dgm:t>
    </dgm:pt>
    <dgm:pt modelId="{26D5F77F-06A6-4CDE-AA21-49C84A02C9CD}" type="parTrans" cxnId="{12FDE830-DBE7-4150-B7E3-1300079CB587}">
      <dgm:prSet/>
      <dgm:spPr>
        <a:ln>
          <a:solidFill>
            <a:schemeClr val="tx1"/>
          </a:solidFill>
        </a:ln>
      </dgm:spPr>
      <dgm:t>
        <a:bodyPr/>
        <a:lstStyle/>
        <a:p>
          <a:endParaRPr lang="es-CO"/>
        </a:p>
      </dgm:t>
    </dgm:pt>
    <dgm:pt modelId="{F696B3B3-1931-4F06-B1CC-B83A675495DA}" type="sibTrans" cxnId="{12FDE830-DBE7-4150-B7E3-1300079CB587}">
      <dgm:prSet/>
      <dgm:spPr/>
      <dgm:t>
        <a:bodyPr/>
        <a:lstStyle/>
        <a:p>
          <a:endParaRPr lang="es-CO"/>
        </a:p>
      </dgm:t>
    </dgm:pt>
    <dgm:pt modelId="{9D9A0CA1-8164-4592-AEA4-35677C424757}" type="pres">
      <dgm:prSet presAssocID="{890597F3-5A77-42C5-A3BE-2278E7F238BC}" presName="diagram" presStyleCnt="0">
        <dgm:presLayoutVars>
          <dgm:chPref val="1"/>
          <dgm:dir/>
          <dgm:animOne val="branch"/>
          <dgm:animLvl val="lvl"/>
          <dgm:resizeHandles val="exact"/>
        </dgm:presLayoutVars>
      </dgm:prSet>
      <dgm:spPr/>
    </dgm:pt>
    <dgm:pt modelId="{2CCC041F-5372-4AC6-B4C5-74789650EAD3}" type="pres">
      <dgm:prSet presAssocID="{59A3506E-67E5-4F7A-9B7E-1576BEDC34A3}" presName="root1" presStyleCnt="0"/>
      <dgm:spPr/>
    </dgm:pt>
    <dgm:pt modelId="{1B46BF3C-CDFA-4359-A082-13BD84A6C0BB}" type="pres">
      <dgm:prSet presAssocID="{59A3506E-67E5-4F7A-9B7E-1576BEDC34A3}" presName="LevelOneTextNode" presStyleLbl="node0" presStyleIdx="0" presStyleCnt="1" custLinFactNeighborX="10461" custLinFactNeighborY="35">
        <dgm:presLayoutVars>
          <dgm:chPref val="3"/>
        </dgm:presLayoutVars>
      </dgm:prSet>
      <dgm:spPr/>
    </dgm:pt>
    <dgm:pt modelId="{B9A1D65E-4165-4AE7-8D64-4D3B729688D5}" type="pres">
      <dgm:prSet presAssocID="{59A3506E-67E5-4F7A-9B7E-1576BEDC34A3}" presName="level2hierChild" presStyleCnt="0"/>
      <dgm:spPr/>
    </dgm:pt>
    <dgm:pt modelId="{BB45BE9A-FF36-43D6-83C3-336A2E12976B}" type="pres">
      <dgm:prSet presAssocID="{A22B95DF-9FE8-420F-A458-0ABF9054DDA8}" presName="conn2-1" presStyleLbl="parChTrans1D2" presStyleIdx="0" presStyleCnt="3"/>
      <dgm:spPr/>
    </dgm:pt>
    <dgm:pt modelId="{FF1FABA0-D36A-4D54-B247-14BE9D94AEF0}" type="pres">
      <dgm:prSet presAssocID="{A22B95DF-9FE8-420F-A458-0ABF9054DDA8}" presName="connTx" presStyleLbl="parChTrans1D2" presStyleIdx="0" presStyleCnt="3"/>
      <dgm:spPr/>
    </dgm:pt>
    <dgm:pt modelId="{34C60CED-D817-49FB-B9BB-9118A6A363A3}" type="pres">
      <dgm:prSet presAssocID="{09B6955E-10DC-4968-92CF-E1C9819E5605}" presName="root2" presStyleCnt="0"/>
      <dgm:spPr/>
    </dgm:pt>
    <dgm:pt modelId="{DA0E9240-41B7-41B5-8F65-67C41791B0D9}" type="pres">
      <dgm:prSet presAssocID="{09B6955E-10DC-4968-92CF-E1C9819E5605}" presName="LevelTwoTextNode" presStyleLbl="node2" presStyleIdx="0" presStyleCnt="3" custScaleY="39270" custLinFactNeighborX="448" custLinFactNeighborY="-71206">
        <dgm:presLayoutVars>
          <dgm:chPref val="3"/>
        </dgm:presLayoutVars>
      </dgm:prSet>
      <dgm:spPr/>
    </dgm:pt>
    <dgm:pt modelId="{6693B9B5-72C6-4946-A026-DFCE5CC564BD}" type="pres">
      <dgm:prSet presAssocID="{09B6955E-10DC-4968-92CF-E1C9819E5605}" presName="level3hierChild" presStyleCnt="0"/>
      <dgm:spPr/>
    </dgm:pt>
    <dgm:pt modelId="{94DAD3F8-2DD3-4D49-BCA3-0AA4CEA5327E}" type="pres">
      <dgm:prSet presAssocID="{74C07CD9-03A2-472F-9D10-89398F18C5FF}" presName="conn2-1" presStyleLbl="parChTrans1D2" presStyleIdx="1" presStyleCnt="3"/>
      <dgm:spPr/>
    </dgm:pt>
    <dgm:pt modelId="{1992A5A9-39A4-43EF-B349-F3C4C172BA3E}" type="pres">
      <dgm:prSet presAssocID="{74C07CD9-03A2-472F-9D10-89398F18C5FF}" presName="connTx" presStyleLbl="parChTrans1D2" presStyleIdx="1" presStyleCnt="3"/>
      <dgm:spPr/>
    </dgm:pt>
    <dgm:pt modelId="{96C74287-B61F-407D-BFD4-4FCEB537C037}" type="pres">
      <dgm:prSet presAssocID="{26B2BE31-97EF-4625-B738-F0B479E24968}" presName="root2" presStyleCnt="0"/>
      <dgm:spPr/>
    </dgm:pt>
    <dgm:pt modelId="{FC825A99-0AF5-4BBD-A87F-DB1EBAD335DC}" type="pres">
      <dgm:prSet presAssocID="{26B2BE31-97EF-4625-B738-F0B479E24968}" presName="LevelTwoTextNode" presStyleLbl="node2" presStyleIdx="1" presStyleCnt="3" custScaleY="36559" custLinFactNeighborX="448" custLinFactNeighborY="-3217">
        <dgm:presLayoutVars>
          <dgm:chPref val="3"/>
        </dgm:presLayoutVars>
      </dgm:prSet>
      <dgm:spPr/>
    </dgm:pt>
    <dgm:pt modelId="{DA4EEE03-96FC-4895-961B-17A48177CF31}" type="pres">
      <dgm:prSet presAssocID="{26B2BE31-97EF-4625-B738-F0B479E24968}" presName="level3hierChild" presStyleCnt="0"/>
      <dgm:spPr/>
    </dgm:pt>
    <dgm:pt modelId="{CDABA905-00CC-4685-8E9D-590A386A3B8E}" type="pres">
      <dgm:prSet presAssocID="{26D5F77F-06A6-4CDE-AA21-49C84A02C9CD}" presName="conn2-1" presStyleLbl="parChTrans1D2" presStyleIdx="2" presStyleCnt="3"/>
      <dgm:spPr/>
    </dgm:pt>
    <dgm:pt modelId="{58636808-5F2B-4961-A006-BFF4D8EA13A6}" type="pres">
      <dgm:prSet presAssocID="{26D5F77F-06A6-4CDE-AA21-49C84A02C9CD}" presName="connTx" presStyleLbl="parChTrans1D2" presStyleIdx="2" presStyleCnt="3"/>
      <dgm:spPr/>
    </dgm:pt>
    <dgm:pt modelId="{EC0EA8B8-0BDD-4B34-AC1D-81C811C46B05}" type="pres">
      <dgm:prSet presAssocID="{AC0BF95D-CF9E-4F08-8A00-9697D100E9A3}" presName="root2" presStyleCnt="0"/>
      <dgm:spPr/>
    </dgm:pt>
    <dgm:pt modelId="{37AA57FA-6512-49C5-850D-0B5DBF1B5B11}" type="pres">
      <dgm:prSet presAssocID="{AC0BF95D-CF9E-4F08-8A00-9697D100E9A3}" presName="LevelTwoTextNode" presStyleLbl="node2" presStyleIdx="2" presStyleCnt="3" custScaleY="35024" custLinFactNeighborX="448" custLinFactNeighborY="62167">
        <dgm:presLayoutVars>
          <dgm:chPref val="3"/>
        </dgm:presLayoutVars>
      </dgm:prSet>
      <dgm:spPr/>
    </dgm:pt>
    <dgm:pt modelId="{E28AE99C-4D94-44FF-BB67-9F9102553C0D}" type="pres">
      <dgm:prSet presAssocID="{AC0BF95D-CF9E-4F08-8A00-9697D100E9A3}" presName="level3hierChild" presStyleCnt="0"/>
      <dgm:spPr/>
    </dgm:pt>
  </dgm:ptLst>
  <dgm:cxnLst>
    <dgm:cxn modelId="{FFB07015-A2EB-425F-8208-601748B08209}" type="presOf" srcId="{AC0BF95D-CF9E-4F08-8A00-9697D100E9A3}" destId="{37AA57FA-6512-49C5-850D-0B5DBF1B5B11}" srcOrd="0" destOrd="0" presId="urn:microsoft.com/office/officeart/2005/8/layout/hierarchy2"/>
    <dgm:cxn modelId="{85353B1F-E4BE-4B32-B2F6-BF8F608460EA}" type="presOf" srcId="{26D5F77F-06A6-4CDE-AA21-49C84A02C9CD}" destId="{CDABA905-00CC-4685-8E9D-590A386A3B8E}" srcOrd="0" destOrd="0" presId="urn:microsoft.com/office/officeart/2005/8/layout/hierarchy2"/>
    <dgm:cxn modelId="{790B8620-088D-42EB-9309-1BB7A5268110}" type="presOf" srcId="{890597F3-5A77-42C5-A3BE-2278E7F238BC}" destId="{9D9A0CA1-8164-4592-AEA4-35677C424757}" srcOrd="0" destOrd="0" presId="urn:microsoft.com/office/officeart/2005/8/layout/hierarchy2"/>
    <dgm:cxn modelId="{12FDE830-DBE7-4150-B7E3-1300079CB587}" srcId="{59A3506E-67E5-4F7A-9B7E-1576BEDC34A3}" destId="{AC0BF95D-CF9E-4F08-8A00-9697D100E9A3}" srcOrd="2" destOrd="0" parTransId="{26D5F77F-06A6-4CDE-AA21-49C84A02C9CD}" sibTransId="{F696B3B3-1931-4F06-B1CC-B83A675495DA}"/>
    <dgm:cxn modelId="{94C6B650-204B-43E1-B5A3-9BBFAC74926E}" type="presOf" srcId="{74C07CD9-03A2-472F-9D10-89398F18C5FF}" destId="{94DAD3F8-2DD3-4D49-BCA3-0AA4CEA5327E}" srcOrd="0" destOrd="0" presId="urn:microsoft.com/office/officeart/2005/8/layout/hierarchy2"/>
    <dgm:cxn modelId="{50966B51-4A03-41DC-8E24-DD10B43EF03C}" type="presOf" srcId="{26B2BE31-97EF-4625-B738-F0B479E24968}" destId="{FC825A99-0AF5-4BBD-A87F-DB1EBAD335DC}" srcOrd="0" destOrd="0" presId="urn:microsoft.com/office/officeart/2005/8/layout/hierarchy2"/>
    <dgm:cxn modelId="{D4899E52-E199-4ACD-8987-1B9E61AA99B8}" type="presOf" srcId="{A22B95DF-9FE8-420F-A458-0ABF9054DDA8}" destId="{BB45BE9A-FF36-43D6-83C3-336A2E12976B}" srcOrd="0" destOrd="0" presId="urn:microsoft.com/office/officeart/2005/8/layout/hierarchy2"/>
    <dgm:cxn modelId="{775B1B90-AC05-4952-874D-D84AEBE82C7A}" srcId="{59A3506E-67E5-4F7A-9B7E-1576BEDC34A3}" destId="{26B2BE31-97EF-4625-B738-F0B479E24968}" srcOrd="1" destOrd="0" parTransId="{74C07CD9-03A2-472F-9D10-89398F18C5FF}" sibTransId="{C86DC288-399D-4E73-8A61-65A8F1A51B41}"/>
    <dgm:cxn modelId="{01EC7294-CEEF-40F6-B633-67C82FEF8FA3}" type="presOf" srcId="{09B6955E-10DC-4968-92CF-E1C9819E5605}" destId="{DA0E9240-41B7-41B5-8F65-67C41791B0D9}" srcOrd="0" destOrd="0" presId="urn:microsoft.com/office/officeart/2005/8/layout/hierarchy2"/>
    <dgm:cxn modelId="{13FDBCAC-7318-474F-B507-7E4CAD879951}" type="presOf" srcId="{26D5F77F-06A6-4CDE-AA21-49C84A02C9CD}" destId="{58636808-5F2B-4961-A006-BFF4D8EA13A6}" srcOrd="1" destOrd="0" presId="urn:microsoft.com/office/officeart/2005/8/layout/hierarchy2"/>
    <dgm:cxn modelId="{539F31B7-EA4B-4A96-9594-A01E02E53A02}" srcId="{890597F3-5A77-42C5-A3BE-2278E7F238BC}" destId="{59A3506E-67E5-4F7A-9B7E-1576BEDC34A3}" srcOrd="0" destOrd="0" parTransId="{E20479EF-AE87-47E7-95B8-7079AFFBD0FD}" sibTransId="{00FBE2A5-9907-4191-9EDB-ED7525BF77C3}"/>
    <dgm:cxn modelId="{E160E5C4-0096-4C7F-BE97-005ED6DD2F13}" type="presOf" srcId="{59A3506E-67E5-4F7A-9B7E-1576BEDC34A3}" destId="{1B46BF3C-CDFA-4359-A082-13BD84A6C0BB}" srcOrd="0" destOrd="0" presId="urn:microsoft.com/office/officeart/2005/8/layout/hierarchy2"/>
    <dgm:cxn modelId="{7C418AD0-8738-47DB-8D3B-051DD65C20D7}" srcId="{59A3506E-67E5-4F7A-9B7E-1576BEDC34A3}" destId="{09B6955E-10DC-4968-92CF-E1C9819E5605}" srcOrd="0" destOrd="0" parTransId="{A22B95DF-9FE8-420F-A458-0ABF9054DDA8}" sibTransId="{C73EB503-5E35-420A-9A21-59932CE19BD4}"/>
    <dgm:cxn modelId="{E4AD93DF-6236-47C2-B398-9A40B78239C5}" type="presOf" srcId="{74C07CD9-03A2-472F-9D10-89398F18C5FF}" destId="{1992A5A9-39A4-43EF-B349-F3C4C172BA3E}" srcOrd="1" destOrd="0" presId="urn:microsoft.com/office/officeart/2005/8/layout/hierarchy2"/>
    <dgm:cxn modelId="{B3E5EDF1-37B8-40A2-AE86-7B7F70CDE7F5}" type="presOf" srcId="{A22B95DF-9FE8-420F-A458-0ABF9054DDA8}" destId="{FF1FABA0-D36A-4D54-B247-14BE9D94AEF0}" srcOrd="1" destOrd="0" presId="urn:microsoft.com/office/officeart/2005/8/layout/hierarchy2"/>
    <dgm:cxn modelId="{EA0EABD9-F3E7-4927-B22F-9E20CABC1353}" type="presParOf" srcId="{9D9A0CA1-8164-4592-AEA4-35677C424757}" destId="{2CCC041F-5372-4AC6-B4C5-74789650EAD3}" srcOrd="0" destOrd="0" presId="urn:microsoft.com/office/officeart/2005/8/layout/hierarchy2"/>
    <dgm:cxn modelId="{B7092B44-C017-4DB1-A5EC-3B2995489154}" type="presParOf" srcId="{2CCC041F-5372-4AC6-B4C5-74789650EAD3}" destId="{1B46BF3C-CDFA-4359-A082-13BD84A6C0BB}" srcOrd="0" destOrd="0" presId="urn:microsoft.com/office/officeart/2005/8/layout/hierarchy2"/>
    <dgm:cxn modelId="{5F3B3F5E-9133-4DE6-824A-A1610140E086}" type="presParOf" srcId="{2CCC041F-5372-4AC6-B4C5-74789650EAD3}" destId="{B9A1D65E-4165-4AE7-8D64-4D3B729688D5}" srcOrd="1" destOrd="0" presId="urn:microsoft.com/office/officeart/2005/8/layout/hierarchy2"/>
    <dgm:cxn modelId="{DF64F500-6617-464C-ADBF-2438D3BF07CF}" type="presParOf" srcId="{B9A1D65E-4165-4AE7-8D64-4D3B729688D5}" destId="{BB45BE9A-FF36-43D6-83C3-336A2E12976B}" srcOrd="0" destOrd="0" presId="urn:microsoft.com/office/officeart/2005/8/layout/hierarchy2"/>
    <dgm:cxn modelId="{C7A68622-CC87-445A-B084-57FDAC9C4668}" type="presParOf" srcId="{BB45BE9A-FF36-43D6-83C3-336A2E12976B}" destId="{FF1FABA0-D36A-4D54-B247-14BE9D94AEF0}" srcOrd="0" destOrd="0" presId="urn:microsoft.com/office/officeart/2005/8/layout/hierarchy2"/>
    <dgm:cxn modelId="{96DA79F2-FBFB-4FDF-88C2-7F7FCB8DBC72}" type="presParOf" srcId="{B9A1D65E-4165-4AE7-8D64-4D3B729688D5}" destId="{34C60CED-D817-49FB-B9BB-9118A6A363A3}" srcOrd="1" destOrd="0" presId="urn:microsoft.com/office/officeart/2005/8/layout/hierarchy2"/>
    <dgm:cxn modelId="{C7153360-373F-479F-9733-C14F874D6753}" type="presParOf" srcId="{34C60CED-D817-49FB-B9BB-9118A6A363A3}" destId="{DA0E9240-41B7-41B5-8F65-67C41791B0D9}" srcOrd="0" destOrd="0" presId="urn:microsoft.com/office/officeart/2005/8/layout/hierarchy2"/>
    <dgm:cxn modelId="{1AC1E39B-E666-46C5-BBDB-1BFA6AA98FCA}" type="presParOf" srcId="{34C60CED-D817-49FB-B9BB-9118A6A363A3}" destId="{6693B9B5-72C6-4946-A026-DFCE5CC564BD}" srcOrd="1" destOrd="0" presId="urn:microsoft.com/office/officeart/2005/8/layout/hierarchy2"/>
    <dgm:cxn modelId="{BD9A2782-44A7-4D10-89E2-6C85E5C06753}" type="presParOf" srcId="{B9A1D65E-4165-4AE7-8D64-4D3B729688D5}" destId="{94DAD3F8-2DD3-4D49-BCA3-0AA4CEA5327E}" srcOrd="2" destOrd="0" presId="urn:microsoft.com/office/officeart/2005/8/layout/hierarchy2"/>
    <dgm:cxn modelId="{19307C81-BE97-438B-9CBC-629DE5FEA912}" type="presParOf" srcId="{94DAD3F8-2DD3-4D49-BCA3-0AA4CEA5327E}" destId="{1992A5A9-39A4-43EF-B349-F3C4C172BA3E}" srcOrd="0" destOrd="0" presId="urn:microsoft.com/office/officeart/2005/8/layout/hierarchy2"/>
    <dgm:cxn modelId="{FA6A260E-BACB-4037-BEC7-FC28C486B655}" type="presParOf" srcId="{B9A1D65E-4165-4AE7-8D64-4D3B729688D5}" destId="{96C74287-B61F-407D-BFD4-4FCEB537C037}" srcOrd="3" destOrd="0" presId="urn:microsoft.com/office/officeart/2005/8/layout/hierarchy2"/>
    <dgm:cxn modelId="{F549FC22-1462-4B16-A05C-40A58B0F5542}" type="presParOf" srcId="{96C74287-B61F-407D-BFD4-4FCEB537C037}" destId="{FC825A99-0AF5-4BBD-A87F-DB1EBAD335DC}" srcOrd="0" destOrd="0" presId="urn:microsoft.com/office/officeart/2005/8/layout/hierarchy2"/>
    <dgm:cxn modelId="{D176BA43-AE67-4679-9654-5A7DA6CF6ABF}" type="presParOf" srcId="{96C74287-B61F-407D-BFD4-4FCEB537C037}" destId="{DA4EEE03-96FC-4895-961B-17A48177CF31}" srcOrd="1" destOrd="0" presId="urn:microsoft.com/office/officeart/2005/8/layout/hierarchy2"/>
    <dgm:cxn modelId="{9C570201-3161-47EB-8833-9912B39D4217}" type="presParOf" srcId="{B9A1D65E-4165-4AE7-8D64-4D3B729688D5}" destId="{CDABA905-00CC-4685-8E9D-590A386A3B8E}" srcOrd="4" destOrd="0" presId="urn:microsoft.com/office/officeart/2005/8/layout/hierarchy2"/>
    <dgm:cxn modelId="{2F8A09A8-7110-45C5-AB57-1A25DB2FCAA3}" type="presParOf" srcId="{CDABA905-00CC-4685-8E9D-590A386A3B8E}" destId="{58636808-5F2B-4961-A006-BFF4D8EA13A6}" srcOrd="0" destOrd="0" presId="urn:microsoft.com/office/officeart/2005/8/layout/hierarchy2"/>
    <dgm:cxn modelId="{78B88CD1-26BB-4F80-9760-9610949EA321}" type="presParOf" srcId="{B9A1D65E-4165-4AE7-8D64-4D3B729688D5}" destId="{EC0EA8B8-0BDD-4B34-AC1D-81C811C46B05}" srcOrd="5" destOrd="0" presId="urn:microsoft.com/office/officeart/2005/8/layout/hierarchy2"/>
    <dgm:cxn modelId="{ECF7E878-DBEE-4EF1-A933-0F8C0281BF82}" type="presParOf" srcId="{EC0EA8B8-0BDD-4B34-AC1D-81C811C46B05}" destId="{37AA57FA-6512-49C5-850D-0B5DBF1B5B11}" srcOrd="0" destOrd="0" presId="urn:microsoft.com/office/officeart/2005/8/layout/hierarchy2"/>
    <dgm:cxn modelId="{5D91536F-8CDB-4908-8028-139199733CEF}" type="presParOf" srcId="{EC0EA8B8-0BDD-4B34-AC1D-81C811C46B05}" destId="{E28AE99C-4D94-44FF-BB67-9F9102553C0D}" srcOrd="1" destOrd="0" presId="urn:microsoft.com/office/officeart/2005/8/layout/hierarchy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16A876F-5FA3-42F9-A923-4E2C334EF9BC}">
      <dsp:nvSpPr>
        <dsp:cNvPr id="0" name=""/>
        <dsp:cNvSpPr/>
      </dsp:nvSpPr>
      <dsp:spPr>
        <a:xfrm rot="5400000">
          <a:off x="-106543" y="109307"/>
          <a:ext cx="710288" cy="497202"/>
        </a:xfrm>
        <a:prstGeom prst="chevron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3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 w="6350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0160" tIns="10160" rIns="10160" bIns="101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CO" sz="1600" kern="1200" dirty="0">
              <a:latin typeface="Century Gothic" panose="020B0502020202020204" pitchFamily="34" charset="0"/>
            </a:rPr>
            <a:t>1</a:t>
          </a:r>
          <a:endParaRPr lang="es-CO" sz="1200" kern="1200" dirty="0">
            <a:latin typeface="Century Gothic" panose="020B0502020202020204" pitchFamily="34" charset="0"/>
          </a:endParaRPr>
        </a:p>
      </dsp:txBody>
      <dsp:txXfrm rot="-5400000">
        <a:off x="0" y="251365"/>
        <a:ext cx="497202" cy="213086"/>
      </dsp:txXfrm>
    </dsp:sp>
    <dsp:sp modelId="{344A86B1-48E8-448F-9C6D-71580BFB5F83}">
      <dsp:nvSpPr>
        <dsp:cNvPr id="0" name=""/>
        <dsp:cNvSpPr/>
      </dsp:nvSpPr>
      <dsp:spPr>
        <a:xfrm rot="5400000">
          <a:off x="2825947" y="-2325981"/>
          <a:ext cx="461930" cy="5119421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42240" tIns="12700" rIns="12700" bIns="12700" numCol="1" spcCol="1270" anchor="ctr" anchorCtr="0">
          <a:noAutofit/>
        </a:bodyPr>
        <a:lstStyle/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s-CO" sz="2000" kern="1200" dirty="0">
              <a:latin typeface="Century Gothic" panose="020B0502020202020204" pitchFamily="34" charset="0"/>
            </a:rPr>
            <a:t>Entender el problema</a:t>
          </a:r>
        </a:p>
      </dsp:txBody>
      <dsp:txXfrm rot="-5400000">
        <a:off x="497202" y="25314"/>
        <a:ext cx="5096871" cy="416830"/>
      </dsp:txXfrm>
    </dsp:sp>
    <dsp:sp modelId="{A651636C-CE47-4575-AA1E-AB00D80E941D}">
      <dsp:nvSpPr>
        <dsp:cNvPr id="0" name=""/>
        <dsp:cNvSpPr/>
      </dsp:nvSpPr>
      <dsp:spPr>
        <a:xfrm rot="5400000">
          <a:off x="-106543" y="658631"/>
          <a:ext cx="710288" cy="497202"/>
        </a:xfrm>
        <a:prstGeom prst="chevron">
          <a:avLst/>
        </a:prstGeom>
        <a:gradFill rotWithShape="0">
          <a:gsLst>
            <a:gs pos="0">
              <a:schemeClr val="accent3">
                <a:hueOff val="252426"/>
                <a:satOff val="3301"/>
                <a:lumOff val="-4052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3">
                <a:hueOff val="252426"/>
                <a:satOff val="3301"/>
                <a:lumOff val="-4052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3">
                <a:hueOff val="252426"/>
                <a:satOff val="3301"/>
                <a:lumOff val="-4052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 w="6350" cap="flat" cmpd="sng" algn="ctr">
          <a:solidFill>
            <a:schemeClr val="accent3">
              <a:hueOff val="252426"/>
              <a:satOff val="3301"/>
              <a:lumOff val="-4052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1430" tIns="11430" rIns="11430" bIns="1143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CO" sz="1800" kern="1200" dirty="0">
              <a:latin typeface="Century Gothic" panose="020B0502020202020204" pitchFamily="34" charset="0"/>
            </a:rPr>
            <a:t>2</a:t>
          </a:r>
          <a:endParaRPr lang="es-CO" sz="2400" kern="1200" dirty="0">
            <a:latin typeface="Century Gothic" panose="020B0502020202020204" pitchFamily="34" charset="0"/>
          </a:endParaRPr>
        </a:p>
      </dsp:txBody>
      <dsp:txXfrm rot="-5400000">
        <a:off x="0" y="800689"/>
        <a:ext cx="497202" cy="213086"/>
      </dsp:txXfrm>
    </dsp:sp>
    <dsp:sp modelId="{79B0DE70-0A03-4A6F-B31F-EC81EB5DF7EA}">
      <dsp:nvSpPr>
        <dsp:cNvPr id="0" name=""/>
        <dsp:cNvSpPr/>
      </dsp:nvSpPr>
      <dsp:spPr>
        <a:xfrm rot="5400000">
          <a:off x="2826069" y="-1776779"/>
          <a:ext cx="461687" cy="5119421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3">
              <a:hueOff val="252426"/>
              <a:satOff val="3301"/>
              <a:lumOff val="-4052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42240" tIns="12700" rIns="12700" bIns="12700" numCol="1" spcCol="1270" anchor="ctr" anchorCtr="0">
          <a:noAutofit/>
        </a:bodyPr>
        <a:lstStyle/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s-CO" sz="2000" kern="1200" dirty="0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Century Gothic" panose="020B0502020202020204" pitchFamily="34" charset="0"/>
              <a:ea typeface="+mn-ea"/>
              <a:cs typeface="+mn-cs"/>
            </a:rPr>
            <a:t>Diseñar un plan</a:t>
          </a:r>
        </a:p>
      </dsp:txBody>
      <dsp:txXfrm rot="-5400000">
        <a:off x="497202" y="574626"/>
        <a:ext cx="5096883" cy="416611"/>
      </dsp:txXfrm>
    </dsp:sp>
    <dsp:sp modelId="{2AA7B02C-023E-4537-897E-B54A048C8983}">
      <dsp:nvSpPr>
        <dsp:cNvPr id="0" name=""/>
        <dsp:cNvSpPr/>
      </dsp:nvSpPr>
      <dsp:spPr>
        <a:xfrm rot="5400000">
          <a:off x="-106543" y="1207954"/>
          <a:ext cx="710288" cy="497202"/>
        </a:xfrm>
        <a:prstGeom prst="chevron">
          <a:avLst/>
        </a:prstGeom>
        <a:gradFill rotWithShape="0">
          <a:gsLst>
            <a:gs pos="0">
              <a:schemeClr val="accent3">
                <a:hueOff val="504853"/>
                <a:satOff val="6602"/>
                <a:lumOff val="-8104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3">
                <a:hueOff val="504853"/>
                <a:satOff val="6602"/>
                <a:lumOff val="-8104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3">
                <a:hueOff val="504853"/>
                <a:satOff val="6602"/>
                <a:lumOff val="-8104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 w="6350" cap="flat" cmpd="sng" algn="ctr">
          <a:solidFill>
            <a:schemeClr val="accent3">
              <a:hueOff val="504853"/>
              <a:satOff val="6602"/>
              <a:lumOff val="-8104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2700" tIns="12700" rIns="12700" bIns="127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CO" sz="2000" kern="1200" dirty="0">
              <a:latin typeface="Century Gothic" panose="020B0502020202020204" pitchFamily="34" charset="0"/>
            </a:rPr>
            <a:t>3</a:t>
          </a:r>
        </a:p>
      </dsp:txBody>
      <dsp:txXfrm rot="-5400000">
        <a:off x="0" y="1350012"/>
        <a:ext cx="497202" cy="213086"/>
      </dsp:txXfrm>
    </dsp:sp>
    <dsp:sp modelId="{15D3D31F-A831-4E62-ADE9-6ACE81331CDC}">
      <dsp:nvSpPr>
        <dsp:cNvPr id="0" name=""/>
        <dsp:cNvSpPr/>
      </dsp:nvSpPr>
      <dsp:spPr>
        <a:xfrm rot="5400000">
          <a:off x="2826069" y="-1227455"/>
          <a:ext cx="461687" cy="5119421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3">
              <a:hueOff val="504853"/>
              <a:satOff val="6602"/>
              <a:lumOff val="-8104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42240" tIns="12700" rIns="12700" bIns="12700" numCol="1" spcCol="1270" anchor="ctr" anchorCtr="0">
          <a:noAutofit/>
        </a:bodyPr>
        <a:lstStyle/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s-CO" sz="2000" kern="1200" dirty="0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Century Gothic" panose="020B0502020202020204" pitchFamily="34" charset="0"/>
              <a:ea typeface="+mn-ea"/>
              <a:cs typeface="+mn-cs"/>
            </a:rPr>
            <a:t>Implementar el plan</a:t>
          </a:r>
        </a:p>
      </dsp:txBody>
      <dsp:txXfrm rot="-5400000">
        <a:off x="497202" y="1123950"/>
        <a:ext cx="5096883" cy="416611"/>
      </dsp:txXfrm>
    </dsp:sp>
    <dsp:sp modelId="{58E45CBE-DE64-4E4E-8AAA-D376465B2BEE}">
      <dsp:nvSpPr>
        <dsp:cNvPr id="0" name=""/>
        <dsp:cNvSpPr/>
      </dsp:nvSpPr>
      <dsp:spPr>
        <a:xfrm rot="5400000">
          <a:off x="-106543" y="1757278"/>
          <a:ext cx="710288" cy="497202"/>
        </a:xfrm>
        <a:prstGeom prst="chevron">
          <a:avLst/>
        </a:prstGeom>
        <a:gradFill rotWithShape="0">
          <a:gsLst>
            <a:gs pos="0">
              <a:schemeClr val="accent3">
                <a:hueOff val="757279"/>
                <a:satOff val="9903"/>
                <a:lumOff val="-12156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3">
                <a:hueOff val="757279"/>
                <a:satOff val="9903"/>
                <a:lumOff val="-12156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3">
                <a:hueOff val="757279"/>
                <a:satOff val="9903"/>
                <a:lumOff val="-12156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 w="6350" cap="flat" cmpd="sng" algn="ctr">
          <a:solidFill>
            <a:schemeClr val="accent3">
              <a:hueOff val="757279"/>
              <a:satOff val="9903"/>
              <a:lumOff val="-12156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2700" tIns="12700" rIns="12700" bIns="127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CO" sz="2000" kern="1200" dirty="0">
              <a:latin typeface="Century Gothic" panose="020B0502020202020204" pitchFamily="34" charset="0"/>
            </a:rPr>
            <a:t>4</a:t>
          </a:r>
        </a:p>
      </dsp:txBody>
      <dsp:txXfrm rot="-5400000">
        <a:off x="0" y="1899336"/>
        <a:ext cx="497202" cy="213086"/>
      </dsp:txXfrm>
    </dsp:sp>
    <dsp:sp modelId="{C37D6712-7A35-4663-80F7-1B8FC410AF19}">
      <dsp:nvSpPr>
        <dsp:cNvPr id="0" name=""/>
        <dsp:cNvSpPr/>
      </dsp:nvSpPr>
      <dsp:spPr>
        <a:xfrm rot="5400000">
          <a:off x="2826069" y="-678132"/>
          <a:ext cx="461687" cy="5119421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3">
              <a:hueOff val="757279"/>
              <a:satOff val="9903"/>
              <a:lumOff val="-12156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42240" tIns="12700" rIns="12700" bIns="12700" numCol="1" spcCol="1270" anchor="ctr" anchorCtr="0">
          <a:noAutofit/>
        </a:bodyPr>
        <a:lstStyle/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s-CO" sz="2000" kern="1200" dirty="0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Century Gothic" panose="020B0502020202020204" pitchFamily="34" charset="0"/>
              <a:ea typeface="+mn-ea"/>
              <a:cs typeface="+mn-cs"/>
            </a:rPr>
            <a:t>Revisar el plan</a:t>
          </a:r>
        </a:p>
      </dsp:txBody>
      <dsp:txXfrm rot="-5400000">
        <a:off x="497202" y="1673273"/>
        <a:ext cx="5096883" cy="416611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B46BF3C-CDFA-4359-A082-13BD84A6C0BB}">
      <dsp:nvSpPr>
        <dsp:cNvPr id="0" name=""/>
        <dsp:cNvSpPr/>
      </dsp:nvSpPr>
      <dsp:spPr>
        <a:xfrm>
          <a:off x="265709" y="1397444"/>
          <a:ext cx="2539999" cy="1269999"/>
        </a:xfrm>
        <a:prstGeom prst="roundRect">
          <a:avLst>
            <a:gd name="adj" fmla="val 10000"/>
          </a:avLst>
        </a:prstGeom>
        <a:solidFill>
          <a:schemeClr val="tx1"/>
        </a:soli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2700" tIns="12700" rIns="12700" bIns="127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CO" sz="2000" b="1" kern="1200" dirty="0">
              <a:latin typeface="+mn-lt"/>
            </a:rPr>
            <a:t>Alternativas en los problemas de decisión lógica</a:t>
          </a:r>
        </a:p>
      </dsp:txBody>
      <dsp:txXfrm>
        <a:off x="302906" y="1434641"/>
        <a:ext cx="2465605" cy="1195605"/>
      </dsp:txXfrm>
    </dsp:sp>
    <dsp:sp modelId="{BB45BE9A-FF36-43D6-83C3-336A2E12976B}">
      <dsp:nvSpPr>
        <dsp:cNvPr id="0" name=""/>
        <dsp:cNvSpPr/>
      </dsp:nvSpPr>
      <dsp:spPr>
        <a:xfrm rot="17749945">
          <a:off x="2319916" y="1229413"/>
          <a:ext cx="1721875" cy="56250"/>
        </a:xfrm>
        <a:custGeom>
          <a:avLst/>
          <a:gdLst/>
          <a:ahLst/>
          <a:cxnLst/>
          <a:rect l="0" t="0" r="0" b="0"/>
          <a:pathLst>
            <a:path>
              <a:moveTo>
                <a:pt x="0" y="28125"/>
              </a:moveTo>
              <a:lnTo>
                <a:pt x="1721875" y="28125"/>
              </a:lnTo>
            </a:path>
          </a:pathLst>
        </a:custGeom>
        <a:noFill/>
        <a:ln w="6350" cap="flat" cmpd="sng" algn="ctr">
          <a:solidFill>
            <a:schemeClr val="tx1"/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66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s-CO" sz="600" kern="1200"/>
        </a:p>
      </dsp:txBody>
      <dsp:txXfrm>
        <a:off x="3137807" y="1214491"/>
        <a:ext cx="86093" cy="86093"/>
      </dsp:txXfrm>
    </dsp:sp>
    <dsp:sp modelId="{DA0E9240-41B7-41B5-8F65-67C41791B0D9}">
      <dsp:nvSpPr>
        <dsp:cNvPr id="0" name=""/>
        <dsp:cNvSpPr/>
      </dsp:nvSpPr>
      <dsp:spPr>
        <a:xfrm>
          <a:off x="3556000" y="233267"/>
          <a:ext cx="2539999" cy="498729"/>
        </a:xfrm>
        <a:prstGeom prst="roundRect">
          <a:avLst>
            <a:gd name="adj" fmla="val 10000"/>
          </a:avLst>
        </a:prstGeom>
        <a:solidFill>
          <a:schemeClr val="bg1">
            <a:lumMod val="50000"/>
          </a:schemeClr>
        </a:soli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2700" tIns="12700" rIns="12700" bIns="127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CO" sz="2000" b="1" kern="1200" dirty="0">
              <a:latin typeface="+mn-lt"/>
            </a:rPr>
            <a:t>Alternativa simple</a:t>
          </a:r>
        </a:p>
      </dsp:txBody>
      <dsp:txXfrm>
        <a:off x="3570607" y="247874"/>
        <a:ext cx="2510785" cy="469515"/>
      </dsp:txXfrm>
    </dsp:sp>
    <dsp:sp modelId="{94DAD3F8-2DD3-4D49-BCA3-0AA4CEA5327E}">
      <dsp:nvSpPr>
        <dsp:cNvPr id="0" name=""/>
        <dsp:cNvSpPr/>
      </dsp:nvSpPr>
      <dsp:spPr>
        <a:xfrm rot="21534312">
          <a:off x="2805640" y="1997150"/>
          <a:ext cx="750427" cy="56250"/>
        </a:xfrm>
        <a:custGeom>
          <a:avLst/>
          <a:gdLst/>
          <a:ahLst/>
          <a:cxnLst/>
          <a:rect l="0" t="0" r="0" b="0"/>
          <a:pathLst>
            <a:path>
              <a:moveTo>
                <a:pt x="0" y="28125"/>
              </a:moveTo>
              <a:lnTo>
                <a:pt x="750427" y="28125"/>
              </a:lnTo>
            </a:path>
          </a:pathLst>
        </a:custGeom>
        <a:noFill/>
        <a:ln w="6350" cap="flat" cmpd="sng" algn="ctr">
          <a:solidFill>
            <a:schemeClr val="tx1"/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s-CO" sz="500" kern="1200"/>
        </a:p>
      </dsp:txBody>
      <dsp:txXfrm>
        <a:off x="3162094" y="2006514"/>
        <a:ext cx="37521" cy="37521"/>
      </dsp:txXfrm>
    </dsp:sp>
    <dsp:sp modelId="{FC825A99-0AF5-4BBD-A87F-DB1EBAD335DC}">
      <dsp:nvSpPr>
        <dsp:cNvPr id="0" name=""/>
        <dsp:cNvSpPr/>
      </dsp:nvSpPr>
      <dsp:spPr>
        <a:xfrm>
          <a:off x="3556000" y="1785956"/>
          <a:ext cx="2539999" cy="464299"/>
        </a:xfrm>
        <a:prstGeom prst="roundRect">
          <a:avLst>
            <a:gd name="adj" fmla="val 10000"/>
          </a:avLst>
        </a:prstGeom>
        <a:solidFill>
          <a:schemeClr val="bg1">
            <a:lumMod val="50000"/>
          </a:schemeClr>
        </a:soli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2700" tIns="12700" rIns="12700" bIns="127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CO" sz="2000" b="1" kern="1200" dirty="0">
              <a:latin typeface="+mn-lt"/>
            </a:rPr>
            <a:t>Alternativa doble </a:t>
          </a:r>
        </a:p>
      </dsp:txBody>
      <dsp:txXfrm>
        <a:off x="3569599" y="1799555"/>
        <a:ext cx="2512801" cy="437101"/>
      </dsp:txXfrm>
    </dsp:sp>
    <dsp:sp modelId="{CDABA905-00CC-4685-8E9D-590A386A3B8E}">
      <dsp:nvSpPr>
        <dsp:cNvPr id="0" name=""/>
        <dsp:cNvSpPr/>
      </dsp:nvSpPr>
      <dsp:spPr>
        <a:xfrm rot="3769132">
          <a:off x="2359617" y="2734864"/>
          <a:ext cx="1642474" cy="56250"/>
        </a:xfrm>
        <a:custGeom>
          <a:avLst/>
          <a:gdLst/>
          <a:ahLst/>
          <a:cxnLst/>
          <a:rect l="0" t="0" r="0" b="0"/>
          <a:pathLst>
            <a:path>
              <a:moveTo>
                <a:pt x="0" y="28125"/>
              </a:moveTo>
              <a:lnTo>
                <a:pt x="1642474" y="28125"/>
              </a:lnTo>
            </a:path>
          </a:pathLst>
        </a:custGeom>
        <a:noFill/>
        <a:ln w="6350" cap="flat" cmpd="sng" algn="ctr">
          <a:solidFill>
            <a:schemeClr val="tx1"/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s-CO" sz="500" kern="1200"/>
        </a:p>
      </dsp:txBody>
      <dsp:txXfrm>
        <a:off x="3139792" y="2721927"/>
        <a:ext cx="82123" cy="82123"/>
      </dsp:txXfrm>
    </dsp:sp>
    <dsp:sp modelId="{37AA57FA-6512-49C5-850D-0B5DBF1B5B11}">
      <dsp:nvSpPr>
        <dsp:cNvPr id="0" name=""/>
        <dsp:cNvSpPr/>
      </dsp:nvSpPr>
      <dsp:spPr>
        <a:xfrm>
          <a:off x="3556000" y="3271132"/>
          <a:ext cx="2539999" cy="444804"/>
        </a:xfrm>
        <a:prstGeom prst="roundRect">
          <a:avLst>
            <a:gd name="adj" fmla="val 10000"/>
          </a:avLst>
        </a:prstGeom>
        <a:solidFill>
          <a:schemeClr val="bg1">
            <a:lumMod val="50000"/>
          </a:schemeClr>
        </a:soli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2700" tIns="12700" rIns="12700" bIns="127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CO" sz="2000" b="1" kern="1200" dirty="0">
              <a:latin typeface="+mn-lt"/>
            </a:rPr>
            <a:t>Alternativa múltiple</a:t>
          </a:r>
        </a:p>
      </dsp:txBody>
      <dsp:txXfrm>
        <a:off x="3569028" y="3284160"/>
        <a:ext cx="2513943" cy="418748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chevron2">
  <dgm:title val=""/>
  <dgm:desc val=""/>
  <dgm:catLst>
    <dgm:cat type="process" pri="12000"/>
    <dgm:cat type="list" pri="16000"/>
    <dgm:cat type="convert" pri="1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</dgm:ptLst>
      <dgm:cxnLst>
        <dgm:cxn modelId="4" srcId="0" destId="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alg type="lin">
      <dgm:param type="linDir" val="fromT"/>
      <dgm:param type="nodeHorzAlign" val="l"/>
    </dgm:alg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h" for="des" forName="parentText" op="equ"/>
      <dgm:constr type="h" for="ch" forName="sp" val="-14.88"/>
      <dgm:constr type="h" for="ch" forName="sp" refType="w" refFor="des" refForName="parentText" op="gte" fact="-0.3"/>
      <dgm:constr type="primFontSz" for="des" forName="parentText" op="equ" val="65"/>
      <dgm:constr type="primFontSz" for="des" forName="descendantText" op="equ" val="65"/>
    </dgm:constrLst>
    <dgm:ruleLst/>
    <dgm:forEach name="Name0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t" for="ch" forName="parentText"/>
              <dgm:constr type="l" for="ch" forName="parentText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 refType="w" refFor="ch" refForName="pare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if>
          <dgm:else name="Name3">
            <dgm:constrLst>
              <dgm:constr type="t" for="ch" forName="parentText"/>
              <dgm:constr type="r" for="ch" forName="parentText" refType="w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else>
        </dgm:choose>
        <dgm:ruleLst/>
        <dgm:layoutNode name="parentText" styleLbl="alignNode1">
          <dgm:varLst>
            <dgm:chMax val="1"/>
            <dgm:bulletEnabled val="1"/>
          </dgm:varLst>
          <dgm:alg type="tx"/>
          <dgm:shape xmlns:r="http://schemas.openxmlformats.org/officeDocument/2006/relationships" rot="90" type="chevron" r:blip="">
            <dgm:adjLst/>
          </dgm:shape>
          <dgm:presOf axis="self" ptType="node"/>
          <dgm:constrLst>
            <dgm:constr type="lMarg" refType="primFontSz" fact="0.05"/>
            <dgm:constr type="rMarg" refType="primFontSz" fact="0.05"/>
            <dgm:constr type="tMarg" refType="primFontSz" fact="0.05"/>
            <dgm:constr type="bMarg" refType="primFontSz" fact="0.05"/>
          </dgm:constrLst>
          <dgm:ruleLst>
            <dgm:rule type="h" val="100" fact="NaN" max="NaN"/>
            <dgm:rule type="primFontSz" val="24" fact="NaN" max="NaN"/>
            <dgm:rule type="h" val="110" fact="NaN" max="NaN"/>
            <dgm:rule type="primFontSz" val="18" fact="NaN" max="NaN"/>
            <dgm:rule type="h" val="INF" fact="NaN" max="NaN"/>
            <dgm:rule type="primFontSz" val="5" fact="NaN" max="NaN"/>
          </dgm:ruleLst>
        </dgm:layoutNode>
        <dgm:layoutNode name="descendantText" styleLbl="alignAcc1">
          <dgm:varLst>
            <dgm:bulletEnabled val="1"/>
          </dgm:varLst>
          <dgm:choose name="Name4">
            <dgm:if name="Name5" func="var" arg="dir" op="equ" val="norm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90" type="round2SameRect" r:blip="">
                <dgm:adjLst/>
              </dgm:shape>
            </dgm:if>
            <dgm:else name="Name6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-90" type="round2SameRect" r:blip="">
                <dgm:adjLst/>
              </dgm:shape>
            </dgm:else>
          </dgm:choose>
          <dgm:presOf axis="des" ptType="node"/>
          <dgm:choose name="Name7">
            <dgm:if name="Name8" func="var" arg="dir" op="equ" val="norm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rMarg" refType="primFontSz" fact="0.05"/>
              </dgm:constrLst>
            </dgm:if>
            <dgm:else name="Name9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lMarg" refType="primFontSz" fact="0.05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10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>
            <dgm:constr type="w" val="1"/>
            <dgm:constr type="h" val="37.5"/>
          </dgm:constrLst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hierarchy2">
  <dgm:title val=""/>
  <dgm:desc val=""/>
  <dgm:catLst>
    <dgm:cat type="hierarchy" pri="5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diagram">
    <dgm:varLst>
      <dgm:chPref val="1"/>
      <dgm:dir/>
      <dgm:animOne val="branch"/>
      <dgm:animLvl val="lvl"/>
      <dgm:resizeHandles val="exact"/>
    </dgm:varLst>
    <dgm:choose name="Name0">
      <dgm:if name="Name1" func="var" arg="dir" op="equ" val="norm">
        <dgm:alg type="hierChild">
          <dgm:param type="linDir" val="fromT"/>
          <dgm:param type="chAlign" val="l"/>
        </dgm:alg>
      </dgm:if>
      <dgm:else name="Name2">
        <dgm:alg type="hierChild">
          <dgm:param type="linDir" val="fromT"/>
          <dgm:param type="chAlign" val="r"/>
        </dgm:alg>
      </dgm:else>
    </dgm:choose>
    <dgm:shape xmlns:r="http://schemas.openxmlformats.org/officeDocument/2006/relationships" r:blip="">
      <dgm:adjLst/>
    </dgm:shape>
    <dgm:presOf/>
    <dgm:constrLst>
      <dgm:constr type="h" for="des" ptType="node" refType="h"/>
      <dgm:constr type="w" for="des" ptType="node" refType="h" refFor="des" refPtType="node" fact="2"/>
      <dgm:constr type="sibSp" refType="h" refFor="des" refPtType="node" op="equ" fact="0.15"/>
      <dgm:constr type="sibSp" for="des" forName="level2hierChild" refType="h" refFor="des" refPtType="node" op="equ" fact="0.15"/>
      <dgm:constr type="sibSp" for="des" forName="level3hierChild" refType="h" refFor="des" refPtType="node" op="equ" fact="0.15"/>
      <dgm:constr type="sp" for="des" forName="root1" refType="w" refFor="des" refPtType="node" fact="0.4"/>
      <dgm:constr type="sp" for="des" forName="root2" refType="sp" refFor="des" refForName="root1" op="equ"/>
      <dgm:constr type="primFontSz" for="des" ptType="node" op="equ" val="65"/>
      <dgm:constr type="primFontSz" for="des" forName="connTx" op="equ" val="55"/>
      <dgm:constr type="primFontSz" for="des" forName="connTx" refType="primFontSz" refFor="des" refPtType="node" op="lte" fact="0.8"/>
    </dgm:constrLst>
    <dgm:ruleLst/>
    <dgm:forEach name="Name3" axis="ch">
      <dgm:forEach name="Name4" axis="self" ptType="node">
        <dgm:layoutNode name="root1">
          <dgm:choose name="Name5">
            <dgm:if name="Name6" func="var" arg="dir" op="equ" val="norm">
              <dgm:alg type="hierRoot">
                <dgm:param type="hierAlign" val="lCtrCh"/>
              </dgm:alg>
            </dgm:if>
            <dgm:else name="Name7">
              <dgm:alg type="hierRoot">
                <dgm:param type="hierAlign" val="rCtrCh"/>
              </dgm:alg>
            </dgm:else>
          </dgm:choose>
          <dgm:shape xmlns:r="http://schemas.openxmlformats.org/officeDocument/2006/relationships" r:blip="">
            <dgm:adjLst/>
          </dgm:shape>
          <dgm:presOf/>
          <dgm:constrLst/>
          <dgm:ruleLst/>
          <dgm:layoutNode name="LevelOneTextNode" styleLbl="node0">
            <dgm:varLst>
              <dgm:chPref val="3"/>
            </dgm:varLst>
            <dgm:alg type="tx"/>
            <dgm:shape xmlns:r="http://schemas.openxmlformats.org/officeDocument/2006/relationships" type="roundRect" r:blip="">
              <dgm:adjLst>
                <dgm:adj idx="1" val="0.1"/>
              </dgm:adjLst>
            </dgm:shape>
            <dgm:presOf axis="self"/>
            <dgm:constrLst>
              <dgm:constr type="tMarg" refType="primFontSz" fact="0.05"/>
              <dgm:constr type="bMarg" refType="primFontSz" fact="0.05"/>
              <dgm:constr type="lMarg" refType="primFontSz" fact="0.05"/>
              <dgm:constr type="rMarg" refType="primFontSz" fact="0.05"/>
            </dgm:constrLst>
            <dgm:ruleLst>
              <dgm:rule type="primFontSz" val="5" fact="NaN" max="NaN"/>
            </dgm:ruleLst>
          </dgm:layoutNode>
          <dgm:layoutNode name="level2hierChild">
            <dgm:choose name="Name8">
              <dgm:if name="Name9" func="var" arg="dir" op="equ" val="norm">
                <dgm:alg type="hierChild">
                  <dgm:param type="linDir" val="fromT"/>
                  <dgm:param type="chAlign" val="l"/>
                </dgm:alg>
              </dgm:if>
              <dgm:else name="Name10">
                <dgm:alg type="hierChild">
                  <dgm:param type="linDir" val="fromT"/>
                  <dgm:param type="chAlign" val="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repeat" axis="ch">
              <dgm:forEach name="Name11" axis="self" ptType="parTrans" cnt="1">
                <dgm:layoutNode name="conn2-1">
                  <dgm:choose name="Name12">
                    <dgm:if name="Name13" func="var" arg="dir" op="equ" val="norm">
                      <dgm:alg type="conn">
                        <dgm:param type="dim" val="1D"/>
                        <dgm:param type="begPts" val="midR"/>
                        <dgm:param type="endPts" val="midL"/>
                        <dgm:param type="endSty" val="noArr"/>
                      </dgm:alg>
                    </dgm:if>
                    <dgm:else name="Name14">
                      <dgm:alg type="conn">
                        <dgm:param type="dim" val="1D"/>
                        <dgm:param type="begPts" val="midL"/>
                        <dgm:param type="endPts" val="midR"/>
                        <dgm:param type="endSty" val="noArr"/>
                      </dgm:alg>
                    </dgm:else>
                  </dgm:choose>
                  <dgm:shape xmlns:r="http://schemas.openxmlformats.org/officeDocument/2006/relationships" type="conn" r:blip="">
                    <dgm:adjLst/>
                  </dgm:shape>
                  <dgm:presOf axis="self"/>
                  <dgm:constrLst>
                    <dgm:constr type="w" val="1"/>
                    <dgm:constr type="h" val="5"/>
                    <dgm:constr type="connDist"/>
                    <dgm:constr type="begPad"/>
                    <dgm:constr type="endPad"/>
                    <dgm:constr type="userA" for="ch" refType="connDist"/>
                  </dgm:constrLst>
                  <dgm:ruleLst/>
                  <dgm:layoutNode name="connTx">
                    <dgm:alg type="tx">
                      <dgm:param type="autoTxRot" val="grav"/>
                    </dgm:alg>
                    <dgm:shape xmlns:r="http://schemas.openxmlformats.org/officeDocument/2006/relationships" type="rect" r:blip="" hideGeom="1">
                      <dgm:adjLst/>
                    </dgm:shape>
                    <dgm:presOf axis="self"/>
                    <dgm:constrLst>
                      <dgm:constr type="userA"/>
                      <dgm:constr type="w" refType="userA" fact="0.05"/>
                      <dgm:constr type="h" refType="userA" fact="0.05"/>
                      <dgm:constr type="lMarg" val="1"/>
                      <dgm:constr type="rMarg" val="1"/>
                      <dgm:constr type="tMarg"/>
                      <dgm:constr type="bMarg"/>
                    </dgm:constrLst>
                    <dgm:ruleLst>
                      <dgm:rule type="h" val="NaN" fact="0.25" max="NaN"/>
                      <dgm:rule type="w" val="NaN" fact="0.8" max="NaN"/>
                      <dgm:rule type="primFontSz" val="5" fact="NaN" max="NaN"/>
                    </dgm:ruleLst>
                  </dgm:layoutNode>
                </dgm:layoutNode>
              </dgm:forEach>
              <dgm:forEach name="Name15" axis="self" ptType="node">
                <dgm:layoutNode name="root2">
                  <dgm:choose name="Name16">
                    <dgm:if name="Name17" func="var" arg="dir" op="equ" val="norm">
                      <dgm:alg type="hierRoot">
                        <dgm:param type="hierAlign" val="lCtrCh"/>
                      </dgm:alg>
                    </dgm:if>
                    <dgm:else name="Name18">
                      <dgm:alg type="hierRoot">
                        <dgm:param type="hierAlign" val="rCtrCh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layoutNode name="LevelTwoTextNode">
                    <dgm:varLst>
                      <dgm:chPref val="3"/>
                    </dgm:varLst>
                    <dgm:alg type="tx"/>
                    <dgm:shape xmlns:r="http://schemas.openxmlformats.org/officeDocument/2006/relationships" type="roundRect" r:blip="">
                      <dgm:adjLst>
                        <dgm:adj idx="1" val="0.1"/>
                      </dgm:adjLst>
                    </dgm:shape>
                    <dgm:presOf axis="self"/>
                    <dgm:constrLst>
                      <dgm:constr type="tMarg" refType="primFontSz" fact="0.05"/>
                      <dgm:constr type="bMarg" refType="primFontSz" fact="0.05"/>
                      <dgm:constr type="lMarg" refType="primFontSz" fact="0.05"/>
                      <dgm:constr type="r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level3hierChild">
                    <dgm:choose name="Name19">
                      <dgm:if name="Name20" func="var" arg="dir" op="equ" val="norm">
                        <dgm:alg type="hierChild">
                          <dgm:param type="linDir" val="fromT"/>
                          <dgm:param type="chAlign" val="l"/>
                        </dgm:alg>
                      </dgm:if>
                      <dgm:else name="Name21">
                        <dgm:alg type="hierChild">
                          <dgm:param type="linDir" val="fromT"/>
                          <dgm:param type="chAlign" val="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22" ref="repeat"/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Marcador de encabezado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CO"/>
          </a:p>
        </p:txBody>
      </p:sp>
      <p:sp>
        <p:nvSpPr>
          <p:cNvPr id="3" name="2 Marcador de fecha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0943A3E-55B9-4706-BA6E-9364B5247742}" type="datetimeFigureOut">
              <a:rPr lang="es-CO" smtClean="0"/>
              <a:t>21/08/2026</a:t>
            </a:fld>
            <a:endParaRPr lang="es-CO"/>
          </a:p>
        </p:txBody>
      </p:sp>
      <p:sp>
        <p:nvSpPr>
          <p:cNvPr id="4" name="3 Marcador de imagen de diapositiva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CO"/>
          </a:p>
        </p:txBody>
      </p:sp>
      <p:sp>
        <p:nvSpPr>
          <p:cNvPr id="5" name="4 Marcador de notas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6" name="5 Marcador de pie de página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CO"/>
          </a:p>
        </p:txBody>
      </p:sp>
      <p:sp>
        <p:nvSpPr>
          <p:cNvPr id="7" name="6 Marcador de número de diapositiva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C08B099-0CC4-41E8-A6BF-D10E445BFF74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71568444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CO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C08B099-0CC4-41E8-A6BF-D10E445BFF74}" type="slidenum">
              <a:rPr lang="es-CO" smtClean="0"/>
              <a:t>3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8751978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CO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C08B099-0CC4-41E8-A6BF-D10E445BFF74}" type="slidenum">
              <a:rPr lang="es-CO" smtClean="0"/>
              <a:t>6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90451770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Marcador de imagen de diapositiva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2 Marcador de nota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CO" dirty="0"/>
              <a:t>ttps://programacionpython.wordpress.com/2008/07/06/dia-10-operadores-aritmeticos-parte-2/</a:t>
            </a:r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08B099-0CC4-41E8-A6BF-D10E445BFF74}" type="slidenum">
              <a:rPr lang="es-CO" smtClean="0"/>
              <a:t>11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4547527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Marcador de imagen de diapositiva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2 Marcador de nota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CO" dirty="0"/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08B099-0CC4-41E8-A6BF-D10E445BFF74}" type="slidenum">
              <a:rPr lang="es-CO" smtClean="0"/>
              <a:t>19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47203918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FAE389-1891-4C1C-AE7B-96446A92669F}" type="datetime1">
              <a:rPr lang="es-CO" smtClean="0"/>
              <a:t>21/08/2026</a:t>
            </a:fld>
            <a:endParaRPr lang="es-CO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DF11D6-2A43-477C-ACA3-F1025A79500F}" type="slidenum">
              <a:rPr lang="es-CO" smtClean="0"/>
              <a:pPr/>
              <a:t>‹Nº›</a:t>
            </a:fld>
            <a:endParaRPr lang="es-CO" dirty="0"/>
          </a:p>
        </p:txBody>
      </p:sp>
    </p:spTree>
    <p:extLst>
      <p:ext uri="{BB962C8B-B14F-4D97-AF65-F5344CB8AC3E}">
        <p14:creationId xmlns:p14="http://schemas.microsoft.com/office/powerpoint/2010/main" val="1366208883"/>
      </p:ext>
    </p:extLst>
  </p:cSld>
  <p:clrMapOvr>
    <a:masterClrMapping/>
  </p:clrMapOvr>
  <p:hf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197211-2E02-4E34-9D1C-742DBBA2E713}" type="datetime1">
              <a:rPr lang="es-CO" smtClean="0"/>
              <a:t>21/08/2026</a:t>
            </a:fld>
            <a:endParaRPr lang="es-CO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DF11D6-2A43-477C-ACA3-F1025A79500F}" type="slidenum">
              <a:rPr lang="es-CO" smtClean="0"/>
              <a:t>‹Nº›</a:t>
            </a:fld>
            <a:endParaRPr lang="es-CO" dirty="0"/>
          </a:p>
        </p:txBody>
      </p:sp>
    </p:spTree>
    <p:extLst>
      <p:ext uri="{BB962C8B-B14F-4D97-AF65-F5344CB8AC3E}">
        <p14:creationId xmlns:p14="http://schemas.microsoft.com/office/powerpoint/2010/main" val="351991877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4A16AA-8F92-4F8D-9FF5-AE4F5F025475}" type="datetime1">
              <a:rPr lang="es-CO" smtClean="0"/>
              <a:t>21/08/2026</a:t>
            </a:fld>
            <a:endParaRPr lang="es-CO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DF11D6-2A43-477C-ACA3-F1025A79500F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43214952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A2889A-C4A3-4C6C-A514-E9566A95FF0B}" type="datetime1">
              <a:rPr lang="es-CO" smtClean="0"/>
              <a:t>21/08/2026</a:t>
            </a:fld>
            <a:endParaRPr lang="es-CO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DF11D6-2A43-477C-ACA3-F1025A79500F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03131265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C549B8-F78E-4015-8DD3-99AC842EEF5C}" type="datetime1">
              <a:rPr lang="es-CO" smtClean="0"/>
              <a:t>21/08/2026</a:t>
            </a:fld>
            <a:endParaRPr lang="es-CO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DF11D6-2A43-477C-ACA3-F1025A79500F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47385234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FAE389-1891-4C1C-AE7B-96446A92669F}" type="datetime1">
              <a:rPr lang="es-CO" smtClean="0"/>
              <a:t>21/08/2026</a:t>
            </a:fld>
            <a:endParaRPr lang="es-CO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DF11D6-2A43-477C-ACA3-F1025A79500F}" type="slidenum">
              <a:rPr lang="es-CO" smtClean="0"/>
              <a:pPr/>
              <a:t>‹Nº›</a:t>
            </a:fld>
            <a:endParaRPr lang="es-CO" dirty="0"/>
          </a:p>
        </p:txBody>
      </p:sp>
    </p:spTree>
    <p:extLst>
      <p:ext uri="{BB962C8B-B14F-4D97-AF65-F5344CB8AC3E}">
        <p14:creationId xmlns:p14="http://schemas.microsoft.com/office/powerpoint/2010/main" val="2085105137"/>
      </p:ext>
    </p:extLst>
  </p:cSld>
  <p:clrMapOvr>
    <a:masterClrMapping/>
  </p:clrMapOvr>
  <p:hf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375FDE-4F9B-4FF4-9D4F-6D3ED15F62CE}" type="datetime1">
              <a:rPr lang="es-CO" smtClean="0"/>
              <a:t>21/08/2026</a:t>
            </a:fld>
            <a:endParaRPr lang="es-CO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DF11D6-2A43-477C-ACA3-F1025A79500F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72683769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F392FA-6414-43D4-857F-1D16849F2AFB}" type="datetime1">
              <a:rPr lang="es-CO" smtClean="0"/>
              <a:t>21/08/2026</a:t>
            </a:fld>
            <a:endParaRPr lang="es-CO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DF11D6-2A43-477C-ACA3-F1025A79500F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08845273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F1ADB1-43E6-4CC5-8BA6-A3F5A7E6EF55}" type="datetime1">
              <a:rPr lang="es-CO" smtClean="0"/>
              <a:t>21/08/2026</a:t>
            </a:fld>
            <a:endParaRPr lang="es-CO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DF11D6-2A43-477C-ACA3-F1025A79500F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53063909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9921E5-6957-4C84-BD80-156D13F58C59}" type="datetime1">
              <a:rPr lang="es-CO" smtClean="0"/>
              <a:t>21/08/2026</a:t>
            </a:fld>
            <a:endParaRPr lang="es-CO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DF11D6-2A43-477C-ACA3-F1025A79500F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77121846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BB61D7-E979-4A0B-B106-A9203ABD6AA5}" type="datetime1">
              <a:rPr lang="es-CO" smtClean="0"/>
              <a:t>21/08/2026</a:t>
            </a:fld>
            <a:endParaRPr lang="es-CO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DF11D6-2A43-477C-ACA3-F1025A79500F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22253966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 dirty="0"/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197211-2E02-4E34-9D1C-742DBBA2E713}" type="datetime1">
              <a:rPr lang="es-CO" smtClean="0"/>
              <a:t>21/08/2026</a:t>
            </a:fld>
            <a:endParaRPr lang="es-CO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DF11D6-2A43-477C-ACA3-F1025A79500F}" type="slidenum">
              <a:rPr lang="es-CO" smtClean="0"/>
              <a:t>‹Nº›</a:t>
            </a:fld>
            <a:endParaRPr lang="es-CO" dirty="0"/>
          </a:p>
        </p:txBody>
      </p:sp>
    </p:spTree>
    <p:extLst>
      <p:ext uri="{BB962C8B-B14F-4D97-AF65-F5344CB8AC3E}">
        <p14:creationId xmlns:p14="http://schemas.microsoft.com/office/powerpoint/2010/main" val="386410323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8FAE389-1891-4C1C-AE7B-96446A92669F}" type="datetime1">
              <a:rPr lang="es-CO" smtClean="0"/>
              <a:t>21/08/2026</a:t>
            </a:fld>
            <a:endParaRPr lang="es-CO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CO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7DF11D6-2A43-477C-ACA3-F1025A79500F}" type="slidenum">
              <a:rPr lang="es-CO" smtClean="0"/>
              <a:pPr/>
              <a:t>‹Nº›</a:t>
            </a:fld>
            <a:endParaRPr lang="es-CO" dirty="0"/>
          </a:p>
        </p:txBody>
      </p:sp>
    </p:spTree>
    <p:extLst>
      <p:ext uri="{BB962C8B-B14F-4D97-AF65-F5344CB8AC3E}">
        <p14:creationId xmlns:p14="http://schemas.microsoft.com/office/powerpoint/2010/main" val="414347453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0" r:id="rId1"/>
    <p:sldLayoutId id="2147483701" r:id="rId2"/>
    <p:sldLayoutId id="2147483702" r:id="rId3"/>
    <p:sldLayoutId id="2147483703" r:id="rId4"/>
    <p:sldLayoutId id="2147483704" r:id="rId5"/>
    <p:sldLayoutId id="2147483705" r:id="rId6"/>
    <p:sldLayoutId id="2147483706" r:id="rId7"/>
    <p:sldLayoutId id="2147483707" r:id="rId8"/>
    <p:sldLayoutId id="2147483708" r:id="rId9"/>
    <p:sldLayoutId id="2147483709" r:id="rId10"/>
    <p:sldLayoutId id="2147483710" r:id="rId11"/>
    <p:sldLayoutId id="2147483650" r:id="rId12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.png"/><Relationship Id="rId3" Type="http://schemas.openxmlformats.org/officeDocument/2006/relationships/diagramLayout" Target="../diagrams/layout1.xml"/><Relationship Id="rId7" Type="http://schemas.openxmlformats.org/officeDocument/2006/relationships/image" Target="../media/image1.png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Relationship Id="rId9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jpe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jpe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pythontutor.com/visualize.html#code=%23%20Inicializaci%C3%B3n%20de%20variables%0API%20%3D%203.14%0A%0A%23%20Entrada%20de%20datos%0Aradio%20%3D%20float%28input%28%22Ingrese%20el%20radio%20del%20c%C3%ADrculo%3A%20%22%29%29%0A%0A%23%20Calculo%20del%20area%0Aarea%20%3D%20PI%20*%20radio%20**%202%0A%0A%23%20Despligue%20del%20area%0Aprint%28f%22El%20area%20del%20c%C3%ADrculo%20de%20radio%20%7Bradio%7D%20es%3A%20%7Barea%7D%22%29%0A&amp;curInstr=0&amp;mode=display&amp;origin=opt-frontend.js&amp;py=311" TargetMode="Externa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hyperlink" Target="https://www.youtube.com/watch?v=7MAeSbiLRPo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jpe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es.wikipedia.org/wiki/La_puerta_angosta" TargetMode="Externa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6.jpe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e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6.jpe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jpeg"/><Relationship Id="rId2" Type="http://schemas.openxmlformats.org/officeDocument/2006/relationships/image" Target="../media/image18.jpe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hyperlink" Target="https://pythontutor.com/visualize.html#code=angulo%20%3D%2090%0Aif%28angulo%20%3D%3D%2090%29%3A%20%0A%20%20print%28%22El%20angulo%20es%20recto%22%29%0Aelse%3A%20%20%0A%20%20print%28%22El%20angulo%20no%20es%20recto%22%29&amp;curInstr=0&amp;mode=display&amp;origin=opt-frontend.js&amp;py=3" TargetMode="Externa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hyperlink" Target="https://pythontutor.com/visualize.html#code=T%20%3D%2010%0Aif%20T%20%3E%20100%3A%20%0A%20%20%20%20print%28%22Por%20encima%20del%20punto%20de%20ebullici%C3%B3n%20del%20agua%22%29%0Aelse%3A%20%20%0A%20%20%20%20print%28%22Por%20debajo%20del%20punto%20de%20ebullici%C3%B3n%20del%20agua%22%29%0A&amp;cumulative=false&amp;curInstr=0&amp;heapPrimitives=nevernest&amp;mode=display&amp;origin=opt-frontend.js&amp;py=3&amp;rawInputLstJSON=%5B%5D&amp;textReferences=false" TargetMode="Externa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hyperlink" Target="https://pythontutor.com/visualize.html#code=%23%20Ensaye%20con%20difententes%20valores%20para%20X,%20Y%20y%20Z%0AX%20%3D%2010%0AY%20%3D%205%0AZ%20%3D%203%0A%0Aif%20%28%28X%20%3E%20Y%29%20and%20%28Z%20%3C%2020%29%29%3A%20%0A%20%20%20%20P%20%3D%20int%28input%28%22P%20%3D%20%22%29%29%0A&amp;cumulative=false&amp;curInstr=0&amp;heapPrimitives=nevernest&amp;mode=display&amp;origin=opt-frontend.js&amp;py=3&amp;rawInputLstJSON=%5B%223%22%5D&amp;textReferences=false" TargetMode="Externa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hyperlink" Target="https://pythontutor.com/visualize.html#code=%23%20Ensaye%20con%20difententes%20valores%20para%20X,%20Y%20y%20Z%0Ad%20%3D%2025%0A%0Aif%20%28%28d%20%3E%3D%2020%29%20and%20%28d%20%3C%3D%2035%29%29%3A%20%0A%20%20%20%20t%20%3D%20int%28input%28%22Digite%20el%20tiempo%22%29%29%0A&amp;cumulative=false&amp;curInstr=0&amp;heapPrimitives=nevernest&amp;mode=display&amp;origin=opt-frontend.js&amp;py=3&amp;rawInputLstJSON=%5B%5D&amp;textReferences=false" TargetMode="External"/><Relationship Id="rId2" Type="http://schemas.openxmlformats.org/officeDocument/2006/relationships/hyperlink" Target="https://pythontutor.com/visualize.html#code=%23%20Ensaye%20con%20difententes%20valores%20para%20X,%20Y%20y%20Z%0Ad%20%3D%2025%0A%0Aif%20%28%2020%20%3C%3D%20d%20%3C%3D%2035%29%3A%20%0A%20%20%20%20t%20%3D%20int%28input%28%22Digite%20el%20tiempo%22%29%29%0A&amp;cumulative=false&amp;curInstr=0&amp;heapPrimitives=nevernest&amp;mode=display&amp;origin=opt-frontend.js&amp;py=3&amp;rawInputLstJSON=%5B%5D&amp;textReferences=false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3.png"/></Relationships>
</file>

<file path=ppt/slides/_rels/slide2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3" Type="http://schemas.openxmlformats.org/officeDocument/2006/relationships/diagramLayout" Target="../diagrams/layout2.xml"/><Relationship Id="rId7" Type="http://schemas.openxmlformats.org/officeDocument/2006/relationships/image" Target="../media/image24.png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10" Type="http://schemas.openxmlformats.org/officeDocument/2006/relationships/image" Target="../media/image15.png"/><Relationship Id="rId4" Type="http://schemas.openxmlformats.org/officeDocument/2006/relationships/diagramQuickStyle" Target="../diagrams/quickStyle2.xml"/><Relationship Id="rId9" Type="http://schemas.openxmlformats.org/officeDocument/2006/relationships/image" Target="../media/image26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jpe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jpe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jpe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hyperlink" Target="https://pythontutor.com/visualize.html#code=PRECIO_HOMBRE%20%3D%2010000%0APRECIO_MUJER%20%3D%20PRECIO_HOMBRE%20/%202%20%20%20%23%20la%20mitad%20del%20precio%20de%20los%20hombres%0Aentrada%20%3D%20PRECIO_HOMBRE%0A%0Asex%20%3D%20input%28'Digite%20el%20sexo%20%28F/M%29%3A%20'%29%0Aif%20sex%20%3D%3D%20'F'%3A%0A%20%20%20%20entrada%20%3D%20PRECIO_MUJER%0Aprint%28f'Valor%20de%20la%20entrada%3A%20%24%7Bentrada%7D'%29%0A%0A%22%22%22%0Aprint%28'Valor%20de%20la%20entrada%3A%20%24',%20entrada,%20sep%20%3D%20''%29%0Aprint%28'Valor%20de%20la%20entrada%3A%20%24'%20%2B%20str%28entrada%29%29%0A%22%22%22%0A&amp;curInstr=0&amp;mode=display&amp;origin=opt-frontend.js&amp;py=3" TargetMode="Externa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jpe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jpe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hyperlink" Target="https://pythontutor.com/visualize.html#code=SALARIO_MIN%20%3D%2020000000%0Asubsidio%20%3D%200%0AID%20%3D%20input%28%22Digite%20la%20cedula%3A%20%22%29%0Asal_base%20%3D%20int%28input%28%22Digite%20el%20salario%20base%3A%20%22%29%29%0Aif%28sal_base%20%3C%20SALARIO_MIN%29%3A%0A%20%20%20%20subsidio%20%3D%200.3*sal_base%0Asal_neto%20%3D%20sal_base%20%2B%20subsidio%0Aprint%28ID%20%2B%20'%20le%20corresponde%20como%20pago%20%24',%20%5C%0A%20%20%20%20%20%20sal_neto,%20end%20%3D%20%22%22%29%0A&amp;curInstr=0&amp;mode=display&amp;origin=opt-frontend.js&amp;py=3" TargetMode="Externa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jpeg"/><Relationship Id="rId2" Type="http://schemas.openxmlformats.org/officeDocument/2006/relationships/image" Target="../media/image28.jpe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hyperlink" Target="https://pythontutor.com/visualize.html#code=PRECIO_HOMBRE%20%3D%2010000%0APRECIO_MUJER%20%3D%20PRECIO_HOMBRE%20/%202%0A%0Asex%20%3D%20input%28'Digite%20el%20sexo%20%28F/M%29%3A%20'%29%0A%0Aif%20sex%20%3D%3D%20'F'%3A%0A%20%20valor_entrada%20%3D%20PRECIO_MUJER%0Aelse%3A%0A%20%20valor_entrada%20%3D%20PRECIO_HOMBRE%0A%0Aprint%28f'Valor%20de%20la%20entrada%3A%20%24%7Bvalor_entrada%7D'%29%0A&amp;curInstr=0&amp;mode=display&amp;origin=opt-frontend.js&amp;py=3" TargetMode="Externa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jpe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hyperlink" Target="https://pythontutor.com/visualize.html#code=SALARIO_MIN%20%3D%2020000000%0AID%20%3D%20input%28%22Digite%20la%20cedula%3A%20%22%29%0Asal_base%20%3D%20int%28input%28%22Digite%20el%20salario%20base%3A%20%22%29%29%0Aif%28sal_base%20%3C%20SALARIO_MIN%29%3A%0A%20%20%20%20subsidio%20%3D%200.3*sal_base%0Aelse%3A%0A%20%20%20%20subsidio%20%3D%200%0Asal_neto%20%3D%20sal_base%20%2B%20subsidio%0Aprint%28ID%20%2B%20'%20le%20corresponde%20como%20pago%20%24',%20%5C%0A%20%20%20%20%20%20sal_neto,%20end%20%3D%20%22%22%29%0A&amp;curInstr=0&amp;mode=display&amp;origin=opt-frontend.js&amp;py=3" TargetMode="Externa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pythontutor.com/visualize.html#code=PRECIO_HOMBRE%20%3D%2010000%0APRECIO_MUJER%20%3D%20PRECIO_HOMBRE%20/%202%0A%0Asex%20%3D%20input%28'Digite%20el%20sexo%20%28F/M%29%3A%20'%29%0A%0Aif%20sex%20%3D%3D%20'F'%3A%0A%20%20valor_entrada%20%3D%20PRECIO_MUJER%0Aelse%3A%0A%20%20valor_entrada%20%3D%20PRECIO_HOMBRE%0A%0Aprint%28f'Valor%20de%20la%20entrada%3A%20%24%7Bvalor_entrada%7D'%29%0A&amp;curInstr=0&amp;mode=display&amp;origin=opt-frontend.js&amp;py=3" TargetMode="External"/><Relationship Id="rId4" Type="http://schemas.openxmlformats.org/officeDocument/2006/relationships/hyperlink" Target="https://pythontutor.com/visualize.html#code=PRECIO_HOMBRE%20%3D%2010000%0APRECIO_MUJER%20%3D%20PRECIO_HOMBRE%20/%202%20%20%20%23%20la%20mitad%20del%20precio%20de%20los%20hombres%0Aentrada%20%3D%20PRECIO_HOMBRE%0A%0Asex%20%3D%20input%28'Digite%20el%20sexo%20%28F/M%29%3A%20'%29%0Aif%20sex%20%3D%3D%20'F'%3A%0A%20%20%20%20entrada%20%3D%20PRECIO_MUJER%0Aprint%28f'Valor%20de%20la%20entrada%3A%20%24%7Bentrada%7D'%29%0A%0A%22%22%22%0Aprint%28'Valor%20de%20la%20entrada%3A%20%24',%20entrada,%20sep%20%3D%20''%29%0Aprint%28'Valor%20de%20la%20entrada%3A%20%24'%20%2B%20str%28entrada%29%29%0A%22%22%22%0A&amp;curInstr=0&amp;mode=display&amp;origin=opt-frontend.js&amp;py=3" TargetMode="Externa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hyperlink" Target="https://pythontutor.com/visualize.html#code=SALARIO_MIN%20%3D%2020000000%0AID%20%3D%20input%28%22Digite%20la%20cedula%3A%20%22%29%0Asal_base%20%3D%20int%28input%28%22Digite%20el%20salario%20base%3A%20%22%29%29%0Aif%28sal_base%20%3C%20SALARIO_MIN%29%3A%0A%20%20%20%20subsidio%20%3D%200.3*sal_base%0Aelse%3A%0A%20%20%20%20subsidio%20%3D%200%0Asal_neto%20%3D%20sal_base%20%2B%20subsidio%0Aprint%28ID%20%2B%20'%20le%20corresponde%20como%20pago%20%24',%20%5C%0A%20%20%20%20%20%20sal_neto,%20end%20%3D%20%22%22%29%0A&amp;curInstr=0&amp;mode=display&amp;origin=opt-frontend.js&amp;py=3" TargetMode="External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pythontutor.com/visualize.html#code=SALARIO_MIN%20%3D%2020000000%0Asubsidio%20%3D%200%0AID%20%3D%20input%28%22Digite%20la%20cedula%3A%20%22%29%0Asal_base%20%3D%20int%28input%28%22Digite%20el%20salario%20base%3A%20%22%29%29%0Aif%28sal_base%20%3C%20SALARIO_MIN%29%3A%0A%20%20%20%20subsidio%20%3D%200.3*sal_base%0Asal_neto%20%3D%20sal_base%20%2B%20subsidio%0Aprint%28ID%20%2B%20'%20le%20corresponde%20como%20pago%20%24',%20%5C%0A%20%20%20%20%20%20sal_neto,%20end%20%3D%20%22%22%29%0A&amp;curInstr=0&amp;mode=display&amp;origin=opt-frontend.js&amp;py=3" TargetMode="External"/><Relationship Id="rId4" Type="http://schemas.openxmlformats.org/officeDocument/2006/relationships/image" Target="../media/image32.png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hyperlink" Target="https://pythontutor.com/visualize.html#code=MAYORIA_EDAD%20%3D%2018%0Aedad%20%3D%20int%28input%28%22Digite%20la%20edad%3A%20%22%29%29%0Aif%28edad%20%3E%3D%2018%29%3A%0A%20%20print%28%22Usted%20es%20mayor%20de%20edad%22%29%0Aelse%3A%0A%20%20print%28%22Usted%20es%20menor%20de%20edad%22%29%0A&amp;curInstr=0&amp;mode=display&amp;origin=opt-frontend.js&amp;py=3" TargetMode="Externa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hyperlink" Target="https://pythontutor.com/visualize.html#code=num1%20%3D%20int%28input%28%22Digite%20el%20primer%20numero%3A%20%22%29%29%0Anum2%20%3D%20int%28input%28%22Digite%20el%20segundo%20numero%3A%20%22%29%29%0Aif%28num1%25num2%20%3D%3D%200%29%3A%20%20%20%20%0A%20%20print%28f%22%7Bnum2%7D%20es%20divisor%20de%20%7Bnum1%7D%22%29%0Aelse%3A%20%20%20%20%0A%20%20print%28f%22%7Bnum2%7D%20no%20es%20divisor%20de%20%7Bnum1%7D%22%29%0A&amp;curInstr=0&amp;mode=display&amp;origin=opt-frontend.js&amp;py=3" TargetMode="External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8" Type="http://schemas.openxmlformats.org/officeDocument/2006/relationships/hyperlink" Target="https://realpython.com/python-conditional-statements/" TargetMode="External"/><Relationship Id="rId3" Type="http://schemas.openxmlformats.org/officeDocument/2006/relationships/hyperlink" Target="https://www.w3resource.com/index.php" TargetMode="External"/><Relationship Id="rId7" Type="http://schemas.openxmlformats.org/officeDocument/2006/relationships/hyperlink" Target="https://realpython.com/cheatsheets/python/" TargetMode="External"/><Relationship Id="rId2" Type="http://schemas.openxmlformats.org/officeDocument/2006/relationships/hyperlink" Target="https://ellibrodepython.com/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python-course.eu/" TargetMode="External"/><Relationship Id="rId5" Type="http://schemas.openxmlformats.org/officeDocument/2006/relationships/hyperlink" Target="https://curriculumresources.edu.gh/wp-content/uploads/2025/01/" TargetMode="External"/><Relationship Id="rId4" Type="http://schemas.openxmlformats.org/officeDocument/2006/relationships/hyperlink" Target="https://realpython.com/" TargetMode="External"/><Relationship Id="rId9" Type="http://schemas.openxmlformats.org/officeDocument/2006/relationships/hyperlink" Target="https://realpython.com/ref/best-practices/conditionals/" TargetMode="Externa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65909BB-6F92-48BA-A875-99E15D2253E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23528" y="1122363"/>
            <a:ext cx="8568952" cy="2387600"/>
          </a:xfrm>
        </p:spPr>
        <p:txBody>
          <a:bodyPr/>
          <a:lstStyle/>
          <a:p>
            <a:r>
              <a:rPr lang="es-CO" dirty="0"/>
              <a:t>Lógica y Representación 1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8A9999BC-7CCA-4677-B2C4-E913A7AA1FC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lang="es-CO" sz="3200" b="1" dirty="0"/>
              <a:t>Conceptos básicos de Python</a:t>
            </a:r>
          </a:p>
          <a:p>
            <a:r>
              <a:rPr lang="es-CO" dirty="0"/>
              <a:t>Ingeniería de Sistemas</a:t>
            </a:r>
          </a:p>
          <a:p>
            <a:r>
              <a:rPr lang="es-CO" dirty="0"/>
              <a:t>Universidad de Antioquia</a:t>
            </a:r>
          </a:p>
        </p:txBody>
      </p:sp>
    </p:spTree>
    <p:extLst>
      <p:ext uri="{BB962C8B-B14F-4D97-AF65-F5344CB8AC3E}">
        <p14:creationId xmlns:p14="http://schemas.microsoft.com/office/powerpoint/2010/main" val="77409753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/>
          <p:cNvSpPr>
            <a:spLocks noGrp="1"/>
          </p:cNvSpPr>
          <p:nvPr>
            <p:ph type="title"/>
          </p:nvPr>
        </p:nvSpPr>
        <p:spPr>
          <a:xfrm>
            <a:off x="251520" y="188640"/>
            <a:ext cx="8263830" cy="845334"/>
          </a:xfrm>
        </p:spPr>
        <p:txBody>
          <a:bodyPr>
            <a:normAutofit/>
          </a:bodyPr>
          <a:lstStyle/>
          <a:p>
            <a:r>
              <a:rPr lang="es-CO" sz="4000" dirty="0"/>
              <a:t>Método de Polya - Resumen</a:t>
            </a:r>
            <a:endParaRPr lang="en-US" sz="40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F1CE28-A3C7-48DC-84A2-8FB08D6123C5}" type="slidenum">
              <a:rPr lang="en-US" smtClean="0"/>
              <a:pPr/>
              <a:t>2</a:t>
            </a:fld>
            <a:endParaRPr lang="en-US" dirty="0"/>
          </a:p>
        </p:txBody>
      </p:sp>
      <p:graphicFrame>
        <p:nvGraphicFramePr>
          <p:cNvPr id="6" name="13 Diagrama">
            <a:extLst>
              <a:ext uri="{FF2B5EF4-FFF2-40B4-BE49-F238E27FC236}">
                <a16:creationId xmlns:a16="http://schemas.microsoft.com/office/drawing/2014/main" id="{D0B70736-976D-4675-A33E-9F94643ADC4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388316973"/>
              </p:ext>
            </p:extLst>
          </p:nvPr>
        </p:nvGraphicFramePr>
        <p:xfrm>
          <a:off x="3059832" y="4293096"/>
          <a:ext cx="5616624" cy="236378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pic>
        <p:nvPicPr>
          <p:cNvPr id="7" name="Picture 3">
            <a:extLst>
              <a:ext uri="{FF2B5EF4-FFF2-40B4-BE49-F238E27FC236}">
                <a16:creationId xmlns:a16="http://schemas.microsoft.com/office/drawing/2014/main" id="{9C9BD4AC-3A6A-4FE1-A719-F0D8329520F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7544" y="4404101"/>
            <a:ext cx="2200014" cy="197722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8" name="Picture 2">
            <a:extLst>
              <a:ext uri="{FF2B5EF4-FFF2-40B4-BE49-F238E27FC236}">
                <a16:creationId xmlns:a16="http://schemas.microsoft.com/office/drawing/2014/main" id="{E6732E42-F6E4-4E10-A20E-82A4BE9E856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9016" y="1223168"/>
            <a:ext cx="3214687" cy="24114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9" name="Picture 3">
            <a:extLst>
              <a:ext uri="{FF2B5EF4-FFF2-40B4-BE49-F238E27FC236}">
                <a16:creationId xmlns:a16="http://schemas.microsoft.com/office/drawing/2014/main" id="{5899AD60-028E-47EE-844F-916EBA585E1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13811" y="1248925"/>
            <a:ext cx="2857500" cy="23637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0" name="17 Flecha abajo">
            <a:extLst>
              <a:ext uri="{FF2B5EF4-FFF2-40B4-BE49-F238E27FC236}">
                <a16:creationId xmlns:a16="http://schemas.microsoft.com/office/drawing/2014/main" id="{656E38FA-A37E-460A-AF17-E0C304C611BF}"/>
              </a:ext>
            </a:extLst>
          </p:cNvPr>
          <p:cNvSpPr/>
          <p:nvPr/>
        </p:nvSpPr>
        <p:spPr>
          <a:xfrm rot="16200000">
            <a:off x="4400922" y="1973262"/>
            <a:ext cx="322262" cy="965200"/>
          </a:xfrm>
          <a:prstGeom prst="downArrow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s-CO"/>
          </a:p>
        </p:txBody>
      </p:sp>
      <p:sp>
        <p:nvSpPr>
          <p:cNvPr id="11" name="18 CuadroTexto">
            <a:extLst>
              <a:ext uri="{FF2B5EF4-FFF2-40B4-BE49-F238E27FC236}">
                <a16:creationId xmlns:a16="http://schemas.microsoft.com/office/drawing/2014/main" id="{B82BDCE9-7A82-42E8-98CF-353D30A777C0}"/>
              </a:ext>
            </a:extLst>
          </p:cNvPr>
          <p:cNvSpPr txBox="1"/>
          <p:nvPr/>
        </p:nvSpPr>
        <p:spPr>
          <a:xfrm>
            <a:off x="611560" y="3789040"/>
            <a:ext cx="3214688" cy="400110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s-CO" sz="2000" b="1" dirty="0"/>
              <a:t>PROBLEMA</a:t>
            </a:r>
            <a:endParaRPr lang="es-ES" sz="2000" dirty="0"/>
          </a:p>
        </p:txBody>
      </p:sp>
      <p:sp>
        <p:nvSpPr>
          <p:cNvPr id="12" name="19 CuadroTexto">
            <a:extLst>
              <a:ext uri="{FF2B5EF4-FFF2-40B4-BE49-F238E27FC236}">
                <a16:creationId xmlns:a16="http://schemas.microsoft.com/office/drawing/2014/main" id="{BFFC459E-C4D6-4371-ADA9-FB0FF4281118}"/>
              </a:ext>
            </a:extLst>
          </p:cNvPr>
          <p:cNvSpPr txBox="1"/>
          <p:nvPr/>
        </p:nvSpPr>
        <p:spPr>
          <a:xfrm>
            <a:off x="5148064" y="3752849"/>
            <a:ext cx="3214687" cy="400110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s-CO" sz="2000" b="1" dirty="0"/>
              <a:t>ALGORITMO</a:t>
            </a: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305840417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4 Título"/>
          <p:cNvSpPr>
            <a:spLocks noGrp="1"/>
          </p:cNvSpPr>
          <p:nvPr>
            <p:ph type="title"/>
          </p:nvPr>
        </p:nvSpPr>
        <p:spPr>
          <a:xfrm>
            <a:off x="467543" y="207926"/>
            <a:ext cx="7939037" cy="986803"/>
          </a:xfrm>
        </p:spPr>
        <p:txBody>
          <a:bodyPr>
            <a:normAutofit/>
          </a:bodyPr>
          <a:lstStyle/>
          <a:p>
            <a:r>
              <a:rPr lang="es-CO" sz="4000" dirty="0"/>
              <a:t>Tipos de datos</a:t>
            </a:r>
          </a:p>
        </p:txBody>
      </p:sp>
      <p:sp>
        <p:nvSpPr>
          <p:cNvPr id="94" name="20 Rectángulo">
            <a:extLst>
              <a:ext uri="{FF2B5EF4-FFF2-40B4-BE49-F238E27FC236}">
                <a16:creationId xmlns:a16="http://schemas.microsoft.com/office/drawing/2014/main" id="{A096846F-3438-4C77-86FA-4FD6A23B76CE}"/>
              </a:ext>
            </a:extLst>
          </p:cNvPr>
          <p:cNvSpPr/>
          <p:nvPr/>
        </p:nvSpPr>
        <p:spPr>
          <a:xfrm>
            <a:off x="3986743" y="1584972"/>
            <a:ext cx="1170513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s-CO" sz="2800" b="1" dirty="0">
                <a:solidFill>
                  <a:srgbClr val="FF0000"/>
                </a:solidFill>
                <a:latin typeface="Consolas" panose="020B0609020204030204" pitchFamily="49" charset="0"/>
              </a:rPr>
              <a:t>Datos</a:t>
            </a:r>
            <a:endParaRPr lang="es-CO" dirty="0">
              <a:solidFill>
                <a:srgbClr val="FF0000"/>
              </a:solidFill>
              <a:latin typeface="Consolas" panose="020B0609020204030204" pitchFamily="49" charset="0"/>
            </a:endParaRPr>
          </a:p>
        </p:txBody>
      </p:sp>
      <p:sp>
        <p:nvSpPr>
          <p:cNvPr id="95" name="22 Rectángulo">
            <a:extLst>
              <a:ext uri="{FF2B5EF4-FFF2-40B4-BE49-F238E27FC236}">
                <a16:creationId xmlns:a16="http://schemas.microsoft.com/office/drawing/2014/main" id="{CF4BF38B-9BAD-4CED-BA6E-95786B5EFBDC}"/>
              </a:ext>
            </a:extLst>
          </p:cNvPr>
          <p:cNvSpPr/>
          <p:nvPr/>
        </p:nvSpPr>
        <p:spPr>
          <a:xfrm>
            <a:off x="6387417" y="1237242"/>
            <a:ext cx="1595309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s-CO" sz="2000" b="1" dirty="0">
                <a:solidFill>
                  <a:schemeClr val="bg2">
                    <a:lumMod val="50000"/>
                  </a:schemeClr>
                </a:solidFill>
                <a:latin typeface="Consolas" panose="020B0609020204030204" pitchFamily="49" charset="0"/>
              </a:rPr>
              <a:t>Constantes</a:t>
            </a:r>
            <a:endParaRPr lang="es-CO" dirty="0">
              <a:solidFill>
                <a:schemeClr val="bg2">
                  <a:lumMod val="50000"/>
                </a:schemeClr>
              </a:solidFill>
              <a:latin typeface="Consolas" panose="020B0609020204030204" pitchFamily="49" charset="0"/>
            </a:endParaRPr>
          </a:p>
        </p:txBody>
      </p:sp>
      <p:sp>
        <p:nvSpPr>
          <p:cNvPr id="96" name="23 Rectángulo">
            <a:extLst>
              <a:ext uri="{FF2B5EF4-FFF2-40B4-BE49-F238E27FC236}">
                <a16:creationId xmlns:a16="http://schemas.microsoft.com/office/drawing/2014/main" id="{BB4C86C8-6506-4603-8188-AD8F171B99AF}"/>
              </a:ext>
            </a:extLst>
          </p:cNvPr>
          <p:cNvSpPr/>
          <p:nvPr/>
        </p:nvSpPr>
        <p:spPr>
          <a:xfrm>
            <a:off x="6449209" y="2115678"/>
            <a:ext cx="1454244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s-CO" sz="2000" b="1" dirty="0">
                <a:solidFill>
                  <a:schemeClr val="bg2">
                    <a:lumMod val="50000"/>
                  </a:schemeClr>
                </a:solidFill>
                <a:latin typeface="Consolas" panose="020B0609020204030204" pitchFamily="49" charset="0"/>
              </a:rPr>
              <a:t>Variables</a:t>
            </a:r>
            <a:endParaRPr lang="es-CO" dirty="0">
              <a:solidFill>
                <a:schemeClr val="bg2">
                  <a:lumMod val="50000"/>
                </a:schemeClr>
              </a:solidFill>
              <a:latin typeface="Consolas" panose="020B0609020204030204" pitchFamily="49" charset="0"/>
            </a:endParaRPr>
          </a:p>
        </p:txBody>
      </p:sp>
      <p:sp>
        <p:nvSpPr>
          <p:cNvPr id="97" name="20 Rectángulo">
            <a:extLst>
              <a:ext uri="{FF2B5EF4-FFF2-40B4-BE49-F238E27FC236}">
                <a16:creationId xmlns:a16="http://schemas.microsoft.com/office/drawing/2014/main" id="{5AC16F66-9801-4FA2-9DBA-51A815EBAF02}"/>
              </a:ext>
            </a:extLst>
          </p:cNvPr>
          <p:cNvSpPr/>
          <p:nvPr/>
        </p:nvSpPr>
        <p:spPr>
          <a:xfrm>
            <a:off x="1243544" y="3845800"/>
            <a:ext cx="1454244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s-CO" sz="2000" b="1" dirty="0">
                <a:solidFill>
                  <a:srgbClr val="0070C0"/>
                </a:solidFill>
                <a:latin typeface="Consolas" panose="020B0609020204030204" pitchFamily="49" charset="0"/>
              </a:rPr>
              <a:t>Numéricas</a:t>
            </a:r>
            <a:endParaRPr lang="es-CO" dirty="0">
              <a:solidFill>
                <a:srgbClr val="0070C0"/>
              </a:solidFill>
              <a:latin typeface="Consolas" panose="020B0609020204030204" pitchFamily="49" charset="0"/>
            </a:endParaRPr>
          </a:p>
        </p:txBody>
      </p:sp>
      <p:sp>
        <p:nvSpPr>
          <p:cNvPr id="98" name="20 Rectángulo">
            <a:extLst>
              <a:ext uri="{FF2B5EF4-FFF2-40B4-BE49-F238E27FC236}">
                <a16:creationId xmlns:a16="http://schemas.microsoft.com/office/drawing/2014/main" id="{C0250611-66C4-4052-B011-A6555F313DC7}"/>
              </a:ext>
            </a:extLst>
          </p:cNvPr>
          <p:cNvSpPr/>
          <p:nvPr/>
        </p:nvSpPr>
        <p:spPr>
          <a:xfrm>
            <a:off x="3986743" y="3836922"/>
            <a:ext cx="1172116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s-CO" sz="2000" b="1" dirty="0">
                <a:solidFill>
                  <a:srgbClr val="00B050"/>
                </a:solidFill>
                <a:latin typeface="Consolas" panose="020B0609020204030204" pitchFamily="49" charset="0"/>
              </a:rPr>
              <a:t>Lógicas</a:t>
            </a:r>
            <a:endParaRPr lang="es-CO" dirty="0">
              <a:solidFill>
                <a:srgbClr val="00B050"/>
              </a:solidFill>
              <a:latin typeface="Consolas" panose="020B0609020204030204" pitchFamily="49" charset="0"/>
            </a:endParaRPr>
          </a:p>
        </p:txBody>
      </p:sp>
      <p:sp>
        <p:nvSpPr>
          <p:cNvPr id="99" name="20 Rectángulo">
            <a:extLst>
              <a:ext uri="{FF2B5EF4-FFF2-40B4-BE49-F238E27FC236}">
                <a16:creationId xmlns:a16="http://schemas.microsoft.com/office/drawing/2014/main" id="{7FC2CFE3-EC8B-4DD6-BA08-6D8933CF2918}"/>
              </a:ext>
            </a:extLst>
          </p:cNvPr>
          <p:cNvSpPr/>
          <p:nvPr/>
        </p:nvSpPr>
        <p:spPr>
          <a:xfrm>
            <a:off x="5868144" y="3807767"/>
            <a:ext cx="2018501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s-CO" sz="2000" b="1" dirty="0">
                <a:solidFill>
                  <a:schemeClr val="accent6"/>
                </a:solidFill>
                <a:latin typeface="Consolas" panose="020B0609020204030204" pitchFamily="49" charset="0"/>
              </a:rPr>
              <a:t>Alfanuméricas</a:t>
            </a:r>
            <a:endParaRPr lang="es-CO" dirty="0">
              <a:solidFill>
                <a:schemeClr val="accent6"/>
              </a:solidFill>
              <a:latin typeface="Consolas" panose="020B0609020204030204" pitchFamily="49" charset="0"/>
            </a:endParaRPr>
          </a:p>
        </p:txBody>
      </p:sp>
      <p:sp>
        <p:nvSpPr>
          <p:cNvPr id="100" name="20 Rectángulo">
            <a:extLst>
              <a:ext uri="{FF2B5EF4-FFF2-40B4-BE49-F238E27FC236}">
                <a16:creationId xmlns:a16="http://schemas.microsoft.com/office/drawing/2014/main" id="{550D1A5A-7AFE-4DB9-A612-FE0E19807FE6}"/>
              </a:ext>
            </a:extLst>
          </p:cNvPr>
          <p:cNvSpPr/>
          <p:nvPr/>
        </p:nvSpPr>
        <p:spPr>
          <a:xfrm>
            <a:off x="531903" y="5333146"/>
            <a:ext cx="1172116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s-CO" sz="2000" b="1" dirty="0">
                <a:solidFill>
                  <a:srgbClr val="0070C0"/>
                </a:solidFill>
                <a:latin typeface="Consolas" panose="020B0609020204030204" pitchFamily="49" charset="0"/>
              </a:rPr>
              <a:t>Enteros</a:t>
            </a:r>
            <a:endParaRPr lang="es-CO" dirty="0">
              <a:solidFill>
                <a:srgbClr val="0070C0"/>
              </a:solidFill>
              <a:latin typeface="Consolas" panose="020B0609020204030204" pitchFamily="49" charset="0"/>
            </a:endParaRPr>
          </a:p>
        </p:txBody>
      </p:sp>
      <p:sp>
        <p:nvSpPr>
          <p:cNvPr id="101" name="20 Rectángulo">
            <a:extLst>
              <a:ext uri="{FF2B5EF4-FFF2-40B4-BE49-F238E27FC236}">
                <a16:creationId xmlns:a16="http://schemas.microsoft.com/office/drawing/2014/main" id="{DC67C832-060F-4D04-864C-598F346A110F}"/>
              </a:ext>
            </a:extLst>
          </p:cNvPr>
          <p:cNvSpPr/>
          <p:nvPr/>
        </p:nvSpPr>
        <p:spPr>
          <a:xfrm>
            <a:off x="2265213" y="5333146"/>
            <a:ext cx="1031051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s-CO" sz="2000" b="1" dirty="0">
                <a:solidFill>
                  <a:srgbClr val="0070C0"/>
                </a:solidFill>
                <a:latin typeface="Consolas" panose="020B0609020204030204" pitchFamily="49" charset="0"/>
              </a:rPr>
              <a:t>Reales</a:t>
            </a:r>
            <a:endParaRPr lang="es-CO" dirty="0">
              <a:solidFill>
                <a:srgbClr val="0070C0"/>
              </a:solidFill>
              <a:latin typeface="Consolas" panose="020B0609020204030204" pitchFamily="49" charset="0"/>
            </a:endParaRPr>
          </a:p>
        </p:txBody>
      </p:sp>
      <p:sp>
        <p:nvSpPr>
          <p:cNvPr id="102" name="20 Rectángulo">
            <a:extLst>
              <a:ext uri="{FF2B5EF4-FFF2-40B4-BE49-F238E27FC236}">
                <a16:creationId xmlns:a16="http://schemas.microsoft.com/office/drawing/2014/main" id="{FD1813BC-F91F-4E9B-B86A-F5E97A43CD3C}"/>
              </a:ext>
            </a:extLst>
          </p:cNvPr>
          <p:cNvSpPr/>
          <p:nvPr/>
        </p:nvSpPr>
        <p:spPr>
          <a:xfrm>
            <a:off x="3827434" y="5366663"/>
            <a:ext cx="1454244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s-CO" sz="2000" b="1" dirty="0">
                <a:solidFill>
                  <a:srgbClr val="00B050"/>
                </a:solidFill>
                <a:latin typeface="Consolas" panose="020B0609020204030204" pitchFamily="49" charset="0"/>
              </a:rPr>
              <a:t>Booleanas</a:t>
            </a:r>
            <a:endParaRPr lang="es-CO" dirty="0">
              <a:solidFill>
                <a:srgbClr val="00B050"/>
              </a:solidFill>
              <a:latin typeface="Consolas" panose="020B0609020204030204" pitchFamily="49" charset="0"/>
            </a:endParaRPr>
          </a:p>
        </p:txBody>
      </p:sp>
      <p:sp>
        <p:nvSpPr>
          <p:cNvPr id="103" name="20 Rectángulo">
            <a:extLst>
              <a:ext uri="{FF2B5EF4-FFF2-40B4-BE49-F238E27FC236}">
                <a16:creationId xmlns:a16="http://schemas.microsoft.com/office/drawing/2014/main" id="{B79A8C91-AD90-4BE2-9CD0-156F025C81FE}"/>
              </a:ext>
            </a:extLst>
          </p:cNvPr>
          <p:cNvSpPr/>
          <p:nvPr/>
        </p:nvSpPr>
        <p:spPr>
          <a:xfrm>
            <a:off x="5394161" y="5355517"/>
            <a:ext cx="1313180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s-CO" sz="2000" b="1" dirty="0">
                <a:solidFill>
                  <a:schemeClr val="accent6"/>
                </a:solidFill>
                <a:latin typeface="Consolas" panose="020B0609020204030204" pitchFamily="49" charset="0"/>
              </a:rPr>
              <a:t>Carácter</a:t>
            </a:r>
            <a:endParaRPr lang="es-CO" dirty="0">
              <a:solidFill>
                <a:schemeClr val="accent6"/>
              </a:solidFill>
              <a:latin typeface="Consolas" panose="020B0609020204030204" pitchFamily="49" charset="0"/>
            </a:endParaRPr>
          </a:p>
        </p:txBody>
      </p:sp>
      <p:sp>
        <p:nvSpPr>
          <p:cNvPr id="104" name="20 Rectángulo">
            <a:extLst>
              <a:ext uri="{FF2B5EF4-FFF2-40B4-BE49-F238E27FC236}">
                <a16:creationId xmlns:a16="http://schemas.microsoft.com/office/drawing/2014/main" id="{48EE939B-C224-4A41-A438-0D1A99A6450B}"/>
              </a:ext>
            </a:extLst>
          </p:cNvPr>
          <p:cNvSpPr/>
          <p:nvPr/>
        </p:nvSpPr>
        <p:spPr>
          <a:xfrm>
            <a:off x="7229632" y="5342243"/>
            <a:ext cx="1031051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s-CO" sz="2000" b="1" dirty="0">
                <a:solidFill>
                  <a:schemeClr val="accent6"/>
                </a:solidFill>
                <a:latin typeface="Consolas" panose="020B0609020204030204" pitchFamily="49" charset="0"/>
              </a:rPr>
              <a:t>Cadena</a:t>
            </a:r>
            <a:endParaRPr lang="es-CO" dirty="0">
              <a:solidFill>
                <a:schemeClr val="accent6"/>
              </a:solidFill>
              <a:latin typeface="Consolas" panose="020B0609020204030204" pitchFamily="49" charset="0"/>
            </a:endParaRPr>
          </a:p>
        </p:txBody>
      </p:sp>
      <p:grpSp>
        <p:nvGrpSpPr>
          <p:cNvPr id="105" name="Grupo 104">
            <a:extLst>
              <a:ext uri="{FF2B5EF4-FFF2-40B4-BE49-F238E27FC236}">
                <a16:creationId xmlns:a16="http://schemas.microsoft.com/office/drawing/2014/main" id="{55D80EED-E1EE-479D-978F-FFF8D452A0BC}"/>
              </a:ext>
            </a:extLst>
          </p:cNvPr>
          <p:cNvGrpSpPr/>
          <p:nvPr/>
        </p:nvGrpSpPr>
        <p:grpSpPr>
          <a:xfrm>
            <a:off x="5143794" y="1423572"/>
            <a:ext cx="1192678" cy="894221"/>
            <a:chOff x="5239300" y="2038253"/>
            <a:chExt cx="1192678" cy="894221"/>
          </a:xfrm>
        </p:grpSpPr>
        <p:cxnSp>
          <p:nvCxnSpPr>
            <p:cNvPr id="106" name="28 Conector recto de flecha">
              <a:extLst>
                <a:ext uri="{FF2B5EF4-FFF2-40B4-BE49-F238E27FC236}">
                  <a16:creationId xmlns:a16="http://schemas.microsoft.com/office/drawing/2014/main" id="{75F29BFF-CB88-44AF-ABE9-273A05DA290F}"/>
                </a:ext>
              </a:extLst>
            </p:cNvPr>
            <p:cNvCxnSpPr>
              <a:cxnSpLocks/>
            </p:cNvCxnSpPr>
            <p:nvPr/>
          </p:nvCxnSpPr>
          <p:spPr>
            <a:xfrm>
              <a:off x="5643636" y="2038253"/>
              <a:ext cx="788342" cy="0"/>
            </a:xfrm>
            <a:prstGeom prst="straightConnector1">
              <a:avLst/>
            </a:prstGeom>
            <a:ln w="28575">
              <a:solidFill>
                <a:schemeClr val="bg1">
                  <a:lumMod val="50000"/>
                </a:schemeClr>
              </a:solidFill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7" name="28 Conector recto de flecha">
              <a:extLst>
                <a:ext uri="{FF2B5EF4-FFF2-40B4-BE49-F238E27FC236}">
                  <a16:creationId xmlns:a16="http://schemas.microsoft.com/office/drawing/2014/main" id="{F8FDBDD8-ECEE-458A-9BA6-7BB9C202C64B}"/>
                </a:ext>
              </a:extLst>
            </p:cNvPr>
            <p:cNvCxnSpPr>
              <a:cxnSpLocks/>
            </p:cNvCxnSpPr>
            <p:nvPr/>
          </p:nvCxnSpPr>
          <p:spPr>
            <a:xfrm>
              <a:off x="5640249" y="2932474"/>
              <a:ext cx="788342" cy="0"/>
            </a:xfrm>
            <a:prstGeom prst="straightConnector1">
              <a:avLst/>
            </a:prstGeom>
            <a:ln w="28575">
              <a:solidFill>
                <a:schemeClr val="bg1">
                  <a:lumMod val="50000"/>
                </a:schemeClr>
              </a:solidFill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8" name="Conector recto 107">
              <a:extLst>
                <a:ext uri="{FF2B5EF4-FFF2-40B4-BE49-F238E27FC236}">
                  <a16:creationId xmlns:a16="http://schemas.microsoft.com/office/drawing/2014/main" id="{B57BED10-25BB-491B-8BE7-88D0486A7BE2}"/>
                </a:ext>
              </a:extLst>
            </p:cNvPr>
            <p:cNvCxnSpPr/>
            <p:nvPr/>
          </p:nvCxnSpPr>
          <p:spPr>
            <a:xfrm>
              <a:off x="5640249" y="2038253"/>
              <a:ext cx="0" cy="892161"/>
            </a:xfrm>
            <a:prstGeom prst="line">
              <a:avLst/>
            </a:prstGeom>
            <a:ln w="28575">
              <a:solidFill>
                <a:schemeClr val="bg1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9" name="Conector recto 108">
              <a:extLst>
                <a:ext uri="{FF2B5EF4-FFF2-40B4-BE49-F238E27FC236}">
                  <a16:creationId xmlns:a16="http://schemas.microsoft.com/office/drawing/2014/main" id="{8274D273-2866-4ACD-B543-32018D6C0EA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239300" y="2484333"/>
              <a:ext cx="400949" cy="0"/>
            </a:xfrm>
            <a:prstGeom prst="line">
              <a:avLst/>
            </a:prstGeom>
            <a:ln w="28575">
              <a:solidFill>
                <a:schemeClr val="bg1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11" name="28 Conector recto de flecha">
            <a:extLst>
              <a:ext uri="{FF2B5EF4-FFF2-40B4-BE49-F238E27FC236}">
                <a16:creationId xmlns:a16="http://schemas.microsoft.com/office/drawing/2014/main" id="{7C1434E0-B3EC-4146-9D10-23ECC667E60B}"/>
              </a:ext>
            </a:extLst>
          </p:cNvPr>
          <p:cNvCxnSpPr>
            <a:cxnSpLocks/>
            <a:stCxn id="94" idx="2"/>
            <a:endCxn id="98" idx="0"/>
          </p:cNvCxnSpPr>
          <p:nvPr/>
        </p:nvCxnSpPr>
        <p:spPr>
          <a:xfrm>
            <a:off x="4572000" y="2108192"/>
            <a:ext cx="801" cy="1728730"/>
          </a:xfrm>
          <a:prstGeom prst="straightConnector1">
            <a:avLst/>
          </a:prstGeom>
          <a:ln w="28575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28 Conector recto de flecha">
            <a:extLst>
              <a:ext uri="{FF2B5EF4-FFF2-40B4-BE49-F238E27FC236}">
                <a16:creationId xmlns:a16="http://schemas.microsoft.com/office/drawing/2014/main" id="{4C8C2859-8F4F-4321-A71C-E687047C4B5D}"/>
              </a:ext>
            </a:extLst>
          </p:cNvPr>
          <p:cNvCxnSpPr>
            <a:cxnSpLocks/>
            <a:endCxn id="97" idx="0"/>
          </p:cNvCxnSpPr>
          <p:nvPr/>
        </p:nvCxnSpPr>
        <p:spPr>
          <a:xfrm>
            <a:off x="1970666" y="3314924"/>
            <a:ext cx="0" cy="530876"/>
          </a:xfrm>
          <a:prstGeom prst="straightConnector1">
            <a:avLst/>
          </a:prstGeom>
          <a:ln w="28575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28 Conector recto de flecha">
            <a:extLst>
              <a:ext uri="{FF2B5EF4-FFF2-40B4-BE49-F238E27FC236}">
                <a16:creationId xmlns:a16="http://schemas.microsoft.com/office/drawing/2014/main" id="{DC800D34-19F6-461F-9066-B8AB7B81AEC7}"/>
              </a:ext>
            </a:extLst>
          </p:cNvPr>
          <p:cNvCxnSpPr>
            <a:cxnSpLocks/>
            <a:endCxn id="99" idx="0"/>
          </p:cNvCxnSpPr>
          <p:nvPr/>
        </p:nvCxnSpPr>
        <p:spPr>
          <a:xfrm>
            <a:off x="6877050" y="3327400"/>
            <a:ext cx="345" cy="480367"/>
          </a:xfrm>
          <a:prstGeom prst="straightConnector1">
            <a:avLst/>
          </a:prstGeom>
          <a:ln w="28575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Conector recto 113">
            <a:extLst>
              <a:ext uri="{FF2B5EF4-FFF2-40B4-BE49-F238E27FC236}">
                <a16:creationId xmlns:a16="http://schemas.microsoft.com/office/drawing/2014/main" id="{73675F1C-1AC8-457C-9BAB-64583941FAEC}"/>
              </a:ext>
            </a:extLst>
          </p:cNvPr>
          <p:cNvCxnSpPr>
            <a:cxnSpLocks/>
          </p:cNvCxnSpPr>
          <p:nvPr/>
        </p:nvCxnSpPr>
        <p:spPr>
          <a:xfrm flipH="1" flipV="1">
            <a:off x="1965960" y="3323569"/>
            <a:ext cx="4913144" cy="3653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5" name="28 Conector recto de flecha">
            <a:extLst>
              <a:ext uri="{FF2B5EF4-FFF2-40B4-BE49-F238E27FC236}">
                <a16:creationId xmlns:a16="http://schemas.microsoft.com/office/drawing/2014/main" id="{6D112693-1348-4D70-85C9-E7B1463232D0}"/>
              </a:ext>
            </a:extLst>
          </p:cNvPr>
          <p:cNvCxnSpPr>
            <a:cxnSpLocks/>
          </p:cNvCxnSpPr>
          <p:nvPr/>
        </p:nvCxnSpPr>
        <p:spPr>
          <a:xfrm flipH="1">
            <a:off x="4564380" y="4293096"/>
            <a:ext cx="5276" cy="1056195"/>
          </a:xfrm>
          <a:prstGeom prst="straightConnector1">
            <a:avLst/>
          </a:prstGeom>
          <a:ln w="28575">
            <a:solidFill>
              <a:srgbClr val="00B05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16" name="Grupo 115">
            <a:extLst>
              <a:ext uri="{FF2B5EF4-FFF2-40B4-BE49-F238E27FC236}">
                <a16:creationId xmlns:a16="http://schemas.microsoft.com/office/drawing/2014/main" id="{2B6E00DD-1FCC-4B2D-8933-2FE7A4BE2340}"/>
              </a:ext>
            </a:extLst>
          </p:cNvPr>
          <p:cNvGrpSpPr/>
          <p:nvPr/>
        </p:nvGrpSpPr>
        <p:grpSpPr>
          <a:xfrm>
            <a:off x="1117962" y="4296857"/>
            <a:ext cx="1687184" cy="1051529"/>
            <a:chOff x="1117962" y="4849084"/>
            <a:chExt cx="1687184" cy="1051529"/>
          </a:xfrm>
        </p:grpSpPr>
        <p:cxnSp>
          <p:nvCxnSpPr>
            <p:cNvPr id="117" name="28 Conector recto de flecha">
              <a:extLst>
                <a:ext uri="{FF2B5EF4-FFF2-40B4-BE49-F238E27FC236}">
                  <a16:creationId xmlns:a16="http://schemas.microsoft.com/office/drawing/2014/main" id="{816BC0DF-205A-4A52-9116-381BEFDB89EC}"/>
                </a:ext>
              </a:extLst>
            </p:cNvPr>
            <p:cNvCxnSpPr>
              <a:cxnSpLocks/>
            </p:cNvCxnSpPr>
            <p:nvPr/>
          </p:nvCxnSpPr>
          <p:spPr>
            <a:xfrm>
              <a:off x="2797526" y="5314357"/>
              <a:ext cx="0" cy="586256"/>
            </a:xfrm>
            <a:prstGeom prst="straightConnector1">
              <a:avLst/>
            </a:prstGeom>
            <a:ln w="28575">
              <a:solidFill>
                <a:srgbClr val="0070C0"/>
              </a:solidFill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8" name="28 Conector recto de flecha">
              <a:extLst>
                <a:ext uri="{FF2B5EF4-FFF2-40B4-BE49-F238E27FC236}">
                  <a16:creationId xmlns:a16="http://schemas.microsoft.com/office/drawing/2014/main" id="{27A81779-4944-4BD9-8DB2-CF8B7F38AC4F}"/>
                </a:ext>
              </a:extLst>
            </p:cNvPr>
            <p:cNvCxnSpPr>
              <a:cxnSpLocks/>
            </p:cNvCxnSpPr>
            <p:nvPr/>
          </p:nvCxnSpPr>
          <p:spPr>
            <a:xfrm>
              <a:off x="1133201" y="5313522"/>
              <a:ext cx="0" cy="586256"/>
            </a:xfrm>
            <a:prstGeom prst="straightConnector1">
              <a:avLst/>
            </a:prstGeom>
            <a:ln w="28575">
              <a:solidFill>
                <a:srgbClr val="0070C0"/>
              </a:solidFill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9" name="Conector recto 118">
              <a:extLst>
                <a:ext uri="{FF2B5EF4-FFF2-40B4-BE49-F238E27FC236}">
                  <a16:creationId xmlns:a16="http://schemas.microsoft.com/office/drawing/2014/main" id="{D10FB6E8-6AED-4DC4-9241-438151B8AE9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17962" y="5327343"/>
              <a:ext cx="1687184" cy="0"/>
            </a:xfrm>
            <a:prstGeom prst="line">
              <a:avLst/>
            </a:prstGeom>
            <a:ln w="28575">
              <a:solidFill>
                <a:srgbClr val="0070C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0" name="Conector recto 119">
              <a:extLst>
                <a:ext uri="{FF2B5EF4-FFF2-40B4-BE49-F238E27FC236}">
                  <a16:creationId xmlns:a16="http://schemas.microsoft.com/office/drawing/2014/main" id="{3A2932B2-F81A-4D31-8CAD-C6D28195D02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970666" y="4849084"/>
              <a:ext cx="0" cy="478259"/>
            </a:xfrm>
            <a:prstGeom prst="line">
              <a:avLst/>
            </a:prstGeom>
            <a:ln w="28575">
              <a:solidFill>
                <a:srgbClr val="0070C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1" name="Grupo 120">
            <a:extLst>
              <a:ext uri="{FF2B5EF4-FFF2-40B4-BE49-F238E27FC236}">
                <a16:creationId xmlns:a16="http://schemas.microsoft.com/office/drawing/2014/main" id="{140C5907-1B51-4CC6-82F1-B1145F55D9B4}"/>
              </a:ext>
            </a:extLst>
          </p:cNvPr>
          <p:cNvGrpSpPr/>
          <p:nvPr/>
        </p:nvGrpSpPr>
        <p:grpSpPr>
          <a:xfrm>
            <a:off x="6035512" y="4293096"/>
            <a:ext cx="1687184" cy="1051529"/>
            <a:chOff x="1117962" y="4849084"/>
            <a:chExt cx="1687184" cy="1051529"/>
          </a:xfrm>
        </p:grpSpPr>
        <p:cxnSp>
          <p:nvCxnSpPr>
            <p:cNvPr id="122" name="28 Conector recto de flecha">
              <a:extLst>
                <a:ext uri="{FF2B5EF4-FFF2-40B4-BE49-F238E27FC236}">
                  <a16:creationId xmlns:a16="http://schemas.microsoft.com/office/drawing/2014/main" id="{C1FF61F8-5752-40E2-8E31-A859EFE6EC96}"/>
                </a:ext>
              </a:extLst>
            </p:cNvPr>
            <p:cNvCxnSpPr>
              <a:cxnSpLocks/>
            </p:cNvCxnSpPr>
            <p:nvPr/>
          </p:nvCxnSpPr>
          <p:spPr>
            <a:xfrm>
              <a:off x="2797526" y="5314357"/>
              <a:ext cx="0" cy="586256"/>
            </a:xfrm>
            <a:prstGeom prst="straightConnector1">
              <a:avLst/>
            </a:prstGeom>
            <a:ln w="28575">
              <a:solidFill>
                <a:schemeClr val="accent6"/>
              </a:solidFill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3" name="28 Conector recto de flecha">
              <a:extLst>
                <a:ext uri="{FF2B5EF4-FFF2-40B4-BE49-F238E27FC236}">
                  <a16:creationId xmlns:a16="http://schemas.microsoft.com/office/drawing/2014/main" id="{F3B8BFC0-D335-4C86-8B6C-15431CABBA7C}"/>
                </a:ext>
              </a:extLst>
            </p:cNvPr>
            <p:cNvCxnSpPr>
              <a:cxnSpLocks/>
            </p:cNvCxnSpPr>
            <p:nvPr/>
          </p:nvCxnSpPr>
          <p:spPr>
            <a:xfrm>
              <a:off x="1133201" y="5313522"/>
              <a:ext cx="0" cy="586256"/>
            </a:xfrm>
            <a:prstGeom prst="straightConnector1">
              <a:avLst/>
            </a:prstGeom>
            <a:ln w="28575">
              <a:solidFill>
                <a:schemeClr val="accent6"/>
              </a:solidFill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4" name="Conector recto 123">
              <a:extLst>
                <a:ext uri="{FF2B5EF4-FFF2-40B4-BE49-F238E27FC236}">
                  <a16:creationId xmlns:a16="http://schemas.microsoft.com/office/drawing/2014/main" id="{9C9B65B4-F33E-4D3C-A802-516C670A1D2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17962" y="5327343"/>
              <a:ext cx="1687184" cy="0"/>
            </a:xfrm>
            <a:prstGeom prst="line">
              <a:avLst/>
            </a:prstGeom>
            <a:ln w="28575"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5" name="Conector recto 124">
              <a:extLst>
                <a:ext uri="{FF2B5EF4-FFF2-40B4-BE49-F238E27FC236}">
                  <a16:creationId xmlns:a16="http://schemas.microsoft.com/office/drawing/2014/main" id="{8FF9C277-29D5-4A2A-A772-1D34923D701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970666" y="4849084"/>
              <a:ext cx="0" cy="478259"/>
            </a:xfrm>
            <a:prstGeom prst="line">
              <a:avLst/>
            </a:prstGeom>
            <a:ln w="28575"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29615957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4 Título"/>
          <p:cNvSpPr>
            <a:spLocks noGrp="1"/>
          </p:cNvSpPr>
          <p:nvPr>
            <p:ph type="title"/>
          </p:nvPr>
        </p:nvSpPr>
        <p:spPr>
          <a:xfrm>
            <a:off x="467543" y="207926"/>
            <a:ext cx="7939037" cy="986803"/>
          </a:xfrm>
        </p:spPr>
        <p:txBody>
          <a:bodyPr/>
          <a:lstStyle/>
          <a:p>
            <a:r>
              <a:rPr lang="es-CO" sz="3200" dirty="0"/>
              <a:t>Entrada, procesamiento y salida</a:t>
            </a:r>
          </a:p>
        </p:txBody>
      </p:sp>
      <p:sp>
        <p:nvSpPr>
          <p:cNvPr id="2" name="1 Marcador de contenido"/>
          <p:cNvSpPr>
            <a:spLocks noGrp="1"/>
          </p:cNvSpPr>
          <p:nvPr>
            <p:ph idx="1"/>
          </p:nvPr>
        </p:nvSpPr>
        <p:spPr>
          <a:xfrm>
            <a:off x="435471" y="1238602"/>
            <a:ext cx="7886700" cy="172929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s-MX" sz="2200" dirty="0"/>
              <a:t>Los programas de computadora realizan estos tres pasos:  </a:t>
            </a:r>
          </a:p>
          <a:p>
            <a:pPr marL="457200" indent="-457200">
              <a:buFont typeface="+mj-lt"/>
              <a:buAutoNum type="arabicPeriod"/>
            </a:pPr>
            <a:r>
              <a:rPr lang="es-MX" sz="2000" dirty="0"/>
              <a:t>Se recibe la </a:t>
            </a:r>
            <a:r>
              <a:rPr lang="es-MX" sz="2000" b="1" dirty="0"/>
              <a:t>entrada</a:t>
            </a:r>
            <a:r>
              <a:rPr lang="es-MX" sz="2000" dirty="0"/>
              <a:t>.  </a:t>
            </a:r>
          </a:p>
          <a:p>
            <a:pPr marL="457200" indent="-457200">
              <a:buFont typeface="+mj-lt"/>
              <a:buAutoNum type="arabicPeriod"/>
            </a:pPr>
            <a:r>
              <a:rPr lang="es-MX" sz="2000" dirty="0"/>
              <a:t>Se realiza un </a:t>
            </a:r>
            <a:r>
              <a:rPr lang="es-MX" sz="2000" b="1" dirty="0"/>
              <a:t>proceso</a:t>
            </a:r>
            <a:r>
              <a:rPr lang="es-MX" sz="2000" dirty="0"/>
              <a:t> sobre la entrada.  </a:t>
            </a:r>
          </a:p>
          <a:p>
            <a:pPr marL="457200" indent="-457200">
              <a:buFont typeface="+mj-lt"/>
              <a:buAutoNum type="arabicPeriod"/>
            </a:pPr>
            <a:r>
              <a:rPr lang="es-MX" sz="2000" dirty="0"/>
              <a:t>Se genera la </a:t>
            </a:r>
            <a:r>
              <a:rPr lang="es-MX" sz="2000" b="1" dirty="0"/>
              <a:t>salida</a:t>
            </a:r>
            <a:endParaRPr lang="es-CO" sz="2000" b="1" dirty="0"/>
          </a:p>
        </p:txBody>
      </p:sp>
      <p:grpSp>
        <p:nvGrpSpPr>
          <p:cNvPr id="15" name="14 Grupo"/>
          <p:cNvGrpSpPr/>
          <p:nvPr/>
        </p:nvGrpSpPr>
        <p:grpSpPr>
          <a:xfrm>
            <a:off x="1589010" y="4102449"/>
            <a:ext cx="5715000" cy="838200"/>
            <a:chOff x="1676400" y="4495800"/>
            <a:chExt cx="5715000" cy="838200"/>
          </a:xfrm>
        </p:grpSpPr>
        <p:sp>
          <p:nvSpPr>
            <p:cNvPr id="10" name="9 Rectángulo"/>
            <p:cNvSpPr/>
            <p:nvPr/>
          </p:nvSpPr>
          <p:spPr>
            <a:xfrm>
              <a:off x="1676400" y="4648200"/>
              <a:ext cx="1447800" cy="533400"/>
            </a:xfrm>
            <a:prstGeom prst="rect">
              <a:avLst/>
            </a:prstGeom>
            <a:noFill/>
            <a:ln>
              <a:noFill/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CO" sz="2000" b="1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Consolas" panose="020B0609020204030204" pitchFamily="49" charset="0"/>
                </a:rPr>
                <a:t>Inputs</a:t>
              </a:r>
              <a:endParaRPr lang="es-CO" b="1" dirty="0">
                <a:solidFill>
                  <a:schemeClr val="tx1">
                    <a:lumMod val="50000"/>
                    <a:lumOff val="50000"/>
                  </a:schemeClr>
                </a:solidFill>
                <a:latin typeface="Consolas" panose="020B0609020204030204" pitchFamily="49" charset="0"/>
              </a:endParaRPr>
            </a:p>
          </p:txBody>
        </p:sp>
        <p:sp>
          <p:nvSpPr>
            <p:cNvPr id="11" name="10 Rectángulo"/>
            <p:cNvSpPr/>
            <p:nvPr/>
          </p:nvSpPr>
          <p:spPr>
            <a:xfrm>
              <a:off x="3810000" y="4495800"/>
              <a:ext cx="1447800" cy="83820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CO" sz="2400" b="1" dirty="0">
                  <a:latin typeface="Consolas" panose="020B0609020204030204" pitchFamily="49" charset="0"/>
                </a:rPr>
                <a:t>Process</a:t>
              </a:r>
              <a:endParaRPr lang="es-CO" b="1" dirty="0">
                <a:latin typeface="Consolas" panose="020B0609020204030204" pitchFamily="49" charset="0"/>
              </a:endParaRPr>
            </a:p>
          </p:txBody>
        </p:sp>
        <p:sp>
          <p:nvSpPr>
            <p:cNvPr id="12" name="11 Rectángulo"/>
            <p:cNvSpPr/>
            <p:nvPr/>
          </p:nvSpPr>
          <p:spPr>
            <a:xfrm>
              <a:off x="5943600" y="4648200"/>
              <a:ext cx="1447800" cy="533400"/>
            </a:xfrm>
            <a:prstGeom prst="rect">
              <a:avLst/>
            </a:prstGeom>
            <a:noFill/>
            <a:ln>
              <a:noFill/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CO" sz="2000" b="1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Consolas" panose="020B0609020204030204" pitchFamily="49" charset="0"/>
                </a:rPr>
                <a:t>Outputs</a:t>
              </a:r>
              <a:endParaRPr lang="es-CO" sz="16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Consolas" panose="020B0609020204030204" pitchFamily="49" charset="0"/>
              </a:endParaRPr>
            </a:p>
          </p:txBody>
        </p:sp>
        <p:sp>
          <p:nvSpPr>
            <p:cNvPr id="13" name="12 Flecha derecha"/>
            <p:cNvSpPr/>
            <p:nvPr/>
          </p:nvSpPr>
          <p:spPr>
            <a:xfrm>
              <a:off x="3124200" y="4800600"/>
              <a:ext cx="685800" cy="228600"/>
            </a:xfrm>
            <a:prstGeom prst="rightArrow">
              <a:avLst/>
            </a:prstGeom>
            <a:solidFill>
              <a:schemeClr val="bg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/>
            </a:p>
          </p:txBody>
        </p:sp>
        <p:sp>
          <p:nvSpPr>
            <p:cNvPr id="14" name="13 Flecha derecha"/>
            <p:cNvSpPr/>
            <p:nvPr/>
          </p:nvSpPr>
          <p:spPr>
            <a:xfrm>
              <a:off x="5257800" y="4800600"/>
              <a:ext cx="685800" cy="228600"/>
            </a:xfrm>
            <a:prstGeom prst="rightArrow">
              <a:avLst/>
            </a:prstGeom>
            <a:solidFill>
              <a:schemeClr val="bg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/>
            </a:p>
          </p:txBody>
        </p:sp>
      </p:grpSp>
      <p:pic>
        <p:nvPicPr>
          <p:cNvPr id="16" name="Picture 2" descr="http://www.jegsworks.com/lessons/computerbasics/lesson3/keyboard-white.png">
            <a:extLst>
              <a:ext uri="{FF2B5EF4-FFF2-40B4-BE49-F238E27FC236}">
                <a16:creationId xmlns:a16="http://schemas.microsoft.com/office/drawing/2014/main" id="{CA5F3EB8-A827-4D08-B3D4-BC888566173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60116" y="3256265"/>
            <a:ext cx="1365108" cy="4322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" name="Picture 2" descr="http://t2.gstatic.com/images?q=tbn:ANd9GcS51PGLkp34nPs-LewfkgAfjdZsyder21fNGFoRiZ_A6x7txo3e">
            <a:extLst>
              <a:ext uri="{FF2B5EF4-FFF2-40B4-BE49-F238E27FC236}">
                <a16:creationId xmlns:a16="http://schemas.microsoft.com/office/drawing/2014/main" id="{BB2AD59A-355A-4EC4-BD61-76D458710B8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59382" y="3198200"/>
            <a:ext cx="841456" cy="6900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8" name="Picture 2" descr="Settings Icon, Gear Icon Vector, Gear Symbol Illustration. for Web Sites  Our Mobile. Stock Illustration - Illustration of business, wheel: 151065188">
            <a:extLst>
              <a:ext uri="{FF2B5EF4-FFF2-40B4-BE49-F238E27FC236}">
                <a16:creationId xmlns:a16="http://schemas.microsoft.com/office/drawing/2014/main" id="{AC519BCB-3AA9-4258-9707-83D241823FB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33143" y="5159353"/>
            <a:ext cx="1007836" cy="10078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645297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/>
          <p:cNvSpPr>
            <a:spLocks noGrp="1"/>
          </p:cNvSpPr>
          <p:nvPr>
            <p:ph type="title"/>
          </p:nvPr>
        </p:nvSpPr>
        <p:spPr>
          <a:xfrm>
            <a:off x="395536" y="116632"/>
            <a:ext cx="8119814" cy="831626"/>
          </a:xfrm>
        </p:spPr>
        <p:txBody>
          <a:bodyPr>
            <a:normAutofit/>
          </a:bodyPr>
          <a:lstStyle/>
          <a:p>
            <a:r>
              <a:rPr lang="es-CO" sz="4000" dirty="0"/>
              <a:t>Tabla resumen</a:t>
            </a:r>
            <a:endParaRPr lang="en-US" sz="4000" dirty="0"/>
          </a:p>
        </p:txBody>
      </p:sp>
      <p:sp>
        <p:nvSpPr>
          <p:cNvPr id="9" name="Marcador de contenido 8">
            <a:extLst>
              <a:ext uri="{FF2B5EF4-FFF2-40B4-BE49-F238E27FC236}">
                <a16:creationId xmlns:a16="http://schemas.microsoft.com/office/drawing/2014/main" id="{1C890BBD-1444-4CB9-97D4-FDDC5F53D6C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4816" y="980728"/>
            <a:ext cx="7993607" cy="66350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s-MX" sz="2000" dirty="0"/>
              <a:t>La siguiente tabla muestra la representación equivalente de las piezas esenciales para construir código secuencial</a:t>
            </a:r>
            <a:endParaRPr lang="es-CO" sz="2000" dirty="0"/>
          </a:p>
        </p:txBody>
      </p:sp>
      <p:graphicFrame>
        <p:nvGraphicFramePr>
          <p:cNvPr id="2" name="Tabla 2">
            <a:extLst>
              <a:ext uri="{FF2B5EF4-FFF2-40B4-BE49-F238E27FC236}">
                <a16:creationId xmlns:a16="http://schemas.microsoft.com/office/drawing/2014/main" id="{1D2B5E36-52C4-42F4-8540-7CBD071455A5}"/>
              </a:ext>
            </a:extLst>
          </p:cNvPr>
          <p:cNvGraphicFramePr>
            <a:graphicFrameLocks noGrp="1"/>
          </p:cNvGraphicFramePr>
          <p:nvPr/>
        </p:nvGraphicFramePr>
        <p:xfrm>
          <a:off x="466826" y="1700808"/>
          <a:ext cx="7993606" cy="421132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517343">
                  <a:extLst>
                    <a:ext uri="{9D8B030D-6E8A-4147-A177-3AD203B41FA5}">
                      <a16:colId xmlns:a16="http://schemas.microsoft.com/office/drawing/2014/main" val="4002968547"/>
                    </a:ext>
                  </a:extLst>
                </a:gridCol>
                <a:gridCol w="2352911">
                  <a:extLst>
                    <a:ext uri="{9D8B030D-6E8A-4147-A177-3AD203B41FA5}">
                      <a16:colId xmlns:a16="http://schemas.microsoft.com/office/drawing/2014/main" val="2376140116"/>
                    </a:ext>
                  </a:extLst>
                </a:gridCol>
                <a:gridCol w="2061676">
                  <a:extLst>
                    <a:ext uri="{9D8B030D-6E8A-4147-A177-3AD203B41FA5}">
                      <a16:colId xmlns:a16="http://schemas.microsoft.com/office/drawing/2014/main" val="1317388859"/>
                    </a:ext>
                  </a:extLst>
                </a:gridCol>
                <a:gridCol w="2061676">
                  <a:extLst>
                    <a:ext uri="{9D8B030D-6E8A-4147-A177-3AD203B41FA5}">
                      <a16:colId xmlns:a16="http://schemas.microsoft.com/office/drawing/2014/main" val="162098651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s-CO" b="1" dirty="0"/>
                        <a:t>Tipo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b="1" dirty="0"/>
                        <a:t>Diagrama de bloques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b="1" dirty="0"/>
                        <a:t>Pseudocordigo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CO" b="1" dirty="0"/>
                        <a:t>Python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5366209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s-CO" dirty="0"/>
                        <a:t>Entrada</a:t>
                      </a:r>
                    </a:p>
                    <a:p>
                      <a:pPr algn="ctr"/>
                      <a:endParaRPr lang="es-CO" dirty="0"/>
                    </a:p>
                    <a:p>
                      <a:pPr algn="ctr"/>
                      <a:endParaRPr lang="es-CO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s-CO" dirty="0"/>
                    </a:p>
                    <a:p>
                      <a:endParaRPr lang="es-CO" dirty="0"/>
                    </a:p>
                    <a:p>
                      <a:endParaRPr lang="es-CO" dirty="0"/>
                    </a:p>
                    <a:p>
                      <a:endParaRPr lang="es-CO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1400" dirty="0">
                          <a:latin typeface="Consolas" panose="020B0609020204030204" pitchFamily="49" charset="0"/>
                        </a:rPr>
                        <a:t>Leer(v1,v2,…)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1400" dirty="0">
                          <a:latin typeface="Consolas" panose="020B0609020204030204" pitchFamily="49" charset="0"/>
                        </a:rPr>
                        <a:t>v1 = input(...)</a:t>
                      </a:r>
                    </a:p>
                    <a:p>
                      <a:pPr algn="ctr"/>
                      <a:r>
                        <a:rPr lang="es-CO" sz="1400" dirty="0">
                          <a:latin typeface="Consolas" panose="020B0609020204030204" pitchFamily="49" charset="0"/>
                        </a:rPr>
                        <a:t>v2 = input(...)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022741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s-CO" dirty="0"/>
                        <a:t>Salida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s-CO" dirty="0"/>
                    </a:p>
                    <a:p>
                      <a:endParaRPr lang="es-CO" dirty="0"/>
                    </a:p>
                    <a:p>
                      <a:endParaRPr lang="es-CO" dirty="0"/>
                    </a:p>
                    <a:p>
                      <a:endParaRPr lang="es-CO" dirty="0"/>
                    </a:p>
                    <a:p>
                      <a:endParaRPr lang="es-CO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CO" sz="1400" dirty="0">
                          <a:latin typeface="Consolas" panose="020B0609020204030204" pitchFamily="49" charset="0"/>
                        </a:rPr>
                        <a:t>Escribir(v1,v2,…)</a:t>
                      </a:r>
                    </a:p>
                    <a:p>
                      <a:pPr algn="ctr"/>
                      <a:endParaRPr lang="es-CO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1400" dirty="0">
                          <a:latin typeface="Consolas" panose="020B0609020204030204" pitchFamily="49" charset="0"/>
                        </a:rPr>
                        <a:t>print(v1,v2,…)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596184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s-CO" dirty="0"/>
                        <a:t>Proceso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s-CO" dirty="0"/>
                    </a:p>
                    <a:p>
                      <a:endParaRPr lang="es-CO" dirty="0"/>
                    </a:p>
                    <a:p>
                      <a:endParaRPr lang="es-CO" dirty="0"/>
                    </a:p>
                    <a:p>
                      <a:endParaRPr lang="es-CO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s-CO" sz="1400" dirty="0"/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CO" sz="1400" dirty="0">
                          <a:latin typeface="Consolas" panose="020B0609020204030204" pitchFamily="49" charset="0"/>
                        </a:rPr>
                        <a:t>c = a + b</a:t>
                      </a:r>
                      <a:endParaRPr lang="es-CO" sz="1400" dirty="0"/>
                    </a:p>
                    <a:p>
                      <a:pPr algn="ctr"/>
                      <a:endParaRPr lang="es-CO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1400" dirty="0">
                          <a:latin typeface="Consolas" panose="020B0609020204030204" pitchFamily="49" charset="0"/>
                        </a:rPr>
                        <a:t>c = a + b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81907500"/>
                  </a:ext>
                </a:extLst>
              </a:tr>
            </a:tbl>
          </a:graphicData>
        </a:graphic>
      </p:graphicFrame>
      <p:sp>
        <p:nvSpPr>
          <p:cNvPr id="10" name="Flowchart: Data 6">
            <a:extLst>
              <a:ext uri="{FF2B5EF4-FFF2-40B4-BE49-F238E27FC236}">
                <a16:creationId xmlns:a16="http://schemas.microsoft.com/office/drawing/2014/main" id="{0844C778-9DE1-449B-B09C-237271C11B8A}"/>
              </a:ext>
            </a:extLst>
          </p:cNvPr>
          <p:cNvSpPr/>
          <p:nvPr/>
        </p:nvSpPr>
        <p:spPr>
          <a:xfrm>
            <a:off x="2051722" y="2285936"/>
            <a:ext cx="2231500" cy="715198"/>
          </a:xfrm>
          <a:prstGeom prst="flowChartInputOutput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Consolas" panose="020B0609020204030204" pitchFamily="49" charset="0"/>
              </a:rPr>
              <a:t>Read v1,v2,…</a:t>
            </a:r>
          </a:p>
        </p:txBody>
      </p:sp>
      <p:sp>
        <p:nvSpPr>
          <p:cNvPr id="11" name="Flowchart: Data 6">
            <a:extLst>
              <a:ext uri="{FF2B5EF4-FFF2-40B4-BE49-F238E27FC236}">
                <a16:creationId xmlns:a16="http://schemas.microsoft.com/office/drawing/2014/main" id="{9C39F37A-2A39-47E1-86A7-FAE0C0329172}"/>
              </a:ext>
            </a:extLst>
          </p:cNvPr>
          <p:cNvSpPr/>
          <p:nvPr/>
        </p:nvSpPr>
        <p:spPr>
          <a:xfrm>
            <a:off x="2051722" y="3654088"/>
            <a:ext cx="2214917" cy="715198"/>
          </a:xfrm>
          <a:prstGeom prst="flowChartInputOutput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Consolas" panose="020B0609020204030204" pitchFamily="49" charset="0"/>
              </a:rPr>
              <a:t>Print v1,v2,…</a:t>
            </a:r>
          </a:p>
        </p:txBody>
      </p:sp>
      <p:sp>
        <p:nvSpPr>
          <p:cNvPr id="12" name="Flowchart: Process 7">
            <a:extLst>
              <a:ext uri="{FF2B5EF4-FFF2-40B4-BE49-F238E27FC236}">
                <a16:creationId xmlns:a16="http://schemas.microsoft.com/office/drawing/2014/main" id="{6B08FC8C-52EF-4BF1-96B3-3C24D434D6C2}"/>
              </a:ext>
            </a:extLst>
          </p:cNvPr>
          <p:cNvSpPr/>
          <p:nvPr/>
        </p:nvSpPr>
        <p:spPr>
          <a:xfrm>
            <a:off x="2461374" y="5019720"/>
            <a:ext cx="1395611" cy="609600"/>
          </a:xfrm>
          <a:prstGeom prst="flowChartProcess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Consolas" panose="020B0609020204030204" pitchFamily="49" charset="0"/>
              </a:rPr>
              <a:t>c </a:t>
            </a:r>
            <a:r>
              <a:rPr lang="en-US" sz="1200" dirty="0">
                <a:latin typeface="Consolas" panose="020B0609020204030204" pitchFamily="49" charset="0"/>
                <a:sym typeface="Wingdings" panose="05000000000000000000" pitchFamily="2" charset="2"/>
              </a:rPr>
              <a:t> a + b</a:t>
            </a:r>
            <a:r>
              <a:rPr lang="en-US" sz="1200" dirty="0">
                <a:latin typeface="Consolas" panose="020B0609020204030204" pitchFamily="49" charset="0"/>
              </a:rPr>
              <a:t> </a:t>
            </a:r>
          </a:p>
        </p:txBody>
      </p:sp>
      <p:pic>
        <p:nvPicPr>
          <p:cNvPr id="8" name="Picture 2" descr="http://www.jegsworks.com/lessons/computerbasics/lesson3/keyboard-white.png">
            <a:extLst>
              <a:ext uri="{FF2B5EF4-FFF2-40B4-BE49-F238E27FC236}">
                <a16:creationId xmlns:a16="http://schemas.microsoft.com/office/drawing/2014/main" id="{D62F66DF-1E4D-4961-A500-E613E89785B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5510" y="2565896"/>
            <a:ext cx="1108159" cy="3509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" name="Picture 2" descr="http://t2.gstatic.com/images?q=tbn:ANd9GcS51PGLkp34nPs-LewfkgAfjdZsyder21fNGFoRiZ_A6x7txo3e">
            <a:extLst>
              <a:ext uri="{FF2B5EF4-FFF2-40B4-BE49-F238E27FC236}">
                <a16:creationId xmlns:a16="http://schemas.microsoft.com/office/drawing/2014/main" id="{1D582CE4-942A-4E2B-8410-CB4053B31A0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1465" y="3741286"/>
            <a:ext cx="716248" cy="5873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" name="Picture 2" descr="Settings Icon, Gear Icon Vector, Gear Symbol Illustration. for Web Sites  Our Mobile. Stock Illustration - Illustration of business, wheel: 151065188">
            <a:extLst>
              <a:ext uri="{FF2B5EF4-FFF2-40B4-BE49-F238E27FC236}">
                <a16:creationId xmlns:a16="http://schemas.microsoft.com/office/drawing/2014/main" id="{53F8DCC6-0D98-4EEC-91B9-C840D748923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1465" y="5038329"/>
            <a:ext cx="728448" cy="7284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5" name="Marcador de contenido 8">
            <a:extLst>
              <a:ext uri="{FF2B5EF4-FFF2-40B4-BE49-F238E27FC236}">
                <a16:creationId xmlns:a16="http://schemas.microsoft.com/office/drawing/2014/main" id="{A781356A-A35A-48D6-BC89-058C09E8F029}"/>
              </a:ext>
            </a:extLst>
          </p:cNvPr>
          <p:cNvSpPr txBox="1">
            <a:spLocks/>
          </p:cNvSpPr>
          <p:nvPr/>
        </p:nvSpPr>
        <p:spPr>
          <a:xfrm>
            <a:off x="394817" y="6072698"/>
            <a:ext cx="8281640" cy="596662"/>
          </a:xfrm>
          <a:prstGeom prst="rect">
            <a:avLst/>
          </a:prstGeom>
          <a:solidFill>
            <a:schemeClr val="bg2"/>
          </a:solidFill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s-MX" sz="1600" dirty="0"/>
              <a:t>En Python, </a:t>
            </a:r>
            <a:r>
              <a:rPr lang="es-MX" sz="1400" dirty="0">
                <a:solidFill>
                  <a:srgbClr val="C00000"/>
                </a:solidFill>
                <a:latin typeface="Consolas" panose="020B0609020204030204" pitchFamily="49" charset="0"/>
              </a:rPr>
              <a:t>input()</a:t>
            </a:r>
            <a:r>
              <a:rPr lang="es-MX" sz="1600" dirty="0"/>
              <a:t> siempre devuelve texto (</a:t>
            </a:r>
            <a:r>
              <a:rPr lang="es-MX" sz="1400" dirty="0">
                <a:solidFill>
                  <a:srgbClr val="C00000"/>
                </a:solidFill>
                <a:latin typeface="Consolas" panose="020B0609020204030204" pitchFamily="49" charset="0"/>
              </a:rPr>
              <a:t>str</a:t>
            </a:r>
            <a:r>
              <a:rPr lang="es-MX" sz="1600" dirty="0"/>
              <a:t>); si el valor se va a usar en una operación numérica, debe convertirse con </a:t>
            </a:r>
            <a:r>
              <a:rPr lang="es-MX" sz="1400" dirty="0" err="1">
                <a:solidFill>
                  <a:srgbClr val="C00000"/>
                </a:solidFill>
                <a:latin typeface="Consolas" panose="020B0609020204030204" pitchFamily="49" charset="0"/>
              </a:rPr>
              <a:t>int</a:t>
            </a:r>
            <a:r>
              <a:rPr lang="es-MX" sz="1400" dirty="0">
                <a:solidFill>
                  <a:srgbClr val="C00000"/>
                </a:solidFill>
                <a:latin typeface="Consolas" panose="020B0609020204030204" pitchFamily="49" charset="0"/>
              </a:rPr>
              <a:t>()</a:t>
            </a:r>
            <a:r>
              <a:rPr lang="es-MX" sz="1600" dirty="0"/>
              <a:t> o </a:t>
            </a:r>
            <a:r>
              <a:rPr lang="es-MX" sz="1400" dirty="0" err="1">
                <a:solidFill>
                  <a:srgbClr val="C00000"/>
                </a:solidFill>
                <a:latin typeface="Consolas" panose="020B0609020204030204" pitchFamily="49" charset="0"/>
              </a:rPr>
              <a:t>float</a:t>
            </a:r>
            <a:r>
              <a:rPr lang="es-MX" sz="1400" dirty="0">
                <a:solidFill>
                  <a:srgbClr val="C00000"/>
                </a:solidFill>
                <a:latin typeface="Consolas" panose="020B0609020204030204" pitchFamily="49" charset="0"/>
              </a:rPr>
              <a:t>()</a:t>
            </a:r>
            <a:r>
              <a:rPr lang="es-MX" sz="1600" dirty="0"/>
              <a:t> (por ejemplo: </a:t>
            </a:r>
            <a:r>
              <a:rPr lang="es-MX" sz="1400" dirty="0">
                <a:solidFill>
                  <a:srgbClr val="C00000"/>
                </a:solidFill>
                <a:latin typeface="Consolas" panose="020B0609020204030204" pitchFamily="49" charset="0"/>
              </a:rPr>
              <a:t>v1 = </a:t>
            </a:r>
            <a:r>
              <a:rPr lang="es-MX" sz="1400" dirty="0" err="1">
                <a:solidFill>
                  <a:srgbClr val="C00000"/>
                </a:solidFill>
                <a:latin typeface="Consolas" panose="020B0609020204030204" pitchFamily="49" charset="0"/>
              </a:rPr>
              <a:t>float</a:t>
            </a:r>
            <a:r>
              <a:rPr lang="es-MX" sz="1400" dirty="0">
                <a:solidFill>
                  <a:srgbClr val="C00000"/>
                </a:solidFill>
                <a:latin typeface="Consolas" panose="020B0609020204030204" pitchFamily="49" charset="0"/>
              </a:rPr>
              <a:t>(input(...))</a:t>
            </a:r>
            <a:r>
              <a:rPr lang="es-MX" sz="1600" dirty="0"/>
              <a:t>).</a:t>
            </a:r>
            <a:endParaRPr lang="es-CO" sz="1600" dirty="0"/>
          </a:p>
        </p:txBody>
      </p:sp>
    </p:spTree>
    <p:extLst>
      <p:ext uri="{BB962C8B-B14F-4D97-AF65-F5344CB8AC3E}">
        <p14:creationId xmlns:p14="http://schemas.microsoft.com/office/powerpoint/2010/main" val="144413168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4 Título"/>
          <p:cNvSpPr>
            <a:spLocks noGrp="1"/>
          </p:cNvSpPr>
          <p:nvPr>
            <p:ph type="title"/>
          </p:nvPr>
        </p:nvSpPr>
        <p:spPr>
          <a:xfrm>
            <a:off x="467543" y="207926"/>
            <a:ext cx="7939037" cy="986803"/>
          </a:xfrm>
        </p:spPr>
        <p:txBody>
          <a:bodyPr>
            <a:normAutofit/>
          </a:bodyPr>
          <a:lstStyle/>
          <a:p>
            <a:r>
              <a:rPr lang="es-CO" sz="4000" dirty="0"/>
              <a:t>Diseño de programas</a:t>
            </a:r>
          </a:p>
        </p:txBody>
      </p:sp>
      <p:sp>
        <p:nvSpPr>
          <p:cNvPr id="2" name="1 Marcador de contenido"/>
          <p:cNvSpPr>
            <a:spLocks noGrp="1"/>
          </p:cNvSpPr>
          <p:nvPr>
            <p:ph idx="1"/>
          </p:nvPr>
        </p:nvSpPr>
        <p:spPr>
          <a:xfrm>
            <a:off x="467543" y="1194729"/>
            <a:ext cx="7886700" cy="3530415"/>
          </a:xfrm>
        </p:spPr>
        <p:txBody>
          <a:bodyPr>
            <a:normAutofit/>
          </a:bodyPr>
          <a:lstStyle/>
          <a:p>
            <a:r>
              <a:rPr lang="es-MX" sz="2200" dirty="0"/>
              <a:t>Los programas deben diseñarse cuidadosamente antes de ser escritos. Durante el proceso de diseño, los programadores utilizan herramientas como pseudocódigo y diagramas de flujo para crear modelos de los programas.</a:t>
            </a:r>
          </a:p>
          <a:p>
            <a:r>
              <a:rPr lang="es-MX" sz="2200" b="1" dirty="0"/>
              <a:t>El ciclo de desarrollo de un programa</a:t>
            </a:r>
            <a:r>
              <a:rPr lang="es-MX" sz="2200" dirty="0"/>
              <a:t>:</a:t>
            </a:r>
          </a:p>
          <a:p>
            <a:pPr marL="800100" lvl="1" indent="-342900">
              <a:buFont typeface="+mj-lt"/>
              <a:buAutoNum type="arabicPeriod"/>
            </a:pPr>
            <a:r>
              <a:rPr lang="es-MX" sz="2000" dirty="0"/>
              <a:t>Diseñar el programa  </a:t>
            </a:r>
          </a:p>
          <a:p>
            <a:pPr marL="800100" lvl="1" indent="-342900">
              <a:buFont typeface="+mj-lt"/>
              <a:buAutoNum type="arabicPeriod"/>
            </a:pPr>
            <a:r>
              <a:rPr lang="es-MX" sz="2000" dirty="0"/>
              <a:t>Escribir el código  </a:t>
            </a:r>
          </a:p>
          <a:p>
            <a:pPr marL="800100" lvl="1" indent="-342900">
              <a:buFont typeface="+mj-lt"/>
              <a:buAutoNum type="arabicPeriod"/>
            </a:pPr>
            <a:r>
              <a:rPr lang="es-MX" sz="2000" dirty="0"/>
              <a:t>Corregir errores de sintaxis  </a:t>
            </a:r>
          </a:p>
          <a:p>
            <a:pPr marL="800100" lvl="1" indent="-342900">
              <a:buFont typeface="+mj-lt"/>
              <a:buAutoNum type="arabicPeriod"/>
            </a:pPr>
            <a:r>
              <a:rPr lang="es-MX" sz="2000" dirty="0"/>
              <a:t>Probar el programa  </a:t>
            </a:r>
          </a:p>
          <a:p>
            <a:pPr marL="800100" lvl="1" indent="-342900">
              <a:buFont typeface="+mj-lt"/>
              <a:buAutoNum type="arabicPeriod"/>
            </a:pPr>
            <a:r>
              <a:rPr lang="es-MX" sz="2000" dirty="0"/>
              <a:t>Corregir errores de lógica </a:t>
            </a:r>
            <a:endParaRPr lang="es-CO" sz="2000" dirty="0"/>
          </a:p>
        </p:txBody>
      </p:sp>
      <p:grpSp>
        <p:nvGrpSpPr>
          <p:cNvPr id="36" name="Grupo 35">
            <a:extLst>
              <a:ext uri="{FF2B5EF4-FFF2-40B4-BE49-F238E27FC236}">
                <a16:creationId xmlns:a16="http://schemas.microsoft.com/office/drawing/2014/main" id="{EF728DB1-F1C4-4655-B50D-CB75E7B5B005}"/>
              </a:ext>
            </a:extLst>
          </p:cNvPr>
          <p:cNvGrpSpPr/>
          <p:nvPr/>
        </p:nvGrpSpPr>
        <p:grpSpPr>
          <a:xfrm>
            <a:off x="784837" y="5243566"/>
            <a:ext cx="7304447" cy="839410"/>
            <a:chOff x="858501" y="5239359"/>
            <a:chExt cx="7304447" cy="839410"/>
          </a:xfrm>
        </p:grpSpPr>
        <p:sp>
          <p:nvSpPr>
            <p:cNvPr id="6" name="CuadroTexto 5">
              <a:extLst>
                <a:ext uri="{FF2B5EF4-FFF2-40B4-BE49-F238E27FC236}">
                  <a16:creationId xmlns:a16="http://schemas.microsoft.com/office/drawing/2014/main" id="{38E10274-8389-4071-9E34-CDB0D36DF010}"/>
                </a:ext>
              </a:extLst>
            </p:cNvPr>
            <p:cNvSpPr txBox="1"/>
            <p:nvPr/>
          </p:nvSpPr>
          <p:spPr>
            <a:xfrm>
              <a:off x="858501" y="5359755"/>
              <a:ext cx="1111041" cy="584775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s-CO" sz="1600" dirty="0"/>
                <a:t>Diseñar el programa</a:t>
              </a:r>
            </a:p>
          </p:txBody>
        </p:sp>
        <p:sp>
          <p:nvSpPr>
            <p:cNvPr id="20" name="CuadroTexto 19">
              <a:extLst>
                <a:ext uri="{FF2B5EF4-FFF2-40B4-BE49-F238E27FC236}">
                  <a16:creationId xmlns:a16="http://schemas.microsoft.com/office/drawing/2014/main" id="{74B91F96-F769-4FF0-96C3-5DADA0BDDC45}"/>
                </a:ext>
              </a:extLst>
            </p:cNvPr>
            <p:cNvSpPr txBox="1"/>
            <p:nvPr/>
          </p:nvSpPr>
          <p:spPr>
            <a:xfrm>
              <a:off x="2360082" y="5359755"/>
              <a:ext cx="1069952" cy="584775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  <a:ln w="28575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s-CO" sz="1600" dirty="0"/>
                <a:t>Escribir el código</a:t>
              </a:r>
            </a:p>
          </p:txBody>
        </p:sp>
        <p:sp>
          <p:nvSpPr>
            <p:cNvPr id="21" name="CuadroTexto 20">
              <a:extLst>
                <a:ext uri="{FF2B5EF4-FFF2-40B4-BE49-F238E27FC236}">
                  <a16:creationId xmlns:a16="http://schemas.microsoft.com/office/drawing/2014/main" id="{BBC821E7-9E9B-482D-9F20-4158803603D8}"/>
                </a:ext>
              </a:extLst>
            </p:cNvPr>
            <p:cNvSpPr txBox="1"/>
            <p:nvPr/>
          </p:nvSpPr>
          <p:spPr>
            <a:xfrm>
              <a:off x="3820574" y="5239359"/>
              <a:ext cx="1148136" cy="830997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s-CO" sz="1600" dirty="0"/>
                <a:t>Corregir errores de sintaxis</a:t>
              </a:r>
            </a:p>
          </p:txBody>
        </p:sp>
        <p:sp>
          <p:nvSpPr>
            <p:cNvPr id="22" name="CuadroTexto 21">
              <a:extLst>
                <a:ext uri="{FF2B5EF4-FFF2-40B4-BE49-F238E27FC236}">
                  <a16:creationId xmlns:a16="http://schemas.microsoft.com/office/drawing/2014/main" id="{18460779-4C3F-44D2-8DE8-DAA6D622E60D}"/>
                </a:ext>
              </a:extLst>
            </p:cNvPr>
            <p:cNvSpPr txBox="1"/>
            <p:nvPr/>
          </p:nvSpPr>
          <p:spPr>
            <a:xfrm>
              <a:off x="5359250" y="5359755"/>
              <a:ext cx="1142676" cy="584775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s-CO" sz="1600" dirty="0"/>
                <a:t>Probar el programa</a:t>
              </a:r>
            </a:p>
          </p:txBody>
        </p:sp>
        <p:sp>
          <p:nvSpPr>
            <p:cNvPr id="23" name="CuadroTexto 22">
              <a:extLst>
                <a:ext uri="{FF2B5EF4-FFF2-40B4-BE49-F238E27FC236}">
                  <a16:creationId xmlns:a16="http://schemas.microsoft.com/office/drawing/2014/main" id="{ED2F98BD-FCD6-40E1-BED3-FA4935908392}"/>
                </a:ext>
              </a:extLst>
            </p:cNvPr>
            <p:cNvSpPr txBox="1"/>
            <p:nvPr/>
          </p:nvSpPr>
          <p:spPr>
            <a:xfrm>
              <a:off x="7020272" y="5247772"/>
              <a:ext cx="1142676" cy="830997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s-CO" sz="1600" dirty="0"/>
                <a:t>Corregir errores de lógica</a:t>
              </a:r>
            </a:p>
          </p:txBody>
        </p:sp>
        <p:cxnSp>
          <p:nvCxnSpPr>
            <p:cNvPr id="8" name="Conector recto de flecha 7">
              <a:extLst>
                <a:ext uri="{FF2B5EF4-FFF2-40B4-BE49-F238E27FC236}">
                  <a16:creationId xmlns:a16="http://schemas.microsoft.com/office/drawing/2014/main" id="{CB607D4B-5242-43C6-8ED1-E5996D49A2A4}"/>
                </a:ext>
              </a:extLst>
            </p:cNvPr>
            <p:cNvCxnSpPr>
              <a:stCxn id="6" idx="3"/>
              <a:endCxn id="20" idx="1"/>
            </p:cNvCxnSpPr>
            <p:nvPr/>
          </p:nvCxnSpPr>
          <p:spPr>
            <a:xfrm>
              <a:off x="1969542" y="5652143"/>
              <a:ext cx="390540" cy="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Conector recto de flecha 23">
              <a:extLst>
                <a:ext uri="{FF2B5EF4-FFF2-40B4-BE49-F238E27FC236}">
                  <a16:creationId xmlns:a16="http://schemas.microsoft.com/office/drawing/2014/main" id="{194CB7FD-B91E-44F5-9A89-49A42C907AFE}"/>
                </a:ext>
              </a:extLst>
            </p:cNvPr>
            <p:cNvCxnSpPr>
              <a:cxnSpLocks/>
              <a:stCxn id="20" idx="3"/>
              <a:endCxn id="21" idx="1"/>
            </p:cNvCxnSpPr>
            <p:nvPr/>
          </p:nvCxnSpPr>
          <p:spPr>
            <a:xfrm>
              <a:off x="3430034" y="5652143"/>
              <a:ext cx="390540" cy="2715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Conector recto de flecha 25">
              <a:extLst>
                <a:ext uri="{FF2B5EF4-FFF2-40B4-BE49-F238E27FC236}">
                  <a16:creationId xmlns:a16="http://schemas.microsoft.com/office/drawing/2014/main" id="{AF274584-7C30-45DB-8441-1EF230FF75D8}"/>
                </a:ext>
              </a:extLst>
            </p:cNvPr>
            <p:cNvCxnSpPr>
              <a:cxnSpLocks/>
              <a:stCxn id="21" idx="3"/>
              <a:endCxn id="22" idx="1"/>
            </p:cNvCxnSpPr>
            <p:nvPr/>
          </p:nvCxnSpPr>
          <p:spPr>
            <a:xfrm flipV="1">
              <a:off x="4968710" y="5652143"/>
              <a:ext cx="390540" cy="2715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Conector recto de flecha 28">
              <a:extLst>
                <a:ext uri="{FF2B5EF4-FFF2-40B4-BE49-F238E27FC236}">
                  <a16:creationId xmlns:a16="http://schemas.microsoft.com/office/drawing/2014/main" id="{54BE1790-9A0F-4F22-8353-FB82A27D6234}"/>
                </a:ext>
              </a:extLst>
            </p:cNvPr>
            <p:cNvCxnSpPr>
              <a:cxnSpLocks/>
              <a:stCxn id="22" idx="3"/>
              <a:endCxn id="23" idx="1"/>
            </p:cNvCxnSpPr>
            <p:nvPr/>
          </p:nvCxnSpPr>
          <p:spPr>
            <a:xfrm>
              <a:off x="6501926" y="5652143"/>
              <a:ext cx="518346" cy="11128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Conector: angular 32">
              <a:extLst>
                <a:ext uri="{FF2B5EF4-FFF2-40B4-BE49-F238E27FC236}">
                  <a16:creationId xmlns:a16="http://schemas.microsoft.com/office/drawing/2014/main" id="{02A0B1D9-D210-4CBC-9036-EABDB36FDDE8}"/>
                </a:ext>
              </a:extLst>
            </p:cNvPr>
            <p:cNvCxnSpPr>
              <a:cxnSpLocks/>
              <a:stCxn id="23" idx="3"/>
              <a:endCxn id="6" idx="1"/>
            </p:cNvCxnSpPr>
            <p:nvPr/>
          </p:nvCxnSpPr>
          <p:spPr>
            <a:xfrm flipH="1" flipV="1">
              <a:off x="858501" y="5652143"/>
              <a:ext cx="7304447" cy="11128"/>
            </a:xfrm>
            <a:prstGeom prst="bentConnector5">
              <a:avLst>
                <a:gd name="adj1" fmla="val -3130"/>
                <a:gd name="adj2" fmla="val -7222331"/>
                <a:gd name="adj3" fmla="val 103130"/>
              </a:avLst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37" name="Imagen 36">
            <a:extLst>
              <a:ext uri="{FF2B5EF4-FFF2-40B4-BE49-F238E27FC236}">
                <a16:creationId xmlns:a16="http://schemas.microsoft.com/office/drawing/2014/main" id="{27947F90-AFF8-4348-BF05-96797BBCCCF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20391" y="4865641"/>
            <a:ext cx="424133" cy="4341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701422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4 Título"/>
          <p:cNvSpPr>
            <a:spLocks noGrp="1"/>
          </p:cNvSpPr>
          <p:nvPr>
            <p:ph type="title"/>
          </p:nvPr>
        </p:nvSpPr>
        <p:spPr>
          <a:xfrm>
            <a:off x="359840" y="188640"/>
            <a:ext cx="7886700" cy="1116540"/>
          </a:xfrm>
        </p:spPr>
        <p:txBody>
          <a:bodyPr>
            <a:normAutofit/>
          </a:bodyPr>
          <a:lstStyle/>
          <a:p>
            <a:r>
              <a:rPr lang="es-CO" sz="4000" dirty="0"/>
              <a:t>Codificación de algoritmos en Python</a:t>
            </a:r>
          </a:p>
        </p:txBody>
      </p:sp>
      <p:sp>
        <p:nvSpPr>
          <p:cNvPr id="2" name="1 Marcador de contenido"/>
          <p:cNvSpPr>
            <a:spLocks noGrp="1"/>
          </p:cNvSpPr>
          <p:nvPr>
            <p:ph idx="1"/>
          </p:nvPr>
        </p:nvSpPr>
        <p:spPr>
          <a:xfrm>
            <a:off x="359840" y="1124744"/>
            <a:ext cx="8352605" cy="477101"/>
          </a:xfrm>
          <a:ln>
            <a:noFill/>
          </a:ln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s-CO" sz="2200" b="1" dirty="0">
                <a:solidFill>
                  <a:srgbClr val="FF0000"/>
                </a:solidFill>
              </a:rPr>
              <a:t>Ejemplo</a:t>
            </a:r>
            <a:r>
              <a:rPr lang="es-CO" sz="2200" dirty="0">
                <a:solidFill>
                  <a:srgbClr val="FF0000"/>
                </a:solidFill>
              </a:rPr>
              <a:t>:</a:t>
            </a:r>
            <a:r>
              <a:rPr lang="es-CO" sz="2200" dirty="0"/>
              <a:t> </a:t>
            </a:r>
            <a:r>
              <a:rPr lang="es-MX" sz="2200" dirty="0"/>
              <a:t>Hacer un algoritmo que calcule el área de un circulo</a:t>
            </a:r>
          </a:p>
        </p:txBody>
      </p:sp>
      <p:sp>
        <p:nvSpPr>
          <p:cNvPr id="28" name="CuadroTexto 27">
            <a:extLst>
              <a:ext uri="{FF2B5EF4-FFF2-40B4-BE49-F238E27FC236}">
                <a16:creationId xmlns:a16="http://schemas.microsoft.com/office/drawing/2014/main" id="{EC7EC286-1529-429A-96DF-A7244848F368}"/>
              </a:ext>
            </a:extLst>
          </p:cNvPr>
          <p:cNvSpPr txBox="1"/>
          <p:nvPr/>
        </p:nvSpPr>
        <p:spPr>
          <a:xfrm>
            <a:off x="467544" y="1772816"/>
            <a:ext cx="5287042" cy="212365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s-CO" sz="1200" b="0" dirty="0">
                <a:effectLst/>
                <a:latin typeface="Consolas" panose="020B0609020204030204" pitchFamily="49" charset="0"/>
              </a:rPr>
              <a:t># Inicialización de variables</a:t>
            </a:r>
          </a:p>
          <a:p>
            <a:r>
              <a:rPr lang="es-CO" sz="1200" b="0" dirty="0">
                <a:effectLst/>
                <a:latin typeface="Consolas" panose="020B0609020204030204" pitchFamily="49" charset="0"/>
              </a:rPr>
              <a:t>PI = 3.14</a:t>
            </a:r>
          </a:p>
          <a:p>
            <a:br>
              <a:rPr lang="es-CO" sz="1200" b="0" dirty="0">
                <a:effectLst/>
                <a:latin typeface="Consolas" panose="020B0609020204030204" pitchFamily="49" charset="0"/>
              </a:rPr>
            </a:br>
            <a:r>
              <a:rPr lang="es-CO" sz="1200" b="0" dirty="0">
                <a:effectLst/>
                <a:latin typeface="Consolas" panose="020B0609020204030204" pitchFamily="49" charset="0"/>
              </a:rPr>
              <a:t># Entrada de datos</a:t>
            </a:r>
          </a:p>
          <a:p>
            <a:r>
              <a:rPr lang="es-CO" sz="1200" b="0" dirty="0">
                <a:effectLst/>
                <a:latin typeface="Consolas" panose="020B0609020204030204" pitchFamily="49" charset="0"/>
              </a:rPr>
              <a:t>radio = </a:t>
            </a:r>
            <a:r>
              <a:rPr lang="es-CO" sz="1200" b="0" dirty="0" err="1">
                <a:effectLst/>
                <a:latin typeface="Consolas" panose="020B0609020204030204" pitchFamily="49" charset="0"/>
              </a:rPr>
              <a:t>float</a:t>
            </a:r>
            <a:r>
              <a:rPr lang="es-CO" sz="1200" b="0" dirty="0">
                <a:effectLst/>
                <a:latin typeface="Consolas" panose="020B0609020204030204" pitchFamily="49" charset="0"/>
              </a:rPr>
              <a:t>(input("Ingrese el radio del círculo: "))</a:t>
            </a:r>
          </a:p>
          <a:p>
            <a:br>
              <a:rPr lang="es-CO" sz="1200" b="0" dirty="0">
                <a:effectLst/>
                <a:latin typeface="Consolas" panose="020B0609020204030204" pitchFamily="49" charset="0"/>
              </a:rPr>
            </a:br>
            <a:r>
              <a:rPr lang="es-CO" sz="1200" b="0" dirty="0">
                <a:effectLst/>
                <a:latin typeface="Consolas" panose="020B0609020204030204" pitchFamily="49" charset="0"/>
              </a:rPr>
              <a:t># Calculo del </a:t>
            </a:r>
            <a:r>
              <a:rPr lang="es-CO" sz="1200" b="0" dirty="0" err="1">
                <a:effectLst/>
                <a:latin typeface="Consolas" panose="020B0609020204030204" pitchFamily="49" charset="0"/>
              </a:rPr>
              <a:t>area</a:t>
            </a:r>
            <a:endParaRPr lang="es-CO" sz="1200" b="0" dirty="0">
              <a:effectLst/>
              <a:latin typeface="Consolas" panose="020B0609020204030204" pitchFamily="49" charset="0"/>
            </a:endParaRPr>
          </a:p>
          <a:p>
            <a:r>
              <a:rPr lang="es-CO" sz="1200" b="0" dirty="0" err="1">
                <a:effectLst/>
                <a:latin typeface="Consolas" panose="020B0609020204030204" pitchFamily="49" charset="0"/>
              </a:rPr>
              <a:t>area</a:t>
            </a:r>
            <a:r>
              <a:rPr lang="es-CO" sz="1200" b="0" dirty="0">
                <a:effectLst/>
                <a:latin typeface="Consolas" panose="020B0609020204030204" pitchFamily="49" charset="0"/>
              </a:rPr>
              <a:t> = PI * radio ** 2</a:t>
            </a:r>
          </a:p>
          <a:p>
            <a:br>
              <a:rPr lang="es-CO" sz="1200" b="0" dirty="0">
                <a:effectLst/>
                <a:latin typeface="Consolas" panose="020B0609020204030204" pitchFamily="49" charset="0"/>
              </a:rPr>
            </a:br>
            <a:r>
              <a:rPr lang="es-CO" sz="1200" b="0" dirty="0">
                <a:effectLst/>
                <a:latin typeface="Consolas" panose="020B0609020204030204" pitchFamily="49" charset="0"/>
              </a:rPr>
              <a:t># </a:t>
            </a:r>
            <a:r>
              <a:rPr lang="es-CO" sz="1200" b="0" dirty="0" err="1">
                <a:effectLst/>
                <a:latin typeface="Consolas" panose="020B0609020204030204" pitchFamily="49" charset="0"/>
              </a:rPr>
              <a:t>Despligue</a:t>
            </a:r>
            <a:r>
              <a:rPr lang="es-CO" sz="1200" b="0" dirty="0">
                <a:effectLst/>
                <a:latin typeface="Consolas" panose="020B0609020204030204" pitchFamily="49" charset="0"/>
              </a:rPr>
              <a:t> del </a:t>
            </a:r>
            <a:r>
              <a:rPr lang="es-CO" sz="1200" b="0" dirty="0" err="1">
                <a:effectLst/>
                <a:latin typeface="Consolas" panose="020B0609020204030204" pitchFamily="49" charset="0"/>
              </a:rPr>
              <a:t>area</a:t>
            </a:r>
            <a:endParaRPr lang="es-CO" sz="1200" b="0" dirty="0">
              <a:effectLst/>
              <a:latin typeface="Consolas" panose="020B0609020204030204" pitchFamily="49" charset="0"/>
            </a:endParaRPr>
          </a:p>
          <a:p>
            <a:r>
              <a:rPr lang="es-CO" sz="1200" b="0" dirty="0">
                <a:effectLst/>
                <a:latin typeface="Consolas" panose="020B0609020204030204" pitchFamily="49" charset="0"/>
              </a:rPr>
              <a:t>print(</a:t>
            </a:r>
            <a:r>
              <a:rPr lang="es-CO" sz="1200" b="0" dirty="0" err="1">
                <a:effectLst/>
                <a:latin typeface="Consolas" panose="020B0609020204030204" pitchFamily="49" charset="0"/>
              </a:rPr>
              <a:t>f"El</a:t>
            </a:r>
            <a:r>
              <a:rPr lang="es-CO" sz="1200" b="0" dirty="0">
                <a:effectLst/>
                <a:latin typeface="Consolas" panose="020B0609020204030204" pitchFamily="49" charset="0"/>
              </a:rPr>
              <a:t> </a:t>
            </a:r>
            <a:r>
              <a:rPr lang="es-CO" sz="1200" b="0" dirty="0" err="1">
                <a:effectLst/>
                <a:latin typeface="Consolas" panose="020B0609020204030204" pitchFamily="49" charset="0"/>
              </a:rPr>
              <a:t>area</a:t>
            </a:r>
            <a:r>
              <a:rPr lang="es-CO" sz="1200" b="0" dirty="0">
                <a:effectLst/>
                <a:latin typeface="Consolas" panose="020B0609020204030204" pitchFamily="49" charset="0"/>
              </a:rPr>
              <a:t> del círculo de radio {radio} es: {</a:t>
            </a:r>
            <a:r>
              <a:rPr lang="es-CO" sz="1200" b="0" dirty="0" err="1">
                <a:effectLst/>
                <a:latin typeface="Consolas" panose="020B0609020204030204" pitchFamily="49" charset="0"/>
              </a:rPr>
              <a:t>area</a:t>
            </a:r>
            <a:r>
              <a:rPr lang="es-CO" sz="1200" b="0" dirty="0">
                <a:effectLst/>
                <a:latin typeface="Consolas" panose="020B0609020204030204" pitchFamily="49" charset="0"/>
              </a:rPr>
              <a:t>}")</a:t>
            </a:r>
          </a:p>
        </p:txBody>
      </p:sp>
      <p:graphicFrame>
        <p:nvGraphicFramePr>
          <p:cNvPr id="18" name="Tabla 5">
            <a:extLst>
              <a:ext uri="{FF2B5EF4-FFF2-40B4-BE49-F238E27FC236}">
                <a16:creationId xmlns:a16="http://schemas.microsoft.com/office/drawing/2014/main" id="{4F88E115-89BB-4FAA-AADC-9A13840135DA}"/>
              </a:ext>
            </a:extLst>
          </p:cNvPr>
          <p:cNvGraphicFramePr>
            <a:graphicFrameLocks noGrp="1"/>
          </p:cNvGraphicFramePr>
          <p:nvPr/>
        </p:nvGraphicFramePr>
        <p:xfrm>
          <a:off x="467544" y="4465841"/>
          <a:ext cx="2448858" cy="1219200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1008698">
                  <a:extLst>
                    <a:ext uri="{9D8B030D-6E8A-4147-A177-3AD203B41FA5}">
                      <a16:colId xmlns:a16="http://schemas.microsoft.com/office/drawing/2014/main" val="101718729"/>
                    </a:ext>
                  </a:extLst>
                </a:gridCol>
                <a:gridCol w="1440160">
                  <a:extLst>
                    <a:ext uri="{9D8B030D-6E8A-4147-A177-3AD203B41FA5}">
                      <a16:colId xmlns:a16="http://schemas.microsoft.com/office/drawing/2014/main" val="3468495707"/>
                    </a:ext>
                  </a:extLst>
                </a:gridCol>
              </a:tblGrid>
              <a:tr h="224079">
                <a:tc>
                  <a:txBody>
                    <a:bodyPr/>
                    <a:lstStyle/>
                    <a:p>
                      <a:pPr algn="ctr"/>
                      <a:r>
                        <a:rPr lang="es-CO" sz="1400" b="1" dirty="0">
                          <a:latin typeface="+mn-lt"/>
                        </a:rPr>
                        <a:t>Entradas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1400" b="1" dirty="0"/>
                        <a:t>Salidas</a:t>
                      </a:r>
                      <a:endParaRPr lang="es-CO" sz="1400" b="1" dirty="0"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50868271"/>
                  </a:ext>
                </a:extLst>
              </a:tr>
              <a:tr h="224079">
                <a:tc>
                  <a:txBody>
                    <a:bodyPr/>
                    <a:lstStyle/>
                    <a:p>
                      <a:pPr algn="ctr"/>
                      <a:r>
                        <a:rPr lang="es-CO" sz="1400" b="1" dirty="0"/>
                        <a:t>radio</a:t>
                      </a:r>
                      <a:endParaRPr lang="es-CO" sz="1400" b="1" dirty="0"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1400" b="1" dirty="0"/>
                        <a:t>area</a:t>
                      </a:r>
                      <a:endParaRPr lang="es-CO" sz="1400" b="1" dirty="0"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84789806"/>
                  </a:ext>
                </a:extLst>
              </a:tr>
              <a:tr h="224079">
                <a:tc>
                  <a:txBody>
                    <a:bodyPr/>
                    <a:lstStyle/>
                    <a:p>
                      <a:pPr algn="ctr"/>
                      <a:r>
                        <a:rPr lang="es-CO" sz="1400" strike="noStrike" dirty="0"/>
                        <a:t>10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1400" dirty="0"/>
                        <a:t>314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84237131"/>
                  </a:ext>
                </a:extLst>
              </a:tr>
              <a:tr h="224079">
                <a:tc>
                  <a:txBody>
                    <a:bodyPr/>
                    <a:lstStyle/>
                    <a:p>
                      <a:pPr algn="ctr"/>
                      <a:r>
                        <a:rPr lang="es-CO" sz="1400" strike="noStrike" dirty="0"/>
                        <a:t>2.6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1400" dirty="0"/>
                        <a:t>21.237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33889482"/>
                  </a:ext>
                </a:extLst>
              </a:tr>
            </a:tbl>
          </a:graphicData>
        </a:graphic>
      </p:graphicFrame>
      <p:pic>
        <p:nvPicPr>
          <p:cNvPr id="4" name="Imagen 3">
            <a:extLst>
              <a:ext uri="{FF2B5EF4-FFF2-40B4-BE49-F238E27FC236}">
                <a16:creationId xmlns:a16="http://schemas.microsoft.com/office/drawing/2014/main" id="{C3AF9C73-1CC7-4CC1-8832-1B2E89EBC1B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23928" y="4123653"/>
            <a:ext cx="5044704" cy="2545707"/>
          </a:xfrm>
          <a:prstGeom prst="rect">
            <a:avLst/>
          </a:prstGeom>
        </p:spPr>
      </p:pic>
      <p:pic>
        <p:nvPicPr>
          <p:cNvPr id="21" name="Imagen 20">
            <a:extLst>
              <a:ext uri="{FF2B5EF4-FFF2-40B4-BE49-F238E27FC236}">
                <a16:creationId xmlns:a16="http://schemas.microsoft.com/office/drawing/2014/main" id="{9EEBE094-7C5B-4A22-AA27-17C629AEE9C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38935" y="2636912"/>
            <a:ext cx="424133" cy="434123"/>
          </a:xfrm>
          <a:prstGeom prst="rect">
            <a:avLst/>
          </a:prstGeom>
        </p:spPr>
      </p:pic>
      <p:sp>
        <p:nvSpPr>
          <p:cNvPr id="22" name="CuadroTexto 21">
            <a:extLst>
              <a:ext uri="{FF2B5EF4-FFF2-40B4-BE49-F238E27FC236}">
                <a16:creationId xmlns:a16="http://schemas.microsoft.com/office/drawing/2014/main" id="{ECE89B1A-3987-40A4-A405-09AE065DADD3}"/>
              </a:ext>
            </a:extLst>
          </p:cNvPr>
          <p:cNvSpPr txBox="1"/>
          <p:nvPr/>
        </p:nvSpPr>
        <p:spPr>
          <a:xfrm>
            <a:off x="2715021" y="3888613"/>
            <a:ext cx="79208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ES" sz="1200" dirty="0">
                <a:hlinkClick r:id="rId4"/>
              </a:rPr>
              <a:t>link</a:t>
            </a:r>
            <a:endParaRPr lang="es-CO" sz="1200" dirty="0"/>
          </a:p>
        </p:txBody>
      </p:sp>
    </p:spTree>
    <p:extLst>
      <p:ext uri="{BB962C8B-B14F-4D97-AF65-F5344CB8AC3E}">
        <p14:creationId xmlns:p14="http://schemas.microsoft.com/office/powerpoint/2010/main" val="260039833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4 Título"/>
          <p:cNvSpPr>
            <a:spLocks noGrp="1"/>
          </p:cNvSpPr>
          <p:nvPr>
            <p:ph type="title"/>
          </p:nvPr>
        </p:nvSpPr>
        <p:spPr>
          <a:xfrm>
            <a:off x="285700" y="232736"/>
            <a:ext cx="7886700" cy="675984"/>
          </a:xfrm>
        </p:spPr>
        <p:txBody>
          <a:bodyPr>
            <a:normAutofit/>
          </a:bodyPr>
          <a:lstStyle/>
          <a:p>
            <a:r>
              <a:rPr lang="es-CO" sz="4000" dirty="0"/>
              <a:t>Operadores aritméticos</a:t>
            </a:r>
          </a:p>
        </p:txBody>
      </p:sp>
      <p:sp>
        <p:nvSpPr>
          <p:cNvPr id="2" name="1 Marcador de contenido"/>
          <p:cNvSpPr>
            <a:spLocks noGrp="1"/>
          </p:cNvSpPr>
          <p:nvPr>
            <p:ph idx="1"/>
          </p:nvPr>
        </p:nvSpPr>
        <p:spPr>
          <a:xfrm>
            <a:off x="227955" y="1024824"/>
            <a:ext cx="8448501" cy="675984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s-CO" sz="2200" dirty="0"/>
              <a:t>Los operadores aritméticos toman los valores numéricos como sus operandos y devuelve un solo valor numérico. </a:t>
            </a:r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F1CE28-A3C7-48DC-84A2-8FB08D6123C5}" type="slidenum">
              <a:rPr lang="en-US" smtClean="0"/>
              <a:pPr/>
              <a:t>8</a:t>
            </a:fld>
            <a:endParaRPr lang="en-US" dirty="0"/>
          </a:p>
        </p:txBody>
      </p:sp>
      <p:graphicFrame>
        <p:nvGraphicFramePr>
          <p:cNvPr id="22" name="21 Tabla"/>
          <p:cNvGraphicFramePr>
            <a:graphicFrameLocks noGrp="1"/>
          </p:cNvGraphicFramePr>
          <p:nvPr/>
        </p:nvGraphicFramePr>
        <p:xfrm>
          <a:off x="738100" y="2137161"/>
          <a:ext cx="7667799" cy="2992120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190715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71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6301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2633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s-CO" sz="2000" dirty="0"/>
                        <a:t>Operador</a:t>
                      </a:r>
                      <a:endParaRPr lang="es-CO" sz="2000" dirty="0">
                        <a:latin typeface="Century Gothic" panose="020B050202020202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2000" dirty="0"/>
                        <a:t>Nombre</a:t>
                      </a:r>
                      <a:endParaRPr lang="es-CO" sz="2000" dirty="0">
                        <a:latin typeface="Century Gothic" panose="020B050202020202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2000" dirty="0"/>
                        <a:t>Ejemplo</a:t>
                      </a:r>
                      <a:endParaRPr lang="es-CO" sz="2000" dirty="0">
                        <a:latin typeface="Century Gothic" panose="020B050202020202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2000" dirty="0"/>
                        <a:t>Resultado</a:t>
                      </a:r>
                      <a:endParaRPr lang="es-CO" sz="2000" dirty="0">
                        <a:latin typeface="Century Gothic" panose="020B050202020202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s-CO" sz="1600" dirty="0">
                          <a:latin typeface="Consolas" panose="020B0609020204030204" pitchFamily="49" charset="0"/>
                        </a:rPr>
                        <a:t>+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1800" dirty="0"/>
                        <a:t>Suma</a:t>
                      </a:r>
                      <a:endParaRPr lang="es-CO" sz="1800" dirty="0"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1600" dirty="0">
                          <a:latin typeface="Consolas" panose="020B0609020204030204" pitchFamily="49" charset="0"/>
                        </a:rPr>
                        <a:t>1</a:t>
                      </a:r>
                      <a:r>
                        <a:rPr lang="es-CO" sz="1600" baseline="0" dirty="0">
                          <a:latin typeface="Consolas" panose="020B0609020204030204" pitchFamily="49" charset="0"/>
                        </a:rPr>
                        <a:t> + 3</a:t>
                      </a:r>
                      <a:endParaRPr lang="es-CO" sz="1600" dirty="0"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1600" dirty="0">
                          <a:latin typeface="Consolas" panose="020B0609020204030204" pitchFamily="49" charset="0"/>
                        </a:rPr>
                        <a:t>4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s-CO" sz="1600" dirty="0">
                          <a:latin typeface="Consolas" panose="020B0609020204030204" pitchFamily="49" charset="0"/>
                        </a:rPr>
                        <a:t>-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1800" dirty="0"/>
                        <a:t>Resta</a:t>
                      </a:r>
                      <a:endParaRPr lang="es-CO" sz="1800" dirty="0"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1600" dirty="0">
                          <a:latin typeface="Consolas" panose="020B0609020204030204" pitchFamily="49" charset="0"/>
                        </a:rPr>
                        <a:t>7 – 10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1600" dirty="0">
                          <a:latin typeface="Consolas" panose="020B0609020204030204" pitchFamily="49" charset="0"/>
                        </a:rPr>
                        <a:t>-3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s-CO" sz="1600" dirty="0">
                          <a:latin typeface="Consolas" panose="020B0609020204030204" pitchFamily="49" charset="0"/>
                        </a:rPr>
                        <a:t>*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1800" dirty="0"/>
                        <a:t>Multiplicación</a:t>
                      </a:r>
                      <a:endParaRPr lang="es-CO" sz="1800" dirty="0"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1600" dirty="0">
                          <a:latin typeface="Consolas" panose="020B0609020204030204" pitchFamily="49" charset="0"/>
                        </a:rPr>
                        <a:t>3*5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1600" dirty="0">
                          <a:latin typeface="Consolas" panose="020B0609020204030204" pitchFamily="49" charset="0"/>
                        </a:rPr>
                        <a:t>15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s-CO" sz="1600" dirty="0">
                          <a:latin typeface="Consolas" panose="020B0609020204030204" pitchFamily="49" charset="0"/>
                        </a:rPr>
                        <a:t>/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1800" dirty="0"/>
                        <a:t>División</a:t>
                      </a:r>
                      <a:endParaRPr lang="es-CO" sz="1800" dirty="0"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CO" sz="1600" dirty="0">
                          <a:latin typeface="Consolas" panose="020B0609020204030204" pitchFamily="49" charset="0"/>
                        </a:rPr>
                        <a:t>8/5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1600" dirty="0">
                          <a:latin typeface="Consolas" panose="020B0609020204030204" pitchFamily="49" charset="0"/>
                        </a:rPr>
                        <a:t>1.6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s-CO" sz="1600" dirty="0">
                          <a:latin typeface="Consolas" panose="020B0609020204030204" pitchFamily="49" charset="0"/>
                        </a:rPr>
                        <a:t>//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1800" dirty="0"/>
                        <a:t>División entera</a:t>
                      </a:r>
                      <a:endParaRPr lang="es-CO" sz="1800" dirty="0"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1600" dirty="0">
                          <a:latin typeface="Consolas" panose="020B0609020204030204" pitchFamily="49" charset="0"/>
                        </a:rPr>
                        <a:t>8//3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CO" sz="1600" dirty="0">
                          <a:latin typeface="Consolas" panose="020B0609020204030204" pitchFamily="49" charset="0"/>
                        </a:rPr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s-CO" sz="1600" dirty="0">
                          <a:latin typeface="Consolas" panose="020B0609020204030204" pitchFamily="49" charset="0"/>
                        </a:rPr>
                        <a:t>%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1800" dirty="0"/>
                        <a:t>Modulo</a:t>
                      </a:r>
                      <a:r>
                        <a:rPr lang="es-CO" sz="1800" baseline="0" dirty="0"/>
                        <a:t> (Residuo)</a:t>
                      </a:r>
                      <a:endParaRPr lang="es-CO" sz="1800" dirty="0"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1600" dirty="0">
                          <a:latin typeface="Consolas" panose="020B0609020204030204" pitchFamily="49" charset="0"/>
                        </a:rPr>
                        <a:t>15%7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CO" sz="1600" dirty="0">
                          <a:latin typeface="Consolas" panose="020B0609020204030204" pitchFamily="49" charset="0"/>
                        </a:rPr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s-CO" sz="1600" dirty="0">
                          <a:latin typeface="Consolas" panose="020B0609020204030204" pitchFamily="49" charset="0"/>
                        </a:rPr>
                        <a:t>** ó ^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1800" dirty="0"/>
                        <a:t>Potencia</a:t>
                      </a:r>
                      <a:endParaRPr lang="es-CO" sz="1800" dirty="0"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1600" dirty="0">
                          <a:latin typeface="Consolas" panose="020B0609020204030204" pitchFamily="49" charset="0"/>
                        </a:rPr>
                        <a:t>2**3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CO" sz="1600" dirty="0">
                          <a:latin typeface="Consolas" panose="020B0609020204030204" pitchFamily="49" charset="0"/>
                        </a:rPr>
                        <a:t>8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9965494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4 Título"/>
          <p:cNvSpPr>
            <a:spLocks noGrp="1"/>
          </p:cNvSpPr>
          <p:nvPr>
            <p:ph type="title"/>
          </p:nvPr>
        </p:nvSpPr>
        <p:spPr>
          <a:xfrm>
            <a:off x="107504" y="227698"/>
            <a:ext cx="7886700" cy="648488"/>
          </a:xfrm>
        </p:spPr>
        <p:txBody>
          <a:bodyPr>
            <a:normAutofit/>
          </a:bodyPr>
          <a:lstStyle/>
          <a:p>
            <a:r>
              <a:rPr lang="es-CO" sz="4000" dirty="0"/>
              <a:t>Operadores relacionales</a:t>
            </a:r>
          </a:p>
        </p:txBody>
      </p:sp>
      <p:sp>
        <p:nvSpPr>
          <p:cNvPr id="2" name="1 Marcador de contenido"/>
          <p:cNvSpPr>
            <a:spLocks noGrp="1"/>
          </p:cNvSpPr>
          <p:nvPr>
            <p:ph idx="1"/>
          </p:nvPr>
        </p:nvSpPr>
        <p:spPr>
          <a:xfrm>
            <a:off x="107504" y="941130"/>
            <a:ext cx="8229600" cy="648488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s-CO" sz="2200" dirty="0"/>
              <a:t>Un operador relacional compara sus operandos y devuelve un valor lógico (booleano) basado en si la comparación es verdad o no. </a:t>
            </a:r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F1CE28-A3C7-48DC-84A2-8FB08D6123C5}" type="slidenum">
              <a:rPr lang="en-US" smtClean="0"/>
              <a:pPr/>
              <a:t>9</a:t>
            </a:fld>
            <a:endParaRPr lang="en-US" dirty="0"/>
          </a:p>
        </p:txBody>
      </p:sp>
      <p:graphicFrame>
        <p:nvGraphicFramePr>
          <p:cNvPr id="22" name="21 Tabla"/>
          <p:cNvGraphicFramePr>
            <a:graphicFrameLocks noGrp="1"/>
          </p:cNvGraphicFramePr>
          <p:nvPr/>
        </p:nvGraphicFramePr>
        <p:xfrm>
          <a:off x="539552" y="1948912"/>
          <a:ext cx="7667799" cy="2621280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190715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71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6301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2633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s-CO" sz="2000" dirty="0"/>
                        <a:t>Operador</a:t>
                      </a:r>
                      <a:endParaRPr lang="es-CO" sz="2000" dirty="0">
                        <a:latin typeface="Century Gothic" panose="020B050202020202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2000" dirty="0"/>
                        <a:t>Nombre</a:t>
                      </a:r>
                      <a:endParaRPr lang="es-CO" sz="2000" dirty="0">
                        <a:latin typeface="Century Gothic" panose="020B050202020202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2000" dirty="0"/>
                        <a:t>Ejemplo</a:t>
                      </a:r>
                      <a:endParaRPr lang="es-CO" sz="2000" dirty="0">
                        <a:latin typeface="Century Gothic" panose="020B050202020202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2000" dirty="0"/>
                        <a:t>Resultado</a:t>
                      </a:r>
                      <a:endParaRPr lang="es-CO" sz="2000" dirty="0">
                        <a:latin typeface="Century Gothic" panose="020B050202020202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s-CO" sz="1600" dirty="0">
                          <a:latin typeface="Consolas" panose="020B0609020204030204" pitchFamily="49" charset="0"/>
                        </a:rPr>
                        <a:t>&gt;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1600" dirty="0"/>
                        <a:t>Mayor</a:t>
                      </a:r>
                      <a:endParaRPr lang="es-CO" sz="1600" dirty="0"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1400" baseline="0" dirty="0">
                          <a:latin typeface="Consolas" panose="020B0609020204030204" pitchFamily="49" charset="0"/>
                        </a:rPr>
                        <a:t>1 &gt; 3</a:t>
                      </a:r>
                      <a:endParaRPr lang="es-CO" sz="1400" dirty="0"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1400" dirty="0">
                          <a:latin typeface="Consolas" panose="020B0609020204030204" pitchFamily="49" charset="0"/>
                        </a:rPr>
                        <a:t>F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CO" sz="1600" dirty="0">
                          <a:latin typeface="Consolas" panose="020B0609020204030204" pitchFamily="49" charset="0"/>
                        </a:rPr>
                        <a:t>&gt;=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1600" dirty="0"/>
                        <a:t>Mayor</a:t>
                      </a:r>
                      <a:r>
                        <a:rPr lang="es-CO" sz="1600" baseline="0" dirty="0"/>
                        <a:t> o igual</a:t>
                      </a:r>
                      <a:endParaRPr lang="es-CO" sz="1600" dirty="0"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1400" dirty="0">
                          <a:latin typeface="Consolas" panose="020B0609020204030204" pitchFamily="49" charset="0"/>
                        </a:rPr>
                        <a:t>2</a:t>
                      </a:r>
                      <a:r>
                        <a:rPr lang="es-CO" sz="1400" baseline="0" dirty="0">
                          <a:latin typeface="Consolas" panose="020B0609020204030204" pitchFamily="49" charset="0"/>
                        </a:rPr>
                        <a:t> &gt;= 1</a:t>
                      </a:r>
                      <a:endParaRPr lang="es-CO" sz="1400" dirty="0"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1400" dirty="0">
                          <a:latin typeface="Consolas" panose="020B0609020204030204" pitchFamily="49" charset="0"/>
                        </a:rPr>
                        <a:t>V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s-CO" sz="1600" dirty="0">
                          <a:latin typeface="Consolas" panose="020B0609020204030204" pitchFamily="49" charset="0"/>
                        </a:rPr>
                        <a:t>&lt;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1600" dirty="0"/>
                        <a:t>Menor</a:t>
                      </a:r>
                      <a:endParaRPr lang="es-CO" sz="1600" dirty="0"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1400" dirty="0">
                          <a:latin typeface="Consolas" panose="020B0609020204030204" pitchFamily="49" charset="0"/>
                        </a:rPr>
                        <a:t>-5 &lt; -1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1400" dirty="0">
                          <a:latin typeface="Consolas" panose="020B0609020204030204" pitchFamily="49" charset="0"/>
                        </a:rPr>
                        <a:t>V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s-CO" sz="1600" dirty="0">
                          <a:latin typeface="Consolas" panose="020B0609020204030204" pitchFamily="49" charset="0"/>
                        </a:rPr>
                        <a:t>&lt;=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1600" dirty="0"/>
                        <a:t>Menor</a:t>
                      </a:r>
                      <a:r>
                        <a:rPr lang="es-CO" sz="1600" baseline="0" dirty="0"/>
                        <a:t> o igual</a:t>
                      </a:r>
                      <a:endParaRPr lang="es-CO" sz="1600" dirty="0"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CO" sz="1400" dirty="0">
                          <a:latin typeface="Consolas" panose="020B0609020204030204" pitchFamily="49" charset="0"/>
                        </a:rPr>
                        <a:t>3 &lt;= 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1400" dirty="0">
                          <a:latin typeface="Consolas" panose="020B0609020204030204" pitchFamily="49" charset="0"/>
                        </a:rPr>
                        <a:t>V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s-CO" sz="1600" dirty="0">
                          <a:latin typeface="Consolas" panose="020B0609020204030204" pitchFamily="49" charset="0"/>
                        </a:rPr>
                        <a:t>!=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1600" dirty="0"/>
                        <a:t>Diferente</a:t>
                      </a:r>
                      <a:endParaRPr lang="es-CO" sz="1600" dirty="0"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1400" dirty="0">
                          <a:latin typeface="Consolas" panose="020B0609020204030204" pitchFamily="49" charset="0"/>
                        </a:rPr>
                        <a:t>13</a:t>
                      </a:r>
                      <a:r>
                        <a:rPr lang="es-CO" sz="1400" baseline="0" dirty="0">
                          <a:latin typeface="Consolas" panose="020B0609020204030204" pitchFamily="49" charset="0"/>
                        </a:rPr>
                        <a:t> != 4</a:t>
                      </a:r>
                      <a:endParaRPr lang="es-CO" sz="1400" dirty="0"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CO" sz="1400" dirty="0">
                          <a:latin typeface="Consolas" panose="020B0609020204030204" pitchFamily="49" charset="0"/>
                        </a:rPr>
                        <a:t>V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s-CO" sz="1600" dirty="0">
                          <a:latin typeface="Consolas" panose="020B0609020204030204" pitchFamily="49" charset="0"/>
                        </a:rPr>
                        <a:t>==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1600" dirty="0"/>
                        <a:t>Igual</a:t>
                      </a:r>
                      <a:r>
                        <a:rPr lang="es-CO" sz="1600" baseline="0" dirty="0"/>
                        <a:t> (Comparación)</a:t>
                      </a:r>
                      <a:endParaRPr lang="es-CO" sz="1600" dirty="0"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1400" dirty="0">
                          <a:latin typeface="Consolas" panose="020B0609020204030204" pitchFamily="49" charset="0"/>
                        </a:rPr>
                        <a:t>0 ==</a:t>
                      </a:r>
                      <a:r>
                        <a:rPr lang="es-CO" sz="1400" baseline="0" dirty="0">
                          <a:latin typeface="Consolas" panose="020B0609020204030204" pitchFamily="49" charset="0"/>
                        </a:rPr>
                        <a:t> 1</a:t>
                      </a:r>
                      <a:endParaRPr lang="es-CO" sz="1400" dirty="0"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CO" sz="1400" dirty="0">
                          <a:latin typeface="Consolas" panose="020B0609020204030204" pitchFamily="49" charset="0"/>
                        </a:rPr>
                        <a:t>F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7511666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4 Título"/>
          <p:cNvSpPr>
            <a:spLocks noGrp="1"/>
          </p:cNvSpPr>
          <p:nvPr>
            <p:ph type="title"/>
          </p:nvPr>
        </p:nvSpPr>
        <p:spPr>
          <a:xfrm>
            <a:off x="229224" y="222206"/>
            <a:ext cx="7886700" cy="704893"/>
          </a:xfrm>
        </p:spPr>
        <p:txBody>
          <a:bodyPr>
            <a:normAutofit/>
          </a:bodyPr>
          <a:lstStyle/>
          <a:p>
            <a:r>
              <a:rPr lang="es-CO" sz="4000" dirty="0"/>
              <a:t>Operadores lógicos</a:t>
            </a:r>
          </a:p>
        </p:txBody>
      </p:sp>
      <p:sp>
        <p:nvSpPr>
          <p:cNvPr id="2" name="1 Marcador de contenido"/>
          <p:cNvSpPr>
            <a:spLocks noGrp="1"/>
          </p:cNvSpPr>
          <p:nvPr>
            <p:ph idx="1"/>
          </p:nvPr>
        </p:nvSpPr>
        <p:spPr>
          <a:xfrm>
            <a:off x="256110" y="1008352"/>
            <a:ext cx="8517632" cy="1370989"/>
          </a:xfrm>
        </p:spPr>
        <p:txBody>
          <a:bodyPr>
            <a:noAutofit/>
          </a:bodyPr>
          <a:lstStyle/>
          <a:p>
            <a:r>
              <a:rPr lang="es-CO" sz="2200" dirty="0"/>
              <a:t>Un operador lógico toma dos operandos lógicos cada uno de los cuales es un valor true (V) o false (F) y devuelve un valor true (V) o false (F).</a:t>
            </a:r>
          </a:p>
          <a:p>
            <a:r>
              <a:rPr lang="es-CO" sz="2200" dirty="0"/>
              <a:t>Un operador lógico se utiliza para combinar múltiples comparaciones en una expresión condicional. </a:t>
            </a:r>
          </a:p>
          <a:p>
            <a:endParaRPr lang="es-CO" sz="2200" dirty="0"/>
          </a:p>
        </p:txBody>
      </p:sp>
      <p:graphicFrame>
        <p:nvGraphicFramePr>
          <p:cNvPr id="3" name="2 Tab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55021194"/>
              </p:ext>
            </p:extLst>
          </p:nvPr>
        </p:nvGraphicFramePr>
        <p:xfrm>
          <a:off x="559949" y="3140968"/>
          <a:ext cx="1584176" cy="1112520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7920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9208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s-CO" sz="1600" dirty="0"/>
                        <a:t>x</a:t>
                      </a:r>
                      <a:endParaRPr lang="es-CO" sz="1600" dirty="0">
                        <a:latin typeface="Century Gothic" panose="020B050202020202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1600" dirty="0"/>
                        <a:t>not(x)</a:t>
                      </a:r>
                      <a:endParaRPr lang="es-CO" sz="1600" dirty="0">
                        <a:latin typeface="Century Gothic" panose="020B050202020202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s-CO" sz="1600" dirty="0">
                          <a:latin typeface="Consolas" panose="020B0609020204030204" pitchFamily="49" charset="0"/>
                        </a:rPr>
                        <a:t>F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1600" dirty="0">
                          <a:latin typeface="Consolas" panose="020B0609020204030204" pitchFamily="49" charset="0"/>
                        </a:rPr>
                        <a:t>V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CO" sz="1600" dirty="0">
                          <a:latin typeface="Consolas" panose="020B0609020204030204" pitchFamily="49" charset="0"/>
                        </a:rPr>
                        <a:t>V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CO" sz="1600" dirty="0">
                          <a:latin typeface="Consolas" panose="020B0609020204030204" pitchFamily="49" charset="0"/>
                        </a:rPr>
                        <a:t>F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7" name="6 Tab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8990913"/>
              </p:ext>
            </p:extLst>
          </p:nvPr>
        </p:nvGraphicFramePr>
        <p:xfrm>
          <a:off x="2915816" y="3140968"/>
          <a:ext cx="2376263" cy="1818640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68988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3587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5050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s-CO" sz="1600" dirty="0"/>
                        <a:t>x</a:t>
                      </a:r>
                      <a:endParaRPr lang="es-CO" sz="1600" dirty="0">
                        <a:latin typeface="Century Gothic" panose="020B050202020202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1600" dirty="0"/>
                        <a:t>y</a:t>
                      </a:r>
                      <a:endParaRPr lang="es-CO" sz="1600" dirty="0">
                        <a:latin typeface="Century Gothic" panose="020B050202020202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1600" dirty="0"/>
                        <a:t>x and</a:t>
                      </a:r>
                      <a:r>
                        <a:rPr lang="es-CO" sz="1600" baseline="0" dirty="0"/>
                        <a:t> y</a:t>
                      </a:r>
                      <a:endParaRPr lang="es-CO" sz="1600" dirty="0">
                        <a:latin typeface="Century Gothic" panose="020B050202020202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s-CO" sz="1600" dirty="0">
                          <a:latin typeface="Consolas" panose="020B0609020204030204" pitchFamily="49" charset="0"/>
                        </a:rPr>
                        <a:t>F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1600" dirty="0">
                          <a:latin typeface="Consolas" panose="020B0609020204030204" pitchFamily="49" charset="0"/>
                        </a:rPr>
                        <a:t>F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1600" dirty="0">
                          <a:latin typeface="Consolas" panose="020B0609020204030204" pitchFamily="49" charset="0"/>
                        </a:rPr>
                        <a:t>F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CO" sz="1600" dirty="0">
                          <a:latin typeface="Consolas" panose="020B0609020204030204" pitchFamily="49" charset="0"/>
                        </a:rPr>
                        <a:t>F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CO" sz="1600" dirty="0">
                          <a:latin typeface="Consolas" panose="020B0609020204030204" pitchFamily="49" charset="0"/>
                        </a:rPr>
                        <a:t>V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CO" sz="1600" dirty="0">
                          <a:latin typeface="Consolas" panose="020B0609020204030204" pitchFamily="49" charset="0"/>
                        </a:rPr>
                        <a:t>F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CO" sz="1600" dirty="0">
                          <a:latin typeface="Consolas" panose="020B0609020204030204" pitchFamily="49" charset="0"/>
                        </a:rPr>
                        <a:t>V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CO" sz="1600" dirty="0">
                          <a:latin typeface="Consolas" panose="020B0609020204030204" pitchFamily="49" charset="0"/>
                        </a:rPr>
                        <a:t>F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CO" sz="1600" dirty="0">
                          <a:latin typeface="Consolas" panose="020B0609020204030204" pitchFamily="49" charset="0"/>
                        </a:rPr>
                        <a:t>F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32120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CO" sz="1600" dirty="0">
                          <a:latin typeface="Consolas" panose="020B0609020204030204" pitchFamily="49" charset="0"/>
                        </a:rPr>
                        <a:t>V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CO" sz="1600" dirty="0">
                          <a:latin typeface="Consolas" panose="020B0609020204030204" pitchFamily="49" charset="0"/>
                        </a:rPr>
                        <a:t>V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CO" sz="1600" dirty="0">
                          <a:latin typeface="Consolas" panose="020B0609020204030204" pitchFamily="49" charset="0"/>
                        </a:rPr>
                        <a:t>V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8" name="7 Tab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60329744"/>
              </p:ext>
            </p:extLst>
          </p:nvPr>
        </p:nvGraphicFramePr>
        <p:xfrm>
          <a:off x="5897402" y="3140146"/>
          <a:ext cx="2376263" cy="1803208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68988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3587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5050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7680">
                <a:tc>
                  <a:txBody>
                    <a:bodyPr/>
                    <a:lstStyle/>
                    <a:p>
                      <a:pPr algn="ctr"/>
                      <a:r>
                        <a:rPr lang="es-CO" sz="1600" dirty="0"/>
                        <a:t>x</a:t>
                      </a:r>
                      <a:endParaRPr lang="es-CO" sz="1600" dirty="0">
                        <a:latin typeface="Century Gothic" panose="020B050202020202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1600" dirty="0"/>
                        <a:t>y</a:t>
                      </a:r>
                      <a:endParaRPr lang="es-CO" sz="1600" dirty="0">
                        <a:latin typeface="Century Gothic" panose="020B050202020202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1600" dirty="0"/>
                        <a:t>x or</a:t>
                      </a:r>
                      <a:r>
                        <a:rPr lang="es-CO" sz="1600" baseline="0" dirty="0"/>
                        <a:t> y</a:t>
                      </a:r>
                      <a:endParaRPr lang="es-CO" sz="1600" dirty="0">
                        <a:latin typeface="Century Gothic" panose="020B050202020202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58882">
                <a:tc>
                  <a:txBody>
                    <a:bodyPr/>
                    <a:lstStyle/>
                    <a:p>
                      <a:pPr algn="ctr"/>
                      <a:r>
                        <a:rPr lang="es-CO" sz="1400" dirty="0">
                          <a:latin typeface="Consolas" panose="020B0609020204030204" pitchFamily="49" charset="0"/>
                        </a:rPr>
                        <a:t>F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1400" dirty="0">
                          <a:latin typeface="Consolas" panose="020B0609020204030204" pitchFamily="49" charset="0"/>
                        </a:rPr>
                        <a:t>F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1400" dirty="0">
                          <a:latin typeface="Consolas" panose="020B0609020204030204" pitchFamily="49" charset="0"/>
                        </a:rPr>
                        <a:t>F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58882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CO" sz="1400" dirty="0">
                          <a:latin typeface="Consolas" panose="020B0609020204030204" pitchFamily="49" charset="0"/>
                        </a:rPr>
                        <a:t>F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CO" sz="1400" dirty="0">
                          <a:latin typeface="Consolas" panose="020B0609020204030204" pitchFamily="49" charset="0"/>
                        </a:rPr>
                        <a:t>V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CO" sz="1400" dirty="0">
                          <a:latin typeface="Consolas" panose="020B0609020204030204" pitchFamily="49" charset="0"/>
                        </a:rPr>
                        <a:t>V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58882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CO" sz="1400" dirty="0">
                          <a:latin typeface="Consolas" panose="020B0609020204030204" pitchFamily="49" charset="0"/>
                        </a:rPr>
                        <a:t>V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CO" sz="1400" dirty="0">
                          <a:latin typeface="Consolas" panose="020B0609020204030204" pitchFamily="49" charset="0"/>
                        </a:rPr>
                        <a:t>F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CO" sz="1400" dirty="0">
                          <a:latin typeface="Consolas" panose="020B0609020204030204" pitchFamily="49" charset="0"/>
                        </a:rPr>
                        <a:t>V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58882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CO" sz="1400" dirty="0">
                          <a:latin typeface="Consolas" panose="020B0609020204030204" pitchFamily="49" charset="0"/>
                        </a:rPr>
                        <a:t>V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CO" sz="1400" dirty="0">
                          <a:latin typeface="Consolas" panose="020B0609020204030204" pitchFamily="49" charset="0"/>
                        </a:rPr>
                        <a:t>V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CO" sz="1400" dirty="0">
                          <a:latin typeface="Consolas" panose="020B0609020204030204" pitchFamily="49" charset="0"/>
                        </a:rPr>
                        <a:t>V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5 Rectángulo"/>
          <p:cNvSpPr/>
          <p:nvPr/>
        </p:nvSpPr>
        <p:spPr>
          <a:xfrm>
            <a:off x="1098685" y="2732504"/>
            <a:ext cx="500458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s-CO" sz="1600" b="1" dirty="0" err="1">
                <a:latin typeface="Century Gothic" panose="020B0502020202020204" pitchFamily="34" charset="0"/>
              </a:rPr>
              <a:t>not</a:t>
            </a:r>
            <a:endParaRPr lang="es-CO" sz="1600" b="1" dirty="0">
              <a:latin typeface="Century Gothic" panose="020B0502020202020204" pitchFamily="34" charset="0"/>
            </a:endParaRPr>
          </a:p>
        </p:txBody>
      </p:sp>
      <p:sp>
        <p:nvSpPr>
          <p:cNvPr id="10" name="9 Rectángulo"/>
          <p:cNvSpPr/>
          <p:nvPr/>
        </p:nvSpPr>
        <p:spPr>
          <a:xfrm>
            <a:off x="3805628" y="2736076"/>
            <a:ext cx="596638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s-CO" sz="1600" b="1" dirty="0">
                <a:latin typeface="Century Gothic" panose="020B0502020202020204" pitchFamily="34" charset="0"/>
              </a:rPr>
              <a:t>and</a:t>
            </a:r>
          </a:p>
        </p:txBody>
      </p:sp>
      <p:sp>
        <p:nvSpPr>
          <p:cNvPr id="11" name="10 Rectángulo"/>
          <p:cNvSpPr/>
          <p:nvPr/>
        </p:nvSpPr>
        <p:spPr>
          <a:xfrm>
            <a:off x="6873777" y="2736076"/>
            <a:ext cx="381836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s-CO" sz="1600" b="1" dirty="0" err="1">
                <a:latin typeface="Century Gothic" panose="020B0502020202020204" pitchFamily="34" charset="0"/>
              </a:rPr>
              <a:t>or</a:t>
            </a:r>
            <a:endParaRPr lang="es-CO" sz="1600" b="1" dirty="0">
              <a:latin typeface="Century Gothic" panose="020B0502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3978151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4 Título"/>
          <p:cNvSpPr>
            <a:spLocks noGrp="1"/>
          </p:cNvSpPr>
          <p:nvPr>
            <p:ph type="title"/>
          </p:nvPr>
        </p:nvSpPr>
        <p:spPr>
          <a:xfrm>
            <a:off x="203518" y="116632"/>
            <a:ext cx="8229600" cy="809827"/>
          </a:xfrm>
        </p:spPr>
        <p:txBody>
          <a:bodyPr>
            <a:normAutofit/>
          </a:bodyPr>
          <a:lstStyle/>
          <a:p>
            <a:r>
              <a:rPr lang="es-CO" sz="4000" dirty="0"/>
              <a:t>Reglas de prioridad y asociatividad</a:t>
            </a:r>
          </a:p>
        </p:txBody>
      </p:sp>
      <p:sp>
        <p:nvSpPr>
          <p:cNvPr id="7" name="6 Marcador de contenido"/>
          <p:cNvSpPr>
            <a:spLocks noGrp="1"/>
          </p:cNvSpPr>
          <p:nvPr>
            <p:ph idx="1"/>
          </p:nvPr>
        </p:nvSpPr>
        <p:spPr>
          <a:xfrm>
            <a:off x="171448" y="908720"/>
            <a:ext cx="8769033" cy="648072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s-CO" sz="2200" dirty="0"/>
              <a:t>Cuando concurren en una misma expresión diferentes tipos de operadores se llevan a cabo las reglas de prioridad y asociatividad.</a:t>
            </a:r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F1CE28-A3C7-48DC-84A2-8FB08D6123C5}" type="slidenum">
              <a:rPr lang="en-US" smtClean="0"/>
              <a:pPr/>
              <a:t>11</a:t>
            </a:fld>
            <a:endParaRPr lang="en-US" dirty="0"/>
          </a:p>
        </p:txBody>
      </p:sp>
      <p:graphicFrame>
        <p:nvGraphicFramePr>
          <p:cNvPr id="6" name="5 Tabla">
            <a:extLst>
              <a:ext uri="{FF2B5EF4-FFF2-40B4-BE49-F238E27FC236}">
                <a16:creationId xmlns:a16="http://schemas.microsoft.com/office/drawing/2014/main" id="{9086FDFB-1C8F-49DD-87EB-7FFAA909FFE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25716689"/>
              </p:ext>
            </p:extLst>
          </p:nvPr>
        </p:nvGraphicFramePr>
        <p:xfrm>
          <a:off x="368333" y="1700808"/>
          <a:ext cx="8407333" cy="3733800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117061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388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49783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s-CO" sz="2000" dirty="0"/>
                        <a:t>Prioridad</a:t>
                      </a:r>
                      <a:endParaRPr lang="es-CO" sz="2000" dirty="0">
                        <a:latin typeface="Century Gothic" panose="020B050202020202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2000" dirty="0"/>
                        <a:t>Operadores</a:t>
                      </a:r>
                      <a:endParaRPr lang="es-CO" sz="2000" dirty="0">
                        <a:latin typeface="Century Gothic" panose="020B050202020202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2000" dirty="0"/>
                        <a:t>Asociatividad</a:t>
                      </a:r>
                      <a:endParaRPr lang="es-CO" sz="2000" dirty="0">
                        <a:latin typeface="Century Gothic" panose="020B050202020202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s-CO" sz="1800" dirty="0"/>
                        <a:t>1</a:t>
                      </a:r>
                      <a:endParaRPr lang="es-CO" sz="1800" dirty="0"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1800" dirty="0"/>
                        <a:t>()</a:t>
                      </a:r>
                      <a:endParaRPr lang="es-CO" sz="1800" dirty="0"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1800" dirty="0"/>
                        <a:t>Adentro</a:t>
                      </a:r>
                      <a:r>
                        <a:rPr lang="es-CO" sz="1800" baseline="0" dirty="0"/>
                        <a:t> </a:t>
                      </a:r>
                      <a:r>
                        <a:rPr lang="es-CO" sz="1800" baseline="0" dirty="0">
                          <a:sym typeface="Wingdings" panose="05000000000000000000" pitchFamily="2" charset="2"/>
                        </a:rPr>
                        <a:t> Afuera</a:t>
                      </a:r>
                      <a:endParaRPr lang="es-CO" sz="1800" dirty="0"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s-CO" sz="1600" dirty="0">
                          <a:latin typeface="Consolas" panose="020B0609020204030204" pitchFamily="49" charset="0"/>
                        </a:rPr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CO" sz="1600" dirty="0">
                          <a:latin typeface="Consolas" panose="020B0609020204030204" pitchFamily="49" charset="0"/>
                        </a:rPr>
                        <a:t>**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1600" dirty="0">
                          <a:latin typeface="Consolas" panose="020B0609020204030204" pitchFamily="49" charset="0"/>
                        </a:rPr>
                        <a:t>D </a:t>
                      </a:r>
                      <a:r>
                        <a:rPr lang="es-CO" sz="1600" dirty="0">
                          <a:latin typeface="Consolas" panose="020B0609020204030204" pitchFamily="49" charset="0"/>
                          <a:sym typeface="Wingdings" panose="05000000000000000000" pitchFamily="2" charset="2"/>
                        </a:rPr>
                        <a:t> I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CO" sz="1600" dirty="0">
                          <a:latin typeface="Consolas" panose="020B0609020204030204" pitchFamily="49" charset="0"/>
                        </a:rPr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CO" sz="1600" dirty="0">
                          <a:latin typeface="Consolas" panose="020B0609020204030204" pitchFamily="49" charset="0"/>
                        </a:rPr>
                        <a:t>+ (unitario), - (unitario)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1600" dirty="0">
                          <a:latin typeface="Consolas" panose="020B0609020204030204" pitchFamily="49" charset="0"/>
                        </a:rPr>
                        <a:t>D </a:t>
                      </a:r>
                      <a:r>
                        <a:rPr lang="es-CO" sz="1600" dirty="0">
                          <a:latin typeface="Consolas" panose="020B0609020204030204" pitchFamily="49" charset="0"/>
                          <a:sym typeface="Wingdings" panose="05000000000000000000" pitchFamily="2" charset="2"/>
                        </a:rPr>
                        <a:t> I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s-CO" sz="1600" dirty="0">
                          <a:latin typeface="Consolas" panose="020B0609020204030204" pitchFamily="49" charset="0"/>
                        </a:rPr>
                        <a:t>4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1600" dirty="0">
                          <a:latin typeface="Consolas" panose="020B0609020204030204" pitchFamily="49" charset="0"/>
                        </a:rPr>
                        <a:t>*,</a:t>
                      </a:r>
                      <a:r>
                        <a:rPr lang="es-CO" sz="1600" baseline="0" dirty="0">
                          <a:latin typeface="Consolas" panose="020B0609020204030204" pitchFamily="49" charset="0"/>
                        </a:rPr>
                        <a:t> /, //, %</a:t>
                      </a:r>
                      <a:endParaRPr lang="es-CO" sz="1600" dirty="0"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1600" dirty="0">
                          <a:latin typeface="Consolas" panose="020B0609020204030204" pitchFamily="49" charset="0"/>
                        </a:rPr>
                        <a:t>I</a:t>
                      </a:r>
                      <a:r>
                        <a:rPr lang="es-CO" sz="1600" baseline="0" dirty="0"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s-CO" sz="1600" baseline="0" dirty="0">
                          <a:latin typeface="Consolas" panose="020B0609020204030204" pitchFamily="49" charset="0"/>
                          <a:sym typeface="Wingdings" panose="05000000000000000000" pitchFamily="2" charset="2"/>
                        </a:rPr>
                        <a:t> D</a:t>
                      </a:r>
                      <a:endParaRPr lang="es-CO" sz="1600" dirty="0"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s-CO" sz="1600" dirty="0">
                          <a:latin typeface="Consolas" panose="020B0609020204030204" pitchFamily="49" charset="0"/>
                        </a:rPr>
                        <a:t>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1600" dirty="0">
                          <a:latin typeface="Consolas" panose="020B0609020204030204" pitchFamily="49" charset="0"/>
                        </a:rPr>
                        <a:t>+, - (binarios)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CO" sz="1600" dirty="0">
                          <a:latin typeface="Consolas" panose="020B0609020204030204" pitchFamily="49" charset="0"/>
                        </a:rPr>
                        <a:t>I</a:t>
                      </a:r>
                      <a:r>
                        <a:rPr lang="es-CO" sz="1600" baseline="0" dirty="0"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s-CO" sz="1600" baseline="0" dirty="0">
                          <a:latin typeface="Consolas" panose="020B0609020204030204" pitchFamily="49" charset="0"/>
                          <a:sym typeface="Wingdings" panose="05000000000000000000" pitchFamily="2" charset="2"/>
                        </a:rPr>
                        <a:t> D</a:t>
                      </a:r>
                      <a:endParaRPr lang="es-CO" sz="1600" dirty="0"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s-CO" sz="1600" dirty="0">
                          <a:latin typeface="Consolas" panose="020B0609020204030204" pitchFamily="49" charset="0"/>
                        </a:rPr>
                        <a:t>6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CO" sz="1600" dirty="0">
                          <a:latin typeface="Consolas" panose="020B0609020204030204" pitchFamily="49" charset="0"/>
                        </a:rPr>
                        <a:t>&gt;, &gt;=, &lt;, &lt;=, !=, ==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CO" sz="1600" dirty="0">
                          <a:latin typeface="Consolas" panose="020B0609020204030204" pitchFamily="49" charset="0"/>
                        </a:rPr>
                        <a:t>I</a:t>
                      </a:r>
                      <a:r>
                        <a:rPr lang="es-CO" sz="1600" baseline="0" dirty="0"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s-CO" sz="1600" baseline="0" dirty="0">
                          <a:latin typeface="Consolas" panose="020B0609020204030204" pitchFamily="49" charset="0"/>
                          <a:sym typeface="Wingdings" panose="05000000000000000000" pitchFamily="2" charset="2"/>
                        </a:rPr>
                        <a:t> D (encadenados)</a:t>
                      </a:r>
                      <a:endParaRPr lang="es-CO" sz="1600" dirty="0"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s-CO" sz="1600" dirty="0">
                          <a:latin typeface="Consolas" panose="020B0609020204030204" pitchFamily="49" charset="0"/>
                        </a:rPr>
                        <a:t>7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1600" dirty="0" err="1">
                          <a:latin typeface="Consolas" panose="020B0609020204030204" pitchFamily="49" charset="0"/>
                        </a:rPr>
                        <a:t>not</a:t>
                      </a:r>
                      <a:endParaRPr lang="es-CO" sz="1600" dirty="0"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CO" sz="1600" dirty="0">
                          <a:latin typeface="Consolas" panose="020B0609020204030204" pitchFamily="49" charset="0"/>
                        </a:rPr>
                        <a:t>D </a:t>
                      </a:r>
                      <a:r>
                        <a:rPr lang="es-CO" sz="1600" dirty="0">
                          <a:latin typeface="Consolas" panose="020B0609020204030204" pitchFamily="49" charset="0"/>
                          <a:sym typeface="Wingdings" panose="05000000000000000000" pitchFamily="2" charset="2"/>
                        </a:rPr>
                        <a:t> I</a:t>
                      </a:r>
                      <a:endParaRPr lang="es-CO" sz="1600" dirty="0"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6117045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s-CO" sz="1600" dirty="0">
                          <a:latin typeface="Consolas" panose="020B0609020204030204" pitchFamily="49" charset="0"/>
                        </a:rPr>
                        <a:t>8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1600" dirty="0">
                          <a:latin typeface="Consolas" panose="020B0609020204030204" pitchFamily="49" charset="0"/>
                        </a:rPr>
                        <a:t>and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CO" sz="1600" dirty="0">
                          <a:latin typeface="Consolas" panose="020B0609020204030204" pitchFamily="49" charset="0"/>
                        </a:rPr>
                        <a:t>I</a:t>
                      </a:r>
                      <a:r>
                        <a:rPr lang="es-CO" sz="1600" baseline="0" dirty="0"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s-CO" sz="1600" baseline="0" dirty="0">
                          <a:latin typeface="Consolas" panose="020B0609020204030204" pitchFamily="49" charset="0"/>
                          <a:sym typeface="Wingdings" panose="05000000000000000000" pitchFamily="2" charset="2"/>
                        </a:rPr>
                        <a:t> D</a:t>
                      </a:r>
                      <a:endParaRPr lang="es-CO" sz="1600" dirty="0"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s-CO" sz="1600" dirty="0">
                          <a:latin typeface="Consolas" panose="020B0609020204030204" pitchFamily="49" charset="0"/>
                        </a:rPr>
                        <a:t>9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1600" dirty="0">
                          <a:latin typeface="Consolas" panose="020B0609020204030204" pitchFamily="49" charset="0"/>
                        </a:rPr>
                        <a:t>or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CO" sz="1600" dirty="0">
                          <a:latin typeface="Consolas" panose="020B0609020204030204" pitchFamily="49" charset="0"/>
                        </a:rPr>
                        <a:t>I</a:t>
                      </a:r>
                      <a:r>
                        <a:rPr lang="es-CO" sz="1600" baseline="0" dirty="0"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s-CO" sz="1600" baseline="0" dirty="0">
                          <a:latin typeface="Consolas" panose="020B0609020204030204" pitchFamily="49" charset="0"/>
                          <a:sym typeface="Wingdings" panose="05000000000000000000" pitchFamily="2" charset="2"/>
                        </a:rPr>
                        <a:t> D</a:t>
                      </a:r>
                      <a:endParaRPr lang="es-CO" sz="1600" dirty="0"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4008628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153303" y="224190"/>
            <a:ext cx="7886700" cy="722986"/>
          </a:xfrm>
        </p:spPr>
        <p:txBody>
          <a:bodyPr>
            <a:normAutofit/>
          </a:bodyPr>
          <a:lstStyle/>
          <a:p>
            <a:r>
              <a:rPr lang="es-CO" sz="4000" dirty="0"/>
              <a:t>Prueba de Escritorio</a:t>
            </a:r>
          </a:p>
        </p:txBody>
      </p:sp>
      <p:sp>
        <p:nvSpPr>
          <p:cNvPr id="4" name="3 Rectángulo"/>
          <p:cNvSpPr/>
          <p:nvPr/>
        </p:nvSpPr>
        <p:spPr>
          <a:xfrm>
            <a:off x="5693269" y="4509120"/>
            <a:ext cx="3271219" cy="24487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s-CO" sz="1000" dirty="0"/>
              <a:t>Fuente: </a:t>
            </a:r>
            <a:r>
              <a:rPr lang="es-CO" sz="1000" dirty="0">
                <a:hlinkClick r:id="rId2"/>
              </a:rPr>
              <a:t>https://www.youtube.com/watch?v=7MAeSbiLRPo</a:t>
            </a:r>
            <a:r>
              <a:rPr lang="es-CO" sz="1000" dirty="0"/>
              <a:t> </a:t>
            </a:r>
          </a:p>
        </p:txBody>
      </p:sp>
      <p:pic>
        <p:nvPicPr>
          <p:cNvPr id="3074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40151" y="2668264"/>
            <a:ext cx="2803541" cy="182509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8" name="Picture 2" descr="http://www.dreamincode.net/forums/uploads/monthly_12_2011/post-573105-13230370299459.jpg">
            <a:extLst>
              <a:ext uri="{FF2B5EF4-FFF2-40B4-BE49-F238E27FC236}">
                <a16:creationId xmlns:a16="http://schemas.microsoft.com/office/drawing/2014/main" id="{CD955118-C44D-4902-99E3-1FD9A07E8F4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6977" y="1124744"/>
            <a:ext cx="5363135" cy="46352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390381275"/>
      </p:ext>
    </p:extLst>
  </p:cSld>
  <p:clrMapOvr>
    <a:masterClrMapping/>
  </p:clrMapOvr>
  <p:transition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197997" y="260648"/>
            <a:ext cx="7886700" cy="720080"/>
          </a:xfrm>
        </p:spPr>
        <p:txBody>
          <a:bodyPr>
            <a:normAutofit/>
          </a:bodyPr>
          <a:lstStyle/>
          <a:p>
            <a:r>
              <a:rPr lang="es-CO" sz="4000" dirty="0"/>
              <a:t>Prueba de Escritorio</a:t>
            </a:r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504" y="1052736"/>
            <a:ext cx="2408177" cy="51981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8" name="CuadroTexto 7">
            <a:extLst>
              <a:ext uri="{FF2B5EF4-FFF2-40B4-BE49-F238E27FC236}">
                <a16:creationId xmlns:a16="http://schemas.microsoft.com/office/drawing/2014/main" id="{EFFCC8AA-B74C-4A36-B3E9-CFE5FAA9D4FC}"/>
              </a:ext>
            </a:extLst>
          </p:cNvPr>
          <p:cNvSpPr txBox="1"/>
          <p:nvPr/>
        </p:nvSpPr>
        <p:spPr>
          <a:xfrm>
            <a:off x="2483768" y="980728"/>
            <a:ext cx="6462235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CO" sz="2000" b="1" dirty="0"/>
              <a:t>Ejemplo:</a:t>
            </a:r>
          </a:p>
          <a:p>
            <a:pPr indent="-57150"/>
            <a:r>
              <a:rPr lang="es-CO" sz="2000" dirty="0"/>
              <a:t>Dado el diagrama de flujo de la figura, hacer la prueba de escritorio y a partir de esta determinar los valores finales de las variables y la salida en pantalla. Suponga que los valores ingresados por el usuario son </a:t>
            </a:r>
            <a:r>
              <a:rPr lang="es-CO" dirty="0">
                <a:latin typeface="Consolas" panose="020B0609020204030204" pitchFamily="49" charset="0"/>
              </a:rPr>
              <a:t>x = 10</a:t>
            </a:r>
            <a:r>
              <a:rPr lang="es-CO" sz="2000" dirty="0"/>
              <a:t>, </a:t>
            </a:r>
            <a:r>
              <a:rPr lang="es-CO" dirty="0">
                <a:latin typeface="Consolas" panose="020B0609020204030204" pitchFamily="49" charset="0"/>
              </a:rPr>
              <a:t>y = 5</a:t>
            </a:r>
            <a:r>
              <a:rPr lang="es-CO" sz="2000" dirty="0"/>
              <a:t> y </a:t>
            </a:r>
            <a:r>
              <a:rPr lang="es-CO" dirty="0">
                <a:latin typeface="Consolas" panose="020B0609020204030204" pitchFamily="49" charset="0"/>
              </a:rPr>
              <a:t>z = 4</a:t>
            </a:r>
            <a:r>
              <a:rPr lang="es-CO" sz="2000" dirty="0"/>
              <a:t>.</a:t>
            </a:r>
          </a:p>
          <a:p>
            <a:pPr indent="-57150"/>
            <a:endParaRPr lang="es-CO" sz="2000" dirty="0"/>
          </a:p>
          <a:p>
            <a:pPr indent="-57150"/>
            <a:r>
              <a:rPr lang="es-CO" sz="2000" b="1" dirty="0"/>
              <a:t>Variables:</a:t>
            </a:r>
            <a:r>
              <a:rPr lang="es-CO" sz="2000" dirty="0"/>
              <a:t> </a:t>
            </a:r>
            <a:r>
              <a:rPr lang="es-CO" dirty="0">
                <a:latin typeface="Consolas" panose="020B0609020204030204" pitchFamily="49" charset="0"/>
              </a:rPr>
              <a:t>x</a:t>
            </a:r>
            <a:r>
              <a:rPr lang="es-CO" sz="2000" dirty="0"/>
              <a:t>, </a:t>
            </a:r>
            <a:r>
              <a:rPr lang="es-CO" dirty="0">
                <a:latin typeface="Consolas" panose="020B0609020204030204" pitchFamily="49" charset="0"/>
              </a:rPr>
              <a:t>y</a:t>
            </a:r>
            <a:r>
              <a:rPr lang="es-CO" sz="2000" dirty="0"/>
              <a:t>, </a:t>
            </a:r>
            <a:r>
              <a:rPr lang="es-CO" dirty="0">
                <a:latin typeface="Consolas" panose="020B0609020204030204" pitchFamily="49" charset="0"/>
              </a:rPr>
              <a:t>z</a:t>
            </a:r>
            <a:endParaRPr lang="es-CO" sz="2000" dirty="0">
              <a:latin typeface="Consolas" panose="020B0609020204030204" pitchFamily="49" charset="0"/>
            </a:endParaRPr>
          </a:p>
          <a:p>
            <a:pPr indent="-57150"/>
            <a:endParaRPr lang="es-CO" sz="2000" dirty="0"/>
          </a:p>
          <a:p>
            <a:pPr indent="-57150"/>
            <a:r>
              <a:rPr lang="es-CO" sz="2000" b="1" dirty="0"/>
              <a:t>Tabla para la prueba de escritorio:</a:t>
            </a:r>
            <a:endParaRPr lang="es-CO" sz="2000" dirty="0"/>
          </a:p>
        </p:txBody>
      </p:sp>
      <p:graphicFrame>
        <p:nvGraphicFramePr>
          <p:cNvPr id="10" name="6 Tabla">
            <a:extLst>
              <a:ext uri="{FF2B5EF4-FFF2-40B4-BE49-F238E27FC236}">
                <a16:creationId xmlns:a16="http://schemas.microsoft.com/office/drawing/2014/main" id="{042C4704-B8E7-4BE5-AFD3-E0DEA5F8A9B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13827475"/>
              </p:ext>
            </p:extLst>
          </p:nvPr>
        </p:nvGraphicFramePr>
        <p:xfrm>
          <a:off x="3851920" y="3957672"/>
          <a:ext cx="3456384" cy="101092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521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521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521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s-CO" sz="1800" b="1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x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1800" b="1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y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1800" b="1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z</a:t>
                      </a:r>
                    </a:p>
                  </a:txBody>
                  <a:tcPr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s-CO" sz="1800" b="1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  <a:p>
                      <a:endParaRPr lang="es-CO" sz="1800" b="1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s-CO" sz="1800" b="1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s-CO" sz="1800" b="1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6" name="41 Tabla">
            <a:extLst>
              <a:ext uri="{FF2B5EF4-FFF2-40B4-BE49-F238E27FC236}">
                <a16:creationId xmlns:a16="http://schemas.microsoft.com/office/drawing/2014/main" id="{24A1697D-8FE7-42E1-B3BC-06C5DD0ED76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11772678"/>
              </p:ext>
            </p:extLst>
          </p:nvPr>
        </p:nvGraphicFramePr>
        <p:xfrm>
          <a:off x="2810092" y="5257120"/>
          <a:ext cx="2952328" cy="144272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29614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5618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49736">
                <a:tc>
                  <a:txBody>
                    <a:bodyPr/>
                    <a:lstStyle/>
                    <a:p>
                      <a:pPr algn="ctr"/>
                      <a:r>
                        <a:rPr lang="es-CO" sz="1800" b="1" dirty="0">
                          <a:solidFill>
                            <a:schemeClr val="bg1"/>
                          </a:solidFill>
                          <a:latin typeface="+mn-lt"/>
                          <a:cs typeface="Consolas" panose="020B0609020204030204" pitchFamily="49" charset="0"/>
                        </a:rPr>
                        <a:t>Variable</a:t>
                      </a:r>
                    </a:p>
                  </a:txBody>
                  <a:tcP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1800" b="1" dirty="0">
                          <a:solidFill>
                            <a:schemeClr val="bg1"/>
                          </a:solidFill>
                          <a:latin typeface="+mn-lt"/>
                          <a:cs typeface="Consolas" panose="020B0609020204030204" pitchFamily="49" charset="0"/>
                        </a:rPr>
                        <a:t>Valor</a:t>
                      </a:r>
                      <a:r>
                        <a:rPr lang="es-CO" sz="1800" b="1" baseline="0" dirty="0">
                          <a:solidFill>
                            <a:schemeClr val="bg1"/>
                          </a:solidFill>
                          <a:latin typeface="+mn-lt"/>
                          <a:cs typeface="Consolas" panose="020B0609020204030204" pitchFamily="49" charset="0"/>
                        </a:rPr>
                        <a:t> final</a:t>
                      </a:r>
                      <a:endParaRPr lang="es-CO" sz="1800" b="1" dirty="0">
                        <a:solidFill>
                          <a:schemeClr val="bg1"/>
                        </a:solidFill>
                        <a:latin typeface="+mn-lt"/>
                        <a:cs typeface="Consolas" panose="020B0609020204030204" pitchFamily="49" charset="0"/>
                      </a:endParaRPr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s-CO" sz="16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16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316.26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s-CO" sz="16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16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7.5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5296">
                <a:tc>
                  <a:txBody>
                    <a:bodyPr/>
                    <a:lstStyle/>
                    <a:p>
                      <a:pPr algn="ctr"/>
                      <a:r>
                        <a:rPr lang="es-CO" sz="16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16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17.5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pSp>
        <p:nvGrpSpPr>
          <p:cNvPr id="7" name="Grupo 6">
            <a:extLst>
              <a:ext uri="{FF2B5EF4-FFF2-40B4-BE49-F238E27FC236}">
                <a16:creationId xmlns:a16="http://schemas.microsoft.com/office/drawing/2014/main" id="{9B5DFDE6-19C1-451B-9D48-FE6036F496A3}"/>
              </a:ext>
            </a:extLst>
          </p:cNvPr>
          <p:cNvGrpSpPr/>
          <p:nvPr/>
        </p:nvGrpSpPr>
        <p:grpSpPr>
          <a:xfrm>
            <a:off x="6516218" y="5268092"/>
            <a:ext cx="1703166" cy="1401268"/>
            <a:chOff x="3815498" y="5154272"/>
            <a:chExt cx="1703166" cy="1401268"/>
          </a:xfrm>
        </p:grpSpPr>
        <p:pic>
          <p:nvPicPr>
            <p:cNvPr id="9" name="Picture 4" descr="http://thyroidtx.com/wp-content/uploads/2012/09/computer-monitor-blank-md.png">
              <a:extLst>
                <a:ext uri="{FF2B5EF4-FFF2-40B4-BE49-F238E27FC236}">
                  <a16:creationId xmlns:a16="http://schemas.microsoft.com/office/drawing/2014/main" id="{93370FE4-A7B9-4ACC-96AC-85260B5BB0C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815498" y="5154272"/>
              <a:ext cx="1703166" cy="140126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1" name="44 Rectángulo">
              <a:extLst>
                <a:ext uri="{FF2B5EF4-FFF2-40B4-BE49-F238E27FC236}">
                  <a16:creationId xmlns:a16="http://schemas.microsoft.com/office/drawing/2014/main" id="{BDF298C7-F652-4DF0-8D16-2F767636366D}"/>
                </a:ext>
              </a:extLst>
            </p:cNvPr>
            <p:cNvSpPr/>
            <p:nvPr/>
          </p:nvSpPr>
          <p:spPr>
            <a:xfrm>
              <a:off x="3929209" y="5593296"/>
              <a:ext cx="1492716" cy="26161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s-CO" sz="1100" b="1" dirty="0">
                  <a:latin typeface="Consolas" panose="020B0609020204030204" pitchFamily="49" charset="0"/>
                  <a:cs typeface="Consolas" panose="020B0609020204030204" pitchFamily="49" charset="0"/>
                </a:rPr>
                <a:t>316.26, 7.5, 17.5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279551149"/>
      </p:ext>
    </p:extLst>
  </p:cSld>
  <p:clrMapOvr>
    <a:masterClrMapping/>
  </p:clrMapOvr>
  <p:transition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187908" y="296227"/>
            <a:ext cx="8463272" cy="646787"/>
          </a:xfrm>
        </p:spPr>
        <p:txBody>
          <a:bodyPr>
            <a:normAutofit fontScale="90000"/>
          </a:bodyPr>
          <a:lstStyle/>
          <a:p>
            <a:r>
              <a:rPr lang="es-CO" dirty="0"/>
              <a:t>Prueba de Escritorio</a:t>
            </a:r>
          </a:p>
        </p:txBody>
      </p:sp>
      <p:graphicFrame>
        <p:nvGraphicFramePr>
          <p:cNvPr id="7" name="6 Tab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85481305"/>
              </p:ext>
            </p:extLst>
          </p:nvPr>
        </p:nvGraphicFramePr>
        <p:xfrm>
          <a:off x="5724129" y="1403244"/>
          <a:ext cx="2736303" cy="1409877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91210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1210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1210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48039">
                <a:tc>
                  <a:txBody>
                    <a:bodyPr/>
                    <a:lstStyle/>
                    <a:p>
                      <a:pPr algn="ctr"/>
                      <a:r>
                        <a:rPr lang="es-CO" sz="1800" b="1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x</a:t>
                      </a:r>
                    </a:p>
                  </a:txBody>
                  <a:tcPr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1800" b="1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y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1800" b="1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z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8039">
                <a:tc>
                  <a:txBody>
                    <a:bodyPr/>
                    <a:lstStyle/>
                    <a:p>
                      <a:pPr algn="ctr"/>
                      <a:r>
                        <a:rPr lang="es-CO" sz="1600" b="0" strike="noStrike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?</a:t>
                      </a:r>
                    </a:p>
                  </a:txBody>
                  <a:tcPr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1600" b="0" strike="noStrike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?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1600" b="0" strike="noStrike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?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8039">
                <a:tc>
                  <a:txBody>
                    <a:bodyPr/>
                    <a:lstStyle/>
                    <a:p>
                      <a:pPr algn="ctr"/>
                      <a:r>
                        <a:rPr lang="es-CO" sz="1600" b="0" strike="noStrike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10</a:t>
                      </a:r>
                    </a:p>
                  </a:txBody>
                  <a:tcPr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1600" b="0" strike="noStrike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1600" b="0" strike="noStrike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4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8039">
                <a:tc>
                  <a:txBody>
                    <a:bodyPr/>
                    <a:lstStyle/>
                    <a:p>
                      <a:pPr algn="ctr"/>
                      <a:r>
                        <a:rPr lang="es-CO" sz="1600" b="0" dirty="0">
                          <a:solidFill>
                            <a:srgbClr val="FF0000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316.26</a:t>
                      </a:r>
                    </a:p>
                  </a:txBody>
                  <a:tcPr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1600" b="0" dirty="0">
                          <a:solidFill>
                            <a:srgbClr val="FF0000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7.5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1600" b="0" dirty="0">
                          <a:solidFill>
                            <a:srgbClr val="FF0000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17.5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9" name="8 Rectángulo"/>
          <p:cNvSpPr/>
          <p:nvPr/>
        </p:nvSpPr>
        <p:spPr>
          <a:xfrm>
            <a:off x="2810092" y="3317177"/>
            <a:ext cx="2830255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s-CO" sz="2000" b="1" dirty="0"/>
              <a:t>Valores finales de las variables</a:t>
            </a:r>
            <a:endParaRPr lang="es-CO" b="1" dirty="0"/>
          </a:p>
        </p:txBody>
      </p:sp>
      <p:graphicFrame>
        <p:nvGraphicFramePr>
          <p:cNvPr id="42" name="41 Tab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56670278"/>
              </p:ext>
            </p:extLst>
          </p:nvPr>
        </p:nvGraphicFramePr>
        <p:xfrm>
          <a:off x="2810092" y="4191898"/>
          <a:ext cx="2952328" cy="144272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29614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5618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49736">
                <a:tc>
                  <a:txBody>
                    <a:bodyPr/>
                    <a:lstStyle/>
                    <a:p>
                      <a:pPr algn="ctr"/>
                      <a:r>
                        <a:rPr lang="es-CO" sz="1800" b="1" dirty="0">
                          <a:solidFill>
                            <a:schemeClr val="bg1"/>
                          </a:solidFill>
                          <a:latin typeface="+mn-lt"/>
                          <a:cs typeface="Consolas" panose="020B0609020204030204" pitchFamily="49" charset="0"/>
                        </a:rPr>
                        <a:t>Variable</a:t>
                      </a:r>
                    </a:p>
                  </a:txBody>
                  <a:tcP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1800" b="1" dirty="0">
                          <a:solidFill>
                            <a:schemeClr val="bg1"/>
                          </a:solidFill>
                          <a:latin typeface="+mn-lt"/>
                          <a:cs typeface="Consolas" panose="020B0609020204030204" pitchFamily="49" charset="0"/>
                        </a:rPr>
                        <a:t>Valor</a:t>
                      </a:r>
                      <a:r>
                        <a:rPr lang="es-CO" sz="1800" b="1" baseline="0" dirty="0">
                          <a:solidFill>
                            <a:schemeClr val="bg1"/>
                          </a:solidFill>
                          <a:latin typeface="+mn-lt"/>
                          <a:cs typeface="Consolas" panose="020B0609020204030204" pitchFamily="49" charset="0"/>
                        </a:rPr>
                        <a:t> final</a:t>
                      </a:r>
                      <a:endParaRPr lang="es-CO" sz="1800" b="1" dirty="0">
                        <a:solidFill>
                          <a:schemeClr val="bg1"/>
                        </a:solidFill>
                        <a:latin typeface="+mn-lt"/>
                        <a:cs typeface="Consolas" panose="020B0609020204030204" pitchFamily="49" charset="0"/>
                      </a:endParaRPr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s-CO" sz="16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16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316.26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s-CO" sz="16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16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7.5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5296">
                <a:tc>
                  <a:txBody>
                    <a:bodyPr/>
                    <a:lstStyle/>
                    <a:p>
                      <a:pPr algn="ctr"/>
                      <a:r>
                        <a:rPr lang="es-CO" sz="16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16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17.5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43" name="42 Rectángulo"/>
          <p:cNvSpPr/>
          <p:nvPr/>
        </p:nvSpPr>
        <p:spPr>
          <a:xfrm>
            <a:off x="6341420" y="3418669"/>
            <a:ext cx="2069734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s-CO" sz="2000" b="1" dirty="0"/>
              <a:t>Salida en pantalla</a:t>
            </a:r>
          </a:p>
        </p:txBody>
      </p:sp>
      <p:grpSp>
        <p:nvGrpSpPr>
          <p:cNvPr id="3" name="Grupo 2">
            <a:extLst>
              <a:ext uri="{FF2B5EF4-FFF2-40B4-BE49-F238E27FC236}">
                <a16:creationId xmlns:a16="http://schemas.microsoft.com/office/drawing/2014/main" id="{4486CDC8-21AD-433A-85F6-380F923335F8}"/>
              </a:ext>
            </a:extLst>
          </p:cNvPr>
          <p:cNvGrpSpPr/>
          <p:nvPr/>
        </p:nvGrpSpPr>
        <p:grpSpPr>
          <a:xfrm>
            <a:off x="6516218" y="4202870"/>
            <a:ext cx="1703166" cy="1401268"/>
            <a:chOff x="3815498" y="5154272"/>
            <a:chExt cx="1703166" cy="1401268"/>
          </a:xfrm>
        </p:grpSpPr>
        <p:pic>
          <p:nvPicPr>
            <p:cNvPr id="44" name="Picture 4" descr="http://thyroidtx.com/wp-content/uploads/2012/09/computer-monitor-blank-md.png"/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815498" y="5154272"/>
              <a:ext cx="1703166" cy="140126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45" name="44 Rectángulo"/>
            <p:cNvSpPr/>
            <p:nvPr/>
          </p:nvSpPr>
          <p:spPr>
            <a:xfrm>
              <a:off x="3929209" y="5593296"/>
              <a:ext cx="1492716" cy="26161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s-CO" sz="1100" b="1" dirty="0">
                  <a:latin typeface="Consolas" panose="020B0609020204030204" pitchFamily="49" charset="0"/>
                  <a:cs typeface="Consolas" panose="020B0609020204030204" pitchFamily="49" charset="0"/>
                </a:rPr>
                <a:t>316.26, 7.5, 17.5</a:t>
              </a:r>
            </a:p>
          </p:txBody>
        </p:sp>
      </p:grpSp>
      <p:pic>
        <p:nvPicPr>
          <p:cNvPr id="22" name="Picture 2">
            <a:extLst>
              <a:ext uri="{FF2B5EF4-FFF2-40B4-BE49-F238E27FC236}">
                <a16:creationId xmlns:a16="http://schemas.microsoft.com/office/drawing/2014/main" id="{71F1EE75-822A-4158-9844-2697DDAD93E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3184" y="953302"/>
            <a:ext cx="2414600" cy="521200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4" name="42 Rectángulo">
            <a:extLst>
              <a:ext uri="{FF2B5EF4-FFF2-40B4-BE49-F238E27FC236}">
                <a16:creationId xmlns:a16="http://schemas.microsoft.com/office/drawing/2014/main" id="{77DF858A-1A7E-4F55-A5E1-BE3932DC0747}"/>
              </a:ext>
            </a:extLst>
          </p:cNvPr>
          <p:cNvSpPr/>
          <p:nvPr/>
        </p:nvSpPr>
        <p:spPr>
          <a:xfrm>
            <a:off x="2859253" y="1844824"/>
            <a:ext cx="2414600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s-MX" sz="2000" b="1" dirty="0"/>
              <a:t>Solución de la prueba de escritorio</a:t>
            </a:r>
            <a:endParaRPr lang="es-CO" sz="2000" b="1" dirty="0"/>
          </a:p>
        </p:txBody>
      </p:sp>
      <p:cxnSp>
        <p:nvCxnSpPr>
          <p:cNvPr id="28" name="7 Conector recto">
            <a:extLst>
              <a:ext uri="{FF2B5EF4-FFF2-40B4-BE49-F238E27FC236}">
                <a16:creationId xmlns:a16="http://schemas.microsoft.com/office/drawing/2014/main" id="{0975A855-8DCA-470D-A9A0-1D93BDEAB3DF}"/>
              </a:ext>
            </a:extLst>
          </p:cNvPr>
          <p:cNvCxnSpPr/>
          <p:nvPr/>
        </p:nvCxnSpPr>
        <p:spPr>
          <a:xfrm flipV="1">
            <a:off x="5995114" y="1840128"/>
            <a:ext cx="304800" cy="188686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7 Conector recto">
            <a:extLst>
              <a:ext uri="{FF2B5EF4-FFF2-40B4-BE49-F238E27FC236}">
                <a16:creationId xmlns:a16="http://schemas.microsoft.com/office/drawing/2014/main" id="{148C0E3E-96FB-47DC-AAA9-237E8914CCE2}"/>
              </a:ext>
            </a:extLst>
          </p:cNvPr>
          <p:cNvCxnSpPr/>
          <p:nvPr/>
        </p:nvCxnSpPr>
        <p:spPr>
          <a:xfrm flipV="1">
            <a:off x="6927003" y="1842626"/>
            <a:ext cx="304800" cy="188686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7 Conector recto">
            <a:extLst>
              <a:ext uri="{FF2B5EF4-FFF2-40B4-BE49-F238E27FC236}">
                <a16:creationId xmlns:a16="http://schemas.microsoft.com/office/drawing/2014/main" id="{163E73E7-D042-46E3-875E-5E543E4C2BB6}"/>
              </a:ext>
            </a:extLst>
          </p:cNvPr>
          <p:cNvCxnSpPr/>
          <p:nvPr/>
        </p:nvCxnSpPr>
        <p:spPr>
          <a:xfrm flipV="1">
            <a:off x="7871382" y="1827636"/>
            <a:ext cx="304800" cy="188686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7 Conector recto">
            <a:extLst>
              <a:ext uri="{FF2B5EF4-FFF2-40B4-BE49-F238E27FC236}">
                <a16:creationId xmlns:a16="http://schemas.microsoft.com/office/drawing/2014/main" id="{66ECC62D-1A53-419E-96E8-9ECD4EC23B81}"/>
              </a:ext>
            </a:extLst>
          </p:cNvPr>
          <p:cNvCxnSpPr/>
          <p:nvPr/>
        </p:nvCxnSpPr>
        <p:spPr>
          <a:xfrm flipV="1">
            <a:off x="6030090" y="2174908"/>
            <a:ext cx="304800" cy="188686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7 Conector recto">
            <a:extLst>
              <a:ext uri="{FF2B5EF4-FFF2-40B4-BE49-F238E27FC236}">
                <a16:creationId xmlns:a16="http://schemas.microsoft.com/office/drawing/2014/main" id="{FD02103D-8A63-47F6-A751-8A63433218AE}"/>
              </a:ext>
            </a:extLst>
          </p:cNvPr>
          <p:cNvCxnSpPr/>
          <p:nvPr/>
        </p:nvCxnSpPr>
        <p:spPr>
          <a:xfrm flipV="1">
            <a:off x="6946988" y="2207387"/>
            <a:ext cx="304800" cy="188686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7 Conector recto">
            <a:extLst>
              <a:ext uri="{FF2B5EF4-FFF2-40B4-BE49-F238E27FC236}">
                <a16:creationId xmlns:a16="http://schemas.microsoft.com/office/drawing/2014/main" id="{3A6CB1F5-EC6C-45EC-ADE0-9B863EEA394D}"/>
              </a:ext>
            </a:extLst>
          </p:cNvPr>
          <p:cNvCxnSpPr/>
          <p:nvPr/>
        </p:nvCxnSpPr>
        <p:spPr>
          <a:xfrm flipV="1">
            <a:off x="7863886" y="2207387"/>
            <a:ext cx="304800" cy="188686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28 Conector recto">
            <a:extLst>
              <a:ext uri="{FF2B5EF4-FFF2-40B4-BE49-F238E27FC236}">
                <a16:creationId xmlns:a16="http://schemas.microsoft.com/office/drawing/2014/main" id="{E852DDB3-411E-480C-9742-2AA230146BE3}"/>
              </a:ext>
            </a:extLst>
          </p:cNvPr>
          <p:cNvCxnSpPr/>
          <p:nvPr/>
        </p:nvCxnSpPr>
        <p:spPr>
          <a:xfrm flipV="1">
            <a:off x="6385016" y="2364923"/>
            <a:ext cx="216024" cy="166473"/>
          </a:xfrm>
          <a:prstGeom prst="line">
            <a:avLst/>
          </a:prstGeom>
          <a:ln w="28575">
            <a:solidFill>
              <a:srgbClr val="0070C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28 Conector recto">
            <a:extLst>
              <a:ext uri="{FF2B5EF4-FFF2-40B4-BE49-F238E27FC236}">
                <a16:creationId xmlns:a16="http://schemas.microsoft.com/office/drawing/2014/main" id="{19C0EEC9-3E79-4AF0-9944-DCFEC0321544}"/>
              </a:ext>
            </a:extLst>
          </p:cNvPr>
          <p:cNvCxnSpPr/>
          <p:nvPr/>
        </p:nvCxnSpPr>
        <p:spPr>
          <a:xfrm flipV="1">
            <a:off x="7314712" y="2360026"/>
            <a:ext cx="216024" cy="166473"/>
          </a:xfrm>
          <a:prstGeom prst="line">
            <a:avLst/>
          </a:prstGeom>
          <a:ln w="28575">
            <a:solidFill>
              <a:srgbClr val="0070C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28 Conector recto">
            <a:extLst>
              <a:ext uri="{FF2B5EF4-FFF2-40B4-BE49-F238E27FC236}">
                <a16:creationId xmlns:a16="http://schemas.microsoft.com/office/drawing/2014/main" id="{75AB8727-9939-4156-9090-B21E8D4E9CE2}"/>
              </a:ext>
            </a:extLst>
          </p:cNvPr>
          <p:cNvCxnSpPr/>
          <p:nvPr/>
        </p:nvCxnSpPr>
        <p:spPr>
          <a:xfrm flipV="1">
            <a:off x="8244408" y="2360026"/>
            <a:ext cx="216024" cy="166473"/>
          </a:xfrm>
          <a:prstGeom prst="line">
            <a:avLst/>
          </a:prstGeom>
          <a:ln w="28575">
            <a:solidFill>
              <a:srgbClr val="0070C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28 Conector recto">
            <a:extLst>
              <a:ext uri="{FF2B5EF4-FFF2-40B4-BE49-F238E27FC236}">
                <a16:creationId xmlns:a16="http://schemas.microsoft.com/office/drawing/2014/main" id="{BAF5E872-6552-4D9D-A514-4D52C1B00558}"/>
              </a:ext>
            </a:extLst>
          </p:cNvPr>
          <p:cNvCxnSpPr>
            <a:cxnSpLocks/>
          </p:cNvCxnSpPr>
          <p:nvPr/>
        </p:nvCxnSpPr>
        <p:spPr>
          <a:xfrm>
            <a:off x="5803900" y="2032000"/>
            <a:ext cx="213719" cy="189036"/>
          </a:xfrm>
          <a:prstGeom prst="line">
            <a:avLst/>
          </a:prstGeom>
          <a:ln w="28575">
            <a:solidFill>
              <a:srgbClr val="0070C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28 Conector recto">
            <a:extLst>
              <a:ext uri="{FF2B5EF4-FFF2-40B4-BE49-F238E27FC236}">
                <a16:creationId xmlns:a16="http://schemas.microsoft.com/office/drawing/2014/main" id="{D11BE863-D68B-4821-B10C-055210053B99}"/>
              </a:ext>
            </a:extLst>
          </p:cNvPr>
          <p:cNvCxnSpPr>
            <a:cxnSpLocks/>
          </p:cNvCxnSpPr>
          <p:nvPr/>
        </p:nvCxnSpPr>
        <p:spPr>
          <a:xfrm>
            <a:off x="6733269" y="2050800"/>
            <a:ext cx="213719" cy="189036"/>
          </a:xfrm>
          <a:prstGeom prst="line">
            <a:avLst/>
          </a:prstGeom>
          <a:ln w="28575">
            <a:solidFill>
              <a:srgbClr val="0070C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28 Conector recto">
            <a:extLst>
              <a:ext uri="{FF2B5EF4-FFF2-40B4-BE49-F238E27FC236}">
                <a16:creationId xmlns:a16="http://schemas.microsoft.com/office/drawing/2014/main" id="{56DCCB5A-A2CA-457C-989F-F48BF4E4CB67}"/>
              </a:ext>
            </a:extLst>
          </p:cNvPr>
          <p:cNvCxnSpPr>
            <a:cxnSpLocks/>
          </p:cNvCxnSpPr>
          <p:nvPr/>
        </p:nvCxnSpPr>
        <p:spPr>
          <a:xfrm>
            <a:off x="7623346" y="2021559"/>
            <a:ext cx="213719" cy="189036"/>
          </a:xfrm>
          <a:prstGeom prst="line">
            <a:avLst/>
          </a:prstGeom>
          <a:ln w="28575">
            <a:solidFill>
              <a:srgbClr val="0070C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99177537"/>
      </p:ext>
    </p:extLst>
  </p:cSld>
  <p:clrMapOvr>
    <a:masterClrMapping/>
  </p:clrMapOvr>
  <p:transition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187908" y="296227"/>
            <a:ext cx="8463272" cy="646787"/>
          </a:xfrm>
        </p:spPr>
        <p:txBody>
          <a:bodyPr>
            <a:normAutofit fontScale="90000"/>
          </a:bodyPr>
          <a:lstStyle/>
          <a:p>
            <a:r>
              <a:rPr lang="es-CO" dirty="0"/>
              <a:t>Nuevo bloque - Condición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F7C8CAD2-11EA-4E02-81F7-F33AB977899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58299" y="1495817"/>
            <a:ext cx="2976483" cy="37444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4" name="Grupo 3">
            <a:extLst>
              <a:ext uri="{FF2B5EF4-FFF2-40B4-BE49-F238E27FC236}">
                <a16:creationId xmlns:a16="http://schemas.microsoft.com/office/drawing/2014/main" id="{1F6C0939-A95A-4A87-BAA0-8CD8D96A26C1}"/>
              </a:ext>
            </a:extLst>
          </p:cNvPr>
          <p:cNvGrpSpPr/>
          <p:nvPr/>
        </p:nvGrpSpPr>
        <p:grpSpPr>
          <a:xfrm>
            <a:off x="905518" y="3800073"/>
            <a:ext cx="3200400" cy="957634"/>
            <a:chOff x="805285" y="2612529"/>
            <a:chExt cx="3200400" cy="957634"/>
          </a:xfrm>
        </p:grpSpPr>
        <p:sp>
          <p:nvSpPr>
            <p:cNvPr id="25" name="TextBox 75">
              <a:extLst>
                <a:ext uri="{FF2B5EF4-FFF2-40B4-BE49-F238E27FC236}">
                  <a16:creationId xmlns:a16="http://schemas.microsoft.com/office/drawing/2014/main" id="{ACDBA610-BF5F-4096-9B79-46DA7575F957}"/>
                </a:ext>
              </a:extLst>
            </p:cNvPr>
            <p:cNvSpPr txBox="1"/>
            <p:nvPr/>
          </p:nvSpPr>
          <p:spPr>
            <a:xfrm>
              <a:off x="3563888" y="2924944"/>
              <a:ext cx="427508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 dirty="0">
                  <a:latin typeface="Consolas" panose="020B0609020204030204" pitchFamily="49" charset="0"/>
                </a:rPr>
                <a:t>yes</a:t>
              </a:r>
            </a:p>
          </p:txBody>
        </p:sp>
        <p:sp>
          <p:nvSpPr>
            <p:cNvPr id="26" name="TextBox 76">
              <a:extLst>
                <a:ext uri="{FF2B5EF4-FFF2-40B4-BE49-F238E27FC236}">
                  <a16:creationId xmlns:a16="http://schemas.microsoft.com/office/drawing/2014/main" id="{493AE25A-01F8-4DAE-9983-612875B3897B}"/>
                </a:ext>
              </a:extLst>
            </p:cNvPr>
            <p:cNvSpPr txBox="1"/>
            <p:nvPr/>
          </p:nvSpPr>
          <p:spPr>
            <a:xfrm>
              <a:off x="918640" y="2924944"/>
              <a:ext cx="374527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 dirty="0">
                  <a:latin typeface="Consolas" panose="020B0609020204030204" pitchFamily="49" charset="0"/>
                </a:rPr>
                <a:t>no</a:t>
              </a:r>
            </a:p>
          </p:txBody>
        </p:sp>
        <p:sp>
          <p:nvSpPr>
            <p:cNvPr id="27" name="Flowchart: Decision 5">
              <a:extLst>
                <a:ext uri="{FF2B5EF4-FFF2-40B4-BE49-F238E27FC236}">
                  <a16:creationId xmlns:a16="http://schemas.microsoft.com/office/drawing/2014/main" id="{1A344C75-4AFB-4733-AC34-07B7CCA2C040}"/>
                </a:ext>
              </a:extLst>
            </p:cNvPr>
            <p:cNvSpPr/>
            <p:nvPr/>
          </p:nvSpPr>
          <p:spPr>
            <a:xfrm>
              <a:off x="1315133" y="2977639"/>
              <a:ext cx="2180704" cy="457200"/>
            </a:xfrm>
            <a:prstGeom prst="flowChartDecision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dirty="0">
                  <a:latin typeface="Consolas" panose="020B0609020204030204" pitchFamily="49" charset="0"/>
                </a:rPr>
                <a:t>Decision</a:t>
              </a:r>
            </a:p>
          </p:txBody>
        </p:sp>
        <p:grpSp>
          <p:nvGrpSpPr>
            <p:cNvPr id="31" name="40 Grupo">
              <a:extLst>
                <a:ext uri="{FF2B5EF4-FFF2-40B4-BE49-F238E27FC236}">
                  <a16:creationId xmlns:a16="http://schemas.microsoft.com/office/drawing/2014/main" id="{ED00CD7F-262F-44AE-8520-1A8C18CFD1F5}"/>
                </a:ext>
              </a:extLst>
            </p:cNvPr>
            <p:cNvGrpSpPr/>
            <p:nvPr/>
          </p:nvGrpSpPr>
          <p:grpSpPr>
            <a:xfrm>
              <a:off x="805285" y="3203451"/>
              <a:ext cx="528637" cy="366712"/>
              <a:chOff x="4633913" y="4281488"/>
              <a:chExt cx="528637" cy="366712"/>
            </a:xfrm>
          </p:grpSpPr>
          <p:cxnSp>
            <p:nvCxnSpPr>
              <p:cNvPr id="36" name="Straight Arrow Connector 18">
                <a:extLst>
                  <a:ext uri="{FF2B5EF4-FFF2-40B4-BE49-F238E27FC236}">
                    <a16:creationId xmlns:a16="http://schemas.microsoft.com/office/drawing/2014/main" id="{890707C7-44F1-4977-AD71-D355F7091637}"/>
                  </a:ext>
                </a:extLst>
              </p:cNvPr>
              <p:cNvCxnSpPr/>
              <p:nvPr/>
            </p:nvCxnSpPr>
            <p:spPr>
              <a:xfrm>
                <a:off x="4633913" y="4281488"/>
                <a:ext cx="4763" cy="366712"/>
              </a:xfrm>
              <a:prstGeom prst="straightConnector1">
                <a:avLst/>
              </a:prstGeom>
              <a:ln>
                <a:solidFill>
                  <a:schemeClr val="tx1">
                    <a:lumMod val="50000"/>
                    <a:lumOff val="50000"/>
                  </a:schemeClr>
                </a:solidFill>
                <a:headEnd type="non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7" name="Straight Arrow Connector 18">
                <a:extLst>
                  <a:ext uri="{FF2B5EF4-FFF2-40B4-BE49-F238E27FC236}">
                    <a16:creationId xmlns:a16="http://schemas.microsoft.com/office/drawing/2014/main" id="{902A4BF3-2727-4678-A197-B36729A6B09B}"/>
                  </a:ext>
                </a:extLst>
              </p:cNvPr>
              <p:cNvCxnSpPr/>
              <p:nvPr/>
            </p:nvCxnSpPr>
            <p:spPr>
              <a:xfrm flipH="1">
                <a:off x="4633913" y="4286250"/>
                <a:ext cx="528637" cy="0"/>
              </a:xfrm>
              <a:prstGeom prst="straightConnector1">
                <a:avLst/>
              </a:prstGeom>
              <a:ln>
                <a:solidFill>
                  <a:schemeClr val="tx1">
                    <a:lumMod val="50000"/>
                    <a:lumOff val="50000"/>
                  </a:schemeClr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32" name="65 Grupo">
              <a:extLst>
                <a:ext uri="{FF2B5EF4-FFF2-40B4-BE49-F238E27FC236}">
                  <a16:creationId xmlns:a16="http://schemas.microsoft.com/office/drawing/2014/main" id="{CC1A88B7-98D3-4928-A9D9-52D51C603F44}"/>
                </a:ext>
              </a:extLst>
            </p:cNvPr>
            <p:cNvGrpSpPr/>
            <p:nvPr/>
          </p:nvGrpSpPr>
          <p:grpSpPr>
            <a:xfrm flipH="1">
              <a:off x="3472285" y="3203451"/>
              <a:ext cx="533400" cy="366712"/>
              <a:chOff x="4633913" y="4281488"/>
              <a:chExt cx="533400" cy="366712"/>
            </a:xfrm>
          </p:grpSpPr>
          <p:cxnSp>
            <p:nvCxnSpPr>
              <p:cNvPr id="33" name="Straight Arrow Connector 18">
                <a:extLst>
                  <a:ext uri="{FF2B5EF4-FFF2-40B4-BE49-F238E27FC236}">
                    <a16:creationId xmlns:a16="http://schemas.microsoft.com/office/drawing/2014/main" id="{3F8FB21E-B6FA-40DF-A2BD-F60BC04AF598}"/>
                  </a:ext>
                </a:extLst>
              </p:cNvPr>
              <p:cNvCxnSpPr/>
              <p:nvPr/>
            </p:nvCxnSpPr>
            <p:spPr>
              <a:xfrm>
                <a:off x="4633913" y="4281488"/>
                <a:ext cx="4763" cy="366712"/>
              </a:xfrm>
              <a:prstGeom prst="straightConnector1">
                <a:avLst/>
              </a:prstGeom>
              <a:ln>
                <a:solidFill>
                  <a:schemeClr val="tx1">
                    <a:lumMod val="50000"/>
                    <a:lumOff val="50000"/>
                  </a:schemeClr>
                </a:solidFill>
                <a:headEnd type="non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" name="Straight Arrow Connector 18">
                <a:extLst>
                  <a:ext uri="{FF2B5EF4-FFF2-40B4-BE49-F238E27FC236}">
                    <a16:creationId xmlns:a16="http://schemas.microsoft.com/office/drawing/2014/main" id="{291A9FDC-E4AF-41FE-8D6E-CC5B96A9E0D3}"/>
                  </a:ext>
                </a:extLst>
              </p:cNvPr>
              <p:cNvCxnSpPr/>
              <p:nvPr/>
            </p:nvCxnSpPr>
            <p:spPr>
              <a:xfrm flipH="1">
                <a:off x="4638676" y="4281488"/>
                <a:ext cx="528637" cy="0"/>
              </a:xfrm>
              <a:prstGeom prst="straightConnector1">
                <a:avLst/>
              </a:prstGeom>
              <a:ln>
                <a:solidFill>
                  <a:schemeClr val="tx1">
                    <a:lumMod val="50000"/>
                    <a:lumOff val="50000"/>
                  </a:schemeClr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38" name="Straight Arrow Connector 18">
              <a:extLst>
                <a:ext uri="{FF2B5EF4-FFF2-40B4-BE49-F238E27FC236}">
                  <a16:creationId xmlns:a16="http://schemas.microsoft.com/office/drawing/2014/main" id="{5176BE96-EA96-41A9-88ED-0F8D691D1656}"/>
                </a:ext>
              </a:extLst>
            </p:cNvPr>
            <p:cNvCxnSpPr/>
            <p:nvPr/>
          </p:nvCxnSpPr>
          <p:spPr>
            <a:xfrm flipH="1">
              <a:off x="2403104" y="2612529"/>
              <a:ext cx="4763" cy="366712"/>
            </a:xfrm>
            <a:prstGeom prst="straightConnector1">
              <a:avLst/>
            </a:prstGeom>
            <a:ln>
              <a:solidFill>
                <a:schemeClr val="tx1">
                  <a:lumMod val="50000"/>
                  <a:lumOff val="50000"/>
                </a:schemeClr>
              </a:solidFill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39" name="Imagen 38">
            <a:extLst>
              <a:ext uri="{FF2B5EF4-FFF2-40B4-BE49-F238E27FC236}">
                <a16:creationId xmlns:a16="http://schemas.microsoft.com/office/drawing/2014/main" id="{6B02A38C-63FE-4504-8695-4508873B6080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09162" y="2337771"/>
            <a:ext cx="1188349" cy="1101548"/>
          </a:xfrm>
          <a:prstGeom prst="rect">
            <a:avLst/>
          </a:prstGeom>
        </p:spPr>
      </p:pic>
      <p:sp>
        <p:nvSpPr>
          <p:cNvPr id="40" name="CuadroTexto 39">
            <a:extLst>
              <a:ext uri="{FF2B5EF4-FFF2-40B4-BE49-F238E27FC236}">
                <a16:creationId xmlns:a16="http://schemas.microsoft.com/office/drawing/2014/main" id="{8FFD4CE4-FBED-4BC4-9E30-AF36979A59C2}"/>
              </a:ext>
            </a:extLst>
          </p:cNvPr>
          <p:cNvSpPr txBox="1"/>
          <p:nvPr/>
        </p:nvSpPr>
        <p:spPr>
          <a:xfrm>
            <a:off x="5058299" y="5240233"/>
            <a:ext cx="2976483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CO" sz="1200" b="1" dirty="0"/>
              <a:t>Obra</a:t>
            </a:r>
            <a:r>
              <a:rPr lang="es-CO" sz="1200" dirty="0"/>
              <a:t>: La puerta angosta (</a:t>
            </a:r>
            <a:r>
              <a:rPr lang="es-CO" sz="1200" dirty="0">
                <a:hlinkClick r:id="rId4"/>
              </a:rPr>
              <a:t>link</a:t>
            </a:r>
            <a:r>
              <a:rPr lang="es-CO" sz="1200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53624241"/>
      </p:ext>
    </p:extLst>
  </p:cSld>
  <p:clrMapOvr>
    <a:masterClrMapping/>
  </p:clrMapOvr>
  <p:transition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35496" y="188640"/>
            <a:ext cx="8512362" cy="666070"/>
          </a:xfrm>
        </p:spPr>
        <p:txBody>
          <a:bodyPr>
            <a:normAutofit fontScale="90000"/>
          </a:bodyPr>
          <a:lstStyle/>
          <a:p>
            <a:r>
              <a:rPr lang="es-CO" dirty="0"/>
              <a:t>Prueba de Escritorio</a:t>
            </a:r>
          </a:p>
        </p:txBody>
      </p:sp>
      <p:sp>
        <p:nvSpPr>
          <p:cNvPr id="4" name="3 Rectángulo"/>
          <p:cNvSpPr/>
          <p:nvPr/>
        </p:nvSpPr>
        <p:spPr>
          <a:xfrm>
            <a:off x="50800" y="953581"/>
            <a:ext cx="4902200" cy="286232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s-CO" sz="2000" b="1" dirty="0"/>
              <a:t>Ejemplo:</a:t>
            </a:r>
          </a:p>
          <a:p>
            <a:pPr indent="-57150"/>
            <a:r>
              <a:rPr lang="es-CO" sz="2000" dirty="0"/>
              <a:t>Dado el diagrama de flujo de la figura, hacer la prueba de escritorio y a partir de esta determinar los valores finales de las variables y la salida en pantalla.</a:t>
            </a:r>
          </a:p>
          <a:p>
            <a:pPr indent="-57150"/>
            <a:endParaRPr lang="es-CO" sz="2000" dirty="0"/>
          </a:p>
          <a:p>
            <a:pPr indent="-57150"/>
            <a:r>
              <a:rPr lang="es-CO" sz="2000" b="1" dirty="0"/>
              <a:t>Variables:</a:t>
            </a:r>
            <a:r>
              <a:rPr lang="es-CO" sz="2000" dirty="0"/>
              <a:t> </a:t>
            </a:r>
            <a:r>
              <a:rPr lang="es-CO" dirty="0">
                <a:latin typeface="Consolas" panose="020B0609020204030204" pitchFamily="49" charset="0"/>
              </a:rPr>
              <a:t>i</a:t>
            </a:r>
            <a:r>
              <a:rPr lang="es-CO" sz="2000" dirty="0"/>
              <a:t>, </a:t>
            </a:r>
            <a:r>
              <a:rPr lang="es-CO" dirty="0">
                <a:latin typeface="Consolas" panose="020B0609020204030204" pitchFamily="49" charset="0"/>
              </a:rPr>
              <a:t>a</a:t>
            </a:r>
            <a:r>
              <a:rPr lang="es-CO" sz="2000" dirty="0"/>
              <a:t>, </a:t>
            </a:r>
            <a:r>
              <a:rPr lang="es-CO" dirty="0">
                <a:latin typeface="Consolas" panose="020B0609020204030204" pitchFamily="49" charset="0"/>
              </a:rPr>
              <a:t>b</a:t>
            </a:r>
          </a:p>
          <a:p>
            <a:pPr indent="-57150"/>
            <a:endParaRPr lang="es-CO" sz="2000" dirty="0"/>
          </a:p>
          <a:p>
            <a:pPr indent="-57150"/>
            <a:r>
              <a:rPr lang="es-CO" sz="2000" b="1" dirty="0"/>
              <a:t>Tabla para la prueba de escritorio:</a:t>
            </a:r>
            <a:r>
              <a:rPr lang="es-CO" sz="2000" dirty="0"/>
              <a:t> </a:t>
            </a:r>
          </a:p>
        </p:txBody>
      </p:sp>
      <p:graphicFrame>
        <p:nvGraphicFramePr>
          <p:cNvPr id="7" name="6 Tab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91066501"/>
              </p:ext>
            </p:extLst>
          </p:nvPr>
        </p:nvGraphicFramePr>
        <p:xfrm>
          <a:off x="773708" y="3815903"/>
          <a:ext cx="3456384" cy="101092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521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521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521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s-CO" sz="1800" b="1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i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1800" b="1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1800" b="1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b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s-CO" sz="1800" b="1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  <a:p>
                      <a:endParaRPr lang="es-CO" sz="1800" b="1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s-CO" sz="1800" b="1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s-CO" sz="1800" b="1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pic>
        <p:nvPicPr>
          <p:cNvPr id="4099" name="Picture 3" descr="C:\Users\tigarto\Downloads\ejemplo_prueba_escritorio (2).jp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37830" y="697315"/>
            <a:ext cx="4070674" cy="54665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aphicFrame>
        <p:nvGraphicFramePr>
          <p:cNvPr id="6" name="5 Tabla">
            <a:extLst>
              <a:ext uri="{FF2B5EF4-FFF2-40B4-BE49-F238E27FC236}">
                <a16:creationId xmlns:a16="http://schemas.microsoft.com/office/drawing/2014/main" id="{D5A83AE4-AA42-4FA9-8CAB-6EFE705D910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59861636"/>
              </p:ext>
            </p:extLst>
          </p:nvPr>
        </p:nvGraphicFramePr>
        <p:xfrm>
          <a:off x="245385" y="5165279"/>
          <a:ext cx="2485115" cy="13716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09102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9408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29923">
                <a:tc>
                  <a:txBody>
                    <a:bodyPr/>
                    <a:lstStyle/>
                    <a:p>
                      <a:pPr algn="ctr"/>
                      <a:r>
                        <a:rPr lang="es-CO" sz="1800" b="1" dirty="0">
                          <a:solidFill>
                            <a:schemeClr val="bg1"/>
                          </a:solidFill>
                          <a:latin typeface="+mn-lt"/>
                          <a:cs typeface="Consolas" panose="020B0609020204030204" pitchFamily="49" charset="0"/>
                        </a:rPr>
                        <a:t>Variable</a:t>
                      </a:r>
                    </a:p>
                  </a:txBody>
                  <a:tcP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1800" b="1" dirty="0">
                          <a:solidFill>
                            <a:schemeClr val="bg1"/>
                          </a:solidFill>
                          <a:latin typeface="+mn-lt"/>
                          <a:cs typeface="Consolas" panose="020B0609020204030204" pitchFamily="49" charset="0"/>
                        </a:rPr>
                        <a:t>Valor</a:t>
                      </a:r>
                      <a:r>
                        <a:rPr lang="es-CO" sz="1800" b="1" baseline="0" dirty="0">
                          <a:solidFill>
                            <a:schemeClr val="bg1"/>
                          </a:solidFill>
                          <a:latin typeface="+mn-lt"/>
                          <a:cs typeface="Consolas" panose="020B0609020204030204" pitchFamily="49" charset="0"/>
                        </a:rPr>
                        <a:t> final</a:t>
                      </a:r>
                      <a:endParaRPr lang="es-CO" sz="1800" b="1" dirty="0">
                        <a:solidFill>
                          <a:schemeClr val="bg1"/>
                        </a:solidFill>
                        <a:latin typeface="+mn-lt"/>
                        <a:cs typeface="Consolas" panose="020B0609020204030204" pitchFamily="49" charset="0"/>
                      </a:endParaRPr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923">
                <a:tc>
                  <a:txBody>
                    <a:bodyPr/>
                    <a:lstStyle/>
                    <a:p>
                      <a:pPr algn="ctr"/>
                      <a:r>
                        <a:rPr lang="es-CO" sz="16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16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9923">
                <a:tc>
                  <a:txBody>
                    <a:bodyPr/>
                    <a:lstStyle/>
                    <a:p>
                      <a:pPr algn="ctr"/>
                      <a:r>
                        <a:rPr lang="es-CO" sz="16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16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8287">
                <a:tc>
                  <a:txBody>
                    <a:bodyPr/>
                    <a:lstStyle/>
                    <a:p>
                      <a:pPr algn="ctr"/>
                      <a:r>
                        <a:rPr lang="es-CO" sz="16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16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-8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pSp>
        <p:nvGrpSpPr>
          <p:cNvPr id="8" name="Grupo 7">
            <a:extLst>
              <a:ext uri="{FF2B5EF4-FFF2-40B4-BE49-F238E27FC236}">
                <a16:creationId xmlns:a16="http://schemas.microsoft.com/office/drawing/2014/main" id="{AE5902EE-732E-49F9-BDCE-DEE668B71058}"/>
              </a:ext>
            </a:extLst>
          </p:cNvPr>
          <p:cNvGrpSpPr/>
          <p:nvPr/>
        </p:nvGrpSpPr>
        <p:grpSpPr>
          <a:xfrm>
            <a:off x="3131840" y="5246569"/>
            <a:ext cx="1635012" cy="1209019"/>
            <a:chOff x="1187624" y="4585378"/>
            <a:chExt cx="1967590" cy="1618821"/>
          </a:xfrm>
        </p:grpSpPr>
        <p:pic>
          <p:nvPicPr>
            <p:cNvPr id="9" name="Picture 4" descr="http://thyroidtx.com/wp-content/uploads/2012/09/computer-monitor-blank-md.png">
              <a:extLst>
                <a:ext uri="{FF2B5EF4-FFF2-40B4-BE49-F238E27FC236}">
                  <a16:creationId xmlns:a16="http://schemas.microsoft.com/office/drawing/2014/main" id="{28935C24-5F55-49A0-A3A7-B6E3D1E5AB9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87624" y="4585378"/>
              <a:ext cx="1967590" cy="161882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0" name="29 Rectángulo">
              <a:extLst>
                <a:ext uri="{FF2B5EF4-FFF2-40B4-BE49-F238E27FC236}">
                  <a16:creationId xmlns:a16="http://schemas.microsoft.com/office/drawing/2014/main" id="{91902ED0-AB53-4442-BD89-9E2DE925456A}"/>
                </a:ext>
              </a:extLst>
            </p:cNvPr>
            <p:cNvSpPr/>
            <p:nvPr/>
          </p:nvSpPr>
          <p:spPr>
            <a:xfrm>
              <a:off x="1681541" y="5065156"/>
              <a:ext cx="979755" cy="307777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s-CO" sz="1400" b="1" dirty="0">
                  <a:latin typeface="Consolas" panose="020B0609020204030204" pitchFamily="49" charset="0"/>
                  <a:cs typeface="Consolas" panose="020B0609020204030204" pitchFamily="49" charset="0"/>
                </a:rPr>
                <a:t>4, -8, 6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730479132"/>
      </p:ext>
    </p:extLst>
  </p:cSld>
  <p:clrMapOvr>
    <a:masterClrMapping/>
  </p:clrMapOvr>
  <p:transition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116181" y="334493"/>
            <a:ext cx="8536112" cy="718243"/>
          </a:xfrm>
        </p:spPr>
        <p:txBody>
          <a:bodyPr>
            <a:normAutofit/>
          </a:bodyPr>
          <a:lstStyle/>
          <a:p>
            <a:r>
              <a:rPr lang="es-CO" dirty="0"/>
              <a:t>Prueba de Escritorio</a:t>
            </a:r>
          </a:p>
        </p:txBody>
      </p:sp>
      <p:pic>
        <p:nvPicPr>
          <p:cNvPr id="4099" name="Picture 3" descr="C:\Users\tigarto\Downloads\ejemplo_prueba_escritorio (2).jp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50929" y="1124744"/>
            <a:ext cx="4101364" cy="55077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aphicFrame>
        <p:nvGraphicFramePr>
          <p:cNvPr id="6" name="5 Tab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47287288"/>
              </p:ext>
            </p:extLst>
          </p:nvPr>
        </p:nvGraphicFramePr>
        <p:xfrm>
          <a:off x="401363" y="1844824"/>
          <a:ext cx="3456384" cy="4194189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521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521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521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48039">
                <a:tc>
                  <a:txBody>
                    <a:bodyPr/>
                    <a:lstStyle/>
                    <a:p>
                      <a:pPr algn="ctr"/>
                      <a:r>
                        <a:rPr lang="es-CO" sz="1800" b="1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i</a:t>
                      </a:r>
                    </a:p>
                  </a:txBody>
                  <a:tcPr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1800" b="1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1800" b="1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b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8039">
                <a:tc>
                  <a:txBody>
                    <a:bodyPr/>
                    <a:lstStyle/>
                    <a:p>
                      <a:pPr algn="ctr"/>
                      <a:r>
                        <a:rPr lang="es-CO" sz="1600" b="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?</a:t>
                      </a:r>
                    </a:p>
                  </a:txBody>
                  <a:tcPr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1600" b="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?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1600" b="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?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8039">
                <a:tc>
                  <a:txBody>
                    <a:bodyPr/>
                    <a:lstStyle/>
                    <a:p>
                      <a:pPr algn="ctr"/>
                      <a:r>
                        <a:rPr lang="es-CO" sz="1600" b="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1600" b="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1600" b="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-3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8039">
                <a:tc>
                  <a:txBody>
                    <a:bodyPr/>
                    <a:lstStyle/>
                    <a:p>
                      <a:pPr algn="ctr"/>
                      <a:r>
                        <a:rPr lang="es-CO" sz="1600" b="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1600" b="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8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1600" b="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-2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8039">
                <a:tc>
                  <a:txBody>
                    <a:bodyPr/>
                    <a:lstStyle/>
                    <a:p>
                      <a:pPr algn="ctr"/>
                      <a:r>
                        <a:rPr lang="es-CO" sz="1600" b="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2</a:t>
                      </a:r>
                    </a:p>
                  </a:txBody>
                  <a:tcPr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1600" b="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6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1600" b="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-20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48039">
                <a:tc>
                  <a:txBody>
                    <a:bodyPr/>
                    <a:lstStyle/>
                    <a:p>
                      <a:pPr algn="ctr"/>
                      <a:r>
                        <a:rPr lang="es-CO" sz="1600" b="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3</a:t>
                      </a:r>
                    </a:p>
                  </a:txBody>
                  <a:tcPr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1600" b="1" dirty="0">
                          <a:solidFill>
                            <a:srgbClr val="FF0000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4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1600" b="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-16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48039">
                <a:tc>
                  <a:txBody>
                    <a:bodyPr/>
                    <a:lstStyle/>
                    <a:p>
                      <a:pPr algn="ctr"/>
                      <a:r>
                        <a:rPr lang="es-CO" sz="1600" b="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4</a:t>
                      </a:r>
                    </a:p>
                  </a:txBody>
                  <a:tcPr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CO" sz="1600" b="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1600" b="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-15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48039">
                <a:tc>
                  <a:txBody>
                    <a:bodyPr/>
                    <a:lstStyle/>
                    <a:p>
                      <a:pPr algn="ctr"/>
                      <a:r>
                        <a:rPr lang="es-CO" sz="1600" b="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5</a:t>
                      </a:r>
                    </a:p>
                  </a:txBody>
                  <a:tcPr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CO" sz="1600" b="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1600" b="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-16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48039">
                <a:tc>
                  <a:txBody>
                    <a:bodyPr/>
                    <a:lstStyle/>
                    <a:p>
                      <a:pPr algn="ctr"/>
                      <a:r>
                        <a:rPr lang="es-CO" sz="1600" b="1" dirty="0">
                          <a:solidFill>
                            <a:srgbClr val="FF0000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6</a:t>
                      </a:r>
                    </a:p>
                  </a:txBody>
                  <a:tcPr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CO" sz="1600" b="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1600" b="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-12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48039">
                <a:tc>
                  <a:txBody>
                    <a:bodyPr/>
                    <a:lstStyle/>
                    <a:p>
                      <a:pPr algn="ctr"/>
                      <a:endParaRPr lang="es-CO" sz="1600" b="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CO" sz="1600" b="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1600" b="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-11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48039">
                <a:tc>
                  <a:txBody>
                    <a:bodyPr/>
                    <a:lstStyle/>
                    <a:p>
                      <a:pPr algn="ctr"/>
                      <a:endParaRPr lang="es-CO" sz="1600" b="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CO" sz="1600" b="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1600" b="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-12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48039">
                <a:tc>
                  <a:txBody>
                    <a:bodyPr/>
                    <a:lstStyle/>
                    <a:p>
                      <a:pPr algn="ctr"/>
                      <a:endParaRPr lang="es-CO" sz="1600" b="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CO" sz="1600" b="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1600" b="1" dirty="0">
                          <a:solidFill>
                            <a:srgbClr val="FF0000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-8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cxnSp>
        <p:nvCxnSpPr>
          <p:cNvPr id="8" name="7 Conector recto"/>
          <p:cNvCxnSpPr/>
          <p:nvPr/>
        </p:nvCxnSpPr>
        <p:spPr>
          <a:xfrm flipV="1">
            <a:off x="805240" y="2261411"/>
            <a:ext cx="304800" cy="188686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8 Conector recto"/>
          <p:cNvCxnSpPr/>
          <p:nvPr/>
        </p:nvCxnSpPr>
        <p:spPr>
          <a:xfrm flipV="1">
            <a:off x="1985539" y="2268305"/>
            <a:ext cx="304800" cy="188686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9 Conector recto"/>
          <p:cNvCxnSpPr/>
          <p:nvPr/>
        </p:nvCxnSpPr>
        <p:spPr>
          <a:xfrm flipV="1">
            <a:off x="3137667" y="2275925"/>
            <a:ext cx="304800" cy="188686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10 Conector recto"/>
          <p:cNvCxnSpPr/>
          <p:nvPr/>
        </p:nvCxnSpPr>
        <p:spPr>
          <a:xfrm flipV="1">
            <a:off x="805240" y="2623179"/>
            <a:ext cx="304800" cy="188686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11 Conector recto"/>
          <p:cNvCxnSpPr/>
          <p:nvPr/>
        </p:nvCxnSpPr>
        <p:spPr>
          <a:xfrm flipV="1">
            <a:off x="1985539" y="2623179"/>
            <a:ext cx="304800" cy="188686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12 Conector recto"/>
          <p:cNvCxnSpPr/>
          <p:nvPr/>
        </p:nvCxnSpPr>
        <p:spPr>
          <a:xfrm flipV="1">
            <a:off x="3137667" y="2623179"/>
            <a:ext cx="304800" cy="188686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13 Conector recto"/>
          <p:cNvCxnSpPr/>
          <p:nvPr/>
        </p:nvCxnSpPr>
        <p:spPr>
          <a:xfrm flipV="1">
            <a:off x="805240" y="2964265"/>
            <a:ext cx="304800" cy="188686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14 Conector recto"/>
          <p:cNvCxnSpPr/>
          <p:nvPr/>
        </p:nvCxnSpPr>
        <p:spPr>
          <a:xfrm flipV="1">
            <a:off x="805240" y="3329299"/>
            <a:ext cx="304800" cy="188686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15 Conector recto"/>
          <p:cNvCxnSpPr/>
          <p:nvPr/>
        </p:nvCxnSpPr>
        <p:spPr>
          <a:xfrm flipV="1">
            <a:off x="805240" y="3670747"/>
            <a:ext cx="304800" cy="188686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16 Conector recto"/>
          <p:cNvCxnSpPr/>
          <p:nvPr/>
        </p:nvCxnSpPr>
        <p:spPr>
          <a:xfrm flipV="1">
            <a:off x="826649" y="4011833"/>
            <a:ext cx="304800" cy="188686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17 Conector recto"/>
          <p:cNvCxnSpPr/>
          <p:nvPr/>
        </p:nvCxnSpPr>
        <p:spPr>
          <a:xfrm flipV="1">
            <a:off x="826649" y="4352919"/>
            <a:ext cx="304800" cy="188686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18 Conector recto"/>
          <p:cNvCxnSpPr/>
          <p:nvPr/>
        </p:nvCxnSpPr>
        <p:spPr>
          <a:xfrm flipV="1">
            <a:off x="1985539" y="2964265"/>
            <a:ext cx="304800" cy="188686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19 Conector recto"/>
          <p:cNvCxnSpPr/>
          <p:nvPr/>
        </p:nvCxnSpPr>
        <p:spPr>
          <a:xfrm flipV="1">
            <a:off x="1985539" y="3329299"/>
            <a:ext cx="304800" cy="188686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20 Conector recto"/>
          <p:cNvCxnSpPr/>
          <p:nvPr/>
        </p:nvCxnSpPr>
        <p:spPr>
          <a:xfrm flipV="1">
            <a:off x="3137667" y="2974787"/>
            <a:ext cx="304800" cy="188686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21 Conector recto"/>
          <p:cNvCxnSpPr/>
          <p:nvPr/>
        </p:nvCxnSpPr>
        <p:spPr>
          <a:xfrm flipV="1">
            <a:off x="3137667" y="3340909"/>
            <a:ext cx="304800" cy="188686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22 Conector recto"/>
          <p:cNvCxnSpPr/>
          <p:nvPr/>
        </p:nvCxnSpPr>
        <p:spPr>
          <a:xfrm flipV="1">
            <a:off x="3137667" y="3670747"/>
            <a:ext cx="304800" cy="188686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23 Conector recto"/>
          <p:cNvCxnSpPr/>
          <p:nvPr/>
        </p:nvCxnSpPr>
        <p:spPr>
          <a:xfrm flipV="1">
            <a:off x="3137667" y="4011833"/>
            <a:ext cx="304800" cy="188686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24 Conector recto"/>
          <p:cNvCxnSpPr/>
          <p:nvPr/>
        </p:nvCxnSpPr>
        <p:spPr>
          <a:xfrm flipV="1">
            <a:off x="3137667" y="4352919"/>
            <a:ext cx="304800" cy="188686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25 Conector recto"/>
          <p:cNvCxnSpPr/>
          <p:nvPr/>
        </p:nvCxnSpPr>
        <p:spPr>
          <a:xfrm flipV="1">
            <a:off x="3137667" y="4694005"/>
            <a:ext cx="304800" cy="188686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26 Conector recto"/>
          <p:cNvCxnSpPr/>
          <p:nvPr/>
        </p:nvCxnSpPr>
        <p:spPr>
          <a:xfrm flipV="1">
            <a:off x="3175023" y="5035091"/>
            <a:ext cx="304800" cy="188686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27 Conector recto"/>
          <p:cNvCxnSpPr/>
          <p:nvPr/>
        </p:nvCxnSpPr>
        <p:spPr>
          <a:xfrm flipV="1">
            <a:off x="3175023" y="5445224"/>
            <a:ext cx="304800" cy="188686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28 Conector recto"/>
          <p:cNvCxnSpPr/>
          <p:nvPr/>
        </p:nvCxnSpPr>
        <p:spPr>
          <a:xfrm flipV="1">
            <a:off x="1057137" y="4571848"/>
            <a:ext cx="216024" cy="166473"/>
          </a:xfrm>
          <a:prstGeom prst="line">
            <a:avLst/>
          </a:prstGeom>
          <a:ln w="28575">
            <a:solidFill>
              <a:srgbClr val="0070C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29 Conector recto"/>
          <p:cNvCxnSpPr/>
          <p:nvPr/>
        </p:nvCxnSpPr>
        <p:spPr>
          <a:xfrm flipV="1">
            <a:off x="2200137" y="3524098"/>
            <a:ext cx="216024" cy="166473"/>
          </a:xfrm>
          <a:prstGeom prst="line">
            <a:avLst/>
          </a:prstGeom>
          <a:ln w="28575">
            <a:solidFill>
              <a:srgbClr val="0070C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30 Conector recto"/>
          <p:cNvCxnSpPr/>
          <p:nvPr/>
        </p:nvCxnSpPr>
        <p:spPr>
          <a:xfrm flipV="1">
            <a:off x="3412987" y="5613248"/>
            <a:ext cx="216024" cy="166473"/>
          </a:xfrm>
          <a:prstGeom prst="line">
            <a:avLst/>
          </a:prstGeom>
          <a:ln w="28575">
            <a:solidFill>
              <a:srgbClr val="0070C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33902328"/>
      </p:ext>
    </p:extLst>
  </p:cSld>
  <p:clrMapOvr>
    <a:masterClrMapping/>
  </p:clrMapOvr>
  <p:transition>
    <p:fad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225528" y="292678"/>
            <a:ext cx="8419495" cy="646331"/>
          </a:xfrm>
        </p:spPr>
        <p:txBody>
          <a:bodyPr>
            <a:normAutofit fontScale="90000"/>
          </a:bodyPr>
          <a:lstStyle/>
          <a:p>
            <a:r>
              <a:rPr lang="es-CO" dirty="0"/>
              <a:t>Prueba de Escritorio</a:t>
            </a:r>
          </a:p>
        </p:txBody>
      </p:sp>
      <p:pic>
        <p:nvPicPr>
          <p:cNvPr id="5123" name="Picture 3" descr="C:\Users\tigarto\Downloads\ejemplo_prueba_escritorio (2).jp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48571" y="1293538"/>
            <a:ext cx="4096453" cy="55011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2 Rectángulo"/>
          <p:cNvSpPr/>
          <p:nvPr/>
        </p:nvSpPr>
        <p:spPr>
          <a:xfrm>
            <a:off x="225529" y="1052736"/>
            <a:ext cx="3341941" cy="70788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s-CO" sz="2000" b="1" dirty="0"/>
              <a:t>Resultados:</a:t>
            </a:r>
          </a:p>
          <a:p>
            <a:r>
              <a:rPr lang="es-CO" sz="2000" dirty="0"/>
              <a:t>Valores finales de las variables</a:t>
            </a:r>
            <a:endParaRPr lang="es-CO" dirty="0">
              <a:solidFill>
                <a:schemeClr val="accent1"/>
              </a:solidFill>
            </a:endParaRPr>
          </a:p>
        </p:txBody>
      </p:sp>
      <p:graphicFrame>
        <p:nvGraphicFramePr>
          <p:cNvPr id="6" name="5 Tab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38901143"/>
              </p:ext>
            </p:extLst>
          </p:nvPr>
        </p:nvGraphicFramePr>
        <p:xfrm>
          <a:off x="699370" y="2060848"/>
          <a:ext cx="2952328" cy="15087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29614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5618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s-CO" sz="2000" b="1" dirty="0">
                          <a:solidFill>
                            <a:schemeClr val="bg1"/>
                          </a:solidFill>
                          <a:latin typeface="+mn-lt"/>
                          <a:cs typeface="Consolas" panose="020B0609020204030204" pitchFamily="49" charset="0"/>
                        </a:rPr>
                        <a:t>Variable</a:t>
                      </a:r>
                    </a:p>
                  </a:txBody>
                  <a:tcP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2000" b="1" dirty="0">
                          <a:solidFill>
                            <a:schemeClr val="bg1"/>
                          </a:solidFill>
                          <a:latin typeface="+mn-lt"/>
                          <a:cs typeface="Consolas" panose="020B0609020204030204" pitchFamily="49" charset="0"/>
                        </a:rPr>
                        <a:t>Valor</a:t>
                      </a:r>
                      <a:r>
                        <a:rPr lang="es-CO" sz="2000" b="1" baseline="0" dirty="0">
                          <a:solidFill>
                            <a:schemeClr val="bg1"/>
                          </a:solidFill>
                          <a:latin typeface="+mn-lt"/>
                          <a:cs typeface="Consolas" panose="020B0609020204030204" pitchFamily="49" charset="0"/>
                        </a:rPr>
                        <a:t> final</a:t>
                      </a:r>
                      <a:endParaRPr lang="es-CO" sz="2000" b="1" dirty="0">
                        <a:solidFill>
                          <a:schemeClr val="bg1"/>
                        </a:solidFill>
                        <a:latin typeface="+mn-lt"/>
                        <a:cs typeface="Consolas" panose="020B0609020204030204" pitchFamily="49" charset="0"/>
                      </a:endParaRPr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s-CO" sz="18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18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s-CO" sz="18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18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s-CO" sz="18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18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-8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" name="7 Rectángulo"/>
          <p:cNvSpPr/>
          <p:nvPr/>
        </p:nvSpPr>
        <p:spPr>
          <a:xfrm>
            <a:off x="257824" y="3938203"/>
            <a:ext cx="2069734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s-CO" sz="2000" b="1" dirty="0"/>
              <a:t>Salida en pantalla</a:t>
            </a:r>
          </a:p>
        </p:txBody>
      </p:sp>
      <p:grpSp>
        <p:nvGrpSpPr>
          <p:cNvPr id="4" name="Grupo 3">
            <a:extLst>
              <a:ext uri="{FF2B5EF4-FFF2-40B4-BE49-F238E27FC236}">
                <a16:creationId xmlns:a16="http://schemas.microsoft.com/office/drawing/2014/main" id="{39DDEB59-26FE-436E-870C-92C6081570D1}"/>
              </a:ext>
            </a:extLst>
          </p:cNvPr>
          <p:cNvGrpSpPr/>
          <p:nvPr/>
        </p:nvGrpSpPr>
        <p:grpSpPr>
          <a:xfrm>
            <a:off x="1168718" y="4509120"/>
            <a:ext cx="1967590" cy="1618821"/>
            <a:chOff x="1187624" y="4585378"/>
            <a:chExt cx="1967590" cy="1618821"/>
          </a:xfrm>
        </p:grpSpPr>
        <p:pic>
          <p:nvPicPr>
            <p:cNvPr id="6148" name="Picture 4" descr="http://thyroidtx.com/wp-content/uploads/2012/09/computer-monitor-blank-md.png"/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87624" y="4585378"/>
              <a:ext cx="1967590" cy="161882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30" name="29 Rectángulo"/>
            <p:cNvSpPr/>
            <p:nvPr/>
          </p:nvSpPr>
          <p:spPr>
            <a:xfrm>
              <a:off x="1648029" y="5085184"/>
              <a:ext cx="979755" cy="307777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s-CO" sz="1400" b="1" dirty="0">
                  <a:latin typeface="Consolas" panose="020B0609020204030204" pitchFamily="49" charset="0"/>
                  <a:cs typeface="Consolas" panose="020B0609020204030204" pitchFamily="49" charset="0"/>
                </a:rPr>
                <a:t>4, -8, 6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665094668"/>
      </p:ext>
    </p:extLst>
  </p:cSld>
  <p:clrMapOvr>
    <a:masterClrMapping/>
  </p:clrMapOvr>
  <p:transition>
    <p:fade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6" name="Imagen 55">
            <a:extLst>
              <a:ext uri="{FF2B5EF4-FFF2-40B4-BE49-F238E27FC236}">
                <a16:creationId xmlns:a16="http://schemas.microsoft.com/office/drawing/2014/main" id="{BC2213F1-D2B4-4E93-AB50-1886A42BF3D8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4375" y="3714099"/>
            <a:ext cx="406765" cy="377053"/>
          </a:xfrm>
          <a:prstGeom prst="rect">
            <a:avLst/>
          </a:prstGeom>
        </p:spPr>
      </p:pic>
      <p:sp>
        <p:nvSpPr>
          <p:cNvPr id="5" name="Title 4"/>
          <p:cNvSpPr>
            <a:spLocks noGrp="1"/>
          </p:cNvSpPr>
          <p:nvPr>
            <p:ph type="title"/>
          </p:nvPr>
        </p:nvSpPr>
        <p:spPr>
          <a:xfrm>
            <a:off x="628650" y="365127"/>
            <a:ext cx="7886700" cy="1212052"/>
          </a:xfrm>
        </p:spPr>
        <p:txBody>
          <a:bodyPr>
            <a:normAutofit/>
          </a:bodyPr>
          <a:lstStyle/>
          <a:p>
            <a:pPr algn="ctr"/>
            <a:r>
              <a:rPr lang="es-CO" sz="4000" dirty="0"/>
              <a:t>Condicionales</a:t>
            </a:r>
            <a:endParaRPr lang="en-US" sz="54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F1CE28-A3C7-48DC-84A2-8FB08D6123C5}" type="slidenum">
              <a:rPr lang="en-US" smtClean="0"/>
              <a:pPr/>
              <a:t>19</a:t>
            </a:fld>
            <a:endParaRPr lang="en-US" dirty="0"/>
          </a:p>
        </p:txBody>
      </p:sp>
      <p:sp>
        <p:nvSpPr>
          <p:cNvPr id="22" name="TextBox 75">
            <a:extLst>
              <a:ext uri="{FF2B5EF4-FFF2-40B4-BE49-F238E27FC236}">
                <a16:creationId xmlns:a16="http://schemas.microsoft.com/office/drawing/2014/main" id="{10E0A3D1-31D4-4989-876E-B3E2A6DFE9F5}"/>
              </a:ext>
            </a:extLst>
          </p:cNvPr>
          <p:cNvSpPr txBox="1"/>
          <p:nvPr/>
        </p:nvSpPr>
        <p:spPr>
          <a:xfrm>
            <a:off x="2691923" y="4083271"/>
            <a:ext cx="6096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dirty="0">
                <a:latin typeface="Consolas" panose="020B0609020204030204" pitchFamily="49" charset="0"/>
              </a:rPr>
              <a:t>yes</a:t>
            </a:r>
          </a:p>
        </p:txBody>
      </p:sp>
      <p:sp>
        <p:nvSpPr>
          <p:cNvPr id="23" name="Flowchart: Decision 5">
            <a:extLst>
              <a:ext uri="{FF2B5EF4-FFF2-40B4-BE49-F238E27FC236}">
                <a16:creationId xmlns:a16="http://schemas.microsoft.com/office/drawing/2014/main" id="{725E3CCE-8824-4A7E-8DB1-82A6D7895359}"/>
              </a:ext>
            </a:extLst>
          </p:cNvPr>
          <p:cNvSpPr/>
          <p:nvPr/>
        </p:nvSpPr>
        <p:spPr>
          <a:xfrm>
            <a:off x="515947" y="4095146"/>
            <a:ext cx="2180704" cy="457200"/>
          </a:xfrm>
          <a:prstGeom prst="flowChartDecision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latin typeface="Consolas" panose="020B0609020204030204" pitchFamily="49" charset="0"/>
              </a:rPr>
              <a:t>Decision</a:t>
            </a:r>
          </a:p>
        </p:txBody>
      </p:sp>
      <p:sp>
        <p:nvSpPr>
          <p:cNvPr id="24" name="Flowchart: Data 6">
            <a:extLst>
              <a:ext uri="{FF2B5EF4-FFF2-40B4-BE49-F238E27FC236}">
                <a16:creationId xmlns:a16="http://schemas.microsoft.com/office/drawing/2014/main" id="{A924F680-A556-496C-8BCA-A3D53A4BC7DC}"/>
              </a:ext>
            </a:extLst>
          </p:cNvPr>
          <p:cNvSpPr/>
          <p:nvPr/>
        </p:nvSpPr>
        <p:spPr>
          <a:xfrm>
            <a:off x="604848" y="2204864"/>
            <a:ext cx="2013856" cy="381000"/>
          </a:xfrm>
          <a:prstGeom prst="flowChartInputOutput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latin typeface="Consolas" panose="020B0609020204030204" pitchFamily="49" charset="0"/>
              </a:rPr>
              <a:t>Read/Print</a:t>
            </a:r>
          </a:p>
        </p:txBody>
      </p:sp>
      <p:sp>
        <p:nvSpPr>
          <p:cNvPr id="25" name="Flowchart: Process 7">
            <a:extLst>
              <a:ext uri="{FF2B5EF4-FFF2-40B4-BE49-F238E27FC236}">
                <a16:creationId xmlns:a16="http://schemas.microsoft.com/office/drawing/2014/main" id="{030BBF68-F42E-4FAB-A584-4C6537BD297B}"/>
              </a:ext>
            </a:extLst>
          </p:cNvPr>
          <p:cNvSpPr/>
          <p:nvPr/>
        </p:nvSpPr>
        <p:spPr>
          <a:xfrm>
            <a:off x="1074747" y="3035424"/>
            <a:ext cx="1066800" cy="609600"/>
          </a:xfrm>
          <a:prstGeom prst="flowChartProcess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latin typeface="Consolas" panose="020B0609020204030204" pitchFamily="49" charset="0"/>
              </a:rPr>
              <a:t>Process</a:t>
            </a:r>
          </a:p>
        </p:txBody>
      </p:sp>
      <p:sp>
        <p:nvSpPr>
          <p:cNvPr id="26" name="Flowchart: Terminator 8">
            <a:extLst>
              <a:ext uri="{FF2B5EF4-FFF2-40B4-BE49-F238E27FC236}">
                <a16:creationId xmlns:a16="http://schemas.microsoft.com/office/drawing/2014/main" id="{1D89B48F-65A1-49FA-B6EE-AF5E5C1421C5}"/>
              </a:ext>
            </a:extLst>
          </p:cNvPr>
          <p:cNvSpPr/>
          <p:nvPr/>
        </p:nvSpPr>
        <p:spPr>
          <a:xfrm>
            <a:off x="1808172" y="5530533"/>
            <a:ext cx="1066800" cy="304800"/>
          </a:xfrm>
          <a:prstGeom prst="flowChartTerminator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CO" sz="1400" dirty="0"/>
              <a:t>Finish</a:t>
            </a:r>
            <a:endParaRPr lang="en-US" sz="1400" dirty="0"/>
          </a:p>
        </p:txBody>
      </p:sp>
      <p:sp>
        <p:nvSpPr>
          <p:cNvPr id="27" name="Flowchart: Terminator 9">
            <a:extLst>
              <a:ext uri="{FF2B5EF4-FFF2-40B4-BE49-F238E27FC236}">
                <a16:creationId xmlns:a16="http://schemas.microsoft.com/office/drawing/2014/main" id="{5B971020-8A80-4312-BB48-A564296C92A8}"/>
              </a:ext>
            </a:extLst>
          </p:cNvPr>
          <p:cNvSpPr/>
          <p:nvPr/>
        </p:nvSpPr>
        <p:spPr>
          <a:xfrm>
            <a:off x="1074747" y="1556792"/>
            <a:ext cx="1066800" cy="304800"/>
          </a:xfrm>
          <a:prstGeom prst="flowChartTerminator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CO" sz="1400" dirty="0">
                <a:latin typeface="Consolas" panose="020B0609020204030204" pitchFamily="49" charset="0"/>
              </a:rPr>
              <a:t>Start</a:t>
            </a:r>
            <a:endParaRPr lang="en-US" sz="1400" dirty="0">
              <a:latin typeface="Consolas" panose="020B0609020204030204" pitchFamily="49" charset="0"/>
            </a:endParaRPr>
          </a:p>
        </p:txBody>
      </p:sp>
      <p:cxnSp>
        <p:nvCxnSpPr>
          <p:cNvPr id="28" name="Straight Arrow Connector 11">
            <a:extLst>
              <a:ext uri="{FF2B5EF4-FFF2-40B4-BE49-F238E27FC236}">
                <a16:creationId xmlns:a16="http://schemas.microsoft.com/office/drawing/2014/main" id="{3355EFA7-6666-46E0-B46F-E657A172B1E5}"/>
              </a:ext>
            </a:extLst>
          </p:cNvPr>
          <p:cNvCxnSpPr>
            <a:stCxn id="27" idx="2"/>
            <a:endCxn id="24" idx="1"/>
          </p:cNvCxnSpPr>
          <p:nvPr/>
        </p:nvCxnSpPr>
        <p:spPr>
          <a:xfrm>
            <a:off x="1608147" y="1861592"/>
            <a:ext cx="3629" cy="343272"/>
          </a:xfrm>
          <a:prstGeom prst="straightConnector1">
            <a:avLst/>
          </a:prstGeom>
          <a:ln>
            <a:solidFill>
              <a:schemeClr val="tx1">
                <a:lumMod val="50000"/>
                <a:lumOff val="50000"/>
              </a:schemeClr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12">
            <a:extLst>
              <a:ext uri="{FF2B5EF4-FFF2-40B4-BE49-F238E27FC236}">
                <a16:creationId xmlns:a16="http://schemas.microsoft.com/office/drawing/2014/main" id="{96898BAD-35AE-4F98-832E-A8C847CD074C}"/>
              </a:ext>
            </a:extLst>
          </p:cNvPr>
          <p:cNvCxnSpPr>
            <a:stCxn id="24" idx="4"/>
            <a:endCxn id="25" idx="0"/>
          </p:cNvCxnSpPr>
          <p:nvPr/>
        </p:nvCxnSpPr>
        <p:spPr>
          <a:xfrm flipH="1">
            <a:off x="1608147" y="2585864"/>
            <a:ext cx="3629" cy="449560"/>
          </a:xfrm>
          <a:prstGeom prst="straightConnector1">
            <a:avLst/>
          </a:prstGeom>
          <a:ln>
            <a:solidFill>
              <a:schemeClr val="tx1">
                <a:lumMod val="50000"/>
                <a:lumOff val="50000"/>
              </a:schemeClr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15">
            <a:extLst>
              <a:ext uri="{FF2B5EF4-FFF2-40B4-BE49-F238E27FC236}">
                <a16:creationId xmlns:a16="http://schemas.microsoft.com/office/drawing/2014/main" id="{34C8E88B-26CF-40F6-B2BB-47873EDD508B}"/>
              </a:ext>
            </a:extLst>
          </p:cNvPr>
          <p:cNvCxnSpPr>
            <a:stCxn id="25" idx="2"/>
            <a:endCxn id="23" idx="0"/>
          </p:cNvCxnSpPr>
          <p:nvPr/>
        </p:nvCxnSpPr>
        <p:spPr>
          <a:xfrm flipH="1">
            <a:off x="1606299" y="3645024"/>
            <a:ext cx="1848" cy="450122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18">
            <a:extLst>
              <a:ext uri="{FF2B5EF4-FFF2-40B4-BE49-F238E27FC236}">
                <a16:creationId xmlns:a16="http://schemas.microsoft.com/office/drawing/2014/main" id="{3542C5EB-C251-49D1-B30E-AC1B61B1DDCC}"/>
              </a:ext>
            </a:extLst>
          </p:cNvPr>
          <p:cNvCxnSpPr>
            <a:stCxn id="23" idx="2"/>
            <a:endCxn id="33" idx="1"/>
          </p:cNvCxnSpPr>
          <p:nvPr/>
        </p:nvCxnSpPr>
        <p:spPr>
          <a:xfrm flipH="1">
            <a:off x="1601797" y="4552346"/>
            <a:ext cx="4502" cy="228600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21">
            <a:extLst>
              <a:ext uri="{FF2B5EF4-FFF2-40B4-BE49-F238E27FC236}">
                <a16:creationId xmlns:a16="http://schemas.microsoft.com/office/drawing/2014/main" id="{32CE09E4-9BD3-4F3C-9196-601606BF7350}"/>
              </a:ext>
            </a:extLst>
          </p:cNvPr>
          <p:cNvCxnSpPr>
            <a:cxnSpLocks/>
            <a:stCxn id="23" idx="3"/>
          </p:cNvCxnSpPr>
          <p:nvPr/>
        </p:nvCxnSpPr>
        <p:spPr>
          <a:xfrm>
            <a:off x="2696651" y="4323746"/>
            <a:ext cx="816496" cy="0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Flowchart: Data 34">
            <a:extLst>
              <a:ext uri="{FF2B5EF4-FFF2-40B4-BE49-F238E27FC236}">
                <a16:creationId xmlns:a16="http://schemas.microsoft.com/office/drawing/2014/main" id="{735BE593-A008-4E3F-9DC8-58DC582F0E41}"/>
              </a:ext>
            </a:extLst>
          </p:cNvPr>
          <p:cNvSpPr/>
          <p:nvPr/>
        </p:nvSpPr>
        <p:spPr>
          <a:xfrm>
            <a:off x="642947" y="4780946"/>
            <a:ext cx="1917700" cy="381000"/>
          </a:xfrm>
          <a:prstGeom prst="flowChartInputOutput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Read/Print</a:t>
            </a:r>
          </a:p>
        </p:txBody>
      </p:sp>
      <p:cxnSp>
        <p:nvCxnSpPr>
          <p:cNvPr id="34" name="Straight Arrow Connector 37">
            <a:extLst>
              <a:ext uri="{FF2B5EF4-FFF2-40B4-BE49-F238E27FC236}">
                <a16:creationId xmlns:a16="http://schemas.microsoft.com/office/drawing/2014/main" id="{B5CFA0E8-2228-4275-9494-F309158F2E12}"/>
              </a:ext>
            </a:extLst>
          </p:cNvPr>
          <p:cNvCxnSpPr>
            <a:endCxn id="26" idx="0"/>
          </p:cNvCxnSpPr>
          <p:nvPr/>
        </p:nvCxnSpPr>
        <p:spPr>
          <a:xfrm>
            <a:off x="2341572" y="5346239"/>
            <a:ext cx="0" cy="184294"/>
          </a:xfrm>
          <a:prstGeom prst="straightConnector1">
            <a:avLst/>
          </a:prstGeom>
          <a:ln>
            <a:solidFill>
              <a:schemeClr val="tx1">
                <a:lumMod val="50000"/>
                <a:lumOff val="50000"/>
              </a:schemeClr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Box 76">
            <a:extLst>
              <a:ext uri="{FF2B5EF4-FFF2-40B4-BE49-F238E27FC236}">
                <a16:creationId xmlns:a16="http://schemas.microsoft.com/office/drawing/2014/main" id="{9F4CF524-B888-4B8B-8D80-F1A8E3E87675}"/>
              </a:ext>
            </a:extLst>
          </p:cNvPr>
          <p:cNvSpPr txBox="1"/>
          <p:nvPr/>
        </p:nvSpPr>
        <p:spPr>
          <a:xfrm>
            <a:off x="1627602" y="4509120"/>
            <a:ext cx="35211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dirty="0">
                <a:latin typeface="Consolas" panose="020B0609020204030204" pitchFamily="49" charset="0"/>
              </a:rPr>
              <a:t>no</a:t>
            </a:r>
          </a:p>
        </p:txBody>
      </p:sp>
      <p:cxnSp>
        <p:nvCxnSpPr>
          <p:cNvPr id="36" name="Straight Arrow Connector 18">
            <a:extLst>
              <a:ext uri="{FF2B5EF4-FFF2-40B4-BE49-F238E27FC236}">
                <a16:creationId xmlns:a16="http://schemas.microsoft.com/office/drawing/2014/main" id="{182B4EBD-8385-4A8F-8D7D-343EDA02FC89}"/>
              </a:ext>
            </a:extLst>
          </p:cNvPr>
          <p:cNvCxnSpPr>
            <a:cxnSpLocks/>
            <a:endCxn id="37" idx="1"/>
          </p:cNvCxnSpPr>
          <p:nvPr/>
        </p:nvCxnSpPr>
        <p:spPr>
          <a:xfrm>
            <a:off x="3514725" y="4324350"/>
            <a:ext cx="8401" cy="474217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Flowchart: Data 34">
            <a:extLst>
              <a:ext uri="{FF2B5EF4-FFF2-40B4-BE49-F238E27FC236}">
                <a16:creationId xmlns:a16="http://schemas.microsoft.com/office/drawing/2014/main" id="{CF6E595E-DBB0-45C4-AF61-6DE97D4CF1FE}"/>
              </a:ext>
            </a:extLst>
          </p:cNvPr>
          <p:cNvSpPr/>
          <p:nvPr/>
        </p:nvSpPr>
        <p:spPr>
          <a:xfrm>
            <a:off x="2560648" y="4798567"/>
            <a:ext cx="1924956" cy="381000"/>
          </a:xfrm>
          <a:prstGeom prst="flowChartInputOutput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Read/Print</a:t>
            </a:r>
          </a:p>
        </p:txBody>
      </p:sp>
      <p:cxnSp>
        <p:nvCxnSpPr>
          <p:cNvPr id="38" name="Straight Arrow Connector 21">
            <a:extLst>
              <a:ext uri="{FF2B5EF4-FFF2-40B4-BE49-F238E27FC236}">
                <a16:creationId xmlns:a16="http://schemas.microsoft.com/office/drawing/2014/main" id="{72A58F05-2519-4777-A706-4BCB252A9853}"/>
              </a:ext>
            </a:extLst>
          </p:cNvPr>
          <p:cNvCxnSpPr/>
          <p:nvPr/>
        </p:nvCxnSpPr>
        <p:spPr>
          <a:xfrm>
            <a:off x="1608147" y="5346239"/>
            <a:ext cx="1905000" cy="0"/>
          </a:xfrm>
          <a:prstGeom prst="straightConnector1">
            <a:avLst/>
          </a:prstGeom>
          <a:ln>
            <a:solidFill>
              <a:schemeClr val="tx1">
                <a:lumMod val="50000"/>
                <a:lumOff val="50000"/>
              </a:schemeClr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18">
            <a:extLst>
              <a:ext uri="{FF2B5EF4-FFF2-40B4-BE49-F238E27FC236}">
                <a16:creationId xmlns:a16="http://schemas.microsoft.com/office/drawing/2014/main" id="{07DCD519-467A-475C-AAAC-6047B6903DCE}"/>
              </a:ext>
            </a:extLst>
          </p:cNvPr>
          <p:cNvCxnSpPr>
            <a:stCxn id="33" idx="4"/>
          </p:cNvCxnSpPr>
          <p:nvPr/>
        </p:nvCxnSpPr>
        <p:spPr>
          <a:xfrm>
            <a:off x="1601797" y="5161946"/>
            <a:ext cx="6350" cy="184293"/>
          </a:xfrm>
          <a:prstGeom prst="straightConnector1">
            <a:avLst/>
          </a:prstGeom>
          <a:ln>
            <a:solidFill>
              <a:schemeClr val="tx1">
                <a:lumMod val="50000"/>
                <a:lumOff val="50000"/>
              </a:schemeClr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18">
            <a:extLst>
              <a:ext uri="{FF2B5EF4-FFF2-40B4-BE49-F238E27FC236}">
                <a16:creationId xmlns:a16="http://schemas.microsoft.com/office/drawing/2014/main" id="{A16029E4-DAEE-4A97-B9B4-31452D60625B}"/>
              </a:ext>
            </a:extLst>
          </p:cNvPr>
          <p:cNvCxnSpPr/>
          <p:nvPr/>
        </p:nvCxnSpPr>
        <p:spPr>
          <a:xfrm>
            <a:off x="3513147" y="5161946"/>
            <a:ext cx="0" cy="184293"/>
          </a:xfrm>
          <a:prstGeom prst="straightConnector1">
            <a:avLst/>
          </a:prstGeom>
          <a:ln>
            <a:solidFill>
              <a:schemeClr val="tx1">
                <a:lumMod val="50000"/>
                <a:lumOff val="50000"/>
              </a:schemeClr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4" name="Grupo 53">
            <a:extLst>
              <a:ext uri="{FF2B5EF4-FFF2-40B4-BE49-F238E27FC236}">
                <a16:creationId xmlns:a16="http://schemas.microsoft.com/office/drawing/2014/main" id="{E4D02FE0-4476-4E4B-B1B0-7EC14150D54C}"/>
              </a:ext>
            </a:extLst>
          </p:cNvPr>
          <p:cNvGrpSpPr/>
          <p:nvPr/>
        </p:nvGrpSpPr>
        <p:grpSpPr>
          <a:xfrm>
            <a:off x="4686171" y="3554521"/>
            <a:ext cx="3829179" cy="1200820"/>
            <a:chOff x="4708396" y="2758299"/>
            <a:chExt cx="3829179" cy="1200820"/>
          </a:xfrm>
        </p:grpSpPr>
        <p:grpSp>
          <p:nvGrpSpPr>
            <p:cNvPr id="10" name="9 Grupo"/>
            <p:cNvGrpSpPr/>
            <p:nvPr/>
          </p:nvGrpSpPr>
          <p:grpSpPr>
            <a:xfrm>
              <a:off x="4708396" y="2986899"/>
              <a:ext cx="3829179" cy="972220"/>
              <a:chOff x="4625968" y="4055676"/>
              <a:chExt cx="3193997" cy="580765"/>
            </a:xfrm>
          </p:grpSpPr>
          <p:sp>
            <p:nvSpPr>
              <p:cNvPr id="12" name="TextBox 75"/>
              <p:cNvSpPr txBox="1"/>
              <p:nvPr/>
            </p:nvSpPr>
            <p:spPr>
              <a:xfrm>
                <a:off x="7391566" y="4143894"/>
                <a:ext cx="333571" cy="14708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000" dirty="0">
                    <a:latin typeface="Consolas" panose="020B0609020204030204" pitchFamily="49" charset="0"/>
                  </a:rPr>
                  <a:t>yes</a:t>
                </a:r>
              </a:p>
            </p:txBody>
          </p:sp>
          <p:sp>
            <p:nvSpPr>
              <p:cNvPr id="13" name="TextBox 76"/>
              <p:cNvSpPr txBox="1"/>
              <p:nvPr/>
            </p:nvSpPr>
            <p:spPr>
              <a:xfrm>
                <a:off x="4812513" y="4132026"/>
                <a:ext cx="309283" cy="14708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000" dirty="0">
                    <a:latin typeface="Consolas" panose="020B0609020204030204" pitchFamily="49" charset="0"/>
                  </a:rPr>
                  <a:t>no</a:t>
                </a:r>
              </a:p>
            </p:txBody>
          </p:sp>
          <p:sp>
            <p:nvSpPr>
              <p:cNvPr id="14" name="Flowchart: Decision 5"/>
              <p:cNvSpPr/>
              <p:nvPr/>
            </p:nvSpPr>
            <p:spPr>
              <a:xfrm>
                <a:off x="5143761" y="4055676"/>
                <a:ext cx="2180704" cy="457200"/>
              </a:xfrm>
              <a:prstGeom prst="flowChartDecision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latin typeface="Consolas" panose="020B0609020204030204" pitchFamily="49" charset="0"/>
                  </a:rPr>
                  <a:t>Decision</a:t>
                </a:r>
              </a:p>
            </p:txBody>
          </p:sp>
          <p:grpSp>
            <p:nvGrpSpPr>
              <p:cNvPr id="15" name="14 Grupo"/>
              <p:cNvGrpSpPr/>
              <p:nvPr/>
            </p:nvGrpSpPr>
            <p:grpSpPr>
              <a:xfrm>
                <a:off x="4625968" y="4281006"/>
                <a:ext cx="528637" cy="355435"/>
                <a:chOff x="4625968" y="4281006"/>
                <a:chExt cx="528637" cy="355435"/>
              </a:xfrm>
            </p:grpSpPr>
            <p:cxnSp>
              <p:nvCxnSpPr>
                <p:cNvPr id="19" name="Straight Arrow Connector 18"/>
                <p:cNvCxnSpPr>
                  <a:cxnSpLocks/>
                </p:cNvCxnSpPr>
                <p:nvPr/>
              </p:nvCxnSpPr>
              <p:spPr>
                <a:xfrm>
                  <a:off x="4626503" y="4281006"/>
                  <a:ext cx="0" cy="355435"/>
                </a:xfrm>
                <a:prstGeom prst="straightConnector1">
                  <a:avLst/>
                </a:prstGeom>
                <a:ln>
                  <a:solidFill>
                    <a:schemeClr val="tx1"/>
                  </a:solidFill>
                  <a:headEnd type="none" w="med" len="med"/>
                  <a:tailEnd type="triangl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0" name="Straight Arrow Connector 18"/>
                <p:cNvCxnSpPr/>
                <p:nvPr/>
              </p:nvCxnSpPr>
              <p:spPr>
                <a:xfrm flipH="1">
                  <a:off x="4625968" y="4284334"/>
                  <a:ext cx="528637" cy="0"/>
                </a:xfrm>
                <a:prstGeom prst="straightConnector1">
                  <a:avLst/>
                </a:prstGeom>
                <a:ln>
                  <a:solidFill>
                    <a:schemeClr val="tx1"/>
                  </a:solidFill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6" name="15 Grupo"/>
              <p:cNvGrpSpPr/>
              <p:nvPr/>
            </p:nvGrpSpPr>
            <p:grpSpPr>
              <a:xfrm flipH="1">
                <a:off x="7312562" y="4281837"/>
                <a:ext cx="507403" cy="354604"/>
                <a:chOff x="4648261" y="4281837"/>
                <a:chExt cx="507403" cy="354604"/>
              </a:xfrm>
            </p:grpSpPr>
            <p:cxnSp>
              <p:nvCxnSpPr>
                <p:cNvPr id="17" name="Straight Arrow Connector 18"/>
                <p:cNvCxnSpPr>
                  <a:cxnSpLocks/>
                </p:cNvCxnSpPr>
                <p:nvPr/>
              </p:nvCxnSpPr>
              <p:spPr>
                <a:xfrm>
                  <a:off x="4650911" y="4281837"/>
                  <a:ext cx="2065" cy="354604"/>
                </a:xfrm>
                <a:prstGeom prst="straightConnector1">
                  <a:avLst/>
                </a:prstGeom>
                <a:ln>
                  <a:solidFill>
                    <a:schemeClr val="tx1"/>
                  </a:solidFill>
                  <a:headEnd type="none" w="med" len="med"/>
                  <a:tailEnd type="triangl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8" name="Straight Arrow Connector 18"/>
                <p:cNvCxnSpPr>
                  <a:cxnSpLocks/>
                </p:cNvCxnSpPr>
                <p:nvPr/>
              </p:nvCxnSpPr>
              <p:spPr>
                <a:xfrm flipH="1" flipV="1">
                  <a:off x="4648261" y="4281837"/>
                  <a:ext cx="507403" cy="1000"/>
                </a:xfrm>
                <a:prstGeom prst="straightConnector1">
                  <a:avLst/>
                </a:prstGeom>
                <a:ln>
                  <a:solidFill>
                    <a:schemeClr val="tx1"/>
                  </a:solidFill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cxnSp>
          <p:nvCxnSpPr>
            <p:cNvPr id="47" name="Straight Arrow Connector 15">
              <a:extLst>
                <a:ext uri="{FF2B5EF4-FFF2-40B4-BE49-F238E27FC236}">
                  <a16:creationId xmlns:a16="http://schemas.microsoft.com/office/drawing/2014/main" id="{6FD0FB07-1D13-4A5F-B129-23F030A2B6D1}"/>
                </a:ext>
              </a:extLst>
            </p:cNvPr>
            <p:cNvCxnSpPr/>
            <p:nvPr/>
          </p:nvCxnSpPr>
          <p:spPr>
            <a:xfrm flipH="1">
              <a:off x="6636349" y="2758299"/>
              <a:ext cx="1848" cy="228600"/>
            </a:xfrm>
            <a:prstGeom prst="straightConnector1">
              <a:avLst/>
            </a:prstGeom>
            <a:ln>
              <a:solidFill>
                <a:schemeClr val="tx1"/>
              </a:solidFill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55" name="Imagen 54">
            <a:extLst>
              <a:ext uri="{FF2B5EF4-FFF2-40B4-BE49-F238E27FC236}">
                <a16:creationId xmlns:a16="http://schemas.microsoft.com/office/drawing/2014/main" id="{6D49D125-1271-43CF-B36F-19B9978E2B4E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19948" y="2228246"/>
            <a:ext cx="1188349" cy="11015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3447787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4 Título"/>
          <p:cNvSpPr>
            <a:spLocks noGrp="1"/>
          </p:cNvSpPr>
          <p:nvPr>
            <p:ph type="title"/>
          </p:nvPr>
        </p:nvSpPr>
        <p:spPr>
          <a:xfrm>
            <a:off x="528442" y="280812"/>
            <a:ext cx="7464818" cy="656295"/>
          </a:xfrm>
        </p:spPr>
        <p:txBody>
          <a:bodyPr>
            <a:normAutofit fontScale="90000"/>
          </a:bodyPr>
          <a:lstStyle/>
          <a:p>
            <a:r>
              <a:rPr lang="es-CO" dirty="0"/>
              <a:t>Condicionales</a:t>
            </a:r>
          </a:p>
        </p:txBody>
      </p:sp>
      <p:sp>
        <p:nvSpPr>
          <p:cNvPr id="2" name="1 Marcador de contenido"/>
          <p:cNvSpPr>
            <a:spLocks noGrp="1"/>
          </p:cNvSpPr>
          <p:nvPr>
            <p:ph idx="1"/>
          </p:nvPr>
        </p:nvSpPr>
        <p:spPr>
          <a:xfrm>
            <a:off x="251520" y="1050746"/>
            <a:ext cx="8463949" cy="1093390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s-ES" sz="2000" dirty="0"/>
              <a:t>Sirven para representar </a:t>
            </a:r>
            <a:r>
              <a:rPr lang="es-ES" sz="2000" b="1" dirty="0"/>
              <a:t>alternativas de ejecución</a:t>
            </a:r>
            <a:r>
              <a:rPr lang="es-ES" sz="2000" dirty="0"/>
              <a:t>, es decir, que se haga una cosa u otra dependiendo del valor de una condición (expresión lógica cuyo valor puede ser </a:t>
            </a:r>
            <a:r>
              <a:rPr lang="es-ES" sz="1800" b="1" dirty="0">
                <a:solidFill>
                  <a:srgbClr val="C00000"/>
                </a:solidFill>
                <a:latin typeface="Consolas" panose="020B0609020204030204" pitchFamily="49" charset="0"/>
              </a:rPr>
              <a:t>Falso</a:t>
            </a:r>
            <a:r>
              <a:rPr lang="es-ES" sz="2000" dirty="0"/>
              <a:t> o </a:t>
            </a:r>
            <a:r>
              <a:rPr lang="es-ES" sz="1800" b="1" dirty="0">
                <a:solidFill>
                  <a:schemeClr val="accent1">
                    <a:lumMod val="50000"/>
                  </a:schemeClr>
                </a:solidFill>
                <a:latin typeface="Consolas" panose="020B0609020204030204" pitchFamily="49" charset="0"/>
              </a:rPr>
              <a:t>Verdadero</a:t>
            </a:r>
            <a:r>
              <a:rPr lang="es-ES" sz="2000" dirty="0"/>
              <a:t>).</a:t>
            </a:r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F1CE28-A3C7-48DC-84A2-8FB08D6123C5}" type="slidenum">
              <a:rPr lang="en-US" smtClean="0"/>
              <a:pPr/>
              <a:t>20</a:t>
            </a:fld>
            <a:endParaRPr lang="en-US" dirty="0"/>
          </a:p>
        </p:txBody>
      </p:sp>
      <p:grpSp>
        <p:nvGrpSpPr>
          <p:cNvPr id="6" name="5 Grupo"/>
          <p:cNvGrpSpPr/>
          <p:nvPr/>
        </p:nvGrpSpPr>
        <p:grpSpPr>
          <a:xfrm>
            <a:off x="4860032" y="2656499"/>
            <a:ext cx="4152900" cy="1502694"/>
            <a:chOff x="4800600" y="2743200"/>
            <a:chExt cx="3657600" cy="1323474"/>
          </a:xfrm>
        </p:grpSpPr>
        <p:sp>
          <p:nvSpPr>
            <p:cNvPr id="7" name="TextBox 75"/>
            <p:cNvSpPr txBox="1"/>
            <p:nvPr/>
          </p:nvSpPr>
          <p:spPr>
            <a:xfrm>
              <a:off x="7467600" y="2895600"/>
              <a:ext cx="609600" cy="23040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50" dirty="0">
                  <a:latin typeface="Consolas" panose="020B0609020204030204" pitchFamily="49" charset="0"/>
                </a:rPr>
                <a:t>no</a:t>
              </a:r>
            </a:p>
          </p:txBody>
        </p:sp>
        <p:sp>
          <p:nvSpPr>
            <p:cNvPr id="8" name="Flowchart: Decision 40"/>
            <p:cNvSpPr/>
            <p:nvPr/>
          </p:nvSpPr>
          <p:spPr>
            <a:xfrm>
              <a:off x="5448300" y="2895600"/>
              <a:ext cx="2343150" cy="457200"/>
            </a:xfrm>
            <a:prstGeom prst="flowChartDecision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dirty="0" err="1">
                  <a:latin typeface="Consolas" panose="020B0609020204030204" pitchFamily="49" charset="0"/>
                </a:rPr>
                <a:t>condicion</a:t>
              </a:r>
              <a:endParaRPr lang="en-US" sz="1400" dirty="0">
                <a:latin typeface="Consolas" panose="020B0609020204030204" pitchFamily="49" charset="0"/>
              </a:endParaRPr>
            </a:p>
          </p:txBody>
        </p:sp>
        <p:cxnSp>
          <p:nvCxnSpPr>
            <p:cNvPr id="12" name="Straight Arrow Connector 47"/>
            <p:cNvCxnSpPr>
              <a:endCxn id="8" idx="0"/>
            </p:cNvCxnSpPr>
            <p:nvPr/>
          </p:nvCxnSpPr>
          <p:spPr>
            <a:xfrm>
              <a:off x="6619875" y="2743200"/>
              <a:ext cx="0" cy="152400"/>
            </a:xfrm>
            <a:prstGeom prst="straightConnector1">
              <a:avLst/>
            </a:prstGeom>
            <a:ln>
              <a:solidFill>
                <a:schemeClr val="tx1">
                  <a:lumMod val="50000"/>
                  <a:lumOff val="50000"/>
                </a:schemeClr>
              </a:solidFill>
              <a:prstDash val="dash"/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Arrow Connector 49"/>
            <p:cNvCxnSpPr>
              <a:stCxn id="8" idx="3"/>
            </p:cNvCxnSpPr>
            <p:nvPr/>
          </p:nvCxnSpPr>
          <p:spPr>
            <a:xfrm>
              <a:off x="7791450" y="3124200"/>
              <a:ext cx="57150" cy="0"/>
            </a:xfrm>
            <a:prstGeom prst="straightConnector1">
              <a:avLst/>
            </a:prstGeom>
            <a:ln>
              <a:solidFill>
                <a:schemeClr val="tx1">
                  <a:lumMod val="50000"/>
                  <a:lumOff val="50000"/>
                </a:schemeClr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TextBox 76"/>
            <p:cNvSpPr txBox="1"/>
            <p:nvPr/>
          </p:nvSpPr>
          <p:spPr>
            <a:xfrm>
              <a:off x="5181600" y="2895600"/>
              <a:ext cx="609600" cy="23040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50" dirty="0">
                  <a:latin typeface="Consolas" panose="020B0609020204030204" pitchFamily="49" charset="0"/>
                </a:rPr>
                <a:t>yes</a:t>
              </a:r>
            </a:p>
          </p:txBody>
        </p:sp>
        <p:cxnSp>
          <p:nvCxnSpPr>
            <p:cNvPr id="19" name="Straight Arrow Connector 47"/>
            <p:cNvCxnSpPr/>
            <p:nvPr/>
          </p:nvCxnSpPr>
          <p:spPr>
            <a:xfrm>
              <a:off x="7848600" y="3124200"/>
              <a:ext cx="0" cy="304800"/>
            </a:xfrm>
            <a:prstGeom prst="straightConnector1">
              <a:avLst/>
            </a:prstGeom>
            <a:ln>
              <a:solidFill>
                <a:schemeClr val="tx1">
                  <a:lumMod val="50000"/>
                  <a:lumOff val="50000"/>
                </a:schemeClr>
              </a:solidFill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Arrow Connector 47"/>
            <p:cNvCxnSpPr/>
            <p:nvPr/>
          </p:nvCxnSpPr>
          <p:spPr>
            <a:xfrm>
              <a:off x="5410200" y="3124200"/>
              <a:ext cx="0" cy="304800"/>
            </a:xfrm>
            <a:prstGeom prst="straightConnector1">
              <a:avLst/>
            </a:prstGeom>
            <a:ln>
              <a:solidFill>
                <a:schemeClr val="tx1">
                  <a:lumMod val="50000"/>
                  <a:lumOff val="50000"/>
                </a:schemeClr>
              </a:solidFill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Arrow Connector 49"/>
            <p:cNvCxnSpPr/>
            <p:nvPr/>
          </p:nvCxnSpPr>
          <p:spPr>
            <a:xfrm>
              <a:off x="5410200" y="3124200"/>
              <a:ext cx="381000" cy="0"/>
            </a:xfrm>
            <a:prstGeom prst="straightConnector1">
              <a:avLst/>
            </a:prstGeom>
            <a:ln>
              <a:solidFill>
                <a:schemeClr val="tx1">
                  <a:lumMod val="50000"/>
                  <a:lumOff val="50000"/>
                </a:schemeClr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Flowchart: Process 42"/>
            <p:cNvSpPr/>
            <p:nvPr/>
          </p:nvSpPr>
          <p:spPr>
            <a:xfrm>
              <a:off x="4800600" y="3429000"/>
              <a:ext cx="1295400" cy="389174"/>
            </a:xfrm>
            <a:prstGeom prst="flowChartProcess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dirty="0">
                  <a:latin typeface="Consolas" panose="020B0609020204030204" pitchFamily="49" charset="0"/>
                  <a:sym typeface="Wingdings" pitchFamily="2" charset="2"/>
                </a:rPr>
                <a:t>Instrucciones</a:t>
              </a:r>
            </a:p>
            <a:p>
              <a:pPr algn="ctr"/>
              <a:r>
                <a:rPr lang="en-US" sz="1400" dirty="0">
                  <a:latin typeface="Consolas" panose="020B0609020204030204" pitchFamily="49" charset="0"/>
                  <a:sym typeface="Wingdings" pitchFamily="2" charset="2"/>
                </a:rPr>
                <a:t>verdadero</a:t>
              </a:r>
              <a:endParaRPr lang="en-US" sz="1400" dirty="0">
                <a:latin typeface="Consolas" panose="020B0609020204030204" pitchFamily="49" charset="0"/>
              </a:endParaRPr>
            </a:p>
          </p:txBody>
        </p:sp>
        <p:sp>
          <p:nvSpPr>
            <p:cNvPr id="23" name="Flowchart: Process 42"/>
            <p:cNvSpPr/>
            <p:nvPr/>
          </p:nvSpPr>
          <p:spPr>
            <a:xfrm>
              <a:off x="7162800" y="3429000"/>
              <a:ext cx="1295400" cy="381000"/>
            </a:xfrm>
            <a:prstGeom prst="flowChartProcess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dirty="0">
                  <a:latin typeface="Consolas" panose="020B0609020204030204" pitchFamily="49" charset="0"/>
                </a:rPr>
                <a:t>Instrucciones falso</a:t>
              </a:r>
            </a:p>
          </p:txBody>
        </p:sp>
        <p:cxnSp>
          <p:nvCxnSpPr>
            <p:cNvPr id="25" name="Straight Arrow Connector 49"/>
            <p:cNvCxnSpPr/>
            <p:nvPr/>
          </p:nvCxnSpPr>
          <p:spPr>
            <a:xfrm flipV="1">
              <a:off x="5410200" y="3810000"/>
              <a:ext cx="0" cy="256674"/>
            </a:xfrm>
            <a:prstGeom prst="straightConnector1">
              <a:avLst/>
            </a:prstGeom>
            <a:ln>
              <a:solidFill>
                <a:schemeClr val="tx1">
                  <a:lumMod val="50000"/>
                  <a:lumOff val="50000"/>
                </a:schemeClr>
              </a:solidFill>
              <a:prstDash val="dash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Arrow Connector 49"/>
            <p:cNvCxnSpPr/>
            <p:nvPr/>
          </p:nvCxnSpPr>
          <p:spPr>
            <a:xfrm flipV="1">
              <a:off x="7848600" y="3810000"/>
              <a:ext cx="0" cy="256674"/>
            </a:xfrm>
            <a:prstGeom prst="straightConnector1">
              <a:avLst/>
            </a:prstGeom>
            <a:ln>
              <a:solidFill>
                <a:schemeClr val="tx1">
                  <a:lumMod val="50000"/>
                  <a:lumOff val="50000"/>
                </a:schemeClr>
              </a:solidFill>
              <a:prstDash val="dash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4" name="CuadroTexto 23">
            <a:extLst>
              <a:ext uri="{FF2B5EF4-FFF2-40B4-BE49-F238E27FC236}">
                <a16:creationId xmlns:a16="http://schemas.microsoft.com/office/drawing/2014/main" id="{DB0FAFAC-4627-42AD-9CD1-A2406D93D7A2}"/>
              </a:ext>
            </a:extLst>
          </p:cNvPr>
          <p:cNvSpPr txBox="1"/>
          <p:nvPr/>
        </p:nvSpPr>
        <p:spPr>
          <a:xfrm>
            <a:off x="367148" y="2656499"/>
            <a:ext cx="4102701" cy="116955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indent="-57150"/>
            <a:r>
              <a:rPr lang="es-ES" sz="1400" dirty="0">
                <a:solidFill>
                  <a:schemeClr val="accent4"/>
                </a:solidFill>
                <a:latin typeface="Consolas" panose="020B0609020204030204" pitchFamily="49" charset="0"/>
              </a:rPr>
              <a:t>Si (</a:t>
            </a:r>
            <a:r>
              <a:rPr lang="es-ES" sz="1400" dirty="0">
                <a:solidFill>
                  <a:schemeClr val="accent6"/>
                </a:solidFill>
                <a:latin typeface="Consolas" panose="020B0609020204030204" pitchFamily="49" charset="0"/>
              </a:rPr>
              <a:t>condicion</a:t>
            </a:r>
            <a:r>
              <a:rPr lang="es-ES" sz="1400" dirty="0">
                <a:solidFill>
                  <a:schemeClr val="accent4"/>
                </a:solidFill>
                <a:latin typeface="Consolas" panose="020B0609020204030204" pitchFamily="49" charset="0"/>
              </a:rPr>
              <a:t>) Entonces</a:t>
            </a:r>
          </a:p>
          <a:p>
            <a:pPr indent="-57150"/>
            <a:r>
              <a:rPr lang="es-ES" sz="1400" dirty="0">
                <a:latin typeface="Consolas" panose="020B0609020204030204" pitchFamily="49" charset="0"/>
              </a:rPr>
              <a:t>  instrucciones condicion verdadera</a:t>
            </a:r>
          </a:p>
          <a:p>
            <a:pPr indent="-57150"/>
            <a:r>
              <a:rPr lang="es-ES" sz="1400" dirty="0">
                <a:solidFill>
                  <a:schemeClr val="accent4"/>
                </a:solidFill>
                <a:latin typeface="Consolas" panose="020B0609020204030204" pitchFamily="49" charset="0"/>
              </a:rPr>
              <a:t>Sino</a:t>
            </a:r>
          </a:p>
          <a:p>
            <a:pPr indent="-57150"/>
            <a:r>
              <a:rPr lang="es-ES" sz="1400" dirty="0">
                <a:solidFill>
                  <a:schemeClr val="accent5"/>
                </a:solidFill>
                <a:latin typeface="Consolas" panose="020B0609020204030204" pitchFamily="49" charset="0"/>
              </a:rPr>
              <a:t>  </a:t>
            </a:r>
            <a:r>
              <a:rPr lang="es-ES" sz="1400" dirty="0">
                <a:latin typeface="Consolas" panose="020B0609020204030204" pitchFamily="49" charset="0"/>
              </a:rPr>
              <a:t>instrucciones condición falsa</a:t>
            </a:r>
          </a:p>
          <a:p>
            <a:pPr indent="-57150"/>
            <a:r>
              <a:rPr lang="es-ES" sz="1400" dirty="0">
                <a:solidFill>
                  <a:schemeClr val="accent4"/>
                </a:solidFill>
                <a:latin typeface="Consolas" panose="020B0609020204030204" pitchFamily="49" charset="0"/>
              </a:rPr>
              <a:t>Fin_Si</a:t>
            </a:r>
            <a:endParaRPr lang="es-CO" sz="1400" dirty="0">
              <a:solidFill>
                <a:schemeClr val="accent4"/>
              </a:solidFill>
              <a:latin typeface="Consolas" panose="020B0609020204030204" pitchFamily="49" charset="0"/>
            </a:endParaRPr>
          </a:p>
        </p:txBody>
      </p:sp>
      <p:pic>
        <p:nvPicPr>
          <p:cNvPr id="27" name="Picture 4" descr="http://fc08.deviantart.net/fs46/f/2009/234/c/4/c49c0ed56535d564df12843469ecf56f.jpg">
            <a:extLst>
              <a:ext uri="{FF2B5EF4-FFF2-40B4-BE49-F238E27FC236}">
                <a16:creationId xmlns:a16="http://schemas.microsoft.com/office/drawing/2014/main" id="{FBB00DD9-6847-42C9-A4D4-8BE08BBEBF1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92626" y="4425214"/>
            <a:ext cx="447976" cy="10627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8" name="Picture 2" descr="http://images4.wikia.nocookie.net/__cb20111104190436/looneytunes/es/images/4/49/Gallo_Claudio.jpg">
            <a:extLst>
              <a:ext uri="{FF2B5EF4-FFF2-40B4-BE49-F238E27FC236}">
                <a16:creationId xmlns:a16="http://schemas.microsoft.com/office/drawing/2014/main" id="{A14585E1-E568-4EC9-8FFA-66DF33820C6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43197" y="4586698"/>
            <a:ext cx="972272" cy="9591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9" name="CuadroTexto 28">
            <a:extLst>
              <a:ext uri="{FF2B5EF4-FFF2-40B4-BE49-F238E27FC236}">
                <a16:creationId xmlns:a16="http://schemas.microsoft.com/office/drawing/2014/main" id="{BDACD490-295D-4284-98E6-FE08BDE00136}"/>
              </a:ext>
            </a:extLst>
          </p:cNvPr>
          <p:cNvSpPr txBox="1"/>
          <p:nvPr/>
        </p:nvSpPr>
        <p:spPr>
          <a:xfrm>
            <a:off x="380793" y="4425214"/>
            <a:ext cx="4102701" cy="95410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indent="-57150"/>
            <a:r>
              <a:rPr lang="es-ES" sz="1400" dirty="0">
                <a:solidFill>
                  <a:schemeClr val="accent4"/>
                </a:solidFill>
                <a:latin typeface="Consolas" panose="020B0609020204030204" pitchFamily="49" charset="0"/>
              </a:rPr>
              <a:t>if (</a:t>
            </a:r>
            <a:r>
              <a:rPr lang="es-ES" sz="1400" dirty="0">
                <a:solidFill>
                  <a:schemeClr val="accent6"/>
                </a:solidFill>
                <a:latin typeface="Consolas" panose="020B0609020204030204" pitchFamily="49" charset="0"/>
              </a:rPr>
              <a:t>condicion</a:t>
            </a:r>
            <a:r>
              <a:rPr lang="es-ES" sz="1400" dirty="0">
                <a:solidFill>
                  <a:schemeClr val="accent4"/>
                </a:solidFill>
                <a:latin typeface="Consolas" panose="020B0609020204030204" pitchFamily="49" charset="0"/>
              </a:rPr>
              <a:t>):</a:t>
            </a:r>
          </a:p>
          <a:p>
            <a:pPr indent="-57150"/>
            <a:r>
              <a:rPr lang="es-ES" sz="1400" dirty="0">
                <a:latin typeface="Consolas" panose="020B0609020204030204" pitchFamily="49" charset="0"/>
              </a:rPr>
              <a:t>  instrucciones condicion verdadera</a:t>
            </a:r>
          </a:p>
          <a:p>
            <a:pPr indent="-57150"/>
            <a:r>
              <a:rPr lang="es-ES" sz="1400" dirty="0">
                <a:solidFill>
                  <a:schemeClr val="accent4"/>
                </a:solidFill>
                <a:latin typeface="Consolas" panose="020B0609020204030204" pitchFamily="49" charset="0"/>
              </a:rPr>
              <a:t>else:</a:t>
            </a:r>
          </a:p>
          <a:p>
            <a:pPr indent="-57150"/>
            <a:r>
              <a:rPr lang="es-ES" sz="1400" dirty="0">
                <a:solidFill>
                  <a:schemeClr val="accent5"/>
                </a:solidFill>
                <a:latin typeface="Consolas" panose="020B0609020204030204" pitchFamily="49" charset="0"/>
              </a:rPr>
              <a:t>  </a:t>
            </a:r>
            <a:r>
              <a:rPr lang="es-ES" sz="1400" dirty="0">
                <a:latin typeface="Consolas" panose="020B0609020204030204" pitchFamily="49" charset="0"/>
              </a:rPr>
              <a:t>instrucciones condición falsa</a:t>
            </a: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07B8A654-C28C-4332-BD53-BCEBC9BE4602}"/>
              </a:ext>
            </a:extLst>
          </p:cNvPr>
          <p:cNvSpPr txBox="1"/>
          <p:nvPr/>
        </p:nvSpPr>
        <p:spPr>
          <a:xfrm>
            <a:off x="5688115" y="2129823"/>
            <a:ext cx="242416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CO" sz="2000" b="1" dirty="0"/>
              <a:t>Diagrama de flujo</a:t>
            </a:r>
          </a:p>
        </p:txBody>
      </p:sp>
      <p:sp>
        <p:nvSpPr>
          <p:cNvPr id="30" name="CuadroTexto 29">
            <a:extLst>
              <a:ext uri="{FF2B5EF4-FFF2-40B4-BE49-F238E27FC236}">
                <a16:creationId xmlns:a16="http://schemas.microsoft.com/office/drawing/2014/main" id="{D2B22E46-E39C-4372-8B1E-C8CD64F22447}"/>
              </a:ext>
            </a:extLst>
          </p:cNvPr>
          <p:cNvSpPr txBox="1"/>
          <p:nvPr/>
        </p:nvSpPr>
        <p:spPr>
          <a:xfrm>
            <a:off x="1132758" y="2158721"/>
            <a:ext cx="242416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CO" sz="2000" b="1" dirty="0"/>
              <a:t>Pseudocódigo</a:t>
            </a:r>
          </a:p>
        </p:txBody>
      </p:sp>
      <p:sp>
        <p:nvSpPr>
          <p:cNvPr id="31" name="CuadroTexto 30">
            <a:extLst>
              <a:ext uri="{FF2B5EF4-FFF2-40B4-BE49-F238E27FC236}">
                <a16:creationId xmlns:a16="http://schemas.microsoft.com/office/drawing/2014/main" id="{13DECA85-7672-4833-A1BE-92456D2A17A0}"/>
              </a:ext>
            </a:extLst>
          </p:cNvPr>
          <p:cNvSpPr txBox="1"/>
          <p:nvPr/>
        </p:nvSpPr>
        <p:spPr>
          <a:xfrm>
            <a:off x="1167658" y="4000981"/>
            <a:ext cx="242416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CO" sz="2000" b="1" dirty="0"/>
              <a:t>Python</a:t>
            </a:r>
          </a:p>
        </p:txBody>
      </p:sp>
    </p:spTree>
    <p:extLst>
      <p:ext uri="{BB962C8B-B14F-4D97-AF65-F5344CB8AC3E}">
        <p14:creationId xmlns:p14="http://schemas.microsoft.com/office/powerpoint/2010/main" val="66310537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4 Título"/>
          <p:cNvSpPr>
            <a:spLocks noGrp="1"/>
          </p:cNvSpPr>
          <p:nvPr>
            <p:ph type="title"/>
          </p:nvPr>
        </p:nvSpPr>
        <p:spPr>
          <a:xfrm>
            <a:off x="528442" y="280812"/>
            <a:ext cx="7464818" cy="656295"/>
          </a:xfrm>
        </p:spPr>
        <p:txBody>
          <a:bodyPr>
            <a:normAutofit fontScale="90000"/>
          </a:bodyPr>
          <a:lstStyle/>
          <a:p>
            <a:r>
              <a:rPr lang="es-CO" dirty="0"/>
              <a:t>Sobre la condición</a:t>
            </a:r>
          </a:p>
        </p:txBody>
      </p:sp>
      <p:sp>
        <p:nvSpPr>
          <p:cNvPr id="2" name="1 Marcador de contenido"/>
          <p:cNvSpPr>
            <a:spLocks noGrp="1"/>
          </p:cNvSpPr>
          <p:nvPr>
            <p:ph idx="1"/>
          </p:nvPr>
        </p:nvSpPr>
        <p:spPr>
          <a:xfrm>
            <a:off x="251520" y="1050746"/>
            <a:ext cx="8640960" cy="4250462"/>
          </a:xfrm>
        </p:spPr>
        <p:txBody>
          <a:bodyPr>
            <a:noAutofit/>
          </a:bodyPr>
          <a:lstStyle/>
          <a:p>
            <a:r>
              <a:rPr lang="es-MX" sz="2200" dirty="0"/>
              <a:t>Una condición es una </a:t>
            </a:r>
            <a:r>
              <a:rPr lang="es-MX" sz="2200" b="1" dirty="0"/>
              <a:t>expresión lógica</a:t>
            </a:r>
            <a:r>
              <a:rPr lang="es-MX" sz="2200" dirty="0"/>
              <a:t> que puede ser falsa o verdadera, y se construye mediante el uso de operadores:</a:t>
            </a:r>
          </a:p>
          <a:p>
            <a:pPr lvl="1"/>
            <a:r>
              <a:rPr lang="es-MX" sz="2000" b="1" dirty="0"/>
              <a:t>Relacionales</a:t>
            </a:r>
            <a:r>
              <a:rPr lang="es-MX" sz="2000" dirty="0"/>
              <a:t>: </a:t>
            </a:r>
            <a:r>
              <a:rPr lang="es-MX" sz="1800" dirty="0">
                <a:solidFill>
                  <a:srgbClr val="C00000"/>
                </a:solidFill>
                <a:latin typeface="Consolas" panose="020B0609020204030204" pitchFamily="49" charset="0"/>
              </a:rPr>
              <a:t>==</a:t>
            </a:r>
            <a:r>
              <a:rPr lang="es-MX" sz="2000" dirty="0"/>
              <a:t>, </a:t>
            </a:r>
            <a:r>
              <a:rPr lang="es-MX" sz="1800" dirty="0">
                <a:solidFill>
                  <a:srgbClr val="C00000"/>
                </a:solidFill>
                <a:latin typeface="Consolas" panose="020B0609020204030204" pitchFamily="49" charset="0"/>
              </a:rPr>
              <a:t>!=</a:t>
            </a:r>
            <a:r>
              <a:rPr lang="es-MX" sz="2000" dirty="0"/>
              <a:t>, </a:t>
            </a:r>
            <a:r>
              <a:rPr lang="es-MX" sz="1800" dirty="0">
                <a:solidFill>
                  <a:srgbClr val="C00000"/>
                </a:solidFill>
                <a:latin typeface="Consolas" panose="020B0609020204030204" pitchFamily="49" charset="0"/>
              </a:rPr>
              <a:t>&lt;</a:t>
            </a:r>
            <a:r>
              <a:rPr lang="es-MX" sz="2000" dirty="0"/>
              <a:t>, </a:t>
            </a:r>
            <a:r>
              <a:rPr lang="es-MX" sz="1800" dirty="0">
                <a:solidFill>
                  <a:srgbClr val="C00000"/>
                </a:solidFill>
                <a:latin typeface="Consolas" panose="020B0609020204030204" pitchFamily="49" charset="0"/>
              </a:rPr>
              <a:t>&gt;</a:t>
            </a:r>
            <a:r>
              <a:rPr lang="es-MX" sz="2000" dirty="0"/>
              <a:t>, </a:t>
            </a:r>
            <a:r>
              <a:rPr lang="es-MX" sz="1800" dirty="0">
                <a:solidFill>
                  <a:srgbClr val="C00000"/>
                </a:solidFill>
                <a:latin typeface="Consolas" panose="020B0609020204030204" pitchFamily="49" charset="0"/>
              </a:rPr>
              <a:t>&lt;=</a:t>
            </a:r>
            <a:r>
              <a:rPr lang="es-MX" sz="2000" dirty="0"/>
              <a:t>, </a:t>
            </a:r>
            <a:r>
              <a:rPr lang="es-MX" sz="1800" dirty="0">
                <a:solidFill>
                  <a:srgbClr val="C00000"/>
                </a:solidFill>
                <a:latin typeface="Consolas" panose="020B0609020204030204" pitchFamily="49" charset="0"/>
              </a:rPr>
              <a:t>&gt;=</a:t>
            </a:r>
          </a:p>
          <a:p>
            <a:pPr lvl="1"/>
            <a:r>
              <a:rPr lang="es-MX" sz="2000" b="1" dirty="0"/>
              <a:t>Lógicos</a:t>
            </a:r>
            <a:r>
              <a:rPr lang="es-MX" sz="2000" dirty="0"/>
              <a:t>: </a:t>
            </a:r>
            <a:r>
              <a:rPr lang="es-MX" sz="1800" dirty="0">
                <a:solidFill>
                  <a:srgbClr val="C00000"/>
                </a:solidFill>
                <a:latin typeface="Consolas" panose="020B0609020204030204" pitchFamily="49" charset="0"/>
              </a:rPr>
              <a:t>not</a:t>
            </a:r>
            <a:r>
              <a:rPr lang="es-MX" sz="2000" dirty="0"/>
              <a:t>, </a:t>
            </a:r>
            <a:r>
              <a:rPr lang="es-MX" sz="1800" dirty="0">
                <a:solidFill>
                  <a:srgbClr val="C00000"/>
                </a:solidFill>
                <a:latin typeface="Consolas" panose="020B0609020204030204" pitchFamily="49" charset="0"/>
              </a:rPr>
              <a:t>and</a:t>
            </a:r>
            <a:r>
              <a:rPr lang="es-MX" sz="2000" dirty="0"/>
              <a:t>, </a:t>
            </a:r>
            <a:r>
              <a:rPr lang="es-MX" sz="1800" dirty="0">
                <a:solidFill>
                  <a:srgbClr val="C00000"/>
                </a:solidFill>
                <a:latin typeface="Consolas" panose="020B0609020204030204" pitchFamily="49" charset="0"/>
              </a:rPr>
              <a:t>or</a:t>
            </a:r>
          </a:p>
          <a:p>
            <a:r>
              <a:rPr lang="es-MX" sz="2200" dirty="0"/>
              <a:t>La condición puede ser:</a:t>
            </a:r>
          </a:p>
          <a:p>
            <a:pPr lvl="1"/>
            <a:r>
              <a:rPr lang="es-MX" sz="2000" b="1" dirty="0"/>
              <a:t>Simple</a:t>
            </a:r>
            <a:r>
              <a:rPr lang="es-MX" sz="2000" dirty="0"/>
              <a:t>: formada por una sola expresión relacional.</a:t>
            </a:r>
          </a:p>
          <a:p>
            <a:pPr lvl="1"/>
            <a:r>
              <a:rPr lang="es-MX" sz="2000" b="1" dirty="0"/>
              <a:t>Compuesta</a:t>
            </a:r>
            <a:r>
              <a:rPr lang="es-MX" sz="2000" dirty="0"/>
              <a:t>: combina, mediante operadores lógicos, dos o más condiciones simples.</a:t>
            </a:r>
          </a:p>
          <a:p>
            <a:r>
              <a:rPr lang="es-MX" sz="2200" dirty="0"/>
              <a:t>En Python es posible escribir comparaciones encadenadas como </a:t>
            </a:r>
            <a:r>
              <a:rPr lang="es-MX" sz="2000" dirty="0">
                <a:solidFill>
                  <a:srgbClr val="C00000"/>
                </a:solidFill>
                <a:latin typeface="Consolas" panose="020B0609020204030204" pitchFamily="49" charset="0"/>
              </a:rPr>
              <a:t>20 &lt;= distancia &lt;= 35</a:t>
            </a:r>
            <a:r>
              <a:rPr lang="es-MX" sz="2200" dirty="0"/>
              <a:t>, que equivalen a </a:t>
            </a:r>
            <a:r>
              <a:rPr lang="es-MX" sz="2000" dirty="0">
                <a:solidFill>
                  <a:srgbClr val="C00000"/>
                </a:solidFill>
                <a:latin typeface="Consolas" panose="020B0609020204030204" pitchFamily="49" charset="0"/>
              </a:rPr>
              <a:t>distancia &gt;= 20 and distancia &lt;= 35</a:t>
            </a:r>
            <a:r>
              <a:rPr lang="es-MX" sz="2200" dirty="0"/>
              <a:t>, pero de forma más compacta y cercana a la notación matemática.</a:t>
            </a:r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F1CE28-A3C7-48DC-84A2-8FB08D6123C5}" type="slidenum">
              <a:rPr lang="en-US" smtClean="0"/>
              <a:pPr/>
              <a:t>21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8089907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4 Título"/>
          <p:cNvSpPr>
            <a:spLocks noGrp="1"/>
          </p:cNvSpPr>
          <p:nvPr>
            <p:ph type="title"/>
          </p:nvPr>
        </p:nvSpPr>
        <p:spPr>
          <a:xfrm>
            <a:off x="352701" y="332656"/>
            <a:ext cx="4866256" cy="648072"/>
          </a:xfrm>
        </p:spPr>
        <p:txBody>
          <a:bodyPr>
            <a:normAutofit fontScale="90000"/>
          </a:bodyPr>
          <a:lstStyle/>
          <a:p>
            <a:r>
              <a:rPr lang="es-CO" dirty="0"/>
              <a:t>Condicionales</a:t>
            </a:r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F1CE28-A3C7-48DC-84A2-8FB08D6123C5}" type="slidenum">
              <a:rPr lang="en-US" smtClean="0"/>
              <a:pPr/>
              <a:t>22</a:t>
            </a:fld>
            <a:endParaRPr lang="en-US" dirty="0"/>
          </a:p>
        </p:txBody>
      </p:sp>
      <p:sp>
        <p:nvSpPr>
          <p:cNvPr id="3" name="2 Rectángulo"/>
          <p:cNvSpPr/>
          <p:nvPr/>
        </p:nvSpPr>
        <p:spPr>
          <a:xfrm>
            <a:off x="352700" y="1124744"/>
            <a:ext cx="8438599" cy="32316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s-CO" sz="2000" b="1" dirty="0"/>
              <a:t>Ejemplos:</a:t>
            </a:r>
            <a:endParaRPr lang="es-CO" sz="2000" dirty="0"/>
          </a:p>
          <a:p>
            <a:r>
              <a:rPr lang="es-CO" sz="2000" dirty="0"/>
              <a:t>Escribir las sentencias condicionales apropiadas para cada uno de los siguiente casos.</a:t>
            </a:r>
          </a:p>
          <a:p>
            <a:pPr marL="457200" indent="-457200">
              <a:buFont typeface="+mj-lt"/>
              <a:buAutoNum type="arabicPeriod"/>
            </a:pPr>
            <a:r>
              <a:rPr lang="es-CO" dirty="0"/>
              <a:t>Si un ángulo es igual a 90°, escribir el “ángulo es recto”; sino imprimir “el ángulo no es recto”.</a:t>
            </a:r>
          </a:p>
          <a:p>
            <a:pPr marL="457200" indent="-457200">
              <a:buFont typeface="+mj-lt"/>
              <a:buAutoNum type="arabicPeriod"/>
            </a:pPr>
            <a:r>
              <a:rPr lang="es-CO" altLang="es-CO" dirty="0"/>
              <a:t>Si la temperatura es superior a 100 °C visualizar el mensaje: “Por encima del punto de ebullición del agua” sino visualizar el mensaje “Por debajo del punto de ebullición del agua”.</a:t>
            </a:r>
          </a:p>
          <a:p>
            <a:pPr marL="457200" indent="-457200">
              <a:buFont typeface="+mj-lt"/>
              <a:buAutoNum type="arabicPeriod"/>
            </a:pPr>
            <a:r>
              <a:rPr lang="es-CO" altLang="es-CO" dirty="0"/>
              <a:t>Si X mayor que Y, y Z menor que 20 leer un valor para P.</a:t>
            </a:r>
          </a:p>
          <a:p>
            <a:pPr marL="457200" indent="-457200">
              <a:buFont typeface="+mj-lt"/>
              <a:buAutoNum type="arabicPeriod"/>
            </a:pPr>
            <a:r>
              <a:rPr lang="es-CO" altLang="es-CO" dirty="0"/>
              <a:t>Si la distancia se encuentra entre 20 y 35 incluidos estos, leer un valor para un tiempo.</a:t>
            </a:r>
            <a:endParaRPr lang="es-CO" dirty="0"/>
          </a:p>
        </p:txBody>
      </p:sp>
    </p:spTree>
    <p:extLst>
      <p:ext uri="{BB962C8B-B14F-4D97-AF65-F5344CB8AC3E}">
        <p14:creationId xmlns:p14="http://schemas.microsoft.com/office/powerpoint/2010/main" val="100535338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4 Título"/>
          <p:cNvSpPr>
            <a:spLocks noGrp="1"/>
          </p:cNvSpPr>
          <p:nvPr>
            <p:ph type="title"/>
          </p:nvPr>
        </p:nvSpPr>
        <p:spPr>
          <a:xfrm>
            <a:off x="382588" y="259898"/>
            <a:ext cx="8264428" cy="614105"/>
          </a:xfrm>
        </p:spPr>
        <p:txBody>
          <a:bodyPr>
            <a:normAutofit fontScale="90000"/>
          </a:bodyPr>
          <a:lstStyle/>
          <a:p>
            <a:r>
              <a:rPr lang="es-CO" dirty="0"/>
              <a:t>Condicionales</a:t>
            </a:r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F1CE28-A3C7-48DC-84A2-8FB08D6123C5}" type="slidenum">
              <a:rPr lang="en-US" smtClean="0"/>
              <a:pPr/>
              <a:t>23</a:t>
            </a:fld>
            <a:endParaRPr lang="en-US" dirty="0"/>
          </a:p>
        </p:txBody>
      </p:sp>
      <p:sp>
        <p:nvSpPr>
          <p:cNvPr id="3" name="2 Rectángulo"/>
          <p:cNvSpPr/>
          <p:nvPr/>
        </p:nvSpPr>
        <p:spPr>
          <a:xfrm>
            <a:off x="364147" y="869762"/>
            <a:ext cx="8251480" cy="67710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s-CO" sz="2000" b="1" dirty="0"/>
              <a:t>Ejemplo 1 - solución:</a:t>
            </a:r>
            <a:r>
              <a:rPr lang="es-CO" sz="2000" b="1" dirty="0">
                <a:solidFill>
                  <a:srgbClr val="FF0000"/>
                </a:solidFill>
              </a:rPr>
              <a:t> </a:t>
            </a:r>
            <a:r>
              <a:rPr lang="es-CO" dirty="0"/>
              <a:t>Si un ángulo es igual a 90°, escribir el “ángulo es recto”; sino imprimir “el ángulo no es recto”.</a:t>
            </a:r>
          </a:p>
        </p:txBody>
      </p:sp>
      <p:sp>
        <p:nvSpPr>
          <p:cNvPr id="2" name="1 Rectángulo"/>
          <p:cNvSpPr/>
          <p:nvPr/>
        </p:nvSpPr>
        <p:spPr>
          <a:xfrm>
            <a:off x="416882" y="1643444"/>
            <a:ext cx="1936749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s-CO" b="1" dirty="0"/>
              <a:t>Variables: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CO" b="1" dirty="0"/>
              <a:t>Angulo</a:t>
            </a:r>
            <a:r>
              <a:rPr lang="es-CO" dirty="0"/>
              <a:t>: </a:t>
            </a:r>
            <a:r>
              <a:rPr lang="es-CO" sz="1600" dirty="0">
                <a:latin typeface="Consolas" panose="020B0609020204030204" pitchFamily="49" charset="0"/>
              </a:rPr>
              <a:t>angulo</a:t>
            </a: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73E99A4B-76E0-4511-A346-DD7DCFE81B9F}"/>
              </a:ext>
            </a:extLst>
          </p:cNvPr>
          <p:cNvSpPr txBox="1"/>
          <p:nvPr/>
        </p:nvSpPr>
        <p:spPr>
          <a:xfrm>
            <a:off x="5003556" y="4869160"/>
            <a:ext cx="3776293" cy="95410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s-CO" sz="1400" dirty="0">
                <a:latin typeface="Consolas" panose="020B0609020204030204" pitchFamily="49" charset="0"/>
              </a:rPr>
              <a:t>if angulo == 90: </a:t>
            </a:r>
          </a:p>
          <a:p>
            <a:r>
              <a:rPr lang="es-CO" sz="1400" dirty="0">
                <a:latin typeface="Consolas" panose="020B0609020204030204" pitchFamily="49" charset="0"/>
              </a:rPr>
              <a:t>  print("El angulo es recto")</a:t>
            </a:r>
          </a:p>
          <a:p>
            <a:r>
              <a:rPr lang="es-CO" sz="1400" dirty="0">
                <a:latin typeface="Consolas" panose="020B0609020204030204" pitchFamily="49" charset="0"/>
              </a:rPr>
              <a:t>else:  </a:t>
            </a:r>
          </a:p>
          <a:p>
            <a:r>
              <a:rPr lang="es-CO" sz="1400" dirty="0">
                <a:latin typeface="Consolas" panose="020B0609020204030204" pitchFamily="49" charset="0"/>
              </a:rPr>
              <a:t>  print("El angulo no es recto")</a:t>
            </a:r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320734CB-979A-47AE-A1F6-E7B0D64ECD72}"/>
              </a:ext>
            </a:extLst>
          </p:cNvPr>
          <p:cNvSpPr txBox="1"/>
          <p:nvPr/>
        </p:nvSpPr>
        <p:spPr>
          <a:xfrm>
            <a:off x="6118811" y="5961504"/>
            <a:ext cx="154578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1200" dirty="0">
                <a:hlinkClick r:id="rId2"/>
              </a:rPr>
              <a:t>Link de ejecución</a:t>
            </a:r>
            <a:endParaRPr lang="es-CO" sz="1200" dirty="0"/>
          </a:p>
        </p:txBody>
      </p:sp>
      <p:pic>
        <p:nvPicPr>
          <p:cNvPr id="9" name="Imagen 8">
            <a:extLst>
              <a:ext uri="{FF2B5EF4-FFF2-40B4-BE49-F238E27FC236}">
                <a16:creationId xmlns:a16="http://schemas.microsoft.com/office/drawing/2014/main" id="{F7A7BB71-5FCF-4F1E-BAD2-48D78CF9D70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64621" y="1802874"/>
            <a:ext cx="4754857" cy="2549550"/>
          </a:xfrm>
          <a:prstGeom prst="rect">
            <a:avLst/>
          </a:prstGeom>
        </p:spPr>
      </p:pic>
      <p:sp>
        <p:nvSpPr>
          <p:cNvPr id="11" name="CuadroTexto 10">
            <a:extLst>
              <a:ext uri="{FF2B5EF4-FFF2-40B4-BE49-F238E27FC236}">
                <a16:creationId xmlns:a16="http://schemas.microsoft.com/office/drawing/2014/main" id="{CF3ED8EA-3CE9-4D1C-A9D0-73C5550D12AB}"/>
              </a:ext>
            </a:extLst>
          </p:cNvPr>
          <p:cNvSpPr txBox="1"/>
          <p:nvPr/>
        </p:nvSpPr>
        <p:spPr>
          <a:xfrm>
            <a:off x="491147" y="4872062"/>
            <a:ext cx="4080853" cy="116955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s-CO" sz="1400" dirty="0">
                <a:latin typeface="Consolas" panose="020B0609020204030204" pitchFamily="49" charset="0"/>
              </a:rPr>
              <a:t>Si angulo == 90 Entonces: </a:t>
            </a:r>
          </a:p>
          <a:p>
            <a:r>
              <a:rPr lang="es-CO" sz="1400" dirty="0">
                <a:latin typeface="Consolas" panose="020B0609020204030204" pitchFamily="49" charset="0"/>
              </a:rPr>
              <a:t>  Escribir("El angulo es recto")</a:t>
            </a:r>
          </a:p>
          <a:p>
            <a:r>
              <a:rPr lang="es-CO" sz="1400" dirty="0">
                <a:latin typeface="Consolas" panose="020B0609020204030204" pitchFamily="49" charset="0"/>
              </a:rPr>
              <a:t>Sino  </a:t>
            </a:r>
          </a:p>
          <a:p>
            <a:r>
              <a:rPr lang="es-CO" sz="1400" dirty="0">
                <a:latin typeface="Consolas" panose="020B0609020204030204" pitchFamily="49" charset="0"/>
              </a:rPr>
              <a:t>  Escribir("El angulo no es recto")</a:t>
            </a:r>
          </a:p>
          <a:p>
            <a:r>
              <a:rPr lang="es-CO" sz="1400" dirty="0">
                <a:latin typeface="Consolas" panose="020B0609020204030204" pitchFamily="49" charset="0"/>
              </a:rPr>
              <a:t>Fin_Si</a:t>
            </a:r>
          </a:p>
        </p:txBody>
      </p:sp>
      <p:sp>
        <p:nvSpPr>
          <p:cNvPr id="12" name="CuadroTexto 11">
            <a:extLst>
              <a:ext uri="{FF2B5EF4-FFF2-40B4-BE49-F238E27FC236}">
                <a16:creationId xmlns:a16="http://schemas.microsoft.com/office/drawing/2014/main" id="{52FCD7F1-B206-47A3-B66B-4B8963BAF566}"/>
              </a:ext>
            </a:extLst>
          </p:cNvPr>
          <p:cNvSpPr txBox="1"/>
          <p:nvPr/>
        </p:nvSpPr>
        <p:spPr>
          <a:xfrm>
            <a:off x="1141550" y="4469050"/>
            <a:ext cx="242416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CO" sz="2000" b="1" dirty="0"/>
              <a:t>Pseudocódigo</a:t>
            </a:r>
          </a:p>
        </p:txBody>
      </p:sp>
      <p:sp>
        <p:nvSpPr>
          <p:cNvPr id="13" name="CuadroTexto 12">
            <a:extLst>
              <a:ext uri="{FF2B5EF4-FFF2-40B4-BE49-F238E27FC236}">
                <a16:creationId xmlns:a16="http://schemas.microsoft.com/office/drawing/2014/main" id="{D495F766-926B-4E77-9CE2-A73D503D9D33}"/>
              </a:ext>
            </a:extLst>
          </p:cNvPr>
          <p:cNvSpPr txBox="1"/>
          <p:nvPr/>
        </p:nvSpPr>
        <p:spPr>
          <a:xfrm>
            <a:off x="5679621" y="4516176"/>
            <a:ext cx="24241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CO" b="1" dirty="0"/>
              <a:t>Python</a:t>
            </a:r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0FD80150-9248-42CE-B7CE-D6F48C2E6149}"/>
              </a:ext>
            </a:extLst>
          </p:cNvPr>
          <p:cNvSpPr txBox="1"/>
          <p:nvPr/>
        </p:nvSpPr>
        <p:spPr>
          <a:xfrm>
            <a:off x="5129968" y="1413302"/>
            <a:ext cx="24241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CO" b="1" dirty="0"/>
              <a:t>Diagrama de flujo</a:t>
            </a:r>
          </a:p>
        </p:txBody>
      </p:sp>
    </p:spTree>
    <p:extLst>
      <p:ext uri="{BB962C8B-B14F-4D97-AF65-F5344CB8AC3E}">
        <p14:creationId xmlns:p14="http://schemas.microsoft.com/office/powerpoint/2010/main" val="387997531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4 Título"/>
          <p:cNvSpPr>
            <a:spLocks noGrp="1"/>
          </p:cNvSpPr>
          <p:nvPr>
            <p:ph type="title"/>
          </p:nvPr>
        </p:nvSpPr>
        <p:spPr>
          <a:xfrm>
            <a:off x="283724" y="204351"/>
            <a:ext cx="8464739" cy="629733"/>
          </a:xfrm>
        </p:spPr>
        <p:txBody>
          <a:bodyPr>
            <a:normAutofit fontScale="90000"/>
          </a:bodyPr>
          <a:lstStyle/>
          <a:p>
            <a:r>
              <a:rPr lang="es-CO" dirty="0"/>
              <a:t>Condicionales</a:t>
            </a:r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F1CE28-A3C7-48DC-84A2-8FB08D6123C5}" type="slidenum">
              <a:rPr lang="en-US" smtClean="0"/>
              <a:pPr/>
              <a:t>24</a:t>
            </a:fld>
            <a:endParaRPr lang="en-US" dirty="0"/>
          </a:p>
        </p:txBody>
      </p:sp>
      <p:sp>
        <p:nvSpPr>
          <p:cNvPr id="9" name="8 Rectángulo"/>
          <p:cNvSpPr/>
          <p:nvPr/>
        </p:nvSpPr>
        <p:spPr>
          <a:xfrm>
            <a:off x="107504" y="1744027"/>
            <a:ext cx="2123187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s-CO" b="1" dirty="0"/>
              <a:t>Variables</a:t>
            </a:r>
            <a:r>
              <a:rPr lang="es-CO" dirty="0"/>
              <a:t>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CO" b="1" dirty="0"/>
              <a:t>Temperatura</a:t>
            </a:r>
            <a:r>
              <a:rPr lang="es-CO" dirty="0"/>
              <a:t>: </a:t>
            </a:r>
            <a:r>
              <a:rPr lang="es-CO" sz="1600" dirty="0"/>
              <a:t>T</a:t>
            </a:r>
            <a:endParaRPr lang="es-CO" dirty="0"/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DD7F0831-14B0-4251-A275-B40031790274}"/>
              </a:ext>
            </a:extLst>
          </p:cNvPr>
          <p:cNvSpPr txBox="1"/>
          <p:nvPr/>
        </p:nvSpPr>
        <p:spPr>
          <a:xfrm>
            <a:off x="3987801" y="4730183"/>
            <a:ext cx="5092700" cy="83099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s-CO" sz="1200" dirty="0">
                <a:latin typeface="Consolas" panose="020B0609020204030204" pitchFamily="49" charset="0"/>
              </a:rPr>
              <a:t>if T &gt; 100: </a:t>
            </a:r>
          </a:p>
          <a:p>
            <a:r>
              <a:rPr lang="es-CO" sz="1200" dirty="0">
                <a:latin typeface="Consolas" panose="020B0609020204030204" pitchFamily="49" charset="0"/>
              </a:rPr>
              <a:t>  print("Por encima del punto de ebullición del agua")</a:t>
            </a:r>
          </a:p>
          <a:p>
            <a:r>
              <a:rPr lang="es-CO" sz="1200" dirty="0">
                <a:latin typeface="Consolas" panose="020B0609020204030204" pitchFamily="49" charset="0"/>
              </a:rPr>
              <a:t>else:  </a:t>
            </a:r>
          </a:p>
          <a:p>
            <a:r>
              <a:rPr lang="es-CO" sz="1200" dirty="0">
                <a:latin typeface="Consolas" panose="020B0609020204030204" pitchFamily="49" charset="0"/>
              </a:rPr>
              <a:t>  print("Por debajo del punto de ebullición del agua")</a:t>
            </a:r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6392CCDB-5715-4E6D-A866-E82CC2AE0C13}"/>
              </a:ext>
            </a:extLst>
          </p:cNvPr>
          <p:cNvSpPr txBox="1"/>
          <p:nvPr/>
        </p:nvSpPr>
        <p:spPr>
          <a:xfrm>
            <a:off x="5685056" y="5600273"/>
            <a:ext cx="154578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1200" dirty="0">
                <a:hlinkClick r:id="rId2"/>
              </a:rPr>
              <a:t>Link de ejecución</a:t>
            </a:r>
            <a:endParaRPr lang="es-CO" sz="1200" dirty="0"/>
          </a:p>
        </p:txBody>
      </p:sp>
      <p:sp>
        <p:nvSpPr>
          <p:cNvPr id="10" name="2 Rectángulo">
            <a:extLst>
              <a:ext uri="{FF2B5EF4-FFF2-40B4-BE49-F238E27FC236}">
                <a16:creationId xmlns:a16="http://schemas.microsoft.com/office/drawing/2014/main" id="{2698DF47-7AC1-4366-88D1-3C3F776CAE9B}"/>
              </a:ext>
            </a:extLst>
          </p:cNvPr>
          <p:cNvSpPr/>
          <p:nvPr/>
        </p:nvSpPr>
        <p:spPr>
          <a:xfrm>
            <a:off x="107505" y="718842"/>
            <a:ext cx="8856984" cy="95410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s-CO" sz="2000" b="1" dirty="0"/>
              <a:t>Ejemplo 2 - solución: </a:t>
            </a:r>
            <a:r>
              <a:rPr lang="es-CO" altLang="es-CO" dirty="0"/>
              <a:t>Si la temperatura es superior a 100 °C visualizar el mensaje: “Por encima del punto de ebullición del agua” sino visualizar el mensaje “Por debajo del punto de ebullición del agua”.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AA43F8D5-0B00-4F42-AFDF-51821533B2F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504" y="3163227"/>
            <a:ext cx="3740846" cy="2005838"/>
          </a:xfrm>
          <a:prstGeom prst="rect">
            <a:avLst/>
          </a:prstGeom>
        </p:spPr>
      </p:pic>
      <p:sp>
        <p:nvSpPr>
          <p:cNvPr id="11" name="CuadroTexto 10">
            <a:extLst>
              <a:ext uri="{FF2B5EF4-FFF2-40B4-BE49-F238E27FC236}">
                <a16:creationId xmlns:a16="http://schemas.microsoft.com/office/drawing/2014/main" id="{63D2A9CD-2801-4F92-89BB-222C501565FA}"/>
              </a:ext>
            </a:extLst>
          </p:cNvPr>
          <p:cNvSpPr txBox="1"/>
          <p:nvPr/>
        </p:nvSpPr>
        <p:spPr>
          <a:xfrm>
            <a:off x="3987800" y="3171074"/>
            <a:ext cx="5092700" cy="101566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s-CO" sz="1200" dirty="0">
                <a:latin typeface="Consolas" panose="020B0609020204030204" pitchFamily="49" charset="0"/>
              </a:rPr>
              <a:t>Si (T &gt; 100) Entonces </a:t>
            </a:r>
          </a:p>
          <a:p>
            <a:r>
              <a:rPr lang="es-CO" sz="1200" dirty="0">
                <a:latin typeface="Consolas" panose="020B0609020204030204" pitchFamily="49" charset="0"/>
              </a:rPr>
              <a:t>  Escribir("Por encima del punto de ebullición del agua")</a:t>
            </a:r>
          </a:p>
          <a:p>
            <a:r>
              <a:rPr lang="es-CO" sz="1200" dirty="0">
                <a:latin typeface="Consolas" panose="020B0609020204030204" pitchFamily="49" charset="0"/>
              </a:rPr>
              <a:t>Sino  </a:t>
            </a:r>
          </a:p>
          <a:p>
            <a:r>
              <a:rPr lang="es-CO" sz="1200" dirty="0">
                <a:latin typeface="Consolas" panose="020B0609020204030204" pitchFamily="49" charset="0"/>
              </a:rPr>
              <a:t>  Escribir("Por debajo del punto de ebullición del agua")</a:t>
            </a:r>
          </a:p>
          <a:p>
            <a:r>
              <a:rPr lang="es-CO" sz="1200" dirty="0">
                <a:latin typeface="Consolas" panose="020B0609020204030204" pitchFamily="49" charset="0"/>
              </a:rPr>
              <a:t>Fin_Si</a:t>
            </a:r>
          </a:p>
        </p:txBody>
      </p:sp>
      <p:sp>
        <p:nvSpPr>
          <p:cNvPr id="12" name="CuadroTexto 11">
            <a:extLst>
              <a:ext uri="{FF2B5EF4-FFF2-40B4-BE49-F238E27FC236}">
                <a16:creationId xmlns:a16="http://schemas.microsoft.com/office/drawing/2014/main" id="{6891A11F-2037-49A7-ADC0-EBF18FD66B4B}"/>
              </a:ext>
            </a:extLst>
          </p:cNvPr>
          <p:cNvSpPr txBox="1"/>
          <p:nvPr/>
        </p:nvSpPr>
        <p:spPr>
          <a:xfrm>
            <a:off x="5322069" y="2699003"/>
            <a:ext cx="242416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CO" sz="2000" b="1" dirty="0"/>
              <a:t>Pseudocódigo</a:t>
            </a:r>
          </a:p>
        </p:txBody>
      </p:sp>
      <p:sp>
        <p:nvSpPr>
          <p:cNvPr id="13" name="CuadroTexto 12">
            <a:extLst>
              <a:ext uri="{FF2B5EF4-FFF2-40B4-BE49-F238E27FC236}">
                <a16:creationId xmlns:a16="http://schemas.microsoft.com/office/drawing/2014/main" id="{F5B50D68-0DDF-4FEC-896F-AEA2988FCF8A}"/>
              </a:ext>
            </a:extLst>
          </p:cNvPr>
          <p:cNvSpPr txBox="1"/>
          <p:nvPr/>
        </p:nvSpPr>
        <p:spPr>
          <a:xfrm>
            <a:off x="5322069" y="4288890"/>
            <a:ext cx="24241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CO" b="1" dirty="0"/>
              <a:t>Python</a:t>
            </a:r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449E4740-4F13-4EB3-B46B-4C1EFC846DE6}"/>
              </a:ext>
            </a:extLst>
          </p:cNvPr>
          <p:cNvSpPr txBox="1"/>
          <p:nvPr/>
        </p:nvSpPr>
        <p:spPr>
          <a:xfrm>
            <a:off x="765846" y="2661050"/>
            <a:ext cx="24241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CO" b="1" dirty="0"/>
              <a:t>Diagrama de flujo</a:t>
            </a:r>
          </a:p>
        </p:txBody>
      </p:sp>
    </p:spTree>
    <p:extLst>
      <p:ext uri="{BB962C8B-B14F-4D97-AF65-F5344CB8AC3E}">
        <p14:creationId xmlns:p14="http://schemas.microsoft.com/office/powerpoint/2010/main" val="237474695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4 Título"/>
          <p:cNvSpPr>
            <a:spLocks noGrp="1"/>
          </p:cNvSpPr>
          <p:nvPr>
            <p:ph type="title"/>
          </p:nvPr>
        </p:nvSpPr>
        <p:spPr>
          <a:xfrm>
            <a:off x="201156" y="260648"/>
            <a:ext cx="8314194" cy="677108"/>
          </a:xfrm>
        </p:spPr>
        <p:txBody>
          <a:bodyPr>
            <a:normAutofit fontScale="90000"/>
          </a:bodyPr>
          <a:lstStyle/>
          <a:p>
            <a:r>
              <a:rPr lang="es-CO" dirty="0"/>
              <a:t>Condicionales</a:t>
            </a:r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F1CE28-A3C7-48DC-84A2-8FB08D6123C5}" type="slidenum">
              <a:rPr lang="en-US" smtClean="0"/>
              <a:pPr/>
              <a:t>25</a:t>
            </a:fld>
            <a:endParaRPr lang="en-US" dirty="0"/>
          </a:p>
        </p:txBody>
      </p:sp>
      <p:sp>
        <p:nvSpPr>
          <p:cNvPr id="3" name="2 Rectángulo"/>
          <p:cNvSpPr/>
          <p:nvPr/>
        </p:nvSpPr>
        <p:spPr>
          <a:xfrm>
            <a:off x="201156" y="991728"/>
            <a:ext cx="7827820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s-CO" sz="2000" b="1" dirty="0"/>
              <a:t>Ejemplo 3 - solución: </a:t>
            </a:r>
            <a:r>
              <a:rPr lang="es-CO" altLang="es-CO" dirty="0"/>
              <a:t>Si X mayor que Y, y Z menor que 20 leer un valor para P.</a:t>
            </a:r>
            <a:endParaRPr lang="es-CO" dirty="0"/>
          </a:p>
        </p:txBody>
      </p:sp>
      <p:sp>
        <p:nvSpPr>
          <p:cNvPr id="8" name="7 Rectángulo"/>
          <p:cNvSpPr/>
          <p:nvPr/>
        </p:nvSpPr>
        <p:spPr>
          <a:xfrm>
            <a:off x="400050" y="1479479"/>
            <a:ext cx="1122487" cy="135421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s-CO" b="1" dirty="0"/>
              <a:t>Variables</a:t>
            </a:r>
            <a:r>
              <a:rPr lang="es-CO" dirty="0"/>
              <a:t>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CO" sz="1600" dirty="0"/>
              <a:t>X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CO" sz="1600" dirty="0"/>
              <a:t>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CO" sz="1600" dirty="0"/>
              <a:t>Z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CO" sz="1600" dirty="0"/>
              <a:t>P</a:t>
            </a:r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86D320AB-C254-4C93-B6E3-292AF048A361}"/>
              </a:ext>
            </a:extLst>
          </p:cNvPr>
          <p:cNvSpPr txBox="1"/>
          <p:nvPr/>
        </p:nvSpPr>
        <p:spPr>
          <a:xfrm>
            <a:off x="404012" y="4911219"/>
            <a:ext cx="3739902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onsolas" panose="020B0609020204030204" pitchFamily="49" charset="0"/>
              </a:rPr>
              <a:t>if ((X &gt; Y) and (Z &lt; 20)):     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  P = int(input("P = "))</a:t>
            </a:r>
            <a:endParaRPr lang="es-CO" sz="1400" dirty="0">
              <a:latin typeface="Consolas" panose="020B0609020204030204" pitchFamily="49" charset="0"/>
            </a:endParaRPr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E67E3724-C96D-4666-8EF7-C9DBC6411F08}"/>
              </a:ext>
            </a:extLst>
          </p:cNvPr>
          <p:cNvSpPr txBox="1"/>
          <p:nvPr/>
        </p:nvSpPr>
        <p:spPr>
          <a:xfrm>
            <a:off x="1331640" y="5471024"/>
            <a:ext cx="154578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1200" dirty="0">
                <a:latin typeface="Century Gothic" panose="020B0502020202020204" pitchFamily="34" charset="0"/>
                <a:hlinkClick r:id="rId2"/>
              </a:rPr>
              <a:t>Link de ejecución</a:t>
            </a:r>
            <a:endParaRPr lang="es-CO" sz="1200" dirty="0">
              <a:latin typeface="Century Gothic" panose="020B0502020202020204" pitchFamily="34" charset="0"/>
            </a:endParaRPr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DE5AF35F-3728-4C10-BC1A-EA3931D4F03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39432" y="2543401"/>
            <a:ext cx="3343275" cy="2257425"/>
          </a:xfrm>
          <a:prstGeom prst="rect">
            <a:avLst/>
          </a:prstGeom>
        </p:spPr>
      </p:pic>
      <p:sp>
        <p:nvSpPr>
          <p:cNvPr id="11" name="CuadroTexto 10">
            <a:extLst>
              <a:ext uri="{FF2B5EF4-FFF2-40B4-BE49-F238E27FC236}">
                <a16:creationId xmlns:a16="http://schemas.microsoft.com/office/drawing/2014/main" id="{5AB99C1B-86B7-4A61-8F5B-0365EB082CC2}"/>
              </a:ext>
            </a:extLst>
          </p:cNvPr>
          <p:cNvSpPr txBox="1"/>
          <p:nvPr/>
        </p:nvSpPr>
        <p:spPr>
          <a:xfrm>
            <a:off x="400050" y="3284984"/>
            <a:ext cx="3739902" cy="73866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onsolas" panose="020B0609020204030204" pitchFamily="49" charset="0"/>
              </a:rPr>
              <a:t>Si ((X &gt; Y) and (Z &lt; 20)) Entonces     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  Leer(P)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Fin_si</a:t>
            </a:r>
            <a:endParaRPr lang="es-CO" sz="1400" dirty="0">
              <a:latin typeface="Consolas" panose="020B0609020204030204" pitchFamily="49" charset="0"/>
            </a:endParaRPr>
          </a:p>
        </p:txBody>
      </p:sp>
      <p:sp>
        <p:nvSpPr>
          <p:cNvPr id="12" name="CuadroTexto 11">
            <a:extLst>
              <a:ext uri="{FF2B5EF4-FFF2-40B4-BE49-F238E27FC236}">
                <a16:creationId xmlns:a16="http://schemas.microsoft.com/office/drawing/2014/main" id="{0D2B6E51-ACDA-42FE-858D-676FE1995979}"/>
              </a:ext>
            </a:extLst>
          </p:cNvPr>
          <p:cNvSpPr txBox="1"/>
          <p:nvPr/>
        </p:nvSpPr>
        <p:spPr>
          <a:xfrm>
            <a:off x="961293" y="2900652"/>
            <a:ext cx="242416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CO" sz="2000" b="1" dirty="0"/>
              <a:t>Pseudocódigo</a:t>
            </a:r>
          </a:p>
        </p:txBody>
      </p:sp>
      <p:sp>
        <p:nvSpPr>
          <p:cNvPr id="13" name="CuadroTexto 12">
            <a:extLst>
              <a:ext uri="{FF2B5EF4-FFF2-40B4-BE49-F238E27FC236}">
                <a16:creationId xmlns:a16="http://schemas.microsoft.com/office/drawing/2014/main" id="{9390730E-F666-4DF9-9AB0-E99285540EE4}"/>
              </a:ext>
            </a:extLst>
          </p:cNvPr>
          <p:cNvSpPr txBox="1"/>
          <p:nvPr/>
        </p:nvSpPr>
        <p:spPr>
          <a:xfrm>
            <a:off x="961293" y="4533732"/>
            <a:ext cx="24241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CO" b="1" dirty="0"/>
              <a:t>Python</a:t>
            </a:r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01DFDC19-DFAB-4BBF-917E-B5740883DB17}"/>
              </a:ext>
            </a:extLst>
          </p:cNvPr>
          <p:cNvSpPr txBox="1"/>
          <p:nvPr/>
        </p:nvSpPr>
        <p:spPr>
          <a:xfrm>
            <a:off x="5524607" y="2031806"/>
            <a:ext cx="24241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CO" b="1" dirty="0"/>
              <a:t>Diagrama de flujo</a:t>
            </a:r>
          </a:p>
        </p:txBody>
      </p:sp>
    </p:spTree>
    <p:extLst>
      <p:ext uri="{BB962C8B-B14F-4D97-AF65-F5344CB8AC3E}">
        <p14:creationId xmlns:p14="http://schemas.microsoft.com/office/powerpoint/2010/main" val="357464631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4 Título"/>
          <p:cNvSpPr>
            <a:spLocks noGrp="1"/>
          </p:cNvSpPr>
          <p:nvPr>
            <p:ph type="title"/>
          </p:nvPr>
        </p:nvSpPr>
        <p:spPr>
          <a:xfrm>
            <a:off x="192640" y="252698"/>
            <a:ext cx="7886700" cy="663583"/>
          </a:xfrm>
        </p:spPr>
        <p:txBody>
          <a:bodyPr>
            <a:normAutofit fontScale="90000"/>
          </a:bodyPr>
          <a:lstStyle/>
          <a:p>
            <a:r>
              <a:rPr lang="es-CO" dirty="0"/>
              <a:t>Condicionales</a:t>
            </a:r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F1CE28-A3C7-48DC-84A2-8FB08D6123C5}" type="slidenum">
              <a:rPr lang="en-US" smtClean="0"/>
              <a:pPr/>
              <a:t>26</a:t>
            </a:fld>
            <a:endParaRPr lang="en-US" dirty="0"/>
          </a:p>
        </p:txBody>
      </p:sp>
      <p:sp>
        <p:nvSpPr>
          <p:cNvPr id="3" name="2 Rectángulo"/>
          <p:cNvSpPr/>
          <p:nvPr/>
        </p:nvSpPr>
        <p:spPr>
          <a:xfrm>
            <a:off x="192640" y="921004"/>
            <a:ext cx="8555824" cy="67710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s-CO" sz="2000" b="1" dirty="0"/>
              <a:t>Ejemplo 4 - solución: </a:t>
            </a:r>
            <a:r>
              <a:rPr lang="es-CO" altLang="es-CO" dirty="0"/>
              <a:t>Si la distancia se encuentra entre 20 y 35 incluidos estos, leer un valor para un tiempo.</a:t>
            </a:r>
            <a:endParaRPr lang="es-CO" dirty="0"/>
          </a:p>
        </p:txBody>
      </p:sp>
      <p:sp>
        <p:nvSpPr>
          <p:cNvPr id="8" name="7 Rectángulo"/>
          <p:cNvSpPr/>
          <p:nvPr/>
        </p:nvSpPr>
        <p:spPr>
          <a:xfrm>
            <a:off x="192640" y="1631524"/>
            <a:ext cx="1931088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s-CO" b="1" dirty="0"/>
              <a:t>Variables</a:t>
            </a:r>
            <a:r>
              <a:rPr lang="es-CO" dirty="0"/>
              <a:t>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CO" b="1" dirty="0"/>
              <a:t>Distancia</a:t>
            </a:r>
            <a:r>
              <a:rPr lang="es-CO" dirty="0"/>
              <a:t>:</a:t>
            </a:r>
            <a:r>
              <a:rPr lang="es-CO" sz="1600" dirty="0"/>
              <a:t> </a:t>
            </a:r>
            <a:r>
              <a:rPr lang="es-CO" sz="1600" dirty="0">
                <a:latin typeface="Consolas" panose="020B0609020204030204" pitchFamily="49" charset="0"/>
              </a:rPr>
              <a:t>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CO" b="1" dirty="0"/>
              <a:t>Tiempo</a:t>
            </a:r>
            <a:r>
              <a:rPr lang="es-CO" dirty="0"/>
              <a:t>: </a:t>
            </a:r>
            <a:r>
              <a:rPr lang="es-CO" sz="1600" dirty="0">
                <a:latin typeface="Consolas" panose="020B0609020204030204" pitchFamily="49" charset="0"/>
              </a:rPr>
              <a:t>t</a:t>
            </a: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5B6BDE68-2B2B-4788-BAFD-AE52AC7A7E72}"/>
              </a:ext>
            </a:extLst>
          </p:cNvPr>
          <p:cNvSpPr txBox="1"/>
          <p:nvPr/>
        </p:nvSpPr>
        <p:spPr>
          <a:xfrm>
            <a:off x="4355976" y="5384494"/>
            <a:ext cx="4521285" cy="58477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nsolas" panose="020B0609020204030204" pitchFamily="49" charset="0"/>
              </a:rPr>
              <a:t>if (20 &lt;= d &lt;= 35):     </a:t>
            </a:r>
          </a:p>
          <a:p>
            <a:r>
              <a:rPr lang="en-US" sz="1600" dirty="0">
                <a:latin typeface="Consolas" panose="020B0609020204030204" pitchFamily="49" charset="0"/>
              </a:rPr>
              <a:t>  t = int(input("Digite el tiempo: "))</a:t>
            </a:r>
            <a:endParaRPr lang="es-CO" sz="1600" dirty="0">
              <a:latin typeface="Consolas" panose="020B0609020204030204" pitchFamily="49" charset="0"/>
            </a:endParaRPr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D3515E18-24C5-4219-AC04-AF35482970AF}"/>
              </a:ext>
            </a:extLst>
          </p:cNvPr>
          <p:cNvSpPr txBox="1"/>
          <p:nvPr/>
        </p:nvSpPr>
        <p:spPr>
          <a:xfrm>
            <a:off x="5807368" y="6023569"/>
            <a:ext cx="154578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1200" dirty="0">
                <a:latin typeface="Century Gothic" panose="020B0502020202020204" pitchFamily="34" charset="0"/>
                <a:hlinkClick r:id="rId2"/>
              </a:rPr>
              <a:t>Link de ejecución</a:t>
            </a:r>
            <a:endParaRPr lang="es-CO" sz="1200" dirty="0">
              <a:latin typeface="Century Gothic" panose="020B0502020202020204" pitchFamily="34" charset="0"/>
            </a:endParaRPr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05CC8B75-9737-4221-A8EC-2F01E10ADB88}"/>
              </a:ext>
            </a:extLst>
          </p:cNvPr>
          <p:cNvSpPr txBox="1"/>
          <p:nvPr/>
        </p:nvSpPr>
        <p:spPr>
          <a:xfrm>
            <a:off x="4355976" y="3974807"/>
            <a:ext cx="4521285" cy="58477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nsolas" panose="020B0609020204030204" pitchFamily="49" charset="0"/>
              </a:rPr>
              <a:t>if ((d &gt;= 20)and(d &lt;= 35)):     </a:t>
            </a:r>
          </a:p>
          <a:p>
            <a:r>
              <a:rPr lang="en-US" sz="1600" dirty="0">
                <a:latin typeface="Consolas" panose="020B0609020204030204" pitchFamily="49" charset="0"/>
              </a:rPr>
              <a:t>  t = int(input("Digite el tiempo: "))</a:t>
            </a:r>
            <a:endParaRPr lang="es-CO" sz="1600" dirty="0">
              <a:latin typeface="Consolas" panose="020B0609020204030204" pitchFamily="49" charset="0"/>
            </a:endParaRPr>
          </a:p>
        </p:txBody>
      </p:sp>
      <p:sp>
        <p:nvSpPr>
          <p:cNvPr id="11" name="CuadroTexto 10">
            <a:extLst>
              <a:ext uri="{FF2B5EF4-FFF2-40B4-BE49-F238E27FC236}">
                <a16:creationId xmlns:a16="http://schemas.microsoft.com/office/drawing/2014/main" id="{233FED58-9B61-4384-A8D4-7B2B5A8F5A83}"/>
              </a:ext>
            </a:extLst>
          </p:cNvPr>
          <p:cNvSpPr txBox="1"/>
          <p:nvPr/>
        </p:nvSpPr>
        <p:spPr>
          <a:xfrm>
            <a:off x="4355976" y="3573016"/>
            <a:ext cx="197352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CO" b="1" dirty="0"/>
              <a:t>Python - Forma 1</a:t>
            </a:r>
            <a:r>
              <a:rPr lang="es-CO" dirty="0"/>
              <a:t>:</a:t>
            </a:r>
          </a:p>
        </p:txBody>
      </p:sp>
      <p:sp>
        <p:nvSpPr>
          <p:cNvPr id="12" name="CuadroTexto 11">
            <a:extLst>
              <a:ext uri="{FF2B5EF4-FFF2-40B4-BE49-F238E27FC236}">
                <a16:creationId xmlns:a16="http://schemas.microsoft.com/office/drawing/2014/main" id="{39845487-B044-463C-BB98-E7F1AD66E8AF}"/>
              </a:ext>
            </a:extLst>
          </p:cNvPr>
          <p:cNvSpPr txBox="1"/>
          <p:nvPr/>
        </p:nvSpPr>
        <p:spPr>
          <a:xfrm>
            <a:off x="4347840" y="5006287"/>
            <a:ext cx="220329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CO" b="1" dirty="0"/>
              <a:t>Python - Forma 2</a:t>
            </a:r>
            <a:r>
              <a:rPr lang="es-CO" dirty="0"/>
              <a:t>:</a:t>
            </a:r>
          </a:p>
        </p:txBody>
      </p:sp>
      <p:sp>
        <p:nvSpPr>
          <p:cNvPr id="13" name="CuadroTexto 12">
            <a:extLst>
              <a:ext uri="{FF2B5EF4-FFF2-40B4-BE49-F238E27FC236}">
                <a16:creationId xmlns:a16="http://schemas.microsoft.com/office/drawing/2014/main" id="{C27D1085-D43F-4209-8A7D-68F69E276092}"/>
              </a:ext>
            </a:extLst>
          </p:cNvPr>
          <p:cNvSpPr txBox="1"/>
          <p:nvPr/>
        </p:nvSpPr>
        <p:spPr>
          <a:xfrm>
            <a:off x="5806264" y="4630371"/>
            <a:ext cx="154578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1200" dirty="0">
                <a:latin typeface="Century Gothic" panose="020B0502020202020204" pitchFamily="34" charset="0"/>
                <a:hlinkClick r:id="rId3"/>
              </a:rPr>
              <a:t>Link de ejecución</a:t>
            </a:r>
            <a:endParaRPr lang="es-CO" sz="1200" dirty="0">
              <a:latin typeface="Century Gothic" panose="020B0502020202020204" pitchFamily="34" charset="0"/>
            </a:endParaRPr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5EBD681A-EED1-4D86-AE34-066F1196F70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4752" y="3112846"/>
            <a:ext cx="3648075" cy="2257425"/>
          </a:xfrm>
          <a:prstGeom prst="rect">
            <a:avLst/>
          </a:prstGeom>
        </p:spPr>
      </p:pic>
      <p:sp>
        <p:nvSpPr>
          <p:cNvPr id="15" name="CuadroTexto 14">
            <a:extLst>
              <a:ext uri="{FF2B5EF4-FFF2-40B4-BE49-F238E27FC236}">
                <a16:creationId xmlns:a16="http://schemas.microsoft.com/office/drawing/2014/main" id="{54A18CAB-5ACB-44F4-A856-C944B63125B9}"/>
              </a:ext>
            </a:extLst>
          </p:cNvPr>
          <p:cNvSpPr txBox="1"/>
          <p:nvPr/>
        </p:nvSpPr>
        <p:spPr>
          <a:xfrm>
            <a:off x="1259632" y="2650530"/>
            <a:ext cx="197352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CO" b="1" dirty="0"/>
              <a:t>Diagrama de flujo</a:t>
            </a:r>
            <a:endParaRPr lang="es-CO" dirty="0"/>
          </a:p>
        </p:txBody>
      </p:sp>
      <p:sp>
        <p:nvSpPr>
          <p:cNvPr id="16" name="CuadroTexto 15">
            <a:extLst>
              <a:ext uri="{FF2B5EF4-FFF2-40B4-BE49-F238E27FC236}">
                <a16:creationId xmlns:a16="http://schemas.microsoft.com/office/drawing/2014/main" id="{B39D1F0C-30E5-46E3-AC6E-6F59CDCD1615}"/>
              </a:ext>
            </a:extLst>
          </p:cNvPr>
          <p:cNvSpPr txBox="1"/>
          <p:nvPr/>
        </p:nvSpPr>
        <p:spPr>
          <a:xfrm>
            <a:off x="4355976" y="2464218"/>
            <a:ext cx="4521285" cy="83099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nsolas" panose="020B0609020204030204" pitchFamily="49" charset="0"/>
              </a:rPr>
              <a:t>Si ((d &gt;= 20)and(d &lt;= 35)) Entonces     </a:t>
            </a:r>
          </a:p>
          <a:p>
            <a:r>
              <a:rPr lang="en-US" sz="1600" dirty="0">
                <a:latin typeface="Consolas" panose="020B0609020204030204" pitchFamily="49" charset="0"/>
              </a:rPr>
              <a:t>  t = int(input("Digite el tiempo: "))</a:t>
            </a:r>
          </a:p>
          <a:p>
            <a:r>
              <a:rPr lang="en-US" sz="1600" dirty="0">
                <a:latin typeface="Consolas" panose="020B0609020204030204" pitchFamily="49" charset="0"/>
              </a:rPr>
              <a:t>Fin_Si</a:t>
            </a:r>
            <a:endParaRPr lang="es-CO" sz="1600" dirty="0">
              <a:latin typeface="Consolas" panose="020B0609020204030204" pitchFamily="49" charset="0"/>
            </a:endParaRPr>
          </a:p>
        </p:txBody>
      </p:sp>
      <p:sp>
        <p:nvSpPr>
          <p:cNvPr id="17" name="CuadroTexto 16">
            <a:extLst>
              <a:ext uri="{FF2B5EF4-FFF2-40B4-BE49-F238E27FC236}">
                <a16:creationId xmlns:a16="http://schemas.microsoft.com/office/drawing/2014/main" id="{77132E2C-9D6E-480F-AC87-8E5A1C0A63FA}"/>
              </a:ext>
            </a:extLst>
          </p:cNvPr>
          <p:cNvSpPr txBox="1"/>
          <p:nvPr/>
        </p:nvSpPr>
        <p:spPr>
          <a:xfrm>
            <a:off x="4347840" y="2024097"/>
            <a:ext cx="197352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CO" b="1" dirty="0"/>
              <a:t>Pseudocódigo</a:t>
            </a:r>
            <a:endParaRPr lang="es-CO" dirty="0"/>
          </a:p>
        </p:txBody>
      </p:sp>
    </p:spTree>
    <p:extLst>
      <p:ext uri="{BB962C8B-B14F-4D97-AF65-F5344CB8AC3E}">
        <p14:creationId xmlns:p14="http://schemas.microsoft.com/office/powerpoint/2010/main" val="104310708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4 Título"/>
          <p:cNvSpPr>
            <a:spLocks noGrp="1"/>
          </p:cNvSpPr>
          <p:nvPr>
            <p:ph type="title"/>
          </p:nvPr>
        </p:nvSpPr>
        <p:spPr>
          <a:xfrm>
            <a:off x="281484" y="252929"/>
            <a:ext cx="8576766" cy="1267245"/>
          </a:xfrm>
        </p:spPr>
        <p:txBody>
          <a:bodyPr>
            <a:normAutofit/>
          </a:bodyPr>
          <a:lstStyle/>
          <a:p>
            <a:r>
              <a:rPr lang="es-CO" sz="3600" dirty="0"/>
              <a:t>Casos en los problemas de decisión lógica</a:t>
            </a:r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F1CE28-A3C7-48DC-84A2-8FB08D6123C5}" type="slidenum">
              <a:rPr lang="en-US" smtClean="0"/>
              <a:pPr/>
              <a:t>27</a:t>
            </a:fld>
            <a:endParaRPr lang="en-US" dirty="0"/>
          </a:p>
        </p:txBody>
      </p:sp>
      <p:graphicFrame>
        <p:nvGraphicFramePr>
          <p:cNvPr id="7" name="6 Diagrama"/>
          <p:cNvGraphicFramePr/>
          <p:nvPr>
            <p:extLst>
              <p:ext uri="{D42A27DB-BD31-4B8C-83A1-F6EECF244321}">
                <p14:modId xmlns:p14="http://schemas.microsoft.com/office/powerpoint/2010/main" val="3190068776"/>
              </p:ext>
            </p:extLst>
          </p:nvPr>
        </p:nvGraphicFramePr>
        <p:xfrm>
          <a:off x="273844" y="2235552"/>
          <a:ext cx="6096000" cy="40640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pic>
        <p:nvPicPr>
          <p:cNvPr id="11" name="Picture 7"/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15125" y="3632994"/>
            <a:ext cx="2143125" cy="11636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2289" name="Picture 1"/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08781" y="1949619"/>
            <a:ext cx="2003811" cy="136297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2290" name="Picture 2"/>
          <p:cNvPicPr>
            <a:picLocks noChangeAspect="1" noChangeArrowheads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15125" y="4839802"/>
            <a:ext cx="2321183" cy="176526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" name="Imagen 9">
            <a:extLst>
              <a:ext uri="{FF2B5EF4-FFF2-40B4-BE49-F238E27FC236}">
                <a16:creationId xmlns:a16="http://schemas.microsoft.com/office/drawing/2014/main" id="{A56CB6FA-B43E-40A5-ADB1-20CD5CDF8D2A}"/>
              </a:ext>
            </a:extLst>
          </p:cNvPr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4846" y="2066027"/>
            <a:ext cx="1470374" cy="13629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327023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4 Título"/>
          <p:cNvSpPr>
            <a:spLocks noGrp="1"/>
          </p:cNvSpPr>
          <p:nvPr>
            <p:ph type="title"/>
          </p:nvPr>
        </p:nvSpPr>
        <p:spPr>
          <a:xfrm>
            <a:off x="189427" y="292891"/>
            <a:ext cx="8229600" cy="688648"/>
          </a:xfrm>
        </p:spPr>
        <p:txBody>
          <a:bodyPr>
            <a:normAutofit fontScale="90000"/>
          </a:bodyPr>
          <a:lstStyle/>
          <a:p>
            <a:r>
              <a:rPr lang="es-CO" dirty="0"/>
              <a:t>Alternativa simple</a:t>
            </a:r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F1CE28-A3C7-48DC-84A2-8FB08D6123C5}" type="slidenum">
              <a:rPr lang="en-US" smtClean="0"/>
              <a:pPr/>
              <a:t>28</a:t>
            </a:fld>
            <a:endParaRPr lang="en-US" dirty="0"/>
          </a:p>
        </p:txBody>
      </p:sp>
      <p:sp>
        <p:nvSpPr>
          <p:cNvPr id="13" name="12 Rectángulo"/>
          <p:cNvSpPr/>
          <p:nvPr/>
        </p:nvSpPr>
        <p:spPr>
          <a:xfrm>
            <a:off x="189427" y="977073"/>
            <a:ext cx="8517068" cy="43088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s-CO" altLang="es-CO" sz="2200" dirty="0"/>
              <a:t>En los problemas de este tipo la condición </a:t>
            </a:r>
            <a:r>
              <a:rPr lang="es-CO" altLang="es-CO" sz="2200" b="1" dirty="0">
                <a:solidFill>
                  <a:srgbClr val="C00000"/>
                </a:solidFill>
              </a:rPr>
              <a:t>falsa</a:t>
            </a:r>
            <a:r>
              <a:rPr lang="es-CO" altLang="es-CO" sz="2200" dirty="0"/>
              <a:t> no posee instrucciones.</a:t>
            </a:r>
            <a:endParaRPr lang="es-CO" sz="2200" dirty="0"/>
          </a:p>
        </p:txBody>
      </p:sp>
      <p:pic>
        <p:nvPicPr>
          <p:cNvPr id="11265" name="Picture 1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147" y="2243380"/>
            <a:ext cx="4814125" cy="327452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20" name="Picture 8" descr="http://t0.gstatic.com/images?q=tbn:ANd9GcQBQUfA-17F7VG9bKeqzV6MF0-Z-9iE_3GOSyV1UJYC9LTt32BL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5576" y="5014271"/>
            <a:ext cx="862480" cy="110144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8" name="CuadroTexto 7">
            <a:extLst>
              <a:ext uri="{FF2B5EF4-FFF2-40B4-BE49-F238E27FC236}">
                <a16:creationId xmlns:a16="http://schemas.microsoft.com/office/drawing/2014/main" id="{AC32FD90-4058-401D-982D-5EBFA6936A2A}"/>
              </a:ext>
            </a:extLst>
          </p:cNvPr>
          <p:cNvSpPr txBox="1"/>
          <p:nvPr/>
        </p:nvSpPr>
        <p:spPr>
          <a:xfrm>
            <a:off x="4861248" y="2341048"/>
            <a:ext cx="4102701" cy="73866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indent="-57150"/>
            <a:r>
              <a:rPr lang="es-ES" sz="1400" dirty="0">
                <a:solidFill>
                  <a:schemeClr val="accent4"/>
                </a:solidFill>
                <a:latin typeface="Consolas" panose="020B0609020204030204" pitchFamily="49" charset="0"/>
              </a:rPr>
              <a:t>Si (</a:t>
            </a:r>
            <a:r>
              <a:rPr lang="es-ES" sz="1400" dirty="0">
                <a:solidFill>
                  <a:schemeClr val="accent6"/>
                </a:solidFill>
                <a:latin typeface="Consolas" panose="020B0609020204030204" pitchFamily="49" charset="0"/>
              </a:rPr>
              <a:t>condicion</a:t>
            </a:r>
            <a:r>
              <a:rPr lang="es-ES" sz="1400" dirty="0">
                <a:solidFill>
                  <a:schemeClr val="accent4"/>
                </a:solidFill>
                <a:latin typeface="Consolas" panose="020B0609020204030204" pitchFamily="49" charset="0"/>
              </a:rPr>
              <a:t>) Entonces</a:t>
            </a:r>
          </a:p>
          <a:p>
            <a:pPr indent="-57150"/>
            <a:r>
              <a:rPr lang="es-ES" sz="1400" dirty="0">
                <a:latin typeface="Consolas" panose="020B0609020204030204" pitchFamily="49" charset="0"/>
              </a:rPr>
              <a:t>  instrucciones condicion verdadera</a:t>
            </a:r>
          </a:p>
          <a:p>
            <a:pPr indent="-57150"/>
            <a:r>
              <a:rPr lang="es-ES" sz="1400" dirty="0">
                <a:solidFill>
                  <a:schemeClr val="accent4"/>
                </a:solidFill>
                <a:latin typeface="Consolas" panose="020B0609020204030204" pitchFamily="49" charset="0"/>
              </a:rPr>
              <a:t>Fin_Si</a:t>
            </a:r>
            <a:endParaRPr lang="es-CO" sz="1400" dirty="0">
              <a:solidFill>
                <a:schemeClr val="accent4"/>
              </a:solidFill>
              <a:latin typeface="Consolas" panose="020B0609020204030204" pitchFamily="49" charset="0"/>
            </a:endParaRPr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CA87FB65-D4A5-4A74-BDD3-51E4F16B1B28}"/>
              </a:ext>
            </a:extLst>
          </p:cNvPr>
          <p:cNvSpPr txBox="1"/>
          <p:nvPr/>
        </p:nvSpPr>
        <p:spPr>
          <a:xfrm>
            <a:off x="5626858" y="1843270"/>
            <a:ext cx="242416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CO" sz="2000" b="1" dirty="0"/>
              <a:t>Pseudocódigo</a:t>
            </a:r>
          </a:p>
        </p:txBody>
      </p:sp>
      <p:sp>
        <p:nvSpPr>
          <p:cNvPr id="11" name="CuadroTexto 10">
            <a:extLst>
              <a:ext uri="{FF2B5EF4-FFF2-40B4-BE49-F238E27FC236}">
                <a16:creationId xmlns:a16="http://schemas.microsoft.com/office/drawing/2014/main" id="{F10E4D25-B8E6-4A9C-9AB4-C0347C3716F8}"/>
              </a:ext>
            </a:extLst>
          </p:cNvPr>
          <p:cNvSpPr txBox="1"/>
          <p:nvPr/>
        </p:nvSpPr>
        <p:spPr>
          <a:xfrm>
            <a:off x="5661758" y="3717032"/>
            <a:ext cx="242416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CO" sz="2000" b="1" dirty="0"/>
              <a:t>Python</a:t>
            </a:r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873E636D-5469-4C08-BBB0-8DB2503F2CAF}"/>
              </a:ext>
            </a:extLst>
          </p:cNvPr>
          <p:cNvSpPr txBox="1"/>
          <p:nvPr/>
        </p:nvSpPr>
        <p:spPr>
          <a:xfrm>
            <a:off x="4907682" y="4207545"/>
            <a:ext cx="4102701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indent="-57150"/>
            <a:r>
              <a:rPr lang="es-ES" sz="1400" dirty="0">
                <a:solidFill>
                  <a:schemeClr val="accent4"/>
                </a:solidFill>
                <a:latin typeface="Consolas" panose="020B0609020204030204" pitchFamily="49" charset="0"/>
              </a:rPr>
              <a:t>if (</a:t>
            </a:r>
            <a:r>
              <a:rPr lang="es-ES" sz="1400" dirty="0">
                <a:solidFill>
                  <a:schemeClr val="accent6"/>
                </a:solidFill>
                <a:latin typeface="Consolas" panose="020B0609020204030204" pitchFamily="49" charset="0"/>
              </a:rPr>
              <a:t>condicion</a:t>
            </a:r>
            <a:r>
              <a:rPr lang="es-ES" sz="1400" dirty="0">
                <a:solidFill>
                  <a:schemeClr val="accent4"/>
                </a:solidFill>
                <a:latin typeface="Consolas" panose="020B0609020204030204" pitchFamily="49" charset="0"/>
              </a:rPr>
              <a:t>):</a:t>
            </a:r>
          </a:p>
          <a:p>
            <a:pPr indent="-57150"/>
            <a:r>
              <a:rPr lang="es-ES" sz="1400" dirty="0">
                <a:latin typeface="Consolas" panose="020B0609020204030204" pitchFamily="49" charset="0"/>
              </a:rPr>
              <a:t>  instrucciones condicion verdadera</a:t>
            </a:r>
          </a:p>
        </p:txBody>
      </p:sp>
      <p:sp>
        <p:nvSpPr>
          <p:cNvPr id="15" name="CuadroTexto 14">
            <a:extLst>
              <a:ext uri="{FF2B5EF4-FFF2-40B4-BE49-F238E27FC236}">
                <a16:creationId xmlns:a16="http://schemas.microsoft.com/office/drawing/2014/main" id="{0FFE230E-C2E4-45A1-8069-85EE5BA8E8BE}"/>
              </a:ext>
            </a:extLst>
          </p:cNvPr>
          <p:cNvSpPr txBox="1"/>
          <p:nvPr/>
        </p:nvSpPr>
        <p:spPr>
          <a:xfrm>
            <a:off x="1609462" y="1892087"/>
            <a:ext cx="242416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CO" sz="2000" b="1" dirty="0"/>
              <a:t>Diagrama de flujo</a:t>
            </a:r>
          </a:p>
        </p:txBody>
      </p:sp>
    </p:spTree>
    <p:extLst>
      <p:ext uri="{BB962C8B-B14F-4D97-AF65-F5344CB8AC3E}">
        <p14:creationId xmlns:p14="http://schemas.microsoft.com/office/powerpoint/2010/main" val="94636558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4 Título"/>
          <p:cNvSpPr>
            <a:spLocks noGrp="1"/>
          </p:cNvSpPr>
          <p:nvPr>
            <p:ph type="title"/>
          </p:nvPr>
        </p:nvSpPr>
        <p:spPr>
          <a:xfrm>
            <a:off x="257056" y="367890"/>
            <a:ext cx="8258294" cy="782960"/>
          </a:xfrm>
        </p:spPr>
        <p:txBody>
          <a:bodyPr>
            <a:normAutofit/>
          </a:bodyPr>
          <a:lstStyle/>
          <a:p>
            <a:r>
              <a:rPr lang="es-CO" sz="4000" dirty="0"/>
              <a:t>Alternativa simple</a:t>
            </a:r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F1CE28-A3C7-48DC-84A2-8FB08D6123C5}" type="slidenum">
              <a:rPr lang="en-US" smtClean="0"/>
              <a:pPr/>
              <a:t>29</a:t>
            </a:fld>
            <a:endParaRPr lang="en-US" dirty="0"/>
          </a:p>
        </p:txBody>
      </p:sp>
      <p:sp>
        <p:nvSpPr>
          <p:cNvPr id="13" name="12 Rectángulo"/>
          <p:cNvSpPr/>
          <p:nvPr/>
        </p:nvSpPr>
        <p:spPr>
          <a:xfrm>
            <a:off x="246564" y="1150850"/>
            <a:ext cx="8501900" cy="169277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s-CO" sz="2200" b="1" dirty="0"/>
              <a:t>Ejemplo 1:</a:t>
            </a:r>
            <a:r>
              <a:rPr lang="es-CO" sz="2400" b="1" dirty="0"/>
              <a:t> </a:t>
            </a:r>
          </a:p>
          <a:p>
            <a:r>
              <a:rPr lang="es-CO" sz="2000" dirty="0"/>
              <a:t>Moe con el fin de incentivar su negocio organizo una noche de solos y solas. Los precios que fijo fueron de $10000 para los hombres y de la mitad de este valor para las mujeres. Hacer un programa que de acuerdo al sexo de la persona que asista muestre el precio de la entrada al bar de Moe.</a:t>
            </a:r>
          </a:p>
        </p:txBody>
      </p:sp>
      <p:pic>
        <p:nvPicPr>
          <p:cNvPr id="2050" name="Picture 2" descr="Moe&amp;#39;s Bar | Pub, Funny pictures, The simpsons">
            <a:extLst>
              <a:ext uri="{FF2B5EF4-FFF2-40B4-BE49-F238E27FC236}">
                <a16:creationId xmlns:a16="http://schemas.microsoft.com/office/drawing/2014/main" id="{8089C2F7-1CC9-419C-8E50-9FFB41C9C43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62451" y="3429000"/>
            <a:ext cx="3470125" cy="26025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3942681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4 Título"/>
          <p:cNvSpPr>
            <a:spLocks noGrp="1"/>
          </p:cNvSpPr>
          <p:nvPr>
            <p:ph type="title"/>
          </p:nvPr>
        </p:nvSpPr>
        <p:spPr>
          <a:xfrm>
            <a:off x="385193" y="237166"/>
            <a:ext cx="8107443" cy="710952"/>
          </a:xfrm>
        </p:spPr>
        <p:txBody>
          <a:bodyPr>
            <a:normAutofit/>
          </a:bodyPr>
          <a:lstStyle/>
          <a:p>
            <a:r>
              <a:rPr lang="es-CO" sz="4000" dirty="0"/>
              <a:t>Alternativa simple</a:t>
            </a:r>
          </a:p>
        </p:txBody>
      </p:sp>
      <p:sp>
        <p:nvSpPr>
          <p:cNvPr id="13" name="12 Rectángulo"/>
          <p:cNvSpPr/>
          <p:nvPr/>
        </p:nvSpPr>
        <p:spPr>
          <a:xfrm>
            <a:off x="313184" y="917518"/>
            <a:ext cx="8651304" cy="123110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s-CO" sz="2000" b="1" dirty="0"/>
              <a:t>Ejemplo1 - solución: </a:t>
            </a:r>
            <a:r>
              <a:rPr lang="es-CO" dirty="0"/>
              <a:t>Moe con el fin de incentivar su negocio organizo una noche de solos y solas. Los precios que fijo fueron de </a:t>
            </a:r>
            <a:r>
              <a:rPr lang="es-CO" dirty="0">
                <a:highlight>
                  <a:srgbClr val="C0C0C0"/>
                </a:highlight>
              </a:rPr>
              <a:t>$10000 para los hombres</a:t>
            </a:r>
            <a:r>
              <a:rPr lang="es-CO" dirty="0"/>
              <a:t> y de </a:t>
            </a:r>
            <a:r>
              <a:rPr lang="es-CO" dirty="0">
                <a:highlight>
                  <a:srgbClr val="C0C0C0"/>
                </a:highlight>
              </a:rPr>
              <a:t>la mitad de este valor para las mujeres</a:t>
            </a:r>
            <a:r>
              <a:rPr lang="es-CO" dirty="0"/>
              <a:t>. Hacer un programa que de acuerdo al </a:t>
            </a:r>
            <a:r>
              <a:rPr lang="es-CO" b="1" dirty="0">
                <a:highlight>
                  <a:srgbClr val="FFFF00"/>
                </a:highlight>
              </a:rPr>
              <a:t>sexo</a:t>
            </a:r>
            <a:r>
              <a:rPr lang="es-CO" dirty="0"/>
              <a:t> de la persona que asista muestre el </a:t>
            </a:r>
            <a:r>
              <a:rPr lang="es-CO" b="1" dirty="0">
                <a:highlight>
                  <a:srgbClr val="FFFF00"/>
                </a:highlight>
              </a:rPr>
              <a:t>precio de la entrada</a:t>
            </a:r>
            <a:r>
              <a:rPr lang="es-CO" b="1" dirty="0"/>
              <a:t> </a:t>
            </a:r>
            <a:r>
              <a:rPr lang="es-CO" dirty="0"/>
              <a:t>al bar de Moe.</a:t>
            </a:r>
            <a:endParaRPr lang="es-CO" sz="2000" dirty="0"/>
          </a:p>
        </p:txBody>
      </p:sp>
      <p:sp>
        <p:nvSpPr>
          <p:cNvPr id="9" name="5 CuadroTexto"/>
          <p:cNvSpPr txBox="1"/>
          <p:nvPr/>
        </p:nvSpPr>
        <p:spPr>
          <a:xfrm>
            <a:off x="378845" y="2172064"/>
            <a:ext cx="4520481" cy="28931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O" b="1" dirty="0"/>
              <a:t>Datos de entrada: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CO" sz="1600" dirty="0"/>
              <a:t>Sexo</a:t>
            </a:r>
          </a:p>
          <a:p>
            <a:r>
              <a:rPr lang="es-CO" b="1" dirty="0"/>
              <a:t>Datos de salida: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CO" sz="1600" dirty="0"/>
              <a:t>Valor de la entrada</a:t>
            </a:r>
          </a:p>
          <a:p>
            <a:r>
              <a:rPr lang="es-CO" b="1" dirty="0"/>
              <a:t>Definición de variables: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CO" sz="1600" b="1" dirty="0"/>
              <a:t>Entrada/salida:</a:t>
            </a:r>
          </a:p>
          <a:p>
            <a:pPr marL="800100" lvl="1" indent="-342900">
              <a:buFont typeface="Arial" pitchFamily="34" charset="0"/>
              <a:buChar char="•"/>
            </a:pPr>
            <a:r>
              <a:rPr lang="es-CO" sz="1600" b="1" dirty="0">
                <a:latin typeface="Consolas" panose="020B0609020204030204" pitchFamily="49" charset="0"/>
              </a:rPr>
              <a:t>sex</a:t>
            </a:r>
            <a:r>
              <a:rPr lang="es-CO" sz="1600" dirty="0"/>
              <a:t>: Sexo de la persona</a:t>
            </a:r>
          </a:p>
          <a:p>
            <a:pPr marL="800100" lvl="1" indent="-342900">
              <a:buFont typeface="Arial" pitchFamily="34" charset="0"/>
              <a:buChar char="•"/>
            </a:pPr>
            <a:r>
              <a:rPr lang="es-CO" sz="1600" b="1" dirty="0">
                <a:latin typeface="Consolas" panose="020B0609020204030204" pitchFamily="49" charset="0"/>
              </a:rPr>
              <a:t>valor_entrada</a:t>
            </a:r>
            <a:r>
              <a:rPr lang="es-CO" sz="1600" dirty="0"/>
              <a:t>: Valor de la entrada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CO" sz="1600" b="1" dirty="0"/>
              <a:t>Constantes:</a:t>
            </a:r>
          </a:p>
          <a:p>
            <a:pPr marL="800100" lvl="1" indent="-342900">
              <a:buFont typeface="Arial" pitchFamily="34" charset="0"/>
              <a:buChar char="•"/>
            </a:pPr>
            <a:r>
              <a:rPr lang="es-CO" sz="1600" b="1" dirty="0">
                <a:latin typeface="Consolas" panose="020B0609020204030204" pitchFamily="49" charset="0"/>
              </a:rPr>
              <a:t>PRECIO_HOMBRE</a:t>
            </a:r>
            <a:r>
              <a:rPr lang="es-CO" sz="1600" dirty="0"/>
              <a:t>: Valor entrada hombre</a:t>
            </a:r>
          </a:p>
          <a:p>
            <a:pPr marL="800100" lvl="1" indent="-342900">
              <a:buFont typeface="Arial" pitchFamily="34" charset="0"/>
              <a:buChar char="•"/>
            </a:pPr>
            <a:r>
              <a:rPr lang="es-CO" sz="1600" b="1" dirty="0">
                <a:latin typeface="Consolas" panose="020B0609020204030204" pitchFamily="49" charset="0"/>
              </a:rPr>
              <a:t>PRECIO_MUJER</a:t>
            </a:r>
            <a:r>
              <a:rPr lang="es-CO" sz="1600" dirty="0"/>
              <a:t>: Valor entrada mujer</a:t>
            </a:r>
          </a:p>
        </p:txBody>
      </p:sp>
      <p:pic>
        <p:nvPicPr>
          <p:cNvPr id="17" name="Picture 2" descr="El bar de Moe y Los Simpsons: el impresionante mural en Córdoba que es  viral | Vía Córdoba">
            <a:extLst>
              <a:ext uri="{FF2B5EF4-FFF2-40B4-BE49-F238E27FC236}">
                <a16:creationId xmlns:a16="http://schemas.microsoft.com/office/drawing/2014/main" id="{E83844F4-EDA4-47E9-B82A-0777EC338AF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04048" y="2516383"/>
            <a:ext cx="3807684" cy="21365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2" name="Grupo 1">
            <a:extLst>
              <a:ext uri="{FF2B5EF4-FFF2-40B4-BE49-F238E27FC236}">
                <a16:creationId xmlns:a16="http://schemas.microsoft.com/office/drawing/2014/main" id="{E357B2C4-57BF-4DD7-B32D-6C2EA350C11E}"/>
              </a:ext>
            </a:extLst>
          </p:cNvPr>
          <p:cNvGrpSpPr/>
          <p:nvPr/>
        </p:nvGrpSpPr>
        <p:grpSpPr>
          <a:xfrm>
            <a:off x="1311344" y="5144789"/>
            <a:ext cx="6717040" cy="1524571"/>
            <a:chOff x="1213480" y="5156711"/>
            <a:chExt cx="6717040" cy="1524571"/>
          </a:xfrm>
        </p:grpSpPr>
        <p:grpSp>
          <p:nvGrpSpPr>
            <p:cNvPr id="3" name="Grupo 2">
              <a:extLst>
                <a:ext uri="{FF2B5EF4-FFF2-40B4-BE49-F238E27FC236}">
                  <a16:creationId xmlns:a16="http://schemas.microsoft.com/office/drawing/2014/main" id="{F9EEB839-196F-4A18-BBEC-BC8B3B7C61D8}"/>
                </a:ext>
              </a:extLst>
            </p:cNvPr>
            <p:cNvGrpSpPr/>
            <p:nvPr/>
          </p:nvGrpSpPr>
          <p:grpSpPr>
            <a:xfrm>
              <a:off x="1213480" y="5156711"/>
              <a:ext cx="6717040" cy="907736"/>
              <a:chOff x="1045631" y="5397247"/>
              <a:chExt cx="6717040" cy="907736"/>
            </a:xfrm>
          </p:grpSpPr>
          <p:sp>
            <p:nvSpPr>
              <p:cNvPr id="7" name="1 Rectángulo">
                <a:extLst>
                  <a:ext uri="{FF2B5EF4-FFF2-40B4-BE49-F238E27FC236}">
                    <a16:creationId xmlns:a16="http://schemas.microsoft.com/office/drawing/2014/main" id="{263EC2D0-8A43-440A-A157-8C8AFD2A8C98}"/>
                  </a:ext>
                </a:extLst>
              </p:cNvPr>
              <p:cNvSpPr/>
              <p:nvPr/>
            </p:nvSpPr>
            <p:spPr>
              <a:xfrm>
                <a:off x="1475853" y="6027984"/>
                <a:ext cx="439544" cy="276999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s-CO" sz="12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sex</a:t>
                </a:r>
              </a:p>
            </p:txBody>
          </p:sp>
          <p:sp>
            <p:nvSpPr>
              <p:cNvPr id="8" name="20 Rectángulo">
                <a:extLst>
                  <a:ext uri="{FF2B5EF4-FFF2-40B4-BE49-F238E27FC236}">
                    <a16:creationId xmlns:a16="http://schemas.microsoft.com/office/drawing/2014/main" id="{726FDB4C-0C76-413A-8BE8-15F5B6401750}"/>
                  </a:ext>
                </a:extLst>
              </p:cNvPr>
              <p:cNvSpPr/>
              <p:nvPr/>
            </p:nvSpPr>
            <p:spPr>
              <a:xfrm>
                <a:off x="6473536" y="6015063"/>
                <a:ext cx="1289135" cy="276999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s-CO" sz="12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valor_entrada</a:t>
                </a:r>
              </a:p>
            </p:txBody>
          </p:sp>
          <p:grpSp>
            <p:nvGrpSpPr>
              <p:cNvPr id="10" name="5 Grupo">
                <a:extLst>
                  <a:ext uri="{FF2B5EF4-FFF2-40B4-BE49-F238E27FC236}">
                    <a16:creationId xmlns:a16="http://schemas.microsoft.com/office/drawing/2014/main" id="{E4280D24-5E31-46EF-AE91-74E4FDCE2D70}"/>
                  </a:ext>
                </a:extLst>
              </p:cNvPr>
              <p:cNvGrpSpPr/>
              <p:nvPr/>
            </p:nvGrpSpPr>
            <p:grpSpPr>
              <a:xfrm>
                <a:off x="1045631" y="5397247"/>
                <a:ext cx="6702297" cy="783771"/>
                <a:chOff x="1268833" y="1739458"/>
                <a:chExt cx="6702297" cy="783771"/>
              </a:xfrm>
            </p:grpSpPr>
            <p:sp>
              <p:nvSpPr>
                <p:cNvPr id="11" name="10 Rectángulo">
                  <a:extLst>
                    <a:ext uri="{FF2B5EF4-FFF2-40B4-BE49-F238E27FC236}">
                      <a16:creationId xmlns:a16="http://schemas.microsoft.com/office/drawing/2014/main" id="{9CFFEA15-ED3F-4A03-8DDC-F7B3DDB93B5F}"/>
                    </a:ext>
                  </a:extLst>
                </p:cNvPr>
                <p:cNvSpPr/>
                <p:nvPr/>
              </p:nvSpPr>
              <p:spPr>
                <a:xfrm>
                  <a:off x="1268833" y="1881961"/>
                  <a:ext cx="1345763" cy="498763"/>
                </a:xfrm>
                <a:prstGeom prst="rect">
                  <a:avLst/>
                </a:prstGeom>
                <a:noFill/>
                <a:ln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s-CO" b="1" dirty="0">
                      <a:solidFill>
                        <a:schemeClr val="tx1"/>
                      </a:solidFill>
                    </a:rPr>
                    <a:t>Inputs</a:t>
                  </a:r>
                </a:p>
              </p:txBody>
            </p:sp>
            <p:sp>
              <p:nvSpPr>
                <p:cNvPr id="12" name="11 Rectángulo">
                  <a:extLst>
                    <a:ext uri="{FF2B5EF4-FFF2-40B4-BE49-F238E27FC236}">
                      <a16:creationId xmlns:a16="http://schemas.microsoft.com/office/drawing/2014/main" id="{CB0479F9-ED11-499B-80D0-DBB078D6FC4F}"/>
                    </a:ext>
                  </a:extLst>
                </p:cNvPr>
                <p:cNvSpPr/>
                <p:nvPr/>
              </p:nvSpPr>
              <p:spPr>
                <a:xfrm>
                  <a:off x="3563888" y="1739458"/>
                  <a:ext cx="2104858" cy="783771"/>
                </a:xfrm>
                <a:prstGeom prst="rect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s-CO" b="1" dirty="0"/>
                    <a:t>Process</a:t>
                  </a:r>
                </a:p>
              </p:txBody>
            </p:sp>
            <p:sp>
              <p:nvSpPr>
                <p:cNvPr id="14" name="13 Rectángulo">
                  <a:extLst>
                    <a:ext uri="{FF2B5EF4-FFF2-40B4-BE49-F238E27FC236}">
                      <a16:creationId xmlns:a16="http://schemas.microsoft.com/office/drawing/2014/main" id="{5E9F3C39-E1AF-4421-812A-A8BFF259453E}"/>
                    </a:ext>
                  </a:extLst>
                </p:cNvPr>
                <p:cNvSpPr/>
                <p:nvPr/>
              </p:nvSpPr>
              <p:spPr>
                <a:xfrm>
                  <a:off x="6625367" y="1855863"/>
                  <a:ext cx="1345763" cy="498763"/>
                </a:xfrm>
                <a:prstGeom prst="rect">
                  <a:avLst/>
                </a:prstGeom>
                <a:noFill/>
                <a:ln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s-CO" b="1" dirty="0">
                      <a:solidFill>
                        <a:schemeClr val="tx1"/>
                      </a:solidFill>
                    </a:rPr>
                    <a:t>Outputs</a:t>
                  </a:r>
                </a:p>
              </p:txBody>
            </p:sp>
            <p:sp>
              <p:nvSpPr>
                <p:cNvPr id="15" name="14 Flecha derecha">
                  <a:extLst>
                    <a:ext uri="{FF2B5EF4-FFF2-40B4-BE49-F238E27FC236}">
                      <a16:creationId xmlns:a16="http://schemas.microsoft.com/office/drawing/2014/main" id="{00D4A4D7-7FB9-4906-9B90-6370C7AD60C7}"/>
                    </a:ext>
                  </a:extLst>
                </p:cNvPr>
                <p:cNvSpPr/>
                <p:nvPr/>
              </p:nvSpPr>
              <p:spPr>
                <a:xfrm>
                  <a:off x="2614596" y="2031618"/>
                  <a:ext cx="954554" cy="221013"/>
                </a:xfrm>
                <a:prstGeom prst="rightArrow">
                  <a:avLst/>
                </a:prstGeom>
                <a:solidFill>
                  <a:schemeClr val="bg1">
                    <a:lumMod val="5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CO"/>
                </a:p>
              </p:txBody>
            </p:sp>
            <p:sp>
              <p:nvSpPr>
                <p:cNvPr id="16" name="21 Flecha derecha">
                  <a:extLst>
                    <a:ext uri="{FF2B5EF4-FFF2-40B4-BE49-F238E27FC236}">
                      <a16:creationId xmlns:a16="http://schemas.microsoft.com/office/drawing/2014/main" id="{633ECD28-C8CB-46F5-838E-F32D96BCE760}"/>
                    </a:ext>
                  </a:extLst>
                </p:cNvPr>
                <p:cNvSpPr/>
                <p:nvPr/>
              </p:nvSpPr>
              <p:spPr>
                <a:xfrm>
                  <a:off x="5676075" y="2031618"/>
                  <a:ext cx="941963" cy="213756"/>
                </a:xfrm>
                <a:prstGeom prst="rightArrow">
                  <a:avLst/>
                </a:prstGeom>
                <a:solidFill>
                  <a:schemeClr val="bg1">
                    <a:lumMod val="5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CO"/>
                </a:p>
              </p:txBody>
            </p:sp>
          </p:grpSp>
        </p:grpSp>
        <p:sp>
          <p:nvSpPr>
            <p:cNvPr id="18" name="10 Rectángulo">
              <a:extLst>
                <a:ext uri="{FF2B5EF4-FFF2-40B4-BE49-F238E27FC236}">
                  <a16:creationId xmlns:a16="http://schemas.microsoft.com/office/drawing/2014/main" id="{DDD0327F-5029-4B28-9F0B-910BA7EFE7CA}"/>
                </a:ext>
              </a:extLst>
            </p:cNvPr>
            <p:cNvSpPr/>
            <p:nvPr/>
          </p:nvSpPr>
          <p:spPr>
            <a:xfrm>
              <a:off x="3455699" y="5866292"/>
              <a:ext cx="1345763" cy="498763"/>
            </a:xfrm>
            <a:prstGeom prst="rect">
              <a:avLst/>
            </a:prstGeom>
            <a:noFill/>
            <a:ln>
              <a:noFill/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s-CO" b="1" dirty="0">
                  <a:solidFill>
                    <a:schemeClr val="tx1"/>
                  </a:solidFill>
                </a:rPr>
                <a:t>Constantes</a:t>
              </a:r>
            </a:p>
          </p:txBody>
        </p:sp>
        <p:sp>
          <p:nvSpPr>
            <p:cNvPr id="19" name="1 Rectángulo">
              <a:extLst>
                <a:ext uri="{FF2B5EF4-FFF2-40B4-BE49-F238E27FC236}">
                  <a16:creationId xmlns:a16="http://schemas.microsoft.com/office/drawing/2014/main" id="{756115B7-52EE-47F7-9D6F-0A8B1F435EB9}"/>
                </a:ext>
              </a:extLst>
            </p:cNvPr>
            <p:cNvSpPr/>
            <p:nvPr/>
          </p:nvSpPr>
          <p:spPr>
            <a:xfrm>
              <a:off x="3455699" y="6250395"/>
              <a:ext cx="2492990" cy="430887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s-CO" sz="1100" dirty="0">
                  <a:latin typeface="Consolas" panose="020B0609020204030204" pitchFamily="49" charset="0"/>
                </a:rPr>
                <a:t>PRECIO_HOMBRE = 10000</a:t>
              </a:r>
            </a:p>
            <a:p>
              <a:r>
                <a:rPr lang="es-CO" sz="1100" dirty="0">
                  <a:latin typeface="Consolas" panose="020B0609020204030204" pitchFamily="49" charset="0"/>
                  <a:cs typeface="Consolas" panose="020B0609020204030204" pitchFamily="49" charset="0"/>
                </a:rPr>
                <a:t>PRECIO_MUJER = </a:t>
              </a:r>
              <a:r>
                <a:rPr lang="es-CO" sz="1100" dirty="0">
                  <a:latin typeface="Consolas" panose="020B0609020204030204" pitchFamily="49" charset="0"/>
                </a:rPr>
                <a:t>PRECIO_HOMBRE/</a:t>
              </a:r>
              <a:r>
                <a:rPr lang="es-CO" sz="1100" dirty="0">
                  <a:effectLst/>
                  <a:latin typeface="Consolas" panose="020B0609020204030204" pitchFamily="49" charset="0"/>
                </a:rPr>
                <a:t>2</a:t>
              </a:r>
              <a:endParaRPr lang="es-CO" sz="1100" dirty="0"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82262075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4 Título"/>
          <p:cNvSpPr>
            <a:spLocks noGrp="1"/>
          </p:cNvSpPr>
          <p:nvPr>
            <p:ph type="title"/>
          </p:nvPr>
        </p:nvSpPr>
        <p:spPr>
          <a:xfrm>
            <a:off x="234643" y="351335"/>
            <a:ext cx="5102314" cy="710952"/>
          </a:xfrm>
        </p:spPr>
        <p:txBody>
          <a:bodyPr>
            <a:normAutofit/>
          </a:bodyPr>
          <a:lstStyle/>
          <a:p>
            <a:r>
              <a:rPr lang="es-CO" dirty="0"/>
              <a:t>Alternativa simple</a:t>
            </a:r>
          </a:p>
        </p:txBody>
      </p:sp>
      <p:sp>
        <p:nvSpPr>
          <p:cNvPr id="30" name="CuadroTexto 29">
            <a:extLst>
              <a:ext uri="{FF2B5EF4-FFF2-40B4-BE49-F238E27FC236}">
                <a16:creationId xmlns:a16="http://schemas.microsoft.com/office/drawing/2014/main" id="{7871FDBA-6852-407C-9136-519E6A6AE7CF}"/>
              </a:ext>
            </a:extLst>
          </p:cNvPr>
          <p:cNvSpPr txBox="1"/>
          <p:nvPr/>
        </p:nvSpPr>
        <p:spPr>
          <a:xfrm>
            <a:off x="234641" y="4077072"/>
            <a:ext cx="4840859" cy="138499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s-MX" sz="1200" dirty="0">
                <a:latin typeface="Consolas" panose="020B0609020204030204" pitchFamily="49" charset="0"/>
              </a:rPr>
              <a:t>PRECIO_HOMBRE = 10000</a:t>
            </a:r>
          </a:p>
          <a:p>
            <a:r>
              <a:rPr lang="es-MX" sz="1200" dirty="0">
                <a:latin typeface="Consolas" panose="020B0609020204030204" pitchFamily="49" charset="0"/>
              </a:rPr>
              <a:t>PRECIO_MUJER = PRECIO_HOMBRE / 2</a:t>
            </a:r>
          </a:p>
          <a:p>
            <a:r>
              <a:rPr lang="es-MX" sz="1200" dirty="0">
                <a:latin typeface="Consolas" panose="020B0609020204030204" pitchFamily="49" charset="0"/>
              </a:rPr>
              <a:t>valor_entrada = PRECIO_HOMBRE</a:t>
            </a:r>
          </a:p>
          <a:p>
            <a:r>
              <a:rPr lang="es-MX" sz="1200" dirty="0">
                <a:latin typeface="Consolas" panose="020B0609020204030204" pitchFamily="49" charset="0"/>
              </a:rPr>
              <a:t>sex = input('Digite el sexo (F/M): ')</a:t>
            </a:r>
          </a:p>
          <a:p>
            <a:r>
              <a:rPr lang="es-MX" sz="1200" dirty="0" err="1">
                <a:latin typeface="Consolas" panose="020B0609020204030204" pitchFamily="49" charset="0"/>
              </a:rPr>
              <a:t>if</a:t>
            </a:r>
            <a:r>
              <a:rPr lang="es-MX" sz="1200" dirty="0">
                <a:latin typeface="Consolas" panose="020B0609020204030204" pitchFamily="49" charset="0"/>
              </a:rPr>
              <a:t> sex == 'F':</a:t>
            </a:r>
          </a:p>
          <a:p>
            <a:r>
              <a:rPr lang="es-MX" sz="1200" dirty="0">
                <a:latin typeface="Consolas" panose="020B0609020204030204" pitchFamily="49" charset="0"/>
              </a:rPr>
              <a:t>  valor_entrada = PRECIO_MUJER</a:t>
            </a:r>
          </a:p>
          <a:p>
            <a:r>
              <a:rPr lang="es-MX" sz="1200" dirty="0" err="1">
                <a:latin typeface="Consolas" panose="020B0609020204030204" pitchFamily="49" charset="0"/>
              </a:rPr>
              <a:t>print</a:t>
            </a:r>
            <a:r>
              <a:rPr lang="es-MX" sz="1200" dirty="0">
                <a:latin typeface="Consolas" panose="020B0609020204030204" pitchFamily="49" charset="0"/>
              </a:rPr>
              <a:t>(f'Valor de la entrada: ${valor_entrada}')</a:t>
            </a:r>
            <a:endParaRPr lang="es-CO" sz="1200" dirty="0">
              <a:latin typeface="Consolas" panose="020B0609020204030204" pitchFamily="49" charset="0"/>
            </a:endParaRPr>
          </a:p>
        </p:txBody>
      </p:sp>
      <p:sp>
        <p:nvSpPr>
          <p:cNvPr id="32" name="CuadroTexto 31">
            <a:extLst>
              <a:ext uri="{FF2B5EF4-FFF2-40B4-BE49-F238E27FC236}">
                <a16:creationId xmlns:a16="http://schemas.microsoft.com/office/drawing/2014/main" id="{88238F3D-857F-4AB8-A25A-119ABDBDB707}"/>
              </a:ext>
            </a:extLst>
          </p:cNvPr>
          <p:cNvSpPr txBox="1"/>
          <p:nvPr/>
        </p:nvSpPr>
        <p:spPr>
          <a:xfrm>
            <a:off x="1882177" y="5569835"/>
            <a:ext cx="154578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1200" dirty="0">
                <a:hlinkClick r:id="rId2"/>
              </a:rPr>
              <a:t>Link de ejecución</a:t>
            </a:r>
            <a:endParaRPr lang="es-CO" sz="1200" dirty="0"/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1684D388-80A3-44CA-A7FD-D2392EF7376A}"/>
              </a:ext>
            </a:extLst>
          </p:cNvPr>
          <p:cNvSpPr txBox="1"/>
          <p:nvPr/>
        </p:nvSpPr>
        <p:spPr>
          <a:xfrm>
            <a:off x="234641" y="1397675"/>
            <a:ext cx="4819959" cy="193899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s-MX" sz="1200" dirty="0">
                <a:latin typeface="Consolas" panose="020B0609020204030204" pitchFamily="49" charset="0"/>
              </a:rPr>
              <a:t>Inicio</a:t>
            </a:r>
          </a:p>
          <a:p>
            <a:r>
              <a:rPr lang="es-MX" sz="1200" dirty="0">
                <a:latin typeface="Consolas" panose="020B0609020204030204" pitchFamily="49" charset="0"/>
              </a:rPr>
              <a:t>  PRECIO_HOMBRE = 10000</a:t>
            </a:r>
          </a:p>
          <a:p>
            <a:r>
              <a:rPr lang="es-MX" sz="1200" dirty="0">
                <a:latin typeface="Consolas" panose="020B0609020204030204" pitchFamily="49" charset="0"/>
              </a:rPr>
              <a:t>  PRECIO_MUJER = PRECIO_HOMBRE/2</a:t>
            </a:r>
          </a:p>
          <a:p>
            <a:r>
              <a:rPr lang="es-MX" sz="1200" dirty="0">
                <a:latin typeface="Consolas" panose="020B0609020204030204" pitchFamily="49" charset="0"/>
              </a:rPr>
              <a:t>  valor_entrada = PRECIO_HOMBRE </a:t>
            </a:r>
          </a:p>
          <a:p>
            <a:r>
              <a:rPr lang="es-MX" sz="1200" dirty="0">
                <a:latin typeface="Consolas" panose="020B0609020204030204" pitchFamily="49" charset="0"/>
              </a:rPr>
              <a:t>  Leer(sex)</a:t>
            </a:r>
          </a:p>
          <a:p>
            <a:r>
              <a:rPr lang="es-MX" sz="1200" dirty="0">
                <a:latin typeface="Consolas" panose="020B0609020204030204" pitchFamily="49" charset="0"/>
              </a:rPr>
              <a:t>  Si (sex == 'F') Entonces    </a:t>
            </a:r>
          </a:p>
          <a:p>
            <a:r>
              <a:rPr lang="es-MX" sz="1200" dirty="0">
                <a:latin typeface="Consolas" panose="020B0609020204030204" pitchFamily="49" charset="0"/>
              </a:rPr>
              <a:t>    valor_entrada = PRECIO_MUJER</a:t>
            </a:r>
          </a:p>
          <a:p>
            <a:r>
              <a:rPr lang="es-MX" sz="1200" dirty="0">
                <a:latin typeface="Consolas" panose="020B0609020204030204" pitchFamily="49" charset="0"/>
              </a:rPr>
              <a:t>  Fin_Si</a:t>
            </a:r>
          </a:p>
          <a:p>
            <a:r>
              <a:rPr lang="es-MX" sz="1200" dirty="0">
                <a:latin typeface="Consolas" panose="020B0609020204030204" pitchFamily="49" charset="0"/>
              </a:rPr>
              <a:t>  Escribir(valor_entrada)</a:t>
            </a:r>
          </a:p>
          <a:p>
            <a:r>
              <a:rPr lang="es-MX" sz="1200" dirty="0">
                <a:latin typeface="Consolas" panose="020B0609020204030204" pitchFamily="49" charset="0"/>
              </a:rPr>
              <a:t>Fin</a:t>
            </a:r>
            <a:endParaRPr lang="es-CO" sz="1200" dirty="0">
              <a:latin typeface="Consolas" panose="020B0609020204030204" pitchFamily="49" charset="0"/>
            </a:endParaRPr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48B5F151-AF6D-4747-9409-8A193871E45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42885" y="807020"/>
            <a:ext cx="3422082" cy="5408835"/>
          </a:xfrm>
          <a:prstGeom prst="rect">
            <a:avLst/>
          </a:prstGeom>
        </p:spPr>
      </p:pic>
      <p:sp>
        <p:nvSpPr>
          <p:cNvPr id="11" name="CuadroTexto 10">
            <a:extLst>
              <a:ext uri="{FF2B5EF4-FFF2-40B4-BE49-F238E27FC236}">
                <a16:creationId xmlns:a16="http://schemas.microsoft.com/office/drawing/2014/main" id="{A076AC16-7946-43AA-964D-640E50389065}"/>
              </a:ext>
            </a:extLst>
          </p:cNvPr>
          <p:cNvSpPr txBox="1"/>
          <p:nvPr/>
        </p:nvSpPr>
        <p:spPr>
          <a:xfrm>
            <a:off x="137440" y="997565"/>
            <a:ext cx="242416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O" sz="2000" b="1" dirty="0"/>
              <a:t>Pseudocódigo</a:t>
            </a:r>
          </a:p>
        </p:txBody>
      </p:sp>
      <p:sp>
        <p:nvSpPr>
          <p:cNvPr id="12" name="CuadroTexto 11">
            <a:extLst>
              <a:ext uri="{FF2B5EF4-FFF2-40B4-BE49-F238E27FC236}">
                <a16:creationId xmlns:a16="http://schemas.microsoft.com/office/drawing/2014/main" id="{7540367B-B00B-4326-B731-D87F0A696ADF}"/>
              </a:ext>
            </a:extLst>
          </p:cNvPr>
          <p:cNvSpPr txBox="1"/>
          <p:nvPr/>
        </p:nvSpPr>
        <p:spPr>
          <a:xfrm>
            <a:off x="173432" y="3656666"/>
            <a:ext cx="242416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O" sz="2000" b="1" dirty="0"/>
              <a:t>Python</a:t>
            </a:r>
          </a:p>
        </p:txBody>
      </p:sp>
    </p:spTree>
    <p:extLst>
      <p:ext uri="{BB962C8B-B14F-4D97-AF65-F5344CB8AC3E}">
        <p14:creationId xmlns:p14="http://schemas.microsoft.com/office/powerpoint/2010/main" val="224153231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4 Título"/>
          <p:cNvSpPr>
            <a:spLocks noGrp="1"/>
          </p:cNvSpPr>
          <p:nvPr>
            <p:ph type="title"/>
          </p:nvPr>
        </p:nvSpPr>
        <p:spPr>
          <a:xfrm>
            <a:off x="223878" y="110169"/>
            <a:ext cx="8452578" cy="782960"/>
          </a:xfrm>
        </p:spPr>
        <p:txBody>
          <a:bodyPr>
            <a:normAutofit/>
          </a:bodyPr>
          <a:lstStyle/>
          <a:p>
            <a:r>
              <a:rPr lang="es-CO" dirty="0"/>
              <a:t>Alternativa simple</a:t>
            </a:r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F1CE28-A3C7-48DC-84A2-8FB08D6123C5}" type="slidenum">
              <a:rPr lang="en-US" smtClean="0"/>
              <a:pPr/>
              <a:t>32</a:t>
            </a:fld>
            <a:endParaRPr lang="en-US" dirty="0"/>
          </a:p>
        </p:txBody>
      </p:sp>
      <p:sp>
        <p:nvSpPr>
          <p:cNvPr id="13" name="12 Rectángulo"/>
          <p:cNvSpPr/>
          <p:nvPr/>
        </p:nvSpPr>
        <p:spPr>
          <a:xfrm>
            <a:off x="223878" y="893129"/>
            <a:ext cx="8696244" cy="196977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s-CO" sz="2200" b="1" dirty="0"/>
              <a:t>Ejemplo 2:</a:t>
            </a:r>
          </a:p>
          <a:p>
            <a:r>
              <a:rPr lang="es-CO" sz="2000" dirty="0"/>
              <a:t>En una empresa le dan a los empleados un subsidio de transporte si el sueldo base de estos es menor que el salario mínimo ($2000000), este subsidio es el 30% del sueldo base. Hacer un algoritmo que calcule el salario neto de un empleado (sueldo base mas prestaciones si el empleado tiene derecho a estas). Los datos de entrada son la cedula y el sueldo base.</a:t>
            </a:r>
            <a:endParaRPr lang="es-CO" sz="2400" dirty="0"/>
          </a:p>
        </p:txBody>
      </p:sp>
      <p:pic>
        <p:nvPicPr>
          <p:cNvPr id="15362" name="Picture 2" descr="http://www.hungerculture.com/wp-content/uploads/2014/02/simpsons-visa-copa-mundo-futbol.jp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99792" y="3308865"/>
            <a:ext cx="4039840" cy="26905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2271368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4 Título"/>
          <p:cNvSpPr>
            <a:spLocks noGrp="1"/>
          </p:cNvSpPr>
          <p:nvPr>
            <p:ph type="title"/>
          </p:nvPr>
        </p:nvSpPr>
        <p:spPr>
          <a:xfrm>
            <a:off x="147637" y="215471"/>
            <a:ext cx="4680520" cy="566936"/>
          </a:xfrm>
        </p:spPr>
        <p:txBody>
          <a:bodyPr>
            <a:normAutofit fontScale="90000"/>
          </a:bodyPr>
          <a:lstStyle/>
          <a:p>
            <a:r>
              <a:rPr lang="es-CO" dirty="0"/>
              <a:t>Alternativa simple</a:t>
            </a:r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F1CE28-A3C7-48DC-84A2-8FB08D6123C5}" type="slidenum">
              <a:rPr lang="en-US" smtClean="0"/>
              <a:pPr/>
              <a:t>33</a:t>
            </a:fld>
            <a:endParaRPr lang="en-US" dirty="0"/>
          </a:p>
        </p:txBody>
      </p:sp>
      <p:sp>
        <p:nvSpPr>
          <p:cNvPr id="13" name="12 Rectángulo"/>
          <p:cNvSpPr/>
          <p:nvPr/>
        </p:nvSpPr>
        <p:spPr>
          <a:xfrm>
            <a:off x="165992" y="1006440"/>
            <a:ext cx="8890719" cy="163121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s-CO" sz="2000" b="1" dirty="0"/>
              <a:t>Ejemplos - solución: </a:t>
            </a:r>
            <a:r>
              <a:rPr lang="es-CO" sz="2000" dirty="0"/>
              <a:t>En una empresa le dan a los empleados un </a:t>
            </a:r>
            <a:r>
              <a:rPr lang="es-CO" sz="2000" b="1" dirty="0">
                <a:highlight>
                  <a:srgbClr val="FFFF00"/>
                </a:highlight>
              </a:rPr>
              <a:t>subsidio</a:t>
            </a:r>
            <a:r>
              <a:rPr lang="es-CO" sz="2000" dirty="0">
                <a:highlight>
                  <a:srgbClr val="FFFF00"/>
                </a:highlight>
              </a:rPr>
              <a:t> </a:t>
            </a:r>
            <a:r>
              <a:rPr lang="es-CO" sz="2000" b="1" dirty="0">
                <a:highlight>
                  <a:srgbClr val="FFFF00"/>
                </a:highlight>
              </a:rPr>
              <a:t>de transporte</a:t>
            </a:r>
            <a:r>
              <a:rPr lang="es-CO" sz="2000" dirty="0"/>
              <a:t> si el </a:t>
            </a:r>
            <a:r>
              <a:rPr lang="es-CO" sz="2000" b="1" dirty="0">
                <a:highlight>
                  <a:srgbClr val="FFFF00"/>
                </a:highlight>
              </a:rPr>
              <a:t>sueldo base</a:t>
            </a:r>
            <a:r>
              <a:rPr lang="es-CO" sz="2000" dirty="0"/>
              <a:t> </a:t>
            </a:r>
            <a:r>
              <a:rPr lang="es-CO" sz="2000" b="1" dirty="0"/>
              <a:t>de estos </a:t>
            </a:r>
            <a:r>
              <a:rPr lang="es-CO" sz="2000" u="sng" dirty="0">
                <a:solidFill>
                  <a:schemeClr val="accent2">
                    <a:lumMod val="75000"/>
                  </a:schemeClr>
                </a:solidFill>
              </a:rPr>
              <a:t>es menor que el salario mínimo ($2000000)</a:t>
            </a:r>
            <a:r>
              <a:rPr lang="es-CO" sz="2000" dirty="0"/>
              <a:t>, este subsidio es el </a:t>
            </a:r>
            <a:r>
              <a:rPr lang="es-CO" sz="2000" u="sng" dirty="0"/>
              <a:t>30% del sueldo base</a:t>
            </a:r>
            <a:r>
              <a:rPr lang="es-CO" sz="2000" dirty="0"/>
              <a:t>. Hacer un algoritmo que calcule el </a:t>
            </a:r>
            <a:r>
              <a:rPr lang="es-CO" sz="2000" b="1" dirty="0">
                <a:highlight>
                  <a:srgbClr val="FFFF00"/>
                </a:highlight>
              </a:rPr>
              <a:t>salario neto</a:t>
            </a:r>
            <a:r>
              <a:rPr lang="es-CO" sz="2000" b="1" dirty="0"/>
              <a:t> </a:t>
            </a:r>
            <a:r>
              <a:rPr lang="es-CO" sz="2000" dirty="0"/>
              <a:t>de un empleado (sueldo base mas prestaciones si el empleado tiene derecho a estas). Los datos de entrada son la </a:t>
            </a:r>
            <a:r>
              <a:rPr lang="es-CO" sz="2000" b="1" dirty="0">
                <a:highlight>
                  <a:srgbClr val="FFFF00"/>
                </a:highlight>
              </a:rPr>
              <a:t>cedula</a:t>
            </a:r>
            <a:r>
              <a:rPr lang="es-CO" sz="2000" dirty="0"/>
              <a:t> y el </a:t>
            </a:r>
            <a:r>
              <a:rPr lang="es-CO" sz="2000" b="1" dirty="0">
                <a:highlight>
                  <a:srgbClr val="FFFF00"/>
                </a:highlight>
              </a:rPr>
              <a:t>sueldo base</a:t>
            </a:r>
            <a:r>
              <a:rPr lang="es-CO" sz="2000" dirty="0"/>
              <a:t>.</a:t>
            </a:r>
            <a:endParaRPr lang="es-CO" sz="2400" dirty="0"/>
          </a:p>
        </p:txBody>
      </p:sp>
      <p:sp>
        <p:nvSpPr>
          <p:cNvPr id="9" name="5 CuadroTexto"/>
          <p:cNvSpPr txBox="1"/>
          <p:nvPr/>
        </p:nvSpPr>
        <p:spPr>
          <a:xfrm>
            <a:off x="144908" y="2708920"/>
            <a:ext cx="4368775" cy="38779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O" b="1" dirty="0"/>
              <a:t>Datos de entrada: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CO" sz="1600" dirty="0"/>
              <a:t>Cedula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CO" sz="1600" dirty="0"/>
              <a:t>Sueldo base</a:t>
            </a:r>
          </a:p>
          <a:p>
            <a:r>
              <a:rPr lang="es-CO" b="1" dirty="0"/>
              <a:t>Datos de salida:</a:t>
            </a:r>
            <a:r>
              <a:rPr lang="es-CO" sz="1600" b="1" dirty="0"/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CO" sz="1600" dirty="0"/>
              <a:t>Salario neto</a:t>
            </a:r>
          </a:p>
          <a:p>
            <a:r>
              <a:rPr lang="es-CO" b="1" dirty="0"/>
              <a:t>Definición de variables: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CO" sz="1600" b="1" dirty="0"/>
              <a:t>Entrada/salida:</a:t>
            </a:r>
          </a:p>
          <a:p>
            <a:pPr marL="800100" lvl="1" indent="-342900">
              <a:buFont typeface="Arial" pitchFamily="34" charset="0"/>
              <a:buChar char="•"/>
            </a:pPr>
            <a:r>
              <a:rPr lang="es-CO" sz="1600" b="1" dirty="0"/>
              <a:t>ID</a:t>
            </a:r>
            <a:r>
              <a:rPr lang="es-CO" sz="1600" dirty="0"/>
              <a:t>: Cedula</a:t>
            </a:r>
          </a:p>
          <a:p>
            <a:pPr marL="800100" lvl="1" indent="-342900">
              <a:buFont typeface="Arial" pitchFamily="34" charset="0"/>
              <a:buChar char="•"/>
            </a:pPr>
            <a:r>
              <a:rPr lang="es-CO" sz="1600" b="1" dirty="0"/>
              <a:t>sal_base</a:t>
            </a:r>
            <a:r>
              <a:rPr lang="es-CO" sz="1600" dirty="0"/>
              <a:t>: Sueldo base</a:t>
            </a:r>
          </a:p>
          <a:p>
            <a:pPr marL="800100" lvl="1" indent="-342900">
              <a:buFont typeface="Arial" pitchFamily="34" charset="0"/>
              <a:buChar char="•"/>
            </a:pPr>
            <a:r>
              <a:rPr lang="es-CO" sz="1600" b="1" dirty="0" err="1"/>
              <a:t>sal_neto</a:t>
            </a:r>
            <a:r>
              <a:rPr lang="es-CO" sz="1600" dirty="0"/>
              <a:t>: Salario neto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CO" sz="1600" b="1" dirty="0"/>
              <a:t>Auxiliares:</a:t>
            </a:r>
          </a:p>
          <a:p>
            <a:pPr marL="800100" lvl="1" indent="-342900">
              <a:buFont typeface="Arial" pitchFamily="34" charset="0"/>
              <a:buChar char="•"/>
            </a:pPr>
            <a:r>
              <a:rPr lang="es-CO" sz="1600" b="1" dirty="0">
                <a:latin typeface="Consolas" panose="020B0609020204030204" pitchFamily="49" charset="0"/>
              </a:rPr>
              <a:t>subsidio</a:t>
            </a:r>
            <a:r>
              <a:rPr lang="es-CO" sz="1600" dirty="0"/>
              <a:t>: Subsidio de transporte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CO" sz="1600" b="1" dirty="0"/>
              <a:t>Constantes:</a:t>
            </a:r>
          </a:p>
          <a:p>
            <a:pPr marL="800100" lvl="1" indent="-342900">
              <a:buFont typeface="Arial" pitchFamily="34" charset="0"/>
              <a:buChar char="•"/>
            </a:pPr>
            <a:r>
              <a:rPr lang="es-CO" sz="1600" b="1" dirty="0">
                <a:latin typeface="Consolas" panose="020B0609020204030204" pitchFamily="49" charset="0"/>
              </a:rPr>
              <a:t>SALARIO_MIN</a:t>
            </a:r>
            <a:r>
              <a:rPr lang="es-CO" sz="1600" dirty="0"/>
              <a:t>: Salario mínimo (2000000)</a:t>
            </a:r>
          </a:p>
        </p:txBody>
      </p:sp>
      <p:sp>
        <p:nvSpPr>
          <p:cNvPr id="2" name="1 Rectángulo"/>
          <p:cNvSpPr/>
          <p:nvPr/>
        </p:nvSpPr>
        <p:spPr>
          <a:xfrm>
            <a:off x="4630318" y="2708920"/>
            <a:ext cx="4104456" cy="110799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s-CO" b="1" dirty="0"/>
              <a:t>Proceso: </a:t>
            </a:r>
          </a:p>
          <a:p>
            <a:pPr marL="342900" indent="-342900">
              <a:buFont typeface="+mj-lt"/>
              <a:buAutoNum type="arabicPeriod"/>
            </a:pPr>
            <a:r>
              <a:rPr lang="es-CO" sz="1600" dirty="0"/>
              <a:t>Comparar sueldo base con salario mínimo.</a:t>
            </a:r>
          </a:p>
          <a:p>
            <a:pPr marL="342900" indent="-342900">
              <a:buFont typeface="+mj-lt"/>
              <a:buAutoNum type="arabicPeriod"/>
            </a:pPr>
            <a:r>
              <a:rPr lang="es-CO" sz="1600" dirty="0"/>
              <a:t>De acuerdo a la comparación recalcular salario neto.</a:t>
            </a:r>
            <a:endParaRPr lang="es-CO" sz="1600" i="1" dirty="0"/>
          </a:p>
        </p:txBody>
      </p:sp>
    </p:spTree>
    <p:extLst>
      <p:ext uri="{BB962C8B-B14F-4D97-AF65-F5344CB8AC3E}">
        <p14:creationId xmlns:p14="http://schemas.microsoft.com/office/powerpoint/2010/main" val="3691709326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4 Título"/>
          <p:cNvSpPr>
            <a:spLocks noGrp="1"/>
          </p:cNvSpPr>
          <p:nvPr>
            <p:ph type="title"/>
          </p:nvPr>
        </p:nvSpPr>
        <p:spPr>
          <a:xfrm>
            <a:off x="314015" y="439063"/>
            <a:ext cx="4511597" cy="568529"/>
          </a:xfrm>
        </p:spPr>
        <p:txBody>
          <a:bodyPr>
            <a:normAutofit fontScale="90000"/>
          </a:bodyPr>
          <a:lstStyle/>
          <a:p>
            <a:r>
              <a:rPr lang="es-CO" dirty="0"/>
              <a:t>Alternativa simple</a:t>
            </a:r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F1CE28-A3C7-48DC-84A2-8FB08D6123C5}" type="slidenum">
              <a:rPr lang="en-US" smtClean="0"/>
              <a:pPr/>
              <a:t>34</a:t>
            </a:fld>
            <a:endParaRPr lang="en-US" dirty="0"/>
          </a:p>
        </p:txBody>
      </p:sp>
      <p:pic>
        <p:nvPicPr>
          <p:cNvPr id="23" name="Picture 2" descr="http://www.hungerculture.com/wp-content/uploads/2014/02/simpsons-visa-copa-mundo-futbol.jp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76986" y="3571552"/>
            <a:ext cx="3538364" cy="23565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aphicFrame>
        <p:nvGraphicFramePr>
          <p:cNvPr id="16" name="15 Tab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44653960"/>
              </p:ext>
            </p:extLst>
          </p:nvPr>
        </p:nvGraphicFramePr>
        <p:xfrm>
          <a:off x="790782" y="4390492"/>
          <a:ext cx="3464703" cy="9144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5490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5490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5490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27195">
                <a:tc>
                  <a:txBody>
                    <a:bodyPr/>
                    <a:lstStyle/>
                    <a:p>
                      <a:pPr algn="ctr"/>
                      <a:r>
                        <a:rPr lang="es-CO" sz="1600" b="1" dirty="0">
                          <a:solidFill>
                            <a:schemeClr val="bg1"/>
                          </a:solidFill>
                          <a:latin typeface="+mn-lt"/>
                          <a:cs typeface="Consolas" panose="020B0609020204030204" pitchFamily="49" charset="0"/>
                        </a:rPr>
                        <a:t>ID</a:t>
                      </a:r>
                    </a:p>
                  </a:txBody>
                  <a:tcP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1600" b="1" dirty="0">
                          <a:solidFill>
                            <a:schemeClr val="bg1"/>
                          </a:solidFill>
                          <a:latin typeface="+mn-lt"/>
                          <a:cs typeface="Consolas" panose="020B0609020204030204" pitchFamily="49" charset="0"/>
                        </a:rPr>
                        <a:t>sal_base</a:t>
                      </a:r>
                    </a:p>
                  </a:txBody>
                  <a:tcP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1600" b="1" dirty="0">
                          <a:solidFill>
                            <a:schemeClr val="bg1"/>
                          </a:solidFill>
                          <a:latin typeface="+mn-lt"/>
                          <a:cs typeface="Consolas" panose="020B0609020204030204" pitchFamily="49" charset="0"/>
                        </a:rPr>
                        <a:t>salNeto</a:t>
                      </a:r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2429">
                <a:tc>
                  <a:txBody>
                    <a:bodyPr/>
                    <a:lstStyle/>
                    <a:p>
                      <a:pPr algn="ctr"/>
                      <a:r>
                        <a:rPr lang="es-CO" sz="1600" b="0" dirty="0">
                          <a:latin typeface="+mn-lt"/>
                          <a:cs typeface="Consolas" panose="020B0609020204030204" pitchFamily="49" charset="0"/>
                        </a:rPr>
                        <a:t>"0000"</a:t>
                      </a:r>
                    </a:p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CO" sz="1600" b="0" dirty="0">
                          <a:latin typeface="+mn-lt"/>
                          <a:cs typeface="Consolas" panose="020B0609020204030204" pitchFamily="49" charset="0"/>
                        </a:rPr>
                        <a:t>"0001"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1600" b="0" dirty="0">
                          <a:latin typeface="+mn-lt"/>
                          <a:cs typeface="Consolas" panose="020B0609020204030204" pitchFamily="49" charset="0"/>
                        </a:rPr>
                        <a:t>1000000</a:t>
                      </a:r>
                    </a:p>
                    <a:p>
                      <a:pPr algn="ctr"/>
                      <a:r>
                        <a:rPr lang="es-CO" sz="1600" b="0" dirty="0">
                          <a:latin typeface="+mn-lt"/>
                          <a:cs typeface="Consolas" panose="020B0609020204030204" pitchFamily="49" charset="0"/>
                        </a:rPr>
                        <a:t>3000000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1600" b="0" dirty="0">
                          <a:latin typeface="+mn-lt"/>
                          <a:cs typeface="Consolas" panose="020B0609020204030204" pitchFamily="49" charset="0"/>
                        </a:rPr>
                        <a:t>1300000</a:t>
                      </a:r>
                    </a:p>
                    <a:p>
                      <a:pPr algn="ctr"/>
                      <a:r>
                        <a:rPr lang="es-CO" sz="1600" b="0" dirty="0">
                          <a:latin typeface="+mn-lt"/>
                          <a:cs typeface="Consolas" panose="020B0609020204030204" pitchFamily="49" charset="0"/>
                        </a:rPr>
                        <a:t>3000000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7" name="6 Rectángulo"/>
          <p:cNvSpPr/>
          <p:nvPr/>
        </p:nvSpPr>
        <p:spPr>
          <a:xfrm>
            <a:off x="314015" y="3754936"/>
            <a:ext cx="237167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s-CO" b="1" dirty="0"/>
              <a:t>Resultados esperados: </a:t>
            </a:r>
            <a:endParaRPr lang="es-CO" dirty="0"/>
          </a:p>
        </p:txBody>
      </p:sp>
      <p:grpSp>
        <p:nvGrpSpPr>
          <p:cNvPr id="13" name="Grupo 12">
            <a:extLst>
              <a:ext uri="{FF2B5EF4-FFF2-40B4-BE49-F238E27FC236}">
                <a16:creationId xmlns:a16="http://schemas.microsoft.com/office/drawing/2014/main" id="{14513A08-D924-4C67-8D04-E19E6B9B1BC2}"/>
              </a:ext>
            </a:extLst>
          </p:cNvPr>
          <p:cNvGrpSpPr/>
          <p:nvPr/>
        </p:nvGrpSpPr>
        <p:grpSpPr>
          <a:xfrm>
            <a:off x="506904" y="1124744"/>
            <a:ext cx="8202163" cy="2303543"/>
            <a:chOff x="506904" y="1052736"/>
            <a:chExt cx="8202163" cy="2303543"/>
          </a:xfrm>
        </p:grpSpPr>
        <p:sp>
          <p:nvSpPr>
            <p:cNvPr id="2" name="1 Rectángulo"/>
            <p:cNvSpPr/>
            <p:nvPr/>
          </p:nvSpPr>
          <p:spPr>
            <a:xfrm>
              <a:off x="805015" y="1833404"/>
              <a:ext cx="864339" cy="461665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s-CO" sz="1200" dirty="0">
                  <a:latin typeface="Consolas" panose="020B0609020204030204" pitchFamily="49" charset="0"/>
                  <a:cs typeface="Consolas" panose="020B0609020204030204" pitchFamily="49" charset="0"/>
                </a:rPr>
                <a:t>ID</a:t>
              </a:r>
            </a:p>
            <a:p>
              <a:r>
                <a:rPr lang="es-CO" sz="1200" dirty="0">
                  <a:latin typeface="Consolas" panose="020B0609020204030204" pitchFamily="49" charset="0"/>
                  <a:cs typeface="Consolas" panose="020B0609020204030204" pitchFamily="49" charset="0"/>
                </a:rPr>
                <a:t>sal_base</a:t>
              </a:r>
            </a:p>
          </p:txBody>
        </p:sp>
        <p:sp>
          <p:nvSpPr>
            <p:cNvPr id="21" name="20 Rectángulo"/>
            <p:cNvSpPr/>
            <p:nvPr/>
          </p:nvSpPr>
          <p:spPr>
            <a:xfrm>
              <a:off x="7545213" y="1709901"/>
              <a:ext cx="864339" cy="276999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s-CO" sz="1200" dirty="0" err="1">
                  <a:latin typeface="Consolas" panose="020B0609020204030204" pitchFamily="49" charset="0"/>
                  <a:cs typeface="Consolas" panose="020B0609020204030204" pitchFamily="49" charset="0"/>
                </a:rPr>
                <a:t>sal_neto</a:t>
              </a:r>
              <a:endParaRPr lang="es-CO" sz="1200" dirty="0"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  <p:grpSp>
          <p:nvGrpSpPr>
            <p:cNvPr id="6" name="5 Grupo"/>
            <p:cNvGrpSpPr/>
            <p:nvPr/>
          </p:nvGrpSpPr>
          <p:grpSpPr>
            <a:xfrm>
              <a:off x="506904" y="1052736"/>
              <a:ext cx="8202163" cy="783771"/>
              <a:chOff x="518399" y="1739458"/>
              <a:chExt cx="8202163" cy="783771"/>
            </a:xfrm>
          </p:grpSpPr>
          <p:sp>
            <p:nvSpPr>
              <p:cNvPr id="11" name="10 Rectángulo"/>
              <p:cNvSpPr/>
              <p:nvPr/>
            </p:nvSpPr>
            <p:spPr>
              <a:xfrm>
                <a:off x="518399" y="1879706"/>
                <a:ext cx="1345763" cy="498763"/>
              </a:xfrm>
              <a:prstGeom prst="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s-CO" b="1" dirty="0">
                    <a:solidFill>
                      <a:schemeClr val="tx1"/>
                    </a:solidFill>
                  </a:rPr>
                  <a:t>Inputs</a:t>
                </a:r>
              </a:p>
            </p:txBody>
          </p:sp>
          <p:sp>
            <p:nvSpPr>
              <p:cNvPr id="12" name="11 Rectángulo"/>
              <p:cNvSpPr/>
              <p:nvPr/>
            </p:nvSpPr>
            <p:spPr>
              <a:xfrm>
                <a:off x="3563888" y="1739458"/>
                <a:ext cx="2104858" cy="783771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s-CO" b="1" dirty="0"/>
                  <a:t>Process</a:t>
                </a:r>
              </a:p>
            </p:txBody>
          </p:sp>
          <p:sp>
            <p:nvSpPr>
              <p:cNvPr id="14" name="13 Rectángulo"/>
              <p:cNvSpPr/>
              <p:nvPr/>
            </p:nvSpPr>
            <p:spPr>
              <a:xfrm>
                <a:off x="7374799" y="1884602"/>
                <a:ext cx="1345763" cy="498763"/>
              </a:xfrm>
              <a:prstGeom prst="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s-CO" b="1" dirty="0">
                    <a:solidFill>
                      <a:schemeClr val="tx1"/>
                    </a:solidFill>
                  </a:rPr>
                  <a:t>Outputs</a:t>
                </a:r>
              </a:p>
            </p:txBody>
          </p:sp>
          <p:sp>
            <p:nvSpPr>
              <p:cNvPr id="15" name="14 Flecha derecha"/>
              <p:cNvSpPr/>
              <p:nvPr/>
            </p:nvSpPr>
            <p:spPr>
              <a:xfrm>
                <a:off x="1851561" y="2038875"/>
                <a:ext cx="1717589" cy="213756"/>
              </a:xfrm>
              <a:prstGeom prst="rightArrow">
                <a:avLst/>
              </a:prstGeom>
              <a:solidFill>
                <a:schemeClr val="bg1">
                  <a:lumMod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CO"/>
              </a:p>
            </p:txBody>
          </p:sp>
          <p:sp>
            <p:nvSpPr>
              <p:cNvPr id="22" name="21 Flecha derecha"/>
              <p:cNvSpPr/>
              <p:nvPr/>
            </p:nvSpPr>
            <p:spPr>
              <a:xfrm>
                <a:off x="5676075" y="2031618"/>
                <a:ext cx="1717589" cy="213756"/>
              </a:xfrm>
              <a:prstGeom prst="rightArrow">
                <a:avLst/>
              </a:prstGeom>
              <a:solidFill>
                <a:schemeClr val="bg1">
                  <a:lumMod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CO"/>
              </a:p>
            </p:txBody>
          </p:sp>
        </p:grpSp>
        <p:grpSp>
          <p:nvGrpSpPr>
            <p:cNvPr id="10" name="Grupo 9">
              <a:extLst>
                <a:ext uri="{FF2B5EF4-FFF2-40B4-BE49-F238E27FC236}">
                  <a16:creationId xmlns:a16="http://schemas.microsoft.com/office/drawing/2014/main" id="{37C7E3E8-5272-4823-90A0-99EFC08CB617}"/>
                </a:ext>
              </a:extLst>
            </p:cNvPr>
            <p:cNvGrpSpPr/>
            <p:nvPr/>
          </p:nvGrpSpPr>
          <p:grpSpPr>
            <a:xfrm>
              <a:off x="3450428" y="1750429"/>
              <a:ext cx="2771285" cy="1605850"/>
              <a:chOff x="3450428" y="1750429"/>
              <a:chExt cx="2771285" cy="1605850"/>
            </a:xfrm>
          </p:grpSpPr>
          <p:grpSp>
            <p:nvGrpSpPr>
              <p:cNvPr id="9" name="Grupo 8">
                <a:extLst>
                  <a:ext uri="{FF2B5EF4-FFF2-40B4-BE49-F238E27FC236}">
                    <a16:creationId xmlns:a16="http://schemas.microsoft.com/office/drawing/2014/main" id="{99192743-7879-4C99-A10E-FEBDB5BAB3DB}"/>
                  </a:ext>
                </a:extLst>
              </p:cNvPr>
              <p:cNvGrpSpPr/>
              <p:nvPr/>
            </p:nvGrpSpPr>
            <p:grpSpPr>
              <a:xfrm>
                <a:off x="3492425" y="1750429"/>
                <a:ext cx="2172155" cy="691988"/>
                <a:chOff x="3492425" y="1750429"/>
                <a:chExt cx="2172155" cy="691988"/>
              </a:xfrm>
            </p:grpSpPr>
            <p:sp>
              <p:nvSpPr>
                <p:cNvPr id="17" name="10 Rectángulo">
                  <a:extLst>
                    <a:ext uri="{FF2B5EF4-FFF2-40B4-BE49-F238E27FC236}">
                      <a16:creationId xmlns:a16="http://schemas.microsoft.com/office/drawing/2014/main" id="{C3D85E55-84B5-4536-8CAB-84671E91E279}"/>
                    </a:ext>
                  </a:extLst>
                </p:cNvPr>
                <p:cNvSpPr/>
                <p:nvPr/>
              </p:nvSpPr>
              <p:spPr>
                <a:xfrm>
                  <a:off x="3492425" y="1750429"/>
                  <a:ext cx="1345763" cy="498763"/>
                </a:xfrm>
                <a:prstGeom prst="rect">
                  <a:avLst/>
                </a:prstGeom>
                <a:noFill/>
                <a:ln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r>
                    <a:rPr lang="es-CO" b="1" dirty="0">
                      <a:solidFill>
                        <a:schemeClr val="tx1"/>
                      </a:solidFill>
                    </a:rPr>
                    <a:t>Constantes</a:t>
                  </a:r>
                </a:p>
              </p:txBody>
            </p:sp>
            <p:sp>
              <p:nvSpPr>
                <p:cNvPr id="18" name="2 Rectángulo">
                  <a:extLst>
                    <a:ext uri="{FF2B5EF4-FFF2-40B4-BE49-F238E27FC236}">
                      <a16:creationId xmlns:a16="http://schemas.microsoft.com/office/drawing/2014/main" id="{789800FC-9044-46C5-81E7-5E8C3E4E2069}"/>
                    </a:ext>
                  </a:extLst>
                </p:cNvPr>
                <p:cNvSpPr/>
                <p:nvPr/>
              </p:nvSpPr>
              <p:spPr>
                <a:xfrm>
                  <a:off x="3695771" y="2165418"/>
                  <a:ext cx="1968809" cy="276999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r>
                    <a:rPr lang="es-CO" sz="1200" dirty="0">
                      <a:latin typeface="Consolas" panose="020B0609020204030204" pitchFamily="49" charset="0"/>
                      <a:cs typeface="Consolas" panose="020B0609020204030204" pitchFamily="49" charset="0"/>
                      <a:sym typeface="Wingdings" panose="05000000000000000000" pitchFamily="2" charset="2"/>
                    </a:rPr>
                    <a:t>SALARIO_MIN = 2000000</a:t>
                  </a:r>
                  <a:endParaRPr lang="es-CO" sz="1200" dirty="0">
                    <a:latin typeface="Consolas" panose="020B0609020204030204" pitchFamily="49" charset="0"/>
                    <a:cs typeface="Consolas" panose="020B0609020204030204" pitchFamily="49" charset="0"/>
                  </a:endParaRPr>
                </a:p>
              </p:txBody>
            </p:sp>
          </p:grpSp>
          <p:grpSp>
            <p:nvGrpSpPr>
              <p:cNvPr id="8" name="Grupo 7">
                <a:extLst>
                  <a:ext uri="{FF2B5EF4-FFF2-40B4-BE49-F238E27FC236}">
                    <a16:creationId xmlns:a16="http://schemas.microsoft.com/office/drawing/2014/main" id="{A13B2414-1C54-4CC1-B121-3DFFCD8C19C8}"/>
                  </a:ext>
                </a:extLst>
              </p:cNvPr>
              <p:cNvGrpSpPr/>
              <p:nvPr/>
            </p:nvGrpSpPr>
            <p:grpSpPr>
              <a:xfrm>
                <a:off x="3450428" y="2448164"/>
                <a:ext cx="2771285" cy="908115"/>
                <a:chOff x="3450428" y="2448164"/>
                <a:chExt cx="2771285" cy="908115"/>
              </a:xfrm>
            </p:grpSpPr>
            <p:sp>
              <p:nvSpPr>
                <p:cNvPr id="3" name="2 Rectángulo"/>
                <p:cNvSpPr/>
                <p:nvPr/>
              </p:nvSpPr>
              <p:spPr>
                <a:xfrm>
                  <a:off x="3552393" y="2833059"/>
                  <a:ext cx="2669320" cy="523220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r>
                    <a:rPr lang="es-CO" sz="1400" dirty="0">
                      <a:latin typeface="Consolas" panose="020B0609020204030204" pitchFamily="49" charset="0"/>
                      <a:cs typeface="Consolas" panose="020B0609020204030204" pitchFamily="49" charset="0"/>
                    </a:rPr>
                    <a:t>subsidio </a:t>
                  </a:r>
                  <a:r>
                    <a:rPr lang="es-CO" sz="1400" dirty="0">
                      <a:latin typeface="Consolas" panose="020B0609020204030204" pitchFamily="49" charset="0"/>
                      <a:cs typeface="Consolas" panose="020B0609020204030204" pitchFamily="49" charset="0"/>
                      <a:sym typeface="Wingdings" panose="05000000000000000000" pitchFamily="2" charset="2"/>
                    </a:rPr>
                    <a:t>= 0.3*sal_base</a:t>
                  </a:r>
                </a:p>
                <a:p>
                  <a:r>
                    <a:rPr lang="es-CO" sz="1400" dirty="0">
                      <a:latin typeface="Consolas" panose="020B0609020204030204" pitchFamily="49" charset="0"/>
                      <a:cs typeface="Consolas" panose="020B0609020204030204" pitchFamily="49" charset="0"/>
                    </a:rPr>
                    <a:t>sal_neto </a:t>
                  </a:r>
                  <a:r>
                    <a:rPr lang="es-CO" sz="1400" dirty="0">
                      <a:latin typeface="Consolas" panose="020B0609020204030204" pitchFamily="49" charset="0"/>
                      <a:cs typeface="Consolas" panose="020B0609020204030204" pitchFamily="49" charset="0"/>
                      <a:sym typeface="Wingdings" panose="05000000000000000000" pitchFamily="2" charset="2"/>
                    </a:rPr>
                    <a:t>= </a:t>
                  </a:r>
                  <a:r>
                    <a:rPr lang="es-CO" sz="1400" dirty="0">
                      <a:latin typeface="Consolas" panose="020B0609020204030204" pitchFamily="49" charset="0"/>
                      <a:cs typeface="Consolas" panose="020B0609020204030204" pitchFamily="49" charset="0"/>
                    </a:rPr>
                    <a:t>sal_base + sub</a:t>
                  </a:r>
                  <a:endParaRPr lang="es-CO" sz="1400" dirty="0">
                    <a:latin typeface="Consolas" panose="020B0609020204030204" pitchFamily="49" charset="0"/>
                    <a:cs typeface="Consolas" panose="020B0609020204030204" pitchFamily="49" charset="0"/>
                    <a:sym typeface="Wingdings" panose="05000000000000000000" pitchFamily="2" charset="2"/>
                  </a:endParaRPr>
                </a:p>
              </p:txBody>
            </p:sp>
            <p:sp>
              <p:nvSpPr>
                <p:cNvPr id="19" name="10 Rectángulo">
                  <a:extLst>
                    <a:ext uri="{FF2B5EF4-FFF2-40B4-BE49-F238E27FC236}">
                      <a16:creationId xmlns:a16="http://schemas.microsoft.com/office/drawing/2014/main" id="{401DFC1B-B48B-4F67-9998-04A73DA1BEE2}"/>
                    </a:ext>
                  </a:extLst>
                </p:cNvPr>
                <p:cNvSpPr/>
                <p:nvPr/>
              </p:nvSpPr>
              <p:spPr>
                <a:xfrm>
                  <a:off x="3450428" y="2448164"/>
                  <a:ext cx="2206311" cy="498763"/>
                </a:xfrm>
                <a:prstGeom prst="rect">
                  <a:avLst/>
                </a:prstGeom>
                <a:noFill/>
                <a:ln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r>
                    <a:rPr lang="es-CO" b="1" dirty="0">
                      <a:solidFill>
                        <a:schemeClr val="tx1"/>
                      </a:solidFill>
                    </a:rPr>
                    <a:t>Variables auxiliares</a:t>
                  </a:r>
                </a:p>
              </p:txBody>
            </p:sp>
          </p:grpSp>
        </p:grpSp>
      </p:grpSp>
    </p:spTree>
    <p:extLst>
      <p:ext uri="{BB962C8B-B14F-4D97-AF65-F5344CB8AC3E}">
        <p14:creationId xmlns:p14="http://schemas.microsoft.com/office/powerpoint/2010/main" val="336552854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4 Título"/>
          <p:cNvSpPr>
            <a:spLocks noGrp="1"/>
          </p:cNvSpPr>
          <p:nvPr>
            <p:ph type="title"/>
          </p:nvPr>
        </p:nvSpPr>
        <p:spPr>
          <a:xfrm>
            <a:off x="359232" y="332656"/>
            <a:ext cx="5006498" cy="638944"/>
          </a:xfrm>
        </p:spPr>
        <p:txBody>
          <a:bodyPr>
            <a:normAutofit fontScale="90000"/>
          </a:bodyPr>
          <a:lstStyle/>
          <a:p>
            <a:r>
              <a:rPr lang="es-CO" dirty="0"/>
              <a:t>Alternativa simple</a:t>
            </a: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0D5528B2-E035-463C-9AC5-FAF67301AAAC}"/>
              </a:ext>
            </a:extLst>
          </p:cNvPr>
          <p:cNvSpPr txBox="1"/>
          <p:nvPr/>
        </p:nvSpPr>
        <p:spPr>
          <a:xfrm>
            <a:off x="254608" y="4155081"/>
            <a:ext cx="4986531" cy="175432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s-CO" sz="1200" dirty="0">
                <a:latin typeface="Consolas" panose="020B0609020204030204" pitchFamily="49" charset="0"/>
              </a:rPr>
              <a:t>SALARIO_MIN = 20000000</a:t>
            </a:r>
          </a:p>
          <a:p>
            <a:r>
              <a:rPr lang="es-CO" sz="1200" dirty="0">
                <a:latin typeface="Consolas" panose="020B0609020204030204" pitchFamily="49" charset="0"/>
              </a:rPr>
              <a:t>subsidio = 0</a:t>
            </a:r>
          </a:p>
          <a:p>
            <a:r>
              <a:rPr lang="es-CO" sz="1200" dirty="0">
                <a:latin typeface="Consolas" panose="020B0609020204030204" pitchFamily="49" charset="0"/>
              </a:rPr>
              <a:t>ID = input("Digite la cedula: ")</a:t>
            </a:r>
          </a:p>
          <a:p>
            <a:r>
              <a:rPr lang="es-CO" sz="1200" dirty="0">
                <a:latin typeface="Consolas" panose="020B0609020204030204" pitchFamily="49" charset="0"/>
              </a:rPr>
              <a:t>sal_base = int(input("Digite el salario base: "))</a:t>
            </a:r>
          </a:p>
          <a:p>
            <a:r>
              <a:rPr lang="es-CO" sz="1200" dirty="0">
                <a:latin typeface="Consolas" panose="020B0609020204030204" pitchFamily="49" charset="0"/>
              </a:rPr>
              <a:t>if(sal_base &lt; SALARIO_MIN):</a:t>
            </a:r>
          </a:p>
          <a:p>
            <a:r>
              <a:rPr lang="es-CO" sz="1200" dirty="0">
                <a:latin typeface="Consolas" panose="020B0609020204030204" pitchFamily="49" charset="0"/>
              </a:rPr>
              <a:t>    subsidio = 0.3*sal_base</a:t>
            </a:r>
          </a:p>
          <a:p>
            <a:r>
              <a:rPr lang="es-CO" sz="1200" dirty="0">
                <a:latin typeface="Consolas" panose="020B0609020204030204" pitchFamily="49" charset="0"/>
              </a:rPr>
              <a:t>sal_neto = sal_base + subsidio</a:t>
            </a:r>
          </a:p>
          <a:p>
            <a:r>
              <a:rPr lang="es-CO" sz="1200" dirty="0">
                <a:latin typeface="Consolas" panose="020B0609020204030204" pitchFamily="49" charset="0"/>
              </a:rPr>
              <a:t>print(ID + ' le corresponde como pago $', \</a:t>
            </a:r>
          </a:p>
          <a:p>
            <a:r>
              <a:rPr lang="es-CO" sz="1200" dirty="0">
                <a:latin typeface="Consolas" panose="020B0609020204030204" pitchFamily="49" charset="0"/>
              </a:rPr>
              <a:t>      sal_neto, </a:t>
            </a:r>
            <a:r>
              <a:rPr lang="es-CO" sz="1200" dirty="0" err="1">
                <a:latin typeface="Consolas" panose="020B0609020204030204" pitchFamily="49" charset="0"/>
              </a:rPr>
              <a:t>end</a:t>
            </a:r>
            <a:r>
              <a:rPr lang="es-CO" sz="1200" dirty="0">
                <a:latin typeface="Consolas" panose="020B0609020204030204" pitchFamily="49" charset="0"/>
              </a:rPr>
              <a:t> = "")</a:t>
            </a:r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067AE092-2B08-4397-9FC9-857AA2B3FA4A}"/>
              </a:ext>
            </a:extLst>
          </p:cNvPr>
          <p:cNvSpPr txBox="1"/>
          <p:nvPr/>
        </p:nvSpPr>
        <p:spPr>
          <a:xfrm>
            <a:off x="1974980" y="5977111"/>
            <a:ext cx="154578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1200" dirty="0">
                <a:hlinkClick r:id="rId2"/>
              </a:rPr>
              <a:t>Link de ejecución</a:t>
            </a:r>
            <a:endParaRPr lang="es-CO" sz="1200" dirty="0"/>
          </a:p>
        </p:txBody>
      </p:sp>
      <p:pic>
        <p:nvPicPr>
          <p:cNvPr id="9" name="Imagen 8">
            <a:extLst>
              <a:ext uri="{FF2B5EF4-FFF2-40B4-BE49-F238E27FC236}">
                <a16:creationId xmlns:a16="http://schemas.microsoft.com/office/drawing/2014/main" id="{812D9A00-50B7-4CCB-9834-0E318E6E7E4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08104" y="494253"/>
            <a:ext cx="3218461" cy="5692153"/>
          </a:xfrm>
          <a:prstGeom prst="rect">
            <a:avLst/>
          </a:prstGeom>
        </p:spPr>
      </p:pic>
      <p:sp>
        <p:nvSpPr>
          <p:cNvPr id="11" name="CuadroTexto 10">
            <a:extLst>
              <a:ext uri="{FF2B5EF4-FFF2-40B4-BE49-F238E27FC236}">
                <a16:creationId xmlns:a16="http://schemas.microsoft.com/office/drawing/2014/main" id="{7B623DA0-1408-4936-BD1E-E9BE40A3C677}"/>
              </a:ext>
            </a:extLst>
          </p:cNvPr>
          <p:cNvSpPr txBox="1"/>
          <p:nvPr/>
        </p:nvSpPr>
        <p:spPr>
          <a:xfrm>
            <a:off x="234641" y="1397675"/>
            <a:ext cx="5006498" cy="212365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s-MX" sz="1200" dirty="0">
                <a:latin typeface="Consolas" panose="020B0609020204030204" pitchFamily="49" charset="0"/>
              </a:rPr>
              <a:t>Inicio</a:t>
            </a:r>
          </a:p>
          <a:p>
            <a:r>
              <a:rPr lang="es-MX" sz="1200" dirty="0">
                <a:latin typeface="Consolas" panose="020B0609020204030204" pitchFamily="49" charset="0"/>
              </a:rPr>
              <a:t>  SALARIO_MIN = 2000000</a:t>
            </a:r>
          </a:p>
          <a:p>
            <a:r>
              <a:rPr lang="es-MX" sz="1200" dirty="0">
                <a:latin typeface="Consolas" panose="020B0609020204030204" pitchFamily="49" charset="0"/>
              </a:rPr>
              <a:t>  subsidio = 0</a:t>
            </a:r>
          </a:p>
          <a:p>
            <a:r>
              <a:rPr lang="es-MX" sz="1200" dirty="0">
                <a:latin typeface="Consolas" panose="020B0609020204030204" pitchFamily="49" charset="0"/>
              </a:rPr>
              <a:t>  Leer(ID)</a:t>
            </a:r>
          </a:p>
          <a:p>
            <a:r>
              <a:rPr lang="es-MX" sz="1200" dirty="0">
                <a:latin typeface="Consolas" panose="020B0609020204030204" pitchFamily="49" charset="0"/>
              </a:rPr>
              <a:t>  Leer(sal_base)</a:t>
            </a:r>
          </a:p>
          <a:p>
            <a:r>
              <a:rPr lang="es-MX" sz="1200" dirty="0">
                <a:latin typeface="Consolas" panose="020B0609020204030204" pitchFamily="49" charset="0"/>
              </a:rPr>
              <a:t>  Si (sal_base &lt; 2000000) Entonces    </a:t>
            </a:r>
          </a:p>
          <a:p>
            <a:r>
              <a:rPr lang="es-MX" sz="1200" dirty="0">
                <a:latin typeface="Consolas" panose="020B0609020204030204" pitchFamily="49" charset="0"/>
              </a:rPr>
              <a:t>    subsidio = 0.3*sal_base</a:t>
            </a:r>
          </a:p>
          <a:p>
            <a:r>
              <a:rPr lang="es-MX" sz="1200" dirty="0">
                <a:latin typeface="Consolas" panose="020B0609020204030204" pitchFamily="49" charset="0"/>
              </a:rPr>
              <a:t>  Fin_Si</a:t>
            </a:r>
          </a:p>
          <a:p>
            <a:r>
              <a:rPr lang="es-MX" sz="1200" dirty="0">
                <a:latin typeface="Consolas" panose="020B0609020204030204" pitchFamily="49" charset="0"/>
              </a:rPr>
              <a:t>  sal_neto = sal_base + subsidio</a:t>
            </a:r>
          </a:p>
          <a:p>
            <a:r>
              <a:rPr lang="es-MX" sz="1200" dirty="0">
                <a:latin typeface="Consolas" panose="020B0609020204030204" pitchFamily="49" charset="0"/>
              </a:rPr>
              <a:t>  Escribir(ID, sal_neto)</a:t>
            </a:r>
          </a:p>
          <a:p>
            <a:r>
              <a:rPr lang="es-MX" sz="1200" dirty="0">
                <a:latin typeface="Consolas" panose="020B0609020204030204" pitchFamily="49" charset="0"/>
              </a:rPr>
              <a:t>Fin</a:t>
            </a:r>
            <a:endParaRPr lang="es-CO" sz="1200" dirty="0">
              <a:latin typeface="Consolas" panose="020B0609020204030204" pitchFamily="49" charset="0"/>
            </a:endParaRPr>
          </a:p>
        </p:txBody>
      </p:sp>
      <p:sp>
        <p:nvSpPr>
          <p:cNvPr id="12" name="CuadroTexto 11">
            <a:extLst>
              <a:ext uri="{FF2B5EF4-FFF2-40B4-BE49-F238E27FC236}">
                <a16:creationId xmlns:a16="http://schemas.microsoft.com/office/drawing/2014/main" id="{953E91A0-6606-4785-88DA-9CD7061BCB5B}"/>
              </a:ext>
            </a:extLst>
          </p:cNvPr>
          <p:cNvSpPr txBox="1"/>
          <p:nvPr/>
        </p:nvSpPr>
        <p:spPr>
          <a:xfrm>
            <a:off x="137440" y="997565"/>
            <a:ext cx="242416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O" sz="2000" b="1" dirty="0"/>
              <a:t>Pseudocódigo</a:t>
            </a:r>
          </a:p>
        </p:txBody>
      </p:sp>
      <p:sp>
        <p:nvSpPr>
          <p:cNvPr id="13" name="CuadroTexto 12">
            <a:extLst>
              <a:ext uri="{FF2B5EF4-FFF2-40B4-BE49-F238E27FC236}">
                <a16:creationId xmlns:a16="http://schemas.microsoft.com/office/drawing/2014/main" id="{2FBD4BD5-A16B-4060-A3B2-8C13FC37A63D}"/>
              </a:ext>
            </a:extLst>
          </p:cNvPr>
          <p:cNvSpPr txBox="1"/>
          <p:nvPr/>
        </p:nvSpPr>
        <p:spPr>
          <a:xfrm>
            <a:off x="230282" y="3687267"/>
            <a:ext cx="242416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O" sz="2000" b="1" dirty="0"/>
              <a:t>Python</a:t>
            </a:r>
          </a:p>
        </p:txBody>
      </p:sp>
    </p:spTree>
    <p:extLst>
      <p:ext uri="{BB962C8B-B14F-4D97-AF65-F5344CB8AC3E}">
        <p14:creationId xmlns:p14="http://schemas.microsoft.com/office/powerpoint/2010/main" val="2049967078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4 Título"/>
          <p:cNvSpPr>
            <a:spLocks noGrp="1"/>
          </p:cNvSpPr>
          <p:nvPr>
            <p:ph type="title"/>
          </p:nvPr>
        </p:nvSpPr>
        <p:spPr>
          <a:xfrm>
            <a:off x="309845" y="552481"/>
            <a:ext cx="4262155" cy="549746"/>
          </a:xfrm>
        </p:spPr>
        <p:txBody>
          <a:bodyPr>
            <a:normAutofit fontScale="90000"/>
          </a:bodyPr>
          <a:lstStyle/>
          <a:p>
            <a:r>
              <a:rPr lang="es-CO" dirty="0"/>
              <a:t>Alternativa simple</a:t>
            </a:r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F1CE28-A3C7-48DC-84A2-8FB08D6123C5}" type="slidenum">
              <a:rPr lang="en-US" smtClean="0"/>
              <a:pPr/>
              <a:t>36</a:t>
            </a:fld>
            <a:endParaRPr lang="en-US" dirty="0"/>
          </a:p>
        </p:txBody>
      </p:sp>
      <p:graphicFrame>
        <p:nvGraphicFramePr>
          <p:cNvPr id="6" name="8 Tabla">
            <a:extLst>
              <a:ext uri="{FF2B5EF4-FFF2-40B4-BE49-F238E27FC236}">
                <a16:creationId xmlns:a16="http://schemas.microsoft.com/office/drawing/2014/main" id="{B39B7AD8-AE9C-441C-B094-98EFEB7B36C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04977806"/>
              </p:ext>
            </p:extLst>
          </p:nvPr>
        </p:nvGraphicFramePr>
        <p:xfrm>
          <a:off x="417435" y="3737571"/>
          <a:ext cx="4761837" cy="1902519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94541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7214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7214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7214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48039">
                <a:tc>
                  <a:txBody>
                    <a:bodyPr/>
                    <a:lstStyle/>
                    <a:p>
                      <a:pPr algn="ctr"/>
                      <a:r>
                        <a:rPr lang="es-CO" sz="1600" b="1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ID</a:t>
                      </a:r>
                    </a:p>
                  </a:txBody>
                  <a:tcPr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1600" b="1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sal_base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1600" b="1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subsidio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1600" b="1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sal_neto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8039">
                <a:tc>
                  <a:txBody>
                    <a:bodyPr/>
                    <a:lstStyle/>
                    <a:p>
                      <a:pPr algn="ctr"/>
                      <a:endParaRPr lang="es-CO" sz="1600" b="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  <a:p>
                      <a:pPr algn="ctr"/>
                      <a:endParaRPr lang="es-CO" sz="1600" b="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  <a:p>
                      <a:pPr algn="ctr"/>
                      <a:endParaRPr lang="es-CO" sz="1600" b="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  <a:p>
                      <a:pPr algn="ctr"/>
                      <a:endParaRPr lang="es-CO" sz="1600" b="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  <a:p>
                      <a:pPr algn="ctr"/>
                      <a:endParaRPr lang="es-CO" sz="1600" b="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  <a:p>
                      <a:pPr algn="ctr"/>
                      <a:endParaRPr lang="es-CO" sz="1600" b="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CO" sz="1600" b="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CO" sz="1600" b="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CO" sz="1600" b="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7" name="15 Tabla">
            <a:extLst>
              <a:ext uri="{FF2B5EF4-FFF2-40B4-BE49-F238E27FC236}">
                <a16:creationId xmlns:a16="http://schemas.microsoft.com/office/drawing/2014/main" id="{B42F7A3E-5D1B-4938-B6F4-9C27C815F75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02698237"/>
              </p:ext>
            </p:extLst>
          </p:nvPr>
        </p:nvGraphicFramePr>
        <p:xfrm>
          <a:off x="862660" y="1960116"/>
          <a:ext cx="3376923" cy="9144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2564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564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2564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08862">
                <a:tc>
                  <a:txBody>
                    <a:bodyPr/>
                    <a:lstStyle/>
                    <a:p>
                      <a:pPr algn="ctr"/>
                      <a:r>
                        <a:rPr lang="es-CO" sz="1600" b="1" dirty="0">
                          <a:solidFill>
                            <a:schemeClr val="bg1"/>
                          </a:solidFill>
                          <a:latin typeface="+mn-lt"/>
                          <a:cs typeface="Consolas" panose="020B0609020204030204" pitchFamily="49" charset="0"/>
                        </a:rPr>
                        <a:t>ID</a:t>
                      </a:r>
                    </a:p>
                  </a:txBody>
                  <a:tcP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1600" b="1" dirty="0">
                          <a:solidFill>
                            <a:schemeClr val="bg1"/>
                          </a:solidFill>
                          <a:latin typeface="+mn-lt"/>
                          <a:cs typeface="Consolas" panose="020B0609020204030204" pitchFamily="49" charset="0"/>
                        </a:rPr>
                        <a:t>sal_base</a:t>
                      </a:r>
                    </a:p>
                  </a:txBody>
                  <a:tcP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1600" b="1" dirty="0">
                          <a:solidFill>
                            <a:schemeClr val="bg1"/>
                          </a:solidFill>
                          <a:latin typeface="+mn-lt"/>
                          <a:cs typeface="Consolas" panose="020B0609020204030204" pitchFamily="49" charset="0"/>
                        </a:rPr>
                        <a:t>salNeto</a:t>
                      </a:r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0761">
                <a:tc>
                  <a:txBody>
                    <a:bodyPr/>
                    <a:lstStyle/>
                    <a:p>
                      <a:pPr algn="ctr"/>
                      <a:r>
                        <a:rPr lang="es-CO" sz="1600" b="0" dirty="0">
                          <a:latin typeface="+mn-lt"/>
                          <a:cs typeface="Consolas" panose="020B0609020204030204" pitchFamily="49" charset="0"/>
                        </a:rPr>
                        <a:t>"0000"</a:t>
                      </a:r>
                    </a:p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CO" sz="1600" b="0" dirty="0">
                          <a:latin typeface="+mn-lt"/>
                          <a:cs typeface="Consolas" panose="020B0609020204030204" pitchFamily="49" charset="0"/>
                        </a:rPr>
                        <a:t>"0001"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1600" b="0" dirty="0">
                          <a:latin typeface="+mn-lt"/>
                          <a:cs typeface="Consolas" panose="020B0609020204030204" pitchFamily="49" charset="0"/>
                        </a:rPr>
                        <a:t>1000000</a:t>
                      </a:r>
                    </a:p>
                    <a:p>
                      <a:pPr algn="ctr"/>
                      <a:r>
                        <a:rPr lang="es-CO" sz="1600" b="0" dirty="0">
                          <a:latin typeface="+mn-lt"/>
                          <a:cs typeface="Consolas" panose="020B0609020204030204" pitchFamily="49" charset="0"/>
                        </a:rPr>
                        <a:t>3000000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1600" b="0" dirty="0">
                          <a:latin typeface="+mn-lt"/>
                          <a:cs typeface="Consolas" panose="020B0609020204030204" pitchFamily="49" charset="0"/>
                        </a:rPr>
                        <a:t>1300000</a:t>
                      </a:r>
                    </a:p>
                    <a:p>
                      <a:pPr algn="ctr"/>
                      <a:r>
                        <a:rPr lang="es-CO" sz="1600" b="0" dirty="0">
                          <a:latin typeface="+mn-lt"/>
                          <a:cs typeface="Consolas" panose="020B0609020204030204" pitchFamily="49" charset="0"/>
                        </a:rPr>
                        <a:t>3000000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8" name="5 Rectángulo">
            <a:extLst>
              <a:ext uri="{FF2B5EF4-FFF2-40B4-BE49-F238E27FC236}">
                <a16:creationId xmlns:a16="http://schemas.microsoft.com/office/drawing/2014/main" id="{7C7FAF62-909D-4A12-B524-43FF1A0D03BB}"/>
              </a:ext>
            </a:extLst>
          </p:cNvPr>
          <p:cNvSpPr/>
          <p:nvPr/>
        </p:nvSpPr>
        <p:spPr>
          <a:xfrm>
            <a:off x="342097" y="3050495"/>
            <a:ext cx="2464842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s-CO" sz="2000" b="1" dirty="0"/>
              <a:t>Prueba de escritorio: </a:t>
            </a:r>
            <a:endParaRPr lang="es-CO" sz="2000" dirty="0"/>
          </a:p>
        </p:txBody>
      </p:sp>
      <p:sp>
        <p:nvSpPr>
          <p:cNvPr id="9" name="5 Rectángulo">
            <a:extLst>
              <a:ext uri="{FF2B5EF4-FFF2-40B4-BE49-F238E27FC236}">
                <a16:creationId xmlns:a16="http://schemas.microsoft.com/office/drawing/2014/main" id="{A58A6956-9453-428B-A369-CF584B0BF308}"/>
              </a:ext>
            </a:extLst>
          </p:cNvPr>
          <p:cNvSpPr/>
          <p:nvPr/>
        </p:nvSpPr>
        <p:spPr>
          <a:xfrm>
            <a:off x="309845" y="1412159"/>
            <a:ext cx="2497094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s-CO" sz="2000" b="1" dirty="0"/>
              <a:t>Resultados esperados</a:t>
            </a:r>
            <a:endParaRPr lang="es-CO" sz="2000" dirty="0"/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4F71E138-1626-41B5-A5BE-1466E783FB8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08104" y="494253"/>
            <a:ext cx="3218461" cy="56921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4586911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4 Título"/>
          <p:cNvSpPr>
            <a:spLocks noGrp="1"/>
          </p:cNvSpPr>
          <p:nvPr>
            <p:ph type="title"/>
          </p:nvPr>
        </p:nvSpPr>
        <p:spPr>
          <a:xfrm>
            <a:off x="263061" y="223755"/>
            <a:ext cx="8045354" cy="628407"/>
          </a:xfrm>
        </p:spPr>
        <p:txBody>
          <a:bodyPr>
            <a:normAutofit fontScale="90000"/>
          </a:bodyPr>
          <a:lstStyle/>
          <a:p>
            <a:r>
              <a:rPr lang="es-CO" dirty="0"/>
              <a:t>Alternativa doble</a:t>
            </a:r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F1CE28-A3C7-48DC-84A2-8FB08D6123C5}" type="slidenum">
              <a:rPr lang="en-US" smtClean="0"/>
              <a:pPr/>
              <a:t>37</a:t>
            </a:fld>
            <a:endParaRPr lang="en-US" dirty="0"/>
          </a:p>
        </p:txBody>
      </p:sp>
      <p:sp>
        <p:nvSpPr>
          <p:cNvPr id="13" name="12 Rectángulo"/>
          <p:cNvSpPr/>
          <p:nvPr/>
        </p:nvSpPr>
        <p:spPr>
          <a:xfrm>
            <a:off x="179513" y="921879"/>
            <a:ext cx="8796866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s-CO" altLang="es-CO" sz="2000" dirty="0"/>
              <a:t>En los problemas de este tipo, ambos casos (</a:t>
            </a:r>
            <a:r>
              <a:rPr lang="es-CO" altLang="es-CO" sz="2000" b="1" dirty="0">
                <a:solidFill>
                  <a:srgbClr val="C00000"/>
                </a:solidFill>
              </a:rPr>
              <a:t>Falso</a:t>
            </a:r>
            <a:r>
              <a:rPr lang="es-CO" altLang="es-CO" sz="2000" dirty="0"/>
              <a:t> y </a:t>
            </a:r>
            <a:r>
              <a:rPr lang="es-CO" altLang="es-CO" sz="2000" b="1" dirty="0">
                <a:solidFill>
                  <a:schemeClr val="accent2">
                    <a:lumMod val="75000"/>
                  </a:schemeClr>
                </a:solidFill>
              </a:rPr>
              <a:t>Verdadero</a:t>
            </a:r>
            <a:r>
              <a:rPr lang="es-CO" altLang="es-CO" sz="2000" dirty="0"/>
              <a:t>) poseen instrucciones asociadas.</a:t>
            </a:r>
            <a:endParaRPr lang="es-CO" sz="2000" dirty="0"/>
          </a:p>
        </p:txBody>
      </p:sp>
      <p:pic>
        <p:nvPicPr>
          <p:cNvPr id="10245" name="Picture 5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5695" y="2170493"/>
            <a:ext cx="4743505" cy="293490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CuadroTexto 6">
            <a:extLst>
              <a:ext uri="{FF2B5EF4-FFF2-40B4-BE49-F238E27FC236}">
                <a16:creationId xmlns:a16="http://schemas.microsoft.com/office/drawing/2014/main" id="{ADCD1815-B299-412B-B0C7-515E157D83D8}"/>
              </a:ext>
            </a:extLst>
          </p:cNvPr>
          <p:cNvSpPr txBox="1"/>
          <p:nvPr/>
        </p:nvSpPr>
        <p:spPr>
          <a:xfrm>
            <a:off x="5220072" y="2268160"/>
            <a:ext cx="3742661" cy="116955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indent="-57150"/>
            <a:r>
              <a:rPr lang="es-ES" sz="1400" dirty="0">
                <a:solidFill>
                  <a:schemeClr val="accent4"/>
                </a:solidFill>
                <a:latin typeface="Consolas" panose="020B0609020204030204" pitchFamily="49" charset="0"/>
              </a:rPr>
              <a:t>Si (</a:t>
            </a:r>
            <a:r>
              <a:rPr lang="es-ES" sz="1400" dirty="0">
                <a:solidFill>
                  <a:schemeClr val="accent6"/>
                </a:solidFill>
                <a:latin typeface="Consolas" panose="020B0609020204030204" pitchFamily="49" charset="0"/>
              </a:rPr>
              <a:t>condicion</a:t>
            </a:r>
            <a:r>
              <a:rPr lang="es-ES" sz="1400" dirty="0">
                <a:solidFill>
                  <a:schemeClr val="accent4"/>
                </a:solidFill>
                <a:latin typeface="Consolas" panose="020B0609020204030204" pitchFamily="49" charset="0"/>
              </a:rPr>
              <a:t>) Entonces</a:t>
            </a:r>
          </a:p>
          <a:p>
            <a:pPr indent="-57150"/>
            <a:r>
              <a:rPr lang="es-ES" sz="1400" dirty="0">
                <a:latin typeface="Consolas" panose="020B0609020204030204" pitchFamily="49" charset="0"/>
              </a:rPr>
              <a:t>  instrucciones condicion verdadera</a:t>
            </a:r>
          </a:p>
          <a:p>
            <a:pPr indent="-57150"/>
            <a:r>
              <a:rPr lang="es-ES" sz="1400" dirty="0">
                <a:solidFill>
                  <a:schemeClr val="accent4"/>
                </a:solidFill>
                <a:latin typeface="Consolas" panose="020B0609020204030204" pitchFamily="49" charset="0"/>
              </a:rPr>
              <a:t>Sino</a:t>
            </a:r>
          </a:p>
          <a:p>
            <a:pPr indent="-57150"/>
            <a:r>
              <a:rPr lang="es-ES" sz="1400" dirty="0">
                <a:solidFill>
                  <a:schemeClr val="accent5"/>
                </a:solidFill>
                <a:latin typeface="Consolas" panose="020B0609020204030204" pitchFamily="49" charset="0"/>
              </a:rPr>
              <a:t>  </a:t>
            </a:r>
            <a:r>
              <a:rPr lang="es-ES" sz="1400" dirty="0">
                <a:latin typeface="Consolas" panose="020B0609020204030204" pitchFamily="49" charset="0"/>
              </a:rPr>
              <a:t>instrucciones condición falsa</a:t>
            </a:r>
          </a:p>
          <a:p>
            <a:pPr indent="-57150"/>
            <a:r>
              <a:rPr lang="es-ES" sz="1400" dirty="0">
                <a:solidFill>
                  <a:schemeClr val="accent4"/>
                </a:solidFill>
                <a:latin typeface="Consolas" panose="020B0609020204030204" pitchFamily="49" charset="0"/>
              </a:rPr>
              <a:t>Fin_Si</a:t>
            </a:r>
            <a:endParaRPr lang="es-CO" sz="1400" dirty="0">
              <a:solidFill>
                <a:schemeClr val="accent4"/>
              </a:solidFill>
              <a:latin typeface="Consolas" panose="020B0609020204030204" pitchFamily="49" charset="0"/>
            </a:endParaRPr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31EA861C-CD1C-4583-91F4-3A788EADC024}"/>
              </a:ext>
            </a:extLst>
          </p:cNvPr>
          <p:cNvSpPr txBox="1"/>
          <p:nvPr/>
        </p:nvSpPr>
        <p:spPr>
          <a:xfrm>
            <a:off x="5233717" y="4036875"/>
            <a:ext cx="3742661" cy="95410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indent="-57150"/>
            <a:r>
              <a:rPr lang="es-ES" sz="1400" dirty="0">
                <a:solidFill>
                  <a:schemeClr val="accent4"/>
                </a:solidFill>
                <a:latin typeface="Consolas" panose="020B0609020204030204" pitchFamily="49" charset="0"/>
              </a:rPr>
              <a:t>if (</a:t>
            </a:r>
            <a:r>
              <a:rPr lang="es-ES" sz="1400" dirty="0">
                <a:solidFill>
                  <a:schemeClr val="accent6"/>
                </a:solidFill>
                <a:latin typeface="Consolas" panose="020B0609020204030204" pitchFamily="49" charset="0"/>
              </a:rPr>
              <a:t>condicion</a:t>
            </a:r>
            <a:r>
              <a:rPr lang="es-ES" sz="1400" dirty="0">
                <a:solidFill>
                  <a:schemeClr val="accent4"/>
                </a:solidFill>
                <a:latin typeface="Consolas" panose="020B0609020204030204" pitchFamily="49" charset="0"/>
              </a:rPr>
              <a:t>):</a:t>
            </a:r>
          </a:p>
          <a:p>
            <a:pPr indent="-57150"/>
            <a:r>
              <a:rPr lang="es-ES" sz="1400" dirty="0">
                <a:latin typeface="Consolas" panose="020B0609020204030204" pitchFamily="49" charset="0"/>
              </a:rPr>
              <a:t>  instrucciones condicion verdadera</a:t>
            </a:r>
          </a:p>
          <a:p>
            <a:pPr indent="-57150"/>
            <a:r>
              <a:rPr lang="es-ES" sz="1400" dirty="0">
                <a:solidFill>
                  <a:schemeClr val="accent4"/>
                </a:solidFill>
                <a:latin typeface="Consolas" panose="020B0609020204030204" pitchFamily="49" charset="0"/>
              </a:rPr>
              <a:t>else:</a:t>
            </a:r>
          </a:p>
          <a:p>
            <a:pPr indent="-57150"/>
            <a:r>
              <a:rPr lang="es-ES" sz="1400" dirty="0">
                <a:solidFill>
                  <a:schemeClr val="accent5"/>
                </a:solidFill>
                <a:latin typeface="Consolas" panose="020B0609020204030204" pitchFamily="49" charset="0"/>
              </a:rPr>
              <a:t>  </a:t>
            </a:r>
            <a:r>
              <a:rPr lang="es-ES" sz="1400" dirty="0">
                <a:latin typeface="Consolas" panose="020B0609020204030204" pitchFamily="49" charset="0"/>
              </a:rPr>
              <a:t>instrucciones condición falsa</a:t>
            </a:r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2CAD278B-B3C9-4233-A314-4192331BDF8A}"/>
              </a:ext>
            </a:extLst>
          </p:cNvPr>
          <p:cNvSpPr txBox="1"/>
          <p:nvPr/>
        </p:nvSpPr>
        <p:spPr>
          <a:xfrm>
            <a:off x="5625642" y="1770382"/>
            <a:ext cx="242416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CO" sz="2000" b="1" dirty="0"/>
              <a:t>Pseudocódigo</a:t>
            </a:r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84C8790F-1E43-4459-99ED-5878BD3C40D4}"/>
              </a:ext>
            </a:extLst>
          </p:cNvPr>
          <p:cNvSpPr txBox="1"/>
          <p:nvPr/>
        </p:nvSpPr>
        <p:spPr>
          <a:xfrm>
            <a:off x="5660542" y="3612642"/>
            <a:ext cx="242416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CO" sz="2000" b="1" dirty="0"/>
              <a:t>Python</a:t>
            </a:r>
          </a:p>
        </p:txBody>
      </p:sp>
    </p:spTree>
    <p:extLst>
      <p:ext uri="{BB962C8B-B14F-4D97-AF65-F5344CB8AC3E}">
        <p14:creationId xmlns:p14="http://schemas.microsoft.com/office/powerpoint/2010/main" val="2082833560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4 Título"/>
          <p:cNvSpPr>
            <a:spLocks noGrp="1"/>
          </p:cNvSpPr>
          <p:nvPr>
            <p:ph type="title"/>
          </p:nvPr>
        </p:nvSpPr>
        <p:spPr>
          <a:xfrm>
            <a:off x="257056" y="276634"/>
            <a:ext cx="8131368" cy="782960"/>
          </a:xfrm>
        </p:spPr>
        <p:txBody>
          <a:bodyPr>
            <a:normAutofit/>
          </a:bodyPr>
          <a:lstStyle/>
          <a:p>
            <a:r>
              <a:rPr lang="es-CO" dirty="0"/>
              <a:t>Alternativa doble</a:t>
            </a:r>
          </a:p>
        </p:txBody>
      </p:sp>
      <p:sp>
        <p:nvSpPr>
          <p:cNvPr id="13" name="12 Rectángulo"/>
          <p:cNvSpPr/>
          <p:nvPr/>
        </p:nvSpPr>
        <p:spPr>
          <a:xfrm>
            <a:off x="265542" y="969739"/>
            <a:ext cx="8223168" cy="233910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s-CO" sz="2200" b="1" dirty="0"/>
              <a:t>Ejemplo 1 (Alternativa doble): </a:t>
            </a:r>
          </a:p>
          <a:p>
            <a:r>
              <a:rPr lang="es-CO" sz="2000" dirty="0"/>
              <a:t>Moe con el fin de incentivar su negocio organizo una noche de solos y solas. Los precios que fijo fueron de $10000 para los hombres y de la mitad de este valor para las mujeres. Hacer un programa que de acuerdo al sexo de la persona que asista muestre el precio de la entrada al bar de Moe.</a:t>
            </a:r>
          </a:p>
          <a:p>
            <a:endParaRPr lang="es-CO" sz="2400" dirty="0"/>
          </a:p>
          <a:p>
            <a:r>
              <a:rPr lang="es-CO" sz="2000" b="1" dirty="0"/>
              <a:t>Nota</a:t>
            </a:r>
            <a:r>
              <a:rPr lang="es-CO" sz="2000" dirty="0"/>
              <a:t>: Resuelva este ejercicio empleando la </a:t>
            </a:r>
            <a:r>
              <a:rPr lang="es-CO" sz="2000" b="1" dirty="0"/>
              <a:t>alternativa doble</a:t>
            </a:r>
            <a:endParaRPr lang="es-CO" sz="2000" dirty="0"/>
          </a:p>
        </p:txBody>
      </p:sp>
      <p:pic>
        <p:nvPicPr>
          <p:cNvPr id="2050" name="Picture 2" descr="Moe&amp;#39;s Bar | Pub, Funny pictures, The simpsons">
            <a:extLst>
              <a:ext uri="{FF2B5EF4-FFF2-40B4-BE49-F238E27FC236}">
                <a16:creationId xmlns:a16="http://schemas.microsoft.com/office/drawing/2014/main" id="{8089C2F7-1CC9-419C-8E50-9FFB41C9C43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7584" y="3590385"/>
            <a:ext cx="3278956" cy="24592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2" descr="El bar de Moe y Los Simpsons: el impresionante mural en Córdoba que es  viral | Vía Córdoba">
            <a:extLst>
              <a:ext uri="{FF2B5EF4-FFF2-40B4-BE49-F238E27FC236}">
                <a16:creationId xmlns:a16="http://schemas.microsoft.com/office/drawing/2014/main" id="{6C8324B4-3680-493F-A2E7-CF07516E758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73386" y="3751728"/>
            <a:ext cx="3807684" cy="21365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49832025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4 Título"/>
          <p:cNvSpPr>
            <a:spLocks noGrp="1"/>
          </p:cNvSpPr>
          <p:nvPr>
            <p:ph type="title"/>
          </p:nvPr>
        </p:nvSpPr>
        <p:spPr>
          <a:xfrm>
            <a:off x="192904" y="260648"/>
            <a:ext cx="4958298" cy="710952"/>
          </a:xfrm>
        </p:spPr>
        <p:txBody>
          <a:bodyPr>
            <a:normAutofit/>
          </a:bodyPr>
          <a:lstStyle/>
          <a:p>
            <a:r>
              <a:rPr lang="es-CO" dirty="0"/>
              <a:t>Alternativa doble</a:t>
            </a:r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F1CE28-A3C7-48DC-84A2-8FB08D6123C5}" type="slidenum">
              <a:rPr lang="en-US" smtClean="0"/>
              <a:pPr/>
              <a:t>39</a:t>
            </a:fld>
            <a:endParaRPr lang="en-US" dirty="0"/>
          </a:p>
        </p:txBody>
      </p:sp>
      <p:sp>
        <p:nvSpPr>
          <p:cNvPr id="32" name="CuadroTexto 31">
            <a:extLst>
              <a:ext uri="{FF2B5EF4-FFF2-40B4-BE49-F238E27FC236}">
                <a16:creationId xmlns:a16="http://schemas.microsoft.com/office/drawing/2014/main" id="{88238F3D-857F-4AB8-A25A-119ABDBDB707}"/>
              </a:ext>
            </a:extLst>
          </p:cNvPr>
          <p:cNvSpPr txBox="1"/>
          <p:nvPr/>
        </p:nvSpPr>
        <p:spPr>
          <a:xfrm>
            <a:off x="1598644" y="5812532"/>
            <a:ext cx="154578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1200" dirty="0">
                <a:hlinkClick r:id="rId2"/>
              </a:rPr>
              <a:t>Link de ejecución</a:t>
            </a:r>
            <a:endParaRPr lang="es-CO" sz="1200" dirty="0"/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733E57EB-643A-4646-8FC2-BFE14A34FED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08776" y="1485900"/>
            <a:ext cx="4255712" cy="4465132"/>
          </a:xfrm>
          <a:prstGeom prst="rect">
            <a:avLst/>
          </a:prstGeom>
        </p:spPr>
      </p:pic>
      <p:sp>
        <p:nvSpPr>
          <p:cNvPr id="10" name="CuadroTexto 9">
            <a:extLst>
              <a:ext uri="{FF2B5EF4-FFF2-40B4-BE49-F238E27FC236}">
                <a16:creationId xmlns:a16="http://schemas.microsoft.com/office/drawing/2014/main" id="{44ADE36F-3836-40FC-AAE5-6014F5E19BE2}"/>
              </a:ext>
            </a:extLst>
          </p:cNvPr>
          <p:cNvSpPr txBox="1"/>
          <p:nvPr/>
        </p:nvSpPr>
        <p:spPr>
          <a:xfrm>
            <a:off x="245481" y="1127339"/>
            <a:ext cx="335444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O" sz="2000" b="1" dirty="0"/>
              <a:t>Pseudocódigo</a:t>
            </a:r>
          </a:p>
        </p:txBody>
      </p:sp>
      <p:sp>
        <p:nvSpPr>
          <p:cNvPr id="12" name="CuadroTexto 11">
            <a:extLst>
              <a:ext uri="{FF2B5EF4-FFF2-40B4-BE49-F238E27FC236}">
                <a16:creationId xmlns:a16="http://schemas.microsoft.com/office/drawing/2014/main" id="{8ADAF5A1-1727-4804-B029-3B2CBBEFF9B9}"/>
              </a:ext>
            </a:extLst>
          </p:cNvPr>
          <p:cNvSpPr txBox="1"/>
          <p:nvPr/>
        </p:nvSpPr>
        <p:spPr>
          <a:xfrm>
            <a:off x="179512" y="3829362"/>
            <a:ext cx="242416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O" sz="2000" b="1" dirty="0"/>
              <a:t>Python</a:t>
            </a:r>
          </a:p>
        </p:txBody>
      </p:sp>
      <p:sp>
        <p:nvSpPr>
          <p:cNvPr id="16" name="CuadroTexto 15">
            <a:extLst>
              <a:ext uri="{FF2B5EF4-FFF2-40B4-BE49-F238E27FC236}">
                <a16:creationId xmlns:a16="http://schemas.microsoft.com/office/drawing/2014/main" id="{6D512794-C487-4E82-8BA4-1C5277571771}"/>
              </a:ext>
            </a:extLst>
          </p:cNvPr>
          <p:cNvSpPr txBox="1"/>
          <p:nvPr/>
        </p:nvSpPr>
        <p:spPr>
          <a:xfrm>
            <a:off x="279058" y="4229472"/>
            <a:ext cx="4184959" cy="156966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s-MX" sz="1200" dirty="0">
                <a:latin typeface="Consolas" panose="020B0609020204030204" pitchFamily="49" charset="0"/>
              </a:rPr>
              <a:t>PRECIO_HOMBRE = 10000</a:t>
            </a:r>
          </a:p>
          <a:p>
            <a:r>
              <a:rPr lang="es-MX" sz="1200" dirty="0">
                <a:latin typeface="Consolas" panose="020B0609020204030204" pitchFamily="49" charset="0"/>
              </a:rPr>
              <a:t>PRECIO_MUJER = PRECIO_HOMBRE / 2</a:t>
            </a:r>
          </a:p>
          <a:p>
            <a:r>
              <a:rPr lang="es-MX" sz="1200" dirty="0">
                <a:latin typeface="Consolas" panose="020B0609020204030204" pitchFamily="49" charset="0"/>
              </a:rPr>
              <a:t>sex = input('Digite el sexo (F/M): ')</a:t>
            </a:r>
          </a:p>
          <a:p>
            <a:r>
              <a:rPr lang="es-MX" sz="1200" dirty="0" err="1">
                <a:latin typeface="Consolas" panose="020B0609020204030204" pitchFamily="49" charset="0"/>
              </a:rPr>
              <a:t>if</a:t>
            </a:r>
            <a:r>
              <a:rPr lang="es-MX" sz="1200" dirty="0">
                <a:latin typeface="Consolas" panose="020B0609020204030204" pitchFamily="49" charset="0"/>
              </a:rPr>
              <a:t> sex == 'F':</a:t>
            </a:r>
          </a:p>
          <a:p>
            <a:r>
              <a:rPr lang="es-MX" sz="1200" dirty="0">
                <a:latin typeface="Consolas" panose="020B0609020204030204" pitchFamily="49" charset="0"/>
              </a:rPr>
              <a:t>  valor_entrada = PRECIO_MUJER</a:t>
            </a:r>
          </a:p>
          <a:p>
            <a:r>
              <a:rPr lang="es-MX" sz="1200" dirty="0" err="1">
                <a:latin typeface="Consolas" panose="020B0609020204030204" pitchFamily="49" charset="0"/>
              </a:rPr>
              <a:t>else</a:t>
            </a:r>
            <a:r>
              <a:rPr lang="es-MX" sz="1200" dirty="0">
                <a:latin typeface="Consolas" panose="020B0609020204030204" pitchFamily="49" charset="0"/>
              </a:rPr>
              <a:t>:</a:t>
            </a:r>
          </a:p>
          <a:p>
            <a:r>
              <a:rPr lang="es-MX" sz="1200" dirty="0">
                <a:latin typeface="Consolas" panose="020B0609020204030204" pitchFamily="49" charset="0"/>
              </a:rPr>
              <a:t>  valor_entrada = PRECIO_HOMBRE</a:t>
            </a:r>
          </a:p>
          <a:p>
            <a:r>
              <a:rPr lang="es-MX" sz="1200" dirty="0" err="1">
                <a:latin typeface="Consolas" panose="020B0609020204030204" pitchFamily="49" charset="0"/>
              </a:rPr>
              <a:t>print</a:t>
            </a:r>
            <a:r>
              <a:rPr lang="es-MX" sz="1200" dirty="0">
                <a:latin typeface="Consolas" panose="020B0609020204030204" pitchFamily="49" charset="0"/>
              </a:rPr>
              <a:t>(f'Valor de la entrada: ${valor_entrada}')</a:t>
            </a:r>
            <a:endParaRPr lang="es-CO" sz="1200" dirty="0">
              <a:latin typeface="Consolas" panose="020B0609020204030204" pitchFamily="49" charset="0"/>
            </a:endParaRPr>
          </a:p>
        </p:txBody>
      </p:sp>
      <p:sp>
        <p:nvSpPr>
          <p:cNvPr id="17" name="CuadroTexto 16">
            <a:extLst>
              <a:ext uri="{FF2B5EF4-FFF2-40B4-BE49-F238E27FC236}">
                <a16:creationId xmlns:a16="http://schemas.microsoft.com/office/drawing/2014/main" id="{7A914CF4-F8A8-42CA-85A0-78CC515CC447}"/>
              </a:ext>
            </a:extLst>
          </p:cNvPr>
          <p:cNvSpPr txBox="1"/>
          <p:nvPr/>
        </p:nvSpPr>
        <p:spPr>
          <a:xfrm>
            <a:off x="279058" y="1550075"/>
            <a:ext cx="4184959" cy="212365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s-MX" sz="1200" dirty="0">
                <a:latin typeface="Consolas" panose="020B0609020204030204" pitchFamily="49" charset="0"/>
              </a:rPr>
              <a:t>Inicio</a:t>
            </a:r>
          </a:p>
          <a:p>
            <a:r>
              <a:rPr lang="es-MX" sz="1200" dirty="0">
                <a:latin typeface="Consolas" panose="020B0609020204030204" pitchFamily="49" charset="0"/>
              </a:rPr>
              <a:t>  PRECIO_HOMBRE = 10000</a:t>
            </a:r>
          </a:p>
          <a:p>
            <a:r>
              <a:rPr lang="es-MX" sz="1200" dirty="0">
                <a:latin typeface="Consolas" panose="020B0609020204030204" pitchFamily="49" charset="0"/>
              </a:rPr>
              <a:t>  PRECIO_MUJER = PRECIO_HOMBRE/2</a:t>
            </a:r>
          </a:p>
          <a:p>
            <a:r>
              <a:rPr lang="es-MX" sz="1200" dirty="0">
                <a:latin typeface="Consolas" panose="020B0609020204030204" pitchFamily="49" charset="0"/>
              </a:rPr>
              <a:t>  Leer(sex)</a:t>
            </a:r>
          </a:p>
          <a:p>
            <a:r>
              <a:rPr lang="es-MX" sz="1200" dirty="0">
                <a:latin typeface="Consolas" panose="020B0609020204030204" pitchFamily="49" charset="0"/>
              </a:rPr>
              <a:t>  Si (sex == 'F') Entonces    </a:t>
            </a:r>
          </a:p>
          <a:p>
            <a:r>
              <a:rPr lang="es-MX" sz="1200" dirty="0">
                <a:latin typeface="Consolas" panose="020B0609020204030204" pitchFamily="49" charset="0"/>
              </a:rPr>
              <a:t>    valor_entrada = PRECIO_MUJER</a:t>
            </a:r>
          </a:p>
          <a:p>
            <a:r>
              <a:rPr lang="es-MX" sz="1200" dirty="0">
                <a:latin typeface="Consolas" panose="020B0609020204030204" pitchFamily="49" charset="0"/>
              </a:rPr>
              <a:t>  Sino</a:t>
            </a:r>
          </a:p>
          <a:p>
            <a:r>
              <a:rPr lang="es-MX" sz="1200" dirty="0">
                <a:latin typeface="Consolas" panose="020B0609020204030204" pitchFamily="49" charset="0"/>
              </a:rPr>
              <a:t>    valor_entrada = PRECIO_HOMBRE</a:t>
            </a:r>
          </a:p>
          <a:p>
            <a:r>
              <a:rPr lang="es-MX" sz="1200" dirty="0">
                <a:latin typeface="Consolas" panose="020B0609020204030204" pitchFamily="49" charset="0"/>
              </a:rPr>
              <a:t>  Fin_Si</a:t>
            </a:r>
          </a:p>
          <a:p>
            <a:r>
              <a:rPr lang="es-MX" sz="1200" dirty="0">
                <a:latin typeface="Consolas" panose="020B0609020204030204" pitchFamily="49" charset="0"/>
              </a:rPr>
              <a:t>  Escribir(valor_entrada)</a:t>
            </a:r>
          </a:p>
          <a:p>
            <a:r>
              <a:rPr lang="es-MX" sz="1200" dirty="0">
                <a:latin typeface="Consolas" panose="020B0609020204030204" pitchFamily="49" charset="0"/>
              </a:rPr>
              <a:t>Fin</a:t>
            </a:r>
            <a:endParaRPr lang="es-CO" sz="1200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20220164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4 Título"/>
          <p:cNvSpPr>
            <a:spLocks noGrp="1"/>
          </p:cNvSpPr>
          <p:nvPr>
            <p:ph type="title"/>
          </p:nvPr>
        </p:nvSpPr>
        <p:spPr>
          <a:xfrm>
            <a:off x="145314" y="135162"/>
            <a:ext cx="4450226" cy="710952"/>
          </a:xfrm>
        </p:spPr>
        <p:txBody>
          <a:bodyPr>
            <a:normAutofit/>
          </a:bodyPr>
          <a:lstStyle/>
          <a:p>
            <a:r>
              <a:rPr lang="es-CO" dirty="0"/>
              <a:t>Alternativa doble</a:t>
            </a:r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F1CE28-A3C7-48DC-84A2-8FB08D6123C5}" type="slidenum">
              <a:rPr lang="en-US" smtClean="0"/>
              <a:pPr/>
              <a:t>40</a:t>
            </a:fld>
            <a:endParaRPr lang="en-US" dirty="0"/>
          </a:p>
        </p:txBody>
      </p:sp>
      <p:sp>
        <p:nvSpPr>
          <p:cNvPr id="13" name="12 Rectángulo"/>
          <p:cNvSpPr/>
          <p:nvPr/>
        </p:nvSpPr>
        <p:spPr>
          <a:xfrm>
            <a:off x="145314" y="853506"/>
            <a:ext cx="8393576" cy="258532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s-CO" sz="2200" b="1" dirty="0"/>
              <a:t>Ejemplo 2 (Alternativa doble): </a:t>
            </a:r>
            <a:endParaRPr lang="es-CO" sz="2200" dirty="0"/>
          </a:p>
          <a:p>
            <a:r>
              <a:rPr lang="es-CO" sz="2000" dirty="0"/>
              <a:t>En una empresa le dan a los empleados un subsidio de transporte si el sueldo base de estos es menor que el salario mínimo, este subsidio es el 30% del sueldo base. Hacer un algoritmo que calcule el salario neto de un empleado (sueldo base mas prestaciones si el empleado tiene derecho a estas). Los datos de entrada son la cedula y el sueldo base.</a:t>
            </a:r>
          </a:p>
          <a:p>
            <a:endParaRPr lang="es-CO" sz="2000" b="1" dirty="0"/>
          </a:p>
          <a:p>
            <a:r>
              <a:rPr lang="es-CO" sz="2000" b="1" dirty="0"/>
              <a:t>Nota</a:t>
            </a:r>
            <a:r>
              <a:rPr lang="es-CO" sz="2000" dirty="0"/>
              <a:t>: Resuelva este ejercicio empleando la </a:t>
            </a:r>
            <a:r>
              <a:rPr lang="es-CO" sz="2000" b="1" dirty="0"/>
              <a:t>alternativa doble</a:t>
            </a:r>
          </a:p>
        </p:txBody>
      </p:sp>
      <p:pic>
        <p:nvPicPr>
          <p:cNvPr id="15362" name="Picture 2" descr="http://www.hungerculture.com/wp-content/uploads/2014/02/simpsons-visa-copa-mundo-futbol.jp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75855" y="4168346"/>
            <a:ext cx="3301825" cy="21990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70103862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4 Título"/>
          <p:cNvSpPr>
            <a:spLocks noGrp="1"/>
          </p:cNvSpPr>
          <p:nvPr>
            <p:ph type="title"/>
          </p:nvPr>
        </p:nvSpPr>
        <p:spPr>
          <a:xfrm>
            <a:off x="219068" y="188640"/>
            <a:ext cx="4376968" cy="533287"/>
          </a:xfrm>
        </p:spPr>
        <p:txBody>
          <a:bodyPr>
            <a:normAutofit fontScale="90000"/>
          </a:bodyPr>
          <a:lstStyle/>
          <a:p>
            <a:r>
              <a:rPr lang="es-CO" dirty="0"/>
              <a:t>Alternativa doble</a:t>
            </a:r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BC668372-4694-4B60-B0BC-28D4202766C0}"/>
              </a:ext>
            </a:extLst>
          </p:cNvPr>
          <p:cNvSpPr txBox="1"/>
          <p:nvPr/>
        </p:nvSpPr>
        <p:spPr>
          <a:xfrm>
            <a:off x="1764459" y="6320353"/>
            <a:ext cx="154578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1200" dirty="0">
                <a:hlinkClick r:id="rId2"/>
              </a:rPr>
              <a:t>Link de ejecución</a:t>
            </a:r>
            <a:endParaRPr lang="es-CO" sz="1200" dirty="0"/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8B9C2D51-ED11-49FC-A332-62B06361F67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76056" y="789855"/>
            <a:ext cx="3797323" cy="5519465"/>
          </a:xfrm>
          <a:prstGeom prst="rect">
            <a:avLst/>
          </a:prstGeom>
        </p:spPr>
      </p:pic>
      <p:sp>
        <p:nvSpPr>
          <p:cNvPr id="9" name="CuadroTexto 8">
            <a:extLst>
              <a:ext uri="{FF2B5EF4-FFF2-40B4-BE49-F238E27FC236}">
                <a16:creationId xmlns:a16="http://schemas.microsoft.com/office/drawing/2014/main" id="{4EB46DA0-4F51-4B8C-933C-B01FC5FF0D7D}"/>
              </a:ext>
            </a:extLst>
          </p:cNvPr>
          <p:cNvSpPr txBox="1"/>
          <p:nvPr/>
        </p:nvSpPr>
        <p:spPr>
          <a:xfrm>
            <a:off x="254608" y="4356839"/>
            <a:ext cx="4605424" cy="193899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s-CO" sz="1200" dirty="0">
                <a:latin typeface="Consolas" panose="020B0609020204030204" pitchFamily="49" charset="0"/>
              </a:rPr>
              <a:t>SALARIO_MIN = 20000000</a:t>
            </a:r>
          </a:p>
          <a:p>
            <a:r>
              <a:rPr lang="es-CO" sz="1200" dirty="0">
                <a:latin typeface="Consolas" panose="020B0609020204030204" pitchFamily="49" charset="0"/>
              </a:rPr>
              <a:t>ID = input("Digite la cedula: ")</a:t>
            </a:r>
          </a:p>
          <a:p>
            <a:r>
              <a:rPr lang="es-CO" sz="1200" dirty="0">
                <a:latin typeface="Consolas" panose="020B0609020204030204" pitchFamily="49" charset="0"/>
              </a:rPr>
              <a:t>sal_base = int(input("Digite el salario base: "))</a:t>
            </a:r>
          </a:p>
          <a:p>
            <a:r>
              <a:rPr lang="es-CO" sz="1200" dirty="0">
                <a:latin typeface="Consolas" panose="020B0609020204030204" pitchFamily="49" charset="0"/>
              </a:rPr>
              <a:t>if(sal_base &lt; SALARIO_MIN):</a:t>
            </a:r>
          </a:p>
          <a:p>
            <a:r>
              <a:rPr lang="es-CO" sz="1200" dirty="0">
                <a:latin typeface="Consolas" panose="020B0609020204030204" pitchFamily="49" charset="0"/>
              </a:rPr>
              <a:t>    subsidio = 0.3*sal_base</a:t>
            </a:r>
          </a:p>
          <a:p>
            <a:r>
              <a:rPr lang="es-CO" sz="1200" dirty="0">
                <a:latin typeface="Consolas" panose="020B0609020204030204" pitchFamily="49" charset="0"/>
              </a:rPr>
              <a:t>else:</a:t>
            </a:r>
          </a:p>
          <a:p>
            <a:r>
              <a:rPr lang="es-CO" sz="1200" dirty="0">
                <a:latin typeface="Consolas" panose="020B0609020204030204" pitchFamily="49" charset="0"/>
              </a:rPr>
              <a:t>    subsidio = 0</a:t>
            </a:r>
          </a:p>
          <a:p>
            <a:r>
              <a:rPr lang="es-CO" sz="1200" dirty="0">
                <a:latin typeface="Consolas" panose="020B0609020204030204" pitchFamily="49" charset="0"/>
              </a:rPr>
              <a:t>sal_neto = sal_base + subsidio</a:t>
            </a:r>
          </a:p>
          <a:p>
            <a:r>
              <a:rPr lang="es-CO" sz="1200" dirty="0">
                <a:latin typeface="Consolas" panose="020B0609020204030204" pitchFamily="49" charset="0"/>
              </a:rPr>
              <a:t>print(ID + ' le corresponde como pago $', \</a:t>
            </a:r>
          </a:p>
          <a:p>
            <a:r>
              <a:rPr lang="es-CO" sz="1200" dirty="0">
                <a:latin typeface="Consolas" panose="020B0609020204030204" pitchFamily="49" charset="0"/>
              </a:rPr>
              <a:t>      sal_neto, </a:t>
            </a:r>
            <a:r>
              <a:rPr lang="es-CO" sz="1200" dirty="0" err="1">
                <a:latin typeface="Consolas" panose="020B0609020204030204" pitchFamily="49" charset="0"/>
              </a:rPr>
              <a:t>end</a:t>
            </a:r>
            <a:r>
              <a:rPr lang="es-CO" sz="1200" dirty="0">
                <a:latin typeface="Consolas" panose="020B0609020204030204" pitchFamily="49" charset="0"/>
              </a:rPr>
              <a:t> = "")</a:t>
            </a:r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C730F102-247A-4813-B6F0-6F9379C78991}"/>
              </a:ext>
            </a:extLst>
          </p:cNvPr>
          <p:cNvSpPr txBox="1"/>
          <p:nvPr/>
        </p:nvSpPr>
        <p:spPr>
          <a:xfrm>
            <a:off x="234640" y="1408708"/>
            <a:ext cx="4605424" cy="230832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s-MX" sz="1200" dirty="0">
                <a:latin typeface="Consolas" panose="020B0609020204030204" pitchFamily="49" charset="0"/>
              </a:rPr>
              <a:t>Inicio</a:t>
            </a:r>
          </a:p>
          <a:p>
            <a:r>
              <a:rPr lang="es-MX" sz="1200" dirty="0">
                <a:latin typeface="Consolas" panose="020B0609020204030204" pitchFamily="49" charset="0"/>
              </a:rPr>
              <a:t>  SALARIO_MIN = 2000000</a:t>
            </a:r>
          </a:p>
          <a:p>
            <a:r>
              <a:rPr lang="es-MX" sz="1200" dirty="0">
                <a:latin typeface="Consolas" panose="020B0609020204030204" pitchFamily="49" charset="0"/>
              </a:rPr>
              <a:t>  Leer(ID)</a:t>
            </a:r>
          </a:p>
          <a:p>
            <a:r>
              <a:rPr lang="es-MX" sz="1200" dirty="0">
                <a:latin typeface="Consolas" panose="020B0609020204030204" pitchFamily="49" charset="0"/>
              </a:rPr>
              <a:t>  Leer(sal_base)</a:t>
            </a:r>
          </a:p>
          <a:p>
            <a:r>
              <a:rPr lang="es-MX" sz="1200" dirty="0">
                <a:latin typeface="Consolas" panose="020B0609020204030204" pitchFamily="49" charset="0"/>
              </a:rPr>
              <a:t>  Si (sal_base &lt; 2000000) Entonces    </a:t>
            </a:r>
          </a:p>
          <a:p>
            <a:r>
              <a:rPr lang="es-MX" sz="1200" dirty="0">
                <a:latin typeface="Consolas" panose="020B0609020204030204" pitchFamily="49" charset="0"/>
              </a:rPr>
              <a:t>    subsidio = 0.3*sal_base</a:t>
            </a:r>
          </a:p>
          <a:p>
            <a:r>
              <a:rPr lang="es-MX" sz="1200" dirty="0">
                <a:latin typeface="Consolas" panose="020B0609020204030204" pitchFamily="49" charset="0"/>
              </a:rPr>
              <a:t>  Sino</a:t>
            </a:r>
          </a:p>
          <a:p>
            <a:r>
              <a:rPr lang="es-MX" sz="1200" dirty="0">
                <a:latin typeface="Consolas" panose="020B0609020204030204" pitchFamily="49" charset="0"/>
              </a:rPr>
              <a:t>    subsidio = 0</a:t>
            </a:r>
          </a:p>
          <a:p>
            <a:r>
              <a:rPr lang="es-MX" sz="1200" dirty="0">
                <a:latin typeface="Consolas" panose="020B0609020204030204" pitchFamily="49" charset="0"/>
              </a:rPr>
              <a:t>  Fin_Si</a:t>
            </a:r>
          </a:p>
          <a:p>
            <a:r>
              <a:rPr lang="es-MX" sz="1200" dirty="0">
                <a:latin typeface="Consolas" panose="020B0609020204030204" pitchFamily="49" charset="0"/>
              </a:rPr>
              <a:t>  sal_neto = sal_base + subsidio</a:t>
            </a:r>
          </a:p>
          <a:p>
            <a:r>
              <a:rPr lang="es-MX" sz="1200" dirty="0">
                <a:latin typeface="Consolas" panose="020B0609020204030204" pitchFamily="49" charset="0"/>
              </a:rPr>
              <a:t>  Escribir(ID, sal_neto)</a:t>
            </a:r>
          </a:p>
          <a:p>
            <a:r>
              <a:rPr lang="es-MX" sz="1200" dirty="0">
                <a:latin typeface="Consolas" panose="020B0609020204030204" pitchFamily="49" charset="0"/>
              </a:rPr>
              <a:t>Fin</a:t>
            </a:r>
            <a:endParaRPr lang="es-CO" sz="1200" dirty="0">
              <a:latin typeface="Consolas" panose="020B0609020204030204" pitchFamily="49" charset="0"/>
            </a:endParaRPr>
          </a:p>
        </p:txBody>
      </p:sp>
      <p:sp>
        <p:nvSpPr>
          <p:cNvPr id="11" name="CuadroTexto 10">
            <a:extLst>
              <a:ext uri="{FF2B5EF4-FFF2-40B4-BE49-F238E27FC236}">
                <a16:creationId xmlns:a16="http://schemas.microsoft.com/office/drawing/2014/main" id="{1EC71DC3-2147-4F3E-8D06-CC40DAA61A13}"/>
              </a:ext>
            </a:extLst>
          </p:cNvPr>
          <p:cNvSpPr txBox="1"/>
          <p:nvPr/>
        </p:nvSpPr>
        <p:spPr>
          <a:xfrm>
            <a:off x="231416" y="3898218"/>
            <a:ext cx="242416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O" sz="2000" b="1" dirty="0"/>
              <a:t>Python</a:t>
            </a:r>
          </a:p>
        </p:txBody>
      </p:sp>
      <p:sp>
        <p:nvSpPr>
          <p:cNvPr id="12" name="CuadroTexto 11">
            <a:extLst>
              <a:ext uri="{FF2B5EF4-FFF2-40B4-BE49-F238E27FC236}">
                <a16:creationId xmlns:a16="http://schemas.microsoft.com/office/drawing/2014/main" id="{66A0177D-132B-4E54-B277-B58115171191}"/>
              </a:ext>
            </a:extLst>
          </p:cNvPr>
          <p:cNvSpPr txBox="1"/>
          <p:nvPr/>
        </p:nvSpPr>
        <p:spPr>
          <a:xfrm>
            <a:off x="219068" y="1025634"/>
            <a:ext cx="335444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O" sz="2000" b="1" dirty="0"/>
              <a:t>Pseudocódigo</a:t>
            </a:r>
          </a:p>
        </p:txBody>
      </p:sp>
    </p:spTree>
    <p:extLst>
      <p:ext uri="{BB962C8B-B14F-4D97-AF65-F5344CB8AC3E}">
        <p14:creationId xmlns:p14="http://schemas.microsoft.com/office/powerpoint/2010/main" val="2817460371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4 Título"/>
          <p:cNvSpPr>
            <a:spLocks noGrp="1"/>
          </p:cNvSpPr>
          <p:nvPr>
            <p:ph type="title"/>
          </p:nvPr>
        </p:nvSpPr>
        <p:spPr>
          <a:xfrm>
            <a:off x="334950" y="379145"/>
            <a:ext cx="5370693" cy="533287"/>
          </a:xfrm>
        </p:spPr>
        <p:txBody>
          <a:bodyPr>
            <a:normAutofit fontScale="90000"/>
          </a:bodyPr>
          <a:lstStyle/>
          <a:p>
            <a:r>
              <a:rPr lang="es-CO" dirty="0"/>
              <a:t>Alternativa doble</a:t>
            </a:r>
          </a:p>
        </p:txBody>
      </p:sp>
      <p:sp>
        <p:nvSpPr>
          <p:cNvPr id="12" name="CuadroTexto 11">
            <a:extLst>
              <a:ext uri="{FF2B5EF4-FFF2-40B4-BE49-F238E27FC236}">
                <a16:creationId xmlns:a16="http://schemas.microsoft.com/office/drawing/2014/main" id="{652BDBA4-8EB0-42F2-B175-84A2C20DA33D}"/>
              </a:ext>
            </a:extLst>
          </p:cNvPr>
          <p:cNvSpPr txBox="1"/>
          <p:nvPr/>
        </p:nvSpPr>
        <p:spPr>
          <a:xfrm>
            <a:off x="4803233" y="2348880"/>
            <a:ext cx="4089401" cy="304698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s-MX" sz="1600" dirty="0">
                <a:latin typeface="Consolas" panose="020B0609020204030204" pitchFamily="49" charset="0"/>
              </a:rPr>
              <a:t>Inicio</a:t>
            </a:r>
          </a:p>
          <a:p>
            <a:r>
              <a:rPr lang="es-MX" sz="1600" dirty="0">
                <a:latin typeface="Consolas" panose="020B0609020204030204" pitchFamily="49" charset="0"/>
              </a:rPr>
              <a:t>  SALARIO_MIN = 2000000</a:t>
            </a:r>
          </a:p>
          <a:p>
            <a:r>
              <a:rPr lang="es-MX" sz="1600" dirty="0">
                <a:latin typeface="Consolas" panose="020B0609020204030204" pitchFamily="49" charset="0"/>
              </a:rPr>
              <a:t>  Leer(ID)</a:t>
            </a:r>
          </a:p>
          <a:p>
            <a:r>
              <a:rPr lang="es-MX" sz="1600" dirty="0">
                <a:latin typeface="Consolas" panose="020B0609020204030204" pitchFamily="49" charset="0"/>
              </a:rPr>
              <a:t>  Leer(sal_base)</a:t>
            </a:r>
          </a:p>
          <a:p>
            <a:r>
              <a:rPr lang="es-MX" sz="1600" dirty="0">
                <a:latin typeface="Consolas" panose="020B0609020204030204" pitchFamily="49" charset="0"/>
              </a:rPr>
              <a:t>  Si (sal_base &lt; 2000000) Entonces    </a:t>
            </a:r>
          </a:p>
          <a:p>
            <a:r>
              <a:rPr lang="es-MX" sz="1600" dirty="0">
                <a:latin typeface="Consolas" panose="020B0609020204030204" pitchFamily="49" charset="0"/>
              </a:rPr>
              <a:t>    subsidio = 0.3*sal_base</a:t>
            </a:r>
          </a:p>
          <a:p>
            <a:r>
              <a:rPr lang="es-MX" sz="1600" dirty="0">
                <a:latin typeface="Consolas" panose="020B0609020204030204" pitchFamily="49" charset="0"/>
              </a:rPr>
              <a:t>  Sino</a:t>
            </a:r>
          </a:p>
          <a:p>
            <a:r>
              <a:rPr lang="es-MX" sz="1600" dirty="0">
                <a:latin typeface="Consolas" panose="020B0609020204030204" pitchFamily="49" charset="0"/>
              </a:rPr>
              <a:t>    subsidio = 0</a:t>
            </a:r>
          </a:p>
          <a:p>
            <a:r>
              <a:rPr lang="es-MX" sz="1600" dirty="0">
                <a:latin typeface="Consolas" panose="020B0609020204030204" pitchFamily="49" charset="0"/>
              </a:rPr>
              <a:t>  Fin_Si</a:t>
            </a:r>
          </a:p>
          <a:p>
            <a:r>
              <a:rPr lang="es-MX" sz="1600" dirty="0">
                <a:latin typeface="Consolas" panose="020B0609020204030204" pitchFamily="49" charset="0"/>
              </a:rPr>
              <a:t>  sal_neto = sal_base + subsidio</a:t>
            </a:r>
          </a:p>
          <a:p>
            <a:r>
              <a:rPr lang="es-MX" sz="1600" dirty="0">
                <a:latin typeface="Consolas" panose="020B0609020204030204" pitchFamily="49" charset="0"/>
              </a:rPr>
              <a:t>  Escribir(ID, sal_neto)</a:t>
            </a:r>
          </a:p>
          <a:p>
            <a:r>
              <a:rPr lang="es-MX" sz="1600" dirty="0">
                <a:latin typeface="Consolas" panose="020B0609020204030204" pitchFamily="49" charset="0"/>
              </a:rPr>
              <a:t>Fin</a:t>
            </a:r>
            <a:endParaRPr lang="es-CO" sz="1600" dirty="0">
              <a:latin typeface="Consolas" panose="020B0609020204030204" pitchFamily="49" charset="0"/>
            </a:endParaRPr>
          </a:p>
        </p:txBody>
      </p:sp>
      <p:graphicFrame>
        <p:nvGraphicFramePr>
          <p:cNvPr id="13" name="8 Tabla">
            <a:extLst>
              <a:ext uri="{FF2B5EF4-FFF2-40B4-BE49-F238E27FC236}">
                <a16:creationId xmlns:a16="http://schemas.microsoft.com/office/drawing/2014/main" id="{2FB72256-919E-4D04-9A12-A3F52337763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13514365"/>
              </p:ext>
            </p:extLst>
          </p:nvPr>
        </p:nvGraphicFramePr>
        <p:xfrm>
          <a:off x="295816" y="3737571"/>
          <a:ext cx="4217988" cy="1902519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73840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5986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5986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5986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48039">
                <a:tc>
                  <a:txBody>
                    <a:bodyPr/>
                    <a:lstStyle/>
                    <a:p>
                      <a:pPr algn="ctr"/>
                      <a:r>
                        <a:rPr lang="es-CO" sz="1600" b="1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ID</a:t>
                      </a:r>
                    </a:p>
                  </a:txBody>
                  <a:tcPr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1600" b="1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sal_base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1600" b="1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subsidio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1600" b="1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sal_neto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8039">
                <a:tc>
                  <a:txBody>
                    <a:bodyPr/>
                    <a:lstStyle/>
                    <a:p>
                      <a:pPr algn="ctr"/>
                      <a:endParaRPr lang="es-CO" sz="1600" b="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  <a:p>
                      <a:pPr algn="ctr"/>
                      <a:endParaRPr lang="es-CO" sz="1600" b="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  <a:p>
                      <a:pPr algn="ctr"/>
                      <a:endParaRPr lang="es-CO" sz="1600" b="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  <a:p>
                      <a:pPr algn="ctr"/>
                      <a:endParaRPr lang="es-CO" sz="1600" b="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  <a:p>
                      <a:pPr algn="ctr"/>
                      <a:endParaRPr lang="es-CO" sz="1600" b="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  <a:p>
                      <a:pPr algn="ctr"/>
                      <a:endParaRPr lang="es-CO" sz="1600" b="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CO" sz="1600" b="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CO" sz="1600" b="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CO" sz="1600" b="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14" name="15 Tabla">
            <a:extLst>
              <a:ext uri="{FF2B5EF4-FFF2-40B4-BE49-F238E27FC236}">
                <a16:creationId xmlns:a16="http://schemas.microsoft.com/office/drawing/2014/main" id="{758A3D73-3EE1-471E-AF57-3AA0153A23A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2796177"/>
              </p:ext>
            </p:extLst>
          </p:nvPr>
        </p:nvGraphicFramePr>
        <p:xfrm>
          <a:off x="862660" y="1960116"/>
          <a:ext cx="3376923" cy="9144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2564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564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2564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08862">
                <a:tc>
                  <a:txBody>
                    <a:bodyPr/>
                    <a:lstStyle/>
                    <a:p>
                      <a:pPr algn="ctr"/>
                      <a:r>
                        <a:rPr lang="es-CO" sz="1600" b="1" dirty="0">
                          <a:solidFill>
                            <a:schemeClr val="bg1"/>
                          </a:solidFill>
                          <a:latin typeface="+mn-lt"/>
                          <a:cs typeface="Consolas" panose="020B0609020204030204" pitchFamily="49" charset="0"/>
                        </a:rPr>
                        <a:t>ID</a:t>
                      </a:r>
                    </a:p>
                  </a:txBody>
                  <a:tcP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1600" b="1" dirty="0">
                          <a:solidFill>
                            <a:schemeClr val="bg1"/>
                          </a:solidFill>
                          <a:latin typeface="+mn-lt"/>
                          <a:cs typeface="Consolas" panose="020B0609020204030204" pitchFamily="49" charset="0"/>
                        </a:rPr>
                        <a:t>sal_base</a:t>
                      </a:r>
                    </a:p>
                  </a:txBody>
                  <a:tcP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1600" b="1" dirty="0">
                          <a:solidFill>
                            <a:schemeClr val="bg1"/>
                          </a:solidFill>
                          <a:latin typeface="+mn-lt"/>
                          <a:cs typeface="Consolas" panose="020B0609020204030204" pitchFamily="49" charset="0"/>
                        </a:rPr>
                        <a:t>sal_neto</a:t>
                      </a:r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0761">
                <a:tc>
                  <a:txBody>
                    <a:bodyPr/>
                    <a:lstStyle/>
                    <a:p>
                      <a:pPr algn="ctr"/>
                      <a:r>
                        <a:rPr lang="es-CO" sz="1600" b="0" dirty="0">
                          <a:latin typeface="+mn-lt"/>
                          <a:cs typeface="Consolas" panose="020B0609020204030204" pitchFamily="49" charset="0"/>
                        </a:rPr>
                        <a:t>"0000"</a:t>
                      </a:r>
                    </a:p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CO" sz="1600" b="0" dirty="0">
                          <a:latin typeface="+mn-lt"/>
                          <a:cs typeface="Consolas" panose="020B0609020204030204" pitchFamily="49" charset="0"/>
                        </a:rPr>
                        <a:t>"0001"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1600" b="0" dirty="0">
                          <a:latin typeface="+mn-lt"/>
                          <a:cs typeface="Consolas" panose="020B0609020204030204" pitchFamily="49" charset="0"/>
                        </a:rPr>
                        <a:t>1000000</a:t>
                      </a:r>
                    </a:p>
                    <a:p>
                      <a:pPr algn="ctr"/>
                      <a:r>
                        <a:rPr lang="es-CO" sz="1600" b="0" dirty="0">
                          <a:latin typeface="+mn-lt"/>
                          <a:cs typeface="Consolas" panose="020B0609020204030204" pitchFamily="49" charset="0"/>
                        </a:rPr>
                        <a:t>3000000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1600" b="0" dirty="0">
                          <a:latin typeface="+mn-lt"/>
                          <a:cs typeface="Consolas" panose="020B0609020204030204" pitchFamily="49" charset="0"/>
                        </a:rPr>
                        <a:t>1300000</a:t>
                      </a:r>
                    </a:p>
                    <a:p>
                      <a:pPr algn="ctr"/>
                      <a:r>
                        <a:rPr lang="es-CO" sz="1600" b="0" dirty="0">
                          <a:latin typeface="+mn-lt"/>
                          <a:cs typeface="Consolas" panose="020B0609020204030204" pitchFamily="49" charset="0"/>
                        </a:rPr>
                        <a:t>3000000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5" name="5 Rectángulo">
            <a:extLst>
              <a:ext uri="{FF2B5EF4-FFF2-40B4-BE49-F238E27FC236}">
                <a16:creationId xmlns:a16="http://schemas.microsoft.com/office/drawing/2014/main" id="{A531B423-1658-4F79-9F17-C30A61B661C4}"/>
              </a:ext>
            </a:extLst>
          </p:cNvPr>
          <p:cNvSpPr/>
          <p:nvPr/>
        </p:nvSpPr>
        <p:spPr>
          <a:xfrm>
            <a:off x="342097" y="3050495"/>
            <a:ext cx="2464842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s-CO" sz="2000" b="1" dirty="0"/>
              <a:t>Prueba de escritorio: </a:t>
            </a:r>
            <a:endParaRPr lang="es-CO" sz="2000" dirty="0"/>
          </a:p>
        </p:txBody>
      </p:sp>
      <p:sp>
        <p:nvSpPr>
          <p:cNvPr id="16" name="5 Rectángulo">
            <a:extLst>
              <a:ext uri="{FF2B5EF4-FFF2-40B4-BE49-F238E27FC236}">
                <a16:creationId xmlns:a16="http://schemas.microsoft.com/office/drawing/2014/main" id="{C3FBFC8C-F1EF-4C4B-8038-32E2C48EFDDB}"/>
              </a:ext>
            </a:extLst>
          </p:cNvPr>
          <p:cNvSpPr/>
          <p:nvPr/>
        </p:nvSpPr>
        <p:spPr>
          <a:xfrm>
            <a:off x="309845" y="1412159"/>
            <a:ext cx="2497094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s-CO" sz="2000" b="1" dirty="0"/>
              <a:t>Resultados esperados</a:t>
            </a:r>
            <a:endParaRPr lang="es-CO" sz="2000" dirty="0"/>
          </a:p>
        </p:txBody>
      </p:sp>
    </p:spTree>
    <p:extLst>
      <p:ext uri="{BB962C8B-B14F-4D97-AF65-F5344CB8AC3E}">
        <p14:creationId xmlns:p14="http://schemas.microsoft.com/office/powerpoint/2010/main" val="3411546416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4 Título"/>
          <p:cNvSpPr>
            <a:spLocks noGrp="1"/>
          </p:cNvSpPr>
          <p:nvPr>
            <p:ph type="title"/>
          </p:nvPr>
        </p:nvSpPr>
        <p:spPr>
          <a:xfrm>
            <a:off x="323528" y="303425"/>
            <a:ext cx="8320317" cy="533287"/>
          </a:xfrm>
        </p:spPr>
        <p:txBody>
          <a:bodyPr>
            <a:normAutofit fontScale="90000"/>
          </a:bodyPr>
          <a:lstStyle/>
          <a:p>
            <a:r>
              <a:rPr lang="es-MX" dirty="0"/>
              <a:t>Comparaciones – Solución ejemplo 1</a:t>
            </a:r>
            <a:endParaRPr lang="es-CO" dirty="0"/>
          </a:p>
        </p:txBody>
      </p:sp>
      <p:pic>
        <p:nvPicPr>
          <p:cNvPr id="8" name="Imagen 7">
            <a:extLst>
              <a:ext uri="{FF2B5EF4-FFF2-40B4-BE49-F238E27FC236}">
                <a16:creationId xmlns:a16="http://schemas.microsoft.com/office/drawing/2014/main" id="{FCD90BF5-C199-483C-B9F5-A9025BB949C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5536" y="908720"/>
            <a:ext cx="3422082" cy="5408835"/>
          </a:xfrm>
          <a:prstGeom prst="rect">
            <a:avLst/>
          </a:prstGeom>
        </p:spPr>
      </p:pic>
      <p:pic>
        <p:nvPicPr>
          <p:cNvPr id="12" name="Imagen 11">
            <a:extLst>
              <a:ext uri="{FF2B5EF4-FFF2-40B4-BE49-F238E27FC236}">
                <a16:creationId xmlns:a16="http://schemas.microsoft.com/office/drawing/2014/main" id="{DA789082-0E6E-4A4C-B6CE-9B9231D8D65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00" y="1380571"/>
            <a:ext cx="4255712" cy="4465132"/>
          </a:xfrm>
          <a:prstGeom prst="rect">
            <a:avLst/>
          </a:prstGeom>
        </p:spPr>
      </p:pic>
      <p:sp>
        <p:nvSpPr>
          <p:cNvPr id="13" name="CuadroTexto 12">
            <a:extLst>
              <a:ext uri="{FF2B5EF4-FFF2-40B4-BE49-F238E27FC236}">
                <a16:creationId xmlns:a16="http://schemas.microsoft.com/office/drawing/2014/main" id="{7CA240B3-5064-4BCB-87D5-DACCD95D000C}"/>
              </a:ext>
            </a:extLst>
          </p:cNvPr>
          <p:cNvSpPr txBox="1"/>
          <p:nvPr/>
        </p:nvSpPr>
        <p:spPr>
          <a:xfrm>
            <a:off x="1948140" y="6317555"/>
            <a:ext cx="154578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1200" dirty="0">
                <a:hlinkClick r:id="rId4"/>
              </a:rPr>
              <a:t>Link de ejecución</a:t>
            </a:r>
            <a:endParaRPr lang="es-CO" sz="1200" dirty="0"/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7D203AC4-4CFA-4AE7-AC3F-C7198BB31109}"/>
              </a:ext>
            </a:extLst>
          </p:cNvPr>
          <p:cNvSpPr txBox="1"/>
          <p:nvPr/>
        </p:nvSpPr>
        <p:spPr>
          <a:xfrm>
            <a:off x="5926963" y="6277576"/>
            <a:ext cx="154578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1200" dirty="0">
                <a:hlinkClick r:id="rId5"/>
              </a:rPr>
              <a:t>Link de ejecución</a:t>
            </a:r>
            <a:endParaRPr lang="es-CO" sz="1200" dirty="0"/>
          </a:p>
        </p:txBody>
      </p:sp>
    </p:spTree>
    <p:extLst>
      <p:ext uri="{BB962C8B-B14F-4D97-AF65-F5344CB8AC3E}">
        <p14:creationId xmlns:p14="http://schemas.microsoft.com/office/powerpoint/2010/main" val="3933969991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4 Título"/>
          <p:cNvSpPr>
            <a:spLocks noGrp="1"/>
          </p:cNvSpPr>
          <p:nvPr>
            <p:ph type="title"/>
          </p:nvPr>
        </p:nvSpPr>
        <p:spPr>
          <a:xfrm>
            <a:off x="195033" y="118342"/>
            <a:ext cx="8320317" cy="533287"/>
          </a:xfrm>
        </p:spPr>
        <p:txBody>
          <a:bodyPr>
            <a:normAutofit fontScale="90000"/>
          </a:bodyPr>
          <a:lstStyle/>
          <a:p>
            <a:r>
              <a:rPr lang="es-MX" dirty="0"/>
              <a:t>Comparaciones – Solución ejemplo 2</a:t>
            </a:r>
            <a:endParaRPr lang="es-CO" dirty="0"/>
          </a:p>
        </p:txBody>
      </p:sp>
      <p:pic>
        <p:nvPicPr>
          <p:cNvPr id="9" name="Imagen 8">
            <a:extLst>
              <a:ext uri="{FF2B5EF4-FFF2-40B4-BE49-F238E27FC236}">
                <a16:creationId xmlns:a16="http://schemas.microsoft.com/office/drawing/2014/main" id="{89532CBA-6119-4B97-A9DD-7E8B6E07724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39718" y="984268"/>
            <a:ext cx="3510762" cy="5102945"/>
          </a:xfrm>
          <a:prstGeom prst="rect">
            <a:avLst/>
          </a:prstGeom>
        </p:spPr>
      </p:pic>
      <p:sp>
        <p:nvSpPr>
          <p:cNvPr id="12" name="CuadroTexto 11">
            <a:extLst>
              <a:ext uri="{FF2B5EF4-FFF2-40B4-BE49-F238E27FC236}">
                <a16:creationId xmlns:a16="http://schemas.microsoft.com/office/drawing/2014/main" id="{30A75AD0-F9B9-409A-9F1A-3E78D273B825}"/>
              </a:ext>
            </a:extLst>
          </p:cNvPr>
          <p:cNvSpPr txBox="1"/>
          <p:nvPr/>
        </p:nvSpPr>
        <p:spPr>
          <a:xfrm>
            <a:off x="6058545" y="6261806"/>
            <a:ext cx="154578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1200" dirty="0">
                <a:hlinkClick r:id="rId3"/>
              </a:rPr>
              <a:t>Link de ejecución</a:t>
            </a:r>
            <a:endParaRPr lang="es-CO" sz="1200" dirty="0"/>
          </a:p>
        </p:txBody>
      </p:sp>
      <p:pic>
        <p:nvPicPr>
          <p:cNvPr id="13" name="Imagen 12">
            <a:extLst>
              <a:ext uri="{FF2B5EF4-FFF2-40B4-BE49-F238E27FC236}">
                <a16:creationId xmlns:a16="http://schemas.microsoft.com/office/drawing/2014/main" id="{EE77D53F-97C3-4197-9697-B92E4A49640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5576" y="922945"/>
            <a:ext cx="2954658" cy="5225592"/>
          </a:xfrm>
          <a:prstGeom prst="rect">
            <a:avLst/>
          </a:prstGeom>
        </p:spPr>
      </p:pic>
      <p:sp>
        <p:nvSpPr>
          <p:cNvPr id="14" name="CuadroTexto 13">
            <a:extLst>
              <a:ext uri="{FF2B5EF4-FFF2-40B4-BE49-F238E27FC236}">
                <a16:creationId xmlns:a16="http://schemas.microsoft.com/office/drawing/2014/main" id="{08B991DE-7A67-4AAE-8466-8D2950FDB381}"/>
              </a:ext>
            </a:extLst>
          </p:cNvPr>
          <p:cNvSpPr txBox="1"/>
          <p:nvPr/>
        </p:nvSpPr>
        <p:spPr>
          <a:xfrm>
            <a:off x="1835696" y="6283164"/>
            <a:ext cx="154578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1200" dirty="0">
                <a:hlinkClick r:id="rId5"/>
              </a:rPr>
              <a:t>Link de ejecución</a:t>
            </a:r>
            <a:endParaRPr lang="es-CO" sz="1200" dirty="0"/>
          </a:p>
        </p:txBody>
      </p:sp>
    </p:spTree>
    <p:extLst>
      <p:ext uri="{BB962C8B-B14F-4D97-AF65-F5344CB8AC3E}">
        <p14:creationId xmlns:p14="http://schemas.microsoft.com/office/powerpoint/2010/main" val="3153428329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/>
          <p:cNvSpPr>
            <a:spLocks noGrp="1"/>
          </p:cNvSpPr>
          <p:nvPr>
            <p:ph type="title"/>
          </p:nvPr>
        </p:nvSpPr>
        <p:spPr>
          <a:xfrm>
            <a:off x="179512" y="495822"/>
            <a:ext cx="7617582" cy="773749"/>
          </a:xfrm>
        </p:spPr>
        <p:txBody>
          <a:bodyPr/>
          <a:lstStyle/>
          <a:p>
            <a:r>
              <a:rPr lang="en-US" dirty="0"/>
              <a:t>Ejemplos de repaso</a:t>
            </a:r>
          </a:p>
        </p:txBody>
      </p:sp>
      <p:sp>
        <p:nvSpPr>
          <p:cNvPr id="2" name="Content Placeholder 1"/>
          <p:cNvSpPr>
            <a:spLocks noGrp="1"/>
          </p:cNvSpPr>
          <p:nvPr>
            <p:ph idx="1"/>
          </p:nvPr>
        </p:nvSpPr>
        <p:spPr>
          <a:xfrm>
            <a:off x="179512" y="1269571"/>
            <a:ext cx="8424936" cy="1439349"/>
          </a:xfrm>
        </p:spPr>
        <p:txBody>
          <a:bodyPr>
            <a:normAutofit/>
          </a:bodyPr>
          <a:lstStyle/>
          <a:p>
            <a:pPr marL="514350" indent="-457200">
              <a:buFont typeface="+mj-lt"/>
              <a:buAutoNum type="arabicPeriod"/>
            </a:pPr>
            <a:r>
              <a:rPr lang="es-CO" sz="2000" dirty="0"/>
              <a:t>Hacer un programa que verifique si un usuario dado es mayor o menor de edad.</a:t>
            </a:r>
          </a:p>
          <a:p>
            <a:pPr marL="514350" indent="-457200">
              <a:buFont typeface="+mj-lt"/>
              <a:buAutoNum type="arabicPeriod"/>
            </a:pPr>
            <a:r>
              <a:rPr lang="es-MX" sz="2000" dirty="0"/>
              <a:t>Realizar un algoritmo que determine si de dos números por teclado, el segundo es divisor del primero.</a:t>
            </a:r>
          </a:p>
          <a:p>
            <a:pPr marL="514350" indent="-457200">
              <a:buFont typeface="+mj-lt"/>
              <a:buAutoNum type="arabicPeriod"/>
            </a:pPr>
            <a:endParaRPr lang="es-CO" sz="2000" dirty="0"/>
          </a:p>
          <a:p>
            <a:pPr marL="514350" indent="-457200">
              <a:buFont typeface="+mj-lt"/>
              <a:buAutoNum type="arabicPeriod"/>
            </a:pPr>
            <a:endParaRPr lang="es-MX" sz="2200" i="1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F1CE28-A3C7-48DC-84A2-8FB08D6123C5}" type="slidenum">
              <a:rPr lang="en-US" smtClean="0"/>
              <a:pPr/>
              <a:t>45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53958856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4 Título"/>
          <p:cNvSpPr>
            <a:spLocks noGrp="1"/>
          </p:cNvSpPr>
          <p:nvPr>
            <p:ph type="title"/>
          </p:nvPr>
        </p:nvSpPr>
        <p:spPr>
          <a:xfrm>
            <a:off x="236938" y="331992"/>
            <a:ext cx="8049988" cy="815195"/>
          </a:xfrm>
        </p:spPr>
        <p:txBody>
          <a:bodyPr>
            <a:normAutofit/>
          </a:bodyPr>
          <a:lstStyle/>
          <a:p>
            <a:r>
              <a:rPr lang="es-CO" dirty="0"/>
              <a:t>Ejemplos de repaso</a:t>
            </a:r>
          </a:p>
        </p:txBody>
      </p:sp>
      <p:sp>
        <p:nvSpPr>
          <p:cNvPr id="13" name="12 Rectángulo"/>
          <p:cNvSpPr/>
          <p:nvPr/>
        </p:nvSpPr>
        <p:spPr>
          <a:xfrm>
            <a:off x="292182" y="980728"/>
            <a:ext cx="8223168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s-CO" sz="2000" b="1" dirty="0"/>
              <a:t>Ejemplo 1 - Solución: </a:t>
            </a:r>
            <a:r>
              <a:rPr lang="es-CO" sz="2000" dirty="0"/>
              <a:t>Hacer un programa que verifique si un usuario dado es mayor o menor de edad.</a:t>
            </a:r>
          </a:p>
        </p:txBody>
      </p:sp>
      <p:sp>
        <p:nvSpPr>
          <p:cNvPr id="6" name="5 CuadroTexto"/>
          <p:cNvSpPr txBox="1"/>
          <p:nvPr/>
        </p:nvSpPr>
        <p:spPr>
          <a:xfrm>
            <a:off x="292182" y="1688614"/>
            <a:ext cx="8049988" cy="187743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O" b="1" dirty="0"/>
              <a:t>Datos de entrada: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CO" sz="1600" dirty="0"/>
              <a:t>Edad</a:t>
            </a:r>
          </a:p>
          <a:p>
            <a:r>
              <a:rPr lang="es-CO" b="1" dirty="0"/>
              <a:t>Datos de salida: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CO" sz="1600" dirty="0"/>
              <a:t>El programa solo imprimirá si el sujeto es mayor o menor de edad</a:t>
            </a:r>
          </a:p>
          <a:p>
            <a:r>
              <a:rPr lang="es-CO" sz="1600" b="1" dirty="0"/>
              <a:t>Definición de variables</a:t>
            </a:r>
            <a:r>
              <a:rPr lang="es-CO" sz="1600" dirty="0"/>
              <a:t>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CO" sz="1600" b="1" dirty="0"/>
              <a:t>Entrada/salida</a:t>
            </a:r>
            <a:r>
              <a:rPr lang="es-CO" sz="1600" dirty="0"/>
              <a:t>:</a:t>
            </a:r>
          </a:p>
          <a:p>
            <a:pPr marL="800100" lvl="1" indent="-342900">
              <a:buFont typeface="Arial" pitchFamily="34" charset="0"/>
              <a:buChar char="•"/>
            </a:pPr>
            <a:r>
              <a:rPr lang="es-CO" sz="1600" b="1" dirty="0">
                <a:latin typeface="Consolas" panose="020B0609020204030204" pitchFamily="49" charset="0"/>
              </a:rPr>
              <a:t>Edad</a:t>
            </a:r>
            <a:r>
              <a:rPr lang="es-CO" sz="1600" i="1" dirty="0"/>
              <a:t>: </a:t>
            </a:r>
            <a:r>
              <a:rPr lang="es-CO" sz="1600" dirty="0"/>
              <a:t>Edad del usuario</a:t>
            </a:r>
          </a:p>
        </p:txBody>
      </p:sp>
      <p:grpSp>
        <p:nvGrpSpPr>
          <p:cNvPr id="7" name="Grupo 6">
            <a:extLst>
              <a:ext uri="{FF2B5EF4-FFF2-40B4-BE49-F238E27FC236}">
                <a16:creationId xmlns:a16="http://schemas.microsoft.com/office/drawing/2014/main" id="{346E7D51-C8A5-4F03-86F7-0E89B48A675A}"/>
              </a:ext>
            </a:extLst>
          </p:cNvPr>
          <p:cNvGrpSpPr/>
          <p:nvPr/>
        </p:nvGrpSpPr>
        <p:grpSpPr>
          <a:xfrm>
            <a:off x="470918" y="3717032"/>
            <a:ext cx="8369418" cy="2179240"/>
            <a:chOff x="470918" y="3717032"/>
            <a:chExt cx="8369418" cy="2179240"/>
          </a:xfrm>
        </p:grpSpPr>
        <p:grpSp>
          <p:nvGrpSpPr>
            <p:cNvPr id="8" name="Grupo 7">
              <a:extLst>
                <a:ext uri="{FF2B5EF4-FFF2-40B4-BE49-F238E27FC236}">
                  <a16:creationId xmlns:a16="http://schemas.microsoft.com/office/drawing/2014/main" id="{D0AC7BA5-94BC-470F-B80B-6CE72F564F3F}"/>
                </a:ext>
              </a:extLst>
            </p:cNvPr>
            <p:cNvGrpSpPr/>
            <p:nvPr/>
          </p:nvGrpSpPr>
          <p:grpSpPr>
            <a:xfrm>
              <a:off x="470918" y="3717032"/>
              <a:ext cx="8202163" cy="1389681"/>
              <a:chOff x="506904" y="1052736"/>
              <a:chExt cx="8202163" cy="1389681"/>
            </a:xfrm>
          </p:grpSpPr>
          <p:sp>
            <p:nvSpPr>
              <p:cNvPr id="9" name="1 Rectángulo">
                <a:extLst>
                  <a:ext uri="{FF2B5EF4-FFF2-40B4-BE49-F238E27FC236}">
                    <a16:creationId xmlns:a16="http://schemas.microsoft.com/office/drawing/2014/main" id="{1EE73EC1-1F43-4824-9C75-B61168EA3A1F}"/>
                  </a:ext>
                </a:extLst>
              </p:cNvPr>
              <p:cNvSpPr/>
              <p:nvPr/>
            </p:nvSpPr>
            <p:spPr>
              <a:xfrm>
                <a:off x="805015" y="1833404"/>
                <a:ext cx="524503" cy="276999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s-CO" sz="12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edad</a:t>
                </a:r>
              </a:p>
            </p:txBody>
          </p:sp>
          <p:grpSp>
            <p:nvGrpSpPr>
              <p:cNvPr id="11" name="5 Grupo">
                <a:extLst>
                  <a:ext uri="{FF2B5EF4-FFF2-40B4-BE49-F238E27FC236}">
                    <a16:creationId xmlns:a16="http://schemas.microsoft.com/office/drawing/2014/main" id="{2C0E2FF6-3BD9-4B00-B52A-AB3D30170F48}"/>
                  </a:ext>
                </a:extLst>
              </p:cNvPr>
              <p:cNvGrpSpPr/>
              <p:nvPr/>
            </p:nvGrpSpPr>
            <p:grpSpPr>
              <a:xfrm>
                <a:off x="506904" y="1052736"/>
                <a:ext cx="8202163" cy="783771"/>
                <a:chOff x="518399" y="1739458"/>
                <a:chExt cx="8202163" cy="783771"/>
              </a:xfrm>
            </p:grpSpPr>
            <p:sp>
              <p:nvSpPr>
                <p:cNvPr id="20" name="10 Rectángulo">
                  <a:extLst>
                    <a:ext uri="{FF2B5EF4-FFF2-40B4-BE49-F238E27FC236}">
                      <a16:creationId xmlns:a16="http://schemas.microsoft.com/office/drawing/2014/main" id="{636D8F71-3809-4E11-B4CB-AFB305739561}"/>
                    </a:ext>
                  </a:extLst>
                </p:cNvPr>
                <p:cNvSpPr/>
                <p:nvPr/>
              </p:nvSpPr>
              <p:spPr>
                <a:xfrm>
                  <a:off x="518399" y="1879706"/>
                  <a:ext cx="1345763" cy="498763"/>
                </a:xfrm>
                <a:prstGeom prst="rect">
                  <a:avLst/>
                </a:prstGeom>
                <a:noFill/>
                <a:ln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s-CO" b="1" dirty="0">
                      <a:solidFill>
                        <a:schemeClr val="tx1"/>
                      </a:solidFill>
                    </a:rPr>
                    <a:t>Inputs</a:t>
                  </a:r>
                </a:p>
              </p:txBody>
            </p:sp>
            <p:sp>
              <p:nvSpPr>
                <p:cNvPr id="21" name="11 Rectángulo">
                  <a:extLst>
                    <a:ext uri="{FF2B5EF4-FFF2-40B4-BE49-F238E27FC236}">
                      <a16:creationId xmlns:a16="http://schemas.microsoft.com/office/drawing/2014/main" id="{3121F921-397B-4234-9AB5-050CB449BA30}"/>
                    </a:ext>
                  </a:extLst>
                </p:cNvPr>
                <p:cNvSpPr/>
                <p:nvPr/>
              </p:nvSpPr>
              <p:spPr>
                <a:xfrm>
                  <a:off x="3563888" y="1739458"/>
                  <a:ext cx="2104858" cy="783771"/>
                </a:xfrm>
                <a:prstGeom prst="rect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s-CO" b="1" dirty="0"/>
                    <a:t>Process</a:t>
                  </a:r>
                </a:p>
              </p:txBody>
            </p:sp>
            <p:sp>
              <p:nvSpPr>
                <p:cNvPr id="22" name="13 Rectángulo">
                  <a:extLst>
                    <a:ext uri="{FF2B5EF4-FFF2-40B4-BE49-F238E27FC236}">
                      <a16:creationId xmlns:a16="http://schemas.microsoft.com/office/drawing/2014/main" id="{5281274C-3B41-4C98-B089-EAAE7F0A395E}"/>
                    </a:ext>
                  </a:extLst>
                </p:cNvPr>
                <p:cNvSpPr/>
                <p:nvPr/>
              </p:nvSpPr>
              <p:spPr>
                <a:xfrm>
                  <a:off x="7374799" y="1884602"/>
                  <a:ext cx="1345763" cy="498763"/>
                </a:xfrm>
                <a:prstGeom prst="rect">
                  <a:avLst/>
                </a:prstGeom>
                <a:noFill/>
                <a:ln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s-CO" b="1" dirty="0">
                      <a:solidFill>
                        <a:schemeClr val="tx1"/>
                      </a:solidFill>
                    </a:rPr>
                    <a:t>Outputs</a:t>
                  </a:r>
                </a:p>
              </p:txBody>
            </p:sp>
            <p:sp>
              <p:nvSpPr>
                <p:cNvPr id="23" name="14 Flecha derecha">
                  <a:extLst>
                    <a:ext uri="{FF2B5EF4-FFF2-40B4-BE49-F238E27FC236}">
                      <a16:creationId xmlns:a16="http://schemas.microsoft.com/office/drawing/2014/main" id="{3CE7AE2E-8671-4E63-B39D-ED92609FC9F2}"/>
                    </a:ext>
                  </a:extLst>
                </p:cNvPr>
                <p:cNvSpPr/>
                <p:nvPr/>
              </p:nvSpPr>
              <p:spPr>
                <a:xfrm>
                  <a:off x="1851561" y="2038875"/>
                  <a:ext cx="1717589" cy="213756"/>
                </a:xfrm>
                <a:prstGeom prst="rightArrow">
                  <a:avLst/>
                </a:prstGeom>
                <a:solidFill>
                  <a:schemeClr val="bg1">
                    <a:lumMod val="5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CO"/>
                </a:p>
              </p:txBody>
            </p:sp>
            <p:sp>
              <p:nvSpPr>
                <p:cNvPr id="24" name="21 Flecha derecha">
                  <a:extLst>
                    <a:ext uri="{FF2B5EF4-FFF2-40B4-BE49-F238E27FC236}">
                      <a16:creationId xmlns:a16="http://schemas.microsoft.com/office/drawing/2014/main" id="{066F7626-BF03-47A4-BC70-5BA25B167CDF}"/>
                    </a:ext>
                  </a:extLst>
                </p:cNvPr>
                <p:cNvSpPr/>
                <p:nvPr/>
              </p:nvSpPr>
              <p:spPr>
                <a:xfrm>
                  <a:off x="5676075" y="2031618"/>
                  <a:ext cx="1717589" cy="213756"/>
                </a:xfrm>
                <a:prstGeom prst="rightArrow">
                  <a:avLst/>
                </a:prstGeom>
                <a:solidFill>
                  <a:schemeClr val="bg1">
                    <a:lumMod val="5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CO"/>
                </a:p>
              </p:txBody>
            </p:sp>
          </p:grpSp>
          <p:grpSp>
            <p:nvGrpSpPr>
              <p:cNvPr id="14" name="Grupo 13">
                <a:extLst>
                  <a:ext uri="{FF2B5EF4-FFF2-40B4-BE49-F238E27FC236}">
                    <a16:creationId xmlns:a16="http://schemas.microsoft.com/office/drawing/2014/main" id="{30B09FE1-9A1B-4178-9663-4E3F8CE3FC43}"/>
                  </a:ext>
                </a:extLst>
              </p:cNvPr>
              <p:cNvGrpSpPr/>
              <p:nvPr/>
            </p:nvGrpSpPr>
            <p:grpSpPr>
              <a:xfrm>
                <a:off x="3492425" y="1750429"/>
                <a:ext cx="1832318" cy="691988"/>
                <a:chOff x="3492425" y="1750429"/>
                <a:chExt cx="1832318" cy="691988"/>
              </a:xfrm>
            </p:grpSpPr>
            <p:sp>
              <p:nvSpPr>
                <p:cNvPr id="18" name="10 Rectángulo">
                  <a:extLst>
                    <a:ext uri="{FF2B5EF4-FFF2-40B4-BE49-F238E27FC236}">
                      <a16:creationId xmlns:a16="http://schemas.microsoft.com/office/drawing/2014/main" id="{7705CC80-CC7B-4A5D-8ECE-2991EFA25DC7}"/>
                    </a:ext>
                  </a:extLst>
                </p:cNvPr>
                <p:cNvSpPr/>
                <p:nvPr/>
              </p:nvSpPr>
              <p:spPr>
                <a:xfrm>
                  <a:off x="3492425" y="1750429"/>
                  <a:ext cx="1345763" cy="498763"/>
                </a:xfrm>
                <a:prstGeom prst="rect">
                  <a:avLst/>
                </a:prstGeom>
                <a:noFill/>
                <a:ln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r>
                    <a:rPr lang="es-CO" b="1" dirty="0">
                      <a:solidFill>
                        <a:schemeClr val="tx1"/>
                      </a:solidFill>
                    </a:rPr>
                    <a:t>Constantes</a:t>
                  </a:r>
                </a:p>
              </p:txBody>
            </p:sp>
            <p:sp>
              <p:nvSpPr>
                <p:cNvPr id="19" name="2 Rectángulo">
                  <a:extLst>
                    <a:ext uri="{FF2B5EF4-FFF2-40B4-BE49-F238E27FC236}">
                      <a16:creationId xmlns:a16="http://schemas.microsoft.com/office/drawing/2014/main" id="{70528A68-CDE1-4EFA-8F7A-71A73A9A3DC7}"/>
                    </a:ext>
                  </a:extLst>
                </p:cNvPr>
                <p:cNvSpPr/>
                <p:nvPr/>
              </p:nvSpPr>
              <p:spPr>
                <a:xfrm>
                  <a:off x="3695771" y="2165418"/>
                  <a:ext cx="1628972" cy="276999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r>
                    <a:rPr lang="es-CO" sz="1200" dirty="0">
                      <a:latin typeface="Consolas" panose="020B0609020204030204" pitchFamily="49" charset="0"/>
                      <a:cs typeface="Consolas" panose="020B0609020204030204" pitchFamily="49" charset="0"/>
                      <a:sym typeface="Wingdings" panose="05000000000000000000" pitchFamily="2" charset="2"/>
                    </a:rPr>
                    <a:t>MAYORIA_EDAD = 18</a:t>
                  </a:r>
                  <a:endParaRPr lang="es-CO" sz="1200" dirty="0">
                    <a:latin typeface="Consolas" panose="020B0609020204030204" pitchFamily="49" charset="0"/>
                    <a:cs typeface="Consolas" panose="020B0609020204030204" pitchFamily="49" charset="0"/>
                  </a:endParaRPr>
                </a:p>
              </p:txBody>
            </p:sp>
          </p:grpSp>
        </p:grpSp>
        <p:pic>
          <p:nvPicPr>
            <p:cNvPr id="25" name="Picture 2" descr="http://t2.gstatic.com/images?q=tbn:ANd9GcS51PGLkp34nPs-LewfkgAfjdZsyder21fNGFoRiZ_A6x7txo3e">
              <a:extLst>
                <a:ext uri="{FF2B5EF4-FFF2-40B4-BE49-F238E27FC236}">
                  <a16:creationId xmlns:a16="http://schemas.microsoft.com/office/drawing/2014/main" id="{D4512D34-2F40-49C1-80E0-AEF1188AD930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164288" y="4521771"/>
              <a:ext cx="1676048" cy="137450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6" name="1 Rectángulo">
              <a:extLst>
                <a:ext uri="{FF2B5EF4-FFF2-40B4-BE49-F238E27FC236}">
                  <a16:creationId xmlns:a16="http://schemas.microsoft.com/office/drawing/2014/main" id="{E2B87FE0-3E51-4A21-8CA3-74E832542A5C}"/>
                </a:ext>
              </a:extLst>
            </p:cNvPr>
            <p:cNvSpPr/>
            <p:nvPr/>
          </p:nvSpPr>
          <p:spPr>
            <a:xfrm>
              <a:off x="7545362" y="4659762"/>
              <a:ext cx="1018227" cy="23083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s-CO" sz="900" dirty="0">
                  <a:latin typeface="Consolas" panose="020B0609020204030204" pitchFamily="49" charset="0"/>
                  <a:cs typeface="Consolas" panose="020B0609020204030204" pitchFamily="49" charset="0"/>
                </a:rPr>
                <a:t>Mayor de edad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8154109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4 Título"/>
          <p:cNvSpPr>
            <a:spLocks noGrp="1"/>
          </p:cNvSpPr>
          <p:nvPr>
            <p:ph type="title"/>
          </p:nvPr>
        </p:nvSpPr>
        <p:spPr>
          <a:xfrm>
            <a:off x="246156" y="308477"/>
            <a:ext cx="5045924" cy="864096"/>
          </a:xfrm>
        </p:spPr>
        <p:txBody>
          <a:bodyPr>
            <a:normAutofit/>
          </a:bodyPr>
          <a:lstStyle/>
          <a:p>
            <a:r>
              <a:rPr lang="es-CO" dirty="0"/>
              <a:t>Alternativa doble</a:t>
            </a:r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F1CE28-A3C7-48DC-84A2-8FB08D6123C5}" type="slidenum">
              <a:rPr lang="en-US" smtClean="0"/>
              <a:pPr/>
              <a:t>47</a:t>
            </a:fld>
            <a:endParaRPr lang="en-US" dirty="0"/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3876F568-A9CA-4F02-955D-DA8ED8FD20E4}"/>
              </a:ext>
            </a:extLst>
          </p:cNvPr>
          <p:cNvSpPr txBox="1"/>
          <p:nvPr/>
        </p:nvSpPr>
        <p:spPr>
          <a:xfrm>
            <a:off x="302771" y="4309153"/>
            <a:ext cx="3980821" cy="138499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s-CO" sz="1400" dirty="0">
                <a:latin typeface="Consolas" panose="020B0609020204030204" pitchFamily="49" charset="0"/>
              </a:rPr>
              <a:t>MAYORIA_EDAD = 18</a:t>
            </a:r>
          </a:p>
          <a:p>
            <a:r>
              <a:rPr lang="es-CO" sz="1400" dirty="0">
                <a:latin typeface="Consolas" panose="020B0609020204030204" pitchFamily="49" charset="0"/>
              </a:rPr>
              <a:t>edad = int(input("Digite la edad: "))</a:t>
            </a:r>
          </a:p>
          <a:p>
            <a:r>
              <a:rPr lang="es-CO" sz="1400" dirty="0">
                <a:latin typeface="Consolas" panose="020B0609020204030204" pitchFamily="49" charset="0"/>
              </a:rPr>
              <a:t>if(edad &gt;= 18):</a:t>
            </a:r>
          </a:p>
          <a:p>
            <a:r>
              <a:rPr lang="es-CO" sz="1400" dirty="0">
                <a:latin typeface="Consolas" panose="020B0609020204030204" pitchFamily="49" charset="0"/>
              </a:rPr>
              <a:t>  print("Usted es mayor de edad")</a:t>
            </a:r>
          </a:p>
          <a:p>
            <a:r>
              <a:rPr lang="es-CO" sz="1400" dirty="0">
                <a:latin typeface="Consolas" panose="020B0609020204030204" pitchFamily="49" charset="0"/>
              </a:rPr>
              <a:t>else:</a:t>
            </a:r>
          </a:p>
          <a:p>
            <a:r>
              <a:rPr lang="es-CO" sz="1400" dirty="0">
                <a:latin typeface="Consolas" panose="020B0609020204030204" pitchFamily="49" charset="0"/>
              </a:rPr>
              <a:t>  print("Usted es menor de edad")</a:t>
            </a:r>
          </a:p>
        </p:txBody>
      </p:sp>
      <p:sp>
        <p:nvSpPr>
          <p:cNvPr id="12" name="CuadroTexto 11">
            <a:extLst>
              <a:ext uri="{FF2B5EF4-FFF2-40B4-BE49-F238E27FC236}">
                <a16:creationId xmlns:a16="http://schemas.microsoft.com/office/drawing/2014/main" id="{6DB95A3C-2A67-4D85-BB85-D507AAA03143}"/>
              </a:ext>
            </a:extLst>
          </p:cNvPr>
          <p:cNvSpPr txBox="1"/>
          <p:nvPr/>
        </p:nvSpPr>
        <p:spPr>
          <a:xfrm>
            <a:off x="1520288" y="5773011"/>
            <a:ext cx="154578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1200" dirty="0">
                <a:hlinkClick r:id="rId2"/>
              </a:rPr>
              <a:t>Link de ejecución</a:t>
            </a:r>
            <a:endParaRPr lang="es-CO" sz="1200" dirty="0"/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E1103D3B-EF57-492C-9E0E-63F78D099F8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60410" y="1786937"/>
            <a:ext cx="3743762" cy="3907211"/>
          </a:xfrm>
          <a:prstGeom prst="rect">
            <a:avLst/>
          </a:prstGeom>
        </p:spPr>
      </p:pic>
      <p:sp>
        <p:nvSpPr>
          <p:cNvPr id="13" name="CuadroTexto 12">
            <a:extLst>
              <a:ext uri="{FF2B5EF4-FFF2-40B4-BE49-F238E27FC236}">
                <a16:creationId xmlns:a16="http://schemas.microsoft.com/office/drawing/2014/main" id="{8C139410-A358-4972-877A-E8028C72C93D}"/>
              </a:ext>
            </a:extLst>
          </p:cNvPr>
          <p:cNvSpPr txBox="1"/>
          <p:nvPr/>
        </p:nvSpPr>
        <p:spPr>
          <a:xfrm>
            <a:off x="263520" y="1543306"/>
            <a:ext cx="4020072" cy="203132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s-MX" sz="1400" dirty="0">
                <a:latin typeface="Consolas" panose="020B0609020204030204" pitchFamily="49" charset="0"/>
              </a:rPr>
              <a:t>Inicio</a:t>
            </a:r>
          </a:p>
          <a:p>
            <a:r>
              <a:rPr lang="es-MX" sz="1400" dirty="0">
                <a:latin typeface="Consolas" panose="020B0609020204030204" pitchFamily="49" charset="0"/>
              </a:rPr>
              <a:t>  MAYORIA_EDAD = 18</a:t>
            </a:r>
          </a:p>
          <a:p>
            <a:r>
              <a:rPr lang="es-MX" sz="1400" dirty="0">
                <a:latin typeface="Consolas" panose="020B0609020204030204" pitchFamily="49" charset="0"/>
              </a:rPr>
              <a:t>  Leer(edad)</a:t>
            </a:r>
          </a:p>
          <a:p>
            <a:r>
              <a:rPr lang="es-MX" sz="1400" dirty="0">
                <a:latin typeface="Consolas" panose="020B0609020204030204" pitchFamily="49" charset="0"/>
              </a:rPr>
              <a:t>  Si (edad &gt;= 10) Entonces    </a:t>
            </a:r>
          </a:p>
          <a:p>
            <a:r>
              <a:rPr lang="es-MX" sz="1400" dirty="0">
                <a:latin typeface="Consolas" panose="020B0609020204030204" pitchFamily="49" charset="0"/>
              </a:rPr>
              <a:t>    Escribir(</a:t>
            </a:r>
            <a:r>
              <a:rPr lang="es-CO" sz="1400" dirty="0">
                <a:latin typeface="Consolas" panose="020B0609020204030204" pitchFamily="49" charset="0"/>
              </a:rPr>
              <a:t>'Usted es mayor de edad'</a:t>
            </a:r>
            <a:r>
              <a:rPr lang="es-MX" sz="1400" dirty="0">
                <a:latin typeface="Consolas" panose="020B0609020204030204" pitchFamily="49" charset="0"/>
              </a:rPr>
              <a:t>)</a:t>
            </a:r>
          </a:p>
          <a:p>
            <a:r>
              <a:rPr lang="es-MX" sz="1400" dirty="0">
                <a:latin typeface="Consolas" panose="020B0609020204030204" pitchFamily="49" charset="0"/>
              </a:rPr>
              <a:t>  Sino</a:t>
            </a:r>
          </a:p>
          <a:p>
            <a:r>
              <a:rPr lang="es-MX" sz="1400" dirty="0">
                <a:latin typeface="Consolas" panose="020B0609020204030204" pitchFamily="49" charset="0"/>
              </a:rPr>
              <a:t>    Escribir(</a:t>
            </a:r>
            <a:r>
              <a:rPr lang="es-CO" sz="1400" dirty="0">
                <a:latin typeface="Consolas" panose="020B0609020204030204" pitchFamily="49" charset="0"/>
              </a:rPr>
              <a:t>'Usted es menor de edad'</a:t>
            </a:r>
            <a:r>
              <a:rPr lang="es-MX" sz="1400" dirty="0">
                <a:latin typeface="Consolas" panose="020B0609020204030204" pitchFamily="49" charset="0"/>
              </a:rPr>
              <a:t>)</a:t>
            </a:r>
          </a:p>
          <a:p>
            <a:r>
              <a:rPr lang="es-MX" sz="1400" dirty="0">
                <a:latin typeface="Consolas" panose="020B0609020204030204" pitchFamily="49" charset="0"/>
              </a:rPr>
              <a:t>  Fin_Si</a:t>
            </a:r>
          </a:p>
          <a:p>
            <a:r>
              <a:rPr lang="es-MX" sz="1400" dirty="0">
                <a:latin typeface="Consolas" panose="020B0609020204030204" pitchFamily="49" charset="0"/>
              </a:rPr>
              <a:t>Fin</a:t>
            </a:r>
            <a:endParaRPr lang="es-CO" sz="1400" dirty="0">
              <a:latin typeface="Consolas" panose="020B0609020204030204" pitchFamily="49" charset="0"/>
            </a:endParaRPr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37E49333-1E3B-45AC-9272-881F7B6AB8CE}"/>
              </a:ext>
            </a:extLst>
          </p:cNvPr>
          <p:cNvSpPr txBox="1"/>
          <p:nvPr/>
        </p:nvSpPr>
        <p:spPr>
          <a:xfrm>
            <a:off x="279455" y="3811131"/>
            <a:ext cx="242416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O" sz="2000" b="1" dirty="0"/>
              <a:t>Python</a:t>
            </a:r>
          </a:p>
        </p:txBody>
      </p:sp>
      <p:sp>
        <p:nvSpPr>
          <p:cNvPr id="15" name="CuadroTexto 14">
            <a:extLst>
              <a:ext uri="{FF2B5EF4-FFF2-40B4-BE49-F238E27FC236}">
                <a16:creationId xmlns:a16="http://schemas.microsoft.com/office/drawing/2014/main" id="{5F2921A1-1612-4D29-A0FD-743D47B30A5A}"/>
              </a:ext>
            </a:extLst>
          </p:cNvPr>
          <p:cNvSpPr txBox="1"/>
          <p:nvPr/>
        </p:nvSpPr>
        <p:spPr>
          <a:xfrm>
            <a:off x="219068" y="1164418"/>
            <a:ext cx="335444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O" sz="2000" b="1" dirty="0"/>
              <a:t>Pseudocódigo</a:t>
            </a:r>
          </a:p>
        </p:txBody>
      </p:sp>
    </p:spTree>
    <p:extLst>
      <p:ext uri="{BB962C8B-B14F-4D97-AF65-F5344CB8AC3E}">
        <p14:creationId xmlns:p14="http://schemas.microsoft.com/office/powerpoint/2010/main" val="869253289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4 Título"/>
          <p:cNvSpPr>
            <a:spLocks noGrp="1"/>
          </p:cNvSpPr>
          <p:nvPr>
            <p:ph type="title"/>
          </p:nvPr>
        </p:nvSpPr>
        <p:spPr>
          <a:xfrm>
            <a:off x="246156" y="308477"/>
            <a:ext cx="5045924" cy="864096"/>
          </a:xfrm>
        </p:spPr>
        <p:txBody>
          <a:bodyPr>
            <a:normAutofit/>
          </a:bodyPr>
          <a:lstStyle/>
          <a:p>
            <a:r>
              <a:rPr lang="es-CO" dirty="0"/>
              <a:t>Alternativa doble</a:t>
            </a:r>
          </a:p>
        </p:txBody>
      </p:sp>
      <p:graphicFrame>
        <p:nvGraphicFramePr>
          <p:cNvPr id="9" name="21 Tabla">
            <a:extLst>
              <a:ext uri="{FF2B5EF4-FFF2-40B4-BE49-F238E27FC236}">
                <a16:creationId xmlns:a16="http://schemas.microsoft.com/office/drawing/2014/main" id="{8EE8B4BE-DDEC-4428-8EC4-753D5CF98D8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31040278"/>
              </p:ext>
            </p:extLst>
          </p:nvPr>
        </p:nvGraphicFramePr>
        <p:xfrm>
          <a:off x="1419443" y="1972907"/>
          <a:ext cx="2699350" cy="8229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8991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00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28143">
                <a:tc>
                  <a:txBody>
                    <a:bodyPr/>
                    <a:lstStyle/>
                    <a:p>
                      <a:pPr algn="ctr"/>
                      <a:r>
                        <a:rPr lang="es-CO" sz="1400" b="1" dirty="0">
                          <a:solidFill>
                            <a:schemeClr val="bg1"/>
                          </a:solidFill>
                          <a:latin typeface="+mn-lt"/>
                          <a:cs typeface="Consolas" panose="020B0609020204030204" pitchFamily="49" charset="0"/>
                        </a:rPr>
                        <a:t>edad</a:t>
                      </a:r>
                    </a:p>
                  </a:txBody>
                  <a:tcP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1400" b="1" dirty="0">
                          <a:solidFill>
                            <a:schemeClr val="bg1"/>
                          </a:solidFill>
                          <a:latin typeface="+mn-lt"/>
                          <a:cs typeface="Consolas" panose="020B0609020204030204" pitchFamily="49" charset="0"/>
                        </a:rPr>
                        <a:t>Salida</a:t>
                      </a:r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8774">
                <a:tc>
                  <a:txBody>
                    <a:bodyPr/>
                    <a:lstStyle/>
                    <a:p>
                      <a:pPr algn="ctr"/>
                      <a:r>
                        <a:rPr lang="es-CO" sz="1400" b="0" dirty="0">
                          <a:latin typeface="+mn-lt"/>
                          <a:cs typeface="Consolas" panose="020B0609020204030204" pitchFamily="49" charset="0"/>
                        </a:rPr>
                        <a:t>18</a:t>
                      </a:r>
                    </a:p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CO" sz="1400" b="0" dirty="0">
                          <a:latin typeface="+mn-lt"/>
                          <a:cs typeface="Consolas" panose="020B0609020204030204" pitchFamily="49" charset="0"/>
                        </a:rPr>
                        <a:t>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1400" b="0" dirty="0">
                          <a:latin typeface="+mn-lt"/>
                          <a:cs typeface="Consolas" panose="020B0609020204030204" pitchFamily="49" charset="0"/>
                        </a:rPr>
                        <a:t>Mayor de edad</a:t>
                      </a:r>
                    </a:p>
                    <a:p>
                      <a:pPr algn="ctr"/>
                      <a:r>
                        <a:rPr lang="es-CO" sz="1400" b="0" dirty="0">
                          <a:latin typeface="+mn-lt"/>
                          <a:cs typeface="Consolas" panose="020B0609020204030204" pitchFamily="49" charset="0"/>
                        </a:rPr>
                        <a:t>Menor de edad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0" name="5 Rectángulo">
            <a:extLst>
              <a:ext uri="{FF2B5EF4-FFF2-40B4-BE49-F238E27FC236}">
                <a16:creationId xmlns:a16="http://schemas.microsoft.com/office/drawing/2014/main" id="{5B8F968D-CFD2-4A37-AC74-1FFF58C39656}"/>
              </a:ext>
            </a:extLst>
          </p:cNvPr>
          <p:cNvSpPr/>
          <p:nvPr/>
        </p:nvSpPr>
        <p:spPr>
          <a:xfrm>
            <a:off x="283782" y="3028890"/>
            <a:ext cx="2453636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s-CO" sz="2000" b="1" dirty="0"/>
              <a:t>Prueba de escritorio</a:t>
            </a:r>
            <a:endParaRPr lang="es-CO" sz="2000" dirty="0"/>
          </a:p>
        </p:txBody>
      </p:sp>
      <p:graphicFrame>
        <p:nvGraphicFramePr>
          <p:cNvPr id="11" name="7 Tabla">
            <a:extLst>
              <a:ext uri="{FF2B5EF4-FFF2-40B4-BE49-F238E27FC236}">
                <a16:creationId xmlns:a16="http://schemas.microsoft.com/office/drawing/2014/main" id="{C375F44B-F660-4E61-A0BC-B511C1B3E16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15277208"/>
              </p:ext>
            </p:extLst>
          </p:nvPr>
        </p:nvGraphicFramePr>
        <p:xfrm>
          <a:off x="1565908" y="3698178"/>
          <a:ext cx="2061292" cy="9144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03064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3064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08161">
                <a:tc>
                  <a:txBody>
                    <a:bodyPr/>
                    <a:lstStyle/>
                    <a:p>
                      <a:pPr algn="ctr"/>
                      <a:r>
                        <a:rPr lang="es-CO" sz="1400" b="1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edad</a:t>
                      </a:r>
                    </a:p>
                  </a:txBody>
                  <a:tcPr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1400" b="1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Salida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8161">
                <a:tc>
                  <a:txBody>
                    <a:bodyPr/>
                    <a:lstStyle/>
                    <a:p>
                      <a:pPr algn="ctr"/>
                      <a:endParaRPr lang="es-CO" sz="1400" b="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CO" sz="1400" b="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8161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s-CO" sz="1400" b="1" dirty="0">
                        <a:solidFill>
                          <a:srgbClr val="FF0000"/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CO" sz="1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3" name="CuadroTexto 12">
            <a:extLst>
              <a:ext uri="{FF2B5EF4-FFF2-40B4-BE49-F238E27FC236}">
                <a16:creationId xmlns:a16="http://schemas.microsoft.com/office/drawing/2014/main" id="{BA1D2FB6-C610-4A75-9611-BA72868FAD91}"/>
              </a:ext>
            </a:extLst>
          </p:cNvPr>
          <p:cNvSpPr txBox="1"/>
          <p:nvPr/>
        </p:nvSpPr>
        <p:spPr>
          <a:xfrm>
            <a:off x="4572000" y="2213282"/>
            <a:ext cx="4020072" cy="203132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s-MX" sz="1400" dirty="0">
                <a:latin typeface="Consolas" panose="020B0609020204030204" pitchFamily="49" charset="0"/>
              </a:rPr>
              <a:t>Inicio</a:t>
            </a:r>
          </a:p>
          <a:p>
            <a:r>
              <a:rPr lang="es-MX" sz="1400" dirty="0">
                <a:latin typeface="Consolas" panose="020B0609020204030204" pitchFamily="49" charset="0"/>
              </a:rPr>
              <a:t>  MAYORIA_EDAD = 18</a:t>
            </a:r>
          </a:p>
          <a:p>
            <a:r>
              <a:rPr lang="es-MX" sz="1400" dirty="0">
                <a:latin typeface="Consolas" panose="020B0609020204030204" pitchFamily="49" charset="0"/>
              </a:rPr>
              <a:t>  Leer(edad)</a:t>
            </a:r>
          </a:p>
          <a:p>
            <a:r>
              <a:rPr lang="es-MX" sz="1400" dirty="0">
                <a:latin typeface="Consolas" panose="020B0609020204030204" pitchFamily="49" charset="0"/>
              </a:rPr>
              <a:t>  Si (edad &gt;= 10) Entonces    </a:t>
            </a:r>
          </a:p>
          <a:p>
            <a:r>
              <a:rPr lang="es-MX" sz="1400" dirty="0">
                <a:latin typeface="Consolas" panose="020B0609020204030204" pitchFamily="49" charset="0"/>
              </a:rPr>
              <a:t>    Escribir(</a:t>
            </a:r>
            <a:r>
              <a:rPr lang="es-CO" sz="1400" dirty="0">
                <a:latin typeface="Consolas" panose="020B0609020204030204" pitchFamily="49" charset="0"/>
              </a:rPr>
              <a:t>'Usted es mayor de edad'</a:t>
            </a:r>
            <a:r>
              <a:rPr lang="es-MX" sz="1400" dirty="0">
                <a:latin typeface="Consolas" panose="020B0609020204030204" pitchFamily="49" charset="0"/>
              </a:rPr>
              <a:t>)</a:t>
            </a:r>
          </a:p>
          <a:p>
            <a:r>
              <a:rPr lang="es-MX" sz="1400" dirty="0">
                <a:latin typeface="Consolas" panose="020B0609020204030204" pitchFamily="49" charset="0"/>
              </a:rPr>
              <a:t>  Sino</a:t>
            </a:r>
          </a:p>
          <a:p>
            <a:r>
              <a:rPr lang="es-MX" sz="1400" dirty="0">
                <a:latin typeface="Consolas" panose="020B0609020204030204" pitchFamily="49" charset="0"/>
              </a:rPr>
              <a:t>    Escribir(</a:t>
            </a:r>
            <a:r>
              <a:rPr lang="es-CO" sz="1400" dirty="0">
                <a:latin typeface="Consolas" panose="020B0609020204030204" pitchFamily="49" charset="0"/>
              </a:rPr>
              <a:t>'Usted es menor de edad'</a:t>
            </a:r>
            <a:r>
              <a:rPr lang="es-MX" sz="1400" dirty="0">
                <a:latin typeface="Consolas" panose="020B0609020204030204" pitchFamily="49" charset="0"/>
              </a:rPr>
              <a:t>)</a:t>
            </a:r>
          </a:p>
          <a:p>
            <a:r>
              <a:rPr lang="es-MX" sz="1400" dirty="0">
                <a:latin typeface="Consolas" panose="020B0609020204030204" pitchFamily="49" charset="0"/>
              </a:rPr>
              <a:t>  Fin_Si</a:t>
            </a:r>
          </a:p>
          <a:p>
            <a:r>
              <a:rPr lang="es-MX" sz="1400" dirty="0">
                <a:latin typeface="Consolas" panose="020B0609020204030204" pitchFamily="49" charset="0"/>
              </a:rPr>
              <a:t>Fin</a:t>
            </a:r>
            <a:endParaRPr lang="es-CO" sz="1400" dirty="0">
              <a:latin typeface="Consolas" panose="020B0609020204030204" pitchFamily="49" charset="0"/>
            </a:endParaRPr>
          </a:p>
        </p:txBody>
      </p:sp>
      <p:sp>
        <p:nvSpPr>
          <p:cNvPr id="14" name="5 Rectángulo">
            <a:extLst>
              <a:ext uri="{FF2B5EF4-FFF2-40B4-BE49-F238E27FC236}">
                <a16:creationId xmlns:a16="http://schemas.microsoft.com/office/drawing/2014/main" id="{2821633F-CFBB-449E-93BF-7DE7B27FA686}"/>
              </a:ext>
            </a:extLst>
          </p:cNvPr>
          <p:cNvSpPr/>
          <p:nvPr/>
        </p:nvSpPr>
        <p:spPr>
          <a:xfrm>
            <a:off x="309845" y="1412159"/>
            <a:ext cx="2497094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s-CO" sz="2000" b="1" dirty="0"/>
              <a:t>Resultados esperados</a:t>
            </a:r>
            <a:endParaRPr lang="es-CO" sz="2000" dirty="0"/>
          </a:p>
        </p:txBody>
      </p:sp>
    </p:spTree>
    <p:extLst>
      <p:ext uri="{BB962C8B-B14F-4D97-AF65-F5344CB8AC3E}">
        <p14:creationId xmlns:p14="http://schemas.microsoft.com/office/powerpoint/2010/main" val="752544498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4 Título"/>
          <p:cNvSpPr>
            <a:spLocks noGrp="1"/>
          </p:cNvSpPr>
          <p:nvPr>
            <p:ph type="title"/>
          </p:nvPr>
        </p:nvSpPr>
        <p:spPr>
          <a:xfrm>
            <a:off x="117337" y="215764"/>
            <a:ext cx="8229600" cy="652637"/>
          </a:xfrm>
        </p:spPr>
        <p:txBody>
          <a:bodyPr>
            <a:normAutofit fontScale="90000"/>
          </a:bodyPr>
          <a:lstStyle/>
          <a:p>
            <a:r>
              <a:rPr lang="es-MX" dirty="0"/>
              <a:t>Ejemplos de repaso</a:t>
            </a:r>
            <a:endParaRPr lang="es-CO" dirty="0"/>
          </a:p>
        </p:txBody>
      </p:sp>
      <p:sp>
        <p:nvSpPr>
          <p:cNvPr id="13" name="12 Rectángulo"/>
          <p:cNvSpPr/>
          <p:nvPr/>
        </p:nvSpPr>
        <p:spPr>
          <a:xfrm>
            <a:off x="143977" y="890717"/>
            <a:ext cx="8516478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s-CO" sz="2000" b="1" dirty="0"/>
              <a:t>Ejemplo 2 - Solución: </a:t>
            </a:r>
            <a:r>
              <a:rPr lang="es-CO" sz="2000" dirty="0"/>
              <a:t>Realizar un algoritmo que averigüe si de dos números por teclado el segundo es divisor del primero.</a:t>
            </a:r>
          </a:p>
        </p:txBody>
      </p:sp>
      <p:sp>
        <p:nvSpPr>
          <p:cNvPr id="6" name="5 CuadroTexto"/>
          <p:cNvSpPr txBox="1"/>
          <p:nvPr/>
        </p:nvSpPr>
        <p:spPr>
          <a:xfrm>
            <a:off x="172081" y="1597006"/>
            <a:ext cx="8720399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O" b="1" dirty="0"/>
              <a:t>Datos de entrada: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CO" sz="1600" dirty="0"/>
              <a:t>Numero 1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CO" sz="1600" dirty="0"/>
              <a:t>Numero 2</a:t>
            </a:r>
          </a:p>
          <a:p>
            <a:r>
              <a:rPr lang="es-CO" b="1" dirty="0"/>
              <a:t>Datos de salida: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CO" sz="1600" dirty="0"/>
              <a:t>Imprime un mensaje que indica que el numero 2 es divisor del numero 1 o lo contrario.</a:t>
            </a:r>
          </a:p>
          <a:p>
            <a:r>
              <a:rPr lang="es-CO" sz="1600" b="1" dirty="0"/>
              <a:t>Definición de variables</a:t>
            </a:r>
            <a:r>
              <a:rPr lang="es-CO" sz="1600" dirty="0"/>
              <a:t>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CO" sz="1600" dirty="0"/>
              <a:t>Entrada/salida:</a:t>
            </a:r>
          </a:p>
          <a:p>
            <a:pPr marL="800100" lvl="1" indent="-342900">
              <a:buFont typeface="Arial" pitchFamily="34" charset="0"/>
              <a:buChar char="•"/>
            </a:pPr>
            <a:r>
              <a:rPr lang="es-CO" sz="1600" b="1" dirty="0"/>
              <a:t>num1</a:t>
            </a:r>
            <a:r>
              <a:rPr lang="es-CO" sz="1600" i="1" dirty="0"/>
              <a:t>: </a:t>
            </a:r>
            <a:r>
              <a:rPr lang="es-CO" sz="1600" dirty="0"/>
              <a:t>Numero 1</a:t>
            </a:r>
          </a:p>
          <a:p>
            <a:pPr marL="800100" lvl="1" indent="-342900">
              <a:buFont typeface="Arial" pitchFamily="34" charset="0"/>
              <a:buChar char="•"/>
            </a:pPr>
            <a:r>
              <a:rPr lang="es-CO" sz="1600" b="1" dirty="0"/>
              <a:t>num2</a:t>
            </a:r>
            <a:r>
              <a:rPr lang="es-CO" sz="1600" i="1" dirty="0"/>
              <a:t>: </a:t>
            </a:r>
            <a:r>
              <a:rPr lang="es-CO" sz="1600" dirty="0"/>
              <a:t>Numero 2</a:t>
            </a:r>
          </a:p>
          <a:p>
            <a:r>
              <a:rPr lang="es-CO" b="1" dirty="0"/>
              <a:t>Proceso</a:t>
            </a:r>
            <a:r>
              <a:rPr lang="es-CO" dirty="0"/>
              <a:t>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CO" sz="1600" dirty="0"/>
              <a:t>Un numero es divisor de otro si su residuo es </a:t>
            </a:r>
            <a:r>
              <a:rPr lang="es-CO" sz="1600" b="1" dirty="0">
                <a:latin typeface="Consolas" panose="020B0609020204030204" pitchFamily="49" charset="0"/>
              </a:rPr>
              <a:t>0</a:t>
            </a:r>
            <a:r>
              <a:rPr lang="es-CO" sz="1600" dirty="0"/>
              <a:t>. Para este caso </a:t>
            </a:r>
            <a:r>
              <a:rPr lang="es-CO" sz="1600" b="1" dirty="0"/>
              <a:t>num2</a:t>
            </a:r>
            <a:r>
              <a:rPr lang="es-CO" sz="1600" dirty="0"/>
              <a:t> divisor de </a:t>
            </a:r>
            <a:r>
              <a:rPr lang="es-CO" sz="1600" b="1" dirty="0">
                <a:latin typeface="Consolas" panose="020B0609020204030204" pitchFamily="49" charset="0"/>
              </a:rPr>
              <a:t>num1</a:t>
            </a:r>
            <a:r>
              <a:rPr lang="es-CO" sz="1600" dirty="0"/>
              <a:t> si </a:t>
            </a:r>
            <a:r>
              <a:rPr lang="es-CO" sz="1600" b="1" dirty="0">
                <a:latin typeface="Consolas" panose="020B0609020204030204" pitchFamily="49" charset="0"/>
              </a:rPr>
              <a:t>num1%num2==0</a:t>
            </a:r>
          </a:p>
        </p:txBody>
      </p:sp>
      <p:grpSp>
        <p:nvGrpSpPr>
          <p:cNvPr id="7" name="Grupo 6">
            <a:extLst>
              <a:ext uri="{FF2B5EF4-FFF2-40B4-BE49-F238E27FC236}">
                <a16:creationId xmlns:a16="http://schemas.microsoft.com/office/drawing/2014/main" id="{A9EEE4E3-8253-497B-A69E-65C5EE3D1165}"/>
              </a:ext>
            </a:extLst>
          </p:cNvPr>
          <p:cNvGrpSpPr/>
          <p:nvPr/>
        </p:nvGrpSpPr>
        <p:grpSpPr>
          <a:xfrm>
            <a:off x="551166" y="4651643"/>
            <a:ext cx="8202163" cy="1755567"/>
            <a:chOff x="470918" y="3717032"/>
            <a:chExt cx="8202163" cy="1755567"/>
          </a:xfrm>
        </p:grpSpPr>
        <p:grpSp>
          <p:nvGrpSpPr>
            <p:cNvPr id="8" name="Grupo 7">
              <a:extLst>
                <a:ext uri="{FF2B5EF4-FFF2-40B4-BE49-F238E27FC236}">
                  <a16:creationId xmlns:a16="http://schemas.microsoft.com/office/drawing/2014/main" id="{2EC73EAB-E2DD-49E9-B17C-35E993644E11}"/>
                </a:ext>
              </a:extLst>
            </p:cNvPr>
            <p:cNvGrpSpPr/>
            <p:nvPr/>
          </p:nvGrpSpPr>
          <p:grpSpPr>
            <a:xfrm>
              <a:off x="470918" y="3717032"/>
              <a:ext cx="8202163" cy="1242333"/>
              <a:chOff x="506904" y="1052736"/>
              <a:chExt cx="8202163" cy="1242333"/>
            </a:xfrm>
          </p:grpSpPr>
          <p:sp>
            <p:nvSpPr>
              <p:cNvPr id="11" name="1 Rectángulo">
                <a:extLst>
                  <a:ext uri="{FF2B5EF4-FFF2-40B4-BE49-F238E27FC236}">
                    <a16:creationId xmlns:a16="http://schemas.microsoft.com/office/drawing/2014/main" id="{E5F2519E-2687-4321-A7EB-AEC5A71F5CD3}"/>
                  </a:ext>
                </a:extLst>
              </p:cNvPr>
              <p:cNvSpPr/>
              <p:nvPr/>
            </p:nvSpPr>
            <p:spPr>
              <a:xfrm>
                <a:off x="805015" y="1833404"/>
                <a:ext cx="524503" cy="46166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s-CO" sz="12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num1</a:t>
                </a:r>
              </a:p>
              <a:p>
                <a:r>
                  <a:rPr lang="es-CO" sz="12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num2</a:t>
                </a:r>
              </a:p>
            </p:txBody>
          </p:sp>
          <p:grpSp>
            <p:nvGrpSpPr>
              <p:cNvPr id="12" name="5 Grupo">
                <a:extLst>
                  <a:ext uri="{FF2B5EF4-FFF2-40B4-BE49-F238E27FC236}">
                    <a16:creationId xmlns:a16="http://schemas.microsoft.com/office/drawing/2014/main" id="{190E768C-AD97-4ECF-B45D-0C723F844F7F}"/>
                  </a:ext>
                </a:extLst>
              </p:cNvPr>
              <p:cNvGrpSpPr/>
              <p:nvPr/>
            </p:nvGrpSpPr>
            <p:grpSpPr>
              <a:xfrm>
                <a:off x="506904" y="1052736"/>
                <a:ext cx="8202163" cy="783771"/>
                <a:chOff x="518399" y="1739458"/>
                <a:chExt cx="8202163" cy="783771"/>
              </a:xfrm>
            </p:grpSpPr>
            <p:sp>
              <p:nvSpPr>
                <p:cNvPr id="17" name="10 Rectángulo">
                  <a:extLst>
                    <a:ext uri="{FF2B5EF4-FFF2-40B4-BE49-F238E27FC236}">
                      <a16:creationId xmlns:a16="http://schemas.microsoft.com/office/drawing/2014/main" id="{A9F47A3E-5539-4946-AD8A-8196024EE0CF}"/>
                    </a:ext>
                  </a:extLst>
                </p:cNvPr>
                <p:cNvSpPr/>
                <p:nvPr/>
              </p:nvSpPr>
              <p:spPr>
                <a:xfrm>
                  <a:off x="518399" y="1879706"/>
                  <a:ext cx="1345763" cy="498763"/>
                </a:xfrm>
                <a:prstGeom prst="rect">
                  <a:avLst/>
                </a:prstGeom>
                <a:noFill/>
                <a:ln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s-CO" b="1" dirty="0">
                      <a:solidFill>
                        <a:schemeClr val="tx1"/>
                      </a:solidFill>
                    </a:rPr>
                    <a:t>Inputs</a:t>
                  </a:r>
                </a:p>
              </p:txBody>
            </p:sp>
            <p:sp>
              <p:nvSpPr>
                <p:cNvPr id="18" name="11 Rectángulo">
                  <a:extLst>
                    <a:ext uri="{FF2B5EF4-FFF2-40B4-BE49-F238E27FC236}">
                      <a16:creationId xmlns:a16="http://schemas.microsoft.com/office/drawing/2014/main" id="{A5835B90-8D65-41EE-9F66-088E7E77DD87}"/>
                    </a:ext>
                  </a:extLst>
                </p:cNvPr>
                <p:cNvSpPr/>
                <p:nvPr/>
              </p:nvSpPr>
              <p:spPr>
                <a:xfrm>
                  <a:off x="3563888" y="1739458"/>
                  <a:ext cx="2104858" cy="783771"/>
                </a:xfrm>
                <a:prstGeom prst="rect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s-CO" b="1" dirty="0"/>
                    <a:t>Process</a:t>
                  </a:r>
                </a:p>
              </p:txBody>
            </p:sp>
            <p:sp>
              <p:nvSpPr>
                <p:cNvPr id="19" name="13 Rectángulo">
                  <a:extLst>
                    <a:ext uri="{FF2B5EF4-FFF2-40B4-BE49-F238E27FC236}">
                      <a16:creationId xmlns:a16="http://schemas.microsoft.com/office/drawing/2014/main" id="{C605FDEA-FC40-4D7A-81C3-C371F7BCA52C}"/>
                    </a:ext>
                  </a:extLst>
                </p:cNvPr>
                <p:cNvSpPr/>
                <p:nvPr/>
              </p:nvSpPr>
              <p:spPr>
                <a:xfrm>
                  <a:off x="7374799" y="1884602"/>
                  <a:ext cx="1345763" cy="498763"/>
                </a:xfrm>
                <a:prstGeom prst="rect">
                  <a:avLst/>
                </a:prstGeom>
                <a:noFill/>
                <a:ln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s-CO" b="1" dirty="0">
                      <a:solidFill>
                        <a:schemeClr val="tx1"/>
                      </a:solidFill>
                    </a:rPr>
                    <a:t>Outputs</a:t>
                  </a:r>
                </a:p>
              </p:txBody>
            </p:sp>
            <p:sp>
              <p:nvSpPr>
                <p:cNvPr id="20" name="14 Flecha derecha">
                  <a:extLst>
                    <a:ext uri="{FF2B5EF4-FFF2-40B4-BE49-F238E27FC236}">
                      <a16:creationId xmlns:a16="http://schemas.microsoft.com/office/drawing/2014/main" id="{E10E6A64-7D80-4B03-8DD1-F6AD6BC86625}"/>
                    </a:ext>
                  </a:extLst>
                </p:cNvPr>
                <p:cNvSpPr/>
                <p:nvPr/>
              </p:nvSpPr>
              <p:spPr>
                <a:xfrm>
                  <a:off x="1851561" y="2038875"/>
                  <a:ext cx="1717589" cy="213756"/>
                </a:xfrm>
                <a:prstGeom prst="rightArrow">
                  <a:avLst/>
                </a:prstGeom>
                <a:solidFill>
                  <a:schemeClr val="bg1">
                    <a:lumMod val="5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CO"/>
                </a:p>
              </p:txBody>
            </p:sp>
            <p:sp>
              <p:nvSpPr>
                <p:cNvPr id="21" name="21 Flecha derecha">
                  <a:extLst>
                    <a:ext uri="{FF2B5EF4-FFF2-40B4-BE49-F238E27FC236}">
                      <a16:creationId xmlns:a16="http://schemas.microsoft.com/office/drawing/2014/main" id="{E44A9B91-EA90-496F-BD06-073D3198EC8B}"/>
                    </a:ext>
                  </a:extLst>
                </p:cNvPr>
                <p:cNvSpPr/>
                <p:nvPr/>
              </p:nvSpPr>
              <p:spPr>
                <a:xfrm>
                  <a:off x="5676075" y="2031618"/>
                  <a:ext cx="1717589" cy="213756"/>
                </a:xfrm>
                <a:prstGeom prst="rightArrow">
                  <a:avLst/>
                </a:prstGeom>
                <a:solidFill>
                  <a:schemeClr val="bg1">
                    <a:lumMod val="5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CO"/>
                </a:p>
              </p:txBody>
            </p:sp>
          </p:grpSp>
        </p:grpSp>
        <p:pic>
          <p:nvPicPr>
            <p:cNvPr id="9" name="Picture 2" descr="http://t2.gstatic.com/images?q=tbn:ANd9GcS51PGLkp34nPs-LewfkgAfjdZsyder21fNGFoRiZ_A6x7txo3e">
              <a:extLst>
                <a:ext uri="{FF2B5EF4-FFF2-40B4-BE49-F238E27FC236}">
                  <a16:creationId xmlns:a16="http://schemas.microsoft.com/office/drawing/2014/main" id="{9CEC6424-91B9-4DB2-8BBE-F553549EFBF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348167" y="4430424"/>
              <a:ext cx="1270814" cy="104217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33504552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4 Título"/>
          <p:cNvSpPr>
            <a:spLocks noGrp="1"/>
          </p:cNvSpPr>
          <p:nvPr>
            <p:ph type="title"/>
          </p:nvPr>
        </p:nvSpPr>
        <p:spPr>
          <a:xfrm>
            <a:off x="260865" y="260648"/>
            <a:ext cx="4302007" cy="811660"/>
          </a:xfrm>
        </p:spPr>
        <p:txBody>
          <a:bodyPr>
            <a:normAutofit fontScale="90000"/>
          </a:bodyPr>
          <a:lstStyle/>
          <a:p>
            <a:r>
              <a:rPr lang="es-CO" dirty="0"/>
              <a:t>Ejemplos de repaso</a:t>
            </a:r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F1CE28-A3C7-48DC-84A2-8FB08D6123C5}" type="slidenum">
              <a:rPr lang="en-US" smtClean="0"/>
              <a:pPr/>
              <a:t>50</a:t>
            </a:fld>
            <a:endParaRPr lang="en-US" dirty="0"/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F70C5E9F-9879-4FEC-B11F-19F19652F17D}"/>
              </a:ext>
            </a:extLst>
          </p:cNvPr>
          <p:cNvSpPr txBox="1"/>
          <p:nvPr/>
        </p:nvSpPr>
        <p:spPr>
          <a:xfrm>
            <a:off x="288845" y="4445762"/>
            <a:ext cx="4824536" cy="120032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s-CO" sz="1200" dirty="0">
                <a:latin typeface="Consolas" panose="020B0609020204030204" pitchFamily="49" charset="0"/>
              </a:rPr>
              <a:t>num1 = int(input("Digite el primer numero: "))</a:t>
            </a:r>
          </a:p>
          <a:p>
            <a:r>
              <a:rPr lang="es-CO" sz="1200" dirty="0">
                <a:latin typeface="Consolas" panose="020B0609020204030204" pitchFamily="49" charset="0"/>
              </a:rPr>
              <a:t>num2 = int(input("Digite el segundo numero: "))</a:t>
            </a:r>
          </a:p>
          <a:p>
            <a:r>
              <a:rPr lang="es-CO" sz="1200" dirty="0">
                <a:latin typeface="Consolas" panose="020B0609020204030204" pitchFamily="49" charset="0"/>
              </a:rPr>
              <a:t>if(num1%num2 == 0):    </a:t>
            </a:r>
          </a:p>
          <a:p>
            <a:r>
              <a:rPr lang="es-CO" sz="1200" dirty="0">
                <a:latin typeface="Consolas" panose="020B0609020204030204" pitchFamily="49" charset="0"/>
              </a:rPr>
              <a:t>  print(f"{num2} es divisor de {num1}")</a:t>
            </a:r>
          </a:p>
          <a:p>
            <a:r>
              <a:rPr lang="es-CO" sz="1200" dirty="0">
                <a:latin typeface="Consolas" panose="020B0609020204030204" pitchFamily="49" charset="0"/>
              </a:rPr>
              <a:t>else:    </a:t>
            </a:r>
          </a:p>
          <a:p>
            <a:r>
              <a:rPr lang="es-CO" sz="1200" dirty="0">
                <a:latin typeface="Consolas" panose="020B0609020204030204" pitchFamily="49" charset="0"/>
              </a:rPr>
              <a:t>  print(f"{num2} no es divisor de {num1}")</a:t>
            </a:r>
          </a:p>
        </p:txBody>
      </p:sp>
      <p:pic>
        <p:nvPicPr>
          <p:cNvPr id="8" name="Imagen 7">
            <a:extLst>
              <a:ext uri="{FF2B5EF4-FFF2-40B4-BE49-F238E27FC236}">
                <a16:creationId xmlns:a16="http://schemas.microsoft.com/office/drawing/2014/main" id="{CFB72E41-9B30-49CA-B91D-D122EAC3DA4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44543" y="1788610"/>
            <a:ext cx="3652904" cy="3280779"/>
          </a:xfrm>
          <a:prstGeom prst="rect">
            <a:avLst/>
          </a:prstGeom>
        </p:spPr>
      </p:pic>
      <p:sp>
        <p:nvSpPr>
          <p:cNvPr id="12" name="CuadroTexto 11">
            <a:extLst>
              <a:ext uri="{FF2B5EF4-FFF2-40B4-BE49-F238E27FC236}">
                <a16:creationId xmlns:a16="http://schemas.microsoft.com/office/drawing/2014/main" id="{E90EDE0B-86C5-4BBF-A666-D311140FCCFC}"/>
              </a:ext>
            </a:extLst>
          </p:cNvPr>
          <p:cNvSpPr txBox="1"/>
          <p:nvPr/>
        </p:nvSpPr>
        <p:spPr>
          <a:xfrm>
            <a:off x="260865" y="1974205"/>
            <a:ext cx="4469463" cy="156966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s-MX" sz="1200" dirty="0">
                <a:latin typeface="Consolas" panose="020B0609020204030204" pitchFamily="49" charset="0"/>
              </a:rPr>
              <a:t>Inicio</a:t>
            </a:r>
          </a:p>
          <a:p>
            <a:r>
              <a:rPr lang="es-MX" sz="1200" dirty="0">
                <a:latin typeface="Consolas" panose="020B0609020204030204" pitchFamily="49" charset="0"/>
              </a:rPr>
              <a:t>  Leer(num1,num2)</a:t>
            </a:r>
          </a:p>
          <a:p>
            <a:r>
              <a:rPr lang="es-MX" sz="1200" dirty="0">
                <a:latin typeface="Consolas" panose="020B0609020204030204" pitchFamily="49" charset="0"/>
              </a:rPr>
              <a:t>  Si (num1%num2 == 0) Entonces    </a:t>
            </a:r>
          </a:p>
          <a:p>
            <a:r>
              <a:rPr lang="es-MX" sz="1200" dirty="0">
                <a:latin typeface="Consolas" panose="020B0609020204030204" pitchFamily="49" charset="0"/>
              </a:rPr>
              <a:t>    Escribir(num2, </a:t>
            </a:r>
            <a:r>
              <a:rPr lang="es-CO" sz="1200" dirty="0">
                <a:latin typeface="Consolas" panose="020B0609020204030204" pitchFamily="49" charset="0"/>
              </a:rPr>
              <a:t>" es divisor de ", num1</a:t>
            </a:r>
            <a:r>
              <a:rPr lang="es-MX" sz="1200" dirty="0">
                <a:latin typeface="Consolas" panose="020B0609020204030204" pitchFamily="49" charset="0"/>
              </a:rPr>
              <a:t>)</a:t>
            </a:r>
          </a:p>
          <a:p>
            <a:r>
              <a:rPr lang="es-MX" sz="1200" dirty="0">
                <a:latin typeface="Consolas" panose="020B0609020204030204" pitchFamily="49" charset="0"/>
              </a:rPr>
              <a:t>  Sino</a:t>
            </a:r>
          </a:p>
          <a:p>
            <a:r>
              <a:rPr lang="es-MX" sz="1200" dirty="0">
                <a:latin typeface="Consolas" panose="020B0609020204030204" pitchFamily="49" charset="0"/>
              </a:rPr>
              <a:t>    Escribir(num2, </a:t>
            </a:r>
            <a:r>
              <a:rPr lang="es-CO" sz="1200" dirty="0">
                <a:latin typeface="Consolas" panose="020B0609020204030204" pitchFamily="49" charset="0"/>
              </a:rPr>
              <a:t>" no es divisor de ", num1</a:t>
            </a:r>
            <a:r>
              <a:rPr lang="es-MX" sz="1200" dirty="0">
                <a:latin typeface="Consolas" panose="020B0609020204030204" pitchFamily="49" charset="0"/>
              </a:rPr>
              <a:t>)</a:t>
            </a:r>
          </a:p>
          <a:p>
            <a:r>
              <a:rPr lang="es-MX" sz="1200" dirty="0">
                <a:latin typeface="Consolas" panose="020B0609020204030204" pitchFamily="49" charset="0"/>
              </a:rPr>
              <a:t>  Fin_Si</a:t>
            </a:r>
          </a:p>
          <a:p>
            <a:r>
              <a:rPr lang="es-MX" sz="1200" dirty="0">
                <a:latin typeface="Consolas" panose="020B0609020204030204" pitchFamily="49" charset="0"/>
              </a:rPr>
              <a:t>Fin</a:t>
            </a:r>
            <a:endParaRPr lang="es-CO" sz="1200" dirty="0">
              <a:latin typeface="Consolas" panose="020B0609020204030204" pitchFamily="49" charset="0"/>
            </a:endParaRPr>
          </a:p>
        </p:txBody>
      </p:sp>
      <p:sp>
        <p:nvSpPr>
          <p:cNvPr id="13" name="CuadroTexto 12">
            <a:extLst>
              <a:ext uri="{FF2B5EF4-FFF2-40B4-BE49-F238E27FC236}">
                <a16:creationId xmlns:a16="http://schemas.microsoft.com/office/drawing/2014/main" id="{693D80C1-DA17-41DB-9925-E3AC6846D2B8}"/>
              </a:ext>
            </a:extLst>
          </p:cNvPr>
          <p:cNvSpPr txBox="1"/>
          <p:nvPr/>
        </p:nvSpPr>
        <p:spPr>
          <a:xfrm>
            <a:off x="261461" y="4045652"/>
            <a:ext cx="242416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O" sz="2000" b="1" dirty="0"/>
              <a:t>Python</a:t>
            </a:r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93F12BE1-B4B8-4C22-B32A-416FFB433B4B}"/>
              </a:ext>
            </a:extLst>
          </p:cNvPr>
          <p:cNvSpPr txBox="1"/>
          <p:nvPr/>
        </p:nvSpPr>
        <p:spPr>
          <a:xfrm>
            <a:off x="288845" y="1446029"/>
            <a:ext cx="335444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O" sz="2000" b="1" dirty="0"/>
              <a:t>Pseudocódigo</a:t>
            </a:r>
          </a:p>
        </p:txBody>
      </p:sp>
      <p:sp>
        <p:nvSpPr>
          <p:cNvPr id="15" name="CuadroTexto 14">
            <a:extLst>
              <a:ext uri="{FF2B5EF4-FFF2-40B4-BE49-F238E27FC236}">
                <a16:creationId xmlns:a16="http://schemas.microsoft.com/office/drawing/2014/main" id="{1EC59115-FE50-4381-A73A-04C968B707A5}"/>
              </a:ext>
            </a:extLst>
          </p:cNvPr>
          <p:cNvSpPr txBox="1"/>
          <p:nvPr/>
        </p:nvSpPr>
        <p:spPr>
          <a:xfrm>
            <a:off x="1722703" y="5769202"/>
            <a:ext cx="154578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1200" dirty="0">
                <a:hlinkClick r:id="rId3"/>
              </a:rPr>
              <a:t>Link de ejecución</a:t>
            </a:r>
            <a:endParaRPr lang="es-CO" sz="1200" dirty="0"/>
          </a:p>
        </p:txBody>
      </p:sp>
    </p:spTree>
    <p:extLst>
      <p:ext uri="{BB962C8B-B14F-4D97-AF65-F5344CB8AC3E}">
        <p14:creationId xmlns:p14="http://schemas.microsoft.com/office/powerpoint/2010/main" val="3395472542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4 Título"/>
          <p:cNvSpPr>
            <a:spLocks noGrp="1"/>
          </p:cNvSpPr>
          <p:nvPr>
            <p:ph type="title"/>
          </p:nvPr>
        </p:nvSpPr>
        <p:spPr>
          <a:xfrm>
            <a:off x="127445" y="308332"/>
            <a:ext cx="4320478" cy="754326"/>
          </a:xfrm>
        </p:spPr>
        <p:txBody>
          <a:bodyPr>
            <a:normAutofit fontScale="90000"/>
          </a:bodyPr>
          <a:lstStyle/>
          <a:p>
            <a:r>
              <a:rPr lang="es-MX" dirty="0"/>
              <a:t>Ejemplos de repaso</a:t>
            </a:r>
            <a:endParaRPr lang="es-CO" dirty="0"/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F1CE28-A3C7-48DC-84A2-8FB08D6123C5}" type="slidenum">
              <a:rPr lang="en-US" smtClean="0"/>
              <a:pPr/>
              <a:t>51</a:t>
            </a:fld>
            <a:endParaRPr lang="en-US" dirty="0"/>
          </a:p>
        </p:txBody>
      </p:sp>
      <p:sp>
        <p:nvSpPr>
          <p:cNvPr id="6" name="5 Rectángulo"/>
          <p:cNvSpPr/>
          <p:nvPr/>
        </p:nvSpPr>
        <p:spPr>
          <a:xfrm>
            <a:off x="237169" y="3378172"/>
            <a:ext cx="3960440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s-CO" sz="2000" b="1" dirty="0"/>
              <a:t>Prueba de escritorio: </a:t>
            </a:r>
            <a:endParaRPr lang="es-CO" sz="2000" dirty="0"/>
          </a:p>
        </p:txBody>
      </p:sp>
      <p:graphicFrame>
        <p:nvGraphicFramePr>
          <p:cNvPr id="8" name="7 Tab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19518101"/>
              </p:ext>
            </p:extLst>
          </p:nvPr>
        </p:nvGraphicFramePr>
        <p:xfrm>
          <a:off x="309846" y="4060460"/>
          <a:ext cx="3500598" cy="1044117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72426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6390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1242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48039">
                <a:tc>
                  <a:txBody>
                    <a:bodyPr/>
                    <a:lstStyle/>
                    <a:p>
                      <a:pPr algn="ctr"/>
                      <a:r>
                        <a:rPr lang="es-CO" sz="1600" b="1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num1</a:t>
                      </a:r>
                    </a:p>
                  </a:txBody>
                  <a:tcPr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1600" b="1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num2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1600" b="1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Salida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8039">
                <a:tc>
                  <a:txBody>
                    <a:bodyPr/>
                    <a:lstStyle/>
                    <a:p>
                      <a:pPr algn="ctr"/>
                      <a:endParaRPr lang="es-CO" sz="1600" b="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CO" sz="1600" b="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CO" sz="1600" b="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8039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s-CO" sz="1600" b="1" dirty="0">
                        <a:solidFill>
                          <a:srgbClr val="FF0000"/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s-CO" sz="1600" b="1" dirty="0">
                        <a:solidFill>
                          <a:srgbClr val="FF0000"/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CO" sz="16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22" name="21 Tab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70226632"/>
              </p:ext>
            </p:extLst>
          </p:nvPr>
        </p:nvGraphicFramePr>
        <p:xfrm>
          <a:off x="404886" y="2043399"/>
          <a:ext cx="3405557" cy="103632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64801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4801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0952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93791">
                <a:tc>
                  <a:txBody>
                    <a:bodyPr/>
                    <a:lstStyle/>
                    <a:p>
                      <a:pPr algn="ctr"/>
                      <a:r>
                        <a:rPr lang="es-CO" sz="1400" b="1" dirty="0">
                          <a:solidFill>
                            <a:schemeClr val="bg1"/>
                          </a:solidFill>
                          <a:latin typeface="+mn-lt"/>
                          <a:cs typeface="Consolas" panose="020B0609020204030204" pitchFamily="49" charset="0"/>
                        </a:rPr>
                        <a:t>num1</a:t>
                      </a:r>
                    </a:p>
                  </a:txBody>
                  <a:tcP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1400" b="1" dirty="0">
                          <a:solidFill>
                            <a:schemeClr val="bg1"/>
                          </a:solidFill>
                          <a:latin typeface="+mn-lt"/>
                          <a:cs typeface="Consolas" panose="020B0609020204030204" pitchFamily="49" charset="0"/>
                        </a:rPr>
                        <a:t>num2</a:t>
                      </a:r>
                    </a:p>
                  </a:txBody>
                  <a:tcP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1400" b="1" dirty="0">
                          <a:solidFill>
                            <a:schemeClr val="bg1"/>
                          </a:solidFill>
                          <a:latin typeface="+mn-lt"/>
                          <a:cs typeface="Consolas" panose="020B0609020204030204" pitchFamily="49" charset="0"/>
                        </a:rPr>
                        <a:t>Salida</a:t>
                      </a:r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2273">
                <a:tc>
                  <a:txBody>
                    <a:bodyPr/>
                    <a:lstStyle/>
                    <a:p>
                      <a:pPr algn="ctr"/>
                      <a:r>
                        <a:rPr lang="es-CO" sz="1400" b="0" dirty="0">
                          <a:latin typeface="+mn-lt"/>
                          <a:cs typeface="Consolas" panose="020B0609020204030204" pitchFamily="49" charset="0"/>
                        </a:rPr>
                        <a:t>24</a:t>
                      </a:r>
                    </a:p>
                    <a:p>
                      <a:pPr algn="ctr"/>
                      <a:r>
                        <a:rPr lang="es-CO" sz="1400" b="0" dirty="0">
                          <a:latin typeface="+mn-lt"/>
                          <a:cs typeface="Consolas" panose="020B0609020204030204" pitchFamily="49" charset="0"/>
                        </a:rPr>
                        <a:t>13</a:t>
                      </a:r>
                    </a:p>
                    <a:p>
                      <a:pPr algn="ctr"/>
                      <a:r>
                        <a:rPr lang="es-CO" sz="1400" b="0" dirty="0">
                          <a:latin typeface="+mn-lt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CO" sz="1400" b="0" dirty="0">
                          <a:latin typeface="+mn-lt"/>
                          <a:cs typeface="Consolas" panose="020B0609020204030204" pitchFamily="49" charset="0"/>
                        </a:rPr>
                        <a:t>6</a:t>
                      </a:r>
                    </a:p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CO" sz="1400" b="0" dirty="0">
                          <a:latin typeface="+mn-lt"/>
                          <a:cs typeface="Consolas" panose="020B0609020204030204" pitchFamily="49" charset="0"/>
                        </a:rPr>
                        <a:t>5</a:t>
                      </a:r>
                    </a:p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CO" sz="1400" b="0" dirty="0">
                          <a:latin typeface="+mn-lt"/>
                          <a:cs typeface="Consolas" panose="020B0609020204030204" pitchFamily="49" charset="0"/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1400" b="0" dirty="0">
                          <a:latin typeface="+mn-lt"/>
                          <a:cs typeface="Consolas" panose="020B0609020204030204" pitchFamily="49" charset="0"/>
                        </a:rPr>
                        <a:t>6 es divisor</a:t>
                      </a:r>
                      <a:r>
                        <a:rPr lang="es-CO" sz="1400" b="0" baseline="0" dirty="0">
                          <a:latin typeface="+mn-lt"/>
                          <a:cs typeface="Consolas" panose="020B0609020204030204" pitchFamily="49" charset="0"/>
                        </a:rPr>
                        <a:t> de 24</a:t>
                      </a:r>
                    </a:p>
                    <a:p>
                      <a:pPr algn="ctr"/>
                      <a:r>
                        <a:rPr lang="es-CO" sz="1400" b="0" dirty="0">
                          <a:latin typeface="+mn-lt"/>
                          <a:cs typeface="Consolas" panose="020B0609020204030204" pitchFamily="49" charset="0"/>
                        </a:rPr>
                        <a:t>5 no es divisor</a:t>
                      </a:r>
                      <a:r>
                        <a:rPr lang="es-CO" sz="1400" b="0" baseline="0" dirty="0">
                          <a:latin typeface="+mn-lt"/>
                          <a:cs typeface="Consolas" panose="020B0609020204030204" pitchFamily="49" charset="0"/>
                        </a:rPr>
                        <a:t> de 13</a:t>
                      </a:r>
                    </a:p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CO" sz="1400" b="0" dirty="0">
                          <a:latin typeface="+mn-lt"/>
                          <a:cs typeface="Consolas" panose="020B0609020204030204" pitchFamily="49" charset="0"/>
                        </a:rPr>
                        <a:t>4 es divisor</a:t>
                      </a:r>
                      <a:r>
                        <a:rPr lang="es-CO" sz="1400" b="0" baseline="0" dirty="0">
                          <a:latin typeface="+mn-lt"/>
                          <a:cs typeface="Consolas" panose="020B0609020204030204" pitchFamily="49" charset="0"/>
                        </a:rPr>
                        <a:t> de 0</a:t>
                      </a:r>
                      <a:endParaRPr lang="es-CO" sz="1400" b="0" dirty="0">
                        <a:latin typeface="+mn-lt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1" name="5 Rectángulo">
            <a:extLst>
              <a:ext uri="{FF2B5EF4-FFF2-40B4-BE49-F238E27FC236}">
                <a16:creationId xmlns:a16="http://schemas.microsoft.com/office/drawing/2014/main" id="{A451B82A-DC0A-42AC-AEE7-B29489132969}"/>
              </a:ext>
            </a:extLst>
          </p:cNvPr>
          <p:cNvSpPr/>
          <p:nvPr/>
        </p:nvSpPr>
        <p:spPr>
          <a:xfrm>
            <a:off x="309845" y="1412159"/>
            <a:ext cx="2497094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s-CO" sz="2000" b="1" dirty="0"/>
              <a:t>Resultados esperados</a:t>
            </a:r>
            <a:endParaRPr lang="es-CO" sz="2000" dirty="0"/>
          </a:p>
        </p:txBody>
      </p:sp>
      <p:sp>
        <p:nvSpPr>
          <p:cNvPr id="12" name="CuadroTexto 11">
            <a:extLst>
              <a:ext uri="{FF2B5EF4-FFF2-40B4-BE49-F238E27FC236}">
                <a16:creationId xmlns:a16="http://schemas.microsoft.com/office/drawing/2014/main" id="{DC47D11B-9C9C-46B3-9E19-E7EF557FF386}"/>
              </a:ext>
            </a:extLst>
          </p:cNvPr>
          <p:cNvSpPr txBox="1"/>
          <p:nvPr/>
        </p:nvSpPr>
        <p:spPr>
          <a:xfrm>
            <a:off x="4152900" y="2670286"/>
            <a:ext cx="4761128" cy="181588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s-MX" sz="1400" dirty="0">
                <a:latin typeface="Consolas" panose="020B0609020204030204" pitchFamily="49" charset="0"/>
              </a:rPr>
              <a:t>Inicio</a:t>
            </a:r>
          </a:p>
          <a:p>
            <a:r>
              <a:rPr lang="es-MX" sz="1400" dirty="0">
                <a:latin typeface="Consolas" panose="020B0609020204030204" pitchFamily="49" charset="0"/>
              </a:rPr>
              <a:t>  Leer(num1,num2)</a:t>
            </a:r>
          </a:p>
          <a:p>
            <a:r>
              <a:rPr lang="es-MX" sz="1400" dirty="0">
                <a:latin typeface="Consolas" panose="020B0609020204030204" pitchFamily="49" charset="0"/>
              </a:rPr>
              <a:t>  Si (num1%num2 == 0) Entonces    </a:t>
            </a:r>
          </a:p>
          <a:p>
            <a:r>
              <a:rPr lang="es-MX" sz="1400" dirty="0">
                <a:latin typeface="Consolas" panose="020B0609020204030204" pitchFamily="49" charset="0"/>
              </a:rPr>
              <a:t>    Escribir(num2, </a:t>
            </a:r>
            <a:r>
              <a:rPr lang="es-CO" sz="1400" dirty="0">
                <a:latin typeface="Consolas" panose="020B0609020204030204" pitchFamily="49" charset="0"/>
              </a:rPr>
              <a:t>" es divisor de ", num1</a:t>
            </a:r>
            <a:r>
              <a:rPr lang="es-MX" sz="1400" dirty="0">
                <a:latin typeface="Consolas" panose="020B0609020204030204" pitchFamily="49" charset="0"/>
              </a:rPr>
              <a:t>)</a:t>
            </a:r>
          </a:p>
          <a:p>
            <a:r>
              <a:rPr lang="es-MX" sz="1400" dirty="0">
                <a:latin typeface="Consolas" panose="020B0609020204030204" pitchFamily="49" charset="0"/>
              </a:rPr>
              <a:t>  Sino</a:t>
            </a:r>
          </a:p>
          <a:p>
            <a:r>
              <a:rPr lang="es-MX" sz="1400" dirty="0">
                <a:latin typeface="Consolas" panose="020B0609020204030204" pitchFamily="49" charset="0"/>
              </a:rPr>
              <a:t>    Escribir(num2, </a:t>
            </a:r>
            <a:r>
              <a:rPr lang="es-CO" sz="1400" dirty="0">
                <a:latin typeface="Consolas" panose="020B0609020204030204" pitchFamily="49" charset="0"/>
              </a:rPr>
              <a:t>" no es divisor de ", num1</a:t>
            </a:r>
            <a:r>
              <a:rPr lang="es-MX" sz="1400" dirty="0">
                <a:latin typeface="Consolas" panose="020B0609020204030204" pitchFamily="49" charset="0"/>
              </a:rPr>
              <a:t>)</a:t>
            </a:r>
          </a:p>
          <a:p>
            <a:r>
              <a:rPr lang="es-MX" sz="1400" dirty="0">
                <a:latin typeface="Consolas" panose="020B0609020204030204" pitchFamily="49" charset="0"/>
              </a:rPr>
              <a:t>  Fin_Si</a:t>
            </a:r>
          </a:p>
          <a:p>
            <a:r>
              <a:rPr lang="es-MX" sz="1400" dirty="0">
                <a:latin typeface="Consolas" panose="020B0609020204030204" pitchFamily="49" charset="0"/>
              </a:rPr>
              <a:t>Fin</a:t>
            </a:r>
            <a:endParaRPr lang="es-CO" sz="1400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1378757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/>
          <p:cNvSpPr>
            <a:spLocks noGrp="1"/>
          </p:cNvSpPr>
          <p:nvPr>
            <p:ph type="title"/>
          </p:nvPr>
        </p:nvSpPr>
        <p:spPr>
          <a:xfrm>
            <a:off x="179512" y="332656"/>
            <a:ext cx="5544616" cy="792088"/>
          </a:xfrm>
        </p:spPr>
        <p:txBody>
          <a:bodyPr>
            <a:normAutofit/>
          </a:bodyPr>
          <a:lstStyle/>
          <a:p>
            <a:r>
              <a:rPr lang="en-US" dirty="0"/>
              <a:t>Ejercicios de repaso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" name="Content Placeholder 1"/>
              <p:cNvSpPr>
                <a:spLocks noGrp="1"/>
              </p:cNvSpPr>
              <p:nvPr>
                <p:ph idx="1"/>
              </p:nvPr>
            </p:nvSpPr>
            <p:spPr>
              <a:xfrm>
                <a:off x="179512" y="1124744"/>
                <a:ext cx="8784976" cy="5400599"/>
              </a:xfrm>
            </p:spPr>
            <p:txBody>
              <a:bodyPr>
                <a:noAutofit/>
              </a:bodyPr>
              <a:lstStyle/>
              <a:p>
                <a:pPr marL="514350" indent="-457200">
                  <a:buFont typeface="+mj-lt"/>
                  <a:buAutoNum type="arabicPeriod"/>
                </a:pPr>
                <a:r>
                  <a:rPr lang="es-MX" sz="1800" dirty="0"/>
                  <a:t>Escribir un programa que solicite al usuario introducir dos números distintos. Si el primer número introducido es mayor que el segundo número, el programa debe imprimir el mensaje </a:t>
                </a:r>
                <a:r>
                  <a:rPr lang="es-MX" sz="1800" b="1" dirty="0"/>
                  <a:t>El primer número es el mayor</a:t>
                </a:r>
                <a:r>
                  <a:rPr lang="es-MX" sz="1800" dirty="0"/>
                  <a:t>, en caso contrario el programa debe imprimir el mensaje </a:t>
                </a:r>
                <a:r>
                  <a:rPr lang="es-MX" sz="1800" b="1" dirty="0"/>
                  <a:t>El primer número es el más pequeño</a:t>
                </a:r>
                <a:r>
                  <a:rPr lang="es-MX" sz="1800" dirty="0"/>
                  <a:t>.</a:t>
                </a:r>
              </a:p>
              <a:p>
                <a:pPr marL="514350" indent="-457200">
                  <a:buFont typeface="+mj-lt"/>
                  <a:buAutoNum type="arabicPeriod"/>
                </a:pPr>
                <a:r>
                  <a:rPr lang="es-MX" sz="1800" dirty="0"/>
                  <a:t>Calcular la raíz cuadrada de un número y escribir su resultado. Recuerde que a un numero negativo no se le puede sacar raíz cuadrada. </a:t>
                </a:r>
              </a:p>
              <a:p>
                <a:pPr marL="514350" indent="-457200">
                  <a:buFont typeface="+mj-lt"/>
                  <a:buAutoNum type="arabicPeriod"/>
                </a:pPr>
                <a:r>
                  <a:rPr lang="es-CO" sz="1800" dirty="0"/>
                  <a:t>Hacer un programa que calcule el valor de la siguiente función:</a:t>
                </a:r>
              </a:p>
              <a:p>
                <a:pPr marL="514350" indent="-457200">
                  <a:buFont typeface="+mj-lt"/>
                  <a:buAutoNum type="arabicPeriod"/>
                </a:pPr>
                <a:endParaRPr lang="es-MX" sz="1800" dirty="0"/>
              </a:p>
              <a:p>
                <a:pPr marL="5715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s-MX" sz="1800" b="0" i="1" smtClean="0"/>
                        <m:t>𝑓</m:t>
                      </m:r>
                      <m:r>
                        <a:rPr lang="es-MX" sz="1800" b="0" i="1" smtClean="0"/>
                        <m:t>(</m:t>
                      </m:r>
                      <m:r>
                        <a:rPr lang="es-MX" sz="1800" b="0" i="1" smtClean="0"/>
                        <m:t>𝑥</m:t>
                      </m:r>
                      <m:r>
                        <a:rPr lang="es-MX" sz="1800" b="0" i="1" smtClean="0"/>
                        <m:t>)=</m:t>
                      </m:r>
                      <m:d>
                        <m:dPr>
                          <m:begChr m:val="{"/>
                          <m:endChr m:val=""/>
                          <m:ctrlPr>
                            <a:rPr lang="es-MX" sz="1800" b="0" i="1" smtClean="0"/>
                          </m:ctrlPr>
                        </m:dPr>
                        <m:e>
                          <m:eqArr>
                            <m:eqArrPr>
                              <m:ctrlPr>
                                <a:rPr lang="es-MX" sz="1800" b="0" i="1" smtClean="0"/>
                              </m:ctrlPr>
                            </m:eqArr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s-MX" sz="1800" b="0" i="1" smtClean="0"/>
                                  </m:ctrlPr>
                                </m:mPr>
                                <m:mr>
                                  <m:e>
                                    <m:sSup>
                                      <m:sSupPr>
                                        <m:ctrlPr>
                                          <a:rPr lang="es-MX" sz="1800" b="0" i="1" smtClean="0"/>
                                        </m:ctrlPr>
                                      </m:sSupPr>
                                      <m:e>
                                        <m:r>
                                          <m:rPr>
                                            <m:brk m:alnAt="7"/>
                                          </m:rPr>
                                          <a:rPr lang="es-MX" sz="1800" b="0" i="1" smtClean="0"/>
                                          <m:t>𝑥</m:t>
                                        </m:r>
                                      </m:e>
                                      <m:sup>
                                        <m:r>
                                          <m:rPr>
                                            <m:brk m:alnAt="7"/>
                                          </m:rPr>
                                          <a:rPr lang="es-MX" sz="1800" b="0" i="1" smtClean="0"/>
                                          <m:t>2</m:t>
                                        </m:r>
                                      </m:sup>
                                    </m:sSup>
                                    <m:r>
                                      <m:rPr>
                                        <m:brk m:alnAt="7"/>
                                      </m:rPr>
                                      <a:rPr lang="es-MX" sz="1800" b="0" i="1" smtClean="0"/>
                                      <m:t>−</m:t>
                                    </m:r>
                                    <m:r>
                                      <a:rPr lang="es-MX" sz="1800" b="0" i="1" smtClean="0"/>
                                      <m:t>𝑥</m:t>
                                    </m:r>
                                  </m:e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s-MX" sz="1800" b="0" i="0" smtClean="0"/>
                                      <m:t>para</m:t>
                                    </m:r>
                                    <m:r>
                                      <a:rPr lang="es-MX" sz="1800" b="0" i="1" smtClean="0"/>
                                      <m:t> </m:t>
                                    </m:r>
                                    <m:r>
                                      <a:rPr lang="es-MX" sz="1800" b="0" i="1" smtClean="0"/>
                                      <m:t>𝑥</m:t>
                                    </m:r>
                                    <m:r>
                                      <a:rPr lang="es-MX" sz="1800" b="0" i="1" smtClean="0"/>
                                      <m:t>≤0</m:t>
                                    </m:r>
                                  </m:e>
                                </m:mr>
                              </m:m>
                            </m:e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s-MX" sz="1800" b="0" i="1" smtClean="0"/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es-MX" sz="1800" b="0" i="1" smtClean="0"/>
                                      <m:t>−</m:t>
                                    </m:r>
                                    <m:sSup>
                                      <m:sSupPr>
                                        <m:ctrlPr>
                                          <a:rPr lang="es-MX" sz="1800" b="0" i="1" smtClean="0"/>
                                        </m:ctrlPr>
                                      </m:sSupPr>
                                      <m:e>
                                        <m:r>
                                          <m:rPr>
                                            <m:brk m:alnAt="7"/>
                                          </m:rPr>
                                          <a:rPr lang="es-MX" sz="1800" b="0" i="1" smtClean="0"/>
                                          <m:t>𝑥</m:t>
                                        </m:r>
                                      </m:e>
                                      <m:sup>
                                        <m:r>
                                          <m:rPr>
                                            <m:brk m:alnAt="7"/>
                                          </m:rPr>
                                          <a:rPr lang="es-MX" sz="1800" b="0" i="1" smtClean="0"/>
                                          <m:t>2</m:t>
                                        </m:r>
                                      </m:sup>
                                    </m:sSup>
                                    <m:r>
                                      <m:rPr>
                                        <m:brk m:alnAt="7"/>
                                      </m:rPr>
                                      <a:rPr lang="es-MX" sz="1800" b="0" i="1" smtClean="0"/>
                                      <m:t>+</m:t>
                                    </m:r>
                                    <m:r>
                                      <a:rPr lang="es-MX" sz="1800" b="0" i="1" smtClean="0"/>
                                      <m:t>3</m:t>
                                    </m:r>
                                    <m:r>
                                      <a:rPr lang="es-MX" sz="1800" b="0" i="1" smtClean="0"/>
                                      <m:t>𝑥</m:t>
                                    </m:r>
                                  </m:e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s-MX" sz="1800" b="0" i="0" smtClean="0"/>
                                      <m:t>para</m:t>
                                    </m:r>
                                    <m:r>
                                      <a:rPr lang="es-MX" sz="1800" b="0" i="1" smtClean="0"/>
                                      <m:t> </m:t>
                                    </m:r>
                                    <m:r>
                                      <a:rPr lang="es-MX" sz="1800" b="0" i="1" smtClean="0"/>
                                      <m:t>𝑥</m:t>
                                    </m:r>
                                    <m:r>
                                      <a:rPr lang="es-MX" sz="1800" b="0" i="1" smtClean="0"/>
                                      <m:t>&gt;0</m:t>
                                    </m:r>
                                  </m:e>
                                </m:mr>
                              </m:m>
                            </m:e>
                          </m:eqArr>
                        </m:e>
                      </m:d>
                    </m:oMath>
                  </m:oMathPara>
                </a14:m>
                <a:endParaRPr lang="es-MX" sz="1800" dirty="0"/>
              </a:p>
              <a:p>
                <a:pPr marL="400050" indent="-342900">
                  <a:buAutoNum type="arabicPeriod" startAt="4"/>
                </a:pPr>
                <a:r>
                  <a:rPr lang="es-CO" sz="1800" dirty="0"/>
                  <a:t>Hacer un programa que solicite dos números diferentes de tal manera que si el primero es mayor que el primero, los deje igual; y si el segundo es mayor que el primero, los intercambie.</a:t>
                </a:r>
              </a:p>
              <a:p>
                <a:pPr marL="400050" indent="-342900">
                  <a:buAutoNum type="arabicPeriod" startAt="4"/>
                </a:pPr>
                <a:r>
                  <a:rPr lang="es-MX" sz="1800" dirty="0"/>
                  <a:t>Determinar el precio del billete de ida y vuelta en avión, conociendo la distancia a recorrer y sabiendo que si el número de días de estancia es superior a 7 y la distancia superior a 800 km el billete tiene una reducción del 30 por 100. El precio por km es de 2.5 euros.</a:t>
                </a:r>
              </a:p>
              <a:p>
                <a:pPr marL="514350" indent="-457200">
                  <a:buFont typeface="+mj-lt"/>
                  <a:buAutoNum type="arabicPeriod"/>
                </a:pPr>
                <a:endParaRPr lang="es-ES" sz="1800" dirty="0"/>
              </a:p>
              <a:p>
                <a:pPr marL="514350" indent="-457200">
                  <a:buFont typeface="+mj-lt"/>
                  <a:buAutoNum type="arabicPeriod"/>
                </a:pPr>
                <a:endParaRPr lang="es-ES" sz="1800" dirty="0"/>
              </a:p>
              <a:p>
                <a:pPr marL="57150" indent="0">
                  <a:buNone/>
                </a:pPr>
                <a:endParaRPr lang="es-MX" sz="1800" i="1" dirty="0"/>
              </a:p>
            </p:txBody>
          </p:sp>
        </mc:Choice>
        <mc:Fallback>
          <p:sp>
            <p:nvSpPr>
              <p:cNvPr id="2" name="Content Placeholder 1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79512" y="1124744"/>
                <a:ext cx="8784976" cy="5400599"/>
              </a:xfrm>
              <a:blipFill>
                <a:blip r:embed="rId2"/>
                <a:stretch>
                  <a:fillRect t="-1130" r="-139"/>
                </a:stretch>
              </a:blipFill>
            </p:spPr>
            <p:txBody>
              <a:bodyPr/>
              <a:lstStyle/>
              <a:p>
                <a:r>
                  <a:rPr lang="es-CO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25720608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/>
          <p:cNvSpPr>
            <a:spLocks noGrp="1"/>
          </p:cNvSpPr>
          <p:nvPr>
            <p:ph type="title"/>
          </p:nvPr>
        </p:nvSpPr>
        <p:spPr>
          <a:xfrm>
            <a:off x="107504" y="23817"/>
            <a:ext cx="7886700" cy="740887"/>
          </a:xfrm>
        </p:spPr>
        <p:txBody>
          <a:bodyPr/>
          <a:lstStyle/>
          <a:p>
            <a:r>
              <a:rPr lang="en-US" sz="2800" dirty="0"/>
              <a:t>Referencias</a:t>
            </a:r>
          </a:p>
        </p:txBody>
      </p:sp>
      <p:sp>
        <p:nvSpPr>
          <p:cNvPr id="2" name="Content Placeholder 1"/>
          <p:cNvSpPr>
            <a:spLocks noGrp="1"/>
          </p:cNvSpPr>
          <p:nvPr>
            <p:ph idx="1"/>
          </p:nvPr>
        </p:nvSpPr>
        <p:spPr>
          <a:xfrm>
            <a:off x="251520" y="764704"/>
            <a:ext cx="8424936" cy="2880320"/>
          </a:xfrm>
        </p:spPr>
        <p:txBody>
          <a:bodyPr>
            <a:normAutofit fontScale="92500" lnSpcReduction="10000"/>
          </a:bodyPr>
          <a:lstStyle/>
          <a:p>
            <a:pPr marL="457200" indent="-457200">
              <a:buFont typeface="+mj-lt"/>
              <a:buAutoNum type="arabicPeriod"/>
            </a:pPr>
            <a:r>
              <a:rPr lang="es-CO" sz="2000" dirty="0">
                <a:hlinkClick r:id="rId2"/>
              </a:rPr>
              <a:t>https://ellibrodepython.com/</a:t>
            </a:r>
            <a:endParaRPr lang="es-CO" sz="2000" dirty="0"/>
          </a:p>
          <a:p>
            <a:pPr marL="457200" indent="-457200">
              <a:buFont typeface="+mj-lt"/>
              <a:buAutoNum type="arabicPeriod"/>
            </a:pPr>
            <a:r>
              <a:rPr lang="es-CO" sz="2000" dirty="0">
                <a:hlinkClick r:id="rId3"/>
              </a:rPr>
              <a:t>https://www.w3resource.com/index.php</a:t>
            </a:r>
            <a:endParaRPr lang="es-CO" sz="2000" dirty="0"/>
          </a:p>
          <a:p>
            <a:pPr marL="457200" indent="-457200">
              <a:buFont typeface="+mj-lt"/>
              <a:buAutoNum type="arabicPeriod"/>
            </a:pPr>
            <a:r>
              <a:rPr lang="es-CO" sz="2000" dirty="0">
                <a:hlinkClick r:id="rId4"/>
              </a:rPr>
              <a:t>https://realpython.com/</a:t>
            </a:r>
            <a:endParaRPr lang="es-CO" sz="2000" dirty="0"/>
          </a:p>
          <a:p>
            <a:pPr marL="457200" indent="-457200">
              <a:buFont typeface="+mj-lt"/>
              <a:buAutoNum type="arabicPeriod"/>
            </a:pPr>
            <a:r>
              <a:rPr lang="es-CO" sz="2000" dirty="0">
                <a:hlinkClick r:id="rId5"/>
              </a:rPr>
              <a:t>https://curriculumresources.edu.gh/wp-content/uploads/2025/01/</a:t>
            </a:r>
            <a:endParaRPr lang="es-CO" sz="2000" dirty="0"/>
          </a:p>
          <a:p>
            <a:pPr marL="457200" indent="-457200">
              <a:buFont typeface="+mj-lt"/>
              <a:buAutoNum type="arabicPeriod"/>
            </a:pPr>
            <a:r>
              <a:rPr lang="es-CO" sz="2000" dirty="0">
                <a:hlinkClick r:id="rId6"/>
              </a:rPr>
              <a:t>https://python-course.eu/</a:t>
            </a:r>
            <a:endParaRPr lang="es-CO" sz="2000" dirty="0"/>
          </a:p>
          <a:p>
            <a:pPr marL="457200" indent="-457200">
              <a:buFont typeface="+mj-lt"/>
              <a:buAutoNum type="arabicPeriod"/>
            </a:pPr>
            <a:r>
              <a:rPr lang="es-CO" sz="2000" dirty="0">
                <a:hlinkClick r:id="rId7"/>
              </a:rPr>
              <a:t>https://realpython.com/cheatsheets/python/</a:t>
            </a:r>
            <a:endParaRPr lang="es-CO" sz="2000" dirty="0"/>
          </a:p>
          <a:p>
            <a:pPr marL="457200" indent="-457200">
              <a:buFont typeface="+mj-lt"/>
              <a:buAutoNum type="arabicPeriod"/>
            </a:pPr>
            <a:r>
              <a:rPr lang="es-CO" sz="2000" dirty="0">
                <a:hlinkClick r:id="rId8"/>
              </a:rPr>
              <a:t>https://realpython.com/python-conditional-statements/</a:t>
            </a:r>
            <a:endParaRPr lang="es-CO" sz="2000" dirty="0"/>
          </a:p>
          <a:p>
            <a:pPr marL="457200" indent="-457200">
              <a:buFont typeface="+mj-lt"/>
              <a:buAutoNum type="arabicPeriod"/>
            </a:pPr>
            <a:r>
              <a:rPr lang="es-CO" sz="2000" dirty="0">
                <a:hlinkClick r:id="rId9"/>
              </a:rPr>
              <a:t>https://realpython.com/ref/best-practices/conditionals/</a:t>
            </a:r>
            <a:r>
              <a:rPr lang="es-CO" sz="2000" dirty="0"/>
              <a:t>     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1023164851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180616"/>
            <a:ext cx="7886700" cy="1325563"/>
          </a:xfrm>
        </p:spPr>
        <p:txBody>
          <a:bodyPr/>
          <a:lstStyle/>
          <a:p>
            <a:r>
              <a:rPr lang="es-CO" dirty="0"/>
              <a:t>Eso es todo amigos</a:t>
            </a:r>
            <a:endParaRPr lang="en-US" dirty="0"/>
          </a:p>
        </p:txBody>
      </p:sp>
      <p:pic>
        <p:nvPicPr>
          <p:cNvPr id="4" name="Picture 2">
            <a:extLst>
              <a:ext uri="{FF2B5EF4-FFF2-40B4-BE49-F238E27FC236}">
                <a16:creationId xmlns:a16="http://schemas.microsoft.com/office/drawing/2014/main" id="{AEB7A35A-8457-40AD-9684-4D376008937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63688" y="1628800"/>
            <a:ext cx="5616624" cy="421246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302496273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Tema de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1D9A78"/>
      </a:accent1>
      <a:accent2>
        <a:srgbClr val="8BC145"/>
      </a:accent2>
      <a:accent3>
        <a:srgbClr val="36AFCE"/>
      </a:accent3>
      <a:accent4>
        <a:srgbClr val="1D6FA9"/>
      </a:accent4>
      <a:accent5>
        <a:srgbClr val="B74919"/>
      </a:accent5>
      <a:accent6>
        <a:srgbClr val="F19D19"/>
      </a:accent6>
      <a:hlink>
        <a:srgbClr val="0563C1"/>
      </a:hlink>
      <a:folHlink>
        <a:srgbClr val="954F72"/>
      </a:folHlink>
    </a:clrScheme>
    <a:fontScheme name="Tema de 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Tema de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AE6F2518-B084-4896-AF52-66CC2144AA26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3504</TotalTime>
  <Words>4120</Words>
  <Application>Microsoft Office PowerPoint</Application>
  <PresentationFormat>Presentación en pantalla (4:3)</PresentationFormat>
  <Paragraphs>888</Paragraphs>
  <Slides>54</Slides>
  <Notes>4</Notes>
  <HiddenSlides>0</HiddenSlides>
  <MMClips>0</MMClips>
  <ScaleCrop>false</ScaleCrop>
  <HeadingPairs>
    <vt:vector size="6" baseType="variant">
      <vt:variant>
        <vt:lpstr>Fuentes usadas</vt:lpstr>
      </vt:variant>
      <vt:variant>
        <vt:i4>6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54</vt:i4>
      </vt:variant>
    </vt:vector>
  </HeadingPairs>
  <TitlesOfParts>
    <vt:vector size="61" baseType="lpstr">
      <vt:lpstr>Arial</vt:lpstr>
      <vt:lpstr>Calibri</vt:lpstr>
      <vt:lpstr>Calibri Light</vt:lpstr>
      <vt:lpstr>Century Gothic</vt:lpstr>
      <vt:lpstr>Consolas</vt:lpstr>
      <vt:lpstr>Wingdings</vt:lpstr>
      <vt:lpstr>Office Theme</vt:lpstr>
      <vt:lpstr>Lógica y Representación 1</vt:lpstr>
      <vt:lpstr>Método de Polya - Resumen</vt:lpstr>
      <vt:lpstr>Tipos de datos</vt:lpstr>
      <vt:lpstr>Entrada, procesamiento y salida</vt:lpstr>
      <vt:lpstr>Tabla resumen</vt:lpstr>
      <vt:lpstr>Diseño de programas</vt:lpstr>
      <vt:lpstr>Codificación de algoritmos en Python</vt:lpstr>
      <vt:lpstr>Operadores aritméticos</vt:lpstr>
      <vt:lpstr>Operadores relacionales</vt:lpstr>
      <vt:lpstr>Operadores lógicos</vt:lpstr>
      <vt:lpstr>Reglas de prioridad y asociatividad</vt:lpstr>
      <vt:lpstr>Prueba de Escritorio</vt:lpstr>
      <vt:lpstr>Prueba de Escritorio</vt:lpstr>
      <vt:lpstr>Prueba de Escritorio</vt:lpstr>
      <vt:lpstr>Nuevo bloque - Condición</vt:lpstr>
      <vt:lpstr>Prueba de Escritorio</vt:lpstr>
      <vt:lpstr>Prueba de Escritorio</vt:lpstr>
      <vt:lpstr>Prueba de Escritorio</vt:lpstr>
      <vt:lpstr>Condicionales</vt:lpstr>
      <vt:lpstr>Condicionales</vt:lpstr>
      <vt:lpstr>Sobre la condición</vt:lpstr>
      <vt:lpstr>Condicionales</vt:lpstr>
      <vt:lpstr>Condicionales</vt:lpstr>
      <vt:lpstr>Condicionales</vt:lpstr>
      <vt:lpstr>Condicionales</vt:lpstr>
      <vt:lpstr>Condicionales</vt:lpstr>
      <vt:lpstr>Casos en los problemas de decisión lógica</vt:lpstr>
      <vt:lpstr>Alternativa simple</vt:lpstr>
      <vt:lpstr>Alternativa simple</vt:lpstr>
      <vt:lpstr>Alternativa simple</vt:lpstr>
      <vt:lpstr>Alternativa simple</vt:lpstr>
      <vt:lpstr>Alternativa simple</vt:lpstr>
      <vt:lpstr>Alternativa simple</vt:lpstr>
      <vt:lpstr>Alternativa simple</vt:lpstr>
      <vt:lpstr>Alternativa simple</vt:lpstr>
      <vt:lpstr>Alternativa simple</vt:lpstr>
      <vt:lpstr>Alternativa doble</vt:lpstr>
      <vt:lpstr>Alternativa doble</vt:lpstr>
      <vt:lpstr>Alternativa doble</vt:lpstr>
      <vt:lpstr>Alternativa doble</vt:lpstr>
      <vt:lpstr>Alternativa doble</vt:lpstr>
      <vt:lpstr>Alternativa doble</vt:lpstr>
      <vt:lpstr>Comparaciones – Solución ejemplo 1</vt:lpstr>
      <vt:lpstr>Comparaciones – Solución ejemplo 2</vt:lpstr>
      <vt:lpstr>Ejemplos de repaso</vt:lpstr>
      <vt:lpstr>Ejemplos de repaso</vt:lpstr>
      <vt:lpstr>Alternativa doble</vt:lpstr>
      <vt:lpstr>Alternativa doble</vt:lpstr>
      <vt:lpstr>Ejemplos de repaso</vt:lpstr>
      <vt:lpstr>Ejemplos de repaso</vt:lpstr>
      <vt:lpstr>Ejemplos de repaso</vt:lpstr>
      <vt:lpstr>Ejercicios de repaso</vt:lpstr>
      <vt:lpstr>Referencias</vt:lpstr>
      <vt:lpstr>Eso es todo amigos</vt:lpstr>
    </vt:vector>
  </TitlesOfParts>
  <Company>Universidad de Antioquia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del curso</dc:title>
  <dc:creator>Apoyo Administrativo Ingeniería</dc:creator>
  <cp:lastModifiedBy>HENRY ALBERTO ARCILA RAMIREZ</cp:lastModifiedBy>
  <cp:revision>106</cp:revision>
  <dcterms:created xsi:type="dcterms:W3CDTF">2015-03-12T20:27:20Z</dcterms:created>
  <dcterms:modified xsi:type="dcterms:W3CDTF">2026-08-22T04:24:46Z</dcterms:modified>
</cp:coreProperties>
</file>