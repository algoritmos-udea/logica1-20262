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9" r:id="rId1"/>
  </p:sldMasterIdLst>
  <p:notesMasterIdLst>
    <p:notesMasterId r:id="rId38"/>
  </p:notesMasterIdLst>
  <p:sldIdLst>
    <p:sldId id="281" r:id="rId2"/>
    <p:sldId id="309" r:id="rId3"/>
    <p:sldId id="368" r:id="rId4"/>
    <p:sldId id="594" r:id="rId5"/>
    <p:sldId id="536" r:id="rId6"/>
    <p:sldId id="595" r:id="rId7"/>
    <p:sldId id="603" r:id="rId8"/>
    <p:sldId id="604" r:id="rId9"/>
    <p:sldId id="606" r:id="rId10"/>
    <p:sldId id="587" r:id="rId11"/>
    <p:sldId id="580" r:id="rId12"/>
    <p:sldId id="607" r:id="rId13"/>
    <p:sldId id="608" r:id="rId14"/>
    <p:sldId id="609" r:id="rId15"/>
    <p:sldId id="588" r:id="rId16"/>
    <p:sldId id="613" r:id="rId17"/>
    <p:sldId id="610" r:id="rId18"/>
    <p:sldId id="611" r:id="rId19"/>
    <p:sldId id="612" r:id="rId20"/>
    <p:sldId id="614" r:id="rId21"/>
    <p:sldId id="615" r:id="rId22"/>
    <p:sldId id="616" r:id="rId23"/>
    <p:sldId id="617" r:id="rId24"/>
    <p:sldId id="618" r:id="rId25"/>
    <p:sldId id="619" r:id="rId26"/>
    <p:sldId id="620" r:id="rId27"/>
    <p:sldId id="621" r:id="rId28"/>
    <p:sldId id="623" r:id="rId29"/>
    <p:sldId id="624" r:id="rId30"/>
    <p:sldId id="625" r:id="rId31"/>
    <p:sldId id="626" r:id="rId32"/>
    <p:sldId id="627" r:id="rId33"/>
    <p:sldId id="628" r:id="rId34"/>
    <p:sldId id="310" r:id="rId35"/>
    <p:sldId id="622" r:id="rId36"/>
    <p:sldId id="277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Estilo temático 2 - Énfasis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79" autoAdjust="0"/>
    <p:restoredTop sz="94291" autoAdjust="0"/>
  </p:normalViewPr>
  <p:slideViewPr>
    <p:cSldViewPr>
      <p:cViewPr varScale="1">
        <p:scale>
          <a:sx n="69" d="100"/>
          <a:sy n="69" d="100"/>
        </p:scale>
        <p:origin x="136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4617D2-EBA5-43D3-A846-ABD7019008A4}" type="doc">
      <dgm:prSet loTypeId="urn:microsoft.com/office/officeart/2005/8/layout/chevron2" loCatId="process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s-CO"/>
        </a:p>
      </dgm:t>
    </dgm:pt>
    <dgm:pt modelId="{0F6E169A-367E-48F6-8A0F-9538EF72E803}">
      <dgm:prSet phldrT="[Texto]" custT="1"/>
      <dgm:spPr/>
      <dgm:t>
        <a:bodyPr/>
        <a:lstStyle/>
        <a:p>
          <a:r>
            <a:rPr lang="es-CO" sz="1600" dirty="0">
              <a:latin typeface="Century Gothic" panose="020B0502020202020204" pitchFamily="34" charset="0"/>
            </a:rPr>
            <a:t>1</a:t>
          </a:r>
          <a:endParaRPr lang="es-CO" sz="1200" dirty="0">
            <a:latin typeface="Century Gothic" panose="020B0502020202020204" pitchFamily="34" charset="0"/>
          </a:endParaRPr>
        </a:p>
      </dgm:t>
    </dgm:pt>
    <dgm:pt modelId="{214810CF-0E9F-420E-9F44-94CA29248781}" type="parTrans" cxnId="{1D7BCF56-E33F-4A42-8129-E524DE8CA73C}">
      <dgm:prSet/>
      <dgm:spPr/>
      <dgm:t>
        <a:bodyPr/>
        <a:lstStyle/>
        <a:p>
          <a:endParaRPr lang="es-CO" sz="1600"/>
        </a:p>
      </dgm:t>
    </dgm:pt>
    <dgm:pt modelId="{9E3845BF-94AB-444E-AB21-A0DA1B4B1270}" type="sibTrans" cxnId="{1D7BCF56-E33F-4A42-8129-E524DE8CA73C}">
      <dgm:prSet/>
      <dgm:spPr/>
      <dgm:t>
        <a:bodyPr/>
        <a:lstStyle/>
        <a:p>
          <a:endParaRPr lang="es-CO" sz="1600"/>
        </a:p>
      </dgm:t>
    </dgm:pt>
    <dgm:pt modelId="{676AA4D5-22F4-47B3-B0E8-95C3D9C99480}">
      <dgm:prSet phldrT="[Texto]" custT="1"/>
      <dgm:spPr/>
      <dgm:t>
        <a:bodyPr/>
        <a:lstStyle/>
        <a:p>
          <a:pPr>
            <a:buNone/>
          </a:pPr>
          <a:r>
            <a:rPr lang="es-CO" sz="2000" dirty="0">
              <a:latin typeface="Century Gothic" panose="020B0502020202020204" pitchFamily="34" charset="0"/>
            </a:rPr>
            <a:t>Entender el problema</a:t>
          </a:r>
        </a:p>
      </dgm:t>
    </dgm:pt>
    <dgm:pt modelId="{65AE6963-95E3-417E-9DBC-C327427667A9}" type="parTrans" cxnId="{E402CAF0-5AAA-416F-BAF4-3854EF253EE5}">
      <dgm:prSet/>
      <dgm:spPr/>
      <dgm:t>
        <a:bodyPr/>
        <a:lstStyle/>
        <a:p>
          <a:endParaRPr lang="es-CO" sz="1600"/>
        </a:p>
      </dgm:t>
    </dgm:pt>
    <dgm:pt modelId="{BBDCCB86-71C3-422E-959C-8FA92A9124DF}" type="sibTrans" cxnId="{E402CAF0-5AAA-416F-BAF4-3854EF253EE5}">
      <dgm:prSet/>
      <dgm:spPr/>
      <dgm:t>
        <a:bodyPr/>
        <a:lstStyle/>
        <a:p>
          <a:endParaRPr lang="es-CO" sz="1600"/>
        </a:p>
      </dgm:t>
    </dgm:pt>
    <dgm:pt modelId="{9C3C57BE-AD01-47F6-9592-98EF2608A6EF}">
      <dgm:prSet phldrT="[Texto]" custT="1"/>
      <dgm:spPr/>
      <dgm:t>
        <a:bodyPr/>
        <a:lstStyle/>
        <a:p>
          <a:r>
            <a:rPr lang="es-CO" sz="1800" dirty="0">
              <a:latin typeface="Century Gothic" panose="020B0502020202020204" pitchFamily="34" charset="0"/>
            </a:rPr>
            <a:t>2</a:t>
          </a:r>
          <a:endParaRPr lang="es-CO" sz="2400" dirty="0">
            <a:latin typeface="Century Gothic" panose="020B0502020202020204" pitchFamily="34" charset="0"/>
          </a:endParaRPr>
        </a:p>
      </dgm:t>
    </dgm:pt>
    <dgm:pt modelId="{33D25418-EA10-4491-90C6-5683712BE055}" type="parTrans" cxnId="{FBB864E0-2027-4A45-B5D7-110F765EFD96}">
      <dgm:prSet/>
      <dgm:spPr/>
      <dgm:t>
        <a:bodyPr/>
        <a:lstStyle/>
        <a:p>
          <a:endParaRPr lang="es-CO" sz="1600"/>
        </a:p>
      </dgm:t>
    </dgm:pt>
    <dgm:pt modelId="{0019765E-5748-4647-85C8-6E8054C68086}" type="sibTrans" cxnId="{FBB864E0-2027-4A45-B5D7-110F765EFD96}">
      <dgm:prSet/>
      <dgm:spPr/>
      <dgm:t>
        <a:bodyPr/>
        <a:lstStyle/>
        <a:p>
          <a:endParaRPr lang="es-CO" sz="1600"/>
        </a:p>
      </dgm:t>
    </dgm:pt>
    <dgm:pt modelId="{C59A2A35-6BBC-4F81-BD74-40520AACD6AB}">
      <dgm:prSet phldrT="[Texto]"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Diseñar un plan</a:t>
          </a:r>
        </a:p>
      </dgm:t>
    </dgm:pt>
    <dgm:pt modelId="{EDE363E4-7EA3-41D2-8DB9-A0871D9DA325}" type="parTrans" cxnId="{3B1F784D-95DD-4194-A52D-9A5B55BC5BD7}">
      <dgm:prSet/>
      <dgm:spPr/>
      <dgm:t>
        <a:bodyPr/>
        <a:lstStyle/>
        <a:p>
          <a:endParaRPr lang="es-CO" sz="1600"/>
        </a:p>
      </dgm:t>
    </dgm:pt>
    <dgm:pt modelId="{C31DDF04-103F-4600-9F78-0BDCC0BF907B}" type="sibTrans" cxnId="{3B1F784D-95DD-4194-A52D-9A5B55BC5BD7}">
      <dgm:prSet/>
      <dgm:spPr/>
      <dgm:t>
        <a:bodyPr/>
        <a:lstStyle/>
        <a:p>
          <a:endParaRPr lang="es-CO" sz="1600"/>
        </a:p>
      </dgm:t>
    </dgm:pt>
    <dgm:pt modelId="{9AB424BA-7E8B-4D0B-8A3C-3748A54646B8}">
      <dgm:prSet phldrT="[Texto]" custT="1"/>
      <dgm:spPr/>
      <dgm:t>
        <a:bodyPr/>
        <a:lstStyle/>
        <a:p>
          <a:r>
            <a:rPr lang="es-CO" sz="2000" dirty="0">
              <a:latin typeface="Century Gothic" panose="020B0502020202020204" pitchFamily="34" charset="0"/>
            </a:rPr>
            <a:t>3</a:t>
          </a:r>
        </a:p>
      </dgm:t>
    </dgm:pt>
    <dgm:pt modelId="{E543BFA9-86DB-499C-8E83-B32D00A97FD8}" type="parTrans" cxnId="{9DB9632F-E2AC-48EE-840F-D6A88C411EEA}">
      <dgm:prSet/>
      <dgm:spPr/>
      <dgm:t>
        <a:bodyPr/>
        <a:lstStyle/>
        <a:p>
          <a:endParaRPr lang="es-CO" sz="1600"/>
        </a:p>
      </dgm:t>
    </dgm:pt>
    <dgm:pt modelId="{DDCD6E76-3560-4CAA-96A8-94ACFF130E9B}" type="sibTrans" cxnId="{9DB9632F-E2AC-48EE-840F-D6A88C411EEA}">
      <dgm:prSet/>
      <dgm:spPr/>
      <dgm:t>
        <a:bodyPr/>
        <a:lstStyle/>
        <a:p>
          <a:endParaRPr lang="es-CO" sz="1600"/>
        </a:p>
      </dgm:t>
    </dgm:pt>
    <dgm:pt modelId="{BEC04423-D6B7-4792-AEB9-C3D7F81A98AC}">
      <dgm:prSet phldrT="[Texto]"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Implementar el plan</a:t>
          </a:r>
        </a:p>
      </dgm:t>
    </dgm:pt>
    <dgm:pt modelId="{F135D138-85FF-4087-B751-5F159F842289}" type="parTrans" cxnId="{5B0A26F8-5ACB-43D3-A171-6C62CAD4E7BE}">
      <dgm:prSet/>
      <dgm:spPr/>
      <dgm:t>
        <a:bodyPr/>
        <a:lstStyle/>
        <a:p>
          <a:endParaRPr lang="es-CO" sz="1600"/>
        </a:p>
      </dgm:t>
    </dgm:pt>
    <dgm:pt modelId="{AB02689B-5109-4C4C-A9DD-EF332B395FC7}" type="sibTrans" cxnId="{5B0A26F8-5ACB-43D3-A171-6C62CAD4E7BE}">
      <dgm:prSet/>
      <dgm:spPr/>
      <dgm:t>
        <a:bodyPr/>
        <a:lstStyle/>
        <a:p>
          <a:endParaRPr lang="es-CO" sz="1600"/>
        </a:p>
      </dgm:t>
    </dgm:pt>
    <dgm:pt modelId="{6F3FB39C-3E1D-4D2D-849B-EA0299C466C8}">
      <dgm:prSet phldrT="[Texto]" custT="1"/>
      <dgm:spPr/>
      <dgm:t>
        <a:bodyPr/>
        <a:lstStyle/>
        <a:p>
          <a:r>
            <a:rPr lang="es-CO" sz="2000" dirty="0">
              <a:latin typeface="Century Gothic" panose="020B0502020202020204" pitchFamily="34" charset="0"/>
            </a:rPr>
            <a:t>4</a:t>
          </a:r>
        </a:p>
      </dgm:t>
    </dgm:pt>
    <dgm:pt modelId="{F344B892-AD67-4863-B1DB-FFEAC6AE3C6A}" type="parTrans" cxnId="{F85ACEEE-F8C0-443C-BAAF-021763D37073}">
      <dgm:prSet/>
      <dgm:spPr/>
      <dgm:t>
        <a:bodyPr/>
        <a:lstStyle/>
        <a:p>
          <a:endParaRPr lang="es-CO" sz="1600"/>
        </a:p>
      </dgm:t>
    </dgm:pt>
    <dgm:pt modelId="{2E86F725-3FD8-4480-8AF6-6A89E142D77A}" type="sibTrans" cxnId="{F85ACEEE-F8C0-443C-BAAF-021763D37073}">
      <dgm:prSet/>
      <dgm:spPr/>
      <dgm:t>
        <a:bodyPr/>
        <a:lstStyle/>
        <a:p>
          <a:endParaRPr lang="es-CO" sz="1600"/>
        </a:p>
      </dgm:t>
    </dgm:pt>
    <dgm:pt modelId="{DCCFDBD5-3BD5-4368-8E74-2BE430318114}">
      <dgm:prSet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Revisar el plan</a:t>
          </a:r>
        </a:p>
      </dgm:t>
    </dgm:pt>
    <dgm:pt modelId="{E9C3A1B1-6767-4D4A-B32D-4EDACFE1C0F4}" type="parTrans" cxnId="{95C514DE-3460-4712-B0CD-D954FE76DB64}">
      <dgm:prSet/>
      <dgm:spPr/>
      <dgm:t>
        <a:bodyPr/>
        <a:lstStyle/>
        <a:p>
          <a:endParaRPr lang="es-CO" sz="1600"/>
        </a:p>
      </dgm:t>
    </dgm:pt>
    <dgm:pt modelId="{159A55EA-C5B7-4F9E-8222-A763BEB4D99B}" type="sibTrans" cxnId="{95C514DE-3460-4712-B0CD-D954FE76DB64}">
      <dgm:prSet/>
      <dgm:spPr/>
      <dgm:t>
        <a:bodyPr/>
        <a:lstStyle/>
        <a:p>
          <a:endParaRPr lang="es-CO" sz="1600"/>
        </a:p>
      </dgm:t>
    </dgm:pt>
    <dgm:pt modelId="{C30EB98C-BF8E-47B5-A59F-A3E708D5551C}" type="pres">
      <dgm:prSet presAssocID="{234617D2-EBA5-43D3-A846-ABD7019008A4}" presName="linearFlow" presStyleCnt="0">
        <dgm:presLayoutVars>
          <dgm:dir/>
          <dgm:animLvl val="lvl"/>
          <dgm:resizeHandles val="exact"/>
        </dgm:presLayoutVars>
      </dgm:prSet>
      <dgm:spPr/>
    </dgm:pt>
    <dgm:pt modelId="{B5976899-2FC4-4A3E-891A-B74C8C23C8B5}" type="pres">
      <dgm:prSet presAssocID="{0F6E169A-367E-48F6-8A0F-9538EF72E803}" presName="composite" presStyleCnt="0"/>
      <dgm:spPr/>
    </dgm:pt>
    <dgm:pt modelId="{416A876F-5FA3-42F9-A923-4E2C334EF9BC}" type="pres">
      <dgm:prSet presAssocID="{0F6E169A-367E-48F6-8A0F-9538EF72E803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344A86B1-48E8-448F-9C6D-71580BFB5F83}" type="pres">
      <dgm:prSet presAssocID="{0F6E169A-367E-48F6-8A0F-9538EF72E803}" presName="descendantText" presStyleLbl="alignAcc1" presStyleIdx="0" presStyleCnt="4">
        <dgm:presLayoutVars>
          <dgm:bulletEnabled val="1"/>
        </dgm:presLayoutVars>
      </dgm:prSet>
      <dgm:spPr/>
    </dgm:pt>
    <dgm:pt modelId="{19B3EDEB-1CF9-4423-9037-F0221A01EBBA}" type="pres">
      <dgm:prSet presAssocID="{9E3845BF-94AB-444E-AB21-A0DA1B4B1270}" presName="sp" presStyleCnt="0"/>
      <dgm:spPr/>
    </dgm:pt>
    <dgm:pt modelId="{5D167E8C-136F-440C-8D10-651E4D964A72}" type="pres">
      <dgm:prSet presAssocID="{9C3C57BE-AD01-47F6-9592-98EF2608A6EF}" presName="composite" presStyleCnt="0"/>
      <dgm:spPr/>
    </dgm:pt>
    <dgm:pt modelId="{A651636C-CE47-4575-AA1E-AB00D80E941D}" type="pres">
      <dgm:prSet presAssocID="{9C3C57BE-AD01-47F6-9592-98EF2608A6EF}" presName="parentText" presStyleLbl="alignNode1" presStyleIdx="1" presStyleCnt="4" custLinFactNeighborY="0">
        <dgm:presLayoutVars>
          <dgm:chMax val="1"/>
          <dgm:bulletEnabled val="1"/>
        </dgm:presLayoutVars>
      </dgm:prSet>
      <dgm:spPr/>
    </dgm:pt>
    <dgm:pt modelId="{79B0DE70-0A03-4A6F-B31F-EC81EB5DF7EA}" type="pres">
      <dgm:prSet presAssocID="{9C3C57BE-AD01-47F6-9592-98EF2608A6EF}" presName="descendantText" presStyleLbl="alignAcc1" presStyleIdx="1" presStyleCnt="4">
        <dgm:presLayoutVars>
          <dgm:bulletEnabled val="1"/>
        </dgm:presLayoutVars>
      </dgm:prSet>
      <dgm:spPr/>
    </dgm:pt>
    <dgm:pt modelId="{5C2D5B77-4FD3-4BFC-B7C7-B69CFA47B819}" type="pres">
      <dgm:prSet presAssocID="{0019765E-5748-4647-85C8-6E8054C68086}" presName="sp" presStyleCnt="0"/>
      <dgm:spPr/>
    </dgm:pt>
    <dgm:pt modelId="{FD9C2F86-B450-49A0-8639-065AE676C080}" type="pres">
      <dgm:prSet presAssocID="{9AB424BA-7E8B-4D0B-8A3C-3748A54646B8}" presName="composite" presStyleCnt="0"/>
      <dgm:spPr/>
    </dgm:pt>
    <dgm:pt modelId="{2AA7B02C-023E-4537-897E-B54A048C8983}" type="pres">
      <dgm:prSet presAssocID="{9AB424BA-7E8B-4D0B-8A3C-3748A54646B8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15D3D31F-A831-4E62-ADE9-6ACE81331CDC}" type="pres">
      <dgm:prSet presAssocID="{9AB424BA-7E8B-4D0B-8A3C-3748A54646B8}" presName="descendantText" presStyleLbl="alignAcc1" presStyleIdx="2" presStyleCnt="4">
        <dgm:presLayoutVars>
          <dgm:bulletEnabled val="1"/>
        </dgm:presLayoutVars>
      </dgm:prSet>
      <dgm:spPr/>
    </dgm:pt>
    <dgm:pt modelId="{365F76A6-EF4F-41D1-B81D-BC3D7851A081}" type="pres">
      <dgm:prSet presAssocID="{DDCD6E76-3560-4CAA-96A8-94ACFF130E9B}" presName="sp" presStyleCnt="0"/>
      <dgm:spPr/>
    </dgm:pt>
    <dgm:pt modelId="{4DB00594-09F9-4225-B772-B1D52DAEEAB6}" type="pres">
      <dgm:prSet presAssocID="{6F3FB39C-3E1D-4D2D-849B-EA0299C466C8}" presName="composite" presStyleCnt="0"/>
      <dgm:spPr/>
    </dgm:pt>
    <dgm:pt modelId="{58E45CBE-DE64-4E4E-8AAA-D376465B2BEE}" type="pres">
      <dgm:prSet presAssocID="{6F3FB39C-3E1D-4D2D-849B-EA0299C466C8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C37D6712-7A35-4663-80F7-1B8FC410AF19}" type="pres">
      <dgm:prSet presAssocID="{6F3FB39C-3E1D-4D2D-849B-EA0299C466C8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D25A530A-E341-4BA7-8999-21A374D537D3}" type="presOf" srcId="{BEC04423-D6B7-4792-AEB9-C3D7F81A98AC}" destId="{15D3D31F-A831-4E62-ADE9-6ACE81331CDC}" srcOrd="0" destOrd="0" presId="urn:microsoft.com/office/officeart/2005/8/layout/chevron2"/>
    <dgm:cxn modelId="{0F63B510-A033-48E8-A5FD-87C76FF5A9D6}" type="presOf" srcId="{0F6E169A-367E-48F6-8A0F-9538EF72E803}" destId="{416A876F-5FA3-42F9-A923-4E2C334EF9BC}" srcOrd="0" destOrd="0" presId="urn:microsoft.com/office/officeart/2005/8/layout/chevron2"/>
    <dgm:cxn modelId="{09EB6217-24CA-4B61-90D2-9CF7E646FA43}" type="presOf" srcId="{234617D2-EBA5-43D3-A846-ABD7019008A4}" destId="{C30EB98C-BF8E-47B5-A59F-A3E708D5551C}" srcOrd="0" destOrd="0" presId="urn:microsoft.com/office/officeart/2005/8/layout/chevron2"/>
    <dgm:cxn modelId="{9DB9632F-E2AC-48EE-840F-D6A88C411EEA}" srcId="{234617D2-EBA5-43D3-A846-ABD7019008A4}" destId="{9AB424BA-7E8B-4D0B-8A3C-3748A54646B8}" srcOrd="2" destOrd="0" parTransId="{E543BFA9-86DB-499C-8E83-B32D00A97FD8}" sibTransId="{DDCD6E76-3560-4CAA-96A8-94ACFF130E9B}"/>
    <dgm:cxn modelId="{5C56243F-7D54-4FD5-BD45-EEAB6E9334A6}" type="presOf" srcId="{676AA4D5-22F4-47B3-B0E8-95C3D9C99480}" destId="{344A86B1-48E8-448F-9C6D-71580BFB5F83}" srcOrd="0" destOrd="0" presId="urn:microsoft.com/office/officeart/2005/8/layout/chevron2"/>
    <dgm:cxn modelId="{3EF6886C-4FCF-4899-8F48-98F458A380A4}" type="presOf" srcId="{DCCFDBD5-3BD5-4368-8E74-2BE430318114}" destId="{C37D6712-7A35-4663-80F7-1B8FC410AF19}" srcOrd="0" destOrd="0" presId="urn:microsoft.com/office/officeart/2005/8/layout/chevron2"/>
    <dgm:cxn modelId="{3B1F784D-95DD-4194-A52D-9A5B55BC5BD7}" srcId="{9C3C57BE-AD01-47F6-9592-98EF2608A6EF}" destId="{C59A2A35-6BBC-4F81-BD74-40520AACD6AB}" srcOrd="0" destOrd="0" parTransId="{EDE363E4-7EA3-41D2-8DB9-A0871D9DA325}" sibTransId="{C31DDF04-103F-4600-9F78-0BDCC0BF907B}"/>
    <dgm:cxn modelId="{1D7BCF56-E33F-4A42-8129-E524DE8CA73C}" srcId="{234617D2-EBA5-43D3-A846-ABD7019008A4}" destId="{0F6E169A-367E-48F6-8A0F-9538EF72E803}" srcOrd="0" destOrd="0" parTransId="{214810CF-0E9F-420E-9F44-94CA29248781}" sibTransId="{9E3845BF-94AB-444E-AB21-A0DA1B4B1270}"/>
    <dgm:cxn modelId="{E8354084-D26E-4270-954C-74C7F6A06793}" type="presOf" srcId="{C59A2A35-6BBC-4F81-BD74-40520AACD6AB}" destId="{79B0DE70-0A03-4A6F-B31F-EC81EB5DF7EA}" srcOrd="0" destOrd="0" presId="urn:microsoft.com/office/officeart/2005/8/layout/chevron2"/>
    <dgm:cxn modelId="{BF2B6EA9-3F5A-49C1-AF7E-EC921192B9DE}" type="presOf" srcId="{9C3C57BE-AD01-47F6-9592-98EF2608A6EF}" destId="{A651636C-CE47-4575-AA1E-AB00D80E941D}" srcOrd="0" destOrd="0" presId="urn:microsoft.com/office/officeart/2005/8/layout/chevron2"/>
    <dgm:cxn modelId="{95C514DE-3460-4712-B0CD-D954FE76DB64}" srcId="{6F3FB39C-3E1D-4D2D-849B-EA0299C466C8}" destId="{DCCFDBD5-3BD5-4368-8E74-2BE430318114}" srcOrd="0" destOrd="0" parTransId="{E9C3A1B1-6767-4D4A-B32D-4EDACFE1C0F4}" sibTransId="{159A55EA-C5B7-4F9E-8222-A763BEB4D99B}"/>
    <dgm:cxn modelId="{FBB864E0-2027-4A45-B5D7-110F765EFD96}" srcId="{234617D2-EBA5-43D3-A846-ABD7019008A4}" destId="{9C3C57BE-AD01-47F6-9592-98EF2608A6EF}" srcOrd="1" destOrd="0" parTransId="{33D25418-EA10-4491-90C6-5683712BE055}" sibTransId="{0019765E-5748-4647-85C8-6E8054C68086}"/>
    <dgm:cxn modelId="{448B48EB-E488-4909-82B4-2E61877F00AE}" type="presOf" srcId="{6F3FB39C-3E1D-4D2D-849B-EA0299C466C8}" destId="{58E45CBE-DE64-4E4E-8AAA-D376465B2BEE}" srcOrd="0" destOrd="0" presId="urn:microsoft.com/office/officeart/2005/8/layout/chevron2"/>
    <dgm:cxn modelId="{E644B3EB-418D-4B1A-83D6-8DCC10BE06E8}" type="presOf" srcId="{9AB424BA-7E8B-4D0B-8A3C-3748A54646B8}" destId="{2AA7B02C-023E-4537-897E-B54A048C8983}" srcOrd="0" destOrd="0" presId="urn:microsoft.com/office/officeart/2005/8/layout/chevron2"/>
    <dgm:cxn modelId="{F85ACEEE-F8C0-443C-BAAF-021763D37073}" srcId="{234617D2-EBA5-43D3-A846-ABD7019008A4}" destId="{6F3FB39C-3E1D-4D2D-849B-EA0299C466C8}" srcOrd="3" destOrd="0" parTransId="{F344B892-AD67-4863-B1DB-FFEAC6AE3C6A}" sibTransId="{2E86F725-3FD8-4480-8AF6-6A89E142D77A}"/>
    <dgm:cxn modelId="{E402CAF0-5AAA-416F-BAF4-3854EF253EE5}" srcId="{0F6E169A-367E-48F6-8A0F-9538EF72E803}" destId="{676AA4D5-22F4-47B3-B0E8-95C3D9C99480}" srcOrd="0" destOrd="0" parTransId="{65AE6963-95E3-417E-9DBC-C327427667A9}" sibTransId="{BBDCCB86-71C3-422E-959C-8FA92A9124DF}"/>
    <dgm:cxn modelId="{5B0A26F8-5ACB-43D3-A171-6C62CAD4E7BE}" srcId="{9AB424BA-7E8B-4D0B-8A3C-3748A54646B8}" destId="{BEC04423-D6B7-4792-AEB9-C3D7F81A98AC}" srcOrd="0" destOrd="0" parTransId="{F135D138-85FF-4087-B751-5F159F842289}" sibTransId="{AB02689B-5109-4C4C-A9DD-EF332B395FC7}"/>
    <dgm:cxn modelId="{AC4A8FF1-0B42-4570-ACB4-F62AD10AC7E7}" type="presParOf" srcId="{C30EB98C-BF8E-47B5-A59F-A3E708D5551C}" destId="{B5976899-2FC4-4A3E-891A-B74C8C23C8B5}" srcOrd="0" destOrd="0" presId="urn:microsoft.com/office/officeart/2005/8/layout/chevron2"/>
    <dgm:cxn modelId="{78437963-1AD6-4AA2-99FF-D3C136E6C1B9}" type="presParOf" srcId="{B5976899-2FC4-4A3E-891A-B74C8C23C8B5}" destId="{416A876F-5FA3-42F9-A923-4E2C334EF9BC}" srcOrd="0" destOrd="0" presId="urn:microsoft.com/office/officeart/2005/8/layout/chevron2"/>
    <dgm:cxn modelId="{E5BB8A76-3CEA-42DE-8EE6-7959F74B0BB9}" type="presParOf" srcId="{B5976899-2FC4-4A3E-891A-B74C8C23C8B5}" destId="{344A86B1-48E8-448F-9C6D-71580BFB5F83}" srcOrd="1" destOrd="0" presId="urn:microsoft.com/office/officeart/2005/8/layout/chevron2"/>
    <dgm:cxn modelId="{1409A561-56BE-41EC-823E-CEEC12A8CF50}" type="presParOf" srcId="{C30EB98C-BF8E-47B5-A59F-A3E708D5551C}" destId="{19B3EDEB-1CF9-4423-9037-F0221A01EBBA}" srcOrd="1" destOrd="0" presId="urn:microsoft.com/office/officeart/2005/8/layout/chevron2"/>
    <dgm:cxn modelId="{69FAE29B-8826-413D-A90D-E3D1914BB7C5}" type="presParOf" srcId="{C30EB98C-BF8E-47B5-A59F-A3E708D5551C}" destId="{5D167E8C-136F-440C-8D10-651E4D964A72}" srcOrd="2" destOrd="0" presId="urn:microsoft.com/office/officeart/2005/8/layout/chevron2"/>
    <dgm:cxn modelId="{26C5ECD3-BE74-4234-955C-82B823BF9F9B}" type="presParOf" srcId="{5D167E8C-136F-440C-8D10-651E4D964A72}" destId="{A651636C-CE47-4575-AA1E-AB00D80E941D}" srcOrd="0" destOrd="0" presId="urn:microsoft.com/office/officeart/2005/8/layout/chevron2"/>
    <dgm:cxn modelId="{BFF53C8A-F466-46C1-9066-7E1EB74CF072}" type="presParOf" srcId="{5D167E8C-136F-440C-8D10-651E4D964A72}" destId="{79B0DE70-0A03-4A6F-B31F-EC81EB5DF7EA}" srcOrd="1" destOrd="0" presId="urn:microsoft.com/office/officeart/2005/8/layout/chevron2"/>
    <dgm:cxn modelId="{530A7BC0-79AB-4546-A568-2187FF19F65D}" type="presParOf" srcId="{C30EB98C-BF8E-47B5-A59F-A3E708D5551C}" destId="{5C2D5B77-4FD3-4BFC-B7C7-B69CFA47B819}" srcOrd="3" destOrd="0" presId="urn:microsoft.com/office/officeart/2005/8/layout/chevron2"/>
    <dgm:cxn modelId="{BE3F6BE8-AEFA-4235-B54E-61907BC9372B}" type="presParOf" srcId="{C30EB98C-BF8E-47B5-A59F-A3E708D5551C}" destId="{FD9C2F86-B450-49A0-8639-065AE676C080}" srcOrd="4" destOrd="0" presId="urn:microsoft.com/office/officeart/2005/8/layout/chevron2"/>
    <dgm:cxn modelId="{2E20AF7C-4B60-47FB-B029-F81F1CE8FCB7}" type="presParOf" srcId="{FD9C2F86-B450-49A0-8639-065AE676C080}" destId="{2AA7B02C-023E-4537-897E-B54A048C8983}" srcOrd="0" destOrd="0" presId="urn:microsoft.com/office/officeart/2005/8/layout/chevron2"/>
    <dgm:cxn modelId="{0573D7AB-2C25-487B-B0E2-947295CA4BF1}" type="presParOf" srcId="{FD9C2F86-B450-49A0-8639-065AE676C080}" destId="{15D3D31F-A831-4E62-ADE9-6ACE81331CDC}" srcOrd="1" destOrd="0" presId="urn:microsoft.com/office/officeart/2005/8/layout/chevron2"/>
    <dgm:cxn modelId="{49FE4450-ED31-4DD4-95F8-F34D880718F4}" type="presParOf" srcId="{C30EB98C-BF8E-47B5-A59F-A3E708D5551C}" destId="{365F76A6-EF4F-41D1-B81D-BC3D7851A081}" srcOrd="5" destOrd="0" presId="urn:microsoft.com/office/officeart/2005/8/layout/chevron2"/>
    <dgm:cxn modelId="{D297B7B3-984B-4BEF-88CF-E8496B62D532}" type="presParOf" srcId="{C30EB98C-BF8E-47B5-A59F-A3E708D5551C}" destId="{4DB00594-09F9-4225-B772-B1D52DAEEAB6}" srcOrd="6" destOrd="0" presId="urn:microsoft.com/office/officeart/2005/8/layout/chevron2"/>
    <dgm:cxn modelId="{58E3F0DF-7BFD-4BEB-873F-CA02319F1E26}" type="presParOf" srcId="{4DB00594-09F9-4225-B772-B1D52DAEEAB6}" destId="{58E45CBE-DE64-4E4E-8AAA-D376465B2BEE}" srcOrd="0" destOrd="0" presId="urn:microsoft.com/office/officeart/2005/8/layout/chevron2"/>
    <dgm:cxn modelId="{C405AC97-4C54-4757-8651-AB11924A4B6F}" type="presParOf" srcId="{4DB00594-09F9-4225-B772-B1D52DAEEAB6}" destId="{C37D6712-7A35-4663-80F7-1B8FC410AF1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6A876F-5FA3-42F9-A923-4E2C334EF9BC}">
      <dsp:nvSpPr>
        <dsp:cNvPr id="0" name=""/>
        <dsp:cNvSpPr/>
      </dsp:nvSpPr>
      <dsp:spPr>
        <a:xfrm rot="5400000">
          <a:off x="-106543" y="109307"/>
          <a:ext cx="710288" cy="497202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>
              <a:latin typeface="Century Gothic" panose="020B0502020202020204" pitchFamily="34" charset="0"/>
            </a:rPr>
            <a:t>1</a:t>
          </a:r>
          <a:endParaRPr lang="es-CO" sz="1200" kern="1200" dirty="0">
            <a:latin typeface="Century Gothic" panose="020B0502020202020204" pitchFamily="34" charset="0"/>
          </a:endParaRPr>
        </a:p>
      </dsp:txBody>
      <dsp:txXfrm rot="-5400000">
        <a:off x="0" y="251365"/>
        <a:ext cx="497202" cy="213086"/>
      </dsp:txXfrm>
    </dsp:sp>
    <dsp:sp modelId="{344A86B1-48E8-448F-9C6D-71580BFB5F83}">
      <dsp:nvSpPr>
        <dsp:cNvPr id="0" name=""/>
        <dsp:cNvSpPr/>
      </dsp:nvSpPr>
      <dsp:spPr>
        <a:xfrm rot="5400000">
          <a:off x="2825947" y="-2325981"/>
          <a:ext cx="461930" cy="5119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latin typeface="Century Gothic" panose="020B0502020202020204" pitchFamily="34" charset="0"/>
            </a:rPr>
            <a:t>Entender el problema</a:t>
          </a:r>
        </a:p>
      </dsp:txBody>
      <dsp:txXfrm rot="-5400000">
        <a:off x="497202" y="25314"/>
        <a:ext cx="5096871" cy="416830"/>
      </dsp:txXfrm>
    </dsp:sp>
    <dsp:sp modelId="{A651636C-CE47-4575-AA1E-AB00D80E941D}">
      <dsp:nvSpPr>
        <dsp:cNvPr id="0" name=""/>
        <dsp:cNvSpPr/>
      </dsp:nvSpPr>
      <dsp:spPr>
        <a:xfrm rot="5400000">
          <a:off x="-106543" y="658631"/>
          <a:ext cx="710288" cy="497202"/>
        </a:xfrm>
        <a:prstGeom prst="chevron">
          <a:avLst/>
        </a:prstGeom>
        <a:gradFill rotWithShape="0">
          <a:gsLst>
            <a:gs pos="0">
              <a:schemeClr val="accent3">
                <a:hueOff val="252426"/>
                <a:satOff val="3301"/>
                <a:lumOff val="-40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52426"/>
                <a:satOff val="3301"/>
                <a:lumOff val="-40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52426"/>
                <a:satOff val="3301"/>
                <a:lumOff val="-40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252426"/>
              <a:satOff val="3301"/>
              <a:lumOff val="-40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>
              <a:latin typeface="Century Gothic" panose="020B0502020202020204" pitchFamily="34" charset="0"/>
            </a:rPr>
            <a:t>2</a:t>
          </a:r>
          <a:endParaRPr lang="es-CO" sz="2400" kern="1200" dirty="0">
            <a:latin typeface="Century Gothic" panose="020B0502020202020204" pitchFamily="34" charset="0"/>
          </a:endParaRPr>
        </a:p>
      </dsp:txBody>
      <dsp:txXfrm rot="-5400000">
        <a:off x="0" y="800689"/>
        <a:ext cx="497202" cy="213086"/>
      </dsp:txXfrm>
    </dsp:sp>
    <dsp:sp modelId="{79B0DE70-0A03-4A6F-B31F-EC81EB5DF7EA}">
      <dsp:nvSpPr>
        <dsp:cNvPr id="0" name=""/>
        <dsp:cNvSpPr/>
      </dsp:nvSpPr>
      <dsp:spPr>
        <a:xfrm rot="5400000">
          <a:off x="2826069" y="-1776779"/>
          <a:ext cx="461687" cy="5119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252426"/>
              <a:satOff val="3301"/>
              <a:lumOff val="-40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Diseñar un plan</a:t>
          </a:r>
        </a:p>
      </dsp:txBody>
      <dsp:txXfrm rot="-5400000">
        <a:off x="497202" y="574626"/>
        <a:ext cx="5096883" cy="416611"/>
      </dsp:txXfrm>
    </dsp:sp>
    <dsp:sp modelId="{2AA7B02C-023E-4537-897E-B54A048C8983}">
      <dsp:nvSpPr>
        <dsp:cNvPr id="0" name=""/>
        <dsp:cNvSpPr/>
      </dsp:nvSpPr>
      <dsp:spPr>
        <a:xfrm rot="5400000">
          <a:off x="-106543" y="1207954"/>
          <a:ext cx="710288" cy="497202"/>
        </a:xfrm>
        <a:prstGeom prst="chevron">
          <a:avLst/>
        </a:prstGeom>
        <a:gradFill rotWithShape="0">
          <a:gsLst>
            <a:gs pos="0">
              <a:schemeClr val="accent3">
                <a:hueOff val="504853"/>
                <a:satOff val="6602"/>
                <a:lumOff val="-81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04853"/>
                <a:satOff val="6602"/>
                <a:lumOff val="-81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04853"/>
                <a:satOff val="6602"/>
                <a:lumOff val="-81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504853"/>
              <a:satOff val="6602"/>
              <a:lumOff val="-810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>
              <a:latin typeface="Century Gothic" panose="020B0502020202020204" pitchFamily="34" charset="0"/>
            </a:rPr>
            <a:t>3</a:t>
          </a:r>
        </a:p>
      </dsp:txBody>
      <dsp:txXfrm rot="-5400000">
        <a:off x="0" y="1350012"/>
        <a:ext cx="497202" cy="213086"/>
      </dsp:txXfrm>
    </dsp:sp>
    <dsp:sp modelId="{15D3D31F-A831-4E62-ADE9-6ACE81331CDC}">
      <dsp:nvSpPr>
        <dsp:cNvPr id="0" name=""/>
        <dsp:cNvSpPr/>
      </dsp:nvSpPr>
      <dsp:spPr>
        <a:xfrm rot="5400000">
          <a:off x="2826069" y="-1227455"/>
          <a:ext cx="461687" cy="5119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504853"/>
              <a:satOff val="6602"/>
              <a:lumOff val="-810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Implementar el plan</a:t>
          </a:r>
        </a:p>
      </dsp:txBody>
      <dsp:txXfrm rot="-5400000">
        <a:off x="497202" y="1123950"/>
        <a:ext cx="5096883" cy="416611"/>
      </dsp:txXfrm>
    </dsp:sp>
    <dsp:sp modelId="{58E45CBE-DE64-4E4E-8AAA-D376465B2BEE}">
      <dsp:nvSpPr>
        <dsp:cNvPr id="0" name=""/>
        <dsp:cNvSpPr/>
      </dsp:nvSpPr>
      <dsp:spPr>
        <a:xfrm rot="5400000">
          <a:off x="-106543" y="1757278"/>
          <a:ext cx="710288" cy="497202"/>
        </a:xfrm>
        <a:prstGeom prst="chevron">
          <a:avLst/>
        </a:prstGeom>
        <a:gradFill rotWithShape="0">
          <a:gsLst>
            <a:gs pos="0">
              <a:schemeClr val="accent3">
                <a:hueOff val="757279"/>
                <a:satOff val="9903"/>
                <a:lumOff val="-1215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757279"/>
                <a:satOff val="9903"/>
                <a:lumOff val="-1215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757279"/>
                <a:satOff val="9903"/>
                <a:lumOff val="-1215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757279"/>
              <a:satOff val="9903"/>
              <a:lumOff val="-121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>
              <a:latin typeface="Century Gothic" panose="020B0502020202020204" pitchFamily="34" charset="0"/>
            </a:rPr>
            <a:t>4</a:t>
          </a:r>
        </a:p>
      </dsp:txBody>
      <dsp:txXfrm rot="-5400000">
        <a:off x="0" y="1899336"/>
        <a:ext cx="497202" cy="213086"/>
      </dsp:txXfrm>
    </dsp:sp>
    <dsp:sp modelId="{C37D6712-7A35-4663-80F7-1B8FC410AF19}">
      <dsp:nvSpPr>
        <dsp:cNvPr id="0" name=""/>
        <dsp:cNvSpPr/>
      </dsp:nvSpPr>
      <dsp:spPr>
        <a:xfrm rot="5400000">
          <a:off x="2826069" y="-678132"/>
          <a:ext cx="461687" cy="5119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757279"/>
              <a:satOff val="9903"/>
              <a:lumOff val="-121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Revisar el plan</a:t>
          </a:r>
        </a:p>
      </dsp:txBody>
      <dsp:txXfrm rot="-5400000">
        <a:off x="497202" y="1673273"/>
        <a:ext cx="5096883" cy="4166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43A3E-55B9-4706-BA6E-9364B5247742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8B099-0CC4-41E8-A6BF-D10E445BFF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5684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E389-1891-4C1C-AE7B-96446A92669F}" type="datetime1">
              <a:rPr lang="es-CO" smtClean="0"/>
              <a:t>10/10/2026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6620888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7211-2E02-4E34-9D1C-742DBBA2E713}" type="datetime1">
              <a:rPr lang="es-CO" smtClean="0"/>
              <a:t>10/10/2026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1991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16AA-8F92-4F8D-9FF5-AE4F5F025475}" type="datetime1">
              <a:rPr lang="es-CO" smtClean="0"/>
              <a:t>10/10/2026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2149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2889A-C4A3-4C6C-A514-E9566A95FF0B}" type="datetime1">
              <a:rPr lang="es-CO" smtClean="0"/>
              <a:t>10/10/2026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1312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49B8-F78E-4015-8DD3-99AC842EEF5C}" type="datetime1">
              <a:rPr lang="es-CO" smtClean="0"/>
              <a:t>10/10/2026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3852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E389-1891-4C1C-AE7B-96446A92669F}" type="datetime1">
              <a:rPr lang="es-CO" smtClean="0"/>
              <a:t>10/10/2026</a:t>
            </a:fld>
            <a:endParaRPr lang="es-C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8510513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75FDE-4F9B-4FF4-9D4F-6D3ED15F62CE}" type="datetime1">
              <a:rPr lang="es-CO" smtClean="0"/>
              <a:t>10/10/2026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6837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392FA-6414-43D4-857F-1D16849F2AFB}" type="datetime1">
              <a:rPr lang="es-CO" smtClean="0"/>
              <a:t>10/10/2026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845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ADB1-43E6-4CC5-8BA6-A3F5A7E6EF55}" type="datetime1">
              <a:rPr lang="es-CO" smtClean="0"/>
              <a:t>10/10/2026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063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921E5-6957-4C84-BD80-156D13F58C59}" type="datetime1">
              <a:rPr lang="es-CO" smtClean="0"/>
              <a:t>10/10/2026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121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B61D7-E979-4A0B-B106-A9203ABD6AA5}" type="datetime1">
              <a:rPr lang="es-CO" smtClean="0"/>
              <a:t>10/10/2026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2539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7211-2E02-4E34-9D1C-742DBBA2E713}" type="datetime1">
              <a:rPr lang="es-CO" smtClean="0"/>
              <a:t>10/10/2026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6410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AE389-1891-4C1C-AE7B-96446A92669F}" type="datetime1">
              <a:rPr lang="es-CO" smtClean="0"/>
              <a:t>10/10/2026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43474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65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thontutor.com/visualize.html#code=%23%20Entrada%20de%20datos%0Ac%20%3D%20float%28input%28%22Ingrese%20los%20%C2%B0C%3A%20%22%29%29%0A%0A%23%20Conversion%20%C2%B0C%20a%20%C2%B0F%0Af%20%3D%20%289.0/5%29*c%20%2B%2032%0A%0A%23%20Salida%0Aprint%28c,%22%C2%B0C%20%3D%22,f,%22%C2%B0F%22%29%0A&amp;curInstr=0&amp;mode=display&amp;origin=opt-frontend.js&amp;py=311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tutor.com/visualize.html#code=%23%20Constantes%0API%20%3D%203.1416%0A%0A%23%20Definicion%20de%20la%20funcion%0Adef%20calcular_area_circulo%28radio%29%3A%0A%20%20%20%20return%20PI%20*%20radio%20**%202%0A%20%20%20%20%0A%23%20Invocacion%0Aarea%20%3D%20calcular_area_circulo%285%29%0A%23%20Salida%20en%20pantalla%0Aprint%28f%22%7Barea%3A.2f%7D%22%29&amp;curInstr=0&amp;mode=display&amp;origin=opt-frontend.js&amp;py=311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tutor.com/visualize.html#code=def%20calcular_area_rectangulo%28base,%20altura%29%3A%0A%20%20%20%20return%20base%20*%20altura%0A%0A%23%20Pruebas%20unitarias%0A%0A%23%20Sin%20mensaje%0Aassert%20calcular_area_rectangulo%284,%203%29%20%3D%3D%2012%0A%0A%23%20Con%20mensaje%0Aassert%20calcular_area_rectangulo%284,%203%29%20%3D%3D%2012,%20%22El%20%C3%A1rea%20de%204%20x%203%20debe%20ser%2012%22%0A%0A&amp;curInstr=0&amp;mode=display&amp;origin=opt-frontend.js&amp;py=311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visualize.html#code=%23%20Funcion%20%28Modulo%29%0Adef%20celcius_to_fahrenheit%28c%29%3A%0A%20%20%20%20f%20%3D%20%289.0/5%29*c%20%2B%2032%0A%20%20%20%20return%20f%0A%0A%23%20Entrada%20de%20datos%0Atemp_c%20%3D%20float%28input%28%22Ingrese%20los%20%C2%B0C%3A%20%22%29%29%0A%0A%23%20Invocacion%20de%20la%20funcion%0Atemp_f%20%3D%20celcius_to_fahrenheit%28temp_c%29%0A%0A%23%20Despliegue%20de%20resultados%0Aprint%28temp_c,%22%C2%B0C%20%3D%22,%20temp_f,%22%C2%B0F%22%29%0A&amp;curInstr=0&amp;mode=display&amp;origin=opt-frontend.js&amp;py=311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hyperlink" Target="https://pythontutor.com/visualize.html#code=%23%20Entrada%20de%20datos%0Ac%20%3D%20float%28input%28%22Ingrese%20los%20%C2%B0C%3A%20%22%29%29%0A%0A%23%20Conversion%20%C2%B0C%20a%20%C2%B0F%0Af%20%3D%20%289.0/5%29*c%20%2B%2032%0A%0A%23%20Salida%0Aprint%28c,%22%C2%B0C%20%3D%22,f,%22%C2%B0F%22%29%0A&amp;curInstr=0&amp;mode=display&amp;origin=opt-frontend.js&amp;py=311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ythontutor.com/visualize.html#code=def%20f%28x%29%3A%20%0A%20%20%20%20y%20%3D%201%20%0A%20%20%20%20x%20%3D%20x%20%2B%20y%20%0A%20%20%20%20print%28'x%20%3D',%20x%29%20%0A%20%20%20%20return%20x%20%0A%0Ax%20%3D%203%20%0Ay%20%3D%202%20%0Az%20%3D%20f%28x%29%20%0Aprint%28'z%20%3D',%20z%29%20%0Aprint%28'x%20%3D',%20x%29%20%0Aprint%28'y%20%3D',%20y%29%0A&amp;curInstr=0&amp;mode=display&amp;origin=opt-frontend.js&amp;py=311" TargetMode="Externa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pythontutor.com/visualize.html#code=def%20celsius_a_fahrenheit%28temp_c%29%3A%0A%20%20%20%20temp_f%20%3D%20%289%20/%205%29%20*%20temp_c%20%2B%2032%0A%20%20%20%20return%20temp_f%0A%0Atemp_c%20%3D%20float%28input%28%22Ingrese%20los%20%C2%B0C%3A%20%22%29%29%0Atemp_f%20%3D%20celsius_a_fahrenheit%28temp_c%29%0A%0Aprint%28f%22%7Btemp_c%7D%20%C2%B0C%20%3D%20%7Btemp_f%7D%20%C2%B0F%22%29%0A&amp;curInstr=0&amp;mode=display&amp;origin=opt-frontend.js&amp;py=31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visualize.html#code=conversiones%20%3D%200%0A%0Adef%20celsius_a_fahrenheit%28temp_c%29%3A%0A%20%20%20%20global%20conversiones%0A%20%20%20%20conversiones%20%3D%20conversiones%20%2B%201%0A%20%20%20%20temp_f%20%3D%20%289%20/%205%29%20*%20temp_c%20%2B%2032%0A%20%20%20%20return%20temp_f%0A%0A%23%20Pruebas%0Aassert%20round%28celsius_a_fahrenheit%28100%29,%202%29%20%3D%3D%20212.0%0Aassert%20round%28celsius_a_fahrenheit%280%29,%202%29%20%3D%3D%2032.0%0A%0A%23%20Programa%20principal%3A%20el%20usuario%20hace%20UNA%20conversion%0Atemp_f%20%3D%20celsius_a_fahrenheit%2823%29%0Aprint%28%2223%20%C2%B0C%20%3D%22,%20temp_f,%20%22%C2%B0F%22%29%0Aprint%28%22Conversiones%3A%22,%20conversiones%29%0A&amp;curInstr=0&amp;mode=display&amp;origin=opt-frontend.js&amp;py=311" TargetMode="External"/><Relationship Id="rId2" Type="http://schemas.openxmlformats.org/officeDocument/2006/relationships/hyperlink" Target="https://pythontutor.com/visualize.html#code=CERO_ABSOLUTO%20%3D%20-273.15%0A%0Adef%20celsius_a_kelvin%28temp_c%29%3A%0A%20%20%20%20temp_k%20%3D%20temp_c%20-%20CERO_ABSOLUTO%0A%20%20%20%20return%20temp_k%0A%0Atemp_k%20%3D%20celsius_a_kelvin%2825%29%0Aprint%28%2225%20%C2%B0C%20%3D%22,%20temp_k,%20%22K%22%29%0A&amp;curInstr=0&amp;mode=display&amp;origin=opt-frontend.js&amp;py=311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visualize.html#code=conversiones%20%3D%200%0A%0Adef%20celsius_a_fahrenheit%28temp_c%29%3A%0A%20%20%20%20conversiones%20%3D%20conversiones%20%2B%201%0A%20%20%20%20temp_f%20%3D%20%289%20%2F%205%29%20%2A%20temp_c%20%2B%2032%0A%20%20%20%20return%20temp_f%0A%0Atemp_f%20%3D%20celsius_a_fahrenheit%2823%29%0A&amp;cumulative=false&amp;curInstr=0&amp;heapPrimitives=nevernest&amp;mode=display&amp;origin=opt-frontend.js&amp;py=311&amp;rawInputLstJSON=%5B%5D&amp;textReferences=false" TargetMode="External"/><Relationship Id="rId2" Type="http://schemas.openxmlformats.org/officeDocument/2006/relationships/hyperlink" Target="https://pythontutor.com/visualize.html#code=CERO_ABSOLUTO%20%3D%20-273.15%0A%0Adef%20celsius_a_kelvin%28temp_c%29%3A%0A%20%20%20%20temp_k%20%3D%20temp_c%20-%20CERO_ABSOLUTO%0A%20%20%20%20return%20temp_k%0A%0Atemp_k%20%3D%20celsius_a_kelvin%2825%29%0Aprint%28%2225%20%C2%B0C%20%3D%22,%20temp_k,%20%22K%22%29%0A&amp;curInstr=0&amp;mode=display&amp;origin=opt-frontend.js&amp;py=31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thontutor.com/visualize.html#code=def%20celsius_a_fahrenheit%28temp_c%29%3A%0A%20%20%20%20temp_f%20%3D%20%289%20%2F%205%29%20%2A%20temp_c%20%2B%2032%0A%20%20%20%20return%20temp_f%0A%0Acelsius_a_fahrenheit%2823%29%20%20%20%20%20%23%20el%20resultado%20no%20se%20guarda%0Aprint%28temp_f%29%0A&amp;cumulative=false&amp;curInstr=0&amp;heapPrimitives=nevernest&amp;mode=display&amp;origin=opt-frontend.js&amp;py=311&amp;rawInputLstJSON=%5B%5D&amp;textReferences=false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visualize.html#code=def%20factorial%28n%29%3A%0A%20%20%20%20fact%20%3D%201%0A%20%20%20%20for%20i%20in%20range%281%2C%20n%20%2B%201%29%3A%0A%20%20%20%20%20%20%20%20fact%20%3D%20fact%20%2A%20i%0A%20%20%20%20return%20fact%0A%0Adef%20seno%28x%2C%20n%29%3A%0A%20%20%20%20suma%20%3D%200%0A%20%20%20%20for%20k%20in%20range%28n%29%3A%0A%20%20%20%20%20%20%20%20suma%20%3D%20suma%20%2B%20%28-1%29%2A%2Ak%20%2A%20x%2A%2A%282%2Ak%20%2B%201%29%20%2F%20factorial%282%2Ak%20%2B%201%29%0A%20%20%20%20return%20suma%0A%0Aa%20%3D%20seno%281.0%2C%203%29%20%20%20%20%20%20%20%20%20%20%23%20por%20posicion%0Ab%20%3D%20seno%28x%3D1.0%2C%20n%3D3%29%20%20%20%20%20%20%23%20por%20nombre%0Ac%20%3D%20seno%28n%3D3%2C%20x%3D1.0%29%20%20%20%20%20%20%23%20por%20nombre%2C%20en%20otro%20orden%0Ad%20%3D%20seno%281.0%2C%20n%3D3%29%20%20%20%20%20%20%20%20%23%20mezclados%0Aprint%28a%2C%20b%2C%20c%2C%20d%29%0A&amp;cumulative=false&amp;curInstr=0&amp;heapPrimitives=nevernest&amp;mode=display&amp;origin=opt-frontend.js&amp;py=311&amp;rawInputLstJSON=%5B%5D&amp;textReferences=false" TargetMode="External"/><Relationship Id="rId2" Type="http://schemas.openxmlformats.org/officeDocument/2006/relationships/hyperlink" Target="https://pythontutor.com/visualize.html#code=CERO_ABSOLUTO%20%3D%20-273.15%0A%0Adef%20celsius_a_kelvin%28temp_c%29%3A%0A%20%20%20%20temp_k%20%3D%20temp_c%20-%20CERO_ABSOLUTO%0A%20%20%20%20return%20temp_k%0A%0Atemp_k%20%3D%20celsius_a_kelvin%2825%29%0Aprint%28%2225%20%C2%B0C%20%3D%22,%20temp_k,%20%22K%22%29%0A&amp;curInstr=0&amp;mode=display&amp;origin=opt-frontend.js&amp;py=31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visualize.html#code=def%20factorial%28n%29%3A%0A%20%20%20%20fact%20%3D%201%0A%20%20%20%20for%20i%20in%20range%281%2C%20n%20%2B%201%29%3A%0A%20%20%20%20%20%20%20%20fact%20%3D%20fact%20%2A%20i%0A%20%20%20%20return%20fact%0A%0Adef%20seno%28x%2C%20n%3D10%29%3A%0A%20%20%20%20suma%20%3D%200%0A%20%20%20%20for%20k%20in%20range%28n%29%3A%0A%20%20%20%20%20%20%20%20suma%20%3D%20suma%20%2B%20%28-1%29%2A%2Ak%20%2A%20x%2A%2A%282%2Ak%20%2B%201%29%20%2F%20factorial%282%2Ak%20%2B%201%29%0A%20%20%20%20return%20suma%0A%0Aa%20%3D%20seno%281.0%29%20%20%20%20%20%20%20%20%20%20%23%20n%20omitido%3A%20usa%2010%0Ab%20%3D%20seno%281.0%2C%203%29%20%20%20%20%20%20%20%23%20n%20%3D%203%0Ac%20%3D%20seno%28n%3D3%2C%20x%3D1.0%29%20%20%20%23%20por%20nombre%0Aprint%28a%29%0Aprint%28b%29%0Aprint%28c%29%0A&amp;cumulative=false&amp;curInstr=0&amp;heapPrimitives=nevernest&amp;mode=display&amp;origin=opt-frontend.js&amp;py=311&amp;rawInputLstJSON=%5B%5D&amp;textReferences=false" TargetMode="External"/><Relationship Id="rId2" Type="http://schemas.openxmlformats.org/officeDocument/2006/relationships/hyperlink" Target="https://pythontutor.com/visualize.html#code=CERO_ABSOLUTO%20%3D%20-273.15%0A%0Adef%20celsius_a_kelvin%28temp_c%29%3A%0A%20%20%20%20temp_k%20%3D%20temp_c%20-%20CERO_ABSOLUTO%0A%20%20%20%20return%20temp_k%0A%0Atemp_k%20%3D%20celsius_a_kelvin%2825%29%0Aprint%28%2225%20%C2%B0C%20%3D%22,%20temp_k,%20%22K%22%29%0A&amp;curInstr=0&amp;mode=display&amp;origin=opt-frontend.js&amp;py=311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visualize.html#code=def%20factorial%28n%29%3A%0A%20%20%20%20fact%20%3D%201%0A%20%20%20%20for%20i%20in%20range%281,%20n%20%2B%201%29%3A%0A%20%20%20%20%20%20%20%20fact%20%3D%20fact%20*%20i%0A%20%20%20%20return%20fact%0A%0Adef%20seno%28x,%20n%3D10%29%3A%0A%20%20%20%20suma%20%3D%200%0A%20%20%20%20for%20k%20in%20range%28n%29%3A%0A%20%20%20%20%20%20%20%20suma%20%3D%20suma%20%2B%20%28-1%29**k%20*%20x**%282*k%20%2B%201%29%20/%20factorial%282*k%20%2B%201%29%0A%20%20%20%20return%20suma%0A%0Aresultado%20%3D%20seno%281.0,%203%29%0Aprint%28resultado%29&amp;curInstr=0&amp;mode=display&amp;origin=opt-frontend.js&amp;py=311" TargetMode="External"/><Relationship Id="rId2" Type="http://schemas.openxmlformats.org/officeDocument/2006/relationships/hyperlink" Target="https://pythontutor.com/visualize.html#code=CERO_ABSOLUTO%20%3D%20-273.15%0A%0Adef%20celsius_a_kelvin%28temp_c%29%3A%0A%20%20%20%20temp_k%20%3D%20temp_c%20-%20CERO_ABSOLUTO%0A%20%20%20%20return%20temp_k%0A%0Atemp_k%20%3D%20celsius_a_kelvin%2825%29%0Aprint%28%2225%20%C2%B0C%20%3D%22,%20temp_k,%20%22K%22%29%0A&amp;curInstr=0&amp;mode=display&amp;origin=opt-frontend.js&amp;py=311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prenderaprogramar.com/index.php?option=com_content&amp;view=article&amp;id=254:abstraccion-en-programacion-concepto-diseno-top-down-de-algoritmos-y-programas-ejemplos-cu00225a&amp;catid=36:curso-qbases-de-la-programacion-nivel-iiq&amp;Itemid=60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compedu.stanford.edu/karel-reader/docs/python/en/chapter8.html" TargetMode="External"/><Relationship Id="rId7" Type="http://schemas.openxmlformats.org/officeDocument/2006/relationships/hyperlink" Target="https://cs50.harvard.edu/python/notes/0/" TargetMode="External"/><Relationship Id="rId2" Type="http://schemas.openxmlformats.org/officeDocument/2006/relationships/hyperlink" Target="https://www.aprenderaprogramar.com/index.php?option=com_content&amp;view=category&amp;id=36&amp;Itemid=6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cw.mit.edu/courses/6-100l-introduction-to-cs-and-programming-using-python-fall-2022/resources/6100l-lecture-7-multi_mp4/" TargetMode="External"/><Relationship Id="rId5" Type="http://schemas.openxmlformats.org/officeDocument/2006/relationships/hyperlink" Target="https://ocw.mit.edu/courses/6-100l-introduction-to-cs-and-programming-using-python-fall-2022/resources/mit6_100l_f22_lec07_pdf/" TargetMode="External"/><Relationship Id="rId4" Type="http://schemas.openxmlformats.org/officeDocument/2006/relationships/hyperlink" Target="https://web.stanford.edu/class/archive/cs/cs106a/cs106a.1226/lectures/03-decomposition/3-Decomposition.pdf" TargetMode="Externa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realpython.com/defining-your-own-python-function/" TargetMode="External"/><Relationship Id="rId13" Type="http://schemas.openxmlformats.org/officeDocument/2006/relationships/hyperlink" Target="https://realpython.com/python-while-loop/" TargetMode="External"/><Relationship Id="rId3" Type="http://schemas.openxmlformats.org/officeDocument/2006/relationships/hyperlink" Target="https://www.w3resource.com/index.php" TargetMode="External"/><Relationship Id="rId7" Type="http://schemas.openxmlformats.org/officeDocument/2006/relationships/hyperlink" Target="https://realpython.com/cheatsheets/python/" TargetMode="External"/><Relationship Id="rId12" Type="http://schemas.openxmlformats.org/officeDocument/2006/relationships/hyperlink" Target="https://makecode.microbit.org/courses" TargetMode="External"/><Relationship Id="rId2" Type="http://schemas.openxmlformats.org/officeDocument/2006/relationships/hyperlink" Target="https://ellibrodepython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ython-course.eu/" TargetMode="External"/><Relationship Id="rId11" Type="http://schemas.openxmlformats.org/officeDocument/2006/relationships/hyperlink" Target="https://makecode.microbit.org/courses/csintro" TargetMode="External"/><Relationship Id="rId5" Type="http://schemas.openxmlformats.org/officeDocument/2006/relationships/hyperlink" Target="https://curriculumresources.edu.gh/wp-content/uploads/2025/01/" TargetMode="External"/><Relationship Id="rId15" Type="http://schemas.openxmlformats.org/officeDocument/2006/relationships/hyperlink" Target="https://cs.stanford.edu/people/nick/py/" TargetMode="External"/><Relationship Id="rId10" Type="http://schemas.openxmlformats.org/officeDocument/2006/relationships/hyperlink" Target="https://realpython.com/ref/best-practices/functions/" TargetMode="External"/><Relationship Id="rId4" Type="http://schemas.openxmlformats.org/officeDocument/2006/relationships/hyperlink" Target="https://realpython.com/" TargetMode="External"/><Relationship Id="rId9" Type="http://schemas.openxmlformats.org/officeDocument/2006/relationships/hyperlink" Target="https://realpython.com/python-built-in-functions/" TargetMode="External"/><Relationship Id="rId14" Type="http://schemas.openxmlformats.org/officeDocument/2006/relationships/hyperlink" Target="https://realpython.com/ref/keywords/while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phdcomics.com/comics/archive.php?comicid=1431" TargetMode="External"/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909BB-6F92-48BA-A875-99E15D225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528" y="1122363"/>
            <a:ext cx="8568952" cy="2387600"/>
          </a:xfrm>
        </p:spPr>
        <p:txBody>
          <a:bodyPr/>
          <a:lstStyle/>
          <a:p>
            <a:r>
              <a:rPr lang="es-CO" dirty="0"/>
              <a:t>Lógica y Representación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9999BC-7CCA-4677-B2C4-E913A7AA1F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CO" sz="3200" b="1" dirty="0"/>
              <a:t>Funciones - Introducción</a:t>
            </a:r>
          </a:p>
          <a:p>
            <a:r>
              <a:rPr lang="es-CO" dirty="0"/>
              <a:t>Ingeniería de Sistemas</a:t>
            </a:r>
          </a:p>
          <a:p>
            <a:r>
              <a:rPr lang="es-CO" dirty="0"/>
              <a:t>Universidad de Antioquia</a:t>
            </a:r>
          </a:p>
        </p:txBody>
      </p:sp>
    </p:spTree>
    <p:extLst>
      <p:ext uri="{BB962C8B-B14F-4D97-AF65-F5344CB8AC3E}">
        <p14:creationId xmlns:p14="http://schemas.microsoft.com/office/powerpoint/2010/main" val="774097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51520" y="188640"/>
            <a:ext cx="8263830" cy="845334"/>
          </a:xfrm>
        </p:spPr>
        <p:txBody>
          <a:bodyPr>
            <a:normAutofit/>
          </a:bodyPr>
          <a:lstStyle/>
          <a:p>
            <a:r>
              <a:rPr lang="es-CO" sz="4000" dirty="0"/>
              <a:t>Método de Polya - Resumen</a:t>
            </a:r>
            <a:endParaRPr lang="en-US" sz="4000" dirty="0"/>
          </a:p>
        </p:txBody>
      </p:sp>
      <p:graphicFrame>
        <p:nvGraphicFramePr>
          <p:cNvPr id="6" name="13 Diagrama">
            <a:extLst>
              <a:ext uri="{FF2B5EF4-FFF2-40B4-BE49-F238E27FC236}">
                <a16:creationId xmlns:a16="http://schemas.microsoft.com/office/drawing/2014/main" id="{D0B70736-976D-4675-A33E-9F94643ADC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5553215"/>
              </p:ext>
            </p:extLst>
          </p:nvPr>
        </p:nvGraphicFramePr>
        <p:xfrm>
          <a:off x="3059832" y="4221088"/>
          <a:ext cx="5616624" cy="2363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3">
            <a:extLst>
              <a:ext uri="{FF2B5EF4-FFF2-40B4-BE49-F238E27FC236}">
                <a16:creationId xmlns:a16="http://schemas.microsoft.com/office/drawing/2014/main" id="{9C9BD4AC-3A6A-4FE1-A719-F0D832952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404101"/>
            <a:ext cx="2200014" cy="197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E6732E42-F6E4-4E10-A20E-82A4BE9E8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16" y="1223168"/>
            <a:ext cx="3214687" cy="241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5899AD60-028E-47EE-844F-916EBA585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811" y="1248925"/>
            <a:ext cx="2857500" cy="236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17 Flecha abajo">
            <a:extLst>
              <a:ext uri="{FF2B5EF4-FFF2-40B4-BE49-F238E27FC236}">
                <a16:creationId xmlns:a16="http://schemas.microsoft.com/office/drawing/2014/main" id="{656E38FA-A37E-460A-AF17-E0C304C611BF}"/>
              </a:ext>
            </a:extLst>
          </p:cNvPr>
          <p:cNvSpPr/>
          <p:nvPr/>
        </p:nvSpPr>
        <p:spPr>
          <a:xfrm rot="16200000">
            <a:off x="4400922" y="1973262"/>
            <a:ext cx="322262" cy="965200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  <p:sp>
        <p:nvSpPr>
          <p:cNvPr id="11" name="18 CuadroTexto">
            <a:extLst>
              <a:ext uri="{FF2B5EF4-FFF2-40B4-BE49-F238E27FC236}">
                <a16:creationId xmlns:a16="http://schemas.microsoft.com/office/drawing/2014/main" id="{B82BDCE9-7A82-42E8-98CF-353D30A777C0}"/>
              </a:ext>
            </a:extLst>
          </p:cNvPr>
          <p:cNvSpPr txBox="1"/>
          <p:nvPr/>
        </p:nvSpPr>
        <p:spPr>
          <a:xfrm>
            <a:off x="611560" y="3789040"/>
            <a:ext cx="3214688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CO" sz="2000" b="1" dirty="0"/>
              <a:t>PROBLEMA</a:t>
            </a:r>
            <a:endParaRPr lang="es-ES" sz="2000" dirty="0"/>
          </a:p>
        </p:txBody>
      </p:sp>
      <p:sp>
        <p:nvSpPr>
          <p:cNvPr id="12" name="19 CuadroTexto">
            <a:extLst>
              <a:ext uri="{FF2B5EF4-FFF2-40B4-BE49-F238E27FC236}">
                <a16:creationId xmlns:a16="http://schemas.microsoft.com/office/drawing/2014/main" id="{BFFC459E-C4D6-4371-ADA9-FB0FF4281118}"/>
              </a:ext>
            </a:extLst>
          </p:cNvPr>
          <p:cNvSpPr txBox="1"/>
          <p:nvPr/>
        </p:nvSpPr>
        <p:spPr>
          <a:xfrm>
            <a:off x="5148064" y="3752849"/>
            <a:ext cx="3214687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CO" sz="2000" b="1" dirty="0"/>
              <a:t>ALGORITMO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8404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467543" y="207926"/>
            <a:ext cx="7939037" cy="986803"/>
          </a:xfrm>
        </p:spPr>
        <p:txBody>
          <a:bodyPr/>
          <a:lstStyle/>
          <a:p>
            <a:r>
              <a:rPr lang="es-CO" sz="3200" dirty="0"/>
              <a:t>Entrada, procesamiento y salida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35471" y="1238602"/>
            <a:ext cx="7886700" cy="1729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200" dirty="0"/>
              <a:t>Los programas de computadora realizan estos tres pasos: 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Se recibe la </a:t>
            </a:r>
            <a:r>
              <a:rPr lang="es-MX" sz="2000" b="1" dirty="0"/>
              <a:t>entrada</a:t>
            </a:r>
            <a:r>
              <a:rPr lang="es-MX" sz="2000" dirty="0"/>
              <a:t>. 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Se realiza un </a:t>
            </a:r>
            <a:r>
              <a:rPr lang="es-MX" sz="2000" b="1" dirty="0"/>
              <a:t>proceso</a:t>
            </a:r>
            <a:r>
              <a:rPr lang="es-MX" sz="2000" dirty="0"/>
              <a:t> sobre la entrada. 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Se genera la </a:t>
            </a:r>
            <a:r>
              <a:rPr lang="es-MX" sz="2000" b="1" dirty="0"/>
              <a:t>salida</a:t>
            </a:r>
            <a:endParaRPr lang="es-CO" sz="2000" b="1" dirty="0"/>
          </a:p>
        </p:txBody>
      </p:sp>
      <p:grpSp>
        <p:nvGrpSpPr>
          <p:cNvPr id="15" name="14 Grupo"/>
          <p:cNvGrpSpPr/>
          <p:nvPr/>
        </p:nvGrpSpPr>
        <p:grpSpPr>
          <a:xfrm>
            <a:off x="1589010" y="4102449"/>
            <a:ext cx="5715000" cy="838200"/>
            <a:chOff x="1676400" y="4495800"/>
            <a:chExt cx="5715000" cy="838200"/>
          </a:xfrm>
        </p:grpSpPr>
        <p:sp>
          <p:nvSpPr>
            <p:cNvPr id="10" name="9 Rectángulo"/>
            <p:cNvSpPr/>
            <p:nvPr/>
          </p:nvSpPr>
          <p:spPr>
            <a:xfrm>
              <a:off x="1676400" y="4648200"/>
              <a:ext cx="1447800" cy="5334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Inputs</a:t>
              </a:r>
              <a:endParaRPr lang="es-CO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10 Rectángulo"/>
            <p:cNvSpPr/>
            <p:nvPr/>
          </p:nvSpPr>
          <p:spPr>
            <a:xfrm>
              <a:off x="3810000" y="4495800"/>
              <a:ext cx="1447800" cy="838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400" b="1" dirty="0">
                  <a:latin typeface="Consolas" panose="020B0609020204030204" pitchFamily="49" charset="0"/>
                </a:rPr>
                <a:t>Process</a:t>
              </a:r>
              <a:endParaRPr lang="es-CO" b="1" dirty="0">
                <a:latin typeface="Consolas" panose="020B0609020204030204" pitchFamily="49" charset="0"/>
              </a:endParaRPr>
            </a:p>
          </p:txBody>
        </p:sp>
        <p:sp>
          <p:nvSpPr>
            <p:cNvPr id="12" name="11 Rectángulo"/>
            <p:cNvSpPr/>
            <p:nvPr/>
          </p:nvSpPr>
          <p:spPr>
            <a:xfrm>
              <a:off x="5943600" y="4648200"/>
              <a:ext cx="1447800" cy="5334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Outputs</a:t>
              </a:r>
              <a:endParaRPr lang="es-CO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12 Flecha derecha"/>
            <p:cNvSpPr/>
            <p:nvPr/>
          </p:nvSpPr>
          <p:spPr>
            <a:xfrm>
              <a:off x="3124200" y="4800600"/>
              <a:ext cx="685800" cy="2286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13 Flecha derecha"/>
            <p:cNvSpPr/>
            <p:nvPr/>
          </p:nvSpPr>
          <p:spPr>
            <a:xfrm>
              <a:off x="5257800" y="4800600"/>
              <a:ext cx="685800" cy="2286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pic>
        <p:nvPicPr>
          <p:cNvPr id="16" name="Picture 2" descr="http://www.jegsworks.com/lessons/computerbasics/lesson3/keyboard-white.png">
            <a:extLst>
              <a:ext uri="{FF2B5EF4-FFF2-40B4-BE49-F238E27FC236}">
                <a16:creationId xmlns:a16="http://schemas.microsoft.com/office/drawing/2014/main" id="{CA5F3EB8-A827-4D08-B3D4-BC8885661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116" y="3256265"/>
            <a:ext cx="1365108" cy="432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http://t2.gstatic.com/images?q=tbn:ANd9GcS51PGLkp34nPs-LewfkgAfjdZsyder21fNGFoRiZ_A6x7txo3e">
            <a:extLst>
              <a:ext uri="{FF2B5EF4-FFF2-40B4-BE49-F238E27FC236}">
                <a16:creationId xmlns:a16="http://schemas.microsoft.com/office/drawing/2014/main" id="{BB2AD59A-355A-4EC4-BD61-76D458710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382" y="3198200"/>
            <a:ext cx="841456" cy="690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Settings Icon, Gear Icon Vector, Gear Symbol Illustration. for Web Sites  Our Mobile. Stock Illustration - Illustration of business, wheel: 151065188">
            <a:extLst>
              <a:ext uri="{FF2B5EF4-FFF2-40B4-BE49-F238E27FC236}">
                <a16:creationId xmlns:a16="http://schemas.microsoft.com/office/drawing/2014/main" id="{AC519BCB-3AA9-4258-9707-83D241823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143" y="5159353"/>
            <a:ext cx="1007836" cy="100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452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9511" y="134971"/>
            <a:ext cx="8491661" cy="773749"/>
          </a:xfrm>
        </p:spPr>
        <p:txBody>
          <a:bodyPr/>
          <a:lstStyle/>
          <a:p>
            <a:r>
              <a:rPr lang="en-US" dirty="0"/>
              <a:t>Introducción a las funciones</a:t>
            </a:r>
          </a:p>
        </p:txBody>
      </p:sp>
      <p:pic>
        <p:nvPicPr>
          <p:cNvPr id="10242" name="Picture 2" descr="xkcd: Random Number">
            <a:extLst>
              <a:ext uri="{FF2B5EF4-FFF2-40B4-BE49-F238E27FC236}">
                <a16:creationId xmlns:a16="http://schemas.microsoft.com/office/drawing/2014/main" id="{E72BF9ED-4146-4F5B-8782-1C211EBBF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8" y="1985392"/>
            <a:ext cx="4010022" cy="1443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xkcd: Dependency">
            <a:extLst>
              <a:ext uri="{FF2B5EF4-FFF2-40B4-BE49-F238E27FC236}">
                <a16:creationId xmlns:a16="http://schemas.microsoft.com/office/drawing/2014/main" id="{CC1A6EDE-9178-4C94-AE17-EDE25EDB0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340768"/>
            <a:ext cx="3667125" cy="465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8291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62413" y="116632"/>
            <a:ext cx="8981587" cy="1215008"/>
          </a:xfrm>
        </p:spPr>
        <p:txBody>
          <a:bodyPr>
            <a:normAutofit/>
          </a:bodyPr>
          <a:lstStyle/>
          <a:p>
            <a:r>
              <a:rPr lang="es-CO" dirty="0"/>
              <a:t>Función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62413" y="1052736"/>
            <a:ext cx="8819174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200" b="1" dirty="0"/>
              <a:t>Función</a:t>
            </a:r>
            <a:r>
              <a:rPr lang="es-MX" sz="2200" dirty="0"/>
              <a:t>: </a:t>
            </a:r>
            <a:r>
              <a:rPr lang="es-MX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Porción de código que realiza una tarea especifica.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También se conoce como: subrutina, procedimiento, función o método.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A17E972-52FC-4940-90D8-B6DA6E948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539" y="2642429"/>
            <a:ext cx="1181080" cy="3096344"/>
          </a:xfrm>
          <a:prstGeom prst="rect">
            <a:avLst/>
          </a:prstGeom>
        </p:spPr>
      </p:pic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3FC34689-ACF1-4671-9408-C1A0823750FE}"/>
              </a:ext>
            </a:extLst>
          </p:cNvPr>
          <p:cNvSpPr/>
          <p:nvPr/>
        </p:nvSpPr>
        <p:spPr>
          <a:xfrm>
            <a:off x="2738897" y="3886709"/>
            <a:ext cx="1368152" cy="57606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b="1" dirty="0"/>
              <a:t>Modularizar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AC201415-31FD-434B-BF7D-680CFB497669}"/>
              </a:ext>
            </a:extLst>
          </p:cNvPr>
          <p:cNvGrpSpPr/>
          <p:nvPr/>
        </p:nvGrpSpPr>
        <p:grpSpPr>
          <a:xfrm>
            <a:off x="4252811" y="2776498"/>
            <a:ext cx="4279629" cy="2962275"/>
            <a:chOff x="4226392" y="3348208"/>
            <a:chExt cx="4279629" cy="2962275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A8EA4752-8445-4481-98F5-B3038E7852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0746" y="3348208"/>
              <a:ext cx="4105275" cy="2962275"/>
            </a:xfrm>
            <a:prstGeom prst="rect">
              <a:avLst/>
            </a:prstGeom>
          </p:spPr>
        </p:pic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59DB943E-5A24-4972-8246-5C57BFE61194}"/>
                </a:ext>
              </a:extLst>
            </p:cNvPr>
            <p:cNvSpPr/>
            <p:nvPr/>
          </p:nvSpPr>
          <p:spPr>
            <a:xfrm>
              <a:off x="4294909" y="4546600"/>
              <a:ext cx="1743941" cy="520700"/>
            </a:xfrm>
            <a:prstGeom prst="roundRect">
              <a:avLst/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11CB328B-150B-4DF5-BA95-0DDDF814FB2E}"/>
                </a:ext>
              </a:extLst>
            </p:cNvPr>
            <p:cNvSpPr txBox="1"/>
            <p:nvPr/>
          </p:nvSpPr>
          <p:spPr>
            <a:xfrm>
              <a:off x="4226392" y="4304129"/>
              <a:ext cx="6912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200" b="1" dirty="0">
                  <a:solidFill>
                    <a:schemeClr val="accent6"/>
                  </a:solidFill>
                </a:rPr>
                <a:t>Modulo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8E73D17D-CAAB-4C7E-A044-9A406A840238}"/>
                </a:ext>
              </a:extLst>
            </p:cNvPr>
            <p:cNvSpPr txBox="1"/>
            <p:nvPr/>
          </p:nvSpPr>
          <p:spPr>
            <a:xfrm>
              <a:off x="6588224" y="3474423"/>
              <a:ext cx="103092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CO" sz="1200" b="1" dirty="0">
                  <a:solidFill>
                    <a:schemeClr val="bg1">
                      <a:lumMod val="50000"/>
                    </a:schemeClr>
                  </a:solidFill>
                </a:rPr>
                <a:t>Instrucciones</a:t>
              </a:r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E019AE7-A342-4F1B-B33F-1F47F2B8D248}"/>
              </a:ext>
            </a:extLst>
          </p:cNvPr>
          <p:cNvSpPr txBox="1"/>
          <p:nvPr/>
        </p:nvSpPr>
        <p:spPr>
          <a:xfrm>
            <a:off x="487868" y="5779061"/>
            <a:ext cx="3024336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100" dirty="0">
                <a:latin typeface="Consolas" panose="020B0609020204030204" pitchFamily="49" charset="0"/>
              </a:rPr>
              <a:t>c = float(input("Ingrese los °C: "))</a:t>
            </a:r>
          </a:p>
          <a:p>
            <a:r>
              <a:rPr lang="es-CO" sz="1100" dirty="0">
                <a:latin typeface="Consolas" panose="020B0609020204030204" pitchFamily="49" charset="0"/>
              </a:rPr>
              <a:t>f = (9.0/5)*c + 32</a:t>
            </a:r>
          </a:p>
          <a:p>
            <a:r>
              <a:rPr lang="es-CO" sz="1100" dirty="0">
                <a:latin typeface="Consolas" panose="020B0609020204030204" pitchFamily="49" charset="0"/>
              </a:rPr>
              <a:t>print(c,"°C =",f, "°F")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8E8B0EF-3BD5-4431-BD8A-978CEEB33C7A}"/>
              </a:ext>
            </a:extLst>
          </p:cNvPr>
          <p:cNvSpPr txBox="1"/>
          <p:nvPr/>
        </p:nvSpPr>
        <p:spPr>
          <a:xfrm>
            <a:off x="1110377" y="6320353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4"/>
              </a:rPr>
              <a:t>Link simulación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108145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64096"/>
          </a:xfrm>
        </p:spPr>
        <p:txBody>
          <a:bodyPr>
            <a:normAutofit/>
          </a:bodyPr>
          <a:lstStyle/>
          <a:p>
            <a:r>
              <a:rPr lang="es-CO" dirty="0"/>
              <a:t>Funciones en Python - Definición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35496" y="775732"/>
            <a:ext cx="889248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Sintaxis</a:t>
            </a:r>
            <a:r>
              <a:rPr lang="es-MX" sz="2000" dirty="0"/>
              <a:t>: Una función se define mediante la palabra clave </a:t>
            </a:r>
            <a:r>
              <a:rPr lang="es-MX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def</a:t>
            </a:r>
            <a:r>
              <a:rPr lang="es-MX" sz="2000" dirty="0"/>
              <a:t> seguido del nombre del nombre y los parámetros entre paréntesis: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Donde</a:t>
            </a:r>
            <a:r>
              <a:rPr lang="es-MX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b="1" dirty="0"/>
              <a:t>Nombre de la función</a:t>
            </a:r>
            <a:r>
              <a:rPr lang="es-MX" sz="2000" dirty="0"/>
              <a:t>: Identifica la función; con este se llama (invoca).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b="1" dirty="0"/>
              <a:t>Parámetros</a:t>
            </a:r>
            <a:r>
              <a:rPr lang="es-MX" sz="2000" dirty="0"/>
              <a:t>: Lista de entradas de la función (puede estar vacía).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b="1" dirty="0"/>
              <a:t>Cuerpo de la función</a:t>
            </a:r>
            <a:r>
              <a:rPr lang="es-MX" sz="2000" dirty="0"/>
              <a:t>: Conjunto de instrucciones que realizan la tarea (van indentadas).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dirty="0"/>
              <a:t>Importante</a:t>
            </a:r>
            <a:r>
              <a:rPr lang="es-MX" sz="2000" dirty="0"/>
              <a:t>: Definir una función no la ejecuta: solo se ejecuta cuando se la llama.</a:t>
            </a: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Diagrama de caja negra</a:t>
            </a:r>
            <a:r>
              <a:rPr lang="es-MX" sz="2000" dirty="0"/>
              <a:t>: Resume la interfaz de la función (entradas/salidas) sin entrar en los detalles internos.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12F26B2-715F-4699-9A5C-F8146CD83003}"/>
              </a:ext>
            </a:extLst>
          </p:cNvPr>
          <p:cNvSpPr txBox="1"/>
          <p:nvPr/>
        </p:nvSpPr>
        <p:spPr>
          <a:xfrm>
            <a:off x="637850" y="1620089"/>
            <a:ext cx="7966598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def</a:t>
            </a:r>
            <a:r>
              <a:rPr lang="es-CO" sz="1600" dirty="0">
                <a:latin typeface="Consolas" panose="020B0609020204030204" pitchFamily="49" charset="0"/>
              </a:rPr>
              <a:t> </a:t>
            </a:r>
            <a:r>
              <a:rPr lang="es-CO" sz="1600" b="1" dirty="0" err="1">
                <a:solidFill>
                  <a:schemeClr val="accent4"/>
                </a:solidFill>
                <a:latin typeface="Consolas" panose="020B0609020204030204" pitchFamily="49" charset="0"/>
              </a:rPr>
              <a:t>nombre_funcion</a:t>
            </a:r>
            <a:r>
              <a:rPr lang="es-CO" sz="1600" dirty="0">
                <a:latin typeface="Consolas" panose="020B0609020204030204" pitchFamily="49" charset="0"/>
              </a:rPr>
              <a:t>(param1, param2 ,... , paramN):</a:t>
            </a:r>
          </a:p>
          <a:p>
            <a:r>
              <a:rPr lang="es-CO" sz="1600" dirty="0">
                <a:latin typeface="Consolas" panose="020B0609020204030204" pitchFamily="49" charset="0"/>
              </a:rPr>
              <a:t>   cuerpo de la </a:t>
            </a:r>
            <a:r>
              <a:rPr lang="es-CO" sz="1600" dirty="0" err="1">
                <a:latin typeface="Consolas" panose="020B0609020204030204" pitchFamily="49" charset="0"/>
              </a:rPr>
              <a:t>funcion</a:t>
            </a:r>
            <a:r>
              <a:rPr lang="es-CO" sz="1600" dirty="0"/>
              <a:t>    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6A21C3D2-E1D7-4A23-8AAA-B6C6147D550F}"/>
              </a:ext>
            </a:extLst>
          </p:cNvPr>
          <p:cNvGrpSpPr/>
          <p:nvPr/>
        </p:nvGrpSpPr>
        <p:grpSpPr>
          <a:xfrm>
            <a:off x="2698566" y="4941168"/>
            <a:ext cx="4105682" cy="1728824"/>
            <a:chOff x="2266517" y="4833155"/>
            <a:chExt cx="4105682" cy="1728824"/>
          </a:xfrm>
        </p:grpSpPr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526A32AB-AAB4-40E6-82E9-48F798502151}"/>
                </a:ext>
              </a:extLst>
            </p:cNvPr>
            <p:cNvGrpSpPr/>
            <p:nvPr/>
          </p:nvGrpSpPr>
          <p:grpSpPr>
            <a:xfrm>
              <a:off x="2266517" y="4833155"/>
              <a:ext cx="4105682" cy="1728824"/>
              <a:chOff x="1259632" y="4422593"/>
              <a:chExt cx="4105682" cy="1728824"/>
            </a:xfrm>
          </p:grpSpPr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885A5536-1B4A-4234-9470-1BC461F4856B}"/>
                  </a:ext>
                </a:extLst>
              </p:cNvPr>
              <p:cNvSpPr/>
              <p:nvPr/>
            </p:nvSpPr>
            <p:spPr>
              <a:xfrm>
                <a:off x="1835695" y="4725142"/>
                <a:ext cx="3025564" cy="142627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>
                  <a:latin typeface="Consolas" panose="020B0609020204030204" pitchFamily="49" charset="0"/>
                </a:endParaRPr>
              </a:p>
            </p:txBody>
          </p:sp>
          <p:grpSp>
            <p:nvGrpSpPr>
              <p:cNvPr id="28" name="Grupo 27">
                <a:extLst>
                  <a:ext uri="{FF2B5EF4-FFF2-40B4-BE49-F238E27FC236}">
                    <a16:creationId xmlns:a16="http://schemas.microsoft.com/office/drawing/2014/main" id="{FBB823C4-005F-4AD6-8F85-452CBB2CAB22}"/>
                  </a:ext>
                </a:extLst>
              </p:cNvPr>
              <p:cNvGrpSpPr/>
              <p:nvPr/>
            </p:nvGrpSpPr>
            <p:grpSpPr>
              <a:xfrm>
                <a:off x="1907704" y="4849415"/>
                <a:ext cx="936104" cy="1171873"/>
                <a:chOff x="1907704" y="4849415"/>
                <a:chExt cx="936104" cy="1171873"/>
              </a:xfrm>
            </p:grpSpPr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5A0844C6-4D83-4F55-B714-F8A3F61FE922}"/>
                    </a:ext>
                  </a:extLst>
                </p:cNvPr>
                <p:cNvSpPr txBox="1"/>
                <p:nvPr/>
              </p:nvSpPr>
              <p:spPr>
                <a:xfrm>
                  <a:off x="1907704" y="4849415"/>
                  <a:ext cx="9361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CO" sz="1400" b="1" dirty="0">
                      <a:solidFill>
                        <a:schemeClr val="bg1"/>
                      </a:solidFill>
                      <a:latin typeface="Consolas" panose="020B0609020204030204" pitchFamily="49" charset="0"/>
                    </a:rPr>
                    <a:t>param1</a:t>
                  </a:r>
                </a:p>
              </p:txBody>
            </p:sp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7AA01238-0335-4645-A471-A5C08D15E324}"/>
                    </a:ext>
                  </a:extLst>
                </p:cNvPr>
                <p:cNvSpPr txBox="1"/>
                <p:nvPr/>
              </p:nvSpPr>
              <p:spPr>
                <a:xfrm>
                  <a:off x="1907704" y="5085184"/>
                  <a:ext cx="9361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CO" sz="1400" b="1" dirty="0">
                      <a:solidFill>
                        <a:schemeClr val="bg1"/>
                      </a:solidFill>
                      <a:latin typeface="Consolas" panose="020B0609020204030204" pitchFamily="49" charset="0"/>
                    </a:rPr>
                    <a:t>param2</a:t>
                  </a:r>
                </a:p>
              </p:txBody>
            </p:sp>
            <p:sp>
              <p:nvSpPr>
                <p:cNvPr id="22" name="CuadroTexto 21">
                  <a:extLst>
                    <a:ext uri="{FF2B5EF4-FFF2-40B4-BE49-F238E27FC236}">
                      <a16:creationId xmlns:a16="http://schemas.microsoft.com/office/drawing/2014/main" id="{A6A87880-39C9-4794-921F-E11A788E213C}"/>
                    </a:ext>
                  </a:extLst>
                </p:cNvPr>
                <p:cNvSpPr txBox="1"/>
                <p:nvPr/>
              </p:nvSpPr>
              <p:spPr>
                <a:xfrm>
                  <a:off x="1907704" y="5713511"/>
                  <a:ext cx="9361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CO" sz="1400" b="1" dirty="0">
                      <a:solidFill>
                        <a:schemeClr val="bg1"/>
                      </a:solidFill>
                      <a:latin typeface="Consolas" panose="020B0609020204030204" pitchFamily="49" charset="0"/>
                    </a:rPr>
                    <a:t>paramN</a:t>
                  </a:r>
                </a:p>
              </p:txBody>
            </p:sp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895A6DC3-8920-4D09-9ED6-DA7447DABE87}"/>
                    </a:ext>
                  </a:extLst>
                </p:cNvPr>
                <p:cNvSpPr txBox="1"/>
                <p:nvPr/>
              </p:nvSpPr>
              <p:spPr>
                <a:xfrm>
                  <a:off x="1907704" y="5373216"/>
                  <a:ext cx="9361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CO" sz="1400" b="1" dirty="0">
                      <a:solidFill>
                        <a:schemeClr val="bg1"/>
                      </a:solidFill>
                      <a:latin typeface="Consolas" panose="020B0609020204030204" pitchFamily="49" charset="0"/>
                    </a:rPr>
                    <a:t>...</a:t>
                  </a:r>
                </a:p>
              </p:txBody>
            </p:sp>
          </p:grpSp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80EFA2FB-EE62-47C2-8AEF-9133601A0C62}"/>
                  </a:ext>
                </a:extLst>
              </p:cNvPr>
              <p:cNvSpPr txBox="1"/>
              <p:nvPr/>
            </p:nvSpPr>
            <p:spPr>
              <a:xfrm>
                <a:off x="2448377" y="4422593"/>
                <a:ext cx="1800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600" b="1" dirty="0">
                    <a:latin typeface="Consolas" panose="020B0609020204030204" pitchFamily="49" charset="0"/>
                  </a:rPr>
                  <a:t>nombre_funcion</a:t>
                </a:r>
              </a:p>
            </p:txBody>
          </p:sp>
          <p:cxnSp>
            <p:nvCxnSpPr>
              <p:cNvPr id="17" name="Conector recto de flecha 16">
                <a:extLst>
                  <a:ext uri="{FF2B5EF4-FFF2-40B4-BE49-F238E27FC236}">
                    <a16:creationId xmlns:a16="http://schemas.microsoft.com/office/drawing/2014/main" id="{3D74031A-DB78-4D32-A9B8-343EF5A828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31640" y="5013176"/>
                <a:ext cx="50405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ector recto de flecha 30">
                <a:extLst>
                  <a:ext uri="{FF2B5EF4-FFF2-40B4-BE49-F238E27FC236}">
                    <a16:creationId xmlns:a16="http://schemas.microsoft.com/office/drawing/2014/main" id="{7ADB8EA4-F2FE-499A-BCC6-451CA89DA6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31640" y="5264918"/>
                <a:ext cx="50405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ector recto de flecha 31">
                <a:extLst>
                  <a:ext uri="{FF2B5EF4-FFF2-40B4-BE49-F238E27FC236}">
                    <a16:creationId xmlns:a16="http://schemas.microsoft.com/office/drawing/2014/main" id="{3ADF198B-5E8B-422F-AA9B-9B8EA00A38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31641" y="5890989"/>
                <a:ext cx="50405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ector recto de flecha 36">
                <a:extLst>
                  <a:ext uri="{FF2B5EF4-FFF2-40B4-BE49-F238E27FC236}">
                    <a16:creationId xmlns:a16="http://schemas.microsoft.com/office/drawing/2014/main" id="{A9DFC71D-6F70-475A-A3FB-2E484EBDA3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1259" y="5445224"/>
                <a:ext cx="50405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D42DFA53-C35C-4A46-ACD8-AB66BC3ABFCB}"/>
                  </a:ext>
                </a:extLst>
              </p:cNvPr>
              <p:cNvSpPr txBox="1"/>
              <p:nvPr/>
            </p:nvSpPr>
            <p:spPr>
              <a:xfrm>
                <a:off x="1259632" y="5373216"/>
                <a:ext cx="61780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400" b="1" dirty="0">
                    <a:latin typeface="Consolas" panose="020B0609020204030204" pitchFamily="49" charset="0"/>
                  </a:rPr>
                  <a:t>...</a:t>
                </a:r>
              </a:p>
            </p:txBody>
          </p:sp>
        </p:grp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A66DCD7B-9755-4A3C-902E-CC052D311690}"/>
                </a:ext>
              </a:extLst>
            </p:cNvPr>
            <p:cNvSpPr txBox="1"/>
            <p:nvPr/>
          </p:nvSpPr>
          <p:spPr>
            <a:xfrm>
              <a:off x="4115974" y="5699348"/>
              <a:ext cx="1800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Valor de retorno </a:t>
              </a:r>
              <a:r>
                <a:rPr lang="es-CO" sz="1400" b="1" dirty="0">
                  <a:solidFill>
                    <a:srgbClr val="FFFF00"/>
                  </a:solidFill>
                  <a:latin typeface="Consolas" panose="020B0609020204030204" pitchFamily="49" charset="0"/>
                </a:rPr>
                <a:t>(opcional)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2168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64096"/>
          </a:xfrm>
        </p:spPr>
        <p:txBody>
          <a:bodyPr>
            <a:normAutofit/>
          </a:bodyPr>
          <a:lstStyle/>
          <a:p>
            <a:r>
              <a:rPr lang="es-CO" dirty="0"/>
              <a:t>Funciones en Python - Invocación</a:t>
            </a:r>
            <a:endParaRPr lang="es-CO" dirty="0">
              <a:highlight>
                <a:srgbClr val="FFFF00"/>
              </a:highlight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35496" y="775732"/>
            <a:ext cx="889248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Invocar (llamar) una función</a:t>
            </a:r>
            <a:r>
              <a:rPr lang="es-MX" sz="2000" dirty="0"/>
              <a:t>: escribir su nombre con los argumentos entre paréntesis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Donde</a:t>
            </a:r>
            <a:r>
              <a:rPr lang="es-MX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b="1" dirty="0"/>
              <a:t>Argumentos</a:t>
            </a:r>
            <a:r>
              <a:rPr lang="es-MX" sz="2000" dirty="0"/>
              <a:t>: los valores que se envían, y se asocian a los parámetros </a:t>
            </a:r>
            <a:r>
              <a:rPr lang="es-MX" sz="2000" b="1" dirty="0"/>
              <a:t>por posición</a:t>
            </a:r>
            <a:r>
              <a:rPr lang="es-MX" sz="2000" dirty="0"/>
              <a:t>. Pueden ser números, variables o expresiones.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dirty="0"/>
              <a:t>Si la función </a:t>
            </a:r>
            <a:r>
              <a:rPr lang="es-MX" sz="2000" b="1" dirty="0"/>
              <a:t>devuelve</a:t>
            </a:r>
            <a:r>
              <a:rPr lang="es-MX" sz="2000" dirty="0"/>
              <a:t> un valor, se guarda en una variable o se usa directamente. Si no devuelve nada, se la llama sola.</a:t>
            </a: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Ejemplo</a:t>
            </a:r>
            <a:r>
              <a:rPr lang="es-MX" sz="2000" dirty="0"/>
              <a:t>: Empleando la función </a:t>
            </a:r>
            <a:r>
              <a:rPr lang="en-US" dirty="0">
                <a:latin typeface="Consolas" panose="020B0609020204030204" pitchFamily="49" charset="0"/>
              </a:rPr>
              <a:t>calcular_area_circulo()</a:t>
            </a:r>
            <a:r>
              <a:rPr lang="es-MX" sz="2000" dirty="0"/>
              <a:t>, calcular el área de un circulo de radio 5 y llevar el resultado a una variable llamada área.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12F26B2-715F-4699-9A5C-F8146CD83003}"/>
              </a:ext>
            </a:extLst>
          </p:cNvPr>
          <p:cNvSpPr txBox="1"/>
          <p:nvPr/>
        </p:nvSpPr>
        <p:spPr>
          <a:xfrm>
            <a:off x="637850" y="1620089"/>
            <a:ext cx="796659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[variable =]</a:t>
            </a:r>
            <a:r>
              <a:rPr lang="es-CO" sz="1600" dirty="0">
                <a:latin typeface="Consolas" panose="020B0609020204030204" pitchFamily="49" charset="0"/>
              </a:rPr>
              <a:t> </a:t>
            </a:r>
            <a:r>
              <a:rPr lang="es-CO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nombre_funcion</a:t>
            </a:r>
            <a:r>
              <a:rPr lang="es-CO" sz="1600" dirty="0">
                <a:latin typeface="Consolas" panose="020B0609020204030204" pitchFamily="49" charset="0"/>
              </a:rPr>
              <a:t>(arg1, arg2 ,... , argN) </a:t>
            </a:r>
            <a:endParaRPr lang="es-CO" sz="16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DDAC6FD-540D-49DD-9B15-FE5084778602}"/>
              </a:ext>
            </a:extLst>
          </p:cNvPr>
          <p:cNvSpPr txBox="1"/>
          <p:nvPr/>
        </p:nvSpPr>
        <p:spPr>
          <a:xfrm>
            <a:off x="624886" y="5222796"/>
            <a:ext cx="345638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area = calcular_area_circulo(5)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2D5A0BB-3086-4539-92CC-AFE253D13B40}"/>
              </a:ext>
            </a:extLst>
          </p:cNvPr>
          <p:cNvSpPr txBox="1"/>
          <p:nvPr/>
        </p:nvSpPr>
        <p:spPr>
          <a:xfrm>
            <a:off x="1475656" y="5543270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2"/>
              </a:rPr>
              <a:t>Link simulación</a:t>
            </a:r>
            <a:endParaRPr lang="es-CO" sz="1200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18263D85-BC1F-4D23-8F73-61C9AB7D0F2C}"/>
              </a:ext>
            </a:extLst>
          </p:cNvPr>
          <p:cNvGrpSpPr/>
          <p:nvPr/>
        </p:nvGrpSpPr>
        <p:grpSpPr>
          <a:xfrm>
            <a:off x="4562996" y="4741108"/>
            <a:ext cx="3897436" cy="1208172"/>
            <a:chOff x="4274964" y="4633825"/>
            <a:chExt cx="3897436" cy="1208172"/>
          </a:xfrm>
        </p:grpSpPr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FD243F80-AB08-42CD-BAD9-A97C583AB140}"/>
                </a:ext>
              </a:extLst>
            </p:cNvPr>
            <p:cNvGrpSpPr/>
            <p:nvPr/>
          </p:nvGrpSpPr>
          <p:grpSpPr>
            <a:xfrm>
              <a:off x="4621149" y="4633825"/>
              <a:ext cx="3551251" cy="1208172"/>
              <a:chOff x="5580112" y="2209800"/>
              <a:chExt cx="3551251" cy="1208172"/>
            </a:xfrm>
          </p:grpSpPr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B4CC6C65-9575-444E-87C7-09C4B7F3ECEF}"/>
                  </a:ext>
                </a:extLst>
              </p:cNvPr>
              <p:cNvGrpSpPr/>
              <p:nvPr/>
            </p:nvGrpSpPr>
            <p:grpSpPr>
              <a:xfrm>
                <a:off x="5652120" y="2209800"/>
                <a:ext cx="2664295" cy="1208172"/>
                <a:chOff x="1475656" y="4381067"/>
                <a:chExt cx="2664295" cy="1208172"/>
              </a:xfrm>
            </p:grpSpPr>
            <p:sp>
              <p:nvSpPr>
                <p:cNvPr id="36" name="Rectángulo 35">
                  <a:extLst>
                    <a:ext uri="{FF2B5EF4-FFF2-40B4-BE49-F238E27FC236}">
                      <a16:creationId xmlns:a16="http://schemas.microsoft.com/office/drawing/2014/main" id="{E9F27DFC-E675-443E-978C-94D671CEB4A8}"/>
                    </a:ext>
                  </a:extLst>
                </p:cNvPr>
                <p:cNvSpPr/>
                <p:nvPr/>
              </p:nvSpPr>
              <p:spPr>
                <a:xfrm>
                  <a:off x="1907704" y="4725143"/>
                  <a:ext cx="1872208" cy="86409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40" name="CuadroTexto 39">
                  <a:extLst>
                    <a:ext uri="{FF2B5EF4-FFF2-40B4-BE49-F238E27FC236}">
                      <a16:creationId xmlns:a16="http://schemas.microsoft.com/office/drawing/2014/main" id="{3949B2B6-F058-41EF-9A4F-FDA68CD9E51D}"/>
                    </a:ext>
                  </a:extLst>
                </p:cNvPr>
                <p:cNvSpPr txBox="1"/>
                <p:nvPr/>
              </p:nvSpPr>
              <p:spPr>
                <a:xfrm>
                  <a:off x="1475656" y="4381067"/>
                  <a:ext cx="266429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CO" sz="1600" b="1" dirty="0">
                      <a:latin typeface="Consolas" panose="020B0609020204030204" pitchFamily="49" charset="0"/>
                    </a:rPr>
                    <a:t>calcular_area_circulo</a:t>
                  </a:r>
                </a:p>
              </p:txBody>
            </p:sp>
          </p:grpSp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B41B8A90-1403-4B85-9628-8F46BC6D6388}"/>
                  </a:ext>
                </a:extLst>
              </p:cNvPr>
              <p:cNvSpPr txBox="1"/>
              <p:nvPr/>
            </p:nvSpPr>
            <p:spPr>
              <a:xfrm>
                <a:off x="6084168" y="2833191"/>
                <a:ext cx="936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1400" b="1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radio</a:t>
                </a:r>
              </a:p>
            </p:txBody>
          </p:sp>
          <p:cxnSp>
            <p:nvCxnSpPr>
              <p:cNvPr id="29" name="Conector recto de flecha 28">
                <a:extLst>
                  <a:ext uri="{FF2B5EF4-FFF2-40B4-BE49-F238E27FC236}">
                    <a16:creationId xmlns:a16="http://schemas.microsoft.com/office/drawing/2014/main" id="{4414AB27-5373-49ED-BBF2-12EDBE36EA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0112" y="2996952"/>
                <a:ext cx="50405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cto de flecha 33">
                <a:extLst>
                  <a:ext uri="{FF2B5EF4-FFF2-40B4-BE49-F238E27FC236}">
                    <a16:creationId xmlns:a16="http://schemas.microsoft.com/office/drawing/2014/main" id="{21A46C83-0EEC-4590-AF10-4BA8F1977E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56376" y="2996952"/>
                <a:ext cx="50405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DE3E412D-75A6-4C6C-B858-D9FADFB4E461}"/>
                  </a:ext>
                </a:extLst>
              </p:cNvPr>
              <p:cNvSpPr txBox="1"/>
              <p:nvPr/>
            </p:nvSpPr>
            <p:spPr>
              <a:xfrm>
                <a:off x="8409056" y="2833886"/>
                <a:ext cx="72230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1400" b="1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78.54</a:t>
                </a:r>
              </a:p>
            </p:txBody>
          </p:sp>
        </p:grp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A09235B9-3D35-4BD6-9EFE-42E67ED6DEB6}"/>
                </a:ext>
              </a:extLst>
            </p:cNvPr>
            <p:cNvSpPr txBox="1"/>
            <p:nvPr/>
          </p:nvSpPr>
          <p:spPr>
            <a:xfrm>
              <a:off x="4274964" y="5256909"/>
              <a:ext cx="4541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b="1" dirty="0">
                  <a:latin typeface="Consolas" panose="020B0609020204030204" pitchFamily="49" charset="0"/>
                </a:rPr>
                <a:t>5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A159285A-E84B-4F1C-AF15-3A271229A4DE}"/>
                </a:ext>
              </a:extLst>
            </p:cNvPr>
            <p:cNvSpPr txBox="1"/>
            <p:nvPr/>
          </p:nvSpPr>
          <p:spPr>
            <a:xfrm>
              <a:off x="6442745" y="5258603"/>
              <a:ext cx="6419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area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5767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64096"/>
          </a:xfrm>
        </p:spPr>
        <p:txBody>
          <a:bodyPr>
            <a:normAutofit/>
          </a:bodyPr>
          <a:lstStyle/>
          <a:p>
            <a:r>
              <a:rPr lang="es-CO" dirty="0"/>
              <a:t>Probar una función</a:t>
            </a:r>
            <a:endParaRPr lang="es-CO" dirty="0">
              <a:highlight>
                <a:srgbClr val="FFFF00"/>
              </a:highlight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35496" y="908720"/>
            <a:ext cx="889248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Prueba unitaria</a:t>
            </a:r>
            <a:r>
              <a:rPr lang="es-MX" sz="2000" dirty="0"/>
              <a:t>: verificar una función de forma aislada, con varios casos de uso.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Cada </a:t>
            </a:r>
            <a:r>
              <a:rPr lang="es-MX" sz="2000" b="1" dirty="0"/>
              <a:t>caso de prueba</a:t>
            </a:r>
            <a:r>
              <a:rPr lang="es-MX" sz="2000" dirty="0"/>
              <a:t> compara el resultado </a:t>
            </a:r>
            <a:r>
              <a:rPr lang="es-MX" sz="2000" b="1" dirty="0"/>
              <a:t>esperado</a:t>
            </a:r>
            <a:r>
              <a:rPr lang="es-MX" sz="2000" dirty="0"/>
              <a:t> con el </a:t>
            </a:r>
            <a:r>
              <a:rPr lang="es-MX" sz="2000" b="1" dirty="0"/>
              <a:t>obtenido</a:t>
            </a:r>
            <a:r>
              <a:rPr lang="es-MX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Integración</a:t>
            </a:r>
            <a:r>
              <a:rPr lang="es-MX" sz="2000" dirty="0"/>
              <a:t>: proceso de combinar las funciones ya desarrolladas en el programa completo (menú, lectura de datos y ciclo principal).</a:t>
            </a: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¿Por qué es importante probar antes de integrar?</a:t>
            </a:r>
            <a:r>
              <a:rPr lang="es-MX" sz="2000" dirty="0"/>
              <a:t>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s-MX" sz="2000" dirty="0"/>
              <a:t>Si una función falla de forma aislada, el error se encuentra en ella.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s-MX" sz="2000" dirty="0"/>
              <a:t>Si falla dentro del programa completo, el origen puede estar en la función, en la lectura de datos o en el menú, y localizarlo resulta más costoso.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s-MX" sz="2000" dirty="0"/>
              <a:t>Una función verificada puede reutilizarse con confianza.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99B6162-7446-4A75-B376-D8527CA0754C}"/>
              </a:ext>
            </a:extLst>
          </p:cNvPr>
          <p:cNvGraphicFramePr>
            <a:graphicFrameLocks noGrp="1"/>
          </p:cNvGraphicFramePr>
          <p:nvPr/>
        </p:nvGraphicFramePr>
        <p:xfrm>
          <a:off x="402362" y="4005064"/>
          <a:ext cx="8339275" cy="2011680"/>
        </p:xfrm>
        <a:graphic>
          <a:graphicData uri="http://schemas.openxmlformats.org/drawingml/2006/table">
            <a:tbl>
              <a:tblPr/>
              <a:tblGrid>
                <a:gridCol w="1512898">
                  <a:extLst>
                    <a:ext uri="{9D8B030D-6E8A-4147-A177-3AD203B41FA5}">
                      <a16:colId xmlns:a16="http://schemas.microsoft.com/office/drawing/2014/main" val="3339494124"/>
                    </a:ext>
                  </a:extLst>
                </a:gridCol>
                <a:gridCol w="1810900">
                  <a:extLst>
                    <a:ext uri="{9D8B030D-6E8A-4147-A177-3AD203B41FA5}">
                      <a16:colId xmlns:a16="http://schemas.microsoft.com/office/drawing/2014/main" val="906659216"/>
                    </a:ext>
                  </a:extLst>
                </a:gridCol>
                <a:gridCol w="5015477">
                  <a:extLst>
                    <a:ext uri="{9D8B030D-6E8A-4147-A177-3AD203B41FA5}">
                      <a16:colId xmlns:a16="http://schemas.microsoft.com/office/drawing/2014/main" val="324765120"/>
                    </a:ext>
                  </a:extLst>
                </a:gridCol>
              </a:tblGrid>
              <a:tr h="183419">
                <a:tc>
                  <a:txBody>
                    <a:bodyPr/>
                    <a:lstStyle/>
                    <a:p>
                      <a:r>
                        <a:rPr lang="es-CO" b="1" dirty="0">
                          <a:solidFill>
                            <a:schemeClr val="bg1"/>
                          </a:solidFill>
                        </a:rPr>
                        <a:t>Tipo de caso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>
                          <a:solidFill>
                            <a:schemeClr val="bg1"/>
                          </a:solidFill>
                        </a:rPr>
                        <a:t>Qué prueba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solidFill>
                            <a:schemeClr val="bg1"/>
                          </a:solidFill>
                        </a:rPr>
                        <a:t>Ejemplo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602877"/>
                  </a:ext>
                </a:extLst>
              </a:tr>
              <a:tr h="320983">
                <a:tc>
                  <a:txBody>
                    <a:bodyPr/>
                    <a:lstStyle/>
                    <a:p>
                      <a:r>
                        <a:rPr lang="es-CO" b="1"/>
                        <a:t>Típico</a:t>
                      </a:r>
                      <a:endParaRPr lang="es-CO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Uso habitual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 err="1">
                          <a:latin typeface="Consolas" panose="020B0609020204030204" pitchFamily="49" charset="0"/>
                        </a:rPr>
                        <a:t>calcular_area_rectangulo</a:t>
                      </a:r>
                      <a:r>
                        <a:rPr lang="es-CO" sz="1600" dirty="0">
                          <a:latin typeface="Consolas" panose="020B0609020204030204" pitchFamily="49" charset="0"/>
                        </a:rPr>
                        <a:t>(4, 3) → 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2979995"/>
                  </a:ext>
                </a:extLst>
              </a:tr>
              <a:tr h="320983">
                <a:tc>
                  <a:txBody>
                    <a:bodyPr/>
                    <a:lstStyle/>
                    <a:p>
                      <a:r>
                        <a:rPr lang="es-CO" b="1"/>
                        <a:t>Límite</a:t>
                      </a:r>
                      <a:endParaRPr lang="es-CO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Valores extremos del rango válido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 err="1">
                          <a:latin typeface="Consolas" panose="020B0609020204030204" pitchFamily="49" charset="0"/>
                        </a:rPr>
                        <a:t>calcular_area_rectangulo</a:t>
                      </a:r>
                      <a:r>
                        <a:rPr lang="es-CO" sz="1600" dirty="0">
                          <a:latin typeface="Consolas" panose="020B0609020204030204" pitchFamily="49" charset="0"/>
                        </a:rPr>
                        <a:t>(0, 5) →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7258389"/>
                  </a:ext>
                </a:extLst>
              </a:tr>
              <a:tr h="377370">
                <a:tc>
                  <a:txBody>
                    <a:bodyPr/>
                    <a:lstStyle/>
                    <a:p>
                      <a:r>
                        <a:rPr lang="es-CO" b="1" dirty="0"/>
                        <a:t>Especial</a:t>
                      </a:r>
                      <a:endParaRPr lang="es-CO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Valores atípicos o inválidos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 err="1">
                          <a:latin typeface="Consolas" panose="020B0609020204030204" pitchFamily="49" charset="0"/>
                        </a:rPr>
                        <a:t>calcular_area_rectangulo</a:t>
                      </a:r>
                      <a:r>
                        <a:rPr lang="es-MX" sz="1600" dirty="0">
                          <a:latin typeface="Consolas" panose="020B0609020204030204" pitchFamily="49" charset="0"/>
                        </a:rPr>
                        <a:t>(-4, 3) → -12</a:t>
                      </a:r>
                      <a:r>
                        <a:rPr lang="es-MX" dirty="0"/>
                        <a:t>, que la función no rechaza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8957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624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64096"/>
          </a:xfrm>
        </p:spPr>
        <p:txBody>
          <a:bodyPr>
            <a:normAutofit/>
          </a:bodyPr>
          <a:lstStyle/>
          <a:p>
            <a:r>
              <a:rPr lang="es-CO" dirty="0"/>
              <a:t>Pruebas con </a:t>
            </a:r>
            <a:r>
              <a:rPr lang="es-CO" sz="4000" dirty="0">
                <a:solidFill>
                  <a:schemeClr val="accent4"/>
                </a:solidFill>
                <a:latin typeface="Consolas" panose="020B0609020204030204" pitchFamily="49" charset="0"/>
              </a:rPr>
              <a:t>assert</a:t>
            </a:r>
            <a:endParaRPr lang="es-CO" dirty="0">
              <a:solidFill>
                <a:schemeClr val="accent4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35496" y="836712"/>
            <a:ext cx="889248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Sintaxis</a:t>
            </a:r>
            <a:r>
              <a:rPr lang="es-MX" sz="2000" dirty="0"/>
              <a:t>: Una verificación se escribe con la palabra clave </a:t>
            </a:r>
            <a:r>
              <a:rPr lang="es-MX" b="1" dirty="0">
                <a:solidFill>
                  <a:schemeClr val="accent4"/>
                </a:solidFill>
                <a:latin typeface="Consolas" panose="020B0609020204030204" pitchFamily="49" charset="0"/>
              </a:rPr>
              <a:t>assert</a:t>
            </a:r>
            <a:r>
              <a:rPr lang="es-MX" sz="2000" dirty="0"/>
              <a:t>, seguida de una condición y,  opcionalmente, un mensaje: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Donde</a:t>
            </a:r>
            <a:r>
              <a:rPr lang="es-MX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b="1" dirty="0"/>
              <a:t>Condición</a:t>
            </a:r>
            <a:r>
              <a:rPr lang="es-MX" sz="2000" dirty="0"/>
              <a:t>: expresión que debe ser verdadera, normalmente la comparación </a:t>
            </a:r>
            <a:r>
              <a:rPr lang="es-MX" b="1" dirty="0">
                <a:solidFill>
                  <a:srgbClr val="00B050"/>
                </a:solidFill>
                <a:latin typeface="Consolas" panose="020B0609020204030204" pitchFamily="49" charset="0"/>
              </a:rPr>
              <a:t>llamada == </a:t>
            </a:r>
            <a:r>
              <a:rPr lang="es-MX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resultado_esperado</a:t>
            </a:r>
            <a:r>
              <a:rPr lang="es-MX" sz="20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b="1" dirty="0"/>
              <a:t>Mensaje (opcional)</a:t>
            </a:r>
            <a:r>
              <a:rPr lang="es-MX" sz="2000" dirty="0"/>
              <a:t>: texto que se muestra si la condición es falsa.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Si la condición se cumple</a:t>
            </a:r>
            <a:r>
              <a:rPr lang="es-MX" sz="2000" dirty="0"/>
              <a:t>, el programa continúa sin mostrar nada.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Si no se cumple</a:t>
            </a:r>
            <a:r>
              <a:rPr lang="es-MX" sz="2000" dirty="0"/>
              <a:t>, Python lanza </a:t>
            </a:r>
            <a:r>
              <a:rPr lang="es-MX" b="1" dirty="0" err="1">
                <a:latin typeface="Consolas" panose="020B0609020204030204" pitchFamily="49" charset="0"/>
              </a:rPr>
              <a:t>AssertionError</a:t>
            </a:r>
            <a:r>
              <a:rPr lang="es-MX" sz="2000" dirty="0"/>
              <a:t> e indica la línea que falló o muestra el mensaje (en caso de que este se haya definido).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3E20402-0003-480B-BF9B-6B30BB7DB54E}"/>
              </a:ext>
            </a:extLst>
          </p:cNvPr>
          <p:cNvSpPr txBox="1"/>
          <p:nvPr/>
        </p:nvSpPr>
        <p:spPr>
          <a:xfrm>
            <a:off x="588701" y="1700808"/>
            <a:ext cx="796659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assert</a:t>
            </a:r>
            <a:r>
              <a:rPr lang="es-CO" sz="1600" dirty="0">
                <a:latin typeface="Consolas" panose="020B0609020204030204" pitchFamily="49" charset="0"/>
              </a:rPr>
              <a:t> </a:t>
            </a:r>
            <a:r>
              <a:rPr lang="es-CO" sz="1600" b="1" dirty="0">
                <a:solidFill>
                  <a:srgbClr val="00B050"/>
                </a:solidFill>
                <a:latin typeface="Consolas" panose="020B0609020204030204" pitchFamily="49" charset="0"/>
              </a:rPr>
              <a:t>condición </a:t>
            </a:r>
            <a:r>
              <a:rPr lang="es-CO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[, "Mensaje opcional"]</a:t>
            </a:r>
            <a:endParaRPr lang="es-CO" sz="1600" b="1" dirty="0">
              <a:solidFill>
                <a:srgbClr val="C0000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B923442-2F95-4D91-85F2-1BCEF4294321}"/>
              </a:ext>
            </a:extLst>
          </p:cNvPr>
          <p:cNvSpPr txBox="1"/>
          <p:nvPr/>
        </p:nvSpPr>
        <p:spPr>
          <a:xfrm>
            <a:off x="797898" y="4581128"/>
            <a:ext cx="7799723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# Sin mensaje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assert </a:t>
            </a:r>
            <a:r>
              <a:rPr lang="es-CO" sz="1200" dirty="0" err="1">
                <a:latin typeface="Consolas" panose="020B0609020204030204" pitchFamily="49" charset="0"/>
              </a:rPr>
              <a:t>calcular_area_rectangulo</a:t>
            </a:r>
            <a:r>
              <a:rPr lang="es-CO" sz="1200" dirty="0">
                <a:latin typeface="Consolas" panose="020B0609020204030204" pitchFamily="49" charset="0"/>
              </a:rPr>
              <a:t>(4, 3) == 12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>
                <a:latin typeface="Consolas" panose="020B0609020204030204" pitchFamily="49" charset="0"/>
              </a:rPr>
              <a:t># Con mensaje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assert </a:t>
            </a:r>
            <a:r>
              <a:rPr lang="es-CO" sz="1200" dirty="0" err="1">
                <a:latin typeface="Consolas" panose="020B0609020204030204" pitchFamily="49" charset="0"/>
              </a:rPr>
              <a:t>calcular_area_rectangulo</a:t>
            </a:r>
            <a:r>
              <a:rPr lang="es-CO" sz="1200" dirty="0">
                <a:latin typeface="Consolas" panose="020B0609020204030204" pitchFamily="49" charset="0"/>
              </a:rPr>
              <a:t>(4, 3) == 12, "El área de 4 x 3 debe ser 12"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504B595-B2EE-4CC2-8807-AD51AFE47AF0}"/>
              </a:ext>
            </a:extLst>
          </p:cNvPr>
          <p:cNvSpPr txBox="1"/>
          <p:nvPr/>
        </p:nvSpPr>
        <p:spPr>
          <a:xfrm>
            <a:off x="3649493" y="5589240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2"/>
              </a:rPr>
              <a:t>Link simulación</a:t>
            </a:r>
            <a:endParaRPr lang="es-CO" sz="1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CED2DA4-4450-4E35-83D5-227E5ADBD70A}"/>
              </a:ext>
            </a:extLst>
          </p:cNvPr>
          <p:cNvSpPr txBox="1"/>
          <p:nvPr/>
        </p:nvSpPr>
        <p:spPr>
          <a:xfrm>
            <a:off x="827584" y="6237312"/>
            <a:ext cx="779972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s-CO" sz="1200" dirty="0">
              <a:latin typeface="Consolas" panose="020B0609020204030204" pitchFamily="49" charset="0"/>
            </a:endParaRPr>
          </a:p>
          <a:p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A5A6189-AD64-4BF6-97E5-0EAA0ADC6C7D}"/>
              </a:ext>
            </a:extLst>
          </p:cNvPr>
          <p:cNvSpPr txBox="1"/>
          <p:nvPr/>
        </p:nvSpPr>
        <p:spPr>
          <a:xfrm>
            <a:off x="771010" y="5960313"/>
            <a:ext cx="3656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b="1" dirty="0"/>
              <a:t>Salida en pantalla </a:t>
            </a:r>
            <a:r>
              <a:rPr lang="es-CO" sz="1400" dirty="0"/>
              <a:t>(Vacía – Todo salió bien)</a:t>
            </a:r>
          </a:p>
        </p:txBody>
      </p:sp>
    </p:spTree>
    <p:extLst>
      <p:ext uri="{BB962C8B-B14F-4D97-AF65-F5344CB8AC3E}">
        <p14:creationId xmlns:p14="http://schemas.microsoft.com/office/powerpoint/2010/main" val="453345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720452"/>
          </a:xfrm>
        </p:spPr>
        <p:txBody>
          <a:bodyPr>
            <a:noAutofit/>
          </a:bodyPr>
          <a:lstStyle/>
          <a:p>
            <a:r>
              <a:rPr lang="es-MX" sz="3600" dirty="0"/>
              <a:t>Comparación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14908" y="734497"/>
            <a:ext cx="88775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A continuación, se muestra la comparación entre trabajar un programa </a:t>
            </a:r>
            <a:r>
              <a:rPr lang="es-MX" sz="2000" b="1" dirty="0"/>
              <a:t>sin módulos</a:t>
            </a:r>
            <a:r>
              <a:rPr lang="es-MX" sz="2000" dirty="0"/>
              <a:t> y </a:t>
            </a:r>
            <a:r>
              <a:rPr lang="es-MX" sz="2000" b="1" dirty="0"/>
              <a:t>con módulos</a:t>
            </a:r>
            <a:r>
              <a:rPr lang="es-MX" sz="2000" dirty="0"/>
              <a:t>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4E7742F-9933-410E-8568-CF4892FF2EC3}"/>
              </a:ext>
            </a:extLst>
          </p:cNvPr>
          <p:cNvSpPr txBox="1"/>
          <p:nvPr/>
        </p:nvSpPr>
        <p:spPr>
          <a:xfrm>
            <a:off x="817032" y="5014674"/>
            <a:ext cx="373171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temp_c = float(input("Ingrese los °C: "))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temp_f = (9 / 5) * temp_c + 32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print(f"{temp_c} °C = {temp_f} °F")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9D3A9E5-10B9-435A-B47C-FF33E09D3BF0}"/>
              </a:ext>
            </a:extLst>
          </p:cNvPr>
          <p:cNvSpPr txBox="1"/>
          <p:nvPr/>
        </p:nvSpPr>
        <p:spPr>
          <a:xfrm>
            <a:off x="5004047" y="4843026"/>
            <a:ext cx="3973141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def celsius_a_fahrenheit(c):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f = (9 / 5) * c + 32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return</a:t>
            </a:r>
            <a:r>
              <a:rPr lang="es-CO" sz="1200" dirty="0">
                <a:latin typeface="Consolas" panose="020B0609020204030204" pitchFamily="49" charset="0"/>
              </a:rPr>
              <a:t> f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>
                <a:latin typeface="Consolas" panose="020B0609020204030204" pitchFamily="49" charset="0"/>
              </a:rPr>
              <a:t>temp_c = float(input("Ingrese los °C: "))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temp_f = celsius_a_fahrenheit(temp_c)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>
                <a:latin typeface="Consolas" panose="020B0609020204030204" pitchFamily="49" charset="0"/>
              </a:rPr>
              <a:t>print(f"{temp_c} °C = {temp_f} °F")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1F74F2E-D109-4A9F-BDC1-7BF69D50A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7801" y="1657190"/>
            <a:ext cx="1130177" cy="296289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931D628-38BC-47DA-B491-68B66A45CB27}"/>
              </a:ext>
            </a:extLst>
          </p:cNvPr>
          <p:cNvSpPr txBox="1"/>
          <p:nvPr/>
        </p:nvSpPr>
        <p:spPr>
          <a:xfrm>
            <a:off x="6158373" y="6581001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3"/>
              </a:rPr>
              <a:t>Link simulación</a:t>
            </a:r>
            <a:endParaRPr lang="es-CO" sz="1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2F01911-5379-4765-924D-EAFBD9E37780}"/>
              </a:ext>
            </a:extLst>
          </p:cNvPr>
          <p:cNvSpPr txBox="1"/>
          <p:nvPr/>
        </p:nvSpPr>
        <p:spPr>
          <a:xfrm>
            <a:off x="1850647" y="5720189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4"/>
              </a:rPr>
              <a:t>Link simulación</a:t>
            </a:r>
            <a:endParaRPr lang="es-CO" sz="1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32A3AC6-B5F8-419D-9A24-50D2863E17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875" y="1550248"/>
            <a:ext cx="1765483" cy="32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98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5314" y="135162"/>
            <a:ext cx="8714761" cy="710952"/>
          </a:xfrm>
        </p:spPr>
        <p:txBody>
          <a:bodyPr>
            <a:normAutofit/>
          </a:bodyPr>
          <a:lstStyle/>
          <a:p>
            <a:r>
              <a:rPr lang="es-CO" dirty="0"/>
              <a:t>Ejemplo – Conversión de temperatura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12 Rectángulo"/>
              <p:cNvSpPr/>
              <p:nvPr/>
            </p:nvSpPr>
            <p:spPr>
              <a:xfrm>
                <a:off x="145314" y="846114"/>
                <a:ext cx="8747165" cy="56323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rtl="0"/>
                <a:r>
                  <a:rPr lang="es-MX" sz="2000" dirty="0"/>
                  <a:t>Una estación meteorológica necesita un programa que convierta temperaturas medidas en grados Celsius (°C) a otras dos escalas: grados Fahrenheit (°F) y Kelvin (K). Al iniciar, el programa muestra un título y luego un menú con tres opciones:</a:t>
                </a:r>
              </a:p>
              <a:p>
                <a:pPr rtl="0"/>
                <a:endParaRPr lang="es-MX" sz="2000" dirty="0"/>
              </a:p>
              <a:p>
                <a:pPr rtl="0"/>
                <a:endParaRPr lang="es-MX" sz="2000" dirty="0"/>
              </a:p>
              <a:p>
                <a:pPr rtl="0"/>
                <a:endParaRPr lang="es-MX" sz="2000" dirty="0"/>
              </a:p>
              <a:p>
                <a:pPr rtl="0"/>
                <a:endParaRPr lang="es-MX" sz="2000" dirty="0"/>
              </a:p>
              <a:p>
                <a:pPr rtl="0"/>
                <a:r>
                  <a:rPr lang="es-MX" sz="2000" dirty="0"/>
                  <a:t>El usuario elige una opción y el programa hace lo siguiente:</a:t>
                </a:r>
              </a:p>
              <a:p>
                <a:pPr marL="342900" indent="-342900" rtl="0">
                  <a:buFont typeface="Arial" panose="020B0604020202020204" pitchFamily="34" charset="0"/>
                  <a:buChar char="•"/>
                </a:pPr>
                <a:r>
                  <a:rPr lang="es-MX" sz="2000" b="1" dirty="0"/>
                  <a:t>Opción 1</a:t>
                </a:r>
                <a:r>
                  <a:rPr lang="es-MX" sz="2000" dirty="0"/>
                  <a:t>: lee una temperatura en °C, la convierte a °F con la fórmula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 =(</m:t>
                    </m:r>
                    <m:f>
                      <m:fPr>
                        <m:type m:val="lin"/>
                        <m:ctrlPr>
                          <a:rPr lang="es-MX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000" b="0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s-MX" sz="20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s-MX" sz="2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 + 32</m:t>
                    </m:r>
                  </m:oMath>
                </a14:m>
                <a:r>
                  <a:rPr lang="es-MX" sz="2000" dirty="0"/>
                  <a:t> y muestra el resultado con dos decimales.</a:t>
                </a:r>
              </a:p>
              <a:p>
                <a:pPr marL="342900" indent="-342900" rtl="0">
                  <a:buFont typeface="Arial" panose="020B0604020202020204" pitchFamily="34" charset="0"/>
                  <a:buChar char="•"/>
                </a:pPr>
                <a:r>
                  <a:rPr lang="es-MX" sz="2000" b="1" dirty="0"/>
                  <a:t>Opción 2</a:t>
                </a:r>
                <a:r>
                  <a:rPr lang="es-MX" sz="2000" dirty="0"/>
                  <a:t>: lee una temperatura en °C, la convierte a Kelvin con la fórmula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 + 273.15</m:t>
                    </m:r>
                  </m:oMath>
                </a14:m>
                <a:r>
                  <a:rPr lang="es-MX" sz="2000" dirty="0"/>
                  <a:t> y muestra el resultado con dos decimales.</a:t>
                </a:r>
              </a:p>
              <a:p>
                <a:pPr marL="342900" indent="-342900" rtl="0">
                  <a:buFont typeface="Arial" panose="020B0604020202020204" pitchFamily="34" charset="0"/>
                  <a:buChar char="•"/>
                </a:pPr>
                <a:r>
                  <a:rPr lang="es-MX" sz="2000" b="1" dirty="0"/>
                  <a:t>Opción 3</a:t>
                </a:r>
                <a:r>
                  <a:rPr lang="es-MX" sz="2000" dirty="0"/>
                  <a:t>: muestra un mensaje de despedida y termina el programa. Cualquier otro número: muestra el mensaje </a:t>
                </a:r>
                <a:r>
                  <a:rPr lang="es-MX" dirty="0">
                    <a:latin typeface="Consolas" panose="020B0609020204030204" pitchFamily="49" charset="0"/>
                  </a:rPr>
                  <a:t>ERROR: Opcion no valida</a:t>
                </a:r>
                <a:r>
                  <a:rPr lang="es-MX" sz="2000" dirty="0"/>
                  <a:t> y vuelve a mostrar el menú.</a:t>
                </a:r>
              </a:p>
              <a:p>
                <a:pPr marL="342900" indent="-342900" rtl="0">
                  <a:buFont typeface="Arial" panose="020B0604020202020204" pitchFamily="34" charset="0"/>
                  <a:buChar char="•"/>
                </a:pPr>
                <a:endParaRPr lang="es-MX" sz="2000" dirty="0"/>
              </a:p>
              <a:p>
                <a:pPr rtl="0"/>
                <a:r>
                  <a:rPr lang="es-MX" sz="2000" dirty="0"/>
                  <a:t>Después de cada conversión, o de un error, el menú se muestra otra vez. El programa se repite hasta que el usuario elige la opción 3.</a:t>
                </a:r>
              </a:p>
            </p:txBody>
          </p:sp>
        </mc:Choice>
        <mc:Fallback xmlns="">
          <p:sp>
            <p:nvSpPr>
              <p:cNvPr id="13" name="12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314" y="846114"/>
                <a:ext cx="8747165" cy="5632311"/>
              </a:xfrm>
              <a:prstGeom prst="rect">
                <a:avLst/>
              </a:prstGeom>
              <a:blipFill>
                <a:blip r:embed="rId2"/>
                <a:stretch>
                  <a:fillRect l="-767" t="-649" b="-97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3C6B00E3-613F-4772-987F-9857F1E31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631759"/>
              </p:ext>
            </p:extLst>
          </p:nvPr>
        </p:nvGraphicFramePr>
        <p:xfrm>
          <a:off x="251520" y="1988840"/>
          <a:ext cx="828091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80919">
                  <a:extLst>
                    <a:ext uri="{9D8B030D-6E8A-4147-A177-3AD203B41FA5}">
                      <a16:colId xmlns:a16="http://schemas.microsoft.com/office/drawing/2014/main" val="401745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s-MX" sz="1800" dirty="0">
                          <a:latin typeface="Consolas" panose="020B0609020204030204" pitchFamily="49" charset="0"/>
                        </a:rPr>
                        <a:t>1. °C a °F</a:t>
                      </a:r>
                    </a:p>
                    <a:p>
                      <a:pPr rtl="0"/>
                      <a:r>
                        <a:rPr lang="es-MX" sz="1800" dirty="0">
                          <a:latin typeface="Consolas" panose="020B0609020204030204" pitchFamily="49" charset="0"/>
                        </a:rPr>
                        <a:t>2. °C a K</a:t>
                      </a:r>
                    </a:p>
                    <a:p>
                      <a:pPr rtl="0"/>
                      <a:r>
                        <a:rPr lang="es-MX" sz="1800" dirty="0">
                          <a:latin typeface="Consolas" panose="020B0609020204030204" pitchFamily="49" charset="0"/>
                        </a:rPr>
                        <a:t>3. Salir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098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2174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5314" y="135162"/>
            <a:ext cx="8714761" cy="710952"/>
          </a:xfrm>
        </p:spPr>
        <p:txBody>
          <a:bodyPr>
            <a:normAutofit/>
          </a:bodyPr>
          <a:lstStyle/>
          <a:p>
            <a:r>
              <a:rPr lang="es-CO" dirty="0"/>
              <a:t>Ejemplo – Conversión de temperatura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45314" y="881382"/>
            <a:ext cx="8747165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Requisito:</a:t>
            </a:r>
            <a:r>
              <a:rPr lang="es-MX" sz="2000" dirty="0"/>
              <a:t> el programa debe estar organizado con funciones: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Una función que muestre el menú.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Una función por cada conversión, que reciba la temperatura en °C como parámetro y </a:t>
            </a:r>
            <a:r>
              <a:rPr lang="es-MX" sz="2000" b="1" dirty="0"/>
              <a:t>devuelva</a:t>
            </a:r>
            <a:r>
              <a:rPr lang="es-MX" sz="2000" dirty="0"/>
              <a:t> el valor convertido. Las funciones de conversión no leen ni imprimen nada: eso lo hace el programa principal.</a:t>
            </a:r>
          </a:p>
          <a:p>
            <a:pPr rtl="0"/>
            <a:endParaRPr lang="es-MX" sz="2000" dirty="0"/>
          </a:p>
          <a:p>
            <a:pPr rtl="0"/>
            <a:r>
              <a:rPr lang="es-MX" sz="2000" dirty="0"/>
              <a:t>Pruebe cada función de conversión por separado antes de integrarla al programa principal.</a:t>
            </a:r>
          </a:p>
          <a:p>
            <a:pPr rtl="0"/>
            <a:endParaRPr lang="es-MX" sz="2000" dirty="0"/>
          </a:p>
          <a:p>
            <a:pPr rtl="0"/>
            <a:r>
              <a:rPr lang="es-MX" sz="2000" b="1" dirty="0"/>
              <a:t>Solución</a:t>
            </a:r>
            <a:r>
              <a:rPr lang="es-MX" sz="2000" dirty="0"/>
              <a:t>: La implementación inicial buscaba aterrizar las bases de la programación modular (usando funciones). Sin embargo, aunque la solución propuesta cumplía con este requerimiento, no empleo buenas </a:t>
            </a:r>
            <a:r>
              <a:rPr lang="es-MX" sz="2000" dirty="0" err="1"/>
              <a:t>practivas</a:t>
            </a:r>
            <a:r>
              <a:rPr lang="es-MX" sz="2000" dirty="0"/>
              <a:t>, por lo que tomando como punto de partida la versión inicial (temperaturas_v1.py) vamos a ir mejorando el codigo inicial conforme iremos aplicando buenas practicas.</a:t>
            </a:r>
          </a:p>
        </p:txBody>
      </p:sp>
    </p:spTree>
    <p:extLst>
      <p:ext uri="{BB962C8B-B14F-4D97-AF65-F5344CB8AC3E}">
        <p14:creationId xmlns:p14="http://schemas.microsoft.com/office/powerpoint/2010/main" val="3448845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5314" y="135162"/>
            <a:ext cx="8714761" cy="710952"/>
          </a:xfrm>
        </p:spPr>
        <p:txBody>
          <a:bodyPr>
            <a:normAutofit/>
          </a:bodyPr>
          <a:lstStyle/>
          <a:p>
            <a:r>
              <a:rPr lang="es-CO" dirty="0"/>
              <a:t>Ejemplo – Conversión de temperatura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251520" y="980728"/>
            <a:ext cx="8608556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200" b="1" dirty="0"/>
              <a:t>Análisis y diseño de la solución</a:t>
            </a:r>
          </a:p>
          <a:p>
            <a:pPr rtl="0"/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Entradas:</a:t>
            </a:r>
            <a:r>
              <a:rPr lang="es-MX" sz="2000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000" dirty="0"/>
              <a:t>La opción del menú (entero)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000" dirty="0"/>
              <a:t>La temperatura en °C (real).</a:t>
            </a:r>
          </a:p>
          <a:p>
            <a:pPr rtl="0"/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Salidas</a:t>
            </a:r>
            <a:r>
              <a:rPr lang="es-MX" sz="20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000" dirty="0"/>
              <a:t>La temperatura convertida con dos decimales.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000" dirty="0"/>
              <a:t>Mensaje de error o de despedida.</a:t>
            </a:r>
          </a:p>
        </p:txBody>
      </p:sp>
    </p:spTree>
    <p:extLst>
      <p:ext uri="{BB962C8B-B14F-4D97-AF65-F5344CB8AC3E}">
        <p14:creationId xmlns:p14="http://schemas.microsoft.com/office/powerpoint/2010/main" val="1545986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5314" y="135162"/>
            <a:ext cx="8714761" cy="710952"/>
          </a:xfrm>
        </p:spPr>
        <p:txBody>
          <a:bodyPr>
            <a:normAutofit/>
          </a:bodyPr>
          <a:lstStyle/>
          <a:p>
            <a:r>
              <a:rPr lang="es-CO" dirty="0"/>
              <a:t>Ejemplo – Conversión de temperatura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251520" y="980728"/>
            <a:ext cx="8608556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200" b="1" dirty="0"/>
              <a:t>Análisis y diseño de la solución</a:t>
            </a:r>
          </a:p>
          <a:p>
            <a:pPr rtl="0"/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Casos de prueba:</a:t>
            </a:r>
            <a:r>
              <a:rPr lang="es-MX" sz="2000" dirty="0"/>
              <a:t> 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ECD361F-6C47-4684-AB90-E6D161B7B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713375"/>
              </p:ext>
            </p:extLst>
          </p:nvPr>
        </p:nvGraphicFramePr>
        <p:xfrm>
          <a:off x="539553" y="2178378"/>
          <a:ext cx="8208911" cy="4274958"/>
        </p:xfrm>
        <a:graphic>
          <a:graphicData uri="http://schemas.openxmlformats.org/drawingml/2006/table">
            <a:tbl>
              <a:tblPr/>
              <a:tblGrid>
                <a:gridCol w="1131547">
                  <a:extLst>
                    <a:ext uri="{9D8B030D-6E8A-4147-A177-3AD203B41FA5}">
                      <a16:colId xmlns:a16="http://schemas.microsoft.com/office/drawing/2014/main" val="752920898"/>
                    </a:ext>
                  </a:extLst>
                </a:gridCol>
                <a:gridCol w="1434202">
                  <a:extLst>
                    <a:ext uri="{9D8B030D-6E8A-4147-A177-3AD203B41FA5}">
                      <a16:colId xmlns:a16="http://schemas.microsoft.com/office/drawing/2014/main" val="4144810760"/>
                    </a:ext>
                  </a:extLst>
                </a:gridCol>
                <a:gridCol w="2906859">
                  <a:extLst>
                    <a:ext uri="{9D8B030D-6E8A-4147-A177-3AD203B41FA5}">
                      <a16:colId xmlns:a16="http://schemas.microsoft.com/office/drawing/2014/main" val="1786480966"/>
                    </a:ext>
                  </a:extLst>
                </a:gridCol>
                <a:gridCol w="2736303">
                  <a:extLst>
                    <a:ext uri="{9D8B030D-6E8A-4147-A177-3AD203B41FA5}">
                      <a16:colId xmlns:a16="http://schemas.microsoft.com/office/drawing/2014/main" val="4183927125"/>
                    </a:ext>
                  </a:extLst>
                </a:gridCol>
              </a:tblGrid>
              <a:tr h="241876">
                <a:tc>
                  <a:txBody>
                    <a:bodyPr/>
                    <a:lstStyle/>
                    <a:p>
                      <a:r>
                        <a:rPr lang="es-CO" sz="1800" b="1"/>
                        <a:t>Opción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/>
                        <a:t>Entrada (°C)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/>
                        <a:t>Salida esperada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 dirty="0"/>
                        <a:t>Tipo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693767"/>
                  </a:ext>
                </a:extLst>
              </a:tr>
              <a:tr h="365542"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100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100.0°C = 212.00°F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Típico (punto de ebullición)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2787707"/>
                  </a:ext>
                </a:extLst>
              </a:tr>
              <a:tr h="365542"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0.0°C = 32.00°F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Típico (punto de congelación)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9106998"/>
                  </a:ext>
                </a:extLst>
              </a:tr>
              <a:tr h="522203"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37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37.0°C = 98.60°F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Típico (temperatura corporal)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797541"/>
                  </a:ext>
                </a:extLst>
              </a:tr>
              <a:tr h="365542"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-40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-40.0°C = -40.00°F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Especial (las dos escalas coinciden)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6648207"/>
                  </a:ext>
                </a:extLst>
              </a:tr>
              <a:tr h="241876"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25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25.0°C = 298.15K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dirty="0"/>
                        <a:t>Típico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6099226"/>
                  </a:ext>
                </a:extLst>
              </a:tr>
              <a:tr h="365542"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-273.15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-273.15°C = 0.00K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Límite (cero absoluto)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7496956"/>
                  </a:ext>
                </a:extLst>
              </a:tr>
              <a:tr h="365542"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—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ERROR: Opcion no valida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Especial (opción inexistente)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8190633"/>
                  </a:ext>
                </a:extLst>
              </a:tr>
              <a:tr h="365542"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—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Gracias por usarnos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dirty="0"/>
                        <a:t>Salida del programa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8060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5955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4 Título">
            <a:extLst>
              <a:ext uri="{FF2B5EF4-FFF2-40B4-BE49-F238E27FC236}">
                <a16:creationId xmlns:a16="http://schemas.microsoft.com/office/drawing/2014/main" id="{AE7AE4FE-857D-48EA-8C2E-EFF7E2B785AF}"/>
              </a:ext>
            </a:extLst>
          </p:cNvPr>
          <p:cNvSpPr txBox="1">
            <a:spLocks/>
          </p:cNvSpPr>
          <p:nvPr/>
        </p:nvSpPr>
        <p:spPr>
          <a:xfrm>
            <a:off x="107504" y="179147"/>
            <a:ext cx="8856984" cy="801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dirty="0"/>
              <a:t>Diagrama de flujo del programa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4AE8188-2615-4C27-A068-F785CAEA7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5" y="888436"/>
            <a:ext cx="8604448" cy="4916828"/>
          </a:xfrm>
          <a:prstGeom prst="rect">
            <a:avLst/>
          </a:prstGeom>
        </p:spPr>
      </p:pic>
      <p:sp>
        <p:nvSpPr>
          <p:cNvPr id="5" name="12 Rectángulo">
            <a:extLst>
              <a:ext uri="{FF2B5EF4-FFF2-40B4-BE49-F238E27FC236}">
                <a16:creationId xmlns:a16="http://schemas.microsoft.com/office/drawing/2014/main" id="{36610F92-B138-43F0-89D0-076E1F22F6E7}"/>
              </a:ext>
            </a:extLst>
          </p:cNvPr>
          <p:cNvSpPr/>
          <p:nvPr/>
        </p:nvSpPr>
        <p:spPr>
          <a:xfrm>
            <a:off x="169525" y="5681532"/>
            <a:ext cx="88924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dirty="0"/>
              <a:t>La implementación en Python del algoritmo anterior, constituye la primera mejora respecto a la versión inicial (temperaturas_v1.py). El codigo mejorado y asociado a este diagrama de flujo, se encuentra en el script (temperaturas_v2.py)</a:t>
            </a:r>
          </a:p>
        </p:txBody>
      </p:sp>
    </p:spTree>
    <p:extLst>
      <p:ext uri="{BB962C8B-B14F-4D97-AF65-F5344CB8AC3E}">
        <p14:creationId xmlns:p14="http://schemas.microsoft.com/office/powerpoint/2010/main" val="844628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720452"/>
          </a:xfrm>
        </p:spPr>
        <p:txBody>
          <a:bodyPr>
            <a:noAutofit/>
          </a:bodyPr>
          <a:lstStyle/>
          <a:p>
            <a:r>
              <a:rPr lang="es-MX" sz="3600" dirty="0"/>
              <a:t>Buenas prácticas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125760" y="821025"/>
            <a:ext cx="889248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Antes y después</a:t>
            </a:r>
            <a:r>
              <a:rPr lang="es-MX" sz="2000" dirty="0"/>
              <a:t>: el mismo programa, mejor escrito.</a:t>
            </a:r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r>
              <a:rPr lang="es-MX" sz="2000" b="1" dirty="0"/>
              <a:t>Reglas</a:t>
            </a:r>
            <a:r>
              <a:rPr lang="es-MX" sz="2000" dirty="0"/>
              <a:t>:</a:t>
            </a:r>
          </a:p>
          <a:p>
            <a:pPr marL="457200" indent="-457200" rtl="0">
              <a:buFont typeface="+mj-lt"/>
              <a:buAutoNum type="arabicPeriod"/>
            </a:pPr>
            <a:r>
              <a:rPr lang="es-MX" sz="2000" b="1" dirty="0"/>
              <a:t>El nombre de una función empieza con un verbo y dice qué hace</a:t>
            </a:r>
            <a:r>
              <a:rPr lang="es-MX" sz="2000" dirty="0"/>
              <a:t>: </a:t>
            </a:r>
            <a:r>
              <a:rPr lang="es-MX" b="1" dirty="0" err="1">
                <a:latin typeface="Consolas" panose="020B0609020204030204" pitchFamily="49" charset="0"/>
              </a:rPr>
              <a:t>mostrar_menu</a:t>
            </a:r>
            <a:r>
              <a:rPr lang="es-MX" sz="2000" dirty="0"/>
              <a:t>, no </a:t>
            </a:r>
            <a:r>
              <a:rPr lang="es-MX" b="1" dirty="0" err="1">
                <a:latin typeface="Consolas" panose="020B0609020204030204" pitchFamily="49" charset="0"/>
              </a:rPr>
              <a:t>menu</a:t>
            </a:r>
            <a:r>
              <a:rPr lang="es-MX" sz="2000" dirty="0"/>
              <a:t>.</a:t>
            </a:r>
          </a:p>
          <a:p>
            <a:pPr marL="457200" indent="-457200" rtl="0">
              <a:buFont typeface="+mj-lt"/>
              <a:buAutoNum type="arabicPeriod"/>
            </a:pPr>
            <a:r>
              <a:rPr lang="es-MX" sz="2000" b="1" dirty="0"/>
              <a:t>Se usan nombres completos, no abreviaturas crípticas</a:t>
            </a:r>
            <a:r>
              <a:rPr lang="es-MX" sz="2000" dirty="0"/>
              <a:t>: </a:t>
            </a:r>
            <a:r>
              <a:rPr lang="es-MX" b="1" dirty="0" err="1">
                <a:latin typeface="Consolas" panose="020B0609020204030204" pitchFamily="49" charset="0"/>
              </a:rPr>
              <a:t>celsius_a_fahrenheit</a:t>
            </a:r>
            <a:r>
              <a:rPr lang="es-MX" sz="2000" dirty="0"/>
              <a:t>, no </a:t>
            </a:r>
            <a:r>
              <a:rPr lang="es-MX" b="1" dirty="0" err="1">
                <a:latin typeface="Consolas" panose="020B0609020204030204" pitchFamily="49" charset="0"/>
              </a:rPr>
              <a:t>c_to_f</a:t>
            </a:r>
            <a:r>
              <a:rPr lang="es-MX" sz="2000" dirty="0"/>
              <a:t>.</a:t>
            </a:r>
          </a:p>
          <a:p>
            <a:pPr marL="457200" indent="-457200" rtl="0">
              <a:buFont typeface="+mj-lt"/>
              <a:buAutoNum type="arabicPeriod"/>
            </a:pPr>
            <a:r>
              <a:rPr lang="es-MX" sz="2000" b="1" dirty="0"/>
              <a:t>Las variables van en minúscula con guion bajo (</a:t>
            </a:r>
            <a:r>
              <a:rPr lang="es-MX" sz="2000" b="1" dirty="0" err="1"/>
              <a:t>snake_case</a:t>
            </a:r>
            <a:r>
              <a:rPr lang="es-MX" sz="2000" b="1" dirty="0"/>
              <a:t>)</a:t>
            </a:r>
            <a:r>
              <a:rPr lang="es-MX" sz="2000" dirty="0"/>
              <a:t>: </a:t>
            </a:r>
            <a:r>
              <a:rPr lang="es-MX" b="1" dirty="0" err="1">
                <a:latin typeface="Consolas" panose="020B0609020204030204" pitchFamily="49" charset="0"/>
              </a:rPr>
              <a:t>temp_c</a:t>
            </a:r>
            <a:r>
              <a:rPr lang="es-MX" sz="2000" dirty="0"/>
              <a:t>, no </a:t>
            </a:r>
            <a:r>
              <a:rPr lang="es-MX" b="1" dirty="0">
                <a:latin typeface="Consolas" panose="020B0609020204030204" pitchFamily="49" charset="0"/>
              </a:rPr>
              <a:t>Tc</a:t>
            </a:r>
            <a:r>
              <a:rPr lang="es-MX" sz="2000" dirty="0"/>
              <a:t>.</a:t>
            </a:r>
          </a:p>
          <a:p>
            <a:pPr marL="457200" indent="-457200" rtl="0">
              <a:buFont typeface="+mj-lt"/>
              <a:buAutoNum type="arabicPeriod"/>
            </a:pPr>
            <a:r>
              <a:rPr lang="es-MX" sz="2000" b="1" dirty="0"/>
              <a:t>Las pruebas se escriben con </a:t>
            </a:r>
            <a:r>
              <a:rPr lang="es-MX" b="1" dirty="0">
                <a:latin typeface="Consolas" panose="020B0609020204030204" pitchFamily="49" charset="0"/>
              </a:rPr>
              <a:t>assert</a:t>
            </a:r>
            <a:r>
              <a:rPr lang="es-MX" sz="2000" b="1" dirty="0"/>
              <a:t>, para que se revisen solas y no a ojo</a:t>
            </a:r>
            <a:r>
              <a:rPr lang="es-MX" sz="2000" dirty="0"/>
              <a:t>.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905ED11-A6A7-43F8-A922-8E6BA087AC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150379"/>
              </p:ext>
            </p:extLst>
          </p:nvPr>
        </p:nvGraphicFramePr>
        <p:xfrm>
          <a:off x="221432" y="1394832"/>
          <a:ext cx="8766720" cy="2682240"/>
        </p:xfrm>
        <a:graphic>
          <a:graphicData uri="http://schemas.openxmlformats.org/drawingml/2006/table">
            <a:tbl>
              <a:tblPr/>
              <a:tblGrid>
                <a:gridCol w="4383360">
                  <a:extLst>
                    <a:ext uri="{9D8B030D-6E8A-4147-A177-3AD203B41FA5}">
                      <a16:colId xmlns:a16="http://schemas.microsoft.com/office/drawing/2014/main" val="447940796"/>
                    </a:ext>
                  </a:extLst>
                </a:gridCol>
                <a:gridCol w="4383360">
                  <a:extLst>
                    <a:ext uri="{9D8B030D-6E8A-4147-A177-3AD203B41FA5}">
                      <a16:colId xmlns:a16="http://schemas.microsoft.com/office/drawing/2014/main" val="55045371"/>
                    </a:ext>
                  </a:extLst>
                </a:gridCol>
              </a:tblGrid>
              <a:tr h="225575">
                <a:tc>
                  <a:txBody>
                    <a:bodyPr/>
                    <a:lstStyle/>
                    <a:p>
                      <a:r>
                        <a:rPr lang="es-CO" b="1" dirty="0"/>
                        <a:t>temperaturas_v1.py (hecho en clase)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temperaturas._v2.py (mejorado)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12190"/>
                  </a:ext>
                </a:extLst>
              </a:tr>
              <a:tr h="206777">
                <a:tc>
                  <a:txBody>
                    <a:bodyPr/>
                    <a:lstStyle/>
                    <a:p>
                      <a:r>
                        <a:rPr lang="es-CO" sz="1600" dirty="0" err="1">
                          <a:latin typeface="Consolas" panose="020B0609020204030204" pitchFamily="49" charset="0"/>
                        </a:rPr>
                        <a:t>def</a:t>
                      </a:r>
                      <a:r>
                        <a:rPr lang="es-CO" sz="16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600" dirty="0" err="1">
                          <a:latin typeface="Consolas" panose="020B0609020204030204" pitchFamily="49" charset="0"/>
                        </a:rPr>
                        <a:t>menu</a:t>
                      </a:r>
                      <a:r>
                        <a:rPr lang="es-CO" sz="1600" dirty="0">
                          <a:latin typeface="Consolas" panose="020B0609020204030204" pitchFamily="49" charset="0"/>
                        </a:rPr>
                        <a:t>():</a:t>
                      </a:r>
                    </a:p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  # </a:t>
                      </a:r>
                      <a:r>
                        <a:rPr lang="es-CO" sz="1600" dirty="0" err="1">
                          <a:latin typeface="Consolas" panose="020B0609020204030204" pitchFamily="49" charset="0"/>
                        </a:rPr>
                        <a:t>Code</a:t>
                      </a:r>
                      <a:r>
                        <a:rPr lang="es-CO" sz="1600" dirty="0"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 err="1">
                          <a:latin typeface="Consolas" panose="020B0609020204030204" pitchFamily="49" charset="0"/>
                        </a:rPr>
                        <a:t>def</a:t>
                      </a:r>
                      <a:r>
                        <a:rPr lang="es-CO" sz="16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600" dirty="0" err="1">
                          <a:latin typeface="Consolas" panose="020B0609020204030204" pitchFamily="49" charset="0"/>
                        </a:rPr>
                        <a:t>mostrar_menu</a:t>
                      </a:r>
                      <a:r>
                        <a:rPr lang="es-CO" sz="1600" dirty="0">
                          <a:latin typeface="Consolas" panose="020B0609020204030204" pitchFamily="49" charset="0"/>
                        </a:rPr>
                        <a:t>():</a:t>
                      </a:r>
                    </a:p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  # </a:t>
                      </a:r>
                      <a:r>
                        <a:rPr lang="es-CO" sz="1600" dirty="0" err="1">
                          <a:latin typeface="Consolas" panose="020B0609020204030204" pitchFamily="49" charset="0"/>
                        </a:rPr>
                        <a:t>Code</a:t>
                      </a:r>
                      <a:r>
                        <a:rPr lang="es-CO" sz="1600" dirty="0"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5685801"/>
                  </a:ext>
                </a:extLst>
              </a:tr>
              <a:tr h="50754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nsolas" panose="020B0609020204030204" pitchFamily="49" charset="0"/>
                        </a:rPr>
                        <a:t>def </a:t>
                      </a: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c_to_f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(c):</a:t>
                      </a:r>
                      <a:br>
                        <a:rPr lang="en-US" sz="1600" dirty="0">
                          <a:latin typeface="Consolas" panose="020B0609020204030204" pitchFamily="49" charset="0"/>
                        </a:rPr>
                      </a:br>
                      <a:r>
                        <a:rPr lang="en-US" sz="1600" dirty="0">
                          <a:latin typeface="Consolas" panose="020B0609020204030204" pitchFamily="49" charset="0"/>
                        </a:rPr>
                        <a:t>  f = (9/5)*c + 32</a:t>
                      </a:r>
                      <a:br>
                        <a:rPr lang="en-US" sz="1600" dirty="0">
                          <a:latin typeface="Consolas" panose="020B0609020204030204" pitchFamily="49" charset="0"/>
                        </a:rPr>
                      </a:br>
                      <a:r>
                        <a:rPr lang="en-US" sz="1600" dirty="0">
                          <a:latin typeface="Consolas" panose="020B0609020204030204" pitchFamily="49" charset="0"/>
                        </a:rPr>
                        <a:t>  return 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 err="1">
                          <a:latin typeface="Consolas" panose="020B0609020204030204" pitchFamily="49" charset="0"/>
                        </a:rPr>
                        <a:t>def</a:t>
                      </a:r>
                      <a:r>
                        <a:rPr lang="es-CO" sz="16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600" dirty="0" err="1">
                          <a:latin typeface="Consolas" panose="020B0609020204030204" pitchFamily="49" charset="0"/>
                        </a:rPr>
                        <a:t>celsius_a_fahrenheit</a:t>
                      </a:r>
                      <a:r>
                        <a:rPr lang="es-CO" sz="16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s-CO" sz="1600" dirty="0" err="1">
                          <a:latin typeface="Consolas" panose="020B0609020204030204" pitchFamily="49" charset="0"/>
                        </a:rPr>
                        <a:t>temp_c</a:t>
                      </a:r>
                      <a:r>
                        <a:rPr lang="es-CO" sz="1600" dirty="0">
                          <a:latin typeface="Consolas" panose="020B0609020204030204" pitchFamily="49" charset="0"/>
                        </a:rPr>
                        <a:t>):</a:t>
                      </a:r>
                      <a:br>
                        <a:rPr lang="es-CO" sz="1600" dirty="0">
                          <a:latin typeface="Consolas" panose="020B0609020204030204" pitchFamily="49" charset="0"/>
                        </a:rPr>
                      </a:br>
                      <a:r>
                        <a:rPr lang="es-CO" sz="160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s-CO" sz="1600" dirty="0" err="1">
                          <a:latin typeface="Consolas" panose="020B0609020204030204" pitchFamily="49" charset="0"/>
                        </a:rPr>
                        <a:t>temp_f</a:t>
                      </a:r>
                      <a:r>
                        <a:rPr lang="es-CO" sz="1600" dirty="0">
                          <a:latin typeface="Consolas" panose="020B0609020204030204" pitchFamily="49" charset="0"/>
                        </a:rPr>
                        <a:t> = (9/5)*</a:t>
                      </a:r>
                      <a:r>
                        <a:rPr lang="es-CO" sz="1600" dirty="0" err="1">
                          <a:latin typeface="Consolas" panose="020B0609020204030204" pitchFamily="49" charset="0"/>
                        </a:rPr>
                        <a:t>temp_c</a:t>
                      </a:r>
                      <a:r>
                        <a:rPr lang="es-CO" sz="1600" dirty="0">
                          <a:latin typeface="Consolas" panose="020B0609020204030204" pitchFamily="49" charset="0"/>
                        </a:rPr>
                        <a:t> + 32</a:t>
                      </a:r>
                      <a:br>
                        <a:rPr lang="es-CO" sz="1600" dirty="0">
                          <a:latin typeface="Consolas" panose="020B0609020204030204" pitchFamily="49" charset="0"/>
                        </a:rPr>
                      </a:br>
                      <a:r>
                        <a:rPr lang="es-CO" sz="160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s-CO" sz="1600" dirty="0" err="1"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s-CO" sz="16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600" dirty="0" err="1">
                          <a:latin typeface="Consolas" panose="020B0609020204030204" pitchFamily="49" charset="0"/>
                        </a:rPr>
                        <a:t>temp_f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0884245"/>
                  </a:ext>
                </a:extLst>
              </a:tr>
              <a:tr h="50754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nsolas" panose="020B0609020204030204" pitchFamily="49" charset="0"/>
                        </a:rPr>
                        <a:t>Tc = float(input(...))</a:t>
                      </a:r>
                      <a:br>
                        <a:rPr lang="en-US" sz="1600" dirty="0">
                          <a:latin typeface="Consolas" panose="020B0609020204030204" pitchFamily="49" charset="0"/>
                        </a:rPr>
                      </a:b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Tf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c_to_f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(Tc)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onsolas" panose="020B0609020204030204" pitchFamily="49" charset="0"/>
                        </a:rPr>
                        <a:t>temp_c = float(input(...))</a:t>
                      </a:r>
                      <a:br>
                        <a:rPr lang="en-US" sz="1600">
                          <a:latin typeface="Consolas" panose="020B0609020204030204" pitchFamily="49" charset="0"/>
                        </a:rPr>
                      </a:br>
                      <a:r>
                        <a:rPr lang="en-US" sz="1600">
                          <a:latin typeface="Consolas" panose="020B0609020204030204" pitchFamily="49" charset="0"/>
                        </a:rPr>
                        <a:t>temp_f = celsius_a_fahrenheit(temp_c)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164941"/>
                  </a:ext>
                </a:extLst>
              </a:tr>
              <a:tr h="206777"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Pruebas con print, comentadas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Pruebas con </a:t>
                      </a:r>
                      <a:r>
                        <a:rPr lang="es-CO" sz="1600" dirty="0" err="1">
                          <a:latin typeface="Consolas" panose="020B0609020204030204" pitchFamily="49" charset="0"/>
                        </a:rPr>
                        <a:t>assert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494470"/>
                  </a:ext>
                </a:extLst>
              </a:tr>
            </a:tbl>
          </a:graphicData>
        </a:graphic>
      </p:graphicFrame>
      <p:sp>
        <p:nvSpPr>
          <p:cNvPr id="18" name="CuadroTexto 17">
            <a:extLst>
              <a:ext uri="{FF2B5EF4-FFF2-40B4-BE49-F238E27FC236}">
                <a16:creationId xmlns:a16="http://schemas.microsoft.com/office/drawing/2014/main" id="{98CA3F79-1F31-48C7-A52E-B6AB3137784F}"/>
              </a:ext>
            </a:extLst>
          </p:cNvPr>
          <p:cNvSpPr txBox="1"/>
          <p:nvPr/>
        </p:nvSpPr>
        <p:spPr>
          <a:xfrm>
            <a:off x="27709" y="6505599"/>
            <a:ext cx="9088582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CO" sz="1400" b="1" dirty="0"/>
              <a:t>Idea clave</a:t>
            </a:r>
            <a:r>
              <a:rPr lang="es-CO" sz="1400" dirty="0"/>
              <a:t>: los dos programas hacen exactamente lo mismo. El segundo se entiende sin necesidad de explicarlo.</a:t>
            </a:r>
          </a:p>
        </p:txBody>
      </p:sp>
    </p:spTree>
    <p:extLst>
      <p:ext uri="{BB962C8B-B14F-4D97-AF65-F5344CB8AC3E}">
        <p14:creationId xmlns:p14="http://schemas.microsoft.com/office/powerpoint/2010/main" val="1481247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720452"/>
          </a:xfrm>
        </p:spPr>
        <p:txBody>
          <a:bodyPr>
            <a:noAutofit/>
          </a:bodyPr>
          <a:lstStyle/>
          <a:p>
            <a:r>
              <a:rPr lang="es-MX" sz="3600" dirty="0"/>
              <a:t>¿Cómo ejecutar un programa?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107504" y="620688"/>
            <a:ext cx="88924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Idea clave:</a:t>
            </a:r>
            <a:r>
              <a:rPr lang="es-MX" sz="2000" dirty="0"/>
              <a:t> hay varias formas de ejecutar un programa, pero todas hacen lo mismo: Python lee el archivo de arriba a abajo y ejecuta cada instrucción.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98A123C3-EF2E-4F25-AA5F-2376F03238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464788"/>
              </p:ext>
            </p:extLst>
          </p:nvPr>
        </p:nvGraphicFramePr>
        <p:xfrm>
          <a:off x="179512" y="1340768"/>
          <a:ext cx="8605994" cy="2529840"/>
        </p:xfrm>
        <a:graphic>
          <a:graphicData uri="http://schemas.openxmlformats.org/drawingml/2006/table">
            <a:tbl>
              <a:tblPr/>
              <a:tblGrid>
                <a:gridCol w="2115820">
                  <a:extLst>
                    <a:ext uri="{9D8B030D-6E8A-4147-A177-3AD203B41FA5}">
                      <a16:colId xmlns:a16="http://schemas.microsoft.com/office/drawing/2014/main" val="1988110560"/>
                    </a:ext>
                  </a:extLst>
                </a:gridCol>
                <a:gridCol w="3739659">
                  <a:extLst>
                    <a:ext uri="{9D8B030D-6E8A-4147-A177-3AD203B41FA5}">
                      <a16:colId xmlns:a16="http://schemas.microsoft.com/office/drawing/2014/main" val="3882870341"/>
                    </a:ext>
                  </a:extLst>
                </a:gridCol>
                <a:gridCol w="2750515">
                  <a:extLst>
                    <a:ext uri="{9D8B030D-6E8A-4147-A177-3AD203B41FA5}">
                      <a16:colId xmlns:a16="http://schemas.microsoft.com/office/drawing/2014/main" val="29151608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800" b="1"/>
                        <a:t>Forma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 dirty="0"/>
                        <a:t>Cómo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 dirty="0"/>
                        <a:t>Cuándo usarla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536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b="1" dirty="0"/>
                        <a:t>1. Botón del IDE</a:t>
                      </a:r>
                      <a:r>
                        <a:rPr lang="es-CO" sz="1600" dirty="0"/>
                        <a:t> 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/>
                        <a:t>Spyder</a:t>
                      </a:r>
                      <a:r>
                        <a:rPr lang="es-CO" sz="1600" dirty="0"/>
                        <a:t>: ▶ </a:t>
                      </a:r>
                      <a:endParaRPr lang="es-CO" sz="1600" b="1" dirty="0"/>
                    </a:p>
                    <a:p>
                      <a:r>
                        <a:rPr lang="en-US" sz="1600" b="1" dirty="0"/>
                        <a:t>VS-Code</a:t>
                      </a:r>
                      <a:r>
                        <a:rPr lang="en-US" sz="1600" dirty="0"/>
                        <a:t>: ▷ </a:t>
                      </a:r>
                      <a:r>
                        <a:rPr lang="en-US" sz="1600" i="1" dirty="0"/>
                        <a:t>Run Python File</a:t>
                      </a:r>
                      <a:endParaRPr lang="es-CO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En el día a día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771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b="1"/>
                        <a:t>2. Terminal</a:t>
                      </a:r>
                      <a:endParaRPr lang="es-CO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python nombre_archivo.py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Cuando no hay IDE, o para ejecutar en otro computador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067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b="1" dirty="0"/>
                        <a:t>3. Consola</a:t>
                      </a:r>
                      <a:endParaRPr lang="es-CO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Después de ejecutar, escribir la llamada:</a:t>
                      </a:r>
                    </a:p>
                    <a:p>
                      <a:endParaRPr lang="es-MX" sz="1600" dirty="0"/>
                    </a:p>
                    <a:p>
                      <a:r>
                        <a:rPr lang="it-IT" sz="1400" dirty="0">
                          <a:latin typeface="Consolas" panose="020B0609020204030204" pitchFamily="49" charset="0"/>
                        </a:rPr>
                        <a:t>python -i nombre_archivo.py</a:t>
                      </a:r>
                      <a:endParaRPr lang="es-MX" sz="14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s-MX" sz="140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&gt;&gt;&gt;</a:t>
                      </a:r>
                      <a:r>
                        <a:rPr lang="es-MX" sz="1400" dirty="0">
                          <a:latin typeface="Consolas" panose="020B0609020204030204" pitchFamily="49" charset="0"/>
                        </a:rPr>
                        <a:t> nombre_funcion(argumentos)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Para probar una función sola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4084506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4C0D3DD9-EFBF-4EE2-B429-363E56F7D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7" y="4305290"/>
            <a:ext cx="4393045" cy="2076038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D320E489-3CC1-45B8-8A84-3FF46859A8A5}"/>
              </a:ext>
            </a:extLst>
          </p:cNvPr>
          <p:cNvSpPr txBox="1"/>
          <p:nvPr/>
        </p:nvSpPr>
        <p:spPr>
          <a:xfrm>
            <a:off x="4950296" y="3933056"/>
            <a:ext cx="3870176" cy="28392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050" dirty="0">
                <a:latin typeface="Consolas" panose="020B0609020204030204" pitchFamily="49" charset="0"/>
              </a:rPr>
              <a:t>Programa de </a:t>
            </a:r>
            <a:r>
              <a:rPr lang="es-CO" sz="1050" dirty="0" err="1">
                <a:latin typeface="Consolas" panose="020B0609020204030204" pitchFamily="49" charset="0"/>
              </a:rPr>
              <a:t>conversion</a:t>
            </a:r>
            <a:r>
              <a:rPr lang="es-CO" sz="1050" dirty="0">
                <a:latin typeface="Consolas" panose="020B0609020204030204" pitchFamily="49" charset="0"/>
              </a:rPr>
              <a:t> de °C a °F y K</a:t>
            </a:r>
          </a:p>
          <a:p>
            <a:r>
              <a:rPr lang="es-CO" sz="1050" dirty="0">
                <a:latin typeface="Consolas" panose="020B0609020204030204" pitchFamily="49" charset="0"/>
              </a:rPr>
              <a:t>--------------------------------</a:t>
            </a:r>
          </a:p>
          <a:p>
            <a:r>
              <a:rPr lang="es-CO" sz="1050" dirty="0">
                <a:latin typeface="Consolas" panose="020B0609020204030204" pitchFamily="49" charset="0"/>
              </a:rPr>
              <a:t>1. °C a °F</a:t>
            </a:r>
          </a:p>
          <a:p>
            <a:r>
              <a:rPr lang="es-CO" sz="1050" dirty="0">
                <a:latin typeface="Consolas" panose="020B0609020204030204" pitchFamily="49" charset="0"/>
              </a:rPr>
              <a:t>2. °C a K</a:t>
            </a:r>
          </a:p>
          <a:p>
            <a:r>
              <a:rPr lang="es-CO" sz="1050" dirty="0">
                <a:latin typeface="Consolas" panose="020B0609020204030204" pitchFamily="49" charset="0"/>
              </a:rPr>
              <a:t>3. Salir</a:t>
            </a:r>
          </a:p>
          <a:p>
            <a:endParaRPr lang="es-CO" sz="1050" dirty="0">
              <a:latin typeface="Consolas" panose="020B0609020204030204" pitchFamily="49" charset="0"/>
            </a:endParaRPr>
          </a:p>
          <a:p>
            <a:r>
              <a:rPr lang="es-CO" sz="1050" dirty="0">
                <a:latin typeface="Consolas" panose="020B0609020204030204" pitchFamily="49" charset="0"/>
              </a:rPr>
              <a:t>Elija una </a:t>
            </a:r>
            <a:r>
              <a:rPr lang="es-CO" sz="1050" dirty="0" err="1">
                <a:latin typeface="Consolas" panose="020B0609020204030204" pitchFamily="49" charset="0"/>
              </a:rPr>
              <a:t>opcion</a:t>
            </a:r>
            <a:r>
              <a:rPr lang="es-CO" sz="1050" dirty="0">
                <a:latin typeface="Consolas" panose="020B0609020204030204" pitchFamily="49" charset="0"/>
              </a:rPr>
              <a:t>: 1</a:t>
            </a:r>
          </a:p>
          <a:p>
            <a:r>
              <a:rPr lang="es-CO" sz="1050" dirty="0">
                <a:latin typeface="Consolas" panose="020B0609020204030204" pitchFamily="49" charset="0"/>
              </a:rPr>
              <a:t>Digite la temperatura en °C: 100</a:t>
            </a:r>
          </a:p>
          <a:p>
            <a:r>
              <a:rPr lang="es-CO" sz="1050" dirty="0">
                <a:latin typeface="Consolas" panose="020B0609020204030204" pitchFamily="49" charset="0"/>
              </a:rPr>
              <a:t>100.0°C = 212.00°F</a:t>
            </a:r>
          </a:p>
          <a:p>
            <a:endParaRPr lang="es-CO" sz="1050" dirty="0">
              <a:latin typeface="Consolas" panose="020B0609020204030204" pitchFamily="49" charset="0"/>
            </a:endParaRPr>
          </a:p>
          <a:p>
            <a:r>
              <a:rPr lang="es-CO" sz="1050" dirty="0">
                <a:latin typeface="Consolas" panose="020B0609020204030204" pitchFamily="49" charset="0"/>
              </a:rPr>
              <a:t>--------------------------------</a:t>
            </a:r>
          </a:p>
          <a:p>
            <a:r>
              <a:rPr lang="es-CO" sz="1050" dirty="0">
                <a:latin typeface="Consolas" panose="020B0609020204030204" pitchFamily="49" charset="0"/>
              </a:rPr>
              <a:t>1. °C a °F</a:t>
            </a:r>
          </a:p>
          <a:p>
            <a:r>
              <a:rPr lang="es-CO" sz="1050" dirty="0">
                <a:latin typeface="Consolas" panose="020B0609020204030204" pitchFamily="49" charset="0"/>
              </a:rPr>
              <a:t>2. °C a K</a:t>
            </a:r>
          </a:p>
          <a:p>
            <a:r>
              <a:rPr lang="es-CO" sz="1050" dirty="0">
                <a:latin typeface="Consolas" panose="020B0609020204030204" pitchFamily="49" charset="0"/>
              </a:rPr>
              <a:t>3. Salir</a:t>
            </a:r>
          </a:p>
          <a:p>
            <a:endParaRPr lang="es-CO" sz="1050" dirty="0">
              <a:latin typeface="Consolas" panose="020B0609020204030204" pitchFamily="49" charset="0"/>
            </a:endParaRPr>
          </a:p>
          <a:p>
            <a:r>
              <a:rPr lang="es-CO" sz="1050" dirty="0">
                <a:latin typeface="Consolas" panose="020B0609020204030204" pitchFamily="49" charset="0"/>
              </a:rPr>
              <a:t>Elija una </a:t>
            </a:r>
            <a:r>
              <a:rPr lang="es-CO" sz="1050" dirty="0" err="1">
                <a:latin typeface="Consolas" panose="020B0609020204030204" pitchFamily="49" charset="0"/>
              </a:rPr>
              <a:t>opcion</a:t>
            </a:r>
            <a:r>
              <a:rPr lang="es-CO" sz="1050" dirty="0">
                <a:latin typeface="Consolas" panose="020B0609020204030204" pitchFamily="49" charset="0"/>
              </a:rPr>
              <a:t>: 3</a:t>
            </a:r>
          </a:p>
          <a:p>
            <a:r>
              <a:rPr lang="es-CO" sz="1050" dirty="0">
                <a:latin typeface="Consolas" panose="020B0609020204030204" pitchFamily="49" charset="0"/>
              </a:rPr>
              <a:t>Gracias por usarnos </a:t>
            </a:r>
          </a:p>
        </p:txBody>
      </p:sp>
    </p:spTree>
    <p:extLst>
      <p:ext uri="{BB962C8B-B14F-4D97-AF65-F5344CB8AC3E}">
        <p14:creationId xmlns:p14="http://schemas.microsoft.com/office/powerpoint/2010/main" val="3458386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720452"/>
          </a:xfrm>
        </p:spPr>
        <p:txBody>
          <a:bodyPr>
            <a:noAutofit/>
          </a:bodyPr>
          <a:lstStyle/>
          <a:p>
            <a:r>
              <a:rPr lang="es-MX" sz="3600" dirty="0"/>
              <a:t>Ejecutar no es lo mismo que probar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251520" y="837084"/>
            <a:ext cx="849694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Ejecutar:</a:t>
            </a:r>
            <a:r>
              <a:rPr lang="es-MX" sz="2000" dirty="0"/>
              <a:t> correr el programa completo, como lo usaría el usuario.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Probar:</a:t>
            </a:r>
            <a:r>
              <a:rPr lang="es-MX" sz="2000" dirty="0"/>
              <a:t> verificar que cada función da el resultado esperado.</a:t>
            </a:r>
          </a:p>
          <a:p>
            <a:pPr rtl="0"/>
            <a:endParaRPr lang="es-MX" sz="2000" dirty="0"/>
          </a:p>
          <a:p>
            <a:pPr rtl="0"/>
            <a:r>
              <a:rPr lang="es-MX" sz="2000" dirty="0"/>
              <a:t>Si el archivo tiene pruebas con </a:t>
            </a:r>
            <a:r>
              <a:rPr lang="es-MX" b="1" dirty="0">
                <a:latin typeface="Consolas" panose="020B0609020204030204" pitchFamily="49" charset="0"/>
              </a:rPr>
              <a:t>assert</a:t>
            </a:r>
            <a:r>
              <a:rPr lang="es-MX" sz="2000" dirty="0"/>
              <a:t>, cada ejecución también las corre:</a:t>
            </a:r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r>
              <a:rPr lang="es-MX" sz="2000" dirty="0"/>
              <a:t>Desde la consola se puede probar una función a mano, sin pasar por el resto del programa.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371101E2-00EC-42F9-A7EF-2B0671A39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797697"/>
              </p:ext>
            </p:extLst>
          </p:nvPr>
        </p:nvGraphicFramePr>
        <p:xfrm>
          <a:off x="548097" y="2286281"/>
          <a:ext cx="7903790" cy="1097280"/>
        </p:xfrm>
        <a:graphic>
          <a:graphicData uri="http://schemas.openxmlformats.org/drawingml/2006/table">
            <a:tbl>
              <a:tblPr/>
              <a:tblGrid>
                <a:gridCol w="1823289">
                  <a:extLst>
                    <a:ext uri="{9D8B030D-6E8A-4147-A177-3AD203B41FA5}">
                      <a16:colId xmlns:a16="http://schemas.microsoft.com/office/drawing/2014/main" val="3574675489"/>
                    </a:ext>
                  </a:extLst>
                </a:gridCol>
                <a:gridCol w="6080501">
                  <a:extLst>
                    <a:ext uri="{9D8B030D-6E8A-4147-A177-3AD203B41FA5}">
                      <a16:colId xmlns:a16="http://schemas.microsoft.com/office/drawing/2014/main" val="3268115606"/>
                    </a:ext>
                  </a:extLst>
                </a:gridCol>
              </a:tblGrid>
              <a:tr h="169908">
                <a:tc>
                  <a:txBody>
                    <a:bodyPr/>
                    <a:lstStyle/>
                    <a:p>
                      <a:r>
                        <a:rPr lang="es-CO" b="1" dirty="0"/>
                        <a:t>Si las pruebas…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El programa…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23135"/>
                  </a:ext>
                </a:extLst>
              </a:tr>
              <a:tr h="239082">
                <a:tc>
                  <a:txBody>
                    <a:bodyPr/>
                    <a:lstStyle/>
                    <a:p>
                      <a:r>
                        <a:rPr lang="es-CO"/>
                        <a:t>pasan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sigue sin mostrar nada y arranca normalmente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1939389"/>
                  </a:ext>
                </a:extLst>
              </a:tr>
              <a:tr h="239082">
                <a:tc>
                  <a:txBody>
                    <a:bodyPr/>
                    <a:lstStyle/>
                    <a:p>
                      <a:r>
                        <a:rPr lang="es-CO" dirty="0"/>
                        <a:t>fallan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se detiene con </a:t>
                      </a:r>
                      <a:r>
                        <a:rPr lang="es-CO" sz="1600" b="1" dirty="0">
                          <a:latin typeface="Consolas" panose="020B0609020204030204" pitchFamily="49" charset="0"/>
                        </a:rPr>
                        <a:t>AssertionError</a:t>
                      </a:r>
                      <a:r>
                        <a:rPr lang="es-CO" dirty="0"/>
                        <a:t> e indica la línea que falló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18216"/>
                  </a:ext>
                </a:extLst>
              </a:tr>
            </a:tbl>
          </a:graphicData>
        </a:graphic>
      </p:graphicFrame>
      <p:grpSp>
        <p:nvGrpSpPr>
          <p:cNvPr id="20" name="Grupo 19">
            <a:extLst>
              <a:ext uri="{FF2B5EF4-FFF2-40B4-BE49-F238E27FC236}">
                <a16:creationId xmlns:a16="http://schemas.microsoft.com/office/drawing/2014/main" id="{B7A70183-C218-4E0F-B5CE-380CC3734A69}"/>
              </a:ext>
            </a:extLst>
          </p:cNvPr>
          <p:cNvGrpSpPr/>
          <p:nvPr/>
        </p:nvGrpSpPr>
        <p:grpSpPr>
          <a:xfrm>
            <a:off x="334703" y="4509120"/>
            <a:ext cx="4309305" cy="1985346"/>
            <a:chOff x="190687" y="4648388"/>
            <a:chExt cx="4309305" cy="1985346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10DD6329-8EAD-46C0-B6C6-8976BDE27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687" y="4648388"/>
              <a:ext cx="4309305" cy="1659789"/>
            </a:xfrm>
            <a:prstGeom prst="rect">
              <a:avLst/>
            </a:prstGeom>
          </p:spPr>
        </p:pic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64C08CE6-C0E4-4EA5-9345-4271AF5D04E7}"/>
                </a:ext>
              </a:extLst>
            </p:cNvPr>
            <p:cNvSpPr txBox="1"/>
            <p:nvPr/>
          </p:nvSpPr>
          <p:spPr>
            <a:xfrm>
              <a:off x="548097" y="6356735"/>
              <a:ext cx="351984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1200" b="1" dirty="0"/>
                <a:t>Una prueba falla</a:t>
              </a:r>
              <a:r>
                <a:rPr lang="es-CO" sz="1200" dirty="0"/>
                <a:t>. </a:t>
              </a:r>
              <a:r>
                <a:rPr lang="es-CO" sz="1100" dirty="0">
                  <a:solidFill>
                    <a:srgbClr val="C00000"/>
                  </a:solidFill>
                  <a:latin typeface="Consolas" panose="020B0609020204030204" pitchFamily="49" charset="0"/>
                </a:rPr>
                <a:t>AssertionError</a:t>
              </a:r>
              <a:endParaRPr lang="es-CO" sz="1200" dirty="0">
                <a:solidFill>
                  <a:srgbClr val="C00000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E6458546-8D6F-42EC-B78D-88CC08DA3B61}"/>
              </a:ext>
            </a:extLst>
          </p:cNvPr>
          <p:cNvGrpSpPr/>
          <p:nvPr/>
        </p:nvGrpSpPr>
        <p:grpSpPr>
          <a:xfrm>
            <a:off x="4716016" y="4509120"/>
            <a:ext cx="4200052" cy="1985346"/>
            <a:chOff x="4675462" y="4648388"/>
            <a:chExt cx="4200052" cy="1985346"/>
          </a:xfrm>
        </p:grpSpPr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3C9039C5-C96B-4133-8E08-AA351C36B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5462" y="4648388"/>
              <a:ext cx="4200052" cy="1664537"/>
            </a:xfrm>
            <a:prstGeom prst="rect">
              <a:avLst/>
            </a:prstGeom>
          </p:spPr>
        </p:pic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CE4F8FD7-513E-4507-BA97-8739672C92A7}"/>
                </a:ext>
              </a:extLst>
            </p:cNvPr>
            <p:cNvSpPr txBox="1"/>
            <p:nvPr/>
          </p:nvSpPr>
          <p:spPr>
            <a:xfrm>
              <a:off x="5015564" y="6356735"/>
              <a:ext cx="351984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1200" b="1" dirty="0"/>
                <a:t>Probar función individualmente</a:t>
              </a:r>
              <a:r>
                <a:rPr lang="es-CO" sz="1200" dirty="0"/>
                <a:t>. </a:t>
              </a:r>
              <a:r>
                <a:rPr lang="es-CO" sz="1100" dirty="0">
                  <a:solidFill>
                    <a:srgbClr val="C00000"/>
                  </a:solidFill>
                  <a:latin typeface="Consolas" panose="020B0609020204030204" pitchFamily="49" charset="0"/>
                </a:rPr>
                <a:t>python -i</a:t>
              </a:r>
              <a:endParaRPr lang="es-CO" sz="1200" dirty="0">
                <a:solidFill>
                  <a:srgbClr val="C00000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2607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720452"/>
          </a:xfrm>
        </p:spPr>
        <p:txBody>
          <a:bodyPr>
            <a:noAutofit/>
          </a:bodyPr>
          <a:lstStyle/>
          <a:p>
            <a:r>
              <a:rPr lang="es-MX" sz="3600" dirty="0"/>
              <a:t>Especificación de una función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251520" y="692696"/>
            <a:ext cx="8496944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¿Cómo alguien sabe como usar una función que no escribió? </a:t>
            </a:r>
            <a:r>
              <a:rPr lang="es-MX" sz="2000" dirty="0"/>
              <a:t>Leyendo su especificación.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La especificación es un </a:t>
            </a:r>
            <a:r>
              <a:rPr lang="es-MX" sz="2000" b="1" dirty="0"/>
              <a:t>contrato</a:t>
            </a:r>
            <a:r>
              <a:rPr lang="es-MX" sz="2000" dirty="0"/>
              <a:t> entre dos personas:</a:t>
            </a:r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r>
              <a:rPr lang="es-MX" sz="2000" dirty="0"/>
              <a:t>En Python la especificación se escribe como un </a:t>
            </a:r>
            <a:r>
              <a:rPr lang="es-MX" sz="2000" b="1" dirty="0" err="1"/>
              <a:t>docstring</a:t>
            </a:r>
            <a:r>
              <a:rPr lang="es-MX" sz="2000" dirty="0"/>
              <a:t>, un texto entre </a:t>
            </a:r>
            <a:r>
              <a:rPr lang="es-MX" sz="2000" b="1" dirty="0">
                <a:latin typeface="Consolas" panose="020B0609020204030204" pitchFamily="49" charset="0"/>
              </a:rPr>
              <a:t>"""</a:t>
            </a:r>
            <a:r>
              <a:rPr lang="es-MX" sz="2000" dirty="0"/>
              <a:t> justo debajo del </a:t>
            </a:r>
            <a:r>
              <a:rPr lang="es-MX" b="1" dirty="0" err="1">
                <a:latin typeface="Consolas" panose="020B0609020204030204" pitchFamily="49" charset="0"/>
              </a:rPr>
              <a:t>def</a:t>
            </a:r>
            <a:r>
              <a:rPr lang="es-MX" sz="2000" dirty="0"/>
              <a:t>:</a:t>
            </a:r>
          </a:p>
          <a:p>
            <a:pPr rtl="0"/>
            <a:endParaRPr lang="es-MX" sz="2000" dirty="0"/>
          </a:p>
          <a:p>
            <a:pPr rtl="0"/>
            <a:r>
              <a:rPr lang="es-MX" sz="2000" dirty="0"/>
              <a:t>.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E039131-45CF-45B1-B92A-A0FDBFC08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706279"/>
              </p:ext>
            </p:extLst>
          </p:nvPr>
        </p:nvGraphicFramePr>
        <p:xfrm>
          <a:off x="700658" y="1859556"/>
          <a:ext cx="7886700" cy="1425428"/>
        </p:xfrm>
        <a:graphic>
          <a:graphicData uri="http://schemas.openxmlformats.org/drawingml/2006/table">
            <a:tbl>
              <a:tblPr/>
              <a:tblGrid>
                <a:gridCol w="1423070">
                  <a:extLst>
                    <a:ext uri="{9D8B030D-6E8A-4147-A177-3AD203B41FA5}">
                      <a16:colId xmlns:a16="http://schemas.microsoft.com/office/drawing/2014/main" val="2146422416"/>
                    </a:ext>
                  </a:extLst>
                </a:gridCol>
                <a:gridCol w="3231815">
                  <a:extLst>
                    <a:ext uri="{9D8B030D-6E8A-4147-A177-3AD203B41FA5}">
                      <a16:colId xmlns:a16="http://schemas.microsoft.com/office/drawing/2014/main" val="330043027"/>
                    </a:ext>
                  </a:extLst>
                </a:gridCol>
                <a:gridCol w="3231815">
                  <a:extLst>
                    <a:ext uri="{9D8B030D-6E8A-4147-A177-3AD203B41FA5}">
                      <a16:colId xmlns:a16="http://schemas.microsoft.com/office/drawing/2014/main" val="315987617"/>
                    </a:ext>
                  </a:extLst>
                </a:gridCol>
              </a:tblGrid>
              <a:tr h="277563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Quién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Compromiso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432187"/>
                  </a:ext>
                </a:extLst>
              </a:tr>
              <a:tr h="277563">
                <a:tc>
                  <a:txBody>
                    <a:bodyPr/>
                    <a:lstStyle/>
                    <a:p>
                      <a:r>
                        <a:rPr lang="es-CO" b="1" dirty="0"/>
                        <a:t>Supone</a:t>
                      </a:r>
                      <a:endParaRPr lang="es-CO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quien </a:t>
                      </a:r>
                      <a:r>
                        <a:rPr lang="es-CO" b="1" dirty="0"/>
                        <a:t>usa</a:t>
                      </a:r>
                      <a:r>
                        <a:rPr lang="es-CO" dirty="0"/>
                        <a:t> la función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Entregar datos válidos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0348133"/>
                  </a:ext>
                </a:extLst>
              </a:tr>
              <a:tr h="693908">
                <a:tc>
                  <a:txBody>
                    <a:bodyPr/>
                    <a:lstStyle/>
                    <a:p>
                      <a:r>
                        <a:rPr lang="es-CO" b="1" dirty="0"/>
                        <a:t>Garantiza</a:t>
                      </a:r>
                      <a:endParaRPr lang="es-CO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quien </a:t>
                      </a:r>
                      <a:r>
                        <a:rPr lang="es-CO" b="1" dirty="0"/>
                        <a:t>escribe</a:t>
                      </a:r>
                      <a:r>
                        <a:rPr lang="es-CO" dirty="0"/>
                        <a:t> la función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Devolver el resultado correcto, si los datos son válidos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8670825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D83DB4B9-95E5-4BAF-80DB-597DA250B962}"/>
              </a:ext>
            </a:extLst>
          </p:cNvPr>
          <p:cNvSpPr txBox="1"/>
          <p:nvPr/>
        </p:nvSpPr>
        <p:spPr>
          <a:xfrm>
            <a:off x="1547081" y="4221088"/>
            <a:ext cx="6301358" cy="249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 err="1">
                <a:latin typeface="Consolas" panose="020B0609020204030204" pitchFamily="49" charset="0"/>
              </a:rPr>
              <a:t>def</a:t>
            </a:r>
            <a:r>
              <a:rPr lang="es-CO" sz="1200" dirty="0">
                <a:latin typeface="Consolas" panose="020B0609020204030204" pitchFamily="49" charset="0"/>
              </a:rPr>
              <a:t> </a:t>
            </a:r>
            <a:r>
              <a:rPr lang="es-CO" sz="1200" dirty="0" err="1">
                <a:latin typeface="Consolas" panose="020B0609020204030204" pitchFamily="49" charset="0"/>
              </a:rPr>
              <a:t>celsius_a_kelvin</a:t>
            </a:r>
            <a:r>
              <a:rPr lang="es-CO" sz="1200" dirty="0">
                <a:latin typeface="Consolas" panose="020B0609020204030204" pitchFamily="49" charset="0"/>
              </a:rPr>
              <a:t>(</a:t>
            </a:r>
            <a:r>
              <a:rPr lang="es-CO" sz="1200" dirty="0" err="1">
                <a:latin typeface="Consolas" panose="020B0609020204030204" pitchFamily="49" charset="0"/>
              </a:rPr>
              <a:t>temp_c</a:t>
            </a:r>
            <a:r>
              <a:rPr lang="es-CO" sz="1200" dirty="0">
                <a:latin typeface="Consolas" panose="020B0609020204030204" pitchFamily="49" charset="0"/>
              </a:rPr>
              <a:t>):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>
                <a:solidFill>
                  <a:srgbClr val="00B050"/>
                </a:solidFill>
                <a:latin typeface="Consolas" panose="020B0609020204030204" pitchFamily="49" charset="0"/>
              </a:rPr>
              <a:t>"""</a:t>
            </a:r>
          </a:p>
          <a:p>
            <a:r>
              <a:rPr lang="es-CO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Convierte una temperatura de grados Celsius a Kelvin.</a:t>
            </a:r>
          </a:p>
          <a:p>
            <a:endParaRPr lang="es-CO" sz="12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s-CO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Supone:</a:t>
            </a:r>
          </a:p>
          <a:p>
            <a:r>
              <a:rPr lang="es-CO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</a:t>
            </a:r>
            <a:r>
              <a:rPr lang="es-CO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temp_c</a:t>
            </a:r>
            <a:r>
              <a:rPr lang="es-CO" sz="1200" dirty="0">
                <a:solidFill>
                  <a:srgbClr val="00B050"/>
                </a:solidFill>
                <a:latin typeface="Consolas" panose="020B0609020204030204" pitchFamily="49" charset="0"/>
              </a:rPr>
              <a:t> es un número (</a:t>
            </a:r>
            <a:r>
              <a:rPr lang="es-CO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int</a:t>
            </a:r>
            <a:r>
              <a:rPr lang="es-CO" sz="1200" dirty="0">
                <a:solidFill>
                  <a:srgbClr val="00B050"/>
                </a:solidFill>
                <a:latin typeface="Consolas" panose="020B0609020204030204" pitchFamily="49" charset="0"/>
              </a:rPr>
              <a:t> o </a:t>
            </a:r>
            <a:r>
              <a:rPr lang="es-CO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float</a:t>
            </a:r>
            <a:r>
              <a:rPr lang="es-CO" sz="1200" dirty="0">
                <a:solidFill>
                  <a:srgbClr val="00B050"/>
                </a:solidFill>
                <a:latin typeface="Consolas" panose="020B0609020204030204" pitchFamily="49" charset="0"/>
              </a:rPr>
              <a:t>) mayor o igual a -273.15</a:t>
            </a:r>
          </a:p>
          <a:p>
            <a:r>
              <a:rPr lang="es-CO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(el cero absoluto).</a:t>
            </a:r>
          </a:p>
          <a:p>
            <a:r>
              <a:rPr lang="es-CO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Garantiza:</a:t>
            </a:r>
          </a:p>
          <a:p>
            <a:r>
              <a:rPr lang="es-CO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Retorna la temperatura equivalente en Kelvin (</a:t>
            </a:r>
            <a:r>
              <a:rPr lang="es-CO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float</a:t>
            </a:r>
            <a:r>
              <a:rPr lang="es-CO" sz="1200" dirty="0">
                <a:solidFill>
                  <a:srgbClr val="00B050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s-CO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mayor o igual a 0.</a:t>
            </a:r>
          </a:p>
          <a:p>
            <a:r>
              <a:rPr lang="es-CO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"""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temp_k</a:t>
            </a:r>
            <a:r>
              <a:rPr lang="es-CO" sz="1200" dirty="0">
                <a:latin typeface="Consolas" panose="020B0609020204030204" pitchFamily="49" charset="0"/>
              </a:rPr>
              <a:t> = </a:t>
            </a:r>
            <a:r>
              <a:rPr lang="es-CO" sz="1200" dirty="0" err="1">
                <a:latin typeface="Consolas" panose="020B0609020204030204" pitchFamily="49" charset="0"/>
              </a:rPr>
              <a:t>temp_c</a:t>
            </a:r>
            <a:r>
              <a:rPr lang="es-CO" sz="1200" dirty="0">
                <a:latin typeface="Consolas" panose="020B0609020204030204" pitchFamily="49" charset="0"/>
              </a:rPr>
              <a:t> + 273.15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return</a:t>
            </a:r>
            <a:r>
              <a:rPr lang="es-CO" sz="1200" dirty="0">
                <a:latin typeface="Consolas" panose="020B0609020204030204" pitchFamily="49" charset="0"/>
              </a:rPr>
              <a:t> </a:t>
            </a:r>
            <a:r>
              <a:rPr lang="es-CO" sz="1200" dirty="0" err="1">
                <a:latin typeface="Consolas" panose="020B0609020204030204" pitchFamily="49" charset="0"/>
              </a:rPr>
              <a:t>temp_k</a:t>
            </a:r>
            <a:endParaRPr lang="es-CO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320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720452"/>
          </a:xfrm>
        </p:spPr>
        <p:txBody>
          <a:bodyPr>
            <a:noAutofit/>
          </a:bodyPr>
          <a:lstStyle/>
          <a:p>
            <a:r>
              <a:rPr lang="es-MX" sz="3600" dirty="0"/>
              <a:t>Especificación de una función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269193" y="749017"/>
            <a:ext cx="864096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Idea clave</a:t>
            </a:r>
            <a:r>
              <a:rPr lang="es-MX" sz="2000" dirty="0"/>
              <a:t>: Con la especificación, una persona puede usar una función sin leer su código. Así varias personas pueden construir un mismo programa.</a:t>
            </a:r>
          </a:p>
          <a:p>
            <a:pPr marL="457200" indent="-457200" rtl="0">
              <a:buFont typeface="+mj-lt"/>
              <a:buAutoNum type="arabicPeriod"/>
            </a:pPr>
            <a:r>
              <a:rPr lang="es-MX" sz="2000" dirty="0"/>
              <a:t>Para consultar como usar una función se emplea: </a:t>
            </a:r>
            <a:r>
              <a:rPr lang="es-MX" b="1" dirty="0">
                <a:latin typeface="Consolas" panose="020B0609020204030204" pitchFamily="49" charset="0"/>
              </a:rPr>
              <a:t>help()</a:t>
            </a:r>
          </a:p>
          <a:p>
            <a:pPr marL="457200" indent="-457200" rtl="0">
              <a:buFont typeface="+mj-lt"/>
              <a:buAutoNum type="arabicPeriod"/>
            </a:pPr>
            <a:endParaRPr lang="es-MX" sz="2000" b="1" dirty="0">
              <a:latin typeface="Consolas" panose="020B0609020204030204" pitchFamily="49" charset="0"/>
            </a:endParaRPr>
          </a:p>
          <a:p>
            <a:pPr marL="457200" indent="-457200" rtl="0">
              <a:buFont typeface="+mj-lt"/>
              <a:buAutoNum type="arabicPeriod"/>
            </a:pPr>
            <a:endParaRPr lang="es-MX" sz="2000" b="1" dirty="0">
              <a:latin typeface="Consolas" panose="020B0609020204030204" pitchFamily="49" charset="0"/>
            </a:endParaRPr>
          </a:p>
          <a:p>
            <a:pPr marL="457200" indent="-457200" rtl="0">
              <a:buFont typeface="+mj-lt"/>
              <a:buAutoNum type="arabicPeriod"/>
            </a:pPr>
            <a:endParaRPr lang="es-MX" sz="2000" b="1" dirty="0">
              <a:latin typeface="Consolas" panose="020B0609020204030204" pitchFamily="49" charset="0"/>
            </a:endParaRPr>
          </a:p>
          <a:p>
            <a:pPr marL="457200" indent="-457200" rtl="0">
              <a:buFont typeface="+mj-lt"/>
              <a:buAutoNum type="arabicPeriod"/>
            </a:pPr>
            <a:endParaRPr lang="es-MX" sz="2000" b="1" dirty="0">
              <a:latin typeface="Consolas" panose="020B0609020204030204" pitchFamily="49" charset="0"/>
            </a:endParaRPr>
          </a:p>
          <a:p>
            <a:pPr marL="457200" indent="-457200" rtl="0">
              <a:buFont typeface="+mj-lt"/>
              <a:buAutoNum type="arabicPeriod"/>
            </a:pPr>
            <a:endParaRPr lang="es-MX" sz="2000" b="1" dirty="0">
              <a:latin typeface="Consolas" panose="020B0609020204030204" pitchFamily="49" charset="0"/>
            </a:endParaRPr>
          </a:p>
          <a:p>
            <a:pPr marL="457200" indent="-457200" rtl="0">
              <a:buFont typeface="+mj-lt"/>
              <a:buAutoNum type="arabicPeriod"/>
            </a:pPr>
            <a:endParaRPr lang="es-MX" sz="2000" b="1" dirty="0">
              <a:latin typeface="Consolas" panose="020B0609020204030204" pitchFamily="49" charset="0"/>
            </a:endParaRPr>
          </a:p>
          <a:p>
            <a:pPr marL="457200" indent="-457200" rtl="0">
              <a:buFont typeface="+mj-lt"/>
              <a:buAutoNum type="arabicPeriod"/>
            </a:pPr>
            <a:endParaRPr lang="es-MX" sz="2000" b="1" dirty="0">
              <a:latin typeface="Consolas" panose="020B0609020204030204" pitchFamily="49" charset="0"/>
            </a:endParaRPr>
          </a:p>
          <a:p>
            <a:pPr marL="457200" indent="-457200" rtl="0">
              <a:buFont typeface="+mj-lt"/>
              <a:buAutoNum type="arabicPeriod"/>
            </a:pPr>
            <a:endParaRPr lang="es-MX" sz="2000" b="1" dirty="0">
              <a:latin typeface="Consolas" panose="020B0609020204030204" pitchFamily="49" charset="0"/>
            </a:endParaRPr>
          </a:p>
          <a:p>
            <a:pPr marL="457200" indent="-457200" rtl="0">
              <a:buFont typeface="+mj-lt"/>
              <a:buAutoNum type="arabicPeriod"/>
            </a:pPr>
            <a:r>
              <a:rPr lang="es-MX" sz="2000" dirty="0"/>
              <a:t>El programa no da error, pero el resultado </a:t>
            </a:r>
            <a:r>
              <a:rPr lang="es-MX" sz="2000" b="1" dirty="0"/>
              <a:t>no tiene sentido</a:t>
            </a:r>
            <a:r>
              <a:rPr lang="es-MX" sz="2000" dirty="0"/>
              <a:t>: no existen temperaturas en Kelvin negativas.</a:t>
            </a:r>
          </a:p>
          <a:p>
            <a:pPr marL="457200" indent="-457200" rtl="0">
              <a:buFont typeface="+mj-lt"/>
              <a:buAutoNum type="arabicPeriod"/>
            </a:pPr>
            <a:endParaRPr lang="es-MX" sz="2000" dirty="0"/>
          </a:p>
          <a:p>
            <a:pPr marL="457200" indent="-457200" rtl="0">
              <a:buFont typeface="+mj-lt"/>
              <a:buAutoNum type="arabicPeriod"/>
            </a:pPr>
            <a:endParaRPr lang="es-MX" sz="2000" b="1" dirty="0">
              <a:latin typeface="Consolas" panose="020B0609020204030204" pitchFamily="49" charset="0"/>
            </a:endParaRPr>
          </a:p>
          <a:p>
            <a:pPr marL="457200" indent="-457200" rtl="0">
              <a:buFont typeface="+mj-lt"/>
              <a:buAutoNum type="arabicPeriod"/>
            </a:pPr>
            <a:endParaRPr lang="es-MX" sz="2000" b="1" dirty="0">
              <a:latin typeface="Consolas" panose="020B0609020204030204" pitchFamily="49" charset="0"/>
            </a:endParaRPr>
          </a:p>
          <a:p>
            <a:pPr marL="457200" indent="-457200" rtl="0">
              <a:buFont typeface="+mj-lt"/>
              <a:buAutoNum type="arabicPeriod"/>
            </a:pPr>
            <a:endParaRPr lang="es-MX" sz="2000" b="1" dirty="0">
              <a:latin typeface="Consolas" panose="020B0609020204030204" pitchFamily="49" charset="0"/>
            </a:endParaRPr>
          </a:p>
          <a:p>
            <a:pPr marL="457200" indent="-457200" rtl="0">
              <a:buFont typeface="+mj-lt"/>
              <a:buAutoNum type="arabicPeriod"/>
            </a:pPr>
            <a:endParaRPr lang="es-MX" sz="2000" b="1" dirty="0">
              <a:latin typeface="Consolas" panose="020B0609020204030204" pitchFamily="49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E01C652-3724-4EAF-BBEB-C9F2DCA97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916832"/>
            <a:ext cx="4500500" cy="216024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6F819BF-8F43-40F3-8FDE-ED1EE531B97F}"/>
              </a:ext>
            </a:extLst>
          </p:cNvPr>
          <p:cNvSpPr txBox="1"/>
          <p:nvPr/>
        </p:nvSpPr>
        <p:spPr>
          <a:xfrm>
            <a:off x="2267744" y="4798724"/>
            <a:ext cx="4104456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400" dirty="0">
                <a:latin typeface="Consolas" panose="020B0609020204030204" pitchFamily="49" charset="0"/>
              </a:rPr>
              <a:t>Elija una </a:t>
            </a:r>
            <a:r>
              <a:rPr lang="es-CO" sz="1400" dirty="0" err="1">
                <a:latin typeface="Consolas" panose="020B0609020204030204" pitchFamily="49" charset="0"/>
              </a:rPr>
              <a:t>opcion</a:t>
            </a:r>
            <a:r>
              <a:rPr lang="es-CO" sz="1400" dirty="0">
                <a:latin typeface="Consolas" panose="020B0609020204030204" pitchFamily="49" charset="0"/>
              </a:rPr>
              <a:t>: 2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Digite la temperatura en °C: -300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-300.0°C = -26.85K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BD446BD-5012-47DB-9CFA-D1BC7E57A783}"/>
              </a:ext>
            </a:extLst>
          </p:cNvPr>
          <p:cNvSpPr txBox="1"/>
          <p:nvPr/>
        </p:nvSpPr>
        <p:spPr>
          <a:xfrm>
            <a:off x="269193" y="5879013"/>
            <a:ext cx="864096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CO" b="1" dirty="0"/>
              <a:t>¿De quién es la culpa?</a:t>
            </a:r>
            <a:r>
              <a:rPr lang="es-CO" dirty="0"/>
              <a:t> De quien llamó a la función con -300, porque no cumplió lo que la función supone. La función cumplió su parte.</a:t>
            </a:r>
          </a:p>
        </p:txBody>
      </p:sp>
    </p:spTree>
    <p:extLst>
      <p:ext uri="{BB962C8B-B14F-4D97-AF65-F5344CB8AC3E}">
        <p14:creationId xmlns:p14="http://schemas.microsoft.com/office/powerpoint/2010/main" val="34853262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720452"/>
          </a:xfrm>
        </p:spPr>
        <p:txBody>
          <a:bodyPr>
            <a:noAutofit/>
          </a:bodyPr>
          <a:lstStyle/>
          <a:p>
            <a:r>
              <a:rPr lang="es-MX" sz="3600" dirty="0"/>
              <a:t>Ámbito de las variables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269193" y="749017"/>
            <a:ext cx="864096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Ámbito</a:t>
            </a:r>
            <a:r>
              <a:rPr lang="es-MX" sz="2000" dirty="0"/>
              <a:t>: la parte del programa donde una variable existe y se puede usar.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Variable local</a:t>
            </a:r>
            <a:r>
              <a:rPr lang="es-MX" sz="2000" dirty="0"/>
              <a:t>: se crea dentro de una función, y solo existe mientras la función se ejecuta. Los parámetros también son locales.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Variable global</a:t>
            </a:r>
            <a:r>
              <a:rPr lang="es-MX" sz="2000" dirty="0"/>
              <a:t>: se crea fuera de las funciones, en el programa principal.</a:t>
            </a:r>
            <a:endParaRPr lang="es-MX" sz="2000" b="1" dirty="0">
              <a:latin typeface="Consolas" panose="020B0609020204030204" pitchFamily="49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E543AEA-A93B-4030-BDF3-BE7B3B3EE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735" y="2842188"/>
            <a:ext cx="1519346" cy="1022637"/>
          </a:xfrm>
          <a:prstGeom prst="rect">
            <a:avLst/>
          </a:prstGeom>
        </p:spPr>
      </p:pic>
      <p:graphicFrame>
        <p:nvGraphicFramePr>
          <p:cNvPr id="11" name="Tabla 13">
            <a:extLst>
              <a:ext uri="{FF2B5EF4-FFF2-40B4-BE49-F238E27FC236}">
                <a16:creationId xmlns:a16="http://schemas.microsoft.com/office/drawing/2014/main" id="{9CF57A04-D806-41E6-9CD2-FD4CC369A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481388"/>
              </p:ext>
            </p:extLst>
          </p:nvPr>
        </p:nvGraphicFramePr>
        <p:xfrm>
          <a:off x="269193" y="2577440"/>
          <a:ext cx="2383922" cy="2651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3543">
                  <a:extLst>
                    <a:ext uri="{9D8B030D-6E8A-4147-A177-3AD203B41FA5}">
                      <a16:colId xmlns:a16="http://schemas.microsoft.com/office/drawing/2014/main" val="2226858441"/>
                    </a:ext>
                  </a:extLst>
                </a:gridCol>
                <a:gridCol w="1980379">
                  <a:extLst>
                    <a:ext uri="{9D8B030D-6E8A-4147-A177-3AD203B41FA5}">
                      <a16:colId xmlns:a16="http://schemas.microsoft.com/office/drawing/2014/main" val="499056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CO" sz="1400" dirty="0"/>
                        <a:t>1</a:t>
                      </a:r>
                    </a:p>
                    <a:p>
                      <a:pPr algn="r"/>
                      <a:r>
                        <a:rPr lang="es-CO" sz="1400" dirty="0"/>
                        <a:t>2</a:t>
                      </a:r>
                    </a:p>
                    <a:p>
                      <a:pPr algn="r"/>
                      <a:r>
                        <a:rPr lang="es-CO" sz="1400" dirty="0"/>
                        <a:t>3</a:t>
                      </a:r>
                    </a:p>
                    <a:p>
                      <a:pPr algn="r"/>
                      <a:r>
                        <a:rPr lang="es-CO" sz="1400" dirty="0"/>
                        <a:t>4</a:t>
                      </a:r>
                    </a:p>
                    <a:p>
                      <a:pPr algn="r"/>
                      <a:r>
                        <a:rPr lang="es-CO" sz="1400" dirty="0">
                          <a:highlight>
                            <a:srgbClr val="FFFF00"/>
                          </a:highlight>
                        </a:rPr>
                        <a:t>5</a:t>
                      </a:r>
                    </a:p>
                    <a:p>
                      <a:pPr algn="r"/>
                      <a:r>
                        <a:rPr lang="es-CO" sz="1400" dirty="0"/>
                        <a:t>6</a:t>
                      </a:r>
                    </a:p>
                    <a:p>
                      <a:pPr algn="r"/>
                      <a:r>
                        <a:rPr lang="es-CO" sz="1400" dirty="0"/>
                        <a:t>7</a:t>
                      </a:r>
                    </a:p>
                    <a:p>
                      <a:pPr algn="r"/>
                      <a:r>
                        <a:rPr lang="es-CO" sz="1400" dirty="0"/>
                        <a:t>8</a:t>
                      </a:r>
                    </a:p>
                    <a:p>
                      <a:pPr algn="r"/>
                      <a:r>
                        <a:rPr lang="es-CO" sz="1400" dirty="0">
                          <a:highlight>
                            <a:srgbClr val="FFFF00"/>
                          </a:highlight>
                        </a:rPr>
                        <a:t>9</a:t>
                      </a:r>
                    </a:p>
                    <a:p>
                      <a:pPr algn="r"/>
                      <a:r>
                        <a:rPr lang="es-CO" sz="1400" dirty="0"/>
                        <a:t>10</a:t>
                      </a:r>
                    </a:p>
                    <a:p>
                      <a:pPr algn="r"/>
                      <a:r>
                        <a:rPr lang="es-CO" sz="1400" dirty="0"/>
                        <a:t>11</a:t>
                      </a:r>
                    </a:p>
                    <a:p>
                      <a:pPr algn="r"/>
                      <a:r>
                        <a:rPr lang="es-CO" sz="1400" dirty="0"/>
                        <a:t>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def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 f(x): </a:t>
                      </a:r>
                    </a:p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   y = 1 </a:t>
                      </a:r>
                    </a:p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   x = x + y </a:t>
                      </a:r>
                    </a:p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('x =', x) </a:t>
                      </a:r>
                    </a:p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 x </a:t>
                      </a:r>
                    </a:p>
                    <a:p>
                      <a:endParaRPr lang="es-CO" sz="14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x = 3 </a:t>
                      </a:r>
                    </a:p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y = 2 </a:t>
                      </a:r>
                    </a:p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z = f(x) </a:t>
                      </a:r>
                    </a:p>
                    <a:p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('z =', z) </a:t>
                      </a:r>
                    </a:p>
                    <a:p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('x =', x) </a:t>
                      </a:r>
                    </a:p>
                    <a:p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('y =', y)</a:t>
                      </a:r>
                      <a:endParaRPr lang="es-CO" sz="1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050"/>
                  </a:ext>
                </a:extLst>
              </a:tr>
            </a:tbl>
          </a:graphicData>
        </a:graphic>
      </p:graphicFrame>
      <p:pic>
        <p:nvPicPr>
          <p:cNvPr id="15" name="Imagen 14">
            <a:extLst>
              <a:ext uri="{FF2B5EF4-FFF2-40B4-BE49-F238E27FC236}">
                <a16:creationId xmlns:a16="http://schemas.microsoft.com/office/drawing/2014/main" id="{A61A489C-41C8-4F99-83DD-9062501BA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601" y="2788936"/>
            <a:ext cx="1610703" cy="2059841"/>
          </a:xfrm>
          <a:prstGeom prst="rect">
            <a:avLst/>
          </a:prstGeom>
        </p:spPr>
      </p:pic>
      <p:graphicFrame>
        <p:nvGraphicFramePr>
          <p:cNvPr id="18" name="Tabla 18">
            <a:extLst>
              <a:ext uri="{FF2B5EF4-FFF2-40B4-BE49-F238E27FC236}">
                <a16:creationId xmlns:a16="http://schemas.microsoft.com/office/drawing/2014/main" id="{F230DE4E-12C3-4E6B-A501-F6538521C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601980"/>
              </p:ext>
            </p:extLst>
          </p:nvPr>
        </p:nvGraphicFramePr>
        <p:xfrm>
          <a:off x="2796934" y="2223122"/>
          <a:ext cx="1579725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7530">
                  <a:extLst>
                    <a:ext uri="{9D8B030D-6E8A-4147-A177-3AD203B41FA5}">
                      <a16:colId xmlns:a16="http://schemas.microsoft.com/office/drawing/2014/main" val="59961605"/>
                    </a:ext>
                  </a:extLst>
                </a:gridCol>
                <a:gridCol w="1022195">
                  <a:extLst>
                    <a:ext uri="{9D8B030D-6E8A-4147-A177-3AD203B41FA5}">
                      <a16:colId xmlns:a16="http://schemas.microsoft.com/office/drawing/2014/main" val="40862646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s-CO" sz="14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➔ </a:t>
                      </a:r>
                      <a:r>
                        <a:rPr lang="es-CO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z = f(x)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221210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64098CE7-530A-4A79-8AC2-2EFFE18B9E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229520"/>
              </p:ext>
            </p:extLst>
          </p:nvPr>
        </p:nvGraphicFramePr>
        <p:xfrm>
          <a:off x="4529893" y="2236113"/>
          <a:ext cx="167815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955">
                  <a:extLst>
                    <a:ext uri="{9D8B030D-6E8A-4147-A177-3AD203B41FA5}">
                      <a16:colId xmlns:a16="http://schemas.microsoft.com/office/drawing/2014/main" val="59961605"/>
                    </a:ext>
                  </a:extLst>
                </a:gridCol>
                <a:gridCol w="1022195">
                  <a:extLst>
                    <a:ext uri="{9D8B030D-6E8A-4147-A177-3AD203B41FA5}">
                      <a16:colId xmlns:a16="http://schemas.microsoft.com/office/drawing/2014/main" val="40862646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s-CO" sz="14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➔ </a:t>
                      </a:r>
                      <a:r>
                        <a:rPr lang="es-CO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 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221210"/>
                  </a:ext>
                </a:extLst>
              </a:tr>
            </a:tbl>
          </a:graphicData>
        </a:graphic>
      </p:graphicFrame>
      <p:pic>
        <p:nvPicPr>
          <p:cNvPr id="22" name="Imagen 21">
            <a:extLst>
              <a:ext uri="{FF2B5EF4-FFF2-40B4-BE49-F238E27FC236}">
                <a16:creationId xmlns:a16="http://schemas.microsoft.com/office/drawing/2014/main" id="{494E4DB4-DD3A-437A-865C-5EC4A6C79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865" y="2243967"/>
            <a:ext cx="2522997" cy="2954562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CE49B199-3734-442D-8D46-36A677AFFBAD}"/>
              </a:ext>
            </a:extLst>
          </p:cNvPr>
          <p:cNvSpPr txBox="1"/>
          <p:nvPr/>
        </p:nvSpPr>
        <p:spPr>
          <a:xfrm>
            <a:off x="3506933" y="5524281"/>
            <a:ext cx="4572000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400" dirty="0">
                <a:latin typeface="Consolas" panose="020B0609020204030204" pitchFamily="49" charset="0"/>
              </a:rPr>
              <a:t>x = 4      ← la x local de f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z = 4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x = 3      ← la x global no cambió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y = 2      ← la y global no cambió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658ECAE-DAAE-45DD-9BAA-B8ED9E8E0D15}"/>
              </a:ext>
            </a:extLst>
          </p:cNvPr>
          <p:cNvSpPr txBox="1"/>
          <p:nvPr/>
        </p:nvSpPr>
        <p:spPr>
          <a:xfrm>
            <a:off x="769455" y="5292065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5"/>
              </a:rPr>
              <a:t>Link simulación</a:t>
            </a:r>
            <a:endParaRPr lang="es-CO" sz="12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A795D73-BD52-414F-AFA8-E36438AA7E48}"/>
              </a:ext>
            </a:extLst>
          </p:cNvPr>
          <p:cNvSpPr txBox="1"/>
          <p:nvPr/>
        </p:nvSpPr>
        <p:spPr>
          <a:xfrm>
            <a:off x="3468048" y="5198529"/>
            <a:ext cx="21147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/>
              <a:t>Salida en pantalla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D9CF26A-D97C-47B6-942A-3BA33897395E}"/>
              </a:ext>
            </a:extLst>
          </p:cNvPr>
          <p:cNvSpPr txBox="1"/>
          <p:nvPr/>
        </p:nvSpPr>
        <p:spPr>
          <a:xfrm>
            <a:off x="769455" y="2207454"/>
            <a:ext cx="1664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b="1" dirty="0"/>
              <a:t>Código</a:t>
            </a:r>
          </a:p>
        </p:txBody>
      </p:sp>
    </p:spTree>
    <p:extLst>
      <p:ext uri="{BB962C8B-B14F-4D97-AF65-F5344CB8AC3E}">
        <p14:creationId xmlns:p14="http://schemas.microsoft.com/office/powerpoint/2010/main" val="2709683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4016" y="116632"/>
            <a:ext cx="8999984" cy="720452"/>
          </a:xfrm>
        </p:spPr>
        <p:txBody>
          <a:bodyPr>
            <a:noAutofit/>
          </a:bodyPr>
          <a:lstStyle/>
          <a:p>
            <a:r>
              <a:rPr lang="es-MX" sz="3600" dirty="0"/>
              <a:t>Ámbito de las variables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144016" y="620688"/>
            <a:ext cx="88924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Idea clave</a:t>
            </a:r>
            <a:r>
              <a:rPr lang="es-MX" sz="2000" dirty="0"/>
              <a:t>: dos variables pueden tener el mismo nombre y ser distintas, si viven en ámbitos diferentes. Cada llamada a una función crea su propio espacio de variables.</a:t>
            </a:r>
          </a:p>
        </p:txBody>
      </p:sp>
      <p:graphicFrame>
        <p:nvGraphicFramePr>
          <p:cNvPr id="11" name="Tabla 13">
            <a:extLst>
              <a:ext uri="{FF2B5EF4-FFF2-40B4-BE49-F238E27FC236}">
                <a16:creationId xmlns:a16="http://schemas.microsoft.com/office/drawing/2014/main" id="{9CF57A04-D806-41E6-9CD2-FD4CC369A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760812"/>
              </p:ext>
            </p:extLst>
          </p:nvPr>
        </p:nvGraphicFramePr>
        <p:xfrm>
          <a:off x="323527" y="1914086"/>
          <a:ext cx="4620004" cy="1798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055">
                  <a:extLst>
                    <a:ext uri="{9D8B030D-6E8A-4147-A177-3AD203B41FA5}">
                      <a16:colId xmlns:a16="http://schemas.microsoft.com/office/drawing/2014/main" val="2226858441"/>
                    </a:ext>
                  </a:extLst>
                </a:gridCol>
                <a:gridCol w="4306949">
                  <a:extLst>
                    <a:ext uri="{9D8B030D-6E8A-4147-A177-3AD203B41FA5}">
                      <a16:colId xmlns:a16="http://schemas.microsoft.com/office/drawing/2014/main" val="499056580"/>
                    </a:ext>
                  </a:extLst>
                </a:gridCol>
              </a:tblGrid>
              <a:tr h="887432">
                <a:tc>
                  <a:txBody>
                    <a:bodyPr/>
                    <a:lstStyle/>
                    <a:p>
                      <a:pPr algn="r"/>
                      <a:r>
                        <a:rPr lang="es-CO" sz="1400" dirty="0"/>
                        <a:t>1</a:t>
                      </a:r>
                    </a:p>
                    <a:p>
                      <a:pPr algn="r"/>
                      <a:r>
                        <a:rPr lang="es-CO" sz="1400" dirty="0"/>
                        <a:t>2</a:t>
                      </a:r>
                    </a:p>
                    <a:p>
                      <a:pPr algn="r"/>
                      <a:r>
                        <a:rPr lang="es-CO" sz="1400" dirty="0"/>
                        <a:t>3</a:t>
                      </a:r>
                    </a:p>
                    <a:p>
                      <a:pPr algn="r"/>
                      <a:r>
                        <a:rPr lang="es-CO" sz="1400" dirty="0"/>
                        <a:t>4</a:t>
                      </a:r>
                    </a:p>
                    <a:p>
                      <a:pPr algn="r"/>
                      <a:r>
                        <a:rPr lang="es-CO" sz="1400" dirty="0"/>
                        <a:t>5</a:t>
                      </a:r>
                    </a:p>
                    <a:p>
                      <a:pPr algn="r"/>
                      <a:r>
                        <a:rPr lang="es-CO" sz="1400" dirty="0"/>
                        <a:t>6</a:t>
                      </a:r>
                    </a:p>
                    <a:p>
                      <a:pPr algn="r"/>
                      <a:r>
                        <a:rPr lang="es-CO" sz="1400" dirty="0"/>
                        <a:t>7</a:t>
                      </a:r>
                    </a:p>
                    <a:p>
                      <a:pPr algn="r"/>
                      <a:r>
                        <a:rPr lang="es-CO" sz="1400" dirty="0"/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def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celsius_a_fahrenheit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temp_c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):</a:t>
                      </a:r>
                    </a:p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temp_f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 = (9 / 5) * </a:t>
                      </a:r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temp_c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 + 32</a:t>
                      </a:r>
                    </a:p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temp_f</a:t>
                      </a:r>
                      <a:endParaRPr lang="es-CO" sz="1400" dirty="0">
                        <a:latin typeface="Consolas" panose="020B0609020204030204" pitchFamily="49" charset="0"/>
                      </a:endParaRPr>
                    </a:p>
                    <a:p>
                      <a:endParaRPr lang="es-CO" sz="14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temp_c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float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(input("Ingrese los °C: "))</a:t>
                      </a:r>
                    </a:p>
                    <a:p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temp_f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celsius_a_fahrenheit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temp_c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endParaRPr lang="es-CO" sz="14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(f"{</a:t>
                      </a:r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temp_c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} °C = {</a:t>
                      </a:r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temp_f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} °F")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050"/>
                  </a:ext>
                </a:extLst>
              </a:tr>
            </a:tbl>
          </a:graphicData>
        </a:graphic>
      </p:graphicFrame>
      <p:sp>
        <p:nvSpPr>
          <p:cNvPr id="24" name="CuadroTexto 23">
            <a:extLst>
              <a:ext uri="{FF2B5EF4-FFF2-40B4-BE49-F238E27FC236}">
                <a16:creationId xmlns:a16="http://schemas.microsoft.com/office/drawing/2014/main" id="{CE49B199-3734-442D-8D46-36A677AFFBAD}"/>
              </a:ext>
            </a:extLst>
          </p:cNvPr>
          <p:cNvSpPr txBox="1"/>
          <p:nvPr/>
        </p:nvSpPr>
        <p:spPr>
          <a:xfrm>
            <a:off x="5292080" y="2621534"/>
            <a:ext cx="329090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MX" sz="1400" dirty="0">
                <a:latin typeface="Consolas" panose="020B0609020204030204" pitchFamily="49" charset="0"/>
              </a:rPr>
              <a:t>Ingrese los °C: 23</a:t>
            </a:r>
          </a:p>
          <a:p>
            <a:r>
              <a:rPr lang="es-MX" sz="1400" dirty="0">
                <a:latin typeface="Consolas" panose="020B0609020204030204" pitchFamily="49" charset="0"/>
              </a:rPr>
              <a:t>23.0 °C = 73.4 °F</a:t>
            </a:r>
            <a:endParaRPr lang="es-CO" sz="1400" dirty="0">
              <a:latin typeface="Consolas" panose="020B0609020204030204" pitchFamily="49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658ECAE-DAAE-45DD-9BAA-B8ED9E8E0D15}"/>
              </a:ext>
            </a:extLst>
          </p:cNvPr>
          <p:cNvSpPr txBox="1"/>
          <p:nvPr/>
        </p:nvSpPr>
        <p:spPr>
          <a:xfrm>
            <a:off x="1907704" y="3717032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2"/>
              </a:rPr>
              <a:t>Link simulación</a:t>
            </a:r>
            <a:endParaRPr lang="es-CO" sz="12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A795D73-BD52-414F-AFA8-E36438AA7E48}"/>
              </a:ext>
            </a:extLst>
          </p:cNvPr>
          <p:cNvSpPr txBox="1"/>
          <p:nvPr/>
        </p:nvSpPr>
        <p:spPr>
          <a:xfrm>
            <a:off x="5880140" y="2205230"/>
            <a:ext cx="21147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/>
              <a:t>Salida en pantalla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D9CF26A-D97C-47B6-942A-3BA33897395E}"/>
              </a:ext>
            </a:extLst>
          </p:cNvPr>
          <p:cNvSpPr txBox="1"/>
          <p:nvPr/>
        </p:nvSpPr>
        <p:spPr>
          <a:xfrm>
            <a:off x="1757510" y="1509945"/>
            <a:ext cx="1664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b="1" dirty="0"/>
              <a:t>Código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0D4C43A-15EC-4A4F-9A0A-D3B6BA196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08" y="4005064"/>
            <a:ext cx="4152900" cy="234315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B1978E0-09EF-4295-A78B-D59103A95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952" y="4833227"/>
            <a:ext cx="4133850" cy="1333500"/>
          </a:xfrm>
          <a:prstGeom prst="rect">
            <a:avLst/>
          </a:prstGeom>
        </p:spPr>
      </p:pic>
      <p:graphicFrame>
        <p:nvGraphicFramePr>
          <p:cNvPr id="23" name="Tabla 18">
            <a:extLst>
              <a:ext uri="{FF2B5EF4-FFF2-40B4-BE49-F238E27FC236}">
                <a16:creationId xmlns:a16="http://schemas.microsoft.com/office/drawing/2014/main" id="{EEF437E3-FD41-4321-8E50-29759D7BB1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019104"/>
              </p:ext>
            </p:extLst>
          </p:nvPr>
        </p:nvGraphicFramePr>
        <p:xfrm>
          <a:off x="1691680" y="6381328"/>
          <a:ext cx="2271484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955">
                  <a:extLst>
                    <a:ext uri="{9D8B030D-6E8A-4147-A177-3AD203B41FA5}">
                      <a16:colId xmlns:a16="http://schemas.microsoft.com/office/drawing/2014/main" val="59961605"/>
                    </a:ext>
                  </a:extLst>
                </a:gridCol>
                <a:gridCol w="1615529">
                  <a:extLst>
                    <a:ext uri="{9D8B030D-6E8A-4147-A177-3AD203B41FA5}">
                      <a16:colId xmlns:a16="http://schemas.microsoft.com/office/drawing/2014/main" val="40862646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s-CO" sz="14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➔ </a:t>
                      </a:r>
                      <a:r>
                        <a:rPr lang="es-CO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temp_f</a:t>
                      </a:r>
                      <a:endParaRPr lang="es-CO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221210"/>
                  </a:ext>
                </a:extLst>
              </a:tr>
            </a:tbl>
          </a:graphicData>
        </a:graphic>
      </p:graphicFrame>
      <p:graphicFrame>
        <p:nvGraphicFramePr>
          <p:cNvPr id="28" name="Tabla 27">
            <a:extLst>
              <a:ext uri="{FF2B5EF4-FFF2-40B4-BE49-F238E27FC236}">
                <a16:creationId xmlns:a16="http://schemas.microsoft.com/office/drawing/2014/main" id="{4C9653C9-2E45-47F8-AE63-0DCEA9444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699597"/>
              </p:ext>
            </p:extLst>
          </p:nvPr>
        </p:nvGraphicFramePr>
        <p:xfrm>
          <a:off x="5550672" y="6436568"/>
          <a:ext cx="2444258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955">
                  <a:extLst>
                    <a:ext uri="{9D8B030D-6E8A-4147-A177-3AD203B41FA5}">
                      <a16:colId xmlns:a16="http://schemas.microsoft.com/office/drawing/2014/main" val="59961605"/>
                    </a:ext>
                  </a:extLst>
                </a:gridCol>
                <a:gridCol w="1788303">
                  <a:extLst>
                    <a:ext uri="{9D8B030D-6E8A-4147-A177-3AD203B41FA5}">
                      <a16:colId xmlns:a16="http://schemas.microsoft.com/office/drawing/2014/main" val="40862646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s-CO" sz="14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➔ </a:t>
                      </a:r>
                      <a:r>
                        <a:rPr lang="es-CO" sz="14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solidFill>
                            <a:schemeClr val="accent5"/>
                          </a:solidFill>
                          <a:latin typeface="Consolas" panose="020B0609020204030204" pitchFamily="49" charset="0"/>
                        </a:rPr>
                        <a:t>Fin del programa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221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1641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08782" y="116632"/>
            <a:ext cx="8835218" cy="720452"/>
          </a:xfrm>
        </p:spPr>
        <p:txBody>
          <a:bodyPr>
            <a:noAutofit/>
          </a:bodyPr>
          <a:lstStyle/>
          <a:p>
            <a:r>
              <a:rPr lang="es-MX" sz="3600" dirty="0"/>
              <a:t>Variables globales: ¿Sí o No?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308782" y="829161"/>
            <a:ext cx="861354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Idea clave</a:t>
            </a:r>
            <a:r>
              <a:rPr lang="es-MX" sz="2000" dirty="0"/>
              <a:t>: una función puede leer una variable global, pero no debería modificarla. Lo que necesita lo recibe por parámetros y lo que produce lo entrega con return.</a:t>
            </a:r>
          </a:p>
        </p:txBody>
      </p:sp>
      <p:graphicFrame>
        <p:nvGraphicFramePr>
          <p:cNvPr id="11" name="Tabla 13">
            <a:extLst>
              <a:ext uri="{FF2B5EF4-FFF2-40B4-BE49-F238E27FC236}">
                <a16:creationId xmlns:a16="http://schemas.microsoft.com/office/drawing/2014/main" id="{9CF57A04-D806-41E6-9CD2-FD4CC369A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950364"/>
              </p:ext>
            </p:extLst>
          </p:nvPr>
        </p:nvGraphicFramePr>
        <p:xfrm>
          <a:off x="365153" y="2636912"/>
          <a:ext cx="3702791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02791">
                  <a:extLst>
                    <a:ext uri="{9D8B030D-6E8A-4147-A177-3AD203B41FA5}">
                      <a16:colId xmlns:a16="http://schemas.microsoft.com/office/drawing/2014/main" val="499056580"/>
                    </a:ext>
                  </a:extLst>
                </a:gridCol>
              </a:tblGrid>
              <a:tr h="887432"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CERO_ABSOLUTO = -273.15</a:t>
                      </a:r>
                    </a:p>
                    <a:p>
                      <a:endParaRPr lang="es-CO" sz="12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def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celsius_a_kelvin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temp_c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):</a:t>
                      </a:r>
                    </a:p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temp_k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temp_c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 - CERO_ABSOLUTO</a:t>
                      </a:r>
                    </a:p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temp_k</a:t>
                      </a:r>
                      <a:endParaRPr lang="es-CO" sz="1200" dirty="0">
                        <a:latin typeface="Consolas" panose="020B0609020204030204" pitchFamily="49" charset="0"/>
                      </a:endParaRPr>
                    </a:p>
                    <a:p>
                      <a:endParaRPr lang="es-CO" sz="12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temp_k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celsius_a_kelvin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(25)</a:t>
                      </a:r>
                    </a:p>
                    <a:p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("25 °C =", 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temp_k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, "K")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050"/>
                  </a:ext>
                </a:extLst>
              </a:tr>
            </a:tbl>
          </a:graphicData>
        </a:graphic>
      </p:graphicFrame>
      <p:sp>
        <p:nvSpPr>
          <p:cNvPr id="24" name="CuadroTexto 23">
            <a:extLst>
              <a:ext uri="{FF2B5EF4-FFF2-40B4-BE49-F238E27FC236}">
                <a16:creationId xmlns:a16="http://schemas.microsoft.com/office/drawing/2014/main" id="{CE49B199-3734-442D-8D46-36A677AFFBAD}"/>
              </a:ext>
            </a:extLst>
          </p:cNvPr>
          <p:cNvSpPr txBox="1"/>
          <p:nvPr/>
        </p:nvSpPr>
        <p:spPr>
          <a:xfrm>
            <a:off x="4374232" y="2492896"/>
            <a:ext cx="4572000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conversiones = 0</a:t>
            </a:r>
          </a:p>
          <a:p>
            <a:endParaRPr lang="es-MX" sz="1200" dirty="0">
              <a:latin typeface="Consolas" panose="020B0609020204030204" pitchFamily="49" charset="0"/>
            </a:endParaRPr>
          </a:p>
          <a:p>
            <a:r>
              <a:rPr lang="es-MX" sz="1200" dirty="0" err="1">
                <a:latin typeface="Consolas" panose="020B0609020204030204" pitchFamily="49" charset="0"/>
              </a:rPr>
              <a:t>def</a:t>
            </a:r>
            <a:r>
              <a:rPr lang="es-MX" sz="1200" dirty="0">
                <a:latin typeface="Consolas" panose="020B0609020204030204" pitchFamily="49" charset="0"/>
              </a:rPr>
              <a:t> </a:t>
            </a:r>
            <a:r>
              <a:rPr lang="es-MX" sz="1200" dirty="0" err="1">
                <a:latin typeface="Consolas" panose="020B0609020204030204" pitchFamily="49" charset="0"/>
              </a:rPr>
              <a:t>celsius_a_fahrenheit</a:t>
            </a:r>
            <a:r>
              <a:rPr lang="es-MX" sz="1200" dirty="0">
                <a:latin typeface="Consolas" panose="020B0609020204030204" pitchFamily="49" charset="0"/>
              </a:rPr>
              <a:t>(</a:t>
            </a:r>
            <a:r>
              <a:rPr lang="es-MX" sz="1200" dirty="0" err="1">
                <a:latin typeface="Consolas" panose="020B0609020204030204" pitchFamily="49" charset="0"/>
              </a:rPr>
              <a:t>temp_c</a:t>
            </a:r>
            <a:r>
              <a:rPr lang="es-MX" sz="1200" dirty="0">
                <a:latin typeface="Consolas" panose="020B0609020204030204" pitchFamily="49" charset="0"/>
              </a:rPr>
              <a:t>):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</a:t>
            </a:r>
            <a:r>
              <a:rPr lang="es-MX" sz="1200" dirty="0">
                <a:solidFill>
                  <a:schemeClr val="accent4"/>
                </a:solidFill>
                <a:latin typeface="Consolas" panose="020B0609020204030204" pitchFamily="49" charset="0"/>
              </a:rPr>
              <a:t>global</a:t>
            </a:r>
            <a:r>
              <a:rPr lang="es-MX" sz="1200" dirty="0">
                <a:latin typeface="Consolas" panose="020B0609020204030204" pitchFamily="49" charset="0"/>
              </a:rPr>
              <a:t> conversiones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conversiones = conversiones + 1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latin typeface="Consolas" panose="020B0609020204030204" pitchFamily="49" charset="0"/>
              </a:rPr>
              <a:t>temp_f</a:t>
            </a:r>
            <a:r>
              <a:rPr lang="es-MX" sz="1200" dirty="0">
                <a:latin typeface="Consolas" panose="020B0609020204030204" pitchFamily="49" charset="0"/>
              </a:rPr>
              <a:t> = (9 / 5) * </a:t>
            </a:r>
            <a:r>
              <a:rPr lang="es-MX" sz="1200" dirty="0" err="1">
                <a:latin typeface="Consolas" panose="020B0609020204030204" pitchFamily="49" charset="0"/>
              </a:rPr>
              <a:t>temp_c</a:t>
            </a:r>
            <a:r>
              <a:rPr lang="es-MX" sz="1200" dirty="0">
                <a:latin typeface="Consolas" panose="020B0609020204030204" pitchFamily="49" charset="0"/>
              </a:rPr>
              <a:t> + 32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return </a:t>
            </a:r>
            <a:r>
              <a:rPr lang="es-MX" sz="1200" dirty="0" err="1">
                <a:latin typeface="Consolas" panose="020B0609020204030204" pitchFamily="49" charset="0"/>
              </a:rPr>
              <a:t>temp_f</a:t>
            </a:r>
            <a:endParaRPr lang="es-MX" sz="1200" dirty="0">
              <a:latin typeface="Consolas" panose="020B0609020204030204" pitchFamily="49" charset="0"/>
            </a:endParaRPr>
          </a:p>
          <a:p>
            <a:endParaRPr lang="es-MX" sz="1200" dirty="0">
              <a:latin typeface="Consolas" panose="020B0609020204030204" pitchFamily="49" charset="0"/>
            </a:endParaRPr>
          </a:p>
          <a:p>
            <a:r>
              <a:rPr lang="es-MX" sz="1200" dirty="0">
                <a:latin typeface="Consolas" panose="020B0609020204030204" pitchFamily="49" charset="0"/>
              </a:rPr>
              <a:t># Pruebas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assert round(</a:t>
            </a:r>
            <a:r>
              <a:rPr lang="es-MX" sz="1200" dirty="0" err="1">
                <a:latin typeface="Consolas" panose="020B0609020204030204" pitchFamily="49" charset="0"/>
              </a:rPr>
              <a:t>celsius_a_fahrenheit</a:t>
            </a:r>
            <a:r>
              <a:rPr lang="es-MX" sz="1200" dirty="0">
                <a:latin typeface="Consolas" panose="020B0609020204030204" pitchFamily="49" charset="0"/>
              </a:rPr>
              <a:t>(100), 2) == 212.0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assert round(</a:t>
            </a:r>
            <a:r>
              <a:rPr lang="es-MX" sz="1200" dirty="0" err="1">
                <a:latin typeface="Consolas" panose="020B0609020204030204" pitchFamily="49" charset="0"/>
              </a:rPr>
              <a:t>celsius_a_fahrenheit</a:t>
            </a:r>
            <a:r>
              <a:rPr lang="es-MX" sz="1200" dirty="0">
                <a:latin typeface="Consolas" panose="020B0609020204030204" pitchFamily="49" charset="0"/>
              </a:rPr>
              <a:t>(0), 2) == 32.0</a:t>
            </a:r>
          </a:p>
          <a:p>
            <a:endParaRPr lang="es-MX" sz="1200" dirty="0">
              <a:latin typeface="Consolas" panose="020B0609020204030204" pitchFamily="49" charset="0"/>
            </a:endParaRPr>
          </a:p>
          <a:p>
            <a:r>
              <a:rPr lang="es-MX" sz="1200" dirty="0">
                <a:latin typeface="Consolas" panose="020B0609020204030204" pitchFamily="49" charset="0"/>
              </a:rPr>
              <a:t># Programa principal: el usuario hace UNA </a:t>
            </a:r>
            <a:r>
              <a:rPr lang="es-MX" sz="1200" dirty="0" err="1">
                <a:latin typeface="Consolas" panose="020B0609020204030204" pitchFamily="49" charset="0"/>
              </a:rPr>
              <a:t>conversion</a:t>
            </a:r>
            <a:endParaRPr lang="es-MX" sz="1200" dirty="0">
              <a:latin typeface="Consolas" panose="020B0609020204030204" pitchFamily="49" charset="0"/>
            </a:endParaRPr>
          </a:p>
          <a:p>
            <a:r>
              <a:rPr lang="es-MX" sz="1200" dirty="0" err="1">
                <a:latin typeface="Consolas" panose="020B0609020204030204" pitchFamily="49" charset="0"/>
              </a:rPr>
              <a:t>temp_f</a:t>
            </a:r>
            <a:r>
              <a:rPr lang="es-MX" sz="1200" dirty="0">
                <a:latin typeface="Consolas" panose="020B0609020204030204" pitchFamily="49" charset="0"/>
              </a:rPr>
              <a:t> = </a:t>
            </a:r>
            <a:r>
              <a:rPr lang="es-MX" sz="1200" dirty="0" err="1">
                <a:latin typeface="Consolas" panose="020B0609020204030204" pitchFamily="49" charset="0"/>
              </a:rPr>
              <a:t>celsius_a_fahrenheit</a:t>
            </a:r>
            <a:r>
              <a:rPr lang="es-MX" sz="1200" dirty="0">
                <a:latin typeface="Consolas" panose="020B0609020204030204" pitchFamily="49" charset="0"/>
              </a:rPr>
              <a:t>(23)</a:t>
            </a:r>
          </a:p>
          <a:p>
            <a:r>
              <a:rPr lang="es-MX" sz="1200" dirty="0" err="1">
                <a:latin typeface="Consolas" panose="020B0609020204030204" pitchFamily="49" charset="0"/>
              </a:rPr>
              <a:t>print</a:t>
            </a:r>
            <a:r>
              <a:rPr lang="es-MX" sz="1200" dirty="0">
                <a:latin typeface="Consolas" panose="020B0609020204030204" pitchFamily="49" charset="0"/>
              </a:rPr>
              <a:t>("23 °C =", </a:t>
            </a:r>
            <a:r>
              <a:rPr lang="es-MX" sz="1200" dirty="0" err="1">
                <a:latin typeface="Consolas" panose="020B0609020204030204" pitchFamily="49" charset="0"/>
              </a:rPr>
              <a:t>temp_f</a:t>
            </a:r>
            <a:r>
              <a:rPr lang="es-MX" sz="1200" dirty="0">
                <a:latin typeface="Consolas" panose="020B0609020204030204" pitchFamily="49" charset="0"/>
              </a:rPr>
              <a:t>, "°F")</a:t>
            </a:r>
          </a:p>
          <a:p>
            <a:r>
              <a:rPr lang="es-MX" sz="1200" dirty="0" err="1">
                <a:latin typeface="Consolas" panose="020B0609020204030204" pitchFamily="49" charset="0"/>
              </a:rPr>
              <a:t>print</a:t>
            </a:r>
            <a:r>
              <a:rPr lang="es-MX" sz="1200" dirty="0">
                <a:latin typeface="Consolas" panose="020B0609020204030204" pitchFamily="49" charset="0"/>
              </a:rPr>
              <a:t>("Conversiones:", conversiones)</a:t>
            </a:r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25" name="CuadroTexto 24">
            <a:hlinkClick r:id="rId2"/>
            <a:extLst>
              <a:ext uri="{FF2B5EF4-FFF2-40B4-BE49-F238E27FC236}">
                <a16:creationId xmlns:a16="http://schemas.microsoft.com/office/drawing/2014/main" id="{3658ECAE-DAAE-45DD-9BAA-B8ED9E8E0D15}"/>
              </a:ext>
            </a:extLst>
          </p:cNvPr>
          <p:cNvSpPr txBox="1"/>
          <p:nvPr/>
        </p:nvSpPr>
        <p:spPr>
          <a:xfrm>
            <a:off x="1476531" y="4221088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2"/>
              </a:rPr>
              <a:t>Link simulación</a:t>
            </a:r>
            <a:endParaRPr lang="es-CO" sz="12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A795D73-BD52-414F-AFA8-E36438AA7E48}"/>
              </a:ext>
            </a:extLst>
          </p:cNvPr>
          <p:cNvSpPr txBox="1"/>
          <p:nvPr/>
        </p:nvSpPr>
        <p:spPr>
          <a:xfrm>
            <a:off x="4427986" y="2051556"/>
            <a:ext cx="4176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accent5"/>
                </a:solidFill>
              </a:rPr>
              <a:t>No</a:t>
            </a:r>
            <a:r>
              <a:rPr lang="es-MX" b="1" dirty="0"/>
              <a:t>: modificar una global con </a:t>
            </a:r>
            <a:r>
              <a:rPr lang="es-MX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global</a:t>
            </a:r>
            <a:endParaRPr lang="es-CO" b="1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DBD656B-98A5-4B51-BE37-32316D62CB7E}"/>
              </a:ext>
            </a:extLst>
          </p:cNvPr>
          <p:cNvSpPr txBox="1"/>
          <p:nvPr/>
        </p:nvSpPr>
        <p:spPr>
          <a:xfrm>
            <a:off x="323528" y="1918573"/>
            <a:ext cx="3759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rgbClr val="00B050"/>
                </a:solidFill>
              </a:rPr>
              <a:t>Si</a:t>
            </a:r>
            <a:r>
              <a:rPr lang="es-CO" dirty="0"/>
              <a:t>: </a:t>
            </a:r>
            <a:r>
              <a:rPr lang="es-CO" b="1" dirty="0"/>
              <a:t>c</a:t>
            </a:r>
            <a:r>
              <a:rPr lang="es-MX" b="1" dirty="0"/>
              <a:t>onstantes globales</a:t>
            </a:r>
            <a:r>
              <a:rPr lang="es-MX" dirty="0"/>
              <a:t> (en MAYÚSCULA; su valor nunca cambia)</a:t>
            </a:r>
            <a:endParaRPr lang="es-CO" b="1" dirty="0"/>
          </a:p>
        </p:txBody>
      </p:sp>
      <p:sp>
        <p:nvSpPr>
          <p:cNvPr id="15" name="CuadroTexto 14">
            <a:hlinkClick r:id="rId2"/>
            <a:extLst>
              <a:ext uri="{FF2B5EF4-FFF2-40B4-BE49-F238E27FC236}">
                <a16:creationId xmlns:a16="http://schemas.microsoft.com/office/drawing/2014/main" id="{A2B5DBF8-8C6B-4D65-9F4B-05EE7F678AA4}"/>
              </a:ext>
            </a:extLst>
          </p:cNvPr>
          <p:cNvSpPr txBox="1"/>
          <p:nvPr/>
        </p:nvSpPr>
        <p:spPr>
          <a:xfrm>
            <a:off x="5827989" y="5545400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3"/>
              </a:rPr>
              <a:t>Link simulación</a:t>
            </a:r>
            <a:endParaRPr lang="es-CO" sz="12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FB0EDE6-2AA3-43E3-A4EF-EA5603DEFE7C}"/>
              </a:ext>
            </a:extLst>
          </p:cNvPr>
          <p:cNvSpPr txBox="1"/>
          <p:nvPr/>
        </p:nvSpPr>
        <p:spPr>
          <a:xfrm>
            <a:off x="402964" y="6248345"/>
            <a:ext cx="370279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25 °C = 298.15 K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0013565-42EB-42AD-8933-619D6A34A9E5}"/>
              </a:ext>
            </a:extLst>
          </p:cNvPr>
          <p:cNvSpPr txBox="1"/>
          <p:nvPr/>
        </p:nvSpPr>
        <p:spPr>
          <a:xfrm>
            <a:off x="4397601" y="6207695"/>
            <a:ext cx="4572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23 °C = 73.4 °F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Conversiones: 3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9016B5F-0537-4FB6-B4F5-41B8BAA7EF37}"/>
              </a:ext>
            </a:extLst>
          </p:cNvPr>
          <p:cNvSpPr txBox="1"/>
          <p:nvPr/>
        </p:nvSpPr>
        <p:spPr>
          <a:xfrm>
            <a:off x="352355" y="5898758"/>
            <a:ext cx="21147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/>
              <a:t>Salida en pantalla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FD198C7-6FD0-475B-AAF9-28238F29CD78}"/>
              </a:ext>
            </a:extLst>
          </p:cNvPr>
          <p:cNvSpPr txBox="1"/>
          <p:nvPr/>
        </p:nvSpPr>
        <p:spPr>
          <a:xfrm>
            <a:off x="4363530" y="5877272"/>
            <a:ext cx="21147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/>
              <a:t>Salida en pantalla</a:t>
            </a:r>
          </a:p>
        </p:txBody>
      </p:sp>
    </p:spTree>
    <p:extLst>
      <p:ext uri="{BB962C8B-B14F-4D97-AF65-F5344CB8AC3E}">
        <p14:creationId xmlns:p14="http://schemas.microsoft.com/office/powerpoint/2010/main" val="2399577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08782" y="116632"/>
            <a:ext cx="8835218" cy="720452"/>
          </a:xfrm>
        </p:spPr>
        <p:txBody>
          <a:bodyPr>
            <a:noAutofit/>
          </a:bodyPr>
          <a:lstStyle/>
          <a:p>
            <a:r>
              <a:rPr lang="es-MX" sz="3600" dirty="0"/>
              <a:t>Errores típicos de ámbito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308782" y="829161"/>
            <a:ext cx="861354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dirty="0"/>
              <a:t>Si no se respeta el ámbito de las variables, Python lo avisa con un </a:t>
            </a:r>
            <a:r>
              <a:rPr lang="es-MX" sz="2000" b="1" dirty="0"/>
              <a:t>error</a:t>
            </a:r>
            <a:r>
              <a:rPr lang="es-MX" sz="2000" dirty="0"/>
              <a:t>.</a:t>
            </a:r>
          </a:p>
          <a:p>
            <a:r>
              <a:rPr lang="es-MX" sz="2000" b="1" dirty="0"/>
              <a:t>Caso 1</a:t>
            </a:r>
            <a:r>
              <a:rPr lang="es-MX" sz="2000" dirty="0"/>
              <a:t>: usar afuera una variable local.</a:t>
            </a:r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r>
              <a:rPr lang="es-MX" sz="2000" b="1" dirty="0"/>
              <a:t>Caso 2</a:t>
            </a:r>
            <a:r>
              <a:rPr lang="es-MX" sz="2000" dirty="0"/>
              <a:t>: modificar una global sin global.</a:t>
            </a:r>
          </a:p>
        </p:txBody>
      </p:sp>
      <p:graphicFrame>
        <p:nvGraphicFramePr>
          <p:cNvPr id="11" name="Tabla 13">
            <a:extLst>
              <a:ext uri="{FF2B5EF4-FFF2-40B4-BE49-F238E27FC236}">
                <a16:creationId xmlns:a16="http://schemas.microsoft.com/office/drawing/2014/main" id="{9CF57A04-D806-41E6-9CD2-FD4CC369A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77181"/>
              </p:ext>
            </p:extLst>
          </p:nvPr>
        </p:nvGraphicFramePr>
        <p:xfrm>
          <a:off x="581177" y="1625352"/>
          <a:ext cx="3702791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02791">
                  <a:extLst>
                    <a:ext uri="{9D8B030D-6E8A-4147-A177-3AD203B41FA5}">
                      <a16:colId xmlns:a16="http://schemas.microsoft.com/office/drawing/2014/main" val="499056580"/>
                    </a:ext>
                  </a:extLst>
                </a:gridCol>
              </a:tblGrid>
              <a:tr h="887432">
                <a:tc>
                  <a:txBody>
                    <a:bodyPr/>
                    <a:lstStyle/>
                    <a:p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def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celsius_a_fahrenheit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temp_c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):</a:t>
                      </a:r>
                    </a:p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temp_f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 = (9 / 5) * 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temp_c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 + 32</a:t>
                      </a:r>
                    </a:p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temp_f</a:t>
                      </a:r>
                      <a:endParaRPr lang="es-CO" sz="1200" dirty="0">
                        <a:latin typeface="Consolas" panose="020B0609020204030204" pitchFamily="49" charset="0"/>
                      </a:endParaRPr>
                    </a:p>
                    <a:p>
                      <a:endParaRPr lang="es-CO" sz="12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dirty="0">
                          <a:latin typeface="Consolas" panose="020B0609020204030204" pitchFamily="49" charset="0"/>
                        </a:rPr>
                        <a:t># el resultado no se guarda</a:t>
                      </a:r>
                    </a:p>
                    <a:p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celsius_a_fahrenheit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(23)     </a:t>
                      </a:r>
                    </a:p>
                    <a:p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temp_f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050"/>
                  </a:ext>
                </a:extLst>
              </a:tr>
            </a:tbl>
          </a:graphicData>
        </a:graphic>
      </p:graphicFrame>
      <p:sp>
        <p:nvSpPr>
          <p:cNvPr id="24" name="CuadroTexto 23">
            <a:extLst>
              <a:ext uri="{FF2B5EF4-FFF2-40B4-BE49-F238E27FC236}">
                <a16:creationId xmlns:a16="http://schemas.microsoft.com/office/drawing/2014/main" id="{CE49B199-3734-442D-8D46-36A677AFFBAD}"/>
              </a:ext>
            </a:extLst>
          </p:cNvPr>
          <p:cNvSpPr txBox="1"/>
          <p:nvPr/>
        </p:nvSpPr>
        <p:spPr>
          <a:xfrm>
            <a:off x="581177" y="3803556"/>
            <a:ext cx="3702791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conversiones = 0</a:t>
            </a:r>
          </a:p>
          <a:p>
            <a:endParaRPr lang="es-MX" sz="1200" dirty="0">
              <a:latin typeface="Consolas" panose="020B0609020204030204" pitchFamily="49" charset="0"/>
            </a:endParaRPr>
          </a:p>
          <a:p>
            <a:r>
              <a:rPr lang="es-MX" sz="1200" dirty="0" err="1">
                <a:latin typeface="Consolas" panose="020B0609020204030204" pitchFamily="49" charset="0"/>
              </a:rPr>
              <a:t>def</a:t>
            </a:r>
            <a:r>
              <a:rPr lang="es-MX" sz="1200" dirty="0">
                <a:latin typeface="Consolas" panose="020B0609020204030204" pitchFamily="49" charset="0"/>
              </a:rPr>
              <a:t> </a:t>
            </a:r>
            <a:r>
              <a:rPr lang="es-MX" sz="1200" dirty="0" err="1">
                <a:latin typeface="Consolas" panose="020B0609020204030204" pitchFamily="49" charset="0"/>
              </a:rPr>
              <a:t>celsius_a_fahrenheit</a:t>
            </a:r>
            <a:r>
              <a:rPr lang="es-MX" sz="1200" dirty="0">
                <a:latin typeface="Consolas" panose="020B0609020204030204" pitchFamily="49" charset="0"/>
              </a:rPr>
              <a:t>(</a:t>
            </a:r>
            <a:r>
              <a:rPr lang="es-MX" sz="1200" dirty="0" err="1">
                <a:latin typeface="Consolas" panose="020B0609020204030204" pitchFamily="49" charset="0"/>
              </a:rPr>
              <a:t>temp_c</a:t>
            </a:r>
            <a:r>
              <a:rPr lang="es-MX" sz="1200" dirty="0">
                <a:latin typeface="Consolas" panose="020B0609020204030204" pitchFamily="49" charset="0"/>
              </a:rPr>
              <a:t>):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conversiones = conversiones + 1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latin typeface="Consolas" panose="020B0609020204030204" pitchFamily="49" charset="0"/>
              </a:rPr>
              <a:t>temp_f</a:t>
            </a:r>
            <a:r>
              <a:rPr lang="es-MX" sz="1200" dirty="0">
                <a:latin typeface="Consolas" panose="020B0609020204030204" pitchFamily="49" charset="0"/>
              </a:rPr>
              <a:t> = (9 / 5) * </a:t>
            </a:r>
            <a:r>
              <a:rPr lang="es-MX" sz="1200" dirty="0" err="1">
                <a:latin typeface="Consolas" panose="020B0609020204030204" pitchFamily="49" charset="0"/>
              </a:rPr>
              <a:t>temp_c</a:t>
            </a:r>
            <a:r>
              <a:rPr lang="es-MX" sz="1200" dirty="0">
                <a:latin typeface="Consolas" panose="020B0609020204030204" pitchFamily="49" charset="0"/>
              </a:rPr>
              <a:t> + 32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return </a:t>
            </a:r>
            <a:r>
              <a:rPr lang="es-MX" sz="1200" dirty="0" err="1">
                <a:latin typeface="Consolas" panose="020B0609020204030204" pitchFamily="49" charset="0"/>
              </a:rPr>
              <a:t>temp_f</a:t>
            </a:r>
            <a:endParaRPr lang="es-MX" sz="1200" dirty="0">
              <a:latin typeface="Consolas" panose="020B0609020204030204" pitchFamily="49" charset="0"/>
            </a:endParaRPr>
          </a:p>
          <a:p>
            <a:endParaRPr lang="es-MX" sz="1200" dirty="0">
              <a:latin typeface="Consolas" panose="020B0609020204030204" pitchFamily="49" charset="0"/>
            </a:endParaRPr>
          </a:p>
          <a:p>
            <a:r>
              <a:rPr lang="es-MX" sz="1200" dirty="0" err="1">
                <a:latin typeface="Consolas" panose="020B0609020204030204" pitchFamily="49" charset="0"/>
              </a:rPr>
              <a:t>temp_f</a:t>
            </a:r>
            <a:r>
              <a:rPr lang="es-MX" sz="1200" dirty="0">
                <a:latin typeface="Consolas" panose="020B0609020204030204" pitchFamily="49" charset="0"/>
              </a:rPr>
              <a:t> = </a:t>
            </a:r>
            <a:r>
              <a:rPr lang="es-MX" sz="1200" dirty="0" err="1">
                <a:latin typeface="Consolas" panose="020B0609020204030204" pitchFamily="49" charset="0"/>
              </a:rPr>
              <a:t>celsius_a_fahrenheit</a:t>
            </a:r>
            <a:r>
              <a:rPr lang="es-MX" sz="1200" dirty="0">
                <a:latin typeface="Consolas" panose="020B0609020204030204" pitchFamily="49" charset="0"/>
              </a:rPr>
              <a:t>(23)</a:t>
            </a:r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25" name="CuadroTexto 24">
            <a:hlinkClick r:id="rId2"/>
            <a:extLst>
              <a:ext uri="{FF2B5EF4-FFF2-40B4-BE49-F238E27FC236}">
                <a16:creationId xmlns:a16="http://schemas.microsoft.com/office/drawing/2014/main" id="{3658ECAE-DAAE-45DD-9BAA-B8ED9E8E0D15}"/>
              </a:ext>
            </a:extLst>
          </p:cNvPr>
          <p:cNvSpPr txBox="1"/>
          <p:nvPr/>
        </p:nvSpPr>
        <p:spPr>
          <a:xfrm>
            <a:off x="1539362" y="5384249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3"/>
              </a:rPr>
              <a:t>Link simulación</a:t>
            </a:r>
            <a:endParaRPr lang="es-CO" sz="1200" dirty="0"/>
          </a:p>
        </p:txBody>
      </p:sp>
      <p:sp>
        <p:nvSpPr>
          <p:cNvPr id="15" name="CuadroTexto 14">
            <a:hlinkClick r:id="rId2"/>
            <a:extLst>
              <a:ext uri="{FF2B5EF4-FFF2-40B4-BE49-F238E27FC236}">
                <a16:creationId xmlns:a16="http://schemas.microsoft.com/office/drawing/2014/main" id="{A2B5DBF8-8C6B-4D65-9F4B-05EE7F678AA4}"/>
              </a:ext>
            </a:extLst>
          </p:cNvPr>
          <p:cNvSpPr txBox="1"/>
          <p:nvPr/>
        </p:nvSpPr>
        <p:spPr>
          <a:xfrm>
            <a:off x="1547664" y="3002057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4"/>
              </a:rPr>
              <a:t>Link simulación</a:t>
            </a:r>
            <a:endParaRPr lang="es-CO" sz="12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FB0EDE6-2AA3-43E3-A4EF-EA5603DEFE7C}"/>
              </a:ext>
            </a:extLst>
          </p:cNvPr>
          <p:cNvSpPr txBox="1"/>
          <p:nvPr/>
        </p:nvSpPr>
        <p:spPr>
          <a:xfrm>
            <a:off x="4726391" y="1772816"/>
            <a:ext cx="370279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NameError</a:t>
            </a:r>
            <a:r>
              <a:rPr lang="en-US" sz="1200" dirty="0">
                <a:latin typeface="Consolas" panose="020B0609020204030204" pitchFamily="49" charset="0"/>
              </a:rPr>
              <a:t>: name '</a:t>
            </a:r>
            <a:r>
              <a:rPr lang="en-US" sz="1200" dirty="0" err="1">
                <a:latin typeface="Consolas" panose="020B0609020204030204" pitchFamily="49" charset="0"/>
              </a:rPr>
              <a:t>temp_f</a:t>
            </a:r>
            <a:r>
              <a:rPr lang="en-US" sz="1200" dirty="0">
                <a:latin typeface="Consolas" panose="020B0609020204030204" pitchFamily="49" charset="0"/>
              </a:rPr>
              <a:t>' is not defined</a:t>
            </a:r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0013565-42EB-42AD-8933-619D6A34A9E5}"/>
              </a:ext>
            </a:extLst>
          </p:cNvPr>
          <p:cNvSpPr txBox="1"/>
          <p:nvPr/>
        </p:nvSpPr>
        <p:spPr>
          <a:xfrm>
            <a:off x="4752528" y="4149080"/>
            <a:ext cx="370279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UnboundLocalError</a:t>
            </a:r>
            <a:r>
              <a:rPr lang="en-US" sz="1200" dirty="0">
                <a:latin typeface="Consolas" panose="020B0609020204030204" pitchFamily="49" charset="0"/>
              </a:rPr>
              <a:t>: cannot access local variable '</a:t>
            </a:r>
            <a:r>
              <a:rPr lang="en-US" sz="1200" dirty="0" err="1">
                <a:latin typeface="Consolas" panose="020B0609020204030204" pitchFamily="49" charset="0"/>
              </a:rPr>
              <a:t>conversiones</a:t>
            </a:r>
            <a:r>
              <a:rPr lang="en-US" sz="1200" dirty="0">
                <a:latin typeface="Consolas" panose="020B0609020204030204" pitchFamily="49" charset="0"/>
              </a:rPr>
              <a:t>' where it is not associated with a value</a:t>
            </a:r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9016B5F-0537-4FB6-B4F5-41B8BAA7EF37}"/>
              </a:ext>
            </a:extLst>
          </p:cNvPr>
          <p:cNvSpPr txBox="1"/>
          <p:nvPr/>
        </p:nvSpPr>
        <p:spPr>
          <a:xfrm>
            <a:off x="4761466" y="1412776"/>
            <a:ext cx="21147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/>
              <a:t>Salida en pantalla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FD198C7-6FD0-475B-AAF9-28238F29CD78}"/>
              </a:ext>
            </a:extLst>
          </p:cNvPr>
          <p:cNvSpPr txBox="1"/>
          <p:nvPr/>
        </p:nvSpPr>
        <p:spPr>
          <a:xfrm>
            <a:off x="4657069" y="3789040"/>
            <a:ext cx="21147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/>
              <a:t>Salida en pantalla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E3E852D-135A-413A-A68B-B69A3D7455CA}"/>
              </a:ext>
            </a:extLst>
          </p:cNvPr>
          <p:cNvSpPr txBox="1"/>
          <p:nvPr/>
        </p:nvSpPr>
        <p:spPr>
          <a:xfrm>
            <a:off x="539552" y="5949280"/>
            <a:ext cx="7987774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CO" dirty="0"/>
              <a:t>Las variables globales hacen que los programas sean difíciles de entender y depurar.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07C6454-B67F-40E6-B06D-5CECAA123D76}"/>
              </a:ext>
            </a:extLst>
          </p:cNvPr>
          <p:cNvSpPr txBox="1"/>
          <p:nvPr/>
        </p:nvSpPr>
        <p:spPr>
          <a:xfrm>
            <a:off x="4470148" y="2370946"/>
            <a:ext cx="4604580" cy="5539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CO" sz="1600" b="1" dirty="0">
                <a:solidFill>
                  <a:schemeClr val="accent4"/>
                </a:solidFill>
              </a:rPr>
              <a:t>Solución</a:t>
            </a:r>
          </a:p>
          <a:p>
            <a:r>
              <a:rPr lang="es-CO" sz="1400" b="1" dirty="0"/>
              <a:t>Guardar el resultado</a:t>
            </a:r>
            <a:r>
              <a:rPr lang="es-CO" sz="1400" dirty="0"/>
              <a:t>: </a:t>
            </a:r>
            <a:r>
              <a:rPr lang="es-CO" sz="1200" dirty="0" err="1">
                <a:latin typeface="Consolas" panose="020B0609020204030204" pitchFamily="49" charset="0"/>
              </a:rPr>
              <a:t>temp_f</a:t>
            </a:r>
            <a:r>
              <a:rPr lang="es-CO" sz="1200" dirty="0">
                <a:latin typeface="Consolas" panose="020B0609020204030204" pitchFamily="49" charset="0"/>
              </a:rPr>
              <a:t> = </a:t>
            </a:r>
            <a:r>
              <a:rPr lang="es-CO" sz="1200" dirty="0" err="1">
                <a:latin typeface="Consolas" panose="020B0609020204030204" pitchFamily="49" charset="0"/>
              </a:rPr>
              <a:t>celsius_a_fahrenheit</a:t>
            </a:r>
            <a:r>
              <a:rPr lang="es-CO" sz="1200" dirty="0">
                <a:latin typeface="Consolas" panose="020B0609020204030204" pitchFamily="49" charset="0"/>
              </a:rPr>
              <a:t>(23)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4A11684-E9F8-4677-ACE6-4FA9A8AAF888}"/>
              </a:ext>
            </a:extLst>
          </p:cNvPr>
          <p:cNvSpPr txBox="1"/>
          <p:nvPr/>
        </p:nvSpPr>
        <p:spPr>
          <a:xfrm>
            <a:off x="4391473" y="4881934"/>
            <a:ext cx="4604580" cy="5539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CO" sz="1600" b="1" dirty="0">
                <a:solidFill>
                  <a:schemeClr val="accent4"/>
                </a:solidFill>
              </a:rPr>
              <a:t>Recomendación</a:t>
            </a:r>
          </a:p>
          <a:p>
            <a:r>
              <a:rPr lang="es-MX" sz="1400" dirty="0"/>
              <a:t>Contar en el programa principal, no dentro de la función.</a:t>
            </a:r>
            <a:endParaRPr lang="es-CO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3194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08782" y="116632"/>
            <a:ext cx="8835218" cy="720452"/>
          </a:xfrm>
        </p:spPr>
        <p:txBody>
          <a:bodyPr>
            <a:noAutofit/>
          </a:bodyPr>
          <a:lstStyle/>
          <a:p>
            <a:r>
              <a:rPr lang="es-MX" sz="3600" dirty="0"/>
              <a:t>Formas de pasar argumentos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79512" y="692696"/>
            <a:ext cx="883521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dirty="0"/>
              <a:t>Python a diferencia de otros lenguajes de programación (como C por ejemplo), permite dos formas de pasar argumentos: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dirty="0"/>
              <a:t>Por posición</a:t>
            </a:r>
            <a:r>
              <a:rPr lang="es-MX" sz="2000" dirty="0"/>
              <a:t>: los argumentos se asignan en el mismo orden de los parámetros.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dirty="0"/>
              <a:t>Por nombre</a:t>
            </a:r>
            <a:r>
              <a:rPr lang="es-MX" sz="2000" dirty="0"/>
              <a:t>: se escribe </a:t>
            </a:r>
            <a:r>
              <a:rPr lang="es-MX" b="1" dirty="0">
                <a:latin typeface="Consolas" panose="020B0609020204030204" pitchFamily="49" charset="0"/>
              </a:rPr>
              <a:t>parametro = valor</a:t>
            </a:r>
            <a:r>
              <a:rPr lang="es-MX" sz="2000" dirty="0"/>
              <a:t>, y el orden no importa.</a:t>
            </a:r>
          </a:p>
        </p:txBody>
      </p:sp>
      <p:graphicFrame>
        <p:nvGraphicFramePr>
          <p:cNvPr id="11" name="Tabla 13">
            <a:extLst>
              <a:ext uri="{FF2B5EF4-FFF2-40B4-BE49-F238E27FC236}">
                <a16:creationId xmlns:a16="http://schemas.microsoft.com/office/drawing/2014/main" id="{9CF57A04-D806-41E6-9CD2-FD4CC369A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091541"/>
              </p:ext>
            </p:extLst>
          </p:nvPr>
        </p:nvGraphicFramePr>
        <p:xfrm>
          <a:off x="1589289" y="2638008"/>
          <a:ext cx="5863031" cy="3383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63031">
                  <a:extLst>
                    <a:ext uri="{9D8B030D-6E8A-4147-A177-3AD203B41FA5}">
                      <a16:colId xmlns:a16="http://schemas.microsoft.com/office/drawing/2014/main" val="499056580"/>
                    </a:ext>
                  </a:extLst>
                </a:gridCol>
              </a:tblGrid>
              <a:tr h="2230547">
                <a:tc>
                  <a:txBody>
                    <a:bodyPr/>
                    <a:lstStyle/>
                    <a:p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def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 factorial(n):</a:t>
                      </a:r>
                    </a:p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fact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 = 1</a:t>
                      </a:r>
                    </a:p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 i in 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range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(1, n + 1):</a:t>
                      </a:r>
                    </a:p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        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fact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fact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 * i</a:t>
                      </a:r>
                    </a:p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fact</a:t>
                      </a:r>
                      <a:endParaRPr lang="es-CO" sz="1200" dirty="0">
                        <a:latin typeface="Consolas" panose="020B0609020204030204" pitchFamily="49" charset="0"/>
                      </a:endParaRPr>
                    </a:p>
                    <a:p>
                      <a:endParaRPr lang="es-CO" sz="12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def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 seno(x, n):</a:t>
                      </a:r>
                    </a:p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    suma = 0</a:t>
                      </a:r>
                    </a:p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 k in 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range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(n):</a:t>
                      </a:r>
                    </a:p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        suma = suma + (-1)**k * x**(2*k + 1) / factorial(2*k + 1)</a:t>
                      </a:r>
                    </a:p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 suma</a:t>
                      </a:r>
                    </a:p>
                    <a:p>
                      <a:endParaRPr lang="es-CO" sz="12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a = seno(1.0, 3)          # por 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posicion</a:t>
                      </a:r>
                      <a:endParaRPr lang="es-CO" sz="12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b = seno(x=1.0, n=3)      # por nombre</a:t>
                      </a:r>
                    </a:p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c = seno(n=3, x=1.0)      # por nombre, en otro orden</a:t>
                      </a:r>
                    </a:p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d = seno(1.0, n=3)        # mezclados</a:t>
                      </a:r>
                    </a:p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# e = seno(n=3, 1.0)      # 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SyntaxError</a:t>
                      </a:r>
                      <a:endParaRPr lang="es-CO" sz="12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(a, b, c, 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050"/>
                  </a:ext>
                </a:extLst>
              </a:tr>
            </a:tbl>
          </a:graphicData>
        </a:graphic>
      </p:graphicFrame>
      <p:sp>
        <p:nvSpPr>
          <p:cNvPr id="15" name="CuadroTexto 14">
            <a:hlinkClick r:id="rId2"/>
            <a:extLst>
              <a:ext uri="{FF2B5EF4-FFF2-40B4-BE49-F238E27FC236}">
                <a16:creationId xmlns:a16="http://schemas.microsoft.com/office/drawing/2014/main" id="{A2B5DBF8-8C6B-4D65-9F4B-05EE7F678AA4}"/>
              </a:ext>
            </a:extLst>
          </p:cNvPr>
          <p:cNvSpPr txBox="1"/>
          <p:nvPr/>
        </p:nvSpPr>
        <p:spPr>
          <a:xfrm>
            <a:off x="3627594" y="5949280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3"/>
              </a:rPr>
              <a:t>Link simulación</a:t>
            </a:r>
            <a:endParaRPr lang="es-CO" sz="12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9016B5F-0537-4FB6-B4F5-41B8BAA7EF37}"/>
              </a:ext>
            </a:extLst>
          </p:cNvPr>
          <p:cNvSpPr txBox="1"/>
          <p:nvPr/>
        </p:nvSpPr>
        <p:spPr>
          <a:xfrm>
            <a:off x="154391" y="6228601"/>
            <a:ext cx="8835218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1600" b="1" dirty="0"/>
              <a:t>Regla: </a:t>
            </a:r>
            <a:r>
              <a:rPr lang="es-MX" sz="1600" dirty="0"/>
              <a:t>se pueden mezclar, pero los argumentos por nombre van después de los posicionales. Si no, Python no ejecuta ninguna línea: </a:t>
            </a:r>
            <a:r>
              <a:rPr lang="es-MX" sz="1400" b="1" dirty="0">
                <a:latin typeface="Consolas" panose="020B0609020204030204" pitchFamily="49" charset="0"/>
              </a:rPr>
              <a:t>SyntaxError: positional argument follows keyword argument</a:t>
            </a:r>
            <a:r>
              <a:rPr lang="es-MX" sz="1400" dirty="0">
                <a:latin typeface="Consolas" panose="020B0609020204030204" pitchFamily="49" charset="0"/>
              </a:rPr>
              <a:t>.</a:t>
            </a:r>
            <a:endParaRPr lang="es-CO" sz="1400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65DD407-B6E3-49BB-896B-88AA45E99CF5}"/>
                  </a:ext>
                </a:extLst>
              </p:cNvPr>
              <p:cNvSpPr txBox="1"/>
              <p:nvPr/>
            </p:nvSpPr>
            <p:spPr>
              <a:xfrm>
                <a:off x="2915816" y="1988840"/>
                <a:ext cx="3174587" cy="5597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MX" b="0" i="0" smtClean="0">
                              <a:latin typeface="Cambria Math" panose="02040503050406030204" pitchFamily="18" charset="0"/>
                            </a:rPr>
                            <m:t>sen</m:t>
                          </m:r>
                        </m:fName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=1−</m:t>
                          </m:r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3!</m:t>
                              </m:r>
                            </m:den>
                          </m:f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MX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MX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+…</m:t>
                          </m:r>
                        </m:e>
                      </m:func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65DD407-B6E3-49BB-896B-88AA45E99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1988840"/>
                <a:ext cx="3174587" cy="5597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6040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08782" y="116632"/>
            <a:ext cx="8835218" cy="720452"/>
          </a:xfrm>
        </p:spPr>
        <p:txBody>
          <a:bodyPr>
            <a:noAutofit/>
          </a:bodyPr>
          <a:lstStyle/>
          <a:p>
            <a:r>
              <a:rPr lang="es-MX" sz="3600" dirty="0"/>
              <a:t>Parámetros con valor por defecto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79512" y="692696"/>
            <a:ext cx="8613543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b="1" dirty="0"/>
              <a:t>Problema</a:t>
            </a:r>
            <a:r>
              <a:rPr lang="es-MX" sz="2000" dirty="0"/>
              <a:t>: con la versión anterior, si se omite </a:t>
            </a:r>
            <a:r>
              <a:rPr lang="es-MX" b="1" dirty="0">
                <a:latin typeface="Consolas" panose="020B0609020204030204" pitchFamily="49" charset="0"/>
              </a:rPr>
              <a:t>n</a:t>
            </a:r>
            <a:r>
              <a:rPr lang="es-MX" sz="2000" dirty="0"/>
              <a:t>:</a:t>
            </a:r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r>
              <a:rPr lang="es-MX" sz="2000" b="1" dirty="0"/>
              <a:t>Solución</a:t>
            </a:r>
            <a:r>
              <a:rPr lang="es-MX" sz="2000" dirty="0"/>
              <a:t>: Darle a </a:t>
            </a:r>
            <a:r>
              <a:rPr lang="es-MX" sz="2000" b="1" dirty="0">
                <a:latin typeface="Consolas" panose="020B0609020204030204" pitchFamily="49" charset="0"/>
              </a:rPr>
              <a:t>n</a:t>
            </a:r>
            <a:r>
              <a:rPr lang="es-MX" sz="2000" dirty="0"/>
              <a:t> un valor por defecto:</a:t>
            </a:r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r>
              <a:rPr lang="es-MX" sz="2000" b="1" dirty="0"/>
              <a:t>Salida en pantalla</a:t>
            </a:r>
            <a:r>
              <a:rPr lang="es-MX" sz="2000" dirty="0"/>
              <a:t>:</a:t>
            </a:r>
          </a:p>
        </p:txBody>
      </p:sp>
      <p:graphicFrame>
        <p:nvGraphicFramePr>
          <p:cNvPr id="11" name="Tabla 13">
            <a:extLst>
              <a:ext uri="{FF2B5EF4-FFF2-40B4-BE49-F238E27FC236}">
                <a16:creationId xmlns:a16="http://schemas.microsoft.com/office/drawing/2014/main" id="{9CF57A04-D806-41E6-9CD2-FD4CC369A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635152"/>
              </p:ext>
            </p:extLst>
          </p:nvPr>
        </p:nvGraphicFramePr>
        <p:xfrm>
          <a:off x="467544" y="1196752"/>
          <a:ext cx="7704856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04856">
                  <a:extLst>
                    <a:ext uri="{9D8B030D-6E8A-4147-A177-3AD203B41FA5}">
                      <a16:colId xmlns:a16="http://schemas.microsoft.com/office/drawing/2014/main" val="499056580"/>
                    </a:ext>
                  </a:extLst>
                </a:gridCol>
              </a:tblGrid>
              <a:tr h="40011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nsolas" panose="020B0609020204030204" pitchFamily="49" charset="0"/>
                        </a:rPr>
                        <a:t>&gt;&gt;&gt;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seno</a:t>
                      </a:r>
                      <a:r>
                        <a:rPr lang="en-US" sz="1200" dirty="0">
                          <a:latin typeface="Consolas" panose="020B0609020204030204" pitchFamily="49" charset="0"/>
                        </a:rPr>
                        <a:t>(1.0)</a:t>
                      </a:r>
                    </a:p>
                    <a:p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TypeError</a:t>
                      </a:r>
                      <a:r>
                        <a:rPr lang="en-US" sz="1200" dirty="0"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seno</a:t>
                      </a:r>
                      <a:r>
                        <a:rPr lang="en-US" sz="1200" dirty="0">
                          <a:latin typeface="Consolas" panose="020B0609020204030204" pitchFamily="49" charset="0"/>
                        </a:rPr>
                        <a:t>() missing 1 required positional argument: 'n'</a:t>
                      </a:r>
                      <a:endParaRPr lang="es-CO" sz="12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050"/>
                  </a:ext>
                </a:extLst>
              </a:tr>
            </a:tbl>
          </a:graphicData>
        </a:graphic>
      </p:graphicFrame>
      <p:sp>
        <p:nvSpPr>
          <p:cNvPr id="15" name="CuadroTexto 14">
            <a:hlinkClick r:id="rId2"/>
            <a:extLst>
              <a:ext uri="{FF2B5EF4-FFF2-40B4-BE49-F238E27FC236}">
                <a16:creationId xmlns:a16="http://schemas.microsoft.com/office/drawing/2014/main" id="{A2B5DBF8-8C6B-4D65-9F4B-05EE7F678AA4}"/>
              </a:ext>
            </a:extLst>
          </p:cNvPr>
          <p:cNvSpPr txBox="1"/>
          <p:nvPr/>
        </p:nvSpPr>
        <p:spPr>
          <a:xfrm>
            <a:off x="3563888" y="4160113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3"/>
              </a:rPr>
              <a:t>Link simulación</a:t>
            </a:r>
            <a:endParaRPr lang="es-CO" sz="12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9016B5F-0537-4FB6-B4F5-41B8BAA7EF37}"/>
              </a:ext>
            </a:extLst>
          </p:cNvPr>
          <p:cNvSpPr txBox="1"/>
          <p:nvPr/>
        </p:nvSpPr>
        <p:spPr>
          <a:xfrm>
            <a:off x="154391" y="6021288"/>
            <a:ext cx="8835218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1600" b="1" dirty="0"/>
              <a:t>Regla: </a:t>
            </a:r>
            <a:r>
              <a:rPr lang="es-MX" sz="1600" dirty="0"/>
              <a:t>los parámetros con valor por defecto van al final. </a:t>
            </a:r>
            <a:r>
              <a:rPr lang="es-MX" sz="14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def</a:t>
            </a:r>
            <a:r>
              <a:rPr lang="es-MX" sz="1400" b="1" dirty="0">
                <a:solidFill>
                  <a:schemeClr val="accent5"/>
                </a:solidFill>
                <a:latin typeface="Consolas" panose="020B0609020204030204" pitchFamily="49" charset="0"/>
              </a:rPr>
              <a:t> seno(n=10, x)</a:t>
            </a:r>
            <a:r>
              <a:rPr lang="es-MX" sz="1600" dirty="0"/>
              <a:t>: da </a:t>
            </a:r>
            <a:r>
              <a:rPr lang="es-MX" sz="1400" b="1" dirty="0">
                <a:latin typeface="Consolas" panose="020B0609020204030204" pitchFamily="49" charset="0"/>
              </a:rPr>
              <a:t>SyntaxError: </a:t>
            </a:r>
            <a:r>
              <a:rPr lang="es-MX" sz="1400" b="1" dirty="0" err="1">
                <a:latin typeface="Consolas" panose="020B0609020204030204" pitchFamily="49" charset="0"/>
              </a:rPr>
              <a:t>parameter</a:t>
            </a:r>
            <a:r>
              <a:rPr lang="es-MX" sz="1400" b="1" dirty="0">
                <a:latin typeface="Consolas" panose="020B0609020204030204" pitchFamily="49" charset="0"/>
              </a:rPr>
              <a:t> </a:t>
            </a:r>
            <a:r>
              <a:rPr lang="es-MX" sz="1400" b="1" dirty="0" err="1">
                <a:latin typeface="Consolas" panose="020B0609020204030204" pitchFamily="49" charset="0"/>
              </a:rPr>
              <a:t>without</a:t>
            </a:r>
            <a:r>
              <a:rPr lang="es-MX" sz="1400" b="1" dirty="0">
                <a:latin typeface="Consolas" panose="020B0609020204030204" pitchFamily="49" charset="0"/>
              </a:rPr>
              <a:t> a default follows </a:t>
            </a:r>
            <a:r>
              <a:rPr lang="es-MX" sz="1400" b="1" dirty="0" err="1">
                <a:latin typeface="Consolas" panose="020B0609020204030204" pitchFamily="49" charset="0"/>
              </a:rPr>
              <a:t>parameter</a:t>
            </a:r>
            <a:r>
              <a:rPr lang="es-MX" sz="1400" b="1" dirty="0">
                <a:latin typeface="Consolas" panose="020B0609020204030204" pitchFamily="49" charset="0"/>
              </a:rPr>
              <a:t> </a:t>
            </a:r>
            <a:r>
              <a:rPr lang="es-MX" sz="1400" b="1" dirty="0" err="1">
                <a:latin typeface="Consolas" panose="020B0609020204030204" pitchFamily="49" charset="0"/>
              </a:rPr>
              <a:t>with</a:t>
            </a:r>
            <a:r>
              <a:rPr lang="es-MX" sz="1400" b="1" dirty="0">
                <a:latin typeface="Consolas" panose="020B0609020204030204" pitchFamily="49" charset="0"/>
              </a:rPr>
              <a:t> a default</a:t>
            </a:r>
            <a:r>
              <a:rPr lang="es-MX" sz="1600" dirty="0"/>
              <a:t>.</a:t>
            </a:r>
          </a:p>
        </p:txBody>
      </p:sp>
      <p:graphicFrame>
        <p:nvGraphicFramePr>
          <p:cNvPr id="9" name="Tabla 13">
            <a:extLst>
              <a:ext uri="{FF2B5EF4-FFF2-40B4-BE49-F238E27FC236}">
                <a16:creationId xmlns:a16="http://schemas.microsoft.com/office/drawing/2014/main" id="{79FFFB57-F063-4D48-B021-39A624DE6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026987"/>
              </p:ext>
            </p:extLst>
          </p:nvPr>
        </p:nvGraphicFramePr>
        <p:xfrm>
          <a:off x="467544" y="2395736"/>
          <a:ext cx="7665074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65074">
                  <a:extLst>
                    <a:ext uri="{9D8B030D-6E8A-4147-A177-3AD203B41FA5}">
                      <a16:colId xmlns:a16="http://schemas.microsoft.com/office/drawing/2014/main" val="499056580"/>
                    </a:ext>
                  </a:extLst>
                </a:gridCol>
              </a:tblGrid>
              <a:tr h="40011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nsolas" panose="020B0609020204030204" pitchFamily="49" charset="0"/>
                        </a:rPr>
                        <a:t>def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seno</a:t>
                      </a:r>
                      <a:r>
                        <a:rPr lang="en-US" sz="1200" dirty="0">
                          <a:latin typeface="Consolas" panose="020B0609020204030204" pitchFamily="49" charset="0"/>
                        </a:rPr>
                        <a:t>(x, n=10):                 #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parámetro</a:t>
                      </a:r>
                      <a:r>
                        <a:rPr lang="en-US" sz="1200" dirty="0">
                          <a:latin typeface="Consolas" panose="020B0609020204030204" pitchFamily="49" charset="0"/>
                        </a:rPr>
                        <a:t> con valor por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defecto</a:t>
                      </a:r>
                      <a:endParaRPr lang="en-US" sz="12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suma</a:t>
                      </a:r>
                      <a:r>
                        <a:rPr lang="en-US" sz="1200" dirty="0">
                          <a:latin typeface="Consolas" panose="020B0609020204030204" pitchFamily="49" charset="0"/>
                        </a:rPr>
                        <a:t> = 0</a:t>
                      </a:r>
                    </a:p>
                    <a:p>
                      <a:r>
                        <a:rPr lang="en-US" sz="1200" dirty="0">
                          <a:latin typeface="Consolas" panose="020B0609020204030204" pitchFamily="49" charset="0"/>
                        </a:rPr>
                        <a:t>    for k in range(n):</a:t>
                      </a:r>
                    </a:p>
                    <a:p>
                      <a:r>
                        <a:rPr lang="en-US" sz="1200" dirty="0">
                          <a:latin typeface="Consolas" panose="020B0609020204030204" pitchFamily="49" charset="0"/>
                        </a:rPr>
                        <a:t>       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suma</a:t>
                      </a:r>
                      <a:r>
                        <a:rPr lang="en-US" sz="1200" dirty="0"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suma</a:t>
                      </a:r>
                      <a:r>
                        <a:rPr lang="en-US" sz="1200" dirty="0">
                          <a:latin typeface="Consolas" panose="020B0609020204030204" pitchFamily="49" charset="0"/>
                        </a:rPr>
                        <a:t> + (-1)**k * x**(2*k + 1) / factorial(2*k + 1)</a:t>
                      </a:r>
                    </a:p>
                    <a:p>
                      <a:r>
                        <a:rPr lang="en-US" sz="1200" dirty="0">
                          <a:latin typeface="Consolas" panose="020B0609020204030204" pitchFamily="49" charset="0"/>
                        </a:rPr>
                        <a:t>    return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suma</a:t>
                      </a:r>
                      <a:endParaRPr lang="en-US" sz="1200" dirty="0">
                        <a:latin typeface="Consolas" panose="020B0609020204030204" pitchFamily="49" charset="0"/>
                      </a:endParaRPr>
                    </a:p>
                    <a:p>
                      <a:endParaRPr lang="en-US" sz="12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dirty="0">
                          <a:latin typeface="Consolas" panose="020B0609020204030204" pitchFamily="49" charset="0"/>
                        </a:rPr>
                        <a:t>a =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seno</a:t>
                      </a:r>
                      <a:r>
                        <a:rPr lang="en-US" sz="1200" dirty="0">
                          <a:latin typeface="Consolas" panose="020B0609020204030204" pitchFamily="49" charset="0"/>
                        </a:rPr>
                        <a:t>(1.0)          # ←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argumento</a:t>
                      </a:r>
                      <a:r>
                        <a:rPr lang="en-US" sz="12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omitido</a:t>
                      </a:r>
                      <a:r>
                        <a:rPr lang="en-US" sz="1200" dirty="0"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usa</a:t>
                      </a:r>
                      <a:r>
                        <a:rPr lang="en-US" sz="1200" dirty="0">
                          <a:latin typeface="Consolas" panose="020B0609020204030204" pitchFamily="49" charset="0"/>
                        </a:rPr>
                        <a:t> n = 10</a:t>
                      </a:r>
                    </a:p>
                    <a:p>
                      <a:r>
                        <a:rPr lang="en-US" sz="1200" dirty="0">
                          <a:latin typeface="Consolas" panose="020B0609020204030204" pitchFamily="49" charset="0"/>
                        </a:rPr>
                        <a:t>b =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seno</a:t>
                      </a:r>
                      <a:r>
                        <a:rPr lang="en-US" sz="1200" dirty="0">
                          <a:latin typeface="Consolas" panose="020B0609020204030204" pitchFamily="49" charset="0"/>
                        </a:rPr>
                        <a:t>(1.0, 3)       # n = 3</a:t>
                      </a:r>
                    </a:p>
                    <a:p>
                      <a:r>
                        <a:rPr lang="en-US" sz="1200" dirty="0">
                          <a:latin typeface="Consolas" panose="020B0609020204030204" pitchFamily="49" charset="0"/>
                        </a:rPr>
                        <a:t>c =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seno</a:t>
                      </a:r>
                      <a:r>
                        <a:rPr lang="en-US" sz="1200" dirty="0">
                          <a:latin typeface="Consolas" panose="020B0609020204030204" pitchFamily="49" charset="0"/>
                        </a:rPr>
                        <a:t>(n=3, x=1.0)   # ←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argumentos</a:t>
                      </a:r>
                      <a:r>
                        <a:rPr lang="en-US" sz="12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asignados</a:t>
                      </a:r>
                      <a:r>
                        <a:rPr lang="en-US" sz="1200" dirty="0">
                          <a:latin typeface="Consolas" panose="020B0609020204030204" pitchFamily="49" charset="0"/>
                        </a:rPr>
                        <a:t> por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nombre</a:t>
                      </a:r>
                      <a:endParaRPr lang="es-CO" sz="12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050"/>
                  </a:ext>
                </a:extLst>
              </a:tr>
            </a:tbl>
          </a:graphicData>
        </a:graphic>
      </p:graphicFrame>
      <p:graphicFrame>
        <p:nvGraphicFramePr>
          <p:cNvPr id="10" name="Tabla 13">
            <a:extLst>
              <a:ext uri="{FF2B5EF4-FFF2-40B4-BE49-F238E27FC236}">
                <a16:creationId xmlns:a16="http://schemas.microsoft.com/office/drawing/2014/main" id="{78D12777-E414-426E-94A4-4D7897759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888081"/>
              </p:ext>
            </p:extLst>
          </p:nvPr>
        </p:nvGraphicFramePr>
        <p:xfrm>
          <a:off x="467544" y="4910494"/>
          <a:ext cx="7665074" cy="6530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65074">
                  <a:extLst>
                    <a:ext uri="{9D8B030D-6E8A-4147-A177-3AD203B41FA5}">
                      <a16:colId xmlns:a16="http://schemas.microsoft.com/office/drawing/2014/main" val="499056580"/>
                    </a:ext>
                  </a:extLst>
                </a:gridCol>
              </a:tblGrid>
              <a:tr h="653028">
                <a:tc>
                  <a:txBody>
                    <a:bodyPr/>
                    <a:lstStyle/>
                    <a:p>
                      <a:r>
                        <a:rPr lang="es-MX" sz="1200" dirty="0">
                          <a:latin typeface="Consolas" panose="020B0609020204030204" pitchFamily="49" charset="0"/>
                        </a:rPr>
                        <a:t>0.8414709848078965     ← 10 términos: coincide con el valor real</a:t>
                      </a:r>
                    </a:p>
                    <a:p>
                      <a:r>
                        <a:rPr lang="es-MX" sz="1200" dirty="0">
                          <a:latin typeface="Consolas" panose="020B0609020204030204" pitchFamily="49" charset="0"/>
                        </a:rPr>
                        <a:t>0.841</a:t>
                      </a:r>
                      <a:r>
                        <a:rPr lang="es-MX" sz="1200" dirty="0">
                          <a:solidFill>
                            <a:schemeClr val="accent5"/>
                          </a:solidFill>
                          <a:latin typeface="Consolas" panose="020B0609020204030204" pitchFamily="49" charset="0"/>
                        </a:rPr>
                        <a:t>6666666666667</a:t>
                      </a:r>
                      <a:r>
                        <a:rPr lang="es-MX" sz="1200" dirty="0">
                          <a:latin typeface="Consolas" panose="020B0609020204030204" pitchFamily="49" charset="0"/>
                        </a:rPr>
                        <a:t>     ← 3 términos: error en la 4.ª cifra</a:t>
                      </a:r>
                    </a:p>
                    <a:p>
                      <a:r>
                        <a:rPr lang="es-MX" sz="1200" dirty="0">
                          <a:latin typeface="Consolas" panose="020B0609020204030204" pitchFamily="49" charset="0"/>
                        </a:rPr>
                        <a:t>0.841</a:t>
                      </a:r>
                      <a:r>
                        <a:rPr lang="es-MX" sz="1200" dirty="0">
                          <a:solidFill>
                            <a:schemeClr val="accent5"/>
                          </a:solidFill>
                          <a:latin typeface="Consolas" panose="020B0609020204030204" pitchFamily="49" charset="0"/>
                        </a:rPr>
                        <a:t>6666666666667</a:t>
                      </a:r>
                      <a:endParaRPr lang="es-CO" sz="1200" dirty="0">
                        <a:solidFill>
                          <a:schemeClr val="accent5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83836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08782" y="116632"/>
            <a:ext cx="8835218" cy="720452"/>
          </a:xfrm>
        </p:spPr>
        <p:txBody>
          <a:bodyPr>
            <a:noAutofit/>
          </a:bodyPr>
          <a:lstStyle/>
          <a:p>
            <a:r>
              <a:rPr lang="es-MX" sz="3600" dirty="0"/>
              <a:t>Una función que llama a otra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79512" y="692696"/>
            <a:ext cx="8835218" cy="6032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Una función puede usar otras funciones.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Esto permite construir programas grandes a partir de piezas pequeñas y ya probadas.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r>
              <a:rPr lang="es-MX" dirty="0"/>
              <a:t>Lo anterior permite: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1" dirty="0"/>
              <a:t>Reutilización</a:t>
            </a:r>
            <a:r>
              <a:rPr lang="es-MX" dirty="0"/>
              <a:t>: </a:t>
            </a:r>
            <a:r>
              <a:rPr lang="es-MX" sz="1600" b="1" dirty="0">
                <a:latin typeface="Consolas" panose="020B0609020204030204" pitchFamily="49" charset="0"/>
              </a:rPr>
              <a:t>factorial</a:t>
            </a:r>
            <a:r>
              <a:rPr lang="es-MX" dirty="0"/>
              <a:t> se escribe y se prueba una vez, y se usa donde se necesite.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1" dirty="0"/>
              <a:t>Abstracción</a:t>
            </a:r>
            <a:r>
              <a:rPr lang="es-MX" dirty="0"/>
              <a:t>: </a:t>
            </a:r>
            <a:r>
              <a:rPr lang="es-MX" sz="1600" b="1" dirty="0">
                <a:latin typeface="Consolas" panose="020B0609020204030204" pitchFamily="49" charset="0"/>
              </a:rPr>
              <a:t>seno</a:t>
            </a:r>
            <a:r>
              <a:rPr lang="es-MX" dirty="0"/>
              <a:t> solo necesita saber </a:t>
            </a:r>
            <a:r>
              <a:rPr lang="es-MX" b="1" dirty="0"/>
              <a:t>qué</a:t>
            </a:r>
            <a:r>
              <a:rPr lang="es-MX" dirty="0"/>
              <a:t> hace </a:t>
            </a:r>
            <a:r>
              <a:rPr lang="es-MX" sz="1600" b="1" dirty="0">
                <a:latin typeface="Consolas" panose="020B0609020204030204" pitchFamily="49" charset="0"/>
              </a:rPr>
              <a:t>factorial</a:t>
            </a:r>
            <a:r>
              <a:rPr lang="es-MX" dirty="0"/>
              <a:t>, no </a:t>
            </a:r>
            <a:r>
              <a:rPr lang="es-MX" b="1" dirty="0"/>
              <a:t>cómo</a:t>
            </a:r>
            <a:r>
              <a:rPr lang="es-MX" dirty="0"/>
              <a:t> lo hace.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1" dirty="0"/>
              <a:t>La ejecución salta y vuelve</a:t>
            </a:r>
            <a:r>
              <a:rPr lang="es-MX" dirty="0"/>
              <a:t>: al terminar </a:t>
            </a:r>
            <a:r>
              <a:rPr lang="es-MX" sz="1600" b="1" dirty="0">
                <a:latin typeface="Consolas" panose="020B0609020204030204" pitchFamily="49" charset="0"/>
              </a:rPr>
              <a:t>factorial</a:t>
            </a:r>
            <a:r>
              <a:rPr lang="es-MX" dirty="0"/>
              <a:t>, se continúa en el punto exacto de la llamada (línea 10).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1" dirty="0"/>
              <a:t>Pila de llamadas</a:t>
            </a:r>
            <a:r>
              <a:rPr lang="es-MX" dirty="0"/>
              <a:t>: cada llamada crea su propio marco, con sus propias variables. Hay </a:t>
            </a:r>
            <a:r>
              <a:rPr lang="es-MX" b="1" dirty="0"/>
              <a:t>dos</a:t>
            </a:r>
            <a:r>
              <a:rPr lang="es-MX" dirty="0"/>
              <a:t> </a:t>
            </a:r>
            <a:r>
              <a:rPr lang="es-MX" b="1" dirty="0">
                <a:latin typeface="Consolas" panose="020B0609020204030204" pitchFamily="49" charset="0"/>
              </a:rPr>
              <a:t>n</a:t>
            </a:r>
            <a:r>
              <a:rPr lang="es-MX" dirty="0"/>
              <a:t> </a:t>
            </a:r>
            <a:r>
              <a:rPr lang="es-MX" b="1" dirty="0"/>
              <a:t>distintas</a:t>
            </a:r>
            <a:r>
              <a:rPr lang="es-MX" dirty="0"/>
              <a:t>.</a:t>
            </a:r>
          </a:p>
        </p:txBody>
      </p:sp>
      <p:sp>
        <p:nvSpPr>
          <p:cNvPr id="15" name="CuadroTexto 14">
            <a:hlinkClick r:id="rId2"/>
            <a:extLst>
              <a:ext uri="{FF2B5EF4-FFF2-40B4-BE49-F238E27FC236}">
                <a16:creationId xmlns:a16="http://schemas.microsoft.com/office/drawing/2014/main" id="{A2B5DBF8-8C6B-4D65-9F4B-05EE7F678AA4}"/>
              </a:ext>
            </a:extLst>
          </p:cNvPr>
          <p:cNvSpPr txBox="1"/>
          <p:nvPr/>
        </p:nvSpPr>
        <p:spPr>
          <a:xfrm>
            <a:off x="3563888" y="4365104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3"/>
              </a:rPr>
              <a:t>Link simulación</a:t>
            </a:r>
            <a:endParaRPr lang="es-CO" sz="1200" dirty="0"/>
          </a:p>
        </p:txBody>
      </p:sp>
      <p:graphicFrame>
        <p:nvGraphicFramePr>
          <p:cNvPr id="9" name="Tabla 13">
            <a:extLst>
              <a:ext uri="{FF2B5EF4-FFF2-40B4-BE49-F238E27FC236}">
                <a16:creationId xmlns:a16="http://schemas.microsoft.com/office/drawing/2014/main" id="{79FFFB57-F063-4D48-B021-39A624DE6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588858"/>
              </p:ext>
            </p:extLst>
          </p:nvPr>
        </p:nvGraphicFramePr>
        <p:xfrm>
          <a:off x="579334" y="1700808"/>
          <a:ext cx="7665074" cy="2651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65074">
                  <a:extLst>
                    <a:ext uri="{9D8B030D-6E8A-4147-A177-3AD203B41FA5}">
                      <a16:colId xmlns:a16="http://schemas.microsoft.com/office/drawing/2014/main" val="499056580"/>
                    </a:ext>
                  </a:extLst>
                </a:gridCol>
              </a:tblGrid>
              <a:tr h="41264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nsolas" panose="020B0609020204030204" pitchFamily="49" charset="0"/>
                        </a:rPr>
                        <a:t> 1  def factorial(n):</a:t>
                      </a:r>
                    </a:p>
                    <a:p>
                      <a:r>
                        <a:rPr lang="en-US" sz="1200" dirty="0">
                          <a:latin typeface="Consolas" panose="020B0609020204030204" pitchFamily="49" charset="0"/>
                        </a:rPr>
                        <a:t> 2      fact = 1</a:t>
                      </a:r>
                    </a:p>
                    <a:p>
                      <a:r>
                        <a:rPr lang="en-US" sz="1200" dirty="0">
                          <a:latin typeface="Consolas" panose="020B0609020204030204" pitchFamily="49" charset="0"/>
                        </a:rPr>
                        <a:t> 3      for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200" dirty="0">
                          <a:latin typeface="Consolas" panose="020B0609020204030204" pitchFamily="49" charset="0"/>
                        </a:rPr>
                        <a:t> in range(1, n + 1):</a:t>
                      </a:r>
                    </a:p>
                    <a:p>
                      <a:r>
                        <a:rPr lang="en-US" sz="1200" dirty="0">
                          <a:latin typeface="Consolas" panose="020B0609020204030204" pitchFamily="49" charset="0"/>
                        </a:rPr>
                        <a:t> 4          fact = fact *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i</a:t>
                      </a:r>
                      <a:endParaRPr lang="en-US" sz="12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dirty="0">
                          <a:latin typeface="Consolas" panose="020B0609020204030204" pitchFamily="49" charset="0"/>
                        </a:rPr>
                        <a:t> 5      return fact</a:t>
                      </a:r>
                    </a:p>
                    <a:p>
                      <a:r>
                        <a:rPr lang="en-US" sz="1200" dirty="0">
                          <a:latin typeface="Consolas" panose="020B0609020204030204" pitchFamily="49" charset="0"/>
                        </a:rPr>
                        <a:t> 6</a:t>
                      </a:r>
                    </a:p>
                    <a:p>
                      <a:r>
                        <a:rPr lang="en-US" sz="1200" dirty="0">
                          <a:latin typeface="Consolas" panose="020B0609020204030204" pitchFamily="49" charset="0"/>
                        </a:rPr>
                        <a:t> 7  def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seno</a:t>
                      </a:r>
                      <a:r>
                        <a:rPr lang="en-US" sz="1200" dirty="0">
                          <a:latin typeface="Consolas" panose="020B0609020204030204" pitchFamily="49" charset="0"/>
                        </a:rPr>
                        <a:t>(x, n=10):</a:t>
                      </a:r>
                    </a:p>
                    <a:p>
                      <a:r>
                        <a:rPr lang="en-US" sz="1200" dirty="0">
                          <a:latin typeface="Consolas" panose="020B0609020204030204" pitchFamily="49" charset="0"/>
                        </a:rPr>
                        <a:t> 8     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suma</a:t>
                      </a:r>
                      <a:r>
                        <a:rPr lang="en-US" sz="1200" dirty="0">
                          <a:latin typeface="Consolas" panose="020B0609020204030204" pitchFamily="49" charset="0"/>
                        </a:rPr>
                        <a:t> = 0</a:t>
                      </a:r>
                    </a:p>
                    <a:p>
                      <a:r>
                        <a:rPr lang="en-US" sz="1200" dirty="0">
                          <a:latin typeface="Consolas" panose="020B0609020204030204" pitchFamily="49" charset="0"/>
                        </a:rPr>
                        <a:t> 9      for k in range(n):</a:t>
                      </a:r>
                    </a:p>
                    <a:p>
                      <a:r>
                        <a:rPr lang="en-US" sz="1200" dirty="0">
                          <a:latin typeface="Consolas" panose="020B0609020204030204" pitchFamily="49" charset="0"/>
                        </a:rPr>
                        <a:t>10         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suma</a:t>
                      </a:r>
                      <a:r>
                        <a:rPr lang="en-US" sz="1200" dirty="0"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suma</a:t>
                      </a:r>
                      <a:r>
                        <a:rPr lang="en-US" sz="1200" dirty="0">
                          <a:latin typeface="Consolas" panose="020B0609020204030204" pitchFamily="49" charset="0"/>
                        </a:rPr>
                        <a:t> + (-1)**k * x**(2*k + 1) / factorial(2*k + 1)</a:t>
                      </a:r>
                    </a:p>
                    <a:p>
                      <a:r>
                        <a:rPr lang="en-US" sz="1200" dirty="0">
                          <a:latin typeface="Consolas" panose="020B0609020204030204" pitchFamily="49" charset="0"/>
                        </a:rPr>
                        <a:t>11      return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suma</a:t>
                      </a:r>
                      <a:endParaRPr lang="en-US" sz="12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dirty="0">
                          <a:latin typeface="Consolas" panose="020B0609020204030204" pitchFamily="49" charset="0"/>
                        </a:rPr>
                        <a:t>12</a:t>
                      </a:r>
                    </a:p>
                    <a:p>
                      <a:r>
                        <a:rPr lang="en-US" sz="1200" dirty="0">
                          <a:latin typeface="Consolas" panose="020B0609020204030204" pitchFamily="49" charset="0"/>
                        </a:rPr>
                        <a:t>13 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resultado</a:t>
                      </a:r>
                      <a:r>
                        <a:rPr lang="en-US" sz="1200" dirty="0"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seno</a:t>
                      </a:r>
                      <a:r>
                        <a:rPr lang="en-US" sz="1200" dirty="0">
                          <a:latin typeface="Consolas" panose="020B0609020204030204" pitchFamily="49" charset="0"/>
                        </a:rPr>
                        <a:t>(1.0, 3)</a:t>
                      </a:r>
                    </a:p>
                    <a:p>
                      <a:r>
                        <a:rPr lang="en-US" sz="1200" dirty="0">
                          <a:latin typeface="Consolas" panose="020B0609020204030204" pitchFamily="49" charset="0"/>
                        </a:rPr>
                        <a:t>14  print(</a:t>
                      </a:r>
                      <a:r>
                        <a:rPr lang="en-US" sz="1200" dirty="0" err="1">
                          <a:latin typeface="Consolas" panose="020B0609020204030204" pitchFamily="49" charset="0"/>
                        </a:rPr>
                        <a:t>resultado</a:t>
                      </a:r>
                      <a:r>
                        <a:rPr lang="en-US" sz="1200" dirty="0">
                          <a:latin typeface="Consolas" panose="020B0609020204030204" pitchFamily="49" charset="0"/>
                        </a:rPr>
                        <a:t>)</a:t>
                      </a:r>
                      <a:endParaRPr lang="es-CO" sz="12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35249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08782" y="116632"/>
            <a:ext cx="8835218" cy="720452"/>
          </a:xfrm>
        </p:spPr>
        <p:txBody>
          <a:bodyPr>
            <a:noAutofit/>
          </a:bodyPr>
          <a:lstStyle/>
          <a:p>
            <a:r>
              <a:rPr lang="es-MX" sz="3600" dirty="0"/>
              <a:t>Resolución de problemas complejos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79512" y="839028"/>
            <a:ext cx="8835218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dirty="0"/>
              <a:t>¿Y si el problema es grande? ¿Por dónde empiezo?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dirty="0"/>
              <a:t>Divide y vencerás</a:t>
            </a:r>
            <a:r>
              <a:rPr lang="es-MX" sz="2000" dirty="0"/>
              <a:t>: dividir un problema complejo en subproblemas más sencillos, y estos a su vez en otros más simples, hasta que cada uno sea fácil de resolver.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dirty="0"/>
              <a:t>Diseño top-</a:t>
            </a:r>
            <a:r>
              <a:rPr lang="es-MX" sz="2000" b="1" dirty="0" err="1"/>
              <a:t>down</a:t>
            </a:r>
            <a:r>
              <a:rPr lang="es-MX" sz="2000" b="1" dirty="0"/>
              <a:t> (descendente)</a:t>
            </a:r>
            <a:r>
              <a:rPr lang="es-MX" sz="2000" dirty="0"/>
              <a:t>: se parte del problema completo (arriba) y se baja, nivel por nivel, hasta las piezas más pequeñas.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dirty="0"/>
          </a:p>
        </p:txBody>
      </p:sp>
      <p:pic>
        <p:nvPicPr>
          <p:cNvPr id="6" name="Picture 2" descr="esquema top-down">
            <a:extLst>
              <a:ext uri="{FF2B5EF4-FFF2-40B4-BE49-F238E27FC236}">
                <a16:creationId xmlns:a16="http://schemas.microsoft.com/office/drawing/2014/main" id="{69BCE1C3-120F-4720-8A26-46A22ABB1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07" y="3222381"/>
            <a:ext cx="7858565" cy="2438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4093F735-9854-4635-94C0-9D1BF029E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31" y="3039341"/>
            <a:ext cx="1961645" cy="1613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673CC65-DEEB-4F99-925B-E7F47922A62E}"/>
              </a:ext>
            </a:extLst>
          </p:cNvPr>
          <p:cNvSpPr txBox="1"/>
          <p:nvPr/>
        </p:nvSpPr>
        <p:spPr>
          <a:xfrm>
            <a:off x="251520" y="6309320"/>
            <a:ext cx="869554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CO" b="1" dirty="0"/>
              <a:t>Idea clave</a:t>
            </a:r>
            <a:r>
              <a:rPr lang="es-CO" dirty="0"/>
              <a:t>: no se resuelve el problema grande. Se resuelven muchos problemas pequeños.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D8D8314-2095-4265-8B03-89DB2BAF2078}"/>
              </a:ext>
            </a:extLst>
          </p:cNvPr>
          <p:cNvSpPr txBox="1"/>
          <p:nvPr/>
        </p:nvSpPr>
        <p:spPr>
          <a:xfrm>
            <a:off x="2311121" y="568273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400" b="1" dirty="0"/>
              <a:t>Diseño Top-Down para conquistar las Galias</a:t>
            </a:r>
            <a:r>
              <a:rPr lang="es-CO" sz="1400" dirty="0"/>
              <a:t> (</a:t>
            </a:r>
            <a:r>
              <a:rPr lang="es-CO" sz="1400" dirty="0">
                <a:hlinkClick r:id="rId4"/>
              </a:rPr>
              <a:t>link</a:t>
            </a:r>
            <a:r>
              <a:rPr lang="es-CO" sz="1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0731083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08782" y="116632"/>
            <a:ext cx="8835218" cy="720452"/>
          </a:xfrm>
        </p:spPr>
        <p:txBody>
          <a:bodyPr>
            <a:noAutofit/>
          </a:bodyPr>
          <a:lstStyle/>
          <a:p>
            <a:r>
              <a:rPr lang="es-MX" sz="3600" dirty="0"/>
              <a:t>El primer nivel: entrada, proceso y salida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79512" y="717664"/>
            <a:ext cx="883521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Casi todo programa se divide primero en las mismas tres partes ya vistas: </a:t>
            </a:r>
          </a:p>
          <a:p>
            <a:pPr rtl="0"/>
            <a:endParaRPr lang="es-MX" sz="2000" b="1" dirty="0"/>
          </a:p>
          <a:p>
            <a:pPr algn="ctr" rtl="0"/>
            <a:r>
              <a:rPr lang="es-MX" sz="2000" b="1" dirty="0"/>
              <a:t>entrada → proceso → salida</a:t>
            </a:r>
            <a:r>
              <a:rPr lang="es-MX" sz="2000" dirty="0"/>
              <a:t>.</a:t>
            </a:r>
          </a:p>
          <a:p>
            <a:pPr algn="ctr" rtl="0"/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El programa de temperaturas ya era </a:t>
            </a:r>
            <a:r>
              <a:rPr lang="es-MX" sz="2000" b="1" dirty="0"/>
              <a:t>top-</a:t>
            </a:r>
            <a:r>
              <a:rPr lang="es-MX" sz="2000" b="1" dirty="0" err="1"/>
              <a:t>down</a:t>
            </a:r>
            <a:r>
              <a:rPr lang="es-MX" sz="2000" dirty="0"/>
              <a:t>:</a:t>
            </a:r>
            <a:endParaRPr lang="es-MX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673CC65-DEEB-4F99-925B-E7F47922A62E}"/>
              </a:ext>
            </a:extLst>
          </p:cNvPr>
          <p:cNvSpPr txBox="1"/>
          <p:nvPr/>
        </p:nvSpPr>
        <p:spPr>
          <a:xfrm>
            <a:off x="251520" y="6093296"/>
            <a:ext cx="8695542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b="1" dirty="0"/>
              <a:t>No es un método nuevo: </a:t>
            </a:r>
            <a:r>
              <a:rPr lang="es-MX" dirty="0"/>
              <a:t>es lo que se hizo previamente con temperaturas. Ahora tiene nombre.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B98D33-7CCB-41E3-90FC-F4379A9BB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276872"/>
            <a:ext cx="7200800" cy="3398777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026C3336-30AD-429B-8D85-6797BECC2F78}"/>
              </a:ext>
            </a:extLst>
          </p:cNvPr>
          <p:cNvSpPr txBox="1"/>
          <p:nvPr/>
        </p:nvSpPr>
        <p:spPr>
          <a:xfrm>
            <a:off x="467544" y="5579948"/>
            <a:ext cx="8407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Diagrama top-</a:t>
            </a:r>
            <a:r>
              <a:rPr lang="es-CO" b="1" dirty="0" err="1"/>
              <a:t>down</a:t>
            </a:r>
            <a:r>
              <a:rPr lang="es-CO" b="1" dirty="0"/>
              <a:t> temperaturas</a:t>
            </a:r>
            <a:r>
              <a:rPr lang="es-CO" dirty="0"/>
              <a:t>: ¿Dónde está cada parte en temperaturas_v2.py?</a:t>
            </a:r>
          </a:p>
        </p:txBody>
      </p:sp>
    </p:spTree>
    <p:extLst>
      <p:ext uri="{BB962C8B-B14F-4D97-AF65-F5344CB8AC3E}">
        <p14:creationId xmlns:p14="http://schemas.microsoft.com/office/powerpoint/2010/main" val="10699859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08782" y="116632"/>
            <a:ext cx="8835218" cy="720452"/>
          </a:xfrm>
        </p:spPr>
        <p:txBody>
          <a:bodyPr>
            <a:noAutofit/>
          </a:bodyPr>
          <a:lstStyle/>
          <a:p>
            <a:r>
              <a:rPr lang="es-MX" sz="3600" dirty="0"/>
              <a:t>¿Hasta dónde dividir?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79512" y="717664"/>
            <a:ext cx="883521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Ejemplo:</a:t>
            </a:r>
            <a:r>
              <a:rPr lang="es-MX" sz="2000" dirty="0"/>
              <a:t> </a:t>
            </a:r>
            <a:r>
              <a:rPr lang="es-CO" sz="2000" dirty="0"/>
              <a:t>Hacer un programa que despliegue un calendario para un mes del año dado. El programa solicita al usuario que ingrese el año y el mes, y entonces despliega el calendario entero para ese mes tal y como lo muestra la siguiente figura:</a:t>
            </a:r>
            <a:endParaRPr lang="es-MX" sz="20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26C3336-30AD-429B-8D85-6797BECC2F78}"/>
              </a:ext>
            </a:extLst>
          </p:cNvPr>
          <p:cNvSpPr txBox="1"/>
          <p:nvPr/>
        </p:nvSpPr>
        <p:spPr>
          <a:xfrm>
            <a:off x="467544" y="5579948"/>
            <a:ext cx="820891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b="1" dirty="0"/>
              <a:t>Antes de ver la solución:</a:t>
            </a:r>
            <a:r>
              <a:rPr lang="es-MX" dirty="0"/>
              <a:t> ¿en qué partes dividirían este problema?</a:t>
            </a:r>
            <a:endParaRPr lang="es-CO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7DBF9EF-FE6D-4839-85E5-F5EB76D21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119746"/>
            <a:ext cx="8064896" cy="274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99321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08782" y="116632"/>
            <a:ext cx="8835218" cy="720452"/>
          </a:xfrm>
        </p:spPr>
        <p:txBody>
          <a:bodyPr>
            <a:noAutofit/>
          </a:bodyPr>
          <a:lstStyle/>
          <a:p>
            <a:r>
              <a:rPr lang="es-MX" sz="3600" dirty="0"/>
              <a:t>¿Hasta dónde dividir?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79512" y="717664"/>
            <a:ext cx="883521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CO" sz="2000" b="1" dirty="0"/>
              <a:t>Diagrama Top-Down</a:t>
            </a:r>
            <a:r>
              <a:rPr lang="es-CO" sz="2000" dirty="0"/>
              <a:t>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Se divide hasta que cada pieza haga una sola cosa y su nombre lo diga.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Algunas piezas ya son conocidas</a:t>
            </a:r>
            <a:r>
              <a:rPr lang="es-MX" sz="2000" dirty="0"/>
              <a:t>: </a:t>
            </a:r>
            <a:r>
              <a:rPr lang="es-MX" sz="1600" b="1" dirty="0" err="1">
                <a:latin typeface="Consolas" panose="020B0609020204030204" pitchFamily="49" charset="0"/>
              </a:rPr>
              <a:t>es_bisiesto</a:t>
            </a:r>
            <a:r>
              <a:rPr lang="es-MX" sz="2000" dirty="0"/>
              <a:t> es el ejemplo de la clase 7.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Una misma función puede ser usada por varias</a:t>
            </a:r>
            <a:r>
              <a:rPr lang="es-MX" sz="2000" dirty="0"/>
              <a:t>: </a:t>
            </a:r>
            <a:r>
              <a:rPr lang="es-MX" b="1" dirty="0" err="1">
                <a:latin typeface="Consolas" panose="020B0609020204030204" pitchFamily="49" charset="0"/>
              </a:rPr>
              <a:t>obtener_dias_mes</a:t>
            </a:r>
            <a:r>
              <a:rPr lang="es-MX" sz="2000" dirty="0"/>
              <a:t> aparece en dos ramas. Eso es reutilización.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2855065-2A59-4C93-A3C4-DB0C88805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1" y="2306216"/>
            <a:ext cx="6905836" cy="4219128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33C4FF9D-126A-43C8-8615-C2375C01EB92}"/>
              </a:ext>
            </a:extLst>
          </p:cNvPr>
          <p:cNvSpPr txBox="1"/>
          <p:nvPr/>
        </p:nvSpPr>
        <p:spPr>
          <a:xfrm>
            <a:off x="39835" y="6474822"/>
            <a:ext cx="9034891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sz="1600" dirty="0"/>
              <a:t>No todo subproblema necesita ser una función: si es una sola línea, puede quedarse dentro de otra.</a:t>
            </a:r>
          </a:p>
        </p:txBody>
      </p:sp>
    </p:spTree>
    <p:extLst>
      <p:ext uri="{BB962C8B-B14F-4D97-AF65-F5344CB8AC3E}">
        <p14:creationId xmlns:p14="http://schemas.microsoft.com/office/powerpoint/2010/main" val="26244027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08782" y="116632"/>
            <a:ext cx="8835218" cy="720452"/>
          </a:xfrm>
        </p:spPr>
        <p:txBody>
          <a:bodyPr>
            <a:noAutofit/>
          </a:bodyPr>
          <a:lstStyle/>
          <a:p>
            <a:r>
              <a:rPr lang="en-US" sz="3600" dirty="0"/>
              <a:t>¿Cómo se construye? Top-down y bottom-up</a:t>
            </a:r>
            <a:endParaRPr lang="es-MX" sz="3600" dirty="0"/>
          </a:p>
        </p:txBody>
      </p:sp>
      <p:sp>
        <p:nvSpPr>
          <p:cNvPr id="13" name="12 Rectángulo"/>
          <p:cNvSpPr/>
          <p:nvPr/>
        </p:nvSpPr>
        <p:spPr>
          <a:xfrm>
            <a:off x="179512" y="796642"/>
            <a:ext cx="8835218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La siguiente tabla ilustra los principales aspectos a tener en cuenta para abordar un problema complejo ya sea mediante </a:t>
            </a:r>
            <a:r>
              <a:rPr lang="es-MX" sz="2000" b="1" dirty="0"/>
              <a:t>top-</a:t>
            </a:r>
            <a:r>
              <a:rPr lang="es-MX" sz="2000" b="1" dirty="0" err="1"/>
              <a:t>down</a:t>
            </a:r>
            <a:r>
              <a:rPr lang="es-MX" sz="2000" dirty="0"/>
              <a:t> o mediante </a:t>
            </a:r>
            <a:r>
              <a:rPr lang="es-MX" sz="2000" b="1" dirty="0" err="1"/>
              <a:t>bottom</a:t>
            </a:r>
            <a:r>
              <a:rPr lang="es-MX" sz="2000" b="1" dirty="0"/>
              <a:t>-up</a:t>
            </a:r>
            <a:r>
              <a:rPr lang="es-MX" sz="2000" dirty="0"/>
              <a:t>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Lo que tienen en común</a:t>
            </a:r>
            <a:r>
              <a:rPr lang="es-MX" sz="2000" dirty="0"/>
              <a:t>: “los dos construyen una función a la vez, ayudan a aislar los errores y facilitan la depuración” (Liang, </a:t>
            </a:r>
            <a:r>
              <a:rPr lang="es-CO" sz="2000" dirty="0"/>
              <a:t>§6.13</a:t>
            </a:r>
            <a:r>
              <a:rPr lang="es-MX" sz="2000" dirty="0"/>
              <a:t>).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Nunca se escribe todo para probarlo al final.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C462719-C3C9-4A70-A8F0-02BB0B1E60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121036"/>
              </p:ext>
            </p:extLst>
          </p:nvPr>
        </p:nvGraphicFramePr>
        <p:xfrm>
          <a:off x="539552" y="1772816"/>
          <a:ext cx="8208912" cy="3108960"/>
        </p:xfrm>
        <a:graphic>
          <a:graphicData uri="http://schemas.openxmlformats.org/drawingml/2006/table">
            <a:tbl>
              <a:tblPr/>
              <a:tblGrid>
                <a:gridCol w="2736304">
                  <a:extLst>
                    <a:ext uri="{9D8B030D-6E8A-4147-A177-3AD203B41FA5}">
                      <a16:colId xmlns:a16="http://schemas.microsoft.com/office/drawing/2014/main" val="3568930428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412470221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36754481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Top-</a:t>
                      </a:r>
                      <a:r>
                        <a:rPr lang="es-CO" b="1" dirty="0" err="1"/>
                        <a:t>down</a:t>
                      </a:r>
                      <a:endParaRPr lang="es-CO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 err="1"/>
                        <a:t>Bottom</a:t>
                      </a:r>
                      <a:r>
                        <a:rPr lang="es-CO" b="1" dirty="0"/>
                        <a:t>-up</a:t>
                      </a:r>
                      <a:endParaRPr lang="es-CO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112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 dirty="0"/>
                        <a:t>Orden</a:t>
                      </a:r>
                      <a:endParaRPr lang="es-CO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b="1" dirty="0"/>
                        <a:t>De arriba hacia abajo</a:t>
                      </a:r>
                      <a:r>
                        <a:rPr lang="es-MX" dirty="0"/>
                        <a:t>: primero el programa principal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b="1" dirty="0"/>
                        <a:t>De abajo hacia arriba</a:t>
                      </a:r>
                      <a:r>
                        <a:rPr lang="es-MX" dirty="0"/>
                        <a:t>: primero las funciones más pequeñas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2789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b="1" dirty="0"/>
                        <a:t>Lo que falta se reemplaza por…</a:t>
                      </a:r>
                      <a:endParaRPr lang="es-MX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b="1"/>
                        <a:t>Stubs:</a:t>
                      </a:r>
                      <a:r>
                        <a:rPr lang="es-MX"/>
                        <a:t> versiones provisionales e incompletas de una función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b="1" dirty="0"/>
                        <a:t>Drivers:</a:t>
                      </a:r>
                      <a:r>
                        <a:rPr lang="es-MX" dirty="0"/>
                        <a:t> pequeños programas de prueba, como nuestros assert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0159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 dirty="0"/>
                        <a:t>Ventaja</a:t>
                      </a:r>
                      <a:endParaRPr lang="es-CO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El programa corre desde el primer momento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Cada pieza llega probada a la integración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8547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60275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08782" y="116632"/>
            <a:ext cx="8835218" cy="720452"/>
          </a:xfrm>
        </p:spPr>
        <p:txBody>
          <a:bodyPr>
            <a:noAutofit/>
          </a:bodyPr>
          <a:lstStyle/>
          <a:p>
            <a:r>
              <a:rPr lang="en-US" sz="3600" dirty="0"/>
              <a:t>Top-down: Del planteamiento al </a:t>
            </a:r>
            <a:r>
              <a:rPr lang="en-US" sz="3600" dirty="0" err="1"/>
              <a:t>código</a:t>
            </a:r>
            <a:endParaRPr lang="es-MX" sz="3600" dirty="0"/>
          </a:p>
        </p:txBody>
      </p:sp>
      <p:sp>
        <p:nvSpPr>
          <p:cNvPr id="13" name="12 Rectángulo"/>
          <p:cNvSpPr/>
          <p:nvPr/>
        </p:nvSpPr>
        <p:spPr>
          <a:xfrm>
            <a:off x="179512" y="796642"/>
            <a:ext cx="8835218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La siguiente tabla ilustra los principales aspectos a tener en cuenta para abordar un problema complejo ya sea mediante </a:t>
            </a:r>
            <a:r>
              <a:rPr lang="es-MX" sz="2000" b="1" dirty="0"/>
              <a:t>top-</a:t>
            </a:r>
            <a:r>
              <a:rPr lang="es-MX" sz="2000" b="1" dirty="0" err="1"/>
              <a:t>down</a:t>
            </a:r>
            <a:r>
              <a:rPr lang="es-MX" sz="2000" dirty="0"/>
              <a:t> o mediante </a:t>
            </a:r>
            <a:r>
              <a:rPr lang="es-MX" sz="2000" b="1" dirty="0" err="1"/>
              <a:t>bottom</a:t>
            </a:r>
            <a:r>
              <a:rPr lang="es-MX" sz="2000" b="1" dirty="0"/>
              <a:t>-up</a:t>
            </a:r>
            <a:r>
              <a:rPr lang="es-MX" sz="2000" dirty="0"/>
              <a:t>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Lo que tienen en común</a:t>
            </a:r>
            <a:r>
              <a:rPr lang="es-MX" sz="2000" dirty="0"/>
              <a:t>: “los dos construyen una función a la vez, ayudan a aislar los errores y facilitan la depuración” (Liang, </a:t>
            </a:r>
            <a:r>
              <a:rPr lang="es-CO" sz="2000" dirty="0"/>
              <a:t>§6.13</a:t>
            </a:r>
            <a:r>
              <a:rPr lang="es-MX" sz="2000" dirty="0"/>
              <a:t>).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Nunca se escribe todo para probarlo al final.</a:t>
            </a:r>
          </a:p>
        </p:txBody>
      </p:sp>
    </p:spTree>
    <p:extLst>
      <p:ext uri="{BB962C8B-B14F-4D97-AF65-F5344CB8AC3E}">
        <p14:creationId xmlns:p14="http://schemas.microsoft.com/office/powerpoint/2010/main" val="37637869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7504" y="23817"/>
            <a:ext cx="7886700" cy="812895"/>
          </a:xfrm>
        </p:spPr>
        <p:txBody>
          <a:bodyPr>
            <a:normAutofit/>
          </a:bodyPr>
          <a:lstStyle/>
          <a:p>
            <a:r>
              <a:rPr lang="en-US" sz="4000" dirty="0"/>
              <a:t>Referencias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692696"/>
            <a:ext cx="8712968" cy="6048672"/>
          </a:xfrm>
        </p:spPr>
        <p:txBody>
          <a:bodyPr>
            <a:no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s-MX" sz="2000" dirty="0"/>
              <a:t>Aprender a Programar: Abstracción en programación. Concepto. Diseño top-</a:t>
            </a:r>
            <a:r>
              <a:rPr lang="es-MX" sz="2000" dirty="0" err="1"/>
              <a:t>down</a:t>
            </a:r>
            <a:r>
              <a:rPr lang="es-MX" sz="2000" dirty="0"/>
              <a:t> de algoritmos y programas. Ejemplos (CU00225A) </a:t>
            </a:r>
            <a:r>
              <a:rPr lang="es-MX" sz="2000" dirty="0">
                <a:hlinkClick r:id="rId2"/>
              </a:rPr>
              <a:t>https://www.aprenderaprogramar.com/index.php?option=com_content&amp;view=category&amp;id=36&amp;Itemid=60</a:t>
            </a:r>
            <a:r>
              <a:rPr lang="es-MX" sz="2000" dirty="0"/>
              <a:t> 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MX" sz="2000" dirty="0"/>
              <a:t>Stanford CS106A, </a:t>
            </a:r>
            <a:r>
              <a:rPr lang="es-MX" sz="2000" i="1" dirty="0"/>
              <a:t>Karel Reader</a:t>
            </a:r>
            <a:r>
              <a:rPr lang="es-MX" sz="2000" dirty="0"/>
              <a:t>, cap. 8: </a:t>
            </a:r>
            <a:r>
              <a:rPr lang="es-MX" sz="2000" i="1" dirty="0" err="1"/>
              <a:t>Stepwise</a:t>
            </a:r>
            <a:r>
              <a:rPr lang="es-MX" sz="2000" i="1" dirty="0"/>
              <a:t> </a:t>
            </a:r>
            <a:r>
              <a:rPr lang="es-MX" sz="2000" i="1" dirty="0" err="1"/>
              <a:t>Refinement</a:t>
            </a:r>
            <a:br>
              <a:rPr lang="es-MX" sz="2000" dirty="0"/>
            </a:br>
            <a:r>
              <a:rPr lang="es-MX" sz="2000" dirty="0">
                <a:hlinkClick r:id="rId3"/>
              </a:rPr>
              <a:t>https://compedu.stanford.edu/karel-reader/docs/python/en/chapter8.html</a:t>
            </a:r>
            <a:endParaRPr lang="es-MX" sz="2000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s-MX" sz="2000" dirty="0"/>
              <a:t>Stanford CS106A, lección 3: </a:t>
            </a:r>
            <a:r>
              <a:rPr lang="es-MX" sz="2000" i="1" dirty="0" err="1"/>
              <a:t>Decomposition</a:t>
            </a:r>
            <a:br>
              <a:rPr lang="es-MX" sz="2000" dirty="0"/>
            </a:br>
            <a:r>
              <a:rPr lang="es-MX" sz="2000" dirty="0">
                <a:hlinkClick r:id="rId4"/>
              </a:rPr>
              <a:t>https://web.stanford.edu/class/archive/cs/cs106a/cs106a.1226/lectures/03-decomposition/3-Decomposition.pdf</a:t>
            </a:r>
            <a:endParaRPr lang="es-MX" sz="2000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s-MX" sz="2000" dirty="0"/>
              <a:t>MIT 6.100L, lección 7: </a:t>
            </a:r>
            <a:r>
              <a:rPr lang="es-MX" sz="2000" i="1" dirty="0" err="1"/>
              <a:t>Decomposition</a:t>
            </a:r>
            <a:r>
              <a:rPr lang="es-MX" sz="2000" i="1" dirty="0"/>
              <a:t>, </a:t>
            </a:r>
            <a:r>
              <a:rPr lang="es-MX" sz="2000" i="1" dirty="0" err="1"/>
              <a:t>Abstraction</a:t>
            </a:r>
            <a:r>
              <a:rPr lang="es-MX" sz="2000" i="1" dirty="0"/>
              <a:t>, </a:t>
            </a:r>
            <a:r>
              <a:rPr lang="es-MX" sz="2000" i="1" dirty="0" err="1"/>
              <a:t>Functions</a:t>
            </a:r>
            <a:r>
              <a:rPr lang="es-MX" sz="2000" dirty="0"/>
              <a:t> (diapositivas)</a:t>
            </a:r>
            <a:br>
              <a:rPr lang="es-MX" sz="2000" dirty="0"/>
            </a:br>
            <a:r>
              <a:rPr lang="es-MX" sz="2000" dirty="0">
                <a:hlinkClick r:id="rId5"/>
              </a:rPr>
              <a:t>https://ocw.mit.edu/courses/6-100l-introduction-to-cs-and-programming-using-python-fall-2022/resources/mit6_100l_f22_lec07_pdf/</a:t>
            </a:r>
            <a:endParaRPr lang="es-MX" sz="2000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s-MX" sz="2000" dirty="0"/>
              <a:t>MIT 6.100L, lección 7 (video)</a:t>
            </a:r>
            <a:br>
              <a:rPr lang="es-MX" sz="2000" dirty="0"/>
            </a:br>
            <a:r>
              <a:rPr lang="es-MX" sz="2000" dirty="0">
                <a:hlinkClick r:id="rId6"/>
              </a:rPr>
              <a:t>https://ocw.mit.edu/courses/6-100l-introduction-to-cs-and-programming-using-python-fall-2022/resources/6100l-lecture-7-multi_mp4/</a:t>
            </a:r>
            <a:endParaRPr lang="es-MX" sz="2000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s-MX" sz="2000" dirty="0"/>
              <a:t>CS50P, lección 0: </a:t>
            </a:r>
            <a:r>
              <a:rPr lang="es-MX" sz="2000" i="1" dirty="0" err="1"/>
              <a:t>Functions</a:t>
            </a:r>
            <a:r>
              <a:rPr lang="es-MX" sz="2000" i="1" dirty="0"/>
              <a:t>, Variables</a:t>
            </a:r>
            <a:br>
              <a:rPr lang="es-MX" sz="2000" dirty="0"/>
            </a:br>
            <a:r>
              <a:rPr lang="es-MX" sz="2000" dirty="0">
                <a:hlinkClick r:id="rId7"/>
              </a:rPr>
              <a:t>https://cs50.harvard.edu/python/notes/0/</a:t>
            </a:r>
            <a:endParaRPr lang="es-MX" sz="2000" dirty="0"/>
          </a:p>
          <a:p>
            <a:pPr rtl="0"/>
            <a:r>
              <a:rPr lang="en-US" sz="2000" dirty="0"/>
              <a:t>Liang, Y. D. </a:t>
            </a:r>
            <a:r>
              <a:rPr lang="en-US" sz="2000" i="1" dirty="0"/>
              <a:t>Introduction to Programming Using Python</a:t>
            </a:r>
            <a:r>
              <a:rPr lang="en-US" sz="2000" dirty="0"/>
              <a:t>, §6.13 </a:t>
            </a:r>
            <a:r>
              <a:rPr lang="en-US" sz="2000" i="1" dirty="0"/>
              <a:t>Function Abstraction and Stepwise Refinement</a:t>
            </a: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10231648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7504" y="23817"/>
            <a:ext cx="7886700" cy="812895"/>
          </a:xfrm>
        </p:spPr>
        <p:txBody>
          <a:bodyPr>
            <a:normAutofit/>
          </a:bodyPr>
          <a:lstStyle/>
          <a:p>
            <a:r>
              <a:rPr lang="en-US" sz="4000" dirty="0"/>
              <a:t>Referencias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1520" y="1088740"/>
            <a:ext cx="8424936" cy="5148572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2"/>
              </a:rPr>
              <a:t>https://ellibrodepython.com/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3"/>
              </a:rPr>
              <a:t>https://www.w3resource.com/index.php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4"/>
              </a:rPr>
              <a:t>https://realpython.com/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5"/>
              </a:rPr>
              <a:t>https://curriculumresources.edu.gh/wp-content/uploads/2025/01/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6"/>
              </a:rPr>
              <a:t>https://python-course.eu/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7"/>
              </a:rPr>
              <a:t>https://realpython.com/cheatsheets/python/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8"/>
              </a:rPr>
              <a:t>https://realpython.com/defining-your-own-python-function/</a:t>
            </a:r>
            <a:r>
              <a:rPr lang="es-CO" sz="2000" dirty="0"/>
              <a:t>    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9"/>
              </a:rPr>
              <a:t>https://realpython.com/python-built-in-functions/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10"/>
              </a:rPr>
              <a:t>https://realpython.com/ref/best-practices/functions/</a:t>
            </a:r>
            <a:r>
              <a:rPr lang="es-CO" sz="20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11"/>
              </a:rPr>
              <a:t>https://makecode.microbit.org/courses/csintro</a:t>
            </a:r>
            <a:r>
              <a:rPr lang="es-CO" sz="2000" dirty="0"/>
              <a:t>  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hlinkClick r:id="rId12"/>
              </a:rPr>
              <a:t>https://makecode.microbit.org/courses</a:t>
            </a:r>
            <a:r>
              <a:rPr lang="en-US" sz="20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hlinkClick r:id="rId13"/>
              </a:rPr>
              <a:t>https://realpython.com/python-while-loop/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hlinkClick r:id="rId14"/>
              </a:rPr>
              <a:t>https://realpython.com/ref/keywords/while/</a:t>
            </a:r>
            <a:r>
              <a:rPr lang="en-US" sz="20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hlinkClick r:id="rId15"/>
              </a:rPr>
              <a:t>https://cs.stanford.edu/people/nick/py/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88627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0617"/>
            <a:ext cx="8191822" cy="728103"/>
          </a:xfrm>
        </p:spPr>
        <p:txBody>
          <a:bodyPr/>
          <a:lstStyle/>
          <a:p>
            <a:r>
              <a:rPr lang="es-CO" dirty="0"/>
              <a:t>Eso es todo amigos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F35EEF4-F126-467F-A5BB-259AA6499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912200"/>
            <a:ext cx="4113633" cy="5868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7 Rectángulo">
            <a:extLst>
              <a:ext uri="{FF2B5EF4-FFF2-40B4-BE49-F238E27FC236}">
                <a16:creationId xmlns:a16="http://schemas.microsoft.com/office/drawing/2014/main" id="{27C7AA4C-274E-4F17-B614-41C209AA98D3}"/>
              </a:ext>
            </a:extLst>
          </p:cNvPr>
          <p:cNvSpPr/>
          <p:nvPr/>
        </p:nvSpPr>
        <p:spPr>
          <a:xfrm>
            <a:off x="101021" y="6519446"/>
            <a:ext cx="367889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100" dirty="0">
                <a:hlinkClick r:id="rId3"/>
              </a:rPr>
              <a:t>https://phdcomics.com/comics/archive.php?comicid=1431</a:t>
            </a:r>
            <a:r>
              <a:rPr lang="es-CO" sz="1100" dirty="0"/>
              <a:t> </a:t>
            </a:r>
          </a:p>
        </p:txBody>
      </p:sp>
      <p:pic>
        <p:nvPicPr>
          <p:cNvPr id="2050" name="Picture 2" descr="Ouch Images – Browse 81,244 Stock Photos, Vectors, and Video | Adobe Stock">
            <a:extLst>
              <a:ext uri="{FF2B5EF4-FFF2-40B4-BE49-F238E27FC236}">
                <a16:creationId xmlns:a16="http://schemas.microsoft.com/office/drawing/2014/main" id="{190AEE93-FCB4-45D0-A740-34697C5E7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51" y="2496793"/>
            <a:ext cx="3563955" cy="2434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4962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15422</TotalTime>
  <Words>4686</Words>
  <Application>Microsoft Office PowerPoint</Application>
  <PresentationFormat>Presentación en pantalla (4:3)</PresentationFormat>
  <Paragraphs>660</Paragraphs>
  <Slides>36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Century Gothic</vt:lpstr>
      <vt:lpstr>Consolas</vt:lpstr>
      <vt:lpstr>Courier New</vt:lpstr>
      <vt:lpstr>Office Theme</vt:lpstr>
      <vt:lpstr>Lógica y Representación 1</vt:lpstr>
      <vt:lpstr>Método de Polya - Resumen</vt:lpstr>
      <vt:lpstr>Entrada, procesamiento y salida</vt:lpstr>
      <vt:lpstr>Introducción a las funciones</vt:lpstr>
      <vt:lpstr>Función</vt:lpstr>
      <vt:lpstr>Funciones en Python - Definición</vt:lpstr>
      <vt:lpstr>Funciones en Python - Invocación</vt:lpstr>
      <vt:lpstr>Probar una función</vt:lpstr>
      <vt:lpstr>Pruebas con assert</vt:lpstr>
      <vt:lpstr>Comparación</vt:lpstr>
      <vt:lpstr>Ejemplo – Conversión de temperatura</vt:lpstr>
      <vt:lpstr>Ejemplo – Conversión de temperatura</vt:lpstr>
      <vt:lpstr>Ejemplo – Conversión de temperatura</vt:lpstr>
      <vt:lpstr>Ejemplo – Conversión de temperatura</vt:lpstr>
      <vt:lpstr>Presentación de PowerPoint</vt:lpstr>
      <vt:lpstr>Buenas prácticas</vt:lpstr>
      <vt:lpstr>¿Cómo ejecutar un programa?</vt:lpstr>
      <vt:lpstr>Ejecutar no es lo mismo que probar</vt:lpstr>
      <vt:lpstr>Especificación de una función</vt:lpstr>
      <vt:lpstr>Especificación de una función</vt:lpstr>
      <vt:lpstr>Ámbito de las variables</vt:lpstr>
      <vt:lpstr>Ámbito de las variables</vt:lpstr>
      <vt:lpstr>Variables globales: ¿Sí o No?</vt:lpstr>
      <vt:lpstr>Errores típicos de ámbito</vt:lpstr>
      <vt:lpstr>Formas de pasar argumentos</vt:lpstr>
      <vt:lpstr>Parámetros con valor por defecto</vt:lpstr>
      <vt:lpstr>Una función que llama a otra</vt:lpstr>
      <vt:lpstr>Resolución de problemas complejos</vt:lpstr>
      <vt:lpstr>El primer nivel: entrada, proceso y salida</vt:lpstr>
      <vt:lpstr>¿Hasta dónde dividir?</vt:lpstr>
      <vt:lpstr>¿Hasta dónde dividir?</vt:lpstr>
      <vt:lpstr>¿Cómo se construye? Top-down y bottom-up</vt:lpstr>
      <vt:lpstr>Top-down: Del planteamiento al código</vt:lpstr>
      <vt:lpstr>Referencias</vt:lpstr>
      <vt:lpstr>Referencias</vt:lpstr>
      <vt:lpstr>Eso es todo amigos</vt:lpstr>
    </vt:vector>
  </TitlesOfParts>
  <Company>Universidad de Antioquia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del curso</dc:title>
  <dc:creator>Apoyo Administrativo Ingeniería</dc:creator>
  <cp:lastModifiedBy>HENRY ALBERTO ARCILA RAMIREZ</cp:lastModifiedBy>
  <cp:revision>271</cp:revision>
  <dcterms:created xsi:type="dcterms:W3CDTF">2015-03-12T20:27:20Z</dcterms:created>
  <dcterms:modified xsi:type="dcterms:W3CDTF">2026-10-11T18:11:51Z</dcterms:modified>
</cp:coreProperties>
</file>