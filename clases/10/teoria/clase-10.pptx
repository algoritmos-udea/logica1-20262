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99" r:id="rId1"/>
  </p:sldMasterIdLst>
  <p:notesMasterIdLst>
    <p:notesMasterId r:id="rId62"/>
  </p:notesMasterIdLst>
  <p:sldIdLst>
    <p:sldId id="281" r:id="rId2"/>
    <p:sldId id="309" r:id="rId3"/>
    <p:sldId id="368" r:id="rId4"/>
    <p:sldId id="594" r:id="rId5"/>
    <p:sldId id="536" r:id="rId6"/>
    <p:sldId id="595" r:id="rId7"/>
    <p:sldId id="603" r:id="rId8"/>
    <p:sldId id="604" r:id="rId9"/>
    <p:sldId id="606" r:id="rId10"/>
    <p:sldId id="587" r:id="rId11"/>
    <p:sldId id="580" r:id="rId12"/>
    <p:sldId id="607" r:id="rId13"/>
    <p:sldId id="608" r:id="rId14"/>
    <p:sldId id="609" r:id="rId15"/>
    <p:sldId id="588" r:id="rId16"/>
    <p:sldId id="613" r:id="rId17"/>
    <p:sldId id="610" r:id="rId18"/>
    <p:sldId id="611" r:id="rId19"/>
    <p:sldId id="612" r:id="rId20"/>
    <p:sldId id="614" r:id="rId21"/>
    <p:sldId id="615" r:id="rId22"/>
    <p:sldId id="616" r:id="rId23"/>
    <p:sldId id="617" r:id="rId24"/>
    <p:sldId id="618" r:id="rId25"/>
    <p:sldId id="619" r:id="rId26"/>
    <p:sldId id="620" r:id="rId27"/>
    <p:sldId id="621" r:id="rId28"/>
    <p:sldId id="623" r:id="rId29"/>
    <p:sldId id="624" r:id="rId30"/>
    <p:sldId id="625" r:id="rId31"/>
    <p:sldId id="626" r:id="rId32"/>
    <p:sldId id="627" r:id="rId33"/>
    <p:sldId id="628" r:id="rId34"/>
    <p:sldId id="629" r:id="rId35"/>
    <p:sldId id="630" r:id="rId36"/>
    <p:sldId id="631" r:id="rId37"/>
    <p:sldId id="632" r:id="rId38"/>
    <p:sldId id="633" r:id="rId39"/>
    <p:sldId id="634" r:id="rId40"/>
    <p:sldId id="636" r:id="rId41"/>
    <p:sldId id="635" r:id="rId42"/>
    <p:sldId id="637" r:id="rId43"/>
    <p:sldId id="638" r:id="rId44"/>
    <p:sldId id="640" r:id="rId45"/>
    <p:sldId id="639" r:id="rId46"/>
    <p:sldId id="641" r:id="rId47"/>
    <p:sldId id="642" r:id="rId48"/>
    <p:sldId id="643" r:id="rId49"/>
    <p:sldId id="644" r:id="rId50"/>
    <p:sldId id="645" r:id="rId51"/>
    <p:sldId id="646" r:id="rId52"/>
    <p:sldId id="647" r:id="rId53"/>
    <p:sldId id="648" r:id="rId54"/>
    <p:sldId id="649" r:id="rId55"/>
    <p:sldId id="650" r:id="rId56"/>
    <p:sldId id="651" r:id="rId57"/>
    <p:sldId id="652" r:id="rId58"/>
    <p:sldId id="310" r:id="rId59"/>
    <p:sldId id="622" r:id="rId60"/>
    <p:sldId id="277" r:id="rId6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8EC20E35-A176-4012-BC5E-935CFFF8708E}" styleName="Estilo medio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38B1855-1B75-4FBE-930C-398BA8C253C6}" styleName="Estilo temático 2 - Énfasis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79" autoAdjust="0"/>
    <p:restoredTop sz="94291" autoAdjust="0"/>
  </p:normalViewPr>
  <p:slideViewPr>
    <p:cSldViewPr>
      <p:cViewPr varScale="1">
        <p:scale>
          <a:sx n="69" d="100"/>
          <a:sy n="69" d="100"/>
        </p:scale>
        <p:origin x="1368" y="66"/>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34617D2-EBA5-43D3-A846-ABD7019008A4}" type="doc">
      <dgm:prSet loTypeId="urn:microsoft.com/office/officeart/2005/8/layout/chevron2" loCatId="process" qsTypeId="urn:microsoft.com/office/officeart/2005/8/quickstyle/simple4" qsCatId="simple" csTypeId="urn:microsoft.com/office/officeart/2005/8/colors/colorful3" csCatId="colorful" phldr="1"/>
      <dgm:spPr/>
      <dgm:t>
        <a:bodyPr/>
        <a:lstStyle/>
        <a:p>
          <a:endParaRPr lang="es-CO"/>
        </a:p>
      </dgm:t>
    </dgm:pt>
    <dgm:pt modelId="{0F6E169A-367E-48F6-8A0F-9538EF72E803}">
      <dgm:prSet phldrT="[Texto]" custT="1"/>
      <dgm:spPr/>
      <dgm:t>
        <a:bodyPr/>
        <a:lstStyle/>
        <a:p>
          <a:r>
            <a:rPr lang="es-CO" sz="1600" dirty="0">
              <a:latin typeface="Century Gothic" panose="020B0502020202020204" pitchFamily="34" charset="0"/>
            </a:rPr>
            <a:t>1</a:t>
          </a:r>
          <a:endParaRPr lang="es-CO" sz="1200" dirty="0">
            <a:latin typeface="Century Gothic" panose="020B0502020202020204" pitchFamily="34" charset="0"/>
          </a:endParaRPr>
        </a:p>
      </dgm:t>
    </dgm:pt>
    <dgm:pt modelId="{214810CF-0E9F-420E-9F44-94CA29248781}" type="parTrans" cxnId="{1D7BCF56-E33F-4A42-8129-E524DE8CA73C}">
      <dgm:prSet/>
      <dgm:spPr/>
      <dgm:t>
        <a:bodyPr/>
        <a:lstStyle/>
        <a:p>
          <a:endParaRPr lang="es-CO" sz="1600"/>
        </a:p>
      </dgm:t>
    </dgm:pt>
    <dgm:pt modelId="{9E3845BF-94AB-444E-AB21-A0DA1B4B1270}" type="sibTrans" cxnId="{1D7BCF56-E33F-4A42-8129-E524DE8CA73C}">
      <dgm:prSet/>
      <dgm:spPr/>
      <dgm:t>
        <a:bodyPr/>
        <a:lstStyle/>
        <a:p>
          <a:endParaRPr lang="es-CO" sz="1600"/>
        </a:p>
      </dgm:t>
    </dgm:pt>
    <dgm:pt modelId="{676AA4D5-22F4-47B3-B0E8-95C3D9C99480}">
      <dgm:prSet phldrT="[Texto]" custT="1"/>
      <dgm:spPr/>
      <dgm:t>
        <a:bodyPr/>
        <a:lstStyle/>
        <a:p>
          <a:pPr>
            <a:buNone/>
          </a:pPr>
          <a:r>
            <a:rPr lang="es-CO" sz="2000" dirty="0">
              <a:latin typeface="Century Gothic" panose="020B0502020202020204" pitchFamily="34" charset="0"/>
            </a:rPr>
            <a:t>Entender el problema</a:t>
          </a:r>
        </a:p>
      </dgm:t>
    </dgm:pt>
    <dgm:pt modelId="{65AE6963-95E3-417E-9DBC-C327427667A9}" type="parTrans" cxnId="{E402CAF0-5AAA-416F-BAF4-3854EF253EE5}">
      <dgm:prSet/>
      <dgm:spPr/>
      <dgm:t>
        <a:bodyPr/>
        <a:lstStyle/>
        <a:p>
          <a:endParaRPr lang="es-CO" sz="1600"/>
        </a:p>
      </dgm:t>
    </dgm:pt>
    <dgm:pt modelId="{BBDCCB86-71C3-422E-959C-8FA92A9124DF}" type="sibTrans" cxnId="{E402CAF0-5AAA-416F-BAF4-3854EF253EE5}">
      <dgm:prSet/>
      <dgm:spPr/>
      <dgm:t>
        <a:bodyPr/>
        <a:lstStyle/>
        <a:p>
          <a:endParaRPr lang="es-CO" sz="1600"/>
        </a:p>
      </dgm:t>
    </dgm:pt>
    <dgm:pt modelId="{9C3C57BE-AD01-47F6-9592-98EF2608A6EF}">
      <dgm:prSet phldrT="[Texto]" custT="1"/>
      <dgm:spPr/>
      <dgm:t>
        <a:bodyPr/>
        <a:lstStyle/>
        <a:p>
          <a:r>
            <a:rPr lang="es-CO" sz="1800" dirty="0">
              <a:latin typeface="Century Gothic" panose="020B0502020202020204" pitchFamily="34" charset="0"/>
            </a:rPr>
            <a:t>2</a:t>
          </a:r>
          <a:endParaRPr lang="es-CO" sz="2400" dirty="0">
            <a:latin typeface="Century Gothic" panose="020B0502020202020204" pitchFamily="34" charset="0"/>
          </a:endParaRPr>
        </a:p>
      </dgm:t>
    </dgm:pt>
    <dgm:pt modelId="{33D25418-EA10-4491-90C6-5683712BE055}" type="parTrans" cxnId="{FBB864E0-2027-4A45-B5D7-110F765EFD96}">
      <dgm:prSet/>
      <dgm:spPr/>
      <dgm:t>
        <a:bodyPr/>
        <a:lstStyle/>
        <a:p>
          <a:endParaRPr lang="es-CO" sz="1600"/>
        </a:p>
      </dgm:t>
    </dgm:pt>
    <dgm:pt modelId="{0019765E-5748-4647-85C8-6E8054C68086}" type="sibTrans" cxnId="{FBB864E0-2027-4A45-B5D7-110F765EFD96}">
      <dgm:prSet/>
      <dgm:spPr/>
      <dgm:t>
        <a:bodyPr/>
        <a:lstStyle/>
        <a:p>
          <a:endParaRPr lang="es-CO" sz="1600"/>
        </a:p>
      </dgm:t>
    </dgm:pt>
    <dgm:pt modelId="{C59A2A35-6BBC-4F81-BD74-40520AACD6AB}">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gm:t>
    </dgm:pt>
    <dgm:pt modelId="{EDE363E4-7EA3-41D2-8DB9-A0871D9DA325}" type="parTrans" cxnId="{3B1F784D-95DD-4194-A52D-9A5B55BC5BD7}">
      <dgm:prSet/>
      <dgm:spPr/>
      <dgm:t>
        <a:bodyPr/>
        <a:lstStyle/>
        <a:p>
          <a:endParaRPr lang="es-CO" sz="1600"/>
        </a:p>
      </dgm:t>
    </dgm:pt>
    <dgm:pt modelId="{C31DDF04-103F-4600-9F78-0BDCC0BF907B}" type="sibTrans" cxnId="{3B1F784D-95DD-4194-A52D-9A5B55BC5BD7}">
      <dgm:prSet/>
      <dgm:spPr/>
      <dgm:t>
        <a:bodyPr/>
        <a:lstStyle/>
        <a:p>
          <a:endParaRPr lang="es-CO" sz="1600"/>
        </a:p>
      </dgm:t>
    </dgm:pt>
    <dgm:pt modelId="{9AB424BA-7E8B-4D0B-8A3C-3748A54646B8}">
      <dgm:prSet phldrT="[Texto]" custT="1"/>
      <dgm:spPr/>
      <dgm:t>
        <a:bodyPr/>
        <a:lstStyle/>
        <a:p>
          <a:r>
            <a:rPr lang="es-CO" sz="2000" dirty="0">
              <a:latin typeface="Century Gothic" panose="020B0502020202020204" pitchFamily="34" charset="0"/>
            </a:rPr>
            <a:t>3</a:t>
          </a:r>
        </a:p>
      </dgm:t>
    </dgm:pt>
    <dgm:pt modelId="{E543BFA9-86DB-499C-8E83-B32D00A97FD8}" type="parTrans" cxnId="{9DB9632F-E2AC-48EE-840F-D6A88C411EEA}">
      <dgm:prSet/>
      <dgm:spPr/>
      <dgm:t>
        <a:bodyPr/>
        <a:lstStyle/>
        <a:p>
          <a:endParaRPr lang="es-CO" sz="1600"/>
        </a:p>
      </dgm:t>
    </dgm:pt>
    <dgm:pt modelId="{DDCD6E76-3560-4CAA-96A8-94ACFF130E9B}" type="sibTrans" cxnId="{9DB9632F-E2AC-48EE-840F-D6A88C411EEA}">
      <dgm:prSet/>
      <dgm:spPr/>
      <dgm:t>
        <a:bodyPr/>
        <a:lstStyle/>
        <a:p>
          <a:endParaRPr lang="es-CO" sz="1600"/>
        </a:p>
      </dgm:t>
    </dgm:pt>
    <dgm:pt modelId="{BEC04423-D6B7-4792-AEB9-C3D7F81A98AC}">
      <dgm:prSet phldrT="[Texto]"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gm:t>
    </dgm:pt>
    <dgm:pt modelId="{F135D138-85FF-4087-B751-5F159F842289}" type="parTrans" cxnId="{5B0A26F8-5ACB-43D3-A171-6C62CAD4E7BE}">
      <dgm:prSet/>
      <dgm:spPr/>
      <dgm:t>
        <a:bodyPr/>
        <a:lstStyle/>
        <a:p>
          <a:endParaRPr lang="es-CO" sz="1600"/>
        </a:p>
      </dgm:t>
    </dgm:pt>
    <dgm:pt modelId="{AB02689B-5109-4C4C-A9DD-EF332B395FC7}" type="sibTrans" cxnId="{5B0A26F8-5ACB-43D3-A171-6C62CAD4E7BE}">
      <dgm:prSet/>
      <dgm:spPr/>
      <dgm:t>
        <a:bodyPr/>
        <a:lstStyle/>
        <a:p>
          <a:endParaRPr lang="es-CO" sz="1600"/>
        </a:p>
      </dgm:t>
    </dgm:pt>
    <dgm:pt modelId="{6F3FB39C-3E1D-4D2D-849B-EA0299C466C8}">
      <dgm:prSet phldrT="[Texto]" custT="1"/>
      <dgm:spPr/>
      <dgm:t>
        <a:bodyPr/>
        <a:lstStyle/>
        <a:p>
          <a:r>
            <a:rPr lang="es-CO" sz="2000" dirty="0">
              <a:latin typeface="Century Gothic" panose="020B0502020202020204" pitchFamily="34" charset="0"/>
            </a:rPr>
            <a:t>4</a:t>
          </a:r>
        </a:p>
      </dgm:t>
    </dgm:pt>
    <dgm:pt modelId="{F344B892-AD67-4863-B1DB-FFEAC6AE3C6A}" type="parTrans" cxnId="{F85ACEEE-F8C0-443C-BAAF-021763D37073}">
      <dgm:prSet/>
      <dgm:spPr/>
      <dgm:t>
        <a:bodyPr/>
        <a:lstStyle/>
        <a:p>
          <a:endParaRPr lang="es-CO" sz="1600"/>
        </a:p>
      </dgm:t>
    </dgm:pt>
    <dgm:pt modelId="{2E86F725-3FD8-4480-8AF6-6A89E142D77A}" type="sibTrans" cxnId="{F85ACEEE-F8C0-443C-BAAF-021763D37073}">
      <dgm:prSet/>
      <dgm:spPr/>
      <dgm:t>
        <a:bodyPr/>
        <a:lstStyle/>
        <a:p>
          <a:endParaRPr lang="es-CO" sz="1600"/>
        </a:p>
      </dgm:t>
    </dgm:pt>
    <dgm:pt modelId="{DCCFDBD5-3BD5-4368-8E74-2BE430318114}">
      <dgm:prSet custT="1"/>
      <dgm:spPr/>
      <dgm: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gm:t>
    </dgm:pt>
    <dgm:pt modelId="{E9C3A1B1-6767-4D4A-B32D-4EDACFE1C0F4}" type="parTrans" cxnId="{95C514DE-3460-4712-B0CD-D954FE76DB64}">
      <dgm:prSet/>
      <dgm:spPr/>
      <dgm:t>
        <a:bodyPr/>
        <a:lstStyle/>
        <a:p>
          <a:endParaRPr lang="es-CO" sz="1600"/>
        </a:p>
      </dgm:t>
    </dgm:pt>
    <dgm:pt modelId="{159A55EA-C5B7-4F9E-8222-A763BEB4D99B}" type="sibTrans" cxnId="{95C514DE-3460-4712-B0CD-D954FE76DB64}">
      <dgm:prSet/>
      <dgm:spPr/>
      <dgm:t>
        <a:bodyPr/>
        <a:lstStyle/>
        <a:p>
          <a:endParaRPr lang="es-CO" sz="1600"/>
        </a:p>
      </dgm:t>
    </dgm:pt>
    <dgm:pt modelId="{C30EB98C-BF8E-47B5-A59F-A3E708D5551C}" type="pres">
      <dgm:prSet presAssocID="{234617D2-EBA5-43D3-A846-ABD7019008A4}" presName="linearFlow" presStyleCnt="0">
        <dgm:presLayoutVars>
          <dgm:dir/>
          <dgm:animLvl val="lvl"/>
          <dgm:resizeHandles val="exact"/>
        </dgm:presLayoutVars>
      </dgm:prSet>
      <dgm:spPr/>
    </dgm:pt>
    <dgm:pt modelId="{B5976899-2FC4-4A3E-891A-B74C8C23C8B5}" type="pres">
      <dgm:prSet presAssocID="{0F6E169A-367E-48F6-8A0F-9538EF72E803}" presName="composite" presStyleCnt="0"/>
      <dgm:spPr/>
    </dgm:pt>
    <dgm:pt modelId="{416A876F-5FA3-42F9-A923-4E2C334EF9BC}" type="pres">
      <dgm:prSet presAssocID="{0F6E169A-367E-48F6-8A0F-9538EF72E803}" presName="parentText" presStyleLbl="alignNode1" presStyleIdx="0" presStyleCnt="4">
        <dgm:presLayoutVars>
          <dgm:chMax val="1"/>
          <dgm:bulletEnabled val="1"/>
        </dgm:presLayoutVars>
      </dgm:prSet>
      <dgm:spPr/>
    </dgm:pt>
    <dgm:pt modelId="{344A86B1-48E8-448F-9C6D-71580BFB5F83}" type="pres">
      <dgm:prSet presAssocID="{0F6E169A-367E-48F6-8A0F-9538EF72E803}" presName="descendantText" presStyleLbl="alignAcc1" presStyleIdx="0" presStyleCnt="4">
        <dgm:presLayoutVars>
          <dgm:bulletEnabled val="1"/>
        </dgm:presLayoutVars>
      </dgm:prSet>
      <dgm:spPr/>
    </dgm:pt>
    <dgm:pt modelId="{19B3EDEB-1CF9-4423-9037-F0221A01EBBA}" type="pres">
      <dgm:prSet presAssocID="{9E3845BF-94AB-444E-AB21-A0DA1B4B1270}" presName="sp" presStyleCnt="0"/>
      <dgm:spPr/>
    </dgm:pt>
    <dgm:pt modelId="{5D167E8C-136F-440C-8D10-651E4D964A72}" type="pres">
      <dgm:prSet presAssocID="{9C3C57BE-AD01-47F6-9592-98EF2608A6EF}" presName="composite" presStyleCnt="0"/>
      <dgm:spPr/>
    </dgm:pt>
    <dgm:pt modelId="{A651636C-CE47-4575-AA1E-AB00D80E941D}" type="pres">
      <dgm:prSet presAssocID="{9C3C57BE-AD01-47F6-9592-98EF2608A6EF}" presName="parentText" presStyleLbl="alignNode1" presStyleIdx="1" presStyleCnt="4" custLinFactNeighborY="0">
        <dgm:presLayoutVars>
          <dgm:chMax val="1"/>
          <dgm:bulletEnabled val="1"/>
        </dgm:presLayoutVars>
      </dgm:prSet>
      <dgm:spPr/>
    </dgm:pt>
    <dgm:pt modelId="{79B0DE70-0A03-4A6F-B31F-EC81EB5DF7EA}" type="pres">
      <dgm:prSet presAssocID="{9C3C57BE-AD01-47F6-9592-98EF2608A6EF}" presName="descendantText" presStyleLbl="alignAcc1" presStyleIdx="1" presStyleCnt="4">
        <dgm:presLayoutVars>
          <dgm:bulletEnabled val="1"/>
        </dgm:presLayoutVars>
      </dgm:prSet>
      <dgm:spPr/>
    </dgm:pt>
    <dgm:pt modelId="{5C2D5B77-4FD3-4BFC-B7C7-B69CFA47B819}" type="pres">
      <dgm:prSet presAssocID="{0019765E-5748-4647-85C8-6E8054C68086}" presName="sp" presStyleCnt="0"/>
      <dgm:spPr/>
    </dgm:pt>
    <dgm:pt modelId="{FD9C2F86-B450-49A0-8639-065AE676C080}" type="pres">
      <dgm:prSet presAssocID="{9AB424BA-7E8B-4D0B-8A3C-3748A54646B8}" presName="composite" presStyleCnt="0"/>
      <dgm:spPr/>
    </dgm:pt>
    <dgm:pt modelId="{2AA7B02C-023E-4537-897E-B54A048C8983}" type="pres">
      <dgm:prSet presAssocID="{9AB424BA-7E8B-4D0B-8A3C-3748A54646B8}" presName="parentText" presStyleLbl="alignNode1" presStyleIdx="2" presStyleCnt="4">
        <dgm:presLayoutVars>
          <dgm:chMax val="1"/>
          <dgm:bulletEnabled val="1"/>
        </dgm:presLayoutVars>
      </dgm:prSet>
      <dgm:spPr/>
    </dgm:pt>
    <dgm:pt modelId="{15D3D31F-A831-4E62-ADE9-6ACE81331CDC}" type="pres">
      <dgm:prSet presAssocID="{9AB424BA-7E8B-4D0B-8A3C-3748A54646B8}" presName="descendantText" presStyleLbl="alignAcc1" presStyleIdx="2" presStyleCnt="4">
        <dgm:presLayoutVars>
          <dgm:bulletEnabled val="1"/>
        </dgm:presLayoutVars>
      </dgm:prSet>
      <dgm:spPr/>
    </dgm:pt>
    <dgm:pt modelId="{365F76A6-EF4F-41D1-B81D-BC3D7851A081}" type="pres">
      <dgm:prSet presAssocID="{DDCD6E76-3560-4CAA-96A8-94ACFF130E9B}" presName="sp" presStyleCnt="0"/>
      <dgm:spPr/>
    </dgm:pt>
    <dgm:pt modelId="{4DB00594-09F9-4225-B772-B1D52DAEEAB6}" type="pres">
      <dgm:prSet presAssocID="{6F3FB39C-3E1D-4D2D-849B-EA0299C466C8}" presName="composite" presStyleCnt="0"/>
      <dgm:spPr/>
    </dgm:pt>
    <dgm:pt modelId="{58E45CBE-DE64-4E4E-8AAA-D376465B2BEE}" type="pres">
      <dgm:prSet presAssocID="{6F3FB39C-3E1D-4D2D-849B-EA0299C466C8}" presName="parentText" presStyleLbl="alignNode1" presStyleIdx="3" presStyleCnt="4">
        <dgm:presLayoutVars>
          <dgm:chMax val="1"/>
          <dgm:bulletEnabled val="1"/>
        </dgm:presLayoutVars>
      </dgm:prSet>
      <dgm:spPr/>
    </dgm:pt>
    <dgm:pt modelId="{C37D6712-7A35-4663-80F7-1B8FC410AF19}" type="pres">
      <dgm:prSet presAssocID="{6F3FB39C-3E1D-4D2D-849B-EA0299C466C8}" presName="descendantText" presStyleLbl="alignAcc1" presStyleIdx="3" presStyleCnt="4">
        <dgm:presLayoutVars>
          <dgm:bulletEnabled val="1"/>
        </dgm:presLayoutVars>
      </dgm:prSet>
      <dgm:spPr/>
    </dgm:pt>
  </dgm:ptLst>
  <dgm:cxnLst>
    <dgm:cxn modelId="{D25A530A-E341-4BA7-8999-21A374D537D3}" type="presOf" srcId="{BEC04423-D6B7-4792-AEB9-C3D7F81A98AC}" destId="{15D3D31F-A831-4E62-ADE9-6ACE81331CDC}" srcOrd="0" destOrd="0" presId="urn:microsoft.com/office/officeart/2005/8/layout/chevron2"/>
    <dgm:cxn modelId="{0F63B510-A033-48E8-A5FD-87C76FF5A9D6}" type="presOf" srcId="{0F6E169A-367E-48F6-8A0F-9538EF72E803}" destId="{416A876F-5FA3-42F9-A923-4E2C334EF9BC}" srcOrd="0" destOrd="0" presId="urn:microsoft.com/office/officeart/2005/8/layout/chevron2"/>
    <dgm:cxn modelId="{09EB6217-24CA-4B61-90D2-9CF7E646FA43}" type="presOf" srcId="{234617D2-EBA5-43D3-A846-ABD7019008A4}" destId="{C30EB98C-BF8E-47B5-A59F-A3E708D5551C}" srcOrd="0" destOrd="0" presId="urn:microsoft.com/office/officeart/2005/8/layout/chevron2"/>
    <dgm:cxn modelId="{9DB9632F-E2AC-48EE-840F-D6A88C411EEA}" srcId="{234617D2-EBA5-43D3-A846-ABD7019008A4}" destId="{9AB424BA-7E8B-4D0B-8A3C-3748A54646B8}" srcOrd="2" destOrd="0" parTransId="{E543BFA9-86DB-499C-8E83-B32D00A97FD8}" sibTransId="{DDCD6E76-3560-4CAA-96A8-94ACFF130E9B}"/>
    <dgm:cxn modelId="{5C56243F-7D54-4FD5-BD45-EEAB6E9334A6}" type="presOf" srcId="{676AA4D5-22F4-47B3-B0E8-95C3D9C99480}" destId="{344A86B1-48E8-448F-9C6D-71580BFB5F83}" srcOrd="0" destOrd="0" presId="urn:microsoft.com/office/officeart/2005/8/layout/chevron2"/>
    <dgm:cxn modelId="{3EF6886C-4FCF-4899-8F48-98F458A380A4}" type="presOf" srcId="{DCCFDBD5-3BD5-4368-8E74-2BE430318114}" destId="{C37D6712-7A35-4663-80F7-1B8FC410AF19}" srcOrd="0" destOrd="0" presId="urn:microsoft.com/office/officeart/2005/8/layout/chevron2"/>
    <dgm:cxn modelId="{3B1F784D-95DD-4194-A52D-9A5B55BC5BD7}" srcId="{9C3C57BE-AD01-47F6-9592-98EF2608A6EF}" destId="{C59A2A35-6BBC-4F81-BD74-40520AACD6AB}" srcOrd="0" destOrd="0" parTransId="{EDE363E4-7EA3-41D2-8DB9-A0871D9DA325}" sibTransId="{C31DDF04-103F-4600-9F78-0BDCC0BF907B}"/>
    <dgm:cxn modelId="{1D7BCF56-E33F-4A42-8129-E524DE8CA73C}" srcId="{234617D2-EBA5-43D3-A846-ABD7019008A4}" destId="{0F6E169A-367E-48F6-8A0F-9538EF72E803}" srcOrd="0" destOrd="0" parTransId="{214810CF-0E9F-420E-9F44-94CA29248781}" sibTransId="{9E3845BF-94AB-444E-AB21-A0DA1B4B1270}"/>
    <dgm:cxn modelId="{E8354084-D26E-4270-954C-74C7F6A06793}" type="presOf" srcId="{C59A2A35-6BBC-4F81-BD74-40520AACD6AB}" destId="{79B0DE70-0A03-4A6F-B31F-EC81EB5DF7EA}" srcOrd="0" destOrd="0" presId="urn:microsoft.com/office/officeart/2005/8/layout/chevron2"/>
    <dgm:cxn modelId="{BF2B6EA9-3F5A-49C1-AF7E-EC921192B9DE}" type="presOf" srcId="{9C3C57BE-AD01-47F6-9592-98EF2608A6EF}" destId="{A651636C-CE47-4575-AA1E-AB00D80E941D}" srcOrd="0" destOrd="0" presId="urn:microsoft.com/office/officeart/2005/8/layout/chevron2"/>
    <dgm:cxn modelId="{95C514DE-3460-4712-B0CD-D954FE76DB64}" srcId="{6F3FB39C-3E1D-4D2D-849B-EA0299C466C8}" destId="{DCCFDBD5-3BD5-4368-8E74-2BE430318114}" srcOrd="0" destOrd="0" parTransId="{E9C3A1B1-6767-4D4A-B32D-4EDACFE1C0F4}" sibTransId="{159A55EA-C5B7-4F9E-8222-A763BEB4D99B}"/>
    <dgm:cxn modelId="{FBB864E0-2027-4A45-B5D7-110F765EFD96}" srcId="{234617D2-EBA5-43D3-A846-ABD7019008A4}" destId="{9C3C57BE-AD01-47F6-9592-98EF2608A6EF}" srcOrd="1" destOrd="0" parTransId="{33D25418-EA10-4491-90C6-5683712BE055}" sibTransId="{0019765E-5748-4647-85C8-6E8054C68086}"/>
    <dgm:cxn modelId="{448B48EB-E488-4909-82B4-2E61877F00AE}" type="presOf" srcId="{6F3FB39C-3E1D-4D2D-849B-EA0299C466C8}" destId="{58E45CBE-DE64-4E4E-8AAA-D376465B2BEE}" srcOrd="0" destOrd="0" presId="urn:microsoft.com/office/officeart/2005/8/layout/chevron2"/>
    <dgm:cxn modelId="{E644B3EB-418D-4B1A-83D6-8DCC10BE06E8}" type="presOf" srcId="{9AB424BA-7E8B-4D0B-8A3C-3748A54646B8}" destId="{2AA7B02C-023E-4537-897E-B54A048C8983}" srcOrd="0" destOrd="0" presId="urn:microsoft.com/office/officeart/2005/8/layout/chevron2"/>
    <dgm:cxn modelId="{F85ACEEE-F8C0-443C-BAAF-021763D37073}" srcId="{234617D2-EBA5-43D3-A846-ABD7019008A4}" destId="{6F3FB39C-3E1D-4D2D-849B-EA0299C466C8}" srcOrd="3" destOrd="0" parTransId="{F344B892-AD67-4863-B1DB-FFEAC6AE3C6A}" sibTransId="{2E86F725-3FD8-4480-8AF6-6A89E142D77A}"/>
    <dgm:cxn modelId="{E402CAF0-5AAA-416F-BAF4-3854EF253EE5}" srcId="{0F6E169A-367E-48F6-8A0F-9538EF72E803}" destId="{676AA4D5-22F4-47B3-B0E8-95C3D9C99480}" srcOrd="0" destOrd="0" parTransId="{65AE6963-95E3-417E-9DBC-C327427667A9}" sibTransId="{BBDCCB86-71C3-422E-959C-8FA92A9124DF}"/>
    <dgm:cxn modelId="{5B0A26F8-5ACB-43D3-A171-6C62CAD4E7BE}" srcId="{9AB424BA-7E8B-4D0B-8A3C-3748A54646B8}" destId="{BEC04423-D6B7-4792-AEB9-C3D7F81A98AC}" srcOrd="0" destOrd="0" parTransId="{F135D138-85FF-4087-B751-5F159F842289}" sibTransId="{AB02689B-5109-4C4C-A9DD-EF332B395FC7}"/>
    <dgm:cxn modelId="{AC4A8FF1-0B42-4570-ACB4-F62AD10AC7E7}" type="presParOf" srcId="{C30EB98C-BF8E-47B5-A59F-A3E708D5551C}" destId="{B5976899-2FC4-4A3E-891A-B74C8C23C8B5}" srcOrd="0" destOrd="0" presId="urn:microsoft.com/office/officeart/2005/8/layout/chevron2"/>
    <dgm:cxn modelId="{78437963-1AD6-4AA2-99FF-D3C136E6C1B9}" type="presParOf" srcId="{B5976899-2FC4-4A3E-891A-B74C8C23C8B5}" destId="{416A876F-5FA3-42F9-A923-4E2C334EF9BC}" srcOrd="0" destOrd="0" presId="urn:microsoft.com/office/officeart/2005/8/layout/chevron2"/>
    <dgm:cxn modelId="{E5BB8A76-3CEA-42DE-8EE6-7959F74B0BB9}" type="presParOf" srcId="{B5976899-2FC4-4A3E-891A-B74C8C23C8B5}" destId="{344A86B1-48E8-448F-9C6D-71580BFB5F83}" srcOrd="1" destOrd="0" presId="urn:microsoft.com/office/officeart/2005/8/layout/chevron2"/>
    <dgm:cxn modelId="{1409A561-56BE-41EC-823E-CEEC12A8CF50}" type="presParOf" srcId="{C30EB98C-BF8E-47B5-A59F-A3E708D5551C}" destId="{19B3EDEB-1CF9-4423-9037-F0221A01EBBA}" srcOrd="1" destOrd="0" presId="urn:microsoft.com/office/officeart/2005/8/layout/chevron2"/>
    <dgm:cxn modelId="{69FAE29B-8826-413D-A90D-E3D1914BB7C5}" type="presParOf" srcId="{C30EB98C-BF8E-47B5-A59F-A3E708D5551C}" destId="{5D167E8C-136F-440C-8D10-651E4D964A72}" srcOrd="2" destOrd="0" presId="urn:microsoft.com/office/officeart/2005/8/layout/chevron2"/>
    <dgm:cxn modelId="{26C5ECD3-BE74-4234-955C-82B823BF9F9B}" type="presParOf" srcId="{5D167E8C-136F-440C-8D10-651E4D964A72}" destId="{A651636C-CE47-4575-AA1E-AB00D80E941D}" srcOrd="0" destOrd="0" presId="urn:microsoft.com/office/officeart/2005/8/layout/chevron2"/>
    <dgm:cxn modelId="{BFF53C8A-F466-46C1-9066-7E1EB74CF072}" type="presParOf" srcId="{5D167E8C-136F-440C-8D10-651E4D964A72}" destId="{79B0DE70-0A03-4A6F-B31F-EC81EB5DF7EA}" srcOrd="1" destOrd="0" presId="urn:microsoft.com/office/officeart/2005/8/layout/chevron2"/>
    <dgm:cxn modelId="{530A7BC0-79AB-4546-A568-2187FF19F65D}" type="presParOf" srcId="{C30EB98C-BF8E-47B5-A59F-A3E708D5551C}" destId="{5C2D5B77-4FD3-4BFC-B7C7-B69CFA47B819}" srcOrd="3" destOrd="0" presId="urn:microsoft.com/office/officeart/2005/8/layout/chevron2"/>
    <dgm:cxn modelId="{BE3F6BE8-AEFA-4235-B54E-61907BC9372B}" type="presParOf" srcId="{C30EB98C-BF8E-47B5-A59F-A3E708D5551C}" destId="{FD9C2F86-B450-49A0-8639-065AE676C080}" srcOrd="4" destOrd="0" presId="urn:microsoft.com/office/officeart/2005/8/layout/chevron2"/>
    <dgm:cxn modelId="{2E20AF7C-4B60-47FB-B029-F81F1CE8FCB7}" type="presParOf" srcId="{FD9C2F86-B450-49A0-8639-065AE676C080}" destId="{2AA7B02C-023E-4537-897E-B54A048C8983}" srcOrd="0" destOrd="0" presId="urn:microsoft.com/office/officeart/2005/8/layout/chevron2"/>
    <dgm:cxn modelId="{0573D7AB-2C25-487B-B0E2-947295CA4BF1}" type="presParOf" srcId="{FD9C2F86-B450-49A0-8639-065AE676C080}" destId="{15D3D31F-A831-4E62-ADE9-6ACE81331CDC}" srcOrd="1" destOrd="0" presId="urn:microsoft.com/office/officeart/2005/8/layout/chevron2"/>
    <dgm:cxn modelId="{49FE4450-ED31-4DD4-95F8-F34D880718F4}" type="presParOf" srcId="{C30EB98C-BF8E-47B5-A59F-A3E708D5551C}" destId="{365F76A6-EF4F-41D1-B81D-BC3D7851A081}" srcOrd="5" destOrd="0" presId="urn:microsoft.com/office/officeart/2005/8/layout/chevron2"/>
    <dgm:cxn modelId="{D297B7B3-984B-4BEF-88CF-E8496B62D532}" type="presParOf" srcId="{C30EB98C-BF8E-47B5-A59F-A3E708D5551C}" destId="{4DB00594-09F9-4225-B772-B1D52DAEEAB6}" srcOrd="6" destOrd="0" presId="urn:microsoft.com/office/officeart/2005/8/layout/chevron2"/>
    <dgm:cxn modelId="{58E3F0DF-7BFD-4BEB-873F-CA02319F1E26}" type="presParOf" srcId="{4DB00594-09F9-4225-B772-B1D52DAEEAB6}" destId="{58E45CBE-DE64-4E4E-8AAA-D376465B2BEE}" srcOrd="0" destOrd="0" presId="urn:microsoft.com/office/officeart/2005/8/layout/chevron2"/>
    <dgm:cxn modelId="{C405AC97-4C54-4757-8651-AB11924A4B6F}" type="presParOf" srcId="{4DB00594-09F9-4225-B772-B1D52DAEEAB6}" destId="{C37D6712-7A35-4663-80F7-1B8FC410AF19}"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6A876F-5FA3-42F9-A923-4E2C334EF9BC}">
      <dsp:nvSpPr>
        <dsp:cNvPr id="0" name=""/>
        <dsp:cNvSpPr/>
      </dsp:nvSpPr>
      <dsp:spPr>
        <a:xfrm rot="5400000">
          <a:off x="-106543" y="109307"/>
          <a:ext cx="710288" cy="497202"/>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s-CO" sz="1600" kern="1200" dirty="0">
              <a:latin typeface="Century Gothic" panose="020B0502020202020204" pitchFamily="34" charset="0"/>
            </a:rPr>
            <a:t>1</a:t>
          </a:r>
          <a:endParaRPr lang="es-CO" sz="1200" kern="1200" dirty="0">
            <a:latin typeface="Century Gothic" panose="020B0502020202020204" pitchFamily="34" charset="0"/>
          </a:endParaRPr>
        </a:p>
      </dsp:txBody>
      <dsp:txXfrm rot="-5400000">
        <a:off x="0" y="251365"/>
        <a:ext cx="497202" cy="213086"/>
      </dsp:txXfrm>
    </dsp:sp>
    <dsp:sp modelId="{344A86B1-48E8-448F-9C6D-71580BFB5F83}">
      <dsp:nvSpPr>
        <dsp:cNvPr id="0" name=""/>
        <dsp:cNvSpPr/>
      </dsp:nvSpPr>
      <dsp:spPr>
        <a:xfrm rot="5400000">
          <a:off x="2825947" y="-2325981"/>
          <a:ext cx="461930" cy="5119421"/>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latin typeface="Century Gothic" panose="020B0502020202020204" pitchFamily="34" charset="0"/>
            </a:rPr>
            <a:t>Entender el problema</a:t>
          </a:r>
        </a:p>
      </dsp:txBody>
      <dsp:txXfrm rot="-5400000">
        <a:off x="497202" y="25314"/>
        <a:ext cx="5096871" cy="416830"/>
      </dsp:txXfrm>
    </dsp:sp>
    <dsp:sp modelId="{A651636C-CE47-4575-AA1E-AB00D80E941D}">
      <dsp:nvSpPr>
        <dsp:cNvPr id="0" name=""/>
        <dsp:cNvSpPr/>
      </dsp:nvSpPr>
      <dsp:spPr>
        <a:xfrm rot="5400000">
          <a:off x="-106543" y="658631"/>
          <a:ext cx="710288" cy="497202"/>
        </a:xfrm>
        <a:prstGeom prst="chevron">
          <a:avLst/>
        </a:prstGeom>
        <a:gradFill rotWithShape="0">
          <a:gsLst>
            <a:gs pos="0">
              <a:schemeClr val="accent3">
                <a:hueOff val="252426"/>
                <a:satOff val="3301"/>
                <a:lumOff val="-4052"/>
                <a:alphaOff val="0"/>
                <a:satMod val="103000"/>
                <a:lumMod val="102000"/>
                <a:tint val="94000"/>
              </a:schemeClr>
            </a:gs>
            <a:gs pos="50000">
              <a:schemeClr val="accent3">
                <a:hueOff val="252426"/>
                <a:satOff val="3301"/>
                <a:lumOff val="-4052"/>
                <a:alphaOff val="0"/>
                <a:satMod val="110000"/>
                <a:lumMod val="100000"/>
                <a:shade val="100000"/>
              </a:schemeClr>
            </a:gs>
            <a:gs pos="100000">
              <a:schemeClr val="accent3">
                <a:hueOff val="252426"/>
                <a:satOff val="3301"/>
                <a:lumOff val="-4052"/>
                <a:alphaOff val="0"/>
                <a:lumMod val="99000"/>
                <a:satMod val="120000"/>
                <a:shade val="78000"/>
              </a:schemeClr>
            </a:gs>
          </a:gsLst>
          <a:lin ang="5400000" scaled="0"/>
        </a:gradFill>
        <a:ln w="6350" cap="flat" cmpd="sng" algn="ctr">
          <a:solidFill>
            <a:schemeClr val="accent3">
              <a:hueOff val="252426"/>
              <a:satOff val="3301"/>
              <a:lumOff val="-4052"/>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s-CO" sz="1800" kern="1200" dirty="0">
              <a:latin typeface="Century Gothic" panose="020B0502020202020204" pitchFamily="34" charset="0"/>
            </a:rPr>
            <a:t>2</a:t>
          </a:r>
          <a:endParaRPr lang="es-CO" sz="2400" kern="1200" dirty="0">
            <a:latin typeface="Century Gothic" panose="020B0502020202020204" pitchFamily="34" charset="0"/>
          </a:endParaRPr>
        </a:p>
      </dsp:txBody>
      <dsp:txXfrm rot="-5400000">
        <a:off x="0" y="800689"/>
        <a:ext cx="497202" cy="213086"/>
      </dsp:txXfrm>
    </dsp:sp>
    <dsp:sp modelId="{79B0DE70-0A03-4A6F-B31F-EC81EB5DF7EA}">
      <dsp:nvSpPr>
        <dsp:cNvPr id="0" name=""/>
        <dsp:cNvSpPr/>
      </dsp:nvSpPr>
      <dsp:spPr>
        <a:xfrm rot="5400000">
          <a:off x="2826069" y="-1776779"/>
          <a:ext cx="461687" cy="5119421"/>
        </a:xfrm>
        <a:prstGeom prst="round2SameRect">
          <a:avLst/>
        </a:prstGeom>
        <a:solidFill>
          <a:schemeClr val="lt1">
            <a:alpha val="90000"/>
            <a:hueOff val="0"/>
            <a:satOff val="0"/>
            <a:lumOff val="0"/>
            <a:alphaOff val="0"/>
          </a:schemeClr>
        </a:solidFill>
        <a:ln w="6350" cap="flat" cmpd="sng" algn="ctr">
          <a:solidFill>
            <a:schemeClr val="accent3">
              <a:hueOff val="252426"/>
              <a:satOff val="3301"/>
              <a:lumOff val="-4052"/>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Diseñar un plan</a:t>
          </a:r>
        </a:p>
      </dsp:txBody>
      <dsp:txXfrm rot="-5400000">
        <a:off x="497202" y="574626"/>
        <a:ext cx="5096883" cy="416611"/>
      </dsp:txXfrm>
    </dsp:sp>
    <dsp:sp modelId="{2AA7B02C-023E-4537-897E-B54A048C8983}">
      <dsp:nvSpPr>
        <dsp:cNvPr id="0" name=""/>
        <dsp:cNvSpPr/>
      </dsp:nvSpPr>
      <dsp:spPr>
        <a:xfrm rot="5400000">
          <a:off x="-106543" y="1207954"/>
          <a:ext cx="710288" cy="497202"/>
        </a:xfrm>
        <a:prstGeom prst="chevron">
          <a:avLst/>
        </a:prstGeom>
        <a:gradFill rotWithShape="0">
          <a:gsLst>
            <a:gs pos="0">
              <a:schemeClr val="accent3">
                <a:hueOff val="504853"/>
                <a:satOff val="6602"/>
                <a:lumOff val="-8104"/>
                <a:alphaOff val="0"/>
                <a:satMod val="103000"/>
                <a:lumMod val="102000"/>
                <a:tint val="94000"/>
              </a:schemeClr>
            </a:gs>
            <a:gs pos="50000">
              <a:schemeClr val="accent3">
                <a:hueOff val="504853"/>
                <a:satOff val="6602"/>
                <a:lumOff val="-8104"/>
                <a:alphaOff val="0"/>
                <a:satMod val="110000"/>
                <a:lumMod val="100000"/>
                <a:shade val="100000"/>
              </a:schemeClr>
            </a:gs>
            <a:gs pos="100000">
              <a:schemeClr val="accent3">
                <a:hueOff val="504853"/>
                <a:satOff val="6602"/>
                <a:lumOff val="-8104"/>
                <a:alphaOff val="0"/>
                <a:lumMod val="99000"/>
                <a:satMod val="120000"/>
                <a:shade val="78000"/>
              </a:schemeClr>
            </a:gs>
          </a:gsLst>
          <a:lin ang="5400000" scaled="0"/>
        </a:gradFill>
        <a:ln w="6350" cap="flat" cmpd="sng" algn="ctr">
          <a:solidFill>
            <a:schemeClr val="accent3">
              <a:hueOff val="504853"/>
              <a:satOff val="6602"/>
              <a:lumOff val="-8104"/>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3</a:t>
          </a:r>
        </a:p>
      </dsp:txBody>
      <dsp:txXfrm rot="-5400000">
        <a:off x="0" y="1350012"/>
        <a:ext cx="497202" cy="213086"/>
      </dsp:txXfrm>
    </dsp:sp>
    <dsp:sp modelId="{15D3D31F-A831-4E62-ADE9-6ACE81331CDC}">
      <dsp:nvSpPr>
        <dsp:cNvPr id="0" name=""/>
        <dsp:cNvSpPr/>
      </dsp:nvSpPr>
      <dsp:spPr>
        <a:xfrm rot="5400000">
          <a:off x="2826069" y="-1227455"/>
          <a:ext cx="461687" cy="5119421"/>
        </a:xfrm>
        <a:prstGeom prst="round2SameRect">
          <a:avLst/>
        </a:prstGeom>
        <a:solidFill>
          <a:schemeClr val="lt1">
            <a:alpha val="90000"/>
            <a:hueOff val="0"/>
            <a:satOff val="0"/>
            <a:lumOff val="0"/>
            <a:alphaOff val="0"/>
          </a:schemeClr>
        </a:solidFill>
        <a:ln w="6350" cap="flat" cmpd="sng" algn="ctr">
          <a:solidFill>
            <a:schemeClr val="accent3">
              <a:hueOff val="504853"/>
              <a:satOff val="6602"/>
              <a:lumOff val="-810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Implementar el plan</a:t>
          </a:r>
        </a:p>
      </dsp:txBody>
      <dsp:txXfrm rot="-5400000">
        <a:off x="497202" y="1123950"/>
        <a:ext cx="5096883" cy="416611"/>
      </dsp:txXfrm>
    </dsp:sp>
    <dsp:sp modelId="{58E45CBE-DE64-4E4E-8AAA-D376465B2BEE}">
      <dsp:nvSpPr>
        <dsp:cNvPr id="0" name=""/>
        <dsp:cNvSpPr/>
      </dsp:nvSpPr>
      <dsp:spPr>
        <a:xfrm rot="5400000">
          <a:off x="-106543" y="1757278"/>
          <a:ext cx="710288" cy="497202"/>
        </a:xfrm>
        <a:prstGeom prst="chevron">
          <a:avLst/>
        </a:prstGeom>
        <a:gradFill rotWithShape="0">
          <a:gsLst>
            <a:gs pos="0">
              <a:schemeClr val="accent3">
                <a:hueOff val="757279"/>
                <a:satOff val="9903"/>
                <a:lumOff val="-12156"/>
                <a:alphaOff val="0"/>
                <a:satMod val="103000"/>
                <a:lumMod val="102000"/>
                <a:tint val="94000"/>
              </a:schemeClr>
            </a:gs>
            <a:gs pos="50000">
              <a:schemeClr val="accent3">
                <a:hueOff val="757279"/>
                <a:satOff val="9903"/>
                <a:lumOff val="-12156"/>
                <a:alphaOff val="0"/>
                <a:satMod val="110000"/>
                <a:lumMod val="100000"/>
                <a:shade val="100000"/>
              </a:schemeClr>
            </a:gs>
            <a:gs pos="100000">
              <a:schemeClr val="accent3">
                <a:hueOff val="757279"/>
                <a:satOff val="9903"/>
                <a:lumOff val="-12156"/>
                <a:alphaOff val="0"/>
                <a:lumMod val="99000"/>
                <a:satMod val="120000"/>
                <a:shade val="78000"/>
              </a:schemeClr>
            </a:gs>
          </a:gsLst>
          <a:lin ang="5400000" scaled="0"/>
        </a:gradFill>
        <a:ln w="6350" cap="flat" cmpd="sng" algn="ctr">
          <a:solidFill>
            <a:schemeClr val="accent3">
              <a:hueOff val="757279"/>
              <a:satOff val="9903"/>
              <a:lumOff val="-12156"/>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s-CO" sz="2000" kern="1200" dirty="0">
              <a:latin typeface="Century Gothic" panose="020B0502020202020204" pitchFamily="34" charset="0"/>
            </a:rPr>
            <a:t>4</a:t>
          </a:r>
        </a:p>
      </dsp:txBody>
      <dsp:txXfrm rot="-5400000">
        <a:off x="0" y="1899336"/>
        <a:ext cx="497202" cy="213086"/>
      </dsp:txXfrm>
    </dsp:sp>
    <dsp:sp modelId="{C37D6712-7A35-4663-80F7-1B8FC410AF19}">
      <dsp:nvSpPr>
        <dsp:cNvPr id="0" name=""/>
        <dsp:cNvSpPr/>
      </dsp:nvSpPr>
      <dsp:spPr>
        <a:xfrm rot="5400000">
          <a:off x="2826069" y="-678132"/>
          <a:ext cx="461687" cy="5119421"/>
        </a:xfrm>
        <a:prstGeom prst="round2SameRect">
          <a:avLst/>
        </a:prstGeom>
        <a:solidFill>
          <a:schemeClr val="lt1">
            <a:alpha val="90000"/>
            <a:hueOff val="0"/>
            <a:satOff val="0"/>
            <a:lumOff val="0"/>
            <a:alphaOff val="0"/>
          </a:schemeClr>
        </a:solidFill>
        <a:ln w="6350" cap="flat" cmpd="sng" algn="ctr">
          <a:solidFill>
            <a:schemeClr val="accent3">
              <a:hueOff val="757279"/>
              <a:satOff val="9903"/>
              <a:lumOff val="-12156"/>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s-CO" sz="2000" kern="1200" dirty="0">
              <a:solidFill>
                <a:prstClr val="black">
                  <a:hueOff val="0"/>
                  <a:satOff val="0"/>
                  <a:lumOff val="0"/>
                  <a:alphaOff val="0"/>
                </a:prstClr>
              </a:solidFill>
              <a:latin typeface="Century Gothic" panose="020B0502020202020204" pitchFamily="34" charset="0"/>
              <a:ea typeface="+mn-ea"/>
              <a:cs typeface="+mn-cs"/>
            </a:rPr>
            <a:t>Revisar el plan</a:t>
          </a:r>
        </a:p>
      </dsp:txBody>
      <dsp:txXfrm rot="-5400000">
        <a:off x="497202" y="1673273"/>
        <a:ext cx="5096883" cy="416611"/>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0943A3E-55B9-4706-BA6E-9364B5247742}" type="datetimeFigureOut">
              <a:rPr lang="es-CO" smtClean="0"/>
              <a:t>12/10/2026</a:t>
            </a:fld>
            <a:endParaRPr lang="es-CO"/>
          </a:p>
        </p:txBody>
      </p:sp>
      <p:sp>
        <p:nvSpPr>
          <p:cNvPr id="4" name="3 Marcador de imagen de diapositiva"/>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C08B099-0CC4-41E8-A6BF-D10E445BFF74}" type="slidenum">
              <a:rPr lang="es-CO" smtClean="0"/>
              <a:t>‹Nº›</a:t>
            </a:fld>
            <a:endParaRPr lang="es-CO"/>
          </a:p>
        </p:txBody>
      </p:sp>
    </p:spTree>
    <p:extLst>
      <p:ext uri="{BB962C8B-B14F-4D97-AF65-F5344CB8AC3E}">
        <p14:creationId xmlns:p14="http://schemas.microsoft.com/office/powerpoint/2010/main" val="1715684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78FAE389-1891-4C1C-AE7B-96446A92669F}" type="datetime1">
              <a:rPr lang="es-CO" smtClean="0"/>
              <a:t>12/10/2026</a:t>
            </a:fld>
            <a:endParaRPr lang="es-CO" dirty="0"/>
          </a:p>
        </p:txBody>
      </p:sp>
      <p:sp>
        <p:nvSpPr>
          <p:cNvPr id="5" name="Footer Placeholder 4"/>
          <p:cNvSpPr>
            <a:spLocks noGrp="1"/>
          </p:cNvSpPr>
          <p:nvPr>
            <p:ph type="ftr" sz="quarter" idx="11"/>
          </p:nvPr>
        </p:nvSpPr>
        <p:spPr/>
        <p:txBody>
          <a:bodyPr/>
          <a:lstStyle/>
          <a:p>
            <a:endParaRPr lang="es-CO" dirty="0"/>
          </a:p>
        </p:txBody>
      </p:sp>
      <p:sp>
        <p:nvSpPr>
          <p:cNvPr id="6" name="Slide Number Placeholder 5"/>
          <p:cNvSpPr>
            <a:spLocks noGrp="1"/>
          </p:cNvSpPr>
          <p:nvPr>
            <p:ph type="sldNum" sz="quarter" idx="12"/>
          </p:nvPr>
        </p:nvSpPr>
        <p:spPr/>
        <p:txBody>
          <a:body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1366208883"/>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BC197211-2E02-4E34-9D1C-742DBBA2E713}" type="datetime1">
              <a:rPr lang="es-CO" smtClean="0"/>
              <a:t>12/10/2026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dirty="0"/>
          </a:p>
        </p:txBody>
      </p:sp>
    </p:spTree>
    <p:extLst>
      <p:ext uri="{BB962C8B-B14F-4D97-AF65-F5344CB8AC3E}">
        <p14:creationId xmlns:p14="http://schemas.microsoft.com/office/powerpoint/2010/main" val="35199187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F84A16AA-8F92-4F8D-9FF5-AE4F5F025475}" type="datetime1">
              <a:rPr lang="es-CO" smtClean="0"/>
              <a:t>12/10/2026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4321495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58A2889A-C4A3-4C6C-A514-E9566A95FF0B}" type="datetime1">
              <a:rPr lang="es-CO" smtClean="0"/>
              <a:t>12/10/2026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0313126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629842" y="2505075"/>
            <a:ext cx="3868340"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4629150" y="2505075"/>
            <a:ext cx="3887391"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CFC549B8-F78E-4015-8DD3-99AC842EEF5C}" type="datetime1">
              <a:rPr lang="es-CO" smtClean="0"/>
              <a:t>12/10/2026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473852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78FAE389-1891-4C1C-AE7B-96446A92669F}" type="datetime1">
              <a:rPr lang="es-CO" smtClean="0"/>
              <a:t>12/10/2026</a:t>
            </a:fld>
            <a:endParaRPr lang="es-CO" dirty="0"/>
          </a:p>
        </p:txBody>
      </p:sp>
      <p:sp>
        <p:nvSpPr>
          <p:cNvPr id="4" name="Footer Placeholder 3"/>
          <p:cNvSpPr>
            <a:spLocks noGrp="1"/>
          </p:cNvSpPr>
          <p:nvPr>
            <p:ph type="ftr" sz="quarter" idx="11"/>
          </p:nvPr>
        </p:nvSpPr>
        <p:spPr/>
        <p:txBody>
          <a:bodyPr/>
          <a:lstStyle/>
          <a:p>
            <a:endParaRPr lang="es-CO" dirty="0"/>
          </a:p>
        </p:txBody>
      </p:sp>
      <p:sp>
        <p:nvSpPr>
          <p:cNvPr id="5" name="Slide Number Placeholder 4"/>
          <p:cNvSpPr>
            <a:spLocks noGrp="1"/>
          </p:cNvSpPr>
          <p:nvPr>
            <p:ph type="sldNum" sz="quarter" idx="12"/>
          </p:nvPr>
        </p:nvSpPr>
        <p:spPr/>
        <p:txBody>
          <a:body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2085105137"/>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375FDE-4F9B-4FF4-9D4F-6D3ED15F62CE}" type="datetime1">
              <a:rPr lang="es-CO" smtClean="0"/>
              <a:t>12/10/2026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7268376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7AF392FA-6414-43D4-857F-1D16849F2AFB}" type="datetime1">
              <a:rPr lang="es-CO" smtClean="0"/>
              <a:t>12/10/2026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3088452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E2F1ADB1-43E6-4CC5-8BA6-A3F5A7E6EF55}" type="datetime1">
              <a:rPr lang="es-CO" smtClean="0"/>
              <a:t>12/10/2026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15306390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169921E5-6957-4C84-BD80-156D13F58C59}" type="datetime1">
              <a:rPr lang="es-CO" smtClean="0"/>
              <a:t>12/10/2026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771218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7BB61D7-E979-4A0B-B106-A9203ABD6AA5}" type="datetime1">
              <a:rPr lang="es-CO" smtClean="0"/>
              <a:t>12/10/2026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7DF11D6-2A43-477C-ACA3-F1025A79500F}" type="slidenum">
              <a:rPr lang="es-CO" smtClean="0"/>
              <a:t>‹Nº›</a:t>
            </a:fld>
            <a:endParaRPr lang="es-CO"/>
          </a:p>
        </p:txBody>
      </p:sp>
    </p:spTree>
    <p:extLst>
      <p:ext uri="{BB962C8B-B14F-4D97-AF65-F5344CB8AC3E}">
        <p14:creationId xmlns:p14="http://schemas.microsoft.com/office/powerpoint/2010/main" val="22225396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dirty="0"/>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BC197211-2E02-4E34-9D1C-742DBBA2E713}" type="datetime1">
              <a:rPr lang="es-CO" smtClean="0"/>
              <a:t>12/10/2026</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47DF11D6-2A43-477C-ACA3-F1025A79500F}" type="slidenum">
              <a:rPr lang="es-CO" smtClean="0"/>
              <a:t>‹Nº›</a:t>
            </a:fld>
            <a:endParaRPr lang="es-CO" dirty="0"/>
          </a:p>
        </p:txBody>
      </p:sp>
    </p:spTree>
    <p:extLst>
      <p:ext uri="{BB962C8B-B14F-4D97-AF65-F5344CB8AC3E}">
        <p14:creationId xmlns:p14="http://schemas.microsoft.com/office/powerpoint/2010/main" val="3864103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FAE389-1891-4C1C-AE7B-96446A92669F}" type="datetime1">
              <a:rPr lang="es-CO" smtClean="0"/>
              <a:t>12/10/2026</a:t>
            </a:fld>
            <a:endParaRPr lang="es-CO" dirty="0"/>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7DF11D6-2A43-477C-ACA3-F1025A79500F}" type="slidenum">
              <a:rPr lang="es-CO" smtClean="0"/>
              <a:pPr/>
              <a:t>‹Nº›</a:t>
            </a:fld>
            <a:endParaRPr lang="es-CO" dirty="0"/>
          </a:p>
        </p:txBody>
      </p:sp>
    </p:spTree>
    <p:extLst>
      <p:ext uri="{BB962C8B-B14F-4D97-AF65-F5344CB8AC3E}">
        <p14:creationId xmlns:p14="http://schemas.microsoft.com/office/powerpoint/2010/main" val="4143474534"/>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65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Layout" Target="../diagrams/layout1.xml"/><Relationship Id="rId7" Type="http://schemas.openxmlformats.org/officeDocument/2006/relationships/image" Target="../media/image1.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9"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hyperlink" Target="https://pythontutor.com/visualize.html#code=%23%20Entrada%20de%20datos%0Ac%20%3D%20float%28input%28%22Ingrese%20los%20%C2%B0C%3A%20%22%29%29%0A%0A%23%20Conversion%20%C2%B0C%20a%20%C2%B0F%0Af%20%3D%20%289.0/5%29*c%20%2B%2032%0A%0A%23%20Salida%0Aprint%28c,%22%C2%B0C%20%3D%22,f,%22%C2%B0F%22%29%0A&amp;curInstr=0&amp;mode=display&amp;origin=opt-frontend.js&amp;py=311"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pythontutor.com/visualize.html#code=%23%20Constantes%0API%20%3D%203.1416%0A%0A%23%20Definicion%20de%20la%20funcion%0Adef%20calcular_area_circulo%28radio%29%3A%0A%20%20%20%20return%20PI%20*%20radio%20**%202%0A%20%20%20%20%0A%23%20Invocacion%0Aarea%20%3D%20calcular_area_circulo%285%29%0A%23%20Salida%20en%20pantalla%0Aprint%28f%22%7Barea%3A.2f%7D%22%29&amp;curInstr=0&amp;mode=display&amp;origin=opt-frontend.js&amp;py=311"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pythontutor.com/visualize.html#code=def%20calcular_area_rectangulo%28base,%20altura%29%3A%0A%20%20%20%20return%20base%20*%20altura%0A%0A%23%20Pruebas%20unitarias%0A%0A%23%20Sin%20mensaje%0Aassert%20calcular_area_rectangulo%284,%203%29%20%3D%3D%2012%0A%0A%23%20Con%20mensaje%0Aassert%20calcular_area_rectangulo%284,%203%29%20%3D%3D%2012,%20%22El%20%C3%A1rea%20de%204%20x%203%20debe%20ser%2012%22%0A%0A&amp;curInstr=0&amp;mode=display&amp;origin=opt-frontend.js&amp;py=311"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pythontutor.com/visualize.html#code=%23%20Funcion%20%28Modulo%29%0Adef%20celcius_to_fahrenheit%28c%29%3A%0A%20%20%20%20f%20%3D%20%289.0/5%29*c%20%2B%2032%0A%20%20%20%20return%20f%0A%0A%23%20Entrada%20de%20datos%0Atemp_c%20%3D%20float%28input%28%22Ingrese%20los%20%C2%B0C%3A%20%22%29%29%0A%0A%23%20Invocacion%20de%20la%20funcion%0Atemp_f%20%3D%20celcius_to_fahrenheit%28temp_c%29%0A%0A%23%20Despliegue%20de%20resultados%0Aprint%28temp_c,%22%C2%B0C%20%3D%22,%20temp_f,%22%C2%B0F%22%29%0A&amp;curInstr=0&amp;mode=display&amp;origin=opt-frontend.js&amp;py=311" TargetMode="External"/><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pythontutor.com/visualize.html#code=%23%20Entrada%20de%20datos%0Ac%20%3D%20float%28input%28%22Ingrese%20los%20%C2%B0C%3A%20%22%29%29%0A%0A%23%20Conversion%20%C2%B0C%20a%20%C2%B0F%0Af%20%3D%20%289.0/5%29*c%20%2B%2032%0A%0A%23%20Salida%0Aprint%28c,%22%C2%B0C%20%3D%22,f,%22%C2%B0F%22%29%0A&amp;curInstr=0&amp;mode=display&amp;origin=opt-frontend.js&amp;py=311"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5" Type="http://schemas.openxmlformats.org/officeDocument/2006/relationships/hyperlink" Target="https://pythontutor.com/visualize.html#code=def%20f%28x%29%3A%20%0A%20%20%20%20y%20%3D%201%20%0A%20%20%20%20x%20%3D%20x%20%2B%20y%20%0A%20%20%20%20print%28'x%20%3D',%20x%29%20%0A%20%20%20%20return%20x%20%0A%0Ax%20%3D%203%20%0Ay%20%3D%202%20%0Az%20%3D%20f%28x%29%20%0Aprint%28'z%20%3D',%20z%29%20%0Aprint%28'x%20%3D',%20x%29%20%0Aprint%28'y%20%3D',%20y%29%0A&amp;curInstr=0&amp;mode=display&amp;origin=opt-frontend.js&amp;py=311" TargetMode="External"/><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pythontutor.com/visualize.html#code=def%20celsius_a_fahrenheit%28temp_c%29%3A%0A%20%20%20%20temp_f%20%3D%20%289%20/%205%29%20*%20temp_c%20%2B%2032%0A%20%20%20%20return%20temp_f%0A%0Atemp_c%20%3D%20float%28input%28%22Ingrese%20los%20%C2%B0C%3A%20%22%29%29%0Atemp_f%20%3D%20celsius_a_fahrenheit%28temp_c%29%0A%0Aprint%28f%22%7Btemp_c%7D%20%C2%B0C%20%3D%20%7Btemp_f%7D%20%C2%B0F%22%29%0A&amp;curInstr=0&amp;mode=display&amp;origin=opt-frontend.js&amp;py=311" TargetMode="Externa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hyperlink" Target="https://pythontutor.com/visualize.html#code=conversiones%20%3D%200%0A%0Adef%20celsius_a_fahrenheit%28temp_c%29%3A%0A%20%20%20%20global%20conversiones%0A%20%20%20%20conversiones%20%3D%20conversiones%20%2B%201%0A%20%20%20%20temp_f%20%3D%20%289%20/%205%29%20*%20temp_c%20%2B%2032%0A%20%20%20%20return%20temp_f%0A%0A%23%20Pruebas%0Aassert%20round%28celsius_a_fahrenheit%28100%29,%202%29%20%3D%3D%20212.0%0Aassert%20round%28celsius_a_fahrenheit%280%29,%202%29%20%3D%3D%2032.0%0A%0A%23%20Programa%20principal%3A%20el%20usuario%20hace%20UNA%20conversion%0Atemp_f%20%3D%20celsius_a_fahrenheit%2823%29%0Aprint%28%2223%20%C2%B0C%20%3D%22,%20temp_f,%20%22%C2%B0F%22%29%0Aprint%28%22Conversiones%3A%22,%20conversiones%29%0A&amp;curInstr=0&amp;mode=display&amp;origin=opt-frontend.js&amp;py=311" TargetMode="External"/><Relationship Id="rId2" Type="http://schemas.openxmlformats.org/officeDocument/2006/relationships/hyperlink" Target="https://pythontutor.com/visualize.html#code=CERO_ABSOLUTO%20%3D%20-273.15%0A%0Adef%20celsius_a_kelvin%28temp_c%29%3A%0A%20%20%20%20temp_k%20%3D%20temp_c%20-%20CERO_ABSOLUTO%0A%20%20%20%20return%20temp_k%0A%0Atemp_k%20%3D%20celsius_a_kelvin%2825%29%0Aprint%28%2225%20%C2%B0C%20%3D%22,%20temp_k,%20%22K%22%29%0A&amp;curInstr=0&amp;mode=display&amp;origin=opt-frontend.js&amp;py=311"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pythontutor.com/visualize.html#code=conversiones%20%3D%200%0A%0Adef%20celsius_a_fahrenheit%28temp_c%29%3A%0A%20%20%20%20conversiones%20%3D%20conversiones%20%2B%201%0A%20%20%20%20temp_f%20%3D%20%289%20%2F%205%29%20%2A%20temp_c%20%2B%2032%0A%20%20%20%20return%20temp_f%0A%0Atemp_f%20%3D%20celsius_a_fahrenheit%2823%29%0A&amp;cumulative=false&amp;curInstr=0&amp;heapPrimitives=nevernest&amp;mode=display&amp;origin=opt-frontend.js&amp;py=311&amp;rawInputLstJSON=%5B%5D&amp;textReferences=false" TargetMode="External"/><Relationship Id="rId2" Type="http://schemas.openxmlformats.org/officeDocument/2006/relationships/hyperlink" Target="https://pythontutor.com/visualize.html#code=CERO_ABSOLUTO%20%3D%20-273.15%0A%0Adef%20celsius_a_kelvin%28temp_c%29%3A%0A%20%20%20%20temp_k%20%3D%20temp_c%20-%20CERO_ABSOLUTO%0A%20%20%20%20return%20temp_k%0A%0Atemp_k%20%3D%20celsius_a_kelvin%2825%29%0Aprint%28%2225%20%C2%B0C%20%3D%22,%20temp_k,%20%22K%22%29%0A&amp;curInstr=0&amp;mode=display&amp;origin=opt-frontend.js&amp;py=311" TargetMode="External"/><Relationship Id="rId1" Type="http://schemas.openxmlformats.org/officeDocument/2006/relationships/slideLayout" Target="../slideLayouts/slideLayout2.xml"/><Relationship Id="rId4" Type="http://schemas.openxmlformats.org/officeDocument/2006/relationships/hyperlink" Target="https://pythontutor.com/visualize.html#code=def%20celsius_a_fahrenheit%28temp_c%29%3A%0A%20%20%20%20temp_f%20%3D%20%289%20%2F%205%29%20%2A%20temp_c%20%2B%2032%0A%20%20%20%20return%20temp_f%0A%0Acelsius_a_fahrenheit%2823%29%20%20%20%20%20%23%20el%20resultado%20no%20se%20guarda%0Aprint%28temp_f%29%0A&amp;cumulative=false&amp;curInstr=0&amp;heapPrimitives=nevernest&amp;mode=display&amp;origin=opt-frontend.js&amp;py=311&amp;rawInputLstJSON=%5B%5D&amp;textReferences=false"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pythontutor.com/visualize.html#code=def%20factorial%28n%29%3A%0A%20%20%20%20fact%20%3D%201%0A%20%20%20%20for%20i%20in%20range%281%2C%20n%20%2B%201%29%3A%0A%20%20%20%20%20%20%20%20fact%20%3D%20fact%20%2A%20i%0A%20%20%20%20return%20fact%0A%0Adef%20seno%28x%2C%20n%29%3A%0A%20%20%20%20suma%20%3D%200%0A%20%20%20%20for%20k%20in%20range%28n%29%3A%0A%20%20%20%20%20%20%20%20suma%20%3D%20suma%20%2B%20%28-1%29%2A%2Ak%20%2A%20x%2A%2A%282%2Ak%20%2B%201%29%20%2F%20factorial%282%2Ak%20%2B%201%29%0A%20%20%20%20return%20suma%0A%0Aa%20%3D%20seno%281.0%2C%203%29%20%20%20%20%20%20%20%20%20%20%23%20por%20posicion%0Ab%20%3D%20seno%28x%3D1.0%2C%20n%3D3%29%20%20%20%20%20%20%23%20por%20nombre%0Ac%20%3D%20seno%28n%3D3%2C%20x%3D1.0%29%20%20%20%20%20%20%23%20por%20nombre%2C%20en%20otro%20orden%0Ad%20%3D%20seno%281.0%2C%20n%3D3%29%20%20%20%20%20%20%20%20%23%20mezclados%0Aprint%28a%2C%20b%2C%20c%2C%20d%29%0A&amp;cumulative=false&amp;curInstr=0&amp;heapPrimitives=nevernest&amp;mode=display&amp;origin=opt-frontend.js&amp;py=311&amp;rawInputLstJSON=%5B%5D&amp;textReferences=false" TargetMode="External"/><Relationship Id="rId2" Type="http://schemas.openxmlformats.org/officeDocument/2006/relationships/hyperlink" Target="https://pythontutor.com/visualize.html#code=CERO_ABSOLUTO%20%3D%20-273.15%0A%0Adef%20celsius_a_kelvin%28temp_c%29%3A%0A%20%20%20%20temp_k%20%3D%20temp_c%20-%20CERO_ABSOLUTO%0A%20%20%20%20return%20temp_k%0A%0Atemp_k%20%3D%20celsius_a_kelvin%2825%29%0Aprint%28%2225%20%C2%B0C%20%3D%22,%20temp_k,%20%22K%22%29%0A&amp;curInstr=0&amp;mode=display&amp;origin=opt-frontend.js&amp;py=311" TargetMode="Externa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3" Type="http://schemas.openxmlformats.org/officeDocument/2006/relationships/hyperlink" Target="https://pythontutor.com/visualize.html#code=def%20factorial%28n%29%3A%0A%20%20%20%20fact%20%3D%201%0A%20%20%20%20for%20i%20in%20range%281%2C%20n%20%2B%201%29%3A%0A%20%20%20%20%20%20%20%20fact%20%3D%20fact%20%2A%20i%0A%20%20%20%20return%20fact%0A%0Adef%20seno%28x%2C%20n%3D10%29%3A%0A%20%20%20%20suma%20%3D%200%0A%20%20%20%20for%20k%20in%20range%28n%29%3A%0A%20%20%20%20%20%20%20%20suma%20%3D%20suma%20%2B%20%28-1%29%2A%2Ak%20%2A%20x%2A%2A%282%2Ak%20%2B%201%29%20%2F%20factorial%282%2Ak%20%2B%201%29%0A%20%20%20%20return%20suma%0A%0Aa%20%3D%20seno%281.0%29%20%20%20%20%20%20%20%20%20%20%23%20n%20omitido%3A%20usa%2010%0Ab%20%3D%20seno%281.0%2C%203%29%20%20%20%20%20%20%20%23%20n%20%3D%203%0Ac%20%3D%20seno%28n%3D3%2C%20x%3D1.0%29%20%20%20%23%20por%20nombre%0Aprint%28a%29%0Aprint%28b%29%0Aprint%28c%29%0A&amp;cumulative=false&amp;curInstr=0&amp;heapPrimitives=nevernest&amp;mode=display&amp;origin=opt-frontend.js&amp;py=311&amp;rawInputLstJSON=%5B%5D&amp;textReferences=false" TargetMode="External"/><Relationship Id="rId2" Type="http://schemas.openxmlformats.org/officeDocument/2006/relationships/hyperlink" Target="https://pythontutor.com/visualize.html#code=CERO_ABSOLUTO%20%3D%20-273.15%0A%0Adef%20celsius_a_kelvin%28temp_c%29%3A%0A%20%20%20%20temp_k%20%3D%20temp_c%20-%20CERO_ABSOLUTO%0A%20%20%20%20return%20temp_k%0A%0Atemp_k%20%3D%20celsius_a_kelvin%2825%29%0Aprint%28%2225%20%C2%B0C%20%3D%22,%20temp_k,%20%22K%22%29%0A&amp;curInstr=0&amp;mode=display&amp;origin=opt-frontend.js&amp;py=311"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pythontutor.com/visualize.html#code=def%20factorial%28n%29%3A%0A%20%20%20%20fact%20%3D%201%0A%20%20%20%20for%20i%20in%20range%281,%20n%20%2B%201%29%3A%0A%20%20%20%20%20%20%20%20fact%20%3D%20fact%20*%20i%0A%20%20%20%20return%20fact%0A%0Adef%20seno%28x,%20n%3D10%29%3A%0A%20%20%20%20suma%20%3D%200%0A%20%20%20%20for%20k%20in%20range%28n%29%3A%0A%20%20%20%20%20%20%20%20suma%20%3D%20suma%20%2B%20%28-1%29**k%20*%20x**%282*k%20%2B%201%29%20/%20factorial%282*k%20%2B%201%29%0A%20%20%20%20return%20suma%0A%0Aresultado%20%3D%20seno%281.0,%203%29%0Aprint%28resultado%29&amp;curInstr=0&amp;mode=display&amp;origin=opt-frontend.js&amp;py=311" TargetMode="External"/><Relationship Id="rId2" Type="http://schemas.openxmlformats.org/officeDocument/2006/relationships/hyperlink" Target="https://pythontutor.com/visualize.html#code=CERO_ABSOLUTO%20%3D%20-273.15%0A%0Adef%20celsius_a_kelvin%28temp_c%29%3A%0A%20%20%20%20temp_k%20%3D%20temp_c%20-%20CERO_ABSOLUTO%0A%20%20%20%20return%20temp_k%0A%0Atemp_k%20%3D%20celsius_a_kelvin%2825%29%0Aprint%28%2225%20%C2%B0C%20%3D%22,%20temp_k,%20%22K%22%29%0A&amp;curInstr=0&amp;mode=display&amp;origin=opt-frontend.js&amp;py=311"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hyperlink" Target="https://www.aprenderaprogramar.com/index.php?option=com_content&amp;view=article&amp;id=254:abstraccion-en-programacion-concepto-diseno-top-down-de-algoritmos-y-programas-ejemplos-cu00225a&amp;catid=36:curso-qbases-de-la-programacion-nivel-iiq&amp;Itemid=60" TargetMode="External"/></Relationships>
</file>

<file path=ppt/slides/_rels/slide2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hyperlink" Target="https://github.com/algoritmos-UdeA/logica1-20262/tree/main/clases/10/teoria/codigo"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pythontutor.com/visualize.html#code=import%20math%0A%0Aprint%28math.sqrt%2825%29%29%20%20%20%20%20%23%205.0%0Aprint%28math.pi%29%20%20%20%20%20%20%20%20%20%20%20%23%203.141592653589793%0Aprint%28math.factorial%285%29%29%20%23%20120&amp;curInstr=0&amp;mode=display&amp;origin=opt-frontend.js&amp;py=311" TargetMode="External"/><Relationship Id="rId2" Type="http://schemas.openxmlformats.org/officeDocument/2006/relationships/hyperlink" Target="https://pythontutor.com/visualize.html#code=CERO_ABSOLUTO%20%3D%20-273.15%0A%0Adef%20celsius_a_kelvin%28temp_c%29%3A%0A%20%20%20%20temp_k%20%3D%20temp_c%20-%20CERO_ABSOLUTO%0A%20%20%20%20return%20temp_k%0A%0Atemp_k%20%3D%20celsius_a_kelvin%2825%29%0Aprint%28%2225%20%C2%B0C%20%3D%22,%20temp_k,%20%22K%22%29%0A&amp;curInstr=0&amp;mode=display&amp;origin=opt-frontend.js&amp;py=311"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hyperlink" Target="https://docs.python.org/es/3/library/math.html"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hyperlink" Target="https://docs.python.org/es/3/library/math.html" TargetMode="Externa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hyperlink" Target="https://github.com/algoritmos-UdeA/logica1-20262/tree/main/clases/10/teoria/codigo/adivina_numero"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www.youtube.com/watch?v=tIrcxwLqzjQ" TargetMode="External"/><Relationship Id="rId2" Type="http://schemas.openxmlformats.org/officeDocument/2006/relationships/hyperlink" Target="https://cs50.harvard.edu/python/notes/5/#pytest" TargetMode="Externa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cs50.harvard.edu/python/notes/4/" TargetMode="External"/><Relationship Id="rId2"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hyperlink" Target="https://www.youtube.com/watch?v=MztLZWibctI" TargetMode="External"/></Relationships>
</file>

<file path=ppt/slides/_rels/slide5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compedu.stanford.edu/karel-reader/docs/python/en/chapter8.html" TargetMode="External"/><Relationship Id="rId7" Type="http://schemas.openxmlformats.org/officeDocument/2006/relationships/hyperlink" Target="https://cs50.harvard.edu/python/notes/0/" TargetMode="External"/><Relationship Id="rId2" Type="http://schemas.openxmlformats.org/officeDocument/2006/relationships/hyperlink" Target="https://www.aprenderaprogramar.com/index.php?option=com_content&amp;view=category&amp;id=36&amp;Itemid=60" TargetMode="External"/><Relationship Id="rId1" Type="http://schemas.openxmlformats.org/officeDocument/2006/relationships/slideLayout" Target="../slideLayouts/slideLayout2.xml"/><Relationship Id="rId6" Type="http://schemas.openxmlformats.org/officeDocument/2006/relationships/hyperlink" Target="https://ocw.mit.edu/courses/6-100l-introduction-to-cs-and-programming-using-python-fall-2022/resources/6100l-lecture-7-multi_mp4/" TargetMode="External"/><Relationship Id="rId5" Type="http://schemas.openxmlformats.org/officeDocument/2006/relationships/hyperlink" Target="https://ocw.mit.edu/courses/6-100l-introduction-to-cs-and-programming-using-python-fall-2022/resources/mit6_100l_f22_lec07_pdf/" TargetMode="External"/><Relationship Id="rId4" Type="http://schemas.openxmlformats.org/officeDocument/2006/relationships/hyperlink" Target="https://web.stanford.edu/class/archive/cs/cs106a/cs106a.1226/lectures/03-decomposition/3-Decomposition.pdf" TargetMode="External"/></Relationships>
</file>

<file path=ppt/slides/_rels/slide59.xml.rels><?xml version="1.0" encoding="UTF-8" standalone="yes"?>
<Relationships xmlns="http://schemas.openxmlformats.org/package/2006/relationships"><Relationship Id="rId8" Type="http://schemas.openxmlformats.org/officeDocument/2006/relationships/hyperlink" Target="https://realpython.com/defining-your-own-python-function/" TargetMode="External"/><Relationship Id="rId13" Type="http://schemas.openxmlformats.org/officeDocument/2006/relationships/hyperlink" Target="https://cs.stanford.edu/people/nick/py/" TargetMode="External"/><Relationship Id="rId18" Type="http://schemas.openxmlformats.org/officeDocument/2006/relationships/hyperlink" Target="https://es.wikipedia.org/wiki/Karel_el_Robot" TargetMode="External"/><Relationship Id="rId3" Type="http://schemas.openxmlformats.org/officeDocument/2006/relationships/hyperlink" Target="https://www.uvm.edu/~cbcafier/" TargetMode="External"/><Relationship Id="rId7" Type="http://schemas.openxmlformats.org/officeDocument/2006/relationships/hyperlink" Target="https://www.teach.cs.toronto.edu/~csc110y/fall/notes/" TargetMode="External"/><Relationship Id="rId12" Type="http://schemas.openxmlformats.org/officeDocument/2006/relationships/hyperlink" Target="https://realpython.com/ref/keywords/while/" TargetMode="External"/><Relationship Id="rId17" Type="http://schemas.openxmlformats.org/officeDocument/2006/relationships/hyperlink" Target="https://compedu.stanford.edu/karel-reader/docs/python/en/intro.html" TargetMode="External"/><Relationship Id="rId2" Type="http://schemas.openxmlformats.org/officeDocument/2006/relationships/hyperlink" Target="https://ellibrodepython.com/" TargetMode="External"/><Relationship Id="rId16" Type="http://schemas.openxmlformats.org/officeDocument/2006/relationships/hyperlink" Target="https://web.stanford.edu/class/cs106a/section/section1/section1.html" TargetMode="External"/><Relationship Id="rId1" Type="http://schemas.openxmlformats.org/officeDocument/2006/relationships/slideLayout" Target="../slideLayouts/slideLayout2.xml"/><Relationship Id="rId6" Type="http://schemas.openxmlformats.org/officeDocument/2006/relationships/hyperlink" Target="https://python-course.eu/" TargetMode="External"/><Relationship Id="rId11" Type="http://schemas.openxmlformats.org/officeDocument/2006/relationships/hyperlink" Target="https://realpython.com/python-while-loop/" TargetMode="External"/><Relationship Id="rId5" Type="http://schemas.openxmlformats.org/officeDocument/2006/relationships/hyperlink" Target="https://docs.python.org/es/3/tutorial/" TargetMode="External"/><Relationship Id="rId15" Type="http://schemas.openxmlformats.org/officeDocument/2006/relationships/hyperlink" Target="https://web.stanford.edu/class/cs106a/" TargetMode="External"/><Relationship Id="rId10" Type="http://schemas.openxmlformats.org/officeDocument/2006/relationships/hyperlink" Target="https://realpython.com/ref/best-practices/functions/" TargetMode="External"/><Relationship Id="rId4" Type="http://schemas.openxmlformats.org/officeDocument/2006/relationships/hyperlink" Target="https://realpython.com/" TargetMode="External"/><Relationship Id="rId9" Type="http://schemas.openxmlformats.org/officeDocument/2006/relationships/hyperlink" Target="https://realpython.com/python-built-in-functions/" TargetMode="External"/><Relationship Id="rId14" Type="http://schemas.openxmlformats.org/officeDocument/2006/relationships/hyperlink" Target="https://github.com/rjherrera/IIC1103/tree/master"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phdcomics.com/comics/archive.php?comicid=1431" TargetMode="External"/><Relationship Id="rId2" Type="http://schemas.openxmlformats.org/officeDocument/2006/relationships/image" Target="../media/image41.gif"/><Relationship Id="rId1" Type="http://schemas.openxmlformats.org/officeDocument/2006/relationships/slideLayout" Target="../slideLayouts/slideLayout2.xml"/><Relationship Id="rId4" Type="http://schemas.openxmlformats.org/officeDocument/2006/relationships/image" Target="../media/image4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5909BB-6F92-48BA-A875-99E15D2253EC}"/>
              </a:ext>
            </a:extLst>
          </p:cNvPr>
          <p:cNvSpPr>
            <a:spLocks noGrp="1"/>
          </p:cNvSpPr>
          <p:nvPr>
            <p:ph type="ctrTitle"/>
          </p:nvPr>
        </p:nvSpPr>
        <p:spPr>
          <a:xfrm>
            <a:off x="323528" y="1122363"/>
            <a:ext cx="8568952" cy="2387600"/>
          </a:xfrm>
        </p:spPr>
        <p:txBody>
          <a:bodyPr/>
          <a:lstStyle/>
          <a:p>
            <a:r>
              <a:rPr lang="es-CO" dirty="0"/>
              <a:t>Lógica y Representación 1</a:t>
            </a:r>
          </a:p>
        </p:txBody>
      </p:sp>
      <p:sp>
        <p:nvSpPr>
          <p:cNvPr id="3" name="Subtítulo 2">
            <a:extLst>
              <a:ext uri="{FF2B5EF4-FFF2-40B4-BE49-F238E27FC236}">
                <a16:creationId xmlns:a16="http://schemas.microsoft.com/office/drawing/2014/main" id="{8A9999BC-7CCA-4677-B2C4-E913A7AA1FC0}"/>
              </a:ext>
            </a:extLst>
          </p:cNvPr>
          <p:cNvSpPr>
            <a:spLocks noGrp="1"/>
          </p:cNvSpPr>
          <p:nvPr>
            <p:ph type="subTitle" idx="1"/>
          </p:nvPr>
        </p:nvSpPr>
        <p:spPr/>
        <p:txBody>
          <a:bodyPr>
            <a:normAutofit/>
          </a:bodyPr>
          <a:lstStyle/>
          <a:p>
            <a:r>
              <a:rPr lang="es-MX" sz="3200" b="1" dirty="0"/>
              <a:t>Funciones: diseño, librerías y módulos</a:t>
            </a:r>
          </a:p>
          <a:p>
            <a:r>
              <a:rPr lang="es-CO" dirty="0"/>
              <a:t>Ingeniería de Sistemas</a:t>
            </a:r>
          </a:p>
          <a:p>
            <a:r>
              <a:rPr lang="es-CO" dirty="0"/>
              <a:t>Universidad de Antioquia</a:t>
            </a:r>
          </a:p>
        </p:txBody>
      </p:sp>
    </p:spTree>
    <p:extLst>
      <p:ext uri="{BB962C8B-B14F-4D97-AF65-F5344CB8AC3E}">
        <p14:creationId xmlns:p14="http://schemas.microsoft.com/office/powerpoint/2010/main" val="7740975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51520" y="188640"/>
            <a:ext cx="8263830" cy="845334"/>
          </a:xfrm>
        </p:spPr>
        <p:txBody>
          <a:bodyPr>
            <a:normAutofit/>
          </a:bodyPr>
          <a:lstStyle/>
          <a:p>
            <a:r>
              <a:rPr lang="es-CO" sz="4000" dirty="0"/>
              <a:t>Método de Polya - Resumen</a:t>
            </a:r>
            <a:endParaRPr lang="en-US" sz="4000" dirty="0"/>
          </a:p>
        </p:txBody>
      </p:sp>
      <p:graphicFrame>
        <p:nvGraphicFramePr>
          <p:cNvPr id="6" name="13 Diagrama">
            <a:extLst>
              <a:ext uri="{FF2B5EF4-FFF2-40B4-BE49-F238E27FC236}">
                <a16:creationId xmlns:a16="http://schemas.microsoft.com/office/drawing/2014/main" id="{D0B70736-976D-4675-A33E-9F94643ADC43}"/>
              </a:ext>
            </a:extLst>
          </p:cNvPr>
          <p:cNvGraphicFramePr/>
          <p:nvPr>
            <p:extLst>
              <p:ext uri="{D42A27DB-BD31-4B8C-83A1-F6EECF244321}">
                <p14:modId xmlns:p14="http://schemas.microsoft.com/office/powerpoint/2010/main" val="3245553215"/>
              </p:ext>
            </p:extLst>
          </p:nvPr>
        </p:nvGraphicFramePr>
        <p:xfrm>
          <a:off x="3059832" y="4221088"/>
          <a:ext cx="5616624" cy="23637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3">
            <a:extLst>
              <a:ext uri="{FF2B5EF4-FFF2-40B4-BE49-F238E27FC236}">
                <a16:creationId xmlns:a16="http://schemas.microsoft.com/office/drawing/2014/main" id="{9C9BD4AC-3A6A-4FE1-A719-F0D8329520F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67544" y="4404101"/>
            <a:ext cx="2200014" cy="197722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 name="Picture 2">
            <a:extLst>
              <a:ext uri="{FF2B5EF4-FFF2-40B4-BE49-F238E27FC236}">
                <a16:creationId xmlns:a16="http://schemas.microsoft.com/office/drawing/2014/main" id="{E6732E42-F6E4-4E10-A20E-82A4BE9E856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79016" y="1223168"/>
            <a:ext cx="3214687" cy="2411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3">
            <a:extLst>
              <a:ext uri="{FF2B5EF4-FFF2-40B4-BE49-F238E27FC236}">
                <a16:creationId xmlns:a16="http://schemas.microsoft.com/office/drawing/2014/main" id="{5899AD60-028E-47EE-844F-916EBA585E1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313811" y="1248925"/>
            <a:ext cx="2857500" cy="2363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17 Flecha abajo">
            <a:extLst>
              <a:ext uri="{FF2B5EF4-FFF2-40B4-BE49-F238E27FC236}">
                <a16:creationId xmlns:a16="http://schemas.microsoft.com/office/drawing/2014/main" id="{656E38FA-A37E-460A-AF17-E0C304C611BF}"/>
              </a:ext>
            </a:extLst>
          </p:cNvPr>
          <p:cNvSpPr/>
          <p:nvPr/>
        </p:nvSpPr>
        <p:spPr>
          <a:xfrm rot="16200000">
            <a:off x="4400922" y="1973262"/>
            <a:ext cx="322262" cy="965200"/>
          </a:xfrm>
          <a:prstGeom prst="downArrow">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s-CO"/>
          </a:p>
        </p:txBody>
      </p:sp>
      <p:sp>
        <p:nvSpPr>
          <p:cNvPr id="11" name="18 CuadroTexto">
            <a:extLst>
              <a:ext uri="{FF2B5EF4-FFF2-40B4-BE49-F238E27FC236}">
                <a16:creationId xmlns:a16="http://schemas.microsoft.com/office/drawing/2014/main" id="{B82BDCE9-7A82-42E8-98CF-353D30A777C0}"/>
              </a:ext>
            </a:extLst>
          </p:cNvPr>
          <p:cNvSpPr txBox="1"/>
          <p:nvPr/>
        </p:nvSpPr>
        <p:spPr>
          <a:xfrm>
            <a:off x="611560" y="3789040"/>
            <a:ext cx="3214688" cy="400110"/>
          </a:xfrm>
          <a:prstGeom prst="rect">
            <a:avLst/>
          </a:prstGeom>
          <a:noFill/>
        </p:spPr>
        <p:txBody>
          <a:bodyPr>
            <a:spAutoFit/>
          </a:bodyPr>
          <a:lstStyle/>
          <a:p>
            <a:pPr algn="ctr" fontAlgn="auto">
              <a:spcBef>
                <a:spcPts val="0"/>
              </a:spcBef>
              <a:spcAft>
                <a:spcPts val="0"/>
              </a:spcAft>
              <a:defRPr/>
            </a:pPr>
            <a:r>
              <a:rPr lang="es-CO" sz="2000" b="1" dirty="0"/>
              <a:t>PROBLEMA</a:t>
            </a:r>
            <a:endParaRPr lang="es-ES" sz="2000" dirty="0"/>
          </a:p>
        </p:txBody>
      </p:sp>
      <p:sp>
        <p:nvSpPr>
          <p:cNvPr id="12" name="19 CuadroTexto">
            <a:extLst>
              <a:ext uri="{FF2B5EF4-FFF2-40B4-BE49-F238E27FC236}">
                <a16:creationId xmlns:a16="http://schemas.microsoft.com/office/drawing/2014/main" id="{BFFC459E-C4D6-4371-ADA9-FB0FF4281118}"/>
              </a:ext>
            </a:extLst>
          </p:cNvPr>
          <p:cNvSpPr txBox="1"/>
          <p:nvPr/>
        </p:nvSpPr>
        <p:spPr>
          <a:xfrm>
            <a:off x="5148064" y="3752849"/>
            <a:ext cx="3214687" cy="400110"/>
          </a:xfrm>
          <a:prstGeom prst="rect">
            <a:avLst/>
          </a:prstGeom>
          <a:noFill/>
        </p:spPr>
        <p:txBody>
          <a:bodyPr>
            <a:spAutoFit/>
          </a:bodyPr>
          <a:lstStyle/>
          <a:p>
            <a:pPr algn="ctr" fontAlgn="auto">
              <a:spcBef>
                <a:spcPts val="0"/>
              </a:spcBef>
              <a:spcAft>
                <a:spcPts val="0"/>
              </a:spcAft>
              <a:defRPr/>
            </a:pPr>
            <a:r>
              <a:rPr lang="es-CO" sz="2000" b="1" dirty="0"/>
              <a:t>ALGORITMO</a:t>
            </a:r>
            <a:endParaRPr lang="es-ES" dirty="0"/>
          </a:p>
        </p:txBody>
      </p:sp>
    </p:spTree>
    <p:extLst>
      <p:ext uri="{BB962C8B-B14F-4D97-AF65-F5344CB8AC3E}">
        <p14:creationId xmlns:p14="http://schemas.microsoft.com/office/powerpoint/2010/main" val="30584041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467543" y="207926"/>
            <a:ext cx="7939037" cy="986803"/>
          </a:xfrm>
        </p:spPr>
        <p:txBody>
          <a:bodyPr/>
          <a:lstStyle/>
          <a:p>
            <a:r>
              <a:rPr lang="es-CO" sz="3200" dirty="0"/>
              <a:t>Entrada, procesamiento y salida</a:t>
            </a:r>
          </a:p>
        </p:txBody>
      </p:sp>
      <p:sp>
        <p:nvSpPr>
          <p:cNvPr id="2" name="1 Marcador de contenido"/>
          <p:cNvSpPr>
            <a:spLocks noGrp="1"/>
          </p:cNvSpPr>
          <p:nvPr>
            <p:ph idx="1"/>
          </p:nvPr>
        </p:nvSpPr>
        <p:spPr>
          <a:xfrm>
            <a:off x="435471" y="1238602"/>
            <a:ext cx="7886700" cy="1729296"/>
          </a:xfrm>
        </p:spPr>
        <p:txBody>
          <a:bodyPr>
            <a:normAutofit/>
          </a:bodyPr>
          <a:lstStyle/>
          <a:p>
            <a:pPr marL="0" indent="0">
              <a:buNone/>
            </a:pPr>
            <a:r>
              <a:rPr lang="es-MX" sz="2200" dirty="0"/>
              <a:t>Los programas de computadora realizan estos tres pasos:  </a:t>
            </a:r>
          </a:p>
          <a:p>
            <a:pPr marL="457200" indent="-457200">
              <a:buFont typeface="+mj-lt"/>
              <a:buAutoNum type="arabicPeriod"/>
            </a:pPr>
            <a:r>
              <a:rPr lang="es-MX" sz="2000" dirty="0"/>
              <a:t>Se recibe la </a:t>
            </a:r>
            <a:r>
              <a:rPr lang="es-MX" sz="2000" b="1" dirty="0"/>
              <a:t>entrada</a:t>
            </a:r>
            <a:r>
              <a:rPr lang="es-MX" sz="2000" dirty="0"/>
              <a:t>.  </a:t>
            </a:r>
          </a:p>
          <a:p>
            <a:pPr marL="457200" indent="-457200">
              <a:buFont typeface="+mj-lt"/>
              <a:buAutoNum type="arabicPeriod"/>
            </a:pPr>
            <a:r>
              <a:rPr lang="es-MX" sz="2000" dirty="0"/>
              <a:t>Se realiza un </a:t>
            </a:r>
            <a:r>
              <a:rPr lang="es-MX" sz="2000" b="1" dirty="0"/>
              <a:t>proceso</a:t>
            </a:r>
            <a:r>
              <a:rPr lang="es-MX" sz="2000" dirty="0"/>
              <a:t> sobre la entrada.  </a:t>
            </a:r>
          </a:p>
          <a:p>
            <a:pPr marL="457200" indent="-457200">
              <a:buFont typeface="+mj-lt"/>
              <a:buAutoNum type="arabicPeriod"/>
            </a:pPr>
            <a:r>
              <a:rPr lang="es-MX" sz="2000" dirty="0"/>
              <a:t>Se genera la </a:t>
            </a:r>
            <a:r>
              <a:rPr lang="es-MX" sz="2000" b="1" dirty="0"/>
              <a:t>salida</a:t>
            </a:r>
            <a:endParaRPr lang="es-CO" sz="2000" b="1" dirty="0"/>
          </a:p>
        </p:txBody>
      </p:sp>
      <p:grpSp>
        <p:nvGrpSpPr>
          <p:cNvPr id="15" name="14 Grupo"/>
          <p:cNvGrpSpPr/>
          <p:nvPr/>
        </p:nvGrpSpPr>
        <p:grpSpPr>
          <a:xfrm>
            <a:off x="1589010" y="4102449"/>
            <a:ext cx="5715000" cy="838200"/>
            <a:chOff x="1676400" y="4495800"/>
            <a:chExt cx="5715000" cy="838200"/>
          </a:xfrm>
        </p:grpSpPr>
        <p:sp>
          <p:nvSpPr>
            <p:cNvPr id="10" name="9 Rectángulo"/>
            <p:cNvSpPr/>
            <p:nvPr/>
          </p:nvSpPr>
          <p:spPr>
            <a:xfrm>
              <a:off x="1676400" y="4648200"/>
              <a:ext cx="1447800" cy="533400"/>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000" b="1" dirty="0">
                  <a:solidFill>
                    <a:schemeClr val="tx1">
                      <a:lumMod val="50000"/>
                      <a:lumOff val="50000"/>
                    </a:schemeClr>
                  </a:solidFill>
                  <a:latin typeface="Consolas" panose="020B0609020204030204" pitchFamily="49" charset="0"/>
                </a:rPr>
                <a:t>Inputs</a:t>
              </a:r>
              <a:endParaRPr lang="es-CO" b="1" dirty="0">
                <a:solidFill>
                  <a:schemeClr val="tx1">
                    <a:lumMod val="50000"/>
                    <a:lumOff val="50000"/>
                  </a:schemeClr>
                </a:solidFill>
                <a:latin typeface="Consolas" panose="020B0609020204030204" pitchFamily="49" charset="0"/>
              </a:endParaRPr>
            </a:p>
          </p:txBody>
        </p:sp>
        <p:sp>
          <p:nvSpPr>
            <p:cNvPr id="11" name="10 Rectángulo"/>
            <p:cNvSpPr/>
            <p:nvPr/>
          </p:nvSpPr>
          <p:spPr>
            <a:xfrm>
              <a:off x="3810000" y="4495800"/>
              <a:ext cx="1447800" cy="838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400" b="1" dirty="0">
                  <a:latin typeface="Consolas" panose="020B0609020204030204" pitchFamily="49" charset="0"/>
                </a:rPr>
                <a:t>Process</a:t>
              </a:r>
              <a:endParaRPr lang="es-CO" b="1" dirty="0">
                <a:latin typeface="Consolas" panose="020B0609020204030204" pitchFamily="49" charset="0"/>
              </a:endParaRPr>
            </a:p>
          </p:txBody>
        </p:sp>
        <p:sp>
          <p:nvSpPr>
            <p:cNvPr id="12" name="11 Rectángulo"/>
            <p:cNvSpPr/>
            <p:nvPr/>
          </p:nvSpPr>
          <p:spPr>
            <a:xfrm>
              <a:off x="5943600" y="4648200"/>
              <a:ext cx="1447800" cy="533400"/>
            </a:xfrm>
            <a:prstGeom prst="rect">
              <a:avLst/>
            </a:prstGeom>
            <a:noFill/>
            <a:ln>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000" b="1" dirty="0">
                  <a:solidFill>
                    <a:schemeClr val="tx1">
                      <a:lumMod val="50000"/>
                      <a:lumOff val="50000"/>
                    </a:schemeClr>
                  </a:solidFill>
                  <a:latin typeface="Consolas" panose="020B0609020204030204" pitchFamily="49" charset="0"/>
                </a:rPr>
                <a:t>Outputs</a:t>
              </a:r>
              <a:endParaRPr lang="es-CO" sz="1600" b="1" dirty="0">
                <a:solidFill>
                  <a:schemeClr val="tx1">
                    <a:lumMod val="50000"/>
                    <a:lumOff val="50000"/>
                  </a:schemeClr>
                </a:solidFill>
                <a:latin typeface="Consolas" panose="020B0609020204030204" pitchFamily="49" charset="0"/>
              </a:endParaRPr>
            </a:p>
          </p:txBody>
        </p:sp>
        <p:sp>
          <p:nvSpPr>
            <p:cNvPr id="13" name="12 Flecha derecha"/>
            <p:cNvSpPr/>
            <p:nvPr/>
          </p:nvSpPr>
          <p:spPr>
            <a:xfrm>
              <a:off x="3124200" y="4800600"/>
              <a:ext cx="6858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13 Flecha derecha"/>
            <p:cNvSpPr/>
            <p:nvPr/>
          </p:nvSpPr>
          <p:spPr>
            <a:xfrm>
              <a:off x="5257800" y="4800600"/>
              <a:ext cx="685800" cy="228600"/>
            </a:xfrm>
            <a:prstGeom prst="rightArrow">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pic>
        <p:nvPicPr>
          <p:cNvPr id="16" name="Picture 2" descr="http://www.jegsworks.com/lessons/computerbasics/lesson3/keyboard-white.png">
            <a:extLst>
              <a:ext uri="{FF2B5EF4-FFF2-40B4-BE49-F238E27FC236}">
                <a16:creationId xmlns:a16="http://schemas.microsoft.com/office/drawing/2014/main" id="{CA5F3EB8-A827-4D08-B3D4-BC888566173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60116" y="3256265"/>
            <a:ext cx="1365108" cy="43228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http://t2.gstatic.com/images?q=tbn:ANd9GcS51PGLkp34nPs-LewfkgAfjdZsyder21fNGFoRiZ_A6x7txo3e">
            <a:extLst>
              <a:ext uri="{FF2B5EF4-FFF2-40B4-BE49-F238E27FC236}">
                <a16:creationId xmlns:a16="http://schemas.microsoft.com/office/drawing/2014/main" id="{BB2AD59A-355A-4EC4-BD61-76D458710B8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59382" y="3198200"/>
            <a:ext cx="841456" cy="690065"/>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Settings Icon, Gear Icon Vector, Gear Symbol Illustration. for Web Sites  Our Mobile. Stock Illustration - Illustration of business, wheel: 151065188">
            <a:extLst>
              <a:ext uri="{FF2B5EF4-FFF2-40B4-BE49-F238E27FC236}">
                <a16:creationId xmlns:a16="http://schemas.microsoft.com/office/drawing/2014/main" id="{AC519BCB-3AA9-4258-9707-83D241823FB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33143" y="5159353"/>
            <a:ext cx="1007836" cy="10078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452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79511" y="134971"/>
            <a:ext cx="8491661" cy="773749"/>
          </a:xfrm>
        </p:spPr>
        <p:txBody>
          <a:bodyPr/>
          <a:lstStyle/>
          <a:p>
            <a:r>
              <a:rPr lang="en-US" dirty="0"/>
              <a:t>Introducción a las funciones</a:t>
            </a:r>
          </a:p>
        </p:txBody>
      </p:sp>
      <p:pic>
        <p:nvPicPr>
          <p:cNvPr id="10242" name="Picture 2" descr="xkcd: Random Number">
            <a:extLst>
              <a:ext uri="{FF2B5EF4-FFF2-40B4-BE49-F238E27FC236}">
                <a16:creationId xmlns:a16="http://schemas.microsoft.com/office/drawing/2014/main" id="{E72BF9ED-4146-4F5B-8782-1C211EBBF4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1978" y="1985392"/>
            <a:ext cx="4010022" cy="1443608"/>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descr="xkcd: Dependency">
            <a:extLst>
              <a:ext uri="{FF2B5EF4-FFF2-40B4-BE49-F238E27FC236}">
                <a16:creationId xmlns:a16="http://schemas.microsoft.com/office/drawing/2014/main" id="{CC1A6EDE-9178-4C94-AE17-EDE25EDB07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04048" y="1340768"/>
            <a:ext cx="3667125" cy="4657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82915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62413" y="116632"/>
            <a:ext cx="8981587" cy="1215008"/>
          </a:xfrm>
        </p:spPr>
        <p:txBody>
          <a:bodyPr>
            <a:normAutofit/>
          </a:bodyPr>
          <a:lstStyle/>
          <a:p>
            <a:r>
              <a:rPr lang="es-CO" dirty="0"/>
              <a:t>Función</a:t>
            </a:r>
          </a:p>
        </p:txBody>
      </p:sp>
      <p:sp>
        <p:nvSpPr>
          <p:cNvPr id="13" name="12 Rectángulo"/>
          <p:cNvSpPr/>
          <p:nvPr/>
        </p:nvSpPr>
        <p:spPr>
          <a:xfrm>
            <a:off x="162413" y="1052736"/>
            <a:ext cx="8819174" cy="1046440"/>
          </a:xfrm>
          <a:prstGeom prst="rect">
            <a:avLst/>
          </a:prstGeom>
        </p:spPr>
        <p:txBody>
          <a:bodyPr wrap="square">
            <a:spAutoFit/>
          </a:bodyPr>
          <a:lstStyle/>
          <a:p>
            <a:r>
              <a:rPr lang="es-MX" sz="2200" b="1" dirty="0"/>
              <a:t>Función</a:t>
            </a:r>
            <a:r>
              <a:rPr lang="es-MX" sz="2200" dirty="0"/>
              <a:t>: </a:t>
            </a:r>
            <a:r>
              <a:rPr lang="es-MX" dirty="0"/>
              <a:t> </a:t>
            </a:r>
          </a:p>
          <a:p>
            <a:pPr marL="285750" indent="-285750">
              <a:buFont typeface="Arial" panose="020B0604020202020204" pitchFamily="34" charset="0"/>
              <a:buChar char="•"/>
            </a:pPr>
            <a:r>
              <a:rPr lang="es-MX" sz="2000" dirty="0"/>
              <a:t>Porción de código que realiza una tarea especifica.</a:t>
            </a:r>
          </a:p>
          <a:p>
            <a:pPr marL="285750" indent="-285750">
              <a:buFont typeface="Arial" panose="020B0604020202020204" pitchFamily="34" charset="0"/>
              <a:buChar char="•"/>
            </a:pPr>
            <a:r>
              <a:rPr lang="es-MX" sz="2000" dirty="0"/>
              <a:t>También se conoce como: subrutina, procedimiento, función o método.</a:t>
            </a:r>
          </a:p>
        </p:txBody>
      </p:sp>
      <p:pic>
        <p:nvPicPr>
          <p:cNvPr id="3" name="Imagen 2">
            <a:extLst>
              <a:ext uri="{FF2B5EF4-FFF2-40B4-BE49-F238E27FC236}">
                <a16:creationId xmlns:a16="http://schemas.microsoft.com/office/drawing/2014/main" id="{AA17E972-52FC-4940-90D8-B6DA6E9481C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43539" y="2642429"/>
            <a:ext cx="1181080" cy="3096344"/>
          </a:xfrm>
          <a:prstGeom prst="rect">
            <a:avLst/>
          </a:prstGeom>
        </p:spPr>
      </p:pic>
      <p:sp>
        <p:nvSpPr>
          <p:cNvPr id="7" name="Flecha: a la derecha 6">
            <a:extLst>
              <a:ext uri="{FF2B5EF4-FFF2-40B4-BE49-F238E27FC236}">
                <a16:creationId xmlns:a16="http://schemas.microsoft.com/office/drawing/2014/main" id="{3FC34689-ACF1-4671-9408-C1A0823750FE}"/>
              </a:ext>
            </a:extLst>
          </p:cNvPr>
          <p:cNvSpPr/>
          <p:nvPr/>
        </p:nvSpPr>
        <p:spPr>
          <a:xfrm>
            <a:off x="2738897" y="3886709"/>
            <a:ext cx="1368152" cy="576064"/>
          </a:xfrm>
          <a:prstGeom prst="rightArrow">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600" b="1" dirty="0"/>
              <a:t>Modularizar</a:t>
            </a:r>
          </a:p>
        </p:txBody>
      </p:sp>
      <p:grpSp>
        <p:nvGrpSpPr>
          <p:cNvPr id="12" name="Grupo 11">
            <a:extLst>
              <a:ext uri="{FF2B5EF4-FFF2-40B4-BE49-F238E27FC236}">
                <a16:creationId xmlns:a16="http://schemas.microsoft.com/office/drawing/2014/main" id="{AC201415-31FD-434B-BF7D-680CFB497669}"/>
              </a:ext>
            </a:extLst>
          </p:cNvPr>
          <p:cNvGrpSpPr/>
          <p:nvPr/>
        </p:nvGrpSpPr>
        <p:grpSpPr>
          <a:xfrm>
            <a:off x="4252811" y="2776498"/>
            <a:ext cx="4279629" cy="2962275"/>
            <a:chOff x="4226392" y="3348208"/>
            <a:chExt cx="4279629" cy="2962275"/>
          </a:xfrm>
        </p:grpSpPr>
        <p:pic>
          <p:nvPicPr>
            <p:cNvPr id="6" name="Imagen 5">
              <a:extLst>
                <a:ext uri="{FF2B5EF4-FFF2-40B4-BE49-F238E27FC236}">
                  <a16:creationId xmlns:a16="http://schemas.microsoft.com/office/drawing/2014/main" id="{A8EA4752-8445-4481-98F5-B3038E78529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00746" y="3348208"/>
              <a:ext cx="4105275" cy="2962275"/>
            </a:xfrm>
            <a:prstGeom prst="rect">
              <a:avLst/>
            </a:prstGeom>
          </p:spPr>
        </p:pic>
        <p:sp>
          <p:nvSpPr>
            <p:cNvPr id="8" name="Rectángulo: esquinas redondeadas 7">
              <a:extLst>
                <a:ext uri="{FF2B5EF4-FFF2-40B4-BE49-F238E27FC236}">
                  <a16:creationId xmlns:a16="http://schemas.microsoft.com/office/drawing/2014/main" id="{59DB943E-5A24-4972-8246-5C57BFE61194}"/>
                </a:ext>
              </a:extLst>
            </p:cNvPr>
            <p:cNvSpPr/>
            <p:nvPr/>
          </p:nvSpPr>
          <p:spPr>
            <a:xfrm>
              <a:off x="4294909" y="4546600"/>
              <a:ext cx="1743941" cy="520700"/>
            </a:xfrm>
            <a:prstGeom prst="roundRect">
              <a:avLst/>
            </a:prstGeom>
            <a:noFill/>
            <a:ln w="19050">
              <a:solidFill>
                <a:schemeClr val="accent6"/>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9" name="CuadroTexto 8">
              <a:extLst>
                <a:ext uri="{FF2B5EF4-FFF2-40B4-BE49-F238E27FC236}">
                  <a16:creationId xmlns:a16="http://schemas.microsoft.com/office/drawing/2014/main" id="{11CB328B-150B-4DF5-BA95-0DDDF814FB2E}"/>
                </a:ext>
              </a:extLst>
            </p:cNvPr>
            <p:cNvSpPr txBox="1"/>
            <p:nvPr/>
          </p:nvSpPr>
          <p:spPr>
            <a:xfrm>
              <a:off x="4226392" y="4304129"/>
              <a:ext cx="691215" cy="276999"/>
            </a:xfrm>
            <a:prstGeom prst="rect">
              <a:avLst/>
            </a:prstGeom>
            <a:noFill/>
          </p:spPr>
          <p:txBody>
            <a:bodyPr wrap="none" rtlCol="0">
              <a:spAutoFit/>
            </a:bodyPr>
            <a:lstStyle/>
            <a:p>
              <a:r>
                <a:rPr lang="es-CO" sz="1200" b="1" dirty="0">
                  <a:solidFill>
                    <a:schemeClr val="accent6"/>
                  </a:solidFill>
                </a:rPr>
                <a:t>Modulo</a:t>
              </a:r>
            </a:p>
          </p:txBody>
        </p:sp>
        <p:sp>
          <p:nvSpPr>
            <p:cNvPr id="14" name="CuadroTexto 13">
              <a:extLst>
                <a:ext uri="{FF2B5EF4-FFF2-40B4-BE49-F238E27FC236}">
                  <a16:creationId xmlns:a16="http://schemas.microsoft.com/office/drawing/2014/main" id="{8E73D17D-CAAB-4C7E-A044-9A406A840238}"/>
                </a:ext>
              </a:extLst>
            </p:cNvPr>
            <p:cNvSpPr txBox="1"/>
            <p:nvPr/>
          </p:nvSpPr>
          <p:spPr>
            <a:xfrm>
              <a:off x="6588224" y="3474423"/>
              <a:ext cx="1030923" cy="276999"/>
            </a:xfrm>
            <a:prstGeom prst="rect">
              <a:avLst/>
            </a:prstGeom>
            <a:noFill/>
          </p:spPr>
          <p:txBody>
            <a:bodyPr wrap="none" rtlCol="0">
              <a:spAutoFit/>
            </a:bodyPr>
            <a:lstStyle/>
            <a:p>
              <a:pPr algn="r"/>
              <a:r>
                <a:rPr lang="es-CO" sz="1200" b="1" dirty="0">
                  <a:solidFill>
                    <a:schemeClr val="bg1">
                      <a:lumMod val="50000"/>
                    </a:schemeClr>
                  </a:solidFill>
                </a:rPr>
                <a:t>Instrucciones</a:t>
              </a:r>
            </a:p>
          </p:txBody>
        </p:sp>
      </p:grpSp>
      <p:sp>
        <p:nvSpPr>
          <p:cNvPr id="16" name="CuadroTexto 15">
            <a:extLst>
              <a:ext uri="{FF2B5EF4-FFF2-40B4-BE49-F238E27FC236}">
                <a16:creationId xmlns:a16="http://schemas.microsoft.com/office/drawing/2014/main" id="{8E019AE7-A342-4F1B-B33F-1F47F2B8D248}"/>
              </a:ext>
            </a:extLst>
          </p:cNvPr>
          <p:cNvSpPr txBox="1"/>
          <p:nvPr/>
        </p:nvSpPr>
        <p:spPr>
          <a:xfrm>
            <a:off x="487868" y="5779061"/>
            <a:ext cx="3024336" cy="600164"/>
          </a:xfrm>
          <a:prstGeom prst="rect">
            <a:avLst/>
          </a:prstGeom>
          <a:noFill/>
          <a:ln>
            <a:solidFill>
              <a:schemeClr val="tx1"/>
            </a:solidFill>
          </a:ln>
        </p:spPr>
        <p:txBody>
          <a:bodyPr wrap="square">
            <a:spAutoFit/>
          </a:bodyPr>
          <a:lstStyle/>
          <a:p>
            <a:r>
              <a:rPr lang="es-CO" sz="1100" dirty="0">
                <a:latin typeface="Consolas" panose="020B0609020204030204" pitchFamily="49" charset="0"/>
              </a:rPr>
              <a:t>c = float(input("Ingrese los °C: "))</a:t>
            </a:r>
          </a:p>
          <a:p>
            <a:r>
              <a:rPr lang="es-CO" sz="1100" dirty="0">
                <a:latin typeface="Consolas" panose="020B0609020204030204" pitchFamily="49" charset="0"/>
              </a:rPr>
              <a:t>f = (9.0/5)*c + 32</a:t>
            </a:r>
          </a:p>
          <a:p>
            <a:r>
              <a:rPr lang="es-CO" sz="1100" dirty="0">
                <a:latin typeface="Consolas" panose="020B0609020204030204" pitchFamily="49" charset="0"/>
              </a:rPr>
              <a:t>print(c,"°C =",f, "°F")</a:t>
            </a:r>
          </a:p>
        </p:txBody>
      </p:sp>
      <p:sp>
        <p:nvSpPr>
          <p:cNvPr id="17" name="CuadroTexto 16">
            <a:extLst>
              <a:ext uri="{FF2B5EF4-FFF2-40B4-BE49-F238E27FC236}">
                <a16:creationId xmlns:a16="http://schemas.microsoft.com/office/drawing/2014/main" id="{E8E8B0EF-3BD5-4431-BD8A-978CEEB33C7A}"/>
              </a:ext>
            </a:extLst>
          </p:cNvPr>
          <p:cNvSpPr txBox="1"/>
          <p:nvPr/>
        </p:nvSpPr>
        <p:spPr>
          <a:xfrm>
            <a:off x="1110377" y="6320353"/>
            <a:ext cx="1664486" cy="276999"/>
          </a:xfrm>
          <a:prstGeom prst="rect">
            <a:avLst/>
          </a:prstGeom>
          <a:noFill/>
        </p:spPr>
        <p:txBody>
          <a:bodyPr wrap="square" rtlCol="0">
            <a:spAutoFit/>
          </a:bodyPr>
          <a:lstStyle/>
          <a:p>
            <a:pPr algn="ctr"/>
            <a:r>
              <a:rPr lang="es-CO" sz="1200" dirty="0">
                <a:hlinkClick r:id="rId4"/>
              </a:rPr>
              <a:t>Link simulación</a:t>
            </a:r>
            <a:endParaRPr lang="es-CO" sz="1200" dirty="0"/>
          </a:p>
        </p:txBody>
      </p:sp>
    </p:spTree>
    <p:extLst>
      <p:ext uri="{BB962C8B-B14F-4D97-AF65-F5344CB8AC3E}">
        <p14:creationId xmlns:p14="http://schemas.microsoft.com/office/powerpoint/2010/main" val="41081458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864096"/>
          </a:xfrm>
        </p:spPr>
        <p:txBody>
          <a:bodyPr>
            <a:normAutofit/>
          </a:bodyPr>
          <a:lstStyle/>
          <a:p>
            <a:r>
              <a:rPr lang="es-CO" dirty="0"/>
              <a:t>Funciones en Python - Definición</a:t>
            </a:r>
          </a:p>
        </p:txBody>
      </p:sp>
      <p:sp>
        <p:nvSpPr>
          <p:cNvPr id="13" name="12 Rectángulo"/>
          <p:cNvSpPr/>
          <p:nvPr/>
        </p:nvSpPr>
        <p:spPr>
          <a:xfrm>
            <a:off x="35496" y="775732"/>
            <a:ext cx="8892480" cy="4093428"/>
          </a:xfrm>
          <a:prstGeom prst="rect">
            <a:avLst/>
          </a:prstGeom>
        </p:spPr>
        <p:txBody>
          <a:bodyPr wrap="square">
            <a:spAutoFit/>
          </a:bodyPr>
          <a:lstStyle/>
          <a:p>
            <a:pPr marL="285750" indent="-285750">
              <a:buFont typeface="Arial" panose="020B0604020202020204" pitchFamily="34" charset="0"/>
              <a:buChar char="•"/>
            </a:pPr>
            <a:r>
              <a:rPr lang="es-MX" sz="2000" b="1" dirty="0"/>
              <a:t>Sintaxis</a:t>
            </a:r>
            <a:r>
              <a:rPr lang="es-MX" sz="2000" dirty="0"/>
              <a:t>: Una función se define mediante la palabra clave </a:t>
            </a:r>
            <a:r>
              <a:rPr lang="es-MX" b="1" dirty="0">
                <a:solidFill>
                  <a:srgbClr val="C00000"/>
                </a:solidFill>
                <a:latin typeface="Consolas" panose="020B0609020204030204" pitchFamily="49" charset="0"/>
              </a:rPr>
              <a:t>def</a:t>
            </a:r>
            <a:r>
              <a:rPr lang="es-MX" sz="2000" dirty="0"/>
              <a:t> seguido del nombre del nombre y los parámetros entre paréntesis:</a:t>
            </a:r>
          </a:p>
          <a:p>
            <a:pPr marL="285750" indent="-285750">
              <a:buFont typeface="Arial" panose="020B0604020202020204" pitchFamily="34" charset="0"/>
              <a:buChar char="•"/>
            </a:pPr>
            <a:endParaRPr lang="es-MX" sz="2000" dirty="0"/>
          </a:p>
          <a:p>
            <a:pPr marL="285750" indent="-285750">
              <a:buFont typeface="Arial" panose="020B0604020202020204" pitchFamily="34" charset="0"/>
              <a:buChar char="•"/>
            </a:pPr>
            <a:endParaRPr lang="es-MX" sz="2000" dirty="0"/>
          </a:p>
          <a:p>
            <a:pPr marL="285750" indent="-285750">
              <a:buFont typeface="Arial" panose="020B0604020202020204" pitchFamily="34" charset="0"/>
              <a:buChar char="•"/>
            </a:pPr>
            <a:endParaRPr lang="es-MX" sz="2000" b="1" dirty="0"/>
          </a:p>
          <a:p>
            <a:pPr marL="285750" indent="-285750">
              <a:buFont typeface="Arial" panose="020B0604020202020204" pitchFamily="34" charset="0"/>
              <a:buChar char="•"/>
            </a:pPr>
            <a:r>
              <a:rPr lang="es-MX" sz="2000" b="1" dirty="0"/>
              <a:t>Donde</a:t>
            </a:r>
            <a:r>
              <a:rPr lang="es-MX" sz="2000" dirty="0"/>
              <a:t>:</a:t>
            </a:r>
          </a:p>
          <a:p>
            <a:pPr marL="742950" lvl="1" indent="-285750">
              <a:buFont typeface="Arial" panose="020B0604020202020204" pitchFamily="34" charset="0"/>
              <a:buChar char="•"/>
            </a:pPr>
            <a:r>
              <a:rPr lang="es-MX" sz="2000" b="1" dirty="0"/>
              <a:t>Nombre de la función</a:t>
            </a:r>
            <a:r>
              <a:rPr lang="es-MX" sz="2000" dirty="0"/>
              <a:t>: Identifica la función; con este se llama (invoca).</a:t>
            </a:r>
          </a:p>
          <a:p>
            <a:pPr marL="742950" lvl="1" indent="-285750">
              <a:buFont typeface="Arial" panose="020B0604020202020204" pitchFamily="34" charset="0"/>
              <a:buChar char="•"/>
            </a:pPr>
            <a:r>
              <a:rPr lang="es-MX" sz="2000" b="1" dirty="0"/>
              <a:t>Parámetros</a:t>
            </a:r>
            <a:r>
              <a:rPr lang="es-MX" sz="2000" dirty="0"/>
              <a:t>: Lista de entradas de la función (puede estar vacía).</a:t>
            </a:r>
          </a:p>
          <a:p>
            <a:pPr marL="742950" lvl="1" indent="-285750">
              <a:buFont typeface="Arial" panose="020B0604020202020204" pitchFamily="34" charset="0"/>
              <a:buChar char="•"/>
            </a:pPr>
            <a:r>
              <a:rPr lang="es-MX" sz="2000" b="1" dirty="0"/>
              <a:t>Cuerpo de la función</a:t>
            </a:r>
            <a:r>
              <a:rPr lang="es-MX" sz="2000" dirty="0"/>
              <a:t>: Conjunto de instrucciones que realizan la tarea (van indentadas).</a:t>
            </a:r>
          </a:p>
          <a:p>
            <a:pPr marL="342900" indent="-342900">
              <a:buFont typeface="Arial" panose="020B0604020202020204" pitchFamily="34" charset="0"/>
              <a:buChar char="•"/>
            </a:pPr>
            <a:r>
              <a:rPr lang="es-MX" sz="2000" b="1" dirty="0"/>
              <a:t>Importante</a:t>
            </a:r>
            <a:r>
              <a:rPr lang="es-MX" sz="2000" dirty="0"/>
              <a:t>: Definir una función no la ejecuta: solo se ejecuta cuando se la llama.</a:t>
            </a:r>
            <a:endParaRPr lang="es-MX" sz="2000" b="1" dirty="0"/>
          </a:p>
          <a:p>
            <a:pPr marL="285750" indent="-285750">
              <a:buFont typeface="Arial" panose="020B0604020202020204" pitchFamily="34" charset="0"/>
              <a:buChar char="•"/>
            </a:pPr>
            <a:r>
              <a:rPr lang="es-MX" sz="2000" b="1" dirty="0"/>
              <a:t>Diagrama de caja negra</a:t>
            </a:r>
            <a:r>
              <a:rPr lang="es-MX" sz="2000" dirty="0"/>
              <a:t>: Resume la interfaz de la función (entradas/salidas) sin entrar en los detalles internos.</a:t>
            </a:r>
          </a:p>
        </p:txBody>
      </p:sp>
      <p:sp>
        <p:nvSpPr>
          <p:cNvPr id="2" name="CuadroTexto 1">
            <a:extLst>
              <a:ext uri="{FF2B5EF4-FFF2-40B4-BE49-F238E27FC236}">
                <a16:creationId xmlns:a16="http://schemas.microsoft.com/office/drawing/2014/main" id="{012F26B2-715F-4699-9A5C-F8146CD83003}"/>
              </a:ext>
            </a:extLst>
          </p:cNvPr>
          <p:cNvSpPr txBox="1"/>
          <p:nvPr/>
        </p:nvSpPr>
        <p:spPr>
          <a:xfrm>
            <a:off x="637850" y="1620089"/>
            <a:ext cx="7966598" cy="584775"/>
          </a:xfrm>
          <a:prstGeom prst="rect">
            <a:avLst/>
          </a:prstGeom>
          <a:noFill/>
          <a:ln>
            <a:solidFill>
              <a:schemeClr val="tx1"/>
            </a:solidFill>
          </a:ln>
        </p:spPr>
        <p:txBody>
          <a:bodyPr wrap="square" rtlCol="0">
            <a:spAutoFit/>
          </a:bodyPr>
          <a:lstStyle/>
          <a:p>
            <a:r>
              <a:rPr lang="es-CO" sz="1600" b="1" dirty="0" err="1">
                <a:solidFill>
                  <a:srgbClr val="C00000"/>
                </a:solidFill>
                <a:latin typeface="Consolas" panose="020B0609020204030204" pitchFamily="49" charset="0"/>
              </a:rPr>
              <a:t>def</a:t>
            </a:r>
            <a:r>
              <a:rPr lang="es-CO" sz="1600" dirty="0">
                <a:latin typeface="Consolas" panose="020B0609020204030204" pitchFamily="49" charset="0"/>
              </a:rPr>
              <a:t> </a:t>
            </a:r>
            <a:r>
              <a:rPr lang="es-CO" sz="1600" b="1" dirty="0" err="1">
                <a:solidFill>
                  <a:schemeClr val="accent4"/>
                </a:solidFill>
                <a:latin typeface="Consolas" panose="020B0609020204030204" pitchFamily="49" charset="0"/>
              </a:rPr>
              <a:t>nombre_funcion</a:t>
            </a:r>
            <a:r>
              <a:rPr lang="es-CO" sz="1600" dirty="0">
                <a:latin typeface="Consolas" panose="020B0609020204030204" pitchFamily="49" charset="0"/>
              </a:rPr>
              <a:t>(param1, param2 ,... , paramN):</a:t>
            </a:r>
          </a:p>
          <a:p>
            <a:r>
              <a:rPr lang="es-CO" sz="1600" dirty="0">
                <a:latin typeface="Consolas" panose="020B0609020204030204" pitchFamily="49" charset="0"/>
              </a:rPr>
              <a:t>   cuerpo de la </a:t>
            </a:r>
            <a:r>
              <a:rPr lang="es-CO" sz="1600" dirty="0" err="1">
                <a:latin typeface="Consolas" panose="020B0609020204030204" pitchFamily="49" charset="0"/>
              </a:rPr>
              <a:t>funcion</a:t>
            </a:r>
            <a:r>
              <a:rPr lang="es-CO" sz="1600" dirty="0"/>
              <a:t>    </a:t>
            </a:r>
          </a:p>
        </p:txBody>
      </p:sp>
      <p:grpSp>
        <p:nvGrpSpPr>
          <p:cNvPr id="40" name="Grupo 39">
            <a:extLst>
              <a:ext uri="{FF2B5EF4-FFF2-40B4-BE49-F238E27FC236}">
                <a16:creationId xmlns:a16="http://schemas.microsoft.com/office/drawing/2014/main" id="{6A21C3D2-E1D7-4A23-8AAA-B6C6147D550F}"/>
              </a:ext>
            </a:extLst>
          </p:cNvPr>
          <p:cNvGrpSpPr/>
          <p:nvPr/>
        </p:nvGrpSpPr>
        <p:grpSpPr>
          <a:xfrm>
            <a:off x="2698566" y="4941168"/>
            <a:ext cx="4105682" cy="1728824"/>
            <a:chOff x="2266517" y="4833155"/>
            <a:chExt cx="4105682" cy="1728824"/>
          </a:xfrm>
        </p:grpSpPr>
        <p:grpSp>
          <p:nvGrpSpPr>
            <p:cNvPr id="30" name="Grupo 29">
              <a:extLst>
                <a:ext uri="{FF2B5EF4-FFF2-40B4-BE49-F238E27FC236}">
                  <a16:creationId xmlns:a16="http://schemas.microsoft.com/office/drawing/2014/main" id="{526A32AB-AAB4-40E6-82E9-48F798502151}"/>
                </a:ext>
              </a:extLst>
            </p:cNvPr>
            <p:cNvGrpSpPr/>
            <p:nvPr/>
          </p:nvGrpSpPr>
          <p:grpSpPr>
            <a:xfrm>
              <a:off x="2266517" y="4833155"/>
              <a:ext cx="4105682" cy="1728824"/>
              <a:chOff x="1259632" y="4422593"/>
              <a:chExt cx="4105682" cy="1728824"/>
            </a:xfrm>
          </p:grpSpPr>
          <p:sp>
            <p:nvSpPr>
              <p:cNvPr id="3" name="Rectángulo 2">
                <a:extLst>
                  <a:ext uri="{FF2B5EF4-FFF2-40B4-BE49-F238E27FC236}">
                    <a16:creationId xmlns:a16="http://schemas.microsoft.com/office/drawing/2014/main" id="{885A5536-1B4A-4234-9470-1BC461F4856B}"/>
                  </a:ext>
                </a:extLst>
              </p:cNvPr>
              <p:cNvSpPr/>
              <p:nvPr/>
            </p:nvSpPr>
            <p:spPr>
              <a:xfrm>
                <a:off x="1835695" y="4725142"/>
                <a:ext cx="3025564" cy="14262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latin typeface="Consolas" panose="020B0609020204030204" pitchFamily="49" charset="0"/>
                </a:endParaRPr>
              </a:p>
            </p:txBody>
          </p:sp>
          <p:grpSp>
            <p:nvGrpSpPr>
              <p:cNvPr id="28" name="Grupo 27">
                <a:extLst>
                  <a:ext uri="{FF2B5EF4-FFF2-40B4-BE49-F238E27FC236}">
                    <a16:creationId xmlns:a16="http://schemas.microsoft.com/office/drawing/2014/main" id="{FBB823C4-005F-4AD6-8F85-452CBB2CAB22}"/>
                  </a:ext>
                </a:extLst>
              </p:cNvPr>
              <p:cNvGrpSpPr/>
              <p:nvPr/>
            </p:nvGrpSpPr>
            <p:grpSpPr>
              <a:xfrm>
                <a:off x="1907704" y="4849415"/>
                <a:ext cx="936104" cy="1171873"/>
                <a:chOff x="1907704" y="4849415"/>
                <a:chExt cx="936104" cy="1171873"/>
              </a:xfrm>
            </p:grpSpPr>
            <p:sp>
              <p:nvSpPr>
                <p:cNvPr id="4" name="CuadroTexto 3">
                  <a:extLst>
                    <a:ext uri="{FF2B5EF4-FFF2-40B4-BE49-F238E27FC236}">
                      <a16:creationId xmlns:a16="http://schemas.microsoft.com/office/drawing/2014/main" id="{5A0844C6-4D83-4F55-B714-F8A3F61FE922}"/>
                    </a:ext>
                  </a:extLst>
                </p:cNvPr>
                <p:cNvSpPr txBox="1"/>
                <p:nvPr/>
              </p:nvSpPr>
              <p:spPr>
                <a:xfrm>
                  <a:off x="1907704" y="4849415"/>
                  <a:ext cx="936104" cy="307777"/>
                </a:xfrm>
                <a:prstGeom prst="rect">
                  <a:avLst/>
                </a:prstGeom>
                <a:noFill/>
              </p:spPr>
              <p:txBody>
                <a:bodyPr wrap="square" rtlCol="0">
                  <a:spAutoFit/>
                </a:bodyPr>
                <a:lstStyle/>
                <a:p>
                  <a:r>
                    <a:rPr lang="es-CO" sz="1400" b="1" dirty="0">
                      <a:solidFill>
                        <a:schemeClr val="bg1"/>
                      </a:solidFill>
                      <a:latin typeface="Consolas" panose="020B0609020204030204" pitchFamily="49" charset="0"/>
                    </a:rPr>
                    <a:t>param1</a:t>
                  </a:r>
                </a:p>
              </p:txBody>
            </p:sp>
            <p:sp>
              <p:nvSpPr>
                <p:cNvPr id="20" name="CuadroTexto 19">
                  <a:extLst>
                    <a:ext uri="{FF2B5EF4-FFF2-40B4-BE49-F238E27FC236}">
                      <a16:creationId xmlns:a16="http://schemas.microsoft.com/office/drawing/2014/main" id="{7AA01238-0335-4645-A471-A5C08D15E324}"/>
                    </a:ext>
                  </a:extLst>
                </p:cNvPr>
                <p:cNvSpPr txBox="1"/>
                <p:nvPr/>
              </p:nvSpPr>
              <p:spPr>
                <a:xfrm>
                  <a:off x="1907704" y="5085184"/>
                  <a:ext cx="936104" cy="307777"/>
                </a:xfrm>
                <a:prstGeom prst="rect">
                  <a:avLst/>
                </a:prstGeom>
                <a:noFill/>
              </p:spPr>
              <p:txBody>
                <a:bodyPr wrap="square" rtlCol="0">
                  <a:spAutoFit/>
                </a:bodyPr>
                <a:lstStyle/>
                <a:p>
                  <a:r>
                    <a:rPr lang="es-CO" sz="1400" b="1" dirty="0">
                      <a:solidFill>
                        <a:schemeClr val="bg1"/>
                      </a:solidFill>
                      <a:latin typeface="Consolas" panose="020B0609020204030204" pitchFamily="49" charset="0"/>
                    </a:rPr>
                    <a:t>param2</a:t>
                  </a:r>
                </a:p>
              </p:txBody>
            </p:sp>
            <p:sp>
              <p:nvSpPr>
                <p:cNvPr id="22" name="CuadroTexto 21">
                  <a:extLst>
                    <a:ext uri="{FF2B5EF4-FFF2-40B4-BE49-F238E27FC236}">
                      <a16:creationId xmlns:a16="http://schemas.microsoft.com/office/drawing/2014/main" id="{A6A87880-39C9-4794-921F-E11A788E213C}"/>
                    </a:ext>
                  </a:extLst>
                </p:cNvPr>
                <p:cNvSpPr txBox="1"/>
                <p:nvPr/>
              </p:nvSpPr>
              <p:spPr>
                <a:xfrm>
                  <a:off x="1907704" y="5713511"/>
                  <a:ext cx="936104" cy="307777"/>
                </a:xfrm>
                <a:prstGeom prst="rect">
                  <a:avLst/>
                </a:prstGeom>
                <a:noFill/>
              </p:spPr>
              <p:txBody>
                <a:bodyPr wrap="square" rtlCol="0">
                  <a:spAutoFit/>
                </a:bodyPr>
                <a:lstStyle/>
                <a:p>
                  <a:r>
                    <a:rPr lang="es-CO" sz="1400" b="1" dirty="0">
                      <a:solidFill>
                        <a:schemeClr val="bg1"/>
                      </a:solidFill>
                      <a:latin typeface="Consolas" panose="020B0609020204030204" pitchFamily="49" charset="0"/>
                    </a:rPr>
                    <a:t>paramN</a:t>
                  </a:r>
                </a:p>
              </p:txBody>
            </p:sp>
            <p:sp>
              <p:nvSpPr>
                <p:cNvPr id="23" name="CuadroTexto 22">
                  <a:extLst>
                    <a:ext uri="{FF2B5EF4-FFF2-40B4-BE49-F238E27FC236}">
                      <a16:creationId xmlns:a16="http://schemas.microsoft.com/office/drawing/2014/main" id="{895A6DC3-8920-4D09-9ED6-DA7447DABE87}"/>
                    </a:ext>
                  </a:extLst>
                </p:cNvPr>
                <p:cNvSpPr txBox="1"/>
                <p:nvPr/>
              </p:nvSpPr>
              <p:spPr>
                <a:xfrm>
                  <a:off x="1907704" y="5373216"/>
                  <a:ext cx="936104" cy="307777"/>
                </a:xfrm>
                <a:prstGeom prst="rect">
                  <a:avLst/>
                </a:prstGeom>
                <a:noFill/>
              </p:spPr>
              <p:txBody>
                <a:bodyPr wrap="square" rtlCol="0">
                  <a:spAutoFit/>
                </a:bodyPr>
                <a:lstStyle/>
                <a:p>
                  <a:r>
                    <a:rPr lang="es-CO" sz="1400" b="1" dirty="0">
                      <a:solidFill>
                        <a:schemeClr val="bg1"/>
                      </a:solidFill>
                      <a:latin typeface="Consolas" panose="020B0609020204030204" pitchFamily="49" charset="0"/>
                    </a:rPr>
                    <a:t>...</a:t>
                  </a:r>
                </a:p>
              </p:txBody>
            </p:sp>
          </p:grpSp>
          <p:sp>
            <p:nvSpPr>
              <p:cNvPr id="24" name="CuadroTexto 23">
                <a:extLst>
                  <a:ext uri="{FF2B5EF4-FFF2-40B4-BE49-F238E27FC236}">
                    <a16:creationId xmlns:a16="http://schemas.microsoft.com/office/drawing/2014/main" id="{80EFA2FB-EE62-47C2-8AEF-9133601A0C62}"/>
                  </a:ext>
                </a:extLst>
              </p:cNvPr>
              <p:cNvSpPr txBox="1"/>
              <p:nvPr/>
            </p:nvSpPr>
            <p:spPr>
              <a:xfrm>
                <a:off x="2448377" y="4422593"/>
                <a:ext cx="1800200" cy="338554"/>
              </a:xfrm>
              <a:prstGeom prst="rect">
                <a:avLst/>
              </a:prstGeom>
              <a:noFill/>
            </p:spPr>
            <p:txBody>
              <a:bodyPr wrap="square" rtlCol="0">
                <a:spAutoFit/>
              </a:bodyPr>
              <a:lstStyle/>
              <a:p>
                <a:pPr algn="ctr"/>
                <a:r>
                  <a:rPr lang="es-CO" sz="1600" b="1" dirty="0">
                    <a:latin typeface="Consolas" panose="020B0609020204030204" pitchFamily="49" charset="0"/>
                  </a:rPr>
                  <a:t>nombre_funcion</a:t>
                </a:r>
              </a:p>
            </p:txBody>
          </p:sp>
          <p:cxnSp>
            <p:nvCxnSpPr>
              <p:cNvPr id="17" name="Conector recto de flecha 16">
                <a:extLst>
                  <a:ext uri="{FF2B5EF4-FFF2-40B4-BE49-F238E27FC236}">
                    <a16:creationId xmlns:a16="http://schemas.microsoft.com/office/drawing/2014/main" id="{3D74031A-DB78-4D32-A9B8-343EF5A828D7}"/>
                  </a:ext>
                </a:extLst>
              </p:cNvPr>
              <p:cNvCxnSpPr>
                <a:cxnSpLocks/>
              </p:cNvCxnSpPr>
              <p:nvPr/>
            </p:nvCxnSpPr>
            <p:spPr>
              <a:xfrm>
                <a:off x="1331640" y="5013176"/>
                <a:ext cx="50405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ector recto de flecha 30">
                <a:extLst>
                  <a:ext uri="{FF2B5EF4-FFF2-40B4-BE49-F238E27FC236}">
                    <a16:creationId xmlns:a16="http://schemas.microsoft.com/office/drawing/2014/main" id="{7ADB8EA4-F2FE-499A-BCC6-451CA89DA697}"/>
                  </a:ext>
                </a:extLst>
              </p:cNvPr>
              <p:cNvCxnSpPr>
                <a:cxnSpLocks/>
              </p:cNvCxnSpPr>
              <p:nvPr/>
            </p:nvCxnSpPr>
            <p:spPr>
              <a:xfrm>
                <a:off x="1331640" y="5264918"/>
                <a:ext cx="50405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Conector recto de flecha 31">
                <a:extLst>
                  <a:ext uri="{FF2B5EF4-FFF2-40B4-BE49-F238E27FC236}">
                    <a16:creationId xmlns:a16="http://schemas.microsoft.com/office/drawing/2014/main" id="{3ADF198B-5E8B-422F-AA9B-9B8EA00A3827}"/>
                  </a:ext>
                </a:extLst>
              </p:cNvPr>
              <p:cNvCxnSpPr>
                <a:cxnSpLocks/>
              </p:cNvCxnSpPr>
              <p:nvPr/>
            </p:nvCxnSpPr>
            <p:spPr>
              <a:xfrm>
                <a:off x="1331641" y="5890989"/>
                <a:ext cx="50405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ector recto de flecha 36">
                <a:extLst>
                  <a:ext uri="{FF2B5EF4-FFF2-40B4-BE49-F238E27FC236}">
                    <a16:creationId xmlns:a16="http://schemas.microsoft.com/office/drawing/2014/main" id="{A9DFC71D-6F70-475A-A3FB-2E484EBDA304}"/>
                  </a:ext>
                </a:extLst>
              </p:cNvPr>
              <p:cNvCxnSpPr>
                <a:cxnSpLocks/>
              </p:cNvCxnSpPr>
              <p:nvPr/>
            </p:nvCxnSpPr>
            <p:spPr>
              <a:xfrm>
                <a:off x="4861259" y="5445224"/>
                <a:ext cx="50405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CuadroTexto 37">
                <a:extLst>
                  <a:ext uri="{FF2B5EF4-FFF2-40B4-BE49-F238E27FC236}">
                    <a16:creationId xmlns:a16="http://schemas.microsoft.com/office/drawing/2014/main" id="{D42DFA53-C35C-4A46-ACD8-AB66BC3ABFCB}"/>
                  </a:ext>
                </a:extLst>
              </p:cNvPr>
              <p:cNvSpPr txBox="1"/>
              <p:nvPr/>
            </p:nvSpPr>
            <p:spPr>
              <a:xfrm>
                <a:off x="1259632" y="5373216"/>
                <a:ext cx="617806" cy="307777"/>
              </a:xfrm>
              <a:prstGeom prst="rect">
                <a:avLst/>
              </a:prstGeom>
              <a:noFill/>
            </p:spPr>
            <p:txBody>
              <a:bodyPr wrap="square" rtlCol="0">
                <a:spAutoFit/>
              </a:bodyPr>
              <a:lstStyle/>
              <a:p>
                <a:pPr algn="ctr"/>
                <a:r>
                  <a:rPr lang="es-CO" sz="1400" b="1" dirty="0">
                    <a:latin typeface="Consolas" panose="020B0609020204030204" pitchFamily="49" charset="0"/>
                  </a:rPr>
                  <a:t>...</a:t>
                </a:r>
              </a:p>
            </p:txBody>
          </p:sp>
        </p:grpSp>
        <p:sp>
          <p:nvSpPr>
            <p:cNvPr id="39" name="CuadroTexto 38">
              <a:extLst>
                <a:ext uri="{FF2B5EF4-FFF2-40B4-BE49-F238E27FC236}">
                  <a16:creationId xmlns:a16="http://schemas.microsoft.com/office/drawing/2014/main" id="{A66DCD7B-9755-4A3C-902E-CC052D311690}"/>
                </a:ext>
              </a:extLst>
            </p:cNvPr>
            <p:cNvSpPr txBox="1"/>
            <p:nvPr/>
          </p:nvSpPr>
          <p:spPr>
            <a:xfrm>
              <a:off x="4115974" y="5699348"/>
              <a:ext cx="1800200" cy="523220"/>
            </a:xfrm>
            <a:prstGeom prst="rect">
              <a:avLst/>
            </a:prstGeom>
            <a:noFill/>
          </p:spPr>
          <p:txBody>
            <a:bodyPr wrap="square" rtlCol="0">
              <a:spAutoFit/>
            </a:bodyPr>
            <a:lstStyle/>
            <a:p>
              <a:pPr algn="ctr"/>
              <a:r>
                <a:rPr lang="es-CO" sz="1400" b="1" dirty="0">
                  <a:solidFill>
                    <a:schemeClr val="bg1"/>
                  </a:solidFill>
                  <a:latin typeface="Consolas" panose="020B0609020204030204" pitchFamily="49" charset="0"/>
                </a:rPr>
                <a:t>Valor de retorno </a:t>
              </a:r>
              <a:r>
                <a:rPr lang="es-CO" sz="1400" b="1" dirty="0">
                  <a:solidFill>
                    <a:srgbClr val="FFFF00"/>
                  </a:solidFill>
                  <a:latin typeface="Consolas" panose="020B0609020204030204" pitchFamily="49" charset="0"/>
                </a:rPr>
                <a:t>(opcional)</a:t>
              </a:r>
            </a:p>
          </p:txBody>
        </p:sp>
      </p:grpSp>
    </p:spTree>
    <p:extLst>
      <p:ext uri="{BB962C8B-B14F-4D97-AF65-F5344CB8AC3E}">
        <p14:creationId xmlns:p14="http://schemas.microsoft.com/office/powerpoint/2010/main" val="5421689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864096"/>
          </a:xfrm>
        </p:spPr>
        <p:txBody>
          <a:bodyPr>
            <a:normAutofit/>
          </a:bodyPr>
          <a:lstStyle/>
          <a:p>
            <a:r>
              <a:rPr lang="es-CO" dirty="0"/>
              <a:t>Funciones en Python - Invocación</a:t>
            </a:r>
            <a:endParaRPr lang="es-CO" dirty="0">
              <a:highlight>
                <a:srgbClr val="FFFF00"/>
              </a:highlight>
            </a:endParaRPr>
          </a:p>
        </p:txBody>
      </p:sp>
      <p:sp>
        <p:nvSpPr>
          <p:cNvPr id="13" name="12 Rectángulo"/>
          <p:cNvSpPr/>
          <p:nvPr/>
        </p:nvSpPr>
        <p:spPr>
          <a:xfrm>
            <a:off x="35496" y="775732"/>
            <a:ext cx="8892480" cy="3477875"/>
          </a:xfrm>
          <a:prstGeom prst="rect">
            <a:avLst/>
          </a:prstGeom>
        </p:spPr>
        <p:txBody>
          <a:bodyPr wrap="square">
            <a:spAutoFit/>
          </a:bodyPr>
          <a:lstStyle/>
          <a:p>
            <a:pPr marL="285750" indent="-285750">
              <a:buFont typeface="Arial" panose="020B0604020202020204" pitchFamily="34" charset="0"/>
              <a:buChar char="•"/>
            </a:pPr>
            <a:r>
              <a:rPr lang="es-MX" sz="2000" b="1" dirty="0"/>
              <a:t>Invocar (llamar) una función</a:t>
            </a:r>
            <a:r>
              <a:rPr lang="es-MX" sz="2000" dirty="0"/>
              <a:t>: escribir su nombre con los argumentos entre paréntesis</a:t>
            </a:r>
          </a:p>
          <a:p>
            <a:pPr marL="285750" indent="-285750">
              <a:buFont typeface="Arial" panose="020B0604020202020204" pitchFamily="34" charset="0"/>
              <a:buChar char="•"/>
            </a:pPr>
            <a:endParaRPr lang="es-MX" sz="2000" dirty="0"/>
          </a:p>
          <a:p>
            <a:pPr marL="285750" indent="-285750">
              <a:buFont typeface="Arial" panose="020B0604020202020204" pitchFamily="34" charset="0"/>
              <a:buChar char="•"/>
            </a:pPr>
            <a:endParaRPr lang="es-MX" sz="2000" dirty="0"/>
          </a:p>
          <a:p>
            <a:pPr marL="285750" indent="-285750">
              <a:buFont typeface="Arial" panose="020B0604020202020204" pitchFamily="34" charset="0"/>
              <a:buChar char="•"/>
            </a:pPr>
            <a:r>
              <a:rPr lang="es-MX" sz="2000" b="1" dirty="0"/>
              <a:t>Donde</a:t>
            </a:r>
            <a:r>
              <a:rPr lang="es-MX" sz="2000" dirty="0"/>
              <a:t>:</a:t>
            </a:r>
          </a:p>
          <a:p>
            <a:pPr marL="742950" lvl="1" indent="-285750">
              <a:buFont typeface="Arial" panose="020B0604020202020204" pitchFamily="34" charset="0"/>
              <a:buChar char="•"/>
            </a:pPr>
            <a:r>
              <a:rPr lang="es-MX" sz="2000" b="1" dirty="0"/>
              <a:t>Argumentos</a:t>
            </a:r>
            <a:r>
              <a:rPr lang="es-MX" sz="2000" dirty="0"/>
              <a:t>: los valores que se envían, y se asocian a los parámetros </a:t>
            </a:r>
            <a:r>
              <a:rPr lang="es-MX" sz="2000" b="1" dirty="0"/>
              <a:t>por posición</a:t>
            </a:r>
            <a:r>
              <a:rPr lang="es-MX" sz="2000" dirty="0"/>
              <a:t>. Pueden ser números, variables o expresiones.</a:t>
            </a:r>
          </a:p>
          <a:p>
            <a:pPr marL="742950" lvl="1" indent="-285750">
              <a:buFont typeface="Arial" panose="020B0604020202020204" pitchFamily="34" charset="0"/>
              <a:buChar char="•"/>
            </a:pPr>
            <a:r>
              <a:rPr lang="es-MX" sz="2000" dirty="0"/>
              <a:t>Si la función </a:t>
            </a:r>
            <a:r>
              <a:rPr lang="es-MX" sz="2000" b="1" dirty="0"/>
              <a:t>devuelve</a:t>
            </a:r>
            <a:r>
              <a:rPr lang="es-MX" sz="2000" dirty="0"/>
              <a:t> un valor, se guarda en una variable o se usa directamente. Si no devuelve nada, se la llama sola.</a:t>
            </a:r>
            <a:endParaRPr lang="es-MX" sz="2000" b="1" dirty="0"/>
          </a:p>
          <a:p>
            <a:pPr marL="285750" indent="-285750">
              <a:buFont typeface="Arial" panose="020B0604020202020204" pitchFamily="34" charset="0"/>
              <a:buChar char="•"/>
            </a:pPr>
            <a:r>
              <a:rPr lang="es-MX" sz="2000" b="1" dirty="0"/>
              <a:t>Ejemplo</a:t>
            </a:r>
            <a:r>
              <a:rPr lang="es-MX" sz="2000" dirty="0"/>
              <a:t>: Empleando la función </a:t>
            </a:r>
            <a:r>
              <a:rPr lang="en-US" dirty="0">
                <a:latin typeface="Consolas" panose="020B0609020204030204" pitchFamily="49" charset="0"/>
              </a:rPr>
              <a:t>calcular_area_circulo()</a:t>
            </a:r>
            <a:r>
              <a:rPr lang="es-MX" sz="2000" dirty="0"/>
              <a:t>, calcular el área de un circulo de radio 5 y llevar el resultado a una variable llamada área.</a:t>
            </a:r>
          </a:p>
        </p:txBody>
      </p:sp>
      <p:sp>
        <p:nvSpPr>
          <p:cNvPr id="2" name="CuadroTexto 1">
            <a:extLst>
              <a:ext uri="{FF2B5EF4-FFF2-40B4-BE49-F238E27FC236}">
                <a16:creationId xmlns:a16="http://schemas.microsoft.com/office/drawing/2014/main" id="{012F26B2-715F-4699-9A5C-F8146CD83003}"/>
              </a:ext>
            </a:extLst>
          </p:cNvPr>
          <p:cNvSpPr txBox="1"/>
          <p:nvPr/>
        </p:nvSpPr>
        <p:spPr>
          <a:xfrm>
            <a:off x="637850" y="1620089"/>
            <a:ext cx="7966598" cy="338554"/>
          </a:xfrm>
          <a:prstGeom prst="rect">
            <a:avLst/>
          </a:prstGeom>
          <a:noFill/>
          <a:ln>
            <a:solidFill>
              <a:schemeClr val="tx1"/>
            </a:solidFill>
          </a:ln>
        </p:spPr>
        <p:txBody>
          <a:bodyPr wrap="square" rtlCol="0">
            <a:spAutoFit/>
          </a:bodyPr>
          <a:lstStyle/>
          <a:p>
            <a:r>
              <a:rPr lang="es-CO" sz="1600" b="1" dirty="0">
                <a:solidFill>
                  <a:srgbClr val="C00000"/>
                </a:solidFill>
                <a:latin typeface="Consolas" panose="020B0609020204030204" pitchFamily="49" charset="0"/>
              </a:rPr>
              <a:t>[variable =]</a:t>
            </a:r>
            <a:r>
              <a:rPr lang="es-CO" sz="1600" dirty="0">
                <a:latin typeface="Consolas" panose="020B0609020204030204" pitchFamily="49" charset="0"/>
              </a:rPr>
              <a:t> </a:t>
            </a:r>
            <a:r>
              <a:rPr lang="es-CO" sz="1600" b="1" dirty="0">
                <a:solidFill>
                  <a:schemeClr val="accent4"/>
                </a:solidFill>
                <a:latin typeface="Consolas" panose="020B0609020204030204" pitchFamily="49" charset="0"/>
              </a:rPr>
              <a:t>nombre_funcion</a:t>
            </a:r>
            <a:r>
              <a:rPr lang="es-CO" sz="1600" dirty="0">
                <a:latin typeface="Consolas" panose="020B0609020204030204" pitchFamily="49" charset="0"/>
              </a:rPr>
              <a:t>(arg1, arg2 ,... , argN) </a:t>
            </a:r>
            <a:endParaRPr lang="es-CO" sz="1600" dirty="0"/>
          </a:p>
        </p:txBody>
      </p:sp>
      <p:sp>
        <p:nvSpPr>
          <p:cNvPr id="21" name="CuadroTexto 20">
            <a:extLst>
              <a:ext uri="{FF2B5EF4-FFF2-40B4-BE49-F238E27FC236}">
                <a16:creationId xmlns:a16="http://schemas.microsoft.com/office/drawing/2014/main" id="{8DDAC6FD-540D-49DD-9B15-FE5084778602}"/>
              </a:ext>
            </a:extLst>
          </p:cNvPr>
          <p:cNvSpPr txBox="1"/>
          <p:nvPr/>
        </p:nvSpPr>
        <p:spPr>
          <a:xfrm>
            <a:off x="624886" y="5222796"/>
            <a:ext cx="3456385" cy="307777"/>
          </a:xfrm>
          <a:prstGeom prst="rect">
            <a:avLst/>
          </a:prstGeom>
          <a:noFill/>
          <a:ln>
            <a:solidFill>
              <a:schemeClr val="tx1"/>
            </a:solidFill>
          </a:ln>
        </p:spPr>
        <p:txBody>
          <a:bodyPr wrap="square" rtlCol="0">
            <a:spAutoFit/>
          </a:bodyPr>
          <a:lstStyle/>
          <a:p>
            <a:r>
              <a:rPr lang="en-US" sz="1400" dirty="0">
                <a:latin typeface="Consolas" panose="020B0609020204030204" pitchFamily="49" charset="0"/>
              </a:rPr>
              <a:t>area = calcular_area_circulo(5)</a:t>
            </a:r>
          </a:p>
        </p:txBody>
      </p:sp>
      <p:sp>
        <p:nvSpPr>
          <p:cNvPr id="43" name="CuadroTexto 42">
            <a:extLst>
              <a:ext uri="{FF2B5EF4-FFF2-40B4-BE49-F238E27FC236}">
                <a16:creationId xmlns:a16="http://schemas.microsoft.com/office/drawing/2014/main" id="{62D5A0BB-3086-4539-92CC-AFE253D13B40}"/>
              </a:ext>
            </a:extLst>
          </p:cNvPr>
          <p:cNvSpPr txBox="1"/>
          <p:nvPr/>
        </p:nvSpPr>
        <p:spPr>
          <a:xfrm>
            <a:off x="1475656" y="5543270"/>
            <a:ext cx="1664486" cy="276999"/>
          </a:xfrm>
          <a:prstGeom prst="rect">
            <a:avLst/>
          </a:prstGeom>
          <a:noFill/>
        </p:spPr>
        <p:txBody>
          <a:bodyPr wrap="square" rtlCol="0">
            <a:spAutoFit/>
          </a:bodyPr>
          <a:lstStyle/>
          <a:p>
            <a:pPr algn="ctr"/>
            <a:r>
              <a:rPr lang="es-CO" sz="1200" dirty="0">
                <a:hlinkClick r:id="rId2"/>
              </a:rPr>
              <a:t>Link simulación</a:t>
            </a:r>
            <a:endParaRPr lang="es-CO" sz="1200" dirty="0"/>
          </a:p>
        </p:txBody>
      </p:sp>
      <p:grpSp>
        <p:nvGrpSpPr>
          <p:cNvPr id="3" name="Grupo 2">
            <a:extLst>
              <a:ext uri="{FF2B5EF4-FFF2-40B4-BE49-F238E27FC236}">
                <a16:creationId xmlns:a16="http://schemas.microsoft.com/office/drawing/2014/main" id="{18263D85-BC1F-4D23-8F73-61C9AB7D0F2C}"/>
              </a:ext>
            </a:extLst>
          </p:cNvPr>
          <p:cNvGrpSpPr/>
          <p:nvPr/>
        </p:nvGrpSpPr>
        <p:grpSpPr>
          <a:xfrm>
            <a:off x="4562996" y="4741108"/>
            <a:ext cx="3897436" cy="1208172"/>
            <a:chOff x="4274964" y="4633825"/>
            <a:chExt cx="3897436" cy="1208172"/>
          </a:xfrm>
        </p:grpSpPr>
        <p:grpSp>
          <p:nvGrpSpPr>
            <p:cNvPr id="25" name="Grupo 24">
              <a:extLst>
                <a:ext uri="{FF2B5EF4-FFF2-40B4-BE49-F238E27FC236}">
                  <a16:creationId xmlns:a16="http://schemas.microsoft.com/office/drawing/2014/main" id="{FD243F80-AB08-42CD-BAD9-A97C583AB140}"/>
                </a:ext>
              </a:extLst>
            </p:cNvPr>
            <p:cNvGrpSpPr/>
            <p:nvPr/>
          </p:nvGrpSpPr>
          <p:grpSpPr>
            <a:xfrm>
              <a:off x="4621149" y="4633825"/>
              <a:ext cx="3551251" cy="1208172"/>
              <a:chOff x="5580112" y="2209800"/>
              <a:chExt cx="3551251" cy="1208172"/>
            </a:xfrm>
          </p:grpSpPr>
          <p:grpSp>
            <p:nvGrpSpPr>
              <p:cNvPr id="26" name="Grupo 25">
                <a:extLst>
                  <a:ext uri="{FF2B5EF4-FFF2-40B4-BE49-F238E27FC236}">
                    <a16:creationId xmlns:a16="http://schemas.microsoft.com/office/drawing/2014/main" id="{B4CC6C65-9575-444E-87C7-09C4B7F3ECEF}"/>
                  </a:ext>
                </a:extLst>
              </p:cNvPr>
              <p:cNvGrpSpPr/>
              <p:nvPr/>
            </p:nvGrpSpPr>
            <p:grpSpPr>
              <a:xfrm>
                <a:off x="5652120" y="2209800"/>
                <a:ext cx="2664295" cy="1208172"/>
                <a:chOff x="1475656" y="4381067"/>
                <a:chExt cx="2664295" cy="1208172"/>
              </a:xfrm>
            </p:grpSpPr>
            <p:sp>
              <p:nvSpPr>
                <p:cNvPr id="36" name="Rectángulo 35">
                  <a:extLst>
                    <a:ext uri="{FF2B5EF4-FFF2-40B4-BE49-F238E27FC236}">
                      <a16:creationId xmlns:a16="http://schemas.microsoft.com/office/drawing/2014/main" id="{E9F27DFC-E675-443E-978C-94D671CEB4A8}"/>
                    </a:ext>
                  </a:extLst>
                </p:cNvPr>
                <p:cNvSpPr/>
                <p:nvPr/>
              </p:nvSpPr>
              <p:spPr>
                <a:xfrm>
                  <a:off x="1907704" y="4725143"/>
                  <a:ext cx="1872208" cy="86409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latin typeface="Consolas" panose="020B0609020204030204" pitchFamily="49" charset="0"/>
                  </a:endParaRPr>
                </a:p>
              </p:txBody>
            </p:sp>
            <p:sp>
              <p:nvSpPr>
                <p:cNvPr id="40" name="CuadroTexto 39">
                  <a:extLst>
                    <a:ext uri="{FF2B5EF4-FFF2-40B4-BE49-F238E27FC236}">
                      <a16:creationId xmlns:a16="http://schemas.microsoft.com/office/drawing/2014/main" id="{3949B2B6-F058-41EF-9A4F-FDA68CD9E51D}"/>
                    </a:ext>
                  </a:extLst>
                </p:cNvPr>
                <p:cNvSpPr txBox="1"/>
                <p:nvPr/>
              </p:nvSpPr>
              <p:spPr>
                <a:xfrm>
                  <a:off x="1475656" y="4381067"/>
                  <a:ext cx="2664295" cy="338554"/>
                </a:xfrm>
                <a:prstGeom prst="rect">
                  <a:avLst/>
                </a:prstGeom>
                <a:noFill/>
              </p:spPr>
              <p:txBody>
                <a:bodyPr wrap="square" rtlCol="0">
                  <a:spAutoFit/>
                </a:bodyPr>
                <a:lstStyle/>
                <a:p>
                  <a:pPr algn="ctr"/>
                  <a:r>
                    <a:rPr lang="es-CO" sz="1600" b="1" dirty="0">
                      <a:latin typeface="Consolas" panose="020B0609020204030204" pitchFamily="49" charset="0"/>
                    </a:rPr>
                    <a:t>calcular_area_circulo</a:t>
                  </a:r>
                </a:p>
              </p:txBody>
            </p:sp>
          </p:grpSp>
          <p:sp>
            <p:nvSpPr>
              <p:cNvPr id="27" name="CuadroTexto 26">
                <a:extLst>
                  <a:ext uri="{FF2B5EF4-FFF2-40B4-BE49-F238E27FC236}">
                    <a16:creationId xmlns:a16="http://schemas.microsoft.com/office/drawing/2014/main" id="{B41B8A90-1403-4B85-9628-8F46BC6D6388}"/>
                  </a:ext>
                </a:extLst>
              </p:cNvPr>
              <p:cNvSpPr txBox="1"/>
              <p:nvPr/>
            </p:nvSpPr>
            <p:spPr>
              <a:xfrm>
                <a:off x="6084168" y="2833191"/>
                <a:ext cx="936104" cy="307777"/>
              </a:xfrm>
              <a:prstGeom prst="rect">
                <a:avLst/>
              </a:prstGeom>
              <a:noFill/>
            </p:spPr>
            <p:txBody>
              <a:bodyPr wrap="square" rtlCol="0">
                <a:spAutoFit/>
              </a:bodyPr>
              <a:lstStyle/>
              <a:p>
                <a:r>
                  <a:rPr lang="es-CO" sz="1400" b="1" dirty="0">
                    <a:solidFill>
                      <a:schemeClr val="bg1"/>
                    </a:solidFill>
                    <a:latin typeface="Consolas" panose="020B0609020204030204" pitchFamily="49" charset="0"/>
                  </a:rPr>
                  <a:t>radio</a:t>
                </a:r>
              </a:p>
            </p:txBody>
          </p:sp>
          <p:cxnSp>
            <p:nvCxnSpPr>
              <p:cNvPr id="29" name="Conector recto de flecha 28">
                <a:extLst>
                  <a:ext uri="{FF2B5EF4-FFF2-40B4-BE49-F238E27FC236}">
                    <a16:creationId xmlns:a16="http://schemas.microsoft.com/office/drawing/2014/main" id="{4414AB27-5373-49ED-BBF2-12EDBE36EA61}"/>
                  </a:ext>
                </a:extLst>
              </p:cNvPr>
              <p:cNvCxnSpPr>
                <a:cxnSpLocks/>
              </p:cNvCxnSpPr>
              <p:nvPr/>
            </p:nvCxnSpPr>
            <p:spPr>
              <a:xfrm>
                <a:off x="5580112" y="2996952"/>
                <a:ext cx="50405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ector recto de flecha 33">
                <a:extLst>
                  <a:ext uri="{FF2B5EF4-FFF2-40B4-BE49-F238E27FC236}">
                    <a16:creationId xmlns:a16="http://schemas.microsoft.com/office/drawing/2014/main" id="{21A46C83-0EEC-4590-AF10-4BA8F1977E5A}"/>
                  </a:ext>
                </a:extLst>
              </p:cNvPr>
              <p:cNvCxnSpPr>
                <a:cxnSpLocks/>
              </p:cNvCxnSpPr>
              <p:nvPr/>
            </p:nvCxnSpPr>
            <p:spPr>
              <a:xfrm>
                <a:off x="7956376" y="2996952"/>
                <a:ext cx="50405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CuadroTexto 34">
                <a:extLst>
                  <a:ext uri="{FF2B5EF4-FFF2-40B4-BE49-F238E27FC236}">
                    <a16:creationId xmlns:a16="http://schemas.microsoft.com/office/drawing/2014/main" id="{DE3E412D-75A6-4C6C-B858-D9FADFB4E461}"/>
                  </a:ext>
                </a:extLst>
              </p:cNvPr>
              <p:cNvSpPr txBox="1"/>
              <p:nvPr/>
            </p:nvSpPr>
            <p:spPr>
              <a:xfrm>
                <a:off x="8409056" y="2833886"/>
                <a:ext cx="722307" cy="307777"/>
              </a:xfrm>
              <a:prstGeom prst="rect">
                <a:avLst/>
              </a:prstGeom>
              <a:noFill/>
            </p:spPr>
            <p:txBody>
              <a:bodyPr wrap="square" rtlCol="0">
                <a:spAutoFit/>
              </a:bodyPr>
              <a:lstStyle/>
              <a:p>
                <a:r>
                  <a:rPr lang="es-CO" sz="1400" b="1" dirty="0">
                    <a:solidFill>
                      <a:srgbClr val="C00000"/>
                    </a:solidFill>
                    <a:latin typeface="Consolas" panose="020B0609020204030204" pitchFamily="49" charset="0"/>
                  </a:rPr>
                  <a:t>78.54</a:t>
                </a:r>
              </a:p>
            </p:txBody>
          </p:sp>
        </p:grpSp>
        <p:sp>
          <p:nvSpPr>
            <p:cNvPr id="41" name="CuadroTexto 40">
              <a:extLst>
                <a:ext uri="{FF2B5EF4-FFF2-40B4-BE49-F238E27FC236}">
                  <a16:creationId xmlns:a16="http://schemas.microsoft.com/office/drawing/2014/main" id="{A09235B9-3D35-4BD6-9EFE-42E67ED6DEB6}"/>
                </a:ext>
              </a:extLst>
            </p:cNvPr>
            <p:cNvSpPr txBox="1"/>
            <p:nvPr/>
          </p:nvSpPr>
          <p:spPr>
            <a:xfrm>
              <a:off x="4274964" y="5256909"/>
              <a:ext cx="454190" cy="307777"/>
            </a:xfrm>
            <a:prstGeom prst="rect">
              <a:avLst/>
            </a:prstGeom>
            <a:noFill/>
          </p:spPr>
          <p:txBody>
            <a:bodyPr wrap="square" rtlCol="0">
              <a:spAutoFit/>
            </a:bodyPr>
            <a:lstStyle/>
            <a:p>
              <a:pPr algn="ctr"/>
              <a:r>
                <a:rPr lang="es-CO" sz="1400" b="1" dirty="0">
                  <a:latin typeface="Consolas" panose="020B0609020204030204" pitchFamily="49" charset="0"/>
                </a:rPr>
                <a:t>5</a:t>
              </a:r>
            </a:p>
          </p:txBody>
        </p:sp>
        <p:sp>
          <p:nvSpPr>
            <p:cNvPr id="17" name="CuadroTexto 16">
              <a:extLst>
                <a:ext uri="{FF2B5EF4-FFF2-40B4-BE49-F238E27FC236}">
                  <a16:creationId xmlns:a16="http://schemas.microsoft.com/office/drawing/2014/main" id="{A159285A-E84B-4F1C-AF15-3A271229A4DE}"/>
                </a:ext>
              </a:extLst>
            </p:cNvPr>
            <p:cNvSpPr txBox="1"/>
            <p:nvPr/>
          </p:nvSpPr>
          <p:spPr>
            <a:xfrm>
              <a:off x="6442745" y="5258603"/>
              <a:ext cx="641915" cy="307777"/>
            </a:xfrm>
            <a:prstGeom prst="rect">
              <a:avLst/>
            </a:prstGeom>
            <a:noFill/>
          </p:spPr>
          <p:txBody>
            <a:bodyPr wrap="square" rtlCol="0">
              <a:spAutoFit/>
            </a:bodyPr>
            <a:lstStyle/>
            <a:p>
              <a:r>
                <a:rPr lang="es-CO" sz="1400" b="1" dirty="0">
                  <a:solidFill>
                    <a:schemeClr val="bg1"/>
                  </a:solidFill>
                  <a:latin typeface="Consolas" panose="020B0609020204030204" pitchFamily="49" charset="0"/>
                </a:rPr>
                <a:t>area</a:t>
              </a:r>
            </a:p>
          </p:txBody>
        </p:sp>
      </p:grpSp>
    </p:spTree>
    <p:extLst>
      <p:ext uri="{BB962C8B-B14F-4D97-AF65-F5344CB8AC3E}">
        <p14:creationId xmlns:p14="http://schemas.microsoft.com/office/powerpoint/2010/main" val="2735767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864096"/>
          </a:xfrm>
        </p:spPr>
        <p:txBody>
          <a:bodyPr>
            <a:normAutofit/>
          </a:bodyPr>
          <a:lstStyle/>
          <a:p>
            <a:r>
              <a:rPr lang="es-CO" dirty="0"/>
              <a:t>Probar una función</a:t>
            </a:r>
            <a:endParaRPr lang="es-CO" dirty="0">
              <a:highlight>
                <a:srgbClr val="FFFF00"/>
              </a:highlight>
            </a:endParaRPr>
          </a:p>
        </p:txBody>
      </p:sp>
      <p:sp>
        <p:nvSpPr>
          <p:cNvPr id="13" name="12 Rectángulo"/>
          <p:cNvSpPr/>
          <p:nvPr/>
        </p:nvSpPr>
        <p:spPr>
          <a:xfrm>
            <a:off x="35496" y="908720"/>
            <a:ext cx="8892480" cy="2862322"/>
          </a:xfrm>
          <a:prstGeom prst="rect">
            <a:avLst/>
          </a:prstGeom>
        </p:spPr>
        <p:txBody>
          <a:bodyPr wrap="square">
            <a:spAutoFit/>
          </a:bodyPr>
          <a:lstStyle/>
          <a:p>
            <a:pPr marL="285750" indent="-285750">
              <a:buFont typeface="Arial" panose="020B0604020202020204" pitchFamily="34" charset="0"/>
              <a:buChar char="•"/>
            </a:pPr>
            <a:r>
              <a:rPr lang="es-MX" sz="2000" b="1" dirty="0"/>
              <a:t>Prueba unitaria</a:t>
            </a:r>
            <a:r>
              <a:rPr lang="es-MX" sz="2000" dirty="0"/>
              <a:t>: verificar una función de forma aislada, con varios casos de uso.</a:t>
            </a:r>
          </a:p>
          <a:p>
            <a:pPr marL="285750" indent="-285750">
              <a:buFont typeface="Arial" panose="020B0604020202020204" pitchFamily="34" charset="0"/>
              <a:buChar char="•"/>
            </a:pPr>
            <a:r>
              <a:rPr lang="es-MX" sz="2000" dirty="0"/>
              <a:t>Cada </a:t>
            </a:r>
            <a:r>
              <a:rPr lang="es-MX" sz="2000" b="1" dirty="0"/>
              <a:t>caso de prueba</a:t>
            </a:r>
            <a:r>
              <a:rPr lang="es-MX" sz="2000" dirty="0"/>
              <a:t> compara el resultado </a:t>
            </a:r>
            <a:r>
              <a:rPr lang="es-MX" sz="2000" b="1" dirty="0"/>
              <a:t>esperado</a:t>
            </a:r>
            <a:r>
              <a:rPr lang="es-MX" sz="2000" dirty="0"/>
              <a:t> con el </a:t>
            </a:r>
            <a:r>
              <a:rPr lang="es-MX" sz="2000" b="1" dirty="0"/>
              <a:t>obtenido</a:t>
            </a:r>
            <a:r>
              <a:rPr lang="es-MX" sz="2000" dirty="0"/>
              <a:t>.</a:t>
            </a:r>
          </a:p>
          <a:p>
            <a:pPr marL="285750" indent="-285750">
              <a:buFont typeface="Arial" panose="020B0604020202020204" pitchFamily="34" charset="0"/>
              <a:buChar char="•"/>
            </a:pPr>
            <a:r>
              <a:rPr lang="es-MX" sz="2000" b="1" dirty="0"/>
              <a:t>Integración</a:t>
            </a:r>
            <a:r>
              <a:rPr lang="es-MX" sz="2000" dirty="0"/>
              <a:t>: proceso de combinar las funciones ya desarrolladas en el programa completo (menú, lectura de datos y ciclo principal).</a:t>
            </a:r>
            <a:endParaRPr lang="es-MX" sz="2000" b="1" dirty="0"/>
          </a:p>
          <a:p>
            <a:pPr marL="285750" indent="-285750">
              <a:buFont typeface="Arial" panose="020B0604020202020204" pitchFamily="34" charset="0"/>
              <a:buChar char="•"/>
            </a:pPr>
            <a:r>
              <a:rPr lang="es-MX" sz="2000" b="1" dirty="0"/>
              <a:t>¿Por qué es importante probar antes de integrar?</a:t>
            </a:r>
            <a:r>
              <a:rPr lang="es-MX" sz="2000" dirty="0"/>
              <a:t> </a:t>
            </a:r>
          </a:p>
          <a:p>
            <a:pPr marL="800100" lvl="1" indent="-342900">
              <a:buFont typeface="Courier New" panose="02070309020205020404" pitchFamily="49" charset="0"/>
              <a:buChar char="o"/>
            </a:pPr>
            <a:r>
              <a:rPr lang="es-MX" sz="2000" dirty="0"/>
              <a:t>Si una función falla de forma aislada, el error se encuentra en ella.</a:t>
            </a:r>
          </a:p>
          <a:p>
            <a:pPr marL="800100" lvl="1" indent="-342900">
              <a:buFont typeface="Courier New" panose="02070309020205020404" pitchFamily="49" charset="0"/>
              <a:buChar char="o"/>
            </a:pPr>
            <a:r>
              <a:rPr lang="es-MX" sz="2000" dirty="0"/>
              <a:t>Si falla dentro del programa completo, el origen puede estar en la función, en la lectura de datos o en el menú, y localizarlo resulta más costoso.</a:t>
            </a:r>
          </a:p>
          <a:p>
            <a:pPr marL="800100" lvl="1" indent="-342900">
              <a:buFont typeface="Courier New" panose="02070309020205020404" pitchFamily="49" charset="0"/>
              <a:buChar char="o"/>
            </a:pPr>
            <a:r>
              <a:rPr lang="es-MX" sz="2000" dirty="0"/>
              <a:t>Una función verificada puede reutilizarse con confianza.</a:t>
            </a:r>
          </a:p>
        </p:txBody>
      </p:sp>
      <p:graphicFrame>
        <p:nvGraphicFramePr>
          <p:cNvPr id="4" name="Tabla 3">
            <a:extLst>
              <a:ext uri="{FF2B5EF4-FFF2-40B4-BE49-F238E27FC236}">
                <a16:creationId xmlns:a16="http://schemas.microsoft.com/office/drawing/2014/main" id="{D99B6162-7446-4A75-B376-D8527CA0754C}"/>
              </a:ext>
            </a:extLst>
          </p:cNvPr>
          <p:cNvGraphicFramePr>
            <a:graphicFrameLocks noGrp="1"/>
          </p:cNvGraphicFramePr>
          <p:nvPr/>
        </p:nvGraphicFramePr>
        <p:xfrm>
          <a:off x="402362" y="4005064"/>
          <a:ext cx="8339275" cy="2011680"/>
        </p:xfrm>
        <a:graphic>
          <a:graphicData uri="http://schemas.openxmlformats.org/drawingml/2006/table">
            <a:tbl>
              <a:tblPr/>
              <a:tblGrid>
                <a:gridCol w="1512898">
                  <a:extLst>
                    <a:ext uri="{9D8B030D-6E8A-4147-A177-3AD203B41FA5}">
                      <a16:colId xmlns:a16="http://schemas.microsoft.com/office/drawing/2014/main" val="3339494124"/>
                    </a:ext>
                  </a:extLst>
                </a:gridCol>
                <a:gridCol w="1810900">
                  <a:extLst>
                    <a:ext uri="{9D8B030D-6E8A-4147-A177-3AD203B41FA5}">
                      <a16:colId xmlns:a16="http://schemas.microsoft.com/office/drawing/2014/main" val="906659216"/>
                    </a:ext>
                  </a:extLst>
                </a:gridCol>
                <a:gridCol w="5015477">
                  <a:extLst>
                    <a:ext uri="{9D8B030D-6E8A-4147-A177-3AD203B41FA5}">
                      <a16:colId xmlns:a16="http://schemas.microsoft.com/office/drawing/2014/main" val="324765120"/>
                    </a:ext>
                  </a:extLst>
                </a:gridCol>
              </a:tblGrid>
              <a:tr h="183419">
                <a:tc>
                  <a:txBody>
                    <a:bodyPr/>
                    <a:lstStyle/>
                    <a:p>
                      <a:r>
                        <a:rPr lang="es-CO" b="1" dirty="0">
                          <a:solidFill>
                            <a:schemeClr val="bg1"/>
                          </a:solidFill>
                        </a:rPr>
                        <a:t>Tipo de caso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r>
                        <a:rPr lang="es-CO" b="1">
                          <a:solidFill>
                            <a:schemeClr val="bg1"/>
                          </a:solidFill>
                        </a:rPr>
                        <a:t>Qué prueba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r>
                        <a:rPr lang="es-CO" b="1" dirty="0">
                          <a:solidFill>
                            <a:schemeClr val="bg1"/>
                          </a:solidFill>
                        </a:rPr>
                        <a:t>Ejemplo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2270602877"/>
                  </a:ext>
                </a:extLst>
              </a:tr>
              <a:tr h="320983">
                <a:tc>
                  <a:txBody>
                    <a:bodyPr/>
                    <a:lstStyle/>
                    <a:p>
                      <a:r>
                        <a:rPr lang="es-CO" b="1"/>
                        <a:t>Típico</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dirty="0"/>
                        <a:t>Uso habitual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err="1">
                          <a:latin typeface="Consolas" panose="020B0609020204030204" pitchFamily="49" charset="0"/>
                        </a:rPr>
                        <a:t>calcular_area_rectangulo</a:t>
                      </a:r>
                      <a:r>
                        <a:rPr lang="es-CO" sz="1600" dirty="0">
                          <a:latin typeface="Consolas" panose="020B0609020204030204" pitchFamily="49" charset="0"/>
                        </a:rPr>
                        <a:t>(4, 3) → 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2979995"/>
                  </a:ext>
                </a:extLst>
              </a:tr>
              <a:tr h="320983">
                <a:tc>
                  <a:txBody>
                    <a:bodyPr/>
                    <a:lstStyle/>
                    <a:p>
                      <a:r>
                        <a:rPr lang="es-CO" b="1"/>
                        <a:t>Límite</a:t>
                      </a:r>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dirty="0"/>
                        <a:t>Valores extremos del rango válido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err="1">
                          <a:latin typeface="Consolas" panose="020B0609020204030204" pitchFamily="49" charset="0"/>
                        </a:rPr>
                        <a:t>calcular_area_rectangulo</a:t>
                      </a:r>
                      <a:r>
                        <a:rPr lang="es-CO" sz="1600" dirty="0">
                          <a:latin typeface="Consolas" panose="020B0609020204030204" pitchFamily="49" charset="0"/>
                        </a:rPr>
                        <a:t>(0, 5) →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37258389"/>
                  </a:ext>
                </a:extLst>
              </a:tr>
              <a:tr h="377370">
                <a:tc>
                  <a:txBody>
                    <a:bodyPr/>
                    <a:lstStyle/>
                    <a:p>
                      <a:r>
                        <a:rPr lang="es-CO" b="1" dirty="0"/>
                        <a:t>Especial</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dirty="0"/>
                        <a:t>Valores atípicos o inválidos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err="1">
                          <a:latin typeface="Consolas" panose="020B0609020204030204" pitchFamily="49" charset="0"/>
                        </a:rPr>
                        <a:t>calcular_area_rectangulo</a:t>
                      </a:r>
                      <a:r>
                        <a:rPr lang="es-MX" sz="1600" dirty="0">
                          <a:latin typeface="Consolas" panose="020B0609020204030204" pitchFamily="49" charset="0"/>
                        </a:rPr>
                        <a:t>(-4, 3) → -12</a:t>
                      </a:r>
                      <a:r>
                        <a:rPr lang="es-MX" dirty="0"/>
                        <a:t>, que la función no rechaza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8957950"/>
                  </a:ext>
                </a:extLst>
              </a:tr>
            </a:tbl>
          </a:graphicData>
        </a:graphic>
      </p:graphicFrame>
    </p:spTree>
    <p:extLst>
      <p:ext uri="{BB962C8B-B14F-4D97-AF65-F5344CB8AC3E}">
        <p14:creationId xmlns:p14="http://schemas.microsoft.com/office/powerpoint/2010/main" val="9876240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864096"/>
          </a:xfrm>
        </p:spPr>
        <p:txBody>
          <a:bodyPr>
            <a:normAutofit/>
          </a:bodyPr>
          <a:lstStyle/>
          <a:p>
            <a:r>
              <a:rPr lang="es-CO" dirty="0"/>
              <a:t>Pruebas con </a:t>
            </a:r>
            <a:r>
              <a:rPr lang="es-CO" sz="4000" dirty="0">
                <a:solidFill>
                  <a:schemeClr val="accent4"/>
                </a:solidFill>
                <a:latin typeface="Consolas" panose="020B0609020204030204" pitchFamily="49" charset="0"/>
              </a:rPr>
              <a:t>assert</a:t>
            </a:r>
            <a:endParaRPr lang="es-CO" dirty="0">
              <a:solidFill>
                <a:schemeClr val="accent4"/>
              </a:solidFill>
              <a:highlight>
                <a:srgbClr val="FFFF00"/>
              </a:highlight>
              <a:latin typeface="Consolas" panose="020B0609020204030204" pitchFamily="49" charset="0"/>
            </a:endParaRPr>
          </a:p>
        </p:txBody>
      </p:sp>
      <p:sp>
        <p:nvSpPr>
          <p:cNvPr id="13" name="12 Rectángulo"/>
          <p:cNvSpPr/>
          <p:nvPr/>
        </p:nvSpPr>
        <p:spPr>
          <a:xfrm>
            <a:off x="35496" y="836712"/>
            <a:ext cx="8892480" cy="3785652"/>
          </a:xfrm>
          <a:prstGeom prst="rect">
            <a:avLst/>
          </a:prstGeom>
        </p:spPr>
        <p:txBody>
          <a:bodyPr wrap="square">
            <a:spAutoFit/>
          </a:bodyPr>
          <a:lstStyle/>
          <a:p>
            <a:pPr marL="285750" indent="-285750">
              <a:buFont typeface="Arial" panose="020B0604020202020204" pitchFamily="34" charset="0"/>
              <a:buChar char="•"/>
            </a:pPr>
            <a:r>
              <a:rPr lang="es-MX" sz="2000" b="1" dirty="0"/>
              <a:t>Sintaxis</a:t>
            </a:r>
            <a:r>
              <a:rPr lang="es-MX" sz="2000" dirty="0"/>
              <a:t>: Una verificación se escribe con la palabra clave </a:t>
            </a:r>
            <a:r>
              <a:rPr lang="es-MX" b="1" dirty="0">
                <a:solidFill>
                  <a:schemeClr val="accent4"/>
                </a:solidFill>
                <a:latin typeface="Consolas" panose="020B0609020204030204" pitchFamily="49" charset="0"/>
              </a:rPr>
              <a:t>assert</a:t>
            </a:r>
            <a:r>
              <a:rPr lang="es-MX" sz="2000" dirty="0"/>
              <a:t>, seguida de una condición y,  opcionalmente, un mensaje:</a:t>
            </a:r>
          </a:p>
          <a:p>
            <a:pPr marL="285750" indent="-285750">
              <a:buFont typeface="Arial" panose="020B0604020202020204" pitchFamily="34" charset="0"/>
              <a:buChar char="•"/>
            </a:pPr>
            <a:endParaRPr lang="es-MX" sz="2000" dirty="0"/>
          </a:p>
          <a:p>
            <a:pPr marL="285750" indent="-285750">
              <a:buFont typeface="Arial" panose="020B0604020202020204" pitchFamily="34" charset="0"/>
              <a:buChar char="•"/>
            </a:pPr>
            <a:endParaRPr lang="es-MX" sz="2000" dirty="0"/>
          </a:p>
          <a:p>
            <a:pPr marL="285750" indent="-285750">
              <a:buFont typeface="Arial" panose="020B0604020202020204" pitchFamily="34" charset="0"/>
              <a:buChar char="•"/>
            </a:pPr>
            <a:endParaRPr lang="es-MX" sz="2000" dirty="0"/>
          </a:p>
          <a:p>
            <a:pPr marL="285750" indent="-285750">
              <a:buFont typeface="Arial" panose="020B0604020202020204" pitchFamily="34" charset="0"/>
              <a:buChar char="•"/>
            </a:pPr>
            <a:r>
              <a:rPr lang="es-MX" sz="2000" b="1" dirty="0"/>
              <a:t>Donde</a:t>
            </a:r>
            <a:r>
              <a:rPr lang="es-MX" sz="2000" dirty="0"/>
              <a:t>:</a:t>
            </a:r>
          </a:p>
          <a:p>
            <a:pPr marL="742950" lvl="1" indent="-285750">
              <a:buFont typeface="Arial" panose="020B0604020202020204" pitchFamily="34" charset="0"/>
              <a:buChar char="•"/>
            </a:pPr>
            <a:r>
              <a:rPr lang="es-MX" sz="2000" b="1" dirty="0"/>
              <a:t>Condición</a:t>
            </a:r>
            <a:r>
              <a:rPr lang="es-MX" sz="2000" dirty="0"/>
              <a:t>: expresión que debe ser verdadera, normalmente la comparación </a:t>
            </a:r>
            <a:r>
              <a:rPr lang="es-MX" b="1" dirty="0">
                <a:solidFill>
                  <a:srgbClr val="00B050"/>
                </a:solidFill>
                <a:latin typeface="Consolas" panose="020B0609020204030204" pitchFamily="49" charset="0"/>
              </a:rPr>
              <a:t>llamada == </a:t>
            </a:r>
            <a:r>
              <a:rPr lang="es-MX" b="1" dirty="0" err="1">
                <a:solidFill>
                  <a:srgbClr val="00B050"/>
                </a:solidFill>
                <a:latin typeface="Consolas" panose="020B0609020204030204" pitchFamily="49" charset="0"/>
              </a:rPr>
              <a:t>resultado_esperado</a:t>
            </a:r>
            <a:r>
              <a:rPr lang="es-MX" sz="2000" dirty="0"/>
              <a:t>.</a:t>
            </a:r>
          </a:p>
          <a:p>
            <a:pPr marL="742950" lvl="1" indent="-285750">
              <a:buFont typeface="Arial" panose="020B0604020202020204" pitchFamily="34" charset="0"/>
              <a:buChar char="•"/>
            </a:pPr>
            <a:r>
              <a:rPr lang="es-MX" sz="2000" b="1" dirty="0"/>
              <a:t>Mensaje (opcional)</a:t>
            </a:r>
            <a:r>
              <a:rPr lang="es-MX" sz="2000" dirty="0"/>
              <a:t>: texto que se muestra si la condición es falsa.</a:t>
            </a:r>
          </a:p>
          <a:p>
            <a:pPr marL="285750" indent="-285750">
              <a:buFont typeface="Arial" panose="020B0604020202020204" pitchFamily="34" charset="0"/>
              <a:buChar char="•"/>
            </a:pPr>
            <a:r>
              <a:rPr lang="es-MX" sz="2000" b="1" dirty="0"/>
              <a:t>Si la condición se cumple</a:t>
            </a:r>
            <a:r>
              <a:rPr lang="es-MX" sz="2000" dirty="0"/>
              <a:t>, el programa continúa sin mostrar nada.</a:t>
            </a:r>
          </a:p>
          <a:p>
            <a:pPr marL="285750" indent="-285750">
              <a:buFont typeface="Arial" panose="020B0604020202020204" pitchFamily="34" charset="0"/>
              <a:buChar char="•"/>
            </a:pPr>
            <a:r>
              <a:rPr lang="es-MX" sz="2000" b="1" dirty="0"/>
              <a:t>Si no se cumple</a:t>
            </a:r>
            <a:r>
              <a:rPr lang="es-MX" sz="2000" dirty="0"/>
              <a:t>, Python lanza </a:t>
            </a:r>
            <a:r>
              <a:rPr lang="es-MX" b="1" dirty="0" err="1">
                <a:latin typeface="Consolas" panose="020B0609020204030204" pitchFamily="49" charset="0"/>
              </a:rPr>
              <a:t>AssertionError</a:t>
            </a:r>
            <a:r>
              <a:rPr lang="es-MX" sz="2000" dirty="0"/>
              <a:t> e indica la línea que falló o muestra el mensaje (en caso de que este se haya definido).</a:t>
            </a:r>
          </a:p>
        </p:txBody>
      </p:sp>
      <p:sp>
        <p:nvSpPr>
          <p:cNvPr id="6" name="CuadroTexto 5">
            <a:extLst>
              <a:ext uri="{FF2B5EF4-FFF2-40B4-BE49-F238E27FC236}">
                <a16:creationId xmlns:a16="http://schemas.microsoft.com/office/drawing/2014/main" id="{93E20402-0003-480B-BF9B-6B30BB7DB54E}"/>
              </a:ext>
            </a:extLst>
          </p:cNvPr>
          <p:cNvSpPr txBox="1"/>
          <p:nvPr/>
        </p:nvSpPr>
        <p:spPr>
          <a:xfrm>
            <a:off x="588701" y="1700808"/>
            <a:ext cx="7966598" cy="338554"/>
          </a:xfrm>
          <a:prstGeom prst="rect">
            <a:avLst/>
          </a:prstGeom>
          <a:noFill/>
          <a:ln>
            <a:solidFill>
              <a:schemeClr val="tx1"/>
            </a:solidFill>
          </a:ln>
        </p:spPr>
        <p:txBody>
          <a:bodyPr wrap="square" rtlCol="0">
            <a:spAutoFit/>
          </a:bodyPr>
          <a:lstStyle/>
          <a:p>
            <a:r>
              <a:rPr lang="es-CO" sz="1600" b="1" dirty="0">
                <a:solidFill>
                  <a:schemeClr val="accent4"/>
                </a:solidFill>
                <a:latin typeface="Consolas" panose="020B0609020204030204" pitchFamily="49" charset="0"/>
              </a:rPr>
              <a:t>assert</a:t>
            </a:r>
            <a:r>
              <a:rPr lang="es-CO" sz="1600" dirty="0">
                <a:latin typeface="Consolas" panose="020B0609020204030204" pitchFamily="49" charset="0"/>
              </a:rPr>
              <a:t> </a:t>
            </a:r>
            <a:r>
              <a:rPr lang="es-CO" sz="1600" b="1" dirty="0">
                <a:solidFill>
                  <a:srgbClr val="00B050"/>
                </a:solidFill>
                <a:latin typeface="Consolas" panose="020B0609020204030204" pitchFamily="49" charset="0"/>
              </a:rPr>
              <a:t>condición </a:t>
            </a:r>
            <a:r>
              <a:rPr lang="es-CO" sz="1600" b="1" dirty="0">
                <a:solidFill>
                  <a:srgbClr val="C00000"/>
                </a:solidFill>
                <a:latin typeface="Consolas" panose="020B0609020204030204" pitchFamily="49" charset="0"/>
              </a:rPr>
              <a:t>[, "Mensaje opcional"]</a:t>
            </a:r>
            <a:endParaRPr lang="es-CO" sz="1600" b="1" dirty="0">
              <a:solidFill>
                <a:srgbClr val="C00000"/>
              </a:solidFill>
            </a:endParaRPr>
          </a:p>
        </p:txBody>
      </p:sp>
      <p:sp>
        <p:nvSpPr>
          <p:cNvPr id="8" name="CuadroTexto 7">
            <a:extLst>
              <a:ext uri="{FF2B5EF4-FFF2-40B4-BE49-F238E27FC236}">
                <a16:creationId xmlns:a16="http://schemas.microsoft.com/office/drawing/2014/main" id="{6B923442-2F95-4D91-85F2-1BCEF4294321}"/>
              </a:ext>
            </a:extLst>
          </p:cNvPr>
          <p:cNvSpPr txBox="1"/>
          <p:nvPr/>
        </p:nvSpPr>
        <p:spPr>
          <a:xfrm>
            <a:off x="797898" y="4581128"/>
            <a:ext cx="7799723" cy="1015663"/>
          </a:xfrm>
          <a:prstGeom prst="rect">
            <a:avLst/>
          </a:prstGeom>
          <a:noFill/>
          <a:ln>
            <a:solidFill>
              <a:schemeClr val="tx1"/>
            </a:solidFill>
          </a:ln>
        </p:spPr>
        <p:txBody>
          <a:bodyPr wrap="square">
            <a:spAutoFit/>
          </a:bodyPr>
          <a:lstStyle/>
          <a:p>
            <a:r>
              <a:rPr lang="es-CO" sz="1200" dirty="0">
                <a:latin typeface="Consolas" panose="020B0609020204030204" pitchFamily="49" charset="0"/>
              </a:rPr>
              <a:t># Sin mensaje</a:t>
            </a:r>
          </a:p>
          <a:p>
            <a:r>
              <a:rPr lang="es-CO" sz="1200" dirty="0">
                <a:latin typeface="Consolas" panose="020B0609020204030204" pitchFamily="49" charset="0"/>
              </a:rPr>
              <a:t>assert </a:t>
            </a:r>
            <a:r>
              <a:rPr lang="es-CO" sz="1200" dirty="0" err="1">
                <a:latin typeface="Consolas" panose="020B0609020204030204" pitchFamily="49" charset="0"/>
              </a:rPr>
              <a:t>calcular_area_rectangulo</a:t>
            </a:r>
            <a:r>
              <a:rPr lang="es-CO" sz="1200" dirty="0">
                <a:latin typeface="Consolas" panose="020B0609020204030204" pitchFamily="49" charset="0"/>
              </a:rPr>
              <a:t>(4, 3) == 12</a:t>
            </a:r>
          </a:p>
          <a:p>
            <a:endParaRPr lang="es-CO" sz="1200" dirty="0">
              <a:latin typeface="Consolas" panose="020B0609020204030204" pitchFamily="49" charset="0"/>
            </a:endParaRPr>
          </a:p>
          <a:p>
            <a:r>
              <a:rPr lang="es-CO" sz="1200" dirty="0">
                <a:latin typeface="Consolas" panose="020B0609020204030204" pitchFamily="49" charset="0"/>
              </a:rPr>
              <a:t># Con mensaje</a:t>
            </a:r>
          </a:p>
          <a:p>
            <a:r>
              <a:rPr lang="es-CO" sz="1200" dirty="0">
                <a:latin typeface="Consolas" panose="020B0609020204030204" pitchFamily="49" charset="0"/>
              </a:rPr>
              <a:t>assert </a:t>
            </a:r>
            <a:r>
              <a:rPr lang="es-CO" sz="1200" dirty="0" err="1">
                <a:latin typeface="Consolas" panose="020B0609020204030204" pitchFamily="49" charset="0"/>
              </a:rPr>
              <a:t>calcular_area_rectangulo</a:t>
            </a:r>
            <a:r>
              <a:rPr lang="es-CO" sz="1200" dirty="0">
                <a:latin typeface="Consolas" panose="020B0609020204030204" pitchFamily="49" charset="0"/>
              </a:rPr>
              <a:t>(4, 3) == 12, "El área de 4 x 3 debe ser 12"</a:t>
            </a:r>
          </a:p>
        </p:txBody>
      </p:sp>
      <p:sp>
        <p:nvSpPr>
          <p:cNvPr id="9" name="CuadroTexto 8">
            <a:extLst>
              <a:ext uri="{FF2B5EF4-FFF2-40B4-BE49-F238E27FC236}">
                <a16:creationId xmlns:a16="http://schemas.microsoft.com/office/drawing/2014/main" id="{D504B595-B2EE-4CC2-8807-AD51AFE47AF0}"/>
              </a:ext>
            </a:extLst>
          </p:cNvPr>
          <p:cNvSpPr txBox="1"/>
          <p:nvPr/>
        </p:nvSpPr>
        <p:spPr>
          <a:xfrm>
            <a:off x="3649493" y="5589240"/>
            <a:ext cx="1664486" cy="276999"/>
          </a:xfrm>
          <a:prstGeom prst="rect">
            <a:avLst/>
          </a:prstGeom>
          <a:noFill/>
        </p:spPr>
        <p:txBody>
          <a:bodyPr wrap="square" rtlCol="0">
            <a:spAutoFit/>
          </a:bodyPr>
          <a:lstStyle/>
          <a:p>
            <a:pPr algn="ctr"/>
            <a:r>
              <a:rPr lang="es-CO" sz="1200" dirty="0">
                <a:hlinkClick r:id="rId2"/>
              </a:rPr>
              <a:t>Link simulación</a:t>
            </a:r>
            <a:endParaRPr lang="es-CO" sz="1200" dirty="0"/>
          </a:p>
        </p:txBody>
      </p:sp>
      <p:sp>
        <p:nvSpPr>
          <p:cNvPr id="10" name="CuadroTexto 9">
            <a:extLst>
              <a:ext uri="{FF2B5EF4-FFF2-40B4-BE49-F238E27FC236}">
                <a16:creationId xmlns:a16="http://schemas.microsoft.com/office/drawing/2014/main" id="{9CED2DA4-4450-4E35-83D5-227E5ADBD70A}"/>
              </a:ext>
            </a:extLst>
          </p:cNvPr>
          <p:cNvSpPr txBox="1"/>
          <p:nvPr/>
        </p:nvSpPr>
        <p:spPr>
          <a:xfrm>
            <a:off x="827584" y="6237312"/>
            <a:ext cx="7799723" cy="461665"/>
          </a:xfrm>
          <a:prstGeom prst="rect">
            <a:avLst/>
          </a:prstGeom>
          <a:noFill/>
          <a:ln>
            <a:solidFill>
              <a:schemeClr val="tx1"/>
            </a:solidFill>
          </a:ln>
        </p:spPr>
        <p:txBody>
          <a:bodyPr wrap="square">
            <a:spAutoFit/>
          </a:bodyPr>
          <a:lstStyle/>
          <a:p>
            <a:endParaRPr lang="es-CO" sz="1200" dirty="0">
              <a:latin typeface="Consolas" panose="020B0609020204030204" pitchFamily="49" charset="0"/>
            </a:endParaRPr>
          </a:p>
          <a:p>
            <a:endParaRPr lang="es-CO" sz="1200" dirty="0">
              <a:latin typeface="Consolas" panose="020B0609020204030204" pitchFamily="49" charset="0"/>
            </a:endParaRPr>
          </a:p>
        </p:txBody>
      </p:sp>
      <p:sp>
        <p:nvSpPr>
          <p:cNvPr id="11" name="CuadroTexto 10">
            <a:extLst>
              <a:ext uri="{FF2B5EF4-FFF2-40B4-BE49-F238E27FC236}">
                <a16:creationId xmlns:a16="http://schemas.microsoft.com/office/drawing/2014/main" id="{DA5A6189-AD64-4BF6-97E5-0EAA0ADC6C7D}"/>
              </a:ext>
            </a:extLst>
          </p:cNvPr>
          <p:cNvSpPr txBox="1"/>
          <p:nvPr/>
        </p:nvSpPr>
        <p:spPr>
          <a:xfrm>
            <a:off x="771010" y="5960313"/>
            <a:ext cx="3656974" cy="307777"/>
          </a:xfrm>
          <a:prstGeom prst="rect">
            <a:avLst/>
          </a:prstGeom>
          <a:noFill/>
        </p:spPr>
        <p:txBody>
          <a:bodyPr wrap="square" rtlCol="0">
            <a:spAutoFit/>
          </a:bodyPr>
          <a:lstStyle/>
          <a:p>
            <a:r>
              <a:rPr lang="es-CO" sz="1400" b="1" dirty="0"/>
              <a:t>Salida en pantalla </a:t>
            </a:r>
            <a:r>
              <a:rPr lang="es-CO" sz="1400" dirty="0"/>
              <a:t>(Vacía – Todo salió bien)</a:t>
            </a:r>
          </a:p>
        </p:txBody>
      </p:sp>
    </p:spTree>
    <p:extLst>
      <p:ext uri="{BB962C8B-B14F-4D97-AF65-F5344CB8AC3E}">
        <p14:creationId xmlns:p14="http://schemas.microsoft.com/office/powerpoint/2010/main" val="4533458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Comparación</a:t>
            </a:r>
            <a:endParaRPr lang="es-CO" sz="3600" dirty="0"/>
          </a:p>
        </p:txBody>
      </p:sp>
      <p:sp>
        <p:nvSpPr>
          <p:cNvPr id="13" name="12 Rectángulo"/>
          <p:cNvSpPr/>
          <p:nvPr/>
        </p:nvSpPr>
        <p:spPr>
          <a:xfrm>
            <a:off x="14908" y="734497"/>
            <a:ext cx="8877572" cy="707886"/>
          </a:xfrm>
          <a:prstGeom prst="rect">
            <a:avLst/>
          </a:prstGeom>
        </p:spPr>
        <p:txBody>
          <a:bodyPr wrap="square">
            <a:spAutoFit/>
          </a:bodyPr>
          <a:lstStyle/>
          <a:p>
            <a:pPr marL="342900" indent="-342900" rtl="0">
              <a:buFont typeface="Arial" panose="020B0604020202020204" pitchFamily="34" charset="0"/>
              <a:buChar char="•"/>
            </a:pPr>
            <a:r>
              <a:rPr lang="es-MX" sz="2000" dirty="0"/>
              <a:t>A continuación, se muestra la comparación entre trabajar un programa </a:t>
            </a:r>
            <a:r>
              <a:rPr lang="es-MX" sz="2000" b="1" dirty="0"/>
              <a:t>sin módulos</a:t>
            </a:r>
            <a:r>
              <a:rPr lang="es-MX" sz="2000" dirty="0"/>
              <a:t> y </a:t>
            </a:r>
            <a:r>
              <a:rPr lang="es-MX" sz="2000" b="1" dirty="0"/>
              <a:t>con módulos</a:t>
            </a:r>
            <a:r>
              <a:rPr lang="es-MX" sz="2000" dirty="0"/>
              <a:t>.</a:t>
            </a:r>
          </a:p>
        </p:txBody>
      </p:sp>
      <p:sp>
        <p:nvSpPr>
          <p:cNvPr id="19" name="CuadroTexto 18">
            <a:extLst>
              <a:ext uri="{FF2B5EF4-FFF2-40B4-BE49-F238E27FC236}">
                <a16:creationId xmlns:a16="http://schemas.microsoft.com/office/drawing/2014/main" id="{84E7742F-9933-410E-8568-CF4892FF2EC3}"/>
              </a:ext>
            </a:extLst>
          </p:cNvPr>
          <p:cNvSpPr txBox="1"/>
          <p:nvPr/>
        </p:nvSpPr>
        <p:spPr>
          <a:xfrm>
            <a:off x="817032" y="5014674"/>
            <a:ext cx="3731716" cy="646331"/>
          </a:xfrm>
          <a:prstGeom prst="rect">
            <a:avLst/>
          </a:prstGeom>
          <a:noFill/>
          <a:ln>
            <a:solidFill>
              <a:schemeClr val="tx1"/>
            </a:solidFill>
          </a:ln>
        </p:spPr>
        <p:txBody>
          <a:bodyPr wrap="square">
            <a:spAutoFit/>
          </a:bodyPr>
          <a:lstStyle/>
          <a:p>
            <a:r>
              <a:rPr lang="es-CO" sz="1200" dirty="0">
                <a:latin typeface="Consolas" panose="020B0609020204030204" pitchFamily="49" charset="0"/>
              </a:rPr>
              <a:t>temp_c = float(input("Ingrese los °C: "))</a:t>
            </a:r>
          </a:p>
          <a:p>
            <a:r>
              <a:rPr lang="es-CO" sz="1200" dirty="0">
                <a:latin typeface="Consolas" panose="020B0609020204030204" pitchFamily="49" charset="0"/>
              </a:rPr>
              <a:t>temp_f = (9 / 5) * temp_c + 32</a:t>
            </a:r>
          </a:p>
          <a:p>
            <a:r>
              <a:rPr lang="es-CO" sz="1200" dirty="0">
                <a:latin typeface="Consolas" panose="020B0609020204030204" pitchFamily="49" charset="0"/>
              </a:rPr>
              <a:t>print(f"{temp_c} °C = {temp_f} °F")</a:t>
            </a:r>
          </a:p>
        </p:txBody>
      </p:sp>
      <p:sp>
        <p:nvSpPr>
          <p:cNvPr id="20" name="CuadroTexto 19">
            <a:extLst>
              <a:ext uri="{FF2B5EF4-FFF2-40B4-BE49-F238E27FC236}">
                <a16:creationId xmlns:a16="http://schemas.microsoft.com/office/drawing/2014/main" id="{99D3A9E5-10B9-435A-B47C-FF33E09D3BF0}"/>
              </a:ext>
            </a:extLst>
          </p:cNvPr>
          <p:cNvSpPr txBox="1"/>
          <p:nvPr/>
        </p:nvSpPr>
        <p:spPr>
          <a:xfrm>
            <a:off x="5004047" y="4843026"/>
            <a:ext cx="3973141" cy="1754326"/>
          </a:xfrm>
          <a:prstGeom prst="rect">
            <a:avLst/>
          </a:prstGeom>
          <a:noFill/>
          <a:ln>
            <a:solidFill>
              <a:schemeClr val="tx1"/>
            </a:solidFill>
          </a:ln>
        </p:spPr>
        <p:txBody>
          <a:bodyPr wrap="square">
            <a:spAutoFit/>
          </a:bodyPr>
          <a:lstStyle/>
          <a:p>
            <a:r>
              <a:rPr lang="es-CO" sz="1200" dirty="0">
                <a:latin typeface="Consolas" panose="020B0609020204030204" pitchFamily="49" charset="0"/>
              </a:rPr>
              <a:t>def celsius_a_fahrenheit(c):</a:t>
            </a:r>
          </a:p>
          <a:p>
            <a:r>
              <a:rPr lang="es-CO" sz="1200" dirty="0">
                <a:latin typeface="Consolas" panose="020B0609020204030204" pitchFamily="49" charset="0"/>
              </a:rPr>
              <a:t>    f = (9 / 5) * c + 32</a:t>
            </a:r>
          </a:p>
          <a:p>
            <a:r>
              <a:rPr lang="es-CO" sz="1200" dirty="0">
                <a:latin typeface="Consolas" panose="020B0609020204030204" pitchFamily="49" charset="0"/>
              </a:rPr>
              <a:t>    </a:t>
            </a:r>
            <a:r>
              <a:rPr lang="es-CO" sz="1200" dirty="0" err="1">
                <a:latin typeface="Consolas" panose="020B0609020204030204" pitchFamily="49" charset="0"/>
              </a:rPr>
              <a:t>return</a:t>
            </a:r>
            <a:r>
              <a:rPr lang="es-CO" sz="1200" dirty="0">
                <a:latin typeface="Consolas" panose="020B0609020204030204" pitchFamily="49" charset="0"/>
              </a:rPr>
              <a:t> f</a:t>
            </a:r>
          </a:p>
          <a:p>
            <a:endParaRPr lang="es-CO" sz="1200" dirty="0">
              <a:latin typeface="Consolas" panose="020B0609020204030204" pitchFamily="49" charset="0"/>
            </a:endParaRPr>
          </a:p>
          <a:p>
            <a:endParaRPr lang="es-CO" sz="1200" dirty="0">
              <a:latin typeface="Consolas" panose="020B0609020204030204" pitchFamily="49" charset="0"/>
            </a:endParaRPr>
          </a:p>
          <a:p>
            <a:r>
              <a:rPr lang="es-CO" sz="1200" dirty="0">
                <a:latin typeface="Consolas" panose="020B0609020204030204" pitchFamily="49" charset="0"/>
              </a:rPr>
              <a:t>temp_c = float(input("Ingrese los °C: "))</a:t>
            </a:r>
          </a:p>
          <a:p>
            <a:r>
              <a:rPr lang="es-CO" sz="1200" dirty="0">
                <a:latin typeface="Consolas" panose="020B0609020204030204" pitchFamily="49" charset="0"/>
              </a:rPr>
              <a:t>temp_f = celsius_a_fahrenheit(temp_c)</a:t>
            </a:r>
          </a:p>
          <a:p>
            <a:endParaRPr lang="es-CO" sz="1200" dirty="0">
              <a:latin typeface="Consolas" panose="020B0609020204030204" pitchFamily="49" charset="0"/>
            </a:endParaRPr>
          </a:p>
          <a:p>
            <a:r>
              <a:rPr lang="es-CO" sz="1200" dirty="0">
                <a:latin typeface="Consolas" panose="020B0609020204030204" pitchFamily="49" charset="0"/>
              </a:rPr>
              <a:t>print(f"{temp_c} °C = {temp_f} °F")</a:t>
            </a:r>
          </a:p>
        </p:txBody>
      </p:sp>
      <p:pic>
        <p:nvPicPr>
          <p:cNvPr id="8" name="Imagen 7">
            <a:extLst>
              <a:ext uri="{FF2B5EF4-FFF2-40B4-BE49-F238E27FC236}">
                <a16:creationId xmlns:a16="http://schemas.microsoft.com/office/drawing/2014/main" id="{11F74F2E-D109-4A9F-BDC1-7BF69D50A1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17801" y="1657190"/>
            <a:ext cx="1130177" cy="2962893"/>
          </a:xfrm>
          <a:prstGeom prst="rect">
            <a:avLst/>
          </a:prstGeom>
        </p:spPr>
      </p:pic>
      <p:sp>
        <p:nvSpPr>
          <p:cNvPr id="9" name="CuadroTexto 8">
            <a:extLst>
              <a:ext uri="{FF2B5EF4-FFF2-40B4-BE49-F238E27FC236}">
                <a16:creationId xmlns:a16="http://schemas.microsoft.com/office/drawing/2014/main" id="{0931D628-38BC-47DA-B491-68B66A45CB27}"/>
              </a:ext>
            </a:extLst>
          </p:cNvPr>
          <p:cNvSpPr txBox="1"/>
          <p:nvPr/>
        </p:nvSpPr>
        <p:spPr>
          <a:xfrm>
            <a:off x="6158373" y="6581001"/>
            <a:ext cx="1664486" cy="276999"/>
          </a:xfrm>
          <a:prstGeom prst="rect">
            <a:avLst/>
          </a:prstGeom>
          <a:noFill/>
        </p:spPr>
        <p:txBody>
          <a:bodyPr wrap="square" rtlCol="0">
            <a:spAutoFit/>
          </a:bodyPr>
          <a:lstStyle/>
          <a:p>
            <a:pPr algn="ctr"/>
            <a:r>
              <a:rPr lang="es-CO" sz="1200" dirty="0">
                <a:hlinkClick r:id="rId3"/>
              </a:rPr>
              <a:t>Link simulación</a:t>
            </a:r>
            <a:endParaRPr lang="es-CO" sz="1200" dirty="0"/>
          </a:p>
        </p:txBody>
      </p:sp>
      <p:sp>
        <p:nvSpPr>
          <p:cNvPr id="10" name="CuadroTexto 9">
            <a:extLst>
              <a:ext uri="{FF2B5EF4-FFF2-40B4-BE49-F238E27FC236}">
                <a16:creationId xmlns:a16="http://schemas.microsoft.com/office/drawing/2014/main" id="{32F01911-5379-4765-924D-EAFBD9E37780}"/>
              </a:ext>
            </a:extLst>
          </p:cNvPr>
          <p:cNvSpPr txBox="1"/>
          <p:nvPr/>
        </p:nvSpPr>
        <p:spPr>
          <a:xfrm>
            <a:off x="1850647" y="5720189"/>
            <a:ext cx="1664486" cy="276999"/>
          </a:xfrm>
          <a:prstGeom prst="rect">
            <a:avLst/>
          </a:prstGeom>
          <a:noFill/>
        </p:spPr>
        <p:txBody>
          <a:bodyPr wrap="square" rtlCol="0">
            <a:spAutoFit/>
          </a:bodyPr>
          <a:lstStyle/>
          <a:p>
            <a:pPr algn="ctr"/>
            <a:r>
              <a:rPr lang="es-CO" sz="1200" dirty="0">
                <a:hlinkClick r:id="rId4"/>
              </a:rPr>
              <a:t>Link simulación</a:t>
            </a:r>
            <a:endParaRPr lang="es-CO" sz="1200" dirty="0"/>
          </a:p>
        </p:txBody>
      </p:sp>
      <p:pic>
        <p:nvPicPr>
          <p:cNvPr id="3" name="Imagen 2">
            <a:extLst>
              <a:ext uri="{FF2B5EF4-FFF2-40B4-BE49-F238E27FC236}">
                <a16:creationId xmlns:a16="http://schemas.microsoft.com/office/drawing/2014/main" id="{632A3AC6-B5F8-419D-9A24-50D2863E17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07875" y="1550248"/>
            <a:ext cx="1765483" cy="3229796"/>
          </a:xfrm>
          <a:prstGeom prst="rect">
            <a:avLst/>
          </a:prstGeom>
        </p:spPr>
      </p:pic>
    </p:spTree>
    <p:extLst>
      <p:ext uri="{BB962C8B-B14F-4D97-AF65-F5344CB8AC3E}">
        <p14:creationId xmlns:p14="http://schemas.microsoft.com/office/powerpoint/2010/main" val="6658983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8714761" cy="710952"/>
          </a:xfrm>
        </p:spPr>
        <p:txBody>
          <a:bodyPr>
            <a:normAutofit/>
          </a:bodyPr>
          <a:lstStyle/>
          <a:p>
            <a:r>
              <a:rPr lang="es-CO" dirty="0"/>
              <a:t>Ejemplo – Conversión de temperatura</a:t>
            </a:r>
          </a:p>
        </p:txBody>
      </p:sp>
      <mc:AlternateContent xmlns:mc="http://schemas.openxmlformats.org/markup-compatibility/2006" xmlns:a14="http://schemas.microsoft.com/office/drawing/2010/main">
        <mc:Choice Requires="a14">
          <p:sp>
            <p:nvSpPr>
              <p:cNvPr id="13" name="12 Rectángulo"/>
              <p:cNvSpPr/>
              <p:nvPr/>
            </p:nvSpPr>
            <p:spPr>
              <a:xfrm>
                <a:off x="145314" y="846114"/>
                <a:ext cx="8747165" cy="5632311"/>
              </a:xfrm>
              <a:prstGeom prst="rect">
                <a:avLst/>
              </a:prstGeom>
            </p:spPr>
            <p:txBody>
              <a:bodyPr wrap="square">
                <a:spAutoFit/>
              </a:bodyPr>
              <a:lstStyle/>
              <a:p>
                <a:pPr rtl="0"/>
                <a:r>
                  <a:rPr lang="es-MX" sz="2000" dirty="0"/>
                  <a:t>Una estación meteorológica necesita un programa que convierta temperaturas medidas en grados Celsius (°C) a otras dos escalas: grados Fahrenheit (°F) y Kelvin (K). Al iniciar, el programa muestra un título y luego un menú con tres opciones:</a:t>
                </a:r>
              </a:p>
              <a:p>
                <a:pPr rtl="0"/>
                <a:endParaRPr lang="es-MX" sz="2000" dirty="0"/>
              </a:p>
              <a:p>
                <a:pPr rtl="0"/>
                <a:endParaRPr lang="es-MX" sz="2000" dirty="0"/>
              </a:p>
              <a:p>
                <a:pPr rtl="0"/>
                <a:endParaRPr lang="es-MX" sz="2000" dirty="0"/>
              </a:p>
              <a:p>
                <a:pPr rtl="0"/>
                <a:endParaRPr lang="es-MX" sz="2000" dirty="0"/>
              </a:p>
              <a:p>
                <a:pPr rtl="0"/>
                <a:r>
                  <a:rPr lang="es-MX" sz="2000" dirty="0"/>
                  <a:t>El usuario elige una opción y el programa hace lo siguiente:</a:t>
                </a:r>
              </a:p>
              <a:p>
                <a:pPr marL="342900" indent="-342900" rtl="0">
                  <a:buFont typeface="Arial" panose="020B0604020202020204" pitchFamily="34" charset="0"/>
                  <a:buChar char="•"/>
                </a:pPr>
                <a:r>
                  <a:rPr lang="es-MX" sz="2000" b="1" dirty="0"/>
                  <a:t>Opción 1</a:t>
                </a:r>
                <a:r>
                  <a:rPr lang="es-MX" sz="2000" dirty="0"/>
                  <a:t>: lee una temperatura en °C, la convierte a °F con la fórmula </a:t>
                </a:r>
                <a14:m>
                  <m:oMath xmlns:m="http://schemas.openxmlformats.org/officeDocument/2006/math">
                    <m:r>
                      <a:rPr lang="es-MX" sz="2000" i="1" dirty="0" smtClean="0">
                        <a:latin typeface="Cambria Math" panose="02040503050406030204" pitchFamily="18" charset="0"/>
                      </a:rPr>
                      <m:t>𝐹</m:t>
                    </m:r>
                    <m:r>
                      <a:rPr lang="es-MX" sz="2000" i="1" dirty="0" smtClean="0">
                        <a:latin typeface="Cambria Math" panose="02040503050406030204" pitchFamily="18" charset="0"/>
                      </a:rPr>
                      <m:t> =(</m:t>
                    </m:r>
                    <m:f>
                      <m:fPr>
                        <m:type m:val="lin"/>
                        <m:ctrlPr>
                          <a:rPr lang="es-MX" sz="2000" b="0" i="1" dirty="0" smtClean="0">
                            <a:latin typeface="Cambria Math" panose="02040503050406030204" pitchFamily="18" charset="0"/>
                          </a:rPr>
                        </m:ctrlPr>
                      </m:fPr>
                      <m:num>
                        <m:r>
                          <a:rPr lang="es-MX" sz="2000" b="0" i="1" dirty="0" smtClean="0">
                            <a:latin typeface="Cambria Math" panose="02040503050406030204" pitchFamily="18" charset="0"/>
                          </a:rPr>
                          <m:t>9</m:t>
                        </m:r>
                      </m:num>
                      <m:den>
                        <m:r>
                          <a:rPr lang="es-MX" sz="2000" b="0" i="1" dirty="0" smtClean="0">
                            <a:latin typeface="Cambria Math" panose="02040503050406030204" pitchFamily="18" charset="0"/>
                          </a:rPr>
                          <m:t>5</m:t>
                        </m:r>
                      </m:den>
                    </m:f>
                    <m:r>
                      <a:rPr lang="es-MX" sz="2000" b="0" i="1" dirty="0" smtClean="0">
                        <a:latin typeface="Cambria Math" panose="02040503050406030204" pitchFamily="18" charset="0"/>
                      </a:rPr>
                      <m:t>)</m:t>
                    </m:r>
                    <m:r>
                      <a:rPr lang="es-MX" sz="2000" i="1" dirty="0" smtClean="0">
                        <a:latin typeface="Cambria Math" panose="02040503050406030204" pitchFamily="18" charset="0"/>
                      </a:rPr>
                      <m:t>𝐶</m:t>
                    </m:r>
                    <m:r>
                      <a:rPr lang="es-MX" sz="2000" i="1" dirty="0" smtClean="0">
                        <a:latin typeface="Cambria Math" panose="02040503050406030204" pitchFamily="18" charset="0"/>
                      </a:rPr>
                      <m:t> + 32</m:t>
                    </m:r>
                  </m:oMath>
                </a14:m>
                <a:r>
                  <a:rPr lang="es-MX" sz="2000" dirty="0"/>
                  <a:t> y muestra el resultado con dos decimales.</a:t>
                </a:r>
              </a:p>
              <a:p>
                <a:pPr marL="342900" indent="-342900" rtl="0">
                  <a:buFont typeface="Arial" panose="020B0604020202020204" pitchFamily="34" charset="0"/>
                  <a:buChar char="•"/>
                </a:pPr>
                <a:r>
                  <a:rPr lang="es-MX" sz="2000" b="1" dirty="0"/>
                  <a:t>Opción 2</a:t>
                </a:r>
                <a:r>
                  <a:rPr lang="es-MX" sz="2000" dirty="0"/>
                  <a:t>: lee una temperatura en °C, la convierte a Kelvin con la fórmula </a:t>
                </a:r>
                <a14:m>
                  <m:oMath xmlns:m="http://schemas.openxmlformats.org/officeDocument/2006/math">
                    <m:r>
                      <a:rPr lang="es-MX" sz="2000" i="1" dirty="0" smtClean="0">
                        <a:latin typeface="Cambria Math" panose="02040503050406030204" pitchFamily="18" charset="0"/>
                      </a:rPr>
                      <m:t>𝐾</m:t>
                    </m:r>
                    <m:r>
                      <a:rPr lang="es-MX" sz="2000" i="1" dirty="0" smtClean="0">
                        <a:latin typeface="Cambria Math" panose="02040503050406030204" pitchFamily="18" charset="0"/>
                      </a:rPr>
                      <m:t> = </m:t>
                    </m:r>
                    <m:r>
                      <a:rPr lang="es-MX" sz="2000" i="1" dirty="0" smtClean="0">
                        <a:latin typeface="Cambria Math" panose="02040503050406030204" pitchFamily="18" charset="0"/>
                      </a:rPr>
                      <m:t>𝐶</m:t>
                    </m:r>
                    <m:r>
                      <a:rPr lang="es-MX" sz="2000" i="1" dirty="0" smtClean="0">
                        <a:latin typeface="Cambria Math" panose="02040503050406030204" pitchFamily="18" charset="0"/>
                      </a:rPr>
                      <m:t> + 273.15</m:t>
                    </m:r>
                  </m:oMath>
                </a14:m>
                <a:r>
                  <a:rPr lang="es-MX" sz="2000" dirty="0"/>
                  <a:t> y muestra el resultado con dos decimales.</a:t>
                </a:r>
              </a:p>
              <a:p>
                <a:pPr marL="342900" indent="-342900" rtl="0">
                  <a:buFont typeface="Arial" panose="020B0604020202020204" pitchFamily="34" charset="0"/>
                  <a:buChar char="•"/>
                </a:pPr>
                <a:r>
                  <a:rPr lang="es-MX" sz="2000" b="1" dirty="0"/>
                  <a:t>Opción 3</a:t>
                </a:r>
                <a:r>
                  <a:rPr lang="es-MX" sz="2000" dirty="0"/>
                  <a:t>: muestra un mensaje de despedida y termina el programa. Cualquier otro número: muestra el mensaje </a:t>
                </a:r>
                <a:r>
                  <a:rPr lang="es-MX" dirty="0">
                    <a:latin typeface="Consolas" panose="020B0609020204030204" pitchFamily="49" charset="0"/>
                  </a:rPr>
                  <a:t>ERROR: Opcion no valida</a:t>
                </a:r>
                <a:r>
                  <a:rPr lang="es-MX" sz="2000" dirty="0"/>
                  <a:t> y vuelve a mostrar el menú.</a:t>
                </a:r>
              </a:p>
              <a:p>
                <a:pPr marL="342900" indent="-342900" rtl="0">
                  <a:buFont typeface="Arial" panose="020B0604020202020204" pitchFamily="34" charset="0"/>
                  <a:buChar char="•"/>
                </a:pPr>
                <a:endParaRPr lang="es-MX" sz="2000" dirty="0"/>
              </a:p>
              <a:p>
                <a:pPr rtl="0"/>
                <a:r>
                  <a:rPr lang="es-MX" sz="2000" dirty="0"/>
                  <a:t>Después de cada conversión, o de un error, el menú se muestra otra vez. El programa se repite hasta que el usuario elige la opción 3.</a:t>
                </a:r>
              </a:p>
            </p:txBody>
          </p:sp>
        </mc:Choice>
        <mc:Fallback xmlns="">
          <p:sp>
            <p:nvSpPr>
              <p:cNvPr id="13" name="12 Rectángulo"/>
              <p:cNvSpPr>
                <a:spLocks noRot="1" noChangeAspect="1" noMove="1" noResize="1" noEditPoints="1" noAdjustHandles="1" noChangeArrowheads="1" noChangeShapeType="1" noTextEdit="1"/>
              </p:cNvSpPr>
              <p:nvPr/>
            </p:nvSpPr>
            <p:spPr>
              <a:xfrm>
                <a:off x="145314" y="846114"/>
                <a:ext cx="8747165" cy="5632311"/>
              </a:xfrm>
              <a:prstGeom prst="rect">
                <a:avLst/>
              </a:prstGeom>
              <a:blipFill>
                <a:blip r:embed="rId2"/>
                <a:stretch>
                  <a:fillRect l="-767" t="-649" b="-974"/>
                </a:stretch>
              </a:blipFill>
            </p:spPr>
            <p:txBody>
              <a:bodyPr/>
              <a:lstStyle/>
              <a:p>
                <a:r>
                  <a:rPr lang="es-CO">
                    <a:noFill/>
                  </a:rPr>
                  <a:t> </a:t>
                </a:r>
              </a:p>
            </p:txBody>
          </p:sp>
        </mc:Fallback>
      </mc:AlternateContent>
      <p:graphicFrame>
        <p:nvGraphicFramePr>
          <p:cNvPr id="2" name="Tabla 2">
            <a:extLst>
              <a:ext uri="{FF2B5EF4-FFF2-40B4-BE49-F238E27FC236}">
                <a16:creationId xmlns:a16="http://schemas.microsoft.com/office/drawing/2014/main" id="{3C6B00E3-613F-4772-987F-9857F1E31DF2}"/>
              </a:ext>
            </a:extLst>
          </p:cNvPr>
          <p:cNvGraphicFramePr>
            <a:graphicFrameLocks noGrp="1"/>
          </p:cNvGraphicFramePr>
          <p:nvPr>
            <p:extLst>
              <p:ext uri="{D42A27DB-BD31-4B8C-83A1-F6EECF244321}">
                <p14:modId xmlns:p14="http://schemas.microsoft.com/office/powerpoint/2010/main" val="3207631759"/>
              </p:ext>
            </p:extLst>
          </p:nvPr>
        </p:nvGraphicFramePr>
        <p:xfrm>
          <a:off x="251520" y="1988840"/>
          <a:ext cx="8280919" cy="914400"/>
        </p:xfrm>
        <a:graphic>
          <a:graphicData uri="http://schemas.openxmlformats.org/drawingml/2006/table">
            <a:tbl>
              <a:tblPr firstRow="1" bandRow="1">
                <a:tableStyleId>{5940675A-B579-460E-94D1-54222C63F5DA}</a:tableStyleId>
              </a:tblPr>
              <a:tblGrid>
                <a:gridCol w="8280919">
                  <a:extLst>
                    <a:ext uri="{9D8B030D-6E8A-4147-A177-3AD203B41FA5}">
                      <a16:colId xmlns:a16="http://schemas.microsoft.com/office/drawing/2014/main" val="401745874"/>
                    </a:ext>
                  </a:extLst>
                </a:gridCol>
              </a:tblGrid>
              <a:tr h="370840">
                <a:tc>
                  <a:txBody>
                    <a:bodyPr/>
                    <a:lstStyle/>
                    <a:p>
                      <a:pPr rtl="0"/>
                      <a:r>
                        <a:rPr lang="es-MX" sz="1800" dirty="0">
                          <a:latin typeface="Consolas" panose="020B0609020204030204" pitchFamily="49" charset="0"/>
                        </a:rPr>
                        <a:t>1. °C a °F</a:t>
                      </a:r>
                    </a:p>
                    <a:p>
                      <a:pPr rtl="0"/>
                      <a:r>
                        <a:rPr lang="es-MX" sz="1800" dirty="0">
                          <a:latin typeface="Consolas" panose="020B0609020204030204" pitchFamily="49" charset="0"/>
                        </a:rPr>
                        <a:t>2. °C a K</a:t>
                      </a:r>
                    </a:p>
                    <a:p>
                      <a:pPr rtl="0"/>
                      <a:r>
                        <a:rPr lang="es-MX" sz="1800" dirty="0">
                          <a:latin typeface="Consolas" panose="020B0609020204030204" pitchFamily="49" charset="0"/>
                        </a:rPr>
                        <a:t>3. Salir</a:t>
                      </a:r>
                    </a:p>
                  </a:txBody>
                  <a:tcPr/>
                </a:tc>
                <a:extLst>
                  <a:ext uri="{0D108BD9-81ED-4DB2-BD59-A6C34878D82A}">
                    <a16:rowId xmlns:a16="http://schemas.microsoft.com/office/drawing/2014/main" val="2173098096"/>
                  </a:ext>
                </a:extLst>
              </a:tr>
            </a:tbl>
          </a:graphicData>
        </a:graphic>
      </p:graphicFrame>
    </p:spTree>
    <p:extLst>
      <p:ext uri="{BB962C8B-B14F-4D97-AF65-F5344CB8AC3E}">
        <p14:creationId xmlns:p14="http://schemas.microsoft.com/office/powerpoint/2010/main" val="12421746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8714761" cy="710952"/>
          </a:xfrm>
        </p:spPr>
        <p:txBody>
          <a:bodyPr>
            <a:normAutofit/>
          </a:bodyPr>
          <a:lstStyle/>
          <a:p>
            <a:r>
              <a:rPr lang="es-CO" dirty="0"/>
              <a:t>Ejemplo – Conversión de temperatura</a:t>
            </a:r>
          </a:p>
        </p:txBody>
      </p:sp>
      <p:sp>
        <p:nvSpPr>
          <p:cNvPr id="13" name="12 Rectángulo"/>
          <p:cNvSpPr/>
          <p:nvPr/>
        </p:nvSpPr>
        <p:spPr>
          <a:xfrm>
            <a:off x="145314" y="881382"/>
            <a:ext cx="8747165" cy="4401205"/>
          </a:xfrm>
          <a:prstGeom prst="rect">
            <a:avLst/>
          </a:prstGeom>
        </p:spPr>
        <p:txBody>
          <a:bodyPr wrap="square">
            <a:spAutoFit/>
          </a:bodyPr>
          <a:lstStyle/>
          <a:p>
            <a:pPr rtl="0"/>
            <a:r>
              <a:rPr lang="es-MX" sz="2000" b="1" dirty="0"/>
              <a:t>Requisito:</a:t>
            </a:r>
            <a:r>
              <a:rPr lang="es-MX" sz="2000" dirty="0"/>
              <a:t> el programa debe estar organizado con funciones:</a:t>
            </a:r>
          </a:p>
          <a:p>
            <a:pPr marL="342900" indent="-342900" rtl="0">
              <a:buFont typeface="Arial" panose="020B0604020202020204" pitchFamily="34" charset="0"/>
              <a:buChar char="•"/>
            </a:pPr>
            <a:r>
              <a:rPr lang="es-MX" sz="2000" dirty="0"/>
              <a:t>Una función que muestre el menú.</a:t>
            </a:r>
          </a:p>
          <a:p>
            <a:pPr marL="342900" indent="-342900" rtl="0">
              <a:buFont typeface="Arial" panose="020B0604020202020204" pitchFamily="34" charset="0"/>
              <a:buChar char="•"/>
            </a:pPr>
            <a:r>
              <a:rPr lang="es-MX" sz="2000" dirty="0"/>
              <a:t>Una función por cada conversión, que reciba la temperatura en °C como parámetro y </a:t>
            </a:r>
            <a:r>
              <a:rPr lang="es-MX" sz="2000" b="1" dirty="0"/>
              <a:t>devuelva</a:t>
            </a:r>
            <a:r>
              <a:rPr lang="es-MX" sz="2000" dirty="0"/>
              <a:t> el valor convertido. Las funciones de conversión no leen ni imprimen nada: eso lo hace el programa principal.</a:t>
            </a:r>
          </a:p>
          <a:p>
            <a:pPr rtl="0"/>
            <a:endParaRPr lang="es-MX" sz="2000" dirty="0"/>
          </a:p>
          <a:p>
            <a:pPr rtl="0"/>
            <a:r>
              <a:rPr lang="es-MX" sz="2000" dirty="0"/>
              <a:t>Pruebe cada función de conversión por separado antes de integrarla al programa principal.</a:t>
            </a:r>
          </a:p>
          <a:p>
            <a:pPr rtl="0"/>
            <a:endParaRPr lang="es-MX" sz="2000" dirty="0"/>
          </a:p>
          <a:p>
            <a:pPr rtl="0"/>
            <a:r>
              <a:rPr lang="es-MX" sz="2000" b="1" dirty="0"/>
              <a:t>Solución</a:t>
            </a:r>
            <a:r>
              <a:rPr lang="es-MX" sz="2000" dirty="0"/>
              <a:t>: La implementación inicial buscaba aterrizar las bases de la programación modular (usando funciones). Sin embargo, aunque la solución propuesta cumplía con este requerimiento, no empleo buenas </a:t>
            </a:r>
            <a:r>
              <a:rPr lang="es-MX" sz="2000" dirty="0" err="1"/>
              <a:t>practivas</a:t>
            </a:r>
            <a:r>
              <a:rPr lang="es-MX" sz="2000" dirty="0"/>
              <a:t>, por lo que tomando como punto de partida la versión inicial (temperaturas_v1.py) vamos a ir mejorando el codigo inicial conforme iremos aplicando buenas practicas.</a:t>
            </a:r>
          </a:p>
        </p:txBody>
      </p:sp>
    </p:spTree>
    <p:extLst>
      <p:ext uri="{BB962C8B-B14F-4D97-AF65-F5344CB8AC3E}">
        <p14:creationId xmlns:p14="http://schemas.microsoft.com/office/powerpoint/2010/main" val="34488451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8714761" cy="710952"/>
          </a:xfrm>
        </p:spPr>
        <p:txBody>
          <a:bodyPr>
            <a:normAutofit/>
          </a:bodyPr>
          <a:lstStyle/>
          <a:p>
            <a:r>
              <a:rPr lang="es-CO" dirty="0"/>
              <a:t>Ejemplo – Conversión de temperatura</a:t>
            </a:r>
          </a:p>
        </p:txBody>
      </p:sp>
      <p:sp>
        <p:nvSpPr>
          <p:cNvPr id="13" name="12 Rectángulo"/>
          <p:cNvSpPr/>
          <p:nvPr/>
        </p:nvSpPr>
        <p:spPr>
          <a:xfrm>
            <a:off x="251520" y="980728"/>
            <a:ext cx="8608556" cy="2893100"/>
          </a:xfrm>
          <a:prstGeom prst="rect">
            <a:avLst/>
          </a:prstGeom>
        </p:spPr>
        <p:txBody>
          <a:bodyPr wrap="square">
            <a:spAutoFit/>
          </a:bodyPr>
          <a:lstStyle/>
          <a:p>
            <a:pPr rtl="0"/>
            <a:r>
              <a:rPr lang="es-MX" sz="2200" b="1" dirty="0"/>
              <a:t>Análisis y diseño de la solución</a:t>
            </a:r>
          </a:p>
          <a:p>
            <a:pPr rtl="0"/>
            <a:endParaRPr lang="es-MX" sz="2000" b="1" dirty="0"/>
          </a:p>
          <a:p>
            <a:pPr marL="342900" indent="-342900" rtl="0">
              <a:buFont typeface="Arial" panose="020B0604020202020204" pitchFamily="34" charset="0"/>
              <a:buChar char="•"/>
            </a:pPr>
            <a:r>
              <a:rPr lang="es-MX" sz="2000" b="1" dirty="0"/>
              <a:t>Entradas:</a:t>
            </a:r>
            <a:r>
              <a:rPr lang="es-MX" sz="2000" dirty="0"/>
              <a:t> </a:t>
            </a:r>
          </a:p>
          <a:p>
            <a:pPr marL="800100" lvl="1" indent="-342900">
              <a:buFont typeface="Arial" panose="020B0604020202020204" pitchFamily="34" charset="0"/>
              <a:buChar char="•"/>
            </a:pPr>
            <a:r>
              <a:rPr lang="es-MX" sz="2000" dirty="0"/>
              <a:t>La opción del menú (entero)</a:t>
            </a:r>
          </a:p>
          <a:p>
            <a:pPr marL="800100" lvl="1" indent="-342900">
              <a:buFont typeface="Arial" panose="020B0604020202020204" pitchFamily="34" charset="0"/>
              <a:buChar char="•"/>
            </a:pPr>
            <a:r>
              <a:rPr lang="es-MX" sz="2000" dirty="0"/>
              <a:t>La temperatura en °C (real).</a:t>
            </a:r>
          </a:p>
          <a:p>
            <a:pPr rtl="0"/>
            <a:endParaRPr lang="es-MX" sz="2000" b="1" dirty="0"/>
          </a:p>
          <a:p>
            <a:pPr marL="342900" indent="-342900" rtl="0">
              <a:buFont typeface="Arial" panose="020B0604020202020204" pitchFamily="34" charset="0"/>
              <a:buChar char="•"/>
            </a:pPr>
            <a:r>
              <a:rPr lang="es-MX" sz="2000" b="1" dirty="0"/>
              <a:t>Salidas</a:t>
            </a:r>
            <a:r>
              <a:rPr lang="es-MX" sz="2000" dirty="0"/>
              <a:t>:</a:t>
            </a:r>
          </a:p>
          <a:p>
            <a:pPr marL="800100" lvl="1" indent="-342900">
              <a:buFont typeface="Arial" panose="020B0604020202020204" pitchFamily="34" charset="0"/>
              <a:buChar char="•"/>
            </a:pPr>
            <a:r>
              <a:rPr lang="es-MX" sz="2000" dirty="0"/>
              <a:t>La temperatura convertida con dos decimales. </a:t>
            </a:r>
          </a:p>
          <a:p>
            <a:pPr marL="800100" lvl="1" indent="-342900">
              <a:buFont typeface="Arial" panose="020B0604020202020204" pitchFamily="34" charset="0"/>
              <a:buChar char="•"/>
            </a:pPr>
            <a:r>
              <a:rPr lang="es-MX" sz="2000" dirty="0"/>
              <a:t>Mensaje de error o de despedida.</a:t>
            </a:r>
          </a:p>
        </p:txBody>
      </p:sp>
    </p:spTree>
    <p:extLst>
      <p:ext uri="{BB962C8B-B14F-4D97-AF65-F5344CB8AC3E}">
        <p14:creationId xmlns:p14="http://schemas.microsoft.com/office/powerpoint/2010/main" val="15459864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5314" y="135162"/>
            <a:ext cx="8714761" cy="710952"/>
          </a:xfrm>
        </p:spPr>
        <p:txBody>
          <a:bodyPr>
            <a:normAutofit/>
          </a:bodyPr>
          <a:lstStyle/>
          <a:p>
            <a:r>
              <a:rPr lang="es-CO" dirty="0"/>
              <a:t>Ejemplo – Conversión de temperatura</a:t>
            </a:r>
          </a:p>
        </p:txBody>
      </p:sp>
      <p:sp>
        <p:nvSpPr>
          <p:cNvPr id="13" name="12 Rectángulo"/>
          <p:cNvSpPr/>
          <p:nvPr/>
        </p:nvSpPr>
        <p:spPr>
          <a:xfrm>
            <a:off x="251520" y="980728"/>
            <a:ext cx="8608556" cy="1046440"/>
          </a:xfrm>
          <a:prstGeom prst="rect">
            <a:avLst/>
          </a:prstGeom>
        </p:spPr>
        <p:txBody>
          <a:bodyPr wrap="square">
            <a:spAutoFit/>
          </a:bodyPr>
          <a:lstStyle/>
          <a:p>
            <a:pPr rtl="0"/>
            <a:r>
              <a:rPr lang="es-MX" sz="2200" b="1" dirty="0"/>
              <a:t>Análisis y diseño de la solución</a:t>
            </a:r>
          </a:p>
          <a:p>
            <a:pPr rtl="0"/>
            <a:endParaRPr lang="es-MX" sz="2000" b="1" dirty="0"/>
          </a:p>
          <a:p>
            <a:pPr marL="342900" indent="-342900" rtl="0">
              <a:buFont typeface="Arial" panose="020B0604020202020204" pitchFamily="34" charset="0"/>
              <a:buChar char="•"/>
            </a:pPr>
            <a:r>
              <a:rPr lang="es-MX" sz="2000" b="1" dirty="0"/>
              <a:t>Casos de prueba:</a:t>
            </a:r>
            <a:r>
              <a:rPr lang="es-MX" sz="2000" dirty="0"/>
              <a:t> </a:t>
            </a:r>
          </a:p>
        </p:txBody>
      </p:sp>
      <p:graphicFrame>
        <p:nvGraphicFramePr>
          <p:cNvPr id="2" name="Tabla 1">
            <a:extLst>
              <a:ext uri="{FF2B5EF4-FFF2-40B4-BE49-F238E27FC236}">
                <a16:creationId xmlns:a16="http://schemas.microsoft.com/office/drawing/2014/main" id="{3ECD361F-6C47-4684-AB90-E6D161B7B5F6}"/>
              </a:ext>
            </a:extLst>
          </p:cNvPr>
          <p:cNvGraphicFramePr>
            <a:graphicFrameLocks noGrp="1"/>
          </p:cNvGraphicFramePr>
          <p:nvPr>
            <p:extLst>
              <p:ext uri="{D42A27DB-BD31-4B8C-83A1-F6EECF244321}">
                <p14:modId xmlns:p14="http://schemas.microsoft.com/office/powerpoint/2010/main" val="1202893139"/>
              </p:ext>
            </p:extLst>
          </p:nvPr>
        </p:nvGraphicFramePr>
        <p:xfrm>
          <a:off x="539553" y="2178378"/>
          <a:ext cx="8208911" cy="4274958"/>
        </p:xfrm>
        <a:graphic>
          <a:graphicData uri="http://schemas.openxmlformats.org/drawingml/2006/table">
            <a:tbl>
              <a:tblPr/>
              <a:tblGrid>
                <a:gridCol w="1131547">
                  <a:extLst>
                    <a:ext uri="{9D8B030D-6E8A-4147-A177-3AD203B41FA5}">
                      <a16:colId xmlns:a16="http://schemas.microsoft.com/office/drawing/2014/main" val="752920898"/>
                    </a:ext>
                  </a:extLst>
                </a:gridCol>
                <a:gridCol w="1434202">
                  <a:extLst>
                    <a:ext uri="{9D8B030D-6E8A-4147-A177-3AD203B41FA5}">
                      <a16:colId xmlns:a16="http://schemas.microsoft.com/office/drawing/2014/main" val="4144810760"/>
                    </a:ext>
                  </a:extLst>
                </a:gridCol>
                <a:gridCol w="2906859">
                  <a:extLst>
                    <a:ext uri="{9D8B030D-6E8A-4147-A177-3AD203B41FA5}">
                      <a16:colId xmlns:a16="http://schemas.microsoft.com/office/drawing/2014/main" val="1786480966"/>
                    </a:ext>
                  </a:extLst>
                </a:gridCol>
                <a:gridCol w="2736303">
                  <a:extLst>
                    <a:ext uri="{9D8B030D-6E8A-4147-A177-3AD203B41FA5}">
                      <a16:colId xmlns:a16="http://schemas.microsoft.com/office/drawing/2014/main" val="4183927125"/>
                    </a:ext>
                  </a:extLst>
                </a:gridCol>
              </a:tblGrid>
              <a:tr h="241876">
                <a:tc>
                  <a:txBody>
                    <a:bodyPr/>
                    <a:lstStyle/>
                    <a:p>
                      <a:r>
                        <a:rPr lang="es-CO" sz="1800" b="1"/>
                        <a:t>Opción</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800" b="1"/>
                        <a:t>Entrada (°C)</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800" b="1"/>
                        <a:t>Salida esperada</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800" b="1" dirty="0"/>
                        <a:t>Tipo</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637693767"/>
                  </a:ext>
                </a:extLst>
              </a:tr>
              <a:tr h="365542">
                <a:tc>
                  <a:txBody>
                    <a:bodyPr/>
                    <a:lstStyle/>
                    <a:p>
                      <a:r>
                        <a:rPr lang="es-CO" sz="1600">
                          <a:latin typeface="Consolas" panose="020B0609020204030204" pitchFamily="49" charset="0"/>
                        </a:rPr>
                        <a:t>1</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latin typeface="Consolas" panose="020B0609020204030204" pitchFamily="49" charset="0"/>
                        </a:rPr>
                        <a:t>100</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latin typeface="Consolas" panose="020B0609020204030204" pitchFamily="49" charset="0"/>
                        </a:rPr>
                        <a:t>100.0°C = 212.00°F</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800"/>
                        <a:t>Típico (punto de ebullición)</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42787707"/>
                  </a:ext>
                </a:extLst>
              </a:tr>
              <a:tr h="365542">
                <a:tc>
                  <a:txBody>
                    <a:bodyPr/>
                    <a:lstStyle/>
                    <a:p>
                      <a:r>
                        <a:rPr lang="es-CO" sz="1600">
                          <a:latin typeface="Consolas" panose="020B0609020204030204" pitchFamily="49" charset="0"/>
                        </a:rPr>
                        <a:t>1</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latin typeface="Consolas" panose="020B0609020204030204" pitchFamily="49" charset="0"/>
                        </a:rPr>
                        <a:t>0</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latin typeface="Consolas" panose="020B0609020204030204" pitchFamily="49" charset="0"/>
                        </a:rPr>
                        <a:t>0.0°C = 32.00°F</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800"/>
                        <a:t>Típico (punto de congelación)</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69106998"/>
                  </a:ext>
                </a:extLst>
              </a:tr>
              <a:tr h="522203">
                <a:tc>
                  <a:txBody>
                    <a:bodyPr/>
                    <a:lstStyle/>
                    <a:p>
                      <a:r>
                        <a:rPr lang="es-CO" sz="1600">
                          <a:latin typeface="Consolas" panose="020B0609020204030204" pitchFamily="49" charset="0"/>
                        </a:rPr>
                        <a:t>1</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latin typeface="Consolas" panose="020B0609020204030204" pitchFamily="49" charset="0"/>
                        </a:rPr>
                        <a:t>37</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latin typeface="Consolas" panose="020B0609020204030204" pitchFamily="49" charset="0"/>
                        </a:rPr>
                        <a:t>37.0°C = 98.60°F</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800"/>
                        <a:t>Típico (temperatura corporal)</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797541"/>
                  </a:ext>
                </a:extLst>
              </a:tr>
              <a:tr h="365542">
                <a:tc>
                  <a:txBody>
                    <a:bodyPr/>
                    <a:lstStyle/>
                    <a:p>
                      <a:r>
                        <a:rPr lang="es-CO" sz="1600">
                          <a:latin typeface="Consolas" panose="020B0609020204030204" pitchFamily="49" charset="0"/>
                        </a:rPr>
                        <a:t>1</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latin typeface="Consolas" panose="020B0609020204030204" pitchFamily="49" charset="0"/>
                        </a:rPr>
                        <a:t>-40</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latin typeface="Consolas" panose="020B0609020204030204" pitchFamily="49" charset="0"/>
                        </a:rPr>
                        <a:t>-40.0°C = -40.00°F</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800"/>
                        <a:t>Especial (las dos escalas coinciden)</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86648207"/>
                  </a:ext>
                </a:extLst>
              </a:tr>
              <a:tr h="241876">
                <a:tc>
                  <a:txBody>
                    <a:bodyPr/>
                    <a:lstStyle/>
                    <a:p>
                      <a:r>
                        <a:rPr lang="es-CO" sz="1600">
                          <a:latin typeface="Consolas" panose="020B0609020204030204" pitchFamily="49" charset="0"/>
                        </a:rPr>
                        <a:t>2</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latin typeface="Consolas" panose="020B0609020204030204" pitchFamily="49" charset="0"/>
                        </a:rPr>
                        <a:t>25</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latin typeface="Consolas" panose="020B0609020204030204" pitchFamily="49" charset="0"/>
                        </a:rPr>
                        <a:t>25.0°C = 298.15°K</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800" dirty="0"/>
                        <a:t>Típico</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26099226"/>
                  </a:ext>
                </a:extLst>
              </a:tr>
              <a:tr h="365542">
                <a:tc>
                  <a:txBody>
                    <a:bodyPr/>
                    <a:lstStyle/>
                    <a:p>
                      <a:r>
                        <a:rPr lang="es-CO" sz="1600">
                          <a:latin typeface="Consolas" panose="020B0609020204030204" pitchFamily="49" charset="0"/>
                        </a:rPr>
                        <a:t>2</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latin typeface="Consolas" panose="020B0609020204030204" pitchFamily="49" charset="0"/>
                        </a:rPr>
                        <a:t>-273.15</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latin typeface="Consolas" panose="020B0609020204030204" pitchFamily="49" charset="0"/>
                        </a:rPr>
                        <a:t>-273.15°C = 0.00°K</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800"/>
                        <a:t>Límite (cero absoluto)</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37496956"/>
                  </a:ext>
                </a:extLst>
              </a:tr>
              <a:tr h="365542">
                <a:tc>
                  <a:txBody>
                    <a:bodyPr/>
                    <a:lstStyle/>
                    <a:p>
                      <a:r>
                        <a:rPr lang="es-CO" sz="1600">
                          <a:latin typeface="Consolas" panose="020B0609020204030204" pitchFamily="49" charset="0"/>
                        </a:rPr>
                        <a:t>7</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latin typeface="Consolas" panose="020B0609020204030204" pitchFamily="49" charset="0"/>
                        </a:rPr>
                        <a:t>—</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latin typeface="Consolas" panose="020B0609020204030204" pitchFamily="49" charset="0"/>
                        </a:rPr>
                        <a:t>ERROR: </a:t>
                      </a:r>
                      <a:r>
                        <a:rPr lang="es-CO" sz="1600" dirty="0" err="1">
                          <a:latin typeface="Consolas" panose="020B0609020204030204" pitchFamily="49" charset="0"/>
                        </a:rPr>
                        <a:t>Opcion</a:t>
                      </a:r>
                      <a:r>
                        <a:rPr lang="es-CO" sz="1600" dirty="0">
                          <a:latin typeface="Consolas" panose="020B0609020204030204" pitchFamily="49" charset="0"/>
                        </a:rPr>
                        <a:t> no valida</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800"/>
                        <a:t>Especial (opción inexistente)</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8190633"/>
                  </a:ext>
                </a:extLst>
              </a:tr>
              <a:tr h="365542">
                <a:tc>
                  <a:txBody>
                    <a:bodyPr/>
                    <a:lstStyle/>
                    <a:p>
                      <a:r>
                        <a:rPr lang="es-CO" sz="1600">
                          <a:latin typeface="Consolas" panose="020B0609020204030204" pitchFamily="49" charset="0"/>
                        </a:rPr>
                        <a:t>3</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latin typeface="Consolas" panose="020B0609020204030204" pitchFamily="49" charset="0"/>
                        </a:rPr>
                        <a:t>—</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latin typeface="Consolas" panose="020B0609020204030204" pitchFamily="49" charset="0"/>
                        </a:rPr>
                        <a:t>Gracias por usarnos</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800" dirty="0"/>
                        <a:t>Salida del programa</a:t>
                      </a:r>
                    </a:p>
                  </a:txBody>
                  <a:tcPr marL="72522" marR="72522" marT="36261" marB="3626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8060500"/>
                  </a:ext>
                </a:extLst>
              </a:tr>
            </a:tbl>
          </a:graphicData>
        </a:graphic>
      </p:graphicFrame>
    </p:spTree>
    <p:extLst>
      <p:ext uri="{BB962C8B-B14F-4D97-AF65-F5344CB8AC3E}">
        <p14:creationId xmlns:p14="http://schemas.microsoft.com/office/powerpoint/2010/main" val="6759550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4 Título">
            <a:extLst>
              <a:ext uri="{FF2B5EF4-FFF2-40B4-BE49-F238E27FC236}">
                <a16:creationId xmlns:a16="http://schemas.microsoft.com/office/drawing/2014/main" id="{AE7AE4FE-857D-48EA-8C2E-EFF7E2B785AF}"/>
              </a:ext>
            </a:extLst>
          </p:cNvPr>
          <p:cNvSpPr txBox="1">
            <a:spLocks/>
          </p:cNvSpPr>
          <p:nvPr/>
        </p:nvSpPr>
        <p:spPr>
          <a:xfrm>
            <a:off x="107504" y="179147"/>
            <a:ext cx="8856984" cy="801581"/>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dirty="0"/>
              <a:t>Diagrama de flujo del programa</a:t>
            </a:r>
          </a:p>
        </p:txBody>
      </p:sp>
      <p:pic>
        <p:nvPicPr>
          <p:cNvPr id="4" name="Imagen 3">
            <a:extLst>
              <a:ext uri="{FF2B5EF4-FFF2-40B4-BE49-F238E27FC236}">
                <a16:creationId xmlns:a16="http://schemas.microsoft.com/office/drawing/2014/main" id="{44AE8188-2615-4C27-A068-F785CAEA77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9525" y="888436"/>
            <a:ext cx="8604448" cy="4916828"/>
          </a:xfrm>
          <a:prstGeom prst="rect">
            <a:avLst/>
          </a:prstGeom>
        </p:spPr>
      </p:pic>
      <p:sp>
        <p:nvSpPr>
          <p:cNvPr id="5" name="12 Rectángulo">
            <a:extLst>
              <a:ext uri="{FF2B5EF4-FFF2-40B4-BE49-F238E27FC236}">
                <a16:creationId xmlns:a16="http://schemas.microsoft.com/office/drawing/2014/main" id="{36610F92-B138-43F0-89D0-076E1F22F6E7}"/>
              </a:ext>
            </a:extLst>
          </p:cNvPr>
          <p:cNvSpPr/>
          <p:nvPr/>
        </p:nvSpPr>
        <p:spPr>
          <a:xfrm>
            <a:off x="169525" y="5681532"/>
            <a:ext cx="8892480" cy="1015663"/>
          </a:xfrm>
          <a:prstGeom prst="rect">
            <a:avLst/>
          </a:prstGeom>
        </p:spPr>
        <p:txBody>
          <a:bodyPr wrap="square">
            <a:spAutoFit/>
          </a:bodyPr>
          <a:lstStyle/>
          <a:p>
            <a:pPr rtl="0"/>
            <a:r>
              <a:rPr lang="es-MX" sz="2000" dirty="0"/>
              <a:t>La implementación en Python del algoritmo anterior, constituye la primera mejora respecto a la versión inicial (temperaturas_v1.py). El codigo mejorado y asociado a este diagrama de flujo, se encuentra en el script (temperaturas_v2.py)</a:t>
            </a:r>
          </a:p>
        </p:txBody>
      </p:sp>
    </p:spTree>
    <p:extLst>
      <p:ext uri="{BB962C8B-B14F-4D97-AF65-F5344CB8AC3E}">
        <p14:creationId xmlns:p14="http://schemas.microsoft.com/office/powerpoint/2010/main" val="8446280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Buenas prácticas</a:t>
            </a:r>
            <a:endParaRPr lang="es-CO" sz="3600" dirty="0"/>
          </a:p>
        </p:txBody>
      </p:sp>
      <p:sp>
        <p:nvSpPr>
          <p:cNvPr id="13" name="12 Rectángulo"/>
          <p:cNvSpPr/>
          <p:nvPr/>
        </p:nvSpPr>
        <p:spPr>
          <a:xfrm>
            <a:off x="125760" y="821025"/>
            <a:ext cx="8892480" cy="5632311"/>
          </a:xfrm>
          <a:prstGeom prst="rect">
            <a:avLst/>
          </a:prstGeom>
        </p:spPr>
        <p:txBody>
          <a:bodyPr wrap="square">
            <a:spAutoFit/>
          </a:bodyPr>
          <a:lstStyle/>
          <a:p>
            <a:pPr rtl="0"/>
            <a:r>
              <a:rPr lang="es-MX" sz="2000" b="1" dirty="0"/>
              <a:t>Antes y después</a:t>
            </a:r>
            <a:r>
              <a:rPr lang="es-MX" sz="2000" dirty="0"/>
              <a:t>: el mismo programa, mejor escrito.</a:t>
            </a:r>
          </a:p>
          <a:p>
            <a:pPr rtl="0"/>
            <a:endParaRPr lang="es-MX" sz="2000" dirty="0"/>
          </a:p>
          <a:p>
            <a:pPr rtl="0"/>
            <a:endParaRPr lang="es-MX" sz="2000" dirty="0"/>
          </a:p>
          <a:p>
            <a:pPr rtl="0"/>
            <a:endParaRPr lang="es-MX" sz="2000" dirty="0"/>
          </a:p>
          <a:p>
            <a:pPr rtl="0"/>
            <a:endParaRPr lang="es-MX" sz="2000" dirty="0"/>
          </a:p>
          <a:p>
            <a:pPr rtl="0"/>
            <a:endParaRPr lang="es-MX" sz="2000" dirty="0"/>
          </a:p>
          <a:p>
            <a:pPr rtl="0"/>
            <a:endParaRPr lang="es-MX" sz="2000" dirty="0"/>
          </a:p>
          <a:p>
            <a:pPr rtl="0"/>
            <a:endParaRPr lang="es-MX" sz="2000" dirty="0"/>
          </a:p>
          <a:p>
            <a:pPr rtl="0"/>
            <a:endParaRPr lang="es-MX" sz="2000" dirty="0"/>
          </a:p>
          <a:p>
            <a:pPr rtl="0"/>
            <a:endParaRPr lang="es-MX" sz="2000" dirty="0"/>
          </a:p>
          <a:p>
            <a:pPr rtl="0"/>
            <a:endParaRPr lang="es-MX" sz="2000" dirty="0"/>
          </a:p>
          <a:p>
            <a:pPr rtl="0"/>
            <a:r>
              <a:rPr lang="es-MX" sz="2000" b="1" dirty="0"/>
              <a:t>Reglas</a:t>
            </a:r>
            <a:r>
              <a:rPr lang="es-MX" sz="2000" dirty="0"/>
              <a:t>:</a:t>
            </a:r>
          </a:p>
          <a:p>
            <a:pPr marL="457200" indent="-457200" rtl="0">
              <a:buFont typeface="+mj-lt"/>
              <a:buAutoNum type="arabicPeriod"/>
            </a:pPr>
            <a:r>
              <a:rPr lang="es-MX" sz="2000" b="1" dirty="0"/>
              <a:t>El nombre de una función empieza con un verbo y dice qué hace</a:t>
            </a:r>
            <a:r>
              <a:rPr lang="es-MX" sz="2000" dirty="0"/>
              <a:t>: </a:t>
            </a:r>
            <a:r>
              <a:rPr lang="es-MX" b="1" dirty="0" err="1">
                <a:latin typeface="Consolas" panose="020B0609020204030204" pitchFamily="49" charset="0"/>
              </a:rPr>
              <a:t>mostrar_menu</a:t>
            </a:r>
            <a:r>
              <a:rPr lang="es-MX" sz="2000" dirty="0"/>
              <a:t>, no </a:t>
            </a:r>
            <a:r>
              <a:rPr lang="es-MX" b="1" dirty="0" err="1">
                <a:latin typeface="Consolas" panose="020B0609020204030204" pitchFamily="49" charset="0"/>
              </a:rPr>
              <a:t>menu</a:t>
            </a:r>
            <a:r>
              <a:rPr lang="es-MX" sz="2000" dirty="0"/>
              <a:t>.</a:t>
            </a:r>
          </a:p>
          <a:p>
            <a:pPr marL="457200" indent="-457200" rtl="0">
              <a:buFont typeface="+mj-lt"/>
              <a:buAutoNum type="arabicPeriod"/>
            </a:pPr>
            <a:r>
              <a:rPr lang="es-MX" sz="2000" b="1" dirty="0"/>
              <a:t>Se usan nombres completos, no abreviaturas crípticas</a:t>
            </a:r>
            <a:r>
              <a:rPr lang="es-MX" sz="2000" dirty="0"/>
              <a:t>: </a:t>
            </a:r>
            <a:r>
              <a:rPr lang="es-MX" b="1" dirty="0" err="1">
                <a:latin typeface="Consolas" panose="020B0609020204030204" pitchFamily="49" charset="0"/>
              </a:rPr>
              <a:t>celsius_a_fahrenheit</a:t>
            </a:r>
            <a:r>
              <a:rPr lang="es-MX" sz="2000" dirty="0"/>
              <a:t>, no </a:t>
            </a:r>
            <a:r>
              <a:rPr lang="es-MX" b="1" dirty="0" err="1">
                <a:latin typeface="Consolas" panose="020B0609020204030204" pitchFamily="49" charset="0"/>
              </a:rPr>
              <a:t>c_to_f</a:t>
            </a:r>
            <a:r>
              <a:rPr lang="es-MX" sz="2000" dirty="0"/>
              <a:t>.</a:t>
            </a:r>
          </a:p>
          <a:p>
            <a:pPr marL="457200" indent="-457200" rtl="0">
              <a:buFont typeface="+mj-lt"/>
              <a:buAutoNum type="arabicPeriod"/>
            </a:pPr>
            <a:r>
              <a:rPr lang="es-MX" sz="2000" b="1" dirty="0"/>
              <a:t>Las variables van en minúscula con guion bajo (</a:t>
            </a:r>
            <a:r>
              <a:rPr lang="es-MX" sz="2000" b="1" dirty="0" err="1"/>
              <a:t>snake_case</a:t>
            </a:r>
            <a:r>
              <a:rPr lang="es-MX" sz="2000" b="1" dirty="0"/>
              <a:t>)</a:t>
            </a:r>
            <a:r>
              <a:rPr lang="es-MX" sz="2000" dirty="0"/>
              <a:t>: </a:t>
            </a:r>
            <a:r>
              <a:rPr lang="es-MX" b="1" dirty="0" err="1">
                <a:latin typeface="Consolas" panose="020B0609020204030204" pitchFamily="49" charset="0"/>
              </a:rPr>
              <a:t>temp_c</a:t>
            </a:r>
            <a:r>
              <a:rPr lang="es-MX" sz="2000" dirty="0"/>
              <a:t>, no </a:t>
            </a:r>
            <a:r>
              <a:rPr lang="es-MX" b="1" dirty="0">
                <a:latin typeface="Consolas" panose="020B0609020204030204" pitchFamily="49" charset="0"/>
              </a:rPr>
              <a:t>Tc</a:t>
            </a:r>
            <a:r>
              <a:rPr lang="es-MX" sz="2000" dirty="0"/>
              <a:t>.</a:t>
            </a:r>
          </a:p>
          <a:p>
            <a:pPr marL="457200" indent="-457200" rtl="0">
              <a:buFont typeface="+mj-lt"/>
              <a:buAutoNum type="arabicPeriod"/>
            </a:pPr>
            <a:r>
              <a:rPr lang="es-MX" sz="2000" b="1" dirty="0"/>
              <a:t>Las pruebas se escriben con </a:t>
            </a:r>
            <a:r>
              <a:rPr lang="es-MX" b="1" dirty="0">
                <a:latin typeface="Consolas" panose="020B0609020204030204" pitchFamily="49" charset="0"/>
              </a:rPr>
              <a:t>assert</a:t>
            </a:r>
            <a:r>
              <a:rPr lang="es-MX" sz="2000" b="1" dirty="0"/>
              <a:t>, para que se revisen solas y no a ojo</a:t>
            </a:r>
            <a:r>
              <a:rPr lang="es-MX" sz="2000" dirty="0"/>
              <a:t>.</a:t>
            </a:r>
          </a:p>
        </p:txBody>
      </p:sp>
      <p:graphicFrame>
        <p:nvGraphicFramePr>
          <p:cNvPr id="3" name="Tabla 2">
            <a:extLst>
              <a:ext uri="{FF2B5EF4-FFF2-40B4-BE49-F238E27FC236}">
                <a16:creationId xmlns:a16="http://schemas.microsoft.com/office/drawing/2014/main" id="{E905ED11-A6A7-43F8-A922-8E6BA087ACF9}"/>
              </a:ext>
            </a:extLst>
          </p:cNvPr>
          <p:cNvGraphicFramePr>
            <a:graphicFrameLocks noGrp="1"/>
          </p:cNvGraphicFramePr>
          <p:nvPr>
            <p:extLst>
              <p:ext uri="{D42A27DB-BD31-4B8C-83A1-F6EECF244321}">
                <p14:modId xmlns:p14="http://schemas.microsoft.com/office/powerpoint/2010/main" val="2838150379"/>
              </p:ext>
            </p:extLst>
          </p:nvPr>
        </p:nvGraphicFramePr>
        <p:xfrm>
          <a:off x="221432" y="1394832"/>
          <a:ext cx="8766720" cy="2682240"/>
        </p:xfrm>
        <a:graphic>
          <a:graphicData uri="http://schemas.openxmlformats.org/drawingml/2006/table">
            <a:tbl>
              <a:tblPr/>
              <a:tblGrid>
                <a:gridCol w="4383360">
                  <a:extLst>
                    <a:ext uri="{9D8B030D-6E8A-4147-A177-3AD203B41FA5}">
                      <a16:colId xmlns:a16="http://schemas.microsoft.com/office/drawing/2014/main" val="447940796"/>
                    </a:ext>
                  </a:extLst>
                </a:gridCol>
                <a:gridCol w="4383360">
                  <a:extLst>
                    <a:ext uri="{9D8B030D-6E8A-4147-A177-3AD203B41FA5}">
                      <a16:colId xmlns:a16="http://schemas.microsoft.com/office/drawing/2014/main" val="55045371"/>
                    </a:ext>
                  </a:extLst>
                </a:gridCol>
              </a:tblGrid>
              <a:tr h="225575">
                <a:tc>
                  <a:txBody>
                    <a:bodyPr/>
                    <a:lstStyle/>
                    <a:p>
                      <a:r>
                        <a:rPr lang="es-CO" b="1" dirty="0"/>
                        <a:t>temperaturas_v1.py (hecho en clase)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dirty="0"/>
                        <a:t>temperaturas._v2.py (mejorado)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82812190"/>
                  </a:ext>
                </a:extLst>
              </a:tr>
              <a:tr h="206777">
                <a:tc>
                  <a:txBody>
                    <a:bodyPr/>
                    <a:lstStyle/>
                    <a:p>
                      <a:r>
                        <a:rPr lang="es-CO" sz="1600" dirty="0" err="1">
                          <a:latin typeface="Consolas" panose="020B0609020204030204" pitchFamily="49" charset="0"/>
                        </a:rPr>
                        <a:t>def</a:t>
                      </a:r>
                      <a:r>
                        <a:rPr lang="es-CO" sz="1600" dirty="0">
                          <a:latin typeface="Consolas" panose="020B0609020204030204" pitchFamily="49" charset="0"/>
                        </a:rPr>
                        <a:t> </a:t>
                      </a:r>
                      <a:r>
                        <a:rPr lang="es-CO" sz="1600" dirty="0" err="1">
                          <a:latin typeface="Consolas" panose="020B0609020204030204" pitchFamily="49" charset="0"/>
                        </a:rPr>
                        <a:t>menu</a:t>
                      </a:r>
                      <a:r>
                        <a:rPr lang="es-CO" sz="1600" dirty="0">
                          <a:latin typeface="Consolas" panose="020B0609020204030204" pitchFamily="49" charset="0"/>
                        </a:rPr>
                        <a:t>():</a:t>
                      </a:r>
                    </a:p>
                    <a:p>
                      <a:r>
                        <a:rPr lang="es-CO" sz="1600" dirty="0">
                          <a:latin typeface="Consolas" panose="020B0609020204030204" pitchFamily="49" charset="0"/>
                        </a:rPr>
                        <a:t>  # </a:t>
                      </a:r>
                      <a:r>
                        <a:rPr lang="es-CO" sz="1600" dirty="0" err="1">
                          <a:latin typeface="Consolas" panose="020B0609020204030204" pitchFamily="49" charset="0"/>
                        </a:rPr>
                        <a:t>Code</a:t>
                      </a:r>
                      <a:r>
                        <a:rPr lang="es-CO" sz="1600" dirty="0">
                          <a:latin typeface="Consolas" panose="020B0609020204030204" pitchFamily="49" charset="0"/>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err="1">
                          <a:latin typeface="Consolas" panose="020B0609020204030204" pitchFamily="49" charset="0"/>
                        </a:rPr>
                        <a:t>def</a:t>
                      </a:r>
                      <a:r>
                        <a:rPr lang="es-CO" sz="1600" dirty="0">
                          <a:latin typeface="Consolas" panose="020B0609020204030204" pitchFamily="49" charset="0"/>
                        </a:rPr>
                        <a:t> </a:t>
                      </a:r>
                      <a:r>
                        <a:rPr lang="es-CO" sz="1600" dirty="0" err="1">
                          <a:latin typeface="Consolas" panose="020B0609020204030204" pitchFamily="49" charset="0"/>
                        </a:rPr>
                        <a:t>mostrar_menu</a:t>
                      </a:r>
                      <a:r>
                        <a:rPr lang="es-CO" sz="1600" dirty="0">
                          <a:latin typeface="Consolas" panose="020B0609020204030204" pitchFamily="49" charset="0"/>
                        </a:rPr>
                        <a:t>():</a:t>
                      </a:r>
                    </a:p>
                    <a:p>
                      <a:r>
                        <a:rPr lang="es-CO" sz="1600" dirty="0">
                          <a:latin typeface="Consolas" panose="020B0609020204030204" pitchFamily="49" charset="0"/>
                        </a:rPr>
                        <a:t>  # </a:t>
                      </a:r>
                      <a:r>
                        <a:rPr lang="es-CO" sz="1600" dirty="0" err="1">
                          <a:latin typeface="Consolas" panose="020B0609020204030204" pitchFamily="49" charset="0"/>
                        </a:rPr>
                        <a:t>Code</a:t>
                      </a:r>
                      <a:r>
                        <a:rPr lang="es-CO" sz="1600" dirty="0">
                          <a:latin typeface="Consolas" panose="020B0609020204030204" pitchFamily="49" charset="0"/>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5685801"/>
                  </a:ext>
                </a:extLst>
              </a:tr>
              <a:tr h="507543">
                <a:tc>
                  <a:txBody>
                    <a:bodyPr/>
                    <a:lstStyle/>
                    <a:p>
                      <a:r>
                        <a:rPr lang="en-US" sz="1600" dirty="0">
                          <a:latin typeface="Consolas" panose="020B0609020204030204" pitchFamily="49" charset="0"/>
                        </a:rPr>
                        <a:t>def </a:t>
                      </a:r>
                      <a:r>
                        <a:rPr lang="en-US" sz="1600" dirty="0" err="1">
                          <a:latin typeface="Consolas" panose="020B0609020204030204" pitchFamily="49" charset="0"/>
                        </a:rPr>
                        <a:t>c_to_f</a:t>
                      </a:r>
                      <a:r>
                        <a:rPr lang="en-US" sz="1600" dirty="0">
                          <a:latin typeface="Consolas" panose="020B0609020204030204" pitchFamily="49" charset="0"/>
                        </a:rPr>
                        <a:t>(c):</a:t>
                      </a:r>
                      <a:br>
                        <a:rPr lang="en-US" sz="1600" dirty="0">
                          <a:latin typeface="Consolas" panose="020B0609020204030204" pitchFamily="49" charset="0"/>
                        </a:rPr>
                      </a:br>
                      <a:r>
                        <a:rPr lang="en-US" sz="1600" dirty="0">
                          <a:latin typeface="Consolas" panose="020B0609020204030204" pitchFamily="49" charset="0"/>
                        </a:rPr>
                        <a:t>  f = (9/5)*c + 32</a:t>
                      </a:r>
                      <a:br>
                        <a:rPr lang="en-US" sz="1600" dirty="0">
                          <a:latin typeface="Consolas" panose="020B0609020204030204" pitchFamily="49" charset="0"/>
                        </a:rPr>
                      </a:br>
                      <a:r>
                        <a:rPr lang="en-US" sz="1600" dirty="0">
                          <a:latin typeface="Consolas" panose="020B0609020204030204" pitchFamily="49" charset="0"/>
                        </a:rPr>
                        <a:t>  return 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err="1">
                          <a:latin typeface="Consolas" panose="020B0609020204030204" pitchFamily="49" charset="0"/>
                        </a:rPr>
                        <a:t>def</a:t>
                      </a:r>
                      <a:r>
                        <a:rPr lang="es-CO" sz="1600" dirty="0">
                          <a:latin typeface="Consolas" panose="020B0609020204030204" pitchFamily="49" charset="0"/>
                        </a:rPr>
                        <a:t> </a:t>
                      </a:r>
                      <a:r>
                        <a:rPr lang="es-CO" sz="1600" dirty="0" err="1">
                          <a:latin typeface="Consolas" panose="020B0609020204030204" pitchFamily="49" charset="0"/>
                        </a:rPr>
                        <a:t>celsius_a_fahrenheit</a:t>
                      </a:r>
                      <a:r>
                        <a:rPr lang="es-CO" sz="1600" dirty="0">
                          <a:latin typeface="Consolas" panose="020B0609020204030204" pitchFamily="49" charset="0"/>
                        </a:rPr>
                        <a:t>(</a:t>
                      </a:r>
                      <a:r>
                        <a:rPr lang="es-CO" sz="1600" dirty="0" err="1">
                          <a:latin typeface="Consolas" panose="020B0609020204030204" pitchFamily="49" charset="0"/>
                        </a:rPr>
                        <a:t>temp_c</a:t>
                      </a:r>
                      <a:r>
                        <a:rPr lang="es-CO" sz="1600" dirty="0">
                          <a:latin typeface="Consolas" panose="020B0609020204030204" pitchFamily="49" charset="0"/>
                        </a:rPr>
                        <a:t>):</a:t>
                      </a:r>
                      <a:br>
                        <a:rPr lang="es-CO" sz="1600" dirty="0">
                          <a:latin typeface="Consolas" panose="020B0609020204030204" pitchFamily="49" charset="0"/>
                        </a:rPr>
                      </a:br>
                      <a:r>
                        <a:rPr lang="es-CO" sz="1600" dirty="0">
                          <a:latin typeface="Consolas" panose="020B0609020204030204" pitchFamily="49" charset="0"/>
                        </a:rPr>
                        <a:t>  </a:t>
                      </a:r>
                      <a:r>
                        <a:rPr lang="es-CO" sz="1600" dirty="0" err="1">
                          <a:latin typeface="Consolas" panose="020B0609020204030204" pitchFamily="49" charset="0"/>
                        </a:rPr>
                        <a:t>temp_f</a:t>
                      </a:r>
                      <a:r>
                        <a:rPr lang="es-CO" sz="1600" dirty="0">
                          <a:latin typeface="Consolas" panose="020B0609020204030204" pitchFamily="49" charset="0"/>
                        </a:rPr>
                        <a:t> = (9/5)*</a:t>
                      </a:r>
                      <a:r>
                        <a:rPr lang="es-CO" sz="1600" dirty="0" err="1">
                          <a:latin typeface="Consolas" panose="020B0609020204030204" pitchFamily="49" charset="0"/>
                        </a:rPr>
                        <a:t>temp_c</a:t>
                      </a:r>
                      <a:r>
                        <a:rPr lang="es-CO" sz="1600" dirty="0">
                          <a:latin typeface="Consolas" panose="020B0609020204030204" pitchFamily="49" charset="0"/>
                        </a:rPr>
                        <a:t> + 32</a:t>
                      </a:r>
                      <a:br>
                        <a:rPr lang="es-CO" sz="1600" dirty="0">
                          <a:latin typeface="Consolas" panose="020B0609020204030204" pitchFamily="49" charset="0"/>
                        </a:rPr>
                      </a:br>
                      <a:r>
                        <a:rPr lang="es-CO" sz="1600" dirty="0">
                          <a:latin typeface="Consolas" panose="020B0609020204030204" pitchFamily="49" charset="0"/>
                        </a:rPr>
                        <a:t>  </a:t>
                      </a:r>
                      <a:r>
                        <a:rPr lang="es-CO" sz="1600" dirty="0" err="1">
                          <a:latin typeface="Consolas" panose="020B0609020204030204" pitchFamily="49" charset="0"/>
                        </a:rPr>
                        <a:t>return</a:t>
                      </a:r>
                      <a:r>
                        <a:rPr lang="es-CO" sz="1600" dirty="0">
                          <a:latin typeface="Consolas" panose="020B0609020204030204" pitchFamily="49" charset="0"/>
                        </a:rPr>
                        <a:t> </a:t>
                      </a:r>
                      <a:r>
                        <a:rPr lang="es-CO" sz="1600" dirty="0" err="1">
                          <a:latin typeface="Consolas" panose="020B0609020204030204" pitchFamily="49" charset="0"/>
                        </a:rPr>
                        <a:t>temp_f</a:t>
                      </a:r>
                      <a:endParaRPr lang="es-CO" sz="16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20884245"/>
                  </a:ext>
                </a:extLst>
              </a:tr>
              <a:tr h="507543">
                <a:tc>
                  <a:txBody>
                    <a:bodyPr/>
                    <a:lstStyle/>
                    <a:p>
                      <a:r>
                        <a:rPr lang="en-US" sz="1600" dirty="0">
                          <a:latin typeface="Consolas" panose="020B0609020204030204" pitchFamily="49" charset="0"/>
                        </a:rPr>
                        <a:t>Tc = float(input(...))</a:t>
                      </a:r>
                      <a:br>
                        <a:rPr lang="en-US" sz="1600" dirty="0">
                          <a:latin typeface="Consolas" panose="020B0609020204030204" pitchFamily="49" charset="0"/>
                        </a:rPr>
                      </a:br>
                      <a:r>
                        <a:rPr lang="en-US" sz="1600" dirty="0" err="1">
                          <a:latin typeface="Consolas" panose="020B0609020204030204" pitchFamily="49" charset="0"/>
                        </a:rPr>
                        <a:t>Tf</a:t>
                      </a:r>
                      <a:r>
                        <a:rPr lang="en-US" sz="1600" dirty="0">
                          <a:latin typeface="Consolas" panose="020B0609020204030204" pitchFamily="49" charset="0"/>
                        </a:rPr>
                        <a:t> = </a:t>
                      </a:r>
                      <a:r>
                        <a:rPr lang="en-US" sz="1600" dirty="0" err="1">
                          <a:latin typeface="Consolas" panose="020B0609020204030204" pitchFamily="49" charset="0"/>
                        </a:rPr>
                        <a:t>c_to_f</a:t>
                      </a:r>
                      <a:r>
                        <a:rPr lang="en-US" sz="1600" dirty="0">
                          <a:latin typeface="Consolas" panose="020B0609020204030204" pitchFamily="49" charset="0"/>
                        </a:rPr>
                        <a:t>(Tc)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600">
                          <a:latin typeface="Consolas" panose="020B0609020204030204" pitchFamily="49" charset="0"/>
                        </a:rPr>
                        <a:t>temp_c = float(input(...))</a:t>
                      </a:r>
                      <a:br>
                        <a:rPr lang="en-US" sz="1600">
                          <a:latin typeface="Consolas" panose="020B0609020204030204" pitchFamily="49" charset="0"/>
                        </a:rPr>
                      </a:br>
                      <a:r>
                        <a:rPr lang="en-US" sz="1600">
                          <a:latin typeface="Consolas" panose="020B0609020204030204" pitchFamily="49" charset="0"/>
                        </a:rPr>
                        <a:t>temp_f = celsius_a_fahrenheit(temp_c)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8164941"/>
                  </a:ext>
                </a:extLst>
              </a:tr>
              <a:tr h="206777">
                <a:tc>
                  <a:txBody>
                    <a:bodyPr/>
                    <a:lstStyle/>
                    <a:p>
                      <a:r>
                        <a:rPr lang="es-CO" sz="1600" dirty="0">
                          <a:latin typeface="Consolas" panose="020B0609020204030204" pitchFamily="49" charset="0"/>
                        </a:rPr>
                        <a:t>Pruebas con print, comentadas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latin typeface="Consolas" panose="020B0609020204030204" pitchFamily="49" charset="0"/>
                        </a:rPr>
                        <a:t>Pruebas con assert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4494470"/>
                  </a:ext>
                </a:extLst>
              </a:tr>
            </a:tbl>
          </a:graphicData>
        </a:graphic>
      </p:graphicFrame>
      <p:sp>
        <p:nvSpPr>
          <p:cNvPr id="18" name="CuadroTexto 17">
            <a:extLst>
              <a:ext uri="{FF2B5EF4-FFF2-40B4-BE49-F238E27FC236}">
                <a16:creationId xmlns:a16="http://schemas.microsoft.com/office/drawing/2014/main" id="{98CA3F79-1F31-48C7-A52E-B6AB3137784F}"/>
              </a:ext>
            </a:extLst>
          </p:cNvPr>
          <p:cNvSpPr txBox="1"/>
          <p:nvPr/>
        </p:nvSpPr>
        <p:spPr>
          <a:xfrm>
            <a:off x="27709" y="6505599"/>
            <a:ext cx="9088582" cy="307777"/>
          </a:xfrm>
          <a:prstGeom prst="rect">
            <a:avLst/>
          </a:prstGeom>
          <a:solidFill>
            <a:schemeClr val="accent6">
              <a:lumMod val="20000"/>
              <a:lumOff val="80000"/>
            </a:schemeClr>
          </a:solidFill>
        </p:spPr>
        <p:txBody>
          <a:bodyPr wrap="square">
            <a:spAutoFit/>
          </a:bodyPr>
          <a:lstStyle/>
          <a:p>
            <a:r>
              <a:rPr lang="es-CO" sz="1400" b="1" dirty="0"/>
              <a:t>Idea clave</a:t>
            </a:r>
            <a:r>
              <a:rPr lang="es-CO" sz="1400" dirty="0"/>
              <a:t>: los dos programas hacen exactamente lo mismo. El segundo se entiende sin necesidad de explicarlo.</a:t>
            </a:r>
          </a:p>
        </p:txBody>
      </p:sp>
    </p:spTree>
    <p:extLst>
      <p:ext uri="{BB962C8B-B14F-4D97-AF65-F5344CB8AC3E}">
        <p14:creationId xmlns:p14="http://schemas.microsoft.com/office/powerpoint/2010/main" val="1481247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¿Cómo ejecutar un programa?</a:t>
            </a:r>
            <a:endParaRPr lang="es-CO" sz="3600" dirty="0"/>
          </a:p>
        </p:txBody>
      </p:sp>
      <p:sp>
        <p:nvSpPr>
          <p:cNvPr id="13" name="12 Rectángulo"/>
          <p:cNvSpPr/>
          <p:nvPr/>
        </p:nvSpPr>
        <p:spPr>
          <a:xfrm>
            <a:off x="107504" y="620688"/>
            <a:ext cx="8892480" cy="707886"/>
          </a:xfrm>
          <a:prstGeom prst="rect">
            <a:avLst/>
          </a:prstGeom>
        </p:spPr>
        <p:txBody>
          <a:bodyPr wrap="square">
            <a:spAutoFit/>
          </a:bodyPr>
          <a:lstStyle/>
          <a:p>
            <a:pPr rtl="0"/>
            <a:r>
              <a:rPr lang="es-MX" sz="2000" b="1" dirty="0"/>
              <a:t>Idea clave:</a:t>
            </a:r>
            <a:r>
              <a:rPr lang="es-MX" sz="2000" dirty="0"/>
              <a:t> hay varias formas de ejecutar un programa, pero todas hacen lo mismo: Python lee el archivo de arriba a abajo y ejecuta cada instrucción.</a:t>
            </a:r>
          </a:p>
        </p:txBody>
      </p:sp>
      <p:graphicFrame>
        <p:nvGraphicFramePr>
          <p:cNvPr id="2" name="Tabla 1">
            <a:extLst>
              <a:ext uri="{FF2B5EF4-FFF2-40B4-BE49-F238E27FC236}">
                <a16:creationId xmlns:a16="http://schemas.microsoft.com/office/drawing/2014/main" id="{98A123C3-EF2E-4F25-AA5F-2376F03238B9}"/>
              </a:ext>
            </a:extLst>
          </p:cNvPr>
          <p:cNvGraphicFramePr>
            <a:graphicFrameLocks noGrp="1"/>
          </p:cNvGraphicFramePr>
          <p:nvPr>
            <p:extLst>
              <p:ext uri="{D42A27DB-BD31-4B8C-83A1-F6EECF244321}">
                <p14:modId xmlns:p14="http://schemas.microsoft.com/office/powerpoint/2010/main" val="899464788"/>
              </p:ext>
            </p:extLst>
          </p:nvPr>
        </p:nvGraphicFramePr>
        <p:xfrm>
          <a:off x="179512" y="1340768"/>
          <a:ext cx="8605994" cy="2529840"/>
        </p:xfrm>
        <a:graphic>
          <a:graphicData uri="http://schemas.openxmlformats.org/drawingml/2006/table">
            <a:tbl>
              <a:tblPr/>
              <a:tblGrid>
                <a:gridCol w="2115820">
                  <a:extLst>
                    <a:ext uri="{9D8B030D-6E8A-4147-A177-3AD203B41FA5}">
                      <a16:colId xmlns:a16="http://schemas.microsoft.com/office/drawing/2014/main" val="1988110560"/>
                    </a:ext>
                  </a:extLst>
                </a:gridCol>
                <a:gridCol w="3739659">
                  <a:extLst>
                    <a:ext uri="{9D8B030D-6E8A-4147-A177-3AD203B41FA5}">
                      <a16:colId xmlns:a16="http://schemas.microsoft.com/office/drawing/2014/main" val="3882870341"/>
                    </a:ext>
                  </a:extLst>
                </a:gridCol>
                <a:gridCol w="2750515">
                  <a:extLst>
                    <a:ext uri="{9D8B030D-6E8A-4147-A177-3AD203B41FA5}">
                      <a16:colId xmlns:a16="http://schemas.microsoft.com/office/drawing/2014/main" val="2915160867"/>
                    </a:ext>
                  </a:extLst>
                </a:gridCol>
              </a:tblGrid>
              <a:tr h="0">
                <a:tc>
                  <a:txBody>
                    <a:bodyPr/>
                    <a:lstStyle/>
                    <a:p>
                      <a:r>
                        <a:rPr lang="es-CO" sz="1800" b="1"/>
                        <a:t>Forma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800" b="1" dirty="0"/>
                        <a:t>Cómo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800" b="1" dirty="0"/>
                        <a:t>Cuándo usarla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399536123"/>
                  </a:ext>
                </a:extLst>
              </a:tr>
              <a:tr h="0">
                <a:tc>
                  <a:txBody>
                    <a:bodyPr/>
                    <a:lstStyle/>
                    <a:p>
                      <a:r>
                        <a:rPr lang="es-CO" sz="1600" b="1" dirty="0"/>
                        <a:t>1. Botón del IDE</a:t>
                      </a:r>
                      <a:r>
                        <a:rPr lang="es-CO" sz="1600" dirty="0"/>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b="1" dirty="0"/>
                        <a:t>Spyder</a:t>
                      </a:r>
                      <a:r>
                        <a:rPr lang="es-CO" sz="1600" dirty="0"/>
                        <a:t>: ▶ </a:t>
                      </a:r>
                      <a:endParaRPr lang="es-CO" sz="1600" b="1" dirty="0"/>
                    </a:p>
                    <a:p>
                      <a:r>
                        <a:rPr lang="en-US" sz="1600" b="1" dirty="0"/>
                        <a:t>VS-Code</a:t>
                      </a:r>
                      <a:r>
                        <a:rPr lang="en-US" sz="1600" dirty="0"/>
                        <a:t>: ▷ </a:t>
                      </a:r>
                      <a:r>
                        <a:rPr lang="en-US" sz="1600" i="1" dirty="0"/>
                        <a:t>Run Python File</a:t>
                      </a:r>
                      <a:endParaRPr lang="es-CO"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En el día a día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81771772"/>
                  </a:ext>
                </a:extLst>
              </a:tr>
              <a:tr h="0">
                <a:tc>
                  <a:txBody>
                    <a:bodyPr/>
                    <a:lstStyle/>
                    <a:p>
                      <a:r>
                        <a:rPr lang="es-CO" sz="1600" b="1"/>
                        <a:t>2. Terminal</a:t>
                      </a:r>
                      <a:endParaRPr lang="es-CO" sz="16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python nombre_archivo.py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Cuando no hay IDE, o para ejecutar en otro computador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64067565"/>
                  </a:ext>
                </a:extLst>
              </a:tr>
              <a:tr h="0">
                <a:tc>
                  <a:txBody>
                    <a:bodyPr/>
                    <a:lstStyle/>
                    <a:p>
                      <a:r>
                        <a:rPr lang="es-CO" sz="1600" b="1" dirty="0"/>
                        <a:t>3. Consola</a:t>
                      </a:r>
                      <a:endParaRPr lang="es-CO"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Después de ejecutar, escribir la llamada:</a:t>
                      </a:r>
                    </a:p>
                    <a:p>
                      <a:endParaRPr lang="es-MX" sz="1600" dirty="0"/>
                    </a:p>
                    <a:p>
                      <a:r>
                        <a:rPr lang="it-IT" sz="1400" dirty="0">
                          <a:latin typeface="Consolas" panose="020B0609020204030204" pitchFamily="49" charset="0"/>
                        </a:rPr>
                        <a:t>python -i nombre_archivo.py</a:t>
                      </a:r>
                      <a:endParaRPr lang="es-MX" sz="1400" dirty="0">
                        <a:latin typeface="Consolas" panose="020B0609020204030204" pitchFamily="49" charset="0"/>
                      </a:endParaRPr>
                    </a:p>
                    <a:p>
                      <a:r>
                        <a:rPr lang="es-MX" sz="1400" dirty="0">
                          <a:solidFill>
                            <a:srgbClr val="C00000"/>
                          </a:solidFill>
                          <a:latin typeface="Consolas" panose="020B0609020204030204" pitchFamily="49" charset="0"/>
                        </a:rPr>
                        <a:t>&gt;&gt;&gt;</a:t>
                      </a:r>
                      <a:r>
                        <a:rPr lang="es-MX" sz="1400" dirty="0">
                          <a:latin typeface="Consolas" panose="020B0609020204030204" pitchFamily="49" charset="0"/>
                        </a:rPr>
                        <a:t> nombre_funcion(argumentos)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Para probar una función sola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94084506"/>
                  </a:ext>
                </a:extLst>
              </a:tr>
            </a:tbl>
          </a:graphicData>
        </a:graphic>
      </p:graphicFrame>
      <p:pic>
        <p:nvPicPr>
          <p:cNvPr id="6" name="Imagen 5">
            <a:extLst>
              <a:ext uri="{FF2B5EF4-FFF2-40B4-BE49-F238E27FC236}">
                <a16:creationId xmlns:a16="http://schemas.microsoft.com/office/drawing/2014/main" id="{4C0D3DD9-EFBF-4EE2-B429-363E56F7D907}"/>
              </a:ext>
            </a:extLst>
          </p:cNvPr>
          <p:cNvPicPr>
            <a:picLocks noChangeAspect="1"/>
          </p:cNvPicPr>
          <p:nvPr/>
        </p:nvPicPr>
        <p:blipFill>
          <a:blip r:embed="rId2"/>
          <a:stretch>
            <a:fillRect/>
          </a:stretch>
        </p:blipFill>
        <p:spPr>
          <a:xfrm>
            <a:off x="323527" y="4305290"/>
            <a:ext cx="4393045" cy="2076038"/>
          </a:xfrm>
          <a:prstGeom prst="rect">
            <a:avLst/>
          </a:prstGeom>
        </p:spPr>
      </p:pic>
      <p:sp>
        <p:nvSpPr>
          <p:cNvPr id="14" name="CuadroTexto 13">
            <a:extLst>
              <a:ext uri="{FF2B5EF4-FFF2-40B4-BE49-F238E27FC236}">
                <a16:creationId xmlns:a16="http://schemas.microsoft.com/office/drawing/2014/main" id="{D320E489-3CC1-45B8-8A84-3FF46859A8A5}"/>
              </a:ext>
            </a:extLst>
          </p:cNvPr>
          <p:cNvSpPr txBox="1"/>
          <p:nvPr/>
        </p:nvSpPr>
        <p:spPr>
          <a:xfrm>
            <a:off x="4950296" y="3933056"/>
            <a:ext cx="3870176" cy="2839239"/>
          </a:xfrm>
          <a:prstGeom prst="rect">
            <a:avLst/>
          </a:prstGeom>
          <a:noFill/>
          <a:ln>
            <a:solidFill>
              <a:schemeClr val="tx1"/>
            </a:solidFill>
          </a:ln>
        </p:spPr>
        <p:txBody>
          <a:bodyPr wrap="square">
            <a:spAutoFit/>
          </a:bodyPr>
          <a:lstStyle/>
          <a:p>
            <a:r>
              <a:rPr lang="es-CO" sz="1050" dirty="0">
                <a:latin typeface="Consolas" panose="020B0609020204030204" pitchFamily="49" charset="0"/>
              </a:rPr>
              <a:t>Programa de </a:t>
            </a:r>
            <a:r>
              <a:rPr lang="es-CO" sz="1050" dirty="0" err="1">
                <a:latin typeface="Consolas" panose="020B0609020204030204" pitchFamily="49" charset="0"/>
              </a:rPr>
              <a:t>conversion</a:t>
            </a:r>
            <a:r>
              <a:rPr lang="es-CO" sz="1050" dirty="0">
                <a:latin typeface="Consolas" panose="020B0609020204030204" pitchFamily="49" charset="0"/>
              </a:rPr>
              <a:t> de °C a °F y K</a:t>
            </a:r>
          </a:p>
          <a:p>
            <a:r>
              <a:rPr lang="es-CO" sz="1050" dirty="0">
                <a:latin typeface="Consolas" panose="020B0609020204030204" pitchFamily="49" charset="0"/>
              </a:rPr>
              <a:t>--------------------------------</a:t>
            </a:r>
          </a:p>
          <a:p>
            <a:r>
              <a:rPr lang="es-CO" sz="1050" dirty="0">
                <a:latin typeface="Consolas" panose="020B0609020204030204" pitchFamily="49" charset="0"/>
              </a:rPr>
              <a:t>1. °C a °F</a:t>
            </a:r>
          </a:p>
          <a:p>
            <a:r>
              <a:rPr lang="es-CO" sz="1050" dirty="0">
                <a:latin typeface="Consolas" panose="020B0609020204030204" pitchFamily="49" charset="0"/>
              </a:rPr>
              <a:t>2. °C a </a:t>
            </a:r>
            <a:r>
              <a:rPr lang="es-CO" sz="1050" dirty="0" err="1">
                <a:latin typeface="Consolas" panose="020B0609020204030204" pitchFamily="49" charset="0"/>
              </a:rPr>
              <a:t>°K</a:t>
            </a:r>
            <a:endParaRPr lang="es-CO" sz="1050" dirty="0">
              <a:latin typeface="Consolas" panose="020B0609020204030204" pitchFamily="49" charset="0"/>
            </a:endParaRPr>
          </a:p>
          <a:p>
            <a:r>
              <a:rPr lang="es-CO" sz="1050" dirty="0">
                <a:latin typeface="Consolas" panose="020B0609020204030204" pitchFamily="49" charset="0"/>
              </a:rPr>
              <a:t>3. Salir</a:t>
            </a:r>
          </a:p>
          <a:p>
            <a:endParaRPr lang="es-CO" sz="1050" dirty="0">
              <a:latin typeface="Consolas" panose="020B0609020204030204" pitchFamily="49" charset="0"/>
            </a:endParaRPr>
          </a:p>
          <a:p>
            <a:r>
              <a:rPr lang="es-CO" sz="1050" dirty="0">
                <a:latin typeface="Consolas" panose="020B0609020204030204" pitchFamily="49" charset="0"/>
              </a:rPr>
              <a:t>Elija una </a:t>
            </a:r>
            <a:r>
              <a:rPr lang="es-CO" sz="1050" dirty="0" err="1">
                <a:latin typeface="Consolas" panose="020B0609020204030204" pitchFamily="49" charset="0"/>
              </a:rPr>
              <a:t>opcion</a:t>
            </a:r>
            <a:r>
              <a:rPr lang="es-CO" sz="1050" dirty="0">
                <a:latin typeface="Consolas" panose="020B0609020204030204" pitchFamily="49" charset="0"/>
              </a:rPr>
              <a:t>: 1</a:t>
            </a:r>
          </a:p>
          <a:p>
            <a:r>
              <a:rPr lang="es-CO" sz="1050" dirty="0">
                <a:latin typeface="Consolas" panose="020B0609020204030204" pitchFamily="49" charset="0"/>
              </a:rPr>
              <a:t>Digite la temperatura en °C: 100</a:t>
            </a:r>
          </a:p>
          <a:p>
            <a:r>
              <a:rPr lang="es-CO" sz="1050" dirty="0">
                <a:latin typeface="Consolas" panose="020B0609020204030204" pitchFamily="49" charset="0"/>
              </a:rPr>
              <a:t>100.0°C = 212.00°F</a:t>
            </a:r>
          </a:p>
          <a:p>
            <a:endParaRPr lang="es-CO" sz="1050" dirty="0">
              <a:latin typeface="Consolas" panose="020B0609020204030204" pitchFamily="49" charset="0"/>
            </a:endParaRPr>
          </a:p>
          <a:p>
            <a:r>
              <a:rPr lang="es-CO" sz="1050" dirty="0">
                <a:latin typeface="Consolas" panose="020B0609020204030204" pitchFamily="49" charset="0"/>
              </a:rPr>
              <a:t>--------------------------------</a:t>
            </a:r>
          </a:p>
          <a:p>
            <a:r>
              <a:rPr lang="es-CO" sz="1050" dirty="0">
                <a:latin typeface="Consolas" panose="020B0609020204030204" pitchFamily="49" charset="0"/>
              </a:rPr>
              <a:t>1. °C a °F</a:t>
            </a:r>
          </a:p>
          <a:p>
            <a:r>
              <a:rPr lang="es-CO" sz="1050" dirty="0">
                <a:latin typeface="Consolas" panose="020B0609020204030204" pitchFamily="49" charset="0"/>
              </a:rPr>
              <a:t>2. °C a </a:t>
            </a:r>
            <a:r>
              <a:rPr lang="es-CO" sz="1050" dirty="0" err="1">
                <a:latin typeface="Consolas" panose="020B0609020204030204" pitchFamily="49" charset="0"/>
              </a:rPr>
              <a:t>°K</a:t>
            </a:r>
            <a:endParaRPr lang="es-CO" sz="1050" dirty="0">
              <a:latin typeface="Consolas" panose="020B0609020204030204" pitchFamily="49" charset="0"/>
            </a:endParaRPr>
          </a:p>
          <a:p>
            <a:r>
              <a:rPr lang="es-CO" sz="1050" dirty="0">
                <a:latin typeface="Consolas" panose="020B0609020204030204" pitchFamily="49" charset="0"/>
              </a:rPr>
              <a:t>3. Salir</a:t>
            </a:r>
          </a:p>
          <a:p>
            <a:endParaRPr lang="es-CO" sz="1050" dirty="0">
              <a:latin typeface="Consolas" panose="020B0609020204030204" pitchFamily="49" charset="0"/>
            </a:endParaRPr>
          </a:p>
          <a:p>
            <a:r>
              <a:rPr lang="es-CO" sz="1050" dirty="0">
                <a:latin typeface="Consolas" panose="020B0609020204030204" pitchFamily="49" charset="0"/>
              </a:rPr>
              <a:t>Elija una </a:t>
            </a:r>
            <a:r>
              <a:rPr lang="es-CO" sz="1050" dirty="0" err="1">
                <a:latin typeface="Consolas" panose="020B0609020204030204" pitchFamily="49" charset="0"/>
              </a:rPr>
              <a:t>opcion</a:t>
            </a:r>
            <a:r>
              <a:rPr lang="es-CO" sz="1050" dirty="0">
                <a:latin typeface="Consolas" panose="020B0609020204030204" pitchFamily="49" charset="0"/>
              </a:rPr>
              <a:t>: 3</a:t>
            </a:r>
          </a:p>
          <a:p>
            <a:r>
              <a:rPr lang="es-CO" sz="1050" dirty="0">
                <a:latin typeface="Consolas" panose="020B0609020204030204" pitchFamily="49" charset="0"/>
              </a:rPr>
              <a:t>Gracias por usarnos </a:t>
            </a:r>
          </a:p>
        </p:txBody>
      </p:sp>
    </p:spTree>
    <p:extLst>
      <p:ext uri="{BB962C8B-B14F-4D97-AF65-F5344CB8AC3E}">
        <p14:creationId xmlns:p14="http://schemas.microsoft.com/office/powerpoint/2010/main" val="34583868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Ejecutar no es lo mismo que probar</a:t>
            </a:r>
            <a:endParaRPr lang="es-CO" sz="3600" dirty="0"/>
          </a:p>
        </p:txBody>
      </p:sp>
      <p:sp>
        <p:nvSpPr>
          <p:cNvPr id="13" name="12 Rectángulo"/>
          <p:cNvSpPr/>
          <p:nvPr/>
        </p:nvSpPr>
        <p:spPr>
          <a:xfrm>
            <a:off x="251520" y="837084"/>
            <a:ext cx="8496944" cy="3477875"/>
          </a:xfrm>
          <a:prstGeom prst="rect">
            <a:avLst/>
          </a:prstGeom>
        </p:spPr>
        <p:txBody>
          <a:bodyPr wrap="square">
            <a:spAutoFit/>
          </a:bodyPr>
          <a:lstStyle/>
          <a:p>
            <a:pPr marL="342900" indent="-342900" rtl="0">
              <a:buFont typeface="Arial" panose="020B0604020202020204" pitchFamily="34" charset="0"/>
              <a:buChar char="•"/>
            </a:pPr>
            <a:r>
              <a:rPr lang="es-MX" sz="2000" b="1" dirty="0"/>
              <a:t>Ejecutar:</a:t>
            </a:r>
            <a:r>
              <a:rPr lang="es-MX" sz="2000" dirty="0"/>
              <a:t> correr el programa completo, como lo usaría el usuario.</a:t>
            </a:r>
          </a:p>
          <a:p>
            <a:pPr marL="342900" indent="-342900" rtl="0">
              <a:buFont typeface="Arial" panose="020B0604020202020204" pitchFamily="34" charset="0"/>
              <a:buChar char="•"/>
            </a:pPr>
            <a:r>
              <a:rPr lang="es-MX" sz="2000" b="1" dirty="0"/>
              <a:t>Probar:</a:t>
            </a:r>
            <a:r>
              <a:rPr lang="es-MX" sz="2000" dirty="0"/>
              <a:t> verificar que cada función da el resultado esperado.</a:t>
            </a:r>
          </a:p>
          <a:p>
            <a:pPr rtl="0"/>
            <a:endParaRPr lang="es-MX" sz="2000" dirty="0"/>
          </a:p>
          <a:p>
            <a:pPr rtl="0"/>
            <a:r>
              <a:rPr lang="es-MX" sz="2000" dirty="0"/>
              <a:t>Si el archivo tiene pruebas con </a:t>
            </a:r>
            <a:r>
              <a:rPr lang="es-MX" b="1" dirty="0">
                <a:latin typeface="Consolas" panose="020B0609020204030204" pitchFamily="49" charset="0"/>
              </a:rPr>
              <a:t>assert</a:t>
            </a:r>
            <a:r>
              <a:rPr lang="es-MX" sz="2000" dirty="0"/>
              <a:t>, cada ejecución también las corre:</a:t>
            </a:r>
          </a:p>
          <a:p>
            <a:pPr rtl="0"/>
            <a:endParaRPr lang="es-MX" sz="2000" dirty="0"/>
          </a:p>
          <a:p>
            <a:pPr rtl="0"/>
            <a:endParaRPr lang="es-MX" sz="2000" dirty="0"/>
          </a:p>
          <a:p>
            <a:pPr rtl="0"/>
            <a:endParaRPr lang="es-MX" sz="2000" dirty="0"/>
          </a:p>
          <a:p>
            <a:pPr rtl="0"/>
            <a:endParaRPr lang="es-MX" sz="2000" dirty="0"/>
          </a:p>
          <a:p>
            <a:pPr rtl="0"/>
            <a:endParaRPr lang="es-MX" sz="2000" dirty="0"/>
          </a:p>
          <a:p>
            <a:pPr rtl="0"/>
            <a:r>
              <a:rPr lang="es-MX" sz="2000" dirty="0"/>
              <a:t>Desde la consola se puede probar una función a mano, sin pasar por el resto del programa.</a:t>
            </a:r>
          </a:p>
        </p:txBody>
      </p:sp>
      <p:graphicFrame>
        <p:nvGraphicFramePr>
          <p:cNvPr id="4" name="Tabla 3">
            <a:extLst>
              <a:ext uri="{FF2B5EF4-FFF2-40B4-BE49-F238E27FC236}">
                <a16:creationId xmlns:a16="http://schemas.microsoft.com/office/drawing/2014/main" id="{371101E2-00EC-42F9-A7EF-2B0671A39FB0}"/>
              </a:ext>
            </a:extLst>
          </p:cNvPr>
          <p:cNvGraphicFramePr>
            <a:graphicFrameLocks noGrp="1"/>
          </p:cNvGraphicFramePr>
          <p:nvPr>
            <p:extLst>
              <p:ext uri="{D42A27DB-BD31-4B8C-83A1-F6EECF244321}">
                <p14:modId xmlns:p14="http://schemas.microsoft.com/office/powerpoint/2010/main" val="1462797697"/>
              </p:ext>
            </p:extLst>
          </p:nvPr>
        </p:nvGraphicFramePr>
        <p:xfrm>
          <a:off x="548097" y="2286281"/>
          <a:ext cx="7903790" cy="1097280"/>
        </p:xfrm>
        <a:graphic>
          <a:graphicData uri="http://schemas.openxmlformats.org/drawingml/2006/table">
            <a:tbl>
              <a:tblPr/>
              <a:tblGrid>
                <a:gridCol w="1823289">
                  <a:extLst>
                    <a:ext uri="{9D8B030D-6E8A-4147-A177-3AD203B41FA5}">
                      <a16:colId xmlns:a16="http://schemas.microsoft.com/office/drawing/2014/main" val="3574675489"/>
                    </a:ext>
                  </a:extLst>
                </a:gridCol>
                <a:gridCol w="6080501">
                  <a:extLst>
                    <a:ext uri="{9D8B030D-6E8A-4147-A177-3AD203B41FA5}">
                      <a16:colId xmlns:a16="http://schemas.microsoft.com/office/drawing/2014/main" val="3268115606"/>
                    </a:ext>
                  </a:extLst>
                </a:gridCol>
              </a:tblGrid>
              <a:tr h="169908">
                <a:tc>
                  <a:txBody>
                    <a:bodyPr/>
                    <a:lstStyle/>
                    <a:p>
                      <a:r>
                        <a:rPr lang="es-CO" b="1" dirty="0"/>
                        <a:t>Si las pruebas…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b="1" dirty="0"/>
                        <a:t>El programa…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002223135"/>
                  </a:ext>
                </a:extLst>
              </a:tr>
              <a:tr h="239082">
                <a:tc>
                  <a:txBody>
                    <a:bodyPr/>
                    <a:lstStyle/>
                    <a:p>
                      <a:r>
                        <a:rPr lang="es-CO"/>
                        <a:t>pasan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a:t>sigue sin mostrar nada y arranca normalmente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61939389"/>
                  </a:ext>
                </a:extLst>
              </a:tr>
              <a:tr h="239082">
                <a:tc>
                  <a:txBody>
                    <a:bodyPr/>
                    <a:lstStyle/>
                    <a:p>
                      <a:r>
                        <a:rPr lang="es-CO" dirty="0"/>
                        <a:t>fallan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dirty="0"/>
                        <a:t>se detiene con </a:t>
                      </a:r>
                      <a:r>
                        <a:rPr lang="es-CO" sz="1600" b="1" dirty="0">
                          <a:latin typeface="Consolas" panose="020B0609020204030204" pitchFamily="49" charset="0"/>
                        </a:rPr>
                        <a:t>AssertionError</a:t>
                      </a:r>
                      <a:r>
                        <a:rPr lang="es-CO" dirty="0"/>
                        <a:t> e indica la línea que falló</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18216"/>
                  </a:ext>
                </a:extLst>
              </a:tr>
            </a:tbl>
          </a:graphicData>
        </a:graphic>
      </p:graphicFrame>
      <p:grpSp>
        <p:nvGrpSpPr>
          <p:cNvPr id="20" name="Grupo 19">
            <a:extLst>
              <a:ext uri="{FF2B5EF4-FFF2-40B4-BE49-F238E27FC236}">
                <a16:creationId xmlns:a16="http://schemas.microsoft.com/office/drawing/2014/main" id="{B7A70183-C218-4E0F-B5CE-380CC3734A69}"/>
              </a:ext>
            </a:extLst>
          </p:cNvPr>
          <p:cNvGrpSpPr/>
          <p:nvPr/>
        </p:nvGrpSpPr>
        <p:grpSpPr>
          <a:xfrm>
            <a:off x="334703" y="4509120"/>
            <a:ext cx="4309305" cy="1985346"/>
            <a:chOff x="190687" y="4648388"/>
            <a:chExt cx="4309305" cy="1985346"/>
          </a:xfrm>
        </p:grpSpPr>
        <p:pic>
          <p:nvPicPr>
            <p:cNvPr id="12" name="Imagen 11">
              <a:extLst>
                <a:ext uri="{FF2B5EF4-FFF2-40B4-BE49-F238E27FC236}">
                  <a16:creationId xmlns:a16="http://schemas.microsoft.com/office/drawing/2014/main" id="{10DD6329-8EAD-46C0-B6C6-8976BDE27D62}"/>
                </a:ext>
              </a:extLst>
            </p:cNvPr>
            <p:cNvPicPr>
              <a:picLocks noChangeAspect="1"/>
            </p:cNvPicPr>
            <p:nvPr/>
          </p:nvPicPr>
          <p:blipFill>
            <a:blip r:embed="rId2"/>
            <a:stretch>
              <a:fillRect/>
            </a:stretch>
          </p:blipFill>
          <p:spPr>
            <a:xfrm>
              <a:off x="190687" y="4648388"/>
              <a:ext cx="4309305" cy="1659789"/>
            </a:xfrm>
            <a:prstGeom prst="rect">
              <a:avLst/>
            </a:prstGeom>
          </p:spPr>
        </p:pic>
        <p:sp>
          <p:nvSpPr>
            <p:cNvPr id="18" name="CuadroTexto 17">
              <a:extLst>
                <a:ext uri="{FF2B5EF4-FFF2-40B4-BE49-F238E27FC236}">
                  <a16:creationId xmlns:a16="http://schemas.microsoft.com/office/drawing/2014/main" id="{64C08CE6-C0E4-4EA5-9345-4271AF5D04E7}"/>
                </a:ext>
              </a:extLst>
            </p:cNvPr>
            <p:cNvSpPr txBox="1"/>
            <p:nvPr/>
          </p:nvSpPr>
          <p:spPr>
            <a:xfrm>
              <a:off x="548097" y="6356735"/>
              <a:ext cx="3519847" cy="276999"/>
            </a:xfrm>
            <a:prstGeom prst="rect">
              <a:avLst/>
            </a:prstGeom>
            <a:noFill/>
          </p:spPr>
          <p:txBody>
            <a:bodyPr wrap="square">
              <a:spAutoFit/>
            </a:bodyPr>
            <a:lstStyle/>
            <a:p>
              <a:pPr algn="ctr"/>
              <a:r>
                <a:rPr lang="es-CO" sz="1200" b="1" dirty="0"/>
                <a:t>Una prueba falla</a:t>
              </a:r>
              <a:r>
                <a:rPr lang="es-CO" sz="1200" dirty="0"/>
                <a:t>. </a:t>
              </a:r>
              <a:r>
                <a:rPr lang="es-CO" sz="1100" dirty="0">
                  <a:solidFill>
                    <a:srgbClr val="C00000"/>
                  </a:solidFill>
                  <a:latin typeface="Consolas" panose="020B0609020204030204" pitchFamily="49" charset="0"/>
                </a:rPr>
                <a:t>AssertionError</a:t>
              </a:r>
              <a:endParaRPr lang="es-CO" sz="1200" dirty="0">
                <a:solidFill>
                  <a:srgbClr val="C00000"/>
                </a:solidFill>
                <a:latin typeface="Consolas" panose="020B0609020204030204" pitchFamily="49" charset="0"/>
              </a:endParaRPr>
            </a:p>
          </p:txBody>
        </p:sp>
      </p:grpSp>
      <p:grpSp>
        <p:nvGrpSpPr>
          <p:cNvPr id="21" name="Grupo 20">
            <a:extLst>
              <a:ext uri="{FF2B5EF4-FFF2-40B4-BE49-F238E27FC236}">
                <a16:creationId xmlns:a16="http://schemas.microsoft.com/office/drawing/2014/main" id="{E6458546-8D6F-42EC-B78D-88CC08DA3B61}"/>
              </a:ext>
            </a:extLst>
          </p:cNvPr>
          <p:cNvGrpSpPr/>
          <p:nvPr/>
        </p:nvGrpSpPr>
        <p:grpSpPr>
          <a:xfrm>
            <a:off x="4716016" y="4509120"/>
            <a:ext cx="4200052" cy="1985346"/>
            <a:chOff x="4675462" y="4648388"/>
            <a:chExt cx="4200052" cy="1985346"/>
          </a:xfrm>
        </p:grpSpPr>
        <p:pic>
          <p:nvPicPr>
            <p:cNvPr id="15" name="Imagen 14">
              <a:extLst>
                <a:ext uri="{FF2B5EF4-FFF2-40B4-BE49-F238E27FC236}">
                  <a16:creationId xmlns:a16="http://schemas.microsoft.com/office/drawing/2014/main" id="{3C9039C5-C96B-4133-8E08-AA351C36B0C2}"/>
                </a:ext>
              </a:extLst>
            </p:cNvPr>
            <p:cNvPicPr>
              <a:picLocks noChangeAspect="1"/>
            </p:cNvPicPr>
            <p:nvPr/>
          </p:nvPicPr>
          <p:blipFill>
            <a:blip r:embed="rId3"/>
            <a:stretch>
              <a:fillRect/>
            </a:stretch>
          </p:blipFill>
          <p:spPr>
            <a:xfrm>
              <a:off x="4675462" y="4648388"/>
              <a:ext cx="4200052" cy="1664537"/>
            </a:xfrm>
            <a:prstGeom prst="rect">
              <a:avLst/>
            </a:prstGeom>
          </p:spPr>
        </p:pic>
        <p:sp>
          <p:nvSpPr>
            <p:cNvPr id="19" name="CuadroTexto 18">
              <a:extLst>
                <a:ext uri="{FF2B5EF4-FFF2-40B4-BE49-F238E27FC236}">
                  <a16:creationId xmlns:a16="http://schemas.microsoft.com/office/drawing/2014/main" id="{CE4F8FD7-513E-4507-BA97-8739672C92A7}"/>
                </a:ext>
              </a:extLst>
            </p:cNvPr>
            <p:cNvSpPr txBox="1"/>
            <p:nvPr/>
          </p:nvSpPr>
          <p:spPr>
            <a:xfrm>
              <a:off x="5015564" y="6356735"/>
              <a:ext cx="3519847" cy="276999"/>
            </a:xfrm>
            <a:prstGeom prst="rect">
              <a:avLst/>
            </a:prstGeom>
            <a:noFill/>
          </p:spPr>
          <p:txBody>
            <a:bodyPr wrap="square">
              <a:spAutoFit/>
            </a:bodyPr>
            <a:lstStyle/>
            <a:p>
              <a:pPr algn="ctr"/>
              <a:r>
                <a:rPr lang="es-CO" sz="1200" b="1" dirty="0"/>
                <a:t>Probar función individualmente</a:t>
              </a:r>
              <a:r>
                <a:rPr lang="es-CO" sz="1200" dirty="0"/>
                <a:t>. </a:t>
              </a:r>
              <a:r>
                <a:rPr lang="es-CO" sz="1100" dirty="0">
                  <a:solidFill>
                    <a:srgbClr val="C00000"/>
                  </a:solidFill>
                  <a:latin typeface="Consolas" panose="020B0609020204030204" pitchFamily="49" charset="0"/>
                </a:rPr>
                <a:t>python -i</a:t>
              </a:r>
              <a:endParaRPr lang="es-CO" sz="1200" dirty="0">
                <a:solidFill>
                  <a:srgbClr val="C00000"/>
                </a:solidFill>
                <a:latin typeface="Consolas" panose="020B0609020204030204" pitchFamily="49" charset="0"/>
              </a:endParaRPr>
            </a:p>
          </p:txBody>
        </p:sp>
      </p:grpSp>
    </p:spTree>
    <p:extLst>
      <p:ext uri="{BB962C8B-B14F-4D97-AF65-F5344CB8AC3E}">
        <p14:creationId xmlns:p14="http://schemas.microsoft.com/office/powerpoint/2010/main" val="29826077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Especificación de una función</a:t>
            </a:r>
            <a:endParaRPr lang="es-CO" sz="3600" dirty="0"/>
          </a:p>
        </p:txBody>
      </p:sp>
      <p:sp>
        <p:nvSpPr>
          <p:cNvPr id="13" name="12 Rectángulo"/>
          <p:cNvSpPr/>
          <p:nvPr/>
        </p:nvSpPr>
        <p:spPr>
          <a:xfrm>
            <a:off x="251520" y="692696"/>
            <a:ext cx="8496944" cy="4093428"/>
          </a:xfrm>
          <a:prstGeom prst="rect">
            <a:avLst/>
          </a:prstGeom>
        </p:spPr>
        <p:txBody>
          <a:bodyPr wrap="square">
            <a:spAutoFit/>
          </a:bodyPr>
          <a:lstStyle/>
          <a:p>
            <a:pPr marL="342900" indent="-342900" rtl="0">
              <a:buFont typeface="Arial" panose="020B0604020202020204" pitchFamily="34" charset="0"/>
              <a:buChar char="•"/>
            </a:pPr>
            <a:r>
              <a:rPr lang="es-MX" sz="2000" b="1" dirty="0"/>
              <a:t>¿Cómo alguien sabe como usar una función que no escribió? </a:t>
            </a:r>
            <a:r>
              <a:rPr lang="es-MX" sz="2000" dirty="0"/>
              <a:t>Leyendo su especificación.</a:t>
            </a:r>
          </a:p>
          <a:p>
            <a:pPr marL="342900" indent="-342900" rtl="0">
              <a:buFont typeface="Arial" panose="020B0604020202020204" pitchFamily="34" charset="0"/>
              <a:buChar char="•"/>
            </a:pPr>
            <a:r>
              <a:rPr lang="es-MX" sz="2000" dirty="0"/>
              <a:t>La especificación es un </a:t>
            </a:r>
            <a:r>
              <a:rPr lang="es-MX" sz="2000" b="1" dirty="0"/>
              <a:t>contrato</a:t>
            </a:r>
            <a:r>
              <a:rPr lang="es-MX" sz="2000" dirty="0"/>
              <a:t> entre dos personas:</a:t>
            </a:r>
          </a:p>
          <a:p>
            <a:pPr rtl="0"/>
            <a:endParaRPr lang="es-MX" sz="2000" dirty="0"/>
          </a:p>
          <a:p>
            <a:pPr rtl="0"/>
            <a:endParaRPr lang="es-MX" sz="2000" dirty="0"/>
          </a:p>
          <a:p>
            <a:pPr rtl="0"/>
            <a:endParaRPr lang="es-MX" sz="2000" dirty="0"/>
          </a:p>
          <a:p>
            <a:pPr rtl="0"/>
            <a:endParaRPr lang="es-MX" sz="2000" dirty="0"/>
          </a:p>
          <a:p>
            <a:pPr rtl="0"/>
            <a:endParaRPr lang="es-MX" sz="2000" dirty="0"/>
          </a:p>
          <a:p>
            <a:pPr rtl="0"/>
            <a:endParaRPr lang="es-MX" sz="2000" dirty="0"/>
          </a:p>
          <a:p>
            <a:pPr rtl="0"/>
            <a:r>
              <a:rPr lang="es-MX" sz="2000" dirty="0"/>
              <a:t>En Python la especificación se escribe como un </a:t>
            </a:r>
            <a:r>
              <a:rPr lang="es-MX" sz="2000" b="1" dirty="0" err="1"/>
              <a:t>docstring</a:t>
            </a:r>
            <a:r>
              <a:rPr lang="es-MX" sz="2000" dirty="0"/>
              <a:t>, un texto entre </a:t>
            </a:r>
            <a:r>
              <a:rPr lang="es-MX" sz="2000" b="1" dirty="0">
                <a:latin typeface="Consolas" panose="020B0609020204030204" pitchFamily="49" charset="0"/>
              </a:rPr>
              <a:t>"""</a:t>
            </a:r>
            <a:r>
              <a:rPr lang="es-MX" sz="2000" dirty="0"/>
              <a:t> justo debajo del </a:t>
            </a:r>
            <a:r>
              <a:rPr lang="es-MX" b="1" dirty="0">
                <a:latin typeface="Consolas" panose="020B0609020204030204" pitchFamily="49" charset="0"/>
              </a:rPr>
              <a:t>def</a:t>
            </a:r>
            <a:r>
              <a:rPr lang="es-MX" sz="2000" dirty="0"/>
              <a:t>:</a:t>
            </a:r>
          </a:p>
          <a:p>
            <a:pPr rtl="0"/>
            <a:endParaRPr lang="es-MX" sz="2000" dirty="0"/>
          </a:p>
          <a:p>
            <a:pPr rtl="0"/>
            <a:r>
              <a:rPr lang="es-MX" sz="2000" dirty="0"/>
              <a:t>.</a:t>
            </a:r>
          </a:p>
        </p:txBody>
      </p:sp>
      <p:graphicFrame>
        <p:nvGraphicFramePr>
          <p:cNvPr id="2" name="Tabla 1">
            <a:extLst>
              <a:ext uri="{FF2B5EF4-FFF2-40B4-BE49-F238E27FC236}">
                <a16:creationId xmlns:a16="http://schemas.microsoft.com/office/drawing/2014/main" id="{7E039131-45CF-45B1-B92A-A0FDBFC085EC}"/>
              </a:ext>
            </a:extLst>
          </p:cNvPr>
          <p:cNvGraphicFramePr>
            <a:graphicFrameLocks noGrp="1"/>
          </p:cNvGraphicFramePr>
          <p:nvPr>
            <p:extLst>
              <p:ext uri="{D42A27DB-BD31-4B8C-83A1-F6EECF244321}">
                <p14:modId xmlns:p14="http://schemas.microsoft.com/office/powerpoint/2010/main" val="2877706279"/>
              </p:ext>
            </p:extLst>
          </p:nvPr>
        </p:nvGraphicFramePr>
        <p:xfrm>
          <a:off x="700658" y="1859556"/>
          <a:ext cx="7886700" cy="1425428"/>
        </p:xfrm>
        <a:graphic>
          <a:graphicData uri="http://schemas.openxmlformats.org/drawingml/2006/table">
            <a:tbl>
              <a:tblPr/>
              <a:tblGrid>
                <a:gridCol w="1423070">
                  <a:extLst>
                    <a:ext uri="{9D8B030D-6E8A-4147-A177-3AD203B41FA5}">
                      <a16:colId xmlns:a16="http://schemas.microsoft.com/office/drawing/2014/main" val="2146422416"/>
                    </a:ext>
                  </a:extLst>
                </a:gridCol>
                <a:gridCol w="3231815">
                  <a:extLst>
                    <a:ext uri="{9D8B030D-6E8A-4147-A177-3AD203B41FA5}">
                      <a16:colId xmlns:a16="http://schemas.microsoft.com/office/drawing/2014/main" val="330043027"/>
                    </a:ext>
                  </a:extLst>
                </a:gridCol>
                <a:gridCol w="3231815">
                  <a:extLst>
                    <a:ext uri="{9D8B030D-6E8A-4147-A177-3AD203B41FA5}">
                      <a16:colId xmlns:a16="http://schemas.microsoft.com/office/drawing/2014/main" val="315987617"/>
                    </a:ext>
                  </a:extLst>
                </a:gridCol>
              </a:tblGrid>
              <a:tr h="277563">
                <a:tc>
                  <a:txBody>
                    <a:bodyPr/>
                    <a:lstStyle/>
                    <a:p>
                      <a:endParaRPr lang="es-CO" dirty="0"/>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s-CO" b="1" dirty="0"/>
                        <a:t>Quién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CO" b="1" dirty="0"/>
                        <a:t>Compromiso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06432187"/>
                  </a:ext>
                </a:extLst>
              </a:tr>
              <a:tr h="277563">
                <a:tc>
                  <a:txBody>
                    <a:bodyPr/>
                    <a:lstStyle/>
                    <a:p>
                      <a:r>
                        <a:rPr lang="es-CO" b="1" dirty="0"/>
                        <a:t>Supone</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dirty="0"/>
                        <a:t>quien </a:t>
                      </a:r>
                      <a:r>
                        <a:rPr lang="es-CO" b="1" dirty="0"/>
                        <a:t>usa</a:t>
                      </a:r>
                      <a:r>
                        <a:rPr lang="es-CO" dirty="0"/>
                        <a:t> la función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a:t>Entregar datos válidos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00348133"/>
                  </a:ext>
                </a:extLst>
              </a:tr>
              <a:tr h="693908">
                <a:tc>
                  <a:txBody>
                    <a:bodyPr/>
                    <a:lstStyle/>
                    <a:p>
                      <a:r>
                        <a:rPr lang="es-CO" b="1" dirty="0"/>
                        <a:t>Garantiza</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dirty="0"/>
                        <a:t>quien </a:t>
                      </a:r>
                      <a:r>
                        <a:rPr lang="es-CO" b="1" dirty="0"/>
                        <a:t>escribe</a:t>
                      </a:r>
                      <a:r>
                        <a:rPr lang="es-CO" dirty="0"/>
                        <a:t> la función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Devolver el resultado correcto, si los datos son válidos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8670825"/>
                  </a:ext>
                </a:extLst>
              </a:tr>
            </a:tbl>
          </a:graphicData>
        </a:graphic>
      </p:graphicFrame>
      <p:sp>
        <p:nvSpPr>
          <p:cNvPr id="14" name="CuadroTexto 13">
            <a:extLst>
              <a:ext uri="{FF2B5EF4-FFF2-40B4-BE49-F238E27FC236}">
                <a16:creationId xmlns:a16="http://schemas.microsoft.com/office/drawing/2014/main" id="{D83DB4B9-95E5-4BAF-80DB-597DA250B962}"/>
              </a:ext>
            </a:extLst>
          </p:cNvPr>
          <p:cNvSpPr txBox="1"/>
          <p:nvPr/>
        </p:nvSpPr>
        <p:spPr>
          <a:xfrm>
            <a:off x="1547081" y="4221088"/>
            <a:ext cx="6301358" cy="2492990"/>
          </a:xfrm>
          <a:prstGeom prst="rect">
            <a:avLst/>
          </a:prstGeom>
          <a:noFill/>
          <a:ln>
            <a:solidFill>
              <a:schemeClr val="tx1"/>
            </a:solidFill>
          </a:ln>
        </p:spPr>
        <p:txBody>
          <a:bodyPr wrap="square">
            <a:spAutoFit/>
          </a:bodyPr>
          <a:lstStyle/>
          <a:p>
            <a:r>
              <a:rPr lang="es-CO" sz="1200" dirty="0" err="1">
                <a:latin typeface="Consolas" panose="020B0609020204030204" pitchFamily="49" charset="0"/>
              </a:rPr>
              <a:t>def</a:t>
            </a:r>
            <a:r>
              <a:rPr lang="es-CO" sz="1200" dirty="0">
                <a:latin typeface="Consolas" panose="020B0609020204030204" pitchFamily="49" charset="0"/>
              </a:rPr>
              <a:t> </a:t>
            </a:r>
            <a:r>
              <a:rPr lang="es-CO" sz="1200" dirty="0" err="1">
                <a:latin typeface="Consolas" panose="020B0609020204030204" pitchFamily="49" charset="0"/>
              </a:rPr>
              <a:t>celsius_a_kelvin</a:t>
            </a:r>
            <a:r>
              <a:rPr lang="es-CO" sz="1200" dirty="0">
                <a:latin typeface="Consolas" panose="020B0609020204030204" pitchFamily="49" charset="0"/>
              </a:rPr>
              <a:t>(</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    </a:t>
            </a:r>
            <a:r>
              <a:rPr lang="es-CO" sz="1200" dirty="0">
                <a:solidFill>
                  <a:srgbClr val="00B050"/>
                </a:solidFill>
                <a:latin typeface="Consolas" panose="020B0609020204030204" pitchFamily="49" charset="0"/>
              </a:rPr>
              <a:t>"""</a:t>
            </a:r>
          </a:p>
          <a:p>
            <a:r>
              <a:rPr lang="es-CO" sz="1200" dirty="0">
                <a:solidFill>
                  <a:srgbClr val="00B050"/>
                </a:solidFill>
                <a:latin typeface="Consolas" panose="020B0609020204030204" pitchFamily="49" charset="0"/>
              </a:rPr>
              <a:t>    Convierte una temperatura de grados Celsius a Kelvin.</a:t>
            </a:r>
          </a:p>
          <a:p>
            <a:endParaRPr lang="es-CO" sz="1200" dirty="0">
              <a:solidFill>
                <a:srgbClr val="00B050"/>
              </a:solidFill>
              <a:latin typeface="Consolas" panose="020B0609020204030204" pitchFamily="49" charset="0"/>
            </a:endParaRPr>
          </a:p>
          <a:p>
            <a:r>
              <a:rPr lang="es-CO" sz="1200" dirty="0">
                <a:solidFill>
                  <a:srgbClr val="00B050"/>
                </a:solidFill>
                <a:latin typeface="Consolas" panose="020B0609020204030204" pitchFamily="49" charset="0"/>
              </a:rPr>
              <a:t>    Supone:</a:t>
            </a:r>
          </a:p>
          <a:p>
            <a:r>
              <a:rPr lang="es-CO" sz="1200" dirty="0">
                <a:solidFill>
                  <a:srgbClr val="00B050"/>
                </a:solidFill>
                <a:latin typeface="Consolas" panose="020B0609020204030204" pitchFamily="49" charset="0"/>
              </a:rPr>
              <a:t>        </a:t>
            </a:r>
            <a:r>
              <a:rPr lang="es-CO" sz="1200" dirty="0" err="1">
                <a:solidFill>
                  <a:srgbClr val="00B050"/>
                </a:solidFill>
                <a:latin typeface="Consolas" panose="020B0609020204030204" pitchFamily="49" charset="0"/>
              </a:rPr>
              <a:t>temp_c</a:t>
            </a:r>
            <a:r>
              <a:rPr lang="es-CO" sz="1200" dirty="0">
                <a:solidFill>
                  <a:srgbClr val="00B050"/>
                </a:solidFill>
                <a:latin typeface="Consolas" panose="020B0609020204030204" pitchFamily="49" charset="0"/>
              </a:rPr>
              <a:t> es un número (</a:t>
            </a:r>
            <a:r>
              <a:rPr lang="es-CO" sz="1200" dirty="0" err="1">
                <a:solidFill>
                  <a:srgbClr val="00B050"/>
                </a:solidFill>
                <a:latin typeface="Consolas" panose="020B0609020204030204" pitchFamily="49" charset="0"/>
              </a:rPr>
              <a:t>int</a:t>
            </a:r>
            <a:r>
              <a:rPr lang="es-CO" sz="1200" dirty="0">
                <a:solidFill>
                  <a:srgbClr val="00B050"/>
                </a:solidFill>
                <a:latin typeface="Consolas" panose="020B0609020204030204" pitchFamily="49" charset="0"/>
              </a:rPr>
              <a:t> o </a:t>
            </a:r>
            <a:r>
              <a:rPr lang="es-CO" sz="1200" dirty="0" err="1">
                <a:solidFill>
                  <a:srgbClr val="00B050"/>
                </a:solidFill>
                <a:latin typeface="Consolas" panose="020B0609020204030204" pitchFamily="49" charset="0"/>
              </a:rPr>
              <a:t>float</a:t>
            </a:r>
            <a:r>
              <a:rPr lang="es-CO" sz="1200" dirty="0">
                <a:solidFill>
                  <a:srgbClr val="00B050"/>
                </a:solidFill>
                <a:latin typeface="Consolas" panose="020B0609020204030204" pitchFamily="49" charset="0"/>
              </a:rPr>
              <a:t>) mayor o igual a -273.15</a:t>
            </a:r>
          </a:p>
          <a:p>
            <a:r>
              <a:rPr lang="es-CO" sz="1200" dirty="0">
                <a:solidFill>
                  <a:srgbClr val="00B050"/>
                </a:solidFill>
                <a:latin typeface="Consolas" panose="020B0609020204030204" pitchFamily="49" charset="0"/>
              </a:rPr>
              <a:t>        (el cero absoluto).</a:t>
            </a:r>
          </a:p>
          <a:p>
            <a:r>
              <a:rPr lang="es-CO" sz="1200" dirty="0">
                <a:solidFill>
                  <a:srgbClr val="00B050"/>
                </a:solidFill>
                <a:latin typeface="Consolas" panose="020B0609020204030204" pitchFamily="49" charset="0"/>
              </a:rPr>
              <a:t>    Garantiza:</a:t>
            </a:r>
          </a:p>
          <a:p>
            <a:r>
              <a:rPr lang="es-CO" sz="1200" dirty="0">
                <a:solidFill>
                  <a:srgbClr val="00B050"/>
                </a:solidFill>
                <a:latin typeface="Consolas" panose="020B0609020204030204" pitchFamily="49" charset="0"/>
              </a:rPr>
              <a:t>        Retorna la temperatura equivalente en Kelvin (</a:t>
            </a:r>
            <a:r>
              <a:rPr lang="es-CO" sz="1200" dirty="0" err="1">
                <a:solidFill>
                  <a:srgbClr val="00B050"/>
                </a:solidFill>
                <a:latin typeface="Consolas" panose="020B0609020204030204" pitchFamily="49" charset="0"/>
              </a:rPr>
              <a:t>float</a:t>
            </a:r>
            <a:r>
              <a:rPr lang="es-CO" sz="1200" dirty="0">
                <a:solidFill>
                  <a:srgbClr val="00B050"/>
                </a:solidFill>
                <a:latin typeface="Consolas" panose="020B0609020204030204" pitchFamily="49" charset="0"/>
              </a:rPr>
              <a:t>),</a:t>
            </a:r>
          </a:p>
          <a:p>
            <a:r>
              <a:rPr lang="es-CO" sz="1200" dirty="0">
                <a:solidFill>
                  <a:srgbClr val="00B050"/>
                </a:solidFill>
                <a:latin typeface="Consolas" panose="020B0609020204030204" pitchFamily="49" charset="0"/>
              </a:rPr>
              <a:t>        mayor o igual a 0.</a:t>
            </a:r>
          </a:p>
          <a:p>
            <a:r>
              <a:rPr lang="es-CO" sz="1200" dirty="0">
                <a:solidFill>
                  <a:srgbClr val="00B050"/>
                </a:solidFill>
                <a:latin typeface="Consolas" panose="020B0609020204030204" pitchFamily="49" charset="0"/>
              </a:rPr>
              <a:t>    """</a:t>
            </a:r>
          </a:p>
          <a:p>
            <a:r>
              <a:rPr lang="es-CO" sz="1200" dirty="0">
                <a:latin typeface="Consolas" panose="020B0609020204030204" pitchFamily="49" charset="0"/>
              </a:rPr>
              <a:t>    </a:t>
            </a:r>
            <a:r>
              <a:rPr lang="es-CO" sz="1200" dirty="0" err="1">
                <a:latin typeface="Consolas" panose="020B0609020204030204" pitchFamily="49" charset="0"/>
              </a:rPr>
              <a:t>temp_k</a:t>
            </a:r>
            <a:r>
              <a:rPr lang="es-CO" sz="1200" dirty="0">
                <a:latin typeface="Consolas" panose="020B0609020204030204" pitchFamily="49" charset="0"/>
              </a:rPr>
              <a:t> = </a:t>
            </a:r>
            <a:r>
              <a:rPr lang="es-CO" sz="1200" dirty="0" err="1">
                <a:latin typeface="Consolas" panose="020B0609020204030204" pitchFamily="49" charset="0"/>
              </a:rPr>
              <a:t>temp_c</a:t>
            </a:r>
            <a:r>
              <a:rPr lang="es-CO" sz="1200" dirty="0">
                <a:latin typeface="Consolas" panose="020B0609020204030204" pitchFamily="49" charset="0"/>
              </a:rPr>
              <a:t> + 273.15</a:t>
            </a:r>
          </a:p>
          <a:p>
            <a:r>
              <a:rPr lang="es-CO" sz="1200" dirty="0">
                <a:latin typeface="Consolas" panose="020B0609020204030204" pitchFamily="49" charset="0"/>
              </a:rPr>
              <a:t>    </a:t>
            </a:r>
            <a:r>
              <a:rPr lang="es-CO" sz="1200" dirty="0" err="1">
                <a:latin typeface="Consolas" panose="020B0609020204030204" pitchFamily="49" charset="0"/>
              </a:rPr>
              <a:t>return</a:t>
            </a:r>
            <a:r>
              <a:rPr lang="es-CO" sz="1200" dirty="0">
                <a:latin typeface="Consolas" panose="020B0609020204030204" pitchFamily="49" charset="0"/>
              </a:rPr>
              <a:t> </a:t>
            </a:r>
            <a:r>
              <a:rPr lang="es-CO" sz="1200" dirty="0" err="1">
                <a:latin typeface="Consolas" panose="020B0609020204030204" pitchFamily="49" charset="0"/>
              </a:rPr>
              <a:t>temp_k</a:t>
            </a:r>
            <a:endParaRPr lang="es-CO" sz="1200" dirty="0">
              <a:latin typeface="Consolas" panose="020B0609020204030204" pitchFamily="49" charset="0"/>
            </a:endParaRPr>
          </a:p>
        </p:txBody>
      </p:sp>
    </p:spTree>
    <p:extLst>
      <p:ext uri="{BB962C8B-B14F-4D97-AF65-F5344CB8AC3E}">
        <p14:creationId xmlns:p14="http://schemas.microsoft.com/office/powerpoint/2010/main" val="22773200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Especificación de una función</a:t>
            </a:r>
            <a:endParaRPr lang="es-CO" sz="3600" dirty="0"/>
          </a:p>
        </p:txBody>
      </p:sp>
      <p:sp>
        <p:nvSpPr>
          <p:cNvPr id="13" name="12 Rectángulo"/>
          <p:cNvSpPr/>
          <p:nvPr/>
        </p:nvSpPr>
        <p:spPr>
          <a:xfrm>
            <a:off x="269193" y="749017"/>
            <a:ext cx="8640960" cy="5632311"/>
          </a:xfrm>
          <a:prstGeom prst="rect">
            <a:avLst/>
          </a:prstGeom>
        </p:spPr>
        <p:txBody>
          <a:bodyPr wrap="square">
            <a:spAutoFit/>
          </a:bodyPr>
          <a:lstStyle/>
          <a:p>
            <a:pPr rtl="0"/>
            <a:r>
              <a:rPr lang="es-MX" sz="2000" b="1" dirty="0"/>
              <a:t>Idea clave</a:t>
            </a:r>
            <a:r>
              <a:rPr lang="es-MX" sz="2000" dirty="0"/>
              <a:t>: Con la especificación, una persona puede usar una función sin leer su código. Así varias personas pueden construir un mismo programa.</a:t>
            </a:r>
          </a:p>
          <a:p>
            <a:pPr marL="457200" indent="-457200" rtl="0">
              <a:buFont typeface="+mj-lt"/>
              <a:buAutoNum type="arabicPeriod"/>
            </a:pPr>
            <a:r>
              <a:rPr lang="es-MX" sz="2000" dirty="0"/>
              <a:t>Para consultar como usar una función se emplea: </a:t>
            </a:r>
            <a:r>
              <a:rPr lang="es-MX" b="1" dirty="0">
                <a:latin typeface="Consolas" panose="020B0609020204030204" pitchFamily="49" charset="0"/>
              </a:rPr>
              <a:t>help()</a:t>
            </a:r>
          </a:p>
          <a:p>
            <a:pPr marL="457200" indent="-457200" rtl="0">
              <a:buFont typeface="+mj-lt"/>
              <a:buAutoNum type="arabicPeriod"/>
            </a:pPr>
            <a:endParaRPr lang="es-MX" sz="2000" b="1" dirty="0">
              <a:latin typeface="Consolas" panose="020B0609020204030204" pitchFamily="49" charset="0"/>
            </a:endParaRPr>
          </a:p>
          <a:p>
            <a:pPr marL="457200" indent="-457200" rtl="0">
              <a:buFont typeface="+mj-lt"/>
              <a:buAutoNum type="arabicPeriod"/>
            </a:pPr>
            <a:endParaRPr lang="es-MX" sz="2000" b="1" dirty="0">
              <a:latin typeface="Consolas" panose="020B0609020204030204" pitchFamily="49" charset="0"/>
            </a:endParaRPr>
          </a:p>
          <a:p>
            <a:pPr marL="457200" indent="-457200" rtl="0">
              <a:buFont typeface="+mj-lt"/>
              <a:buAutoNum type="arabicPeriod"/>
            </a:pPr>
            <a:endParaRPr lang="es-MX" sz="2000" b="1" dirty="0">
              <a:latin typeface="Consolas" panose="020B0609020204030204" pitchFamily="49" charset="0"/>
            </a:endParaRPr>
          </a:p>
          <a:p>
            <a:pPr marL="457200" indent="-457200" rtl="0">
              <a:buFont typeface="+mj-lt"/>
              <a:buAutoNum type="arabicPeriod"/>
            </a:pPr>
            <a:endParaRPr lang="es-MX" sz="2000" b="1" dirty="0">
              <a:latin typeface="Consolas" panose="020B0609020204030204" pitchFamily="49" charset="0"/>
            </a:endParaRPr>
          </a:p>
          <a:p>
            <a:pPr marL="457200" indent="-457200" rtl="0">
              <a:buFont typeface="+mj-lt"/>
              <a:buAutoNum type="arabicPeriod"/>
            </a:pPr>
            <a:endParaRPr lang="es-MX" sz="2000" b="1" dirty="0">
              <a:latin typeface="Consolas" panose="020B0609020204030204" pitchFamily="49" charset="0"/>
            </a:endParaRPr>
          </a:p>
          <a:p>
            <a:pPr marL="457200" indent="-457200" rtl="0">
              <a:buFont typeface="+mj-lt"/>
              <a:buAutoNum type="arabicPeriod"/>
            </a:pPr>
            <a:endParaRPr lang="es-MX" sz="2000" b="1" dirty="0">
              <a:latin typeface="Consolas" panose="020B0609020204030204" pitchFamily="49" charset="0"/>
            </a:endParaRPr>
          </a:p>
          <a:p>
            <a:pPr marL="457200" indent="-457200" rtl="0">
              <a:buFont typeface="+mj-lt"/>
              <a:buAutoNum type="arabicPeriod"/>
            </a:pPr>
            <a:endParaRPr lang="es-MX" sz="2000" b="1" dirty="0">
              <a:latin typeface="Consolas" panose="020B0609020204030204" pitchFamily="49" charset="0"/>
            </a:endParaRPr>
          </a:p>
          <a:p>
            <a:pPr marL="457200" indent="-457200" rtl="0">
              <a:buFont typeface="+mj-lt"/>
              <a:buAutoNum type="arabicPeriod"/>
            </a:pPr>
            <a:endParaRPr lang="es-MX" sz="2000" b="1" dirty="0">
              <a:latin typeface="Consolas" panose="020B0609020204030204" pitchFamily="49" charset="0"/>
            </a:endParaRPr>
          </a:p>
          <a:p>
            <a:pPr marL="457200" indent="-457200" rtl="0">
              <a:buFont typeface="+mj-lt"/>
              <a:buAutoNum type="arabicPeriod"/>
            </a:pPr>
            <a:r>
              <a:rPr lang="es-MX" sz="2000" dirty="0"/>
              <a:t>El programa no da error, pero el resultado </a:t>
            </a:r>
            <a:r>
              <a:rPr lang="es-MX" sz="2000" b="1" dirty="0"/>
              <a:t>no tiene sentido</a:t>
            </a:r>
            <a:r>
              <a:rPr lang="es-MX" sz="2000" dirty="0"/>
              <a:t>: no existen temperaturas en Kelvin negativas.</a:t>
            </a:r>
          </a:p>
          <a:p>
            <a:pPr marL="457200" indent="-457200" rtl="0">
              <a:buFont typeface="+mj-lt"/>
              <a:buAutoNum type="arabicPeriod"/>
            </a:pPr>
            <a:endParaRPr lang="es-MX" sz="2000" dirty="0"/>
          </a:p>
          <a:p>
            <a:pPr marL="457200" indent="-457200" rtl="0">
              <a:buFont typeface="+mj-lt"/>
              <a:buAutoNum type="arabicPeriod"/>
            </a:pPr>
            <a:endParaRPr lang="es-MX" sz="2000" b="1" dirty="0">
              <a:latin typeface="Consolas" panose="020B0609020204030204" pitchFamily="49" charset="0"/>
            </a:endParaRPr>
          </a:p>
          <a:p>
            <a:pPr marL="457200" indent="-457200" rtl="0">
              <a:buFont typeface="+mj-lt"/>
              <a:buAutoNum type="arabicPeriod"/>
            </a:pPr>
            <a:endParaRPr lang="es-MX" sz="2000" b="1" dirty="0">
              <a:latin typeface="Consolas" panose="020B0609020204030204" pitchFamily="49" charset="0"/>
            </a:endParaRPr>
          </a:p>
          <a:p>
            <a:pPr marL="457200" indent="-457200" rtl="0">
              <a:buFont typeface="+mj-lt"/>
              <a:buAutoNum type="arabicPeriod"/>
            </a:pPr>
            <a:endParaRPr lang="es-MX" sz="2000" b="1" dirty="0">
              <a:latin typeface="Consolas" panose="020B0609020204030204" pitchFamily="49" charset="0"/>
            </a:endParaRPr>
          </a:p>
          <a:p>
            <a:pPr marL="457200" indent="-457200" rtl="0">
              <a:buFont typeface="+mj-lt"/>
              <a:buAutoNum type="arabicPeriod"/>
            </a:pPr>
            <a:endParaRPr lang="es-MX" sz="2000" b="1" dirty="0">
              <a:latin typeface="Consolas" panose="020B0609020204030204" pitchFamily="49" charset="0"/>
            </a:endParaRPr>
          </a:p>
        </p:txBody>
      </p:sp>
      <p:pic>
        <p:nvPicPr>
          <p:cNvPr id="4" name="Imagen 3">
            <a:extLst>
              <a:ext uri="{FF2B5EF4-FFF2-40B4-BE49-F238E27FC236}">
                <a16:creationId xmlns:a16="http://schemas.microsoft.com/office/drawing/2014/main" id="{FE01C652-3724-4EAF-BBEB-C9F2DCA9796D}"/>
              </a:ext>
            </a:extLst>
          </p:cNvPr>
          <p:cNvPicPr>
            <a:picLocks noChangeAspect="1"/>
          </p:cNvPicPr>
          <p:nvPr/>
        </p:nvPicPr>
        <p:blipFill>
          <a:blip r:embed="rId2"/>
          <a:stretch>
            <a:fillRect/>
          </a:stretch>
        </p:blipFill>
        <p:spPr>
          <a:xfrm>
            <a:off x="1979712" y="1916832"/>
            <a:ext cx="4500500" cy="2160240"/>
          </a:xfrm>
          <a:prstGeom prst="rect">
            <a:avLst/>
          </a:prstGeom>
        </p:spPr>
      </p:pic>
      <p:sp>
        <p:nvSpPr>
          <p:cNvPr id="9" name="CuadroTexto 8">
            <a:extLst>
              <a:ext uri="{FF2B5EF4-FFF2-40B4-BE49-F238E27FC236}">
                <a16:creationId xmlns:a16="http://schemas.microsoft.com/office/drawing/2014/main" id="{D6F819BF-8F43-40F3-8FDE-ED1EE531B97F}"/>
              </a:ext>
            </a:extLst>
          </p:cNvPr>
          <p:cNvSpPr txBox="1"/>
          <p:nvPr/>
        </p:nvSpPr>
        <p:spPr>
          <a:xfrm>
            <a:off x="2267744" y="4798724"/>
            <a:ext cx="4104456" cy="738664"/>
          </a:xfrm>
          <a:prstGeom prst="rect">
            <a:avLst/>
          </a:prstGeom>
          <a:noFill/>
          <a:ln>
            <a:solidFill>
              <a:schemeClr val="tx1"/>
            </a:solidFill>
          </a:ln>
        </p:spPr>
        <p:txBody>
          <a:bodyPr wrap="square">
            <a:spAutoFit/>
          </a:bodyPr>
          <a:lstStyle/>
          <a:p>
            <a:r>
              <a:rPr lang="es-CO" sz="1400" dirty="0">
                <a:latin typeface="Consolas" panose="020B0609020204030204" pitchFamily="49" charset="0"/>
              </a:rPr>
              <a:t>Elija una </a:t>
            </a:r>
            <a:r>
              <a:rPr lang="es-CO" sz="1400" dirty="0" err="1">
                <a:latin typeface="Consolas" panose="020B0609020204030204" pitchFamily="49" charset="0"/>
              </a:rPr>
              <a:t>opcion</a:t>
            </a:r>
            <a:r>
              <a:rPr lang="es-CO" sz="1400" dirty="0">
                <a:latin typeface="Consolas" panose="020B0609020204030204" pitchFamily="49" charset="0"/>
              </a:rPr>
              <a:t>: 2</a:t>
            </a:r>
          </a:p>
          <a:p>
            <a:r>
              <a:rPr lang="es-CO" sz="1400" dirty="0">
                <a:latin typeface="Consolas" panose="020B0609020204030204" pitchFamily="49" charset="0"/>
              </a:rPr>
              <a:t>Digite la temperatura en °C: -300</a:t>
            </a:r>
          </a:p>
          <a:p>
            <a:r>
              <a:rPr lang="es-CO" sz="1400" dirty="0">
                <a:latin typeface="Consolas" panose="020B0609020204030204" pitchFamily="49" charset="0"/>
              </a:rPr>
              <a:t>-300.0°C = -26.85°K</a:t>
            </a:r>
          </a:p>
        </p:txBody>
      </p:sp>
      <p:sp>
        <p:nvSpPr>
          <p:cNvPr id="12" name="CuadroTexto 11">
            <a:extLst>
              <a:ext uri="{FF2B5EF4-FFF2-40B4-BE49-F238E27FC236}">
                <a16:creationId xmlns:a16="http://schemas.microsoft.com/office/drawing/2014/main" id="{2BD446BD-5012-47DB-9CFA-D1BC7E57A783}"/>
              </a:ext>
            </a:extLst>
          </p:cNvPr>
          <p:cNvSpPr txBox="1"/>
          <p:nvPr/>
        </p:nvSpPr>
        <p:spPr>
          <a:xfrm>
            <a:off x="269193" y="5879013"/>
            <a:ext cx="8640960" cy="646331"/>
          </a:xfrm>
          <a:prstGeom prst="rect">
            <a:avLst/>
          </a:prstGeom>
          <a:solidFill>
            <a:schemeClr val="accent6">
              <a:lumMod val="20000"/>
              <a:lumOff val="80000"/>
            </a:schemeClr>
          </a:solidFill>
        </p:spPr>
        <p:txBody>
          <a:bodyPr wrap="square">
            <a:spAutoFit/>
          </a:bodyPr>
          <a:lstStyle/>
          <a:p>
            <a:r>
              <a:rPr lang="es-CO" b="1" dirty="0"/>
              <a:t>¿De quién es la culpa?</a:t>
            </a:r>
            <a:r>
              <a:rPr lang="es-CO" dirty="0"/>
              <a:t> De quien llamó a la función con -300, porque no cumplió lo que la función supone. La función cumplió su parte.</a:t>
            </a:r>
          </a:p>
        </p:txBody>
      </p:sp>
    </p:spTree>
    <p:extLst>
      <p:ext uri="{BB962C8B-B14F-4D97-AF65-F5344CB8AC3E}">
        <p14:creationId xmlns:p14="http://schemas.microsoft.com/office/powerpoint/2010/main" val="34853262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251520" y="116632"/>
            <a:ext cx="8892480" cy="720452"/>
          </a:xfrm>
        </p:spPr>
        <p:txBody>
          <a:bodyPr>
            <a:noAutofit/>
          </a:bodyPr>
          <a:lstStyle/>
          <a:p>
            <a:r>
              <a:rPr lang="es-MX" sz="3600" dirty="0"/>
              <a:t>Ámbito de las variables</a:t>
            </a:r>
            <a:endParaRPr lang="es-CO" sz="3600" dirty="0"/>
          </a:p>
        </p:txBody>
      </p:sp>
      <p:sp>
        <p:nvSpPr>
          <p:cNvPr id="13" name="12 Rectángulo"/>
          <p:cNvSpPr/>
          <p:nvPr/>
        </p:nvSpPr>
        <p:spPr>
          <a:xfrm>
            <a:off x="269193" y="749017"/>
            <a:ext cx="8640960" cy="1323439"/>
          </a:xfrm>
          <a:prstGeom prst="rect">
            <a:avLst/>
          </a:prstGeom>
        </p:spPr>
        <p:txBody>
          <a:bodyPr wrap="square">
            <a:spAutoFit/>
          </a:bodyPr>
          <a:lstStyle/>
          <a:p>
            <a:pPr rtl="0"/>
            <a:r>
              <a:rPr lang="es-MX" sz="2000" b="1" dirty="0"/>
              <a:t>Ámbito</a:t>
            </a:r>
            <a:r>
              <a:rPr lang="es-MX" sz="2000" dirty="0"/>
              <a:t>: la parte del programa donde una variable existe y se puede usar.</a:t>
            </a:r>
          </a:p>
          <a:p>
            <a:pPr marL="342900" indent="-342900" rtl="0">
              <a:buFont typeface="Arial" panose="020B0604020202020204" pitchFamily="34" charset="0"/>
              <a:buChar char="•"/>
            </a:pPr>
            <a:r>
              <a:rPr lang="es-MX" sz="2000" b="1" dirty="0"/>
              <a:t>Variable local</a:t>
            </a:r>
            <a:r>
              <a:rPr lang="es-MX" sz="2000" dirty="0"/>
              <a:t>: se crea dentro de una función, y solo existe mientras la función se ejecuta. Los parámetros también son locales.</a:t>
            </a:r>
          </a:p>
          <a:p>
            <a:pPr marL="342900" indent="-342900" rtl="0">
              <a:buFont typeface="Arial" panose="020B0604020202020204" pitchFamily="34" charset="0"/>
              <a:buChar char="•"/>
            </a:pPr>
            <a:r>
              <a:rPr lang="es-MX" sz="2000" b="1" dirty="0"/>
              <a:t>Variable global</a:t>
            </a:r>
            <a:r>
              <a:rPr lang="es-MX" sz="2000" dirty="0"/>
              <a:t>: se crea fuera de las funciones, en el programa principal.</a:t>
            </a:r>
            <a:endParaRPr lang="es-MX" sz="2000" b="1" dirty="0">
              <a:latin typeface="Consolas" panose="020B0609020204030204" pitchFamily="49" charset="0"/>
            </a:endParaRPr>
          </a:p>
        </p:txBody>
      </p:sp>
      <p:pic>
        <p:nvPicPr>
          <p:cNvPr id="10" name="Imagen 9">
            <a:extLst>
              <a:ext uri="{FF2B5EF4-FFF2-40B4-BE49-F238E27FC236}">
                <a16:creationId xmlns:a16="http://schemas.microsoft.com/office/drawing/2014/main" id="{EE543AEA-A93B-4030-BDF3-BE7B3B3EE114}"/>
              </a:ext>
            </a:extLst>
          </p:cNvPr>
          <p:cNvPicPr>
            <a:picLocks noChangeAspect="1"/>
          </p:cNvPicPr>
          <p:nvPr/>
        </p:nvPicPr>
        <p:blipFill>
          <a:blip r:embed="rId2"/>
          <a:stretch>
            <a:fillRect/>
          </a:stretch>
        </p:blipFill>
        <p:spPr>
          <a:xfrm>
            <a:off x="2827735" y="2842188"/>
            <a:ext cx="1519346" cy="1022637"/>
          </a:xfrm>
          <a:prstGeom prst="rect">
            <a:avLst/>
          </a:prstGeom>
        </p:spPr>
      </p:pic>
      <p:graphicFrame>
        <p:nvGraphicFramePr>
          <p:cNvPr id="11" name="Tabla 13">
            <a:extLst>
              <a:ext uri="{FF2B5EF4-FFF2-40B4-BE49-F238E27FC236}">
                <a16:creationId xmlns:a16="http://schemas.microsoft.com/office/drawing/2014/main" id="{9CF57A04-D806-41E6-9CD2-FD4CC369A8B8}"/>
              </a:ext>
            </a:extLst>
          </p:cNvPr>
          <p:cNvGraphicFramePr>
            <a:graphicFrameLocks noGrp="1"/>
          </p:cNvGraphicFramePr>
          <p:nvPr>
            <p:extLst>
              <p:ext uri="{D42A27DB-BD31-4B8C-83A1-F6EECF244321}">
                <p14:modId xmlns:p14="http://schemas.microsoft.com/office/powerpoint/2010/main" val="721481388"/>
              </p:ext>
            </p:extLst>
          </p:nvPr>
        </p:nvGraphicFramePr>
        <p:xfrm>
          <a:off x="269193" y="2577440"/>
          <a:ext cx="2383922" cy="2651760"/>
        </p:xfrm>
        <a:graphic>
          <a:graphicData uri="http://schemas.openxmlformats.org/drawingml/2006/table">
            <a:tbl>
              <a:tblPr firstRow="1" bandRow="1">
                <a:tableStyleId>{2D5ABB26-0587-4C30-8999-92F81FD0307C}</a:tableStyleId>
              </a:tblPr>
              <a:tblGrid>
                <a:gridCol w="403543">
                  <a:extLst>
                    <a:ext uri="{9D8B030D-6E8A-4147-A177-3AD203B41FA5}">
                      <a16:colId xmlns:a16="http://schemas.microsoft.com/office/drawing/2014/main" val="2226858441"/>
                    </a:ext>
                  </a:extLst>
                </a:gridCol>
                <a:gridCol w="1980379">
                  <a:extLst>
                    <a:ext uri="{9D8B030D-6E8A-4147-A177-3AD203B41FA5}">
                      <a16:colId xmlns:a16="http://schemas.microsoft.com/office/drawing/2014/main" val="499056580"/>
                    </a:ext>
                  </a:extLst>
                </a:gridCol>
              </a:tblGrid>
              <a:tr h="370840">
                <a:tc>
                  <a:txBody>
                    <a:bodyPr/>
                    <a:lstStyle/>
                    <a:p>
                      <a:pPr algn="r"/>
                      <a:r>
                        <a:rPr lang="es-CO" sz="1400" dirty="0"/>
                        <a:t>1</a:t>
                      </a:r>
                    </a:p>
                    <a:p>
                      <a:pPr algn="r"/>
                      <a:r>
                        <a:rPr lang="es-CO" sz="1400" dirty="0"/>
                        <a:t>2</a:t>
                      </a:r>
                    </a:p>
                    <a:p>
                      <a:pPr algn="r"/>
                      <a:r>
                        <a:rPr lang="es-CO" sz="1400" dirty="0"/>
                        <a:t>3</a:t>
                      </a:r>
                    </a:p>
                    <a:p>
                      <a:pPr algn="r"/>
                      <a:r>
                        <a:rPr lang="es-CO" sz="1400" dirty="0"/>
                        <a:t>4</a:t>
                      </a:r>
                    </a:p>
                    <a:p>
                      <a:pPr algn="r"/>
                      <a:r>
                        <a:rPr lang="es-CO" sz="1400" dirty="0">
                          <a:highlight>
                            <a:srgbClr val="FFFF00"/>
                          </a:highlight>
                        </a:rPr>
                        <a:t>5</a:t>
                      </a:r>
                    </a:p>
                    <a:p>
                      <a:pPr algn="r"/>
                      <a:r>
                        <a:rPr lang="es-CO" sz="1400" dirty="0"/>
                        <a:t>6</a:t>
                      </a:r>
                    </a:p>
                    <a:p>
                      <a:pPr algn="r"/>
                      <a:r>
                        <a:rPr lang="es-CO" sz="1400" dirty="0"/>
                        <a:t>7</a:t>
                      </a:r>
                    </a:p>
                    <a:p>
                      <a:pPr algn="r"/>
                      <a:r>
                        <a:rPr lang="es-CO" sz="1400" dirty="0"/>
                        <a:t>8</a:t>
                      </a:r>
                    </a:p>
                    <a:p>
                      <a:pPr algn="r"/>
                      <a:r>
                        <a:rPr lang="es-CO" sz="1400" dirty="0">
                          <a:highlight>
                            <a:srgbClr val="FFFF00"/>
                          </a:highlight>
                        </a:rPr>
                        <a:t>9</a:t>
                      </a:r>
                    </a:p>
                    <a:p>
                      <a:pPr algn="r"/>
                      <a:r>
                        <a:rPr lang="es-CO" sz="1400" dirty="0"/>
                        <a:t>10</a:t>
                      </a:r>
                    </a:p>
                    <a:p>
                      <a:pPr algn="r"/>
                      <a:r>
                        <a:rPr lang="es-CO" sz="1400" dirty="0"/>
                        <a:t>11</a:t>
                      </a:r>
                    </a:p>
                    <a:p>
                      <a:pPr algn="r"/>
                      <a:r>
                        <a:rPr lang="es-CO" sz="1400" dirty="0"/>
                        <a:t>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r>
                        <a:rPr lang="es-CO" sz="1400" dirty="0" err="1">
                          <a:latin typeface="Consolas" panose="020B0609020204030204" pitchFamily="49" charset="0"/>
                        </a:rPr>
                        <a:t>def</a:t>
                      </a:r>
                      <a:r>
                        <a:rPr lang="es-CO" sz="1400" dirty="0">
                          <a:latin typeface="Consolas" panose="020B0609020204030204" pitchFamily="49" charset="0"/>
                        </a:rPr>
                        <a:t> f(x): </a:t>
                      </a:r>
                    </a:p>
                    <a:p>
                      <a:r>
                        <a:rPr lang="es-CO" sz="1400" dirty="0">
                          <a:latin typeface="Consolas" panose="020B0609020204030204" pitchFamily="49" charset="0"/>
                        </a:rPr>
                        <a:t>   y = 1 </a:t>
                      </a:r>
                    </a:p>
                    <a:p>
                      <a:r>
                        <a:rPr lang="es-CO" sz="1400" dirty="0">
                          <a:latin typeface="Consolas" panose="020B0609020204030204" pitchFamily="49" charset="0"/>
                        </a:rPr>
                        <a:t>   x = x + y </a:t>
                      </a:r>
                    </a:p>
                    <a:p>
                      <a:r>
                        <a:rPr lang="es-CO" sz="1400" dirty="0">
                          <a:latin typeface="Consolas" panose="020B0609020204030204" pitchFamily="49" charset="0"/>
                        </a:rPr>
                        <a:t>   print('x =', x) </a:t>
                      </a:r>
                    </a:p>
                    <a:p>
                      <a:r>
                        <a:rPr lang="es-CO" sz="1400" dirty="0">
                          <a:latin typeface="Consolas" panose="020B0609020204030204" pitchFamily="49" charset="0"/>
                        </a:rPr>
                        <a:t>   </a:t>
                      </a:r>
                      <a:r>
                        <a:rPr lang="es-CO" sz="1400" dirty="0" err="1">
                          <a:latin typeface="Consolas" panose="020B0609020204030204" pitchFamily="49" charset="0"/>
                        </a:rPr>
                        <a:t>return</a:t>
                      </a:r>
                      <a:r>
                        <a:rPr lang="es-CO" sz="1400" dirty="0">
                          <a:latin typeface="Consolas" panose="020B0609020204030204" pitchFamily="49" charset="0"/>
                        </a:rPr>
                        <a:t> x </a:t>
                      </a:r>
                    </a:p>
                    <a:p>
                      <a:endParaRPr lang="es-CO" sz="1400" dirty="0">
                        <a:latin typeface="Consolas" panose="020B0609020204030204" pitchFamily="49" charset="0"/>
                      </a:endParaRPr>
                    </a:p>
                    <a:p>
                      <a:r>
                        <a:rPr lang="es-CO" sz="1400" dirty="0">
                          <a:latin typeface="Consolas" panose="020B0609020204030204" pitchFamily="49" charset="0"/>
                        </a:rPr>
                        <a:t>x = 3 </a:t>
                      </a:r>
                    </a:p>
                    <a:p>
                      <a:r>
                        <a:rPr lang="es-CO" sz="1400" dirty="0">
                          <a:latin typeface="Consolas" panose="020B0609020204030204" pitchFamily="49" charset="0"/>
                        </a:rPr>
                        <a:t>y = 2 </a:t>
                      </a:r>
                    </a:p>
                    <a:p>
                      <a:r>
                        <a:rPr lang="es-CO" sz="1400" dirty="0">
                          <a:latin typeface="Consolas" panose="020B0609020204030204" pitchFamily="49" charset="0"/>
                        </a:rPr>
                        <a:t>z = f(x) </a:t>
                      </a:r>
                    </a:p>
                    <a:p>
                      <a:r>
                        <a:rPr lang="es-CO" sz="1400" dirty="0">
                          <a:latin typeface="Consolas" panose="020B0609020204030204" pitchFamily="49" charset="0"/>
                        </a:rPr>
                        <a:t>print('z =', z) </a:t>
                      </a:r>
                    </a:p>
                    <a:p>
                      <a:r>
                        <a:rPr lang="es-CO" sz="1400" dirty="0">
                          <a:latin typeface="Consolas" panose="020B0609020204030204" pitchFamily="49" charset="0"/>
                        </a:rPr>
                        <a:t>print('x =', x) </a:t>
                      </a:r>
                    </a:p>
                    <a:p>
                      <a:r>
                        <a:rPr lang="es-CO" sz="1400" dirty="0">
                          <a:latin typeface="Consolas" panose="020B0609020204030204" pitchFamily="49" charset="0"/>
                        </a:rPr>
                        <a:t>print('y =', y)</a:t>
                      </a:r>
                      <a:endParaRPr lang="es-CO" sz="1400" dirty="0">
                        <a:effectLst/>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pic>
        <p:nvPicPr>
          <p:cNvPr id="15" name="Imagen 14">
            <a:extLst>
              <a:ext uri="{FF2B5EF4-FFF2-40B4-BE49-F238E27FC236}">
                <a16:creationId xmlns:a16="http://schemas.microsoft.com/office/drawing/2014/main" id="{A61A489C-41C8-4F99-83DD-9062501BA859}"/>
              </a:ext>
            </a:extLst>
          </p:cNvPr>
          <p:cNvPicPr>
            <a:picLocks noChangeAspect="1"/>
          </p:cNvPicPr>
          <p:nvPr/>
        </p:nvPicPr>
        <p:blipFill>
          <a:blip r:embed="rId3"/>
          <a:stretch>
            <a:fillRect/>
          </a:stretch>
        </p:blipFill>
        <p:spPr>
          <a:xfrm>
            <a:off x="4591601" y="2788936"/>
            <a:ext cx="1610703" cy="2059841"/>
          </a:xfrm>
          <a:prstGeom prst="rect">
            <a:avLst/>
          </a:prstGeom>
        </p:spPr>
      </p:pic>
      <p:graphicFrame>
        <p:nvGraphicFramePr>
          <p:cNvPr id="18" name="Tabla 18">
            <a:extLst>
              <a:ext uri="{FF2B5EF4-FFF2-40B4-BE49-F238E27FC236}">
                <a16:creationId xmlns:a16="http://schemas.microsoft.com/office/drawing/2014/main" id="{F230DE4E-12C3-4E6B-A501-F6538521CD1C}"/>
              </a:ext>
            </a:extLst>
          </p:cNvPr>
          <p:cNvGraphicFramePr>
            <a:graphicFrameLocks noGrp="1"/>
          </p:cNvGraphicFramePr>
          <p:nvPr>
            <p:extLst>
              <p:ext uri="{D42A27DB-BD31-4B8C-83A1-F6EECF244321}">
                <p14:modId xmlns:p14="http://schemas.microsoft.com/office/powerpoint/2010/main" val="3592601980"/>
              </p:ext>
            </p:extLst>
          </p:nvPr>
        </p:nvGraphicFramePr>
        <p:xfrm>
          <a:off x="2796934" y="2223122"/>
          <a:ext cx="1579725" cy="304800"/>
        </p:xfrm>
        <a:graphic>
          <a:graphicData uri="http://schemas.openxmlformats.org/drawingml/2006/table">
            <a:tbl>
              <a:tblPr firstRow="1" bandRow="1">
                <a:tableStyleId>{5940675A-B579-460E-94D1-54222C63F5DA}</a:tableStyleId>
              </a:tblPr>
              <a:tblGrid>
                <a:gridCol w="557530">
                  <a:extLst>
                    <a:ext uri="{9D8B030D-6E8A-4147-A177-3AD203B41FA5}">
                      <a16:colId xmlns:a16="http://schemas.microsoft.com/office/drawing/2014/main" val="59961605"/>
                    </a:ext>
                  </a:extLst>
                </a:gridCol>
                <a:gridCol w="1022195">
                  <a:extLst>
                    <a:ext uri="{9D8B030D-6E8A-4147-A177-3AD203B41FA5}">
                      <a16:colId xmlns:a16="http://schemas.microsoft.com/office/drawing/2014/main" val="4086264615"/>
                    </a:ext>
                  </a:extLst>
                </a:gridCol>
              </a:tblGrid>
              <a:tr h="0">
                <a:tc>
                  <a:txBody>
                    <a:bodyPr/>
                    <a:lstStyle/>
                    <a:p>
                      <a:pPr algn="r"/>
                      <a:r>
                        <a:rPr lang="es-CO" sz="1400" dirty="0">
                          <a:solidFill>
                            <a:srgbClr val="00B050"/>
                          </a:solidFill>
                          <a:latin typeface="Consolas" panose="020B0609020204030204" pitchFamily="49" charset="0"/>
                        </a:rPr>
                        <a:t>➔ </a:t>
                      </a:r>
                      <a:r>
                        <a:rPr lang="es-CO" sz="1400" dirty="0">
                          <a:solidFill>
                            <a:schemeClr val="tx1"/>
                          </a:solidFill>
                          <a:highlight>
                            <a:srgbClr val="FFFF00"/>
                          </a:highlight>
                          <a:latin typeface="Consolas" panose="020B0609020204030204" pitchFamily="49" charset="0"/>
                        </a:rPr>
                        <a:t>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r>
                        <a:rPr lang="es-CO" sz="1400" dirty="0">
                          <a:latin typeface="Consolas" panose="020B0609020204030204" pitchFamily="49" charset="0"/>
                        </a:rPr>
                        <a:t>z = f(x)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92221210"/>
                  </a:ext>
                </a:extLst>
              </a:tr>
            </a:tbl>
          </a:graphicData>
        </a:graphic>
      </p:graphicFrame>
      <p:graphicFrame>
        <p:nvGraphicFramePr>
          <p:cNvPr id="19" name="Tabla 18">
            <a:extLst>
              <a:ext uri="{FF2B5EF4-FFF2-40B4-BE49-F238E27FC236}">
                <a16:creationId xmlns:a16="http://schemas.microsoft.com/office/drawing/2014/main" id="{64098CE7-530A-4A79-8AC2-2EFFE18B9EAA}"/>
              </a:ext>
            </a:extLst>
          </p:cNvPr>
          <p:cNvGraphicFramePr>
            <a:graphicFrameLocks noGrp="1"/>
          </p:cNvGraphicFramePr>
          <p:nvPr>
            <p:extLst>
              <p:ext uri="{D42A27DB-BD31-4B8C-83A1-F6EECF244321}">
                <p14:modId xmlns:p14="http://schemas.microsoft.com/office/powerpoint/2010/main" val="1583229520"/>
              </p:ext>
            </p:extLst>
          </p:nvPr>
        </p:nvGraphicFramePr>
        <p:xfrm>
          <a:off x="4529893" y="2236113"/>
          <a:ext cx="1678150" cy="304800"/>
        </p:xfrm>
        <a:graphic>
          <a:graphicData uri="http://schemas.openxmlformats.org/drawingml/2006/table">
            <a:tbl>
              <a:tblPr firstRow="1" bandRow="1">
                <a:tableStyleId>{5940675A-B579-460E-94D1-54222C63F5DA}</a:tableStyleId>
              </a:tblPr>
              <a:tblGrid>
                <a:gridCol w="655955">
                  <a:extLst>
                    <a:ext uri="{9D8B030D-6E8A-4147-A177-3AD203B41FA5}">
                      <a16:colId xmlns:a16="http://schemas.microsoft.com/office/drawing/2014/main" val="59961605"/>
                    </a:ext>
                  </a:extLst>
                </a:gridCol>
                <a:gridCol w="1022195">
                  <a:extLst>
                    <a:ext uri="{9D8B030D-6E8A-4147-A177-3AD203B41FA5}">
                      <a16:colId xmlns:a16="http://schemas.microsoft.com/office/drawing/2014/main" val="4086264615"/>
                    </a:ext>
                  </a:extLst>
                </a:gridCol>
              </a:tblGrid>
              <a:tr h="0">
                <a:tc>
                  <a:txBody>
                    <a:bodyPr/>
                    <a:lstStyle/>
                    <a:p>
                      <a:pPr algn="r"/>
                      <a:r>
                        <a:rPr lang="es-CO" sz="1400" dirty="0">
                          <a:solidFill>
                            <a:srgbClr val="00B050"/>
                          </a:solidFill>
                          <a:latin typeface="Consolas" panose="020B0609020204030204" pitchFamily="49" charset="0"/>
                        </a:rPr>
                        <a:t>➔ </a:t>
                      </a:r>
                      <a:r>
                        <a:rPr lang="es-CO" sz="1400" dirty="0">
                          <a:solidFill>
                            <a:schemeClr val="tx1"/>
                          </a:solidFill>
                          <a:highlight>
                            <a:srgbClr val="FFFF00"/>
                          </a:highlight>
                          <a:latin typeface="Consolas" panose="020B0609020204030204" pitchFamily="49" charset="0"/>
                        </a:rPr>
                        <a:t>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r>
                        <a:rPr lang="es-CO" sz="1400" dirty="0" err="1">
                          <a:latin typeface="Consolas" panose="020B0609020204030204" pitchFamily="49" charset="0"/>
                        </a:rPr>
                        <a:t>return</a:t>
                      </a:r>
                      <a:r>
                        <a:rPr lang="es-CO" sz="1400" dirty="0">
                          <a:latin typeface="Consolas" panose="020B0609020204030204" pitchFamily="49" charset="0"/>
                        </a:rPr>
                        <a:t> 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92221210"/>
                  </a:ext>
                </a:extLst>
              </a:tr>
            </a:tbl>
          </a:graphicData>
        </a:graphic>
      </p:graphicFrame>
      <p:pic>
        <p:nvPicPr>
          <p:cNvPr id="22" name="Imagen 21">
            <a:extLst>
              <a:ext uri="{FF2B5EF4-FFF2-40B4-BE49-F238E27FC236}">
                <a16:creationId xmlns:a16="http://schemas.microsoft.com/office/drawing/2014/main" id="{494E4DB4-DD3A-437A-865C-5EC4A6C79109}"/>
              </a:ext>
            </a:extLst>
          </p:cNvPr>
          <p:cNvPicPr>
            <a:picLocks noChangeAspect="1"/>
          </p:cNvPicPr>
          <p:nvPr/>
        </p:nvPicPr>
        <p:blipFill>
          <a:blip r:embed="rId4"/>
          <a:stretch>
            <a:fillRect/>
          </a:stretch>
        </p:blipFill>
        <p:spPr>
          <a:xfrm>
            <a:off x="6441865" y="2243967"/>
            <a:ext cx="2522997" cy="2954562"/>
          </a:xfrm>
          <a:prstGeom prst="rect">
            <a:avLst/>
          </a:prstGeom>
        </p:spPr>
      </p:pic>
      <p:sp>
        <p:nvSpPr>
          <p:cNvPr id="24" name="CuadroTexto 23">
            <a:extLst>
              <a:ext uri="{FF2B5EF4-FFF2-40B4-BE49-F238E27FC236}">
                <a16:creationId xmlns:a16="http://schemas.microsoft.com/office/drawing/2014/main" id="{CE49B199-3734-442D-8D46-36A677AFFBAD}"/>
              </a:ext>
            </a:extLst>
          </p:cNvPr>
          <p:cNvSpPr txBox="1"/>
          <p:nvPr/>
        </p:nvSpPr>
        <p:spPr>
          <a:xfrm>
            <a:off x="3506933" y="5524281"/>
            <a:ext cx="4572000" cy="954107"/>
          </a:xfrm>
          <a:prstGeom prst="rect">
            <a:avLst/>
          </a:prstGeom>
          <a:noFill/>
          <a:ln>
            <a:solidFill>
              <a:schemeClr val="tx1"/>
            </a:solidFill>
          </a:ln>
        </p:spPr>
        <p:txBody>
          <a:bodyPr wrap="square">
            <a:spAutoFit/>
          </a:bodyPr>
          <a:lstStyle/>
          <a:p>
            <a:r>
              <a:rPr lang="es-CO" sz="1400" dirty="0">
                <a:latin typeface="Consolas" panose="020B0609020204030204" pitchFamily="49" charset="0"/>
              </a:rPr>
              <a:t>x = 4      ← la x local de f</a:t>
            </a:r>
          </a:p>
          <a:p>
            <a:r>
              <a:rPr lang="es-CO" sz="1400" dirty="0">
                <a:latin typeface="Consolas" panose="020B0609020204030204" pitchFamily="49" charset="0"/>
              </a:rPr>
              <a:t>z = 4</a:t>
            </a:r>
          </a:p>
          <a:p>
            <a:r>
              <a:rPr lang="es-CO" sz="1400" dirty="0">
                <a:latin typeface="Consolas" panose="020B0609020204030204" pitchFamily="49" charset="0"/>
              </a:rPr>
              <a:t>x = 3      ← la x global no cambió</a:t>
            </a:r>
          </a:p>
          <a:p>
            <a:r>
              <a:rPr lang="es-CO" sz="1400" dirty="0">
                <a:latin typeface="Consolas" panose="020B0609020204030204" pitchFamily="49" charset="0"/>
              </a:rPr>
              <a:t>y = 2      ← la y global no cambió</a:t>
            </a:r>
          </a:p>
        </p:txBody>
      </p:sp>
      <p:sp>
        <p:nvSpPr>
          <p:cNvPr id="25" name="CuadroTexto 24">
            <a:extLst>
              <a:ext uri="{FF2B5EF4-FFF2-40B4-BE49-F238E27FC236}">
                <a16:creationId xmlns:a16="http://schemas.microsoft.com/office/drawing/2014/main" id="{3658ECAE-DAAE-45DD-9BAA-B8ED9E8E0D15}"/>
              </a:ext>
            </a:extLst>
          </p:cNvPr>
          <p:cNvSpPr txBox="1"/>
          <p:nvPr/>
        </p:nvSpPr>
        <p:spPr>
          <a:xfrm>
            <a:off x="769455" y="5292065"/>
            <a:ext cx="1664486" cy="276999"/>
          </a:xfrm>
          <a:prstGeom prst="rect">
            <a:avLst/>
          </a:prstGeom>
          <a:noFill/>
        </p:spPr>
        <p:txBody>
          <a:bodyPr wrap="square" rtlCol="0">
            <a:spAutoFit/>
          </a:bodyPr>
          <a:lstStyle/>
          <a:p>
            <a:pPr algn="ctr"/>
            <a:r>
              <a:rPr lang="es-CO" sz="1200" dirty="0">
                <a:hlinkClick r:id="rId5"/>
              </a:rPr>
              <a:t>Link simulación</a:t>
            </a:r>
            <a:endParaRPr lang="es-CO" sz="1200" dirty="0"/>
          </a:p>
        </p:txBody>
      </p:sp>
      <p:sp>
        <p:nvSpPr>
          <p:cNvPr id="26" name="CuadroTexto 25">
            <a:extLst>
              <a:ext uri="{FF2B5EF4-FFF2-40B4-BE49-F238E27FC236}">
                <a16:creationId xmlns:a16="http://schemas.microsoft.com/office/drawing/2014/main" id="{1A795D73-BD52-414F-AFA8-E36438AA7E48}"/>
              </a:ext>
            </a:extLst>
          </p:cNvPr>
          <p:cNvSpPr txBox="1"/>
          <p:nvPr/>
        </p:nvSpPr>
        <p:spPr>
          <a:xfrm>
            <a:off x="3468048" y="5198529"/>
            <a:ext cx="2114790" cy="338554"/>
          </a:xfrm>
          <a:prstGeom prst="rect">
            <a:avLst/>
          </a:prstGeom>
          <a:noFill/>
        </p:spPr>
        <p:txBody>
          <a:bodyPr wrap="square" rtlCol="0">
            <a:spAutoFit/>
          </a:bodyPr>
          <a:lstStyle/>
          <a:p>
            <a:r>
              <a:rPr lang="es-CO" sz="1600" b="1" dirty="0"/>
              <a:t>Salida en pantalla</a:t>
            </a:r>
          </a:p>
        </p:txBody>
      </p:sp>
      <p:sp>
        <p:nvSpPr>
          <p:cNvPr id="27" name="CuadroTexto 26">
            <a:extLst>
              <a:ext uri="{FF2B5EF4-FFF2-40B4-BE49-F238E27FC236}">
                <a16:creationId xmlns:a16="http://schemas.microsoft.com/office/drawing/2014/main" id="{5D9CF26A-D97C-47B6-942A-3BA33897395E}"/>
              </a:ext>
            </a:extLst>
          </p:cNvPr>
          <p:cNvSpPr txBox="1"/>
          <p:nvPr/>
        </p:nvSpPr>
        <p:spPr>
          <a:xfrm>
            <a:off x="769455" y="2207454"/>
            <a:ext cx="1664486" cy="338554"/>
          </a:xfrm>
          <a:prstGeom prst="rect">
            <a:avLst/>
          </a:prstGeom>
          <a:noFill/>
        </p:spPr>
        <p:txBody>
          <a:bodyPr wrap="square" rtlCol="0">
            <a:spAutoFit/>
          </a:bodyPr>
          <a:lstStyle/>
          <a:p>
            <a:pPr algn="ctr"/>
            <a:r>
              <a:rPr lang="es-CO" sz="1600" b="1" dirty="0"/>
              <a:t>Código</a:t>
            </a:r>
          </a:p>
        </p:txBody>
      </p:sp>
    </p:spTree>
    <p:extLst>
      <p:ext uri="{BB962C8B-B14F-4D97-AF65-F5344CB8AC3E}">
        <p14:creationId xmlns:p14="http://schemas.microsoft.com/office/powerpoint/2010/main" val="27096833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144016" y="116632"/>
            <a:ext cx="8999984" cy="720452"/>
          </a:xfrm>
        </p:spPr>
        <p:txBody>
          <a:bodyPr>
            <a:noAutofit/>
          </a:bodyPr>
          <a:lstStyle/>
          <a:p>
            <a:r>
              <a:rPr lang="es-MX" sz="3600" dirty="0"/>
              <a:t>Ámbito de las variables</a:t>
            </a:r>
            <a:endParaRPr lang="es-CO" sz="3600" dirty="0"/>
          </a:p>
        </p:txBody>
      </p:sp>
      <p:sp>
        <p:nvSpPr>
          <p:cNvPr id="13" name="12 Rectángulo"/>
          <p:cNvSpPr/>
          <p:nvPr/>
        </p:nvSpPr>
        <p:spPr>
          <a:xfrm>
            <a:off x="144016" y="620688"/>
            <a:ext cx="8892480" cy="1015663"/>
          </a:xfrm>
          <a:prstGeom prst="rect">
            <a:avLst/>
          </a:prstGeom>
        </p:spPr>
        <p:txBody>
          <a:bodyPr wrap="square">
            <a:spAutoFit/>
          </a:bodyPr>
          <a:lstStyle/>
          <a:p>
            <a:pPr marL="342900" indent="-342900" rtl="0">
              <a:buFont typeface="Arial" panose="020B0604020202020204" pitchFamily="34" charset="0"/>
              <a:buChar char="•"/>
            </a:pPr>
            <a:r>
              <a:rPr lang="es-MX" sz="2000" b="1" dirty="0"/>
              <a:t>Idea clave</a:t>
            </a:r>
            <a:r>
              <a:rPr lang="es-MX" sz="2000" dirty="0"/>
              <a:t>: dos variables pueden tener el mismo nombre y ser distintas, si viven en ámbitos diferentes. Cada llamada a una función crea su propio espacio de variables.</a:t>
            </a:r>
          </a:p>
        </p:txBody>
      </p:sp>
      <p:graphicFrame>
        <p:nvGraphicFramePr>
          <p:cNvPr id="11" name="Tabla 13">
            <a:extLst>
              <a:ext uri="{FF2B5EF4-FFF2-40B4-BE49-F238E27FC236}">
                <a16:creationId xmlns:a16="http://schemas.microsoft.com/office/drawing/2014/main" id="{9CF57A04-D806-41E6-9CD2-FD4CC369A8B8}"/>
              </a:ext>
            </a:extLst>
          </p:cNvPr>
          <p:cNvGraphicFramePr>
            <a:graphicFrameLocks noGrp="1"/>
          </p:cNvGraphicFramePr>
          <p:nvPr>
            <p:extLst>
              <p:ext uri="{D42A27DB-BD31-4B8C-83A1-F6EECF244321}">
                <p14:modId xmlns:p14="http://schemas.microsoft.com/office/powerpoint/2010/main" val="3929760812"/>
              </p:ext>
            </p:extLst>
          </p:nvPr>
        </p:nvGraphicFramePr>
        <p:xfrm>
          <a:off x="323527" y="1914086"/>
          <a:ext cx="4620004" cy="1798320"/>
        </p:xfrm>
        <a:graphic>
          <a:graphicData uri="http://schemas.openxmlformats.org/drawingml/2006/table">
            <a:tbl>
              <a:tblPr firstRow="1" bandRow="1">
                <a:tableStyleId>{2D5ABB26-0587-4C30-8999-92F81FD0307C}</a:tableStyleId>
              </a:tblPr>
              <a:tblGrid>
                <a:gridCol w="313055">
                  <a:extLst>
                    <a:ext uri="{9D8B030D-6E8A-4147-A177-3AD203B41FA5}">
                      <a16:colId xmlns:a16="http://schemas.microsoft.com/office/drawing/2014/main" val="2226858441"/>
                    </a:ext>
                  </a:extLst>
                </a:gridCol>
                <a:gridCol w="4306949">
                  <a:extLst>
                    <a:ext uri="{9D8B030D-6E8A-4147-A177-3AD203B41FA5}">
                      <a16:colId xmlns:a16="http://schemas.microsoft.com/office/drawing/2014/main" val="499056580"/>
                    </a:ext>
                  </a:extLst>
                </a:gridCol>
              </a:tblGrid>
              <a:tr h="887432">
                <a:tc>
                  <a:txBody>
                    <a:bodyPr/>
                    <a:lstStyle/>
                    <a:p>
                      <a:pPr algn="r"/>
                      <a:r>
                        <a:rPr lang="es-CO" sz="1400" dirty="0"/>
                        <a:t>1</a:t>
                      </a:r>
                    </a:p>
                    <a:p>
                      <a:pPr algn="r"/>
                      <a:r>
                        <a:rPr lang="es-CO" sz="1400" dirty="0"/>
                        <a:t>2</a:t>
                      </a:r>
                    </a:p>
                    <a:p>
                      <a:pPr algn="r"/>
                      <a:r>
                        <a:rPr lang="es-CO" sz="1400" dirty="0"/>
                        <a:t>3</a:t>
                      </a:r>
                    </a:p>
                    <a:p>
                      <a:pPr algn="r"/>
                      <a:r>
                        <a:rPr lang="es-CO" sz="1400" dirty="0"/>
                        <a:t>4</a:t>
                      </a:r>
                    </a:p>
                    <a:p>
                      <a:pPr algn="r"/>
                      <a:r>
                        <a:rPr lang="es-CO" sz="1400" dirty="0"/>
                        <a:t>5</a:t>
                      </a:r>
                    </a:p>
                    <a:p>
                      <a:pPr algn="r"/>
                      <a:r>
                        <a:rPr lang="es-CO" sz="1400" dirty="0"/>
                        <a:t>6</a:t>
                      </a:r>
                    </a:p>
                    <a:p>
                      <a:pPr algn="r"/>
                      <a:r>
                        <a:rPr lang="es-CO" sz="1400" dirty="0"/>
                        <a:t>7</a:t>
                      </a:r>
                    </a:p>
                    <a:p>
                      <a:pPr algn="r"/>
                      <a:r>
                        <a:rPr lang="es-CO" sz="1400" dirty="0"/>
                        <a:t>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r>
                        <a:rPr lang="es-CO" sz="1400" dirty="0" err="1">
                          <a:latin typeface="Consolas" panose="020B0609020204030204" pitchFamily="49" charset="0"/>
                        </a:rPr>
                        <a:t>def</a:t>
                      </a:r>
                      <a:r>
                        <a:rPr lang="es-CO" sz="1400" dirty="0">
                          <a:latin typeface="Consolas" panose="020B0609020204030204" pitchFamily="49" charset="0"/>
                        </a:rPr>
                        <a:t> </a:t>
                      </a:r>
                      <a:r>
                        <a:rPr lang="es-CO" sz="1400" dirty="0" err="1">
                          <a:latin typeface="Consolas" panose="020B0609020204030204" pitchFamily="49" charset="0"/>
                        </a:rPr>
                        <a:t>celsius_a_fahrenheit</a:t>
                      </a:r>
                      <a:r>
                        <a:rPr lang="es-CO" sz="1400" dirty="0">
                          <a:latin typeface="Consolas" panose="020B0609020204030204" pitchFamily="49" charset="0"/>
                        </a:rPr>
                        <a:t>(</a:t>
                      </a:r>
                      <a:r>
                        <a:rPr lang="es-CO" sz="1400" dirty="0" err="1">
                          <a:latin typeface="Consolas" panose="020B0609020204030204" pitchFamily="49" charset="0"/>
                        </a:rPr>
                        <a:t>temp_c</a:t>
                      </a:r>
                      <a:r>
                        <a:rPr lang="es-CO" sz="1400" dirty="0">
                          <a:latin typeface="Consolas" panose="020B0609020204030204" pitchFamily="49" charset="0"/>
                        </a:rPr>
                        <a:t>):</a:t>
                      </a:r>
                    </a:p>
                    <a:p>
                      <a:r>
                        <a:rPr lang="es-CO" sz="1400" dirty="0">
                          <a:latin typeface="Consolas" panose="020B0609020204030204" pitchFamily="49" charset="0"/>
                        </a:rPr>
                        <a:t>    </a:t>
                      </a:r>
                      <a:r>
                        <a:rPr lang="es-CO" sz="1400" dirty="0" err="1">
                          <a:latin typeface="Consolas" panose="020B0609020204030204" pitchFamily="49" charset="0"/>
                        </a:rPr>
                        <a:t>temp_f</a:t>
                      </a:r>
                      <a:r>
                        <a:rPr lang="es-CO" sz="1400" dirty="0">
                          <a:latin typeface="Consolas" panose="020B0609020204030204" pitchFamily="49" charset="0"/>
                        </a:rPr>
                        <a:t> = (9 / 5) * </a:t>
                      </a:r>
                      <a:r>
                        <a:rPr lang="es-CO" sz="1400" dirty="0" err="1">
                          <a:latin typeface="Consolas" panose="020B0609020204030204" pitchFamily="49" charset="0"/>
                        </a:rPr>
                        <a:t>temp_c</a:t>
                      </a:r>
                      <a:r>
                        <a:rPr lang="es-CO" sz="1400" dirty="0">
                          <a:latin typeface="Consolas" panose="020B0609020204030204" pitchFamily="49" charset="0"/>
                        </a:rPr>
                        <a:t> + 32</a:t>
                      </a:r>
                    </a:p>
                    <a:p>
                      <a:r>
                        <a:rPr lang="es-CO" sz="1400" dirty="0">
                          <a:latin typeface="Consolas" panose="020B0609020204030204" pitchFamily="49" charset="0"/>
                        </a:rPr>
                        <a:t>    </a:t>
                      </a:r>
                      <a:r>
                        <a:rPr lang="es-CO" sz="1400" dirty="0" err="1">
                          <a:latin typeface="Consolas" panose="020B0609020204030204" pitchFamily="49" charset="0"/>
                        </a:rPr>
                        <a:t>return</a:t>
                      </a:r>
                      <a:r>
                        <a:rPr lang="es-CO" sz="1400" dirty="0">
                          <a:latin typeface="Consolas" panose="020B0609020204030204" pitchFamily="49" charset="0"/>
                        </a:rPr>
                        <a:t> </a:t>
                      </a:r>
                      <a:r>
                        <a:rPr lang="es-CO" sz="1400" dirty="0" err="1">
                          <a:latin typeface="Consolas" panose="020B0609020204030204" pitchFamily="49" charset="0"/>
                        </a:rPr>
                        <a:t>temp_f</a:t>
                      </a:r>
                      <a:endParaRPr lang="es-CO" sz="1400" dirty="0">
                        <a:latin typeface="Consolas" panose="020B0609020204030204" pitchFamily="49" charset="0"/>
                      </a:endParaRPr>
                    </a:p>
                    <a:p>
                      <a:endParaRPr lang="es-CO" sz="1400" dirty="0">
                        <a:latin typeface="Consolas" panose="020B0609020204030204" pitchFamily="49" charset="0"/>
                      </a:endParaRPr>
                    </a:p>
                    <a:p>
                      <a:r>
                        <a:rPr lang="es-CO" sz="1400" dirty="0" err="1">
                          <a:latin typeface="Consolas" panose="020B0609020204030204" pitchFamily="49" charset="0"/>
                        </a:rPr>
                        <a:t>temp_c</a:t>
                      </a:r>
                      <a:r>
                        <a:rPr lang="es-CO" sz="1400" dirty="0">
                          <a:latin typeface="Consolas" panose="020B0609020204030204" pitchFamily="49" charset="0"/>
                        </a:rPr>
                        <a:t> = </a:t>
                      </a:r>
                      <a:r>
                        <a:rPr lang="es-CO" sz="1400" dirty="0" err="1">
                          <a:latin typeface="Consolas" panose="020B0609020204030204" pitchFamily="49" charset="0"/>
                        </a:rPr>
                        <a:t>float</a:t>
                      </a:r>
                      <a:r>
                        <a:rPr lang="es-CO" sz="1400" dirty="0">
                          <a:latin typeface="Consolas" panose="020B0609020204030204" pitchFamily="49" charset="0"/>
                        </a:rPr>
                        <a:t>(input("Ingrese los °C: "))</a:t>
                      </a:r>
                    </a:p>
                    <a:p>
                      <a:r>
                        <a:rPr lang="es-CO" sz="1400" dirty="0" err="1">
                          <a:latin typeface="Consolas" panose="020B0609020204030204" pitchFamily="49" charset="0"/>
                        </a:rPr>
                        <a:t>temp_f</a:t>
                      </a:r>
                      <a:r>
                        <a:rPr lang="es-CO" sz="1400" dirty="0">
                          <a:latin typeface="Consolas" panose="020B0609020204030204" pitchFamily="49" charset="0"/>
                        </a:rPr>
                        <a:t> = </a:t>
                      </a:r>
                      <a:r>
                        <a:rPr lang="es-CO" sz="1400" dirty="0" err="1">
                          <a:latin typeface="Consolas" panose="020B0609020204030204" pitchFamily="49" charset="0"/>
                        </a:rPr>
                        <a:t>celsius_a_fahrenheit</a:t>
                      </a:r>
                      <a:r>
                        <a:rPr lang="es-CO" sz="1400" dirty="0">
                          <a:latin typeface="Consolas" panose="020B0609020204030204" pitchFamily="49" charset="0"/>
                        </a:rPr>
                        <a:t>(</a:t>
                      </a:r>
                      <a:r>
                        <a:rPr lang="es-CO" sz="1400" dirty="0" err="1">
                          <a:latin typeface="Consolas" panose="020B0609020204030204" pitchFamily="49" charset="0"/>
                        </a:rPr>
                        <a:t>temp_c</a:t>
                      </a:r>
                      <a:r>
                        <a:rPr lang="es-CO" sz="1400" dirty="0">
                          <a:latin typeface="Consolas" panose="020B0609020204030204" pitchFamily="49" charset="0"/>
                        </a:rPr>
                        <a:t>)</a:t>
                      </a:r>
                    </a:p>
                    <a:p>
                      <a:endParaRPr lang="es-CO" sz="1400" dirty="0">
                        <a:latin typeface="Consolas" panose="020B0609020204030204" pitchFamily="49" charset="0"/>
                      </a:endParaRPr>
                    </a:p>
                    <a:p>
                      <a:r>
                        <a:rPr lang="es-CO" sz="1400" dirty="0">
                          <a:latin typeface="Consolas" panose="020B0609020204030204" pitchFamily="49" charset="0"/>
                        </a:rPr>
                        <a:t>print(f"{</a:t>
                      </a:r>
                      <a:r>
                        <a:rPr lang="es-CO" sz="1400" dirty="0" err="1">
                          <a:latin typeface="Consolas" panose="020B0609020204030204" pitchFamily="49" charset="0"/>
                        </a:rPr>
                        <a:t>temp_c</a:t>
                      </a:r>
                      <a:r>
                        <a:rPr lang="es-CO" sz="1400" dirty="0">
                          <a:latin typeface="Consolas" panose="020B0609020204030204" pitchFamily="49" charset="0"/>
                        </a:rPr>
                        <a:t>} °C = {temp_f} °F")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sp>
        <p:nvSpPr>
          <p:cNvPr id="24" name="CuadroTexto 23">
            <a:extLst>
              <a:ext uri="{FF2B5EF4-FFF2-40B4-BE49-F238E27FC236}">
                <a16:creationId xmlns:a16="http://schemas.microsoft.com/office/drawing/2014/main" id="{CE49B199-3734-442D-8D46-36A677AFFBAD}"/>
              </a:ext>
            </a:extLst>
          </p:cNvPr>
          <p:cNvSpPr txBox="1"/>
          <p:nvPr/>
        </p:nvSpPr>
        <p:spPr>
          <a:xfrm>
            <a:off x="5292080" y="2621534"/>
            <a:ext cx="3290909" cy="523220"/>
          </a:xfrm>
          <a:prstGeom prst="rect">
            <a:avLst/>
          </a:prstGeom>
          <a:noFill/>
          <a:ln>
            <a:solidFill>
              <a:schemeClr val="tx1"/>
            </a:solidFill>
          </a:ln>
        </p:spPr>
        <p:txBody>
          <a:bodyPr wrap="square">
            <a:spAutoFit/>
          </a:bodyPr>
          <a:lstStyle/>
          <a:p>
            <a:r>
              <a:rPr lang="es-MX" sz="1400" dirty="0">
                <a:latin typeface="Consolas" panose="020B0609020204030204" pitchFamily="49" charset="0"/>
              </a:rPr>
              <a:t>Ingrese los °C: 23</a:t>
            </a:r>
          </a:p>
          <a:p>
            <a:r>
              <a:rPr lang="es-MX" sz="1400" dirty="0">
                <a:latin typeface="Consolas" panose="020B0609020204030204" pitchFamily="49" charset="0"/>
              </a:rPr>
              <a:t>23.0 °C = 73.4 °F</a:t>
            </a:r>
            <a:endParaRPr lang="es-CO" sz="1400" dirty="0">
              <a:latin typeface="Consolas" panose="020B0609020204030204" pitchFamily="49" charset="0"/>
            </a:endParaRPr>
          </a:p>
        </p:txBody>
      </p:sp>
      <p:sp>
        <p:nvSpPr>
          <p:cNvPr id="25" name="CuadroTexto 24">
            <a:extLst>
              <a:ext uri="{FF2B5EF4-FFF2-40B4-BE49-F238E27FC236}">
                <a16:creationId xmlns:a16="http://schemas.microsoft.com/office/drawing/2014/main" id="{3658ECAE-DAAE-45DD-9BAA-B8ED9E8E0D15}"/>
              </a:ext>
            </a:extLst>
          </p:cNvPr>
          <p:cNvSpPr txBox="1"/>
          <p:nvPr/>
        </p:nvSpPr>
        <p:spPr>
          <a:xfrm>
            <a:off x="1907704" y="3717032"/>
            <a:ext cx="1664486" cy="276999"/>
          </a:xfrm>
          <a:prstGeom prst="rect">
            <a:avLst/>
          </a:prstGeom>
          <a:noFill/>
        </p:spPr>
        <p:txBody>
          <a:bodyPr wrap="square" rtlCol="0">
            <a:spAutoFit/>
          </a:bodyPr>
          <a:lstStyle/>
          <a:p>
            <a:pPr algn="ctr"/>
            <a:r>
              <a:rPr lang="es-CO" sz="1200" dirty="0">
                <a:hlinkClick r:id="rId2"/>
              </a:rPr>
              <a:t>Link simulación</a:t>
            </a:r>
            <a:endParaRPr lang="es-CO" sz="1200" dirty="0"/>
          </a:p>
        </p:txBody>
      </p:sp>
      <p:sp>
        <p:nvSpPr>
          <p:cNvPr id="26" name="CuadroTexto 25">
            <a:extLst>
              <a:ext uri="{FF2B5EF4-FFF2-40B4-BE49-F238E27FC236}">
                <a16:creationId xmlns:a16="http://schemas.microsoft.com/office/drawing/2014/main" id="{1A795D73-BD52-414F-AFA8-E36438AA7E48}"/>
              </a:ext>
            </a:extLst>
          </p:cNvPr>
          <p:cNvSpPr txBox="1"/>
          <p:nvPr/>
        </p:nvSpPr>
        <p:spPr>
          <a:xfrm>
            <a:off x="5880140" y="2205230"/>
            <a:ext cx="2114790" cy="338554"/>
          </a:xfrm>
          <a:prstGeom prst="rect">
            <a:avLst/>
          </a:prstGeom>
          <a:noFill/>
        </p:spPr>
        <p:txBody>
          <a:bodyPr wrap="square" rtlCol="0">
            <a:spAutoFit/>
          </a:bodyPr>
          <a:lstStyle/>
          <a:p>
            <a:r>
              <a:rPr lang="es-CO" sz="1600" b="1" dirty="0"/>
              <a:t>Salida en pantalla</a:t>
            </a:r>
          </a:p>
        </p:txBody>
      </p:sp>
      <p:sp>
        <p:nvSpPr>
          <p:cNvPr id="27" name="CuadroTexto 26">
            <a:extLst>
              <a:ext uri="{FF2B5EF4-FFF2-40B4-BE49-F238E27FC236}">
                <a16:creationId xmlns:a16="http://schemas.microsoft.com/office/drawing/2014/main" id="{5D9CF26A-D97C-47B6-942A-3BA33897395E}"/>
              </a:ext>
            </a:extLst>
          </p:cNvPr>
          <p:cNvSpPr txBox="1"/>
          <p:nvPr/>
        </p:nvSpPr>
        <p:spPr>
          <a:xfrm>
            <a:off x="1757510" y="1509945"/>
            <a:ext cx="1664486" cy="338554"/>
          </a:xfrm>
          <a:prstGeom prst="rect">
            <a:avLst/>
          </a:prstGeom>
          <a:noFill/>
        </p:spPr>
        <p:txBody>
          <a:bodyPr wrap="square" rtlCol="0">
            <a:spAutoFit/>
          </a:bodyPr>
          <a:lstStyle/>
          <a:p>
            <a:pPr algn="ctr"/>
            <a:r>
              <a:rPr lang="es-CO" sz="1600" b="1" dirty="0"/>
              <a:t>Código</a:t>
            </a:r>
          </a:p>
        </p:txBody>
      </p:sp>
      <p:pic>
        <p:nvPicPr>
          <p:cNvPr id="8" name="Imagen 7">
            <a:extLst>
              <a:ext uri="{FF2B5EF4-FFF2-40B4-BE49-F238E27FC236}">
                <a16:creationId xmlns:a16="http://schemas.microsoft.com/office/drawing/2014/main" id="{40D4C43A-15EC-4A4F-9A0A-D3B6BA196AD8}"/>
              </a:ext>
            </a:extLst>
          </p:cNvPr>
          <p:cNvPicPr>
            <a:picLocks noChangeAspect="1"/>
          </p:cNvPicPr>
          <p:nvPr/>
        </p:nvPicPr>
        <p:blipFill>
          <a:blip r:embed="rId3"/>
          <a:stretch>
            <a:fillRect/>
          </a:stretch>
        </p:blipFill>
        <p:spPr>
          <a:xfrm>
            <a:off x="491108" y="4005064"/>
            <a:ext cx="4152900" cy="2343150"/>
          </a:xfrm>
          <a:prstGeom prst="rect">
            <a:avLst/>
          </a:prstGeom>
        </p:spPr>
      </p:pic>
      <p:pic>
        <p:nvPicPr>
          <p:cNvPr id="12" name="Imagen 11">
            <a:extLst>
              <a:ext uri="{FF2B5EF4-FFF2-40B4-BE49-F238E27FC236}">
                <a16:creationId xmlns:a16="http://schemas.microsoft.com/office/drawing/2014/main" id="{6B1978E0-09EF-4295-A78B-D59103A9573A}"/>
              </a:ext>
            </a:extLst>
          </p:cNvPr>
          <p:cNvPicPr>
            <a:picLocks noChangeAspect="1"/>
          </p:cNvPicPr>
          <p:nvPr/>
        </p:nvPicPr>
        <p:blipFill>
          <a:blip r:embed="rId4"/>
          <a:stretch>
            <a:fillRect/>
          </a:stretch>
        </p:blipFill>
        <p:spPr>
          <a:xfrm>
            <a:off x="4793952" y="4833227"/>
            <a:ext cx="4133850" cy="1333500"/>
          </a:xfrm>
          <a:prstGeom prst="rect">
            <a:avLst/>
          </a:prstGeom>
        </p:spPr>
      </p:pic>
      <p:graphicFrame>
        <p:nvGraphicFramePr>
          <p:cNvPr id="23" name="Tabla 18">
            <a:extLst>
              <a:ext uri="{FF2B5EF4-FFF2-40B4-BE49-F238E27FC236}">
                <a16:creationId xmlns:a16="http://schemas.microsoft.com/office/drawing/2014/main" id="{EEF437E3-FD41-4321-8E50-29759D7BB13A}"/>
              </a:ext>
            </a:extLst>
          </p:cNvPr>
          <p:cNvGraphicFramePr>
            <a:graphicFrameLocks noGrp="1"/>
          </p:cNvGraphicFramePr>
          <p:nvPr>
            <p:extLst>
              <p:ext uri="{D42A27DB-BD31-4B8C-83A1-F6EECF244321}">
                <p14:modId xmlns:p14="http://schemas.microsoft.com/office/powerpoint/2010/main" val="1343019104"/>
              </p:ext>
            </p:extLst>
          </p:nvPr>
        </p:nvGraphicFramePr>
        <p:xfrm>
          <a:off x="1691680" y="6381328"/>
          <a:ext cx="2271484" cy="304800"/>
        </p:xfrm>
        <a:graphic>
          <a:graphicData uri="http://schemas.openxmlformats.org/drawingml/2006/table">
            <a:tbl>
              <a:tblPr firstRow="1" bandRow="1">
                <a:tableStyleId>{5940675A-B579-460E-94D1-54222C63F5DA}</a:tableStyleId>
              </a:tblPr>
              <a:tblGrid>
                <a:gridCol w="655955">
                  <a:extLst>
                    <a:ext uri="{9D8B030D-6E8A-4147-A177-3AD203B41FA5}">
                      <a16:colId xmlns:a16="http://schemas.microsoft.com/office/drawing/2014/main" val="59961605"/>
                    </a:ext>
                  </a:extLst>
                </a:gridCol>
                <a:gridCol w="1615529">
                  <a:extLst>
                    <a:ext uri="{9D8B030D-6E8A-4147-A177-3AD203B41FA5}">
                      <a16:colId xmlns:a16="http://schemas.microsoft.com/office/drawing/2014/main" val="4086264615"/>
                    </a:ext>
                  </a:extLst>
                </a:gridCol>
              </a:tblGrid>
              <a:tr h="0">
                <a:tc>
                  <a:txBody>
                    <a:bodyPr/>
                    <a:lstStyle/>
                    <a:p>
                      <a:pPr algn="r"/>
                      <a:r>
                        <a:rPr lang="es-CO" sz="1400" dirty="0">
                          <a:solidFill>
                            <a:srgbClr val="00B050"/>
                          </a:solidFill>
                          <a:latin typeface="Consolas" panose="020B0609020204030204" pitchFamily="49" charset="0"/>
                        </a:rPr>
                        <a:t>➔ </a:t>
                      </a:r>
                      <a:r>
                        <a:rPr lang="es-CO" sz="1400" dirty="0">
                          <a:solidFill>
                            <a:schemeClr val="tx1"/>
                          </a:solidFill>
                          <a:highlight>
                            <a:srgbClr val="FFFF00"/>
                          </a:highlight>
                          <a:latin typeface="Consolas" panose="020B0609020204030204" pitchFamily="49" charset="0"/>
                        </a:rPr>
                        <a:t>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r>
                        <a:rPr lang="es-CO" sz="1400" dirty="0" err="1">
                          <a:latin typeface="Consolas" panose="020B0609020204030204" pitchFamily="49" charset="0"/>
                        </a:rPr>
                        <a:t>return</a:t>
                      </a:r>
                      <a:r>
                        <a:rPr lang="es-CO" sz="1400" dirty="0">
                          <a:latin typeface="Consolas" panose="020B0609020204030204" pitchFamily="49" charset="0"/>
                        </a:rPr>
                        <a:t> </a:t>
                      </a:r>
                      <a:r>
                        <a:rPr lang="es-CO" sz="1400" dirty="0" err="1">
                          <a:latin typeface="Consolas" panose="020B0609020204030204" pitchFamily="49" charset="0"/>
                        </a:rPr>
                        <a:t>temp_f</a:t>
                      </a:r>
                      <a:endParaRPr lang="es-CO" sz="1400"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92221210"/>
                  </a:ext>
                </a:extLst>
              </a:tr>
            </a:tbl>
          </a:graphicData>
        </a:graphic>
      </p:graphicFrame>
      <p:graphicFrame>
        <p:nvGraphicFramePr>
          <p:cNvPr id="28" name="Tabla 27">
            <a:extLst>
              <a:ext uri="{FF2B5EF4-FFF2-40B4-BE49-F238E27FC236}">
                <a16:creationId xmlns:a16="http://schemas.microsoft.com/office/drawing/2014/main" id="{4C9653C9-2E45-47F8-AE63-0DCEA944486B}"/>
              </a:ext>
            </a:extLst>
          </p:cNvPr>
          <p:cNvGraphicFramePr>
            <a:graphicFrameLocks noGrp="1"/>
          </p:cNvGraphicFramePr>
          <p:nvPr>
            <p:extLst>
              <p:ext uri="{D42A27DB-BD31-4B8C-83A1-F6EECF244321}">
                <p14:modId xmlns:p14="http://schemas.microsoft.com/office/powerpoint/2010/main" val="2404699597"/>
              </p:ext>
            </p:extLst>
          </p:nvPr>
        </p:nvGraphicFramePr>
        <p:xfrm>
          <a:off x="5550672" y="6436568"/>
          <a:ext cx="2444258" cy="304800"/>
        </p:xfrm>
        <a:graphic>
          <a:graphicData uri="http://schemas.openxmlformats.org/drawingml/2006/table">
            <a:tbl>
              <a:tblPr firstRow="1" bandRow="1">
                <a:tableStyleId>{5940675A-B579-460E-94D1-54222C63F5DA}</a:tableStyleId>
              </a:tblPr>
              <a:tblGrid>
                <a:gridCol w="655955">
                  <a:extLst>
                    <a:ext uri="{9D8B030D-6E8A-4147-A177-3AD203B41FA5}">
                      <a16:colId xmlns:a16="http://schemas.microsoft.com/office/drawing/2014/main" val="59961605"/>
                    </a:ext>
                  </a:extLst>
                </a:gridCol>
                <a:gridCol w="1788303">
                  <a:extLst>
                    <a:ext uri="{9D8B030D-6E8A-4147-A177-3AD203B41FA5}">
                      <a16:colId xmlns:a16="http://schemas.microsoft.com/office/drawing/2014/main" val="4086264615"/>
                    </a:ext>
                  </a:extLst>
                </a:gridCol>
              </a:tblGrid>
              <a:tr h="0">
                <a:tc>
                  <a:txBody>
                    <a:bodyPr/>
                    <a:lstStyle/>
                    <a:p>
                      <a:pPr algn="r"/>
                      <a:r>
                        <a:rPr lang="es-CO" sz="1400" dirty="0">
                          <a:solidFill>
                            <a:srgbClr val="00B050"/>
                          </a:solidFill>
                          <a:latin typeface="Consolas" panose="020B0609020204030204" pitchFamily="49" charset="0"/>
                        </a:rPr>
                        <a:t>➔ </a:t>
                      </a:r>
                      <a:r>
                        <a:rPr lang="es-CO" sz="1400" dirty="0">
                          <a:solidFill>
                            <a:schemeClr val="tx1"/>
                          </a:solidFill>
                          <a:highlight>
                            <a:srgbClr val="FFFF00"/>
                          </a:highlight>
                          <a:latin typeface="Consolas" panose="020B0609020204030204" pitchFamily="49" charset="0"/>
                        </a:rPr>
                        <a:t>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r>
                        <a:rPr lang="es-CO" sz="1400" dirty="0">
                          <a:solidFill>
                            <a:schemeClr val="accent5"/>
                          </a:solidFill>
                          <a:latin typeface="Consolas" panose="020B0609020204030204" pitchFamily="49" charset="0"/>
                        </a:rPr>
                        <a:t>Fin del programa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92221210"/>
                  </a:ext>
                </a:extLst>
              </a:tr>
            </a:tbl>
          </a:graphicData>
        </a:graphic>
      </p:graphicFrame>
    </p:spTree>
    <p:extLst>
      <p:ext uri="{BB962C8B-B14F-4D97-AF65-F5344CB8AC3E}">
        <p14:creationId xmlns:p14="http://schemas.microsoft.com/office/powerpoint/2010/main" val="39681641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Variables globales: ¿Sí o No?</a:t>
            </a:r>
            <a:endParaRPr lang="es-CO" sz="3600" dirty="0"/>
          </a:p>
        </p:txBody>
      </p:sp>
      <p:sp>
        <p:nvSpPr>
          <p:cNvPr id="13" name="12 Rectángulo"/>
          <p:cNvSpPr/>
          <p:nvPr/>
        </p:nvSpPr>
        <p:spPr>
          <a:xfrm>
            <a:off x="308782" y="829161"/>
            <a:ext cx="8613543" cy="1015663"/>
          </a:xfrm>
          <a:prstGeom prst="rect">
            <a:avLst/>
          </a:prstGeom>
        </p:spPr>
        <p:txBody>
          <a:bodyPr wrap="square">
            <a:spAutoFit/>
          </a:bodyPr>
          <a:lstStyle/>
          <a:p>
            <a:pPr rtl="0"/>
            <a:r>
              <a:rPr lang="es-MX" sz="2000" b="1" dirty="0"/>
              <a:t>Idea clave</a:t>
            </a:r>
            <a:r>
              <a:rPr lang="es-MX" sz="2000" dirty="0"/>
              <a:t>: una función puede leer una variable global, pero no debería modificarla. Lo que necesita lo recibe por parámetros y lo que produce lo entrega con return.</a:t>
            </a:r>
          </a:p>
        </p:txBody>
      </p:sp>
      <p:graphicFrame>
        <p:nvGraphicFramePr>
          <p:cNvPr id="11" name="Tabla 13">
            <a:extLst>
              <a:ext uri="{FF2B5EF4-FFF2-40B4-BE49-F238E27FC236}">
                <a16:creationId xmlns:a16="http://schemas.microsoft.com/office/drawing/2014/main" id="{9CF57A04-D806-41E6-9CD2-FD4CC369A8B8}"/>
              </a:ext>
            </a:extLst>
          </p:cNvPr>
          <p:cNvGraphicFramePr>
            <a:graphicFrameLocks noGrp="1"/>
          </p:cNvGraphicFramePr>
          <p:nvPr>
            <p:extLst>
              <p:ext uri="{D42A27DB-BD31-4B8C-83A1-F6EECF244321}">
                <p14:modId xmlns:p14="http://schemas.microsoft.com/office/powerpoint/2010/main" val="3238950364"/>
              </p:ext>
            </p:extLst>
          </p:nvPr>
        </p:nvGraphicFramePr>
        <p:xfrm>
          <a:off x="365153" y="2636912"/>
          <a:ext cx="3702791" cy="1554480"/>
        </p:xfrm>
        <a:graphic>
          <a:graphicData uri="http://schemas.openxmlformats.org/drawingml/2006/table">
            <a:tbl>
              <a:tblPr firstRow="1" bandRow="1">
                <a:tableStyleId>{2D5ABB26-0587-4C30-8999-92F81FD0307C}</a:tableStyleId>
              </a:tblPr>
              <a:tblGrid>
                <a:gridCol w="3702791">
                  <a:extLst>
                    <a:ext uri="{9D8B030D-6E8A-4147-A177-3AD203B41FA5}">
                      <a16:colId xmlns:a16="http://schemas.microsoft.com/office/drawing/2014/main" val="499056580"/>
                    </a:ext>
                  </a:extLst>
                </a:gridCol>
              </a:tblGrid>
              <a:tr h="887432">
                <a:tc>
                  <a:txBody>
                    <a:bodyPr/>
                    <a:lstStyle/>
                    <a:p>
                      <a:r>
                        <a:rPr lang="es-CO" sz="1200" dirty="0">
                          <a:latin typeface="Consolas" panose="020B0609020204030204" pitchFamily="49" charset="0"/>
                        </a:rPr>
                        <a:t>CERO_ABSOLUTO = -273.15</a:t>
                      </a:r>
                    </a:p>
                    <a:p>
                      <a:endParaRPr lang="es-CO" sz="1200" dirty="0">
                        <a:latin typeface="Consolas" panose="020B0609020204030204" pitchFamily="49" charset="0"/>
                      </a:endParaRPr>
                    </a:p>
                    <a:p>
                      <a:r>
                        <a:rPr lang="es-CO" sz="1200" dirty="0" err="1">
                          <a:latin typeface="Consolas" panose="020B0609020204030204" pitchFamily="49" charset="0"/>
                        </a:rPr>
                        <a:t>def</a:t>
                      </a:r>
                      <a:r>
                        <a:rPr lang="es-CO" sz="1200" dirty="0">
                          <a:latin typeface="Consolas" panose="020B0609020204030204" pitchFamily="49" charset="0"/>
                        </a:rPr>
                        <a:t> </a:t>
                      </a:r>
                      <a:r>
                        <a:rPr lang="es-CO" sz="1200" dirty="0" err="1">
                          <a:latin typeface="Consolas" panose="020B0609020204030204" pitchFamily="49" charset="0"/>
                        </a:rPr>
                        <a:t>celsius_a_kelvin</a:t>
                      </a:r>
                      <a:r>
                        <a:rPr lang="es-CO" sz="1200" dirty="0">
                          <a:latin typeface="Consolas" panose="020B0609020204030204" pitchFamily="49" charset="0"/>
                        </a:rPr>
                        <a:t>(</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    </a:t>
                      </a:r>
                      <a:r>
                        <a:rPr lang="es-CO" sz="1200" dirty="0" err="1">
                          <a:latin typeface="Consolas" panose="020B0609020204030204" pitchFamily="49" charset="0"/>
                        </a:rPr>
                        <a:t>temp_k</a:t>
                      </a:r>
                      <a:r>
                        <a:rPr lang="es-CO" sz="1200" dirty="0">
                          <a:latin typeface="Consolas" panose="020B0609020204030204" pitchFamily="49" charset="0"/>
                        </a:rPr>
                        <a:t> = </a:t>
                      </a:r>
                      <a:r>
                        <a:rPr lang="es-CO" sz="1200" dirty="0" err="1">
                          <a:latin typeface="Consolas" panose="020B0609020204030204" pitchFamily="49" charset="0"/>
                        </a:rPr>
                        <a:t>temp_c</a:t>
                      </a:r>
                      <a:r>
                        <a:rPr lang="es-CO" sz="1200" dirty="0">
                          <a:latin typeface="Consolas" panose="020B0609020204030204" pitchFamily="49" charset="0"/>
                        </a:rPr>
                        <a:t> - CERO_ABSOLUTO</a:t>
                      </a:r>
                    </a:p>
                    <a:p>
                      <a:r>
                        <a:rPr lang="es-CO" sz="1200" dirty="0">
                          <a:latin typeface="Consolas" panose="020B0609020204030204" pitchFamily="49" charset="0"/>
                        </a:rPr>
                        <a:t>    </a:t>
                      </a:r>
                      <a:r>
                        <a:rPr lang="es-CO" sz="1200" dirty="0" err="1">
                          <a:latin typeface="Consolas" panose="020B0609020204030204" pitchFamily="49" charset="0"/>
                        </a:rPr>
                        <a:t>return</a:t>
                      </a:r>
                      <a:r>
                        <a:rPr lang="es-CO" sz="1200" dirty="0">
                          <a:latin typeface="Consolas" panose="020B0609020204030204" pitchFamily="49" charset="0"/>
                        </a:rPr>
                        <a:t> </a:t>
                      </a:r>
                      <a:r>
                        <a:rPr lang="es-CO" sz="1200" dirty="0" err="1">
                          <a:latin typeface="Consolas" panose="020B0609020204030204" pitchFamily="49" charset="0"/>
                        </a:rPr>
                        <a:t>temp_k</a:t>
                      </a:r>
                      <a:endParaRPr lang="es-CO" sz="1200" dirty="0">
                        <a:latin typeface="Consolas" panose="020B0609020204030204" pitchFamily="49" charset="0"/>
                      </a:endParaRPr>
                    </a:p>
                    <a:p>
                      <a:endParaRPr lang="es-CO" sz="1200" dirty="0">
                        <a:latin typeface="Consolas" panose="020B0609020204030204" pitchFamily="49" charset="0"/>
                      </a:endParaRPr>
                    </a:p>
                    <a:p>
                      <a:r>
                        <a:rPr lang="es-CO" sz="1200" dirty="0" err="1">
                          <a:latin typeface="Consolas" panose="020B0609020204030204" pitchFamily="49" charset="0"/>
                        </a:rPr>
                        <a:t>temp_k</a:t>
                      </a:r>
                      <a:r>
                        <a:rPr lang="es-CO" sz="1200" dirty="0">
                          <a:latin typeface="Consolas" panose="020B0609020204030204" pitchFamily="49" charset="0"/>
                        </a:rPr>
                        <a:t> = </a:t>
                      </a:r>
                      <a:r>
                        <a:rPr lang="es-CO" sz="1200" dirty="0" err="1">
                          <a:latin typeface="Consolas" panose="020B0609020204030204" pitchFamily="49" charset="0"/>
                        </a:rPr>
                        <a:t>celsius_a_kelvin</a:t>
                      </a:r>
                      <a:r>
                        <a:rPr lang="es-CO" sz="1200" dirty="0">
                          <a:latin typeface="Consolas" panose="020B0609020204030204" pitchFamily="49" charset="0"/>
                        </a:rPr>
                        <a:t>(25)</a:t>
                      </a:r>
                    </a:p>
                    <a:p>
                      <a:r>
                        <a:rPr lang="es-CO" sz="1200" dirty="0">
                          <a:latin typeface="Consolas" panose="020B0609020204030204" pitchFamily="49" charset="0"/>
                        </a:rPr>
                        <a:t>print("25 °C =", </a:t>
                      </a:r>
                      <a:r>
                        <a:rPr lang="es-CO" sz="1200" dirty="0" err="1">
                          <a:latin typeface="Consolas" panose="020B0609020204030204" pitchFamily="49" charset="0"/>
                        </a:rPr>
                        <a:t>temp_k</a:t>
                      </a:r>
                      <a:r>
                        <a:rPr lang="es-CO" sz="1200" dirty="0">
                          <a:latin typeface="Consolas" panose="020B0609020204030204" pitchFamily="49" charset="0"/>
                        </a:rPr>
                        <a:t>, "K")</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sp>
        <p:nvSpPr>
          <p:cNvPr id="24" name="CuadroTexto 23">
            <a:extLst>
              <a:ext uri="{FF2B5EF4-FFF2-40B4-BE49-F238E27FC236}">
                <a16:creationId xmlns:a16="http://schemas.microsoft.com/office/drawing/2014/main" id="{CE49B199-3734-442D-8D46-36A677AFFBAD}"/>
              </a:ext>
            </a:extLst>
          </p:cNvPr>
          <p:cNvSpPr txBox="1"/>
          <p:nvPr/>
        </p:nvSpPr>
        <p:spPr>
          <a:xfrm>
            <a:off x="4374232" y="2492896"/>
            <a:ext cx="4572000" cy="3046988"/>
          </a:xfrm>
          <a:prstGeom prst="rect">
            <a:avLst/>
          </a:prstGeom>
          <a:noFill/>
          <a:ln>
            <a:solidFill>
              <a:schemeClr val="tx1"/>
            </a:solidFill>
          </a:ln>
        </p:spPr>
        <p:txBody>
          <a:bodyPr wrap="square">
            <a:spAutoFit/>
          </a:bodyPr>
          <a:lstStyle/>
          <a:p>
            <a:r>
              <a:rPr lang="es-MX" sz="1200" dirty="0">
                <a:latin typeface="Consolas" panose="020B0609020204030204" pitchFamily="49" charset="0"/>
              </a:rPr>
              <a:t>conversiones = 0</a:t>
            </a:r>
          </a:p>
          <a:p>
            <a:endParaRPr lang="es-MX" sz="1200" dirty="0">
              <a:latin typeface="Consolas" panose="020B0609020204030204" pitchFamily="49" charset="0"/>
            </a:endParaRPr>
          </a:p>
          <a:p>
            <a:r>
              <a:rPr lang="es-MX" sz="1200" dirty="0">
                <a:latin typeface="Consolas" panose="020B0609020204030204" pitchFamily="49" charset="0"/>
              </a:rPr>
              <a:t>def </a:t>
            </a:r>
            <a:r>
              <a:rPr lang="es-MX" sz="1200" dirty="0" err="1">
                <a:latin typeface="Consolas" panose="020B0609020204030204" pitchFamily="49" charset="0"/>
              </a:rPr>
              <a:t>celsius_a_fahrenheit</a:t>
            </a:r>
            <a:r>
              <a:rPr lang="es-MX" sz="1200" dirty="0">
                <a:latin typeface="Consolas" panose="020B0609020204030204" pitchFamily="49" charset="0"/>
              </a:rPr>
              <a:t>(</a:t>
            </a:r>
            <a:r>
              <a:rPr lang="es-MX" sz="1200" dirty="0" err="1">
                <a:latin typeface="Consolas" panose="020B0609020204030204" pitchFamily="49" charset="0"/>
              </a:rPr>
              <a:t>temp_c</a:t>
            </a:r>
            <a:r>
              <a:rPr lang="es-MX" sz="1200" dirty="0">
                <a:latin typeface="Consolas" panose="020B0609020204030204" pitchFamily="49" charset="0"/>
              </a:rPr>
              <a:t>):</a:t>
            </a:r>
          </a:p>
          <a:p>
            <a:r>
              <a:rPr lang="es-MX" sz="1200" dirty="0">
                <a:latin typeface="Consolas" panose="020B0609020204030204" pitchFamily="49" charset="0"/>
              </a:rPr>
              <a:t>    </a:t>
            </a:r>
            <a:r>
              <a:rPr lang="es-MX" sz="1200" dirty="0">
                <a:solidFill>
                  <a:schemeClr val="accent4"/>
                </a:solidFill>
                <a:latin typeface="Consolas" panose="020B0609020204030204" pitchFamily="49" charset="0"/>
              </a:rPr>
              <a:t>global</a:t>
            </a:r>
            <a:r>
              <a:rPr lang="es-MX" sz="1200" dirty="0">
                <a:latin typeface="Consolas" panose="020B0609020204030204" pitchFamily="49" charset="0"/>
              </a:rPr>
              <a:t> conversiones</a:t>
            </a:r>
          </a:p>
          <a:p>
            <a:r>
              <a:rPr lang="es-MX" sz="1200" dirty="0">
                <a:latin typeface="Consolas" panose="020B0609020204030204" pitchFamily="49" charset="0"/>
              </a:rPr>
              <a:t>    conversiones = conversiones + 1</a:t>
            </a:r>
          </a:p>
          <a:p>
            <a:r>
              <a:rPr lang="es-MX" sz="1200" dirty="0">
                <a:latin typeface="Consolas" panose="020B0609020204030204" pitchFamily="49" charset="0"/>
              </a:rPr>
              <a:t>    </a:t>
            </a:r>
            <a:r>
              <a:rPr lang="es-MX" sz="1200" dirty="0" err="1">
                <a:latin typeface="Consolas" panose="020B0609020204030204" pitchFamily="49" charset="0"/>
              </a:rPr>
              <a:t>temp_f</a:t>
            </a:r>
            <a:r>
              <a:rPr lang="es-MX" sz="1200" dirty="0">
                <a:latin typeface="Consolas" panose="020B0609020204030204" pitchFamily="49" charset="0"/>
              </a:rPr>
              <a:t> = (9 / 5) * </a:t>
            </a:r>
            <a:r>
              <a:rPr lang="es-MX" sz="1200" dirty="0" err="1">
                <a:latin typeface="Consolas" panose="020B0609020204030204" pitchFamily="49" charset="0"/>
              </a:rPr>
              <a:t>temp_c</a:t>
            </a:r>
            <a:r>
              <a:rPr lang="es-MX" sz="1200" dirty="0">
                <a:latin typeface="Consolas" panose="020B0609020204030204" pitchFamily="49" charset="0"/>
              </a:rPr>
              <a:t> + 32</a:t>
            </a:r>
          </a:p>
          <a:p>
            <a:r>
              <a:rPr lang="es-MX" sz="1200" dirty="0">
                <a:latin typeface="Consolas" panose="020B0609020204030204" pitchFamily="49" charset="0"/>
              </a:rPr>
              <a:t>    return </a:t>
            </a:r>
            <a:r>
              <a:rPr lang="es-MX" sz="1200" dirty="0" err="1">
                <a:latin typeface="Consolas" panose="020B0609020204030204" pitchFamily="49" charset="0"/>
              </a:rPr>
              <a:t>temp_f</a:t>
            </a:r>
            <a:endParaRPr lang="es-MX" sz="1200" dirty="0">
              <a:latin typeface="Consolas" panose="020B0609020204030204" pitchFamily="49" charset="0"/>
            </a:endParaRPr>
          </a:p>
          <a:p>
            <a:endParaRPr lang="es-MX" sz="1200" dirty="0">
              <a:latin typeface="Consolas" panose="020B0609020204030204" pitchFamily="49" charset="0"/>
            </a:endParaRPr>
          </a:p>
          <a:p>
            <a:r>
              <a:rPr lang="es-MX" sz="1200" dirty="0">
                <a:latin typeface="Consolas" panose="020B0609020204030204" pitchFamily="49" charset="0"/>
              </a:rPr>
              <a:t># Pruebas</a:t>
            </a:r>
          </a:p>
          <a:p>
            <a:r>
              <a:rPr lang="es-MX" sz="1200" dirty="0">
                <a:latin typeface="Consolas" panose="020B0609020204030204" pitchFamily="49" charset="0"/>
              </a:rPr>
              <a:t>assert round(</a:t>
            </a:r>
            <a:r>
              <a:rPr lang="es-MX" sz="1200" dirty="0" err="1">
                <a:latin typeface="Consolas" panose="020B0609020204030204" pitchFamily="49" charset="0"/>
              </a:rPr>
              <a:t>celsius_a_fahrenheit</a:t>
            </a:r>
            <a:r>
              <a:rPr lang="es-MX" sz="1200" dirty="0">
                <a:latin typeface="Consolas" panose="020B0609020204030204" pitchFamily="49" charset="0"/>
              </a:rPr>
              <a:t>(100), 2) == 212.0</a:t>
            </a:r>
          </a:p>
          <a:p>
            <a:r>
              <a:rPr lang="es-MX" sz="1200" dirty="0">
                <a:latin typeface="Consolas" panose="020B0609020204030204" pitchFamily="49" charset="0"/>
              </a:rPr>
              <a:t>assert round(</a:t>
            </a:r>
            <a:r>
              <a:rPr lang="es-MX" sz="1200" dirty="0" err="1">
                <a:latin typeface="Consolas" panose="020B0609020204030204" pitchFamily="49" charset="0"/>
              </a:rPr>
              <a:t>celsius_a_fahrenheit</a:t>
            </a:r>
            <a:r>
              <a:rPr lang="es-MX" sz="1200" dirty="0">
                <a:latin typeface="Consolas" panose="020B0609020204030204" pitchFamily="49" charset="0"/>
              </a:rPr>
              <a:t>(0), 2) == 32.0</a:t>
            </a:r>
          </a:p>
          <a:p>
            <a:endParaRPr lang="es-MX" sz="1200" dirty="0">
              <a:latin typeface="Consolas" panose="020B0609020204030204" pitchFamily="49" charset="0"/>
            </a:endParaRPr>
          </a:p>
          <a:p>
            <a:r>
              <a:rPr lang="es-MX" sz="1200" dirty="0">
                <a:latin typeface="Consolas" panose="020B0609020204030204" pitchFamily="49" charset="0"/>
              </a:rPr>
              <a:t># Programa principal: el usuario hace UNA </a:t>
            </a:r>
            <a:r>
              <a:rPr lang="es-MX" sz="1200" dirty="0" err="1">
                <a:latin typeface="Consolas" panose="020B0609020204030204" pitchFamily="49" charset="0"/>
              </a:rPr>
              <a:t>conversion</a:t>
            </a:r>
            <a:endParaRPr lang="es-MX" sz="1200" dirty="0">
              <a:latin typeface="Consolas" panose="020B0609020204030204" pitchFamily="49" charset="0"/>
            </a:endParaRPr>
          </a:p>
          <a:p>
            <a:r>
              <a:rPr lang="es-MX" sz="1200" dirty="0" err="1">
                <a:latin typeface="Consolas" panose="020B0609020204030204" pitchFamily="49" charset="0"/>
              </a:rPr>
              <a:t>temp_f</a:t>
            </a:r>
            <a:r>
              <a:rPr lang="es-MX" sz="1200" dirty="0">
                <a:latin typeface="Consolas" panose="020B0609020204030204" pitchFamily="49" charset="0"/>
              </a:rPr>
              <a:t> = </a:t>
            </a:r>
            <a:r>
              <a:rPr lang="es-MX" sz="1200" dirty="0" err="1">
                <a:latin typeface="Consolas" panose="020B0609020204030204" pitchFamily="49" charset="0"/>
              </a:rPr>
              <a:t>celsius_a_fahrenheit</a:t>
            </a:r>
            <a:r>
              <a:rPr lang="es-MX" sz="1200" dirty="0">
                <a:latin typeface="Consolas" panose="020B0609020204030204" pitchFamily="49" charset="0"/>
              </a:rPr>
              <a:t>(23)</a:t>
            </a:r>
          </a:p>
          <a:p>
            <a:r>
              <a:rPr lang="es-MX" sz="1200" dirty="0">
                <a:latin typeface="Consolas" panose="020B0609020204030204" pitchFamily="49" charset="0"/>
              </a:rPr>
              <a:t>print("23 °C =", </a:t>
            </a:r>
            <a:r>
              <a:rPr lang="es-MX" sz="1200" dirty="0" err="1">
                <a:latin typeface="Consolas" panose="020B0609020204030204" pitchFamily="49" charset="0"/>
              </a:rPr>
              <a:t>temp_f</a:t>
            </a:r>
            <a:r>
              <a:rPr lang="es-MX" sz="1200" dirty="0">
                <a:latin typeface="Consolas" panose="020B0609020204030204" pitchFamily="49" charset="0"/>
              </a:rPr>
              <a:t>, "°F")</a:t>
            </a:r>
          </a:p>
          <a:p>
            <a:r>
              <a:rPr lang="es-MX" sz="1200" dirty="0">
                <a:latin typeface="Consolas" panose="020B0609020204030204" pitchFamily="49" charset="0"/>
              </a:rPr>
              <a:t>print("Conversiones:", conversiones)</a:t>
            </a:r>
            <a:endParaRPr lang="es-CO" sz="1200" dirty="0">
              <a:latin typeface="Consolas" panose="020B0609020204030204" pitchFamily="49" charset="0"/>
            </a:endParaRPr>
          </a:p>
        </p:txBody>
      </p:sp>
      <p:sp>
        <p:nvSpPr>
          <p:cNvPr id="25" name="CuadroTexto 24">
            <a:hlinkClick r:id="rId2"/>
            <a:extLst>
              <a:ext uri="{FF2B5EF4-FFF2-40B4-BE49-F238E27FC236}">
                <a16:creationId xmlns:a16="http://schemas.microsoft.com/office/drawing/2014/main" id="{3658ECAE-DAAE-45DD-9BAA-B8ED9E8E0D15}"/>
              </a:ext>
            </a:extLst>
          </p:cNvPr>
          <p:cNvSpPr txBox="1"/>
          <p:nvPr/>
        </p:nvSpPr>
        <p:spPr>
          <a:xfrm>
            <a:off x="1476531" y="4221088"/>
            <a:ext cx="1664486" cy="276999"/>
          </a:xfrm>
          <a:prstGeom prst="rect">
            <a:avLst/>
          </a:prstGeom>
          <a:noFill/>
        </p:spPr>
        <p:txBody>
          <a:bodyPr wrap="square" rtlCol="0">
            <a:spAutoFit/>
          </a:bodyPr>
          <a:lstStyle/>
          <a:p>
            <a:pPr algn="ctr"/>
            <a:r>
              <a:rPr lang="es-CO" sz="1200" dirty="0">
                <a:hlinkClick r:id="rId2"/>
              </a:rPr>
              <a:t>Link simulación</a:t>
            </a:r>
            <a:endParaRPr lang="es-CO" sz="1200" dirty="0"/>
          </a:p>
        </p:txBody>
      </p:sp>
      <p:sp>
        <p:nvSpPr>
          <p:cNvPr id="26" name="CuadroTexto 25">
            <a:extLst>
              <a:ext uri="{FF2B5EF4-FFF2-40B4-BE49-F238E27FC236}">
                <a16:creationId xmlns:a16="http://schemas.microsoft.com/office/drawing/2014/main" id="{1A795D73-BD52-414F-AFA8-E36438AA7E48}"/>
              </a:ext>
            </a:extLst>
          </p:cNvPr>
          <p:cNvSpPr txBox="1"/>
          <p:nvPr/>
        </p:nvSpPr>
        <p:spPr>
          <a:xfrm>
            <a:off x="4427986" y="2051556"/>
            <a:ext cx="4176462" cy="369332"/>
          </a:xfrm>
          <a:prstGeom prst="rect">
            <a:avLst/>
          </a:prstGeom>
          <a:noFill/>
        </p:spPr>
        <p:txBody>
          <a:bodyPr wrap="square" rtlCol="0">
            <a:spAutoFit/>
          </a:bodyPr>
          <a:lstStyle/>
          <a:p>
            <a:r>
              <a:rPr lang="es-MX" b="1" dirty="0">
                <a:solidFill>
                  <a:schemeClr val="accent5"/>
                </a:solidFill>
              </a:rPr>
              <a:t>No</a:t>
            </a:r>
            <a:r>
              <a:rPr lang="es-MX" b="1" dirty="0"/>
              <a:t>: modificar una global con </a:t>
            </a:r>
            <a:r>
              <a:rPr lang="es-MX" sz="1600" b="1" dirty="0">
                <a:solidFill>
                  <a:schemeClr val="accent4"/>
                </a:solidFill>
                <a:latin typeface="Consolas" panose="020B0609020204030204" pitchFamily="49" charset="0"/>
              </a:rPr>
              <a:t>global</a:t>
            </a:r>
            <a:endParaRPr lang="es-CO" b="1" dirty="0">
              <a:solidFill>
                <a:schemeClr val="accent4"/>
              </a:solidFill>
              <a:latin typeface="Consolas" panose="020B0609020204030204" pitchFamily="49" charset="0"/>
            </a:endParaRPr>
          </a:p>
        </p:txBody>
      </p:sp>
      <p:sp>
        <p:nvSpPr>
          <p:cNvPr id="14" name="CuadroTexto 13">
            <a:extLst>
              <a:ext uri="{FF2B5EF4-FFF2-40B4-BE49-F238E27FC236}">
                <a16:creationId xmlns:a16="http://schemas.microsoft.com/office/drawing/2014/main" id="{1DBD656B-98A5-4B51-BE37-32316D62CB7E}"/>
              </a:ext>
            </a:extLst>
          </p:cNvPr>
          <p:cNvSpPr txBox="1"/>
          <p:nvPr/>
        </p:nvSpPr>
        <p:spPr>
          <a:xfrm>
            <a:off x="323528" y="1918573"/>
            <a:ext cx="3759161" cy="646331"/>
          </a:xfrm>
          <a:prstGeom prst="rect">
            <a:avLst/>
          </a:prstGeom>
          <a:noFill/>
        </p:spPr>
        <p:txBody>
          <a:bodyPr wrap="square" rtlCol="0">
            <a:spAutoFit/>
          </a:bodyPr>
          <a:lstStyle/>
          <a:p>
            <a:r>
              <a:rPr lang="es-CO" b="1" dirty="0">
                <a:solidFill>
                  <a:srgbClr val="00B050"/>
                </a:solidFill>
              </a:rPr>
              <a:t>Si</a:t>
            </a:r>
            <a:r>
              <a:rPr lang="es-CO" dirty="0"/>
              <a:t>: </a:t>
            </a:r>
            <a:r>
              <a:rPr lang="es-CO" b="1" dirty="0"/>
              <a:t>c</a:t>
            </a:r>
            <a:r>
              <a:rPr lang="es-MX" b="1" dirty="0"/>
              <a:t>onstantes globales</a:t>
            </a:r>
            <a:r>
              <a:rPr lang="es-MX" dirty="0"/>
              <a:t> (en MAYÚSCULA; su valor nunca cambia)</a:t>
            </a:r>
            <a:endParaRPr lang="es-CO" b="1" dirty="0"/>
          </a:p>
        </p:txBody>
      </p:sp>
      <p:sp>
        <p:nvSpPr>
          <p:cNvPr id="15" name="CuadroTexto 14">
            <a:hlinkClick r:id="rId2"/>
            <a:extLst>
              <a:ext uri="{FF2B5EF4-FFF2-40B4-BE49-F238E27FC236}">
                <a16:creationId xmlns:a16="http://schemas.microsoft.com/office/drawing/2014/main" id="{A2B5DBF8-8C6B-4D65-9F4B-05EE7F678AA4}"/>
              </a:ext>
            </a:extLst>
          </p:cNvPr>
          <p:cNvSpPr txBox="1"/>
          <p:nvPr/>
        </p:nvSpPr>
        <p:spPr>
          <a:xfrm>
            <a:off x="5827989" y="5545400"/>
            <a:ext cx="1664486" cy="276999"/>
          </a:xfrm>
          <a:prstGeom prst="rect">
            <a:avLst/>
          </a:prstGeom>
          <a:noFill/>
        </p:spPr>
        <p:txBody>
          <a:bodyPr wrap="square" rtlCol="0">
            <a:spAutoFit/>
          </a:bodyPr>
          <a:lstStyle/>
          <a:p>
            <a:pPr algn="ctr"/>
            <a:r>
              <a:rPr lang="es-CO" sz="1200" dirty="0">
                <a:hlinkClick r:id="rId3"/>
              </a:rPr>
              <a:t>Link simulación</a:t>
            </a:r>
            <a:endParaRPr lang="es-CO" sz="1200" dirty="0"/>
          </a:p>
        </p:txBody>
      </p:sp>
      <p:sp>
        <p:nvSpPr>
          <p:cNvPr id="17" name="CuadroTexto 16">
            <a:extLst>
              <a:ext uri="{FF2B5EF4-FFF2-40B4-BE49-F238E27FC236}">
                <a16:creationId xmlns:a16="http://schemas.microsoft.com/office/drawing/2014/main" id="{EFB0EDE6-2AA3-43E3-A4EF-EA5603DEFE7C}"/>
              </a:ext>
            </a:extLst>
          </p:cNvPr>
          <p:cNvSpPr txBox="1"/>
          <p:nvPr/>
        </p:nvSpPr>
        <p:spPr>
          <a:xfrm>
            <a:off x="402964" y="6248345"/>
            <a:ext cx="3702791" cy="276999"/>
          </a:xfrm>
          <a:prstGeom prst="rect">
            <a:avLst/>
          </a:prstGeom>
          <a:noFill/>
          <a:ln>
            <a:solidFill>
              <a:schemeClr val="tx1"/>
            </a:solidFill>
          </a:ln>
        </p:spPr>
        <p:txBody>
          <a:bodyPr wrap="square">
            <a:spAutoFit/>
          </a:bodyPr>
          <a:lstStyle/>
          <a:p>
            <a:r>
              <a:rPr lang="es-CO" sz="1200" dirty="0">
                <a:latin typeface="Consolas" panose="020B0609020204030204" pitchFamily="49" charset="0"/>
              </a:rPr>
              <a:t>25 °C = 298.15 </a:t>
            </a:r>
            <a:r>
              <a:rPr lang="es-CO" sz="1200" dirty="0" err="1">
                <a:latin typeface="Consolas" panose="020B0609020204030204" pitchFamily="49" charset="0"/>
              </a:rPr>
              <a:t>°K</a:t>
            </a:r>
            <a:endParaRPr lang="es-CO" sz="1200" dirty="0">
              <a:latin typeface="Consolas" panose="020B0609020204030204" pitchFamily="49" charset="0"/>
            </a:endParaRPr>
          </a:p>
        </p:txBody>
      </p:sp>
      <p:sp>
        <p:nvSpPr>
          <p:cNvPr id="18" name="CuadroTexto 17">
            <a:extLst>
              <a:ext uri="{FF2B5EF4-FFF2-40B4-BE49-F238E27FC236}">
                <a16:creationId xmlns:a16="http://schemas.microsoft.com/office/drawing/2014/main" id="{D0013565-42EB-42AD-8933-619D6A34A9E5}"/>
              </a:ext>
            </a:extLst>
          </p:cNvPr>
          <p:cNvSpPr txBox="1"/>
          <p:nvPr/>
        </p:nvSpPr>
        <p:spPr>
          <a:xfrm>
            <a:off x="4397601" y="6207695"/>
            <a:ext cx="4572000" cy="461665"/>
          </a:xfrm>
          <a:prstGeom prst="rect">
            <a:avLst/>
          </a:prstGeom>
          <a:noFill/>
          <a:ln>
            <a:solidFill>
              <a:schemeClr val="tx1"/>
            </a:solidFill>
          </a:ln>
        </p:spPr>
        <p:txBody>
          <a:bodyPr wrap="square">
            <a:spAutoFit/>
          </a:bodyPr>
          <a:lstStyle/>
          <a:p>
            <a:r>
              <a:rPr lang="es-CO" sz="1200" dirty="0">
                <a:latin typeface="Consolas" panose="020B0609020204030204" pitchFamily="49" charset="0"/>
              </a:rPr>
              <a:t>23 °C = 73.4 °F</a:t>
            </a:r>
          </a:p>
          <a:p>
            <a:r>
              <a:rPr lang="es-CO" sz="1200" dirty="0">
                <a:latin typeface="Consolas" panose="020B0609020204030204" pitchFamily="49" charset="0"/>
              </a:rPr>
              <a:t>Conversiones: 3</a:t>
            </a:r>
          </a:p>
        </p:txBody>
      </p:sp>
      <p:sp>
        <p:nvSpPr>
          <p:cNvPr id="20" name="CuadroTexto 19">
            <a:extLst>
              <a:ext uri="{FF2B5EF4-FFF2-40B4-BE49-F238E27FC236}">
                <a16:creationId xmlns:a16="http://schemas.microsoft.com/office/drawing/2014/main" id="{F9016B5F-0537-4FB6-B4F5-41B8BAA7EF37}"/>
              </a:ext>
            </a:extLst>
          </p:cNvPr>
          <p:cNvSpPr txBox="1"/>
          <p:nvPr/>
        </p:nvSpPr>
        <p:spPr>
          <a:xfrm>
            <a:off x="352355" y="5898758"/>
            <a:ext cx="2114790" cy="338554"/>
          </a:xfrm>
          <a:prstGeom prst="rect">
            <a:avLst/>
          </a:prstGeom>
          <a:noFill/>
        </p:spPr>
        <p:txBody>
          <a:bodyPr wrap="square" rtlCol="0">
            <a:spAutoFit/>
          </a:bodyPr>
          <a:lstStyle/>
          <a:p>
            <a:r>
              <a:rPr lang="es-CO" sz="1600" b="1" dirty="0"/>
              <a:t>Salida en pantalla</a:t>
            </a:r>
          </a:p>
        </p:txBody>
      </p:sp>
      <p:sp>
        <p:nvSpPr>
          <p:cNvPr id="21" name="CuadroTexto 20">
            <a:extLst>
              <a:ext uri="{FF2B5EF4-FFF2-40B4-BE49-F238E27FC236}">
                <a16:creationId xmlns:a16="http://schemas.microsoft.com/office/drawing/2014/main" id="{3FD198C7-6FD0-475B-AAF9-28238F29CD78}"/>
              </a:ext>
            </a:extLst>
          </p:cNvPr>
          <p:cNvSpPr txBox="1"/>
          <p:nvPr/>
        </p:nvSpPr>
        <p:spPr>
          <a:xfrm>
            <a:off x="4363530" y="5877272"/>
            <a:ext cx="2114790" cy="338554"/>
          </a:xfrm>
          <a:prstGeom prst="rect">
            <a:avLst/>
          </a:prstGeom>
          <a:noFill/>
        </p:spPr>
        <p:txBody>
          <a:bodyPr wrap="square" rtlCol="0">
            <a:spAutoFit/>
          </a:bodyPr>
          <a:lstStyle/>
          <a:p>
            <a:r>
              <a:rPr lang="es-CO" sz="1600" b="1" dirty="0"/>
              <a:t>Salida en pantalla</a:t>
            </a:r>
          </a:p>
        </p:txBody>
      </p:sp>
    </p:spTree>
    <p:extLst>
      <p:ext uri="{BB962C8B-B14F-4D97-AF65-F5344CB8AC3E}">
        <p14:creationId xmlns:p14="http://schemas.microsoft.com/office/powerpoint/2010/main" val="23995770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Errores típicos de ámbito</a:t>
            </a:r>
          </a:p>
        </p:txBody>
      </p:sp>
      <p:sp>
        <p:nvSpPr>
          <p:cNvPr id="13" name="12 Rectángulo"/>
          <p:cNvSpPr/>
          <p:nvPr/>
        </p:nvSpPr>
        <p:spPr>
          <a:xfrm>
            <a:off x="308782" y="829161"/>
            <a:ext cx="8613543" cy="2862322"/>
          </a:xfrm>
          <a:prstGeom prst="rect">
            <a:avLst/>
          </a:prstGeom>
        </p:spPr>
        <p:txBody>
          <a:bodyPr wrap="square">
            <a:spAutoFit/>
          </a:bodyPr>
          <a:lstStyle/>
          <a:p>
            <a:r>
              <a:rPr lang="es-MX" sz="2000" dirty="0"/>
              <a:t>Si no se respeta el ámbito de las variables, Python lo avisa con un </a:t>
            </a:r>
            <a:r>
              <a:rPr lang="es-MX" sz="2000" b="1" dirty="0"/>
              <a:t>error</a:t>
            </a:r>
            <a:r>
              <a:rPr lang="es-MX" sz="2000" dirty="0"/>
              <a:t>.</a:t>
            </a:r>
          </a:p>
          <a:p>
            <a:r>
              <a:rPr lang="es-MX" sz="2000" b="1" dirty="0"/>
              <a:t>Caso 1</a:t>
            </a:r>
            <a:r>
              <a:rPr lang="es-MX" sz="2000" dirty="0"/>
              <a:t>: usar afuera una variable local.</a:t>
            </a:r>
          </a:p>
          <a:p>
            <a:endParaRPr lang="es-MX" sz="2000" dirty="0"/>
          </a:p>
          <a:p>
            <a:endParaRPr lang="es-MX" sz="2000" dirty="0"/>
          </a:p>
          <a:p>
            <a:endParaRPr lang="es-MX" sz="2000" dirty="0"/>
          </a:p>
          <a:p>
            <a:endParaRPr lang="es-MX" sz="2000" dirty="0"/>
          </a:p>
          <a:p>
            <a:endParaRPr lang="es-MX" sz="2000" dirty="0"/>
          </a:p>
          <a:p>
            <a:endParaRPr lang="es-MX" sz="2000" dirty="0"/>
          </a:p>
          <a:p>
            <a:r>
              <a:rPr lang="es-MX" sz="2000" b="1" dirty="0"/>
              <a:t>Caso 2</a:t>
            </a:r>
            <a:r>
              <a:rPr lang="es-MX" sz="2000" dirty="0"/>
              <a:t>: modificar una global sin global.</a:t>
            </a:r>
          </a:p>
        </p:txBody>
      </p:sp>
      <p:graphicFrame>
        <p:nvGraphicFramePr>
          <p:cNvPr id="11" name="Tabla 13">
            <a:extLst>
              <a:ext uri="{FF2B5EF4-FFF2-40B4-BE49-F238E27FC236}">
                <a16:creationId xmlns:a16="http://schemas.microsoft.com/office/drawing/2014/main" id="{9CF57A04-D806-41E6-9CD2-FD4CC369A8B8}"/>
              </a:ext>
            </a:extLst>
          </p:cNvPr>
          <p:cNvGraphicFramePr>
            <a:graphicFrameLocks noGrp="1"/>
          </p:cNvGraphicFramePr>
          <p:nvPr>
            <p:extLst>
              <p:ext uri="{D42A27DB-BD31-4B8C-83A1-F6EECF244321}">
                <p14:modId xmlns:p14="http://schemas.microsoft.com/office/powerpoint/2010/main" val="110577181"/>
              </p:ext>
            </p:extLst>
          </p:nvPr>
        </p:nvGraphicFramePr>
        <p:xfrm>
          <a:off x="581177" y="1625352"/>
          <a:ext cx="3702791" cy="1371600"/>
        </p:xfrm>
        <a:graphic>
          <a:graphicData uri="http://schemas.openxmlformats.org/drawingml/2006/table">
            <a:tbl>
              <a:tblPr firstRow="1" bandRow="1">
                <a:tableStyleId>{2D5ABB26-0587-4C30-8999-92F81FD0307C}</a:tableStyleId>
              </a:tblPr>
              <a:tblGrid>
                <a:gridCol w="3702791">
                  <a:extLst>
                    <a:ext uri="{9D8B030D-6E8A-4147-A177-3AD203B41FA5}">
                      <a16:colId xmlns:a16="http://schemas.microsoft.com/office/drawing/2014/main" val="499056580"/>
                    </a:ext>
                  </a:extLst>
                </a:gridCol>
              </a:tblGrid>
              <a:tr h="887432">
                <a:tc>
                  <a:txBody>
                    <a:bodyPr/>
                    <a:lstStyle/>
                    <a:p>
                      <a:r>
                        <a:rPr lang="es-CO" sz="1200" dirty="0" err="1">
                          <a:latin typeface="Consolas" panose="020B0609020204030204" pitchFamily="49" charset="0"/>
                        </a:rPr>
                        <a:t>def</a:t>
                      </a:r>
                      <a:r>
                        <a:rPr lang="es-CO" sz="1200" dirty="0">
                          <a:latin typeface="Consolas" panose="020B0609020204030204" pitchFamily="49" charset="0"/>
                        </a:rPr>
                        <a:t> </a:t>
                      </a:r>
                      <a:r>
                        <a:rPr lang="es-CO" sz="1200" dirty="0" err="1">
                          <a:latin typeface="Consolas" panose="020B0609020204030204" pitchFamily="49" charset="0"/>
                        </a:rPr>
                        <a:t>celsius_a_fahrenheit</a:t>
                      </a:r>
                      <a:r>
                        <a:rPr lang="es-CO" sz="1200" dirty="0">
                          <a:latin typeface="Consolas" panose="020B0609020204030204" pitchFamily="49" charset="0"/>
                        </a:rPr>
                        <a:t>(</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    </a:t>
                      </a:r>
                      <a:r>
                        <a:rPr lang="es-CO" sz="1200" dirty="0" err="1">
                          <a:latin typeface="Consolas" panose="020B0609020204030204" pitchFamily="49" charset="0"/>
                        </a:rPr>
                        <a:t>temp_f</a:t>
                      </a:r>
                      <a:r>
                        <a:rPr lang="es-CO" sz="1200" dirty="0">
                          <a:latin typeface="Consolas" panose="020B0609020204030204" pitchFamily="49" charset="0"/>
                        </a:rPr>
                        <a:t> = (9 / 5) * </a:t>
                      </a:r>
                      <a:r>
                        <a:rPr lang="es-CO" sz="1200" dirty="0" err="1">
                          <a:latin typeface="Consolas" panose="020B0609020204030204" pitchFamily="49" charset="0"/>
                        </a:rPr>
                        <a:t>temp_c</a:t>
                      </a:r>
                      <a:r>
                        <a:rPr lang="es-CO" sz="1200" dirty="0">
                          <a:latin typeface="Consolas" panose="020B0609020204030204" pitchFamily="49" charset="0"/>
                        </a:rPr>
                        <a:t> + 32</a:t>
                      </a:r>
                    </a:p>
                    <a:p>
                      <a:r>
                        <a:rPr lang="es-CO" sz="1200" dirty="0">
                          <a:latin typeface="Consolas" panose="020B0609020204030204" pitchFamily="49" charset="0"/>
                        </a:rPr>
                        <a:t>    </a:t>
                      </a:r>
                      <a:r>
                        <a:rPr lang="es-CO" sz="1200" dirty="0" err="1">
                          <a:latin typeface="Consolas" panose="020B0609020204030204" pitchFamily="49" charset="0"/>
                        </a:rPr>
                        <a:t>return</a:t>
                      </a:r>
                      <a:r>
                        <a:rPr lang="es-CO" sz="1200" dirty="0">
                          <a:latin typeface="Consolas" panose="020B0609020204030204" pitchFamily="49" charset="0"/>
                        </a:rPr>
                        <a:t> </a:t>
                      </a:r>
                      <a:r>
                        <a:rPr lang="es-CO" sz="1200" dirty="0" err="1">
                          <a:latin typeface="Consolas" panose="020B0609020204030204" pitchFamily="49" charset="0"/>
                        </a:rPr>
                        <a:t>temp_f</a:t>
                      </a:r>
                      <a:endParaRPr lang="es-CO" sz="1200" dirty="0">
                        <a:latin typeface="Consolas" panose="020B0609020204030204" pitchFamily="49" charset="0"/>
                      </a:endParaRPr>
                    </a:p>
                    <a:p>
                      <a:endParaRPr lang="es-CO" sz="1200" dirty="0">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s-CO" sz="1200" dirty="0">
                          <a:latin typeface="Consolas" panose="020B0609020204030204" pitchFamily="49" charset="0"/>
                        </a:rPr>
                        <a:t># el resultado no se guarda</a:t>
                      </a:r>
                    </a:p>
                    <a:p>
                      <a:r>
                        <a:rPr lang="es-CO" sz="1200" dirty="0" err="1">
                          <a:latin typeface="Consolas" panose="020B0609020204030204" pitchFamily="49" charset="0"/>
                        </a:rPr>
                        <a:t>celsius_a_fahrenheit</a:t>
                      </a:r>
                      <a:r>
                        <a:rPr lang="es-CO" sz="1200" dirty="0">
                          <a:latin typeface="Consolas" panose="020B0609020204030204" pitchFamily="49" charset="0"/>
                        </a:rPr>
                        <a:t>(23)     </a:t>
                      </a:r>
                    </a:p>
                    <a:p>
                      <a:r>
                        <a:rPr lang="es-CO" sz="1200" dirty="0">
                          <a:latin typeface="Consolas" panose="020B0609020204030204" pitchFamily="49" charset="0"/>
                        </a:rPr>
                        <a:t>print(temp_f)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sp>
        <p:nvSpPr>
          <p:cNvPr id="24" name="CuadroTexto 23">
            <a:extLst>
              <a:ext uri="{FF2B5EF4-FFF2-40B4-BE49-F238E27FC236}">
                <a16:creationId xmlns:a16="http://schemas.microsoft.com/office/drawing/2014/main" id="{CE49B199-3734-442D-8D46-36A677AFFBAD}"/>
              </a:ext>
            </a:extLst>
          </p:cNvPr>
          <p:cNvSpPr txBox="1"/>
          <p:nvPr/>
        </p:nvSpPr>
        <p:spPr>
          <a:xfrm>
            <a:off x="581177" y="3803556"/>
            <a:ext cx="3702791" cy="1569660"/>
          </a:xfrm>
          <a:prstGeom prst="rect">
            <a:avLst/>
          </a:prstGeom>
          <a:noFill/>
          <a:ln>
            <a:solidFill>
              <a:schemeClr val="tx1"/>
            </a:solidFill>
          </a:ln>
        </p:spPr>
        <p:txBody>
          <a:bodyPr wrap="square">
            <a:spAutoFit/>
          </a:bodyPr>
          <a:lstStyle/>
          <a:p>
            <a:r>
              <a:rPr lang="es-MX" sz="1200" dirty="0">
                <a:latin typeface="Consolas" panose="020B0609020204030204" pitchFamily="49" charset="0"/>
              </a:rPr>
              <a:t>conversiones = 0</a:t>
            </a:r>
          </a:p>
          <a:p>
            <a:endParaRPr lang="es-MX" sz="1200" dirty="0">
              <a:latin typeface="Consolas" panose="020B0609020204030204" pitchFamily="49" charset="0"/>
            </a:endParaRPr>
          </a:p>
          <a:p>
            <a:r>
              <a:rPr lang="es-MX" sz="1200" dirty="0">
                <a:latin typeface="Consolas" panose="020B0609020204030204" pitchFamily="49" charset="0"/>
              </a:rPr>
              <a:t>def </a:t>
            </a:r>
            <a:r>
              <a:rPr lang="es-MX" sz="1200" dirty="0" err="1">
                <a:latin typeface="Consolas" panose="020B0609020204030204" pitchFamily="49" charset="0"/>
              </a:rPr>
              <a:t>celsius_a_fahrenheit</a:t>
            </a:r>
            <a:r>
              <a:rPr lang="es-MX" sz="1200" dirty="0">
                <a:latin typeface="Consolas" panose="020B0609020204030204" pitchFamily="49" charset="0"/>
              </a:rPr>
              <a:t>(</a:t>
            </a:r>
            <a:r>
              <a:rPr lang="es-MX" sz="1200" dirty="0" err="1">
                <a:latin typeface="Consolas" panose="020B0609020204030204" pitchFamily="49" charset="0"/>
              </a:rPr>
              <a:t>temp_c</a:t>
            </a:r>
            <a:r>
              <a:rPr lang="es-MX" sz="1200" dirty="0">
                <a:latin typeface="Consolas" panose="020B0609020204030204" pitchFamily="49" charset="0"/>
              </a:rPr>
              <a:t>):</a:t>
            </a:r>
          </a:p>
          <a:p>
            <a:r>
              <a:rPr lang="es-MX" sz="1200" dirty="0">
                <a:latin typeface="Consolas" panose="020B0609020204030204" pitchFamily="49" charset="0"/>
              </a:rPr>
              <a:t>    conversiones = conversiones + 1</a:t>
            </a:r>
          </a:p>
          <a:p>
            <a:r>
              <a:rPr lang="es-MX" sz="1200" dirty="0">
                <a:latin typeface="Consolas" panose="020B0609020204030204" pitchFamily="49" charset="0"/>
              </a:rPr>
              <a:t>    </a:t>
            </a:r>
            <a:r>
              <a:rPr lang="es-MX" sz="1200" dirty="0" err="1">
                <a:latin typeface="Consolas" panose="020B0609020204030204" pitchFamily="49" charset="0"/>
              </a:rPr>
              <a:t>temp_f</a:t>
            </a:r>
            <a:r>
              <a:rPr lang="es-MX" sz="1200" dirty="0">
                <a:latin typeface="Consolas" panose="020B0609020204030204" pitchFamily="49" charset="0"/>
              </a:rPr>
              <a:t> = (9 / 5) * </a:t>
            </a:r>
            <a:r>
              <a:rPr lang="es-MX" sz="1200" dirty="0" err="1">
                <a:latin typeface="Consolas" panose="020B0609020204030204" pitchFamily="49" charset="0"/>
              </a:rPr>
              <a:t>temp_c</a:t>
            </a:r>
            <a:r>
              <a:rPr lang="es-MX" sz="1200" dirty="0">
                <a:latin typeface="Consolas" panose="020B0609020204030204" pitchFamily="49" charset="0"/>
              </a:rPr>
              <a:t> + 32</a:t>
            </a:r>
          </a:p>
          <a:p>
            <a:r>
              <a:rPr lang="es-MX" sz="1200" dirty="0">
                <a:latin typeface="Consolas" panose="020B0609020204030204" pitchFamily="49" charset="0"/>
              </a:rPr>
              <a:t>    return </a:t>
            </a:r>
            <a:r>
              <a:rPr lang="es-MX" sz="1200" dirty="0" err="1">
                <a:latin typeface="Consolas" panose="020B0609020204030204" pitchFamily="49" charset="0"/>
              </a:rPr>
              <a:t>temp_f</a:t>
            </a:r>
            <a:endParaRPr lang="es-MX" sz="1200" dirty="0">
              <a:latin typeface="Consolas" panose="020B0609020204030204" pitchFamily="49" charset="0"/>
            </a:endParaRPr>
          </a:p>
          <a:p>
            <a:endParaRPr lang="es-MX" sz="1200" dirty="0">
              <a:latin typeface="Consolas" panose="020B0609020204030204" pitchFamily="49" charset="0"/>
            </a:endParaRPr>
          </a:p>
          <a:p>
            <a:r>
              <a:rPr lang="es-MX" sz="1200" dirty="0" err="1">
                <a:latin typeface="Consolas" panose="020B0609020204030204" pitchFamily="49" charset="0"/>
              </a:rPr>
              <a:t>temp_f</a:t>
            </a:r>
            <a:r>
              <a:rPr lang="es-MX" sz="1200" dirty="0">
                <a:latin typeface="Consolas" panose="020B0609020204030204" pitchFamily="49" charset="0"/>
              </a:rPr>
              <a:t> = </a:t>
            </a:r>
            <a:r>
              <a:rPr lang="es-MX" sz="1200" dirty="0" err="1">
                <a:latin typeface="Consolas" panose="020B0609020204030204" pitchFamily="49" charset="0"/>
              </a:rPr>
              <a:t>celsius_a_fahrenheit</a:t>
            </a:r>
            <a:r>
              <a:rPr lang="es-MX" sz="1200" dirty="0">
                <a:latin typeface="Consolas" panose="020B0609020204030204" pitchFamily="49" charset="0"/>
              </a:rPr>
              <a:t>(23)</a:t>
            </a:r>
            <a:endParaRPr lang="es-CO" sz="1200" dirty="0">
              <a:latin typeface="Consolas" panose="020B0609020204030204" pitchFamily="49" charset="0"/>
            </a:endParaRPr>
          </a:p>
        </p:txBody>
      </p:sp>
      <p:sp>
        <p:nvSpPr>
          <p:cNvPr id="25" name="CuadroTexto 24">
            <a:hlinkClick r:id="rId2"/>
            <a:extLst>
              <a:ext uri="{FF2B5EF4-FFF2-40B4-BE49-F238E27FC236}">
                <a16:creationId xmlns:a16="http://schemas.microsoft.com/office/drawing/2014/main" id="{3658ECAE-DAAE-45DD-9BAA-B8ED9E8E0D15}"/>
              </a:ext>
            </a:extLst>
          </p:cNvPr>
          <p:cNvSpPr txBox="1"/>
          <p:nvPr/>
        </p:nvSpPr>
        <p:spPr>
          <a:xfrm>
            <a:off x="1539362" y="5384249"/>
            <a:ext cx="1664486" cy="276999"/>
          </a:xfrm>
          <a:prstGeom prst="rect">
            <a:avLst/>
          </a:prstGeom>
          <a:noFill/>
        </p:spPr>
        <p:txBody>
          <a:bodyPr wrap="square" rtlCol="0">
            <a:spAutoFit/>
          </a:bodyPr>
          <a:lstStyle/>
          <a:p>
            <a:pPr algn="ctr"/>
            <a:r>
              <a:rPr lang="es-CO" sz="1200" dirty="0">
                <a:hlinkClick r:id="rId3"/>
              </a:rPr>
              <a:t>Link simulación</a:t>
            </a:r>
            <a:endParaRPr lang="es-CO" sz="1200" dirty="0"/>
          </a:p>
        </p:txBody>
      </p:sp>
      <p:sp>
        <p:nvSpPr>
          <p:cNvPr id="15" name="CuadroTexto 14">
            <a:hlinkClick r:id="rId2"/>
            <a:extLst>
              <a:ext uri="{FF2B5EF4-FFF2-40B4-BE49-F238E27FC236}">
                <a16:creationId xmlns:a16="http://schemas.microsoft.com/office/drawing/2014/main" id="{A2B5DBF8-8C6B-4D65-9F4B-05EE7F678AA4}"/>
              </a:ext>
            </a:extLst>
          </p:cNvPr>
          <p:cNvSpPr txBox="1"/>
          <p:nvPr/>
        </p:nvSpPr>
        <p:spPr>
          <a:xfrm>
            <a:off x="1547664" y="3002057"/>
            <a:ext cx="1664486" cy="276999"/>
          </a:xfrm>
          <a:prstGeom prst="rect">
            <a:avLst/>
          </a:prstGeom>
          <a:noFill/>
        </p:spPr>
        <p:txBody>
          <a:bodyPr wrap="square" rtlCol="0">
            <a:spAutoFit/>
          </a:bodyPr>
          <a:lstStyle/>
          <a:p>
            <a:pPr algn="ctr"/>
            <a:r>
              <a:rPr lang="es-CO" sz="1200" dirty="0">
                <a:hlinkClick r:id="rId4"/>
              </a:rPr>
              <a:t>Link simulación</a:t>
            </a:r>
            <a:endParaRPr lang="es-CO" sz="1200" dirty="0"/>
          </a:p>
        </p:txBody>
      </p:sp>
      <p:sp>
        <p:nvSpPr>
          <p:cNvPr id="17" name="CuadroTexto 16">
            <a:extLst>
              <a:ext uri="{FF2B5EF4-FFF2-40B4-BE49-F238E27FC236}">
                <a16:creationId xmlns:a16="http://schemas.microsoft.com/office/drawing/2014/main" id="{EFB0EDE6-2AA3-43E3-A4EF-EA5603DEFE7C}"/>
              </a:ext>
            </a:extLst>
          </p:cNvPr>
          <p:cNvSpPr txBox="1"/>
          <p:nvPr/>
        </p:nvSpPr>
        <p:spPr>
          <a:xfrm>
            <a:off x="4726391" y="1772816"/>
            <a:ext cx="3702791" cy="276999"/>
          </a:xfrm>
          <a:prstGeom prst="rect">
            <a:avLst/>
          </a:prstGeom>
          <a:noFill/>
          <a:ln>
            <a:solidFill>
              <a:schemeClr val="tx1"/>
            </a:solidFill>
          </a:ln>
        </p:spPr>
        <p:txBody>
          <a:bodyPr wrap="square">
            <a:spAutoFit/>
          </a:bodyPr>
          <a:lstStyle/>
          <a:p>
            <a:r>
              <a:rPr lang="en-US" sz="1200" dirty="0" err="1">
                <a:latin typeface="Consolas" panose="020B0609020204030204" pitchFamily="49" charset="0"/>
              </a:rPr>
              <a:t>NameError</a:t>
            </a:r>
            <a:r>
              <a:rPr lang="en-US" sz="1200" dirty="0">
                <a:latin typeface="Consolas" panose="020B0609020204030204" pitchFamily="49" charset="0"/>
              </a:rPr>
              <a:t>: name '</a:t>
            </a:r>
            <a:r>
              <a:rPr lang="en-US" sz="1200" dirty="0" err="1">
                <a:latin typeface="Consolas" panose="020B0609020204030204" pitchFamily="49" charset="0"/>
              </a:rPr>
              <a:t>temp_f</a:t>
            </a:r>
            <a:r>
              <a:rPr lang="en-US" sz="1200" dirty="0">
                <a:latin typeface="Consolas" panose="020B0609020204030204" pitchFamily="49" charset="0"/>
              </a:rPr>
              <a:t>' is not defined</a:t>
            </a:r>
            <a:endParaRPr lang="es-CO" sz="1200" dirty="0">
              <a:latin typeface="Consolas" panose="020B0609020204030204" pitchFamily="49" charset="0"/>
            </a:endParaRPr>
          </a:p>
        </p:txBody>
      </p:sp>
      <p:sp>
        <p:nvSpPr>
          <p:cNvPr id="18" name="CuadroTexto 17">
            <a:extLst>
              <a:ext uri="{FF2B5EF4-FFF2-40B4-BE49-F238E27FC236}">
                <a16:creationId xmlns:a16="http://schemas.microsoft.com/office/drawing/2014/main" id="{D0013565-42EB-42AD-8933-619D6A34A9E5}"/>
              </a:ext>
            </a:extLst>
          </p:cNvPr>
          <p:cNvSpPr txBox="1"/>
          <p:nvPr/>
        </p:nvSpPr>
        <p:spPr>
          <a:xfrm>
            <a:off x="4752528" y="4149080"/>
            <a:ext cx="3702790" cy="646331"/>
          </a:xfrm>
          <a:prstGeom prst="rect">
            <a:avLst/>
          </a:prstGeom>
          <a:noFill/>
          <a:ln>
            <a:solidFill>
              <a:schemeClr val="tx1"/>
            </a:solidFill>
          </a:ln>
        </p:spPr>
        <p:txBody>
          <a:bodyPr wrap="square">
            <a:spAutoFit/>
          </a:bodyPr>
          <a:lstStyle/>
          <a:p>
            <a:r>
              <a:rPr lang="en-US" sz="1200" dirty="0" err="1">
                <a:latin typeface="Consolas" panose="020B0609020204030204" pitchFamily="49" charset="0"/>
              </a:rPr>
              <a:t>UnboundLocalError</a:t>
            </a:r>
            <a:r>
              <a:rPr lang="en-US" sz="1200" dirty="0">
                <a:latin typeface="Consolas" panose="020B0609020204030204" pitchFamily="49" charset="0"/>
              </a:rPr>
              <a:t>: cannot access local variable '</a:t>
            </a:r>
            <a:r>
              <a:rPr lang="en-US" sz="1200" dirty="0" err="1">
                <a:latin typeface="Consolas" panose="020B0609020204030204" pitchFamily="49" charset="0"/>
              </a:rPr>
              <a:t>conversiones</a:t>
            </a:r>
            <a:r>
              <a:rPr lang="en-US" sz="1200" dirty="0">
                <a:latin typeface="Consolas" panose="020B0609020204030204" pitchFamily="49" charset="0"/>
              </a:rPr>
              <a:t>' where it is not associated with a value</a:t>
            </a:r>
            <a:endParaRPr lang="es-CO" sz="1200" dirty="0">
              <a:latin typeface="Consolas" panose="020B0609020204030204" pitchFamily="49" charset="0"/>
            </a:endParaRPr>
          </a:p>
        </p:txBody>
      </p:sp>
      <p:sp>
        <p:nvSpPr>
          <p:cNvPr id="20" name="CuadroTexto 19">
            <a:extLst>
              <a:ext uri="{FF2B5EF4-FFF2-40B4-BE49-F238E27FC236}">
                <a16:creationId xmlns:a16="http://schemas.microsoft.com/office/drawing/2014/main" id="{F9016B5F-0537-4FB6-B4F5-41B8BAA7EF37}"/>
              </a:ext>
            </a:extLst>
          </p:cNvPr>
          <p:cNvSpPr txBox="1"/>
          <p:nvPr/>
        </p:nvSpPr>
        <p:spPr>
          <a:xfrm>
            <a:off x="4761466" y="1412776"/>
            <a:ext cx="2114790" cy="338554"/>
          </a:xfrm>
          <a:prstGeom prst="rect">
            <a:avLst/>
          </a:prstGeom>
          <a:noFill/>
        </p:spPr>
        <p:txBody>
          <a:bodyPr wrap="square" rtlCol="0">
            <a:spAutoFit/>
          </a:bodyPr>
          <a:lstStyle/>
          <a:p>
            <a:r>
              <a:rPr lang="es-CO" sz="1600" b="1" dirty="0"/>
              <a:t>Salida en pantalla</a:t>
            </a:r>
          </a:p>
        </p:txBody>
      </p:sp>
      <p:sp>
        <p:nvSpPr>
          <p:cNvPr id="21" name="CuadroTexto 20">
            <a:extLst>
              <a:ext uri="{FF2B5EF4-FFF2-40B4-BE49-F238E27FC236}">
                <a16:creationId xmlns:a16="http://schemas.microsoft.com/office/drawing/2014/main" id="{3FD198C7-6FD0-475B-AAF9-28238F29CD78}"/>
              </a:ext>
            </a:extLst>
          </p:cNvPr>
          <p:cNvSpPr txBox="1"/>
          <p:nvPr/>
        </p:nvSpPr>
        <p:spPr>
          <a:xfrm>
            <a:off x="4657069" y="3789040"/>
            <a:ext cx="2114790" cy="338554"/>
          </a:xfrm>
          <a:prstGeom prst="rect">
            <a:avLst/>
          </a:prstGeom>
          <a:noFill/>
        </p:spPr>
        <p:txBody>
          <a:bodyPr wrap="square" rtlCol="0">
            <a:spAutoFit/>
          </a:bodyPr>
          <a:lstStyle/>
          <a:p>
            <a:r>
              <a:rPr lang="es-CO" sz="1600" b="1" dirty="0"/>
              <a:t>Salida en pantalla</a:t>
            </a:r>
          </a:p>
        </p:txBody>
      </p:sp>
      <p:sp>
        <p:nvSpPr>
          <p:cNvPr id="19" name="CuadroTexto 18">
            <a:extLst>
              <a:ext uri="{FF2B5EF4-FFF2-40B4-BE49-F238E27FC236}">
                <a16:creationId xmlns:a16="http://schemas.microsoft.com/office/drawing/2014/main" id="{5E3E852D-135A-413A-A68B-B69A3D7455CA}"/>
              </a:ext>
            </a:extLst>
          </p:cNvPr>
          <p:cNvSpPr txBox="1"/>
          <p:nvPr/>
        </p:nvSpPr>
        <p:spPr>
          <a:xfrm>
            <a:off x="539552" y="5949280"/>
            <a:ext cx="7987774" cy="369332"/>
          </a:xfrm>
          <a:prstGeom prst="rect">
            <a:avLst/>
          </a:prstGeom>
          <a:solidFill>
            <a:schemeClr val="accent6">
              <a:lumMod val="20000"/>
              <a:lumOff val="80000"/>
            </a:schemeClr>
          </a:solidFill>
        </p:spPr>
        <p:txBody>
          <a:bodyPr wrap="square">
            <a:spAutoFit/>
          </a:bodyPr>
          <a:lstStyle/>
          <a:p>
            <a:r>
              <a:rPr lang="es-CO" dirty="0"/>
              <a:t>Las variables globales hacen que los programas sean difíciles de entender y depurar.</a:t>
            </a:r>
          </a:p>
        </p:txBody>
      </p:sp>
      <p:sp>
        <p:nvSpPr>
          <p:cNvPr id="22" name="CuadroTexto 21">
            <a:extLst>
              <a:ext uri="{FF2B5EF4-FFF2-40B4-BE49-F238E27FC236}">
                <a16:creationId xmlns:a16="http://schemas.microsoft.com/office/drawing/2014/main" id="{007C6454-B67F-40E6-B06D-5CECAA123D76}"/>
              </a:ext>
            </a:extLst>
          </p:cNvPr>
          <p:cNvSpPr txBox="1"/>
          <p:nvPr/>
        </p:nvSpPr>
        <p:spPr>
          <a:xfrm>
            <a:off x="4470148" y="2370946"/>
            <a:ext cx="4604580" cy="553998"/>
          </a:xfrm>
          <a:prstGeom prst="rect">
            <a:avLst/>
          </a:prstGeom>
          <a:solidFill>
            <a:schemeClr val="accent2">
              <a:lumMod val="20000"/>
              <a:lumOff val="80000"/>
            </a:schemeClr>
          </a:solidFill>
        </p:spPr>
        <p:txBody>
          <a:bodyPr wrap="square">
            <a:spAutoFit/>
          </a:bodyPr>
          <a:lstStyle/>
          <a:p>
            <a:r>
              <a:rPr lang="es-CO" sz="1600" b="1" dirty="0">
                <a:solidFill>
                  <a:schemeClr val="accent4"/>
                </a:solidFill>
              </a:rPr>
              <a:t>Solución</a:t>
            </a:r>
          </a:p>
          <a:p>
            <a:r>
              <a:rPr lang="es-CO" sz="1400" b="1" dirty="0"/>
              <a:t>Guardar el resultado</a:t>
            </a:r>
            <a:r>
              <a:rPr lang="es-CO" sz="1400" dirty="0"/>
              <a:t>: </a:t>
            </a:r>
            <a:r>
              <a:rPr lang="es-CO" sz="1200" dirty="0" err="1">
                <a:latin typeface="Consolas" panose="020B0609020204030204" pitchFamily="49" charset="0"/>
              </a:rPr>
              <a:t>temp_f</a:t>
            </a:r>
            <a:r>
              <a:rPr lang="es-CO" sz="1200" dirty="0">
                <a:latin typeface="Consolas" panose="020B0609020204030204" pitchFamily="49" charset="0"/>
              </a:rPr>
              <a:t> = </a:t>
            </a:r>
            <a:r>
              <a:rPr lang="es-CO" sz="1200" dirty="0" err="1">
                <a:latin typeface="Consolas" panose="020B0609020204030204" pitchFamily="49" charset="0"/>
              </a:rPr>
              <a:t>celsius_a_fahrenheit</a:t>
            </a:r>
            <a:r>
              <a:rPr lang="es-CO" sz="1200" dirty="0">
                <a:latin typeface="Consolas" panose="020B0609020204030204" pitchFamily="49" charset="0"/>
              </a:rPr>
              <a:t>(23)</a:t>
            </a:r>
          </a:p>
        </p:txBody>
      </p:sp>
      <p:sp>
        <p:nvSpPr>
          <p:cNvPr id="23" name="CuadroTexto 22">
            <a:extLst>
              <a:ext uri="{FF2B5EF4-FFF2-40B4-BE49-F238E27FC236}">
                <a16:creationId xmlns:a16="http://schemas.microsoft.com/office/drawing/2014/main" id="{04A11684-E9F8-4677-ACE6-4FA9A8AAF888}"/>
              </a:ext>
            </a:extLst>
          </p:cNvPr>
          <p:cNvSpPr txBox="1"/>
          <p:nvPr/>
        </p:nvSpPr>
        <p:spPr>
          <a:xfrm>
            <a:off x="4391473" y="4881934"/>
            <a:ext cx="4604580" cy="553998"/>
          </a:xfrm>
          <a:prstGeom prst="rect">
            <a:avLst/>
          </a:prstGeom>
          <a:solidFill>
            <a:schemeClr val="accent2">
              <a:lumMod val="20000"/>
              <a:lumOff val="80000"/>
            </a:schemeClr>
          </a:solidFill>
        </p:spPr>
        <p:txBody>
          <a:bodyPr wrap="square">
            <a:spAutoFit/>
          </a:bodyPr>
          <a:lstStyle/>
          <a:p>
            <a:r>
              <a:rPr lang="es-CO" sz="1600" b="1" dirty="0">
                <a:solidFill>
                  <a:schemeClr val="accent4"/>
                </a:solidFill>
              </a:rPr>
              <a:t>Recomendación</a:t>
            </a:r>
          </a:p>
          <a:p>
            <a:r>
              <a:rPr lang="es-MX" sz="1400" dirty="0"/>
              <a:t>Contar en el programa principal, no dentro de la función.</a:t>
            </a:r>
            <a:endParaRPr lang="es-CO" sz="1200" dirty="0">
              <a:latin typeface="Consolas" panose="020B0609020204030204" pitchFamily="49" charset="0"/>
            </a:endParaRPr>
          </a:p>
        </p:txBody>
      </p:sp>
    </p:spTree>
    <p:extLst>
      <p:ext uri="{BB962C8B-B14F-4D97-AF65-F5344CB8AC3E}">
        <p14:creationId xmlns:p14="http://schemas.microsoft.com/office/powerpoint/2010/main" val="21383194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Formas de pasar argumentos</a:t>
            </a:r>
          </a:p>
        </p:txBody>
      </p:sp>
      <p:sp>
        <p:nvSpPr>
          <p:cNvPr id="13" name="12 Rectángulo"/>
          <p:cNvSpPr/>
          <p:nvPr/>
        </p:nvSpPr>
        <p:spPr>
          <a:xfrm>
            <a:off x="179512" y="692696"/>
            <a:ext cx="8835218" cy="1323439"/>
          </a:xfrm>
          <a:prstGeom prst="rect">
            <a:avLst/>
          </a:prstGeom>
        </p:spPr>
        <p:txBody>
          <a:bodyPr wrap="square">
            <a:spAutoFit/>
          </a:bodyPr>
          <a:lstStyle/>
          <a:p>
            <a:r>
              <a:rPr lang="es-MX" sz="2000" dirty="0"/>
              <a:t>Python a diferencia de otros lenguajes de programación (como C por ejemplo), permite dos formas de pasar argumentos:</a:t>
            </a:r>
          </a:p>
          <a:p>
            <a:pPr marL="342900" indent="-342900">
              <a:buFont typeface="Arial" panose="020B0604020202020204" pitchFamily="34" charset="0"/>
              <a:buChar char="•"/>
            </a:pPr>
            <a:r>
              <a:rPr lang="es-MX" sz="2000" b="1" dirty="0"/>
              <a:t>Por posición</a:t>
            </a:r>
            <a:r>
              <a:rPr lang="es-MX" sz="2000" dirty="0"/>
              <a:t>: los argumentos se asignan en el mismo orden de los parámetros.</a:t>
            </a:r>
          </a:p>
          <a:p>
            <a:pPr marL="342900" indent="-342900">
              <a:buFont typeface="Arial" panose="020B0604020202020204" pitchFamily="34" charset="0"/>
              <a:buChar char="•"/>
            </a:pPr>
            <a:r>
              <a:rPr lang="es-MX" sz="2000" b="1" dirty="0"/>
              <a:t>Por nombre</a:t>
            </a:r>
            <a:r>
              <a:rPr lang="es-MX" sz="2000" dirty="0"/>
              <a:t>: se escribe </a:t>
            </a:r>
            <a:r>
              <a:rPr lang="es-MX" b="1" dirty="0">
                <a:latin typeface="Consolas" panose="020B0609020204030204" pitchFamily="49" charset="0"/>
              </a:rPr>
              <a:t>parametro = valor</a:t>
            </a:r>
            <a:r>
              <a:rPr lang="es-MX" sz="2000" dirty="0"/>
              <a:t>, y el orden no importa.</a:t>
            </a:r>
          </a:p>
        </p:txBody>
      </p:sp>
      <p:graphicFrame>
        <p:nvGraphicFramePr>
          <p:cNvPr id="11" name="Tabla 13">
            <a:extLst>
              <a:ext uri="{FF2B5EF4-FFF2-40B4-BE49-F238E27FC236}">
                <a16:creationId xmlns:a16="http://schemas.microsoft.com/office/drawing/2014/main" id="{9CF57A04-D806-41E6-9CD2-FD4CC369A8B8}"/>
              </a:ext>
            </a:extLst>
          </p:cNvPr>
          <p:cNvGraphicFramePr>
            <a:graphicFrameLocks noGrp="1"/>
          </p:cNvGraphicFramePr>
          <p:nvPr>
            <p:extLst>
              <p:ext uri="{D42A27DB-BD31-4B8C-83A1-F6EECF244321}">
                <p14:modId xmlns:p14="http://schemas.microsoft.com/office/powerpoint/2010/main" val="1973091541"/>
              </p:ext>
            </p:extLst>
          </p:nvPr>
        </p:nvGraphicFramePr>
        <p:xfrm>
          <a:off x="1589289" y="2638008"/>
          <a:ext cx="5863031" cy="3383280"/>
        </p:xfrm>
        <a:graphic>
          <a:graphicData uri="http://schemas.openxmlformats.org/drawingml/2006/table">
            <a:tbl>
              <a:tblPr firstRow="1" bandRow="1">
                <a:tableStyleId>{2D5ABB26-0587-4C30-8999-92F81FD0307C}</a:tableStyleId>
              </a:tblPr>
              <a:tblGrid>
                <a:gridCol w="5863031">
                  <a:extLst>
                    <a:ext uri="{9D8B030D-6E8A-4147-A177-3AD203B41FA5}">
                      <a16:colId xmlns:a16="http://schemas.microsoft.com/office/drawing/2014/main" val="499056580"/>
                    </a:ext>
                  </a:extLst>
                </a:gridCol>
              </a:tblGrid>
              <a:tr h="2230547">
                <a:tc>
                  <a:txBody>
                    <a:bodyPr/>
                    <a:lstStyle/>
                    <a:p>
                      <a:r>
                        <a:rPr lang="es-CO" sz="1200" dirty="0" err="1">
                          <a:latin typeface="Consolas" panose="020B0609020204030204" pitchFamily="49" charset="0"/>
                        </a:rPr>
                        <a:t>def</a:t>
                      </a:r>
                      <a:r>
                        <a:rPr lang="es-CO" sz="1200" dirty="0">
                          <a:latin typeface="Consolas" panose="020B0609020204030204" pitchFamily="49" charset="0"/>
                        </a:rPr>
                        <a:t> factorial(n):</a:t>
                      </a:r>
                    </a:p>
                    <a:p>
                      <a:r>
                        <a:rPr lang="es-CO" sz="1200" dirty="0">
                          <a:latin typeface="Consolas" panose="020B0609020204030204" pitchFamily="49" charset="0"/>
                        </a:rPr>
                        <a:t>    </a:t>
                      </a:r>
                      <a:r>
                        <a:rPr lang="es-CO" sz="1200" dirty="0" err="1">
                          <a:latin typeface="Consolas" panose="020B0609020204030204" pitchFamily="49" charset="0"/>
                        </a:rPr>
                        <a:t>fact</a:t>
                      </a:r>
                      <a:r>
                        <a:rPr lang="es-CO" sz="1200" dirty="0">
                          <a:latin typeface="Consolas" panose="020B0609020204030204" pitchFamily="49" charset="0"/>
                        </a:rPr>
                        <a:t> = 1</a:t>
                      </a:r>
                    </a:p>
                    <a:p>
                      <a:r>
                        <a:rPr lang="es-CO" sz="1200" dirty="0">
                          <a:latin typeface="Consolas" panose="020B0609020204030204" pitchFamily="49" charset="0"/>
                        </a:rPr>
                        <a:t>    </a:t>
                      </a:r>
                      <a:r>
                        <a:rPr lang="es-CO" sz="1200" dirty="0" err="1">
                          <a:latin typeface="Consolas" panose="020B0609020204030204" pitchFamily="49" charset="0"/>
                        </a:rPr>
                        <a:t>for</a:t>
                      </a:r>
                      <a:r>
                        <a:rPr lang="es-CO" sz="1200" dirty="0">
                          <a:latin typeface="Consolas" panose="020B0609020204030204" pitchFamily="49" charset="0"/>
                        </a:rPr>
                        <a:t> i in </a:t>
                      </a:r>
                      <a:r>
                        <a:rPr lang="es-CO" sz="1200" dirty="0" err="1">
                          <a:latin typeface="Consolas" panose="020B0609020204030204" pitchFamily="49" charset="0"/>
                        </a:rPr>
                        <a:t>range</a:t>
                      </a:r>
                      <a:r>
                        <a:rPr lang="es-CO" sz="1200" dirty="0">
                          <a:latin typeface="Consolas" panose="020B0609020204030204" pitchFamily="49" charset="0"/>
                        </a:rPr>
                        <a:t>(1, n + 1):</a:t>
                      </a:r>
                    </a:p>
                    <a:p>
                      <a:r>
                        <a:rPr lang="es-CO" sz="1200" dirty="0">
                          <a:latin typeface="Consolas" panose="020B0609020204030204" pitchFamily="49" charset="0"/>
                        </a:rPr>
                        <a:t>        </a:t>
                      </a:r>
                      <a:r>
                        <a:rPr lang="es-CO" sz="1200" dirty="0" err="1">
                          <a:latin typeface="Consolas" panose="020B0609020204030204" pitchFamily="49" charset="0"/>
                        </a:rPr>
                        <a:t>fact</a:t>
                      </a:r>
                      <a:r>
                        <a:rPr lang="es-CO" sz="1200" dirty="0">
                          <a:latin typeface="Consolas" panose="020B0609020204030204" pitchFamily="49" charset="0"/>
                        </a:rPr>
                        <a:t> = </a:t>
                      </a:r>
                      <a:r>
                        <a:rPr lang="es-CO" sz="1200" dirty="0" err="1">
                          <a:latin typeface="Consolas" panose="020B0609020204030204" pitchFamily="49" charset="0"/>
                        </a:rPr>
                        <a:t>fact</a:t>
                      </a:r>
                      <a:r>
                        <a:rPr lang="es-CO" sz="1200" dirty="0">
                          <a:latin typeface="Consolas" panose="020B0609020204030204" pitchFamily="49" charset="0"/>
                        </a:rPr>
                        <a:t> * i</a:t>
                      </a:r>
                    </a:p>
                    <a:p>
                      <a:r>
                        <a:rPr lang="es-CO" sz="1200" dirty="0">
                          <a:latin typeface="Consolas" panose="020B0609020204030204" pitchFamily="49" charset="0"/>
                        </a:rPr>
                        <a:t>    </a:t>
                      </a:r>
                      <a:r>
                        <a:rPr lang="es-CO" sz="1200" dirty="0" err="1">
                          <a:latin typeface="Consolas" panose="020B0609020204030204" pitchFamily="49" charset="0"/>
                        </a:rPr>
                        <a:t>return</a:t>
                      </a:r>
                      <a:r>
                        <a:rPr lang="es-CO" sz="1200" dirty="0">
                          <a:latin typeface="Consolas" panose="020B0609020204030204" pitchFamily="49" charset="0"/>
                        </a:rPr>
                        <a:t> </a:t>
                      </a:r>
                      <a:r>
                        <a:rPr lang="es-CO" sz="1200" dirty="0" err="1">
                          <a:latin typeface="Consolas" panose="020B0609020204030204" pitchFamily="49" charset="0"/>
                        </a:rPr>
                        <a:t>fact</a:t>
                      </a:r>
                      <a:endParaRPr lang="es-CO" sz="1200" dirty="0">
                        <a:latin typeface="Consolas" panose="020B0609020204030204" pitchFamily="49" charset="0"/>
                      </a:endParaRPr>
                    </a:p>
                    <a:p>
                      <a:endParaRPr lang="es-CO" sz="1200" dirty="0">
                        <a:latin typeface="Consolas" panose="020B0609020204030204" pitchFamily="49" charset="0"/>
                      </a:endParaRPr>
                    </a:p>
                    <a:p>
                      <a:r>
                        <a:rPr lang="es-CO" sz="1200" dirty="0" err="1">
                          <a:latin typeface="Consolas" panose="020B0609020204030204" pitchFamily="49" charset="0"/>
                        </a:rPr>
                        <a:t>def</a:t>
                      </a:r>
                      <a:r>
                        <a:rPr lang="es-CO" sz="1200" dirty="0">
                          <a:latin typeface="Consolas" panose="020B0609020204030204" pitchFamily="49" charset="0"/>
                        </a:rPr>
                        <a:t> seno(x, n):</a:t>
                      </a:r>
                    </a:p>
                    <a:p>
                      <a:r>
                        <a:rPr lang="es-CO" sz="1200" dirty="0">
                          <a:latin typeface="Consolas" panose="020B0609020204030204" pitchFamily="49" charset="0"/>
                        </a:rPr>
                        <a:t>    suma = 0</a:t>
                      </a:r>
                    </a:p>
                    <a:p>
                      <a:r>
                        <a:rPr lang="es-CO" sz="1200" dirty="0">
                          <a:latin typeface="Consolas" panose="020B0609020204030204" pitchFamily="49" charset="0"/>
                        </a:rPr>
                        <a:t>    </a:t>
                      </a:r>
                      <a:r>
                        <a:rPr lang="es-CO" sz="1200" dirty="0" err="1">
                          <a:latin typeface="Consolas" panose="020B0609020204030204" pitchFamily="49" charset="0"/>
                        </a:rPr>
                        <a:t>for</a:t>
                      </a:r>
                      <a:r>
                        <a:rPr lang="es-CO" sz="1200" dirty="0">
                          <a:latin typeface="Consolas" panose="020B0609020204030204" pitchFamily="49" charset="0"/>
                        </a:rPr>
                        <a:t> k in </a:t>
                      </a:r>
                      <a:r>
                        <a:rPr lang="es-CO" sz="1200" dirty="0" err="1">
                          <a:latin typeface="Consolas" panose="020B0609020204030204" pitchFamily="49" charset="0"/>
                        </a:rPr>
                        <a:t>range</a:t>
                      </a:r>
                      <a:r>
                        <a:rPr lang="es-CO" sz="1200" dirty="0">
                          <a:latin typeface="Consolas" panose="020B0609020204030204" pitchFamily="49" charset="0"/>
                        </a:rPr>
                        <a:t>(n):</a:t>
                      </a:r>
                    </a:p>
                    <a:p>
                      <a:r>
                        <a:rPr lang="es-CO" sz="1200" dirty="0">
                          <a:latin typeface="Consolas" panose="020B0609020204030204" pitchFamily="49" charset="0"/>
                        </a:rPr>
                        <a:t>        suma = suma + (-1)**k * x**(2*k + 1) / factorial(2*k + 1)</a:t>
                      </a:r>
                    </a:p>
                    <a:p>
                      <a:r>
                        <a:rPr lang="es-CO" sz="1200" dirty="0">
                          <a:latin typeface="Consolas" panose="020B0609020204030204" pitchFamily="49" charset="0"/>
                        </a:rPr>
                        <a:t>    </a:t>
                      </a:r>
                      <a:r>
                        <a:rPr lang="es-CO" sz="1200" dirty="0" err="1">
                          <a:latin typeface="Consolas" panose="020B0609020204030204" pitchFamily="49" charset="0"/>
                        </a:rPr>
                        <a:t>return</a:t>
                      </a:r>
                      <a:r>
                        <a:rPr lang="es-CO" sz="1200" dirty="0">
                          <a:latin typeface="Consolas" panose="020B0609020204030204" pitchFamily="49" charset="0"/>
                        </a:rPr>
                        <a:t> suma</a:t>
                      </a:r>
                    </a:p>
                    <a:p>
                      <a:endParaRPr lang="es-CO" sz="1200" dirty="0">
                        <a:latin typeface="Consolas" panose="020B0609020204030204" pitchFamily="49" charset="0"/>
                      </a:endParaRPr>
                    </a:p>
                    <a:p>
                      <a:r>
                        <a:rPr lang="es-CO" sz="1200" dirty="0">
                          <a:latin typeface="Consolas" panose="020B0609020204030204" pitchFamily="49" charset="0"/>
                        </a:rPr>
                        <a:t>a = seno(1.0, 3)          # por </a:t>
                      </a:r>
                      <a:r>
                        <a:rPr lang="es-CO" sz="1200" dirty="0" err="1">
                          <a:latin typeface="Consolas" panose="020B0609020204030204" pitchFamily="49" charset="0"/>
                        </a:rPr>
                        <a:t>posicion</a:t>
                      </a:r>
                      <a:endParaRPr lang="es-CO" sz="1200" dirty="0">
                        <a:latin typeface="Consolas" panose="020B0609020204030204" pitchFamily="49" charset="0"/>
                      </a:endParaRPr>
                    </a:p>
                    <a:p>
                      <a:r>
                        <a:rPr lang="es-CO" sz="1200" dirty="0">
                          <a:latin typeface="Consolas" panose="020B0609020204030204" pitchFamily="49" charset="0"/>
                        </a:rPr>
                        <a:t>b = seno(x=1.0, n=3)      # por nombre</a:t>
                      </a:r>
                    </a:p>
                    <a:p>
                      <a:r>
                        <a:rPr lang="es-CO" sz="1200" dirty="0">
                          <a:latin typeface="Consolas" panose="020B0609020204030204" pitchFamily="49" charset="0"/>
                        </a:rPr>
                        <a:t>c = seno(n=3, x=1.0)      # por nombre, en otro orden</a:t>
                      </a:r>
                    </a:p>
                    <a:p>
                      <a:r>
                        <a:rPr lang="es-CO" sz="1200" dirty="0">
                          <a:latin typeface="Consolas" panose="020B0609020204030204" pitchFamily="49" charset="0"/>
                        </a:rPr>
                        <a:t>d = seno(1.0, n=3)        # mezclados</a:t>
                      </a:r>
                    </a:p>
                    <a:p>
                      <a:r>
                        <a:rPr lang="es-CO" sz="1200" dirty="0">
                          <a:latin typeface="Consolas" panose="020B0609020204030204" pitchFamily="49" charset="0"/>
                        </a:rPr>
                        <a:t># e = seno(n=3, 1.0)      # </a:t>
                      </a:r>
                      <a:r>
                        <a:rPr lang="es-CO" sz="1200" dirty="0" err="1">
                          <a:latin typeface="Consolas" panose="020B0609020204030204" pitchFamily="49" charset="0"/>
                        </a:rPr>
                        <a:t>SyntaxError</a:t>
                      </a:r>
                      <a:endParaRPr lang="es-CO" sz="1200" dirty="0">
                        <a:latin typeface="Consolas" panose="020B0609020204030204" pitchFamily="49" charset="0"/>
                      </a:endParaRPr>
                    </a:p>
                    <a:p>
                      <a:r>
                        <a:rPr lang="es-CO" sz="1200" dirty="0">
                          <a:latin typeface="Consolas" panose="020B0609020204030204" pitchFamily="49" charset="0"/>
                        </a:rPr>
                        <a:t>print(a, b, c,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sp>
        <p:nvSpPr>
          <p:cNvPr id="15" name="CuadroTexto 14">
            <a:hlinkClick r:id="rId2"/>
            <a:extLst>
              <a:ext uri="{FF2B5EF4-FFF2-40B4-BE49-F238E27FC236}">
                <a16:creationId xmlns:a16="http://schemas.microsoft.com/office/drawing/2014/main" id="{A2B5DBF8-8C6B-4D65-9F4B-05EE7F678AA4}"/>
              </a:ext>
            </a:extLst>
          </p:cNvPr>
          <p:cNvSpPr txBox="1"/>
          <p:nvPr/>
        </p:nvSpPr>
        <p:spPr>
          <a:xfrm>
            <a:off x="3627594" y="5949280"/>
            <a:ext cx="1664486" cy="276999"/>
          </a:xfrm>
          <a:prstGeom prst="rect">
            <a:avLst/>
          </a:prstGeom>
          <a:noFill/>
        </p:spPr>
        <p:txBody>
          <a:bodyPr wrap="square" rtlCol="0">
            <a:spAutoFit/>
          </a:bodyPr>
          <a:lstStyle/>
          <a:p>
            <a:pPr algn="ctr"/>
            <a:r>
              <a:rPr lang="es-CO" sz="1200" dirty="0">
                <a:hlinkClick r:id="rId3"/>
              </a:rPr>
              <a:t>Link simulación</a:t>
            </a:r>
            <a:endParaRPr lang="es-CO" sz="1200" dirty="0"/>
          </a:p>
        </p:txBody>
      </p:sp>
      <p:sp>
        <p:nvSpPr>
          <p:cNvPr id="20" name="CuadroTexto 19">
            <a:extLst>
              <a:ext uri="{FF2B5EF4-FFF2-40B4-BE49-F238E27FC236}">
                <a16:creationId xmlns:a16="http://schemas.microsoft.com/office/drawing/2014/main" id="{F9016B5F-0537-4FB6-B4F5-41B8BAA7EF37}"/>
              </a:ext>
            </a:extLst>
          </p:cNvPr>
          <p:cNvSpPr txBox="1"/>
          <p:nvPr/>
        </p:nvSpPr>
        <p:spPr>
          <a:xfrm>
            <a:off x="154391" y="6228601"/>
            <a:ext cx="8835218" cy="584775"/>
          </a:xfrm>
          <a:prstGeom prst="rect">
            <a:avLst/>
          </a:prstGeom>
          <a:solidFill>
            <a:schemeClr val="accent6">
              <a:lumMod val="20000"/>
              <a:lumOff val="80000"/>
            </a:schemeClr>
          </a:solidFill>
        </p:spPr>
        <p:txBody>
          <a:bodyPr wrap="square" rtlCol="0">
            <a:spAutoFit/>
          </a:bodyPr>
          <a:lstStyle/>
          <a:p>
            <a:r>
              <a:rPr lang="es-MX" sz="1600" b="1" dirty="0"/>
              <a:t>Regla: </a:t>
            </a:r>
            <a:r>
              <a:rPr lang="es-MX" sz="1600" dirty="0"/>
              <a:t>se pueden mezclar, pero los argumentos por nombre van después de los posicionales. Si no, Python no ejecuta ninguna línea: </a:t>
            </a:r>
            <a:r>
              <a:rPr lang="es-MX" sz="1400" b="1" dirty="0">
                <a:latin typeface="Consolas" panose="020B0609020204030204" pitchFamily="49" charset="0"/>
              </a:rPr>
              <a:t>SyntaxError: positional argument follows keyword argument</a:t>
            </a:r>
            <a:r>
              <a:rPr lang="es-MX" sz="1400" dirty="0">
                <a:latin typeface="Consolas" panose="020B0609020204030204" pitchFamily="49" charset="0"/>
              </a:rPr>
              <a:t>.</a:t>
            </a:r>
            <a:endParaRPr lang="es-CO" sz="1400" dirty="0">
              <a:latin typeface="Consolas" panose="020B0609020204030204" pitchFamily="49" charset="0"/>
            </a:endParaRPr>
          </a:p>
        </p:txBody>
      </p:sp>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565DD407-B6E3-49BB-896B-88AA45E99CF5}"/>
                  </a:ext>
                </a:extLst>
              </p:cNvPr>
              <p:cNvSpPr txBox="1"/>
              <p:nvPr/>
            </p:nvSpPr>
            <p:spPr>
              <a:xfrm>
                <a:off x="2915816" y="1988840"/>
                <a:ext cx="3174587" cy="5597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s-MX" b="0" i="1" smtClean="0">
                              <a:latin typeface="Cambria Math" panose="02040503050406030204" pitchFamily="18" charset="0"/>
                            </a:rPr>
                          </m:ctrlPr>
                        </m:funcPr>
                        <m:fName>
                          <m:r>
                            <m:rPr>
                              <m:sty m:val="p"/>
                            </m:rPr>
                            <a:rPr lang="es-MX" b="0" i="0" smtClean="0">
                              <a:latin typeface="Cambria Math" panose="02040503050406030204" pitchFamily="18" charset="0"/>
                            </a:rPr>
                            <m:t>sen</m:t>
                          </m:r>
                        </m:fName>
                        <m:e>
                          <m:d>
                            <m:dPr>
                              <m:ctrlPr>
                                <a:rPr lang="es-MX" b="0" i="1" smtClean="0">
                                  <a:latin typeface="Cambria Math" panose="02040503050406030204" pitchFamily="18" charset="0"/>
                                </a:rPr>
                              </m:ctrlPr>
                            </m:dPr>
                            <m:e>
                              <m:r>
                                <a:rPr lang="es-MX" b="0" i="1" smtClean="0">
                                  <a:latin typeface="Cambria Math" panose="02040503050406030204" pitchFamily="18" charset="0"/>
                                </a:rPr>
                                <m:t>𝑥</m:t>
                              </m:r>
                            </m:e>
                          </m:d>
                          <m:r>
                            <a:rPr lang="es-MX" b="0" i="1" smtClean="0">
                              <a:latin typeface="Cambria Math" panose="02040503050406030204" pitchFamily="18" charset="0"/>
                            </a:rPr>
                            <m:t>=1−</m:t>
                          </m:r>
                          <m:f>
                            <m:fPr>
                              <m:ctrlPr>
                                <a:rPr lang="es-MX" b="0" i="1" smtClean="0">
                                  <a:latin typeface="Cambria Math" panose="02040503050406030204" pitchFamily="18" charset="0"/>
                                </a:rPr>
                              </m:ctrlPr>
                            </m:fPr>
                            <m:num>
                              <m:sSup>
                                <m:sSupPr>
                                  <m:ctrlPr>
                                    <a:rPr lang="es-MX" b="0" i="1" smtClean="0">
                                      <a:latin typeface="Cambria Math" panose="02040503050406030204" pitchFamily="18" charset="0"/>
                                    </a:rPr>
                                  </m:ctrlPr>
                                </m:sSupPr>
                                <m:e>
                                  <m:r>
                                    <a:rPr lang="es-MX" b="0" i="1" smtClean="0">
                                      <a:latin typeface="Cambria Math" panose="02040503050406030204" pitchFamily="18" charset="0"/>
                                    </a:rPr>
                                    <m:t>𝑥</m:t>
                                  </m:r>
                                </m:e>
                                <m:sup>
                                  <m:r>
                                    <a:rPr lang="es-MX" b="0" i="1" smtClean="0">
                                      <a:latin typeface="Cambria Math" panose="02040503050406030204" pitchFamily="18" charset="0"/>
                                    </a:rPr>
                                    <m:t>3</m:t>
                                  </m:r>
                                </m:sup>
                              </m:sSup>
                            </m:num>
                            <m:den>
                              <m:r>
                                <a:rPr lang="es-MX" b="0" i="1" smtClean="0">
                                  <a:latin typeface="Cambria Math" panose="02040503050406030204" pitchFamily="18" charset="0"/>
                                </a:rPr>
                                <m:t>3!</m:t>
                              </m:r>
                            </m:den>
                          </m:f>
                          <m:r>
                            <a:rPr lang="es-MX" b="0" i="1" smtClean="0">
                              <a:latin typeface="Cambria Math" panose="02040503050406030204" pitchFamily="18" charset="0"/>
                            </a:rPr>
                            <m:t>+</m:t>
                          </m:r>
                          <m:f>
                            <m:fPr>
                              <m:ctrlPr>
                                <a:rPr lang="es-MX" i="1">
                                  <a:latin typeface="Cambria Math" panose="02040503050406030204" pitchFamily="18" charset="0"/>
                                </a:rPr>
                              </m:ctrlPr>
                            </m:fPr>
                            <m:num>
                              <m:sSup>
                                <m:sSupPr>
                                  <m:ctrlPr>
                                    <a:rPr lang="es-MX" i="1">
                                      <a:latin typeface="Cambria Math" panose="02040503050406030204" pitchFamily="18" charset="0"/>
                                    </a:rPr>
                                  </m:ctrlPr>
                                </m:sSupPr>
                                <m:e>
                                  <m:r>
                                    <a:rPr lang="es-MX" i="1">
                                      <a:latin typeface="Cambria Math" panose="02040503050406030204" pitchFamily="18" charset="0"/>
                                    </a:rPr>
                                    <m:t>𝑥</m:t>
                                  </m:r>
                                </m:e>
                                <m:sup>
                                  <m:r>
                                    <a:rPr lang="es-MX" b="0" i="1" smtClean="0">
                                      <a:latin typeface="Cambria Math" panose="02040503050406030204" pitchFamily="18" charset="0"/>
                                    </a:rPr>
                                    <m:t>5</m:t>
                                  </m:r>
                                </m:sup>
                              </m:sSup>
                            </m:num>
                            <m:den>
                              <m:r>
                                <a:rPr lang="es-MX" b="0" i="1" smtClean="0">
                                  <a:latin typeface="Cambria Math" panose="02040503050406030204" pitchFamily="18" charset="0"/>
                                </a:rPr>
                                <m:t>5</m:t>
                              </m:r>
                              <m:r>
                                <a:rPr lang="es-MX" i="1">
                                  <a:latin typeface="Cambria Math" panose="02040503050406030204" pitchFamily="18" charset="0"/>
                                </a:rPr>
                                <m:t>!</m:t>
                              </m:r>
                            </m:den>
                          </m:f>
                          <m:r>
                            <a:rPr lang="es-MX" b="0" i="1" smtClean="0">
                              <a:latin typeface="Cambria Math" panose="02040503050406030204" pitchFamily="18" charset="0"/>
                            </a:rPr>
                            <m:t>−</m:t>
                          </m:r>
                          <m:f>
                            <m:fPr>
                              <m:ctrlPr>
                                <a:rPr lang="es-MX" i="1">
                                  <a:latin typeface="Cambria Math" panose="02040503050406030204" pitchFamily="18" charset="0"/>
                                </a:rPr>
                              </m:ctrlPr>
                            </m:fPr>
                            <m:num>
                              <m:sSup>
                                <m:sSupPr>
                                  <m:ctrlPr>
                                    <a:rPr lang="es-MX" i="1">
                                      <a:latin typeface="Cambria Math" panose="02040503050406030204" pitchFamily="18" charset="0"/>
                                    </a:rPr>
                                  </m:ctrlPr>
                                </m:sSupPr>
                                <m:e>
                                  <m:r>
                                    <a:rPr lang="es-MX" i="1">
                                      <a:latin typeface="Cambria Math" panose="02040503050406030204" pitchFamily="18" charset="0"/>
                                    </a:rPr>
                                    <m:t>𝑥</m:t>
                                  </m:r>
                                </m:e>
                                <m:sup>
                                  <m:r>
                                    <a:rPr lang="es-MX" b="0" i="1" smtClean="0">
                                      <a:latin typeface="Cambria Math" panose="02040503050406030204" pitchFamily="18" charset="0"/>
                                    </a:rPr>
                                    <m:t>7</m:t>
                                  </m:r>
                                </m:sup>
                              </m:sSup>
                            </m:num>
                            <m:den>
                              <m:r>
                                <a:rPr lang="es-MX" b="0" i="1" smtClean="0">
                                  <a:latin typeface="Cambria Math" panose="02040503050406030204" pitchFamily="18" charset="0"/>
                                </a:rPr>
                                <m:t>7</m:t>
                              </m:r>
                              <m:r>
                                <a:rPr lang="es-MX" i="1">
                                  <a:latin typeface="Cambria Math" panose="02040503050406030204" pitchFamily="18" charset="0"/>
                                </a:rPr>
                                <m:t>!</m:t>
                              </m:r>
                            </m:den>
                          </m:f>
                          <m:r>
                            <a:rPr lang="es-MX" b="0" i="1" smtClean="0">
                              <a:latin typeface="Cambria Math" panose="02040503050406030204" pitchFamily="18" charset="0"/>
                            </a:rPr>
                            <m:t>+…</m:t>
                          </m:r>
                        </m:e>
                      </m:func>
                    </m:oMath>
                  </m:oMathPara>
                </a14:m>
                <a:endParaRPr lang="es-CO" dirty="0"/>
              </a:p>
            </p:txBody>
          </p:sp>
        </mc:Choice>
        <mc:Fallback xmlns="">
          <p:sp>
            <p:nvSpPr>
              <p:cNvPr id="3" name="CuadroTexto 2">
                <a:extLst>
                  <a:ext uri="{FF2B5EF4-FFF2-40B4-BE49-F238E27FC236}">
                    <a16:creationId xmlns:a16="http://schemas.microsoft.com/office/drawing/2014/main" id="{565DD407-B6E3-49BB-896B-88AA45E99CF5}"/>
                  </a:ext>
                </a:extLst>
              </p:cNvPr>
              <p:cNvSpPr txBox="1">
                <a:spLocks noRot="1" noChangeAspect="1" noMove="1" noResize="1" noEditPoints="1" noAdjustHandles="1" noChangeArrowheads="1" noChangeShapeType="1" noTextEdit="1"/>
              </p:cNvSpPr>
              <p:nvPr/>
            </p:nvSpPr>
            <p:spPr>
              <a:xfrm>
                <a:off x="2915816" y="1988840"/>
                <a:ext cx="3174587" cy="559769"/>
              </a:xfrm>
              <a:prstGeom prst="rect">
                <a:avLst/>
              </a:prstGeom>
              <a:blipFill>
                <a:blip r:embed="rId4"/>
                <a:stretch>
                  <a:fillRect/>
                </a:stretch>
              </a:blipFill>
            </p:spPr>
            <p:txBody>
              <a:bodyPr/>
              <a:lstStyle/>
              <a:p>
                <a:r>
                  <a:rPr lang="es-CO">
                    <a:noFill/>
                  </a:rPr>
                  <a:t> </a:t>
                </a:r>
              </a:p>
            </p:txBody>
          </p:sp>
        </mc:Fallback>
      </mc:AlternateContent>
    </p:spTree>
    <p:extLst>
      <p:ext uri="{BB962C8B-B14F-4D97-AF65-F5344CB8AC3E}">
        <p14:creationId xmlns:p14="http://schemas.microsoft.com/office/powerpoint/2010/main" val="14760400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Parámetros con valor por defecto</a:t>
            </a:r>
          </a:p>
        </p:txBody>
      </p:sp>
      <p:sp>
        <p:nvSpPr>
          <p:cNvPr id="13" name="12 Rectángulo"/>
          <p:cNvSpPr/>
          <p:nvPr/>
        </p:nvSpPr>
        <p:spPr>
          <a:xfrm>
            <a:off x="179512" y="692696"/>
            <a:ext cx="8613543" cy="4093428"/>
          </a:xfrm>
          <a:prstGeom prst="rect">
            <a:avLst/>
          </a:prstGeom>
        </p:spPr>
        <p:txBody>
          <a:bodyPr wrap="square">
            <a:spAutoFit/>
          </a:bodyPr>
          <a:lstStyle/>
          <a:p>
            <a:r>
              <a:rPr lang="es-MX" sz="2000" b="1" dirty="0"/>
              <a:t>Problema</a:t>
            </a:r>
            <a:r>
              <a:rPr lang="es-MX" sz="2000" dirty="0"/>
              <a:t>: con la versión anterior, si se omite </a:t>
            </a:r>
            <a:r>
              <a:rPr lang="es-MX" b="1" dirty="0">
                <a:latin typeface="Consolas" panose="020B0609020204030204" pitchFamily="49" charset="0"/>
              </a:rPr>
              <a:t>n</a:t>
            </a:r>
            <a:r>
              <a:rPr lang="es-MX" sz="2000" dirty="0"/>
              <a:t>:</a:t>
            </a:r>
          </a:p>
          <a:p>
            <a:endParaRPr lang="es-MX" sz="2000" dirty="0"/>
          </a:p>
          <a:p>
            <a:endParaRPr lang="es-MX" sz="2000" dirty="0"/>
          </a:p>
          <a:p>
            <a:endParaRPr lang="es-MX" sz="2000" dirty="0"/>
          </a:p>
          <a:p>
            <a:r>
              <a:rPr lang="es-MX" sz="2000" b="1" dirty="0"/>
              <a:t>Solución</a:t>
            </a:r>
            <a:r>
              <a:rPr lang="es-MX" sz="2000" dirty="0"/>
              <a:t>: Darle a </a:t>
            </a:r>
            <a:r>
              <a:rPr lang="es-MX" sz="2000" b="1" dirty="0">
                <a:latin typeface="Consolas" panose="020B0609020204030204" pitchFamily="49" charset="0"/>
              </a:rPr>
              <a:t>n</a:t>
            </a:r>
            <a:r>
              <a:rPr lang="es-MX" sz="2000" dirty="0"/>
              <a:t> un valor por defecto:</a:t>
            </a:r>
          </a:p>
          <a:p>
            <a:endParaRPr lang="es-MX" sz="2000" dirty="0"/>
          </a:p>
          <a:p>
            <a:endParaRPr lang="es-MX" sz="2000" dirty="0"/>
          </a:p>
          <a:p>
            <a:endParaRPr lang="es-MX" sz="2000" dirty="0"/>
          </a:p>
          <a:p>
            <a:endParaRPr lang="es-MX" sz="2000" dirty="0"/>
          </a:p>
          <a:p>
            <a:endParaRPr lang="es-MX" sz="2000" dirty="0"/>
          </a:p>
          <a:p>
            <a:endParaRPr lang="es-MX" sz="2000" dirty="0"/>
          </a:p>
          <a:p>
            <a:endParaRPr lang="es-MX" sz="2000" dirty="0"/>
          </a:p>
          <a:p>
            <a:r>
              <a:rPr lang="es-MX" sz="2000" b="1" dirty="0"/>
              <a:t>Salida en pantalla</a:t>
            </a:r>
            <a:r>
              <a:rPr lang="es-MX" sz="2000" dirty="0"/>
              <a:t>:</a:t>
            </a:r>
          </a:p>
        </p:txBody>
      </p:sp>
      <p:graphicFrame>
        <p:nvGraphicFramePr>
          <p:cNvPr id="11" name="Tabla 13">
            <a:extLst>
              <a:ext uri="{FF2B5EF4-FFF2-40B4-BE49-F238E27FC236}">
                <a16:creationId xmlns:a16="http://schemas.microsoft.com/office/drawing/2014/main" id="{9CF57A04-D806-41E6-9CD2-FD4CC369A8B8}"/>
              </a:ext>
            </a:extLst>
          </p:cNvPr>
          <p:cNvGraphicFramePr>
            <a:graphicFrameLocks noGrp="1"/>
          </p:cNvGraphicFramePr>
          <p:nvPr>
            <p:extLst>
              <p:ext uri="{D42A27DB-BD31-4B8C-83A1-F6EECF244321}">
                <p14:modId xmlns:p14="http://schemas.microsoft.com/office/powerpoint/2010/main" val="3201635152"/>
              </p:ext>
            </p:extLst>
          </p:nvPr>
        </p:nvGraphicFramePr>
        <p:xfrm>
          <a:off x="467544" y="1196752"/>
          <a:ext cx="7704856" cy="457200"/>
        </p:xfrm>
        <a:graphic>
          <a:graphicData uri="http://schemas.openxmlformats.org/drawingml/2006/table">
            <a:tbl>
              <a:tblPr firstRow="1" bandRow="1">
                <a:tableStyleId>{2D5ABB26-0587-4C30-8999-92F81FD0307C}</a:tableStyleId>
              </a:tblPr>
              <a:tblGrid>
                <a:gridCol w="7704856">
                  <a:extLst>
                    <a:ext uri="{9D8B030D-6E8A-4147-A177-3AD203B41FA5}">
                      <a16:colId xmlns:a16="http://schemas.microsoft.com/office/drawing/2014/main" val="499056580"/>
                    </a:ext>
                  </a:extLst>
                </a:gridCol>
              </a:tblGrid>
              <a:tr h="400110">
                <a:tc>
                  <a:txBody>
                    <a:bodyPr/>
                    <a:lstStyle/>
                    <a:p>
                      <a:r>
                        <a:rPr lang="en-US" sz="1200" dirty="0">
                          <a:latin typeface="Consolas" panose="020B0609020204030204" pitchFamily="49" charset="0"/>
                        </a:rPr>
                        <a:t>&gt;&gt;&gt; </a:t>
                      </a:r>
                      <a:r>
                        <a:rPr lang="en-US" sz="1200" dirty="0" err="1">
                          <a:latin typeface="Consolas" panose="020B0609020204030204" pitchFamily="49" charset="0"/>
                        </a:rPr>
                        <a:t>seno</a:t>
                      </a:r>
                      <a:r>
                        <a:rPr lang="en-US" sz="1200" dirty="0">
                          <a:latin typeface="Consolas" panose="020B0609020204030204" pitchFamily="49" charset="0"/>
                        </a:rPr>
                        <a:t>(1.0)</a:t>
                      </a:r>
                    </a:p>
                    <a:p>
                      <a:r>
                        <a:rPr lang="en-US" sz="1200" dirty="0" err="1">
                          <a:latin typeface="Consolas" panose="020B0609020204030204" pitchFamily="49" charset="0"/>
                        </a:rPr>
                        <a:t>TypeError</a:t>
                      </a:r>
                      <a:r>
                        <a:rPr lang="en-US" sz="1200" dirty="0">
                          <a:latin typeface="Consolas" panose="020B0609020204030204" pitchFamily="49" charset="0"/>
                        </a:rPr>
                        <a:t>: </a:t>
                      </a:r>
                      <a:r>
                        <a:rPr lang="en-US" sz="1200" dirty="0" err="1">
                          <a:latin typeface="Consolas" panose="020B0609020204030204" pitchFamily="49" charset="0"/>
                        </a:rPr>
                        <a:t>seno</a:t>
                      </a:r>
                      <a:r>
                        <a:rPr lang="en-US" sz="1200" dirty="0">
                          <a:latin typeface="Consolas" panose="020B0609020204030204" pitchFamily="49" charset="0"/>
                        </a:rPr>
                        <a:t>() missing 1 required positional argument: 'n'</a:t>
                      </a:r>
                      <a:endParaRPr lang="es-CO" sz="1200"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sp>
        <p:nvSpPr>
          <p:cNvPr id="15" name="CuadroTexto 14">
            <a:hlinkClick r:id="rId2"/>
            <a:extLst>
              <a:ext uri="{FF2B5EF4-FFF2-40B4-BE49-F238E27FC236}">
                <a16:creationId xmlns:a16="http://schemas.microsoft.com/office/drawing/2014/main" id="{A2B5DBF8-8C6B-4D65-9F4B-05EE7F678AA4}"/>
              </a:ext>
            </a:extLst>
          </p:cNvPr>
          <p:cNvSpPr txBox="1"/>
          <p:nvPr/>
        </p:nvSpPr>
        <p:spPr>
          <a:xfrm>
            <a:off x="3563888" y="4160113"/>
            <a:ext cx="1664486" cy="276999"/>
          </a:xfrm>
          <a:prstGeom prst="rect">
            <a:avLst/>
          </a:prstGeom>
          <a:noFill/>
        </p:spPr>
        <p:txBody>
          <a:bodyPr wrap="square" rtlCol="0">
            <a:spAutoFit/>
          </a:bodyPr>
          <a:lstStyle/>
          <a:p>
            <a:pPr algn="ctr"/>
            <a:r>
              <a:rPr lang="es-CO" sz="1200" dirty="0">
                <a:hlinkClick r:id="rId3"/>
              </a:rPr>
              <a:t>Link simulación</a:t>
            </a:r>
            <a:endParaRPr lang="es-CO" sz="1200" dirty="0"/>
          </a:p>
        </p:txBody>
      </p:sp>
      <p:sp>
        <p:nvSpPr>
          <p:cNvPr id="20" name="CuadroTexto 19">
            <a:extLst>
              <a:ext uri="{FF2B5EF4-FFF2-40B4-BE49-F238E27FC236}">
                <a16:creationId xmlns:a16="http://schemas.microsoft.com/office/drawing/2014/main" id="{F9016B5F-0537-4FB6-B4F5-41B8BAA7EF37}"/>
              </a:ext>
            </a:extLst>
          </p:cNvPr>
          <p:cNvSpPr txBox="1"/>
          <p:nvPr/>
        </p:nvSpPr>
        <p:spPr>
          <a:xfrm>
            <a:off x="154391" y="6021288"/>
            <a:ext cx="8835218" cy="584775"/>
          </a:xfrm>
          <a:prstGeom prst="rect">
            <a:avLst/>
          </a:prstGeom>
          <a:solidFill>
            <a:schemeClr val="accent6">
              <a:lumMod val="20000"/>
              <a:lumOff val="80000"/>
            </a:schemeClr>
          </a:solidFill>
        </p:spPr>
        <p:txBody>
          <a:bodyPr wrap="square" rtlCol="0">
            <a:spAutoFit/>
          </a:bodyPr>
          <a:lstStyle/>
          <a:p>
            <a:r>
              <a:rPr lang="es-MX" sz="1600" b="1" dirty="0"/>
              <a:t>Regla: </a:t>
            </a:r>
            <a:r>
              <a:rPr lang="es-MX" sz="1600" dirty="0"/>
              <a:t>los parámetros con valor por defecto van al final. </a:t>
            </a:r>
            <a:r>
              <a:rPr lang="es-MX" sz="1400" b="1" dirty="0">
                <a:solidFill>
                  <a:schemeClr val="accent5"/>
                </a:solidFill>
                <a:latin typeface="Consolas" panose="020B0609020204030204" pitchFamily="49" charset="0"/>
              </a:rPr>
              <a:t>def seno(n=10, x)</a:t>
            </a:r>
            <a:r>
              <a:rPr lang="es-MX" sz="1600" dirty="0"/>
              <a:t>: da </a:t>
            </a:r>
            <a:r>
              <a:rPr lang="es-MX" sz="1400" b="1" dirty="0">
                <a:latin typeface="Consolas" panose="020B0609020204030204" pitchFamily="49" charset="0"/>
              </a:rPr>
              <a:t>SyntaxError: </a:t>
            </a:r>
            <a:r>
              <a:rPr lang="es-MX" sz="1400" b="1" dirty="0" err="1">
                <a:latin typeface="Consolas" panose="020B0609020204030204" pitchFamily="49" charset="0"/>
              </a:rPr>
              <a:t>parameter</a:t>
            </a:r>
            <a:r>
              <a:rPr lang="es-MX" sz="1400" b="1" dirty="0">
                <a:latin typeface="Consolas" panose="020B0609020204030204" pitchFamily="49" charset="0"/>
              </a:rPr>
              <a:t> </a:t>
            </a:r>
            <a:r>
              <a:rPr lang="es-MX" sz="1400" b="1" dirty="0" err="1">
                <a:latin typeface="Consolas" panose="020B0609020204030204" pitchFamily="49" charset="0"/>
              </a:rPr>
              <a:t>without</a:t>
            </a:r>
            <a:r>
              <a:rPr lang="es-MX" sz="1400" b="1" dirty="0">
                <a:latin typeface="Consolas" panose="020B0609020204030204" pitchFamily="49" charset="0"/>
              </a:rPr>
              <a:t> a default follows </a:t>
            </a:r>
            <a:r>
              <a:rPr lang="es-MX" sz="1400" b="1" dirty="0" err="1">
                <a:latin typeface="Consolas" panose="020B0609020204030204" pitchFamily="49" charset="0"/>
              </a:rPr>
              <a:t>parameter</a:t>
            </a:r>
            <a:r>
              <a:rPr lang="es-MX" sz="1400" b="1" dirty="0">
                <a:latin typeface="Consolas" panose="020B0609020204030204" pitchFamily="49" charset="0"/>
              </a:rPr>
              <a:t> </a:t>
            </a:r>
            <a:r>
              <a:rPr lang="es-MX" sz="1400" b="1" dirty="0" err="1">
                <a:latin typeface="Consolas" panose="020B0609020204030204" pitchFamily="49" charset="0"/>
              </a:rPr>
              <a:t>with</a:t>
            </a:r>
            <a:r>
              <a:rPr lang="es-MX" sz="1400" b="1" dirty="0">
                <a:latin typeface="Consolas" panose="020B0609020204030204" pitchFamily="49" charset="0"/>
              </a:rPr>
              <a:t> a default</a:t>
            </a:r>
            <a:r>
              <a:rPr lang="es-MX" sz="1600" dirty="0"/>
              <a:t>.</a:t>
            </a:r>
          </a:p>
        </p:txBody>
      </p:sp>
      <p:graphicFrame>
        <p:nvGraphicFramePr>
          <p:cNvPr id="9" name="Tabla 13">
            <a:extLst>
              <a:ext uri="{FF2B5EF4-FFF2-40B4-BE49-F238E27FC236}">
                <a16:creationId xmlns:a16="http://schemas.microsoft.com/office/drawing/2014/main" id="{79FFFB57-F063-4D48-B021-39A624DE655C}"/>
              </a:ext>
            </a:extLst>
          </p:cNvPr>
          <p:cNvGraphicFramePr>
            <a:graphicFrameLocks noGrp="1"/>
          </p:cNvGraphicFramePr>
          <p:nvPr>
            <p:extLst>
              <p:ext uri="{D42A27DB-BD31-4B8C-83A1-F6EECF244321}">
                <p14:modId xmlns:p14="http://schemas.microsoft.com/office/powerpoint/2010/main" val="1727026987"/>
              </p:ext>
            </p:extLst>
          </p:nvPr>
        </p:nvGraphicFramePr>
        <p:xfrm>
          <a:off x="467544" y="2395736"/>
          <a:ext cx="7665074" cy="1737360"/>
        </p:xfrm>
        <a:graphic>
          <a:graphicData uri="http://schemas.openxmlformats.org/drawingml/2006/table">
            <a:tbl>
              <a:tblPr firstRow="1" bandRow="1">
                <a:tableStyleId>{2D5ABB26-0587-4C30-8999-92F81FD0307C}</a:tableStyleId>
              </a:tblPr>
              <a:tblGrid>
                <a:gridCol w="7665074">
                  <a:extLst>
                    <a:ext uri="{9D8B030D-6E8A-4147-A177-3AD203B41FA5}">
                      <a16:colId xmlns:a16="http://schemas.microsoft.com/office/drawing/2014/main" val="499056580"/>
                    </a:ext>
                  </a:extLst>
                </a:gridCol>
              </a:tblGrid>
              <a:tr h="400110">
                <a:tc>
                  <a:txBody>
                    <a:bodyPr/>
                    <a:lstStyle/>
                    <a:p>
                      <a:r>
                        <a:rPr lang="en-US" sz="1200" dirty="0">
                          <a:latin typeface="Consolas" panose="020B0609020204030204" pitchFamily="49" charset="0"/>
                        </a:rPr>
                        <a:t>def </a:t>
                      </a:r>
                      <a:r>
                        <a:rPr lang="en-US" sz="1200" dirty="0" err="1">
                          <a:latin typeface="Consolas" panose="020B0609020204030204" pitchFamily="49" charset="0"/>
                        </a:rPr>
                        <a:t>seno</a:t>
                      </a:r>
                      <a:r>
                        <a:rPr lang="en-US" sz="1200" dirty="0">
                          <a:latin typeface="Consolas" panose="020B0609020204030204" pitchFamily="49" charset="0"/>
                        </a:rPr>
                        <a:t>(x, n=10):                 # </a:t>
                      </a:r>
                      <a:r>
                        <a:rPr lang="en-US" sz="1200" dirty="0" err="1">
                          <a:latin typeface="Consolas" panose="020B0609020204030204" pitchFamily="49" charset="0"/>
                        </a:rPr>
                        <a:t>parámetro</a:t>
                      </a:r>
                      <a:r>
                        <a:rPr lang="en-US" sz="1200" dirty="0">
                          <a:latin typeface="Consolas" panose="020B0609020204030204" pitchFamily="49" charset="0"/>
                        </a:rPr>
                        <a:t> con valor por </a:t>
                      </a:r>
                      <a:r>
                        <a:rPr lang="en-US" sz="1200" dirty="0" err="1">
                          <a:latin typeface="Consolas" panose="020B0609020204030204" pitchFamily="49" charset="0"/>
                        </a:rPr>
                        <a:t>defecto</a:t>
                      </a:r>
                      <a:endParaRPr lang="en-US" sz="1200" dirty="0">
                        <a:latin typeface="Consolas" panose="020B0609020204030204" pitchFamily="49" charset="0"/>
                      </a:endParaRPr>
                    </a:p>
                    <a:p>
                      <a:r>
                        <a:rPr lang="en-US" sz="1200" dirty="0">
                          <a:latin typeface="Consolas" panose="020B0609020204030204" pitchFamily="49" charset="0"/>
                        </a:rPr>
                        <a:t>    </a:t>
                      </a:r>
                      <a:r>
                        <a:rPr lang="en-US" sz="1200" dirty="0" err="1">
                          <a:latin typeface="Consolas" panose="020B0609020204030204" pitchFamily="49" charset="0"/>
                        </a:rPr>
                        <a:t>suma</a:t>
                      </a:r>
                      <a:r>
                        <a:rPr lang="en-US" sz="1200" dirty="0">
                          <a:latin typeface="Consolas" panose="020B0609020204030204" pitchFamily="49" charset="0"/>
                        </a:rPr>
                        <a:t> = 0</a:t>
                      </a:r>
                    </a:p>
                    <a:p>
                      <a:r>
                        <a:rPr lang="en-US" sz="1200" dirty="0">
                          <a:latin typeface="Consolas" panose="020B0609020204030204" pitchFamily="49" charset="0"/>
                        </a:rPr>
                        <a:t>    for k in range(n):</a:t>
                      </a:r>
                    </a:p>
                    <a:p>
                      <a:r>
                        <a:rPr lang="en-US" sz="1200" dirty="0">
                          <a:latin typeface="Consolas" panose="020B0609020204030204" pitchFamily="49" charset="0"/>
                        </a:rPr>
                        <a:t>        </a:t>
                      </a:r>
                      <a:r>
                        <a:rPr lang="en-US" sz="1200" dirty="0" err="1">
                          <a:latin typeface="Consolas" panose="020B0609020204030204" pitchFamily="49" charset="0"/>
                        </a:rPr>
                        <a:t>suma</a:t>
                      </a:r>
                      <a:r>
                        <a:rPr lang="en-US" sz="1200" dirty="0">
                          <a:latin typeface="Consolas" panose="020B0609020204030204" pitchFamily="49" charset="0"/>
                        </a:rPr>
                        <a:t> = </a:t>
                      </a:r>
                      <a:r>
                        <a:rPr lang="en-US" sz="1200" dirty="0" err="1">
                          <a:latin typeface="Consolas" panose="020B0609020204030204" pitchFamily="49" charset="0"/>
                        </a:rPr>
                        <a:t>suma</a:t>
                      </a:r>
                      <a:r>
                        <a:rPr lang="en-US" sz="1200" dirty="0">
                          <a:latin typeface="Consolas" panose="020B0609020204030204" pitchFamily="49" charset="0"/>
                        </a:rPr>
                        <a:t> + (-1)**k * x**(2*k + 1) / factorial(2*k + 1)</a:t>
                      </a:r>
                    </a:p>
                    <a:p>
                      <a:r>
                        <a:rPr lang="en-US" sz="1200" dirty="0">
                          <a:latin typeface="Consolas" panose="020B0609020204030204" pitchFamily="49" charset="0"/>
                        </a:rPr>
                        <a:t>    return </a:t>
                      </a:r>
                      <a:r>
                        <a:rPr lang="en-US" sz="1200" dirty="0" err="1">
                          <a:latin typeface="Consolas" panose="020B0609020204030204" pitchFamily="49" charset="0"/>
                        </a:rPr>
                        <a:t>suma</a:t>
                      </a:r>
                      <a:endParaRPr lang="en-US" sz="1200" dirty="0">
                        <a:latin typeface="Consolas" panose="020B0609020204030204" pitchFamily="49" charset="0"/>
                      </a:endParaRPr>
                    </a:p>
                    <a:p>
                      <a:endParaRPr lang="en-US" sz="1200" dirty="0">
                        <a:latin typeface="Consolas" panose="020B0609020204030204" pitchFamily="49" charset="0"/>
                      </a:endParaRPr>
                    </a:p>
                    <a:p>
                      <a:r>
                        <a:rPr lang="en-US" sz="1200" dirty="0">
                          <a:latin typeface="Consolas" panose="020B0609020204030204" pitchFamily="49" charset="0"/>
                        </a:rPr>
                        <a:t>a = </a:t>
                      </a:r>
                      <a:r>
                        <a:rPr lang="en-US" sz="1200" dirty="0" err="1">
                          <a:latin typeface="Consolas" panose="020B0609020204030204" pitchFamily="49" charset="0"/>
                        </a:rPr>
                        <a:t>seno</a:t>
                      </a:r>
                      <a:r>
                        <a:rPr lang="en-US" sz="1200" dirty="0">
                          <a:latin typeface="Consolas" panose="020B0609020204030204" pitchFamily="49" charset="0"/>
                        </a:rPr>
                        <a:t>(1.0)          # ← </a:t>
                      </a:r>
                      <a:r>
                        <a:rPr lang="en-US" sz="1200" dirty="0" err="1">
                          <a:latin typeface="Consolas" panose="020B0609020204030204" pitchFamily="49" charset="0"/>
                        </a:rPr>
                        <a:t>argumento</a:t>
                      </a:r>
                      <a:r>
                        <a:rPr lang="en-US" sz="1200" dirty="0">
                          <a:latin typeface="Consolas" panose="020B0609020204030204" pitchFamily="49" charset="0"/>
                        </a:rPr>
                        <a:t> </a:t>
                      </a:r>
                      <a:r>
                        <a:rPr lang="en-US" sz="1200" dirty="0" err="1">
                          <a:latin typeface="Consolas" panose="020B0609020204030204" pitchFamily="49" charset="0"/>
                        </a:rPr>
                        <a:t>omitido</a:t>
                      </a:r>
                      <a:r>
                        <a:rPr lang="en-US" sz="1200" dirty="0">
                          <a:latin typeface="Consolas" panose="020B0609020204030204" pitchFamily="49" charset="0"/>
                        </a:rPr>
                        <a:t>: </a:t>
                      </a:r>
                      <a:r>
                        <a:rPr lang="en-US" sz="1200" dirty="0" err="1">
                          <a:latin typeface="Consolas" panose="020B0609020204030204" pitchFamily="49" charset="0"/>
                        </a:rPr>
                        <a:t>usa</a:t>
                      </a:r>
                      <a:r>
                        <a:rPr lang="en-US" sz="1200" dirty="0">
                          <a:latin typeface="Consolas" panose="020B0609020204030204" pitchFamily="49" charset="0"/>
                        </a:rPr>
                        <a:t> n = 10</a:t>
                      </a:r>
                    </a:p>
                    <a:p>
                      <a:r>
                        <a:rPr lang="en-US" sz="1200" dirty="0">
                          <a:latin typeface="Consolas" panose="020B0609020204030204" pitchFamily="49" charset="0"/>
                        </a:rPr>
                        <a:t>b = </a:t>
                      </a:r>
                      <a:r>
                        <a:rPr lang="en-US" sz="1200" dirty="0" err="1">
                          <a:latin typeface="Consolas" panose="020B0609020204030204" pitchFamily="49" charset="0"/>
                        </a:rPr>
                        <a:t>seno</a:t>
                      </a:r>
                      <a:r>
                        <a:rPr lang="en-US" sz="1200" dirty="0">
                          <a:latin typeface="Consolas" panose="020B0609020204030204" pitchFamily="49" charset="0"/>
                        </a:rPr>
                        <a:t>(1.0, 3)       # n = 3</a:t>
                      </a:r>
                    </a:p>
                    <a:p>
                      <a:r>
                        <a:rPr lang="en-US" sz="1200" dirty="0">
                          <a:latin typeface="Consolas" panose="020B0609020204030204" pitchFamily="49" charset="0"/>
                        </a:rPr>
                        <a:t>c = </a:t>
                      </a:r>
                      <a:r>
                        <a:rPr lang="en-US" sz="1200" dirty="0" err="1">
                          <a:latin typeface="Consolas" panose="020B0609020204030204" pitchFamily="49" charset="0"/>
                        </a:rPr>
                        <a:t>seno</a:t>
                      </a:r>
                      <a:r>
                        <a:rPr lang="en-US" sz="1200" dirty="0">
                          <a:latin typeface="Consolas" panose="020B0609020204030204" pitchFamily="49" charset="0"/>
                        </a:rPr>
                        <a:t>(n=3, x=1.0)   # ← </a:t>
                      </a:r>
                      <a:r>
                        <a:rPr lang="en-US" sz="1200" dirty="0" err="1">
                          <a:latin typeface="Consolas" panose="020B0609020204030204" pitchFamily="49" charset="0"/>
                        </a:rPr>
                        <a:t>argumentos</a:t>
                      </a:r>
                      <a:r>
                        <a:rPr lang="en-US" sz="1200" dirty="0">
                          <a:latin typeface="Consolas" panose="020B0609020204030204" pitchFamily="49" charset="0"/>
                        </a:rPr>
                        <a:t> </a:t>
                      </a:r>
                      <a:r>
                        <a:rPr lang="en-US" sz="1200" dirty="0" err="1">
                          <a:latin typeface="Consolas" panose="020B0609020204030204" pitchFamily="49" charset="0"/>
                        </a:rPr>
                        <a:t>asignados</a:t>
                      </a:r>
                      <a:r>
                        <a:rPr lang="en-US" sz="1200" dirty="0">
                          <a:latin typeface="Consolas" panose="020B0609020204030204" pitchFamily="49" charset="0"/>
                        </a:rPr>
                        <a:t> por </a:t>
                      </a:r>
                      <a:r>
                        <a:rPr lang="en-US" sz="1200" dirty="0" err="1">
                          <a:latin typeface="Consolas" panose="020B0609020204030204" pitchFamily="49" charset="0"/>
                        </a:rPr>
                        <a:t>nombre</a:t>
                      </a:r>
                      <a:endParaRPr lang="es-CO" sz="1200"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graphicFrame>
        <p:nvGraphicFramePr>
          <p:cNvPr id="10" name="Tabla 13">
            <a:extLst>
              <a:ext uri="{FF2B5EF4-FFF2-40B4-BE49-F238E27FC236}">
                <a16:creationId xmlns:a16="http://schemas.microsoft.com/office/drawing/2014/main" id="{78D12777-E414-426E-94A4-4D7897759CAC}"/>
              </a:ext>
            </a:extLst>
          </p:cNvPr>
          <p:cNvGraphicFramePr>
            <a:graphicFrameLocks noGrp="1"/>
          </p:cNvGraphicFramePr>
          <p:nvPr>
            <p:extLst>
              <p:ext uri="{D42A27DB-BD31-4B8C-83A1-F6EECF244321}">
                <p14:modId xmlns:p14="http://schemas.microsoft.com/office/powerpoint/2010/main" val="4032888081"/>
              </p:ext>
            </p:extLst>
          </p:nvPr>
        </p:nvGraphicFramePr>
        <p:xfrm>
          <a:off x="467544" y="4910494"/>
          <a:ext cx="7665074" cy="653028"/>
        </p:xfrm>
        <a:graphic>
          <a:graphicData uri="http://schemas.openxmlformats.org/drawingml/2006/table">
            <a:tbl>
              <a:tblPr firstRow="1" bandRow="1">
                <a:tableStyleId>{2D5ABB26-0587-4C30-8999-92F81FD0307C}</a:tableStyleId>
              </a:tblPr>
              <a:tblGrid>
                <a:gridCol w="7665074">
                  <a:extLst>
                    <a:ext uri="{9D8B030D-6E8A-4147-A177-3AD203B41FA5}">
                      <a16:colId xmlns:a16="http://schemas.microsoft.com/office/drawing/2014/main" val="499056580"/>
                    </a:ext>
                  </a:extLst>
                </a:gridCol>
              </a:tblGrid>
              <a:tr h="653028">
                <a:tc>
                  <a:txBody>
                    <a:bodyPr/>
                    <a:lstStyle/>
                    <a:p>
                      <a:r>
                        <a:rPr lang="es-MX" sz="1200" dirty="0">
                          <a:latin typeface="Consolas" panose="020B0609020204030204" pitchFamily="49" charset="0"/>
                        </a:rPr>
                        <a:t>0.8414709848078965     ← 10 términos: coincide con el valor real</a:t>
                      </a:r>
                    </a:p>
                    <a:p>
                      <a:r>
                        <a:rPr lang="es-MX" sz="1200" dirty="0">
                          <a:latin typeface="Consolas" panose="020B0609020204030204" pitchFamily="49" charset="0"/>
                        </a:rPr>
                        <a:t>0.841</a:t>
                      </a:r>
                      <a:r>
                        <a:rPr lang="es-MX" sz="1200" dirty="0">
                          <a:solidFill>
                            <a:schemeClr val="accent5"/>
                          </a:solidFill>
                          <a:latin typeface="Consolas" panose="020B0609020204030204" pitchFamily="49" charset="0"/>
                        </a:rPr>
                        <a:t>6666666666667</a:t>
                      </a:r>
                      <a:r>
                        <a:rPr lang="es-MX" sz="1200" dirty="0">
                          <a:latin typeface="Consolas" panose="020B0609020204030204" pitchFamily="49" charset="0"/>
                        </a:rPr>
                        <a:t>     ← 3 términos: error en la 4.ª cifra</a:t>
                      </a:r>
                    </a:p>
                    <a:p>
                      <a:r>
                        <a:rPr lang="es-MX" sz="1200" dirty="0">
                          <a:latin typeface="Consolas" panose="020B0609020204030204" pitchFamily="49" charset="0"/>
                        </a:rPr>
                        <a:t>0.841</a:t>
                      </a:r>
                      <a:r>
                        <a:rPr lang="es-MX" sz="1200" dirty="0">
                          <a:solidFill>
                            <a:schemeClr val="accent5"/>
                          </a:solidFill>
                          <a:latin typeface="Consolas" panose="020B0609020204030204" pitchFamily="49" charset="0"/>
                        </a:rPr>
                        <a:t>6666666666667</a:t>
                      </a:r>
                      <a:endParaRPr lang="es-CO" sz="1200" dirty="0">
                        <a:solidFill>
                          <a:schemeClr val="accent5"/>
                        </a:solidFill>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spTree>
    <p:extLst>
      <p:ext uri="{BB962C8B-B14F-4D97-AF65-F5344CB8AC3E}">
        <p14:creationId xmlns:p14="http://schemas.microsoft.com/office/powerpoint/2010/main" val="39183836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Una función que llama a otra</a:t>
            </a:r>
          </a:p>
        </p:txBody>
      </p:sp>
      <p:sp>
        <p:nvSpPr>
          <p:cNvPr id="13" name="12 Rectángulo"/>
          <p:cNvSpPr/>
          <p:nvPr/>
        </p:nvSpPr>
        <p:spPr>
          <a:xfrm>
            <a:off x="179512" y="692696"/>
            <a:ext cx="8835218" cy="6032421"/>
          </a:xfrm>
          <a:prstGeom prst="rect">
            <a:avLst/>
          </a:prstGeom>
        </p:spPr>
        <p:txBody>
          <a:bodyPr wrap="square">
            <a:spAutoFit/>
          </a:bodyPr>
          <a:lstStyle/>
          <a:p>
            <a:pPr marL="342900" indent="-342900">
              <a:buFont typeface="Arial" panose="020B0604020202020204" pitchFamily="34" charset="0"/>
              <a:buChar char="•"/>
            </a:pPr>
            <a:r>
              <a:rPr lang="es-MX" sz="2000" dirty="0"/>
              <a:t>Una función puede usar otras funciones. </a:t>
            </a:r>
          </a:p>
          <a:p>
            <a:pPr marL="342900" indent="-342900">
              <a:buFont typeface="Arial" panose="020B0604020202020204" pitchFamily="34" charset="0"/>
              <a:buChar char="•"/>
            </a:pPr>
            <a:r>
              <a:rPr lang="es-MX" sz="2000" dirty="0"/>
              <a:t>Esto permite construir programas grandes a partir de piezas pequeñas y ya probadas.</a:t>
            </a:r>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r>
              <a:rPr lang="es-MX" dirty="0"/>
              <a:t>Lo anterior permite:</a:t>
            </a:r>
          </a:p>
          <a:p>
            <a:pPr marL="342900" indent="-342900">
              <a:buFont typeface="Arial" panose="020B0604020202020204" pitchFamily="34" charset="0"/>
              <a:buChar char="•"/>
            </a:pPr>
            <a:r>
              <a:rPr lang="es-MX" b="1" dirty="0"/>
              <a:t>Reutilización</a:t>
            </a:r>
            <a:r>
              <a:rPr lang="es-MX" dirty="0"/>
              <a:t>: </a:t>
            </a:r>
            <a:r>
              <a:rPr lang="es-MX" sz="1600" b="1" dirty="0">
                <a:latin typeface="Consolas" panose="020B0609020204030204" pitchFamily="49" charset="0"/>
              </a:rPr>
              <a:t>factorial</a:t>
            </a:r>
            <a:r>
              <a:rPr lang="es-MX" dirty="0"/>
              <a:t> se escribe y se prueba una vez, y se usa donde se necesite.</a:t>
            </a:r>
          </a:p>
          <a:p>
            <a:pPr marL="342900" indent="-342900">
              <a:buFont typeface="Arial" panose="020B0604020202020204" pitchFamily="34" charset="0"/>
              <a:buChar char="•"/>
            </a:pPr>
            <a:r>
              <a:rPr lang="es-MX" b="1" dirty="0"/>
              <a:t>Abstracción</a:t>
            </a:r>
            <a:r>
              <a:rPr lang="es-MX" dirty="0"/>
              <a:t>: </a:t>
            </a:r>
            <a:r>
              <a:rPr lang="es-MX" sz="1600" b="1" dirty="0">
                <a:latin typeface="Consolas" panose="020B0609020204030204" pitchFamily="49" charset="0"/>
              </a:rPr>
              <a:t>seno</a:t>
            </a:r>
            <a:r>
              <a:rPr lang="es-MX" dirty="0"/>
              <a:t> solo necesita saber </a:t>
            </a:r>
            <a:r>
              <a:rPr lang="es-MX" b="1" dirty="0"/>
              <a:t>qué</a:t>
            </a:r>
            <a:r>
              <a:rPr lang="es-MX" dirty="0"/>
              <a:t> hace </a:t>
            </a:r>
            <a:r>
              <a:rPr lang="es-MX" sz="1600" b="1" dirty="0">
                <a:latin typeface="Consolas" panose="020B0609020204030204" pitchFamily="49" charset="0"/>
              </a:rPr>
              <a:t>factorial</a:t>
            </a:r>
            <a:r>
              <a:rPr lang="es-MX" dirty="0"/>
              <a:t>, no </a:t>
            </a:r>
            <a:r>
              <a:rPr lang="es-MX" b="1" dirty="0"/>
              <a:t>cómo</a:t>
            </a:r>
            <a:r>
              <a:rPr lang="es-MX" dirty="0"/>
              <a:t> lo hace.</a:t>
            </a:r>
          </a:p>
          <a:p>
            <a:pPr marL="342900" indent="-342900">
              <a:buFont typeface="Arial" panose="020B0604020202020204" pitchFamily="34" charset="0"/>
              <a:buChar char="•"/>
            </a:pPr>
            <a:r>
              <a:rPr lang="es-MX" b="1" dirty="0"/>
              <a:t>La ejecución salta y vuelve</a:t>
            </a:r>
            <a:r>
              <a:rPr lang="es-MX" dirty="0"/>
              <a:t>: al terminar </a:t>
            </a:r>
            <a:r>
              <a:rPr lang="es-MX" sz="1600" b="1" dirty="0">
                <a:latin typeface="Consolas" panose="020B0609020204030204" pitchFamily="49" charset="0"/>
              </a:rPr>
              <a:t>factorial</a:t>
            </a:r>
            <a:r>
              <a:rPr lang="es-MX" dirty="0"/>
              <a:t>, se continúa en el punto exacto de la llamada (línea 10).</a:t>
            </a:r>
          </a:p>
          <a:p>
            <a:pPr marL="342900" indent="-342900">
              <a:buFont typeface="Arial" panose="020B0604020202020204" pitchFamily="34" charset="0"/>
              <a:buChar char="•"/>
            </a:pPr>
            <a:r>
              <a:rPr lang="es-MX" b="1" dirty="0"/>
              <a:t>Pila de llamadas</a:t>
            </a:r>
            <a:r>
              <a:rPr lang="es-MX" dirty="0"/>
              <a:t>: cada llamada crea su propio marco, con sus propias variables. Hay </a:t>
            </a:r>
            <a:r>
              <a:rPr lang="es-MX" b="1" dirty="0"/>
              <a:t>dos</a:t>
            </a:r>
            <a:r>
              <a:rPr lang="es-MX" dirty="0"/>
              <a:t> </a:t>
            </a:r>
            <a:r>
              <a:rPr lang="es-MX" b="1" dirty="0">
                <a:latin typeface="Consolas" panose="020B0609020204030204" pitchFamily="49" charset="0"/>
              </a:rPr>
              <a:t>n</a:t>
            </a:r>
            <a:r>
              <a:rPr lang="es-MX" dirty="0"/>
              <a:t> </a:t>
            </a:r>
            <a:r>
              <a:rPr lang="es-MX" b="1" dirty="0"/>
              <a:t>distintas</a:t>
            </a:r>
            <a:r>
              <a:rPr lang="es-MX" dirty="0"/>
              <a:t>.</a:t>
            </a:r>
          </a:p>
        </p:txBody>
      </p:sp>
      <p:sp>
        <p:nvSpPr>
          <p:cNvPr id="15" name="CuadroTexto 14">
            <a:hlinkClick r:id="rId2"/>
            <a:extLst>
              <a:ext uri="{FF2B5EF4-FFF2-40B4-BE49-F238E27FC236}">
                <a16:creationId xmlns:a16="http://schemas.microsoft.com/office/drawing/2014/main" id="{A2B5DBF8-8C6B-4D65-9F4B-05EE7F678AA4}"/>
              </a:ext>
            </a:extLst>
          </p:cNvPr>
          <p:cNvSpPr txBox="1"/>
          <p:nvPr/>
        </p:nvSpPr>
        <p:spPr>
          <a:xfrm>
            <a:off x="3563888" y="4365104"/>
            <a:ext cx="1664486" cy="276999"/>
          </a:xfrm>
          <a:prstGeom prst="rect">
            <a:avLst/>
          </a:prstGeom>
          <a:noFill/>
        </p:spPr>
        <p:txBody>
          <a:bodyPr wrap="square" rtlCol="0">
            <a:spAutoFit/>
          </a:bodyPr>
          <a:lstStyle/>
          <a:p>
            <a:pPr algn="ctr"/>
            <a:r>
              <a:rPr lang="es-CO" sz="1200" dirty="0">
                <a:hlinkClick r:id="rId3"/>
              </a:rPr>
              <a:t>Link simulación</a:t>
            </a:r>
            <a:endParaRPr lang="es-CO" sz="1200" dirty="0"/>
          </a:p>
        </p:txBody>
      </p:sp>
      <p:graphicFrame>
        <p:nvGraphicFramePr>
          <p:cNvPr id="9" name="Tabla 13">
            <a:extLst>
              <a:ext uri="{FF2B5EF4-FFF2-40B4-BE49-F238E27FC236}">
                <a16:creationId xmlns:a16="http://schemas.microsoft.com/office/drawing/2014/main" id="{79FFFB57-F063-4D48-B021-39A624DE655C}"/>
              </a:ext>
            </a:extLst>
          </p:cNvPr>
          <p:cNvGraphicFramePr>
            <a:graphicFrameLocks noGrp="1"/>
          </p:cNvGraphicFramePr>
          <p:nvPr>
            <p:extLst>
              <p:ext uri="{D42A27DB-BD31-4B8C-83A1-F6EECF244321}">
                <p14:modId xmlns:p14="http://schemas.microsoft.com/office/powerpoint/2010/main" val="2216588858"/>
              </p:ext>
            </p:extLst>
          </p:nvPr>
        </p:nvGraphicFramePr>
        <p:xfrm>
          <a:off x="579334" y="1700808"/>
          <a:ext cx="7665074" cy="2651760"/>
        </p:xfrm>
        <a:graphic>
          <a:graphicData uri="http://schemas.openxmlformats.org/drawingml/2006/table">
            <a:tbl>
              <a:tblPr firstRow="1" bandRow="1">
                <a:tableStyleId>{2D5ABB26-0587-4C30-8999-92F81FD0307C}</a:tableStyleId>
              </a:tblPr>
              <a:tblGrid>
                <a:gridCol w="7665074">
                  <a:extLst>
                    <a:ext uri="{9D8B030D-6E8A-4147-A177-3AD203B41FA5}">
                      <a16:colId xmlns:a16="http://schemas.microsoft.com/office/drawing/2014/main" val="499056580"/>
                    </a:ext>
                  </a:extLst>
                </a:gridCol>
              </a:tblGrid>
              <a:tr h="412646">
                <a:tc>
                  <a:txBody>
                    <a:bodyPr/>
                    <a:lstStyle/>
                    <a:p>
                      <a:r>
                        <a:rPr lang="en-US" sz="1200" dirty="0">
                          <a:latin typeface="Consolas" panose="020B0609020204030204" pitchFamily="49" charset="0"/>
                        </a:rPr>
                        <a:t> 1  def factorial(n):</a:t>
                      </a:r>
                    </a:p>
                    <a:p>
                      <a:r>
                        <a:rPr lang="en-US" sz="1200" dirty="0">
                          <a:latin typeface="Consolas" panose="020B0609020204030204" pitchFamily="49" charset="0"/>
                        </a:rPr>
                        <a:t> 2      fact = 1</a:t>
                      </a:r>
                    </a:p>
                    <a:p>
                      <a:r>
                        <a:rPr lang="en-US" sz="1200" dirty="0">
                          <a:latin typeface="Consolas" panose="020B0609020204030204" pitchFamily="49" charset="0"/>
                        </a:rPr>
                        <a:t> 3      for </a:t>
                      </a:r>
                      <a:r>
                        <a:rPr lang="en-US" sz="1200" dirty="0" err="1">
                          <a:latin typeface="Consolas" panose="020B0609020204030204" pitchFamily="49" charset="0"/>
                        </a:rPr>
                        <a:t>i</a:t>
                      </a:r>
                      <a:r>
                        <a:rPr lang="en-US" sz="1200" dirty="0">
                          <a:latin typeface="Consolas" panose="020B0609020204030204" pitchFamily="49" charset="0"/>
                        </a:rPr>
                        <a:t> in range(1, n + 1):</a:t>
                      </a:r>
                    </a:p>
                    <a:p>
                      <a:r>
                        <a:rPr lang="en-US" sz="1200" dirty="0">
                          <a:latin typeface="Consolas" panose="020B0609020204030204" pitchFamily="49" charset="0"/>
                        </a:rPr>
                        <a:t> 4          fact = fact * </a:t>
                      </a:r>
                      <a:r>
                        <a:rPr lang="en-US" sz="1200" dirty="0" err="1">
                          <a:latin typeface="Consolas" panose="020B0609020204030204" pitchFamily="49" charset="0"/>
                        </a:rPr>
                        <a:t>i</a:t>
                      </a:r>
                      <a:endParaRPr lang="en-US" sz="1200" dirty="0">
                        <a:latin typeface="Consolas" panose="020B0609020204030204" pitchFamily="49" charset="0"/>
                      </a:endParaRPr>
                    </a:p>
                    <a:p>
                      <a:r>
                        <a:rPr lang="en-US" sz="1200" dirty="0">
                          <a:latin typeface="Consolas" panose="020B0609020204030204" pitchFamily="49" charset="0"/>
                        </a:rPr>
                        <a:t> 5      return fact</a:t>
                      </a:r>
                    </a:p>
                    <a:p>
                      <a:r>
                        <a:rPr lang="en-US" sz="1200" dirty="0">
                          <a:latin typeface="Consolas" panose="020B0609020204030204" pitchFamily="49" charset="0"/>
                        </a:rPr>
                        <a:t> 6</a:t>
                      </a:r>
                    </a:p>
                    <a:p>
                      <a:r>
                        <a:rPr lang="en-US" sz="1200" dirty="0">
                          <a:latin typeface="Consolas" panose="020B0609020204030204" pitchFamily="49" charset="0"/>
                        </a:rPr>
                        <a:t> 7  def </a:t>
                      </a:r>
                      <a:r>
                        <a:rPr lang="en-US" sz="1200" dirty="0" err="1">
                          <a:latin typeface="Consolas" panose="020B0609020204030204" pitchFamily="49" charset="0"/>
                        </a:rPr>
                        <a:t>seno</a:t>
                      </a:r>
                      <a:r>
                        <a:rPr lang="en-US" sz="1200" dirty="0">
                          <a:latin typeface="Consolas" panose="020B0609020204030204" pitchFamily="49" charset="0"/>
                        </a:rPr>
                        <a:t>(x, n=10):</a:t>
                      </a:r>
                    </a:p>
                    <a:p>
                      <a:r>
                        <a:rPr lang="en-US" sz="1200" dirty="0">
                          <a:latin typeface="Consolas" panose="020B0609020204030204" pitchFamily="49" charset="0"/>
                        </a:rPr>
                        <a:t> 8      </a:t>
                      </a:r>
                      <a:r>
                        <a:rPr lang="en-US" sz="1200" dirty="0" err="1">
                          <a:latin typeface="Consolas" panose="020B0609020204030204" pitchFamily="49" charset="0"/>
                        </a:rPr>
                        <a:t>suma</a:t>
                      </a:r>
                      <a:r>
                        <a:rPr lang="en-US" sz="1200" dirty="0">
                          <a:latin typeface="Consolas" panose="020B0609020204030204" pitchFamily="49" charset="0"/>
                        </a:rPr>
                        <a:t> = 0</a:t>
                      </a:r>
                    </a:p>
                    <a:p>
                      <a:r>
                        <a:rPr lang="en-US" sz="1200" dirty="0">
                          <a:latin typeface="Consolas" panose="020B0609020204030204" pitchFamily="49" charset="0"/>
                        </a:rPr>
                        <a:t> 9      for k in range(n):</a:t>
                      </a:r>
                    </a:p>
                    <a:p>
                      <a:r>
                        <a:rPr lang="en-US" sz="1200" dirty="0">
                          <a:latin typeface="Consolas" panose="020B0609020204030204" pitchFamily="49" charset="0"/>
                        </a:rPr>
                        <a:t>10          </a:t>
                      </a:r>
                      <a:r>
                        <a:rPr lang="en-US" sz="1200" dirty="0" err="1">
                          <a:latin typeface="Consolas" panose="020B0609020204030204" pitchFamily="49" charset="0"/>
                        </a:rPr>
                        <a:t>suma</a:t>
                      </a:r>
                      <a:r>
                        <a:rPr lang="en-US" sz="1200" dirty="0">
                          <a:latin typeface="Consolas" panose="020B0609020204030204" pitchFamily="49" charset="0"/>
                        </a:rPr>
                        <a:t> = </a:t>
                      </a:r>
                      <a:r>
                        <a:rPr lang="en-US" sz="1200" dirty="0" err="1">
                          <a:latin typeface="Consolas" panose="020B0609020204030204" pitchFamily="49" charset="0"/>
                        </a:rPr>
                        <a:t>suma</a:t>
                      </a:r>
                      <a:r>
                        <a:rPr lang="en-US" sz="1200" dirty="0">
                          <a:latin typeface="Consolas" panose="020B0609020204030204" pitchFamily="49" charset="0"/>
                        </a:rPr>
                        <a:t> + (-1)**k * x**(2*k + 1) / factorial(2*k + 1)</a:t>
                      </a:r>
                    </a:p>
                    <a:p>
                      <a:r>
                        <a:rPr lang="en-US" sz="1200" dirty="0">
                          <a:latin typeface="Consolas" panose="020B0609020204030204" pitchFamily="49" charset="0"/>
                        </a:rPr>
                        <a:t>11      return </a:t>
                      </a:r>
                      <a:r>
                        <a:rPr lang="en-US" sz="1200" dirty="0" err="1">
                          <a:latin typeface="Consolas" panose="020B0609020204030204" pitchFamily="49" charset="0"/>
                        </a:rPr>
                        <a:t>suma</a:t>
                      </a:r>
                      <a:endParaRPr lang="en-US" sz="1200" dirty="0">
                        <a:latin typeface="Consolas" panose="020B0609020204030204" pitchFamily="49" charset="0"/>
                      </a:endParaRPr>
                    </a:p>
                    <a:p>
                      <a:r>
                        <a:rPr lang="en-US" sz="1200" dirty="0">
                          <a:latin typeface="Consolas" panose="020B0609020204030204" pitchFamily="49" charset="0"/>
                        </a:rPr>
                        <a:t>12</a:t>
                      </a:r>
                    </a:p>
                    <a:p>
                      <a:r>
                        <a:rPr lang="en-US" sz="1200" dirty="0">
                          <a:latin typeface="Consolas" panose="020B0609020204030204" pitchFamily="49" charset="0"/>
                        </a:rPr>
                        <a:t>13  </a:t>
                      </a:r>
                      <a:r>
                        <a:rPr lang="en-US" sz="1200" dirty="0" err="1">
                          <a:latin typeface="Consolas" panose="020B0609020204030204" pitchFamily="49" charset="0"/>
                        </a:rPr>
                        <a:t>resultado</a:t>
                      </a:r>
                      <a:r>
                        <a:rPr lang="en-US" sz="1200" dirty="0">
                          <a:latin typeface="Consolas" panose="020B0609020204030204" pitchFamily="49" charset="0"/>
                        </a:rPr>
                        <a:t> = </a:t>
                      </a:r>
                      <a:r>
                        <a:rPr lang="en-US" sz="1200" dirty="0" err="1">
                          <a:latin typeface="Consolas" panose="020B0609020204030204" pitchFamily="49" charset="0"/>
                        </a:rPr>
                        <a:t>seno</a:t>
                      </a:r>
                      <a:r>
                        <a:rPr lang="en-US" sz="1200" dirty="0">
                          <a:latin typeface="Consolas" panose="020B0609020204030204" pitchFamily="49" charset="0"/>
                        </a:rPr>
                        <a:t>(1.0, 3)</a:t>
                      </a:r>
                    </a:p>
                    <a:p>
                      <a:r>
                        <a:rPr lang="en-US" sz="1200" dirty="0">
                          <a:latin typeface="Consolas" panose="020B0609020204030204" pitchFamily="49" charset="0"/>
                        </a:rPr>
                        <a:t>14  print(</a:t>
                      </a:r>
                      <a:r>
                        <a:rPr lang="en-US" sz="1200" dirty="0" err="1">
                          <a:latin typeface="Consolas" panose="020B0609020204030204" pitchFamily="49" charset="0"/>
                        </a:rPr>
                        <a:t>resultado</a:t>
                      </a:r>
                      <a:r>
                        <a:rPr lang="en-US" sz="1200" dirty="0">
                          <a:latin typeface="Consolas" panose="020B0609020204030204" pitchFamily="49" charset="0"/>
                        </a:rPr>
                        <a:t>)</a:t>
                      </a:r>
                      <a:endParaRPr lang="es-CO" sz="1200" dirty="0">
                        <a:latin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7050"/>
                  </a:ext>
                </a:extLst>
              </a:tr>
            </a:tbl>
          </a:graphicData>
        </a:graphic>
      </p:graphicFrame>
    </p:spTree>
    <p:extLst>
      <p:ext uri="{BB962C8B-B14F-4D97-AF65-F5344CB8AC3E}">
        <p14:creationId xmlns:p14="http://schemas.microsoft.com/office/powerpoint/2010/main" val="29735249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Resolución de problemas complejos</a:t>
            </a:r>
          </a:p>
        </p:txBody>
      </p:sp>
      <p:sp>
        <p:nvSpPr>
          <p:cNvPr id="13" name="12 Rectángulo"/>
          <p:cNvSpPr/>
          <p:nvPr/>
        </p:nvSpPr>
        <p:spPr>
          <a:xfrm>
            <a:off x="179512" y="839028"/>
            <a:ext cx="8835218" cy="4985980"/>
          </a:xfrm>
          <a:prstGeom prst="rect">
            <a:avLst/>
          </a:prstGeom>
        </p:spPr>
        <p:txBody>
          <a:bodyPr wrap="square">
            <a:spAutoFit/>
          </a:bodyPr>
          <a:lstStyle/>
          <a:p>
            <a:pPr marL="342900" indent="-342900">
              <a:buFont typeface="Arial" panose="020B0604020202020204" pitchFamily="34" charset="0"/>
              <a:buChar char="•"/>
            </a:pPr>
            <a:r>
              <a:rPr lang="es-MX" sz="2000" b="1" dirty="0"/>
              <a:t>¿Y si el problema es grande? ¿Por dónde empiezo?</a:t>
            </a:r>
          </a:p>
          <a:p>
            <a:pPr marL="342900" indent="-342900">
              <a:buFont typeface="Arial" panose="020B0604020202020204" pitchFamily="34" charset="0"/>
              <a:buChar char="•"/>
            </a:pPr>
            <a:r>
              <a:rPr lang="es-MX" sz="2000" b="1" dirty="0"/>
              <a:t>Divide y vencerás</a:t>
            </a:r>
            <a:r>
              <a:rPr lang="es-MX" sz="2000" dirty="0"/>
              <a:t>: dividir un problema complejo en subproblemas más sencillos, y estos a su vez en otros más simples, hasta que cada uno sea fácil de resolver.</a:t>
            </a:r>
          </a:p>
          <a:p>
            <a:pPr marL="342900" indent="-342900">
              <a:buFont typeface="Arial" panose="020B0604020202020204" pitchFamily="34" charset="0"/>
              <a:buChar char="•"/>
            </a:pPr>
            <a:r>
              <a:rPr lang="es-MX" sz="2000" b="1" dirty="0"/>
              <a:t>Diseño top-</a:t>
            </a:r>
            <a:r>
              <a:rPr lang="es-MX" sz="2000" b="1" dirty="0" err="1"/>
              <a:t>down</a:t>
            </a:r>
            <a:r>
              <a:rPr lang="es-MX" sz="2000" b="1" dirty="0"/>
              <a:t> (descendente)</a:t>
            </a:r>
            <a:r>
              <a:rPr lang="es-MX" sz="2000" dirty="0"/>
              <a:t>: se parte del problema completo (arriba) y se baja, nivel por nivel, hasta las piezas más pequeñas.</a:t>
            </a:r>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sz="2000" dirty="0"/>
          </a:p>
          <a:p>
            <a:pPr marL="342900" indent="-342900">
              <a:buFont typeface="Arial" panose="020B0604020202020204" pitchFamily="34" charset="0"/>
              <a:buChar char="•"/>
            </a:pPr>
            <a:endParaRPr lang="es-MX" dirty="0"/>
          </a:p>
        </p:txBody>
      </p:sp>
      <p:pic>
        <p:nvPicPr>
          <p:cNvPr id="6" name="Picture 2" descr="esquema top-down">
            <a:extLst>
              <a:ext uri="{FF2B5EF4-FFF2-40B4-BE49-F238E27FC236}">
                <a16:creationId xmlns:a16="http://schemas.microsoft.com/office/drawing/2014/main" id="{69BCE1C3-120F-4720-8A26-46A22ABB1E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1907" y="3222381"/>
            <a:ext cx="7858565" cy="243886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
            <a:extLst>
              <a:ext uri="{FF2B5EF4-FFF2-40B4-BE49-F238E27FC236}">
                <a16:creationId xmlns:a16="http://schemas.microsoft.com/office/drawing/2014/main" id="{4093F735-9854-4635-94C0-9D1BF029E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4131" y="3039341"/>
            <a:ext cx="1961645" cy="161379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0" name="CuadroTexto 9">
            <a:extLst>
              <a:ext uri="{FF2B5EF4-FFF2-40B4-BE49-F238E27FC236}">
                <a16:creationId xmlns:a16="http://schemas.microsoft.com/office/drawing/2014/main" id="{B673CC65-DEEB-4F99-925B-E7F47922A62E}"/>
              </a:ext>
            </a:extLst>
          </p:cNvPr>
          <p:cNvSpPr txBox="1"/>
          <p:nvPr/>
        </p:nvSpPr>
        <p:spPr>
          <a:xfrm>
            <a:off x="251520" y="6309320"/>
            <a:ext cx="8695542" cy="369332"/>
          </a:xfrm>
          <a:prstGeom prst="rect">
            <a:avLst/>
          </a:prstGeom>
          <a:solidFill>
            <a:schemeClr val="accent2">
              <a:lumMod val="20000"/>
              <a:lumOff val="80000"/>
            </a:schemeClr>
          </a:solidFill>
        </p:spPr>
        <p:txBody>
          <a:bodyPr wrap="square">
            <a:spAutoFit/>
          </a:bodyPr>
          <a:lstStyle/>
          <a:p>
            <a:r>
              <a:rPr lang="es-CO" b="1" dirty="0"/>
              <a:t>Idea clave</a:t>
            </a:r>
            <a:r>
              <a:rPr lang="es-CO" dirty="0"/>
              <a:t>: no se resuelve el problema grande. Se resuelven muchos problemas pequeños.</a:t>
            </a:r>
          </a:p>
        </p:txBody>
      </p:sp>
      <p:sp>
        <p:nvSpPr>
          <p:cNvPr id="11" name="CuadroTexto 10">
            <a:extLst>
              <a:ext uri="{FF2B5EF4-FFF2-40B4-BE49-F238E27FC236}">
                <a16:creationId xmlns:a16="http://schemas.microsoft.com/office/drawing/2014/main" id="{1D8D8314-2095-4265-8B03-89DB2BAF2078}"/>
              </a:ext>
            </a:extLst>
          </p:cNvPr>
          <p:cNvSpPr txBox="1"/>
          <p:nvPr/>
        </p:nvSpPr>
        <p:spPr>
          <a:xfrm>
            <a:off x="2311121" y="5682734"/>
            <a:ext cx="4572000" cy="307777"/>
          </a:xfrm>
          <a:prstGeom prst="rect">
            <a:avLst/>
          </a:prstGeom>
          <a:noFill/>
        </p:spPr>
        <p:txBody>
          <a:bodyPr wrap="square">
            <a:spAutoFit/>
          </a:bodyPr>
          <a:lstStyle/>
          <a:p>
            <a:pPr algn="ctr"/>
            <a:r>
              <a:rPr lang="es-CO" sz="1400" b="1" dirty="0"/>
              <a:t>Diseño Top-Down para conquistar las Galias</a:t>
            </a:r>
            <a:r>
              <a:rPr lang="es-CO" sz="1400" dirty="0"/>
              <a:t> (</a:t>
            </a:r>
            <a:r>
              <a:rPr lang="es-CO" sz="1400" dirty="0">
                <a:hlinkClick r:id="rId4"/>
              </a:rPr>
              <a:t>link</a:t>
            </a:r>
            <a:r>
              <a:rPr lang="es-CO" sz="1400" dirty="0"/>
              <a:t>).</a:t>
            </a:r>
          </a:p>
        </p:txBody>
      </p:sp>
    </p:spTree>
    <p:extLst>
      <p:ext uri="{BB962C8B-B14F-4D97-AF65-F5344CB8AC3E}">
        <p14:creationId xmlns:p14="http://schemas.microsoft.com/office/powerpoint/2010/main" val="40731083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El primer nivel: entrada, proceso y salida</a:t>
            </a:r>
          </a:p>
        </p:txBody>
      </p:sp>
      <p:sp>
        <p:nvSpPr>
          <p:cNvPr id="13" name="12 Rectángulo"/>
          <p:cNvSpPr/>
          <p:nvPr/>
        </p:nvSpPr>
        <p:spPr>
          <a:xfrm>
            <a:off x="179512" y="717664"/>
            <a:ext cx="8835218" cy="1631216"/>
          </a:xfrm>
          <a:prstGeom prst="rect">
            <a:avLst/>
          </a:prstGeom>
        </p:spPr>
        <p:txBody>
          <a:bodyPr wrap="square">
            <a:spAutoFit/>
          </a:bodyPr>
          <a:lstStyle/>
          <a:p>
            <a:pPr marL="342900" indent="-342900" rtl="0">
              <a:buFont typeface="Arial" panose="020B0604020202020204" pitchFamily="34" charset="0"/>
              <a:buChar char="•"/>
            </a:pPr>
            <a:r>
              <a:rPr lang="es-MX" sz="2000" dirty="0"/>
              <a:t>Casi todo programa se divide primero en las mismas tres partes ya vistas: </a:t>
            </a:r>
          </a:p>
          <a:p>
            <a:pPr rtl="0"/>
            <a:endParaRPr lang="es-MX" sz="2000" b="1" dirty="0"/>
          </a:p>
          <a:p>
            <a:pPr algn="ctr" rtl="0"/>
            <a:r>
              <a:rPr lang="es-MX" sz="2000" b="1" dirty="0"/>
              <a:t>entrada → proceso → salida</a:t>
            </a:r>
            <a:r>
              <a:rPr lang="es-MX" sz="2000" dirty="0"/>
              <a:t>.</a:t>
            </a:r>
          </a:p>
          <a:p>
            <a:pPr algn="ctr" rtl="0"/>
            <a:endParaRPr lang="es-MX" sz="2000" dirty="0"/>
          </a:p>
          <a:p>
            <a:pPr marL="342900" indent="-342900" rtl="0">
              <a:buFont typeface="Arial" panose="020B0604020202020204" pitchFamily="34" charset="0"/>
              <a:buChar char="•"/>
            </a:pPr>
            <a:r>
              <a:rPr lang="es-MX" sz="2000" dirty="0"/>
              <a:t>El programa de temperaturas ya era </a:t>
            </a:r>
            <a:r>
              <a:rPr lang="es-MX" sz="2000" b="1" dirty="0"/>
              <a:t>top-</a:t>
            </a:r>
            <a:r>
              <a:rPr lang="es-MX" sz="2000" b="1" dirty="0" err="1"/>
              <a:t>down</a:t>
            </a:r>
            <a:r>
              <a:rPr lang="es-MX" sz="2000" dirty="0"/>
              <a:t>:</a:t>
            </a:r>
            <a:endParaRPr lang="es-MX" dirty="0"/>
          </a:p>
        </p:txBody>
      </p:sp>
      <p:sp>
        <p:nvSpPr>
          <p:cNvPr id="10" name="CuadroTexto 9">
            <a:extLst>
              <a:ext uri="{FF2B5EF4-FFF2-40B4-BE49-F238E27FC236}">
                <a16:creationId xmlns:a16="http://schemas.microsoft.com/office/drawing/2014/main" id="{B673CC65-DEEB-4F99-925B-E7F47922A62E}"/>
              </a:ext>
            </a:extLst>
          </p:cNvPr>
          <p:cNvSpPr txBox="1"/>
          <p:nvPr/>
        </p:nvSpPr>
        <p:spPr>
          <a:xfrm>
            <a:off x="251520" y="6093296"/>
            <a:ext cx="8695542" cy="646331"/>
          </a:xfrm>
          <a:prstGeom prst="rect">
            <a:avLst/>
          </a:prstGeom>
          <a:solidFill>
            <a:schemeClr val="accent2">
              <a:lumMod val="20000"/>
              <a:lumOff val="80000"/>
            </a:schemeClr>
          </a:solidFill>
        </p:spPr>
        <p:txBody>
          <a:bodyPr wrap="square">
            <a:spAutoFit/>
          </a:bodyPr>
          <a:lstStyle/>
          <a:p>
            <a:r>
              <a:rPr lang="es-MX" b="1" dirty="0"/>
              <a:t>No es un método nuevo: </a:t>
            </a:r>
            <a:r>
              <a:rPr lang="es-MX" dirty="0"/>
              <a:t>es lo que se hizo previamente con temperaturas. Ahora tiene nombre.</a:t>
            </a:r>
          </a:p>
        </p:txBody>
      </p:sp>
      <p:pic>
        <p:nvPicPr>
          <p:cNvPr id="3" name="Imagen 2">
            <a:extLst>
              <a:ext uri="{FF2B5EF4-FFF2-40B4-BE49-F238E27FC236}">
                <a16:creationId xmlns:a16="http://schemas.microsoft.com/office/drawing/2014/main" id="{37B98D33-7CCB-41E3-90FC-F4379A9BB1C3}"/>
              </a:ext>
            </a:extLst>
          </p:cNvPr>
          <p:cNvPicPr>
            <a:picLocks noChangeAspect="1"/>
          </p:cNvPicPr>
          <p:nvPr/>
        </p:nvPicPr>
        <p:blipFill>
          <a:blip r:embed="rId2"/>
          <a:stretch>
            <a:fillRect/>
          </a:stretch>
        </p:blipFill>
        <p:spPr>
          <a:xfrm>
            <a:off x="971600" y="2276872"/>
            <a:ext cx="7200800" cy="3398777"/>
          </a:xfrm>
          <a:prstGeom prst="rect">
            <a:avLst/>
          </a:prstGeom>
        </p:spPr>
      </p:pic>
      <p:sp>
        <p:nvSpPr>
          <p:cNvPr id="14" name="CuadroTexto 13">
            <a:extLst>
              <a:ext uri="{FF2B5EF4-FFF2-40B4-BE49-F238E27FC236}">
                <a16:creationId xmlns:a16="http://schemas.microsoft.com/office/drawing/2014/main" id="{026C3336-30AD-429B-8D85-6797BECC2F78}"/>
              </a:ext>
            </a:extLst>
          </p:cNvPr>
          <p:cNvSpPr txBox="1"/>
          <p:nvPr/>
        </p:nvSpPr>
        <p:spPr>
          <a:xfrm>
            <a:off x="467544" y="5579948"/>
            <a:ext cx="8407510" cy="369332"/>
          </a:xfrm>
          <a:prstGeom prst="rect">
            <a:avLst/>
          </a:prstGeom>
          <a:noFill/>
        </p:spPr>
        <p:txBody>
          <a:bodyPr wrap="square">
            <a:spAutoFit/>
          </a:bodyPr>
          <a:lstStyle/>
          <a:p>
            <a:pPr algn="ctr"/>
            <a:r>
              <a:rPr lang="es-CO" b="1" dirty="0"/>
              <a:t>Diagrama top-</a:t>
            </a:r>
            <a:r>
              <a:rPr lang="es-CO" b="1" dirty="0" err="1"/>
              <a:t>down</a:t>
            </a:r>
            <a:r>
              <a:rPr lang="es-CO" b="1" dirty="0"/>
              <a:t> temperaturas</a:t>
            </a:r>
            <a:r>
              <a:rPr lang="es-CO" dirty="0"/>
              <a:t>: ¿Dónde está cada parte en temperaturas_v2.py?</a:t>
            </a:r>
          </a:p>
        </p:txBody>
      </p:sp>
    </p:spTree>
    <p:extLst>
      <p:ext uri="{BB962C8B-B14F-4D97-AF65-F5344CB8AC3E}">
        <p14:creationId xmlns:p14="http://schemas.microsoft.com/office/powerpoint/2010/main" val="10699859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¿Hasta dónde dividir?</a:t>
            </a:r>
          </a:p>
        </p:txBody>
      </p:sp>
      <p:sp>
        <p:nvSpPr>
          <p:cNvPr id="13" name="12 Rectángulo"/>
          <p:cNvSpPr/>
          <p:nvPr/>
        </p:nvSpPr>
        <p:spPr>
          <a:xfrm>
            <a:off x="179512" y="717664"/>
            <a:ext cx="8835218" cy="1323439"/>
          </a:xfrm>
          <a:prstGeom prst="rect">
            <a:avLst/>
          </a:prstGeom>
        </p:spPr>
        <p:txBody>
          <a:bodyPr wrap="square">
            <a:spAutoFit/>
          </a:bodyPr>
          <a:lstStyle/>
          <a:p>
            <a:pPr rtl="0"/>
            <a:r>
              <a:rPr lang="es-MX" sz="2000" b="1" dirty="0"/>
              <a:t>Ejemplo:</a:t>
            </a:r>
            <a:r>
              <a:rPr lang="es-MX" sz="2000" dirty="0"/>
              <a:t> </a:t>
            </a:r>
            <a:r>
              <a:rPr lang="es-CO" sz="2000" dirty="0"/>
              <a:t>Hacer un programa que despliegue un calendario para un mes del año dado. El programa solicita al usuario que ingrese el año y el mes, y entonces despliega el calendario entero para ese mes tal y como lo muestra la siguiente figura:</a:t>
            </a:r>
            <a:endParaRPr lang="es-MX" sz="2000" dirty="0"/>
          </a:p>
        </p:txBody>
      </p:sp>
      <p:sp>
        <p:nvSpPr>
          <p:cNvPr id="14" name="CuadroTexto 13">
            <a:extLst>
              <a:ext uri="{FF2B5EF4-FFF2-40B4-BE49-F238E27FC236}">
                <a16:creationId xmlns:a16="http://schemas.microsoft.com/office/drawing/2014/main" id="{026C3336-30AD-429B-8D85-6797BECC2F78}"/>
              </a:ext>
            </a:extLst>
          </p:cNvPr>
          <p:cNvSpPr txBox="1"/>
          <p:nvPr/>
        </p:nvSpPr>
        <p:spPr>
          <a:xfrm>
            <a:off x="467544" y="5579948"/>
            <a:ext cx="8208912" cy="369332"/>
          </a:xfrm>
          <a:prstGeom prst="rect">
            <a:avLst/>
          </a:prstGeom>
          <a:solidFill>
            <a:schemeClr val="accent6">
              <a:lumMod val="20000"/>
              <a:lumOff val="80000"/>
            </a:schemeClr>
          </a:solidFill>
        </p:spPr>
        <p:txBody>
          <a:bodyPr wrap="square">
            <a:spAutoFit/>
          </a:bodyPr>
          <a:lstStyle/>
          <a:p>
            <a:r>
              <a:rPr lang="es-MX" b="1" dirty="0"/>
              <a:t>Antes de ver la solución:</a:t>
            </a:r>
            <a:r>
              <a:rPr lang="es-MX" dirty="0"/>
              <a:t> ¿en qué partes dividirían este problema?</a:t>
            </a:r>
            <a:endParaRPr lang="es-CO" dirty="0"/>
          </a:p>
        </p:txBody>
      </p:sp>
      <p:pic>
        <p:nvPicPr>
          <p:cNvPr id="7" name="Picture 2">
            <a:extLst>
              <a:ext uri="{FF2B5EF4-FFF2-40B4-BE49-F238E27FC236}">
                <a16:creationId xmlns:a16="http://schemas.microsoft.com/office/drawing/2014/main" id="{B7DBF9EF-FE6D-4839-85E5-F5EB76D21D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119746"/>
            <a:ext cx="8064896" cy="27486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499321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s-MX" sz="3600" dirty="0"/>
              <a:t>¿Hasta dónde dividir?</a:t>
            </a:r>
          </a:p>
        </p:txBody>
      </p:sp>
      <p:sp>
        <p:nvSpPr>
          <p:cNvPr id="13" name="12 Rectángulo"/>
          <p:cNvSpPr/>
          <p:nvPr/>
        </p:nvSpPr>
        <p:spPr>
          <a:xfrm>
            <a:off x="179512" y="717664"/>
            <a:ext cx="8835218" cy="1631216"/>
          </a:xfrm>
          <a:prstGeom prst="rect">
            <a:avLst/>
          </a:prstGeom>
        </p:spPr>
        <p:txBody>
          <a:bodyPr wrap="square">
            <a:spAutoFit/>
          </a:bodyPr>
          <a:lstStyle/>
          <a:p>
            <a:pPr rtl="0"/>
            <a:r>
              <a:rPr lang="es-CO" sz="2000" b="1" dirty="0"/>
              <a:t>Diagrama Top-Down</a:t>
            </a:r>
            <a:r>
              <a:rPr lang="es-CO" sz="2000" dirty="0"/>
              <a:t>:</a:t>
            </a:r>
          </a:p>
          <a:p>
            <a:pPr marL="342900" indent="-342900" rtl="0">
              <a:buFont typeface="Arial" panose="020B0604020202020204" pitchFamily="34" charset="0"/>
              <a:buChar char="•"/>
            </a:pPr>
            <a:r>
              <a:rPr lang="es-MX" sz="2000" dirty="0"/>
              <a:t>Se divide hasta que cada pieza haga una sola cosa y su nombre lo diga.</a:t>
            </a:r>
          </a:p>
          <a:p>
            <a:pPr marL="342900" indent="-342900" rtl="0">
              <a:buFont typeface="Arial" panose="020B0604020202020204" pitchFamily="34" charset="0"/>
              <a:buChar char="•"/>
            </a:pPr>
            <a:r>
              <a:rPr lang="es-MX" sz="2000" b="1" dirty="0"/>
              <a:t>Algunas piezas ya son conocidas</a:t>
            </a:r>
            <a:r>
              <a:rPr lang="es-MX" sz="2000" dirty="0"/>
              <a:t>: </a:t>
            </a:r>
            <a:r>
              <a:rPr lang="es-MX" sz="1600" b="1" dirty="0" err="1">
                <a:latin typeface="Consolas" panose="020B0609020204030204" pitchFamily="49" charset="0"/>
              </a:rPr>
              <a:t>es_bisiesto</a:t>
            </a:r>
            <a:r>
              <a:rPr lang="es-MX" sz="2000" dirty="0"/>
              <a:t> es el ejemplo de la clase 7.</a:t>
            </a:r>
          </a:p>
          <a:p>
            <a:pPr marL="342900" indent="-342900" rtl="0">
              <a:buFont typeface="Arial" panose="020B0604020202020204" pitchFamily="34" charset="0"/>
              <a:buChar char="•"/>
            </a:pPr>
            <a:r>
              <a:rPr lang="es-MX" sz="2000" b="1" dirty="0"/>
              <a:t>Una misma función puede ser usada por varias</a:t>
            </a:r>
            <a:r>
              <a:rPr lang="es-MX" sz="2000" dirty="0"/>
              <a:t>: </a:t>
            </a:r>
            <a:r>
              <a:rPr lang="es-MX" b="1" dirty="0" err="1">
                <a:latin typeface="Consolas" panose="020B0609020204030204" pitchFamily="49" charset="0"/>
              </a:rPr>
              <a:t>obtener_dias_mes</a:t>
            </a:r>
            <a:r>
              <a:rPr lang="es-MX" sz="2000" dirty="0"/>
              <a:t> aparece en dos ramas. Eso es reutilización.</a:t>
            </a:r>
          </a:p>
        </p:txBody>
      </p:sp>
      <p:pic>
        <p:nvPicPr>
          <p:cNvPr id="4" name="Imagen 3">
            <a:extLst>
              <a:ext uri="{FF2B5EF4-FFF2-40B4-BE49-F238E27FC236}">
                <a16:creationId xmlns:a16="http://schemas.microsoft.com/office/drawing/2014/main" id="{22855065-2A59-4C93-A3C4-DB0C88805A3D}"/>
              </a:ext>
            </a:extLst>
          </p:cNvPr>
          <p:cNvPicPr>
            <a:picLocks noChangeAspect="1"/>
          </p:cNvPicPr>
          <p:nvPr/>
        </p:nvPicPr>
        <p:blipFill>
          <a:blip r:embed="rId2"/>
          <a:stretch>
            <a:fillRect/>
          </a:stretch>
        </p:blipFill>
        <p:spPr>
          <a:xfrm>
            <a:off x="1331641" y="2306216"/>
            <a:ext cx="6905836" cy="4219128"/>
          </a:xfrm>
          <a:prstGeom prst="rect">
            <a:avLst/>
          </a:prstGeom>
        </p:spPr>
      </p:pic>
      <p:sp>
        <p:nvSpPr>
          <p:cNvPr id="15" name="CuadroTexto 14">
            <a:extLst>
              <a:ext uri="{FF2B5EF4-FFF2-40B4-BE49-F238E27FC236}">
                <a16:creationId xmlns:a16="http://schemas.microsoft.com/office/drawing/2014/main" id="{33C4FF9D-126A-43C8-8615-C2375C01EB92}"/>
              </a:ext>
            </a:extLst>
          </p:cNvPr>
          <p:cNvSpPr txBox="1"/>
          <p:nvPr/>
        </p:nvSpPr>
        <p:spPr>
          <a:xfrm>
            <a:off x="39835" y="6474822"/>
            <a:ext cx="9034891" cy="338554"/>
          </a:xfrm>
          <a:prstGeom prst="rect">
            <a:avLst/>
          </a:prstGeom>
          <a:solidFill>
            <a:schemeClr val="accent2">
              <a:lumMod val="20000"/>
              <a:lumOff val="80000"/>
            </a:schemeClr>
          </a:solidFill>
        </p:spPr>
        <p:txBody>
          <a:bodyPr wrap="square">
            <a:spAutoFit/>
          </a:bodyPr>
          <a:lstStyle/>
          <a:p>
            <a:r>
              <a:rPr lang="es-MX" sz="1600" dirty="0"/>
              <a:t>No todo subproblema necesita ser una función: si es una sola línea, puede quedarse dentro de otra.</a:t>
            </a:r>
          </a:p>
        </p:txBody>
      </p:sp>
    </p:spTree>
    <p:extLst>
      <p:ext uri="{BB962C8B-B14F-4D97-AF65-F5344CB8AC3E}">
        <p14:creationId xmlns:p14="http://schemas.microsoft.com/office/powerpoint/2010/main" val="26244027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n-US" sz="3600" dirty="0"/>
              <a:t>¿Cómo se construye? Top-down y bottom-up</a:t>
            </a:r>
            <a:endParaRPr lang="es-MX" sz="3600" dirty="0"/>
          </a:p>
        </p:txBody>
      </p:sp>
      <p:sp>
        <p:nvSpPr>
          <p:cNvPr id="13" name="12 Rectángulo"/>
          <p:cNvSpPr/>
          <p:nvPr/>
        </p:nvSpPr>
        <p:spPr>
          <a:xfrm>
            <a:off x="179512" y="796642"/>
            <a:ext cx="8835218" cy="5324535"/>
          </a:xfrm>
          <a:prstGeom prst="rect">
            <a:avLst/>
          </a:prstGeom>
        </p:spPr>
        <p:txBody>
          <a:bodyPr wrap="square">
            <a:spAutoFit/>
          </a:bodyPr>
          <a:lstStyle/>
          <a:p>
            <a:pPr marL="342900" indent="-342900" rtl="0">
              <a:buFont typeface="Arial" panose="020B0604020202020204" pitchFamily="34" charset="0"/>
              <a:buChar char="•"/>
            </a:pPr>
            <a:r>
              <a:rPr lang="es-MX" sz="2000" dirty="0"/>
              <a:t>La siguiente tabla ilustra los principales aspectos a tener en cuenta para abordar un problema complejo ya sea mediante </a:t>
            </a:r>
            <a:r>
              <a:rPr lang="es-MX" sz="2000" b="1" dirty="0"/>
              <a:t>top-</a:t>
            </a:r>
            <a:r>
              <a:rPr lang="es-MX" sz="2000" b="1" dirty="0" err="1"/>
              <a:t>down</a:t>
            </a:r>
            <a:r>
              <a:rPr lang="es-MX" sz="2000" dirty="0"/>
              <a:t> o mediante </a:t>
            </a:r>
            <a:r>
              <a:rPr lang="es-MX" sz="2000" b="1" dirty="0" err="1"/>
              <a:t>bottom</a:t>
            </a:r>
            <a:r>
              <a:rPr lang="es-MX" sz="2000" b="1" dirty="0"/>
              <a:t>-up</a:t>
            </a:r>
            <a:r>
              <a:rPr lang="es-MX" sz="2000" dirty="0"/>
              <a:t>.</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es-MX" sz="2000" b="1" dirty="0"/>
              <a:t>Lo que tienen en común</a:t>
            </a:r>
            <a:r>
              <a:rPr lang="es-MX" sz="2000" dirty="0"/>
              <a:t>: “los dos construyen una función a la vez, ayudan a aislar los errores y facilitan la depuración” (Liang, </a:t>
            </a:r>
            <a:r>
              <a:rPr lang="es-CO" sz="2000" dirty="0"/>
              <a:t>§6.13</a:t>
            </a:r>
            <a:r>
              <a:rPr lang="es-MX" sz="2000" dirty="0"/>
              <a:t>).</a:t>
            </a:r>
          </a:p>
          <a:p>
            <a:pPr marL="342900" indent="-342900" rtl="0">
              <a:buFont typeface="Arial" panose="020B0604020202020204" pitchFamily="34" charset="0"/>
              <a:buChar char="•"/>
            </a:pPr>
            <a:r>
              <a:rPr lang="es-MX" sz="2000" dirty="0"/>
              <a:t>Nunca se escribe todo para probarlo al final.</a:t>
            </a:r>
          </a:p>
        </p:txBody>
      </p:sp>
      <p:graphicFrame>
        <p:nvGraphicFramePr>
          <p:cNvPr id="2" name="Tabla 1">
            <a:extLst>
              <a:ext uri="{FF2B5EF4-FFF2-40B4-BE49-F238E27FC236}">
                <a16:creationId xmlns:a16="http://schemas.microsoft.com/office/drawing/2014/main" id="{8C462719-C3C9-4A70-A8F0-02BB0B1E60DB}"/>
              </a:ext>
            </a:extLst>
          </p:cNvPr>
          <p:cNvGraphicFramePr>
            <a:graphicFrameLocks noGrp="1"/>
          </p:cNvGraphicFramePr>
          <p:nvPr>
            <p:extLst>
              <p:ext uri="{D42A27DB-BD31-4B8C-83A1-F6EECF244321}">
                <p14:modId xmlns:p14="http://schemas.microsoft.com/office/powerpoint/2010/main" val="3363121036"/>
              </p:ext>
            </p:extLst>
          </p:nvPr>
        </p:nvGraphicFramePr>
        <p:xfrm>
          <a:off x="539552" y="1772816"/>
          <a:ext cx="8208912" cy="3108960"/>
        </p:xfrm>
        <a:graphic>
          <a:graphicData uri="http://schemas.openxmlformats.org/drawingml/2006/table">
            <a:tbl>
              <a:tblPr/>
              <a:tblGrid>
                <a:gridCol w="2736304">
                  <a:extLst>
                    <a:ext uri="{9D8B030D-6E8A-4147-A177-3AD203B41FA5}">
                      <a16:colId xmlns:a16="http://schemas.microsoft.com/office/drawing/2014/main" val="3568930428"/>
                    </a:ext>
                  </a:extLst>
                </a:gridCol>
                <a:gridCol w="2736304">
                  <a:extLst>
                    <a:ext uri="{9D8B030D-6E8A-4147-A177-3AD203B41FA5}">
                      <a16:colId xmlns:a16="http://schemas.microsoft.com/office/drawing/2014/main" val="4124702210"/>
                    </a:ext>
                  </a:extLst>
                </a:gridCol>
                <a:gridCol w="2736304">
                  <a:extLst>
                    <a:ext uri="{9D8B030D-6E8A-4147-A177-3AD203B41FA5}">
                      <a16:colId xmlns:a16="http://schemas.microsoft.com/office/drawing/2014/main" val="3675448163"/>
                    </a:ext>
                  </a:extLst>
                </a:gridCol>
              </a:tblGrid>
              <a:tr h="0">
                <a:tc>
                  <a:txBody>
                    <a:bodyPr/>
                    <a:lstStyle/>
                    <a:p>
                      <a:endParaRPr lang="es-CO"/>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s-CO" b="1" dirty="0"/>
                        <a:t>Top-</a:t>
                      </a:r>
                      <a:r>
                        <a:rPr lang="es-CO" b="1" dirty="0" err="1"/>
                        <a:t>down</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CO" b="1" dirty="0" err="1"/>
                        <a:t>Bottom</a:t>
                      </a:r>
                      <a:r>
                        <a:rPr lang="es-CO" b="1" dirty="0"/>
                        <a:t>-up</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616112531"/>
                  </a:ext>
                </a:extLst>
              </a:tr>
              <a:tr h="0">
                <a:tc>
                  <a:txBody>
                    <a:bodyPr/>
                    <a:lstStyle/>
                    <a:p>
                      <a:r>
                        <a:rPr lang="es-CO" b="1" dirty="0"/>
                        <a:t>Orden</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MX" b="1" dirty="0"/>
                        <a:t>De arriba hacia abajo</a:t>
                      </a:r>
                      <a:r>
                        <a:rPr lang="es-MX" dirty="0"/>
                        <a:t>: primero el programa principal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b="1" dirty="0"/>
                        <a:t>De abajo hacia arriba</a:t>
                      </a:r>
                      <a:r>
                        <a:rPr lang="es-MX" dirty="0"/>
                        <a:t>: primero las funciones más pequeñas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02789637"/>
                  </a:ext>
                </a:extLst>
              </a:tr>
              <a:tr h="0">
                <a:tc>
                  <a:txBody>
                    <a:bodyPr/>
                    <a:lstStyle/>
                    <a:p>
                      <a:r>
                        <a:rPr lang="es-MX" b="1" dirty="0"/>
                        <a:t>Lo que falta se reemplaza por…</a:t>
                      </a:r>
                      <a:endParaRPr lang="es-MX"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MX" b="1" dirty="0"/>
                        <a:t>Stubs:</a:t>
                      </a:r>
                      <a:r>
                        <a:rPr lang="es-MX" dirty="0"/>
                        <a:t> versiones provisionales e incompletas de una función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b="1" dirty="0"/>
                        <a:t>Drivers:</a:t>
                      </a:r>
                      <a:r>
                        <a:rPr lang="es-MX" dirty="0"/>
                        <a:t> pequeños programas de prueba, como nuestros assert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90159382"/>
                  </a:ext>
                </a:extLst>
              </a:tr>
              <a:tr h="0">
                <a:tc>
                  <a:txBody>
                    <a:bodyPr/>
                    <a:lstStyle/>
                    <a:p>
                      <a:r>
                        <a:rPr lang="es-CO" b="1" dirty="0"/>
                        <a:t>Ventaja</a:t>
                      </a:r>
                      <a:endParaRPr lang="es-CO"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MX" dirty="0"/>
                        <a:t>El programa corre desde el primer momento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dirty="0"/>
                        <a:t>Cada pieza llega probada a la integración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98547987"/>
                  </a:ext>
                </a:extLst>
              </a:tr>
            </a:tbl>
          </a:graphicData>
        </a:graphic>
      </p:graphicFrame>
    </p:spTree>
    <p:extLst>
      <p:ext uri="{BB962C8B-B14F-4D97-AF65-F5344CB8AC3E}">
        <p14:creationId xmlns:p14="http://schemas.microsoft.com/office/powerpoint/2010/main" val="24760275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n-US" sz="3600" dirty="0"/>
              <a:t>Top-down: Del planteamiento al </a:t>
            </a:r>
            <a:r>
              <a:rPr lang="en-US" sz="3600" dirty="0" err="1"/>
              <a:t>código</a:t>
            </a:r>
            <a:endParaRPr lang="es-MX" sz="3600" dirty="0"/>
          </a:p>
        </p:txBody>
      </p:sp>
      <p:sp>
        <p:nvSpPr>
          <p:cNvPr id="13" name="12 Rectángulo"/>
          <p:cNvSpPr/>
          <p:nvPr/>
        </p:nvSpPr>
        <p:spPr>
          <a:xfrm>
            <a:off x="179512" y="796642"/>
            <a:ext cx="8835218" cy="3170099"/>
          </a:xfrm>
          <a:prstGeom prst="rect">
            <a:avLst/>
          </a:prstGeom>
        </p:spPr>
        <p:txBody>
          <a:bodyPr wrap="square">
            <a:spAutoFit/>
          </a:bodyPr>
          <a:lstStyle/>
          <a:p>
            <a:pPr marL="342900" indent="-342900" rtl="0">
              <a:buFont typeface="Arial" panose="020B0604020202020204" pitchFamily="34" charset="0"/>
              <a:buChar char="•"/>
            </a:pPr>
            <a:r>
              <a:rPr lang="es-MX" sz="2000" dirty="0"/>
              <a:t>En el planteamiento, cada caja del árbol es un </a:t>
            </a:r>
            <a:r>
              <a:rPr lang="es-MX" sz="2000" b="1" dirty="0"/>
              <a:t>subproblema</a:t>
            </a:r>
            <a:r>
              <a:rPr lang="es-MX" sz="2000" dirty="0"/>
              <a:t>.</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es-MX" sz="2000" dirty="0"/>
              <a:t>En el código, cada subproblema se convierte en una </a:t>
            </a:r>
            <a:r>
              <a:rPr lang="es-MX" sz="2000" b="1" dirty="0"/>
              <a:t>función</a:t>
            </a:r>
            <a:r>
              <a:rPr lang="es-MX" sz="2000" dirty="0"/>
              <a:t>:</a:t>
            </a:r>
          </a:p>
        </p:txBody>
      </p:sp>
      <p:graphicFrame>
        <p:nvGraphicFramePr>
          <p:cNvPr id="3" name="Tabla 2">
            <a:extLst>
              <a:ext uri="{FF2B5EF4-FFF2-40B4-BE49-F238E27FC236}">
                <a16:creationId xmlns:a16="http://schemas.microsoft.com/office/drawing/2014/main" id="{95D97ED3-7123-4017-A27A-D38CCCF2C330}"/>
              </a:ext>
            </a:extLst>
          </p:cNvPr>
          <p:cNvGraphicFramePr>
            <a:graphicFrameLocks noGrp="1"/>
          </p:cNvGraphicFramePr>
          <p:nvPr>
            <p:extLst>
              <p:ext uri="{D42A27DB-BD31-4B8C-83A1-F6EECF244321}">
                <p14:modId xmlns:p14="http://schemas.microsoft.com/office/powerpoint/2010/main" val="3128087495"/>
              </p:ext>
            </p:extLst>
          </p:nvPr>
        </p:nvGraphicFramePr>
        <p:xfrm>
          <a:off x="628650" y="4077072"/>
          <a:ext cx="7886700" cy="1828800"/>
        </p:xfrm>
        <a:graphic>
          <a:graphicData uri="http://schemas.openxmlformats.org/drawingml/2006/table">
            <a:tbl>
              <a:tblPr/>
              <a:tblGrid>
                <a:gridCol w="3943350">
                  <a:extLst>
                    <a:ext uri="{9D8B030D-6E8A-4147-A177-3AD203B41FA5}">
                      <a16:colId xmlns:a16="http://schemas.microsoft.com/office/drawing/2014/main" val="3200556719"/>
                    </a:ext>
                  </a:extLst>
                </a:gridCol>
                <a:gridCol w="3943350">
                  <a:extLst>
                    <a:ext uri="{9D8B030D-6E8A-4147-A177-3AD203B41FA5}">
                      <a16:colId xmlns:a16="http://schemas.microsoft.com/office/drawing/2014/main" val="343841987"/>
                    </a:ext>
                  </a:extLst>
                </a:gridCol>
              </a:tblGrid>
              <a:tr h="0">
                <a:tc>
                  <a:txBody>
                    <a:bodyPr/>
                    <a:lstStyle/>
                    <a:p>
                      <a:r>
                        <a:rPr lang="es-CO" sz="1600" b="1"/>
                        <a:t>Caja del árbol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En el código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664146475"/>
                  </a:ext>
                </a:extLst>
              </a:tr>
              <a:tr h="0">
                <a:tc>
                  <a:txBody>
                    <a:bodyPr/>
                    <a:lstStyle/>
                    <a:p>
                      <a:r>
                        <a:rPr lang="es-CO" sz="1400" dirty="0">
                          <a:latin typeface="Consolas" panose="020B0609020204030204" pitchFamily="49" charset="0"/>
                        </a:rPr>
                        <a:t>mostrar_menu()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def</a:t>
                      </a:r>
                      <a:r>
                        <a:rPr lang="es-CO" sz="1400" dirty="0">
                          <a:latin typeface="Consolas" panose="020B0609020204030204" pitchFamily="49" charset="0"/>
                        </a:rPr>
                        <a:t> mostrar_menu():</a:t>
                      </a:r>
                      <a:endParaRPr lang="es-CO" sz="16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5682915"/>
                  </a:ext>
                </a:extLst>
              </a:tr>
              <a:tr h="0">
                <a:tc>
                  <a:txBody>
                    <a:bodyPr/>
                    <a:lstStyle/>
                    <a:p>
                      <a:r>
                        <a:rPr lang="es-CO" sz="1400">
                          <a:latin typeface="Consolas" panose="020B0609020204030204" pitchFamily="49" charset="0"/>
                        </a:rPr>
                        <a:t>celsius_a_fahrenheit()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de-DE" sz="1400">
                          <a:latin typeface="Consolas" panose="020B0609020204030204" pitchFamily="49" charset="0"/>
                        </a:rPr>
                        <a:t>def celsius_a_fahrenheit(temp_c):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3561024"/>
                  </a:ext>
                </a:extLst>
              </a:tr>
              <a:tr h="0">
                <a:tc>
                  <a:txBody>
                    <a:bodyPr/>
                    <a:lstStyle/>
                    <a:p>
                      <a:r>
                        <a:rPr lang="es-CO" sz="1400" dirty="0">
                          <a:latin typeface="Consolas" panose="020B0609020204030204" pitchFamily="49" charset="0"/>
                        </a:rPr>
                        <a:t>celsius_a_kelvin()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fi-FI" sz="1400" dirty="0">
                          <a:latin typeface="Consolas" panose="020B0609020204030204" pitchFamily="49" charset="0"/>
                        </a:rPr>
                        <a:t>def celsius_a_kelvin(temp_c):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6146299"/>
                  </a:ext>
                </a:extLst>
              </a:tr>
              <a:tr h="0">
                <a:tc>
                  <a:txBody>
                    <a:bodyPr/>
                    <a:lstStyle/>
                    <a:p>
                      <a:r>
                        <a:rPr lang="es-MX" sz="1600" dirty="0"/>
                        <a:t>Leer opción, leer temperatura, mostrar resultado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Una línea cada una (</a:t>
                      </a:r>
                      <a:r>
                        <a:rPr lang="es-CO" sz="1400" dirty="0">
                          <a:latin typeface="Consolas" panose="020B0609020204030204" pitchFamily="49" charset="0"/>
                        </a:rPr>
                        <a:t>input</a:t>
                      </a:r>
                      <a:r>
                        <a:rPr lang="es-CO" sz="1600" dirty="0"/>
                        <a:t> o </a:t>
                      </a:r>
                      <a:r>
                        <a:rPr lang="es-CO" sz="1400" dirty="0">
                          <a:latin typeface="Consolas" panose="020B0609020204030204" pitchFamily="49" charset="0"/>
                        </a:rPr>
                        <a:t>print</a:t>
                      </a:r>
                      <a:r>
                        <a:rPr lang="es-CO" sz="1600" dirty="0"/>
                        <a:t>), dentro del </a:t>
                      </a:r>
                      <a:r>
                        <a:rPr lang="es-CO" sz="1600" b="1" dirty="0"/>
                        <a:t>programa principal</a:t>
                      </a:r>
                      <a:endParaRPr lang="es-CO"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1415090"/>
                  </a:ext>
                </a:extLst>
              </a:tr>
            </a:tbl>
          </a:graphicData>
        </a:graphic>
      </p:graphicFrame>
      <p:pic>
        <p:nvPicPr>
          <p:cNvPr id="6" name="Imagen 5">
            <a:extLst>
              <a:ext uri="{FF2B5EF4-FFF2-40B4-BE49-F238E27FC236}">
                <a16:creationId xmlns:a16="http://schemas.microsoft.com/office/drawing/2014/main" id="{A3AB67DB-2C57-4BCF-81B8-1B9A74E80EA8}"/>
              </a:ext>
            </a:extLst>
          </p:cNvPr>
          <p:cNvPicPr>
            <a:picLocks noChangeAspect="1"/>
          </p:cNvPicPr>
          <p:nvPr/>
        </p:nvPicPr>
        <p:blipFill>
          <a:blip r:embed="rId2"/>
          <a:stretch>
            <a:fillRect/>
          </a:stretch>
        </p:blipFill>
        <p:spPr>
          <a:xfrm>
            <a:off x="2123728" y="1235447"/>
            <a:ext cx="5137689" cy="2424989"/>
          </a:xfrm>
          <a:prstGeom prst="rect">
            <a:avLst/>
          </a:prstGeom>
        </p:spPr>
      </p:pic>
      <p:sp>
        <p:nvSpPr>
          <p:cNvPr id="11" name="CuadroTexto 10">
            <a:extLst>
              <a:ext uri="{FF2B5EF4-FFF2-40B4-BE49-F238E27FC236}">
                <a16:creationId xmlns:a16="http://schemas.microsoft.com/office/drawing/2014/main" id="{2F938FF1-6A0E-4201-A72E-E3484D4BFCD8}"/>
              </a:ext>
            </a:extLst>
          </p:cNvPr>
          <p:cNvSpPr txBox="1"/>
          <p:nvPr/>
        </p:nvSpPr>
        <p:spPr>
          <a:xfrm>
            <a:off x="256278" y="6093296"/>
            <a:ext cx="8636202" cy="584775"/>
          </a:xfrm>
          <a:prstGeom prst="rect">
            <a:avLst/>
          </a:prstGeom>
          <a:solidFill>
            <a:schemeClr val="accent6">
              <a:lumMod val="20000"/>
              <a:lumOff val="80000"/>
            </a:schemeClr>
          </a:solidFill>
        </p:spPr>
        <p:txBody>
          <a:bodyPr wrap="square">
            <a:spAutoFit/>
          </a:bodyPr>
          <a:lstStyle/>
          <a:p>
            <a:r>
              <a:rPr lang="es-CO" sz="1600" b="1" dirty="0"/>
              <a:t>Pregunta</a:t>
            </a:r>
            <a:r>
              <a:rPr lang="es-CO" sz="1600" dirty="0"/>
              <a:t>: si el árbol ya está listo, ¿por dónde empezamos a programar? </a:t>
            </a:r>
          </a:p>
          <a:p>
            <a:r>
              <a:rPr lang="es-CO" sz="1600" b="1" dirty="0"/>
              <a:t>Respuesta</a:t>
            </a:r>
            <a:r>
              <a:rPr lang="es-CO" sz="1600" dirty="0"/>
              <a:t>: Por arriba, el programa principal.</a:t>
            </a:r>
          </a:p>
        </p:txBody>
      </p:sp>
    </p:spTree>
    <p:extLst>
      <p:ext uri="{BB962C8B-B14F-4D97-AF65-F5344CB8AC3E}">
        <p14:creationId xmlns:p14="http://schemas.microsoft.com/office/powerpoint/2010/main" val="37637869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835218" cy="720452"/>
          </a:xfrm>
        </p:spPr>
        <p:txBody>
          <a:bodyPr>
            <a:noAutofit/>
          </a:bodyPr>
          <a:lstStyle/>
          <a:p>
            <a:r>
              <a:rPr lang="en-US" sz="3600" dirty="0" err="1"/>
              <a:t>Construir</a:t>
            </a:r>
            <a:r>
              <a:rPr lang="en-US" sz="3600" dirty="0"/>
              <a:t> de </a:t>
            </a:r>
            <a:r>
              <a:rPr lang="en-US" sz="3600" dirty="0" err="1"/>
              <a:t>arriba</a:t>
            </a:r>
            <a:r>
              <a:rPr lang="en-US" sz="3600" dirty="0"/>
              <a:t> </a:t>
            </a:r>
            <a:r>
              <a:rPr lang="en-US" sz="3600" dirty="0" err="1"/>
              <a:t>hacia</a:t>
            </a:r>
            <a:r>
              <a:rPr lang="en-US" sz="3600" dirty="0"/>
              <a:t> </a:t>
            </a:r>
            <a:r>
              <a:rPr lang="en-US" sz="3600" dirty="0" err="1"/>
              <a:t>abajo</a:t>
            </a:r>
            <a:r>
              <a:rPr lang="en-US" sz="3600" dirty="0"/>
              <a:t>: Los pasos</a:t>
            </a:r>
            <a:endParaRPr lang="es-MX" sz="3600" dirty="0"/>
          </a:p>
        </p:txBody>
      </p:sp>
      <p:sp>
        <p:nvSpPr>
          <p:cNvPr id="13" name="12 Rectángulo"/>
          <p:cNvSpPr/>
          <p:nvPr/>
        </p:nvSpPr>
        <p:spPr>
          <a:xfrm>
            <a:off x="179512" y="796642"/>
            <a:ext cx="8835218" cy="3785652"/>
          </a:xfrm>
          <a:prstGeom prst="rect">
            <a:avLst/>
          </a:prstGeom>
        </p:spPr>
        <p:txBody>
          <a:bodyPr wrap="square">
            <a:spAutoFit/>
          </a:bodyPr>
          <a:lstStyle/>
          <a:p>
            <a:pPr marL="342900" indent="-342900" rtl="0">
              <a:buFont typeface="Arial" panose="020B0604020202020204" pitchFamily="34" charset="0"/>
              <a:buChar char="•"/>
            </a:pPr>
            <a:r>
              <a:rPr lang="es-MX" sz="2000" b="1" dirty="0"/>
              <a:t>Stub</a:t>
            </a:r>
            <a:r>
              <a:rPr lang="es-MX" sz="2000" dirty="0"/>
              <a:t>: versión provisional de una función que permite ejecutar el programa antes de terminarlo.</a:t>
            </a:r>
          </a:p>
          <a:p>
            <a:pPr marL="342900" indent="-342900" rtl="0">
              <a:buFont typeface="Arial" panose="020B0604020202020204" pitchFamily="34" charset="0"/>
              <a:buChar char="•"/>
            </a:pPr>
            <a:r>
              <a:rPr lang="es-MX" sz="2000" dirty="0"/>
              <a:t>El programa se construye en tres pasos:</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es-MX" sz="2000" b="1" dirty="0"/>
              <a:t>Archivos</a:t>
            </a:r>
            <a:r>
              <a:rPr lang="es-MX" sz="2000" dirty="0"/>
              <a:t>: </a:t>
            </a:r>
            <a:r>
              <a:rPr lang="es-MX" sz="2000" dirty="0">
                <a:hlinkClick r:id="rId2"/>
              </a:rPr>
              <a:t>link</a:t>
            </a:r>
            <a:endParaRPr lang="es-MX" sz="2000" dirty="0"/>
          </a:p>
        </p:txBody>
      </p:sp>
      <p:sp>
        <p:nvSpPr>
          <p:cNvPr id="11" name="CuadroTexto 10">
            <a:extLst>
              <a:ext uri="{FF2B5EF4-FFF2-40B4-BE49-F238E27FC236}">
                <a16:creationId xmlns:a16="http://schemas.microsoft.com/office/drawing/2014/main" id="{2F938FF1-6A0E-4201-A72E-E3484D4BFCD8}"/>
              </a:ext>
            </a:extLst>
          </p:cNvPr>
          <p:cNvSpPr txBox="1"/>
          <p:nvPr/>
        </p:nvSpPr>
        <p:spPr>
          <a:xfrm>
            <a:off x="251520" y="4869160"/>
            <a:ext cx="8636202" cy="369332"/>
          </a:xfrm>
          <a:prstGeom prst="rect">
            <a:avLst/>
          </a:prstGeom>
          <a:solidFill>
            <a:schemeClr val="accent2">
              <a:lumMod val="20000"/>
              <a:lumOff val="80000"/>
            </a:schemeClr>
          </a:solidFill>
        </p:spPr>
        <p:txBody>
          <a:bodyPr wrap="square">
            <a:spAutoFit/>
          </a:bodyPr>
          <a:lstStyle/>
          <a:p>
            <a:r>
              <a:rPr lang="es-CO" b="1" dirty="0"/>
              <a:t>Idea clave</a:t>
            </a:r>
            <a:r>
              <a:rPr lang="es-CO" dirty="0"/>
              <a:t>: En cada paso el programa </a:t>
            </a:r>
            <a:r>
              <a:rPr lang="es-CO" b="1" dirty="0"/>
              <a:t>se puede ejecutar</a:t>
            </a:r>
            <a:r>
              <a:rPr lang="es-CO" dirty="0"/>
              <a:t>, y se avanza </a:t>
            </a:r>
            <a:r>
              <a:rPr lang="es-CO" b="1" dirty="0"/>
              <a:t>una función a la vez</a:t>
            </a:r>
            <a:r>
              <a:rPr lang="es-CO" dirty="0"/>
              <a:t>. </a:t>
            </a:r>
          </a:p>
        </p:txBody>
      </p:sp>
      <p:graphicFrame>
        <p:nvGraphicFramePr>
          <p:cNvPr id="2" name="Tabla 1">
            <a:extLst>
              <a:ext uri="{FF2B5EF4-FFF2-40B4-BE49-F238E27FC236}">
                <a16:creationId xmlns:a16="http://schemas.microsoft.com/office/drawing/2014/main" id="{15D60576-AF07-474E-83A2-BA787BE10C8B}"/>
              </a:ext>
            </a:extLst>
          </p:cNvPr>
          <p:cNvGraphicFramePr>
            <a:graphicFrameLocks noGrp="1"/>
          </p:cNvGraphicFramePr>
          <p:nvPr>
            <p:extLst>
              <p:ext uri="{D42A27DB-BD31-4B8C-83A1-F6EECF244321}">
                <p14:modId xmlns:p14="http://schemas.microsoft.com/office/powerpoint/2010/main" val="4086557101"/>
              </p:ext>
            </p:extLst>
          </p:nvPr>
        </p:nvGraphicFramePr>
        <p:xfrm>
          <a:off x="628650" y="1863080"/>
          <a:ext cx="8080716" cy="1828800"/>
        </p:xfrm>
        <a:graphic>
          <a:graphicData uri="http://schemas.openxmlformats.org/drawingml/2006/table">
            <a:tbl>
              <a:tblPr/>
              <a:tblGrid>
                <a:gridCol w="678498">
                  <a:extLst>
                    <a:ext uri="{9D8B030D-6E8A-4147-A177-3AD203B41FA5}">
                      <a16:colId xmlns:a16="http://schemas.microsoft.com/office/drawing/2014/main" val="1621026720"/>
                    </a:ext>
                  </a:extLst>
                </a:gridCol>
                <a:gridCol w="3701109">
                  <a:extLst>
                    <a:ext uri="{9D8B030D-6E8A-4147-A177-3AD203B41FA5}">
                      <a16:colId xmlns:a16="http://schemas.microsoft.com/office/drawing/2014/main" val="705239651"/>
                    </a:ext>
                  </a:extLst>
                </a:gridCol>
                <a:gridCol w="3701109">
                  <a:extLst>
                    <a:ext uri="{9D8B030D-6E8A-4147-A177-3AD203B41FA5}">
                      <a16:colId xmlns:a16="http://schemas.microsoft.com/office/drawing/2014/main" val="3555977613"/>
                    </a:ext>
                  </a:extLst>
                </a:gridCol>
              </a:tblGrid>
              <a:tr h="162506">
                <a:tc>
                  <a:txBody>
                    <a:bodyPr/>
                    <a:lstStyle/>
                    <a:p>
                      <a:r>
                        <a:rPr lang="es-CO" sz="1600" b="1"/>
                        <a:t>Paso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Archivo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Qué tiene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533719960"/>
                  </a:ext>
                </a:extLst>
              </a:tr>
              <a:tr h="284386">
                <a:tc>
                  <a:txBody>
                    <a:bodyPr/>
                    <a:lstStyle/>
                    <a:p>
                      <a:r>
                        <a:rPr lang="es-CO" sz="1600" b="1" dirty="0"/>
                        <a:t>1</a:t>
                      </a:r>
                      <a:endParaRPr lang="es-CO"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temperaturas_topdown_paso1.py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Programa principal completo; </a:t>
                      </a:r>
                      <a:r>
                        <a:rPr lang="es-MX" sz="1600" b="1" dirty="0"/>
                        <a:t>las dos</a:t>
                      </a:r>
                      <a:r>
                        <a:rPr lang="es-MX" sz="1600" dirty="0"/>
                        <a:t> conversiones son stubs.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4980433"/>
                  </a:ext>
                </a:extLst>
              </a:tr>
              <a:tr h="284386">
                <a:tc>
                  <a:txBody>
                    <a:bodyPr/>
                    <a:lstStyle/>
                    <a:p>
                      <a:r>
                        <a:rPr lang="es-CO" sz="1600" b="1"/>
                        <a:t>2</a:t>
                      </a:r>
                      <a:endParaRPr lang="es-CO" sz="16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temperaturas_topdown_paso2.py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Fahrenheit </a:t>
                      </a:r>
                      <a:r>
                        <a:rPr lang="es-MX" sz="1600" b="1" dirty="0"/>
                        <a:t>implementada y probada</a:t>
                      </a:r>
                      <a:r>
                        <a:rPr lang="es-MX" sz="1600" dirty="0"/>
                        <a:t>; Kelvin sigue como </a:t>
                      </a:r>
                      <a:r>
                        <a:rPr lang="es-MX" sz="1600" dirty="0" err="1"/>
                        <a:t>stub</a:t>
                      </a:r>
                      <a:r>
                        <a:rPr lang="es-MX" sz="16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6656533"/>
                  </a:ext>
                </a:extLst>
              </a:tr>
              <a:tr h="284386">
                <a:tc>
                  <a:txBody>
                    <a:bodyPr/>
                    <a:lstStyle/>
                    <a:p>
                      <a:r>
                        <a:rPr lang="es-CO" sz="1600" b="1"/>
                        <a:t>3</a:t>
                      </a:r>
                      <a:endParaRPr lang="es-CO" sz="16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temperaturas_v2.py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Ningún </a:t>
                      </a:r>
                      <a:r>
                        <a:rPr lang="es-MX" sz="1600" dirty="0" err="1"/>
                        <a:t>stub</a:t>
                      </a:r>
                      <a:r>
                        <a:rPr lang="es-MX" sz="1600" dirty="0"/>
                        <a:t>; </a:t>
                      </a:r>
                      <a:r>
                        <a:rPr lang="es-MX" sz="1600" b="1" dirty="0"/>
                        <a:t>todas</a:t>
                      </a:r>
                      <a:r>
                        <a:rPr lang="es-MX" sz="1600" dirty="0"/>
                        <a:t> las pruebas pasan.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4144767"/>
                  </a:ext>
                </a:extLst>
              </a:tr>
            </a:tbl>
          </a:graphicData>
        </a:graphic>
      </p:graphicFrame>
    </p:spTree>
    <p:extLst>
      <p:ext uri="{BB962C8B-B14F-4D97-AF65-F5344CB8AC3E}">
        <p14:creationId xmlns:p14="http://schemas.microsoft.com/office/powerpoint/2010/main" val="19119198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n-US" sz="3600" dirty="0"/>
              <a:t>Paso 1: esqueleto con stubs</a:t>
            </a:r>
            <a:endParaRPr lang="es-MX" sz="3600" dirty="0"/>
          </a:p>
        </p:txBody>
      </p:sp>
      <p:sp>
        <p:nvSpPr>
          <p:cNvPr id="13" name="12 Rectángulo"/>
          <p:cNvSpPr/>
          <p:nvPr/>
        </p:nvSpPr>
        <p:spPr>
          <a:xfrm>
            <a:off x="179512" y="1136938"/>
            <a:ext cx="8835218" cy="3477875"/>
          </a:xfrm>
          <a:prstGeom prst="rect">
            <a:avLst/>
          </a:prstGeom>
        </p:spPr>
        <p:txBody>
          <a:bodyPr wrap="square">
            <a:spAutoFit/>
          </a:bodyPr>
          <a:lstStyle/>
          <a:p>
            <a:pPr marL="342900" indent="-342900" rtl="0">
              <a:buFont typeface="Arial" panose="020B0604020202020204" pitchFamily="34" charset="0"/>
              <a:buChar char="•"/>
            </a:pPr>
            <a:r>
              <a:rPr lang="es-MX" sz="2000" b="1" dirty="0"/>
              <a:t>Archivos</a:t>
            </a:r>
            <a:r>
              <a:rPr lang="es-MX" sz="2000" dirty="0"/>
              <a:t>: </a:t>
            </a:r>
            <a:r>
              <a:rPr lang="es-CO" sz="2000" dirty="0"/>
              <a:t>temperaturas_topdown_paso1.py</a:t>
            </a:r>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r>
              <a:rPr lang="es-MX" sz="2000" b="1" dirty="0"/>
              <a:t>Salida en pantalla</a:t>
            </a:r>
            <a:r>
              <a:rPr lang="es-MX" sz="2000" dirty="0"/>
              <a:t> (opción 1 con 100 y opción 2 con 25)</a:t>
            </a:r>
          </a:p>
        </p:txBody>
      </p:sp>
      <p:sp>
        <p:nvSpPr>
          <p:cNvPr id="11" name="CuadroTexto 10">
            <a:extLst>
              <a:ext uri="{FF2B5EF4-FFF2-40B4-BE49-F238E27FC236}">
                <a16:creationId xmlns:a16="http://schemas.microsoft.com/office/drawing/2014/main" id="{2F938FF1-6A0E-4201-A72E-E3484D4BFCD8}"/>
              </a:ext>
            </a:extLst>
          </p:cNvPr>
          <p:cNvSpPr txBox="1"/>
          <p:nvPr/>
        </p:nvSpPr>
        <p:spPr>
          <a:xfrm>
            <a:off x="179512" y="6023029"/>
            <a:ext cx="8636202" cy="646331"/>
          </a:xfrm>
          <a:prstGeom prst="rect">
            <a:avLst/>
          </a:prstGeom>
          <a:solidFill>
            <a:schemeClr val="accent2">
              <a:lumMod val="20000"/>
              <a:lumOff val="80000"/>
            </a:schemeClr>
          </a:solidFill>
        </p:spPr>
        <p:txBody>
          <a:bodyPr wrap="square">
            <a:spAutoFit/>
          </a:bodyPr>
          <a:lstStyle/>
          <a:p>
            <a:r>
              <a:rPr lang="es-MX" b="1" dirty="0"/>
              <a:t>El resultado está mal, pero el programa ya corre</a:t>
            </a:r>
            <a:r>
              <a:rPr lang="es-MX" dirty="0"/>
              <a:t>: el menú, las opciones y la salida ya se pueden probar. Las líneas 17 y 20 son los </a:t>
            </a:r>
            <a:r>
              <a:rPr lang="es-MX" b="1" dirty="0"/>
              <a:t>stubs</a:t>
            </a:r>
            <a:r>
              <a:rPr lang="es-MX" dirty="0"/>
              <a:t>.</a:t>
            </a:r>
          </a:p>
        </p:txBody>
      </p:sp>
      <p:pic>
        <p:nvPicPr>
          <p:cNvPr id="6" name="Imagen 5">
            <a:extLst>
              <a:ext uri="{FF2B5EF4-FFF2-40B4-BE49-F238E27FC236}">
                <a16:creationId xmlns:a16="http://schemas.microsoft.com/office/drawing/2014/main" id="{CFC32F41-14C0-4D8E-AC6F-0C9C72291F5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603444" y="1484784"/>
            <a:ext cx="4505060" cy="2556530"/>
          </a:xfrm>
          <a:prstGeom prst="rect">
            <a:avLst/>
          </a:prstGeom>
        </p:spPr>
      </p:pic>
      <p:sp>
        <p:nvSpPr>
          <p:cNvPr id="10" name="CuadroTexto 9">
            <a:extLst>
              <a:ext uri="{FF2B5EF4-FFF2-40B4-BE49-F238E27FC236}">
                <a16:creationId xmlns:a16="http://schemas.microsoft.com/office/drawing/2014/main" id="{8EAF772D-F6EE-4308-88C0-7D50D5949F39}"/>
              </a:ext>
            </a:extLst>
          </p:cNvPr>
          <p:cNvSpPr txBox="1"/>
          <p:nvPr/>
        </p:nvSpPr>
        <p:spPr>
          <a:xfrm>
            <a:off x="323528" y="1696740"/>
            <a:ext cx="4505060" cy="2308324"/>
          </a:xfrm>
          <a:prstGeom prst="rect">
            <a:avLst/>
          </a:prstGeom>
          <a:noFill/>
          <a:ln>
            <a:solidFill>
              <a:schemeClr val="tx1"/>
            </a:solidFill>
          </a:ln>
        </p:spPr>
        <p:txBody>
          <a:bodyPr wrap="square">
            <a:spAutoFit/>
          </a:bodyPr>
          <a:lstStyle/>
          <a:p>
            <a:r>
              <a:rPr lang="es-CO" sz="1200" dirty="0">
                <a:latin typeface="Consolas" panose="020B0609020204030204" pitchFamily="49" charset="0"/>
              </a:rPr>
              <a:t>16  </a:t>
            </a:r>
            <a:r>
              <a:rPr lang="es-CO" sz="1200" dirty="0" err="1">
                <a:latin typeface="Consolas" panose="020B0609020204030204" pitchFamily="49" charset="0"/>
              </a:rPr>
              <a:t>def</a:t>
            </a:r>
            <a:r>
              <a:rPr lang="es-CO" sz="1200" dirty="0">
                <a:latin typeface="Consolas" panose="020B0609020204030204" pitchFamily="49" charset="0"/>
              </a:rPr>
              <a:t> celsius_a_fahrenheit(</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17      </a:t>
            </a:r>
            <a:r>
              <a:rPr lang="es-CO" sz="1200" dirty="0" err="1">
                <a:latin typeface="Consolas" panose="020B0609020204030204" pitchFamily="49" charset="0"/>
              </a:rPr>
              <a:t>return</a:t>
            </a:r>
            <a:r>
              <a:rPr lang="es-CO" sz="1200" dirty="0">
                <a:latin typeface="Consolas" panose="020B0609020204030204" pitchFamily="49" charset="0"/>
              </a:rPr>
              <a:t> 0.0  # PENDIENTE: implementar</a:t>
            </a:r>
          </a:p>
          <a:p>
            <a:r>
              <a:rPr lang="es-CO" sz="1200" dirty="0">
                <a:latin typeface="Consolas" panose="020B0609020204030204" pitchFamily="49" charset="0"/>
              </a:rPr>
              <a:t>18</a:t>
            </a:r>
          </a:p>
          <a:p>
            <a:r>
              <a:rPr lang="es-CO" sz="1200" dirty="0">
                <a:latin typeface="Consolas" panose="020B0609020204030204" pitchFamily="49" charset="0"/>
              </a:rPr>
              <a:t>19  </a:t>
            </a:r>
            <a:r>
              <a:rPr lang="es-CO" sz="1200" dirty="0" err="1">
                <a:latin typeface="Consolas" panose="020B0609020204030204" pitchFamily="49" charset="0"/>
              </a:rPr>
              <a:t>def</a:t>
            </a:r>
            <a:r>
              <a:rPr lang="es-CO" sz="1200" dirty="0">
                <a:latin typeface="Consolas" panose="020B0609020204030204" pitchFamily="49" charset="0"/>
              </a:rPr>
              <a:t> celsius_a_kelvin(</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20      </a:t>
            </a:r>
            <a:r>
              <a:rPr lang="es-CO" sz="1200" dirty="0" err="1">
                <a:latin typeface="Consolas" panose="020B0609020204030204" pitchFamily="49" charset="0"/>
              </a:rPr>
              <a:t>return</a:t>
            </a:r>
            <a:r>
              <a:rPr lang="es-CO" sz="1200" dirty="0">
                <a:latin typeface="Consolas" panose="020B0609020204030204" pitchFamily="49" charset="0"/>
              </a:rPr>
              <a:t> 0.0  # PENDIENTE: implementar</a:t>
            </a:r>
          </a:p>
          <a:p>
            <a:r>
              <a:rPr lang="es-CO" sz="1200" dirty="0">
                <a:latin typeface="Consolas" panose="020B0609020204030204" pitchFamily="49" charset="0"/>
              </a:rPr>
              <a:t>21</a:t>
            </a:r>
          </a:p>
          <a:p>
            <a:r>
              <a:rPr lang="es-CO" sz="1200" dirty="0">
                <a:latin typeface="Consolas" panose="020B0609020204030204" pitchFamily="49" charset="0"/>
              </a:rPr>
              <a:t>22  ############ Programa principal #########</a:t>
            </a:r>
          </a:p>
          <a:p>
            <a:r>
              <a:rPr lang="es-CO" sz="1200" dirty="0">
                <a:latin typeface="Consolas" panose="020B0609020204030204" pitchFamily="49" charset="0"/>
              </a:rPr>
              <a:t>23  print("Programa de </a:t>
            </a:r>
            <a:r>
              <a:rPr lang="es-CO" sz="1200" dirty="0" err="1">
                <a:latin typeface="Consolas" panose="020B0609020204030204" pitchFamily="49" charset="0"/>
              </a:rPr>
              <a:t>conversion</a:t>
            </a:r>
            <a:r>
              <a:rPr lang="es-CO" sz="1200" dirty="0">
                <a:latin typeface="Consolas" panose="020B0609020204030204" pitchFamily="49" charset="0"/>
              </a:rPr>
              <a:t> de °C a °F y </a:t>
            </a:r>
            <a:r>
              <a:rPr lang="es-CO" sz="1200" dirty="0" err="1">
                <a:latin typeface="Consolas" panose="020B0609020204030204" pitchFamily="49" charset="0"/>
              </a:rPr>
              <a:t>°K</a:t>
            </a:r>
            <a:r>
              <a:rPr lang="es-CO" sz="1200" dirty="0">
                <a:latin typeface="Consolas" panose="020B0609020204030204" pitchFamily="49" charset="0"/>
              </a:rPr>
              <a:t>")</a:t>
            </a:r>
          </a:p>
          <a:p>
            <a:r>
              <a:rPr lang="es-CO" sz="1200" dirty="0">
                <a:latin typeface="Consolas" panose="020B0609020204030204" pitchFamily="49" charset="0"/>
              </a:rPr>
              <a:t>24  </a:t>
            </a:r>
            <a:r>
              <a:rPr lang="es-CO" sz="1200" dirty="0" err="1">
                <a:latin typeface="Consolas" panose="020B0609020204030204" pitchFamily="49" charset="0"/>
              </a:rPr>
              <a:t>while</a:t>
            </a:r>
            <a:r>
              <a:rPr lang="es-CO" sz="1200" dirty="0">
                <a:latin typeface="Consolas" panose="020B0609020204030204" pitchFamily="49" charset="0"/>
              </a:rPr>
              <a:t> True:</a:t>
            </a:r>
          </a:p>
          <a:p>
            <a:r>
              <a:rPr lang="es-CO" sz="1200" dirty="0">
                <a:latin typeface="Consolas" panose="020B0609020204030204" pitchFamily="49" charset="0"/>
              </a:rPr>
              <a:t>25      mostrar_menu()</a:t>
            </a:r>
          </a:p>
          <a:p>
            <a:r>
              <a:rPr lang="es-CO" sz="1200" dirty="0">
                <a:latin typeface="Consolas" panose="020B0609020204030204" pitchFamily="49" charset="0"/>
              </a:rPr>
              <a:t>26      </a:t>
            </a:r>
            <a:r>
              <a:rPr lang="es-CO" sz="1200" dirty="0" err="1">
                <a:latin typeface="Consolas" panose="020B0609020204030204" pitchFamily="49" charset="0"/>
              </a:rPr>
              <a:t>opcion</a:t>
            </a:r>
            <a:r>
              <a:rPr lang="es-CO" sz="1200" dirty="0">
                <a:latin typeface="Consolas" panose="020B0609020204030204" pitchFamily="49" charset="0"/>
              </a:rPr>
              <a:t> = </a:t>
            </a:r>
            <a:r>
              <a:rPr lang="es-CO" sz="1200" dirty="0" err="1">
                <a:latin typeface="Consolas" panose="020B0609020204030204" pitchFamily="49" charset="0"/>
              </a:rPr>
              <a:t>int</a:t>
            </a:r>
            <a:r>
              <a:rPr lang="es-CO" sz="1200" dirty="0">
                <a:latin typeface="Consolas" panose="020B0609020204030204" pitchFamily="49" charset="0"/>
              </a:rPr>
              <a:t>(input("\</a:t>
            </a:r>
            <a:r>
              <a:rPr lang="es-CO" sz="1200" dirty="0" err="1">
                <a:latin typeface="Consolas" panose="020B0609020204030204" pitchFamily="49" charset="0"/>
              </a:rPr>
              <a:t>nElija</a:t>
            </a:r>
            <a:r>
              <a:rPr lang="es-CO" sz="1200" dirty="0">
                <a:latin typeface="Consolas" panose="020B0609020204030204" pitchFamily="49" charset="0"/>
              </a:rPr>
              <a:t> una </a:t>
            </a:r>
            <a:r>
              <a:rPr lang="es-CO" sz="1200" dirty="0" err="1">
                <a:latin typeface="Consolas" panose="020B0609020204030204" pitchFamily="49" charset="0"/>
              </a:rPr>
              <a:t>opcion</a:t>
            </a:r>
            <a:r>
              <a:rPr lang="es-CO" sz="1200" dirty="0">
                <a:latin typeface="Consolas" panose="020B0609020204030204" pitchFamily="49" charset="0"/>
              </a:rPr>
              <a:t>: "))</a:t>
            </a:r>
          </a:p>
          <a:p>
            <a:r>
              <a:rPr lang="es-CO" sz="1200" dirty="0">
                <a:latin typeface="Consolas" panose="020B0609020204030204" pitchFamily="49" charset="0"/>
              </a:rPr>
              <a:t>    ...</a:t>
            </a:r>
          </a:p>
        </p:txBody>
      </p:sp>
      <p:sp>
        <p:nvSpPr>
          <p:cNvPr id="14" name="CuadroTexto 13">
            <a:extLst>
              <a:ext uri="{FF2B5EF4-FFF2-40B4-BE49-F238E27FC236}">
                <a16:creationId xmlns:a16="http://schemas.microsoft.com/office/drawing/2014/main" id="{4421960D-F8A0-46D3-99F4-250ACD9BEE33}"/>
              </a:ext>
            </a:extLst>
          </p:cNvPr>
          <p:cNvSpPr txBox="1"/>
          <p:nvPr/>
        </p:nvSpPr>
        <p:spPr>
          <a:xfrm>
            <a:off x="323528" y="4639493"/>
            <a:ext cx="4572000" cy="461665"/>
          </a:xfrm>
          <a:prstGeom prst="rect">
            <a:avLst/>
          </a:prstGeom>
          <a:noFill/>
          <a:ln>
            <a:solidFill>
              <a:schemeClr val="tx1"/>
            </a:solidFill>
          </a:ln>
        </p:spPr>
        <p:txBody>
          <a:bodyPr wrap="square">
            <a:spAutoFit/>
          </a:bodyPr>
          <a:lstStyle/>
          <a:p>
            <a:r>
              <a:rPr lang="es-CO" sz="1200" dirty="0">
                <a:latin typeface="Consolas" panose="020B0609020204030204" pitchFamily="49" charset="0"/>
              </a:rPr>
              <a:t>100.0°C = 0.00°F</a:t>
            </a:r>
          </a:p>
          <a:p>
            <a:r>
              <a:rPr lang="es-CO" sz="1200" dirty="0">
                <a:latin typeface="Consolas" panose="020B0609020204030204" pitchFamily="49" charset="0"/>
              </a:rPr>
              <a:t>25.0°C = 0.00°K</a:t>
            </a:r>
          </a:p>
        </p:txBody>
      </p:sp>
    </p:spTree>
    <p:extLst>
      <p:ext uri="{BB962C8B-B14F-4D97-AF65-F5344CB8AC3E}">
        <p14:creationId xmlns:p14="http://schemas.microsoft.com/office/powerpoint/2010/main" val="3815737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n-US" sz="3600" dirty="0"/>
              <a:t>Paso 2: </a:t>
            </a:r>
            <a:r>
              <a:rPr lang="en-US" sz="3600" dirty="0" err="1"/>
              <a:t>implementar</a:t>
            </a:r>
            <a:r>
              <a:rPr lang="en-US" sz="3600" dirty="0"/>
              <a:t> y </a:t>
            </a:r>
            <a:r>
              <a:rPr lang="en-US" sz="3600" dirty="0" err="1"/>
              <a:t>probar</a:t>
            </a:r>
            <a:r>
              <a:rPr lang="en-US" sz="3600" dirty="0"/>
              <a:t> una </a:t>
            </a:r>
            <a:r>
              <a:rPr lang="en-US" sz="3600" dirty="0" err="1"/>
              <a:t>función</a:t>
            </a:r>
            <a:endParaRPr lang="es-MX" sz="3600" dirty="0"/>
          </a:p>
        </p:txBody>
      </p:sp>
      <p:sp>
        <p:nvSpPr>
          <p:cNvPr id="13" name="12 Rectángulo"/>
          <p:cNvSpPr/>
          <p:nvPr/>
        </p:nvSpPr>
        <p:spPr>
          <a:xfrm>
            <a:off x="179512" y="1136938"/>
            <a:ext cx="8835218" cy="3477875"/>
          </a:xfrm>
          <a:prstGeom prst="rect">
            <a:avLst/>
          </a:prstGeom>
        </p:spPr>
        <p:txBody>
          <a:bodyPr wrap="square">
            <a:spAutoFit/>
          </a:bodyPr>
          <a:lstStyle/>
          <a:p>
            <a:pPr marL="342900" indent="-342900" rtl="0">
              <a:buFont typeface="Arial" panose="020B0604020202020204" pitchFamily="34" charset="0"/>
              <a:buChar char="•"/>
            </a:pPr>
            <a:r>
              <a:rPr lang="es-MX" sz="2000" b="1" dirty="0"/>
              <a:t>Archivos</a:t>
            </a:r>
            <a:r>
              <a:rPr lang="es-MX" sz="2000" dirty="0"/>
              <a:t>: </a:t>
            </a:r>
            <a:r>
              <a:rPr lang="es-CO" sz="2000" dirty="0"/>
              <a:t>temperaturas_topdown_paso2.py</a:t>
            </a:r>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r>
              <a:rPr lang="es-MX" sz="2000" b="1" dirty="0"/>
              <a:t>Salida en pantalla</a:t>
            </a:r>
            <a:endParaRPr lang="es-MX" sz="2000" dirty="0"/>
          </a:p>
        </p:txBody>
      </p:sp>
      <p:sp>
        <p:nvSpPr>
          <p:cNvPr id="11" name="CuadroTexto 10">
            <a:extLst>
              <a:ext uri="{FF2B5EF4-FFF2-40B4-BE49-F238E27FC236}">
                <a16:creationId xmlns:a16="http://schemas.microsoft.com/office/drawing/2014/main" id="{2F938FF1-6A0E-4201-A72E-E3484D4BFCD8}"/>
              </a:ext>
            </a:extLst>
          </p:cNvPr>
          <p:cNvSpPr txBox="1"/>
          <p:nvPr/>
        </p:nvSpPr>
        <p:spPr>
          <a:xfrm>
            <a:off x="256278" y="6228020"/>
            <a:ext cx="8636202" cy="369332"/>
          </a:xfrm>
          <a:prstGeom prst="rect">
            <a:avLst/>
          </a:prstGeom>
          <a:solidFill>
            <a:schemeClr val="accent2">
              <a:lumMod val="20000"/>
              <a:lumOff val="80000"/>
            </a:schemeClr>
          </a:solidFill>
        </p:spPr>
        <p:txBody>
          <a:bodyPr wrap="square">
            <a:spAutoFit/>
          </a:bodyPr>
          <a:lstStyle/>
          <a:p>
            <a:r>
              <a:rPr lang="es-MX" b="1" dirty="0"/>
              <a:t>El programa principal no cambió</a:t>
            </a:r>
            <a:r>
              <a:rPr lang="es-MX" dirty="0"/>
              <a:t>. Solo cambió una función, y se probó antes de seguir.</a:t>
            </a:r>
            <a:endParaRPr lang="es-MX" b="1" dirty="0"/>
          </a:p>
        </p:txBody>
      </p:sp>
      <p:sp>
        <p:nvSpPr>
          <p:cNvPr id="10" name="CuadroTexto 9">
            <a:extLst>
              <a:ext uri="{FF2B5EF4-FFF2-40B4-BE49-F238E27FC236}">
                <a16:creationId xmlns:a16="http://schemas.microsoft.com/office/drawing/2014/main" id="{8EAF772D-F6EE-4308-88C0-7D50D5949F39}"/>
              </a:ext>
            </a:extLst>
          </p:cNvPr>
          <p:cNvSpPr txBox="1"/>
          <p:nvPr/>
        </p:nvSpPr>
        <p:spPr>
          <a:xfrm>
            <a:off x="251520" y="1628800"/>
            <a:ext cx="4824536" cy="2308324"/>
          </a:xfrm>
          <a:prstGeom prst="rect">
            <a:avLst/>
          </a:prstGeom>
          <a:noFill/>
          <a:ln>
            <a:solidFill>
              <a:schemeClr val="tx1"/>
            </a:solidFill>
          </a:ln>
        </p:spPr>
        <p:txBody>
          <a:bodyPr wrap="square">
            <a:spAutoFit/>
          </a:bodyPr>
          <a:lstStyle/>
          <a:p>
            <a:r>
              <a:rPr lang="es-CO" sz="1200" dirty="0">
                <a:latin typeface="Consolas" panose="020B0609020204030204" pitchFamily="49" charset="0"/>
              </a:rPr>
              <a:t>16  </a:t>
            </a:r>
            <a:r>
              <a:rPr lang="es-CO" sz="1200" dirty="0" err="1">
                <a:latin typeface="Consolas" panose="020B0609020204030204" pitchFamily="49" charset="0"/>
              </a:rPr>
              <a:t>def</a:t>
            </a:r>
            <a:r>
              <a:rPr lang="es-CO" sz="1200" dirty="0">
                <a:latin typeface="Consolas" panose="020B0609020204030204" pitchFamily="49" charset="0"/>
              </a:rPr>
              <a:t> celsius_a_fahrenheit(</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17      temp_f = (9/5)*</a:t>
            </a:r>
            <a:r>
              <a:rPr lang="es-CO" sz="1200" dirty="0" err="1">
                <a:latin typeface="Consolas" panose="020B0609020204030204" pitchFamily="49" charset="0"/>
              </a:rPr>
              <a:t>temp_c</a:t>
            </a:r>
            <a:r>
              <a:rPr lang="es-CO" sz="1200" dirty="0">
                <a:latin typeface="Consolas" panose="020B0609020204030204" pitchFamily="49" charset="0"/>
              </a:rPr>
              <a:t> + 32          </a:t>
            </a:r>
          </a:p>
          <a:p>
            <a:r>
              <a:rPr lang="es-CO" sz="1200" dirty="0">
                <a:latin typeface="Consolas" panose="020B0609020204030204" pitchFamily="49" charset="0"/>
              </a:rPr>
              <a:t>18      </a:t>
            </a:r>
            <a:r>
              <a:rPr lang="es-CO" sz="1200" dirty="0" err="1">
                <a:latin typeface="Consolas" panose="020B0609020204030204" pitchFamily="49" charset="0"/>
              </a:rPr>
              <a:t>return</a:t>
            </a:r>
            <a:r>
              <a:rPr lang="es-CO" sz="1200" dirty="0">
                <a:latin typeface="Consolas" panose="020B0609020204030204" pitchFamily="49" charset="0"/>
              </a:rPr>
              <a:t> temp_f</a:t>
            </a:r>
          </a:p>
          <a:p>
            <a:r>
              <a:rPr lang="es-CO" sz="1200" dirty="0">
                <a:latin typeface="Consolas" panose="020B0609020204030204" pitchFamily="49" charset="0"/>
              </a:rPr>
              <a:t>19</a:t>
            </a:r>
          </a:p>
          <a:p>
            <a:r>
              <a:rPr lang="es-CO" sz="1200" dirty="0">
                <a:latin typeface="Consolas" panose="020B0609020204030204" pitchFamily="49" charset="0"/>
              </a:rPr>
              <a:t>20  </a:t>
            </a:r>
            <a:r>
              <a:rPr lang="es-CO" sz="1200" dirty="0" err="1">
                <a:latin typeface="Consolas" panose="020B0609020204030204" pitchFamily="49" charset="0"/>
              </a:rPr>
              <a:t>def</a:t>
            </a:r>
            <a:r>
              <a:rPr lang="es-CO" sz="1200" dirty="0">
                <a:latin typeface="Consolas" panose="020B0609020204030204" pitchFamily="49" charset="0"/>
              </a:rPr>
              <a:t> celsius_a_kelvin(</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21      </a:t>
            </a:r>
            <a:r>
              <a:rPr lang="es-CO" sz="1200" dirty="0" err="1">
                <a:latin typeface="Consolas" panose="020B0609020204030204" pitchFamily="49" charset="0"/>
              </a:rPr>
              <a:t>return</a:t>
            </a:r>
            <a:r>
              <a:rPr lang="es-CO" sz="1200" dirty="0">
                <a:latin typeface="Consolas" panose="020B0609020204030204" pitchFamily="49" charset="0"/>
              </a:rPr>
              <a:t> 0.0  # PENDIENTE: sigue siendo </a:t>
            </a:r>
            <a:r>
              <a:rPr lang="es-CO" sz="1200" dirty="0" err="1">
                <a:latin typeface="Consolas" panose="020B0609020204030204" pitchFamily="49" charset="0"/>
              </a:rPr>
              <a:t>stub</a:t>
            </a:r>
            <a:endParaRPr lang="es-CO" sz="1200" dirty="0">
              <a:latin typeface="Consolas" panose="020B0609020204030204" pitchFamily="49" charset="0"/>
            </a:endParaRPr>
          </a:p>
          <a:p>
            <a:r>
              <a:rPr lang="es-CO" sz="1200" dirty="0">
                <a:latin typeface="Consolas" panose="020B0609020204030204" pitchFamily="49" charset="0"/>
              </a:rPr>
              <a:t>22</a:t>
            </a:r>
          </a:p>
          <a:p>
            <a:r>
              <a:rPr lang="es-CO" sz="1200" dirty="0">
                <a:latin typeface="Consolas" panose="020B0609020204030204" pitchFamily="49" charset="0"/>
              </a:rPr>
              <a:t>23  ############ Pruebas ##############</a:t>
            </a:r>
          </a:p>
          <a:p>
            <a:r>
              <a:rPr lang="es-CO" sz="1200" dirty="0">
                <a:latin typeface="Consolas" panose="020B0609020204030204" pitchFamily="49" charset="0"/>
              </a:rPr>
              <a:t>24  assert round(celsius_a_fahrenheit(100), 2) == 212.0</a:t>
            </a:r>
          </a:p>
          <a:p>
            <a:r>
              <a:rPr lang="es-CO" sz="1200" dirty="0">
                <a:latin typeface="Consolas" panose="020B0609020204030204" pitchFamily="49" charset="0"/>
              </a:rPr>
              <a:t>25  assert round(celsius_a_fahrenheit(0), 2) == 32.0</a:t>
            </a:r>
          </a:p>
          <a:p>
            <a:pPr marL="228600" indent="-228600">
              <a:buAutoNum type="arabicPlain" startAt="26"/>
            </a:pPr>
            <a:r>
              <a:rPr lang="es-CO" sz="1200" dirty="0">
                <a:latin typeface="Consolas" panose="020B0609020204030204" pitchFamily="49" charset="0"/>
              </a:rPr>
              <a:t># assert round(celsius_a_kelvin(25), 2) == 298.15   </a:t>
            </a:r>
          </a:p>
          <a:p>
            <a:pPr marL="228600" indent="-228600">
              <a:buAutoNum type="arabicPlain" startAt="26"/>
            </a:pPr>
            <a:r>
              <a:rPr lang="es-CO" sz="1200" dirty="0">
                <a:latin typeface="Consolas" panose="020B0609020204030204" pitchFamily="49" charset="0"/>
              </a:rPr>
              <a:t># falla mientras sea </a:t>
            </a:r>
            <a:r>
              <a:rPr lang="es-CO" sz="1200" dirty="0" err="1">
                <a:latin typeface="Consolas" panose="020B0609020204030204" pitchFamily="49" charset="0"/>
              </a:rPr>
              <a:t>stub</a:t>
            </a:r>
            <a:endParaRPr lang="es-CO" sz="1200" dirty="0">
              <a:latin typeface="Consolas" panose="020B0609020204030204" pitchFamily="49" charset="0"/>
            </a:endParaRPr>
          </a:p>
        </p:txBody>
      </p:sp>
      <p:sp>
        <p:nvSpPr>
          <p:cNvPr id="14" name="CuadroTexto 13">
            <a:extLst>
              <a:ext uri="{FF2B5EF4-FFF2-40B4-BE49-F238E27FC236}">
                <a16:creationId xmlns:a16="http://schemas.microsoft.com/office/drawing/2014/main" id="{4421960D-F8A0-46D3-99F4-250ACD9BEE33}"/>
              </a:ext>
            </a:extLst>
          </p:cNvPr>
          <p:cNvSpPr txBox="1"/>
          <p:nvPr/>
        </p:nvSpPr>
        <p:spPr>
          <a:xfrm>
            <a:off x="323528" y="4639493"/>
            <a:ext cx="4572000" cy="461665"/>
          </a:xfrm>
          <a:prstGeom prst="rect">
            <a:avLst/>
          </a:prstGeom>
          <a:noFill/>
          <a:ln>
            <a:solidFill>
              <a:schemeClr val="tx1"/>
            </a:solidFill>
          </a:ln>
        </p:spPr>
        <p:txBody>
          <a:bodyPr wrap="square">
            <a:spAutoFit/>
          </a:bodyPr>
          <a:lstStyle/>
          <a:p>
            <a:r>
              <a:rPr lang="es-MX" sz="1200" dirty="0">
                <a:latin typeface="Consolas" panose="020B0609020204030204" pitchFamily="49" charset="0"/>
              </a:rPr>
              <a:t>100.0°C = 212.00°F    </a:t>
            </a:r>
            <a:r>
              <a:rPr lang="es-MX" sz="1200" dirty="0">
                <a:solidFill>
                  <a:srgbClr val="00B050"/>
                </a:solidFill>
                <a:latin typeface="Consolas" panose="020B0609020204030204" pitchFamily="49" charset="0"/>
              </a:rPr>
              <a:t>← ya funciona</a:t>
            </a:r>
          </a:p>
          <a:p>
            <a:r>
              <a:rPr lang="es-MX" sz="1200" dirty="0">
                <a:latin typeface="Consolas" panose="020B0609020204030204" pitchFamily="49" charset="0"/>
              </a:rPr>
              <a:t>25.0°C = 0.00°K       </a:t>
            </a:r>
            <a:r>
              <a:rPr lang="es-MX" sz="1200" dirty="0">
                <a:solidFill>
                  <a:srgbClr val="FF0000"/>
                </a:solidFill>
                <a:latin typeface="Consolas" panose="020B0609020204030204" pitchFamily="49" charset="0"/>
              </a:rPr>
              <a:t>← todavía es </a:t>
            </a:r>
            <a:r>
              <a:rPr lang="es-MX" sz="1200" dirty="0" err="1">
                <a:solidFill>
                  <a:srgbClr val="FF0000"/>
                </a:solidFill>
                <a:latin typeface="Consolas" panose="020B0609020204030204" pitchFamily="49" charset="0"/>
              </a:rPr>
              <a:t>stub</a:t>
            </a:r>
            <a:endParaRPr lang="es-CO" sz="1200" dirty="0">
              <a:solidFill>
                <a:srgbClr val="FF0000"/>
              </a:solidFill>
              <a:latin typeface="Consolas" panose="020B0609020204030204" pitchFamily="49" charset="0"/>
            </a:endParaRPr>
          </a:p>
        </p:txBody>
      </p:sp>
      <p:pic>
        <p:nvPicPr>
          <p:cNvPr id="3" name="Imagen 2">
            <a:extLst>
              <a:ext uri="{FF2B5EF4-FFF2-40B4-BE49-F238E27FC236}">
                <a16:creationId xmlns:a16="http://schemas.microsoft.com/office/drawing/2014/main" id="{7A1BFE82-55B6-4DBE-B31A-DA6B39F88C9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48063" y="1628800"/>
            <a:ext cx="3924587" cy="2227124"/>
          </a:xfrm>
          <a:prstGeom prst="rect">
            <a:avLst/>
          </a:prstGeom>
        </p:spPr>
      </p:pic>
    </p:spTree>
    <p:extLst>
      <p:ext uri="{BB962C8B-B14F-4D97-AF65-F5344CB8AC3E}">
        <p14:creationId xmlns:p14="http://schemas.microsoft.com/office/powerpoint/2010/main" val="28093885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n-US" sz="3600" dirty="0" err="1"/>
              <a:t>Parentesis</a:t>
            </a:r>
            <a:r>
              <a:rPr lang="en-US" sz="3600" dirty="0"/>
              <a:t>: </a:t>
            </a:r>
            <a:r>
              <a:rPr lang="es-MX" sz="3600" dirty="0"/>
              <a:t>¿Qué pasa si se prueba un </a:t>
            </a:r>
            <a:r>
              <a:rPr lang="es-MX" sz="3600" dirty="0" err="1"/>
              <a:t>stub</a:t>
            </a:r>
            <a:r>
              <a:rPr lang="es-MX" sz="3600" dirty="0"/>
              <a:t>?</a:t>
            </a:r>
          </a:p>
        </p:txBody>
      </p:sp>
      <p:sp>
        <p:nvSpPr>
          <p:cNvPr id="13" name="12 Rectángulo"/>
          <p:cNvSpPr/>
          <p:nvPr/>
        </p:nvSpPr>
        <p:spPr>
          <a:xfrm>
            <a:off x="179512" y="1136938"/>
            <a:ext cx="8835218" cy="3170099"/>
          </a:xfrm>
          <a:prstGeom prst="rect">
            <a:avLst/>
          </a:prstGeom>
        </p:spPr>
        <p:txBody>
          <a:bodyPr wrap="square">
            <a:spAutoFit/>
          </a:bodyPr>
          <a:lstStyle/>
          <a:p>
            <a:pPr marL="342900" indent="-342900" rtl="0">
              <a:buFont typeface="Arial" panose="020B0604020202020204" pitchFamily="34" charset="0"/>
              <a:buChar char="•"/>
            </a:pPr>
            <a:r>
              <a:rPr lang="es-MX" sz="2000" dirty="0"/>
              <a:t>Si se quita el # del inicio de la línea 26 y se ejecuta:</a:t>
            </a:r>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p:txBody>
      </p:sp>
      <p:sp>
        <p:nvSpPr>
          <p:cNvPr id="11" name="CuadroTexto 10">
            <a:extLst>
              <a:ext uri="{FF2B5EF4-FFF2-40B4-BE49-F238E27FC236}">
                <a16:creationId xmlns:a16="http://schemas.microsoft.com/office/drawing/2014/main" id="{2F938FF1-6A0E-4201-A72E-E3484D4BFCD8}"/>
              </a:ext>
            </a:extLst>
          </p:cNvPr>
          <p:cNvSpPr txBox="1"/>
          <p:nvPr/>
        </p:nvSpPr>
        <p:spPr>
          <a:xfrm>
            <a:off x="244147" y="5949280"/>
            <a:ext cx="8636202" cy="646331"/>
          </a:xfrm>
          <a:prstGeom prst="rect">
            <a:avLst/>
          </a:prstGeom>
          <a:solidFill>
            <a:schemeClr val="accent2">
              <a:lumMod val="20000"/>
              <a:lumOff val="80000"/>
            </a:schemeClr>
          </a:solidFill>
        </p:spPr>
        <p:txBody>
          <a:bodyPr wrap="square">
            <a:spAutoFit/>
          </a:bodyPr>
          <a:lstStyle/>
          <a:p>
            <a:r>
              <a:rPr lang="es-MX" b="1" dirty="0"/>
              <a:t>Las pruebas dicen qué falta por hacer:</a:t>
            </a:r>
            <a:r>
              <a:rPr lang="es-MX" dirty="0"/>
              <a:t> el error señala la línea 26, es decir, la función que todavía no está implementada.</a:t>
            </a:r>
            <a:endParaRPr lang="es-MX" b="1" dirty="0"/>
          </a:p>
        </p:txBody>
      </p:sp>
      <p:sp>
        <p:nvSpPr>
          <p:cNvPr id="10" name="CuadroTexto 9">
            <a:extLst>
              <a:ext uri="{FF2B5EF4-FFF2-40B4-BE49-F238E27FC236}">
                <a16:creationId xmlns:a16="http://schemas.microsoft.com/office/drawing/2014/main" id="{8EAF772D-F6EE-4308-88C0-7D50D5949F39}"/>
              </a:ext>
            </a:extLst>
          </p:cNvPr>
          <p:cNvSpPr txBox="1"/>
          <p:nvPr/>
        </p:nvSpPr>
        <p:spPr>
          <a:xfrm>
            <a:off x="611560" y="1599421"/>
            <a:ext cx="8204154" cy="954107"/>
          </a:xfrm>
          <a:prstGeom prst="rect">
            <a:avLst/>
          </a:prstGeom>
          <a:noFill/>
          <a:ln>
            <a:solidFill>
              <a:schemeClr val="tx1"/>
            </a:solidFill>
          </a:ln>
        </p:spPr>
        <p:txBody>
          <a:bodyPr wrap="square">
            <a:spAutoFit/>
          </a:bodyPr>
          <a:lstStyle/>
          <a:p>
            <a:r>
              <a:rPr lang="es-CO" sz="1400" dirty="0">
                <a:latin typeface="Consolas" panose="020B0609020204030204" pitchFamily="49" charset="0"/>
              </a:rPr>
              <a:t> File "temperaturas_topdown_paso2.py", line 26, in &lt;module&gt;</a:t>
            </a:r>
          </a:p>
          <a:p>
            <a:r>
              <a:rPr lang="es-CO" sz="1400" dirty="0">
                <a:latin typeface="Consolas" panose="020B0609020204030204" pitchFamily="49" charset="0"/>
              </a:rPr>
              <a:t>    assert round(celsius_a_kelvin(25), 2) == 298.15   # falla mientras sea </a:t>
            </a:r>
            <a:r>
              <a:rPr lang="es-CO" sz="1400" dirty="0" err="1">
                <a:latin typeface="Consolas" panose="020B0609020204030204" pitchFamily="49" charset="0"/>
              </a:rPr>
              <a:t>stub</a:t>
            </a:r>
            <a:endParaRPr lang="es-CO" sz="1400" dirty="0">
              <a:latin typeface="Consolas" panose="020B0609020204030204" pitchFamily="49" charset="0"/>
            </a:endParaRPr>
          </a:p>
          <a:p>
            <a:r>
              <a:rPr lang="es-CO" sz="1400" dirty="0">
                <a:latin typeface="Consolas" panose="020B0609020204030204" pitchFamily="49" charset="0"/>
              </a:rPr>
              <a:t>           ^^^^^^^^^^^^^^^^^^^^^^^^^^^^^^^^^^^^^^^^</a:t>
            </a:r>
          </a:p>
          <a:p>
            <a:r>
              <a:rPr lang="es-CO" sz="1400" dirty="0">
                <a:latin typeface="Consolas" panose="020B0609020204030204" pitchFamily="49" charset="0"/>
              </a:rPr>
              <a:t>AssertionError</a:t>
            </a:r>
          </a:p>
        </p:txBody>
      </p:sp>
      <p:pic>
        <p:nvPicPr>
          <p:cNvPr id="6" name="Imagen 5">
            <a:extLst>
              <a:ext uri="{FF2B5EF4-FFF2-40B4-BE49-F238E27FC236}">
                <a16:creationId xmlns:a16="http://schemas.microsoft.com/office/drawing/2014/main" id="{42B0E73C-1E01-4E1C-8468-3079D0490F61}"/>
              </a:ext>
            </a:extLst>
          </p:cNvPr>
          <p:cNvPicPr>
            <a:picLocks noChangeAspect="1"/>
          </p:cNvPicPr>
          <p:nvPr/>
        </p:nvPicPr>
        <p:blipFill>
          <a:blip r:embed="rId2"/>
          <a:stretch>
            <a:fillRect/>
          </a:stretch>
        </p:blipFill>
        <p:spPr>
          <a:xfrm>
            <a:off x="823912" y="2709871"/>
            <a:ext cx="7496175" cy="2971800"/>
          </a:xfrm>
          <a:prstGeom prst="rect">
            <a:avLst/>
          </a:prstGeom>
        </p:spPr>
      </p:pic>
    </p:spTree>
    <p:extLst>
      <p:ext uri="{BB962C8B-B14F-4D97-AF65-F5344CB8AC3E}">
        <p14:creationId xmlns:p14="http://schemas.microsoft.com/office/powerpoint/2010/main" val="37292162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n-US" sz="3600" dirty="0"/>
              <a:t>Paso 3: El </a:t>
            </a:r>
            <a:r>
              <a:rPr lang="en-US" sz="3600" dirty="0" err="1"/>
              <a:t>programa</a:t>
            </a:r>
            <a:r>
              <a:rPr lang="en-US" sz="3600" dirty="0"/>
              <a:t> </a:t>
            </a:r>
            <a:r>
              <a:rPr lang="en-US" sz="3600" dirty="0" err="1"/>
              <a:t>terminado</a:t>
            </a:r>
            <a:endParaRPr lang="es-MX" sz="3600" dirty="0"/>
          </a:p>
        </p:txBody>
      </p:sp>
      <p:sp>
        <p:nvSpPr>
          <p:cNvPr id="13" name="12 Rectángulo"/>
          <p:cNvSpPr/>
          <p:nvPr/>
        </p:nvSpPr>
        <p:spPr>
          <a:xfrm>
            <a:off x="154391" y="692696"/>
            <a:ext cx="8835218" cy="4093428"/>
          </a:xfrm>
          <a:prstGeom prst="rect">
            <a:avLst/>
          </a:prstGeom>
        </p:spPr>
        <p:txBody>
          <a:bodyPr wrap="square">
            <a:spAutoFit/>
          </a:bodyPr>
          <a:lstStyle/>
          <a:p>
            <a:pPr marL="342900" indent="-342900" rtl="0">
              <a:buFont typeface="Arial" panose="020B0604020202020204" pitchFamily="34" charset="0"/>
              <a:buChar char="•"/>
            </a:pPr>
            <a:r>
              <a:rPr lang="es-MX" sz="2000" b="1" dirty="0"/>
              <a:t>Archivos</a:t>
            </a:r>
            <a:r>
              <a:rPr lang="es-MX" sz="2000" dirty="0"/>
              <a:t>: </a:t>
            </a:r>
            <a:r>
              <a:rPr lang="es-CO" sz="2000" dirty="0"/>
              <a:t>temperaturas_v2.py</a:t>
            </a:r>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endParaRPr lang="es-CO" sz="2000" dirty="0"/>
          </a:p>
          <a:p>
            <a:pPr marL="342900" indent="-342900" rtl="0">
              <a:buFont typeface="Arial" panose="020B0604020202020204" pitchFamily="34" charset="0"/>
              <a:buChar char="•"/>
            </a:pPr>
            <a:r>
              <a:rPr lang="es-MX" sz="2000" b="1" dirty="0"/>
              <a:t>Salida en pantalla</a:t>
            </a:r>
            <a:endParaRPr lang="es-MX" sz="2000" dirty="0"/>
          </a:p>
        </p:txBody>
      </p:sp>
      <p:sp>
        <p:nvSpPr>
          <p:cNvPr id="11" name="CuadroTexto 10">
            <a:extLst>
              <a:ext uri="{FF2B5EF4-FFF2-40B4-BE49-F238E27FC236}">
                <a16:creationId xmlns:a16="http://schemas.microsoft.com/office/drawing/2014/main" id="{2F938FF1-6A0E-4201-A72E-E3484D4BFCD8}"/>
              </a:ext>
            </a:extLst>
          </p:cNvPr>
          <p:cNvSpPr txBox="1"/>
          <p:nvPr/>
        </p:nvSpPr>
        <p:spPr>
          <a:xfrm>
            <a:off x="253899" y="5445224"/>
            <a:ext cx="8636202" cy="646331"/>
          </a:xfrm>
          <a:prstGeom prst="rect">
            <a:avLst/>
          </a:prstGeom>
          <a:solidFill>
            <a:schemeClr val="accent2">
              <a:lumMod val="20000"/>
              <a:lumOff val="80000"/>
            </a:schemeClr>
          </a:solidFill>
        </p:spPr>
        <p:txBody>
          <a:bodyPr wrap="square">
            <a:spAutoFit/>
          </a:bodyPr>
          <a:lstStyle/>
          <a:p>
            <a:r>
              <a:rPr lang="es-MX" b="1" dirty="0"/>
              <a:t>Ningún </a:t>
            </a:r>
            <a:r>
              <a:rPr lang="es-MX" b="1" dirty="0" err="1"/>
              <a:t>stub</a:t>
            </a:r>
            <a:r>
              <a:rPr lang="es-MX" b="1" dirty="0"/>
              <a:t>, todas las pruebas pasan: el programa está terminado.</a:t>
            </a:r>
            <a:r>
              <a:rPr lang="es-MX" dirty="0"/>
              <a:t> Es la </a:t>
            </a:r>
            <a:r>
              <a:rPr lang="es-MX" sz="1600" b="1" dirty="0">
                <a:latin typeface="Consolas" panose="020B0609020204030204" pitchFamily="49" charset="0"/>
              </a:rPr>
              <a:t>temperaturas_v2.py</a:t>
            </a:r>
            <a:r>
              <a:rPr lang="es-MX" dirty="0"/>
              <a:t> que ya conocían; ahora saben cómo se pudo construir.</a:t>
            </a:r>
          </a:p>
        </p:txBody>
      </p:sp>
      <p:sp>
        <p:nvSpPr>
          <p:cNvPr id="10" name="CuadroTexto 9">
            <a:extLst>
              <a:ext uri="{FF2B5EF4-FFF2-40B4-BE49-F238E27FC236}">
                <a16:creationId xmlns:a16="http://schemas.microsoft.com/office/drawing/2014/main" id="{8EAF772D-F6EE-4308-88C0-7D50D5949F39}"/>
              </a:ext>
            </a:extLst>
          </p:cNvPr>
          <p:cNvSpPr txBox="1"/>
          <p:nvPr/>
        </p:nvSpPr>
        <p:spPr>
          <a:xfrm>
            <a:off x="253899" y="1052736"/>
            <a:ext cx="4824536" cy="3231654"/>
          </a:xfrm>
          <a:prstGeom prst="rect">
            <a:avLst/>
          </a:prstGeom>
          <a:noFill/>
          <a:ln>
            <a:solidFill>
              <a:schemeClr val="tx1"/>
            </a:solidFill>
          </a:ln>
        </p:spPr>
        <p:txBody>
          <a:bodyPr wrap="square">
            <a:spAutoFit/>
          </a:bodyPr>
          <a:lstStyle/>
          <a:p>
            <a:r>
              <a:rPr lang="es-CO" sz="1200" dirty="0">
                <a:latin typeface="Consolas" panose="020B0609020204030204" pitchFamily="49" charset="0"/>
              </a:rPr>
              <a:t>15  </a:t>
            </a:r>
            <a:r>
              <a:rPr lang="es-CO" sz="1200" dirty="0" err="1">
                <a:latin typeface="Consolas" panose="020B0609020204030204" pitchFamily="49" charset="0"/>
              </a:rPr>
              <a:t>def</a:t>
            </a:r>
            <a:r>
              <a:rPr lang="es-CO" sz="1200" dirty="0">
                <a:latin typeface="Consolas" panose="020B0609020204030204" pitchFamily="49" charset="0"/>
              </a:rPr>
              <a:t> celsius_a_fahrenheit(</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16      temp_f = (9/5)*</a:t>
            </a:r>
            <a:r>
              <a:rPr lang="es-CO" sz="1200" dirty="0" err="1">
                <a:latin typeface="Consolas" panose="020B0609020204030204" pitchFamily="49" charset="0"/>
              </a:rPr>
              <a:t>temp_c</a:t>
            </a:r>
            <a:r>
              <a:rPr lang="es-CO" sz="1200" dirty="0">
                <a:latin typeface="Consolas" panose="020B0609020204030204" pitchFamily="49" charset="0"/>
              </a:rPr>
              <a:t> + 32</a:t>
            </a:r>
          </a:p>
          <a:p>
            <a:r>
              <a:rPr lang="es-CO" sz="1200" dirty="0">
                <a:latin typeface="Consolas" panose="020B0609020204030204" pitchFamily="49" charset="0"/>
              </a:rPr>
              <a:t>17      </a:t>
            </a:r>
            <a:r>
              <a:rPr lang="es-CO" sz="1200" dirty="0" err="1">
                <a:latin typeface="Consolas" panose="020B0609020204030204" pitchFamily="49" charset="0"/>
              </a:rPr>
              <a:t>return</a:t>
            </a:r>
            <a:r>
              <a:rPr lang="es-CO" sz="1200" dirty="0">
                <a:latin typeface="Consolas" panose="020B0609020204030204" pitchFamily="49" charset="0"/>
              </a:rPr>
              <a:t> temp_f</a:t>
            </a:r>
          </a:p>
          <a:p>
            <a:r>
              <a:rPr lang="es-CO" sz="1200" dirty="0">
                <a:latin typeface="Consolas" panose="020B0609020204030204" pitchFamily="49" charset="0"/>
              </a:rPr>
              <a:t>18</a:t>
            </a:r>
          </a:p>
          <a:p>
            <a:r>
              <a:rPr lang="es-CO" sz="1200" dirty="0">
                <a:latin typeface="Consolas" panose="020B0609020204030204" pitchFamily="49" charset="0"/>
              </a:rPr>
              <a:t>19  </a:t>
            </a:r>
            <a:r>
              <a:rPr lang="es-CO" sz="1200" dirty="0" err="1">
                <a:latin typeface="Consolas" panose="020B0609020204030204" pitchFamily="49" charset="0"/>
              </a:rPr>
              <a:t>def</a:t>
            </a:r>
            <a:r>
              <a:rPr lang="es-CO" sz="1200" dirty="0">
                <a:latin typeface="Consolas" panose="020B0609020204030204" pitchFamily="49" charset="0"/>
              </a:rPr>
              <a:t> celsius_a_kelvin(</a:t>
            </a:r>
            <a:r>
              <a:rPr lang="es-CO" sz="1200" dirty="0" err="1">
                <a:latin typeface="Consolas" panose="020B0609020204030204" pitchFamily="49" charset="0"/>
              </a:rPr>
              <a:t>temp_c</a:t>
            </a:r>
            <a:r>
              <a:rPr lang="es-CO" sz="1200" dirty="0">
                <a:latin typeface="Consolas" panose="020B0609020204030204" pitchFamily="49" charset="0"/>
              </a:rPr>
              <a:t>):</a:t>
            </a:r>
          </a:p>
          <a:p>
            <a:r>
              <a:rPr lang="es-CO" sz="1200" dirty="0">
                <a:latin typeface="Consolas" panose="020B0609020204030204" pitchFamily="49" charset="0"/>
              </a:rPr>
              <a:t>20      </a:t>
            </a:r>
            <a:r>
              <a:rPr lang="es-CO" sz="1200" dirty="0" err="1">
                <a:latin typeface="Consolas" panose="020B0609020204030204" pitchFamily="49" charset="0"/>
              </a:rPr>
              <a:t>temp_k</a:t>
            </a:r>
            <a:r>
              <a:rPr lang="es-CO" sz="1200" dirty="0">
                <a:latin typeface="Consolas" panose="020B0609020204030204" pitchFamily="49" charset="0"/>
              </a:rPr>
              <a:t> = </a:t>
            </a:r>
            <a:r>
              <a:rPr lang="es-CO" sz="1200" dirty="0" err="1">
                <a:latin typeface="Consolas" panose="020B0609020204030204" pitchFamily="49" charset="0"/>
              </a:rPr>
              <a:t>temp_c</a:t>
            </a:r>
            <a:r>
              <a:rPr lang="es-CO" sz="1200" dirty="0">
                <a:latin typeface="Consolas" panose="020B0609020204030204" pitchFamily="49" charset="0"/>
              </a:rPr>
              <a:t> + 273.15         </a:t>
            </a:r>
          </a:p>
          <a:p>
            <a:r>
              <a:rPr lang="es-CO" sz="1200" dirty="0">
                <a:latin typeface="Consolas" panose="020B0609020204030204" pitchFamily="49" charset="0"/>
              </a:rPr>
              <a:t>21      </a:t>
            </a:r>
            <a:r>
              <a:rPr lang="es-CO" sz="1200" dirty="0" err="1">
                <a:latin typeface="Consolas" panose="020B0609020204030204" pitchFamily="49" charset="0"/>
              </a:rPr>
              <a:t>return</a:t>
            </a:r>
            <a:r>
              <a:rPr lang="es-CO" sz="1200" dirty="0">
                <a:latin typeface="Consolas" panose="020B0609020204030204" pitchFamily="49" charset="0"/>
              </a:rPr>
              <a:t> </a:t>
            </a:r>
            <a:r>
              <a:rPr lang="es-CO" sz="1200" dirty="0" err="1">
                <a:latin typeface="Consolas" panose="020B0609020204030204" pitchFamily="49" charset="0"/>
              </a:rPr>
              <a:t>temp_k</a:t>
            </a:r>
            <a:endParaRPr lang="es-CO" sz="1200" dirty="0">
              <a:latin typeface="Consolas" panose="020B0609020204030204" pitchFamily="49" charset="0"/>
            </a:endParaRPr>
          </a:p>
          <a:p>
            <a:r>
              <a:rPr lang="es-CO" sz="1200" dirty="0">
                <a:latin typeface="Consolas" panose="020B0609020204030204" pitchFamily="49" charset="0"/>
              </a:rPr>
              <a:t>22</a:t>
            </a:r>
          </a:p>
          <a:p>
            <a:r>
              <a:rPr lang="es-CO" sz="1200" dirty="0">
                <a:latin typeface="Consolas" panose="020B0609020204030204" pitchFamily="49" charset="0"/>
              </a:rPr>
              <a:t>23  ############ Pruebas ##############</a:t>
            </a:r>
          </a:p>
          <a:p>
            <a:r>
              <a:rPr lang="es-CO" sz="1200" dirty="0">
                <a:latin typeface="Consolas" panose="020B0609020204030204" pitchFamily="49" charset="0"/>
              </a:rPr>
              <a:t>24  # celsius_a_fahrenheit</a:t>
            </a:r>
          </a:p>
          <a:p>
            <a:r>
              <a:rPr lang="es-CO" sz="1200" dirty="0">
                <a:latin typeface="Consolas" panose="020B0609020204030204" pitchFamily="49" charset="0"/>
              </a:rPr>
              <a:t>25  assert round(celsius_a_fahrenheit(100), 2) == 212.0</a:t>
            </a:r>
          </a:p>
          <a:p>
            <a:r>
              <a:rPr lang="es-CO" sz="1200" dirty="0">
                <a:latin typeface="Consolas" panose="020B0609020204030204" pitchFamily="49" charset="0"/>
              </a:rPr>
              <a:t>26  assert round(celsius_a_fahrenheit(0), 2) == 32.0</a:t>
            </a:r>
          </a:p>
          <a:p>
            <a:r>
              <a:rPr lang="es-CO" sz="1200" dirty="0">
                <a:latin typeface="Consolas" panose="020B0609020204030204" pitchFamily="49" charset="0"/>
              </a:rPr>
              <a:t>27  assert round(celsius_a_fahrenheit(37), 2) == 98.6</a:t>
            </a:r>
          </a:p>
          <a:p>
            <a:r>
              <a:rPr lang="es-CO" sz="1200" dirty="0">
                <a:latin typeface="Consolas" panose="020B0609020204030204" pitchFamily="49" charset="0"/>
              </a:rPr>
              <a:t>28  assert round(celsius_a_fahrenheit(-40), 2) == -40.0</a:t>
            </a:r>
          </a:p>
          <a:p>
            <a:r>
              <a:rPr lang="es-CO" sz="1200" dirty="0">
                <a:latin typeface="Consolas" panose="020B0609020204030204" pitchFamily="49" charset="0"/>
              </a:rPr>
              <a:t>29  # celsius_a_kelvin</a:t>
            </a:r>
          </a:p>
          <a:p>
            <a:r>
              <a:rPr lang="es-CO" sz="1200" dirty="0">
                <a:latin typeface="Consolas" panose="020B0609020204030204" pitchFamily="49" charset="0"/>
              </a:rPr>
              <a:t>30  assert round(celsius_a_kelvin(25), 2) == 298.15</a:t>
            </a:r>
          </a:p>
          <a:p>
            <a:r>
              <a:rPr lang="es-CO" sz="1200" dirty="0">
                <a:latin typeface="Consolas" panose="020B0609020204030204" pitchFamily="49" charset="0"/>
              </a:rPr>
              <a:t>31  assert round(celsius_a_kelvin(-273.15), 2) == 0.0</a:t>
            </a:r>
          </a:p>
        </p:txBody>
      </p:sp>
      <p:sp>
        <p:nvSpPr>
          <p:cNvPr id="14" name="CuadroTexto 13">
            <a:extLst>
              <a:ext uri="{FF2B5EF4-FFF2-40B4-BE49-F238E27FC236}">
                <a16:creationId xmlns:a16="http://schemas.microsoft.com/office/drawing/2014/main" id="{4421960D-F8A0-46D3-99F4-250ACD9BEE33}"/>
              </a:ext>
            </a:extLst>
          </p:cNvPr>
          <p:cNvSpPr txBox="1"/>
          <p:nvPr/>
        </p:nvSpPr>
        <p:spPr>
          <a:xfrm>
            <a:off x="251520" y="4767535"/>
            <a:ext cx="4824536" cy="461665"/>
          </a:xfrm>
          <a:prstGeom prst="rect">
            <a:avLst/>
          </a:prstGeom>
          <a:noFill/>
          <a:ln>
            <a:solidFill>
              <a:schemeClr val="tx1"/>
            </a:solidFill>
          </a:ln>
        </p:spPr>
        <p:txBody>
          <a:bodyPr wrap="square">
            <a:spAutoFit/>
          </a:bodyPr>
          <a:lstStyle/>
          <a:p>
            <a:r>
              <a:rPr lang="es-MX" sz="1200" dirty="0">
                <a:latin typeface="Consolas" panose="020B0609020204030204" pitchFamily="49" charset="0"/>
              </a:rPr>
              <a:t>100.0°C = 212.00°F   </a:t>
            </a:r>
            <a:endParaRPr lang="es-MX" sz="1200" dirty="0">
              <a:solidFill>
                <a:srgbClr val="00B050"/>
              </a:solidFill>
              <a:latin typeface="Consolas" panose="020B0609020204030204" pitchFamily="49" charset="0"/>
            </a:endParaRPr>
          </a:p>
          <a:p>
            <a:r>
              <a:rPr lang="es-MX" sz="1200" dirty="0">
                <a:latin typeface="Consolas" panose="020B0609020204030204" pitchFamily="49" charset="0"/>
              </a:rPr>
              <a:t>25.0°C = 298.15°K</a:t>
            </a:r>
            <a:endParaRPr lang="es-CO" sz="1200" dirty="0">
              <a:solidFill>
                <a:srgbClr val="FF0000"/>
              </a:solidFill>
              <a:latin typeface="Consolas" panose="020B0609020204030204" pitchFamily="49" charset="0"/>
            </a:endParaRPr>
          </a:p>
        </p:txBody>
      </p:sp>
      <p:pic>
        <p:nvPicPr>
          <p:cNvPr id="4" name="Imagen 3">
            <a:extLst>
              <a:ext uri="{FF2B5EF4-FFF2-40B4-BE49-F238E27FC236}">
                <a16:creationId xmlns:a16="http://schemas.microsoft.com/office/drawing/2014/main" id="{743B61E2-4B96-49A1-B610-3BFEA31A608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42448" y="1844824"/>
            <a:ext cx="3966056" cy="2250656"/>
          </a:xfrm>
          <a:prstGeom prst="rect">
            <a:avLst/>
          </a:prstGeom>
        </p:spPr>
      </p:pic>
      <p:sp>
        <p:nvSpPr>
          <p:cNvPr id="12" name="CuadroTexto 11">
            <a:extLst>
              <a:ext uri="{FF2B5EF4-FFF2-40B4-BE49-F238E27FC236}">
                <a16:creationId xmlns:a16="http://schemas.microsoft.com/office/drawing/2014/main" id="{A752196B-A80B-4DCB-8C01-105F787A6835}"/>
              </a:ext>
            </a:extLst>
          </p:cNvPr>
          <p:cNvSpPr txBox="1"/>
          <p:nvPr/>
        </p:nvSpPr>
        <p:spPr>
          <a:xfrm>
            <a:off x="251520" y="6167045"/>
            <a:ext cx="8636202" cy="369332"/>
          </a:xfrm>
          <a:prstGeom prst="rect">
            <a:avLst/>
          </a:prstGeom>
          <a:solidFill>
            <a:schemeClr val="accent2">
              <a:lumMod val="20000"/>
              <a:lumOff val="80000"/>
            </a:schemeClr>
          </a:solidFill>
        </p:spPr>
        <p:txBody>
          <a:bodyPr wrap="square">
            <a:spAutoFit/>
          </a:bodyPr>
          <a:lstStyle/>
          <a:p>
            <a:r>
              <a:rPr lang="es-MX" b="1" dirty="0"/>
              <a:t>Algunas hojas del árbol ya las escribió alguien más, y están probadas</a:t>
            </a:r>
            <a:r>
              <a:rPr lang="es-MX" dirty="0"/>
              <a:t>: son las </a:t>
            </a:r>
            <a:r>
              <a:rPr lang="es-MX" b="1" dirty="0"/>
              <a:t>librerías</a:t>
            </a:r>
            <a:r>
              <a:rPr lang="es-MX" dirty="0"/>
              <a:t>.</a:t>
            </a:r>
          </a:p>
        </p:txBody>
      </p:sp>
    </p:spTree>
    <p:extLst>
      <p:ext uri="{BB962C8B-B14F-4D97-AF65-F5344CB8AC3E}">
        <p14:creationId xmlns:p14="http://schemas.microsoft.com/office/powerpoint/2010/main" val="12050643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n-US" sz="3600" dirty="0" err="1"/>
              <a:t>Funciones</a:t>
            </a:r>
            <a:r>
              <a:rPr lang="en-US" sz="3600" dirty="0"/>
              <a:t> </a:t>
            </a:r>
            <a:r>
              <a:rPr lang="en-US" sz="3600" dirty="0" err="1"/>
              <a:t>integradas</a:t>
            </a:r>
            <a:endParaRPr lang="es-MX" sz="3600" dirty="0"/>
          </a:p>
        </p:txBody>
      </p:sp>
      <p:sp>
        <p:nvSpPr>
          <p:cNvPr id="13" name="12 Rectángulo"/>
          <p:cNvSpPr/>
          <p:nvPr/>
        </p:nvSpPr>
        <p:spPr>
          <a:xfrm>
            <a:off x="144639" y="797256"/>
            <a:ext cx="8835218" cy="1323439"/>
          </a:xfrm>
          <a:prstGeom prst="rect">
            <a:avLst/>
          </a:prstGeom>
        </p:spPr>
        <p:txBody>
          <a:bodyPr wrap="square">
            <a:spAutoFit/>
          </a:bodyPr>
          <a:lstStyle/>
          <a:p>
            <a:pPr marL="342900" indent="-342900" rtl="0">
              <a:buFont typeface="Arial" panose="020B0604020202020204" pitchFamily="34" charset="0"/>
              <a:buChar char="•"/>
            </a:pPr>
            <a:r>
              <a:rPr lang="es-MX" sz="2000" dirty="0"/>
              <a:t>A lo largo de las clases se han utilizado funciones que no fueron escritas en el curso: </a:t>
            </a:r>
            <a:r>
              <a:rPr lang="es-MX" b="1" dirty="0">
                <a:latin typeface="Consolas" panose="020B0609020204030204" pitchFamily="49" charset="0"/>
              </a:rPr>
              <a:t>print()</a:t>
            </a:r>
            <a:r>
              <a:rPr lang="es-MX" sz="2000" dirty="0"/>
              <a:t>, </a:t>
            </a:r>
            <a:r>
              <a:rPr lang="es-MX" b="1" dirty="0">
                <a:latin typeface="Consolas" panose="020B0609020204030204" pitchFamily="49" charset="0"/>
              </a:rPr>
              <a:t>input()</a:t>
            </a:r>
            <a:r>
              <a:rPr lang="es-MX" sz="2000" dirty="0"/>
              <a:t>, </a:t>
            </a:r>
            <a:r>
              <a:rPr lang="es-MX" b="1" dirty="0">
                <a:latin typeface="Consolas" panose="020B0609020204030204" pitchFamily="49" charset="0"/>
              </a:rPr>
              <a:t>int()</a:t>
            </a:r>
            <a:r>
              <a:rPr lang="es-MX" sz="2000" dirty="0"/>
              <a:t>, </a:t>
            </a:r>
            <a:r>
              <a:rPr lang="es-MX" b="1" dirty="0">
                <a:latin typeface="Consolas" panose="020B0609020204030204" pitchFamily="49" charset="0"/>
              </a:rPr>
              <a:t>float()</a:t>
            </a:r>
            <a:r>
              <a:rPr lang="es-MX" sz="2000" dirty="0"/>
              <a:t>, </a:t>
            </a:r>
            <a:r>
              <a:rPr lang="es-MX" b="1" dirty="0">
                <a:latin typeface="Consolas" panose="020B0609020204030204" pitchFamily="49" charset="0"/>
              </a:rPr>
              <a:t>round()</a:t>
            </a:r>
            <a:r>
              <a:rPr lang="es-MX" sz="2000" dirty="0"/>
              <a:t>.</a:t>
            </a:r>
          </a:p>
          <a:p>
            <a:pPr marL="342900" indent="-342900" rtl="0">
              <a:buFont typeface="Arial" panose="020B0604020202020204" pitchFamily="34" charset="0"/>
              <a:buChar char="•"/>
            </a:pPr>
            <a:r>
              <a:rPr lang="es-MX" sz="2000" dirty="0"/>
              <a:t>Estas se denominan </a:t>
            </a:r>
            <a:r>
              <a:rPr lang="es-MX" sz="2000" b="1" dirty="0"/>
              <a:t>funciones integradas</a:t>
            </a:r>
            <a:r>
              <a:rPr lang="es-MX" sz="2000" dirty="0"/>
              <a:t> (</a:t>
            </a:r>
            <a:r>
              <a:rPr lang="es-MX" sz="2000" b="1" dirty="0" err="1"/>
              <a:t>built</a:t>
            </a:r>
            <a:r>
              <a:rPr lang="es-MX" sz="2000" b="1" dirty="0"/>
              <a:t>-in</a:t>
            </a:r>
            <a:r>
              <a:rPr lang="es-MX" sz="2000" dirty="0"/>
              <a:t>) y están disponibles en cualquier programa sin necesidad de importarlas.</a:t>
            </a:r>
          </a:p>
        </p:txBody>
      </p:sp>
      <p:sp>
        <p:nvSpPr>
          <p:cNvPr id="11" name="CuadroTexto 10">
            <a:extLst>
              <a:ext uri="{FF2B5EF4-FFF2-40B4-BE49-F238E27FC236}">
                <a16:creationId xmlns:a16="http://schemas.microsoft.com/office/drawing/2014/main" id="{2F938FF1-6A0E-4201-A72E-E3484D4BFCD8}"/>
              </a:ext>
            </a:extLst>
          </p:cNvPr>
          <p:cNvSpPr txBox="1"/>
          <p:nvPr/>
        </p:nvSpPr>
        <p:spPr>
          <a:xfrm>
            <a:off x="618899" y="4443252"/>
            <a:ext cx="7932906" cy="923330"/>
          </a:xfrm>
          <a:prstGeom prst="rect">
            <a:avLst/>
          </a:prstGeom>
          <a:solidFill>
            <a:schemeClr val="accent2">
              <a:lumMod val="20000"/>
              <a:lumOff val="80000"/>
            </a:schemeClr>
          </a:solidFill>
        </p:spPr>
        <p:txBody>
          <a:bodyPr wrap="square">
            <a:spAutoFit/>
          </a:bodyPr>
          <a:lstStyle/>
          <a:p>
            <a:r>
              <a:rPr lang="es-MX" b="1" dirty="0"/>
              <a:t>Idea clave</a:t>
            </a:r>
            <a:r>
              <a:rPr lang="es-MX" dirty="0"/>
              <a:t>: una función integrada se comporta como cualquier función definida por el programador: recibe argumentos y retorna un valor. La diferencia es que ya fue escrita y probada por otros.</a:t>
            </a:r>
          </a:p>
        </p:txBody>
      </p:sp>
      <p:graphicFrame>
        <p:nvGraphicFramePr>
          <p:cNvPr id="6" name="Tabla 5">
            <a:extLst>
              <a:ext uri="{FF2B5EF4-FFF2-40B4-BE49-F238E27FC236}">
                <a16:creationId xmlns:a16="http://schemas.microsoft.com/office/drawing/2014/main" id="{AE171294-4E04-4989-B2B9-645F7E8104E8}"/>
              </a:ext>
            </a:extLst>
          </p:cNvPr>
          <p:cNvGraphicFramePr>
            <a:graphicFrameLocks noGrp="1"/>
          </p:cNvGraphicFramePr>
          <p:nvPr>
            <p:extLst>
              <p:ext uri="{D42A27DB-BD31-4B8C-83A1-F6EECF244321}">
                <p14:modId xmlns:p14="http://schemas.microsoft.com/office/powerpoint/2010/main" val="1140228775"/>
              </p:ext>
            </p:extLst>
          </p:nvPr>
        </p:nvGraphicFramePr>
        <p:xfrm>
          <a:off x="618899" y="2196185"/>
          <a:ext cx="7932906" cy="1676400"/>
        </p:xfrm>
        <a:graphic>
          <a:graphicData uri="http://schemas.openxmlformats.org/drawingml/2006/table">
            <a:tbl>
              <a:tblPr/>
              <a:tblGrid>
                <a:gridCol w="1659255">
                  <a:extLst>
                    <a:ext uri="{9D8B030D-6E8A-4147-A177-3AD203B41FA5}">
                      <a16:colId xmlns:a16="http://schemas.microsoft.com/office/drawing/2014/main" val="3351606858"/>
                    </a:ext>
                  </a:extLst>
                </a:gridCol>
                <a:gridCol w="2843975">
                  <a:extLst>
                    <a:ext uri="{9D8B030D-6E8A-4147-A177-3AD203B41FA5}">
                      <a16:colId xmlns:a16="http://schemas.microsoft.com/office/drawing/2014/main" val="1004489264"/>
                    </a:ext>
                  </a:extLst>
                </a:gridCol>
                <a:gridCol w="2277548">
                  <a:extLst>
                    <a:ext uri="{9D8B030D-6E8A-4147-A177-3AD203B41FA5}">
                      <a16:colId xmlns:a16="http://schemas.microsoft.com/office/drawing/2014/main" val="2124354429"/>
                    </a:ext>
                  </a:extLst>
                </a:gridCol>
                <a:gridCol w="1152128">
                  <a:extLst>
                    <a:ext uri="{9D8B030D-6E8A-4147-A177-3AD203B41FA5}">
                      <a16:colId xmlns:a16="http://schemas.microsoft.com/office/drawing/2014/main" val="3780946000"/>
                    </a:ext>
                  </a:extLst>
                </a:gridCol>
              </a:tblGrid>
              <a:tr h="0">
                <a:tc>
                  <a:txBody>
                    <a:bodyPr/>
                    <a:lstStyle/>
                    <a:p>
                      <a:r>
                        <a:rPr lang="es-CO" sz="1600" b="1" dirty="0"/>
                        <a:t>Función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Descripción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Ejemplo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Resultado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128784320"/>
                  </a:ext>
                </a:extLst>
              </a:tr>
              <a:tr h="0">
                <a:tc>
                  <a:txBody>
                    <a:bodyPr/>
                    <a:lstStyle/>
                    <a:p>
                      <a:r>
                        <a:rPr lang="es-CO" sz="1400" dirty="0">
                          <a:latin typeface="Consolas" panose="020B0609020204030204" pitchFamily="49" charset="0"/>
                        </a:rPr>
                        <a:t>abs(x)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Retorna el valor absoluto de 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abs(-7)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0004093"/>
                  </a:ext>
                </a:extLst>
              </a:tr>
              <a:tr h="0">
                <a:tc>
                  <a:txBody>
                    <a:bodyPr/>
                    <a:lstStyle/>
                    <a:p>
                      <a:r>
                        <a:rPr lang="es-CO" sz="1400" dirty="0">
                          <a:latin typeface="Consolas" panose="020B0609020204030204" pitchFamily="49" charset="0"/>
                        </a:rPr>
                        <a:t>round(x, 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600"/>
                        <a:t>Redondea x a n decimales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round(3.14159,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3.14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30563441"/>
                  </a:ext>
                </a:extLst>
              </a:tr>
              <a:tr h="0">
                <a:tc>
                  <a:txBody>
                    <a:bodyPr/>
                    <a:lstStyle/>
                    <a:p>
                      <a:r>
                        <a:rPr lang="es-CO" sz="1400" dirty="0" err="1">
                          <a:latin typeface="Consolas" panose="020B0609020204030204" pitchFamily="49" charset="0"/>
                        </a:rPr>
                        <a:t>max</a:t>
                      </a:r>
                      <a:r>
                        <a:rPr lang="es-CO" sz="1400" dirty="0">
                          <a:latin typeface="Consolas" panose="020B0609020204030204" pitchFamily="49" charset="0"/>
                        </a:rPr>
                        <a:t>(a, b,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Retorna el mayor de los valores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max</a:t>
                      </a:r>
                      <a:r>
                        <a:rPr lang="es-CO" sz="1400" dirty="0">
                          <a:latin typeface="Consolas" panose="020B0609020204030204" pitchFamily="49" charset="0"/>
                        </a:rPr>
                        <a:t>(3, 9, 4)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48529819"/>
                  </a:ext>
                </a:extLst>
              </a:tr>
              <a:tr h="0">
                <a:tc>
                  <a:txBody>
                    <a:bodyPr/>
                    <a:lstStyle/>
                    <a:p>
                      <a:r>
                        <a:rPr lang="es-CO" sz="1400" dirty="0">
                          <a:latin typeface="Consolas" panose="020B0609020204030204" pitchFamily="49" charset="0"/>
                        </a:rPr>
                        <a:t>min(a, b,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Retorna el menor de los valores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min(3, 9, 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5469008"/>
                  </a:ext>
                </a:extLst>
              </a:tr>
            </a:tbl>
          </a:graphicData>
        </a:graphic>
      </p:graphicFrame>
    </p:spTree>
    <p:extLst>
      <p:ext uri="{BB962C8B-B14F-4D97-AF65-F5344CB8AC3E}">
        <p14:creationId xmlns:p14="http://schemas.microsoft.com/office/powerpoint/2010/main" val="8300558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Librerías: funciones que se deben importar</a:t>
            </a:r>
          </a:p>
        </p:txBody>
      </p:sp>
      <p:sp>
        <p:nvSpPr>
          <p:cNvPr id="13" name="12 Rectángulo"/>
          <p:cNvSpPr/>
          <p:nvPr/>
        </p:nvSpPr>
        <p:spPr>
          <a:xfrm>
            <a:off x="144639" y="797256"/>
            <a:ext cx="8835218" cy="707886"/>
          </a:xfrm>
          <a:prstGeom prst="rect">
            <a:avLst/>
          </a:prstGeom>
        </p:spPr>
        <p:txBody>
          <a:bodyPr wrap="square">
            <a:spAutoFit/>
          </a:bodyPr>
          <a:lstStyle/>
          <a:p>
            <a:pPr marL="342900" indent="-342900" rtl="0">
              <a:buFont typeface="Arial" panose="020B0604020202020204" pitchFamily="34" charset="0"/>
              <a:buChar char="•"/>
            </a:pPr>
            <a:r>
              <a:rPr lang="es-MX" sz="2000" dirty="0"/>
              <a:t>Otras funciones están agrupadas en </a:t>
            </a:r>
            <a:r>
              <a:rPr lang="es-MX" sz="2000" b="1" dirty="0"/>
              <a:t>módulos</a:t>
            </a:r>
            <a:r>
              <a:rPr lang="es-MX" sz="2000" dirty="0"/>
              <a:t> (librerías). Para utilizarlas, primero se debe </a:t>
            </a:r>
            <a:r>
              <a:rPr lang="es-MX" sz="2000" b="1" dirty="0"/>
              <a:t>importar</a:t>
            </a:r>
            <a:r>
              <a:rPr lang="es-MX" sz="2000" dirty="0"/>
              <a:t> el módulo:</a:t>
            </a:r>
          </a:p>
        </p:txBody>
      </p:sp>
      <p:sp>
        <p:nvSpPr>
          <p:cNvPr id="11" name="CuadroTexto 10">
            <a:extLst>
              <a:ext uri="{FF2B5EF4-FFF2-40B4-BE49-F238E27FC236}">
                <a16:creationId xmlns:a16="http://schemas.microsoft.com/office/drawing/2014/main" id="{2F938FF1-6A0E-4201-A72E-E3484D4BFCD8}"/>
              </a:ext>
            </a:extLst>
          </p:cNvPr>
          <p:cNvSpPr txBox="1"/>
          <p:nvPr/>
        </p:nvSpPr>
        <p:spPr>
          <a:xfrm>
            <a:off x="499465" y="5762374"/>
            <a:ext cx="8017996" cy="646331"/>
          </a:xfrm>
          <a:prstGeom prst="rect">
            <a:avLst/>
          </a:prstGeom>
          <a:solidFill>
            <a:schemeClr val="accent2">
              <a:lumMod val="20000"/>
              <a:lumOff val="80000"/>
            </a:schemeClr>
          </a:solidFill>
        </p:spPr>
        <p:txBody>
          <a:bodyPr wrap="square">
            <a:spAutoFit/>
          </a:bodyPr>
          <a:lstStyle/>
          <a:p>
            <a:r>
              <a:rPr lang="es-MX" b="1" dirty="0"/>
              <a:t>A partir de esta clase se utiliza el módulo </a:t>
            </a:r>
            <a:r>
              <a:rPr lang="es-MX" b="1" dirty="0">
                <a:latin typeface="Consolas" panose="020B0609020204030204" pitchFamily="49" charset="0"/>
              </a:rPr>
              <a:t>math</a:t>
            </a:r>
            <a:r>
              <a:rPr lang="es-MX" b="1" dirty="0"/>
              <a:t>. </a:t>
            </a:r>
            <a:r>
              <a:rPr lang="es-MX" dirty="0"/>
              <a:t>El cálculo de raíces con </a:t>
            </a:r>
            <a:r>
              <a:rPr lang="es-MX" sz="1600" b="1" dirty="0">
                <a:latin typeface="Consolas" panose="020B0609020204030204" pitchFamily="49" charset="0"/>
              </a:rPr>
              <a:t>**0.5</a:t>
            </a:r>
            <a:r>
              <a:rPr lang="es-MX" dirty="0"/>
              <a:t> puede reemplazarse por </a:t>
            </a:r>
            <a:r>
              <a:rPr lang="es-MX" sz="1600" b="1" dirty="0" err="1">
                <a:latin typeface="Consolas" panose="020B0609020204030204" pitchFamily="49" charset="0"/>
              </a:rPr>
              <a:t>math.sqrt</a:t>
            </a:r>
            <a:r>
              <a:rPr lang="es-MX" sz="1600" b="1" dirty="0">
                <a:latin typeface="Consolas" panose="020B0609020204030204" pitchFamily="49" charset="0"/>
              </a:rPr>
              <a:t>()</a:t>
            </a:r>
            <a:r>
              <a:rPr lang="es-MX" dirty="0"/>
              <a:t>.</a:t>
            </a:r>
          </a:p>
        </p:txBody>
      </p:sp>
      <p:sp>
        <p:nvSpPr>
          <p:cNvPr id="8" name="CuadroTexto 7">
            <a:extLst>
              <a:ext uri="{FF2B5EF4-FFF2-40B4-BE49-F238E27FC236}">
                <a16:creationId xmlns:a16="http://schemas.microsoft.com/office/drawing/2014/main" id="{122CDAD8-667D-4368-87A4-DA845B4DBACE}"/>
              </a:ext>
            </a:extLst>
          </p:cNvPr>
          <p:cNvSpPr txBox="1"/>
          <p:nvPr/>
        </p:nvSpPr>
        <p:spPr>
          <a:xfrm>
            <a:off x="1969960" y="1689162"/>
            <a:ext cx="4618264" cy="1169551"/>
          </a:xfrm>
          <a:prstGeom prst="rect">
            <a:avLst/>
          </a:prstGeom>
          <a:noFill/>
          <a:ln>
            <a:solidFill>
              <a:schemeClr val="tx1"/>
            </a:solidFill>
          </a:ln>
        </p:spPr>
        <p:txBody>
          <a:bodyPr wrap="square">
            <a:spAutoFit/>
          </a:bodyPr>
          <a:lstStyle/>
          <a:p>
            <a:r>
              <a:rPr lang="es-CO" sz="1400" dirty="0">
                <a:latin typeface="Consolas" panose="020B0609020204030204" pitchFamily="49" charset="0"/>
              </a:rPr>
              <a:t>import math</a:t>
            </a:r>
          </a:p>
          <a:p>
            <a:endParaRPr lang="es-CO" sz="1400" dirty="0">
              <a:latin typeface="Consolas" panose="020B0609020204030204" pitchFamily="49" charset="0"/>
            </a:endParaRPr>
          </a:p>
          <a:p>
            <a:r>
              <a:rPr lang="es-CO" sz="1400" dirty="0">
                <a:latin typeface="Consolas" panose="020B0609020204030204" pitchFamily="49" charset="0"/>
              </a:rPr>
              <a:t>print(</a:t>
            </a:r>
            <a:r>
              <a:rPr lang="es-CO" sz="1400" dirty="0" err="1">
                <a:latin typeface="Consolas" panose="020B0609020204030204" pitchFamily="49" charset="0"/>
              </a:rPr>
              <a:t>math.sqrt</a:t>
            </a:r>
            <a:r>
              <a:rPr lang="es-CO" sz="1400" dirty="0">
                <a:latin typeface="Consolas" panose="020B0609020204030204" pitchFamily="49" charset="0"/>
              </a:rPr>
              <a:t>(25))     # 5.0</a:t>
            </a:r>
          </a:p>
          <a:p>
            <a:r>
              <a:rPr lang="es-CO" sz="1400" dirty="0">
                <a:latin typeface="Consolas" panose="020B0609020204030204" pitchFamily="49" charset="0"/>
              </a:rPr>
              <a:t>print(</a:t>
            </a:r>
            <a:r>
              <a:rPr lang="es-CO" sz="1400" dirty="0" err="1">
                <a:latin typeface="Consolas" panose="020B0609020204030204" pitchFamily="49" charset="0"/>
              </a:rPr>
              <a:t>math.pi</a:t>
            </a:r>
            <a:r>
              <a:rPr lang="es-CO" sz="1400" dirty="0">
                <a:latin typeface="Consolas" panose="020B0609020204030204" pitchFamily="49" charset="0"/>
              </a:rPr>
              <a:t>)           # 3.141592653589793</a:t>
            </a:r>
          </a:p>
          <a:p>
            <a:r>
              <a:rPr lang="es-CO" sz="1400" dirty="0">
                <a:latin typeface="Consolas" panose="020B0609020204030204" pitchFamily="49" charset="0"/>
              </a:rPr>
              <a:t>print(</a:t>
            </a:r>
            <a:r>
              <a:rPr lang="es-CO" sz="1400" dirty="0" err="1">
                <a:latin typeface="Consolas" panose="020B0609020204030204" pitchFamily="49" charset="0"/>
              </a:rPr>
              <a:t>math.factorial</a:t>
            </a:r>
            <a:r>
              <a:rPr lang="es-CO" sz="1400" dirty="0">
                <a:latin typeface="Consolas" panose="020B0609020204030204" pitchFamily="49" charset="0"/>
              </a:rPr>
              <a:t>(5)) # 120</a:t>
            </a:r>
          </a:p>
        </p:txBody>
      </p:sp>
      <p:sp>
        <p:nvSpPr>
          <p:cNvPr id="9" name="CuadroTexto 8">
            <a:hlinkClick r:id="rId2"/>
            <a:extLst>
              <a:ext uri="{FF2B5EF4-FFF2-40B4-BE49-F238E27FC236}">
                <a16:creationId xmlns:a16="http://schemas.microsoft.com/office/drawing/2014/main" id="{C803F855-2A55-4CFA-B4AE-BE265011794B}"/>
              </a:ext>
            </a:extLst>
          </p:cNvPr>
          <p:cNvSpPr txBox="1"/>
          <p:nvPr/>
        </p:nvSpPr>
        <p:spPr>
          <a:xfrm>
            <a:off x="3446849" y="2935977"/>
            <a:ext cx="1664486" cy="276999"/>
          </a:xfrm>
          <a:prstGeom prst="rect">
            <a:avLst/>
          </a:prstGeom>
          <a:noFill/>
        </p:spPr>
        <p:txBody>
          <a:bodyPr wrap="square" rtlCol="0">
            <a:spAutoFit/>
          </a:bodyPr>
          <a:lstStyle/>
          <a:p>
            <a:pPr algn="ctr"/>
            <a:r>
              <a:rPr lang="es-CO" sz="1200" dirty="0">
                <a:hlinkClick r:id="rId3"/>
              </a:rPr>
              <a:t>Link simulación</a:t>
            </a:r>
            <a:endParaRPr lang="es-CO" sz="1200" dirty="0"/>
          </a:p>
        </p:txBody>
      </p:sp>
      <p:graphicFrame>
        <p:nvGraphicFramePr>
          <p:cNvPr id="4" name="Tabla 3">
            <a:extLst>
              <a:ext uri="{FF2B5EF4-FFF2-40B4-BE49-F238E27FC236}">
                <a16:creationId xmlns:a16="http://schemas.microsoft.com/office/drawing/2014/main" id="{ABF9996B-5EF3-408D-AB29-90D2C728EB29}"/>
              </a:ext>
            </a:extLst>
          </p:cNvPr>
          <p:cNvGraphicFramePr>
            <a:graphicFrameLocks noGrp="1"/>
          </p:cNvGraphicFramePr>
          <p:nvPr/>
        </p:nvGraphicFramePr>
        <p:xfrm>
          <a:off x="528840" y="3468887"/>
          <a:ext cx="7988621" cy="1584960"/>
        </p:xfrm>
        <a:graphic>
          <a:graphicData uri="http://schemas.openxmlformats.org/drawingml/2006/table">
            <a:tbl>
              <a:tblPr/>
              <a:tblGrid>
                <a:gridCol w="1968500">
                  <a:extLst>
                    <a:ext uri="{9D8B030D-6E8A-4147-A177-3AD203B41FA5}">
                      <a16:colId xmlns:a16="http://schemas.microsoft.com/office/drawing/2014/main" val="1830156451"/>
                    </a:ext>
                  </a:extLst>
                </a:gridCol>
                <a:gridCol w="1935876">
                  <a:extLst>
                    <a:ext uri="{9D8B030D-6E8A-4147-A177-3AD203B41FA5}">
                      <a16:colId xmlns:a16="http://schemas.microsoft.com/office/drawing/2014/main" val="3811805951"/>
                    </a:ext>
                  </a:extLst>
                </a:gridCol>
                <a:gridCol w="4084245">
                  <a:extLst>
                    <a:ext uri="{9D8B030D-6E8A-4147-A177-3AD203B41FA5}">
                      <a16:colId xmlns:a16="http://schemas.microsoft.com/office/drawing/2014/main" val="3474638647"/>
                    </a:ext>
                  </a:extLst>
                </a:gridCol>
              </a:tblGrid>
              <a:tr h="0">
                <a:tc>
                  <a:txBody>
                    <a:bodyPr/>
                    <a:lstStyle/>
                    <a:p>
                      <a:r>
                        <a:rPr lang="es-CO" sz="1600" b="1" dirty="0"/>
                        <a:t>Tipo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Ejemplo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¿Requiere importación?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051373211"/>
                  </a:ext>
                </a:extLst>
              </a:tr>
              <a:tr h="0">
                <a:tc>
                  <a:txBody>
                    <a:bodyPr/>
                    <a:lstStyle/>
                    <a:p>
                      <a:r>
                        <a:rPr lang="es-CO" sz="1600"/>
                        <a:t>Funciones integradas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print, round, abs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02345165"/>
                  </a:ext>
                </a:extLst>
              </a:tr>
              <a:tr h="0">
                <a:tc>
                  <a:txBody>
                    <a:bodyPr/>
                    <a:lstStyle/>
                    <a:p>
                      <a:r>
                        <a:rPr lang="es-CO" sz="1600"/>
                        <a:t>Biblioteca estándar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math, </a:t>
                      </a:r>
                      <a:r>
                        <a:rPr lang="es-CO" sz="1400" dirty="0" err="1">
                          <a:latin typeface="Consolas" panose="020B0609020204030204" pitchFamily="49" charset="0"/>
                        </a:rPr>
                        <a:t>random</a:t>
                      </a:r>
                      <a:endParaRPr lang="es-CO" sz="14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Sí, con </a:t>
                      </a:r>
                      <a:r>
                        <a:rPr lang="es-MX" sz="1400" dirty="0">
                          <a:latin typeface="Consolas" panose="020B0609020204030204" pitchFamily="49" charset="0"/>
                        </a:rPr>
                        <a:t>import</a:t>
                      </a:r>
                      <a:r>
                        <a:rPr lang="es-MX" sz="1600" dirty="0"/>
                        <a:t>; se incluyen con Python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28262315"/>
                  </a:ext>
                </a:extLst>
              </a:tr>
              <a:tr h="0">
                <a:tc>
                  <a:txBody>
                    <a:bodyPr/>
                    <a:lstStyle/>
                    <a:p>
                      <a:r>
                        <a:rPr lang="es-CO" sz="1600"/>
                        <a:t>Paquetes externos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numpy, matplotlib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Sí, y además deben instalarse (Anaconda ya los incluye)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9518553"/>
                  </a:ext>
                </a:extLst>
              </a:tr>
            </a:tbl>
          </a:graphicData>
        </a:graphic>
      </p:graphicFrame>
    </p:spTree>
    <p:extLst>
      <p:ext uri="{BB962C8B-B14F-4D97-AF65-F5344CB8AC3E}">
        <p14:creationId xmlns:p14="http://schemas.microsoft.com/office/powerpoint/2010/main" val="26122587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Modulo </a:t>
            </a:r>
            <a:r>
              <a:rPr lang="es-MX" sz="3200" dirty="0">
                <a:latin typeface="Consolas" panose="020B0609020204030204" pitchFamily="49" charset="0"/>
              </a:rPr>
              <a:t>math</a:t>
            </a:r>
          </a:p>
        </p:txBody>
      </p:sp>
      <p:sp>
        <p:nvSpPr>
          <p:cNvPr id="13" name="12 Rectángulo"/>
          <p:cNvSpPr/>
          <p:nvPr/>
        </p:nvSpPr>
        <p:spPr>
          <a:xfrm>
            <a:off x="144639" y="764704"/>
            <a:ext cx="8835218" cy="5940088"/>
          </a:xfrm>
          <a:prstGeom prst="rect">
            <a:avLst/>
          </a:prstGeom>
        </p:spPr>
        <p:txBody>
          <a:bodyPr wrap="square">
            <a:spAutoFit/>
          </a:bodyPr>
          <a:lstStyle/>
          <a:p>
            <a:pPr marL="342900" indent="-342900" rtl="0">
              <a:buFont typeface="Arial" panose="020B0604020202020204" pitchFamily="34" charset="0"/>
              <a:buChar char="•"/>
            </a:pPr>
            <a:r>
              <a:rPr lang="es-MX" sz="2000" dirty="0"/>
              <a:t>El módulo math reúne funciones y constantes matemáticas de uso frecuente.</a:t>
            </a:r>
          </a:p>
          <a:p>
            <a:pPr marL="342900" indent="-342900" rtl="0">
              <a:buFont typeface="Arial" panose="020B0604020202020204" pitchFamily="34" charset="0"/>
              <a:buChar char="•"/>
            </a:pPr>
            <a:r>
              <a:rPr lang="es-MX" sz="2000" dirty="0"/>
              <a:t>Para utilizarlo se escribe import math al inicio del programa, y cada función se invoca con el prefijo math.</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es-MX" sz="2000" b="1" dirty="0"/>
              <a:t>Para consultar el módulo completo</a:t>
            </a:r>
            <a:r>
              <a:rPr lang="es-MX" sz="2000" dirty="0"/>
              <a:t>: </a:t>
            </a:r>
            <a:r>
              <a:rPr lang="es-MX" b="1" dirty="0">
                <a:latin typeface="Consolas" panose="020B0609020204030204" pitchFamily="49" charset="0"/>
              </a:rPr>
              <a:t>help(math)</a:t>
            </a:r>
            <a:r>
              <a:rPr lang="es-MX" sz="2000" dirty="0"/>
              <a:t> o la documentación oficial en español: </a:t>
            </a:r>
            <a:r>
              <a:rPr lang="es-MX" sz="2000" dirty="0">
                <a:hlinkClick r:id="rId2"/>
              </a:rPr>
              <a:t>https://docs.python.org/es/3/library/math.html</a:t>
            </a:r>
            <a:r>
              <a:rPr lang="es-MX" sz="2000" dirty="0"/>
              <a:t> </a:t>
            </a:r>
          </a:p>
        </p:txBody>
      </p:sp>
      <p:sp>
        <p:nvSpPr>
          <p:cNvPr id="11" name="CuadroTexto 10">
            <a:extLst>
              <a:ext uri="{FF2B5EF4-FFF2-40B4-BE49-F238E27FC236}">
                <a16:creationId xmlns:a16="http://schemas.microsoft.com/office/drawing/2014/main" id="{2F938FF1-6A0E-4201-A72E-E3484D4BFCD8}"/>
              </a:ext>
            </a:extLst>
          </p:cNvPr>
          <p:cNvSpPr txBox="1"/>
          <p:nvPr/>
        </p:nvSpPr>
        <p:spPr>
          <a:xfrm>
            <a:off x="420620" y="5157192"/>
            <a:ext cx="8395093" cy="646331"/>
          </a:xfrm>
          <a:prstGeom prst="rect">
            <a:avLst/>
          </a:prstGeom>
          <a:solidFill>
            <a:schemeClr val="accent2">
              <a:lumMod val="20000"/>
              <a:lumOff val="80000"/>
            </a:schemeClr>
          </a:solidFill>
        </p:spPr>
        <p:txBody>
          <a:bodyPr wrap="square">
            <a:spAutoFit/>
          </a:bodyPr>
          <a:lstStyle/>
          <a:p>
            <a:r>
              <a:rPr lang="es-MX" b="1" dirty="0"/>
              <a:t>Tip</a:t>
            </a:r>
            <a:r>
              <a:rPr lang="es-MX" dirty="0"/>
              <a:t>: Antes de escribir una función matemática, conviene revisar si ya existe en </a:t>
            </a:r>
            <a:r>
              <a:rPr lang="es-MX" sz="1600" b="1" dirty="0">
                <a:latin typeface="Consolas" panose="020B0609020204030204" pitchFamily="49" charset="0"/>
              </a:rPr>
              <a:t>math</a:t>
            </a:r>
            <a:r>
              <a:rPr lang="es-MX" dirty="0"/>
              <a:t>. Si existe, ya está escrita y probada.</a:t>
            </a:r>
          </a:p>
        </p:txBody>
      </p:sp>
      <p:graphicFrame>
        <p:nvGraphicFramePr>
          <p:cNvPr id="7" name="Tabla 6">
            <a:extLst>
              <a:ext uri="{FF2B5EF4-FFF2-40B4-BE49-F238E27FC236}">
                <a16:creationId xmlns:a16="http://schemas.microsoft.com/office/drawing/2014/main" id="{C9161D54-A33D-4B4C-AB4D-3586D6B8A937}"/>
              </a:ext>
            </a:extLst>
          </p:cNvPr>
          <p:cNvGraphicFramePr>
            <a:graphicFrameLocks noGrp="1"/>
          </p:cNvGraphicFramePr>
          <p:nvPr>
            <p:extLst>
              <p:ext uri="{D42A27DB-BD31-4B8C-83A1-F6EECF244321}">
                <p14:modId xmlns:p14="http://schemas.microsoft.com/office/powerpoint/2010/main" val="3625117818"/>
              </p:ext>
            </p:extLst>
          </p:nvPr>
        </p:nvGraphicFramePr>
        <p:xfrm>
          <a:off x="389108" y="1977600"/>
          <a:ext cx="8426606" cy="2963568"/>
        </p:xfrm>
        <a:graphic>
          <a:graphicData uri="http://schemas.openxmlformats.org/drawingml/2006/table">
            <a:tbl>
              <a:tblPr/>
              <a:tblGrid>
                <a:gridCol w="1875577">
                  <a:extLst>
                    <a:ext uri="{9D8B030D-6E8A-4147-A177-3AD203B41FA5}">
                      <a16:colId xmlns:a16="http://schemas.microsoft.com/office/drawing/2014/main" val="366241499"/>
                    </a:ext>
                  </a:extLst>
                </a:gridCol>
                <a:gridCol w="2811195">
                  <a:extLst>
                    <a:ext uri="{9D8B030D-6E8A-4147-A177-3AD203B41FA5}">
                      <a16:colId xmlns:a16="http://schemas.microsoft.com/office/drawing/2014/main" val="4014089571"/>
                    </a:ext>
                  </a:extLst>
                </a:gridCol>
                <a:gridCol w="1863199">
                  <a:extLst>
                    <a:ext uri="{9D8B030D-6E8A-4147-A177-3AD203B41FA5}">
                      <a16:colId xmlns:a16="http://schemas.microsoft.com/office/drawing/2014/main" val="3146445340"/>
                    </a:ext>
                  </a:extLst>
                </a:gridCol>
                <a:gridCol w="1876635">
                  <a:extLst>
                    <a:ext uri="{9D8B030D-6E8A-4147-A177-3AD203B41FA5}">
                      <a16:colId xmlns:a16="http://schemas.microsoft.com/office/drawing/2014/main" val="2212408144"/>
                    </a:ext>
                  </a:extLst>
                </a:gridCol>
              </a:tblGrid>
              <a:tr h="177935">
                <a:tc>
                  <a:txBody>
                    <a:bodyPr/>
                    <a:lstStyle/>
                    <a:p>
                      <a:r>
                        <a:rPr lang="es-CO" sz="1600" b="1" dirty="0"/>
                        <a:t>Función / constante</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Descripción</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Ejemplo</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Resultado</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4216505137"/>
                  </a:ext>
                </a:extLst>
              </a:tr>
              <a:tr h="177935">
                <a:tc>
                  <a:txBody>
                    <a:bodyPr/>
                    <a:lstStyle/>
                    <a:p>
                      <a:r>
                        <a:rPr lang="es-CO" sz="1400" dirty="0" err="1">
                          <a:latin typeface="Consolas" panose="020B0609020204030204" pitchFamily="49" charset="0"/>
                        </a:rPr>
                        <a:t>math.sqrt</a:t>
                      </a:r>
                      <a:r>
                        <a:rPr lang="es-CO" sz="1400" dirty="0">
                          <a:latin typeface="Consolas" panose="020B0609020204030204" pitchFamily="49" charset="0"/>
                        </a:rPr>
                        <a:t>(x)</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Retorna la raíz cuadrada de x</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math.sqrt</a:t>
                      </a:r>
                      <a:r>
                        <a:rPr lang="es-CO" sz="1400" dirty="0">
                          <a:latin typeface="Consolas" panose="020B0609020204030204" pitchFamily="49" charset="0"/>
                        </a:rPr>
                        <a:t>(16)</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4.0</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3514493"/>
                  </a:ext>
                </a:extLst>
              </a:tr>
              <a:tr h="290323">
                <a:tc>
                  <a:txBody>
                    <a:bodyPr/>
                    <a:lstStyle/>
                    <a:p>
                      <a:r>
                        <a:rPr lang="es-CO" sz="1400" dirty="0" err="1">
                          <a:latin typeface="Consolas" panose="020B0609020204030204" pitchFamily="49" charset="0"/>
                        </a:rPr>
                        <a:t>math.pow</a:t>
                      </a:r>
                      <a:r>
                        <a:rPr lang="es-CO" sz="1400" dirty="0">
                          <a:latin typeface="Consolas" panose="020B0609020204030204" pitchFamily="49" charset="0"/>
                        </a:rPr>
                        <a:t>(x, y)</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Retorna x elevado a la y (resultado decimal)</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math.pow</a:t>
                      </a:r>
                      <a:r>
                        <a:rPr lang="es-CO" sz="1400" dirty="0">
                          <a:latin typeface="Consolas" panose="020B0609020204030204" pitchFamily="49" charset="0"/>
                        </a:rPr>
                        <a:t>(2, 10)</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1024.0</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9983985"/>
                  </a:ext>
                </a:extLst>
              </a:tr>
              <a:tr h="258871">
                <a:tc>
                  <a:txBody>
                    <a:bodyPr/>
                    <a:lstStyle/>
                    <a:p>
                      <a:r>
                        <a:rPr lang="es-CO" sz="1400" dirty="0" err="1">
                          <a:latin typeface="Consolas" panose="020B0609020204030204" pitchFamily="49" charset="0"/>
                        </a:rPr>
                        <a:t>math.factorial</a:t>
                      </a:r>
                      <a:r>
                        <a:rPr lang="es-CO" sz="1400" dirty="0">
                          <a:latin typeface="Consolas" panose="020B0609020204030204" pitchFamily="49" charset="0"/>
                        </a:rPr>
                        <a:t>(n)</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600" dirty="0"/>
                        <a:t>Retorna </a:t>
                      </a:r>
                      <a:r>
                        <a:rPr lang="pt-BR" sz="1600" dirty="0" err="1"/>
                        <a:t>el</a:t>
                      </a:r>
                      <a:r>
                        <a:rPr lang="pt-BR" sz="1600" dirty="0"/>
                        <a:t> </a:t>
                      </a:r>
                      <a:r>
                        <a:rPr lang="pt-BR" sz="1600" dirty="0" err="1"/>
                        <a:t>factorial</a:t>
                      </a:r>
                      <a:r>
                        <a:rPr lang="pt-BR" sz="1600" dirty="0"/>
                        <a:t> de n</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math.factorial</a:t>
                      </a:r>
                      <a:r>
                        <a:rPr lang="es-CO" sz="1400" dirty="0">
                          <a:latin typeface="Consolas" panose="020B0609020204030204" pitchFamily="49" charset="0"/>
                        </a:rPr>
                        <a:t>(5)</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120</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5483439"/>
                  </a:ext>
                </a:extLst>
              </a:tr>
              <a:tr h="290323">
                <a:tc>
                  <a:txBody>
                    <a:bodyPr/>
                    <a:lstStyle/>
                    <a:p>
                      <a:r>
                        <a:rPr lang="fi-FI" sz="1400" dirty="0">
                          <a:latin typeface="Consolas" panose="020B0609020204030204" pitchFamily="49" charset="0"/>
                        </a:rPr>
                        <a:t>math.sin(x), </a:t>
                      </a:r>
                    </a:p>
                    <a:p>
                      <a:r>
                        <a:rPr lang="fi-FI" sz="1400" dirty="0">
                          <a:latin typeface="Consolas" panose="020B0609020204030204" pitchFamily="49" charset="0"/>
                        </a:rPr>
                        <a:t>math.cos(x)</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Retornan el seno y el coseno de x; x en </a:t>
                      </a:r>
                      <a:r>
                        <a:rPr lang="es-MX" sz="1600" b="1" dirty="0"/>
                        <a:t>radianes</a:t>
                      </a:r>
                      <a:endParaRPr lang="es-MX" sz="1600" dirty="0"/>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math.cos</a:t>
                      </a:r>
                      <a:r>
                        <a:rPr lang="es-CO" sz="1400" dirty="0">
                          <a:latin typeface="Consolas" panose="020B0609020204030204" pitchFamily="49" charset="0"/>
                        </a:rPr>
                        <a:t>(0)</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1.0</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3005808"/>
                  </a:ext>
                </a:extLst>
              </a:tr>
              <a:tr h="290323">
                <a:tc>
                  <a:txBody>
                    <a:bodyPr/>
                    <a:lstStyle/>
                    <a:p>
                      <a:r>
                        <a:rPr lang="es-CO" sz="1400" dirty="0" err="1">
                          <a:latin typeface="Consolas" panose="020B0609020204030204" pitchFamily="49" charset="0"/>
                        </a:rPr>
                        <a:t>math.radians</a:t>
                      </a:r>
                      <a:r>
                        <a:rPr lang="es-CO" sz="1400" dirty="0">
                          <a:latin typeface="Consolas" panose="020B0609020204030204" pitchFamily="49" charset="0"/>
                        </a:rPr>
                        <a:t>(g)</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Convierte un ángulo de grados a radianes</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math.radians</a:t>
                      </a:r>
                      <a:r>
                        <a:rPr lang="es-CO" sz="1400" dirty="0">
                          <a:latin typeface="Consolas" panose="020B0609020204030204" pitchFamily="49" charset="0"/>
                        </a:rPr>
                        <a:t>(180)</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3.141592653589793</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05594604"/>
                  </a:ext>
                </a:extLst>
              </a:tr>
              <a:tr h="177935">
                <a:tc>
                  <a:txBody>
                    <a:bodyPr/>
                    <a:lstStyle/>
                    <a:p>
                      <a:r>
                        <a:rPr lang="es-CO" sz="1400" dirty="0" err="1">
                          <a:latin typeface="Consolas" panose="020B0609020204030204" pitchFamily="49" charset="0"/>
                        </a:rPr>
                        <a:t>math.pi</a:t>
                      </a:r>
                      <a:r>
                        <a:rPr lang="es-CO" sz="1400" dirty="0">
                          <a:latin typeface="Consolas" panose="020B0609020204030204" pitchFamily="49" charset="0"/>
                        </a:rPr>
                        <a:t>, </a:t>
                      </a:r>
                      <a:r>
                        <a:rPr lang="es-CO" sz="1400" dirty="0" err="1">
                          <a:latin typeface="Consolas" panose="020B0609020204030204" pitchFamily="49" charset="0"/>
                        </a:rPr>
                        <a:t>math.e</a:t>
                      </a:r>
                      <a:endParaRPr lang="es-CO" sz="1400" dirty="0">
                        <a:latin typeface="Consolas" panose="020B0609020204030204" pitchFamily="49" charset="0"/>
                      </a:endParaRP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Constantes </a:t>
                      </a:r>
                      <a:r>
                        <a:rPr lang="el-GR" sz="1600"/>
                        <a:t>π </a:t>
                      </a:r>
                      <a:r>
                        <a:rPr lang="es-CO" sz="1600"/>
                        <a:t>y </a:t>
                      </a:r>
                      <a:r>
                        <a:rPr lang="es-CO" sz="1600" i="1"/>
                        <a:t>e</a:t>
                      </a:r>
                      <a:endParaRPr lang="es-CO" sz="1600"/>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math.pi</a:t>
                      </a:r>
                      <a:endParaRPr lang="es-CO" sz="1400" dirty="0">
                        <a:latin typeface="Consolas" panose="020B0609020204030204" pitchFamily="49" charset="0"/>
                      </a:endParaRP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a:latin typeface="Consolas" panose="020B0609020204030204" pitchFamily="49" charset="0"/>
                        </a:rPr>
                        <a:t>3.141592653589793</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4291993"/>
                  </a:ext>
                </a:extLst>
              </a:tr>
            </a:tbl>
          </a:graphicData>
        </a:graphic>
      </p:graphicFrame>
    </p:spTree>
    <p:extLst>
      <p:ext uri="{BB962C8B-B14F-4D97-AF65-F5344CB8AC3E}">
        <p14:creationId xmlns:p14="http://schemas.microsoft.com/office/powerpoint/2010/main" val="106189642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Función propia frente a función de librería</a:t>
            </a:r>
            <a:endParaRPr lang="es-MX" sz="3200" dirty="0">
              <a:latin typeface="Consolas" panose="020B0609020204030204" pitchFamily="49" charset="0"/>
            </a:endParaRPr>
          </a:p>
        </p:txBody>
      </p:sp>
      <p:sp>
        <p:nvSpPr>
          <p:cNvPr id="13" name="12 Rectángulo"/>
          <p:cNvSpPr/>
          <p:nvPr/>
        </p:nvSpPr>
        <p:spPr>
          <a:xfrm>
            <a:off x="144639" y="764704"/>
            <a:ext cx="8835218" cy="5940088"/>
          </a:xfrm>
          <a:prstGeom prst="rect">
            <a:avLst/>
          </a:prstGeom>
        </p:spPr>
        <p:txBody>
          <a:bodyPr wrap="square">
            <a:spAutoFit/>
          </a:bodyPr>
          <a:lstStyle/>
          <a:p>
            <a:pPr marL="342900" indent="-342900" rtl="0">
              <a:buFont typeface="Arial" panose="020B0604020202020204" pitchFamily="34" charset="0"/>
              <a:buChar char="•"/>
            </a:pPr>
            <a:r>
              <a:rPr lang="es-MX" sz="2000" dirty="0"/>
              <a:t>Anteriormente se escribió la función </a:t>
            </a:r>
            <a:r>
              <a:rPr lang="es-MX" b="1" dirty="0">
                <a:latin typeface="Consolas" panose="020B0609020204030204" pitchFamily="49" charset="0"/>
              </a:rPr>
              <a:t>seno(x, n)</a:t>
            </a:r>
            <a:r>
              <a:rPr lang="es-MX" sz="2000" b="1" dirty="0"/>
              <a:t> </a:t>
            </a:r>
            <a:r>
              <a:rPr lang="es-MX" sz="2000" dirty="0"/>
              <a:t>mediante la serie de Taylor.</a:t>
            </a:r>
          </a:p>
          <a:p>
            <a:pPr marL="342900" indent="-342900" rtl="0">
              <a:buFont typeface="Arial" panose="020B0604020202020204" pitchFamily="34" charset="0"/>
              <a:buChar char="•"/>
            </a:pPr>
            <a:r>
              <a:rPr lang="es-MX" sz="2000" dirty="0"/>
              <a:t>El módulo math ofrece una función equivalente: </a:t>
            </a:r>
            <a:r>
              <a:rPr lang="es-MX" b="1" dirty="0" err="1">
                <a:latin typeface="Consolas" panose="020B0609020204030204" pitchFamily="49" charset="0"/>
              </a:rPr>
              <a:t>math.sin</a:t>
            </a:r>
            <a:r>
              <a:rPr lang="es-MX" b="1" dirty="0">
                <a:latin typeface="Consolas" panose="020B0609020204030204" pitchFamily="49" charset="0"/>
              </a:rPr>
              <a:t>(x)</a:t>
            </a:r>
            <a:r>
              <a:rPr lang="es-MX" sz="2000" dirty="0"/>
              <a:t>.</a:t>
            </a:r>
          </a:p>
          <a:p>
            <a:pPr marL="342900" indent="-342900" rtl="0">
              <a:buFont typeface="Arial" panose="020B0604020202020204" pitchFamily="34" charset="0"/>
              <a:buChar char="•"/>
            </a:pPr>
            <a:r>
              <a:rPr lang="es-MX" sz="2000" dirty="0"/>
              <a:t>¿Producen el mismo resultado?</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rtl="0"/>
            <a:r>
              <a:rPr lang="es-MX" sz="2000" b="1" dirty="0"/>
              <a:t>Salida en pantalla</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es-MX" sz="2000" dirty="0"/>
              <a:t>Ambas funciones producen el mismo resultado. La función de librería ya está escrita y probada, lo cual ahorra trabajo.</a:t>
            </a:r>
          </a:p>
          <a:p>
            <a:pPr marL="342900" indent="-342900" rtl="0">
              <a:buFont typeface="Arial" panose="020B0604020202020204" pitchFamily="34" charset="0"/>
              <a:buChar char="•"/>
            </a:pPr>
            <a:r>
              <a:rPr lang="es-MX" sz="2000" b="1" dirty="0"/>
              <a:t>¿Para qué se escribió entonces la función seno?</a:t>
            </a:r>
            <a:r>
              <a:rPr lang="es-MX" sz="2000" dirty="0"/>
              <a:t> Para comprender su funcionamiento interno. En un programa real se recomienda utilizar </a:t>
            </a:r>
            <a:r>
              <a:rPr lang="es-MX" b="1" dirty="0" err="1">
                <a:latin typeface="Consolas" panose="020B0609020204030204" pitchFamily="49" charset="0"/>
              </a:rPr>
              <a:t>math.sin</a:t>
            </a:r>
            <a:r>
              <a:rPr lang="es-MX" sz="2000" dirty="0"/>
              <a:t>.</a:t>
            </a:r>
          </a:p>
        </p:txBody>
      </p:sp>
      <p:sp>
        <p:nvSpPr>
          <p:cNvPr id="8" name="CuadroTexto 7">
            <a:extLst>
              <a:ext uri="{FF2B5EF4-FFF2-40B4-BE49-F238E27FC236}">
                <a16:creationId xmlns:a16="http://schemas.microsoft.com/office/drawing/2014/main" id="{5A2A1247-51AC-4DBF-95B7-BDDCB5AB1435}"/>
              </a:ext>
            </a:extLst>
          </p:cNvPr>
          <p:cNvSpPr txBox="1"/>
          <p:nvPr/>
        </p:nvSpPr>
        <p:spPr>
          <a:xfrm>
            <a:off x="683568" y="1844824"/>
            <a:ext cx="7776864" cy="2123658"/>
          </a:xfrm>
          <a:prstGeom prst="rect">
            <a:avLst/>
          </a:prstGeom>
          <a:noFill/>
          <a:ln>
            <a:solidFill>
              <a:schemeClr val="tx1"/>
            </a:solidFill>
          </a:ln>
        </p:spPr>
        <p:txBody>
          <a:bodyPr wrap="square">
            <a:spAutoFit/>
          </a:bodyPr>
          <a:lstStyle/>
          <a:p>
            <a:r>
              <a:rPr lang="es-CO" sz="1200" dirty="0">
                <a:latin typeface="Consolas" panose="020B0609020204030204" pitchFamily="49" charset="0"/>
              </a:rPr>
              <a:t>12  import math</a:t>
            </a:r>
          </a:p>
          <a:p>
            <a:r>
              <a:rPr lang="es-CO" sz="1200" dirty="0">
                <a:latin typeface="Consolas" panose="020B0609020204030204" pitchFamily="49" charset="0"/>
              </a:rPr>
              <a:t>    ...</a:t>
            </a:r>
          </a:p>
          <a:p>
            <a:r>
              <a:rPr lang="es-CO" sz="1200" dirty="0">
                <a:latin typeface="Consolas" panose="020B0609020204030204" pitchFamily="49" charset="0"/>
              </a:rPr>
              <a:t>22  </a:t>
            </a:r>
            <a:r>
              <a:rPr lang="es-CO" sz="1200" dirty="0" err="1">
                <a:latin typeface="Consolas" panose="020B0609020204030204" pitchFamily="49" charset="0"/>
              </a:rPr>
              <a:t>def</a:t>
            </a:r>
            <a:r>
              <a:rPr lang="es-CO" sz="1200" dirty="0">
                <a:latin typeface="Consolas" panose="020B0609020204030204" pitchFamily="49" charset="0"/>
              </a:rPr>
              <a:t> seno(x, n=10):</a:t>
            </a:r>
          </a:p>
          <a:p>
            <a:r>
              <a:rPr lang="es-CO" sz="1200" dirty="0">
                <a:latin typeface="Consolas" panose="020B0609020204030204" pitchFamily="49" charset="0"/>
              </a:rPr>
              <a:t>23      suma = 0</a:t>
            </a:r>
          </a:p>
          <a:p>
            <a:r>
              <a:rPr lang="es-CO" sz="1200" dirty="0">
                <a:latin typeface="Consolas" panose="020B0609020204030204" pitchFamily="49" charset="0"/>
              </a:rPr>
              <a:t>24      </a:t>
            </a:r>
            <a:r>
              <a:rPr lang="es-CO" sz="1200" dirty="0" err="1">
                <a:latin typeface="Consolas" panose="020B0609020204030204" pitchFamily="49" charset="0"/>
              </a:rPr>
              <a:t>for</a:t>
            </a:r>
            <a:r>
              <a:rPr lang="es-CO" sz="1200" dirty="0">
                <a:latin typeface="Consolas" panose="020B0609020204030204" pitchFamily="49" charset="0"/>
              </a:rPr>
              <a:t> k in </a:t>
            </a:r>
            <a:r>
              <a:rPr lang="es-CO" sz="1200" dirty="0" err="1">
                <a:latin typeface="Consolas" panose="020B0609020204030204" pitchFamily="49" charset="0"/>
              </a:rPr>
              <a:t>range</a:t>
            </a:r>
            <a:r>
              <a:rPr lang="es-CO" sz="1200" dirty="0">
                <a:latin typeface="Consolas" panose="020B0609020204030204" pitchFamily="49" charset="0"/>
              </a:rPr>
              <a:t>(n):</a:t>
            </a:r>
          </a:p>
          <a:p>
            <a:r>
              <a:rPr lang="es-CO" sz="1200" dirty="0">
                <a:latin typeface="Consolas" panose="020B0609020204030204" pitchFamily="49" charset="0"/>
              </a:rPr>
              <a:t>25          suma = suma + (-1)**k * x**(2*k + 1) / factorial(2*k + 1)</a:t>
            </a:r>
          </a:p>
          <a:p>
            <a:r>
              <a:rPr lang="es-CO" sz="1200" dirty="0">
                <a:latin typeface="Consolas" panose="020B0609020204030204" pitchFamily="49" charset="0"/>
              </a:rPr>
              <a:t>26      </a:t>
            </a:r>
            <a:r>
              <a:rPr lang="es-CO" sz="1200" dirty="0" err="1">
                <a:latin typeface="Consolas" panose="020B0609020204030204" pitchFamily="49" charset="0"/>
              </a:rPr>
              <a:t>return</a:t>
            </a:r>
            <a:r>
              <a:rPr lang="es-CO" sz="1200" dirty="0">
                <a:latin typeface="Consolas" panose="020B0609020204030204" pitchFamily="49" charset="0"/>
              </a:rPr>
              <a:t> suma</a:t>
            </a:r>
          </a:p>
          <a:p>
            <a:r>
              <a:rPr lang="es-CO" sz="1200" dirty="0">
                <a:latin typeface="Consolas" panose="020B0609020204030204" pitchFamily="49" charset="0"/>
              </a:rPr>
              <a:t>    ...</a:t>
            </a:r>
          </a:p>
          <a:p>
            <a:r>
              <a:rPr lang="es-CO" sz="1200" dirty="0">
                <a:latin typeface="Consolas" panose="020B0609020204030204" pitchFamily="49" charset="0"/>
              </a:rPr>
              <a:t>34  x = 1.0</a:t>
            </a:r>
          </a:p>
          <a:p>
            <a:r>
              <a:rPr lang="es-CO" sz="1200" dirty="0">
                <a:latin typeface="Consolas" panose="020B0609020204030204" pitchFamily="49" charset="0"/>
              </a:rPr>
              <a:t>35  print("</a:t>
            </a:r>
            <a:r>
              <a:rPr lang="es-CO" sz="1200" dirty="0" err="1">
                <a:latin typeface="Consolas" panose="020B0609020204030204" pitchFamily="49" charset="0"/>
              </a:rPr>
              <a:t>Funcion</a:t>
            </a:r>
            <a:r>
              <a:rPr lang="es-CO" sz="1200" dirty="0">
                <a:latin typeface="Consolas" panose="020B0609020204030204" pitchFamily="49" charset="0"/>
              </a:rPr>
              <a:t> propia:  seno(1.0)     =", seno(x))</a:t>
            </a:r>
          </a:p>
          <a:p>
            <a:r>
              <a:rPr lang="es-CO" sz="1200" dirty="0">
                <a:latin typeface="Consolas" panose="020B0609020204030204" pitchFamily="49" charset="0"/>
              </a:rPr>
              <a:t>36  print("</a:t>
            </a:r>
            <a:r>
              <a:rPr lang="es-CO" sz="1200" dirty="0" err="1">
                <a:latin typeface="Consolas" panose="020B0609020204030204" pitchFamily="49" charset="0"/>
              </a:rPr>
              <a:t>Libreria</a:t>
            </a:r>
            <a:r>
              <a:rPr lang="es-CO" sz="1200" dirty="0">
                <a:latin typeface="Consolas" panose="020B0609020204030204" pitchFamily="49" charset="0"/>
              </a:rPr>
              <a:t> math:   </a:t>
            </a:r>
            <a:r>
              <a:rPr lang="es-CO" sz="1200" dirty="0" err="1">
                <a:latin typeface="Consolas" panose="020B0609020204030204" pitchFamily="49" charset="0"/>
              </a:rPr>
              <a:t>math.sin</a:t>
            </a:r>
            <a:r>
              <a:rPr lang="es-CO" sz="1200" dirty="0">
                <a:latin typeface="Consolas" panose="020B0609020204030204" pitchFamily="49" charset="0"/>
              </a:rPr>
              <a:t>(1.0) =", </a:t>
            </a:r>
            <a:r>
              <a:rPr lang="es-CO" sz="1200" dirty="0" err="1">
                <a:latin typeface="Consolas" panose="020B0609020204030204" pitchFamily="49" charset="0"/>
              </a:rPr>
              <a:t>math.sin</a:t>
            </a:r>
            <a:r>
              <a:rPr lang="es-CO" sz="1200" dirty="0">
                <a:latin typeface="Consolas" panose="020B0609020204030204" pitchFamily="49" charset="0"/>
              </a:rPr>
              <a:t>(x))</a:t>
            </a:r>
          </a:p>
        </p:txBody>
      </p:sp>
      <p:sp>
        <p:nvSpPr>
          <p:cNvPr id="12" name="CuadroTexto 11">
            <a:extLst>
              <a:ext uri="{FF2B5EF4-FFF2-40B4-BE49-F238E27FC236}">
                <a16:creationId xmlns:a16="http://schemas.microsoft.com/office/drawing/2014/main" id="{B6553C42-1096-4681-877D-11CA717DB4FA}"/>
              </a:ext>
            </a:extLst>
          </p:cNvPr>
          <p:cNvSpPr txBox="1"/>
          <p:nvPr/>
        </p:nvSpPr>
        <p:spPr>
          <a:xfrm>
            <a:off x="683568" y="4644139"/>
            <a:ext cx="7776864" cy="461665"/>
          </a:xfrm>
          <a:prstGeom prst="rect">
            <a:avLst/>
          </a:prstGeom>
          <a:noFill/>
          <a:ln>
            <a:solidFill>
              <a:schemeClr val="tx1"/>
            </a:solidFill>
          </a:ln>
        </p:spPr>
        <p:txBody>
          <a:bodyPr wrap="square">
            <a:spAutoFit/>
          </a:bodyPr>
          <a:lstStyle/>
          <a:p>
            <a:r>
              <a:rPr lang="es-CO" sz="1200" dirty="0" err="1">
                <a:latin typeface="Consolas" panose="020B0609020204030204" pitchFamily="49" charset="0"/>
              </a:rPr>
              <a:t>Funcion</a:t>
            </a:r>
            <a:r>
              <a:rPr lang="es-CO" sz="1200" dirty="0">
                <a:latin typeface="Consolas" panose="020B0609020204030204" pitchFamily="49" charset="0"/>
              </a:rPr>
              <a:t> propia:  seno(1.0)     = 0.8414709848078965</a:t>
            </a:r>
          </a:p>
          <a:p>
            <a:r>
              <a:rPr lang="es-CO" sz="1200" dirty="0" err="1">
                <a:latin typeface="Consolas" panose="020B0609020204030204" pitchFamily="49" charset="0"/>
              </a:rPr>
              <a:t>Libreria</a:t>
            </a:r>
            <a:r>
              <a:rPr lang="es-CO" sz="1200" dirty="0">
                <a:latin typeface="Consolas" panose="020B0609020204030204" pitchFamily="49" charset="0"/>
              </a:rPr>
              <a:t> math:   </a:t>
            </a:r>
            <a:r>
              <a:rPr lang="es-CO" sz="1200" dirty="0" err="1">
                <a:latin typeface="Consolas" panose="020B0609020204030204" pitchFamily="49" charset="0"/>
              </a:rPr>
              <a:t>math.sin</a:t>
            </a:r>
            <a:r>
              <a:rPr lang="es-CO" sz="1200" dirty="0">
                <a:latin typeface="Consolas" panose="020B0609020204030204" pitchFamily="49" charset="0"/>
              </a:rPr>
              <a:t>(1.0) = 0.8414709848078965</a:t>
            </a:r>
          </a:p>
        </p:txBody>
      </p:sp>
    </p:spTree>
    <p:extLst>
      <p:ext uri="{BB962C8B-B14F-4D97-AF65-F5344CB8AC3E}">
        <p14:creationId xmlns:p14="http://schemas.microsoft.com/office/powerpoint/2010/main" val="106132672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Formas de importar</a:t>
            </a:r>
            <a:endParaRPr lang="es-MX" sz="3200" dirty="0">
              <a:latin typeface="Consolas" panose="020B0609020204030204" pitchFamily="49" charset="0"/>
            </a:endParaRPr>
          </a:p>
        </p:txBody>
      </p:sp>
      <p:sp>
        <p:nvSpPr>
          <p:cNvPr id="13" name="12 Rectángulo"/>
          <p:cNvSpPr/>
          <p:nvPr/>
        </p:nvSpPr>
        <p:spPr>
          <a:xfrm>
            <a:off x="144639" y="764704"/>
            <a:ext cx="8835218" cy="5324535"/>
          </a:xfrm>
          <a:prstGeom prst="rect">
            <a:avLst/>
          </a:prstGeom>
        </p:spPr>
        <p:txBody>
          <a:bodyPr wrap="square">
            <a:spAutoFit/>
          </a:bodyPr>
          <a:lstStyle/>
          <a:p>
            <a:pPr marL="342900" indent="-342900" rtl="0">
              <a:buFont typeface="Arial" panose="020B0604020202020204" pitchFamily="34" charset="0"/>
              <a:buChar char="•"/>
            </a:pPr>
            <a:r>
              <a:rPr lang="es-MX" sz="2000" dirty="0"/>
              <a:t>Un módulo puede importarse de varias formas. La elección afecta la manera de invocar sus funciones.</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rtl="0"/>
            <a:endParaRPr lang="es-MX" sz="2000" dirty="0"/>
          </a:p>
          <a:p>
            <a:pPr rtl="0"/>
            <a:r>
              <a:rPr lang="es-MX" sz="2000" b="1" dirty="0"/>
              <a:t>Ejemplo del riesgo de usar </a:t>
            </a:r>
            <a:r>
              <a:rPr lang="es-MX" sz="2000" b="1" dirty="0">
                <a:latin typeface="Consolas" panose="020B0609020204030204" pitchFamily="49" charset="0"/>
              </a:rPr>
              <a:t>*</a:t>
            </a:r>
            <a:r>
              <a:rPr lang="es-MX" sz="2000" dirty="0"/>
              <a:t>:</a:t>
            </a:r>
          </a:p>
          <a:p>
            <a:pPr rtl="0"/>
            <a:endParaRPr lang="es-MX" sz="2000" dirty="0"/>
          </a:p>
          <a:p>
            <a:pPr rtl="0"/>
            <a:endParaRPr lang="es-MX" sz="2000" dirty="0"/>
          </a:p>
          <a:p>
            <a:pPr rtl="0"/>
            <a:endParaRPr lang="es-MX" sz="2000" dirty="0"/>
          </a:p>
          <a:p>
            <a:pPr rtl="0"/>
            <a:endParaRPr lang="es-MX" sz="2000" dirty="0"/>
          </a:p>
          <a:p>
            <a:pPr rtl="0"/>
            <a:endParaRPr lang="es-MX" sz="2000" dirty="0"/>
          </a:p>
        </p:txBody>
      </p:sp>
      <p:sp>
        <p:nvSpPr>
          <p:cNvPr id="12" name="CuadroTexto 11">
            <a:extLst>
              <a:ext uri="{FF2B5EF4-FFF2-40B4-BE49-F238E27FC236}">
                <a16:creationId xmlns:a16="http://schemas.microsoft.com/office/drawing/2014/main" id="{B6553C42-1096-4681-877D-11CA717DB4FA}"/>
              </a:ext>
            </a:extLst>
          </p:cNvPr>
          <p:cNvSpPr txBox="1"/>
          <p:nvPr/>
        </p:nvSpPr>
        <p:spPr>
          <a:xfrm>
            <a:off x="594304" y="4575227"/>
            <a:ext cx="7776864" cy="646331"/>
          </a:xfrm>
          <a:prstGeom prst="rect">
            <a:avLst/>
          </a:prstGeom>
          <a:noFill/>
          <a:ln>
            <a:solidFill>
              <a:schemeClr val="tx1"/>
            </a:solidFill>
          </a:ln>
        </p:spPr>
        <p:txBody>
          <a:bodyPr wrap="square">
            <a:spAutoFit/>
          </a:bodyPr>
          <a:lstStyle/>
          <a:p>
            <a:r>
              <a:rPr lang="es-CO" sz="1200" dirty="0">
                <a:latin typeface="Consolas" panose="020B0609020204030204" pitchFamily="49" charset="0"/>
              </a:rPr>
              <a:t>print(</a:t>
            </a:r>
            <a:r>
              <a:rPr lang="es-CO" sz="1200" dirty="0" err="1">
                <a:latin typeface="Consolas" panose="020B0609020204030204" pitchFamily="49" charset="0"/>
              </a:rPr>
              <a:t>pow</a:t>
            </a:r>
            <a:r>
              <a:rPr lang="es-CO" sz="1200" dirty="0">
                <a:latin typeface="Consolas" panose="020B0609020204030204" pitchFamily="49" charset="0"/>
              </a:rPr>
              <a:t>(2, 3))     # 8      # función integrada </a:t>
            </a:r>
            <a:r>
              <a:rPr lang="es-CO" sz="1200" dirty="0" err="1">
                <a:latin typeface="Consolas" panose="020B0609020204030204" pitchFamily="49" charset="0"/>
              </a:rPr>
              <a:t>pow</a:t>
            </a:r>
            <a:endParaRPr lang="es-CO" sz="1200" dirty="0">
              <a:latin typeface="Consolas" panose="020B0609020204030204" pitchFamily="49" charset="0"/>
            </a:endParaRPr>
          </a:p>
          <a:p>
            <a:r>
              <a:rPr lang="es-CO" sz="1200" dirty="0">
                <a:latin typeface="Consolas" panose="020B0609020204030204" pitchFamily="49" charset="0"/>
              </a:rPr>
              <a:t>from math import *</a:t>
            </a:r>
          </a:p>
          <a:p>
            <a:r>
              <a:rPr lang="es-CO" sz="1200" dirty="0">
                <a:latin typeface="Consolas" panose="020B0609020204030204" pitchFamily="49" charset="0"/>
              </a:rPr>
              <a:t>print(</a:t>
            </a:r>
            <a:r>
              <a:rPr lang="es-CO" sz="1200" dirty="0" err="1">
                <a:latin typeface="Consolas" panose="020B0609020204030204" pitchFamily="49" charset="0"/>
              </a:rPr>
              <a:t>pow</a:t>
            </a:r>
            <a:r>
              <a:rPr lang="es-CO" sz="1200" dirty="0">
                <a:latin typeface="Consolas" panose="020B0609020204030204" pitchFamily="49" charset="0"/>
              </a:rPr>
              <a:t>(2, 3))     # 8.0    # ahora corresponde a </a:t>
            </a:r>
            <a:r>
              <a:rPr lang="es-CO" sz="1200" dirty="0" err="1">
                <a:latin typeface="Consolas" panose="020B0609020204030204" pitchFamily="49" charset="0"/>
              </a:rPr>
              <a:t>math.pow</a:t>
            </a:r>
            <a:r>
              <a:rPr lang="es-CO" sz="1200" dirty="0">
                <a:latin typeface="Consolas" panose="020B0609020204030204" pitchFamily="49" charset="0"/>
              </a:rPr>
              <a:t>, otra función</a:t>
            </a:r>
          </a:p>
        </p:txBody>
      </p:sp>
      <p:graphicFrame>
        <p:nvGraphicFramePr>
          <p:cNvPr id="2" name="Tabla 1">
            <a:extLst>
              <a:ext uri="{FF2B5EF4-FFF2-40B4-BE49-F238E27FC236}">
                <a16:creationId xmlns:a16="http://schemas.microsoft.com/office/drawing/2014/main" id="{E7A7F608-49D2-4AED-828C-EFE5E97EBB17}"/>
              </a:ext>
            </a:extLst>
          </p:cNvPr>
          <p:cNvGraphicFramePr>
            <a:graphicFrameLocks noGrp="1"/>
          </p:cNvGraphicFramePr>
          <p:nvPr>
            <p:extLst>
              <p:ext uri="{D42A27DB-BD31-4B8C-83A1-F6EECF244321}">
                <p14:modId xmlns:p14="http://schemas.microsoft.com/office/powerpoint/2010/main" val="1853902097"/>
              </p:ext>
            </p:extLst>
          </p:nvPr>
        </p:nvGraphicFramePr>
        <p:xfrm>
          <a:off x="594304" y="1539296"/>
          <a:ext cx="8221410" cy="2407920"/>
        </p:xfrm>
        <a:graphic>
          <a:graphicData uri="http://schemas.openxmlformats.org/drawingml/2006/table">
            <a:tbl>
              <a:tblPr/>
              <a:tblGrid>
                <a:gridCol w="2681552">
                  <a:extLst>
                    <a:ext uri="{9D8B030D-6E8A-4147-A177-3AD203B41FA5}">
                      <a16:colId xmlns:a16="http://schemas.microsoft.com/office/drawing/2014/main" val="2713354050"/>
                    </a:ext>
                  </a:extLst>
                </a:gridCol>
                <a:gridCol w="1512168">
                  <a:extLst>
                    <a:ext uri="{9D8B030D-6E8A-4147-A177-3AD203B41FA5}">
                      <a16:colId xmlns:a16="http://schemas.microsoft.com/office/drawing/2014/main" val="3512036864"/>
                    </a:ext>
                  </a:extLst>
                </a:gridCol>
                <a:gridCol w="4027690">
                  <a:extLst>
                    <a:ext uri="{9D8B030D-6E8A-4147-A177-3AD203B41FA5}">
                      <a16:colId xmlns:a16="http://schemas.microsoft.com/office/drawing/2014/main" val="2006434852"/>
                    </a:ext>
                  </a:extLst>
                </a:gridCol>
              </a:tblGrid>
              <a:tr h="0">
                <a:tc>
                  <a:txBody>
                    <a:bodyPr/>
                    <a:lstStyle/>
                    <a:p>
                      <a:r>
                        <a:rPr lang="es-CO" sz="1600" b="1"/>
                        <a:t>Forma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Uso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Recomendación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50687865"/>
                  </a:ext>
                </a:extLst>
              </a:tr>
              <a:tr h="0">
                <a:tc>
                  <a:txBody>
                    <a:bodyPr/>
                    <a:lstStyle/>
                    <a:p>
                      <a:r>
                        <a:rPr lang="es-CO" sz="1400" dirty="0">
                          <a:latin typeface="Consolas" panose="020B0609020204030204" pitchFamily="49" charset="0"/>
                        </a:rPr>
                        <a:t>import math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math.sqrt</a:t>
                      </a:r>
                      <a:r>
                        <a:rPr lang="es-CO" sz="1400" dirty="0">
                          <a:latin typeface="Consolas" panose="020B0609020204030204" pitchFamily="49" charset="0"/>
                        </a:rPr>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b="1" dirty="0"/>
                        <a:t>Recomendada:</a:t>
                      </a:r>
                      <a:r>
                        <a:rPr lang="es-MX" sz="1600" dirty="0"/>
                        <a:t> se identifica el origen de cada función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30284191"/>
                  </a:ext>
                </a:extLst>
              </a:tr>
              <a:tr h="0">
                <a:tc>
                  <a:txBody>
                    <a:bodyPr/>
                    <a:lstStyle/>
                    <a:p>
                      <a:r>
                        <a:rPr lang="en-US" sz="1400" dirty="0">
                          <a:latin typeface="Consolas" panose="020B0609020204030204" pitchFamily="49" charset="0"/>
                        </a:rPr>
                        <a:t>from math import sqrt, pi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sqrt(25)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Útil cuando se usan pocas funciones con frecuencia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5809962"/>
                  </a:ext>
                </a:extLst>
              </a:tr>
              <a:tr h="0">
                <a:tc>
                  <a:txBody>
                    <a:bodyPr/>
                    <a:lstStyle/>
                    <a:p>
                      <a:r>
                        <a:rPr lang="es-CO" sz="1400" dirty="0">
                          <a:latin typeface="Consolas" panose="020B0609020204030204" pitchFamily="49" charset="0"/>
                        </a:rPr>
                        <a:t>import math as 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m.sqrt(25)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Útil para abreviar nombres largos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0031269"/>
                  </a:ext>
                </a:extLst>
              </a:tr>
              <a:tr h="0">
                <a:tc>
                  <a:txBody>
                    <a:bodyPr/>
                    <a:lstStyle/>
                    <a:p>
                      <a:r>
                        <a:rPr lang="es-CO" sz="1400" dirty="0">
                          <a:latin typeface="Consolas" panose="020B0609020204030204" pitchFamily="49" charset="0"/>
                        </a:rPr>
                        <a:t>from math import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dirty="0" err="1">
                          <a:latin typeface="Consolas" panose="020B0609020204030204" pitchFamily="49" charset="0"/>
                        </a:rPr>
                        <a:t>sqrt</a:t>
                      </a:r>
                      <a:r>
                        <a:rPr lang="es-CO" sz="1400" dirty="0">
                          <a:latin typeface="Consolas" panose="020B0609020204030204" pitchFamily="49" charset="0"/>
                        </a:rPr>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a:t>
                      </a:r>
                      <a:r>
                        <a:rPr lang="es-MX" sz="1600" b="1" dirty="0">
                          <a:solidFill>
                            <a:schemeClr val="tx1"/>
                          </a:solidFill>
                        </a:rPr>
                        <a:t>No recomendada:</a:t>
                      </a:r>
                      <a:r>
                        <a:rPr lang="es-MX" sz="1600" dirty="0"/>
                        <a:t> importa todo y puede reemplazar funciones sin advertencia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17674437"/>
                  </a:ext>
                </a:extLst>
              </a:tr>
            </a:tbl>
          </a:graphicData>
        </a:graphic>
      </p:graphicFrame>
      <p:sp>
        <p:nvSpPr>
          <p:cNvPr id="9" name="CuadroTexto 8">
            <a:extLst>
              <a:ext uri="{FF2B5EF4-FFF2-40B4-BE49-F238E27FC236}">
                <a16:creationId xmlns:a16="http://schemas.microsoft.com/office/drawing/2014/main" id="{53D427ED-EB98-4BF3-BAA5-6F9D25D282F0}"/>
              </a:ext>
            </a:extLst>
          </p:cNvPr>
          <p:cNvSpPr txBox="1"/>
          <p:nvPr/>
        </p:nvSpPr>
        <p:spPr>
          <a:xfrm>
            <a:off x="420621" y="5553792"/>
            <a:ext cx="8395093" cy="646331"/>
          </a:xfrm>
          <a:prstGeom prst="rect">
            <a:avLst/>
          </a:prstGeom>
          <a:solidFill>
            <a:schemeClr val="accent2">
              <a:lumMod val="20000"/>
              <a:lumOff val="80000"/>
            </a:schemeClr>
          </a:solidFill>
        </p:spPr>
        <p:txBody>
          <a:bodyPr wrap="square">
            <a:spAutoFit/>
          </a:bodyPr>
          <a:lstStyle/>
          <a:p>
            <a:r>
              <a:rPr lang="es-MX" b="1" dirty="0"/>
              <a:t>Tip</a:t>
            </a:r>
            <a:r>
              <a:rPr lang="es-MX" dirty="0"/>
              <a:t>: Se recomienda </a:t>
            </a:r>
            <a:r>
              <a:rPr lang="es-MX" sz="1600" b="1" dirty="0">
                <a:latin typeface="Consolas" panose="020B0609020204030204" pitchFamily="49" charset="0"/>
              </a:rPr>
              <a:t>import math</a:t>
            </a:r>
            <a:r>
              <a:rPr lang="es-MX" dirty="0"/>
              <a:t>. El prefijo </a:t>
            </a:r>
            <a:r>
              <a:rPr lang="es-MX" sz="1600" b="1" dirty="0">
                <a:latin typeface="Consolas" panose="020B0609020204030204" pitchFamily="49" charset="0"/>
              </a:rPr>
              <a:t>math</a:t>
            </a:r>
            <a:r>
              <a:rPr lang="es-MX" dirty="0"/>
              <a:t> indica de dónde proviene cada función y evita confusiones con funciones del mismo nombre.</a:t>
            </a:r>
          </a:p>
        </p:txBody>
      </p:sp>
    </p:spTree>
    <p:extLst>
      <p:ext uri="{BB962C8B-B14F-4D97-AF65-F5344CB8AC3E}">
        <p14:creationId xmlns:p14="http://schemas.microsoft.com/office/powerpoint/2010/main" val="41404730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¿Cómo consultar una librería?</a:t>
            </a:r>
            <a:endParaRPr lang="es-MX" sz="3200" dirty="0">
              <a:latin typeface="Consolas" panose="020B0609020204030204" pitchFamily="49" charset="0"/>
            </a:endParaRPr>
          </a:p>
        </p:txBody>
      </p:sp>
      <p:sp>
        <p:nvSpPr>
          <p:cNvPr id="13" name="12 Rectángulo"/>
          <p:cNvSpPr/>
          <p:nvPr/>
        </p:nvSpPr>
        <p:spPr>
          <a:xfrm>
            <a:off x="144639" y="764704"/>
            <a:ext cx="8835218" cy="5109091"/>
          </a:xfrm>
          <a:prstGeom prst="rect">
            <a:avLst/>
          </a:prstGeom>
        </p:spPr>
        <p:txBody>
          <a:bodyPr wrap="square">
            <a:spAutoFit/>
          </a:bodyPr>
          <a:lstStyle/>
          <a:p>
            <a:pPr rtl="0"/>
            <a:r>
              <a:rPr lang="es-MX" sz="2000" dirty="0"/>
              <a:t>Para usar una función de librería </a:t>
            </a:r>
            <a:r>
              <a:rPr lang="es-MX" sz="2000" b="1" dirty="0"/>
              <a:t>no es necesario leer su código</a:t>
            </a:r>
            <a:r>
              <a:rPr lang="es-MX" sz="2000" dirty="0"/>
              <a:t>: basta con consultar su </a:t>
            </a:r>
            <a:r>
              <a:rPr lang="es-MX" sz="2000" b="1" dirty="0"/>
              <a:t>especificación</a:t>
            </a:r>
            <a:r>
              <a:rPr lang="es-MX" sz="2000" dirty="0"/>
              <a:t>.</a:t>
            </a:r>
          </a:p>
          <a:p>
            <a:pPr marL="457200" indent="-457200" rtl="0">
              <a:buFont typeface="+mj-lt"/>
              <a:buAutoNum type="arabicPeriod"/>
            </a:pPr>
            <a:r>
              <a:rPr lang="es-MX" sz="2000" b="1" dirty="0"/>
              <a:t>Con</a:t>
            </a:r>
            <a:r>
              <a:rPr lang="es-MX" sz="2000" dirty="0"/>
              <a:t> </a:t>
            </a:r>
            <a:r>
              <a:rPr lang="es-MX" b="1" dirty="0">
                <a:latin typeface="Consolas" panose="020B0609020204030204" pitchFamily="49" charset="0"/>
              </a:rPr>
              <a:t>help()</a:t>
            </a:r>
            <a:r>
              <a:rPr lang="es-MX" sz="2000" b="1" dirty="0"/>
              <a:t>, desde la consola</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800100" lvl="1" indent="-342900">
              <a:buFont typeface="Arial" panose="020B0604020202020204" pitchFamily="34" charset="0"/>
              <a:buChar char="•"/>
            </a:pPr>
            <a:endParaRPr lang="es-MX" sz="1600" dirty="0"/>
          </a:p>
          <a:p>
            <a:pPr marL="800100" lvl="1" indent="-342900">
              <a:buFont typeface="Arial" panose="020B0604020202020204" pitchFamily="34" charset="0"/>
              <a:buChar char="•"/>
            </a:pPr>
            <a:r>
              <a:rPr lang="es-MX" dirty="0"/>
              <a:t>La especificación ya advertía que </a:t>
            </a:r>
            <a:r>
              <a:rPr lang="es-MX" sz="1600" b="1" dirty="0">
                <a:latin typeface="Consolas" panose="020B0609020204030204" pitchFamily="49" charset="0"/>
              </a:rPr>
              <a:t>x</a:t>
            </a:r>
            <a:r>
              <a:rPr lang="es-MX" dirty="0"/>
              <a:t> está en radianes (</a:t>
            </a:r>
            <a:r>
              <a:rPr lang="es-MX" sz="1600" b="1" dirty="0" err="1">
                <a:latin typeface="Consolas" panose="020B0609020204030204" pitchFamily="49" charset="0"/>
              </a:rPr>
              <a:t>measured</a:t>
            </a:r>
            <a:r>
              <a:rPr lang="es-MX" sz="1600" b="1" dirty="0">
                <a:latin typeface="Consolas" panose="020B0609020204030204" pitchFamily="49" charset="0"/>
              </a:rPr>
              <a:t> in </a:t>
            </a:r>
            <a:r>
              <a:rPr lang="es-MX" sz="1600" b="1" dirty="0" err="1">
                <a:latin typeface="Consolas" panose="020B0609020204030204" pitchFamily="49" charset="0"/>
              </a:rPr>
              <a:t>radians</a:t>
            </a:r>
            <a:r>
              <a:rPr lang="es-MX" dirty="0"/>
              <a:t>). Consultar </a:t>
            </a:r>
            <a:r>
              <a:rPr lang="es-MX" sz="1600" b="1" dirty="0">
                <a:latin typeface="Consolas" panose="020B0609020204030204" pitchFamily="49" charset="0"/>
              </a:rPr>
              <a:t>help()</a:t>
            </a:r>
            <a:r>
              <a:rPr lang="es-MX" dirty="0"/>
              <a:t> antes de usar una función evita errores como el de </a:t>
            </a:r>
            <a:r>
              <a:rPr lang="es-MX" sz="1600" dirty="0" err="1">
                <a:latin typeface="Consolas" panose="020B0609020204030204" pitchFamily="49" charset="0"/>
              </a:rPr>
              <a:t>math.sin</a:t>
            </a:r>
            <a:r>
              <a:rPr lang="es-MX" sz="1600" dirty="0">
                <a:latin typeface="Consolas" panose="020B0609020204030204" pitchFamily="49" charset="0"/>
              </a:rPr>
              <a:t>(30)</a:t>
            </a:r>
            <a:r>
              <a:rPr lang="es-MX" dirty="0"/>
              <a:t> al asumir el argumento en grados (30°).</a:t>
            </a:r>
          </a:p>
          <a:p>
            <a:pPr marL="800100" lvl="1" indent="-342900">
              <a:buFont typeface="Arial" panose="020B0604020202020204" pitchFamily="34" charset="0"/>
              <a:buChar char="•"/>
            </a:pPr>
            <a:r>
              <a:rPr lang="es-MX" sz="1600" b="1" dirty="0">
                <a:latin typeface="Consolas" panose="020B0609020204030204" pitchFamily="49" charset="0"/>
              </a:rPr>
              <a:t>help()</a:t>
            </a:r>
            <a:r>
              <a:rPr lang="es-MX" b="1" dirty="0"/>
              <a:t> funciona igual que con las funciones propias</a:t>
            </a:r>
            <a:r>
              <a:rPr lang="es-MX" dirty="0"/>
              <a:t>: la librería también tiene su </a:t>
            </a:r>
            <a:r>
              <a:rPr lang="es-MX" b="1" dirty="0" err="1"/>
              <a:t>docstring</a:t>
            </a:r>
            <a:r>
              <a:rPr lang="es-MX" dirty="0"/>
              <a:t>.</a:t>
            </a:r>
            <a:endParaRPr lang="es-MX" sz="2000" dirty="0"/>
          </a:p>
          <a:p>
            <a:pPr marL="457200" indent="-457200">
              <a:buFont typeface="+mj-lt"/>
              <a:buAutoNum type="arabicPeriod" startAt="2"/>
            </a:pPr>
            <a:r>
              <a:rPr lang="es-MX" sz="2000" b="1" dirty="0"/>
              <a:t>Con</a:t>
            </a:r>
            <a:r>
              <a:rPr lang="es-MX" sz="2000" dirty="0"/>
              <a:t> </a:t>
            </a:r>
            <a:r>
              <a:rPr lang="es-MX" sz="2000" b="1" dirty="0" err="1">
                <a:latin typeface="Consolas" panose="020B0609020204030204" pitchFamily="49" charset="0"/>
              </a:rPr>
              <a:t>dir</a:t>
            </a:r>
            <a:r>
              <a:rPr lang="es-MX" sz="2000" b="1" dirty="0">
                <a:latin typeface="Consolas" panose="020B0609020204030204" pitchFamily="49" charset="0"/>
              </a:rPr>
              <a:t>()</a:t>
            </a:r>
            <a:r>
              <a:rPr lang="es-MX" sz="2000" b="1" dirty="0"/>
              <a:t>, para ver que contiene el modulo</a:t>
            </a:r>
          </a:p>
          <a:p>
            <a:pPr marL="457200" indent="-457200">
              <a:buFont typeface="+mj-lt"/>
              <a:buAutoNum type="arabicPeriod" startAt="2"/>
            </a:pPr>
            <a:endParaRPr lang="es-MX" sz="2000" b="1" dirty="0"/>
          </a:p>
          <a:p>
            <a:pPr marL="457200" indent="-457200">
              <a:buFont typeface="+mj-lt"/>
              <a:buAutoNum type="arabicPeriod" startAt="2"/>
            </a:pPr>
            <a:endParaRPr lang="es-MX" sz="2000" b="1" dirty="0"/>
          </a:p>
          <a:p>
            <a:pPr marL="457200" indent="-457200">
              <a:buFont typeface="+mj-lt"/>
              <a:buAutoNum type="arabicPeriod" startAt="2"/>
            </a:pPr>
            <a:r>
              <a:rPr lang="es-MX" sz="2000" b="1" dirty="0"/>
              <a:t>Con la documentación oficial </a:t>
            </a:r>
            <a:r>
              <a:rPr lang="es-MX" sz="2000" dirty="0"/>
              <a:t>(</a:t>
            </a:r>
            <a:r>
              <a:rPr lang="es-MX" sz="2000" dirty="0">
                <a:hlinkClick r:id="rId2"/>
              </a:rPr>
              <a:t>link</a:t>
            </a:r>
            <a:r>
              <a:rPr lang="es-MX" sz="2000" dirty="0"/>
              <a:t>)</a:t>
            </a:r>
            <a:endParaRPr lang="es-MX" sz="2000" b="1" dirty="0"/>
          </a:p>
        </p:txBody>
      </p:sp>
      <p:sp>
        <p:nvSpPr>
          <p:cNvPr id="12" name="CuadroTexto 11">
            <a:extLst>
              <a:ext uri="{FF2B5EF4-FFF2-40B4-BE49-F238E27FC236}">
                <a16:creationId xmlns:a16="http://schemas.microsoft.com/office/drawing/2014/main" id="{B6553C42-1096-4681-877D-11CA717DB4FA}"/>
              </a:ext>
            </a:extLst>
          </p:cNvPr>
          <p:cNvSpPr txBox="1"/>
          <p:nvPr/>
        </p:nvSpPr>
        <p:spPr>
          <a:xfrm>
            <a:off x="683567" y="1844824"/>
            <a:ext cx="7344817" cy="1200329"/>
          </a:xfrm>
          <a:prstGeom prst="rect">
            <a:avLst/>
          </a:prstGeom>
          <a:noFill/>
          <a:ln>
            <a:solidFill>
              <a:schemeClr val="tx1"/>
            </a:solidFill>
          </a:ln>
        </p:spPr>
        <p:txBody>
          <a:bodyPr wrap="square">
            <a:spAutoFit/>
          </a:bodyPr>
          <a:lstStyle/>
          <a:p>
            <a:r>
              <a:rPr lang="en-US" sz="1200" dirty="0">
                <a:latin typeface="Consolas" panose="020B0609020204030204" pitchFamily="49" charset="0"/>
              </a:rPr>
              <a:t>&gt;&gt;&gt; import math</a:t>
            </a:r>
          </a:p>
          <a:p>
            <a:r>
              <a:rPr lang="en-US" sz="1200" dirty="0">
                <a:latin typeface="Consolas" panose="020B0609020204030204" pitchFamily="49" charset="0"/>
              </a:rPr>
              <a:t>&gt;&gt;&gt; help(</a:t>
            </a:r>
            <a:r>
              <a:rPr lang="en-US" sz="1200" dirty="0" err="1">
                <a:latin typeface="Consolas" panose="020B0609020204030204" pitchFamily="49" charset="0"/>
              </a:rPr>
              <a:t>math.sin</a:t>
            </a:r>
            <a:r>
              <a:rPr lang="en-US" sz="1200" dirty="0">
                <a:latin typeface="Consolas" panose="020B0609020204030204" pitchFamily="49" charset="0"/>
              </a:rPr>
              <a:t>)</a:t>
            </a:r>
          </a:p>
          <a:p>
            <a:r>
              <a:rPr lang="en-US" sz="1200" dirty="0">
                <a:latin typeface="Consolas" panose="020B0609020204030204" pitchFamily="49" charset="0"/>
              </a:rPr>
              <a:t>Help on built-in function sin in module math:</a:t>
            </a:r>
          </a:p>
          <a:p>
            <a:endParaRPr lang="en-US" sz="1200" dirty="0">
              <a:latin typeface="Consolas" panose="020B0609020204030204" pitchFamily="49" charset="0"/>
            </a:endParaRPr>
          </a:p>
          <a:p>
            <a:r>
              <a:rPr lang="en-US" sz="1200" dirty="0">
                <a:latin typeface="Consolas" panose="020B0609020204030204" pitchFamily="49" charset="0"/>
              </a:rPr>
              <a:t>sin(x, /)</a:t>
            </a:r>
          </a:p>
          <a:p>
            <a:r>
              <a:rPr lang="en-US" sz="1200" dirty="0">
                <a:latin typeface="Consolas" panose="020B0609020204030204" pitchFamily="49" charset="0"/>
              </a:rPr>
              <a:t>    Return the sine of x (measured in radians).</a:t>
            </a:r>
            <a:endParaRPr lang="es-CO" sz="1200" dirty="0">
              <a:latin typeface="Consolas" panose="020B0609020204030204" pitchFamily="49" charset="0"/>
            </a:endParaRPr>
          </a:p>
        </p:txBody>
      </p:sp>
      <p:sp>
        <p:nvSpPr>
          <p:cNvPr id="8" name="CuadroTexto 7">
            <a:extLst>
              <a:ext uri="{FF2B5EF4-FFF2-40B4-BE49-F238E27FC236}">
                <a16:creationId xmlns:a16="http://schemas.microsoft.com/office/drawing/2014/main" id="{C5BE1737-0191-4241-8213-7B097BBD6340}"/>
              </a:ext>
            </a:extLst>
          </p:cNvPr>
          <p:cNvSpPr txBox="1"/>
          <p:nvPr/>
        </p:nvSpPr>
        <p:spPr>
          <a:xfrm>
            <a:off x="692129" y="4941168"/>
            <a:ext cx="7344817" cy="461665"/>
          </a:xfrm>
          <a:prstGeom prst="rect">
            <a:avLst/>
          </a:prstGeom>
          <a:noFill/>
          <a:ln>
            <a:solidFill>
              <a:schemeClr val="tx1"/>
            </a:solidFill>
          </a:ln>
        </p:spPr>
        <p:txBody>
          <a:bodyPr wrap="square">
            <a:spAutoFit/>
          </a:bodyPr>
          <a:lstStyle/>
          <a:p>
            <a:r>
              <a:rPr lang="es-CO" sz="1200" dirty="0">
                <a:latin typeface="Consolas" panose="020B0609020204030204" pitchFamily="49" charset="0"/>
              </a:rPr>
              <a:t>&gt;&gt;&gt; </a:t>
            </a:r>
            <a:r>
              <a:rPr lang="es-CO" sz="1200" dirty="0" err="1">
                <a:latin typeface="Consolas" panose="020B0609020204030204" pitchFamily="49" charset="0"/>
              </a:rPr>
              <a:t>dir</a:t>
            </a:r>
            <a:r>
              <a:rPr lang="es-CO" sz="1200" dirty="0">
                <a:latin typeface="Consolas" panose="020B0609020204030204" pitchFamily="49" charset="0"/>
              </a:rPr>
              <a:t>(math)</a:t>
            </a:r>
          </a:p>
          <a:p>
            <a:r>
              <a:rPr lang="es-CO" sz="1200" dirty="0">
                <a:latin typeface="Consolas" panose="020B0609020204030204" pitchFamily="49" charset="0"/>
              </a:rPr>
              <a:t>[..., 'acos', '</a:t>
            </a:r>
            <a:r>
              <a:rPr lang="es-CO" sz="1200" dirty="0" err="1">
                <a:latin typeface="Consolas" panose="020B0609020204030204" pitchFamily="49" charset="0"/>
              </a:rPr>
              <a:t>acosh</a:t>
            </a:r>
            <a:r>
              <a:rPr lang="es-CO" sz="1200" dirty="0">
                <a:latin typeface="Consolas" panose="020B0609020204030204" pitchFamily="49" charset="0"/>
              </a:rPr>
              <a:t>', '</a:t>
            </a:r>
            <a:r>
              <a:rPr lang="es-CO" sz="1200" dirty="0" err="1">
                <a:latin typeface="Consolas" panose="020B0609020204030204" pitchFamily="49" charset="0"/>
              </a:rPr>
              <a:t>asin</a:t>
            </a:r>
            <a:r>
              <a:rPr lang="es-CO" sz="1200" dirty="0">
                <a:latin typeface="Consolas" panose="020B0609020204030204" pitchFamily="49" charset="0"/>
              </a:rPr>
              <a:t>', '</a:t>
            </a:r>
            <a:r>
              <a:rPr lang="es-CO" sz="1200" dirty="0" err="1">
                <a:latin typeface="Consolas" panose="020B0609020204030204" pitchFamily="49" charset="0"/>
              </a:rPr>
              <a:t>asinh</a:t>
            </a:r>
            <a:r>
              <a:rPr lang="es-CO" sz="1200" dirty="0">
                <a:latin typeface="Consolas" panose="020B0609020204030204" pitchFamily="49" charset="0"/>
              </a:rPr>
              <a:t>', 'atan', 'atan2', ..., 'cos', ...]</a:t>
            </a:r>
          </a:p>
        </p:txBody>
      </p:sp>
      <p:sp>
        <p:nvSpPr>
          <p:cNvPr id="10" name="CuadroTexto 9">
            <a:extLst>
              <a:ext uri="{FF2B5EF4-FFF2-40B4-BE49-F238E27FC236}">
                <a16:creationId xmlns:a16="http://schemas.microsoft.com/office/drawing/2014/main" id="{4A34A757-1C92-42AE-96EF-BCBD64564C6F}"/>
              </a:ext>
            </a:extLst>
          </p:cNvPr>
          <p:cNvSpPr txBox="1"/>
          <p:nvPr/>
        </p:nvSpPr>
        <p:spPr>
          <a:xfrm>
            <a:off x="154391" y="5948529"/>
            <a:ext cx="8835218" cy="369332"/>
          </a:xfrm>
          <a:prstGeom prst="rect">
            <a:avLst/>
          </a:prstGeom>
          <a:solidFill>
            <a:schemeClr val="accent2">
              <a:lumMod val="20000"/>
              <a:lumOff val="80000"/>
            </a:schemeClr>
          </a:solidFill>
        </p:spPr>
        <p:txBody>
          <a:bodyPr wrap="square">
            <a:spAutoFit/>
          </a:bodyPr>
          <a:lstStyle/>
          <a:p>
            <a:r>
              <a:rPr lang="es-MX" b="1" dirty="0"/>
              <a:t>Tip</a:t>
            </a:r>
            <a:r>
              <a:rPr lang="es-MX" dirty="0"/>
              <a:t>: Si </a:t>
            </a:r>
            <a:r>
              <a:rPr lang="es-MX" sz="1600" b="1" dirty="0">
                <a:latin typeface="Consolas" panose="020B0609020204030204" pitchFamily="49" charset="0"/>
              </a:rPr>
              <a:t>help()</a:t>
            </a:r>
            <a:r>
              <a:rPr lang="es-MX" dirty="0"/>
              <a:t> se abre en una pantalla aparte (en la terminal), se sale presionando la tecla </a:t>
            </a:r>
            <a:r>
              <a:rPr lang="es-MX" sz="1600" b="1" dirty="0">
                <a:latin typeface="Consolas" panose="020B0609020204030204" pitchFamily="49" charset="0"/>
              </a:rPr>
              <a:t>q</a:t>
            </a:r>
            <a:r>
              <a:rPr lang="es-MX" dirty="0"/>
              <a:t>.</a:t>
            </a:r>
          </a:p>
        </p:txBody>
      </p:sp>
    </p:spTree>
    <p:extLst>
      <p:ext uri="{BB962C8B-B14F-4D97-AF65-F5344CB8AC3E}">
        <p14:creationId xmlns:p14="http://schemas.microsoft.com/office/powerpoint/2010/main" val="5982866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¿Cómo consultar una librería?</a:t>
            </a:r>
            <a:endParaRPr lang="es-MX" sz="3200" dirty="0">
              <a:latin typeface="Consolas" panose="020B0609020204030204" pitchFamily="49" charset="0"/>
            </a:endParaRPr>
          </a:p>
        </p:txBody>
      </p:sp>
      <p:sp>
        <p:nvSpPr>
          <p:cNvPr id="13" name="12 Rectángulo"/>
          <p:cNvSpPr/>
          <p:nvPr/>
        </p:nvSpPr>
        <p:spPr>
          <a:xfrm>
            <a:off x="144639" y="764704"/>
            <a:ext cx="8835218" cy="400110"/>
          </a:xfrm>
          <a:prstGeom prst="rect">
            <a:avLst/>
          </a:prstGeom>
        </p:spPr>
        <p:txBody>
          <a:bodyPr wrap="square">
            <a:spAutoFit/>
          </a:bodyPr>
          <a:lstStyle/>
          <a:p>
            <a:pPr rtl="0"/>
            <a:r>
              <a:rPr lang="es-MX" sz="2000" dirty="0"/>
              <a:t>La siguiente tabla muestra una lista de errores típicos al usar librerías.</a:t>
            </a:r>
          </a:p>
        </p:txBody>
      </p:sp>
      <p:graphicFrame>
        <p:nvGraphicFramePr>
          <p:cNvPr id="4" name="Tabla 3">
            <a:extLst>
              <a:ext uri="{FF2B5EF4-FFF2-40B4-BE49-F238E27FC236}">
                <a16:creationId xmlns:a16="http://schemas.microsoft.com/office/drawing/2014/main" id="{E84F8733-6F0E-4F0E-AB0A-0335BF95B191}"/>
              </a:ext>
            </a:extLst>
          </p:cNvPr>
          <p:cNvGraphicFramePr>
            <a:graphicFrameLocks noGrp="1"/>
          </p:cNvGraphicFramePr>
          <p:nvPr>
            <p:extLst>
              <p:ext uri="{D42A27DB-BD31-4B8C-83A1-F6EECF244321}">
                <p14:modId xmlns:p14="http://schemas.microsoft.com/office/powerpoint/2010/main" val="2812230732"/>
              </p:ext>
            </p:extLst>
          </p:nvPr>
        </p:nvGraphicFramePr>
        <p:xfrm>
          <a:off x="251520" y="1268760"/>
          <a:ext cx="8506932" cy="3693252"/>
        </p:xfrm>
        <a:graphic>
          <a:graphicData uri="http://schemas.openxmlformats.org/drawingml/2006/table">
            <a:tbl>
              <a:tblPr/>
              <a:tblGrid>
                <a:gridCol w="2593274">
                  <a:extLst>
                    <a:ext uri="{9D8B030D-6E8A-4147-A177-3AD203B41FA5}">
                      <a16:colId xmlns:a16="http://schemas.microsoft.com/office/drawing/2014/main" val="2538264499"/>
                    </a:ext>
                  </a:extLst>
                </a:gridCol>
                <a:gridCol w="3078014">
                  <a:extLst>
                    <a:ext uri="{9D8B030D-6E8A-4147-A177-3AD203B41FA5}">
                      <a16:colId xmlns:a16="http://schemas.microsoft.com/office/drawing/2014/main" val="366224200"/>
                    </a:ext>
                  </a:extLst>
                </a:gridCol>
                <a:gridCol w="2835644">
                  <a:extLst>
                    <a:ext uri="{9D8B030D-6E8A-4147-A177-3AD203B41FA5}">
                      <a16:colId xmlns:a16="http://schemas.microsoft.com/office/drawing/2014/main" val="3228661944"/>
                    </a:ext>
                  </a:extLst>
                </a:gridCol>
              </a:tblGrid>
              <a:tr h="220296">
                <a:tc>
                  <a:txBody>
                    <a:bodyPr/>
                    <a:lstStyle/>
                    <a:p>
                      <a:r>
                        <a:rPr lang="es-CO" sz="1600" b="1"/>
                        <a:t>Código</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a:t>Error</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Causa</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688716366"/>
                  </a:ext>
                </a:extLst>
              </a:tr>
              <a:tr h="345043">
                <a:tc>
                  <a:txBody>
                    <a:bodyPr/>
                    <a:lstStyle/>
                    <a:p>
                      <a:r>
                        <a:rPr lang="es-CO" sz="1400" dirty="0">
                          <a:latin typeface="Consolas" panose="020B0609020204030204" pitchFamily="49" charset="0"/>
                        </a:rPr>
                        <a:t>x = </a:t>
                      </a:r>
                      <a:r>
                        <a:rPr lang="es-CO" sz="1400" dirty="0" err="1">
                          <a:latin typeface="Consolas" panose="020B0609020204030204" pitchFamily="49" charset="0"/>
                        </a:rPr>
                        <a:t>sqrt</a:t>
                      </a:r>
                      <a:r>
                        <a:rPr lang="es-CO" sz="1400" dirty="0">
                          <a:latin typeface="Consolas" panose="020B0609020204030204" pitchFamily="49" charset="0"/>
                        </a:rPr>
                        <a:t>(25)</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Consolas" panose="020B0609020204030204" pitchFamily="49" charset="0"/>
                        </a:rPr>
                        <a:t>NameError</a:t>
                      </a:r>
                      <a:r>
                        <a:rPr lang="en-US" sz="1400" dirty="0">
                          <a:latin typeface="Consolas" panose="020B0609020204030204" pitchFamily="49" charset="0"/>
                        </a:rPr>
                        <a:t>: name 'sqrt' is not defined</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No se importó el módulo</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68430313"/>
                  </a:ext>
                </a:extLst>
              </a:tr>
              <a:tr h="345043">
                <a:tc>
                  <a:txBody>
                    <a:bodyPr/>
                    <a:lstStyle/>
                    <a:p>
                      <a:r>
                        <a:rPr lang="es-CO" sz="1400" dirty="0">
                          <a:latin typeface="Consolas" panose="020B0609020204030204" pitchFamily="49" charset="0"/>
                        </a:rPr>
                        <a:t>import math … </a:t>
                      </a:r>
                      <a:r>
                        <a:rPr lang="es-CO" sz="1400" dirty="0" err="1">
                          <a:latin typeface="Consolas" panose="020B0609020204030204" pitchFamily="49" charset="0"/>
                        </a:rPr>
                        <a:t>sqrt</a:t>
                      </a:r>
                      <a:r>
                        <a:rPr lang="es-CO" sz="1400" dirty="0">
                          <a:latin typeface="Consolas" panose="020B0609020204030204" pitchFamily="49" charset="0"/>
                        </a:rPr>
                        <a:t>(25)</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Consolas" panose="020B0609020204030204" pitchFamily="49" charset="0"/>
                        </a:rPr>
                        <a:t>NameError</a:t>
                      </a:r>
                      <a:r>
                        <a:rPr lang="en-US" sz="1400" dirty="0">
                          <a:latin typeface="Consolas" panose="020B0609020204030204" pitchFamily="49" charset="0"/>
                        </a:rPr>
                        <a:t>: name 'sqrt' is not defined</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Falta el prefijo math.</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2009260"/>
                  </a:ext>
                </a:extLst>
              </a:tr>
              <a:tr h="346064">
                <a:tc>
                  <a:txBody>
                    <a:bodyPr/>
                    <a:lstStyle/>
                    <a:p>
                      <a:r>
                        <a:rPr lang="es-CO" sz="1400" dirty="0">
                          <a:latin typeface="Consolas" panose="020B0609020204030204" pitchFamily="49" charset="0"/>
                        </a:rPr>
                        <a:t>import </a:t>
                      </a:r>
                      <a:r>
                        <a:rPr lang="es-CO" sz="1400" dirty="0" err="1">
                          <a:latin typeface="Consolas" panose="020B0609020204030204" pitchFamily="49" charset="0"/>
                        </a:rPr>
                        <a:t>maths</a:t>
                      </a:r>
                      <a:endParaRPr lang="es-CO" sz="1400" dirty="0">
                        <a:latin typeface="Consolas" panose="020B0609020204030204" pitchFamily="49" charset="0"/>
                      </a:endParaRP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Consolas" panose="020B0609020204030204" pitchFamily="49" charset="0"/>
                        </a:rPr>
                        <a:t>ModuleNotFoundError</a:t>
                      </a:r>
                      <a:r>
                        <a:rPr lang="en-US" sz="1400" dirty="0">
                          <a:latin typeface="Consolas" panose="020B0609020204030204" pitchFamily="49" charset="0"/>
                        </a:rPr>
                        <a:t>: No module named '</a:t>
                      </a:r>
                      <a:r>
                        <a:rPr lang="en-US" sz="1400" dirty="0" err="1">
                          <a:latin typeface="Consolas" panose="020B0609020204030204" pitchFamily="49" charset="0"/>
                        </a:rPr>
                        <a:t>maths</a:t>
                      </a:r>
                      <a:r>
                        <a:rPr lang="en-US" sz="1400" dirty="0">
                          <a:latin typeface="Consolas" panose="020B0609020204030204" pitchFamily="49" charset="0"/>
                        </a:rPr>
                        <a:t>'</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Nombre del módulo mal escrito</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5574775"/>
                  </a:ext>
                </a:extLst>
              </a:tr>
              <a:tr h="386626">
                <a:tc>
                  <a:txBody>
                    <a:bodyPr/>
                    <a:lstStyle/>
                    <a:p>
                      <a:r>
                        <a:rPr lang="es-CO" sz="1400" dirty="0" err="1">
                          <a:latin typeface="Consolas" panose="020B0609020204030204" pitchFamily="49" charset="0"/>
                        </a:rPr>
                        <a:t>math.Sqrt</a:t>
                      </a:r>
                      <a:r>
                        <a:rPr lang="es-CO" sz="1400" dirty="0">
                          <a:latin typeface="Consolas" panose="020B0609020204030204" pitchFamily="49" charset="0"/>
                        </a:rPr>
                        <a:t>(4)</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Consolas" panose="020B0609020204030204" pitchFamily="49" charset="0"/>
                        </a:rPr>
                        <a:t>AttributeError</a:t>
                      </a:r>
                      <a:r>
                        <a:rPr lang="en-US" sz="1400" dirty="0">
                          <a:latin typeface="Consolas" panose="020B0609020204030204" pitchFamily="49" charset="0"/>
                        </a:rPr>
                        <a:t>: module 'math' has no attribute 'Sqrt'</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Python distingue mayúsculas de minúsculas</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07039871"/>
                  </a:ext>
                </a:extLst>
              </a:tr>
              <a:tr h="386626">
                <a:tc>
                  <a:txBody>
                    <a:bodyPr/>
                    <a:lstStyle/>
                    <a:p>
                      <a:r>
                        <a:rPr lang="es-CO" sz="1400" dirty="0" err="1">
                          <a:latin typeface="Consolas" panose="020B0609020204030204" pitchFamily="49" charset="0"/>
                        </a:rPr>
                        <a:t>math.sqrt</a:t>
                      </a:r>
                      <a:r>
                        <a:rPr lang="es-CO" sz="1400" dirty="0">
                          <a:latin typeface="Consolas" panose="020B0609020204030204" pitchFamily="49" charset="0"/>
                        </a:rPr>
                        <a:t>(-4)</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ValueError: math domain error</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Argumento fuera del dominio de la función</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4788896"/>
                  </a:ext>
                </a:extLst>
              </a:tr>
              <a:tr h="490581">
                <a:tc>
                  <a:txBody>
                    <a:bodyPr/>
                    <a:lstStyle/>
                    <a:p>
                      <a:r>
                        <a:rPr lang="es-CO" sz="1400" dirty="0" err="1">
                          <a:latin typeface="Consolas" panose="020B0609020204030204" pitchFamily="49" charset="0"/>
                        </a:rPr>
                        <a:t>math.factorial</a:t>
                      </a:r>
                      <a:r>
                        <a:rPr lang="es-CO" sz="1400" dirty="0">
                          <a:latin typeface="Consolas" panose="020B0609020204030204" pitchFamily="49" charset="0"/>
                        </a:rPr>
                        <a:t>(2.5)</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Consolas" panose="020B0609020204030204" pitchFamily="49" charset="0"/>
                        </a:rPr>
                        <a:t>TypeError</a:t>
                      </a:r>
                      <a:r>
                        <a:rPr lang="en-US" sz="1400" dirty="0">
                          <a:latin typeface="Consolas" panose="020B0609020204030204" pitchFamily="49" charset="0"/>
                        </a:rPr>
                        <a:t>: 'float' object cannot be interpreted as an integer</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Tipo de argumento incorrecto</a:t>
                      </a:r>
                    </a:p>
                  </a:txBody>
                  <a:tcPr marL="79115" marR="79115" marT="39558" marB="3955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1987873"/>
                  </a:ext>
                </a:extLst>
              </a:tr>
            </a:tbl>
          </a:graphicData>
        </a:graphic>
      </p:graphicFrame>
      <p:sp>
        <p:nvSpPr>
          <p:cNvPr id="14" name="CuadroTexto 13">
            <a:extLst>
              <a:ext uri="{FF2B5EF4-FFF2-40B4-BE49-F238E27FC236}">
                <a16:creationId xmlns:a16="http://schemas.microsoft.com/office/drawing/2014/main" id="{7C5D962F-8171-4D89-811A-08BD49BDD2DE}"/>
              </a:ext>
            </a:extLst>
          </p:cNvPr>
          <p:cNvSpPr txBox="1"/>
          <p:nvPr/>
        </p:nvSpPr>
        <p:spPr>
          <a:xfrm>
            <a:off x="251519" y="5561919"/>
            <a:ext cx="8728337" cy="923330"/>
          </a:xfrm>
          <a:prstGeom prst="rect">
            <a:avLst/>
          </a:prstGeom>
          <a:solidFill>
            <a:schemeClr val="accent2">
              <a:lumMod val="20000"/>
              <a:lumOff val="80000"/>
            </a:schemeClr>
          </a:solidFill>
        </p:spPr>
        <p:txBody>
          <a:bodyPr wrap="square">
            <a:spAutoFit/>
          </a:bodyPr>
          <a:lstStyle/>
          <a:p>
            <a:r>
              <a:rPr lang="es-CO" b="1" dirty="0"/>
              <a:t>⚠️ El error más peligroso es el que no muestra mensaje</a:t>
            </a:r>
            <a:r>
              <a:rPr lang="es-CO" dirty="0"/>
              <a:t>: </a:t>
            </a:r>
            <a:r>
              <a:rPr lang="es-CO" sz="1600" b="1" dirty="0" err="1">
                <a:latin typeface="Consolas" panose="020B0609020204030204" pitchFamily="49" charset="0"/>
              </a:rPr>
              <a:t>math.sin</a:t>
            </a:r>
            <a:r>
              <a:rPr lang="es-CO" sz="1600" b="1" dirty="0">
                <a:latin typeface="Consolas" panose="020B0609020204030204" pitchFamily="49" charset="0"/>
              </a:rPr>
              <a:t>(30)</a:t>
            </a:r>
            <a:r>
              <a:rPr lang="es-CO" dirty="0"/>
              <a:t> no produce error, pero el resultado es incorrecto porque se esperaban radianes. Python solo detecta errores de </a:t>
            </a:r>
            <a:r>
              <a:rPr lang="es-CO" b="1" dirty="0"/>
              <a:t>escritura</a:t>
            </a:r>
            <a:r>
              <a:rPr lang="es-CO" dirty="0"/>
              <a:t>, no de </a:t>
            </a:r>
            <a:r>
              <a:rPr lang="es-CO" b="1" dirty="0"/>
              <a:t>razonamiento</a:t>
            </a:r>
            <a:r>
              <a:rPr lang="es-CO" dirty="0"/>
              <a:t>. Para estos últimos sirven las pruebas (</a:t>
            </a:r>
            <a:r>
              <a:rPr lang="es-CO" sz="1600" b="1" dirty="0">
                <a:latin typeface="Consolas" panose="020B0609020204030204" pitchFamily="49" charset="0"/>
              </a:rPr>
              <a:t>assert</a:t>
            </a:r>
            <a:r>
              <a:rPr lang="es-CO" dirty="0"/>
              <a:t>).</a:t>
            </a:r>
          </a:p>
        </p:txBody>
      </p:sp>
    </p:spTree>
    <p:extLst>
      <p:ext uri="{BB962C8B-B14F-4D97-AF65-F5344CB8AC3E}">
        <p14:creationId xmlns:p14="http://schemas.microsoft.com/office/powerpoint/2010/main" val="311207192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Ejercicio de repaso: adivina el número</a:t>
            </a:r>
            <a:endParaRPr lang="es-MX" sz="3200" dirty="0">
              <a:latin typeface="Consolas" panose="020B0609020204030204" pitchFamily="49" charset="0"/>
            </a:endParaRPr>
          </a:p>
        </p:txBody>
      </p:sp>
      <p:sp>
        <p:nvSpPr>
          <p:cNvPr id="13" name="12 Rectángulo"/>
          <p:cNvSpPr/>
          <p:nvPr/>
        </p:nvSpPr>
        <p:spPr>
          <a:xfrm>
            <a:off x="144639" y="764704"/>
            <a:ext cx="8835218" cy="5940088"/>
          </a:xfrm>
          <a:prstGeom prst="rect">
            <a:avLst/>
          </a:prstGeom>
        </p:spPr>
        <p:txBody>
          <a:bodyPr wrap="square">
            <a:spAutoFit/>
          </a:bodyPr>
          <a:lstStyle/>
          <a:p>
            <a:pPr marL="342900" indent="-342900" rtl="0">
              <a:buFont typeface="Arial" panose="020B0604020202020204" pitchFamily="34" charset="0"/>
              <a:buChar char="•"/>
            </a:pPr>
            <a:r>
              <a:rPr lang="es-MX" sz="2000" dirty="0"/>
              <a:t>El programa elige un número entero al azar entre 1 y 100, y el usuario intenta adivinarlo con las pistas mayor o menor.</a:t>
            </a:r>
          </a:p>
          <a:p>
            <a:pPr marL="342900" indent="-342900" rtl="0">
              <a:buFont typeface="Arial" panose="020B0604020202020204" pitchFamily="34" charset="0"/>
              <a:buChar char="•"/>
            </a:pPr>
            <a:r>
              <a:rPr lang="es-MX" sz="2000" b="1" dirty="0"/>
              <a:t>Aplique el procedimiento completo</a:t>
            </a:r>
            <a:r>
              <a:rPr lang="es-MX" sz="2000" dirty="0"/>
              <a:t>: </a:t>
            </a:r>
          </a:p>
          <a:p>
            <a:pPr marL="914400" lvl="1" indent="-457200">
              <a:buFont typeface="+mj-lt"/>
              <a:buAutoNum type="arabicPeriod"/>
            </a:pPr>
            <a:r>
              <a:rPr lang="es-MX" sz="2000" dirty="0"/>
              <a:t>Entender</a:t>
            </a:r>
          </a:p>
          <a:p>
            <a:pPr marL="914400" lvl="1" indent="-457200">
              <a:buFont typeface="+mj-lt"/>
              <a:buAutoNum type="arabicPeriod"/>
            </a:pPr>
            <a:r>
              <a:rPr lang="es-MX" sz="2000" dirty="0"/>
              <a:t>diseñar (top-</a:t>
            </a:r>
            <a:r>
              <a:rPr lang="es-MX" sz="2000" dirty="0" err="1"/>
              <a:t>down</a:t>
            </a:r>
            <a:r>
              <a:rPr lang="es-MX" sz="2000" dirty="0"/>
              <a:t>)</a:t>
            </a:r>
          </a:p>
          <a:p>
            <a:pPr marL="914400" lvl="1" indent="-457200">
              <a:buFont typeface="+mj-lt"/>
              <a:buAutoNum type="arabicPeriod"/>
            </a:pPr>
            <a:r>
              <a:rPr lang="es-MX" sz="2000" dirty="0"/>
              <a:t>Especificar</a:t>
            </a:r>
          </a:p>
          <a:p>
            <a:pPr marL="914400" lvl="1" indent="-457200">
              <a:buFont typeface="+mj-lt"/>
              <a:buAutoNum type="arabicPeriod"/>
            </a:pPr>
            <a:r>
              <a:rPr lang="es-MX" sz="2000" dirty="0"/>
              <a:t>Implementar con stubs </a:t>
            </a:r>
          </a:p>
          <a:p>
            <a:pPr marL="914400" lvl="1" indent="-457200">
              <a:buFont typeface="+mj-lt"/>
              <a:buAutoNum type="arabicPeriod"/>
            </a:pPr>
            <a:r>
              <a:rPr lang="es-MX" sz="2000" dirty="0"/>
              <a:t>probar con </a:t>
            </a:r>
            <a:r>
              <a:rPr lang="es-MX" dirty="0" err="1">
                <a:latin typeface="Consolas" panose="020B0609020204030204" pitchFamily="49" charset="0"/>
              </a:rPr>
              <a:t>random.seed</a:t>
            </a:r>
            <a:r>
              <a:rPr lang="es-MX" dirty="0">
                <a:latin typeface="Consolas" panose="020B0609020204030204" pitchFamily="49" charset="0"/>
              </a:rPr>
              <a:t>()</a:t>
            </a:r>
            <a:r>
              <a:rPr lang="es-MX" sz="2000" dirty="0"/>
              <a:t>.</a:t>
            </a:r>
          </a:p>
          <a:p>
            <a:pPr marL="342900" indent="-342900" rtl="0">
              <a:buFont typeface="Arial" panose="020B0604020202020204" pitchFamily="34" charset="0"/>
              <a:buChar char="•"/>
            </a:pPr>
            <a:r>
              <a:rPr lang="es-MX" sz="2000" b="1" dirty="0"/>
              <a:t>Guía autocontenida</a:t>
            </a:r>
            <a:r>
              <a:rPr lang="es-MX" sz="2000" dirty="0"/>
              <a:t>: (</a:t>
            </a:r>
            <a:r>
              <a:rPr lang="es-MX" sz="2000" dirty="0">
                <a:hlinkClick r:id="rId2"/>
              </a:rPr>
              <a:t>link</a:t>
            </a:r>
            <a:r>
              <a:rPr lang="es-MX" sz="2000" dirty="0"/>
              <a:t>)</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p:txBody>
      </p:sp>
      <p:sp>
        <p:nvSpPr>
          <p:cNvPr id="12" name="CuadroTexto 11">
            <a:extLst>
              <a:ext uri="{FF2B5EF4-FFF2-40B4-BE49-F238E27FC236}">
                <a16:creationId xmlns:a16="http://schemas.microsoft.com/office/drawing/2014/main" id="{C4FB21AD-030D-441F-8D12-CC51AC50E49A}"/>
              </a:ext>
            </a:extLst>
          </p:cNvPr>
          <p:cNvSpPr txBox="1"/>
          <p:nvPr/>
        </p:nvSpPr>
        <p:spPr>
          <a:xfrm>
            <a:off x="290704" y="4005064"/>
            <a:ext cx="8389823" cy="1754326"/>
          </a:xfrm>
          <a:prstGeom prst="rect">
            <a:avLst/>
          </a:prstGeom>
          <a:solidFill>
            <a:schemeClr val="accent2">
              <a:lumMod val="20000"/>
              <a:lumOff val="80000"/>
            </a:schemeClr>
          </a:solidFill>
        </p:spPr>
        <p:txBody>
          <a:bodyPr wrap="square">
            <a:spAutoFit/>
          </a:bodyPr>
          <a:lstStyle/>
          <a:p>
            <a:r>
              <a:rPr lang="es-MX" dirty="0"/>
              <a:t>⚠️ </a:t>
            </a:r>
            <a:r>
              <a:rPr lang="es-MX" b="1" dirty="0"/>
              <a:t>Precaución</a:t>
            </a:r>
            <a:r>
              <a:rPr lang="es-MX" dirty="0"/>
              <a:t>: no nombre sus archivos </a:t>
            </a:r>
            <a:r>
              <a:rPr lang="es-MX" sz="1600" dirty="0">
                <a:latin typeface="Consolas" panose="020B0609020204030204" pitchFamily="49" charset="0"/>
              </a:rPr>
              <a:t>random.py</a:t>
            </a:r>
            <a:r>
              <a:rPr lang="es-MX" dirty="0"/>
              <a:t>. Si lo hace, </a:t>
            </a:r>
            <a:r>
              <a:rPr lang="es-MX" sz="1600" dirty="0">
                <a:latin typeface="Consolas" panose="020B0609020204030204" pitchFamily="49" charset="0"/>
              </a:rPr>
              <a:t>import random</a:t>
            </a:r>
            <a:r>
              <a:rPr lang="es-MX" dirty="0"/>
              <a:t> carga su propio archivo en lugar del módulo de Python, y aparece el error </a:t>
            </a:r>
            <a:r>
              <a:rPr lang="es-MX" sz="1600" dirty="0" err="1">
                <a:latin typeface="Consolas" panose="020B0609020204030204" pitchFamily="49" charset="0"/>
              </a:rPr>
              <a:t>AttributeError</a:t>
            </a:r>
            <a:r>
              <a:rPr lang="es-MX" sz="1600" dirty="0">
                <a:latin typeface="Consolas" panose="020B0609020204030204" pitchFamily="49" charset="0"/>
              </a:rPr>
              <a:t>: module 'random' has no </a:t>
            </a:r>
            <a:r>
              <a:rPr lang="es-MX" sz="1600" dirty="0" err="1">
                <a:latin typeface="Consolas" panose="020B0609020204030204" pitchFamily="49" charset="0"/>
              </a:rPr>
              <a:t>attribute</a:t>
            </a:r>
            <a:r>
              <a:rPr lang="es-MX" sz="1600" dirty="0">
                <a:latin typeface="Consolas" panose="020B0609020204030204" pitchFamily="49" charset="0"/>
              </a:rPr>
              <a:t> '</a:t>
            </a:r>
            <a:r>
              <a:rPr lang="es-MX" sz="1600" dirty="0" err="1">
                <a:latin typeface="Consolas" panose="020B0609020204030204" pitchFamily="49" charset="0"/>
              </a:rPr>
              <a:t>randint</a:t>
            </a:r>
            <a:r>
              <a:rPr lang="es-MX" sz="1600" dirty="0">
                <a:latin typeface="Consolas" panose="020B0609020204030204" pitchFamily="49" charset="0"/>
              </a:rPr>
              <a:t>’</a:t>
            </a:r>
            <a:r>
              <a:rPr lang="es-MX" dirty="0"/>
              <a:t>.</a:t>
            </a:r>
          </a:p>
          <a:p>
            <a:endParaRPr lang="es-MX" dirty="0"/>
          </a:p>
          <a:p>
            <a:r>
              <a:rPr lang="es-MX" b="1" dirty="0"/>
              <a:t>Importante</a:t>
            </a:r>
            <a:r>
              <a:rPr lang="es-MX" dirty="0"/>
              <a:t>: este ejercicio integra todo lo visto en la clase: funciones, especificación, pruebas, top-</a:t>
            </a:r>
            <a:r>
              <a:rPr lang="es-MX" dirty="0" err="1"/>
              <a:t>down</a:t>
            </a:r>
            <a:r>
              <a:rPr lang="es-MX" dirty="0"/>
              <a:t> y librerías.</a:t>
            </a:r>
            <a:endParaRPr lang="es-CO" dirty="0"/>
          </a:p>
        </p:txBody>
      </p:sp>
    </p:spTree>
    <p:extLst>
      <p:ext uri="{BB962C8B-B14F-4D97-AF65-F5344CB8AC3E}">
        <p14:creationId xmlns:p14="http://schemas.microsoft.com/office/powerpoint/2010/main" val="5139366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Dividir un programa en varios archivos</a:t>
            </a:r>
            <a:endParaRPr lang="es-MX" sz="3200" dirty="0">
              <a:latin typeface="Consolas" panose="020B0609020204030204" pitchFamily="49" charset="0"/>
            </a:endParaRPr>
          </a:p>
        </p:txBody>
      </p:sp>
      <p:sp>
        <p:nvSpPr>
          <p:cNvPr id="13" name="12 Rectángulo"/>
          <p:cNvSpPr/>
          <p:nvPr/>
        </p:nvSpPr>
        <p:spPr>
          <a:xfrm>
            <a:off x="144639" y="764704"/>
            <a:ext cx="8835218" cy="4093428"/>
          </a:xfrm>
          <a:prstGeom prst="rect">
            <a:avLst/>
          </a:prstGeom>
        </p:spPr>
        <p:txBody>
          <a:bodyPr wrap="square">
            <a:spAutoFit/>
          </a:bodyPr>
          <a:lstStyle/>
          <a:p>
            <a:pPr marL="342900" indent="-342900" rtl="0">
              <a:buFont typeface="Arial" panose="020B0604020202020204" pitchFamily="34" charset="0"/>
              <a:buChar char="•"/>
            </a:pPr>
            <a:r>
              <a:rPr lang="es-MX" sz="2000" dirty="0"/>
              <a:t>Un módulo es un archivo </a:t>
            </a:r>
            <a:r>
              <a:rPr lang="es-MX" sz="1600" b="1" dirty="0">
                <a:latin typeface="Consolas" panose="020B0609020204030204" pitchFamily="49" charset="0"/>
              </a:rPr>
              <a:t>.py</a:t>
            </a:r>
            <a:r>
              <a:rPr lang="es-MX" sz="2000" dirty="0"/>
              <a:t> cuyas funciones pueden usarse desde otro archivo.</a:t>
            </a:r>
          </a:p>
          <a:p>
            <a:pPr marL="342900" indent="-342900" rtl="0">
              <a:buFont typeface="Arial" panose="020B0604020202020204" pitchFamily="34" charset="0"/>
              <a:buChar char="•"/>
            </a:pPr>
            <a:r>
              <a:rPr lang="es-MX" sz="2000" dirty="0"/>
              <a:t>Se importa igual que </a:t>
            </a:r>
            <a:r>
              <a:rPr lang="es-MX" sz="1600" b="1" dirty="0">
                <a:latin typeface="Consolas" panose="020B0609020204030204" pitchFamily="49" charset="0"/>
              </a:rPr>
              <a:t>math</a:t>
            </a:r>
            <a:r>
              <a:rPr lang="es-MX" sz="2000" dirty="0"/>
              <a:t> o </a:t>
            </a:r>
            <a:r>
              <a:rPr lang="es-MX" sz="1600" b="1" dirty="0"/>
              <a:t>random</a:t>
            </a:r>
            <a:r>
              <a:rPr lang="es-MX" sz="2000" dirty="0"/>
              <a:t>, con el nombre del archivo sin la extensión </a:t>
            </a:r>
            <a:r>
              <a:rPr lang="es-MX" dirty="0">
                <a:latin typeface="Consolas" panose="020B0609020204030204" pitchFamily="49" charset="0"/>
              </a:rPr>
              <a:t>.py</a:t>
            </a:r>
            <a:r>
              <a:rPr lang="es-MX" sz="2000" dirty="0"/>
              <a:t>.</a:t>
            </a:r>
          </a:p>
          <a:p>
            <a:pPr marL="342900" indent="-342900" rtl="0">
              <a:buFont typeface="Arial" panose="020B0604020202020204" pitchFamily="34" charset="0"/>
              <a:buChar char="•"/>
            </a:pPr>
            <a:r>
              <a:rPr lang="es-MX" sz="2000" dirty="0"/>
              <a:t>Ambos archivos deben estar en la misma carpeta.</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it-IT" sz="2000" b="1" dirty="0"/>
              <a:t>Archivo</a:t>
            </a:r>
            <a:r>
              <a:rPr lang="it-IT" sz="2000" dirty="0"/>
              <a:t>: </a:t>
            </a:r>
            <a:r>
              <a:rPr lang="it-IT" sz="1600" dirty="0">
                <a:latin typeface="Consolas" panose="020B0609020204030204" pitchFamily="49" charset="0"/>
              </a:rPr>
              <a:t>1_sin_guarda/main.py</a:t>
            </a:r>
            <a:endParaRPr lang="es-MX" dirty="0">
              <a:latin typeface="Consolas" panose="020B0609020204030204" pitchFamily="49" charset="0"/>
            </a:endParaRPr>
          </a:p>
        </p:txBody>
      </p:sp>
      <p:pic>
        <p:nvPicPr>
          <p:cNvPr id="3" name="Imagen 2">
            <a:extLst>
              <a:ext uri="{FF2B5EF4-FFF2-40B4-BE49-F238E27FC236}">
                <a16:creationId xmlns:a16="http://schemas.microsoft.com/office/drawing/2014/main" id="{12E834B2-98BD-4903-A580-3766123E57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31640" y="2110025"/>
            <a:ext cx="6336704" cy="2183071"/>
          </a:xfrm>
          <a:prstGeom prst="rect">
            <a:avLst/>
          </a:prstGeom>
        </p:spPr>
      </p:pic>
      <p:sp>
        <p:nvSpPr>
          <p:cNvPr id="9" name="CuadroTexto 8">
            <a:extLst>
              <a:ext uri="{FF2B5EF4-FFF2-40B4-BE49-F238E27FC236}">
                <a16:creationId xmlns:a16="http://schemas.microsoft.com/office/drawing/2014/main" id="{CEC4C591-D670-4243-B7E9-14D4E839D6C7}"/>
              </a:ext>
            </a:extLst>
          </p:cNvPr>
          <p:cNvSpPr txBox="1"/>
          <p:nvPr/>
        </p:nvSpPr>
        <p:spPr>
          <a:xfrm>
            <a:off x="1907704" y="5086925"/>
            <a:ext cx="5688632" cy="646331"/>
          </a:xfrm>
          <a:prstGeom prst="rect">
            <a:avLst/>
          </a:prstGeom>
          <a:noFill/>
          <a:ln>
            <a:solidFill>
              <a:schemeClr val="tx1"/>
            </a:solidFill>
          </a:ln>
        </p:spPr>
        <p:txBody>
          <a:bodyPr wrap="square">
            <a:spAutoFit/>
          </a:bodyPr>
          <a:lstStyle/>
          <a:p>
            <a:r>
              <a:rPr lang="es-CO" sz="1200" dirty="0">
                <a:latin typeface="Consolas" panose="020B0609020204030204" pitchFamily="49" charset="0"/>
              </a:rPr>
              <a:t> 4  </a:t>
            </a:r>
            <a:r>
              <a:rPr lang="es-CO" sz="1200" dirty="0" err="1">
                <a:latin typeface="Consolas" panose="020B0609020204030204" pitchFamily="49" charset="0"/>
              </a:rPr>
              <a:t>import</a:t>
            </a:r>
            <a:r>
              <a:rPr lang="es-CO" sz="1200" dirty="0">
                <a:latin typeface="Consolas" panose="020B0609020204030204" pitchFamily="49" charset="0"/>
              </a:rPr>
              <a:t> conversiones</a:t>
            </a:r>
          </a:p>
          <a:p>
            <a:r>
              <a:rPr lang="es-CO" sz="1200" dirty="0">
                <a:latin typeface="Consolas" panose="020B0609020204030204" pitchFamily="49" charset="0"/>
              </a:rPr>
              <a:t>...</a:t>
            </a:r>
          </a:p>
          <a:p>
            <a:r>
              <a:rPr lang="es-CO" sz="1200" dirty="0">
                <a:latin typeface="Consolas" panose="020B0609020204030204" pitchFamily="49" charset="0"/>
              </a:rPr>
              <a:t>15          </a:t>
            </a:r>
            <a:r>
              <a:rPr lang="es-CO" sz="1200" dirty="0" err="1">
                <a:latin typeface="Consolas" panose="020B0609020204030204" pitchFamily="49" charset="0"/>
              </a:rPr>
              <a:t>temp_f</a:t>
            </a:r>
            <a:r>
              <a:rPr lang="es-CO" sz="1200" dirty="0">
                <a:latin typeface="Consolas" panose="020B0609020204030204" pitchFamily="49" charset="0"/>
              </a:rPr>
              <a:t> = </a:t>
            </a:r>
            <a:r>
              <a:rPr lang="es-CO" sz="1200" dirty="0" err="1">
                <a:latin typeface="Consolas" panose="020B0609020204030204" pitchFamily="49" charset="0"/>
              </a:rPr>
              <a:t>conversiones.celsius_a_fahrenheit</a:t>
            </a:r>
            <a:r>
              <a:rPr lang="es-CO" sz="1200" dirty="0">
                <a:latin typeface="Consolas" panose="020B0609020204030204" pitchFamily="49" charset="0"/>
              </a:rPr>
              <a:t>(</a:t>
            </a:r>
            <a:r>
              <a:rPr lang="es-CO" sz="1200" dirty="0" err="1">
                <a:latin typeface="Consolas" panose="020B0609020204030204" pitchFamily="49" charset="0"/>
              </a:rPr>
              <a:t>temp_c</a:t>
            </a:r>
            <a:r>
              <a:rPr lang="es-CO" sz="1200" dirty="0">
                <a:latin typeface="Consolas" panose="020B0609020204030204" pitchFamily="49" charset="0"/>
              </a:rPr>
              <a:t>)</a:t>
            </a:r>
          </a:p>
        </p:txBody>
      </p:sp>
      <p:sp>
        <p:nvSpPr>
          <p:cNvPr id="10" name="CuadroTexto 9">
            <a:extLst>
              <a:ext uri="{FF2B5EF4-FFF2-40B4-BE49-F238E27FC236}">
                <a16:creationId xmlns:a16="http://schemas.microsoft.com/office/drawing/2014/main" id="{71EF99D5-BFD2-4E0D-9096-B360583F1740}"/>
              </a:ext>
            </a:extLst>
          </p:cNvPr>
          <p:cNvSpPr txBox="1"/>
          <p:nvPr/>
        </p:nvSpPr>
        <p:spPr>
          <a:xfrm>
            <a:off x="56639" y="6023029"/>
            <a:ext cx="8979857" cy="646331"/>
          </a:xfrm>
          <a:prstGeom prst="rect">
            <a:avLst/>
          </a:prstGeom>
          <a:solidFill>
            <a:schemeClr val="bg2"/>
          </a:solidFill>
        </p:spPr>
        <p:txBody>
          <a:bodyPr wrap="square">
            <a:spAutoFit/>
          </a:bodyPr>
          <a:lstStyle/>
          <a:p>
            <a:r>
              <a:rPr lang="es-MX" dirty="0"/>
              <a:t>Para usar una función del módulo se escribe </a:t>
            </a:r>
            <a:r>
              <a:rPr lang="es-MX" sz="1600" b="1" dirty="0" err="1">
                <a:latin typeface="Consolas" panose="020B0609020204030204" pitchFamily="49" charset="0"/>
              </a:rPr>
              <a:t>nombre_del_módulo.nombre_de_la_función</a:t>
            </a:r>
            <a:r>
              <a:rPr lang="es-MX" sz="1600" b="1" dirty="0">
                <a:latin typeface="Consolas" panose="020B0609020204030204" pitchFamily="49" charset="0"/>
              </a:rPr>
              <a:t>(...)</a:t>
            </a:r>
            <a:r>
              <a:rPr lang="es-MX" dirty="0"/>
              <a:t>, de la misma forma que </a:t>
            </a:r>
            <a:r>
              <a:rPr lang="es-MX" sz="1600" b="1" dirty="0" err="1">
                <a:latin typeface="Consolas" panose="020B0609020204030204" pitchFamily="49" charset="0"/>
              </a:rPr>
              <a:t>math.sqrt</a:t>
            </a:r>
            <a:r>
              <a:rPr lang="es-MX" sz="1600" b="1" dirty="0">
                <a:latin typeface="Consolas" panose="020B0609020204030204" pitchFamily="49" charset="0"/>
              </a:rPr>
              <a:t>(...)</a:t>
            </a:r>
            <a:r>
              <a:rPr lang="es-MX" dirty="0"/>
              <a:t>. </a:t>
            </a:r>
            <a:endParaRPr lang="es-CO" dirty="0"/>
          </a:p>
        </p:txBody>
      </p:sp>
    </p:spTree>
    <p:extLst>
      <p:ext uri="{BB962C8B-B14F-4D97-AF65-F5344CB8AC3E}">
        <p14:creationId xmlns:p14="http://schemas.microsoft.com/office/powerpoint/2010/main" val="3977442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08782" y="116632"/>
            <a:ext cx="8506932" cy="794653"/>
          </a:xfrm>
        </p:spPr>
        <p:txBody>
          <a:bodyPr>
            <a:noAutofit/>
          </a:bodyPr>
          <a:lstStyle/>
          <a:p>
            <a:r>
              <a:rPr lang="es-MX" sz="3600" dirty="0"/>
              <a:t>¿Qué ocurre al importar un módulo?</a:t>
            </a:r>
            <a:endParaRPr lang="es-MX" sz="3200" dirty="0">
              <a:latin typeface="Consolas" panose="020B0609020204030204" pitchFamily="49" charset="0"/>
            </a:endParaRPr>
          </a:p>
        </p:txBody>
      </p:sp>
      <p:sp>
        <p:nvSpPr>
          <p:cNvPr id="13" name="12 Rectángulo"/>
          <p:cNvSpPr/>
          <p:nvPr/>
        </p:nvSpPr>
        <p:spPr>
          <a:xfrm>
            <a:off x="144639" y="775732"/>
            <a:ext cx="8835218" cy="4093428"/>
          </a:xfrm>
          <a:prstGeom prst="rect">
            <a:avLst/>
          </a:prstGeom>
        </p:spPr>
        <p:txBody>
          <a:bodyPr wrap="square">
            <a:spAutoFit/>
          </a:bodyPr>
          <a:lstStyle/>
          <a:p>
            <a:pPr marL="342900" indent="-342900" rtl="0">
              <a:buFont typeface="Arial" panose="020B0604020202020204" pitchFamily="34" charset="0"/>
              <a:buChar char="•"/>
            </a:pPr>
            <a:r>
              <a:rPr lang="es-MX" b="1" dirty="0" err="1">
                <a:latin typeface="Consolas" panose="020B0609020204030204" pitchFamily="49" charset="0"/>
              </a:rPr>
              <a:t>import</a:t>
            </a:r>
            <a:r>
              <a:rPr lang="es-MX" b="1" dirty="0">
                <a:latin typeface="Consolas" panose="020B0609020204030204" pitchFamily="49" charset="0"/>
              </a:rPr>
              <a:t> conversiones</a:t>
            </a:r>
            <a:r>
              <a:rPr lang="es-MX" sz="2000" dirty="0"/>
              <a:t> </a:t>
            </a:r>
            <a:r>
              <a:rPr lang="es-MX" sz="2000" b="1" dirty="0"/>
              <a:t>ejecuta todo el archivo</a:t>
            </a:r>
            <a:r>
              <a:rPr lang="es-MX" sz="2000" dirty="0"/>
              <a:t> de arriba hacia abajo, no solo las definiciones </a:t>
            </a:r>
            <a:r>
              <a:rPr lang="es-MX" b="1" dirty="0">
                <a:latin typeface="Consolas" panose="020B0609020204030204" pitchFamily="49" charset="0"/>
              </a:rPr>
              <a:t>def</a:t>
            </a:r>
            <a:r>
              <a:rPr lang="es-MX" sz="2000" dirty="0"/>
              <a:t>.</a:t>
            </a:r>
          </a:p>
          <a:p>
            <a:pPr marL="342900" indent="-342900" rtl="0">
              <a:buFont typeface="Arial" panose="020B0604020202020204" pitchFamily="34" charset="0"/>
              <a:buChar char="•"/>
            </a:pPr>
            <a:r>
              <a:rPr lang="es-MX" sz="2000" dirty="0"/>
              <a:t>Si las pruebas están al final del módulo, también se ejecutan al importarlo.</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it-IT" sz="2000" b="1" dirty="0"/>
              <a:t>Archivo</a:t>
            </a:r>
            <a:r>
              <a:rPr lang="it-IT" sz="2000" dirty="0"/>
              <a:t>: </a:t>
            </a:r>
            <a:r>
              <a:rPr lang="it-IT" sz="1600" dirty="0">
                <a:latin typeface="Consolas" panose="020B0609020204030204" pitchFamily="49" charset="0"/>
              </a:rPr>
              <a:t>1_sin_guarda/conversiones.py</a:t>
            </a:r>
            <a:endParaRPr lang="es-MX" dirty="0">
              <a:latin typeface="Consolas" panose="020B0609020204030204" pitchFamily="49" charset="0"/>
            </a:endParaRPr>
          </a:p>
        </p:txBody>
      </p:sp>
      <p:sp>
        <p:nvSpPr>
          <p:cNvPr id="9" name="CuadroTexto 8">
            <a:extLst>
              <a:ext uri="{FF2B5EF4-FFF2-40B4-BE49-F238E27FC236}">
                <a16:creationId xmlns:a16="http://schemas.microsoft.com/office/drawing/2014/main" id="{CEC4C591-D670-4243-B7E9-14D4E839D6C7}"/>
              </a:ext>
            </a:extLst>
          </p:cNvPr>
          <p:cNvSpPr txBox="1"/>
          <p:nvPr/>
        </p:nvSpPr>
        <p:spPr>
          <a:xfrm>
            <a:off x="1907704" y="4892967"/>
            <a:ext cx="5688632" cy="1200329"/>
          </a:xfrm>
          <a:prstGeom prst="rect">
            <a:avLst/>
          </a:prstGeom>
          <a:noFill/>
          <a:ln>
            <a:solidFill>
              <a:schemeClr val="tx1"/>
            </a:solidFill>
          </a:ln>
        </p:spPr>
        <p:txBody>
          <a:bodyPr wrap="square">
            <a:spAutoFit/>
          </a:bodyPr>
          <a:lstStyle/>
          <a:p>
            <a:r>
              <a:rPr lang="es-CO" sz="1200" dirty="0">
                <a:latin typeface="Consolas" panose="020B0609020204030204" pitchFamily="49" charset="0"/>
              </a:rPr>
              <a:t>31  ############ Pruebas ##############</a:t>
            </a:r>
          </a:p>
          <a:p>
            <a:r>
              <a:rPr lang="es-CO" sz="1200" dirty="0">
                <a:latin typeface="Consolas" panose="020B0609020204030204" pitchFamily="49" charset="0"/>
              </a:rPr>
              <a:t>32  </a:t>
            </a:r>
            <a:r>
              <a:rPr lang="es-CO" sz="1200" dirty="0" err="1">
                <a:latin typeface="Consolas" panose="020B0609020204030204" pitchFamily="49" charset="0"/>
              </a:rPr>
              <a:t>assert</a:t>
            </a:r>
            <a:r>
              <a:rPr lang="es-CO" sz="1200" dirty="0">
                <a:latin typeface="Consolas" panose="020B0609020204030204" pitchFamily="49" charset="0"/>
              </a:rPr>
              <a:t> round(</a:t>
            </a:r>
            <a:r>
              <a:rPr lang="es-CO" sz="1200" dirty="0" err="1">
                <a:latin typeface="Consolas" panose="020B0609020204030204" pitchFamily="49" charset="0"/>
              </a:rPr>
              <a:t>celsius_a_fahrenheit</a:t>
            </a:r>
            <a:r>
              <a:rPr lang="es-CO" sz="1200" dirty="0">
                <a:latin typeface="Consolas" panose="020B0609020204030204" pitchFamily="49" charset="0"/>
              </a:rPr>
              <a:t>(100), 2) == 212.0</a:t>
            </a:r>
          </a:p>
          <a:p>
            <a:r>
              <a:rPr lang="es-CO" sz="1200" dirty="0">
                <a:latin typeface="Consolas" panose="020B0609020204030204" pitchFamily="49" charset="0"/>
              </a:rPr>
              <a:t>33  </a:t>
            </a:r>
            <a:r>
              <a:rPr lang="es-CO" sz="1200" dirty="0" err="1">
                <a:latin typeface="Consolas" panose="020B0609020204030204" pitchFamily="49" charset="0"/>
              </a:rPr>
              <a:t>assert</a:t>
            </a:r>
            <a:r>
              <a:rPr lang="es-CO" sz="1200" dirty="0">
                <a:latin typeface="Consolas" panose="020B0609020204030204" pitchFamily="49" charset="0"/>
              </a:rPr>
              <a:t> round(</a:t>
            </a:r>
            <a:r>
              <a:rPr lang="es-CO" sz="1200" dirty="0" err="1">
                <a:latin typeface="Consolas" panose="020B0609020204030204" pitchFamily="49" charset="0"/>
              </a:rPr>
              <a:t>celsius_a_fahrenheit</a:t>
            </a:r>
            <a:r>
              <a:rPr lang="es-CO" sz="1200" dirty="0">
                <a:latin typeface="Consolas" panose="020B0609020204030204" pitchFamily="49" charset="0"/>
              </a:rPr>
              <a:t>(0), 2) == 32.0</a:t>
            </a:r>
          </a:p>
          <a:p>
            <a:r>
              <a:rPr lang="es-CO" sz="1200" dirty="0">
                <a:latin typeface="Consolas" panose="020B0609020204030204" pitchFamily="49" charset="0"/>
              </a:rPr>
              <a:t>34  </a:t>
            </a:r>
            <a:r>
              <a:rPr lang="es-CO" sz="1200" dirty="0" err="1">
                <a:latin typeface="Consolas" panose="020B0609020204030204" pitchFamily="49" charset="0"/>
              </a:rPr>
              <a:t>assert</a:t>
            </a:r>
            <a:r>
              <a:rPr lang="es-CO" sz="1200" dirty="0">
                <a:latin typeface="Consolas" panose="020B0609020204030204" pitchFamily="49" charset="0"/>
              </a:rPr>
              <a:t> round(</a:t>
            </a:r>
            <a:r>
              <a:rPr lang="es-CO" sz="1200" dirty="0" err="1">
                <a:latin typeface="Consolas" panose="020B0609020204030204" pitchFamily="49" charset="0"/>
              </a:rPr>
              <a:t>celsius_a_kelvin</a:t>
            </a:r>
            <a:r>
              <a:rPr lang="es-CO" sz="1200" dirty="0">
                <a:latin typeface="Consolas" panose="020B0609020204030204" pitchFamily="49" charset="0"/>
              </a:rPr>
              <a:t>(25), 2) == 298.15</a:t>
            </a:r>
          </a:p>
          <a:p>
            <a:r>
              <a:rPr lang="es-CO" sz="1200" dirty="0">
                <a:latin typeface="Consolas" panose="020B0609020204030204" pitchFamily="49" charset="0"/>
              </a:rPr>
              <a:t>35  </a:t>
            </a:r>
            <a:r>
              <a:rPr lang="es-CO" sz="1200" dirty="0" err="1">
                <a:latin typeface="Consolas" panose="020B0609020204030204" pitchFamily="49" charset="0"/>
              </a:rPr>
              <a:t>assert</a:t>
            </a:r>
            <a:r>
              <a:rPr lang="es-CO" sz="1200" dirty="0">
                <a:latin typeface="Consolas" panose="020B0609020204030204" pitchFamily="49" charset="0"/>
              </a:rPr>
              <a:t> round(</a:t>
            </a:r>
            <a:r>
              <a:rPr lang="es-CO" sz="1200" dirty="0" err="1">
                <a:latin typeface="Consolas" panose="020B0609020204030204" pitchFamily="49" charset="0"/>
              </a:rPr>
              <a:t>celsius_a_kelvin</a:t>
            </a:r>
            <a:r>
              <a:rPr lang="es-CO" sz="1200" dirty="0">
                <a:latin typeface="Consolas" panose="020B0609020204030204" pitchFamily="49" charset="0"/>
              </a:rPr>
              <a:t>(-273.15), 2) == 0.0</a:t>
            </a:r>
          </a:p>
          <a:p>
            <a:r>
              <a:rPr lang="es-CO" sz="1200" dirty="0">
                <a:latin typeface="Consolas" panose="020B0609020204030204" pitchFamily="49" charset="0"/>
              </a:rPr>
              <a:t>36  </a:t>
            </a:r>
            <a:r>
              <a:rPr lang="es-CO" sz="1200" dirty="0" err="1">
                <a:latin typeface="Consolas" panose="020B0609020204030204" pitchFamily="49" charset="0"/>
              </a:rPr>
              <a:t>print</a:t>
            </a:r>
            <a:r>
              <a:rPr lang="es-CO" sz="1200" dirty="0">
                <a:latin typeface="Consolas" panose="020B0609020204030204" pitchFamily="49" charset="0"/>
              </a:rPr>
              <a:t>("Pruebas de conversiones: todas pasaron")</a:t>
            </a:r>
          </a:p>
        </p:txBody>
      </p:sp>
      <p:sp>
        <p:nvSpPr>
          <p:cNvPr id="10" name="CuadroTexto 9">
            <a:extLst>
              <a:ext uri="{FF2B5EF4-FFF2-40B4-BE49-F238E27FC236}">
                <a16:creationId xmlns:a16="http://schemas.microsoft.com/office/drawing/2014/main" id="{71EF99D5-BFD2-4E0D-9096-B360583F1740}"/>
              </a:ext>
            </a:extLst>
          </p:cNvPr>
          <p:cNvSpPr txBox="1"/>
          <p:nvPr/>
        </p:nvSpPr>
        <p:spPr>
          <a:xfrm>
            <a:off x="56639" y="6167045"/>
            <a:ext cx="8979857" cy="646331"/>
          </a:xfrm>
          <a:prstGeom prst="rect">
            <a:avLst/>
          </a:prstGeom>
          <a:solidFill>
            <a:schemeClr val="bg2"/>
          </a:solidFill>
        </p:spPr>
        <p:txBody>
          <a:bodyPr wrap="square">
            <a:spAutoFit/>
          </a:bodyPr>
          <a:lstStyle/>
          <a:p>
            <a:r>
              <a:rPr lang="es-MX" b="1" dirty="0"/>
              <a:t>Pregunta</a:t>
            </a:r>
            <a:r>
              <a:rPr lang="es-MX" dirty="0"/>
              <a:t>: ¿le interesa al usuario del menú ver el resultado de las pruebas? ¿Qué ocurriría si una de ellas fallara?</a:t>
            </a:r>
            <a:endParaRPr lang="es-CO" dirty="0"/>
          </a:p>
        </p:txBody>
      </p:sp>
      <p:pic>
        <p:nvPicPr>
          <p:cNvPr id="4" name="Imagen 3">
            <a:extLst>
              <a:ext uri="{FF2B5EF4-FFF2-40B4-BE49-F238E27FC236}">
                <a16:creationId xmlns:a16="http://schemas.microsoft.com/office/drawing/2014/main" id="{736C0B0D-4086-4F82-8773-6EBDB59BA4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3568" y="1772816"/>
            <a:ext cx="7352769" cy="2736304"/>
          </a:xfrm>
          <a:prstGeom prst="rect">
            <a:avLst/>
          </a:prstGeom>
        </p:spPr>
      </p:pic>
    </p:spTree>
    <p:extLst>
      <p:ext uri="{BB962C8B-B14F-4D97-AF65-F5344CB8AC3E}">
        <p14:creationId xmlns:p14="http://schemas.microsoft.com/office/powerpoint/2010/main" val="13551423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2800" dirty="0"/>
              <a:t>¿Cómo sabe un archivo si fue ejecutado o importado?</a:t>
            </a:r>
            <a:endParaRPr lang="es-MX" sz="2400" dirty="0">
              <a:latin typeface="Consolas" panose="020B0609020204030204" pitchFamily="49" charset="0"/>
            </a:endParaRPr>
          </a:p>
        </p:txBody>
      </p:sp>
      <p:sp>
        <p:nvSpPr>
          <p:cNvPr id="13" name="12 Rectángulo"/>
          <p:cNvSpPr/>
          <p:nvPr/>
        </p:nvSpPr>
        <p:spPr>
          <a:xfrm>
            <a:off x="144639" y="775732"/>
            <a:ext cx="8835218" cy="4955203"/>
          </a:xfrm>
          <a:prstGeom prst="rect">
            <a:avLst/>
          </a:prstGeom>
        </p:spPr>
        <p:txBody>
          <a:bodyPr wrap="square">
            <a:spAutoFit/>
          </a:bodyPr>
          <a:lstStyle/>
          <a:p>
            <a:pPr marL="342900" indent="-342900" rtl="0">
              <a:buFont typeface="Arial" panose="020B0604020202020204" pitchFamily="34" charset="0"/>
              <a:buChar char="•"/>
            </a:pPr>
            <a:r>
              <a:rPr lang="es-MX" sz="2000" dirty="0"/>
              <a:t>Python le asigna a cada archivo la variable especial </a:t>
            </a:r>
            <a:r>
              <a:rPr lang="es-MX" b="1" dirty="0">
                <a:latin typeface="Consolas" panose="020B0609020204030204" pitchFamily="49" charset="0"/>
              </a:rPr>
              <a:t>__name__</a:t>
            </a:r>
            <a:r>
              <a:rPr lang="es-MX" sz="2000" dirty="0"/>
              <a:t>:</a:t>
            </a:r>
          </a:p>
          <a:p>
            <a:pPr marL="800100" lvl="1" indent="-342900">
              <a:buFont typeface="Arial" panose="020B0604020202020204" pitchFamily="34" charset="0"/>
              <a:buChar char="•"/>
            </a:pPr>
            <a:r>
              <a:rPr lang="es-MX" sz="2000" dirty="0"/>
              <a:t>Vale </a:t>
            </a:r>
            <a:r>
              <a:rPr lang="es-MX" b="1" dirty="0">
                <a:latin typeface="Consolas" panose="020B0609020204030204" pitchFamily="49" charset="0"/>
              </a:rPr>
              <a:t>"__main__"</a:t>
            </a:r>
            <a:r>
              <a:rPr lang="es-MX" sz="2000" dirty="0"/>
              <a:t> si el archivo se ejecutó directamente.</a:t>
            </a:r>
          </a:p>
          <a:p>
            <a:pPr marL="800100" lvl="1" indent="-342900">
              <a:buFont typeface="Arial" panose="020B0604020202020204" pitchFamily="34" charset="0"/>
              <a:buChar char="•"/>
            </a:pPr>
            <a:r>
              <a:rPr lang="es-MX" sz="2000" dirty="0"/>
              <a:t>Vale el </a:t>
            </a:r>
            <a:r>
              <a:rPr lang="es-MX" sz="2000" b="1" dirty="0"/>
              <a:t>nombre del módulo</a:t>
            </a:r>
            <a:r>
              <a:rPr lang="es-MX" sz="2000" dirty="0"/>
              <a:t> (sin </a:t>
            </a:r>
            <a:r>
              <a:rPr lang="es-MX" b="1" dirty="0">
                <a:latin typeface="Consolas" panose="020B0609020204030204" pitchFamily="49" charset="0"/>
              </a:rPr>
              <a:t>.py</a:t>
            </a:r>
            <a:r>
              <a:rPr lang="es-MX" sz="2000" dirty="0"/>
              <a:t>) si el archivo fue importado.</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es-CO" sz="2000" b="1" dirty="0"/>
              <a:t>Archivo</a:t>
            </a:r>
            <a:r>
              <a:rPr lang="es-CO" sz="2000" dirty="0"/>
              <a:t>: </a:t>
            </a:r>
            <a:r>
              <a:rPr lang="es-CO" dirty="0">
                <a:latin typeface="Consolas" panose="020B0609020204030204" pitchFamily="49" charset="0"/>
              </a:rPr>
              <a:t>0_name/saludo.py</a:t>
            </a:r>
          </a:p>
          <a:p>
            <a:pPr marL="342900" indent="-342900" rtl="0">
              <a:buFont typeface="Arial" panose="020B0604020202020204" pitchFamily="34" charset="0"/>
              <a:buChar char="•"/>
            </a:pPr>
            <a:endParaRPr lang="es-CO" dirty="0">
              <a:latin typeface="Consolas" panose="020B0609020204030204" pitchFamily="49" charset="0"/>
            </a:endParaRPr>
          </a:p>
          <a:p>
            <a:pPr marL="342900" indent="-342900" rtl="0">
              <a:buFont typeface="Arial" panose="020B0604020202020204" pitchFamily="34" charset="0"/>
              <a:buChar char="•"/>
            </a:pPr>
            <a:endParaRPr lang="es-CO" dirty="0"/>
          </a:p>
          <a:p>
            <a:pPr marL="342900" indent="-342900">
              <a:buFont typeface="Arial" panose="020B0604020202020204" pitchFamily="34" charset="0"/>
              <a:buChar char="•"/>
            </a:pPr>
            <a:r>
              <a:rPr lang="es-CO" sz="2000" b="1" dirty="0"/>
              <a:t>Archivo</a:t>
            </a:r>
            <a:r>
              <a:rPr lang="es-CO" sz="2000" dirty="0"/>
              <a:t>: </a:t>
            </a:r>
            <a:r>
              <a:rPr lang="es-CO" dirty="0">
                <a:latin typeface="Consolas" panose="020B0609020204030204" pitchFamily="49" charset="0"/>
              </a:rPr>
              <a:t>0_name/principal.py</a:t>
            </a:r>
          </a:p>
          <a:p>
            <a:pPr marL="342900" indent="-342900" rtl="0">
              <a:buFont typeface="Arial" panose="020B0604020202020204" pitchFamily="34" charset="0"/>
              <a:buChar char="•"/>
            </a:pPr>
            <a:endParaRPr lang="es-CO" sz="2000" dirty="0"/>
          </a:p>
        </p:txBody>
      </p:sp>
      <p:sp>
        <p:nvSpPr>
          <p:cNvPr id="9" name="CuadroTexto 8">
            <a:extLst>
              <a:ext uri="{FF2B5EF4-FFF2-40B4-BE49-F238E27FC236}">
                <a16:creationId xmlns:a16="http://schemas.microsoft.com/office/drawing/2014/main" id="{CEC4C591-D670-4243-B7E9-14D4E839D6C7}"/>
              </a:ext>
            </a:extLst>
          </p:cNvPr>
          <p:cNvSpPr txBox="1"/>
          <p:nvPr/>
        </p:nvSpPr>
        <p:spPr>
          <a:xfrm>
            <a:off x="2366882" y="4606619"/>
            <a:ext cx="4770276" cy="276999"/>
          </a:xfrm>
          <a:prstGeom prst="rect">
            <a:avLst/>
          </a:prstGeom>
          <a:noFill/>
          <a:ln>
            <a:solidFill>
              <a:schemeClr val="tx1"/>
            </a:solidFill>
          </a:ln>
        </p:spPr>
        <p:txBody>
          <a:bodyPr wrap="square">
            <a:spAutoFit/>
          </a:bodyPr>
          <a:lstStyle/>
          <a:p>
            <a:r>
              <a:rPr lang="nl-NL" sz="1200" dirty="0">
                <a:latin typeface="Consolas" panose="020B0609020204030204" pitchFamily="49" charset="0"/>
              </a:rPr>
              <a:t>1  print("En saludo.py, __name__ vale:", __name__)</a:t>
            </a:r>
            <a:endParaRPr lang="es-CO" sz="1200" dirty="0">
              <a:latin typeface="Consolas" panose="020B0609020204030204" pitchFamily="49" charset="0"/>
            </a:endParaRPr>
          </a:p>
        </p:txBody>
      </p:sp>
      <p:sp>
        <p:nvSpPr>
          <p:cNvPr id="10" name="CuadroTexto 9">
            <a:extLst>
              <a:ext uri="{FF2B5EF4-FFF2-40B4-BE49-F238E27FC236}">
                <a16:creationId xmlns:a16="http://schemas.microsoft.com/office/drawing/2014/main" id="{71EF99D5-BFD2-4E0D-9096-B360583F1740}"/>
              </a:ext>
            </a:extLst>
          </p:cNvPr>
          <p:cNvSpPr txBox="1"/>
          <p:nvPr/>
        </p:nvSpPr>
        <p:spPr>
          <a:xfrm>
            <a:off x="56639" y="6444044"/>
            <a:ext cx="9045797" cy="369332"/>
          </a:xfrm>
          <a:prstGeom prst="rect">
            <a:avLst/>
          </a:prstGeom>
          <a:solidFill>
            <a:schemeClr val="bg2"/>
          </a:solidFill>
        </p:spPr>
        <p:txBody>
          <a:bodyPr wrap="square">
            <a:spAutoFit/>
          </a:bodyPr>
          <a:lstStyle/>
          <a:p>
            <a:r>
              <a:rPr lang="es-MX" b="1" dirty="0"/>
              <a:t>Idea clave</a:t>
            </a:r>
            <a:r>
              <a:rPr lang="es-MX" dirty="0"/>
              <a:t>: el mismo archivo </a:t>
            </a:r>
            <a:r>
              <a:rPr lang="es-MX" sz="1600" b="1" dirty="0">
                <a:latin typeface="Consolas" panose="020B0609020204030204" pitchFamily="49" charset="0"/>
              </a:rPr>
              <a:t>saludo.py</a:t>
            </a:r>
            <a:r>
              <a:rPr lang="es-MX" dirty="0"/>
              <a:t> imprime valores distintos según cómo se ejecute. </a:t>
            </a:r>
          </a:p>
        </p:txBody>
      </p:sp>
      <p:pic>
        <p:nvPicPr>
          <p:cNvPr id="3" name="Imagen 2">
            <a:extLst>
              <a:ext uri="{FF2B5EF4-FFF2-40B4-BE49-F238E27FC236}">
                <a16:creationId xmlns:a16="http://schemas.microsoft.com/office/drawing/2014/main" id="{3108AD38-D839-4488-A3CF-AA91A617BF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1667" y="1772816"/>
            <a:ext cx="8708561" cy="2274335"/>
          </a:xfrm>
          <a:prstGeom prst="rect">
            <a:avLst/>
          </a:prstGeom>
        </p:spPr>
      </p:pic>
      <p:sp>
        <p:nvSpPr>
          <p:cNvPr id="15" name="CuadroTexto 14">
            <a:extLst>
              <a:ext uri="{FF2B5EF4-FFF2-40B4-BE49-F238E27FC236}">
                <a16:creationId xmlns:a16="http://schemas.microsoft.com/office/drawing/2014/main" id="{F74A0C38-9351-4A4D-B73C-952B2720623C}"/>
              </a:ext>
            </a:extLst>
          </p:cNvPr>
          <p:cNvSpPr txBox="1"/>
          <p:nvPr/>
        </p:nvSpPr>
        <p:spPr>
          <a:xfrm>
            <a:off x="2366882" y="5500102"/>
            <a:ext cx="4770276" cy="461665"/>
          </a:xfrm>
          <a:prstGeom prst="rect">
            <a:avLst/>
          </a:prstGeom>
          <a:noFill/>
          <a:ln>
            <a:solidFill>
              <a:schemeClr val="tx1"/>
            </a:solidFill>
          </a:ln>
        </p:spPr>
        <p:txBody>
          <a:bodyPr wrap="square">
            <a:spAutoFit/>
          </a:bodyPr>
          <a:lstStyle/>
          <a:p>
            <a:r>
              <a:rPr lang="nl-NL" sz="1200" dirty="0">
                <a:latin typeface="Consolas" panose="020B0609020204030204" pitchFamily="49" charset="0"/>
              </a:rPr>
              <a:t>1  import saludo</a:t>
            </a:r>
          </a:p>
          <a:p>
            <a:r>
              <a:rPr lang="nl-NL" sz="1200" dirty="0">
                <a:latin typeface="Consolas" panose="020B0609020204030204" pitchFamily="49" charset="0"/>
              </a:rPr>
              <a:t>2  print("En principal.py, __name__ vale:", __name__)</a:t>
            </a:r>
            <a:endParaRPr lang="es-CO" sz="1200" dirty="0">
              <a:latin typeface="Consolas" panose="020B0609020204030204" pitchFamily="49" charset="0"/>
            </a:endParaRPr>
          </a:p>
        </p:txBody>
      </p:sp>
    </p:spTree>
    <p:extLst>
      <p:ext uri="{BB962C8B-B14F-4D97-AF65-F5344CB8AC3E}">
        <p14:creationId xmlns:p14="http://schemas.microsoft.com/office/powerpoint/2010/main" val="19994871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600" dirty="0"/>
              <a:t>Opción 1: proteger las pruebas con la guarda</a:t>
            </a:r>
            <a:endParaRPr lang="es-MX" sz="3200" dirty="0">
              <a:latin typeface="Consolas" panose="020B0609020204030204" pitchFamily="49" charset="0"/>
            </a:endParaRPr>
          </a:p>
        </p:txBody>
      </p:sp>
      <p:sp>
        <p:nvSpPr>
          <p:cNvPr id="13" name="12 Rectángulo"/>
          <p:cNvSpPr/>
          <p:nvPr/>
        </p:nvSpPr>
        <p:spPr>
          <a:xfrm>
            <a:off x="144639" y="692696"/>
            <a:ext cx="8835218" cy="4093428"/>
          </a:xfrm>
          <a:prstGeom prst="rect">
            <a:avLst/>
          </a:prstGeom>
        </p:spPr>
        <p:txBody>
          <a:bodyPr wrap="square">
            <a:spAutoFit/>
          </a:bodyPr>
          <a:lstStyle/>
          <a:p>
            <a:pPr marL="342900" indent="-342900" rtl="0">
              <a:buFont typeface="Arial" panose="020B0604020202020204" pitchFamily="34" charset="0"/>
              <a:buChar char="•"/>
            </a:pPr>
            <a:r>
              <a:rPr lang="es-MX" sz="2000" dirty="0"/>
              <a:t>Las pruebas se colocan dentro de </a:t>
            </a:r>
            <a:r>
              <a:rPr lang="es-MX" b="1" dirty="0">
                <a:latin typeface="Consolas" panose="020B0609020204030204" pitchFamily="49" charset="0"/>
              </a:rPr>
              <a:t>if __name__ == "__main__":</a:t>
            </a:r>
            <a:r>
              <a:rPr lang="es-MX" sz="2000" dirty="0"/>
              <a:t>.</a:t>
            </a:r>
          </a:p>
          <a:p>
            <a:pPr marL="342900" indent="-342900" rtl="0">
              <a:buFont typeface="Arial" panose="020B0604020202020204" pitchFamily="34" charset="0"/>
              <a:buChar char="•"/>
            </a:pPr>
            <a:r>
              <a:rPr lang="es-MX" sz="2000" dirty="0"/>
              <a:t>Así solo se ejecutan cuando el módulo se corre directamente, y no cuando otro archivo lo importa.</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a:buFont typeface="Arial" panose="020B0604020202020204" pitchFamily="34" charset="0"/>
              <a:buChar char="•"/>
            </a:pPr>
            <a:r>
              <a:rPr lang="es-CO" sz="2000" b="1" dirty="0"/>
              <a:t>Archivo</a:t>
            </a:r>
            <a:r>
              <a:rPr lang="es-CO" sz="2000" dirty="0"/>
              <a:t>: </a:t>
            </a:r>
            <a:r>
              <a:rPr lang="it-IT" dirty="0">
                <a:latin typeface="Consolas" panose="020B0609020204030204" pitchFamily="49" charset="0"/>
              </a:rPr>
              <a:t> 2_con_guarda/conversiones.py</a:t>
            </a:r>
            <a:endParaRPr lang="es-CO" sz="2000" dirty="0"/>
          </a:p>
        </p:txBody>
      </p:sp>
      <p:sp>
        <p:nvSpPr>
          <p:cNvPr id="10" name="CuadroTexto 9">
            <a:extLst>
              <a:ext uri="{FF2B5EF4-FFF2-40B4-BE49-F238E27FC236}">
                <a16:creationId xmlns:a16="http://schemas.microsoft.com/office/drawing/2014/main" id="{71EF99D5-BFD2-4E0D-9096-B360583F1740}"/>
              </a:ext>
            </a:extLst>
          </p:cNvPr>
          <p:cNvSpPr txBox="1"/>
          <p:nvPr/>
        </p:nvSpPr>
        <p:spPr>
          <a:xfrm>
            <a:off x="98203" y="6228601"/>
            <a:ext cx="9045797" cy="584775"/>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s-MX" sz="1600" b="1" dirty="0"/>
              <a:t>Ventaja</a:t>
            </a:r>
            <a:r>
              <a:rPr lang="es-MX" sz="1600" dirty="0"/>
              <a:t>: las pruebas quedan junto a las funciones que prueban. </a:t>
            </a:r>
          </a:p>
          <a:p>
            <a:pPr marL="285750" indent="-285750">
              <a:buFont typeface="Arial" panose="020B0604020202020204" pitchFamily="34" charset="0"/>
              <a:buChar char="•"/>
            </a:pPr>
            <a:r>
              <a:rPr lang="es-MX" sz="1600" b="1" dirty="0"/>
              <a:t>Desventaja</a:t>
            </a:r>
            <a:r>
              <a:rPr lang="es-MX" sz="1600" dirty="0"/>
              <a:t>: el módulo crece, porque funciones y pruebas comparten el mismo archivo.</a:t>
            </a:r>
          </a:p>
        </p:txBody>
      </p:sp>
      <p:sp>
        <p:nvSpPr>
          <p:cNvPr id="15" name="CuadroTexto 14">
            <a:extLst>
              <a:ext uri="{FF2B5EF4-FFF2-40B4-BE49-F238E27FC236}">
                <a16:creationId xmlns:a16="http://schemas.microsoft.com/office/drawing/2014/main" id="{F74A0C38-9351-4A4D-B73C-952B2720623C}"/>
              </a:ext>
            </a:extLst>
          </p:cNvPr>
          <p:cNvSpPr txBox="1"/>
          <p:nvPr/>
        </p:nvSpPr>
        <p:spPr>
          <a:xfrm>
            <a:off x="1403648" y="4725144"/>
            <a:ext cx="6336704" cy="1384995"/>
          </a:xfrm>
          <a:prstGeom prst="rect">
            <a:avLst/>
          </a:prstGeom>
          <a:noFill/>
          <a:ln>
            <a:solidFill>
              <a:schemeClr val="tx1"/>
            </a:solidFill>
          </a:ln>
        </p:spPr>
        <p:txBody>
          <a:bodyPr wrap="square">
            <a:spAutoFit/>
          </a:bodyPr>
          <a:lstStyle/>
          <a:p>
            <a:r>
              <a:rPr lang="nl-NL" sz="1200" dirty="0">
                <a:latin typeface="Consolas" panose="020B0609020204030204" pitchFamily="49" charset="0"/>
              </a:rPr>
              <a:t>31  ############ Pruebas ##############</a:t>
            </a:r>
          </a:p>
          <a:p>
            <a:r>
              <a:rPr lang="nl-NL" sz="1200" dirty="0">
                <a:latin typeface="Consolas" panose="020B0609020204030204" pitchFamily="49" charset="0"/>
              </a:rPr>
              <a:t>32  if __name__ == "__main__":</a:t>
            </a:r>
          </a:p>
          <a:p>
            <a:r>
              <a:rPr lang="nl-NL" sz="1200" dirty="0">
                <a:latin typeface="Consolas" panose="020B0609020204030204" pitchFamily="49" charset="0"/>
              </a:rPr>
              <a:t>33      assert round(celsius_a_fahrenheit(100), 2) == 212.0</a:t>
            </a:r>
          </a:p>
          <a:p>
            <a:r>
              <a:rPr lang="nl-NL" sz="1200" dirty="0">
                <a:latin typeface="Consolas" panose="020B0609020204030204" pitchFamily="49" charset="0"/>
              </a:rPr>
              <a:t>34      assert round(celsius_a_fahrenheit(0), 2) == 32.0</a:t>
            </a:r>
          </a:p>
          <a:p>
            <a:r>
              <a:rPr lang="nl-NL" sz="1200" dirty="0">
                <a:latin typeface="Consolas" panose="020B0609020204030204" pitchFamily="49" charset="0"/>
              </a:rPr>
              <a:t>35      assert round(celsius_a_kelvin(25), 2) == 298.15</a:t>
            </a:r>
          </a:p>
          <a:p>
            <a:r>
              <a:rPr lang="nl-NL" sz="1200" dirty="0">
                <a:latin typeface="Consolas" panose="020B0609020204030204" pitchFamily="49" charset="0"/>
              </a:rPr>
              <a:t>36      assert round(celsius_a_kelvin(-273.15), 2) == 0.0</a:t>
            </a:r>
          </a:p>
          <a:p>
            <a:r>
              <a:rPr lang="nl-NL" sz="1200" dirty="0">
                <a:latin typeface="Consolas" panose="020B0609020204030204" pitchFamily="49" charset="0"/>
              </a:rPr>
              <a:t>37      print("Pruebas de conversiones: todas pasaron")</a:t>
            </a:r>
            <a:endParaRPr lang="es-CO" sz="1200" dirty="0">
              <a:latin typeface="Consolas" panose="020B0609020204030204" pitchFamily="49" charset="0"/>
            </a:endParaRPr>
          </a:p>
        </p:txBody>
      </p:sp>
      <p:pic>
        <p:nvPicPr>
          <p:cNvPr id="4" name="Imagen 3">
            <a:extLst>
              <a:ext uri="{FF2B5EF4-FFF2-40B4-BE49-F238E27FC236}">
                <a16:creationId xmlns:a16="http://schemas.microsoft.com/office/drawing/2014/main" id="{A70BE533-2C5C-481C-A3E1-2A8747B70F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71600" y="1628800"/>
            <a:ext cx="7036327" cy="2705110"/>
          </a:xfrm>
          <a:prstGeom prst="rect">
            <a:avLst/>
          </a:prstGeom>
        </p:spPr>
      </p:pic>
    </p:spTree>
    <p:extLst>
      <p:ext uri="{BB962C8B-B14F-4D97-AF65-F5344CB8AC3E}">
        <p14:creationId xmlns:p14="http://schemas.microsoft.com/office/powerpoint/2010/main" val="262927908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600" dirty="0"/>
              <a:t>Opción 2: un archivo de pruebas aparte</a:t>
            </a:r>
            <a:endParaRPr lang="es-MX" sz="3200" dirty="0">
              <a:latin typeface="Consolas" panose="020B0609020204030204" pitchFamily="49" charset="0"/>
            </a:endParaRPr>
          </a:p>
        </p:txBody>
      </p:sp>
      <p:sp>
        <p:nvSpPr>
          <p:cNvPr id="13" name="12 Rectángulo"/>
          <p:cNvSpPr/>
          <p:nvPr/>
        </p:nvSpPr>
        <p:spPr>
          <a:xfrm>
            <a:off x="144638" y="692696"/>
            <a:ext cx="8854721" cy="4401205"/>
          </a:xfrm>
          <a:prstGeom prst="rect">
            <a:avLst/>
          </a:prstGeom>
        </p:spPr>
        <p:txBody>
          <a:bodyPr wrap="square">
            <a:spAutoFit/>
          </a:bodyPr>
          <a:lstStyle/>
          <a:p>
            <a:pPr marL="342900" indent="-342900" rtl="0">
              <a:buFont typeface="Arial" panose="020B0604020202020204" pitchFamily="34" charset="0"/>
              <a:buChar char="•"/>
            </a:pPr>
            <a:r>
              <a:rPr lang="es-MX" sz="2000" dirty="0"/>
              <a:t>Las pruebas se trasladan a un archivo propio, que importa el módulo igual que lo hace </a:t>
            </a:r>
            <a:r>
              <a:rPr lang="es-MX" b="1" dirty="0">
                <a:latin typeface="Consolas" panose="020B0609020204030204" pitchFamily="49" charset="0"/>
              </a:rPr>
              <a:t>main.py</a:t>
            </a:r>
            <a:r>
              <a:rPr lang="es-MX" sz="2000" dirty="0"/>
              <a:t>.</a:t>
            </a:r>
          </a:p>
          <a:p>
            <a:pPr marL="342900" indent="-342900" rtl="0">
              <a:buFont typeface="Arial" panose="020B0604020202020204" pitchFamily="34" charset="0"/>
              <a:buChar char="•"/>
            </a:pPr>
            <a:r>
              <a:rPr lang="es-MX" sz="2000" dirty="0"/>
              <a:t>La convención es nombrarlo </a:t>
            </a:r>
            <a:r>
              <a:rPr lang="es-MX" b="1" dirty="0">
                <a:latin typeface="Consolas" panose="020B0609020204030204" pitchFamily="49" charset="0"/>
              </a:rPr>
              <a:t>test_&lt;modulo&gt;.py</a:t>
            </a:r>
            <a:r>
              <a:rPr lang="es-MX" sz="2000" dirty="0"/>
              <a:t>. Herramientas como </a:t>
            </a:r>
            <a:r>
              <a:rPr lang="es-MX" b="1" dirty="0" err="1">
                <a:latin typeface="Consolas" panose="020B0609020204030204" pitchFamily="49" charset="0"/>
              </a:rPr>
              <a:t>pytest</a:t>
            </a:r>
            <a:r>
              <a:rPr lang="es-MX" sz="2000" dirty="0"/>
              <a:t> reconocen ese nombre.</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a:buFont typeface="Arial" panose="020B0604020202020204" pitchFamily="34" charset="0"/>
              <a:buChar char="•"/>
            </a:pPr>
            <a:endParaRPr lang="es-CO" sz="2000" b="1" dirty="0"/>
          </a:p>
          <a:p>
            <a:pPr marL="342900" indent="-342900">
              <a:buFont typeface="Arial" panose="020B0604020202020204" pitchFamily="34" charset="0"/>
              <a:buChar char="•"/>
            </a:pPr>
            <a:r>
              <a:rPr lang="es-CO" sz="2000" b="1" dirty="0"/>
              <a:t>Archivo</a:t>
            </a:r>
            <a:r>
              <a:rPr lang="es-CO" sz="2000" dirty="0"/>
              <a:t>: </a:t>
            </a:r>
            <a:r>
              <a:rPr lang="es-MX" dirty="0">
                <a:latin typeface="Consolas" panose="020B0609020204030204" pitchFamily="49" charset="0"/>
              </a:rPr>
              <a:t>3_archivo_pruebas/test_conversiones.py</a:t>
            </a:r>
            <a:endParaRPr lang="es-CO" sz="2000" dirty="0"/>
          </a:p>
        </p:txBody>
      </p:sp>
      <p:sp>
        <p:nvSpPr>
          <p:cNvPr id="15" name="CuadroTexto 14">
            <a:extLst>
              <a:ext uri="{FF2B5EF4-FFF2-40B4-BE49-F238E27FC236}">
                <a16:creationId xmlns:a16="http://schemas.microsoft.com/office/drawing/2014/main" id="{F74A0C38-9351-4A4D-B73C-952B2720623C}"/>
              </a:ext>
            </a:extLst>
          </p:cNvPr>
          <p:cNvSpPr txBox="1"/>
          <p:nvPr/>
        </p:nvSpPr>
        <p:spPr>
          <a:xfrm>
            <a:off x="1403648" y="5140349"/>
            <a:ext cx="6336704" cy="1384995"/>
          </a:xfrm>
          <a:prstGeom prst="rect">
            <a:avLst/>
          </a:prstGeom>
          <a:noFill/>
          <a:ln>
            <a:solidFill>
              <a:schemeClr val="tx1"/>
            </a:solidFill>
          </a:ln>
        </p:spPr>
        <p:txBody>
          <a:bodyPr wrap="square">
            <a:spAutoFit/>
          </a:bodyPr>
          <a:lstStyle/>
          <a:p>
            <a:r>
              <a:rPr lang="nl-NL" sz="1200" dirty="0">
                <a:latin typeface="Consolas" panose="020B0609020204030204" pitchFamily="49" charset="0"/>
              </a:rPr>
              <a:t> 4  import conversiones</a:t>
            </a:r>
          </a:p>
          <a:p>
            <a:r>
              <a:rPr lang="nl-NL" sz="1200" dirty="0">
                <a:latin typeface="Consolas" panose="020B0609020204030204" pitchFamily="49" charset="0"/>
              </a:rPr>
              <a:t> 5</a:t>
            </a:r>
          </a:p>
          <a:p>
            <a:r>
              <a:rPr lang="nl-NL" sz="1200" dirty="0">
                <a:latin typeface="Consolas" panose="020B0609020204030204" pitchFamily="49" charset="0"/>
              </a:rPr>
              <a:t> 6  assert round(conversiones.celsius_a_fahrenheit(100), 2) == 212.0</a:t>
            </a:r>
          </a:p>
          <a:p>
            <a:r>
              <a:rPr lang="nl-NL" sz="1200" dirty="0">
                <a:latin typeface="Consolas" panose="020B0609020204030204" pitchFamily="49" charset="0"/>
              </a:rPr>
              <a:t> 7  assert round(conversiones.celsius_a_fahrenheit(0), 2) == 32.0</a:t>
            </a:r>
          </a:p>
          <a:p>
            <a:r>
              <a:rPr lang="nl-NL" sz="1200" dirty="0">
                <a:latin typeface="Consolas" panose="020B0609020204030204" pitchFamily="49" charset="0"/>
              </a:rPr>
              <a:t> 8  assert round(conversiones.celsius_a_kelvin(25), 2) == 298.15</a:t>
            </a:r>
          </a:p>
          <a:p>
            <a:r>
              <a:rPr lang="nl-NL" sz="1200" dirty="0">
                <a:latin typeface="Consolas" panose="020B0609020204030204" pitchFamily="49" charset="0"/>
              </a:rPr>
              <a:t> 9  assert round(conversiones.celsius_a_kelvin(-273.15), 2) == 0.0</a:t>
            </a:r>
          </a:p>
          <a:p>
            <a:r>
              <a:rPr lang="nl-NL" sz="1200" dirty="0">
                <a:latin typeface="Consolas" panose="020B0609020204030204" pitchFamily="49" charset="0"/>
              </a:rPr>
              <a:t>10  print("Pruebas de conversiones: todas pasaron")</a:t>
            </a:r>
            <a:endParaRPr lang="es-CO" sz="1200" dirty="0">
              <a:latin typeface="Consolas" panose="020B0609020204030204" pitchFamily="49" charset="0"/>
            </a:endParaRPr>
          </a:p>
        </p:txBody>
      </p:sp>
      <p:pic>
        <p:nvPicPr>
          <p:cNvPr id="3" name="Imagen 2">
            <a:extLst>
              <a:ext uri="{FF2B5EF4-FFF2-40B4-BE49-F238E27FC236}">
                <a16:creationId xmlns:a16="http://schemas.microsoft.com/office/drawing/2014/main" id="{DAC65FEA-B45B-4CC6-A7AA-0C30F48364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871" y="1988840"/>
            <a:ext cx="8892480" cy="2540708"/>
          </a:xfrm>
          <a:prstGeom prst="rect">
            <a:avLst/>
          </a:prstGeom>
        </p:spPr>
      </p:pic>
    </p:spTree>
    <p:extLst>
      <p:ext uri="{BB962C8B-B14F-4D97-AF65-F5344CB8AC3E}">
        <p14:creationId xmlns:p14="http://schemas.microsoft.com/office/powerpoint/2010/main" val="20563261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600" dirty="0"/>
              <a:t>¿Dónde se ubican las pruebas? Comparación</a:t>
            </a:r>
            <a:endParaRPr lang="es-MX" sz="3200" dirty="0">
              <a:latin typeface="Consolas" panose="020B0609020204030204" pitchFamily="49" charset="0"/>
            </a:endParaRPr>
          </a:p>
        </p:txBody>
      </p:sp>
      <p:graphicFrame>
        <p:nvGraphicFramePr>
          <p:cNvPr id="2" name="Tabla 1">
            <a:extLst>
              <a:ext uri="{FF2B5EF4-FFF2-40B4-BE49-F238E27FC236}">
                <a16:creationId xmlns:a16="http://schemas.microsoft.com/office/drawing/2014/main" id="{91C78EF3-3138-4061-AF21-ACA4F97CD3A1}"/>
              </a:ext>
            </a:extLst>
          </p:cNvPr>
          <p:cNvGraphicFramePr>
            <a:graphicFrameLocks noGrp="1"/>
          </p:cNvGraphicFramePr>
          <p:nvPr>
            <p:extLst>
              <p:ext uri="{D42A27DB-BD31-4B8C-83A1-F6EECF244321}">
                <p14:modId xmlns:p14="http://schemas.microsoft.com/office/powerpoint/2010/main" val="4014140373"/>
              </p:ext>
            </p:extLst>
          </p:nvPr>
        </p:nvGraphicFramePr>
        <p:xfrm>
          <a:off x="395536" y="764704"/>
          <a:ext cx="8496944" cy="4308669"/>
        </p:xfrm>
        <a:graphic>
          <a:graphicData uri="http://schemas.openxmlformats.org/drawingml/2006/table">
            <a:tbl>
              <a:tblPr/>
              <a:tblGrid>
                <a:gridCol w="1670339">
                  <a:extLst>
                    <a:ext uri="{9D8B030D-6E8A-4147-A177-3AD203B41FA5}">
                      <a16:colId xmlns:a16="http://schemas.microsoft.com/office/drawing/2014/main" val="958968307"/>
                    </a:ext>
                  </a:extLst>
                </a:gridCol>
                <a:gridCol w="2178704">
                  <a:extLst>
                    <a:ext uri="{9D8B030D-6E8A-4147-A177-3AD203B41FA5}">
                      <a16:colId xmlns:a16="http://schemas.microsoft.com/office/drawing/2014/main" val="3782664435"/>
                    </a:ext>
                  </a:extLst>
                </a:gridCol>
                <a:gridCol w="2559669">
                  <a:extLst>
                    <a:ext uri="{9D8B030D-6E8A-4147-A177-3AD203B41FA5}">
                      <a16:colId xmlns:a16="http://schemas.microsoft.com/office/drawing/2014/main" val="4017312991"/>
                    </a:ext>
                  </a:extLst>
                </a:gridCol>
                <a:gridCol w="2088232">
                  <a:extLst>
                    <a:ext uri="{9D8B030D-6E8A-4147-A177-3AD203B41FA5}">
                      <a16:colId xmlns:a16="http://schemas.microsoft.com/office/drawing/2014/main" val="3073672876"/>
                    </a:ext>
                  </a:extLst>
                </a:gridCol>
              </a:tblGrid>
              <a:tr h="323901">
                <a:tc>
                  <a:txBody>
                    <a:bodyPr/>
                    <a:lstStyle/>
                    <a:p>
                      <a:endParaRPr lang="es-CO" sz="1600"/>
                    </a:p>
                  </a:txBody>
                  <a:tcPr marL="59607" marR="59607" marT="29804" marB="29804"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r>
                        <a:rPr lang="es-CO" sz="1600" b="1" dirty="0"/>
                        <a:t>1. Sin guarda</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MX" sz="1600" b="1" dirty="0"/>
                        <a:t>2. Guarda en el módulo</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3. Archivo aparte</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773116605"/>
                  </a:ext>
                </a:extLst>
              </a:tr>
              <a:tr h="756835">
                <a:tc>
                  <a:txBody>
                    <a:bodyPr/>
                    <a:lstStyle/>
                    <a:p>
                      <a:r>
                        <a:rPr lang="es-CO" sz="1600" b="1" dirty="0"/>
                        <a:t>Ubicación de las pruebas</a:t>
                      </a:r>
                      <a:endParaRPr lang="es-CO" sz="1600" dirty="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dirty="0"/>
                        <a:t>Final de </a:t>
                      </a:r>
                      <a:r>
                        <a:rPr lang="es-CO" sz="1400" b="1" dirty="0">
                          <a:latin typeface="Consolas" panose="020B0609020204030204" pitchFamily="49" charset="0"/>
                        </a:rPr>
                        <a:t>conversiones.py</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Final de conversiones.py, dentro de </a:t>
                      </a:r>
                      <a:r>
                        <a:rPr lang="es-CO" sz="1400" b="1" dirty="0" err="1">
                          <a:latin typeface="Consolas" panose="020B0609020204030204" pitchFamily="49" charset="0"/>
                        </a:rPr>
                        <a:t>if</a:t>
                      </a:r>
                      <a:r>
                        <a:rPr lang="es-CO" sz="1400" b="1" dirty="0">
                          <a:latin typeface="Consolas" panose="020B0609020204030204" pitchFamily="49" charset="0"/>
                        </a:rPr>
                        <a:t> __</a:t>
                      </a:r>
                      <a:r>
                        <a:rPr lang="es-CO" sz="1400" b="1" dirty="0" err="1">
                          <a:latin typeface="Consolas" panose="020B0609020204030204" pitchFamily="49" charset="0"/>
                        </a:rPr>
                        <a:t>name</a:t>
                      </a:r>
                      <a:r>
                        <a:rPr lang="es-CO" sz="1400" b="1" dirty="0">
                          <a:latin typeface="Consolas" panose="020B0609020204030204" pitchFamily="49" charset="0"/>
                        </a:rPr>
                        <a:t>__ == "__</a:t>
                      </a:r>
                      <a:r>
                        <a:rPr lang="es-CO" sz="1400" b="1" dirty="0" err="1">
                          <a:latin typeface="Consolas" panose="020B0609020204030204" pitchFamily="49" charset="0"/>
                        </a:rPr>
                        <a:t>main</a:t>
                      </a:r>
                      <a:r>
                        <a:rPr lang="es-CO" sz="1400" b="1" dirty="0">
                          <a:latin typeface="Consolas" panose="020B0609020204030204" pitchFamily="49" charset="0"/>
                        </a:rPr>
                        <a:t>__":</a:t>
                      </a:r>
                      <a:endParaRPr lang="es-CO" sz="1600" b="1" dirty="0">
                        <a:latin typeface="Consolas" panose="020B0609020204030204" pitchFamily="49" charset="0"/>
                      </a:endParaRP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b="1" dirty="0">
                          <a:latin typeface="Consolas" panose="020B0609020204030204" pitchFamily="49" charset="0"/>
                        </a:rPr>
                        <a:t>test_conversiones.py</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88594796"/>
                  </a:ext>
                </a:extLst>
              </a:tr>
              <a:tr h="323901">
                <a:tc>
                  <a:txBody>
                    <a:bodyPr/>
                    <a:lstStyle/>
                    <a:p>
                      <a:r>
                        <a:rPr lang="es-CO" sz="1600" b="1" dirty="0"/>
                        <a:t>¿Se ejecutan al importar?</a:t>
                      </a:r>
                      <a:endParaRPr lang="es-CO" sz="1600" dirty="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dirty="0"/>
                        <a:t>❌ Sí (problema)</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 No</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 No</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5590049"/>
                  </a:ext>
                </a:extLst>
              </a:tr>
              <a:tr h="323901">
                <a:tc>
                  <a:txBody>
                    <a:bodyPr/>
                    <a:lstStyle/>
                    <a:p>
                      <a:r>
                        <a:rPr lang="es-MX" sz="1600" b="1" dirty="0"/>
                        <a:t>Cómo se ejecutan las pruebas</a:t>
                      </a:r>
                      <a:endParaRPr lang="es-MX" sz="1600" dirty="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400" b="1" dirty="0" err="1">
                          <a:latin typeface="Consolas" panose="020B0609020204030204" pitchFamily="49" charset="0"/>
                        </a:rPr>
                        <a:t>python</a:t>
                      </a:r>
                      <a:r>
                        <a:rPr lang="es-CO" sz="1400" b="1" dirty="0">
                          <a:latin typeface="Consolas" panose="020B0609020204030204" pitchFamily="49" charset="0"/>
                        </a:rPr>
                        <a:t> conversiones.py</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b="1" dirty="0" err="1">
                          <a:latin typeface="Consolas" panose="020B0609020204030204" pitchFamily="49" charset="0"/>
                        </a:rPr>
                        <a:t>python</a:t>
                      </a:r>
                      <a:r>
                        <a:rPr lang="es-CO" sz="1400" b="1" dirty="0">
                          <a:latin typeface="Consolas" panose="020B0609020204030204" pitchFamily="49" charset="0"/>
                        </a:rPr>
                        <a:t> conversiones.py</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b="1" dirty="0" err="1">
                          <a:latin typeface="Consolas" panose="020B0609020204030204" pitchFamily="49" charset="0"/>
                        </a:rPr>
                        <a:t>python</a:t>
                      </a:r>
                      <a:r>
                        <a:rPr lang="es-CO" sz="1400" b="1" dirty="0">
                          <a:latin typeface="Consolas" panose="020B0609020204030204" pitchFamily="49" charset="0"/>
                        </a:rPr>
                        <a:t> test_conversiones.py</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3452463"/>
                  </a:ext>
                </a:extLst>
              </a:tr>
              <a:tr h="468212">
                <a:tc>
                  <a:txBody>
                    <a:bodyPr/>
                    <a:lstStyle/>
                    <a:p>
                      <a:r>
                        <a:rPr lang="es-CO" sz="1600" b="1" dirty="0"/>
                        <a:t>Ventaja</a:t>
                      </a:r>
                      <a:endParaRPr lang="es-CO" sz="1600" dirty="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MX" sz="1600"/>
                        <a:t>Ninguna frente a las otras dos</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a:t>Pruebas junto a las funciones que prueban</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Módulo limpio: solo funciones</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2582744"/>
                  </a:ext>
                </a:extLst>
              </a:tr>
              <a:tr h="612524">
                <a:tc>
                  <a:txBody>
                    <a:bodyPr/>
                    <a:lstStyle/>
                    <a:p>
                      <a:r>
                        <a:rPr lang="es-CO" sz="1600" b="1" dirty="0"/>
                        <a:t>Desventaja</a:t>
                      </a:r>
                      <a:endParaRPr lang="es-CO" sz="1600" dirty="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MX" sz="1600" dirty="0"/>
                        <a:t>Ensucia la salida del programa y puede detenerlo</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El módulo crece</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Un archivo más, y hay que escribir </a:t>
                      </a:r>
                      <a:r>
                        <a:rPr lang="es-MX" sz="1400" b="1" dirty="0">
                          <a:latin typeface="Consolas" panose="020B0609020204030204" pitchFamily="49" charset="0"/>
                        </a:rPr>
                        <a:t>conversiones</a:t>
                      </a:r>
                      <a:r>
                        <a:rPr lang="es-MX" sz="1600" dirty="0"/>
                        <a:t>. antes de cada función</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5596853"/>
                  </a:ext>
                </a:extLst>
              </a:tr>
              <a:tr h="323901">
                <a:tc>
                  <a:txBody>
                    <a:bodyPr/>
                    <a:lstStyle/>
                    <a:p>
                      <a:r>
                        <a:rPr lang="es-CO" sz="1600" b="1" dirty="0"/>
                        <a:t>Conveniente para</a:t>
                      </a:r>
                      <a:endParaRPr lang="es-CO" sz="1600" dirty="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dirty="0"/>
                        <a:t>No se recomienda</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a:t>Módulos pequeños</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600" dirty="0"/>
                        <a:t>Módulos con muchas pruebas</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7076388"/>
                  </a:ext>
                </a:extLst>
              </a:tr>
            </a:tbl>
          </a:graphicData>
        </a:graphic>
      </p:graphicFrame>
      <p:sp>
        <p:nvSpPr>
          <p:cNvPr id="8" name="CuadroTexto 7">
            <a:extLst>
              <a:ext uri="{FF2B5EF4-FFF2-40B4-BE49-F238E27FC236}">
                <a16:creationId xmlns:a16="http://schemas.microsoft.com/office/drawing/2014/main" id="{1F4C7737-1236-44F9-840C-7EB47A030FDC}"/>
              </a:ext>
            </a:extLst>
          </p:cNvPr>
          <p:cNvSpPr txBox="1"/>
          <p:nvPr/>
        </p:nvSpPr>
        <p:spPr>
          <a:xfrm>
            <a:off x="179512" y="5229200"/>
            <a:ext cx="8819848" cy="830997"/>
          </a:xfrm>
          <a:prstGeom prst="rect">
            <a:avLst/>
          </a:prstGeom>
          <a:solidFill>
            <a:schemeClr val="accent6">
              <a:lumMod val="20000"/>
              <a:lumOff val="80000"/>
            </a:schemeClr>
          </a:solidFill>
        </p:spPr>
        <p:txBody>
          <a:bodyPr wrap="square">
            <a:spAutoFit/>
          </a:bodyPr>
          <a:lstStyle/>
          <a:p>
            <a:r>
              <a:rPr lang="es-CO" sz="1600" b="1" dirty="0"/>
              <a:t>Recomendación para este curso</a:t>
            </a:r>
            <a:r>
              <a:rPr lang="es-CO" sz="1600" dirty="0"/>
              <a:t>: se utiliza la guarda en el módulo mientras haya pocas pruebas. Cuando las pruebas crecen, se trasladan a </a:t>
            </a:r>
            <a:r>
              <a:rPr lang="es-CO" sz="1400" b="1" dirty="0">
                <a:latin typeface="Consolas" panose="020B0609020204030204" pitchFamily="49" charset="0"/>
              </a:rPr>
              <a:t>test_&lt;módulo&gt;.</a:t>
            </a:r>
            <a:r>
              <a:rPr lang="es-CO" sz="1400" b="1" dirty="0" err="1">
                <a:latin typeface="Consolas" panose="020B0609020204030204" pitchFamily="49" charset="0"/>
              </a:rPr>
              <a:t>py</a:t>
            </a:r>
            <a:r>
              <a:rPr lang="es-CO" sz="1600" dirty="0"/>
              <a:t>. En ambos casos, el programa principal (</a:t>
            </a:r>
            <a:r>
              <a:rPr lang="es-CO" sz="1400" b="1" dirty="0">
                <a:latin typeface="Consolas" panose="020B0609020204030204" pitchFamily="49" charset="0"/>
              </a:rPr>
              <a:t>main.py</a:t>
            </a:r>
            <a:r>
              <a:rPr lang="es-CO" sz="1600" dirty="0"/>
              <a:t>) nunca muestra las pruebas.</a:t>
            </a:r>
          </a:p>
        </p:txBody>
      </p:sp>
      <p:sp>
        <p:nvSpPr>
          <p:cNvPr id="9" name="CuadroTexto 8">
            <a:extLst>
              <a:ext uri="{FF2B5EF4-FFF2-40B4-BE49-F238E27FC236}">
                <a16:creationId xmlns:a16="http://schemas.microsoft.com/office/drawing/2014/main" id="{25C24812-7738-4097-A5C9-7B1D5571770F}"/>
              </a:ext>
            </a:extLst>
          </p:cNvPr>
          <p:cNvSpPr txBox="1"/>
          <p:nvPr/>
        </p:nvSpPr>
        <p:spPr>
          <a:xfrm>
            <a:off x="191522" y="6156593"/>
            <a:ext cx="8819848" cy="584775"/>
          </a:xfrm>
          <a:prstGeom prst="rect">
            <a:avLst/>
          </a:prstGeom>
          <a:solidFill>
            <a:schemeClr val="accent2">
              <a:lumMod val="20000"/>
              <a:lumOff val="80000"/>
            </a:schemeClr>
          </a:solidFill>
        </p:spPr>
        <p:txBody>
          <a:bodyPr wrap="square">
            <a:spAutoFit/>
          </a:bodyPr>
          <a:lstStyle/>
          <a:p>
            <a:r>
              <a:rPr lang="es-MX" sz="1600" b="1" dirty="0"/>
              <a:t>Tip</a:t>
            </a:r>
            <a:r>
              <a:rPr lang="es-MX" sz="1600" dirty="0"/>
              <a:t>: En la industria, las pruebas se escriben dentro de funciones </a:t>
            </a:r>
            <a:r>
              <a:rPr lang="es-MX" sz="1400" b="1" dirty="0">
                <a:latin typeface="Consolas" panose="020B0609020204030204" pitchFamily="49" charset="0"/>
              </a:rPr>
              <a:t>def test_...():</a:t>
            </a:r>
            <a:r>
              <a:rPr lang="es-MX" sz="1600" dirty="0"/>
              <a:t> y se ejecutan con la herramienta </a:t>
            </a:r>
            <a:r>
              <a:rPr lang="es-MX" sz="1400" b="1" dirty="0" err="1">
                <a:latin typeface="Consolas" panose="020B0609020204030204" pitchFamily="49" charset="0"/>
              </a:rPr>
              <a:t>pytest</a:t>
            </a:r>
            <a:r>
              <a:rPr lang="es-MX" sz="1600" dirty="0"/>
              <a:t>. Ver </a:t>
            </a:r>
            <a:r>
              <a:rPr lang="es-MX" sz="1600" b="1" dirty="0"/>
              <a:t>CS50P, </a:t>
            </a:r>
            <a:r>
              <a:rPr lang="es-MX" sz="1600" b="1" dirty="0" err="1"/>
              <a:t>Lecture</a:t>
            </a:r>
            <a:r>
              <a:rPr lang="es-MX" sz="1600" b="1" dirty="0"/>
              <a:t> 5</a:t>
            </a:r>
            <a:r>
              <a:rPr lang="es-MX" sz="1600" dirty="0"/>
              <a:t>: </a:t>
            </a:r>
            <a:r>
              <a:rPr lang="es-MX" sz="1600" b="1" dirty="0" err="1"/>
              <a:t>Unit</a:t>
            </a:r>
            <a:r>
              <a:rPr lang="es-MX" sz="1600" b="1" dirty="0"/>
              <a:t> </a:t>
            </a:r>
            <a:r>
              <a:rPr lang="es-MX" sz="1600" b="1" dirty="0" err="1"/>
              <a:t>Tests</a:t>
            </a:r>
            <a:r>
              <a:rPr lang="es-MX" sz="1600" b="1" dirty="0"/>
              <a:t> </a:t>
            </a:r>
            <a:r>
              <a:rPr lang="es-MX" sz="1600" dirty="0">
                <a:hlinkClick r:id="rId2"/>
              </a:rPr>
              <a:t>[notas]</a:t>
            </a:r>
            <a:r>
              <a:rPr lang="es-MX" sz="1600" dirty="0"/>
              <a:t> </a:t>
            </a:r>
            <a:r>
              <a:rPr lang="es-MX" sz="1600" dirty="0">
                <a:hlinkClick r:id="rId3"/>
              </a:rPr>
              <a:t>[video]</a:t>
            </a:r>
            <a:endParaRPr lang="es-CO" sz="1600" dirty="0"/>
          </a:p>
        </p:txBody>
      </p:sp>
    </p:spTree>
    <p:extLst>
      <p:ext uri="{BB962C8B-B14F-4D97-AF65-F5344CB8AC3E}">
        <p14:creationId xmlns:p14="http://schemas.microsoft.com/office/powerpoint/2010/main" val="1040624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2800" b="1" dirty="0">
                <a:latin typeface="Consolas" panose="020B0609020204030204" pitchFamily="49" charset="0"/>
              </a:rPr>
              <a:t>def main()</a:t>
            </a:r>
            <a:r>
              <a:rPr lang="es-MX" sz="3200" dirty="0"/>
              <a:t> y la guarda en el programa principal</a:t>
            </a:r>
            <a:endParaRPr lang="es-MX" sz="2800" dirty="0">
              <a:latin typeface="Consolas" panose="020B0609020204030204" pitchFamily="49" charset="0"/>
            </a:endParaRPr>
          </a:p>
        </p:txBody>
      </p:sp>
      <p:sp>
        <p:nvSpPr>
          <p:cNvPr id="9" name="CuadroTexto 8">
            <a:extLst>
              <a:ext uri="{FF2B5EF4-FFF2-40B4-BE49-F238E27FC236}">
                <a16:creationId xmlns:a16="http://schemas.microsoft.com/office/drawing/2014/main" id="{25C24812-7738-4097-A5C9-7B1D5571770F}"/>
              </a:ext>
            </a:extLst>
          </p:cNvPr>
          <p:cNvSpPr txBox="1"/>
          <p:nvPr/>
        </p:nvSpPr>
        <p:spPr>
          <a:xfrm>
            <a:off x="191522" y="5786100"/>
            <a:ext cx="8819848" cy="523220"/>
          </a:xfrm>
          <a:prstGeom prst="rect">
            <a:avLst/>
          </a:prstGeom>
          <a:solidFill>
            <a:schemeClr val="accent6">
              <a:lumMod val="20000"/>
              <a:lumOff val="80000"/>
            </a:schemeClr>
          </a:solidFill>
        </p:spPr>
        <p:txBody>
          <a:bodyPr wrap="square">
            <a:spAutoFit/>
          </a:bodyPr>
          <a:lstStyle/>
          <a:p>
            <a:r>
              <a:rPr lang="es-MX" sz="1400" dirty="0"/>
              <a:t>Convención: esta estructura (</a:t>
            </a:r>
            <a:r>
              <a:rPr lang="es-MX" sz="1200" b="1" dirty="0" err="1">
                <a:latin typeface="Consolas" panose="020B0609020204030204" pitchFamily="49" charset="0"/>
              </a:rPr>
              <a:t>import</a:t>
            </a:r>
            <a:r>
              <a:rPr lang="es-MX" sz="1400" b="1" dirty="0"/>
              <a:t> → funciones → </a:t>
            </a:r>
            <a:r>
              <a:rPr lang="es-MX" sz="1200" b="1" dirty="0">
                <a:latin typeface="Consolas" panose="020B0609020204030204" pitchFamily="49" charset="0"/>
              </a:rPr>
              <a:t>def main()</a:t>
            </a:r>
            <a:r>
              <a:rPr lang="es-MX" sz="1400" b="1" dirty="0"/>
              <a:t> → guarda</a:t>
            </a:r>
            <a:r>
              <a:rPr lang="es-MX" sz="1400" dirty="0"/>
              <a:t>) es la forma habitual de organizar un programa en Python. Se recomienda usarla en todos los programas de aquí en adelante.</a:t>
            </a:r>
            <a:endParaRPr lang="es-CO" sz="1400" dirty="0"/>
          </a:p>
        </p:txBody>
      </p:sp>
      <p:sp>
        <p:nvSpPr>
          <p:cNvPr id="6" name="12 Rectángulo">
            <a:extLst>
              <a:ext uri="{FF2B5EF4-FFF2-40B4-BE49-F238E27FC236}">
                <a16:creationId xmlns:a16="http://schemas.microsoft.com/office/drawing/2014/main" id="{AE954C63-B987-4F4B-926C-C0DEBF70C005}"/>
              </a:ext>
            </a:extLst>
          </p:cNvPr>
          <p:cNvSpPr/>
          <p:nvPr/>
        </p:nvSpPr>
        <p:spPr>
          <a:xfrm>
            <a:off x="144638" y="692696"/>
            <a:ext cx="8854721" cy="3477875"/>
          </a:xfrm>
          <a:prstGeom prst="rect">
            <a:avLst/>
          </a:prstGeom>
        </p:spPr>
        <p:txBody>
          <a:bodyPr wrap="square">
            <a:spAutoFit/>
          </a:bodyPr>
          <a:lstStyle/>
          <a:p>
            <a:pPr marL="342900" indent="-342900" rtl="0">
              <a:buFont typeface="Arial" panose="020B0604020202020204" pitchFamily="34" charset="0"/>
              <a:buChar char="•"/>
            </a:pPr>
            <a:r>
              <a:rPr lang="es-MX" sz="2000" dirty="0"/>
              <a:t>El código del programa principal se agrupa en una función llamada </a:t>
            </a:r>
            <a:r>
              <a:rPr lang="es-MX" b="1" dirty="0">
                <a:latin typeface="Consolas" panose="020B0609020204030204" pitchFamily="49" charset="0"/>
              </a:rPr>
              <a:t>main()</a:t>
            </a:r>
            <a:r>
              <a:rPr lang="es-MX" sz="2000" dirty="0"/>
              <a:t>.</a:t>
            </a:r>
          </a:p>
          <a:p>
            <a:pPr marL="342900" indent="-342900" rtl="0">
              <a:buFont typeface="Arial" panose="020B0604020202020204" pitchFamily="34" charset="0"/>
              <a:buChar char="•"/>
            </a:pPr>
            <a:r>
              <a:rPr lang="es-MX" sz="2000" dirty="0"/>
              <a:t>La llamada </a:t>
            </a:r>
            <a:r>
              <a:rPr lang="es-MX" b="1" dirty="0">
                <a:latin typeface="Consolas" panose="020B0609020204030204" pitchFamily="49" charset="0"/>
              </a:rPr>
              <a:t>main()</a:t>
            </a:r>
            <a:r>
              <a:rPr lang="es-MX" sz="2000" dirty="0"/>
              <a:t> se coloca dentro de </a:t>
            </a:r>
            <a:r>
              <a:rPr lang="es-MX" b="1" dirty="0">
                <a:latin typeface="Consolas" panose="020B0609020204030204" pitchFamily="49" charset="0"/>
              </a:rPr>
              <a:t>if __name__ == "__main__":</a:t>
            </a:r>
            <a:r>
              <a:rPr lang="es-MX" sz="2000" dirty="0"/>
              <a:t>.</a:t>
            </a:r>
          </a:p>
          <a:p>
            <a:pPr marL="342900" indent="-342900" rtl="0">
              <a:buFont typeface="Arial" panose="020B0604020202020204" pitchFamily="34" charset="0"/>
              <a:buChar char="•"/>
            </a:pPr>
            <a:r>
              <a:rPr lang="es-MX" sz="2000" dirty="0"/>
              <a:t>Así el programa solo arranca cuando el archivo se ejecuta directamente.</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a:buFont typeface="Arial" panose="020B0604020202020204" pitchFamily="34" charset="0"/>
              <a:buChar char="•"/>
            </a:pPr>
            <a:endParaRPr lang="es-CO" sz="2000" b="1" dirty="0"/>
          </a:p>
          <a:p>
            <a:pPr marL="342900" indent="-342900">
              <a:buFont typeface="Arial" panose="020B0604020202020204" pitchFamily="34" charset="0"/>
              <a:buChar char="•"/>
            </a:pPr>
            <a:endParaRPr lang="es-CO" sz="2000" b="1" dirty="0"/>
          </a:p>
          <a:p>
            <a:pPr marL="342900" indent="-342900">
              <a:buFont typeface="Arial" panose="020B0604020202020204" pitchFamily="34" charset="0"/>
              <a:buChar char="•"/>
            </a:pPr>
            <a:endParaRPr lang="es-CO" sz="2000" b="1" dirty="0"/>
          </a:p>
          <a:p>
            <a:pPr marL="342900" indent="-342900">
              <a:buFont typeface="Arial" panose="020B0604020202020204" pitchFamily="34" charset="0"/>
              <a:buChar char="•"/>
            </a:pPr>
            <a:r>
              <a:rPr lang="es-CO" sz="2000" b="1" dirty="0"/>
              <a:t>Archivo</a:t>
            </a:r>
            <a:r>
              <a:rPr lang="es-CO" sz="2000" dirty="0"/>
              <a:t>: </a:t>
            </a:r>
            <a:r>
              <a:rPr lang="es-MX" dirty="0">
                <a:latin typeface="Consolas" panose="020B0609020204030204" pitchFamily="49" charset="0"/>
              </a:rPr>
              <a:t>2_con_guarda/main.py</a:t>
            </a:r>
            <a:r>
              <a:rPr lang="es-MX" sz="2000" dirty="0"/>
              <a:t> (líneas 4–8 y 30–31)</a:t>
            </a:r>
            <a:endParaRPr lang="es-CO" sz="2000" dirty="0"/>
          </a:p>
        </p:txBody>
      </p:sp>
      <p:sp>
        <p:nvSpPr>
          <p:cNvPr id="10" name="CuadroTexto 9">
            <a:extLst>
              <a:ext uri="{FF2B5EF4-FFF2-40B4-BE49-F238E27FC236}">
                <a16:creationId xmlns:a16="http://schemas.microsoft.com/office/drawing/2014/main" id="{6CE94C09-2A1C-40F2-B844-E9571E920681}"/>
              </a:ext>
            </a:extLst>
          </p:cNvPr>
          <p:cNvSpPr txBox="1"/>
          <p:nvPr/>
        </p:nvSpPr>
        <p:spPr>
          <a:xfrm>
            <a:off x="1619672" y="4174228"/>
            <a:ext cx="5328592" cy="1569660"/>
          </a:xfrm>
          <a:prstGeom prst="rect">
            <a:avLst/>
          </a:prstGeom>
          <a:noFill/>
          <a:ln>
            <a:solidFill>
              <a:schemeClr val="tx1"/>
            </a:solidFill>
          </a:ln>
        </p:spPr>
        <p:txBody>
          <a:bodyPr wrap="square">
            <a:spAutoFit/>
          </a:bodyPr>
          <a:lstStyle/>
          <a:p>
            <a:r>
              <a:rPr lang="es-CO" sz="1200" dirty="0">
                <a:latin typeface="Consolas" panose="020B0609020204030204" pitchFamily="49" charset="0"/>
              </a:rPr>
              <a:t> 4  </a:t>
            </a:r>
            <a:r>
              <a:rPr lang="es-CO" sz="1200" dirty="0" err="1">
                <a:latin typeface="Consolas" panose="020B0609020204030204" pitchFamily="49" charset="0"/>
              </a:rPr>
              <a:t>import</a:t>
            </a:r>
            <a:r>
              <a:rPr lang="es-CO" sz="1200" dirty="0">
                <a:latin typeface="Consolas" panose="020B0609020204030204" pitchFamily="49" charset="0"/>
              </a:rPr>
              <a:t> conversiones</a:t>
            </a:r>
          </a:p>
          <a:p>
            <a:r>
              <a:rPr lang="es-CO" sz="1200" dirty="0">
                <a:latin typeface="Consolas" panose="020B0609020204030204" pitchFamily="49" charset="0"/>
              </a:rPr>
              <a:t> 5</a:t>
            </a:r>
          </a:p>
          <a:p>
            <a:r>
              <a:rPr lang="es-CO" sz="1200" dirty="0">
                <a:latin typeface="Consolas" panose="020B0609020204030204" pitchFamily="49" charset="0"/>
              </a:rPr>
              <a:t> 6</a:t>
            </a:r>
          </a:p>
          <a:p>
            <a:r>
              <a:rPr lang="es-CO" sz="1200" dirty="0">
                <a:latin typeface="Consolas" panose="020B0609020204030204" pitchFamily="49" charset="0"/>
              </a:rPr>
              <a:t> 7  </a:t>
            </a:r>
            <a:r>
              <a:rPr lang="es-CO" sz="1200" dirty="0" err="1">
                <a:latin typeface="Consolas" panose="020B0609020204030204" pitchFamily="49" charset="0"/>
              </a:rPr>
              <a:t>def</a:t>
            </a:r>
            <a:r>
              <a:rPr lang="es-CO" sz="1200" dirty="0">
                <a:latin typeface="Consolas" panose="020B0609020204030204" pitchFamily="49" charset="0"/>
              </a:rPr>
              <a:t> </a:t>
            </a:r>
            <a:r>
              <a:rPr lang="es-CO" sz="1200" dirty="0" err="1">
                <a:latin typeface="Consolas" panose="020B0609020204030204" pitchFamily="49" charset="0"/>
              </a:rPr>
              <a:t>main</a:t>
            </a:r>
            <a:r>
              <a:rPr lang="es-CO" sz="1200" dirty="0">
                <a:latin typeface="Consolas" panose="020B0609020204030204" pitchFamily="49" charset="0"/>
              </a:rPr>
              <a:t>():</a:t>
            </a:r>
          </a:p>
          <a:p>
            <a:r>
              <a:rPr lang="es-CO" sz="1200" dirty="0">
                <a:latin typeface="Consolas" panose="020B0609020204030204" pitchFamily="49" charset="0"/>
              </a:rPr>
              <a:t> 8      </a:t>
            </a:r>
            <a:r>
              <a:rPr lang="es-CO" sz="1200" dirty="0" err="1">
                <a:latin typeface="Consolas" panose="020B0609020204030204" pitchFamily="49" charset="0"/>
              </a:rPr>
              <a:t>print</a:t>
            </a:r>
            <a:r>
              <a:rPr lang="es-CO" sz="1200" dirty="0">
                <a:latin typeface="Consolas" panose="020B0609020204030204" pitchFamily="49" charset="0"/>
              </a:rPr>
              <a:t>("Programa de </a:t>
            </a:r>
            <a:r>
              <a:rPr lang="es-CO" sz="1200" dirty="0" err="1">
                <a:latin typeface="Consolas" panose="020B0609020204030204" pitchFamily="49" charset="0"/>
              </a:rPr>
              <a:t>conversion</a:t>
            </a:r>
            <a:r>
              <a:rPr lang="es-CO" sz="1200" dirty="0">
                <a:latin typeface="Consolas" panose="020B0609020204030204" pitchFamily="49" charset="0"/>
              </a:rPr>
              <a:t> de °C a °F y </a:t>
            </a:r>
            <a:r>
              <a:rPr lang="es-CO" sz="1200" dirty="0" err="1">
                <a:latin typeface="Consolas" panose="020B0609020204030204" pitchFamily="49" charset="0"/>
              </a:rPr>
              <a:t>°K</a:t>
            </a:r>
            <a:r>
              <a:rPr lang="es-CO" sz="1200" dirty="0">
                <a:latin typeface="Consolas" panose="020B0609020204030204" pitchFamily="49" charset="0"/>
              </a:rPr>
              <a:t>")</a:t>
            </a:r>
          </a:p>
          <a:p>
            <a:r>
              <a:rPr lang="es-CO" sz="1200" dirty="0">
                <a:latin typeface="Consolas" panose="020B0609020204030204" pitchFamily="49" charset="0"/>
              </a:rPr>
              <a:t>...</a:t>
            </a:r>
          </a:p>
          <a:p>
            <a:r>
              <a:rPr lang="es-CO" sz="1200" dirty="0">
                <a:latin typeface="Consolas" panose="020B0609020204030204" pitchFamily="49" charset="0"/>
              </a:rPr>
              <a:t>30  </a:t>
            </a:r>
            <a:r>
              <a:rPr lang="es-CO" sz="1200" dirty="0" err="1">
                <a:latin typeface="Consolas" panose="020B0609020204030204" pitchFamily="49" charset="0"/>
              </a:rPr>
              <a:t>if</a:t>
            </a:r>
            <a:r>
              <a:rPr lang="es-CO" sz="1200" dirty="0">
                <a:latin typeface="Consolas" panose="020B0609020204030204" pitchFamily="49" charset="0"/>
              </a:rPr>
              <a:t> __</a:t>
            </a:r>
            <a:r>
              <a:rPr lang="es-CO" sz="1200" dirty="0" err="1">
                <a:latin typeface="Consolas" panose="020B0609020204030204" pitchFamily="49" charset="0"/>
              </a:rPr>
              <a:t>name</a:t>
            </a:r>
            <a:r>
              <a:rPr lang="es-CO" sz="1200" dirty="0">
                <a:latin typeface="Consolas" panose="020B0609020204030204" pitchFamily="49" charset="0"/>
              </a:rPr>
              <a:t>__ == "__</a:t>
            </a:r>
            <a:r>
              <a:rPr lang="es-CO" sz="1200" dirty="0" err="1">
                <a:latin typeface="Consolas" panose="020B0609020204030204" pitchFamily="49" charset="0"/>
              </a:rPr>
              <a:t>main</a:t>
            </a:r>
            <a:r>
              <a:rPr lang="es-CO" sz="1200" dirty="0">
                <a:latin typeface="Consolas" panose="020B0609020204030204" pitchFamily="49" charset="0"/>
              </a:rPr>
              <a:t>__":</a:t>
            </a:r>
          </a:p>
          <a:p>
            <a:r>
              <a:rPr lang="es-CO" sz="1200" dirty="0">
                <a:latin typeface="Consolas" panose="020B0609020204030204" pitchFamily="49" charset="0"/>
              </a:rPr>
              <a:t>31      </a:t>
            </a:r>
            <a:r>
              <a:rPr lang="es-CO" sz="1200" dirty="0" err="1">
                <a:latin typeface="Consolas" panose="020B0609020204030204" pitchFamily="49" charset="0"/>
              </a:rPr>
              <a:t>main</a:t>
            </a:r>
            <a:r>
              <a:rPr lang="es-CO" sz="1200" dirty="0">
                <a:latin typeface="Consolas" panose="020B0609020204030204" pitchFamily="49" charset="0"/>
              </a:rPr>
              <a:t>()</a:t>
            </a:r>
          </a:p>
        </p:txBody>
      </p:sp>
      <p:pic>
        <p:nvPicPr>
          <p:cNvPr id="7" name="Imagen 6">
            <a:extLst>
              <a:ext uri="{FF2B5EF4-FFF2-40B4-BE49-F238E27FC236}">
                <a16:creationId xmlns:a16="http://schemas.microsoft.com/office/drawing/2014/main" id="{96B949C7-38F6-49D4-80E1-FE9C088E9D7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26437" y="1639000"/>
            <a:ext cx="5515062" cy="2150040"/>
          </a:xfrm>
          <a:prstGeom prst="rect">
            <a:avLst/>
          </a:prstGeom>
        </p:spPr>
      </p:pic>
      <p:sp>
        <p:nvSpPr>
          <p:cNvPr id="11" name="CuadroTexto 10">
            <a:extLst>
              <a:ext uri="{FF2B5EF4-FFF2-40B4-BE49-F238E27FC236}">
                <a16:creationId xmlns:a16="http://schemas.microsoft.com/office/drawing/2014/main" id="{688FC587-B925-4872-9176-CBAE616BD677}"/>
              </a:ext>
            </a:extLst>
          </p:cNvPr>
          <p:cNvSpPr txBox="1"/>
          <p:nvPr/>
        </p:nvSpPr>
        <p:spPr>
          <a:xfrm>
            <a:off x="177845" y="6361583"/>
            <a:ext cx="8819848" cy="307777"/>
          </a:xfrm>
          <a:prstGeom prst="rect">
            <a:avLst/>
          </a:prstGeom>
          <a:solidFill>
            <a:schemeClr val="accent2">
              <a:lumMod val="20000"/>
              <a:lumOff val="80000"/>
            </a:schemeClr>
          </a:solidFill>
        </p:spPr>
        <p:txBody>
          <a:bodyPr wrap="square">
            <a:spAutoFit/>
          </a:bodyPr>
          <a:lstStyle/>
          <a:p>
            <a:r>
              <a:rPr lang="es-MX" sz="1400" b="1" dirty="0"/>
              <a:t>Tip</a:t>
            </a:r>
            <a:r>
              <a:rPr lang="es-MX" sz="1400" dirty="0"/>
              <a:t>: ver </a:t>
            </a:r>
            <a:r>
              <a:rPr lang="es-MX" sz="1400" b="1" dirty="0"/>
              <a:t>CS50P, </a:t>
            </a:r>
            <a:r>
              <a:rPr lang="es-MX" sz="1400" b="1" dirty="0" err="1"/>
              <a:t>Lecture</a:t>
            </a:r>
            <a:r>
              <a:rPr lang="es-MX" sz="1400" b="1" dirty="0"/>
              <a:t> 4: </a:t>
            </a:r>
            <a:r>
              <a:rPr lang="es-MX" sz="1400" b="1" dirty="0" err="1"/>
              <a:t>Libraries</a:t>
            </a:r>
            <a:r>
              <a:rPr lang="es-MX" sz="1400" dirty="0"/>
              <a:t>, donde se usa la misma estructura con </a:t>
            </a:r>
            <a:r>
              <a:rPr lang="es-MX" sz="1200" dirty="0">
                <a:latin typeface="Consolas" panose="020B0609020204030204" pitchFamily="49" charset="0"/>
              </a:rPr>
              <a:t>def main()</a:t>
            </a:r>
            <a:r>
              <a:rPr lang="es-MX" sz="1400" dirty="0"/>
              <a:t> y la guarda. </a:t>
            </a:r>
            <a:r>
              <a:rPr lang="es-MX" sz="1400" dirty="0">
                <a:hlinkClick r:id="rId3"/>
              </a:rPr>
              <a:t>[notas]</a:t>
            </a:r>
            <a:r>
              <a:rPr lang="es-MX" sz="1400" dirty="0"/>
              <a:t> </a:t>
            </a:r>
            <a:r>
              <a:rPr lang="es-MX" sz="1400" dirty="0">
                <a:hlinkClick r:id="rId4"/>
              </a:rPr>
              <a:t>[video]</a:t>
            </a:r>
            <a:endParaRPr lang="es-MX" sz="1400" dirty="0"/>
          </a:p>
        </p:txBody>
      </p:sp>
    </p:spTree>
    <p:extLst>
      <p:ext uri="{BB962C8B-B14F-4D97-AF65-F5344CB8AC3E}">
        <p14:creationId xmlns:p14="http://schemas.microsoft.com/office/powerpoint/2010/main" val="3812501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200" dirty="0"/>
              <a:t> Errores frecuentes al trabajar con varios archivos</a:t>
            </a:r>
            <a:endParaRPr lang="es-MX" sz="2800" dirty="0">
              <a:latin typeface="Consolas" panose="020B0609020204030204" pitchFamily="49" charset="0"/>
            </a:endParaRPr>
          </a:p>
        </p:txBody>
      </p:sp>
      <p:sp>
        <p:nvSpPr>
          <p:cNvPr id="11" name="CuadroTexto 10">
            <a:extLst>
              <a:ext uri="{FF2B5EF4-FFF2-40B4-BE49-F238E27FC236}">
                <a16:creationId xmlns:a16="http://schemas.microsoft.com/office/drawing/2014/main" id="{688FC587-B925-4872-9176-CBAE616BD677}"/>
              </a:ext>
            </a:extLst>
          </p:cNvPr>
          <p:cNvSpPr txBox="1"/>
          <p:nvPr/>
        </p:nvSpPr>
        <p:spPr>
          <a:xfrm>
            <a:off x="185517" y="6218148"/>
            <a:ext cx="8819848" cy="523220"/>
          </a:xfrm>
          <a:prstGeom prst="rect">
            <a:avLst/>
          </a:prstGeom>
          <a:solidFill>
            <a:schemeClr val="bg2"/>
          </a:solidFill>
        </p:spPr>
        <p:txBody>
          <a:bodyPr wrap="square">
            <a:spAutoFit/>
          </a:bodyPr>
          <a:lstStyle/>
          <a:p>
            <a:r>
              <a:rPr lang="es-MX" sz="1400" b="1" dirty="0"/>
              <a:t>Nota</a:t>
            </a:r>
            <a:r>
              <a:rPr lang="es-MX" sz="1400" dirty="0"/>
              <a:t>: al importar un módulo propio aparece la carpeta </a:t>
            </a:r>
            <a:r>
              <a:rPr lang="es-MX" sz="1200" b="1" dirty="0">
                <a:latin typeface="Consolas" panose="020B0609020204030204" pitchFamily="49" charset="0"/>
              </a:rPr>
              <a:t>__</a:t>
            </a:r>
            <a:r>
              <a:rPr lang="es-MX" sz="1200" b="1" dirty="0" err="1">
                <a:latin typeface="Consolas" panose="020B0609020204030204" pitchFamily="49" charset="0"/>
              </a:rPr>
              <a:t>pycache</a:t>
            </a:r>
            <a:r>
              <a:rPr lang="es-MX" sz="1200" b="1" dirty="0">
                <a:latin typeface="Consolas" panose="020B0609020204030204" pitchFamily="49" charset="0"/>
              </a:rPr>
              <a:t>__/</a:t>
            </a:r>
            <a:r>
              <a:rPr lang="es-MX" sz="1400" dirty="0"/>
              <a:t>. Python la crea automáticamente para cargar el módulo más rápido. Puede ignorarse y no debe entregarse</a:t>
            </a:r>
          </a:p>
        </p:txBody>
      </p:sp>
      <p:pic>
        <p:nvPicPr>
          <p:cNvPr id="3" name="Imagen 2">
            <a:extLst>
              <a:ext uri="{FF2B5EF4-FFF2-40B4-BE49-F238E27FC236}">
                <a16:creationId xmlns:a16="http://schemas.microsoft.com/office/drawing/2014/main" id="{6B039576-56D2-4AF6-ABFE-4B7A4B1EEDF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3608" y="764704"/>
            <a:ext cx="6804248" cy="2665444"/>
          </a:xfrm>
          <a:prstGeom prst="rect">
            <a:avLst/>
          </a:prstGeom>
        </p:spPr>
      </p:pic>
      <p:graphicFrame>
        <p:nvGraphicFramePr>
          <p:cNvPr id="4" name="Tabla 3">
            <a:extLst>
              <a:ext uri="{FF2B5EF4-FFF2-40B4-BE49-F238E27FC236}">
                <a16:creationId xmlns:a16="http://schemas.microsoft.com/office/drawing/2014/main" id="{CD664005-D744-4A81-AAF8-3108A854EB5C}"/>
              </a:ext>
            </a:extLst>
          </p:cNvPr>
          <p:cNvGraphicFramePr>
            <a:graphicFrameLocks noGrp="1"/>
          </p:cNvGraphicFramePr>
          <p:nvPr>
            <p:extLst>
              <p:ext uri="{D42A27DB-BD31-4B8C-83A1-F6EECF244321}">
                <p14:modId xmlns:p14="http://schemas.microsoft.com/office/powerpoint/2010/main" val="2027698030"/>
              </p:ext>
            </p:extLst>
          </p:nvPr>
        </p:nvGraphicFramePr>
        <p:xfrm>
          <a:off x="396370" y="3501008"/>
          <a:ext cx="8530148" cy="2607852"/>
        </p:xfrm>
        <a:graphic>
          <a:graphicData uri="http://schemas.openxmlformats.org/drawingml/2006/table">
            <a:tbl>
              <a:tblPr/>
              <a:tblGrid>
                <a:gridCol w="3240359">
                  <a:extLst>
                    <a:ext uri="{9D8B030D-6E8A-4147-A177-3AD203B41FA5}">
                      <a16:colId xmlns:a16="http://schemas.microsoft.com/office/drawing/2014/main" val="3099165565"/>
                    </a:ext>
                  </a:extLst>
                </a:gridCol>
                <a:gridCol w="5289789">
                  <a:extLst>
                    <a:ext uri="{9D8B030D-6E8A-4147-A177-3AD203B41FA5}">
                      <a16:colId xmlns:a16="http://schemas.microsoft.com/office/drawing/2014/main" val="556112726"/>
                    </a:ext>
                  </a:extLst>
                </a:gridCol>
              </a:tblGrid>
              <a:tr h="309860">
                <a:tc>
                  <a:txBody>
                    <a:bodyPr/>
                    <a:lstStyle/>
                    <a:p>
                      <a:r>
                        <a:rPr lang="es-CO" sz="1600" b="1"/>
                        <a:t>Situación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t>Mensaje de Python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024888355"/>
                  </a:ext>
                </a:extLst>
              </a:tr>
              <a:tr h="535212">
                <a:tc>
                  <a:txBody>
                    <a:bodyPr/>
                    <a:lstStyle/>
                    <a:p>
                      <a:r>
                        <a:rPr lang="es-MX" sz="1400" dirty="0">
                          <a:latin typeface="Consolas" panose="020B0609020204030204" pitchFamily="49" charset="0"/>
                        </a:rPr>
                        <a:t>main.py</a:t>
                      </a:r>
                      <a:r>
                        <a:rPr lang="es-MX" sz="1600" dirty="0"/>
                        <a:t> y </a:t>
                      </a:r>
                      <a:r>
                        <a:rPr lang="es-MX" sz="1400" dirty="0">
                          <a:latin typeface="Consolas" panose="020B0609020204030204" pitchFamily="49" charset="0"/>
                        </a:rPr>
                        <a:t>conversiones.py</a:t>
                      </a:r>
                      <a:r>
                        <a:rPr lang="es-MX" sz="1600" dirty="0"/>
                        <a:t> en carpetas distintas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1400">
                          <a:latin typeface="Consolas" panose="020B0609020204030204" pitchFamily="49" charset="0"/>
                        </a:rPr>
                        <a:t>ModuleNotFoundError: No module named 'conversiones'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57085462"/>
                  </a:ext>
                </a:extLst>
              </a:tr>
              <a:tr h="535212">
                <a:tc>
                  <a:txBody>
                    <a:bodyPr/>
                    <a:lstStyle/>
                    <a:p>
                      <a:r>
                        <a:rPr lang="es-CO" sz="1600" dirty="0"/>
                        <a:t>Escribir </a:t>
                      </a:r>
                      <a:r>
                        <a:rPr lang="es-CO" sz="1400" dirty="0" err="1">
                          <a:latin typeface="Consolas" panose="020B0609020204030204" pitchFamily="49" charset="0"/>
                        </a:rPr>
                        <a:t>import</a:t>
                      </a:r>
                      <a:r>
                        <a:rPr lang="es-CO" sz="1400" dirty="0">
                          <a:latin typeface="Consolas" panose="020B0609020204030204" pitchFamily="49" charset="0"/>
                        </a:rPr>
                        <a:t> conversiones.py</a:t>
                      </a:r>
                      <a:endParaRPr lang="es-CO" sz="16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Consolas" panose="020B0609020204030204" pitchFamily="49" charset="0"/>
                        </a:rPr>
                        <a:t>ModuleNotFoundError</a:t>
                      </a:r>
                      <a:r>
                        <a:rPr lang="en-US" sz="1400" dirty="0">
                          <a:latin typeface="Consolas" panose="020B0609020204030204" pitchFamily="49" charset="0"/>
                        </a:rPr>
                        <a:t>: No module named 'conversiones.py'; '</a:t>
                      </a:r>
                      <a:r>
                        <a:rPr lang="en-US" sz="1400" dirty="0" err="1">
                          <a:latin typeface="Consolas" panose="020B0609020204030204" pitchFamily="49" charset="0"/>
                        </a:rPr>
                        <a:t>conversiones</a:t>
                      </a:r>
                      <a:r>
                        <a:rPr lang="en-US" sz="1400" dirty="0">
                          <a:latin typeface="Consolas" panose="020B0609020204030204" pitchFamily="49" charset="0"/>
                        </a:rPr>
                        <a:t>' is not a package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5574772"/>
                  </a:ext>
                </a:extLst>
              </a:tr>
              <a:tr h="535212">
                <a:tc>
                  <a:txBody>
                    <a:bodyPr/>
                    <a:lstStyle/>
                    <a:p>
                      <a:r>
                        <a:rPr lang="es-MX" sz="1600" dirty="0"/>
                        <a:t>Llamar </a:t>
                      </a:r>
                      <a:r>
                        <a:rPr lang="es-MX" sz="1400" dirty="0" err="1">
                          <a:latin typeface="Consolas" panose="020B0609020204030204" pitchFamily="49" charset="0"/>
                        </a:rPr>
                        <a:t>celsius_a_fahrenheit</a:t>
                      </a:r>
                      <a:r>
                        <a:rPr lang="es-MX" sz="1400" dirty="0">
                          <a:latin typeface="Consolas" panose="020B0609020204030204" pitchFamily="49" charset="0"/>
                        </a:rPr>
                        <a:t>(10)</a:t>
                      </a:r>
                      <a:r>
                        <a:rPr lang="es-MX" sz="1600" dirty="0"/>
                        <a:t> sin el prefijo conversiones.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400" dirty="0" err="1">
                          <a:latin typeface="Consolas" panose="020B0609020204030204" pitchFamily="49" charset="0"/>
                        </a:rPr>
                        <a:t>NameError</a:t>
                      </a:r>
                      <a:r>
                        <a:rPr lang="en-US" sz="1400" dirty="0">
                          <a:latin typeface="Consolas" panose="020B0609020204030204" pitchFamily="49" charset="0"/>
                        </a:rPr>
                        <a:t>: name '</a:t>
                      </a:r>
                      <a:r>
                        <a:rPr lang="en-US" sz="1400" dirty="0" err="1">
                          <a:latin typeface="Consolas" panose="020B0609020204030204" pitchFamily="49" charset="0"/>
                        </a:rPr>
                        <a:t>celsius_a_fahrenheit</a:t>
                      </a:r>
                      <a:r>
                        <a:rPr lang="en-US" sz="1400" dirty="0">
                          <a:latin typeface="Consolas" panose="020B0609020204030204" pitchFamily="49" charset="0"/>
                        </a:rPr>
                        <a:t>' is not defined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46715900"/>
                  </a:ext>
                </a:extLst>
              </a:tr>
              <a:tr h="309860">
                <a:tc>
                  <a:txBody>
                    <a:bodyPr/>
                    <a:lstStyle/>
                    <a:p>
                      <a:r>
                        <a:rPr lang="es-CO" sz="1600" dirty="0"/>
                        <a:t>Nombrar un archivo propio </a:t>
                      </a:r>
                      <a:r>
                        <a:rPr lang="es-CO" sz="1400" dirty="0">
                          <a:latin typeface="Consolas" panose="020B0609020204030204" pitchFamily="49" charset="0"/>
                        </a:rPr>
                        <a:t>random.py</a:t>
                      </a:r>
                      <a:endParaRPr lang="es-CO" sz="1600" dirty="0">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600" dirty="0"/>
                        <a:t>Se oculta la librería estándar, pues Python importa el archivo propio en lugar del módulo random de la librería estándar.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439737"/>
                  </a:ext>
                </a:extLst>
              </a:tr>
            </a:tbl>
          </a:graphicData>
        </a:graphic>
      </p:graphicFrame>
    </p:spTree>
    <p:extLst>
      <p:ext uri="{BB962C8B-B14F-4D97-AF65-F5344CB8AC3E}">
        <p14:creationId xmlns:p14="http://schemas.microsoft.com/office/powerpoint/2010/main" val="21447863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600" dirty="0"/>
              <a:t>Resumen de la clase</a:t>
            </a:r>
          </a:p>
        </p:txBody>
      </p:sp>
      <p:sp>
        <p:nvSpPr>
          <p:cNvPr id="11" name="CuadroTexto 10">
            <a:extLst>
              <a:ext uri="{FF2B5EF4-FFF2-40B4-BE49-F238E27FC236}">
                <a16:creationId xmlns:a16="http://schemas.microsoft.com/office/drawing/2014/main" id="{688FC587-B925-4872-9176-CBAE616BD677}"/>
              </a:ext>
            </a:extLst>
          </p:cNvPr>
          <p:cNvSpPr txBox="1"/>
          <p:nvPr/>
        </p:nvSpPr>
        <p:spPr>
          <a:xfrm>
            <a:off x="251520" y="4580332"/>
            <a:ext cx="8640960" cy="646331"/>
          </a:xfrm>
          <a:prstGeom prst="rect">
            <a:avLst/>
          </a:prstGeom>
          <a:solidFill>
            <a:schemeClr val="bg2"/>
          </a:solidFill>
        </p:spPr>
        <p:txBody>
          <a:bodyPr wrap="square">
            <a:spAutoFit/>
          </a:bodyPr>
          <a:lstStyle/>
          <a:p>
            <a:r>
              <a:rPr lang="es-MX" b="1" dirty="0"/>
              <a:t>Importante</a:t>
            </a:r>
            <a:r>
              <a:rPr lang="es-MX" dirty="0"/>
              <a:t>: Una función bien diseñada tiene un nombre claro, una especificación, pruebas, y no depende de variables globales.</a:t>
            </a:r>
          </a:p>
        </p:txBody>
      </p:sp>
      <p:sp>
        <p:nvSpPr>
          <p:cNvPr id="6" name="12 Rectángulo">
            <a:extLst>
              <a:ext uri="{FF2B5EF4-FFF2-40B4-BE49-F238E27FC236}">
                <a16:creationId xmlns:a16="http://schemas.microsoft.com/office/drawing/2014/main" id="{A73AFEAC-B223-4D7F-B142-1E206A88BEB3}"/>
              </a:ext>
            </a:extLst>
          </p:cNvPr>
          <p:cNvSpPr/>
          <p:nvPr/>
        </p:nvSpPr>
        <p:spPr>
          <a:xfrm>
            <a:off x="144639" y="909650"/>
            <a:ext cx="8854721" cy="3170099"/>
          </a:xfrm>
          <a:prstGeom prst="rect">
            <a:avLst/>
          </a:prstGeom>
        </p:spPr>
        <p:txBody>
          <a:bodyPr wrap="square">
            <a:spAutoFit/>
          </a:bodyPr>
          <a:lstStyle/>
          <a:p>
            <a:pPr marL="457200" indent="-457200" rtl="0">
              <a:buFont typeface="+mj-lt"/>
              <a:buAutoNum type="arabicPeriod"/>
            </a:pPr>
            <a:r>
              <a:rPr lang="es-MX" sz="2000" b="1" dirty="0"/>
              <a:t>Funciones propias</a:t>
            </a:r>
            <a:r>
              <a:rPr lang="es-MX" sz="2000" dirty="0"/>
              <a:t>: se definen con </a:t>
            </a:r>
            <a:r>
              <a:rPr lang="es-MX" b="1" dirty="0">
                <a:latin typeface="Consolas" panose="020B0609020204030204" pitchFamily="49" charset="0"/>
              </a:rPr>
              <a:t>def</a:t>
            </a:r>
            <a:r>
              <a:rPr lang="es-MX" sz="2000" dirty="0"/>
              <a:t> y retornan con </a:t>
            </a:r>
            <a:r>
              <a:rPr lang="es-MX" b="1" dirty="0" err="1">
                <a:latin typeface="Consolas" panose="020B0609020204030204" pitchFamily="49" charset="0"/>
              </a:rPr>
              <a:t>return</a:t>
            </a:r>
            <a:r>
              <a:rPr lang="es-MX" sz="2000" dirty="0"/>
              <a:t>.</a:t>
            </a:r>
          </a:p>
          <a:p>
            <a:pPr marL="457200" indent="-457200" rtl="0">
              <a:buFont typeface="+mj-lt"/>
              <a:buAutoNum type="arabicPeriod"/>
            </a:pPr>
            <a:r>
              <a:rPr lang="es-MX" sz="2000" b="1" dirty="0"/>
              <a:t>Especificación</a:t>
            </a:r>
            <a:r>
              <a:rPr lang="es-MX" sz="2000" dirty="0"/>
              <a:t>: cada función lleva un </a:t>
            </a:r>
            <a:r>
              <a:rPr lang="es-MX" sz="2000" dirty="0" err="1"/>
              <a:t>docstring</a:t>
            </a:r>
            <a:r>
              <a:rPr lang="es-MX" sz="2000" dirty="0"/>
              <a:t> con </a:t>
            </a:r>
            <a:r>
              <a:rPr lang="es-MX" sz="2000" b="1" dirty="0"/>
              <a:t>supone </a:t>
            </a:r>
            <a:r>
              <a:rPr lang="es-MX" sz="2000" dirty="0"/>
              <a:t>y</a:t>
            </a:r>
            <a:r>
              <a:rPr lang="es-MX" sz="2000" b="1" dirty="0"/>
              <a:t> garantiza</a:t>
            </a:r>
            <a:r>
              <a:rPr lang="es-MX" sz="2000" dirty="0"/>
              <a:t>, que se consulta con </a:t>
            </a:r>
            <a:r>
              <a:rPr lang="es-MX" b="1" dirty="0" err="1">
                <a:latin typeface="Consolas" panose="020B0609020204030204" pitchFamily="49" charset="0"/>
              </a:rPr>
              <a:t>help</a:t>
            </a:r>
            <a:r>
              <a:rPr lang="es-MX" b="1" dirty="0">
                <a:latin typeface="Consolas" panose="020B0609020204030204" pitchFamily="49" charset="0"/>
              </a:rPr>
              <a:t>()</a:t>
            </a:r>
            <a:r>
              <a:rPr lang="es-MX" sz="2000" dirty="0"/>
              <a:t>.</a:t>
            </a:r>
          </a:p>
          <a:p>
            <a:pPr marL="457200" indent="-457200" rtl="0">
              <a:buFont typeface="+mj-lt"/>
              <a:buAutoNum type="arabicPeriod"/>
            </a:pPr>
            <a:r>
              <a:rPr lang="es-MX" sz="2000" b="1" dirty="0"/>
              <a:t>Pruebas</a:t>
            </a:r>
            <a:r>
              <a:rPr lang="es-MX" sz="2000" dirty="0"/>
              <a:t>: se escriben con </a:t>
            </a:r>
            <a:r>
              <a:rPr lang="es-MX" b="1" dirty="0" err="1">
                <a:latin typeface="Consolas" panose="020B0609020204030204" pitchFamily="49" charset="0"/>
              </a:rPr>
              <a:t>assert</a:t>
            </a:r>
            <a:r>
              <a:rPr lang="es-MX" sz="2000" dirty="0"/>
              <a:t>. Ejecutar un programa no es lo mismo que probarlo.</a:t>
            </a:r>
          </a:p>
          <a:p>
            <a:pPr marL="457200" indent="-457200" rtl="0">
              <a:buFont typeface="+mj-lt"/>
              <a:buAutoNum type="arabicPeriod"/>
            </a:pPr>
            <a:r>
              <a:rPr lang="es-MX" sz="2000" b="1" dirty="0"/>
              <a:t>Ámbito</a:t>
            </a:r>
            <a:r>
              <a:rPr lang="es-MX" sz="2000" dirty="0"/>
              <a:t>: las variables locales solo existen dentro de su función.</a:t>
            </a:r>
          </a:p>
          <a:p>
            <a:pPr marL="457200" indent="-457200" rtl="0">
              <a:buFont typeface="+mj-lt"/>
              <a:buAutoNum type="arabicPeriod"/>
            </a:pPr>
            <a:r>
              <a:rPr lang="es-MX" sz="2000" b="1" dirty="0"/>
              <a:t>Parámetros por defecto, y funciones que llaman a otras funciones</a:t>
            </a:r>
            <a:r>
              <a:rPr lang="es-MX" sz="2000" dirty="0"/>
              <a:t>.</a:t>
            </a:r>
          </a:p>
          <a:p>
            <a:pPr marL="457200" indent="-457200" rtl="0">
              <a:buFont typeface="+mj-lt"/>
              <a:buAutoNum type="arabicPeriod"/>
            </a:pPr>
            <a:r>
              <a:rPr lang="es-MX" sz="2000" b="1" dirty="0"/>
              <a:t>Diseño top-</a:t>
            </a:r>
            <a:r>
              <a:rPr lang="es-MX" sz="2000" b="1" dirty="0" err="1"/>
              <a:t>down</a:t>
            </a:r>
            <a:r>
              <a:rPr lang="es-MX" sz="2000" dirty="0"/>
              <a:t>: del problema general a funciones pequeñas, usando </a:t>
            </a:r>
            <a:r>
              <a:rPr lang="es-MX" sz="2000" dirty="0" err="1"/>
              <a:t>stubs</a:t>
            </a:r>
            <a:r>
              <a:rPr lang="es-MX" sz="2000" dirty="0"/>
              <a:t>.</a:t>
            </a:r>
          </a:p>
          <a:p>
            <a:pPr marL="457200" indent="-457200" rtl="0">
              <a:buFont typeface="+mj-lt"/>
              <a:buAutoNum type="arabicPeriod"/>
            </a:pPr>
            <a:r>
              <a:rPr lang="es-MX" sz="2000" b="1" dirty="0"/>
              <a:t>Librerías</a:t>
            </a:r>
            <a:r>
              <a:rPr lang="es-MX" sz="2000" dirty="0"/>
              <a:t>: funciones integradas, </a:t>
            </a:r>
            <a:r>
              <a:rPr lang="es-MX" b="1" dirty="0">
                <a:latin typeface="Consolas" panose="020B0609020204030204" pitchFamily="49" charset="0"/>
              </a:rPr>
              <a:t>math</a:t>
            </a:r>
            <a:r>
              <a:rPr lang="es-MX" sz="2000" dirty="0"/>
              <a:t> y </a:t>
            </a:r>
            <a:r>
              <a:rPr lang="es-MX" b="1" dirty="0">
                <a:latin typeface="Consolas" panose="020B0609020204030204" pitchFamily="49" charset="0"/>
              </a:rPr>
              <a:t>random</a:t>
            </a:r>
            <a:r>
              <a:rPr lang="es-MX" sz="2000" dirty="0"/>
              <a:t>.</a:t>
            </a:r>
          </a:p>
          <a:p>
            <a:pPr marL="457200" indent="-457200" rtl="0">
              <a:buFont typeface="+mj-lt"/>
              <a:buAutoNum type="arabicPeriod"/>
            </a:pPr>
            <a:r>
              <a:rPr lang="es-MX" sz="2000" b="1" dirty="0"/>
              <a:t>Módulos propios</a:t>
            </a:r>
            <a:r>
              <a:rPr lang="es-MX" sz="2000" dirty="0"/>
              <a:t>: </a:t>
            </a:r>
            <a:r>
              <a:rPr lang="es-MX" b="1" dirty="0" err="1">
                <a:latin typeface="Consolas" panose="020B0609020204030204" pitchFamily="49" charset="0"/>
              </a:rPr>
              <a:t>import</a:t>
            </a:r>
            <a:r>
              <a:rPr lang="es-MX" sz="2000" dirty="0"/>
              <a:t>, </a:t>
            </a:r>
            <a:r>
              <a:rPr lang="es-MX" b="1" dirty="0">
                <a:latin typeface="Consolas" panose="020B0609020204030204" pitchFamily="49" charset="0"/>
              </a:rPr>
              <a:t>__name__</a:t>
            </a:r>
            <a:r>
              <a:rPr lang="es-MX" sz="2000" dirty="0"/>
              <a:t>, y </a:t>
            </a:r>
            <a:r>
              <a:rPr lang="es-MX" b="1" dirty="0">
                <a:latin typeface="Consolas" panose="020B0609020204030204" pitchFamily="49" charset="0"/>
              </a:rPr>
              <a:t>def main()</a:t>
            </a:r>
            <a:r>
              <a:rPr lang="es-MX" sz="2000" dirty="0"/>
              <a:t> con la guarda.</a:t>
            </a:r>
            <a:endParaRPr lang="es-CO" sz="2000" dirty="0"/>
          </a:p>
        </p:txBody>
      </p:sp>
    </p:spTree>
    <p:extLst>
      <p:ext uri="{BB962C8B-B14F-4D97-AF65-F5344CB8AC3E}">
        <p14:creationId xmlns:p14="http://schemas.microsoft.com/office/powerpoint/2010/main" val="4787277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200" dirty="0"/>
              <a:t>Un problema que todavía no se puede resolver bien</a:t>
            </a:r>
          </a:p>
        </p:txBody>
      </p:sp>
      <p:sp>
        <p:nvSpPr>
          <p:cNvPr id="11" name="CuadroTexto 10">
            <a:extLst>
              <a:ext uri="{FF2B5EF4-FFF2-40B4-BE49-F238E27FC236}">
                <a16:creationId xmlns:a16="http://schemas.microsoft.com/office/drawing/2014/main" id="{688FC587-B925-4872-9176-CBAE616BD677}"/>
              </a:ext>
            </a:extLst>
          </p:cNvPr>
          <p:cNvSpPr txBox="1"/>
          <p:nvPr/>
        </p:nvSpPr>
        <p:spPr>
          <a:xfrm>
            <a:off x="308007" y="5541382"/>
            <a:ext cx="8512465" cy="923330"/>
          </a:xfrm>
          <a:prstGeom prst="rect">
            <a:avLst/>
          </a:prstGeom>
          <a:solidFill>
            <a:schemeClr val="bg2"/>
          </a:solidFill>
        </p:spPr>
        <p:txBody>
          <a:bodyPr wrap="square">
            <a:spAutoFit/>
          </a:bodyPr>
          <a:lstStyle/>
          <a:p>
            <a:r>
              <a:rPr lang="es-MX" b="1" dirty="0"/>
              <a:t>Pregunta</a:t>
            </a:r>
            <a:r>
              <a:rPr lang="es-MX" dirty="0"/>
              <a:t>: El promedio solo se conoce después de leer todas las notas. ¿Cómo se compara cada nota con el promedio, si las anteriores ya se perdieron? ¿Qué pasaría si el curso tuviera 40 estudiantes y se usaran 40 variables?</a:t>
            </a:r>
          </a:p>
        </p:txBody>
      </p:sp>
      <p:sp>
        <p:nvSpPr>
          <p:cNvPr id="6" name="12 Rectángulo">
            <a:extLst>
              <a:ext uri="{FF2B5EF4-FFF2-40B4-BE49-F238E27FC236}">
                <a16:creationId xmlns:a16="http://schemas.microsoft.com/office/drawing/2014/main" id="{A73AFEAC-B223-4D7F-B142-1E206A88BEB3}"/>
              </a:ext>
            </a:extLst>
          </p:cNvPr>
          <p:cNvSpPr/>
          <p:nvPr/>
        </p:nvSpPr>
        <p:spPr>
          <a:xfrm>
            <a:off x="144639" y="692696"/>
            <a:ext cx="8854721" cy="4124206"/>
          </a:xfrm>
          <a:prstGeom prst="rect">
            <a:avLst/>
          </a:prstGeom>
        </p:spPr>
        <p:txBody>
          <a:bodyPr wrap="square">
            <a:spAutoFit/>
          </a:bodyPr>
          <a:lstStyle/>
          <a:p>
            <a:pPr rtl="0"/>
            <a:r>
              <a:rPr lang="es-MX" sz="2200" b="1" dirty="0"/>
              <a:t>Enunciado</a:t>
            </a:r>
            <a:r>
              <a:rPr lang="es-MX" sz="2200" dirty="0"/>
              <a:t>:</a:t>
            </a:r>
          </a:p>
          <a:p>
            <a:pPr rtl="0"/>
            <a:r>
              <a:rPr lang="es-MX" sz="2000" dirty="0"/>
              <a:t>Leer las notas de los estudiantes de un curso y mostrar </a:t>
            </a:r>
            <a:r>
              <a:rPr lang="es-MX" sz="2000" b="1" dirty="0"/>
              <a:t>cuántas notas son mayores que el promedio</a:t>
            </a:r>
            <a:r>
              <a:rPr lang="es-MX" sz="2000" dirty="0"/>
              <a:t>.</a:t>
            </a:r>
          </a:p>
          <a:p>
            <a:pPr marL="342900" indent="-342900" rtl="0">
              <a:buFont typeface="Arial" panose="020B0604020202020204" pitchFamily="34" charset="0"/>
              <a:buChar char="•"/>
            </a:pPr>
            <a:r>
              <a:rPr lang="es-MX" sz="2000" b="1" dirty="0"/>
              <a:t>Archivo</a:t>
            </a:r>
            <a:r>
              <a:rPr lang="es-MX" sz="2000" dirty="0"/>
              <a:t>: </a:t>
            </a:r>
            <a:r>
              <a:rPr lang="es-MX" dirty="0">
                <a:latin typeface="Consolas" panose="020B0609020204030204" pitchFamily="49" charset="0"/>
              </a:rPr>
              <a:t>notas_sin_arreglos.py</a:t>
            </a:r>
            <a:r>
              <a:rPr lang="es-MX" sz="2000" dirty="0"/>
              <a:t> (líneas 9–19)</a:t>
            </a:r>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endParaRPr lang="es-MX" sz="2000" dirty="0"/>
          </a:p>
          <a:p>
            <a:pPr marL="342900" indent="-342900" rtl="0">
              <a:buFont typeface="Arial" panose="020B0604020202020204" pitchFamily="34" charset="0"/>
              <a:buChar char="•"/>
            </a:pPr>
            <a:r>
              <a:rPr lang="es-MX" sz="2000" b="1" dirty="0"/>
              <a:t>Salida</a:t>
            </a:r>
            <a:r>
              <a:rPr lang="es-MX" sz="2000" dirty="0"/>
              <a:t> (con 4 estudiantes: 3.0, 4.5, 2.0, 4.0):</a:t>
            </a:r>
          </a:p>
        </p:txBody>
      </p:sp>
      <p:sp>
        <p:nvSpPr>
          <p:cNvPr id="7" name="CuadroTexto 6">
            <a:extLst>
              <a:ext uri="{FF2B5EF4-FFF2-40B4-BE49-F238E27FC236}">
                <a16:creationId xmlns:a16="http://schemas.microsoft.com/office/drawing/2014/main" id="{41CE0D67-953B-4B33-BC21-F6E2079C93A0}"/>
              </a:ext>
            </a:extLst>
          </p:cNvPr>
          <p:cNvSpPr txBox="1"/>
          <p:nvPr/>
        </p:nvSpPr>
        <p:spPr>
          <a:xfrm>
            <a:off x="1043607" y="2097430"/>
            <a:ext cx="7056784" cy="2123658"/>
          </a:xfrm>
          <a:prstGeom prst="rect">
            <a:avLst/>
          </a:prstGeom>
          <a:noFill/>
          <a:ln>
            <a:solidFill>
              <a:schemeClr val="tx1"/>
            </a:solidFill>
          </a:ln>
        </p:spPr>
        <p:txBody>
          <a:bodyPr wrap="square">
            <a:spAutoFit/>
          </a:bodyPr>
          <a:lstStyle/>
          <a:p>
            <a:r>
              <a:rPr lang="es-CO" sz="1200" dirty="0">
                <a:latin typeface="Consolas" panose="020B0609020204030204" pitchFamily="49" charset="0"/>
              </a:rPr>
              <a:t> 9  </a:t>
            </a:r>
            <a:r>
              <a:rPr lang="es-CO" sz="1200" dirty="0" err="1">
                <a:latin typeface="Consolas" panose="020B0609020204030204" pitchFamily="49" charset="0"/>
              </a:rPr>
              <a:t>def</a:t>
            </a:r>
            <a:r>
              <a:rPr lang="es-CO" sz="1200" dirty="0">
                <a:latin typeface="Consolas" panose="020B0609020204030204" pitchFamily="49" charset="0"/>
              </a:rPr>
              <a:t> </a:t>
            </a:r>
            <a:r>
              <a:rPr lang="es-CO" sz="1200" dirty="0" err="1">
                <a:latin typeface="Consolas" panose="020B0609020204030204" pitchFamily="49" charset="0"/>
              </a:rPr>
              <a:t>main</a:t>
            </a:r>
            <a:r>
              <a:rPr lang="es-CO" sz="1200" dirty="0">
                <a:latin typeface="Consolas" panose="020B0609020204030204" pitchFamily="49" charset="0"/>
              </a:rPr>
              <a:t>():</a:t>
            </a:r>
          </a:p>
          <a:p>
            <a:r>
              <a:rPr lang="es-CO" sz="1200" dirty="0">
                <a:latin typeface="Consolas" panose="020B0609020204030204" pitchFamily="49" charset="0"/>
              </a:rPr>
              <a:t>10      cantidad = </a:t>
            </a:r>
            <a:r>
              <a:rPr lang="es-CO" sz="1200" dirty="0" err="1">
                <a:latin typeface="Consolas" panose="020B0609020204030204" pitchFamily="49" charset="0"/>
              </a:rPr>
              <a:t>int</a:t>
            </a:r>
            <a:r>
              <a:rPr lang="es-CO" sz="1200" dirty="0">
                <a:latin typeface="Consolas" panose="020B0609020204030204" pitchFamily="49" charset="0"/>
              </a:rPr>
              <a:t>(input("Cantidad de estudiantes: "))</a:t>
            </a:r>
          </a:p>
          <a:p>
            <a:r>
              <a:rPr lang="es-CO" sz="1200" dirty="0">
                <a:latin typeface="Consolas" panose="020B0609020204030204" pitchFamily="49" charset="0"/>
              </a:rPr>
              <a:t>11      suma = 0.0</a:t>
            </a:r>
          </a:p>
          <a:p>
            <a:r>
              <a:rPr lang="es-CO" sz="1200" dirty="0">
                <a:latin typeface="Consolas" panose="020B0609020204030204" pitchFamily="49" charset="0"/>
              </a:rPr>
              <a:t>12      </a:t>
            </a:r>
            <a:r>
              <a:rPr lang="es-CO" sz="1200" dirty="0" err="1">
                <a:latin typeface="Consolas" panose="020B0609020204030204" pitchFamily="49" charset="0"/>
              </a:rPr>
              <a:t>for</a:t>
            </a:r>
            <a:r>
              <a:rPr lang="es-CO" sz="1200" dirty="0">
                <a:latin typeface="Consolas" panose="020B0609020204030204" pitchFamily="49" charset="0"/>
              </a:rPr>
              <a:t> i in </a:t>
            </a:r>
            <a:r>
              <a:rPr lang="es-CO" sz="1200" dirty="0" err="1">
                <a:latin typeface="Consolas" panose="020B0609020204030204" pitchFamily="49" charset="0"/>
              </a:rPr>
              <a:t>range</a:t>
            </a:r>
            <a:r>
              <a:rPr lang="es-CO" sz="1200" dirty="0">
                <a:latin typeface="Consolas" panose="020B0609020204030204" pitchFamily="49" charset="0"/>
              </a:rPr>
              <a:t>(cantidad):</a:t>
            </a:r>
          </a:p>
          <a:p>
            <a:r>
              <a:rPr lang="es-CO" sz="1200" dirty="0">
                <a:latin typeface="Consolas" panose="020B0609020204030204" pitchFamily="49" charset="0"/>
              </a:rPr>
              <a:t>13          nota = </a:t>
            </a:r>
            <a:r>
              <a:rPr lang="es-CO" sz="1200" dirty="0" err="1">
                <a:latin typeface="Consolas" panose="020B0609020204030204" pitchFamily="49" charset="0"/>
              </a:rPr>
              <a:t>float</a:t>
            </a:r>
            <a:r>
              <a:rPr lang="es-CO" sz="1200" dirty="0">
                <a:latin typeface="Consolas" panose="020B0609020204030204" pitchFamily="49" charset="0"/>
              </a:rPr>
              <a:t>(input(</a:t>
            </a:r>
            <a:r>
              <a:rPr lang="es-CO" sz="1200" dirty="0" err="1">
                <a:latin typeface="Consolas" panose="020B0609020204030204" pitchFamily="49" charset="0"/>
              </a:rPr>
              <a:t>f"Nota</a:t>
            </a:r>
            <a:r>
              <a:rPr lang="es-CO" sz="1200" dirty="0">
                <a:latin typeface="Consolas" panose="020B0609020204030204" pitchFamily="49" charset="0"/>
              </a:rPr>
              <a:t> del estudiante {i + 1}: "))</a:t>
            </a:r>
          </a:p>
          <a:p>
            <a:r>
              <a:rPr lang="es-CO" sz="1200" dirty="0">
                <a:latin typeface="Consolas" panose="020B0609020204030204" pitchFamily="49" charset="0"/>
              </a:rPr>
              <a:t>14          suma += nota</a:t>
            </a:r>
          </a:p>
          <a:p>
            <a:r>
              <a:rPr lang="es-CO" sz="1200" dirty="0">
                <a:latin typeface="Consolas" panose="020B0609020204030204" pitchFamily="49" charset="0"/>
              </a:rPr>
              <a:t>15      promedio = suma / cantidad</a:t>
            </a:r>
          </a:p>
          <a:p>
            <a:r>
              <a:rPr lang="es-CO" sz="1200" dirty="0">
                <a:latin typeface="Consolas" panose="020B0609020204030204" pitchFamily="49" charset="0"/>
              </a:rPr>
              <a:t>16      </a:t>
            </a:r>
            <a:r>
              <a:rPr lang="es-CO" sz="1200" dirty="0" err="1">
                <a:latin typeface="Consolas" panose="020B0609020204030204" pitchFamily="49" charset="0"/>
              </a:rPr>
              <a:t>print</a:t>
            </a:r>
            <a:r>
              <a:rPr lang="es-CO" sz="1200" dirty="0">
                <a:latin typeface="Consolas" panose="020B0609020204030204" pitchFamily="49" charset="0"/>
              </a:rPr>
              <a:t>(</a:t>
            </a:r>
            <a:r>
              <a:rPr lang="es-CO" sz="1200" dirty="0" err="1">
                <a:latin typeface="Consolas" panose="020B0609020204030204" pitchFamily="49" charset="0"/>
              </a:rPr>
              <a:t>f"Promedio</a:t>
            </a:r>
            <a:r>
              <a:rPr lang="es-CO" sz="1200" dirty="0">
                <a:latin typeface="Consolas" panose="020B0609020204030204" pitchFamily="49" charset="0"/>
              </a:rPr>
              <a:t> del curso: {promedio:.2f}")</a:t>
            </a:r>
          </a:p>
          <a:p>
            <a:r>
              <a:rPr lang="es-CO" sz="1200" dirty="0">
                <a:latin typeface="Consolas" panose="020B0609020204030204" pitchFamily="49" charset="0"/>
              </a:rPr>
              <a:t>17      # ¿Cuántas notas son mayores que el promedio?</a:t>
            </a:r>
          </a:p>
          <a:p>
            <a:r>
              <a:rPr lang="es-CO" sz="1200" dirty="0">
                <a:latin typeface="Consolas" panose="020B0609020204030204" pitchFamily="49" charset="0"/>
              </a:rPr>
              <a:t>18      # Problema: la variable nota solo conserva la última nota leída.</a:t>
            </a:r>
          </a:p>
          <a:p>
            <a:r>
              <a:rPr lang="es-CO" sz="1200" dirty="0">
                <a:latin typeface="Consolas" panose="020B0609020204030204" pitchFamily="49" charset="0"/>
              </a:rPr>
              <a:t>19      </a:t>
            </a:r>
            <a:r>
              <a:rPr lang="es-CO" sz="1200" dirty="0" err="1">
                <a:latin typeface="Consolas" panose="020B0609020204030204" pitchFamily="49" charset="0"/>
              </a:rPr>
              <a:t>print</a:t>
            </a:r>
            <a:r>
              <a:rPr lang="es-CO" sz="1200" dirty="0">
                <a:latin typeface="Consolas" panose="020B0609020204030204" pitchFamily="49" charset="0"/>
              </a:rPr>
              <a:t>(</a:t>
            </a:r>
            <a:r>
              <a:rPr lang="es-CO" sz="1200" dirty="0" err="1">
                <a:latin typeface="Consolas" panose="020B0609020204030204" pitchFamily="49" charset="0"/>
              </a:rPr>
              <a:t>f"Nota</a:t>
            </a:r>
            <a:r>
              <a:rPr lang="es-CO" sz="1200" dirty="0">
                <a:latin typeface="Consolas" panose="020B0609020204030204" pitchFamily="49" charset="0"/>
              </a:rPr>
              <a:t> guardada en la variable nota: {nota}")</a:t>
            </a:r>
          </a:p>
        </p:txBody>
      </p:sp>
      <p:sp>
        <p:nvSpPr>
          <p:cNvPr id="8" name="CuadroTexto 7">
            <a:extLst>
              <a:ext uri="{FF2B5EF4-FFF2-40B4-BE49-F238E27FC236}">
                <a16:creationId xmlns:a16="http://schemas.microsoft.com/office/drawing/2014/main" id="{5B10E6FD-9F29-438D-815C-B2E85E0B9B12}"/>
              </a:ext>
            </a:extLst>
          </p:cNvPr>
          <p:cNvSpPr txBox="1"/>
          <p:nvPr/>
        </p:nvSpPr>
        <p:spPr>
          <a:xfrm>
            <a:off x="1043607" y="4865680"/>
            <a:ext cx="7056784" cy="461665"/>
          </a:xfrm>
          <a:prstGeom prst="rect">
            <a:avLst/>
          </a:prstGeom>
          <a:noFill/>
          <a:ln>
            <a:solidFill>
              <a:schemeClr val="tx1"/>
            </a:solidFill>
          </a:ln>
        </p:spPr>
        <p:txBody>
          <a:bodyPr wrap="square">
            <a:spAutoFit/>
          </a:bodyPr>
          <a:lstStyle/>
          <a:p>
            <a:r>
              <a:rPr lang="es-MX" sz="1200" dirty="0">
                <a:latin typeface="Consolas" panose="020B0609020204030204" pitchFamily="49" charset="0"/>
              </a:rPr>
              <a:t>Promedio del curso: 3.38</a:t>
            </a:r>
          </a:p>
          <a:p>
            <a:r>
              <a:rPr lang="es-MX" sz="1200" dirty="0">
                <a:latin typeface="Consolas" panose="020B0609020204030204" pitchFamily="49" charset="0"/>
              </a:rPr>
              <a:t>Nota guardada en la variable nota: 4.0</a:t>
            </a:r>
            <a:endParaRPr lang="es-CO" sz="1200" dirty="0">
              <a:latin typeface="Consolas" panose="020B0609020204030204" pitchFamily="49" charset="0"/>
            </a:endParaRPr>
          </a:p>
        </p:txBody>
      </p:sp>
    </p:spTree>
    <p:extLst>
      <p:ext uri="{BB962C8B-B14F-4D97-AF65-F5344CB8AC3E}">
        <p14:creationId xmlns:p14="http://schemas.microsoft.com/office/powerpoint/2010/main" val="188786709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4 Título"/>
          <p:cNvSpPr>
            <a:spLocks noGrp="1"/>
          </p:cNvSpPr>
          <p:nvPr>
            <p:ph type="title"/>
          </p:nvPr>
        </p:nvSpPr>
        <p:spPr>
          <a:xfrm>
            <a:off x="323528" y="116632"/>
            <a:ext cx="8675832" cy="794653"/>
          </a:xfrm>
        </p:spPr>
        <p:txBody>
          <a:bodyPr>
            <a:noAutofit/>
          </a:bodyPr>
          <a:lstStyle/>
          <a:p>
            <a:r>
              <a:rPr lang="es-MX" sz="3200" dirty="0"/>
              <a:t>Próxima clase: arreglos (listas en Python)</a:t>
            </a:r>
          </a:p>
        </p:txBody>
      </p:sp>
      <p:sp>
        <p:nvSpPr>
          <p:cNvPr id="6" name="12 Rectángulo">
            <a:extLst>
              <a:ext uri="{FF2B5EF4-FFF2-40B4-BE49-F238E27FC236}">
                <a16:creationId xmlns:a16="http://schemas.microsoft.com/office/drawing/2014/main" id="{A73AFEAC-B223-4D7F-B142-1E206A88BEB3}"/>
              </a:ext>
            </a:extLst>
          </p:cNvPr>
          <p:cNvSpPr/>
          <p:nvPr/>
        </p:nvSpPr>
        <p:spPr>
          <a:xfrm>
            <a:off x="181774" y="911285"/>
            <a:ext cx="8854721" cy="1015663"/>
          </a:xfrm>
          <a:prstGeom prst="rect">
            <a:avLst/>
          </a:prstGeom>
        </p:spPr>
        <p:txBody>
          <a:bodyPr wrap="square">
            <a:spAutoFit/>
          </a:bodyPr>
          <a:lstStyle/>
          <a:p>
            <a:pPr marL="342900" indent="-342900" rtl="0">
              <a:buFont typeface="Arial" panose="020B0604020202020204" pitchFamily="34" charset="0"/>
              <a:buChar char="•"/>
            </a:pPr>
            <a:r>
              <a:rPr lang="es-MX" sz="2000" dirty="0"/>
              <a:t>Un arreglo es como una variable que guarda muchos valores, y a cada uno se accede por su posición.</a:t>
            </a:r>
          </a:p>
          <a:p>
            <a:pPr marL="342900" indent="-342900" rtl="0">
              <a:buFont typeface="Arial" panose="020B0604020202020204" pitchFamily="34" charset="0"/>
              <a:buChar char="•"/>
            </a:pPr>
            <a:r>
              <a:rPr lang="es-MX" sz="2000" dirty="0"/>
              <a:t>Las posiciones empiezan en 0.</a:t>
            </a:r>
          </a:p>
        </p:txBody>
      </p:sp>
      <p:pic>
        <p:nvPicPr>
          <p:cNvPr id="3" name="Imagen 2">
            <a:extLst>
              <a:ext uri="{FF2B5EF4-FFF2-40B4-BE49-F238E27FC236}">
                <a16:creationId xmlns:a16="http://schemas.microsoft.com/office/drawing/2014/main" id="{9E8A2A30-42A2-437D-8D64-422690A0DF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880" y="2488530"/>
            <a:ext cx="8618120" cy="1880939"/>
          </a:xfrm>
          <a:prstGeom prst="rect">
            <a:avLst/>
          </a:prstGeom>
        </p:spPr>
      </p:pic>
    </p:spTree>
    <p:extLst>
      <p:ext uri="{BB962C8B-B14F-4D97-AF65-F5344CB8AC3E}">
        <p14:creationId xmlns:p14="http://schemas.microsoft.com/office/powerpoint/2010/main" val="28761848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07504" y="23817"/>
            <a:ext cx="7886700" cy="812895"/>
          </a:xfrm>
        </p:spPr>
        <p:txBody>
          <a:bodyPr>
            <a:normAutofit/>
          </a:bodyPr>
          <a:lstStyle/>
          <a:p>
            <a:r>
              <a:rPr lang="en-US" sz="4000" dirty="0"/>
              <a:t>Referencias</a:t>
            </a:r>
          </a:p>
        </p:txBody>
      </p:sp>
      <p:sp>
        <p:nvSpPr>
          <p:cNvPr id="2" name="Content Placeholder 1"/>
          <p:cNvSpPr>
            <a:spLocks noGrp="1"/>
          </p:cNvSpPr>
          <p:nvPr>
            <p:ph idx="1"/>
          </p:nvPr>
        </p:nvSpPr>
        <p:spPr>
          <a:xfrm>
            <a:off x="179512" y="692696"/>
            <a:ext cx="8712968" cy="6048672"/>
          </a:xfrm>
        </p:spPr>
        <p:txBody>
          <a:bodyPr>
            <a:noAutofit/>
          </a:bodyPr>
          <a:lstStyle/>
          <a:p>
            <a:pPr rtl="0">
              <a:buFont typeface="Arial" panose="020B0604020202020204" pitchFamily="34" charset="0"/>
              <a:buChar char="•"/>
            </a:pPr>
            <a:r>
              <a:rPr lang="es-MX" sz="2000" dirty="0"/>
              <a:t>Aprender a Programar: Abstracción en programación. Concepto. Diseño top-</a:t>
            </a:r>
            <a:r>
              <a:rPr lang="es-MX" sz="2000" dirty="0" err="1"/>
              <a:t>down</a:t>
            </a:r>
            <a:r>
              <a:rPr lang="es-MX" sz="2000" dirty="0"/>
              <a:t> de algoritmos y programas. Ejemplos (CU00225A) </a:t>
            </a:r>
            <a:r>
              <a:rPr lang="es-MX" sz="2000" dirty="0">
                <a:hlinkClick r:id="rId2"/>
              </a:rPr>
              <a:t>https://www.aprenderaprogramar.com/index.php?option=com_content&amp;view=category&amp;id=36&amp;Itemid=60</a:t>
            </a:r>
            <a:r>
              <a:rPr lang="es-MX" sz="2000" dirty="0"/>
              <a:t>  </a:t>
            </a:r>
          </a:p>
          <a:p>
            <a:pPr rtl="0">
              <a:buFont typeface="Arial" panose="020B0604020202020204" pitchFamily="34" charset="0"/>
              <a:buChar char="•"/>
            </a:pPr>
            <a:r>
              <a:rPr lang="es-MX" sz="2000" dirty="0"/>
              <a:t>Stanford CS106A, </a:t>
            </a:r>
            <a:r>
              <a:rPr lang="es-MX" sz="2000" i="1" dirty="0"/>
              <a:t>Karel Reader</a:t>
            </a:r>
            <a:r>
              <a:rPr lang="es-MX" sz="2000" dirty="0"/>
              <a:t>, cap. 8: </a:t>
            </a:r>
            <a:r>
              <a:rPr lang="es-MX" sz="2000" i="1" dirty="0" err="1"/>
              <a:t>Stepwise</a:t>
            </a:r>
            <a:r>
              <a:rPr lang="es-MX" sz="2000" i="1" dirty="0"/>
              <a:t> </a:t>
            </a:r>
            <a:r>
              <a:rPr lang="es-MX" sz="2000" i="1" dirty="0" err="1"/>
              <a:t>Refinement</a:t>
            </a:r>
            <a:br>
              <a:rPr lang="es-MX" sz="2000" dirty="0"/>
            </a:br>
            <a:r>
              <a:rPr lang="es-MX" sz="2000" dirty="0">
                <a:hlinkClick r:id="rId3"/>
              </a:rPr>
              <a:t>https://compedu.stanford.edu/karel-reader/docs/python/en/chapter8.html</a:t>
            </a:r>
            <a:endParaRPr lang="es-MX" sz="2000" dirty="0"/>
          </a:p>
          <a:p>
            <a:pPr rtl="0">
              <a:buFont typeface="Arial" panose="020B0604020202020204" pitchFamily="34" charset="0"/>
              <a:buChar char="•"/>
            </a:pPr>
            <a:r>
              <a:rPr lang="es-MX" sz="2000" dirty="0"/>
              <a:t>Stanford CS106A, lección 3: </a:t>
            </a:r>
            <a:r>
              <a:rPr lang="es-MX" sz="2000" i="1" dirty="0" err="1"/>
              <a:t>Decomposition</a:t>
            </a:r>
            <a:br>
              <a:rPr lang="es-MX" sz="2000" dirty="0"/>
            </a:br>
            <a:r>
              <a:rPr lang="es-MX" sz="2000" dirty="0">
                <a:hlinkClick r:id="rId4"/>
              </a:rPr>
              <a:t>https://web.stanford.edu/class/archive/cs/cs106a/cs106a.1226/lectures/03-decomposition/3-Decomposition.pdf</a:t>
            </a:r>
            <a:endParaRPr lang="es-MX" sz="2000" dirty="0"/>
          </a:p>
          <a:p>
            <a:pPr rtl="0">
              <a:buFont typeface="Arial" panose="020B0604020202020204" pitchFamily="34" charset="0"/>
              <a:buChar char="•"/>
            </a:pPr>
            <a:r>
              <a:rPr lang="es-MX" sz="2000" dirty="0"/>
              <a:t>MIT 6.100L, lección 7: </a:t>
            </a:r>
            <a:r>
              <a:rPr lang="es-MX" sz="2000" i="1" dirty="0" err="1"/>
              <a:t>Decomposition</a:t>
            </a:r>
            <a:r>
              <a:rPr lang="es-MX" sz="2000" i="1" dirty="0"/>
              <a:t>, </a:t>
            </a:r>
            <a:r>
              <a:rPr lang="es-MX" sz="2000" i="1" dirty="0" err="1"/>
              <a:t>Abstraction</a:t>
            </a:r>
            <a:r>
              <a:rPr lang="es-MX" sz="2000" i="1" dirty="0"/>
              <a:t>, </a:t>
            </a:r>
            <a:r>
              <a:rPr lang="es-MX" sz="2000" i="1" dirty="0" err="1"/>
              <a:t>Functions</a:t>
            </a:r>
            <a:r>
              <a:rPr lang="es-MX" sz="2000" dirty="0"/>
              <a:t> (diapositivas)</a:t>
            </a:r>
            <a:br>
              <a:rPr lang="es-MX" sz="2000" dirty="0"/>
            </a:br>
            <a:r>
              <a:rPr lang="es-MX" sz="2000" dirty="0">
                <a:hlinkClick r:id="rId5"/>
              </a:rPr>
              <a:t>https://ocw.mit.edu/courses/6-100l-introduction-to-cs-and-programming-using-python-fall-2022/resources/mit6_100l_f22_lec07_pdf/</a:t>
            </a:r>
            <a:endParaRPr lang="es-MX" sz="2000" dirty="0"/>
          </a:p>
          <a:p>
            <a:pPr rtl="0">
              <a:buFont typeface="Arial" panose="020B0604020202020204" pitchFamily="34" charset="0"/>
              <a:buChar char="•"/>
            </a:pPr>
            <a:r>
              <a:rPr lang="es-MX" sz="2000" dirty="0"/>
              <a:t>MIT 6.100L, lección 7 (video)</a:t>
            </a:r>
            <a:br>
              <a:rPr lang="es-MX" sz="2000" dirty="0"/>
            </a:br>
            <a:r>
              <a:rPr lang="es-MX" sz="2000" dirty="0">
                <a:hlinkClick r:id="rId6"/>
              </a:rPr>
              <a:t>https://ocw.mit.edu/courses/6-100l-introduction-to-cs-and-programming-using-python-fall-2022/resources/6100l-lecture-7-multi_mp4/</a:t>
            </a:r>
            <a:endParaRPr lang="es-MX" sz="2000" dirty="0"/>
          </a:p>
          <a:p>
            <a:pPr rtl="0">
              <a:buFont typeface="Arial" panose="020B0604020202020204" pitchFamily="34" charset="0"/>
              <a:buChar char="•"/>
            </a:pPr>
            <a:r>
              <a:rPr lang="es-MX" sz="2000" dirty="0"/>
              <a:t>CS50P, lección 0: </a:t>
            </a:r>
            <a:r>
              <a:rPr lang="es-MX" sz="2000" i="1" dirty="0" err="1"/>
              <a:t>Functions</a:t>
            </a:r>
            <a:r>
              <a:rPr lang="es-MX" sz="2000" i="1" dirty="0"/>
              <a:t>, Variables</a:t>
            </a:r>
            <a:br>
              <a:rPr lang="es-MX" sz="2000" dirty="0"/>
            </a:br>
            <a:r>
              <a:rPr lang="es-MX" sz="2000" dirty="0">
                <a:hlinkClick r:id="rId7"/>
              </a:rPr>
              <a:t>https://cs50.harvard.edu/python/notes/0/</a:t>
            </a:r>
            <a:endParaRPr lang="es-MX" sz="2000" dirty="0"/>
          </a:p>
          <a:p>
            <a:pPr rtl="0"/>
            <a:r>
              <a:rPr lang="en-US" sz="2000" dirty="0"/>
              <a:t>Liang, Y. D. </a:t>
            </a:r>
            <a:r>
              <a:rPr lang="en-US" sz="2000" i="1" dirty="0"/>
              <a:t>Introduction to Programming Using Python</a:t>
            </a:r>
            <a:r>
              <a:rPr lang="en-US" sz="2000" dirty="0"/>
              <a:t>, §6.13 </a:t>
            </a:r>
            <a:r>
              <a:rPr lang="en-US" sz="2000" i="1" dirty="0"/>
              <a:t>Function Abstraction and Stepwise Refinement</a:t>
            </a:r>
            <a:endParaRPr lang="es-MX" sz="2000" dirty="0"/>
          </a:p>
        </p:txBody>
      </p:sp>
    </p:spTree>
    <p:extLst>
      <p:ext uri="{BB962C8B-B14F-4D97-AF65-F5344CB8AC3E}">
        <p14:creationId xmlns:p14="http://schemas.microsoft.com/office/powerpoint/2010/main" val="102316485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07504" y="23817"/>
            <a:ext cx="7886700" cy="812895"/>
          </a:xfrm>
        </p:spPr>
        <p:txBody>
          <a:bodyPr>
            <a:normAutofit/>
          </a:bodyPr>
          <a:lstStyle/>
          <a:p>
            <a:r>
              <a:rPr lang="en-US" sz="4000" dirty="0"/>
              <a:t>Referencias</a:t>
            </a:r>
          </a:p>
        </p:txBody>
      </p:sp>
      <p:sp>
        <p:nvSpPr>
          <p:cNvPr id="2" name="Content Placeholder 1"/>
          <p:cNvSpPr>
            <a:spLocks noGrp="1"/>
          </p:cNvSpPr>
          <p:nvPr>
            <p:ph idx="1"/>
          </p:nvPr>
        </p:nvSpPr>
        <p:spPr>
          <a:xfrm>
            <a:off x="218875" y="836712"/>
            <a:ext cx="8784976" cy="5832648"/>
          </a:xfrm>
        </p:spPr>
        <p:txBody>
          <a:bodyPr>
            <a:noAutofit/>
          </a:bodyPr>
          <a:lstStyle/>
          <a:p>
            <a:r>
              <a:rPr lang="es-CO" sz="1400" dirty="0">
                <a:hlinkClick r:id="rId2"/>
              </a:rPr>
              <a:t>https://ellibrodepython.com/</a:t>
            </a:r>
            <a:endParaRPr lang="es-CO" sz="1400" dirty="0"/>
          </a:p>
          <a:p>
            <a:r>
              <a:rPr lang="es-CO" sz="1400" dirty="0">
                <a:hlinkClick r:id="rId3"/>
              </a:rPr>
              <a:t>https://www.uvm.edu/~cbcafier/</a:t>
            </a:r>
            <a:endParaRPr lang="es-CO" sz="1400" dirty="0"/>
          </a:p>
          <a:p>
            <a:r>
              <a:rPr lang="es-CO" sz="1400" dirty="0">
                <a:hlinkClick r:id="rId4"/>
              </a:rPr>
              <a:t>https://realpython.com/</a:t>
            </a:r>
            <a:endParaRPr lang="es-CO" sz="1400" dirty="0"/>
          </a:p>
          <a:p>
            <a:r>
              <a:rPr lang="es-CO" sz="1400" dirty="0">
                <a:hlinkClick r:id="rId5"/>
              </a:rPr>
              <a:t>https://docs.python.org/es/3/tutorial/</a:t>
            </a:r>
            <a:endParaRPr lang="es-CO" sz="1400" dirty="0"/>
          </a:p>
          <a:p>
            <a:r>
              <a:rPr lang="es-CO" sz="1400" dirty="0">
                <a:hlinkClick r:id="rId6"/>
              </a:rPr>
              <a:t>https://python-course.eu/</a:t>
            </a:r>
            <a:endParaRPr lang="es-CO" sz="1400" dirty="0"/>
          </a:p>
          <a:p>
            <a:r>
              <a:rPr lang="es-CO" sz="1400" dirty="0">
                <a:hlinkClick r:id="rId7"/>
              </a:rPr>
              <a:t>https://www.teach.cs.toronto.edu/~csc110y/fall/notes/</a:t>
            </a:r>
            <a:endParaRPr lang="es-CO" sz="1400" dirty="0"/>
          </a:p>
          <a:p>
            <a:r>
              <a:rPr lang="es-CO" sz="1400" dirty="0">
                <a:hlinkClick r:id="rId8"/>
              </a:rPr>
              <a:t>https://realpython.com/defining-your-own-python-function/</a:t>
            </a:r>
            <a:r>
              <a:rPr lang="es-CO" sz="1400" dirty="0"/>
              <a:t>    </a:t>
            </a:r>
          </a:p>
          <a:p>
            <a:r>
              <a:rPr lang="es-CO" sz="1400" dirty="0">
                <a:hlinkClick r:id="rId9"/>
              </a:rPr>
              <a:t>https://realpython.com/python-built-in-functions/</a:t>
            </a:r>
            <a:endParaRPr lang="es-CO" sz="1400" dirty="0"/>
          </a:p>
          <a:p>
            <a:r>
              <a:rPr lang="es-CO" sz="1400" dirty="0">
                <a:hlinkClick r:id="rId10"/>
              </a:rPr>
              <a:t>https://realpython.com/ref/best-practices/functions/</a:t>
            </a:r>
            <a:r>
              <a:rPr lang="es-CO" sz="1400" dirty="0"/>
              <a:t> </a:t>
            </a:r>
          </a:p>
          <a:p>
            <a:r>
              <a:rPr lang="en-US" sz="1400" dirty="0">
                <a:hlinkClick r:id="rId11"/>
              </a:rPr>
              <a:t>https://realpython.com/python-while-loop/</a:t>
            </a:r>
            <a:endParaRPr lang="en-US" sz="1400" dirty="0"/>
          </a:p>
          <a:p>
            <a:r>
              <a:rPr lang="en-US" sz="1400" dirty="0">
                <a:hlinkClick r:id="rId12"/>
              </a:rPr>
              <a:t>https://realpython.com/ref/keywords/while/</a:t>
            </a:r>
            <a:r>
              <a:rPr lang="en-US" sz="1400" dirty="0"/>
              <a:t> </a:t>
            </a:r>
          </a:p>
          <a:p>
            <a:r>
              <a:rPr lang="en-US" sz="1400" dirty="0">
                <a:hlinkClick r:id="rId13"/>
              </a:rPr>
              <a:t>https://cs.stanford.edu/people/nick/py/</a:t>
            </a:r>
            <a:r>
              <a:rPr lang="en-US" sz="1400" dirty="0"/>
              <a:t> </a:t>
            </a:r>
          </a:p>
          <a:p>
            <a:r>
              <a:rPr lang="en-US" sz="1400" dirty="0">
                <a:hlinkClick r:id="rId7"/>
              </a:rPr>
              <a:t>https://www.teach.cs.toronto.edu/~csc110y/fall/notes/</a:t>
            </a:r>
            <a:r>
              <a:rPr lang="en-US" sz="1400" dirty="0"/>
              <a:t> </a:t>
            </a:r>
          </a:p>
          <a:p>
            <a:r>
              <a:rPr lang="en-US" sz="1400" dirty="0">
                <a:hlinkClick r:id="rId14"/>
              </a:rPr>
              <a:t>https://github.com/rjherrera/IIC1103/tree/master</a:t>
            </a:r>
            <a:r>
              <a:rPr lang="en-US" sz="1400" dirty="0"/>
              <a:t> </a:t>
            </a:r>
          </a:p>
          <a:p>
            <a:r>
              <a:rPr lang="en-US" sz="1400" dirty="0">
                <a:hlinkClick r:id="rId15"/>
              </a:rPr>
              <a:t>https://web.stanford.edu/class/cs106a/</a:t>
            </a:r>
            <a:r>
              <a:rPr lang="en-US" sz="1400" dirty="0"/>
              <a:t> </a:t>
            </a:r>
          </a:p>
          <a:p>
            <a:r>
              <a:rPr lang="en-US" sz="1400" dirty="0">
                <a:hlinkClick r:id="rId16"/>
              </a:rPr>
              <a:t>https://web.stanford.edu/class/cs106a/section/section1/section1.html</a:t>
            </a:r>
            <a:r>
              <a:rPr lang="en-US" sz="1400" dirty="0"/>
              <a:t> </a:t>
            </a:r>
          </a:p>
          <a:p>
            <a:r>
              <a:rPr lang="en-US" sz="1400" dirty="0">
                <a:hlinkClick r:id="rId17"/>
              </a:rPr>
              <a:t>https://compedu.stanford.edu/karel-reader/docs/python/en/intro.html</a:t>
            </a:r>
            <a:r>
              <a:rPr lang="en-US" sz="1400" dirty="0"/>
              <a:t> </a:t>
            </a:r>
          </a:p>
          <a:p>
            <a:r>
              <a:rPr lang="en-US" sz="1400" dirty="0">
                <a:hlinkClick r:id="rId18"/>
              </a:rPr>
              <a:t>https://es.wikipedia.org/wiki/Karel_el_Robot</a:t>
            </a:r>
            <a:r>
              <a:rPr lang="en-US" sz="1400" dirty="0"/>
              <a:t> </a:t>
            </a:r>
          </a:p>
        </p:txBody>
      </p:sp>
    </p:spTree>
    <p:extLst>
      <p:ext uri="{BB962C8B-B14F-4D97-AF65-F5344CB8AC3E}">
        <p14:creationId xmlns:p14="http://schemas.microsoft.com/office/powerpoint/2010/main" val="56886274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3528" y="180617"/>
            <a:ext cx="8191822" cy="728103"/>
          </a:xfrm>
        </p:spPr>
        <p:txBody>
          <a:bodyPr/>
          <a:lstStyle/>
          <a:p>
            <a:r>
              <a:rPr lang="es-CO" dirty="0"/>
              <a:t>Eso es todo amigos</a:t>
            </a:r>
            <a:endParaRPr lang="en-US" dirty="0"/>
          </a:p>
        </p:txBody>
      </p:sp>
      <p:pic>
        <p:nvPicPr>
          <p:cNvPr id="4" name="Picture 4">
            <a:extLst>
              <a:ext uri="{FF2B5EF4-FFF2-40B4-BE49-F238E27FC236}">
                <a16:creationId xmlns:a16="http://schemas.microsoft.com/office/drawing/2014/main" id="{7F35EEF4-F126-467F-A5BB-259AA64991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11960" y="912200"/>
            <a:ext cx="4113633" cy="5868856"/>
          </a:xfrm>
          <a:prstGeom prst="rect">
            <a:avLst/>
          </a:prstGeom>
          <a:noFill/>
          <a:extLst>
            <a:ext uri="{909E8E84-426E-40DD-AFC4-6F175D3DCCD1}">
              <a14:hiddenFill xmlns:a14="http://schemas.microsoft.com/office/drawing/2010/main">
                <a:solidFill>
                  <a:srgbClr val="FFFFFF"/>
                </a:solidFill>
              </a14:hiddenFill>
            </a:ext>
          </a:extLst>
        </p:spPr>
      </p:pic>
      <p:sp>
        <p:nvSpPr>
          <p:cNvPr id="5" name="7 Rectángulo">
            <a:extLst>
              <a:ext uri="{FF2B5EF4-FFF2-40B4-BE49-F238E27FC236}">
                <a16:creationId xmlns:a16="http://schemas.microsoft.com/office/drawing/2014/main" id="{27C7AA4C-274E-4F17-B614-41C209AA98D3}"/>
              </a:ext>
            </a:extLst>
          </p:cNvPr>
          <p:cNvSpPr/>
          <p:nvPr/>
        </p:nvSpPr>
        <p:spPr>
          <a:xfrm>
            <a:off x="101021" y="6519446"/>
            <a:ext cx="3678892" cy="261610"/>
          </a:xfrm>
          <a:prstGeom prst="rect">
            <a:avLst/>
          </a:prstGeom>
        </p:spPr>
        <p:txBody>
          <a:bodyPr wrap="square">
            <a:spAutoFit/>
          </a:bodyPr>
          <a:lstStyle/>
          <a:p>
            <a:r>
              <a:rPr lang="es-CO" sz="1100" dirty="0">
                <a:hlinkClick r:id="rId3"/>
              </a:rPr>
              <a:t>https://phdcomics.com/comics/archive.php?comicid=1431</a:t>
            </a:r>
            <a:r>
              <a:rPr lang="es-CO" sz="1100" dirty="0"/>
              <a:t> </a:t>
            </a:r>
          </a:p>
        </p:txBody>
      </p:sp>
      <p:pic>
        <p:nvPicPr>
          <p:cNvPr id="2050" name="Picture 2" descr="Ouch Images – Browse 81,244 Stock Photos, Vectors, and Video | Adobe Stock">
            <a:extLst>
              <a:ext uri="{FF2B5EF4-FFF2-40B4-BE49-F238E27FC236}">
                <a16:creationId xmlns:a16="http://schemas.microsoft.com/office/drawing/2014/main" id="{190AEE93-FCB4-45D0-A740-34697C5E778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7451" y="2496793"/>
            <a:ext cx="3563955" cy="24345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4962735"/>
      </p:ext>
    </p:extLst>
  </p:cSld>
  <p:clrMapOvr>
    <a:masterClrMapping/>
  </p:clrMapOvr>
</p:sld>
</file>

<file path=ppt/theme/theme1.xml><?xml version="1.0" encoding="utf-8"?>
<a:theme xmlns:a="http://schemas.openxmlformats.org/drawingml/2006/main" name="Office Theme">
  <a:themeElements>
    <a:clrScheme name="Tema de Offic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16405</TotalTime>
  <Words>8662</Words>
  <Application>Microsoft Office PowerPoint</Application>
  <PresentationFormat>Presentación en pantalla (4:3)</PresentationFormat>
  <Paragraphs>1227</Paragraphs>
  <Slides>60</Slides>
  <Notes>0</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60</vt:i4>
      </vt:variant>
    </vt:vector>
  </HeadingPairs>
  <TitlesOfParts>
    <vt:vector size="68" baseType="lpstr">
      <vt:lpstr>Arial</vt:lpstr>
      <vt:lpstr>Calibri</vt:lpstr>
      <vt:lpstr>Calibri Light</vt:lpstr>
      <vt:lpstr>Cambria Math</vt:lpstr>
      <vt:lpstr>Century Gothic</vt:lpstr>
      <vt:lpstr>Consolas</vt:lpstr>
      <vt:lpstr>Courier New</vt:lpstr>
      <vt:lpstr>Office Theme</vt:lpstr>
      <vt:lpstr>Lógica y Representación 1</vt:lpstr>
      <vt:lpstr>Método de Polya - Resumen</vt:lpstr>
      <vt:lpstr>Entrada, procesamiento y salida</vt:lpstr>
      <vt:lpstr>Introducción a las funciones</vt:lpstr>
      <vt:lpstr>Función</vt:lpstr>
      <vt:lpstr>Funciones en Python - Definición</vt:lpstr>
      <vt:lpstr>Funciones en Python - Invocación</vt:lpstr>
      <vt:lpstr>Probar una función</vt:lpstr>
      <vt:lpstr>Pruebas con assert</vt:lpstr>
      <vt:lpstr>Comparación</vt:lpstr>
      <vt:lpstr>Ejemplo – Conversión de temperatura</vt:lpstr>
      <vt:lpstr>Ejemplo – Conversión de temperatura</vt:lpstr>
      <vt:lpstr>Ejemplo – Conversión de temperatura</vt:lpstr>
      <vt:lpstr>Ejemplo – Conversión de temperatura</vt:lpstr>
      <vt:lpstr>Presentación de PowerPoint</vt:lpstr>
      <vt:lpstr>Buenas prácticas</vt:lpstr>
      <vt:lpstr>¿Cómo ejecutar un programa?</vt:lpstr>
      <vt:lpstr>Ejecutar no es lo mismo que probar</vt:lpstr>
      <vt:lpstr>Especificación de una función</vt:lpstr>
      <vt:lpstr>Especificación de una función</vt:lpstr>
      <vt:lpstr>Ámbito de las variables</vt:lpstr>
      <vt:lpstr>Ámbito de las variables</vt:lpstr>
      <vt:lpstr>Variables globales: ¿Sí o No?</vt:lpstr>
      <vt:lpstr>Errores típicos de ámbito</vt:lpstr>
      <vt:lpstr>Formas de pasar argumentos</vt:lpstr>
      <vt:lpstr>Parámetros con valor por defecto</vt:lpstr>
      <vt:lpstr>Una función que llama a otra</vt:lpstr>
      <vt:lpstr>Resolución de problemas complejos</vt:lpstr>
      <vt:lpstr>El primer nivel: entrada, proceso y salida</vt:lpstr>
      <vt:lpstr>¿Hasta dónde dividir?</vt:lpstr>
      <vt:lpstr>¿Hasta dónde dividir?</vt:lpstr>
      <vt:lpstr>¿Cómo se construye? Top-down y bottom-up</vt:lpstr>
      <vt:lpstr>Top-down: Del planteamiento al código</vt:lpstr>
      <vt:lpstr>Construir de arriba hacia abajo: Los pasos</vt:lpstr>
      <vt:lpstr>Paso 1: esqueleto con stubs</vt:lpstr>
      <vt:lpstr>Paso 2: implementar y probar una función</vt:lpstr>
      <vt:lpstr>Parentesis: ¿Qué pasa si se prueba un stub?</vt:lpstr>
      <vt:lpstr>Paso 3: El programa terminado</vt:lpstr>
      <vt:lpstr>Funciones integradas</vt:lpstr>
      <vt:lpstr>Librerías: funciones que se deben importar</vt:lpstr>
      <vt:lpstr>Modulo math</vt:lpstr>
      <vt:lpstr>Función propia frente a función de librería</vt:lpstr>
      <vt:lpstr>Formas de importar</vt:lpstr>
      <vt:lpstr>¿Cómo consultar una librería?</vt:lpstr>
      <vt:lpstr>¿Cómo consultar una librería?</vt:lpstr>
      <vt:lpstr>Ejercicio de repaso: adivina el número</vt:lpstr>
      <vt:lpstr>Dividir un programa en varios archivos</vt:lpstr>
      <vt:lpstr>¿Qué ocurre al importar un módulo?</vt:lpstr>
      <vt:lpstr>¿Cómo sabe un archivo si fue ejecutado o importado?</vt:lpstr>
      <vt:lpstr>Opción 1: proteger las pruebas con la guarda</vt:lpstr>
      <vt:lpstr>Opción 2: un archivo de pruebas aparte</vt:lpstr>
      <vt:lpstr>¿Dónde se ubican las pruebas? Comparación</vt:lpstr>
      <vt:lpstr>def main() y la guarda en el programa principal</vt:lpstr>
      <vt:lpstr> Errores frecuentes al trabajar con varios archivos</vt:lpstr>
      <vt:lpstr>Resumen de la clase</vt:lpstr>
      <vt:lpstr>Un problema que todavía no se puede resolver bien</vt:lpstr>
      <vt:lpstr>Próxima clase: arreglos (listas en Python)</vt:lpstr>
      <vt:lpstr>Referencias</vt:lpstr>
      <vt:lpstr>Referencias</vt:lpstr>
      <vt:lpstr>Eso es todo amigos</vt:lpstr>
    </vt:vector>
  </TitlesOfParts>
  <Company>Universidad de Antioquia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del curso</dc:title>
  <dc:creator>Apoyo Administrativo Ingeniería</dc:creator>
  <cp:lastModifiedBy>HENRY ALBERTO ARCILA RAMIREZ</cp:lastModifiedBy>
  <cp:revision>291</cp:revision>
  <dcterms:created xsi:type="dcterms:W3CDTF">2015-03-12T20:27:20Z</dcterms:created>
  <dcterms:modified xsi:type="dcterms:W3CDTF">2026-10-13T00:53:47Z</dcterms:modified>
</cp:coreProperties>
</file>