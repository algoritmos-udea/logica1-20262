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9" r:id="rId1"/>
  </p:sldMasterIdLst>
  <p:notesMasterIdLst>
    <p:notesMasterId r:id="rId19"/>
  </p:notesMasterIdLst>
  <p:sldIdLst>
    <p:sldId id="281" r:id="rId2"/>
    <p:sldId id="309" r:id="rId3"/>
    <p:sldId id="368" r:id="rId4"/>
    <p:sldId id="594" r:id="rId5"/>
    <p:sldId id="536" r:id="rId6"/>
    <p:sldId id="595" r:id="rId7"/>
    <p:sldId id="603" r:id="rId8"/>
    <p:sldId id="604" r:id="rId9"/>
    <p:sldId id="606" r:id="rId10"/>
    <p:sldId id="587" r:id="rId11"/>
    <p:sldId id="580" r:id="rId12"/>
    <p:sldId id="607" r:id="rId13"/>
    <p:sldId id="608" r:id="rId14"/>
    <p:sldId id="609" r:id="rId15"/>
    <p:sldId id="588" r:id="rId16"/>
    <p:sldId id="310" r:id="rId17"/>
    <p:sldId id="27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79" autoAdjust="0"/>
    <p:restoredTop sz="94291" autoAdjust="0"/>
  </p:normalViewPr>
  <p:slideViewPr>
    <p:cSldViewPr>
      <p:cViewPr varScale="1">
        <p:scale>
          <a:sx n="69" d="100"/>
          <a:sy n="69" d="100"/>
        </p:scale>
        <p:origin x="1368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4617D2-EBA5-43D3-A846-ABD7019008A4}" type="doc">
      <dgm:prSet loTypeId="urn:microsoft.com/office/officeart/2005/8/layout/chevron2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0F6E169A-367E-48F6-8A0F-9538EF72E803}">
      <dgm:prSet phldrT="[Texto]" custT="1"/>
      <dgm:spPr/>
      <dgm:t>
        <a:bodyPr/>
        <a:lstStyle/>
        <a:p>
          <a:r>
            <a:rPr lang="es-CO" sz="1600" dirty="0">
              <a:latin typeface="Century Gothic" panose="020B0502020202020204" pitchFamily="34" charset="0"/>
            </a:rPr>
            <a:t>1</a:t>
          </a:r>
          <a:endParaRPr lang="es-CO" sz="1200" dirty="0">
            <a:latin typeface="Century Gothic" panose="020B0502020202020204" pitchFamily="34" charset="0"/>
          </a:endParaRPr>
        </a:p>
      </dgm:t>
    </dgm:pt>
    <dgm:pt modelId="{214810CF-0E9F-420E-9F44-94CA29248781}" type="parTrans" cxnId="{1D7BCF56-E33F-4A42-8129-E524DE8CA73C}">
      <dgm:prSet/>
      <dgm:spPr/>
      <dgm:t>
        <a:bodyPr/>
        <a:lstStyle/>
        <a:p>
          <a:endParaRPr lang="es-CO" sz="1600"/>
        </a:p>
      </dgm:t>
    </dgm:pt>
    <dgm:pt modelId="{9E3845BF-94AB-444E-AB21-A0DA1B4B1270}" type="sibTrans" cxnId="{1D7BCF56-E33F-4A42-8129-E524DE8CA73C}">
      <dgm:prSet/>
      <dgm:spPr/>
      <dgm:t>
        <a:bodyPr/>
        <a:lstStyle/>
        <a:p>
          <a:endParaRPr lang="es-CO" sz="1600"/>
        </a:p>
      </dgm:t>
    </dgm:pt>
    <dgm:pt modelId="{676AA4D5-22F4-47B3-B0E8-95C3D9C99480}">
      <dgm:prSet phldrT="[Texto]" custT="1"/>
      <dgm:spPr/>
      <dgm:t>
        <a:bodyPr/>
        <a:lstStyle/>
        <a:p>
          <a:pPr>
            <a:buNone/>
          </a:pPr>
          <a:r>
            <a:rPr lang="es-CO" sz="2000" dirty="0">
              <a:latin typeface="Century Gothic" panose="020B0502020202020204" pitchFamily="34" charset="0"/>
            </a:rPr>
            <a:t>Entender el problema</a:t>
          </a:r>
        </a:p>
      </dgm:t>
    </dgm:pt>
    <dgm:pt modelId="{65AE6963-95E3-417E-9DBC-C327427667A9}" type="parTrans" cxnId="{E402CAF0-5AAA-416F-BAF4-3854EF253EE5}">
      <dgm:prSet/>
      <dgm:spPr/>
      <dgm:t>
        <a:bodyPr/>
        <a:lstStyle/>
        <a:p>
          <a:endParaRPr lang="es-CO" sz="1600"/>
        </a:p>
      </dgm:t>
    </dgm:pt>
    <dgm:pt modelId="{BBDCCB86-71C3-422E-959C-8FA92A9124DF}" type="sibTrans" cxnId="{E402CAF0-5AAA-416F-BAF4-3854EF253EE5}">
      <dgm:prSet/>
      <dgm:spPr/>
      <dgm:t>
        <a:bodyPr/>
        <a:lstStyle/>
        <a:p>
          <a:endParaRPr lang="es-CO" sz="1600"/>
        </a:p>
      </dgm:t>
    </dgm:pt>
    <dgm:pt modelId="{9C3C57BE-AD01-47F6-9592-98EF2608A6EF}">
      <dgm:prSet phldrT="[Texto]" custT="1"/>
      <dgm:spPr/>
      <dgm:t>
        <a:bodyPr/>
        <a:lstStyle/>
        <a:p>
          <a:r>
            <a:rPr lang="es-CO" sz="1800" dirty="0">
              <a:latin typeface="Century Gothic" panose="020B0502020202020204" pitchFamily="34" charset="0"/>
            </a:rPr>
            <a:t>2</a:t>
          </a:r>
          <a:endParaRPr lang="es-CO" sz="2400" dirty="0">
            <a:latin typeface="Century Gothic" panose="020B0502020202020204" pitchFamily="34" charset="0"/>
          </a:endParaRPr>
        </a:p>
      </dgm:t>
    </dgm:pt>
    <dgm:pt modelId="{33D25418-EA10-4491-90C6-5683712BE055}" type="parTrans" cxnId="{FBB864E0-2027-4A45-B5D7-110F765EFD96}">
      <dgm:prSet/>
      <dgm:spPr/>
      <dgm:t>
        <a:bodyPr/>
        <a:lstStyle/>
        <a:p>
          <a:endParaRPr lang="es-CO" sz="1600"/>
        </a:p>
      </dgm:t>
    </dgm:pt>
    <dgm:pt modelId="{0019765E-5748-4647-85C8-6E8054C68086}" type="sibTrans" cxnId="{FBB864E0-2027-4A45-B5D7-110F765EFD96}">
      <dgm:prSet/>
      <dgm:spPr/>
      <dgm:t>
        <a:bodyPr/>
        <a:lstStyle/>
        <a:p>
          <a:endParaRPr lang="es-CO" sz="1600"/>
        </a:p>
      </dgm:t>
    </dgm:pt>
    <dgm:pt modelId="{C59A2A35-6BBC-4F81-BD74-40520AACD6AB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gm:t>
    </dgm:pt>
    <dgm:pt modelId="{EDE363E4-7EA3-41D2-8DB9-A0871D9DA325}" type="parTrans" cxnId="{3B1F784D-95DD-4194-A52D-9A5B55BC5BD7}">
      <dgm:prSet/>
      <dgm:spPr/>
      <dgm:t>
        <a:bodyPr/>
        <a:lstStyle/>
        <a:p>
          <a:endParaRPr lang="es-CO" sz="1600"/>
        </a:p>
      </dgm:t>
    </dgm:pt>
    <dgm:pt modelId="{C31DDF04-103F-4600-9F78-0BDCC0BF907B}" type="sibTrans" cxnId="{3B1F784D-95DD-4194-A52D-9A5B55BC5BD7}">
      <dgm:prSet/>
      <dgm:spPr/>
      <dgm:t>
        <a:bodyPr/>
        <a:lstStyle/>
        <a:p>
          <a:endParaRPr lang="es-CO" sz="1600"/>
        </a:p>
      </dgm:t>
    </dgm:pt>
    <dgm:pt modelId="{9AB424BA-7E8B-4D0B-8A3C-3748A54646B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3</a:t>
          </a:r>
        </a:p>
      </dgm:t>
    </dgm:pt>
    <dgm:pt modelId="{E543BFA9-86DB-499C-8E83-B32D00A97FD8}" type="parTrans" cxnId="{9DB9632F-E2AC-48EE-840F-D6A88C411EEA}">
      <dgm:prSet/>
      <dgm:spPr/>
      <dgm:t>
        <a:bodyPr/>
        <a:lstStyle/>
        <a:p>
          <a:endParaRPr lang="es-CO" sz="1600"/>
        </a:p>
      </dgm:t>
    </dgm:pt>
    <dgm:pt modelId="{DDCD6E76-3560-4CAA-96A8-94ACFF130E9B}" type="sibTrans" cxnId="{9DB9632F-E2AC-48EE-840F-D6A88C411EEA}">
      <dgm:prSet/>
      <dgm:spPr/>
      <dgm:t>
        <a:bodyPr/>
        <a:lstStyle/>
        <a:p>
          <a:endParaRPr lang="es-CO" sz="1600"/>
        </a:p>
      </dgm:t>
    </dgm:pt>
    <dgm:pt modelId="{BEC04423-D6B7-4792-AEB9-C3D7F81A98AC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gm:t>
    </dgm:pt>
    <dgm:pt modelId="{F135D138-85FF-4087-B751-5F159F842289}" type="parTrans" cxnId="{5B0A26F8-5ACB-43D3-A171-6C62CAD4E7BE}">
      <dgm:prSet/>
      <dgm:spPr/>
      <dgm:t>
        <a:bodyPr/>
        <a:lstStyle/>
        <a:p>
          <a:endParaRPr lang="es-CO" sz="1600"/>
        </a:p>
      </dgm:t>
    </dgm:pt>
    <dgm:pt modelId="{AB02689B-5109-4C4C-A9DD-EF332B395FC7}" type="sibTrans" cxnId="{5B0A26F8-5ACB-43D3-A171-6C62CAD4E7BE}">
      <dgm:prSet/>
      <dgm:spPr/>
      <dgm:t>
        <a:bodyPr/>
        <a:lstStyle/>
        <a:p>
          <a:endParaRPr lang="es-CO" sz="1600"/>
        </a:p>
      </dgm:t>
    </dgm:pt>
    <dgm:pt modelId="{6F3FB39C-3E1D-4D2D-849B-EA0299C466C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4</a:t>
          </a:r>
        </a:p>
      </dgm:t>
    </dgm:pt>
    <dgm:pt modelId="{F344B892-AD67-4863-B1DB-FFEAC6AE3C6A}" type="parTrans" cxnId="{F85ACEEE-F8C0-443C-BAAF-021763D37073}">
      <dgm:prSet/>
      <dgm:spPr/>
      <dgm:t>
        <a:bodyPr/>
        <a:lstStyle/>
        <a:p>
          <a:endParaRPr lang="es-CO" sz="1600"/>
        </a:p>
      </dgm:t>
    </dgm:pt>
    <dgm:pt modelId="{2E86F725-3FD8-4480-8AF6-6A89E142D77A}" type="sibTrans" cxnId="{F85ACEEE-F8C0-443C-BAAF-021763D37073}">
      <dgm:prSet/>
      <dgm:spPr/>
      <dgm:t>
        <a:bodyPr/>
        <a:lstStyle/>
        <a:p>
          <a:endParaRPr lang="es-CO" sz="1600"/>
        </a:p>
      </dgm:t>
    </dgm:pt>
    <dgm:pt modelId="{DCCFDBD5-3BD5-4368-8E74-2BE430318114}">
      <dgm:prSet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gm:t>
    </dgm:pt>
    <dgm:pt modelId="{E9C3A1B1-6767-4D4A-B32D-4EDACFE1C0F4}" type="parTrans" cxnId="{95C514DE-3460-4712-B0CD-D954FE76DB64}">
      <dgm:prSet/>
      <dgm:spPr/>
      <dgm:t>
        <a:bodyPr/>
        <a:lstStyle/>
        <a:p>
          <a:endParaRPr lang="es-CO" sz="1600"/>
        </a:p>
      </dgm:t>
    </dgm:pt>
    <dgm:pt modelId="{159A55EA-C5B7-4F9E-8222-A763BEB4D99B}" type="sibTrans" cxnId="{95C514DE-3460-4712-B0CD-D954FE76DB64}">
      <dgm:prSet/>
      <dgm:spPr/>
      <dgm:t>
        <a:bodyPr/>
        <a:lstStyle/>
        <a:p>
          <a:endParaRPr lang="es-CO" sz="1600"/>
        </a:p>
      </dgm:t>
    </dgm:pt>
    <dgm:pt modelId="{C30EB98C-BF8E-47B5-A59F-A3E708D5551C}" type="pres">
      <dgm:prSet presAssocID="{234617D2-EBA5-43D3-A846-ABD7019008A4}" presName="linearFlow" presStyleCnt="0">
        <dgm:presLayoutVars>
          <dgm:dir/>
          <dgm:animLvl val="lvl"/>
          <dgm:resizeHandles val="exact"/>
        </dgm:presLayoutVars>
      </dgm:prSet>
      <dgm:spPr/>
    </dgm:pt>
    <dgm:pt modelId="{B5976899-2FC4-4A3E-891A-B74C8C23C8B5}" type="pres">
      <dgm:prSet presAssocID="{0F6E169A-367E-48F6-8A0F-9538EF72E803}" presName="composite" presStyleCnt="0"/>
      <dgm:spPr/>
    </dgm:pt>
    <dgm:pt modelId="{416A876F-5FA3-42F9-A923-4E2C334EF9BC}" type="pres">
      <dgm:prSet presAssocID="{0F6E169A-367E-48F6-8A0F-9538EF72E803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344A86B1-48E8-448F-9C6D-71580BFB5F83}" type="pres">
      <dgm:prSet presAssocID="{0F6E169A-367E-48F6-8A0F-9538EF72E803}" presName="descendantText" presStyleLbl="alignAcc1" presStyleIdx="0" presStyleCnt="4">
        <dgm:presLayoutVars>
          <dgm:bulletEnabled val="1"/>
        </dgm:presLayoutVars>
      </dgm:prSet>
      <dgm:spPr/>
    </dgm:pt>
    <dgm:pt modelId="{19B3EDEB-1CF9-4423-9037-F0221A01EBBA}" type="pres">
      <dgm:prSet presAssocID="{9E3845BF-94AB-444E-AB21-A0DA1B4B1270}" presName="sp" presStyleCnt="0"/>
      <dgm:spPr/>
    </dgm:pt>
    <dgm:pt modelId="{5D167E8C-136F-440C-8D10-651E4D964A72}" type="pres">
      <dgm:prSet presAssocID="{9C3C57BE-AD01-47F6-9592-98EF2608A6EF}" presName="composite" presStyleCnt="0"/>
      <dgm:spPr/>
    </dgm:pt>
    <dgm:pt modelId="{A651636C-CE47-4575-AA1E-AB00D80E941D}" type="pres">
      <dgm:prSet presAssocID="{9C3C57BE-AD01-47F6-9592-98EF2608A6EF}" presName="parentText" presStyleLbl="alignNode1" presStyleIdx="1" presStyleCnt="4" custLinFactNeighborY="0">
        <dgm:presLayoutVars>
          <dgm:chMax val="1"/>
          <dgm:bulletEnabled val="1"/>
        </dgm:presLayoutVars>
      </dgm:prSet>
      <dgm:spPr/>
    </dgm:pt>
    <dgm:pt modelId="{79B0DE70-0A03-4A6F-B31F-EC81EB5DF7EA}" type="pres">
      <dgm:prSet presAssocID="{9C3C57BE-AD01-47F6-9592-98EF2608A6EF}" presName="descendantText" presStyleLbl="alignAcc1" presStyleIdx="1" presStyleCnt="4">
        <dgm:presLayoutVars>
          <dgm:bulletEnabled val="1"/>
        </dgm:presLayoutVars>
      </dgm:prSet>
      <dgm:spPr/>
    </dgm:pt>
    <dgm:pt modelId="{5C2D5B77-4FD3-4BFC-B7C7-B69CFA47B819}" type="pres">
      <dgm:prSet presAssocID="{0019765E-5748-4647-85C8-6E8054C68086}" presName="sp" presStyleCnt="0"/>
      <dgm:spPr/>
    </dgm:pt>
    <dgm:pt modelId="{FD9C2F86-B450-49A0-8639-065AE676C080}" type="pres">
      <dgm:prSet presAssocID="{9AB424BA-7E8B-4D0B-8A3C-3748A54646B8}" presName="composite" presStyleCnt="0"/>
      <dgm:spPr/>
    </dgm:pt>
    <dgm:pt modelId="{2AA7B02C-023E-4537-897E-B54A048C8983}" type="pres">
      <dgm:prSet presAssocID="{9AB424BA-7E8B-4D0B-8A3C-3748A54646B8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15D3D31F-A831-4E62-ADE9-6ACE81331CDC}" type="pres">
      <dgm:prSet presAssocID="{9AB424BA-7E8B-4D0B-8A3C-3748A54646B8}" presName="descendantText" presStyleLbl="alignAcc1" presStyleIdx="2" presStyleCnt="4">
        <dgm:presLayoutVars>
          <dgm:bulletEnabled val="1"/>
        </dgm:presLayoutVars>
      </dgm:prSet>
      <dgm:spPr/>
    </dgm:pt>
    <dgm:pt modelId="{365F76A6-EF4F-41D1-B81D-BC3D7851A081}" type="pres">
      <dgm:prSet presAssocID="{DDCD6E76-3560-4CAA-96A8-94ACFF130E9B}" presName="sp" presStyleCnt="0"/>
      <dgm:spPr/>
    </dgm:pt>
    <dgm:pt modelId="{4DB00594-09F9-4225-B772-B1D52DAEEAB6}" type="pres">
      <dgm:prSet presAssocID="{6F3FB39C-3E1D-4D2D-849B-EA0299C466C8}" presName="composite" presStyleCnt="0"/>
      <dgm:spPr/>
    </dgm:pt>
    <dgm:pt modelId="{58E45CBE-DE64-4E4E-8AAA-D376465B2BEE}" type="pres">
      <dgm:prSet presAssocID="{6F3FB39C-3E1D-4D2D-849B-EA0299C466C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37D6712-7A35-4663-80F7-1B8FC410AF19}" type="pres">
      <dgm:prSet presAssocID="{6F3FB39C-3E1D-4D2D-849B-EA0299C466C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25A530A-E341-4BA7-8999-21A374D537D3}" type="presOf" srcId="{BEC04423-D6B7-4792-AEB9-C3D7F81A98AC}" destId="{15D3D31F-A831-4E62-ADE9-6ACE81331CDC}" srcOrd="0" destOrd="0" presId="urn:microsoft.com/office/officeart/2005/8/layout/chevron2"/>
    <dgm:cxn modelId="{0F63B510-A033-48E8-A5FD-87C76FF5A9D6}" type="presOf" srcId="{0F6E169A-367E-48F6-8A0F-9538EF72E803}" destId="{416A876F-5FA3-42F9-A923-4E2C334EF9BC}" srcOrd="0" destOrd="0" presId="urn:microsoft.com/office/officeart/2005/8/layout/chevron2"/>
    <dgm:cxn modelId="{09EB6217-24CA-4B61-90D2-9CF7E646FA43}" type="presOf" srcId="{234617D2-EBA5-43D3-A846-ABD7019008A4}" destId="{C30EB98C-BF8E-47B5-A59F-A3E708D5551C}" srcOrd="0" destOrd="0" presId="urn:microsoft.com/office/officeart/2005/8/layout/chevron2"/>
    <dgm:cxn modelId="{9DB9632F-E2AC-48EE-840F-D6A88C411EEA}" srcId="{234617D2-EBA5-43D3-A846-ABD7019008A4}" destId="{9AB424BA-7E8B-4D0B-8A3C-3748A54646B8}" srcOrd="2" destOrd="0" parTransId="{E543BFA9-86DB-499C-8E83-B32D00A97FD8}" sibTransId="{DDCD6E76-3560-4CAA-96A8-94ACFF130E9B}"/>
    <dgm:cxn modelId="{5C56243F-7D54-4FD5-BD45-EEAB6E9334A6}" type="presOf" srcId="{676AA4D5-22F4-47B3-B0E8-95C3D9C99480}" destId="{344A86B1-48E8-448F-9C6D-71580BFB5F83}" srcOrd="0" destOrd="0" presId="urn:microsoft.com/office/officeart/2005/8/layout/chevron2"/>
    <dgm:cxn modelId="{3EF6886C-4FCF-4899-8F48-98F458A380A4}" type="presOf" srcId="{DCCFDBD5-3BD5-4368-8E74-2BE430318114}" destId="{C37D6712-7A35-4663-80F7-1B8FC410AF19}" srcOrd="0" destOrd="0" presId="urn:microsoft.com/office/officeart/2005/8/layout/chevron2"/>
    <dgm:cxn modelId="{3B1F784D-95DD-4194-A52D-9A5B55BC5BD7}" srcId="{9C3C57BE-AD01-47F6-9592-98EF2608A6EF}" destId="{C59A2A35-6BBC-4F81-BD74-40520AACD6AB}" srcOrd="0" destOrd="0" parTransId="{EDE363E4-7EA3-41D2-8DB9-A0871D9DA325}" sibTransId="{C31DDF04-103F-4600-9F78-0BDCC0BF907B}"/>
    <dgm:cxn modelId="{1D7BCF56-E33F-4A42-8129-E524DE8CA73C}" srcId="{234617D2-EBA5-43D3-A846-ABD7019008A4}" destId="{0F6E169A-367E-48F6-8A0F-9538EF72E803}" srcOrd="0" destOrd="0" parTransId="{214810CF-0E9F-420E-9F44-94CA29248781}" sibTransId="{9E3845BF-94AB-444E-AB21-A0DA1B4B1270}"/>
    <dgm:cxn modelId="{E8354084-D26E-4270-954C-74C7F6A06793}" type="presOf" srcId="{C59A2A35-6BBC-4F81-BD74-40520AACD6AB}" destId="{79B0DE70-0A03-4A6F-B31F-EC81EB5DF7EA}" srcOrd="0" destOrd="0" presId="urn:microsoft.com/office/officeart/2005/8/layout/chevron2"/>
    <dgm:cxn modelId="{BF2B6EA9-3F5A-49C1-AF7E-EC921192B9DE}" type="presOf" srcId="{9C3C57BE-AD01-47F6-9592-98EF2608A6EF}" destId="{A651636C-CE47-4575-AA1E-AB00D80E941D}" srcOrd="0" destOrd="0" presId="urn:microsoft.com/office/officeart/2005/8/layout/chevron2"/>
    <dgm:cxn modelId="{95C514DE-3460-4712-B0CD-D954FE76DB64}" srcId="{6F3FB39C-3E1D-4D2D-849B-EA0299C466C8}" destId="{DCCFDBD5-3BD5-4368-8E74-2BE430318114}" srcOrd="0" destOrd="0" parTransId="{E9C3A1B1-6767-4D4A-B32D-4EDACFE1C0F4}" sibTransId="{159A55EA-C5B7-4F9E-8222-A763BEB4D99B}"/>
    <dgm:cxn modelId="{FBB864E0-2027-4A45-B5D7-110F765EFD96}" srcId="{234617D2-EBA5-43D3-A846-ABD7019008A4}" destId="{9C3C57BE-AD01-47F6-9592-98EF2608A6EF}" srcOrd="1" destOrd="0" parTransId="{33D25418-EA10-4491-90C6-5683712BE055}" sibTransId="{0019765E-5748-4647-85C8-6E8054C68086}"/>
    <dgm:cxn modelId="{448B48EB-E488-4909-82B4-2E61877F00AE}" type="presOf" srcId="{6F3FB39C-3E1D-4D2D-849B-EA0299C466C8}" destId="{58E45CBE-DE64-4E4E-8AAA-D376465B2BEE}" srcOrd="0" destOrd="0" presId="urn:microsoft.com/office/officeart/2005/8/layout/chevron2"/>
    <dgm:cxn modelId="{E644B3EB-418D-4B1A-83D6-8DCC10BE06E8}" type="presOf" srcId="{9AB424BA-7E8B-4D0B-8A3C-3748A54646B8}" destId="{2AA7B02C-023E-4537-897E-B54A048C8983}" srcOrd="0" destOrd="0" presId="urn:microsoft.com/office/officeart/2005/8/layout/chevron2"/>
    <dgm:cxn modelId="{F85ACEEE-F8C0-443C-BAAF-021763D37073}" srcId="{234617D2-EBA5-43D3-A846-ABD7019008A4}" destId="{6F3FB39C-3E1D-4D2D-849B-EA0299C466C8}" srcOrd="3" destOrd="0" parTransId="{F344B892-AD67-4863-B1DB-FFEAC6AE3C6A}" sibTransId="{2E86F725-3FD8-4480-8AF6-6A89E142D77A}"/>
    <dgm:cxn modelId="{E402CAF0-5AAA-416F-BAF4-3854EF253EE5}" srcId="{0F6E169A-367E-48F6-8A0F-9538EF72E803}" destId="{676AA4D5-22F4-47B3-B0E8-95C3D9C99480}" srcOrd="0" destOrd="0" parTransId="{65AE6963-95E3-417E-9DBC-C327427667A9}" sibTransId="{BBDCCB86-71C3-422E-959C-8FA92A9124DF}"/>
    <dgm:cxn modelId="{5B0A26F8-5ACB-43D3-A171-6C62CAD4E7BE}" srcId="{9AB424BA-7E8B-4D0B-8A3C-3748A54646B8}" destId="{BEC04423-D6B7-4792-AEB9-C3D7F81A98AC}" srcOrd="0" destOrd="0" parTransId="{F135D138-85FF-4087-B751-5F159F842289}" sibTransId="{AB02689B-5109-4C4C-A9DD-EF332B395FC7}"/>
    <dgm:cxn modelId="{AC4A8FF1-0B42-4570-ACB4-F62AD10AC7E7}" type="presParOf" srcId="{C30EB98C-BF8E-47B5-A59F-A3E708D5551C}" destId="{B5976899-2FC4-4A3E-891A-B74C8C23C8B5}" srcOrd="0" destOrd="0" presId="urn:microsoft.com/office/officeart/2005/8/layout/chevron2"/>
    <dgm:cxn modelId="{78437963-1AD6-4AA2-99FF-D3C136E6C1B9}" type="presParOf" srcId="{B5976899-2FC4-4A3E-891A-B74C8C23C8B5}" destId="{416A876F-5FA3-42F9-A923-4E2C334EF9BC}" srcOrd="0" destOrd="0" presId="urn:microsoft.com/office/officeart/2005/8/layout/chevron2"/>
    <dgm:cxn modelId="{E5BB8A76-3CEA-42DE-8EE6-7959F74B0BB9}" type="presParOf" srcId="{B5976899-2FC4-4A3E-891A-B74C8C23C8B5}" destId="{344A86B1-48E8-448F-9C6D-71580BFB5F83}" srcOrd="1" destOrd="0" presId="urn:microsoft.com/office/officeart/2005/8/layout/chevron2"/>
    <dgm:cxn modelId="{1409A561-56BE-41EC-823E-CEEC12A8CF50}" type="presParOf" srcId="{C30EB98C-BF8E-47B5-A59F-A3E708D5551C}" destId="{19B3EDEB-1CF9-4423-9037-F0221A01EBBA}" srcOrd="1" destOrd="0" presId="urn:microsoft.com/office/officeart/2005/8/layout/chevron2"/>
    <dgm:cxn modelId="{69FAE29B-8826-413D-A90D-E3D1914BB7C5}" type="presParOf" srcId="{C30EB98C-BF8E-47B5-A59F-A3E708D5551C}" destId="{5D167E8C-136F-440C-8D10-651E4D964A72}" srcOrd="2" destOrd="0" presId="urn:microsoft.com/office/officeart/2005/8/layout/chevron2"/>
    <dgm:cxn modelId="{26C5ECD3-BE74-4234-955C-82B823BF9F9B}" type="presParOf" srcId="{5D167E8C-136F-440C-8D10-651E4D964A72}" destId="{A651636C-CE47-4575-AA1E-AB00D80E941D}" srcOrd="0" destOrd="0" presId="urn:microsoft.com/office/officeart/2005/8/layout/chevron2"/>
    <dgm:cxn modelId="{BFF53C8A-F466-46C1-9066-7E1EB74CF072}" type="presParOf" srcId="{5D167E8C-136F-440C-8D10-651E4D964A72}" destId="{79B0DE70-0A03-4A6F-B31F-EC81EB5DF7EA}" srcOrd="1" destOrd="0" presId="urn:microsoft.com/office/officeart/2005/8/layout/chevron2"/>
    <dgm:cxn modelId="{530A7BC0-79AB-4546-A568-2187FF19F65D}" type="presParOf" srcId="{C30EB98C-BF8E-47B5-A59F-A3E708D5551C}" destId="{5C2D5B77-4FD3-4BFC-B7C7-B69CFA47B819}" srcOrd="3" destOrd="0" presId="urn:microsoft.com/office/officeart/2005/8/layout/chevron2"/>
    <dgm:cxn modelId="{BE3F6BE8-AEFA-4235-B54E-61907BC9372B}" type="presParOf" srcId="{C30EB98C-BF8E-47B5-A59F-A3E708D5551C}" destId="{FD9C2F86-B450-49A0-8639-065AE676C080}" srcOrd="4" destOrd="0" presId="urn:microsoft.com/office/officeart/2005/8/layout/chevron2"/>
    <dgm:cxn modelId="{2E20AF7C-4B60-47FB-B029-F81F1CE8FCB7}" type="presParOf" srcId="{FD9C2F86-B450-49A0-8639-065AE676C080}" destId="{2AA7B02C-023E-4537-897E-B54A048C8983}" srcOrd="0" destOrd="0" presId="urn:microsoft.com/office/officeart/2005/8/layout/chevron2"/>
    <dgm:cxn modelId="{0573D7AB-2C25-487B-B0E2-947295CA4BF1}" type="presParOf" srcId="{FD9C2F86-B450-49A0-8639-065AE676C080}" destId="{15D3D31F-A831-4E62-ADE9-6ACE81331CDC}" srcOrd="1" destOrd="0" presId="urn:microsoft.com/office/officeart/2005/8/layout/chevron2"/>
    <dgm:cxn modelId="{49FE4450-ED31-4DD4-95F8-F34D880718F4}" type="presParOf" srcId="{C30EB98C-BF8E-47B5-A59F-A3E708D5551C}" destId="{365F76A6-EF4F-41D1-B81D-BC3D7851A081}" srcOrd="5" destOrd="0" presId="urn:microsoft.com/office/officeart/2005/8/layout/chevron2"/>
    <dgm:cxn modelId="{D297B7B3-984B-4BEF-88CF-E8496B62D532}" type="presParOf" srcId="{C30EB98C-BF8E-47B5-A59F-A3E708D5551C}" destId="{4DB00594-09F9-4225-B772-B1D52DAEEAB6}" srcOrd="6" destOrd="0" presId="urn:microsoft.com/office/officeart/2005/8/layout/chevron2"/>
    <dgm:cxn modelId="{58E3F0DF-7BFD-4BEB-873F-CA02319F1E26}" type="presParOf" srcId="{4DB00594-09F9-4225-B772-B1D52DAEEAB6}" destId="{58E45CBE-DE64-4E4E-8AAA-D376465B2BEE}" srcOrd="0" destOrd="0" presId="urn:microsoft.com/office/officeart/2005/8/layout/chevron2"/>
    <dgm:cxn modelId="{C405AC97-4C54-4757-8651-AB11924A4B6F}" type="presParOf" srcId="{4DB00594-09F9-4225-B772-B1D52DAEEAB6}" destId="{C37D6712-7A35-4663-80F7-1B8FC410AF1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6A876F-5FA3-42F9-A923-4E2C334EF9BC}">
      <dsp:nvSpPr>
        <dsp:cNvPr id="0" name=""/>
        <dsp:cNvSpPr/>
      </dsp:nvSpPr>
      <dsp:spPr>
        <a:xfrm rot="5400000">
          <a:off x="-106543" y="109307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latin typeface="Century Gothic" panose="020B0502020202020204" pitchFamily="34" charset="0"/>
            </a:rPr>
            <a:t>1</a:t>
          </a:r>
          <a:endParaRPr lang="es-CO" sz="1200" kern="1200" dirty="0">
            <a:latin typeface="Century Gothic" panose="020B0502020202020204" pitchFamily="34" charset="0"/>
          </a:endParaRPr>
        </a:p>
      </dsp:txBody>
      <dsp:txXfrm rot="-5400000">
        <a:off x="0" y="251365"/>
        <a:ext cx="497202" cy="213086"/>
      </dsp:txXfrm>
    </dsp:sp>
    <dsp:sp modelId="{344A86B1-48E8-448F-9C6D-71580BFB5F83}">
      <dsp:nvSpPr>
        <dsp:cNvPr id="0" name=""/>
        <dsp:cNvSpPr/>
      </dsp:nvSpPr>
      <dsp:spPr>
        <a:xfrm rot="5400000">
          <a:off x="2825947" y="-2325981"/>
          <a:ext cx="461930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Entender el problema</a:t>
          </a:r>
        </a:p>
      </dsp:txBody>
      <dsp:txXfrm rot="-5400000">
        <a:off x="497202" y="25314"/>
        <a:ext cx="5096871" cy="416830"/>
      </dsp:txXfrm>
    </dsp:sp>
    <dsp:sp modelId="{A651636C-CE47-4575-AA1E-AB00D80E941D}">
      <dsp:nvSpPr>
        <dsp:cNvPr id="0" name=""/>
        <dsp:cNvSpPr/>
      </dsp:nvSpPr>
      <dsp:spPr>
        <a:xfrm rot="5400000">
          <a:off x="-106543" y="658631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252426"/>
                <a:satOff val="3301"/>
                <a:lumOff val="-405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2426"/>
                <a:satOff val="3301"/>
                <a:lumOff val="-405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2426"/>
                <a:satOff val="3301"/>
                <a:lumOff val="-405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800" kern="1200" dirty="0">
              <a:latin typeface="Century Gothic" panose="020B0502020202020204" pitchFamily="34" charset="0"/>
            </a:rPr>
            <a:t>2</a:t>
          </a:r>
          <a:endParaRPr lang="es-CO" sz="2400" kern="1200" dirty="0">
            <a:latin typeface="Century Gothic" panose="020B0502020202020204" pitchFamily="34" charset="0"/>
          </a:endParaRPr>
        </a:p>
      </dsp:txBody>
      <dsp:txXfrm rot="-5400000">
        <a:off x="0" y="800689"/>
        <a:ext cx="497202" cy="213086"/>
      </dsp:txXfrm>
    </dsp:sp>
    <dsp:sp modelId="{79B0DE70-0A03-4A6F-B31F-EC81EB5DF7EA}">
      <dsp:nvSpPr>
        <dsp:cNvPr id="0" name=""/>
        <dsp:cNvSpPr/>
      </dsp:nvSpPr>
      <dsp:spPr>
        <a:xfrm rot="5400000">
          <a:off x="2826069" y="-1776779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sp:txBody>
      <dsp:txXfrm rot="-5400000">
        <a:off x="497202" y="574626"/>
        <a:ext cx="5096883" cy="416611"/>
      </dsp:txXfrm>
    </dsp:sp>
    <dsp:sp modelId="{2AA7B02C-023E-4537-897E-B54A048C8983}">
      <dsp:nvSpPr>
        <dsp:cNvPr id="0" name=""/>
        <dsp:cNvSpPr/>
      </dsp:nvSpPr>
      <dsp:spPr>
        <a:xfrm rot="5400000">
          <a:off x="-106543" y="1207954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504853"/>
                <a:satOff val="6602"/>
                <a:lumOff val="-81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504853"/>
                <a:satOff val="6602"/>
                <a:lumOff val="-81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504853"/>
                <a:satOff val="6602"/>
                <a:lumOff val="-81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3</a:t>
          </a:r>
        </a:p>
      </dsp:txBody>
      <dsp:txXfrm rot="-5400000">
        <a:off x="0" y="1350012"/>
        <a:ext cx="497202" cy="213086"/>
      </dsp:txXfrm>
    </dsp:sp>
    <dsp:sp modelId="{15D3D31F-A831-4E62-ADE9-6ACE81331CDC}">
      <dsp:nvSpPr>
        <dsp:cNvPr id="0" name=""/>
        <dsp:cNvSpPr/>
      </dsp:nvSpPr>
      <dsp:spPr>
        <a:xfrm rot="5400000">
          <a:off x="2826069" y="-1227455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sp:txBody>
      <dsp:txXfrm rot="-5400000">
        <a:off x="497202" y="1123950"/>
        <a:ext cx="5096883" cy="416611"/>
      </dsp:txXfrm>
    </dsp:sp>
    <dsp:sp modelId="{58E45CBE-DE64-4E4E-8AAA-D376465B2BEE}">
      <dsp:nvSpPr>
        <dsp:cNvPr id="0" name=""/>
        <dsp:cNvSpPr/>
      </dsp:nvSpPr>
      <dsp:spPr>
        <a:xfrm rot="5400000">
          <a:off x="-106543" y="1757278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757279"/>
                <a:satOff val="9903"/>
                <a:lumOff val="-1215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7279"/>
                <a:satOff val="9903"/>
                <a:lumOff val="-1215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7279"/>
                <a:satOff val="9903"/>
                <a:lumOff val="-1215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4</a:t>
          </a:r>
        </a:p>
      </dsp:txBody>
      <dsp:txXfrm rot="-5400000">
        <a:off x="0" y="1899336"/>
        <a:ext cx="497202" cy="213086"/>
      </dsp:txXfrm>
    </dsp:sp>
    <dsp:sp modelId="{C37D6712-7A35-4663-80F7-1B8FC410AF19}">
      <dsp:nvSpPr>
        <dsp:cNvPr id="0" name=""/>
        <dsp:cNvSpPr/>
      </dsp:nvSpPr>
      <dsp:spPr>
        <a:xfrm rot="5400000">
          <a:off x="2826069" y="-678132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sp:txBody>
      <dsp:txXfrm rot="-5400000">
        <a:off x="497202" y="1673273"/>
        <a:ext cx="5096883" cy="4166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3A3E-55B9-4706-BA6E-9364B5247742}" type="datetimeFigureOut">
              <a:rPr lang="es-CO" smtClean="0"/>
              <a:t>9/10/2026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8B099-0CC4-41E8-A6BF-D10E445BFF7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68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9/10/2026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6620888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9/10/2026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1991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16AA-8F92-4F8D-9FF5-AE4F5F025475}" type="datetime1">
              <a:rPr lang="es-CO" smtClean="0"/>
              <a:t>9/10/2026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149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2889A-C4A3-4C6C-A514-E9566A95FF0B}" type="datetime1">
              <a:rPr lang="es-CO" smtClean="0"/>
              <a:t>9/10/2026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3131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549B8-F78E-4015-8DD3-99AC842EEF5C}" type="datetime1">
              <a:rPr lang="es-CO" smtClean="0"/>
              <a:t>9/10/2026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385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9/10/2026</a:t>
            </a:fld>
            <a:endParaRPr lang="es-CO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8510513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75FDE-4F9B-4FF4-9D4F-6D3ED15F62CE}" type="datetime1">
              <a:rPr lang="es-CO" smtClean="0"/>
              <a:t>9/10/2026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6837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392FA-6414-43D4-857F-1D16849F2AFB}" type="datetime1">
              <a:rPr lang="es-CO" smtClean="0"/>
              <a:t>9/10/2026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8452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1ADB1-43E6-4CC5-8BA6-A3F5A7E6EF55}" type="datetime1">
              <a:rPr lang="es-CO" smtClean="0"/>
              <a:t>9/10/2026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639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921E5-6957-4C84-BD80-156D13F58C59}" type="datetime1">
              <a:rPr lang="es-CO" smtClean="0"/>
              <a:t>9/10/2026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121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61D7-E979-4A0B-B106-A9203ABD6AA5}" type="datetime1">
              <a:rPr lang="es-CO" smtClean="0"/>
              <a:t>9/10/2026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2539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9/10/2026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410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AE389-1891-4C1C-AE7B-96446A92669F}" type="datetime1">
              <a:rPr lang="es-CO" smtClean="0"/>
              <a:t>9/10/2026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43474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65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%23%20Constantes%0API%20%3D%203.1416%0A%0A%23%20Definicion%20de%20la%20funcion%0Adef%20calcular_area_circulo%28radio%29%3A%0A%20%20%20%20return%20PI%20*%20radio%20**%202%0A%20%20%20%20%0A%23%20Invocacion%0Aarea%20%3D%20calcular_area_circulo%285%29%0A%23%20Salida%20en%20pantalla%0Aprint%28f%22%7Barea%3A.2f%7D%22%29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def%20calcular_area_rectangulo%28base,%20altura%29%3A%0A%20%20%20%20return%20base%20*%20altura%0A%0A%23%20Pruebas%20unitarias%0A%0A%23%20Sin%20mensaje%0Aassert%20calcular_area_rectangulo%284,%203%29%20%3D%3D%2012%0A%0A%23%20Con%20mensaje%0Aassert%20calcular_area_rectangulo%284,%203%29%20%3D%3D%2012,%20%22El%20%C3%A1rea%20de%204%20x%203%20debe%20ser%2012%22%0A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%23%20Funcion%20%28Modulo%29%0Adef%20celcius_to_fahrenheit%28c%29%3A%0A%20%20%20%20f%20%3D%20%289.0/5%29*c%20%2B%2032%0A%20%20%20%20return%20f%0A%0A%23%20Entrada%20de%20datos%0Atemp_c%20%3D%20float%28input%28%22Ingrese%20los%20%C2%B0C%3A%20%22%29%29%0A%0A%23%20Invocacion%20de%20la%20funcion%0Atemp_f%20%3D%20celcius_to_fahrenheit%28temp_c%29%0A%0A%23%20Despliegue%20de%20resultados%0Aprint%28temp_c,%22%C2%B0C%20%3D%22,%20temp_f,%22%C2%B0F%22%29%0A&amp;curInstr=0&amp;mode=display&amp;origin=opt-frontend.js&amp;py=311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realpython.com/defining-your-own-python-function/" TargetMode="External"/><Relationship Id="rId13" Type="http://schemas.openxmlformats.org/officeDocument/2006/relationships/hyperlink" Target="https://realpython.com/python-while-loop/" TargetMode="External"/><Relationship Id="rId3" Type="http://schemas.openxmlformats.org/officeDocument/2006/relationships/hyperlink" Target="https://www.w3resource.com/index.php" TargetMode="External"/><Relationship Id="rId7" Type="http://schemas.openxmlformats.org/officeDocument/2006/relationships/hyperlink" Target="https://realpython.com/cheatsheets/python/" TargetMode="External"/><Relationship Id="rId12" Type="http://schemas.openxmlformats.org/officeDocument/2006/relationships/hyperlink" Target="https://makecode.microbit.org/courses" TargetMode="External"/><Relationship Id="rId2" Type="http://schemas.openxmlformats.org/officeDocument/2006/relationships/hyperlink" Target="https://ellibrodepytho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-course.eu/" TargetMode="External"/><Relationship Id="rId11" Type="http://schemas.openxmlformats.org/officeDocument/2006/relationships/hyperlink" Target="https://makecode.microbit.org/courses/csintro" TargetMode="External"/><Relationship Id="rId5" Type="http://schemas.openxmlformats.org/officeDocument/2006/relationships/hyperlink" Target="https://curriculumresources.edu.gh/wp-content/uploads/2025/01/" TargetMode="External"/><Relationship Id="rId15" Type="http://schemas.openxmlformats.org/officeDocument/2006/relationships/hyperlink" Target="https://cs.stanford.edu/people/nick/py/" TargetMode="External"/><Relationship Id="rId10" Type="http://schemas.openxmlformats.org/officeDocument/2006/relationships/hyperlink" Target="https://realpython.com/ref/best-practices/functions/" TargetMode="External"/><Relationship Id="rId4" Type="http://schemas.openxmlformats.org/officeDocument/2006/relationships/hyperlink" Target="https://realpython.com/" TargetMode="External"/><Relationship Id="rId9" Type="http://schemas.openxmlformats.org/officeDocument/2006/relationships/hyperlink" Target="https://realpython.com/python-built-in-functions/" TargetMode="External"/><Relationship Id="rId14" Type="http://schemas.openxmlformats.org/officeDocument/2006/relationships/hyperlink" Target="https://realpython.com/ref/keywords/while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hdcomics.com/comics/archive.php?comicid=1431" TargetMode="External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909BB-6F92-48BA-A875-99E15D22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528" y="1122363"/>
            <a:ext cx="8568952" cy="2387600"/>
          </a:xfrm>
        </p:spPr>
        <p:txBody>
          <a:bodyPr/>
          <a:lstStyle/>
          <a:p>
            <a:r>
              <a:rPr lang="es-CO" dirty="0"/>
              <a:t>Lógica y Representación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9999BC-7CCA-4677-B2C4-E913A7AA1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CO" sz="3200" b="1" dirty="0"/>
              <a:t>Funciones - Introducción</a:t>
            </a:r>
          </a:p>
          <a:p>
            <a:r>
              <a:rPr lang="es-CO" dirty="0"/>
              <a:t>Ingeniería de Sistemas</a:t>
            </a:r>
          </a:p>
          <a:p>
            <a:r>
              <a:rPr lang="es-CO" dirty="0"/>
              <a:t>Universidad de Antioquia</a:t>
            </a:r>
          </a:p>
        </p:txBody>
      </p:sp>
    </p:spTree>
    <p:extLst>
      <p:ext uri="{BB962C8B-B14F-4D97-AF65-F5344CB8AC3E}">
        <p14:creationId xmlns:p14="http://schemas.microsoft.com/office/powerpoint/2010/main" val="77409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188640"/>
            <a:ext cx="8263830" cy="845334"/>
          </a:xfrm>
        </p:spPr>
        <p:txBody>
          <a:bodyPr>
            <a:normAutofit/>
          </a:bodyPr>
          <a:lstStyle/>
          <a:p>
            <a:r>
              <a:rPr lang="es-CO" sz="4000" dirty="0"/>
              <a:t>Método de Polya - Resumen</a:t>
            </a:r>
            <a:endParaRPr lang="en-US" sz="4000" dirty="0"/>
          </a:p>
        </p:txBody>
      </p:sp>
      <p:graphicFrame>
        <p:nvGraphicFramePr>
          <p:cNvPr id="6" name="13 Diagrama">
            <a:extLst>
              <a:ext uri="{FF2B5EF4-FFF2-40B4-BE49-F238E27FC236}">
                <a16:creationId xmlns:a16="http://schemas.microsoft.com/office/drawing/2014/main" id="{D0B70736-976D-4675-A33E-9F94643ADC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5553215"/>
              </p:ext>
            </p:extLst>
          </p:nvPr>
        </p:nvGraphicFramePr>
        <p:xfrm>
          <a:off x="3059832" y="4221088"/>
          <a:ext cx="5616624" cy="236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3">
            <a:extLst>
              <a:ext uri="{FF2B5EF4-FFF2-40B4-BE49-F238E27FC236}">
                <a16:creationId xmlns:a16="http://schemas.microsoft.com/office/drawing/2014/main" id="{9C9BD4AC-3A6A-4FE1-A719-F0D83295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404101"/>
            <a:ext cx="2200014" cy="197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E6732E42-F6E4-4E10-A20E-82A4BE9E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16" y="1223168"/>
            <a:ext cx="3214687" cy="241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5899AD60-028E-47EE-844F-916EBA585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3811" y="1248925"/>
            <a:ext cx="2857500" cy="236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17 Flecha abajo">
            <a:extLst>
              <a:ext uri="{FF2B5EF4-FFF2-40B4-BE49-F238E27FC236}">
                <a16:creationId xmlns:a16="http://schemas.microsoft.com/office/drawing/2014/main" id="{656E38FA-A37E-460A-AF17-E0C304C611BF}"/>
              </a:ext>
            </a:extLst>
          </p:cNvPr>
          <p:cNvSpPr/>
          <p:nvPr/>
        </p:nvSpPr>
        <p:spPr>
          <a:xfrm rot="16200000">
            <a:off x="4400922" y="1973262"/>
            <a:ext cx="322262" cy="965200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11" name="18 CuadroTexto">
            <a:extLst>
              <a:ext uri="{FF2B5EF4-FFF2-40B4-BE49-F238E27FC236}">
                <a16:creationId xmlns:a16="http://schemas.microsoft.com/office/drawing/2014/main" id="{B82BDCE9-7A82-42E8-98CF-353D30A777C0}"/>
              </a:ext>
            </a:extLst>
          </p:cNvPr>
          <p:cNvSpPr txBox="1"/>
          <p:nvPr/>
        </p:nvSpPr>
        <p:spPr>
          <a:xfrm>
            <a:off x="611560" y="3789040"/>
            <a:ext cx="3214688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PROBLEMA</a:t>
            </a:r>
            <a:endParaRPr lang="es-ES" sz="2000" dirty="0"/>
          </a:p>
        </p:txBody>
      </p:sp>
      <p:sp>
        <p:nvSpPr>
          <p:cNvPr id="12" name="19 CuadroTexto">
            <a:extLst>
              <a:ext uri="{FF2B5EF4-FFF2-40B4-BE49-F238E27FC236}">
                <a16:creationId xmlns:a16="http://schemas.microsoft.com/office/drawing/2014/main" id="{BFFC459E-C4D6-4371-ADA9-FB0FF4281118}"/>
              </a:ext>
            </a:extLst>
          </p:cNvPr>
          <p:cNvSpPr txBox="1"/>
          <p:nvPr/>
        </p:nvSpPr>
        <p:spPr>
          <a:xfrm>
            <a:off x="5148064" y="3752849"/>
            <a:ext cx="3214687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ALGORITMO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5840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Entrada, procesamiento y salida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35471" y="1238602"/>
            <a:ext cx="7886700" cy="1729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Los programas de computadora realizan estos tres pasos: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recibe la </a:t>
            </a:r>
            <a:r>
              <a:rPr lang="es-MX" sz="2000" b="1" dirty="0"/>
              <a:t>entrada</a:t>
            </a:r>
            <a:r>
              <a:rPr lang="es-MX" sz="2000" dirty="0"/>
              <a:t>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realiza un </a:t>
            </a:r>
            <a:r>
              <a:rPr lang="es-MX" sz="2000" b="1" dirty="0"/>
              <a:t>proceso</a:t>
            </a:r>
            <a:r>
              <a:rPr lang="es-MX" sz="2000" dirty="0"/>
              <a:t> sobre la entrada.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genera la </a:t>
            </a:r>
            <a:r>
              <a:rPr lang="es-MX" sz="2000" b="1" dirty="0"/>
              <a:t>salida</a:t>
            </a:r>
            <a:endParaRPr lang="es-CO" sz="2000" b="1" dirty="0"/>
          </a:p>
        </p:txBody>
      </p:sp>
      <p:grpSp>
        <p:nvGrpSpPr>
          <p:cNvPr id="15" name="14 Grupo"/>
          <p:cNvGrpSpPr/>
          <p:nvPr/>
        </p:nvGrpSpPr>
        <p:grpSpPr>
          <a:xfrm>
            <a:off x="1589010" y="4102449"/>
            <a:ext cx="5715000" cy="838200"/>
            <a:chOff x="1676400" y="4495800"/>
            <a:chExt cx="5715000" cy="838200"/>
          </a:xfrm>
        </p:grpSpPr>
        <p:sp>
          <p:nvSpPr>
            <p:cNvPr id="10" name="9 Rectángulo"/>
            <p:cNvSpPr/>
            <p:nvPr/>
          </p:nvSpPr>
          <p:spPr>
            <a:xfrm>
              <a:off x="16764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Inputs</a:t>
              </a:r>
              <a:endParaRPr lang="es-CO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3810000" y="4495800"/>
              <a:ext cx="1447800" cy="838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400" b="1" dirty="0">
                  <a:latin typeface="Consolas" panose="020B0609020204030204" pitchFamily="49" charset="0"/>
                </a:rPr>
                <a:t>Process</a:t>
              </a:r>
              <a:endParaRPr lang="es-CO" b="1" dirty="0">
                <a:latin typeface="Consolas" panose="020B0609020204030204" pitchFamily="49" charset="0"/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59436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Outputs</a:t>
              </a:r>
              <a:endParaRPr lang="es-CO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12 Flecha derecha"/>
            <p:cNvSpPr/>
            <p:nvPr/>
          </p:nvSpPr>
          <p:spPr>
            <a:xfrm>
              <a:off x="31242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13 Flecha derecha"/>
            <p:cNvSpPr/>
            <p:nvPr/>
          </p:nvSpPr>
          <p:spPr>
            <a:xfrm>
              <a:off x="52578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6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CA5F3EB8-A827-4D08-B3D4-BC8885661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116" y="3256265"/>
            <a:ext cx="1365108" cy="43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BB2AD59A-355A-4EC4-BD61-76D458710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82" y="3198200"/>
            <a:ext cx="841456" cy="690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AC519BCB-3AA9-4258-9707-83D241823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143" y="5159353"/>
            <a:ext cx="1007836" cy="100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452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1" y="134971"/>
            <a:ext cx="8491661" cy="773749"/>
          </a:xfrm>
        </p:spPr>
        <p:txBody>
          <a:bodyPr/>
          <a:lstStyle/>
          <a:p>
            <a:r>
              <a:rPr lang="en-US" dirty="0"/>
              <a:t>Introducción a las funciones</a:t>
            </a:r>
          </a:p>
        </p:txBody>
      </p:sp>
      <p:pic>
        <p:nvPicPr>
          <p:cNvPr id="10242" name="Picture 2" descr="xkcd: Random Number">
            <a:extLst>
              <a:ext uri="{FF2B5EF4-FFF2-40B4-BE49-F238E27FC236}">
                <a16:creationId xmlns:a16="http://schemas.microsoft.com/office/drawing/2014/main" id="{E72BF9ED-4146-4F5B-8782-1C211EBBF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8" y="1985392"/>
            <a:ext cx="4010022" cy="144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 descr="xkcd: Dependency">
            <a:extLst>
              <a:ext uri="{FF2B5EF4-FFF2-40B4-BE49-F238E27FC236}">
                <a16:creationId xmlns:a16="http://schemas.microsoft.com/office/drawing/2014/main" id="{CC1A6EDE-9178-4C94-AE17-EDE25EDB0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1340768"/>
            <a:ext cx="3667125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291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62413" y="116632"/>
            <a:ext cx="8981587" cy="1215008"/>
          </a:xfrm>
        </p:spPr>
        <p:txBody>
          <a:bodyPr>
            <a:normAutofit/>
          </a:bodyPr>
          <a:lstStyle/>
          <a:p>
            <a:r>
              <a:rPr lang="es-CO" dirty="0"/>
              <a:t>Función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62413" y="1052736"/>
            <a:ext cx="8819174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dirty="0"/>
              <a:t>Función</a:t>
            </a:r>
            <a:r>
              <a:rPr lang="es-MX" sz="2200" dirty="0"/>
              <a:t>: </a:t>
            </a:r>
            <a:r>
              <a:rPr lang="es-MX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Porción de código que realiza una tarea especifica.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También se conoce como: subrutina, procedimiento, función o método.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17E972-52FC-4940-90D8-B6DA6E948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539" y="2642429"/>
            <a:ext cx="1181080" cy="3096344"/>
          </a:xfrm>
          <a:prstGeom prst="rect">
            <a:avLst/>
          </a:prstGeom>
        </p:spPr>
      </p:pic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3FC34689-ACF1-4671-9408-C1A0823750FE}"/>
              </a:ext>
            </a:extLst>
          </p:cNvPr>
          <p:cNvSpPr/>
          <p:nvPr/>
        </p:nvSpPr>
        <p:spPr>
          <a:xfrm>
            <a:off x="2738897" y="3886709"/>
            <a:ext cx="1368152" cy="576064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b="1" dirty="0"/>
              <a:t>Modularizar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C201415-31FD-434B-BF7D-680CFB497669}"/>
              </a:ext>
            </a:extLst>
          </p:cNvPr>
          <p:cNvGrpSpPr/>
          <p:nvPr/>
        </p:nvGrpSpPr>
        <p:grpSpPr>
          <a:xfrm>
            <a:off x="4252811" y="2776498"/>
            <a:ext cx="4279629" cy="2962275"/>
            <a:chOff x="4226392" y="3348208"/>
            <a:chExt cx="4279629" cy="2962275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8EA4752-8445-4481-98F5-B3038E7852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0746" y="3348208"/>
              <a:ext cx="4105275" cy="2962275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59DB943E-5A24-4972-8246-5C57BFE61194}"/>
                </a:ext>
              </a:extLst>
            </p:cNvPr>
            <p:cNvSpPr/>
            <p:nvPr/>
          </p:nvSpPr>
          <p:spPr>
            <a:xfrm>
              <a:off x="4294909" y="4546600"/>
              <a:ext cx="1743941" cy="520700"/>
            </a:xfrm>
            <a:prstGeom prst="roundRect">
              <a:avLst/>
            </a:prstGeom>
            <a:noFill/>
            <a:ln w="19050"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1CB328B-150B-4DF5-BA95-0DDDF814FB2E}"/>
                </a:ext>
              </a:extLst>
            </p:cNvPr>
            <p:cNvSpPr txBox="1"/>
            <p:nvPr/>
          </p:nvSpPr>
          <p:spPr>
            <a:xfrm>
              <a:off x="4226392" y="4304129"/>
              <a:ext cx="6912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200" b="1" dirty="0">
                  <a:solidFill>
                    <a:schemeClr val="accent6"/>
                  </a:solidFill>
                </a:rPr>
                <a:t>Modulo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8E73D17D-CAAB-4C7E-A044-9A406A840238}"/>
                </a:ext>
              </a:extLst>
            </p:cNvPr>
            <p:cNvSpPr txBox="1"/>
            <p:nvPr/>
          </p:nvSpPr>
          <p:spPr>
            <a:xfrm>
              <a:off x="6588224" y="3474423"/>
              <a:ext cx="10309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s-CO" sz="1200" b="1" dirty="0">
                  <a:solidFill>
                    <a:schemeClr val="bg1">
                      <a:lumMod val="50000"/>
                    </a:schemeClr>
                  </a:solidFill>
                </a:rPr>
                <a:t>Instrucciones</a:t>
              </a:r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019AE7-A342-4F1B-B33F-1F47F2B8D248}"/>
              </a:ext>
            </a:extLst>
          </p:cNvPr>
          <p:cNvSpPr txBox="1"/>
          <p:nvPr/>
        </p:nvSpPr>
        <p:spPr>
          <a:xfrm>
            <a:off x="487868" y="5779061"/>
            <a:ext cx="3024336" cy="6001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100" dirty="0">
                <a:latin typeface="Consolas" panose="020B0609020204030204" pitchFamily="49" charset="0"/>
              </a:rPr>
              <a:t>c = float(input("Ingrese los °C: "))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f = (9.0/5)*c + 32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print(c,"°C =",f, "°F")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8E8B0EF-3BD5-4431-BD8A-978CEEB33C7A}"/>
              </a:ext>
            </a:extLst>
          </p:cNvPr>
          <p:cNvSpPr txBox="1"/>
          <p:nvPr/>
        </p:nvSpPr>
        <p:spPr>
          <a:xfrm>
            <a:off x="1110377" y="6320353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4108145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Funciones en Python - Definición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35496" y="775732"/>
            <a:ext cx="889248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Sintaxis</a:t>
            </a:r>
            <a:r>
              <a:rPr lang="es-MX" sz="2000" dirty="0"/>
              <a:t>: Una función se define mediante la palabra clave </a:t>
            </a:r>
            <a:r>
              <a:rPr lang="es-MX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</a:t>
            </a:r>
            <a:r>
              <a:rPr lang="es-MX" sz="2000" dirty="0"/>
              <a:t> seguido del nombre del nombre y los parámetros entre paréntesis: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Nombre de la función</a:t>
            </a:r>
            <a:r>
              <a:rPr lang="es-MX" sz="2000" dirty="0"/>
              <a:t>: Identifica la función; con este se llama (invoca).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Parámetros</a:t>
            </a:r>
            <a:r>
              <a:rPr lang="es-MX" sz="2000" dirty="0"/>
              <a:t>: Lista de entradas de la función (puede estar vacía).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Cuerpo de la función</a:t>
            </a:r>
            <a:r>
              <a:rPr lang="es-MX" sz="2000" dirty="0"/>
              <a:t>: Conjunto de instrucciones que realizan la tarea (van indentadas).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Importante</a:t>
            </a:r>
            <a:r>
              <a:rPr lang="es-MX" sz="2000" dirty="0"/>
              <a:t>: Definir una función no la ejecuta: solo se ejecuta cuando se la llama.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Diagrama de caja negra</a:t>
            </a:r>
            <a:r>
              <a:rPr lang="es-MX" sz="2000" dirty="0"/>
              <a:t>: Resume la interfaz de la función (entradas/salidas) sin entrar en los detalles internos.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2F26B2-715F-4699-9A5C-F8146CD83003}"/>
              </a:ext>
            </a:extLst>
          </p:cNvPr>
          <p:cNvSpPr txBox="1"/>
          <p:nvPr/>
        </p:nvSpPr>
        <p:spPr>
          <a:xfrm>
            <a:off x="637850" y="1620089"/>
            <a:ext cx="796659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 err="1">
                <a:solidFill>
                  <a:schemeClr val="accent4"/>
                </a:solidFill>
                <a:latin typeface="Consolas" panose="020B0609020204030204" pitchFamily="49" charset="0"/>
              </a:rPr>
              <a:t>nombre_funcion</a:t>
            </a:r>
            <a:r>
              <a:rPr lang="es-CO" sz="1600" dirty="0">
                <a:latin typeface="Consolas" panose="020B0609020204030204" pitchFamily="49" charset="0"/>
              </a:rPr>
              <a:t>(param1, param2 ,... , paramN):</a:t>
            </a:r>
          </a:p>
          <a:p>
            <a:r>
              <a:rPr lang="es-CO" sz="1600" dirty="0">
                <a:latin typeface="Consolas" panose="020B0609020204030204" pitchFamily="49" charset="0"/>
              </a:rPr>
              <a:t>   cuerpo de la </a:t>
            </a:r>
            <a:r>
              <a:rPr lang="es-CO" sz="1600" dirty="0" err="1">
                <a:latin typeface="Consolas" panose="020B0609020204030204" pitchFamily="49" charset="0"/>
              </a:rPr>
              <a:t>funcion</a:t>
            </a:r>
            <a:r>
              <a:rPr lang="es-CO" sz="1600" dirty="0"/>
              <a:t>    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6A21C3D2-E1D7-4A23-8AAA-B6C6147D550F}"/>
              </a:ext>
            </a:extLst>
          </p:cNvPr>
          <p:cNvGrpSpPr/>
          <p:nvPr/>
        </p:nvGrpSpPr>
        <p:grpSpPr>
          <a:xfrm>
            <a:off x="2698566" y="4941168"/>
            <a:ext cx="4105682" cy="1728824"/>
            <a:chOff x="2266517" y="4833155"/>
            <a:chExt cx="4105682" cy="1728824"/>
          </a:xfrm>
        </p:grpSpPr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526A32AB-AAB4-40E6-82E9-48F798502151}"/>
                </a:ext>
              </a:extLst>
            </p:cNvPr>
            <p:cNvGrpSpPr/>
            <p:nvPr/>
          </p:nvGrpSpPr>
          <p:grpSpPr>
            <a:xfrm>
              <a:off x="2266517" y="4833155"/>
              <a:ext cx="4105682" cy="1728824"/>
              <a:chOff x="1259632" y="4422593"/>
              <a:chExt cx="4105682" cy="1728824"/>
            </a:xfrm>
          </p:grpSpPr>
          <p:sp>
            <p:nvSpPr>
              <p:cNvPr id="3" name="Rectángulo 2">
                <a:extLst>
                  <a:ext uri="{FF2B5EF4-FFF2-40B4-BE49-F238E27FC236}">
                    <a16:creationId xmlns:a16="http://schemas.microsoft.com/office/drawing/2014/main" id="{885A5536-1B4A-4234-9470-1BC461F4856B}"/>
                  </a:ext>
                </a:extLst>
              </p:cNvPr>
              <p:cNvSpPr/>
              <p:nvPr/>
            </p:nvSpPr>
            <p:spPr>
              <a:xfrm>
                <a:off x="1835695" y="4725142"/>
                <a:ext cx="3025564" cy="1426275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>
                  <a:latin typeface="Consolas" panose="020B0609020204030204" pitchFamily="49" charset="0"/>
                </a:endParaRPr>
              </a:p>
            </p:txBody>
          </p:sp>
          <p:grpSp>
            <p:nvGrpSpPr>
              <p:cNvPr id="28" name="Grupo 27">
                <a:extLst>
                  <a:ext uri="{FF2B5EF4-FFF2-40B4-BE49-F238E27FC236}">
                    <a16:creationId xmlns:a16="http://schemas.microsoft.com/office/drawing/2014/main" id="{FBB823C4-005F-4AD6-8F85-452CBB2CAB22}"/>
                  </a:ext>
                </a:extLst>
              </p:cNvPr>
              <p:cNvGrpSpPr/>
              <p:nvPr/>
            </p:nvGrpSpPr>
            <p:grpSpPr>
              <a:xfrm>
                <a:off x="1907704" y="4849415"/>
                <a:ext cx="936104" cy="1171873"/>
                <a:chOff x="1907704" y="4849415"/>
                <a:chExt cx="936104" cy="1171873"/>
              </a:xfrm>
            </p:grpSpPr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5A0844C6-4D83-4F55-B714-F8A3F61FE922}"/>
                    </a:ext>
                  </a:extLst>
                </p:cNvPr>
                <p:cNvSpPr txBox="1"/>
                <p:nvPr/>
              </p:nvSpPr>
              <p:spPr>
                <a:xfrm>
                  <a:off x="1907704" y="4849415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param1</a:t>
                  </a: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7AA01238-0335-4645-A471-A5C08D15E324}"/>
                    </a:ext>
                  </a:extLst>
                </p:cNvPr>
                <p:cNvSpPr txBox="1"/>
                <p:nvPr/>
              </p:nvSpPr>
              <p:spPr>
                <a:xfrm>
                  <a:off x="1907704" y="5085184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param2</a:t>
                  </a:r>
                </a:p>
              </p:txBody>
            </p:sp>
            <p:sp>
              <p:nvSpPr>
                <p:cNvPr id="22" name="CuadroTexto 21">
                  <a:extLst>
                    <a:ext uri="{FF2B5EF4-FFF2-40B4-BE49-F238E27FC236}">
                      <a16:creationId xmlns:a16="http://schemas.microsoft.com/office/drawing/2014/main" id="{A6A87880-39C9-4794-921F-E11A788E213C}"/>
                    </a:ext>
                  </a:extLst>
                </p:cNvPr>
                <p:cNvSpPr txBox="1"/>
                <p:nvPr/>
              </p:nvSpPr>
              <p:spPr>
                <a:xfrm>
                  <a:off x="1907704" y="5713511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paramN</a:t>
                  </a:r>
                </a:p>
              </p:txBody>
            </p:sp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95A6DC3-8920-4D09-9ED6-DA7447DABE87}"/>
                    </a:ext>
                  </a:extLst>
                </p:cNvPr>
                <p:cNvSpPr txBox="1"/>
                <p:nvPr/>
              </p:nvSpPr>
              <p:spPr>
                <a:xfrm>
                  <a:off x="1907704" y="5373216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...</a:t>
                  </a:r>
                </a:p>
              </p:txBody>
            </p:sp>
          </p:grp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80EFA2FB-EE62-47C2-8AEF-9133601A0C62}"/>
                  </a:ext>
                </a:extLst>
              </p:cNvPr>
              <p:cNvSpPr txBox="1"/>
              <p:nvPr/>
            </p:nvSpPr>
            <p:spPr>
              <a:xfrm>
                <a:off x="2448377" y="4422593"/>
                <a:ext cx="1800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600" b="1" dirty="0">
                    <a:latin typeface="Consolas" panose="020B0609020204030204" pitchFamily="49" charset="0"/>
                  </a:rPr>
                  <a:t>nombre_funcion</a:t>
                </a:r>
              </a:p>
            </p:txBody>
          </p:sp>
          <p:cxnSp>
            <p:nvCxnSpPr>
              <p:cNvPr id="17" name="Conector recto de flecha 16">
                <a:extLst>
                  <a:ext uri="{FF2B5EF4-FFF2-40B4-BE49-F238E27FC236}">
                    <a16:creationId xmlns:a16="http://schemas.microsoft.com/office/drawing/2014/main" id="{3D74031A-DB78-4D32-A9B8-343EF5A828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0" y="5013176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de flecha 30">
                <a:extLst>
                  <a:ext uri="{FF2B5EF4-FFF2-40B4-BE49-F238E27FC236}">
                    <a16:creationId xmlns:a16="http://schemas.microsoft.com/office/drawing/2014/main" id="{7ADB8EA4-F2FE-499A-BCC6-451CA89DA6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0" y="5264918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de flecha 31">
                <a:extLst>
                  <a:ext uri="{FF2B5EF4-FFF2-40B4-BE49-F238E27FC236}">
                    <a16:creationId xmlns:a16="http://schemas.microsoft.com/office/drawing/2014/main" id="{3ADF198B-5E8B-422F-AA9B-9B8EA00A38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1" y="5890989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de flecha 36">
                <a:extLst>
                  <a:ext uri="{FF2B5EF4-FFF2-40B4-BE49-F238E27FC236}">
                    <a16:creationId xmlns:a16="http://schemas.microsoft.com/office/drawing/2014/main" id="{A9DFC71D-6F70-475A-A3FB-2E484EBDA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61259" y="5445224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42DFA53-C35C-4A46-ACD8-AB66BC3ABFCB}"/>
                  </a:ext>
                </a:extLst>
              </p:cNvPr>
              <p:cNvSpPr txBox="1"/>
              <p:nvPr/>
            </p:nvSpPr>
            <p:spPr>
              <a:xfrm>
                <a:off x="1259632" y="5373216"/>
                <a:ext cx="61780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400" b="1" dirty="0">
                    <a:latin typeface="Consolas" panose="020B0609020204030204" pitchFamily="49" charset="0"/>
                  </a:rPr>
                  <a:t>...</a:t>
                </a:r>
              </a:p>
            </p:txBody>
          </p:sp>
        </p:grp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A66DCD7B-9755-4A3C-902E-CC052D311690}"/>
                </a:ext>
              </a:extLst>
            </p:cNvPr>
            <p:cNvSpPr txBox="1"/>
            <p:nvPr/>
          </p:nvSpPr>
          <p:spPr>
            <a:xfrm>
              <a:off x="4115974" y="5699348"/>
              <a:ext cx="1800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Valor de retorno </a:t>
              </a:r>
              <a:r>
                <a:rPr lang="es-CO" sz="1400" b="1" dirty="0">
                  <a:solidFill>
                    <a:srgbClr val="FFFF00"/>
                  </a:solidFill>
                  <a:latin typeface="Consolas" panose="020B0609020204030204" pitchFamily="49" charset="0"/>
                </a:rPr>
                <a:t>(opcional)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2168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Funciones en Python - Invocación</a:t>
            </a:r>
            <a:endParaRPr lang="es-CO" dirty="0">
              <a:highlight>
                <a:srgbClr val="FFFF00"/>
              </a:highlight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775732"/>
            <a:ext cx="889248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Invocar (llamar) una función</a:t>
            </a:r>
            <a:r>
              <a:rPr lang="es-MX" sz="2000" dirty="0"/>
              <a:t>: escribir su nombre con los argumentos entre paréntesis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Argumentos</a:t>
            </a:r>
            <a:r>
              <a:rPr lang="es-MX" sz="2000" dirty="0"/>
              <a:t>: los valores que se envían, y se asocian a los parámetros </a:t>
            </a:r>
            <a:r>
              <a:rPr lang="es-MX" sz="2000" b="1" dirty="0"/>
              <a:t>por posición</a:t>
            </a:r>
            <a:r>
              <a:rPr lang="es-MX" sz="2000" dirty="0"/>
              <a:t>. Pueden ser números, variables o expresiones.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Si la función </a:t>
            </a:r>
            <a:r>
              <a:rPr lang="es-MX" sz="2000" b="1" dirty="0"/>
              <a:t>devuelve</a:t>
            </a:r>
            <a:r>
              <a:rPr lang="es-MX" sz="2000" dirty="0"/>
              <a:t> un valor, se guarda en una variable o se usa directamente. Si no devuelve nada, se la llama sola.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Ejemplo</a:t>
            </a:r>
            <a:r>
              <a:rPr lang="es-MX" sz="2000" dirty="0"/>
              <a:t>: Empleando la función </a:t>
            </a:r>
            <a:r>
              <a:rPr lang="en-US" dirty="0">
                <a:latin typeface="Consolas" panose="020B0609020204030204" pitchFamily="49" charset="0"/>
              </a:rPr>
              <a:t>calcular_area_circulo()</a:t>
            </a:r>
            <a:r>
              <a:rPr lang="es-MX" sz="2000" dirty="0"/>
              <a:t>, calcular el área de un circulo de radio 5 y llevar el resultado a una variable llamada área.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2F26B2-715F-4699-9A5C-F8146CD83003}"/>
              </a:ext>
            </a:extLst>
          </p:cNvPr>
          <p:cNvSpPr txBox="1"/>
          <p:nvPr/>
        </p:nvSpPr>
        <p:spPr>
          <a:xfrm>
            <a:off x="637850" y="1620089"/>
            <a:ext cx="796659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[variable =]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nombre_funcion</a:t>
            </a:r>
            <a:r>
              <a:rPr lang="es-CO" sz="1600" dirty="0">
                <a:latin typeface="Consolas" panose="020B0609020204030204" pitchFamily="49" charset="0"/>
              </a:rPr>
              <a:t>(arg1, arg2 ,... , argN) </a:t>
            </a:r>
            <a:endParaRPr lang="es-CO" sz="16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DDAC6FD-540D-49DD-9B15-FE5084778602}"/>
              </a:ext>
            </a:extLst>
          </p:cNvPr>
          <p:cNvSpPr txBox="1"/>
          <p:nvPr/>
        </p:nvSpPr>
        <p:spPr>
          <a:xfrm>
            <a:off x="624886" y="5222796"/>
            <a:ext cx="345638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area = calcular_area_circulo(5)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62D5A0BB-3086-4539-92CC-AFE253D13B40}"/>
              </a:ext>
            </a:extLst>
          </p:cNvPr>
          <p:cNvSpPr txBox="1"/>
          <p:nvPr/>
        </p:nvSpPr>
        <p:spPr>
          <a:xfrm>
            <a:off x="1475656" y="554327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8263D85-BC1F-4D23-8F73-61C9AB7D0F2C}"/>
              </a:ext>
            </a:extLst>
          </p:cNvPr>
          <p:cNvGrpSpPr/>
          <p:nvPr/>
        </p:nvGrpSpPr>
        <p:grpSpPr>
          <a:xfrm>
            <a:off x="4562996" y="4741108"/>
            <a:ext cx="3897436" cy="1208172"/>
            <a:chOff x="4274964" y="4633825"/>
            <a:chExt cx="3897436" cy="1208172"/>
          </a:xfrm>
        </p:grpSpPr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FD243F80-AB08-42CD-BAD9-A97C583AB140}"/>
                </a:ext>
              </a:extLst>
            </p:cNvPr>
            <p:cNvGrpSpPr/>
            <p:nvPr/>
          </p:nvGrpSpPr>
          <p:grpSpPr>
            <a:xfrm>
              <a:off x="4621149" y="4633825"/>
              <a:ext cx="3551251" cy="1208172"/>
              <a:chOff x="5580112" y="2209800"/>
              <a:chExt cx="3551251" cy="1208172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B4CC6C65-9575-444E-87C7-09C4B7F3ECEF}"/>
                  </a:ext>
                </a:extLst>
              </p:cNvPr>
              <p:cNvGrpSpPr/>
              <p:nvPr/>
            </p:nvGrpSpPr>
            <p:grpSpPr>
              <a:xfrm>
                <a:off x="5652120" y="2209800"/>
                <a:ext cx="2664295" cy="1208172"/>
                <a:chOff x="1475656" y="4381067"/>
                <a:chExt cx="2664295" cy="1208172"/>
              </a:xfrm>
            </p:grpSpPr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E9F27DFC-E675-443E-978C-94D671CEB4A8}"/>
                    </a:ext>
                  </a:extLst>
                </p:cNvPr>
                <p:cNvSpPr/>
                <p:nvPr/>
              </p:nvSpPr>
              <p:spPr>
                <a:xfrm>
                  <a:off x="1907704" y="4725143"/>
                  <a:ext cx="1872208" cy="864096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3949B2B6-F058-41EF-9A4F-FDA68CD9E51D}"/>
                    </a:ext>
                  </a:extLst>
                </p:cNvPr>
                <p:cNvSpPr txBox="1"/>
                <p:nvPr/>
              </p:nvSpPr>
              <p:spPr>
                <a:xfrm>
                  <a:off x="1475656" y="4381067"/>
                  <a:ext cx="266429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CO" sz="1600" b="1" dirty="0">
                      <a:latin typeface="Consolas" panose="020B0609020204030204" pitchFamily="49" charset="0"/>
                    </a:rPr>
                    <a:t>calcular_area_circulo</a:t>
                  </a:r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B41B8A90-1403-4B85-9628-8F46BC6D6388}"/>
                  </a:ext>
                </a:extLst>
              </p:cNvPr>
              <p:cNvSpPr txBox="1"/>
              <p:nvPr/>
            </p:nvSpPr>
            <p:spPr>
              <a:xfrm>
                <a:off x="6084168" y="2833191"/>
                <a:ext cx="9361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b="1" dirty="0">
                    <a:solidFill>
                      <a:schemeClr val="bg1"/>
                    </a:solidFill>
                    <a:latin typeface="Consolas" panose="020B0609020204030204" pitchFamily="49" charset="0"/>
                  </a:rPr>
                  <a:t>radio</a:t>
                </a:r>
              </a:p>
            </p:txBody>
          </p:sp>
          <p:cxnSp>
            <p:nvCxnSpPr>
              <p:cNvPr id="29" name="Conector recto de flecha 28">
                <a:extLst>
                  <a:ext uri="{FF2B5EF4-FFF2-40B4-BE49-F238E27FC236}">
                    <a16:creationId xmlns:a16="http://schemas.microsoft.com/office/drawing/2014/main" id="{4414AB27-5373-49ED-BBF2-12EDBE36EA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80112" y="2996952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de flecha 33">
                <a:extLst>
                  <a:ext uri="{FF2B5EF4-FFF2-40B4-BE49-F238E27FC236}">
                    <a16:creationId xmlns:a16="http://schemas.microsoft.com/office/drawing/2014/main" id="{21A46C83-0EEC-4590-AF10-4BA8F1977E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56376" y="2996952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E3E412D-75A6-4C6C-B858-D9FADFB4E461}"/>
                  </a:ext>
                </a:extLst>
              </p:cNvPr>
              <p:cNvSpPr txBox="1"/>
              <p:nvPr/>
            </p:nvSpPr>
            <p:spPr>
              <a:xfrm>
                <a:off x="8409056" y="2833886"/>
                <a:ext cx="72230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b="1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78.54</a:t>
                </a:r>
              </a:p>
            </p:txBody>
          </p:sp>
        </p:grp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A09235B9-3D35-4BD6-9EFE-42E67ED6DEB6}"/>
                </a:ext>
              </a:extLst>
            </p:cNvPr>
            <p:cNvSpPr txBox="1"/>
            <p:nvPr/>
          </p:nvSpPr>
          <p:spPr>
            <a:xfrm>
              <a:off x="4274964" y="5256909"/>
              <a:ext cx="4541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400" b="1" dirty="0">
                  <a:latin typeface="Consolas" panose="020B0609020204030204" pitchFamily="49" charset="0"/>
                </a:rPr>
                <a:t>5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A159285A-E84B-4F1C-AF15-3A271229A4DE}"/>
                </a:ext>
              </a:extLst>
            </p:cNvPr>
            <p:cNvSpPr txBox="1"/>
            <p:nvPr/>
          </p:nvSpPr>
          <p:spPr>
            <a:xfrm>
              <a:off x="6442745" y="5258603"/>
              <a:ext cx="64191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area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5767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Probar una función</a:t>
            </a:r>
            <a:endParaRPr lang="es-CO" dirty="0">
              <a:highlight>
                <a:srgbClr val="FFFF00"/>
              </a:highlight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908720"/>
            <a:ext cx="889248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Prueba unitaria</a:t>
            </a:r>
            <a:r>
              <a:rPr lang="es-MX" sz="2000" dirty="0"/>
              <a:t>: verificar una función de forma aislada, con varios casos de uso.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Cada </a:t>
            </a:r>
            <a:r>
              <a:rPr lang="es-MX" sz="2000" b="1" dirty="0"/>
              <a:t>caso de prueba</a:t>
            </a:r>
            <a:r>
              <a:rPr lang="es-MX" sz="2000" dirty="0"/>
              <a:t> compara el resultado </a:t>
            </a:r>
            <a:r>
              <a:rPr lang="es-MX" sz="2000" b="1" dirty="0"/>
              <a:t>esperado</a:t>
            </a:r>
            <a:r>
              <a:rPr lang="es-MX" sz="2000" dirty="0"/>
              <a:t> con el </a:t>
            </a:r>
            <a:r>
              <a:rPr lang="es-MX" sz="2000" b="1" dirty="0"/>
              <a:t>obtenido</a:t>
            </a:r>
            <a:r>
              <a:rPr lang="es-MX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Integración</a:t>
            </a:r>
            <a:r>
              <a:rPr lang="es-MX" sz="2000" dirty="0"/>
              <a:t>: proceso de combinar las funciones ya desarrolladas en el programa completo (menú, lectura de datos y ciclo principal).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¿Por qué es importante probar antes de integrar?</a:t>
            </a:r>
            <a:r>
              <a:rPr lang="es-MX" sz="2000" dirty="0"/>
              <a:t>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Si una función falla de forma aislada, el error se encuentra en ella.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Si falla dentro del programa completo, el origen puede estar en la función, en la lectura de datos o en el menú, y localizarlo resulta más costoso.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Una función verificada puede reutilizarse con confianza.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99B6162-7446-4A75-B376-D8527CA0754C}"/>
              </a:ext>
            </a:extLst>
          </p:cNvPr>
          <p:cNvGraphicFramePr>
            <a:graphicFrameLocks noGrp="1"/>
          </p:cNvGraphicFramePr>
          <p:nvPr/>
        </p:nvGraphicFramePr>
        <p:xfrm>
          <a:off x="402362" y="4005064"/>
          <a:ext cx="8339275" cy="2011680"/>
        </p:xfrm>
        <a:graphic>
          <a:graphicData uri="http://schemas.openxmlformats.org/drawingml/2006/table">
            <a:tbl>
              <a:tblPr/>
              <a:tblGrid>
                <a:gridCol w="1512898">
                  <a:extLst>
                    <a:ext uri="{9D8B030D-6E8A-4147-A177-3AD203B41FA5}">
                      <a16:colId xmlns:a16="http://schemas.microsoft.com/office/drawing/2014/main" val="3339494124"/>
                    </a:ext>
                  </a:extLst>
                </a:gridCol>
                <a:gridCol w="1810900">
                  <a:extLst>
                    <a:ext uri="{9D8B030D-6E8A-4147-A177-3AD203B41FA5}">
                      <a16:colId xmlns:a16="http://schemas.microsoft.com/office/drawing/2014/main" val="906659216"/>
                    </a:ext>
                  </a:extLst>
                </a:gridCol>
                <a:gridCol w="5015477">
                  <a:extLst>
                    <a:ext uri="{9D8B030D-6E8A-4147-A177-3AD203B41FA5}">
                      <a16:colId xmlns:a16="http://schemas.microsoft.com/office/drawing/2014/main" val="324765120"/>
                    </a:ext>
                  </a:extLst>
                </a:gridCol>
              </a:tblGrid>
              <a:tr h="183419"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Tipo de caso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solidFill>
                            <a:schemeClr val="bg1"/>
                          </a:solidFill>
                        </a:rPr>
                        <a:t>Qué prueba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602877"/>
                  </a:ext>
                </a:extLst>
              </a:tr>
              <a:tr h="320983">
                <a:tc>
                  <a:txBody>
                    <a:bodyPr/>
                    <a:lstStyle/>
                    <a:p>
                      <a:r>
                        <a:rPr lang="es-CO" b="1"/>
                        <a:t>Típico</a:t>
                      </a:r>
                      <a:endParaRPr lang="es-CO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Uso habitual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(4, 3) → 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979995"/>
                  </a:ext>
                </a:extLst>
              </a:tr>
              <a:tr h="320983">
                <a:tc>
                  <a:txBody>
                    <a:bodyPr/>
                    <a:lstStyle/>
                    <a:p>
                      <a:r>
                        <a:rPr lang="es-CO" b="1"/>
                        <a:t>Límite</a:t>
                      </a:r>
                      <a:endParaRPr lang="es-CO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Valores extremos del rango válido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(0, 5) →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7258389"/>
                  </a:ext>
                </a:extLst>
              </a:tr>
              <a:tr h="377370">
                <a:tc>
                  <a:txBody>
                    <a:bodyPr/>
                    <a:lstStyle/>
                    <a:p>
                      <a:r>
                        <a:rPr lang="es-CO" b="1" dirty="0"/>
                        <a:t>Especial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Valores atípicos o inválidos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MX" sz="1600" dirty="0">
                          <a:latin typeface="Consolas" panose="020B0609020204030204" pitchFamily="49" charset="0"/>
                        </a:rPr>
                        <a:t>(-4, 3) → -12</a:t>
                      </a:r>
                      <a:r>
                        <a:rPr lang="es-MX" dirty="0"/>
                        <a:t>, que la función no rechaza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957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624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Pruebas con </a:t>
            </a:r>
            <a:r>
              <a:rPr lang="es-CO" sz="4000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endParaRPr lang="es-CO" dirty="0">
              <a:solidFill>
                <a:schemeClr val="accent4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836712"/>
            <a:ext cx="88924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Sintaxis</a:t>
            </a:r>
            <a:r>
              <a:rPr lang="es-MX" sz="2000" dirty="0"/>
              <a:t>: Una verificación se escribe con la palabra clave </a:t>
            </a:r>
            <a:r>
              <a:rPr lang="es-MX" b="1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r>
              <a:rPr lang="es-MX" sz="2000" dirty="0"/>
              <a:t>, seguida de una condición y,  opcionalmente, un mensaje: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Condición</a:t>
            </a:r>
            <a:r>
              <a:rPr lang="es-MX" sz="2000" dirty="0"/>
              <a:t>: expresión que debe ser verdadera, normalmente la comparación </a:t>
            </a:r>
            <a:r>
              <a:rPr lang="es-MX" b="1" dirty="0">
                <a:solidFill>
                  <a:srgbClr val="00B050"/>
                </a:solidFill>
                <a:latin typeface="Consolas" panose="020B0609020204030204" pitchFamily="49" charset="0"/>
              </a:rPr>
              <a:t>llamada == </a:t>
            </a:r>
            <a:r>
              <a:rPr lang="es-MX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resultado_esperado</a:t>
            </a:r>
            <a:r>
              <a:rPr lang="es-MX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Mensaje (opcional)</a:t>
            </a:r>
            <a:r>
              <a:rPr lang="es-MX" sz="2000" dirty="0"/>
              <a:t>: texto que se muestra si la condición es falsa.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 la condición se cumple</a:t>
            </a:r>
            <a:r>
              <a:rPr lang="es-MX" sz="2000" dirty="0"/>
              <a:t>, el programa continúa sin mostrar nada.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 no se cumple</a:t>
            </a:r>
            <a:r>
              <a:rPr lang="es-MX" sz="2000" dirty="0"/>
              <a:t>, Python lanza </a:t>
            </a:r>
            <a:r>
              <a:rPr lang="es-MX" b="1" dirty="0" err="1">
                <a:latin typeface="Consolas" panose="020B0609020204030204" pitchFamily="49" charset="0"/>
              </a:rPr>
              <a:t>AssertionError</a:t>
            </a:r>
            <a:r>
              <a:rPr lang="es-MX" sz="2000" dirty="0"/>
              <a:t> e indica la línea que falló o muestra el mensaje (en caso de que este se haya definido).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3E20402-0003-480B-BF9B-6B30BB7DB54E}"/>
              </a:ext>
            </a:extLst>
          </p:cNvPr>
          <p:cNvSpPr txBox="1"/>
          <p:nvPr/>
        </p:nvSpPr>
        <p:spPr>
          <a:xfrm>
            <a:off x="588701" y="1700808"/>
            <a:ext cx="796659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condición </a:t>
            </a:r>
            <a:r>
              <a:rPr lang="es-CO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[, "Mensaje opcional"]</a:t>
            </a:r>
            <a:endParaRPr lang="es-CO" sz="1600" b="1" dirty="0">
              <a:solidFill>
                <a:srgbClr val="C00000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B923442-2F95-4D91-85F2-1BCEF4294321}"/>
              </a:ext>
            </a:extLst>
          </p:cNvPr>
          <p:cNvSpPr txBox="1"/>
          <p:nvPr/>
        </p:nvSpPr>
        <p:spPr>
          <a:xfrm>
            <a:off x="797898" y="4581128"/>
            <a:ext cx="779972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# Sin mensaje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assert </a:t>
            </a:r>
            <a:r>
              <a:rPr lang="es-CO" sz="1200" dirty="0" err="1">
                <a:latin typeface="Consolas" panose="020B0609020204030204" pitchFamily="49" charset="0"/>
              </a:rPr>
              <a:t>calcular_area_rectangulo</a:t>
            </a:r>
            <a:r>
              <a:rPr lang="es-CO" sz="1200" dirty="0">
                <a:latin typeface="Consolas" panose="020B0609020204030204" pitchFamily="49" charset="0"/>
              </a:rPr>
              <a:t>(4, 3) == 12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# Con mensaje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assert </a:t>
            </a:r>
            <a:r>
              <a:rPr lang="es-CO" sz="1200" dirty="0" err="1">
                <a:latin typeface="Consolas" panose="020B0609020204030204" pitchFamily="49" charset="0"/>
              </a:rPr>
              <a:t>calcular_area_rectangulo</a:t>
            </a:r>
            <a:r>
              <a:rPr lang="es-CO" sz="1200" dirty="0">
                <a:latin typeface="Consolas" panose="020B0609020204030204" pitchFamily="49" charset="0"/>
              </a:rPr>
              <a:t>(4, 3) == 12, "El área de 4 x 3 debe ser 12"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504B595-B2EE-4CC2-8807-AD51AFE47AF0}"/>
              </a:ext>
            </a:extLst>
          </p:cNvPr>
          <p:cNvSpPr txBox="1"/>
          <p:nvPr/>
        </p:nvSpPr>
        <p:spPr>
          <a:xfrm>
            <a:off x="3649493" y="558924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CED2DA4-4450-4E35-83D5-227E5ADBD70A}"/>
              </a:ext>
            </a:extLst>
          </p:cNvPr>
          <p:cNvSpPr txBox="1"/>
          <p:nvPr/>
        </p:nvSpPr>
        <p:spPr>
          <a:xfrm>
            <a:off x="827584" y="6237312"/>
            <a:ext cx="77997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A5A6189-AD64-4BF6-97E5-0EAA0ADC6C7D}"/>
              </a:ext>
            </a:extLst>
          </p:cNvPr>
          <p:cNvSpPr txBox="1"/>
          <p:nvPr/>
        </p:nvSpPr>
        <p:spPr>
          <a:xfrm>
            <a:off x="771010" y="5960313"/>
            <a:ext cx="3656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Salida en pantalla </a:t>
            </a:r>
            <a:r>
              <a:rPr lang="es-CO" sz="1400" dirty="0"/>
              <a:t>(Vacía – Todo salió bien)</a:t>
            </a:r>
          </a:p>
        </p:txBody>
      </p:sp>
    </p:spTree>
    <p:extLst>
      <p:ext uri="{BB962C8B-B14F-4D97-AF65-F5344CB8AC3E}">
        <p14:creationId xmlns:p14="http://schemas.microsoft.com/office/powerpoint/2010/main" val="453345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Comparación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908" y="734497"/>
            <a:ext cx="88775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 continuación, se muestra la comparación entre trabajar un programa </a:t>
            </a:r>
            <a:r>
              <a:rPr lang="es-MX" sz="2000" b="1" dirty="0"/>
              <a:t>sin módulos</a:t>
            </a:r>
            <a:r>
              <a:rPr lang="es-MX" sz="2000" dirty="0"/>
              <a:t> y </a:t>
            </a:r>
            <a:r>
              <a:rPr lang="es-MX" sz="2000" b="1" dirty="0"/>
              <a:t>con módulos</a:t>
            </a:r>
            <a:r>
              <a:rPr lang="es-MX" sz="2000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4E7742F-9933-410E-8568-CF4892FF2EC3}"/>
              </a:ext>
            </a:extLst>
          </p:cNvPr>
          <p:cNvSpPr txBox="1"/>
          <p:nvPr/>
        </p:nvSpPr>
        <p:spPr>
          <a:xfrm>
            <a:off x="817032" y="5014674"/>
            <a:ext cx="373171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(9 / 5) * temp_c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9D3A9E5-10B9-435A-B47C-FF33E09D3BF0}"/>
              </a:ext>
            </a:extLst>
          </p:cNvPr>
          <p:cNvSpPr txBox="1"/>
          <p:nvPr/>
        </p:nvSpPr>
        <p:spPr>
          <a:xfrm>
            <a:off x="5004047" y="4843026"/>
            <a:ext cx="397314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def celsius_a_fahrenheit(c):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f = (9 / 5) * 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return f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celsius_a_fahrenheit(temp_c)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F74F2E-D109-4A9F-BDC1-7BF69D50A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801" y="1657190"/>
            <a:ext cx="1130177" cy="2962893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0931D628-38BC-47DA-B491-68B66A45CB27}"/>
              </a:ext>
            </a:extLst>
          </p:cNvPr>
          <p:cNvSpPr txBox="1"/>
          <p:nvPr/>
        </p:nvSpPr>
        <p:spPr>
          <a:xfrm>
            <a:off x="6158373" y="6581001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2F01911-5379-4765-924D-EAFBD9E37780}"/>
              </a:ext>
            </a:extLst>
          </p:cNvPr>
          <p:cNvSpPr txBox="1"/>
          <p:nvPr/>
        </p:nvSpPr>
        <p:spPr>
          <a:xfrm>
            <a:off x="1850647" y="572018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2A3AC6-B5F8-419D-9A24-50D2863E17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7875" y="1550248"/>
            <a:ext cx="1765483" cy="32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9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12 Rectángulo"/>
              <p:cNvSpPr/>
              <p:nvPr/>
            </p:nvSpPr>
            <p:spPr>
              <a:xfrm>
                <a:off x="145314" y="846114"/>
                <a:ext cx="8747165" cy="563231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rtl="0"/>
                <a:r>
                  <a:rPr lang="es-MX" sz="2000" dirty="0"/>
                  <a:t>Una estación meteorológica necesita un programa que convierta temperaturas medidas en grados Celsius (°C) a otras dos escalas: grados Fahrenheit (°F) y Kelvin (K). Al iniciar, el programa muestra un título y luego un menú con tres opciones:</a:t>
                </a:r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r>
                  <a:rPr lang="es-MX" sz="2000" dirty="0"/>
                  <a:t>El usuario elige una opción y el programa hace lo siguiente: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1</a:t>
                </a:r>
                <a:r>
                  <a:rPr lang="es-MX" sz="2000" dirty="0"/>
                  <a:t>: lee una temperatura en °C, la convierte a °F con la fórmula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=(</m:t>
                    </m:r>
                    <m:f>
                      <m:fPr>
                        <m:type m:val="lin"/>
                        <m:ctrlPr>
                          <a:rPr lang="es-MX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s-MX" sz="20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s-MX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+ 32</m:t>
                    </m:r>
                  </m:oMath>
                </a14:m>
                <a:r>
                  <a:rPr lang="es-MX" sz="2000" dirty="0"/>
                  <a:t> y muestra el resultado con dos decimales.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2</a:t>
                </a:r>
                <a:r>
                  <a:rPr lang="es-MX" sz="2000" dirty="0"/>
                  <a:t>: lee una temperatura en °C, la convierte a Kelvin con la fórmula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+ 273.15</m:t>
                    </m:r>
                  </m:oMath>
                </a14:m>
                <a:r>
                  <a:rPr lang="es-MX" sz="2000" dirty="0"/>
                  <a:t> y muestra el resultado con dos decimales.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3</a:t>
                </a:r>
                <a:r>
                  <a:rPr lang="es-MX" sz="2000" dirty="0"/>
                  <a:t>: muestra un mensaje de despedida y termina el programa. Cualquier otro número: muestra el mensaje </a:t>
                </a:r>
                <a:r>
                  <a:rPr lang="es-MX" dirty="0">
                    <a:latin typeface="Consolas" panose="020B0609020204030204" pitchFamily="49" charset="0"/>
                  </a:rPr>
                  <a:t>ERROR: Opcion no valida</a:t>
                </a:r>
                <a:r>
                  <a:rPr lang="es-MX" sz="2000" dirty="0"/>
                  <a:t> y vuelve a mostrar el menú.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endParaRPr lang="es-MX" sz="2000" dirty="0"/>
              </a:p>
              <a:p>
                <a:pPr rtl="0"/>
                <a:r>
                  <a:rPr lang="es-MX" sz="2000" dirty="0"/>
                  <a:t>Después de cada conversión, o de un error, el menú se muestra otra vez. El programa se repite hasta que el usuario elige la opción 3.</a:t>
                </a:r>
              </a:p>
            </p:txBody>
          </p:sp>
        </mc:Choice>
        <mc:Fallback>
          <p:sp>
            <p:nvSpPr>
              <p:cNvPr id="13" name="12 Rectángulo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314" y="846114"/>
                <a:ext cx="8747165" cy="5632311"/>
              </a:xfrm>
              <a:prstGeom prst="rect">
                <a:avLst/>
              </a:prstGeom>
              <a:blipFill>
                <a:blip r:embed="rId2"/>
                <a:stretch>
                  <a:fillRect l="-767" t="-649" b="-9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3C6B00E3-613F-4772-987F-9857F1E31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631759"/>
              </p:ext>
            </p:extLst>
          </p:nvPr>
        </p:nvGraphicFramePr>
        <p:xfrm>
          <a:off x="251520" y="1988840"/>
          <a:ext cx="8280919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80919">
                  <a:extLst>
                    <a:ext uri="{9D8B030D-6E8A-4147-A177-3AD203B41FA5}">
                      <a16:colId xmlns:a16="http://schemas.microsoft.com/office/drawing/2014/main" val="4017458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1. °C a °F</a:t>
                      </a:r>
                    </a:p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2. °C a K</a:t>
                      </a:r>
                    </a:p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3. Salir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098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2174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45314" y="881382"/>
            <a:ext cx="8747165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Requisito:</a:t>
            </a:r>
            <a:r>
              <a:rPr lang="es-MX" sz="2000" dirty="0"/>
              <a:t> el programa debe estar organizado con funciones: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Una función que muestre el menú.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Una función por cada conversión, que reciba la temperatura en °C como parámetro y </a:t>
            </a:r>
            <a:r>
              <a:rPr lang="es-MX" sz="2000" b="1" dirty="0"/>
              <a:t>devuelva</a:t>
            </a:r>
            <a:r>
              <a:rPr lang="es-MX" sz="2000" dirty="0"/>
              <a:t> el valor convertido. Las funciones de conversión no leen ni imprimen nada: eso lo hace el programa principal.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Pruebe cada función de conversión por separado antes de integrarla al programa principal.</a:t>
            </a:r>
          </a:p>
        </p:txBody>
      </p:sp>
    </p:spTree>
    <p:extLst>
      <p:ext uri="{BB962C8B-B14F-4D97-AF65-F5344CB8AC3E}">
        <p14:creationId xmlns:p14="http://schemas.microsoft.com/office/powerpoint/2010/main" val="3448845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80728"/>
            <a:ext cx="8608556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200" b="1" dirty="0"/>
              <a:t>Análisis y diseño de la solución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Entradas:</a:t>
            </a:r>
            <a:r>
              <a:rPr lang="es-MX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opción del menú (entero)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temperatura en °C (real).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Salidas</a:t>
            </a:r>
            <a:r>
              <a:rPr lang="es-MX" sz="20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temperatura convertida con dos decimales.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Mensaje de error o de despedida.</a:t>
            </a:r>
          </a:p>
        </p:txBody>
      </p:sp>
    </p:spTree>
    <p:extLst>
      <p:ext uri="{BB962C8B-B14F-4D97-AF65-F5344CB8AC3E}">
        <p14:creationId xmlns:p14="http://schemas.microsoft.com/office/powerpoint/2010/main" val="1545986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80728"/>
            <a:ext cx="8608556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200" b="1" dirty="0"/>
              <a:t>Análisis y diseño de la solución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Casos de prueba:</a:t>
            </a:r>
            <a:r>
              <a:rPr lang="es-MX" sz="2000" dirty="0"/>
              <a:t> 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ECD361F-6C47-4684-AB90-E6D161B7B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5713375"/>
              </p:ext>
            </p:extLst>
          </p:nvPr>
        </p:nvGraphicFramePr>
        <p:xfrm>
          <a:off x="539553" y="2178378"/>
          <a:ext cx="8208911" cy="4274958"/>
        </p:xfrm>
        <a:graphic>
          <a:graphicData uri="http://schemas.openxmlformats.org/drawingml/2006/table">
            <a:tbl>
              <a:tblPr/>
              <a:tblGrid>
                <a:gridCol w="1131547">
                  <a:extLst>
                    <a:ext uri="{9D8B030D-6E8A-4147-A177-3AD203B41FA5}">
                      <a16:colId xmlns:a16="http://schemas.microsoft.com/office/drawing/2014/main" val="752920898"/>
                    </a:ext>
                  </a:extLst>
                </a:gridCol>
                <a:gridCol w="1434202">
                  <a:extLst>
                    <a:ext uri="{9D8B030D-6E8A-4147-A177-3AD203B41FA5}">
                      <a16:colId xmlns:a16="http://schemas.microsoft.com/office/drawing/2014/main" val="4144810760"/>
                    </a:ext>
                  </a:extLst>
                </a:gridCol>
                <a:gridCol w="2906859">
                  <a:extLst>
                    <a:ext uri="{9D8B030D-6E8A-4147-A177-3AD203B41FA5}">
                      <a16:colId xmlns:a16="http://schemas.microsoft.com/office/drawing/2014/main" val="1786480966"/>
                    </a:ext>
                  </a:extLst>
                </a:gridCol>
                <a:gridCol w="2736303">
                  <a:extLst>
                    <a:ext uri="{9D8B030D-6E8A-4147-A177-3AD203B41FA5}">
                      <a16:colId xmlns:a16="http://schemas.microsoft.com/office/drawing/2014/main" val="4183927125"/>
                    </a:ext>
                  </a:extLst>
                </a:gridCol>
              </a:tblGrid>
              <a:tr h="241876">
                <a:tc>
                  <a:txBody>
                    <a:bodyPr/>
                    <a:lstStyle/>
                    <a:p>
                      <a:r>
                        <a:rPr lang="es-CO" sz="1800" b="1"/>
                        <a:t>Opción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/>
                        <a:t>Entrada (°C)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/>
                        <a:t>Salida esperada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Tipo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693767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100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100.0°C = 212.00°F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(punto de ebullición)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2787707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0.0°C = 32.00°F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(punto de congelación)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9106998"/>
                  </a:ext>
                </a:extLst>
              </a:tr>
              <a:tr h="522203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37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37.0°C = 98.60°F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(temperatura corporal)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97541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-40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-40.0°C = -40.00°F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Especial (las dos escalas coinciden)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6648207"/>
                  </a:ext>
                </a:extLst>
              </a:tr>
              <a:tr h="241876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25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25.0°C = 298.15K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/>
                        <a:t>Típico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6099226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-273.15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-273.15°C = 0.00K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Límite (cero absoluto)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7496956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—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ERROR: Opcion no valida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Especial (opción inexistente)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8190633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—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Gracias por usarnos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/>
                        <a:t>Salida del programa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8060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955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8856984" cy="801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Diagrama de flujo del programa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AE8188-2615-4C27-A068-F785CAEA77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776" y="1196752"/>
            <a:ext cx="8604448" cy="49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628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812895"/>
          </a:xfrm>
        </p:spPr>
        <p:txBody>
          <a:bodyPr>
            <a:normAutofit/>
          </a:bodyPr>
          <a:lstStyle/>
          <a:p>
            <a:r>
              <a:rPr lang="en-US" sz="40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1520" y="1088740"/>
            <a:ext cx="8424936" cy="5148572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2"/>
              </a:rPr>
              <a:t>https://ellibrodepython.com/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3"/>
              </a:rPr>
              <a:t>https://www.w3resource.com/index.php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4"/>
              </a:rPr>
              <a:t>https://realpython.com/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5"/>
              </a:rPr>
              <a:t>https://curriculumresources.edu.gh/wp-content/uploads/2025/01/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6"/>
              </a:rPr>
              <a:t>https://python-course.eu/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7"/>
              </a:rPr>
              <a:t>https://realpython.com/cheatsheets/python/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8"/>
              </a:rPr>
              <a:t>https://realpython.com/defining-your-own-python-function/</a:t>
            </a:r>
            <a:r>
              <a:rPr lang="es-CO" sz="2000" dirty="0"/>
              <a:t>   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9"/>
              </a:rPr>
              <a:t>https://realpython.com/python-built-in-functions/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0"/>
              </a:rPr>
              <a:t>https://realpython.com/ref/best-practices/functions/</a:t>
            </a:r>
            <a:r>
              <a:rPr lang="es-CO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1"/>
              </a:rPr>
              <a:t>https://makecode.microbit.org/courses/csintro</a:t>
            </a:r>
            <a:r>
              <a:rPr lang="es-CO" sz="2000" dirty="0"/>
              <a:t>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2"/>
              </a:rPr>
              <a:t>https://makecode.microbit.org/courses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3"/>
              </a:rPr>
              <a:t>https://realpython.com/python-while-loop/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4"/>
              </a:rPr>
              <a:t>https://realpython.com/ref/keywords/while/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5"/>
              </a:rPr>
              <a:t>https://cs.stanford.edu/people/nick/py/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231648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180617"/>
            <a:ext cx="8191822" cy="728103"/>
          </a:xfrm>
        </p:spPr>
        <p:txBody>
          <a:bodyPr/>
          <a:lstStyle/>
          <a:p>
            <a:r>
              <a:rPr lang="es-CO" dirty="0"/>
              <a:t>Eso es todo amigos</a:t>
            </a:r>
            <a:endParaRPr 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7F35EEF4-F126-467F-A5BB-259AA6499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912200"/>
            <a:ext cx="4113633" cy="5868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7 Rectángulo">
            <a:extLst>
              <a:ext uri="{FF2B5EF4-FFF2-40B4-BE49-F238E27FC236}">
                <a16:creationId xmlns:a16="http://schemas.microsoft.com/office/drawing/2014/main" id="{27C7AA4C-274E-4F17-B614-41C209AA98D3}"/>
              </a:ext>
            </a:extLst>
          </p:cNvPr>
          <p:cNvSpPr/>
          <p:nvPr/>
        </p:nvSpPr>
        <p:spPr>
          <a:xfrm>
            <a:off x="101021" y="6519446"/>
            <a:ext cx="367889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1100" dirty="0">
                <a:hlinkClick r:id="rId3"/>
              </a:rPr>
              <a:t>https://phdcomics.com/comics/archive.php?comicid=1431</a:t>
            </a:r>
            <a:r>
              <a:rPr lang="es-CO" sz="1100" dirty="0"/>
              <a:t> </a:t>
            </a:r>
          </a:p>
        </p:txBody>
      </p:sp>
      <p:pic>
        <p:nvPicPr>
          <p:cNvPr id="2050" name="Picture 2" descr="Ouch Images – Browse 81,244 Stock Photos, Vectors, and Video | Adobe Stock">
            <a:extLst>
              <a:ext uri="{FF2B5EF4-FFF2-40B4-BE49-F238E27FC236}">
                <a16:creationId xmlns:a16="http://schemas.microsoft.com/office/drawing/2014/main" id="{190AEE93-FCB4-45D0-A740-34697C5E7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451" y="2496793"/>
            <a:ext cx="3563955" cy="2434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13811</TotalTime>
  <Words>1516</Words>
  <Application>Microsoft Office PowerPoint</Application>
  <PresentationFormat>Presentación en pantalla (4:3)</PresentationFormat>
  <Paragraphs>214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Century Gothic</vt:lpstr>
      <vt:lpstr>Consolas</vt:lpstr>
      <vt:lpstr>Courier New</vt:lpstr>
      <vt:lpstr>Office Theme</vt:lpstr>
      <vt:lpstr>Lógica y Representación 1</vt:lpstr>
      <vt:lpstr>Método de Polya - Resumen</vt:lpstr>
      <vt:lpstr>Entrada, procesamiento y salida</vt:lpstr>
      <vt:lpstr>Introducción a las funciones</vt:lpstr>
      <vt:lpstr>Función</vt:lpstr>
      <vt:lpstr>Funciones en Python - Definición</vt:lpstr>
      <vt:lpstr>Funciones en Python - Invocación</vt:lpstr>
      <vt:lpstr>Probar una función</vt:lpstr>
      <vt:lpstr>Pruebas con assert</vt:lpstr>
      <vt:lpstr>Comparación</vt:lpstr>
      <vt:lpstr>Ejemplo – Conversión de temperatura</vt:lpstr>
      <vt:lpstr>Ejemplo – Conversión de temperatura</vt:lpstr>
      <vt:lpstr>Ejemplo – Conversión de temperatura</vt:lpstr>
      <vt:lpstr>Ejemplo – Conversión de temperatura</vt:lpstr>
      <vt:lpstr>Presentación de PowerPoint</vt:lpstr>
      <vt:lpstr>Referencias</vt:lpstr>
      <vt:lpstr>Eso es todo amigos</vt:lpstr>
    </vt:vector>
  </TitlesOfParts>
  <Company>Universidad de Antioquia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curso</dc:title>
  <dc:creator>Apoyo Administrativo Ingeniería</dc:creator>
  <cp:lastModifiedBy>HENRY ALBERTO ARCILA RAMIREZ</cp:lastModifiedBy>
  <cp:revision>260</cp:revision>
  <dcterms:created xsi:type="dcterms:W3CDTF">2015-03-12T20:27:20Z</dcterms:created>
  <dcterms:modified xsi:type="dcterms:W3CDTF">2026-10-10T02:34:08Z</dcterms:modified>
</cp:coreProperties>
</file>