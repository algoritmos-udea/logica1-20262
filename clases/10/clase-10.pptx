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22"/>
  </p:notesMasterIdLst>
  <p:sldIdLst>
    <p:sldId id="281" r:id="rId2"/>
    <p:sldId id="309" r:id="rId3"/>
    <p:sldId id="368" r:id="rId4"/>
    <p:sldId id="594" r:id="rId5"/>
    <p:sldId id="536" r:id="rId6"/>
    <p:sldId id="578" r:id="rId7"/>
    <p:sldId id="579" r:id="rId8"/>
    <p:sldId id="587" r:id="rId9"/>
    <p:sldId id="580" r:id="rId10"/>
    <p:sldId id="588" r:id="rId11"/>
    <p:sldId id="583" r:id="rId12"/>
    <p:sldId id="585" r:id="rId13"/>
    <p:sldId id="586" r:id="rId14"/>
    <p:sldId id="590" r:id="rId15"/>
    <p:sldId id="589" r:id="rId16"/>
    <p:sldId id="591" r:id="rId17"/>
    <p:sldId id="592" r:id="rId18"/>
    <p:sldId id="593" r:id="rId19"/>
    <p:sldId id="310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9" autoAdjust="0"/>
    <p:restoredTop sz="94291" autoAdjust="0"/>
  </p:normalViewPr>
  <p:slideViewPr>
    <p:cSldViewPr>
      <p:cViewPr varScale="1">
        <p:scale>
          <a:sx n="69" d="100"/>
          <a:sy n="69" d="100"/>
        </p:scale>
        <p:origin x="136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617D2-EBA5-43D3-A846-ABD7019008A4}" type="doc">
      <dgm:prSet loTypeId="urn:microsoft.com/office/officeart/2005/8/layout/chevron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0F6E169A-367E-48F6-8A0F-9538EF72E803}">
      <dgm:prSet phldrT="[Texto]" custT="1"/>
      <dgm:spPr/>
      <dgm:t>
        <a:bodyPr/>
        <a:lstStyle/>
        <a:p>
          <a:r>
            <a:rPr lang="es-CO" sz="1600" dirty="0">
              <a:latin typeface="Century Gothic" panose="020B0502020202020204" pitchFamily="34" charset="0"/>
            </a:rPr>
            <a:t>1</a:t>
          </a:r>
          <a:endParaRPr lang="es-CO" sz="1200" dirty="0">
            <a:latin typeface="Century Gothic" panose="020B0502020202020204" pitchFamily="34" charset="0"/>
          </a:endParaRPr>
        </a:p>
      </dgm:t>
    </dgm:pt>
    <dgm:pt modelId="{214810CF-0E9F-420E-9F44-94CA29248781}" type="parTrans" cxnId="{1D7BCF56-E33F-4A42-8129-E524DE8CA73C}">
      <dgm:prSet/>
      <dgm:spPr/>
      <dgm:t>
        <a:bodyPr/>
        <a:lstStyle/>
        <a:p>
          <a:endParaRPr lang="es-CO" sz="1600"/>
        </a:p>
      </dgm:t>
    </dgm:pt>
    <dgm:pt modelId="{9E3845BF-94AB-444E-AB21-A0DA1B4B1270}" type="sibTrans" cxnId="{1D7BCF56-E33F-4A42-8129-E524DE8CA73C}">
      <dgm:prSet/>
      <dgm:spPr/>
      <dgm:t>
        <a:bodyPr/>
        <a:lstStyle/>
        <a:p>
          <a:endParaRPr lang="es-CO" sz="1600"/>
        </a:p>
      </dgm:t>
    </dgm:pt>
    <dgm:pt modelId="{676AA4D5-22F4-47B3-B0E8-95C3D9C99480}">
      <dgm:prSet phldrT="[Texto]" custT="1"/>
      <dgm:spPr/>
      <dgm:t>
        <a:bodyPr/>
        <a:lstStyle/>
        <a:p>
          <a:pPr>
            <a:buNone/>
          </a:pPr>
          <a:r>
            <a:rPr lang="es-CO" sz="2000" dirty="0">
              <a:latin typeface="Century Gothic" panose="020B0502020202020204" pitchFamily="34" charset="0"/>
            </a:rPr>
            <a:t>Entender el problema</a:t>
          </a:r>
        </a:p>
      </dgm:t>
    </dgm:pt>
    <dgm:pt modelId="{65AE6963-95E3-417E-9DBC-C327427667A9}" type="parTrans" cxnId="{E402CAF0-5AAA-416F-BAF4-3854EF253EE5}">
      <dgm:prSet/>
      <dgm:spPr/>
      <dgm:t>
        <a:bodyPr/>
        <a:lstStyle/>
        <a:p>
          <a:endParaRPr lang="es-CO" sz="1600"/>
        </a:p>
      </dgm:t>
    </dgm:pt>
    <dgm:pt modelId="{BBDCCB86-71C3-422E-959C-8FA92A9124DF}" type="sibTrans" cxnId="{E402CAF0-5AAA-416F-BAF4-3854EF253EE5}">
      <dgm:prSet/>
      <dgm:spPr/>
      <dgm:t>
        <a:bodyPr/>
        <a:lstStyle/>
        <a:p>
          <a:endParaRPr lang="es-CO" sz="1600"/>
        </a:p>
      </dgm:t>
    </dgm:pt>
    <dgm:pt modelId="{9C3C57BE-AD01-47F6-9592-98EF2608A6EF}">
      <dgm:prSet phldrT="[Texto]" custT="1"/>
      <dgm:spPr/>
      <dgm:t>
        <a:bodyPr/>
        <a:lstStyle/>
        <a:p>
          <a:r>
            <a:rPr lang="es-CO" sz="1800" dirty="0">
              <a:latin typeface="Century Gothic" panose="020B0502020202020204" pitchFamily="34" charset="0"/>
            </a:rPr>
            <a:t>2</a:t>
          </a:r>
          <a:endParaRPr lang="es-CO" sz="2400" dirty="0">
            <a:latin typeface="Century Gothic" panose="020B0502020202020204" pitchFamily="34" charset="0"/>
          </a:endParaRPr>
        </a:p>
      </dgm:t>
    </dgm:pt>
    <dgm:pt modelId="{33D25418-EA10-4491-90C6-5683712BE055}" type="parTrans" cxnId="{FBB864E0-2027-4A45-B5D7-110F765EFD96}">
      <dgm:prSet/>
      <dgm:spPr/>
      <dgm:t>
        <a:bodyPr/>
        <a:lstStyle/>
        <a:p>
          <a:endParaRPr lang="es-CO" sz="1600"/>
        </a:p>
      </dgm:t>
    </dgm:pt>
    <dgm:pt modelId="{0019765E-5748-4647-85C8-6E8054C68086}" type="sibTrans" cxnId="{FBB864E0-2027-4A45-B5D7-110F765EFD96}">
      <dgm:prSet/>
      <dgm:spPr/>
      <dgm:t>
        <a:bodyPr/>
        <a:lstStyle/>
        <a:p>
          <a:endParaRPr lang="es-CO" sz="1600"/>
        </a:p>
      </dgm:t>
    </dgm:pt>
    <dgm:pt modelId="{C59A2A35-6BBC-4F81-BD74-40520AACD6AB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gm:t>
    </dgm:pt>
    <dgm:pt modelId="{EDE363E4-7EA3-41D2-8DB9-A0871D9DA325}" type="parTrans" cxnId="{3B1F784D-95DD-4194-A52D-9A5B55BC5BD7}">
      <dgm:prSet/>
      <dgm:spPr/>
      <dgm:t>
        <a:bodyPr/>
        <a:lstStyle/>
        <a:p>
          <a:endParaRPr lang="es-CO" sz="1600"/>
        </a:p>
      </dgm:t>
    </dgm:pt>
    <dgm:pt modelId="{C31DDF04-103F-4600-9F78-0BDCC0BF907B}" type="sibTrans" cxnId="{3B1F784D-95DD-4194-A52D-9A5B55BC5BD7}">
      <dgm:prSet/>
      <dgm:spPr/>
      <dgm:t>
        <a:bodyPr/>
        <a:lstStyle/>
        <a:p>
          <a:endParaRPr lang="es-CO" sz="1600"/>
        </a:p>
      </dgm:t>
    </dgm:pt>
    <dgm:pt modelId="{9AB424BA-7E8B-4D0B-8A3C-3748A54646B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3</a:t>
          </a:r>
        </a:p>
      </dgm:t>
    </dgm:pt>
    <dgm:pt modelId="{E543BFA9-86DB-499C-8E83-B32D00A97FD8}" type="parTrans" cxnId="{9DB9632F-E2AC-48EE-840F-D6A88C411EEA}">
      <dgm:prSet/>
      <dgm:spPr/>
      <dgm:t>
        <a:bodyPr/>
        <a:lstStyle/>
        <a:p>
          <a:endParaRPr lang="es-CO" sz="1600"/>
        </a:p>
      </dgm:t>
    </dgm:pt>
    <dgm:pt modelId="{DDCD6E76-3560-4CAA-96A8-94ACFF130E9B}" type="sibTrans" cxnId="{9DB9632F-E2AC-48EE-840F-D6A88C411EEA}">
      <dgm:prSet/>
      <dgm:spPr/>
      <dgm:t>
        <a:bodyPr/>
        <a:lstStyle/>
        <a:p>
          <a:endParaRPr lang="es-CO" sz="1600"/>
        </a:p>
      </dgm:t>
    </dgm:pt>
    <dgm:pt modelId="{BEC04423-D6B7-4792-AEB9-C3D7F81A98AC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gm:t>
    </dgm:pt>
    <dgm:pt modelId="{F135D138-85FF-4087-B751-5F159F842289}" type="parTrans" cxnId="{5B0A26F8-5ACB-43D3-A171-6C62CAD4E7BE}">
      <dgm:prSet/>
      <dgm:spPr/>
      <dgm:t>
        <a:bodyPr/>
        <a:lstStyle/>
        <a:p>
          <a:endParaRPr lang="es-CO" sz="1600"/>
        </a:p>
      </dgm:t>
    </dgm:pt>
    <dgm:pt modelId="{AB02689B-5109-4C4C-A9DD-EF332B395FC7}" type="sibTrans" cxnId="{5B0A26F8-5ACB-43D3-A171-6C62CAD4E7BE}">
      <dgm:prSet/>
      <dgm:spPr/>
      <dgm:t>
        <a:bodyPr/>
        <a:lstStyle/>
        <a:p>
          <a:endParaRPr lang="es-CO" sz="1600"/>
        </a:p>
      </dgm:t>
    </dgm:pt>
    <dgm:pt modelId="{6F3FB39C-3E1D-4D2D-849B-EA0299C466C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4</a:t>
          </a:r>
        </a:p>
      </dgm:t>
    </dgm:pt>
    <dgm:pt modelId="{F344B892-AD67-4863-B1DB-FFEAC6AE3C6A}" type="parTrans" cxnId="{F85ACEEE-F8C0-443C-BAAF-021763D37073}">
      <dgm:prSet/>
      <dgm:spPr/>
      <dgm:t>
        <a:bodyPr/>
        <a:lstStyle/>
        <a:p>
          <a:endParaRPr lang="es-CO" sz="1600"/>
        </a:p>
      </dgm:t>
    </dgm:pt>
    <dgm:pt modelId="{2E86F725-3FD8-4480-8AF6-6A89E142D77A}" type="sibTrans" cxnId="{F85ACEEE-F8C0-443C-BAAF-021763D37073}">
      <dgm:prSet/>
      <dgm:spPr/>
      <dgm:t>
        <a:bodyPr/>
        <a:lstStyle/>
        <a:p>
          <a:endParaRPr lang="es-CO" sz="1600"/>
        </a:p>
      </dgm:t>
    </dgm:pt>
    <dgm:pt modelId="{DCCFDBD5-3BD5-4368-8E74-2BE430318114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gm:t>
    </dgm:pt>
    <dgm:pt modelId="{E9C3A1B1-6767-4D4A-B32D-4EDACFE1C0F4}" type="parTrans" cxnId="{95C514DE-3460-4712-B0CD-D954FE76DB64}">
      <dgm:prSet/>
      <dgm:spPr/>
      <dgm:t>
        <a:bodyPr/>
        <a:lstStyle/>
        <a:p>
          <a:endParaRPr lang="es-CO" sz="1600"/>
        </a:p>
      </dgm:t>
    </dgm:pt>
    <dgm:pt modelId="{159A55EA-C5B7-4F9E-8222-A763BEB4D99B}" type="sibTrans" cxnId="{95C514DE-3460-4712-B0CD-D954FE76DB64}">
      <dgm:prSet/>
      <dgm:spPr/>
      <dgm:t>
        <a:bodyPr/>
        <a:lstStyle/>
        <a:p>
          <a:endParaRPr lang="es-CO" sz="1600"/>
        </a:p>
      </dgm:t>
    </dgm:pt>
    <dgm:pt modelId="{C30EB98C-BF8E-47B5-A59F-A3E708D5551C}" type="pres">
      <dgm:prSet presAssocID="{234617D2-EBA5-43D3-A846-ABD7019008A4}" presName="linearFlow" presStyleCnt="0">
        <dgm:presLayoutVars>
          <dgm:dir/>
          <dgm:animLvl val="lvl"/>
          <dgm:resizeHandles val="exact"/>
        </dgm:presLayoutVars>
      </dgm:prSet>
      <dgm:spPr/>
    </dgm:pt>
    <dgm:pt modelId="{B5976899-2FC4-4A3E-891A-B74C8C23C8B5}" type="pres">
      <dgm:prSet presAssocID="{0F6E169A-367E-48F6-8A0F-9538EF72E803}" presName="composite" presStyleCnt="0"/>
      <dgm:spPr/>
    </dgm:pt>
    <dgm:pt modelId="{416A876F-5FA3-42F9-A923-4E2C334EF9BC}" type="pres">
      <dgm:prSet presAssocID="{0F6E169A-367E-48F6-8A0F-9538EF72E803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44A86B1-48E8-448F-9C6D-71580BFB5F83}" type="pres">
      <dgm:prSet presAssocID="{0F6E169A-367E-48F6-8A0F-9538EF72E803}" presName="descendantText" presStyleLbl="alignAcc1" presStyleIdx="0" presStyleCnt="4">
        <dgm:presLayoutVars>
          <dgm:bulletEnabled val="1"/>
        </dgm:presLayoutVars>
      </dgm:prSet>
      <dgm:spPr/>
    </dgm:pt>
    <dgm:pt modelId="{19B3EDEB-1CF9-4423-9037-F0221A01EBBA}" type="pres">
      <dgm:prSet presAssocID="{9E3845BF-94AB-444E-AB21-A0DA1B4B1270}" presName="sp" presStyleCnt="0"/>
      <dgm:spPr/>
    </dgm:pt>
    <dgm:pt modelId="{5D167E8C-136F-440C-8D10-651E4D964A72}" type="pres">
      <dgm:prSet presAssocID="{9C3C57BE-AD01-47F6-9592-98EF2608A6EF}" presName="composite" presStyleCnt="0"/>
      <dgm:spPr/>
    </dgm:pt>
    <dgm:pt modelId="{A651636C-CE47-4575-AA1E-AB00D80E941D}" type="pres">
      <dgm:prSet presAssocID="{9C3C57BE-AD01-47F6-9592-98EF2608A6EF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79B0DE70-0A03-4A6F-B31F-EC81EB5DF7EA}" type="pres">
      <dgm:prSet presAssocID="{9C3C57BE-AD01-47F6-9592-98EF2608A6EF}" presName="descendantText" presStyleLbl="alignAcc1" presStyleIdx="1" presStyleCnt="4">
        <dgm:presLayoutVars>
          <dgm:bulletEnabled val="1"/>
        </dgm:presLayoutVars>
      </dgm:prSet>
      <dgm:spPr/>
    </dgm:pt>
    <dgm:pt modelId="{5C2D5B77-4FD3-4BFC-B7C7-B69CFA47B819}" type="pres">
      <dgm:prSet presAssocID="{0019765E-5748-4647-85C8-6E8054C68086}" presName="sp" presStyleCnt="0"/>
      <dgm:spPr/>
    </dgm:pt>
    <dgm:pt modelId="{FD9C2F86-B450-49A0-8639-065AE676C080}" type="pres">
      <dgm:prSet presAssocID="{9AB424BA-7E8B-4D0B-8A3C-3748A54646B8}" presName="composite" presStyleCnt="0"/>
      <dgm:spPr/>
    </dgm:pt>
    <dgm:pt modelId="{2AA7B02C-023E-4537-897E-B54A048C8983}" type="pres">
      <dgm:prSet presAssocID="{9AB424BA-7E8B-4D0B-8A3C-3748A54646B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5D3D31F-A831-4E62-ADE9-6ACE81331CDC}" type="pres">
      <dgm:prSet presAssocID="{9AB424BA-7E8B-4D0B-8A3C-3748A54646B8}" presName="descendantText" presStyleLbl="alignAcc1" presStyleIdx="2" presStyleCnt="4">
        <dgm:presLayoutVars>
          <dgm:bulletEnabled val="1"/>
        </dgm:presLayoutVars>
      </dgm:prSet>
      <dgm:spPr/>
    </dgm:pt>
    <dgm:pt modelId="{365F76A6-EF4F-41D1-B81D-BC3D7851A081}" type="pres">
      <dgm:prSet presAssocID="{DDCD6E76-3560-4CAA-96A8-94ACFF130E9B}" presName="sp" presStyleCnt="0"/>
      <dgm:spPr/>
    </dgm:pt>
    <dgm:pt modelId="{4DB00594-09F9-4225-B772-B1D52DAEEAB6}" type="pres">
      <dgm:prSet presAssocID="{6F3FB39C-3E1D-4D2D-849B-EA0299C466C8}" presName="composite" presStyleCnt="0"/>
      <dgm:spPr/>
    </dgm:pt>
    <dgm:pt modelId="{58E45CBE-DE64-4E4E-8AAA-D376465B2BEE}" type="pres">
      <dgm:prSet presAssocID="{6F3FB39C-3E1D-4D2D-849B-EA0299C466C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37D6712-7A35-4663-80F7-1B8FC410AF19}" type="pres">
      <dgm:prSet presAssocID="{6F3FB39C-3E1D-4D2D-849B-EA0299C466C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5A530A-E341-4BA7-8999-21A374D537D3}" type="presOf" srcId="{BEC04423-D6B7-4792-AEB9-C3D7F81A98AC}" destId="{15D3D31F-A831-4E62-ADE9-6ACE81331CDC}" srcOrd="0" destOrd="0" presId="urn:microsoft.com/office/officeart/2005/8/layout/chevron2"/>
    <dgm:cxn modelId="{0F63B510-A033-48E8-A5FD-87C76FF5A9D6}" type="presOf" srcId="{0F6E169A-367E-48F6-8A0F-9538EF72E803}" destId="{416A876F-5FA3-42F9-A923-4E2C334EF9BC}" srcOrd="0" destOrd="0" presId="urn:microsoft.com/office/officeart/2005/8/layout/chevron2"/>
    <dgm:cxn modelId="{09EB6217-24CA-4B61-90D2-9CF7E646FA43}" type="presOf" srcId="{234617D2-EBA5-43D3-A846-ABD7019008A4}" destId="{C30EB98C-BF8E-47B5-A59F-A3E708D5551C}" srcOrd="0" destOrd="0" presId="urn:microsoft.com/office/officeart/2005/8/layout/chevron2"/>
    <dgm:cxn modelId="{9DB9632F-E2AC-48EE-840F-D6A88C411EEA}" srcId="{234617D2-EBA5-43D3-A846-ABD7019008A4}" destId="{9AB424BA-7E8B-4D0B-8A3C-3748A54646B8}" srcOrd="2" destOrd="0" parTransId="{E543BFA9-86DB-499C-8E83-B32D00A97FD8}" sibTransId="{DDCD6E76-3560-4CAA-96A8-94ACFF130E9B}"/>
    <dgm:cxn modelId="{5C56243F-7D54-4FD5-BD45-EEAB6E9334A6}" type="presOf" srcId="{676AA4D5-22F4-47B3-B0E8-95C3D9C99480}" destId="{344A86B1-48E8-448F-9C6D-71580BFB5F83}" srcOrd="0" destOrd="0" presId="urn:microsoft.com/office/officeart/2005/8/layout/chevron2"/>
    <dgm:cxn modelId="{3EF6886C-4FCF-4899-8F48-98F458A380A4}" type="presOf" srcId="{DCCFDBD5-3BD5-4368-8E74-2BE430318114}" destId="{C37D6712-7A35-4663-80F7-1B8FC410AF19}" srcOrd="0" destOrd="0" presId="urn:microsoft.com/office/officeart/2005/8/layout/chevron2"/>
    <dgm:cxn modelId="{3B1F784D-95DD-4194-A52D-9A5B55BC5BD7}" srcId="{9C3C57BE-AD01-47F6-9592-98EF2608A6EF}" destId="{C59A2A35-6BBC-4F81-BD74-40520AACD6AB}" srcOrd="0" destOrd="0" parTransId="{EDE363E4-7EA3-41D2-8DB9-A0871D9DA325}" sibTransId="{C31DDF04-103F-4600-9F78-0BDCC0BF907B}"/>
    <dgm:cxn modelId="{1D7BCF56-E33F-4A42-8129-E524DE8CA73C}" srcId="{234617D2-EBA5-43D3-A846-ABD7019008A4}" destId="{0F6E169A-367E-48F6-8A0F-9538EF72E803}" srcOrd="0" destOrd="0" parTransId="{214810CF-0E9F-420E-9F44-94CA29248781}" sibTransId="{9E3845BF-94AB-444E-AB21-A0DA1B4B1270}"/>
    <dgm:cxn modelId="{E8354084-D26E-4270-954C-74C7F6A06793}" type="presOf" srcId="{C59A2A35-6BBC-4F81-BD74-40520AACD6AB}" destId="{79B0DE70-0A03-4A6F-B31F-EC81EB5DF7EA}" srcOrd="0" destOrd="0" presId="urn:microsoft.com/office/officeart/2005/8/layout/chevron2"/>
    <dgm:cxn modelId="{BF2B6EA9-3F5A-49C1-AF7E-EC921192B9DE}" type="presOf" srcId="{9C3C57BE-AD01-47F6-9592-98EF2608A6EF}" destId="{A651636C-CE47-4575-AA1E-AB00D80E941D}" srcOrd="0" destOrd="0" presId="urn:microsoft.com/office/officeart/2005/8/layout/chevron2"/>
    <dgm:cxn modelId="{95C514DE-3460-4712-B0CD-D954FE76DB64}" srcId="{6F3FB39C-3E1D-4D2D-849B-EA0299C466C8}" destId="{DCCFDBD5-3BD5-4368-8E74-2BE430318114}" srcOrd="0" destOrd="0" parTransId="{E9C3A1B1-6767-4D4A-B32D-4EDACFE1C0F4}" sibTransId="{159A55EA-C5B7-4F9E-8222-A763BEB4D99B}"/>
    <dgm:cxn modelId="{FBB864E0-2027-4A45-B5D7-110F765EFD96}" srcId="{234617D2-EBA5-43D3-A846-ABD7019008A4}" destId="{9C3C57BE-AD01-47F6-9592-98EF2608A6EF}" srcOrd="1" destOrd="0" parTransId="{33D25418-EA10-4491-90C6-5683712BE055}" sibTransId="{0019765E-5748-4647-85C8-6E8054C68086}"/>
    <dgm:cxn modelId="{448B48EB-E488-4909-82B4-2E61877F00AE}" type="presOf" srcId="{6F3FB39C-3E1D-4D2D-849B-EA0299C466C8}" destId="{58E45CBE-DE64-4E4E-8AAA-D376465B2BEE}" srcOrd="0" destOrd="0" presId="urn:microsoft.com/office/officeart/2005/8/layout/chevron2"/>
    <dgm:cxn modelId="{E644B3EB-418D-4B1A-83D6-8DCC10BE06E8}" type="presOf" srcId="{9AB424BA-7E8B-4D0B-8A3C-3748A54646B8}" destId="{2AA7B02C-023E-4537-897E-B54A048C8983}" srcOrd="0" destOrd="0" presId="urn:microsoft.com/office/officeart/2005/8/layout/chevron2"/>
    <dgm:cxn modelId="{F85ACEEE-F8C0-443C-BAAF-021763D37073}" srcId="{234617D2-EBA5-43D3-A846-ABD7019008A4}" destId="{6F3FB39C-3E1D-4D2D-849B-EA0299C466C8}" srcOrd="3" destOrd="0" parTransId="{F344B892-AD67-4863-B1DB-FFEAC6AE3C6A}" sibTransId="{2E86F725-3FD8-4480-8AF6-6A89E142D77A}"/>
    <dgm:cxn modelId="{E402CAF0-5AAA-416F-BAF4-3854EF253EE5}" srcId="{0F6E169A-367E-48F6-8A0F-9538EF72E803}" destId="{676AA4D5-22F4-47B3-B0E8-95C3D9C99480}" srcOrd="0" destOrd="0" parTransId="{65AE6963-95E3-417E-9DBC-C327427667A9}" sibTransId="{BBDCCB86-71C3-422E-959C-8FA92A9124DF}"/>
    <dgm:cxn modelId="{5B0A26F8-5ACB-43D3-A171-6C62CAD4E7BE}" srcId="{9AB424BA-7E8B-4D0B-8A3C-3748A54646B8}" destId="{BEC04423-D6B7-4792-AEB9-C3D7F81A98AC}" srcOrd="0" destOrd="0" parTransId="{F135D138-85FF-4087-B751-5F159F842289}" sibTransId="{AB02689B-5109-4C4C-A9DD-EF332B395FC7}"/>
    <dgm:cxn modelId="{AC4A8FF1-0B42-4570-ACB4-F62AD10AC7E7}" type="presParOf" srcId="{C30EB98C-BF8E-47B5-A59F-A3E708D5551C}" destId="{B5976899-2FC4-4A3E-891A-B74C8C23C8B5}" srcOrd="0" destOrd="0" presId="urn:microsoft.com/office/officeart/2005/8/layout/chevron2"/>
    <dgm:cxn modelId="{78437963-1AD6-4AA2-99FF-D3C136E6C1B9}" type="presParOf" srcId="{B5976899-2FC4-4A3E-891A-B74C8C23C8B5}" destId="{416A876F-5FA3-42F9-A923-4E2C334EF9BC}" srcOrd="0" destOrd="0" presId="urn:microsoft.com/office/officeart/2005/8/layout/chevron2"/>
    <dgm:cxn modelId="{E5BB8A76-3CEA-42DE-8EE6-7959F74B0BB9}" type="presParOf" srcId="{B5976899-2FC4-4A3E-891A-B74C8C23C8B5}" destId="{344A86B1-48E8-448F-9C6D-71580BFB5F83}" srcOrd="1" destOrd="0" presId="urn:microsoft.com/office/officeart/2005/8/layout/chevron2"/>
    <dgm:cxn modelId="{1409A561-56BE-41EC-823E-CEEC12A8CF50}" type="presParOf" srcId="{C30EB98C-BF8E-47B5-A59F-A3E708D5551C}" destId="{19B3EDEB-1CF9-4423-9037-F0221A01EBBA}" srcOrd="1" destOrd="0" presId="urn:microsoft.com/office/officeart/2005/8/layout/chevron2"/>
    <dgm:cxn modelId="{69FAE29B-8826-413D-A90D-E3D1914BB7C5}" type="presParOf" srcId="{C30EB98C-BF8E-47B5-A59F-A3E708D5551C}" destId="{5D167E8C-136F-440C-8D10-651E4D964A72}" srcOrd="2" destOrd="0" presId="urn:microsoft.com/office/officeart/2005/8/layout/chevron2"/>
    <dgm:cxn modelId="{26C5ECD3-BE74-4234-955C-82B823BF9F9B}" type="presParOf" srcId="{5D167E8C-136F-440C-8D10-651E4D964A72}" destId="{A651636C-CE47-4575-AA1E-AB00D80E941D}" srcOrd="0" destOrd="0" presId="urn:microsoft.com/office/officeart/2005/8/layout/chevron2"/>
    <dgm:cxn modelId="{BFF53C8A-F466-46C1-9066-7E1EB74CF072}" type="presParOf" srcId="{5D167E8C-136F-440C-8D10-651E4D964A72}" destId="{79B0DE70-0A03-4A6F-B31F-EC81EB5DF7EA}" srcOrd="1" destOrd="0" presId="urn:microsoft.com/office/officeart/2005/8/layout/chevron2"/>
    <dgm:cxn modelId="{530A7BC0-79AB-4546-A568-2187FF19F65D}" type="presParOf" srcId="{C30EB98C-BF8E-47B5-A59F-A3E708D5551C}" destId="{5C2D5B77-4FD3-4BFC-B7C7-B69CFA47B819}" srcOrd="3" destOrd="0" presId="urn:microsoft.com/office/officeart/2005/8/layout/chevron2"/>
    <dgm:cxn modelId="{BE3F6BE8-AEFA-4235-B54E-61907BC9372B}" type="presParOf" srcId="{C30EB98C-BF8E-47B5-A59F-A3E708D5551C}" destId="{FD9C2F86-B450-49A0-8639-065AE676C080}" srcOrd="4" destOrd="0" presId="urn:microsoft.com/office/officeart/2005/8/layout/chevron2"/>
    <dgm:cxn modelId="{2E20AF7C-4B60-47FB-B029-F81F1CE8FCB7}" type="presParOf" srcId="{FD9C2F86-B450-49A0-8639-065AE676C080}" destId="{2AA7B02C-023E-4537-897E-B54A048C8983}" srcOrd="0" destOrd="0" presId="urn:microsoft.com/office/officeart/2005/8/layout/chevron2"/>
    <dgm:cxn modelId="{0573D7AB-2C25-487B-B0E2-947295CA4BF1}" type="presParOf" srcId="{FD9C2F86-B450-49A0-8639-065AE676C080}" destId="{15D3D31F-A831-4E62-ADE9-6ACE81331CDC}" srcOrd="1" destOrd="0" presId="urn:microsoft.com/office/officeart/2005/8/layout/chevron2"/>
    <dgm:cxn modelId="{49FE4450-ED31-4DD4-95F8-F34D880718F4}" type="presParOf" srcId="{C30EB98C-BF8E-47B5-A59F-A3E708D5551C}" destId="{365F76A6-EF4F-41D1-B81D-BC3D7851A081}" srcOrd="5" destOrd="0" presId="urn:microsoft.com/office/officeart/2005/8/layout/chevron2"/>
    <dgm:cxn modelId="{D297B7B3-984B-4BEF-88CF-E8496B62D532}" type="presParOf" srcId="{C30EB98C-BF8E-47B5-A59F-A3E708D5551C}" destId="{4DB00594-09F9-4225-B772-B1D52DAEEAB6}" srcOrd="6" destOrd="0" presId="urn:microsoft.com/office/officeart/2005/8/layout/chevron2"/>
    <dgm:cxn modelId="{58E3F0DF-7BFD-4BEB-873F-CA02319F1E26}" type="presParOf" srcId="{4DB00594-09F9-4225-B772-B1D52DAEEAB6}" destId="{58E45CBE-DE64-4E4E-8AAA-D376465B2BEE}" srcOrd="0" destOrd="0" presId="urn:microsoft.com/office/officeart/2005/8/layout/chevron2"/>
    <dgm:cxn modelId="{C405AC97-4C54-4757-8651-AB11924A4B6F}" type="presParOf" srcId="{4DB00594-09F9-4225-B772-B1D52DAEEAB6}" destId="{C37D6712-7A35-4663-80F7-1B8FC410AF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A876F-5FA3-42F9-A923-4E2C334EF9BC}">
      <dsp:nvSpPr>
        <dsp:cNvPr id="0" name=""/>
        <dsp:cNvSpPr/>
      </dsp:nvSpPr>
      <dsp:spPr>
        <a:xfrm rot="5400000">
          <a:off x="-106543" y="109307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Century Gothic" panose="020B0502020202020204" pitchFamily="34" charset="0"/>
            </a:rPr>
            <a:t>1</a:t>
          </a:r>
          <a:endParaRPr lang="es-CO" sz="1200" kern="1200" dirty="0">
            <a:latin typeface="Century Gothic" panose="020B0502020202020204" pitchFamily="34" charset="0"/>
          </a:endParaRPr>
        </a:p>
      </dsp:txBody>
      <dsp:txXfrm rot="-5400000">
        <a:off x="0" y="251365"/>
        <a:ext cx="497202" cy="213086"/>
      </dsp:txXfrm>
    </dsp:sp>
    <dsp:sp modelId="{344A86B1-48E8-448F-9C6D-71580BFB5F83}">
      <dsp:nvSpPr>
        <dsp:cNvPr id="0" name=""/>
        <dsp:cNvSpPr/>
      </dsp:nvSpPr>
      <dsp:spPr>
        <a:xfrm rot="5400000">
          <a:off x="2825947" y="-2325981"/>
          <a:ext cx="461930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Entender el problema</a:t>
          </a:r>
        </a:p>
      </dsp:txBody>
      <dsp:txXfrm rot="-5400000">
        <a:off x="497202" y="25314"/>
        <a:ext cx="5096871" cy="416830"/>
      </dsp:txXfrm>
    </dsp:sp>
    <dsp:sp modelId="{A651636C-CE47-4575-AA1E-AB00D80E941D}">
      <dsp:nvSpPr>
        <dsp:cNvPr id="0" name=""/>
        <dsp:cNvSpPr/>
      </dsp:nvSpPr>
      <dsp:spPr>
        <a:xfrm rot="5400000">
          <a:off x="-106543" y="658631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252426"/>
                <a:satOff val="3301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2426"/>
                <a:satOff val="3301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2426"/>
                <a:satOff val="3301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Century Gothic" panose="020B0502020202020204" pitchFamily="34" charset="0"/>
            </a:rPr>
            <a:t>2</a:t>
          </a:r>
          <a:endParaRPr lang="es-CO" sz="2400" kern="1200" dirty="0">
            <a:latin typeface="Century Gothic" panose="020B0502020202020204" pitchFamily="34" charset="0"/>
          </a:endParaRPr>
        </a:p>
      </dsp:txBody>
      <dsp:txXfrm rot="-5400000">
        <a:off x="0" y="800689"/>
        <a:ext cx="497202" cy="213086"/>
      </dsp:txXfrm>
    </dsp:sp>
    <dsp:sp modelId="{79B0DE70-0A03-4A6F-B31F-EC81EB5DF7EA}">
      <dsp:nvSpPr>
        <dsp:cNvPr id="0" name=""/>
        <dsp:cNvSpPr/>
      </dsp:nvSpPr>
      <dsp:spPr>
        <a:xfrm rot="5400000">
          <a:off x="2826069" y="-1776779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sp:txBody>
      <dsp:txXfrm rot="-5400000">
        <a:off x="497202" y="574626"/>
        <a:ext cx="5096883" cy="416611"/>
      </dsp:txXfrm>
    </dsp:sp>
    <dsp:sp modelId="{2AA7B02C-023E-4537-897E-B54A048C8983}">
      <dsp:nvSpPr>
        <dsp:cNvPr id="0" name=""/>
        <dsp:cNvSpPr/>
      </dsp:nvSpPr>
      <dsp:spPr>
        <a:xfrm rot="5400000">
          <a:off x="-106543" y="1207954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504853"/>
                <a:satOff val="6602"/>
                <a:lumOff val="-81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04853"/>
                <a:satOff val="6602"/>
                <a:lumOff val="-81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04853"/>
                <a:satOff val="6602"/>
                <a:lumOff val="-81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3</a:t>
          </a:r>
        </a:p>
      </dsp:txBody>
      <dsp:txXfrm rot="-5400000">
        <a:off x="0" y="1350012"/>
        <a:ext cx="497202" cy="213086"/>
      </dsp:txXfrm>
    </dsp:sp>
    <dsp:sp modelId="{15D3D31F-A831-4E62-ADE9-6ACE81331CDC}">
      <dsp:nvSpPr>
        <dsp:cNvPr id="0" name=""/>
        <dsp:cNvSpPr/>
      </dsp:nvSpPr>
      <dsp:spPr>
        <a:xfrm rot="5400000">
          <a:off x="2826069" y="-1227455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sp:txBody>
      <dsp:txXfrm rot="-5400000">
        <a:off x="497202" y="1123950"/>
        <a:ext cx="5096883" cy="416611"/>
      </dsp:txXfrm>
    </dsp:sp>
    <dsp:sp modelId="{58E45CBE-DE64-4E4E-8AAA-D376465B2BEE}">
      <dsp:nvSpPr>
        <dsp:cNvPr id="0" name=""/>
        <dsp:cNvSpPr/>
      </dsp:nvSpPr>
      <dsp:spPr>
        <a:xfrm rot="5400000">
          <a:off x="-106543" y="1757278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757279"/>
                <a:satOff val="9903"/>
                <a:lumOff val="-121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7279"/>
                <a:satOff val="9903"/>
                <a:lumOff val="-121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7279"/>
                <a:satOff val="9903"/>
                <a:lumOff val="-121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4</a:t>
          </a:r>
        </a:p>
      </dsp:txBody>
      <dsp:txXfrm rot="-5400000">
        <a:off x="0" y="1899336"/>
        <a:ext cx="497202" cy="213086"/>
      </dsp:txXfrm>
    </dsp:sp>
    <dsp:sp modelId="{C37D6712-7A35-4663-80F7-1B8FC410AF19}">
      <dsp:nvSpPr>
        <dsp:cNvPr id="0" name=""/>
        <dsp:cNvSpPr/>
      </dsp:nvSpPr>
      <dsp:spPr>
        <a:xfrm rot="5400000">
          <a:off x="2826069" y="-678132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sp:txBody>
      <dsp:txXfrm rot="-5400000">
        <a:off x="497202" y="1673273"/>
        <a:ext cx="5096883" cy="4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4/10/2026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4/10/2026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4/10/2026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4/10/2026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4/10/2026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%23%20Entrada%20de%20datos%0Ac%20%3D%20float%28input%28%22Ingrese%20los%20%C2%B0C%3A%20%22%29%29%0A%0A%23%20Conversion%20%C2%B0C%20a%20%C2%B0F%0Af%20%3D%20%289.0/5%29*c%20%2B%2032%0A%0A%23%20Salida%0Aprint%28c,%22%C2%B0C%20%3D%22,f,%22%C2%B0F%22%29%0A&amp;curInstr=0&amp;mode=display&amp;origin=opt-frontend.js&amp;py=31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%23%20Funcion%20%28Modulo%29%0Adef%20celcius_to_fahrenheit%28c%29%3A%0A%20%20%20%20f%20%3D%20%289.0/5%29*c%20%2B%2032%0A%20%20%20%20return%20f%0A%0A%23%20Entrada%20de%20datos%0Atemp_c%20%3D%20float%28input%28%22Ingrese%20los%20%C2%B0C%3A%20%22%29%29%0A%0A%23%20Invocacion%20de%20la%20funcion%0Atemp_f%20%3D%20celcius_to_fahrenheit%28temp_c%29%0A%0A%23%20Despliegue%20de%20resultados%0Aprint%28temp_c,%22%C2%B0C%20%3D%22,%20temp_f,%22%C2%B0F%22%29%0A&amp;curInstr=0&amp;mode=display&amp;origin=opt-frontend.js&amp;py=31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%23%20Alta%20cohesi%C3%B3n%3A%20una%20tarea%20por%20funci%C3%B3n%0Adef%20leer_nota%28mensaje%29%3A%0A%20%20%20%20return%20float%28input%28mensaje%29%29%0A%0A%0Adef%20calcular_promedio%28a,%20b%29%3A%0A%20%20%20%20return%20%28a%20%2B%20b%29%20/%202%0A%0A%0A%23%20Programa%20principal%0Anota1%20%3D%20leer_nota%28%22Nota%201%3A%20%22%29%0Anota2%20%3D%20leer_nota%28%22Nota%202%3A%20%22%29%0Aprint%28calcular_promedio%28nota1,%20nota2%29%29%0A%0A&amp;curInstr=0&amp;mode=display&amp;origin=opt-frontend.js&amp;py=311" TargetMode="External"/><Relationship Id="rId2" Type="http://schemas.openxmlformats.org/officeDocument/2006/relationships/hyperlink" Target="https://pythontutor.com/visualize.html#code=%23%20Baja%20cohesi%C3%B3n%3A%20lee,%20calcula%20y%20muestra%0Adef%20promedio_de_notas%28%29%3A%0A%20%20%20%20a%20%3D%20float%28input%28%22Nota%201%3A%20%22%29%29%0A%20%20%20%20b%20%3D%20float%28input%28%22Nota%202%3A%20%22%29%29%0A%20%20%20%20print%28%28a%20%2B%20b%29%20/%202%29%0A%0A%0A%23%20Programa%20principal%0Apromedio_de_notas%28%29%0A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%23%20Funcion%20%28Modulo%29%0Adef%20celcius_to_fahrenheit%28c%29%3A%0A%20%20%20%20f%20%3D%20%289.0/5%29*c%20%2B%2032%0A%20%20%20%20return%20f%0A%0A%23%20Entrada%20de%20datos%0Atemp_c%20%3D%20float%28input%28%22Ingrese%20los%20%C2%B0C%3A%20%22%29%29%0A%0A%23%20Invocacion%20de%20la%20funcion%0Atemp_f%20%3D%20celcius_to_fahrenheit%28temp_c%29%0A%0A%23%20Despliegue%20de%20resultados%0Aprint%28temp_c,%22%C2%B0C%20%3D%22,%20temp_f,%22%C2%B0F%22%29%0A&amp;curInstr=0&amp;mode=display&amp;origin=opt-frontend.js&amp;py=311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pythontutor.com/visualize.html#code=%23%20Entrada%20de%20datos%0Ac%20%3D%20float%28input%28%22Ingrese%20los%20%C2%B0C%3A%20%22%29%29%0A%0A%23%20Conversion%20%C2%B0C%20a%20%C2%B0F%0Af%20%3D%20%289.0/5%29*c%20%2B%2032%0A%0A%23%20Salida%0Aprint%28c,%22%C2%B0C%20%3D%22,f,%22%C2%B0F%22%29%0A&amp;curInstr=0&amp;mode=display&amp;origin=opt-frontend.js&amp;py=311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defining-your-own-python-function/" TargetMode="External"/><Relationship Id="rId13" Type="http://schemas.openxmlformats.org/officeDocument/2006/relationships/hyperlink" Target="https://realpython.com/python-while-loop/" TargetMode="External"/><Relationship Id="rId3" Type="http://schemas.openxmlformats.org/officeDocument/2006/relationships/hyperlink" Target="https://www.w3resource.com/index.php" TargetMode="External"/><Relationship Id="rId7" Type="http://schemas.openxmlformats.org/officeDocument/2006/relationships/hyperlink" Target="https://realpython.com/cheatsheets/python/" TargetMode="External"/><Relationship Id="rId12" Type="http://schemas.openxmlformats.org/officeDocument/2006/relationships/hyperlink" Target="https://makecode.microbit.org/courses" TargetMode="External"/><Relationship Id="rId2" Type="http://schemas.openxmlformats.org/officeDocument/2006/relationships/hyperlink" Target="https://ellibrodepyth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course.eu/" TargetMode="External"/><Relationship Id="rId11" Type="http://schemas.openxmlformats.org/officeDocument/2006/relationships/hyperlink" Target="https://makecode.microbit.org/courses/csintro" TargetMode="External"/><Relationship Id="rId5" Type="http://schemas.openxmlformats.org/officeDocument/2006/relationships/hyperlink" Target="https://curriculumresources.edu.gh/wp-content/uploads/2025/01/" TargetMode="External"/><Relationship Id="rId15" Type="http://schemas.openxmlformats.org/officeDocument/2006/relationships/hyperlink" Target="https://cs.stanford.edu/people/nick/py/" TargetMode="External"/><Relationship Id="rId10" Type="http://schemas.openxmlformats.org/officeDocument/2006/relationships/hyperlink" Target="https://realpython.com/ref/best-practices/functions/" TargetMode="External"/><Relationship Id="rId4" Type="http://schemas.openxmlformats.org/officeDocument/2006/relationships/hyperlink" Target="https://realpython.com/" TargetMode="External"/><Relationship Id="rId9" Type="http://schemas.openxmlformats.org/officeDocument/2006/relationships/hyperlink" Target="https://realpython.com/python-built-in-functions/" TargetMode="External"/><Relationship Id="rId14" Type="http://schemas.openxmlformats.org/officeDocument/2006/relationships/hyperlink" Target="https://realpython.com/ref/keywords/while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hdcomics.com/comics/archive.php?comicid=1431" TargetMode="External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sz="3200" b="1" dirty="0"/>
              <a:t>Funciones - Introducción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63830" cy="845334"/>
          </a:xfrm>
        </p:spPr>
        <p:txBody>
          <a:bodyPr>
            <a:normAutofit/>
          </a:bodyPr>
          <a:lstStyle/>
          <a:p>
            <a:r>
              <a:rPr lang="es-CO" sz="4000" dirty="0"/>
              <a:t>Método de Polya - Resumen</a:t>
            </a:r>
            <a:endParaRPr lang="en-US" sz="4000" dirty="0"/>
          </a:p>
        </p:txBody>
      </p:sp>
      <p:graphicFrame>
        <p:nvGraphicFramePr>
          <p:cNvPr id="6" name="13 Diagrama">
            <a:extLst>
              <a:ext uri="{FF2B5EF4-FFF2-40B4-BE49-F238E27FC236}">
                <a16:creationId xmlns:a16="http://schemas.microsoft.com/office/drawing/2014/main" id="{D0B70736-976D-4675-A33E-9F94643AD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553215"/>
              </p:ext>
            </p:extLst>
          </p:nvPr>
        </p:nvGraphicFramePr>
        <p:xfrm>
          <a:off x="3059832" y="4221088"/>
          <a:ext cx="5616624" cy="2363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9C9BD4AC-3A6A-4FE1-A719-F0D83295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04101"/>
            <a:ext cx="2200014" cy="197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6732E42-F6E4-4E10-A20E-82A4BE9E8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16" y="1223168"/>
            <a:ext cx="3214687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5899AD60-028E-47EE-844F-916EBA585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11" y="1248925"/>
            <a:ext cx="2857500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17 Flecha abajo">
            <a:extLst>
              <a:ext uri="{FF2B5EF4-FFF2-40B4-BE49-F238E27FC236}">
                <a16:creationId xmlns:a16="http://schemas.microsoft.com/office/drawing/2014/main" id="{656E38FA-A37E-460A-AF17-E0C304C611BF}"/>
              </a:ext>
            </a:extLst>
          </p:cNvPr>
          <p:cNvSpPr/>
          <p:nvPr/>
        </p:nvSpPr>
        <p:spPr>
          <a:xfrm rot="16200000">
            <a:off x="4400922" y="1973262"/>
            <a:ext cx="322262" cy="9652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11" name="18 CuadroTexto">
            <a:extLst>
              <a:ext uri="{FF2B5EF4-FFF2-40B4-BE49-F238E27FC236}">
                <a16:creationId xmlns:a16="http://schemas.microsoft.com/office/drawing/2014/main" id="{B82BDCE9-7A82-42E8-98CF-353D30A777C0}"/>
              </a:ext>
            </a:extLst>
          </p:cNvPr>
          <p:cNvSpPr txBox="1"/>
          <p:nvPr/>
        </p:nvSpPr>
        <p:spPr>
          <a:xfrm>
            <a:off x="611560" y="3789040"/>
            <a:ext cx="3214688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PROBLEMA</a:t>
            </a:r>
            <a:endParaRPr lang="es-ES" sz="2000" dirty="0"/>
          </a:p>
        </p:txBody>
      </p:sp>
      <p:sp>
        <p:nvSpPr>
          <p:cNvPr id="12" name="19 CuadroTexto">
            <a:extLst>
              <a:ext uri="{FF2B5EF4-FFF2-40B4-BE49-F238E27FC236}">
                <a16:creationId xmlns:a16="http://schemas.microsoft.com/office/drawing/2014/main" id="{BFFC459E-C4D6-4371-ADA9-FB0FF4281118}"/>
              </a:ext>
            </a:extLst>
          </p:cNvPr>
          <p:cNvSpPr txBox="1"/>
          <p:nvPr/>
        </p:nvSpPr>
        <p:spPr>
          <a:xfrm>
            <a:off x="5148064" y="3752849"/>
            <a:ext cx="321468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ALGORITMO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84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Entrada, procesamiento y salida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35471" y="1238602"/>
            <a:ext cx="7886700" cy="1729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Los programas de computadora realizan estos tres pasos: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recibe la </a:t>
            </a:r>
            <a:r>
              <a:rPr lang="es-MX" sz="2000" b="1" dirty="0"/>
              <a:t>entrada</a:t>
            </a:r>
            <a:r>
              <a:rPr lang="es-MX" sz="2000" dirty="0"/>
              <a:t>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realiza un </a:t>
            </a:r>
            <a:r>
              <a:rPr lang="es-MX" sz="2000" b="1" dirty="0"/>
              <a:t>proceso</a:t>
            </a:r>
            <a:r>
              <a:rPr lang="es-MX" sz="2000" dirty="0"/>
              <a:t> sobre la entrada.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genera la </a:t>
            </a:r>
            <a:r>
              <a:rPr lang="es-MX" sz="2000" b="1" dirty="0"/>
              <a:t>salida</a:t>
            </a:r>
            <a:endParaRPr lang="es-CO" sz="2000" b="1" dirty="0"/>
          </a:p>
        </p:txBody>
      </p:sp>
      <p:grpSp>
        <p:nvGrpSpPr>
          <p:cNvPr id="15" name="14 Grupo"/>
          <p:cNvGrpSpPr/>
          <p:nvPr/>
        </p:nvGrpSpPr>
        <p:grpSpPr>
          <a:xfrm>
            <a:off x="1589010" y="4102449"/>
            <a:ext cx="5715000" cy="838200"/>
            <a:chOff x="1676400" y="4495800"/>
            <a:chExt cx="5715000" cy="838200"/>
          </a:xfrm>
        </p:grpSpPr>
        <p:sp>
          <p:nvSpPr>
            <p:cNvPr id="10" name="9 Rectángulo"/>
            <p:cNvSpPr/>
            <p:nvPr/>
          </p:nvSpPr>
          <p:spPr>
            <a:xfrm>
              <a:off x="16764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Inputs</a:t>
              </a:r>
              <a:endParaRPr lang="es-CO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810000" y="4495800"/>
              <a:ext cx="1447800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latin typeface="Consolas" panose="020B0609020204030204" pitchFamily="49" charset="0"/>
                </a:rPr>
                <a:t>Process</a:t>
              </a:r>
              <a:endParaRPr lang="es-CO" b="1" dirty="0">
                <a:latin typeface="Consolas" panose="020B0609020204030204" pitchFamily="49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436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Outputs</a:t>
              </a:r>
              <a:endParaRPr lang="es-CO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12 Flecha derecha"/>
            <p:cNvSpPr/>
            <p:nvPr/>
          </p:nvSpPr>
          <p:spPr>
            <a:xfrm>
              <a:off x="31242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13 Flecha derecha"/>
            <p:cNvSpPr/>
            <p:nvPr/>
          </p:nvSpPr>
          <p:spPr>
            <a:xfrm>
              <a:off x="52578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6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CA5F3EB8-A827-4D08-B3D4-BC88856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16" y="3256265"/>
            <a:ext cx="1365108" cy="4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BB2AD59A-355A-4EC4-BD61-76D4587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82" y="3198200"/>
            <a:ext cx="841456" cy="6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AC519BCB-3AA9-4258-9707-83D24182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43" y="5159353"/>
            <a:ext cx="1007836" cy="10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1" y="134971"/>
            <a:ext cx="8491661" cy="773749"/>
          </a:xfrm>
        </p:spPr>
        <p:txBody>
          <a:bodyPr/>
          <a:lstStyle/>
          <a:p>
            <a:r>
              <a:rPr lang="en-US" dirty="0"/>
              <a:t>Introducción a las funciones</a:t>
            </a:r>
          </a:p>
        </p:txBody>
      </p:sp>
      <p:pic>
        <p:nvPicPr>
          <p:cNvPr id="10242" name="Picture 2" descr="xkcd: Random Number">
            <a:extLst>
              <a:ext uri="{FF2B5EF4-FFF2-40B4-BE49-F238E27FC236}">
                <a16:creationId xmlns:a16="http://schemas.microsoft.com/office/drawing/2014/main" id="{E72BF9ED-4146-4F5B-8782-1C211EBBF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8" y="1985392"/>
            <a:ext cx="4010022" cy="144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xkcd: Dependency">
            <a:extLst>
              <a:ext uri="{FF2B5EF4-FFF2-40B4-BE49-F238E27FC236}">
                <a16:creationId xmlns:a16="http://schemas.microsoft.com/office/drawing/2014/main" id="{CC1A6EDE-9178-4C94-AE17-EDE25EDB0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340768"/>
            <a:ext cx="366712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29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62413" y="116632"/>
            <a:ext cx="8981587" cy="1215008"/>
          </a:xfrm>
        </p:spPr>
        <p:txBody>
          <a:bodyPr>
            <a:normAutofit/>
          </a:bodyPr>
          <a:lstStyle/>
          <a:p>
            <a:r>
              <a:rPr lang="es-CO" dirty="0"/>
              <a:t>Función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62413" y="1052736"/>
            <a:ext cx="8819174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200" b="1" dirty="0"/>
              <a:t>Función</a:t>
            </a:r>
            <a:r>
              <a:rPr lang="es-MX" sz="2200" dirty="0"/>
              <a:t>: </a:t>
            </a:r>
            <a:r>
              <a:rPr lang="es-MX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Porción de código que realiza una tarea especifica.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También se conoce como: subrutina, procedimiento, función o método.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17E972-52FC-4940-90D8-B6DA6E948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39" y="2642429"/>
            <a:ext cx="1181080" cy="3096344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3FC34689-ACF1-4671-9408-C1A0823750FE}"/>
              </a:ext>
            </a:extLst>
          </p:cNvPr>
          <p:cNvSpPr/>
          <p:nvPr/>
        </p:nvSpPr>
        <p:spPr>
          <a:xfrm>
            <a:off x="2738897" y="3886709"/>
            <a:ext cx="1368152" cy="57606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b="1" dirty="0"/>
              <a:t>Modularizar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C201415-31FD-434B-BF7D-680CFB497669}"/>
              </a:ext>
            </a:extLst>
          </p:cNvPr>
          <p:cNvGrpSpPr/>
          <p:nvPr/>
        </p:nvGrpSpPr>
        <p:grpSpPr>
          <a:xfrm>
            <a:off x="4252811" y="2776498"/>
            <a:ext cx="4279629" cy="2962275"/>
            <a:chOff x="4226392" y="3348208"/>
            <a:chExt cx="4279629" cy="2962275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8EA4752-8445-4481-98F5-B3038E785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0746" y="3348208"/>
              <a:ext cx="4105275" cy="2962275"/>
            </a:xfrm>
            <a:prstGeom prst="rect">
              <a:avLst/>
            </a:prstGeom>
          </p:spPr>
        </p:pic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59DB943E-5A24-4972-8246-5C57BFE61194}"/>
                </a:ext>
              </a:extLst>
            </p:cNvPr>
            <p:cNvSpPr/>
            <p:nvPr/>
          </p:nvSpPr>
          <p:spPr>
            <a:xfrm>
              <a:off x="4294909" y="4546600"/>
              <a:ext cx="1743941" cy="520700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1CB328B-150B-4DF5-BA95-0DDDF814FB2E}"/>
                </a:ext>
              </a:extLst>
            </p:cNvPr>
            <p:cNvSpPr txBox="1"/>
            <p:nvPr/>
          </p:nvSpPr>
          <p:spPr>
            <a:xfrm>
              <a:off x="4226392" y="4304129"/>
              <a:ext cx="6912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200" b="1" dirty="0">
                  <a:solidFill>
                    <a:schemeClr val="accent6"/>
                  </a:solidFill>
                </a:rPr>
                <a:t>Modulo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E73D17D-CAAB-4C7E-A044-9A406A840238}"/>
                </a:ext>
              </a:extLst>
            </p:cNvPr>
            <p:cNvSpPr txBox="1"/>
            <p:nvPr/>
          </p:nvSpPr>
          <p:spPr>
            <a:xfrm>
              <a:off x="6588224" y="3474423"/>
              <a:ext cx="10309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CO" sz="1200" b="1" dirty="0">
                  <a:solidFill>
                    <a:schemeClr val="bg1">
                      <a:lumMod val="50000"/>
                    </a:schemeClr>
                  </a:solidFill>
                </a:rPr>
                <a:t>Instrucciones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019AE7-A342-4F1B-B33F-1F47F2B8D248}"/>
              </a:ext>
            </a:extLst>
          </p:cNvPr>
          <p:cNvSpPr txBox="1"/>
          <p:nvPr/>
        </p:nvSpPr>
        <p:spPr>
          <a:xfrm>
            <a:off x="487868" y="5779061"/>
            <a:ext cx="3024336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100" dirty="0">
                <a:latin typeface="Consolas" panose="020B0609020204030204" pitchFamily="49" charset="0"/>
              </a:rPr>
              <a:t>c = float(input("Ingrese los °C: "))</a:t>
            </a:r>
          </a:p>
          <a:p>
            <a:r>
              <a:rPr lang="es-CO" sz="1100" dirty="0">
                <a:latin typeface="Consolas" panose="020B0609020204030204" pitchFamily="49" charset="0"/>
              </a:rPr>
              <a:t>f = (9.0/5)*c + 32</a:t>
            </a:r>
          </a:p>
          <a:p>
            <a:r>
              <a:rPr lang="es-CO" sz="1100" dirty="0">
                <a:latin typeface="Consolas" panose="020B0609020204030204" pitchFamily="49" charset="0"/>
              </a:rPr>
              <a:t>print(c,"°C =",f, "°F")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8E8B0EF-3BD5-4431-BD8A-978CEEB33C7A}"/>
              </a:ext>
            </a:extLst>
          </p:cNvPr>
          <p:cNvSpPr txBox="1"/>
          <p:nvPr/>
        </p:nvSpPr>
        <p:spPr>
          <a:xfrm>
            <a:off x="1110377" y="6320353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0814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Función llamadora y función llamada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28328" y="913944"/>
            <a:ext cx="86641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Función llamadora</a:t>
            </a:r>
            <a:r>
              <a:rPr lang="es-MX" sz="2000" dirty="0"/>
              <a:t>: la que usa (llama a) otra función.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Función llamada</a:t>
            </a:r>
            <a:r>
              <a:rPr lang="es-MX" sz="2000" dirty="0"/>
              <a:t>: la que es usada por otra.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Flujo de ejecución de un programa con funciones: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Al llamar a una función, el control pasa a esta (función llamada)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Al terminar (</a:t>
            </a:r>
            <a:r>
              <a:rPr lang="es-MX" b="1" dirty="0">
                <a:latin typeface="Consolas" panose="020B0609020204030204" pitchFamily="49" charset="0"/>
              </a:rPr>
              <a:t>return</a:t>
            </a:r>
            <a:r>
              <a:rPr lang="es-MX" sz="2000" dirty="0"/>
              <a:t>), el control vuelve a quien la llamó (función llamadora).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4A2B12D-A6E3-4D1D-8E12-F24D06AE4A42}"/>
              </a:ext>
            </a:extLst>
          </p:cNvPr>
          <p:cNvGrpSpPr/>
          <p:nvPr/>
        </p:nvGrpSpPr>
        <p:grpSpPr>
          <a:xfrm>
            <a:off x="3983103" y="3084200"/>
            <a:ext cx="4989893" cy="3300784"/>
            <a:chOff x="2326919" y="3044240"/>
            <a:chExt cx="4989893" cy="3300784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84ACCE3F-2C96-4945-B249-C148F49DD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6919" y="3176672"/>
              <a:ext cx="1731897" cy="3168352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49425F4D-D3B4-491C-AC5E-535903364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5512" y="3101008"/>
              <a:ext cx="2781300" cy="3200400"/>
            </a:xfrm>
            <a:prstGeom prst="rect">
              <a:avLst/>
            </a:prstGeom>
          </p:spPr>
        </p:pic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725CDE1B-55E0-44CA-A6C6-2B52A5ED3310}"/>
                </a:ext>
              </a:extLst>
            </p:cNvPr>
            <p:cNvCxnSpPr>
              <a:cxnSpLocks/>
            </p:cNvCxnSpPr>
            <p:nvPr/>
          </p:nvCxnSpPr>
          <p:spPr>
            <a:xfrm>
              <a:off x="4046396" y="3044240"/>
              <a:ext cx="0" cy="1408112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B21056E4-AD01-401C-96FD-FB9EEDCF1595}"/>
                </a:ext>
              </a:extLst>
            </p:cNvPr>
            <p:cNvCxnSpPr>
              <a:cxnSpLocks/>
            </p:cNvCxnSpPr>
            <p:nvPr/>
          </p:nvCxnSpPr>
          <p:spPr>
            <a:xfrm>
              <a:off x="4054016" y="5177160"/>
              <a:ext cx="0" cy="792088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0B4A21D3-37ED-4446-99B9-F4E4FABA4C1B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32" y="3669680"/>
              <a:ext cx="0" cy="195556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DB0493C-6809-4031-848E-3F5CD816B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4016" y="3683000"/>
              <a:ext cx="797384" cy="77408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A7BC31B7-3D48-43F2-B041-8E04A600F672}"/>
                </a:ext>
              </a:extLst>
            </p:cNvPr>
            <p:cNvCxnSpPr>
              <a:cxnSpLocks/>
            </p:cNvCxnSpPr>
            <p:nvPr/>
          </p:nvCxnSpPr>
          <p:spPr>
            <a:xfrm>
              <a:off x="4058816" y="5187360"/>
              <a:ext cx="798934" cy="42604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8E9F37C-B981-4093-8DF4-8801C24DE113}"/>
              </a:ext>
            </a:extLst>
          </p:cNvPr>
          <p:cNvSpPr txBox="1"/>
          <p:nvPr/>
        </p:nvSpPr>
        <p:spPr>
          <a:xfrm>
            <a:off x="140980" y="3689548"/>
            <a:ext cx="367934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def </a:t>
            </a:r>
            <a:r>
              <a:rPr lang="es-CO" sz="1200" dirty="0" err="1">
                <a:latin typeface="Consolas" panose="020B0609020204030204" pitchFamily="49" charset="0"/>
              </a:rPr>
              <a:t>celcius_to_fahrenheit</a:t>
            </a:r>
            <a:r>
              <a:rPr lang="es-CO" sz="1200" dirty="0">
                <a:latin typeface="Consolas" panose="020B0609020204030204" pitchFamily="49" charset="0"/>
              </a:rPr>
              <a:t>(c):  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f = (9.0/5)*c + 32  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return f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 = float(input("Ingrese los °C: "))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temp_f</a:t>
            </a:r>
            <a:r>
              <a:rPr lang="es-CO" sz="1200" dirty="0">
                <a:latin typeface="Consolas" panose="020B0609020204030204" pitchFamily="49" charset="0"/>
              </a:rPr>
              <a:t> = </a:t>
            </a:r>
            <a:r>
              <a:rPr lang="es-CO" sz="1200" dirty="0" err="1">
                <a:latin typeface="Consolas" panose="020B0609020204030204" pitchFamily="49" charset="0"/>
              </a:rPr>
              <a:t>celcius_to_fahrenheit</a:t>
            </a:r>
            <a:r>
              <a:rPr lang="es-CO" sz="1200" dirty="0">
                <a:latin typeface="Consolas" panose="020B0609020204030204" pitchFamily="49" charset="0"/>
              </a:rPr>
              <a:t>(</a:t>
            </a:r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print(</a:t>
            </a:r>
            <a:r>
              <a:rPr lang="es-CO" sz="1200" dirty="0" err="1">
                <a:latin typeface="Consolas" panose="020B0609020204030204" pitchFamily="49" charset="0"/>
              </a:rPr>
              <a:t>temp_c,"°C</a:t>
            </a:r>
            <a:r>
              <a:rPr lang="es-CO" sz="1200" dirty="0">
                <a:latin typeface="Consolas" panose="020B0609020204030204" pitchFamily="49" charset="0"/>
              </a:rPr>
              <a:t> =", </a:t>
            </a:r>
            <a:r>
              <a:rPr lang="es-CO" sz="1200" dirty="0" err="1">
                <a:latin typeface="Consolas" panose="020B0609020204030204" pitchFamily="49" charset="0"/>
              </a:rPr>
              <a:t>temp_f,"°F</a:t>
            </a:r>
            <a:r>
              <a:rPr lang="es-CO" sz="1200" dirty="0"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200698E-4B8D-45CE-8E9A-A4C8C98E6761}"/>
              </a:ext>
            </a:extLst>
          </p:cNvPr>
          <p:cNvSpPr txBox="1"/>
          <p:nvPr/>
        </p:nvSpPr>
        <p:spPr>
          <a:xfrm>
            <a:off x="1223685" y="5259446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0D602DCE-1068-459A-BDCB-DBA07068EC0F}"/>
              </a:ext>
            </a:extLst>
          </p:cNvPr>
          <p:cNvSpPr/>
          <p:nvPr/>
        </p:nvSpPr>
        <p:spPr>
          <a:xfrm>
            <a:off x="5767123" y="3067080"/>
            <a:ext cx="326752" cy="319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33388ED-CD24-43CA-884E-E34421422799}"/>
              </a:ext>
            </a:extLst>
          </p:cNvPr>
          <p:cNvSpPr/>
          <p:nvPr/>
        </p:nvSpPr>
        <p:spPr>
          <a:xfrm>
            <a:off x="6616637" y="3790600"/>
            <a:ext cx="326752" cy="319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9F46A86F-0FB3-4CEC-B6F8-899F26C6955A}"/>
              </a:ext>
            </a:extLst>
          </p:cNvPr>
          <p:cNvSpPr/>
          <p:nvPr/>
        </p:nvSpPr>
        <p:spPr>
          <a:xfrm>
            <a:off x="5782140" y="5472832"/>
            <a:ext cx="326752" cy="319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058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Autofit/>
          </a:bodyPr>
          <a:lstStyle/>
          <a:p>
            <a:r>
              <a:rPr lang="es-MX" sz="3600" dirty="0"/>
              <a:t>Cohesión funcional: una función, una tarea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4908" y="837084"/>
            <a:ext cx="88775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Saber cuándo dividir una función en otras es un arte, pero hay una guía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Buena práctica</a:t>
            </a:r>
            <a:r>
              <a:rPr lang="es-MX" sz="2000" dirty="0"/>
              <a:t>: reunir en una función las instrucciones que contribuyen a </a:t>
            </a:r>
            <a:r>
              <a:rPr lang="es-MX" sz="2000" b="1" dirty="0"/>
              <a:t>una sola tarea</a:t>
            </a: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Cohesión funcional</a:t>
            </a:r>
            <a:r>
              <a:rPr lang="es-MX" sz="2000" dirty="0"/>
              <a:t>: grado en que las instrucciones de una función contribuyen a la misma tarea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Regla práctica</a:t>
            </a:r>
            <a:r>
              <a:rPr lang="es-MX" sz="2000" dirty="0"/>
              <a:t>: si para describir lo que hace una función necesita usar la palabra "</a:t>
            </a:r>
            <a:r>
              <a:rPr lang="es-MX" sz="2000" b="1" i="1" dirty="0"/>
              <a:t>y</a:t>
            </a:r>
            <a:r>
              <a:rPr lang="es-MX" sz="2000" dirty="0"/>
              <a:t>", probablemente son varias funciones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4E7742F-9933-410E-8568-CF4892FF2EC3}"/>
              </a:ext>
            </a:extLst>
          </p:cNvPr>
          <p:cNvSpPr txBox="1"/>
          <p:nvPr/>
        </p:nvSpPr>
        <p:spPr>
          <a:xfrm>
            <a:off x="368771" y="3645024"/>
            <a:ext cx="4084923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# Baja cohesión: lee, calcula y muestra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def promedio_de_notas():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a = float(input("Nota 1: "))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b = float(input("Nota 2: "))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print((a + b) / 2)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# Programa principal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promedio_de_notas()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D3A9E5-10B9-435A-B47C-FF33E09D3BF0}"/>
              </a:ext>
            </a:extLst>
          </p:cNvPr>
          <p:cNvSpPr txBox="1"/>
          <p:nvPr/>
        </p:nvSpPr>
        <p:spPr>
          <a:xfrm>
            <a:off x="4716020" y="3343260"/>
            <a:ext cx="417646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# Alta cohesión: una tarea por función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def leer_nota(mensaje):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return float(input(mensaje))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def calcular_promedio(a, b):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return (a + b) / 2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# Programa principal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nota1 = leer_nota("Nota 1: ")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nota2 = leer_nota("Nota 2: ")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print(calcular_promedio(nota1, nota2))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E0EAD59-74EF-4BD0-9383-47B812DC4F85}"/>
              </a:ext>
            </a:extLst>
          </p:cNvPr>
          <p:cNvSpPr txBox="1"/>
          <p:nvPr/>
        </p:nvSpPr>
        <p:spPr>
          <a:xfrm>
            <a:off x="1578989" y="5676349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23D68BE-8F1C-4378-8BC2-401D5FB6FB48}"/>
              </a:ext>
            </a:extLst>
          </p:cNvPr>
          <p:cNvSpPr txBox="1"/>
          <p:nvPr/>
        </p:nvSpPr>
        <p:spPr>
          <a:xfrm>
            <a:off x="5972007" y="6141823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74970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Comparación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4908" y="734497"/>
            <a:ext cx="88775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A continuación, se muestra la comparación entre trabajar un programa </a:t>
            </a:r>
            <a:r>
              <a:rPr lang="es-MX" sz="2000" b="1" dirty="0"/>
              <a:t>sin módulos</a:t>
            </a:r>
            <a:r>
              <a:rPr lang="es-MX" sz="2000" dirty="0"/>
              <a:t> y </a:t>
            </a:r>
            <a:r>
              <a:rPr lang="es-MX" sz="2000" b="1" dirty="0"/>
              <a:t>con módulos</a:t>
            </a:r>
            <a:r>
              <a:rPr lang="es-MX" sz="2000" dirty="0"/>
              <a:t>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4E7742F-9933-410E-8568-CF4892FF2EC3}"/>
              </a:ext>
            </a:extLst>
          </p:cNvPr>
          <p:cNvSpPr txBox="1"/>
          <p:nvPr/>
        </p:nvSpPr>
        <p:spPr>
          <a:xfrm>
            <a:off x="817032" y="5014674"/>
            <a:ext cx="373171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temp_c = float(input("Ingrese los °C: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temp_f = (9 / 5) * temp_c + 32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print(f"{temp_c} °C = {temp_f} °F")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D3A9E5-10B9-435A-B47C-FF33E09D3BF0}"/>
              </a:ext>
            </a:extLst>
          </p:cNvPr>
          <p:cNvSpPr txBox="1"/>
          <p:nvPr/>
        </p:nvSpPr>
        <p:spPr>
          <a:xfrm>
            <a:off x="5004047" y="4843026"/>
            <a:ext cx="397314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def celsius_a_fahrenheit(c):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f = (9 / 5) * c + 32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return f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temp_c = float(input("Ingrese los °C: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temp_f = celsius_a_fahrenheit(temp_c)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print(f"{temp_c} °C = {temp_f} °F")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F74F2E-D109-4A9F-BDC1-7BF69D50A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801" y="1657190"/>
            <a:ext cx="1130177" cy="29628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931D628-38BC-47DA-B491-68B66A45CB27}"/>
              </a:ext>
            </a:extLst>
          </p:cNvPr>
          <p:cNvSpPr txBox="1"/>
          <p:nvPr/>
        </p:nvSpPr>
        <p:spPr>
          <a:xfrm>
            <a:off x="6158373" y="6581001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F01911-5379-4765-924D-EAFBD9E37780}"/>
              </a:ext>
            </a:extLst>
          </p:cNvPr>
          <p:cNvSpPr txBox="1"/>
          <p:nvPr/>
        </p:nvSpPr>
        <p:spPr>
          <a:xfrm>
            <a:off x="1850647" y="5720189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2A3AC6-B5F8-419D-9A24-50D2863E17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875" y="1550248"/>
            <a:ext cx="1765483" cy="32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9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/>
          </a:bodyPr>
          <a:lstStyle/>
          <a:p>
            <a:r>
              <a:rPr lang="es-CO" dirty="0"/>
              <a:t>Análisis – Ejemplo calificaciones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846114"/>
            <a:ext cx="874716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dirty="0"/>
              <a:t>Hacer un programa que lea primero el número de estudiantes de un curso (</a:t>
            </a:r>
            <a:r>
              <a:rPr lang="es-MX" sz="2000" b="1" dirty="0"/>
              <a:t>N</a:t>
            </a:r>
            <a:r>
              <a:rPr lang="es-MX" sz="2000" dirty="0"/>
              <a:t>), y luego lea las </a:t>
            </a:r>
            <a:r>
              <a:rPr lang="es-MX" sz="2000" b="1" dirty="0"/>
              <a:t>N</a:t>
            </a:r>
            <a:r>
              <a:rPr lang="es-MX" sz="2000" dirty="0"/>
              <a:t> notas correspondientes (valores decimales entre 0.0 y 5.0), una a una.</a:t>
            </a:r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Considere que la nota mínima aprobatoria es 3.0: una nota es aprobada si es mayor o igual a 3.0, y reprobada si es menor a 3.0.</a:t>
            </a:r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Al finalizar la lectura, el programa deberá entregar: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porcentaje de estudiantes aprobados.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porcentaje de estudiantes reprobados.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promedio de las notas aprobadas.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promedio de las notas reprobadas.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promedio de las notas del curso.</a:t>
            </a:r>
          </a:p>
        </p:txBody>
      </p:sp>
    </p:spTree>
    <p:extLst>
      <p:ext uri="{BB962C8B-B14F-4D97-AF65-F5344CB8AC3E}">
        <p14:creationId xmlns:p14="http://schemas.microsoft.com/office/powerpoint/2010/main" val="1242174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3528392" cy="180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</a:t>
            </a:r>
          </a:p>
          <a:p>
            <a:r>
              <a:rPr lang="es-CO" sz="4000" dirty="0"/>
              <a:t>Calificaciones (No modular)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B871F0-E093-48E7-A1B9-7D54B9D42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190" y="78079"/>
            <a:ext cx="5434314" cy="675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28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84114"/>
            <a:ext cx="6153447" cy="678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9E8B5D-AC59-4BB7-B228-6E0412664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03" y="731200"/>
            <a:ext cx="3401426" cy="32589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8136558-4DB9-472F-B72C-F3B7E28C5F25}"/>
              </a:ext>
            </a:extLst>
          </p:cNvPr>
          <p:cNvSpPr txBox="1"/>
          <p:nvPr/>
        </p:nvSpPr>
        <p:spPr>
          <a:xfrm>
            <a:off x="251520" y="4065452"/>
            <a:ext cx="3960439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000" dirty="0">
                <a:latin typeface="Consolas" panose="020B0609020204030204" pitchFamily="49" charset="0"/>
              </a:rPr>
              <a:t>NOTA_MINIMA = 3.0</a:t>
            </a:r>
          </a:p>
          <a:p>
            <a:r>
              <a:rPr lang="es-MX" sz="1000" dirty="0" err="1"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 err="1"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 err="1"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 err="1"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000" b="0" dirty="0">
                <a:effectLst/>
                <a:latin typeface="Consolas" panose="020B0609020204030204" pitchFamily="49" charset="0"/>
              </a:rPr>
              <a:t>N = </a:t>
            </a:r>
            <a:r>
              <a:rPr lang="es-MX" sz="1000" b="0" dirty="0" err="1">
                <a:effectLst/>
                <a:latin typeface="Consolas" panose="020B0609020204030204" pitchFamily="49" charset="0"/>
              </a:rPr>
              <a:t>int</a:t>
            </a:r>
            <a:r>
              <a:rPr lang="es-MX" sz="1000" b="0" dirty="0">
                <a:effectLst/>
                <a:latin typeface="Consolas" panose="020B0609020204030204" pitchFamily="49" charset="0"/>
              </a:rPr>
              <a:t>(input('Ingrese el número de estudiantes: '))</a:t>
            </a:r>
          </a:p>
          <a:p>
            <a:r>
              <a:rPr lang="es-MX" sz="1000" dirty="0">
                <a:solidFill>
                  <a:srgbClr val="C00000"/>
                </a:solidFill>
                <a:latin typeface="Consolas" panose="020B0609020204030204" pitchFamily="49" charset="0"/>
              </a:rPr>
              <a:t>for i in range(N):</a:t>
            </a:r>
          </a:p>
          <a:p>
            <a:r>
              <a:rPr lang="es-MX" sz="1000" dirty="0">
                <a:solidFill>
                  <a:srgbClr val="C00000"/>
                </a:solidFill>
                <a:latin typeface="Consolas" panose="020B0609020204030204" pitchFamily="49" charset="0"/>
              </a:rPr>
              <a:t>  nota = </a:t>
            </a:r>
            <a:r>
              <a:rPr lang="es-MX" sz="10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000" dirty="0">
                <a:solidFill>
                  <a:srgbClr val="C00000"/>
                </a:solidFill>
                <a:latin typeface="Consolas" panose="020B0609020204030204" pitchFamily="49" charset="0"/>
              </a:rPr>
              <a:t>(input('Ingrese la nota: '))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if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nota &gt;= NOTA_MINIMA: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+ 1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+ nota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else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+ 1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+ nota</a:t>
            </a:r>
          </a:p>
          <a:p>
            <a:r>
              <a:rPr lang="es-MX" sz="1000" dirty="0">
                <a:latin typeface="Consolas" panose="020B0609020204030204" pitchFamily="49" charset="0"/>
              </a:rPr>
              <a:t>  </a:t>
            </a:r>
            <a:r>
              <a:rPr lang="es-MX" sz="1000" dirty="0" err="1">
                <a:latin typeface="Consolas" panose="020B0609020204030204" pitchFamily="49" charset="0"/>
              </a:rPr>
              <a:t>suma_notas</a:t>
            </a:r>
            <a:r>
              <a:rPr lang="es-MX" sz="1000" dirty="0">
                <a:latin typeface="Consolas" panose="020B0609020204030204" pitchFamily="49" charset="0"/>
              </a:rPr>
              <a:t> = </a:t>
            </a:r>
            <a:r>
              <a:rPr lang="es-MX" sz="1000" dirty="0" err="1"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latin typeface="Consolas" panose="020B0609020204030204" pitchFamily="49" charset="0"/>
              </a:rPr>
              <a:t> + </a:t>
            </a:r>
            <a:r>
              <a:rPr lang="es-MX" sz="1000" dirty="0" err="1">
                <a:latin typeface="Consolas" panose="020B0609020204030204" pitchFamily="49" charset="0"/>
              </a:rPr>
              <a:t>suma_aprobadas</a:t>
            </a:r>
            <a:endParaRPr lang="es-MX" sz="1000" dirty="0">
              <a:latin typeface="Consolas" panose="020B0609020204030204" pitchFamily="49" charset="0"/>
            </a:endParaRPr>
          </a:p>
          <a:p>
            <a:r>
              <a:rPr lang="es-MX" sz="1000" dirty="0">
                <a:latin typeface="Consolas" panose="020B0609020204030204" pitchFamily="49" charset="0"/>
              </a:rPr>
              <a:t>  </a:t>
            </a:r>
            <a:r>
              <a:rPr lang="es-MX" sz="1000" dirty="0" err="1">
                <a:latin typeface="Consolas" panose="020B0609020204030204" pitchFamily="49" charset="0"/>
              </a:rPr>
              <a:t>total_notas</a:t>
            </a:r>
            <a:r>
              <a:rPr lang="es-MX" sz="1000" dirty="0">
                <a:latin typeface="Consolas" panose="020B0609020204030204" pitchFamily="49" charset="0"/>
              </a:rPr>
              <a:t> = </a:t>
            </a:r>
            <a:r>
              <a:rPr lang="es-MX" sz="1000" dirty="0" err="1"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latin typeface="Consolas" panose="020B0609020204030204" pitchFamily="49" charset="0"/>
              </a:rPr>
              <a:t> + </a:t>
            </a:r>
            <a:r>
              <a:rPr lang="es-MX" sz="1000" dirty="0" err="1">
                <a:latin typeface="Consolas" panose="020B0609020204030204" pitchFamily="49" charset="0"/>
              </a:rPr>
              <a:t>notas_reprobadas</a:t>
            </a:r>
            <a:endParaRPr lang="es-MX" sz="1000" dirty="0">
              <a:latin typeface="Consolas" panose="020B0609020204030204" pitchFamily="49" charset="0"/>
            </a:endParaRPr>
          </a:p>
          <a:p>
            <a:r>
              <a:rPr lang="es-MX" sz="1000" dirty="0">
                <a:latin typeface="Consolas" panose="020B0609020204030204" pitchFamily="49" charset="0"/>
              </a:rPr>
              <a:t>  ...</a:t>
            </a:r>
            <a:endParaRPr lang="es-CO" sz="10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A47657-76C0-4D49-850C-08D3AEF578F5}"/>
              </a:ext>
            </a:extLst>
          </p:cNvPr>
          <p:cNvSpPr txBox="1"/>
          <p:nvPr/>
        </p:nvSpPr>
        <p:spPr>
          <a:xfrm>
            <a:off x="4692450" y="3429000"/>
            <a:ext cx="4264320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000" dirty="0">
                <a:latin typeface="Consolas" panose="020B0609020204030204" pitchFamily="49" charset="0"/>
              </a:rPr>
              <a:t>...</a:t>
            </a:r>
          </a:p>
          <a:p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== 0: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("No hay estudiantes")</a:t>
            </a:r>
          </a:p>
          <a:p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p_aprobaron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= 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)*100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p_reprobaron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= 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)*100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(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== 0):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endParaRPr lang="es-MX" sz="10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elif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(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== 0):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endParaRPr lang="es-MX" sz="10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else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endParaRPr lang="es-MX" sz="10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endParaRPr lang="es-MX" sz="10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suma_notas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endParaRPr lang="es-MX" sz="1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f"Porcentaje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aprobados: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p_aprobaron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}%")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f"Porcentaje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reprobados: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p_reprobaron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}%")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reprobados: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}")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aprobadas: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}")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de notas: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}")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30DE02D-97C8-4CCD-B10A-CBF723769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450" y="681162"/>
            <a:ext cx="4264320" cy="26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60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74737" y="44624"/>
            <a:ext cx="4183902" cy="678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</a:t>
            </a:r>
          </a:p>
        </p:txBody>
      </p:sp>
      <p:sp>
        <p:nvSpPr>
          <p:cNvPr id="5" name="5 Rectángulo">
            <a:extLst>
              <a:ext uri="{FF2B5EF4-FFF2-40B4-BE49-F238E27FC236}">
                <a16:creationId xmlns:a16="http://schemas.microsoft.com/office/drawing/2014/main" id="{06D6ADF4-009E-42C9-93D7-ACCDE5E5538F}"/>
              </a:ext>
            </a:extLst>
          </p:cNvPr>
          <p:cNvSpPr/>
          <p:nvPr/>
        </p:nvSpPr>
        <p:spPr>
          <a:xfrm>
            <a:off x="179512" y="748147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A18D4279-D5A7-44DF-B5D1-7CB09A895120}"/>
              </a:ext>
            </a:extLst>
          </p:cNvPr>
          <p:cNvGraphicFramePr>
            <a:graphicFrameLocks noGrp="1"/>
          </p:cNvGraphicFramePr>
          <p:nvPr/>
        </p:nvGraphicFramePr>
        <p:xfrm>
          <a:off x="271297" y="1181003"/>
          <a:ext cx="3821060" cy="2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2867">
                  <a:extLst>
                    <a:ext uri="{9D8B030D-6E8A-4147-A177-3AD203B41FA5}">
                      <a16:colId xmlns:a16="http://schemas.microsoft.com/office/drawing/2014/main" val="1520359308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4218542073"/>
                    </a:ext>
                  </a:extLst>
                </a:gridCol>
              </a:tblGrid>
              <a:tr h="306900">
                <a:tc>
                  <a:txBody>
                    <a:bodyPr/>
                    <a:lstStyle/>
                    <a:p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Numero de estudiantes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477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Notas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4.0, 2.5, 3.0, 1.5, 4.8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6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Aprobaron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(3) 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5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Reprobaron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n-lt"/>
                        </a:rPr>
                        <a:t>(2) 40%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2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nota aprobada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3.93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67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nota reprobada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63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general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3.16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38023"/>
                  </a:ext>
                </a:extLst>
              </a:tr>
            </a:tbl>
          </a:graphicData>
        </a:graphic>
      </p:graphicFrame>
      <p:sp>
        <p:nvSpPr>
          <p:cNvPr id="7" name="5 Rectángulo">
            <a:extLst>
              <a:ext uri="{FF2B5EF4-FFF2-40B4-BE49-F238E27FC236}">
                <a16:creationId xmlns:a16="http://schemas.microsoft.com/office/drawing/2014/main" id="{00F0CF2A-B262-41B0-B4E9-5B653595AB12}"/>
              </a:ext>
            </a:extLst>
          </p:cNvPr>
          <p:cNvSpPr/>
          <p:nvPr/>
        </p:nvSpPr>
        <p:spPr>
          <a:xfrm>
            <a:off x="179512" y="3820978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</a:t>
            </a:r>
            <a:endParaRPr lang="es-CO" sz="2000" dirty="0"/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A1F958CD-90B1-4FD7-82AD-E6BF1E364483}"/>
              </a:ext>
            </a:extLst>
          </p:cNvPr>
          <p:cNvSpPr/>
          <p:nvPr/>
        </p:nvSpPr>
        <p:spPr>
          <a:xfrm>
            <a:off x="179512" y="4221088"/>
            <a:ext cx="39128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Realizar la prueba de escritorio para verificar que el algoritmo este bien planteado</a:t>
            </a:r>
          </a:p>
        </p:txBody>
      </p:sp>
      <p:sp>
        <p:nvSpPr>
          <p:cNvPr id="11" name="5 Rectángulo">
            <a:extLst>
              <a:ext uri="{FF2B5EF4-FFF2-40B4-BE49-F238E27FC236}">
                <a16:creationId xmlns:a16="http://schemas.microsoft.com/office/drawing/2014/main" id="{2F52C242-D544-42FF-85EB-E5833E015487}"/>
              </a:ext>
            </a:extLst>
          </p:cNvPr>
          <p:cNvSpPr/>
          <p:nvPr/>
        </p:nvSpPr>
        <p:spPr>
          <a:xfrm>
            <a:off x="179512" y="5054783"/>
            <a:ext cx="391284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sz="1400" b="1" dirty="0"/>
              <a:t>Nota</a:t>
            </a:r>
            <a:r>
              <a:rPr lang="es-CO" sz="1400" dirty="0"/>
              <a:t>: Este programa así como esta planeado tiene aun un bug grave. Encuéntrelo y corríjalo.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78200F-C20A-48A2-859B-D0169CD03165}"/>
              </a:ext>
            </a:extLst>
          </p:cNvPr>
          <p:cNvSpPr txBox="1"/>
          <p:nvPr/>
        </p:nvSpPr>
        <p:spPr>
          <a:xfrm>
            <a:off x="4258639" y="332656"/>
            <a:ext cx="4777857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100" dirty="0">
                <a:latin typeface="Consolas" panose="020B0609020204030204" pitchFamily="49" charset="0"/>
              </a:rPr>
              <a:t>NOTA_MINIMA = 3.0</a:t>
            </a:r>
          </a:p>
          <a:p>
            <a:r>
              <a:rPr lang="es-MX" sz="1100" dirty="0" err="1"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 err="1"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 err="1"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 err="1"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100" b="0" dirty="0">
                <a:effectLst/>
                <a:latin typeface="Consolas" panose="020B0609020204030204" pitchFamily="49" charset="0"/>
              </a:rPr>
              <a:t>N = </a:t>
            </a:r>
            <a:r>
              <a:rPr lang="es-MX" sz="1100" b="0" dirty="0" err="1">
                <a:effectLst/>
                <a:latin typeface="Consolas" panose="020B0609020204030204" pitchFamily="49" charset="0"/>
              </a:rPr>
              <a:t>int</a:t>
            </a:r>
            <a:r>
              <a:rPr lang="es-MX" sz="1100" b="0" dirty="0">
                <a:effectLst/>
                <a:latin typeface="Consolas" panose="020B0609020204030204" pitchFamily="49" charset="0"/>
              </a:rPr>
              <a:t>(input('Ingrese el número de estudiantes: '))</a:t>
            </a:r>
          </a:p>
          <a:p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for i in range(N):</a:t>
            </a:r>
          </a:p>
          <a:p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  nota = </a:t>
            </a:r>
            <a:r>
              <a:rPr lang="es-MX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(input('Ingrese la nota: '))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if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nota &gt;= NOTA_MINIMA: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+ 1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+ nota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else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+ 1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+ nota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  </a:t>
            </a:r>
            <a:r>
              <a:rPr lang="es-MX" sz="1100" dirty="0" err="1">
                <a:latin typeface="Consolas" panose="020B0609020204030204" pitchFamily="49" charset="0"/>
              </a:rPr>
              <a:t>suma_notas</a:t>
            </a:r>
            <a:r>
              <a:rPr lang="es-MX" sz="1100" dirty="0">
                <a:latin typeface="Consolas" panose="020B0609020204030204" pitchFamily="49" charset="0"/>
              </a:rPr>
              <a:t> = </a:t>
            </a:r>
            <a:r>
              <a:rPr lang="es-MX" sz="1100" dirty="0" err="1"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latin typeface="Consolas" panose="020B0609020204030204" pitchFamily="49" charset="0"/>
              </a:rPr>
              <a:t> + </a:t>
            </a:r>
            <a:r>
              <a:rPr lang="es-MX" sz="1100" dirty="0" err="1">
                <a:latin typeface="Consolas" panose="020B0609020204030204" pitchFamily="49" charset="0"/>
              </a:rPr>
              <a:t>suma_aprobadas</a:t>
            </a:r>
            <a:endParaRPr lang="es-MX" sz="1100" dirty="0">
              <a:latin typeface="Consolas" panose="020B0609020204030204" pitchFamily="49" charset="0"/>
            </a:endParaRPr>
          </a:p>
          <a:p>
            <a:r>
              <a:rPr lang="es-MX" sz="1100" dirty="0">
                <a:latin typeface="Consolas" panose="020B0609020204030204" pitchFamily="49" charset="0"/>
              </a:rPr>
              <a:t>  </a:t>
            </a:r>
            <a:r>
              <a:rPr lang="es-MX" sz="1100" dirty="0" err="1">
                <a:latin typeface="Consolas" panose="020B0609020204030204" pitchFamily="49" charset="0"/>
              </a:rPr>
              <a:t>total_notas</a:t>
            </a:r>
            <a:r>
              <a:rPr lang="es-MX" sz="1100" dirty="0">
                <a:latin typeface="Consolas" panose="020B0609020204030204" pitchFamily="49" charset="0"/>
              </a:rPr>
              <a:t> = </a:t>
            </a:r>
            <a:r>
              <a:rPr lang="es-MX" sz="1100" dirty="0" err="1"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latin typeface="Consolas" panose="020B0609020204030204" pitchFamily="49" charset="0"/>
              </a:rPr>
              <a:t> + </a:t>
            </a:r>
            <a:r>
              <a:rPr lang="es-MX" sz="1100" dirty="0" err="1">
                <a:latin typeface="Consolas" panose="020B0609020204030204" pitchFamily="49" charset="0"/>
              </a:rPr>
              <a:t>notas_reprobadas</a:t>
            </a:r>
            <a:endParaRPr lang="es-MX" sz="1100" dirty="0">
              <a:latin typeface="Consolas" panose="020B0609020204030204" pitchFamily="49" charset="0"/>
            </a:endParaRPr>
          </a:p>
          <a:p>
            <a:r>
              <a:rPr lang="es-MX" sz="1100" dirty="0"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== 0: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("No hay estudiantes")</a:t>
            </a:r>
          </a:p>
          <a:p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p_aprobaron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= 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)*100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p_reprobaron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= 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)*100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(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== 0):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endParaRPr lang="es-MX" sz="11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elif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(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== 0):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endParaRPr lang="es-MX" sz="11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else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endParaRPr lang="es-MX" sz="11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endParaRPr lang="es-MX" sz="11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suma_notas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endParaRPr lang="es-MX" sz="11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f"Porcentaje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aprobados: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p_aprobaron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}%")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f"Porcentaje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reprobados: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p_reprobaron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}%")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reprobados: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}")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aprobadas: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}")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de notas: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}") </a:t>
            </a:r>
          </a:p>
        </p:txBody>
      </p:sp>
    </p:spTree>
    <p:extLst>
      <p:ext uri="{BB962C8B-B14F-4D97-AF65-F5344CB8AC3E}">
        <p14:creationId xmlns:p14="http://schemas.microsoft.com/office/powerpoint/2010/main" val="189986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74736" y="85895"/>
            <a:ext cx="6153447" cy="678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</a:t>
            </a:r>
          </a:p>
        </p:txBody>
      </p:sp>
      <p:sp>
        <p:nvSpPr>
          <p:cNvPr id="5" name="5 Rectángulo">
            <a:extLst>
              <a:ext uri="{FF2B5EF4-FFF2-40B4-BE49-F238E27FC236}">
                <a16:creationId xmlns:a16="http://schemas.microsoft.com/office/drawing/2014/main" id="{06D6ADF4-009E-42C9-93D7-ACCDE5E5538F}"/>
              </a:ext>
            </a:extLst>
          </p:cNvPr>
          <p:cNvSpPr/>
          <p:nvPr/>
        </p:nvSpPr>
        <p:spPr>
          <a:xfrm>
            <a:off x="307555" y="1081632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A18D4279-D5A7-44DF-B5D1-7CB09A895120}"/>
              </a:ext>
            </a:extLst>
          </p:cNvPr>
          <p:cNvGraphicFramePr>
            <a:graphicFrameLocks noGrp="1"/>
          </p:cNvGraphicFramePr>
          <p:nvPr/>
        </p:nvGraphicFramePr>
        <p:xfrm>
          <a:off x="307555" y="1617347"/>
          <a:ext cx="3821060" cy="2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2867">
                  <a:extLst>
                    <a:ext uri="{9D8B030D-6E8A-4147-A177-3AD203B41FA5}">
                      <a16:colId xmlns:a16="http://schemas.microsoft.com/office/drawing/2014/main" val="1520359308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4218542073"/>
                    </a:ext>
                  </a:extLst>
                </a:gridCol>
              </a:tblGrid>
              <a:tr h="306900">
                <a:tc>
                  <a:txBody>
                    <a:bodyPr/>
                    <a:lstStyle/>
                    <a:p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Numero de estudiantes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477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Notas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4.0, 2.5, 3.0, 1.5, 4.8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6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Aprobaron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(3) 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5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Reprobaron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n-lt"/>
                        </a:rPr>
                        <a:t>(2) 40%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2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nota aprobada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3.93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67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nota reprobada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63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general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3.16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38023"/>
                  </a:ext>
                </a:extLst>
              </a:tr>
            </a:tbl>
          </a:graphicData>
        </a:graphic>
      </p:graphicFrame>
      <p:sp>
        <p:nvSpPr>
          <p:cNvPr id="13" name="5 Rectángulo">
            <a:extLst>
              <a:ext uri="{FF2B5EF4-FFF2-40B4-BE49-F238E27FC236}">
                <a16:creationId xmlns:a16="http://schemas.microsoft.com/office/drawing/2014/main" id="{C11AB076-103C-40DC-A51B-C7937C998661}"/>
              </a:ext>
            </a:extLst>
          </p:cNvPr>
          <p:cNvSpPr/>
          <p:nvPr/>
        </p:nvSpPr>
        <p:spPr>
          <a:xfrm>
            <a:off x="4355976" y="1055201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Resultado de ejecución</a:t>
            </a:r>
            <a:endParaRPr lang="es-CO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D764A-A759-4830-8E6D-370A2063C3D7}"/>
              </a:ext>
            </a:extLst>
          </p:cNvPr>
          <p:cNvSpPr txBox="1"/>
          <p:nvPr/>
        </p:nvSpPr>
        <p:spPr>
          <a:xfrm>
            <a:off x="4355976" y="1659300"/>
            <a:ext cx="4283077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Ingrese el número de estudiantes: 5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1: 4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2: 2.5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3: 3.0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4: 1.5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5: 4.8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Porcentaje de estudiantes que aprobaron: 60.0%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Porcentaje de estudiantes que reprobaron: 40.0%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Promedio de notas reprobadas: 2.0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Promedio de notas aprobadas: 3.9333333333333336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Promedio general de notas: 3.16</a:t>
            </a:r>
          </a:p>
        </p:txBody>
      </p:sp>
    </p:spTree>
    <p:extLst>
      <p:ext uri="{BB962C8B-B14F-4D97-AF65-F5344CB8AC3E}">
        <p14:creationId xmlns:p14="http://schemas.microsoft.com/office/powerpoint/2010/main" val="2091722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AB03FC-1822-4DAB-9611-CC0D527F2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114" y="748053"/>
            <a:ext cx="4314599" cy="589537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307212" y="1576696"/>
            <a:ext cx="4207095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# Programa principal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est_aprob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est_reprob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suma_aprob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suma_reprob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N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(input("Número de estudiantes: "))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for</a:t>
            </a:r>
            <a:r>
              <a:rPr lang="es-CO" sz="1200" dirty="0">
                <a:latin typeface="Consolas" panose="020B0609020204030204" pitchFamily="49" charset="0"/>
              </a:rPr>
              <a:t> i in </a:t>
            </a:r>
            <a:r>
              <a:rPr lang="es-CO" sz="1200" dirty="0" err="1">
                <a:latin typeface="Consolas" panose="020B0609020204030204" pitchFamily="49" charset="0"/>
              </a:rPr>
              <a:t>range</a:t>
            </a:r>
            <a:r>
              <a:rPr lang="es-CO" sz="1200" dirty="0">
                <a:latin typeface="Consolas" panose="020B0609020204030204" pitchFamily="49" charset="0"/>
              </a:rPr>
              <a:t>(N):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nota = float(input("- Digite la nota: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es_nota_aprobatoria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(nota, NOTA_MINIMA)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est_aprob</a:t>
            </a:r>
            <a:r>
              <a:rPr lang="es-CO" sz="1200" dirty="0">
                <a:latin typeface="Consolas" panose="020B0609020204030204" pitchFamily="49" charset="0"/>
              </a:rPr>
              <a:t> += 1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suma_aprob</a:t>
            </a:r>
            <a:r>
              <a:rPr lang="es-CO" sz="1200" dirty="0">
                <a:latin typeface="Consolas" panose="020B0609020204030204" pitchFamily="49" charset="0"/>
              </a:rPr>
              <a:t> += nota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else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est_reprob</a:t>
            </a:r>
            <a:r>
              <a:rPr lang="es-CO" sz="1200" dirty="0">
                <a:latin typeface="Consolas" panose="020B0609020204030204" pitchFamily="49" charset="0"/>
              </a:rPr>
              <a:t> += 1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suma_reprob</a:t>
            </a:r>
            <a:r>
              <a:rPr lang="es-CO" sz="1200" dirty="0">
                <a:latin typeface="Consolas" panose="020B0609020204030204" pitchFamily="49" charset="0"/>
              </a:rPr>
              <a:t> += nota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N &lt;= 0: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print("No hay estudiantes")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else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imprimir_reporte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est_aprob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est_reprob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suma_aprob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suma_reprob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4EC006-7B26-4ECF-B9C8-5119D8804E35}"/>
              </a:ext>
            </a:extLst>
          </p:cNvPr>
          <p:cNvSpPr txBox="1"/>
          <p:nvPr/>
        </p:nvSpPr>
        <p:spPr>
          <a:xfrm>
            <a:off x="307212" y="980728"/>
            <a:ext cx="2896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Programa principal</a:t>
            </a:r>
          </a:p>
        </p:txBody>
      </p:sp>
    </p:spTree>
    <p:extLst>
      <p:ext uri="{BB962C8B-B14F-4D97-AF65-F5344CB8AC3E}">
        <p14:creationId xmlns:p14="http://schemas.microsoft.com/office/powerpoint/2010/main" val="4249591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4697872" y="1988840"/>
            <a:ext cx="39244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latin typeface="Consolas" panose="020B0609020204030204" pitchFamily="49" charset="0"/>
              </a:rPr>
              <a:t>def es_nota_aprobatoria(nota, nota_minima):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aprob = nota &gt;= nota_minima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</a:t>
            </a:r>
            <a:r>
              <a:rPr lang="it-IT" sz="1200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it-IT" sz="1200" dirty="0">
                <a:latin typeface="Consolas" panose="020B0609020204030204" pitchFamily="49" charset="0"/>
              </a:rPr>
              <a:t> aprob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FABFA7-5763-4763-8B21-C0ABD2B25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58" y="1700808"/>
            <a:ext cx="3762375" cy="32004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9FB6817-04E9-4EEE-A5AB-ED6A232718F5}"/>
              </a:ext>
            </a:extLst>
          </p:cNvPr>
          <p:cNvSpPr txBox="1"/>
          <p:nvPr/>
        </p:nvSpPr>
        <p:spPr>
          <a:xfrm>
            <a:off x="539552" y="1012666"/>
            <a:ext cx="3762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Modulo </a:t>
            </a:r>
            <a:r>
              <a:rPr lang="es-CO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es_nota_aprobatoria</a:t>
            </a:r>
            <a:r>
              <a:rPr lang="es-CO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endParaRPr lang="es-CO" sz="20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08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4689513" y="1844824"/>
            <a:ext cx="392443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latin typeface="Consolas" panose="020B0609020204030204" pitchFamily="49" charset="0"/>
              </a:rPr>
              <a:t>def calcular_promedio(suma, cantidad):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if cantidad == 0:  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prom = 0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else: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prom = suma/cantidad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</a:t>
            </a:r>
            <a:r>
              <a:rPr lang="it-IT" sz="1200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it-IT" sz="1200" dirty="0">
                <a:latin typeface="Consolas" panose="020B0609020204030204" pitchFamily="49" charset="0"/>
              </a:rPr>
              <a:t> prom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9FB6817-04E9-4EEE-A5AB-ED6A232718F5}"/>
              </a:ext>
            </a:extLst>
          </p:cNvPr>
          <p:cNvSpPr txBox="1"/>
          <p:nvPr/>
        </p:nvSpPr>
        <p:spPr>
          <a:xfrm>
            <a:off x="539552" y="1012666"/>
            <a:ext cx="3762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Modulo </a:t>
            </a:r>
            <a:r>
              <a:rPr lang="es-CO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calcular_promedio()</a:t>
            </a:r>
            <a:endParaRPr lang="es-CO" sz="20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EE2A4A-6F18-4BB5-87D5-BD93837D2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64" y="1588730"/>
            <a:ext cx="37623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72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3921201" y="2090172"/>
            <a:ext cx="5120355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latin typeface="Consolas" panose="020B0609020204030204" pitchFamily="49" charset="0"/>
              </a:rPr>
              <a:t>def imprimir_reporte(est_aprob, est_reprob,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suma_aprob, suma_reprob):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total = est_aprob + est_reprob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print(f"Ganaron: {est_aprob}")  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print(f"Perdieron: {est_reprob}")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prom_abrob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calcular_promedio(suma_aprob,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est_aprob)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prom_reprob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calcular_promedio(suma_reprob,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est_reprob)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prom_curso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calcular_promedio(suma_aprob + suma_reprob,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 total)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print(f"Prom aprob: {prom_aprob:.2f}")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print(f"Prom reprob: {prom_reprob:.2f}")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print(f"Prom nota: {prom_curso:.2f}") 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9FB6817-04E9-4EEE-A5AB-ED6A232718F5}"/>
              </a:ext>
            </a:extLst>
          </p:cNvPr>
          <p:cNvSpPr txBox="1"/>
          <p:nvPr/>
        </p:nvSpPr>
        <p:spPr>
          <a:xfrm>
            <a:off x="539552" y="1012666"/>
            <a:ext cx="3762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Modulo </a:t>
            </a:r>
            <a:r>
              <a:rPr lang="es-CO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imprimir</a:t>
            </a:r>
            <a:r>
              <a:rPr lang="es-CO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_reporte</a:t>
            </a:r>
            <a:r>
              <a:rPr lang="es-CO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endParaRPr lang="es-CO" sz="20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56485E3-22BB-415F-8C94-8444FF07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700808"/>
            <a:ext cx="3735587" cy="46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71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4563740" y="1154942"/>
            <a:ext cx="4311148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------------- 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Programa principal 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-------------</a:t>
            </a:r>
            <a:endParaRPr lang="es-CO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est_aprob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est_reprob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suma_aprob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suma_reprob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N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(input("Número de estudiantes: "))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for</a:t>
            </a:r>
            <a:r>
              <a:rPr lang="es-CO" sz="1200" dirty="0">
                <a:latin typeface="Consolas" panose="020B0609020204030204" pitchFamily="49" charset="0"/>
              </a:rPr>
              <a:t> i in </a:t>
            </a:r>
            <a:r>
              <a:rPr lang="es-CO" sz="1200" dirty="0" err="1">
                <a:latin typeface="Consolas" panose="020B0609020204030204" pitchFamily="49" charset="0"/>
              </a:rPr>
              <a:t>range</a:t>
            </a:r>
            <a:r>
              <a:rPr lang="es-CO" sz="1200" dirty="0">
                <a:latin typeface="Consolas" panose="020B0609020204030204" pitchFamily="49" charset="0"/>
              </a:rPr>
              <a:t>(N):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nota = float(input("- Digite la nota: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es_nota_aprobatoria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(nota, NOTA_MINIMA)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est_aprob</a:t>
            </a:r>
            <a:r>
              <a:rPr lang="es-CO" sz="1200" dirty="0">
                <a:latin typeface="Consolas" panose="020B0609020204030204" pitchFamily="49" charset="0"/>
              </a:rPr>
              <a:t> += 1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suma_aprob</a:t>
            </a:r>
            <a:r>
              <a:rPr lang="es-CO" sz="1200" dirty="0">
                <a:latin typeface="Consolas" panose="020B0609020204030204" pitchFamily="49" charset="0"/>
              </a:rPr>
              <a:t> += nota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else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est_reprob</a:t>
            </a:r>
            <a:r>
              <a:rPr lang="es-CO" sz="1200" dirty="0">
                <a:latin typeface="Consolas" panose="020B0609020204030204" pitchFamily="49" charset="0"/>
              </a:rPr>
              <a:t> += 1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suma_reprob</a:t>
            </a:r>
            <a:r>
              <a:rPr lang="es-CO" sz="1200" dirty="0">
                <a:latin typeface="Consolas" panose="020B0609020204030204" pitchFamily="49" charset="0"/>
              </a:rPr>
              <a:t> += nota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N &lt;= 0: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print("No hay estudiantes")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else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imprimir_reporte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est_aprob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est_reprob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suma_aprob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suma_reprob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4EC006-7B26-4ECF-B9C8-5119D8804E35}"/>
              </a:ext>
            </a:extLst>
          </p:cNvPr>
          <p:cNvSpPr txBox="1"/>
          <p:nvPr/>
        </p:nvSpPr>
        <p:spPr>
          <a:xfrm>
            <a:off x="107504" y="754832"/>
            <a:ext cx="2896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Codigo completo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AADDA1-73B3-4510-AEF1-D76E556AB09E}"/>
              </a:ext>
            </a:extLst>
          </p:cNvPr>
          <p:cNvSpPr txBox="1"/>
          <p:nvPr/>
        </p:nvSpPr>
        <p:spPr>
          <a:xfrm>
            <a:off x="179512" y="1124744"/>
            <a:ext cx="4120772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# Constante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NOTA_MINIMA = </a:t>
            </a:r>
            <a:r>
              <a:rPr lang="es-CO" sz="12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3.0</a:t>
            </a:r>
          </a:p>
          <a:p>
            <a:endParaRPr lang="it-IT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#  ------------- </a:t>
            </a:r>
            <a:r>
              <a:rPr lang="es-MX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Funciones 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-------------</a:t>
            </a:r>
            <a:endParaRPr lang="it-IT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def es_nota_aprobatoria(nota, nota_minima):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aprob = nota &gt;= nota_minima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</a:t>
            </a:r>
            <a:r>
              <a:rPr lang="it-IT" sz="1200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it-IT" sz="1200" dirty="0">
                <a:latin typeface="Consolas" panose="020B0609020204030204" pitchFamily="49" charset="0"/>
              </a:rPr>
              <a:t> aprob</a:t>
            </a:r>
            <a:endParaRPr lang="es-CO" sz="1200" dirty="0">
              <a:latin typeface="Consolas" panose="020B0609020204030204" pitchFamily="49" charset="0"/>
            </a:endParaRPr>
          </a:p>
          <a:p>
            <a:endParaRPr lang="it-IT" sz="1200" dirty="0"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def calcular_promedio(suma, cantidad):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if cantidad == 0:  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prom = 0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else: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prom = suma/cantidad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</a:t>
            </a:r>
            <a:r>
              <a:rPr lang="it-IT" sz="1200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it-IT" sz="1200" dirty="0">
                <a:latin typeface="Consolas" panose="020B0609020204030204" pitchFamily="49" charset="0"/>
              </a:rPr>
              <a:t> prom</a:t>
            </a:r>
            <a:endParaRPr lang="es-CO" sz="1200" dirty="0">
              <a:latin typeface="Consolas" panose="020B0609020204030204" pitchFamily="49" charset="0"/>
            </a:endParaRPr>
          </a:p>
          <a:p>
            <a:endParaRPr lang="it-IT" sz="1200" dirty="0"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def imprimir_reporte(est_aprob, est_reprob,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suma_aprob, suma_reprob):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total = est_aprob + est_reprob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print(f"Ganaron: {est_aprob}")  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print(f"Perdieron: {est_reprob}")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prom_abrob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calcular_promedio(suma_aprob,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est_aprob)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prom_reprob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calcular_promedio(suma_reprob,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est_reprob)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prom_curso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calcular_promedio(suma_aprob +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suma_reprob,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total)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print(f"Prom aprob: {prom_aprob:.2f}")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print(f"Prom reprob: {prom_reprob:.2f}")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print(f"Prom nota: {prom_curso:.2f}")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641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3817"/>
            <a:ext cx="7886700" cy="812895"/>
          </a:xfrm>
        </p:spPr>
        <p:txBody>
          <a:bodyPr>
            <a:normAutofit/>
          </a:bodyPr>
          <a:lstStyle/>
          <a:p>
            <a:r>
              <a:rPr lang="en-US" sz="4000" dirty="0"/>
              <a:t>Referencias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088740"/>
            <a:ext cx="8424936" cy="514857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2"/>
              </a:rPr>
              <a:t>https://ellibrodepython.com/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3"/>
              </a:rPr>
              <a:t>https://www.w3resource.com/index.php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4"/>
              </a:rPr>
              <a:t>https://realpython.com/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5"/>
              </a:rPr>
              <a:t>https://curriculumresources.edu.gh/wp-content/uploads/2025/01/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6"/>
              </a:rPr>
              <a:t>https://python-course.eu/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7"/>
              </a:rPr>
              <a:t>https://realpython.com/cheatsheets/python/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8"/>
              </a:rPr>
              <a:t>https://realpython.com/defining-your-own-python-function/</a:t>
            </a:r>
            <a:r>
              <a:rPr lang="es-CO" sz="2000" dirty="0"/>
              <a:t>   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9"/>
              </a:rPr>
              <a:t>https://realpython.com/python-built-in-functions/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10"/>
              </a:rPr>
              <a:t>https://realpython.com/ref/best-practices/functions/</a:t>
            </a:r>
            <a:r>
              <a:rPr lang="es-CO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11"/>
              </a:rPr>
              <a:t>https://makecode.microbit.org/courses/csintro</a:t>
            </a:r>
            <a:r>
              <a:rPr lang="es-CO" sz="2000" dirty="0"/>
              <a:t>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2"/>
              </a:rPr>
              <a:t>https://makecode.microbit.org/courses</a:t>
            </a:r>
            <a:r>
              <a:rPr lang="en-US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3"/>
              </a:rPr>
              <a:t>https://realpython.com/python-while-loop/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4"/>
              </a:rPr>
              <a:t>https://realpython.com/ref/keywords/while/</a:t>
            </a:r>
            <a:r>
              <a:rPr lang="en-US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5"/>
              </a:rPr>
              <a:t>https://cs.stanford.edu/people/nick/py/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3164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0617"/>
            <a:ext cx="8191822" cy="72810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F35EEF4-F126-467F-A5BB-259AA6499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912200"/>
            <a:ext cx="4113633" cy="586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7 Rectángulo">
            <a:extLst>
              <a:ext uri="{FF2B5EF4-FFF2-40B4-BE49-F238E27FC236}">
                <a16:creationId xmlns:a16="http://schemas.microsoft.com/office/drawing/2014/main" id="{27C7AA4C-274E-4F17-B614-41C209AA98D3}"/>
              </a:ext>
            </a:extLst>
          </p:cNvPr>
          <p:cNvSpPr/>
          <p:nvPr/>
        </p:nvSpPr>
        <p:spPr>
          <a:xfrm>
            <a:off x="101021" y="6519446"/>
            <a:ext cx="36788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100" dirty="0">
                <a:hlinkClick r:id="rId3"/>
              </a:rPr>
              <a:t>https://phdcomics.com/comics/archive.php?comicid=1431</a:t>
            </a:r>
            <a:r>
              <a:rPr lang="es-CO" sz="1100" dirty="0"/>
              <a:t> </a:t>
            </a:r>
          </a:p>
        </p:txBody>
      </p:sp>
      <p:pic>
        <p:nvPicPr>
          <p:cNvPr id="2050" name="Picture 2" descr="Ouch Images – Browse 81,244 Stock Photos, Vectors, and Video | Adobe Stock">
            <a:extLst>
              <a:ext uri="{FF2B5EF4-FFF2-40B4-BE49-F238E27FC236}">
                <a16:creationId xmlns:a16="http://schemas.microsoft.com/office/drawing/2014/main" id="{190AEE93-FCB4-45D0-A740-34697C5E7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51" y="2496793"/>
            <a:ext cx="3563955" cy="243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13678</TotalTime>
  <Words>2545</Words>
  <Application>Microsoft Office PowerPoint</Application>
  <PresentationFormat>Presentación en pantalla (4:3)</PresentationFormat>
  <Paragraphs>358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Century Gothic</vt:lpstr>
      <vt:lpstr>Consolas</vt:lpstr>
      <vt:lpstr>Office Theme</vt:lpstr>
      <vt:lpstr>Lógica y Representación 1</vt:lpstr>
      <vt:lpstr>Método de Polya - Resumen</vt:lpstr>
      <vt:lpstr>Entrada, procesamiento y salida</vt:lpstr>
      <vt:lpstr>Introducción a las funciones</vt:lpstr>
      <vt:lpstr>Función</vt:lpstr>
      <vt:lpstr>Función llamadora y función llamada</vt:lpstr>
      <vt:lpstr>Cohesión funcional: una función, una tarea</vt:lpstr>
      <vt:lpstr>Comparación</vt:lpstr>
      <vt:lpstr>Análisis – Ejemplo calificaciones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258</cp:revision>
  <dcterms:created xsi:type="dcterms:W3CDTF">2015-03-12T20:27:20Z</dcterms:created>
  <dcterms:modified xsi:type="dcterms:W3CDTF">2026-10-04T22:46:01Z</dcterms:modified>
</cp:coreProperties>
</file>